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4.xml" ContentType="application/vnd.openxmlformats-officedocument.presentationml.notesSlide+xml"/>
  <Override PartName="/ppt/notesSlides/notesSlide122.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45.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60.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85.xml" ContentType="application/vnd.openxmlformats-officedocument.presentationml.notesSlide+xml"/>
  <Override PartName="/ppt/notesSlides/notesSlide88.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01.xml" ContentType="application/vnd.openxmlformats-officedocument.presentationml.slide+xml"/>
  <Override PartName="/ppt/slides/slide102.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9.xml" ContentType="application/vnd.openxmlformats-officedocument.presentationml.slide+xml"/>
  <Override PartName="/ppt/slides/slide118.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42.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9.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2.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79.xml" ContentType="application/vnd.openxmlformats-officedocument.presentationml.slide+xml"/>
  <Override PartName="/ppt/slides/slide82.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7.xml" ContentType="application/vnd.openxmlformats-officedocument.presentationml.slide+xml"/>
  <Override PartName="/ppt/slides/slide94.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9" r:id="rId40"/>
    <p:sldId id="290" r:id="rId41"/>
    <p:sldId id="291" r:id="rId42"/>
    <p:sldId id="292" r:id="rId43"/>
    <p:sldId id="293" r:id="rId44"/>
    <p:sldId id="297" r:id="rId48"/>
    <p:sldId id="298" r:id="rId49"/>
    <p:sldId id="301" r:id="rId52"/>
    <p:sldId id="302" r:id="rId53"/>
    <p:sldId id="303" r:id="rId54"/>
    <p:sldId id="317" r:id="rId68"/>
    <p:sldId id="318" r:id="rId69"/>
    <p:sldId id="340" r:id="rId91"/>
    <p:sldId id="343" r:id="rId94"/>
    <p:sldId id="345" r:id="rId96"/>
    <p:sldId id="346" r:id="rId97"/>
    <p:sldId id="347" r:id="rId98"/>
    <p:sldId id="354" r:id="rId105"/>
    <p:sldId id="357" r:id="rId108"/>
    <p:sldId id="358" r:id="rId109"/>
    <p:sldId id="361" r:id="rId112"/>
    <p:sldId id="362" r:id="rId113"/>
    <p:sldId id="365" r:id="rId116"/>
    <p:sldId id="366" r:id="rId117"/>
    <p:sldId id="369" r:id="rId120"/>
    <p:sldId id="377" r:id="rId128"/>
    <p:sldId id="379" r:id="rId130"/>
    <p:sldId id="380" r:id="rId131"/>
    <p:sldId id="383" r:id="rId134"/>
    <p:sldId id="384" r:id="rId135"/>
    <p:sldId id="400" r:id="rId151"/>
    <p:sldId id="412" r:id="rId163"/>
    <p:sldId id="413" r:id="rId164"/>
    <p:sldId id="415" r:id="rId166"/>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8" Type="http://schemas.openxmlformats.org/officeDocument/2006/relationships/slide" Target="slides/slide35.xml"/><Relationship Id="rId49" Type="http://schemas.openxmlformats.org/officeDocument/2006/relationships/slide" Target="slides/slide36.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2.xml"/><Relationship Id="rId68" Type="http://schemas.openxmlformats.org/officeDocument/2006/relationships/slide" Target="slides/slide56.xml"/><Relationship Id="rId69" Type="http://schemas.openxmlformats.org/officeDocument/2006/relationships/slide" Target="slides/slide57.xml"/><Relationship Id="rId91" Type="http://schemas.openxmlformats.org/officeDocument/2006/relationships/slide" Target="slides/slide79.xml"/><Relationship Id="rId94" Type="http://schemas.openxmlformats.org/officeDocument/2006/relationships/slide" Target="slides/slide82.xml"/><Relationship Id="rId96" Type="http://schemas.openxmlformats.org/officeDocument/2006/relationships/slide" Target="slides/slide84.xml"/><Relationship Id="rId97" Type="http://schemas.openxmlformats.org/officeDocument/2006/relationships/slide" Target="slides/slide85.xml"/><Relationship Id="rId98" Type="http://schemas.openxmlformats.org/officeDocument/2006/relationships/slide" Target="slides/slide87.xml"/><Relationship Id="rId105" Type="http://schemas.openxmlformats.org/officeDocument/2006/relationships/slide" Target="slides/slide94.xml"/><Relationship Id="rId108" Type="http://schemas.openxmlformats.org/officeDocument/2006/relationships/slide" Target="slides/slide97.xml"/><Relationship Id="rId109" Type="http://schemas.openxmlformats.org/officeDocument/2006/relationships/slide" Target="slides/slide98.xml"/><Relationship Id="rId112" Type="http://schemas.openxmlformats.org/officeDocument/2006/relationships/slide" Target="slides/slide101.xml"/><Relationship Id="rId113" Type="http://schemas.openxmlformats.org/officeDocument/2006/relationships/slide" Target="slides/slide102.xml"/><Relationship Id="rId116" Type="http://schemas.openxmlformats.org/officeDocument/2006/relationships/slide" Target="slides/slide105.xml"/><Relationship Id="rId117" Type="http://schemas.openxmlformats.org/officeDocument/2006/relationships/slide" Target="slides/slide106.xml"/><Relationship Id="rId120" Type="http://schemas.openxmlformats.org/officeDocument/2006/relationships/slide" Target="slides/slide109.xml"/><Relationship Id="rId128" Type="http://schemas.openxmlformats.org/officeDocument/2006/relationships/slide" Target="slides/slide118.xml"/><Relationship Id="rId130" Type="http://schemas.openxmlformats.org/officeDocument/2006/relationships/slide" Target="slides/slide120.xml"/><Relationship Id="rId131" Type="http://schemas.openxmlformats.org/officeDocument/2006/relationships/slide" Target="slides/slide121.xml"/><Relationship Id="rId134" Type="http://schemas.openxmlformats.org/officeDocument/2006/relationships/slide" Target="slides/slide124.xml"/><Relationship Id="rId135" Type="http://schemas.openxmlformats.org/officeDocument/2006/relationships/slide" Target="slides/slide125.xml"/><Relationship Id="rId151" Type="http://schemas.openxmlformats.org/officeDocument/2006/relationships/slide" Target="slides/slide142.xml"/><Relationship Id="rId163" Type="http://schemas.openxmlformats.org/officeDocument/2006/relationships/slide" Target="slides/slide156.xml"/><Relationship Id="rId164" Type="http://schemas.openxmlformats.org/officeDocument/2006/relationships/slide" Target="slides/slide157.xml"/><Relationship Id="rId166" Type="http://schemas.openxmlformats.org/officeDocument/2006/relationships/slide" Target="slides/slide159.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Worksheet53.xlsx"/></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Worksheet54.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Worksheet55.xlsx"/></Relationships>
</file>

<file path=ppt/charts/_rels/chart56.xml.rels><?xml version='1.0' encoding='UTF-8' standalone='yes'?>
<Relationships xmlns="http://schemas.openxmlformats.org/package/2006/relationships"><Relationship Id="rId1" Type="http://schemas.openxmlformats.org/officeDocument/2006/relationships/package" Target="../embeddings/Microsoft_Excel_Worksheet56.xlsx"/></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Worksheet57.xlsx"/></Relationships>
</file>

<file path=ppt/charts/_rels/chart76.xml.rels><?xml version='1.0' encoding='UTF-8' standalone='yes'?>
<Relationships xmlns="http://schemas.openxmlformats.org/package/2006/relationships"><Relationship Id="rId1" Type="http://schemas.openxmlformats.org/officeDocument/2006/relationships/package" Target="../embeddings/Microsoft_Excel_Worksheet76.xlsx"/></Relationships>
</file>

<file path=ppt/charts/_rels/chart77.xml.rels><?xml version='1.0' encoding='UTF-8' standalone='yes'?>
<Relationships xmlns="http://schemas.openxmlformats.org/package/2006/relationships"><Relationship Id="rId1" Type="http://schemas.openxmlformats.org/officeDocument/2006/relationships/package" Target="../embeddings/Microsoft_Excel_Worksheet77.xlsx"/></Relationships>
</file>

<file path=ppt/charts/_rels/chart78.xml.rels><?xml version='1.0' encoding='UTF-8' standalone='yes'?>
<Relationships xmlns="http://schemas.openxmlformats.org/package/2006/relationships"><Relationship Id="rId1" Type="http://schemas.openxmlformats.org/officeDocument/2006/relationships/package" Target="../embeddings/Microsoft_Excel_Worksheet78.xlsx"/></Relationships>
</file>

<file path=ppt/charts/_rels/chart79.xml.rels><?xml version='1.0' encoding='UTF-8' standalone='yes'?>
<Relationships xmlns="http://schemas.openxmlformats.org/package/2006/relationships"><Relationship Id="rId1" Type="http://schemas.openxmlformats.org/officeDocument/2006/relationships/package" Target="../embeddings/Microsoft_Excel_Worksheet79.xlsx"/></Relationships>
</file>

<file path=ppt/charts/_rels/chart80.xml.rels><?xml version='1.0' encoding='UTF-8' standalone='yes'?>
<Relationships xmlns="http://schemas.openxmlformats.org/package/2006/relationships"><Relationship Id="rId1" Type="http://schemas.openxmlformats.org/officeDocument/2006/relationships/package" Target="../embeddings/Microsoft_Excel_Worksheet80.xlsx"/></Relationships>
</file>

<file path=ppt/charts/_rels/chart81.xml.rels><?xml version='1.0' encoding='UTF-8' standalone='yes'?>
<Relationships xmlns="http://schemas.openxmlformats.org/package/2006/relationships"><Relationship Id="rId1" Type="http://schemas.openxmlformats.org/officeDocument/2006/relationships/package" Target="../embeddings/Microsoft_Excel_Worksheet81.xlsx"/></Relationships>
</file>

<file path=ppt/charts/_rels/chart82.xml.rels><?xml version='1.0' encoding='UTF-8' standalone='yes'?>
<Relationships xmlns="http://schemas.openxmlformats.org/package/2006/relationships"><Relationship Id="rId1" Type="http://schemas.openxmlformats.org/officeDocument/2006/relationships/package" Target="../embeddings/Microsoft_Excel_Worksheet82.xlsx"/></Relationships>
</file>

<file path=ppt/charts/_rels/chart83.xml.rels><?xml version='1.0' encoding='UTF-8' standalone='yes'?>
<Relationships xmlns="http://schemas.openxmlformats.org/package/2006/relationships"><Relationship Id="rId1" Type="http://schemas.openxmlformats.org/officeDocument/2006/relationships/package" Target="../embeddings/Microsoft_Excel_Worksheet83.xlsx"/></Relationships>
</file>

<file path=ppt/charts/_rels/chart84.xml.rels><?xml version='1.0' encoding='UTF-8' standalone='yes'?>
<Relationships xmlns="http://schemas.openxmlformats.org/package/2006/relationships"><Relationship Id="rId1" Type="http://schemas.openxmlformats.org/officeDocument/2006/relationships/package" Target="../embeddings/Microsoft_Excel_Worksheet84.xlsx"/></Relationships>
</file>

<file path=ppt/charts/_rels/chart85.xml.rels><?xml version='1.0' encoding='UTF-8' standalone='yes'?>
<Relationships xmlns="http://schemas.openxmlformats.org/package/2006/relationships"><Relationship Id="rId1" Type="http://schemas.openxmlformats.org/officeDocument/2006/relationships/package" Target="../embeddings/Microsoft_Excel_Worksheet85.xlsx"/></Relationships>
</file>

<file path=ppt/charts/_rels/chart86.xml.rels><?xml version='1.0' encoding='UTF-8' standalone='yes'?>
<Relationships xmlns="http://schemas.openxmlformats.org/package/2006/relationships"><Relationship Id="rId1" Type="http://schemas.openxmlformats.org/officeDocument/2006/relationships/package" Target="../embeddings/Microsoft_Excel_Worksheet86.xlsx"/></Relationships>
</file>

<file path=ppt/charts/_rels/chart87.xml.rels><?xml version='1.0' encoding='UTF-8' standalone='yes'?>
<Relationships xmlns="http://schemas.openxmlformats.org/package/2006/relationships"><Relationship Id="rId1" Type="http://schemas.openxmlformats.org/officeDocument/2006/relationships/package" Target="../embeddings/Microsoft_Excel_Worksheet87.xlsx"/></Relationships>
</file>

<file path=ppt/charts/_rels/chart88.xml.rels><?xml version='1.0' encoding='UTF-8' standalone='yes'?>
<Relationships xmlns="http://schemas.openxmlformats.org/package/2006/relationships"><Relationship Id="rId1" Type="http://schemas.openxmlformats.org/officeDocument/2006/relationships/package" Target="../embeddings/Microsoft_Excel_Worksheet88.xlsx"/></Relationships>
</file>

<file path=ppt/charts/_rels/chart89.xml.rels><?xml version='1.0' encoding='UTF-8' standalone='yes'?>
<Relationships xmlns="http://schemas.openxmlformats.org/package/2006/relationships"><Relationship Id="rId1" Type="http://schemas.openxmlformats.org/officeDocument/2006/relationships/package" Target="../embeddings/Microsoft_Excel_Worksheet89.xlsx"/></Relationships>
</file>

<file path=ppt/charts/_rels/chart90.xml.rels><?xml version='1.0' encoding='UTF-8' standalone='yes'?>
<Relationships xmlns="http://schemas.openxmlformats.org/package/2006/relationships"><Relationship Id="rId1" Type="http://schemas.openxmlformats.org/officeDocument/2006/relationships/package" Target="../embeddings/Microsoft_Excel_Worksheet90.xlsx"/></Relationships>
</file>

<file path=ppt/charts/_rels/chart91.xml.rels><?xml version='1.0' encoding='UTF-8' standalone='yes'?>
<Relationships xmlns="http://schemas.openxmlformats.org/package/2006/relationships"><Relationship Id="rId1" Type="http://schemas.openxmlformats.org/officeDocument/2006/relationships/package" Target="../embeddings/Microsoft_Excel_Worksheet91.xlsx"/></Relationships>
</file>

<file path=ppt/charts/_rels/chart92.xml.rels><?xml version='1.0' encoding='UTF-8' standalone='yes'?>
<Relationships xmlns="http://schemas.openxmlformats.org/package/2006/relationships"><Relationship Id="rId1" Type="http://schemas.openxmlformats.org/officeDocument/2006/relationships/package" Target="../embeddings/Microsoft_Excel_Worksheet92.xlsx"/></Relationships>
</file>

<file path=ppt/charts/_rels/chart93.xml.rels><?xml version='1.0' encoding='UTF-8' standalone='yes'?>
<Relationships xmlns="http://schemas.openxmlformats.org/package/2006/relationships"><Relationship Id="rId1" Type="http://schemas.openxmlformats.org/officeDocument/2006/relationships/package" Target="../embeddings/Microsoft_Excel_Worksheet93.xlsx"/></Relationships>
</file>

<file path=ppt/charts/_rels/chart94.xml.rels><?xml version='1.0' encoding='UTF-8' standalone='yes'?>
<Relationships xmlns="http://schemas.openxmlformats.org/package/2006/relationships"><Relationship Id="rId1" Type="http://schemas.openxmlformats.org/officeDocument/2006/relationships/package" Target="../embeddings/Microsoft_Excel_Worksheet94.xlsx"/></Relationships>
</file>

<file path=ppt/charts/_rels/chart95.xml.rels><?xml version='1.0' encoding='UTF-8' standalone='yes'?>
<Relationships xmlns="http://schemas.openxmlformats.org/package/2006/relationships"><Relationship Id="rId1" Type="http://schemas.openxmlformats.org/officeDocument/2006/relationships/package" Target="../embeddings/Microsoft_Excel_Worksheet95.xlsx"/></Relationships>
</file>

<file path=ppt/charts/_rels/chart96.xml.rels><?xml version='1.0' encoding='UTF-8' standalone='yes'?>
<Relationships xmlns="http://schemas.openxmlformats.org/package/2006/relationships"><Relationship Id="rId1" Type="http://schemas.openxmlformats.org/officeDocument/2006/relationships/package" Target="../embeddings/Microsoft_Excel_Worksheet96.xlsx"/></Relationships>
</file>

<file path=ppt/charts/_rels/chart97.xml.rels><?xml version='1.0' encoding='UTF-8' standalone='yes'?>
<Relationships xmlns="http://schemas.openxmlformats.org/package/2006/relationships"><Relationship Id="rId1" Type="http://schemas.openxmlformats.org/officeDocument/2006/relationships/package" Target="../embeddings/Microsoft_Excel_Worksheet97.xlsx"/></Relationships>
</file>

<file path=ppt/charts/_rels/chart98.xml.rels><?xml version='1.0' encoding='UTF-8' standalone='yes'?>
<Relationships xmlns="http://schemas.openxmlformats.org/package/2006/relationships"><Relationship Id="rId1" Type="http://schemas.openxmlformats.org/officeDocument/2006/relationships/package" Target="../embeddings/Microsoft_Excel_Worksheet98.xlsx"/></Relationships>
</file>

<file path=ppt/charts/_rels/chart99.xml.rels><?xml version='1.0' encoding='UTF-8' standalone='yes'?>
<Relationships xmlns="http://schemas.openxmlformats.org/package/2006/relationships"><Relationship Id="rId1" Type="http://schemas.openxmlformats.org/officeDocument/2006/relationships/package" Target="../embeddings/Microsoft_Excel_Worksheet99.xlsx"/></Relationships>
</file>

<file path=ppt/charts/_rels/chart100.xml.rels><?xml version='1.0' encoding='UTF-8' standalone='yes'?>
<Relationships xmlns="http://schemas.openxmlformats.org/package/2006/relationships"><Relationship Id="rId1" Type="http://schemas.openxmlformats.org/officeDocument/2006/relationships/package" Target="../embeddings/Microsoft_Excel_Worksheet100.xlsx"/></Relationships>
</file>

<file path=ppt/charts/_rels/chart101.xml.rels><?xml version='1.0' encoding='UTF-8' standalone='yes'?>
<Relationships xmlns="http://schemas.openxmlformats.org/package/2006/relationships"><Relationship Id="rId1" Type="http://schemas.openxmlformats.org/officeDocument/2006/relationships/package" Target="../embeddings/Microsoft_Excel_Worksheet101.xlsx"/></Relationships>
</file>

<file path=ppt/charts/_rels/chart102.xml.rels><?xml version='1.0' encoding='UTF-8' standalone='yes'?>
<Relationships xmlns="http://schemas.openxmlformats.org/package/2006/relationships"><Relationship Id="rId1" Type="http://schemas.openxmlformats.org/officeDocument/2006/relationships/package" Target="../embeddings/Microsoft_Excel_Worksheet102.xlsx"/></Relationships>
</file>

<file path=ppt/charts/_rels/chart103.xml.rels><?xml version='1.0' encoding='UTF-8' standalone='yes'?>
<Relationships xmlns="http://schemas.openxmlformats.org/package/2006/relationships"><Relationship Id="rId1" Type="http://schemas.openxmlformats.org/officeDocument/2006/relationships/package" Target="../embeddings/Microsoft_Excel_Worksheet103.xlsx"/></Relationships>
</file>

<file path=ppt/charts/_rels/chart104.xml.rels><?xml version='1.0' encoding='UTF-8' standalone='yes'?>
<Relationships xmlns="http://schemas.openxmlformats.org/package/2006/relationships"><Relationship Id="rId1" Type="http://schemas.openxmlformats.org/officeDocument/2006/relationships/package" Target="../embeddings/Microsoft_Excel_Worksheet104.xlsx"/></Relationships>
</file>

<file path=ppt/charts/_rels/chart111.xml.rels><?xml version='1.0' encoding='UTF-8' standalone='yes'?>
<Relationships xmlns="http://schemas.openxmlformats.org/package/2006/relationships"><Relationship Id="rId1" Type="http://schemas.openxmlformats.org/officeDocument/2006/relationships/package" Target="../embeddings/Microsoft_Excel_Worksheet111.xlsx"/></Relationships>
</file>

<file path=ppt/charts/_rels/chart112.xml.rels><?xml version='1.0' encoding='UTF-8' standalone='yes'?>
<Relationships xmlns="http://schemas.openxmlformats.org/package/2006/relationships"><Relationship Id="rId1" Type="http://schemas.openxmlformats.org/officeDocument/2006/relationships/package" Target="../embeddings/Microsoft_Excel_Worksheet112.xlsx"/></Relationships>
</file>

<file path=ppt/charts/_rels/chart113.xml.rels><?xml version='1.0' encoding='UTF-8' standalone='yes'?>
<Relationships xmlns="http://schemas.openxmlformats.org/package/2006/relationships"><Relationship Id="rId1" Type="http://schemas.openxmlformats.org/officeDocument/2006/relationships/package" Target="../embeddings/Microsoft_Excel_Worksheet113.xlsx"/></Relationships>
</file>

<file path=ppt/charts/_rels/chart114.xml.rels><?xml version='1.0' encoding='UTF-8' standalone='yes'?>
<Relationships xmlns="http://schemas.openxmlformats.org/package/2006/relationships"><Relationship Id="rId1" Type="http://schemas.openxmlformats.org/officeDocument/2006/relationships/package" Target="../embeddings/Microsoft_Excel_Worksheet114.xlsx"/></Relationships>
</file>

<file path=ppt/charts/_rels/chart115.xml.rels><?xml version='1.0' encoding='UTF-8' standalone='yes'?>
<Relationships xmlns="http://schemas.openxmlformats.org/package/2006/relationships"><Relationship Id="rId1" Type="http://schemas.openxmlformats.org/officeDocument/2006/relationships/package" Target="../embeddings/Microsoft_Excel_Worksheet115.xlsx"/></Relationships>
</file>

<file path=ppt/charts/_rels/chart116.xml.rels><?xml version='1.0' encoding='UTF-8' standalone='yes'?>
<Relationships xmlns="http://schemas.openxmlformats.org/package/2006/relationships"><Relationship Id="rId1" Type="http://schemas.openxmlformats.org/officeDocument/2006/relationships/package" Target="../embeddings/Microsoft_Excel_Worksheet116.xlsx"/></Relationships>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74.5</c:v>
                </c:pt>
                <c:pt idx="1">
                  <c:v>74.2</c:v>
                </c:pt>
                <c:pt idx="2">
                  <c:v>78.2</c:v>
                </c:pt>
                <c:pt idx="3">
                  <c:v>79.2</c:v>
                </c:pt>
                <c:pt idx="4">
                  <c:v>75.2</c:v>
                </c:pt>
                <c:pt idx="5">
                  <c:v>79</c:v>
                </c:pt>
                <c:pt idx="6">
                  <c:v>82.9</c:v>
                </c:pt>
                <c:pt idx="7">
                  <c:v>79.8</c:v>
                </c:pt>
                <c:pt idx="8">
                  <c:v>77.5</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78.2</c:v>
                </c:pt>
                <c:pt idx="3">
                  <c:v>79.2</c:v>
                </c:pt>
                <c:pt idx="4">
                  <c:v/>
                </c:pt>
                <c:pt idx="5">
                  <c:v>79</c:v>
                </c:pt>
                <c:pt idx="6">
                  <c:v>82.9</c:v>
                </c:pt>
                <c:pt idx="7">
                  <c:v>79.8</c:v>
                </c:pt>
                <c:pt idx="8">
                  <c:v>77.5</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74.5</c:v>
                </c:pt>
                <c:pt idx="1">
                  <c:v>74.2</c:v>
                </c:pt>
                <c:pt idx="2">
                  <c:v/>
                </c:pt>
                <c:pt idx="3">
                  <c:v/>
                </c:pt>
                <c:pt idx="4">
                  <c:v>75.2</c:v>
                </c:pt>
                <c:pt idx="5">
                  <c:v/>
                </c:pt>
                <c:pt idx="6">
                  <c:v/>
                </c:pt>
                <c:pt idx="7">
                  <c:v/>
                </c:pt>
                <c:pt idx="8">
                  <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76.9</c:v>
                </c:pt>
                <c:pt idx="1">
                  <c:v>74.9</c:v>
                </c:pt>
                <c:pt idx="2">
                  <c:v/>
                </c:pt>
                <c:pt idx="3">
                  <c:v/>
                </c:pt>
                <c:pt idx="4">
                  <c:v>76.7</c:v>
                </c:pt>
                <c:pt idx="5">
                  <c:v/>
                </c:pt>
                <c:pt idx="6">
                  <c:v/>
                </c:pt>
                <c:pt idx="7">
                  <c:v/>
                </c:pt>
                <c:pt idx="8">
                  <c:v/>
                </c:pt>
                <c:pt idx="9">
                  <c:v>81.6</c:v>
                </c:pt>
                <c:pt idx="10">
                  <c:v/>
                </c:pt>
                <c:pt idx="11">
                  <c:v>74.5</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74</c:v>
                </c:pt>
                <c:pt idx="3">
                  <c:v>76</c:v>
                </c:pt>
                <c:pt idx="4">
                  <c:v/>
                </c:pt>
                <c:pt idx="5">
                  <c:v>77.6</c:v>
                </c:pt>
                <c:pt idx="6">
                  <c:v>78.2</c:v>
                </c:pt>
                <c:pt idx="7">
                  <c:v>75.6</c:v>
                </c:pt>
                <c:pt idx="8">
                  <c:v>72.4</c:v>
                </c:pt>
                <c:pt idx="9">
                  <c:v/>
                </c:pt>
                <c:pt idx="10">
                  <c:v>73.1</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76.9</c:v>
                </c:pt>
                <c:pt idx="1">
                  <c:v>74.9</c:v>
                </c:pt>
                <c:pt idx="2">
                  <c:v>74</c:v>
                </c:pt>
                <c:pt idx="3">
                  <c:v>76</c:v>
                </c:pt>
                <c:pt idx="4">
                  <c:v>76.7</c:v>
                </c:pt>
                <c:pt idx="5">
                  <c:v>77.6</c:v>
                </c:pt>
                <c:pt idx="6">
                  <c:v>78.2</c:v>
                </c:pt>
                <c:pt idx="7">
                  <c:v>75.6</c:v>
                </c:pt>
                <c:pt idx="8">
                  <c:v>72.4</c:v>
                </c:pt>
                <c:pt idx="9">
                  <c:v>81.6</c:v>
                </c:pt>
                <c:pt idx="10">
                  <c:v>73.1</c:v>
                </c:pt>
                <c:pt idx="11">
                  <c:v>74.5</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90"/>
          <c:min val="65"/>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1.8116715561640362</c:v>
                </c:pt>
                <c:pt idx="1">
                  <c:v>1.902761169453705</c:v>
                </c:pt>
                <c:pt idx="2">
                  <c:v>1.9084688084742114</c:v>
                </c:pt>
                <c:pt idx="3">
                  <c:v>1.9406863509387393</c:v>
                </c:pt>
                <c:pt idx="4">
                  <c:v>1.8863050006528341</c:v>
                </c:pt>
                <c:pt idx="5">
                  <c:v>1.8719974801020323</c:v>
                </c:pt>
                <c:pt idx="6">
                  <c:v>1.8690690999184165</c:v>
                </c:pt>
                <c:pt idx="7">
                  <c:v>1.8446901203626367</c:v>
                </c:pt>
                <c:pt idx="8">
                  <c:v>1.7982525373715093</c:v>
                </c:pt>
                <c:pt idx="9">
                  <c:v/>
                </c:pt>
                <c:pt idx="10">
                  <c:v/>
                </c:pt>
                <c:pt idx="11">
                  <c:v/>
                </c:pt>
              </c:numCache>
            </c:numRef>
          </c:val>
          <c:smooth val="0"/>
        </c:ser>
        <c:dLbls>
          <c:numFmt formatCode="0.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5"/>
          <c:min val="1"/>
        </c:scaling>
        <c:delete val="0"/>
        <c:axPos val="l"/>
        <c:majorGridlines>
          <c:spPr>
            <a:ln w="9525" cap="flat">
              <a:solidFill>
                <a:srgbClr val="D9D9D9"/>
              </a:solidFill>
              <a:prstDash val="solid"/>
              <a:round/>
            </a:ln>
          </c:spPr>
        </c:majorGridlines>
        <c:numFmt formatCode="0.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1.8116715561640362</c:v>
                </c:pt>
                <c:pt idx="1">
                  <c:v>1.902761169453705</c:v>
                </c:pt>
                <c:pt idx="2">
                  <c:v>1.9084688084742114</c:v>
                </c:pt>
                <c:pt idx="3">
                  <c:v>1.9406863509387393</c:v>
                </c:pt>
                <c:pt idx="4">
                  <c:v>1.8863050006528341</c:v>
                </c:pt>
                <c:pt idx="5">
                  <c:v>1.8719974801020323</c:v>
                </c:pt>
                <c:pt idx="6">
                  <c:v>1.8690690999184165</c:v>
                </c:pt>
                <c:pt idx="7">
                  <c:v>1.8446901203626367</c:v>
                </c:pt>
                <c:pt idx="8">
                  <c:v>1.7982525373715093</c:v>
                </c:pt>
                <c:pt idx="9">
                  <c:v/>
                </c:pt>
                <c:pt idx="10">
                  <c:v/>
                </c:pt>
                <c:pt idx="11">
                  <c:v/>
                </c:pt>
              </c:numCache>
            </c:numRef>
          </c:val>
          <c:smooth val="0"/>
        </c:ser>
        <c:dLbls>
          <c:numFmt formatCode="0.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5"/>
          <c:min val="1"/>
        </c:scaling>
        <c:delete val="0"/>
        <c:axPos val="l"/>
        <c:numFmt formatCode="0.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0.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
                </c:pt>
                <c:pt idx="10">
                  <c:v>1.8055114778377321</c:v>
                </c:pt>
                <c:pt idx="11">
                  <c:v/>
                </c:pt>
              </c:numCache>
            </c:numRef>
          </c:val>
          <c:smooth val="0"/>
        </c:ser>
        <c:dLbls>
          <c:numFmt formatCode="0.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5"/>
          <c:min val="1"/>
        </c:scaling>
        <c:delete val="0"/>
        <c:axPos val="l"/>
        <c:numFmt formatCode="0.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0.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1.785465146411003</c:v>
                </c:pt>
                <c:pt idx="1">
                  <c:v>1.8184152966658496</c:v>
                </c:pt>
                <c:pt idx="2">
                  <c:v>1.8307536723525557</c:v>
                </c:pt>
                <c:pt idx="3">
                  <c:v>1.8318996031996007</c:v>
                </c:pt>
                <c:pt idx="4">
                  <c:v>1.8208679899180984</c:v>
                </c:pt>
                <c:pt idx="5">
                  <c:v>1.8110965714102494</c:v>
                </c:pt>
                <c:pt idx="6">
                  <c:v>1.7836004326328923</c:v>
                </c:pt>
                <c:pt idx="7">
                  <c:v>1.7821352669083634</c:v>
                </c:pt>
                <c:pt idx="8">
                  <c:v>1.7776291306812524</c:v>
                </c:pt>
                <c:pt idx="9">
                  <c:v>1.7856708930879632</c:v>
                </c:pt>
                <c:pt idx="10">
                  <c:v/>
                </c:pt>
                <c:pt idx="11">
                  <c:v>1.7920157094767</c:v>
                </c:pt>
              </c:numCache>
            </c:numRef>
          </c:val>
          <c:smooth val="0"/>
        </c:ser>
        <c:dLbls>
          <c:numFmt formatCode="0.00"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2.5"/>
          <c:min val="1"/>
        </c:scaling>
        <c:delete val="0"/>
        <c:axPos val="l"/>
        <c:numFmt formatCode="0.0"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0.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1.785465146411003</c:v>
                </c:pt>
                <c:pt idx="1">
                  <c:v>1.8184152966658496</c:v>
                </c:pt>
                <c:pt idx="2">
                  <c:v>1.8307536723525557</c:v>
                </c:pt>
                <c:pt idx="3">
                  <c:v>1.8318996031996007</c:v>
                </c:pt>
                <c:pt idx="4">
                  <c:v>1.8208679899180984</c:v>
                </c:pt>
                <c:pt idx="5">
                  <c:v>1.8110965714102494</c:v>
                </c:pt>
                <c:pt idx="6">
                  <c:v>1.7836004326328923</c:v>
                </c:pt>
                <c:pt idx="7">
                  <c:v>1.7821352669083634</c:v>
                </c:pt>
                <c:pt idx="8">
                  <c:v>1.7776291306812524</c:v>
                </c:pt>
                <c:pt idx="9">
                  <c:v>1.7856708930879632</c:v>
                </c:pt>
                <c:pt idx="10">
                  <c:v>1.8055114778377321</c:v>
                </c:pt>
                <c:pt idx="11">
                  <c:v>1.7920157094767</c:v>
                </c:pt>
              </c:numCache>
            </c:numRef>
          </c:val>
          <c:smooth val="0"/>
        </c:ser>
        <c:dLbls>
          <c:numFmt formatCode="0.00"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2.5"/>
          <c:min val="1"/>
        </c:scaling>
        <c:delete val="0"/>
        <c:axPos val="l"/>
        <c:numFmt formatCode="0.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0.5"/>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40.5</c:v>
                </c:pt>
                <c:pt idx="1">
                  <c:v>40.3</c:v>
                </c:pt>
                <c:pt idx="2">
                  <c:v>41</c:v>
                </c:pt>
                <c:pt idx="3">
                  <c:v>39.6</c:v>
                </c:pt>
                <c:pt idx="4">
                  <c:v>41.3</c:v>
                </c:pt>
                <c:pt idx="5">
                  <c:v>41.3</c:v>
                </c:pt>
                <c:pt idx="6">
                  <c:v>40.6</c:v>
                </c:pt>
                <c:pt idx="7">
                  <c:v>41.1</c:v>
                </c:pt>
                <c:pt idx="8">
                  <c:v>40.1</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4"/>
          <c:min val="36"/>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40.5</c:v>
                </c:pt>
                <c:pt idx="1">
                  <c:v>40.3</c:v>
                </c:pt>
                <c:pt idx="2">
                  <c:v>41</c:v>
                </c:pt>
                <c:pt idx="3">
                  <c:v>39.6</c:v>
                </c:pt>
                <c:pt idx="4">
                  <c:v>41.3</c:v>
                </c:pt>
                <c:pt idx="5">
                  <c:v>41.3</c:v>
                </c:pt>
                <c:pt idx="6">
                  <c:v>40.6</c:v>
                </c:pt>
                <c:pt idx="7">
                  <c:v>41.1</c:v>
                </c:pt>
                <c:pt idx="8">
                  <c:v>40.1</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4"/>
          <c:min val="3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
                </c:pt>
                <c:pt idx="10">
                  <c:v>39.4</c:v>
                </c:pt>
                <c:pt idx="11">
                  <c:v>39.7</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4"/>
          <c:min val="3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39.4</c:v>
                </c:pt>
                <c:pt idx="1">
                  <c:v>39.4</c:v>
                </c:pt>
                <c:pt idx="2">
                  <c:v>39.6</c:v>
                </c:pt>
                <c:pt idx="3">
                  <c:v>38.3</c:v>
                </c:pt>
                <c:pt idx="4">
                  <c:v>39.9</c:v>
                </c:pt>
                <c:pt idx="5">
                  <c:v>40.3</c:v>
                </c:pt>
                <c:pt idx="6">
                  <c:v>39.5</c:v>
                </c:pt>
                <c:pt idx="7">
                  <c:v>39.4</c:v>
                </c:pt>
                <c:pt idx="8">
                  <c:v>39.2</c:v>
                </c:pt>
                <c:pt idx="9">
                  <c:v>38.1</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44"/>
          <c:min val="3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8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39.4</c:v>
                </c:pt>
                <c:pt idx="1">
                  <c:v>39.4</c:v>
                </c:pt>
                <c:pt idx="2">
                  <c:v>39.6</c:v>
                </c:pt>
                <c:pt idx="3">
                  <c:v>38.3</c:v>
                </c:pt>
                <c:pt idx="4">
                  <c:v>39.9</c:v>
                </c:pt>
                <c:pt idx="5">
                  <c:v>40.3</c:v>
                </c:pt>
                <c:pt idx="6">
                  <c:v>39.5</c:v>
                </c:pt>
                <c:pt idx="7">
                  <c:v>39.4</c:v>
                </c:pt>
                <c:pt idx="8">
                  <c:v>39.2</c:v>
                </c:pt>
                <c:pt idx="9">
                  <c:v>38.1</c:v>
                </c:pt>
                <c:pt idx="10">
                  <c:v>39.4</c:v>
                </c:pt>
                <c:pt idx="11">
                  <c:v>39.7</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44"/>
          <c:min val="3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12.2</c:v>
                </c:pt>
                <c:pt idx="1">
                  <c:v>13.3</c:v>
                </c:pt>
                <c:pt idx="2">
                  <c:v>13.4</c:v>
                </c:pt>
                <c:pt idx="3">
                  <c:v>14.2</c:v>
                </c:pt>
                <c:pt idx="4">
                  <c:v>13.6</c:v>
                </c:pt>
                <c:pt idx="5">
                  <c:v>13.5</c:v>
                </c:pt>
                <c:pt idx="6">
                  <c:v>13.3</c:v>
                </c:pt>
                <c:pt idx="7">
                  <c:v>13</c:v>
                </c:pt>
                <c:pt idx="8">
                  <c:v>13.1</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12.2</c:v>
                </c:pt>
                <c:pt idx="1">
                  <c:v>13.3</c:v>
                </c:pt>
                <c:pt idx="2">
                  <c:v>13.4</c:v>
                </c:pt>
                <c:pt idx="3">
                  <c:v>14.2</c:v>
                </c:pt>
                <c:pt idx="4">
                  <c:v>13.6</c:v>
                </c:pt>
                <c:pt idx="5">
                  <c:v>13.5</c:v>
                </c:pt>
                <c:pt idx="6">
                  <c:v>13.3</c:v>
                </c:pt>
                <c:pt idx="7">
                  <c:v>13</c:v>
                </c:pt>
                <c:pt idx="8">
                  <c:v>13.1</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8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12.1</c:v>
                </c:pt>
                <c:pt idx="10">
                  <c:v>12.3</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8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11.2</c:v>
                </c:pt>
                <c:pt idx="1">
                  <c:v>12.3</c:v>
                </c:pt>
                <c:pt idx="2">
                  <c:v>12.8</c:v>
                </c:pt>
                <c:pt idx="3">
                  <c:v>12.7</c:v>
                </c:pt>
                <c:pt idx="4">
                  <c:v>12.3</c:v>
                </c:pt>
                <c:pt idx="5">
                  <c:v>11.6</c:v>
                </c:pt>
                <c:pt idx="6">
                  <c:v>11.3</c:v>
                </c:pt>
                <c:pt idx="7">
                  <c:v>11.6</c:v>
                </c:pt>
                <c:pt idx="8">
                  <c:v>11.5</c:v>
                </c:pt>
                <c:pt idx="9">
                  <c:v/>
                </c:pt>
                <c:pt idx="10">
                  <c:v/>
                </c:pt>
                <c:pt idx="11">
                  <c:v>11.8</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bench0</c:v>
                </c:pt>
              </c:strCache>
            </c:strRef>
          </c:tx>
          <c:spPr>
            <a:solidFill>
              <a:srgbClr val="595959"/>
            </a:solidFill>
            <a:ln w="25400" cap="flat">
              <a:solidFill>
                <a:srgbClr val="595959"/>
              </a:solidFill>
              <a:prstDash val="dash"/>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none"/>
            <c:size val="8"/>
            <c:spPr>
              <a:solidFill>
                <a:srgbClr val="595959"/>
              </a:solidFill>
              <a:ln w="9525" cap="flat">
                <a:solidFill>
                  <a:srgbClr val="595959"/>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11.2</c:v>
                </c:pt>
                <c:pt idx="1">
                  <c:v>12.3</c:v>
                </c:pt>
                <c:pt idx="2">
                  <c:v>12.8</c:v>
                </c:pt>
                <c:pt idx="3">
                  <c:v>12.7</c:v>
                </c:pt>
                <c:pt idx="4">
                  <c:v>12.3</c:v>
                </c:pt>
                <c:pt idx="5">
                  <c:v>11.6</c:v>
                </c:pt>
                <c:pt idx="6">
                  <c:v>11.3</c:v>
                </c:pt>
                <c:pt idx="7">
                  <c:v>11.6</c:v>
                </c:pt>
                <c:pt idx="8">
                  <c:v>11.5</c:v>
                </c:pt>
                <c:pt idx="9">
                  <c:v>12.1</c:v>
                </c:pt>
                <c:pt idx="10">
                  <c:v>12.3</c:v>
                </c:pt>
                <c:pt idx="11">
                  <c:v>11.8</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16"/>
          <c:min val="10"/>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8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7.6</c:v>
                </c:pt>
                <c:pt idx="1">
                  <c:v>8.4</c:v>
                </c:pt>
                <c:pt idx="2">
                  <c:v>8.7</c:v>
                </c:pt>
                <c:pt idx="3">
                  <c:v>8.8</c:v>
                </c:pt>
                <c:pt idx="4">
                  <c:v>8.6</c:v>
                </c:pt>
                <c:pt idx="5">
                  <c:v>8.5</c:v>
                </c:pt>
                <c:pt idx="6">
                  <c:v>8.3</c:v>
                </c:pt>
                <c:pt idx="7">
                  <c:v>8.5</c:v>
                </c:pt>
                <c:pt idx="8">
                  <c:v>8.1</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8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7.6</c:v>
                </c:pt>
                <c:pt idx="1">
                  <c:v>8.4</c:v>
                </c:pt>
                <c:pt idx="2">
                  <c:v>8.7</c:v>
                </c:pt>
                <c:pt idx="3">
                  <c:v>8.8</c:v>
                </c:pt>
                <c:pt idx="4">
                  <c:v>8.6</c:v>
                </c:pt>
                <c:pt idx="5">
                  <c:v>8.5</c:v>
                </c:pt>
                <c:pt idx="6">
                  <c:v>8.3</c:v>
                </c:pt>
                <c:pt idx="7">
                  <c:v>8.5</c:v>
                </c:pt>
                <c:pt idx="8">
                  <c:v>8.1</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8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
                </c:pt>
                <c:pt idx="10">
                  <c:v>6.8</c:v>
                </c:pt>
                <c:pt idx="11">
                  <c:v>6.8</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6.3</c:v>
                </c:pt>
                <c:pt idx="1">
                  <c:v>7.1</c:v>
                </c:pt>
                <c:pt idx="2">
                  <c:v>7.6</c:v>
                </c:pt>
                <c:pt idx="3">
                  <c:v>6.9</c:v>
                </c:pt>
                <c:pt idx="4">
                  <c:v>7.1</c:v>
                </c:pt>
                <c:pt idx="5">
                  <c:v>7</c:v>
                </c:pt>
                <c:pt idx="6">
                  <c:v>6.9</c:v>
                </c:pt>
                <c:pt idx="7">
                  <c:v>7</c:v>
                </c:pt>
                <c:pt idx="8">
                  <c:v>6.7</c:v>
                </c:pt>
                <c:pt idx="9">
                  <c:v>6.6</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bench0</c:v>
                </c:pt>
              </c:strCache>
            </c:strRef>
          </c:tx>
          <c:spPr>
            <a:solidFill>
              <a:srgbClr val="595959"/>
            </a:solidFill>
            <a:ln w="25400" cap="flat">
              <a:solidFill>
                <a:srgbClr val="595959"/>
              </a:solidFill>
              <a:prstDash val="dash"/>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none"/>
            <c:size val="8"/>
            <c:spPr>
              <a:solidFill>
                <a:srgbClr val="595959"/>
              </a:solidFill>
              <a:ln w="9525" cap="flat">
                <a:solidFill>
                  <a:srgbClr val="595959"/>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15</c:v>
                </c:pt>
                <c:pt idx="1">
                  <c:v>15</c:v>
                </c:pt>
                <c:pt idx="2">
                  <c:v>15</c:v>
                </c:pt>
                <c:pt idx="3">
                  <c:v>15</c:v>
                </c:pt>
                <c:pt idx="4">
                  <c:v>15</c:v>
                </c:pt>
                <c:pt idx="5">
                  <c:v>15</c:v>
                </c:pt>
                <c:pt idx="6">
                  <c:v>15</c:v>
                </c:pt>
                <c:pt idx="7">
                  <c:v>15</c:v>
                </c:pt>
                <c:pt idx="8">
                  <c:v>15</c:v>
                </c:pt>
                <c:pt idx="9">
                  <c:v>15</c:v>
                </c:pt>
                <c:pt idx="10">
                  <c:v>15</c:v>
                </c:pt>
                <c:pt idx="11">
                  <c:v>15</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6.3</c:v>
                </c:pt>
                <c:pt idx="1">
                  <c:v>7.1</c:v>
                </c:pt>
                <c:pt idx="2">
                  <c:v>7.6</c:v>
                </c:pt>
                <c:pt idx="3">
                  <c:v>6.9</c:v>
                </c:pt>
                <c:pt idx="4">
                  <c:v>7.1</c:v>
                </c:pt>
                <c:pt idx="5">
                  <c:v>7</c:v>
                </c:pt>
                <c:pt idx="6">
                  <c:v>6.9</c:v>
                </c:pt>
                <c:pt idx="7">
                  <c:v>7</c:v>
                </c:pt>
                <c:pt idx="8">
                  <c:v>6.7</c:v>
                </c:pt>
                <c:pt idx="9">
                  <c:v>6.6</c:v>
                </c:pt>
                <c:pt idx="10">
                  <c:v>6.8</c:v>
                </c:pt>
                <c:pt idx="11">
                  <c:v>6.8</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16"/>
          <c:min val="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8.5</c:v>
                </c:pt>
                <c:pt idx="1">
                  <c:v>9</c:v>
                </c:pt>
                <c:pt idx="2">
                  <c:v>9.8</c:v>
                </c:pt>
                <c:pt idx="3">
                  <c:v>9.9</c:v>
                </c:pt>
                <c:pt idx="4">
                  <c:v>9.8</c:v>
                </c:pt>
                <c:pt idx="5">
                  <c:v>9.4</c:v>
                </c:pt>
                <c:pt idx="6">
                  <c:v>9</c:v>
                </c:pt>
                <c:pt idx="7">
                  <c:v>8.9</c:v>
                </c:pt>
                <c:pt idx="8">
                  <c:v>9.3</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9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8.5</c:v>
                </c:pt>
                <c:pt idx="1">
                  <c:v>9</c:v>
                </c:pt>
                <c:pt idx="2">
                  <c:v>9.8</c:v>
                </c:pt>
                <c:pt idx="3">
                  <c:v>9.9</c:v>
                </c:pt>
                <c:pt idx="4">
                  <c:v>9.8</c:v>
                </c:pt>
                <c:pt idx="5">
                  <c:v>9.4</c:v>
                </c:pt>
                <c:pt idx="6">
                  <c:v>9</c:v>
                </c:pt>
                <c:pt idx="7">
                  <c:v>8.9</c:v>
                </c:pt>
                <c:pt idx="8">
                  <c:v>9.3</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7.5</c:v>
                </c:pt>
                <c:pt idx="10">
                  <c:v>7.5</c:v>
                </c:pt>
                <c:pt idx="11">
                  <c:v>7.5</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7.4</c:v>
                </c:pt>
                <c:pt idx="1">
                  <c:v>7.9</c:v>
                </c:pt>
                <c:pt idx="2">
                  <c:v>8.2</c:v>
                </c:pt>
                <c:pt idx="3">
                  <c:v>8.1</c:v>
                </c:pt>
                <c:pt idx="4">
                  <c:v>8.2</c:v>
                </c:pt>
                <c:pt idx="5">
                  <c:v>8</c:v>
                </c:pt>
                <c:pt idx="6">
                  <c:v>7.8</c:v>
                </c:pt>
                <c:pt idx="7">
                  <c:v>8.1</c:v>
                </c:pt>
                <c:pt idx="8">
                  <c:v>7.5</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bench0</c:v>
                </c:pt>
              </c:strCache>
            </c:strRef>
          </c:tx>
          <c:spPr>
            <a:solidFill>
              <a:srgbClr val="595959"/>
            </a:solidFill>
            <a:ln w="25400" cap="flat">
              <a:solidFill>
                <a:srgbClr val="595959"/>
              </a:solidFill>
              <a:prstDash val="dash"/>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none"/>
            <c:size val="8"/>
            <c:spPr>
              <a:solidFill>
                <a:srgbClr val="595959"/>
              </a:solidFill>
              <a:ln w="9525" cap="flat">
                <a:solidFill>
                  <a:srgbClr val="595959"/>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10</c:v>
                </c:pt>
                <c:pt idx="1">
                  <c:v>10</c:v>
                </c:pt>
                <c:pt idx="2">
                  <c:v>10</c:v>
                </c:pt>
                <c:pt idx="3">
                  <c:v>10</c:v>
                </c:pt>
                <c:pt idx="4">
                  <c:v>10</c:v>
                </c:pt>
                <c:pt idx="5">
                  <c:v>10</c:v>
                </c:pt>
                <c:pt idx="6">
                  <c:v>10</c:v>
                </c:pt>
                <c:pt idx="7">
                  <c:v>10</c:v>
                </c:pt>
                <c:pt idx="8">
                  <c:v>10</c:v>
                </c:pt>
                <c:pt idx="9">
                  <c:v>10</c:v>
                </c:pt>
                <c:pt idx="10">
                  <c:v>10</c:v>
                </c:pt>
                <c:pt idx="11">
                  <c:v>10</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7.4</c:v>
                </c:pt>
                <c:pt idx="1">
                  <c:v>7.9</c:v>
                </c:pt>
                <c:pt idx="2">
                  <c:v>8.2</c:v>
                </c:pt>
                <c:pt idx="3">
                  <c:v>8.1</c:v>
                </c:pt>
                <c:pt idx="4">
                  <c:v>8.2</c:v>
                </c:pt>
                <c:pt idx="5">
                  <c:v>8</c:v>
                </c:pt>
                <c:pt idx="6">
                  <c:v>7.8</c:v>
                </c:pt>
                <c:pt idx="7">
                  <c:v>8.1</c:v>
                </c:pt>
                <c:pt idx="8">
                  <c:v>7.5</c:v>
                </c:pt>
                <c:pt idx="9">
                  <c:v>7.5</c:v>
                </c:pt>
                <c:pt idx="10">
                  <c:v>7.5</c:v>
                </c:pt>
                <c:pt idx="11">
                  <c:v>7.5</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11"/>
          <c:min val="6"/>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9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5.4</c:v>
                </c:pt>
                <c:pt idx="1">
                  <c:v>5.8</c:v>
                </c:pt>
                <c:pt idx="2">
                  <c:v>6.2</c:v>
                </c:pt>
                <c:pt idx="3">
                  <c:v>6</c:v>
                </c:pt>
                <c:pt idx="4">
                  <c:v>6.3</c:v>
                </c:pt>
                <c:pt idx="5">
                  <c:v>5.9</c:v>
                </c:pt>
                <c:pt idx="6">
                  <c:v>5.6</c:v>
                </c:pt>
                <c:pt idx="7">
                  <c:v>5.3</c:v>
                </c:pt>
                <c:pt idx="8">
                  <c:v>5.8</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10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5.4</c:v>
                </c:pt>
                <c:pt idx="1">
                  <c:v>5.8</c:v>
                </c:pt>
                <c:pt idx="2">
                  <c:v>6.2</c:v>
                </c:pt>
                <c:pt idx="3">
                  <c:v>6</c:v>
                </c:pt>
                <c:pt idx="4">
                  <c:v>6.3</c:v>
                </c:pt>
                <c:pt idx="5">
                  <c:v>5.9</c:v>
                </c:pt>
                <c:pt idx="6">
                  <c:v>5.6</c:v>
                </c:pt>
                <c:pt idx="7">
                  <c:v>5.3</c:v>
                </c:pt>
                <c:pt idx="8">
                  <c:v>5.8</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0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
                </c:pt>
                <c:pt idx="3">
                  <c:v/>
                </c:pt>
                <c:pt idx="4">
                  <c:v/>
                </c:pt>
                <c:pt idx="5">
                  <c:v/>
                </c:pt>
                <c:pt idx="6">
                  <c:v/>
                </c:pt>
                <c:pt idx="7">
                  <c:v/>
                </c:pt>
                <c:pt idx="8">
                  <c:v/>
                </c:pt>
                <c:pt idx="9">
                  <c:v/>
                </c:pt>
                <c:pt idx="10">
                  <c:v>4.8</c:v>
                </c:pt>
                <c:pt idx="11">
                  <c:v>4.9</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0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3.9</c:v>
                </c:pt>
                <c:pt idx="1">
                  <c:v>4.6</c:v>
                </c:pt>
                <c:pt idx="2">
                  <c:v>4.9</c:v>
                </c:pt>
                <c:pt idx="3">
                  <c:v>4.9</c:v>
                </c:pt>
                <c:pt idx="4">
                  <c:v>4.6</c:v>
                </c:pt>
                <c:pt idx="5">
                  <c:v>4.7</c:v>
                </c:pt>
                <c:pt idx="6">
                  <c:v>4.3</c:v>
                </c:pt>
                <c:pt idx="7">
                  <c:v>4.7</c:v>
                </c:pt>
                <c:pt idx="8">
                  <c:v>4.5</c:v>
                </c:pt>
                <c:pt idx="9">
                  <c:v>4.6</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0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bench0</c:v>
                </c:pt>
              </c:strCache>
            </c:strRef>
          </c:tx>
          <c:spPr>
            <a:solidFill>
              <a:srgbClr val="595959"/>
            </a:solidFill>
            <a:ln w="25400" cap="flat">
              <a:solidFill>
                <a:srgbClr val="595959"/>
              </a:solidFill>
              <a:prstDash val="dash"/>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none"/>
            <c:size val="8"/>
            <c:spPr>
              <a:solidFill>
                <a:srgbClr val="595959"/>
              </a:solidFill>
              <a:ln w="9525" cap="flat">
                <a:solidFill>
                  <a:srgbClr val="595959"/>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7.5</c:v>
                </c:pt>
                <c:pt idx="1">
                  <c:v>7.5</c:v>
                </c:pt>
                <c:pt idx="2">
                  <c:v>7.5</c:v>
                </c:pt>
                <c:pt idx="3">
                  <c:v>7.5</c:v>
                </c:pt>
                <c:pt idx="4">
                  <c:v>7.5</c:v>
                </c:pt>
                <c:pt idx="5">
                  <c:v>7.5</c:v>
                </c:pt>
                <c:pt idx="6">
                  <c:v>7.5</c:v>
                </c:pt>
                <c:pt idx="7">
                  <c:v>7.5</c:v>
                </c:pt>
                <c:pt idx="8">
                  <c:v>7.5</c:v>
                </c:pt>
                <c:pt idx="9">
                  <c:v>7.5</c:v>
                </c:pt>
                <c:pt idx="10">
                  <c:v>7.5</c:v>
                </c:pt>
                <c:pt idx="11">
                  <c:v>7.5</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0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3.9</c:v>
                </c:pt>
                <c:pt idx="1">
                  <c:v>4.6</c:v>
                </c:pt>
                <c:pt idx="2">
                  <c:v>4.9</c:v>
                </c:pt>
                <c:pt idx="3">
                  <c:v>4.9</c:v>
                </c:pt>
                <c:pt idx="4">
                  <c:v>4.6</c:v>
                </c:pt>
                <c:pt idx="5">
                  <c:v>4.7</c:v>
                </c:pt>
                <c:pt idx="6">
                  <c:v>4.3</c:v>
                </c:pt>
                <c:pt idx="7">
                  <c:v>4.7</c:v>
                </c:pt>
                <c:pt idx="8">
                  <c:v>4.5</c:v>
                </c:pt>
                <c:pt idx="9">
                  <c:v>4.6</c:v>
                </c:pt>
                <c:pt idx="10">
                  <c:v>4.8</c:v>
                </c:pt>
                <c:pt idx="11">
                  <c:v>4.9</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8"/>
          <c:min val="3"/>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w="38100" cap="flat">
              <a:solidFill>
                <a:srgbClr val="2587C5"/>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77.5</c:v>
                </c:pt>
                <c:pt idx="1">
                  <c:v>77.4</c:v>
                </c:pt>
                <c:pt idx="2">
                  <c:v>78.4</c:v>
                </c:pt>
                <c:pt idx="3">
                  <c:v>78.3</c:v>
                </c:pt>
                <c:pt idx="4">
                  <c:v>78.8</c:v>
                </c:pt>
                <c:pt idx="5">
                  <c:v>77.8</c:v>
                </c:pt>
                <c:pt idx="6">
                  <c:v>78.7</c:v>
                </c:pt>
                <c:pt idx="7">
                  <c:v>77.9</c:v>
                </c:pt>
                <c:pt idx="8">
                  <c:v>78.2</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2"/>
          <c:min val="74"/>
        </c:scaling>
        <c:delete val="0"/>
        <c:axPos val="l"/>
        <c:majorGridlines>
          <c:spPr>
            <a:ln w="9525" cap="flat">
              <a:solidFill>
                <a:srgbClr val="D9D9D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1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78.4</c:v>
                </c:pt>
                <c:pt idx="3">
                  <c:v>78.3</c:v>
                </c:pt>
                <c:pt idx="4">
                  <c:v>78.8</c:v>
                </c:pt>
                <c:pt idx="5">
                  <c:v/>
                </c:pt>
                <c:pt idx="6">
                  <c:v>78.7</c:v>
                </c:pt>
                <c:pt idx="7">
                  <c:v>77.9</c:v>
                </c:pt>
                <c:pt idx="8">
                  <c:v>78.2</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2"/>
          <c:min val="7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2026</c:v>
                </c:pt>
              </c:strCache>
            </c:strRef>
          </c:tx>
          <c:spPr>
            <a:solidFill>
              <a:srgbClr val="2587C5"/>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2587C5"/>
              </a:solidFill>
              <a:ln w="9525" cap="flat">
                <a:solidFill>
                  <a:srgbClr val="2587C5"/>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77.5</c:v>
                </c:pt>
                <c:pt idx="1">
                  <c:v>77.4</c:v>
                </c:pt>
                <c:pt idx="2">
                  <c:v/>
                </c:pt>
                <c:pt idx="3">
                  <c:v/>
                </c:pt>
                <c:pt idx="4">
                  <c:v/>
                </c:pt>
                <c:pt idx="5">
                  <c:v>77.8</c:v>
                </c:pt>
                <c:pt idx="6">
                  <c:v/>
                </c:pt>
                <c:pt idx="7">
                  <c:v/>
                </c:pt>
                <c:pt idx="8">
                  <c:v/>
                </c:pt>
                <c:pt idx="9">
                  <c:v/>
                </c:pt>
                <c:pt idx="10">
                  <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2"/>
          <c:min val="7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77.6</c:v>
                </c:pt>
                <c:pt idx="1">
                  <c:v>78</c:v>
                </c:pt>
                <c:pt idx="2">
                  <c:v/>
                </c:pt>
                <c:pt idx="3">
                  <c:v/>
                </c:pt>
                <c:pt idx="4">
                  <c:v/>
                </c:pt>
                <c:pt idx="5">
                  <c:v>78.3</c:v>
                </c:pt>
                <c:pt idx="6">
                  <c:v/>
                </c:pt>
                <c:pt idx="7">
                  <c:v/>
                </c:pt>
                <c:pt idx="8">
                  <c:v/>
                </c:pt>
                <c:pt idx="9">
                  <c:v>77.9</c:v>
                </c:pt>
                <c:pt idx="10">
                  <c:v/>
                </c:pt>
                <c:pt idx="11">
                  <c:v>78.4</c:v>
                </c:pt>
              </c:numCache>
            </c:numRef>
          </c:val>
          <c:smooth val="0"/>
        </c:ser>
        <c:dLbls>
          <c:numFmt formatCode="0.0&quot;%&quot;"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2"/>
          <c:min val="7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a:noFill/>
            </a:ln>
            <a:effectLst/>
          </c:spPr>
          <c:invertIfNegative val="0"/>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c:symbol val="non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
                </c:pt>
                <c:pt idx="1">
                  <c:v/>
                </c:pt>
                <c:pt idx="2">
                  <c:v>77.9</c:v>
                </c:pt>
                <c:pt idx="3">
                  <c:v>78</c:v>
                </c:pt>
                <c:pt idx="4">
                  <c:v>78.5</c:v>
                </c:pt>
                <c:pt idx="5">
                  <c:v/>
                </c:pt>
                <c:pt idx="6">
                  <c:v>77.7</c:v>
                </c:pt>
                <c:pt idx="7">
                  <c:v>77.4</c:v>
                </c:pt>
                <c:pt idx="8">
                  <c:v>77.3</c:v>
                </c:pt>
                <c:pt idx="9">
                  <c:v/>
                </c:pt>
                <c:pt idx="10">
                  <c:v>77.4</c:v>
                </c:pt>
                <c:pt idx="11">
                  <c:v/>
                </c:pt>
              </c:numCache>
            </c:numRef>
          </c:val>
          <c:smooth val="0"/>
        </c:ser>
        <c:dLbls>
          <c:numFmt formatCode="0.0&quot;%&quot;" sourceLinked="0"/>
          <c:txPr>
            <a:bodyPr/>
            <a:lstStyle/>
            <a:p>
              <a:pPr>
                <a:defRPr b="0" i="0" strike="noStrike" sz="14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FFFFFF"/>
                </a:solidFill>
                <a:latin typeface="+mn-lt"/>
              </a:defRPr>
            </a:pPr>
            <a:endParaRPr lang="en-US"/>
          </a:p>
        </c:txPr>
        <c:crossAx val="2094734552"/>
        <c:crosses val="min"/>
        <c:auto val="1"/>
        <c:lblAlgn val="ctr"/>
        <c:noMultiLvlLbl val="1"/>
      </c:catAx>
      <c:valAx>
        <c:axId val="2094734552"/>
        <c:scaling>
          <c:orientation val="minMax"/>
          <c:max val="82"/>
          <c:min val="7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FFFFFF"/>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charts/chart1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2025</c:v>
                </c:pt>
              </c:strCache>
            </c:strRef>
          </c:tx>
          <c:spPr>
            <a:solidFill>
              <a:srgbClr val="9AA3AD"/>
            </a:solidFill>
            <a:ln w="38100" cap="flat">
              <a:solidFill>
                <a:srgbClr val="9AA3AD"/>
              </a:solidFill>
              <a:prstDash val="solid"/>
              <a:round/>
            </a:ln>
            <a:effectLst/>
          </c:spPr>
          <c:invertIfNegative val="0"/>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c:symbol val="circle"/>
            <c:size val="8"/>
            <c:spPr>
              <a:solidFill>
                <a:srgbClr val="9AA3AD"/>
              </a:solidFill>
              <a:ln w="9525" cap="flat">
                <a:solidFill>
                  <a:srgbClr val="9AA3AD"/>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77.6</c:v>
                </c:pt>
                <c:pt idx="1">
                  <c:v>78</c:v>
                </c:pt>
                <c:pt idx="2">
                  <c:v>77.9</c:v>
                </c:pt>
                <c:pt idx="3">
                  <c:v>78</c:v>
                </c:pt>
                <c:pt idx="4">
                  <c:v>78.5</c:v>
                </c:pt>
                <c:pt idx="5">
                  <c:v>78.3</c:v>
                </c:pt>
                <c:pt idx="6">
                  <c:v>77.7</c:v>
                </c:pt>
                <c:pt idx="7">
                  <c:v>77.4</c:v>
                </c:pt>
                <c:pt idx="8">
                  <c:v>77.3</c:v>
                </c:pt>
                <c:pt idx="9">
                  <c:v>77.9</c:v>
                </c:pt>
                <c:pt idx="10">
                  <c:v>77.4</c:v>
                </c:pt>
                <c:pt idx="11">
                  <c:v>78.4</c:v>
                </c:pt>
              </c:numCache>
            </c:numRef>
          </c:val>
          <c:smooth val="0"/>
        </c:ser>
        <c:dLbls>
          <c:numFmt formatCode="0.0&quot;%&quot;" sourceLinked="0"/>
          <c:txPr>
            <a:bodyPr/>
            <a:lstStyle/>
            <a:p>
              <a:pPr>
                <a:defRPr b="0" i="0" strike="noStrike" sz="14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min"/>
        <c:auto val="1"/>
        <c:lblAlgn val="ctr"/>
        <c:noMultiLvlLbl val="1"/>
      </c:catAx>
      <c:valAx>
        <c:axId val="2094734552"/>
        <c:scaling>
          <c:orientation val="minMax"/>
          <c:max val="82"/>
          <c:min val="74"/>
        </c:scaling>
        <c:delete val="0"/>
        <c:axPos val="l"/>
        <c:numFmt formatCode="0&quot;%&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
      </c:valAx>
      <c:spPr>
        <a:solidFill>
          <a:srgbClr val="FFFFFF">
            <a:alpha val="0"/>
          </a:srgbClr>
        </a:solidFill>
        <a:ln>
          <a:noFill/>
        </a:ln>
        <a:effectLst/>
      </c:spPr>
    </c:plotArea>
    <c:plotVisOnly val="1"/>
    <c:dispBlanksAs val="span"/>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GM statement. Jan-Sep 2026, same-store, INEOS excluded (opened 2026).PLACE: Profitability, in front of Fixed Ops Absorption %; the next slide breaks down the fixed expenses. The denominator is the P&amp;L's Fixed Expenses line on the GM statement: the whole store's expenses (new, used, service and parts; the GMC Prescott body shop is taken out, as everywhere in the deck) less the costs that move with each car sold: sales and F&amp;I commissions, delivery, policy, floorplan interest, and new and used vehicle advertising. That matches the standard dealer definition: fixed ops gross divided by total store overhead, excluding the variable costs of selling cars. Jan-Sep 2026 same-store: $242,385,781 of fixed expenses out of $304,576,351 total expense.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Jan-Sep. Same-store, INEOS excluded (opened 2026). P&amp;L line Fixed Ops Absorption % = Total Gross Profit - Fixed Ops / Fixed Expenses. GMC Prescott body shop taken out (its gross and its body shop fixed expenses), as everywhere in the deck (Noah, Oct 28). YTD from YTD totals, not the mean of months. Store rows reconcile to the group on every input, both years. 2025 shown January-December; October-December pulled Oct 22 on the same basis (chart only).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15 of 33 stores at or above the 77.9% group, led by Audi Henderson at 106.6%. Hyundai Prescott is lowest at 46.2%.Source: Qlik - Profit &amp; Loss. Jan-Sep. Same-store, INEOS excluded (opened 2026). P&amp;L line Fixed Ops Absorption % = Total Gross Profit - Fixed Ops / Fixed Expenses. GMC Prescott body shop taken out (its gross and its body shop fixed expenses), as everywhere in the deck (Noah, Oct 28). Jan-Sep 2026 YTD. Green at or above the group, red below. Bars start at 30.0% so differences are visible.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23 of 33 stores raised absorption, led by Lincoln at +16.1 pts to 59.9%. 10 declined; VW St George fell most at −17.4 pts.Source: Qlik - Profit &amp; Loss. Jan-Sep. Same-store, INEOS excluded (opened 2026). Change in Fixed Ops Absorption %,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Lincoln, Cadillac and LR Reno what changed. Ask VW St George, Kia St George and VW Henderson what got in the way. Ask LR Henderson, LR Reno and Kia St George what they started this year.Source: Qlik - Profit &amp; Loss. Jan-Sep. Same-store, INEOS excluded (opened 2026). P&amp;L line Fixed Ops Absorption % = Total Gross Profit - Fixed Ops / Fixed Expenses. GMC Prescott body shop taken out (its gross and its body shop fixed expenses), as everywhere in the deck (Noah, Oct 28). Top and bottom five stores by change in Fixed Ops Absorption %, Jan-Sep 2026 vs 2025. Moving now: Jul-Sep 2026 vs Jan-Mar 2026, each store against itself; the group moved +4.4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24 of 33 stores raised service net to gross, led by Hyundai Prescott at +33.5 pts to -19.2%. 9 declined; VW St George fell most at −26.8 pts.Source: Qlik - Profit &amp; Loss. Jan-Sep. Same-store, INEOS excluded (opened 2026). Change in Service Net to Gross %,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Prescott, Lincoln and LR Reno what changed. Ask VW St George, Kia St George and Mazda what got in the way. Ask Hyundai Prescott, LR Henderson and LR Reno what they started this year.Source: Qlik - Profit &amp; Loss. Jan-Sep. Same-store, INEOS excluded (opened 2026). Mechanical department profit / mechanical department gross (P&amp;L Detail statement). Body shop is its own department and is not included. Top and bottom five stores by change in Service Net to Gross %, Jan-Sep 2026 vs 2025. Moving now: Jul-Sep 2026 vs Jan-Mar 2026, each store against itself; the group moved +1.0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15 of 33 stores raised parts net to gross, led by Lincoln at +14.2 pts to 17.9%. 18 declined; Hyundai Prescott fell most at −12.5 pts.Source: Qlik - Profit &amp; Loss. Jan-Sep. Same-store, INEOS excluded (opened 2026). Change in Parts Net to Gross %,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Lincoln, Acura and Nissan what changed. Ask Hyundai Prescott, Hyundai St George and VW St George what got in the way. Ask LR Reno, VW St George and Mazda what they started this year.Source: Qlik - Profit &amp; Loss. Jan-Sep. Same-store, INEOS excluded (opened 2026). P&amp;A department profit / P&amp;A department gross (P&amp;L Detail statement). Top and bottom five stores by change in Parts Net to Gross %, Jan-Sep 2026 vs 2025. Moving now: Jul-Sep 2026 vs Jan-Mar 2026, each store against itself; the group moved +5.3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CP Engine section, after the section break and before CP RO Count.</a:t>
            </a:r>
          </a:p>
          <a:p>
            <a:r>
              <a:t>Said: Roundtable slides 18-19 (KPIs; CP Labor $ per RO).</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Hours per RO.</a:t>
            </a:r>
          </a:p>
          <a:p>
            <a:r>
              <a:t>$6,602,564 a year = 0.1 x each store's CP RO count x its own CP labor + parts gross per sold hour, Jan-Sep x 12/9 (279,756 CP ROs: 27,976 hours Jan-Sep, 37,301 a year; about $177 an hour on that mix). Same figure as What 0.1 Hour per RO Is Worth and Where the Money Is (Oct 28 audit; was $4,543,691 Jan-Sep labor sale).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by close month. Same-store, INEOS excluded (opened 2026). GMC Prescott body shop labor types excluded. Customer-pay sold hours / all customer-pay ROs. YTD from YTD totals, not the mean of months. Store rows reconcile to the group on every input, both years. 2025 shown January-December; October-December pulled Oct 22 on the same basis (chart only).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20 of 33 stores improved labor margin, led by Toyota Prescott at +4.6 pts to 78.5%. 13 declined; Hyundai Prescott fell most at −5.2 pts.Source: Qlik - Closed Repair Orders. Customer pay, Jan-Sep by close month. Same-store, INEOS excluded (opened 2026). GMC Prescott body shop labor types excluded. Change in CP Labor Gross Profit %,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by close month. Same-store, INEOS excluded (opened 2026). GMC Prescott body shop labor types excluded. Customer-pay parts gross / customer-pay parts sale on repair orders (counter and wholesale not included). YTD from YTD totals, not the mean of months. Store rows reconcile to the group on every input, both years. 2025 shown January-December; October-December pulled Oct 22 on the same basis (chart only).</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28 of 33 stores improved parts margin, led by Acura at +6.2 pts to 44.9%. 5 declined; Audi Henderson fell most at −2.2 pts.Source: Qlik - Closed Repair Orders. Customer pay, Jan-Sep by close month. Same-store, INEOS excluded (opened 2026). GMC Prescott body shop labor types excluded. Change in CP Parts Gross Profit %,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Acura, Nissan and Subaru Prescott what changed. Ask Audi Henderson, Toyota Spokane and Hyundai Prescott what got in the way. Ask Acura, VW St George and GMC Prescott what they started this year.Source: Qlik - Closed Repair Orders. Customer pay, Jan-Sep by close month. Same-store, INEOS excluded (opened 2026). GMC Prescott body shop labor types excluded. Customer-pay parts gross / customer-pay parts sale on repair orders (counter and wholesale not included). Top and bottom five stores by change in CP Parts Gross Profit %, Jan-Sep 2026 vs 2025. Moving now: Jul-Sep 2026 vs Jan-Mar 2026, each store against itself; the group moved −0.0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Talking points: Service Manager Roundtable (Nov 15, 2024) and GM meeting decks (Jan and May 2026). Data: Qlik (Profit &amp; Loss, Closed Repair Orders, Productivity), Jan-Sep 2026 vs 2025, same-store, 33 stores, INEOS excluded.PLACE: Opcodes section, after the section break and before Alignment %.</a:t>
            </a:r>
          </a:p>
          <a:p>
            <a:r>
              <a:t>Said: Roundtable slides 11, 12, 14 (Road to the Sale, Maintenance Menus, MPI Mandate); Jan GM slide 15 / May GM slide 11 (Road to the Sale). Fuel service is 5.8% vs 7.5% (4,731 short).</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by close month. Same-store, INEOS excluded (opened 2026). GMC Prescott body shop labor excluded. ALIGNMENT % = alignment ROs ÷ customer-pay ROs on the op-code report basis. YTD from YTD totals, not the mean of months.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Hyundai St George, Hyundai Prescott and GMC Prescott what changed. Ask LR Reno, Kia LV and Subaru LV what got in the way. Ask Audi Henderson, Mazda and Kia St George what they started this year.Source: Qlik - Closed Repair Orders. Customer pay, Jan-Sep by close month. Same-store, INEOS excluded (opened 2026). GMC Prescott body shop labor excluded. Top and bottom five stores by change in Alignment %, Jan-Sep 2026 vs 2025, in points. Moving now: Jul-Sep 2026 vs Jan-Mar 2026, each store against itself; the group moved +0.2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by close month. Same-store, INEOS excluded (opened 2026). GMC Prescott body shop labor excluded. BALANCE % = balance ROs ÷ customer-pay ROs on the op-code report basis. YTD from YTD totals, not the mean of months.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Subaru Prescott, LR LV and Mazda what changed. Ask Subaru St George, Nissan and Kia LV what got in the way. Ask Mazda, Hyundai Prescott and Honda Spokane what they started this year.Source: Qlik - Closed Repair Orders. Customer pay, Jan-Sep by close month. Same-store, INEOS excluded (opened 2026). GMC Prescott body shop labor excluded. Top and bottom five stores by change in Balance %, Jan-Sep 2026 vs 2025, in points. Moving now: Jul-Sep 2026 vs Jan-Mar 2026, each store against itself; the group moved +0.1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by close month. Same-store, INEOS excluded (opened 2026). GMC Prescott body shop labor excluded. BRAKE FLUID % = brake fluid service ROs ÷ customer-pay ROs on the op-code report basis. YTD from YTD totals, not the mean of months.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Nissan, LR LV and LR Henderson what changed. Ask CDJR Post Falls, Honda North and Subaru St George what got in the way. Ask Mazda, Audi Reno and Kia St George what they started this year.Source: Qlik - Closed Repair Orders. Customer pay, Jan-Sep by close month. Same-store, INEOS excluded (opened 2026). GMC Prescott body shop labor excluded. Top and bottom five stores by change in Brake Fluid %, Jan-Sep 2026 vs 2025, in points. Moving now: Jul-Sep 2026 vs Jan-Mar 2026, each store against itself; the group moved +0.0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Jan-Sep by close month. Same-store, INEOS excluded (opened 2026). GMC Prescott body shop labor excluded. FUEL SERVICE % = fuel service ROs ÷ customer-pay ROs on the op-code report basis. YTD from YTD totals, not the mean of months.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Subaru St George, Lincoln and LR LV what changed. Ask Subaru LV, CDJR Post Falls and Toyota Spokane what got in the way. Ask Mazda, Hyundai St George and Honda Spokane what they started this year.Source: Qlik - Closed Repair Orders. Customer pay, Jan-Sep by close month. Same-store, INEOS excluded (opened 2026). GMC Prescott body shop labor excluded. Top and bottom five stores by change in Fuel Service %, Jan-Sep 2026 vs 2025, in points. Moving now: Jul-Sep 2026 vs Jan-Mar 2026, each store against itself; the group moved −0.3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Internal pay type, Jan-Sep by close month. Same-store, INEOS excluded (opened 2026). GMC Prescott body shop labor types excluded. Internal labor gross / internal labor sale. A higher internal margin adds service gross but is a cost to used cars. YTD from YTD totals, not the mean of months. Store rows reconcile to the group on every input, both years. 2025 shown January-December; October-December pulled Oct 22 on the same basis (chart only).</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19 of 33 stores raised internal labor GP%, led by Acura at +5.6 pts to 77.2%. 14 declined; Nissan fell most at −8.8 pts.Source: Qlik - Closed Repair Orders. Internal pay type, Jan-Sep by close month. Same-store, INEOS excluded (opened 2026). GMC Prescott body shop labor types excluded. Change in Internal Labor Gross Profit %,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Acura, Honda Spokane and LR Reno what changed. Ask Nissan, LR LV and Mazda what got in the way. Ask LR Henderson, Kia St George and Hyundai St George what they started this year.Source: Qlik - Closed Repair Orders. Internal pay type, Jan-Sep by close month. Same-store, INEOS excluded (opened 2026). GMC Prescott body shop labor types excluded. Internal labor gross / internal labor sale. A higher internal margin adds service gross but is a cost to used cars. Top and bottom five stores by change in Internal Labor Gross Profit %, Jan-Sep 2026 vs 2025. Moving now: Jul-Sep 2026 vs Jan-Mar 2026, each store against itself; the group moved +0.5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21 of 33 stores raised internal parts GP%, led by Acura at +6.2 pts to 34.0%. 12 declined; VW St George fell most at −4.8 pts.Source: Qlik - Closed Repair Orders. Internal pay type, Jan-Sep by close month. Same-store, INEOS excluded (opened 2026). GMC Prescott body shop labor types excluded. Change in Internal Parts Gross Profit %,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Acura, Hyundai Prescott and Honda Flagstaff what changed. Ask VW St George, Kia LV and GMC Prescott what got in the way. Ask LR Reno, CDJR Post Falls and LR Henderson what they started this year.Source: Qlik - Closed Repair Orders. Internal pay type, Jan-Sep by close month. Same-store, INEOS excluded (opened 2026). GMC Prescott body shop labor types excluded. Internal parts gross / internal parts sale on repair orders. A higher internal margin adds parts gross but is a cost to used cars. Top and bottom five stores by change in Internal Parts Gross Profit %, Jan-Sep 2026 vs 2025. Moving now: Jul-Sep 2026 vs Jan-Mar 2026, each store against itself; the group moved +0.5 pts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Six stores hold $647K a month, led by Cadillac at $158K. 20 stores at or above 85% still leave $818K a month.Source: Each technician under 85% lifted to 85% of their own worked hours; techs at or above 85% count as zero, so no store offsets one tech with another. Gap hours valued at what the store's own technicians (counted titles) earn per sold hour in labor gross and parts gross, all pay types, Qlik - Closed Repair Orders, same dates; tech pay at their labor cost per sold hour. Store-wide averages are not used because they carry detail, rental and recon sale booked with no hours. Per month = period total / 9.49 months (Dec 25, 2025 - Oct 9, 2026). Parts assumes the extra hours carry the store's average parts per hour. Population as on the proficiency slides. Per mo = labor + parts gross. Under 85% = technicians under 85% of all counted. Store = store proficiency.ACURA: 67.4%; 11 of 11 under 85%; gap 2,954 hrs; labor $50K/mo + parts $26K/mo; tech pay $14K/mo; 25.4% of $299K/mo RO gross; top quarter 74% (3 techs); 3.46 ROs/tech day; 1.75 hrs/RO</a:t>
            </a:r>
          </a:p>
          <a:p>
            <a:r>
              <a:t>AUDI HENDERSON: 91.0%; 13 of 23 under 85%; gap 3,426 hrs; labor $81K/mo + parts $20K/mo; tech pay $14K/mo; 8.3% of $1.23M/mo RO gross; top quarter 135% (6 techs); 2.77 ROs/tech day; 3.23 hrs/RO</a:t>
            </a:r>
          </a:p>
          <a:p>
            <a:r>
              <a:t>AUDI RENO: 117.1%; 4 of 10 under 85%; gap 826 hrs; labor $14K/mo + parts $6K/mo; tech pay $4K/mo; 4.0% of $504K/mo RO gross; top quarter 194% (2 techs); 4.08 ROs/tech day; 2.88 hrs/RO</a:t>
            </a:r>
          </a:p>
          <a:p>
            <a:r>
              <a:t>CADILLAC: 87.7%; 16 of 29 under 85%; gap 6,705 hrs; labor $108K/mo + parts $49K/mo; tech pay $24K/mo; 13.6% of $1.16M/mo RO gross; top quarter 143% (7 techs); 2.48 ROs/tech day; 3.41 hrs/RO</a:t>
            </a:r>
          </a:p>
          <a:p>
            <a:r>
              <a:t>CDJR POST FALLS: 71.2%; 9 of 14 under 85%; gap 5,005 hrs; labor $68K/mo + parts $32K/mo; tech pay $18K/mo; 24.6% of $408K/mo RO gross; top quarter 129% (4 techs); 3.77 ROs/tech day; 2.25 hrs/RO</a:t>
            </a:r>
          </a:p>
          <a:p>
            <a:r>
              <a:t>CHEVY GMC BULLHEAD: 68.4%; 16 of 20 under 85%; gap 5,809 hrs; labor $73K/mo + parts $39K/mo; tech pay $20K/mo; 23.2% of $483K/mo RO gross; top quarter 96% (5 techs); 3.06 ROs/tech day; 2.19 hrs/RO</a:t>
            </a:r>
          </a:p>
          <a:p>
            <a:r>
              <a:t>CHEVY LV: 103.4%; 16 of 51 under 85%; gap 5,102 hrs; labor $62K/mo + parts $25K/mo; tech pay $17K/mo; 5.2% of $1.69M/mo RO gross; top quarter 164% (13 techs); 3.95 ROs/tech day; 2.69 hrs/RO</a:t>
            </a:r>
          </a:p>
          <a:p>
            <a:r>
              <a:t>GMC PRESCOTT: 73.6%; 7 of 12 under 85%; gap 2,741 hrs; labor $31K/mo + parts $17K/mo; tech pay $12K/mo; 14.4% of $333K/mo RO gross; top quarter 104% (3 techs); 3.59 ROs/tech day; 4.21 hrs/RO</a:t>
            </a:r>
          </a:p>
          <a:p>
            <a:r>
              <a:t>HONDA FLAGSTAFF: 78.5%; 4 of 6 under 85%; gap 2,217 hrs; labor $28K/mo + parts $12K/mo; tech pay $8K/mo; 19.6% of $202K/mo RO gross; top quarter 131% (2 techs); 5.23 ROs/tech day; 1.85 hrs/RO</a:t>
            </a:r>
          </a:p>
          <a:p>
            <a:r>
              <a:t>HONDA HENDERSON: 118.5%; 5 of 28 under 85%; gap 669 hrs; labor $9K/mo + parts $4K/mo; tech pay $2K/mo; 0.8% of $1.54M/mo RO gross; top quarter 172% (7 techs); 6.04 ROs/tech day; 2.11 hrs/RO</a:t>
            </a:r>
          </a:p>
          <a:p>
            <a:r>
              <a:t>HONDA NORTH: 109.3%; 4 of 22 under 85%; gap 764 hrs; labor $9K/mo + parts $4K/mo; tech pay $2K/mo; 1.4% of $949K/mo RO gross; top quarter 152% (6 techs); 6.08 ROs/tech day; 2.29 hrs/RO</a:t>
            </a:r>
          </a:p>
          <a:p>
            <a:r>
              <a:t>HONDA SPOKANE: 109.0%; 2 of 15 under 85%; gap 57 hrs; labor $1K/mo + parts $0K/mo; tech pay $0K/mo; 0.2% of $453K/mo RO gross; top quarter 130% (4 techs); 6.24 ROs/tech day; 2.14 hrs/RO</a:t>
            </a:r>
          </a:p>
          <a:p>
            <a:r>
              <a:t>HYUNDAI PRESCOTT: 78.8%; 6 of 9 under 85%; gap 1,873 hrs; labor $23K/mo + parts $11K/mo; tech pay $8K/mo; 18.5% of $185K/mo RO gross; top quarter 113% (2 techs); 3.75 ROs/tech day; 1.78 hrs/RO</a:t>
            </a:r>
          </a:p>
          <a:p>
            <a:r>
              <a:t>HYUNDAI ST GEORGE: 69.0%; 8 of 11 under 85%; gap 3,952 hrs; labor $58K/mo + parts $30K/mo; tech pay $13K/mo; 31.9% of $277K/mo RO gross; top quarter 122% (3 techs); 4.23 ROs/tech day; 1.45 hrs/RO</a:t>
            </a:r>
          </a:p>
          <a:p>
            <a:r>
              <a:t>KIA LV: 76.8%; 16 of 20 under 85%; gap 3,389 hrs; labor $51K/mo + parts $23K/mo; tech pay $12K/mo; 11.6% of $643K/mo RO gross; top quarter 101% (5 techs); 5.22 ROs/tech day; 1.70 hrs/RO</a:t>
            </a:r>
          </a:p>
          <a:p>
            <a:r>
              <a:t>KIA ST GEORGE: 67.5%; 9 of 12 under 85%; gap 3,713 hrs; labor $48K/mo + parts $29K/mo; tech pay $11K/mo; 29.7% of $258K/mo RO gross; top quarter 98% (3 techs); 4.25 ROs/tech day; 1.31 hrs/RO</a:t>
            </a:r>
          </a:p>
          <a:p>
            <a:r>
              <a:t>LEXUS: 104.7%; 6 of 11 under 85%; gap 1,451 hrs; labor $24K/mo + parts $7K/mo; tech pay $5K/mo; 7.9% of $400K/mo RO gross; top quarter 178% (3 techs); 4.01 ROs/tech day; 2.44 hrs/RO</a:t>
            </a:r>
          </a:p>
          <a:p>
            <a:r>
              <a:t>LINCOLN: 94.9%; 5 of 11 under 85%; gap 1,236 hrs; labor $17K/mo + parts $7K/mo; tech pay $4K/mo; 7.6% of $312K/mo RO gross; top quarter 125% (3 techs); 3.24 ROs/tech day; 2.35 hrs/RO</a:t>
            </a:r>
          </a:p>
          <a:p>
            <a:r>
              <a:t>LR HENDERSON: 106.0%; 3 of 7 under 85%; gap 567 hrs; labor $9K/mo + parts $5K/mo; tech pay $2K/mo; 4.2% of $357K/mo RO gross; top quarter 145% (2 techs); 2.94 ROs/tech day; 3.68 hrs/RO</a:t>
            </a:r>
          </a:p>
          <a:p>
            <a:r>
              <a:t>LR LV: 91.2%; 8 of 16 under 85%; gap 2,154 hrs; labor $42K/mo + parts $21K/mo; tech pay $9K/mo; 9.0% of $702K/mo RO gross; top quarter 131% (4 techs); 2.41 ROs/tech day; 3.54 hrs/RO</a:t>
            </a:r>
          </a:p>
          <a:p>
            <a:r>
              <a:t>LR RENO: 81.4%; 2 of 6 under 85%; gap 724 hrs; labor $14K/mo + parts $7K/mo; tech pay $3K/mo; 8.0% of $257K/mo RO gross; top quarter 96% (2 techs); 2.36 ROs/tech day; 3.20 hrs/RO</a:t>
            </a:r>
          </a:p>
          <a:p>
            <a:r>
              <a:t>MAZDA: 101.6%; 4 of 11 under 85%; gap 415 hrs; labor $6K/mo + parts $3K/mo; tech pay $1K/mo; 2.7% of $322K/mo RO gross; top quarter 123% (3 techs); 5.78 ROs/tech day; 1.54 hrs/RO</a:t>
            </a:r>
          </a:p>
          <a:p>
            <a:r>
              <a:t>NISSAN: 91.1%; 8 of 17 under 85%; gap 2,291 hrs; labor $30K/mo + parts $13K/mo; tech pay $9K/mo; 8.0% of $532K/mo RO gross; top quarter 132% (4 techs); 4.08 ROs/tech day; 2.29 hrs/RO</a:t>
            </a:r>
          </a:p>
          <a:p>
            <a:r>
              <a:t>SUBARU LV: 96.9%; 11 of 27 under 85%; gap 2,050 hrs; labor $29K/mo + parts $15K/mo; tech pay $5K/mo; 4.1% of $1.07M/mo RO gross; top quarter 132% (7 techs); 4.64 ROs/tech day; 2.07 hrs/RO</a:t>
            </a:r>
          </a:p>
          <a:p>
            <a:r>
              <a:t>SUBARU PRESCOTT: 98.4%; 6 of 12 under 85%; gap 3,523 hrs; labor $37K/mo + parts $21K/mo; tech pay $13K/mo; 20.0% of $288K/mo RO gross; top quarter 179% (3 techs); 4.73 ROs/tech day; 1.68 hrs/RO</a:t>
            </a:r>
          </a:p>
          <a:p>
            <a:r>
              <a:t>SUBARU ST GEORGE: 109.7%; 3 of 12 under 85%; gap 1,248 hrs; labor $14K/mo + parts $8K/mo; tech pay $5K/mo; 5.8% of $382K/mo RO gross; top quarter 146% (3 techs); 4.11 ROs/tech day; 2.20 hrs/RO</a:t>
            </a:r>
          </a:p>
          <a:p>
            <a:r>
              <a:t>TOYOTA FLAGSTAFF: 102.4%; 6 of 18 under 85%; gap 662 hrs; labor $8K/mo + parts $3K/mo; tech pay $2K/mo; 1.9% of $542K/mo RO gross; top quarter 151% (4 techs); 4.96 ROs/tech day; 1.84 hrs/RO</a:t>
            </a:r>
          </a:p>
          <a:p>
            <a:r>
              <a:t>TOYOTA HENDERSON: 104.3%; 20 of 59 under 85%; gap 4,057 hrs; labor $51K/mo + parts $19K/mo; tech pay $14K/mo; 2.9% of $2.44M/mo RO gross; top quarter 153% (15 techs); 6.41 ROs/tech day; 1.88 hrs/RO</a:t>
            </a:r>
          </a:p>
          <a:p>
            <a:r>
              <a:t>TOYOTA PRESCOTT: 83.6%; 11 of 22 under 85%; gap 4,174 hrs; labor $57K/mo + parts $20K/mo; tech pay $16K/mo; 13.5% of $573K/mo RO gross; top quarter 118% (6 techs); 4.22 ROs/tech day; 1.72 hrs/RO</a:t>
            </a:r>
          </a:p>
          <a:p>
            <a:r>
              <a:t>TOYOTA SPOKANE: 108.0%; 4 of 28 under 85%; gap 745 hrs; labor $8K/mo + parts $4K/mo; tech pay $3K/mo; 1.9% of $609K/mo RO gross; top quarter 134% (7 techs); 5.36 ROs/tech day; 1.81 hrs/RO</a:t>
            </a:r>
          </a:p>
          <a:p>
            <a:r>
              <a:t>VOLVO: 72.3%; 8 of 9 under 85%; gap 1,963 hrs; labor $40K/mo + parts $22K/mo; tech pay $5K/mo; 14.8% of $417K/mo RO gross; top quarter 89% (2 techs); 3.81 ROs/tech day; 1.92 hrs/RO</a:t>
            </a:r>
          </a:p>
          <a:p>
            <a:r>
              <a:t>VW HENDERSON: 92.2%; 6 of 19 under 85%; gap 1,416 hrs; labor $19K/mo + parts $5K/mo; tech pay $4K/mo; 4.8% of $516K/mo RO gross; top quarter 115% (5 techs); 3.77 ROs/tech day; 2.28 hrs/RO</a:t>
            </a:r>
          </a:p>
          <a:p>
            <a:r>
              <a:t>VW ST GEORGE: 70.0%; 5 of 5 under 85%; gap 1,149 hrs; labor $13K/mo + parts $7K/mo; tech pay $3K/mo; 19.0% of $109K/mo RO gross; top quarter 76% (1 techs); 3.81 ROs/tech day; 1.65 hrs/RO</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Before → after, by measure:</a:t>
            </a:r>
          </a:p>
          <a:p>
            <a:r>
              <a:t>CP Gross: top LINCOLN $865K → $1.26M; SUBARU PRESCOTT $832K → $1.21M; SUBARU ST GEORGE $1.48M → $1.98M. Bottom CHEVY LV $7.40M → $7.08M; AUDI RENO $3.38M → $2.90M; VW ST GEORGE $702K → $560K.</a:t>
            </a:r>
          </a:p>
          <a:p>
            <a:r>
              <a:t>CP RO Count: top KIA LV 7,156 → 8,133; HYUNDAI PRESCOTT 1,784 → 2,010; GMC PRESCOTT 2,810 → 3,107. Bottom AUDI RENO 4,379 → 3,917; HYUNDAI ST GEORGE 3,784 → 3,349; VW ST GEORGE 2,251 → 1,919.</a:t>
            </a:r>
          </a:p>
          <a:p>
            <a:r>
              <a:t>CP Hours per RO: top HYUNDAI ST GEORGE 1.03 → 1.43; SUBARU ST GEORGE 1.75 → 2.30; KIA ST GEORGE 0.99 → 1.29. Bottom VOLVO 2.58 → 2.28; VW ST GEORGE 1.95 → 1.71; LR RENO 4.04 → 3.48.</a:t>
            </a:r>
          </a:p>
          <a:p>
            <a:r>
              <a:t>CP ELR: top HONDA SPOKANE $117.05 → $143.89; VOLVO $181.59 → $222.12; LINCOLN $139.55 → $167.64. Bottom ACURA $221.78 → $210.50; SUBARU ST GEORGE $148.84 → $138.48; KIA LV $184.36 → $149.23.</a:t>
            </a:r>
          </a:p>
          <a:p>
            <a:r>
              <a:t>CP Parts GP %: top ACURA 38.7% → 44.9%; NISSAN 38.2% → 42.7%; SUBARU PRESCOTT 31.0% → 34.8%. Bottom HYUNDAI PRESCOTT 39.9% → 39.4%; TOYOTA SPOKANE 45.3% → 44.5%; AUDI HENDERSON 35.8% → 33.6%.Takeaway with the store call-outs (off the slide): Most top-three finishes: Lincoln, Subaru Prescott and Subaru St George (2 of 5). Most bottom-three: VW St George (3 of 5).Source: Qlik - Closed Repair Orders. Customer pay, by close date. Same-store, 33 stores (INEOS excluded, opened 2026). GMC Prescott body shop labor types excluded. CP gross = CP labor gross + CP parts gross. Change is Jan-Sep 2026 vs Jan-Sep 2025. Ranked by percent change (points for parts GP %), so store size does not drive the ranking.</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Before → after, by measure:</a:t>
            </a:r>
          </a:p>
          <a:p>
            <a:r>
              <a:t>CP Gross per Month: top MAZDA $155K → $209K; KIA ST GEORGE $85K → $112K; CDJR POST FALLS $218K → $279K. Bottom SUBARU ST GEORGE $220K → $218K; HONDA HENDERSON $841K → $823K; CADILLAC $317K → $283K.</a:t>
            </a:r>
          </a:p>
          <a:p>
            <a:r>
              <a:t>CP ROs per Month: top LEXUS 425 → 570; CDJR POST FALLS 543 → 667; LR LV 350 → 415. Bottom VW ST GEORGE 207 → 203; HYUNDAI ST GEORGE 377 → 365; CADILLAC 609 → 582.</a:t>
            </a:r>
          </a:p>
          <a:p>
            <a:r>
              <a:t>CP Hours per RO: top MAZDA 1.35 → 1.65; HYUNDAI PRESCOTT 1.56 → 1.76; HYUNDAI ST GEORGE 1.37 → 1.54. Bottom HONDA HENDERSON 2.06 → 1.86; VW HENDERSON 2.66 → 2.37; CADILLAC 2.85 → 2.45.</a:t>
            </a:r>
          </a:p>
          <a:p>
            <a:r>
              <a:t>CP ELR: top VW ST GEORGE $128.27 → $141.89; AUDI RENO $227.34 → $244.12; HONDA SPOKANE $139.40 → $147.93. Bottom SUBARU ST GEORGE $141.07 → $136.71; LEXUS $196.84 → $187.42; ACURA $232.02 → $199.04.</a:t>
            </a:r>
          </a:p>
          <a:p>
            <a:r>
              <a:t>CP Parts GP %: top ACURA 39.4% → 46.6%; VW ST GEORGE 39.1% → 43.8%; GMC PRESCOTT 35.3% → 39.2%. Bottom CHEVY LV 38.2% → 35.0%; LINCOLN 39.9% → 36.0%; HONDA HENDERSON 44.3% → 40.0%.Takeaway with the store call-outs (off the slide): Most top-three finishes: Mazda, CDJR Post Falls and VW St George (2 of 5). Most bottom-three: Honda Henderson and Cadillac (3 of 5).Source: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by close date. Same-store, 33 stores (INEOS excluded, opened 2026). GMC Prescott body shop labor types excluded. CP gross = CP labor gross + CP parts gross. Change is Jul-Sep 2026 (Q3) vs Jan-Mar 2026 (Q1), each store against itself. Gross and ROs are per-month averages of each quarter. The group's own Q1-to-Q3 change is the seasonal baseline: it is the same for every store, so ranking by a store's change is the same as ranking by how far it beat the group. 'Stepped up in' = the month that best splits the store's year into a lower stretch before and a higher stretch after (at least three months before, two after). It is a conversation starter, not proof of cause. Each row is the top Q1-to-Q3 mover on that measure. Opcode row: MAZDA tops 3 of the four opcode lists; its biggest move is shown. Opcode closing % = ROs with the service ÷ customer-pay ROs on the op-code report basis.</a:t>
            </a:r>
          </a:p>
          <a:p/>
          <a:p>
            <a:r>
              <a:t>MAZDA's August opcode increase was confirmed with the store as a real change (Noah, Oct 19 2026).</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$911K a year. Store proficiency 67%. Each tech under 85% raised to 85% of their own clocked hours, valued at the store's labor + parts gross per flagged hour: $76K a month x 12.</a:t>
            </a:r>
          </a:p>
          <a:p/>
          <a:p>
            <a:r>
              <a:t>2. Service gross - $584K a year. Service gross $1,887,657 vs $2,325,579 Jan–Sep 2025, x 12/9. Overlaps the CP lines.</a:t>
            </a:r>
          </a:p>
          <a:p/>
          <a:p>
            <a:r>
              <a:t>3. CP hours per RO - $292K a year. 1.42 vs the non-luxury 1.75: gap x 3,671 CP ROs x $183 an hour x 12/9.</a:t>
            </a:r>
          </a:p>
          <a:p/>
          <a:p>
            <a:r>
              <a:t>4. CP RO count - $109K a year. 239 fewer CP ROs than Jan–Sep 2025 x $342 a RO x 12/9.</a:t>
            </a:r>
          </a:p>
          <a:p/>
          <a:p>
            <a:r>
              <a:t>5. Parts gross - $105K a year. Parts gross $1,005,492 vs $1,084,358 Jan–Sep 2025, x 12/9. Overlaps CP parts GP.</a:t>
            </a:r>
          </a:p>
          <a:p/>
          <a:p>
            <a:r>
              <a:t>6. MPI completion - not priced. 83.4% of 1,611 CP &amp; W ROs Jul–Sep vs 90%: 425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$1.22M a year. Store proficiency 91%. Each tech under 85% raised to 85% of their own clocked hours, valued at the store's labor + parts gross per flagged hour: $102K a month x 12.</a:t>
            </a:r>
          </a:p>
          <a:p/>
          <a:p>
            <a:r>
              <a:t>2. CP parts GP % - $284K a year. 33.6% vs the luxury 41.3% x $2.78M CP parts sale x 12/9.</a:t>
            </a:r>
          </a:p>
          <a:p/>
          <a:p>
            <a:r>
              <a:t>3. Brake fluid - $74K a year. Brake fluid 2.4% vs 10%: 380 more a year (Jan–Sep x 12/9) x $196 gross a service.</a:t>
            </a:r>
          </a:p>
          <a:p/>
          <a:p>
            <a:r>
              <a:t>4. MPI completion - not priced. 79.0% of 2,891 CP &amp; W ROs Jul–Sep vs 90%: 1,272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Parts gross - $437K a year. Parts gross $1,419,540 vs $1,747,458 Jan–Sep 2025, x 12/9. Overlaps CP parts GP.</a:t>
            </a:r>
          </a:p>
          <a:p/>
          <a:p>
            <a:r>
              <a:t>2. Service gross - $256K a year. Service gross $3,040,297 vs $3,232,223 Jan–Sep 2025, x 12/9. Overlaps the CP lines.</a:t>
            </a:r>
          </a:p>
          <a:p/>
          <a:p>
            <a:r>
              <a:t>3. Techs under 85% - $241K a year. Store proficiency 117%. Each tech under 85% raised to 85% of their own clocked hours, valued at the store's labor + parts gross per flagged hour: $20K a month x 12.</a:t>
            </a:r>
          </a:p>
          <a:p/>
          <a:p>
            <a:r>
              <a:t>4. CP RO count - $211K a year. 462 fewer CP ROs than Jan–Sep 2025 x $342 a RO x 12/9.</a:t>
            </a:r>
          </a:p>
          <a:p/>
          <a:p>
            <a:r>
              <a:t>5. CP hours per RO - $165K a year. 2.73 vs the luxury 2.90: gap x 3,917 CP ROs x $183 an hour x 12/9.</a:t>
            </a:r>
          </a:p>
          <a:p/>
          <a:p>
            <a:r>
              <a:t>6. Brake fluid - $78K a year. Brake fluid 1.9% vs 10%: 378 more a year (Jan–Sep x 12/9) x $206 gross a service.</a:t>
            </a:r>
          </a:p>
          <a:p/>
          <a:p>
            <a:r>
              <a:t>7. Alignment - $34K a year. Alignment 11.8% vs 15%: 149 more a year (Jan–Sep x 12/9) x $230 gross a service.</a:t>
            </a:r>
          </a:p>
          <a:p/>
          <a:p>
            <a:r>
              <a:t>8. Fixed gross/head - not priced. $14,916 a month (Jan–Sep gross ÷ 299 head-months, ADP) vs the luxury $16,998: 4.1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$1.89M a year. Store proficiency 87%. Each tech under 85% raised to 85% of their own clocked hours, valued at the store's labor + parts gross per flagged hour: $158K a month x 12.</a:t>
            </a:r>
          </a:p>
          <a:p/>
          <a:p>
            <a:r>
              <a:t>2. CP labor $ per RO - $939K a year. $464 vs the luxury $632: gap x 5,344 CP ROs x the store's 78.7% labor GP x 12/9. Overlaps hours per RO and ELR.</a:t>
            </a:r>
          </a:p>
          <a:p/>
          <a:p>
            <a:r>
              <a:t>3. CP ELR - $411K a year. Jul–Sep CP ELR $175 vs 70% of the $285 door rate = $200; gap x 4,275 CP hours x 4.</a:t>
            </a:r>
          </a:p>
          <a:p/>
          <a:p>
            <a:r>
              <a:t>4. CP hours per RO - $222K a year. 2.73 vs the luxury 2.90: gap x 5,344 CP ROs x $183 an hour x 12/9.</a:t>
            </a:r>
          </a:p>
          <a:p/>
          <a:p>
            <a:r>
              <a:t>5. Brake fluid - $57K a year. Brake fluid 4.6% vs 10%: 379 more a year (Jan–Sep x 12/9) x $150 gross a service.</a:t>
            </a:r>
          </a:p>
          <a:p/>
          <a:p>
            <a:r>
              <a:t>6. Fuel service - $46K a year. Fuel service 5.1% vs 7.5%: 170 more a year (Jan–Sep x 12/9) x $269 gross a service.</a:t>
            </a:r>
          </a:p>
          <a:p/>
          <a:p>
            <a:r>
              <a:t>7. Service gross - $32K a year. Service gross $6,489,716 vs $6,513,640 Jan–Sep 2025, x 12/9. Overlaps the CP lines.</a:t>
            </a:r>
          </a:p>
          <a:p/>
          <a:p>
            <a:r>
              <a:t>8. Tire balance - $14K a year. Tire balance 5.9% vs 15%: 643 more a year (Jan–Sep x 12/9) x $22 gross a service.</a:t>
            </a:r>
          </a:p>
          <a:p/>
          <a:p>
            <a:r>
              <a:t>9. MPI completion - not priced. 40.5% of 3,311 CP &amp; W ROs Jul–Sep vs 90%: 6,556 more a year (x 4). Not priced.</a:t>
            </a:r>
          </a:p>
          <a:p/>
          <a:p>
            <a:r>
              <a:t>10. Video completion - not priced. 42.7% vs the group's 57.8% on 3,311 CP &amp; W ROs Jul–Sep: 2,005 more a year (x 4). Not priced.</a:t>
            </a:r>
          </a:p>
          <a:p/>
          <a:p>
            <a:r>
              <a:t>11. Fixed gross/head - not priced. $14,260 a month (Jan–Sep gross ÷ 673 head-months, ADP) vs the luxury $16,998: 12.0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$1.20M a year. Store proficiency 71%. Each tech under 85% raised to 85% of their own clocked hours, valued at the store's labor + parts gross per flagged hour: $100K a month x 12.</a:t>
            </a:r>
          </a:p>
          <a:p/>
          <a:p>
            <a:r>
              <a:t>2. Parts gross - $195K a year. Parts gross $1,257,877 vs $1,403,787 Jan–Sep 2025, x 12/9. Overlaps CP parts GP.</a:t>
            </a:r>
          </a:p>
          <a:p/>
          <a:p>
            <a:r>
              <a:t>3. CP RO count - $126K a year. 277 fewer CP ROs than Jan–Sep 2025 x $342 a RO x 12/9.</a:t>
            </a:r>
          </a:p>
          <a:p/>
          <a:p>
            <a:r>
              <a:t>4. CP parts GP % - $114K a year. 35.6% vs the non-luxury 40.5% x $1.78M CP parts sale x 12/9.</a:t>
            </a:r>
          </a:p>
          <a:p/>
          <a:p>
            <a:r>
              <a:t>5. Service gross - $77K a year. Service gross $2,295,272 vs $2,353,006 Jan–Sep 2025, x 12/9. Overlaps the CP lines.</a:t>
            </a:r>
          </a:p>
          <a:p/>
          <a:p>
            <a:r>
              <a:t>6. Tire balance - $73K a year. Tire balance 1.2% vs 15%: 981 more a year (Jan–Sep x 12/9) x $75 gross a service.</a:t>
            </a:r>
          </a:p>
          <a:p/>
          <a:p>
            <a:r>
              <a:t>7. Fuel service - $62K a year. Fuel service 3.0% vs 7.5%: 321 more a year (Jan–Sep x 12/9) x $192 gross a service.</a:t>
            </a:r>
          </a:p>
          <a:p/>
          <a:p>
            <a:r>
              <a:t>8. Alignment - $57K a year. Alignment 4.2% vs 15%: 770 more a year (Jan–Sep x 12/9) x $74 gross a service.</a:t>
            </a:r>
          </a:p>
          <a:p/>
          <a:p>
            <a:r>
              <a:t>9. Brake fluid - $53K a year. Brake fluid 4.2% vs 10%: 412 more a year (Jan–Sep x 12/9) x $128 gross a service.</a:t>
            </a:r>
          </a:p>
          <a:p/>
          <a:p>
            <a:r>
              <a:t>10. Video completion - not priced. 16.0% vs the group's 57.8% on 3,168 CP &amp; W ROs Jul–Sep: 5,302 more a year (x 4). Not priced.</a:t>
            </a:r>
          </a:p>
          <a:p/>
          <a:p>
            <a:r>
              <a:t>11. Fixed gross/head - not priced. $9,953 a month (Jan–Sep gross ÷ 357 head-months, ADP) vs the non-luxury $12,714: 8.6 heads over. Counted, not priced: no store personnel cost in the data.</a:t>
            </a:r>
          </a:p>
          <a:p/>
          <a:p>
            <a:r>
              <a:t>12. MPI completion - not priced. 81.7% of 3,168 CP &amp; W ROs Jul–Sep vs 90%: 1,052 more a year (x 4). Not priced.</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$1.35M a year. Store proficiency 68%. Each tech under 85% raised to 85% of their own clocked hours, valued at the store's labor + parts gross per flagged hour: $112K a month x 12.</a:t>
            </a:r>
          </a:p>
          <a:p/>
          <a:p>
            <a:r>
              <a:t>2. CP parts GP % - $77K a year. 37.2% vs the non-luxury 40.5% x $1.74M CP parts sale x 12/9.</a:t>
            </a:r>
          </a:p>
          <a:p/>
          <a:p>
            <a:r>
              <a:t>3. Fuel service - $65K a year. Fuel service 2.7% vs 7.5%: 400 more a year (Jan–Sep x 12/9) x $163 gross a service.</a:t>
            </a:r>
          </a:p>
          <a:p/>
          <a:p>
            <a:r>
              <a:t>4. Alignment - $25K a year. Alignment 11.1% vs 15%: 324 more a year (Jan–Sep x 12/9) x $78 gross a service.</a:t>
            </a:r>
          </a:p>
          <a:p/>
          <a:p>
            <a:r>
              <a:t>5. Brake fluid - $21K a year. Brake fluid 7.0% vs 10%: 245 more a year (Jan–Sep x 12/9) x $87 gross a service.</a:t>
            </a:r>
          </a:p>
          <a:p/>
          <a:p>
            <a:r>
              <a:t>6. Tire balance - $21K a year. Tire balance 9.0% vs 15%: 496 more a year (Jan–Sep x 12/9) x $42 gross a service.</a:t>
            </a:r>
          </a:p>
          <a:p/>
          <a:p>
            <a:r>
              <a:t>7. CP labor GP % - $17K a year. 77.3% vs 78% (bottom of the 78-80% range) x $1.73M CP labor sale x 12/9.</a:t>
            </a:r>
          </a:p>
          <a:p/>
          <a:p>
            <a:r>
              <a:t>8. Video completion - not priced. 21.8% vs the group's 57.8% on 2,779 CP &amp; W ROs Jul–Sep: 4,006 more a year (x 4). Not priced.</a:t>
            </a:r>
          </a:p>
          <a:p/>
          <a:p>
            <a:r>
              <a:t>9. Fixed gross/head - not priced. $10,391 a month (Jan–Sep gross ÷ 436 head-months, ADP) vs the non-luxury $12,714: 8.9 heads over. Counted, not priced: no store personnel cost in the data.</a:t>
            </a:r>
          </a:p>
          <a:p/>
          <a:p>
            <a:r>
              <a:t>10. MPI completion - not priced. 87.6% of 2,779 CP &amp; W ROs Jul–Sep vs 90%: 267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$1.05M a year. Store proficiency 103%. Each tech under 85% raised to 85% of their own clocked hours, valued at the store's labor + parts gross per flagged hour: $87K a month x 12.</a:t>
            </a:r>
          </a:p>
          <a:p/>
          <a:p>
            <a:r>
              <a:t>2. CP ELR - $671K a year. Jul–Sep CP ELR $146 vs 70% of the $225 door rate = $157; gap x 15,019 CP hours x 4.</a:t>
            </a:r>
          </a:p>
          <a:p/>
          <a:p>
            <a:r>
              <a:t>3. Service gross - $526K a year. Service gross $10,497,259 vs $10,892,101 Jan–Sep 2025, x 12/9. Overlaps the CP lines.</a:t>
            </a:r>
          </a:p>
          <a:p/>
          <a:p>
            <a:r>
              <a:t>4. CP RO count - $434K a year. 952 fewer CP ROs than Jan–Sep 2025 x $342 a RO x 12/9.</a:t>
            </a:r>
          </a:p>
          <a:p/>
          <a:p>
            <a:r>
              <a:t>5. CP parts GP % - $314K a year. 36.2% vs the non-luxury 40.5% x $5.47M CP parts sale x 12/9.</a:t>
            </a:r>
          </a:p>
          <a:p/>
          <a:p>
            <a:r>
              <a:t>6. Brake fluid - $151K a year. Brake fluid 5.7% vs 10%: 1,093 more a year (Jan–Sep x 12/9) x $138 gross a service.</a:t>
            </a:r>
          </a:p>
          <a:p/>
          <a:p>
            <a:r>
              <a:t>7. Fuel service - $142K a year. Fuel service 5.2% vs 7.5%: 585 more a year (Jan–Sep x 12/9) x $243 gross a service.</a:t>
            </a:r>
          </a:p>
          <a:p/>
          <a:p>
            <a:r>
              <a:t>8. Tire balance - $106K a year. Tire balance 7.3% vs 15%: 2,001 more a year (Jan–Sep x 12/9) x $53 gross a service.</a:t>
            </a:r>
          </a:p>
          <a:p/>
          <a:p>
            <a:r>
              <a:t>9. Alignment - $75K a year. Alignment 12.8% vs 15%: 556 more a year (Jan–Sep x 12/9) x $136 gross a service.</a:t>
            </a:r>
          </a:p>
          <a:p/>
          <a:p>
            <a:r>
              <a:t>10. Parts gross - $56K a year. Parts gross $6,047,818 vs $6,089,964 Jan–Sep 2025, x 12/9. Overlaps CP parts GP.</a:t>
            </a:r>
          </a:p>
          <a:p/>
          <a:p>
            <a:r>
              <a:t>11. Video completion - not priced. 40.2% vs the group's 57.8% on 9,387 CP &amp; W ROs Jul–Sep: 6,624 more a year (x 4). Not priced.</a:t>
            </a:r>
          </a:p>
          <a:p/>
          <a:p>
            <a:r>
              <a:t>12. MPI completion - not priced. 84.5% of 9,387 CP &amp; W ROs Jul–Sep vs 90%: 2,065 more a year (x 4). Not priced.</a:t>
            </a:r>
          </a:p>
          <a:p/>
          <a:p>
            <a:r>
              <a:t>13. Fixed gross/head - not priced. $12,042 a month (Jan–Sep gross ÷ 1,374 head-months, ADP) vs the non-luxury $12,714: 8.1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$574K a year. Store proficiency 73%. Each tech under 85% raised to 85% of their own clocked hours, valued at the store's labor + parts gross per flagged hour: $48K a month x 12.</a:t>
            </a:r>
          </a:p>
          <a:p/>
          <a:p>
            <a:r>
              <a:t>2. CP labor GP % - $67K a year. 72.2% vs 78% (bottom of the 78-80% range) x $870K CP labor sale x 12/9.</a:t>
            </a:r>
          </a:p>
          <a:p/>
          <a:p>
            <a:r>
              <a:t>3. CP ELR - $63K a year. Jul–Sep CP ELR $147 vs 70% of the $220 door rate = $154; gap x 2,219 CP hours x 4.</a:t>
            </a:r>
          </a:p>
          <a:p/>
          <a:p>
            <a:r>
              <a:t>4. CP parts GP % - $42K a year. 37.0% vs the non-luxury 40.5% x $902K CP parts sale x 12/9.</a:t>
            </a:r>
          </a:p>
          <a:p/>
          <a:p>
            <a:r>
              <a:t>5. Tire balance - $27K a year. Tire balance 7.7% vs 15%: 300 more a year (Jan–Sep x 12/9) x $90 gross a service.</a:t>
            </a:r>
          </a:p>
          <a:p/>
          <a:p>
            <a:r>
              <a:t>6. Fuel service - $21K a year. Fuel service 3.6% vs 7.5%: 160 more a year (Jan–Sep x 12/9) x $133 gross a service.</a:t>
            </a:r>
          </a:p>
          <a:p/>
          <a:p>
            <a:r>
              <a:t>7. Brake fluid - $21K a year. Brake fluid 6.0% vs 10%: 162 more a year (Jan–Sep x 12/9) x $127 gross a service.</a:t>
            </a:r>
          </a:p>
          <a:p/>
          <a:p>
            <a:r>
              <a:t>8. Alignment - $11K a year. Alignment 11.7% vs 15%: 135 more a year (Jan–Sep x 12/9) x $85 gross a service.</a:t>
            </a:r>
          </a:p>
          <a:p/>
          <a:p>
            <a:r>
              <a:t>9. Video completion - not priced. 35.1% vs the group's 57.8% on 1,656 CP &amp; W ROs Jul–Sep: 1,506 more a year (x 4). Not priced.</a:t>
            </a:r>
          </a:p>
          <a:p/>
          <a:p>
            <a:r>
              <a:t>10. Fixed gross/head - not priced. $9,498 a month (Jan–Sep gross ÷ 239 head-months, ADP) vs the non-luxury $12,714: 6.7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$473K a year. Store proficiency 78%. Each tech under 85% raised to 85% of their own clocked hours, valued at the store's labor + parts gross per flagged hour: $39K a month x 12.</a:t>
            </a:r>
          </a:p>
          <a:p/>
          <a:p>
            <a:r>
              <a:t>2. CP hours per RO - $79K a year. 1.67 vs the non-luxury 1.75: gap x 4,030 CP ROs x $183 an hour x 12/9.</a:t>
            </a:r>
          </a:p>
          <a:p/>
          <a:p>
            <a:r>
              <a:t>3. Brake fluid - $67K a year. Brake fluid 3.1% vs 10%: 367 more a year (Jan–Sep x 12/9) x $184 gross a service.</a:t>
            </a:r>
          </a:p>
          <a:p/>
          <a:p>
            <a:r>
              <a:t>4. Fuel service - $60K a year. Fuel service 0.7% vs 7.5%: 364 more a year (Jan–Sep x 12/9) x $165 gross a service.</a:t>
            </a:r>
          </a:p>
          <a:p/>
          <a:p>
            <a:r>
              <a:t>5. Tire balance - $52K a year. Tire balance 1.3% vs 15%: 735 more a year (Jan–Sep x 12/9) x $70 gross a service.</a:t>
            </a:r>
          </a:p>
          <a:p/>
          <a:p>
            <a:r>
              <a:t>6. Service gross - $37K a year. Service gross $1,044,098 vs $1,071,808 Jan–Sep 2025, x 12/9. Overlaps the CP lines.</a:t>
            </a:r>
          </a:p>
          <a:p/>
          <a:p>
            <a:r>
              <a:t>7. Alignment - $21K a year. Alignment 11.0% vs 15%: 210 more a year (Jan–Sep x 12/9) x $100 gross a service.</a:t>
            </a:r>
          </a:p>
          <a:p/>
          <a:p>
            <a:r>
              <a:t>8. CP RO count - $14K a year. 30 fewer CP ROs than Jan–Sep 2025 x $342 a RO x 12/9.</a:t>
            </a:r>
          </a:p>
          <a:p/>
          <a:p>
            <a:r>
              <a:t>9. Fixed gross/head - not priced. $9,149 a month (Jan–Sep gross ÷ 174 head-months, ADP) vs the non-luxury $12,714: 5.4 heads over. Counted, not priced: no store personnel cost in the data.</a:t>
            </a:r>
          </a:p>
          <a:p/>
          <a:p>
            <a:r>
              <a:t>10. MPI completion - not priced. 86.3% of 1,655 CP &amp; W ROs Jul–Sep vs 90%: 245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$155K a year. Store proficiency 118%. Each tech under 85% raised to 85% of their own clocked hours, valued at the store's labor + parts gross per flagged hour: $13K a month x 12.</a:t>
            </a:r>
          </a:p>
          <a:p/>
          <a:p>
            <a:r>
              <a:t>2. CP RO count - $87K a year. 190 fewer CP ROs than Jan–Sep 2025 x $342 a RO x 12/9.</a:t>
            </a:r>
          </a:p>
          <a:p/>
          <a:p>
            <a:r>
              <a:t>3. MPI completion - not priced. 82.5% of 9,816 CP &amp; W ROs Jul–Sep vs 90%: 2,945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Service gross - $926K a year. Service gross $5,919,248 vs $6,613,864 Jan–Sep 2025, x 12/9. Overlaps the CP lines.</a:t>
            </a:r>
          </a:p>
          <a:p/>
          <a:p>
            <a:r>
              <a:t>2. Parts gross - $194K a year. Parts gross $2,697,134 vs $2,842,409 Jan–Sep 2025, x 12/9. Overlaps CP parts GP.</a:t>
            </a:r>
          </a:p>
          <a:p/>
          <a:p>
            <a:r>
              <a:t>3. Techs under 85% - $155K a year. Store proficiency 109%. Each tech under 85% raised to 85% of their own clocked hours, valued at the store's labor + parts gross per flagged hour: $13K a month x 12.</a:t>
            </a:r>
          </a:p>
          <a:p/>
          <a:p>
            <a:r>
              <a:t>4. Tire balance - $38K a year. Tire balance 12.0% vs 15%: 600 more a year (Jan–Sep x 12/9) x $64 gross a service.</a:t>
            </a:r>
          </a:p>
          <a:p/>
          <a:p>
            <a:r>
              <a:t>5. MPI completion - not priced. 81.4% of 7,325 CP &amp; W ROs Jul–Sep vs 90%: 2,520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CP RO count - $456K a year. 999 fewer CP ROs than Jan–Sep 2025 x $342 a RO x 12/9.</a:t>
            </a:r>
          </a:p>
          <a:p/>
          <a:p>
            <a:r>
              <a:t>2. Tire balance - $80K a year. Tire balance 2.1% vs 15%: 1,526 more a year (Jan–Sep x 12/9) x $52 gross a service.</a:t>
            </a:r>
          </a:p>
          <a:p/>
          <a:p>
            <a:r>
              <a:t>3. Fuel service - $75K a year. Fuel service 3.2% vs 7.5%: 509 more a year (Jan–Sep x 12/9) x $147 gross a service.</a:t>
            </a:r>
          </a:p>
          <a:p/>
          <a:p>
            <a:r>
              <a:t>4. Alignment - $36K a year. Alignment 12.5% vs 15%: 294 more a year (Jan–Sep x 12/9) x $124 gross a service.</a:t>
            </a:r>
          </a:p>
          <a:p/>
          <a:p>
            <a:r>
              <a:t>5. Parts gross - $15K a year. Parts gross $1,394,258 vs $1,405,777 Jan–Sep 2025, x 12/9. Overlaps CP parts GP.</a:t>
            </a:r>
          </a:p>
          <a:p/>
          <a:p>
            <a:r>
              <a:t>6. Techs under 85% - $12K a year. Store proficiency 109%. Each tech under 85% raised to 85% of their own clocked hours, valued at the store's labor + parts gross per flagged hour: $1K a month x 12.</a:t>
            </a:r>
          </a:p>
          <a:p/>
          <a:p>
            <a:r>
              <a:t>7. MPI completion - not priced. 49.6% of 3,553 CP &amp; W ROs Jul–Sep vs 90%: 5,742 more a year (x 4). Not priced.</a:t>
            </a:r>
          </a:p>
          <a:p/>
          <a:p>
            <a:r>
              <a:t>8. Video completion - not priced. 49.6% vs the group's 57.8% on 3,553 CP &amp; W ROs Jul–Sep: 1,171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$412K a year. Store proficiency 78%. Each tech under 85% raised to 85% of their own clocked hours, valued at the store's labor + parts gross per flagged hour: $34K a month x 12.</a:t>
            </a:r>
          </a:p>
          <a:p/>
          <a:p>
            <a:r>
              <a:t>2. CP labor $ per RO - $92K a year. $213 vs the non-luxury $264: gap x 2,010 CP ROs x the store's 67.7% labor GP x 12/9. Overlaps hours per RO and ELR.</a:t>
            </a:r>
          </a:p>
          <a:p/>
          <a:p>
            <a:r>
              <a:t>3. CP labor GP % - $59K a year. 67.7% vs 78% (bottom of the 78-80% range) x $429K CP labor sale x 12/9.</a:t>
            </a:r>
          </a:p>
          <a:p/>
          <a:p>
            <a:r>
              <a:t>4. CP hours per RO - $54K a year. 1.64 vs the non-luxury 1.75: gap x 2,010 CP ROs x $183 an hour x 12/9.</a:t>
            </a:r>
          </a:p>
          <a:p/>
          <a:p>
            <a:r>
              <a:t>5. CP ELR - $51K a year. Jul–Sep CP ELR $136 vs 70% of the $210 door rate = $147; gap x 1,173 CP hours x 4.</a:t>
            </a:r>
          </a:p>
          <a:p/>
          <a:p>
            <a:r>
              <a:t>6. Fixed gross/head - not priced. $11,631 a month (Jan–Sep gross ÷ 132 head-months, ADP) vs the non-luxury $12,714: 1.2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$1.06M a year. Store proficiency 69%. Each tech under 85% raised to 85% of their own clocked hours, valued at the store's labor + parts gross per flagged hour: $88K a month x 12.</a:t>
            </a:r>
          </a:p>
          <a:p/>
          <a:p>
            <a:r>
              <a:t>2. Parts gross - $302K a year. Parts gross $826,662 vs $1,053,439 Jan–Sep 2025, x 12/9. Overlaps CP parts GP.</a:t>
            </a:r>
          </a:p>
          <a:p/>
          <a:p>
            <a:r>
              <a:t>3. CP hours per RO - $259K a year. 1.43 vs the non-luxury 1.75: gap x 3,349 CP ROs x $183 an hour x 12/9.</a:t>
            </a:r>
          </a:p>
          <a:p/>
          <a:p>
            <a:r>
              <a:t>4. CP RO count - $198K a year. 435 fewer CP ROs than Jan–Sep 2025 x $342 a RO x 12/9.</a:t>
            </a:r>
          </a:p>
          <a:p/>
          <a:p>
            <a:r>
              <a:t>5. CP labor $ per RO - $98K a year. $238 vs the non-luxury $264: gap x 3,349 CP ROs x the store's 82.9% labor GP x 12/9. Overlaps hours per RO and ELR.</a:t>
            </a:r>
          </a:p>
          <a:p/>
          <a:p>
            <a:r>
              <a:t>6. Tire balance - $36K a year. Tire balance 1.2% vs 15%: 615 more a year (Jan–Sep x 12/9) x $58 gross a service.</a:t>
            </a:r>
          </a:p>
          <a:p/>
          <a:p>
            <a:r>
              <a:t>7. Brake fluid - $32K a year. Brake fluid 4.7% vs 10%: 235 more a year (Jan–Sep x 12/9) x $134 gross a service.</a:t>
            </a:r>
          </a:p>
          <a:p/>
          <a:p>
            <a:r>
              <a:t>8. Fuel service - $13K a year. Fuel service 5.8% vs 7.5%: 72 more a year (Jan–Sep x 12/9) x $176 gross a service.</a:t>
            </a:r>
          </a:p>
          <a:p/>
          <a:p>
            <a:r>
              <a:t>9. CP parts GP % - $10K a year. 39.4% vs the non-luxury 40.5% x $732K CP parts sale x 12/9.</a:t>
            </a:r>
          </a:p>
          <a:p/>
          <a:p>
            <a:r>
              <a:t>10. MPI completion - not priced. 62.7% of 2,058 CP &amp; W ROs Jul–Sep vs 90%: 2,247 more a year (x 4). Not priced.</a:t>
            </a:r>
          </a:p>
          <a:p/>
          <a:p>
            <a:r>
              <a:t>11. Fixed gross/head - not priced. $11,541 a month (Jan–Sep gross ÷ 198 head-months, ADP) vs the non-luxury $12,714: 2.0 heads over. Counted, not priced: no store personnel cost in the data.</a:t>
            </a:r>
          </a:p>
          <a:p/>
          <a:p>
            <a:r>
              <a:t>12. Video completion - not priced. 53.1% vs the group's 57.8% on 2,058 CP &amp; W ROs Jul–Sep: 390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$891K a year. Store proficiency 76%. Each tech under 85% raised to 85% of their own clocked hours, valued at the store's labor + parts gross per flagged hour: $74K a month x 12.</a:t>
            </a:r>
          </a:p>
          <a:p/>
          <a:p>
            <a:r>
              <a:t>2. CP hours per RO - $351K a year. 1.57 vs the non-luxury 1.75: gap x 8,133 CP ROs x $183 an hour x 12/9.</a:t>
            </a:r>
          </a:p>
          <a:p/>
          <a:p>
            <a:r>
              <a:t>3. CP labor $ per RO - $259K a year. $234 vs the non-luxury $264: gap x 8,133 CP ROs x the store's 79.5% labor GP x 12/9. Overlaps hours per RO and ELR.</a:t>
            </a:r>
          </a:p>
          <a:p/>
          <a:p>
            <a:r>
              <a:t>4. Parts gross - $223K a year. Parts gross $2,101,307 vs $2,268,483 Jan–Sep 2025, x 12/9. Overlaps CP parts GP.</a:t>
            </a:r>
          </a:p>
          <a:p/>
          <a:p>
            <a:r>
              <a:t>5. Alignment - $77K a year. Alignment 9.7% vs 15%: 568 more a year (Jan–Sep x 12/9) x $135 gross a service.</a:t>
            </a:r>
          </a:p>
          <a:p/>
          <a:p>
            <a:r>
              <a:t>6. Fuel service - $76K a year. Fuel service 3.2% vs 7.5%: 464 more a year (Jan–Sep x 12/9) x $163 gross a service.</a:t>
            </a:r>
          </a:p>
          <a:p/>
          <a:p>
            <a:r>
              <a:t>7. Tire balance - $72K a year. Tire balance 5.2% vs 15%: 1,059 more a year (Jan–Sep x 12/9) x $68 gross a service.</a:t>
            </a:r>
          </a:p>
          <a:p/>
          <a:p>
            <a:r>
              <a:t>8. CP ELR - $55K a year. Jul–Sep CP ELR $151 vs 70% of the $220 door rate = $154; gap x 4,292 CP hours x 4.</a:t>
            </a:r>
          </a:p>
          <a:p/>
          <a:p>
            <a:r>
              <a:t>9. Brake fluid - $22K a year. Brake fluid 8.2% vs 10%: 187 more a year (Jan–Sep x 12/9) x $120 gross a service.</a:t>
            </a:r>
          </a:p>
          <a:p/>
          <a:p>
            <a:r>
              <a:t>10. Video completion - not priced. 31.5% vs the group's 57.8% on 4,474 CP &amp; W ROs Jul–Sep: 4,714 more a year (x 4). Not priced.</a:t>
            </a:r>
          </a:p>
          <a:p/>
          <a:p>
            <a:r>
              <a:t>11. MPI completion - not priced. 71.2% of 4,474 CP &amp; W ROs Jul–Sep vs 90%: 3,364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$919K a year. Store proficiency 67%. Each tech under 85% raised to 85% of their own clocked hours, valued at the store's labor + parts gross per flagged hour: $77K a month x 12.</a:t>
            </a:r>
          </a:p>
          <a:p/>
          <a:p>
            <a:r>
              <a:t>2. CP hours per RO - $435K a year. 1.29 vs the non-luxury 1.75: gap x 3,912 CP ROs x $183 an hour x 12/9.</a:t>
            </a:r>
          </a:p>
          <a:p/>
          <a:p>
            <a:r>
              <a:t>3. CP labor $ per RO - $340K a year. $182 vs the non-luxury $264: gap x 3,912 CP ROs x the store's 79.4% labor GP x 12/9. Overlaps hours per RO and ELR.</a:t>
            </a:r>
          </a:p>
          <a:p/>
          <a:p>
            <a:r>
              <a:t>4. Alignment - $38K a year. Alignment 8.0% vs 15%: 365 more a year (Jan–Sep x 12/9) x $105 gross a service.</a:t>
            </a:r>
          </a:p>
          <a:p/>
          <a:p>
            <a:r>
              <a:t>5. Brake fluid - $25K a year. Brake fluid 5.9% vs 10%: 211 more a year (Jan–Sep x 12/9) x $119 gross a service.</a:t>
            </a:r>
          </a:p>
          <a:p/>
          <a:p>
            <a:r>
              <a:t>6. Tire balance - $18K a year. Tire balance 7.7% vs 15%: 380 more a year (Jan–Sep x 12/9) x $48 gross a service.</a:t>
            </a:r>
          </a:p>
          <a:p/>
          <a:p>
            <a:r>
              <a:t>7. Video completion - not priced. 5.2% vs the group's 57.8% on 2,672 CP &amp; W ROs Jul–Sep: 5,626 more a year (x 4). Not priced.</a:t>
            </a:r>
          </a:p>
          <a:p/>
          <a:p>
            <a:r>
              <a:t>8. MPI completion - not priced. 60.9% of 2,672 CP &amp; W ROs Jul–Sep vs 90%: 3,110 more a year (x 4). Not priced.</a:t>
            </a:r>
          </a:p>
          <a:p/>
          <a:p>
            <a:r>
              <a:t>9. Fixed gross/head - not priced. $12,103 a month (Jan–Sep gross ÷ 193 head-months, ADP) vs the non-luxury $12,714: 1.0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CP labor $ per RO - $1.18M a year. $403 vs the luxury $632: gap x 4,567 CP ROs x the store's 85.0% labor GP x 12/9. Overlaps hours per RO and ELR.</a:t>
            </a:r>
          </a:p>
          <a:p/>
          <a:p>
            <a:r>
              <a:t>2. CP hours per RO - $911K a year. 2.08 vs the luxury 2.90: gap x 4,567 CP ROs x $183 an hour x 12/9.</a:t>
            </a:r>
          </a:p>
          <a:p/>
          <a:p>
            <a:r>
              <a:t>3. Techs under 85% - $379K a year. Store proficiency 104%. Each tech under 85% raised to 85% of their own clocked hours, valued at the store's labor + parts gross per flagged hour: $32K a month x 12.</a:t>
            </a:r>
          </a:p>
          <a:p/>
          <a:p>
            <a:r>
              <a:t>4. Tire balance - $68K a year. Tire balance 0.0% vs 15%: 909 more a year (Jan–Sep x 12/9) x $75 gross a service.</a:t>
            </a:r>
          </a:p>
          <a:p/>
          <a:p>
            <a:r>
              <a:t>5. Alignment - $33K a year. Alignment 11.3% vs 15%: 221 more a year (Jan–Sep x 12/9) x $147 gross a service.</a:t>
            </a:r>
          </a:p>
          <a:p/>
          <a:p>
            <a:r>
              <a:t>6. Fuel service - $25K a year. Fuel service 4.2% vs 7.5%: 195 more a year (Jan–Sep x 12/9) x $128 gross a service.</a:t>
            </a:r>
          </a:p>
          <a:p/>
          <a:p>
            <a:r>
              <a:t>7. Brake fluid - $15K a year. Brake fluid 8.3% vs 10%: 98 more a year (Jan–Sep x 12/9) x $154 gross a service.</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CP labor $ per RO - $628K a year. $416 vs the luxury $632: gap x 2,630 CP ROs x the store's 83.2% labor GP x 12/9. Overlaps hours per RO and ELR.</a:t>
            </a:r>
          </a:p>
          <a:p/>
          <a:p>
            <a:r>
              <a:t>2. Techs under 85% - $284K a year. Store proficiency 94%. Each tech under 85% raised to 85% of their own clocked hours, valued at the store's labor + parts gross per flagged hour: $24K a month x 12.</a:t>
            </a:r>
          </a:p>
          <a:p/>
          <a:p>
            <a:r>
              <a:t>3. CP hours per RO - $267K a year. 2.48 vs the luxury 2.90: gap x 2,630 CP ROs x $183 an hour x 12/9.</a:t>
            </a:r>
          </a:p>
          <a:p/>
          <a:p>
            <a:r>
              <a:t>4. CP parts GP % - $55K a year. 37.0% vs the luxury 41.3% x $954K CP parts sale x 12/9.</a:t>
            </a:r>
          </a:p>
          <a:p/>
          <a:p>
            <a:r>
              <a:t>5. CP ELR - $36K a year. Jul–Sep CP ELR $167 vs 70% of the $245 door rate = $171; gap x 2,154 CP hours x 4.</a:t>
            </a:r>
          </a:p>
          <a:p/>
          <a:p>
            <a:r>
              <a:t>6. Tire balance - $31K a year. Tire balance 1.6% vs 15%: 467 more a year (Jan–Sep x 12/9) x $66 gross a service.</a:t>
            </a:r>
          </a:p>
          <a:p/>
          <a:p>
            <a:r>
              <a:t>7. Alignment - $26K a year. Alignment 8.4% vs 15%: 230 more a year (Jan–Sep x 12/9) x $114 gross a service.</a:t>
            </a:r>
          </a:p>
          <a:p/>
          <a:p>
            <a:r>
              <a:t>8. Brake fluid - $11K a year. Brake fluid 7.5% vs 10%: 87 more a year (Jan–Sep x 12/9) x $126 gross a service.</a:t>
            </a:r>
          </a:p>
          <a:p/>
          <a:p>
            <a:r>
              <a:t>9. Fixed gross/head - not priced. $10,963 a month (Jan–Sep gross ÷ 272 head-months, ADP) vs the luxury $16,998: 10.7 heads over. Counted, not priced: no store personnel cost in the data.</a:t>
            </a:r>
          </a:p>
          <a:p/>
          <a:p>
            <a:r>
              <a:t>10. Video completion - not priced. 42.7% vs the group's 57.8% on 1,829 CP &amp; W ROs Jul–Sep: 1,108 more a year (x 4). Not priced.</a:t>
            </a:r>
          </a:p>
          <a:p/>
          <a:p>
            <a:r>
              <a:t>11. MPI completion - not priced. 68.5% of 1,829 CP &amp; W ROs Jul–Sep vs 90%: 1,573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$179K a year. Store proficiency 106%. Each tech under 85% raised to 85% of their own clocked hours, valued at the store's labor + parts gross per flagged hour: $15K a month x 12.</a:t>
            </a:r>
          </a:p>
          <a:p/>
          <a:p>
            <a:r>
              <a:t>2. Fuel service - $34K a year. Fuel service 2.5% vs 7.5%: 103 more a year (Jan–Sep x 12/9) x $329 gross a service.</a:t>
            </a:r>
          </a:p>
          <a:p/>
          <a:p>
            <a:r>
              <a:t>3. MPI completion - not priced. 73.0% of 953 CP &amp; W ROs Jul–Sep vs 90%: 648 more a year (x 4). Not priced.</a:t>
            </a:r>
          </a:p>
          <a:p/>
          <a:p>
            <a:r>
              <a:t>4. Video completion - not priced. 50.0% vs the group's 57.8% on 953 CP &amp; W ROs Jul–Sep: 299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$758K a year. Store proficiency 91%. Each tech under 85% raised to 85% of their own clocked hours, valued at the store's labor + parts gross per flagged hour: $63K a month x 12.</a:t>
            </a:r>
          </a:p>
          <a:p/>
          <a:p>
            <a:r>
              <a:t>2. Parts gross - $81K a year. Parts gross $2,524,684 vs $2,585,236 Jan–Sep 2025, x 12/9. Overlaps CP parts GP.</a:t>
            </a:r>
          </a:p>
          <a:p/>
          <a:p>
            <a:r>
              <a:t>3. Fuel service - $24K a year. Fuel service 5.5% vs 7.5%: 92 more a year (Jan–Sep x 12/9) x $258 gross a service.</a:t>
            </a:r>
          </a:p>
          <a:p/>
          <a:p>
            <a:r>
              <a:t>4. MPI completion - not priced. 71.1% of 2,073 CP &amp; W ROs Jul–Sep vs 90%: 1,567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$247K a year. Store proficiency 81%. Each tech under 85% raised to 85% of their own clocked hours, valued at the store's labor + parts gross per flagged hour: $21K a month x 12.</a:t>
            </a:r>
          </a:p>
          <a:p/>
          <a:p>
            <a:r>
              <a:t>2. Brake fluid - $20K a year. Brake fluid 7.2% vs 10%: 52 more a year (Jan–Sep x 12/9) x $377 gross a service.</a:t>
            </a:r>
          </a:p>
          <a:p/>
          <a:p>
            <a:r>
              <a:t>3. Fuel service - $18K a year. Fuel service 4.5% vs 7.5%: 55 more a year (Jan–Sep x 12/9) x $329 gross a service.</a:t>
            </a:r>
          </a:p>
          <a:p/>
          <a:p>
            <a:r>
              <a:t>4. Alignment - $10K a year. Alignment 12.8% vs 15%: 40 more a year (Jan–Sep x 12/9) x $259 gross a service.</a:t>
            </a:r>
          </a:p>
          <a:p/>
          <a:p>
            <a:r>
              <a:t>5. Fixed gross/head - not priced. $15,226 a month (Jan–Sep gross ÷ 145 head-months, ADP) vs the luxury $16,998: 1.7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CP hours per RO - $403K a year. 1.46 vs the non-luxury 1.75: gap x 5,701 CP ROs x $183 an hour x 12/9.</a:t>
            </a:r>
          </a:p>
          <a:p/>
          <a:p>
            <a:r>
              <a:t>2. CP labor $ per RO - $167K a year. $238 vs the non-luxury $264: gap x 5,701 CP ROs x the store's 84.4% labor GP x 12/9. Overlaps hours per RO and ELR.</a:t>
            </a:r>
          </a:p>
          <a:p/>
          <a:p>
            <a:r>
              <a:t>3. Techs under 85% - $103K a year. Store proficiency 101%. Each tech under 85% raised to 85% of their own clocked hours, valued at the store's labor + parts gross per flagged hour: $9K a month x 12.</a:t>
            </a:r>
          </a:p>
          <a:p/>
          <a:p>
            <a:r>
              <a:t>4. Fuel service - $26K a year. Fuel service 5.2% vs 7.5%: 174 more a year (Jan–Sep x 12/9) x $150 gross a service.</a:t>
            </a:r>
          </a:p>
          <a:p/>
          <a:p>
            <a:r>
              <a:t>5. Brake fluid - $18K a year. Brake fluid 8.4% vs 10%: 115 more a year (Jan–Sep x 12/9) x $154 gross a service.</a:t>
            </a:r>
          </a:p>
          <a:p/>
          <a:p>
            <a:r>
              <a:t>6. Tire balance - $11K a year. Tire balance 13.1% vs 15%: 138 more a year (Jan–Sep x 12/9) x $79 gross a service.</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$509K a year. Store proficiency 91%. Each tech under 85% raised to 85% of their own clocked hours, valued at the store's labor + parts gross per flagged hour: $42K a month x 12.</a:t>
            </a:r>
          </a:p>
          <a:p/>
          <a:p>
            <a:r>
              <a:t>2. CP RO count - $196K a year. 430 fewer CP ROs than Jan–Sep 2025 x $342 a RO x 12/9.</a:t>
            </a:r>
          </a:p>
          <a:p/>
          <a:p>
            <a:r>
              <a:t>3. Alignment - $83K a year. Alignment 7.4% vs 15%: 700 more a year (Jan–Sep x 12/9) x $119 gross a service.</a:t>
            </a:r>
          </a:p>
          <a:p/>
          <a:p>
            <a:r>
              <a:t>4. Tire balance - $77K a year. Tire balance 1.0% vs 15%: 1,296 more a year (Jan–Sep x 12/9) x $59 gross a service.</a:t>
            </a:r>
          </a:p>
          <a:p/>
          <a:p>
            <a:r>
              <a:t>5. Fuel service - $64K a year. Fuel service 4.1% vs 7.5%: 308 more a year (Jan–Sep x 12/9) x $206 gross a service.</a:t>
            </a:r>
          </a:p>
          <a:p/>
          <a:p>
            <a:r>
              <a:t>6. Video completion - not priced. 41.9% vs the group's 57.8% on 3,129 CP &amp; W ROs Jul–Sep: 1,995 more a year (x 4). Not priced.</a:t>
            </a:r>
          </a:p>
          <a:p/>
          <a:p>
            <a:r>
              <a:t>7. Fixed gross/head - not priced. $11,957 a month (Jan–Sep gross ÷ 400 head-months, ADP) vs the non-luxury $12,714: 2.6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$524K a year. Store proficiency 96%. Each tech under 85% raised to 85% of their own clocked hours, valued at the store's labor + parts gross per flagged hour: $44K a month x 12.</a:t>
            </a:r>
          </a:p>
          <a:p/>
          <a:p>
            <a:r>
              <a:t>2. Parts gross - $383K a year. Parts gross $3,825,122 vs $4,112,388 Jan–Sep 2025, x 12/9. Overlaps CP parts GP.</a:t>
            </a:r>
          </a:p>
          <a:p/>
          <a:p>
            <a:r>
              <a:t>3. Service gross - $282K a year. Service gross $6,255,269 vs $6,466,581 Jan–Sep 2025, x 12/9. Overlaps the CP lines.</a:t>
            </a:r>
          </a:p>
          <a:p/>
          <a:p>
            <a:r>
              <a:t>4. CP RO count - $262K a year. 574 fewer CP ROs than Jan–Sep 2025 x $342 a RO x 12/9.</a:t>
            </a:r>
          </a:p>
          <a:p/>
          <a:p>
            <a:r>
              <a:t>5. Tire balance - $68K a year. Tire balance 10.2% vs 15%: 909 more a year (Jan–Sep x 12/9) x $75 gross a service.</a:t>
            </a:r>
          </a:p>
          <a:p/>
          <a:p>
            <a:r>
              <a:t>6. CP parts GP % - $13K a year. 40.2% vs the non-luxury 40.5% x $3.09M CP parts sale x 12/9.</a:t>
            </a:r>
          </a:p>
          <a:p/>
          <a:p>
            <a:r>
              <a:t>7. Fuel service - $10K a year. Fuel service 7.0% vs 7.5%: 78 more a year (Jan–Sep x 12/9) x $130 gross a service.</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$691K a year. Store proficiency 98%. Each tech under 85% raised to 85% of their own clocked hours, valued at the store's labor + parts gross per flagged hour: $58K a month x 12.</a:t>
            </a:r>
          </a:p>
          <a:p/>
          <a:p>
            <a:r>
              <a:t>2. CP labor $ per RO - $212K a year. $222 vs the non-luxury $264: gap x 5,105 CP ROs x the store's 74.1% labor GP x 12/9. Overlaps hours per RO and ELR.</a:t>
            </a:r>
          </a:p>
          <a:p/>
          <a:p>
            <a:r>
              <a:t>3. CP hours per RO - $185K a year. 1.60 vs the non-luxury 1.75: gap x 5,105 CP ROs x $183 an hour x 12/9.</a:t>
            </a:r>
          </a:p>
          <a:p/>
          <a:p>
            <a:r>
              <a:t>4. CP parts GP % - $81K a year. 34.8% vs the non-luxury 40.5% x $1.06M CP parts sale x 12/9.</a:t>
            </a:r>
          </a:p>
          <a:p/>
          <a:p>
            <a:r>
              <a:t>5. CP ELR - $78K a year. Jul–Sep CP ELR $140 vs 70% of the $210 door rate = $147; gap x 2,722 CP hours x 4.</a:t>
            </a:r>
          </a:p>
          <a:p/>
          <a:p>
            <a:r>
              <a:t>6. CP labor GP % - $58K a year. 74.1% vs 78% (bottom of the 78-80% range) x $1.13M CP labor sale x 12/9.</a:t>
            </a:r>
          </a:p>
          <a:p/>
          <a:p>
            <a:r>
              <a:t>7. Alignment - $12K a year. Alignment 12.5% vs 15%: 165 more a year (Jan–Sep x 12/9) x $73 gross a service.</a:t>
            </a:r>
          </a:p>
          <a:p/>
          <a:p>
            <a:r>
              <a:t>8. Video completion - not priced. 54.2% vs the group's 57.8% on 2,709 CP &amp; W ROs Jul–Sep: 395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$265K a year. Store proficiency 109%. Each tech under 85% raised to 85% of their own clocked hours, valued at the store's labor + parts gross per flagged hour: $22K a month x 12.</a:t>
            </a:r>
          </a:p>
          <a:p/>
          <a:p>
            <a:r>
              <a:t>2. Tire balance - $125K a year. Tire balance 3.6% vs 15%: 837 more a year (Jan–Sep x 12/9) x $149 gross a service.</a:t>
            </a:r>
          </a:p>
          <a:p/>
          <a:p>
            <a:r>
              <a:t>3. CP labor GP % - $98K a year. 73.9% vs 78% (bottom of the 78-80% range) x $1.77M CP labor sale x 12/9.</a:t>
            </a:r>
          </a:p>
          <a:p/>
          <a:p>
            <a:r>
              <a:t>4. Alignment - $23K a year. Alignment 11.0% vs 15%: 291 more a year (Jan–Sep x 12/9) x $78 gross a service.</a:t>
            </a:r>
          </a:p>
          <a:p/>
          <a:p>
            <a:r>
              <a:t>5. MPI completion - not priced. 89.0% of 2,659 CP &amp; W ROs Jul–Sep vs 90%: 106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CP hours per RO - $1.26M a year. 1.41 vs the non-luxury 1.75: gap x 15,141 CP ROs x $183 an hour x 12/9.</a:t>
            </a:r>
          </a:p>
          <a:p/>
          <a:p>
            <a:r>
              <a:t>2. CP labor $ per RO - $1.01M a year. $201 vs the non-luxury $264: gap x 15,141 CP ROs x the store's 79.1% labor GP x 12/9. Overlaps hours per RO and ELR.</a:t>
            </a:r>
          </a:p>
          <a:p/>
          <a:p>
            <a:r>
              <a:t>3. Techs under 85% - $126K a year. Store proficiency 102%. Each tech under 85% raised to 85% of their own clocked hours, valued at the store's labor + parts gross per flagged hour: $10K a month x 12.</a:t>
            </a:r>
          </a:p>
          <a:p/>
          <a:p>
            <a:r>
              <a:t>4. Tire balance - $109K a year. Tire balance 4.9% vs 15%: 2,031 more a year (Jan–Sep x 12/9) x $54 gross a service.</a:t>
            </a:r>
          </a:p>
          <a:p/>
          <a:p>
            <a:r>
              <a:t>5. Fuel service - $109K a year. Fuel service 1.6% vs 7.5%: 1,173 more a year (Jan–Sep x 12/9) x $93 gross a service.</a:t>
            </a:r>
          </a:p>
          <a:p/>
          <a:p>
            <a:r>
              <a:t>6. CP parts GP % - $108K a year. 36.9% vs the non-luxury 40.5% x $2.25M CP parts sale x 12/9.</a:t>
            </a:r>
          </a:p>
          <a:p/>
          <a:p>
            <a:r>
              <a:t>7. Alignment - $90K a year. Alignment 9.7% vs 15%: 1,066 more a year (Jan–Sep x 12/9) x $84 gross a service.</a:t>
            </a:r>
          </a:p>
          <a:p/>
          <a:p>
            <a:r>
              <a:t>8. Brake fluid - $48K a year. Brake fluid 8.0% vs 10%: 389 more a year (Jan–Sep x 12/9) x $123 gross a service.</a:t>
            </a:r>
          </a:p>
          <a:p/>
          <a:p>
            <a:r>
              <a:t>9. Fixed gross/head - not priced. $10,794 a month (Jan–Sep gross ÷ 414 head-months, ADP) vs the non-luxury $12,714: 6.9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CP hours per RO - $3.55M a year. 1.47 vs the non-luxury 1.75: gap x 53,084 CP ROs x $183 an hour x 12/9.</a:t>
            </a:r>
          </a:p>
          <a:p/>
          <a:p>
            <a:r>
              <a:t>2. CP labor $ per RO - $2.07M a year. $227 vs the non-luxury $264: gap x 53,084 CP ROs x the store's 79.4% labor GP x 12/9. Overlaps hours per RO and ELR.</a:t>
            </a:r>
          </a:p>
          <a:p/>
          <a:p>
            <a:r>
              <a:t>3. Techs under 85% - $842K a year. Store proficiency 104%. Each tech under 85% raised to 85% of their own clocked hours, valued at the store's labor + parts gross per flagged hour: $70K a month x 12.</a:t>
            </a:r>
          </a:p>
          <a:p/>
          <a:p>
            <a:r>
              <a:t>4. Tire balance - $147K a year. Tire balance 11.2% vs 15%: 2,671 more a year (Jan–Sep x 12/9) x $55 gross a service.</a:t>
            </a:r>
          </a:p>
          <a:p/>
          <a:p>
            <a:r>
              <a:t>5. Fuel service - $129K a year. Fuel service 6.0% vs 7.5%: 1,056 more a year (Jan–Sep x 12/9) x $122 gross a service.</a:t>
            </a:r>
          </a:p>
          <a:p/>
          <a:p>
            <a:r>
              <a:t>6. Alignment - $33K a year. Alignment 14.5% vs 15%: 326 more a year (Jan–Sep x 12/9) x $102 gross a service.</a:t>
            </a:r>
          </a:p>
          <a:p/>
          <a:p>
            <a:r>
              <a:t>7. CP parts GP % - $27K a year. 40.2% vs the non-luxury 40.5% x $8.12M CP parts sale x 12/9.</a:t>
            </a:r>
          </a:p>
          <a:p/>
          <a:p>
            <a:r>
              <a:t>8. Video completion - not priced. 31.7% vs the group's 57.8% on 20,413 CP &amp; W ROs Jul–Sep: 21,344 more a year (x 4). Not priced.</a:t>
            </a:r>
          </a:p>
          <a:p/>
          <a:p>
            <a:r>
              <a:t>9. MPI completion - not priced. 76.1% of 20,413 CP &amp; W ROs Jul–Sep vs 90%: 11,350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CP hours per RO - $1.19M a year. 1.38 vs the non-luxury 1.75: gap x 13,490 CP ROs x $183 an hour x 12/9.</a:t>
            </a:r>
          </a:p>
          <a:p/>
          <a:p>
            <a:r>
              <a:t>2. Techs under 85% - $927K a year. Store proficiency 83%. Each tech under 85% raised to 85% of their own clocked hours, valued at the store's labor + parts gross per flagged hour: $77K a month x 12.</a:t>
            </a:r>
          </a:p>
          <a:p/>
          <a:p>
            <a:r>
              <a:t>3. CP labor $ per RO - $617K a year. $220 vs the non-luxury $264: gap x 13,490 CP ROs x the store's 78.5% labor GP x 12/9. Overlaps hours per RO and ELR.</a:t>
            </a:r>
          </a:p>
          <a:p/>
          <a:p>
            <a:r>
              <a:t>4. Tire balance - $132K a year. Tire balance 6.1% vs 15%: 1,590 more a year (Jan–Sep x 12/9) x $83 gross a service.</a:t>
            </a:r>
          </a:p>
          <a:p/>
          <a:p>
            <a:r>
              <a:t>5. Alignment - $49K a year. Alignment 12.3% vs 15%: 478 more a year (Jan–Sep x 12/9) x $103 gross a service.</a:t>
            </a:r>
          </a:p>
          <a:p/>
          <a:p>
            <a:r>
              <a:t>6. Parts gross - $44K a year. Parts gross $1,447,980 vs $1,481,187 Jan–Sep 2025, x 12/9. Overlaps CP parts GP.</a:t>
            </a:r>
          </a:p>
          <a:p/>
          <a:p>
            <a:r>
              <a:t>7. CP RO count - $36K a year. 80 fewer CP ROs than Jan–Sep 2025 x $342 a RO x 12/9.</a:t>
            </a:r>
          </a:p>
          <a:p/>
          <a:p>
            <a:r>
              <a:t>8. Brake fluid - $32K a year. Brake fluid 8.4% vs 10%: 287 more a year (Jan–Sep x 12/9) x $112 gross a service.</a:t>
            </a:r>
          </a:p>
          <a:p/>
          <a:p>
            <a:r>
              <a:t>9. Fuel service - $19K a year. Fuel service 6.4% vs 7.5%: 186 more a year (Jan–Sep x 12/9) x $101 gross a service.</a:t>
            </a:r>
          </a:p>
          <a:p/>
          <a:p>
            <a:r>
              <a:t>10. Fixed gross/head - not priced. $11,044 a month (Jan–Sep gross ÷ 460 head-months, ADP) vs the non-luxury $12,714: 6.7 heads over. Counted, not priced: no store personnel cost in the data.</a:t>
            </a:r>
          </a:p>
          <a:p/>
          <a:p>
            <a:r>
              <a:t>11. MPI completion - not priced. 81.5% of 5,128 CP &amp; W ROs Jul–Sep vs 90%: 1,744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CP labor $ per RO - $1.35M a year. $187 vs the non-luxury $264: gap x 17,376 CP ROs x the store's 75.7% labor GP x 12/9. Overlaps hours per RO and ELR.</a:t>
            </a:r>
          </a:p>
          <a:p/>
          <a:p>
            <a:r>
              <a:t>2. CP hours per RO - $1.12M a year. 1.48 vs the non-luxury 1.75: gap x 17,376 CP ROs x $183 an hour x 12/9.</a:t>
            </a:r>
          </a:p>
          <a:p/>
          <a:p>
            <a:r>
              <a:t>3. Alignment - $225K a year. Alignment 4.2% vs 15%: 2,490 more a year (Jan–Sep x 12/9) x $90 gross a service.</a:t>
            </a:r>
          </a:p>
          <a:p/>
          <a:p>
            <a:r>
              <a:t>4. Tire balance - $180K a year. Tire balance 0.4% vs 15%: 3,361 more a year (Jan–Sep x 12/9) x $53 gross a service.</a:t>
            </a:r>
          </a:p>
          <a:p/>
          <a:p>
            <a:r>
              <a:t>5. CP ELR - $157K a year. Jul–Sep CP ELR $125 vs 70% of the $185 door rate = $130; gap x 8,601 CP hours x 4.</a:t>
            </a:r>
          </a:p>
          <a:p/>
          <a:p>
            <a:r>
              <a:t>6. Techs under 85% - $136K a year. Store proficiency 108%. Each tech under 85% raised to 85% of their own clocked hours, valued at the store's labor + parts gross per flagged hour: $11K a month x 12.</a:t>
            </a:r>
          </a:p>
          <a:p/>
          <a:p>
            <a:r>
              <a:t>7. CP labor GP % - $102K a year. 75.7% vs 78% (bottom of the 78-80% range) x $3.25M CP labor sale x 12/9.</a:t>
            </a:r>
          </a:p>
          <a:p/>
          <a:p>
            <a:r>
              <a:t>8. Brake fluid - $80K a year. Brake fluid 7.0% vs 10%: 683 more a year (Jan–Sep x 12/9) x $117 gross a service.</a:t>
            </a:r>
          </a:p>
          <a:p/>
          <a:p>
            <a:r>
              <a:t>9. Parts gross - $76K a year. Parts gross $2,250,197 vs $2,307,440 Jan–Sep 2025, x 12/9. Overlaps CP parts GP.</a:t>
            </a:r>
          </a:p>
          <a:p/>
          <a:p>
            <a:r>
              <a:t>10. Fuel service - $56K a year. Fuel service 5.8% vs 7.5%: 387 more a year (Jan–Sep x 12/9) x $145 gross a service.</a:t>
            </a:r>
          </a:p>
          <a:p/>
          <a:p>
            <a:r>
              <a:t>11. Fixed gross/head - not priced. $11,128 a month (Jan–Sep gross ÷ 533 head-months, ADP) vs the non-luxury $12,714: 7.4 heads over. Counted, not priced: no store personnel cost in the data.</a:t>
            </a:r>
          </a:p>
          <a:p/>
          <a:p>
            <a:r>
              <a:t>12. MPI completion - not priced. 81.3% of 6,415 CP &amp; W ROs Jul–Sep vs 90%: 2,232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$743K a year. Store proficiency 72%. Each tech under 85% raised to 85% of their own clocked hours, valued at the store's labor + parts gross per flagged hour: $62K a month x 12.</a:t>
            </a:r>
          </a:p>
          <a:p/>
          <a:p>
            <a:r>
              <a:t>2. CP hours per RO - $517K a year. 2.28 vs the luxury 2.90: gap x 3,402 CP ROs x $183 an hour x 12/9.</a:t>
            </a:r>
          </a:p>
          <a:p/>
          <a:p>
            <a:r>
              <a:t>3. CP labor $ per RO - $505K a year. $506 vs the luxury $632: gap x 3,402 CP ROs x the store's 88.6% labor GP x 12/9. Overlaps hours per RO and ELR.</a:t>
            </a:r>
          </a:p>
          <a:p/>
          <a:p>
            <a:r>
              <a:t>4. Parts gross - $67K a year. Parts gross $1,492,527 vs $1,542,570 Jan–Sep 2025, x 12/9. Overlaps CP parts GP.</a:t>
            </a:r>
          </a:p>
          <a:p/>
          <a:p>
            <a:r>
              <a:t>5. Video completion - not priced. 52.5% vs the group's 57.8% on 1,711 CP &amp; W ROs Jul–Sep: 366 more a year (x 4). Not priced.</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Service gross - $730K a year. Service gross $3,502,514 vs $4,049,724 Jan–Sep 2025, x 12/9. Overlaps the CP lines.</a:t>
            </a:r>
          </a:p>
          <a:p/>
          <a:p>
            <a:r>
              <a:t>2. Techs under 85% - $295K a year. Store proficiency 92%. Each tech under 85% raised to 85% of their own clocked hours, valued at the store's labor + parts gross per flagged hour: $25K a month x 12.</a:t>
            </a:r>
          </a:p>
          <a:p/>
          <a:p>
            <a:r>
              <a:t>3. Parts gross - $285K a year. Parts gross $1,287,787 vs $1,501,770 Jan–Sep 2025, x 12/9. Overlaps CP parts GP.</a:t>
            </a:r>
          </a:p>
          <a:p/>
          <a:p>
            <a:r>
              <a:t>4. CP parts GP % - $69K a year. 36.9% vs the non-luxury 40.5% x $1.45M CP parts sale x 12/9.</a:t>
            </a:r>
          </a:p>
          <a:p/>
          <a:p>
            <a:r>
              <a:t>5. Tire balance - $27K a year. Tire balance 8.2% vs 15%: 460 more a year (Jan–Sep x 12/9) x $60 gross a service.</a:t>
            </a:r>
          </a:p>
          <a:p/>
          <a:p>
            <a:r>
              <a:t>6. Alignment - $23K a year. Alignment 13.6% vs 15%: 96 more a year (Jan–Sep x 12/9) x $245 gross a service.</a:t>
            </a:r>
          </a:p>
          <a:p/>
          <a:p>
            <a:r>
              <a:t>7. Fixed gross/head - not priced. $12,006 a month (Jan–Sep gross ÷ 399 head-months, ADP) vs the non-luxury $12,714: 2.5 heads over. Counted, not priced: no store personnel cost in the data.</a:t>
            </a:r>
          </a:p>
          <a:p/>
          <a:p>
            <a:r>
              <a:t>Where you lead: the store's best places among the 33 on the day's measures, levels and changes on 2025 - top three, else top five, else top ten. A change counts only when it went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Closed Repair Orders (customer pay, opcodes), Profit &amp; Loss (gross, net profit, absorption), Jan-Sep 2026 vs 2025, same-store, INEOS and GMC Prescott body shop out; CP ELR and door rate Jul-Sep; MPI and video store-reported Jul-Sep; proficiency Qlik hours flagged / ADP clocked hours; headcount ADP. The numbers on the Day 2 slides.</a:t>
            </a:r>
          </a:p>
          <a:p/>
          <a:p>
            <a:r>
              <a:t>Every priced gap worth $10K a year or more, largest first; then the lines counted, not priced. Lines overlap and are never added. Method: the header of store-rx.mjs.</a:t>
            </a:r>
          </a:p>
          <a:p/>
          <a:p>
            <a:r>
              <a:t>1. Techs under 85% - $248K a year. Store proficiency 70%. Each tech under 85% raised to 85% of their own clocked hours, valued at the store's labor + parts gross per flagged hour: $21K a month x 12.</a:t>
            </a:r>
          </a:p>
          <a:p/>
          <a:p>
            <a:r>
              <a:t>2. Service gross - $180K a year. Service gross $588,480 vs $723,516 Jan–Sep 2025, x 12/9. Overlaps the CP lines.</a:t>
            </a:r>
          </a:p>
          <a:p/>
          <a:p>
            <a:r>
              <a:t>3. CP RO count - $151K a year. 332 fewer CP ROs than Jan–Sep 2025 x $342 a RO x 12/9.</a:t>
            </a:r>
          </a:p>
          <a:p/>
          <a:p>
            <a:r>
              <a:t>4. CP labor $ per RO - $68K a year. $231 vs the non-luxury $264: gap x 1,919 CP ROs x the store's 79.4% labor GP x 12/9. Overlaps hours per RO and ELR.</a:t>
            </a:r>
          </a:p>
          <a:p/>
          <a:p>
            <a:r>
              <a:t>5. Parts gross - $37K a year. Parts gross $379,537 vs $407,348 Jan–Sep 2025, x 12/9. Overlaps CP parts GP.</a:t>
            </a:r>
          </a:p>
          <a:p/>
          <a:p>
            <a:r>
              <a:t>6. Fuel service - $29K a year. Fuel service 2.7% vs 7.5%: 123 more a year (Jan–Sep x 12/9) x $236 gross a service.</a:t>
            </a:r>
          </a:p>
          <a:p/>
          <a:p>
            <a:r>
              <a:t>7. Tire balance - $28K a year. Tire balance 0.4% vs 15%: 373 more a year (Jan–Sep x 12/9) x $75 gross a service.</a:t>
            </a:r>
          </a:p>
          <a:p/>
          <a:p>
            <a:r>
              <a:t>8. CP hours per RO - $18K a year. 1.71 vs the non-luxury 1.75: gap x 1,919 CP ROs x $183 an hour x 12/9.</a:t>
            </a:r>
          </a:p>
          <a:p/>
          <a:p>
            <a:r>
              <a:t>9. Alignment - $18K a year. Alignment 5.6% vs 15%: 240 more a year (Jan–Sep x 12/9) x $74 gross a service.</a:t>
            </a:r>
          </a:p>
          <a:p/>
          <a:p>
            <a:r>
              <a:t>10. Brake fluid - $13K a year. Brake fluid 5.4% vs 10%: 117 more a year (Jan–Sep x 12/9) x $111 gross a service.</a:t>
            </a:r>
          </a:p>
          <a:p/>
          <a:p>
            <a:r>
              <a:t>11. MPI completion - not priced. 45.7% of 978 CP &amp; W ROs Jul–Sep vs 90%: 1,733 more a year (x 4). Not priced.</a:t>
            </a:r>
          </a:p>
          <a:p/>
          <a:p>
            <a:r>
              <a:t>12. Fixed gross/head - not priced. $9,878 a month (Jan–Sep gross ÷ 98 head-months, ADP) vs the non-luxury $12,714: 2.4 heads over. Counted, not priced: no store personnel cost in the data.</a:t>
            </a:r>
          </a:p>
          <a:p/>
          <a:p>
            <a:r>
              <a:t>13. Video completion - not priced. 48.5% vs the group's 57.8% on 978 CP &amp; W ROs Jul–Sep: 365 more a year (x 4). Not priced.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4.xml"/><Relationship Id="rId3" Type="http://schemas.openxmlformats.org/officeDocument/2006/relationships/chart" Target="../charts/chart25.xml"/><Relationship Id="rId4" Type="http://schemas.openxmlformats.org/officeDocument/2006/relationships/chart" Target="../charts/chart26.xml"/><Relationship Id="rId5" Type="http://schemas.openxmlformats.org/officeDocument/2006/relationships/chart" Target="../charts/chart27.xml"/><Relationship Id="rId6" Type="http://schemas.openxmlformats.org/officeDocument/2006/relationships/chart" Target="../charts/chart28.xml"/><Relationship Id="rId7" Type="http://schemas.openxmlformats.org/officeDocument/2006/relationships/chart" Target="../charts/chart29.xml"/><Relationship Id="rId8" Type="http://schemas.openxmlformats.org/officeDocument/2006/relationships/notesSlide" Target="../notesSlides/notesSlide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3.xml"/><Relationship Id="rId3" Type="http://schemas.openxmlformats.org/officeDocument/2006/relationships/chart" Target="../charts/chart54.xml"/><Relationship Id="rId4" Type="http://schemas.openxmlformats.org/officeDocument/2006/relationships/chart" Target="../charts/chart55.xml"/><Relationship Id="rId5" Type="http://schemas.openxmlformats.org/officeDocument/2006/relationships/chart" Target="../charts/chart56.xml"/><Relationship Id="rId6" Type="http://schemas.openxmlformats.org/officeDocument/2006/relationships/chart" Target="../charts/chart57.xml"/><Relationship Id="rId7"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76.xml"/><Relationship Id="rId3" Type="http://schemas.openxmlformats.org/officeDocument/2006/relationships/chart" Target="../charts/chart77.xml"/><Relationship Id="rId4" Type="http://schemas.openxmlformats.org/officeDocument/2006/relationships/chart" Target="../charts/chart78.xml"/><Relationship Id="rId5" Type="http://schemas.openxmlformats.org/officeDocument/2006/relationships/chart" Target="../charts/chart79.xml"/><Relationship Id="rId6" Type="http://schemas.openxmlformats.org/officeDocument/2006/relationships/chart" Target="../charts/chart80.xml"/><Relationship Id="rId7" Type="http://schemas.openxmlformats.org/officeDocument/2006/relationships/notesSlide" Target="../notesSlides/notesSlide8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81.xml"/><Relationship Id="rId3" Type="http://schemas.openxmlformats.org/officeDocument/2006/relationships/chart" Target="../charts/chart82.xml"/><Relationship Id="rId4" Type="http://schemas.openxmlformats.org/officeDocument/2006/relationships/chart" Target="../charts/chart83.xml"/><Relationship Id="rId5" Type="http://schemas.openxmlformats.org/officeDocument/2006/relationships/chart" Target="../charts/chart84.xml"/><Relationship Id="rId6" Type="http://schemas.openxmlformats.org/officeDocument/2006/relationships/chart" Target="../charts/chart85.xml"/><Relationship Id="rId7" Type="http://schemas.openxmlformats.org/officeDocument/2006/relationships/chart" Target="../charts/chart86.xml"/><Relationship Id="rId8" Type="http://schemas.openxmlformats.org/officeDocument/2006/relationships/notesSlide" Target="../notesSlides/notesSlide9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87.xml"/><Relationship Id="rId3" Type="http://schemas.openxmlformats.org/officeDocument/2006/relationships/chart" Target="../charts/chart88.xml"/><Relationship Id="rId4" Type="http://schemas.openxmlformats.org/officeDocument/2006/relationships/chart" Target="../charts/chart89.xml"/><Relationship Id="rId5" Type="http://schemas.openxmlformats.org/officeDocument/2006/relationships/chart" Target="../charts/chart90.xml"/><Relationship Id="rId6" Type="http://schemas.openxmlformats.org/officeDocument/2006/relationships/chart" Target="../charts/chart91.xml"/><Relationship Id="rId7" Type="http://schemas.openxmlformats.org/officeDocument/2006/relationships/chart" Target="../charts/chart92.xml"/><Relationship Id="rId8" Type="http://schemas.openxmlformats.org/officeDocument/2006/relationships/notesSlide" Target="../notesSlides/notesSlide10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93.xml"/><Relationship Id="rId3" Type="http://schemas.openxmlformats.org/officeDocument/2006/relationships/chart" Target="../charts/chart94.xml"/><Relationship Id="rId4" Type="http://schemas.openxmlformats.org/officeDocument/2006/relationships/chart" Target="../charts/chart95.xml"/><Relationship Id="rId5" Type="http://schemas.openxmlformats.org/officeDocument/2006/relationships/chart" Target="../charts/chart96.xml"/><Relationship Id="rId6" Type="http://schemas.openxmlformats.org/officeDocument/2006/relationships/chart" Target="../charts/chart97.xml"/><Relationship Id="rId7" Type="http://schemas.openxmlformats.org/officeDocument/2006/relationships/chart" Target="../charts/chart98.xml"/><Relationship Id="rId8" Type="http://schemas.openxmlformats.org/officeDocument/2006/relationships/notesSlide" Target="../notesSlides/notesSlide10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99.xml"/><Relationship Id="rId3" Type="http://schemas.openxmlformats.org/officeDocument/2006/relationships/chart" Target="../charts/chart100.xml"/><Relationship Id="rId4" Type="http://schemas.openxmlformats.org/officeDocument/2006/relationships/chart" Target="../charts/chart101.xml"/><Relationship Id="rId5" Type="http://schemas.openxmlformats.org/officeDocument/2006/relationships/chart" Target="../charts/chart102.xml"/><Relationship Id="rId6" Type="http://schemas.openxmlformats.org/officeDocument/2006/relationships/chart" Target="../charts/chart103.xml"/><Relationship Id="rId7" Type="http://schemas.openxmlformats.org/officeDocument/2006/relationships/chart" Target="../charts/chart104.xml"/><Relationship Id="rId8" Type="http://schemas.openxmlformats.org/officeDocument/2006/relationships/notesSlide" Target="../notesSlides/notesSlide11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11.xml"/><Relationship Id="rId3" Type="http://schemas.openxmlformats.org/officeDocument/2006/relationships/chart" Target="../charts/chart112.xml"/><Relationship Id="rId4" Type="http://schemas.openxmlformats.org/officeDocument/2006/relationships/chart" Target="../charts/chart113.xml"/><Relationship Id="rId5" Type="http://schemas.openxmlformats.org/officeDocument/2006/relationships/chart" Target="../charts/chart114.xml"/><Relationship Id="rId6" Type="http://schemas.openxmlformats.org/officeDocument/2006/relationships/chart" Target="../charts/chart115.xml"/><Relationship Id="rId7" Type="http://schemas.openxmlformats.org/officeDocument/2006/relationships/chart" Target="../charts/chart116.xml"/><Relationship Id="rId8" Type="http://schemas.openxmlformats.org/officeDocument/2006/relationships/notesSlide" Target="../notesSlides/notesSlide12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Absorption</a:t>
            </a:r>
            <a:endParaRPr lang="en-US" sz="2800" dirty="0"/>
          </a:p>
        </p:txBody>
      </p:sp>
      <p:sp>
        <p:nvSpPr>
          <p:cNvPr id="5" name="Shape 3"/>
          <p:cNvSpPr/>
          <p:nvPr/>
        </p:nvSpPr>
        <p:spPr>
          <a:xfrm>
            <a:off x="457200" y="1207008"/>
            <a:ext cx="11274552" cy="1024128"/>
          </a:xfrm>
          <a:prstGeom prst="rect">
            <a:avLst/>
          </a:prstGeom>
          <a:solidFill>
            <a:srgbClr val="EDF4FA"/>
          </a:solidFill>
          <a:ln/>
        </p:spPr>
        <p:txBody>
          <a:bodyPr/>
          <a:p/>
        </p:txBody>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Fixed absorption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fixed ops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total store fixed expenses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much of the dealership's fixed expenses are covered by parts and service gross profit.</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READING IT</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txBody>
          <a:bodyPr/>
          <a:p/>
        </p:txBody>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At 100%  </a:t>
            </a:r>
            <a:pPr algn="ctr" indent="0" marL="0">
              <a:buNone/>
            </a:pPr>
            <a:r>
              <a:rPr lang="en-US" sz="1400" b="1" dirty="0">
                <a:solidFill>
                  <a:srgbClr val="0B2C4A"/>
                </a:solidFill>
                <a:latin typeface="Inter" pitchFamily="34" charset="0"/>
                <a:ea typeface="Inter" pitchFamily="34" charset="-122"/>
                <a:cs typeface="Inter" pitchFamily="34" charset="-120"/>
              </a:rPr>
              <a:t>fixed ops covers every fixed expense</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txBody>
          <a:bodyPr/>
          <a:p/>
        </p:txBody>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Group today  </a:t>
            </a:r>
            <a:pPr algn="ctr" indent="0" marL="0">
              <a:buNone/>
            </a:pPr>
            <a:r>
              <a:rPr lang="en-US" sz="1400" b="1" dirty="0">
                <a:solidFill>
                  <a:srgbClr val="0B2C4A"/>
                </a:solidFill>
                <a:latin typeface="Inter" pitchFamily="34" charset="0"/>
                <a:ea typeface="Inter" pitchFamily="34" charset="-122"/>
                <a:cs typeface="Inter" pitchFamily="34" charset="-120"/>
              </a:rPr>
              <a:t>77.9%</a:t>
            </a:r>
            <a:endParaRPr lang="en-US" sz="1400" dirty="0"/>
          </a:p>
        </p:txBody>
      </p:sp>
      <p:sp>
        <p:nvSpPr>
          <p:cNvPr id="13" name="Shape 11"/>
          <p:cNvSpPr/>
          <p:nvPr/>
        </p:nvSpPr>
        <p:spPr>
          <a:xfrm>
            <a:off x="457200" y="2907792"/>
            <a:ext cx="4343400" cy="3081528"/>
          </a:xfrm>
          <a:prstGeom prst="rect">
            <a:avLst/>
          </a:prstGeom>
          <a:solidFill>
            <a:srgbClr val="FFFFFF"/>
          </a:solidFill>
          <a:ln/>
        </p:spPr>
        <p:txBody>
          <a:bodyPr/>
          <a:p/>
        </p:txBody>
      </p:sp>
      <p:sp>
        <p:nvSpPr>
          <p:cNvPr id="14" name="Shape 12"/>
          <p:cNvSpPr/>
          <p:nvPr/>
        </p:nvSpPr>
        <p:spPr>
          <a:xfrm>
            <a:off x="4937760" y="2907792"/>
            <a:ext cx="6793992" cy="3081528"/>
          </a:xfrm>
          <a:prstGeom prst="rect">
            <a:avLst/>
          </a:prstGeom>
          <a:solidFill>
            <a:srgbClr val="FFFFFF"/>
          </a:solidFill>
          <a:ln/>
        </p:spPr>
        <p:txBody>
          <a:bodyPr/>
          <a:p/>
        </p:txBody>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WHAT'S IN TOTAL STORE FIXED EXPENSES</a:t>
            </a:r>
            <a:endParaRPr lang="en-US" sz="1400" dirty="0"/>
          </a:p>
        </p:txBody>
      </p:sp>
      <p:sp>
        <p:nvSpPr>
          <p:cNvPr id="17" name="Text 15"/>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At 100%, the store covers its fixed costs before it sells a car.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protects the store when car sales slow.</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the clearest measure of fixed ops' value to the dealership.</a:t>
            </a:r>
            <a:endParaRPr lang="en-US" sz="1500" dirty="0"/>
          </a:p>
        </p:txBody>
      </p:sp>
      <p:sp>
        <p:nvSpPr>
          <p:cNvPr id="18" name="Shape 16"/>
          <p:cNvSpPr/>
          <p:nvPr/>
        </p:nvSpPr>
        <p:spPr>
          <a:xfrm>
            <a:off x="5138928" y="3410712"/>
            <a:ext cx="45720" cy="1020803"/>
          </a:xfrm>
          <a:prstGeom prst="rect">
            <a:avLst/>
          </a:prstGeom>
          <a:solidFill>
            <a:srgbClr val="2587C5"/>
          </a:solidFill>
          <a:ln/>
        </p:spPr>
        <p:txBody>
          <a:bodyPr/>
          <a:p/>
        </p:txBody>
      </p:sp>
      <p:sp>
        <p:nvSpPr>
          <p:cNvPr id="19" name="Text 17"/>
          <p:cNvSpPr txBox="1"/>
          <p:nvPr/>
        </p:nvSpPr>
        <p:spPr>
          <a:xfrm>
            <a:off x="5266944" y="3410712"/>
            <a:ext cx="2962656" cy="102080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people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Salaries and wages, payroll taxes, benefits, PTO: every department</a:t>
            </a:r>
            <a:endParaRPr lang="en-US" sz="1400" dirty="0"/>
          </a:p>
        </p:txBody>
      </p:sp>
      <p:sp>
        <p:nvSpPr>
          <p:cNvPr id="20" name="Shape 18"/>
          <p:cNvSpPr/>
          <p:nvPr/>
        </p:nvSpPr>
        <p:spPr>
          <a:xfrm>
            <a:off x="8394192" y="3410712"/>
            <a:ext cx="45720" cy="1020803"/>
          </a:xfrm>
          <a:prstGeom prst="rect">
            <a:avLst/>
          </a:prstGeom>
          <a:solidFill>
            <a:srgbClr val="2587C5"/>
          </a:solidFill>
          <a:ln/>
        </p:spPr>
        <p:txBody>
          <a:bodyPr/>
          <a:p/>
        </p:txBody>
      </p:sp>
      <p:sp>
        <p:nvSpPr>
          <p:cNvPr id="21" name="Text 19"/>
          <p:cNvSpPr txBox="1"/>
          <p:nvPr/>
        </p:nvSpPr>
        <p:spPr>
          <a:xfrm>
            <a:off x="8522208" y="3410712"/>
            <a:ext cx="2962656" cy="102080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building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Rent, depreciation, property taxes, utilities, insurance, repairs</a:t>
            </a:r>
            <a:endParaRPr lang="en-US" sz="1400" dirty="0"/>
          </a:p>
        </p:txBody>
      </p:sp>
      <p:sp>
        <p:nvSpPr>
          <p:cNvPr id="22" name="Shape 20"/>
          <p:cNvSpPr/>
          <p:nvPr/>
        </p:nvSpPr>
        <p:spPr>
          <a:xfrm>
            <a:off x="5138928" y="4541243"/>
            <a:ext cx="45720" cy="1246909"/>
          </a:xfrm>
          <a:prstGeom prst="rect">
            <a:avLst/>
          </a:prstGeom>
          <a:solidFill>
            <a:srgbClr val="2587C5"/>
          </a:solidFill>
          <a:ln/>
        </p:spPr>
        <p:txBody>
          <a:bodyPr/>
          <a:p/>
        </p:txBody>
      </p:sp>
      <p:sp>
        <p:nvSpPr>
          <p:cNvPr id="23" name="Text 21"/>
          <p:cNvSpPr txBox="1"/>
          <p:nvPr/>
        </p:nvSpPr>
        <p:spPr>
          <a:xfrm>
            <a:off x="5266944" y="4541243"/>
            <a:ext cx="2962656" cy="124690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systems and other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DMS and IT, outside services, phones, training, supplies</a:t>
            </a:r>
            <a:endParaRPr lang="en-US" sz="1400" dirty="0"/>
          </a:p>
        </p:txBody>
      </p:sp>
      <p:sp>
        <p:nvSpPr>
          <p:cNvPr id="24" name="Shape 22"/>
          <p:cNvSpPr/>
          <p:nvPr/>
        </p:nvSpPr>
        <p:spPr>
          <a:xfrm>
            <a:off x="8394192" y="4541243"/>
            <a:ext cx="45720" cy="1246909"/>
          </a:xfrm>
          <a:prstGeom prst="rect">
            <a:avLst/>
          </a:prstGeom>
          <a:solidFill>
            <a:srgbClr val="2587C5"/>
          </a:solidFill>
          <a:ln/>
        </p:spPr>
        <p:txBody>
          <a:bodyPr/>
          <a:p/>
        </p:txBody>
      </p:sp>
      <p:sp>
        <p:nvSpPr>
          <p:cNvPr id="25" name="Text 23"/>
          <p:cNvSpPr txBox="1"/>
          <p:nvPr/>
        </p:nvSpPr>
        <p:spPr>
          <a:xfrm>
            <a:off x="8522208" y="4541243"/>
            <a:ext cx="2962656" cy="124690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Not included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Sales and F&amp;I commissions, delivery, floorplan interest, new and used vehicle advertising</a:t>
            </a:r>
            <a:endParaRPr lang="en-US" sz="1400" dirty="0"/>
          </a:p>
        </p:txBody>
      </p:sp>
      <p:sp>
        <p:nvSpPr>
          <p:cNvPr id="26" name="Shape 24"/>
          <p:cNvSpPr/>
          <p:nvPr/>
        </p:nvSpPr>
        <p:spPr>
          <a:xfrm>
            <a:off x="457200" y="6126480"/>
            <a:ext cx="11274552" cy="371856"/>
          </a:xfrm>
          <a:prstGeom prst="rect">
            <a:avLst/>
          </a:prstGeom>
          <a:solidFill>
            <a:srgbClr val="E6F6EE"/>
          </a:solidFill>
          <a:ln/>
        </p:spPr>
        <p:txBody>
          <a:bodyPr/>
          <a:p/>
        </p:txBody>
      </p:sp>
      <p:sp>
        <p:nvSpPr>
          <p:cNvPr id="27" name="Text 2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77.9% absorption, up 2.1 pts. Fixed gross grew 4.1%; fixed expenses 1.4%.</a:t>
            </a:r>
            <a:endParaRPr lang="en-US" sz="16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1005840"/>
          </a:xfrm>
          <a:prstGeom prst="rect">
            <a:avLst/>
          </a:prstGeom>
          <a:solidFill>
            <a:srgbClr val="FFFFFF"/>
          </a:solidFill>
          <a:ln/>
        </p:spPr>
        <p:txBody>
          <a:bodyPr/>
          <a:p/>
        </p:txBody>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75.8%</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77.9%</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+2.1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+2.7%</a:t>
            </a:r>
            <a:endParaRPr lang="en-US" sz="3000" dirty="0"/>
          </a:p>
        </p:txBody>
      </p:sp>
      <p:sp>
        <p:nvSpPr>
          <p:cNvPr id="14" name="Shape 12"/>
          <p:cNvSpPr/>
          <p:nvPr/>
        </p:nvSpPr>
        <p:spPr>
          <a:xfrm>
            <a:off x="457200" y="2322576"/>
            <a:ext cx="11274552" cy="3666744"/>
          </a:xfrm>
          <a:prstGeom prst="rect">
            <a:avLst/>
          </a:prstGeom>
          <a:solidFill>
            <a:srgbClr val="FFFFFF"/>
          </a:solidFill>
          <a:ln/>
        </p:spPr>
        <p:txBody>
          <a:bodyPr/>
          <a:p/>
        </p:txBody>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Fixed Ops Absorption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txBody>
          <a:bodyPr/>
          <a:p/>
        </p:txBody>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4951476" y="3049524"/>
            <a:ext cx="310896" cy="45720"/>
          </a:xfrm>
          <a:prstGeom prst="rect">
            <a:avLst/>
          </a:prstGeom>
          <a:solidFill>
            <a:srgbClr val="9AA3AD"/>
          </a:solidFill>
          <a:ln/>
        </p:spPr>
        <p:txBody>
          <a:bodyPr/>
          <a:p/>
        </p:txBody>
      </p:sp>
      <p:sp>
        <p:nvSpPr>
          <p:cNvPr id="24" name="Shape 16"/>
          <p:cNvSpPr/>
          <p:nvPr/>
        </p:nvSpPr>
        <p:spPr>
          <a:xfrm>
            <a:off x="5052060" y="3017520"/>
            <a:ext cx="109728" cy="109728"/>
          </a:xfrm>
          <a:prstGeom prst="ellipse">
            <a:avLst/>
          </a:prstGeom>
          <a:solidFill>
            <a:srgbClr val="9AA3AD"/>
          </a:solidFill>
          <a:ln/>
        </p:spPr>
        <p:txBody>
          <a:bodyPr/>
          <a:p/>
        </p:txBody>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txBody>
          <a:bodyPr/>
          <a:p/>
        </p:txBody>
      </p:sp>
      <p:sp>
        <p:nvSpPr>
          <p:cNvPr id="27" name="Shape 19"/>
          <p:cNvSpPr/>
          <p:nvPr/>
        </p:nvSpPr>
        <p:spPr>
          <a:xfrm>
            <a:off x="6286500" y="3017520"/>
            <a:ext cx="109728" cy="109728"/>
          </a:xfrm>
          <a:prstGeom prst="ellipse">
            <a:avLst/>
          </a:prstGeom>
          <a:solidFill>
            <a:srgbClr val="2587C5"/>
          </a:solidFill>
          <a:ln/>
        </p:spPr>
        <p:txBody>
          <a:bodyPr/>
          <a:p/>
        </p:txBody>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64236"/>
          </a:xfrm>
          <a:prstGeom prst="rect">
            <a:avLst/>
          </a:prstGeom>
          <a:solidFill>
            <a:srgbClr val="E6F6EE"/>
          </a:solidFill>
          <a:ln/>
        </p:spPr>
        <p:txBody>
          <a:bodyPr/>
          <a:p/>
        </p:txBody>
      </p:sp>
      <p:sp>
        <p:nvSpPr>
          <p:cNvPr id="30" name="Text 22"/>
          <p:cNvSpPr txBox="1"/>
          <p:nvPr/>
        </p:nvSpPr>
        <p:spPr>
          <a:xfrm>
            <a:off x="658368" y="6144768"/>
            <a:ext cx="10927080" cy="327660"/>
          </a:xfrm>
          <a:prstGeom prst="rect">
            <a:avLst/>
          </a:prstGeom>
          <a:noFill/>
          <a:ln/>
        </p:spPr>
        <p:txBody>
          <a:bodyPr wrap="square" lIns="0" tIns="0" rIns="0" bIns="0" rtlCol="0" anchor="ctr"/>
          <a:lstStyle/>
          <a:p>
            <a:pPr indent="0" marL="0">
              <a:buNone/>
            </a:pPr>
            <a:r>
              <a:rPr lang="en-US" sz="1550" b="1" dirty="0">
                <a:solidFill>
                  <a:srgbClr val="0B7A4A"/>
                </a:solidFill>
                <a:latin typeface="Inter" pitchFamily="34" charset="0"/>
                <a:ea typeface="Inter" pitchFamily="34" charset="-122"/>
                <a:cs typeface="Inter" pitchFamily="34" charset="-120"/>
              </a:rPr>
              <a:t>Up 2.1 pts to 77.9%, ahead of 2025 in six of nine months. Fixed gross grew 4.1%; fixed expenses 1.4%.</a:t>
            </a:r>
            <a:endParaRPr lang="en-US" sz="155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4782312"/>
          </a:xfrm>
          <a:prstGeom prst="rect">
            <a:avLst/>
          </a:prstGeom>
          <a:solidFill>
            <a:srgbClr val="FFFFFF"/>
          </a:solidFill>
          <a:ln/>
        </p:spPr>
        <p:txBody>
          <a:bodyPr/>
          <a:p/>
        </p:txBody>
      </p:sp>
      <p:sp>
        <p:nvSpPr>
          <p:cNvPr id="6" name="Shape 4"/>
          <p:cNvSpPr/>
          <p:nvPr/>
        </p:nvSpPr>
        <p:spPr>
          <a:xfrm>
            <a:off x="658368" y="1335024"/>
            <a:ext cx="10872216" cy="420624"/>
          </a:xfrm>
          <a:prstGeom prst="rect">
            <a:avLst/>
          </a:prstGeom>
          <a:solidFill>
            <a:srgbClr val="EDF4FA"/>
          </a:solidFill>
          <a:ln/>
        </p:spPr>
        <p:txBody>
          <a:bodyPr/>
          <a:p/>
        </p:txBody>
      </p:sp>
      <p:sp>
        <p:nvSpPr>
          <p:cNvPr id="7" name="Shape 5"/>
          <p:cNvSpPr/>
          <p:nvPr/>
        </p:nvSpPr>
        <p:spPr>
          <a:xfrm>
            <a:off x="658368" y="1335024"/>
            <a:ext cx="59436" cy="420624"/>
          </a:xfrm>
          <a:prstGeom prst="rect">
            <a:avLst/>
          </a:prstGeom>
          <a:solidFill>
            <a:srgbClr val="0B2C4A"/>
          </a:solidFill>
          <a:ln/>
        </p:spPr>
        <p:txBody>
          <a:bodyPr/>
          <a:p/>
        </p:txBody>
      </p:sp>
      <p:sp>
        <p:nvSpPr>
          <p:cNvPr id="8" name="Text 6"/>
          <p:cNvSpPr txBox="1"/>
          <p:nvPr/>
        </p:nvSpPr>
        <p:spPr>
          <a:xfrm>
            <a:off x="859536" y="1335024"/>
            <a:ext cx="27355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FIXED OPS ABSORPTION %</a:t>
            </a:r>
            <a:endParaRPr lang="en-US" sz="1500" dirty="0"/>
          </a:p>
        </p:txBody>
      </p:sp>
      <p:sp>
        <p:nvSpPr>
          <p:cNvPr id="9" name="Text 7"/>
          <p:cNvSpPr txBox="1"/>
          <p:nvPr/>
        </p:nvSpPr>
        <p:spPr>
          <a:xfrm>
            <a:off x="3649980" y="1335024"/>
            <a:ext cx="43967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SEPTEMBER 2026 YTD</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77.9%</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3" name="Shape 11"/>
          <p:cNvSpPr/>
          <p:nvPr/>
        </p:nvSpPr>
        <p:spPr>
          <a:xfrm>
            <a:off x="3008376" y="1907062"/>
            <a:ext cx="1691640" cy="119948"/>
          </a:xfrm>
          <a:prstGeom prst="rect">
            <a:avLst/>
          </a:prstGeom>
          <a:solidFill>
            <a:srgbClr val="12A566"/>
          </a:solidFill>
          <a:ln/>
        </p:spPr>
        <p:txBody>
          <a:bodyPr/>
          <a:p/>
        </p:txBody>
      </p:sp>
      <p:sp>
        <p:nvSpPr>
          <p:cNvPr id="14" name="Text 12"/>
          <p:cNvSpPr txBox="1"/>
          <p:nvPr/>
        </p:nvSpPr>
        <p:spPr>
          <a:xfrm>
            <a:off x="4754880" y="184708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106.6%</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7" name="Shape 15"/>
          <p:cNvSpPr/>
          <p:nvPr/>
        </p:nvSpPr>
        <p:spPr>
          <a:xfrm>
            <a:off x="3008376" y="2146957"/>
            <a:ext cx="1625327" cy="119948"/>
          </a:xfrm>
          <a:prstGeom prst="rect">
            <a:avLst/>
          </a:prstGeom>
          <a:solidFill>
            <a:srgbClr val="12A566"/>
          </a:solidFill>
          <a:ln/>
        </p:spPr>
        <p:txBody>
          <a:bodyPr/>
          <a:p/>
        </p:txBody>
      </p:sp>
      <p:sp>
        <p:nvSpPr>
          <p:cNvPr id="18" name="Text 16"/>
          <p:cNvSpPr txBox="1"/>
          <p:nvPr/>
        </p:nvSpPr>
        <p:spPr>
          <a:xfrm>
            <a:off x="4754880" y="208698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103.6%</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21" name="Shape 19"/>
          <p:cNvSpPr/>
          <p:nvPr/>
        </p:nvSpPr>
        <p:spPr>
          <a:xfrm>
            <a:off x="3008376" y="2386853"/>
            <a:ext cx="1406928" cy="119948"/>
          </a:xfrm>
          <a:prstGeom prst="rect">
            <a:avLst/>
          </a:prstGeom>
          <a:solidFill>
            <a:srgbClr val="12A566"/>
          </a:solidFill>
          <a:ln/>
        </p:spPr>
        <p:txBody>
          <a:bodyPr/>
          <a:p/>
        </p:txBody>
      </p:sp>
      <p:sp>
        <p:nvSpPr>
          <p:cNvPr id="22" name="Text 20"/>
          <p:cNvSpPr txBox="1"/>
          <p:nvPr/>
        </p:nvSpPr>
        <p:spPr>
          <a:xfrm>
            <a:off x="4754880" y="232687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93.7%</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25" name="Shape 23"/>
          <p:cNvSpPr/>
          <p:nvPr/>
        </p:nvSpPr>
        <p:spPr>
          <a:xfrm>
            <a:off x="3008376" y="2626748"/>
            <a:ext cx="1323114" cy="119948"/>
          </a:xfrm>
          <a:prstGeom prst="rect">
            <a:avLst/>
          </a:prstGeom>
          <a:solidFill>
            <a:srgbClr val="12A566"/>
          </a:solidFill>
          <a:ln/>
        </p:spPr>
        <p:txBody>
          <a:bodyPr/>
          <a:p/>
        </p:txBody>
      </p:sp>
      <p:sp>
        <p:nvSpPr>
          <p:cNvPr id="26" name="Text 24"/>
          <p:cNvSpPr txBox="1"/>
          <p:nvPr/>
        </p:nvSpPr>
        <p:spPr>
          <a:xfrm>
            <a:off x="4754880" y="256677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89.9%</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29" name="Shape 27"/>
          <p:cNvSpPr/>
          <p:nvPr/>
        </p:nvSpPr>
        <p:spPr>
          <a:xfrm>
            <a:off x="3008376" y="2866644"/>
            <a:ext cx="1271788" cy="119948"/>
          </a:xfrm>
          <a:prstGeom prst="rect">
            <a:avLst/>
          </a:prstGeom>
          <a:solidFill>
            <a:srgbClr val="12A566"/>
          </a:solidFill>
          <a:ln/>
        </p:spPr>
        <p:txBody>
          <a:bodyPr/>
          <a:p/>
        </p:txBody>
      </p:sp>
      <p:sp>
        <p:nvSpPr>
          <p:cNvPr id="30" name="Text 28"/>
          <p:cNvSpPr txBox="1"/>
          <p:nvPr/>
        </p:nvSpPr>
        <p:spPr>
          <a:xfrm>
            <a:off x="4754880" y="280667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87.6%</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33" name="Shape 31"/>
          <p:cNvSpPr/>
          <p:nvPr/>
        </p:nvSpPr>
        <p:spPr>
          <a:xfrm>
            <a:off x="3008376" y="3106540"/>
            <a:ext cx="1243905" cy="119948"/>
          </a:xfrm>
          <a:prstGeom prst="rect">
            <a:avLst/>
          </a:prstGeom>
          <a:solidFill>
            <a:srgbClr val="12A566"/>
          </a:solidFill>
          <a:ln/>
        </p:spPr>
        <p:txBody>
          <a:bodyPr/>
          <a:p/>
        </p:txBody>
      </p:sp>
      <p:sp>
        <p:nvSpPr>
          <p:cNvPr id="34" name="Text 32"/>
          <p:cNvSpPr txBox="1"/>
          <p:nvPr/>
        </p:nvSpPr>
        <p:spPr>
          <a:xfrm>
            <a:off x="4754880" y="3046566"/>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86.3%</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37" name="Shape 35"/>
          <p:cNvSpPr/>
          <p:nvPr/>
        </p:nvSpPr>
        <p:spPr>
          <a:xfrm>
            <a:off x="3008376" y="3346435"/>
            <a:ext cx="1238289" cy="119948"/>
          </a:xfrm>
          <a:prstGeom prst="rect">
            <a:avLst/>
          </a:prstGeom>
          <a:solidFill>
            <a:srgbClr val="12A566"/>
          </a:solidFill>
          <a:ln/>
        </p:spPr>
        <p:txBody>
          <a:bodyPr/>
          <a:p/>
        </p:txBody>
      </p:sp>
      <p:sp>
        <p:nvSpPr>
          <p:cNvPr id="38" name="Text 36"/>
          <p:cNvSpPr txBox="1"/>
          <p:nvPr/>
        </p:nvSpPr>
        <p:spPr>
          <a:xfrm>
            <a:off x="4754880" y="3286461"/>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86.1%</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41" name="Shape 39"/>
          <p:cNvSpPr/>
          <p:nvPr/>
        </p:nvSpPr>
        <p:spPr>
          <a:xfrm>
            <a:off x="3008376" y="3586331"/>
            <a:ext cx="1236225" cy="119948"/>
          </a:xfrm>
          <a:prstGeom prst="rect">
            <a:avLst/>
          </a:prstGeom>
          <a:solidFill>
            <a:srgbClr val="12A566"/>
          </a:solidFill>
          <a:ln/>
        </p:spPr>
        <p:txBody>
          <a:bodyPr/>
          <a:p/>
        </p:txBody>
      </p:sp>
      <p:sp>
        <p:nvSpPr>
          <p:cNvPr id="42" name="Text 40"/>
          <p:cNvSpPr txBox="1"/>
          <p:nvPr/>
        </p:nvSpPr>
        <p:spPr>
          <a:xfrm>
            <a:off x="4754880" y="3526357"/>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86.0%</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45" name="Shape 43"/>
          <p:cNvSpPr/>
          <p:nvPr/>
        </p:nvSpPr>
        <p:spPr>
          <a:xfrm>
            <a:off x="3008376" y="3826226"/>
            <a:ext cx="1203167" cy="119948"/>
          </a:xfrm>
          <a:prstGeom prst="rect">
            <a:avLst/>
          </a:prstGeom>
          <a:solidFill>
            <a:srgbClr val="12A566"/>
          </a:solidFill>
          <a:ln/>
        </p:spPr>
        <p:txBody>
          <a:bodyPr/>
          <a:p/>
        </p:txBody>
      </p:sp>
      <p:sp>
        <p:nvSpPr>
          <p:cNvPr id="46" name="Text 44"/>
          <p:cNvSpPr txBox="1"/>
          <p:nvPr/>
        </p:nvSpPr>
        <p:spPr>
          <a:xfrm>
            <a:off x="4754880" y="3766252"/>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84.5%</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49" name="Shape 47"/>
          <p:cNvSpPr/>
          <p:nvPr/>
        </p:nvSpPr>
        <p:spPr>
          <a:xfrm>
            <a:off x="3008376" y="4066122"/>
            <a:ext cx="1188815" cy="119948"/>
          </a:xfrm>
          <a:prstGeom prst="rect">
            <a:avLst/>
          </a:prstGeom>
          <a:solidFill>
            <a:srgbClr val="12A566"/>
          </a:solidFill>
          <a:ln/>
        </p:spPr>
        <p:txBody>
          <a:bodyPr/>
          <a:p/>
        </p:txBody>
      </p:sp>
      <p:sp>
        <p:nvSpPr>
          <p:cNvPr id="50" name="Text 48"/>
          <p:cNvSpPr txBox="1"/>
          <p:nvPr/>
        </p:nvSpPr>
        <p:spPr>
          <a:xfrm>
            <a:off x="4754880" y="4006148"/>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83.8%</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53" name="Shape 51"/>
          <p:cNvSpPr/>
          <p:nvPr/>
        </p:nvSpPr>
        <p:spPr>
          <a:xfrm>
            <a:off x="3008376" y="4306017"/>
            <a:ext cx="1143609" cy="119948"/>
          </a:xfrm>
          <a:prstGeom prst="rect">
            <a:avLst/>
          </a:prstGeom>
          <a:solidFill>
            <a:srgbClr val="12A566"/>
          </a:solidFill>
          <a:ln/>
        </p:spPr>
        <p:txBody>
          <a:bodyPr/>
          <a:p/>
        </p:txBody>
      </p:sp>
      <p:sp>
        <p:nvSpPr>
          <p:cNvPr id="54" name="Text 52"/>
          <p:cNvSpPr txBox="1"/>
          <p:nvPr/>
        </p:nvSpPr>
        <p:spPr>
          <a:xfrm>
            <a:off x="4754880" y="4246043"/>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81.8%</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57" name="Shape 55"/>
          <p:cNvSpPr/>
          <p:nvPr/>
        </p:nvSpPr>
        <p:spPr>
          <a:xfrm>
            <a:off x="3008376" y="4545913"/>
            <a:ext cx="1136929" cy="119948"/>
          </a:xfrm>
          <a:prstGeom prst="rect">
            <a:avLst/>
          </a:prstGeom>
          <a:solidFill>
            <a:srgbClr val="12A566"/>
          </a:solidFill>
          <a:ln/>
        </p:spPr>
        <p:txBody>
          <a:bodyPr/>
          <a:p/>
        </p:txBody>
      </p:sp>
      <p:sp>
        <p:nvSpPr>
          <p:cNvPr id="58" name="Text 56"/>
          <p:cNvSpPr txBox="1"/>
          <p:nvPr/>
        </p:nvSpPr>
        <p:spPr>
          <a:xfrm>
            <a:off x="4754880" y="4485939"/>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81.5%</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61" name="Shape 59"/>
          <p:cNvSpPr/>
          <p:nvPr/>
        </p:nvSpPr>
        <p:spPr>
          <a:xfrm>
            <a:off x="3008376" y="4785808"/>
            <a:ext cx="1094886" cy="119948"/>
          </a:xfrm>
          <a:prstGeom prst="rect">
            <a:avLst/>
          </a:prstGeom>
          <a:solidFill>
            <a:srgbClr val="12A566"/>
          </a:solidFill>
          <a:ln/>
        </p:spPr>
        <p:txBody>
          <a:bodyPr/>
          <a:p/>
        </p:txBody>
      </p:sp>
      <p:sp>
        <p:nvSpPr>
          <p:cNvPr id="62" name="Text 60"/>
          <p:cNvSpPr txBox="1"/>
          <p:nvPr/>
        </p:nvSpPr>
        <p:spPr>
          <a:xfrm>
            <a:off x="4754880" y="4725834"/>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79.6%</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65" name="Shape 63"/>
          <p:cNvSpPr/>
          <p:nvPr/>
        </p:nvSpPr>
        <p:spPr>
          <a:xfrm>
            <a:off x="3008376" y="5025704"/>
            <a:ext cx="1073984" cy="119948"/>
          </a:xfrm>
          <a:prstGeom prst="rect">
            <a:avLst/>
          </a:prstGeom>
          <a:solidFill>
            <a:srgbClr val="12A566"/>
          </a:solidFill>
          <a:ln/>
        </p:spPr>
        <p:txBody>
          <a:bodyPr/>
          <a:p/>
        </p:txBody>
      </p:sp>
      <p:sp>
        <p:nvSpPr>
          <p:cNvPr id="66" name="Text 64"/>
          <p:cNvSpPr txBox="1"/>
          <p:nvPr/>
        </p:nvSpPr>
        <p:spPr>
          <a:xfrm>
            <a:off x="4754880" y="4965730"/>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78.6%</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69" name="Shape 67"/>
          <p:cNvSpPr/>
          <p:nvPr/>
        </p:nvSpPr>
        <p:spPr>
          <a:xfrm>
            <a:off x="3008376" y="5265599"/>
            <a:ext cx="1069793" cy="119948"/>
          </a:xfrm>
          <a:prstGeom prst="rect">
            <a:avLst/>
          </a:prstGeom>
          <a:solidFill>
            <a:srgbClr val="12A566"/>
          </a:solidFill>
          <a:ln/>
        </p:spPr>
        <p:txBody>
          <a:bodyPr/>
          <a:p/>
        </p:txBody>
      </p:sp>
      <p:sp>
        <p:nvSpPr>
          <p:cNvPr id="70" name="Text 68"/>
          <p:cNvSpPr txBox="1"/>
          <p:nvPr/>
        </p:nvSpPr>
        <p:spPr>
          <a:xfrm>
            <a:off x="4754880" y="5205625"/>
            <a:ext cx="1143000" cy="239896"/>
          </a:xfrm>
          <a:prstGeom prst="rect">
            <a:avLst/>
          </a:prstGeom>
          <a:noFill/>
          <a:ln/>
        </p:spPr>
        <p:txBody>
          <a:bodyPr wrap="square" lIns="0" tIns="0" rIns="0" bIns="0" rtlCol="0" anchor="ctr"/>
          <a:lstStyle/>
          <a:p>
            <a:pPr algn="r" indent="0" marL="0">
              <a:buNone/>
            </a:pPr>
            <a:r>
              <a:rPr lang="en-US" sz="1200" dirty="0">
                <a:solidFill>
                  <a:srgbClr val="0B7A4A"/>
                </a:solidFill>
                <a:latin typeface="Inter" pitchFamily="34" charset="0"/>
                <a:ea typeface="Inter" pitchFamily="34" charset="-122"/>
                <a:cs typeface="Inter" pitchFamily="34" charset="-120"/>
              </a:rPr>
              <a:t>78.4%</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73" name="Shape 71"/>
          <p:cNvSpPr/>
          <p:nvPr/>
        </p:nvSpPr>
        <p:spPr>
          <a:xfrm>
            <a:off x="3008376" y="5505495"/>
            <a:ext cx="1044916" cy="119948"/>
          </a:xfrm>
          <a:prstGeom prst="rect">
            <a:avLst/>
          </a:prstGeom>
          <a:solidFill>
            <a:srgbClr val="C2352F"/>
          </a:solidFill>
          <a:ln/>
        </p:spPr>
        <p:txBody>
          <a:bodyPr/>
          <a:p/>
        </p:txBody>
      </p:sp>
      <p:sp>
        <p:nvSpPr>
          <p:cNvPr id="74" name="Text 72"/>
          <p:cNvSpPr txBox="1"/>
          <p:nvPr/>
        </p:nvSpPr>
        <p:spPr>
          <a:xfrm>
            <a:off x="4754880"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77.3%</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77" name="Shape 75"/>
          <p:cNvSpPr/>
          <p:nvPr/>
        </p:nvSpPr>
        <p:spPr>
          <a:xfrm>
            <a:off x="3008376" y="5745390"/>
            <a:ext cx="1007915" cy="119948"/>
          </a:xfrm>
          <a:prstGeom prst="rect">
            <a:avLst/>
          </a:prstGeom>
          <a:solidFill>
            <a:srgbClr val="C2352F"/>
          </a:solidFill>
          <a:ln/>
        </p:spPr>
        <p:txBody>
          <a:bodyPr/>
          <a:p/>
        </p:txBody>
      </p:sp>
      <p:sp>
        <p:nvSpPr>
          <p:cNvPr id="78" name="Text 76"/>
          <p:cNvSpPr txBox="1"/>
          <p:nvPr/>
        </p:nvSpPr>
        <p:spPr>
          <a:xfrm>
            <a:off x="4754880" y="568541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75.6%</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81" name="Shape 79"/>
          <p:cNvSpPr/>
          <p:nvPr/>
        </p:nvSpPr>
        <p:spPr>
          <a:xfrm>
            <a:off x="8558784" y="1907062"/>
            <a:ext cx="979751" cy="119948"/>
          </a:xfrm>
          <a:prstGeom prst="rect">
            <a:avLst/>
          </a:prstGeom>
          <a:solidFill>
            <a:srgbClr val="C2352F"/>
          </a:solidFill>
          <a:ln/>
        </p:spPr>
        <p:txBody>
          <a:bodyPr/>
          <a:p/>
        </p:txBody>
      </p:sp>
      <p:sp>
        <p:nvSpPr>
          <p:cNvPr id="82" name="Text 80"/>
          <p:cNvSpPr txBox="1"/>
          <p:nvPr/>
        </p:nvSpPr>
        <p:spPr>
          <a:xfrm>
            <a:off x="10305288" y="184708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74.4%</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85" name="Shape 83"/>
          <p:cNvSpPr/>
          <p:nvPr/>
        </p:nvSpPr>
        <p:spPr>
          <a:xfrm>
            <a:off x="8558784" y="2146957"/>
            <a:ext cx="956432" cy="119948"/>
          </a:xfrm>
          <a:prstGeom prst="rect">
            <a:avLst/>
          </a:prstGeom>
          <a:solidFill>
            <a:srgbClr val="C2352F"/>
          </a:solidFill>
          <a:ln/>
        </p:spPr>
        <p:txBody>
          <a:bodyPr/>
          <a:p/>
        </p:txBody>
      </p:sp>
      <p:sp>
        <p:nvSpPr>
          <p:cNvPr id="86" name="Text 84"/>
          <p:cNvSpPr txBox="1"/>
          <p:nvPr/>
        </p:nvSpPr>
        <p:spPr>
          <a:xfrm>
            <a:off x="10305288" y="208698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73.3%</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9" name="Shape 87"/>
          <p:cNvSpPr/>
          <p:nvPr/>
        </p:nvSpPr>
        <p:spPr>
          <a:xfrm>
            <a:off x="8558784" y="2386853"/>
            <a:ext cx="897553" cy="119948"/>
          </a:xfrm>
          <a:prstGeom prst="rect">
            <a:avLst/>
          </a:prstGeom>
          <a:solidFill>
            <a:srgbClr val="C2352F"/>
          </a:solidFill>
          <a:ln/>
        </p:spPr>
        <p:txBody>
          <a:bodyPr/>
          <a:p/>
        </p:txBody>
      </p:sp>
      <p:sp>
        <p:nvSpPr>
          <p:cNvPr id="90" name="Text 88"/>
          <p:cNvSpPr txBox="1"/>
          <p:nvPr/>
        </p:nvSpPr>
        <p:spPr>
          <a:xfrm>
            <a:off x="10305288" y="232687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70.6%</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93" name="Shape 91"/>
          <p:cNvSpPr/>
          <p:nvPr/>
        </p:nvSpPr>
        <p:spPr>
          <a:xfrm>
            <a:off x="8558784" y="2626748"/>
            <a:ext cx="890311" cy="119948"/>
          </a:xfrm>
          <a:prstGeom prst="rect">
            <a:avLst/>
          </a:prstGeom>
          <a:solidFill>
            <a:srgbClr val="C2352F"/>
          </a:solidFill>
          <a:ln/>
        </p:spPr>
        <p:txBody>
          <a:bodyPr/>
          <a:p/>
        </p:txBody>
      </p:sp>
      <p:sp>
        <p:nvSpPr>
          <p:cNvPr id="94" name="Text 92"/>
          <p:cNvSpPr txBox="1"/>
          <p:nvPr/>
        </p:nvSpPr>
        <p:spPr>
          <a:xfrm>
            <a:off x="10305288" y="256677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70.3%</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97" name="Shape 95"/>
          <p:cNvSpPr/>
          <p:nvPr/>
        </p:nvSpPr>
        <p:spPr>
          <a:xfrm>
            <a:off x="8558784" y="2866644"/>
            <a:ext cx="883510" cy="119948"/>
          </a:xfrm>
          <a:prstGeom prst="rect">
            <a:avLst/>
          </a:prstGeom>
          <a:solidFill>
            <a:srgbClr val="C2352F"/>
          </a:solidFill>
          <a:ln/>
        </p:spPr>
        <p:txBody>
          <a:bodyPr/>
          <a:p/>
        </p:txBody>
      </p:sp>
      <p:sp>
        <p:nvSpPr>
          <p:cNvPr id="98" name="Text 96"/>
          <p:cNvSpPr txBox="1"/>
          <p:nvPr/>
        </p:nvSpPr>
        <p:spPr>
          <a:xfrm>
            <a:off x="10305288" y="280667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70.0%</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01" name="Shape 99"/>
          <p:cNvSpPr/>
          <p:nvPr/>
        </p:nvSpPr>
        <p:spPr>
          <a:xfrm>
            <a:off x="8558784" y="3106540"/>
            <a:ext cx="860120" cy="119948"/>
          </a:xfrm>
          <a:prstGeom prst="rect">
            <a:avLst/>
          </a:prstGeom>
          <a:solidFill>
            <a:srgbClr val="C2352F"/>
          </a:solidFill>
          <a:ln/>
        </p:spPr>
        <p:txBody>
          <a:bodyPr/>
          <a:p/>
        </p:txBody>
      </p:sp>
      <p:sp>
        <p:nvSpPr>
          <p:cNvPr id="102" name="Text 100"/>
          <p:cNvSpPr txBox="1"/>
          <p:nvPr/>
        </p:nvSpPr>
        <p:spPr>
          <a:xfrm>
            <a:off x="10305288" y="3046566"/>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68.9%</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05" name="Shape 103"/>
          <p:cNvSpPr/>
          <p:nvPr/>
        </p:nvSpPr>
        <p:spPr>
          <a:xfrm>
            <a:off x="8558784" y="3346435"/>
            <a:ext cx="791399" cy="119948"/>
          </a:xfrm>
          <a:prstGeom prst="rect">
            <a:avLst/>
          </a:prstGeom>
          <a:solidFill>
            <a:srgbClr val="C2352F"/>
          </a:solidFill>
          <a:ln/>
        </p:spPr>
        <p:txBody>
          <a:bodyPr/>
          <a:p/>
        </p:txBody>
      </p:sp>
      <p:sp>
        <p:nvSpPr>
          <p:cNvPr id="106" name="Text 104"/>
          <p:cNvSpPr txBox="1"/>
          <p:nvPr/>
        </p:nvSpPr>
        <p:spPr>
          <a:xfrm>
            <a:off x="10305288" y="328646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65.8%</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09" name="Shape 107"/>
          <p:cNvSpPr/>
          <p:nvPr/>
        </p:nvSpPr>
        <p:spPr>
          <a:xfrm>
            <a:off x="8558784" y="3586331"/>
            <a:ext cx="774373" cy="119948"/>
          </a:xfrm>
          <a:prstGeom prst="rect">
            <a:avLst/>
          </a:prstGeom>
          <a:solidFill>
            <a:srgbClr val="C2352F"/>
          </a:solidFill>
          <a:ln/>
        </p:spPr>
        <p:txBody>
          <a:bodyPr/>
          <a:p/>
        </p:txBody>
      </p:sp>
      <p:sp>
        <p:nvSpPr>
          <p:cNvPr id="110" name="Text 108"/>
          <p:cNvSpPr txBox="1"/>
          <p:nvPr/>
        </p:nvSpPr>
        <p:spPr>
          <a:xfrm>
            <a:off x="10305288" y="3526357"/>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65.1%</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13" name="Shape 111"/>
          <p:cNvSpPr/>
          <p:nvPr/>
        </p:nvSpPr>
        <p:spPr>
          <a:xfrm>
            <a:off x="8558784" y="3826226"/>
            <a:ext cx="743729" cy="119948"/>
          </a:xfrm>
          <a:prstGeom prst="rect">
            <a:avLst/>
          </a:prstGeom>
          <a:solidFill>
            <a:srgbClr val="C2352F"/>
          </a:solidFill>
          <a:ln/>
        </p:spPr>
        <p:txBody>
          <a:bodyPr/>
          <a:p/>
        </p:txBody>
      </p:sp>
      <p:sp>
        <p:nvSpPr>
          <p:cNvPr id="114" name="Text 112"/>
          <p:cNvSpPr txBox="1"/>
          <p:nvPr/>
        </p:nvSpPr>
        <p:spPr>
          <a:xfrm>
            <a:off x="10305288" y="3766252"/>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63.7%</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17" name="Shape 115"/>
          <p:cNvSpPr/>
          <p:nvPr/>
        </p:nvSpPr>
        <p:spPr>
          <a:xfrm>
            <a:off x="8558784" y="4066122"/>
            <a:ext cx="730224" cy="119948"/>
          </a:xfrm>
          <a:prstGeom prst="rect">
            <a:avLst/>
          </a:prstGeom>
          <a:solidFill>
            <a:srgbClr val="C2352F"/>
          </a:solidFill>
          <a:ln/>
        </p:spPr>
        <p:txBody>
          <a:bodyPr/>
          <a:p/>
        </p:txBody>
      </p:sp>
      <p:sp>
        <p:nvSpPr>
          <p:cNvPr id="118" name="Text 116"/>
          <p:cNvSpPr txBox="1"/>
          <p:nvPr/>
        </p:nvSpPr>
        <p:spPr>
          <a:xfrm>
            <a:off x="10305288" y="4006148"/>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63.1%</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21" name="Shape 119"/>
          <p:cNvSpPr/>
          <p:nvPr/>
        </p:nvSpPr>
        <p:spPr>
          <a:xfrm>
            <a:off x="8558784" y="4306017"/>
            <a:ext cx="698295" cy="119948"/>
          </a:xfrm>
          <a:prstGeom prst="rect">
            <a:avLst/>
          </a:prstGeom>
          <a:solidFill>
            <a:srgbClr val="C2352F"/>
          </a:solidFill>
          <a:ln/>
        </p:spPr>
        <p:txBody>
          <a:bodyPr/>
          <a:p/>
        </p:txBody>
      </p:sp>
      <p:sp>
        <p:nvSpPr>
          <p:cNvPr id="122" name="Text 120"/>
          <p:cNvSpPr txBox="1"/>
          <p:nvPr/>
        </p:nvSpPr>
        <p:spPr>
          <a:xfrm>
            <a:off x="10305288" y="4246043"/>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61.6%</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25" name="Shape 123"/>
          <p:cNvSpPr/>
          <p:nvPr/>
        </p:nvSpPr>
        <p:spPr>
          <a:xfrm>
            <a:off x="8558784" y="4545913"/>
            <a:ext cx="660247" cy="119948"/>
          </a:xfrm>
          <a:prstGeom prst="rect">
            <a:avLst/>
          </a:prstGeom>
          <a:solidFill>
            <a:srgbClr val="C2352F"/>
          </a:solidFill>
          <a:ln/>
        </p:spPr>
        <p:txBody>
          <a:bodyPr/>
          <a:p/>
        </p:txBody>
      </p:sp>
      <p:sp>
        <p:nvSpPr>
          <p:cNvPr id="126" name="Text 124"/>
          <p:cNvSpPr txBox="1"/>
          <p:nvPr/>
        </p:nvSpPr>
        <p:spPr>
          <a:xfrm>
            <a:off x="10305288" y="4485939"/>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59.9%</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29" name="Shape 127"/>
          <p:cNvSpPr/>
          <p:nvPr/>
        </p:nvSpPr>
        <p:spPr>
          <a:xfrm>
            <a:off x="8558784" y="4785808"/>
            <a:ext cx="601492" cy="119948"/>
          </a:xfrm>
          <a:prstGeom prst="rect">
            <a:avLst/>
          </a:prstGeom>
          <a:solidFill>
            <a:srgbClr val="C2352F"/>
          </a:solidFill>
          <a:ln/>
        </p:spPr>
        <p:txBody>
          <a:bodyPr/>
          <a:p/>
        </p:txBody>
      </p:sp>
      <p:sp>
        <p:nvSpPr>
          <p:cNvPr id="130" name="Text 128"/>
          <p:cNvSpPr txBox="1"/>
          <p:nvPr/>
        </p:nvSpPr>
        <p:spPr>
          <a:xfrm>
            <a:off x="10305288" y="4725834"/>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57.2%</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3" name="Shape 131"/>
          <p:cNvSpPr/>
          <p:nvPr/>
        </p:nvSpPr>
        <p:spPr>
          <a:xfrm>
            <a:off x="8558784" y="5025704"/>
            <a:ext cx="531644" cy="119948"/>
          </a:xfrm>
          <a:prstGeom prst="rect">
            <a:avLst/>
          </a:prstGeom>
          <a:solidFill>
            <a:srgbClr val="C2352F"/>
          </a:solidFill>
          <a:ln/>
        </p:spPr>
        <p:txBody>
          <a:bodyPr/>
          <a:p/>
        </p:txBody>
      </p:sp>
      <p:sp>
        <p:nvSpPr>
          <p:cNvPr id="134" name="Text 132"/>
          <p:cNvSpPr txBox="1"/>
          <p:nvPr/>
        </p:nvSpPr>
        <p:spPr>
          <a:xfrm>
            <a:off x="10305288" y="4965730"/>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54.1%</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37" name="Shape 135"/>
          <p:cNvSpPr/>
          <p:nvPr/>
        </p:nvSpPr>
        <p:spPr>
          <a:xfrm>
            <a:off x="8558784" y="5265599"/>
            <a:ext cx="471852" cy="119948"/>
          </a:xfrm>
          <a:prstGeom prst="rect">
            <a:avLst/>
          </a:prstGeom>
          <a:solidFill>
            <a:srgbClr val="C2352F"/>
          </a:solidFill>
          <a:ln/>
        </p:spPr>
        <p:txBody>
          <a:bodyPr/>
          <a:p/>
        </p:txBody>
      </p:sp>
      <p:sp>
        <p:nvSpPr>
          <p:cNvPr id="138" name="Text 136"/>
          <p:cNvSpPr txBox="1"/>
          <p:nvPr/>
        </p:nvSpPr>
        <p:spPr>
          <a:xfrm>
            <a:off x="10305288" y="5205625"/>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51.4%</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41" name="Shape 139"/>
          <p:cNvSpPr/>
          <p:nvPr/>
        </p:nvSpPr>
        <p:spPr>
          <a:xfrm>
            <a:off x="8558784" y="5505495"/>
            <a:ext cx="358005" cy="119948"/>
          </a:xfrm>
          <a:prstGeom prst="rect">
            <a:avLst/>
          </a:prstGeom>
          <a:solidFill>
            <a:srgbClr val="C2352F"/>
          </a:solidFill>
          <a:ln/>
        </p:spPr>
        <p:txBody>
          <a:bodyPr/>
          <a:p/>
        </p:txBody>
      </p:sp>
      <p:sp>
        <p:nvSpPr>
          <p:cNvPr id="142" name="Text 140"/>
          <p:cNvSpPr txBox="1"/>
          <p:nvPr/>
        </p:nvSpPr>
        <p:spPr>
          <a:xfrm>
            <a:off x="10305288" y="5445521"/>
            <a:ext cx="1143000" cy="239896"/>
          </a:xfrm>
          <a:prstGeom prst="rect">
            <a:avLst/>
          </a:prstGeom>
          <a:noFill/>
          <a:ln/>
        </p:spPr>
        <p:txBody>
          <a:bodyPr wrap="square" lIns="0" tIns="0" rIns="0" bIns="0" rtlCol="0" anchor="ctr"/>
          <a:lstStyle/>
          <a:p>
            <a:pPr algn="r" indent="0" marL="0">
              <a:buNone/>
            </a:pPr>
            <a:r>
              <a:rPr lang="en-US" sz="1200" dirty="0">
                <a:solidFill>
                  <a:srgbClr val="A82B26"/>
                </a:solidFill>
                <a:latin typeface="Inter" pitchFamily="34" charset="0"/>
                <a:ea typeface="Inter" pitchFamily="34" charset="-122"/>
                <a:cs typeface="Inter" pitchFamily="34" charset="-120"/>
              </a:rPr>
              <a:t>46.2%</a:t>
            </a:r>
            <a:endParaRPr lang="en-US" sz="1200" dirty="0"/>
          </a:p>
        </p:txBody>
      </p:sp>
      <p:sp>
        <p:nvSpPr>
          <p:cNvPr id="143" name="Shape 141"/>
          <p:cNvSpPr/>
          <p:nvPr/>
        </p:nvSpPr>
        <p:spPr>
          <a:xfrm>
            <a:off x="4059032" y="1847088"/>
            <a:ext cx="14630" cy="4078224"/>
          </a:xfrm>
          <a:prstGeom prst="rect">
            <a:avLst/>
          </a:prstGeom>
          <a:solidFill>
            <a:srgbClr val="0B2C4A"/>
          </a:solidFill>
          <a:ln/>
        </p:spPr>
        <p:txBody>
          <a:bodyPr/>
          <a:p/>
        </p:txBody>
      </p:sp>
      <p:sp>
        <p:nvSpPr>
          <p:cNvPr id="144" name="Shape 142"/>
          <p:cNvSpPr/>
          <p:nvPr/>
        </p:nvSpPr>
        <p:spPr>
          <a:xfrm>
            <a:off x="9609440" y="1847088"/>
            <a:ext cx="14630" cy="4078224"/>
          </a:xfrm>
          <a:prstGeom prst="rect">
            <a:avLst/>
          </a:prstGeom>
          <a:solidFill>
            <a:srgbClr val="0B2C4A"/>
          </a:solidFill>
          <a:ln/>
        </p:spPr>
        <p:txBody>
          <a:bodyPr/>
          <a:p/>
        </p:txBody>
      </p:sp>
      <p:sp>
        <p:nvSpPr>
          <p:cNvPr id="145" name="Shape 143"/>
          <p:cNvSpPr/>
          <p:nvPr/>
        </p:nvSpPr>
        <p:spPr>
          <a:xfrm>
            <a:off x="6085332" y="1847088"/>
            <a:ext cx="10973" cy="4078224"/>
          </a:xfrm>
          <a:prstGeom prst="rect">
            <a:avLst/>
          </a:prstGeom>
          <a:solidFill>
            <a:srgbClr val="D9D9D9"/>
          </a:solidFill>
          <a:ln/>
        </p:spPr>
        <p:txBody>
          <a:bodyPr/>
          <a:p/>
        </p:txBody>
      </p:sp>
      <p:sp>
        <p:nvSpPr>
          <p:cNvPr id="147" name="Shape 144"/>
          <p:cNvSpPr/>
          <p:nvPr/>
        </p:nvSpPr>
        <p:spPr>
          <a:xfrm>
            <a:off x="457200" y="6126480"/>
            <a:ext cx="11274552" cy="371856"/>
          </a:xfrm>
          <a:prstGeom prst="rect">
            <a:avLst/>
          </a:prstGeom>
          <a:solidFill>
            <a:srgbClr val="EDF4FA"/>
          </a:solidFill>
          <a:ln/>
        </p:spPr>
        <p:txBody>
          <a:bodyPr/>
          <a:p/>
        </p:txBody>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15 of 33 stores at or above the 77.9% group.</a:t>
            </a:r>
            <a:endParaRPr lang="en-US" sz="16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4782312"/>
          </a:xfrm>
          <a:prstGeom prst="rect">
            <a:avLst/>
          </a:prstGeom>
          <a:solidFill>
            <a:srgbClr val="FFFFFF"/>
          </a:solidFill>
          <a:ln/>
        </p:spPr>
        <p:txBody>
          <a:bodyPr/>
          <a:p/>
        </p:txBody>
      </p:sp>
      <p:sp>
        <p:nvSpPr>
          <p:cNvPr id="6" name="Shape 4"/>
          <p:cNvSpPr/>
          <p:nvPr/>
        </p:nvSpPr>
        <p:spPr>
          <a:xfrm>
            <a:off x="658368" y="1335024"/>
            <a:ext cx="10872216" cy="420624"/>
          </a:xfrm>
          <a:prstGeom prst="rect">
            <a:avLst/>
          </a:prstGeom>
          <a:solidFill>
            <a:srgbClr val="EDF4FA"/>
          </a:solidFill>
          <a:ln/>
        </p:spPr>
        <p:txBody>
          <a:bodyPr/>
          <a:p/>
        </p:txBody>
      </p:sp>
      <p:sp>
        <p:nvSpPr>
          <p:cNvPr id="7" name="Shape 5"/>
          <p:cNvSpPr/>
          <p:nvPr/>
        </p:nvSpPr>
        <p:spPr>
          <a:xfrm>
            <a:off x="658368" y="1335024"/>
            <a:ext cx="59436" cy="420624"/>
          </a:xfrm>
          <a:prstGeom prst="rect">
            <a:avLst/>
          </a:prstGeom>
          <a:solidFill>
            <a:srgbClr val="0B2C4A"/>
          </a:solidFill>
          <a:ln/>
        </p:spPr>
        <p:txBody>
          <a:bodyPr/>
          <a:p/>
        </p:txBody>
      </p:sp>
      <p:sp>
        <p:nvSpPr>
          <p:cNvPr id="8" name="Text 6"/>
          <p:cNvSpPr txBox="1"/>
          <p:nvPr/>
        </p:nvSpPr>
        <p:spPr>
          <a:xfrm>
            <a:off x="859536" y="1335024"/>
            <a:ext cx="27355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FIXED OPS ABSORPTION %</a:t>
            </a:r>
            <a:endParaRPr lang="en-US" sz="1500" dirty="0"/>
          </a:p>
        </p:txBody>
      </p:sp>
      <p:sp>
        <p:nvSpPr>
          <p:cNvPr id="9" name="Text 7"/>
          <p:cNvSpPr txBox="1"/>
          <p:nvPr/>
        </p:nvSpPr>
        <p:spPr>
          <a:xfrm>
            <a:off x="3649980" y="1335024"/>
            <a:ext cx="439674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+2.1 pts</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3" name="Shape 11"/>
          <p:cNvSpPr/>
          <p:nvPr/>
        </p:nvSpPr>
        <p:spPr>
          <a:xfrm>
            <a:off x="3785616" y="1911860"/>
            <a:ext cx="719170" cy="110352"/>
          </a:xfrm>
          <a:prstGeom prst="rect">
            <a:avLst/>
          </a:prstGeom>
          <a:solidFill>
            <a:srgbClr val="12A566"/>
          </a:solidFill>
          <a:ln/>
        </p:spPr>
        <p:txBody>
          <a:bodyPr/>
          <a:p/>
        </p:txBody>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+16.1 pts</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7" name="Shape 15"/>
          <p:cNvSpPr/>
          <p:nvPr/>
        </p:nvSpPr>
        <p:spPr>
          <a:xfrm>
            <a:off x="3785616" y="2151755"/>
            <a:ext cx="428822" cy="110352"/>
          </a:xfrm>
          <a:prstGeom prst="rect">
            <a:avLst/>
          </a:prstGeom>
          <a:solidFill>
            <a:srgbClr val="12A566"/>
          </a:solidFill>
          <a:ln/>
        </p:spPr>
        <p:txBody>
          <a:bodyPr/>
          <a:p/>
        </p:txBody>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+9.6 pts</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1" name="Shape 19"/>
          <p:cNvSpPr/>
          <p:nvPr/>
        </p:nvSpPr>
        <p:spPr>
          <a:xfrm>
            <a:off x="3785616" y="2391651"/>
            <a:ext cx="424355" cy="110352"/>
          </a:xfrm>
          <a:prstGeom prst="rect">
            <a:avLst/>
          </a:prstGeom>
          <a:solidFill>
            <a:srgbClr val="12A566"/>
          </a:solidFill>
          <a:ln/>
        </p:spPr>
        <p:txBody>
          <a:bodyPr/>
          <a:p/>
        </p:txBody>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+9.5 pts</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25" name="Shape 23"/>
          <p:cNvSpPr/>
          <p:nvPr/>
        </p:nvSpPr>
        <p:spPr>
          <a:xfrm>
            <a:off x="3785616" y="2631546"/>
            <a:ext cx="250146" cy="110352"/>
          </a:xfrm>
          <a:prstGeom prst="rect">
            <a:avLst/>
          </a:prstGeom>
          <a:solidFill>
            <a:srgbClr val="12A566"/>
          </a:solidFill>
          <a:ln/>
        </p:spPr>
        <p:txBody>
          <a:bodyPr/>
          <a:p/>
        </p:txBody>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+5.6 pts</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29" name="Shape 27"/>
          <p:cNvSpPr/>
          <p:nvPr/>
        </p:nvSpPr>
        <p:spPr>
          <a:xfrm>
            <a:off x="3785616" y="2871442"/>
            <a:ext cx="245679" cy="110352"/>
          </a:xfrm>
          <a:prstGeom prst="rect">
            <a:avLst/>
          </a:prstGeom>
          <a:solidFill>
            <a:srgbClr val="12A566"/>
          </a:solidFill>
          <a:ln/>
        </p:spPr>
        <p:txBody>
          <a:bodyPr/>
          <a:p/>
        </p:txBody>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+5.5 pts</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33" name="Shape 31"/>
          <p:cNvSpPr/>
          <p:nvPr/>
        </p:nvSpPr>
        <p:spPr>
          <a:xfrm>
            <a:off x="3785616" y="3111337"/>
            <a:ext cx="236746" cy="110352"/>
          </a:xfrm>
          <a:prstGeom prst="rect">
            <a:avLst/>
          </a:prstGeom>
          <a:solidFill>
            <a:srgbClr val="12A566"/>
          </a:solidFill>
          <a:ln/>
        </p:spPr>
        <p:txBody>
          <a:bodyPr/>
          <a:p/>
        </p:txBody>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+5.3 pts</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37" name="Shape 35"/>
          <p:cNvSpPr/>
          <p:nvPr/>
        </p:nvSpPr>
        <p:spPr>
          <a:xfrm>
            <a:off x="3785616" y="3351233"/>
            <a:ext cx="232279" cy="110352"/>
          </a:xfrm>
          <a:prstGeom prst="rect">
            <a:avLst/>
          </a:prstGeom>
          <a:solidFill>
            <a:srgbClr val="12A566"/>
          </a:solidFill>
          <a:ln/>
        </p:spPr>
        <p:txBody>
          <a:bodyPr/>
          <a:p/>
        </p:txBody>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+5.2 pts</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41" name="Shape 39"/>
          <p:cNvSpPr/>
          <p:nvPr/>
        </p:nvSpPr>
        <p:spPr>
          <a:xfrm>
            <a:off x="3785616" y="3591128"/>
            <a:ext cx="232279" cy="110352"/>
          </a:xfrm>
          <a:prstGeom prst="rect">
            <a:avLst/>
          </a:prstGeom>
          <a:solidFill>
            <a:srgbClr val="12A566"/>
          </a:solidFill>
          <a:ln/>
        </p:spPr>
        <p:txBody>
          <a:bodyPr/>
          <a:p/>
        </p:txBody>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+5.2 pts</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45" name="Shape 43"/>
          <p:cNvSpPr/>
          <p:nvPr/>
        </p:nvSpPr>
        <p:spPr>
          <a:xfrm>
            <a:off x="3785616" y="3831024"/>
            <a:ext cx="227812" cy="110352"/>
          </a:xfrm>
          <a:prstGeom prst="rect">
            <a:avLst/>
          </a:prstGeom>
          <a:solidFill>
            <a:srgbClr val="12A566"/>
          </a:solidFill>
          <a:ln/>
        </p:spPr>
        <p:txBody>
          <a:bodyPr/>
          <a:p/>
        </p:txBody>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+5.1 pts</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49" name="Shape 47"/>
          <p:cNvSpPr/>
          <p:nvPr/>
        </p:nvSpPr>
        <p:spPr>
          <a:xfrm>
            <a:off x="3785616" y="4070920"/>
            <a:ext cx="223345" cy="110352"/>
          </a:xfrm>
          <a:prstGeom prst="rect">
            <a:avLst/>
          </a:prstGeom>
          <a:solidFill>
            <a:srgbClr val="12A566"/>
          </a:solidFill>
          <a:ln/>
        </p:spPr>
        <p:txBody>
          <a:bodyPr/>
          <a:p/>
        </p:txBody>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+5.0 pts</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53" name="Shape 51"/>
          <p:cNvSpPr/>
          <p:nvPr/>
        </p:nvSpPr>
        <p:spPr>
          <a:xfrm>
            <a:off x="3785616" y="4310815"/>
            <a:ext cx="218878" cy="110352"/>
          </a:xfrm>
          <a:prstGeom prst="rect">
            <a:avLst/>
          </a:prstGeom>
          <a:solidFill>
            <a:srgbClr val="12A566"/>
          </a:solidFill>
          <a:ln/>
        </p:spPr>
        <p:txBody>
          <a:bodyPr/>
          <a:p/>
        </p:txBody>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+4.9 pts</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57" name="Shape 55"/>
          <p:cNvSpPr/>
          <p:nvPr/>
        </p:nvSpPr>
        <p:spPr>
          <a:xfrm>
            <a:off x="3785616" y="4550711"/>
            <a:ext cx="214411" cy="110352"/>
          </a:xfrm>
          <a:prstGeom prst="rect">
            <a:avLst/>
          </a:prstGeom>
          <a:solidFill>
            <a:srgbClr val="12A566"/>
          </a:solidFill>
          <a:ln/>
        </p:spPr>
        <p:txBody>
          <a:bodyPr/>
          <a:p/>
        </p:txBody>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+4.8 pts</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61" name="Shape 59"/>
          <p:cNvSpPr/>
          <p:nvPr/>
        </p:nvSpPr>
        <p:spPr>
          <a:xfrm>
            <a:off x="3785616" y="4790606"/>
            <a:ext cx="178676" cy="110352"/>
          </a:xfrm>
          <a:prstGeom prst="rect">
            <a:avLst/>
          </a:prstGeom>
          <a:solidFill>
            <a:srgbClr val="12A566"/>
          </a:solidFill>
          <a:ln/>
        </p:spPr>
        <p:txBody>
          <a:bodyPr/>
          <a:p/>
        </p:txBody>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+4.0 pts</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65" name="Shape 63"/>
          <p:cNvSpPr/>
          <p:nvPr/>
        </p:nvSpPr>
        <p:spPr>
          <a:xfrm>
            <a:off x="3785616" y="5030502"/>
            <a:ext cx="174209" cy="110352"/>
          </a:xfrm>
          <a:prstGeom prst="rect">
            <a:avLst/>
          </a:prstGeom>
          <a:solidFill>
            <a:srgbClr val="12A566"/>
          </a:solidFill>
          <a:ln/>
        </p:spPr>
        <p:txBody>
          <a:bodyPr/>
          <a:p/>
        </p:txBody>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+3.9 pts</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69" name="Shape 67"/>
          <p:cNvSpPr/>
          <p:nvPr/>
        </p:nvSpPr>
        <p:spPr>
          <a:xfrm>
            <a:off x="3785616" y="5270397"/>
            <a:ext cx="174209" cy="110352"/>
          </a:xfrm>
          <a:prstGeom prst="rect">
            <a:avLst/>
          </a:prstGeom>
          <a:solidFill>
            <a:srgbClr val="12A566"/>
          </a:solidFill>
          <a:ln/>
        </p:spPr>
        <p:txBody>
          <a:bodyPr/>
          <a:p/>
        </p:txBody>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+3.9 pts</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73" name="Shape 71"/>
          <p:cNvSpPr/>
          <p:nvPr/>
        </p:nvSpPr>
        <p:spPr>
          <a:xfrm>
            <a:off x="3785616" y="5510293"/>
            <a:ext cx="147408" cy="110352"/>
          </a:xfrm>
          <a:prstGeom prst="rect">
            <a:avLst/>
          </a:prstGeom>
          <a:solidFill>
            <a:srgbClr val="12A566"/>
          </a:solidFill>
          <a:ln/>
        </p:spPr>
        <p:txBody>
          <a:bodyPr/>
          <a:p/>
        </p:txBody>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 pts</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77" name="Shape 75"/>
          <p:cNvSpPr/>
          <p:nvPr/>
        </p:nvSpPr>
        <p:spPr>
          <a:xfrm>
            <a:off x="3785616" y="5750188"/>
            <a:ext cx="142941" cy="110352"/>
          </a:xfrm>
          <a:prstGeom prst="rect">
            <a:avLst/>
          </a:prstGeom>
          <a:solidFill>
            <a:srgbClr val="12A566"/>
          </a:solidFill>
          <a:ln/>
        </p:spPr>
        <p:txBody>
          <a:bodyPr/>
          <a:p/>
        </p:txBody>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+3.2 pts</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81" name="Shape 79"/>
          <p:cNvSpPr/>
          <p:nvPr/>
        </p:nvSpPr>
        <p:spPr>
          <a:xfrm>
            <a:off x="9336024" y="1911860"/>
            <a:ext cx="111672" cy="110352"/>
          </a:xfrm>
          <a:prstGeom prst="rect">
            <a:avLst/>
          </a:prstGeom>
          <a:solidFill>
            <a:srgbClr val="12A566"/>
          </a:solidFill>
          <a:ln/>
        </p:spPr>
        <p:txBody>
          <a:bodyPr/>
          <a:p/>
        </p:txBody>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+2.5 pts</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85" name="Shape 83"/>
          <p:cNvSpPr/>
          <p:nvPr/>
        </p:nvSpPr>
        <p:spPr>
          <a:xfrm>
            <a:off x="9336024" y="2151755"/>
            <a:ext cx="75937" cy="110352"/>
          </a:xfrm>
          <a:prstGeom prst="rect">
            <a:avLst/>
          </a:prstGeom>
          <a:solidFill>
            <a:srgbClr val="12A566"/>
          </a:solidFill>
          <a:ln/>
        </p:spPr>
        <p:txBody>
          <a:bodyPr/>
          <a:p/>
        </p:txBody>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+1.7 pts</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89" name="Shape 87"/>
          <p:cNvSpPr/>
          <p:nvPr/>
        </p:nvSpPr>
        <p:spPr>
          <a:xfrm>
            <a:off x="9336024" y="2391651"/>
            <a:ext cx="71470" cy="110352"/>
          </a:xfrm>
          <a:prstGeom prst="rect">
            <a:avLst/>
          </a:prstGeom>
          <a:solidFill>
            <a:srgbClr val="12A566"/>
          </a:solidFill>
          <a:ln/>
        </p:spPr>
        <p:txBody>
          <a:bodyPr/>
          <a:p/>
        </p:txBody>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+1.6 pts</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93" name="Shape 91"/>
          <p:cNvSpPr/>
          <p:nvPr/>
        </p:nvSpPr>
        <p:spPr>
          <a:xfrm>
            <a:off x="9336024" y="2631546"/>
            <a:ext cx="26801" cy="110352"/>
          </a:xfrm>
          <a:prstGeom prst="rect">
            <a:avLst/>
          </a:prstGeom>
          <a:solidFill>
            <a:srgbClr val="12A566"/>
          </a:solidFill>
          <a:ln/>
        </p:spPr>
        <p:txBody>
          <a:bodyPr/>
          <a:p/>
        </p:txBody>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+0.6 pts</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97" name="Shape 95"/>
          <p:cNvSpPr/>
          <p:nvPr/>
        </p:nvSpPr>
        <p:spPr>
          <a:xfrm>
            <a:off x="9336024" y="2871442"/>
            <a:ext cx="13401" cy="110352"/>
          </a:xfrm>
          <a:prstGeom prst="rect">
            <a:avLst/>
          </a:prstGeom>
          <a:solidFill>
            <a:srgbClr val="12A566"/>
          </a:solidFill>
          <a:ln/>
        </p:spPr>
        <p:txBody>
          <a:bodyPr/>
          <a:p/>
        </p:txBody>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+0.3 pts</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01" name="Shape 99"/>
          <p:cNvSpPr/>
          <p:nvPr/>
        </p:nvSpPr>
        <p:spPr>
          <a:xfrm>
            <a:off x="9336024" y="3111337"/>
            <a:ext cx="12802" cy="110352"/>
          </a:xfrm>
          <a:prstGeom prst="rect">
            <a:avLst/>
          </a:prstGeom>
          <a:solidFill>
            <a:srgbClr val="12A566"/>
          </a:solidFill>
          <a:ln/>
        </p:spPr>
        <p:txBody>
          <a:bodyPr/>
          <a:p/>
        </p:txBody>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+0.1 pts</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05" name="Shape 103"/>
          <p:cNvSpPr/>
          <p:nvPr/>
        </p:nvSpPr>
        <p:spPr>
          <a:xfrm>
            <a:off x="9331557" y="3351233"/>
            <a:ext cx="12802" cy="110352"/>
          </a:xfrm>
          <a:prstGeom prst="rect">
            <a:avLst/>
          </a:prstGeom>
          <a:solidFill>
            <a:srgbClr val="C2352F"/>
          </a:solidFill>
          <a:ln/>
        </p:spPr>
        <p:txBody>
          <a:bodyPr/>
          <a:p/>
        </p:txBody>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−0.1 pts</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9" name="Shape 107"/>
          <p:cNvSpPr/>
          <p:nvPr/>
        </p:nvSpPr>
        <p:spPr>
          <a:xfrm>
            <a:off x="9331557" y="3591128"/>
            <a:ext cx="12802" cy="110352"/>
          </a:xfrm>
          <a:prstGeom prst="rect">
            <a:avLst/>
          </a:prstGeom>
          <a:solidFill>
            <a:srgbClr val="C2352F"/>
          </a:solidFill>
          <a:ln/>
        </p:spPr>
        <p:txBody>
          <a:bodyPr/>
          <a:p/>
        </p:txBody>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−0.1 pts</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13" name="Shape 111"/>
          <p:cNvSpPr/>
          <p:nvPr/>
        </p:nvSpPr>
        <p:spPr>
          <a:xfrm>
            <a:off x="9327090" y="3831024"/>
            <a:ext cx="12802" cy="110352"/>
          </a:xfrm>
          <a:prstGeom prst="rect">
            <a:avLst/>
          </a:prstGeom>
          <a:solidFill>
            <a:srgbClr val="C2352F"/>
          </a:solidFill>
          <a:ln/>
        </p:spPr>
        <p:txBody>
          <a:bodyPr/>
          <a:p/>
        </p:txBody>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−0.2 pts</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17" name="Shape 115"/>
          <p:cNvSpPr/>
          <p:nvPr/>
        </p:nvSpPr>
        <p:spPr>
          <a:xfrm>
            <a:off x="9286888" y="4070920"/>
            <a:ext cx="49136" cy="110352"/>
          </a:xfrm>
          <a:prstGeom prst="rect">
            <a:avLst/>
          </a:prstGeom>
          <a:solidFill>
            <a:srgbClr val="C2352F"/>
          </a:solidFill>
          <a:ln/>
        </p:spPr>
        <p:txBody>
          <a:bodyPr/>
          <a:p/>
        </p:txBody>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−1.1 pts</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21" name="Shape 119"/>
          <p:cNvSpPr/>
          <p:nvPr/>
        </p:nvSpPr>
        <p:spPr>
          <a:xfrm>
            <a:off x="9286888" y="4310815"/>
            <a:ext cx="49136" cy="110352"/>
          </a:xfrm>
          <a:prstGeom prst="rect">
            <a:avLst/>
          </a:prstGeom>
          <a:solidFill>
            <a:srgbClr val="C2352F"/>
          </a:solidFill>
          <a:ln/>
        </p:spPr>
        <p:txBody>
          <a:bodyPr/>
          <a:p/>
        </p:txBody>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−1.1 pts</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25" name="Shape 123"/>
          <p:cNvSpPr/>
          <p:nvPr/>
        </p:nvSpPr>
        <p:spPr>
          <a:xfrm>
            <a:off x="9233285" y="4550711"/>
            <a:ext cx="102739" cy="110352"/>
          </a:xfrm>
          <a:prstGeom prst="rect">
            <a:avLst/>
          </a:prstGeom>
          <a:solidFill>
            <a:srgbClr val="C2352F"/>
          </a:solidFill>
          <a:ln/>
        </p:spPr>
        <p:txBody>
          <a:bodyPr/>
          <a:p/>
        </p:txBody>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−2.3 pts</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29" name="Shape 127"/>
          <p:cNvSpPr/>
          <p:nvPr/>
        </p:nvSpPr>
        <p:spPr>
          <a:xfrm>
            <a:off x="9063543" y="4790606"/>
            <a:ext cx="272481" cy="110352"/>
          </a:xfrm>
          <a:prstGeom prst="rect">
            <a:avLst/>
          </a:prstGeom>
          <a:solidFill>
            <a:srgbClr val="C2352F"/>
          </a:solidFill>
          <a:ln/>
        </p:spPr>
        <p:txBody>
          <a:bodyPr/>
          <a:p/>
        </p:txBody>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−6.1 pts</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33" name="Shape 131"/>
          <p:cNvSpPr/>
          <p:nvPr/>
        </p:nvSpPr>
        <p:spPr>
          <a:xfrm>
            <a:off x="8902735" y="5030502"/>
            <a:ext cx="433289" cy="110352"/>
          </a:xfrm>
          <a:prstGeom prst="rect">
            <a:avLst/>
          </a:prstGeom>
          <a:solidFill>
            <a:srgbClr val="C2352F"/>
          </a:solidFill>
          <a:ln/>
        </p:spPr>
        <p:txBody>
          <a:bodyPr/>
          <a:p/>
        </p:txBody>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−9.7 pts</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37" name="Shape 135"/>
          <p:cNvSpPr/>
          <p:nvPr/>
        </p:nvSpPr>
        <p:spPr>
          <a:xfrm>
            <a:off x="8884867" y="5270397"/>
            <a:ext cx="451157" cy="110352"/>
          </a:xfrm>
          <a:prstGeom prst="rect">
            <a:avLst/>
          </a:prstGeom>
          <a:solidFill>
            <a:srgbClr val="C2352F"/>
          </a:solidFill>
          <a:ln/>
        </p:spPr>
        <p:txBody>
          <a:bodyPr/>
          <a:p/>
        </p:txBody>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−10.1 pts</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1" name="Shape 139"/>
          <p:cNvSpPr/>
          <p:nvPr/>
        </p:nvSpPr>
        <p:spPr>
          <a:xfrm>
            <a:off x="8558784" y="5510293"/>
            <a:ext cx="777240" cy="110352"/>
          </a:xfrm>
          <a:prstGeom prst="rect">
            <a:avLst/>
          </a:prstGeom>
          <a:solidFill>
            <a:srgbClr val="C2352F"/>
          </a:solidFill>
          <a:ln/>
        </p:spPr>
        <p:txBody>
          <a:bodyPr/>
          <a:p/>
        </p:txBody>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−17.4 pts</a:t>
            </a:r>
            <a:endParaRPr lang="en-US" sz="1200" dirty="0"/>
          </a:p>
        </p:txBody>
      </p:sp>
      <p:sp>
        <p:nvSpPr>
          <p:cNvPr id="143" name="Shape 141"/>
          <p:cNvSpPr/>
          <p:nvPr/>
        </p:nvSpPr>
        <p:spPr>
          <a:xfrm>
            <a:off x="3780130" y="1847088"/>
            <a:ext cx="10973" cy="4078224"/>
          </a:xfrm>
          <a:prstGeom prst="rect">
            <a:avLst/>
          </a:prstGeom>
          <a:solidFill>
            <a:srgbClr val="9AA3AD"/>
          </a:solidFill>
          <a:ln/>
        </p:spPr>
        <p:txBody>
          <a:bodyPr/>
          <a:p/>
        </p:txBody>
      </p:sp>
      <p:sp>
        <p:nvSpPr>
          <p:cNvPr id="144" name="Shape 142"/>
          <p:cNvSpPr/>
          <p:nvPr/>
        </p:nvSpPr>
        <p:spPr>
          <a:xfrm>
            <a:off x="9330538" y="1847088"/>
            <a:ext cx="10973" cy="4078224"/>
          </a:xfrm>
          <a:prstGeom prst="rect">
            <a:avLst/>
          </a:prstGeom>
          <a:solidFill>
            <a:srgbClr val="9AA3AD"/>
          </a:solidFill>
          <a:ln/>
        </p:spPr>
        <p:txBody>
          <a:bodyPr/>
          <a:p/>
        </p:txBody>
      </p:sp>
      <p:sp>
        <p:nvSpPr>
          <p:cNvPr id="145" name="Shape 143"/>
          <p:cNvSpPr/>
          <p:nvPr/>
        </p:nvSpPr>
        <p:spPr>
          <a:xfrm>
            <a:off x="6085332" y="1847088"/>
            <a:ext cx="10973" cy="4078224"/>
          </a:xfrm>
          <a:prstGeom prst="rect">
            <a:avLst/>
          </a:prstGeom>
          <a:solidFill>
            <a:srgbClr val="D9D9D9"/>
          </a:solidFill>
          <a:ln/>
        </p:spPr>
        <p:txBody>
          <a:bodyPr/>
          <a:p/>
        </p:txBody>
      </p:sp>
      <p:sp>
        <p:nvSpPr>
          <p:cNvPr id="147" name="Shape 144"/>
          <p:cNvSpPr/>
          <p:nvPr/>
        </p:nvSpPr>
        <p:spPr>
          <a:xfrm>
            <a:off x="457200" y="6126480"/>
            <a:ext cx="11274552" cy="371856"/>
          </a:xfrm>
          <a:prstGeom prst="rect">
            <a:avLst/>
          </a:prstGeom>
          <a:solidFill>
            <a:srgbClr val="E6F6EE"/>
          </a:solidFill>
          <a:ln/>
        </p:spPr>
        <p:txBody>
          <a:bodyPr/>
          <a:p/>
        </p:txBody>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23 of 33 stores raised absorption. 10 declined.</a:t>
            </a:r>
            <a:endParaRPr lang="en-US" sz="16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43.8%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59.9%</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+16.1 pts</a:t>
            </a:r>
            <a:endParaRPr lang="en-US" sz="1600" dirty="0"/>
          </a:p>
        </p:txBody>
      </p:sp>
      <p:sp>
        <p:nvSpPr>
          <p:cNvPr id="13" name="Text 11"/>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86.1%</a:t>
            </a:r>
            <a:endParaRPr lang="en-US" sz="1400" dirty="0"/>
          </a:p>
        </p:txBody>
      </p:sp>
      <p:sp>
        <p:nvSpPr>
          <p:cNvPr id="15" name="Text 13"/>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+9.6 pts</a:t>
            </a:r>
            <a:endParaRPr lang="en-US" sz="1600" dirty="0"/>
          </a:p>
        </p:txBody>
      </p:sp>
      <p:sp>
        <p:nvSpPr>
          <p:cNvPr id="16" name="Shape 14"/>
          <p:cNvSpPr/>
          <p:nvPr/>
        </p:nvSpPr>
        <p:spPr>
          <a:xfrm>
            <a:off x="658368" y="3760013"/>
            <a:ext cx="3489960" cy="828446"/>
          </a:xfrm>
          <a:prstGeom prst="rect">
            <a:avLst/>
          </a:prstGeom>
          <a:solidFill>
            <a:srgbClr val="F7F7F7"/>
          </a:solidFill>
          <a:ln/>
        </p:spPr>
        <p:txBody>
          <a:bodyPr/>
          <a:p/>
        </p:txBody>
      </p:sp>
      <p:sp>
        <p:nvSpPr>
          <p:cNvPr id="17" name="Shape 15"/>
          <p:cNvSpPr/>
          <p:nvPr/>
        </p:nvSpPr>
        <p:spPr>
          <a:xfrm>
            <a:off x="4084320" y="3796589"/>
            <a:ext cx="64008" cy="755294"/>
          </a:xfrm>
          <a:prstGeom prst="rect">
            <a:avLst/>
          </a:prstGeom>
          <a:solidFill>
            <a:srgbClr val="12A566"/>
          </a:solidFill>
          <a:ln/>
        </p:spPr>
        <p:txBody>
          <a:bodyPr/>
          <a:p/>
        </p:txBody>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77.3%</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+9.5 pts</a:t>
            </a:r>
            <a:endParaRPr lang="en-US" sz="1600" dirty="0"/>
          </a:p>
        </p:txBody>
      </p:sp>
      <p:sp>
        <p:nvSpPr>
          <p:cNvPr id="21" name="Text 19"/>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78.4%</a:t>
            </a:r>
            <a:endParaRPr lang="en-US" sz="1400" dirty="0"/>
          </a:p>
        </p:txBody>
      </p:sp>
      <p:sp>
        <p:nvSpPr>
          <p:cNvPr id="23" name="Text 21"/>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+5.6 pts</a:t>
            </a:r>
            <a:endParaRPr lang="en-US" sz="1600" dirty="0"/>
          </a:p>
        </p:txBody>
      </p:sp>
      <p:sp>
        <p:nvSpPr>
          <p:cNvPr id="24" name="Shape 22"/>
          <p:cNvSpPr/>
          <p:nvPr/>
        </p:nvSpPr>
        <p:spPr>
          <a:xfrm>
            <a:off x="658368" y="5416906"/>
            <a:ext cx="3489960" cy="828446"/>
          </a:xfrm>
          <a:prstGeom prst="rect">
            <a:avLst/>
          </a:prstGeom>
          <a:solidFill>
            <a:srgbClr val="F7F7F7"/>
          </a:solidFill>
          <a:ln/>
        </p:spPr>
        <p:txBody>
          <a:bodyPr/>
          <a:p/>
        </p:txBody>
      </p:sp>
      <p:sp>
        <p:nvSpPr>
          <p:cNvPr id="25" name="Text 23"/>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56.1%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61.6%</a:t>
            </a:r>
            <a:endParaRPr lang="en-US" sz="1400" dirty="0"/>
          </a:p>
        </p:txBody>
      </p:sp>
      <p:sp>
        <p:nvSpPr>
          <p:cNvPr id="27" name="Text 25"/>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+5.5 pts</a:t>
            </a:r>
            <a:endParaRPr lang="en-US" sz="1600" dirty="0"/>
          </a:p>
        </p:txBody>
      </p:sp>
      <p:sp>
        <p:nvSpPr>
          <p:cNvPr id="28" name="Shape 26"/>
          <p:cNvSpPr/>
          <p:nvPr/>
        </p:nvSpPr>
        <p:spPr>
          <a:xfrm>
            <a:off x="4349496" y="1371600"/>
            <a:ext cx="3489960" cy="45720"/>
          </a:xfrm>
          <a:prstGeom prst="rect">
            <a:avLst/>
          </a:prstGeom>
          <a:solidFill>
            <a:srgbClr val="C2352F"/>
          </a:solidFill>
          <a:ln/>
        </p:spPr>
        <p:txBody>
          <a:bodyPr/>
          <a:p/>
        </p:txBody>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1" name="Shape 29"/>
          <p:cNvSpPr/>
          <p:nvPr/>
        </p:nvSpPr>
        <p:spPr>
          <a:xfrm>
            <a:off x="4349496" y="2103120"/>
            <a:ext cx="3489960" cy="828446"/>
          </a:xfrm>
          <a:prstGeom prst="rect">
            <a:avLst/>
          </a:prstGeom>
          <a:solidFill>
            <a:srgbClr val="F7F7F7"/>
          </a:solidFill>
          <a:ln/>
        </p:spPr>
        <p:txBody>
          <a:bodyPr/>
          <a:p/>
        </p:txBody>
      </p:sp>
      <p:sp>
        <p:nvSpPr>
          <p:cNvPr id="32" name="Text 30"/>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54.1%</a:t>
            </a:r>
            <a:endParaRPr lang="en-US" sz="1400" dirty="0"/>
          </a:p>
        </p:txBody>
      </p:sp>
      <p:sp>
        <p:nvSpPr>
          <p:cNvPr id="34" name="Text 32"/>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−17.4 pts</a:t>
            </a:r>
            <a:endParaRPr lang="en-US" sz="1600" dirty="0"/>
          </a:p>
        </p:txBody>
      </p:sp>
      <p:sp>
        <p:nvSpPr>
          <p:cNvPr id="35" name="Shape 33"/>
          <p:cNvSpPr/>
          <p:nvPr/>
        </p:nvSpPr>
        <p:spPr>
          <a:xfrm>
            <a:off x="7775448" y="2968142"/>
            <a:ext cx="64008" cy="755294"/>
          </a:xfrm>
          <a:prstGeom prst="rect">
            <a:avLst/>
          </a:prstGeom>
          <a:solidFill>
            <a:srgbClr val="2587C5"/>
          </a:solidFill>
          <a:ln/>
        </p:spPr>
        <p:txBody>
          <a:bodyPr/>
          <a:p/>
        </p:txBody>
      </p:sp>
      <p:sp>
        <p:nvSpPr>
          <p:cNvPr id="36" name="Text 34"/>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7" name="Text 35"/>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75.9%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65.8%</a:t>
            </a:r>
            <a:endParaRPr lang="en-US" sz="1400" dirty="0"/>
          </a:p>
        </p:txBody>
      </p:sp>
      <p:sp>
        <p:nvSpPr>
          <p:cNvPr id="38" name="Text 36"/>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−10.1 pts</a:t>
            </a:r>
            <a:endParaRPr lang="en-US" sz="1600" dirty="0"/>
          </a:p>
        </p:txBody>
      </p:sp>
      <p:sp>
        <p:nvSpPr>
          <p:cNvPr id="39" name="Shape 37"/>
          <p:cNvSpPr/>
          <p:nvPr/>
        </p:nvSpPr>
        <p:spPr>
          <a:xfrm>
            <a:off x="4349496" y="3760013"/>
            <a:ext cx="3489960" cy="828446"/>
          </a:xfrm>
          <a:prstGeom prst="rect">
            <a:avLst/>
          </a:prstGeom>
          <a:solidFill>
            <a:srgbClr val="F7F7F7"/>
          </a:solidFill>
          <a:ln/>
        </p:spPr>
        <p:txBody>
          <a:bodyPr/>
          <a:p/>
        </p:txBody>
      </p:sp>
      <p:sp>
        <p:nvSpPr>
          <p:cNvPr id="40" name="Text 38"/>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1" name="Text 39"/>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93.5%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83.8%</a:t>
            </a:r>
            <a:endParaRPr lang="en-US" sz="1400" dirty="0"/>
          </a:p>
        </p:txBody>
      </p:sp>
      <p:sp>
        <p:nvSpPr>
          <p:cNvPr id="42" name="Text 40"/>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−9.7 pts</a:t>
            </a:r>
            <a:endParaRPr lang="en-US" sz="1600" dirty="0"/>
          </a:p>
        </p:txBody>
      </p:sp>
      <p:sp>
        <p:nvSpPr>
          <p:cNvPr id="43" name="Text 41"/>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4" name="Text 42"/>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109.7%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103.6%</a:t>
            </a:r>
            <a:endParaRPr lang="en-US" sz="1400" dirty="0"/>
          </a:p>
        </p:txBody>
      </p:sp>
      <p:sp>
        <p:nvSpPr>
          <p:cNvPr id="45" name="Text 43"/>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−6.1 pts</a:t>
            </a:r>
            <a:endParaRPr lang="en-US" sz="1600" dirty="0"/>
          </a:p>
        </p:txBody>
      </p:sp>
      <p:sp>
        <p:nvSpPr>
          <p:cNvPr id="46" name="Shape 44"/>
          <p:cNvSpPr/>
          <p:nvPr/>
        </p:nvSpPr>
        <p:spPr>
          <a:xfrm>
            <a:off x="4349496" y="5416906"/>
            <a:ext cx="3489960" cy="828446"/>
          </a:xfrm>
          <a:prstGeom prst="rect">
            <a:avLst/>
          </a:prstGeom>
          <a:solidFill>
            <a:srgbClr val="F7F7F7"/>
          </a:solidFill>
          <a:ln/>
        </p:spPr>
        <p:txBody>
          <a:bodyPr/>
          <a:p/>
        </p:txBody>
      </p:sp>
      <p:sp>
        <p:nvSpPr>
          <p:cNvPr id="47" name="Text 45"/>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8" name="Text 46"/>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63.1%</a:t>
            </a:r>
            <a:endParaRPr lang="en-US" sz="1400" dirty="0"/>
          </a:p>
        </p:txBody>
      </p:sp>
      <p:sp>
        <p:nvSpPr>
          <p:cNvPr id="49" name="Text 47"/>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−2.3 pts</a:t>
            </a:r>
            <a:endParaRPr lang="en-US" sz="1600" dirty="0"/>
          </a:p>
        </p:txBody>
      </p:sp>
      <p:sp>
        <p:nvSpPr>
          <p:cNvPr id="50" name="Shape 48"/>
          <p:cNvSpPr/>
          <p:nvPr/>
        </p:nvSpPr>
        <p:spPr>
          <a:xfrm>
            <a:off x="8040624" y="1371600"/>
            <a:ext cx="3489960" cy="45720"/>
          </a:xfrm>
          <a:prstGeom prst="rect">
            <a:avLst/>
          </a:prstGeom>
          <a:solidFill>
            <a:srgbClr val="2587C5"/>
          </a:solidFill>
          <a:ln/>
        </p:spPr>
        <p:txBody>
          <a:bodyPr/>
          <a:p/>
        </p:txBody>
      </p:sp>
      <p:sp>
        <p:nvSpPr>
          <p:cNvPr id="51" name="Text 4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2" name="Text 50"/>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53" name="Shape 51"/>
          <p:cNvSpPr/>
          <p:nvPr/>
        </p:nvSpPr>
        <p:spPr>
          <a:xfrm>
            <a:off x="8040624" y="2103120"/>
            <a:ext cx="3489960" cy="828446"/>
          </a:xfrm>
          <a:prstGeom prst="rect">
            <a:avLst/>
          </a:prstGeom>
          <a:solidFill>
            <a:srgbClr val="F7F7F7"/>
          </a:solidFill>
          <a:ln/>
        </p:spPr>
        <p:txBody>
          <a:bodyPr/>
          <a:p/>
        </p:txBody>
      </p:sp>
      <p:sp>
        <p:nvSpPr>
          <p:cNvPr id="54" name="Text 52"/>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5" name="Text 53"/>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82.9%</a:t>
            </a:r>
            <a:endParaRPr lang="en-US" sz="1400" dirty="0"/>
          </a:p>
        </p:txBody>
      </p:sp>
      <p:sp>
        <p:nvSpPr>
          <p:cNvPr id="56" name="Text 54"/>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+16.2 pts</a:t>
            </a:r>
            <a:endParaRPr lang="en-US" sz="1600" dirty="0"/>
          </a:p>
        </p:txBody>
      </p:sp>
      <p:sp>
        <p:nvSpPr>
          <p:cNvPr id="57" name="Shape 55"/>
          <p:cNvSpPr/>
          <p:nvPr/>
        </p:nvSpPr>
        <p:spPr>
          <a:xfrm>
            <a:off x="11466576" y="2968142"/>
            <a:ext cx="64008" cy="755294"/>
          </a:xfrm>
          <a:prstGeom prst="rect">
            <a:avLst/>
          </a:prstGeom>
          <a:solidFill>
            <a:srgbClr val="12A566"/>
          </a:solidFill>
          <a:ln/>
        </p:spPr>
        <p:txBody>
          <a:bodyPr/>
          <a:p/>
        </p:txBody>
      </p:sp>
      <p:sp>
        <p:nvSpPr>
          <p:cNvPr id="58" name="Text 56"/>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9" name="Text 57"/>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69.5%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84.8%</a:t>
            </a:r>
            <a:endParaRPr lang="en-US" sz="1400" dirty="0"/>
          </a:p>
        </p:txBody>
      </p:sp>
      <p:sp>
        <p:nvSpPr>
          <p:cNvPr id="60" name="Text 58"/>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+15.3 pts</a:t>
            </a:r>
            <a:endParaRPr lang="en-US" sz="1600" dirty="0"/>
          </a:p>
        </p:txBody>
      </p:sp>
      <p:sp>
        <p:nvSpPr>
          <p:cNvPr id="61" name="Shape 59"/>
          <p:cNvSpPr/>
          <p:nvPr/>
        </p:nvSpPr>
        <p:spPr>
          <a:xfrm>
            <a:off x="8040624" y="3760013"/>
            <a:ext cx="3489960" cy="828446"/>
          </a:xfrm>
          <a:prstGeom prst="rect">
            <a:avLst/>
          </a:prstGeom>
          <a:solidFill>
            <a:srgbClr val="F7F7F7"/>
          </a:solidFill>
          <a:ln/>
        </p:spPr>
        <p:txBody>
          <a:bodyPr/>
          <a:p/>
        </p:txBody>
      </p:sp>
      <p:sp>
        <p:nvSpPr>
          <p:cNvPr id="62" name="Shape 60"/>
          <p:cNvSpPr/>
          <p:nvPr/>
        </p:nvSpPr>
        <p:spPr>
          <a:xfrm>
            <a:off x="11466576" y="3796589"/>
            <a:ext cx="64008" cy="755294"/>
          </a:xfrm>
          <a:prstGeom prst="rect">
            <a:avLst/>
          </a:prstGeom>
          <a:solidFill>
            <a:srgbClr val="2587C5"/>
          </a:solidFill>
          <a:ln/>
        </p:spPr>
        <p:txBody>
          <a:bodyPr/>
          <a:p/>
        </p:txBody>
      </p:sp>
      <p:sp>
        <p:nvSpPr>
          <p:cNvPr id="63" name="Text 61"/>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4" name="Text 62"/>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62.0%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73.1%</a:t>
            </a:r>
            <a:endParaRPr lang="en-US" sz="1400" dirty="0"/>
          </a:p>
        </p:txBody>
      </p:sp>
      <p:sp>
        <p:nvSpPr>
          <p:cNvPr id="65" name="Text 63"/>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+11.1 pts</a:t>
            </a:r>
            <a:endParaRPr lang="en-US" sz="1600" dirty="0"/>
          </a:p>
        </p:txBody>
      </p:sp>
      <p:sp>
        <p:nvSpPr>
          <p:cNvPr id="66" name="Text 64"/>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7" name="Text 65"/>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83.6%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94.4%</a:t>
            </a:r>
            <a:endParaRPr lang="en-US" sz="1400" dirty="0"/>
          </a:p>
        </p:txBody>
      </p:sp>
      <p:sp>
        <p:nvSpPr>
          <p:cNvPr id="68" name="Text 66"/>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+10.8 pts</a:t>
            </a:r>
            <a:endParaRPr lang="en-US" sz="1600" dirty="0"/>
          </a:p>
        </p:txBody>
      </p:sp>
      <p:sp>
        <p:nvSpPr>
          <p:cNvPr id="69" name="Shape 67"/>
          <p:cNvSpPr/>
          <p:nvPr/>
        </p:nvSpPr>
        <p:spPr>
          <a:xfrm>
            <a:off x="8040624" y="5416906"/>
            <a:ext cx="3489960" cy="828446"/>
          </a:xfrm>
          <a:prstGeom prst="rect">
            <a:avLst/>
          </a:prstGeom>
          <a:solidFill>
            <a:srgbClr val="F7F7F7"/>
          </a:solidFill>
          <a:ln/>
        </p:spPr>
        <p:txBody>
          <a:bodyPr/>
          <a:p/>
        </p:txBody>
      </p:sp>
      <p:sp>
        <p:nvSpPr>
          <p:cNvPr id="70" name="Text 68"/>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1" name="Text 69"/>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74.2%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84.2%</a:t>
            </a:r>
            <a:endParaRPr lang="en-US" sz="1400" dirty="0"/>
          </a:p>
        </p:txBody>
      </p:sp>
      <p:sp>
        <p:nvSpPr>
          <p:cNvPr id="72" name="Text 70"/>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+10.0 pts</a:t>
            </a:r>
            <a:endParaRPr lang="en-US" sz="160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4782312"/>
          </a:xfrm>
          <a:prstGeom prst="rect">
            <a:avLst/>
          </a:prstGeom>
          <a:solidFill>
            <a:srgbClr val="FFFFFF"/>
          </a:solidFill>
          <a:ln/>
        </p:spPr>
        <p:txBody>
          <a:bodyPr/>
          <a:p/>
        </p:txBody>
      </p:sp>
      <p:sp>
        <p:nvSpPr>
          <p:cNvPr id="6" name="Shape 4"/>
          <p:cNvSpPr/>
          <p:nvPr/>
        </p:nvSpPr>
        <p:spPr>
          <a:xfrm>
            <a:off x="658368" y="1335024"/>
            <a:ext cx="10872216" cy="420624"/>
          </a:xfrm>
          <a:prstGeom prst="rect">
            <a:avLst/>
          </a:prstGeom>
          <a:solidFill>
            <a:srgbClr val="EDF4FA"/>
          </a:solidFill>
          <a:ln/>
        </p:spPr>
        <p:txBody>
          <a:bodyPr/>
          <a:p/>
        </p:txBody>
      </p:sp>
      <p:sp>
        <p:nvSpPr>
          <p:cNvPr id="7" name="Shape 5"/>
          <p:cNvSpPr/>
          <p:nvPr/>
        </p:nvSpPr>
        <p:spPr>
          <a:xfrm>
            <a:off x="658368" y="1335024"/>
            <a:ext cx="59436" cy="420624"/>
          </a:xfrm>
          <a:prstGeom prst="rect">
            <a:avLst/>
          </a:prstGeom>
          <a:solidFill>
            <a:srgbClr val="0B2C4A"/>
          </a:solidFill>
          <a:ln/>
        </p:spPr>
        <p:txBody>
          <a:bodyPr/>
          <a:p/>
        </p:txBody>
      </p:sp>
      <p:sp>
        <p:nvSpPr>
          <p:cNvPr id="8" name="Text 6"/>
          <p:cNvSpPr txBox="1"/>
          <p:nvPr/>
        </p:nvSpPr>
        <p:spPr>
          <a:xfrm>
            <a:off x="859536" y="1335024"/>
            <a:ext cx="27355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SERVICE NET TO GROSS %</a:t>
            </a:r>
            <a:endParaRPr lang="en-US" sz="1500" dirty="0"/>
          </a:p>
        </p:txBody>
      </p:sp>
      <p:sp>
        <p:nvSpPr>
          <p:cNvPr id="9" name="Text 7"/>
          <p:cNvSpPr txBox="1"/>
          <p:nvPr/>
        </p:nvSpPr>
        <p:spPr>
          <a:xfrm>
            <a:off x="3649980" y="1335024"/>
            <a:ext cx="439674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+2.9 pts</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 name="Shape 11"/>
          <p:cNvSpPr/>
          <p:nvPr/>
        </p:nvSpPr>
        <p:spPr>
          <a:xfrm>
            <a:off x="3785616" y="1911860"/>
            <a:ext cx="777240" cy="110352"/>
          </a:xfrm>
          <a:prstGeom prst="rect">
            <a:avLst/>
          </a:prstGeom>
          <a:solidFill>
            <a:srgbClr val="12A566"/>
          </a:solidFill>
          <a:ln/>
        </p:spPr>
        <p:txBody>
          <a:bodyPr/>
          <a:p/>
        </p:txBody>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+33.5 pts</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7" name="Shape 15"/>
          <p:cNvSpPr/>
          <p:nvPr/>
        </p:nvSpPr>
        <p:spPr>
          <a:xfrm>
            <a:off x="3785616" y="2151755"/>
            <a:ext cx="522027" cy="110352"/>
          </a:xfrm>
          <a:prstGeom prst="rect">
            <a:avLst/>
          </a:prstGeom>
          <a:solidFill>
            <a:srgbClr val="12A566"/>
          </a:solidFill>
          <a:ln/>
        </p:spPr>
        <p:txBody>
          <a:bodyPr/>
          <a:p/>
        </p:txBody>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+22.5 pts</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1" name="Shape 19"/>
          <p:cNvSpPr/>
          <p:nvPr/>
        </p:nvSpPr>
        <p:spPr>
          <a:xfrm>
            <a:off x="3785616" y="2391651"/>
            <a:ext cx="466344" cy="110352"/>
          </a:xfrm>
          <a:prstGeom prst="rect">
            <a:avLst/>
          </a:prstGeom>
          <a:solidFill>
            <a:srgbClr val="12A566"/>
          </a:solidFill>
          <a:ln/>
        </p:spPr>
        <p:txBody>
          <a:bodyPr/>
          <a:p/>
        </p:txBody>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+20.1 pts</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25" name="Shape 23"/>
          <p:cNvSpPr/>
          <p:nvPr/>
        </p:nvSpPr>
        <p:spPr>
          <a:xfrm>
            <a:off x="3785616" y="2631546"/>
            <a:ext cx="317856" cy="110352"/>
          </a:xfrm>
          <a:prstGeom prst="rect">
            <a:avLst/>
          </a:prstGeom>
          <a:solidFill>
            <a:srgbClr val="12A566"/>
          </a:solidFill>
          <a:ln/>
        </p:spPr>
        <p:txBody>
          <a:bodyPr/>
          <a:p/>
        </p:txBody>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+13.7 pts</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29" name="Shape 27"/>
          <p:cNvSpPr/>
          <p:nvPr/>
        </p:nvSpPr>
        <p:spPr>
          <a:xfrm>
            <a:off x="3785616" y="2871442"/>
            <a:ext cx="276094" cy="110352"/>
          </a:xfrm>
          <a:prstGeom prst="rect">
            <a:avLst/>
          </a:prstGeom>
          <a:solidFill>
            <a:srgbClr val="12A566"/>
          </a:solidFill>
          <a:ln/>
        </p:spPr>
        <p:txBody>
          <a:bodyPr/>
          <a:p/>
        </p:txBody>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+11.9 pts</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33" name="Shape 31"/>
          <p:cNvSpPr/>
          <p:nvPr/>
        </p:nvSpPr>
        <p:spPr>
          <a:xfrm>
            <a:off x="3785616" y="3111337"/>
            <a:ext cx="194890" cy="110352"/>
          </a:xfrm>
          <a:prstGeom prst="rect">
            <a:avLst/>
          </a:prstGeom>
          <a:solidFill>
            <a:srgbClr val="12A566"/>
          </a:solidFill>
          <a:ln/>
        </p:spPr>
        <p:txBody>
          <a:bodyPr/>
          <a:p/>
        </p:txBody>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+8.4 pts</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37" name="Shape 35"/>
          <p:cNvSpPr/>
          <p:nvPr/>
        </p:nvSpPr>
        <p:spPr>
          <a:xfrm>
            <a:off x="3785616" y="3351233"/>
            <a:ext cx="183289" cy="110352"/>
          </a:xfrm>
          <a:prstGeom prst="rect">
            <a:avLst/>
          </a:prstGeom>
          <a:solidFill>
            <a:srgbClr val="12A566"/>
          </a:solidFill>
          <a:ln/>
        </p:spPr>
        <p:txBody>
          <a:bodyPr/>
          <a:p/>
        </p:txBody>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+7.9 pts</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1" name="Shape 39"/>
          <p:cNvSpPr/>
          <p:nvPr/>
        </p:nvSpPr>
        <p:spPr>
          <a:xfrm>
            <a:off x="3785616" y="3591128"/>
            <a:ext cx="169369" cy="110352"/>
          </a:xfrm>
          <a:prstGeom prst="rect">
            <a:avLst/>
          </a:prstGeom>
          <a:solidFill>
            <a:srgbClr val="12A566"/>
          </a:solidFill>
          <a:ln/>
        </p:spPr>
        <p:txBody>
          <a:bodyPr/>
          <a:p/>
        </p:txBody>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+7.3 pts</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45" name="Shape 43"/>
          <p:cNvSpPr/>
          <p:nvPr/>
        </p:nvSpPr>
        <p:spPr>
          <a:xfrm>
            <a:off x="3785616" y="3831024"/>
            <a:ext cx="164728" cy="110352"/>
          </a:xfrm>
          <a:prstGeom prst="rect">
            <a:avLst/>
          </a:prstGeom>
          <a:solidFill>
            <a:srgbClr val="12A566"/>
          </a:solidFill>
          <a:ln/>
        </p:spPr>
        <p:txBody>
          <a:bodyPr/>
          <a:p/>
        </p:txBody>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+7.1 pts</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49" name="Shape 47"/>
          <p:cNvSpPr/>
          <p:nvPr/>
        </p:nvSpPr>
        <p:spPr>
          <a:xfrm>
            <a:off x="3785616" y="4070920"/>
            <a:ext cx="146168" cy="110352"/>
          </a:xfrm>
          <a:prstGeom prst="rect">
            <a:avLst/>
          </a:prstGeom>
          <a:solidFill>
            <a:srgbClr val="12A566"/>
          </a:solidFill>
          <a:ln/>
        </p:spPr>
        <p:txBody>
          <a:bodyPr/>
          <a:p/>
        </p:txBody>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+6.3 pts</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53" name="Shape 51"/>
          <p:cNvSpPr/>
          <p:nvPr/>
        </p:nvSpPr>
        <p:spPr>
          <a:xfrm>
            <a:off x="3785616" y="4310815"/>
            <a:ext cx="143847" cy="110352"/>
          </a:xfrm>
          <a:prstGeom prst="rect">
            <a:avLst/>
          </a:prstGeom>
          <a:solidFill>
            <a:srgbClr val="12A566"/>
          </a:solidFill>
          <a:ln/>
        </p:spPr>
        <p:txBody>
          <a:bodyPr/>
          <a:p/>
        </p:txBody>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+6.2 pts</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57" name="Shape 55"/>
          <p:cNvSpPr/>
          <p:nvPr/>
        </p:nvSpPr>
        <p:spPr>
          <a:xfrm>
            <a:off x="3785616" y="4550711"/>
            <a:ext cx="139207" cy="110352"/>
          </a:xfrm>
          <a:prstGeom prst="rect">
            <a:avLst/>
          </a:prstGeom>
          <a:solidFill>
            <a:srgbClr val="12A566"/>
          </a:solidFill>
          <a:ln/>
        </p:spPr>
        <p:txBody>
          <a:bodyPr/>
          <a:p/>
        </p:txBody>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+6.0 pts</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61" name="Shape 59"/>
          <p:cNvSpPr/>
          <p:nvPr/>
        </p:nvSpPr>
        <p:spPr>
          <a:xfrm>
            <a:off x="3785616" y="4790606"/>
            <a:ext cx="111366" cy="110352"/>
          </a:xfrm>
          <a:prstGeom prst="rect">
            <a:avLst/>
          </a:prstGeom>
          <a:solidFill>
            <a:srgbClr val="12A566"/>
          </a:solidFill>
          <a:ln/>
        </p:spPr>
        <p:txBody>
          <a:bodyPr/>
          <a:p/>
        </p:txBody>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+4.8 pts</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65" name="Shape 63"/>
          <p:cNvSpPr/>
          <p:nvPr/>
        </p:nvSpPr>
        <p:spPr>
          <a:xfrm>
            <a:off x="3785616" y="5030502"/>
            <a:ext cx="109046" cy="110352"/>
          </a:xfrm>
          <a:prstGeom prst="rect">
            <a:avLst/>
          </a:prstGeom>
          <a:solidFill>
            <a:srgbClr val="12A566"/>
          </a:solidFill>
          <a:ln/>
        </p:spPr>
        <p:txBody>
          <a:bodyPr/>
          <a:p/>
        </p:txBody>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+4.7 pts</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69" name="Shape 67"/>
          <p:cNvSpPr/>
          <p:nvPr/>
        </p:nvSpPr>
        <p:spPr>
          <a:xfrm>
            <a:off x="3785616" y="5270397"/>
            <a:ext cx="104405" cy="110352"/>
          </a:xfrm>
          <a:prstGeom prst="rect">
            <a:avLst/>
          </a:prstGeom>
          <a:solidFill>
            <a:srgbClr val="12A566"/>
          </a:solidFill>
          <a:ln/>
        </p:spPr>
        <p:txBody>
          <a:bodyPr/>
          <a:p/>
        </p:txBody>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+4.5 pts</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73" name="Shape 71"/>
          <p:cNvSpPr/>
          <p:nvPr/>
        </p:nvSpPr>
        <p:spPr>
          <a:xfrm>
            <a:off x="3785616" y="5510293"/>
            <a:ext cx="95125" cy="110352"/>
          </a:xfrm>
          <a:prstGeom prst="rect">
            <a:avLst/>
          </a:prstGeom>
          <a:solidFill>
            <a:srgbClr val="12A566"/>
          </a:solidFill>
          <a:ln/>
        </p:spPr>
        <p:txBody>
          <a:bodyPr/>
          <a:p/>
        </p:txBody>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+4.1 pts</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77" name="Shape 75"/>
          <p:cNvSpPr/>
          <p:nvPr/>
        </p:nvSpPr>
        <p:spPr>
          <a:xfrm>
            <a:off x="3785616" y="5750188"/>
            <a:ext cx="95125" cy="110352"/>
          </a:xfrm>
          <a:prstGeom prst="rect">
            <a:avLst/>
          </a:prstGeom>
          <a:solidFill>
            <a:srgbClr val="12A566"/>
          </a:solidFill>
          <a:ln/>
        </p:spPr>
        <p:txBody>
          <a:bodyPr/>
          <a:p/>
        </p:txBody>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+4.1 pts</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81" name="Shape 79"/>
          <p:cNvSpPr/>
          <p:nvPr/>
        </p:nvSpPr>
        <p:spPr>
          <a:xfrm>
            <a:off x="9336024" y="1911860"/>
            <a:ext cx="90485" cy="110352"/>
          </a:xfrm>
          <a:prstGeom prst="rect">
            <a:avLst/>
          </a:prstGeom>
          <a:solidFill>
            <a:srgbClr val="12A566"/>
          </a:solidFill>
          <a:ln/>
        </p:spPr>
        <p:txBody>
          <a:bodyPr/>
          <a:p/>
        </p:txBody>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+3.9 pts</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85" name="Shape 83"/>
          <p:cNvSpPr/>
          <p:nvPr/>
        </p:nvSpPr>
        <p:spPr>
          <a:xfrm>
            <a:off x="9336024" y="2151755"/>
            <a:ext cx="88165" cy="110352"/>
          </a:xfrm>
          <a:prstGeom prst="rect">
            <a:avLst/>
          </a:prstGeom>
          <a:solidFill>
            <a:srgbClr val="12A566"/>
          </a:solidFill>
          <a:ln/>
        </p:spPr>
        <p:txBody>
          <a:bodyPr/>
          <a:p/>
        </p:txBody>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+3.8 pts</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89" name="Shape 87"/>
          <p:cNvSpPr/>
          <p:nvPr/>
        </p:nvSpPr>
        <p:spPr>
          <a:xfrm>
            <a:off x="9336024" y="2391651"/>
            <a:ext cx="55683" cy="110352"/>
          </a:xfrm>
          <a:prstGeom prst="rect">
            <a:avLst/>
          </a:prstGeom>
          <a:solidFill>
            <a:srgbClr val="12A566"/>
          </a:solidFill>
          <a:ln/>
        </p:spPr>
        <p:txBody>
          <a:bodyPr/>
          <a:p/>
        </p:txBody>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+2.4 pts</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93" name="Shape 91"/>
          <p:cNvSpPr/>
          <p:nvPr/>
        </p:nvSpPr>
        <p:spPr>
          <a:xfrm>
            <a:off x="9336024" y="2631546"/>
            <a:ext cx="51043" cy="110352"/>
          </a:xfrm>
          <a:prstGeom prst="rect">
            <a:avLst/>
          </a:prstGeom>
          <a:solidFill>
            <a:srgbClr val="12A566"/>
          </a:solidFill>
          <a:ln/>
        </p:spPr>
        <p:txBody>
          <a:bodyPr/>
          <a:p/>
        </p:txBody>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+2.2 pts</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97" name="Shape 95"/>
          <p:cNvSpPr/>
          <p:nvPr/>
        </p:nvSpPr>
        <p:spPr>
          <a:xfrm>
            <a:off x="9336024" y="2871442"/>
            <a:ext cx="25521" cy="110352"/>
          </a:xfrm>
          <a:prstGeom prst="rect">
            <a:avLst/>
          </a:prstGeom>
          <a:solidFill>
            <a:srgbClr val="12A566"/>
          </a:solidFill>
          <a:ln/>
        </p:spPr>
        <p:txBody>
          <a:bodyPr/>
          <a:p/>
        </p:txBody>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 pts</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01" name="Shape 99"/>
          <p:cNvSpPr/>
          <p:nvPr/>
        </p:nvSpPr>
        <p:spPr>
          <a:xfrm>
            <a:off x="9336024" y="3111337"/>
            <a:ext cx="12802" cy="110352"/>
          </a:xfrm>
          <a:prstGeom prst="rect">
            <a:avLst/>
          </a:prstGeom>
          <a:solidFill>
            <a:srgbClr val="12A566"/>
          </a:solidFill>
          <a:ln/>
        </p:spPr>
        <p:txBody>
          <a:bodyPr/>
          <a:p/>
        </p:txBody>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+0.2 pts</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05" name="Shape 103"/>
          <p:cNvSpPr/>
          <p:nvPr/>
        </p:nvSpPr>
        <p:spPr>
          <a:xfrm>
            <a:off x="9336024" y="3351233"/>
            <a:ext cx="12802" cy="110352"/>
          </a:xfrm>
          <a:prstGeom prst="rect">
            <a:avLst/>
          </a:prstGeom>
          <a:solidFill>
            <a:srgbClr val="12A566"/>
          </a:solidFill>
          <a:ln/>
        </p:spPr>
        <p:txBody>
          <a:bodyPr/>
          <a:p/>
        </p:txBody>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+0.0 pts</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09" name="Shape 107"/>
          <p:cNvSpPr/>
          <p:nvPr/>
        </p:nvSpPr>
        <p:spPr>
          <a:xfrm>
            <a:off x="9326744" y="3591128"/>
            <a:ext cx="12802" cy="110352"/>
          </a:xfrm>
          <a:prstGeom prst="rect">
            <a:avLst/>
          </a:prstGeom>
          <a:solidFill>
            <a:srgbClr val="C2352F"/>
          </a:solidFill>
          <a:ln/>
        </p:spPr>
        <p:txBody>
          <a:bodyPr/>
          <a:p/>
        </p:txBody>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−0.4 pts</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13" name="Shape 111"/>
          <p:cNvSpPr/>
          <p:nvPr/>
        </p:nvSpPr>
        <p:spPr>
          <a:xfrm>
            <a:off x="9301222" y="3831024"/>
            <a:ext cx="34802" cy="110352"/>
          </a:xfrm>
          <a:prstGeom prst="rect">
            <a:avLst/>
          </a:prstGeom>
          <a:solidFill>
            <a:srgbClr val="C2352F"/>
          </a:solidFill>
          <a:ln/>
        </p:spPr>
        <p:txBody>
          <a:bodyPr/>
          <a:p/>
        </p:txBody>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−1.5 pts</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17" name="Shape 115"/>
          <p:cNvSpPr/>
          <p:nvPr/>
        </p:nvSpPr>
        <p:spPr>
          <a:xfrm>
            <a:off x="9282661" y="4070920"/>
            <a:ext cx="53363" cy="110352"/>
          </a:xfrm>
          <a:prstGeom prst="rect">
            <a:avLst/>
          </a:prstGeom>
          <a:solidFill>
            <a:srgbClr val="C2352F"/>
          </a:solidFill>
          <a:ln/>
        </p:spPr>
        <p:txBody>
          <a:bodyPr/>
          <a:p/>
        </p:txBody>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−2.3 pts</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21" name="Shape 119"/>
          <p:cNvSpPr/>
          <p:nvPr/>
        </p:nvSpPr>
        <p:spPr>
          <a:xfrm>
            <a:off x="9261780" y="4310815"/>
            <a:ext cx="74244" cy="110352"/>
          </a:xfrm>
          <a:prstGeom prst="rect">
            <a:avLst/>
          </a:prstGeom>
          <a:solidFill>
            <a:srgbClr val="C2352F"/>
          </a:solidFill>
          <a:ln/>
        </p:spPr>
        <p:txBody>
          <a:bodyPr/>
          <a:p/>
        </p:txBody>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−3.2 pts</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25" name="Shape 123"/>
          <p:cNvSpPr/>
          <p:nvPr/>
        </p:nvSpPr>
        <p:spPr>
          <a:xfrm>
            <a:off x="9243219" y="4550711"/>
            <a:ext cx="92805" cy="110352"/>
          </a:xfrm>
          <a:prstGeom prst="rect">
            <a:avLst/>
          </a:prstGeom>
          <a:solidFill>
            <a:srgbClr val="C2352F"/>
          </a:solidFill>
          <a:ln/>
        </p:spPr>
        <p:txBody>
          <a:bodyPr/>
          <a:p/>
        </p:txBody>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−4.0 pts</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29" name="Shape 127"/>
          <p:cNvSpPr/>
          <p:nvPr/>
        </p:nvSpPr>
        <p:spPr>
          <a:xfrm>
            <a:off x="9217698" y="4790606"/>
            <a:ext cx="118326" cy="110352"/>
          </a:xfrm>
          <a:prstGeom prst="rect">
            <a:avLst/>
          </a:prstGeom>
          <a:solidFill>
            <a:srgbClr val="C2352F"/>
          </a:solidFill>
          <a:ln/>
        </p:spPr>
        <p:txBody>
          <a:bodyPr/>
          <a:p/>
        </p:txBody>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−5.1 pts</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33" name="Shape 131"/>
          <p:cNvSpPr/>
          <p:nvPr/>
        </p:nvSpPr>
        <p:spPr>
          <a:xfrm>
            <a:off x="9141134" y="5030502"/>
            <a:ext cx="194890" cy="110352"/>
          </a:xfrm>
          <a:prstGeom prst="rect">
            <a:avLst/>
          </a:prstGeom>
          <a:solidFill>
            <a:srgbClr val="C2352F"/>
          </a:solidFill>
          <a:ln/>
        </p:spPr>
        <p:txBody>
          <a:bodyPr/>
          <a:p/>
        </p:txBody>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−8.4 pts</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37" name="Shape 135"/>
          <p:cNvSpPr/>
          <p:nvPr/>
        </p:nvSpPr>
        <p:spPr>
          <a:xfrm>
            <a:off x="9083131" y="5270397"/>
            <a:ext cx="252893" cy="110352"/>
          </a:xfrm>
          <a:prstGeom prst="rect">
            <a:avLst/>
          </a:prstGeom>
          <a:solidFill>
            <a:srgbClr val="C2352F"/>
          </a:solidFill>
          <a:ln/>
        </p:spPr>
        <p:txBody>
          <a:bodyPr/>
          <a:p/>
        </p:txBody>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−10.9 pts</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1" name="Shape 139"/>
          <p:cNvSpPr/>
          <p:nvPr/>
        </p:nvSpPr>
        <p:spPr>
          <a:xfrm>
            <a:off x="8714232" y="5510293"/>
            <a:ext cx="621792" cy="110352"/>
          </a:xfrm>
          <a:prstGeom prst="rect">
            <a:avLst/>
          </a:prstGeom>
          <a:solidFill>
            <a:srgbClr val="C2352F"/>
          </a:solidFill>
          <a:ln/>
        </p:spPr>
        <p:txBody>
          <a:bodyPr/>
          <a:p/>
        </p:txBody>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−26.8 pts</a:t>
            </a:r>
            <a:endParaRPr lang="en-US" sz="1200" dirty="0"/>
          </a:p>
        </p:txBody>
      </p:sp>
      <p:sp>
        <p:nvSpPr>
          <p:cNvPr id="143" name="Shape 141"/>
          <p:cNvSpPr/>
          <p:nvPr/>
        </p:nvSpPr>
        <p:spPr>
          <a:xfrm>
            <a:off x="3780130" y="1847088"/>
            <a:ext cx="10973" cy="4078224"/>
          </a:xfrm>
          <a:prstGeom prst="rect">
            <a:avLst/>
          </a:prstGeom>
          <a:solidFill>
            <a:srgbClr val="9AA3AD"/>
          </a:solidFill>
          <a:ln/>
        </p:spPr>
        <p:txBody>
          <a:bodyPr/>
          <a:p/>
        </p:txBody>
      </p:sp>
      <p:sp>
        <p:nvSpPr>
          <p:cNvPr id="144" name="Shape 142"/>
          <p:cNvSpPr/>
          <p:nvPr/>
        </p:nvSpPr>
        <p:spPr>
          <a:xfrm>
            <a:off x="9330538" y="1847088"/>
            <a:ext cx="10973" cy="4078224"/>
          </a:xfrm>
          <a:prstGeom prst="rect">
            <a:avLst/>
          </a:prstGeom>
          <a:solidFill>
            <a:srgbClr val="9AA3AD"/>
          </a:solidFill>
          <a:ln/>
        </p:spPr>
        <p:txBody>
          <a:bodyPr/>
          <a:p/>
        </p:txBody>
      </p:sp>
      <p:sp>
        <p:nvSpPr>
          <p:cNvPr id="145" name="Shape 143"/>
          <p:cNvSpPr/>
          <p:nvPr/>
        </p:nvSpPr>
        <p:spPr>
          <a:xfrm>
            <a:off x="6085332" y="1847088"/>
            <a:ext cx="10973" cy="4078224"/>
          </a:xfrm>
          <a:prstGeom prst="rect">
            <a:avLst/>
          </a:prstGeom>
          <a:solidFill>
            <a:srgbClr val="D9D9D9"/>
          </a:solidFill>
          <a:ln/>
        </p:spPr>
        <p:txBody>
          <a:bodyPr/>
          <a:p/>
        </p:txBody>
      </p:sp>
      <p:sp>
        <p:nvSpPr>
          <p:cNvPr id="147" name="Shape 144"/>
          <p:cNvSpPr/>
          <p:nvPr/>
        </p:nvSpPr>
        <p:spPr>
          <a:xfrm>
            <a:off x="457200" y="6126480"/>
            <a:ext cx="11274552" cy="371856"/>
          </a:xfrm>
          <a:prstGeom prst="rect">
            <a:avLst/>
          </a:prstGeom>
          <a:solidFill>
            <a:srgbClr val="E6F6EE"/>
          </a:solidFill>
          <a:ln/>
        </p:spPr>
        <p:txBody>
          <a:bodyPr/>
          <a:p/>
        </p:txBody>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24 of 33 stores raised service net to gross. 9 declined.</a:t>
            </a:r>
            <a:endParaRPr lang="en-US" sz="160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Shape 8"/>
          <p:cNvSpPr/>
          <p:nvPr/>
        </p:nvSpPr>
        <p:spPr>
          <a:xfrm>
            <a:off x="4084320" y="2139696"/>
            <a:ext cx="64008" cy="755294"/>
          </a:xfrm>
          <a:prstGeom prst="rect">
            <a:avLst/>
          </a:prstGeom>
          <a:solidFill>
            <a:srgbClr val="12A566"/>
          </a:solidFill>
          <a:ln/>
        </p:spPr>
        <p:txBody>
          <a:bodyPr/>
          <a:p/>
        </p:txBody>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-52.7%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-19.2%</a:t>
            </a:r>
            <a:endParaRPr lang="en-US" sz="1400" dirty="0"/>
          </a:p>
        </p:txBody>
      </p:sp>
      <p:sp>
        <p:nvSpPr>
          <p:cNvPr id="13" name="Text 11"/>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+33.5 pts</a:t>
            </a:r>
            <a:endParaRPr lang="en-US" sz="1600" dirty="0"/>
          </a:p>
        </p:txBody>
      </p:sp>
      <p:sp>
        <p:nvSpPr>
          <p:cNvPr id="14" name="Shape 12"/>
          <p:cNvSpPr/>
          <p:nvPr/>
        </p:nvSpPr>
        <p:spPr>
          <a:xfrm>
            <a:off x="4084320" y="2968142"/>
            <a:ext cx="64008" cy="755294"/>
          </a:xfrm>
          <a:prstGeom prst="rect">
            <a:avLst/>
          </a:prstGeom>
          <a:solidFill>
            <a:srgbClr val="12A566"/>
          </a:solidFill>
          <a:ln/>
        </p:spPr>
        <p:txBody>
          <a:bodyPr/>
          <a:p/>
        </p:txBody>
      </p:sp>
      <p:sp>
        <p:nvSpPr>
          <p:cNvPr id="15" name="Text 13"/>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4"/>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-3.2%</a:t>
            </a:r>
            <a:endParaRPr lang="en-US" sz="1400" dirty="0"/>
          </a:p>
        </p:txBody>
      </p:sp>
      <p:sp>
        <p:nvSpPr>
          <p:cNvPr id="17" name="Text 15"/>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+22.5 pts</a:t>
            </a:r>
            <a:endParaRPr lang="en-US" sz="1600" dirty="0"/>
          </a:p>
        </p:txBody>
      </p:sp>
      <p:sp>
        <p:nvSpPr>
          <p:cNvPr id="18" name="Shape 16"/>
          <p:cNvSpPr/>
          <p:nvPr/>
        </p:nvSpPr>
        <p:spPr>
          <a:xfrm>
            <a:off x="658368" y="3760013"/>
            <a:ext cx="3489960" cy="828446"/>
          </a:xfrm>
          <a:prstGeom prst="rect">
            <a:avLst/>
          </a:prstGeom>
          <a:solidFill>
            <a:srgbClr val="F7F7F7"/>
          </a:solidFill>
          <a:ln/>
        </p:spPr>
        <p:txBody>
          <a:bodyPr/>
          <a:p/>
        </p:txBody>
      </p:sp>
      <p:sp>
        <p:nvSpPr>
          <p:cNvPr id="19" name="Shape 17"/>
          <p:cNvSpPr/>
          <p:nvPr/>
        </p:nvSpPr>
        <p:spPr>
          <a:xfrm>
            <a:off x="4084320" y="3796589"/>
            <a:ext cx="64008" cy="755294"/>
          </a:xfrm>
          <a:prstGeom prst="rect">
            <a:avLst/>
          </a:prstGeom>
          <a:solidFill>
            <a:srgbClr val="12A566"/>
          </a:solidFill>
          <a:ln/>
        </p:spPr>
        <p:txBody>
          <a:bodyPr/>
          <a:p/>
        </p:txBody>
      </p:sp>
      <p:sp>
        <p:nvSpPr>
          <p:cNvPr id="20" name="Text 18"/>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9"/>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16.0%</a:t>
            </a:r>
            <a:endParaRPr lang="en-US" sz="1400" dirty="0"/>
          </a:p>
        </p:txBody>
      </p:sp>
      <p:sp>
        <p:nvSpPr>
          <p:cNvPr id="22" name="Text 20"/>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+20.1 pts</a:t>
            </a:r>
            <a:endParaRPr lang="en-US" sz="1600" dirty="0"/>
          </a:p>
        </p:txBody>
      </p:sp>
      <p:sp>
        <p:nvSpPr>
          <p:cNvPr id="23" name="Text 21"/>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4" name="Text 22"/>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-13.8%</a:t>
            </a:r>
            <a:endParaRPr lang="en-US" sz="1400" dirty="0"/>
          </a:p>
        </p:txBody>
      </p:sp>
      <p:sp>
        <p:nvSpPr>
          <p:cNvPr id="25" name="Text 23"/>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+13.7 pts</a:t>
            </a:r>
            <a:endParaRPr lang="en-US" sz="1600" dirty="0"/>
          </a:p>
        </p:txBody>
      </p:sp>
      <p:sp>
        <p:nvSpPr>
          <p:cNvPr id="26" name="Shape 24"/>
          <p:cNvSpPr/>
          <p:nvPr/>
        </p:nvSpPr>
        <p:spPr>
          <a:xfrm>
            <a:off x="658368" y="5416906"/>
            <a:ext cx="3489960" cy="828446"/>
          </a:xfrm>
          <a:prstGeom prst="rect">
            <a:avLst/>
          </a:prstGeom>
          <a:solidFill>
            <a:srgbClr val="F7F7F7"/>
          </a:solidFill>
          <a:ln/>
        </p:spPr>
        <p:txBody>
          <a:bodyPr/>
          <a:p/>
        </p:txBody>
      </p:sp>
      <p:sp>
        <p:nvSpPr>
          <p:cNvPr id="27" name="Text 25"/>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8" name="Text 26"/>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-26.3%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-14.4%</a:t>
            </a:r>
            <a:endParaRPr lang="en-US" sz="1400" dirty="0"/>
          </a:p>
        </p:txBody>
      </p:sp>
      <p:sp>
        <p:nvSpPr>
          <p:cNvPr id="29" name="Text 27"/>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+11.9 pts</a:t>
            </a:r>
            <a:endParaRPr lang="en-US" sz="1600" dirty="0"/>
          </a:p>
        </p:txBody>
      </p:sp>
      <p:sp>
        <p:nvSpPr>
          <p:cNvPr id="30" name="Shape 28"/>
          <p:cNvSpPr/>
          <p:nvPr/>
        </p:nvSpPr>
        <p:spPr>
          <a:xfrm>
            <a:off x="4349496" y="1371600"/>
            <a:ext cx="3489960" cy="45720"/>
          </a:xfrm>
          <a:prstGeom prst="rect">
            <a:avLst/>
          </a:prstGeom>
          <a:solidFill>
            <a:srgbClr val="C2352F"/>
          </a:solidFill>
          <a:ln/>
        </p:spPr>
        <p:txBody>
          <a:bodyPr/>
          <a:p/>
        </p:txBody>
      </p:sp>
      <p:sp>
        <p:nvSpPr>
          <p:cNvPr id="31" name="Text 2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2" name="Text 30"/>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3" name="Shape 31"/>
          <p:cNvSpPr/>
          <p:nvPr/>
        </p:nvSpPr>
        <p:spPr>
          <a:xfrm>
            <a:off x="4349496" y="2103120"/>
            <a:ext cx="3489960" cy="828446"/>
          </a:xfrm>
          <a:prstGeom prst="rect">
            <a:avLst/>
          </a:prstGeom>
          <a:solidFill>
            <a:srgbClr val="F7F7F7"/>
          </a:solidFill>
          <a:ln/>
        </p:spPr>
        <p:txBody>
          <a:bodyPr/>
          <a:p/>
        </p:txBody>
      </p:sp>
      <p:sp>
        <p:nvSpPr>
          <p:cNvPr id="34" name="Text 32"/>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5" name="Text 33"/>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-25.2%</a:t>
            </a:r>
            <a:endParaRPr lang="en-US" sz="1400" dirty="0"/>
          </a:p>
        </p:txBody>
      </p:sp>
      <p:sp>
        <p:nvSpPr>
          <p:cNvPr id="36" name="Text 34"/>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−26.8 pts</a:t>
            </a:r>
            <a:endParaRPr lang="en-US" sz="1600" dirty="0"/>
          </a:p>
        </p:txBody>
      </p:sp>
      <p:sp>
        <p:nvSpPr>
          <p:cNvPr id="37" name="Text 35"/>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8" name="Text 36"/>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5.2%</a:t>
            </a:r>
            <a:endParaRPr lang="en-US" sz="1400" dirty="0"/>
          </a:p>
        </p:txBody>
      </p:sp>
      <p:sp>
        <p:nvSpPr>
          <p:cNvPr id="39" name="Text 37"/>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−10.9 pts</a:t>
            </a:r>
            <a:endParaRPr lang="en-US" sz="1600" dirty="0"/>
          </a:p>
        </p:txBody>
      </p:sp>
      <p:sp>
        <p:nvSpPr>
          <p:cNvPr id="40" name="Shape 38"/>
          <p:cNvSpPr/>
          <p:nvPr/>
        </p:nvSpPr>
        <p:spPr>
          <a:xfrm>
            <a:off x="4349496" y="3760013"/>
            <a:ext cx="3489960" cy="828446"/>
          </a:xfrm>
          <a:prstGeom prst="rect">
            <a:avLst/>
          </a:prstGeom>
          <a:solidFill>
            <a:srgbClr val="F7F7F7"/>
          </a:solidFill>
          <a:ln/>
        </p:spPr>
        <p:txBody>
          <a:bodyPr/>
          <a:p/>
        </p:txBody>
      </p:sp>
      <p:sp>
        <p:nvSpPr>
          <p:cNvPr id="41" name="Shape 39"/>
          <p:cNvSpPr/>
          <p:nvPr/>
        </p:nvSpPr>
        <p:spPr>
          <a:xfrm>
            <a:off x="7775448" y="3796589"/>
            <a:ext cx="64008" cy="755294"/>
          </a:xfrm>
          <a:prstGeom prst="rect">
            <a:avLst/>
          </a:prstGeom>
          <a:solidFill>
            <a:srgbClr val="2587C5"/>
          </a:solidFill>
          <a:ln/>
        </p:spPr>
        <p:txBody>
          <a:bodyPr/>
          <a:p/>
        </p:txBody>
      </p:sp>
      <p:sp>
        <p:nvSpPr>
          <p:cNvPr id="42" name="Text 40"/>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3" name="Text 41"/>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27.2%</a:t>
            </a:r>
            <a:endParaRPr lang="en-US" sz="1400" dirty="0"/>
          </a:p>
        </p:txBody>
      </p:sp>
      <p:sp>
        <p:nvSpPr>
          <p:cNvPr id="44" name="Text 42"/>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−8.4 pts</a:t>
            </a:r>
            <a:endParaRPr lang="en-US" sz="1600" dirty="0"/>
          </a:p>
        </p:txBody>
      </p:sp>
      <p:sp>
        <p:nvSpPr>
          <p:cNvPr id="45" name="Text 43"/>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6" name="Text 44"/>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18.1%</a:t>
            </a:r>
            <a:endParaRPr lang="en-US" sz="1400" dirty="0"/>
          </a:p>
        </p:txBody>
      </p:sp>
      <p:sp>
        <p:nvSpPr>
          <p:cNvPr id="47" name="Text 45"/>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−5.1 pts</a:t>
            </a:r>
            <a:endParaRPr lang="en-US" sz="1600" dirty="0"/>
          </a:p>
        </p:txBody>
      </p:sp>
      <p:sp>
        <p:nvSpPr>
          <p:cNvPr id="48" name="Shape 46"/>
          <p:cNvSpPr/>
          <p:nvPr/>
        </p:nvSpPr>
        <p:spPr>
          <a:xfrm>
            <a:off x="4349496" y="5416906"/>
            <a:ext cx="3489960" cy="828446"/>
          </a:xfrm>
          <a:prstGeom prst="rect">
            <a:avLst/>
          </a:prstGeom>
          <a:solidFill>
            <a:srgbClr val="F7F7F7"/>
          </a:solidFill>
          <a:ln/>
        </p:spPr>
        <p:txBody>
          <a:bodyPr/>
          <a:p/>
        </p:txBody>
      </p:sp>
      <p:sp>
        <p:nvSpPr>
          <p:cNvPr id="49" name="Text 47"/>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0" name="Text 48"/>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29.3%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25.3%</a:t>
            </a:r>
            <a:endParaRPr lang="en-US" sz="1400" dirty="0"/>
          </a:p>
        </p:txBody>
      </p:sp>
      <p:sp>
        <p:nvSpPr>
          <p:cNvPr id="51" name="Text 49"/>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−4.0 pts</a:t>
            </a:r>
            <a:endParaRPr lang="en-US" sz="1600" dirty="0"/>
          </a:p>
        </p:txBody>
      </p:sp>
      <p:sp>
        <p:nvSpPr>
          <p:cNvPr id="52" name="Shape 50"/>
          <p:cNvSpPr/>
          <p:nvPr/>
        </p:nvSpPr>
        <p:spPr>
          <a:xfrm>
            <a:off x="8040624" y="1371600"/>
            <a:ext cx="3489960" cy="45720"/>
          </a:xfrm>
          <a:prstGeom prst="rect">
            <a:avLst/>
          </a:prstGeom>
          <a:solidFill>
            <a:srgbClr val="2587C5"/>
          </a:solidFill>
          <a:ln/>
        </p:spPr>
        <p:txBody>
          <a:bodyPr/>
          <a:p/>
        </p:txBody>
      </p:sp>
      <p:sp>
        <p:nvSpPr>
          <p:cNvPr id="53" name="Text 51"/>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4" name="Text 52"/>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55" name="Shape 53"/>
          <p:cNvSpPr/>
          <p:nvPr/>
        </p:nvSpPr>
        <p:spPr>
          <a:xfrm>
            <a:off x="8040624" y="2103120"/>
            <a:ext cx="3489960" cy="828446"/>
          </a:xfrm>
          <a:prstGeom prst="rect">
            <a:avLst/>
          </a:prstGeom>
          <a:solidFill>
            <a:srgbClr val="F7F7F7"/>
          </a:solidFill>
          <a:ln/>
        </p:spPr>
        <p:txBody>
          <a:bodyPr/>
          <a:p/>
        </p:txBody>
      </p:sp>
      <p:sp>
        <p:nvSpPr>
          <p:cNvPr id="56" name="Shape 54"/>
          <p:cNvSpPr/>
          <p:nvPr/>
        </p:nvSpPr>
        <p:spPr>
          <a:xfrm>
            <a:off x="11466576" y="2139696"/>
            <a:ext cx="64008" cy="755294"/>
          </a:xfrm>
          <a:prstGeom prst="rect">
            <a:avLst/>
          </a:prstGeom>
          <a:solidFill>
            <a:srgbClr val="12A566"/>
          </a:solidFill>
          <a:ln/>
        </p:spPr>
        <p:txBody>
          <a:bodyPr/>
          <a:p/>
        </p:txBody>
      </p:sp>
      <p:sp>
        <p:nvSpPr>
          <p:cNvPr id="57" name="Text 55"/>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8" name="Text 56"/>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-32.0%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-8.3%</a:t>
            </a:r>
            <a:endParaRPr lang="en-US" sz="1400" dirty="0"/>
          </a:p>
        </p:txBody>
      </p:sp>
      <p:sp>
        <p:nvSpPr>
          <p:cNvPr id="59" name="Text 57"/>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+23.7 pts</a:t>
            </a:r>
            <a:endParaRPr lang="en-US" sz="1600" dirty="0"/>
          </a:p>
        </p:txBody>
      </p:sp>
      <p:sp>
        <p:nvSpPr>
          <p:cNvPr id="60" name="Text 58"/>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1" name="Text 59"/>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12.9%</a:t>
            </a:r>
            <a:endParaRPr lang="en-US" sz="1400" dirty="0"/>
          </a:p>
        </p:txBody>
      </p:sp>
      <p:sp>
        <p:nvSpPr>
          <p:cNvPr id="62" name="Text 60"/>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+17.4 pts</a:t>
            </a:r>
            <a:endParaRPr lang="en-US" sz="1600" dirty="0"/>
          </a:p>
        </p:txBody>
      </p:sp>
      <p:sp>
        <p:nvSpPr>
          <p:cNvPr id="63" name="Shape 61"/>
          <p:cNvSpPr/>
          <p:nvPr/>
        </p:nvSpPr>
        <p:spPr>
          <a:xfrm>
            <a:off x="8040624" y="3760013"/>
            <a:ext cx="3489960" cy="828446"/>
          </a:xfrm>
          <a:prstGeom prst="rect">
            <a:avLst/>
          </a:prstGeom>
          <a:solidFill>
            <a:srgbClr val="F7F7F7"/>
          </a:solidFill>
          <a:ln/>
        </p:spPr>
        <p:txBody>
          <a:bodyPr/>
          <a:p/>
        </p:txBody>
      </p:sp>
      <p:sp>
        <p:nvSpPr>
          <p:cNvPr id="64" name="Shape 62"/>
          <p:cNvSpPr/>
          <p:nvPr/>
        </p:nvSpPr>
        <p:spPr>
          <a:xfrm>
            <a:off x="11466576" y="3796589"/>
            <a:ext cx="64008" cy="755294"/>
          </a:xfrm>
          <a:prstGeom prst="rect">
            <a:avLst/>
          </a:prstGeom>
          <a:solidFill>
            <a:srgbClr val="12A566"/>
          </a:solidFill>
          <a:ln/>
        </p:spPr>
        <p:txBody>
          <a:bodyPr/>
          <a:p/>
        </p:txBody>
      </p:sp>
      <p:sp>
        <p:nvSpPr>
          <p:cNvPr id="65" name="Text 63"/>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6" name="Text 64"/>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21.6%</a:t>
            </a:r>
            <a:endParaRPr lang="en-US" sz="1400" dirty="0"/>
          </a:p>
        </p:txBody>
      </p:sp>
      <p:sp>
        <p:nvSpPr>
          <p:cNvPr id="67" name="Text 65"/>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+16.8 pts</a:t>
            </a:r>
            <a:endParaRPr lang="en-US" sz="1600" dirty="0"/>
          </a:p>
        </p:txBody>
      </p:sp>
      <p:sp>
        <p:nvSpPr>
          <p:cNvPr id="68" name="Shape 66"/>
          <p:cNvSpPr/>
          <p:nvPr/>
        </p:nvSpPr>
        <p:spPr>
          <a:xfrm>
            <a:off x="11466576" y="4625035"/>
            <a:ext cx="64008" cy="755294"/>
          </a:xfrm>
          <a:prstGeom prst="rect">
            <a:avLst/>
          </a:prstGeom>
          <a:solidFill>
            <a:srgbClr val="2587C5"/>
          </a:solidFill>
          <a:ln/>
        </p:spPr>
        <p:txBody>
          <a:bodyPr/>
          <a:p/>
        </p:txBody>
      </p:sp>
      <p:sp>
        <p:nvSpPr>
          <p:cNvPr id="69" name="Text 67"/>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70" name="Text 68"/>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34.2%</a:t>
            </a:r>
            <a:endParaRPr lang="en-US" sz="1400" dirty="0"/>
          </a:p>
        </p:txBody>
      </p:sp>
      <p:sp>
        <p:nvSpPr>
          <p:cNvPr id="71" name="Text 69"/>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+12.6 pts</a:t>
            </a:r>
            <a:endParaRPr lang="en-US" sz="1600" dirty="0"/>
          </a:p>
        </p:txBody>
      </p:sp>
      <p:sp>
        <p:nvSpPr>
          <p:cNvPr id="72" name="Shape 70"/>
          <p:cNvSpPr/>
          <p:nvPr/>
        </p:nvSpPr>
        <p:spPr>
          <a:xfrm>
            <a:off x="8040624" y="5416906"/>
            <a:ext cx="3489960" cy="828446"/>
          </a:xfrm>
          <a:prstGeom prst="rect">
            <a:avLst/>
          </a:prstGeom>
          <a:solidFill>
            <a:srgbClr val="F7F7F7"/>
          </a:solidFill>
          <a:ln/>
        </p:spPr>
        <p:txBody>
          <a:bodyPr/>
          <a:p/>
        </p:txBody>
      </p:sp>
      <p:sp>
        <p:nvSpPr>
          <p:cNvPr id="73" name="Shape 71"/>
          <p:cNvSpPr/>
          <p:nvPr/>
        </p:nvSpPr>
        <p:spPr>
          <a:xfrm>
            <a:off x="11466576" y="5453482"/>
            <a:ext cx="64008" cy="755294"/>
          </a:xfrm>
          <a:prstGeom prst="rect">
            <a:avLst/>
          </a:prstGeom>
          <a:solidFill>
            <a:srgbClr val="12A566"/>
          </a:solidFill>
          <a:ln/>
        </p:spPr>
        <p:txBody>
          <a:bodyPr/>
          <a:p/>
        </p:txBody>
      </p:sp>
      <p:sp>
        <p:nvSpPr>
          <p:cNvPr id="74" name="Text 72"/>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5" name="Text 73"/>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5.5%</a:t>
            </a:r>
            <a:endParaRPr lang="en-US" sz="1400" dirty="0"/>
          </a:p>
        </p:txBody>
      </p:sp>
      <p:sp>
        <p:nvSpPr>
          <p:cNvPr id="76" name="Text 74"/>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+12.2 pts</a:t>
            </a:r>
            <a:endParaRPr lang="en-US" sz="160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4782312"/>
          </a:xfrm>
          <a:prstGeom prst="rect">
            <a:avLst/>
          </a:prstGeom>
          <a:solidFill>
            <a:srgbClr val="FFFFFF"/>
          </a:solidFill>
          <a:ln/>
        </p:spPr>
        <p:txBody>
          <a:bodyPr/>
          <a:p/>
        </p:txBody>
      </p:sp>
      <p:sp>
        <p:nvSpPr>
          <p:cNvPr id="6" name="Shape 4"/>
          <p:cNvSpPr/>
          <p:nvPr/>
        </p:nvSpPr>
        <p:spPr>
          <a:xfrm>
            <a:off x="658368" y="1335024"/>
            <a:ext cx="10872216" cy="420624"/>
          </a:xfrm>
          <a:prstGeom prst="rect">
            <a:avLst/>
          </a:prstGeom>
          <a:solidFill>
            <a:srgbClr val="EDF4FA"/>
          </a:solidFill>
          <a:ln/>
        </p:spPr>
        <p:txBody>
          <a:bodyPr/>
          <a:p/>
        </p:txBody>
      </p:sp>
      <p:sp>
        <p:nvSpPr>
          <p:cNvPr id="7" name="Shape 5"/>
          <p:cNvSpPr/>
          <p:nvPr/>
        </p:nvSpPr>
        <p:spPr>
          <a:xfrm>
            <a:off x="658368" y="1335024"/>
            <a:ext cx="59436" cy="420624"/>
          </a:xfrm>
          <a:prstGeom prst="rect">
            <a:avLst/>
          </a:prstGeom>
          <a:solidFill>
            <a:srgbClr val="0B2C4A"/>
          </a:solidFill>
          <a:ln/>
        </p:spPr>
        <p:txBody>
          <a:bodyPr/>
          <a:p/>
        </p:txBody>
      </p:sp>
      <p:sp>
        <p:nvSpPr>
          <p:cNvPr id="8" name="Text 6"/>
          <p:cNvSpPr txBox="1"/>
          <p:nvPr/>
        </p:nvSpPr>
        <p:spPr>
          <a:xfrm>
            <a:off x="859536" y="1335024"/>
            <a:ext cx="249936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PARTS NET TO GROSS %</a:t>
            </a:r>
            <a:endParaRPr lang="en-US" sz="1500" dirty="0"/>
          </a:p>
        </p:txBody>
      </p:sp>
      <p:sp>
        <p:nvSpPr>
          <p:cNvPr id="9" name="Text 7"/>
          <p:cNvSpPr txBox="1"/>
          <p:nvPr/>
        </p:nvSpPr>
        <p:spPr>
          <a:xfrm>
            <a:off x="3413760" y="1335024"/>
            <a:ext cx="463296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A82B26"/>
                </a:solidFill>
                <a:latin typeface="Inter" pitchFamily="34" charset="0"/>
                <a:ea typeface="Inter" pitchFamily="34" charset="-122"/>
                <a:cs typeface="Inter" pitchFamily="34" charset="-120"/>
              </a:rPr>
              <a:t>−0.4 pts</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3" name="Shape 11"/>
          <p:cNvSpPr/>
          <p:nvPr/>
        </p:nvSpPr>
        <p:spPr>
          <a:xfrm>
            <a:off x="3785616" y="1911860"/>
            <a:ext cx="777240" cy="110352"/>
          </a:xfrm>
          <a:prstGeom prst="rect">
            <a:avLst/>
          </a:prstGeom>
          <a:solidFill>
            <a:srgbClr val="12A566"/>
          </a:solidFill>
          <a:ln/>
        </p:spPr>
        <p:txBody>
          <a:bodyPr/>
          <a:p/>
        </p:txBody>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+14.2 pts</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7" name="Shape 15"/>
          <p:cNvSpPr/>
          <p:nvPr/>
        </p:nvSpPr>
        <p:spPr>
          <a:xfrm>
            <a:off x="3785616" y="2151755"/>
            <a:ext cx="717031" cy="110352"/>
          </a:xfrm>
          <a:prstGeom prst="rect">
            <a:avLst/>
          </a:prstGeom>
          <a:solidFill>
            <a:srgbClr val="12A566"/>
          </a:solidFill>
          <a:ln/>
        </p:spPr>
        <p:txBody>
          <a:bodyPr/>
          <a:p/>
        </p:txBody>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+13.1 pts</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21" name="Shape 19"/>
          <p:cNvSpPr/>
          <p:nvPr/>
        </p:nvSpPr>
        <p:spPr>
          <a:xfrm>
            <a:off x="3785616" y="2391651"/>
            <a:ext cx="585667" cy="110352"/>
          </a:xfrm>
          <a:prstGeom prst="rect">
            <a:avLst/>
          </a:prstGeom>
          <a:solidFill>
            <a:srgbClr val="12A566"/>
          </a:solidFill>
          <a:ln/>
        </p:spPr>
        <p:txBody>
          <a:bodyPr/>
          <a:p/>
        </p:txBody>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+10.7 pts</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25" name="Shape 23"/>
          <p:cNvSpPr/>
          <p:nvPr/>
        </p:nvSpPr>
        <p:spPr>
          <a:xfrm>
            <a:off x="3785616" y="2631546"/>
            <a:ext cx="410514" cy="110352"/>
          </a:xfrm>
          <a:prstGeom prst="rect">
            <a:avLst/>
          </a:prstGeom>
          <a:solidFill>
            <a:srgbClr val="12A566"/>
          </a:solidFill>
          <a:ln/>
        </p:spPr>
        <p:txBody>
          <a:bodyPr/>
          <a:p/>
        </p:txBody>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+7.5 pts</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29" name="Shape 27"/>
          <p:cNvSpPr/>
          <p:nvPr/>
        </p:nvSpPr>
        <p:spPr>
          <a:xfrm>
            <a:off x="3785616" y="2871442"/>
            <a:ext cx="388620" cy="110352"/>
          </a:xfrm>
          <a:prstGeom prst="rect">
            <a:avLst/>
          </a:prstGeom>
          <a:solidFill>
            <a:srgbClr val="12A566"/>
          </a:solidFill>
          <a:ln/>
        </p:spPr>
        <p:txBody>
          <a:bodyPr/>
          <a:p/>
        </p:txBody>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+7.1 pts</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33" name="Shape 31"/>
          <p:cNvSpPr/>
          <p:nvPr/>
        </p:nvSpPr>
        <p:spPr>
          <a:xfrm>
            <a:off x="3785616" y="3111337"/>
            <a:ext cx="344832" cy="110352"/>
          </a:xfrm>
          <a:prstGeom prst="rect">
            <a:avLst/>
          </a:prstGeom>
          <a:solidFill>
            <a:srgbClr val="12A566"/>
          </a:solidFill>
          <a:ln/>
        </p:spPr>
        <p:txBody>
          <a:bodyPr/>
          <a:p/>
        </p:txBody>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+6.3 pts</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37" name="Shape 35"/>
          <p:cNvSpPr/>
          <p:nvPr/>
        </p:nvSpPr>
        <p:spPr>
          <a:xfrm>
            <a:off x="3785616" y="3351233"/>
            <a:ext cx="344832" cy="110352"/>
          </a:xfrm>
          <a:prstGeom prst="rect">
            <a:avLst/>
          </a:prstGeom>
          <a:solidFill>
            <a:srgbClr val="12A566"/>
          </a:solidFill>
          <a:ln/>
        </p:spPr>
        <p:txBody>
          <a:bodyPr/>
          <a:p/>
        </p:txBody>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+6.3 pts</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41" name="Shape 39"/>
          <p:cNvSpPr/>
          <p:nvPr/>
        </p:nvSpPr>
        <p:spPr>
          <a:xfrm>
            <a:off x="3785616" y="3591128"/>
            <a:ext cx="328411" cy="110352"/>
          </a:xfrm>
          <a:prstGeom prst="rect">
            <a:avLst/>
          </a:prstGeom>
          <a:solidFill>
            <a:srgbClr val="12A566"/>
          </a:solidFill>
          <a:ln/>
        </p:spPr>
        <p:txBody>
          <a:bodyPr/>
          <a:p/>
        </p:txBody>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+6.0 pts</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45" name="Shape 43"/>
          <p:cNvSpPr/>
          <p:nvPr/>
        </p:nvSpPr>
        <p:spPr>
          <a:xfrm>
            <a:off x="3785616" y="3831024"/>
            <a:ext cx="246308" cy="110352"/>
          </a:xfrm>
          <a:prstGeom prst="rect">
            <a:avLst/>
          </a:prstGeom>
          <a:solidFill>
            <a:srgbClr val="12A566"/>
          </a:solidFill>
          <a:ln/>
        </p:spPr>
        <p:txBody>
          <a:bodyPr/>
          <a:p/>
        </p:txBody>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+4.5 pts</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49" name="Shape 47"/>
          <p:cNvSpPr/>
          <p:nvPr/>
        </p:nvSpPr>
        <p:spPr>
          <a:xfrm>
            <a:off x="3785616" y="4070920"/>
            <a:ext cx="175153" cy="110352"/>
          </a:xfrm>
          <a:prstGeom prst="rect">
            <a:avLst/>
          </a:prstGeom>
          <a:solidFill>
            <a:srgbClr val="12A566"/>
          </a:solidFill>
          <a:ln/>
        </p:spPr>
        <p:txBody>
          <a:bodyPr/>
          <a:p/>
        </p:txBody>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+3.2 pts</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53" name="Shape 51"/>
          <p:cNvSpPr/>
          <p:nvPr/>
        </p:nvSpPr>
        <p:spPr>
          <a:xfrm>
            <a:off x="3785616" y="4310815"/>
            <a:ext cx="169679" cy="110352"/>
          </a:xfrm>
          <a:prstGeom prst="rect">
            <a:avLst/>
          </a:prstGeom>
          <a:solidFill>
            <a:srgbClr val="12A566"/>
          </a:solidFill>
          <a:ln/>
        </p:spPr>
        <p:txBody>
          <a:bodyPr/>
          <a:p/>
        </p:txBody>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+3.1 pts</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57" name="Shape 55"/>
          <p:cNvSpPr/>
          <p:nvPr/>
        </p:nvSpPr>
        <p:spPr>
          <a:xfrm>
            <a:off x="3785616" y="4550711"/>
            <a:ext cx="120417" cy="110352"/>
          </a:xfrm>
          <a:prstGeom prst="rect">
            <a:avLst/>
          </a:prstGeom>
          <a:solidFill>
            <a:srgbClr val="12A566"/>
          </a:solidFill>
          <a:ln/>
        </p:spPr>
        <p:txBody>
          <a:bodyPr/>
          <a:p/>
        </p:txBody>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+2.2 pts</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61" name="Shape 59"/>
          <p:cNvSpPr/>
          <p:nvPr/>
        </p:nvSpPr>
        <p:spPr>
          <a:xfrm>
            <a:off x="3785616" y="4790606"/>
            <a:ext cx="109470" cy="110352"/>
          </a:xfrm>
          <a:prstGeom prst="rect">
            <a:avLst/>
          </a:prstGeom>
          <a:solidFill>
            <a:srgbClr val="12A566"/>
          </a:solidFill>
          <a:ln/>
        </p:spPr>
        <p:txBody>
          <a:bodyPr/>
          <a:p/>
        </p:txBody>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+2.0 pts</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65" name="Shape 63"/>
          <p:cNvSpPr/>
          <p:nvPr/>
        </p:nvSpPr>
        <p:spPr>
          <a:xfrm>
            <a:off x="3785616" y="5030502"/>
            <a:ext cx="82103" cy="110352"/>
          </a:xfrm>
          <a:prstGeom prst="rect">
            <a:avLst/>
          </a:prstGeom>
          <a:solidFill>
            <a:srgbClr val="12A566"/>
          </a:solidFill>
          <a:ln/>
        </p:spPr>
        <p:txBody>
          <a:bodyPr/>
          <a:p/>
        </p:txBody>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 pts</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69" name="Shape 67"/>
          <p:cNvSpPr/>
          <p:nvPr/>
        </p:nvSpPr>
        <p:spPr>
          <a:xfrm>
            <a:off x="3785616" y="5270397"/>
            <a:ext cx="71156" cy="110352"/>
          </a:xfrm>
          <a:prstGeom prst="rect">
            <a:avLst/>
          </a:prstGeom>
          <a:solidFill>
            <a:srgbClr val="12A566"/>
          </a:solidFill>
          <a:ln/>
        </p:spPr>
        <p:txBody>
          <a:bodyPr/>
          <a:p/>
        </p:txBody>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 pts</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73" name="Shape 71"/>
          <p:cNvSpPr/>
          <p:nvPr/>
        </p:nvSpPr>
        <p:spPr>
          <a:xfrm>
            <a:off x="3785616" y="5510293"/>
            <a:ext cx="12802" cy="110352"/>
          </a:xfrm>
          <a:prstGeom prst="rect">
            <a:avLst/>
          </a:prstGeom>
          <a:solidFill>
            <a:srgbClr val="12A566"/>
          </a:solidFill>
          <a:ln/>
        </p:spPr>
        <p:txBody>
          <a:bodyPr/>
          <a:p/>
        </p:txBody>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+0.0 pts</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77" name="Shape 75"/>
          <p:cNvSpPr/>
          <p:nvPr/>
        </p:nvSpPr>
        <p:spPr>
          <a:xfrm>
            <a:off x="3780142" y="5750188"/>
            <a:ext cx="12802" cy="110352"/>
          </a:xfrm>
          <a:prstGeom prst="rect">
            <a:avLst/>
          </a:prstGeom>
          <a:solidFill>
            <a:srgbClr val="C2352F"/>
          </a:solidFill>
          <a:ln/>
        </p:spPr>
        <p:txBody>
          <a:bodyPr/>
          <a:p/>
        </p:txBody>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−0.1 pts</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81" name="Shape 79"/>
          <p:cNvSpPr/>
          <p:nvPr/>
        </p:nvSpPr>
        <p:spPr>
          <a:xfrm>
            <a:off x="9275815" y="1911860"/>
            <a:ext cx="60209" cy="110352"/>
          </a:xfrm>
          <a:prstGeom prst="rect">
            <a:avLst/>
          </a:prstGeom>
          <a:solidFill>
            <a:srgbClr val="C2352F"/>
          </a:solidFill>
          <a:ln/>
        </p:spPr>
        <p:txBody>
          <a:bodyPr/>
          <a:p/>
        </p:txBody>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−1.1 pts</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85" name="Shape 83"/>
          <p:cNvSpPr/>
          <p:nvPr/>
        </p:nvSpPr>
        <p:spPr>
          <a:xfrm>
            <a:off x="9264868" y="2151755"/>
            <a:ext cx="71156" cy="110352"/>
          </a:xfrm>
          <a:prstGeom prst="rect">
            <a:avLst/>
          </a:prstGeom>
          <a:solidFill>
            <a:srgbClr val="C2352F"/>
          </a:solidFill>
          <a:ln/>
        </p:spPr>
        <p:txBody>
          <a:bodyPr/>
          <a:p/>
        </p:txBody>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−1.3 pts</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89" name="Shape 87"/>
          <p:cNvSpPr/>
          <p:nvPr/>
        </p:nvSpPr>
        <p:spPr>
          <a:xfrm>
            <a:off x="9182765" y="2391651"/>
            <a:ext cx="153259" cy="110352"/>
          </a:xfrm>
          <a:prstGeom prst="rect">
            <a:avLst/>
          </a:prstGeom>
          <a:solidFill>
            <a:srgbClr val="C2352F"/>
          </a:solidFill>
          <a:ln/>
        </p:spPr>
        <p:txBody>
          <a:bodyPr/>
          <a:p/>
        </p:txBody>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−2.8 pts</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93" name="Shape 91"/>
          <p:cNvSpPr/>
          <p:nvPr/>
        </p:nvSpPr>
        <p:spPr>
          <a:xfrm>
            <a:off x="9149924" y="2631546"/>
            <a:ext cx="186100" cy="110352"/>
          </a:xfrm>
          <a:prstGeom prst="rect">
            <a:avLst/>
          </a:prstGeom>
          <a:solidFill>
            <a:srgbClr val="C2352F"/>
          </a:solidFill>
          <a:ln/>
        </p:spPr>
        <p:txBody>
          <a:bodyPr/>
          <a:p/>
        </p:txBody>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−3.4 pts</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97" name="Shape 95"/>
          <p:cNvSpPr/>
          <p:nvPr/>
        </p:nvSpPr>
        <p:spPr>
          <a:xfrm>
            <a:off x="9106136" y="2871442"/>
            <a:ext cx="229888" cy="110352"/>
          </a:xfrm>
          <a:prstGeom prst="rect">
            <a:avLst/>
          </a:prstGeom>
          <a:solidFill>
            <a:srgbClr val="C2352F"/>
          </a:solidFill>
          <a:ln/>
        </p:spPr>
        <p:txBody>
          <a:bodyPr/>
          <a:p/>
        </p:txBody>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−4.2 pts</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01" name="Shape 99"/>
          <p:cNvSpPr/>
          <p:nvPr/>
        </p:nvSpPr>
        <p:spPr>
          <a:xfrm>
            <a:off x="9106136" y="3111337"/>
            <a:ext cx="229888" cy="110352"/>
          </a:xfrm>
          <a:prstGeom prst="rect">
            <a:avLst/>
          </a:prstGeom>
          <a:solidFill>
            <a:srgbClr val="C2352F"/>
          </a:solidFill>
          <a:ln/>
        </p:spPr>
        <p:txBody>
          <a:bodyPr/>
          <a:p/>
        </p:txBody>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−4.2 pts</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105" name="Shape 103"/>
          <p:cNvSpPr/>
          <p:nvPr/>
        </p:nvSpPr>
        <p:spPr>
          <a:xfrm>
            <a:off x="9073295" y="3351233"/>
            <a:ext cx="262729" cy="110352"/>
          </a:xfrm>
          <a:prstGeom prst="rect">
            <a:avLst/>
          </a:prstGeom>
          <a:solidFill>
            <a:srgbClr val="C2352F"/>
          </a:solidFill>
          <a:ln/>
        </p:spPr>
        <p:txBody>
          <a:bodyPr/>
          <a:p/>
        </p:txBody>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−4.8 pts</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09" name="Shape 107"/>
          <p:cNvSpPr/>
          <p:nvPr/>
        </p:nvSpPr>
        <p:spPr>
          <a:xfrm>
            <a:off x="9040454" y="3591128"/>
            <a:ext cx="295570" cy="110352"/>
          </a:xfrm>
          <a:prstGeom prst="rect">
            <a:avLst/>
          </a:prstGeom>
          <a:solidFill>
            <a:srgbClr val="C2352F"/>
          </a:solidFill>
          <a:ln/>
        </p:spPr>
        <p:txBody>
          <a:bodyPr/>
          <a:p/>
        </p:txBody>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−5.4 pts</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13" name="Shape 111"/>
          <p:cNvSpPr/>
          <p:nvPr/>
        </p:nvSpPr>
        <p:spPr>
          <a:xfrm>
            <a:off x="9034980" y="3831024"/>
            <a:ext cx="301044" cy="110352"/>
          </a:xfrm>
          <a:prstGeom prst="rect">
            <a:avLst/>
          </a:prstGeom>
          <a:solidFill>
            <a:srgbClr val="C2352F"/>
          </a:solidFill>
          <a:ln/>
        </p:spPr>
        <p:txBody>
          <a:bodyPr/>
          <a:p/>
        </p:txBody>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−5.5 pts</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117" name="Shape 115"/>
          <p:cNvSpPr/>
          <p:nvPr/>
        </p:nvSpPr>
        <p:spPr>
          <a:xfrm>
            <a:off x="9018560" y="4070920"/>
            <a:ext cx="317464" cy="110352"/>
          </a:xfrm>
          <a:prstGeom prst="rect">
            <a:avLst/>
          </a:prstGeom>
          <a:solidFill>
            <a:srgbClr val="C2352F"/>
          </a:solidFill>
          <a:ln/>
        </p:spPr>
        <p:txBody>
          <a:bodyPr/>
          <a:p/>
        </p:txBody>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−5.8 pts</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21" name="Shape 119"/>
          <p:cNvSpPr/>
          <p:nvPr/>
        </p:nvSpPr>
        <p:spPr>
          <a:xfrm>
            <a:off x="8963825" y="4310815"/>
            <a:ext cx="372199" cy="110352"/>
          </a:xfrm>
          <a:prstGeom prst="rect">
            <a:avLst/>
          </a:prstGeom>
          <a:solidFill>
            <a:srgbClr val="C2352F"/>
          </a:solidFill>
          <a:ln/>
        </p:spPr>
        <p:txBody>
          <a:bodyPr/>
          <a:p/>
        </p:txBody>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−6.8 pts</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25" name="Shape 123"/>
          <p:cNvSpPr/>
          <p:nvPr/>
        </p:nvSpPr>
        <p:spPr>
          <a:xfrm>
            <a:off x="8881722" y="4550711"/>
            <a:ext cx="454302" cy="110352"/>
          </a:xfrm>
          <a:prstGeom prst="rect">
            <a:avLst/>
          </a:prstGeom>
          <a:solidFill>
            <a:srgbClr val="C2352F"/>
          </a:solidFill>
          <a:ln/>
        </p:spPr>
        <p:txBody>
          <a:bodyPr/>
          <a:p/>
        </p:txBody>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−8.3 pts</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29" name="Shape 127"/>
          <p:cNvSpPr/>
          <p:nvPr/>
        </p:nvSpPr>
        <p:spPr>
          <a:xfrm>
            <a:off x="8794145" y="4790606"/>
            <a:ext cx="541879" cy="110352"/>
          </a:xfrm>
          <a:prstGeom prst="rect">
            <a:avLst/>
          </a:prstGeom>
          <a:solidFill>
            <a:srgbClr val="C2352F"/>
          </a:solidFill>
          <a:ln/>
        </p:spPr>
        <p:txBody>
          <a:bodyPr/>
          <a:p/>
        </p:txBody>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−9.9 pts</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33" name="Shape 131"/>
          <p:cNvSpPr/>
          <p:nvPr/>
        </p:nvSpPr>
        <p:spPr>
          <a:xfrm>
            <a:off x="8722990" y="5030502"/>
            <a:ext cx="613034" cy="110352"/>
          </a:xfrm>
          <a:prstGeom prst="rect">
            <a:avLst/>
          </a:prstGeom>
          <a:solidFill>
            <a:srgbClr val="C2352F"/>
          </a:solidFill>
          <a:ln/>
        </p:spPr>
        <p:txBody>
          <a:bodyPr/>
          <a:p/>
        </p:txBody>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−11.2 pts</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37" name="Shape 135"/>
          <p:cNvSpPr/>
          <p:nvPr/>
        </p:nvSpPr>
        <p:spPr>
          <a:xfrm>
            <a:off x="8690149" y="5270397"/>
            <a:ext cx="645875" cy="110352"/>
          </a:xfrm>
          <a:prstGeom prst="rect">
            <a:avLst/>
          </a:prstGeom>
          <a:solidFill>
            <a:srgbClr val="C2352F"/>
          </a:solidFill>
          <a:ln/>
        </p:spPr>
        <p:txBody>
          <a:bodyPr/>
          <a:p/>
        </p:txBody>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−11.8 pts</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41" name="Shape 139"/>
          <p:cNvSpPr/>
          <p:nvPr/>
        </p:nvSpPr>
        <p:spPr>
          <a:xfrm>
            <a:off x="8651834" y="5510293"/>
            <a:ext cx="684190" cy="110352"/>
          </a:xfrm>
          <a:prstGeom prst="rect">
            <a:avLst/>
          </a:prstGeom>
          <a:solidFill>
            <a:srgbClr val="C2352F"/>
          </a:solidFill>
          <a:ln/>
        </p:spPr>
        <p:txBody>
          <a:bodyPr/>
          <a:p/>
        </p:txBody>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−12.5 pts</a:t>
            </a:r>
            <a:endParaRPr lang="en-US" sz="1200" dirty="0"/>
          </a:p>
        </p:txBody>
      </p:sp>
      <p:sp>
        <p:nvSpPr>
          <p:cNvPr id="143" name="Shape 141"/>
          <p:cNvSpPr/>
          <p:nvPr/>
        </p:nvSpPr>
        <p:spPr>
          <a:xfrm>
            <a:off x="3780130" y="1847088"/>
            <a:ext cx="10973" cy="4078224"/>
          </a:xfrm>
          <a:prstGeom prst="rect">
            <a:avLst/>
          </a:prstGeom>
          <a:solidFill>
            <a:srgbClr val="9AA3AD"/>
          </a:solidFill>
          <a:ln/>
        </p:spPr>
        <p:txBody>
          <a:bodyPr/>
          <a:p/>
        </p:txBody>
      </p:sp>
      <p:sp>
        <p:nvSpPr>
          <p:cNvPr id="144" name="Shape 142"/>
          <p:cNvSpPr/>
          <p:nvPr/>
        </p:nvSpPr>
        <p:spPr>
          <a:xfrm>
            <a:off x="9330538" y="1847088"/>
            <a:ext cx="10973" cy="4078224"/>
          </a:xfrm>
          <a:prstGeom prst="rect">
            <a:avLst/>
          </a:prstGeom>
          <a:solidFill>
            <a:srgbClr val="9AA3AD"/>
          </a:solidFill>
          <a:ln/>
        </p:spPr>
        <p:txBody>
          <a:bodyPr/>
          <a:p/>
        </p:txBody>
      </p:sp>
      <p:sp>
        <p:nvSpPr>
          <p:cNvPr id="145" name="Shape 143"/>
          <p:cNvSpPr/>
          <p:nvPr/>
        </p:nvSpPr>
        <p:spPr>
          <a:xfrm>
            <a:off x="6085332" y="1847088"/>
            <a:ext cx="10973" cy="4078224"/>
          </a:xfrm>
          <a:prstGeom prst="rect">
            <a:avLst/>
          </a:prstGeom>
          <a:solidFill>
            <a:srgbClr val="D9D9D9"/>
          </a:solidFill>
          <a:ln/>
        </p:spPr>
        <p:txBody>
          <a:bodyPr/>
          <a:p/>
        </p:txBody>
      </p:sp>
      <p:sp>
        <p:nvSpPr>
          <p:cNvPr id="147" name="Shape 144"/>
          <p:cNvSpPr/>
          <p:nvPr/>
        </p:nvSpPr>
        <p:spPr>
          <a:xfrm>
            <a:off x="457200" y="6126480"/>
            <a:ext cx="11274552" cy="371856"/>
          </a:xfrm>
          <a:prstGeom prst="rect">
            <a:avLst/>
          </a:prstGeom>
          <a:solidFill>
            <a:srgbClr val="FBEBEA"/>
          </a:solidFill>
          <a:ln/>
        </p:spPr>
        <p:txBody>
          <a:bodyPr/>
          <a:p/>
        </p:txBody>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15 of 33 stores raised parts net to gross. 18 declined.</a:t>
            </a:r>
            <a:endParaRPr lang="en-US" sz="16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17.9%</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+14.2 pts</a:t>
            </a:r>
            <a:endParaRPr lang="en-US" sz="1600" dirty="0"/>
          </a:p>
        </p:txBody>
      </p:sp>
      <p:sp>
        <p:nvSpPr>
          <p:cNvPr id="13" name="Shape 11"/>
          <p:cNvSpPr/>
          <p:nvPr/>
        </p:nvSpPr>
        <p:spPr>
          <a:xfrm>
            <a:off x="4084320" y="2968142"/>
            <a:ext cx="64008" cy="755294"/>
          </a:xfrm>
          <a:prstGeom prst="rect">
            <a:avLst/>
          </a:prstGeom>
          <a:solidFill>
            <a:srgbClr val="12A566"/>
          </a:solidFill>
          <a:ln/>
        </p:spPr>
        <p:txBody>
          <a:bodyPr/>
          <a:p/>
        </p:txBody>
      </p:sp>
      <p:sp>
        <p:nvSpPr>
          <p:cNvPr id="14" name="Text 12"/>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25.2%</a:t>
            </a:r>
            <a:endParaRPr lang="en-US" sz="1400" dirty="0"/>
          </a:p>
        </p:txBody>
      </p:sp>
      <p:sp>
        <p:nvSpPr>
          <p:cNvPr id="16" name="Text 14"/>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+13.1 pts</a:t>
            </a:r>
            <a:endParaRPr lang="en-US" sz="1600" dirty="0"/>
          </a:p>
        </p:txBody>
      </p:sp>
      <p:sp>
        <p:nvSpPr>
          <p:cNvPr id="17" name="Shape 15"/>
          <p:cNvSpPr/>
          <p:nvPr/>
        </p:nvSpPr>
        <p:spPr>
          <a:xfrm>
            <a:off x="658368" y="3760013"/>
            <a:ext cx="3489960" cy="828446"/>
          </a:xfrm>
          <a:prstGeom prst="rect">
            <a:avLst/>
          </a:prstGeom>
          <a:solidFill>
            <a:srgbClr val="F7F7F7"/>
          </a:solidFill>
          <a:ln/>
        </p:spPr>
        <p:txBody>
          <a:bodyPr/>
          <a:p/>
        </p:txBody>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32.9%</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+10.7 pts</a:t>
            </a:r>
            <a:endParaRPr lang="en-US" sz="1600" dirty="0"/>
          </a:p>
        </p:txBody>
      </p:sp>
      <p:sp>
        <p:nvSpPr>
          <p:cNvPr id="21" name="Text 19"/>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26.6%</a:t>
            </a:r>
            <a:endParaRPr lang="en-US" sz="1400" dirty="0"/>
          </a:p>
        </p:txBody>
      </p:sp>
      <p:sp>
        <p:nvSpPr>
          <p:cNvPr id="23" name="Text 21"/>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+7.5 pts</a:t>
            </a:r>
            <a:endParaRPr lang="en-US" sz="1600" dirty="0"/>
          </a:p>
        </p:txBody>
      </p:sp>
      <p:sp>
        <p:nvSpPr>
          <p:cNvPr id="24" name="Shape 22"/>
          <p:cNvSpPr/>
          <p:nvPr/>
        </p:nvSpPr>
        <p:spPr>
          <a:xfrm>
            <a:off x="658368" y="5416906"/>
            <a:ext cx="3489960" cy="828446"/>
          </a:xfrm>
          <a:prstGeom prst="rect">
            <a:avLst/>
          </a:prstGeom>
          <a:solidFill>
            <a:srgbClr val="F7F7F7"/>
          </a:solidFill>
          <a:ln/>
        </p:spPr>
        <p:txBody>
          <a:bodyPr/>
          <a:p/>
        </p:txBody>
      </p:sp>
      <p:sp>
        <p:nvSpPr>
          <p:cNvPr id="25" name="Text 23"/>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44.4%</a:t>
            </a:r>
            <a:endParaRPr lang="en-US" sz="1400" dirty="0"/>
          </a:p>
        </p:txBody>
      </p:sp>
      <p:sp>
        <p:nvSpPr>
          <p:cNvPr id="27" name="Text 25"/>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+7.1 pts</a:t>
            </a:r>
            <a:endParaRPr lang="en-US" sz="1600" dirty="0"/>
          </a:p>
        </p:txBody>
      </p:sp>
      <p:sp>
        <p:nvSpPr>
          <p:cNvPr id="28" name="Shape 26"/>
          <p:cNvSpPr/>
          <p:nvPr/>
        </p:nvSpPr>
        <p:spPr>
          <a:xfrm>
            <a:off x="4349496" y="1371600"/>
            <a:ext cx="3489960" cy="45720"/>
          </a:xfrm>
          <a:prstGeom prst="rect">
            <a:avLst/>
          </a:prstGeom>
          <a:solidFill>
            <a:srgbClr val="C2352F"/>
          </a:solidFill>
          <a:ln/>
        </p:spPr>
        <p:txBody>
          <a:bodyPr/>
          <a:p/>
        </p:txBody>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1" name="Shape 29"/>
          <p:cNvSpPr/>
          <p:nvPr/>
        </p:nvSpPr>
        <p:spPr>
          <a:xfrm>
            <a:off x="4349496" y="2103120"/>
            <a:ext cx="3489960" cy="828446"/>
          </a:xfrm>
          <a:prstGeom prst="rect">
            <a:avLst/>
          </a:prstGeom>
          <a:solidFill>
            <a:srgbClr val="F7F7F7"/>
          </a:solidFill>
          <a:ln/>
        </p:spPr>
        <p:txBody>
          <a:bodyPr/>
          <a:p/>
        </p:txBody>
      </p:sp>
      <p:sp>
        <p:nvSpPr>
          <p:cNvPr id="32" name="Text 30"/>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10.0%</a:t>
            </a:r>
            <a:endParaRPr lang="en-US" sz="1400" dirty="0"/>
          </a:p>
        </p:txBody>
      </p:sp>
      <p:sp>
        <p:nvSpPr>
          <p:cNvPr id="34" name="Text 32"/>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−12.5 pts</a:t>
            </a:r>
            <a:endParaRPr lang="en-US" sz="1600" dirty="0"/>
          </a:p>
        </p:txBody>
      </p:sp>
      <p:sp>
        <p:nvSpPr>
          <p:cNvPr id="35" name="Text 33"/>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6" name="Text 34"/>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49.3%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37.5%</a:t>
            </a:r>
            <a:endParaRPr lang="en-US" sz="1400" dirty="0"/>
          </a:p>
        </p:txBody>
      </p:sp>
      <p:sp>
        <p:nvSpPr>
          <p:cNvPr id="37" name="Text 35"/>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−11.8 pts</a:t>
            </a:r>
            <a:endParaRPr lang="en-US" sz="1600" dirty="0"/>
          </a:p>
        </p:txBody>
      </p:sp>
      <p:sp>
        <p:nvSpPr>
          <p:cNvPr id="38" name="Shape 36"/>
          <p:cNvSpPr/>
          <p:nvPr/>
        </p:nvSpPr>
        <p:spPr>
          <a:xfrm>
            <a:off x="4349496" y="3760013"/>
            <a:ext cx="3489960" cy="828446"/>
          </a:xfrm>
          <a:prstGeom prst="rect">
            <a:avLst/>
          </a:prstGeom>
          <a:solidFill>
            <a:srgbClr val="F7F7F7"/>
          </a:solidFill>
          <a:ln/>
        </p:spPr>
        <p:txBody>
          <a:bodyPr/>
          <a:p/>
        </p:txBody>
      </p:sp>
      <p:sp>
        <p:nvSpPr>
          <p:cNvPr id="39" name="Shape 37"/>
          <p:cNvSpPr/>
          <p:nvPr/>
        </p:nvSpPr>
        <p:spPr>
          <a:xfrm>
            <a:off x="7775448" y="3796589"/>
            <a:ext cx="64008" cy="755294"/>
          </a:xfrm>
          <a:prstGeom prst="rect">
            <a:avLst/>
          </a:prstGeom>
          <a:solidFill>
            <a:srgbClr val="2587C5"/>
          </a:solidFill>
          <a:ln/>
        </p:spPr>
        <p:txBody>
          <a:bodyPr/>
          <a:p/>
        </p:txBody>
      </p:sp>
      <p:sp>
        <p:nvSpPr>
          <p:cNvPr id="40" name="Text 38"/>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1" name="Text 39"/>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23.6%</a:t>
            </a:r>
            <a:endParaRPr lang="en-US" sz="1400" dirty="0"/>
          </a:p>
        </p:txBody>
      </p:sp>
      <p:sp>
        <p:nvSpPr>
          <p:cNvPr id="42" name="Text 40"/>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−11.2 pts</a:t>
            </a:r>
            <a:endParaRPr lang="en-US" sz="1600" dirty="0"/>
          </a:p>
        </p:txBody>
      </p:sp>
      <p:sp>
        <p:nvSpPr>
          <p:cNvPr id="43" name="Text 41"/>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4" name="Text 42"/>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25.3%</a:t>
            </a:r>
            <a:endParaRPr lang="en-US" sz="1400" dirty="0"/>
          </a:p>
        </p:txBody>
      </p:sp>
      <p:sp>
        <p:nvSpPr>
          <p:cNvPr id="45" name="Text 43"/>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−9.9 pts</a:t>
            </a:r>
            <a:endParaRPr lang="en-US" sz="1600" dirty="0"/>
          </a:p>
        </p:txBody>
      </p:sp>
      <p:sp>
        <p:nvSpPr>
          <p:cNvPr id="46" name="Shape 44"/>
          <p:cNvSpPr/>
          <p:nvPr/>
        </p:nvSpPr>
        <p:spPr>
          <a:xfrm>
            <a:off x="4349496" y="5416906"/>
            <a:ext cx="3489960" cy="828446"/>
          </a:xfrm>
          <a:prstGeom prst="rect">
            <a:avLst/>
          </a:prstGeom>
          <a:solidFill>
            <a:srgbClr val="F7F7F7"/>
          </a:solidFill>
          <a:ln/>
        </p:spPr>
        <p:txBody>
          <a:bodyPr/>
          <a:p/>
        </p:txBody>
      </p:sp>
      <p:sp>
        <p:nvSpPr>
          <p:cNvPr id="47" name="Shape 45"/>
          <p:cNvSpPr/>
          <p:nvPr/>
        </p:nvSpPr>
        <p:spPr>
          <a:xfrm>
            <a:off x="7775448" y="5453482"/>
            <a:ext cx="64008" cy="755294"/>
          </a:xfrm>
          <a:prstGeom prst="rect">
            <a:avLst/>
          </a:prstGeom>
          <a:solidFill>
            <a:srgbClr val="2587C5"/>
          </a:solidFill>
          <a:ln/>
        </p:spPr>
        <p:txBody>
          <a:bodyPr/>
          <a:p/>
        </p:txBody>
      </p:sp>
      <p:sp>
        <p:nvSpPr>
          <p:cNvPr id="48" name="Text 46"/>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9" name="Text 47"/>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15.8%</a:t>
            </a:r>
            <a:endParaRPr lang="en-US" sz="1400" dirty="0"/>
          </a:p>
        </p:txBody>
      </p:sp>
      <p:sp>
        <p:nvSpPr>
          <p:cNvPr id="50" name="Text 48"/>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−8.3 pts</a:t>
            </a:r>
            <a:endParaRPr lang="en-US" sz="1600" dirty="0"/>
          </a:p>
        </p:txBody>
      </p:sp>
      <p:sp>
        <p:nvSpPr>
          <p:cNvPr id="51" name="Shape 49"/>
          <p:cNvSpPr/>
          <p:nvPr/>
        </p:nvSpPr>
        <p:spPr>
          <a:xfrm>
            <a:off x="8040624" y="1371600"/>
            <a:ext cx="3489960" cy="45720"/>
          </a:xfrm>
          <a:prstGeom prst="rect">
            <a:avLst/>
          </a:prstGeom>
          <a:solidFill>
            <a:srgbClr val="2587C5"/>
          </a:solidFill>
          <a:ln/>
        </p:spPr>
        <p:txBody>
          <a:bodyPr/>
          <a:p/>
        </p:txBody>
      </p:sp>
      <p:sp>
        <p:nvSpPr>
          <p:cNvPr id="52" name="Text 50"/>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3" name="Text 51"/>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54" name="Shape 52"/>
          <p:cNvSpPr/>
          <p:nvPr/>
        </p:nvSpPr>
        <p:spPr>
          <a:xfrm>
            <a:off x="8040624" y="2103120"/>
            <a:ext cx="3489960" cy="828446"/>
          </a:xfrm>
          <a:prstGeom prst="rect">
            <a:avLst/>
          </a:prstGeom>
          <a:solidFill>
            <a:srgbClr val="F7F7F7"/>
          </a:solidFill>
          <a:ln/>
        </p:spPr>
        <p:txBody>
          <a:bodyPr/>
          <a:p/>
        </p:txBody>
      </p:sp>
      <p:sp>
        <p:nvSpPr>
          <p:cNvPr id="55" name="Text 53"/>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6" name="Text 54"/>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35.8%</a:t>
            </a:r>
            <a:endParaRPr lang="en-US" sz="1400" dirty="0"/>
          </a:p>
        </p:txBody>
      </p:sp>
      <p:sp>
        <p:nvSpPr>
          <p:cNvPr id="57" name="Text 55"/>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+20.1 pts</a:t>
            </a:r>
            <a:endParaRPr lang="en-US" sz="1600" dirty="0"/>
          </a:p>
        </p:txBody>
      </p:sp>
      <p:sp>
        <p:nvSpPr>
          <p:cNvPr id="58" name="Shape 56"/>
          <p:cNvSpPr/>
          <p:nvPr/>
        </p:nvSpPr>
        <p:spPr>
          <a:xfrm>
            <a:off x="11466576" y="2968142"/>
            <a:ext cx="64008" cy="755294"/>
          </a:xfrm>
          <a:prstGeom prst="rect">
            <a:avLst/>
          </a:prstGeom>
          <a:solidFill>
            <a:srgbClr val="2587C5"/>
          </a:solidFill>
          <a:ln/>
        </p:spPr>
        <p:txBody>
          <a:bodyPr/>
          <a:p/>
        </p:txBody>
      </p:sp>
      <p:sp>
        <p:nvSpPr>
          <p:cNvPr id="59" name="Text 57"/>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0" name="Text 58"/>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34.2%</a:t>
            </a:r>
            <a:endParaRPr lang="en-US" sz="1400" dirty="0"/>
          </a:p>
        </p:txBody>
      </p:sp>
      <p:sp>
        <p:nvSpPr>
          <p:cNvPr id="61" name="Text 59"/>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+16.9 pts</a:t>
            </a:r>
            <a:endParaRPr lang="en-US" sz="1600" dirty="0"/>
          </a:p>
        </p:txBody>
      </p:sp>
      <p:sp>
        <p:nvSpPr>
          <p:cNvPr id="62" name="Shape 60"/>
          <p:cNvSpPr/>
          <p:nvPr/>
        </p:nvSpPr>
        <p:spPr>
          <a:xfrm>
            <a:off x="8040624" y="3760013"/>
            <a:ext cx="3489960" cy="828446"/>
          </a:xfrm>
          <a:prstGeom prst="rect">
            <a:avLst/>
          </a:prstGeom>
          <a:solidFill>
            <a:srgbClr val="F7F7F7"/>
          </a:solidFill>
          <a:ln/>
        </p:spPr>
        <p:txBody>
          <a:bodyPr/>
          <a:p/>
        </p:txBody>
      </p:sp>
      <p:sp>
        <p:nvSpPr>
          <p:cNvPr id="63" name="Text 61"/>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4" name="Text 62"/>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40.6%</a:t>
            </a:r>
            <a:endParaRPr lang="en-US" sz="1400" dirty="0"/>
          </a:p>
        </p:txBody>
      </p:sp>
      <p:sp>
        <p:nvSpPr>
          <p:cNvPr id="65" name="Text 63"/>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+16.4 pts</a:t>
            </a:r>
            <a:endParaRPr lang="en-US" sz="1600" dirty="0"/>
          </a:p>
        </p:txBody>
      </p:sp>
      <p:sp>
        <p:nvSpPr>
          <p:cNvPr id="66" name="Shape 64"/>
          <p:cNvSpPr/>
          <p:nvPr/>
        </p:nvSpPr>
        <p:spPr>
          <a:xfrm>
            <a:off x="11466576" y="4625035"/>
            <a:ext cx="64008" cy="755294"/>
          </a:xfrm>
          <a:prstGeom prst="rect">
            <a:avLst/>
          </a:prstGeom>
          <a:solidFill>
            <a:srgbClr val="12A566"/>
          </a:solidFill>
          <a:ln/>
        </p:spPr>
        <p:txBody>
          <a:bodyPr/>
          <a:p/>
        </p:txBody>
      </p:sp>
      <p:sp>
        <p:nvSpPr>
          <p:cNvPr id="67" name="Text 65"/>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8" name="Text 66"/>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31.0%</a:t>
            </a:r>
            <a:endParaRPr lang="en-US" sz="1400" dirty="0"/>
          </a:p>
        </p:txBody>
      </p:sp>
      <p:sp>
        <p:nvSpPr>
          <p:cNvPr id="69" name="Text 67"/>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+15.4 pts</a:t>
            </a:r>
            <a:endParaRPr lang="en-US" sz="1600" dirty="0"/>
          </a:p>
        </p:txBody>
      </p:sp>
      <p:sp>
        <p:nvSpPr>
          <p:cNvPr id="70" name="Shape 68"/>
          <p:cNvSpPr/>
          <p:nvPr/>
        </p:nvSpPr>
        <p:spPr>
          <a:xfrm>
            <a:off x="8040624" y="5416906"/>
            <a:ext cx="3489960" cy="828446"/>
          </a:xfrm>
          <a:prstGeom prst="rect">
            <a:avLst/>
          </a:prstGeom>
          <a:solidFill>
            <a:srgbClr val="F7F7F7"/>
          </a:solidFill>
          <a:ln/>
        </p:spPr>
        <p:txBody>
          <a:bodyPr/>
          <a:p/>
        </p:txBody>
      </p:sp>
      <p:sp>
        <p:nvSpPr>
          <p:cNvPr id="71" name="Shape 69"/>
          <p:cNvSpPr/>
          <p:nvPr/>
        </p:nvSpPr>
        <p:spPr>
          <a:xfrm>
            <a:off x="11466576" y="5453482"/>
            <a:ext cx="64008" cy="755294"/>
          </a:xfrm>
          <a:prstGeom prst="rect">
            <a:avLst/>
          </a:prstGeom>
          <a:solidFill>
            <a:srgbClr val="2587C5"/>
          </a:solidFill>
          <a:ln/>
        </p:spPr>
        <p:txBody>
          <a:bodyPr/>
          <a:p/>
        </p:txBody>
      </p:sp>
      <p:sp>
        <p:nvSpPr>
          <p:cNvPr id="72" name="Text 70"/>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3" name="Text 71"/>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24.1%</a:t>
            </a:r>
            <a:endParaRPr lang="en-US" sz="1400" dirty="0"/>
          </a:p>
        </p:txBody>
      </p:sp>
      <p:sp>
        <p:nvSpPr>
          <p:cNvPr id="74" name="Text 72"/>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+15.0 pts</a:t>
            </a:r>
            <a:endParaRPr lang="en-US" sz="1600"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Can You Control?</a:t>
            </a:r>
            <a:endParaRPr lang="en-US" sz="2800" dirty="0"/>
          </a:p>
        </p:txBody>
      </p:sp>
      <p:sp>
        <p:nvSpPr>
          <p:cNvPr id="5" name="Shape 3"/>
          <p:cNvSpPr/>
          <p:nvPr/>
        </p:nvSpPr>
        <p:spPr>
          <a:xfrm>
            <a:off x="457200" y="1207008"/>
            <a:ext cx="6400800" cy="4782312"/>
          </a:xfrm>
          <a:prstGeom prst="rect">
            <a:avLst/>
          </a:prstGeom>
          <a:solidFill>
            <a:srgbClr val="FFFFFF"/>
          </a:solidFill>
          <a:ln/>
        </p:spPr>
        <p:txBody>
          <a:bodyPr/>
          <a:p/>
        </p:txBody>
      </p:sp>
      <p:sp>
        <p:nvSpPr>
          <p:cNvPr id="6" name="Shape 4"/>
          <p:cNvSpPr/>
          <p:nvPr/>
        </p:nvSpPr>
        <p:spPr>
          <a:xfrm>
            <a:off x="7022592" y="1207008"/>
            <a:ext cx="4709160" cy="4782312"/>
          </a:xfrm>
          <a:prstGeom prst="rect">
            <a:avLst/>
          </a:prstGeom>
          <a:solidFill>
            <a:srgbClr val="FFFFFF"/>
          </a:solidFill>
          <a:ln/>
        </p:spPr>
        <p:txBody>
          <a:bodyPr/>
          <a:p/>
        </p:txBody>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txBody>
          <a:bodyPr/>
          <a:p/>
        </p:txBody>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Take care of the customers we already have: how we treat them decides whether they come back</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Repair order count: how many customers we serve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Dollars per repair order: how much we sell each one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The rates we charge, and how we decide what to charge</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CP labor $ per RO is the best way to judge performance, store and individual</a:t>
            </a:r>
            <a:endParaRPr lang="en-US" sz="1800" dirty="0"/>
          </a:p>
          <a:p>
            <a:pPr marL="228600" indent="-228600">
              <a:spcAft>
                <a:spcPts val="800"/>
              </a:spcAft>
              <a:buSzPct val="100000"/>
              <a:buChar char="•"/>
            </a:pPr>
            <a:r>
              <a:rPr lang="en-US" sz="1800" dirty="0">
                <a:solidFill>
                  <a:srgbClr val="1A1A1A"/>
                </a:solidFill>
                <a:latin typeface="Inter" pitchFamily="34" charset="0"/>
                <a:ea typeface="Inter" pitchFamily="34" charset="-122"/>
                <a:cs typeface="Inter" pitchFamily="34" charset="-120"/>
              </a:rPr>
              <a:t>Track the metrics that matter most every day, talk about them, and train on them</a:t>
            </a:r>
            <a:endParaRPr lang="en-US" sz="1800" dirty="0"/>
          </a:p>
        </p:txBody>
      </p:sp>
      <p:sp>
        <p:nvSpPr>
          <p:cNvPr id="10" name="Shape 8"/>
          <p:cNvSpPr/>
          <p:nvPr/>
        </p:nvSpPr>
        <p:spPr>
          <a:xfrm>
            <a:off x="7269480" y="1920240"/>
            <a:ext cx="54864" cy="1112520"/>
          </a:xfrm>
          <a:prstGeom prst="rect">
            <a:avLst/>
          </a:prstGeom>
          <a:solidFill>
            <a:srgbClr val="2587C5"/>
          </a:solidFill>
          <a:ln/>
        </p:spPr>
        <p:txBody>
          <a:bodyPr/>
          <a:p/>
        </p:txBody>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2C4A"/>
                </a:solidFill>
                <a:latin typeface="Inter" pitchFamily="34" charset="0"/>
                <a:ea typeface="Inter" pitchFamily="34" charset="-122"/>
                <a:cs typeface="Inter" pitchFamily="34" charset="-120"/>
              </a:rPr>
              <a:t>279,756 ROs</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Customer-pay RO count, up only 456. Volume is flat.</a:t>
            </a:r>
            <a:endParaRPr lang="en-US" sz="1400" dirty="0"/>
          </a:p>
        </p:txBody>
      </p:sp>
      <p:sp>
        <p:nvSpPr>
          <p:cNvPr id="13" name="Shape 11"/>
          <p:cNvSpPr/>
          <p:nvPr/>
        </p:nvSpPr>
        <p:spPr>
          <a:xfrm>
            <a:off x="7269480" y="3261360"/>
            <a:ext cx="54864" cy="1112520"/>
          </a:xfrm>
          <a:prstGeom prst="rect">
            <a:avLst/>
          </a:prstGeom>
          <a:solidFill>
            <a:srgbClr val="12A566"/>
          </a:solidFill>
          <a:ln/>
        </p:spPr>
        <p:txBody>
          <a:bodyPr/>
          <a:p/>
        </p:txBody>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1.87 hrs per RO</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Up 0.07, ahead in all nine months. Every 0.1 hour per RO is worth $6.6M a year in gross.</a:t>
            </a:r>
            <a:endParaRPr lang="en-US" sz="1400" dirty="0"/>
          </a:p>
        </p:txBody>
      </p:sp>
      <p:sp>
        <p:nvSpPr>
          <p:cNvPr id="16" name="Shape 14"/>
          <p:cNvSpPr/>
          <p:nvPr/>
        </p:nvSpPr>
        <p:spPr>
          <a:xfrm>
            <a:off x="7269480" y="4602480"/>
            <a:ext cx="54864" cy="1112520"/>
          </a:xfrm>
          <a:prstGeom prst="rect">
            <a:avLst/>
          </a:prstGeom>
          <a:solidFill>
            <a:srgbClr val="12A566"/>
          </a:solidFill>
          <a:ln/>
        </p:spPr>
        <p:txBody>
          <a:bodyPr/>
          <a:p/>
        </p:txBody>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$304 per RO</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CP labor per RO, up $17. The $4,899,376 labor gain came from selling more per visit.</a:t>
            </a:r>
            <a:endParaRPr lang="en-US" sz="1400" dirty="0"/>
          </a:p>
        </p:txBody>
      </p:sp>
      <p:sp>
        <p:nvSpPr>
          <p:cNvPr id="19" name="Shape 17"/>
          <p:cNvSpPr/>
          <p:nvPr/>
        </p:nvSpPr>
        <p:spPr>
          <a:xfrm>
            <a:off x="457200" y="6126480"/>
            <a:ext cx="11274552" cy="356616"/>
          </a:xfrm>
          <a:prstGeom prst="rect">
            <a:avLst/>
          </a:prstGeom>
          <a:solidFill>
            <a:srgbClr val="E6F6EE"/>
          </a:solidFill>
          <a:ln/>
        </p:spPr>
        <p:txBody>
          <a:bodyPr/>
          <a:p/>
        </p:txBody>
      </p:sp>
      <p:sp>
        <p:nvSpPr>
          <p:cNvPr id="20" name="Text 18"/>
          <p:cNvSpPr txBox="1"/>
          <p:nvPr/>
        </p:nvSpPr>
        <p:spPr>
          <a:xfrm>
            <a:off x="658368" y="6144768"/>
            <a:ext cx="10927080" cy="3200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The ask: with car count flat, the growth is in hours per RO. Sell the next tenth of an hour on every RO.</a:t>
            </a:r>
            <a:endParaRPr lang="en-US" sz="1500" dirty="0"/>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Hours per RO</a:t>
            </a:r>
            <a:endParaRPr lang="en-US" sz="2800" dirty="0"/>
          </a:p>
        </p:txBody>
      </p:sp>
      <p:sp>
        <p:nvSpPr>
          <p:cNvPr id="5" name="Shape 3"/>
          <p:cNvSpPr/>
          <p:nvPr/>
        </p:nvSpPr>
        <p:spPr>
          <a:xfrm>
            <a:off x="457200" y="1207008"/>
            <a:ext cx="11274552" cy="1024128"/>
          </a:xfrm>
          <a:prstGeom prst="rect">
            <a:avLst/>
          </a:prstGeom>
          <a:solidFill>
            <a:srgbClr val="EDF4FA"/>
          </a:solidFill>
          <a:ln/>
        </p:spPr>
        <p:txBody>
          <a:bodyPr/>
          <a:p/>
        </p:txBody>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Hours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hours sold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RO count</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labor hours we sell, on average, every time a customer-pay car comes through the drive.</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0.1 HOUR</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txBody>
          <a:bodyPr/>
          <a:p/>
        </p:txBody>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0.1 hour more on every RO  </a:t>
            </a:r>
            <a:pPr algn="ctr" indent="0" marL="0">
              <a:buNone/>
            </a:pPr>
            <a:r>
              <a:rPr lang="en-US" sz="1400" b="1" dirty="0">
                <a:solidFill>
                  <a:srgbClr val="0B2C4A"/>
                </a:solidFill>
                <a:latin typeface="Inter" pitchFamily="34" charset="0"/>
                <a:ea typeface="Inter" pitchFamily="34" charset="-122"/>
                <a:cs typeface="Inter" pitchFamily="34" charset="-120"/>
              </a:rPr>
              <a:t>= 37,301 hours a year</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txBody>
          <a:bodyPr/>
          <a:p/>
        </p:txBody>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each store's gross per hour  </a:t>
            </a:r>
            <a:pPr algn="ctr" indent="0" marL="0">
              <a:buNone/>
            </a:pPr>
            <a:r>
              <a:rPr lang="en-US" sz="1400" b="1" dirty="0">
                <a:solidFill>
                  <a:srgbClr val="0B2C4A"/>
                </a:solidFill>
                <a:latin typeface="Inter" pitchFamily="34" charset="0"/>
                <a:ea typeface="Inter" pitchFamily="34" charset="-122"/>
                <a:cs typeface="Inter" pitchFamily="34" charset="-120"/>
              </a:rPr>
              <a:t>= $6.6M a year</a:t>
            </a:r>
            <a:endParaRPr lang="en-US" sz="1400" dirty="0"/>
          </a:p>
        </p:txBody>
      </p:sp>
      <p:sp>
        <p:nvSpPr>
          <p:cNvPr id="13" name="Shape 11"/>
          <p:cNvSpPr/>
          <p:nvPr/>
        </p:nvSpPr>
        <p:spPr>
          <a:xfrm>
            <a:off x="457200" y="2907792"/>
            <a:ext cx="4343400" cy="3447288"/>
          </a:xfrm>
          <a:prstGeom prst="rect">
            <a:avLst/>
          </a:prstGeom>
          <a:solidFill>
            <a:srgbClr val="FFFFFF"/>
          </a:solidFill>
          <a:ln/>
        </p:spPr>
        <p:txBody>
          <a:bodyPr/>
          <a:p/>
        </p:txBody>
      </p:sp>
      <p:sp>
        <p:nvSpPr>
          <p:cNvPr id="14" name="Shape 12"/>
          <p:cNvSpPr/>
          <p:nvPr/>
        </p:nvSpPr>
        <p:spPr>
          <a:xfrm>
            <a:off x="4937760" y="2907792"/>
            <a:ext cx="6793992" cy="3447288"/>
          </a:xfrm>
          <a:prstGeom prst="rect">
            <a:avLst/>
          </a:prstGeom>
          <a:solidFill>
            <a:srgbClr val="FFFFFF"/>
          </a:solidFill>
          <a:ln/>
        </p:spPr>
        <p:txBody>
          <a:bodyPr/>
          <a:p/>
        </p:txBody>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7" name="Text 15"/>
          <p:cNvSpPr txBox="1"/>
          <p:nvPr/>
        </p:nvSpPr>
        <p:spPr>
          <a:xfrm>
            <a:off x="658368" y="3410712"/>
            <a:ext cx="3977640" cy="2807208"/>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cannot be manipulated: it is the work we sell.</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shows where the lift came from: if labor sales per RO go up but hours per RO stay flat, we are charging more, not selling more.</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Selling more hours also sells parts.</a:t>
            </a:r>
            <a:endParaRPr lang="en-US" sz="1600" dirty="0"/>
          </a:p>
        </p:txBody>
      </p:sp>
      <p:sp>
        <p:nvSpPr>
          <p:cNvPr id="18" name="Shape 16"/>
          <p:cNvSpPr/>
          <p:nvPr/>
        </p:nvSpPr>
        <p:spPr>
          <a:xfrm>
            <a:off x="5138928" y="3410712"/>
            <a:ext cx="45720" cy="841248"/>
          </a:xfrm>
          <a:prstGeom prst="rect">
            <a:avLst/>
          </a:prstGeom>
          <a:solidFill>
            <a:srgbClr val="2587C5"/>
          </a:solidFill>
          <a:ln/>
        </p:spPr>
        <p:txBody>
          <a:bodyPr/>
          <a:p/>
        </p:txBody>
      </p:sp>
      <p:sp>
        <p:nvSpPr>
          <p:cNvPr id="19" name="Text 17"/>
          <p:cNvSpPr txBox="1"/>
          <p:nvPr/>
        </p:nvSpPr>
        <p:spPr>
          <a:xfrm>
            <a:off x="5266944" y="3410712"/>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MPI on every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car inspected, with photos and video sent to the customer</a:t>
            </a:r>
            <a:endParaRPr lang="en-US" sz="1400" dirty="0"/>
          </a:p>
        </p:txBody>
      </p:sp>
      <p:sp>
        <p:nvSpPr>
          <p:cNvPr id="20" name="Shape 18"/>
          <p:cNvSpPr/>
          <p:nvPr/>
        </p:nvSpPr>
        <p:spPr>
          <a:xfrm>
            <a:off x="8394192" y="3410712"/>
            <a:ext cx="45720" cy="841248"/>
          </a:xfrm>
          <a:prstGeom prst="rect">
            <a:avLst/>
          </a:prstGeom>
          <a:solidFill>
            <a:srgbClr val="2587C5"/>
          </a:solidFill>
          <a:ln/>
        </p:spPr>
        <p:txBody>
          <a:bodyPr/>
          <a:p/>
        </p:txBody>
      </p:sp>
      <p:sp>
        <p:nvSpPr>
          <p:cNvPr id="21" name="Text 19"/>
          <p:cNvSpPr txBox="1"/>
          <p:nvPr/>
        </p:nvSpPr>
        <p:spPr>
          <a:xfrm>
            <a:off x="8522208" y="3410712"/>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Road to the Sale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Walk-around at the vehicle: hood, tires and wipers</a:t>
            </a:r>
            <a:endParaRPr lang="en-US" sz="1400" dirty="0"/>
          </a:p>
        </p:txBody>
      </p:sp>
      <p:sp>
        <p:nvSpPr>
          <p:cNvPr id="22" name="Shape 20"/>
          <p:cNvSpPr/>
          <p:nvPr/>
        </p:nvSpPr>
        <p:spPr>
          <a:xfrm>
            <a:off x="5138928" y="4361688"/>
            <a:ext cx="45720" cy="841248"/>
          </a:xfrm>
          <a:prstGeom prst="rect">
            <a:avLst/>
          </a:prstGeom>
          <a:solidFill>
            <a:srgbClr val="2587C5"/>
          </a:solidFill>
          <a:ln/>
        </p:spPr>
        <p:txBody>
          <a:bodyPr/>
          <a:p/>
        </p:txBody>
      </p:sp>
      <p:sp>
        <p:nvSpPr>
          <p:cNvPr id="23" name="Text 21"/>
          <p:cNvSpPr txBox="1"/>
          <p:nvPr/>
        </p:nvSpPr>
        <p:spPr>
          <a:xfrm>
            <a:off x="5266944" y="4361688"/>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presentation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Time and mileage recommendations, every customer, every time</a:t>
            </a:r>
            <a:endParaRPr lang="en-US" sz="1400" dirty="0"/>
          </a:p>
        </p:txBody>
      </p:sp>
      <p:sp>
        <p:nvSpPr>
          <p:cNvPr id="24" name="Shape 22"/>
          <p:cNvSpPr/>
          <p:nvPr/>
        </p:nvSpPr>
        <p:spPr>
          <a:xfrm>
            <a:off x="8394192" y="4361688"/>
            <a:ext cx="45720" cy="841248"/>
          </a:xfrm>
          <a:prstGeom prst="rect">
            <a:avLst/>
          </a:prstGeom>
          <a:solidFill>
            <a:srgbClr val="2587C5"/>
          </a:solidFill>
          <a:ln/>
        </p:spPr>
        <p:txBody>
          <a:bodyPr/>
          <a:p/>
        </p:txBody>
      </p:sp>
      <p:sp>
        <p:nvSpPr>
          <p:cNvPr id="25" name="Text 23"/>
          <p:cNvSpPr txBox="1"/>
          <p:nvPr/>
        </p:nvSpPr>
        <p:spPr>
          <a:xfrm>
            <a:off x="8522208" y="4361688"/>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Declined work follow-up</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A defined process and a champion to bring it back</a:t>
            </a:r>
            <a:endParaRPr lang="en-US" sz="1400" dirty="0"/>
          </a:p>
        </p:txBody>
      </p:sp>
      <p:sp>
        <p:nvSpPr>
          <p:cNvPr id="26" name="Shape 24"/>
          <p:cNvSpPr/>
          <p:nvPr/>
        </p:nvSpPr>
        <p:spPr>
          <a:xfrm>
            <a:off x="5138928" y="5312664"/>
            <a:ext cx="45720" cy="841248"/>
          </a:xfrm>
          <a:prstGeom prst="rect">
            <a:avLst/>
          </a:prstGeom>
          <a:solidFill>
            <a:srgbClr val="2587C5"/>
          </a:solidFill>
          <a:ln/>
        </p:spPr>
        <p:txBody>
          <a:bodyPr/>
          <a:p/>
        </p:txBody>
      </p:sp>
      <p:sp>
        <p:nvSpPr>
          <p:cNvPr id="27" name="Text 25"/>
          <p:cNvSpPr txBox="1"/>
          <p:nvPr/>
        </p:nvSpPr>
        <p:spPr>
          <a:xfrm>
            <a:off x="5266944" y="5312664"/>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Op code times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Sell the hours the job pays; don't give time away</a:t>
            </a:r>
            <a:endParaRPr lang="en-US" sz="1400" dirty="0"/>
          </a:p>
        </p:txBody>
      </p:sp>
      <p:sp>
        <p:nvSpPr>
          <p:cNvPr id="28" name="Shape 26"/>
          <p:cNvSpPr/>
          <p:nvPr/>
        </p:nvSpPr>
        <p:spPr>
          <a:xfrm>
            <a:off x="8394192" y="5312664"/>
            <a:ext cx="45720" cy="841248"/>
          </a:xfrm>
          <a:prstGeom prst="rect">
            <a:avLst/>
          </a:prstGeom>
          <a:solidFill>
            <a:srgbClr val="2587C5"/>
          </a:solidFill>
          <a:ln/>
        </p:spPr>
        <p:txBody>
          <a:bodyPr/>
          <a:p/>
        </p:txBody>
      </p:sp>
      <p:sp>
        <p:nvSpPr>
          <p:cNvPr id="29" name="Text 27"/>
          <p:cNvSpPr txBox="1"/>
          <p:nvPr/>
        </p:nvSpPr>
        <p:spPr>
          <a:xfrm>
            <a:off x="8522208" y="5312664"/>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Right tech, right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High-mileage and repair work to the techs who find it</a:t>
            </a:r>
            <a:endParaRPr lang="en-US" sz="1400" dirty="0"/>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Hours per RO</a:t>
            </a:r>
            <a:endParaRPr lang="en-US" sz="2800" dirty="0"/>
          </a:p>
        </p:txBody>
      </p:sp>
      <p:sp>
        <p:nvSpPr>
          <p:cNvPr id="5" name="Shape 3"/>
          <p:cNvSpPr/>
          <p:nvPr/>
        </p:nvSpPr>
        <p:spPr>
          <a:xfrm>
            <a:off x="457200" y="1207008"/>
            <a:ext cx="11274552" cy="1005840"/>
          </a:xfrm>
          <a:prstGeom prst="rect">
            <a:avLst/>
          </a:prstGeom>
          <a:solidFill>
            <a:srgbClr val="FFFFFF"/>
          </a:solidFill>
          <a:ln/>
        </p:spPr>
        <p:txBody>
          <a:bodyPr/>
          <a:p/>
        </p:txBody>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1.80</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1.87</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+0.07</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+3.6%</a:t>
            </a:r>
            <a:endParaRPr lang="en-US" sz="3000" dirty="0"/>
          </a:p>
        </p:txBody>
      </p:sp>
      <p:sp>
        <p:nvSpPr>
          <p:cNvPr id="14" name="Shape 12"/>
          <p:cNvSpPr/>
          <p:nvPr/>
        </p:nvSpPr>
        <p:spPr>
          <a:xfrm>
            <a:off x="457200" y="2322576"/>
            <a:ext cx="11274552" cy="3666744"/>
          </a:xfrm>
          <a:prstGeom prst="rect">
            <a:avLst/>
          </a:prstGeom>
          <a:solidFill>
            <a:srgbClr val="FFFFFF"/>
          </a:solidFill>
          <a:ln/>
        </p:spPr>
        <p:txBody>
          <a:bodyPr/>
          <a:p/>
        </p:txBody>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Hours per RO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txBody>
          <a:bodyPr/>
          <a:p/>
        </p:txBody>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sp>
        <p:nvSpPr>
          <p:cNvPr id="22" name="Shape 15"/>
          <p:cNvSpPr/>
          <p:nvPr/>
        </p:nvSpPr>
        <p:spPr>
          <a:xfrm>
            <a:off x="4951476" y="3049524"/>
            <a:ext cx="310896" cy="45720"/>
          </a:xfrm>
          <a:prstGeom prst="rect">
            <a:avLst/>
          </a:prstGeom>
          <a:solidFill>
            <a:srgbClr val="9AA3AD"/>
          </a:solidFill>
          <a:ln/>
        </p:spPr>
        <p:txBody>
          <a:bodyPr/>
          <a:p/>
        </p:txBody>
      </p:sp>
      <p:sp>
        <p:nvSpPr>
          <p:cNvPr id="23" name="Shape 16"/>
          <p:cNvSpPr/>
          <p:nvPr/>
        </p:nvSpPr>
        <p:spPr>
          <a:xfrm>
            <a:off x="5052060" y="3017520"/>
            <a:ext cx="109728" cy="109728"/>
          </a:xfrm>
          <a:prstGeom prst="ellipse">
            <a:avLst/>
          </a:prstGeom>
          <a:solidFill>
            <a:srgbClr val="9AA3AD"/>
          </a:solidFill>
          <a:ln/>
        </p:spPr>
        <p:txBody>
          <a:bodyPr/>
          <a:p/>
        </p:txBody>
      </p:sp>
      <p:sp>
        <p:nvSpPr>
          <p:cNvPr id="24"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5" name="Shape 18"/>
          <p:cNvSpPr/>
          <p:nvPr/>
        </p:nvSpPr>
        <p:spPr>
          <a:xfrm>
            <a:off x="6185916" y="3049524"/>
            <a:ext cx="310896" cy="45720"/>
          </a:xfrm>
          <a:prstGeom prst="rect">
            <a:avLst/>
          </a:prstGeom>
          <a:solidFill>
            <a:srgbClr val="2587C5"/>
          </a:solidFill>
          <a:ln/>
        </p:spPr>
        <p:txBody>
          <a:bodyPr/>
          <a:p/>
        </p:txBody>
      </p:sp>
      <p:sp>
        <p:nvSpPr>
          <p:cNvPr id="26" name="Shape 19"/>
          <p:cNvSpPr/>
          <p:nvPr/>
        </p:nvSpPr>
        <p:spPr>
          <a:xfrm>
            <a:off x="6286500" y="3017520"/>
            <a:ext cx="109728" cy="109728"/>
          </a:xfrm>
          <a:prstGeom prst="ellipse">
            <a:avLst/>
          </a:prstGeom>
          <a:solidFill>
            <a:srgbClr val="2587C5"/>
          </a:solidFill>
          <a:ln/>
        </p:spPr>
        <p:txBody>
          <a:bodyPr/>
          <a:p/>
        </p:txBody>
      </p:sp>
      <p:sp>
        <p:nvSpPr>
          <p:cNvPr id="27"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8" name="Shape 21"/>
          <p:cNvSpPr/>
          <p:nvPr/>
        </p:nvSpPr>
        <p:spPr>
          <a:xfrm>
            <a:off x="457200" y="6126480"/>
            <a:ext cx="11274552" cy="356616"/>
          </a:xfrm>
          <a:prstGeom prst="rect">
            <a:avLst/>
          </a:prstGeom>
          <a:solidFill>
            <a:srgbClr val="E6F6EE"/>
          </a:solidFill>
          <a:ln/>
        </p:spPr>
        <p:txBody>
          <a:bodyPr/>
          <a:p/>
        </p:txBody>
      </p:sp>
      <p:sp>
        <p:nvSpPr>
          <p:cNvPr id="29" name="Text 22"/>
          <p:cNvSpPr txBox="1"/>
          <p:nvPr/>
        </p:nvSpPr>
        <p:spPr>
          <a:xfrm>
            <a:off x="658368" y="6144768"/>
            <a:ext cx="10927080" cy="3200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Up 0.07 to 1.87, ahead of 2025 in all nine months. Each 0.1 hour per RO is worth $6.6M a year in gross.</a:t>
            </a:r>
            <a:endParaRPr lang="en-US" sz="1500" dirty="0"/>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Gross Profit %</a:t>
            </a:r>
            <a:endParaRPr lang="en-US" sz="2800" dirty="0"/>
          </a:p>
        </p:txBody>
      </p:sp>
      <p:sp>
        <p:nvSpPr>
          <p:cNvPr id="5" name="Shape 3"/>
          <p:cNvSpPr/>
          <p:nvPr/>
        </p:nvSpPr>
        <p:spPr>
          <a:xfrm>
            <a:off x="457200" y="1207008"/>
            <a:ext cx="11274552" cy="4782312"/>
          </a:xfrm>
          <a:prstGeom prst="rect">
            <a:avLst/>
          </a:prstGeom>
          <a:solidFill>
            <a:srgbClr val="FFFFFF"/>
          </a:solidFill>
          <a:ln/>
        </p:spPr>
        <p:txBody>
          <a:bodyPr/>
          <a:p/>
        </p:txBody>
      </p:sp>
      <p:sp>
        <p:nvSpPr>
          <p:cNvPr id="6" name="Shape 4"/>
          <p:cNvSpPr/>
          <p:nvPr/>
        </p:nvSpPr>
        <p:spPr>
          <a:xfrm>
            <a:off x="658368" y="1335024"/>
            <a:ext cx="10872216" cy="420624"/>
          </a:xfrm>
          <a:prstGeom prst="rect">
            <a:avLst/>
          </a:prstGeom>
          <a:solidFill>
            <a:srgbClr val="EDF4FA"/>
          </a:solidFill>
          <a:ln/>
        </p:spPr>
        <p:txBody>
          <a:bodyPr/>
          <a:p/>
        </p:txBody>
      </p:sp>
      <p:sp>
        <p:nvSpPr>
          <p:cNvPr id="7" name="Shape 5"/>
          <p:cNvSpPr/>
          <p:nvPr/>
        </p:nvSpPr>
        <p:spPr>
          <a:xfrm>
            <a:off x="658368" y="1335024"/>
            <a:ext cx="59436" cy="420624"/>
          </a:xfrm>
          <a:prstGeom prst="rect">
            <a:avLst/>
          </a:prstGeom>
          <a:solidFill>
            <a:srgbClr val="0B2C4A"/>
          </a:solidFill>
          <a:ln/>
        </p:spPr>
        <p:txBody>
          <a:bodyPr/>
          <a:p/>
        </p:txBody>
      </p:sp>
      <p:sp>
        <p:nvSpPr>
          <p:cNvPr id="8" name="Text 6"/>
          <p:cNvSpPr txBox="1"/>
          <p:nvPr/>
        </p:nvSpPr>
        <p:spPr>
          <a:xfrm>
            <a:off x="859536" y="1335024"/>
            <a:ext cx="285369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LABOR GROSS PROFIT %</a:t>
            </a:r>
            <a:endParaRPr lang="en-US" sz="1500" dirty="0"/>
          </a:p>
        </p:txBody>
      </p:sp>
      <p:sp>
        <p:nvSpPr>
          <p:cNvPr id="9" name="Text 7"/>
          <p:cNvSpPr txBox="1"/>
          <p:nvPr/>
        </p:nvSpPr>
        <p:spPr>
          <a:xfrm>
            <a:off x="3768090" y="1335024"/>
            <a:ext cx="427863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A82B26"/>
                </a:solidFill>
                <a:latin typeface="Inter" pitchFamily="34" charset="0"/>
                <a:ea typeface="Inter" pitchFamily="34" charset="-122"/>
                <a:cs typeface="Inter" pitchFamily="34" charset="-120"/>
              </a:rPr>
              <a:t>−0.1 pts</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13" name="Shape 11"/>
          <p:cNvSpPr/>
          <p:nvPr/>
        </p:nvSpPr>
        <p:spPr>
          <a:xfrm>
            <a:off x="3785616" y="1911860"/>
            <a:ext cx="687558" cy="110352"/>
          </a:xfrm>
          <a:prstGeom prst="rect">
            <a:avLst/>
          </a:prstGeom>
          <a:solidFill>
            <a:srgbClr val="12A566"/>
          </a:solidFill>
          <a:ln/>
        </p:spPr>
        <p:txBody>
          <a:bodyPr/>
          <a:p/>
        </p:txBody>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+4.6 pts</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7" name="Shape 15"/>
          <p:cNvSpPr/>
          <p:nvPr/>
        </p:nvSpPr>
        <p:spPr>
          <a:xfrm>
            <a:off x="3785616" y="2151755"/>
            <a:ext cx="672612" cy="110352"/>
          </a:xfrm>
          <a:prstGeom prst="rect">
            <a:avLst/>
          </a:prstGeom>
          <a:solidFill>
            <a:srgbClr val="12A566"/>
          </a:solidFill>
          <a:ln/>
        </p:spPr>
        <p:txBody>
          <a:bodyPr/>
          <a:p/>
        </p:txBody>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+4.5 pts</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21" name="Shape 19"/>
          <p:cNvSpPr/>
          <p:nvPr/>
        </p:nvSpPr>
        <p:spPr>
          <a:xfrm>
            <a:off x="3785616" y="2391651"/>
            <a:ext cx="433461" cy="110352"/>
          </a:xfrm>
          <a:prstGeom prst="rect">
            <a:avLst/>
          </a:prstGeom>
          <a:solidFill>
            <a:srgbClr val="12A566"/>
          </a:solidFill>
          <a:ln/>
        </p:spPr>
        <p:txBody>
          <a:bodyPr/>
          <a:p/>
        </p:txBody>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+2.9 pts</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25" name="Shape 23"/>
          <p:cNvSpPr/>
          <p:nvPr/>
        </p:nvSpPr>
        <p:spPr>
          <a:xfrm>
            <a:off x="3785616" y="2631546"/>
            <a:ext cx="403567" cy="110352"/>
          </a:xfrm>
          <a:prstGeom prst="rect">
            <a:avLst/>
          </a:prstGeom>
          <a:solidFill>
            <a:srgbClr val="12A566"/>
          </a:solidFill>
          <a:ln/>
        </p:spPr>
        <p:txBody>
          <a:bodyPr/>
          <a:p/>
        </p:txBody>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+2.7 pts</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29" name="Shape 27"/>
          <p:cNvSpPr/>
          <p:nvPr/>
        </p:nvSpPr>
        <p:spPr>
          <a:xfrm>
            <a:off x="3785616" y="2871442"/>
            <a:ext cx="224204" cy="110352"/>
          </a:xfrm>
          <a:prstGeom prst="rect">
            <a:avLst/>
          </a:prstGeom>
          <a:solidFill>
            <a:srgbClr val="12A566"/>
          </a:solidFill>
          <a:ln/>
        </p:spPr>
        <p:txBody>
          <a:bodyPr/>
          <a:p/>
        </p:txBody>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 pts</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33" name="Shape 31"/>
          <p:cNvSpPr/>
          <p:nvPr/>
        </p:nvSpPr>
        <p:spPr>
          <a:xfrm>
            <a:off x="3785616" y="3111337"/>
            <a:ext cx="209257" cy="110352"/>
          </a:xfrm>
          <a:prstGeom prst="rect">
            <a:avLst/>
          </a:prstGeom>
          <a:solidFill>
            <a:srgbClr val="12A566"/>
          </a:solidFill>
          <a:ln/>
        </p:spPr>
        <p:txBody>
          <a:bodyPr/>
          <a:p/>
        </p:txBody>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+1.4 pts</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37" name="Shape 35"/>
          <p:cNvSpPr/>
          <p:nvPr/>
        </p:nvSpPr>
        <p:spPr>
          <a:xfrm>
            <a:off x="3785616" y="3351233"/>
            <a:ext cx="179363" cy="110352"/>
          </a:xfrm>
          <a:prstGeom prst="rect">
            <a:avLst/>
          </a:prstGeom>
          <a:solidFill>
            <a:srgbClr val="12A566"/>
          </a:solidFill>
          <a:ln/>
        </p:spPr>
        <p:txBody>
          <a:bodyPr/>
          <a:p/>
        </p:txBody>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 pts</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41" name="Shape 39"/>
          <p:cNvSpPr/>
          <p:nvPr/>
        </p:nvSpPr>
        <p:spPr>
          <a:xfrm>
            <a:off x="3785616" y="3591128"/>
            <a:ext cx="179363" cy="110352"/>
          </a:xfrm>
          <a:prstGeom prst="rect">
            <a:avLst/>
          </a:prstGeom>
          <a:solidFill>
            <a:srgbClr val="12A566"/>
          </a:solidFill>
          <a:ln/>
        </p:spPr>
        <p:txBody>
          <a:bodyPr/>
          <a:p/>
        </p:txBody>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 pts</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5" name="Shape 43"/>
          <p:cNvSpPr/>
          <p:nvPr/>
        </p:nvSpPr>
        <p:spPr>
          <a:xfrm>
            <a:off x="3785616" y="3831024"/>
            <a:ext cx="164416" cy="110352"/>
          </a:xfrm>
          <a:prstGeom prst="rect">
            <a:avLst/>
          </a:prstGeom>
          <a:solidFill>
            <a:srgbClr val="12A566"/>
          </a:solidFill>
          <a:ln/>
        </p:spPr>
        <p:txBody>
          <a:bodyPr/>
          <a:p/>
        </p:txBody>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 pts</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49" name="Shape 47"/>
          <p:cNvSpPr/>
          <p:nvPr/>
        </p:nvSpPr>
        <p:spPr>
          <a:xfrm>
            <a:off x="3785616" y="4070920"/>
            <a:ext cx="149469" cy="110352"/>
          </a:xfrm>
          <a:prstGeom prst="rect">
            <a:avLst/>
          </a:prstGeom>
          <a:solidFill>
            <a:srgbClr val="12A566"/>
          </a:solidFill>
          <a:ln/>
        </p:spPr>
        <p:txBody>
          <a:bodyPr/>
          <a:p/>
        </p:txBody>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 pts</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53" name="Shape 51"/>
          <p:cNvSpPr/>
          <p:nvPr/>
        </p:nvSpPr>
        <p:spPr>
          <a:xfrm>
            <a:off x="3785616" y="4310815"/>
            <a:ext cx="104628" cy="110352"/>
          </a:xfrm>
          <a:prstGeom prst="rect">
            <a:avLst/>
          </a:prstGeom>
          <a:solidFill>
            <a:srgbClr val="12A566"/>
          </a:solidFill>
          <a:ln/>
        </p:spPr>
        <p:txBody>
          <a:bodyPr/>
          <a:p/>
        </p:txBody>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+0.7 pts</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57" name="Shape 55"/>
          <p:cNvSpPr/>
          <p:nvPr/>
        </p:nvSpPr>
        <p:spPr>
          <a:xfrm>
            <a:off x="3785616" y="4550711"/>
            <a:ext cx="89682" cy="110352"/>
          </a:xfrm>
          <a:prstGeom prst="rect">
            <a:avLst/>
          </a:prstGeom>
          <a:solidFill>
            <a:srgbClr val="12A566"/>
          </a:solidFill>
          <a:ln/>
        </p:spPr>
        <p:txBody>
          <a:bodyPr/>
          <a:p/>
        </p:txBody>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+0.6 pts</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61" name="Shape 59"/>
          <p:cNvSpPr/>
          <p:nvPr/>
        </p:nvSpPr>
        <p:spPr>
          <a:xfrm>
            <a:off x="3785616" y="4790606"/>
            <a:ext cx="59788" cy="110352"/>
          </a:xfrm>
          <a:prstGeom prst="rect">
            <a:avLst/>
          </a:prstGeom>
          <a:solidFill>
            <a:srgbClr val="12A566"/>
          </a:solidFill>
          <a:ln/>
        </p:spPr>
        <p:txBody>
          <a:bodyPr/>
          <a:p/>
        </p:txBody>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+0.4 pts</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65" name="Shape 63"/>
          <p:cNvSpPr/>
          <p:nvPr/>
        </p:nvSpPr>
        <p:spPr>
          <a:xfrm>
            <a:off x="3785616" y="5030502"/>
            <a:ext cx="59788" cy="110352"/>
          </a:xfrm>
          <a:prstGeom prst="rect">
            <a:avLst/>
          </a:prstGeom>
          <a:solidFill>
            <a:srgbClr val="12A566"/>
          </a:solidFill>
          <a:ln/>
        </p:spPr>
        <p:txBody>
          <a:bodyPr/>
          <a:p/>
        </p:txBody>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+0.4 pts</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69" name="Shape 67"/>
          <p:cNvSpPr/>
          <p:nvPr/>
        </p:nvSpPr>
        <p:spPr>
          <a:xfrm>
            <a:off x="3785616" y="5270397"/>
            <a:ext cx="44841" cy="110352"/>
          </a:xfrm>
          <a:prstGeom prst="rect">
            <a:avLst/>
          </a:prstGeom>
          <a:solidFill>
            <a:srgbClr val="12A566"/>
          </a:solidFill>
          <a:ln/>
        </p:spPr>
        <p:txBody>
          <a:bodyPr/>
          <a:p/>
        </p:txBody>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+0.3 pts</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73" name="Shape 71"/>
          <p:cNvSpPr/>
          <p:nvPr/>
        </p:nvSpPr>
        <p:spPr>
          <a:xfrm>
            <a:off x="3785616" y="5510293"/>
            <a:ext cx="44841" cy="110352"/>
          </a:xfrm>
          <a:prstGeom prst="rect">
            <a:avLst/>
          </a:prstGeom>
          <a:solidFill>
            <a:srgbClr val="12A566"/>
          </a:solidFill>
          <a:ln/>
        </p:spPr>
        <p:txBody>
          <a:bodyPr/>
          <a:p/>
        </p:txBody>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+0.3 pts</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77" name="Shape 75"/>
          <p:cNvSpPr/>
          <p:nvPr/>
        </p:nvSpPr>
        <p:spPr>
          <a:xfrm>
            <a:off x="3785616" y="5750188"/>
            <a:ext cx="44841" cy="110352"/>
          </a:xfrm>
          <a:prstGeom prst="rect">
            <a:avLst/>
          </a:prstGeom>
          <a:solidFill>
            <a:srgbClr val="12A566"/>
          </a:solidFill>
          <a:ln/>
        </p:spPr>
        <p:txBody>
          <a:bodyPr/>
          <a:p/>
        </p:txBody>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+0.3 pts</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81" name="Shape 79"/>
          <p:cNvSpPr/>
          <p:nvPr/>
        </p:nvSpPr>
        <p:spPr>
          <a:xfrm>
            <a:off x="9336024" y="1911860"/>
            <a:ext cx="29894" cy="110352"/>
          </a:xfrm>
          <a:prstGeom prst="rect">
            <a:avLst/>
          </a:prstGeom>
          <a:solidFill>
            <a:srgbClr val="12A566"/>
          </a:solidFill>
          <a:ln/>
        </p:spPr>
        <p:txBody>
          <a:bodyPr/>
          <a:p/>
        </p:txBody>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+0.2 pts</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85" name="Shape 83"/>
          <p:cNvSpPr/>
          <p:nvPr/>
        </p:nvSpPr>
        <p:spPr>
          <a:xfrm>
            <a:off x="9336024" y="2151755"/>
            <a:ext cx="29894" cy="110352"/>
          </a:xfrm>
          <a:prstGeom prst="rect">
            <a:avLst/>
          </a:prstGeom>
          <a:solidFill>
            <a:srgbClr val="12A566"/>
          </a:solidFill>
          <a:ln/>
        </p:spPr>
        <p:txBody>
          <a:bodyPr/>
          <a:p/>
        </p:txBody>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+0.2 pts</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89" name="Shape 87"/>
          <p:cNvSpPr/>
          <p:nvPr/>
        </p:nvSpPr>
        <p:spPr>
          <a:xfrm>
            <a:off x="9336024" y="2391651"/>
            <a:ext cx="14947" cy="110352"/>
          </a:xfrm>
          <a:prstGeom prst="rect">
            <a:avLst/>
          </a:prstGeom>
          <a:solidFill>
            <a:srgbClr val="12A566"/>
          </a:solidFill>
          <a:ln/>
        </p:spPr>
        <p:txBody>
          <a:bodyPr/>
          <a:p/>
        </p:txBody>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+0.1 pts</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93" name="Shape 91"/>
          <p:cNvSpPr/>
          <p:nvPr/>
        </p:nvSpPr>
        <p:spPr>
          <a:xfrm>
            <a:off x="9306130" y="2631546"/>
            <a:ext cx="29894" cy="110352"/>
          </a:xfrm>
          <a:prstGeom prst="rect">
            <a:avLst/>
          </a:prstGeom>
          <a:solidFill>
            <a:srgbClr val="C2352F"/>
          </a:solidFill>
          <a:ln/>
        </p:spPr>
        <p:txBody>
          <a:bodyPr/>
          <a:p/>
        </p:txBody>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−0.2 pts</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97" name="Shape 95"/>
          <p:cNvSpPr/>
          <p:nvPr/>
        </p:nvSpPr>
        <p:spPr>
          <a:xfrm>
            <a:off x="9291183" y="2871442"/>
            <a:ext cx="44841" cy="110352"/>
          </a:xfrm>
          <a:prstGeom prst="rect">
            <a:avLst/>
          </a:prstGeom>
          <a:solidFill>
            <a:srgbClr val="C2352F"/>
          </a:solidFill>
          <a:ln/>
        </p:spPr>
        <p:txBody>
          <a:bodyPr/>
          <a:p/>
        </p:txBody>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−0.3 pts</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01" name="Shape 99"/>
          <p:cNvSpPr/>
          <p:nvPr/>
        </p:nvSpPr>
        <p:spPr>
          <a:xfrm>
            <a:off x="9276236" y="3111337"/>
            <a:ext cx="59788" cy="110352"/>
          </a:xfrm>
          <a:prstGeom prst="rect">
            <a:avLst/>
          </a:prstGeom>
          <a:solidFill>
            <a:srgbClr val="C2352F"/>
          </a:solidFill>
          <a:ln/>
        </p:spPr>
        <p:txBody>
          <a:bodyPr/>
          <a:p/>
        </p:txBody>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−0.4 pts</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05" name="Shape 103"/>
          <p:cNvSpPr/>
          <p:nvPr/>
        </p:nvSpPr>
        <p:spPr>
          <a:xfrm>
            <a:off x="9231396" y="3351233"/>
            <a:ext cx="104628" cy="110352"/>
          </a:xfrm>
          <a:prstGeom prst="rect">
            <a:avLst/>
          </a:prstGeom>
          <a:solidFill>
            <a:srgbClr val="C2352F"/>
          </a:solidFill>
          <a:ln/>
        </p:spPr>
        <p:txBody>
          <a:bodyPr/>
          <a:p/>
        </p:txBody>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−0.7 pts</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09" name="Shape 107"/>
          <p:cNvSpPr/>
          <p:nvPr/>
        </p:nvSpPr>
        <p:spPr>
          <a:xfrm>
            <a:off x="9171608" y="3591128"/>
            <a:ext cx="164416" cy="110352"/>
          </a:xfrm>
          <a:prstGeom prst="rect">
            <a:avLst/>
          </a:prstGeom>
          <a:solidFill>
            <a:srgbClr val="C2352F"/>
          </a:solidFill>
          <a:ln/>
        </p:spPr>
        <p:txBody>
          <a:bodyPr/>
          <a:p/>
        </p:txBody>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−1.1 pts</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113" name="Shape 111"/>
          <p:cNvSpPr/>
          <p:nvPr/>
        </p:nvSpPr>
        <p:spPr>
          <a:xfrm>
            <a:off x="9126767" y="3831024"/>
            <a:ext cx="209257" cy="110352"/>
          </a:xfrm>
          <a:prstGeom prst="rect">
            <a:avLst/>
          </a:prstGeom>
          <a:solidFill>
            <a:srgbClr val="C2352F"/>
          </a:solidFill>
          <a:ln/>
        </p:spPr>
        <p:txBody>
          <a:bodyPr/>
          <a:p/>
        </p:txBody>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−1.4 pts</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17" name="Shape 115"/>
          <p:cNvSpPr/>
          <p:nvPr/>
        </p:nvSpPr>
        <p:spPr>
          <a:xfrm>
            <a:off x="9126767" y="4070920"/>
            <a:ext cx="209257" cy="110352"/>
          </a:xfrm>
          <a:prstGeom prst="rect">
            <a:avLst/>
          </a:prstGeom>
          <a:solidFill>
            <a:srgbClr val="C2352F"/>
          </a:solidFill>
          <a:ln/>
        </p:spPr>
        <p:txBody>
          <a:bodyPr/>
          <a:p/>
        </p:txBody>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−1.4 pts</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21" name="Shape 119"/>
          <p:cNvSpPr/>
          <p:nvPr/>
        </p:nvSpPr>
        <p:spPr>
          <a:xfrm>
            <a:off x="9111820" y="4310815"/>
            <a:ext cx="224204" cy="110352"/>
          </a:xfrm>
          <a:prstGeom prst="rect">
            <a:avLst/>
          </a:prstGeom>
          <a:solidFill>
            <a:srgbClr val="C2352F"/>
          </a:solidFill>
          <a:ln/>
        </p:spPr>
        <p:txBody>
          <a:bodyPr/>
          <a:p/>
        </p:txBody>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−1.5 pts</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25" name="Shape 123"/>
          <p:cNvSpPr/>
          <p:nvPr/>
        </p:nvSpPr>
        <p:spPr>
          <a:xfrm>
            <a:off x="9037086" y="4550711"/>
            <a:ext cx="298938" cy="110352"/>
          </a:xfrm>
          <a:prstGeom prst="rect">
            <a:avLst/>
          </a:prstGeom>
          <a:solidFill>
            <a:srgbClr val="C2352F"/>
          </a:solidFill>
          <a:ln/>
        </p:spPr>
        <p:txBody>
          <a:bodyPr/>
          <a:p/>
        </p:txBody>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−2.0 pts</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29" name="Shape 127"/>
          <p:cNvSpPr/>
          <p:nvPr/>
        </p:nvSpPr>
        <p:spPr>
          <a:xfrm>
            <a:off x="9037086" y="4790606"/>
            <a:ext cx="298938" cy="110352"/>
          </a:xfrm>
          <a:prstGeom prst="rect">
            <a:avLst/>
          </a:prstGeom>
          <a:solidFill>
            <a:srgbClr val="C2352F"/>
          </a:solidFill>
          <a:ln/>
        </p:spPr>
        <p:txBody>
          <a:bodyPr/>
          <a:p/>
        </p:txBody>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−2.0 pts</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33" name="Shape 131"/>
          <p:cNvSpPr/>
          <p:nvPr/>
        </p:nvSpPr>
        <p:spPr>
          <a:xfrm>
            <a:off x="8902563" y="5030502"/>
            <a:ext cx="433461" cy="110352"/>
          </a:xfrm>
          <a:prstGeom prst="rect">
            <a:avLst/>
          </a:prstGeom>
          <a:solidFill>
            <a:srgbClr val="C2352F"/>
          </a:solidFill>
          <a:ln/>
        </p:spPr>
        <p:txBody>
          <a:bodyPr/>
          <a:p/>
        </p:txBody>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−2.9 pts</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37" name="Shape 135"/>
          <p:cNvSpPr/>
          <p:nvPr/>
        </p:nvSpPr>
        <p:spPr>
          <a:xfrm>
            <a:off x="8633519" y="5270397"/>
            <a:ext cx="702505" cy="110352"/>
          </a:xfrm>
          <a:prstGeom prst="rect">
            <a:avLst/>
          </a:prstGeom>
          <a:solidFill>
            <a:srgbClr val="C2352F"/>
          </a:solidFill>
          <a:ln/>
        </p:spPr>
        <p:txBody>
          <a:bodyPr/>
          <a:p/>
        </p:txBody>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−4.7 pts</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41" name="Shape 139"/>
          <p:cNvSpPr/>
          <p:nvPr/>
        </p:nvSpPr>
        <p:spPr>
          <a:xfrm>
            <a:off x="8558784" y="5510293"/>
            <a:ext cx="777240" cy="110352"/>
          </a:xfrm>
          <a:prstGeom prst="rect">
            <a:avLst/>
          </a:prstGeom>
          <a:solidFill>
            <a:srgbClr val="C2352F"/>
          </a:solidFill>
          <a:ln/>
        </p:spPr>
        <p:txBody>
          <a:bodyPr/>
          <a:p/>
        </p:txBody>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−5.2 pts</a:t>
            </a:r>
            <a:endParaRPr lang="en-US" sz="1200" dirty="0"/>
          </a:p>
        </p:txBody>
      </p:sp>
      <p:sp>
        <p:nvSpPr>
          <p:cNvPr id="143" name="Shape 141"/>
          <p:cNvSpPr/>
          <p:nvPr/>
        </p:nvSpPr>
        <p:spPr>
          <a:xfrm>
            <a:off x="3780130" y="1847088"/>
            <a:ext cx="10973" cy="4078224"/>
          </a:xfrm>
          <a:prstGeom prst="rect">
            <a:avLst/>
          </a:prstGeom>
          <a:solidFill>
            <a:srgbClr val="9AA3AD"/>
          </a:solidFill>
          <a:ln/>
        </p:spPr>
        <p:txBody>
          <a:bodyPr/>
          <a:p/>
        </p:txBody>
      </p:sp>
      <p:sp>
        <p:nvSpPr>
          <p:cNvPr id="144" name="Shape 142"/>
          <p:cNvSpPr/>
          <p:nvPr/>
        </p:nvSpPr>
        <p:spPr>
          <a:xfrm>
            <a:off x="9330538" y="1847088"/>
            <a:ext cx="10973" cy="4078224"/>
          </a:xfrm>
          <a:prstGeom prst="rect">
            <a:avLst/>
          </a:prstGeom>
          <a:solidFill>
            <a:srgbClr val="9AA3AD"/>
          </a:solidFill>
          <a:ln/>
        </p:spPr>
        <p:txBody>
          <a:bodyPr/>
          <a:p/>
        </p:txBody>
      </p:sp>
      <p:sp>
        <p:nvSpPr>
          <p:cNvPr id="145" name="Shape 143"/>
          <p:cNvSpPr/>
          <p:nvPr/>
        </p:nvSpPr>
        <p:spPr>
          <a:xfrm>
            <a:off x="6085332" y="1847088"/>
            <a:ext cx="10973" cy="4078224"/>
          </a:xfrm>
          <a:prstGeom prst="rect">
            <a:avLst/>
          </a:prstGeom>
          <a:solidFill>
            <a:srgbClr val="D9D9D9"/>
          </a:solidFill>
          <a:ln/>
        </p:spPr>
        <p:txBody>
          <a:bodyPr/>
          <a:p/>
        </p:txBody>
      </p:sp>
      <p:sp>
        <p:nvSpPr>
          <p:cNvPr id="147" name="Shape 144"/>
          <p:cNvSpPr/>
          <p:nvPr/>
        </p:nvSpPr>
        <p:spPr>
          <a:xfrm>
            <a:off x="457200" y="6126480"/>
            <a:ext cx="11274552" cy="371856"/>
          </a:xfrm>
          <a:prstGeom prst="rect">
            <a:avLst/>
          </a:prstGeom>
          <a:solidFill>
            <a:srgbClr val="FBEBEA"/>
          </a:solidFill>
          <a:ln/>
        </p:spPr>
        <p:txBody>
          <a:bodyPr/>
          <a:p/>
        </p:txBody>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20 of 33 stores improved labor margin. 13 declined.</a:t>
            </a:r>
            <a:endParaRPr lang="en-US" sz="1600" dirty="0"/>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1005840"/>
          </a:xfrm>
          <a:prstGeom prst="rect">
            <a:avLst/>
          </a:prstGeom>
          <a:solidFill>
            <a:srgbClr val="FFFFFF"/>
          </a:solidFill>
          <a:ln/>
        </p:spPr>
        <p:txBody>
          <a:bodyPr/>
          <a:p/>
        </p:txBody>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39.4%</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40.7%</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+1.3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+3.1%</a:t>
            </a:r>
            <a:endParaRPr lang="en-US" sz="3000" dirty="0"/>
          </a:p>
        </p:txBody>
      </p:sp>
      <p:sp>
        <p:nvSpPr>
          <p:cNvPr id="14" name="Shape 12"/>
          <p:cNvSpPr/>
          <p:nvPr/>
        </p:nvSpPr>
        <p:spPr>
          <a:xfrm>
            <a:off x="457200" y="2322576"/>
            <a:ext cx="11274552" cy="3666744"/>
          </a:xfrm>
          <a:prstGeom prst="rect">
            <a:avLst/>
          </a:prstGeom>
          <a:solidFill>
            <a:srgbClr val="FFFFFF"/>
          </a:solidFill>
          <a:ln/>
        </p:spPr>
        <p:txBody>
          <a:bodyPr/>
          <a:p/>
        </p:txBody>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Parts Gross Profit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txBody>
          <a:bodyPr/>
          <a:p/>
        </p:txBody>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sp>
        <p:nvSpPr>
          <p:cNvPr id="22" name="Shape 15"/>
          <p:cNvSpPr/>
          <p:nvPr/>
        </p:nvSpPr>
        <p:spPr>
          <a:xfrm>
            <a:off x="4951476" y="3049524"/>
            <a:ext cx="310896" cy="45720"/>
          </a:xfrm>
          <a:prstGeom prst="rect">
            <a:avLst/>
          </a:prstGeom>
          <a:solidFill>
            <a:srgbClr val="9AA3AD"/>
          </a:solidFill>
          <a:ln/>
        </p:spPr>
        <p:txBody>
          <a:bodyPr/>
          <a:p/>
        </p:txBody>
      </p:sp>
      <p:sp>
        <p:nvSpPr>
          <p:cNvPr id="23" name="Shape 16"/>
          <p:cNvSpPr/>
          <p:nvPr/>
        </p:nvSpPr>
        <p:spPr>
          <a:xfrm>
            <a:off x="5052060" y="3017520"/>
            <a:ext cx="109728" cy="109728"/>
          </a:xfrm>
          <a:prstGeom prst="ellipse">
            <a:avLst/>
          </a:prstGeom>
          <a:solidFill>
            <a:srgbClr val="9AA3AD"/>
          </a:solidFill>
          <a:ln/>
        </p:spPr>
        <p:txBody>
          <a:bodyPr/>
          <a:p/>
        </p:txBody>
      </p:sp>
      <p:sp>
        <p:nvSpPr>
          <p:cNvPr id="24"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5" name="Shape 18"/>
          <p:cNvSpPr/>
          <p:nvPr/>
        </p:nvSpPr>
        <p:spPr>
          <a:xfrm>
            <a:off x="6185916" y="3049524"/>
            <a:ext cx="310896" cy="45720"/>
          </a:xfrm>
          <a:prstGeom prst="rect">
            <a:avLst/>
          </a:prstGeom>
          <a:solidFill>
            <a:srgbClr val="2587C5"/>
          </a:solidFill>
          <a:ln/>
        </p:spPr>
        <p:txBody>
          <a:bodyPr/>
          <a:p/>
        </p:txBody>
      </p:sp>
      <p:sp>
        <p:nvSpPr>
          <p:cNvPr id="26" name="Shape 19"/>
          <p:cNvSpPr/>
          <p:nvPr/>
        </p:nvSpPr>
        <p:spPr>
          <a:xfrm>
            <a:off x="6286500" y="3017520"/>
            <a:ext cx="109728" cy="109728"/>
          </a:xfrm>
          <a:prstGeom prst="ellipse">
            <a:avLst/>
          </a:prstGeom>
          <a:solidFill>
            <a:srgbClr val="2587C5"/>
          </a:solidFill>
          <a:ln/>
        </p:spPr>
        <p:txBody>
          <a:bodyPr/>
          <a:p/>
        </p:txBody>
      </p:sp>
      <p:sp>
        <p:nvSpPr>
          <p:cNvPr id="27"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8" name="Shape 21"/>
          <p:cNvSpPr/>
          <p:nvPr/>
        </p:nvSpPr>
        <p:spPr>
          <a:xfrm>
            <a:off x="457200" y="6126480"/>
            <a:ext cx="11274552" cy="371856"/>
          </a:xfrm>
          <a:prstGeom prst="rect">
            <a:avLst/>
          </a:prstGeom>
          <a:solidFill>
            <a:srgbClr val="E6F6EE"/>
          </a:solidFill>
          <a:ln/>
        </p:spPr>
        <p:txBody>
          <a:bodyPr/>
          <a:p/>
        </p:txBody>
      </p:sp>
      <p:sp>
        <p:nvSpPr>
          <p:cNvPr id="29"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1.3 pts to 40.7%, ahead of 2025 in all nine months.</a:t>
            </a:r>
            <a:endParaRPr lang="en-US" sz="1600" dirty="0"/>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4782312"/>
          </a:xfrm>
          <a:prstGeom prst="rect">
            <a:avLst/>
          </a:prstGeom>
          <a:solidFill>
            <a:srgbClr val="FFFFFF"/>
          </a:solidFill>
          <a:ln/>
        </p:spPr>
        <p:txBody>
          <a:bodyPr/>
          <a:p/>
        </p:txBody>
      </p:sp>
      <p:sp>
        <p:nvSpPr>
          <p:cNvPr id="6" name="Shape 4"/>
          <p:cNvSpPr/>
          <p:nvPr/>
        </p:nvSpPr>
        <p:spPr>
          <a:xfrm>
            <a:off x="658368" y="1335024"/>
            <a:ext cx="10872216" cy="420624"/>
          </a:xfrm>
          <a:prstGeom prst="rect">
            <a:avLst/>
          </a:prstGeom>
          <a:solidFill>
            <a:srgbClr val="EDF4FA"/>
          </a:solidFill>
          <a:ln/>
        </p:spPr>
        <p:txBody>
          <a:bodyPr/>
          <a:p/>
        </p:txBody>
      </p:sp>
      <p:sp>
        <p:nvSpPr>
          <p:cNvPr id="7" name="Shape 5"/>
          <p:cNvSpPr/>
          <p:nvPr/>
        </p:nvSpPr>
        <p:spPr>
          <a:xfrm>
            <a:off x="658368" y="1335024"/>
            <a:ext cx="59436" cy="420624"/>
          </a:xfrm>
          <a:prstGeom prst="rect">
            <a:avLst/>
          </a:prstGeom>
          <a:solidFill>
            <a:srgbClr val="0B2C4A"/>
          </a:solidFill>
          <a:ln/>
        </p:spPr>
        <p:txBody>
          <a:bodyPr/>
          <a:p/>
        </p:txBody>
      </p:sp>
      <p:sp>
        <p:nvSpPr>
          <p:cNvPr id="8" name="Text 6"/>
          <p:cNvSpPr txBox="1"/>
          <p:nvPr/>
        </p:nvSpPr>
        <p:spPr>
          <a:xfrm>
            <a:off x="859536" y="1335024"/>
            <a:ext cx="285369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CP PARTS GROSS PROFIT %</a:t>
            </a:r>
            <a:endParaRPr lang="en-US" sz="1500" dirty="0"/>
          </a:p>
        </p:txBody>
      </p:sp>
      <p:sp>
        <p:nvSpPr>
          <p:cNvPr id="9" name="Text 7"/>
          <p:cNvSpPr txBox="1"/>
          <p:nvPr/>
        </p:nvSpPr>
        <p:spPr>
          <a:xfrm>
            <a:off x="3768090" y="1335024"/>
            <a:ext cx="427863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+1.3 pts</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3" name="Shape 11"/>
          <p:cNvSpPr/>
          <p:nvPr/>
        </p:nvSpPr>
        <p:spPr>
          <a:xfrm>
            <a:off x="3785616" y="1911860"/>
            <a:ext cx="777240" cy="110352"/>
          </a:xfrm>
          <a:prstGeom prst="rect">
            <a:avLst/>
          </a:prstGeom>
          <a:solidFill>
            <a:srgbClr val="12A566"/>
          </a:solidFill>
          <a:ln/>
        </p:spPr>
        <p:txBody>
          <a:bodyPr/>
          <a:p/>
        </p:txBody>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+6.2 pts</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7" name="Shape 15"/>
          <p:cNvSpPr/>
          <p:nvPr/>
        </p:nvSpPr>
        <p:spPr>
          <a:xfrm>
            <a:off x="3785616" y="2151755"/>
            <a:ext cx="564126" cy="110352"/>
          </a:xfrm>
          <a:prstGeom prst="rect">
            <a:avLst/>
          </a:prstGeom>
          <a:solidFill>
            <a:srgbClr val="12A566"/>
          </a:solidFill>
          <a:ln/>
        </p:spPr>
        <p:txBody>
          <a:bodyPr/>
          <a:p/>
        </p:txBody>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+4.5 pts</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21" name="Shape 19"/>
          <p:cNvSpPr/>
          <p:nvPr/>
        </p:nvSpPr>
        <p:spPr>
          <a:xfrm>
            <a:off x="3785616" y="2391651"/>
            <a:ext cx="476373" cy="110352"/>
          </a:xfrm>
          <a:prstGeom prst="rect">
            <a:avLst/>
          </a:prstGeom>
          <a:solidFill>
            <a:srgbClr val="12A566"/>
          </a:solidFill>
          <a:ln/>
        </p:spPr>
        <p:txBody>
          <a:bodyPr/>
          <a:p/>
        </p:txBody>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+3.8 pts</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25" name="Shape 23"/>
          <p:cNvSpPr/>
          <p:nvPr/>
        </p:nvSpPr>
        <p:spPr>
          <a:xfrm>
            <a:off x="3785616" y="2631546"/>
            <a:ext cx="413692" cy="110352"/>
          </a:xfrm>
          <a:prstGeom prst="rect">
            <a:avLst/>
          </a:prstGeom>
          <a:solidFill>
            <a:srgbClr val="12A566"/>
          </a:solidFill>
          <a:ln/>
        </p:spPr>
        <p:txBody>
          <a:bodyPr/>
          <a:p/>
        </p:txBody>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 pts</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9" name="Shape 27"/>
          <p:cNvSpPr/>
          <p:nvPr/>
        </p:nvSpPr>
        <p:spPr>
          <a:xfrm>
            <a:off x="3785616" y="2871442"/>
            <a:ext cx="413692" cy="110352"/>
          </a:xfrm>
          <a:prstGeom prst="rect">
            <a:avLst/>
          </a:prstGeom>
          <a:solidFill>
            <a:srgbClr val="12A566"/>
          </a:solidFill>
          <a:ln/>
        </p:spPr>
        <p:txBody>
          <a:bodyPr/>
          <a:p/>
        </p:txBody>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 pts</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33" name="Shape 31"/>
          <p:cNvSpPr/>
          <p:nvPr/>
        </p:nvSpPr>
        <p:spPr>
          <a:xfrm>
            <a:off x="3785616" y="3111337"/>
            <a:ext cx="388620" cy="110352"/>
          </a:xfrm>
          <a:prstGeom prst="rect">
            <a:avLst/>
          </a:prstGeom>
          <a:solidFill>
            <a:srgbClr val="12A566"/>
          </a:solidFill>
          <a:ln/>
        </p:spPr>
        <p:txBody>
          <a:bodyPr/>
          <a:p/>
        </p:txBody>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+3.1 pts</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37" name="Shape 35"/>
          <p:cNvSpPr/>
          <p:nvPr/>
        </p:nvSpPr>
        <p:spPr>
          <a:xfrm>
            <a:off x="3785616" y="3351233"/>
            <a:ext cx="363548" cy="110352"/>
          </a:xfrm>
          <a:prstGeom prst="rect">
            <a:avLst/>
          </a:prstGeom>
          <a:solidFill>
            <a:srgbClr val="12A566"/>
          </a:solidFill>
          <a:ln/>
        </p:spPr>
        <p:txBody>
          <a:bodyPr/>
          <a:p/>
        </p:txBody>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+2.9 pts</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41" name="Shape 39"/>
          <p:cNvSpPr/>
          <p:nvPr/>
        </p:nvSpPr>
        <p:spPr>
          <a:xfrm>
            <a:off x="3785616" y="3591128"/>
            <a:ext cx="338475" cy="110352"/>
          </a:xfrm>
          <a:prstGeom prst="rect">
            <a:avLst/>
          </a:prstGeom>
          <a:solidFill>
            <a:srgbClr val="12A566"/>
          </a:solidFill>
          <a:ln/>
        </p:spPr>
        <p:txBody>
          <a:bodyPr/>
          <a:p/>
        </p:txBody>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+2.7 pts</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45" name="Shape 43"/>
          <p:cNvSpPr/>
          <p:nvPr/>
        </p:nvSpPr>
        <p:spPr>
          <a:xfrm>
            <a:off x="3785616" y="3831024"/>
            <a:ext cx="313403" cy="110352"/>
          </a:xfrm>
          <a:prstGeom prst="rect">
            <a:avLst/>
          </a:prstGeom>
          <a:solidFill>
            <a:srgbClr val="12A566"/>
          </a:solidFill>
          <a:ln/>
        </p:spPr>
        <p:txBody>
          <a:bodyPr/>
          <a:p/>
        </p:txBody>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+2.5 pts</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49" name="Shape 47"/>
          <p:cNvSpPr/>
          <p:nvPr/>
        </p:nvSpPr>
        <p:spPr>
          <a:xfrm>
            <a:off x="3785616" y="4070920"/>
            <a:ext cx="275795" cy="110352"/>
          </a:xfrm>
          <a:prstGeom prst="rect">
            <a:avLst/>
          </a:prstGeom>
          <a:solidFill>
            <a:srgbClr val="12A566"/>
          </a:solidFill>
          <a:ln/>
        </p:spPr>
        <p:txBody>
          <a:bodyPr/>
          <a:p/>
        </p:txBody>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+2.2 pts</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53" name="Shape 51"/>
          <p:cNvSpPr/>
          <p:nvPr/>
        </p:nvSpPr>
        <p:spPr>
          <a:xfrm>
            <a:off x="3785616" y="4310815"/>
            <a:ext cx="238186" cy="110352"/>
          </a:xfrm>
          <a:prstGeom prst="rect">
            <a:avLst/>
          </a:prstGeom>
          <a:solidFill>
            <a:srgbClr val="12A566"/>
          </a:solidFill>
          <a:ln/>
        </p:spPr>
        <p:txBody>
          <a:bodyPr/>
          <a:p/>
        </p:txBody>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+1.9 pts</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57" name="Shape 55"/>
          <p:cNvSpPr/>
          <p:nvPr/>
        </p:nvSpPr>
        <p:spPr>
          <a:xfrm>
            <a:off x="3785616" y="4550711"/>
            <a:ext cx="225650" cy="110352"/>
          </a:xfrm>
          <a:prstGeom prst="rect">
            <a:avLst/>
          </a:prstGeom>
          <a:solidFill>
            <a:srgbClr val="12A566"/>
          </a:solidFill>
          <a:ln/>
        </p:spPr>
        <p:txBody>
          <a:bodyPr/>
          <a:p/>
        </p:txBody>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+1.8 pts</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61" name="Shape 59"/>
          <p:cNvSpPr/>
          <p:nvPr/>
        </p:nvSpPr>
        <p:spPr>
          <a:xfrm>
            <a:off x="3785616" y="4790606"/>
            <a:ext cx="225650" cy="110352"/>
          </a:xfrm>
          <a:prstGeom prst="rect">
            <a:avLst/>
          </a:prstGeom>
          <a:solidFill>
            <a:srgbClr val="12A566"/>
          </a:solidFill>
          <a:ln/>
        </p:spPr>
        <p:txBody>
          <a:bodyPr/>
          <a:p/>
        </p:txBody>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+1.8 pts</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65" name="Shape 63"/>
          <p:cNvSpPr/>
          <p:nvPr/>
        </p:nvSpPr>
        <p:spPr>
          <a:xfrm>
            <a:off x="3785616" y="5030502"/>
            <a:ext cx="162970" cy="110352"/>
          </a:xfrm>
          <a:prstGeom prst="rect">
            <a:avLst/>
          </a:prstGeom>
          <a:solidFill>
            <a:srgbClr val="12A566"/>
          </a:solidFill>
          <a:ln/>
        </p:spPr>
        <p:txBody>
          <a:bodyPr/>
          <a:p/>
        </p:txBody>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+1.3 pts</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69" name="Shape 67"/>
          <p:cNvSpPr/>
          <p:nvPr/>
        </p:nvSpPr>
        <p:spPr>
          <a:xfrm>
            <a:off x="3785616" y="5270397"/>
            <a:ext cx="150434" cy="110352"/>
          </a:xfrm>
          <a:prstGeom prst="rect">
            <a:avLst/>
          </a:prstGeom>
          <a:solidFill>
            <a:srgbClr val="12A566"/>
          </a:solidFill>
          <a:ln/>
        </p:spPr>
        <p:txBody>
          <a:bodyPr/>
          <a:p/>
        </p:txBody>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 pts</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73" name="Shape 71"/>
          <p:cNvSpPr/>
          <p:nvPr/>
        </p:nvSpPr>
        <p:spPr>
          <a:xfrm>
            <a:off x="3785616" y="5510293"/>
            <a:ext cx="137897" cy="110352"/>
          </a:xfrm>
          <a:prstGeom prst="rect">
            <a:avLst/>
          </a:prstGeom>
          <a:solidFill>
            <a:srgbClr val="12A566"/>
          </a:solidFill>
          <a:ln/>
        </p:spPr>
        <p:txBody>
          <a:bodyPr/>
          <a:p/>
        </p:txBody>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 pts</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77" name="Shape 75"/>
          <p:cNvSpPr/>
          <p:nvPr/>
        </p:nvSpPr>
        <p:spPr>
          <a:xfrm>
            <a:off x="3785616" y="5750188"/>
            <a:ext cx="125361" cy="110352"/>
          </a:xfrm>
          <a:prstGeom prst="rect">
            <a:avLst/>
          </a:prstGeom>
          <a:solidFill>
            <a:srgbClr val="12A566"/>
          </a:solidFill>
          <a:ln/>
        </p:spPr>
        <p:txBody>
          <a:bodyPr/>
          <a:p/>
        </p:txBody>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 pts</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81" name="Shape 79"/>
          <p:cNvSpPr/>
          <p:nvPr/>
        </p:nvSpPr>
        <p:spPr>
          <a:xfrm>
            <a:off x="9336024" y="1911860"/>
            <a:ext cx="112825" cy="110352"/>
          </a:xfrm>
          <a:prstGeom prst="rect">
            <a:avLst/>
          </a:prstGeom>
          <a:solidFill>
            <a:srgbClr val="12A566"/>
          </a:solidFill>
          <a:ln/>
        </p:spPr>
        <p:txBody>
          <a:bodyPr/>
          <a:p/>
        </p:txBody>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+0.9 pts</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85" name="Shape 83"/>
          <p:cNvSpPr/>
          <p:nvPr/>
        </p:nvSpPr>
        <p:spPr>
          <a:xfrm>
            <a:off x="9336024" y="2151755"/>
            <a:ext cx="100289" cy="110352"/>
          </a:xfrm>
          <a:prstGeom prst="rect">
            <a:avLst/>
          </a:prstGeom>
          <a:solidFill>
            <a:srgbClr val="12A566"/>
          </a:solidFill>
          <a:ln/>
        </p:spPr>
        <p:txBody>
          <a:bodyPr/>
          <a:p/>
        </p:txBody>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+0.8 pts</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89" name="Shape 87"/>
          <p:cNvSpPr/>
          <p:nvPr/>
        </p:nvSpPr>
        <p:spPr>
          <a:xfrm>
            <a:off x="9336024" y="2391651"/>
            <a:ext cx="100289" cy="110352"/>
          </a:xfrm>
          <a:prstGeom prst="rect">
            <a:avLst/>
          </a:prstGeom>
          <a:solidFill>
            <a:srgbClr val="12A566"/>
          </a:solidFill>
          <a:ln/>
        </p:spPr>
        <p:txBody>
          <a:bodyPr/>
          <a:p/>
        </p:txBody>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+0.8 pts</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93" name="Shape 91"/>
          <p:cNvSpPr/>
          <p:nvPr/>
        </p:nvSpPr>
        <p:spPr>
          <a:xfrm>
            <a:off x="9336024" y="2631546"/>
            <a:ext cx="87753" cy="110352"/>
          </a:xfrm>
          <a:prstGeom prst="rect">
            <a:avLst/>
          </a:prstGeom>
          <a:solidFill>
            <a:srgbClr val="12A566"/>
          </a:solidFill>
          <a:ln/>
        </p:spPr>
        <p:txBody>
          <a:bodyPr/>
          <a:p/>
        </p:txBody>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+0.7 pts</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97" name="Shape 95"/>
          <p:cNvSpPr/>
          <p:nvPr/>
        </p:nvSpPr>
        <p:spPr>
          <a:xfrm>
            <a:off x="9336024" y="2871442"/>
            <a:ext cx="75217" cy="110352"/>
          </a:xfrm>
          <a:prstGeom prst="rect">
            <a:avLst/>
          </a:prstGeom>
          <a:solidFill>
            <a:srgbClr val="12A566"/>
          </a:solidFill>
          <a:ln/>
        </p:spPr>
        <p:txBody>
          <a:bodyPr/>
          <a:p/>
        </p:txBody>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+0.6 pts</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01" name="Shape 99"/>
          <p:cNvSpPr/>
          <p:nvPr/>
        </p:nvSpPr>
        <p:spPr>
          <a:xfrm>
            <a:off x="9336024" y="3111337"/>
            <a:ext cx="62681" cy="110352"/>
          </a:xfrm>
          <a:prstGeom prst="rect">
            <a:avLst/>
          </a:prstGeom>
          <a:solidFill>
            <a:srgbClr val="12A566"/>
          </a:solidFill>
          <a:ln/>
        </p:spPr>
        <p:txBody>
          <a:bodyPr/>
          <a:p/>
        </p:txBody>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+0.5 pts</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05" name="Shape 103"/>
          <p:cNvSpPr/>
          <p:nvPr/>
        </p:nvSpPr>
        <p:spPr>
          <a:xfrm>
            <a:off x="9336024" y="3351233"/>
            <a:ext cx="62681" cy="110352"/>
          </a:xfrm>
          <a:prstGeom prst="rect">
            <a:avLst/>
          </a:prstGeom>
          <a:solidFill>
            <a:srgbClr val="12A566"/>
          </a:solidFill>
          <a:ln/>
        </p:spPr>
        <p:txBody>
          <a:bodyPr/>
          <a:p/>
        </p:txBody>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+0.5 pts</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09" name="Shape 107"/>
          <p:cNvSpPr/>
          <p:nvPr/>
        </p:nvSpPr>
        <p:spPr>
          <a:xfrm>
            <a:off x="9336024" y="3591128"/>
            <a:ext cx="37608" cy="110352"/>
          </a:xfrm>
          <a:prstGeom prst="rect">
            <a:avLst/>
          </a:prstGeom>
          <a:solidFill>
            <a:srgbClr val="12A566"/>
          </a:solidFill>
          <a:ln/>
        </p:spPr>
        <p:txBody>
          <a:bodyPr/>
          <a:p/>
        </p:txBody>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+0.3 pts</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13" name="Shape 111"/>
          <p:cNvSpPr/>
          <p:nvPr/>
        </p:nvSpPr>
        <p:spPr>
          <a:xfrm>
            <a:off x="9336024" y="3831024"/>
            <a:ext cx="37608" cy="110352"/>
          </a:xfrm>
          <a:prstGeom prst="rect">
            <a:avLst/>
          </a:prstGeom>
          <a:solidFill>
            <a:srgbClr val="12A566"/>
          </a:solidFill>
          <a:ln/>
        </p:spPr>
        <p:txBody>
          <a:bodyPr/>
          <a:p/>
        </p:txBody>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+0.3 pts</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17" name="Shape 115"/>
          <p:cNvSpPr/>
          <p:nvPr/>
        </p:nvSpPr>
        <p:spPr>
          <a:xfrm>
            <a:off x="9336024" y="4070920"/>
            <a:ext cx="25072" cy="110352"/>
          </a:xfrm>
          <a:prstGeom prst="rect">
            <a:avLst/>
          </a:prstGeom>
          <a:solidFill>
            <a:srgbClr val="12A566"/>
          </a:solidFill>
          <a:ln/>
        </p:spPr>
        <p:txBody>
          <a:bodyPr/>
          <a:p/>
        </p:txBody>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+0.2 pts</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121" name="Shape 119"/>
          <p:cNvSpPr/>
          <p:nvPr/>
        </p:nvSpPr>
        <p:spPr>
          <a:xfrm>
            <a:off x="9336024" y="4310815"/>
            <a:ext cx="12802" cy="110352"/>
          </a:xfrm>
          <a:prstGeom prst="rect">
            <a:avLst/>
          </a:prstGeom>
          <a:solidFill>
            <a:srgbClr val="12A566"/>
          </a:solidFill>
          <a:ln/>
        </p:spPr>
        <p:txBody>
          <a:bodyPr/>
          <a:p/>
        </p:txBody>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+0.0 pts</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25" name="Shape 123"/>
          <p:cNvSpPr/>
          <p:nvPr/>
        </p:nvSpPr>
        <p:spPr>
          <a:xfrm>
            <a:off x="9323488" y="4550711"/>
            <a:ext cx="12802" cy="110352"/>
          </a:xfrm>
          <a:prstGeom prst="rect">
            <a:avLst/>
          </a:prstGeom>
          <a:solidFill>
            <a:srgbClr val="C2352F"/>
          </a:solidFill>
          <a:ln/>
        </p:spPr>
        <p:txBody>
          <a:bodyPr/>
          <a:p/>
        </p:txBody>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−0.1 pts</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29" name="Shape 127"/>
          <p:cNvSpPr/>
          <p:nvPr/>
        </p:nvSpPr>
        <p:spPr>
          <a:xfrm>
            <a:off x="9273343" y="4790606"/>
            <a:ext cx="62681" cy="110352"/>
          </a:xfrm>
          <a:prstGeom prst="rect">
            <a:avLst/>
          </a:prstGeom>
          <a:solidFill>
            <a:srgbClr val="C2352F"/>
          </a:solidFill>
          <a:ln/>
        </p:spPr>
        <p:txBody>
          <a:bodyPr/>
          <a:p/>
        </p:txBody>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−0.5 pts</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33" name="Shape 131"/>
          <p:cNvSpPr/>
          <p:nvPr/>
        </p:nvSpPr>
        <p:spPr>
          <a:xfrm>
            <a:off x="9273343" y="5030502"/>
            <a:ext cx="62681" cy="110352"/>
          </a:xfrm>
          <a:prstGeom prst="rect">
            <a:avLst/>
          </a:prstGeom>
          <a:solidFill>
            <a:srgbClr val="C2352F"/>
          </a:solidFill>
          <a:ln/>
        </p:spPr>
        <p:txBody>
          <a:bodyPr/>
          <a:p/>
        </p:txBody>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−0.5 pts</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37" name="Shape 135"/>
          <p:cNvSpPr/>
          <p:nvPr/>
        </p:nvSpPr>
        <p:spPr>
          <a:xfrm>
            <a:off x="9235735" y="5270397"/>
            <a:ext cx="100289" cy="110352"/>
          </a:xfrm>
          <a:prstGeom prst="rect">
            <a:avLst/>
          </a:prstGeom>
          <a:solidFill>
            <a:srgbClr val="C2352F"/>
          </a:solidFill>
          <a:ln/>
        </p:spPr>
        <p:txBody>
          <a:bodyPr/>
          <a:p/>
        </p:txBody>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−0.8 pts</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41" name="Shape 139"/>
          <p:cNvSpPr/>
          <p:nvPr/>
        </p:nvSpPr>
        <p:spPr>
          <a:xfrm>
            <a:off x="9060229" y="5510293"/>
            <a:ext cx="275795" cy="110352"/>
          </a:xfrm>
          <a:prstGeom prst="rect">
            <a:avLst/>
          </a:prstGeom>
          <a:solidFill>
            <a:srgbClr val="C2352F"/>
          </a:solidFill>
          <a:ln/>
        </p:spPr>
        <p:txBody>
          <a:bodyPr/>
          <a:p/>
        </p:txBody>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−2.2 pts</a:t>
            </a:r>
            <a:endParaRPr lang="en-US" sz="1200" dirty="0"/>
          </a:p>
        </p:txBody>
      </p:sp>
      <p:sp>
        <p:nvSpPr>
          <p:cNvPr id="143" name="Shape 141"/>
          <p:cNvSpPr/>
          <p:nvPr/>
        </p:nvSpPr>
        <p:spPr>
          <a:xfrm>
            <a:off x="3780130" y="1847088"/>
            <a:ext cx="10973" cy="4078224"/>
          </a:xfrm>
          <a:prstGeom prst="rect">
            <a:avLst/>
          </a:prstGeom>
          <a:solidFill>
            <a:srgbClr val="9AA3AD"/>
          </a:solidFill>
          <a:ln/>
        </p:spPr>
        <p:txBody>
          <a:bodyPr/>
          <a:p/>
        </p:txBody>
      </p:sp>
      <p:sp>
        <p:nvSpPr>
          <p:cNvPr id="144" name="Shape 142"/>
          <p:cNvSpPr/>
          <p:nvPr/>
        </p:nvSpPr>
        <p:spPr>
          <a:xfrm>
            <a:off x="9330538" y="1847088"/>
            <a:ext cx="10973" cy="4078224"/>
          </a:xfrm>
          <a:prstGeom prst="rect">
            <a:avLst/>
          </a:prstGeom>
          <a:solidFill>
            <a:srgbClr val="9AA3AD"/>
          </a:solidFill>
          <a:ln/>
        </p:spPr>
        <p:txBody>
          <a:bodyPr/>
          <a:p/>
        </p:txBody>
      </p:sp>
      <p:sp>
        <p:nvSpPr>
          <p:cNvPr id="145" name="Shape 143"/>
          <p:cNvSpPr/>
          <p:nvPr/>
        </p:nvSpPr>
        <p:spPr>
          <a:xfrm>
            <a:off x="6085332" y="1847088"/>
            <a:ext cx="10973" cy="4078224"/>
          </a:xfrm>
          <a:prstGeom prst="rect">
            <a:avLst/>
          </a:prstGeom>
          <a:solidFill>
            <a:srgbClr val="D9D9D9"/>
          </a:solidFill>
          <a:ln/>
        </p:spPr>
        <p:txBody>
          <a:bodyPr/>
          <a:p/>
        </p:txBody>
      </p:sp>
      <p:sp>
        <p:nvSpPr>
          <p:cNvPr id="147" name="Shape 144"/>
          <p:cNvSpPr/>
          <p:nvPr/>
        </p:nvSpPr>
        <p:spPr>
          <a:xfrm>
            <a:off x="457200" y="6126480"/>
            <a:ext cx="11274552" cy="371856"/>
          </a:xfrm>
          <a:prstGeom prst="rect">
            <a:avLst/>
          </a:prstGeom>
          <a:solidFill>
            <a:srgbClr val="E6F6EE"/>
          </a:solidFill>
          <a:ln/>
        </p:spPr>
        <p:txBody>
          <a:bodyPr/>
          <a:p/>
        </p:txBody>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28 of 33 stores improved parts margin. 5 declined.</a:t>
            </a:r>
            <a:endParaRPr lang="en-US" sz="1600" dirty="0"/>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Shape 8"/>
          <p:cNvSpPr/>
          <p:nvPr/>
        </p:nvSpPr>
        <p:spPr>
          <a:xfrm>
            <a:off x="4084320" y="2139696"/>
            <a:ext cx="64008" cy="755294"/>
          </a:xfrm>
          <a:prstGeom prst="rect">
            <a:avLst/>
          </a:prstGeom>
          <a:solidFill>
            <a:srgbClr val="12A566"/>
          </a:solidFill>
          <a:ln/>
        </p:spPr>
        <p:txBody>
          <a:bodyPr/>
          <a:p/>
        </p:txBody>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44.9%</a:t>
            </a:r>
            <a:endParaRPr lang="en-US" sz="1400" dirty="0"/>
          </a:p>
        </p:txBody>
      </p:sp>
      <p:sp>
        <p:nvSpPr>
          <p:cNvPr id="13" name="Text 11"/>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+6.2 pts</a:t>
            </a:r>
            <a:endParaRPr lang="en-US" sz="1600" dirty="0"/>
          </a:p>
        </p:txBody>
      </p:sp>
      <p:sp>
        <p:nvSpPr>
          <p:cNvPr id="14" name="Text 12"/>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42.7%</a:t>
            </a:r>
            <a:endParaRPr lang="en-US" sz="1400" dirty="0"/>
          </a:p>
        </p:txBody>
      </p:sp>
      <p:sp>
        <p:nvSpPr>
          <p:cNvPr id="16" name="Text 14"/>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+4.5 pts</a:t>
            </a:r>
            <a:endParaRPr lang="en-US" sz="1600" dirty="0"/>
          </a:p>
        </p:txBody>
      </p:sp>
      <p:sp>
        <p:nvSpPr>
          <p:cNvPr id="17" name="Shape 15"/>
          <p:cNvSpPr/>
          <p:nvPr/>
        </p:nvSpPr>
        <p:spPr>
          <a:xfrm>
            <a:off x="658368" y="3760013"/>
            <a:ext cx="3489960" cy="828446"/>
          </a:xfrm>
          <a:prstGeom prst="rect">
            <a:avLst/>
          </a:prstGeom>
          <a:solidFill>
            <a:srgbClr val="F7F7F7"/>
          </a:solidFill>
          <a:ln/>
        </p:spPr>
        <p:txBody>
          <a:bodyPr/>
          <a:p/>
        </p:txBody>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34.8%</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+3.8 pts</a:t>
            </a:r>
            <a:endParaRPr lang="en-US" sz="1600" dirty="0"/>
          </a:p>
        </p:txBody>
      </p:sp>
      <p:sp>
        <p:nvSpPr>
          <p:cNvPr id="21" name="Text 19"/>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37.0%</a:t>
            </a:r>
            <a:endParaRPr lang="en-US" sz="1400" dirty="0"/>
          </a:p>
        </p:txBody>
      </p:sp>
      <p:sp>
        <p:nvSpPr>
          <p:cNvPr id="23" name="Text 21"/>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24" name="Shape 22"/>
          <p:cNvSpPr/>
          <p:nvPr/>
        </p:nvSpPr>
        <p:spPr>
          <a:xfrm>
            <a:off x="658368" y="5416906"/>
            <a:ext cx="3489960" cy="828446"/>
          </a:xfrm>
          <a:prstGeom prst="rect">
            <a:avLst/>
          </a:prstGeom>
          <a:solidFill>
            <a:srgbClr val="F7F7F7"/>
          </a:solidFill>
          <a:ln/>
        </p:spPr>
        <p:txBody>
          <a:bodyPr/>
          <a:p/>
        </p:txBody>
      </p:sp>
      <p:sp>
        <p:nvSpPr>
          <p:cNvPr id="25" name="Text 23"/>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44.6%</a:t>
            </a:r>
            <a:endParaRPr lang="en-US" sz="1400" dirty="0"/>
          </a:p>
        </p:txBody>
      </p:sp>
      <p:sp>
        <p:nvSpPr>
          <p:cNvPr id="27" name="Text 25"/>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28" name="Shape 26"/>
          <p:cNvSpPr/>
          <p:nvPr/>
        </p:nvSpPr>
        <p:spPr>
          <a:xfrm>
            <a:off x="4349496" y="1371600"/>
            <a:ext cx="3489960" cy="45720"/>
          </a:xfrm>
          <a:prstGeom prst="rect">
            <a:avLst/>
          </a:prstGeom>
          <a:solidFill>
            <a:srgbClr val="C2352F"/>
          </a:solidFill>
          <a:ln/>
        </p:spPr>
        <p:txBody>
          <a:bodyPr/>
          <a:p/>
        </p:txBody>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1" name="Shape 29"/>
          <p:cNvSpPr/>
          <p:nvPr/>
        </p:nvSpPr>
        <p:spPr>
          <a:xfrm>
            <a:off x="4349496" y="2103120"/>
            <a:ext cx="3489960" cy="828446"/>
          </a:xfrm>
          <a:prstGeom prst="rect">
            <a:avLst/>
          </a:prstGeom>
          <a:solidFill>
            <a:srgbClr val="F7F7F7"/>
          </a:solidFill>
          <a:ln/>
        </p:spPr>
        <p:txBody>
          <a:bodyPr/>
          <a:p/>
        </p:txBody>
      </p:sp>
      <p:sp>
        <p:nvSpPr>
          <p:cNvPr id="32" name="Text 30"/>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33.6%</a:t>
            </a:r>
            <a:endParaRPr lang="en-US" sz="1400" dirty="0"/>
          </a:p>
        </p:txBody>
      </p:sp>
      <p:sp>
        <p:nvSpPr>
          <p:cNvPr id="34" name="Text 32"/>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−2.2 pts</a:t>
            </a:r>
            <a:endParaRPr lang="en-US" sz="1600" dirty="0"/>
          </a:p>
        </p:txBody>
      </p:sp>
      <p:sp>
        <p:nvSpPr>
          <p:cNvPr id="35" name="Text 33"/>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6" name="Text 34"/>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45.3%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44.5%</a:t>
            </a:r>
            <a:endParaRPr lang="en-US" sz="1400" dirty="0"/>
          </a:p>
        </p:txBody>
      </p:sp>
      <p:sp>
        <p:nvSpPr>
          <p:cNvPr id="37" name="Text 35"/>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−0.8 pts</a:t>
            </a:r>
            <a:endParaRPr lang="en-US" sz="1600" dirty="0"/>
          </a:p>
        </p:txBody>
      </p:sp>
      <p:sp>
        <p:nvSpPr>
          <p:cNvPr id="38" name="Shape 36"/>
          <p:cNvSpPr/>
          <p:nvPr/>
        </p:nvSpPr>
        <p:spPr>
          <a:xfrm>
            <a:off x="4349496" y="3760013"/>
            <a:ext cx="3489960" cy="828446"/>
          </a:xfrm>
          <a:prstGeom prst="rect">
            <a:avLst/>
          </a:prstGeom>
          <a:solidFill>
            <a:srgbClr val="F7F7F7"/>
          </a:solidFill>
          <a:ln/>
        </p:spPr>
        <p:txBody>
          <a:bodyPr/>
          <a:p/>
        </p:txBody>
      </p:sp>
      <p:sp>
        <p:nvSpPr>
          <p:cNvPr id="39" name="Text 37"/>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0" name="Text 38"/>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39.4%</a:t>
            </a:r>
            <a:endParaRPr lang="en-US" sz="1400" dirty="0"/>
          </a:p>
        </p:txBody>
      </p:sp>
      <p:sp>
        <p:nvSpPr>
          <p:cNvPr id="41" name="Text 39"/>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−0.5 pts</a:t>
            </a:r>
            <a:endParaRPr lang="en-US" sz="1600" dirty="0"/>
          </a:p>
        </p:txBody>
      </p:sp>
      <p:sp>
        <p:nvSpPr>
          <p:cNvPr id="42" name="Text 40"/>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3" name="Text 41"/>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36.9%</a:t>
            </a:r>
            <a:endParaRPr lang="en-US" sz="1400" dirty="0"/>
          </a:p>
        </p:txBody>
      </p:sp>
      <p:sp>
        <p:nvSpPr>
          <p:cNvPr id="44" name="Text 42"/>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−0.5 pts</a:t>
            </a:r>
            <a:endParaRPr lang="en-US" sz="1600" dirty="0"/>
          </a:p>
        </p:txBody>
      </p:sp>
      <p:sp>
        <p:nvSpPr>
          <p:cNvPr id="45" name="Shape 43"/>
          <p:cNvSpPr/>
          <p:nvPr/>
        </p:nvSpPr>
        <p:spPr>
          <a:xfrm>
            <a:off x="4349496" y="5416906"/>
            <a:ext cx="3489960" cy="828446"/>
          </a:xfrm>
          <a:prstGeom prst="rect">
            <a:avLst/>
          </a:prstGeom>
          <a:solidFill>
            <a:srgbClr val="F7F7F7"/>
          </a:solidFill>
          <a:ln/>
        </p:spPr>
        <p:txBody>
          <a:bodyPr/>
          <a:p/>
        </p:txBody>
      </p:sp>
      <p:sp>
        <p:nvSpPr>
          <p:cNvPr id="46" name="Text 44"/>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7" name="Text 45"/>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42.2%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42.1%</a:t>
            </a:r>
            <a:endParaRPr lang="en-US" sz="1400" dirty="0"/>
          </a:p>
        </p:txBody>
      </p:sp>
      <p:sp>
        <p:nvSpPr>
          <p:cNvPr id="48" name="Text 46"/>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−0.1 pts</a:t>
            </a:r>
            <a:endParaRPr lang="en-US" sz="1600" dirty="0"/>
          </a:p>
        </p:txBody>
      </p:sp>
      <p:sp>
        <p:nvSpPr>
          <p:cNvPr id="49" name="Shape 47"/>
          <p:cNvSpPr/>
          <p:nvPr/>
        </p:nvSpPr>
        <p:spPr>
          <a:xfrm>
            <a:off x="8040624" y="1371600"/>
            <a:ext cx="3489960" cy="45720"/>
          </a:xfrm>
          <a:prstGeom prst="rect">
            <a:avLst/>
          </a:prstGeom>
          <a:solidFill>
            <a:srgbClr val="2587C5"/>
          </a:solidFill>
          <a:ln/>
        </p:spPr>
        <p:txBody>
          <a:bodyPr/>
          <a:p/>
        </p:txBody>
      </p:sp>
      <p:sp>
        <p:nvSpPr>
          <p:cNvPr id="5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1" name="Text 4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52" name="Shape 50"/>
          <p:cNvSpPr/>
          <p:nvPr/>
        </p:nvSpPr>
        <p:spPr>
          <a:xfrm>
            <a:off x="8040624" y="2103120"/>
            <a:ext cx="3489960" cy="828446"/>
          </a:xfrm>
          <a:prstGeom prst="rect">
            <a:avLst/>
          </a:prstGeom>
          <a:solidFill>
            <a:srgbClr val="F7F7F7"/>
          </a:solidFill>
          <a:ln/>
        </p:spPr>
        <p:txBody>
          <a:bodyPr/>
          <a:p/>
        </p:txBody>
      </p:sp>
      <p:sp>
        <p:nvSpPr>
          <p:cNvPr id="53" name="Shape 51"/>
          <p:cNvSpPr/>
          <p:nvPr/>
        </p:nvSpPr>
        <p:spPr>
          <a:xfrm>
            <a:off x="11466576" y="2139696"/>
            <a:ext cx="64008" cy="755294"/>
          </a:xfrm>
          <a:prstGeom prst="rect">
            <a:avLst/>
          </a:prstGeom>
          <a:solidFill>
            <a:srgbClr val="12A566"/>
          </a:solidFill>
          <a:ln/>
        </p:spPr>
        <p:txBody>
          <a:bodyPr/>
          <a:p/>
        </p:txBody>
      </p:sp>
      <p:sp>
        <p:nvSpPr>
          <p:cNvPr id="54" name="Text 52"/>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5" name="Text 53"/>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46.6%</a:t>
            </a:r>
            <a:endParaRPr lang="en-US" sz="1400" dirty="0"/>
          </a:p>
        </p:txBody>
      </p:sp>
      <p:sp>
        <p:nvSpPr>
          <p:cNvPr id="56" name="Text 54"/>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+7.2 pts</a:t>
            </a:r>
            <a:endParaRPr lang="en-US" sz="1600" dirty="0"/>
          </a:p>
        </p:txBody>
      </p:sp>
      <p:sp>
        <p:nvSpPr>
          <p:cNvPr id="57" name="Text 55"/>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8" name="Text 56"/>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43.8%</a:t>
            </a:r>
            <a:endParaRPr lang="en-US" sz="1400" dirty="0"/>
          </a:p>
        </p:txBody>
      </p:sp>
      <p:sp>
        <p:nvSpPr>
          <p:cNvPr id="59" name="Text 57"/>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+4.7 pts</a:t>
            </a:r>
            <a:endParaRPr lang="en-US" sz="1600" dirty="0"/>
          </a:p>
        </p:txBody>
      </p:sp>
      <p:sp>
        <p:nvSpPr>
          <p:cNvPr id="60" name="Shape 58"/>
          <p:cNvSpPr/>
          <p:nvPr/>
        </p:nvSpPr>
        <p:spPr>
          <a:xfrm>
            <a:off x="8040624" y="3760013"/>
            <a:ext cx="3489960" cy="828446"/>
          </a:xfrm>
          <a:prstGeom prst="rect">
            <a:avLst/>
          </a:prstGeom>
          <a:solidFill>
            <a:srgbClr val="F7F7F7"/>
          </a:solidFill>
          <a:ln/>
        </p:spPr>
        <p:txBody>
          <a:bodyPr/>
          <a:p/>
        </p:txBody>
      </p:sp>
      <p:sp>
        <p:nvSpPr>
          <p:cNvPr id="61" name="Text 59"/>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2" name="Text 60"/>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39.2%</a:t>
            </a:r>
            <a:endParaRPr lang="en-US" sz="1400" dirty="0"/>
          </a:p>
        </p:txBody>
      </p:sp>
      <p:sp>
        <p:nvSpPr>
          <p:cNvPr id="63" name="Text 61"/>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
        <p:nvSpPr>
          <p:cNvPr id="64" name="Text 62"/>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5" name="Text 63"/>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44.0%</a:t>
            </a:r>
            <a:endParaRPr lang="en-US" sz="1400" dirty="0"/>
          </a:p>
        </p:txBody>
      </p:sp>
      <p:sp>
        <p:nvSpPr>
          <p:cNvPr id="66" name="Text 64"/>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+2.9 pts</a:t>
            </a:r>
            <a:endParaRPr lang="en-US" sz="1600" dirty="0"/>
          </a:p>
        </p:txBody>
      </p:sp>
      <p:sp>
        <p:nvSpPr>
          <p:cNvPr id="67" name="Shape 65"/>
          <p:cNvSpPr/>
          <p:nvPr/>
        </p:nvSpPr>
        <p:spPr>
          <a:xfrm>
            <a:off x="8040624" y="5416906"/>
            <a:ext cx="3489960" cy="828446"/>
          </a:xfrm>
          <a:prstGeom prst="rect">
            <a:avLst/>
          </a:prstGeom>
          <a:solidFill>
            <a:srgbClr val="F7F7F7"/>
          </a:solidFill>
          <a:ln/>
        </p:spPr>
        <p:txBody>
          <a:bodyPr/>
          <a:p/>
        </p:txBody>
      </p:sp>
      <p:sp>
        <p:nvSpPr>
          <p:cNvPr id="68" name="Text 66"/>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9" name="Text 67"/>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41.7%</a:t>
            </a:r>
            <a:endParaRPr lang="en-US" sz="1400" dirty="0"/>
          </a:p>
        </p:txBody>
      </p:sp>
      <p:sp>
        <p:nvSpPr>
          <p:cNvPr id="70" name="Text 68"/>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+2.3 pts</a:t>
            </a:r>
            <a:endParaRPr lang="en-US" sz="1600" dirty="0"/>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Road To The Sale</a:t>
            </a:r>
            <a:endParaRPr lang="en-US" sz="2800" dirty="0"/>
          </a:p>
        </p:txBody>
      </p:sp>
      <p:sp>
        <p:nvSpPr>
          <p:cNvPr id="5" name="Shape 3"/>
          <p:cNvSpPr/>
          <p:nvPr/>
        </p:nvSpPr>
        <p:spPr>
          <a:xfrm>
            <a:off x="457200" y="1207008"/>
            <a:ext cx="6400800" cy="4782312"/>
          </a:xfrm>
          <a:prstGeom prst="rect">
            <a:avLst/>
          </a:prstGeom>
          <a:solidFill>
            <a:srgbClr val="FFFFFF"/>
          </a:solidFill>
          <a:ln/>
        </p:spPr>
        <p:txBody>
          <a:bodyPr/>
          <a:p/>
        </p:txBody>
      </p:sp>
      <p:sp>
        <p:nvSpPr>
          <p:cNvPr id="6" name="Shape 4"/>
          <p:cNvSpPr/>
          <p:nvPr/>
        </p:nvSpPr>
        <p:spPr>
          <a:xfrm>
            <a:off x="7022592" y="1207008"/>
            <a:ext cx="4709160" cy="4782312"/>
          </a:xfrm>
          <a:prstGeom prst="rect">
            <a:avLst/>
          </a:prstGeom>
          <a:solidFill>
            <a:srgbClr val="FFFFFF"/>
          </a:solidFill>
          <a:ln/>
        </p:spPr>
        <p:txBody>
          <a:bodyPr/>
          <a:p/>
        </p:txBody>
      </p:sp>
      <p:sp>
        <p:nvSpPr>
          <p:cNvPr id="7" name="Text 5"/>
          <p:cNvSpPr txBox="1"/>
          <p:nvPr/>
        </p:nvSpPr>
        <p:spPr>
          <a:xfrm>
            <a:off x="7269480" y="1371600"/>
            <a:ext cx="4297680" cy="310896"/>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WHERE WE ARE · JAN–SEP 2026</a:t>
            </a:r>
            <a:endParaRPr lang="en-US" sz="1400" dirty="0"/>
          </a:p>
        </p:txBody>
      </p:sp>
      <p:sp>
        <p:nvSpPr>
          <p:cNvPr id="8" name="Shape 6"/>
          <p:cNvSpPr/>
          <p:nvPr/>
        </p:nvSpPr>
        <p:spPr>
          <a:xfrm>
            <a:off x="7269480" y="1737360"/>
            <a:ext cx="4224528" cy="10973"/>
          </a:xfrm>
          <a:prstGeom prst="rect">
            <a:avLst/>
          </a:prstGeom>
          <a:solidFill>
            <a:srgbClr val="D9D9D9"/>
          </a:solidFill>
          <a:ln/>
        </p:spPr>
        <p:txBody>
          <a:bodyPr/>
          <a:p/>
        </p:txBody>
      </p:sp>
      <p:sp>
        <p:nvSpPr>
          <p:cNvPr id="9" name="Text 7"/>
          <p:cNvSpPr txBox="1"/>
          <p:nvPr/>
        </p:nvSpPr>
        <p:spPr>
          <a:xfrm>
            <a:off x="713232" y="1417320"/>
            <a:ext cx="5897880" cy="44348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Every advisor, every customer: timely meet and greet at the vehicle</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Walk-around with the customer: hood, tires and wipers</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Review history and previously declined items</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Time and mileage recommendations from an accurate, available menu</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MPI mandate: every car, every time</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Consistency is key: trained, documented and actively managed</a:t>
            </a:r>
            <a:endParaRPr lang="en-US" sz="1600" dirty="0"/>
          </a:p>
          <a:p>
            <a:pPr marL="228600" indent="-228600">
              <a:spcAft>
                <a:spcPts val="800"/>
              </a:spcAft>
              <a:buSzPct val="100000"/>
              <a:buChar char="•"/>
            </a:pPr>
            <a:r>
              <a:rPr lang="en-US" sz="1600" dirty="0">
                <a:solidFill>
                  <a:srgbClr val="1A1A1A"/>
                </a:solidFill>
                <a:latin typeface="Inter" pitchFamily="34" charset="0"/>
                <a:ea typeface="Inter" pitchFamily="34" charset="-122"/>
                <a:cs typeface="Inter" pitchFamily="34" charset="-120"/>
              </a:rPr>
              <a:t>We produce hours. Every service or repair not recommended is hours a technician never gets the chance to earn</a:t>
            </a:r>
            <a:endParaRPr lang="en-US" sz="1600" dirty="0"/>
          </a:p>
        </p:txBody>
      </p:sp>
      <p:sp>
        <p:nvSpPr>
          <p:cNvPr id="10" name="Shape 8"/>
          <p:cNvSpPr/>
          <p:nvPr/>
        </p:nvSpPr>
        <p:spPr>
          <a:xfrm>
            <a:off x="7269480" y="1920240"/>
            <a:ext cx="54864" cy="1112520"/>
          </a:xfrm>
          <a:prstGeom prst="rect">
            <a:avLst/>
          </a:prstGeom>
          <a:solidFill>
            <a:srgbClr val="12A566"/>
          </a:solidFill>
          <a:ln/>
        </p:spPr>
        <p:txBody>
          <a:bodyPr/>
          <a:p/>
        </p:txBody>
      </p:sp>
      <p:sp>
        <p:nvSpPr>
          <p:cNvPr id="11" name="Text 9"/>
          <p:cNvSpPr txBox="1"/>
          <p:nvPr/>
        </p:nvSpPr>
        <p:spPr>
          <a:xfrm>
            <a:off x="7452360" y="1874520"/>
            <a:ext cx="4023360" cy="566928"/>
          </a:xfrm>
          <a:prstGeom prst="rect">
            <a:avLst/>
          </a:prstGeom>
          <a:noFill/>
          <a:ln/>
        </p:spPr>
        <p:txBody>
          <a:bodyPr wrap="square" lIns="0" tIns="0" rIns="0" bIns="0" rtlCol="0" anchor="ctr">
            <a:normAutofit/>
          </a:bodyPr>
          <a:lstStyle/>
          <a:p>
            <a:pPr indent="0" marL="0">
              <a:buNone/>
            </a:pPr>
            <a:r>
              <a:rPr lang="en-US" sz="3000" b="1" dirty="0">
                <a:solidFill>
                  <a:srgbClr val="0B7A4A"/>
                </a:solidFill>
                <a:latin typeface="Inter" pitchFamily="34" charset="0"/>
                <a:ea typeface="Inter" pitchFamily="34" charset="-122"/>
                <a:cs typeface="Inter" pitchFamily="34" charset="-120"/>
              </a:rPr>
              <a:t>Up in all four</a:t>
            </a:r>
            <a:endParaRPr lang="en-US" sz="3000" dirty="0"/>
          </a:p>
        </p:txBody>
      </p:sp>
      <p:sp>
        <p:nvSpPr>
          <p:cNvPr id="12" name="Text 10"/>
          <p:cNvSpPr txBox="1"/>
          <p:nvPr/>
        </p:nvSpPr>
        <p:spPr>
          <a:xfrm>
            <a:off x="7452360" y="244144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Alignment, balance, brake fluid and fuel service each rose 1.3-1.4 pts and beat 2025 every month.</a:t>
            </a:r>
            <a:endParaRPr lang="en-US" sz="1400" dirty="0"/>
          </a:p>
        </p:txBody>
      </p:sp>
      <p:sp>
        <p:nvSpPr>
          <p:cNvPr id="13" name="Shape 11"/>
          <p:cNvSpPr/>
          <p:nvPr/>
        </p:nvSpPr>
        <p:spPr>
          <a:xfrm>
            <a:off x="7269480" y="3261360"/>
            <a:ext cx="54864" cy="1112520"/>
          </a:xfrm>
          <a:prstGeom prst="rect">
            <a:avLst/>
          </a:prstGeom>
          <a:solidFill>
            <a:srgbClr val="C2352F"/>
          </a:solidFill>
          <a:ln/>
        </p:spPr>
        <p:txBody>
          <a:bodyPr/>
          <a:p/>
        </p:txBody>
      </p:sp>
      <p:sp>
        <p:nvSpPr>
          <p:cNvPr id="14" name="Text 12"/>
          <p:cNvSpPr txBox="1"/>
          <p:nvPr/>
        </p:nvSpPr>
        <p:spPr>
          <a:xfrm>
            <a:off x="7452360" y="321564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18,493</a:t>
            </a:r>
            <a:endParaRPr lang="en-US" sz="3000" dirty="0"/>
          </a:p>
        </p:txBody>
      </p:sp>
      <p:sp>
        <p:nvSpPr>
          <p:cNvPr id="15" name="Text 13"/>
          <p:cNvSpPr txBox="1"/>
          <p:nvPr/>
        </p:nvSpPr>
        <p:spPr>
          <a:xfrm>
            <a:off x="7452360" y="378256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Balances short of the 15% benchmark. The group is at 8.3%.</a:t>
            </a:r>
            <a:endParaRPr lang="en-US" sz="1400" dirty="0"/>
          </a:p>
        </p:txBody>
      </p:sp>
      <p:sp>
        <p:nvSpPr>
          <p:cNvPr id="16" name="Shape 14"/>
          <p:cNvSpPr/>
          <p:nvPr/>
        </p:nvSpPr>
        <p:spPr>
          <a:xfrm>
            <a:off x="7269480" y="4602480"/>
            <a:ext cx="54864" cy="1112520"/>
          </a:xfrm>
          <a:prstGeom prst="rect">
            <a:avLst/>
          </a:prstGeom>
          <a:solidFill>
            <a:srgbClr val="C2352F"/>
          </a:solidFill>
          <a:ln/>
        </p:spPr>
        <p:txBody>
          <a:bodyPr/>
          <a:p/>
        </p:txBody>
      </p:sp>
      <p:sp>
        <p:nvSpPr>
          <p:cNvPr id="17" name="Text 15"/>
          <p:cNvSpPr txBox="1"/>
          <p:nvPr/>
        </p:nvSpPr>
        <p:spPr>
          <a:xfrm>
            <a:off x="7452360" y="4556760"/>
            <a:ext cx="4023360" cy="566928"/>
          </a:xfrm>
          <a:prstGeom prst="rect">
            <a:avLst/>
          </a:prstGeom>
          <a:noFill/>
          <a:ln/>
        </p:spPr>
        <p:txBody>
          <a:bodyPr wrap="square" lIns="0" tIns="0" rIns="0" bIns="0" rtlCol="0" anchor="ctr">
            <a:normAutofit/>
          </a:bodyPr>
          <a:lstStyle/>
          <a:p>
            <a:pPr indent="0" marL="0">
              <a:buNone/>
            </a:pPr>
            <a:r>
              <a:rPr lang="en-US" sz="3000" b="1" dirty="0">
                <a:solidFill>
                  <a:srgbClr val="A82B26"/>
                </a:solidFill>
                <a:latin typeface="Inter" pitchFamily="34" charset="0"/>
                <a:ea typeface="Inter" pitchFamily="34" charset="-122"/>
                <a:cs typeface="Inter" pitchFamily="34" charset="-120"/>
              </a:rPr>
              <a:t>4,821</a:t>
            </a:r>
            <a:endParaRPr lang="en-US" sz="3000" dirty="0"/>
          </a:p>
        </p:txBody>
      </p:sp>
      <p:sp>
        <p:nvSpPr>
          <p:cNvPr id="18" name="Text 16"/>
          <p:cNvSpPr txBox="1"/>
          <p:nvPr/>
        </p:nvSpPr>
        <p:spPr>
          <a:xfrm>
            <a:off x="7452360" y="5123688"/>
            <a:ext cx="4023360" cy="609600"/>
          </a:xfrm>
          <a:prstGeom prst="rect">
            <a:avLst/>
          </a:prstGeom>
          <a:noFill/>
          <a:ln/>
        </p:spPr>
        <p:txBody>
          <a:bodyPr wrap="square" lIns="0" tIns="0" rIns="0" bIns="0" rtlCol="0" anchor="t"/>
          <a:lstStyle/>
          <a:p>
            <a:pPr indent="0" marL="0">
              <a:buNone/>
            </a:pPr>
            <a:r>
              <a:rPr lang="en-US" sz="1400" dirty="0">
                <a:solidFill>
                  <a:srgbClr val="1A1A1A"/>
                </a:solidFill>
                <a:latin typeface="Inter" pitchFamily="34" charset="0"/>
                <a:ea typeface="Inter" pitchFamily="34" charset="-122"/>
                <a:cs typeface="Inter" pitchFamily="34" charset="-120"/>
              </a:rPr>
              <a:t>Alignments short of 15%; the group is at 13.2%. Brake fluid is 0.8 pts from its 10%.</a:t>
            </a:r>
            <a:endParaRPr lang="en-US" sz="1400" dirty="0"/>
          </a:p>
        </p:txBody>
      </p:sp>
      <p:sp>
        <p:nvSpPr>
          <p:cNvPr id="19" name="Shape 17"/>
          <p:cNvSpPr/>
          <p:nvPr/>
        </p:nvSpPr>
        <p:spPr>
          <a:xfrm>
            <a:off x="457200" y="6126480"/>
            <a:ext cx="11274552" cy="371856"/>
          </a:xfrm>
          <a:prstGeom prst="rect">
            <a:avLst/>
          </a:prstGeom>
          <a:solidFill>
            <a:srgbClr val="EDF4FA"/>
          </a:solidFill>
          <a:ln/>
        </p:spPr>
        <p:txBody>
          <a:bodyPr/>
          <a:p/>
        </p:txBody>
      </p:sp>
      <p:sp>
        <p:nvSpPr>
          <p:cNvPr id="20" name="Text 18"/>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The ask: every car gets the walk-around and the menu. The benchmarks are where that process lands.</a:t>
            </a:r>
            <a:endParaRPr lang="en-US" sz="1600" dirty="0"/>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Alignment %</a:t>
            </a:r>
            <a:endParaRPr lang="en-US" sz="2800" dirty="0"/>
          </a:p>
        </p:txBody>
      </p:sp>
      <p:sp>
        <p:nvSpPr>
          <p:cNvPr id="5" name="Shape 3"/>
          <p:cNvSpPr/>
          <p:nvPr/>
        </p:nvSpPr>
        <p:spPr>
          <a:xfrm>
            <a:off x="457200" y="1207008"/>
            <a:ext cx="11274552" cy="1005840"/>
          </a:xfrm>
          <a:prstGeom prst="rect">
            <a:avLst/>
          </a:prstGeom>
          <a:solidFill>
            <a:srgbClr val="FFFFFF"/>
          </a:solidFill>
          <a:ln/>
        </p:spPr>
        <p:txBody>
          <a:bodyPr/>
          <a:p/>
        </p:txBody>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11.9%</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13.2%</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+1.3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+11.4%</a:t>
            </a:r>
            <a:endParaRPr lang="en-US" sz="3000" dirty="0"/>
          </a:p>
        </p:txBody>
      </p:sp>
      <p:sp>
        <p:nvSpPr>
          <p:cNvPr id="14" name="Shape 12"/>
          <p:cNvSpPr/>
          <p:nvPr/>
        </p:nvSpPr>
        <p:spPr>
          <a:xfrm>
            <a:off x="457200" y="2322576"/>
            <a:ext cx="11274552" cy="3666744"/>
          </a:xfrm>
          <a:prstGeom prst="rect">
            <a:avLst/>
          </a:prstGeom>
          <a:solidFill>
            <a:srgbClr val="FFFFFF"/>
          </a:solidFill>
          <a:ln/>
        </p:spPr>
        <p:txBody>
          <a:bodyPr/>
          <a:p/>
        </p:txBody>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Alignment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txBody>
          <a:bodyPr/>
          <a:p/>
        </p:txBody>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3762756" y="3049524"/>
            <a:ext cx="310896" cy="45720"/>
          </a:xfrm>
          <a:prstGeom prst="rect">
            <a:avLst/>
          </a:prstGeom>
          <a:solidFill>
            <a:srgbClr val="9AA3AD"/>
          </a:solidFill>
          <a:ln/>
        </p:spPr>
        <p:txBody>
          <a:bodyPr/>
          <a:p/>
        </p:txBody>
      </p:sp>
      <p:sp>
        <p:nvSpPr>
          <p:cNvPr id="24" name="Shape 16"/>
          <p:cNvSpPr/>
          <p:nvPr/>
        </p:nvSpPr>
        <p:spPr>
          <a:xfrm>
            <a:off x="3863340" y="3017520"/>
            <a:ext cx="109728" cy="109728"/>
          </a:xfrm>
          <a:prstGeom prst="ellipse">
            <a:avLst/>
          </a:prstGeom>
          <a:solidFill>
            <a:srgbClr val="9AA3AD"/>
          </a:solidFill>
          <a:ln/>
        </p:spPr>
        <p:txBody>
          <a:bodyPr/>
          <a:p/>
        </p:txBody>
      </p:sp>
      <p:sp>
        <p:nvSpPr>
          <p:cNvPr id="25" name="Text 17"/>
          <p:cNvSpPr txBox="1"/>
          <p:nvPr/>
        </p:nvSpPr>
        <p:spPr>
          <a:xfrm>
            <a:off x="414680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4997196" y="3049524"/>
            <a:ext cx="310896" cy="45720"/>
          </a:xfrm>
          <a:prstGeom prst="rect">
            <a:avLst/>
          </a:prstGeom>
          <a:solidFill>
            <a:srgbClr val="2587C5"/>
          </a:solidFill>
          <a:ln/>
        </p:spPr>
        <p:txBody>
          <a:bodyPr/>
          <a:p/>
        </p:txBody>
      </p:sp>
      <p:sp>
        <p:nvSpPr>
          <p:cNvPr id="27" name="Shape 19"/>
          <p:cNvSpPr/>
          <p:nvPr/>
        </p:nvSpPr>
        <p:spPr>
          <a:xfrm>
            <a:off x="5097780" y="3017520"/>
            <a:ext cx="109728" cy="109728"/>
          </a:xfrm>
          <a:prstGeom prst="ellipse">
            <a:avLst/>
          </a:prstGeom>
          <a:solidFill>
            <a:srgbClr val="2587C5"/>
          </a:solidFill>
          <a:ln/>
        </p:spPr>
        <p:txBody>
          <a:bodyPr/>
          <a:p/>
        </p:txBody>
      </p:sp>
      <p:sp>
        <p:nvSpPr>
          <p:cNvPr id="28" name="Text 20"/>
          <p:cNvSpPr txBox="1"/>
          <p:nvPr/>
        </p:nvSpPr>
        <p:spPr>
          <a:xfrm>
            <a:off x="538124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6231636" y="3049524"/>
            <a:ext cx="73152" cy="36576"/>
          </a:xfrm>
          <a:prstGeom prst="rect">
            <a:avLst/>
          </a:prstGeom>
          <a:solidFill>
            <a:srgbClr val="595959"/>
          </a:solidFill>
          <a:ln/>
        </p:spPr>
        <p:txBody>
          <a:bodyPr/>
          <a:p/>
        </p:txBody>
      </p:sp>
      <p:sp>
        <p:nvSpPr>
          <p:cNvPr id="30" name="Shape 22"/>
          <p:cNvSpPr/>
          <p:nvPr/>
        </p:nvSpPr>
        <p:spPr>
          <a:xfrm>
            <a:off x="6350508" y="3049524"/>
            <a:ext cx="73152" cy="36576"/>
          </a:xfrm>
          <a:prstGeom prst="rect">
            <a:avLst/>
          </a:prstGeom>
          <a:solidFill>
            <a:srgbClr val="595959"/>
          </a:solidFill>
          <a:ln/>
        </p:spPr>
        <p:txBody>
          <a:bodyPr/>
          <a:p/>
        </p:txBody>
      </p:sp>
      <p:sp>
        <p:nvSpPr>
          <p:cNvPr id="31" name="Shape 23"/>
          <p:cNvSpPr/>
          <p:nvPr/>
        </p:nvSpPr>
        <p:spPr>
          <a:xfrm>
            <a:off x="6469380" y="3049524"/>
            <a:ext cx="73152" cy="36576"/>
          </a:xfrm>
          <a:prstGeom prst="rect">
            <a:avLst/>
          </a:prstGeom>
          <a:solidFill>
            <a:srgbClr val="595959"/>
          </a:solidFill>
          <a:ln/>
        </p:spPr>
        <p:txBody>
          <a:bodyPr/>
          <a:p/>
        </p:txBody>
      </p:sp>
      <p:sp>
        <p:nvSpPr>
          <p:cNvPr id="32" name="Text 24"/>
          <p:cNvSpPr txBox="1"/>
          <p:nvPr/>
        </p:nvSpPr>
        <p:spPr>
          <a:xfrm>
            <a:off x="6615684" y="2926080"/>
            <a:ext cx="23774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Benchmark 15%</a:t>
            </a:r>
            <a:endParaRPr lang="en-US" sz="1400" dirty="0"/>
          </a:p>
        </p:txBody>
      </p:sp>
      <p:sp>
        <p:nvSpPr>
          <p:cNvPr id="33" name="Shape 25"/>
          <p:cNvSpPr/>
          <p:nvPr/>
        </p:nvSpPr>
        <p:spPr>
          <a:xfrm>
            <a:off x="457200" y="6126480"/>
            <a:ext cx="11274552" cy="615696"/>
          </a:xfrm>
          <a:prstGeom prst="rect">
            <a:avLst/>
          </a:prstGeom>
          <a:solidFill>
            <a:srgbClr val="E6F6EE"/>
          </a:solidFill>
          <a:ln/>
        </p:spPr>
        <p:txBody>
          <a:bodyPr/>
          <a:p/>
        </p:txBody>
      </p:sp>
      <p:sp>
        <p:nvSpPr>
          <p:cNvPr id="34"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1.3 pts to 13.2%, ahead of 2025 in all nine months, but 1.8 pts under the 15% benchmark — 4,821 alignments short.</a:t>
            </a:r>
            <a:endParaRPr lang="en-US" sz="1600" dirty="0"/>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Alignment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Shape 8"/>
          <p:cNvSpPr/>
          <p:nvPr/>
        </p:nvSpPr>
        <p:spPr>
          <a:xfrm>
            <a:off x="4084320" y="2139696"/>
            <a:ext cx="64008" cy="755294"/>
          </a:xfrm>
          <a:prstGeom prst="rect">
            <a:avLst/>
          </a:prstGeom>
          <a:solidFill>
            <a:srgbClr val="12A566"/>
          </a:solidFill>
          <a:ln/>
        </p:spPr>
        <p:txBody>
          <a:bodyPr/>
          <a:p/>
        </p:txBody>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14.8%</a:t>
            </a:r>
            <a:endParaRPr lang="en-US" sz="1400" dirty="0"/>
          </a:p>
        </p:txBody>
      </p:sp>
      <p:sp>
        <p:nvSpPr>
          <p:cNvPr id="13" name="Text 11"/>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+9.7 pts</a:t>
            </a:r>
            <a:endParaRPr lang="en-US" sz="1600" dirty="0"/>
          </a:p>
        </p:txBody>
      </p:sp>
      <p:sp>
        <p:nvSpPr>
          <p:cNvPr id="14" name="Shape 12"/>
          <p:cNvSpPr/>
          <p:nvPr/>
        </p:nvSpPr>
        <p:spPr>
          <a:xfrm>
            <a:off x="4084320" y="2968142"/>
            <a:ext cx="64008" cy="755294"/>
          </a:xfrm>
          <a:prstGeom prst="rect">
            <a:avLst/>
          </a:prstGeom>
          <a:solidFill>
            <a:srgbClr val="12A566"/>
          </a:solidFill>
          <a:ln/>
        </p:spPr>
        <p:txBody>
          <a:bodyPr/>
          <a:p/>
        </p:txBody>
      </p:sp>
      <p:sp>
        <p:nvSpPr>
          <p:cNvPr id="15" name="Text 13"/>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4"/>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21.7%</a:t>
            </a:r>
            <a:endParaRPr lang="en-US" sz="1400" dirty="0"/>
          </a:p>
        </p:txBody>
      </p:sp>
      <p:sp>
        <p:nvSpPr>
          <p:cNvPr id="17" name="Text 15"/>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+6.8 pts</a:t>
            </a:r>
            <a:endParaRPr lang="en-US" sz="1600" dirty="0"/>
          </a:p>
        </p:txBody>
      </p:sp>
      <p:sp>
        <p:nvSpPr>
          <p:cNvPr id="18" name="Shape 16"/>
          <p:cNvSpPr/>
          <p:nvPr/>
        </p:nvSpPr>
        <p:spPr>
          <a:xfrm>
            <a:off x="658368" y="3760013"/>
            <a:ext cx="3489960" cy="828446"/>
          </a:xfrm>
          <a:prstGeom prst="rect">
            <a:avLst/>
          </a:prstGeom>
          <a:solidFill>
            <a:srgbClr val="F7F7F7"/>
          </a:solidFill>
          <a:ln/>
        </p:spPr>
        <p:txBody>
          <a:bodyPr/>
          <a:p/>
        </p:txBody>
      </p:sp>
      <p:sp>
        <p:nvSpPr>
          <p:cNvPr id="19" name="Text 17"/>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0" name="Text 18"/>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11.7%</a:t>
            </a:r>
            <a:endParaRPr lang="en-US" sz="1400" dirty="0"/>
          </a:p>
        </p:txBody>
      </p:sp>
      <p:sp>
        <p:nvSpPr>
          <p:cNvPr id="21" name="Text 19"/>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+6.8 pts</a:t>
            </a:r>
            <a:endParaRPr lang="en-US" sz="1600" dirty="0"/>
          </a:p>
        </p:txBody>
      </p:sp>
      <p:sp>
        <p:nvSpPr>
          <p:cNvPr id="22" name="Shape 20"/>
          <p:cNvSpPr/>
          <p:nvPr/>
        </p:nvSpPr>
        <p:spPr>
          <a:xfrm>
            <a:off x="4084320" y="4625035"/>
            <a:ext cx="64008" cy="755294"/>
          </a:xfrm>
          <a:prstGeom prst="rect">
            <a:avLst/>
          </a:prstGeom>
          <a:solidFill>
            <a:srgbClr val="12A566"/>
          </a:solidFill>
          <a:ln/>
        </p:spPr>
        <p:txBody>
          <a:bodyPr/>
          <a:p/>
        </p:txBody>
      </p:sp>
      <p:sp>
        <p:nvSpPr>
          <p:cNvPr id="23" name="Text 21"/>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4" name="Text 22"/>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16.6%</a:t>
            </a:r>
            <a:endParaRPr lang="en-US" sz="1400" dirty="0"/>
          </a:p>
        </p:txBody>
      </p:sp>
      <p:sp>
        <p:nvSpPr>
          <p:cNvPr id="25" name="Text 23"/>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+6.7 pts</a:t>
            </a:r>
            <a:endParaRPr lang="en-US" sz="1600" dirty="0"/>
          </a:p>
        </p:txBody>
      </p:sp>
      <p:sp>
        <p:nvSpPr>
          <p:cNvPr id="26" name="Shape 24"/>
          <p:cNvSpPr/>
          <p:nvPr/>
        </p:nvSpPr>
        <p:spPr>
          <a:xfrm>
            <a:off x="658368" y="5416906"/>
            <a:ext cx="3489960" cy="828446"/>
          </a:xfrm>
          <a:prstGeom prst="rect">
            <a:avLst/>
          </a:prstGeom>
          <a:solidFill>
            <a:srgbClr val="F7F7F7"/>
          </a:solidFill>
          <a:ln/>
        </p:spPr>
        <p:txBody>
          <a:bodyPr/>
          <a:p/>
        </p:txBody>
      </p:sp>
      <p:sp>
        <p:nvSpPr>
          <p:cNvPr id="27" name="Text 25"/>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8" name="Text 26"/>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17.3%</a:t>
            </a:r>
            <a:endParaRPr lang="en-US" sz="1400" dirty="0"/>
          </a:p>
        </p:txBody>
      </p:sp>
      <p:sp>
        <p:nvSpPr>
          <p:cNvPr id="29" name="Text 27"/>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+5.9 pts</a:t>
            </a:r>
            <a:endParaRPr lang="en-US" sz="1600" dirty="0"/>
          </a:p>
        </p:txBody>
      </p:sp>
      <p:sp>
        <p:nvSpPr>
          <p:cNvPr id="30" name="Shape 28"/>
          <p:cNvSpPr/>
          <p:nvPr/>
        </p:nvSpPr>
        <p:spPr>
          <a:xfrm>
            <a:off x="4349496" y="1371600"/>
            <a:ext cx="3489960" cy="45720"/>
          </a:xfrm>
          <a:prstGeom prst="rect">
            <a:avLst/>
          </a:prstGeom>
          <a:solidFill>
            <a:srgbClr val="C2352F"/>
          </a:solidFill>
          <a:ln/>
        </p:spPr>
        <p:txBody>
          <a:bodyPr/>
          <a:p/>
        </p:txBody>
      </p:sp>
      <p:sp>
        <p:nvSpPr>
          <p:cNvPr id="31" name="Text 29"/>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2" name="Text 30"/>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3" name="Shape 31"/>
          <p:cNvSpPr/>
          <p:nvPr/>
        </p:nvSpPr>
        <p:spPr>
          <a:xfrm>
            <a:off x="4349496" y="2103120"/>
            <a:ext cx="3489960" cy="828446"/>
          </a:xfrm>
          <a:prstGeom prst="rect">
            <a:avLst/>
          </a:prstGeom>
          <a:solidFill>
            <a:srgbClr val="F7F7F7"/>
          </a:solidFill>
          <a:ln/>
        </p:spPr>
        <p:txBody>
          <a:bodyPr/>
          <a:p/>
        </p:txBody>
      </p:sp>
      <p:sp>
        <p:nvSpPr>
          <p:cNvPr id="34" name="Text 32"/>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5" name="Text 33"/>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17.7%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12.8%</a:t>
            </a:r>
            <a:endParaRPr lang="en-US" sz="1400" dirty="0"/>
          </a:p>
        </p:txBody>
      </p:sp>
      <p:sp>
        <p:nvSpPr>
          <p:cNvPr id="36" name="Text 34"/>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−4.9 pts</a:t>
            </a:r>
            <a:endParaRPr lang="en-US" sz="1600" dirty="0"/>
          </a:p>
        </p:txBody>
      </p:sp>
      <p:sp>
        <p:nvSpPr>
          <p:cNvPr id="37" name="Text 35"/>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8" name="Text 36"/>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9.7%</a:t>
            </a:r>
            <a:endParaRPr lang="en-US" sz="1400" dirty="0"/>
          </a:p>
        </p:txBody>
      </p:sp>
      <p:sp>
        <p:nvSpPr>
          <p:cNvPr id="39" name="Text 37"/>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−3.6 pts</a:t>
            </a:r>
            <a:endParaRPr lang="en-US" sz="1600" dirty="0"/>
          </a:p>
        </p:txBody>
      </p:sp>
      <p:sp>
        <p:nvSpPr>
          <p:cNvPr id="40" name="Shape 38"/>
          <p:cNvSpPr/>
          <p:nvPr/>
        </p:nvSpPr>
        <p:spPr>
          <a:xfrm>
            <a:off x="4349496" y="3760013"/>
            <a:ext cx="3489960" cy="828446"/>
          </a:xfrm>
          <a:prstGeom prst="rect">
            <a:avLst/>
          </a:prstGeom>
          <a:solidFill>
            <a:srgbClr val="F7F7F7"/>
          </a:solidFill>
          <a:ln/>
        </p:spPr>
        <p:txBody>
          <a:bodyPr/>
          <a:p/>
        </p:txBody>
      </p:sp>
      <p:sp>
        <p:nvSpPr>
          <p:cNvPr id="41" name="Text 39"/>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2" name="Text 40"/>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16.0%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14.5%</a:t>
            </a:r>
            <a:endParaRPr lang="en-US" sz="1400" dirty="0"/>
          </a:p>
        </p:txBody>
      </p:sp>
      <p:sp>
        <p:nvSpPr>
          <p:cNvPr id="43" name="Text 41"/>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−1.5 pts</a:t>
            </a:r>
            <a:endParaRPr lang="en-US" sz="1600" dirty="0"/>
          </a:p>
        </p:txBody>
      </p:sp>
      <p:sp>
        <p:nvSpPr>
          <p:cNvPr id="44" name="Text 42"/>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5" name="Text 43"/>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11.0%</a:t>
            </a:r>
            <a:endParaRPr lang="en-US" sz="1400" dirty="0"/>
          </a:p>
        </p:txBody>
      </p:sp>
      <p:sp>
        <p:nvSpPr>
          <p:cNvPr id="46" name="Text 44"/>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−0.9 pts</a:t>
            </a:r>
            <a:endParaRPr lang="en-US" sz="1600" dirty="0"/>
          </a:p>
        </p:txBody>
      </p:sp>
      <p:sp>
        <p:nvSpPr>
          <p:cNvPr id="47" name="Shape 45"/>
          <p:cNvSpPr/>
          <p:nvPr/>
        </p:nvSpPr>
        <p:spPr>
          <a:xfrm>
            <a:off x="4349496" y="5416906"/>
            <a:ext cx="3489960" cy="828446"/>
          </a:xfrm>
          <a:prstGeom prst="rect">
            <a:avLst/>
          </a:prstGeom>
          <a:solidFill>
            <a:srgbClr val="F7F7F7"/>
          </a:solidFill>
          <a:ln/>
        </p:spPr>
        <p:txBody>
          <a:bodyPr/>
          <a:p/>
        </p:txBody>
      </p:sp>
      <p:sp>
        <p:nvSpPr>
          <p:cNvPr id="48" name="Text 46"/>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9" name="Text 47"/>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12.8%</a:t>
            </a:r>
            <a:endParaRPr lang="en-US" sz="1400" dirty="0"/>
          </a:p>
        </p:txBody>
      </p:sp>
      <p:sp>
        <p:nvSpPr>
          <p:cNvPr id="50" name="Text 48"/>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−0.5 pts</a:t>
            </a:r>
            <a:endParaRPr lang="en-US" sz="1600" dirty="0"/>
          </a:p>
        </p:txBody>
      </p:sp>
      <p:sp>
        <p:nvSpPr>
          <p:cNvPr id="51" name="Shape 49"/>
          <p:cNvSpPr/>
          <p:nvPr/>
        </p:nvSpPr>
        <p:spPr>
          <a:xfrm>
            <a:off x="8040624" y="1371600"/>
            <a:ext cx="3489960" cy="45720"/>
          </a:xfrm>
          <a:prstGeom prst="rect">
            <a:avLst/>
          </a:prstGeom>
          <a:solidFill>
            <a:srgbClr val="2587C5"/>
          </a:solidFill>
          <a:ln/>
        </p:spPr>
        <p:txBody>
          <a:bodyPr/>
          <a:p/>
        </p:txBody>
      </p:sp>
      <p:sp>
        <p:nvSpPr>
          <p:cNvPr id="52" name="Text 50"/>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3" name="Text 51"/>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54" name="Shape 52"/>
          <p:cNvSpPr/>
          <p:nvPr/>
        </p:nvSpPr>
        <p:spPr>
          <a:xfrm>
            <a:off x="8040624" y="2103120"/>
            <a:ext cx="3489960" cy="828446"/>
          </a:xfrm>
          <a:prstGeom prst="rect">
            <a:avLst/>
          </a:prstGeom>
          <a:solidFill>
            <a:srgbClr val="F7F7F7"/>
          </a:solidFill>
          <a:ln/>
        </p:spPr>
        <p:txBody>
          <a:bodyPr/>
          <a:p/>
        </p:txBody>
      </p:sp>
      <p:sp>
        <p:nvSpPr>
          <p:cNvPr id="55" name="Text 53"/>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6" name="Text 54"/>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31.7%</a:t>
            </a:r>
            <a:endParaRPr lang="en-US" sz="1400" dirty="0"/>
          </a:p>
        </p:txBody>
      </p:sp>
      <p:sp>
        <p:nvSpPr>
          <p:cNvPr id="57" name="Text 55"/>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+10.7 pts</a:t>
            </a:r>
            <a:endParaRPr lang="en-US" sz="1600" dirty="0"/>
          </a:p>
        </p:txBody>
      </p:sp>
      <p:sp>
        <p:nvSpPr>
          <p:cNvPr id="58" name="Shape 56"/>
          <p:cNvSpPr/>
          <p:nvPr/>
        </p:nvSpPr>
        <p:spPr>
          <a:xfrm>
            <a:off x="11466576" y="2968142"/>
            <a:ext cx="64008" cy="755294"/>
          </a:xfrm>
          <a:prstGeom prst="rect">
            <a:avLst/>
          </a:prstGeom>
          <a:solidFill>
            <a:srgbClr val="12A566"/>
          </a:solidFill>
          <a:ln/>
        </p:spPr>
        <p:txBody>
          <a:bodyPr/>
          <a:p/>
        </p:txBody>
      </p:sp>
      <p:sp>
        <p:nvSpPr>
          <p:cNvPr id="59" name="Text 57"/>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0" name="Text 58"/>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22.8%</a:t>
            </a:r>
            <a:endParaRPr lang="en-US" sz="1400" dirty="0"/>
          </a:p>
        </p:txBody>
      </p:sp>
      <p:sp>
        <p:nvSpPr>
          <p:cNvPr id="61" name="Text 59"/>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+10.2 pts</a:t>
            </a:r>
            <a:endParaRPr lang="en-US" sz="1600" dirty="0"/>
          </a:p>
        </p:txBody>
      </p:sp>
      <p:sp>
        <p:nvSpPr>
          <p:cNvPr id="62" name="Shape 60"/>
          <p:cNvSpPr/>
          <p:nvPr/>
        </p:nvSpPr>
        <p:spPr>
          <a:xfrm>
            <a:off x="8040624" y="3760013"/>
            <a:ext cx="3489960" cy="828446"/>
          </a:xfrm>
          <a:prstGeom prst="rect">
            <a:avLst/>
          </a:prstGeom>
          <a:solidFill>
            <a:srgbClr val="F7F7F7"/>
          </a:solidFill>
          <a:ln/>
        </p:spPr>
        <p:txBody>
          <a:bodyPr/>
          <a:p/>
        </p:txBody>
      </p:sp>
      <p:sp>
        <p:nvSpPr>
          <p:cNvPr id="63" name="Text 61"/>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4" name="Text 62"/>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11.7%</a:t>
            </a:r>
            <a:endParaRPr lang="en-US" sz="1400" dirty="0"/>
          </a:p>
        </p:txBody>
      </p:sp>
      <p:sp>
        <p:nvSpPr>
          <p:cNvPr id="65" name="Text 63"/>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+7.7 pts</a:t>
            </a:r>
            <a:endParaRPr lang="en-US" sz="1600" dirty="0"/>
          </a:p>
        </p:txBody>
      </p:sp>
      <p:sp>
        <p:nvSpPr>
          <p:cNvPr id="66" name="Shape 64"/>
          <p:cNvSpPr/>
          <p:nvPr/>
        </p:nvSpPr>
        <p:spPr>
          <a:xfrm>
            <a:off x="11466576" y="4625035"/>
            <a:ext cx="64008" cy="755294"/>
          </a:xfrm>
          <a:prstGeom prst="rect">
            <a:avLst/>
          </a:prstGeom>
          <a:solidFill>
            <a:srgbClr val="12A566"/>
          </a:solidFill>
          <a:ln/>
        </p:spPr>
        <p:txBody>
          <a:bodyPr/>
          <a:p/>
        </p:txBody>
      </p:sp>
      <p:sp>
        <p:nvSpPr>
          <p:cNvPr id="67" name="Text 65"/>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8" name="Text 66"/>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25.7%</a:t>
            </a:r>
            <a:endParaRPr lang="en-US" sz="1400" dirty="0"/>
          </a:p>
        </p:txBody>
      </p:sp>
      <p:sp>
        <p:nvSpPr>
          <p:cNvPr id="69" name="Text 67"/>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+7.4 pts</a:t>
            </a:r>
            <a:endParaRPr lang="en-US" sz="1600" dirty="0"/>
          </a:p>
        </p:txBody>
      </p:sp>
      <p:sp>
        <p:nvSpPr>
          <p:cNvPr id="70" name="Shape 68"/>
          <p:cNvSpPr/>
          <p:nvPr/>
        </p:nvSpPr>
        <p:spPr>
          <a:xfrm>
            <a:off x="8040624" y="5416906"/>
            <a:ext cx="3489960" cy="828446"/>
          </a:xfrm>
          <a:prstGeom prst="rect">
            <a:avLst/>
          </a:prstGeom>
          <a:solidFill>
            <a:srgbClr val="F7F7F7"/>
          </a:solidFill>
          <a:ln/>
        </p:spPr>
        <p:txBody>
          <a:bodyPr/>
          <a:p/>
        </p:txBody>
      </p:sp>
      <p:sp>
        <p:nvSpPr>
          <p:cNvPr id="71" name="Shape 69"/>
          <p:cNvSpPr/>
          <p:nvPr/>
        </p:nvSpPr>
        <p:spPr>
          <a:xfrm>
            <a:off x="11466576" y="5453482"/>
            <a:ext cx="64008" cy="755294"/>
          </a:xfrm>
          <a:prstGeom prst="rect">
            <a:avLst/>
          </a:prstGeom>
          <a:solidFill>
            <a:srgbClr val="12A566"/>
          </a:solidFill>
          <a:ln/>
        </p:spPr>
        <p:txBody>
          <a:bodyPr/>
          <a:p/>
        </p:txBody>
      </p:sp>
      <p:sp>
        <p:nvSpPr>
          <p:cNvPr id="72" name="Text 70"/>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3" name="Text 71"/>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19.3%</a:t>
            </a:r>
            <a:endParaRPr lang="en-US" sz="1400" dirty="0"/>
          </a:p>
        </p:txBody>
      </p:sp>
      <p:sp>
        <p:nvSpPr>
          <p:cNvPr id="74" name="Text 72"/>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+6.5 pts</a:t>
            </a:r>
            <a:endParaRPr lang="en-US" sz="1600" dirty="0"/>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Balance %</a:t>
            </a:r>
            <a:endParaRPr lang="en-US" sz="2800" dirty="0"/>
          </a:p>
        </p:txBody>
      </p:sp>
      <p:sp>
        <p:nvSpPr>
          <p:cNvPr id="5" name="Shape 3"/>
          <p:cNvSpPr/>
          <p:nvPr/>
        </p:nvSpPr>
        <p:spPr>
          <a:xfrm>
            <a:off x="457200" y="1207008"/>
            <a:ext cx="11274552" cy="1005840"/>
          </a:xfrm>
          <a:prstGeom prst="rect">
            <a:avLst/>
          </a:prstGeom>
          <a:solidFill>
            <a:srgbClr val="FFFFFF"/>
          </a:solidFill>
          <a:ln/>
        </p:spPr>
        <p:txBody>
          <a:bodyPr/>
          <a:p/>
        </p:txBody>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6.9%</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8.3%</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+1.4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+20.0%</a:t>
            </a:r>
            <a:endParaRPr lang="en-US" sz="3000" dirty="0"/>
          </a:p>
        </p:txBody>
      </p:sp>
      <p:sp>
        <p:nvSpPr>
          <p:cNvPr id="14" name="Shape 12"/>
          <p:cNvSpPr/>
          <p:nvPr/>
        </p:nvSpPr>
        <p:spPr>
          <a:xfrm>
            <a:off x="457200" y="2322576"/>
            <a:ext cx="11274552" cy="3666744"/>
          </a:xfrm>
          <a:prstGeom prst="rect">
            <a:avLst/>
          </a:prstGeom>
          <a:solidFill>
            <a:srgbClr val="FFFFFF"/>
          </a:solidFill>
          <a:ln/>
        </p:spPr>
        <p:txBody>
          <a:bodyPr/>
          <a:p/>
        </p:txBody>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Balance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txBody>
          <a:bodyPr/>
          <a:p/>
        </p:txBody>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3762756" y="3049524"/>
            <a:ext cx="310896" cy="45720"/>
          </a:xfrm>
          <a:prstGeom prst="rect">
            <a:avLst/>
          </a:prstGeom>
          <a:solidFill>
            <a:srgbClr val="9AA3AD"/>
          </a:solidFill>
          <a:ln/>
        </p:spPr>
        <p:txBody>
          <a:bodyPr/>
          <a:p/>
        </p:txBody>
      </p:sp>
      <p:sp>
        <p:nvSpPr>
          <p:cNvPr id="24" name="Shape 16"/>
          <p:cNvSpPr/>
          <p:nvPr/>
        </p:nvSpPr>
        <p:spPr>
          <a:xfrm>
            <a:off x="3863340" y="3017520"/>
            <a:ext cx="109728" cy="109728"/>
          </a:xfrm>
          <a:prstGeom prst="ellipse">
            <a:avLst/>
          </a:prstGeom>
          <a:solidFill>
            <a:srgbClr val="9AA3AD"/>
          </a:solidFill>
          <a:ln/>
        </p:spPr>
        <p:txBody>
          <a:bodyPr/>
          <a:p/>
        </p:txBody>
      </p:sp>
      <p:sp>
        <p:nvSpPr>
          <p:cNvPr id="25" name="Text 17"/>
          <p:cNvSpPr txBox="1"/>
          <p:nvPr/>
        </p:nvSpPr>
        <p:spPr>
          <a:xfrm>
            <a:off x="414680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4997196" y="3049524"/>
            <a:ext cx="310896" cy="45720"/>
          </a:xfrm>
          <a:prstGeom prst="rect">
            <a:avLst/>
          </a:prstGeom>
          <a:solidFill>
            <a:srgbClr val="2587C5"/>
          </a:solidFill>
          <a:ln/>
        </p:spPr>
        <p:txBody>
          <a:bodyPr/>
          <a:p/>
        </p:txBody>
      </p:sp>
      <p:sp>
        <p:nvSpPr>
          <p:cNvPr id="27" name="Shape 19"/>
          <p:cNvSpPr/>
          <p:nvPr/>
        </p:nvSpPr>
        <p:spPr>
          <a:xfrm>
            <a:off x="5097780" y="3017520"/>
            <a:ext cx="109728" cy="109728"/>
          </a:xfrm>
          <a:prstGeom prst="ellipse">
            <a:avLst/>
          </a:prstGeom>
          <a:solidFill>
            <a:srgbClr val="2587C5"/>
          </a:solidFill>
          <a:ln/>
        </p:spPr>
        <p:txBody>
          <a:bodyPr/>
          <a:p/>
        </p:txBody>
      </p:sp>
      <p:sp>
        <p:nvSpPr>
          <p:cNvPr id="28" name="Text 20"/>
          <p:cNvSpPr txBox="1"/>
          <p:nvPr/>
        </p:nvSpPr>
        <p:spPr>
          <a:xfrm>
            <a:off x="538124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6231636" y="3049524"/>
            <a:ext cx="73152" cy="36576"/>
          </a:xfrm>
          <a:prstGeom prst="rect">
            <a:avLst/>
          </a:prstGeom>
          <a:solidFill>
            <a:srgbClr val="595959"/>
          </a:solidFill>
          <a:ln/>
        </p:spPr>
        <p:txBody>
          <a:bodyPr/>
          <a:p/>
        </p:txBody>
      </p:sp>
      <p:sp>
        <p:nvSpPr>
          <p:cNvPr id="30" name="Shape 22"/>
          <p:cNvSpPr/>
          <p:nvPr/>
        </p:nvSpPr>
        <p:spPr>
          <a:xfrm>
            <a:off x="6350508" y="3049524"/>
            <a:ext cx="73152" cy="36576"/>
          </a:xfrm>
          <a:prstGeom prst="rect">
            <a:avLst/>
          </a:prstGeom>
          <a:solidFill>
            <a:srgbClr val="595959"/>
          </a:solidFill>
          <a:ln/>
        </p:spPr>
        <p:txBody>
          <a:bodyPr/>
          <a:p/>
        </p:txBody>
      </p:sp>
      <p:sp>
        <p:nvSpPr>
          <p:cNvPr id="31" name="Shape 23"/>
          <p:cNvSpPr/>
          <p:nvPr/>
        </p:nvSpPr>
        <p:spPr>
          <a:xfrm>
            <a:off x="6469380" y="3049524"/>
            <a:ext cx="73152" cy="36576"/>
          </a:xfrm>
          <a:prstGeom prst="rect">
            <a:avLst/>
          </a:prstGeom>
          <a:solidFill>
            <a:srgbClr val="595959"/>
          </a:solidFill>
          <a:ln/>
        </p:spPr>
        <p:txBody>
          <a:bodyPr/>
          <a:p/>
        </p:txBody>
      </p:sp>
      <p:sp>
        <p:nvSpPr>
          <p:cNvPr id="32" name="Text 24"/>
          <p:cNvSpPr txBox="1"/>
          <p:nvPr/>
        </p:nvSpPr>
        <p:spPr>
          <a:xfrm>
            <a:off x="6615684" y="2926080"/>
            <a:ext cx="23774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Benchmark 15%</a:t>
            </a:r>
            <a:endParaRPr lang="en-US" sz="1400" dirty="0"/>
          </a:p>
        </p:txBody>
      </p:sp>
      <p:sp>
        <p:nvSpPr>
          <p:cNvPr id="33" name="Shape 25"/>
          <p:cNvSpPr/>
          <p:nvPr/>
        </p:nvSpPr>
        <p:spPr>
          <a:xfrm>
            <a:off x="457200" y="6126480"/>
            <a:ext cx="11274552" cy="615696"/>
          </a:xfrm>
          <a:prstGeom prst="rect">
            <a:avLst/>
          </a:prstGeom>
          <a:solidFill>
            <a:srgbClr val="E6F6EE"/>
          </a:solidFill>
          <a:ln/>
        </p:spPr>
        <p:txBody>
          <a:bodyPr/>
          <a:p/>
        </p:txBody>
      </p:sp>
      <p:sp>
        <p:nvSpPr>
          <p:cNvPr id="34"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1.4 pts to 8.3%, ahead of 2025 in all nine months, but 6.7 pts under the 15% benchmark — 18,493 balances short.</a:t>
            </a:r>
            <a:endParaRPr lang="en-US" sz="1600" dirty="0"/>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Balance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14.9%</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+14.8 pts</a:t>
            </a:r>
            <a:endParaRPr lang="en-US" sz="1600" dirty="0"/>
          </a:p>
        </p:txBody>
      </p:sp>
      <p:sp>
        <p:nvSpPr>
          <p:cNvPr id="13" name="Text 11"/>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16.9%</a:t>
            </a:r>
            <a:endParaRPr lang="en-US" sz="1400" dirty="0"/>
          </a:p>
        </p:txBody>
      </p:sp>
      <p:sp>
        <p:nvSpPr>
          <p:cNvPr id="15" name="Text 13"/>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+13.5 pts</a:t>
            </a:r>
            <a:endParaRPr lang="en-US" sz="1600" dirty="0"/>
          </a:p>
        </p:txBody>
      </p:sp>
      <p:sp>
        <p:nvSpPr>
          <p:cNvPr id="16" name="Shape 14"/>
          <p:cNvSpPr/>
          <p:nvPr/>
        </p:nvSpPr>
        <p:spPr>
          <a:xfrm>
            <a:off x="658368" y="3760013"/>
            <a:ext cx="3489960" cy="828446"/>
          </a:xfrm>
          <a:prstGeom prst="rect">
            <a:avLst/>
          </a:prstGeom>
          <a:solidFill>
            <a:srgbClr val="F7F7F7"/>
          </a:solidFill>
          <a:ln/>
        </p:spPr>
        <p:txBody>
          <a:bodyPr/>
          <a:p/>
        </p:txBody>
      </p:sp>
      <p:sp>
        <p:nvSpPr>
          <p:cNvPr id="17" name="Shape 15"/>
          <p:cNvSpPr/>
          <p:nvPr/>
        </p:nvSpPr>
        <p:spPr>
          <a:xfrm>
            <a:off x="4084320" y="3796589"/>
            <a:ext cx="64008" cy="755294"/>
          </a:xfrm>
          <a:prstGeom prst="rect">
            <a:avLst/>
          </a:prstGeom>
          <a:solidFill>
            <a:srgbClr val="12A566"/>
          </a:solidFill>
          <a:ln/>
        </p:spPr>
        <p:txBody>
          <a:bodyPr/>
          <a:p/>
        </p:txBody>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13.1%</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+6.6 pts</a:t>
            </a:r>
            <a:endParaRPr lang="en-US" sz="1600" dirty="0"/>
          </a:p>
        </p:txBody>
      </p:sp>
      <p:sp>
        <p:nvSpPr>
          <p:cNvPr id="21" name="Shape 19"/>
          <p:cNvSpPr/>
          <p:nvPr/>
        </p:nvSpPr>
        <p:spPr>
          <a:xfrm>
            <a:off x="4084320" y="4625035"/>
            <a:ext cx="64008" cy="755294"/>
          </a:xfrm>
          <a:prstGeom prst="rect">
            <a:avLst/>
          </a:prstGeom>
          <a:solidFill>
            <a:srgbClr val="12A566"/>
          </a:solidFill>
          <a:ln/>
        </p:spPr>
        <p:txBody>
          <a:bodyPr/>
          <a:p/>
        </p:txBody>
      </p:sp>
      <p:sp>
        <p:nvSpPr>
          <p:cNvPr id="22" name="Text 20"/>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3" name="Text 21"/>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a:t>
            </a:r>
            <a:endParaRPr lang="en-US" sz="1400" dirty="0"/>
          </a:p>
        </p:txBody>
      </p:sp>
      <p:sp>
        <p:nvSpPr>
          <p:cNvPr id="24" name="Text 22"/>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+6.6 pts</a:t>
            </a:r>
            <a:endParaRPr lang="en-US" sz="1600" dirty="0"/>
          </a:p>
        </p:txBody>
      </p:sp>
      <p:sp>
        <p:nvSpPr>
          <p:cNvPr id="25" name="Shape 23"/>
          <p:cNvSpPr/>
          <p:nvPr/>
        </p:nvSpPr>
        <p:spPr>
          <a:xfrm>
            <a:off x="658368" y="5416906"/>
            <a:ext cx="3489960" cy="828446"/>
          </a:xfrm>
          <a:prstGeom prst="rect">
            <a:avLst/>
          </a:prstGeom>
          <a:solidFill>
            <a:srgbClr val="F7F7F7"/>
          </a:solidFill>
          <a:ln/>
        </p:spPr>
        <p:txBody>
          <a:bodyPr/>
          <a:p/>
        </p:txBody>
      </p:sp>
      <p:sp>
        <p:nvSpPr>
          <p:cNvPr id="26" name="Text 24"/>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7" name="Text 25"/>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a:t>
            </a:r>
            <a:endParaRPr lang="en-US" sz="1400" dirty="0"/>
          </a:p>
        </p:txBody>
      </p:sp>
      <p:sp>
        <p:nvSpPr>
          <p:cNvPr id="28" name="Text 26"/>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+5.7 pts</a:t>
            </a:r>
            <a:endParaRPr lang="en-US" sz="1600" dirty="0"/>
          </a:p>
        </p:txBody>
      </p:sp>
      <p:sp>
        <p:nvSpPr>
          <p:cNvPr id="29" name="Shape 27"/>
          <p:cNvSpPr/>
          <p:nvPr/>
        </p:nvSpPr>
        <p:spPr>
          <a:xfrm>
            <a:off x="4349496" y="1371600"/>
            <a:ext cx="3489960" cy="45720"/>
          </a:xfrm>
          <a:prstGeom prst="rect">
            <a:avLst/>
          </a:prstGeom>
          <a:solidFill>
            <a:srgbClr val="C2352F"/>
          </a:solidFill>
          <a:ln/>
        </p:spPr>
        <p:txBody>
          <a:bodyPr/>
          <a:p/>
        </p:txBody>
      </p:sp>
      <p:sp>
        <p:nvSpPr>
          <p:cNvPr id="30" name="Text 28"/>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1" name="Text 29"/>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2" name="Shape 30"/>
          <p:cNvSpPr/>
          <p:nvPr/>
        </p:nvSpPr>
        <p:spPr>
          <a:xfrm>
            <a:off x="4349496" y="2103120"/>
            <a:ext cx="3489960" cy="828446"/>
          </a:xfrm>
          <a:prstGeom prst="rect">
            <a:avLst/>
          </a:prstGeom>
          <a:solidFill>
            <a:srgbClr val="F7F7F7"/>
          </a:solidFill>
          <a:ln/>
        </p:spPr>
        <p:txBody>
          <a:bodyPr/>
          <a:p/>
        </p:txBody>
      </p:sp>
      <p:sp>
        <p:nvSpPr>
          <p:cNvPr id="33" name="Text 31"/>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4" name="Text 32"/>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3.6%</a:t>
            </a:r>
            <a:endParaRPr lang="en-US" sz="1400" dirty="0"/>
          </a:p>
        </p:txBody>
      </p:sp>
      <p:sp>
        <p:nvSpPr>
          <p:cNvPr id="35" name="Text 33"/>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−1.7 pts</a:t>
            </a:r>
            <a:endParaRPr lang="en-US" sz="1600" dirty="0"/>
          </a:p>
        </p:txBody>
      </p:sp>
      <p:sp>
        <p:nvSpPr>
          <p:cNvPr id="36" name="Text 34"/>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7" name="Text 35"/>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a:t>
            </a:r>
            <a:endParaRPr lang="en-US" sz="1400" dirty="0"/>
          </a:p>
        </p:txBody>
      </p:sp>
      <p:sp>
        <p:nvSpPr>
          <p:cNvPr id="38" name="Text 36"/>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−1.6 pts</a:t>
            </a:r>
            <a:endParaRPr lang="en-US" sz="1600" dirty="0"/>
          </a:p>
        </p:txBody>
      </p:sp>
      <p:sp>
        <p:nvSpPr>
          <p:cNvPr id="39" name="Shape 37"/>
          <p:cNvSpPr/>
          <p:nvPr/>
        </p:nvSpPr>
        <p:spPr>
          <a:xfrm>
            <a:off x="4349496" y="3760013"/>
            <a:ext cx="3489960" cy="828446"/>
          </a:xfrm>
          <a:prstGeom prst="rect">
            <a:avLst/>
          </a:prstGeom>
          <a:solidFill>
            <a:srgbClr val="F7F7F7"/>
          </a:solidFill>
          <a:ln/>
        </p:spPr>
        <p:txBody>
          <a:bodyPr/>
          <a:p/>
        </p:txBody>
      </p:sp>
      <p:sp>
        <p:nvSpPr>
          <p:cNvPr id="40" name="Text 38"/>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1" name="Text 39"/>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5.2%</a:t>
            </a:r>
            <a:endParaRPr lang="en-US" sz="1400" dirty="0"/>
          </a:p>
        </p:txBody>
      </p:sp>
      <p:sp>
        <p:nvSpPr>
          <p:cNvPr id="42" name="Text 40"/>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−1.3 pts</a:t>
            </a:r>
            <a:endParaRPr lang="en-US" sz="1600" dirty="0"/>
          </a:p>
        </p:txBody>
      </p:sp>
      <p:sp>
        <p:nvSpPr>
          <p:cNvPr id="43" name="Text 41"/>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4" name="Text 42"/>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11.3%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10.2%</a:t>
            </a:r>
            <a:endParaRPr lang="en-US" sz="1400" dirty="0"/>
          </a:p>
        </p:txBody>
      </p:sp>
      <p:sp>
        <p:nvSpPr>
          <p:cNvPr id="45" name="Text 43"/>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−1.1 pts</a:t>
            </a:r>
            <a:endParaRPr lang="en-US" sz="1600" dirty="0"/>
          </a:p>
        </p:txBody>
      </p:sp>
      <p:sp>
        <p:nvSpPr>
          <p:cNvPr id="46" name="Shape 44"/>
          <p:cNvSpPr/>
          <p:nvPr/>
        </p:nvSpPr>
        <p:spPr>
          <a:xfrm>
            <a:off x="4349496" y="5416906"/>
            <a:ext cx="3489960" cy="828446"/>
          </a:xfrm>
          <a:prstGeom prst="rect">
            <a:avLst/>
          </a:prstGeom>
          <a:solidFill>
            <a:srgbClr val="F7F7F7"/>
          </a:solidFill>
          <a:ln/>
        </p:spPr>
        <p:txBody>
          <a:bodyPr/>
          <a:p/>
        </p:txBody>
      </p:sp>
      <p:sp>
        <p:nvSpPr>
          <p:cNvPr id="47" name="Text 45"/>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8" name="Text 46"/>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11.2%</a:t>
            </a:r>
            <a:endParaRPr lang="en-US" sz="1400" dirty="0"/>
          </a:p>
        </p:txBody>
      </p:sp>
      <p:sp>
        <p:nvSpPr>
          <p:cNvPr id="49" name="Text 47"/>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−0.5 pts</a:t>
            </a:r>
            <a:endParaRPr lang="en-US" sz="1600" dirty="0"/>
          </a:p>
        </p:txBody>
      </p:sp>
      <p:sp>
        <p:nvSpPr>
          <p:cNvPr id="50" name="Shape 48"/>
          <p:cNvSpPr/>
          <p:nvPr/>
        </p:nvSpPr>
        <p:spPr>
          <a:xfrm>
            <a:off x="8040624" y="1371600"/>
            <a:ext cx="3489960" cy="45720"/>
          </a:xfrm>
          <a:prstGeom prst="rect">
            <a:avLst/>
          </a:prstGeom>
          <a:solidFill>
            <a:srgbClr val="2587C5"/>
          </a:solidFill>
          <a:ln/>
        </p:spPr>
        <p:txBody>
          <a:bodyPr/>
          <a:p/>
        </p:txBody>
      </p:sp>
      <p:sp>
        <p:nvSpPr>
          <p:cNvPr id="51" name="Text 4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2" name="Text 50"/>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53" name="Shape 51"/>
          <p:cNvSpPr/>
          <p:nvPr/>
        </p:nvSpPr>
        <p:spPr>
          <a:xfrm>
            <a:off x="8040624" y="2103120"/>
            <a:ext cx="3489960" cy="828446"/>
          </a:xfrm>
          <a:prstGeom prst="rect">
            <a:avLst/>
          </a:prstGeom>
          <a:solidFill>
            <a:srgbClr val="F7F7F7"/>
          </a:solidFill>
          <a:ln/>
        </p:spPr>
        <p:txBody>
          <a:bodyPr/>
          <a:p/>
        </p:txBody>
      </p:sp>
      <p:sp>
        <p:nvSpPr>
          <p:cNvPr id="54" name="Shape 52"/>
          <p:cNvSpPr/>
          <p:nvPr/>
        </p:nvSpPr>
        <p:spPr>
          <a:xfrm>
            <a:off x="11466576" y="2139696"/>
            <a:ext cx="64008" cy="755294"/>
          </a:xfrm>
          <a:prstGeom prst="rect">
            <a:avLst/>
          </a:prstGeom>
          <a:solidFill>
            <a:srgbClr val="12A566"/>
          </a:solidFill>
          <a:ln/>
        </p:spPr>
        <p:txBody>
          <a:bodyPr/>
          <a:p/>
        </p:txBody>
      </p:sp>
      <p:sp>
        <p:nvSpPr>
          <p:cNvPr id="55" name="Text 53"/>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6" name="Text 54"/>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19.3%</a:t>
            </a:r>
            <a:endParaRPr lang="en-US" sz="1400" dirty="0"/>
          </a:p>
        </p:txBody>
      </p:sp>
      <p:sp>
        <p:nvSpPr>
          <p:cNvPr id="57" name="Text 55"/>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+9.2 pts</a:t>
            </a:r>
            <a:endParaRPr lang="en-US" sz="1600" dirty="0"/>
          </a:p>
        </p:txBody>
      </p:sp>
      <p:sp>
        <p:nvSpPr>
          <p:cNvPr id="58" name="Text 56"/>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9" name="Text 57"/>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10.8%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16.0%</a:t>
            </a:r>
            <a:endParaRPr lang="en-US" sz="1400" dirty="0"/>
          </a:p>
        </p:txBody>
      </p:sp>
      <p:sp>
        <p:nvSpPr>
          <p:cNvPr id="60" name="Text 58"/>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+5.2 pts</a:t>
            </a:r>
            <a:endParaRPr lang="en-US" sz="1600" dirty="0"/>
          </a:p>
        </p:txBody>
      </p:sp>
      <p:sp>
        <p:nvSpPr>
          <p:cNvPr id="61" name="Shape 59"/>
          <p:cNvSpPr/>
          <p:nvPr/>
        </p:nvSpPr>
        <p:spPr>
          <a:xfrm>
            <a:off x="8040624" y="3760013"/>
            <a:ext cx="3489960" cy="828446"/>
          </a:xfrm>
          <a:prstGeom prst="rect">
            <a:avLst/>
          </a:prstGeom>
          <a:solidFill>
            <a:srgbClr val="F7F7F7"/>
          </a:solidFill>
          <a:ln/>
        </p:spPr>
        <p:txBody>
          <a:bodyPr/>
          <a:p/>
        </p:txBody>
      </p:sp>
      <p:sp>
        <p:nvSpPr>
          <p:cNvPr id="62" name="Text 60"/>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3" name="Text 61"/>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a:t>
            </a:r>
            <a:endParaRPr lang="en-US" sz="1400" dirty="0"/>
          </a:p>
        </p:txBody>
      </p:sp>
      <p:sp>
        <p:nvSpPr>
          <p:cNvPr id="64" name="Text 62"/>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65" name="Shape 63"/>
          <p:cNvSpPr/>
          <p:nvPr/>
        </p:nvSpPr>
        <p:spPr>
          <a:xfrm>
            <a:off x="11466576" y="4625035"/>
            <a:ext cx="64008" cy="755294"/>
          </a:xfrm>
          <a:prstGeom prst="rect">
            <a:avLst/>
          </a:prstGeom>
          <a:solidFill>
            <a:srgbClr val="12A566"/>
          </a:solidFill>
          <a:ln/>
        </p:spPr>
        <p:txBody>
          <a:bodyPr/>
          <a:p/>
        </p:txBody>
      </p:sp>
      <p:sp>
        <p:nvSpPr>
          <p:cNvPr id="66" name="Text 64"/>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7" name="Text 65"/>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8.5%</a:t>
            </a:r>
            <a:endParaRPr lang="en-US" sz="1400" dirty="0"/>
          </a:p>
        </p:txBody>
      </p:sp>
      <p:sp>
        <p:nvSpPr>
          <p:cNvPr id="68" name="Text 66"/>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+3.2 pts</a:t>
            </a:r>
            <a:endParaRPr lang="en-US" sz="1600" dirty="0"/>
          </a:p>
        </p:txBody>
      </p:sp>
      <p:sp>
        <p:nvSpPr>
          <p:cNvPr id="69" name="Shape 67"/>
          <p:cNvSpPr/>
          <p:nvPr/>
        </p:nvSpPr>
        <p:spPr>
          <a:xfrm>
            <a:off x="8040624" y="5416906"/>
            <a:ext cx="3489960" cy="828446"/>
          </a:xfrm>
          <a:prstGeom prst="rect">
            <a:avLst/>
          </a:prstGeom>
          <a:solidFill>
            <a:srgbClr val="F7F7F7"/>
          </a:solidFill>
          <a:ln/>
        </p:spPr>
        <p:txBody>
          <a:bodyPr/>
          <a:p/>
        </p:txBody>
      </p:sp>
      <p:sp>
        <p:nvSpPr>
          <p:cNvPr id="70" name="Text 68"/>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1" name="Text 69"/>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12.2%</a:t>
            </a:r>
            <a:endParaRPr lang="en-US" sz="1400" dirty="0"/>
          </a:p>
        </p:txBody>
      </p:sp>
      <p:sp>
        <p:nvSpPr>
          <p:cNvPr id="72" name="Text 70"/>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+2.6 pts</a:t>
            </a:r>
            <a:endParaRPr lang="en-US" sz="1600" dirty="0"/>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Brake Fluid %</a:t>
            </a:r>
            <a:endParaRPr lang="en-US" sz="2800" dirty="0"/>
          </a:p>
        </p:txBody>
      </p:sp>
      <p:sp>
        <p:nvSpPr>
          <p:cNvPr id="5" name="Shape 3"/>
          <p:cNvSpPr/>
          <p:nvPr/>
        </p:nvSpPr>
        <p:spPr>
          <a:xfrm>
            <a:off x="457200" y="1207008"/>
            <a:ext cx="11274552" cy="1005840"/>
          </a:xfrm>
          <a:prstGeom prst="rect">
            <a:avLst/>
          </a:prstGeom>
          <a:solidFill>
            <a:srgbClr val="FFFFFF"/>
          </a:solidFill>
          <a:ln/>
        </p:spPr>
        <p:txBody>
          <a:bodyPr/>
          <a:p/>
        </p:txBody>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7.9%</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9.2%</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+1.3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+17.5%</a:t>
            </a:r>
            <a:endParaRPr lang="en-US" sz="3000" dirty="0"/>
          </a:p>
        </p:txBody>
      </p:sp>
      <p:sp>
        <p:nvSpPr>
          <p:cNvPr id="14" name="Shape 12"/>
          <p:cNvSpPr/>
          <p:nvPr/>
        </p:nvSpPr>
        <p:spPr>
          <a:xfrm>
            <a:off x="457200" y="2322576"/>
            <a:ext cx="11274552" cy="3666744"/>
          </a:xfrm>
          <a:prstGeom prst="rect">
            <a:avLst/>
          </a:prstGeom>
          <a:solidFill>
            <a:srgbClr val="FFFFFF"/>
          </a:solidFill>
          <a:ln/>
        </p:spPr>
        <p:txBody>
          <a:bodyPr/>
          <a:p/>
        </p:txBody>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Brake Fluid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txBody>
          <a:bodyPr/>
          <a:p/>
        </p:txBody>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3762756" y="3049524"/>
            <a:ext cx="310896" cy="45720"/>
          </a:xfrm>
          <a:prstGeom prst="rect">
            <a:avLst/>
          </a:prstGeom>
          <a:solidFill>
            <a:srgbClr val="9AA3AD"/>
          </a:solidFill>
          <a:ln/>
        </p:spPr>
        <p:txBody>
          <a:bodyPr/>
          <a:p/>
        </p:txBody>
      </p:sp>
      <p:sp>
        <p:nvSpPr>
          <p:cNvPr id="24" name="Shape 16"/>
          <p:cNvSpPr/>
          <p:nvPr/>
        </p:nvSpPr>
        <p:spPr>
          <a:xfrm>
            <a:off x="3863340" y="3017520"/>
            <a:ext cx="109728" cy="109728"/>
          </a:xfrm>
          <a:prstGeom prst="ellipse">
            <a:avLst/>
          </a:prstGeom>
          <a:solidFill>
            <a:srgbClr val="9AA3AD"/>
          </a:solidFill>
          <a:ln/>
        </p:spPr>
        <p:txBody>
          <a:bodyPr/>
          <a:p/>
        </p:txBody>
      </p:sp>
      <p:sp>
        <p:nvSpPr>
          <p:cNvPr id="25" name="Text 17"/>
          <p:cNvSpPr txBox="1"/>
          <p:nvPr/>
        </p:nvSpPr>
        <p:spPr>
          <a:xfrm>
            <a:off x="414680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4997196" y="3049524"/>
            <a:ext cx="310896" cy="45720"/>
          </a:xfrm>
          <a:prstGeom prst="rect">
            <a:avLst/>
          </a:prstGeom>
          <a:solidFill>
            <a:srgbClr val="2587C5"/>
          </a:solidFill>
          <a:ln/>
        </p:spPr>
        <p:txBody>
          <a:bodyPr/>
          <a:p/>
        </p:txBody>
      </p:sp>
      <p:sp>
        <p:nvSpPr>
          <p:cNvPr id="27" name="Shape 19"/>
          <p:cNvSpPr/>
          <p:nvPr/>
        </p:nvSpPr>
        <p:spPr>
          <a:xfrm>
            <a:off x="5097780" y="3017520"/>
            <a:ext cx="109728" cy="109728"/>
          </a:xfrm>
          <a:prstGeom prst="ellipse">
            <a:avLst/>
          </a:prstGeom>
          <a:solidFill>
            <a:srgbClr val="2587C5"/>
          </a:solidFill>
          <a:ln/>
        </p:spPr>
        <p:txBody>
          <a:bodyPr/>
          <a:p/>
        </p:txBody>
      </p:sp>
      <p:sp>
        <p:nvSpPr>
          <p:cNvPr id="28" name="Text 20"/>
          <p:cNvSpPr txBox="1"/>
          <p:nvPr/>
        </p:nvSpPr>
        <p:spPr>
          <a:xfrm>
            <a:off x="538124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6231636" y="3049524"/>
            <a:ext cx="73152" cy="36576"/>
          </a:xfrm>
          <a:prstGeom prst="rect">
            <a:avLst/>
          </a:prstGeom>
          <a:solidFill>
            <a:srgbClr val="595959"/>
          </a:solidFill>
          <a:ln/>
        </p:spPr>
        <p:txBody>
          <a:bodyPr/>
          <a:p/>
        </p:txBody>
      </p:sp>
      <p:sp>
        <p:nvSpPr>
          <p:cNvPr id="30" name="Shape 22"/>
          <p:cNvSpPr/>
          <p:nvPr/>
        </p:nvSpPr>
        <p:spPr>
          <a:xfrm>
            <a:off x="6350508" y="3049524"/>
            <a:ext cx="73152" cy="36576"/>
          </a:xfrm>
          <a:prstGeom prst="rect">
            <a:avLst/>
          </a:prstGeom>
          <a:solidFill>
            <a:srgbClr val="595959"/>
          </a:solidFill>
          <a:ln/>
        </p:spPr>
        <p:txBody>
          <a:bodyPr/>
          <a:p/>
        </p:txBody>
      </p:sp>
      <p:sp>
        <p:nvSpPr>
          <p:cNvPr id="31" name="Shape 23"/>
          <p:cNvSpPr/>
          <p:nvPr/>
        </p:nvSpPr>
        <p:spPr>
          <a:xfrm>
            <a:off x="6469380" y="3049524"/>
            <a:ext cx="73152" cy="36576"/>
          </a:xfrm>
          <a:prstGeom prst="rect">
            <a:avLst/>
          </a:prstGeom>
          <a:solidFill>
            <a:srgbClr val="595959"/>
          </a:solidFill>
          <a:ln/>
        </p:spPr>
        <p:txBody>
          <a:bodyPr/>
          <a:p/>
        </p:txBody>
      </p:sp>
      <p:sp>
        <p:nvSpPr>
          <p:cNvPr id="32" name="Text 24"/>
          <p:cNvSpPr txBox="1"/>
          <p:nvPr/>
        </p:nvSpPr>
        <p:spPr>
          <a:xfrm>
            <a:off x="6615684" y="2926080"/>
            <a:ext cx="23774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Benchmark 10%</a:t>
            </a:r>
            <a:endParaRPr lang="en-US" sz="1400" dirty="0"/>
          </a:p>
        </p:txBody>
      </p:sp>
      <p:sp>
        <p:nvSpPr>
          <p:cNvPr id="33" name="Shape 25"/>
          <p:cNvSpPr/>
          <p:nvPr/>
        </p:nvSpPr>
        <p:spPr>
          <a:xfrm>
            <a:off x="457200" y="6126480"/>
            <a:ext cx="11274552" cy="615696"/>
          </a:xfrm>
          <a:prstGeom prst="rect">
            <a:avLst/>
          </a:prstGeom>
          <a:solidFill>
            <a:srgbClr val="E6F6EE"/>
          </a:solidFill>
          <a:ln/>
        </p:spPr>
        <p:txBody>
          <a:bodyPr/>
          <a:p/>
        </p:txBody>
      </p:sp>
      <p:sp>
        <p:nvSpPr>
          <p:cNvPr id="34"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1.3 pts to 9.2%, ahead of 2025 in all nine months, but 0.8 pts under the 10% benchmark — 1,985 brake fluid services short.</a:t>
            </a:r>
            <a:endParaRPr lang="en-US" sz="1600" dirty="0"/>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Brake Fluid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11.6%</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+7.9 pts</a:t>
            </a:r>
            <a:endParaRPr lang="en-US" sz="1600" dirty="0"/>
          </a:p>
        </p:txBody>
      </p:sp>
      <p:sp>
        <p:nvSpPr>
          <p:cNvPr id="13" name="Text 11"/>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20.6%</a:t>
            </a:r>
            <a:endParaRPr lang="en-US" sz="1400" dirty="0"/>
          </a:p>
        </p:txBody>
      </p:sp>
      <p:sp>
        <p:nvSpPr>
          <p:cNvPr id="15" name="Text 13"/>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+5.5 pts</a:t>
            </a:r>
            <a:endParaRPr lang="en-US" sz="1600" dirty="0"/>
          </a:p>
        </p:txBody>
      </p:sp>
      <p:sp>
        <p:nvSpPr>
          <p:cNvPr id="16" name="Shape 14"/>
          <p:cNvSpPr/>
          <p:nvPr/>
        </p:nvSpPr>
        <p:spPr>
          <a:xfrm>
            <a:off x="658368" y="3760013"/>
            <a:ext cx="3489960" cy="828446"/>
          </a:xfrm>
          <a:prstGeom prst="rect">
            <a:avLst/>
          </a:prstGeom>
          <a:solidFill>
            <a:srgbClr val="F7F7F7"/>
          </a:solidFill>
          <a:ln/>
        </p:spPr>
        <p:txBody>
          <a:bodyPr/>
          <a:p/>
        </p:txBody>
      </p:sp>
      <p:sp>
        <p:nvSpPr>
          <p:cNvPr id="17" name="Text 15"/>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8" name="Text 16"/>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14.3%</a:t>
            </a:r>
            <a:endParaRPr lang="en-US" sz="1400" dirty="0"/>
          </a:p>
        </p:txBody>
      </p:sp>
      <p:sp>
        <p:nvSpPr>
          <p:cNvPr id="19" name="Text 17"/>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+5.3 pts</a:t>
            </a:r>
            <a:endParaRPr lang="en-US" sz="1600" dirty="0"/>
          </a:p>
        </p:txBody>
      </p:sp>
      <p:sp>
        <p:nvSpPr>
          <p:cNvPr id="20" name="Text 18"/>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1" name="Text 19"/>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7.5%</a:t>
            </a:r>
            <a:endParaRPr lang="en-US" sz="1400" dirty="0"/>
          </a:p>
        </p:txBody>
      </p:sp>
      <p:sp>
        <p:nvSpPr>
          <p:cNvPr id="22" name="Text 20"/>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+5.1 pts</a:t>
            </a:r>
            <a:endParaRPr lang="en-US" sz="1600" dirty="0"/>
          </a:p>
        </p:txBody>
      </p:sp>
      <p:sp>
        <p:nvSpPr>
          <p:cNvPr id="23" name="Shape 21"/>
          <p:cNvSpPr/>
          <p:nvPr/>
        </p:nvSpPr>
        <p:spPr>
          <a:xfrm>
            <a:off x="658368" y="5416906"/>
            <a:ext cx="3489960" cy="828446"/>
          </a:xfrm>
          <a:prstGeom prst="rect">
            <a:avLst/>
          </a:prstGeom>
          <a:solidFill>
            <a:srgbClr val="F7F7F7"/>
          </a:solidFill>
          <a:ln/>
        </p:spPr>
        <p:txBody>
          <a:bodyPr/>
          <a:p/>
        </p:txBody>
      </p:sp>
      <p:sp>
        <p:nvSpPr>
          <p:cNvPr id="24" name="Text 22"/>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5" name="Text 23"/>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7.2%</a:t>
            </a:r>
            <a:endParaRPr lang="en-US" sz="1400" dirty="0"/>
          </a:p>
        </p:txBody>
      </p:sp>
      <p:sp>
        <p:nvSpPr>
          <p:cNvPr id="26" name="Text 24"/>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 pts</a:t>
            </a:r>
            <a:endParaRPr lang="en-US" sz="1600" dirty="0"/>
          </a:p>
        </p:txBody>
      </p:sp>
      <p:sp>
        <p:nvSpPr>
          <p:cNvPr id="27" name="Shape 25"/>
          <p:cNvSpPr/>
          <p:nvPr/>
        </p:nvSpPr>
        <p:spPr>
          <a:xfrm>
            <a:off x="4349496" y="1371600"/>
            <a:ext cx="3489960" cy="45720"/>
          </a:xfrm>
          <a:prstGeom prst="rect">
            <a:avLst/>
          </a:prstGeom>
          <a:solidFill>
            <a:srgbClr val="C2352F"/>
          </a:solidFill>
          <a:ln/>
        </p:spPr>
        <p:txBody>
          <a:bodyPr/>
          <a:p/>
        </p:txBody>
      </p:sp>
      <p:sp>
        <p:nvSpPr>
          <p:cNvPr id="28" name="Text 26"/>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29" name="Text 27"/>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0" name="Shape 28"/>
          <p:cNvSpPr/>
          <p:nvPr/>
        </p:nvSpPr>
        <p:spPr>
          <a:xfrm>
            <a:off x="4349496" y="2103120"/>
            <a:ext cx="3489960" cy="828446"/>
          </a:xfrm>
          <a:prstGeom prst="rect">
            <a:avLst/>
          </a:prstGeom>
          <a:solidFill>
            <a:srgbClr val="F7F7F7"/>
          </a:solidFill>
          <a:ln/>
        </p:spPr>
        <p:txBody>
          <a:bodyPr/>
          <a:p/>
        </p:txBody>
      </p:sp>
      <p:sp>
        <p:nvSpPr>
          <p:cNvPr id="31" name="Text 29"/>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2" name="Text 30"/>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4.2%</a:t>
            </a:r>
            <a:endParaRPr lang="en-US" sz="1400" dirty="0"/>
          </a:p>
        </p:txBody>
      </p:sp>
      <p:sp>
        <p:nvSpPr>
          <p:cNvPr id="33" name="Text 31"/>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−1.7 pts</a:t>
            </a:r>
            <a:endParaRPr lang="en-US" sz="1600" dirty="0"/>
          </a:p>
        </p:txBody>
      </p:sp>
      <p:sp>
        <p:nvSpPr>
          <p:cNvPr id="34" name="Text 32"/>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5" name="Text 33"/>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12.1%</a:t>
            </a:r>
            <a:endParaRPr lang="en-US" sz="1400" dirty="0"/>
          </a:p>
        </p:txBody>
      </p:sp>
      <p:sp>
        <p:nvSpPr>
          <p:cNvPr id="36" name="Text 34"/>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−1.0 pts</a:t>
            </a:r>
            <a:endParaRPr lang="en-US" sz="1600" dirty="0"/>
          </a:p>
        </p:txBody>
      </p:sp>
      <p:sp>
        <p:nvSpPr>
          <p:cNvPr id="37" name="Shape 35"/>
          <p:cNvSpPr/>
          <p:nvPr/>
        </p:nvSpPr>
        <p:spPr>
          <a:xfrm>
            <a:off x="4349496" y="3760013"/>
            <a:ext cx="3489960" cy="828446"/>
          </a:xfrm>
          <a:prstGeom prst="rect">
            <a:avLst/>
          </a:prstGeom>
          <a:solidFill>
            <a:srgbClr val="F7F7F7"/>
          </a:solidFill>
          <a:ln/>
        </p:spPr>
        <p:txBody>
          <a:bodyPr/>
          <a:p/>
        </p:txBody>
      </p:sp>
      <p:sp>
        <p:nvSpPr>
          <p:cNvPr id="38" name="Text 36"/>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39" name="Text 37"/>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10.7%</a:t>
            </a:r>
            <a:endParaRPr lang="en-US" sz="1400" dirty="0"/>
          </a:p>
        </p:txBody>
      </p:sp>
      <p:sp>
        <p:nvSpPr>
          <p:cNvPr id="40" name="Text 38"/>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−0.3 pts</a:t>
            </a:r>
            <a:endParaRPr lang="en-US" sz="1600" dirty="0"/>
          </a:p>
        </p:txBody>
      </p:sp>
      <p:sp>
        <p:nvSpPr>
          <p:cNvPr id="41" name="Text 39"/>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2" name="Text 40"/>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11.9%</a:t>
            </a:r>
            <a:endParaRPr lang="en-US" sz="1400" dirty="0"/>
          </a:p>
        </p:txBody>
      </p:sp>
      <p:sp>
        <p:nvSpPr>
          <p:cNvPr id="43" name="Text 41"/>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−0.1 pts</a:t>
            </a:r>
            <a:endParaRPr lang="en-US" sz="1600" dirty="0"/>
          </a:p>
        </p:txBody>
      </p:sp>
      <p:sp>
        <p:nvSpPr>
          <p:cNvPr id="44" name="Shape 42"/>
          <p:cNvSpPr/>
          <p:nvPr/>
        </p:nvSpPr>
        <p:spPr>
          <a:xfrm>
            <a:off x="4349496" y="5416906"/>
            <a:ext cx="3489960" cy="828446"/>
          </a:xfrm>
          <a:prstGeom prst="rect">
            <a:avLst/>
          </a:prstGeom>
          <a:solidFill>
            <a:srgbClr val="F7F7F7"/>
          </a:solidFill>
          <a:ln/>
        </p:spPr>
        <p:txBody>
          <a:bodyPr/>
          <a:p/>
        </p:txBody>
      </p:sp>
      <p:sp>
        <p:nvSpPr>
          <p:cNvPr id="45" name="Text 43"/>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6" name="Text 44"/>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7.0%</a:t>
            </a:r>
            <a:endParaRPr lang="en-US" sz="1400" dirty="0"/>
          </a:p>
        </p:txBody>
      </p:sp>
      <p:sp>
        <p:nvSpPr>
          <p:cNvPr id="47" name="Text 45"/>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+0.2 pts</a:t>
            </a:r>
            <a:endParaRPr lang="en-US" sz="1600" dirty="0"/>
          </a:p>
        </p:txBody>
      </p:sp>
      <p:sp>
        <p:nvSpPr>
          <p:cNvPr id="48" name="Shape 46"/>
          <p:cNvSpPr/>
          <p:nvPr/>
        </p:nvSpPr>
        <p:spPr>
          <a:xfrm>
            <a:off x="8040624" y="1371600"/>
            <a:ext cx="3489960" cy="45720"/>
          </a:xfrm>
          <a:prstGeom prst="rect">
            <a:avLst/>
          </a:prstGeom>
          <a:solidFill>
            <a:srgbClr val="2587C5"/>
          </a:solidFill>
          <a:ln/>
        </p:spPr>
        <p:txBody>
          <a:bodyPr/>
          <a:p/>
        </p:txBody>
      </p:sp>
      <p:sp>
        <p:nvSpPr>
          <p:cNvPr id="49" name="Text 4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0" name="Text 48"/>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51" name="Shape 49"/>
          <p:cNvSpPr/>
          <p:nvPr/>
        </p:nvSpPr>
        <p:spPr>
          <a:xfrm>
            <a:off x="8040624" y="2103120"/>
            <a:ext cx="3489960" cy="828446"/>
          </a:xfrm>
          <a:prstGeom prst="rect">
            <a:avLst/>
          </a:prstGeom>
          <a:solidFill>
            <a:srgbClr val="F7F7F7"/>
          </a:solidFill>
          <a:ln/>
        </p:spPr>
        <p:txBody>
          <a:bodyPr/>
          <a:p/>
        </p:txBody>
      </p:sp>
      <p:sp>
        <p:nvSpPr>
          <p:cNvPr id="52" name="Text 50"/>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3" name="Text 51"/>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14.1%</a:t>
            </a:r>
            <a:endParaRPr lang="en-US" sz="1400" dirty="0"/>
          </a:p>
        </p:txBody>
      </p:sp>
      <p:sp>
        <p:nvSpPr>
          <p:cNvPr id="54" name="Text 52"/>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+9.0 pts</a:t>
            </a:r>
            <a:endParaRPr lang="en-US" sz="1600" dirty="0"/>
          </a:p>
        </p:txBody>
      </p:sp>
      <p:sp>
        <p:nvSpPr>
          <p:cNvPr id="55" name="Text 53"/>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6" name="Text 54"/>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5.3%</a:t>
            </a:r>
            <a:endParaRPr lang="en-US" sz="1400" dirty="0"/>
          </a:p>
        </p:txBody>
      </p:sp>
      <p:sp>
        <p:nvSpPr>
          <p:cNvPr id="57" name="Text 55"/>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 pts</a:t>
            </a:r>
            <a:endParaRPr lang="en-US" sz="1600" dirty="0"/>
          </a:p>
        </p:txBody>
      </p:sp>
      <p:sp>
        <p:nvSpPr>
          <p:cNvPr id="58" name="Shape 56"/>
          <p:cNvSpPr/>
          <p:nvPr/>
        </p:nvSpPr>
        <p:spPr>
          <a:xfrm>
            <a:off x="8040624" y="3760013"/>
            <a:ext cx="3489960" cy="828446"/>
          </a:xfrm>
          <a:prstGeom prst="rect">
            <a:avLst/>
          </a:prstGeom>
          <a:solidFill>
            <a:srgbClr val="F7F7F7"/>
          </a:solidFill>
          <a:ln/>
        </p:spPr>
        <p:txBody>
          <a:bodyPr/>
          <a:p/>
        </p:txBody>
      </p:sp>
      <p:sp>
        <p:nvSpPr>
          <p:cNvPr id="59" name="Text 57"/>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0" name="Text 58"/>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a:t>
            </a:r>
            <a:endParaRPr lang="en-US" sz="1400" dirty="0"/>
          </a:p>
        </p:txBody>
      </p:sp>
      <p:sp>
        <p:nvSpPr>
          <p:cNvPr id="61" name="Text 59"/>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
        <p:nvSpPr>
          <p:cNvPr id="62" name="Text 60"/>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3" name="Text 61"/>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11.7%</a:t>
            </a:r>
            <a:endParaRPr lang="en-US" sz="1400" dirty="0"/>
          </a:p>
        </p:txBody>
      </p:sp>
      <p:sp>
        <p:nvSpPr>
          <p:cNvPr id="64" name="Text 62"/>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 pts</a:t>
            </a:r>
            <a:endParaRPr lang="en-US" sz="1600" dirty="0"/>
          </a:p>
        </p:txBody>
      </p:sp>
      <p:sp>
        <p:nvSpPr>
          <p:cNvPr id="65" name="Shape 63"/>
          <p:cNvSpPr/>
          <p:nvPr/>
        </p:nvSpPr>
        <p:spPr>
          <a:xfrm>
            <a:off x="8040624" y="5416906"/>
            <a:ext cx="3489960" cy="828446"/>
          </a:xfrm>
          <a:prstGeom prst="rect">
            <a:avLst/>
          </a:prstGeom>
          <a:solidFill>
            <a:srgbClr val="F7F7F7"/>
          </a:solidFill>
          <a:ln/>
        </p:spPr>
        <p:txBody>
          <a:bodyPr/>
          <a:p/>
        </p:txBody>
      </p:sp>
      <p:sp>
        <p:nvSpPr>
          <p:cNvPr id="66" name="Text 64"/>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7" name="Text 65"/>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10.2%</a:t>
            </a:r>
            <a:endParaRPr lang="en-US" sz="1400" dirty="0"/>
          </a:p>
        </p:txBody>
      </p:sp>
      <p:sp>
        <p:nvSpPr>
          <p:cNvPr id="68" name="Text 66"/>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+2.2 pts</a:t>
            </a:r>
            <a:endParaRPr lang="en-US" sz="1600" dirty="0"/>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Fuel Service %</a:t>
            </a:r>
            <a:endParaRPr lang="en-US" sz="2800" dirty="0"/>
          </a:p>
        </p:txBody>
      </p:sp>
      <p:sp>
        <p:nvSpPr>
          <p:cNvPr id="5" name="Shape 3"/>
          <p:cNvSpPr/>
          <p:nvPr/>
        </p:nvSpPr>
        <p:spPr>
          <a:xfrm>
            <a:off x="457200" y="1207008"/>
            <a:ext cx="11274552" cy="1005840"/>
          </a:xfrm>
          <a:prstGeom prst="rect">
            <a:avLst/>
          </a:prstGeom>
          <a:solidFill>
            <a:srgbClr val="FFFFFF"/>
          </a:solidFill>
          <a:ln/>
        </p:spPr>
        <p:txBody>
          <a:bodyPr/>
          <a:p/>
        </p:txBody>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4.5%</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5.8%</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+1.3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+27.3%</a:t>
            </a:r>
            <a:endParaRPr lang="en-US" sz="3000" dirty="0"/>
          </a:p>
        </p:txBody>
      </p:sp>
      <p:sp>
        <p:nvSpPr>
          <p:cNvPr id="14" name="Shape 12"/>
          <p:cNvSpPr/>
          <p:nvPr/>
        </p:nvSpPr>
        <p:spPr>
          <a:xfrm>
            <a:off x="457200" y="2322576"/>
            <a:ext cx="11274552" cy="3666744"/>
          </a:xfrm>
          <a:prstGeom prst="rect">
            <a:avLst/>
          </a:prstGeom>
          <a:solidFill>
            <a:srgbClr val="FFFFFF"/>
          </a:solidFill>
          <a:ln/>
        </p:spPr>
        <p:txBody>
          <a:bodyPr/>
          <a:p/>
        </p:txBody>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Fuel Service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txBody>
          <a:bodyPr/>
          <a:p/>
        </p:txBody>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3762756" y="3049524"/>
            <a:ext cx="310896" cy="45720"/>
          </a:xfrm>
          <a:prstGeom prst="rect">
            <a:avLst/>
          </a:prstGeom>
          <a:solidFill>
            <a:srgbClr val="9AA3AD"/>
          </a:solidFill>
          <a:ln/>
        </p:spPr>
        <p:txBody>
          <a:bodyPr/>
          <a:p/>
        </p:txBody>
      </p:sp>
      <p:sp>
        <p:nvSpPr>
          <p:cNvPr id="24" name="Shape 16"/>
          <p:cNvSpPr/>
          <p:nvPr/>
        </p:nvSpPr>
        <p:spPr>
          <a:xfrm>
            <a:off x="3863340" y="3017520"/>
            <a:ext cx="109728" cy="109728"/>
          </a:xfrm>
          <a:prstGeom prst="ellipse">
            <a:avLst/>
          </a:prstGeom>
          <a:solidFill>
            <a:srgbClr val="9AA3AD"/>
          </a:solidFill>
          <a:ln/>
        </p:spPr>
        <p:txBody>
          <a:bodyPr/>
          <a:p/>
        </p:txBody>
      </p:sp>
      <p:sp>
        <p:nvSpPr>
          <p:cNvPr id="25" name="Text 17"/>
          <p:cNvSpPr txBox="1"/>
          <p:nvPr/>
        </p:nvSpPr>
        <p:spPr>
          <a:xfrm>
            <a:off x="414680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4997196" y="3049524"/>
            <a:ext cx="310896" cy="45720"/>
          </a:xfrm>
          <a:prstGeom prst="rect">
            <a:avLst/>
          </a:prstGeom>
          <a:solidFill>
            <a:srgbClr val="2587C5"/>
          </a:solidFill>
          <a:ln/>
        </p:spPr>
        <p:txBody>
          <a:bodyPr/>
          <a:p/>
        </p:txBody>
      </p:sp>
      <p:sp>
        <p:nvSpPr>
          <p:cNvPr id="27" name="Shape 19"/>
          <p:cNvSpPr/>
          <p:nvPr/>
        </p:nvSpPr>
        <p:spPr>
          <a:xfrm>
            <a:off x="5097780" y="3017520"/>
            <a:ext cx="109728" cy="109728"/>
          </a:xfrm>
          <a:prstGeom prst="ellipse">
            <a:avLst/>
          </a:prstGeom>
          <a:solidFill>
            <a:srgbClr val="2587C5"/>
          </a:solidFill>
          <a:ln/>
        </p:spPr>
        <p:txBody>
          <a:bodyPr/>
          <a:p/>
        </p:txBody>
      </p:sp>
      <p:sp>
        <p:nvSpPr>
          <p:cNvPr id="28" name="Text 20"/>
          <p:cNvSpPr txBox="1"/>
          <p:nvPr/>
        </p:nvSpPr>
        <p:spPr>
          <a:xfrm>
            <a:off x="538124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6231636" y="3049524"/>
            <a:ext cx="73152" cy="36576"/>
          </a:xfrm>
          <a:prstGeom prst="rect">
            <a:avLst/>
          </a:prstGeom>
          <a:solidFill>
            <a:srgbClr val="595959"/>
          </a:solidFill>
          <a:ln/>
        </p:spPr>
        <p:txBody>
          <a:bodyPr/>
          <a:p/>
        </p:txBody>
      </p:sp>
      <p:sp>
        <p:nvSpPr>
          <p:cNvPr id="30" name="Shape 22"/>
          <p:cNvSpPr/>
          <p:nvPr/>
        </p:nvSpPr>
        <p:spPr>
          <a:xfrm>
            <a:off x="6350508" y="3049524"/>
            <a:ext cx="73152" cy="36576"/>
          </a:xfrm>
          <a:prstGeom prst="rect">
            <a:avLst/>
          </a:prstGeom>
          <a:solidFill>
            <a:srgbClr val="595959"/>
          </a:solidFill>
          <a:ln/>
        </p:spPr>
        <p:txBody>
          <a:bodyPr/>
          <a:p/>
        </p:txBody>
      </p:sp>
      <p:sp>
        <p:nvSpPr>
          <p:cNvPr id="31" name="Shape 23"/>
          <p:cNvSpPr/>
          <p:nvPr/>
        </p:nvSpPr>
        <p:spPr>
          <a:xfrm>
            <a:off x="6469380" y="3049524"/>
            <a:ext cx="73152" cy="36576"/>
          </a:xfrm>
          <a:prstGeom prst="rect">
            <a:avLst/>
          </a:prstGeom>
          <a:solidFill>
            <a:srgbClr val="595959"/>
          </a:solidFill>
          <a:ln/>
        </p:spPr>
        <p:txBody>
          <a:bodyPr/>
          <a:p/>
        </p:txBody>
      </p:sp>
      <p:sp>
        <p:nvSpPr>
          <p:cNvPr id="32" name="Text 24"/>
          <p:cNvSpPr txBox="1"/>
          <p:nvPr/>
        </p:nvSpPr>
        <p:spPr>
          <a:xfrm>
            <a:off x="6615684" y="2926080"/>
            <a:ext cx="23774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Benchmark 7.5%</a:t>
            </a:r>
            <a:endParaRPr lang="en-US" sz="1400" dirty="0"/>
          </a:p>
        </p:txBody>
      </p:sp>
      <p:sp>
        <p:nvSpPr>
          <p:cNvPr id="33" name="Shape 25"/>
          <p:cNvSpPr/>
          <p:nvPr/>
        </p:nvSpPr>
        <p:spPr>
          <a:xfrm>
            <a:off x="457200" y="6126480"/>
            <a:ext cx="11274552" cy="615696"/>
          </a:xfrm>
          <a:prstGeom prst="rect">
            <a:avLst/>
          </a:prstGeom>
          <a:solidFill>
            <a:srgbClr val="E6F6EE"/>
          </a:solidFill>
          <a:ln/>
        </p:spPr>
        <p:txBody>
          <a:bodyPr/>
          <a:p/>
        </p:txBody>
      </p:sp>
      <p:sp>
        <p:nvSpPr>
          <p:cNvPr id="34" name="Text 26"/>
          <p:cNvSpPr txBox="1"/>
          <p:nvPr/>
        </p:nvSpPr>
        <p:spPr>
          <a:xfrm>
            <a:off x="658368" y="6144768"/>
            <a:ext cx="10927080" cy="57912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1.3 pts to 5.8%, ahead of 2025 in all nine months, but 1.7 pts under the 7.5% benchmark — 4,731 fuel services short.</a:t>
            </a:r>
            <a:endParaRPr lang="en-US" sz="1600" dirty="0"/>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Fuel Service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13.8%</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+13.8 pts</a:t>
            </a:r>
            <a:endParaRPr lang="en-US" sz="1600" dirty="0"/>
          </a:p>
        </p:txBody>
      </p:sp>
      <p:sp>
        <p:nvSpPr>
          <p:cNvPr id="13" name="Shape 11"/>
          <p:cNvSpPr/>
          <p:nvPr/>
        </p:nvSpPr>
        <p:spPr>
          <a:xfrm>
            <a:off x="4084320" y="2968142"/>
            <a:ext cx="64008" cy="755294"/>
          </a:xfrm>
          <a:prstGeom prst="rect">
            <a:avLst/>
          </a:prstGeom>
          <a:solidFill>
            <a:srgbClr val="12A566"/>
          </a:solidFill>
          <a:ln/>
        </p:spPr>
        <p:txBody>
          <a:bodyPr/>
          <a:p/>
        </p:txBody>
      </p:sp>
      <p:sp>
        <p:nvSpPr>
          <p:cNvPr id="14" name="Text 12"/>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a:t>
            </a:r>
            <a:endParaRPr lang="en-US" sz="1400" dirty="0"/>
          </a:p>
        </p:txBody>
      </p:sp>
      <p:sp>
        <p:nvSpPr>
          <p:cNvPr id="16" name="Text 14"/>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+6.1 pts</a:t>
            </a:r>
            <a:endParaRPr lang="en-US" sz="1600" dirty="0"/>
          </a:p>
        </p:txBody>
      </p:sp>
      <p:sp>
        <p:nvSpPr>
          <p:cNvPr id="17" name="Shape 15"/>
          <p:cNvSpPr/>
          <p:nvPr/>
        </p:nvSpPr>
        <p:spPr>
          <a:xfrm>
            <a:off x="658368" y="3760013"/>
            <a:ext cx="3489960" cy="828446"/>
          </a:xfrm>
          <a:prstGeom prst="rect">
            <a:avLst/>
          </a:prstGeom>
          <a:solidFill>
            <a:srgbClr val="F7F7F7"/>
          </a:solidFill>
          <a:ln/>
        </p:spPr>
        <p:txBody>
          <a:bodyPr/>
          <a:p/>
        </p:txBody>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5.5%</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+5.3 pts</a:t>
            </a:r>
            <a:endParaRPr lang="en-US" sz="1600" dirty="0"/>
          </a:p>
        </p:txBody>
      </p:sp>
      <p:sp>
        <p:nvSpPr>
          <p:cNvPr id="21" name="Text 19"/>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4.5%</a:t>
            </a:r>
            <a:endParaRPr lang="en-US" sz="1400" dirty="0"/>
          </a:p>
        </p:txBody>
      </p:sp>
      <p:sp>
        <p:nvSpPr>
          <p:cNvPr id="23" name="Text 21"/>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+4.5 pts</a:t>
            </a:r>
            <a:endParaRPr lang="en-US" sz="1600" dirty="0"/>
          </a:p>
        </p:txBody>
      </p:sp>
      <p:sp>
        <p:nvSpPr>
          <p:cNvPr id="24" name="Shape 22"/>
          <p:cNvSpPr/>
          <p:nvPr/>
        </p:nvSpPr>
        <p:spPr>
          <a:xfrm>
            <a:off x="658368" y="5416906"/>
            <a:ext cx="3489960" cy="828446"/>
          </a:xfrm>
          <a:prstGeom prst="rect">
            <a:avLst/>
          </a:prstGeom>
          <a:solidFill>
            <a:srgbClr val="F7F7F7"/>
          </a:solidFill>
          <a:ln/>
        </p:spPr>
        <p:txBody>
          <a:bodyPr/>
          <a:p/>
        </p:txBody>
      </p:sp>
      <p:sp>
        <p:nvSpPr>
          <p:cNvPr id="25" name="Text 23"/>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9.3%</a:t>
            </a:r>
            <a:endParaRPr lang="en-US" sz="1400" dirty="0"/>
          </a:p>
        </p:txBody>
      </p:sp>
      <p:sp>
        <p:nvSpPr>
          <p:cNvPr id="27" name="Text 25"/>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 pts</a:t>
            </a:r>
            <a:endParaRPr lang="en-US" sz="1600" dirty="0"/>
          </a:p>
        </p:txBody>
      </p:sp>
      <p:sp>
        <p:nvSpPr>
          <p:cNvPr id="28" name="Shape 26"/>
          <p:cNvSpPr/>
          <p:nvPr/>
        </p:nvSpPr>
        <p:spPr>
          <a:xfrm>
            <a:off x="4349496" y="1371600"/>
            <a:ext cx="3489960" cy="45720"/>
          </a:xfrm>
          <a:prstGeom prst="rect">
            <a:avLst/>
          </a:prstGeom>
          <a:solidFill>
            <a:srgbClr val="C2352F"/>
          </a:solidFill>
          <a:ln/>
        </p:spPr>
        <p:txBody>
          <a:bodyPr/>
          <a:p/>
        </p:txBody>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1" name="Shape 29"/>
          <p:cNvSpPr/>
          <p:nvPr/>
        </p:nvSpPr>
        <p:spPr>
          <a:xfrm>
            <a:off x="4349496" y="2103120"/>
            <a:ext cx="3489960" cy="828446"/>
          </a:xfrm>
          <a:prstGeom prst="rect">
            <a:avLst/>
          </a:prstGeom>
          <a:solidFill>
            <a:srgbClr val="F7F7F7"/>
          </a:solidFill>
          <a:ln/>
        </p:spPr>
        <p:txBody>
          <a:bodyPr/>
          <a:p/>
        </p:txBody>
      </p:sp>
      <p:sp>
        <p:nvSpPr>
          <p:cNvPr id="32" name="Text 30"/>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7.0%</a:t>
            </a:r>
            <a:endParaRPr lang="en-US" sz="1400" dirty="0"/>
          </a:p>
        </p:txBody>
      </p:sp>
      <p:sp>
        <p:nvSpPr>
          <p:cNvPr id="34" name="Text 32"/>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−1.2 pts</a:t>
            </a:r>
            <a:endParaRPr lang="en-US" sz="1600" dirty="0"/>
          </a:p>
        </p:txBody>
      </p:sp>
      <p:sp>
        <p:nvSpPr>
          <p:cNvPr id="35" name="Text 33"/>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6" name="Text 34"/>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3.0%</a:t>
            </a:r>
            <a:endParaRPr lang="en-US" sz="1400" dirty="0"/>
          </a:p>
        </p:txBody>
      </p:sp>
      <p:sp>
        <p:nvSpPr>
          <p:cNvPr id="37" name="Text 35"/>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−0.9 pts</a:t>
            </a:r>
            <a:endParaRPr lang="en-US" sz="1600" dirty="0"/>
          </a:p>
        </p:txBody>
      </p:sp>
      <p:sp>
        <p:nvSpPr>
          <p:cNvPr id="38" name="Shape 36"/>
          <p:cNvSpPr/>
          <p:nvPr/>
        </p:nvSpPr>
        <p:spPr>
          <a:xfrm>
            <a:off x="4349496" y="3760013"/>
            <a:ext cx="3489960" cy="828446"/>
          </a:xfrm>
          <a:prstGeom prst="rect">
            <a:avLst/>
          </a:prstGeom>
          <a:solidFill>
            <a:srgbClr val="F7F7F7"/>
          </a:solidFill>
          <a:ln/>
        </p:spPr>
        <p:txBody>
          <a:bodyPr/>
          <a:p/>
        </p:txBody>
      </p:sp>
      <p:sp>
        <p:nvSpPr>
          <p:cNvPr id="39" name="Text 37"/>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0" name="Text 38"/>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5.8%</a:t>
            </a:r>
            <a:endParaRPr lang="en-US" sz="1400" dirty="0"/>
          </a:p>
        </p:txBody>
      </p:sp>
      <p:sp>
        <p:nvSpPr>
          <p:cNvPr id="41" name="Text 39"/>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−0.2 pts</a:t>
            </a:r>
            <a:endParaRPr lang="en-US" sz="1600" dirty="0"/>
          </a:p>
        </p:txBody>
      </p:sp>
      <p:sp>
        <p:nvSpPr>
          <p:cNvPr id="42" name="Text 40"/>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3" name="Text 41"/>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0.0%</a:t>
            </a:r>
            <a:endParaRPr lang="en-US" sz="1400" dirty="0"/>
          </a:p>
        </p:txBody>
      </p:sp>
      <p:sp>
        <p:nvSpPr>
          <p:cNvPr id="44" name="Text 42"/>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+0.0 pts</a:t>
            </a:r>
            <a:endParaRPr lang="en-US" sz="1600" dirty="0"/>
          </a:p>
        </p:txBody>
      </p:sp>
      <p:sp>
        <p:nvSpPr>
          <p:cNvPr id="45" name="Shape 43"/>
          <p:cNvSpPr/>
          <p:nvPr/>
        </p:nvSpPr>
        <p:spPr>
          <a:xfrm>
            <a:off x="4349496" y="5416906"/>
            <a:ext cx="3489960" cy="828446"/>
          </a:xfrm>
          <a:prstGeom prst="rect">
            <a:avLst/>
          </a:prstGeom>
          <a:solidFill>
            <a:srgbClr val="F7F7F7"/>
          </a:solidFill>
          <a:ln/>
        </p:spPr>
        <p:txBody>
          <a:bodyPr/>
          <a:p/>
        </p:txBody>
      </p:sp>
      <p:sp>
        <p:nvSpPr>
          <p:cNvPr id="46" name="Text 44"/>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7" name="Text 45"/>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0.0%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0.0%</a:t>
            </a:r>
            <a:endParaRPr lang="en-US" sz="1400" dirty="0"/>
          </a:p>
        </p:txBody>
      </p:sp>
      <p:sp>
        <p:nvSpPr>
          <p:cNvPr id="48" name="Text 46"/>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+0.0 pts</a:t>
            </a:r>
            <a:endParaRPr lang="en-US" sz="1600" dirty="0"/>
          </a:p>
        </p:txBody>
      </p:sp>
      <p:sp>
        <p:nvSpPr>
          <p:cNvPr id="49" name="Shape 47"/>
          <p:cNvSpPr/>
          <p:nvPr/>
        </p:nvSpPr>
        <p:spPr>
          <a:xfrm>
            <a:off x="8040624" y="1371600"/>
            <a:ext cx="3489960" cy="45720"/>
          </a:xfrm>
          <a:prstGeom prst="rect">
            <a:avLst/>
          </a:prstGeom>
          <a:solidFill>
            <a:srgbClr val="2587C5"/>
          </a:solidFill>
          <a:ln/>
        </p:spPr>
        <p:txBody>
          <a:bodyPr/>
          <a:p/>
        </p:txBody>
      </p:sp>
      <p:sp>
        <p:nvSpPr>
          <p:cNvPr id="5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1" name="Text 4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52" name="Shape 50"/>
          <p:cNvSpPr/>
          <p:nvPr/>
        </p:nvSpPr>
        <p:spPr>
          <a:xfrm>
            <a:off x="8040624" y="2103120"/>
            <a:ext cx="3489960" cy="828446"/>
          </a:xfrm>
          <a:prstGeom prst="rect">
            <a:avLst/>
          </a:prstGeom>
          <a:solidFill>
            <a:srgbClr val="F7F7F7"/>
          </a:solidFill>
          <a:ln/>
        </p:spPr>
        <p:txBody>
          <a:bodyPr/>
          <a:p/>
        </p:txBody>
      </p:sp>
      <p:sp>
        <p:nvSpPr>
          <p:cNvPr id="53" name="Text 51"/>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4" name="Text 52"/>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10.6%</a:t>
            </a:r>
            <a:endParaRPr lang="en-US" sz="1400" dirty="0"/>
          </a:p>
        </p:txBody>
      </p:sp>
      <p:sp>
        <p:nvSpPr>
          <p:cNvPr id="55" name="Text 53"/>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+8.1 pts</a:t>
            </a:r>
            <a:endParaRPr lang="en-US" sz="1600" dirty="0"/>
          </a:p>
        </p:txBody>
      </p:sp>
      <p:sp>
        <p:nvSpPr>
          <p:cNvPr id="56" name="Text 54"/>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7" name="Text 55"/>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8.1%</a:t>
            </a:r>
            <a:endParaRPr lang="en-US" sz="1400" dirty="0"/>
          </a:p>
        </p:txBody>
      </p:sp>
      <p:sp>
        <p:nvSpPr>
          <p:cNvPr id="58" name="Text 56"/>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+4.0 pts</a:t>
            </a:r>
            <a:endParaRPr lang="en-US" sz="1600" dirty="0"/>
          </a:p>
        </p:txBody>
      </p:sp>
      <p:sp>
        <p:nvSpPr>
          <p:cNvPr id="59" name="Shape 57"/>
          <p:cNvSpPr/>
          <p:nvPr/>
        </p:nvSpPr>
        <p:spPr>
          <a:xfrm>
            <a:off x="8040624" y="3760013"/>
            <a:ext cx="3489960" cy="828446"/>
          </a:xfrm>
          <a:prstGeom prst="rect">
            <a:avLst/>
          </a:prstGeom>
          <a:solidFill>
            <a:srgbClr val="F7F7F7"/>
          </a:solidFill>
          <a:ln/>
        </p:spPr>
        <p:txBody>
          <a:bodyPr/>
          <a:p/>
        </p:txBody>
      </p:sp>
      <p:sp>
        <p:nvSpPr>
          <p:cNvPr id="60" name="Text 58"/>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1" name="Text 59"/>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4.8%</a:t>
            </a:r>
            <a:endParaRPr lang="en-US" sz="1400" dirty="0"/>
          </a:p>
        </p:txBody>
      </p:sp>
      <p:sp>
        <p:nvSpPr>
          <p:cNvPr id="62" name="Text 60"/>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+3.7 pts</a:t>
            </a:r>
            <a:endParaRPr lang="en-US" sz="1600" dirty="0"/>
          </a:p>
        </p:txBody>
      </p:sp>
      <p:sp>
        <p:nvSpPr>
          <p:cNvPr id="63" name="Shape 61"/>
          <p:cNvSpPr/>
          <p:nvPr/>
        </p:nvSpPr>
        <p:spPr>
          <a:xfrm>
            <a:off x="11466576" y="4625035"/>
            <a:ext cx="64008" cy="755294"/>
          </a:xfrm>
          <a:prstGeom prst="rect">
            <a:avLst/>
          </a:prstGeom>
          <a:solidFill>
            <a:srgbClr val="12A566"/>
          </a:solidFill>
          <a:ln/>
        </p:spPr>
        <p:txBody>
          <a:bodyPr/>
          <a:p/>
        </p:txBody>
      </p:sp>
      <p:sp>
        <p:nvSpPr>
          <p:cNvPr id="64" name="Text 62"/>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5" name="Text 63"/>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10.0%</a:t>
            </a:r>
            <a:endParaRPr lang="en-US" sz="1400" dirty="0"/>
          </a:p>
        </p:txBody>
      </p:sp>
      <p:sp>
        <p:nvSpPr>
          <p:cNvPr id="66" name="Text 64"/>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+3.4 pts</a:t>
            </a:r>
            <a:endParaRPr lang="en-US" sz="1600" dirty="0"/>
          </a:p>
        </p:txBody>
      </p:sp>
      <p:sp>
        <p:nvSpPr>
          <p:cNvPr id="67" name="Shape 65"/>
          <p:cNvSpPr/>
          <p:nvPr/>
        </p:nvSpPr>
        <p:spPr>
          <a:xfrm>
            <a:off x="8040624" y="5416906"/>
            <a:ext cx="3489960" cy="828446"/>
          </a:xfrm>
          <a:prstGeom prst="rect">
            <a:avLst/>
          </a:prstGeom>
          <a:solidFill>
            <a:srgbClr val="F7F7F7"/>
          </a:solidFill>
          <a:ln/>
        </p:spPr>
        <p:txBody>
          <a:bodyPr/>
          <a:p/>
        </p:txBody>
      </p:sp>
      <p:sp>
        <p:nvSpPr>
          <p:cNvPr id="68" name="Text 66"/>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9" name="Text 67"/>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8.8%</a:t>
            </a:r>
            <a:endParaRPr lang="en-US" sz="1400" dirty="0"/>
          </a:p>
        </p:txBody>
      </p:sp>
      <p:sp>
        <p:nvSpPr>
          <p:cNvPr id="70" name="Text 68"/>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+2.5 pts</a:t>
            </a:r>
            <a:endParaRPr lang="en-US" sz="1600" dirty="0"/>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Labor Gross Profit %</a:t>
            </a:r>
            <a:endParaRPr lang="en-US" sz="2800" dirty="0"/>
          </a:p>
        </p:txBody>
      </p:sp>
      <p:sp>
        <p:nvSpPr>
          <p:cNvPr id="5" name="Shape 3"/>
          <p:cNvSpPr/>
          <p:nvPr/>
        </p:nvSpPr>
        <p:spPr>
          <a:xfrm>
            <a:off x="457200" y="1207008"/>
            <a:ext cx="11274552" cy="1005840"/>
          </a:xfrm>
          <a:prstGeom prst="rect">
            <a:avLst/>
          </a:prstGeom>
          <a:solidFill>
            <a:srgbClr val="FFFFFF"/>
          </a:solidFill>
          <a:ln/>
        </p:spPr>
        <p:txBody>
          <a:bodyPr/>
          <a:p/>
        </p:txBody>
      </p:sp>
      <p:sp>
        <p:nvSpPr>
          <p:cNvPr id="6" name="Text 4"/>
          <p:cNvSpPr txBox="1"/>
          <p:nvPr/>
        </p:nvSpPr>
        <p:spPr>
          <a:xfrm>
            <a:off x="68580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 YTD</a:t>
            </a:r>
            <a:endParaRPr lang="en-US" sz="1400" dirty="0"/>
          </a:p>
        </p:txBody>
      </p:sp>
      <p:sp>
        <p:nvSpPr>
          <p:cNvPr id="7" name="Text 5"/>
          <p:cNvSpPr txBox="1"/>
          <p:nvPr/>
        </p:nvSpPr>
        <p:spPr>
          <a:xfrm>
            <a:off x="68580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77.9%</a:t>
            </a:r>
            <a:endParaRPr lang="en-US" sz="3000" dirty="0"/>
          </a:p>
        </p:txBody>
      </p:sp>
      <p:sp>
        <p:nvSpPr>
          <p:cNvPr id="8" name="Text 6"/>
          <p:cNvSpPr txBox="1"/>
          <p:nvPr/>
        </p:nvSpPr>
        <p:spPr>
          <a:xfrm>
            <a:off x="347472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 YTD</a:t>
            </a:r>
            <a:endParaRPr lang="en-US" sz="1400" dirty="0"/>
          </a:p>
        </p:txBody>
      </p:sp>
      <p:sp>
        <p:nvSpPr>
          <p:cNvPr id="9" name="Text 7"/>
          <p:cNvSpPr txBox="1"/>
          <p:nvPr/>
        </p:nvSpPr>
        <p:spPr>
          <a:xfrm>
            <a:off x="3474720" y="1554480"/>
            <a:ext cx="2697480" cy="548640"/>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78.1%</a:t>
            </a:r>
            <a:endParaRPr lang="en-US" sz="3000" dirty="0"/>
          </a:p>
        </p:txBody>
      </p:sp>
      <p:sp>
        <p:nvSpPr>
          <p:cNvPr id="10" name="Text 8"/>
          <p:cNvSpPr txBox="1"/>
          <p:nvPr/>
        </p:nvSpPr>
        <p:spPr>
          <a:xfrm>
            <a:off x="626364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1" name="Text 9"/>
          <p:cNvSpPr txBox="1"/>
          <p:nvPr/>
        </p:nvSpPr>
        <p:spPr>
          <a:xfrm>
            <a:off x="626364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+0.2 pts</a:t>
            </a:r>
            <a:endParaRPr lang="en-US" sz="3000" dirty="0"/>
          </a:p>
        </p:txBody>
      </p:sp>
      <p:sp>
        <p:nvSpPr>
          <p:cNvPr id="12" name="Text 10"/>
          <p:cNvSpPr txBox="1"/>
          <p:nvPr/>
        </p:nvSpPr>
        <p:spPr>
          <a:xfrm>
            <a:off x="9052560" y="1335024"/>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3" name="Text 11"/>
          <p:cNvSpPr txBox="1"/>
          <p:nvPr/>
        </p:nvSpPr>
        <p:spPr>
          <a:xfrm>
            <a:off x="9052560" y="1554480"/>
            <a:ext cx="2697480" cy="548640"/>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+0.3%</a:t>
            </a:r>
            <a:endParaRPr lang="en-US" sz="3000" dirty="0"/>
          </a:p>
        </p:txBody>
      </p:sp>
      <p:sp>
        <p:nvSpPr>
          <p:cNvPr id="14" name="Shape 12"/>
          <p:cNvSpPr/>
          <p:nvPr/>
        </p:nvSpPr>
        <p:spPr>
          <a:xfrm>
            <a:off x="457200" y="2322576"/>
            <a:ext cx="11274552" cy="3666744"/>
          </a:xfrm>
          <a:prstGeom prst="rect">
            <a:avLst/>
          </a:prstGeom>
          <a:solidFill>
            <a:srgbClr val="FFFFFF"/>
          </a:solidFill>
          <a:ln/>
        </p:spPr>
        <p:txBody>
          <a:bodyPr/>
          <a:p/>
        </p:txBody>
      </p:sp>
      <p:sp>
        <p:nvSpPr>
          <p:cNvPr id="15" name="Text 13"/>
          <p:cNvSpPr txBox="1"/>
          <p:nvPr/>
        </p:nvSpPr>
        <p:spPr>
          <a:xfrm>
            <a:off x="685800" y="2459736"/>
            <a:ext cx="108173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Internal Labor Gross Profit % by month, 2025 against 2026</a:t>
            </a:r>
            <a:endParaRPr lang="en-US" sz="1500" dirty="0"/>
          </a:p>
        </p:txBody>
      </p:sp>
      <p:sp>
        <p:nvSpPr>
          <p:cNvPr id="16" name="Shape 14"/>
          <p:cNvSpPr/>
          <p:nvPr/>
        </p:nvSpPr>
        <p:spPr>
          <a:xfrm>
            <a:off x="685800" y="2807208"/>
            <a:ext cx="10817352" cy="10973"/>
          </a:xfrm>
          <a:prstGeom prst="rect">
            <a:avLst/>
          </a:prstGeom>
          <a:solidFill>
            <a:srgbClr val="1A1A1A"/>
          </a:solidFill>
          <a:ln/>
        </p:spPr>
        <p:txBody>
          <a:bodyPr/>
          <a:p/>
        </p:txBody>
      </p:sp>
      <p:graphicFrame>
        <p:nvGraphicFramePr>
          <p:cNvPr id="17" name="Chart 0" descr=""/>
          <p:cNvGraphicFramePr/>
          <p:nvPr/>
        </p:nvGraphicFramePr>
        <p:xfrm>
          <a:off x="621792" y="3218688"/>
          <a:ext cx="10945368" cy="2679192"/>
        </p:xfrm>
        <a:graphic>
          <a:graphicData uri="http://schemas.openxmlformats.org/drawingml/2006/chart">
            <c:chart xmlns:c="http://schemas.openxmlformats.org/drawingml/2006/chart" r:id="rId2"/>
          </a:graphicData>
        </a:graphic>
      </p:graphicFrame>
      <p:graphicFrame>
        <p:nvGraphicFramePr>
          <p:cNvPr id="18" name="Chart 1" descr=""/>
          <p:cNvGraphicFramePr/>
          <p:nvPr/>
        </p:nvGraphicFramePr>
        <p:xfrm>
          <a:off x="621792" y="3218688"/>
          <a:ext cx="10945368" cy="2679192"/>
        </p:xfrm>
        <a:graphic>
          <a:graphicData uri="http://schemas.openxmlformats.org/drawingml/2006/chart">
            <c:chart xmlns:c="http://schemas.openxmlformats.org/drawingml/2006/chart" r:id="rId3"/>
          </a:graphicData>
        </a:graphic>
      </p:graphicFrame>
      <p:graphicFrame>
        <p:nvGraphicFramePr>
          <p:cNvPr id="19" name="Chart 2" descr=""/>
          <p:cNvGraphicFramePr/>
          <p:nvPr/>
        </p:nvGraphicFramePr>
        <p:xfrm>
          <a:off x="621792" y="3218688"/>
          <a:ext cx="10945368" cy="2679192"/>
        </p:xfrm>
        <a:graphic>
          <a:graphicData uri="http://schemas.openxmlformats.org/drawingml/2006/chart">
            <c:chart xmlns:c="http://schemas.openxmlformats.org/drawingml/2006/chart" r:id="rId4"/>
          </a:graphicData>
        </a:graphic>
      </p:graphicFrame>
      <p:graphicFrame>
        <p:nvGraphicFramePr>
          <p:cNvPr id="20" name="Chart 3" descr=""/>
          <p:cNvGraphicFramePr/>
          <p:nvPr/>
        </p:nvGraphicFramePr>
        <p:xfrm>
          <a:off x="621792" y="3218688"/>
          <a:ext cx="10945368" cy="2679192"/>
        </p:xfrm>
        <a:graphic>
          <a:graphicData uri="http://schemas.openxmlformats.org/drawingml/2006/chart">
            <c:chart xmlns:c="http://schemas.openxmlformats.org/drawingml/2006/chart" r:id="rId5"/>
          </a:graphicData>
        </a:graphic>
      </p:graphicFrame>
      <p:graphicFrame>
        <p:nvGraphicFramePr>
          <p:cNvPr id="21" name="Chart 4" descr=""/>
          <p:cNvGraphicFramePr/>
          <p:nvPr/>
        </p:nvGraphicFramePr>
        <p:xfrm>
          <a:off x="621792" y="3218688"/>
          <a:ext cx="10945368" cy="2679192"/>
        </p:xfrm>
        <a:graphic>
          <a:graphicData uri="http://schemas.openxmlformats.org/drawingml/2006/chart">
            <c:chart xmlns:c="http://schemas.openxmlformats.org/drawingml/2006/chart" r:id="rId6"/>
          </a:graphicData>
        </a:graphic>
      </p:graphicFrame>
      <p:graphicFrame>
        <p:nvGraphicFramePr>
          <p:cNvPr id="22" name="Chart 5" descr=""/>
          <p:cNvGraphicFramePr/>
          <p:nvPr/>
        </p:nvGraphicFramePr>
        <p:xfrm>
          <a:off x="621792" y="3218688"/>
          <a:ext cx="10945368" cy="2679192"/>
        </p:xfrm>
        <a:graphic>
          <a:graphicData uri="http://schemas.openxmlformats.org/drawingml/2006/chart">
            <c:chart xmlns:c="http://schemas.openxmlformats.org/drawingml/2006/chart" r:id="rId7"/>
          </a:graphicData>
        </a:graphic>
      </p:graphicFrame>
      <p:sp>
        <p:nvSpPr>
          <p:cNvPr id="23" name="Shape 15"/>
          <p:cNvSpPr/>
          <p:nvPr/>
        </p:nvSpPr>
        <p:spPr>
          <a:xfrm>
            <a:off x="4951476" y="3049524"/>
            <a:ext cx="310896" cy="45720"/>
          </a:xfrm>
          <a:prstGeom prst="rect">
            <a:avLst/>
          </a:prstGeom>
          <a:solidFill>
            <a:srgbClr val="9AA3AD"/>
          </a:solidFill>
          <a:ln/>
        </p:spPr>
        <p:txBody>
          <a:bodyPr/>
          <a:p/>
        </p:txBody>
      </p:sp>
      <p:sp>
        <p:nvSpPr>
          <p:cNvPr id="24" name="Shape 16"/>
          <p:cNvSpPr/>
          <p:nvPr/>
        </p:nvSpPr>
        <p:spPr>
          <a:xfrm>
            <a:off x="5052060" y="3017520"/>
            <a:ext cx="109728" cy="109728"/>
          </a:xfrm>
          <a:prstGeom prst="ellipse">
            <a:avLst/>
          </a:prstGeom>
          <a:solidFill>
            <a:srgbClr val="9AA3AD"/>
          </a:solidFill>
          <a:ln/>
        </p:spPr>
        <p:txBody>
          <a:bodyPr/>
          <a:p/>
        </p:txBody>
      </p:sp>
      <p:sp>
        <p:nvSpPr>
          <p:cNvPr id="25" name="Text 17"/>
          <p:cNvSpPr txBox="1"/>
          <p:nvPr/>
        </p:nvSpPr>
        <p:spPr>
          <a:xfrm>
            <a:off x="533552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2025</a:t>
            </a:r>
            <a:endParaRPr lang="en-US" sz="1400" dirty="0"/>
          </a:p>
        </p:txBody>
      </p:sp>
      <p:sp>
        <p:nvSpPr>
          <p:cNvPr id="26" name="Shape 18"/>
          <p:cNvSpPr/>
          <p:nvPr/>
        </p:nvSpPr>
        <p:spPr>
          <a:xfrm>
            <a:off x="6185916" y="3049524"/>
            <a:ext cx="310896" cy="45720"/>
          </a:xfrm>
          <a:prstGeom prst="rect">
            <a:avLst/>
          </a:prstGeom>
          <a:solidFill>
            <a:srgbClr val="2587C5"/>
          </a:solidFill>
          <a:ln/>
        </p:spPr>
        <p:txBody>
          <a:bodyPr/>
          <a:p/>
        </p:txBody>
      </p:sp>
      <p:sp>
        <p:nvSpPr>
          <p:cNvPr id="27" name="Shape 19"/>
          <p:cNvSpPr/>
          <p:nvPr/>
        </p:nvSpPr>
        <p:spPr>
          <a:xfrm>
            <a:off x="6286500" y="3017520"/>
            <a:ext cx="109728" cy="109728"/>
          </a:xfrm>
          <a:prstGeom prst="ellipse">
            <a:avLst/>
          </a:prstGeom>
          <a:solidFill>
            <a:srgbClr val="2587C5"/>
          </a:solidFill>
          <a:ln/>
        </p:spPr>
        <p:txBody>
          <a:bodyPr/>
          <a:p/>
        </p:txBody>
      </p:sp>
      <p:sp>
        <p:nvSpPr>
          <p:cNvPr id="28" name="Text 20"/>
          <p:cNvSpPr txBox="1"/>
          <p:nvPr/>
        </p:nvSpPr>
        <p:spPr>
          <a:xfrm>
            <a:off x="6569964" y="2926080"/>
            <a:ext cx="777240" cy="29260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2026</a:t>
            </a:r>
            <a:endParaRPr lang="en-US" sz="1400" dirty="0"/>
          </a:p>
        </p:txBody>
      </p:sp>
      <p:sp>
        <p:nvSpPr>
          <p:cNvPr id="29" name="Shape 21"/>
          <p:cNvSpPr/>
          <p:nvPr/>
        </p:nvSpPr>
        <p:spPr>
          <a:xfrm>
            <a:off x="457200" y="6126480"/>
            <a:ext cx="11274552" cy="371856"/>
          </a:xfrm>
          <a:prstGeom prst="rect">
            <a:avLst/>
          </a:prstGeom>
          <a:solidFill>
            <a:srgbClr val="E6F6EE"/>
          </a:solidFill>
          <a:ln/>
        </p:spPr>
        <p:txBody>
          <a:bodyPr/>
          <a:p/>
        </p:txBody>
      </p:sp>
      <p:sp>
        <p:nvSpPr>
          <p:cNvPr id="30" name="Text 22"/>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0.2 pts to 78.1%, ahead of 2025 in six of nine months.</a:t>
            </a:r>
            <a:endParaRPr lang="en-US" sz="1600" dirty="0"/>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Labor Gross Profit %</a:t>
            </a:r>
            <a:endParaRPr lang="en-US" sz="2800" dirty="0"/>
          </a:p>
        </p:txBody>
      </p:sp>
      <p:sp>
        <p:nvSpPr>
          <p:cNvPr id="5" name="Shape 3"/>
          <p:cNvSpPr/>
          <p:nvPr/>
        </p:nvSpPr>
        <p:spPr>
          <a:xfrm>
            <a:off x="457200" y="1207008"/>
            <a:ext cx="11274552" cy="4782312"/>
          </a:xfrm>
          <a:prstGeom prst="rect">
            <a:avLst/>
          </a:prstGeom>
          <a:solidFill>
            <a:srgbClr val="FFFFFF"/>
          </a:solidFill>
          <a:ln/>
        </p:spPr>
        <p:txBody>
          <a:bodyPr/>
          <a:p/>
        </p:txBody>
      </p:sp>
      <p:sp>
        <p:nvSpPr>
          <p:cNvPr id="6" name="Shape 4"/>
          <p:cNvSpPr/>
          <p:nvPr/>
        </p:nvSpPr>
        <p:spPr>
          <a:xfrm>
            <a:off x="658368" y="1335024"/>
            <a:ext cx="10872216" cy="420624"/>
          </a:xfrm>
          <a:prstGeom prst="rect">
            <a:avLst/>
          </a:prstGeom>
          <a:solidFill>
            <a:srgbClr val="EDF4FA"/>
          </a:solidFill>
          <a:ln/>
        </p:spPr>
        <p:txBody>
          <a:bodyPr/>
          <a:p/>
        </p:txBody>
      </p:sp>
      <p:sp>
        <p:nvSpPr>
          <p:cNvPr id="7" name="Shape 5"/>
          <p:cNvSpPr/>
          <p:nvPr/>
        </p:nvSpPr>
        <p:spPr>
          <a:xfrm>
            <a:off x="658368" y="1335024"/>
            <a:ext cx="59436" cy="420624"/>
          </a:xfrm>
          <a:prstGeom prst="rect">
            <a:avLst/>
          </a:prstGeom>
          <a:solidFill>
            <a:srgbClr val="0B2C4A"/>
          </a:solidFill>
          <a:ln/>
        </p:spPr>
        <p:txBody>
          <a:bodyPr/>
          <a:p/>
        </p:txBody>
      </p:sp>
      <p:sp>
        <p:nvSpPr>
          <p:cNvPr id="8" name="Text 6"/>
          <p:cNvSpPr txBox="1"/>
          <p:nvPr/>
        </p:nvSpPr>
        <p:spPr>
          <a:xfrm>
            <a:off x="859536" y="1335024"/>
            <a:ext cx="356235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INTERNAL LABOR GROSS PROFIT %</a:t>
            </a:r>
            <a:endParaRPr lang="en-US" sz="1500" dirty="0"/>
          </a:p>
        </p:txBody>
      </p:sp>
      <p:sp>
        <p:nvSpPr>
          <p:cNvPr id="9" name="Text 7"/>
          <p:cNvSpPr txBox="1"/>
          <p:nvPr/>
        </p:nvSpPr>
        <p:spPr>
          <a:xfrm>
            <a:off x="4476750" y="1335024"/>
            <a:ext cx="356997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+0.2 pts</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3" name="Shape 11"/>
          <p:cNvSpPr/>
          <p:nvPr/>
        </p:nvSpPr>
        <p:spPr>
          <a:xfrm>
            <a:off x="3785616" y="1911860"/>
            <a:ext cx="494607" cy="110352"/>
          </a:xfrm>
          <a:prstGeom prst="rect">
            <a:avLst/>
          </a:prstGeom>
          <a:solidFill>
            <a:srgbClr val="12A566"/>
          </a:solidFill>
          <a:ln/>
        </p:spPr>
        <p:txBody>
          <a:bodyPr/>
          <a:p/>
        </p:txBody>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+5.6 pts</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17" name="Shape 15"/>
          <p:cNvSpPr/>
          <p:nvPr/>
        </p:nvSpPr>
        <p:spPr>
          <a:xfrm>
            <a:off x="3785616" y="2151755"/>
            <a:ext cx="326794" cy="110352"/>
          </a:xfrm>
          <a:prstGeom prst="rect">
            <a:avLst/>
          </a:prstGeom>
          <a:solidFill>
            <a:srgbClr val="12A566"/>
          </a:solidFill>
          <a:ln/>
        </p:spPr>
        <p:txBody>
          <a:bodyPr/>
          <a:p/>
        </p:txBody>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+3.7 pts</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21" name="Shape 19"/>
          <p:cNvSpPr/>
          <p:nvPr/>
        </p:nvSpPr>
        <p:spPr>
          <a:xfrm>
            <a:off x="3785616" y="2391651"/>
            <a:ext cx="309130" cy="110352"/>
          </a:xfrm>
          <a:prstGeom prst="rect">
            <a:avLst/>
          </a:prstGeom>
          <a:solidFill>
            <a:srgbClr val="12A566"/>
          </a:solidFill>
          <a:ln/>
        </p:spPr>
        <p:txBody>
          <a:bodyPr/>
          <a:p/>
        </p:txBody>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+3.5 pts</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25" name="Shape 23"/>
          <p:cNvSpPr/>
          <p:nvPr/>
        </p:nvSpPr>
        <p:spPr>
          <a:xfrm>
            <a:off x="3785616" y="2631546"/>
            <a:ext cx="264968" cy="110352"/>
          </a:xfrm>
          <a:prstGeom prst="rect">
            <a:avLst/>
          </a:prstGeom>
          <a:solidFill>
            <a:srgbClr val="12A566"/>
          </a:solidFill>
          <a:ln/>
        </p:spPr>
        <p:txBody>
          <a:bodyPr/>
          <a:p/>
        </p:txBody>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+3.0 pts</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29" name="Shape 27"/>
          <p:cNvSpPr/>
          <p:nvPr/>
        </p:nvSpPr>
        <p:spPr>
          <a:xfrm>
            <a:off x="3785616" y="2871442"/>
            <a:ext cx="211975" cy="110352"/>
          </a:xfrm>
          <a:prstGeom prst="rect">
            <a:avLst/>
          </a:prstGeom>
          <a:solidFill>
            <a:srgbClr val="12A566"/>
          </a:solidFill>
          <a:ln/>
        </p:spPr>
        <p:txBody>
          <a:bodyPr/>
          <a:p/>
        </p:txBody>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+2.4 pts</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33" name="Shape 31"/>
          <p:cNvSpPr/>
          <p:nvPr/>
        </p:nvSpPr>
        <p:spPr>
          <a:xfrm>
            <a:off x="3785616" y="3111337"/>
            <a:ext cx="194310" cy="110352"/>
          </a:xfrm>
          <a:prstGeom prst="rect">
            <a:avLst/>
          </a:prstGeom>
          <a:solidFill>
            <a:srgbClr val="12A566"/>
          </a:solidFill>
          <a:ln/>
        </p:spPr>
        <p:txBody>
          <a:bodyPr/>
          <a:p/>
        </p:txBody>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+2.2 pts</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37" name="Shape 35"/>
          <p:cNvSpPr/>
          <p:nvPr/>
        </p:nvSpPr>
        <p:spPr>
          <a:xfrm>
            <a:off x="3785616" y="3351233"/>
            <a:ext cx="185478" cy="110352"/>
          </a:xfrm>
          <a:prstGeom prst="rect">
            <a:avLst/>
          </a:prstGeom>
          <a:solidFill>
            <a:srgbClr val="12A566"/>
          </a:solidFill>
          <a:ln/>
        </p:spPr>
        <p:txBody>
          <a:bodyPr/>
          <a:p/>
        </p:txBody>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+2.1 pts</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41" name="Shape 39"/>
          <p:cNvSpPr/>
          <p:nvPr/>
        </p:nvSpPr>
        <p:spPr>
          <a:xfrm>
            <a:off x="3785616" y="3591128"/>
            <a:ext cx="158981" cy="110352"/>
          </a:xfrm>
          <a:prstGeom prst="rect">
            <a:avLst/>
          </a:prstGeom>
          <a:solidFill>
            <a:srgbClr val="12A566"/>
          </a:solidFill>
          <a:ln/>
        </p:spPr>
        <p:txBody>
          <a:bodyPr/>
          <a:p/>
        </p:txBody>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+1.8 pts</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45" name="Shape 43"/>
          <p:cNvSpPr/>
          <p:nvPr/>
        </p:nvSpPr>
        <p:spPr>
          <a:xfrm>
            <a:off x="3785616" y="3831024"/>
            <a:ext cx="141316" cy="110352"/>
          </a:xfrm>
          <a:prstGeom prst="rect">
            <a:avLst/>
          </a:prstGeom>
          <a:solidFill>
            <a:srgbClr val="12A566"/>
          </a:solidFill>
          <a:ln/>
        </p:spPr>
        <p:txBody>
          <a:bodyPr/>
          <a:p/>
        </p:txBody>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+1.6 pts</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49" name="Shape 47"/>
          <p:cNvSpPr/>
          <p:nvPr/>
        </p:nvSpPr>
        <p:spPr>
          <a:xfrm>
            <a:off x="3785616" y="4070920"/>
            <a:ext cx="132484" cy="110352"/>
          </a:xfrm>
          <a:prstGeom prst="rect">
            <a:avLst/>
          </a:prstGeom>
          <a:solidFill>
            <a:srgbClr val="12A566"/>
          </a:solidFill>
          <a:ln/>
        </p:spPr>
        <p:txBody>
          <a:bodyPr/>
          <a:p/>
        </p:txBody>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 pts</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53" name="Shape 51"/>
          <p:cNvSpPr/>
          <p:nvPr/>
        </p:nvSpPr>
        <p:spPr>
          <a:xfrm>
            <a:off x="3785616" y="4310815"/>
            <a:ext cx="132484" cy="110352"/>
          </a:xfrm>
          <a:prstGeom prst="rect">
            <a:avLst/>
          </a:prstGeom>
          <a:solidFill>
            <a:srgbClr val="12A566"/>
          </a:solidFill>
          <a:ln/>
        </p:spPr>
        <p:txBody>
          <a:bodyPr/>
          <a:p/>
        </p:txBody>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 pts</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57" name="Shape 55"/>
          <p:cNvSpPr/>
          <p:nvPr/>
        </p:nvSpPr>
        <p:spPr>
          <a:xfrm>
            <a:off x="3785616" y="4550711"/>
            <a:ext cx="123652" cy="110352"/>
          </a:xfrm>
          <a:prstGeom prst="rect">
            <a:avLst/>
          </a:prstGeom>
          <a:solidFill>
            <a:srgbClr val="12A566"/>
          </a:solidFill>
          <a:ln/>
        </p:spPr>
        <p:txBody>
          <a:bodyPr/>
          <a:p/>
        </p:txBody>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+1.4 pts</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61" name="Shape 59"/>
          <p:cNvSpPr/>
          <p:nvPr/>
        </p:nvSpPr>
        <p:spPr>
          <a:xfrm>
            <a:off x="3785616" y="4790606"/>
            <a:ext cx="97155" cy="110352"/>
          </a:xfrm>
          <a:prstGeom prst="rect">
            <a:avLst/>
          </a:prstGeom>
          <a:solidFill>
            <a:srgbClr val="12A566"/>
          </a:solidFill>
          <a:ln/>
        </p:spPr>
        <p:txBody>
          <a:bodyPr/>
          <a:p/>
        </p:txBody>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+1.1 pts</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65" name="Shape 63"/>
          <p:cNvSpPr/>
          <p:nvPr/>
        </p:nvSpPr>
        <p:spPr>
          <a:xfrm>
            <a:off x="3785616" y="5030502"/>
            <a:ext cx="70658" cy="110352"/>
          </a:xfrm>
          <a:prstGeom prst="rect">
            <a:avLst/>
          </a:prstGeom>
          <a:solidFill>
            <a:srgbClr val="12A566"/>
          </a:solidFill>
          <a:ln/>
        </p:spPr>
        <p:txBody>
          <a:bodyPr/>
          <a:p/>
        </p:txBody>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+0.8 pts</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69" name="Shape 67"/>
          <p:cNvSpPr/>
          <p:nvPr/>
        </p:nvSpPr>
        <p:spPr>
          <a:xfrm>
            <a:off x="3785616" y="5270397"/>
            <a:ext cx="35329" cy="110352"/>
          </a:xfrm>
          <a:prstGeom prst="rect">
            <a:avLst/>
          </a:prstGeom>
          <a:solidFill>
            <a:srgbClr val="12A566"/>
          </a:solidFill>
          <a:ln/>
        </p:spPr>
        <p:txBody>
          <a:bodyPr/>
          <a:p/>
        </p:txBody>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+0.4 pts</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73" name="Shape 71"/>
          <p:cNvSpPr/>
          <p:nvPr/>
        </p:nvSpPr>
        <p:spPr>
          <a:xfrm>
            <a:off x="3785616" y="5510293"/>
            <a:ext cx="35329" cy="110352"/>
          </a:xfrm>
          <a:prstGeom prst="rect">
            <a:avLst/>
          </a:prstGeom>
          <a:solidFill>
            <a:srgbClr val="12A566"/>
          </a:solidFill>
          <a:ln/>
        </p:spPr>
        <p:txBody>
          <a:bodyPr/>
          <a:p/>
        </p:txBody>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+0.4 pts</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77" name="Shape 75"/>
          <p:cNvSpPr/>
          <p:nvPr/>
        </p:nvSpPr>
        <p:spPr>
          <a:xfrm>
            <a:off x="3785616" y="5750188"/>
            <a:ext cx="26497" cy="110352"/>
          </a:xfrm>
          <a:prstGeom prst="rect">
            <a:avLst/>
          </a:prstGeom>
          <a:solidFill>
            <a:srgbClr val="12A566"/>
          </a:solidFill>
          <a:ln/>
        </p:spPr>
        <p:txBody>
          <a:bodyPr/>
          <a:p/>
        </p:txBody>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+0.3 pts</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81" name="Shape 79"/>
          <p:cNvSpPr/>
          <p:nvPr/>
        </p:nvSpPr>
        <p:spPr>
          <a:xfrm>
            <a:off x="9336024" y="1911860"/>
            <a:ext cx="12802" cy="110352"/>
          </a:xfrm>
          <a:prstGeom prst="rect">
            <a:avLst/>
          </a:prstGeom>
          <a:solidFill>
            <a:srgbClr val="12A566"/>
          </a:solidFill>
          <a:ln/>
        </p:spPr>
        <p:txBody>
          <a:bodyPr/>
          <a:p/>
        </p:txBody>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+0.1 pts</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85" name="Shape 83"/>
          <p:cNvSpPr/>
          <p:nvPr/>
        </p:nvSpPr>
        <p:spPr>
          <a:xfrm>
            <a:off x="9336024" y="2151755"/>
            <a:ext cx="12802" cy="110352"/>
          </a:xfrm>
          <a:prstGeom prst="rect">
            <a:avLst/>
          </a:prstGeom>
          <a:solidFill>
            <a:srgbClr val="12A566"/>
          </a:solidFill>
          <a:ln/>
        </p:spPr>
        <p:txBody>
          <a:bodyPr/>
          <a:p/>
        </p:txBody>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+0.1 pts</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89" name="Shape 87"/>
          <p:cNvSpPr/>
          <p:nvPr/>
        </p:nvSpPr>
        <p:spPr>
          <a:xfrm>
            <a:off x="9300695" y="2391651"/>
            <a:ext cx="35329" cy="110352"/>
          </a:xfrm>
          <a:prstGeom prst="rect">
            <a:avLst/>
          </a:prstGeom>
          <a:solidFill>
            <a:srgbClr val="C2352F"/>
          </a:solidFill>
          <a:ln/>
        </p:spPr>
        <p:txBody>
          <a:bodyPr/>
          <a:p/>
        </p:txBody>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−0.4 pts</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93" name="Shape 91"/>
          <p:cNvSpPr/>
          <p:nvPr/>
        </p:nvSpPr>
        <p:spPr>
          <a:xfrm>
            <a:off x="9247701" y="2631546"/>
            <a:ext cx="88323" cy="110352"/>
          </a:xfrm>
          <a:prstGeom prst="rect">
            <a:avLst/>
          </a:prstGeom>
          <a:solidFill>
            <a:srgbClr val="C2352F"/>
          </a:solidFill>
          <a:ln/>
        </p:spPr>
        <p:txBody>
          <a:bodyPr/>
          <a:p/>
        </p:txBody>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−1.0 pts</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97" name="Shape 95"/>
          <p:cNvSpPr/>
          <p:nvPr/>
        </p:nvSpPr>
        <p:spPr>
          <a:xfrm>
            <a:off x="9230037" y="2871442"/>
            <a:ext cx="105987" cy="110352"/>
          </a:xfrm>
          <a:prstGeom prst="rect">
            <a:avLst/>
          </a:prstGeom>
          <a:solidFill>
            <a:srgbClr val="C2352F"/>
          </a:solidFill>
          <a:ln/>
        </p:spPr>
        <p:txBody>
          <a:bodyPr/>
          <a:p/>
        </p:txBody>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−1.2 pts</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01" name="Shape 99"/>
          <p:cNvSpPr/>
          <p:nvPr/>
        </p:nvSpPr>
        <p:spPr>
          <a:xfrm>
            <a:off x="9212372" y="3111337"/>
            <a:ext cx="123652" cy="110352"/>
          </a:xfrm>
          <a:prstGeom prst="rect">
            <a:avLst/>
          </a:prstGeom>
          <a:solidFill>
            <a:srgbClr val="C2352F"/>
          </a:solidFill>
          <a:ln/>
        </p:spPr>
        <p:txBody>
          <a:bodyPr/>
          <a:p/>
        </p:txBody>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−1.4 pts</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05" name="Shape 103"/>
          <p:cNvSpPr/>
          <p:nvPr/>
        </p:nvSpPr>
        <p:spPr>
          <a:xfrm>
            <a:off x="9203540" y="3351233"/>
            <a:ext cx="132484" cy="110352"/>
          </a:xfrm>
          <a:prstGeom prst="rect">
            <a:avLst/>
          </a:prstGeom>
          <a:solidFill>
            <a:srgbClr val="C2352F"/>
          </a:solidFill>
          <a:ln/>
        </p:spPr>
        <p:txBody>
          <a:bodyPr/>
          <a:p/>
        </p:txBody>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−1.5 pts</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09" name="Shape 107"/>
          <p:cNvSpPr/>
          <p:nvPr/>
        </p:nvSpPr>
        <p:spPr>
          <a:xfrm>
            <a:off x="9106385" y="3591128"/>
            <a:ext cx="229639" cy="110352"/>
          </a:xfrm>
          <a:prstGeom prst="rect">
            <a:avLst/>
          </a:prstGeom>
          <a:solidFill>
            <a:srgbClr val="C2352F"/>
          </a:solidFill>
          <a:ln/>
        </p:spPr>
        <p:txBody>
          <a:bodyPr/>
          <a:p/>
        </p:txBody>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−2.6 pts</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13" name="Shape 111"/>
          <p:cNvSpPr/>
          <p:nvPr/>
        </p:nvSpPr>
        <p:spPr>
          <a:xfrm>
            <a:off x="9097553" y="3831024"/>
            <a:ext cx="238471" cy="110352"/>
          </a:xfrm>
          <a:prstGeom prst="rect">
            <a:avLst/>
          </a:prstGeom>
          <a:solidFill>
            <a:srgbClr val="C2352F"/>
          </a:solidFill>
          <a:ln/>
        </p:spPr>
        <p:txBody>
          <a:bodyPr/>
          <a:p/>
        </p:txBody>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−2.7 pts</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17" name="Shape 115"/>
          <p:cNvSpPr/>
          <p:nvPr/>
        </p:nvSpPr>
        <p:spPr>
          <a:xfrm>
            <a:off x="9062224" y="4070920"/>
            <a:ext cx="273800" cy="110352"/>
          </a:xfrm>
          <a:prstGeom prst="rect">
            <a:avLst/>
          </a:prstGeom>
          <a:solidFill>
            <a:srgbClr val="C2352F"/>
          </a:solidFill>
          <a:ln/>
        </p:spPr>
        <p:txBody>
          <a:bodyPr/>
          <a:p/>
        </p:txBody>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−3.1 pts</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21" name="Shape 119"/>
          <p:cNvSpPr/>
          <p:nvPr/>
        </p:nvSpPr>
        <p:spPr>
          <a:xfrm>
            <a:off x="9035727" y="4310815"/>
            <a:ext cx="300297" cy="110352"/>
          </a:xfrm>
          <a:prstGeom prst="rect">
            <a:avLst/>
          </a:prstGeom>
          <a:solidFill>
            <a:srgbClr val="C2352F"/>
          </a:solidFill>
          <a:ln/>
        </p:spPr>
        <p:txBody>
          <a:bodyPr/>
          <a:p/>
        </p:txBody>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−3.4 pts</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25" name="Shape 123"/>
          <p:cNvSpPr/>
          <p:nvPr/>
        </p:nvSpPr>
        <p:spPr>
          <a:xfrm>
            <a:off x="8947404" y="4550711"/>
            <a:ext cx="388620" cy="110352"/>
          </a:xfrm>
          <a:prstGeom prst="rect">
            <a:avLst/>
          </a:prstGeom>
          <a:solidFill>
            <a:srgbClr val="C2352F"/>
          </a:solidFill>
          <a:ln/>
        </p:spPr>
        <p:txBody>
          <a:bodyPr/>
          <a:p/>
        </p:txBody>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−4.4 pts</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129" name="Shape 127"/>
          <p:cNvSpPr/>
          <p:nvPr/>
        </p:nvSpPr>
        <p:spPr>
          <a:xfrm>
            <a:off x="8929739" y="4790606"/>
            <a:ext cx="406285" cy="110352"/>
          </a:xfrm>
          <a:prstGeom prst="rect">
            <a:avLst/>
          </a:prstGeom>
          <a:solidFill>
            <a:srgbClr val="C2352F"/>
          </a:solidFill>
          <a:ln/>
        </p:spPr>
        <p:txBody>
          <a:bodyPr/>
          <a:p/>
        </p:txBody>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−4.6 pts</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133" name="Shape 131"/>
          <p:cNvSpPr/>
          <p:nvPr/>
        </p:nvSpPr>
        <p:spPr>
          <a:xfrm>
            <a:off x="8859081" y="5030502"/>
            <a:ext cx="476943" cy="110352"/>
          </a:xfrm>
          <a:prstGeom prst="rect">
            <a:avLst/>
          </a:prstGeom>
          <a:solidFill>
            <a:srgbClr val="C2352F"/>
          </a:solidFill>
          <a:ln/>
        </p:spPr>
        <p:txBody>
          <a:bodyPr/>
          <a:p/>
        </p:txBody>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−5.4 pts</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37" name="Shape 135"/>
          <p:cNvSpPr/>
          <p:nvPr/>
        </p:nvSpPr>
        <p:spPr>
          <a:xfrm>
            <a:off x="8841417" y="5270397"/>
            <a:ext cx="494607" cy="110352"/>
          </a:xfrm>
          <a:prstGeom prst="rect">
            <a:avLst/>
          </a:prstGeom>
          <a:solidFill>
            <a:srgbClr val="C2352F"/>
          </a:solidFill>
          <a:ln/>
        </p:spPr>
        <p:txBody>
          <a:bodyPr/>
          <a:p/>
        </p:txBody>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−5.6 pts</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41" name="Shape 139"/>
          <p:cNvSpPr/>
          <p:nvPr/>
        </p:nvSpPr>
        <p:spPr>
          <a:xfrm>
            <a:off x="8558784" y="5510293"/>
            <a:ext cx="777240" cy="110352"/>
          </a:xfrm>
          <a:prstGeom prst="rect">
            <a:avLst/>
          </a:prstGeom>
          <a:solidFill>
            <a:srgbClr val="C2352F"/>
          </a:solidFill>
          <a:ln/>
        </p:spPr>
        <p:txBody>
          <a:bodyPr/>
          <a:p/>
        </p:txBody>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−8.8 pts</a:t>
            </a:r>
            <a:endParaRPr lang="en-US" sz="1200" dirty="0"/>
          </a:p>
        </p:txBody>
      </p:sp>
      <p:sp>
        <p:nvSpPr>
          <p:cNvPr id="143" name="Shape 141"/>
          <p:cNvSpPr/>
          <p:nvPr/>
        </p:nvSpPr>
        <p:spPr>
          <a:xfrm>
            <a:off x="3780130" y="1847088"/>
            <a:ext cx="10973" cy="4078224"/>
          </a:xfrm>
          <a:prstGeom prst="rect">
            <a:avLst/>
          </a:prstGeom>
          <a:solidFill>
            <a:srgbClr val="9AA3AD"/>
          </a:solidFill>
          <a:ln/>
        </p:spPr>
        <p:txBody>
          <a:bodyPr/>
          <a:p/>
        </p:txBody>
      </p:sp>
      <p:sp>
        <p:nvSpPr>
          <p:cNvPr id="144" name="Shape 142"/>
          <p:cNvSpPr/>
          <p:nvPr/>
        </p:nvSpPr>
        <p:spPr>
          <a:xfrm>
            <a:off x="9330538" y="1847088"/>
            <a:ext cx="10973" cy="4078224"/>
          </a:xfrm>
          <a:prstGeom prst="rect">
            <a:avLst/>
          </a:prstGeom>
          <a:solidFill>
            <a:srgbClr val="9AA3AD"/>
          </a:solidFill>
          <a:ln/>
        </p:spPr>
        <p:txBody>
          <a:bodyPr/>
          <a:p/>
        </p:txBody>
      </p:sp>
      <p:sp>
        <p:nvSpPr>
          <p:cNvPr id="145" name="Shape 143"/>
          <p:cNvSpPr/>
          <p:nvPr/>
        </p:nvSpPr>
        <p:spPr>
          <a:xfrm>
            <a:off x="6085332" y="1847088"/>
            <a:ext cx="10973" cy="4078224"/>
          </a:xfrm>
          <a:prstGeom prst="rect">
            <a:avLst/>
          </a:prstGeom>
          <a:solidFill>
            <a:srgbClr val="D9D9D9"/>
          </a:solidFill>
          <a:ln/>
        </p:spPr>
        <p:txBody>
          <a:bodyPr/>
          <a:p/>
        </p:txBody>
      </p:sp>
      <p:sp>
        <p:nvSpPr>
          <p:cNvPr id="147" name="Shape 144"/>
          <p:cNvSpPr/>
          <p:nvPr/>
        </p:nvSpPr>
        <p:spPr>
          <a:xfrm>
            <a:off x="457200" y="6126480"/>
            <a:ext cx="11274552" cy="371856"/>
          </a:xfrm>
          <a:prstGeom prst="rect">
            <a:avLst/>
          </a:prstGeom>
          <a:solidFill>
            <a:srgbClr val="E6F6EE"/>
          </a:solidFill>
          <a:ln/>
        </p:spPr>
        <p:txBody>
          <a:bodyPr/>
          <a:p/>
        </p:txBody>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19 of 33 stores raised internal labor GP%. 14 declined.</a:t>
            </a:r>
            <a:endParaRPr lang="en-US" sz="1600" dirty="0"/>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Labor Gross Profit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71.6%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77.2%</a:t>
            </a:r>
            <a:endParaRPr lang="en-US" sz="1400" dirty="0"/>
          </a:p>
        </p:txBody>
      </p:sp>
      <p:sp>
        <p:nvSpPr>
          <p:cNvPr id="12" name="Text 10"/>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+5.6 pts</a:t>
            </a:r>
            <a:endParaRPr lang="en-US" sz="1600" dirty="0"/>
          </a:p>
        </p:txBody>
      </p:sp>
      <p:sp>
        <p:nvSpPr>
          <p:cNvPr id="13" name="Text 11"/>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4" name="Text 12"/>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76.1%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79.8%</a:t>
            </a:r>
            <a:endParaRPr lang="en-US" sz="1400" dirty="0"/>
          </a:p>
        </p:txBody>
      </p:sp>
      <p:sp>
        <p:nvSpPr>
          <p:cNvPr id="15" name="Text 13"/>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+3.7 pts</a:t>
            </a:r>
            <a:endParaRPr lang="en-US" sz="1600" dirty="0"/>
          </a:p>
        </p:txBody>
      </p:sp>
      <p:sp>
        <p:nvSpPr>
          <p:cNvPr id="16" name="Shape 14"/>
          <p:cNvSpPr/>
          <p:nvPr/>
        </p:nvSpPr>
        <p:spPr>
          <a:xfrm>
            <a:off x="658368" y="3760013"/>
            <a:ext cx="3489960" cy="828446"/>
          </a:xfrm>
          <a:prstGeom prst="rect">
            <a:avLst/>
          </a:prstGeom>
          <a:solidFill>
            <a:srgbClr val="F7F7F7"/>
          </a:solidFill>
          <a:ln/>
        </p:spPr>
        <p:txBody>
          <a:bodyPr/>
          <a:p/>
        </p:txBody>
      </p:sp>
      <p:sp>
        <p:nvSpPr>
          <p:cNvPr id="17" name="Text 15"/>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8" name="Text 16"/>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78.8%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82.3%</a:t>
            </a:r>
            <a:endParaRPr lang="en-US" sz="1400" dirty="0"/>
          </a:p>
        </p:txBody>
      </p:sp>
      <p:sp>
        <p:nvSpPr>
          <p:cNvPr id="19" name="Text 17"/>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+3.5 pts</a:t>
            </a:r>
            <a:endParaRPr lang="en-US" sz="1600" dirty="0"/>
          </a:p>
        </p:txBody>
      </p:sp>
      <p:sp>
        <p:nvSpPr>
          <p:cNvPr id="20" name="Shape 18"/>
          <p:cNvSpPr/>
          <p:nvPr/>
        </p:nvSpPr>
        <p:spPr>
          <a:xfrm>
            <a:off x="4084320" y="4625035"/>
            <a:ext cx="64008" cy="755294"/>
          </a:xfrm>
          <a:prstGeom prst="rect">
            <a:avLst/>
          </a:prstGeom>
          <a:solidFill>
            <a:srgbClr val="12A566"/>
          </a:solidFill>
          <a:ln/>
        </p:spPr>
        <p:txBody>
          <a:bodyPr/>
          <a:p/>
        </p:txBody>
      </p:sp>
      <p:sp>
        <p:nvSpPr>
          <p:cNvPr id="21" name="Text 19"/>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2" name="Text 20"/>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82.3%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85.3%</a:t>
            </a:r>
            <a:endParaRPr lang="en-US" sz="1400" dirty="0"/>
          </a:p>
        </p:txBody>
      </p:sp>
      <p:sp>
        <p:nvSpPr>
          <p:cNvPr id="23" name="Text 21"/>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+3.0 pts</a:t>
            </a:r>
            <a:endParaRPr lang="en-US" sz="1600" dirty="0"/>
          </a:p>
        </p:txBody>
      </p:sp>
      <p:sp>
        <p:nvSpPr>
          <p:cNvPr id="24" name="Shape 22"/>
          <p:cNvSpPr/>
          <p:nvPr/>
        </p:nvSpPr>
        <p:spPr>
          <a:xfrm>
            <a:off x="658368" y="5416906"/>
            <a:ext cx="3489960" cy="828446"/>
          </a:xfrm>
          <a:prstGeom prst="rect">
            <a:avLst/>
          </a:prstGeom>
          <a:solidFill>
            <a:srgbClr val="F7F7F7"/>
          </a:solidFill>
          <a:ln/>
        </p:spPr>
        <p:txBody>
          <a:bodyPr/>
          <a:p/>
        </p:txBody>
      </p:sp>
      <p:sp>
        <p:nvSpPr>
          <p:cNvPr id="25" name="Text 23"/>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6" name="Text 24"/>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80.4%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82.8%</a:t>
            </a:r>
            <a:endParaRPr lang="en-US" sz="1400" dirty="0"/>
          </a:p>
        </p:txBody>
      </p:sp>
      <p:sp>
        <p:nvSpPr>
          <p:cNvPr id="27" name="Text 25"/>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+2.4 pts</a:t>
            </a:r>
            <a:endParaRPr lang="en-US" sz="1600" dirty="0"/>
          </a:p>
        </p:txBody>
      </p:sp>
      <p:sp>
        <p:nvSpPr>
          <p:cNvPr id="28" name="Shape 26"/>
          <p:cNvSpPr/>
          <p:nvPr/>
        </p:nvSpPr>
        <p:spPr>
          <a:xfrm>
            <a:off x="4349496" y="1371600"/>
            <a:ext cx="3489960" cy="45720"/>
          </a:xfrm>
          <a:prstGeom prst="rect">
            <a:avLst/>
          </a:prstGeom>
          <a:solidFill>
            <a:srgbClr val="C2352F"/>
          </a:solidFill>
          <a:ln/>
        </p:spPr>
        <p:txBody>
          <a:bodyPr/>
          <a:p/>
        </p:txBody>
      </p:sp>
      <p:sp>
        <p:nvSpPr>
          <p:cNvPr id="29" name="Text 27"/>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0" name="Text 28"/>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1" name="Shape 29"/>
          <p:cNvSpPr/>
          <p:nvPr/>
        </p:nvSpPr>
        <p:spPr>
          <a:xfrm>
            <a:off x="4349496" y="2103120"/>
            <a:ext cx="3489960" cy="828446"/>
          </a:xfrm>
          <a:prstGeom prst="rect">
            <a:avLst/>
          </a:prstGeom>
          <a:solidFill>
            <a:srgbClr val="F7F7F7"/>
          </a:solidFill>
          <a:ln/>
        </p:spPr>
        <p:txBody>
          <a:bodyPr/>
          <a:p/>
        </p:txBody>
      </p:sp>
      <p:sp>
        <p:nvSpPr>
          <p:cNvPr id="32" name="Text 30"/>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3" name="Text 31"/>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67.8%</a:t>
            </a:r>
            <a:endParaRPr lang="en-US" sz="1400" dirty="0"/>
          </a:p>
        </p:txBody>
      </p:sp>
      <p:sp>
        <p:nvSpPr>
          <p:cNvPr id="34" name="Text 32"/>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−8.8 pts</a:t>
            </a:r>
            <a:endParaRPr lang="en-US" sz="1600" dirty="0"/>
          </a:p>
        </p:txBody>
      </p:sp>
      <p:sp>
        <p:nvSpPr>
          <p:cNvPr id="35" name="Text 33"/>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6" name="Text 34"/>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75.6%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70.0%</a:t>
            </a:r>
            <a:endParaRPr lang="en-US" sz="1400" dirty="0"/>
          </a:p>
        </p:txBody>
      </p:sp>
      <p:sp>
        <p:nvSpPr>
          <p:cNvPr id="37" name="Text 35"/>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−5.6 pts</a:t>
            </a:r>
            <a:endParaRPr lang="en-US" sz="1600" dirty="0"/>
          </a:p>
        </p:txBody>
      </p:sp>
      <p:sp>
        <p:nvSpPr>
          <p:cNvPr id="38" name="Shape 36"/>
          <p:cNvSpPr/>
          <p:nvPr/>
        </p:nvSpPr>
        <p:spPr>
          <a:xfrm>
            <a:off x="4349496" y="3760013"/>
            <a:ext cx="3489960" cy="828446"/>
          </a:xfrm>
          <a:prstGeom prst="rect">
            <a:avLst/>
          </a:prstGeom>
          <a:solidFill>
            <a:srgbClr val="F7F7F7"/>
          </a:solidFill>
          <a:ln/>
        </p:spPr>
        <p:txBody>
          <a:bodyPr/>
          <a:p/>
        </p:txBody>
      </p:sp>
      <p:sp>
        <p:nvSpPr>
          <p:cNvPr id="39" name="Text 37"/>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0" name="Text 38"/>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85.1%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79.7%</a:t>
            </a:r>
            <a:endParaRPr lang="en-US" sz="1400" dirty="0"/>
          </a:p>
        </p:txBody>
      </p:sp>
      <p:sp>
        <p:nvSpPr>
          <p:cNvPr id="41" name="Text 39"/>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−5.4 pts</a:t>
            </a:r>
            <a:endParaRPr lang="en-US" sz="1600" dirty="0"/>
          </a:p>
        </p:txBody>
      </p:sp>
      <p:sp>
        <p:nvSpPr>
          <p:cNvPr id="42" name="Text 40"/>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3" name="Text 41"/>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78.4%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73.8%</a:t>
            </a:r>
            <a:endParaRPr lang="en-US" sz="1400" dirty="0"/>
          </a:p>
        </p:txBody>
      </p:sp>
      <p:sp>
        <p:nvSpPr>
          <p:cNvPr id="44" name="Text 42"/>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−4.6 pts</a:t>
            </a:r>
            <a:endParaRPr lang="en-US" sz="1600" dirty="0"/>
          </a:p>
        </p:txBody>
      </p:sp>
      <p:sp>
        <p:nvSpPr>
          <p:cNvPr id="45" name="Shape 43"/>
          <p:cNvSpPr/>
          <p:nvPr/>
        </p:nvSpPr>
        <p:spPr>
          <a:xfrm>
            <a:off x="4349496" y="5416906"/>
            <a:ext cx="3489960" cy="828446"/>
          </a:xfrm>
          <a:prstGeom prst="rect">
            <a:avLst/>
          </a:prstGeom>
          <a:solidFill>
            <a:srgbClr val="F7F7F7"/>
          </a:solidFill>
          <a:ln/>
        </p:spPr>
        <p:txBody>
          <a:bodyPr/>
          <a:p/>
        </p:txBody>
      </p:sp>
      <p:sp>
        <p:nvSpPr>
          <p:cNvPr id="46" name="Text 44"/>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7" name="Text 45"/>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72.5%</a:t>
            </a:r>
            <a:endParaRPr lang="en-US" sz="1400" dirty="0"/>
          </a:p>
        </p:txBody>
      </p:sp>
      <p:sp>
        <p:nvSpPr>
          <p:cNvPr id="48" name="Text 46"/>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−4.4 pts</a:t>
            </a:r>
            <a:endParaRPr lang="en-US" sz="1600" dirty="0"/>
          </a:p>
        </p:txBody>
      </p:sp>
      <p:sp>
        <p:nvSpPr>
          <p:cNvPr id="49" name="Shape 47"/>
          <p:cNvSpPr/>
          <p:nvPr/>
        </p:nvSpPr>
        <p:spPr>
          <a:xfrm>
            <a:off x="8040624" y="1371600"/>
            <a:ext cx="3489960" cy="45720"/>
          </a:xfrm>
          <a:prstGeom prst="rect">
            <a:avLst/>
          </a:prstGeom>
          <a:solidFill>
            <a:srgbClr val="2587C5"/>
          </a:solidFill>
          <a:ln/>
        </p:spPr>
        <p:txBody>
          <a:bodyPr/>
          <a:p/>
        </p:txBody>
      </p:sp>
      <p:sp>
        <p:nvSpPr>
          <p:cNvPr id="50" name="Text 4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1" name="Text 4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52" name="Shape 50"/>
          <p:cNvSpPr/>
          <p:nvPr/>
        </p:nvSpPr>
        <p:spPr>
          <a:xfrm>
            <a:off x="8040624" y="2103120"/>
            <a:ext cx="3489960" cy="828446"/>
          </a:xfrm>
          <a:prstGeom prst="rect">
            <a:avLst/>
          </a:prstGeom>
          <a:solidFill>
            <a:srgbClr val="F7F7F7"/>
          </a:solidFill>
          <a:ln/>
        </p:spPr>
        <p:txBody>
          <a:bodyPr/>
          <a:p/>
        </p:txBody>
      </p:sp>
      <p:sp>
        <p:nvSpPr>
          <p:cNvPr id="53" name="Text 51"/>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4" name="Text 52"/>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66.2%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72.6%</a:t>
            </a:r>
            <a:endParaRPr lang="en-US" sz="1400" dirty="0"/>
          </a:p>
        </p:txBody>
      </p:sp>
      <p:sp>
        <p:nvSpPr>
          <p:cNvPr id="55" name="Text 53"/>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+6.4 pts</a:t>
            </a:r>
            <a:endParaRPr lang="en-US" sz="1600" dirty="0"/>
          </a:p>
        </p:txBody>
      </p:sp>
      <p:sp>
        <p:nvSpPr>
          <p:cNvPr id="56" name="Text 54"/>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7" name="Text 55"/>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82.0%</a:t>
            </a:r>
            <a:endParaRPr lang="en-US" sz="1400" dirty="0"/>
          </a:p>
        </p:txBody>
      </p:sp>
      <p:sp>
        <p:nvSpPr>
          <p:cNvPr id="58" name="Text 56"/>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+5.2 pts</a:t>
            </a:r>
            <a:endParaRPr lang="en-US" sz="1600" dirty="0"/>
          </a:p>
        </p:txBody>
      </p:sp>
      <p:sp>
        <p:nvSpPr>
          <p:cNvPr id="59" name="Shape 57"/>
          <p:cNvSpPr/>
          <p:nvPr/>
        </p:nvSpPr>
        <p:spPr>
          <a:xfrm>
            <a:off x="8040624" y="3760013"/>
            <a:ext cx="3489960" cy="828446"/>
          </a:xfrm>
          <a:prstGeom prst="rect">
            <a:avLst/>
          </a:prstGeom>
          <a:solidFill>
            <a:srgbClr val="F7F7F7"/>
          </a:solidFill>
          <a:ln/>
        </p:spPr>
        <p:txBody>
          <a:bodyPr/>
          <a:p/>
        </p:txBody>
      </p:sp>
      <p:sp>
        <p:nvSpPr>
          <p:cNvPr id="60" name="Shape 58"/>
          <p:cNvSpPr/>
          <p:nvPr/>
        </p:nvSpPr>
        <p:spPr>
          <a:xfrm>
            <a:off x="11466576" y="3796589"/>
            <a:ext cx="64008" cy="755294"/>
          </a:xfrm>
          <a:prstGeom prst="rect">
            <a:avLst/>
          </a:prstGeom>
          <a:solidFill>
            <a:srgbClr val="12A566"/>
          </a:solidFill>
          <a:ln/>
        </p:spPr>
        <p:txBody>
          <a:bodyPr/>
          <a:p/>
        </p:txBody>
      </p:sp>
      <p:sp>
        <p:nvSpPr>
          <p:cNvPr id="61" name="Text 59"/>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2" name="Text 60"/>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83.0%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87.1%</a:t>
            </a:r>
            <a:endParaRPr lang="en-US" sz="1400" dirty="0"/>
          </a:p>
        </p:txBody>
      </p:sp>
      <p:sp>
        <p:nvSpPr>
          <p:cNvPr id="63" name="Text 61"/>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 pts</a:t>
            </a:r>
            <a:endParaRPr lang="en-US" sz="1600" dirty="0"/>
          </a:p>
        </p:txBody>
      </p:sp>
      <p:sp>
        <p:nvSpPr>
          <p:cNvPr id="64" name="Text 62"/>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5" name="Text 63"/>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72.5%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76.4%</a:t>
            </a:r>
            <a:endParaRPr lang="en-US" sz="1400" dirty="0"/>
          </a:p>
        </p:txBody>
      </p:sp>
      <p:sp>
        <p:nvSpPr>
          <p:cNvPr id="66" name="Text 64"/>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
        <p:nvSpPr>
          <p:cNvPr id="67" name="Shape 65"/>
          <p:cNvSpPr/>
          <p:nvPr/>
        </p:nvSpPr>
        <p:spPr>
          <a:xfrm>
            <a:off x="8040624" y="5416906"/>
            <a:ext cx="3489960" cy="828446"/>
          </a:xfrm>
          <a:prstGeom prst="rect">
            <a:avLst/>
          </a:prstGeom>
          <a:solidFill>
            <a:srgbClr val="F7F7F7"/>
          </a:solidFill>
          <a:ln/>
        </p:spPr>
        <p:txBody>
          <a:bodyPr/>
          <a:p/>
        </p:txBody>
      </p:sp>
      <p:sp>
        <p:nvSpPr>
          <p:cNvPr id="68" name="Text 66"/>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69" name="Text 67"/>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76.4%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79.7%</a:t>
            </a:r>
            <a:endParaRPr lang="en-US" sz="1400" dirty="0"/>
          </a:p>
        </p:txBody>
      </p:sp>
      <p:sp>
        <p:nvSpPr>
          <p:cNvPr id="70" name="Text 68"/>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Parts Gross Profit %</a:t>
            </a:r>
            <a:endParaRPr lang="en-US" sz="2800" dirty="0"/>
          </a:p>
        </p:txBody>
      </p:sp>
      <p:sp>
        <p:nvSpPr>
          <p:cNvPr id="5" name="Shape 3"/>
          <p:cNvSpPr/>
          <p:nvPr/>
        </p:nvSpPr>
        <p:spPr>
          <a:xfrm>
            <a:off x="457200" y="1207008"/>
            <a:ext cx="11274552" cy="4782312"/>
          </a:xfrm>
          <a:prstGeom prst="rect">
            <a:avLst/>
          </a:prstGeom>
          <a:solidFill>
            <a:srgbClr val="FFFFFF"/>
          </a:solidFill>
          <a:ln/>
        </p:spPr>
        <p:txBody>
          <a:bodyPr/>
          <a:p/>
        </p:txBody>
      </p:sp>
      <p:sp>
        <p:nvSpPr>
          <p:cNvPr id="6" name="Shape 4"/>
          <p:cNvSpPr/>
          <p:nvPr/>
        </p:nvSpPr>
        <p:spPr>
          <a:xfrm>
            <a:off x="658368" y="1335024"/>
            <a:ext cx="10872216" cy="420624"/>
          </a:xfrm>
          <a:prstGeom prst="rect">
            <a:avLst/>
          </a:prstGeom>
          <a:solidFill>
            <a:srgbClr val="EDF4FA"/>
          </a:solidFill>
          <a:ln/>
        </p:spPr>
        <p:txBody>
          <a:bodyPr/>
          <a:p/>
        </p:txBody>
      </p:sp>
      <p:sp>
        <p:nvSpPr>
          <p:cNvPr id="7" name="Shape 5"/>
          <p:cNvSpPr/>
          <p:nvPr/>
        </p:nvSpPr>
        <p:spPr>
          <a:xfrm>
            <a:off x="658368" y="1335024"/>
            <a:ext cx="59436" cy="420624"/>
          </a:xfrm>
          <a:prstGeom prst="rect">
            <a:avLst/>
          </a:prstGeom>
          <a:solidFill>
            <a:srgbClr val="0B2C4A"/>
          </a:solidFill>
          <a:ln/>
        </p:spPr>
        <p:txBody>
          <a:bodyPr/>
          <a:p/>
        </p:txBody>
      </p:sp>
      <p:sp>
        <p:nvSpPr>
          <p:cNvPr id="8" name="Text 6"/>
          <p:cNvSpPr txBox="1"/>
          <p:nvPr/>
        </p:nvSpPr>
        <p:spPr>
          <a:xfrm>
            <a:off x="859536" y="1335024"/>
            <a:ext cx="356235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INTERNAL PARTS GROSS PROFIT %</a:t>
            </a:r>
            <a:endParaRPr lang="en-US" sz="1500" dirty="0"/>
          </a:p>
        </p:txBody>
      </p:sp>
      <p:sp>
        <p:nvSpPr>
          <p:cNvPr id="9" name="Text 7"/>
          <p:cNvSpPr txBox="1"/>
          <p:nvPr/>
        </p:nvSpPr>
        <p:spPr>
          <a:xfrm>
            <a:off x="4476750" y="1335024"/>
            <a:ext cx="3569970" cy="42062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YEAR-OVER-YEAR CHANGE</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7A4A"/>
                </a:solidFill>
                <a:latin typeface="Inter" pitchFamily="34" charset="0"/>
                <a:ea typeface="Inter" pitchFamily="34" charset="-122"/>
                <a:cs typeface="Inter" pitchFamily="34" charset="-120"/>
              </a:rPr>
              <a:t>+0.5 pts</a:t>
            </a:r>
            <a:endParaRPr lang="en-US" sz="2000" dirty="0"/>
          </a:p>
        </p:txBody>
      </p:sp>
      <p:sp>
        <p:nvSpPr>
          <p:cNvPr id="11" name="Text 9"/>
          <p:cNvSpPr txBox="1"/>
          <p:nvPr/>
        </p:nvSpPr>
        <p:spPr>
          <a:xfrm>
            <a:off x="658368"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2" name="Text 10"/>
          <p:cNvSpPr txBox="1"/>
          <p:nvPr/>
        </p:nvSpPr>
        <p:spPr>
          <a:xfrm>
            <a:off x="1014984"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13" name="Shape 11"/>
          <p:cNvSpPr/>
          <p:nvPr/>
        </p:nvSpPr>
        <p:spPr>
          <a:xfrm>
            <a:off x="3785616" y="1911860"/>
            <a:ext cx="777240" cy="110352"/>
          </a:xfrm>
          <a:prstGeom prst="rect">
            <a:avLst/>
          </a:prstGeom>
          <a:solidFill>
            <a:srgbClr val="12A566"/>
          </a:solidFill>
          <a:ln/>
        </p:spPr>
        <p:txBody>
          <a:bodyPr/>
          <a:p/>
        </p:txBody>
      </p:sp>
      <p:sp>
        <p:nvSpPr>
          <p:cNvPr id="14" name="Text 12"/>
          <p:cNvSpPr txBox="1"/>
          <p:nvPr/>
        </p:nvSpPr>
        <p:spPr>
          <a:xfrm>
            <a:off x="4617720"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+6.2 pts</a:t>
            </a:r>
            <a:endParaRPr lang="en-US" sz="1200" dirty="0"/>
          </a:p>
        </p:txBody>
      </p:sp>
      <p:sp>
        <p:nvSpPr>
          <p:cNvPr id="15" name="Text 13"/>
          <p:cNvSpPr txBox="1"/>
          <p:nvPr/>
        </p:nvSpPr>
        <p:spPr>
          <a:xfrm>
            <a:off x="658368"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6" name="Text 14"/>
          <p:cNvSpPr txBox="1"/>
          <p:nvPr/>
        </p:nvSpPr>
        <p:spPr>
          <a:xfrm>
            <a:off x="1014984"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7" name="Shape 15"/>
          <p:cNvSpPr/>
          <p:nvPr/>
        </p:nvSpPr>
        <p:spPr>
          <a:xfrm>
            <a:off x="3785616" y="2151755"/>
            <a:ext cx="752168" cy="110352"/>
          </a:xfrm>
          <a:prstGeom prst="rect">
            <a:avLst/>
          </a:prstGeom>
          <a:solidFill>
            <a:srgbClr val="12A566"/>
          </a:solidFill>
          <a:ln/>
        </p:spPr>
        <p:txBody>
          <a:bodyPr/>
          <a:p/>
        </p:txBody>
      </p:sp>
      <p:sp>
        <p:nvSpPr>
          <p:cNvPr id="18" name="Text 16"/>
          <p:cNvSpPr txBox="1"/>
          <p:nvPr/>
        </p:nvSpPr>
        <p:spPr>
          <a:xfrm>
            <a:off x="4617720"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+6.0 pts</a:t>
            </a:r>
            <a:endParaRPr lang="en-US" sz="1200" dirty="0"/>
          </a:p>
        </p:txBody>
      </p:sp>
      <p:sp>
        <p:nvSpPr>
          <p:cNvPr id="19" name="Text 17"/>
          <p:cNvSpPr txBox="1"/>
          <p:nvPr/>
        </p:nvSpPr>
        <p:spPr>
          <a:xfrm>
            <a:off x="658368"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0" name="Text 18"/>
          <p:cNvSpPr txBox="1"/>
          <p:nvPr/>
        </p:nvSpPr>
        <p:spPr>
          <a:xfrm>
            <a:off x="1014984"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21" name="Shape 19"/>
          <p:cNvSpPr/>
          <p:nvPr/>
        </p:nvSpPr>
        <p:spPr>
          <a:xfrm>
            <a:off x="3785616" y="2391651"/>
            <a:ext cx="551590" cy="110352"/>
          </a:xfrm>
          <a:prstGeom prst="rect">
            <a:avLst/>
          </a:prstGeom>
          <a:solidFill>
            <a:srgbClr val="12A566"/>
          </a:solidFill>
          <a:ln/>
        </p:spPr>
        <p:txBody>
          <a:bodyPr/>
          <a:p/>
        </p:txBody>
      </p:sp>
      <p:sp>
        <p:nvSpPr>
          <p:cNvPr id="22" name="Text 20"/>
          <p:cNvSpPr txBox="1"/>
          <p:nvPr/>
        </p:nvSpPr>
        <p:spPr>
          <a:xfrm>
            <a:off x="4617720"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+4.4 pts</a:t>
            </a:r>
            <a:endParaRPr lang="en-US" sz="1200" dirty="0"/>
          </a:p>
        </p:txBody>
      </p:sp>
      <p:sp>
        <p:nvSpPr>
          <p:cNvPr id="23" name="Text 21"/>
          <p:cNvSpPr txBox="1"/>
          <p:nvPr/>
        </p:nvSpPr>
        <p:spPr>
          <a:xfrm>
            <a:off x="658368"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24" name="Text 22"/>
          <p:cNvSpPr txBox="1"/>
          <p:nvPr/>
        </p:nvSpPr>
        <p:spPr>
          <a:xfrm>
            <a:off x="1014984"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25" name="Shape 23"/>
          <p:cNvSpPr/>
          <p:nvPr/>
        </p:nvSpPr>
        <p:spPr>
          <a:xfrm>
            <a:off x="3785616" y="2631546"/>
            <a:ext cx="413692" cy="110352"/>
          </a:xfrm>
          <a:prstGeom prst="rect">
            <a:avLst/>
          </a:prstGeom>
          <a:solidFill>
            <a:srgbClr val="12A566"/>
          </a:solidFill>
          <a:ln/>
        </p:spPr>
        <p:txBody>
          <a:bodyPr/>
          <a:p/>
        </p:txBody>
      </p:sp>
      <p:sp>
        <p:nvSpPr>
          <p:cNvPr id="26" name="Text 24"/>
          <p:cNvSpPr txBox="1"/>
          <p:nvPr/>
        </p:nvSpPr>
        <p:spPr>
          <a:xfrm>
            <a:off x="4617720"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 pts</a:t>
            </a:r>
            <a:endParaRPr lang="en-US" sz="1200" dirty="0"/>
          </a:p>
        </p:txBody>
      </p:sp>
      <p:sp>
        <p:nvSpPr>
          <p:cNvPr id="27" name="Text 25"/>
          <p:cNvSpPr txBox="1"/>
          <p:nvPr/>
        </p:nvSpPr>
        <p:spPr>
          <a:xfrm>
            <a:off x="658368"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28" name="Text 26"/>
          <p:cNvSpPr txBox="1"/>
          <p:nvPr/>
        </p:nvSpPr>
        <p:spPr>
          <a:xfrm>
            <a:off x="1014984"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29" name="Shape 27"/>
          <p:cNvSpPr/>
          <p:nvPr/>
        </p:nvSpPr>
        <p:spPr>
          <a:xfrm>
            <a:off x="3785616" y="2871442"/>
            <a:ext cx="413692" cy="110352"/>
          </a:xfrm>
          <a:prstGeom prst="rect">
            <a:avLst/>
          </a:prstGeom>
          <a:solidFill>
            <a:srgbClr val="12A566"/>
          </a:solidFill>
          <a:ln/>
        </p:spPr>
        <p:txBody>
          <a:bodyPr/>
          <a:p/>
        </p:txBody>
      </p:sp>
      <p:sp>
        <p:nvSpPr>
          <p:cNvPr id="30" name="Text 28"/>
          <p:cNvSpPr txBox="1"/>
          <p:nvPr/>
        </p:nvSpPr>
        <p:spPr>
          <a:xfrm>
            <a:off x="4617720" y="280667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+3.3 pts</a:t>
            </a:r>
            <a:endParaRPr lang="en-US" sz="1200" dirty="0"/>
          </a:p>
        </p:txBody>
      </p:sp>
      <p:sp>
        <p:nvSpPr>
          <p:cNvPr id="31" name="Text 29"/>
          <p:cNvSpPr txBox="1"/>
          <p:nvPr/>
        </p:nvSpPr>
        <p:spPr>
          <a:xfrm>
            <a:off x="658368"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32" name="Text 30"/>
          <p:cNvSpPr txBox="1"/>
          <p:nvPr/>
        </p:nvSpPr>
        <p:spPr>
          <a:xfrm>
            <a:off x="1014984"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33" name="Shape 31"/>
          <p:cNvSpPr/>
          <p:nvPr/>
        </p:nvSpPr>
        <p:spPr>
          <a:xfrm>
            <a:off x="3785616" y="3111337"/>
            <a:ext cx="363548" cy="110352"/>
          </a:xfrm>
          <a:prstGeom prst="rect">
            <a:avLst/>
          </a:prstGeom>
          <a:solidFill>
            <a:srgbClr val="12A566"/>
          </a:solidFill>
          <a:ln/>
        </p:spPr>
        <p:txBody>
          <a:bodyPr/>
          <a:p/>
        </p:txBody>
      </p:sp>
      <p:sp>
        <p:nvSpPr>
          <p:cNvPr id="34" name="Text 32"/>
          <p:cNvSpPr txBox="1"/>
          <p:nvPr/>
        </p:nvSpPr>
        <p:spPr>
          <a:xfrm>
            <a:off x="4617720" y="304656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+2.9 pts</a:t>
            </a:r>
            <a:endParaRPr lang="en-US" sz="1200" dirty="0"/>
          </a:p>
        </p:txBody>
      </p:sp>
      <p:sp>
        <p:nvSpPr>
          <p:cNvPr id="35" name="Text 33"/>
          <p:cNvSpPr txBox="1"/>
          <p:nvPr/>
        </p:nvSpPr>
        <p:spPr>
          <a:xfrm>
            <a:off x="658368"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36" name="Text 34"/>
          <p:cNvSpPr txBox="1"/>
          <p:nvPr/>
        </p:nvSpPr>
        <p:spPr>
          <a:xfrm>
            <a:off x="1014984"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37" name="Shape 35"/>
          <p:cNvSpPr/>
          <p:nvPr/>
        </p:nvSpPr>
        <p:spPr>
          <a:xfrm>
            <a:off x="3785616" y="3351233"/>
            <a:ext cx="325939" cy="110352"/>
          </a:xfrm>
          <a:prstGeom prst="rect">
            <a:avLst/>
          </a:prstGeom>
          <a:solidFill>
            <a:srgbClr val="12A566"/>
          </a:solidFill>
          <a:ln/>
        </p:spPr>
        <p:txBody>
          <a:bodyPr/>
          <a:p/>
        </p:txBody>
      </p:sp>
      <p:sp>
        <p:nvSpPr>
          <p:cNvPr id="38" name="Text 36"/>
          <p:cNvSpPr txBox="1"/>
          <p:nvPr/>
        </p:nvSpPr>
        <p:spPr>
          <a:xfrm>
            <a:off x="4617720" y="328646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+2.6 pts</a:t>
            </a:r>
            <a:endParaRPr lang="en-US" sz="1200" dirty="0"/>
          </a:p>
        </p:txBody>
      </p:sp>
      <p:sp>
        <p:nvSpPr>
          <p:cNvPr id="39" name="Text 37"/>
          <p:cNvSpPr txBox="1"/>
          <p:nvPr/>
        </p:nvSpPr>
        <p:spPr>
          <a:xfrm>
            <a:off x="658368"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40" name="Text 38"/>
          <p:cNvSpPr txBox="1"/>
          <p:nvPr/>
        </p:nvSpPr>
        <p:spPr>
          <a:xfrm>
            <a:off x="1014984"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41" name="Shape 39"/>
          <p:cNvSpPr/>
          <p:nvPr/>
        </p:nvSpPr>
        <p:spPr>
          <a:xfrm>
            <a:off x="3785616" y="3591128"/>
            <a:ext cx="313403" cy="110352"/>
          </a:xfrm>
          <a:prstGeom prst="rect">
            <a:avLst/>
          </a:prstGeom>
          <a:solidFill>
            <a:srgbClr val="12A566"/>
          </a:solidFill>
          <a:ln/>
        </p:spPr>
        <p:txBody>
          <a:bodyPr/>
          <a:p/>
        </p:txBody>
      </p:sp>
      <p:sp>
        <p:nvSpPr>
          <p:cNvPr id="42" name="Text 40"/>
          <p:cNvSpPr txBox="1"/>
          <p:nvPr/>
        </p:nvSpPr>
        <p:spPr>
          <a:xfrm>
            <a:off x="4617720" y="3526357"/>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+2.5 pts</a:t>
            </a:r>
            <a:endParaRPr lang="en-US" sz="1200" dirty="0"/>
          </a:p>
        </p:txBody>
      </p:sp>
      <p:sp>
        <p:nvSpPr>
          <p:cNvPr id="43" name="Text 41"/>
          <p:cNvSpPr txBox="1"/>
          <p:nvPr/>
        </p:nvSpPr>
        <p:spPr>
          <a:xfrm>
            <a:off x="658368"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44" name="Text 42"/>
          <p:cNvSpPr txBox="1"/>
          <p:nvPr/>
        </p:nvSpPr>
        <p:spPr>
          <a:xfrm>
            <a:off x="1014984"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45" name="Shape 43"/>
          <p:cNvSpPr/>
          <p:nvPr/>
        </p:nvSpPr>
        <p:spPr>
          <a:xfrm>
            <a:off x="3785616" y="3831024"/>
            <a:ext cx="313403" cy="110352"/>
          </a:xfrm>
          <a:prstGeom prst="rect">
            <a:avLst/>
          </a:prstGeom>
          <a:solidFill>
            <a:srgbClr val="12A566"/>
          </a:solidFill>
          <a:ln/>
        </p:spPr>
        <p:txBody>
          <a:bodyPr/>
          <a:p/>
        </p:txBody>
      </p:sp>
      <p:sp>
        <p:nvSpPr>
          <p:cNvPr id="46" name="Text 44"/>
          <p:cNvSpPr txBox="1"/>
          <p:nvPr/>
        </p:nvSpPr>
        <p:spPr>
          <a:xfrm>
            <a:off x="4617720" y="3766252"/>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+2.5 pts</a:t>
            </a:r>
            <a:endParaRPr lang="en-US" sz="1200" dirty="0"/>
          </a:p>
        </p:txBody>
      </p:sp>
      <p:sp>
        <p:nvSpPr>
          <p:cNvPr id="47" name="Text 45"/>
          <p:cNvSpPr txBox="1"/>
          <p:nvPr/>
        </p:nvSpPr>
        <p:spPr>
          <a:xfrm>
            <a:off x="658368"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48" name="Text 46"/>
          <p:cNvSpPr txBox="1"/>
          <p:nvPr/>
        </p:nvSpPr>
        <p:spPr>
          <a:xfrm>
            <a:off x="1014984"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49" name="Shape 47"/>
          <p:cNvSpPr/>
          <p:nvPr/>
        </p:nvSpPr>
        <p:spPr>
          <a:xfrm>
            <a:off x="3785616" y="4070920"/>
            <a:ext cx="250723" cy="110352"/>
          </a:xfrm>
          <a:prstGeom prst="rect">
            <a:avLst/>
          </a:prstGeom>
          <a:solidFill>
            <a:srgbClr val="12A566"/>
          </a:solidFill>
          <a:ln/>
        </p:spPr>
        <p:txBody>
          <a:bodyPr/>
          <a:p/>
        </p:txBody>
      </p:sp>
      <p:sp>
        <p:nvSpPr>
          <p:cNvPr id="50" name="Text 48"/>
          <p:cNvSpPr txBox="1"/>
          <p:nvPr/>
        </p:nvSpPr>
        <p:spPr>
          <a:xfrm>
            <a:off x="4617720" y="400614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+2.0 pts</a:t>
            </a:r>
            <a:endParaRPr lang="en-US" sz="1200" dirty="0"/>
          </a:p>
        </p:txBody>
      </p:sp>
      <p:sp>
        <p:nvSpPr>
          <p:cNvPr id="51" name="Text 49"/>
          <p:cNvSpPr txBox="1"/>
          <p:nvPr/>
        </p:nvSpPr>
        <p:spPr>
          <a:xfrm>
            <a:off x="658368"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52" name="Text 50"/>
          <p:cNvSpPr txBox="1"/>
          <p:nvPr/>
        </p:nvSpPr>
        <p:spPr>
          <a:xfrm>
            <a:off x="1014984"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53" name="Shape 51"/>
          <p:cNvSpPr/>
          <p:nvPr/>
        </p:nvSpPr>
        <p:spPr>
          <a:xfrm>
            <a:off x="3785616" y="4310815"/>
            <a:ext cx="250723" cy="110352"/>
          </a:xfrm>
          <a:prstGeom prst="rect">
            <a:avLst/>
          </a:prstGeom>
          <a:solidFill>
            <a:srgbClr val="12A566"/>
          </a:solidFill>
          <a:ln/>
        </p:spPr>
        <p:txBody>
          <a:bodyPr/>
          <a:p/>
        </p:txBody>
      </p:sp>
      <p:sp>
        <p:nvSpPr>
          <p:cNvPr id="54" name="Text 52"/>
          <p:cNvSpPr txBox="1"/>
          <p:nvPr/>
        </p:nvSpPr>
        <p:spPr>
          <a:xfrm>
            <a:off x="4617720" y="4246043"/>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+2.0 pts</a:t>
            </a:r>
            <a:endParaRPr lang="en-US" sz="1200" dirty="0"/>
          </a:p>
        </p:txBody>
      </p:sp>
      <p:sp>
        <p:nvSpPr>
          <p:cNvPr id="55" name="Text 53"/>
          <p:cNvSpPr txBox="1"/>
          <p:nvPr/>
        </p:nvSpPr>
        <p:spPr>
          <a:xfrm>
            <a:off x="658368"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56" name="Text 54"/>
          <p:cNvSpPr txBox="1"/>
          <p:nvPr/>
        </p:nvSpPr>
        <p:spPr>
          <a:xfrm>
            <a:off x="1014984"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57" name="Shape 55"/>
          <p:cNvSpPr/>
          <p:nvPr/>
        </p:nvSpPr>
        <p:spPr>
          <a:xfrm>
            <a:off x="3785616" y="4550711"/>
            <a:ext cx="213114" cy="110352"/>
          </a:xfrm>
          <a:prstGeom prst="rect">
            <a:avLst/>
          </a:prstGeom>
          <a:solidFill>
            <a:srgbClr val="12A566"/>
          </a:solidFill>
          <a:ln/>
        </p:spPr>
        <p:txBody>
          <a:bodyPr/>
          <a:p/>
        </p:txBody>
      </p:sp>
      <p:sp>
        <p:nvSpPr>
          <p:cNvPr id="58" name="Text 56"/>
          <p:cNvSpPr txBox="1"/>
          <p:nvPr/>
        </p:nvSpPr>
        <p:spPr>
          <a:xfrm>
            <a:off x="4617720" y="448593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+1.7 pts</a:t>
            </a:r>
            <a:endParaRPr lang="en-US" sz="1200" dirty="0"/>
          </a:p>
        </p:txBody>
      </p:sp>
      <p:sp>
        <p:nvSpPr>
          <p:cNvPr id="59" name="Text 57"/>
          <p:cNvSpPr txBox="1"/>
          <p:nvPr/>
        </p:nvSpPr>
        <p:spPr>
          <a:xfrm>
            <a:off x="658368"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60" name="Text 58"/>
          <p:cNvSpPr txBox="1"/>
          <p:nvPr/>
        </p:nvSpPr>
        <p:spPr>
          <a:xfrm>
            <a:off x="1014984"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61" name="Shape 59"/>
          <p:cNvSpPr/>
          <p:nvPr/>
        </p:nvSpPr>
        <p:spPr>
          <a:xfrm>
            <a:off x="3785616" y="4790606"/>
            <a:ext cx="188042" cy="110352"/>
          </a:xfrm>
          <a:prstGeom prst="rect">
            <a:avLst/>
          </a:prstGeom>
          <a:solidFill>
            <a:srgbClr val="12A566"/>
          </a:solidFill>
          <a:ln/>
        </p:spPr>
        <p:txBody>
          <a:bodyPr/>
          <a:p/>
        </p:txBody>
      </p:sp>
      <p:sp>
        <p:nvSpPr>
          <p:cNvPr id="62" name="Text 60"/>
          <p:cNvSpPr txBox="1"/>
          <p:nvPr/>
        </p:nvSpPr>
        <p:spPr>
          <a:xfrm>
            <a:off x="4617720" y="472583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 pts</a:t>
            </a:r>
            <a:endParaRPr lang="en-US" sz="1200" dirty="0"/>
          </a:p>
        </p:txBody>
      </p:sp>
      <p:sp>
        <p:nvSpPr>
          <p:cNvPr id="63" name="Text 61"/>
          <p:cNvSpPr txBox="1"/>
          <p:nvPr/>
        </p:nvSpPr>
        <p:spPr>
          <a:xfrm>
            <a:off x="658368"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64" name="Text 62"/>
          <p:cNvSpPr txBox="1"/>
          <p:nvPr/>
        </p:nvSpPr>
        <p:spPr>
          <a:xfrm>
            <a:off x="1014984"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65" name="Shape 63"/>
          <p:cNvSpPr/>
          <p:nvPr/>
        </p:nvSpPr>
        <p:spPr>
          <a:xfrm>
            <a:off x="3785616" y="5030502"/>
            <a:ext cx="188042" cy="110352"/>
          </a:xfrm>
          <a:prstGeom prst="rect">
            <a:avLst/>
          </a:prstGeom>
          <a:solidFill>
            <a:srgbClr val="12A566"/>
          </a:solidFill>
          <a:ln/>
        </p:spPr>
        <p:txBody>
          <a:bodyPr/>
          <a:p/>
        </p:txBody>
      </p:sp>
      <p:sp>
        <p:nvSpPr>
          <p:cNvPr id="66" name="Text 64"/>
          <p:cNvSpPr txBox="1"/>
          <p:nvPr/>
        </p:nvSpPr>
        <p:spPr>
          <a:xfrm>
            <a:off x="4617720" y="4965730"/>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 pts</a:t>
            </a:r>
            <a:endParaRPr lang="en-US" sz="1200" dirty="0"/>
          </a:p>
        </p:txBody>
      </p:sp>
      <p:sp>
        <p:nvSpPr>
          <p:cNvPr id="67" name="Text 65"/>
          <p:cNvSpPr txBox="1"/>
          <p:nvPr/>
        </p:nvSpPr>
        <p:spPr>
          <a:xfrm>
            <a:off x="658368"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68" name="Text 66"/>
          <p:cNvSpPr txBox="1"/>
          <p:nvPr/>
        </p:nvSpPr>
        <p:spPr>
          <a:xfrm>
            <a:off x="1014984"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69" name="Shape 67"/>
          <p:cNvSpPr/>
          <p:nvPr/>
        </p:nvSpPr>
        <p:spPr>
          <a:xfrm>
            <a:off x="3785616" y="5270397"/>
            <a:ext cx="188042" cy="110352"/>
          </a:xfrm>
          <a:prstGeom prst="rect">
            <a:avLst/>
          </a:prstGeom>
          <a:solidFill>
            <a:srgbClr val="12A566"/>
          </a:solidFill>
          <a:ln/>
        </p:spPr>
        <p:txBody>
          <a:bodyPr/>
          <a:p/>
        </p:txBody>
      </p:sp>
      <p:sp>
        <p:nvSpPr>
          <p:cNvPr id="70" name="Text 68"/>
          <p:cNvSpPr txBox="1"/>
          <p:nvPr/>
        </p:nvSpPr>
        <p:spPr>
          <a:xfrm>
            <a:off x="4617720" y="520562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+1.5 pts</a:t>
            </a:r>
            <a:endParaRPr lang="en-US" sz="1200" dirty="0"/>
          </a:p>
        </p:txBody>
      </p:sp>
      <p:sp>
        <p:nvSpPr>
          <p:cNvPr id="71" name="Text 69"/>
          <p:cNvSpPr txBox="1"/>
          <p:nvPr/>
        </p:nvSpPr>
        <p:spPr>
          <a:xfrm>
            <a:off x="658368"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72" name="Text 70"/>
          <p:cNvSpPr txBox="1"/>
          <p:nvPr/>
        </p:nvSpPr>
        <p:spPr>
          <a:xfrm>
            <a:off x="1014984"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73" name="Shape 71"/>
          <p:cNvSpPr/>
          <p:nvPr/>
        </p:nvSpPr>
        <p:spPr>
          <a:xfrm>
            <a:off x="3785616" y="5510293"/>
            <a:ext cx="150434" cy="110352"/>
          </a:xfrm>
          <a:prstGeom prst="rect">
            <a:avLst/>
          </a:prstGeom>
          <a:solidFill>
            <a:srgbClr val="12A566"/>
          </a:solidFill>
          <a:ln/>
        </p:spPr>
        <p:txBody>
          <a:bodyPr/>
          <a:p/>
        </p:txBody>
      </p:sp>
      <p:sp>
        <p:nvSpPr>
          <p:cNvPr id="74" name="Text 72"/>
          <p:cNvSpPr txBox="1"/>
          <p:nvPr/>
        </p:nvSpPr>
        <p:spPr>
          <a:xfrm>
            <a:off x="4617720" y="5445521"/>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 pts</a:t>
            </a:r>
            <a:endParaRPr lang="en-US" sz="1200" dirty="0"/>
          </a:p>
        </p:txBody>
      </p:sp>
      <p:sp>
        <p:nvSpPr>
          <p:cNvPr id="75" name="Text 73"/>
          <p:cNvSpPr txBox="1"/>
          <p:nvPr/>
        </p:nvSpPr>
        <p:spPr>
          <a:xfrm>
            <a:off x="658368" y="568541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76" name="Text 74"/>
          <p:cNvSpPr txBox="1"/>
          <p:nvPr/>
        </p:nvSpPr>
        <p:spPr>
          <a:xfrm>
            <a:off x="1014984" y="568541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77" name="Shape 75"/>
          <p:cNvSpPr/>
          <p:nvPr/>
        </p:nvSpPr>
        <p:spPr>
          <a:xfrm>
            <a:off x="3785616" y="5750188"/>
            <a:ext cx="150434" cy="110352"/>
          </a:xfrm>
          <a:prstGeom prst="rect">
            <a:avLst/>
          </a:prstGeom>
          <a:solidFill>
            <a:srgbClr val="12A566"/>
          </a:solidFill>
          <a:ln/>
        </p:spPr>
        <p:txBody>
          <a:bodyPr/>
          <a:p/>
        </p:txBody>
      </p:sp>
      <p:sp>
        <p:nvSpPr>
          <p:cNvPr id="78" name="Text 76"/>
          <p:cNvSpPr txBox="1"/>
          <p:nvPr/>
        </p:nvSpPr>
        <p:spPr>
          <a:xfrm>
            <a:off x="4617720" y="5685416"/>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+1.2 pts</a:t>
            </a:r>
            <a:endParaRPr lang="en-US" sz="1200" dirty="0"/>
          </a:p>
        </p:txBody>
      </p:sp>
      <p:sp>
        <p:nvSpPr>
          <p:cNvPr id="79" name="Text 77"/>
          <p:cNvSpPr txBox="1"/>
          <p:nvPr/>
        </p:nvSpPr>
        <p:spPr>
          <a:xfrm>
            <a:off x="6208776" y="184708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80" name="Text 78"/>
          <p:cNvSpPr txBox="1"/>
          <p:nvPr/>
        </p:nvSpPr>
        <p:spPr>
          <a:xfrm>
            <a:off x="6565392" y="184708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81" name="Shape 79"/>
          <p:cNvSpPr/>
          <p:nvPr/>
        </p:nvSpPr>
        <p:spPr>
          <a:xfrm>
            <a:off x="9336024" y="1911860"/>
            <a:ext cx="125361" cy="110352"/>
          </a:xfrm>
          <a:prstGeom prst="rect">
            <a:avLst/>
          </a:prstGeom>
          <a:solidFill>
            <a:srgbClr val="12A566"/>
          </a:solidFill>
          <a:ln/>
        </p:spPr>
        <p:txBody>
          <a:bodyPr/>
          <a:p/>
        </p:txBody>
      </p:sp>
      <p:sp>
        <p:nvSpPr>
          <p:cNvPr id="82" name="Text 80"/>
          <p:cNvSpPr txBox="1"/>
          <p:nvPr/>
        </p:nvSpPr>
        <p:spPr>
          <a:xfrm>
            <a:off x="10168128" y="1847088"/>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+1.0 pts</a:t>
            </a:r>
            <a:endParaRPr lang="en-US" sz="1200" dirty="0"/>
          </a:p>
        </p:txBody>
      </p:sp>
      <p:sp>
        <p:nvSpPr>
          <p:cNvPr id="83" name="Text 81"/>
          <p:cNvSpPr txBox="1"/>
          <p:nvPr/>
        </p:nvSpPr>
        <p:spPr>
          <a:xfrm>
            <a:off x="6208776" y="208698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84" name="Text 82"/>
          <p:cNvSpPr txBox="1"/>
          <p:nvPr/>
        </p:nvSpPr>
        <p:spPr>
          <a:xfrm>
            <a:off x="6565392" y="208698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85" name="Shape 83"/>
          <p:cNvSpPr/>
          <p:nvPr/>
        </p:nvSpPr>
        <p:spPr>
          <a:xfrm>
            <a:off x="9336024" y="2151755"/>
            <a:ext cx="112825" cy="110352"/>
          </a:xfrm>
          <a:prstGeom prst="rect">
            <a:avLst/>
          </a:prstGeom>
          <a:solidFill>
            <a:srgbClr val="12A566"/>
          </a:solidFill>
          <a:ln/>
        </p:spPr>
        <p:txBody>
          <a:bodyPr/>
          <a:p/>
        </p:txBody>
      </p:sp>
      <p:sp>
        <p:nvSpPr>
          <p:cNvPr id="86" name="Text 84"/>
          <p:cNvSpPr txBox="1"/>
          <p:nvPr/>
        </p:nvSpPr>
        <p:spPr>
          <a:xfrm>
            <a:off x="10168128" y="2086984"/>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+0.9 pts</a:t>
            </a:r>
            <a:endParaRPr lang="en-US" sz="1200" dirty="0"/>
          </a:p>
        </p:txBody>
      </p:sp>
      <p:sp>
        <p:nvSpPr>
          <p:cNvPr id="87" name="Text 85"/>
          <p:cNvSpPr txBox="1"/>
          <p:nvPr/>
        </p:nvSpPr>
        <p:spPr>
          <a:xfrm>
            <a:off x="6208776" y="232687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88" name="Text 86"/>
          <p:cNvSpPr txBox="1"/>
          <p:nvPr/>
        </p:nvSpPr>
        <p:spPr>
          <a:xfrm>
            <a:off x="6565392" y="232687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89" name="Shape 87"/>
          <p:cNvSpPr/>
          <p:nvPr/>
        </p:nvSpPr>
        <p:spPr>
          <a:xfrm>
            <a:off x="9336024" y="2391651"/>
            <a:ext cx="50145" cy="110352"/>
          </a:xfrm>
          <a:prstGeom prst="rect">
            <a:avLst/>
          </a:prstGeom>
          <a:solidFill>
            <a:srgbClr val="12A566"/>
          </a:solidFill>
          <a:ln/>
        </p:spPr>
        <p:txBody>
          <a:bodyPr/>
          <a:p/>
        </p:txBody>
      </p:sp>
      <p:sp>
        <p:nvSpPr>
          <p:cNvPr id="90" name="Text 88"/>
          <p:cNvSpPr txBox="1"/>
          <p:nvPr/>
        </p:nvSpPr>
        <p:spPr>
          <a:xfrm>
            <a:off x="10168128" y="2326879"/>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+0.4 pts</a:t>
            </a:r>
            <a:endParaRPr lang="en-US" sz="1200" dirty="0"/>
          </a:p>
        </p:txBody>
      </p:sp>
      <p:sp>
        <p:nvSpPr>
          <p:cNvPr id="91" name="Text 89"/>
          <p:cNvSpPr txBox="1"/>
          <p:nvPr/>
        </p:nvSpPr>
        <p:spPr>
          <a:xfrm>
            <a:off x="6208776" y="256677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92" name="Text 90"/>
          <p:cNvSpPr txBox="1"/>
          <p:nvPr/>
        </p:nvSpPr>
        <p:spPr>
          <a:xfrm>
            <a:off x="6565392" y="256677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93" name="Shape 91"/>
          <p:cNvSpPr/>
          <p:nvPr/>
        </p:nvSpPr>
        <p:spPr>
          <a:xfrm>
            <a:off x="9336024" y="2631546"/>
            <a:ext cx="37608" cy="110352"/>
          </a:xfrm>
          <a:prstGeom prst="rect">
            <a:avLst/>
          </a:prstGeom>
          <a:solidFill>
            <a:srgbClr val="12A566"/>
          </a:solidFill>
          <a:ln/>
        </p:spPr>
        <p:txBody>
          <a:bodyPr/>
          <a:p/>
        </p:txBody>
      </p:sp>
      <p:sp>
        <p:nvSpPr>
          <p:cNvPr id="94" name="Text 92"/>
          <p:cNvSpPr txBox="1"/>
          <p:nvPr/>
        </p:nvSpPr>
        <p:spPr>
          <a:xfrm>
            <a:off x="10168128" y="2566775"/>
            <a:ext cx="1234440" cy="239896"/>
          </a:xfrm>
          <a:prstGeom prst="rect">
            <a:avLst/>
          </a:prstGeom>
          <a:noFill/>
          <a:ln/>
        </p:spPr>
        <p:txBody>
          <a:bodyPr wrap="square" lIns="0" tIns="0" rIns="0" bIns="0" rtlCol="0" anchor="ctr"/>
          <a:lstStyle/>
          <a:p>
            <a:pPr algn="r" indent="0" marL="0">
              <a:buNone/>
            </a:pPr>
            <a:r>
              <a:rPr lang="en-US" sz="1200" b="1" dirty="0">
                <a:solidFill>
                  <a:srgbClr val="0B7A4A"/>
                </a:solidFill>
                <a:latin typeface="Inter" pitchFamily="34" charset="0"/>
                <a:ea typeface="Inter" pitchFamily="34" charset="-122"/>
                <a:cs typeface="Inter" pitchFamily="34" charset="-120"/>
              </a:rPr>
              <a:t>+0.3 pts</a:t>
            </a:r>
            <a:endParaRPr lang="en-US" sz="1200" dirty="0"/>
          </a:p>
        </p:txBody>
      </p:sp>
      <p:sp>
        <p:nvSpPr>
          <p:cNvPr id="95" name="Text 93"/>
          <p:cNvSpPr txBox="1"/>
          <p:nvPr/>
        </p:nvSpPr>
        <p:spPr>
          <a:xfrm>
            <a:off x="6208776" y="280667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96" name="Text 94"/>
          <p:cNvSpPr txBox="1"/>
          <p:nvPr/>
        </p:nvSpPr>
        <p:spPr>
          <a:xfrm>
            <a:off x="6565392" y="280667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97" name="Shape 95"/>
          <p:cNvSpPr/>
          <p:nvPr/>
        </p:nvSpPr>
        <p:spPr>
          <a:xfrm>
            <a:off x="9298416" y="2871442"/>
            <a:ext cx="37608" cy="110352"/>
          </a:xfrm>
          <a:prstGeom prst="rect">
            <a:avLst/>
          </a:prstGeom>
          <a:solidFill>
            <a:srgbClr val="C2352F"/>
          </a:solidFill>
          <a:ln/>
        </p:spPr>
        <p:txBody>
          <a:bodyPr/>
          <a:p/>
        </p:txBody>
      </p:sp>
      <p:sp>
        <p:nvSpPr>
          <p:cNvPr id="98" name="Text 96"/>
          <p:cNvSpPr txBox="1"/>
          <p:nvPr/>
        </p:nvSpPr>
        <p:spPr>
          <a:xfrm>
            <a:off x="10168128" y="280667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−0.3 pts</a:t>
            </a:r>
            <a:endParaRPr lang="en-US" sz="1200" dirty="0"/>
          </a:p>
        </p:txBody>
      </p:sp>
      <p:sp>
        <p:nvSpPr>
          <p:cNvPr id="99" name="Text 97"/>
          <p:cNvSpPr txBox="1"/>
          <p:nvPr/>
        </p:nvSpPr>
        <p:spPr>
          <a:xfrm>
            <a:off x="6208776" y="3046566"/>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00" name="Text 98"/>
          <p:cNvSpPr txBox="1"/>
          <p:nvPr/>
        </p:nvSpPr>
        <p:spPr>
          <a:xfrm>
            <a:off x="6565392" y="3046566"/>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101" name="Shape 99"/>
          <p:cNvSpPr/>
          <p:nvPr/>
        </p:nvSpPr>
        <p:spPr>
          <a:xfrm>
            <a:off x="9298416" y="3111337"/>
            <a:ext cx="37608" cy="110352"/>
          </a:xfrm>
          <a:prstGeom prst="rect">
            <a:avLst/>
          </a:prstGeom>
          <a:solidFill>
            <a:srgbClr val="C2352F"/>
          </a:solidFill>
          <a:ln/>
        </p:spPr>
        <p:txBody>
          <a:bodyPr/>
          <a:p/>
        </p:txBody>
      </p:sp>
      <p:sp>
        <p:nvSpPr>
          <p:cNvPr id="102" name="Text 100"/>
          <p:cNvSpPr txBox="1"/>
          <p:nvPr/>
        </p:nvSpPr>
        <p:spPr>
          <a:xfrm>
            <a:off x="10168128" y="3046566"/>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−0.3 pts</a:t>
            </a:r>
            <a:endParaRPr lang="en-US" sz="1200" dirty="0"/>
          </a:p>
        </p:txBody>
      </p:sp>
      <p:sp>
        <p:nvSpPr>
          <p:cNvPr id="103" name="Text 101"/>
          <p:cNvSpPr txBox="1"/>
          <p:nvPr/>
        </p:nvSpPr>
        <p:spPr>
          <a:xfrm>
            <a:off x="6208776" y="328646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04" name="Text 102"/>
          <p:cNvSpPr txBox="1"/>
          <p:nvPr/>
        </p:nvSpPr>
        <p:spPr>
          <a:xfrm>
            <a:off x="6565392" y="328646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05" name="Shape 103"/>
          <p:cNvSpPr/>
          <p:nvPr/>
        </p:nvSpPr>
        <p:spPr>
          <a:xfrm>
            <a:off x="9210663" y="3351233"/>
            <a:ext cx="125361" cy="110352"/>
          </a:xfrm>
          <a:prstGeom prst="rect">
            <a:avLst/>
          </a:prstGeom>
          <a:solidFill>
            <a:srgbClr val="C2352F"/>
          </a:solidFill>
          <a:ln/>
        </p:spPr>
        <p:txBody>
          <a:bodyPr/>
          <a:p/>
        </p:txBody>
      </p:sp>
      <p:sp>
        <p:nvSpPr>
          <p:cNvPr id="106" name="Text 104"/>
          <p:cNvSpPr txBox="1"/>
          <p:nvPr/>
        </p:nvSpPr>
        <p:spPr>
          <a:xfrm>
            <a:off x="10168128" y="328646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−1.0 pts</a:t>
            </a:r>
            <a:endParaRPr lang="en-US" sz="1200" dirty="0"/>
          </a:p>
        </p:txBody>
      </p:sp>
      <p:sp>
        <p:nvSpPr>
          <p:cNvPr id="107" name="Text 105"/>
          <p:cNvSpPr txBox="1"/>
          <p:nvPr/>
        </p:nvSpPr>
        <p:spPr>
          <a:xfrm>
            <a:off x="6208776" y="3526357"/>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08" name="Text 106"/>
          <p:cNvSpPr txBox="1"/>
          <p:nvPr/>
        </p:nvSpPr>
        <p:spPr>
          <a:xfrm>
            <a:off x="6565392" y="3526357"/>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109" name="Shape 107"/>
          <p:cNvSpPr/>
          <p:nvPr/>
        </p:nvSpPr>
        <p:spPr>
          <a:xfrm>
            <a:off x="9047693" y="3591128"/>
            <a:ext cx="288331" cy="110352"/>
          </a:xfrm>
          <a:prstGeom prst="rect">
            <a:avLst/>
          </a:prstGeom>
          <a:solidFill>
            <a:srgbClr val="C2352F"/>
          </a:solidFill>
          <a:ln/>
        </p:spPr>
        <p:txBody>
          <a:bodyPr/>
          <a:p/>
        </p:txBody>
      </p:sp>
      <p:sp>
        <p:nvSpPr>
          <p:cNvPr id="110" name="Text 108"/>
          <p:cNvSpPr txBox="1"/>
          <p:nvPr/>
        </p:nvSpPr>
        <p:spPr>
          <a:xfrm>
            <a:off x="10168128" y="3526357"/>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−2.3 pts</a:t>
            </a:r>
            <a:endParaRPr lang="en-US" sz="1200" dirty="0"/>
          </a:p>
        </p:txBody>
      </p:sp>
      <p:sp>
        <p:nvSpPr>
          <p:cNvPr id="111" name="Text 109"/>
          <p:cNvSpPr txBox="1"/>
          <p:nvPr/>
        </p:nvSpPr>
        <p:spPr>
          <a:xfrm>
            <a:off x="6208776" y="3766252"/>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12" name="Text 110"/>
          <p:cNvSpPr txBox="1"/>
          <p:nvPr/>
        </p:nvSpPr>
        <p:spPr>
          <a:xfrm>
            <a:off x="6565392" y="3766252"/>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13" name="Shape 111"/>
          <p:cNvSpPr/>
          <p:nvPr/>
        </p:nvSpPr>
        <p:spPr>
          <a:xfrm>
            <a:off x="9010085" y="3831024"/>
            <a:ext cx="325939" cy="110352"/>
          </a:xfrm>
          <a:prstGeom prst="rect">
            <a:avLst/>
          </a:prstGeom>
          <a:solidFill>
            <a:srgbClr val="C2352F"/>
          </a:solidFill>
          <a:ln/>
        </p:spPr>
        <p:txBody>
          <a:bodyPr/>
          <a:p/>
        </p:txBody>
      </p:sp>
      <p:sp>
        <p:nvSpPr>
          <p:cNvPr id="114" name="Text 112"/>
          <p:cNvSpPr txBox="1"/>
          <p:nvPr/>
        </p:nvSpPr>
        <p:spPr>
          <a:xfrm>
            <a:off x="10168128" y="3766252"/>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−2.6 pts</a:t>
            </a:r>
            <a:endParaRPr lang="en-US" sz="1200" dirty="0"/>
          </a:p>
        </p:txBody>
      </p:sp>
      <p:sp>
        <p:nvSpPr>
          <p:cNvPr id="115" name="Text 113"/>
          <p:cNvSpPr txBox="1"/>
          <p:nvPr/>
        </p:nvSpPr>
        <p:spPr>
          <a:xfrm>
            <a:off x="6208776" y="4006148"/>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16" name="Text 114"/>
          <p:cNvSpPr txBox="1"/>
          <p:nvPr/>
        </p:nvSpPr>
        <p:spPr>
          <a:xfrm>
            <a:off x="6565392" y="4006148"/>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117" name="Shape 115"/>
          <p:cNvSpPr/>
          <p:nvPr/>
        </p:nvSpPr>
        <p:spPr>
          <a:xfrm>
            <a:off x="8972476" y="4070920"/>
            <a:ext cx="363548" cy="110352"/>
          </a:xfrm>
          <a:prstGeom prst="rect">
            <a:avLst/>
          </a:prstGeom>
          <a:solidFill>
            <a:srgbClr val="C2352F"/>
          </a:solidFill>
          <a:ln/>
        </p:spPr>
        <p:txBody>
          <a:bodyPr/>
          <a:p/>
        </p:txBody>
      </p:sp>
      <p:sp>
        <p:nvSpPr>
          <p:cNvPr id="118" name="Text 116"/>
          <p:cNvSpPr txBox="1"/>
          <p:nvPr/>
        </p:nvSpPr>
        <p:spPr>
          <a:xfrm>
            <a:off x="10168128" y="4006148"/>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−2.9 pts</a:t>
            </a:r>
            <a:endParaRPr lang="en-US" sz="1200" dirty="0"/>
          </a:p>
        </p:txBody>
      </p:sp>
      <p:sp>
        <p:nvSpPr>
          <p:cNvPr id="119" name="Text 117"/>
          <p:cNvSpPr txBox="1"/>
          <p:nvPr/>
        </p:nvSpPr>
        <p:spPr>
          <a:xfrm>
            <a:off x="6208776" y="4246043"/>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20" name="Text 118"/>
          <p:cNvSpPr txBox="1"/>
          <p:nvPr/>
        </p:nvSpPr>
        <p:spPr>
          <a:xfrm>
            <a:off x="6565392" y="4246043"/>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21" name="Shape 119"/>
          <p:cNvSpPr/>
          <p:nvPr/>
        </p:nvSpPr>
        <p:spPr>
          <a:xfrm>
            <a:off x="8972476" y="4310815"/>
            <a:ext cx="363548" cy="110352"/>
          </a:xfrm>
          <a:prstGeom prst="rect">
            <a:avLst/>
          </a:prstGeom>
          <a:solidFill>
            <a:srgbClr val="C2352F"/>
          </a:solidFill>
          <a:ln/>
        </p:spPr>
        <p:txBody>
          <a:bodyPr/>
          <a:p/>
        </p:txBody>
      </p:sp>
      <p:sp>
        <p:nvSpPr>
          <p:cNvPr id="122" name="Text 120"/>
          <p:cNvSpPr txBox="1"/>
          <p:nvPr/>
        </p:nvSpPr>
        <p:spPr>
          <a:xfrm>
            <a:off x="10168128" y="4246043"/>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−2.9 pts</a:t>
            </a:r>
            <a:endParaRPr lang="en-US" sz="1200" dirty="0"/>
          </a:p>
        </p:txBody>
      </p:sp>
      <p:sp>
        <p:nvSpPr>
          <p:cNvPr id="123" name="Text 121"/>
          <p:cNvSpPr txBox="1"/>
          <p:nvPr/>
        </p:nvSpPr>
        <p:spPr>
          <a:xfrm>
            <a:off x="6208776" y="4485939"/>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24" name="Text 122"/>
          <p:cNvSpPr txBox="1"/>
          <p:nvPr/>
        </p:nvSpPr>
        <p:spPr>
          <a:xfrm>
            <a:off x="6565392" y="4485939"/>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25" name="Shape 123"/>
          <p:cNvSpPr/>
          <p:nvPr/>
        </p:nvSpPr>
        <p:spPr>
          <a:xfrm>
            <a:off x="8959940" y="4550711"/>
            <a:ext cx="376084" cy="110352"/>
          </a:xfrm>
          <a:prstGeom prst="rect">
            <a:avLst/>
          </a:prstGeom>
          <a:solidFill>
            <a:srgbClr val="C2352F"/>
          </a:solidFill>
          <a:ln/>
        </p:spPr>
        <p:txBody>
          <a:bodyPr/>
          <a:p/>
        </p:txBody>
      </p:sp>
      <p:sp>
        <p:nvSpPr>
          <p:cNvPr id="126" name="Text 124"/>
          <p:cNvSpPr txBox="1"/>
          <p:nvPr/>
        </p:nvSpPr>
        <p:spPr>
          <a:xfrm>
            <a:off x="10168128" y="4485939"/>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−3.0 pts</a:t>
            </a:r>
            <a:endParaRPr lang="en-US" sz="1200" dirty="0"/>
          </a:p>
        </p:txBody>
      </p:sp>
      <p:sp>
        <p:nvSpPr>
          <p:cNvPr id="127" name="Text 125"/>
          <p:cNvSpPr txBox="1"/>
          <p:nvPr/>
        </p:nvSpPr>
        <p:spPr>
          <a:xfrm>
            <a:off x="6208776" y="4725834"/>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28" name="Text 126"/>
          <p:cNvSpPr txBox="1"/>
          <p:nvPr/>
        </p:nvSpPr>
        <p:spPr>
          <a:xfrm>
            <a:off x="6565392" y="4725834"/>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129" name="Shape 127"/>
          <p:cNvSpPr/>
          <p:nvPr/>
        </p:nvSpPr>
        <p:spPr>
          <a:xfrm>
            <a:off x="8872187" y="4790606"/>
            <a:ext cx="463837" cy="110352"/>
          </a:xfrm>
          <a:prstGeom prst="rect">
            <a:avLst/>
          </a:prstGeom>
          <a:solidFill>
            <a:srgbClr val="C2352F"/>
          </a:solidFill>
          <a:ln/>
        </p:spPr>
        <p:txBody>
          <a:bodyPr/>
          <a:p/>
        </p:txBody>
      </p:sp>
      <p:sp>
        <p:nvSpPr>
          <p:cNvPr id="130" name="Text 128"/>
          <p:cNvSpPr txBox="1"/>
          <p:nvPr/>
        </p:nvSpPr>
        <p:spPr>
          <a:xfrm>
            <a:off x="10168128" y="4725834"/>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−3.7 pts</a:t>
            </a:r>
            <a:endParaRPr lang="en-US" sz="1200" dirty="0"/>
          </a:p>
        </p:txBody>
      </p:sp>
      <p:sp>
        <p:nvSpPr>
          <p:cNvPr id="131" name="Text 129"/>
          <p:cNvSpPr txBox="1"/>
          <p:nvPr/>
        </p:nvSpPr>
        <p:spPr>
          <a:xfrm>
            <a:off x="6208776" y="4965730"/>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32" name="Text 130"/>
          <p:cNvSpPr txBox="1"/>
          <p:nvPr/>
        </p:nvSpPr>
        <p:spPr>
          <a:xfrm>
            <a:off x="6565392" y="4965730"/>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133" name="Shape 131"/>
          <p:cNvSpPr/>
          <p:nvPr/>
        </p:nvSpPr>
        <p:spPr>
          <a:xfrm>
            <a:off x="8872187" y="5030502"/>
            <a:ext cx="463837" cy="110352"/>
          </a:xfrm>
          <a:prstGeom prst="rect">
            <a:avLst/>
          </a:prstGeom>
          <a:solidFill>
            <a:srgbClr val="C2352F"/>
          </a:solidFill>
          <a:ln/>
        </p:spPr>
        <p:txBody>
          <a:bodyPr/>
          <a:p/>
        </p:txBody>
      </p:sp>
      <p:sp>
        <p:nvSpPr>
          <p:cNvPr id="134" name="Text 132"/>
          <p:cNvSpPr txBox="1"/>
          <p:nvPr/>
        </p:nvSpPr>
        <p:spPr>
          <a:xfrm>
            <a:off x="10168128" y="4965730"/>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−3.7 pts</a:t>
            </a:r>
            <a:endParaRPr lang="en-US" sz="1200" dirty="0"/>
          </a:p>
        </p:txBody>
      </p:sp>
      <p:sp>
        <p:nvSpPr>
          <p:cNvPr id="135" name="Text 133"/>
          <p:cNvSpPr txBox="1"/>
          <p:nvPr/>
        </p:nvSpPr>
        <p:spPr>
          <a:xfrm>
            <a:off x="6208776" y="5205625"/>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36" name="Text 134"/>
          <p:cNvSpPr txBox="1"/>
          <p:nvPr/>
        </p:nvSpPr>
        <p:spPr>
          <a:xfrm>
            <a:off x="6565392" y="5205625"/>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137" name="Shape 135"/>
          <p:cNvSpPr/>
          <p:nvPr/>
        </p:nvSpPr>
        <p:spPr>
          <a:xfrm>
            <a:off x="8759362" y="5270397"/>
            <a:ext cx="576662" cy="110352"/>
          </a:xfrm>
          <a:prstGeom prst="rect">
            <a:avLst/>
          </a:prstGeom>
          <a:solidFill>
            <a:srgbClr val="C2352F"/>
          </a:solidFill>
          <a:ln/>
        </p:spPr>
        <p:txBody>
          <a:bodyPr/>
          <a:p/>
        </p:txBody>
      </p:sp>
      <p:sp>
        <p:nvSpPr>
          <p:cNvPr id="138" name="Text 136"/>
          <p:cNvSpPr txBox="1"/>
          <p:nvPr/>
        </p:nvSpPr>
        <p:spPr>
          <a:xfrm>
            <a:off x="10168128" y="5205625"/>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−4.6 pts</a:t>
            </a:r>
            <a:endParaRPr lang="en-US" sz="1200" dirty="0"/>
          </a:p>
        </p:txBody>
      </p:sp>
      <p:sp>
        <p:nvSpPr>
          <p:cNvPr id="139" name="Text 137"/>
          <p:cNvSpPr txBox="1"/>
          <p:nvPr/>
        </p:nvSpPr>
        <p:spPr>
          <a:xfrm>
            <a:off x="6208776" y="5445521"/>
            <a:ext cx="310896" cy="239896"/>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140" name="Text 138"/>
          <p:cNvSpPr txBox="1"/>
          <p:nvPr/>
        </p:nvSpPr>
        <p:spPr>
          <a:xfrm>
            <a:off x="6565392" y="5445521"/>
            <a:ext cx="1920240" cy="239896"/>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41" name="Shape 139"/>
          <p:cNvSpPr/>
          <p:nvPr/>
        </p:nvSpPr>
        <p:spPr>
          <a:xfrm>
            <a:off x="8734290" y="5510293"/>
            <a:ext cx="601734" cy="110352"/>
          </a:xfrm>
          <a:prstGeom prst="rect">
            <a:avLst/>
          </a:prstGeom>
          <a:solidFill>
            <a:srgbClr val="C2352F"/>
          </a:solidFill>
          <a:ln/>
        </p:spPr>
        <p:txBody>
          <a:bodyPr/>
          <a:p/>
        </p:txBody>
      </p:sp>
      <p:sp>
        <p:nvSpPr>
          <p:cNvPr id="142" name="Text 140"/>
          <p:cNvSpPr txBox="1"/>
          <p:nvPr/>
        </p:nvSpPr>
        <p:spPr>
          <a:xfrm>
            <a:off x="10168128" y="5445521"/>
            <a:ext cx="1234440" cy="239896"/>
          </a:xfrm>
          <a:prstGeom prst="rect">
            <a:avLst/>
          </a:prstGeom>
          <a:noFill/>
          <a:ln/>
        </p:spPr>
        <p:txBody>
          <a:bodyPr wrap="square" lIns="0" tIns="0" rIns="0" bIns="0" rtlCol="0" anchor="ctr"/>
          <a:lstStyle/>
          <a:p>
            <a:pPr algn="r" indent="0" marL="0">
              <a:buNone/>
            </a:pPr>
            <a:r>
              <a:rPr lang="en-US" sz="1200" b="1" dirty="0">
                <a:solidFill>
                  <a:srgbClr val="A82B26"/>
                </a:solidFill>
                <a:latin typeface="Inter" pitchFamily="34" charset="0"/>
                <a:ea typeface="Inter" pitchFamily="34" charset="-122"/>
                <a:cs typeface="Inter" pitchFamily="34" charset="-120"/>
              </a:rPr>
              <a:t>−4.8 pts</a:t>
            </a:r>
            <a:endParaRPr lang="en-US" sz="1200" dirty="0"/>
          </a:p>
        </p:txBody>
      </p:sp>
      <p:sp>
        <p:nvSpPr>
          <p:cNvPr id="143" name="Shape 141"/>
          <p:cNvSpPr/>
          <p:nvPr/>
        </p:nvSpPr>
        <p:spPr>
          <a:xfrm>
            <a:off x="3780130" y="1847088"/>
            <a:ext cx="10973" cy="4078224"/>
          </a:xfrm>
          <a:prstGeom prst="rect">
            <a:avLst/>
          </a:prstGeom>
          <a:solidFill>
            <a:srgbClr val="9AA3AD"/>
          </a:solidFill>
          <a:ln/>
        </p:spPr>
        <p:txBody>
          <a:bodyPr/>
          <a:p/>
        </p:txBody>
      </p:sp>
      <p:sp>
        <p:nvSpPr>
          <p:cNvPr id="144" name="Shape 142"/>
          <p:cNvSpPr/>
          <p:nvPr/>
        </p:nvSpPr>
        <p:spPr>
          <a:xfrm>
            <a:off x="9330538" y="1847088"/>
            <a:ext cx="10973" cy="4078224"/>
          </a:xfrm>
          <a:prstGeom prst="rect">
            <a:avLst/>
          </a:prstGeom>
          <a:solidFill>
            <a:srgbClr val="9AA3AD"/>
          </a:solidFill>
          <a:ln/>
        </p:spPr>
        <p:txBody>
          <a:bodyPr/>
          <a:p/>
        </p:txBody>
      </p:sp>
      <p:sp>
        <p:nvSpPr>
          <p:cNvPr id="145" name="Shape 143"/>
          <p:cNvSpPr/>
          <p:nvPr/>
        </p:nvSpPr>
        <p:spPr>
          <a:xfrm>
            <a:off x="6085332" y="1847088"/>
            <a:ext cx="10973" cy="4078224"/>
          </a:xfrm>
          <a:prstGeom prst="rect">
            <a:avLst/>
          </a:prstGeom>
          <a:solidFill>
            <a:srgbClr val="D9D9D9"/>
          </a:solidFill>
          <a:ln/>
        </p:spPr>
        <p:txBody>
          <a:bodyPr/>
          <a:p/>
        </p:txBody>
      </p:sp>
      <p:sp>
        <p:nvSpPr>
          <p:cNvPr id="147" name="Shape 144"/>
          <p:cNvSpPr/>
          <p:nvPr/>
        </p:nvSpPr>
        <p:spPr>
          <a:xfrm>
            <a:off x="457200" y="6126480"/>
            <a:ext cx="11274552" cy="371856"/>
          </a:xfrm>
          <a:prstGeom prst="rect">
            <a:avLst/>
          </a:prstGeom>
          <a:solidFill>
            <a:srgbClr val="E6F6EE"/>
          </a:solidFill>
          <a:ln/>
        </p:spPr>
        <p:txBody>
          <a:bodyPr/>
          <a:p/>
        </p:txBody>
      </p:sp>
      <p:sp>
        <p:nvSpPr>
          <p:cNvPr id="148" name="Text 14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21 of 33 stores raised internal parts GP%. 12 declined.</a:t>
            </a:r>
            <a:endParaRPr lang="en-US" sz="1600" dirty="0"/>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Parts Gross Profit %</a:t>
            </a:r>
            <a:endParaRPr lang="en-US" sz="2800" dirty="0"/>
          </a:p>
        </p:txBody>
      </p:sp>
      <p:sp>
        <p:nvSpPr>
          <p:cNvPr id="5" name="Shape 3"/>
          <p:cNvSpPr/>
          <p:nvPr/>
        </p:nvSpPr>
        <p:spPr>
          <a:xfrm>
            <a:off x="457200" y="1207008"/>
            <a:ext cx="11274552" cy="5148072"/>
          </a:xfrm>
          <a:prstGeom prst="rect">
            <a:avLst/>
          </a:prstGeom>
          <a:solidFill>
            <a:srgbClr val="FFFFFF"/>
          </a:solidFill>
          <a:ln/>
        </p:spPr>
        <p:txBody>
          <a:bodyPr/>
          <a:p/>
        </p:txBody>
      </p:sp>
      <p:sp>
        <p:nvSpPr>
          <p:cNvPr id="6" name="Shape 4"/>
          <p:cNvSpPr/>
          <p:nvPr/>
        </p:nvSpPr>
        <p:spPr>
          <a:xfrm>
            <a:off x="658368" y="1371600"/>
            <a:ext cx="3489960" cy="45720"/>
          </a:xfrm>
          <a:prstGeom prst="rect">
            <a:avLst/>
          </a:prstGeom>
          <a:solidFill>
            <a:srgbClr val="12A566"/>
          </a:solidFill>
          <a:ln/>
        </p:spPr>
        <p:txBody>
          <a:bodyPr/>
          <a:p/>
        </p:txBody>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txBody>
          <a:bodyPr/>
          <a:p/>
        </p:txBody>
      </p:sp>
      <p:sp>
        <p:nvSpPr>
          <p:cNvPr id="10" name="Shape 8"/>
          <p:cNvSpPr/>
          <p:nvPr/>
        </p:nvSpPr>
        <p:spPr>
          <a:xfrm>
            <a:off x="4084320" y="2139696"/>
            <a:ext cx="64008" cy="755294"/>
          </a:xfrm>
          <a:prstGeom prst="rect">
            <a:avLst/>
          </a:prstGeom>
          <a:solidFill>
            <a:srgbClr val="12A566"/>
          </a:solidFill>
          <a:ln/>
        </p:spPr>
        <p:txBody>
          <a:bodyPr/>
          <a:p/>
        </p:txBody>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34.0%</a:t>
            </a:r>
            <a:endParaRPr lang="en-US" sz="1400" dirty="0"/>
          </a:p>
        </p:txBody>
      </p:sp>
      <p:sp>
        <p:nvSpPr>
          <p:cNvPr id="13" name="Text 11"/>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+6.2 pts</a:t>
            </a:r>
            <a:endParaRPr lang="en-US" sz="1600" dirty="0"/>
          </a:p>
        </p:txBody>
      </p:sp>
      <p:sp>
        <p:nvSpPr>
          <p:cNvPr id="14" name="Text 12"/>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33.4%</a:t>
            </a:r>
            <a:endParaRPr lang="en-US" sz="1400" dirty="0"/>
          </a:p>
        </p:txBody>
      </p:sp>
      <p:sp>
        <p:nvSpPr>
          <p:cNvPr id="16" name="Text 14"/>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+6.0 pts</a:t>
            </a:r>
            <a:endParaRPr lang="en-US" sz="1600" dirty="0"/>
          </a:p>
        </p:txBody>
      </p:sp>
      <p:sp>
        <p:nvSpPr>
          <p:cNvPr id="17" name="Shape 15"/>
          <p:cNvSpPr/>
          <p:nvPr/>
        </p:nvSpPr>
        <p:spPr>
          <a:xfrm>
            <a:off x="658368" y="3760013"/>
            <a:ext cx="3489960" cy="828446"/>
          </a:xfrm>
          <a:prstGeom prst="rect">
            <a:avLst/>
          </a:prstGeom>
          <a:solidFill>
            <a:srgbClr val="F7F7F7"/>
          </a:solidFill>
          <a:ln/>
        </p:spPr>
        <p:txBody>
          <a:bodyPr/>
          <a:p/>
        </p:txBody>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25.3%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29.7%</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+4.4 pts</a:t>
            </a:r>
            <a:endParaRPr lang="en-US" sz="1600" dirty="0"/>
          </a:p>
        </p:txBody>
      </p:sp>
      <p:sp>
        <p:nvSpPr>
          <p:cNvPr id="21" name="Shape 19"/>
          <p:cNvSpPr/>
          <p:nvPr/>
        </p:nvSpPr>
        <p:spPr>
          <a:xfrm>
            <a:off x="4084320" y="4625035"/>
            <a:ext cx="64008" cy="755294"/>
          </a:xfrm>
          <a:prstGeom prst="rect">
            <a:avLst/>
          </a:prstGeom>
          <a:solidFill>
            <a:srgbClr val="12A566"/>
          </a:solidFill>
          <a:ln/>
        </p:spPr>
        <p:txBody>
          <a:bodyPr/>
          <a:p/>
        </p:txBody>
      </p:sp>
      <p:sp>
        <p:nvSpPr>
          <p:cNvPr id="22" name="Text 20"/>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3" name="Text 21"/>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45.1%</a:t>
            </a:r>
            <a:endParaRPr lang="en-US" sz="1400" dirty="0"/>
          </a:p>
        </p:txBody>
      </p:sp>
      <p:sp>
        <p:nvSpPr>
          <p:cNvPr id="24" name="Text 22"/>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25" name="Shape 23"/>
          <p:cNvSpPr/>
          <p:nvPr/>
        </p:nvSpPr>
        <p:spPr>
          <a:xfrm>
            <a:off x="658368" y="5416906"/>
            <a:ext cx="3489960" cy="828446"/>
          </a:xfrm>
          <a:prstGeom prst="rect">
            <a:avLst/>
          </a:prstGeom>
          <a:solidFill>
            <a:srgbClr val="F7F7F7"/>
          </a:solidFill>
          <a:ln/>
        </p:spPr>
        <p:txBody>
          <a:bodyPr/>
          <a:p/>
        </p:txBody>
      </p:sp>
      <p:sp>
        <p:nvSpPr>
          <p:cNvPr id="26" name="Text 24"/>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7" name="Text 25"/>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23.5%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26.8%</a:t>
            </a:r>
            <a:endParaRPr lang="en-US" sz="1400" dirty="0"/>
          </a:p>
        </p:txBody>
      </p:sp>
      <p:sp>
        <p:nvSpPr>
          <p:cNvPr id="28" name="Text 26"/>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+3.3 pts</a:t>
            </a:r>
            <a:endParaRPr lang="en-US" sz="1600" dirty="0"/>
          </a:p>
        </p:txBody>
      </p:sp>
      <p:sp>
        <p:nvSpPr>
          <p:cNvPr id="29" name="Shape 27"/>
          <p:cNvSpPr/>
          <p:nvPr/>
        </p:nvSpPr>
        <p:spPr>
          <a:xfrm>
            <a:off x="4349496" y="1371600"/>
            <a:ext cx="3489960" cy="45720"/>
          </a:xfrm>
          <a:prstGeom prst="rect">
            <a:avLst/>
          </a:prstGeom>
          <a:solidFill>
            <a:srgbClr val="C2352F"/>
          </a:solidFill>
          <a:ln/>
        </p:spPr>
        <p:txBody>
          <a:bodyPr/>
          <a:p/>
        </p:txBody>
      </p:sp>
      <p:sp>
        <p:nvSpPr>
          <p:cNvPr id="30" name="Text 28"/>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1" name="Text 29"/>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2" name="Shape 30"/>
          <p:cNvSpPr/>
          <p:nvPr/>
        </p:nvSpPr>
        <p:spPr>
          <a:xfrm>
            <a:off x="4349496" y="2103120"/>
            <a:ext cx="3489960" cy="828446"/>
          </a:xfrm>
          <a:prstGeom prst="rect">
            <a:avLst/>
          </a:prstGeom>
          <a:solidFill>
            <a:srgbClr val="F7F7F7"/>
          </a:solidFill>
          <a:ln/>
        </p:spPr>
        <p:txBody>
          <a:bodyPr/>
          <a:p/>
        </p:txBody>
      </p:sp>
      <p:sp>
        <p:nvSpPr>
          <p:cNvPr id="33" name="Text 31"/>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4" name="Text 32"/>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36.5%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31.7%</a:t>
            </a:r>
            <a:endParaRPr lang="en-US" sz="1400" dirty="0"/>
          </a:p>
        </p:txBody>
      </p:sp>
      <p:sp>
        <p:nvSpPr>
          <p:cNvPr id="35" name="Text 33"/>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−4.8 pts</a:t>
            </a:r>
            <a:endParaRPr lang="en-US" sz="1600" dirty="0"/>
          </a:p>
        </p:txBody>
      </p:sp>
      <p:sp>
        <p:nvSpPr>
          <p:cNvPr id="36" name="Text 34"/>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7" name="Text 35"/>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37.1%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32.5%</a:t>
            </a:r>
            <a:endParaRPr lang="en-US" sz="1400" dirty="0"/>
          </a:p>
        </p:txBody>
      </p:sp>
      <p:sp>
        <p:nvSpPr>
          <p:cNvPr id="38" name="Text 36"/>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−4.6 pts</a:t>
            </a:r>
            <a:endParaRPr lang="en-US" sz="1600" dirty="0"/>
          </a:p>
        </p:txBody>
      </p:sp>
      <p:sp>
        <p:nvSpPr>
          <p:cNvPr id="39" name="Shape 37"/>
          <p:cNvSpPr/>
          <p:nvPr/>
        </p:nvSpPr>
        <p:spPr>
          <a:xfrm>
            <a:off x="4349496" y="3760013"/>
            <a:ext cx="3489960" cy="828446"/>
          </a:xfrm>
          <a:prstGeom prst="rect">
            <a:avLst/>
          </a:prstGeom>
          <a:solidFill>
            <a:srgbClr val="F7F7F7"/>
          </a:solidFill>
          <a:ln/>
        </p:spPr>
        <p:txBody>
          <a:bodyPr/>
          <a:p/>
        </p:txBody>
      </p:sp>
      <p:sp>
        <p:nvSpPr>
          <p:cNvPr id="40" name="Text 38"/>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1" name="Text 39"/>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35.0%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31.3%</a:t>
            </a:r>
            <a:endParaRPr lang="en-US" sz="1400" dirty="0"/>
          </a:p>
        </p:txBody>
      </p:sp>
      <p:sp>
        <p:nvSpPr>
          <p:cNvPr id="42" name="Text 40"/>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−3.7 pts</a:t>
            </a:r>
            <a:endParaRPr lang="en-US" sz="1600" dirty="0"/>
          </a:p>
        </p:txBody>
      </p:sp>
      <p:sp>
        <p:nvSpPr>
          <p:cNvPr id="43" name="Text 41"/>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4" name="Text 42"/>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28.9%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25.2%</a:t>
            </a:r>
            <a:endParaRPr lang="en-US" sz="1400" dirty="0"/>
          </a:p>
        </p:txBody>
      </p:sp>
      <p:sp>
        <p:nvSpPr>
          <p:cNvPr id="45" name="Text 43"/>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−3.7 pts</a:t>
            </a:r>
            <a:endParaRPr lang="en-US" sz="1600" dirty="0"/>
          </a:p>
        </p:txBody>
      </p:sp>
      <p:sp>
        <p:nvSpPr>
          <p:cNvPr id="46" name="Shape 44"/>
          <p:cNvSpPr/>
          <p:nvPr/>
        </p:nvSpPr>
        <p:spPr>
          <a:xfrm>
            <a:off x="4349496" y="5416906"/>
            <a:ext cx="3489960" cy="828446"/>
          </a:xfrm>
          <a:prstGeom prst="rect">
            <a:avLst/>
          </a:prstGeom>
          <a:solidFill>
            <a:srgbClr val="F7F7F7"/>
          </a:solidFill>
          <a:ln/>
        </p:spPr>
        <p:txBody>
          <a:bodyPr/>
          <a:p/>
        </p:txBody>
      </p:sp>
      <p:sp>
        <p:nvSpPr>
          <p:cNvPr id="47" name="Text 45"/>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8" name="Text 46"/>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33.8%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30.8%</a:t>
            </a:r>
            <a:endParaRPr lang="en-US" sz="1400" dirty="0"/>
          </a:p>
        </p:txBody>
      </p:sp>
      <p:sp>
        <p:nvSpPr>
          <p:cNvPr id="49" name="Text 47"/>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−3.0 pts</a:t>
            </a:r>
            <a:endParaRPr lang="en-US" sz="1600" dirty="0"/>
          </a:p>
        </p:txBody>
      </p:sp>
      <p:sp>
        <p:nvSpPr>
          <p:cNvPr id="50" name="Shape 48"/>
          <p:cNvSpPr/>
          <p:nvPr/>
        </p:nvSpPr>
        <p:spPr>
          <a:xfrm>
            <a:off x="8040624" y="1371600"/>
            <a:ext cx="3489960" cy="45720"/>
          </a:xfrm>
          <a:prstGeom prst="rect">
            <a:avLst/>
          </a:prstGeom>
          <a:solidFill>
            <a:srgbClr val="2587C5"/>
          </a:solidFill>
          <a:ln/>
        </p:spPr>
        <p:txBody>
          <a:bodyPr/>
          <a:p/>
        </p:txBody>
      </p:sp>
      <p:sp>
        <p:nvSpPr>
          <p:cNvPr id="51" name="Text 4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2" name="Text 50"/>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53" name="Shape 51"/>
          <p:cNvSpPr/>
          <p:nvPr/>
        </p:nvSpPr>
        <p:spPr>
          <a:xfrm>
            <a:off x="8040624" y="2103120"/>
            <a:ext cx="3489960" cy="828446"/>
          </a:xfrm>
          <a:prstGeom prst="rect">
            <a:avLst/>
          </a:prstGeom>
          <a:solidFill>
            <a:srgbClr val="F7F7F7"/>
          </a:solidFill>
          <a:ln/>
        </p:spPr>
        <p:txBody>
          <a:bodyPr/>
          <a:p/>
        </p:txBody>
      </p:sp>
      <p:sp>
        <p:nvSpPr>
          <p:cNvPr id="54" name="Text 52"/>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5" name="Text 53"/>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34.8%</a:t>
            </a:r>
            <a:endParaRPr lang="en-US" sz="1400" dirty="0"/>
          </a:p>
        </p:txBody>
      </p:sp>
      <p:sp>
        <p:nvSpPr>
          <p:cNvPr id="56" name="Text 54"/>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+12.0 pts</a:t>
            </a:r>
            <a:endParaRPr lang="en-US" sz="1600" dirty="0"/>
          </a:p>
        </p:txBody>
      </p:sp>
      <p:sp>
        <p:nvSpPr>
          <p:cNvPr id="57" name="Text 55"/>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58" name="Text 56"/>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20.2%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26.4%</a:t>
            </a:r>
            <a:endParaRPr lang="en-US" sz="1400" dirty="0"/>
          </a:p>
        </p:txBody>
      </p:sp>
      <p:sp>
        <p:nvSpPr>
          <p:cNvPr id="59" name="Text 57"/>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+6.2 pts</a:t>
            </a:r>
            <a:endParaRPr lang="en-US" sz="1600" dirty="0"/>
          </a:p>
        </p:txBody>
      </p:sp>
      <p:sp>
        <p:nvSpPr>
          <p:cNvPr id="60" name="Shape 58"/>
          <p:cNvSpPr/>
          <p:nvPr/>
        </p:nvSpPr>
        <p:spPr>
          <a:xfrm>
            <a:off x="8040624" y="3760013"/>
            <a:ext cx="3489960" cy="828446"/>
          </a:xfrm>
          <a:prstGeom prst="rect">
            <a:avLst/>
          </a:prstGeom>
          <a:solidFill>
            <a:srgbClr val="F7F7F7"/>
          </a:solidFill>
          <a:ln/>
        </p:spPr>
        <p:txBody>
          <a:bodyPr/>
          <a:p/>
        </p:txBody>
      </p:sp>
      <p:sp>
        <p:nvSpPr>
          <p:cNvPr id="61" name="Text 59"/>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2" name="Text 60"/>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31.5%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35.6%</a:t>
            </a:r>
            <a:endParaRPr lang="en-US" sz="1400" dirty="0"/>
          </a:p>
        </p:txBody>
      </p:sp>
      <p:sp>
        <p:nvSpPr>
          <p:cNvPr id="63" name="Text 61"/>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+4.1 pts</a:t>
            </a:r>
            <a:endParaRPr lang="en-US" sz="1600" dirty="0"/>
          </a:p>
        </p:txBody>
      </p:sp>
      <p:sp>
        <p:nvSpPr>
          <p:cNvPr id="64" name="Shape 62"/>
          <p:cNvSpPr/>
          <p:nvPr/>
        </p:nvSpPr>
        <p:spPr>
          <a:xfrm>
            <a:off x="11466576" y="4625035"/>
            <a:ext cx="64008" cy="755294"/>
          </a:xfrm>
          <a:prstGeom prst="rect">
            <a:avLst/>
          </a:prstGeom>
          <a:solidFill>
            <a:srgbClr val="12A566"/>
          </a:solidFill>
          <a:ln/>
        </p:spPr>
        <p:txBody>
          <a:bodyPr/>
          <a:p/>
        </p:txBody>
      </p:sp>
      <p:sp>
        <p:nvSpPr>
          <p:cNvPr id="65" name="Text 63"/>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6" name="Text 64"/>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34.5%</a:t>
            </a:r>
            <a:endParaRPr lang="en-US" sz="1400" dirty="0"/>
          </a:p>
        </p:txBody>
      </p:sp>
      <p:sp>
        <p:nvSpPr>
          <p:cNvPr id="67" name="Text 65"/>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+3.2 pts</a:t>
            </a:r>
            <a:endParaRPr lang="en-US" sz="1600" dirty="0"/>
          </a:p>
        </p:txBody>
      </p:sp>
      <p:sp>
        <p:nvSpPr>
          <p:cNvPr id="68" name="Shape 66"/>
          <p:cNvSpPr/>
          <p:nvPr/>
        </p:nvSpPr>
        <p:spPr>
          <a:xfrm>
            <a:off x="8040624" y="5416906"/>
            <a:ext cx="3489960" cy="828446"/>
          </a:xfrm>
          <a:prstGeom prst="rect">
            <a:avLst/>
          </a:prstGeom>
          <a:solidFill>
            <a:srgbClr val="F7F7F7"/>
          </a:solidFill>
          <a:ln/>
        </p:spPr>
        <p:txBody>
          <a:bodyPr/>
          <a:p/>
        </p:txBody>
      </p:sp>
      <p:sp>
        <p:nvSpPr>
          <p:cNvPr id="69" name="Shape 67"/>
          <p:cNvSpPr/>
          <p:nvPr/>
        </p:nvSpPr>
        <p:spPr>
          <a:xfrm>
            <a:off x="11466576" y="5453482"/>
            <a:ext cx="64008" cy="755294"/>
          </a:xfrm>
          <a:prstGeom prst="rect">
            <a:avLst/>
          </a:prstGeom>
          <a:solidFill>
            <a:srgbClr val="12A566"/>
          </a:solidFill>
          <a:ln/>
        </p:spPr>
        <p:txBody>
          <a:bodyPr/>
          <a:p/>
        </p:txBody>
      </p:sp>
      <p:sp>
        <p:nvSpPr>
          <p:cNvPr id="70" name="Text 68"/>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1" name="Text 69"/>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42.0%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44.7%</a:t>
            </a:r>
            <a:endParaRPr lang="en-US" sz="1400" dirty="0"/>
          </a:p>
        </p:txBody>
      </p:sp>
      <p:sp>
        <p:nvSpPr>
          <p:cNvPr id="72" name="Text 70"/>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+2.7 pts</a:t>
            </a:r>
            <a:endParaRPr lang="en-US" sz="1600" dirty="0"/>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Proficiency Opportunity by Store</a:t>
            </a:r>
            <a:endParaRPr lang="en-US" sz="2800" dirty="0"/>
          </a:p>
        </p:txBody>
      </p:sp>
      <p:sp>
        <p:nvSpPr>
          <p:cNvPr id="5" name="Shape 3"/>
          <p:cNvSpPr/>
          <p:nvPr/>
        </p:nvSpPr>
        <p:spPr>
          <a:xfrm>
            <a:off x="457200" y="1207008"/>
            <a:ext cx="11274552" cy="4782312"/>
          </a:xfrm>
          <a:prstGeom prst="rect">
            <a:avLst/>
          </a:prstGeom>
          <a:solidFill>
            <a:srgbClr val="FFFFFF"/>
          </a:solidFill>
          <a:ln/>
        </p:spPr>
        <p:txBody>
          <a:bodyPr/>
          <a:p/>
        </p:txBody>
      </p:sp>
      <p:sp>
        <p:nvSpPr>
          <p:cNvPr id="6" name="Text 4"/>
          <p:cNvSpPr txBox="1"/>
          <p:nvPr/>
        </p:nvSpPr>
        <p:spPr>
          <a:xfrm>
            <a:off x="3520440"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mo</a:t>
            </a:r>
            <a:endParaRPr lang="en-US" sz="1400" dirty="0"/>
          </a:p>
        </p:txBody>
      </p:sp>
      <p:sp>
        <p:nvSpPr>
          <p:cNvPr id="7" name="Text 5"/>
          <p:cNvSpPr txBox="1"/>
          <p:nvPr/>
        </p:nvSpPr>
        <p:spPr>
          <a:xfrm>
            <a:off x="4306824" y="1316736"/>
            <a:ext cx="93268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Under 85%</a:t>
            </a:r>
            <a:endParaRPr lang="en-US" sz="1400" dirty="0"/>
          </a:p>
        </p:txBody>
      </p:sp>
      <p:sp>
        <p:nvSpPr>
          <p:cNvPr id="8" name="Text 6"/>
          <p:cNvSpPr txBox="1"/>
          <p:nvPr/>
        </p:nvSpPr>
        <p:spPr>
          <a:xfrm>
            <a:off x="5239512" y="1316736"/>
            <a:ext cx="67665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Store</a:t>
            </a:r>
            <a:endParaRPr lang="en-US" sz="1400" dirty="0"/>
          </a:p>
        </p:txBody>
      </p:sp>
      <p:sp>
        <p:nvSpPr>
          <p:cNvPr id="9" name="Text 7"/>
          <p:cNvSpPr txBox="1"/>
          <p:nvPr/>
        </p:nvSpPr>
        <p:spPr>
          <a:xfrm>
            <a:off x="9070848"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Per mo</a:t>
            </a:r>
            <a:endParaRPr lang="en-US" sz="1400" dirty="0"/>
          </a:p>
        </p:txBody>
      </p:sp>
      <p:sp>
        <p:nvSpPr>
          <p:cNvPr id="10" name="Text 8"/>
          <p:cNvSpPr txBox="1"/>
          <p:nvPr/>
        </p:nvSpPr>
        <p:spPr>
          <a:xfrm>
            <a:off x="9857232" y="1316736"/>
            <a:ext cx="93268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Under 85%</a:t>
            </a:r>
            <a:endParaRPr lang="en-US" sz="1400" dirty="0"/>
          </a:p>
        </p:txBody>
      </p:sp>
      <p:sp>
        <p:nvSpPr>
          <p:cNvPr id="11" name="Text 9"/>
          <p:cNvSpPr txBox="1"/>
          <p:nvPr/>
        </p:nvSpPr>
        <p:spPr>
          <a:xfrm>
            <a:off x="10789920" y="1316736"/>
            <a:ext cx="676656"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Store</a:t>
            </a:r>
            <a:endParaRPr lang="en-US" sz="1400" dirty="0"/>
          </a:p>
        </p:txBody>
      </p:sp>
      <p:sp>
        <p:nvSpPr>
          <p:cNvPr id="12" name="Text 10"/>
          <p:cNvSpPr txBox="1"/>
          <p:nvPr/>
        </p:nvSpPr>
        <p:spPr>
          <a:xfrm>
            <a:off x="658368"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a:t>
            </a:r>
            <a:endParaRPr lang="en-US" sz="1200" dirty="0"/>
          </a:p>
        </p:txBody>
      </p:sp>
      <p:sp>
        <p:nvSpPr>
          <p:cNvPr id="13" name="Text 11"/>
          <p:cNvSpPr txBox="1"/>
          <p:nvPr/>
        </p:nvSpPr>
        <p:spPr>
          <a:xfrm>
            <a:off x="1014984"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CADILLAC</a:t>
            </a:r>
            <a:endParaRPr lang="en-US" sz="1200" dirty="0"/>
          </a:p>
        </p:txBody>
      </p:sp>
      <p:sp>
        <p:nvSpPr>
          <p:cNvPr id="14" name="Shape 12"/>
          <p:cNvSpPr/>
          <p:nvPr/>
        </p:nvSpPr>
        <p:spPr>
          <a:xfrm>
            <a:off x="2871216" y="1756697"/>
            <a:ext cx="594360" cy="136676"/>
          </a:xfrm>
          <a:prstGeom prst="rect">
            <a:avLst/>
          </a:prstGeom>
          <a:solidFill>
            <a:srgbClr val="C2352F"/>
          </a:solidFill>
          <a:ln/>
        </p:spPr>
        <p:txBody>
          <a:bodyPr/>
          <a:p/>
        </p:txBody>
      </p:sp>
      <p:sp>
        <p:nvSpPr>
          <p:cNvPr id="15" name="Text 13"/>
          <p:cNvSpPr txBox="1"/>
          <p:nvPr/>
        </p:nvSpPr>
        <p:spPr>
          <a:xfrm>
            <a:off x="3520440" y="170078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$158K</a:t>
            </a:r>
            <a:endParaRPr lang="en-US" sz="1300" dirty="0"/>
          </a:p>
        </p:txBody>
      </p:sp>
      <p:sp>
        <p:nvSpPr>
          <p:cNvPr id="16" name="Text 14"/>
          <p:cNvSpPr txBox="1"/>
          <p:nvPr/>
        </p:nvSpPr>
        <p:spPr>
          <a:xfrm>
            <a:off x="4306824" y="170078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29</a:t>
            </a:r>
            <a:endParaRPr lang="en-US" sz="1300" dirty="0"/>
          </a:p>
        </p:txBody>
      </p:sp>
      <p:sp>
        <p:nvSpPr>
          <p:cNvPr id="17" name="Text 15"/>
          <p:cNvSpPr txBox="1"/>
          <p:nvPr/>
        </p:nvSpPr>
        <p:spPr>
          <a:xfrm>
            <a:off x="5239512" y="170078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87%</a:t>
            </a:r>
            <a:endParaRPr lang="en-US" sz="1300" dirty="0"/>
          </a:p>
        </p:txBody>
      </p:sp>
      <p:sp>
        <p:nvSpPr>
          <p:cNvPr id="18" name="Text 16"/>
          <p:cNvSpPr txBox="1"/>
          <p:nvPr/>
        </p:nvSpPr>
        <p:spPr>
          <a:xfrm>
            <a:off x="658368"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a:t>
            </a:r>
            <a:endParaRPr lang="en-US" sz="1200" dirty="0"/>
          </a:p>
        </p:txBody>
      </p:sp>
      <p:sp>
        <p:nvSpPr>
          <p:cNvPr id="19" name="Text 17"/>
          <p:cNvSpPr txBox="1"/>
          <p:nvPr/>
        </p:nvSpPr>
        <p:spPr>
          <a:xfrm>
            <a:off x="1014984"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GMC BULLHEAD</a:t>
            </a:r>
            <a:endParaRPr lang="en-US" sz="1200" dirty="0"/>
          </a:p>
        </p:txBody>
      </p:sp>
      <p:sp>
        <p:nvSpPr>
          <p:cNvPr id="20" name="Shape 18"/>
          <p:cNvSpPr/>
          <p:nvPr/>
        </p:nvSpPr>
        <p:spPr>
          <a:xfrm>
            <a:off x="2871216" y="2005199"/>
            <a:ext cx="423252" cy="136676"/>
          </a:xfrm>
          <a:prstGeom prst="rect">
            <a:avLst/>
          </a:prstGeom>
          <a:solidFill>
            <a:srgbClr val="C2352F"/>
          </a:solidFill>
          <a:ln/>
        </p:spPr>
        <p:txBody>
          <a:bodyPr/>
          <a:p/>
        </p:txBody>
      </p:sp>
      <p:sp>
        <p:nvSpPr>
          <p:cNvPr id="21" name="Text 19"/>
          <p:cNvSpPr txBox="1"/>
          <p:nvPr/>
        </p:nvSpPr>
        <p:spPr>
          <a:xfrm>
            <a:off x="3520440" y="194928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$112K</a:t>
            </a:r>
            <a:endParaRPr lang="en-US" sz="1300" dirty="0"/>
          </a:p>
        </p:txBody>
      </p:sp>
      <p:sp>
        <p:nvSpPr>
          <p:cNvPr id="22" name="Text 20"/>
          <p:cNvSpPr txBox="1"/>
          <p:nvPr/>
        </p:nvSpPr>
        <p:spPr>
          <a:xfrm>
            <a:off x="4306824" y="1949286"/>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20</a:t>
            </a:r>
            <a:endParaRPr lang="en-US" sz="1300" dirty="0"/>
          </a:p>
        </p:txBody>
      </p:sp>
      <p:sp>
        <p:nvSpPr>
          <p:cNvPr id="23" name="Text 21"/>
          <p:cNvSpPr txBox="1"/>
          <p:nvPr/>
        </p:nvSpPr>
        <p:spPr>
          <a:xfrm>
            <a:off x="5239512" y="1949286"/>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68%</a:t>
            </a:r>
            <a:endParaRPr lang="en-US" sz="1300" dirty="0"/>
          </a:p>
        </p:txBody>
      </p:sp>
      <p:sp>
        <p:nvSpPr>
          <p:cNvPr id="24" name="Text 22"/>
          <p:cNvSpPr txBox="1"/>
          <p:nvPr/>
        </p:nvSpPr>
        <p:spPr>
          <a:xfrm>
            <a:off x="658368"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a:t>
            </a:r>
            <a:endParaRPr lang="en-US" sz="1200" dirty="0"/>
          </a:p>
        </p:txBody>
      </p:sp>
      <p:sp>
        <p:nvSpPr>
          <p:cNvPr id="25" name="Text 23"/>
          <p:cNvSpPr txBox="1"/>
          <p:nvPr/>
        </p:nvSpPr>
        <p:spPr>
          <a:xfrm>
            <a:off x="1014984"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HENDERSON</a:t>
            </a:r>
            <a:endParaRPr lang="en-US" sz="1200" dirty="0"/>
          </a:p>
        </p:txBody>
      </p:sp>
      <p:sp>
        <p:nvSpPr>
          <p:cNvPr id="26" name="Shape 24"/>
          <p:cNvSpPr/>
          <p:nvPr/>
        </p:nvSpPr>
        <p:spPr>
          <a:xfrm>
            <a:off x="2871216" y="2253700"/>
            <a:ext cx="383101" cy="136676"/>
          </a:xfrm>
          <a:prstGeom prst="rect">
            <a:avLst/>
          </a:prstGeom>
          <a:solidFill>
            <a:srgbClr val="C2352F"/>
          </a:solidFill>
          <a:ln/>
        </p:spPr>
        <p:txBody>
          <a:bodyPr/>
          <a:p/>
        </p:txBody>
      </p:sp>
      <p:sp>
        <p:nvSpPr>
          <p:cNvPr id="27" name="Text 25"/>
          <p:cNvSpPr txBox="1"/>
          <p:nvPr/>
        </p:nvSpPr>
        <p:spPr>
          <a:xfrm>
            <a:off x="3520440" y="219778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$102K</a:t>
            </a:r>
            <a:endParaRPr lang="en-US" sz="1300" dirty="0"/>
          </a:p>
        </p:txBody>
      </p:sp>
      <p:sp>
        <p:nvSpPr>
          <p:cNvPr id="28" name="Text 26"/>
          <p:cNvSpPr txBox="1"/>
          <p:nvPr/>
        </p:nvSpPr>
        <p:spPr>
          <a:xfrm>
            <a:off x="4306824" y="219778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 of 23</a:t>
            </a:r>
            <a:endParaRPr lang="en-US" sz="1300" dirty="0"/>
          </a:p>
        </p:txBody>
      </p:sp>
      <p:sp>
        <p:nvSpPr>
          <p:cNvPr id="29" name="Text 27"/>
          <p:cNvSpPr txBox="1"/>
          <p:nvPr/>
        </p:nvSpPr>
        <p:spPr>
          <a:xfrm>
            <a:off x="5239512" y="219778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a:t>
            </a:r>
            <a:endParaRPr lang="en-US" sz="1300" dirty="0"/>
          </a:p>
        </p:txBody>
      </p:sp>
      <p:sp>
        <p:nvSpPr>
          <p:cNvPr id="30" name="Text 28"/>
          <p:cNvSpPr txBox="1"/>
          <p:nvPr/>
        </p:nvSpPr>
        <p:spPr>
          <a:xfrm>
            <a:off x="658368"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4</a:t>
            </a:r>
            <a:endParaRPr lang="en-US" sz="1200" dirty="0"/>
          </a:p>
        </p:txBody>
      </p:sp>
      <p:sp>
        <p:nvSpPr>
          <p:cNvPr id="31" name="Text 29"/>
          <p:cNvSpPr txBox="1"/>
          <p:nvPr/>
        </p:nvSpPr>
        <p:spPr>
          <a:xfrm>
            <a:off x="1014984"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CDJR POST FALLS</a:t>
            </a:r>
            <a:endParaRPr lang="en-US" sz="1200" dirty="0"/>
          </a:p>
        </p:txBody>
      </p:sp>
      <p:sp>
        <p:nvSpPr>
          <p:cNvPr id="32" name="Shape 30"/>
          <p:cNvSpPr/>
          <p:nvPr/>
        </p:nvSpPr>
        <p:spPr>
          <a:xfrm>
            <a:off x="2871216" y="2502202"/>
            <a:ext cx="377643" cy="136676"/>
          </a:xfrm>
          <a:prstGeom prst="rect">
            <a:avLst/>
          </a:prstGeom>
          <a:solidFill>
            <a:srgbClr val="C2352F"/>
          </a:solidFill>
          <a:ln/>
        </p:spPr>
        <p:txBody>
          <a:bodyPr/>
          <a:p/>
        </p:txBody>
      </p:sp>
      <p:sp>
        <p:nvSpPr>
          <p:cNvPr id="33" name="Text 31"/>
          <p:cNvSpPr txBox="1"/>
          <p:nvPr/>
        </p:nvSpPr>
        <p:spPr>
          <a:xfrm>
            <a:off x="3520440" y="244628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$100K</a:t>
            </a:r>
            <a:endParaRPr lang="en-US" sz="1300" dirty="0"/>
          </a:p>
        </p:txBody>
      </p:sp>
      <p:sp>
        <p:nvSpPr>
          <p:cNvPr id="34" name="Text 32"/>
          <p:cNvSpPr txBox="1"/>
          <p:nvPr/>
        </p:nvSpPr>
        <p:spPr>
          <a:xfrm>
            <a:off x="4306824" y="244628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 of 14</a:t>
            </a:r>
            <a:endParaRPr lang="en-US" sz="1300" dirty="0"/>
          </a:p>
        </p:txBody>
      </p:sp>
      <p:sp>
        <p:nvSpPr>
          <p:cNvPr id="35" name="Text 33"/>
          <p:cNvSpPr txBox="1"/>
          <p:nvPr/>
        </p:nvSpPr>
        <p:spPr>
          <a:xfrm>
            <a:off x="5239512" y="244628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71%</a:t>
            </a:r>
            <a:endParaRPr lang="en-US" sz="1300" dirty="0"/>
          </a:p>
        </p:txBody>
      </p:sp>
      <p:sp>
        <p:nvSpPr>
          <p:cNvPr id="36" name="Text 34"/>
          <p:cNvSpPr txBox="1"/>
          <p:nvPr/>
        </p:nvSpPr>
        <p:spPr>
          <a:xfrm>
            <a:off x="658368"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5</a:t>
            </a:r>
            <a:endParaRPr lang="en-US" sz="1200" dirty="0"/>
          </a:p>
        </p:txBody>
      </p:sp>
      <p:sp>
        <p:nvSpPr>
          <p:cNvPr id="37" name="Text 35"/>
          <p:cNvSpPr txBox="1"/>
          <p:nvPr/>
        </p:nvSpPr>
        <p:spPr>
          <a:xfrm>
            <a:off x="1014984"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ST GEORGE</a:t>
            </a:r>
            <a:endParaRPr lang="en-US" sz="1200" dirty="0"/>
          </a:p>
        </p:txBody>
      </p:sp>
      <p:sp>
        <p:nvSpPr>
          <p:cNvPr id="38" name="Shape 36"/>
          <p:cNvSpPr/>
          <p:nvPr/>
        </p:nvSpPr>
        <p:spPr>
          <a:xfrm>
            <a:off x="2871216" y="2750703"/>
            <a:ext cx="332905" cy="136676"/>
          </a:xfrm>
          <a:prstGeom prst="rect">
            <a:avLst/>
          </a:prstGeom>
          <a:solidFill>
            <a:srgbClr val="C2352F"/>
          </a:solidFill>
          <a:ln/>
        </p:spPr>
        <p:txBody>
          <a:bodyPr/>
          <a:p/>
        </p:txBody>
      </p:sp>
      <p:sp>
        <p:nvSpPr>
          <p:cNvPr id="39" name="Text 37"/>
          <p:cNvSpPr txBox="1"/>
          <p:nvPr/>
        </p:nvSpPr>
        <p:spPr>
          <a:xfrm>
            <a:off x="3520440" y="2694791"/>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$88K</a:t>
            </a:r>
            <a:endParaRPr lang="en-US" sz="1300" dirty="0"/>
          </a:p>
        </p:txBody>
      </p:sp>
      <p:sp>
        <p:nvSpPr>
          <p:cNvPr id="40" name="Text 38"/>
          <p:cNvSpPr txBox="1"/>
          <p:nvPr/>
        </p:nvSpPr>
        <p:spPr>
          <a:xfrm>
            <a:off x="4306824" y="2694791"/>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11</a:t>
            </a:r>
            <a:endParaRPr lang="en-US" sz="1300" dirty="0"/>
          </a:p>
        </p:txBody>
      </p:sp>
      <p:sp>
        <p:nvSpPr>
          <p:cNvPr id="41" name="Text 39"/>
          <p:cNvSpPr txBox="1"/>
          <p:nvPr/>
        </p:nvSpPr>
        <p:spPr>
          <a:xfrm>
            <a:off x="5239512" y="2694791"/>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69%</a:t>
            </a:r>
            <a:endParaRPr lang="en-US" sz="1300" dirty="0"/>
          </a:p>
        </p:txBody>
      </p:sp>
      <p:sp>
        <p:nvSpPr>
          <p:cNvPr id="42" name="Text 40"/>
          <p:cNvSpPr txBox="1"/>
          <p:nvPr/>
        </p:nvSpPr>
        <p:spPr>
          <a:xfrm>
            <a:off x="658368"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6</a:t>
            </a:r>
            <a:endParaRPr lang="en-US" sz="1200" dirty="0"/>
          </a:p>
        </p:txBody>
      </p:sp>
      <p:sp>
        <p:nvSpPr>
          <p:cNvPr id="43" name="Text 41"/>
          <p:cNvSpPr txBox="1"/>
          <p:nvPr/>
        </p:nvSpPr>
        <p:spPr>
          <a:xfrm>
            <a:off x="1014984"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CHEVY LV</a:t>
            </a:r>
            <a:endParaRPr lang="en-US" sz="1200" dirty="0"/>
          </a:p>
        </p:txBody>
      </p:sp>
      <p:sp>
        <p:nvSpPr>
          <p:cNvPr id="44" name="Shape 42"/>
          <p:cNvSpPr/>
          <p:nvPr/>
        </p:nvSpPr>
        <p:spPr>
          <a:xfrm>
            <a:off x="2871216" y="2999205"/>
            <a:ext cx="329038" cy="136676"/>
          </a:xfrm>
          <a:prstGeom prst="rect">
            <a:avLst/>
          </a:prstGeom>
          <a:solidFill>
            <a:srgbClr val="C2352F"/>
          </a:solidFill>
          <a:ln/>
        </p:spPr>
        <p:txBody>
          <a:bodyPr/>
          <a:p/>
        </p:txBody>
      </p:sp>
      <p:sp>
        <p:nvSpPr>
          <p:cNvPr id="45" name="Text 43"/>
          <p:cNvSpPr txBox="1"/>
          <p:nvPr/>
        </p:nvSpPr>
        <p:spPr>
          <a:xfrm>
            <a:off x="3520440" y="294329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$87K</a:t>
            </a:r>
            <a:endParaRPr lang="en-US" sz="1300" dirty="0"/>
          </a:p>
        </p:txBody>
      </p:sp>
      <p:sp>
        <p:nvSpPr>
          <p:cNvPr id="46" name="Text 44"/>
          <p:cNvSpPr txBox="1"/>
          <p:nvPr/>
        </p:nvSpPr>
        <p:spPr>
          <a:xfrm>
            <a:off x="4306824" y="2943292"/>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51</a:t>
            </a:r>
            <a:endParaRPr lang="en-US" sz="1300" dirty="0"/>
          </a:p>
        </p:txBody>
      </p:sp>
      <p:sp>
        <p:nvSpPr>
          <p:cNvPr id="47" name="Text 45"/>
          <p:cNvSpPr txBox="1"/>
          <p:nvPr/>
        </p:nvSpPr>
        <p:spPr>
          <a:xfrm>
            <a:off x="5239512" y="2943292"/>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103%</a:t>
            </a:r>
            <a:endParaRPr lang="en-US" sz="1300" dirty="0"/>
          </a:p>
        </p:txBody>
      </p:sp>
      <p:sp>
        <p:nvSpPr>
          <p:cNvPr id="48" name="Text 46"/>
          <p:cNvSpPr txBox="1"/>
          <p:nvPr/>
        </p:nvSpPr>
        <p:spPr>
          <a:xfrm>
            <a:off x="658368"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7</a:t>
            </a:r>
            <a:endParaRPr lang="en-US" sz="1200" dirty="0"/>
          </a:p>
        </p:txBody>
      </p:sp>
      <p:sp>
        <p:nvSpPr>
          <p:cNvPr id="49" name="Text 47"/>
          <p:cNvSpPr txBox="1"/>
          <p:nvPr/>
        </p:nvSpPr>
        <p:spPr>
          <a:xfrm>
            <a:off x="1014984"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PRESCOTT</a:t>
            </a:r>
            <a:endParaRPr lang="en-US" sz="1200" dirty="0"/>
          </a:p>
        </p:txBody>
      </p:sp>
      <p:sp>
        <p:nvSpPr>
          <p:cNvPr id="50" name="Shape 48"/>
          <p:cNvSpPr/>
          <p:nvPr/>
        </p:nvSpPr>
        <p:spPr>
          <a:xfrm>
            <a:off x="2871216" y="3247707"/>
            <a:ext cx="291475" cy="136676"/>
          </a:xfrm>
          <a:prstGeom prst="rect">
            <a:avLst/>
          </a:prstGeom>
          <a:solidFill>
            <a:srgbClr val="C2352F"/>
          </a:solidFill>
          <a:ln/>
        </p:spPr>
        <p:txBody>
          <a:bodyPr/>
          <a:p/>
        </p:txBody>
      </p:sp>
      <p:sp>
        <p:nvSpPr>
          <p:cNvPr id="51" name="Text 49"/>
          <p:cNvSpPr txBox="1"/>
          <p:nvPr/>
        </p:nvSpPr>
        <p:spPr>
          <a:xfrm>
            <a:off x="3520440" y="319179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$77K</a:t>
            </a:r>
            <a:endParaRPr lang="en-US" sz="1300" dirty="0"/>
          </a:p>
        </p:txBody>
      </p:sp>
      <p:sp>
        <p:nvSpPr>
          <p:cNvPr id="52" name="Text 50"/>
          <p:cNvSpPr txBox="1"/>
          <p:nvPr/>
        </p:nvSpPr>
        <p:spPr>
          <a:xfrm>
            <a:off x="4306824" y="319179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 of 22</a:t>
            </a:r>
            <a:endParaRPr lang="en-US" sz="1300" dirty="0"/>
          </a:p>
        </p:txBody>
      </p:sp>
      <p:sp>
        <p:nvSpPr>
          <p:cNvPr id="53" name="Text 51"/>
          <p:cNvSpPr txBox="1"/>
          <p:nvPr/>
        </p:nvSpPr>
        <p:spPr>
          <a:xfrm>
            <a:off x="5239512" y="319179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83%</a:t>
            </a:r>
            <a:endParaRPr lang="en-US" sz="1300" dirty="0"/>
          </a:p>
        </p:txBody>
      </p:sp>
      <p:sp>
        <p:nvSpPr>
          <p:cNvPr id="54" name="Text 52"/>
          <p:cNvSpPr txBox="1"/>
          <p:nvPr/>
        </p:nvSpPr>
        <p:spPr>
          <a:xfrm>
            <a:off x="658368"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8</a:t>
            </a:r>
            <a:endParaRPr lang="en-US" sz="1200" dirty="0"/>
          </a:p>
        </p:txBody>
      </p:sp>
      <p:sp>
        <p:nvSpPr>
          <p:cNvPr id="55" name="Text 53"/>
          <p:cNvSpPr txBox="1"/>
          <p:nvPr/>
        </p:nvSpPr>
        <p:spPr>
          <a:xfrm>
            <a:off x="1014984"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ST GEORGE</a:t>
            </a:r>
            <a:endParaRPr lang="en-US" sz="1200" dirty="0"/>
          </a:p>
        </p:txBody>
      </p:sp>
      <p:sp>
        <p:nvSpPr>
          <p:cNvPr id="56" name="Shape 54"/>
          <p:cNvSpPr/>
          <p:nvPr/>
        </p:nvSpPr>
        <p:spPr>
          <a:xfrm>
            <a:off x="2871216" y="3496208"/>
            <a:ext cx="288910" cy="136676"/>
          </a:xfrm>
          <a:prstGeom prst="rect">
            <a:avLst/>
          </a:prstGeom>
          <a:solidFill>
            <a:srgbClr val="C2352F"/>
          </a:solidFill>
          <a:ln/>
        </p:spPr>
        <p:txBody>
          <a:bodyPr/>
          <a:p/>
        </p:txBody>
      </p:sp>
      <p:sp>
        <p:nvSpPr>
          <p:cNvPr id="57" name="Text 55"/>
          <p:cNvSpPr txBox="1"/>
          <p:nvPr/>
        </p:nvSpPr>
        <p:spPr>
          <a:xfrm>
            <a:off x="3520440" y="344029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$77K</a:t>
            </a:r>
            <a:endParaRPr lang="en-US" sz="1300" dirty="0"/>
          </a:p>
        </p:txBody>
      </p:sp>
      <p:sp>
        <p:nvSpPr>
          <p:cNvPr id="58" name="Text 56"/>
          <p:cNvSpPr txBox="1"/>
          <p:nvPr/>
        </p:nvSpPr>
        <p:spPr>
          <a:xfrm>
            <a:off x="4306824" y="3440296"/>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 of 12</a:t>
            </a:r>
            <a:endParaRPr lang="en-US" sz="1300" dirty="0"/>
          </a:p>
        </p:txBody>
      </p:sp>
      <p:sp>
        <p:nvSpPr>
          <p:cNvPr id="59" name="Text 57"/>
          <p:cNvSpPr txBox="1"/>
          <p:nvPr/>
        </p:nvSpPr>
        <p:spPr>
          <a:xfrm>
            <a:off x="5239512" y="3440296"/>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67%</a:t>
            </a:r>
            <a:endParaRPr lang="en-US" sz="1300" dirty="0"/>
          </a:p>
        </p:txBody>
      </p:sp>
      <p:sp>
        <p:nvSpPr>
          <p:cNvPr id="60" name="Text 58"/>
          <p:cNvSpPr txBox="1"/>
          <p:nvPr/>
        </p:nvSpPr>
        <p:spPr>
          <a:xfrm>
            <a:off x="658368"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9</a:t>
            </a:r>
            <a:endParaRPr lang="en-US" sz="1200" dirty="0"/>
          </a:p>
        </p:txBody>
      </p:sp>
      <p:sp>
        <p:nvSpPr>
          <p:cNvPr id="61" name="Text 59"/>
          <p:cNvSpPr txBox="1"/>
          <p:nvPr/>
        </p:nvSpPr>
        <p:spPr>
          <a:xfrm>
            <a:off x="1014984"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ACURA</a:t>
            </a:r>
            <a:endParaRPr lang="en-US" sz="1200" dirty="0"/>
          </a:p>
        </p:txBody>
      </p:sp>
      <p:sp>
        <p:nvSpPr>
          <p:cNvPr id="62" name="Shape 60"/>
          <p:cNvSpPr/>
          <p:nvPr/>
        </p:nvSpPr>
        <p:spPr>
          <a:xfrm>
            <a:off x="2871216" y="3744710"/>
            <a:ext cx="286162" cy="136676"/>
          </a:xfrm>
          <a:prstGeom prst="rect">
            <a:avLst/>
          </a:prstGeom>
          <a:solidFill>
            <a:srgbClr val="C2352F"/>
          </a:solidFill>
          <a:ln/>
        </p:spPr>
        <p:txBody>
          <a:bodyPr/>
          <a:p/>
        </p:txBody>
      </p:sp>
      <p:sp>
        <p:nvSpPr>
          <p:cNvPr id="63" name="Text 61"/>
          <p:cNvSpPr txBox="1"/>
          <p:nvPr/>
        </p:nvSpPr>
        <p:spPr>
          <a:xfrm>
            <a:off x="3520440" y="368879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$76K</a:t>
            </a:r>
            <a:endParaRPr lang="en-US" sz="1300" dirty="0"/>
          </a:p>
        </p:txBody>
      </p:sp>
      <p:sp>
        <p:nvSpPr>
          <p:cNvPr id="64" name="Text 62"/>
          <p:cNvSpPr txBox="1"/>
          <p:nvPr/>
        </p:nvSpPr>
        <p:spPr>
          <a:xfrm>
            <a:off x="4306824" y="368879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 of 11</a:t>
            </a:r>
            <a:endParaRPr lang="en-US" sz="1300" dirty="0"/>
          </a:p>
        </p:txBody>
      </p:sp>
      <p:sp>
        <p:nvSpPr>
          <p:cNvPr id="65" name="Text 63"/>
          <p:cNvSpPr txBox="1"/>
          <p:nvPr/>
        </p:nvSpPr>
        <p:spPr>
          <a:xfrm>
            <a:off x="5239512" y="368879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67%</a:t>
            </a:r>
            <a:endParaRPr lang="en-US" sz="1300" dirty="0"/>
          </a:p>
        </p:txBody>
      </p:sp>
      <p:sp>
        <p:nvSpPr>
          <p:cNvPr id="66" name="Text 64"/>
          <p:cNvSpPr txBox="1"/>
          <p:nvPr/>
        </p:nvSpPr>
        <p:spPr>
          <a:xfrm>
            <a:off x="658368"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10</a:t>
            </a:r>
            <a:endParaRPr lang="en-US" sz="1200" dirty="0"/>
          </a:p>
        </p:txBody>
      </p:sp>
      <p:sp>
        <p:nvSpPr>
          <p:cNvPr id="67" name="Text 65"/>
          <p:cNvSpPr txBox="1"/>
          <p:nvPr/>
        </p:nvSpPr>
        <p:spPr>
          <a:xfrm>
            <a:off x="1014984"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KIA LV</a:t>
            </a:r>
            <a:endParaRPr lang="en-US" sz="1200" dirty="0"/>
          </a:p>
        </p:txBody>
      </p:sp>
      <p:sp>
        <p:nvSpPr>
          <p:cNvPr id="68" name="Shape 66"/>
          <p:cNvSpPr/>
          <p:nvPr/>
        </p:nvSpPr>
        <p:spPr>
          <a:xfrm>
            <a:off x="2871216" y="3993212"/>
            <a:ext cx="280027" cy="136676"/>
          </a:xfrm>
          <a:prstGeom prst="rect">
            <a:avLst/>
          </a:prstGeom>
          <a:solidFill>
            <a:srgbClr val="C2352F"/>
          </a:solidFill>
          <a:ln/>
        </p:spPr>
        <p:txBody>
          <a:bodyPr/>
          <a:p/>
        </p:txBody>
      </p:sp>
      <p:sp>
        <p:nvSpPr>
          <p:cNvPr id="69" name="Text 67"/>
          <p:cNvSpPr txBox="1"/>
          <p:nvPr/>
        </p:nvSpPr>
        <p:spPr>
          <a:xfrm>
            <a:off x="3520440" y="393729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$74K</a:t>
            </a:r>
            <a:endParaRPr lang="en-US" sz="1300" dirty="0"/>
          </a:p>
        </p:txBody>
      </p:sp>
      <p:sp>
        <p:nvSpPr>
          <p:cNvPr id="70" name="Text 68"/>
          <p:cNvSpPr txBox="1"/>
          <p:nvPr/>
        </p:nvSpPr>
        <p:spPr>
          <a:xfrm>
            <a:off x="4306824" y="393729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 of 20</a:t>
            </a:r>
            <a:endParaRPr lang="en-US" sz="1300" dirty="0"/>
          </a:p>
        </p:txBody>
      </p:sp>
      <p:sp>
        <p:nvSpPr>
          <p:cNvPr id="71" name="Text 69"/>
          <p:cNvSpPr txBox="1"/>
          <p:nvPr/>
        </p:nvSpPr>
        <p:spPr>
          <a:xfrm>
            <a:off x="5239512" y="393729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76%</a:t>
            </a:r>
            <a:endParaRPr lang="en-US" sz="1300" dirty="0"/>
          </a:p>
        </p:txBody>
      </p:sp>
      <p:sp>
        <p:nvSpPr>
          <p:cNvPr id="72" name="Text 70"/>
          <p:cNvSpPr txBox="1"/>
          <p:nvPr/>
        </p:nvSpPr>
        <p:spPr>
          <a:xfrm>
            <a:off x="658368"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11</a:t>
            </a:r>
            <a:endParaRPr lang="en-US" sz="1200" dirty="0"/>
          </a:p>
        </p:txBody>
      </p:sp>
      <p:sp>
        <p:nvSpPr>
          <p:cNvPr id="73" name="Text 71"/>
          <p:cNvSpPr txBox="1"/>
          <p:nvPr/>
        </p:nvSpPr>
        <p:spPr>
          <a:xfrm>
            <a:off x="1014984"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HENDERSON</a:t>
            </a:r>
            <a:endParaRPr lang="en-US" sz="1200" dirty="0"/>
          </a:p>
        </p:txBody>
      </p:sp>
      <p:sp>
        <p:nvSpPr>
          <p:cNvPr id="74" name="Shape 72"/>
          <p:cNvSpPr/>
          <p:nvPr/>
        </p:nvSpPr>
        <p:spPr>
          <a:xfrm>
            <a:off x="2871216" y="4241713"/>
            <a:ext cx="264542" cy="136676"/>
          </a:xfrm>
          <a:prstGeom prst="rect">
            <a:avLst/>
          </a:prstGeom>
          <a:solidFill>
            <a:srgbClr val="C2352F"/>
          </a:solidFill>
          <a:ln/>
        </p:spPr>
        <p:txBody>
          <a:bodyPr/>
          <a:p/>
        </p:txBody>
      </p:sp>
      <p:sp>
        <p:nvSpPr>
          <p:cNvPr id="75" name="Text 73"/>
          <p:cNvSpPr txBox="1"/>
          <p:nvPr/>
        </p:nvSpPr>
        <p:spPr>
          <a:xfrm>
            <a:off x="3520440" y="418580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$70K</a:t>
            </a:r>
            <a:endParaRPr lang="en-US" sz="1300" dirty="0"/>
          </a:p>
        </p:txBody>
      </p:sp>
      <p:sp>
        <p:nvSpPr>
          <p:cNvPr id="76" name="Text 74"/>
          <p:cNvSpPr txBox="1"/>
          <p:nvPr/>
        </p:nvSpPr>
        <p:spPr>
          <a:xfrm>
            <a:off x="4306824" y="4185800"/>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 of 59</a:t>
            </a:r>
            <a:endParaRPr lang="en-US" sz="1300" dirty="0"/>
          </a:p>
        </p:txBody>
      </p:sp>
      <p:sp>
        <p:nvSpPr>
          <p:cNvPr id="77" name="Text 75"/>
          <p:cNvSpPr txBox="1"/>
          <p:nvPr/>
        </p:nvSpPr>
        <p:spPr>
          <a:xfrm>
            <a:off x="5239512" y="4185800"/>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104%</a:t>
            </a:r>
            <a:endParaRPr lang="en-US" sz="1300" dirty="0"/>
          </a:p>
        </p:txBody>
      </p:sp>
      <p:sp>
        <p:nvSpPr>
          <p:cNvPr id="78" name="Text 76"/>
          <p:cNvSpPr txBox="1"/>
          <p:nvPr/>
        </p:nvSpPr>
        <p:spPr>
          <a:xfrm>
            <a:off x="658368"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12</a:t>
            </a:r>
            <a:endParaRPr lang="en-US" sz="1200" dirty="0"/>
          </a:p>
        </p:txBody>
      </p:sp>
      <p:sp>
        <p:nvSpPr>
          <p:cNvPr id="79" name="Text 77"/>
          <p:cNvSpPr txBox="1"/>
          <p:nvPr/>
        </p:nvSpPr>
        <p:spPr>
          <a:xfrm>
            <a:off x="1014984"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LV</a:t>
            </a:r>
            <a:endParaRPr lang="en-US" sz="1200" dirty="0"/>
          </a:p>
        </p:txBody>
      </p:sp>
      <p:sp>
        <p:nvSpPr>
          <p:cNvPr id="80" name="Shape 78"/>
          <p:cNvSpPr/>
          <p:nvPr/>
        </p:nvSpPr>
        <p:spPr>
          <a:xfrm>
            <a:off x="2871216" y="4490215"/>
            <a:ext cx="238147" cy="136676"/>
          </a:xfrm>
          <a:prstGeom prst="rect">
            <a:avLst/>
          </a:prstGeom>
          <a:solidFill>
            <a:srgbClr val="C2352F"/>
          </a:solidFill>
          <a:ln/>
        </p:spPr>
        <p:txBody>
          <a:bodyPr/>
          <a:p/>
        </p:txBody>
      </p:sp>
      <p:sp>
        <p:nvSpPr>
          <p:cNvPr id="81" name="Text 79"/>
          <p:cNvSpPr txBox="1"/>
          <p:nvPr/>
        </p:nvSpPr>
        <p:spPr>
          <a:xfrm>
            <a:off x="3520440" y="443430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$63K</a:t>
            </a:r>
            <a:endParaRPr lang="en-US" sz="1300" dirty="0"/>
          </a:p>
        </p:txBody>
      </p:sp>
      <p:sp>
        <p:nvSpPr>
          <p:cNvPr id="82" name="Text 80"/>
          <p:cNvSpPr txBox="1"/>
          <p:nvPr/>
        </p:nvSpPr>
        <p:spPr>
          <a:xfrm>
            <a:off x="4306824" y="4434302"/>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16</a:t>
            </a:r>
            <a:endParaRPr lang="en-US" sz="1300" dirty="0"/>
          </a:p>
        </p:txBody>
      </p:sp>
      <p:sp>
        <p:nvSpPr>
          <p:cNvPr id="83" name="Text 81"/>
          <p:cNvSpPr txBox="1"/>
          <p:nvPr/>
        </p:nvSpPr>
        <p:spPr>
          <a:xfrm>
            <a:off x="5239512" y="4434302"/>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a:t>
            </a:r>
            <a:endParaRPr lang="en-US" sz="1300" dirty="0"/>
          </a:p>
        </p:txBody>
      </p:sp>
      <p:sp>
        <p:nvSpPr>
          <p:cNvPr id="84" name="Text 82"/>
          <p:cNvSpPr txBox="1"/>
          <p:nvPr/>
        </p:nvSpPr>
        <p:spPr>
          <a:xfrm>
            <a:off x="658368"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13</a:t>
            </a:r>
            <a:endParaRPr lang="en-US" sz="1200" dirty="0"/>
          </a:p>
        </p:txBody>
      </p:sp>
      <p:sp>
        <p:nvSpPr>
          <p:cNvPr id="85" name="Text 83"/>
          <p:cNvSpPr txBox="1"/>
          <p:nvPr/>
        </p:nvSpPr>
        <p:spPr>
          <a:xfrm>
            <a:off x="1014984"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VOLVO</a:t>
            </a:r>
            <a:endParaRPr lang="en-US" sz="1200" dirty="0"/>
          </a:p>
        </p:txBody>
      </p:sp>
      <p:sp>
        <p:nvSpPr>
          <p:cNvPr id="86" name="Shape 84"/>
          <p:cNvSpPr/>
          <p:nvPr/>
        </p:nvSpPr>
        <p:spPr>
          <a:xfrm>
            <a:off x="2871216" y="4738717"/>
            <a:ext cx="233408" cy="136676"/>
          </a:xfrm>
          <a:prstGeom prst="rect">
            <a:avLst/>
          </a:prstGeom>
          <a:solidFill>
            <a:srgbClr val="C2352F"/>
          </a:solidFill>
          <a:ln/>
        </p:spPr>
        <p:txBody>
          <a:bodyPr/>
          <a:p/>
        </p:txBody>
      </p:sp>
      <p:sp>
        <p:nvSpPr>
          <p:cNvPr id="87" name="Text 85"/>
          <p:cNvSpPr txBox="1"/>
          <p:nvPr/>
        </p:nvSpPr>
        <p:spPr>
          <a:xfrm>
            <a:off x="3520440" y="468280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$62K</a:t>
            </a:r>
            <a:endParaRPr lang="en-US" sz="1300" dirty="0"/>
          </a:p>
        </p:txBody>
      </p:sp>
      <p:sp>
        <p:nvSpPr>
          <p:cNvPr id="88" name="Text 86"/>
          <p:cNvSpPr txBox="1"/>
          <p:nvPr/>
        </p:nvSpPr>
        <p:spPr>
          <a:xfrm>
            <a:off x="4306824" y="468280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9</a:t>
            </a:r>
            <a:endParaRPr lang="en-US" sz="1300" dirty="0"/>
          </a:p>
        </p:txBody>
      </p:sp>
      <p:sp>
        <p:nvSpPr>
          <p:cNvPr id="89" name="Text 87"/>
          <p:cNvSpPr txBox="1"/>
          <p:nvPr/>
        </p:nvSpPr>
        <p:spPr>
          <a:xfrm>
            <a:off x="5239512" y="468280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72%</a:t>
            </a:r>
            <a:endParaRPr lang="en-US" sz="1300" dirty="0"/>
          </a:p>
        </p:txBody>
      </p:sp>
      <p:sp>
        <p:nvSpPr>
          <p:cNvPr id="90" name="Text 88"/>
          <p:cNvSpPr txBox="1"/>
          <p:nvPr/>
        </p:nvSpPr>
        <p:spPr>
          <a:xfrm>
            <a:off x="658368"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14</a:t>
            </a:r>
            <a:endParaRPr lang="en-US" sz="1200" dirty="0"/>
          </a:p>
        </p:txBody>
      </p:sp>
      <p:sp>
        <p:nvSpPr>
          <p:cNvPr id="91" name="Text 89"/>
          <p:cNvSpPr txBox="1"/>
          <p:nvPr/>
        </p:nvSpPr>
        <p:spPr>
          <a:xfrm>
            <a:off x="1014984"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PRESCOTT</a:t>
            </a:r>
            <a:endParaRPr lang="en-US" sz="1200" dirty="0"/>
          </a:p>
        </p:txBody>
      </p:sp>
      <p:sp>
        <p:nvSpPr>
          <p:cNvPr id="92" name="Shape 90"/>
          <p:cNvSpPr/>
          <p:nvPr/>
        </p:nvSpPr>
        <p:spPr>
          <a:xfrm>
            <a:off x="2871216" y="4987218"/>
            <a:ext cx="217057" cy="136676"/>
          </a:xfrm>
          <a:prstGeom prst="rect">
            <a:avLst/>
          </a:prstGeom>
          <a:solidFill>
            <a:srgbClr val="C2352F"/>
          </a:solidFill>
          <a:ln/>
        </p:spPr>
        <p:txBody>
          <a:bodyPr/>
          <a:p/>
        </p:txBody>
      </p:sp>
      <p:sp>
        <p:nvSpPr>
          <p:cNvPr id="93" name="Text 91"/>
          <p:cNvSpPr txBox="1"/>
          <p:nvPr/>
        </p:nvSpPr>
        <p:spPr>
          <a:xfrm>
            <a:off x="3520440" y="4931305"/>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$58K</a:t>
            </a:r>
            <a:endParaRPr lang="en-US" sz="1300" dirty="0"/>
          </a:p>
        </p:txBody>
      </p:sp>
      <p:sp>
        <p:nvSpPr>
          <p:cNvPr id="94" name="Text 92"/>
          <p:cNvSpPr txBox="1"/>
          <p:nvPr/>
        </p:nvSpPr>
        <p:spPr>
          <a:xfrm>
            <a:off x="4306824" y="4931305"/>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12</a:t>
            </a:r>
            <a:endParaRPr lang="en-US" sz="1300" dirty="0"/>
          </a:p>
        </p:txBody>
      </p:sp>
      <p:sp>
        <p:nvSpPr>
          <p:cNvPr id="95" name="Text 93"/>
          <p:cNvSpPr txBox="1"/>
          <p:nvPr/>
        </p:nvSpPr>
        <p:spPr>
          <a:xfrm>
            <a:off x="5239512" y="4931305"/>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98%</a:t>
            </a:r>
            <a:endParaRPr lang="en-US" sz="1300" dirty="0"/>
          </a:p>
        </p:txBody>
      </p:sp>
      <p:sp>
        <p:nvSpPr>
          <p:cNvPr id="96" name="Text 94"/>
          <p:cNvSpPr txBox="1"/>
          <p:nvPr/>
        </p:nvSpPr>
        <p:spPr>
          <a:xfrm>
            <a:off x="658368"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15</a:t>
            </a:r>
            <a:endParaRPr lang="en-US" sz="1200" dirty="0"/>
          </a:p>
        </p:txBody>
      </p:sp>
      <p:sp>
        <p:nvSpPr>
          <p:cNvPr id="97" name="Text 95"/>
          <p:cNvSpPr txBox="1"/>
          <p:nvPr/>
        </p:nvSpPr>
        <p:spPr>
          <a:xfrm>
            <a:off x="1014984"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GMC PRESCOTT</a:t>
            </a:r>
            <a:endParaRPr lang="en-US" sz="1200" dirty="0"/>
          </a:p>
        </p:txBody>
      </p:sp>
      <p:sp>
        <p:nvSpPr>
          <p:cNvPr id="98" name="Shape 96"/>
          <p:cNvSpPr/>
          <p:nvPr/>
        </p:nvSpPr>
        <p:spPr>
          <a:xfrm>
            <a:off x="2871216" y="5235720"/>
            <a:ext cx="180426" cy="136676"/>
          </a:xfrm>
          <a:prstGeom prst="rect">
            <a:avLst/>
          </a:prstGeom>
          <a:solidFill>
            <a:srgbClr val="C2352F"/>
          </a:solidFill>
          <a:ln/>
        </p:spPr>
        <p:txBody>
          <a:bodyPr/>
          <a:p/>
        </p:txBody>
      </p:sp>
      <p:sp>
        <p:nvSpPr>
          <p:cNvPr id="99" name="Text 97"/>
          <p:cNvSpPr txBox="1"/>
          <p:nvPr/>
        </p:nvSpPr>
        <p:spPr>
          <a:xfrm>
            <a:off x="3520440" y="517980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$48K</a:t>
            </a:r>
            <a:endParaRPr lang="en-US" sz="1300" dirty="0"/>
          </a:p>
        </p:txBody>
      </p:sp>
      <p:sp>
        <p:nvSpPr>
          <p:cNvPr id="100" name="Text 98"/>
          <p:cNvSpPr txBox="1"/>
          <p:nvPr/>
        </p:nvSpPr>
        <p:spPr>
          <a:xfrm>
            <a:off x="4306824" y="517980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 of 12</a:t>
            </a:r>
            <a:endParaRPr lang="en-US" sz="1300" dirty="0"/>
          </a:p>
        </p:txBody>
      </p:sp>
      <p:sp>
        <p:nvSpPr>
          <p:cNvPr id="101" name="Text 99"/>
          <p:cNvSpPr txBox="1"/>
          <p:nvPr/>
        </p:nvSpPr>
        <p:spPr>
          <a:xfrm>
            <a:off x="5239512" y="517980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73%</a:t>
            </a:r>
            <a:endParaRPr lang="en-US" sz="1300" dirty="0"/>
          </a:p>
        </p:txBody>
      </p:sp>
      <p:sp>
        <p:nvSpPr>
          <p:cNvPr id="102" name="Text 100"/>
          <p:cNvSpPr txBox="1"/>
          <p:nvPr/>
        </p:nvSpPr>
        <p:spPr>
          <a:xfrm>
            <a:off x="658368"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16</a:t>
            </a:r>
            <a:endParaRPr lang="en-US" sz="1200" dirty="0"/>
          </a:p>
        </p:txBody>
      </p:sp>
      <p:sp>
        <p:nvSpPr>
          <p:cNvPr id="103" name="Text 101"/>
          <p:cNvSpPr txBox="1"/>
          <p:nvPr/>
        </p:nvSpPr>
        <p:spPr>
          <a:xfrm>
            <a:off x="1014984"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LV</a:t>
            </a:r>
            <a:endParaRPr lang="en-US" sz="1200" dirty="0"/>
          </a:p>
        </p:txBody>
      </p:sp>
      <p:sp>
        <p:nvSpPr>
          <p:cNvPr id="104" name="Shape 102"/>
          <p:cNvSpPr/>
          <p:nvPr/>
        </p:nvSpPr>
        <p:spPr>
          <a:xfrm>
            <a:off x="2871216" y="5484222"/>
            <a:ext cx="164601" cy="136676"/>
          </a:xfrm>
          <a:prstGeom prst="rect">
            <a:avLst/>
          </a:prstGeom>
          <a:solidFill>
            <a:srgbClr val="C2352F"/>
          </a:solidFill>
          <a:ln/>
        </p:spPr>
        <p:txBody>
          <a:bodyPr/>
          <a:p/>
        </p:txBody>
      </p:sp>
      <p:sp>
        <p:nvSpPr>
          <p:cNvPr id="105" name="Text 103"/>
          <p:cNvSpPr txBox="1"/>
          <p:nvPr/>
        </p:nvSpPr>
        <p:spPr>
          <a:xfrm>
            <a:off x="3520440" y="542830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$44K</a:t>
            </a:r>
            <a:endParaRPr lang="en-US" sz="1300" dirty="0"/>
          </a:p>
        </p:txBody>
      </p:sp>
      <p:sp>
        <p:nvSpPr>
          <p:cNvPr id="106" name="Text 104"/>
          <p:cNvSpPr txBox="1"/>
          <p:nvPr/>
        </p:nvSpPr>
        <p:spPr>
          <a:xfrm>
            <a:off x="4306824" y="542830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 of 27</a:t>
            </a:r>
            <a:endParaRPr lang="en-US" sz="1300" dirty="0"/>
          </a:p>
        </p:txBody>
      </p:sp>
      <p:sp>
        <p:nvSpPr>
          <p:cNvPr id="107" name="Text 105"/>
          <p:cNvSpPr txBox="1"/>
          <p:nvPr/>
        </p:nvSpPr>
        <p:spPr>
          <a:xfrm>
            <a:off x="5239512" y="542830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96%</a:t>
            </a:r>
            <a:endParaRPr lang="en-US" sz="1300" dirty="0"/>
          </a:p>
        </p:txBody>
      </p:sp>
      <p:sp>
        <p:nvSpPr>
          <p:cNvPr id="108" name="Text 106"/>
          <p:cNvSpPr txBox="1"/>
          <p:nvPr/>
        </p:nvSpPr>
        <p:spPr>
          <a:xfrm>
            <a:off x="658368" y="567681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17</a:t>
            </a:r>
            <a:endParaRPr lang="en-US" sz="1200" dirty="0"/>
          </a:p>
        </p:txBody>
      </p:sp>
      <p:sp>
        <p:nvSpPr>
          <p:cNvPr id="109" name="Text 107"/>
          <p:cNvSpPr txBox="1"/>
          <p:nvPr/>
        </p:nvSpPr>
        <p:spPr>
          <a:xfrm>
            <a:off x="1014984" y="567681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NISSAN</a:t>
            </a:r>
            <a:endParaRPr lang="en-US" sz="1200" dirty="0"/>
          </a:p>
        </p:txBody>
      </p:sp>
      <p:sp>
        <p:nvSpPr>
          <p:cNvPr id="110" name="Shape 108"/>
          <p:cNvSpPr/>
          <p:nvPr/>
        </p:nvSpPr>
        <p:spPr>
          <a:xfrm>
            <a:off x="2871216" y="5732723"/>
            <a:ext cx="159807" cy="136676"/>
          </a:xfrm>
          <a:prstGeom prst="rect">
            <a:avLst/>
          </a:prstGeom>
          <a:solidFill>
            <a:srgbClr val="C2352F"/>
          </a:solidFill>
          <a:ln/>
        </p:spPr>
        <p:txBody>
          <a:bodyPr/>
          <a:p/>
        </p:txBody>
      </p:sp>
      <p:sp>
        <p:nvSpPr>
          <p:cNvPr id="111" name="Text 109"/>
          <p:cNvSpPr txBox="1"/>
          <p:nvPr/>
        </p:nvSpPr>
        <p:spPr>
          <a:xfrm>
            <a:off x="3520440" y="567681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$42K</a:t>
            </a:r>
            <a:endParaRPr lang="en-US" sz="1300" dirty="0"/>
          </a:p>
        </p:txBody>
      </p:sp>
      <p:sp>
        <p:nvSpPr>
          <p:cNvPr id="112" name="Text 110"/>
          <p:cNvSpPr txBox="1"/>
          <p:nvPr/>
        </p:nvSpPr>
        <p:spPr>
          <a:xfrm>
            <a:off x="4306824" y="5676810"/>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 of 17</a:t>
            </a:r>
            <a:endParaRPr lang="en-US" sz="1300" dirty="0"/>
          </a:p>
        </p:txBody>
      </p:sp>
      <p:sp>
        <p:nvSpPr>
          <p:cNvPr id="113" name="Text 111"/>
          <p:cNvSpPr txBox="1"/>
          <p:nvPr/>
        </p:nvSpPr>
        <p:spPr>
          <a:xfrm>
            <a:off x="5239512" y="5676810"/>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91%</a:t>
            </a:r>
            <a:endParaRPr lang="en-US" sz="1300" dirty="0"/>
          </a:p>
        </p:txBody>
      </p:sp>
      <p:sp>
        <p:nvSpPr>
          <p:cNvPr id="114" name="Text 112"/>
          <p:cNvSpPr txBox="1"/>
          <p:nvPr/>
        </p:nvSpPr>
        <p:spPr>
          <a:xfrm>
            <a:off x="6208776" y="170078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18</a:t>
            </a:r>
            <a:endParaRPr lang="en-US" sz="1200" dirty="0"/>
          </a:p>
        </p:txBody>
      </p:sp>
      <p:sp>
        <p:nvSpPr>
          <p:cNvPr id="115" name="Text 113"/>
          <p:cNvSpPr txBox="1"/>
          <p:nvPr/>
        </p:nvSpPr>
        <p:spPr>
          <a:xfrm>
            <a:off x="6565392" y="170078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FLAGSTAFF</a:t>
            </a:r>
            <a:endParaRPr lang="en-US" sz="1200" dirty="0"/>
          </a:p>
        </p:txBody>
      </p:sp>
      <p:sp>
        <p:nvSpPr>
          <p:cNvPr id="116" name="Shape 114"/>
          <p:cNvSpPr/>
          <p:nvPr/>
        </p:nvSpPr>
        <p:spPr>
          <a:xfrm>
            <a:off x="8421624" y="1756697"/>
            <a:ext cx="148734" cy="136676"/>
          </a:xfrm>
          <a:prstGeom prst="rect">
            <a:avLst/>
          </a:prstGeom>
          <a:solidFill>
            <a:srgbClr val="C2352F"/>
          </a:solidFill>
          <a:ln/>
        </p:spPr>
        <p:txBody>
          <a:bodyPr/>
          <a:p/>
        </p:txBody>
      </p:sp>
      <p:sp>
        <p:nvSpPr>
          <p:cNvPr id="117" name="Text 115"/>
          <p:cNvSpPr txBox="1"/>
          <p:nvPr/>
        </p:nvSpPr>
        <p:spPr>
          <a:xfrm>
            <a:off x="9070848" y="170078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$39K</a:t>
            </a:r>
            <a:endParaRPr lang="en-US" sz="1300" dirty="0"/>
          </a:p>
        </p:txBody>
      </p:sp>
      <p:sp>
        <p:nvSpPr>
          <p:cNvPr id="118" name="Text 116"/>
          <p:cNvSpPr txBox="1"/>
          <p:nvPr/>
        </p:nvSpPr>
        <p:spPr>
          <a:xfrm>
            <a:off x="9857232" y="170078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6</a:t>
            </a:r>
            <a:endParaRPr lang="en-US" sz="1300" dirty="0"/>
          </a:p>
        </p:txBody>
      </p:sp>
      <p:sp>
        <p:nvSpPr>
          <p:cNvPr id="119" name="Text 117"/>
          <p:cNvSpPr txBox="1"/>
          <p:nvPr/>
        </p:nvSpPr>
        <p:spPr>
          <a:xfrm>
            <a:off x="10789920" y="170078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a:t>
            </a:r>
            <a:endParaRPr lang="en-US" sz="1300" dirty="0"/>
          </a:p>
        </p:txBody>
      </p:sp>
      <p:sp>
        <p:nvSpPr>
          <p:cNvPr id="120" name="Text 118"/>
          <p:cNvSpPr txBox="1"/>
          <p:nvPr/>
        </p:nvSpPr>
        <p:spPr>
          <a:xfrm>
            <a:off x="6208776" y="194928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19</a:t>
            </a:r>
            <a:endParaRPr lang="en-US" sz="1200" dirty="0"/>
          </a:p>
        </p:txBody>
      </p:sp>
      <p:sp>
        <p:nvSpPr>
          <p:cNvPr id="121" name="Text 119"/>
          <p:cNvSpPr txBox="1"/>
          <p:nvPr/>
        </p:nvSpPr>
        <p:spPr>
          <a:xfrm>
            <a:off x="6565392" y="194928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HYUNDAI PRESCOTT</a:t>
            </a:r>
            <a:endParaRPr lang="en-US" sz="1200" dirty="0"/>
          </a:p>
        </p:txBody>
      </p:sp>
      <p:sp>
        <p:nvSpPr>
          <p:cNvPr id="122" name="Shape 120"/>
          <p:cNvSpPr/>
          <p:nvPr/>
        </p:nvSpPr>
        <p:spPr>
          <a:xfrm>
            <a:off x="8421624" y="2005199"/>
            <a:ext cx="129329" cy="136676"/>
          </a:xfrm>
          <a:prstGeom prst="rect">
            <a:avLst/>
          </a:prstGeom>
          <a:solidFill>
            <a:srgbClr val="C2352F"/>
          </a:solidFill>
          <a:ln/>
        </p:spPr>
        <p:txBody>
          <a:bodyPr/>
          <a:p/>
        </p:txBody>
      </p:sp>
      <p:sp>
        <p:nvSpPr>
          <p:cNvPr id="123" name="Text 121"/>
          <p:cNvSpPr txBox="1"/>
          <p:nvPr/>
        </p:nvSpPr>
        <p:spPr>
          <a:xfrm>
            <a:off x="9070848" y="194928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$34K</a:t>
            </a:r>
            <a:endParaRPr lang="en-US" sz="1300" dirty="0"/>
          </a:p>
        </p:txBody>
      </p:sp>
      <p:sp>
        <p:nvSpPr>
          <p:cNvPr id="124" name="Text 122"/>
          <p:cNvSpPr txBox="1"/>
          <p:nvPr/>
        </p:nvSpPr>
        <p:spPr>
          <a:xfrm>
            <a:off x="9857232" y="1949286"/>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9</a:t>
            </a:r>
            <a:endParaRPr lang="en-US" sz="1300" dirty="0"/>
          </a:p>
        </p:txBody>
      </p:sp>
      <p:sp>
        <p:nvSpPr>
          <p:cNvPr id="125" name="Text 123"/>
          <p:cNvSpPr txBox="1"/>
          <p:nvPr/>
        </p:nvSpPr>
        <p:spPr>
          <a:xfrm>
            <a:off x="10789920" y="1949286"/>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78%</a:t>
            </a:r>
            <a:endParaRPr lang="en-US" sz="1300" dirty="0"/>
          </a:p>
        </p:txBody>
      </p:sp>
      <p:sp>
        <p:nvSpPr>
          <p:cNvPr id="126" name="Text 124"/>
          <p:cNvSpPr txBox="1"/>
          <p:nvPr/>
        </p:nvSpPr>
        <p:spPr>
          <a:xfrm>
            <a:off x="6208776" y="219778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20</a:t>
            </a:r>
            <a:endParaRPr lang="en-US" sz="1200" dirty="0"/>
          </a:p>
        </p:txBody>
      </p:sp>
      <p:sp>
        <p:nvSpPr>
          <p:cNvPr id="127" name="Text 125"/>
          <p:cNvSpPr txBox="1"/>
          <p:nvPr/>
        </p:nvSpPr>
        <p:spPr>
          <a:xfrm>
            <a:off x="6565392" y="219778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LEXUS</a:t>
            </a:r>
            <a:endParaRPr lang="en-US" sz="1200" dirty="0"/>
          </a:p>
        </p:txBody>
      </p:sp>
      <p:sp>
        <p:nvSpPr>
          <p:cNvPr id="128" name="Shape 126"/>
          <p:cNvSpPr/>
          <p:nvPr/>
        </p:nvSpPr>
        <p:spPr>
          <a:xfrm>
            <a:off x="8421624" y="2253700"/>
            <a:ext cx="119109" cy="136676"/>
          </a:xfrm>
          <a:prstGeom prst="rect">
            <a:avLst/>
          </a:prstGeom>
          <a:solidFill>
            <a:srgbClr val="C2352F"/>
          </a:solidFill>
          <a:ln/>
        </p:spPr>
        <p:txBody>
          <a:bodyPr/>
          <a:p/>
        </p:txBody>
      </p:sp>
      <p:sp>
        <p:nvSpPr>
          <p:cNvPr id="129" name="Text 127"/>
          <p:cNvSpPr txBox="1"/>
          <p:nvPr/>
        </p:nvSpPr>
        <p:spPr>
          <a:xfrm>
            <a:off x="9070848" y="219778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$32K</a:t>
            </a:r>
            <a:endParaRPr lang="en-US" sz="1300" dirty="0"/>
          </a:p>
        </p:txBody>
      </p:sp>
      <p:sp>
        <p:nvSpPr>
          <p:cNvPr id="130" name="Text 128"/>
          <p:cNvSpPr txBox="1"/>
          <p:nvPr/>
        </p:nvSpPr>
        <p:spPr>
          <a:xfrm>
            <a:off x="9857232" y="219778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11</a:t>
            </a:r>
            <a:endParaRPr lang="en-US" sz="1300" dirty="0"/>
          </a:p>
        </p:txBody>
      </p:sp>
      <p:sp>
        <p:nvSpPr>
          <p:cNvPr id="131" name="Text 129"/>
          <p:cNvSpPr txBox="1"/>
          <p:nvPr/>
        </p:nvSpPr>
        <p:spPr>
          <a:xfrm>
            <a:off x="10789920" y="219778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104%</a:t>
            </a:r>
            <a:endParaRPr lang="en-US" sz="1300" dirty="0"/>
          </a:p>
        </p:txBody>
      </p:sp>
      <p:sp>
        <p:nvSpPr>
          <p:cNvPr id="132" name="Text 130"/>
          <p:cNvSpPr txBox="1"/>
          <p:nvPr/>
        </p:nvSpPr>
        <p:spPr>
          <a:xfrm>
            <a:off x="6208776" y="244628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21</a:t>
            </a:r>
            <a:endParaRPr lang="en-US" sz="1200" dirty="0"/>
          </a:p>
        </p:txBody>
      </p:sp>
      <p:sp>
        <p:nvSpPr>
          <p:cNvPr id="133" name="Text 131"/>
          <p:cNvSpPr txBox="1"/>
          <p:nvPr/>
        </p:nvSpPr>
        <p:spPr>
          <a:xfrm>
            <a:off x="6565392" y="244628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HENDERSON</a:t>
            </a:r>
            <a:endParaRPr lang="en-US" sz="1200" dirty="0"/>
          </a:p>
        </p:txBody>
      </p:sp>
      <p:sp>
        <p:nvSpPr>
          <p:cNvPr id="134" name="Shape 132"/>
          <p:cNvSpPr/>
          <p:nvPr/>
        </p:nvSpPr>
        <p:spPr>
          <a:xfrm>
            <a:off x="8421624" y="2502202"/>
            <a:ext cx="92701" cy="136676"/>
          </a:xfrm>
          <a:prstGeom prst="rect">
            <a:avLst/>
          </a:prstGeom>
          <a:solidFill>
            <a:srgbClr val="C2352F"/>
          </a:solidFill>
          <a:ln/>
        </p:spPr>
        <p:txBody>
          <a:bodyPr/>
          <a:p/>
        </p:txBody>
      </p:sp>
      <p:sp>
        <p:nvSpPr>
          <p:cNvPr id="135" name="Text 133"/>
          <p:cNvSpPr txBox="1"/>
          <p:nvPr/>
        </p:nvSpPr>
        <p:spPr>
          <a:xfrm>
            <a:off x="9070848" y="244628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$25K</a:t>
            </a:r>
            <a:endParaRPr lang="en-US" sz="1300" dirty="0"/>
          </a:p>
        </p:txBody>
      </p:sp>
      <p:sp>
        <p:nvSpPr>
          <p:cNvPr id="136" name="Text 134"/>
          <p:cNvSpPr txBox="1"/>
          <p:nvPr/>
        </p:nvSpPr>
        <p:spPr>
          <a:xfrm>
            <a:off x="9857232" y="244628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19</a:t>
            </a:r>
            <a:endParaRPr lang="en-US" sz="1300" dirty="0"/>
          </a:p>
        </p:txBody>
      </p:sp>
      <p:sp>
        <p:nvSpPr>
          <p:cNvPr id="137" name="Text 135"/>
          <p:cNvSpPr txBox="1"/>
          <p:nvPr/>
        </p:nvSpPr>
        <p:spPr>
          <a:xfrm>
            <a:off x="10789920" y="244628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92%</a:t>
            </a:r>
            <a:endParaRPr lang="en-US" sz="1300" dirty="0"/>
          </a:p>
        </p:txBody>
      </p:sp>
      <p:sp>
        <p:nvSpPr>
          <p:cNvPr id="138" name="Text 136"/>
          <p:cNvSpPr txBox="1"/>
          <p:nvPr/>
        </p:nvSpPr>
        <p:spPr>
          <a:xfrm>
            <a:off x="6208776" y="2694791"/>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22</a:t>
            </a:r>
            <a:endParaRPr lang="en-US" sz="1200" dirty="0"/>
          </a:p>
        </p:txBody>
      </p:sp>
      <p:sp>
        <p:nvSpPr>
          <p:cNvPr id="139" name="Text 137"/>
          <p:cNvSpPr txBox="1"/>
          <p:nvPr/>
        </p:nvSpPr>
        <p:spPr>
          <a:xfrm>
            <a:off x="6565392" y="2694791"/>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LINCOLN</a:t>
            </a:r>
            <a:endParaRPr lang="en-US" sz="1200" dirty="0"/>
          </a:p>
        </p:txBody>
      </p:sp>
      <p:sp>
        <p:nvSpPr>
          <p:cNvPr id="140" name="Shape 138"/>
          <p:cNvSpPr/>
          <p:nvPr/>
        </p:nvSpPr>
        <p:spPr>
          <a:xfrm>
            <a:off x="8421624" y="2750703"/>
            <a:ext cx="89382" cy="136676"/>
          </a:xfrm>
          <a:prstGeom prst="rect">
            <a:avLst/>
          </a:prstGeom>
          <a:solidFill>
            <a:srgbClr val="C2352F"/>
          </a:solidFill>
          <a:ln/>
        </p:spPr>
        <p:txBody>
          <a:bodyPr/>
          <a:p/>
        </p:txBody>
      </p:sp>
      <p:sp>
        <p:nvSpPr>
          <p:cNvPr id="141" name="Text 139"/>
          <p:cNvSpPr txBox="1"/>
          <p:nvPr/>
        </p:nvSpPr>
        <p:spPr>
          <a:xfrm>
            <a:off x="9070848" y="2694791"/>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$24K</a:t>
            </a:r>
            <a:endParaRPr lang="en-US" sz="1300" dirty="0"/>
          </a:p>
        </p:txBody>
      </p:sp>
      <p:sp>
        <p:nvSpPr>
          <p:cNvPr id="142" name="Text 140"/>
          <p:cNvSpPr txBox="1"/>
          <p:nvPr/>
        </p:nvSpPr>
        <p:spPr>
          <a:xfrm>
            <a:off x="9857232" y="2694791"/>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 of 11</a:t>
            </a:r>
            <a:endParaRPr lang="en-US" sz="1300" dirty="0"/>
          </a:p>
        </p:txBody>
      </p:sp>
      <p:sp>
        <p:nvSpPr>
          <p:cNvPr id="143" name="Text 141"/>
          <p:cNvSpPr txBox="1"/>
          <p:nvPr/>
        </p:nvSpPr>
        <p:spPr>
          <a:xfrm>
            <a:off x="10789920" y="2694791"/>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94%</a:t>
            </a:r>
            <a:endParaRPr lang="en-US" sz="1300" dirty="0"/>
          </a:p>
        </p:txBody>
      </p:sp>
      <p:sp>
        <p:nvSpPr>
          <p:cNvPr id="144" name="Text 142"/>
          <p:cNvSpPr txBox="1"/>
          <p:nvPr/>
        </p:nvSpPr>
        <p:spPr>
          <a:xfrm>
            <a:off x="6208776" y="294329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23</a:t>
            </a:r>
            <a:endParaRPr lang="en-US" sz="1200" dirty="0"/>
          </a:p>
        </p:txBody>
      </p:sp>
      <p:sp>
        <p:nvSpPr>
          <p:cNvPr id="145" name="Text 143"/>
          <p:cNvSpPr txBox="1"/>
          <p:nvPr/>
        </p:nvSpPr>
        <p:spPr>
          <a:xfrm>
            <a:off x="6565392" y="294329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SUBARU ST GEORGE</a:t>
            </a:r>
            <a:endParaRPr lang="en-US" sz="1200" dirty="0"/>
          </a:p>
        </p:txBody>
      </p:sp>
      <p:sp>
        <p:nvSpPr>
          <p:cNvPr id="146" name="Shape 144"/>
          <p:cNvSpPr/>
          <p:nvPr/>
        </p:nvSpPr>
        <p:spPr>
          <a:xfrm>
            <a:off x="8421624" y="2999205"/>
            <a:ext cx="83365" cy="136676"/>
          </a:xfrm>
          <a:prstGeom prst="rect">
            <a:avLst/>
          </a:prstGeom>
          <a:solidFill>
            <a:srgbClr val="C2352F"/>
          </a:solidFill>
          <a:ln/>
        </p:spPr>
        <p:txBody>
          <a:bodyPr/>
          <a:p/>
        </p:txBody>
      </p:sp>
      <p:sp>
        <p:nvSpPr>
          <p:cNvPr id="147" name="Text 145"/>
          <p:cNvSpPr txBox="1"/>
          <p:nvPr/>
        </p:nvSpPr>
        <p:spPr>
          <a:xfrm>
            <a:off x="9070848" y="294329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$22K</a:t>
            </a:r>
            <a:endParaRPr lang="en-US" sz="1300" dirty="0"/>
          </a:p>
        </p:txBody>
      </p:sp>
      <p:sp>
        <p:nvSpPr>
          <p:cNvPr id="148" name="Text 146"/>
          <p:cNvSpPr txBox="1"/>
          <p:nvPr/>
        </p:nvSpPr>
        <p:spPr>
          <a:xfrm>
            <a:off x="9857232" y="2943292"/>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12</a:t>
            </a:r>
            <a:endParaRPr lang="en-US" sz="1300" dirty="0"/>
          </a:p>
        </p:txBody>
      </p:sp>
      <p:sp>
        <p:nvSpPr>
          <p:cNvPr id="149" name="Text 147"/>
          <p:cNvSpPr txBox="1"/>
          <p:nvPr/>
        </p:nvSpPr>
        <p:spPr>
          <a:xfrm>
            <a:off x="10789920" y="2943292"/>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a:t>
            </a:r>
            <a:endParaRPr lang="en-US" sz="1300" dirty="0"/>
          </a:p>
        </p:txBody>
      </p:sp>
      <p:sp>
        <p:nvSpPr>
          <p:cNvPr id="150" name="Text 148"/>
          <p:cNvSpPr txBox="1"/>
          <p:nvPr/>
        </p:nvSpPr>
        <p:spPr>
          <a:xfrm>
            <a:off x="6208776" y="319179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24</a:t>
            </a:r>
            <a:endParaRPr lang="en-US" sz="1200" dirty="0"/>
          </a:p>
        </p:txBody>
      </p:sp>
      <p:sp>
        <p:nvSpPr>
          <p:cNvPr id="151" name="Text 149"/>
          <p:cNvSpPr txBox="1"/>
          <p:nvPr/>
        </p:nvSpPr>
        <p:spPr>
          <a:xfrm>
            <a:off x="6565392" y="319179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VW ST GEORGE</a:t>
            </a:r>
            <a:endParaRPr lang="en-US" sz="1200" dirty="0"/>
          </a:p>
        </p:txBody>
      </p:sp>
      <p:sp>
        <p:nvSpPr>
          <p:cNvPr id="152" name="Shape 150"/>
          <p:cNvSpPr/>
          <p:nvPr/>
        </p:nvSpPr>
        <p:spPr>
          <a:xfrm>
            <a:off x="8421624" y="3247707"/>
            <a:ext cx="78085" cy="136676"/>
          </a:xfrm>
          <a:prstGeom prst="rect">
            <a:avLst/>
          </a:prstGeom>
          <a:solidFill>
            <a:srgbClr val="C2352F"/>
          </a:solidFill>
          <a:ln/>
        </p:spPr>
        <p:txBody>
          <a:bodyPr/>
          <a:p/>
        </p:txBody>
      </p:sp>
      <p:sp>
        <p:nvSpPr>
          <p:cNvPr id="153" name="Text 151"/>
          <p:cNvSpPr txBox="1"/>
          <p:nvPr/>
        </p:nvSpPr>
        <p:spPr>
          <a:xfrm>
            <a:off x="9070848" y="319179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154" name="Text 152"/>
          <p:cNvSpPr txBox="1"/>
          <p:nvPr/>
        </p:nvSpPr>
        <p:spPr>
          <a:xfrm>
            <a:off x="9857232" y="319179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 of 5</a:t>
            </a:r>
            <a:endParaRPr lang="en-US" sz="1300" dirty="0"/>
          </a:p>
        </p:txBody>
      </p:sp>
      <p:sp>
        <p:nvSpPr>
          <p:cNvPr id="155" name="Text 153"/>
          <p:cNvSpPr txBox="1"/>
          <p:nvPr/>
        </p:nvSpPr>
        <p:spPr>
          <a:xfrm>
            <a:off x="10789920" y="319179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70%</a:t>
            </a:r>
            <a:endParaRPr lang="en-US" sz="1300" dirty="0"/>
          </a:p>
        </p:txBody>
      </p:sp>
      <p:sp>
        <p:nvSpPr>
          <p:cNvPr id="156" name="Text 154"/>
          <p:cNvSpPr txBox="1"/>
          <p:nvPr/>
        </p:nvSpPr>
        <p:spPr>
          <a:xfrm>
            <a:off x="6208776" y="3440296"/>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25</a:t>
            </a:r>
            <a:endParaRPr lang="en-US" sz="1200" dirty="0"/>
          </a:p>
        </p:txBody>
      </p:sp>
      <p:sp>
        <p:nvSpPr>
          <p:cNvPr id="157" name="Text 155"/>
          <p:cNvSpPr txBox="1"/>
          <p:nvPr/>
        </p:nvSpPr>
        <p:spPr>
          <a:xfrm>
            <a:off x="6565392" y="3440296"/>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RENO</a:t>
            </a:r>
            <a:endParaRPr lang="en-US" sz="1200" dirty="0"/>
          </a:p>
        </p:txBody>
      </p:sp>
      <p:sp>
        <p:nvSpPr>
          <p:cNvPr id="158" name="Shape 156"/>
          <p:cNvSpPr/>
          <p:nvPr/>
        </p:nvSpPr>
        <p:spPr>
          <a:xfrm>
            <a:off x="8421624" y="3496208"/>
            <a:ext cx="77498" cy="136676"/>
          </a:xfrm>
          <a:prstGeom prst="rect">
            <a:avLst/>
          </a:prstGeom>
          <a:solidFill>
            <a:srgbClr val="C2352F"/>
          </a:solidFill>
          <a:ln/>
        </p:spPr>
        <p:txBody>
          <a:bodyPr/>
          <a:p/>
        </p:txBody>
      </p:sp>
      <p:sp>
        <p:nvSpPr>
          <p:cNvPr id="159" name="Text 157"/>
          <p:cNvSpPr txBox="1"/>
          <p:nvPr/>
        </p:nvSpPr>
        <p:spPr>
          <a:xfrm>
            <a:off x="9070848" y="3440296"/>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$21K</a:t>
            </a:r>
            <a:endParaRPr lang="en-US" sz="1300" dirty="0"/>
          </a:p>
        </p:txBody>
      </p:sp>
      <p:sp>
        <p:nvSpPr>
          <p:cNvPr id="160" name="Text 158"/>
          <p:cNvSpPr txBox="1"/>
          <p:nvPr/>
        </p:nvSpPr>
        <p:spPr>
          <a:xfrm>
            <a:off x="9857232" y="3440296"/>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6</a:t>
            </a:r>
            <a:endParaRPr lang="en-US" sz="1300" dirty="0"/>
          </a:p>
        </p:txBody>
      </p:sp>
      <p:sp>
        <p:nvSpPr>
          <p:cNvPr id="161" name="Text 159"/>
          <p:cNvSpPr txBox="1"/>
          <p:nvPr/>
        </p:nvSpPr>
        <p:spPr>
          <a:xfrm>
            <a:off x="10789920" y="3440296"/>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81%</a:t>
            </a:r>
            <a:endParaRPr lang="en-US" sz="1300" dirty="0"/>
          </a:p>
        </p:txBody>
      </p:sp>
      <p:sp>
        <p:nvSpPr>
          <p:cNvPr id="162" name="Text 160"/>
          <p:cNvSpPr txBox="1"/>
          <p:nvPr/>
        </p:nvSpPr>
        <p:spPr>
          <a:xfrm>
            <a:off x="6208776" y="368879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26</a:t>
            </a:r>
            <a:endParaRPr lang="en-US" sz="1200" dirty="0"/>
          </a:p>
        </p:txBody>
      </p:sp>
      <p:sp>
        <p:nvSpPr>
          <p:cNvPr id="163" name="Text 161"/>
          <p:cNvSpPr txBox="1"/>
          <p:nvPr/>
        </p:nvSpPr>
        <p:spPr>
          <a:xfrm>
            <a:off x="6565392" y="368879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AUDI RENO</a:t>
            </a:r>
            <a:endParaRPr lang="en-US" sz="1200" dirty="0"/>
          </a:p>
        </p:txBody>
      </p:sp>
      <p:sp>
        <p:nvSpPr>
          <p:cNvPr id="164" name="Shape 162"/>
          <p:cNvSpPr/>
          <p:nvPr/>
        </p:nvSpPr>
        <p:spPr>
          <a:xfrm>
            <a:off x="8421624" y="3744710"/>
            <a:ext cx="75663" cy="136676"/>
          </a:xfrm>
          <a:prstGeom prst="rect">
            <a:avLst/>
          </a:prstGeom>
          <a:solidFill>
            <a:srgbClr val="C2352F"/>
          </a:solidFill>
          <a:ln/>
        </p:spPr>
        <p:txBody>
          <a:bodyPr/>
          <a:p/>
        </p:txBody>
      </p:sp>
      <p:sp>
        <p:nvSpPr>
          <p:cNvPr id="165" name="Text 163"/>
          <p:cNvSpPr txBox="1"/>
          <p:nvPr/>
        </p:nvSpPr>
        <p:spPr>
          <a:xfrm>
            <a:off x="9070848" y="368879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$20K</a:t>
            </a:r>
            <a:endParaRPr lang="en-US" sz="1300" dirty="0"/>
          </a:p>
        </p:txBody>
      </p:sp>
      <p:sp>
        <p:nvSpPr>
          <p:cNvPr id="166" name="Text 164"/>
          <p:cNvSpPr txBox="1"/>
          <p:nvPr/>
        </p:nvSpPr>
        <p:spPr>
          <a:xfrm>
            <a:off x="9857232" y="368879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10</a:t>
            </a:r>
            <a:endParaRPr lang="en-US" sz="1300" dirty="0"/>
          </a:p>
        </p:txBody>
      </p:sp>
      <p:sp>
        <p:nvSpPr>
          <p:cNvPr id="167" name="Text 165"/>
          <p:cNvSpPr txBox="1"/>
          <p:nvPr/>
        </p:nvSpPr>
        <p:spPr>
          <a:xfrm>
            <a:off x="10789920" y="368879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117%</a:t>
            </a:r>
            <a:endParaRPr lang="en-US" sz="1300" dirty="0"/>
          </a:p>
        </p:txBody>
      </p:sp>
      <p:sp>
        <p:nvSpPr>
          <p:cNvPr id="168" name="Text 166"/>
          <p:cNvSpPr txBox="1"/>
          <p:nvPr/>
        </p:nvSpPr>
        <p:spPr>
          <a:xfrm>
            <a:off x="6208776" y="393729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27</a:t>
            </a:r>
            <a:endParaRPr lang="en-US" sz="1200" dirty="0"/>
          </a:p>
        </p:txBody>
      </p:sp>
      <p:sp>
        <p:nvSpPr>
          <p:cNvPr id="169" name="Text 167"/>
          <p:cNvSpPr txBox="1"/>
          <p:nvPr/>
        </p:nvSpPr>
        <p:spPr>
          <a:xfrm>
            <a:off x="6565392" y="393729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LR HENDERSON</a:t>
            </a:r>
            <a:endParaRPr lang="en-US" sz="1200" dirty="0"/>
          </a:p>
        </p:txBody>
      </p:sp>
      <p:sp>
        <p:nvSpPr>
          <p:cNvPr id="170" name="Shape 168"/>
          <p:cNvSpPr/>
          <p:nvPr/>
        </p:nvSpPr>
        <p:spPr>
          <a:xfrm>
            <a:off x="8421624" y="3993212"/>
            <a:ext cx="56358" cy="136676"/>
          </a:xfrm>
          <a:prstGeom prst="rect">
            <a:avLst/>
          </a:prstGeom>
          <a:solidFill>
            <a:srgbClr val="C2352F"/>
          </a:solidFill>
          <a:ln/>
        </p:spPr>
        <p:txBody>
          <a:bodyPr/>
          <a:p/>
        </p:txBody>
      </p:sp>
      <p:sp>
        <p:nvSpPr>
          <p:cNvPr id="171" name="Text 169"/>
          <p:cNvSpPr txBox="1"/>
          <p:nvPr/>
        </p:nvSpPr>
        <p:spPr>
          <a:xfrm>
            <a:off x="9070848" y="393729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$15K</a:t>
            </a:r>
            <a:endParaRPr lang="en-US" sz="1300" dirty="0"/>
          </a:p>
        </p:txBody>
      </p:sp>
      <p:sp>
        <p:nvSpPr>
          <p:cNvPr id="172" name="Text 170"/>
          <p:cNvSpPr txBox="1"/>
          <p:nvPr/>
        </p:nvSpPr>
        <p:spPr>
          <a:xfrm>
            <a:off x="9857232" y="393729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 of 7</a:t>
            </a:r>
            <a:endParaRPr lang="en-US" sz="1300" dirty="0"/>
          </a:p>
        </p:txBody>
      </p:sp>
      <p:sp>
        <p:nvSpPr>
          <p:cNvPr id="173" name="Text 171"/>
          <p:cNvSpPr txBox="1"/>
          <p:nvPr/>
        </p:nvSpPr>
        <p:spPr>
          <a:xfrm>
            <a:off x="10789920" y="393729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106%</a:t>
            </a:r>
            <a:endParaRPr lang="en-US" sz="1300" dirty="0"/>
          </a:p>
        </p:txBody>
      </p:sp>
      <p:sp>
        <p:nvSpPr>
          <p:cNvPr id="174" name="Text 172"/>
          <p:cNvSpPr txBox="1"/>
          <p:nvPr/>
        </p:nvSpPr>
        <p:spPr>
          <a:xfrm>
            <a:off x="6208776" y="4185800"/>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28</a:t>
            </a:r>
            <a:endParaRPr lang="en-US" sz="1200" dirty="0"/>
          </a:p>
        </p:txBody>
      </p:sp>
      <p:sp>
        <p:nvSpPr>
          <p:cNvPr id="175" name="Text 173"/>
          <p:cNvSpPr txBox="1"/>
          <p:nvPr/>
        </p:nvSpPr>
        <p:spPr>
          <a:xfrm>
            <a:off x="6565392" y="4185800"/>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HENDERSON</a:t>
            </a:r>
            <a:endParaRPr lang="en-US" sz="1200" dirty="0"/>
          </a:p>
        </p:txBody>
      </p:sp>
      <p:sp>
        <p:nvSpPr>
          <p:cNvPr id="176" name="Shape 174"/>
          <p:cNvSpPr/>
          <p:nvPr/>
        </p:nvSpPr>
        <p:spPr>
          <a:xfrm>
            <a:off x="8421624" y="4241713"/>
            <a:ext cx="48801" cy="136676"/>
          </a:xfrm>
          <a:prstGeom prst="rect">
            <a:avLst/>
          </a:prstGeom>
          <a:solidFill>
            <a:srgbClr val="C2352F"/>
          </a:solidFill>
          <a:ln/>
        </p:spPr>
        <p:txBody>
          <a:bodyPr/>
          <a:p/>
        </p:txBody>
      </p:sp>
      <p:sp>
        <p:nvSpPr>
          <p:cNvPr id="177" name="Text 175"/>
          <p:cNvSpPr txBox="1"/>
          <p:nvPr/>
        </p:nvSpPr>
        <p:spPr>
          <a:xfrm>
            <a:off x="9070848" y="4185800"/>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$13K</a:t>
            </a:r>
            <a:endParaRPr lang="en-US" sz="1300" dirty="0"/>
          </a:p>
        </p:txBody>
      </p:sp>
      <p:sp>
        <p:nvSpPr>
          <p:cNvPr id="178" name="Text 176"/>
          <p:cNvSpPr txBox="1"/>
          <p:nvPr/>
        </p:nvSpPr>
        <p:spPr>
          <a:xfrm>
            <a:off x="9857232" y="4185800"/>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5 of 28</a:t>
            </a:r>
            <a:endParaRPr lang="en-US" sz="1300" dirty="0"/>
          </a:p>
        </p:txBody>
      </p:sp>
      <p:sp>
        <p:nvSpPr>
          <p:cNvPr id="179" name="Text 177"/>
          <p:cNvSpPr txBox="1"/>
          <p:nvPr/>
        </p:nvSpPr>
        <p:spPr>
          <a:xfrm>
            <a:off x="10789920" y="4185800"/>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118%</a:t>
            </a:r>
            <a:endParaRPr lang="en-US" sz="1300" dirty="0"/>
          </a:p>
        </p:txBody>
      </p:sp>
      <p:sp>
        <p:nvSpPr>
          <p:cNvPr id="180" name="Text 178"/>
          <p:cNvSpPr txBox="1"/>
          <p:nvPr/>
        </p:nvSpPr>
        <p:spPr>
          <a:xfrm>
            <a:off x="6208776" y="4434302"/>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29</a:t>
            </a:r>
            <a:endParaRPr lang="en-US" sz="1200" dirty="0"/>
          </a:p>
        </p:txBody>
      </p:sp>
      <p:sp>
        <p:nvSpPr>
          <p:cNvPr id="181" name="Text 179"/>
          <p:cNvSpPr txBox="1"/>
          <p:nvPr/>
        </p:nvSpPr>
        <p:spPr>
          <a:xfrm>
            <a:off x="6565392" y="4434302"/>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NORTH</a:t>
            </a:r>
            <a:endParaRPr lang="en-US" sz="1200" dirty="0"/>
          </a:p>
        </p:txBody>
      </p:sp>
      <p:sp>
        <p:nvSpPr>
          <p:cNvPr id="182" name="Shape 180"/>
          <p:cNvSpPr/>
          <p:nvPr/>
        </p:nvSpPr>
        <p:spPr>
          <a:xfrm>
            <a:off x="8421624" y="4490215"/>
            <a:ext cx="48716" cy="136676"/>
          </a:xfrm>
          <a:prstGeom prst="rect">
            <a:avLst/>
          </a:prstGeom>
          <a:solidFill>
            <a:srgbClr val="C2352F"/>
          </a:solidFill>
          <a:ln/>
        </p:spPr>
        <p:txBody>
          <a:bodyPr/>
          <a:p/>
        </p:txBody>
      </p:sp>
      <p:sp>
        <p:nvSpPr>
          <p:cNvPr id="183" name="Text 181"/>
          <p:cNvSpPr txBox="1"/>
          <p:nvPr/>
        </p:nvSpPr>
        <p:spPr>
          <a:xfrm>
            <a:off x="9070848" y="4434302"/>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$13K</a:t>
            </a:r>
            <a:endParaRPr lang="en-US" sz="1300" dirty="0"/>
          </a:p>
        </p:txBody>
      </p:sp>
      <p:sp>
        <p:nvSpPr>
          <p:cNvPr id="184" name="Text 182"/>
          <p:cNvSpPr txBox="1"/>
          <p:nvPr/>
        </p:nvSpPr>
        <p:spPr>
          <a:xfrm>
            <a:off x="9857232" y="4434302"/>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22</a:t>
            </a:r>
            <a:endParaRPr lang="en-US" sz="1300" dirty="0"/>
          </a:p>
        </p:txBody>
      </p:sp>
      <p:sp>
        <p:nvSpPr>
          <p:cNvPr id="185" name="Text 183"/>
          <p:cNvSpPr txBox="1"/>
          <p:nvPr/>
        </p:nvSpPr>
        <p:spPr>
          <a:xfrm>
            <a:off x="10789920" y="4434302"/>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a:t>
            </a:r>
            <a:endParaRPr lang="en-US" sz="1300" dirty="0"/>
          </a:p>
        </p:txBody>
      </p:sp>
      <p:sp>
        <p:nvSpPr>
          <p:cNvPr id="186" name="Text 184"/>
          <p:cNvSpPr txBox="1"/>
          <p:nvPr/>
        </p:nvSpPr>
        <p:spPr>
          <a:xfrm>
            <a:off x="6208776" y="4682804"/>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30</a:t>
            </a:r>
            <a:endParaRPr lang="en-US" sz="1200" dirty="0"/>
          </a:p>
        </p:txBody>
      </p:sp>
      <p:sp>
        <p:nvSpPr>
          <p:cNvPr id="187" name="Text 185"/>
          <p:cNvSpPr txBox="1"/>
          <p:nvPr/>
        </p:nvSpPr>
        <p:spPr>
          <a:xfrm>
            <a:off x="6565392" y="4682804"/>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SPOKANE</a:t>
            </a:r>
            <a:endParaRPr lang="en-US" sz="1200" dirty="0"/>
          </a:p>
        </p:txBody>
      </p:sp>
      <p:sp>
        <p:nvSpPr>
          <p:cNvPr id="188" name="Shape 186"/>
          <p:cNvSpPr/>
          <p:nvPr/>
        </p:nvSpPr>
        <p:spPr>
          <a:xfrm>
            <a:off x="8421624" y="4738717"/>
            <a:ext cx="42835" cy="136676"/>
          </a:xfrm>
          <a:prstGeom prst="rect">
            <a:avLst/>
          </a:prstGeom>
          <a:solidFill>
            <a:srgbClr val="C2352F"/>
          </a:solidFill>
          <a:ln/>
        </p:spPr>
        <p:txBody>
          <a:bodyPr/>
          <a:p/>
        </p:txBody>
      </p:sp>
      <p:sp>
        <p:nvSpPr>
          <p:cNvPr id="189" name="Text 187"/>
          <p:cNvSpPr txBox="1"/>
          <p:nvPr/>
        </p:nvSpPr>
        <p:spPr>
          <a:xfrm>
            <a:off x="9070848" y="4682804"/>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$11K</a:t>
            </a:r>
            <a:endParaRPr lang="en-US" sz="1300" dirty="0"/>
          </a:p>
        </p:txBody>
      </p:sp>
      <p:sp>
        <p:nvSpPr>
          <p:cNvPr id="190" name="Text 188"/>
          <p:cNvSpPr txBox="1"/>
          <p:nvPr/>
        </p:nvSpPr>
        <p:spPr>
          <a:xfrm>
            <a:off x="9857232" y="4682804"/>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28</a:t>
            </a:r>
            <a:endParaRPr lang="en-US" sz="1300" dirty="0"/>
          </a:p>
        </p:txBody>
      </p:sp>
      <p:sp>
        <p:nvSpPr>
          <p:cNvPr id="191" name="Text 189"/>
          <p:cNvSpPr txBox="1"/>
          <p:nvPr/>
        </p:nvSpPr>
        <p:spPr>
          <a:xfrm>
            <a:off x="10789920" y="4682804"/>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108%</a:t>
            </a:r>
            <a:endParaRPr lang="en-US" sz="1300" dirty="0"/>
          </a:p>
        </p:txBody>
      </p:sp>
      <p:sp>
        <p:nvSpPr>
          <p:cNvPr id="192" name="Text 190"/>
          <p:cNvSpPr txBox="1"/>
          <p:nvPr/>
        </p:nvSpPr>
        <p:spPr>
          <a:xfrm>
            <a:off x="6208776" y="4931305"/>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31</a:t>
            </a:r>
            <a:endParaRPr lang="en-US" sz="1200" dirty="0"/>
          </a:p>
        </p:txBody>
      </p:sp>
      <p:sp>
        <p:nvSpPr>
          <p:cNvPr id="193" name="Text 191"/>
          <p:cNvSpPr txBox="1"/>
          <p:nvPr/>
        </p:nvSpPr>
        <p:spPr>
          <a:xfrm>
            <a:off x="6565392" y="4931305"/>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TOYOTA FLAGSTAFF</a:t>
            </a:r>
            <a:endParaRPr lang="en-US" sz="1200" dirty="0"/>
          </a:p>
        </p:txBody>
      </p:sp>
      <p:sp>
        <p:nvSpPr>
          <p:cNvPr id="194" name="Shape 192"/>
          <p:cNvSpPr/>
          <p:nvPr/>
        </p:nvSpPr>
        <p:spPr>
          <a:xfrm>
            <a:off x="8421624" y="4987218"/>
            <a:ext cx="39448" cy="136676"/>
          </a:xfrm>
          <a:prstGeom prst="rect">
            <a:avLst/>
          </a:prstGeom>
          <a:solidFill>
            <a:srgbClr val="C2352F"/>
          </a:solidFill>
          <a:ln/>
        </p:spPr>
        <p:txBody>
          <a:bodyPr/>
          <a:p/>
        </p:txBody>
      </p:sp>
      <p:sp>
        <p:nvSpPr>
          <p:cNvPr id="195" name="Text 193"/>
          <p:cNvSpPr txBox="1"/>
          <p:nvPr/>
        </p:nvSpPr>
        <p:spPr>
          <a:xfrm>
            <a:off x="9070848" y="4931305"/>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$10K</a:t>
            </a:r>
            <a:endParaRPr lang="en-US" sz="1300" dirty="0"/>
          </a:p>
        </p:txBody>
      </p:sp>
      <p:sp>
        <p:nvSpPr>
          <p:cNvPr id="196" name="Text 194"/>
          <p:cNvSpPr txBox="1"/>
          <p:nvPr/>
        </p:nvSpPr>
        <p:spPr>
          <a:xfrm>
            <a:off x="9857232" y="4931305"/>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6 of 18</a:t>
            </a:r>
            <a:endParaRPr lang="en-US" sz="1300" dirty="0"/>
          </a:p>
        </p:txBody>
      </p:sp>
      <p:sp>
        <p:nvSpPr>
          <p:cNvPr id="197" name="Text 195"/>
          <p:cNvSpPr txBox="1"/>
          <p:nvPr/>
        </p:nvSpPr>
        <p:spPr>
          <a:xfrm>
            <a:off x="10789920" y="4931305"/>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102%</a:t>
            </a:r>
            <a:endParaRPr lang="en-US" sz="1300" dirty="0"/>
          </a:p>
        </p:txBody>
      </p:sp>
      <p:sp>
        <p:nvSpPr>
          <p:cNvPr id="198" name="Text 196"/>
          <p:cNvSpPr txBox="1"/>
          <p:nvPr/>
        </p:nvSpPr>
        <p:spPr>
          <a:xfrm>
            <a:off x="6208776" y="5179807"/>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32</a:t>
            </a:r>
            <a:endParaRPr lang="en-US" sz="1200" dirty="0"/>
          </a:p>
        </p:txBody>
      </p:sp>
      <p:sp>
        <p:nvSpPr>
          <p:cNvPr id="199" name="Text 197"/>
          <p:cNvSpPr txBox="1"/>
          <p:nvPr/>
        </p:nvSpPr>
        <p:spPr>
          <a:xfrm>
            <a:off x="6565392" y="5179807"/>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MAZDA</a:t>
            </a:r>
            <a:endParaRPr lang="en-US" sz="1200" dirty="0"/>
          </a:p>
        </p:txBody>
      </p:sp>
      <p:sp>
        <p:nvSpPr>
          <p:cNvPr id="200" name="Shape 198"/>
          <p:cNvSpPr/>
          <p:nvPr/>
        </p:nvSpPr>
        <p:spPr>
          <a:xfrm>
            <a:off x="8421624" y="5235720"/>
            <a:ext cx="32291" cy="136676"/>
          </a:xfrm>
          <a:prstGeom prst="rect">
            <a:avLst/>
          </a:prstGeom>
          <a:solidFill>
            <a:srgbClr val="C2352F"/>
          </a:solidFill>
          <a:ln/>
        </p:spPr>
        <p:txBody>
          <a:bodyPr/>
          <a:p/>
        </p:txBody>
      </p:sp>
      <p:sp>
        <p:nvSpPr>
          <p:cNvPr id="201" name="Text 199"/>
          <p:cNvSpPr txBox="1"/>
          <p:nvPr/>
        </p:nvSpPr>
        <p:spPr>
          <a:xfrm>
            <a:off x="9070848" y="5179807"/>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$9K</a:t>
            </a:r>
            <a:endParaRPr lang="en-US" sz="1300" dirty="0"/>
          </a:p>
        </p:txBody>
      </p:sp>
      <p:sp>
        <p:nvSpPr>
          <p:cNvPr id="202" name="Text 200"/>
          <p:cNvSpPr txBox="1"/>
          <p:nvPr/>
        </p:nvSpPr>
        <p:spPr>
          <a:xfrm>
            <a:off x="9857232" y="5179807"/>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4 of 11</a:t>
            </a:r>
            <a:endParaRPr lang="en-US" sz="1300" dirty="0"/>
          </a:p>
        </p:txBody>
      </p:sp>
      <p:sp>
        <p:nvSpPr>
          <p:cNvPr id="203" name="Text 201"/>
          <p:cNvSpPr txBox="1"/>
          <p:nvPr/>
        </p:nvSpPr>
        <p:spPr>
          <a:xfrm>
            <a:off x="10789920" y="5179807"/>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101%</a:t>
            </a:r>
            <a:endParaRPr lang="en-US" sz="1300" dirty="0"/>
          </a:p>
        </p:txBody>
      </p:sp>
      <p:sp>
        <p:nvSpPr>
          <p:cNvPr id="204" name="Text 202"/>
          <p:cNvSpPr txBox="1"/>
          <p:nvPr/>
        </p:nvSpPr>
        <p:spPr>
          <a:xfrm>
            <a:off x="6208776" y="5428309"/>
            <a:ext cx="310896" cy="248502"/>
          </a:xfrm>
          <a:prstGeom prst="rect">
            <a:avLst/>
          </a:prstGeom>
          <a:noFill/>
          <a:ln/>
        </p:spPr>
        <p:txBody>
          <a:bodyPr wrap="square" lIns="0" tIns="0" rIns="0" bIns="0" rtlCol="0" anchor="ctr"/>
          <a:lstStyle/>
          <a:p>
            <a:pPr algn="r" indent="0" marL="0">
              <a:buNone/>
            </a:pPr>
            <a:r>
              <a:rPr lang="en-US" sz="1200" dirty="0">
                <a:solidFill>
                  <a:srgbClr val="9AA3AD"/>
                </a:solidFill>
                <a:latin typeface="Inter" pitchFamily="34" charset="0"/>
                <a:ea typeface="Inter" pitchFamily="34" charset="-122"/>
                <a:cs typeface="Inter" pitchFamily="34" charset="-120"/>
              </a:rPr>
              <a:t>33</a:t>
            </a:r>
            <a:endParaRPr lang="en-US" sz="1200" dirty="0"/>
          </a:p>
        </p:txBody>
      </p:sp>
      <p:sp>
        <p:nvSpPr>
          <p:cNvPr id="205" name="Text 203"/>
          <p:cNvSpPr txBox="1"/>
          <p:nvPr/>
        </p:nvSpPr>
        <p:spPr>
          <a:xfrm>
            <a:off x="6565392" y="5428309"/>
            <a:ext cx="1783080" cy="248502"/>
          </a:xfrm>
          <a:prstGeom prst="rect">
            <a:avLst/>
          </a:prstGeom>
          <a:noFill/>
          <a:ln/>
        </p:spPr>
        <p:txBody>
          <a:bodyPr wrap="square" lIns="0" tIns="0" rIns="0" bIns="0" rtlCol="0" anchor="ctr"/>
          <a:lstStyle/>
          <a:p>
            <a:pPr indent="0" marL="0">
              <a:buNone/>
            </a:pPr>
            <a:r>
              <a:rPr lang="en-US" sz="1200" dirty="0">
                <a:solidFill>
                  <a:srgbClr val="1A1A1A"/>
                </a:solidFill>
                <a:latin typeface="Inter" pitchFamily="34" charset="0"/>
                <a:ea typeface="Inter" pitchFamily="34" charset="-122"/>
                <a:cs typeface="Inter" pitchFamily="34" charset="-120"/>
              </a:rPr>
              <a:t>HONDA SPOKANE</a:t>
            </a:r>
            <a:endParaRPr lang="en-US" sz="1200" dirty="0"/>
          </a:p>
        </p:txBody>
      </p:sp>
      <p:sp>
        <p:nvSpPr>
          <p:cNvPr id="206" name="Shape 204"/>
          <p:cNvSpPr/>
          <p:nvPr/>
        </p:nvSpPr>
        <p:spPr>
          <a:xfrm>
            <a:off x="8421624" y="5484222"/>
            <a:ext cx="18288" cy="136676"/>
          </a:xfrm>
          <a:prstGeom prst="rect">
            <a:avLst/>
          </a:prstGeom>
          <a:solidFill>
            <a:srgbClr val="C2352F"/>
          </a:solidFill>
          <a:ln/>
        </p:spPr>
        <p:txBody>
          <a:bodyPr/>
          <a:p/>
        </p:txBody>
      </p:sp>
      <p:sp>
        <p:nvSpPr>
          <p:cNvPr id="207" name="Text 205"/>
          <p:cNvSpPr txBox="1"/>
          <p:nvPr/>
        </p:nvSpPr>
        <p:spPr>
          <a:xfrm>
            <a:off x="9070848" y="5428309"/>
            <a:ext cx="786384" cy="248502"/>
          </a:xfrm>
          <a:prstGeom prst="rect">
            <a:avLst/>
          </a:prstGeom>
          <a:noFill/>
          <a:ln/>
        </p:spPr>
        <p:txBody>
          <a:bodyPr wrap="square" lIns="0" tIns="0" rIns="0" bIns="0" rtlCol="0" anchor="ctr"/>
          <a:lstStyle/>
          <a:p>
            <a:pPr algn="r" indent="0" marL="0">
              <a:buNone/>
            </a:pPr>
            <a:r>
              <a:rPr lang="en-US" sz="1300" b="1" dirty="0">
                <a:solidFill>
                  <a:srgbClr val="A82B26"/>
                </a:solidFill>
                <a:latin typeface="Inter" pitchFamily="34" charset="0"/>
                <a:ea typeface="Inter" pitchFamily="34" charset="-122"/>
                <a:cs typeface="Inter" pitchFamily="34" charset="-120"/>
              </a:rPr>
              <a:t>$1K</a:t>
            </a:r>
            <a:endParaRPr lang="en-US" sz="1300" dirty="0"/>
          </a:p>
        </p:txBody>
      </p:sp>
      <p:sp>
        <p:nvSpPr>
          <p:cNvPr id="208" name="Text 206"/>
          <p:cNvSpPr txBox="1"/>
          <p:nvPr/>
        </p:nvSpPr>
        <p:spPr>
          <a:xfrm>
            <a:off x="9857232" y="5428309"/>
            <a:ext cx="932688"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 of 15</a:t>
            </a:r>
            <a:endParaRPr lang="en-US" sz="1300" dirty="0"/>
          </a:p>
        </p:txBody>
      </p:sp>
      <p:sp>
        <p:nvSpPr>
          <p:cNvPr id="209" name="Text 207"/>
          <p:cNvSpPr txBox="1"/>
          <p:nvPr/>
        </p:nvSpPr>
        <p:spPr>
          <a:xfrm>
            <a:off x="10789920" y="5428309"/>
            <a:ext cx="676656" cy="24850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109%</a:t>
            </a:r>
            <a:endParaRPr lang="en-US" sz="1300" dirty="0"/>
          </a:p>
        </p:txBody>
      </p:sp>
      <p:sp>
        <p:nvSpPr>
          <p:cNvPr id="210" name="Shape 208"/>
          <p:cNvSpPr/>
          <p:nvPr/>
        </p:nvSpPr>
        <p:spPr>
          <a:xfrm>
            <a:off x="6085332" y="1700784"/>
            <a:ext cx="10973" cy="4224528"/>
          </a:xfrm>
          <a:prstGeom prst="rect">
            <a:avLst/>
          </a:prstGeom>
          <a:solidFill>
            <a:srgbClr val="D9D9D9"/>
          </a:solidFill>
          <a:ln/>
        </p:spPr>
        <p:txBody>
          <a:bodyPr/>
          <a:p/>
        </p:txBody>
      </p:sp>
      <p:sp>
        <p:nvSpPr>
          <p:cNvPr id="212" name="Shape 209"/>
          <p:cNvSpPr/>
          <p:nvPr/>
        </p:nvSpPr>
        <p:spPr>
          <a:xfrm>
            <a:off x="457200" y="6126480"/>
            <a:ext cx="11274552" cy="371856"/>
          </a:xfrm>
          <a:prstGeom prst="rect">
            <a:avLst/>
          </a:prstGeom>
          <a:solidFill>
            <a:srgbClr val="FBEBEA"/>
          </a:solidFill>
          <a:ln/>
        </p:spPr>
        <p:txBody>
          <a:bodyPr/>
          <a:p/>
        </p:txBody>
      </p:sp>
      <p:sp>
        <p:nvSpPr>
          <p:cNvPr id="213" name="Text 210"/>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Six stores hold $647K a month. 20 stores at or above 85% still leave $818K a month.</a:t>
            </a:r>
            <a:endParaRPr lang="en-US" sz="1600" dirty="0"/>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Better Than Last Year</a:t>
            </a:r>
            <a:endParaRPr lang="en-US" sz="2800" dirty="0"/>
          </a:p>
        </p:txBody>
      </p:sp>
      <p:sp>
        <p:nvSpPr>
          <p:cNvPr id="5" name="Shape 3"/>
          <p:cNvSpPr/>
          <p:nvPr/>
        </p:nvSpPr>
        <p:spPr>
          <a:xfrm>
            <a:off x="457200" y="1207008"/>
            <a:ext cx="11274552" cy="4645152"/>
          </a:xfrm>
          <a:prstGeom prst="rect">
            <a:avLst/>
          </a:prstGeom>
          <a:solidFill>
            <a:srgbClr val="FFFFFF"/>
          </a:solidFill>
          <a:ln/>
        </p:spPr>
        <p:txBody>
          <a:bodyPr/>
          <a:p/>
        </p:txBody>
      </p:sp>
      <p:sp>
        <p:nvSpPr>
          <p:cNvPr id="6" name="Text 4"/>
          <p:cNvSpPr txBox="1"/>
          <p:nvPr/>
        </p:nvSpPr>
        <p:spPr>
          <a:xfrm>
            <a:off x="713232" y="1280160"/>
            <a:ext cx="10762488" cy="25603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Top and bottom three stores on each measure, Jan–Sep 2026 vs Jan–Sep 2025</a:t>
            </a:r>
            <a:endParaRPr lang="en-US" sz="1400" dirty="0"/>
          </a:p>
        </p:txBody>
      </p:sp>
      <p:sp>
        <p:nvSpPr>
          <p:cNvPr id="7" name="Shape 5"/>
          <p:cNvSpPr/>
          <p:nvPr/>
        </p:nvSpPr>
        <p:spPr>
          <a:xfrm>
            <a:off x="621792" y="2331720"/>
            <a:ext cx="45720" cy="1591056"/>
          </a:xfrm>
          <a:prstGeom prst="rect">
            <a:avLst/>
          </a:prstGeom>
          <a:solidFill>
            <a:srgbClr val="12A566"/>
          </a:solidFill>
          <a:ln/>
        </p:spPr>
        <p:txBody>
          <a:bodyPr/>
          <a:p/>
        </p:txBody>
      </p:sp>
      <p:sp>
        <p:nvSpPr>
          <p:cNvPr id="8" name="Shape 6"/>
          <p:cNvSpPr/>
          <p:nvPr/>
        </p:nvSpPr>
        <p:spPr>
          <a:xfrm>
            <a:off x="685800" y="2331720"/>
            <a:ext cx="10881360" cy="530352"/>
          </a:xfrm>
          <a:prstGeom prst="rect">
            <a:avLst/>
          </a:prstGeom>
          <a:solidFill>
            <a:srgbClr val="F7F7F7"/>
          </a:solidFill>
          <a:ln/>
        </p:spPr>
        <p:txBody>
          <a:bodyPr/>
          <a:p/>
        </p:txBody>
      </p:sp>
      <p:sp>
        <p:nvSpPr>
          <p:cNvPr id="9" name="Text 7"/>
          <p:cNvSpPr txBox="1"/>
          <p:nvPr/>
        </p:nvSpPr>
        <p:spPr>
          <a:xfrm>
            <a:off x="676656" y="2331720"/>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1</a:t>
            </a:r>
            <a:endParaRPr lang="en-US" sz="1600" dirty="0"/>
          </a:p>
        </p:txBody>
      </p:sp>
      <p:sp>
        <p:nvSpPr>
          <p:cNvPr id="10" name="Text 8"/>
          <p:cNvSpPr txBox="1"/>
          <p:nvPr/>
        </p:nvSpPr>
        <p:spPr>
          <a:xfrm>
            <a:off x="676656" y="2862072"/>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2</a:t>
            </a:r>
            <a:endParaRPr lang="en-US" sz="1600" dirty="0"/>
          </a:p>
        </p:txBody>
      </p:sp>
      <p:sp>
        <p:nvSpPr>
          <p:cNvPr id="11" name="Shape 9"/>
          <p:cNvSpPr/>
          <p:nvPr/>
        </p:nvSpPr>
        <p:spPr>
          <a:xfrm>
            <a:off x="685800" y="3392424"/>
            <a:ext cx="10881360" cy="530352"/>
          </a:xfrm>
          <a:prstGeom prst="rect">
            <a:avLst/>
          </a:prstGeom>
          <a:solidFill>
            <a:srgbClr val="F7F7F7"/>
          </a:solidFill>
          <a:ln/>
        </p:spPr>
        <p:txBody>
          <a:bodyPr/>
          <a:p/>
        </p:txBody>
      </p:sp>
      <p:sp>
        <p:nvSpPr>
          <p:cNvPr id="12" name="Text 10"/>
          <p:cNvSpPr txBox="1"/>
          <p:nvPr/>
        </p:nvSpPr>
        <p:spPr>
          <a:xfrm>
            <a:off x="676656" y="3392424"/>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3</a:t>
            </a:r>
            <a:endParaRPr lang="en-US" sz="1600" dirty="0"/>
          </a:p>
        </p:txBody>
      </p:sp>
      <p:sp>
        <p:nvSpPr>
          <p:cNvPr id="13" name="Shape 11"/>
          <p:cNvSpPr/>
          <p:nvPr/>
        </p:nvSpPr>
        <p:spPr>
          <a:xfrm>
            <a:off x="621792" y="4078224"/>
            <a:ext cx="45720" cy="1591056"/>
          </a:xfrm>
          <a:prstGeom prst="rect">
            <a:avLst/>
          </a:prstGeom>
          <a:solidFill>
            <a:srgbClr val="C2352F"/>
          </a:solidFill>
          <a:ln/>
        </p:spPr>
        <p:txBody>
          <a:bodyPr/>
          <a:p/>
        </p:txBody>
      </p:sp>
      <p:sp>
        <p:nvSpPr>
          <p:cNvPr id="14" name="Shape 12"/>
          <p:cNvSpPr/>
          <p:nvPr/>
        </p:nvSpPr>
        <p:spPr>
          <a:xfrm>
            <a:off x="685800" y="4078224"/>
            <a:ext cx="10881360" cy="530352"/>
          </a:xfrm>
          <a:prstGeom prst="rect">
            <a:avLst/>
          </a:prstGeom>
          <a:solidFill>
            <a:srgbClr val="F7F7F7"/>
          </a:solidFill>
          <a:ln/>
        </p:spPr>
        <p:txBody>
          <a:bodyPr/>
          <a:p/>
        </p:txBody>
      </p:sp>
      <p:sp>
        <p:nvSpPr>
          <p:cNvPr id="15" name="Text 13"/>
          <p:cNvSpPr txBox="1"/>
          <p:nvPr/>
        </p:nvSpPr>
        <p:spPr>
          <a:xfrm>
            <a:off x="676656" y="4078224"/>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31</a:t>
            </a:r>
            <a:endParaRPr lang="en-US" sz="1600" dirty="0"/>
          </a:p>
        </p:txBody>
      </p:sp>
      <p:sp>
        <p:nvSpPr>
          <p:cNvPr id="16" name="Text 14"/>
          <p:cNvSpPr txBox="1"/>
          <p:nvPr/>
        </p:nvSpPr>
        <p:spPr>
          <a:xfrm>
            <a:off x="676656" y="4608576"/>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32</a:t>
            </a:r>
            <a:endParaRPr lang="en-US" sz="1600" dirty="0"/>
          </a:p>
        </p:txBody>
      </p:sp>
      <p:sp>
        <p:nvSpPr>
          <p:cNvPr id="17" name="Shape 15"/>
          <p:cNvSpPr/>
          <p:nvPr/>
        </p:nvSpPr>
        <p:spPr>
          <a:xfrm>
            <a:off x="685800" y="5138928"/>
            <a:ext cx="10881360" cy="530352"/>
          </a:xfrm>
          <a:prstGeom prst="rect">
            <a:avLst/>
          </a:prstGeom>
          <a:solidFill>
            <a:srgbClr val="F7F7F7"/>
          </a:solidFill>
          <a:ln/>
        </p:spPr>
        <p:txBody>
          <a:bodyPr/>
          <a:p/>
        </p:txBody>
      </p:sp>
      <p:sp>
        <p:nvSpPr>
          <p:cNvPr id="18" name="Text 16"/>
          <p:cNvSpPr txBox="1"/>
          <p:nvPr/>
        </p:nvSpPr>
        <p:spPr>
          <a:xfrm>
            <a:off x="676656" y="5138928"/>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33</a:t>
            </a:r>
            <a:endParaRPr lang="en-US" sz="1600" dirty="0"/>
          </a:p>
        </p:txBody>
      </p:sp>
      <p:sp>
        <p:nvSpPr>
          <p:cNvPr id="19" name="Shape 17"/>
          <p:cNvSpPr/>
          <p:nvPr/>
        </p:nvSpPr>
        <p:spPr>
          <a:xfrm>
            <a:off x="3044952" y="1691640"/>
            <a:ext cx="10973" cy="3977640"/>
          </a:xfrm>
          <a:prstGeom prst="rect">
            <a:avLst/>
          </a:prstGeom>
          <a:solidFill>
            <a:srgbClr val="D9D9D9"/>
          </a:solidFill>
          <a:ln/>
        </p:spPr>
        <p:txBody>
          <a:bodyPr/>
          <a:p/>
        </p:txBody>
      </p:sp>
      <p:sp>
        <p:nvSpPr>
          <p:cNvPr id="20" name="Shape 18"/>
          <p:cNvSpPr/>
          <p:nvPr/>
        </p:nvSpPr>
        <p:spPr>
          <a:xfrm>
            <a:off x="5180990" y="1691640"/>
            <a:ext cx="10973" cy="3977640"/>
          </a:xfrm>
          <a:prstGeom prst="rect">
            <a:avLst/>
          </a:prstGeom>
          <a:solidFill>
            <a:srgbClr val="D9D9D9"/>
          </a:solidFill>
          <a:ln/>
        </p:spPr>
        <p:txBody>
          <a:bodyPr/>
          <a:p/>
        </p:txBody>
      </p:sp>
      <p:sp>
        <p:nvSpPr>
          <p:cNvPr id="21" name="Shape 19"/>
          <p:cNvSpPr/>
          <p:nvPr/>
        </p:nvSpPr>
        <p:spPr>
          <a:xfrm>
            <a:off x="7317029" y="1691640"/>
            <a:ext cx="10973" cy="3977640"/>
          </a:xfrm>
          <a:prstGeom prst="rect">
            <a:avLst/>
          </a:prstGeom>
          <a:solidFill>
            <a:srgbClr val="D9D9D9"/>
          </a:solidFill>
          <a:ln/>
        </p:spPr>
        <p:txBody>
          <a:bodyPr/>
          <a:p/>
        </p:txBody>
      </p:sp>
      <p:sp>
        <p:nvSpPr>
          <p:cNvPr id="22" name="Shape 20"/>
          <p:cNvSpPr/>
          <p:nvPr/>
        </p:nvSpPr>
        <p:spPr>
          <a:xfrm>
            <a:off x="9453067" y="1691640"/>
            <a:ext cx="10973" cy="3977640"/>
          </a:xfrm>
          <a:prstGeom prst="rect">
            <a:avLst/>
          </a:prstGeom>
          <a:solidFill>
            <a:srgbClr val="D9D9D9"/>
          </a:solidFill>
          <a:ln/>
        </p:spPr>
        <p:txBody>
          <a:bodyPr/>
          <a:p/>
        </p:txBody>
      </p:sp>
      <p:sp>
        <p:nvSpPr>
          <p:cNvPr id="23" name="Shape 21"/>
          <p:cNvSpPr/>
          <p:nvPr/>
        </p:nvSpPr>
        <p:spPr>
          <a:xfrm>
            <a:off x="969264" y="1691640"/>
            <a:ext cx="2026310" cy="45720"/>
          </a:xfrm>
          <a:prstGeom prst="rect">
            <a:avLst/>
          </a:prstGeom>
          <a:solidFill>
            <a:srgbClr val="12A566"/>
          </a:solidFill>
          <a:ln/>
        </p:spPr>
        <p:txBody>
          <a:bodyPr/>
          <a:p/>
        </p:txBody>
      </p:sp>
      <p:sp>
        <p:nvSpPr>
          <p:cNvPr id="24" name="Text 22"/>
          <p:cNvSpPr txBox="1"/>
          <p:nvPr/>
        </p:nvSpPr>
        <p:spPr>
          <a:xfrm>
            <a:off x="987552"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GROSS</a:t>
            </a:r>
            <a:endParaRPr lang="en-US" sz="1300" dirty="0"/>
          </a:p>
        </p:txBody>
      </p:sp>
      <p:sp>
        <p:nvSpPr>
          <p:cNvPr id="25" name="Text 23"/>
          <p:cNvSpPr txBox="1"/>
          <p:nvPr/>
        </p:nvSpPr>
        <p:spPr>
          <a:xfrm>
            <a:off x="987552"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+6.5%</a:t>
            </a:r>
            <a:endParaRPr lang="en-US" sz="1300" dirty="0"/>
          </a:p>
        </p:txBody>
      </p:sp>
      <p:sp>
        <p:nvSpPr>
          <p:cNvPr id="26" name="Text 24"/>
          <p:cNvSpPr txBox="1"/>
          <p:nvPr/>
        </p:nvSpPr>
        <p:spPr>
          <a:xfrm>
            <a:off x="987552"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Lincoln</a:t>
            </a:r>
            <a:endParaRPr lang="en-US" sz="1300" dirty="0"/>
          </a:p>
        </p:txBody>
      </p:sp>
      <p:sp>
        <p:nvSpPr>
          <p:cNvPr id="27" name="Text 25"/>
          <p:cNvSpPr txBox="1"/>
          <p:nvPr/>
        </p:nvSpPr>
        <p:spPr>
          <a:xfrm>
            <a:off x="987552"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+46.1%</a:t>
            </a:r>
            <a:endParaRPr lang="en-US" sz="1600" dirty="0"/>
          </a:p>
        </p:txBody>
      </p:sp>
      <p:sp>
        <p:nvSpPr>
          <p:cNvPr id="28" name="Text 26"/>
          <p:cNvSpPr txBox="1"/>
          <p:nvPr/>
        </p:nvSpPr>
        <p:spPr>
          <a:xfrm>
            <a:off x="987552"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Prescott</a:t>
            </a:r>
            <a:endParaRPr lang="en-US" sz="1300" dirty="0"/>
          </a:p>
        </p:txBody>
      </p:sp>
      <p:sp>
        <p:nvSpPr>
          <p:cNvPr id="29" name="Text 27"/>
          <p:cNvSpPr txBox="1"/>
          <p:nvPr/>
        </p:nvSpPr>
        <p:spPr>
          <a:xfrm>
            <a:off x="987552"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+45.4%</a:t>
            </a:r>
            <a:endParaRPr lang="en-US" sz="1600" dirty="0"/>
          </a:p>
        </p:txBody>
      </p:sp>
      <p:sp>
        <p:nvSpPr>
          <p:cNvPr id="30" name="Text 28"/>
          <p:cNvSpPr txBox="1"/>
          <p:nvPr/>
        </p:nvSpPr>
        <p:spPr>
          <a:xfrm>
            <a:off x="987552"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31" name="Text 29"/>
          <p:cNvSpPr txBox="1"/>
          <p:nvPr/>
        </p:nvSpPr>
        <p:spPr>
          <a:xfrm>
            <a:off x="987552"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+33.8%</a:t>
            </a:r>
            <a:endParaRPr lang="en-US" sz="1600" dirty="0"/>
          </a:p>
        </p:txBody>
      </p:sp>
      <p:sp>
        <p:nvSpPr>
          <p:cNvPr id="32" name="Text 30"/>
          <p:cNvSpPr txBox="1"/>
          <p:nvPr/>
        </p:nvSpPr>
        <p:spPr>
          <a:xfrm>
            <a:off x="987552"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Chevy LV</a:t>
            </a:r>
            <a:endParaRPr lang="en-US" sz="1300" dirty="0"/>
          </a:p>
        </p:txBody>
      </p:sp>
      <p:sp>
        <p:nvSpPr>
          <p:cNvPr id="33" name="Text 31"/>
          <p:cNvSpPr txBox="1"/>
          <p:nvPr/>
        </p:nvSpPr>
        <p:spPr>
          <a:xfrm>
            <a:off x="987552"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−4.4%</a:t>
            </a:r>
            <a:endParaRPr lang="en-US" sz="1600" dirty="0"/>
          </a:p>
        </p:txBody>
      </p:sp>
      <p:sp>
        <p:nvSpPr>
          <p:cNvPr id="34" name="Text 32"/>
          <p:cNvSpPr txBox="1"/>
          <p:nvPr/>
        </p:nvSpPr>
        <p:spPr>
          <a:xfrm>
            <a:off x="987552"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Audi Reno</a:t>
            </a:r>
            <a:endParaRPr lang="en-US" sz="1300" dirty="0"/>
          </a:p>
        </p:txBody>
      </p:sp>
      <p:sp>
        <p:nvSpPr>
          <p:cNvPr id="35" name="Text 33"/>
          <p:cNvSpPr txBox="1"/>
          <p:nvPr/>
        </p:nvSpPr>
        <p:spPr>
          <a:xfrm>
            <a:off x="987552"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−14.1%</a:t>
            </a:r>
            <a:endParaRPr lang="en-US" sz="1600" dirty="0"/>
          </a:p>
        </p:txBody>
      </p:sp>
      <p:sp>
        <p:nvSpPr>
          <p:cNvPr id="36" name="Text 34"/>
          <p:cNvSpPr txBox="1"/>
          <p:nvPr/>
        </p:nvSpPr>
        <p:spPr>
          <a:xfrm>
            <a:off x="987552"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37" name="Text 35"/>
          <p:cNvSpPr txBox="1"/>
          <p:nvPr/>
        </p:nvSpPr>
        <p:spPr>
          <a:xfrm>
            <a:off x="987552"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−20.1%</a:t>
            </a:r>
            <a:endParaRPr lang="en-US" sz="1600" dirty="0"/>
          </a:p>
        </p:txBody>
      </p:sp>
      <p:sp>
        <p:nvSpPr>
          <p:cNvPr id="38" name="Shape 36"/>
          <p:cNvSpPr/>
          <p:nvPr/>
        </p:nvSpPr>
        <p:spPr>
          <a:xfrm>
            <a:off x="3105302" y="1691640"/>
            <a:ext cx="2026310" cy="45720"/>
          </a:xfrm>
          <a:prstGeom prst="rect">
            <a:avLst/>
          </a:prstGeom>
          <a:solidFill>
            <a:srgbClr val="12A566"/>
          </a:solidFill>
          <a:ln/>
        </p:spPr>
        <p:txBody>
          <a:bodyPr/>
          <a:p/>
        </p:txBody>
      </p:sp>
      <p:sp>
        <p:nvSpPr>
          <p:cNvPr id="39" name="Text 37"/>
          <p:cNvSpPr txBox="1"/>
          <p:nvPr/>
        </p:nvSpPr>
        <p:spPr>
          <a:xfrm>
            <a:off x="3123590"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RO COUNT</a:t>
            </a:r>
            <a:endParaRPr lang="en-US" sz="1300" dirty="0"/>
          </a:p>
        </p:txBody>
      </p:sp>
      <p:sp>
        <p:nvSpPr>
          <p:cNvPr id="40" name="Text 38"/>
          <p:cNvSpPr txBox="1"/>
          <p:nvPr/>
        </p:nvSpPr>
        <p:spPr>
          <a:xfrm>
            <a:off x="3123590"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+0.2%</a:t>
            </a:r>
            <a:endParaRPr lang="en-US" sz="1300" dirty="0"/>
          </a:p>
        </p:txBody>
      </p:sp>
      <p:sp>
        <p:nvSpPr>
          <p:cNvPr id="41" name="Text 39"/>
          <p:cNvSpPr txBox="1"/>
          <p:nvPr/>
        </p:nvSpPr>
        <p:spPr>
          <a:xfrm>
            <a:off x="3123590"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Kia LV</a:t>
            </a:r>
            <a:endParaRPr lang="en-US" sz="1300" dirty="0"/>
          </a:p>
        </p:txBody>
      </p:sp>
      <p:sp>
        <p:nvSpPr>
          <p:cNvPr id="42" name="Text 40"/>
          <p:cNvSpPr txBox="1"/>
          <p:nvPr/>
        </p:nvSpPr>
        <p:spPr>
          <a:xfrm>
            <a:off x="3123590"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+13.7%</a:t>
            </a:r>
            <a:endParaRPr lang="en-US" sz="1600" dirty="0"/>
          </a:p>
        </p:txBody>
      </p:sp>
      <p:sp>
        <p:nvSpPr>
          <p:cNvPr id="43" name="Text 41"/>
          <p:cNvSpPr txBox="1"/>
          <p:nvPr/>
        </p:nvSpPr>
        <p:spPr>
          <a:xfrm>
            <a:off x="3123590"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4" name="Text 42"/>
          <p:cNvSpPr txBox="1"/>
          <p:nvPr/>
        </p:nvSpPr>
        <p:spPr>
          <a:xfrm>
            <a:off x="3123590"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+12.7%</a:t>
            </a:r>
            <a:endParaRPr lang="en-US" sz="1600" dirty="0"/>
          </a:p>
        </p:txBody>
      </p:sp>
      <p:sp>
        <p:nvSpPr>
          <p:cNvPr id="45" name="Text 43"/>
          <p:cNvSpPr txBox="1"/>
          <p:nvPr/>
        </p:nvSpPr>
        <p:spPr>
          <a:xfrm>
            <a:off x="3123590"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GMC Prescott</a:t>
            </a:r>
            <a:endParaRPr lang="en-US" sz="1300" dirty="0"/>
          </a:p>
        </p:txBody>
      </p:sp>
      <p:sp>
        <p:nvSpPr>
          <p:cNvPr id="46" name="Text 44"/>
          <p:cNvSpPr txBox="1"/>
          <p:nvPr/>
        </p:nvSpPr>
        <p:spPr>
          <a:xfrm>
            <a:off x="3123590"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+10.6%</a:t>
            </a:r>
            <a:endParaRPr lang="en-US" sz="1600" dirty="0"/>
          </a:p>
        </p:txBody>
      </p:sp>
      <p:sp>
        <p:nvSpPr>
          <p:cNvPr id="47" name="Text 45"/>
          <p:cNvSpPr txBox="1"/>
          <p:nvPr/>
        </p:nvSpPr>
        <p:spPr>
          <a:xfrm>
            <a:off x="3123590"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Audi Reno</a:t>
            </a:r>
            <a:endParaRPr lang="en-US" sz="1300" dirty="0"/>
          </a:p>
        </p:txBody>
      </p:sp>
      <p:sp>
        <p:nvSpPr>
          <p:cNvPr id="48" name="Text 46"/>
          <p:cNvSpPr txBox="1"/>
          <p:nvPr/>
        </p:nvSpPr>
        <p:spPr>
          <a:xfrm>
            <a:off x="3123590"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−10.6%</a:t>
            </a:r>
            <a:endParaRPr lang="en-US" sz="1600" dirty="0"/>
          </a:p>
        </p:txBody>
      </p:sp>
      <p:sp>
        <p:nvSpPr>
          <p:cNvPr id="49" name="Text 47"/>
          <p:cNvSpPr txBox="1"/>
          <p:nvPr/>
        </p:nvSpPr>
        <p:spPr>
          <a:xfrm>
            <a:off x="3123590"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0" name="Text 48"/>
          <p:cNvSpPr txBox="1"/>
          <p:nvPr/>
        </p:nvSpPr>
        <p:spPr>
          <a:xfrm>
            <a:off x="3123590"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−11.5%</a:t>
            </a:r>
            <a:endParaRPr lang="en-US" sz="1600" dirty="0"/>
          </a:p>
        </p:txBody>
      </p:sp>
      <p:sp>
        <p:nvSpPr>
          <p:cNvPr id="51" name="Text 49"/>
          <p:cNvSpPr txBox="1"/>
          <p:nvPr/>
        </p:nvSpPr>
        <p:spPr>
          <a:xfrm>
            <a:off x="3123590"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52" name="Text 50"/>
          <p:cNvSpPr txBox="1"/>
          <p:nvPr/>
        </p:nvSpPr>
        <p:spPr>
          <a:xfrm>
            <a:off x="3123590"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−14.7%</a:t>
            </a:r>
            <a:endParaRPr lang="en-US" sz="1600" dirty="0"/>
          </a:p>
        </p:txBody>
      </p:sp>
      <p:sp>
        <p:nvSpPr>
          <p:cNvPr id="53" name="Shape 51"/>
          <p:cNvSpPr/>
          <p:nvPr/>
        </p:nvSpPr>
        <p:spPr>
          <a:xfrm>
            <a:off x="5241341" y="1691640"/>
            <a:ext cx="2026310" cy="45720"/>
          </a:xfrm>
          <a:prstGeom prst="rect">
            <a:avLst/>
          </a:prstGeom>
          <a:solidFill>
            <a:srgbClr val="12A566"/>
          </a:solidFill>
          <a:ln/>
        </p:spPr>
        <p:txBody>
          <a:bodyPr/>
          <a:p/>
        </p:txBody>
      </p:sp>
      <p:sp>
        <p:nvSpPr>
          <p:cNvPr id="54" name="Text 52"/>
          <p:cNvSpPr txBox="1"/>
          <p:nvPr/>
        </p:nvSpPr>
        <p:spPr>
          <a:xfrm>
            <a:off x="5259629"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HOURS PER RO</a:t>
            </a:r>
            <a:endParaRPr lang="en-US" sz="1300" dirty="0"/>
          </a:p>
        </p:txBody>
      </p:sp>
      <p:sp>
        <p:nvSpPr>
          <p:cNvPr id="55" name="Text 53"/>
          <p:cNvSpPr txBox="1"/>
          <p:nvPr/>
        </p:nvSpPr>
        <p:spPr>
          <a:xfrm>
            <a:off x="5259629"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+3.6%</a:t>
            </a:r>
            <a:endParaRPr lang="en-US" sz="1300" dirty="0"/>
          </a:p>
        </p:txBody>
      </p:sp>
      <p:sp>
        <p:nvSpPr>
          <p:cNvPr id="56" name="Text 54"/>
          <p:cNvSpPr txBox="1"/>
          <p:nvPr/>
        </p:nvSpPr>
        <p:spPr>
          <a:xfrm>
            <a:off x="5259629"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7" name="Text 55"/>
          <p:cNvSpPr txBox="1"/>
          <p:nvPr/>
        </p:nvSpPr>
        <p:spPr>
          <a:xfrm>
            <a:off x="5259629"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+39.2%</a:t>
            </a:r>
            <a:endParaRPr lang="en-US" sz="1600" dirty="0"/>
          </a:p>
        </p:txBody>
      </p:sp>
      <p:sp>
        <p:nvSpPr>
          <p:cNvPr id="58" name="Text 56"/>
          <p:cNvSpPr txBox="1"/>
          <p:nvPr/>
        </p:nvSpPr>
        <p:spPr>
          <a:xfrm>
            <a:off x="5259629"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9" name="Text 57"/>
          <p:cNvSpPr txBox="1"/>
          <p:nvPr/>
        </p:nvSpPr>
        <p:spPr>
          <a:xfrm>
            <a:off x="5259629"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+31.3%</a:t>
            </a:r>
            <a:endParaRPr lang="en-US" sz="1600" dirty="0"/>
          </a:p>
        </p:txBody>
      </p:sp>
      <p:sp>
        <p:nvSpPr>
          <p:cNvPr id="60" name="Text 58"/>
          <p:cNvSpPr txBox="1"/>
          <p:nvPr/>
        </p:nvSpPr>
        <p:spPr>
          <a:xfrm>
            <a:off x="5259629"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Kia St George</a:t>
            </a:r>
            <a:endParaRPr lang="en-US" sz="1300" dirty="0"/>
          </a:p>
        </p:txBody>
      </p:sp>
      <p:sp>
        <p:nvSpPr>
          <p:cNvPr id="61" name="Text 59"/>
          <p:cNvSpPr txBox="1"/>
          <p:nvPr/>
        </p:nvSpPr>
        <p:spPr>
          <a:xfrm>
            <a:off x="5259629"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+30.8%</a:t>
            </a:r>
            <a:endParaRPr lang="en-US" sz="1600" dirty="0"/>
          </a:p>
        </p:txBody>
      </p:sp>
      <p:sp>
        <p:nvSpPr>
          <p:cNvPr id="62" name="Text 60"/>
          <p:cNvSpPr txBox="1"/>
          <p:nvPr/>
        </p:nvSpPr>
        <p:spPr>
          <a:xfrm>
            <a:off x="5259629"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Volvo</a:t>
            </a:r>
            <a:endParaRPr lang="en-US" sz="1300" dirty="0"/>
          </a:p>
        </p:txBody>
      </p:sp>
      <p:sp>
        <p:nvSpPr>
          <p:cNvPr id="63" name="Text 61"/>
          <p:cNvSpPr txBox="1"/>
          <p:nvPr/>
        </p:nvSpPr>
        <p:spPr>
          <a:xfrm>
            <a:off x="5259629"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−11.7%</a:t>
            </a:r>
            <a:endParaRPr lang="en-US" sz="1600" dirty="0"/>
          </a:p>
        </p:txBody>
      </p:sp>
      <p:sp>
        <p:nvSpPr>
          <p:cNvPr id="64" name="Text 62"/>
          <p:cNvSpPr txBox="1"/>
          <p:nvPr/>
        </p:nvSpPr>
        <p:spPr>
          <a:xfrm>
            <a:off x="5259629"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65" name="Text 63"/>
          <p:cNvSpPr txBox="1"/>
          <p:nvPr/>
        </p:nvSpPr>
        <p:spPr>
          <a:xfrm>
            <a:off x="5259629"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−12.5%</a:t>
            </a:r>
            <a:endParaRPr lang="en-US" sz="1600" dirty="0"/>
          </a:p>
        </p:txBody>
      </p:sp>
      <p:sp>
        <p:nvSpPr>
          <p:cNvPr id="66" name="Text 64"/>
          <p:cNvSpPr txBox="1"/>
          <p:nvPr/>
        </p:nvSpPr>
        <p:spPr>
          <a:xfrm>
            <a:off x="5259629"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LR Reno</a:t>
            </a:r>
            <a:endParaRPr lang="en-US" sz="1300" dirty="0"/>
          </a:p>
        </p:txBody>
      </p:sp>
      <p:sp>
        <p:nvSpPr>
          <p:cNvPr id="67" name="Text 65"/>
          <p:cNvSpPr txBox="1"/>
          <p:nvPr/>
        </p:nvSpPr>
        <p:spPr>
          <a:xfrm>
            <a:off x="5259629"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−13.7%</a:t>
            </a:r>
            <a:endParaRPr lang="en-US" sz="1600" dirty="0"/>
          </a:p>
        </p:txBody>
      </p:sp>
      <p:sp>
        <p:nvSpPr>
          <p:cNvPr id="68" name="Shape 66"/>
          <p:cNvSpPr/>
          <p:nvPr/>
        </p:nvSpPr>
        <p:spPr>
          <a:xfrm>
            <a:off x="7377379" y="1691640"/>
            <a:ext cx="2026310" cy="45720"/>
          </a:xfrm>
          <a:prstGeom prst="rect">
            <a:avLst/>
          </a:prstGeom>
          <a:solidFill>
            <a:srgbClr val="12A566"/>
          </a:solidFill>
          <a:ln/>
        </p:spPr>
        <p:txBody>
          <a:bodyPr/>
          <a:p/>
        </p:txBody>
      </p:sp>
      <p:sp>
        <p:nvSpPr>
          <p:cNvPr id="69" name="Text 67"/>
          <p:cNvSpPr txBox="1"/>
          <p:nvPr/>
        </p:nvSpPr>
        <p:spPr>
          <a:xfrm>
            <a:off x="7395667"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ELR</a:t>
            </a:r>
            <a:endParaRPr lang="en-US" sz="1300" dirty="0"/>
          </a:p>
        </p:txBody>
      </p:sp>
      <p:sp>
        <p:nvSpPr>
          <p:cNvPr id="70" name="Text 68"/>
          <p:cNvSpPr txBox="1"/>
          <p:nvPr/>
        </p:nvSpPr>
        <p:spPr>
          <a:xfrm>
            <a:off x="7395667"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+2.2%</a:t>
            </a:r>
            <a:endParaRPr lang="en-US" sz="1300" dirty="0"/>
          </a:p>
        </p:txBody>
      </p:sp>
      <p:sp>
        <p:nvSpPr>
          <p:cNvPr id="71" name="Text 69"/>
          <p:cNvSpPr txBox="1"/>
          <p:nvPr/>
        </p:nvSpPr>
        <p:spPr>
          <a:xfrm>
            <a:off x="7395667"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Honda Spokane</a:t>
            </a:r>
            <a:endParaRPr lang="en-US" sz="1300" dirty="0"/>
          </a:p>
        </p:txBody>
      </p:sp>
      <p:sp>
        <p:nvSpPr>
          <p:cNvPr id="72" name="Text 70"/>
          <p:cNvSpPr txBox="1"/>
          <p:nvPr/>
        </p:nvSpPr>
        <p:spPr>
          <a:xfrm>
            <a:off x="7395667"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+22.9%</a:t>
            </a:r>
            <a:endParaRPr lang="en-US" sz="1600" dirty="0"/>
          </a:p>
        </p:txBody>
      </p:sp>
      <p:sp>
        <p:nvSpPr>
          <p:cNvPr id="73" name="Text 71"/>
          <p:cNvSpPr txBox="1"/>
          <p:nvPr/>
        </p:nvSpPr>
        <p:spPr>
          <a:xfrm>
            <a:off x="7395667"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Volvo</a:t>
            </a:r>
            <a:endParaRPr lang="en-US" sz="1300" dirty="0"/>
          </a:p>
        </p:txBody>
      </p:sp>
      <p:sp>
        <p:nvSpPr>
          <p:cNvPr id="74" name="Text 72"/>
          <p:cNvSpPr txBox="1"/>
          <p:nvPr/>
        </p:nvSpPr>
        <p:spPr>
          <a:xfrm>
            <a:off x="7395667"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+22.3%</a:t>
            </a:r>
            <a:endParaRPr lang="en-US" sz="1600" dirty="0"/>
          </a:p>
        </p:txBody>
      </p:sp>
      <p:sp>
        <p:nvSpPr>
          <p:cNvPr id="75" name="Text 73"/>
          <p:cNvSpPr txBox="1"/>
          <p:nvPr/>
        </p:nvSpPr>
        <p:spPr>
          <a:xfrm>
            <a:off x="7395667"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Lincoln</a:t>
            </a:r>
            <a:endParaRPr lang="en-US" sz="1300" dirty="0"/>
          </a:p>
        </p:txBody>
      </p:sp>
      <p:sp>
        <p:nvSpPr>
          <p:cNvPr id="76" name="Text 74"/>
          <p:cNvSpPr txBox="1"/>
          <p:nvPr/>
        </p:nvSpPr>
        <p:spPr>
          <a:xfrm>
            <a:off x="7395667"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+20.1%</a:t>
            </a:r>
            <a:endParaRPr lang="en-US" sz="1600" dirty="0"/>
          </a:p>
        </p:txBody>
      </p:sp>
      <p:sp>
        <p:nvSpPr>
          <p:cNvPr id="77" name="Text 75"/>
          <p:cNvSpPr txBox="1"/>
          <p:nvPr/>
        </p:nvSpPr>
        <p:spPr>
          <a:xfrm>
            <a:off x="7395667"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Acura</a:t>
            </a:r>
            <a:endParaRPr lang="en-US" sz="1300" dirty="0"/>
          </a:p>
        </p:txBody>
      </p:sp>
      <p:sp>
        <p:nvSpPr>
          <p:cNvPr id="78" name="Text 76"/>
          <p:cNvSpPr txBox="1"/>
          <p:nvPr/>
        </p:nvSpPr>
        <p:spPr>
          <a:xfrm>
            <a:off x="7395667"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−5.1%</a:t>
            </a:r>
            <a:endParaRPr lang="en-US" sz="1600" dirty="0"/>
          </a:p>
        </p:txBody>
      </p:sp>
      <p:sp>
        <p:nvSpPr>
          <p:cNvPr id="79" name="Text 77"/>
          <p:cNvSpPr txBox="1"/>
          <p:nvPr/>
        </p:nvSpPr>
        <p:spPr>
          <a:xfrm>
            <a:off x="7395667"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80" name="Text 78"/>
          <p:cNvSpPr txBox="1"/>
          <p:nvPr/>
        </p:nvSpPr>
        <p:spPr>
          <a:xfrm>
            <a:off x="7395667"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−7.0%</a:t>
            </a:r>
            <a:endParaRPr lang="en-US" sz="1600" dirty="0"/>
          </a:p>
        </p:txBody>
      </p:sp>
      <p:sp>
        <p:nvSpPr>
          <p:cNvPr id="81" name="Text 79"/>
          <p:cNvSpPr txBox="1"/>
          <p:nvPr/>
        </p:nvSpPr>
        <p:spPr>
          <a:xfrm>
            <a:off x="7395667"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Kia LV</a:t>
            </a:r>
            <a:endParaRPr lang="en-US" sz="1300" dirty="0"/>
          </a:p>
        </p:txBody>
      </p:sp>
      <p:sp>
        <p:nvSpPr>
          <p:cNvPr id="82" name="Text 80"/>
          <p:cNvSpPr txBox="1"/>
          <p:nvPr/>
        </p:nvSpPr>
        <p:spPr>
          <a:xfrm>
            <a:off x="7395667"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−19.1%</a:t>
            </a:r>
            <a:endParaRPr lang="en-US" sz="1600" dirty="0"/>
          </a:p>
        </p:txBody>
      </p:sp>
      <p:sp>
        <p:nvSpPr>
          <p:cNvPr id="83" name="Shape 81"/>
          <p:cNvSpPr/>
          <p:nvPr/>
        </p:nvSpPr>
        <p:spPr>
          <a:xfrm>
            <a:off x="9513418" y="1691640"/>
            <a:ext cx="2026310" cy="45720"/>
          </a:xfrm>
          <a:prstGeom prst="rect">
            <a:avLst/>
          </a:prstGeom>
          <a:solidFill>
            <a:srgbClr val="12A566"/>
          </a:solidFill>
          <a:ln/>
        </p:spPr>
        <p:txBody>
          <a:bodyPr/>
          <a:p/>
        </p:txBody>
      </p:sp>
      <p:sp>
        <p:nvSpPr>
          <p:cNvPr id="84" name="Text 82"/>
          <p:cNvSpPr txBox="1"/>
          <p:nvPr/>
        </p:nvSpPr>
        <p:spPr>
          <a:xfrm>
            <a:off x="9531706"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PARTS GP %</a:t>
            </a:r>
            <a:endParaRPr lang="en-US" sz="1300" dirty="0"/>
          </a:p>
        </p:txBody>
      </p:sp>
      <p:sp>
        <p:nvSpPr>
          <p:cNvPr id="85" name="Text 83"/>
          <p:cNvSpPr txBox="1"/>
          <p:nvPr/>
        </p:nvSpPr>
        <p:spPr>
          <a:xfrm>
            <a:off x="9531706"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+1.3 pts</a:t>
            </a:r>
            <a:endParaRPr lang="en-US" sz="1300" dirty="0"/>
          </a:p>
        </p:txBody>
      </p:sp>
      <p:sp>
        <p:nvSpPr>
          <p:cNvPr id="86" name="Text 84"/>
          <p:cNvSpPr txBox="1"/>
          <p:nvPr/>
        </p:nvSpPr>
        <p:spPr>
          <a:xfrm>
            <a:off x="9531706"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Acura</a:t>
            </a:r>
            <a:endParaRPr lang="en-US" sz="1300" dirty="0"/>
          </a:p>
        </p:txBody>
      </p:sp>
      <p:sp>
        <p:nvSpPr>
          <p:cNvPr id="87" name="Text 85"/>
          <p:cNvSpPr txBox="1"/>
          <p:nvPr/>
        </p:nvSpPr>
        <p:spPr>
          <a:xfrm>
            <a:off x="9531706"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+6.2 pts</a:t>
            </a:r>
            <a:endParaRPr lang="en-US" sz="1600" dirty="0"/>
          </a:p>
        </p:txBody>
      </p:sp>
      <p:sp>
        <p:nvSpPr>
          <p:cNvPr id="88" name="Text 86"/>
          <p:cNvSpPr txBox="1"/>
          <p:nvPr/>
        </p:nvSpPr>
        <p:spPr>
          <a:xfrm>
            <a:off x="9531706"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Nissan</a:t>
            </a:r>
            <a:endParaRPr lang="en-US" sz="1300" dirty="0"/>
          </a:p>
        </p:txBody>
      </p:sp>
      <p:sp>
        <p:nvSpPr>
          <p:cNvPr id="89" name="Text 87"/>
          <p:cNvSpPr txBox="1"/>
          <p:nvPr/>
        </p:nvSpPr>
        <p:spPr>
          <a:xfrm>
            <a:off x="9531706"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+4.5 pts</a:t>
            </a:r>
            <a:endParaRPr lang="en-US" sz="1600" dirty="0"/>
          </a:p>
        </p:txBody>
      </p:sp>
      <p:sp>
        <p:nvSpPr>
          <p:cNvPr id="90" name="Text 88"/>
          <p:cNvSpPr txBox="1"/>
          <p:nvPr/>
        </p:nvSpPr>
        <p:spPr>
          <a:xfrm>
            <a:off x="9531706"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Prescott</a:t>
            </a:r>
            <a:endParaRPr lang="en-US" sz="1300" dirty="0"/>
          </a:p>
        </p:txBody>
      </p:sp>
      <p:sp>
        <p:nvSpPr>
          <p:cNvPr id="91" name="Text 89"/>
          <p:cNvSpPr txBox="1"/>
          <p:nvPr/>
        </p:nvSpPr>
        <p:spPr>
          <a:xfrm>
            <a:off x="9531706"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+3.8 pts</a:t>
            </a:r>
            <a:endParaRPr lang="en-US" sz="1600" dirty="0"/>
          </a:p>
        </p:txBody>
      </p:sp>
      <p:sp>
        <p:nvSpPr>
          <p:cNvPr id="92" name="Text 90"/>
          <p:cNvSpPr txBox="1"/>
          <p:nvPr/>
        </p:nvSpPr>
        <p:spPr>
          <a:xfrm>
            <a:off x="9531706"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Hyundai Prescott</a:t>
            </a:r>
            <a:endParaRPr lang="en-US" sz="1300" dirty="0"/>
          </a:p>
        </p:txBody>
      </p:sp>
      <p:sp>
        <p:nvSpPr>
          <p:cNvPr id="93" name="Text 91"/>
          <p:cNvSpPr txBox="1"/>
          <p:nvPr/>
        </p:nvSpPr>
        <p:spPr>
          <a:xfrm>
            <a:off x="9531706"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−0.5 pts</a:t>
            </a:r>
            <a:endParaRPr lang="en-US" sz="1600" dirty="0"/>
          </a:p>
        </p:txBody>
      </p:sp>
      <p:sp>
        <p:nvSpPr>
          <p:cNvPr id="94" name="Text 92"/>
          <p:cNvSpPr txBox="1"/>
          <p:nvPr/>
        </p:nvSpPr>
        <p:spPr>
          <a:xfrm>
            <a:off x="9531706"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Toyota Spokane</a:t>
            </a:r>
            <a:endParaRPr lang="en-US" sz="1300" dirty="0"/>
          </a:p>
        </p:txBody>
      </p:sp>
      <p:sp>
        <p:nvSpPr>
          <p:cNvPr id="95" name="Text 93"/>
          <p:cNvSpPr txBox="1"/>
          <p:nvPr/>
        </p:nvSpPr>
        <p:spPr>
          <a:xfrm>
            <a:off x="9531706"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−0.8 pts</a:t>
            </a:r>
            <a:endParaRPr lang="en-US" sz="1600" dirty="0"/>
          </a:p>
        </p:txBody>
      </p:sp>
      <p:sp>
        <p:nvSpPr>
          <p:cNvPr id="96" name="Text 94"/>
          <p:cNvSpPr txBox="1"/>
          <p:nvPr/>
        </p:nvSpPr>
        <p:spPr>
          <a:xfrm>
            <a:off x="9531706"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Audi Henderson</a:t>
            </a:r>
            <a:endParaRPr lang="en-US" sz="1300" dirty="0"/>
          </a:p>
        </p:txBody>
      </p:sp>
      <p:sp>
        <p:nvSpPr>
          <p:cNvPr id="97" name="Text 95"/>
          <p:cNvSpPr txBox="1"/>
          <p:nvPr/>
        </p:nvSpPr>
        <p:spPr>
          <a:xfrm>
            <a:off x="9531706"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−2.2 pts</a:t>
            </a:r>
            <a:endParaRPr lang="en-US" sz="1600" dirty="0"/>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Who's Moving Now</a:t>
            </a:r>
            <a:endParaRPr lang="en-US" sz="2800" dirty="0"/>
          </a:p>
        </p:txBody>
      </p:sp>
      <p:sp>
        <p:nvSpPr>
          <p:cNvPr id="5" name="Shape 3"/>
          <p:cNvSpPr/>
          <p:nvPr/>
        </p:nvSpPr>
        <p:spPr>
          <a:xfrm>
            <a:off x="457200" y="1207008"/>
            <a:ext cx="11274552" cy="4645152"/>
          </a:xfrm>
          <a:prstGeom prst="rect">
            <a:avLst/>
          </a:prstGeom>
          <a:solidFill>
            <a:srgbClr val="FFFFFF"/>
          </a:solidFill>
          <a:ln/>
        </p:spPr>
        <p:txBody>
          <a:bodyPr/>
          <a:p/>
        </p:txBody>
      </p:sp>
      <p:sp>
        <p:nvSpPr>
          <p:cNvPr id="6" name="Text 4"/>
          <p:cNvSpPr txBox="1"/>
          <p:nvPr/>
        </p:nvSpPr>
        <p:spPr>
          <a:xfrm>
            <a:off x="713232" y="1280160"/>
            <a:ext cx="10762488" cy="25603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Top and bottom three stores on each measure, Q3 2026 vs Q1 2026 (gross and ROs per month). Group change = the season.</a:t>
            </a:r>
            <a:endParaRPr lang="en-US" sz="1400" dirty="0"/>
          </a:p>
        </p:txBody>
      </p:sp>
      <p:sp>
        <p:nvSpPr>
          <p:cNvPr id="7" name="Shape 5"/>
          <p:cNvSpPr/>
          <p:nvPr/>
        </p:nvSpPr>
        <p:spPr>
          <a:xfrm>
            <a:off x="621792" y="2331720"/>
            <a:ext cx="45720" cy="1591056"/>
          </a:xfrm>
          <a:prstGeom prst="rect">
            <a:avLst/>
          </a:prstGeom>
          <a:solidFill>
            <a:srgbClr val="12A566"/>
          </a:solidFill>
          <a:ln/>
        </p:spPr>
        <p:txBody>
          <a:bodyPr/>
          <a:p/>
        </p:txBody>
      </p:sp>
      <p:sp>
        <p:nvSpPr>
          <p:cNvPr id="8" name="Shape 6"/>
          <p:cNvSpPr/>
          <p:nvPr/>
        </p:nvSpPr>
        <p:spPr>
          <a:xfrm>
            <a:off x="685800" y="2331720"/>
            <a:ext cx="10881360" cy="530352"/>
          </a:xfrm>
          <a:prstGeom prst="rect">
            <a:avLst/>
          </a:prstGeom>
          <a:solidFill>
            <a:srgbClr val="F7F7F7"/>
          </a:solidFill>
          <a:ln/>
        </p:spPr>
        <p:txBody>
          <a:bodyPr/>
          <a:p/>
        </p:txBody>
      </p:sp>
      <p:sp>
        <p:nvSpPr>
          <p:cNvPr id="9" name="Text 7"/>
          <p:cNvSpPr txBox="1"/>
          <p:nvPr/>
        </p:nvSpPr>
        <p:spPr>
          <a:xfrm>
            <a:off x="676656" y="2331720"/>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1</a:t>
            </a:r>
            <a:endParaRPr lang="en-US" sz="1600" dirty="0"/>
          </a:p>
        </p:txBody>
      </p:sp>
      <p:sp>
        <p:nvSpPr>
          <p:cNvPr id="10" name="Text 8"/>
          <p:cNvSpPr txBox="1"/>
          <p:nvPr/>
        </p:nvSpPr>
        <p:spPr>
          <a:xfrm>
            <a:off x="676656" y="2862072"/>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2</a:t>
            </a:r>
            <a:endParaRPr lang="en-US" sz="1600" dirty="0"/>
          </a:p>
        </p:txBody>
      </p:sp>
      <p:sp>
        <p:nvSpPr>
          <p:cNvPr id="11" name="Shape 9"/>
          <p:cNvSpPr/>
          <p:nvPr/>
        </p:nvSpPr>
        <p:spPr>
          <a:xfrm>
            <a:off x="685800" y="3392424"/>
            <a:ext cx="10881360" cy="530352"/>
          </a:xfrm>
          <a:prstGeom prst="rect">
            <a:avLst/>
          </a:prstGeom>
          <a:solidFill>
            <a:srgbClr val="F7F7F7"/>
          </a:solidFill>
          <a:ln/>
        </p:spPr>
        <p:txBody>
          <a:bodyPr/>
          <a:p/>
        </p:txBody>
      </p:sp>
      <p:sp>
        <p:nvSpPr>
          <p:cNvPr id="12" name="Text 10"/>
          <p:cNvSpPr txBox="1"/>
          <p:nvPr/>
        </p:nvSpPr>
        <p:spPr>
          <a:xfrm>
            <a:off x="676656" y="3392424"/>
            <a:ext cx="274320" cy="530352"/>
          </a:xfrm>
          <a:prstGeom prst="rect">
            <a:avLst/>
          </a:prstGeom>
          <a:noFill/>
          <a:ln/>
        </p:spPr>
        <p:txBody>
          <a:bodyPr wrap="square" lIns="0" tIns="0" rIns="0" bIns="0" rtlCol="0" anchor="ctr"/>
          <a:lstStyle/>
          <a:p>
            <a:pPr algn="ctr" indent="0" marL="0">
              <a:buNone/>
            </a:pPr>
            <a:r>
              <a:rPr lang="en-US" sz="1600" b="1" dirty="0">
                <a:solidFill>
                  <a:srgbClr val="0B7A4A"/>
                </a:solidFill>
                <a:latin typeface="Inter" pitchFamily="34" charset="0"/>
                <a:ea typeface="Inter" pitchFamily="34" charset="-122"/>
                <a:cs typeface="Inter" pitchFamily="34" charset="-120"/>
              </a:rPr>
              <a:t>3</a:t>
            </a:r>
            <a:endParaRPr lang="en-US" sz="1600" dirty="0"/>
          </a:p>
        </p:txBody>
      </p:sp>
      <p:sp>
        <p:nvSpPr>
          <p:cNvPr id="13" name="Shape 11"/>
          <p:cNvSpPr/>
          <p:nvPr/>
        </p:nvSpPr>
        <p:spPr>
          <a:xfrm>
            <a:off x="621792" y="4078224"/>
            <a:ext cx="45720" cy="1591056"/>
          </a:xfrm>
          <a:prstGeom prst="rect">
            <a:avLst/>
          </a:prstGeom>
          <a:solidFill>
            <a:srgbClr val="C2352F"/>
          </a:solidFill>
          <a:ln/>
        </p:spPr>
        <p:txBody>
          <a:bodyPr/>
          <a:p/>
        </p:txBody>
      </p:sp>
      <p:sp>
        <p:nvSpPr>
          <p:cNvPr id="14" name="Shape 12"/>
          <p:cNvSpPr/>
          <p:nvPr/>
        </p:nvSpPr>
        <p:spPr>
          <a:xfrm>
            <a:off x="685800" y="4078224"/>
            <a:ext cx="10881360" cy="530352"/>
          </a:xfrm>
          <a:prstGeom prst="rect">
            <a:avLst/>
          </a:prstGeom>
          <a:solidFill>
            <a:srgbClr val="F7F7F7"/>
          </a:solidFill>
          <a:ln/>
        </p:spPr>
        <p:txBody>
          <a:bodyPr/>
          <a:p/>
        </p:txBody>
      </p:sp>
      <p:sp>
        <p:nvSpPr>
          <p:cNvPr id="15" name="Text 13"/>
          <p:cNvSpPr txBox="1"/>
          <p:nvPr/>
        </p:nvSpPr>
        <p:spPr>
          <a:xfrm>
            <a:off x="676656" y="4078224"/>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31</a:t>
            </a:r>
            <a:endParaRPr lang="en-US" sz="1600" dirty="0"/>
          </a:p>
        </p:txBody>
      </p:sp>
      <p:sp>
        <p:nvSpPr>
          <p:cNvPr id="16" name="Text 14"/>
          <p:cNvSpPr txBox="1"/>
          <p:nvPr/>
        </p:nvSpPr>
        <p:spPr>
          <a:xfrm>
            <a:off x="676656" y="4608576"/>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32</a:t>
            </a:r>
            <a:endParaRPr lang="en-US" sz="1600" dirty="0"/>
          </a:p>
        </p:txBody>
      </p:sp>
      <p:sp>
        <p:nvSpPr>
          <p:cNvPr id="17" name="Shape 15"/>
          <p:cNvSpPr/>
          <p:nvPr/>
        </p:nvSpPr>
        <p:spPr>
          <a:xfrm>
            <a:off x="685800" y="5138928"/>
            <a:ext cx="10881360" cy="530352"/>
          </a:xfrm>
          <a:prstGeom prst="rect">
            <a:avLst/>
          </a:prstGeom>
          <a:solidFill>
            <a:srgbClr val="F7F7F7"/>
          </a:solidFill>
          <a:ln/>
        </p:spPr>
        <p:txBody>
          <a:bodyPr/>
          <a:p/>
        </p:txBody>
      </p:sp>
      <p:sp>
        <p:nvSpPr>
          <p:cNvPr id="18" name="Text 16"/>
          <p:cNvSpPr txBox="1"/>
          <p:nvPr/>
        </p:nvSpPr>
        <p:spPr>
          <a:xfrm>
            <a:off x="676656" y="5138928"/>
            <a:ext cx="274320" cy="530352"/>
          </a:xfrm>
          <a:prstGeom prst="rect">
            <a:avLst/>
          </a:prstGeom>
          <a:noFill/>
          <a:ln/>
        </p:spPr>
        <p:txBody>
          <a:bodyPr wrap="square" lIns="0" tIns="0" rIns="0" bIns="0" rtlCol="0" anchor="ctr"/>
          <a:lstStyle/>
          <a:p>
            <a:pPr algn="ctr" indent="0" marL="0">
              <a:buNone/>
            </a:pPr>
            <a:r>
              <a:rPr lang="en-US" sz="1600" b="1" dirty="0">
                <a:solidFill>
                  <a:srgbClr val="A82B26"/>
                </a:solidFill>
                <a:latin typeface="Inter" pitchFamily="34" charset="0"/>
                <a:ea typeface="Inter" pitchFamily="34" charset="-122"/>
                <a:cs typeface="Inter" pitchFamily="34" charset="-120"/>
              </a:rPr>
              <a:t>33</a:t>
            </a:r>
            <a:endParaRPr lang="en-US" sz="1600" dirty="0"/>
          </a:p>
        </p:txBody>
      </p:sp>
      <p:sp>
        <p:nvSpPr>
          <p:cNvPr id="19" name="Shape 17"/>
          <p:cNvSpPr/>
          <p:nvPr/>
        </p:nvSpPr>
        <p:spPr>
          <a:xfrm>
            <a:off x="3044952" y="1691640"/>
            <a:ext cx="10973" cy="3977640"/>
          </a:xfrm>
          <a:prstGeom prst="rect">
            <a:avLst/>
          </a:prstGeom>
          <a:solidFill>
            <a:srgbClr val="D9D9D9"/>
          </a:solidFill>
          <a:ln/>
        </p:spPr>
        <p:txBody>
          <a:bodyPr/>
          <a:p/>
        </p:txBody>
      </p:sp>
      <p:sp>
        <p:nvSpPr>
          <p:cNvPr id="20" name="Shape 18"/>
          <p:cNvSpPr/>
          <p:nvPr/>
        </p:nvSpPr>
        <p:spPr>
          <a:xfrm>
            <a:off x="5180990" y="1691640"/>
            <a:ext cx="10973" cy="3977640"/>
          </a:xfrm>
          <a:prstGeom prst="rect">
            <a:avLst/>
          </a:prstGeom>
          <a:solidFill>
            <a:srgbClr val="D9D9D9"/>
          </a:solidFill>
          <a:ln/>
        </p:spPr>
        <p:txBody>
          <a:bodyPr/>
          <a:p/>
        </p:txBody>
      </p:sp>
      <p:sp>
        <p:nvSpPr>
          <p:cNvPr id="21" name="Shape 19"/>
          <p:cNvSpPr/>
          <p:nvPr/>
        </p:nvSpPr>
        <p:spPr>
          <a:xfrm>
            <a:off x="7317029" y="1691640"/>
            <a:ext cx="10973" cy="3977640"/>
          </a:xfrm>
          <a:prstGeom prst="rect">
            <a:avLst/>
          </a:prstGeom>
          <a:solidFill>
            <a:srgbClr val="D9D9D9"/>
          </a:solidFill>
          <a:ln/>
        </p:spPr>
        <p:txBody>
          <a:bodyPr/>
          <a:p/>
        </p:txBody>
      </p:sp>
      <p:sp>
        <p:nvSpPr>
          <p:cNvPr id="22" name="Shape 20"/>
          <p:cNvSpPr/>
          <p:nvPr/>
        </p:nvSpPr>
        <p:spPr>
          <a:xfrm>
            <a:off x="9453067" y="1691640"/>
            <a:ext cx="10973" cy="3977640"/>
          </a:xfrm>
          <a:prstGeom prst="rect">
            <a:avLst/>
          </a:prstGeom>
          <a:solidFill>
            <a:srgbClr val="D9D9D9"/>
          </a:solidFill>
          <a:ln/>
        </p:spPr>
        <p:txBody>
          <a:bodyPr/>
          <a:p/>
        </p:txBody>
      </p:sp>
      <p:sp>
        <p:nvSpPr>
          <p:cNvPr id="23" name="Shape 21"/>
          <p:cNvSpPr/>
          <p:nvPr/>
        </p:nvSpPr>
        <p:spPr>
          <a:xfrm>
            <a:off x="969264" y="1691640"/>
            <a:ext cx="2026310" cy="45720"/>
          </a:xfrm>
          <a:prstGeom prst="rect">
            <a:avLst/>
          </a:prstGeom>
          <a:solidFill>
            <a:srgbClr val="12A566"/>
          </a:solidFill>
          <a:ln/>
        </p:spPr>
        <p:txBody>
          <a:bodyPr/>
          <a:p/>
        </p:txBody>
      </p:sp>
      <p:sp>
        <p:nvSpPr>
          <p:cNvPr id="24" name="Text 22"/>
          <p:cNvSpPr txBox="1"/>
          <p:nvPr/>
        </p:nvSpPr>
        <p:spPr>
          <a:xfrm>
            <a:off x="987552"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GROSS</a:t>
            </a:r>
            <a:endParaRPr lang="en-US" sz="1300" dirty="0"/>
          </a:p>
        </p:txBody>
      </p:sp>
      <p:sp>
        <p:nvSpPr>
          <p:cNvPr id="25" name="Text 23"/>
          <p:cNvSpPr txBox="1"/>
          <p:nvPr/>
        </p:nvSpPr>
        <p:spPr>
          <a:xfrm>
            <a:off x="987552"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+8.4%</a:t>
            </a:r>
            <a:endParaRPr lang="en-US" sz="1300" dirty="0"/>
          </a:p>
        </p:txBody>
      </p:sp>
      <p:sp>
        <p:nvSpPr>
          <p:cNvPr id="26" name="Text 24"/>
          <p:cNvSpPr txBox="1"/>
          <p:nvPr/>
        </p:nvSpPr>
        <p:spPr>
          <a:xfrm>
            <a:off x="987552"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Mazda</a:t>
            </a:r>
            <a:endParaRPr lang="en-US" sz="1300" dirty="0"/>
          </a:p>
        </p:txBody>
      </p:sp>
      <p:sp>
        <p:nvSpPr>
          <p:cNvPr id="27" name="Text 25"/>
          <p:cNvSpPr txBox="1"/>
          <p:nvPr/>
        </p:nvSpPr>
        <p:spPr>
          <a:xfrm>
            <a:off x="987552"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+34.6%</a:t>
            </a:r>
            <a:endParaRPr lang="en-US" sz="1600" dirty="0"/>
          </a:p>
        </p:txBody>
      </p:sp>
      <p:sp>
        <p:nvSpPr>
          <p:cNvPr id="28" name="Text 26"/>
          <p:cNvSpPr txBox="1"/>
          <p:nvPr/>
        </p:nvSpPr>
        <p:spPr>
          <a:xfrm>
            <a:off x="987552"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Kia St George</a:t>
            </a:r>
            <a:endParaRPr lang="en-US" sz="1300" dirty="0"/>
          </a:p>
        </p:txBody>
      </p:sp>
      <p:sp>
        <p:nvSpPr>
          <p:cNvPr id="29" name="Text 27"/>
          <p:cNvSpPr txBox="1"/>
          <p:nvPr/>
        </p:nvSpPr>
        <p:spPr>
          <a:xfrm>
            <a:off x="987552"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+31.3%</a:t>
            </a:r>
            <a:endParaRPr lang="en-US" sz="1600" dirty="0"/>
          </a:p>
        </p:txBody>
      </p:sp>
      <p:sp>
        <p:nvSpPr>
          <p:cNvPr id="30" name="Text 28"/>
          <p:cNvSpPr txBox="1"/>
          <p:nvPr/>
        </p:nvSpPr>
        <p:spPr>
          <a:xfrm>
            <a:off x="987552"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CDJR Post Falls</a:t>
            </a:r>
            <a:endParaRPr lang="en-US" sz="1300" dirty="0"/>
          </a:p>
        </p:txBody>
      </p:sp>
      <p:sp>
        <p:nvSpPr>
          <p:cNvPr id="31" name="Text 29"/>
          <p:cNvSpPr txBox="1"/>
          <p:nvPr/>
        </p:nvSpPr>
        <p:spPr>
          <a:xfrm>
            <a:off x="987552"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+27.8%</a:t>
            </a:r>
            <a:endParaRPr lang="en-US" sz="1600" dirty="0"/>
          </a:p>
        </p:txBody>
      </p:sp>
      <p:sp>
        <p:nvSpPr>
          <p:cNvPr id="32" name="Text 30"/>
          <p:cNvSpPr txBox="1"/>
          <p:nvPr/>
        </p:nvSpPr>
        <p:spPr>
          <a:xfrm>
            <a:off x="987552"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33" name="Text 31"/>
          <p:cNvSpPr txBox="1"/>
          <p:nvPr/>
        </p:nvSpPr>
        <p:spPr>
          <a:xfrm>
            <a:off x="987552"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−1.0%</a:t>
            </a:r>
            <a:endParaRPr lang="en-US" sz="1600" dirty="0"/>
          </a:p>
        </p:txBody>
      </p:sp>
      <p:sp>
        <p:nvSpPr>
          <p:cNvPr id="34" name="Text 32"/>
          <p:cNvSpPr txBox="1"/>
          <p:nvPr/>
        </p:nvSpPr>
        <p:spPr>
          <a:xfrm>
            <a:off x="987552"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Honda Henderson</a:t>
            </a:r>
            <a:endParaRPr lang="en-US" sz="1300" dirty="0"/>
          </a:p>
        </p:txBody>
      </p:sp>
      <p:sp>
        <p:nvSpPr>
          <p:cNvPr id="35" name="Text 33"/>
          <p:cNvSpPr txBox="1"/>
          <p:nvPr/>
        </p:nvSpPr>
        <p:spPr>
          <a:xfrm>
            <a:off x="987552"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−2.1%</a:t>
            </a:r>
            <a:endParaRPr lang="en-US" sz="1600" dirty="0"/>
          </a:p>
        </p:txBody>
      </p:sp>
      <p:sp>
        <p:nvSpPr>
          <p:cNvPr id="36" name="Text 34"/>
          <p:cNvSpPr txBox="1"/>
          <p:nvPr/>
        </p:nvSpPr>
        <p:spPr>
          <a:xfrm>
            <a:off x="987552"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Cadillac</a:t>
            </a:r>
            <a:endParaRPr lang="en-US" sz="1300" dirty="0"/>
          </a:p>
        </p:txBody>
      </p:sp>
      <p:sp>
        <p:nvSpPr>
          <p:cNvPr id="37" name="Text 35"/>
          <p:cNvSpPr txBox="1"/>
          <p:nvPr/>
        </p:nvSpPr>
        <p:spPr>
          <a:xfrm>
            <a:off x="987552"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−10.7%</a:t>
            </a:r>
            <a:endParaRPr lang="en-US" sz="1600" dirty="0"/>
          </a:p>
        </p:txBody>
      </p:sp>
      <p:sp>
        <p:nvSpPr>
          <p:cNvPr id="38" name="Shape 36"/>
          <p:cNvSpPr/>
          <p:nvPr/>
        </p:nvSpPr>
        <p:spPr>
          <a:xfrm>
            <a:off x="3105302" y="1691640"/>
            <a:ext cx="2026310" cy="45720"/>
          </a:xfrm>
          <a:prstGeom prst="rect">
            <a:avLst/>
          </a:prstGeom>
          <a:solidFill>
            <a:srgbClr val="12A566"/>
          </a:solidFill>
          <a:ln/>
        </p:spPr>
        <p:txBody>
          <a:bodyPr/>
          <a:p/>
        </p:txBody>
      </p:sp>
      <p:sp>
        <p:nvSpPr>
          <p:cNvPr id="39" name="Text 37"/>
          <p:cNvSpPr txBox="1"/>
          <p:nvPr/>
        </p:nvSpPr>
        <p:spPr>
          <a:xfrm>
            <a:off x="3123590"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ROS</a:t>
            </a:r>
            <a:endParaRPr lang="en-US" sz="1300" dirty="0"/>
          </a:p>
        </p:txBody>
      </p:sp>
      <p:sp>
        <p:nvSpPr>
          <p:cNvPr id="40" name="Text 38"/>
          <p:cNvSpPr txBox="1"/>
          <p:nvPr/>
        </p:nvSpPr>
        <p:spPr>
          <a:xfrm>
            <a:off x="3123590"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+7.5%</a:t>
            </a:r>
            <a:endParaRPr lang="en-US" sz="1300" dirty="0"/>
          </a:p>
        </p:txBody>
      </p:sp>
      <p:sp>
        <p:nvSpPr>
          <p:cNvPr id="41" name="Text 39"/>
          <p:cNvSpPr txBox="1"/>
          <p:nvPr/>
        </p:nvSpPr>
        <p:spPr>
          <a:xfrm>
            <a:off x="3123590"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Lexus</a:t>
            </a:r>
            <a:endParaRPr lang="en-US" sz="1300" dirty="0"/>
          </a:p>
        </p:txBody>
      </p:sp>
      <p:sp>
        <p:nvSpPr>
          <p:cNvPr id="42" name="Text 40"/>
          <p:cNvSpPr txBox="1"/>
          <p:nvPr/>
        </p:nvSpPr>
        <p:spPr>
          <a:xfrm>
            <a:off x="3123590"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+34.0%</a:t>
            </a:r>
            <a:endParaRPr lang="en-US" sz="1600" dirty="0"/>
          </a:p>
        </p:txBody>
      </p:sp>
      <p:sp>
        <p:nvSpPr>
          <p:cNvPr id="43" name="Text 41"/>
          <p:cNvSpPr txBox="1"/>
          <p:nvPr/>
        </p:nvSpPr>
        <p:spPr>
          <a:xfrm>
            <a:off x="3123590"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CDJR Post Falls</a:t>
            </a:r>
            <a:endParaRPr lang="en-US" sz="1300" dirty="0"/>
          </a:p>
        </p:txBody>
      </p:sp>
      <p:sp>
        <p:nvSpPr>
          <p:cNvPr id="44" name="Text 42"/>
          <p:cNvSpPr txBox="1"/>
          <p:nvPr/>
        </p:nvSpPr>
        <p:spPr>
          <a:xfrm>
            <a:off x="3123590"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+22.8%</a:t>
            </a:r>
            <a:endParaRPr lang="en-US" sz="1600" dirty="0"/>
          </a:p>
        </p:txBody>
      </p:sp>
      <p:sp>
        <p:nvSpPr>
          <p:cNvPr id="45" name="Text 43"/>
          <p:cNvSpPr txBox="1"/>
          <p:nvPr/>
        </p:nvSpPr>
        <p:spPr>
          <a:xfrm>
            <a:off x="3123590"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LR LV</a:t>
            </a:r>
            <a:endParaRPr lang="en-US" sz="1300" dirty="0"/>
          </a:p>
        </p:txBody>
      </p:sp>
      <p:sp>
        <p:nvSpPr>
          <p:cNvPr id="46" name="Text 44"/>
          <p:cNvSpPr txBox="1"/>
          <p:nvPr/>
        </p:nvSpPr>
        <p:spPr>
          <a:xfrm>
            <a:off x="3123590"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+18.7%</a:t>
            </a:r>
            <a:endParaRPr lang="en-US" sz="1600" dirty="0"/>
          </a:p>
        </p:txBody>
      </p:sp>
      <p:sp>
        <p:nvSpPr>
          <p:cNvPr id="47" name="Text 45"/>
          <p:cNvSpPr txBox="1"/>
          <p:nvPr/>
        </p:nvSpPr>
        <p:spPr>
          <a:xfrm>
            <a:off x="3123590"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48" name="Text 46"/>
          <p:cNvSpPr txBox="1"/>
          <p:nvPr/>
        </p:nvSpPr>
        <p:spPr>
          <a:xfrm>
            <a:off x="3123590"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−2.1%</a:t>
            </a:r>
            <a:endParaRPr lang="en-US" sz="1600" dirty="0"/>
          </a:p>
        </p:txBody>
      </p:sp>
      <p:sp>
        <p:nvSpPr>
          <p:cNvPr id="49" name="Text 47"/>
          <p:cNvSpPr txBox="1"/>
          <p:nvPr/>
        </p:nvSpPr>
        <p:spPr>
          <a:xfrm>
            <a:off x="3123590"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0" name="Text 48"/>
          <p:cNvSpPr txBox="1"/>
          <p:nvPr/>
        </p:nvSpPr>
        <p:spPr>
          <a:xfrm>
            <a:off x="3123590"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−3.1%</a:t>
            </a:r>
            <a:endParaRPr lang="en-US" sz="1600" dirty="0"/>
          </a:p>
        </p:txBody>
      </p:sp>
      <p:sp>
        <p:nvSpPr>
          <p:cNvPr id="51" name="Text 49"/>
          <p:cNvSpPr txBox="1"/>
          <p:nvPr/>
        </p:nvSpPr>
        <p:spPr>
          <a:xfrm>
            <a:off x="3123590"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Cadillac</a:t>
            </a:r>
            <a:endParaRPr lang="en-US" sz="1300" dirty="0"/>
          </a:p>
        </p:txBody>
      </p:sp>
      <p:sp>
        <p:nvSpPr>
          <p:cNvPr id="52" name="Text 50"/>
          <p:cNvSpPr txBox="1"/>
          <p:nvPr/>
        </p:nvSpPr>
        <p:spPr>
          <a:xfrm>
            <a:off x="3123590"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−4.4%</a:t>
            </a:r>
            <a:endParaRPr lang="en-US" sz="1600" dirty="0"/>
          </a:p>
        </p:txBody>
      </p:sp>
      <p:sp>
        <p:nvSpPr>
          <p:cNvPr id="53" name="Shape 51"/>
          <p:cNvSpPr/>
          <p:nvPr/>
        </p:nvSpPr>
        <p:spPr>
          <a:xfrm>
            <a:off x="5241341" y="1691640"/>
            <a:ext cx="2026310" cy="45720"/>
          </a:xfrm>
          <a:prstGeom prst="rect">
            <a:avLst/>
          </a:prstGeom>
          <a:solidFill>
            <a:srgbClr val="12A566"/>
          </a:solidFill>
          <a:ln/>
        </p:spPr>
        <p:txBody>
          <a:bodyPr/>
          <a:p/>
        </p:txBody>
      </p:sp>
      <p:sp>
        <p:nvSpPr>
          <p:cNvPr id="54" name="Text 52"/>
          <p:cNvSpPr txBox="1"/>
          <p:nvPr/>
        </p:nvSpPr>
        <p:spPr>
          <a:xfrm>
            <a:off x="5259629"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HOURS PER RO</a:t>
            </a:r>
            <a:endParaRPr lang="en-US" sz="1300" dirty="0"/>
          </a:p>
        </p:txBody>
      </p:sp>
      <p:sp>
        <p:nvSpPr>
          <p:cNvPr id="55" name="Text 53"/>
          <p:cNvSpPr txBox="1"/>
          <p:nvPr/>
        </p:nvSpPr>
        <p:spPr>
          <a:xfrm>
            <a:off x="5259629"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−1.9%</a:t>
            </a:r>
            <a:endParaRPr lang="en-US" sz="1300" dirty="0"/>
          </a:p>
        </p:txBody>
      </p:sp>
      <p:sp>
        <p:nvSpPr>
          <p:cNvPr id="56" name="Text 54"/>
          <p:cNvSpPr txBox="1"/>
          <p:nvPr/>
        </p:nvSpPr>
        <p:spPr>
          <a:xfrm>
            <a:off x="5259629"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Mazda</a:t>
            </a:r>
            <a:endParaRPr lang="en-US" sz="1300" dirty="0"/>
          </a:p>
        </p:txBody>
      </p:sp>
      <p:sp>
        <p:nvSpPr>
          <p:cNvPr id="57" name="Text 55"/>
          <p:cNvSpPr txBox="1"/>
          <p:nvPr/>
        </p:nvSpPr>
        <p:spPr>
          <a:xfrm>
            <a:off x="5259629"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+22.2%</a:t>
            </a:r>
            <a:endParaRPr lang="en-US" sz="1600" dirty="0"/>
          </a:p>
        </p:txBody>
      </p:sp>
      <p:sp>
        <p:nvSpPr>
          <p:cNvPr id="58" name="Text 56"/>
          <p:cNvSpPr txBox="1"/>
          <p:nvPr/>
        </p:nvSpPr>
        <p:spPr>
          <a:xfrm>
            <a:off x="5259629"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Hyundai Prescott</a:t>
            </a:r>
            <a:endParaRPr lang="en-US" sz="1300" dirty="0"/>
          </a:p>
        </p:txBody>
      </p:sp>
      <p:sp>
        <p:nvSpPr>
          <p:cNvPr id="59" name="Text 57"/>
          <p:cNvSpPr txBox="1"/>
          <p:nvPr/>
        </p:nvSpPr>
        <p:spPr>
          <a:xfrm>
            <a:off x="5259629"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+13.2%</a:t>
            </a:r>
            <a:endParaRPr lang="en-US" sz="1600" dirty="0"/>
          </a:p>
        </p:txBody>
      </p:sp>
      <p:sp>
        <p:nvSpPr>
          <p:cNvPr id="60" name="Text 58"/>
          <p:cNvSpPr txBox="1"/>
          <p:nvPr/>
        </p:nvSpPr>
        <p:spPr>
          <a:xfrm>
            <a:off x="5259629"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61" name="Text 59"/>
          <p:cNvSpPr txBox="1"/>
          <p:nvPr/>
        </p:nvSpPr>
        <p:spPr>
          <a:xfrm>
            <a:off x="5259629"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+12.2%</a:t>
            </a:r>
            <a:endParaRPr lang="en-US" sz="1600" dirty="0"/>
          </a:p>
        </p:txBody>
      </p:sp>
      <p:sp>
        <p:nvSpPr>
          <p:cNvPr id="62" name="Text 60"/>
          <p:cNvSpPr txBox="1"/>
          <p:nvPr/>
        </p:nvSpPr>
        <p:spPr>
          <a:xfrm>
            <a:off x="5259629"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Honda Henderson</a:t>
            </a:r>
            <a:endParaRPr lang="en-US" sz="1300" dirty="0"/>
          </a:p>
        </p:txBody>
      </p:sp>
      <p:sp>
        <p:nvSpPr>
          <p:cNvPr id="63" name="Text 61"/>
          <p:cNvSpPr txBox="1"/>
          <p:nvPr/>
        </p:nvSpPr>
        <p:spPr>
          <a:xfrm>
            <a:off x="5259629"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−10.0%</a:t>
            </a:r>
            <a:endParaRPr lang="en-US" sz="1600" dirty="0"/>
          </a:p>
        </p:txBody>
      </p:sp>
      <p:sp>
        <p:nvSpPr>
          <p:cNvPr id="64" name="Text 62"/>
          <p:cNvSpPr txBox="1"/>
          <p:nvPr/>
        </p:nvSpPr>
        <p:spPr>
          <a:xfrm>
            <a:off x="5259629"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Henderson</a:t>
            </a:r>
            <a:endParaRPr lang="en-US" sz="1300" dirty="0"/>
          </a:p>
        </p:txBody>
      </p:sp>
      <p:sp>
        <p:nvSpPr>
          <p:cNvPr id="65" name="Text 63"/>
          <p:cNvSpPr txBox="1"/>
          <p:nvPr/>
        </p:nvSpPr>
        <p:spPr>
          <a:xfrm>
            <a:off x="5259629"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−10.7%</a:t>
            </a:r>
            <a:endParaRPr lang="en-US" sz="1600" dirty="0"/>
          </a:p>
        </p:txBody>
      </p:sp>
      <p:sp>
        <p:nvSpPr>
          <p:cNvPr id="66" name="Text 64"/>
          <p:cNvSpPr txBox="1"/>
          <p:nvPr/>
        </p:nvSpPr>
        <p:spPr>
          <a:xfrm>
            <a:off x="5259629"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Cadillac</a:t>
            </a:r>
            <a:endParaRPr lang="en-US" sz="1300" dirty="0"/>
          </a:p>
        </p:txBody>
      </p:sp>
      <p:sp>
        <p:nvSpPr>
          <p:cNvPr id="67" name="Text 65"/>
          <p:cNvSpPr txBox="1"/>
          <p:nvPr/>
        </p:nvSpPr>
        <p:spPr>
          <a:xfrm>
            <a:off x="5259629"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−14.1%</a:t>
            </a:r>
            <a:endParaRPr lang="en-US" sz="1600" dirty="0"/>
          </a:p>
        </p:txBody>
      </p:sp>
      <p:sp>
        <p:nvSpPr>
          <p:cNvPr id="68" name="Shape 66"/>
          <p:cNvSpPr/>
          <p:nvPr/>
        </p:nvSpPr>
        <p:spPr>
          <a:xfrm>
            <a:off x="7377379" y="1691640"/>
            <a:ext cx="2026310" cy="45720"/>
          </a:xfrm>
          <a:prstGeom prst="rect">
            <a:avLst/>
          </a:prstGeom>
          <a:solidFill>
            <a:srgbClr val="12A566"/>
          </a:solidFill>
          <a:ln/>
        </p:spPr>
        <p:txBody>
          <a:bodyPr/>
          <a:p/>
        </p:txBody>
      </p:sp>
      <p:sp>
        <p:nvSpPr>
          <p:cNvPr id="69" name="Text 67"/>
          <p:cNvSpPr txBox="1"/>
          <p:nvPr/>
        </p:nvSpPr>
        <p:spPr>
          <a:xfrm>
            <a:off x="7395667"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ELR</a:t>
            </a:r>
            <a:endParaRPr lang="en-US" sz="1300" dirty="0"/>
          </a:p>
        </p:txBody>
      </p:sp>
      <p:sp>
        <p:nvSpPr>
          <p:cNvPr id="70" name="Text 68"/>
          <p:cNvSpPr txBox="1"/>
          <p:nvPr/>
        </p:nvSpPr>
        <p:spPr>
          <a:xfrm>
            <a:off x="7395667"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+1.1%</a:t>
            </a:r>
            <a:endParaRPr lang="en-US" sz="1300" dirty="0"/>
          </a:p>
        </p:txBody>
      </p:sp>
      <p:sp>
        <p:nvSpPr>
          <p:cNvPr id="71" name="Text 69"/>
          <p:cNvSpPr txBox="1"/>
          <p:nvPr/>
        </p:nvSpPr>
        <p:spPr>
          <a:xfrm>
            <a:off x="7395667"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72" name="Text 70"/>
          <p:cNvSpPr txBox="1"/>
          <p:nvPr/>
        </p:nvSpPr>
        <p:spPr>
          <a:xfrm>
            <a:off x="7395667"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+10.6%</a:t>
            </a:r>
            <a:endParaRPr lang="en-US" sz="1600" dirty="0"/>
          </a:p>
        </p:txBody>
      </p:sp>
      <p:sp>
        <p:nvSpPr>
          <p:cNvPr id="73" name="Text 71"/>
          <p:cNvSpPr txBox="1"/>
          <p:nvPr/>
        </p:nvSpPr>
        <p:spPr>
          <a:xfrm>
            <a:off x="7395667"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Audi Reno</a:t>
            </a:r>
            <a:endParaRPr lang="en-US" sz="1300" dirty="0"/>
          </a:p>
        </p:txBody>
      </p:sp>
      <p:sp>
        <p:nvSpPr>
          <p:cNvPr id="74" name="Text 72"/>
          <p:cNvSpPr txBox="1"/>
          <p:nvPr/>
        </p:nvSpPr>
        <p:spPr>
          <a:xfrm>
            <a:off x="7395667"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+7.4%</a:t>
            </a:r>
            <a:endParaRPr lang="en-US" sz="1600" dirty="0"/>
          </a:p>
        </p:txBody>
      </p:sp>
      <p:sp>
        <p:nvSpPr>
          <p:cNvPr id="75" name="Text 73"/>
          <p:cNvSpPr txBox="1"/>
          <p:nvPr/>
        </p:nvSpPr>
        <p:spPr>
          <a:xfrm>
            <a:off x="7395667"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Honda Spokane</a:t>
            </a:r>
            <a:endParaRPr lang="en-US" sz="1300" dirty="0"/>
          </a:p>
        </p:txBody>
      </p:sp>
      <p:sp>
        <p:nvSpPr>
          <p:cNvPr id="76" name="Text 74"/>
          <p:cNvSpPr txBox="1"/>
          <p:nvPr/>
        </p:nvSpPr>
        <p:spPr>
          <a:xfrm>
            <a:off x="7395667"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+6.1%</a:t>
            </a:r>
            <a:endParaRPr lang="en-US" sz="1600" dirty="0"/>
          </a:p>
        </p:txBody>
      </p:sp>
      <p:sp>
        <p:nvSpPr>
          <p:cNvPr id="77" name="Text 75"/>
          <p:cNvSpPr txBox="1"/>
          <p:nvPr/>
        </p:nvSpPr>
        <p:spPr>
          <a:xfrm>
            <a:off x="7395667"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8" name="Text 76"/>
          <p:cNvSpPr txBox="1"/>
          <p:nvPr/>
        </p:nvSpPr>
        <p:spPr>
          <a:xfrm>
            <a:off x="7395667"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−3.1%</a:t>
            </a:r>
            <a:endParaRPr lang="en-US" sz="1600" dirty="0"/>
          </a:p>
        </p:txBody>
      </p:sp>
      <p:sp>
        <p:nvSpPr>
          <p:cNvPr id="79" name="Text 77"/>
          <p:cNvSpPr txBox="1"/>
          <p:nvPr/>
        </p:nvSpPr>
        <p:spPr>
          <a:xfrm>
            <a:off x="7395667"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Lexus</a:t>
            </a:r>
            <a:endParaRPr lang="en-US" sz="1300" dirty="0"/>
          </a:p>
        </p:txBody>
      </p:sp>
      <p:sp>
        <p:nvSpPr>
          <p:cNvPr id="80" name="Text 78"/>
          <p:cNvSpPr txBox="1"/>
          <p:nvPr/>
        </p:nvSpPr>
        <p:spPr>
          <a:xfrm>
            <a:off x="7395667"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−4.8%</a:t>
            </a:r>
            <a:endParaRPr lang="en-US" sz="1600" dirty="0"/>
          </a:p>
        </p:txBody>
      </p:sp>
      <p:sp>
        <p:nvSpPr>
          <p:cNvPr id="81" name="Text 79"/>
          <p:cNvSpPr txBox="1"/>
          <p:nvPr/>
        </p:nvSpPr>
        <p:spPr>
          <a:xfrm>
            <a:off x="7395667"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Acura</a:t>
            </a:r>
            <a:endParaRPr lang="en-US" sz="1300" dirty="0"/>
          </a:p>
        </p:txBody>
      </p:sp>
      <p:sp>
        <p:nvSpPr>
          <p:cNvPr id="82" name="Text 80"/>
          <p:cNvSpPr txBox="1"/>
          <p:nvPr/>
        </p:nvSpPr>
        <p:spPr>
          <a:xfrm>
            <a:off x="7395667"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−14.2%</a:t>
            </a:r>
            <a:endParaRPr lang="en-US" sz="1600" dirty="0"/>
          </a:p>
        </p:txBody>
      </p:sp>
      <p:sp>
        <p:nvSpPr>
          <p:cNvPr id="83" name="Shape 81"/>
          <p:cNvSpPr/>
          <p:nvPr/>
        </p:nvSpPr>
        <p:spPr>
          <a:xfrm>
            <a:off x="9513418" y="1691640"/>
            <a:ext cx="2026310" cy="45720"/>
          </a:xfrm>
          <a:prstGeom prst="rect">
            <a:avLst/>
          </a:prstGeom>
          <a:solidFill>
            <a:srgbClr val="12A566"/>
          </a:solidFill>
          <a:ln/>
        </p:spPr>
        <p:txBody>
          <a:bodyPr/>
          <a:p/>
        </p:txBody>
      </p:sp>
      <p:sp>
        <p:nvSpPr>
          <p:cNvPr id="84" name="Text 82"/>
          <p:cNvSpPr txBox="1"/>
          <p:nvPr/>
        </p:nvSpPr>
        <p:spPr>
          <a:xfrm>
            <a:off x="9531706" y="1773936"/>
            <a:ext cx="1989734" cy="237744"/>
          </a:xfrm>
          <a:prstGeom prst="rect">
            <a:avLst/>
          </a:prstGeom>
          <a:noFill/>
          <a:ln/>
        </p:spPr>
        <p:txBody>
          <a:bodyPr wrap="square" lIns="0" tIns="0" rIns="0" bIns="0" rtlCol="0" anchor="ctr">
            <a:normAutofit/>
          </a:bodyPr>
          <a:lstStyle/>
          <a:p>
            <a:pPr indent="0" marL="0">
              <a:buNone/>
            </a:pPr>
            <a:r>
              <a:rPr lang="en-US" sz="1300" b="1" spc="30" kern="0" dirty="0">
                <a:solidFill>
                  <a:srgbClr val="595959"/>
                </a:solidFill>
                <a:latin typeface="Inter" pitchFamily="34" charset="0"/>
                <a:ea typeface="Inter" pitchFamily="34" charset="-122"/>
                <a:cs typeface="Inter" pitchFamily="34" charset="-120"/>
              </a:rPr>
              <a:t>CP PARTS GP %</a:t>
            </a:r>
            <a:endParaRPr lang="en-US" sz="1300" dirty="0"/>
          </a:p>
        </p:txBody>
      </p:sp>
      <p:sp>
        <p:nvSpPr>
          <p:cNvPr id="85" name="Text 83"/>
          <p:cNvSpPr txBox="1"/>
          <p:nvPr/>
        </p:nvSpPr>
        <p:spPr>
          <a:xfrm>
            <a:off x="9531706" y="1993392"/>
            <a:ext cx="1989734" cy="201168"/>
          </a:xfrm>
          <a:prstGeom prst="rect">
            <a:avLst/>
          </a:prstGeom>
          <a:noFill/>
          <a:ln/>
        </p:spPr>
        <p:txBody>
          <a:bodyPr wrap="square" lIns="0" tIns="0" rIns="0" bIns="0" rtlCol="0" anchor="ctr"/>
          <a:lstStyle/>
          <a:p>
            <a:pPr indent="0" marL="0">
              <a:buNone/>
            </a:pPr>
            <a:r>
              <a:rPr lang="en-US" sz="1300" dirty="0">
                <a:solidFill>
                  <a:srgbClr val="595959"/>
                </a:solidFill>
                <a:latin typeface="Inter" pitchFamily="34" charset="0"/>
                <a:ea typeface="Inter" pitchFamily="34" charset="-122"/>
                <a:cs typeface="Inter" pitchFamily="34" charset="-120"/>
              </a:rPr>
              <a:t>Group 0.0 pts</a:t>
            </a:r>
            <a:endParaRPr lang="en-US" sz="1300" dirty="0"/>
          </a:p>
        </p:txBody>
      </p:sp>
      <p:sp>
        <p:nvSpPr>
          <p:cNvPr id="86" name="Text 84"/>
          <p:cNvSpPr txBox="1"/>
          <p:nvPr/>
        </p:nvSpPr>
        <p:spPr>
          <a:xfrm>
            <a:off x="9531706" y="2377440"/>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Acura</a:t>
            </a:r>
            <a:endParaRPr lang="en-US" sz="1300" dirty="0"/>
          </a:p>
        </p:txBody>
      </p:sp>
      <p:sp>
        <p:nvSpPr>
          <p:cNvPr id="87" name="Text 85"/>
          <p:cNvSpPr txBox="1"/>
          <p:nvPr/>
        </p:nvSpPr>
        <p:spPr>
          <a:xfrm>
            <a:off x="9531706" y="2596896"/>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+7.2 pts</a:t>
            </a:r>
            <a:endParaRPr lang="en-US" sz="1600" dirty="0"/>
          </a:p>
        </p:txBody>
      </p:sp>
      <p:sp>
        <p:nvSpPr>
          <p:cNvPr id="88" name="Text 86"/>
          <p:cNvSpPr txBox="1"/>
          <p:nvPr/>
        </p:nvSpPr>
        <p:spPr>
          <a:xfrm>
            <a:off x="9531706" y="2907792"/>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VW St George</a:t>
            </a:r>
            <a:endParaRPr lang="en-US" sz="1300" dirty="0"/>
          </a:p>
        </p:txBody>
      </p:sp>
      <p:sp>
        <p:nvSpPr>
          <p:cNvPr id="89" name="Text 87"/>
          <p:cNvSpPr txBox="1"/>
          <p:nvPr/>
        </p:nvSpPr>
        <p:spPr>
          <a:xfrm>
            <a:off x="9531706" y="3127248"/>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+4.7 pts</a:t>
            </a:r>
            <a:endParaRPr lang="en-US" sz="1600" dirty="0"/>
          </a:p>
        </p:txBody>
      </p:sp>
      <p:sp>
        <p:nvSpPr>
          <p:cNvPr id="90" name="Text 88"/>
          <p:cNvSpPr txBox="1"/>
          <p:nvPr/>
        </p:nvSpPr>
        <p:spPr>
          <a:xfrm>
            <a:off x="9531706" y="34381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GMC Prescott</a:t>
            </a:r>
            <a:endParaRPr lang="en-US" sz="1300" dirty="0"/>
          </a:p>
        </p:txBody>
      </p:sp>
      <p:sp>
        <p:nvSpPr>
          <p:cNvPr id="91" name="Text 89"/>
          <p:cNvSpPr txBox="1"/>
          <p:nvPr/>
        </p:nvSpPr>
        <p:spPr>
          <a:xfrm>
            <a:off x="9531706" y="3657600"/>
            <a:ext cx="2026310" cy="22860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+3.9 pts</a:t>
            </a:r>
            <a:endParaRPr lang="en-US" sz="1600" dirty="0"/>
          </a:p>
        </p:txBody>
      </p:sp>
      <p:sp>
        <p:nvSpPr>
          <p:cNvPr id="92" name="Text 90"/>
          <p:cNvSpPr txBox="1"/>
          <p:nvPr/>
        </p:nvSpPr>
        <p:spPr>
          <a:xfrm>
            <a:off x="9531706" y="4123944"/>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Chevy LV</a:t>
            </a:r>
            <a:endParaRPr lang="en-US" sz="1300" dirty="0"/>
          </a:p>
        </p:txBody>
      </p:sp>
      <p:sp>
        <p:nvSpPr>
          <p:cNvPr id="93" name="Text 91"/>
          <p:cNvSpPr txBox="1"/>
          <p:nvPr/>
        </p:nvSpPr>
        <p:spPr>
          <a:xfrm>
            <a:off x="9531706" y="4343400"/>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−3.2 pts</a:t>
            </a:r>
            <a:endParaRPr lang="en-US" sz="1600" dirty="0"/>
          </a:p>
        </p:txBody>
      </p:sp>
      <p:sp>
        <p:nvSpPr>
          <p:cNvPr id="94" name="Text 92"/>
          <p:cNvSpPr txBox="1"/>
          <p:nvPr/>
        </p:nvSpPr>
        <p:spPr>
          <a:xfrm>
            <a:off x="9531706" y="4654296"/>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Lincoln</a:t>
            </a:r>
            <a:endParaRPr lang="en-US" sz="1300" dirty="0"/>
          </a:p>
        </p:txBody>
      </p:sp>
      <p:sp>
        <p:nvSpPr>
          <p:cNvPr id="95" name="Text 93"/>
          <p:cNvSpPr txBox="1"/>
          <p:nvPr/>
        </p:nvSpPr>
        <p:spPr>
          <a:xfrm>
            <a:off x="9531706" y="4873752"/>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−3.9 pts</a:t>
            </a:r>
            <a:endParaRPr lang="en-US" sz="1600" dirty="0"/>
          </a:p>
        </p:txBody>
      </p:sp>
      <p:sp>
        <p:nvSpPr>
          <p:cNvPr id="96" name="Text 94"/>
          <p:cNvSpPr txBox="1"/>
          <p:nvPr/>
        </p:nvSpPr>
        <p:spPr>
          <a:xfrm>
            <a:off x="9531706" y="5184648"/>
            <a:ext cx="2044598" cy="219456"/>
          </a:xfrm>
          <a:prstGeom prst="rect">
            <a:avLst/>
          </a:prstGeom>
          <a:noFill/>
          <a:ln/>
        </p:spPr>
        <p:txBody>
          <a:bodyPr wrap="square" lIns="0" tIns="0" rIns="0" bIns="0" rtlCol="0" anchor="ctr"/>
          <a:lstStyle/>
          <a:p>
            <a:pPr indent="0" marL="0">
              <a:buNone/>
            </a:pPr>
            <a:r>
              <a:rPr lang="en-US" sz="1300" b="1" dirty="0">
                <a:solidFill>
                  <a:srgbClr val="1A1A1A"/>
                </a:solidFill>
                <a:latin typeface="Inter" pitchFamily="34" charset="0"/>
                <a:ea typeface="Inter" pitchFamily="34" charset="-122"/>
                <a:cs typeface="Inter" pitchFamily="34" charset="-120"/>
              </a:rPr>
              <a:t>Honda Henderson</a:t>
            </a:r>
            <a:endParaRPr lang="en-US" sz="1300" dirty="0"/>
          </a:p>
        </p:txBody>
      </p:sp>
      <p:sp>
        <p:nvSpPr>
          <p:cNvPr id="97" name="Text 95"/>
          <p:cNvSpPr txBox="1"/>
          <p:nvPr/>
        </p:nvSpPr>
        <p:spPr>
          <a:xfrm>
            <a:off x="9531706" y="5404104"/>
            <a:ext cx="2026310" cy="228600"/>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−4.3 pts</a:t>
            </a:r>
            <a:endParaRPr lang="en-US" sz="1600" dirty="0"/>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 MOST IMPROVED</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What Changed?</a:t>
            </a:r>
            <a:endParaRPr lang="en-US" sz="2800" dirty="0"/>
          </a:p>
        </p:txBody>
      </p:sp>
      <p:sp>
        <p:nvSpPr>
          <p:cNvPr id="5" name="Shape 3"/>
          <p:cNvSpPr/>
          <p:nvPr/>
        </p:nvSpPr>
        <p:spPr>
          <a:xfrm>
            <a:off x="457200" y="1207008"/>
            <a:ext cx="11274552" cy="4645152"/>
          </a:xfrm>
          <a:prstGeom prst="rect">
            <a:avLst/>
          </a:prstGeom>
          <a:solidFill>
            <a:srgbClr val="FFFFFF"/>
          </a:solidFill>
          <a:ln/>
        </p:spPr>
        <p:txBody>
          <a:bodyPr/>
          <a:p/>
        </p:txBody>
      </p:sp>
      <p:sp>
        <p:nvSpPr>
          <p:cNvPr id="6" name="Text 4"/>
          <p:cNvSpPr txBox="1"/>
          <p:nvPr/>
        </p:nvSpPr>
        <p:spPr>
          <a:xfrm>
            <a:off x="749808"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Store</a:t>
            </a:r>
            <a:endParaRPr lang="en-US" sz="1400" dirty="0"/>
          </a:p>
        </p:txBody>
      </p:sp>
      <p:sp>
        <p:nvSpPr>
          <p:cNvPr id="7" name="Text 5"/>
          <p:cNvSpPr txBox="1"/>
          <p:nvPr/>
        </p:nvSpPr>
        <p:spPr>
          <a:xfrm>
            <a:off x="3520440"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Moved on</a:t>
            </a:r>
            <a:endParaRPr lang="en-US" sz="1400" dirty="0"/>
          </a:p>
        </p:txBody>
      </p:sp>
      <p:sp>
        <p:nvSpPr>
          <p:cNvPr id="8" name="Text 6"/>
          <p:cNvSpPr txBox="1"/>
          <p:nvPr/>
        </p:nvSpPr>
        <p:spPr>
          <a:xfrm>
            <a:off x="5669280"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Q1 → Q3</a:t>
            </a:r>
            <a:endParaRPr lang="en-US" sz="1400" dirty="0"/>
          </a:p>
        </p:txBody>
      </p:sp>
      <p:sp>
        <p:nvSpPr>
          <p:cNvPr id="9" name="Text 7"/>
          <p:cNvSpPr txBox="1"/>
          <p:nvPr/>
        </p:nvSpPr>
        <p:spPr>
          <a:xfrm>
            <a:off x="7726680"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Stepped up in</a:t>
            </a:r>
            <a:endParaRPr lang="en-US" sz="1400" dirty="0"/>
          </a:p>
        </p:txBody>
      </p:sp>
      <p:sp>
        <p:nvSpPr>
          <p:cNvPr id="10" name="Text 8"/>
          <p:cNvSpPr txBox="1"/>
          <p:nvPr/>
        </p:nvSpPr>
        <p:spPr>
          <a:xfrm>
            <a:off x="9326880" y="1371600"/>
            <a:ext cx="2011680" cy="29260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Change</a:t>
            </a:r>
            <a:endParaRPr lang="en-US" sz="1400" dirty="0"/>
          </a:p>
        </p:txBody>
      </p:sp>
      <p:sp>
        <p:nvSpPr>
          <p:cNvPr id="11" name="Shape 9"/>
          <p:cNvSpPr/>
          <p:nvPr/>
        </p:nvSpPr>
        <p:spPr>
          <a:xfrm>
            <a:off x="621792" y="1773936"/>
            <a:ext cx="10945368" cy="548640"/>
          </a:xfrm>
          <a:prstGeom prst="rect">
            <a:avLst/>
          </a:prstGeom>
          <a:solidFill>
            <a:srgbClr val="F7F7F7"/>
          </a:solidFill>
          <a:ln/>
        </p:spPr>
        <p:txBody>
          <a:bodyPr/>
          <a:p/>
        </p:txBody>
      </p:sp>
      <p:sp>
        <p:nvSpPr>
          <p:cNvPr id="12" name="Text 10"/>
          <p:cNvSpPr txBox="1"/>
          <p:nvPr/>
        </p:nvSpPr>
        <p:spPr>
          <a:xfrm>
            <a:off x="749808" y="177393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MAZDA</a:t>
            </a:r>
            <a:endParaRPr lang="en-US" sz="1500" dirty="0"/>
          </a:p>
        </p:txBody>
      </p:sp>
      <p:sp>
        <p:nvSpPr>
          <p:cNvPr id="13" name="Text 11"/>
          <p:cNvSpPr txBox="1"/>
          <p:nvPr/>
        </p:nvSpPr>
        <p:spPr>
          <a:xfrm>
            <a:off x="3520440" y="177393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Gross per Month</a:t>
            </a:r>
            <a:endParaRPr lang="en-US" sz="1500" dirty="0"/>
          </a:p>
        </p:txBody>
      </p:sp>
      <p:sp>
        <p:nvSpPr>
          <p:cNvPr id="14" name="Text 12"/>
          <p:cNvSpPr txBox="1"/>
          <p:nvPr/>
        </p:nvSpPr>
        <p:spPr>
          <a:xfrm>
            <a:off x="5669280" y="177393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$155K → $209K</a:t>
            </a:r>
            <a:endParaRPr lang="en-US" sz="1500" dirty="0"/>
          </a:p>
        </p:txBody>
      </p:sp>
      <p:sp>
        <p:nvSpPr>
          <p:cNvPr id="15" name="Text 13"/>
          <p:cNvSpPr txBox="1"/>
          <p:nvPr/>
        </p:nvSpPr>
        <p:spPr>
          <a:xfrm>
            <a:off x="7726680" y="177393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August</a:t>
            </a:r>
            <a:endParaRPr lang="en-US" sz="1500" dirty="0"/>
          </a:p>
        </p:txBody>
      </p:sp>
      <p:sp>
        <p:nvSpPr>
          <p:cNvPr id="16" name="Text 14"/>
          <p:cNvSpPr txBox="1"/>
          <p:nvPr/>
        </p:nvSpPr>
        <p:spPr>
          <a:xfrm>
            <a:off x="9326880" y="177393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+34.6%</a:t>
            </a:r>
            <a:endParaRPr lang="en-US" sz="1500" dirty="0"/>
          </a:p>
        </p:txBody>
      </p:sp>
      <p:sp>
        <p:nvSpPr>
          <p:cNvPr id="17" name="Text 15"/>
          <p:cNvSpPr txBox="1"/>
          <p:nvPr/>
        </p:nvSpPr>
        <p:spPr>
          <a:xfrm>
            <a:off x="749808" y="232257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LEXUS</a:t>
            </a:r>
            <a:endParaRPr lang="en-US" sz="1500" dirty="0"/>
          </a:p>
        </p:txBody>
      </p:sp>
      <p:sp>
        <p:nvSpPr>
          <p:cNvPr id="18" name="Text 16"/>
          <p:cNvSpPr txBox="1"/>
          <p:nvPr/>
        </p:nvSpPr>
        <p:spPr>
          <a:xfrm>
            <a:off x="3520440" y="232257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ROs per Month</a:t>
            </a:r>
            <a:endParaRPr lang="en-US" sz="1500" dirty="0"/>
          </a:p>
        </p:txBody>
      </p:sp>
      <p:sp>
        <p:nvSpPr>
          <p:cNvPr id="19" name="Text 17"/>
          <p:cNvSpPr txBox="1"/>
          <p:nvPr/>
        </p:nvSpPr>
        <p:spPr>
          <a:xfrm>
            <a:off x="5669280" y="232257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425 → 570</a:t>
            </a:r>
            <a:endParaRPr lang="en-US" sz="1500" dirty="0"/>
          </a:p>
        </p:txBody>
      </p:sp>
      <p:sp>
        <p:nvSpPr>
          <p:cNvPr id="20" name="Text 18"/>
          <p:cNvSpPr txBox="1"/>
          <p:nvPr/>
        </p:nvSpPr>
        <p:spPr>
          <a:xfrm>
            <a:off x="7726680" y="232257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April</a:t>
            </a:r>
            <a:endParaRPr lang="en-US" sz="1500" dirty="0"/>
          </a:p>
        </p:txBody>
      </p:sp>
      <p:sp>
        <p:nvSpPr>
          <p:cNvPr id="21" name="Text 19"/>
          <p:cNvSpPr txBox="1"/>
          <p:nvPr/>
        </p:nvSpPr>
        <p:spPr>
          <a:xfrm>
            <a:off x="9326880" y="232257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+34.0%</a:t>
            </a:r>
            <a:endParaRPr lang="en-US" sz="1500" dirty="0"/>
          </a:p>
        </p:txBody>
      </p:sp>
      <p:sp>
        <p:nvSpPr>
          <p:cNvPr id="22" name="Shape 20"/>
          <p:cNvSpPr/>
          <p:nvPr/>
        </p:nvSpPr>
        <p:spPr>
          <a:xfrm>
            <a:off x="621792" y="2871216"/>
            <a:ext cx="10945368" cy="548640"/>
          </a:xfrm>
          <a:prstGeom prst="rect">
            <a:avLst/>
          </a:prstGeom>
          <a:solidFill>
            <a:srgbClr val="F7F7F7"/>
          </a:solidFill>
          <a:ln/>
        </p:spPr>
        <p:txBody>
          <a:bodyPr/>
          <a:p/>
        </p:txBody>
      </p:sp>
      <p:sp>
        <p:nvSpPr>
          <p:cNvPr id="23" name="Text 21"/>
          <p:cNvSpPr txBox="1"/>
          <p:nvPr/>
        </p:nvSpPr>
        <p:spPr>
          <a:xfrm>
            <a:off x="749808" y="287121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MAZDA</a:t>
            </a:r>
            <a:endParaRPr lang="en-US" sz="1500" dirty="0"/>
          </a:p>
        </p:txBody>
      </p:sp>
      <p:sp>
        <p:nvSpPr>
          <p:cNvPr id="24" name="Text 22"/>
          <p:cNvSpPr txBox="1"/>
          <p:nvPr/>
        </p:nvSpPr>
        <p:spPr>
          <a:xfrm>
            <a:off x="3520440" y="287121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Hours per RO</a:t>
            </a:r>
            <a:endParaRPr lang="en-US" sz="1500" dirty="0"/>
          </a:p>
        </p:txBody>
      </p:sp>
      <p:sp>
        <p:nvSpPr>
          <p:cNvPr id="25" name="Text 23"/>
          <p:cNvSpPr txBox="1"/>
          <p:nvPr/>
        </p:nvSpPr>
        <p:spPr>
          <a:xfrm>
            <a:off x="5669280" y="287121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1.35 → 1.65</a:t>
            </a:r>
            <a:endParaRPr lang="en-US" sz="1500" dirty="0"/>
          </a:p>
        </p:txBody>
      </p:sp>
      <p:sp>
        <p:nvSpPr>
          <p:cNvPr id="26" name="Text 24"/>
          <p:cNvSpPr txBox="1"/>
          <p:nvPr/>
        </p:nvSpPr>
        <p:spPr>
          <a:xfrm>
            <a:off x="7726680" y="287121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August</a:t>
            </a:r>
            <a:endParaRPr lang="en-US" sz="1500" dirty="0"/>
          </a:p>
        </p:txBody>
      </p:sp>
      <p:sp>
        <p:nvSpPr>
          <p:cNvPr id="27" name="Text 25"/>
          <p:cNvSpPr txBox="1"/>
          <p:nvPr/>
        </p:nvSpPr>
        <p:spPr>
          <a:xfrm>
            <a:off x="9326880" y="287121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+22.2%</a:t>
            </a:r>
            <a:endParaRPr lang="en-US" sz="1500" dirty="0"/>
          </a:p>
        </p:txBody>
      </p:sp>
      <p:sp>
        <p:nvSpPr>
          <p:cNvPr id="28" name="Text 26"/>
          <p:cNvSpPr txBox="1"/>
          <p:nvPr/>
        </p:nvSpPr>
        <p:spPr>
          <a:xfrm>
            <a:off x="749808" y="341985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VW ST GEORGE</a:t>
            </a:r>
            <a:endParaRPr lang="en-US" sz="1500" dirty="0"/>
          </a:p>
        </p:txBody>
      </p:sp>
      <p:sp>
        <p:nvSpPr>
          <p:cNvPr id="29" name="Text 27"/>
          <p:cNvSpPr txBox="1"/>
          <p:nvPr/>
        </p:nvSpPr>
        <p:spPr>
          <a:xfrm>
            <a:off x="3520440" y="341985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ELR</a:t>
            </a:r>
            <a:endParaRPr lang="en-US" sz="1500" dirty="0"/>
          </a:p>
        </p:txBody>
      </p:sp>
      <p:sp>
        <p:nvSpPr>
          <p:cNvPr id="30" name="Text 28"/>
          <p:cNvSpPr txBox="1"/>
          <p:nvPr/>
        </p:nvSpPr>
        <p:spPr>
          <a:xfrm>
            <a:off x="5669280" y="341985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$128.27 → $141.89</a:t>
            </a:r>
            <a:endParaRPr lang="en-US" sz="1500" dirty="0"/>
          </a:p>
        </p:txBody>
      </p:sp>
      <p:sp>
        <p:nvSpPr>
          <p:cNvPr id="31" name="Text 29"/>
          <p:cNvSpPr txBox="1"/>
          <p:nvPr/>
        </p:nvSpPr>
        <p:spPr>
          <a:xfrm>
            <a:off x="7726680" y="341985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June</a:t>
            </a:r>
            <a:endParaRPr lang="en-US" sz="1500" dirty="0"/>
          </a:p>
        </p:txBody>
      </p:sp>
      <p:sp>
        <p:nvSpPr>
          <p:cNvPr id="32" name="Text 30"/>
          <p:cNvSpPr txBox="1"/>
          <p:nvPr/>
        </p:nvSpPr>
        <p:spPr>
          <a:xfrm>
            <a:off x="9326880" y="341985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+10.6%</a:t>
            </a:r>
            <a:endParaRPr lang="en-US" sz="1500" dirty="0"/>
          </a:p>
        </p:txBody>
      </p:sp>
      <p:sp>
        <p:nvSpPr>
          <p:cNvPr id="33" name="Shape 31"/>
          <p:cNvSpPr/>
          <p:nvPr/>
        </p:nvSpPr>
        <p:spPr>
          <a:xfrm>
            <a:off x="621792" y="3968496"/>
            <a:ext cx="10945368" cy="548640"/>
          </a:xfrm>
          <a:prstGeom prst="rect">
            <a:avLst/>
          </a:prstGeom>
          <a:solidFill>
            <a:srgbClr val="F7F7F7"/>
          </a:solidFill>
          <a:ln/>
        </p:spPr>
        <p:txBody>
          <a:bodyPr/>
          <a:p/>
        </p:txBody>
      </p:sp>
      <p:sp>
        <p:nvSpPr>
          <p:cNvPr id="34" name="Text 32"/>
          <p:cNvSpPr txBox="1"/>
          <p:nvPr/>
        </p:nvSpPr>
        <p:spPr>
          <a:xfrm>
            <a:off x="749808" y="396849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ACURA</a:t>
            </a:r>
            <a:endParaRPr lang="en-US" sz="1500" dirty="0"/>
          </a:p>
        </p:txBody>
      </p:sp>
      <p:sp>
        <p:nvSpPr>
          <p:cNvPr id="35" name="Text 33"/>
          <p:cNvSpPr txBox="1"/>
          <p:nvPr/>
        </p:nvSpPr>
        <p:spPr>
          <a:xfrm>
            <a:off x="3520440" y="396849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CP Parts GP %</a:t>
            </a:r>
            <a:endParaRPr lang="en-US" sz="1500" dirty="0"/>
          </a:p>
        </p:txBody>
      </p:sp>
      <p:sp>
        <p:nvSpPr>
          <p:cNvPr id="36" name="Text 34"/>
          <p:cNvSpPr txBox="1"/>
          <p:nvPr/>
        </p:nvSpPr>
        <p:spPr>
          <a:xfrm>
            <a:off x="5669280" y="396849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39.4% → 46.6%</a:t>
            </a:r>
            <a:endParaRPr lang="en-US" sz="1500" dirty="0"/>
          </a:p>
        </p:txBody>
      </p:sp>
      <p:sp>
        <p:nvSpPr>
          <p:cNvPr id="37" name="Text 35"/>
          <p:cNvSpPr txBox="1"/>
          <p:nvPr/>
        </p:nvSpPr>
        <p:spPr>
          <a:xfrm>
            <a:off x="7726680" y="396849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April</a:t>
            </a:r>
            <a:endParaRPr lang="en-US" sz="1500" dirty="0"/>
          </a:p>
        </p:txBody>
      </p:sp>
      <p:sp>
        <p:nvSpPr>
          <p:cNvPr id="38" name="Text 36"/>
          <p:cNvSpPr txBox="1"/>
          <p:nvPr/>
        </p:nvSpPr>
        <p:spPr>
          <a:xfrm>
            <a:off x="9326880" y="396849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+7.2 pts</a:t>
            </a:r>
            <a:endParaRPr lang="en-US" sz="1500" dirty="0"/>
          </a:p>
        </p:txBody>
      </p:sp>
      <p:sp>
        <p:nvSpPr>
          <p:cNvPr id="39" name="Text 37"/>
          <p:cNvSpPr txBox="1"/>
          <p:nvPr/>
        </p:nvSpPr>
        <p:spPr>
          <a:xfrm>
            <a:off x="749808" y="4517136"/>
            <a:ext cx="2651760" cy="548640"/>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MAZDA</a:t>
            </a:r>
            <a:endParaRPr lang="en-US" sz="1500" dirty="0"/>
          </a:p>
        </p:txBody>
      </p:sp>
      <p:sp>
        <p:nvSpPr>
          <p:cNvPr id="40" name="Text 38"/>
          <p:cNvSpPr txBox="1"/>
          <p:nvPr/>
        </p:nvSpPr>
        <p:spPr>
          <a:xfrm>
            <a:off x="3520440" y="4517136"/>
            <a:ext cx="210312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Opcodes · alignment</a:t>
            </a:r>
            <a:endParaRPr lang="en-US" sz="1500" dirty="0"/>
          </a:p>
        </p:txBody>
      </p:sp>
      <p:sp>
        <p:nvSpPr>
          <p:cNvPr id="41" name="Text 39"/>
          <p:cNvSpPr txBox="1"/>
          <p:nvPr/>
        </p:nvSpPr>
        <p:spPr>
          <a:xfrm>
            <a:off x="5669280" y="4517136"/>
            <a:ext cx="2011680" cy="548640"/>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12.6% → 22.8%</a:t>
            </a:r>
            <a:endParaRPr lang="en-US" sz="1500" dirty="0"/>
          </a:p>
        </p:txBody>
      </p:sp>
      <p:sp>
        <p:nvSpPr>
          <p:cNvPr id="42" name="Text 40"/>
          <p:cNvSpPr txBox="1"/>
          <p:nvPr/>
        </p:nvSpPr>
        <p:spPr>
          <a:xfrm>
            <a:off x="7726680" y="4517136"/>
            <a:ext cx="1554480" cy="5486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August</a:t>
            </a:r>
            <a:endParaRPr lang="en-US" sz="1500" dirty="0"/>
          </a:p>
        </p:txBody>
      </p:sp>
      <p:sp>
        <p:nvSpPr>
          <p:cNvPr id="43" name="Text 41"/>
          <p:cNvSpPr txBox="1"/>
          <p:nvPr/>
        </p:nvSpPr>
        <p:spPr>
          <a:xfrm>
            <a:off x="9326880" y="4517136"/>
            <a:ext cx="1280160" cy="548640"/>
          </a:xfrm>
          <a:prstGeom prst="rect">
            <a:avLst/>
          </a:prstGeom>
          <a:noFill/>
          <a:ln/>
        </p:spPr>
        <p:txBody>
          <a:bodyPr wrap="square" lIns="0" tIns="0" rIns="0" bIns="0" rtlCol="0" anchor="ctr"/>
          <a:lstStyle/>
          <a:p>
            <a:pPr indent="0" marL="0">
              <a:buNone/>
            </a:pPr>
            <a:r>
              <a:rPr lang="en-US" sz="1500" b="1" dirty="0">
                <a:solidFill>
                  <a:srgbClr val="0B7A4A"/>
                </a:solidFill>
                <a:latin typeface="Inter" pitchFamily="34" charset="0"/>
                <a:ea typeface="Inter" pitchFamily="34" charset="-122"/>
                <a:cs typeface="Inter" pitchFamily="34" charset="-120"/>
              </a:rPr>
              <a:t>+10.2 pts</a:t>
            </a:r>
            <a:endParaRPr lang="en-US" sz="1500" dirty="0"/>
          </a:p>
        </p:txBody>
      </p:sp>
      <p:sp>
        <p:nvSpPr>
          <p:cNvPr id="44" name="Shape 42"/>
          <p:cNvSpPr/>
          <p:nvPr/>
        </p:nvSpPr>
        <p:spPr>
          <a:xfrm>
            <a:off x="457200" y="6126480"/>
            <a:ext cx="11274552" cy="364236"/>
          </a:xfrm>
          <a:prstGeom prst="rect">
            <a:avLst/>
          </a:prstGeom>
          <a:solidFill>
            <a:srgbClr val="EDF4FA"/>
          </a:solidFill>
          <a:ln/>
        </p:spPr>
        <p:txBody>
          <a:bodyPr/>
          <a:p/>
        </p:txBody>
      </p:sp>
      <p:sp>
        <p:nvSpPr>
          <p:cNvPr id="45" name="Text 43"/>
          <p:cNvSpPr txBox="1"/>
          <p:nvPr/>
        </p:nvSpPr>
        <p:spPr>
          <a:xfrm>
            <a:off x="658368" y="6144768"/>
            <a:ext cx="10927080" cy="327660"/>
          </a:xfrm>
          <a:prstGeom prst="rect">
            <a:avLst/>
          </a:prstGeom>
          <a:noFill/>
          <a:ln/>
        </p:spPr>
        <p:txBody>
          <a:bodyPr wrap="square" lIns="0" tIns="0" rIns="0" bIns="0" rtlCol="0" anchor="ctr"/>
          <a:lstStyle/>
          <a:p>
            <a:pPr indent="0" marL="0">
              <a:buNone/>
            </a:pPr>
            <a:r>
              <a:rPr lang="en-US" sz="1550" b="1" dirty="0">
                <a:solidFill>
                  <a:srgbClr val="0B2C4A"/>
                </a:solidFill>
                <a:latin typeface="Inter" pitchFamily="34" charset="0"/>
                <a:ea typeface="Inter" pitchFamily="34" charset="-122"/>
                <a:cs typeface="Inter" pitchFamily="34" charset="-120"/>
              </a:rPr>
              <a:t>Four stores, one question each: what did you start doing that month? One sentence, before you leave.</a:t>
            </a:r>
            <a:endParaRPr lang="en-US" sz="1550" dirty="0"/>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Acura</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$2.89M</a:t>
            </a:r>
            <a:pPr indent="0" marL="0">
              <a:buNone/>
            </a:pPr>
            <a:r>
              <a:rPr lang="en-US" sz="1400" b="1" dirty="0">
                <a:solidFill>
                  <a:srgbClr val="A82B26"/>
                </a:solidFill>
                <a:latin typeface="Inter" pitchFamily="34" charset="0"/>
                <a:ea typeface="Inter" pitchFamily="34" charset="-122"/>
                <a:cs typeface="Inter" pitchFamily="34" charset="-120"/>
              </a:rPr>
              <a:t>  −$517K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$476,154</a:t>
            </a:r>
            <a:pPr indent="0" marL="0">
              <a:buNone/>
            </a:pPr>
            <a:r>
              <a:rPr lang="en-US" sz="1400" b="1" dirty="0">
                <a:solidFill>
                  <a:srgbClr val="0B7A4A"/>
                </a:solidFill>
                <a:latin typeface="Inter" pitchFamily="34" charset="0"/>
                <a:ea typeface="Inter" pitchFamily="34" charset="-122"/>
                <a:cs typeface="Inter" pitchFamily="34" charset="-120"/>
              </a:rPr>
              <a:t>  +$217K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63.1%</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3,671</a:t>
            </a:r>
            <a:pPr indent="0" marL="0">
              <a:buNone/>
            </a:pPr>
            <a:r>
              <a:rPr lang="en-US" sz="1400" b="1" dirty="0">
                <a:solidFill>
                  <a:srgbClr val="A82B26"/>
                </a:solidFill>
                <a:latin typeface="Inter" pitchFamily="34" charset="0"/>
                <a:ea typeface="Inter" pitchFamily="34" charset="-122"/>
                <a:cs typeface="Inter" pitchFamily="34" charset="-120"/>
              </a:rPr>
              <a:t>  −239</a:t>
            </a:r>
            <a:endParaRPr lang="en-US" sz="2200" dirty="0"/>
          </a:p>
        </p:txBody>
      </p:sp>
      <p:sp>
        <p:nvSpPr>
          <p:cNvPr id="19" name="Shape 17"/>
          <p:cNvSpPr/>
          <p:nvPr/>
        </p:nvSpPr>
        <p:spPr>
          <a:xfrm>
            <a:off x="3845560" y="658368"/>
            <a:ext cx="7886192" cy="475488"/>
          </a:xfrm>
          <a:prstGeom prst="rect">
            <a:avLst/>
          </a:prstGeom>
          <a:solidFill>
            <a:srgbClr val="EDF4FA"/>
          </a:solidFill>
          <a:ln/>
        </p:spPr>
        <p:txBody>
          <a:bodyPr/>
          <a:p/>
        </p:txBody>
      </p:sp>
      <p:sp>
        <p:nvSpPr>
          <p:cNvPr id="20" name="Text 18"/>
          <p:cNvSpPr txBox="1"/>
          <p:nvPr/>
        </p:nvSpPr>
        <p:spPr>
          <a:xfrm>
            <a:off x="3973576" y="658368"/>
            <a:ext cx="7630160"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YOUR BEST PLACES</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4th · Parts GP 44.9%   ·   4th · Brake fluid 12.7%   ·   4th · Fuel service 9.3%</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1</a:t>
            </a:r>
            <a:endParaRPr lang="en-US" sz="15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Techs under 85%</a:t>
            </a:r>
            <a:endParaRPr lang="en-US" sz="15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11 of 11</a:t>
            </a:r>
            <a:endParaRPr lang="en-US" sz="15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85%</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$911K</a:t>
            </a:r>
            <a:endParaRPr lang="en-US" sz="15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Dispatch, staging and approvals: flag 85%.</a:t>
            </a:r>
            <a:endParaRPr lang="en-US" sz="15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2</a:t>
            </a:r>
            <a:endParaRPr lang="en-US" sz="15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Service gross</a:t>
            </a:r>
            <a:endParaRPr lang="en-US" sz="15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$1.89M</a:t>
            </a:r>
            <a:endParaRPr lang="en-US" sz="15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$2.33M</a:t>
            </a:r>
            <a:pPr indent="0" marL="0">
              <a:buNone/>
            </a:pPr>
            <a:r>
              <a:rPr lang="en-US" sz="1500" dirty="0">
                <a:solidFill>
                  <a:srgbClr val="595959"/>
                </a:solidFill>
                <a:latin typeface="Inter" pitchFamily="34" charset="0"/>
                <a:ea typeface="Inter" pitchFamily="34" charset="-122"/>
                <a:cs typeface="Inter" pitchFamily="34" charset="-120"/>
              </a:rPr>
              <a:t> in 2025</a:t>
            </a:r>
            <a:endParaRPr lang="en-US" sz="15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$584K</a:t>
            </a:r>
            <a:endParaRPr lang="en-US" sz="15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Sell the MPI; price menus to market.</a:t>
            </a:r>
            <a:endParaRPr lang="en-US" sz="15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3</a:t>
            </a:r>
            <a:endParaRPr lang="en-US" sz="15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CP hours per RO</a:t>
            </a:r>
            <a:endParaRPr lang="en-US" sz="15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1.42</a:t>
            </a:r>
            <a:endParaRPr lang="en-US" sz="15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1.75</a:t>
            </a:r>
            <a:pPr indent="0" marL="0">
              <a:buNone/>
            </a:pPr>
            <a:r>
              <a:rPr lang="en-US" sz="1500" dirty="0">
                <a:solidFill>
                  <a:srgbClr val="595959"/>
                </a:solidFill>
                <a:latin typeface="Inter" pitchFamily="34" charset="0"/>
                <a:ea typeface="Inter" pitchFamily="34" charset="-122"/>
                <a:cs typeface="Inter" pitchFamily="34" charset="-120"/>
              </a:rPr>
              <a:t> peer avg</a:t>
            </a:r>
            <a:endParaRPr lang="en-US" sz="15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$292K</a:t>
            </a:r>
            <a:endParaRPr lang="en-US" sz="15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Present every MPI finding: +0.33 hr per RO.</a:t>
            </a:r>
            <a:endParaRPr lang="en-US" sz="15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4</a:t>
            </a:r>
            <a:endParaRPr lang="en-US" sz="15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CP RO count</a:t>
            </a:r>
            <a:endParaRPr lang="en-US" sz="15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3,671</a:t>
            </a:r>
            <a:endParaRPr lang="en-US" sz="15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3,910</a:t>
            </a:r>
            <a:pPr indent="0" marL="0">
              <a:buNone/>
            </a:pPr>
            <a:r>
              <a:rPr lang="en-US" sz="1500" dirty="0">
                <a:solidFill>
                  <a:srgbClr val="595959"/>
                </a:solidFill>
                <a:latin typeface="Inter" pitchFamily="34" charset="0"/>
                <a:ea typeface="Inter" pitchFamily="34" charset="-122"/>
                <a:cs typeface="Inter" pitchFamily="34" charset="-120"/>
              </a:rPr>
              <a:t> in 2025</a:t>
            </a:r>
            <a:endParaRPr lang="en-US" sz="15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$109K</a:t>
            </a:r>
            <a:endParaRPr lang="en-US" sz="15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Win back lapsed customers: 319 more ROs.</a:t>
            </a:r>
            <a:endParaRPr lang="en-US" sz="15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5</a:t>
            </a:r>
            <a:endParaRPr lang="en-US" sz="15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Parts gross</a:t>
            </a:r>
            <a:endParaRPr lang="en-US" sz="15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$1.01M</a:t>
            </a:r>
            <a:endParaRPr lang="en-US" sz="15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$1.08M</a:t>
            </a:r>
            <a:pPr indent="0" marL="0">
              <a:buNone/>
            </a:pPr>
            <a:r>
              <a:rPr lang="en-US" sz="1500" dirty="0">
                <a:solidFill>
                  <a:srgbClr val="595959"/>
                </a:solidFill>
                <a:latin typeface="Inter" pitchFamily="34" charset="0"/>
                <a:ea typeface="Inter" pitchFamily="34" charset="-122"/>
                <a:cs typeface="Inter" pitchFamily="34" charset="-120"/>
              </a:rPr>
              <a:t> in 2025</a:t>
            </a:r>
            <a:endParaRPr lang="en-US" sz="15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$105K</a:t>
            </a:r>
            <a:endParaRPr lang="en-US" sz="15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Parts on every RO; wholesale that pays.</a:t>
            </a:r>
            <a:endParaRPr lang="en-US" sz="1500" dirty="0"/>
          </a:p>
        </p:txBody>
      </p:sp>
      <p:sp>
        <p:nvSpPr>
          <p:cNvPr id="61" name="Shape 59"/>
          <p:cNvSpPr/>
          <p:nvPr/>
        </p:nvSpPr>
        <p:spPr>
          <a:xfrm>
            <a:off x="658368" y="4054450"/>
            <a:ext cx="10872216" cy="10973"/>
          </a:xfrm>
          <a:prstGeom prst="rect">
            <a:avLst/>
          </a:prstGeom>
          <a:solidFill>
            <a:srgbClr val="9AA3AD"/>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6</a:t>
            </a:r>
            <a:endParaRPr lang="en-US" sz="15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MPI completion</a:t>
            </a:r>
            <a:endParaRPr lang="en-US" sz="15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83.4%</a:t>
            </a:r>
            <a:endParaRPr lang="en-US" sz="15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90%</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500" dirty="0">
                <a:solidFill>
                  <a:srgbClr val="9AA3AD"/>
                </a:solidFill>
                <a:latin typeface="Inter" pitchFamily="34" charset="0"/>
                <a:ea typeface="Inter" pitchFamily="34" charset="-122"/>
                <a:cs typeface="Inter" pitchFamily="34" charset="-120"/>
              </a:rPr>
              <a:t>—</a:t>
            </a:r>
            <a:endParaRPr lang="en-US" sz="15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MPI every car: 425 more a year.</a:t>
            </a:r>
            <a:endParaRPr lang="en-US" sz="1500" dirty="0"/>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Audi Henderson</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$12.34M</a:t>
            </a:r>
            <a:pPr indent="0" marL="0">
              <a:buNone/>
            </a:pPr>
            <a:r>
              <a:rPr lang="en-US" sz="1400" b="1" dirty="0">
                <a:solidFill>
                  <a:srgbClr val="0B7A4A"/>
                </a:solidFill>
                <a:latin typeface="Inter" pitchFamily="34" charset="0"/>
                <a:ea typeface="Inter" pitchFamily="34" charset="-122"/>
                <a:cs typeface="Inter" pitchFamily="34" charset="-120"/>
              </a:rPr>
              <a:t>  +$1.70M</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$4.94M</a:t>
            </a:r>
            <a:pPr indent="0" marL="0">
              <a:buNone/>
            </a:pPr>
            <a:r>
              <a:rPr lang="en-US" sz="1400" b="1" dirty="0">
                <a:solidFill>
                  <a:srgbClr val="0B7A4A"/>
                </a:solidFill>
                <a:latin typeface="Inter" pitchFamily="34" charset="0"/>
                <a:ea typeface="Inter" pitchFamily="34" charset="-122"/>
                <a:cs typeface="Inter" pitchFamily="34" charset="-120"/>
              </a:rPr>
              <a:t>  +$838K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1161288"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106.6%</a:t>
            </a:r>
            <a:endParaRPr lang="en-US" sz="2200" dirty="0"/>
          </a:p>
        </p:txBody>
      </p:sp>
      <p:sp>
        <p:nvSpPr>
          <p:cNvPr id="14" name="Shape 12"/>
          <p:cNvSpPr/>
          <p:nvPr/>
        </p:nvSpPr>
        <p:spPr>
          <a:xfrm>
            <a:off x="7370064" y="1563624"/>
            <a:ext cx="64008" cy="256032"/>
          </a:xfrm>
          <a:prstGeom prst="rect">
            <a:avLst/>
          </a:prstGeom>
          <a:solidFill>
            <a:srgbClr val="12A566"/>
          </a:solidFill>
          <a:ln/>
        </p:spPr>
        <p:txBody>
          <a:bodyPr/>
          <a:p/>
        </p:txBody>
      </p:sp>
      <p:sp>
        <p:nvSpPr>
          <p:cNvPr id="15" name="Text 13"/>
          <p:cNvSpPr txBox="1"/>
          <p:nvPr/>
        </p:nvSpPr>
        <p:spPr>
          <a:xfrm>
            <a:off x="7525512" y="1517904"/>
            <a:ext cx="1335024"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3,779</a:t>
            </a:r>
            <a:pPr indent="0" marL="0">
              <a:buNone/>
            </a:pPr>
            <a:r>
              <a:rPr lang="en-US" sz="1400" b="1" dirty="0">
                <a:solidFill>
                  <a:srgbClr val="0B7A4A"/>
                </a:solidFill>
                <a:latin typeface="Inter" pitchFamily="34" charset="0"/>
                <a:ea typeface="Inter" pitchFamily="34" charset="-122"/>
                <a:cs typeface="Inter" pitchFamily="34" charset="-120"/>
              </a:rPr>
              <a:t>  +126</a:t>
            </a:r>
            <a:endParaRPr lang="en-US" sz="2200" dirty="0"/>
          </a:p>
        </p:txBody>
      </p:sp>
      <p:sp>
        <p:nvSpPr>
          <p:cNvPr id="19" name="Shape 17"/>
          <p:cNvSpPr/>
          <p:nvPr/>
        </p:nvSpPr>
        <p:spPr>
          <a:xfrm>
            <a:off x="4034028" y="658368"/>
            <a:ext cx="7697724" cy="475488"/>
          </a:xfrm>
          <a:prstGeom prst="rect">
            <a:avLst/>
          </a:prstGeom>
          <a:solidFill>
            <a:srgbClr val="EDF4FA"/>
          </a:solidFill>
          <a:ln/>
        </p:spPr>
        <p:txBody>
          <a:bodyPr/>
          <a:p/>
        </p:txBody>
      </p:sp>
      <p:sp>
        <p:nvSpPr>
          <p:cNvPr id="20" name="Text 18"/>
          <p:cNvSpPr txBox="1"/>
          <p:nvPr/>
        </p:nvSpPr>
        <p:spPr>
          <a:xfrm>
            <a:off x="4162044" y="658368"/>
            <a:ext cx="7441692"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Absorption 106.6%   ·   1st · CP ELR $266   ·   1st · Gross/head $23,461</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13 of 23</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$1.22M</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13 under 85%: dispatch, parts.</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33.6%</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41.3%</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$284K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2.4%</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$74K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380 more a year.</a:t>
            </a:r>
            <a:endParaRPr lang="en-US" sz="1400" dirty="0"/>
          </a:p>
        </p:txBody>
      </p:sp>
      <p:sp>
        <p:nvSpPr>
          <p:cNvPr id="48" name="Shape 46"/>
          <p:cNvSpPr/>
          <p:nvPr/>
        </p:nvSpPr>
        <p:spPr>
          <a:xfrm>
            <a:off x="658368" y="3396082"/>
            <a:ext cx="10872216" cy="10973"/>
          </a:xfrm>
          <a:prstGeom prst="rect">
            <a:avLst/>
          </a:prstGeom>
          <a:solidFill>
            <a:srgbClr val="9AA3AD"/>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79.0%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1,272 more a year.</a:t>
            </a:r>
            <a:endParaRPr lang="en-US" sz="1400" dirty="0"/>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Audi Reno</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$4.46M</a:t>
            </a:r>
            <a:pPr indent="0" marL="0">
              <a:buNone/>
            </a:pPr>
            <a:r>
              <a:rPr lang="en-US" sz="1400" b="1" dirty="0">
                <a:solidFill>
                  <a:srgbClr val="A82B26"/>
                </a:solidFill>
                <a:latin typeface="Inter" pitchFamily="34" charset="0"/>
                <a:ea typeface="Inter" pitchFamily="34" charset="-122"/>
                <a:cs typeface="Inter" pitchFamily="34" charset="-120"/>
              </a:rPr>
              <a:t>  −$520K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$1.82M</a:t>
            </a:r>
            <a:pPr indent="0" marL="0">
              <a:buNone/>
            </a:pPr>
            <a:r>
              <a:rPr lang="en-US" sz="1400" b="1" dirty="0">
                <a:solidFill>
                  <a:srgbClr val="A82B26"/>
                </a:solidFill>
                <a:latin typeface="Inter" pitchFamily="34" charset="0"/>
                <a:ea typeface="Inter" pitchFamily="34" charset="-122"/>
                <a:cs typeface="Inter" pitchFamily="34" charset="-120"/>
              </a:rPr>
              <a:t>  −$178K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1161288"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103.6%</a:t>
            </a:r>
            <a:endParaRPr lang="en-US" sz="2200" dirty="0"/>
          </a:p>
        </p:txBody>
      </p:sp>
      <p:sp>
        <p:nvSpPr>
          <p:cNvPr id="14" name="Shape 12"/>
          <p:cNvSpPr/>
          <p:nvPr/>
        </p:nvSpPr>
        <p:spPr>
          <a:xfrm>
            <a:off x="7370064" y="1563624"/>
            <a:ext cx="64008" cy="256032"/>
          </a:xfrm>
          <a:prstGeom prst="rect">
            <a:avLst/>
          </a:prstGeom>
          <a:solidFill>
            <a:srgbClr val="12A566"/>
          </a:solidFill>
          <a:ln/>
        </p:spPr>
        <p:txBody>
          <a:bodyPr/>
          <a:p/>
        </p:txBody>
      </p:sp>
      <p:sp>
        <p:nvSpPr>
          <p:cNvPr id="15" name="Text 13"/>
          <p:cNvSpPr txBox="1"/>
          <p:nvPr/>
        </p:nvSpPr>
        <p:spPr>
          <a:xfrm>
            <a:off x="7525512" y="1517904"/>
            <a:ext cx="1335024"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3,917</a:t>
            </a:r>
            <a:pPr indent="0" marL="0">
              <a:buNone/>
            </a:pPr>
            <a:r>
              <a:rPr lang="en-US" sz="1400" b="1" dirty="0">
                <a:solidFill>
                  <a:srgbClr val="A82B26"/>
                </a:solidFill>
                <a:latin typeface="Inter" pitchFamily="34" charset="0"/>
                <a:ea typeface="Inter" pitchFamily="34" charset="-122"/>
                <a:cs typeface="Inter" pitchFamily="34" charset="-120"/>
              </a:rPr>
              <a:t>  −462</a:t>
            </a:r>
            <a:endParaRPr lang="en-US" sz="2200" dirty="0"/>
          </a:p>
        </p:txBody>
      </p:sp>
      <p:sp>
        <p:nvSpPr>
          <p:cNvPr id="19" name="Shape 17"/>
          <p:cNvSpPr/>
          <p:nvPr/>
        </p:nvSpPr>
        <p:spPr>
          <a:xfrm>
            <a:off x="4222496" y="658368"/>
            <a:ext cx="7509256" cy="475488"/>
          </a:xfrm>
          <a:prstGeom prst="rect">
            <a:avLst/>
          </a:prstGeom>
          <a:solidFill>
            <a:srgbClr val="EDF4FA"/>
          </a:solidFill>
          <a:ln/>
        </p:spPr>
        <p:txBody>
          <a:bodyPr/>
          <a:p/>
        </p:txBody>
      </p:sp>
      <p:sp>
        <p:nvSpPr>
          <p:cNvPr id="20" name="Text 18"/>
          <p:cNvSpPr txBox="1"/>
          <p:nvPr/>
        </p:nvSpPr>
        <p:spPr>
          <a:xfrm>
            <a:off x="4350512" y="658368"/>
            <a:ext cx="725322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2nd · Absorption 103.6%   ·   2nd · CP ELR $235   ·   2nd · Proficiency 117%</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$1.42M</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$437K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$3.04M</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$3.23M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$256K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 of 10</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$241K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4 under 85%: dispatch, parts.</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3,917</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4,379</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$211K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616 more ROs.</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2.73</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2.90</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$165K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+0.17 hr per RO.</a:t>
            </a:r>
            <a:endParaRPr lang="en-US" sz="1400" dirty="0"/>
          </a:p>
        </p:txBody>
      </p:sp>
      <p:sp>
        <p:nvSpPr>
          <p:cNvPr id="61" name="Shape 59"/>
          <p:cNvSpPr/>
          <p:nvPr/>
        </p:nvSpPr>
        <p:spPr>
          <a:xfrm>
            <a:off x="658368" y="4059936"/>
            <a:ext cx="10872216" cy="329184"/>
          </a:xfrm>
          <a:prstGeom prst="rect">
            <a:avLst/>
          </a:prstGeom>
          <a:solidFill>
            <a:srgbClr val="F7F7F7"/>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1.9%</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$78K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378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11.8%</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$34K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149 more a year.</a:t>
            </a:r>
            <a:endParaRPr lang="en-US" sz="1400" dirty="0"/>
          </a:p>
        </p:txBody>
      </p:sp>
      <p:sp>
        <p:nvSpPr>
          <p:cNvPr id="74" name="Shape 72"/>
          <p:cNvSpPr/>
          <p:nvPr/>
        </p:nvSpPr>
        <p:spPr>
          <a:xfrm>
            <a:off x="658368" y="4712818"/>
            <a:ext cx="10872216" cy="10973"/>
          </a:xfrm>
          <a:prstGeom prst="rect">
            <a:avLst/>
          </a:prstGeom>
          <a:solidFill>
            <a:srgbClr val="9AA3AD"/>
          </a:solidFill>
          <a:ln/>
        </p:spPr>
        <p:txBody>
          <a:bodyPr/>
          <a:p/>
        </p:txBody>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$14,916</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$16,998</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4.1 heads over peer avg.</a:t>
            </a:r>
            <a:endParaRPr lang="en-US" sz="1400" dirty="0"/>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Cadillac</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$9.60M</a:t>
            </a:r>
            <a:pPr indent="0" marL="0">
              <a:buNone/>
            </a:pPr>
            <a:r>
              <a:rPr lang="en-US" sz="1400" b="1" dirty="0">
                <a:solidFill>
                  <a:srgbClr val="0B7A4A"/>
                </a:solidFill>
                <a:latin typeface="Inter" pitchFamily="34" charset="0"/>
                <a:ea typeface="Inter" pitchFamily="34" charset="-122"/>
                <a:cs typeface="Inter" pitchFamily="34" charset="-120"/>
              </a:rPr>
              <a:t>  +$664K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$2.60M</a:t>
            </a:r>
            <a:pPr indent="0" marL="0">
              <a:buNone/>
            </a:pPr>
            <a:r>
              <a:rPr lang="en-US" sz="1400" b="1" dirty="0">
                <a:solidFill>
                  <a:srgbClr val="0B7A4A"/>
                </a:solidFill>
                <a:latin typeface="Inter" pitchFamily="34" charset="0"/>
                <a:ea typeface="Inter" pitchFamily="34" charset="-122"/>
                <a:cs typeface="Inter" pitchFamily="34" charset="-120"/>
              </a:rPr>
              <a:t>  +$766K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86.1%</a:t>
            </a:r>
            <a:endParaRPr lang="en-US" sz="2200" dirty="0"/>
          </a:p>
        </p:txBody>
      </p:sp>
      <p:sp>
        <p:nvSpPr>
          <p:cNvPr id="14" name="Shape 12"/>
          <p:cNvSpPr/>
          <p:nvPr/>
        </p:nvSpPr>
        <p:spPr>
          <a:xfrm>
            <a:off x="7185660" y="1563624"/>
            <a:ext cx="64008" cy="256032"/>
          </a:xfrm>
          <a:prstGeom prst="rect">
            <a:avLst/>
          </a:prstGeom>
          <a:solidFill>
            <a:srgbClr val="12A566"/>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5,344</a:t>
            </a:r>
            <a:pPr indent="0" marL="0">
              <a:buNone/>
            </a:pPr>
            <a:r>
              <a:rPr lang="en-US" sz="1400" b="1" dirty="0">
                <a:solidFill>
                  <a:srgbClr val="0B7A4A"/>
                </a:solidFill>
                <a:latin typeface="Inter" pitchFamily="34" charset="0"/>
                <a:ea typeface="Inter" pitchFamily="34" charset="-122"/>
                <a:cs typeface="Inter" pitchFamily="34" charset="-120"/>
              </a:rPr>
              <a:t>  +137</a:t>
            </a:r>
            <a:endParaRPr lang="en-US" sz="2200" dirty="0"/>
          </a:p>
        </p:txBody>
      </p:sp>
      <p:sp>
        <p:nvSpPr>
          <p:cNvPr id="19" name="Shape 17"/>
          <p:cNvSpPr/>
          <p:nvPr/>
        </p:nvSpPr>
        <p:spPr>
          <a:xfrm>
            <a:off x="9216898" y="658368"/>
            <a:ext cx="2514854" cy="475488"/>
          </a:xfrm>
          <a:prstGeom prst="rect">
            <a:avLst/>
          </a:prstGeom>
          <a:solidFill>
            <a:srgbClr val="EDF4FA"/>
          </a:solidFill>
          <a:ln/>
        </p:spPr>
        <p:txBody>
          <a:bodyPr/>
          <a:p/>
        </p:txBody>
      </p:sp>
      <p:sp>
        <p:nvSpPr>
          <p:cNvPr id="20" name="Text 18"/>
          <p:cNvSpPr txBox="1"/>
          <p:nvPr/>
        </p:nvSpPr>
        <p:spPr>
          <a:xfrm>
            <a:off x="9344914" y="658368"/>
            <a:ext cx="2258822"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3rd · Net profit +$766K</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 of 29</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$1.89M</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16 under 85%: dispatch, parts.</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$464</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$632</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$939K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ELR</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$175</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$200</a:t>
            </a:r>
            <a:pPr indent="0" marL="0">
              <a:buNone/>
            </a:pPr>
            <a:r>
              <a:rPr lang="en-US" sz="1400" dirty="0">
                <a:solidFill>
                  <a:srgbClr val="595959"/>
                </a:solidFill>
                <a:latin typeface="Inter" pitchFamily="34" charset="0"/>
                <a:ea typeface="Inter" pitchFamily="34" charset="-122"/>
                <a:cs typeface="Inter" pitchFamily="34" charset="-120"/>
              </a:rPr>
              <a:t> 70% of door</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$411K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Charge the posted rate; control discounts.</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2.73</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2.90</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$222K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+0.17 hr per RO.</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4.6%</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$57K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379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5.1%</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$46K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170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$6.49M</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$6.51M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$32K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74" name="Shape 72"/>
          <p:cNvSpPr/>
          <p:nvPr/>
        </p:nvSpPr>
        <p:spPr>
          <a:xfrm>
            <a:off x="658368" y="4718304"/>
            <a:ext cx="10872216" cy="329184"/>
          </a:xfrm>
          <a:prstGeom prst="rect">
            <a:avLst/>
          </a:prstGeom>
          <a:solidFill>
            <a:srgbClr val="F7F7F7"/>
          </a:solidFill>
          <a:ln/>
        </p:spPr>
        <p:txBody>
          <a:bodyPr/>
          <a:p/>
        </p:txBody>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5.9%</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$14K</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643 more a year.</a:t>
            </a:r>
            <a:endParaRPr lang="en-US" sz="1400" dirty="0"/>
          </a:p>
        </p:txBody>
      </p:sp>
      <p:sp>
        <p:nvSpPr>
          <p:cNvPr id="81" name="Shape 79"/>
          <p:cNvSpPr/>
          <p:nvPr/>
        </p:nvSpPr>
        <p:spPr>
          <a:xfrm>
            <a:off x="658368" y="5042002"/>
            <a:ext cx="10872216" cy="10973"/>
          </a:xfrm>
          <a:prstGeom prst="rect">
            <a:avLst/>
          </a:prstGeom>
          <a:solidFill>
            <a:srgbClr val="9AA3AD"/>
          </a:solidFill>
          <a:ln/>
        </p:spPr>
        <p:txBody>
          <a:bodyPr/>
          <a:p/>
        </p:txBody>
      </p:sp>
      <p:sp>
        <p:nvSpPr>
          <p:cNvPr id="82" name="Text 80"/>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3" name="Text 81"/>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84" name="Text 82"/>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40.5%</a:t>
            </a:r>
            <a:endParaRPr lang="en-US" sz="1400" dirty="0"/>
          </a:p>
        </p:txBody>
      </p:sp>
      <p:sp>
        <p:nvSpPr>
          <p:cNvPr id="85" name="Text 83"/>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86" name="Text 84"/>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7" name="Text 85"/>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6,556 more a year.</a:t>
            </a:r>
            <a:endParaRPr lang="en-US" sz="1400" dirty="0"/>
          </a:p>
        </p:txBody>
      </p:sp>
      <p:sp>
        <p:nvSpPr>
          <p:cNvPr id="88" name="Shape 86"/>
          <p:cNvSpPr/>
          <p:nvPr/>
        </p:nvSpPr>
        <p:spPr>
          <a:xfrm>
            <a:off x="658368" y="5376672"/>
            <a:ext cx="10872216" cy="329184"/>
          </a:xfrm>
          <a:prstGeom prst="rect">
            <a:avLst/>
          </a:prstGeom>
          <a:solidFill>
            <a:srgbClr val="F7F7F7"/>
          </a:solidFill>
          <a:ln/>
        </p:spPr>
        <p:txBody>
          <a:bodyPr/>
          <a:p/>
        </p:txBody>
      </p:sp>
      <p:sp>
        <p:nvSpPr>
          <p:cNvPr id="89" name="Text 87"/>
          <p:cNvSpPr txBox="1"/>
          <p:nvPr/>
        </p:nvSpPr>
        <p:spPr>
          <a:xfrm>
            <a:off x="658368" y="537667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90" name="Text 88"/>
          <p:cNvSpPr txBox="1"/>
          <p:nvPr/>
        </p:nvSpPr>
        <p:spPr>
          <a:xfrm>
            <a:off x="1024128" y="537667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91" name="Text 89"/>
          <p:cNvSpPr txBox="1"/>
          <p:nvPr/>
        </p:nvSpPr>
        <p:spPr>
          <a:xfrm>
            <a:off x="2990088" y="537667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42.7%</a:t>
            </a:r>
            <a:endParaRPr lang="en-US" sz="1400" dirty="0"/>
          </a:p>
        </p:txBody>
      </p:sp>
      <p:sp>
        <p:nvSpPr>
          <p:cNvPr id="92" name="Text 90"/>
          <p:cNvSpPr txBox="1"/>
          <p:nvPr/>
        </p:nvSpPr>
        <p:spPr>
          <a:xfrm>
            <a:off x="4087368" y="537667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93" name="Text 91"/>
          <p:cNvSpPr txBox="1"/>
          <p:nvPr/>
        </p:nvSpPr>
        <p:spPr>
          <a:xfrm>
            <a:off x="5989320" y="537667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4" name="Text 92"/>
          <p:cNvSpPr txBox="1"/>
          <p:nvPr/>
        </p:nvSpPr>
        <p:spPr>
          <a:xfrm>
            <a:off x="7059168" y="537667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2,005 more a year.</a:t>
            </a:r>
            <a:endParaRPr lang="en-US" sz="1400" dirty="0"/>
          </a:p>
        </p:txBody>
      </p:sp>
      <p:sp>
        <p:nvSpPr>
          <p:cNvPr id="95" name="Text 93"/>
          <p:cNvSpPr txBox="1"/>
          <p:nvPr/>
        </p:nvSpPr>
        <p:spPr>
          <a:xfrm>
            <a:off x="658368" y="570585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6" name="Text 94"/>
          <p:cNvSpPr txBox="1"/>
          <p:nvPr/>
        </p:nvSpPr>
        <p:spPr>
          <a:xfrm>
            <a:off x="1024128" y="570585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97" name="Text 95"/>
          <p:cNvSpPr txBox="1"/>
          <p:nvPr/>
        </p:nvSpPr>
        <p:spPr>
          <a:xfrm>
            <a:off x="2990088" y="570585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$14,260</a:t>
            </a:r>
            <a:endParaRPr lang="en-US" sz="1400" dirty="0"/>
          </a:p>
        </p:txBody>
      </p:sp>
      <p:sp>
        <p:nvSpPr>
          <p:cNvPr id="98" name="Text 96"/>
          <p:cNvSpPr txBox="1"/>
          <p:nvPr/>
        </p:nvSpPr>
        <p:spPr>
          <a:xfrm>
            <a:off x="4087368" y="570585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$16,998</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99" name="Text 97"/>
          <p:cNvSpPr txBox="1"/>
          <p:nvPr/>
        </p:nvSpPr>
        <p:spPr>
          <a:xfrm>
            <a:off x="5989320" y="5705856"/>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0" name="Text 98"/>
          <p:cNvSpPr txBox="1"/>
          <p:nvPr/>
        </p:nvSpPr>
        <p:spPr>
          <a:xfrm>
            <a:off x="7059168" y="570585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12.0 heads over peer avg.</a:t>
            </a:r>
            <a:endParaRPr lang="en-US" sz="1400" dirty="0"/>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CDJR Post Falls</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$3.55M</a:t>
            </a:r>
            <a:pPr indent="0" marL="0">
              <a:buNone/>
            </a:pPr>
            <a:r>
              <a:rPr lang="en-US" sz="1400" b="1" dirty="0">
                <a:solidFill>
                  <a:srgbClr val="A82B26"/>
                </a:solidFill>
                <a:latin typeface="Inter" pitchFamily="34" charset="0"/>
                <a:ea typeface="Inter" pitchFamily="34" charset="-122"/>
                <a:cs typeface="Inter" pitchFamily="34" charset="-120"/>
              </a:rPr>
              <a:t>  −$204K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$800,469</a:t>
            </a:r>
            <a:pPr indent="0" marL="0">
              <a:buNone/>
            </a:pPr>
            <a:r>
              <a:rPr lang="en-US" sz="1400" b="1" dirty="0">
                <a:solidFill>
                  <a:srgbClr val="0B7A4A"/>
                </a:solidFill>
                <a:latin typeface="Inter" pitchFamily="34" charset="0"/>
                <a:ea typeface="Inter" pitchFamily="34" charset="-122"/>
                <a:cs typeface="Inter" pitchFamily="34" charset="-120"/>
              </a:rPr>
              <a:t>  +$54K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81.5%</a:t>
            </a:r>
            <a:endParaRPr lang="en-US" sz="2200" dirty="0"/>
          </a:p>
        </p:txBody>
      </p:sp>
      <p:sp>
        <p:nvSpPr>
          <p:cNvPr id="14" name="Shape 12"/>
          <p:cNvSpPr/>
          <p:nvPr/>
        </p:nvSpPr>
        <p:spPr>
          <a:xfrm>
            <a:off x="7185660" y="1563624"/>
            <a:ext cx="64008" cy="256032"/>
          </a:xfrm>
          <a:prstGeom prst="rect">
            <a:avLst/>
          </a:prstGeom>
          <a:solidFill>
            <a:srgbClr val="12A566"/>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5,358</a:t>
            </a:r>
            <a:pPr indent="0" marL="0">
              <a:buNone/>
            </a:pPr>
            <a:r>
              <a:rPr lang="en-US" sz="1400" b="1" dirty="0">
                <a:solidFill>
                  <a:srgbClr val="A82B26"/>
                </a:solidFill>
                <a:latin typeface="Inter" pitchFamily="34" charset="0"/>
                <a:ea typeface="Inter" pitchFamily="34" charset="-122"/>
                <a:cs typeface="Inter" pitchFamily="34" charset="-120"/>
              </a:rPr>
              <a:t>  −277</a:t>
            </a:r>
            <a:endParaRPr lang="en-US" sz="2200" dirty="0"/>
          </a:p>
        </p:txBody>
      </p:sp>
      <p:sp>
        <p:nvSpPr>
          <p:cNvPr id="19" name="Shape 17"/>
          <p:cNvSpPr/>
          <p:nvPr/>
        </p:nvSpPr>
        <p:spPr>
          <a:xfrm>
            <a:off x="457200" y="2011680"/>
            <a:ext cx="11274552" cy="4343400"/>
          </a:xfrm>
          <a:prstGeom prst="rect">
            <a:avLst/>
          </a:prstGeom>
          <a:solidFill>
            <a:srgbClr val="FFFFFF"/>
          </a:solidFill>
          <a:ln/>
        </p:spPr>
        <p:txBody>
          <a:bodyPr/>
          <a:p/>
        </p:txBody>
      </p:sp>
      <p:sp>
        <p:nvSpPr>
          <p:cNvPr id="20" name="Text 18"/>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1" name="Text 19"/>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2" name="Text 20"/>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3" name="Text 21"/>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4" name="Text 22"/>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5" name="Text 23"/>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6" name="Shape 24"/>
          <p:cNvSpPr/>
          <p:nvPr/>
        </p:nvSpPr>
        <p:spPr>
          <a:xfrm>
            <a:off x="658368" y="2368296"/>
            <a:ext cx="10872216" cy="10973"/>
          </a:xfrm>
          <a:prstGeom prst="rect">
            <a:avLst/>
          </a:prstGeom>
          <a:solidFill>
            <a:srgbClr val="1A1A1A"/>
          </a:solidFill>
          <a:ln/>
        </p:spPr>
        <p:txBody>
          <a:bodyPr/>
          <a:p/>
        </p:txBody>
      </p:sp>
      <p:sp>
        <p:nvSpPr>
          <p:cNvPr id="27" name="Text 25"/>
          <p:cNvSpPr txBox="1"/>
          <p:nvPr/>
        </p:nvSpPr>
        <p:spPr>
          <a:xfrm>
            <a:off x="658368" y="24140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28" name="Text 26"/>
          <p:cNvSpPr txBox="1"/>
          <p:nvPr/>
        </p:nvSpPr>
        <p:spPr>
          <a:xfrm>
            <a:off x="1024128" y="24140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29" name="Text 27"/>
          <p:cNvSpPr txBox="1"/>
          <p:nvPr/>
        </p:nvSpPr>
        <p:spPr>
          <a:xfrm>
            <a:off x="2990088" y="24140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 of 14</a:t>
            </a:r>
            <a:endParaRPr lang="en-US" sz="1400" dirty="0"/>
          </a:p>
        </p:txBody>
      </p:sp>
      <p:sp>
        <p:nvSpPr>
          <p:cNvPr id="30" name="Text 28"/>
          <p:cNvSpPr txBox="1"/>
          <p:nvPr/>
        </p:nvSpPr>
        <p:spPr>
          <a:xfrm>
            <a:off x="4087368" y="24140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1" name="Text 29"/>
          <p:cNvSpPr txBox="1"/>
          <p:nvPr/>
        </p:nvSpPr>
        <p:spPr>
          <a:xfrm>
            <a:off x="5989320" y="24140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$1.20M</a:t>
            </a:r>
            <a:endParaRPr lang="en-US" sz="1400" dirty="0"/>
          </a:p>
        </p:txBody>
      </p:sp>
      <p:sp>
        <p:nvSpPr>
          <p:cNvPr id="32" name="Text 30"/>
          <p:cNvSpPr txBox="1"/>
          <p:nvPr/>
        </p:nvSpPr>
        <p:spPr>
          <a:xfrm>
            <a:off x="7059168" y="24140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3" name="Shape 31"/>
          <p:cNvSpPr/>
          <p:nvPr/>
        </p:nvSpPr>
        <p:spPr>
          <a:xfrm>
            <a:off x="658368" y="2737866"/>
            <a:ext cx="10872216" cy="323850"/>
          </a:xfrm>
          <a:prstGeom prst="rect">
            <a:avLst/>
          </a:prstGeom>
          <a:solidFill>
            <a:srgbClr val="F7F7F7"/>
          </a:solidFill>
          <a:ln/>
        </p:spPr>
        <p:txBody>
          <a:bodyPr/>
          <a:p/>
        </p:txBody>
      </p:sp>
      <p:sp>
        <p:nvSpPr>
          <p:cNvPr id="34" name="Text 32"/>
          <p:cNvSpPr txBox="1"/>
          <p:nvPr/>
        </p:nvSpPr>
        <p:spPr>
          <a:xfrm>
            <a:off x="658368" y="27378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5" name="Text 33"/>
          <p:cNvSpPr txBox="1"/>
          <p:nvPr/>
        </p:nvSpPr>
        <p:spPr>
          <a:xfrm>
            <a:off x="1024128" y="27378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36" name="Text 34"/>
          <p:cNvSpPr txBox="1"/>
          <p:nvPr/>
        </p:nvSpPr>
        <p:spPr>
          <a:xfrm>
            <a:off x="2990088" y="27378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$1.26M</a:t>
            </a:r>
            <a:endParaRPr lang="en-US" sz="1400" dirty="0"/>
          </a:p>
        </p:txBody>
      </p:sp>
      <p:sp>
        <p:nvSpPr>
          <p:cNvPr id="37" name="Text 35"/>
          <p:cNvSpPr txBox="1"/>
          <p:nvPr/>
        </p:nvSpPr>
        <p:spPr>
          <a:xfrm>
            <a:off x="4087368" y="27378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$1.40M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38" name="Text 36"/>
          <p:cNvSpPr txBox="1"/>
          <p:nvPr/>
        </p:nvSpPr>
        <p:spPr>
          <a:xfrm>
            <a:off x="5989320" y="27378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$195K</a:t>
            </a:r>
            <a:endParaRPr lang="en-US" sz="1400" dirty="0"/>
          </a:p>
        </p:txBody>
      </p:sp>
      <p:sp>
        <p:nvSpPr>
          <p:cNvPr id="39" name="Text 37"/>
          <p:cNvSpPr txBox="1"/>
          <p:nvPr/>
        </p:nvSpPr>
        <p:spPr>
          <a:xfrm>
            <a:off x="7059168" y="27378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40" name="Text 38"/>
          <p:cNvSpPr txBox="1"/>
          <p:nvPr/>
        </p:nvSpPr>
        <p:spPr>
          <a:xfrm>
            <a:off x="658368" y="30617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1" name="Text 39"/>
          <p:cNvSpPr txBox="1"/>
          <p:nvPr/>
        </p:nvSpPr>
        <p:spPr>
          <a:xfrm>
            <a:off x="1024128" y="30617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42" name="Text 40"/>
          <p:cNvSpPr txBox="1"/>
          <p:nvPr/>
        </p:nvSpPr>
        <p:spPr>
          <a:xfrm>
            <a:off x="2990088" y="30617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5,358</a:t>
            </a:r>
            <a:endParaRPr lang="en-US" sz="1400" dirty="0"/>
          </a:p>
        </p:txBody>
      </p:sp>
      <p:sp>
        <p:nvSpPr>
          <p:cNvPr id="43" name="Text 41"/>
          <p:cNvSpPr txBox="1"/>
          <p:nvPr/>
        </p:nvSpPr>
        <p:spPr>
          <a:xfrm>
            <a:off x="4087368" y="30617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5,635</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4" name="Text 42"/>
          <p:cNvSpPr txBox="1"/>
          <p:nvPr/>
        </p:nvSpPr>
        <p:spPr>
          <a:xfrm>
            <a:off x="5989320" y="30617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$126K</a:t>
            </a:r>
            <a:endParaRPr lang="en-US" sz="1400" dirty="0"/>
          </a:p>
        </p:txBody>
      </p:sp>
      <p:sp>
        <p:nvSpPr>
          <p:cNvPr id="45" name="Text 43"/>
          <p:cNvSpPr txBox="1"/>
          <p:nvPr/>
        </p:nvSpPr>
        <p:spPr>
          <a:xfrm>
            <a:off x="7059168" y="30617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369 more ROs.</a:t>
            </a:r>
            <a:endParaRPr lang="en-US" sz="1400" dirty="0"/>
          </a:p>
        </p:txBody>
      </p:sp>
      <p:sp>
        <p:nvSpPr>
          <p:cNvPr id="46" name="Shape 44"/>
          <p:cNvSpPr/>
          <p:nvPr/>
        </p:nvSpPr>
        <p:spPr>
          <a:xfrm>
            <a:off x="658368" y="3385566"/>
            <a:ext cx="10872216" cy="323850"/>
          </a:xfrm>
          <a:prstGeom prst="rect">
            <a:avLst/>
          </a:prstGeom>
          <a:solidFill>
            <a:srgbClr val="F7F7F7"/>
          </a:solidFill>
          <a:ln/>
        </p:spPr>
        <p:txBody>
          <a:bodyPr/>
          <a:p/>
        </p:txBody>
      </p:sp>
      <p:sp>
        <p:nvSpPr>
          <p:cNvPr id="47" name="Text 45"/>
          <p:cNvSpPr txBox="1"/>
          <p:nvPr/>
        </p:nvSpPr>
        <p:spPr>
          <a:xfrm>
            <a:off x="658368" y="33855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48" name="Text 46"/>
          <p:cNvSpPr txBox="1"/>
          <p:nvPr/>
        </p:nvSpPr>
        <p:spPr>
          <a:xfrm>
            <a:off x="1024128" y="33855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49" name="Text 47"/>
          <p:cNvSpPr txBox="1"/>
          <p:nvPr/>
        </p:nvSpPr>
        <p:spPr>
          <a:xfrm>
            <a:off x="2990088" y="33855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35.6%</a:t>
            </a:r>
            <a:endParaRPr lang="en-US" sz="1400" dirty="0"/>
          </a:p>
        </p:txBody>
      </p:sp>
      <p:sp>
        <p:nvSpPr>
          <p:cNvPr id="50" name="Text 48"/>
          <p:cNvSpPr txBox="1"/>
          <p:nvPr/>
        </p:nvSpPr>
        <p:spPr>
          <a:xfrm>
            <a:off x="4087368" y="33855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1" name="Text 49"/>
          <p:cNvSpPr txBox="1"/>
          <p:nvPr/>
        </p:nvSpPr>
        <p:spPr>
          <a:xfrm>
            <a:off x="5989320" y="33855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$114K</a:t>
            </a:r>
            <a:endParaRPr lang="en-US" sz="1400" dirty="0"/>
          </a:p>
        </p:txBody>
      </p:sp>
      <p:sp>
        <p:nvSpPr>
          <p:cNvPr id="52" name="Text 50"/>
          <p:cNvSpPr txBox="1"/>
          <p:nvPr/>
        </p:nvSpPr>
        <p:spPr>
          <a:xfrm>
            <a:off x="7059168" y="33855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53" name="Text 51"/>
          <p:cNvSpPr txBox="1"/>
          <p:nvPr/>
        </p:nvSpPr>
        <p:spPr>
          <a:xfrm>
            <a:off x="658368" y="37094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4" name="Text 52"/>
          <p:cNvSpPr txBox="1"/>
          <p:nvPr/>
        </p:nvSpPr>
        <p:spPr>
          <a:xfrm>
            <a:off x="1024128" y="37094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55" name="Text 53"/>
          <p:cNvSpPr txBox="1"/>
          <p:nvPr/>
        </p:nvSpPr>
        <p:spPr>
          <a:xfrm>
            <a:off x="2990088" y="37094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$2.30M</a:t>
            </a:r>
            <a:endParaRPr lang="en-US" sz="1400" dirty="0"/>
          </a:p>
        </p:txBody>
      </p:sp>
      <p:sp>
        <p:nvSpPr>
          <p:cNvPr id="56" name="Text 54"/>
          <p:cNvSpPr txBox="1"/>
          <p:nvPr/>
        </p:nvSpPr>
        <p:spPr>
          <a:xfrm>
            <a:off x="4087368" y="37094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$2.35M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7" name="Text 55"/>
          <p:cNvSpPr txBox="1"/>
          <p:nvPr/>
        </p:nvSpPr>
        <p:spPr>
          <a:xfrm>
            <a:off x="5989320" y="37094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$77K</a:t>
            </a:r>
            <a:endParaRPr lang="en-US" sz="1400" dirty="0"/>
          </a:p>
        </p:txBody>
      </p:sp>
      <p:sp>
        <p:nvSpPr>
          <p:cNvPr id="58" name="Text 56"/>
          <p:cNvSpPr txBox="1"/>
          <p:nvPr/>
        </p:nvSpPr>
        <p:spPr>
          <a:xfrm>
            <a:off x="7059168" y="37094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59" name="Shape 57"/>
          <p:cNvSpPr/>
          <p:nvPr/>
        </p:nvSpPr>
        <p:spPr>
          <a:xfrm>
            <a:off x="658368" y="4033266"/>
            <a:ext cx="10872216" cy="323850"/>
          </a:xfrm>
          <a:prstGeom prst="rect">
            <a:avLst/>
          </a:prstGeom>
          <a:solidFill>
            <a:srgbClr val="F7F7F7"/>
          </a:solidFill>
          <a:ln/>
        </p:spPr>
        <p:txBody>
          <a:bodyPr/>
          <a:p/>
        </p:txBody>
      </p:sp>
      <p:sp>
        <p:nvSpPr>
          <p:cNvPr id="60" name="Text 58"/>
          <p:cNvSpPr txBox="1"/>
          <p:nvPr/>
        </p:nvSpPr>
        <p:spPr>
          <a:xfrm>
            <a:off x="658368" y="40332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1" name="Text 59"/>
          <p:cNvSpPr txBox="1"/>
          <p:nvPr/>
        </p:nvSpPr>
        <p:spPr>
          <a:xfrm>
            <a:off x="1024128" y="40332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62" name="Text 60"/>
          <p:cNvSpPr txBox="1"/>
          <p:nvPr/>
        </p:nvSpPr>
        <p:spPr>
          <a:xfrm>
            <a:off x="2990088" y="40332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a:t>
            </a:r>
            <a:endParaRPr lang="en-US" sz="1400" dirty="0"/>
          </a:p>
        </p:txBody>
      </p:sp>
      <p:sp>
        <p:nvSpPr>
          <p:cNvPr id="63" name="Text 61"/>
          <p:cNvSpPr txBox="1"/>
          <p:nvPr/>
        </p:nvSpPr>
        <p:spPr>
          <a:xfrm>
            <a:off x="4087368" y="40332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4" name="Text 62"/>
          <p:cNvSpPr txBox="1"/>
          <p:nvPr/>
        </p:nvSpPr>
        <p:spPr>
          <a:xfrm>
            <a:off x="5989320" y="40332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$73K</a:t>
            </a:r>
            <a:endParaRPr lang="en-US" sz="1400" dirty="0"/>
          </a:p>
        </p:txBody>
      </p:sp>
      <p:sp>
        <p:nvSpPr>
          <p:cNvPr id="65" name="Text 63"/>
          <p:cNvSpPr txBox="1"/>
          <p:nvPr/>
        </p:nvSpPr>
        <p:spPr>
          <a:xfrm>
            <a:off x="7059168" y="40332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981 more a year.</a:t>
            </a:r>
            <a:endParaRPr lang="en-US" sz="1400" dirty="0"/>
          </a:p>
        </p:txBody>
      </p:sp>
      <p:sp>
        <p:nvSpPr>
          <p:cNvPr id="66" name="Text 64"/>
          <p:cNvSpPr txBox="1"/>
          <p:nvPr/>
        </p:nvSpPr>
        <p:spPr>
          <a:xfrm>
            <a:off x="658368" y="43571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7" name="Text 65"/>
          <p:cNvSpPr txBox="1"/>
          <p:nvPr/>
        </p:nvSpPr>
        <p:spPr>
          <a:xfrm>
            <a:off x="1024128" y="43571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68" name="Text 66"/>
          <p:cNvSpPr txBox="1"/>
          <p:nvPr/>
        </p:nvSpPr>
        <p:spPr>
          <a:xfrm>
            <a:off x="2990088" y="43571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3.0%</a:t>
            </a:r>
            <a:endParaRPr lang="en-US" sz="1400" dirty="0"/>
          </a:p>
        </p:txBody>
      </p:sp>
      <p:sp>
        <p:nvSpPr>
          <p:cNvPr id="69" name="Text 67"/>
          <p:cNvSpPr txBox="1"/>
          <p:nvPr/>
        </p:nvSpPr>
        <p:spPr>
          <a:xfrm>
            <a:off x="4087368" y="43571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0" name="Text 68"/>
          <p:cNvSpPr txBox="1"/>
          <p:nvPr/>
        </p:nvSpPr>
        <p:spPr>
          <a:xfrm>
            <a:off x="5989320" y="43571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$62K</a:t>
            </a:r>
            <a:endParaRPr lang="en-US" sz="1400" dirty="0"/>
          </a:p>
        </p:txBody>
      </p:sp>
      <p:sp>
        <p:nvSpPr>
          <p:cNvPr id="71" name="Text 69"/>
          <p:cNvSpPr txBox="1"/>
          <p:nvPr/>
        </p:nvSpPr>
        <p:spPr>
          <a:xfrm>
            <a:off x="7059168" y="43571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321 more a year.</a:t>
            </a:r>
            <a:endParaRPr lang="en-US" sz="1400" dirty="0"/>
          </a:p>
        </p:txBody>
      </p:sp>
      <p:sp>
        <p:nvSpPr>
          <p:cNvPr id="72" name="Shape 70"/>
          <p:cNvSpPr/>
          <p:nvPr/>
        </p:nvSpPr>
        <p:spPr>
          <a:xfrm>
            <a:off x="658368" y="4680966"/>
            <a:ext cx="10872216" cy="323850"/>
          </a:xfrm>
          <a:prstGeom prst="rect">
            <a:avLst/>
          </a:prstGeom>
          <a:solidFill>
            <a:srgbClr val="F7F7F7"/>
          </a:solidFill>
          <a:ln/>
        </p:spPr>
        <p:txBody>
          <a:bodyPr/>
          <a:p/>
        </p:txBody>
      </p:sp>
      <p:sp>
        <p:nvSpPr>
          <p:cNvPr id="73" name="Text 71"/>
          <p:cNvSpPr txBox="1"/>
          <p:nvPr/>
        </p:nvSpPr>
        <p:spPr>
          <a:xfrm>
            <a:off x="658368" y="46809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4" name="Text 72"/>
          <p:cNvSpPr txBox="1"/>
          <p:nvPr/>
        </p:nvSpPr>
        <p:spPr>
          <a:xfrm>
            <a:off x="1024128" y="46809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75" name="Text 73"/>
          <p:cNvSpPr txBox="1"/>
          <p:nvPr/>
        </p:nvSpPr>
        <p:spPr>
          <a:xfrm>
            <a:off x="2990088" y="46809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4.2%</a:t>
            </a:r>
            <a:endParaRPr lang="en-US" sz="1400" dirty="0"/>
          </a:p>
        </p:txBody>
      </p:sp>
      <p:sp>
        <p:nvSpPr>
          <p:cNvPr id="76" name="Text 74"/>
          <p:cNvSpPr txBox="1"/>
          <p:nvPr/>
        </p:nvSpPr>
        <p:spPr>
          <a:xfrm>
            <a:off x="4087368" y="46809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7" name="Text 75"/>
          <p:cNvSpPr txBox="1"/>
          <p:nvPr/>
        </p:nvSpPr>
        <p:spPr>
          <a:xfrm>
            <a:off x="5989320" y="46809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$57K</a:t>
            </a:r>
            <a:endParaRPr lang="en-US" sz="1400" dirty="0"/>
          </a:p>
        </p:txBody>
      </p:sp>
      <p:sp>
        <p:nvSpPr>
          <p:cNvPr id="78" name="Text 76"/>
          <p:cNvSpPr txBox="1"/>
          <p:nvPr/>
        </p:nvSpPr>
        <p:spPr>
          <a:xfrm>
            <a:off x="7059168" y="46809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770 more a year.</a:t>
            </a:r>
            <a:endParaRPr lang="en-US" sz="1400" dirty="0"/>
          </a:p>
        </p:txBody>
      </p:sp>
      <p:sp>
        <p:nvSpPr>
          <p:cNvPr id="79" name="Text 77"/>
          <p:cNvSpPr txBox="1"/>
          <p:nvPr/>
        </p:nvSpPr>
        <p:spPr>
          <a:xfrm>
            <a:off x="658368" y="50048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0" name="Text 78"/>
          <p:cNvSpPr txBox="1"/>
          <p:nvPr/>
        </p:nvSpPr>
        <p:spPr>
          <a:xfrm>
            <a:off x="1024128" y="50048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81" name="Text 79"/>
          <p:cNvSpPr txBox="1"/>
          <p:nvPr/>
        </p:nvSpPr>
        <p:spPr>
          <a:xfrm>
            <a:off x="2990088" y="50048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4.2%</a:t>
            </a:r>
            <a:endParaRPr lang="en-US" sz="1400" dirty="0"/>
          </a:p>
        </p:txBody>
      </p:sp>
      <p:sp>
        <p:nvSpPr>
          <p:cNvPr id="82" name="Text 80"/>
          <p:cNvSpPr txBox="1"/>
          <p:nvPr/>
        </p:nvSpPr>
        <p:spPr>
          <a:xfrm>
            <a:off x="4087368" y="50048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83" name="Text 81"/>
          <p:cNvSpPr txBox="1"/>
          <p:nvPr/>
        </p:nvSpPr>
        <p:spPr>
          <a:xfrm>
            <a:off x="5989320" y="50048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$53K</a:t>
            </a:r>
            <a:endParaRPr lang="en-US" sz="1400" dirty="0"/>
          </a:p>
        </p:txBody>
      </p:sp>
      <p:sp>
        <p:nvSpPr>
          <p:cNvPr id="84" name="Text 82"/>
          <p:cNvSpPr txBox="1"/>
          <p:nvPr/>
        </p:nvSpPr>
        <p:spPr>
          <a:xfrm>
            <a:off x="7059168" y="50048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412 more a year.</a:t>
            </a:r>
            <a:endParaRPr lang="en-US" sz="1400" dirty="0"/>
          </a:p>
        </p:txBody>
      </p:sp>
      <p:sp>
        <p:nvSpPr>
          <p:cNvPr id="85" name="Shape 83"/>
          <p:cNvSpPr/>
          <p:nvPr/>
        </p:nvSpPr>
        <p:spPr>
          <a:xfrm>
            <a:off x="658368" y="5323180"/>
            <a:ext cx="10872216" cy="10973"/>
          </a:xfrm>
          <a:prstGeom prst="rect">
            <a:avLst/>
          </a:prstGeom>
          <a:solidFill>
            <a:srgbClr val="9AA3AD"/>
          </a:solidFill>
          <a:ln/>
        </p:spPr>
        <p:txBody>
          <a:bodyPr/>
          <a:p/>
        </p:txBody>
      </p:sp>
      <p:sp>
        <p:nvSpPr>
          <p:cNvPr id="86" name="Text 84"/>
          <p:cNvSpPr txBox="1"/>
          <p:nvPr/>
        </p:nvSpPr>
        <p:spPr>
          <a:xfrm>
            <a:off x="658368" y="53286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87" name="Text 85"/>
          <p:cNvSpPr txBox="1"/>
          <p:nvPr/>
        </p:nvSpPr>
        <p:spPr>
          <a:xfrm>
            <a:off x="1024128" y="53286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88" name="Text 86"/>
          <p:cNvSpPr txBox="1"/>
          <p:nvPr/>
        </p:nvSpPr>
        <p:spPr>
          <a:xfrm>
            <a:off x="2990088" y="53286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16.0%</a:t>
            </a:r>
            <a:endParaRPr lang="en-US" sz="1400" dirty="0"/>
          </a:p>
        </p:txBody>
      </p:sp>
      <p:sp>
        <p:nvSpPr>
          <p:cNvPr id="89" name="Text 87"/>
          <p:cNvSpPr txBox="1"/>
          <p:nvPr/>
        </p:nvSpPr>
        <p:spPr>
          <a:xfrm>
            <a:off x="4087368" y="53286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90" name="Text 88"/>
          <p:cNvSpPr txBox="1"/>
          <p:nvPr/>
        </p:nvSpPr>
        <p:spPr>
          <a:xfrm>
            <a:off x="5989320" y="5328666"/>
            <a:ext cx="868680" cy="323850"/>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1" name="Text 89"/>
          <p:cNvSpPr txBox="1"/>
          <p:nvPr/>
        </p:nvSpPr>
        <p:spPr>
          <a:xfrm>
            <a:off x="7059168" y="53286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5,302 more a year.</a:t>
            </a:r>
            <a:endParaRPr lang="en-US" sz="1400" dirty="0"/>
          </a:p>
        </p:txBody>
      </p:sp>
      <p:sp>
        <p:nvSpPr>
          <p:cNvPr id="92" name="Text 90"/>
          <p:cNvSpPr txBox="1"/>
          <p:nvPr/>
        </p:nvSpPr>
        <p:spPr>
          <a:xfrm>
            <a:off x="658368" y="56525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3" name="Text 91"/>
          <p:cNvSpPr txBox="1"/>
          <p:nvPr/>
        </p:nvSpPr>
        <p:spPr>
          <a:xfrm>
            <a:off x="1024128" y="56525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94" name="Text 92"/>
          <p:cNvSpPr txBox="1"/>
          <p:nvPr/>
        </p:nvSpPr>
        <p:spPr>
          <a:xfrm>
            <a:off x="2990088" y="56525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$9,953</a:t>
            </a:r>
            <a:endParaRPr lang="en-US" sz="1400" dirty="0"/>
          </a:p>
        </p:txBody>
      </p:sp>
      <p:sp>
        <p:nvSpPr>
          <p:cNvPr id="95" name="Text 93"/>
          <p:cNvSpPr txBox="1"/>
          <p:nvPr/>
        </p:nvSpPr>
        <p:spPr>
          <a:xfrm>
            <a:off x="4087368" y="56525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96" name="Text 94"/>
          <p:cNvSpPr txBox="1"/>
          <p:nvPr/>
        </p:nvSpPr>
        <p:spPr>
          <a:xfrm>
            <a:off x="5989320" y="5652516"/>
            <a:ext cx="868680" cy="323850"/>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7" name="Text 95"/>
          <p:cNvSpPr txBox="1"/>
          <p:nvPr/>
        </p:nvSpPr>
        <p:spPr>
          <a:xfrm>
            <a:off x="7059168" y="56525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8.6 heads over peer avg.</a:t>
            </a:r>
            <a:endParaRPr lang="en-US" sz="1400" dirty="0"/>
          </a:p>
        </p:txBody>
      </p:sp>
      <p:sp>
        <p:nvSpPr>
          <p:cNvPr id="98" name="Shape 96"/>
          <p:cNvSpPr/>
          <p:nvPr/>
        </p:nvSpPr>
        <p:spPr>
          <a:xfrm>
            <a:off x="658368" y="5976366"/>
            <a:ext cx="10872216" cy="323850"/>
          </a:xfrm>
          <a:prstGeom prst="rect">
            <a:avLst/>
          </a:prstGeom>
          <a:solidFill>
            <a:srgbClr val="F7F7F7"/>
          </a:solidFill>
          <a:ln/>
        </p:spPr>
        <p:txBody>
          <a:bodyPr/>
          <a:p/>
        </p:txBody>
      </p:sp>
      <p:sp>
        <p:nvSpPr>
          <p:cNvPr id="99" name="Text 97"/>
          <p:cNvSpPr txBox="1"/>
          <p:nvPr/>
        </p:nvSpPr>
        <p:spPr>
          <a:xfrm>
            <a:off x="658368" y="59763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12</a:t>
            </a:r>
            <a:endParaRPr lang="en-US" sz="1400" dirty="0"/>
          </a:p>
        </p:txBody>
      </p:sp>
      <p:sp>
        <p:nvSpPr>
          <p:cNvPr id="100" name="Text 98"/>
          <p:cNvSpPr txBox="1"/>
          <p:nvPr/>
        </p:nvSpPr>
        <p:spPr>
          <a:xfrm>
            <a:off x="1024128" y="59763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101" name="Text 99"/>
          <p:cNvSpPr txBox="1"/>
          <p:nvPr/>
        </p:nvSpPr>
        <p:spPr>
          <a:xfrm>
            <a:off x="2990088" y="59763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81.7%</a:t>
            </a:r>
            <a:endParaRPr lang="en-US" sz="1400" dirty="0"/>
          </a:p>
        </p:txBody>
      </p:sp>
      <p:sp>
        <p:nvSpPr>
          <p:cNvPr id="102" name="Text 100"/>
          <p:cNvSpPr txBox="1"/>
          <p:nvPr/>
        </p:nvSpPr>
        <p:spPr>
          <a:xfrm>
            <a:off x="4087368" y="59763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103" name="Text 101"/>
          <p:cNvSpPr txBox="1"/>
          <p:nvPr/>
        </p:nvSpPr>
        <p:spPr>
          <a:xfrm>
            <a:off x="5989320" y="5976366"/>
            <a:ext cx="868680" cy="323850"/>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4" name="Text 102"/>
          <p:cNvSpPr txBox="1"/>
          <p:nvPr/>
        </p:nvSpPr>
        <p:spPr>
          <a:xfrm>
            <a:off x="7059168" y="59763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1,052 more a year.</a:t>
            </a:r>
            <a:endParaRPr lang="en-US" sz="1400" dirty="0"/>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Chevy GMC Bullhead</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$4.53M</a:t>
            </a:r>
            <a:pPr indent="0" marL="0">
              <a:buNone/>
            </a:pPr>
            <a:r>
              <a:rPr lang="en-US" sz="1400" b="1" dirty="0">
                <a:solidFill>
                  <a:srgbClr val="0B7A4A"/>
                </a:solidFill>
                <a:latin typeface="Inter" pitchFamily="34" charset="0"/>
                <a:ea typeface="Inter" pitchFamily="34" charset="-122"/>
                <a:cs typeface="Inter" pitchFamily="34" charset="-120"/>
              </a:rPr>
              <a:t>  +$39K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$1.12M</a:t>
            </a:r>
            <a:pPr indent="0" marL="0">
              <a:buNone/>
            </a:pPr>
            <a:r>
              <a:rPr lang="en-US" sz="1400" b="1" dirty="0">
                <a:solidFill>
                  <a:srgbClr val="0B7A4A"/>
                </a:solidFill>
                <a:latin typeface="Inter" pitchFamily="34" charset="0"/>
                <a:ea typeface="Inter" pitchFamily="34" charset="-122"/>
                <a:cs typeface="Inter" pitchFamily="34" charset="-120"/>
              </a:rPr>
              <a:t>  +$337K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65.1%</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6,309</a:t>
            </a:r>
            <a:pPr indent="0" marL="0">
              <a:buNone/>
            </a:pPr>
            <a:r>
              <a:rPr lang="en-US" sz="1400" b="1" dirty="0">
                <a:solidFill>
                  <a:srgbClr val="0B7A4A"/>
                </a:solidFill>
                <a:latin typeface="Inter" pitchFamily="34" charset="0"/>
                <a:ea typeface="Inter" pitchFamily="34" charset="-122"/>
                <a:cs typeface="Inter" pitchFamily="34" charset="-120"/>
              </a:rPr>
              <a:t>  +212</a:t>
            </a:r>
            <a:endParaRPr lang="en-US" sz="2200" dirty="0"/>
          </a:p>
        </p:txBody>
      </p:sp>
      <p:sp>
        <p:nvSpPr>
          <p:cNvPr id="19" name="Shape 17"/>
          <p:cNvSpPr/>
          <p:nvPr/>
        </p:nvSpPr>
        <p:spPr>
          <a:xfrm>
            <a:off x="6955282" y="658368"/>
            <a:ext cx="4776470" cy="475488"/>
          </a:xfrm>
          <a:prstGeom prst="rect">
            <a:avLst/>
          </a:prstGeom>
          <a:solidFill>
            <a:srgbClr val="EDF4FA"/>
          </a:solidFill>
          <a:ln/>
        </p:spPr>
        <p:txBody>
          <a:bodyPr/>
          <a:p/>
        </p:txBody>
      </p:sp>
      <p:sp>
        <p:nvSpPr>
          <p:cNvPr id="20" name="Text 18"/>
          <p:cNvSpPr txBox="1"/>
          <p:nvPr/>
        </p:nvSpPr>
        <p:spPr>
          <a:xfrm>
            <a:off x="7083298" y="658368"/>
            <a:ext cx="4520438"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YOUR BEST PLACES</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7th · Net profit +$337K   ·   8th · CP ROs +212</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 of 20</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$1.35M</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37.2%</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$77K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2.7%</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$65K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400 more a year.</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11.1%</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$25K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324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7.0%</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$21K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245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9.0%</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$21K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496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GP %</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77.3%</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78%</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$17K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Right tech, right work; review discounts.</a:t>
            </a:r>
            <a:endParaRPr lang="en-US" sz="1400" dirty="0"/>
          </a:p>
        </p:txBody>
      </p:sp>
      <p:sp>
        <p:nvSpPr>
          <p:cNvPr id="74" name="Shape 72"/>
          <p:cNvSpPr/>
          <p:nvPr/>
        </p:nvSpPr>
        <p:spPr>
          <a:xfrm>
            <a:off x="658368" y="4712818"/>
            <a:ext cx="10872216" cy="10973"/>
          </a:xfrm>
          <a:prstGeom prst="rect">
            <a:avLst/>
          </a:prstGeom>
          <a:solidFill>
            <a:srgbClr val="9AA3AD"/>
          </a:solidFill>
          <a:ln/>
        </p:spPr>
        <p:txBody>
          <a:bodyPr/>
          <a:p/>
        </p:txBody>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21.8%</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4,006 more a year.</a:t>
            </a:r>
            <a:endParaRPr lang="en-US" sz="1400" dirty="0"/>
          </a:p>
        </p:txBody>
      </p:sp>
      <p:sp>
        <p:nvSpPr>
          <p:cNvPr id="81" name="Text 79"/>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2" name="Text 80"/>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83" name="Text 81"/>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$10,391</a:t>
            </a:r>
            <a:endParaRPr lang="en-US" sz="1400" dirty="0"/>
          </a:p>
        </p:txBody>
      </p:sp>
      <p:sp>
        <p:nvSpPr>
          <p:cNvPr id="84" name="Text 82"/>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85" name="Text 83"/>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6" name="Text 84"/>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8.9 heads over peer avg.</a:t>
            </a:r>
            <a:endParaRPr lang="en-US" sz="1400" dirty="0"/>
          </a:p>
        </p:txBody>
      </p:sp>
      <p:sp>
        <p:nvSpPr>
          <p:cNvPr id="87" name="Shape 85"/>
          <p:cNvSpPr/>
          <p:nvPr/>
        </p:nvSpPr>
        <p:spPr>
          <a:xfrm>
            <a:off x="658368" y="5376672"/>
            <a:ext cx="10872216" cy="329184"/>
          </a:xfrm>
          <a:prstGeom prst="rect">
            <a:avLst/>
          </a:prstGeom>
          <a:solidFill>
            <a:srgbClr val="F7F7F7"/>
          </a:solidFill>
          <a:ln/>
        </p:spPr>
        <p:txBody>
          <a:bodyPr/>
          <a:p/>
        </p:txBody>
      </p:sp>
      <p:sp>
        <p:nvSpPr>
          <p:cNvPr id="88" name="Text 86"/>
          <p:cNvSpPr txBox="1"/>
          <p:nvPr/>
        </p:nvSpPr>
        <p:spPr>
          <a:xfrm>
            <a:off x="658368" y="537667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89" name="Text 87"/>
          <p:cNvSpPr txBox="1"/>
          <p:nvPr/>
        </p:nvSpPr>
        <p:spPr>
          <a:xfrm>
            <a:off x="1024128" y="537667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90" name="Text 88"/>
          <p:cNvSpPr txBox="1"/>
          <p:nvPr/>
        </p:nvSpPr>
        <p:spPr>
          <a:xfrm>
            <a:off x="2990088" y="537667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87.6%</a:t>
            </a:r>
            <a:endParaRPr lang="en-US" sz="1400" dirty="0"/>
          </a:p>
        </p:txBody>
      </p:sp>
      <p:sp>
        <p:nvSpPr>
          <p:cNvPr id="91" name="Text 89"/>
          <p:cNvSpPr txBox="1"/>
          <p:nvPr/>
        </p:nvSpPr>
        <p:spPr>
          <a:xfrm>
            <a:off x="4087368" y="537667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2" name="Text 90"/>
          <p:cNvSpPr txBox="1"/>
          <p:nvPr/>
        </p:nvSpPr>
        <p:spPr>
          <a:xfrm>
            <a:off x="5989320" y="537667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3" name="Text 91"/>
          <p:cNvSpPr txBox="1"/>
          <p:nvPr/>
        </p:nvSpPr>
        <p:spPr>
          <a:xfrm>
            <a:off x="7059168" y="537667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267 more a year.</a:t>
            </a:r>
            <a:endParaRPr lang="en-US" sz="1400" dirty="0"/>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Chevy LV</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$16.55M</a:t>
            </a:r>
            <a:pPr indent="0" marL="0">
              <a:buNone/>
            </a:pPr>
            <a:r>
              <a:rPr lang="en-US" sz="1400" b="1" dirty="0">
                <a:solidFill>
                  <a:srgbClr val="A82B26"/>
                </a:solidFill>
                <a:latin typeface="Inter" pitchFamily="34" charset="0"/>
                <a:ea typeface="Inter" pitchFamily="34" charset="-122"/>
                <a:cs typeface="Inter" pitchFamily="34" charset="-120"/>
              </a:rPr>
              <a:t>  −$437K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$2.27M</a:t>
            </a:r>
            <a:pPr indent="0" marL="0">
              <a:buNone/>
            </a:pPr>
            <a:r>
              <a:rPr lang="en-US" sz="1400" b="1" dirty="0">
                <a:solidFill>
                  <a:srgbClr val="A82B26"/>
                </a:solidFill>
                <a:latin typeface="Inter" pitchFamily="34" charset="0"/>
                <a:ea typeface="Inter" pitchFamily="34" charset="-122"/>
                <a:cs typeface="Inter" pitchFamily="34" charset="-120"/>
              </a:rPr>
              <a:t>  −$643K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68.9%</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19,520</a:t>
            </a:r>
            <a:pPr indent="0" marL="0">
              <a:buNone/>
            </a:pPr>
            <a:r>
              <a:rPr lang="en-US" sz="1400" b="1" dirty="0">
                <a:solidFill>
                  <a:srgbClr val="A82B26"/>
                </a:solidFill>
                <a:latin typeface="Inter" pitchFamily="34" charset="0"/>
                <a:ea typeface="Inter" pitchFamily="34" charset="-122"/>
                <a:cs typeface="Inter" pitchFamily="34" charset="-120"/>
              </a:rPr>
              <a:t>  −952</a:t>
            </a:r>
            <a:endParaRPr lang="en-US" sz="2200" dirty="0"/>
          </a:p>
        </p:txBody>
      </p:sp>
      <p:sp>
        <p:nvSpPr>
          <p:cNvPr id="19" name="Shape 17"/>
          <p:cNvSpPr/>
          <p:nvPr/>
        </p:nvSpPr>
        <p:spPr>
          <a:xfrm>
            <a:off x="6389878" y="658368"/>
            <a:ext cx="5341874" cy="475488"/>
          </a:xfrm>
          <a:prstGeom prst="rect">
            <a:avLst/>
          </a:prstGeom>
          <a:solidFill>
            <a:srgbClr val="EDF4FA"/>
          </a:solidFill>
          <a:ln/>
        </p:spPr>
        <p:txBody>
          <a:bodyPr/>
          <a:p/>
        </p:txBody>
      </p:sp>
      <p:sp>
        <p:nvSpPr>
          <p:cNvPr id="20" name="Text 18"/>
          <p:cNvSpPr txBox="1"/>
          <p:nvPr/>
        </p:nvSpPr>
        <p:spPr>
          <a:xfrm>
            <a:off x="6517894" y="658368"/>
            <a:ext cx="5085842"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YOUR BEST PLACES</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9th · Hours per RO 2.30   ·   10th · Proficiency 103%</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 of 51</a:t>
            </a:r>
            <a:endParaRPr lang="en-US" sz="1400" dirty="0"/>
          </a:p>
        </p:txBody>
      </p:sp>
      <p:sp>
        <p:nvSpPr>
          <p:cNvPr id="32" name="Text 30"/>
          <p:cNvSpPr txBox="1"/>
          <p:nvPr/>
        </p:nvSpPr>
        <p:spPr>
          <a:xfrm>
            <a:off x="4087368" y="2414016"/>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$1.05M</a:t>
            </a:r>
            <a:endParaRPr lang="en-US" sz="1400" dirty="0"/>
          </a:p>
        </p:txBody>
      </p:sp>
      <p:sp>
        <p:nvSpPr>
          <p:cNvPr id="34" name="Text 32"/>
          <p:cNvSpPr txBox="1"/>
          <p:nvPr/>
        </p:nvSpPr>
        <p:spPr>
          <a:xfrm>
            <a:off x="7059168" y="2414016"/>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16 under 85%: dispatch, parts.</a:t>
            </a:r>
            <a:endParaRPr lang="en-US" sz="1400" dirty="0"/>
          </a:p>
        </p:txBody>
      </p:sp>
      <p:sp>
        <p:nvSpPr>
          <p:cNvPr id="35" name="Shape 33"/>
          <p:cNvSpPr/>
          <p:nvPr/>
        </p:nvSpPr>
        <p:spPr>
          <a:xfrm>
            <a:off x="658368" y="2712954"/>
            <a:ext cx="10872216" cy="298938"/>
          </a:xfrm>
          <a:prstGeom prst="rect">
            <a:avLst/>
          </a:prstGeom>
          <a:solidFill>
            <a:srgbClr val="F7F7F7"/>
          </a:solidFill>
          <a:ln/>
        </p:spPr>
        <p:txBody>
          <a:bodyPr/>
          <a:p/>
        </p:txBody>
      </p:sp>
      <p:sp>
        <p:nvSpPr>
          <p:cNvPr id="36" name="Text 34"/>
          <p:cNvSpPr txBox="1"/>
          <p:nvPr/>
        </p:nvSpPr>
        <p:spPr>
          <a:xfrm>
            <a:off x="658368" y="2712954"/>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12954"/>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ELR</a:t>
            </a:r>
            <a:endParaRPr lang="en-US" sz="1400" dirty="0"/>
          </a:p>
        </p:txBody>
      </p:sp>
      <p:sp>
        <p:nvSpPr>
          <p:cNvPr id="38" name="Text 36"/>
          <p:cNvSpPr txBox="1"/>
          <p:nvPr/>
        </p:nvSpPr>
        <p:spPr>
          <a:xfrm>
            <a:off x="2990088" y="2712954"/>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$146</a:t>
            </a:r>
            <a:endParaRPr lang="en-US" sz="1400" dirty="0"/>
          </a:p>
        </p:txBody>
      </p:sp>
      <p:sp>
        <p:nvSpPr>
          <p:cNvPr id="39" name="Text 37"/>
          <p:cNvSpPr txBox="1"/>
          <p:nvPr/>
        </p:nvSpPr>
        <p:spPr>
          <a:xfrm>
            <a:off x="4087368" y="2712954"/>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$157</a:t>
            </a:r>
            <a:pPr indent="0" marL="0">
              <a:buNone/>
            </a:pPr>
            <a:r>
              <a:rPr lang="en-US" sz="1400" dirty="0">
                <a:solidFill>
                  <a:srgbClr val="595959"/>
                </a:solidFill>
                <a:latin typeface="Inter" pitchFamily="34" charset="0"/>
                <a:ea typeface="Inter" pitchFamily="34" charset="-122"/>
                <a:cs typeface="Inter" pitchFamily="34" charset="-120"/>
              </a:rPr>
              <a:t> 70% of door</a:t>
            </a:r>
            <a:endParaRPr lang="en-US" sz="1400" dirty="0"/>
          </a:p>
        </p:txBody>
      </p:sp>
      <p:sp>
        <p:nvSpPr>
          <p:cNvPr id="40" name="Text 38"/>
          <p:cNvSpPr txBox="1"/>
          <p:nvPr/>
        </p:nvSpPr>
        <p:spPr>
          <a:xfrm>
            <a:off x="5989320" y="2712954"/>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$671K</a:t>
            </a:r>
            <a:endParaRPr lang="en-US" sz="1400" dirty="0"/>
          </a:p>
        </p:txBody>
      </p:sp>
      <p:sp>
        <p:nvSpPr>
          <p:cNvPr id="41" name="Text 39"/>
          <p:cNvSpPr txBox="1"/>
          <p:nvPr/>
        </p:nvSpPr>
        <p:spPr>
          <a:xfrm>
            <a:off x="7059168" y="2712954"/>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Charge the posted rate; control discounts.</a:t>
            </a:r>
            <a:endParaRPr lang="en-US" sz="1400" dirty="0"/>
          </a:p>
        </p:txBody>
      </p:sp>
      <p:sp>
        <p:nvSpPr>
          <p:cNvPr id="42" name="Text 40"/>
          <p:cNvSpPr txBox="1"/>
          <p:nvPr/>
        </p:nvSpPr>
        <p:spPr>
          <a:xfrm>
            <a:off x="658368" y="3011893"/>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11893"/>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44" name="Text 42"/>
          <p:cNvSpPr txBox="1"/>
          <p:nvPr/>
        </p:nvSpPr>
        <p:spPr>
          <a:xfrm>
            <a:off x="2990088" y="3011893"/>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$10.50M</a:t>
            </a:r>
            <a:endParaRPr lang="en-US" sz="1400" dirty="0"/>
          </a:p>
        </p:txBody>
      </p:sp>
      <p:sp>
        <p:nvSpPr>
          <p:cNvPr id="45" name="Text 43"/>
          <p:cNvSpPr txBox="1"/>
          <p:nvPr/>
        </p:nvSpPr>
        <p:spPr>
          <a:xfrm>
            <a:off x="4087368" y="3011893"/>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$10.89M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6" name="Text 44"/>
          <p:cNvSpPr txBox="1"/>
          <p:nvPr/>
        </p:nvSpPr>
        <p:spPr>
          <a:xfrm>
            <a:off x="5989320" y="3011893"/>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$526K</a:t>
            </a:r>
            <a:endParaRPr lang="en-US" sz="1400" dirty="0"/>
          </a:p>
        </p:txBody>
      </p:sp>
      <p:sp>
        <p:nvSpPr>
          <p:cNvPr id="47" name="Text 45"/>
          <p:cNvSpPr txBox="1"/>
          <p:nvPr/>
        </p:nvSpPr>
        <p:spPr>
          <a:xfrm>
            <a:off x="7059168" y="3011893"/>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48" name="Shape 46"/>
          <p:cNvSpPr/>
          <p:nvPr/>
        </p:nvSpPr>
        <p:spPr>
          <a:xfrm>
            <a:off x="658368" y="3310831"/>
            <a:ext cx="10872216" cy="298938"/>
          </a:xfrm>
          <a:prstGeom prst="rect">
            <a:avLst/>
          </a:prstGeom>
          <a:solidFill>
            <a:srgbClr val="F7F7F7"/>
          </a:solidFill>
          <a:ln/>
        </p:spPr>
        <p:txBody>
          <a:bodyPr/>
          <a:p/>
        </p:txBody>
      </p:sp>
      <p:sp>
        <p:nvSpPr>
          <p:cNvPr id="49" name="Text 47"/>
          <p:cNvSpPr txBox="1"/>
          <p:nvPr/>
        </p:nvSpPr>
        <p:spPr>
          <a:xfrm>
            <a:off x="658368" y="3310831"/>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310831"/>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51" name="Text 49"/>
          <p:cNvSpPr txBox="1"/>
          <p:nvPr/>
        </p:nvSpPr>
        <p:spPr>
          <a:xfrm>
            <a:off x="2990088" y="3310831"/>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19,520</a:t>
            </a:r>
            <a:endParaRPr lang="en-US" sz="1400" dirty="0"/>
          </a:p>
        </p:txBody>
      </p:sp>
      <p:sp>
        <p:nvSpPr>
          <p:cNvPr id="52" name="Text 50"/>
          <p:cNvSpPr txBox="1"/>
          <p:nvPr/>
        </p:nvSpPr>
        <p:spPr>
          <a:xfrm>
            <a:off x="4087368" y="3310831"/>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20,472</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3" name="Text 51"/>
          <p:cNvSpPr txBox="1"/>
          <p:nvPr/>
        </p:nvSpPr>
        <p:spPr>
          <a:xfrm>
            <a:off x="5989320" y="3310831"/>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$434K</a:t>
            </a:r>
            <a:endParaRPr lang="en-US" sz="1400" dirty="0"/>
          </a:p>
        </p:txBody>
      </p:sp>
      <p:sp>
        <p:nvSpPr>
          <p:cNvPr id="54" name="Text 52"/>
          <p:cNvSpPr txBox="1"/>
          <p:nvPr/>
        </p:nvSpPr>
        <p:spPr>
          <a:xfrm>
            <a:off x="7059168" y="3310831"/>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1,269 more ROs.</a:t>
            </a:r>
            <a:endParaRPr lang="en-US" sz="1400" dirty="0"/>
          </a:p>
        </p:txBody>
      </p:sp>
      <p:sp>
        <p:nvSpPr>
          <p:cNvPr id="55" name="Text 53"/>
          <p:cNvSpPr txBox="1"/>
          <p:nvPr/>
        </p:nvSpPr>
        <p:spPr>
          <a:xfrm>
            <a:off x="658368" y="3609770"/>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609770"/>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57" name="Text 55"/>
          <p:cNvSpPr txBox="1"/>
          <p:nvPr/>
        </p:nvSpPr>
        <p:spPr>
          <a:xfrm>
            <a:off x="2990088" y="3609770"/>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36.2%</a:t>
            </a:r>
            <a:endParaRPr lang="en-US" sz="1400" dirty="0"/>
          </a:p>
        </p:txBody>
      </p:sp>
      <p:sp>
        <p:nvSpPr>
          <p:cNvPr id="58" name="Text 56"/>
          <p:cNvSpPr txBox="1"/>
          <p:nvPr/>
        </p:nvSpPr>
        <p:spPr>
          <a:xfrm>
            <a:off x="4087368" y="3609770"/>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9" name="Text 57"/>
          <p:cNvSpPr txBox="1"/>
          <p:nvPr/>
        </p:nvSpPr>
        <p:spPr>
          <a:xfrm>
            <a:off x="5989320" y="3609770"/>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$314K</a:t>
            </a:r>
            <a:endParaRPr lang="en-US" sz="1400" dirty="0"/>
          </a:p>
        </p:txBody>
      </p:sp>
      <p:sp>
        <p:nvSpPr>
          <p:cNvPr id="60" name="Text 58"/>
          <p:cNvSpPr txBox="1"/>
          <p:nvPr/>
        </p:nvSpPr>
        <p:spPr>
          <a:xfrm>
            <a:off x="7059168" y="3609770"/>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61" name="Shape 59"/>
          <p:cNvSpPr/>
          <p:nvPr/>
        </p:nvSpPr>
        <p:spPr>
          <a:xfrm>
            <a:off x="658368" y="3908708"/>
            <a:ext cx="10872216" cy="298938"/>
          </a:xfrm>
          <a:prstGeom prst="rect">
            <a:avLst/>
          </a:prstGeom>
          <a:solidFill>
            <a:srgbClr val="F7F7F7"/>
          </a:solidFill>
          <a:ln/>
        </p:spPr>
        <p:txBody>
          <a:bodyPr/>
          <a:p/>
        </p:txBody>
      </p:sp>
      <p:sp>
        <p:nvSpPr>
          <p:cNvPr id="62" name="Text 60"/>
          <p:cNvSpPr txBox="1"/>
          <p:nvPr/>
        </p:nvSpPr>
        <p:spPr>
          <a:xfrm>
            <a:off x="658368" y="3908708"/>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3908708"/>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64" name="Text 62"/>
          <p:cNvSpPr txBox="1"/>
          <p:nvPr/>
        </p:nvSpPr>
        <p:spPr>
          <a:xfrm>
            <a:off x="2990088" y="3908708"/>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5.7%</a:t>
            </a:r>
            <a:endParaRPr lang="en-US" sz="1400" dirty="0"/>
          </a:p>
        </p:txBody>
      </p:sp>
      <p:sp>
        <p:nvSpPr>
          <p:cNvPr id="65" name="Text 63"/>
          <p:cNvSpPr txBox="1"/>
          <p:nvPr/>
        </p:nvSpPr>
        <p:spPr>
          <a:xfrm>
            <a:off x="4087368" y="3908708"/>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3908708"/>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$151K</a:t>
            </a:r>
            <a:endParaRPr lang="en-US" sz="1400" dirty="0"/>
          </a:p>
        </p:txBody>
      </p:sp>
      <p:sp>
        <p:nvSpPr>
          <p:cNvPr id="67" name="Text 65"/>
          <p:cNvSpPr txBox="1"/>
          <p:nvPr/>
        </p:nvSpPr>
        <p:spPr>
          <a:xfrm>
            <a:off x="7059168" y="3908708"/>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1,093 more a year.</a:t>
            </a:r>
            <a:endParaRPr lang="en-US" sz="1400" dirty="0"/>
          </a:p>
        </p:txBody>
      </p:sp>
      <p:sp>
        <p:nvSpPr>
          <p:cNvPr id="68" name="Text 66"/>
          <p:cNvSpPr txBox="1"/>
          <p:nvPr/>
        </p:nvSpPr>
        <p:spPr>
          <a:xfrm>
            <a:off x="658368" y="4207647"/>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207647"/>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70" name="Text 68"/>
          <p:cNvSpPr txBox="1"/>
          <p:nvPr/>
        </p:nvSpPr>
        <p:spPr>
          <a:xfrm>
            <a:off x="2990088" y="4207647"/>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5.2%</a:t>
            </a:r>
            <a:endParaRPr lang="en-US" sz="1400" dirty="0"/>
          </a:p>
        </p:txBody>
      </p:sp>
      <p:sp>
        <p:nvSpPr>
          <p:cNvPr id="71" name="Text 69"/>
          <p:cNvSpPr txBox="1"/>
          <p:nvPr/>
        </p:nvSpPr>
        <p:spPr>
          <a:xfrm>
            <a:off x="4087368" y="4207647"/>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207647"/>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$142K</a:t>
            </a:r>
            <a:endParaRPr lang="en-US" sz="1400" dirty="0"/>
          </a:p>
        </p:txBody>
      </p:sp>
      <p:sp>
        <p:nvSpPr>
          <p:cNvPr id="73" name="Text 71"/>
          <p:cNvSpPr txBox="1"/>
          <p:nvPr/>
        </p:nvSpPr>
        <p:spPr>
          <a:xfrm>
            <a:off x="7059168" y="4207647"/>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585 more a year.</a:t>
            </a:r>
            <a:endParaRPr lang="en-US" sz="1400" dirty="0"/>
          </a:p>
        </p:txBody>
      </p:sp>
      <p:sp>
        <p:nvSpPr>
          <p:cNvPr id="74" name="Shape 72"/>
          <p:cNvSpPr/>
          <p:nvPr/>
        </p:nvSpPr>
        <p:spPr>
          <a:xfrm>
            <a:off x="658368" y="4506585"/>
            <a:ext cx="10872216" cy="298938"/>
          </a:xfrm>
          <a:prstGeom prst="rect">
            <a:avLst/>
          </a:prstGeom>
          <a:solidFill>
            <a:srgbClr val="F7F7F7"/>
          </a:solidFill>
          <a:ln/>
        </p:spPr>
        <p:txBody>
          <a:bodyPr/>
          <a:p/>
        </p:txBody>
      </p:sp>
      <p:sp>
        <p:nvSpPr>
          <p:cNvPr id="75" name="Text 73"/>
          <p:cNvSpPr txBox="1"/>
          <p:nvPr/>
        </p:nvSpPr>
        <p:spPr>
          <a:xfrm>
            <a:off x="658368" y="4506585"/>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506585"/>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77" name="Text 75"/>
          <p:cNvSpPr txBox="1"/>
          <p:nvPr/>
        </p:nvSpPr>
        <p:spPr>
          <a:xfrm>
            <a:off x="2990088" y="4506585"/>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7.3%</a:t>
            </a:r>
            <a:endParaRPr lang="en-US" sz="1400" dirty="0"/>
          </a:p>
        </p:txBody>
      </p:sp>
      <p:sp>
        <p:nvSpPr>
          <p:cNvPr id="78" name="Text 76"/>
          <p:cNvSpPr txBox="1"/>
          <p:nvPr/>
        </p:nvSpPr>
        <p:spPr>
          <a:xfrm>
            <a:off x="4087368" y="4506585"/>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9" name="Text 77"/>
          <p:cNvSpPr txBox="1"/>
          <p:nvPr/>
        </p:nvSpPr>
        <p:spPr>
          <a:xfrm>
            <a:off x="5989320" y="4506585"/>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$106K</a:t>
            </a:r>
            <a:endParaRPr lang="en-US" sz="1400" dirty="0"/>
          </a:p>
        </p:txBody>
      </p:sp>
      <p:sp>
        <p:nvSpPr>
          <p:cNvPr id="80" name="Text 78"/>
          <p:cNvSpPr txBox="1"/>
          <p:nvPr/>
        </p:nvSpPr>
        <p:spPr>
          <a:xfrm>
            <a:off x="7059168" y="4506585"/>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2,001 more a year.</a:t>
            </a:r>
            <a:endParaRPr lang="en-US" sz="1400" dirty="0"/>
          </a:p>
        </p:txBody>
      </p:sp>
      <p:sp>
        <p:nvSpPr>
          <p:cNvPr id="81" name="Text 79"/>
          <p:cNvSpPr txBox="1"/>
          <p:nvPr/>
        </p:nvSpPr>
        <p:spPr>
          <a:xfrm>
            <a:off x="658368" y="4805524"/>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2" name="Text 80"/>
          <p:cNvSpPr txBox="1"/>
          <p:nvPr/>
        </p:nvSpPr>
        <p:spPr>
          <a:xfrm>
            <a:off x="1024128" y="4805524"/>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83" name="Text 81"/>
          <p:cNvSpPr txBox="1"/>
          <p:nvPr/>
        </p:nvSpPr>
        <p:spPr>
          <a:xfrm>
            <a:off x="2990088" y="4805524"/>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12.8%</a:t>
            </a:r>
            <a:endParaRPr lang="en-US" sz="1400" dirty="0"/>
          </a:p>
        </p:txBody>
      </p:sp>
      <p:sp>
        <p:nvSpPr>
          <p:cNvPr id="84" name="Text 82"/>
          <p:cNvSpPr txBox="1"/>
          <p:nvPr/>
        </p:nvSpPr>
        <p:spPr>
          <a:xfrm>
            <a:off x="4087368" y="4805524"/>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85" name="Text 83"/>
          <p:cNvSpPr txBox="1"/>
          <p:nvPr/>
        </p:nvSpPr>
        <p:spPr>
          <a:xfrm>
            <a:off x="5989320" y="4805524"/>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$75K</a:t>
            </a:r>
            <a:endParaRPr lang="en-US" sz="1400" dirty="0"/>
          </a:p>
        </p:txBody>
      </p:sp>
      <p:sp>
        <p:nvSpPr>
          <p:cNvPr id="86" name="Text 84"/>
          <p:cNvSpPr txBox="1"/>
          <p:nvPr/>
        </p:nvSpPr>
        <p:spPr>
          <a:xfrm>
            <a:off x="7059168" y="4805524"/>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556 more a year.</a:t>
            </a:r>
            <a:endParaRPr lang="en-US" sz="1400" dirty="0"/>
          </a:p>
        </p:txBody>
      </p:sp>
      <p:sp>
        <p:nvSpPr>
          <p:cNvPr id="87" name="Shape 85"/>
          <p:cNvSpPr/>
          <p:nvPr/>
        </p:nvSpPr>
        <p:spPr>
          <a:xfrm>
            <a:off x="658368" y="5104462"/>
            <a:ext cx="10872216" cy="298938"/>
          </a:xfrm>
          <a:prstGeom prst="rect">
            <a:avLst/>
          </a:prstGeom>
          <a:solidFill>
            <a:srgbClr val="F7F7F7"/>
          </a:solidFill>
          <a:ln/>
        </p:spPr>
        <p:txBody>
          <a:bodyPr/>
          <a:p/>
        </p:txBody>
      </p:sp>
      <p:sp>
        <p:nvSpPr>
          <p:cNvPr id="88" name="Text 86"/>
          <p:cNvSpPr txBox="1"/>
          <p:nvPr/>
        </p:nvSpPr>
        <p:spPr>
          <a:xfrm>
            <a:off x="658368" y="5104462"/>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89" name="Text 87"/>
          <p:cNvSpPr txBox="1"/>
          <p:nvPr/>
        </p:nvSpPr>
        <p:spPr>
          <a:xfrm>
            <a:off x="1024128" y="5104462"/>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90" name="Text 88"/>
          <p:cNvSpPr txBox="1"/>
          <p:nvPr/>
        </p:nvSpPr>
        <p:spPr>
          <a:xfrm>
            <a:off x="2990088" y="5104462"/>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$6.05M</a:t>
            </a:r>
            <a:endParaRPr lang="en-US" sz="1400" dirty="0"/>
          </a:p>
        </p:txBody>
      </p:sp>
      <p:sp>
        <p:nvSpPr>
          <p:cNvPr id="91" name="Text 89"/>
          <p:cNvSpPr txBox="1"/>
          <p:nvPr/>
        </p:nvSpPr>
        <p:spPr>
          <a:xfrm>
            <a:off x="4087368" y="5104462"/>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$6.09M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92" name="Text 90"/>
          <p:cNvSpPr txBox="1"/>
          <p:nvPr/>
        </p:nvSpPr>
        <p:spPr>
          <a:xfrm>
            <a:off x="5989320" y="5104462"/>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$56K</a:t>
            </a:r>
            <a:endParaRPr lang="en-US" sz="1400" dirty="0"/>
          </a:p>
        </p:txBody>
      </p:sp>
      <p:sp>
        <p:nvSpPr>
          <p:cNvPr id="93" name="Text 91"/>
          <p:cNvSpPr txBox="1"/>
          <p:nvPr/>
        </p:nvSpPr>
        <p:spPr>
          <a:xfrm>
            <a:off x="7059168" y="5104462"/>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94" name="Shape 92"/>
          <p:cNvSpPr/>
          <p:nvPr/>
        </p:nvSpPr>
        <p:spPr>
          <a:xfrm>
            <a:off x="658368" y="5397914"/>
            <a:ext cx="10872216" cy="10973"/>
          </a:xfrm>
          <a:prstGeom prst="rect">
            <a:avLst/>
          </a:prstGeom>
          <a:solidFill>
            <a:srgbClr val="9AA3AD"/>
          </a:solidFill>
          <a:ln/>
        </p:spPr>
        <p:txBody>
          <a:bodyPr/>
          <a:p/>
        </p:txBody>
      </p:sp>
      <p:sp>
        <p:nvSpPr>
          <p:cNvPr id="95" name="Text 93"/>
          <p:cNvSpPr txBox="1"/>
          <p:nvPr/>
        </p:nvSpPr>
        <p:spPr>
          <a:xfrm>
            <a:off x="658368" y="5403401"/>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6" name="Text 94"/>
          <p:cNvSpPr txBox="1"/>
          <p:nvPr/>
        </p:nvSpPr>
        <p:spPr>
          <a:xfrm>
            <a:off x="1024128" y="5403401"/>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97" name="Text 95"/>
          <p:cNvSpPr txBox="1"/>
          <p:nvPr/>
        </p:nvSpPr>
        <p:spPr>
          <a:xfrm>
            <a:off x="2990088" y="5403401"/>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40.2%</a:t>
            </a:r>
            <a:endParaRPr lang="en-US" sz="1400" dirty="0"/>
          </a:p>
        </p:txBody>
      </p:sp>
      <p:sp>
        <p:nvSpPr>
          <p:cNvPr id="98" name="Text 96"/>
          <p:cNvSpPr txBox="1"/>
          <p:nvPr/>
        </p:nvSpPr>
        <p:spPr>
          <a:xfrm>
            <a:off x="4087368" y="5403401"/>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99" name="Text 97"/>
          <p:cNvSpPr txBox="1"/>
          <p:nvPr/>
        </p:nvSpPr>
        <p:spPr>
          <a:xfrm>
            <a:off x="5989320" y="5403401"/>
            <a:ext cx="868680" cy="298938"/>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0" name="Text 98"/>
          <p:cNvSpPr txBox="1"/>
          <p:nvPr/>
        </p:nvSpPr>
        <p:spPr>
          <a:xfrm>
            <a:off x="7059168" y="5403401"/>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6,624 more a year.</a:t>
            </a:r>
            <a:endParaRPr lang="en-US" sz="1400" dirty="0"/>
          </a:p>
        </p:txBody>
      </p:sp>
      <p:sp>
        <p:nvSpPr>
          <p:cNvPr id="101" name="Shape 99"/>
          <p:cNvSpPr/>
          <p:nvPr/>
        </p:nvSpPr>
        <p:spPr>
          <a:xfrm>
            <a:off x="658368" y="5702339"/>
            <a:ext cx="10872216" cy="298938"/>
          </a:xfrm>
          <a:prstGeom prst="rect">
            <a:avLst/>
          </a:prstGeom>
          <a:solidFill>
            <a:srgbClr val="F7F7F7"/>
          </a:solidFill>
          <a:ln/>
        </p:spPr>
        <p:txBody>
          <a:bodyPr/>
          <a:p/>
        </p:txBody>
      </p:sp>
      <p:sp>
        <p:nvSpPr>
          <p:cNvPr id="102" name="Text 100"/>
          <p:cNvSpPr txBox="1"/>
          <p:nvPr/>
        </p:nvSpPr>
        <p:spPr>
          <a:xfrm>
            <a:off x="658368" y="5702339"/>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12</a:t>
            </a:r>
            <a:endParaRPr lang="en-US" sz="1400" dirty="0"/>
          </a:p>
        </p:txBody>
      </p:sp>
      <p:sp>
        <p:nvSpPr>
          <p:cNvPr id="103" name="Text 101"/>
          <p:cNvSpPr txBox="1"/>
          <p:nvPr/>
        </p:nvSpPr>
        <p:spPr>
          <a:xfrm>
            <a:off x="1024128" y="5702339"/>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104" name="Text 102"/>
          <p:cNvSpPr txBox="1"/>
          <p:nvPr/>
        </p:nvSpPr>
        <p:spPr>
          <a:xfrm>
            <a:off x="2990088" y="5702339"/>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84.5%</a:t>
            </a:r>
            <a:endParaRPr lang="en-US" sz="1400" dirty="0"/>
          </a:p>
        </p:txBody>
      </p:sp>
      <p:sp>
        <p:nvSpPr>
          <p:cNvPr id="105" name="Text 103"/>
          <p:cNvSpPr txBox="1"/>
          <p:nvPr/>
        </p:nvSpPr>
        <p:spPr>
          <a:xfrm>
            <a:off x="4087368" y="5702339"/>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106" name="Text 104"/>
          <p:cNvSpPr txBox="1"/>
          <p:nvPr/>
        </p:nvSpPr>
        <p:spPr>
          <a:xfrm>
            <a:off x="5989320" y="5702339"/>
            <a:ext cx="868680" cy="298938"/>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7" name="Text 105"/>
          <p:cNvSpPr txBox="1"/>
          <p:nvPr/>
        </p:nvSpPr>
        <p:spPr>
          <a:xfrm>
            <a:off x="7059168" y="5702339"/>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2,065 more a year.</a:t>
            </a:r>
            <a:endParaRPr lang="en-US" sz="1400" dirty="0"/>
          </a:p>
        </p:txBody>
      </p:sp>
      <p:sp>
        <p:nvSpPr>
          <p:cNvPr id="108" name="Text 106"/>
          <p:cNvSpPr txBox="1"/>
          <p:nvPr/>
        </p:nvSpPr>
        <p:spPr>
          <a:xfrm>
            <a:off x="658368" y="6001278"/>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13</a:t>
            </a:r>
            <a:endParaRPr lang="en-US" sz="1400" dirty="0"/>
          </a:p>
        </p:txBody>
      </p:sp>
      <p:sp>
        <p:nvSpPr>
          <p:cNvPr id="109" name="Text 107"/>
          <p:cNvSpPr txBox="1"/>
          <p:nvPr/>
        </p:nvSpPr>
        <p:spPr>
          <a:xfrm>
            <a:off x="1024128" y="6001278"/>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110" name="Text 108"/>
          <p:cNvSpPr txBox="1"/>
          <p:nvPr/>
        </p:nvSpPr>
        <p:spPr>
          <a:xfrm>
            <a:off x="2990088" y="6001278"/>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$12,042</a:t>
            </a:r>
            <a:endParaRPr lang="en-US" sz="1400" dirty="0"/>
          </a:p>
        </p:txBody>
      </p:sp>
      <p:sp>
        <p:nvSpPr>
          <p:cNvPr id="111" name="Text 109"/>
          <p:cNvSpPr txBox="1"/>
          <p:nvPr/>
        </p:nvSpPr>
        <p:spPr>
          <a:xfrm>
            <a:off x="4087368" y="6001278"/>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112" name="Text 110"/>
          <p:cNvSpPr txBox="1"/>
          <p:nvPr/>
        </p:nvSpPr>
        <p:spPr>
          <a:xfrm>
            <a:off x="5989320" y="6001278"/>
            <a:ext cx="868680" cy="298938"/>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13" name="Text 111"/>
          <p:cNvSpPr txBox="1"/>
          <p:nvPr/>
        </p:nvSpPr>
        <p:spPr>
          <a:xfrm>
            <a:off x="7059168" y="6001278"/>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8.1 heads over peer avg.</a:t>
            </a:r>
            <a:endParaRPr lang="en-US" sz="1400" dirty="0"/>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GMC Prescott</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$2.27M</a:t>
            </a:r>
            <a:pPr indent="0" marL="0">
              <a:buNone/>
            </a:pPr>
            <a:r>
              <a:rPr lang="en-US" sz="1400" b="1" dirty="0">
                <a:solidFill>
                  <a:srgbClr val="0B7A4A"/>
                </a:solidFill>
                <a:latin typeface="Inter" pitchFamily="34" charset="0"/>
                <a:ea typeface="Inter" pitchFamily="34" charset="-122"/>
                <a:cs typeface="Inter" pitchFamily="34" charset="-120"/>
              </a:rPr>
              <a:t>  +$178K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$19,561</a:t>
            </a:r>
            <a:pPr indent="0" marL="0">
              <a:buNone/>
            </a:pPr>
            <a:r>
              <a:rPr lang="en-US" sz="1400" b="1" dirty="0">
                <a:solidFill>
                  <a:srgbClr val="0B7A4A"/>
                </a:solidFill>
                <a:latin typeface="Inter" pitchFamily="34" charset="0"/>
                <a:ea typeface="Inter" pitchFamily="34" charset="-122"/>
                <a:cs typeface="Inter" pitchFamily="34" charset="-120"/>
              </a:rPr>
              <a:t>  +$144K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61.6%</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3,107</a:t>
            </a:r>
            <a:pPr indent="0" marL="0">
              <a:buNone/>
            </a:pPr>
            <a:r>
              <a:rPr lang="en-US" sz="1400" b="1" dirty="0">
                <a:solidFill>
                  <a:srgbClr val="0B7A4A"/>
                </a:solidFill>
                <a:latin typeface="Inter" pitchFamily="34" charset="0"/>
                <a:ea typeface="Inter" pitchFamily="34" charset="-122"/>
                <a:cs typeface="Inter" pitchFamily="34" charset="-120"/>
              </a:rPr>
              <a:t>  +297</a:t>
            </a:r>
            <a:endParaRPr lang="en-US" sz="2200" dirty="0"/>
          </a:p>
        </p:txBody>
      </p:sp>
      <p:sp>
        <p:nvSpPr>
          <p:cNvPr id="19" name="Shape 17"/>
          <p:cNvSpPr/>
          <p:nvPr/>
        </p:nvSpPr>
        <p:spPr>
          <a:xfrm>
            <a:off x="4693666" y="658368"/>
            <a:ext cx="7038086" cy="475488"/>
          </a:xfrm>
          <a:prstGeom prst="rect">
            <a:avLst/>
          </a:prstGeom>
          <a:solidFill>
            <a:srgbClr val="EDF4FA"/>
          </a:solidFill>
          <a:ln/>
        </p:spPr>
        <p:txBody>
          <a:bodyPr/>
          <a:p/>
        </p:txBody>
      </p:sp>
      <p:sp>
        <p:nvSpPr>
          <p:cNvPr id="20" name="Text 18"/>
          <p:cNvSpPr txBox="1"/>
          <p:nvPr/>
        </p:nvSpPr>
        <p:spPr>
          <a:xfrm>
            <a:off x="4821682" y="658368"/>
            <a:ext cx="678205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YOUR BEST PLACES</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6th · CP ROs +297   ·   8th · Hours per RO +0.26   ·   10th · MPI 93.2%</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 of 12</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$574K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GP %</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72.2%</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78%</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$67K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Right tech, right work; review discounts.</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ELR</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$147</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$154</a:t>
            </a:r>
            <a:pPr indent="0" marL="0">
              <a:buNone/>
            </a:pPr>
            <a:r>
              <a:rPr lang="en-US" sz="1400" dirty="0">
                <a:solidFill>
                  <a:srgbClr val="595959"/>
                </a:solidFill>
                <a:latin typeface="Inter" pitchFamily="34" charset="0"/>
                <a:ea typeface="Inter" pitchFamily="34" charset="-122"/>
                <a:cs typeface="Inter" pitchFamily="34" charset="-120"/>
              </a:rPr>
              <a:t> 70% of door</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$63K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Charge the posted rate; control discounts.</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37.0%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$42K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7.7%</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$27K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300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3.6%</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$21K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160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6.0%</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$21K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162 more a year.</a:t>
            </a:r>
            <a:endParaRPr lang="en-US" sz="1400" dirty="0"/>
          </a:p>
        </p:txBody>
      </p:sp>
      <p:sp>
        <p:nvSpPr>
          <p:cNvPr id="74" name="Shape 72"/>
          <p:cNvSpPr/>
          <p:nvPr/>
        </p:nvSpPr>
        <p:spPr>
          <a:xfrm>
            <a:off x="658368" y="4718304"/>
            <a:ext cx="10872216" cy="329184"/>
          </a:xfrm>
          <a:prstGeom prst="rect">
            <a:avLst/>
          </a:prstGeom>
          <a:solidFill>
            <a:srgbClr val="F7F7F7"/>
          </a:solidFill>
          <a:ln/>
        </p:spPr>
        <p:txBody>
          <a:bodyPr/>
          <a:p/>
        </p:txBody>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11.7%</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$11K</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135 more a year.</a:t>
            </a:r>
            <a:endParaRPr lang="en-US" sz="1400" dirty="0"/>
          </a:p>
        </p:txBody>
      </p:sp>
      <p:sp>
        <p:nvSpPr>
          <p:cNvPr id="81" name="Shape 79"/>
          <p:cNvSpPr/>
          <p:nvPr/>
        </p:nvSpPr>
        <p:spPr>
          <a:xfrm>
            <a:off x="658368" y="5042002"/>
            <a:ext cx="10872216" cy="10973"/>
          </a:xfrm>
          <a:prstGeom prst="rect">
            <a:avLst/>
          </a:prstGeom>
          <a:solidFill>
            <a:srgbClr val="9AA3AD"/>
          </a:solidFill>
          <a:ln/>
        </p:spPr>
        <p:txBody>
          <a:bodyPr/>
          <a:p/>
        </p:txBody>
      </p:sp>
      <p:sp>
        <p:nvSpPr>
          <p:cNvPr id="82" name="Text 80"/>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3" name="Text 81"/>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84" name="Text 82"/>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35.1%</a:t>
            </a:r>
            <a:endParaRPr lang="en-US" sz="1400" dirty="0"/>
          </a:p>
        </p:txBody>
      </p:sp>
      <p:sp>
        <p:nvSpPr>
          <p:cNvPr id="85" name="Text 83"/>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86" name="Text 84"/>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7" name="Text 85"/>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1,506 more a year.</a:t>
            </a:r>
            <a:endParaRPr lang="en-US" sz="1400" dirty="0"/>
          </a:p>
        </p:txBody>
      </p:sp>
      <p:sp>
        <p:nvSpPr>
          <p:cNvPr id="88" name="Shape 86"/>
          <p:cNvSpPr/>
          <p:nvPr/>
        </p:nvSpPr>
        <p:spPr>
          <a:xfrm>
            <a:off x="658368" y="5376672"/>
            <a:ext cx="10872216" cy="329184"/>
          </a:xfrm>
          <a:prstGeom prst="rect">
            <a:avLst/>
          </a:prstGeom>
          <a:solidFill>
            <a:srgbClr val="F7F7F7"/>
          </a:solidFill>
          <a:ln/>
        </p:spPr>
        <p:txBody>
          <a:bodyPr/>
          <a:p/>
        </p:txBody>
      </p:sp>
      <p:sp>
        <p:nvSpPr>
          <p:cNvPr id="89" name="Text 87"/>
          <p:cNvSpPr txBox="1"/>
          <p:nvPr/>
        </p:nvSpPr>
        <p:spPr>
          <a:xfrm>
            <a:off x="658368" y="537667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90" name="Text 88"/>
          <p:cNvSpPr txBox="1"/>
          <p:nvPr/>
        </p:nvSpPr>
        <p:spPr>
          <a:xfrm>
            <a:off x="1024128" y="537667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91" name="Text 89"/>
          <p:cNvSpPr txBox="1"/>
          <p:nvPr/>
        </p:nvSpPr>
        <p:spPr>
          <a:xfrm>
            <a:off x="2990088" y="537667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$9,498</a:t>
            </a:r>
            <a:endParaRPr lang="en-US" sz="1400" dirty="0"/>
          </a:p>
        </p:txBody>
      </p:sp>
      <p:sp>
        <p:nvSpPr>
          <p:cNvPr id="92" name="Text 90"/>
          <p:cNvSpPr txBox="1"/>
          <p:nvPr/>
        </p:nvSpPr>
        <p:spPr>
          <a:xfrm>
            <a:off x="4087368" y="537667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93" name="Text 91"/>
          <p:cNvSpPr txBox="1"/>
          <p:nvPr/>
        </p:nvSpPr>
        <p:spPr>
          <a:xfrm>
            <a:off x="5989320" y="537667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4" name="Text 92"/>
          <p:cNvSpPr txBox="1"/>
          <p:nvPr/>
        </p:nvSpPr>
        <p:spPr>
          <a:xfrm>
            <a:off x="7059168" y="537667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6.7 heads over peer avg.</a:t>
            </a:r>
            <a:endParaRPr lang="en-US" sz="1400" dirty="0"/>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Honda Flagstaff</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$1.59M</a:t>
            </a:r>
            <a:pPr indent="0" marL="0">
              <a:buNone/>
            </a:pPr>
            <a:r>
              <a:rPr lang="en-US" sz="1400" b="1" dirty="0">
                <a:solidFill>
                  <a:srgbClr val="0B7A4A"/>
                </a:solidFill>
                <a:latin typeface="Inter" pitchFamily="34" charset="0"/>
                <a:ea typeface="Inter" pitchFamily="34" charset="-122"/>
                <a:cs typeface="Inter" pitchFamily="34" charset="-120"/>
              </a:rPr>
              <a:t>  +$23K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$79,496</a:t>
            </a:r>
            <a:pPr indent="0" marL="0">
              <a:buNone/>
            </a:pPr>
            <a:r>
              <a:rPr lang="en-US" sz="1400" b="1" dirty="0">
                <a:solidFill>
                  <a:srgbClr val="0B7A4A"/>
                </a:solidFill>
                <a:latin typeface="Inter" pitchFamily="34" charset="0"/>
                <a:ea typeface="Inter" pitchFamily="34" charset="-122"/>
                <a:cs typeface="Inter" pitchFamily="34" charset="-120"/>
              </a:rPr>
              <a:t>  +$53K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63.7%</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4,030</a:t>
            </a:r>
            <a:pPr indent="0" marL="0">
              <a:buNone/>
            </a:pPr>
            <a:r>
              <a:rPr lang="en-US" sz="1400" b="1" dirty="0">
                <a:solidFill>
                  <a:srgbClr val="A82B26"/>
                </a:solidFill>
                <a:latin typeface="Inter" pitchFamily="34" charset="0"/>
                <a:ea typeface="Inter" pitchFamily="34" charset="-122"/>
                <a:cs typeface="Inter" pitchFamily="34" charset="-120"/>
              </a:rPr>
              <a:t>  −30</a:t>
            </a:r>
            <a:endParaRPr lang="en-US" sz="2200" dirty="0"/>
          </a:p>
        </p:txBody>
      </p:sp>
      <p:sp>
        <p:nvSpPr>
          <p:cNvPr id="19" name="Shape 17"/>
          <p:cNvSpPr/>
          <p:nvPr/>
        </p:nvSpPr>
        <p:spPr>
          <a:xfrm>
            <a:off x="9404096" y="658368"/>
            <a:ext cx="2327656" cy="475488"/>
          </a:xfrm>
          <a:prstGeom prst="rect">
            <a:avLst/>
          </a:prstGeom>
          <a:solidFill>
            <a:srgbClr val="EDF4FA"/>
          </a:solidFill>
          <a:ln/>
        </p:spPr>
        <p:txBody>
          <a:bodyPr/>
          <a:p/>
        </p:txBody>
      </p:sp>
      <p:sp>
        <p:nvSpPr>
          <p:cNvPr id="20" name="Text 18"/>
          <p:cNvSpPr txBox="1"/>
          <p:nvPr/>
        </p:nvSpPr>
        <p:spPr>
          <a:xfrm>
            <a:off x="9532112" y="658368"/>
            <a:ext cx="207162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3rd · Parts GP 45.1%</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 of 6</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$473K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1.67</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$79K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+0.08 hr per RO.</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3.1%</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$67K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367 more a year.</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0.7%</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$60K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364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1.3%</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$52K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735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$1.04M</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$1.07M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$37K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11.0%</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$21K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210 more a year.</a:t>
            </a:r>
            <a:endParaRPr lang="en-US" sz="1400" dirty="0"/>
          </a:p>
        </p:txBody>
      </p:sp>
      <p:sp>
        <p:nvSpPr>
          <p:cNvPr id="74" name="Shape 72"/>
          <p:cNvSpPr/>
          <p:nvPr/>
        </p:nvSpPr>
        <p:spPr>
          <a:xfrm>
            <a:off x="658368" y="4718304"/>
            <a:ext cx="10872216" cy="329184"/>
          </a:xfrm>
          <a:prstGeom prst="rect">
            <a:avLst/>
          </a:prstGeom>
          <a:solidFill>
            <a:srgbClr val="F7F7F7"/>
          </a:solidFill>
          <a:ln/>
        </p:spPr>
        <p:txBody>
          <a:bodyPr/>
          <a:p/>
        </p:txBody>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4,030</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4,060</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$14K</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40 more ROs.</a:t>
            </a:r>
            <a:endParaRPr lang="en-US" sz="1400" dirty="0"/>
          </a:p>
        </p:txBody>
      </p:sp>
      <p:sp>
        <p:nvSpPr>
          <p:cNvPr id="81" name="Shape 79"/>
          <p:cNvSpPr/>
          <p:nvPr/>
        </p:nvSpPr>
        <p:spPr>
          <a:xfrm>
            <a:off x="658368" y="5042002"/>
            <a:ext cx="10872216" cy="10973"/>
          </a:xfrm>
          <a:prstGeom prst="rect">
            <a:avLst/>
          </a:prstGeom>
          <a:solidFill>
            <a:srgbClr val="9AA3AD"/>
          </a:solidFill>
          <a:ln/>
        </p:spPr>
        <p:txBody>
          <a:bodyPr/>
          <a:p/>
        </p:txBody>
      </p:sp>
      <p:sp>
        <p:nvSpPr>
          <p:cNvPr id="82" name="Text 80"/>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3" name="Text 81"/>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84" name="Text 82"/>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$9,149</a:t>
            </a:r>
            <a:endParaRPr lang="en-US" sz="1400" dirty="0"/>
          </a:p>
        </p:txBody>
      </p:sp>
      <p:sp>
        <p:nvSpPr>
          <p:cNvPr id="85" name="Text 83"/>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86" name="Text 84"/>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7" name="Text 85"/>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5.4 heads over peer avg.</a:t>
            </a:r>
            <a:endParaRPr lang="en-US" sz="1400" dirty="0"/>
          </a:p>
        </p:txBody>
      </p:sp>
      <p:sp>
        <p:nvSpPr>
          <p:cNvPr id="88" name="Shape 86"/>
          <p:cNvSpPr/>
          <p:nvPr/>
        </p:nvSpPr>
        <p:spPr>
          <a:xfrm>
            <a:off x="658368" y="5376672"/>
            <a:ext cx="10872216" cy="329184"/>
          </a:xfrm>
          <a:prstGeom prst="rect">
            <a:avLst/>
          </a:prstGeom>
          <a:solidFill>
            <a:srgbClr val="F7F7F7"/>
          </a:solidFill>
          <a:ln/>
        </p:spPr>
        <p:txBody>
          <a:bodyPr/>
          <a:p/>
        </p:txBody>
      </p:sp>
      <p:sp>
        <p:nvSpPr>
          <p:cNvPr id="89" name="Text 87"/>
          <p:cNvSpPr txBox="1"/>
          <p:nvPr/>
        </p:nvSpPr>
        <p:spPr>
          <a:xfrm>
            <a:off x="658368" y="537667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90" name="Text 88"/>
          <p:cNvSpPr txBox="1"/>
          <p:nvPr/>
        </p:nvSpPr>
        <p:spPr>
          <a:xfrm>
            <a:off x="1024128" y="537667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91" name="Text 89"/>
          <p:cNvSpPr txBox="1"/>
          <p:nvPr/>
        </p:nvSpPr>
        <p:spPr>
          <a:xfrm>
            <a:off x="2990088" y="537667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86.3%</a:t>
            </a:r>
            <a:endParaRPr lang="en-US" sz="1400" dirty="0"/>
          </a:p>
        </p:txBody>
      </p:sp>
      <p:sp>
        <p:nvSpPr>
          <p:cNvPr id="92" name="Text 90"/>
          <p:cNvSpPr txBox="1"/>
          <p:nvPr/>
        </p:nvSpPr>
        <p:spPr>
          <a:xfrm>
            <a:off x="4087368" y="537667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3" name="Text 91"/>
          <p:cNvSpPr txBox="1"/>
          <p:nvPr/>
        </p:nvSpPr>
        <p:spPr>
          <a:xfrm>
            <a:off x="5989320" y="537667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4" name="Text 92"/>
          <p:cNvSpPr txBox="1"/>
          <p:nvPr/>
        </p:nvSpPr>
        <p:spPr>
          <a:xfrm>
            <a:off x="7059168" y="537667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245 more a year.</a:t>
            </a:r>
            <a:endParaRPr lang="en-US" sz="1400" dirty="0"/>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Honda Henderson</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$14.42M</a:t>
            </a:r>
            <a:pPr indent="0" marL="0">
              <a:buNone/>
            </a:pPr>
            <a:r>
              <a:rPr lang="en-US" sz="1400" b="1" dirty="0">
                <a:solidFill>
                  <a:srgbClr val="0B7A4A"/>
                </a:solidFill>
                <a:latin typeface="Inter" pitchFamily="34" charset="0"/>
                <a:ea typeface="Inter" pitchFamily="34" charset="-122"/>
                <a:cs typeface="Inter" pitchFamily="34" charset="-120"/>
              </a:rPr>
              <a:t>  +$932K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$6.08M</a:t>
            </a:r>
            <a:pPr indent="0" marL="0">
              <a:buNone/>
            </a:pPr>
            <a:r>
              <a:rPr lang="en-US" sz="1400" b="1" dirty="0">
                <a:solidFill>
                  <a:srgbClr val="0B7A4A"/>
                </a:solidFill>
                <a:latin typeface="Inter" pitchFamily="34" charset="0"/>
                <a:ea typeface="Inter" pitchFamily="34" charset="-122"/>
                <a:cs typeface="Inter" pitchFamily="34" charset="-120"/>
              </a:rPr>
              <a:t>  +$692K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86.3%</a:t>
            </a:r>
            <a:endParaRPr lang="en-US" sz="2200" dirty="0"/>
          </a:p>
        </p:txBody>
      </p:sp>
      <p:sp>
        <p:nvSpPr>
          <p:cNvPr id="14" name="Shape 12"/>
          <p:cNvSpPr/>
          <p:nvPr/>
        </p:nvSpPr>
        <p:spPr>
          <a:xfrm>
            <a:off x="7185660" y="1563624"/>
            <a:ext cx="64008" cy="256032"/>
          </a:xfrm>
          <a:prstGeom prst="rect">
            <a:avLst/>
          </a:prstGeom>
          <a:solidFill>
            <a:srgbClr val="12A566"/>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22,527</a:t>
            </a:r>
            <a:pPr indent="0" marL="0">
              <a:buNone/>
            </a:pPr>
            <a:r>
              <a:rPr lang="en-US" sz="1400" b="1" dirty="0">
                <a:solidFill>
                  <a:srgbClr val="A82B26"/>
                </a:solidFill>
                <a:latin typeface="Inter" pitchFamily="34" charset="0"/>
                <a:ea typeface="Inter" pitchFamily="34" charset="-122"/>
                <a:cs typeface="Inter" pitchFamily="34" charset="-120"/>
              </a:rPr>
              <a:t>  −190</a:t>
            </a:r>
            <a:endParaRPr lang="en-US" sz="2200" dirty="0"/>
          </a:p>
        </p:txBody>
      </p:sp>
      <p:sp>
        <p:nvSpPr>
          <p:cNvPr id="19" name="Shape 17"/>
          <p:cNvSpPr/>
          <p:nvPr/>
        </p:nvSpPr>
        <p:spPr>
          <a:xfrm>
            <a:off x="6389878" y="658368"/>
            <a:ext cx="5341874" cy="475488"/>
          </a:xfrm>
          <a:prstGeom prst="rect">
            <a:avLst/>
          </a:prstGeom>
          <a:solidFill>
            <a:srgbClr val="EDF4FA"/>
          </a:solidFill>
          <a:ln/>
        </p:spPr>
        <p:txBody>
          <a:bodyPr/>
          <a:p/>
        </p:txBody>
      </p:sp>
      <p:sp>
        <p:nvSpPr>
          <p:cNvPr id="20" name="Text 18"/>
          <p:cNvSpPr txBox="1"/>
          <p:nvPr/>
        </p:nvSpPr>
        <p:spPr>
          <a:xfrm>
            <a:off x="6517894" y="658368"/>
            <a:ext cx="5085842"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Proficiency 118%   ·   2nd · Tire balance 18.4%</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600" b="1" dirty="0">
                <a:solidFill>
                  <a:srgbClr val="5B9BD5"/>
                </a:solidFill>
                <a:latin typeface="Inter" pitchFamily="34" charset="0"/>
                <a:ea typeface="Inter" pitchFamily="34" charset="-122"/>
                <a:cs typeface="Inter" pitchFamily="34" charset="-120"/>
              </a:rPr>
              <a:t>1</a:t>
            </a:r>
            <a:endParaRPr lang="en-US" sz="16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600" b="1" dirty="0">
                <a:solidFill>
                  <a:srgbClr val="1A1A1A"/>
                </a:solidFill>
                <a:latin typeface="Inter" pitchFamily="34" charset="0"/>
                <a:ea typeface="Inter" pitchFamily="34" charset="-122"/>
                <a:cs typeface="Inter" pitchFamily="34" charset="-120"/>
              </a:rPr>
              <a:t>Techs under 85%</a:t>
            </a:r>
            <a:endParaRPr lang="en-US" sz="16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600" b="1" dirty="0">
                <a:solidFill>
                  <a:srgbClr val="1A1A1A"/>
                </a:solidFill>
                <a:latin typeface="Inter" pitchFamily="34" charset="0"/>
                <a:ea typeface="Inter" pitchFamily="34" charset="-122"/>
                <a:cs typeface="Inter" pitchFamily="34" charset="-120"/>
              </a:rPr>
              <a:t>5 of 28</a:t>
            </a:r>
            <a:endParaRPr lang="en-US" sz="16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600" b="1" dirty="0">
                <a:solidFill>
                  <a:srgbClr val="595959"/>
                </a:solidFill>
                <a:latin typeface="Inter" pitchFamily="34" charset="0"/>
                <a:ea typeface="Inter" pitchFamily="34" charset="-122"/>
                <a:cs typeface="Inter" pitchFamily="34" charset="-120"/>
              </a:rPr>
              <a:t>85%</a:t>
            </a:r>
            <a:pPr indent="0" marL="0">
              <a:buNone/>
            </a:pPr>
            <a:r>
              <a:rPr lang="en-US" sz="1600" dirty="0">
                <a:solidFill>
                  <a:srgbClr val="595959"/>
                </a:solidFill>
                <a:latin typeface="Inter" pitchFamily="34" charset="0"/>
                <a:ea typeface="Inter" pitchFamily="34" charset="-122"/>
                <a:cs typeface="Inter" pitchFamily="34" charset="-120"/>
              </a:rPr>
              <a:t> benchmark</a:t>
            </a:r>
            <a:endParaRPr lang="en-US" sz="16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600" b="1" dirty="0">
                <a:solidFill>
                  <a:srgbClr val="0B2C4A"/>
                </a:solidFill>
                <a:latin typeface="Inter" pitchFamily="34" charset="0"/>
                <a:ea typeface="Inter" pitchFamily="34" charset="-122"/>
                <a:cs typeface="Inter" pitchFamily="34" charset="-120"/>
              </a:rPr>
              <a:t>$155K</a:t>
            </a:r>
            <a:endParaRPr lang="en-US" sz="16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600" dirty="0">
                <a:solidFill>
                  <a:srgbClr val="1A1A1A"/>
                </a:solidFill>
                <a:latin typeface="Inter" pitchFamily="34" charset="0"/>
                <a:ea typeface="Inter" pitchFamily="34" charset="-122"/>
                <a:cs typeface="Inter" pitchFamily="34" charset="-120"/>
              </a:rPr>
              <a:t>Lift the 5 under 85%: dispatch, parts.</a:t>
            </a:r>
            <a:endParaRPr lang="en-US" sz="16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600" b="1" dirty="0">
                <a:solidFill>
                  <a:srgbClr val="5B9BD5"/>
                </a:solidFill>
                <a:latin typeface="Inter" pitchFamily="34" charset="0"/>
                <a:ea typeface="Inter" pitchFamily="34" charset="-122"/>
                <a:cs typeface="Inter" pitchFamily="34" charset="-120"/>
              </a:rPr>
              <a:t>2</a:t>
            </a:r>
            <a:endParaRPr lang="en-US" sz="16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600" b="1" dirty="0">
                <a:solidFill>
                  <a:srgbClr val="1A1A1A"/>
                </a:solidFill>
                <a:latin typeface="Inter" pitchFamily="34" charset="0"/>
                <a:ea typeface="Inter" pitchFamily="34" charset="-122"/>
                <a:cs typeface="Inter" pitchFamily="34" charset="-120"/>
              </a:rPr>
              <a:t>CP RO count</a:t>
            </a:r>
            <a:endParaRPr lang="en-US" sz="16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600" b="1" dirty="0">
                <a:solidFill>
                  <a:srgbClr val="1A1A1A"/>
                </a:solidFill>
                <a:latin typeface="Inter" pitchFamily="34" charset="0"/>
                <a:ea typeface="Inter" pitchFamily="34" charset="-122"/>
                <a:cs typeface="Inter" pitchFamily="34" charset="-120"/>
              </a:rPr>
              <a:t>22,527</a:t>
            </a:r>
            <a:endParaRPr lang="en-US" sz="16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600" b="1" dirty="0">
                <a:solidFill>
                  <a:srgbClr val="595959"/>
                </a:solidFill>
                <a:latin typeface="Inter" pitchFamily="34" charset="0"/>
                <a:ea typeface="Inter" pitchFamily="34" charset="-122"/>
                <a:cs typeface="Inter" pitchFamily="34" charset="-120"/>
              </a:rPr>
              <a:t>22,717</a:t>
            </a:r>
            <a:pPr indent="0" marL="0">
              <a:buNone/>
            </a:pPr>
            <a:r>
              <a:rPr lang="en-US" sz="1600" dirty="0">
                <a:solidFill>
                  <a:srgbClr val="595959"/>
                </a:solidFill>
                <a:latin typeface="Inter" pitchFamily="34" charset="0"/>
                <a:ea typeface="Inter" pitchFamily="34" charset="-122"/>
                <a:cs typeface="Inter" pitchFamily="34" charset="-120"/>
              </a:rPr>
              <a:t> in 2025</a:t>
            </a:r>
            <a:endParaRPr lang="en-US" sz="16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600" b="1" dirty="0">
                <a:solidFill>
                  <a:srgbClr val="0B2C4A"/>
                </a:solidFill>
                <a:latin typeface="Inter" pitchFamily="34" charset="0"/>
                <a:ea typeface="Inter" pitchFamily="34" charset="-122"/>
                <a:cs typeface="Inter" pitchFamily="34" charset="-120"/>
              </a:rPr>
              <a:t>$87K</a:t>
            </a:r>
            <a:endParaRPr lang="en-US" sz="16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600" dirty="0">
                <a:solidFill>
                  <a:srgbClr val="1A1A1A"/>
                </a:solidFill>
                <a:latin typeface="Inter" pitchFamily="34" charset="0"/>
                <a:ea typeface="Inter" pitchFamily="34" charset="-122"/>
                <a:cs typeface="Inter" pitchFamily="34" charset="-120"/>
              </a:rPr>
              <a:t>Win back lapsed customers: 253 more ROs.</a:t>
            </a:r>
            <a:endParaRPr lang="en-US" sz="1600" dirty="0"/>
          </a:p>
        </p:txBody>
      </p:sp>
      <p:sp>
        <p:nvSpPr>
          <p:cNvPr id="42" name="Shape 40"/>
          <p:cNvSpPr/>
          <p:nvPr/>
        </p:nvSpPr>
        <p:spPr>
          <a:xfrm>
            <a:off x="658368" y="3066898"/>
            <a:ext cx="10872216" cy="10973"/>
          </a:xfrm>
          <a:prstGeom prst="rect">
            <a:avLst/>
          </a:prstGeom>
          <a:solidFill>
            <a:srgbClr val="9AA3AD"/>
          </a:solidFill>
          <a:ln/>
        </p:spPr>
        <p:txBody>
          <a:bodyPr/>
          <a:p/>
        </p:txBody>
      </p:sp>
      <p:sp>
        <p:nvSpPr>
          <p:cNvPr id="43" name="Text 41"/>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600" b="1" dirty="0">
                <a:solidFill>
                  <a:srgbClr val="5B9BD5"/>
                </a:solidFill>
                <a:latin typeface="Inter" pitchFamily="34" charset="0"/>
                <a:ea typeface="Inter" pitchFamily="34" charset="-122"/>
                <a:cs typeface="Inter" pitchFamily="34" charset="-120"/>
              </a:rPr>
              <a:t>3</a:t>
            </a:r>
            <a:endParaRPr lang="en-US" sz="1600" dirty="0"/>
          </a:p>
        </p:txBody>
      </p:sp>
      <p:sp>
        <p:nvSpPr>
          <p:cNvPr id="44" name="Text 42"/>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600" b="1" dirty="0">
                <a:solidFill>
                  <a:srgbClr val="1A1A1A"/>
                </a:solidFill>
                <a:latin typeface="Inter" pitchFamily="34" charset="0"/>
                <a:ea typeface="Inter" pitchFamily="34" charset="-122"/>
                <a:cs typeface="Inter" pitchFamily="34" charset="-120"/>
              </a:rPr>
              <a:t>MPI completion</a:t>
            </a:r>
            <a:endParaRPr lang="en-US" sz="1600" dirty="0"/>
          </a:p>
        </p:txBody>
      </p:sp>
      <p:sp>
        <p:nvSpPr>
          <p:cNvPr id="45" name="Text 43"/>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600" b="1" dirty="0">
                <a:solidFill>
                  <a:srgbClr val="1A1A1A"/>
                </a:solidFill>
                <a:latin typeface="Inter" pitchFamily="34" charset="0"/>
                <a:ea typeface="Inter" pitchFamily="34" charset="-122"/>
                <a:cs typeface="Inter" pitchFamily="34" charset="-120"/>
              </a:rPr>
              <a:t>82.5%</a:t>
            </a:r>
            <a:endParaRPr lang="en-US" sz="1600" dirty="0"/>
          </a:p>
        </p:txBody>
      </p:sp>
      <p:sp>
        <p:nvSpPr>
          <p:cNvPr id="46" name="Text 44"/>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600" b="1" dirty="0">
                <a:solidFill>
                  <a:srgbClr val="595959"/>
                </a:solidFill>
                <a:latin typeface="Inter" pitchFamily="34" charset="0"/>
                <a:ea typeface="Inter" pitchFamily="34" charset="-122"/>
                <a:cs typeface="Inter" pitchFamily="34" charset="-120"/>
              </a:rPr>
              <a:t>90%</a:t>
            </a:r>
            <a:pPr indent="0" marL="0">
              <a:buNone/>
            </a:pPr>
            <a:r>
              <a:rPr lang="en-US" sz="1600" dirty="0">
                <a:solidFill>
                  <a:srgbClr val="595959"/>
                </a:solidFill>
                <a:latin typeface="Inter" pitchFamily="34" charset="0"/>
                <a:ea typeface="Inter" pitchFamily="34" charset="-122"/>
                <a:cs typeface="Inter" pitchFamily="34" charset="-120"/>
              </a:rPr>
              <a:t> benchmark</a:t>
            </a:r>
            <a:endParaRPr lang="en-US" sz="1600" dirty="0"/>
          </a:p>
        </p:txBody>
      </p:sp>
      <p:sp>
        <p:nvSpPr>
          <p:cNvPr id="47" name="Text 45"/>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600" dirty="0">
                <a:solidFill>
                  <a:srgbClr val="9AA3AD"/>
                </a:solidFill>
                <a:latin typeface="Inter" pitchFamily="34" charset="0"/>
                <a:ea typeface="Inter" pitchFamily="34" charset="-122"/>
                <a:cs typeface="Inter" pitchFamily="34" charset="-120"/>
              </a:rPr>
              <a:t>—</a:t>
            </a:r>
            <a:endParaRPr lang="en-US" sz="1600" dirty="0"/>
          </a:p>
        </p:txBody>
      </p:sp>
      <p:sp>
        <p:nvSpPr>
          <p:cNvPr id="48" name="Text 46"/>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600" dirty="0">
                <a:solidFill>
                  <a:srgbClr val="1A1A1A"/>
                </a:solidFill>
                <a:latin typeface="Inter" pitchFamily="34" charset="0"/>
                <a:ea typeface="Inter" pitchFamily="34" charset="-122"/>
                <a:cs typeface="Inter" pitchFamily="34" charset="-120"/>
              </a:rPr>
              <a:t>MPI every car: 2,945 more a year.</a:t>
            </a:r>
            <a:endParaRPr lang="en-US" sz="1600" dirty="0"/>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Honda North</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$8.62M</a:t>
            </a:r>
            <a:pPr indent="0" marL="0">
              <a:buNone/>
            </a:pPr>
            <a:r>
              <a:rPr lang="en-US" sz="1400" b="1" dirty="0">
                <a:solidFill>
                  <a:srgbClr val="A82B26"/>
                </a:solidFill>
                <a:latin typeface="Inter" pitchFamily="34" charset="0"/>
                <a:ea typeface="Inter" pitchFamily="34" charset="-122"/>
                <a:cs typeface="Inter" pitchFamily="34" charset="-120"/>
              </a:rPr>
              <a:t>  −$840K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$3.32M</a:t>
            </a:r>
            <a:pPr indent="0" marL="0">
              <a:buNone/>
            </a:pPr>
            <a:r>
              <a:rPr lang="en-US" sz="1400" b="1" dirty="0">
                <a:solidFill>
                  <a:srgbClr val="A82B26"/>
                </a:solidFill>
                <a:latin typeface="Inter" pitchFamily="34" charset="0"/>
                <a:ea typeface="Inter" pitchFamily="34" charset="-122"/>
                <a:cs typeface="Inter" pitchFamily="34" charset="-120"/>
              </a:rPr>
              <a:t>  −$76K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89.9%</a:t>
            </a:r>
            <a:endParaRPr lang="en-US" sz="2200" dirty="0"/>
          </a:p>
        </p:txBody>
      </p:sp>
      <p:sp>
        <p:nvSpPr>
          <p:cNvPr id="14" name="Shape 12"/>
          <p:cNvSpPr/>
          <p:nvPr/>
        </p:nvSpPr>
        <p:spPr>
          <a:xfrm>
            <a:off x="7185660" y="1563624"/>
            <a:ext cx="64008" cy="256032"/>
          </a:xfrm>
          <a:prstGeom prst="rect">
            <a:avLst/>
          </a:prstGeom>
          <a:solidFill>
            <a:srgbClr val="12A566"/>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15,048</a:t>
            </a:r>
            <a:pPr indent="0" marL="0">
              <a:buNone/>
            </a:pPr>
            <a:r>
              <a:rPr lang="en-US" sz="1400" b="1" dirty="0">
                <a:solidFill>
                  <a:srgbClr val="0B7A4A"/>
                </a:solidFill>
                <a:latin typeface="Inter" pitchFamily="34" charset="0"/>
                <a:ea typeface="Inter" pitchFamily="34" charset="-122"/>
                <a:cs typeface="Inter" pitchFamily="34" charset="-120"/>
              </a:rPr>
              <a:t>  +28</a:t>
            </a:r>
            <a:endParaRPr lang="en-US" sz="2200" dirty="0"/>
          </a:p>
        </p:txBody>
      </p:sp>
      <p:sp>
        <p:nvSpPr>
          <p:cNvPr id="19" name="Shape 17"/>
          <p:cNvSpPr/>
          <p:nvPr/>
        </p:nvSpPr>
        <p:spPr>
          <a:xfrm>
            <a:off x="3751326" y="658368"/>
            <a:ext cx="7980426" cy="475488"/>
          </a:xfrm>
          <a:prstGeom prst="rect">
            <a:avLst/>
          </a:prstGeom>
          <a:solidFill>
            <a:srgbClr val="EDF4FA"/>
          </a:solidFill>
          <a:ln/>
        </p:spPr>
        <p:txBody>
          <a:bodyPr/>
          <a:p/>
        </p:txBody>
      </p:sp>
      <p:sp>
        <p:nvSpPr>
          <p:cNvPr id="20" name="Text 18"/>
          <p:cNvSpPr txBox="1"/>
          <p:nvPr/>
        </p:nvSpPr>
        <p:spPr>
          <a:xfrm>
            <a:off x="3879342" y="658368"/>
            <a:ext cx="772439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YOUR BEST PLACES</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4th · Absorption 89.9%   ·   4th · Proficiency 109%   ·   5th · Brake fluid 12.1%</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$5.92M</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$6.61M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$926K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$2.70M</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$2.84M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$194K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 of 22</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$155K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4 under 85%: dispatch, parts.</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$38K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600 more a year.</a:t>
            </a:r>
            <a:endParaRPr lang="en-US" sz="1400" dirty="0"/>
          </a:p>
        </p:txBody>
      </p:sp>
      <p:sp>
        <p:nvSpPr>
          <p:cNvPr id="55" name="Shape 53"/>
          <p:cNvSpPr/>
          <p:nvPr/>
        </p:nvSpPr>
        <p:spPr>
          <a:xfrm>
            <a:off x="658368" y="3725266"/>
            <a:ext cx="10872216" cy="10973"/>
          </a:xfrm>
          <a:prstGeom prst="rect">
            <a:avLst/>
          </a:prstGeom>
          <a:solidFill>
            <a:srgbClr val="9AA3AD"/>
          </a:solidFill>
          <a:ln/>
        </p:spPr>
        <p:txBody>
          <a:bodyPr/>
          <a:p/>
        </p:txBody>
      </p:sp>
      <p:sp>
        <p:nvSpPr>
          <p:cNvPr id="56" name="Text 54"/>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7" name="Text 55"/>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58" name="Text 56"/>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81.4%</a:t>
            </a:r>
            <a:endParaRPr lang="en-US" sz="1400" dirty="0"/>
          </a:p>
        </p:txBody>
      </p:sp>
      <p:sp>
        <p:nvSpPr>
          <p:cNvPr id="59" name="Text 57"/>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0" name="Text 58"/>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61" name="Text 59"/>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2,520 more a year.</a:t>
            </a:r>
            <a:endParaRPr lang="en-US" sz="1400" dirty="0"/>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Honda Spokane</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$4.18M</a:t>
            </a:r>
            <a:pPr indent="0" marL="0">
              <a:buNone/>
            </a:pPr>
            <a:r>
              <a:rPr lang="en-US" sz="1400" b="1" dirty="0">
                <a:solidFill>
                  <a:srgbClr val="0B7A4A"/>
                </a:solidFill>
                <a:latin typeface="Inter" pitchFamily="34" charset="0"/>
                <a:ea typeface="Inter" pitchFamily="34" charset="-122"/>
                <a:cs typeface="Inter" pitchFamily="34" charset="-120"/>
              </a:rPr>
              <a:t>  +$373K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$1.32M</a:t>
            </a:r>
            <a:pPr indent="0" marL="0">
              <a:buNone/>
            </a:pPr>
            <a:r>
              <a:rPr lang="en-US" sz="1400" b="1" dirty="0">
                <a:solidFill>
                  <a:srgbClr val="0B7A4A"/>
                </a:solidFill>
                <a:latin typeface="Inter" pitchFamily="34" charset="0"/>
                <a:ea typeface="Inter" pitchFamily="34" charset="-122"/>
                <a:cs typeface="Inter" pitchFamily="34" charset="-120"/>
              </a:rPr>
              <a:t>  +$3K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87.6%</a:t>
            </a:r>
            <a:endParaRPr lang="en-US" sz="2200" dirty="0"/>
          </a:p>
        </p:txBody>
      </p:sp>
      <p:sp>
        <p:nvSpPr>
          <p:cNvPr id="14" name="Shape 12"/>
          <p:cNvSpPr/>
          <p:nvPr/>
        </p:nvSpPr>
        <p:spPr>
          <a:xfrm>
            <a:off x="7185660" y="1563624"/>
            <a:ext cx="64008" cy="256032"/>
          </a:xfrm>
          <a:prstGeom prst="rect">
            <a:avLst/>
          </a:prstGeom>
          <a:solidFill>
            <a:srgbClr val="12A566"/>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8,930</a:t>
            </a:r>
            <a:pPr indent="0" marL="0">
              <a:buNone/>
            </a:pPr>
            <a:r>
              <a:rPr lang="en-US" sz="1400" b="1" dirty="0">
                <a:solidFill>
                  <a:srgbClr val="A82B26"/>
                </a:solidFill>
                <a:latin typeface="Inter" pitchFamily="34" charset="0"/>
                <a:ea typeface="Inter" pitchFamily="34" charset="-122"/>
                <a:cs typeface="Inter" pitchFamily="34" charset="-120"/>
              </a:rPr>
              <a:t>  −999</a:t>
            </a:r>
            <a:endParaRPr lang="en-US" sz="2200" dirty="0"/>
          </a:p>
        </p:txBody>
      </p:sp>
      <p:sp>
        <p:nvSpPr>
          <p:cNvPr id="19" name="Shape 17"/>
          <p:cNvSpPr/>
          <p:nvPr/>
        </p:nvSpPr>
        <p:spPr>
          <a:xfrm>
            <a:off x="7237984" y="658368"/>
            <a:ext cx="4493768" cy="475488"/>
          </a:xfrm>
          <a:prstGeom prst="rect">
            <a:avLst/>
          </a:prstGeom>
          <a:solidFill>
            <a:srgbClr val="EDF4FA"/>
          </a:solidFill>
          <a:ln/>
        </p:spPr>
        <p:txBody>
          <a:bodyPr/>
          <a:p/>
        </p:txBody>
      </p:sp>
      <p:sp>
        <p:nvSpPr>
          <p:cNvPr id="20" name="Text 18"/>
          <p:cNvSpPr txBox="1"/>
          <p:nvPr/>
        </p:nvSpPr>
        <p:spPr>
          <a:xfrm>
            <a:off x="7366000" y="658368"/>
            <a:ext cx="423773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2nd · Parts GP 47.0%   ·   3rd · CP ELR +$27</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8,930</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9,929</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$456K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1,332 more ROs.</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2.1%</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$80K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1,526 more a year.</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3.2%</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$75K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509 more a year.</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12.5%</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$36K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294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$1.39M</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$1.41M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$15K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61" name="Shape 59"/>
          <p:cNvSpPr/>
          <p:nvPr/>
        </p:nvSpPr>
        <p:spPr>
          <a:xfrm>
            <a:off x="658368" y="4059936"/>
            <a:ext cx="10872216" cy="329184"/>
          </a:xfrm>
          <a:prstGeom prst="rect">
            <a:avLst/>
          </a:prstGeom>
          <a:solidFill>
            <a:srgbClr val="F7F7F7"/>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 of 15</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2 under 85%: dispatch, parts.</a:t>
            </a:r>
            <a:endParaRPr lang="en-US" sz="1400" dirty="0"/>
          </a:p>
        </p:txBody>
      </p:sp>
      <p:sp>
        <p:nvSpPr>
          <p:cNvPr id="68" name="Shape 66"/>
          <p:cNvSpPr/>
          <p:nvPr/>
        </p:nvSpPr>
        <p:spPr>
          <a:xfrm>
            <a:off x="658368" y="4383634"/>
            <a:ext cx="10872216" cy="10973"/>
          </a:xfrm>
          <a:prstGeom prst="rect">
            <a:avLst/>
          </a:prstGeom>
          <a:solidFill>
            <a:srgbClr val="9AA3AD"/>
          </a:solidFill>
          <a:ln/>
        </p:spPr>
        <p:txBody>
          <a:bodyPr/>
          <a:p/>
        </p:txBody>
      </p:sp>
      <p:sp>
        <p:nvSpPr>
          <p:cNvPr id="69" name="Text 67"/>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70" name="Text 68"/>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71" name="Text 69"/>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49.6%</a:t>
            </a:r>
            <a:endParaRPr lang="en-US" sz="1400" dirty="0"/>
          </a:p>
        </p:txBody>
      </p:sp>
      <p:sp>
        <p:nvSpPr>
          <p:cNvPr id="72" name="Text 70"/>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3" name="Text 71"/>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74" name="Text 72"/>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5,742 more a year.</a:t>
            </a:r>
            <a:endParaRPr lang="en-US" sz="1400" dirty="0"/>
          </a:p>
        </p:txBody>
      </p:sp>
      <p:sp>
        <p:nvSpPr>
          <p:cNvPr id="75" name="Shape 73"/>
          <p:cNvSpPr/>
          <p:nvPr/>
        </p:nvSpPr>
        <p:spPr>
          <a:xfrm>
            <a:off x="658368" y="4718304"/>
            <a:ext cx="10872216" cy="329184"/>
          </a:xfrm>
          <a:prstGeom prst="rect">
            <a:avLst/>
          </a:prstGeom>
          <a:solidFill>
            <a:srgbClr val="F7F7F7"/>
          </a:solidFill>
          <a:ln/>
        </p:spPr>
        <p:txBody>
          <a:bodyPr/>
          <a:p/>
        </p:txBody>
      </p:sp>
      <p:sp>
        <p:nvSpPr>
          <p:cNvPr id="76" name="Text 74"/>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7" name="Text 75"/>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78" name="Text 76"/>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49.6%</a:t>
            </a:r>
            <a:endParaRPr lang="en-US" sz="1400" dirty="0"/>
          </a:p>
        </p:txBody>
      </p:sp>
      <p:sp>
        <p:nvSpPr>
          <p:cNvPr id="79" name="Text 77"/>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80" name="Text 78"/>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1" name="Text 79"/>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1,171 more a year.</a:t>
            </a:r>
            <a:endParaRPr lang="en-US" sz="1400" dirty="0"/>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Hyundai Prescott</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$1.54M</a:t>
            </a:r>
            <a:pPr indent="0" marL="0">
              <a:buNone/>
            </a:pPr>
            <a:r>
              <a:rPr lang="en-US" sz="1400" b="1" dirty="0">
                <a:solidFill>
                  <a:srgbClr val="0B7A4A"/>
                </a:solidFill>
                <a:latin typeface="Inter" pitchFamily="34" charset="0"/>
                <a:ea typeface="Inter" pitchFamily="34" charset="-122"/>
                <a:cs typeface="Inter" pitchFamily="34" charset="-120"/>
              </a:rPr>
              <a:t>  +$404K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−$136,511</a:t>
            </a:r>
            <a:pPr indent="0" marL="0">
              <a:buNone/>
            </a:pPr>
            <a:r>
              <a:rPr lang="en-US" sz="1400" b="1" dirty="0">
                <a:solidFill>
                  <a:srgbClr val="0B7A4A"/>
                </a:solidFill>
                <a:latin typeface="Inter" pitchFamily="34" charset="0"/>
                <a:ea typeface="Inter" pitchFamily="34" charset="-122"/>
                <a:cs typeface="Inter" pitchFamily="34" charset="-120"/>
              </a:rPr>
              <a:t>  +$96K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46.2%</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2,010</a:t>
            </a:r>
            <a:pPr indent="0" marL="0">
              <a:buNone/>
            </a:pPr>
            <a:r>
              <a:rPr lang="en-US" sz="1400" b="1" dirty="0">
                <a:solidFill>
                  <a:srgbClr val="0B7A4A"/>
                </a:solidFill>
                <a:latin typeface="Inter" pitchFamily="34" charset="0"/>
                <a:ea typeface="Inter" pitchFamily="34" charset="-122"/>
                <a:cs typeface="Inter" pitchFamily="34" charset="-120"/>
              </a:rPr>
              <a:t>  +226</a:t>
            </a:r>
            <a:endParaRPr lang="en-US" sz="2200" dirty="0"/>
          </a:p>
        </p:txBody>
      </p:sp>
      <p:sp>
        <p:nvSpPr>
          <p:cNvPr id="19" name="Shape 17"/>
          <p:cNvSpPr/>
          <p:nvPr/>
        </p:nvSpPr>
        <p:spPr>
          <a:xfrm>
            <a:off x="7143750" y="658368"/>
            <a:ext cx="4588002" cy="475488"/>
          </a:xfrm>
          <a:prstGeom prst="rect">
            <a:avLst/>
          </a:prstGeom>
          <a:solidFill>
            <a:srgbClr val="EDF4FA"/>
          </a:solidFill>
          <a:ln/>
        </p:spPr>
        <p:txBody>
          <a:bodyPr/>
          <a:p/>
        </p:txBody>
      </p:sp>
      <p:sp>
        <p:nvSpPr>
          <p:cNvPr id="20" name="Text 18"/>
          <p:cNvSpPr txBox="1"/>
          <p:nvPr/>
        </p:nvSpPr>
        <p:spPr>
          <a:xfrm>
            <a:off x="7271766" y="658368"/>
            <a:ext cx="4331970"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3rd · Video 91.2%   ·   3rd · Alignment 21.7%</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 of 9</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$412K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$213</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$92K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GP %</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67.7%</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78%</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$59K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Right tech, right work; review discounts.</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1.64</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$54K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+0.11 hr per RO.</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ELR</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$136</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$147</a:t>
            </a:r>
            <a:pPr indent="0" marL="0">
              <a:buNone/>
            </a:pPr>
            <a:r>
              <a:rPr lang="en-US" sz="1400" dirty="0">
                <a:solidFill>
                  <a:srgbClr val="595959"/>
                </a:solidFill>
                <a:latin typeface="Inter" pitchFamily="34" charset="0"/>
                <a:ea typeface="Inter" pitchFamily="34" charset="-122"/>
                <a:cs typeface="Inter" pitchFamily="34" charset="-120"/>
              </a:rPr>
              <a:t> 70% of door</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$51K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Charge the posted rate; control discounts.</a:t>
            </a:r>
            <a:endParaRPr lang="en-US" sz="1400" dirty="0"/>
          </a:p>
        </p:txBody>
      </p:sp>
      <p:sp>
        <p:nvSpPr>
          <p:cNvPr id="61" name="Shape 59"/>
          <p:cNvSpPr/>
          <p:nvPr/>
        </p:nvSpPr>
        <p:spPr>
          <a:xfrm>
            <a:off x="658368" y="4054450"/>
            <a:ext cx="10872216" cy="10973"/>
          </a:xfrm>
          <a:prstGeom prst="rect">
            <a:avLst/>
          </a:prstGeom>
          <a:solidFill>
            <a:srgbClr val="9AA3AD"/>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$11,631</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1.2 heads over peer avg.</a:t>
            </a:r>
            <a:endParaRPr lang="en-US" sz="1400" dirty="0"/>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Hyundai St George</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$2.29M</a:t>
            </a:r>
            <a:pPr indent="0" marL="0">
              <a:buNone/>
            </a:pPr>
            <a:r>
              <a:rPr lang="en-US" sz="1400" b="1" dirty="0">
                <a:solidFill>
                  <a:srgbClr val="0B7A4A"/>
                </a:solidFill>
                <a:latin typeface="Inter" pitchFamily="34" charset="0"/>
                <a:ea typeface="Inter" pitchFamily="34" charset="-122"/>
                <a:cs typeface="Inter" pitchFamily="34" charset="-120"/>
              </a:rPr>
              <a:t>  +$88K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$107,886</a:t>
            </a:r>
            <a:pPr indent="0" marL="0">
              <a:buNone/>
            </a:pPr>
            <a:r>
              <a:rPr lang="en-US" sz="1400" b="1" dirty="0">
                <a:solidFill>
                  <a:srgbClr val="A82B26"/>
                </a:solidFill>
                <a:latin typeface="Inter" pitchFamily="34" charset="0"/>
                <a:ea typeface="Inter" pitchFamily="34" charset="-122"/>
                <a:cs typeface="Inter" pitchFamily="34" charset="-120"/>
              </a:rPr>
              <a:t>  −$96K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57.2%</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3,349</a:t>
            </a:r>
            <a:pPr indent="0" marL="0">
              <a:buNone/>
            </a:pPr>
            <a:r>
              <a:rPr lang="en-US" sz="1400" b="1" dirty="0">
                <a:solidFill>
                  <a:srgbClr val="A82B26"/>
                </a:solidFill>
                <a:latin typeface="Inter" pitchFamily="34" charset="0"/>
                <a:ea typeface="Inter" pitchFamily="34" charset="-122"/>
                <a:cs typeface="Inter" pitchFamily="34" charset="-120"/>
              </a:rPr>
              <a:t>  −435</a:t>
            </a:r>
            <a:endParaRPr lang="en-US" sz="2200" dirty="0"/>
          </a:p>
        </p:txBody>
      </p:sp>
      <p:sp>
        <p:nvSpPr>
          <p:cNvPr id="19" name="Shape 17"/>
          <p:cNvSpPr/>
          <p:nvPr/>
        </p:nvSpPr>
        <p:spPr>
          <a:xfrm>
            <a:off x="9122664" y="658368"/>
            <a:ext cx="2609088" cy="475488"/>
          </a:xfrm>
          <a:prstGeom prst="rect">
            <a:avLst/>
          </a:prstGeom>
          <a:solidFill>
            <a:srgbClr val="EDF4FA"/>
          </a:solidFill>
          <a:ln/>
        </p:spPr>
        <p:txBody>
          <a:bodyPr/>
          <a:p/>
        </p:txBody>
      </p:sp>
      <p:sp>
        <p:nvSpPr>
          <p:cNvPr id="20" name="Text 18"/>
          <p:cNvSpPr txBox="1"/>
          <p:nvPr/>
        </p:nvSpPr>
        <p:spPr>
          <a:xfrm>
            <a:off x="9250680" y="658368"/>
            <a:ext cx="235305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2nd · Hours per RO +0.40</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 of 11</a:t>
            </a:r>
            <a:endParaRPr lang="en-US" sz="1400" dirty="0"/>
          </a:p>
        </p:txBody>
      </p:sp>
      <p:sp>
        <p:nvSpPr>
          <p:cNvPr id="32" name="Text 30"/>
          <p:cNvSpPr txBox="1"/>
          <p:nvPr/>
        </p:nvSpPr>
        <p:spPr>
          <a:xfrm>
            <a:off x="4087368" y="24140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$1.06M</a:t>
            </a:r>
            <a:endParaRPr lang="en-US" sz="1400" dirty="0"/>
          </a:p>
        </p:txBody>
      </p:sp>
      <p:sp>
        <p:nvSpPr>
          <p:cNvPr id="34" name="Text 32"/>
          <p:cNvSpPr txBox="1"/>
          <p:nvPr/>
        </p:nvSpPr>
        <p:spPr>
          <a:xfrm>
            <a:off x="7059168" y="24140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5" name="Shape 33"/>
          <p:cNvSpPr/>
          <p:nvPr/>
        </p:nvSpPr>
        <p:spPr>
          <a:xfrm>
            <a:off x="658368" y="2737866"/>
            <a:ext cx="10872216" cy="323850"/>
          </a:xfrm>
          <a:prstGeom prst="rect">
            <a:avLst/>
          </a:prstGeom>
          <a:solidFill>
            <a:srgbClr val="F7F7F7"/>
          </a:solidFill>
          <a:ln/>
        </p:spPr>
        <p:txBody>
          <a:bodyPr/>
          <a:p/>
        </p:txBody>
      </p:sp>
      <p:sp>
        <p:nvSpPr>
          <p:cNvPr id="36" name="Text 34"/>
          <p:cNvSpPr txBox="1"/>
          <p:nvPr/>
        </p:nvSpPr>
        <p:spPr>
          <a:xfrm>
            <a:off x="658368" y="27378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378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38" name="Text 36"/>
          <p:cNvSpPr txBox="1"/>
          <p:nvPr/>
        </p:nvSpPr>
        <p:spPr>
          <a:xfrm>
            <a:off x="2990088" y="27378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$827K</a:t>
            </a:r>
            <a:endParaRPr lang="en-US" sz="1400" dirty="0"/>
          </a:p>
        </p:txBody>
      </p:sp>
      <p:sp>
        <p:nvSpPr>
          <p:cNvPr id="39" name="Text 37"/>
          <p:cNvSpPr txBox="1"/>
          <p:nvPr/>
        </p:nvSpPr>
        <p:spPr>
          <a:xfrm>
            <a:off x="4087368" y="27378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$1.05M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0" name="Text 38"/>
          <p:cNvSpPr txBox="1"/>
          <p:nvPr/>
        </p:nvSpPr>
        <p:spPr>
          <a:xfrm>
            <a:off x="5989320" y="27378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$302K</a:t>
            </a:r>
            <a:endParaRPr lang="en-US" sz="1400" dirty="0"/>
          </a:p>
        </p:txBody>
      </p:sp>
      <p:sp>
        <p:nvSpPr>
          <p:cNvPr id="41" name="Text 39"/>
          <p:cNvSpPr txBox="1"/>
          <p:nvPr/>
        </p:nvSpPr>
        <p:spPr>
          <a:xfrm>
            <a:off x="7059168" y="27378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42" name="Text 40"/>
          <p:cNvSpPr txBox="1"/>
          <p:nvPr/>
        </p:nvSpPr>
        <p:spPr>
          <a:xfrm>
            <a:off x="658368" y="30617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617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44" name="Text 42"/>
          <p:cNvSpPr txBox="1"/>
          <p:nvPr/>
        </p:nvSpPr>
        <p:spPr>
          <a:xfrm>
            <a:off x="2990088" y="30617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1.43</a:t>
            </a:r>
            <a:endParaRPr lang="en-US" sz="1400" dirty="0"/>
          </a:p>
        </p:txBody>
      </p:sp>
      <p:sp>
        <p:nvSpPr>
          <p:cNvPr id="45" name="Text 43"/>
          <p:cNvSpPr txBox="1"/>
          <p:nvPr/>
        </p:nvSpPr>
        <p:spPr>
          <a:xfrm>
            <a:off x="4087368" y="30617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6" name="Text 44"/>
          <p:cNvSpPr txBox="1"/>
          <p:nvPr/>
        </p:nvSpPr>
        <p:spPr>
          <a:xfrm>
            <a:off x="5989320" y="30617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$259K</a:t>
            </a:r>
            <a:endParaRPr lang="en-US" sz="1400" dirty="0"/>
          </a:p>
        </p:txBody>
      </p:sp>
      <p:sp>
        <p:nvSpPr>
          <p:cNvPr id="47" name="Text 45"/>
          <p:cNvSpPr txBox="1"/>
          <p:nvPr/>
        </p:nvSpPr>
        <p:spPr>
          <a:xfrm>
            <a:off x="7059168" y="30617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+0.32 hr per RO.</a:t>
            </a:r>
            <a:endParaRPr lang="en-US" sz="1400" dirty="0"/>
          </a:p>
        </p:txBody>
      </p:sp>
      <p:sp>
        <p:nvSpPr>
          <p:cNvPr id="48" name="Shape 46"/>
          <p:cNvSpPr/>
          <p:nvPr/>
        </p:nvSpPr>
        <p:spPr>
          <a:xfrm>
            <a:off x="658368" y="3385566"/>
            <a:ext cx="10872216" cy="323850"/>
          </a:xfrm>
          <a:prstGeom prst="rect">
            <a:avLst/>
          </a:prstGeom>
          <a:solidFill>
            <a:srgbClr val="F7F7F7"/>
          </a:solidFill>
          <a:ln/>
        </p:spPr>
        <p:txBody>
          <a:bodyPr/>
          <a:p/>
        </p:txBody>
      </p:sp>
      <p:sp>
        <p:nvSpPr>
          <p:cNvPr id="49" name="Text 47"/>
          <p:cNvSpPr txBox="1"/>
          <p:nvPr/>
        </p:nvSpPr>
        <p:spPr>
          <a:xfrm>
            <a:off x="658368" y="33855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3855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51" name="Text 49"/>
          <p:cNvSpPr txBox="1"/>
          <p:nvPr/>
        </p:nvSpPr>
        <p:spPr>
          <a:xfrm>
            <a:off x="2990088" y="33855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3,349</a:t>
            </a:r>
            <a:endParaRPr lang="en-US" sz="1400" dirty="0"/>
          </a:p>
        </p:txBody>
      </p:sp>
      <p:sp>
        <p:nvSpPr>
          <p:cNvPr id="52" name="Text 50"/>
          <p:cNvSpPr txBox="1"/>
          <p:nvPr/>
        </p:nvSpPr>
        <p:spPr>
          <a:xfrm>
            <a:off x="4087368" y="33855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3,784</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3" name="Text 51"/>
          <p:cNvSpPr txBox="1"/>
          <p:nvPr/>
        </p:nvSpPr>
        <p:spPr>
          <a:xfrm>
            <a:off x="5989320" y="33855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$198K</a:t>
            </a:r>
            <a:endParaRPr lang="en-US" sz="1400" dirty="0"/>
          </a:p>
        </p:txBody>
      </p:sp>
      <p:sp>
        <p:nvSpPr>
          <p:cNvPr id="54" name="Text 52"/>
          <p:cNvSpPr txBox="1"/>
          <p:nvPr/>
        </p:nvSpPr>
        <p:spPr>
          <a:xfrm>
            <a:off x="7059168" y="33855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580 more ROs.</a:t>
            </a:r>
            <a:endParaRPr lang="en-US" sz="1400" dirty="0"/>
          </a:p>
        </p:txBody>
      </p:sp>
      <p:sp>
        <p:nvSpPr>
          <p:cNvPr id="55" name="Text 53"/>
          <p:cNvSpPr txBox="1"/>
          <p:nvPr/>
        </p:nvSpPr>
        <p:spPr>
          <a:xfrm>
            <a:off x="658368" y="37094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094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57" name="Text 55"/>
          <p:cNvSpPr txBox="1"/>
          <p:nvPr/>
        </p:nvSpPr>
        <p:spPr>
          <a:xfrm>
            <a:off x="2990088" y="37094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$238</a:t>
            </a:r>
            <a:endParaRPr lang="en-US" sz="1400" dirty="0"/>
          </a:p>
        </p:txBody>
      </p:sp>
      <p:sp>
        <p:nvSpPr>
          <p:cNvPr id="58" name="Text 56"/>
          <p:cNvSpPr txBox="1"/>
          <p:nvPr/>
        </p:nvSpPr>
        <p:spPr>
          <a:xfrm>
            <a:off x="4087368" y="37094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9" name="Text 57"/>
          <p:cNvSpPr txBox="1"/>
          <p:nvPr/>
        </p:nvSpPr>
        <p:spPr>
          <a:xfrm>
            <a:off x="5989320" y="37094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$98K</a:t>
            </a:r>
            <a:endParaRPr lang="en-US" sz="1400" dirty="0"/>
          </a:p>
        </p:txBody>
      </p:sp>
      <p:sp>
        <p:nvSpPr>
          <p:cNvPr id="60" name="Text 58"/>
          <p:cNvSpPr txBox="1"/>
          <p:nvPr/>
        </p:nvSpPr>
        <p:spPr>
          <a:xfrm>
            <a:off x="7059168" y="37094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61" name="Shape 59"/>
          <p:cNvSpPr/>
          <p:nvPr/>
        </p:nvSpPr>
        <p:spPr>
          <a:xfrm>
            <a:off x="658368" y="4033266"/>
            <a:ext cx="10872216" cy="323850"/>
          </a:xfrm>
          <a:prstGeom prst="rect">
            <a:avLst/>
          </a:prstGeom>
          <a:solidFill>
            <a:srgbClr val="F7F7F7"/>
          </a:solidFill>
          <a:ln/>
        </p:spPr>
        <p:txBody>
          <a:bodyPr/>
          <a:p/>
        </p:txBody>
      </p:sp>
      <p:sp>
        <p:nvSpPr>
          <p:cNvPr id="62" name="Text 60"/>
          <p:cNvSpPr txBox="1"/>
          <p:nvPr/>
        </p:nvSpPr>
        <p:spPr>
          <a:xfrm>
            <a:off x="658368" y="40332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332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64" name="Text 62"/>
          <p:cNvSpPr txBox="1"/>
          <p:nvPr/>
        </p:nvSpPr>
        <p:spPr>
          <a:xfrm>
            <a:off x="2990088" y="40332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a:t>
            </a:r>
            <a:endParaRPr lang="en-US" sz="1400" dirty="0"/>
          </a:p>
        </p:txBody>
      </p:sp>
      <p:sp>
        <p:nvSpPr>
          <p:cNvPr id="65" name="Text 63"/>
          <p:cNvSpPr txBox="1"/>
          <p:nvPr/>
        </p:nvSpPr>
        <p:spPr>
          <a:xfrm>
            <a:off x="4087368" y="40332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332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$36K</a:t>
            </a:r>
            <a:endParaRPr lang="en-US" sz="1400" dirty="0"/>
          </a:p>
        </p:txBody>
      </p:sp>
      <p:sp>
        <p:nvSpPr>
          <p:cNvPr id="67" name="Text 65"/>
          <p:cNvSpPr txBox="1"/>
          <p:nvPr/>
        </p:nvSpPr>
        <p:spPr>
          <a:xfrm>
            <a:off x="7059168" y="40332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615 more a year.</a:t>
            </a:r>
            <a:endParaRPr lang="en-US" sz="1400" dirty="0"/>
          </a:p>
        </p:txBody>
      </p:sp>
      <p:sp>
        <p:nvSpPr>
          <p:cNvPr id="68" name="Text 66"/>
          <p:cNvSpPr txBox="1"/>
          <p:nvPr/>
        </p:nvSpPr>
        <p:spPr>
          <a:xfrm>
            <a:off x="658368" y="43571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571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70" name="Text 68"/>
          <p:cNvSpPr txBox="1"/>
          <p:nvPr/>
        </p:nvSpPr>
        <p:spPr>
          <a:xfrm>
            <a:off x="2990088" y="43571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4.7%</a:t>
            </a:r>
            <a:endParaRPr lang="en-US" sz="1400" dirty="0"/>
          </a:p>
        </p:txBody>
      </p:sp>
      <p:sp>
        <p:nvSpPr>
          <p:cNvPr id="71" name="Text 69"/>
          <p:cNvSpPr txBox="1"/>
          <p:nvPr/>
        </p:nvSpPr>
        <p:spPr>
          <a:xfrm>
            <a:off x="4087368" y="43571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571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$32K</a:t>
            </a:r>
            <a:endParaRPr lang="en-US" sz="1400" dirty="0"/>
          </a:p>
        </p:txBody>
      </p:sp>
      <p:sp>
        <p:nvSpPr>
          <p:cNvPr id="73" name="Text 71"/>
          <p:cNvSpPr txBox="1"/>
          <p:nvPr/>
        </p:nvSpPr>
        <p:spPr>
          <a:xfrm>
            <a:off x="7059168" y="43571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235 more a year.</a:t>
            </a:r>
            <a:endParaRPr lang="en-US" sz="1400" dirty="0"/>
          </a:p>
        </p:txBody>
      </p:sp>
      <p:sp>
        <p:nvSpPr>
          <p:cNvPr id="74" name="Shape 72"/>
          <p:cNvSpPr/>
          <p:nvPr/>
        </p:nvSpPr>
        <p:spPr>
          <a:xfrm>
            <a:off x="658368" y="4680966"/>
            <a:ext cx="10872216" cy="323850"/>
          </a:xfrm>
          <a:prstGeom prst="rect">
            <a:avLst/>
          </a:prstGeom>
          <a:solidFill>
            <a:srgbClr val="F7F7F7"/>
          </a:solidFill>
          <a:ln/>
        </p:spPr>
        <p:txBody>
          <a:bodyPr/>
          <a:p/>
        </p:txBody>
      </p:sp>
      <p:sp>
        <p:nvSpPr>
          <p:cNvPr id="75" name="Text 73"/>
          <p:cNvSpPr txBox="1"/>
          <p:nvPr/>
        </p:nvSpPr>
        <p:spPr>
          <a:xfrm>
            <a:off x="658368" y="46809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6809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77" name="Text 75"/>
          <p:cNvSpPr txBox="1"/>
          <p:nvPr/>
        </p:nvSpPr>
        <p:spPr>
          <a:xfrm>
            <a:off x="2990088" y="46809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5.8%</a:t>
            </a:r>
            <a:endParaRPr lang="en-US" sz="1400" dirty="0"/>
          </a:p>
        </p:txBody>
      </p:sp>
      <p:sp>
        <p:nvSpPr>
          <p:cNvPr id="78" name="Text 76"/>
          <p:cNvSpPr txBox="1"/>
          <p:nvPr/>
        </p:nvSpPr>
        <p:spPr>
          <a:xfrm>
            <a:off x="4087368" y="46809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9" name="Text 77"/>
          <p:cNvSpPr txBox="1"/>
          <p:nvPr/>
        </p:nvSpPr>
        <p:spPr>
          <a:xfrm>
            <a:off x="5989320" y="46809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$13K</a:t>
            </a:r>
            <a:endParaRPr lang="en-US" sz="1400" dirty="0"/>
          </a:p>
        </p:txBody>
      </p:sp>
      <p:sp>
        <p:nvSpPr>
          <p:cNvPr id="80" name="Text 78"/>
          <p:cNvSpPr txBox="1"/>
          <p:nvPr/>
        </p:nvSpPr>
        <p:spPr>
          <a:xfrm>
            <a:off x="7059168" y="46809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72 more a year.</a:t>
            </a:r>
            <a:endParaRPr lang="en-US" sz="1400" dirty="0"/>
          </a:p>
        </p:txBody>
      </p:sp>
      <p:sp>
        <p:nvSpPr>
          <p:cNvPr id="81" name="Text 79"/>
          <p:cNvSpPr txBox="1"/>
          <p:nvPr/>
        </p:nvSpPr>
        <p:spPr>
          <a:xfrm>
            <a:off x="658368" y="50048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2" name="Text 80"/>
          <p:cNvSpPr txBox="1"/>
          <p:nvPr/>
        </p:nvSpPr>
        <p:spPr>
          <a:xfrm>
            <a:off x="1024128" y="50048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83" name="Text 81"/>
          <p:cNvSpPr txBox="1"/>
          <p:nvPr/>
        </p:nvSpPr>
        <p:spPr>
          <a:xfrm>
            <a:off x="2990088" y="50048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39.4%</a:t>
            </a:r>
            <a:endParaRPr lang="en-US" sz="1400" dirty="0"/>
          </a:p>
        </p:txBody>
      </p:sp>
      <p:sp>
        <p:nvSpPr>
          <p:cNvPr id="84" name="Text 82"/>
          <p:cNvSpPr txBox="1"/>
          <p:nvPr/>
        </p:nvSpPr>
        <p:spPr>
          <a:xfrm>
            <a:off x="4087368" y="50048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85" name="Text 83"/>
          <p:cNvSpPr txBox="1"/>
          <p:nvPr/>
        </p:nvSpPr>
        <p:spPr>
          <a:xfrm>
            <a:off x="5989320" y="50048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$10K</a:t>
            </a:r>
            <a:endParaRPr lang="en-US" sz="1400" dirty="0"/>
          </a:p>
        </p:txBody>
      </p:sp>
      <p:sp>
        <p:nvSpPr>
          <p:cNvPr id="86" name="Text 84"/>
          <p:cNvSpPr txBox="1"/>
          <p:nvPr/>
        </p:nvSpPr>
        <p:spPr>
          <a:xfrm>
            <a:off x="7059168" y="50048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87" name="Shape 85"/>
          <p:cNvSpPr/>
          <p:nvPr/>
        </p:nvSpPr>
        <p:spPr>
          <a:xfrm>
            <a:off x="658368" y="5323180"/>
            <a:ext cx="10872216" cy="10973"/>
          </a:xfrm>
          <a:prstGeom prst="rect">
            <a:avLst/>
          </a:prstGeom>
          <a:solidFill>
            <a:srgbClr val="9AA3AD"/>
          </a:solidFill>
          <a:ln/>
        </p:spPr>
        <p:txBody>
          <a:bodyPr/>
          <a:p/>
        </p:txBody>
      </p:sp>
      <p:sp>
        <p:nvSpPr>
          <p:cNvPr id="88" name="Text 86"/>
          <p:cNvSpPr txBox="1"/>
          <p:nvPr/>
        </p:nvSpPr>
        <p:spPr>
          <a:xfrm>
            <a:off x="658368" y="53286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89" name="Text 87"/>
          <p:cNvSpPr txBox="1"/>
          <p:nvPr/>
        </p:nvSpPr>
        <p:spPr>
          <a:xfrm>
            <a:off x="1024128" y="53286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90" name="Text 88"/>
          <p:cNvSpPr txBox="1"/>
          <p:nvPr/>
        </p:nvSpPr>
        <p:spPr>
          <a:xfrm>
            <a:off x="2990088" y="53286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62.7%</a:t>
            </a:r>
            <a:endParaRPr lang="en-US" sz="1400" dirty="0"/>
          </a:p>
        </p:txBody>
      </p:sp>
      <p:sp>
        <p:nvSpPr>
          <p:cNvPr id="91" name="Text 89"/>
          <p:cNvSpPr txBox="1"/>
          <p:nvPr/>
        </p:nvSpPr>
        <p:spPr>
          <a:xfrm>
            <a:off x="4087368" y="53286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2" name="Text 90"/>
          <p:cNvSpPr txBox="1"/>
          <p:nvPr/>
        </p:nvSpPr>
        <p:spPr>
          <a:xfrm>
            <a:off x="5989320" y="5328666"/>
            <a:ext cx="868680" cy="323850"/>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3" name="Text 91"/>
          <p:cNvSpPr txBox="1"/>
          <p:nvPr/>
        </p:nvSpPr>
        <p:spPr>
          <a:xfrm>
            <a:off x="7059168" y="53286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2,247 more a year.</a:t>
            </a:r>
            <a:endParaRPr lang="en-US" sz="1400" dirty="0"/>
          </a:p>
        </p:txBody>
      </p:sp>
      <p:sp>
        <p:nvSpPr>
          <p:cNvPr id="94" name="Text 92"/>
          <p:cNvSpPr txBox="1"/>
          <p:nvPr/>
        </p:nvSpPr>
        <p:spPr>
          <a:xfrm>
            <a:off x="658368" y="56525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5" name="Text 93"/>
          <p:cNvSpPr txBox="1"/>
          <p:nvPr/>
        </p:nvSpPr>
        <p:spPr>
          <a:xfrm>
            <a:off x="1024128" y="56525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96" name="Text 94"/>
          <p:cNvSpPr txBox="1"/>
          <p:nvPr/>
        </p:nvSpPr>
        <p:spPr>
          <a:xfrm>
            <a:off x="2990088" y="56525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$11,541</a:t>
            </a:r>
            <a:endParaRPr lang="en-US" sz="1400" dirty="0"/>
          </a:p>
        </p:txBody>
      </p:sp>
      <p:sp>
        <p:nvSpPr>
          <p:cNvPr id="97" name="Text 95"/>
          <p:cNvSpPr txBox="1"/>
          <p:nvPr/>
        </p:nvSpPr>
        <p:spPr>
          <a:xfrm>
            <a:off x="4087368" y="56525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98" name="Text 96"/>
          <p:cNvSpPr txBox="1"/>
          <p:nvPr/>
        </p:nvSpPr>
        <p:spPr>
          <a:xfrm>
            <a:off x="5989320" y="5652516"/>
            <a:ext cx="868680" cy="323850"/>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9" name="Text 97"/>
          <p:cNvSpPr txBox="1"/>
          <p:nvPr/>
        </p:nvSpPr>
        <p:spPr>
          <a:xfrm>
            <a:off x="7059168" y="56525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2.0 heads over peer avg.</a:t>
            </a:r>
            <a:endParaRPr lang="en-US" sz="1400" dirty="0"/>
          </a:p>
        </p:txBody>
      </p:sp>
      <p:sp>
        <p:nvSpPr>
          <p:cNvPr id="100" name="Shape 98"/>
          <p:cNvSpPr/>
          <p:nvPr/>
        </p:nvSpPr>
        <p:spPr>
          <a:xfrm>
            <a:off x="658368" y="5976366"/>
            <a:ext cx="10872216" cy="323850"/>
          </a:xfrm>
          <a:prstGeom prst="rect">
            <a:avLst/>
          </a:prstGeom>
          <a:solidFill>
            <a:srgbClr val="F7F7F7"/>
          </a:solidFill>
          <a:ln/>
        </p:spPr>
        <p:txBody>
          <a:bodyPr/>
          <a:p/>
        </p:txBody>
      </p:sp>
      <p:sp>
        <p:nvSpPr>
          <p:cNvPr id="101" name="Text 99"/>
          <p:cNvSpPr txBox="1"/>
          <p:nvPr/>
        </p:nvSpPr>
        <p:spPr>
          <a:xfrm>
            <a:off x="658368" y="59763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12</a:t>
            </a:r>
            <a:endParaRPr lang="en-US" sz="1400" dirty="0"/>
          </a:p>
        </p:txBody>
      </p:sp>
      <p:sp>
        <p:nvSpPr>
          <p:cNvPr id="102" name="Text 100"/>
          <p:cNvSpPr txBox="1"/>
          <p:nvPr/>
        </p:nvSpPr>
        <p:spPr>
          <a:xfrm>
            <a:off x="1024128" y="59763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103" name="Text 101"/>
          <p:cNvSpPr txBox="1"/>
          <p:nvPr/>
        </p:nvSpPr>
        <p:spPr>
          <a:xfrm>
            <a:off x="2990088" y="59763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53.1%</a:t>
            </a:r>
            <a:endParaRPr lang="en-US" sz="1400" dirty="0"/>
          </a:p>
        </p:txBody>
      </p:sp>
      <p:sp>
        <p:nvSpPr>
          <p:cNvPr id="104" name="Text 102"/>
          <p:cNvSpPr txBox="1"/>
          <p:nvPr/>
        </p:nvSpPr>
        <p:spPr>
          <a:xfrm>
            <a:off x="4087368" y="59763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105" name="Text 103"/>
          <p:cNvSpPr txBox="1"/>
          <p:nvPr/>
        </p:nvSpPr>
        <p:spPr>
          <a:xfrm>
            <a:off x="5989320" y="5976366"/>
            <a:ext cx="868680" cy="323850"/>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6" name="Text 104"/>
          <p:cNvSpPr txBox="1"/>
          <p:nvPr/>
        </p:nvSpPr>
        <p:spPr>
          <a:xfrm>
            <a:off x="7059168" y="59763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390 more a year.</a:t>
            </a:r>
            <a:endParaRPr lang="en-US" sz="1400" dirty="0"/>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Kia LV</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$6.15M</a:t>
            </a:r>
            <a:pPr indent="0" marL="0">
              <a:buNone/>
            </a:pPr>
            <a:r>
              <a:rPr lang="en-US" sz="1400" b="1" dirty="0">
                <a:solidFill>
                  <a:srgbClr val="0B7A4A"/>
                </a:solidFill>
                <a:latin typeface="Inter" pitchFamily="34" charset="0"/>
                <a:ea typeface="Inter" pitchFamily="34" charset="-122"/>
                <a:cs typeface="Inter" pitchFamily="34" charset="-120"/>
              </a:rPr>
              <a:t>  +$125K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$1.80M</a:t>
            </a:r>
            <a:pPr indent="0" marL="0">
              <a:buNone/>
            </a:pPr>
            <a:r>
              <a:rPr lang="en-US" sz="1400" b="1" dirty="0">
                <a:solidFill>
                  <a:srgbClr val="0B7A4A"/>
                </a:solidFill>
                <a:latin typeface="Inter" pitchFamily="34" charset="0"/>
                <a:ea typeface="Inter" pitchFamily="34" charset="-122"/>
                <a:cs typeface="Inter" pitchFamily="34" charset="-120"/>
              </a:rPr>
              <a:t>  +$422K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78.6%</a:t>
            </a:r>
            <a:endParaRPr lang="en-US" sz="2200" dirty="0"/>
          </a:p>
        </p:txBody>
      </p:sp>
      <p:sp>
        <p:nvSpPr>
          <p:cNvPr id="14" name="Shape 12"/>
          <p:cNvSpPr/>
          <p:nvPr/>
        </p:nvSpPr>
        <p:spPr>
          <a:xfrm>
            <a:off x="7185660" y="1563624"/>
            <a:ext cx="64008" cy="256032"/>
          </a:xfrm>
          <a:prstGeom prst="rect">
            <a:avLst/>
          </a:prstGeom>
          <a:solidFill>
            <a:srgbClr val="12A566"/>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8,133</a:t>
            </a:r>
            <a:pPr indent="0" marL="0">
              <a:buNone/>
            </a:pPr>
            <a:r>
              <a:rPr lang="en-US" sz="1400" b="1" dirty="0">
                <a:solidFill>
                  <a:srgbClr val="0B7A4A"/>
                </a:solidFill>
                <a:latin typeface="Inter" pitchFamily="34" charset="0"/>
                <a:ea typeface="Inter" pitchFamily="34" charset="-122"/>
                <a:cs typeface="Inter" pitchFamily="34" charset="-120"/>
              </a:rPr>
              <a:t>  +977</a:t>
            </a:r>
            <a:endParaRPr lang="en-US" sz="2200" dirty="0"/>
          </a:p>
        </p:txBody>
      </p:sp>
      <p:sp>
        <p:nvSpPr>
          <p:cNvPr id="19" name="Shape 17"/>
          <p:cNvSpPr/>
          <p:nvPr/>
        </p:nvSpPr>
        <p:spPr>
          <a:xfrm>
            <a:off x="9404096" y="658368"/>
            <a:ext cx="2327656" cy="475488"/>
          </a:xfrm>
          <a:prstGeom prst="rect">
            <a:avLst/>
          </a:prstGeom>
          <a:solidFill>
            <a:srgbClr val="EDF4FA"/>
          </a:solidFill>
          <a:ln/>
        </p:spPr>
        <p:txBody>
          <a:bodyPr/>
          <a:p/>
        </p:txBody>
      </p:sp>
      <p:sp>
        <p:nvSpPr>
          <p:cNvPr id="20" name="Text 18"/>
          <p:cNvSpPr txBox="1"/>
          <p:nvPr/>
        </p:nvSpPr>
        <p:spPr>
          <a:xfrm>
            <a:off x="9532112" y="658368"/>
            <a:ext cx="207162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2nd · CP ROs +977</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 of 20</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$891K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1.57</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$351K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+0.18 hr per RO.</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$234</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$259K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$2.10M</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$2.27M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$223K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9.7%</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$77K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568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3.2%</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$76K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464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5.2%</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$72K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1,059 more a year.</a:t>
            </a:r>
            <a:endParaRPr lang="en-US" sz="1400" dirty="0"/>
          </a:p>
        </p:txBody>
      </p:sp>
      <p:sp>
        <p:nvSpPr>
          <p:cNvPr id="74" name="Shape 72"/>
          <p:cNvSpPr/>
          <p:nvPr/>
        </p:nvSpPr>
        <p:spPr>
          <a:xfrm>
            <a:off x="658368" y="4718304"/>
            <a:ext cx="10872216" cy="329184"/>
          </a:xfrm>
          <a:prstGeom prst="rect">
            <a:avLst/>
          </a:prstGeom>
          <a:solidFill>
            <a:srgbClr val="F7F7F7"/>
          </a:solidFill>
          <a:ln/>
        </p:spPr>
        <p:txBody>
          <a:bodyPr/>
          <a:p/>
        </p:txBody>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ELR</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$151</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$154</a:t>
            </a:r>
            <a:pPr indent="0" marL="0">
              <a:buNone/>
            </a:pPr>
            <a:r>
              <a:rPr lang="en-US" sz="1400" dirty="0">
                <a:solidFill>
                  <a:srgbClr val="595959"/>
                </a:solidFill>
                <a:latin typeface="Inter" pitchFamily="34" charset="0"/>
                <a:ea typeface="Inter" pitchFamily="34" charset="-122"/>
                <a:cs typeface="Inter" pitchFamily="34" charset="-120"/>
              </a:rPr>
              <a:t> 70% of door</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$55K</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Charge the posted rate; control discounts.</a:t>
            </a:r>
            <a:endParaRPr lang="en-US" sz="1400" dirty="0"/>
          </a:p>
        </p:txBody>
      </p:sp>
      <p:sp>
        <p:nvSpPr>
          <p:cNvPr id="81" name="Text 79"/>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2" name="Text 80"/>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83" name="Text 81"/>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8.2%</a:t>
            </a:r>
            <a:endParaRPr lang="en-US" sz="1400" dirty="0"/>
          </a:p>
        </p:txBody>
      </p:sp>
      <p:sp>
        <p:nvSpPr>
          <p:cNvPr id="84" name="Text 82"/>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85" name="Text 83"/>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$22K</a:t>
            </a:r>
            <a:endParaRPr lang="en-US" sz="1400" dirty="0"/>
          </a:p>
        </p:txBody>
      </p:sp>
      <p:sp>
        <p:nvSpPr>
          <p:cNvPr id="86" name="Text 84"/>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187 more a year.</a:t>
            </a:r>
            <a:endParaRPr lang="en-US" sz="1400" dirty="0"/>
          </a:p>
        </p:txBody>
      </p:sp>
      <p:sp>
        <p:nvSpPr>
          <p:cNvPr id="87" name="Shape 85"/>
          <p:cNvSpPr/>
          <p:nvPr/>
        </p:nvSpPr>
        <p:spPr>
          <a:xfrm>
            <a:off x="658368" y="5371186"/>
            <a:ext cx="10872216" cy="10973"/>
          </a:xfrm>
          <a:prstGeom prst="rect">
            <a:avLst/>
          </a:prstGeom>
          <a:solidFill>
            <a:srgbClr val="9AA3AD"/>
          </a:solidFill>
          <a:ln/>
        </p:spPr>
        <p:txBody>
          <a:bodyPr/>
          <a:p/>
        </p:txBody>
      </p:sp>
      <p:sp>
        <p:nvSpPr>
          <p:cNvPr id="88" name="Text 86"/>
          <p:cNvSpPr txBox="1"/>
          <p:nvPr/>
        </p:nvSpPr>
        <p:spPr>
          <a:xfrm>
            <a:off x="658368" y="537667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89" name="Text 87"/>
          <p:cNvSpPr txBox="1"/>
          <p:nvPr/>
        </p:nvSpPr>
        <p:spPr>
          <a:xfrm>
            <a:off x="1024128" y="537667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90" name="Text 88"/>
          <p:cNvSpPr txBox="1"/>
          <p:nvPr/>
        </p:nvSpPr>
        <p:spPr>
          <a:xfrm>
            <a:off x="2990088" y="537667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31.5%</a:t>
            </a:r>
            <a:endParaRPr lang="en-US" sz="1400" dirty="0"/>
          </a:p>
        </p:txBody>
      </p:sp>
      <p:sp>
        <p:nvSpPr>
          <p:cNvPr id="91" name="Text 89"/>
          <p:cNvSpPr txBox="1"/>
          <p:nvPr/>
        </p:nvSpPr>
        <p:spPr>
          <a:xfrm>
            <a:off x="4087368" y="537667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92" name="Text 90"/>
          <p:cNvSpPr txBox="1"/>
          <p:nvPr/>
        </p:nvSpPr>
        <p:spPr>
          <a:xfrm>
            <a:off x="5989320" y="537667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3" name="Text 91"/>
          <p:cNvSpPr txBox="1"/>
          <p:nvPr/>
        </p:nvSpPr>
        <p:spPr>
          <a:xfrm>
            <a:off x="7059168" y="537667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4,714 more a year.</a:t>
            </a:r>
            <a:endParaRPr lang="en-US" sz="1400" dirty="0"/>
          </a:p>
        </p:txBody>
      </p:sp>
      <p:sp>
        <p:nvSpPr>
          <p:cNvPr id="94" name="Text 92"/>
          <p:cNvSpPr txBox="1"/>
          <p:nvPr/>
        </p:nvSpPr>
        <p:spPr>
          <a:xfrm>
            <a:off x="658368" y="570585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5" name="Text 93"/>
          <p:cNvSpPr txBox="1"/>
          <p:nvPr/>
        </p:nvSpPr>
        <p:spPr>
          <a:xfrm>
            <a:off x="1024128" y="570585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96" name="Text 94"/>
          <p:cNvSpPr txBox="1"/>
          <p:nvPr/>
        </p:nvSpPr>
        <p:spPr>
          <a:xfrm>
            <a:off x="2990088" y="570585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71.2%</a:t>
            </a:r>
            <a:endParaRPr lang="en-US" sz="1400" dirty="0"/>
          </a:p>
        </p:txBody>
      </p:sp>
      <p:sp>
        <p:nvSpPr>
          <p:cNvPr id="97" name="Text 95"/>
          <p:cNvSpPr txBox="1"/>
          <p:nvPr/>
        </p:nvSpPr>
        <p:spPr>
          <a:xfrm>
            <a:off x="4087368" y="570585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8" name="Text 96"/>
          <p:cNvSpPr txBox="1"/>
          <p:nvPr/>
        </p:nvSpPr>
        <p:spPr>
          <a:xfrm>
            <a:off x="5989320" y="5705856"/>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9" name="Text 97"/>
          <p:cNvSpPr txBox="1"/>
          <p:nvPr/>
        </p:nvSpPr>
        <p:spPr>
          <a:xfrm>
            <a:off x="7059168" y="570585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3,364 more a year.</a:t>
            </a:r>
            <a:endParaRPr lang="en-US" sz="1400" dirty="0"/>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Kia St George</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$2.34M</a:t>
            </a:r>
            <a:pPr indent="0" marL="0">
              <a:buNone/>
            </a:pPr>
            <a:r>
              <a:rPr lang="en-US" sz="1400" b="1" dirty="0">
                <a:solidFill>
                  <a:srgbClr val="0B7A4A"/>
                </a:solidFill>
                <a:latin typeface="Inter" pitchFamily="34" charset="0"/>
                <a:ea typeface="Inter" pitchFamily="34" charset="-122"/>
                <a:cs typeface="Inter" pitchFamily="34" charset="-120"/>
              </a:rPr>
              <a:t>  +$216K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$502,109</a:t>
            </a:r>
            <a:pPr indent="0" marL="0">
              <a:buNone/>
            </a:pPr>
            <a:r>
              <a:rPr lang="en-US" sz="1400" b="1" dirty="0">
                <a:solidFill>
                  <a:srgbClr val="A82B26"/>
                </a:solidFill>
                <a:latin typeface="Inter" pitchFamily="34" charset="0"/>
                <a:ea typeface="Inter" pitchFamily="34" charset="-122"/>
                <a:cs typeface="Inter" pitchFamily="34" charset="-120"/>
              </a:rPr>
              <a:t>  −$147K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65.8%</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3,912</a:t>
            </a:r>
            <a:pPr indent="0" marL="0">
              <a:buNone/>
            </a:pPr>
            <a:r>
              <a:rPr lang="en-US" sz="1400" b="1" dirty="0">
                <a:solidFill>
                  <a:srgbClr val="0B7A4A"/>
                </a:solidFill>
                <a:latin typeface="Inter" pitchFamily="34" charset="0"/>
                <a:ea typeface="Inter" pitchFamily="34" charset="-122"/>
                <a:cs typeface="Inter" pitchFamily="34" charset="-120"/>
              </a:rPr>
              <a:t>  +91</a:t>
            </a:r>
            <a:endParaRPr lang="en-US" sz="2200" dirty="0"/>
          </a:p>
        </p:txBody>
      </p:sp>
      <p:sp>
        <p:nvSpPr>
          <p:cNvPr id="19" name="Shape 17"/>
          <p:cNvSpPr/>
          <p:nvPr/>
        </p:nvSpPr>
        <p:spPr>
          <a:xfrm>
            <a:off x="9122664" y="658368"/>
            <a:ext cx="2609088" cy="475488"/>
          </a:xfrm>
          <a:prstGeom prst="rect">
            <a:avLst/>
          </a:prstGeom>
          <a:solidFill>
            <a:srgbClr val="EDF4FA"/>
          </a:solidFill>
          <a:ln/>
        </p:spPr>
        <p:txBody>
          <a:bodyPr/>
          <a:p/>
        </p:txBody>
      </p:sp>
      <p:sp>
        <p:nvSpPr>
          <p:cNvPr id="20" name="Text 18"/>
          <p:cNvSpPr txBox="1"/>
          <p:nvPr/>
        </p:nvSpPr>
        <p:spPr>
          <a:xfrm>
            <a:off x="9250680" y="658368"/>
            <a:ext cx="235305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3rd · Hours per RO +0.30</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 of 12</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$919K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1.29</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$435K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+0.46 hr per RO.</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$182</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$340K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$38K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365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5.9%</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$25K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211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7.7%</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$18K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380 more a year.</a:t>
            </a:r>
            <a:endParaRPr lang="en-US" sz="1400" dirty="0"/>
          </a:p>
        </p:txBody>
      </p:sp>
      <p:sp>
        <p:nvSpPr>
          <p:cNvPr id="68" name="Shape 66"/>
          <p:cNvSpPr/>
          <p:nvPr/>
        </p:nvSpPr>
        <p:spPr>
          <a:xfrm>
            <a:off x="658368" y="4383634"/>
            <a:ext cx="10872216" cy="10973"/>
          </a:xfrm>
          <a:prstGeom prst="rect">
            <a:avLst/>
          </a:prstGeom>
          <a:solidFill>
            <a:srgbClr val="9AA3AD"/>
          </a:solidFill>
          <a:ln/>
        </p:spPr>
        <p:txBody>
          <a:bodyPr/>
          <a:p/>
        </p:txBody>
      </p:sp>
      <p:sp>
        <p:nvSpPr>
          <p:cNvPr id="69" name="Text 67"/>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70" name="Text 68"/>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71" name="Text 69"/>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5.2%</a:t>
            </a:r>
            <a:endParaRPr lang="en-US" sz="1400" dirty="0"/>
          </a:p>
        </p:txBody>
      </p:sp>
      <p:sp>
        <p:nvSpPr>
          <p:cNvPr id="72" name="Text 70"/>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73" name="Text 71"/>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74" name="Text 72"/>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5,626 more a year.</a:t>
            </a:r>
            <a:endParaRPr lang="en-US" sz="1400" dirty="0"/>
          </a:p>
        </p:txBody>
      </p:sp>
      <p:sp>
        <p:nvSpPr>
          <p:cNvPr id="75" name="Shape 73"/>
          <p:cNvSpPr/>
          <p:nvPr/>
        </p:nvSpPr>
        <p:spPr>
          <a:xfrm>
            <a:off x="658368" y="4718304"/>
            <a:ext cx="10872216" cy="329184"/>
          </a:xfrm>
          <a:prstGeom prst="rect">
            <a:avLst/>
          </a:prstGeom>
          <a:solidFill>
            <a:srgbClr val="F7F7F7"/>
          </a:solidFill>
          <a:ln/>
        </p:spPr>
        <p:txBody>
          <a:bodyPr/>
          <a:p/>
        </p:txBody>
      </p:sp>
      <p:sp>
        <p:nvSpPr>
          <p:cNvPr id="76" name="Text 74"/>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7" name="Text 75"/>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78" name="Text 76"/>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60.9%</a:t>
            </a:r>
            <a:endParaRPr lang="en-US" sz="1400" dirty="0"/>
          </a:p>
        </p:txBody>
      </p:sp>
      <p:sp>
        <p:nvSpPr>
          <p:cNvPr id="79" name="Text 77"/>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80" name="Text 78"/>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1" name="Text 79"/>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3,110 more a year.</a:t>
            </a:r>
            <a:endParaRPr lang="en-US" sz="1400" dirty="0"/>
          </a:p>
        </p:txBody>
      </p:sp>
      <p:sp>
        <p:nvSpPr>
          <p:cNvPr id="82" name="Text 80"/>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3" name="Text 81"/>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84" name="Text 82"/>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$12,103</a:t>
            </a:r>
            <a:endParaRPr lang="en-US" sz="1400" dirty="0"/>
          </a:p>
        </p:txBody>
      </p:sp>
      <p:sp>
        <p:nvSpPr>
          <p:cNvPr id="85" name="Text 83"/>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86" name="Text 84"/>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7" name="Text 85"/>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1.0 heads over peer avg.</a:t>
            </a:r>
            <a:endParaRPr lang="en-US" sz="1400" dirty="0"/>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Lexus</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$4.15M</a:t>
            </a:r>
            <a:pPr indent="0" marL="0">
              <a:buNone/>
            </a:pPr>
            <a:r>
              <a:rPr lang="en-US" sz="1400" b="1" dirty="0">
                <a:solidFill>
                  <a:srgbClr val="0B7A4A"/>
                </a:solidFill>
                <a:latin typeface="Inter" pitchFamily="34" charset="0"/>
                <a:ea typeface="Inter" pitchFamily="34" charset="-122"/>
                <a:cs typeface="Inter" pitchFamily="34" charset="-120"/>
              </a:rPr>
              <a:t>  +$764K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$1.20M</a:t>
            </a:r>
            <a:pPr indent="0" marL="0">
              <a:buNone/>
            </a:pPr>
            <a:r>
              <a:rPr lang="en-US" sz="1400" b="1" dirty="0">
                <a:solidFill>
                  <a:srgbClr val="0B7A4A"/>
                </a:solidFill>
                <a:latin typeface="Inter" pitchFamily="34" charset="0"/>
                <a:ea typeface="Inter" pitchFamily="34" charset="-122"/>
                <a:cs typeface="Inter" pitchFamily="34" charset="-120"/>
              </a:rPr>
              <a:t>  +$206K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75.6%</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4,567</a:t>
            </a:r>
            <a:pPr indent="0" marL="0">
              <a:buNone/>
            </a:pPr>
            <a:r>
              <a:rPr lang="en-US" sz="1400" b="1" dirty="0">
                <a:solidFill>
                  <a:srgbClr val="0B7A4A"/>
                </a:solidFill>
                <a:latin typeface="Inter" pitchFamily="34" charset="0"/>
                <a:ea typeface="Inter" pitchFamily="34" charset="-122"/>
                <a:cs typeface="Inter" pitchFamily="34" charset="-120"/>
              </a:rPr>
              <a:t>  +66</a:t>
            </a:r>
            <a:endParaRPr lang="en-US" sz="2200" dirty="0"/>
          </a:p>
        </p:txBody>
      </p:sp>
      <p:sp>
        <p:nvSpPr>
          <p:cNvPr id="19" name="Shape 17"/>
          <p:cNvSpPr/>
          <p:nvPr/>
        </p:nvSpPr>
        <p:spPr>
          <a:xfrm>
            <a:off x="9404096" y="658368"/>
            <a:ext cx="2327656" cy="475488"/>
          </a:xfrm>
          <a:prstGeom prst="rect">
            <a:avLst/>
          </a:prstGeom>
          <a:solidFill>
            <a:srgbClr val="EDF4FA"/>
          </a:solidFill>
          <a:ln/>
        </p:spPr>
        <p:txBody>
          <a:bodyPr/>
          <a:p/>
        </p:txBody>
      </p:sp>
      <p:sp>
        <p:nvSpPr>
          <p:cNvPr id="20" name="Text 18"/>
          <p:cNvSpPr txBox="1"/>
          <p:nvPr/>
        </p:nvSpPr>
        <p:spPr>
          <a:xfrm>
            <a:off x="9532112" y="658368"/>
            <a:ext cx="207162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Parts GP 49.0%</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$403</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$632</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$1.18M</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2.08</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2.90</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$911K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+0.82 hr per RO.</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 of 11</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$379K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6 under 85%: dispatch, parts.</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0.0%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$68K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909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11.3%</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$33K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221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4.2%</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$25K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195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8.3%</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$15K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98 more a year.</a:t>
            </a:r>
            <a:endParaRPr lang="en-US" sz="1400" dirty="0"/>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Lincoln</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$2.98M</a:t>
            </a:r>
            <a:pPr indent="0" marL="0">
              <a:buNone/>
            </a:pPr>
            <a:r>
              <a:rPr lang="en-US" sz="1400" b="1" dirty="0">
                <a:solidFill>
                  <a:srgbClr val="0B7A4A"/>
                </a:solidFill>
                <a:latin typeface="Inter" pitchFamily="34" charset="0"/>
                <a:ea typeface="Inter" pitchFamily="34" charset="-122"/>
                <a:cs typeface="Inter" pitchFamily="34" charset="-120"/>
              </a:rPr>
              <a:t>  +$717K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$94,430</a:t>
            </a:r>
            <a:pPr indent="0" marL="0">
              <a:buNone/>
            </a:pPr>
            <a:r>
              <a:rPr lang="en-US" sz="1400" b="1" dirty="0">
                <a:solidFill>
                  <a:srgbClr val="0B7A4A"/>
                </a:solidFill>
                <a:latin typeface="Inter" pitchFamily="34" charset="0"/>
                <a:ea typeface="Inter" pitchFamily="34" charset="-122"/>
                <a:cs typeface="Inter" pitchFamily="34" charset="-120"/>
              </a:rPr>
              <a:t>  +$484K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59.9%</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2,630</a:t>
            </a:r>
            <a:pPr indent="0" marL="0">
              <a:buNone/>
            </a:pPr>
            <a:r>
              <a:rPr lang="en-US" sz="1400" b="1" dirty="0">
                <a:solidFill>
                  <a:srgbClr val="0B7A4A"/>
                </a:solidFill>
                <a:latin typeface="Inter" pitchFamily="34" charset="0"/>
                <a:ea typeface="Inter" pitchFamily="34" charset="-122"/>
                <a:cs typeface="Inter" pitchFamily="34" charset="-120"/>
              </a:rPr>
              <a:t>  +93</a:t>
            </a:r>
            <a:endParaRPr lang="en-US" sz="2200" dirty="0"/>
          </a:p>
        </p:txBody>
      </p:sp>
      <p:sp>
        <p:nvSpPr>
          <p:cNvPr id="19" name="Shape 17"/>
          <p:cNvSpPr/>
          <p:nvPr/>
        </p:nvSpPr>
        <p:spPr>
          <a:xfrm>
            <a:off x="9404096" y="658368"/>
            <a:ext cx="2327656" cy="475488"/>
          </a:xfrm>
          <a:prstGeom prst="rect">
            <a:avLst/>
          </a:prstGeom>
          <a:solidFill>
            <a:srgbClr val="EDF4FA"/>
          </a:solidFill>
          <a:ln/>
        </p:spPr>
        <p:txBody>
          <a:bodyPr/>
          <a:p/>
        </p:txBody>
      </p:sp>
      <p:sp>
        <p:nvSpPr>
          <p:cNvPr id="20" name="Text 18"/>
          <p:cNvSpPr txBox="1"/>
          <p:nvPr/>
        </p:nvSpPr>
        <p:spPr>
          <a:xfrm>
            <a:off x="9532112" y="658368"/>
            <a:ext cx="207162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2nd · CP ELR +$28</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$416</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$632</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$628K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 of 11</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$284K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5 under 85%: dispatch, parts.</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2.48</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2.90</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$267K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+0.42 hr per RO.</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37.0%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41.3%</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$55K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ELR</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$167</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$171</a:t>
            </a:r>
            <a:pPr indent="0" marL="0">
              <a:buNone/>
            </a:pPr>
            <a:r>
              <a:rPr lang="en-US" sz="1400" dirty="0">
                <a:solidFill>
                  <a:srgbClr val="595959"/>
                </a:solidFill>
                <a:latin typeface="Inter" pitchFamily="34" charset="0"/>
                <a:ea typeface="Inter" pitchFamily="34" charset="-122"/>
                <a:cs typeface="Inter" pitchFamily="34" charset="-120"/>
              </a:rPr>
              <a:t> 70% of door</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$36K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Charge the posted rate; control discounts.</a:t>
            </a:r>
            <a:endParaRPr lang="en-US" sz="1400" dirty="0"/>
          </a:p>
        </p:txBody>
      </p:sp>
      <p:sp>
        <p:nvSpPr>
          <p:cNvPr id="61" name="Shape 59"/>
          <p:cNvSpPr/>
          <p:nvPr/>
        </p:nvSpPr>
        <p:spPr>
          <a:xfrm>
            <a:off x="658368" y="4059936"/>
            <a:ext cx="10872216" cy="329184"/>
          </a:xfrm>
          <a:prstGeom prst="rect">
            <a:avLst/>
          </a:prstGeom>
          <a:solidFill>
            <a:srgbClr val="F7F7F7"/>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$31K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467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8.4%</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$26K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230 more a year.</a:t>
            </a:r>
            <a:endParaRPr lang="en-US" sz="1400" dirty="0"/>
          </a:p>
        </p:txBody>
      </p:sp>
      <p:sp>
        <p:nvSpPr>
          <p:cNvPr id="74" name="Shape 72"/>
          <p:cNvSpPr/>
          <p:nvPr/>
        </p:nvSpPr>
        <p:spPr>
          <a:xfrm>
            <a:off x="658368" y="4718304"/>
            <a:ext cx="10872216" cy="329184"/>
          </a:xfrm>
          <a:prstGeom prst="rect">
            <a:avLst/>
          </a:prstGeom>
          <a:solidFill>
            <a:srgbClr val="F7F7F7"/>
          </a:solidFill>
          <a:ln/>
        </p:spPr>
        <p:txBody>
          <a:bodyPr/>
          <a:p/>
        </p:txBody>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7.5%</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$11K</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87 more a year.</a:t>
            </a:r>
            <a:endParaRPr lang="en-US" sz="1400" dirty="0"/>
          </a:p>
        </p:txBody>
      </p:sp>
      <p:sp>
        <p:nvSpPr>
          <p:cNvPr id="81" name="Shape 79"/>
          <p:cNvSpPr/>
          <p:nvPr/>
        </p:nvSpPr>
        <p:spPr>
          <a:xfrm>
            <a:off x="658368" y="5042002"/>
            <a:ext cx="10872216" cy="10973"/>
          </a:xfrm>
          <a:prstGeom prst="rect">
            <a:avLst/>
          </a:prstGeom>
          <a:solidFill>
            <a:srgbClr val="9AA3AD"/>
          </a:solidFill>
          <a:ln/>
        </p:spPr>
        <p:txBody>
          <a:bodyPr/>
          <a:p/>
        </p:txBody>
      </p:sp>
      <p:sp>
        <p:nvSpPr>
          <p:cNvPr id="82" name="Text 80"/>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3" name="Text 81"/>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84" name="Text 82"/>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$10,963</a:t>
            </a:r>
            <a:endParaRPr lang="en-US" sz="1400" dirty="0"/>
          </a:p>
        </p:txBody>
      </p:sp>
      <p:sp>
        <p:nvSpPr>
          <p:cNvPr id="85" name="Text 83"/>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$16,998</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86" name="Text 84"/>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7" name="Text 85"/>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10.7 heads over peer avg.</a:t>
            </a:r>
            <a:endParaRPr lang="en-US" sz="1400" dirty="0"/>
          </a:p>
        </p:txBody>
      </p:sp>
      <p:sp>
        <p:nvSpPr>
          <p:cNvPr id="88" name="Shape 86"/>
          <p:cNvSpPr/>
          <p:nvPr/>
        </p:nvSpPr>
        <p:spPr>
          <a:xfrm>
            <a:off x="658368" y="5376672"/>
            <a:ext cx="10872216" cy="329184"/>
          </a:xfrm>
          <a:prstGeom prst="rect">
            <a:avLst/>
          </a:prstGeom>
          <a:solidFill>
            <a:srgbClr val="F7F7F7"/>
          </a:solidFill>
          <a:ln/>
        </p:spPr>
        <p:txBody>
          <a:bodyPr/>
          <a:p/>
        </p:txBody>
      </p:sp>
      <p:sp>
        <p:nvSpPr>
          <p:cNvPr id="89" name="Text 87"/>
          <p:cNvSpPr txBox="1"/>
          <p:nvPr/>
        </p:nvSpPr>
        <p:spPr>
          <a:xfrm>
            <a:off x="658368" y="537667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90" name="Text 88"/>
          <p:cNvSpPr txBox="1"/>
          <p:nvPr/>
        </p:nvSpPr>
        <p:spPr>
          <a:xfrm>
            <a:off x="1024128" y="537667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91" name="Text 89"/>
          <p:cNvSpPr txBox="1"/>
          <p:nvPr/>
        </p:nvSpPr>
        <p:spPr>
          <a:xfrm>
            <a:off x="2990088" y="537667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42.7%</a:t>
            </a:r>
            <a:endParaRPr lang="en-US" sz="1400" dirty="0"/>
          </a:p>
        </p:txBody>
      </p:sp>
      <p:sp>
        <p:nvSpPr>
          <p:cNvPr id="92" name="Text 90"/>
          <p:cNvSpPr txBox="1"/>
          <p:nvPr/>
        </p:nvSpPr>
        <p:spPr>
          <a:xfrm>
            <a:off x="4087368" y="537667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93" name="Text 91"/>
          <p:cNvSpPr txBox="1"/>
          <p:nvPr/>
        </p:nvSpPr>
        <p:spPr>
          <a:xfrm>
            <a:off x="5989320" y="537667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4" name="Text 92"/>
          <p:cNvSpPr txBox="1"/>
          <p:nvPr/>
        </p:nvSpPr>
        <p:spPr>
          <a:xfrm>
            <a:off x="7059168" y="537667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1,108 more a year.</a:t>
            </a:r>
            <a:endParaRPr lang="en-US" sz="1400" dirty="0"/>
          </a:p>
        </p:txBody>
      </p:sp>
      <p:sp>
        <p:nvSpPr>
          <p:cNvPr id="95" name="Text 93"/>
          <p:cNvSpPr txBox="1"/>
          <p:nvPr/>
        </p:nvSpPr>
        <p:spPr>
          <a:xfrm>
            <a:off x="658368" y="570585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6" name="Text 94"/>
          <p:cNvSpPr txBox="1"/>
          <p:nvPr/>
        </p:nvSpPr>
        <p:spPr>
          <a:xfrm>
            <a:off x="1024128" y="570585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97" name="Text 95"/>
          <p:cNvSpPr txBox="1"/>
          <p:nvPr/>
        </p:nvSpPr>
        <p:spPr>
          <a:xfrm>
            <a:off x="2990088" y="570585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68.5%</a:t>
            </a:r>
            <a:endParaRPr lang="en-US" sz="1400" dirty="0"/>
          </a:p>
        </p:txBody>
      </p:sp>
      <p:sp>
        <p:nvSpPr>
          <p:cNvPr id="98" name="Text 96"/>
          <p:cNvSpPr txBox="1"/>
          <p:nvPr/>
        </p:nvSpPr>
        <p:spPr>
          <a:xfrm>
            <a:off x="4087368" y="570585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9" name="Text 97"/>
          <p:cNvSpPr txBox="1"/>
          <p:nvPr/>
        </p:nvSpPr>
        <p:spPr>
          <a:xfrm>
            <a:off x="5989320" y="5705856"/>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0" name="Text 98"/>
          <p:cNvSpPr txBox="1"/>
          <p:nvPr/>
        </p:nvSpPr>
        <p:spPr>
          <a:xfrm>
            <a:off x="7059168" y="570585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1,573 more a year.</a:t>
            </a:r>
            <a:endParaRPr lang="en-US" sz="1400" dirty="0"/>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LR Henderson</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$3.42M</a:t>
            </a:r>
            <a:pPr indent="0" marL="0">
              <a:buNone/>
            </a:pPr>
            <a:r>
              <a:rPr lang="en-US" sz="1400" b="1" dirty="0">
                <a:solidFill>
                  <a:srgbClr val="0B7A4A"/>
                </a:solidFill>
                <a:latin typeface="Inter" pitchFamily="34" charset="0"/>
                <a:ea typeface="Inter" pitchFamily="34" charset="-122"/>
                <a:cs typeface="Inter" pitchFamily="34" charset="-120"/>
              </a:rPr>
              <a:t>  +$95K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$705,121</a:t>
            </a:r>
            <a:pPr indent="0" marL="0">
              <a:buNone/>
            </a:pPr>
            <a:r>
              <a:rPr lang="en-US" sz="1400" b="1" dirty="0">
                <a:solidFill>
                  <a:srgbClr val="0B7A4A"/>
                </a:solidFill>
                <a:latin typeface="Inter" pitchFamily="34" charset="0"/>
                <a:ea typeface="Inter" pitchFamily="34" charset="-122"/>
                <a:cs typeface="Inter" pitchFamily="34" charset="-120"/>
              </a:rPr>
              <a:t>  +$98K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74.4%</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1,559</a:t>
            </a:r>
            <a:pPr indent="0" marL="0">
              <a:buNone/>
            </a:pPr>
            <a:r>
              <a:rPr lang="en-US" sz="1400" b="1" dirty="0">
                <a:solidFill>
                  <a:srgbClr val="0B7A4A"/>
                </a:solidFill>
                <a:latin typeface="Inter" pitchFamily="34" charset="0"/>
                <a:ea typeface="Inter" pitchFamily="34" charset="-122"/>
                <a:cs typeface="Inter" pitchFamily="34" charset="-120"/>
              </a:rPr>
              <a:t>  +26</a:t>
            </a:r>
            <a:endParaRPr lang="en-US" sz="2200" dirty="0"/>
          </a:p>
        </p:txBody>
      </p:sp>
      <p:sp>
        <p:nvSpPr>
          <p:cNvPr id="19" name="Shape 17"/>
          <p:cNvSpPr/>
          <p:nvPr/>
        </p:nvSpPr>
        <p:spPr>
          <a:xfrm>
            <a:off x="3374390" y="658368"/>
            <a:ext cx="8357362" cy="475488"/>
          </a:xfrm>
          <a:prstGeom prst="rect">
            <a:avLst/>
          </a:prstGeom>
          <a:solidFill>
            <a:srgbClr val="EDF4FA"/>
          </a:solidFill>
          <a:ln/>
        </p:spPr>
        <p:txBody>
          <a:bodyPr/>
          <a:p/>
        </p:txBody>
      </p:sp>
      <p:sp>
        <p:nvSpPr>
          <p:cNvPr id="20" name="Text 18"/>
          <p:cNvSpPr txBox="1"/>
          <p:nvPr/>
        </p:nvSpPr>
        <p:spPr>
          <a:xfrm>
            <a:off x="3502406" y="658368"/>
            <a:ext cx="8101330"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Hours per RO 3.99   ·   1st · CP labor $/RO $933   ·   1st · Tire balance 27.0%</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 of 7</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$179K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3 under 85%: dispatch, parts.</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2.5%</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$34K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103 more a year.</a:t>
            </a:r>
            <a:endParaRPr lang="en-US" sz="1400" dirty="0"/>
          </a:p>
        </p:txBody>
      </p:sp>
      <p:sp>
        <p:nvSpPr>
          <p:cNvPr id="42" name="Shape 40"/>
          <p:cNvSpPr/>
          <p:nvPr/>
        </p:nvSpPr>
        <p:spPr>
          <a:xfrm>
            <a:off x="658368" y="3066898"/>
            <a:ext cx="10872216" cy="10973"/>
          </a:xfrm>
          <a:prstGeom prst="rect">
            <a:avLst/>
          </a:prstGeom>
          <a:solidFill>
            <a:srgbClr val="9AA3AD"/>
          </a:solidFill>
          <a:ln/>
        </p:spPr>
        <p:txBody>
          <a:bodyPr/>
          <a:p/>
        </p:txBody>
      </p:sp>
      <p:sp>
        <p:nvSpPr>
          <p:cNvPr id="43" name="Text 41"/>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4" name="Text 42"/>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45" name="Text 43"/>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73.0%</a:t>
            </a:r>
            <a:endParaRPr lang="en-US" sz="1400" dirty="0"/>
          </a:p>
        </p:txBody>
      </p:sp>
      <p:sp>
        <p:nvSpPr>
          <p:cNvPr id="46" name="Text 44"/>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7" name="Text 45"/>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48" name="Text 46"/>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648 more a year.</a:t>
            </a:r>
            <a:endParaRPr lang="en-US" sz="1400" dirty="0"/>
          </a:p>
        </p:txBody>
      </p:sp>
      <p:sp>
        <p:nvSpPr>
          <p:cNvPr id="49" name="Shape 47"/>
          <p:cNvSpPr/>
          <p:nvPr/>
        </p:nvSpPr>
        <p:spPr>
          <a:xfrm>
            <a:off x="658368" y="3401568"/>
            <a:ext cx="10872216" cy="329184"/>
          </a:xfrm>
          <a:prstGeom prst="rect">
            <a:avLst/>
          </a:prstGeom>
          <a:solidFill>
            <a:srgbClr val="F7F7F7"/>
          </a:solidFill>
          <a:ln/>
        </p:spPr>
        <p:txBody>
          <a:bodyPr/>
          <a:p/>
        </p:txBody>
      </p:sp>
      <p:sp>
        <p:nvSpPr>
          <p:cNvPr id="50" name="Text 48"/>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1" name="Text 49"/>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52" name="Text 50"/>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50.0%</a:t>
            </a:r>
            <a:endParaRPr lang="en-US" sz="1400" dirty="0"/>
          </a:p>
        </p:txBody>
      </p:sp>
      <p:sp>
        <p:nvSpPr>
          <p:cNvPr id="53" name="Text 51"/>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54" name="Text 52"/>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55" name="Text 53"/>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299 more a year.</a:t>
            </a:r>
            <a:endParaRPr lang="en-US" sz="1400" dirty="0"/>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LR LV</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$6.61M</a:t>
            </a:r>
            <a:pPr indent="0" marL="0">
              <a:buNone/>
            </a:pPr>
            <a:r>
              <a:rPr lang="en-US" sz="1400" b="1" dirty="0">
                <a:solidFill>
                  <a:srgbClr val="0B7A4A"/>
                </a:solidFill>
                <a:latin typeface="Inter" pitchFamily="34" charset="0"/>
                <a:ea typeface="Inter" pitchFamily="34" charset="-122"/>
                <a:cs typeface="Inter" pitchFamily="34" charset="-120"/>
              </a:rPr>
              <a:t>  +$135K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$2.04M</a:t>
            </a:r>
            <a:pPr indent="0" marL="0">
              <a:buNone/>
            </a:pPr>
            <a:r>
              <a:rPr lang="en-US" sz="1400" b="1" dirty="0">
                <a:solidFill>
                  <a:srgbClr val="0B7A4A"/>
                </a:solidFill>
                <a:latin typeface="Inter" pitchFamily="34" charset="0"/>
                <a:ea typeface="Inter" pitchFamily="34" charset="-122"/>
                <a:cs typeface="Inter" pitchFamily="34" charset="-120"/>
              </a:rPr>
              <a:t>  +$152K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93.7%</a:t>
            </a:r>
            <a:endParaRPr lang="en-US" sz="2200" dirty="0"/>
          </a:p>
        </p:txBody>
      </p:sp>
      <p:sp>
        <p:nvSpPr>
          <p:cNvPr id="14" name="Shape 12"/>
          <p:cNvSpPr/>
          <p:nvPr/>
        </p:nvSpPr>
        <p:spPr>
          <a:xfrm>
            <a:off x="7185660" y="1563624"/>
            <a:ext cx="64008" cy="256032"/>
          </a:xfrm>
          <a:prstGeom prst="rect">
            <a:avLst/>
          </a:prstGeom>
          <a:solidFill>
            <a:srgbClr val="12A566"/>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3,496</a:t>
            </a:r>
            <a:pPr indent="0" marL="0">
              <a:buNone/>
            </a:pPr>
            <a:r>
              <a:rPr lang="en-US" sz="1400" b="1" dirty="0">
                <a:solidFill>
                  <a:srgbClr val="0B7A4A"/>
                </a:solidFill>
                <a:latin typeface="Inter" pitchFamily="34" charset="0"/>
                <a:ea typeface="Inter" pitchFamily="34" charset="-122"/>
                <a:cs typeface="Inter" pitchFamily="34" charset="-120"/>
              </a:rPr>
              <a:t>  +88</a:t>
            </a:r>
            <a:endParaRPr lang="en-US" sz="2200" dirty="0"/>
          </a:p>
        </p:txBody>
      </p:sp>
      <p:sp>
        <p:nvSpPr>
          <p:cNvPr id="19" name="Shape 17"/>
          <p:cNvSpPr/>
          <p:nvPr/>
        </p:nvSpPr>
        <p:spPr>
          <a:xfrm>
            <a:off x="3468624" y="658368"/>
            <a:ext cx="8263128" cy="475488"/>
          </a:xfrm>
          <a:prstGeom prst="rect">
            <a:avLst/>
          </a:prstGeom>
          <a:solidFill>
            <a:srgbClr val="EDF4FA"/>
          </a:solidFill>
          <a:ln/>
        </p:spPr>
        <p:txBody>
          <a:bodyPr/>
          <a:p/>
        </p:txBody>
      </p:sp>
      <p:sp>
        <p:nvSpPr>
          <p:cNvPr id="20" name="Text 18"/>
          <p:cNvSpPr txBox="1"/>
          <p:nvPr/>
        </p:nvSpPr>
        <p:spPr>
          <a:xfrm>
            <a:off x="3596640" y="658368"/>
            <a:ext cx="800709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Brake fluid 20.6%   ·   2nd · Hours per RO 3.99   ·   2nd · CP labor $/RO $931</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1</a:t>
            </a:r>
            <a:endParaRPr lang="en-US" sz="15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Techs under 85%</a:t>
            </a:r>
            <a:endParaRPr lang="en-US" sz="15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8 of 16</a:t>
            </a:r>
            <a:endParaRPr lang="en-US" sz="15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85%</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$758K</a:t>
            </a:r>
            <a:endParaRPr lang="en-US" sz="15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Lift the 8 under 85%: dispatch, parts.</a:t>
            </a:r>
            <a:endParaRPr lang="en-US" sz="15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2</a:t>
            </a:r>
            <a:endParaRPr lang="en-US" sz="15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Parts gross</a:t>
            </a:r>
            <a:endParaRPr lang="en-US" sz="15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$2.52M</a:t>
            </a:r>
            <a:endParaRPr lang="en-US" sz="15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$2.59M</a:t>
            </a:r>
            <a:pPr indent="0" marL="0">
              <a:buNone/>
            </a:pPr>
            <a:r>
              <a:rPr lang="en-US" sz="1500" dirty="0">
                <a:solidFill>
                  <a:srgbClr val="595959"/>
                </a:solidFill>
                <a:latin typeface="Inter" pitchFamily="34" charset="0"/>
                <a:ea typeface="Inter" pitchFamily="34" charset="-122"/>
                <a:cs typeface="Inter" pitchFamily="34" charset="-120"/>
              </a:rPr>
              <a:t> in 2025</a:t>
            </a:r>
            <a:endParaRPr lang="en-US" sz="15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$81K</a:t>
            </a:r>
            <a:endParaRPr lang="en-US" sz="15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Parts on every RO; wholesale that pays.</a:t>
            </a:r>
            <a:endParaRPr lang="en-US" sz="15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3</a:t>
            </a:r>
            <a:endParaRPr lang="en-US" sz="15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Fuel service</a:t>
            </a:r>
            <a:endParaRPr lang="en-US" sz="15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5.5%</a:t>
            </a:r>
            <a:endParaRPr lang="en-US" sz="15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7.5%</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$24K</a:t>
            </a:r>
            <a:endParaRPr lang="en-US" sz="15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Recommend it on every visit: 92 more a year.</a:t>
            </a:r>
            <a:endParaRPr lang="en-US" sz="1500" dirty="0"/>
          </a:p>
        </p:txBody>
      </p:sp>
      <p:sp>
        <p:nvSpPr>
          <p:cNvPr id="48" name="Shape 46"/>
          <p:cNvSpPr/>
          <p:nvPr/>
        </p:nvSpPr>
        <p:spPr>
          <a:xfrm>
            <a:off x="658368" y="3396082"/>
            <a:ext cx="10872216" cy="10973"/>
          </a:xfrm>
          <a:prstGeom prst="rect">
            <a:avLst/>
          </a:prstGeom>
          <a:solidFill>
            <a:srgbClr val="9AA3AD"/>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4</a:t>
            </a:r>
            <a:endParaRPr lang="en-US" sz="15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MPI completion</a:t>
            </a:r>
            <a:endParaRPr lang="en-US" sz="15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71.1%</a:t>
            </a:r>
            <a:endParaRPr lang="en-US" sz="15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90%</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500" dirty="0">
                <a:solidFill>
                  <a:srgbClr val="9AA3AD"/>
                </a:solidFill>
                <a:latin typeface="Inter" pitchFamily="34" charset="0"/>
                <a:ea typeface="Inter" pitchFamily="34" charset="-122"/>
                <a:cs typeface="Inter" pitchFamily="34" charset="-120"/>
              </a:rPr>
              <a:t>—</a:t>
            </a:r>
            <a:endParaRPr lang="en-US" sz="15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MPI every car: 1,567 more a year.</a:t>
            </a:r>
            <a:endParaRPr lang="en-US" sz="1500" dirty="0"/>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LR Reno</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$2.21M</a:t>
            </a:r>
            <a:pPr indent="0" marL="0">
              <a:buNone/>
            </a:pPr>
            <a:r>
              <a:rPr lang="en-US" sz="1400" b="1" dirty="0">
                <a:solidFill>
                  <a:srgbClr val="0B7A4A"/>
                </a:solidFill>
                <a:latin typeface="Inter" pitchFamily="34" charset="0"/>
                <a:ea typeface="Inter" pitchFamily="34" charset="-122"/>
                <a:cs typeface="Inter" pitchFamily="34" charset="-120"/>
              </a:rPr>
              <a:t>  +$157K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$427,953</a:t>
            </a:r>
            <a:pPr indent="0" marL="0">
              <a:buNone/>
            </a:pPr>
            <a:r>
              <a:rPr lang="en-US" sz="1400" b="1" dirty="0">
                <a:solidFill>
                  <a:srgbClr val="0B7A4A"/>
                </a:solidFill>
                <a:latin typeface="Inter" pitchFamily="34" charset="0"/>
                <a:ea typeface="Inter" pitchFamily="34" charset="-122"/>
                <a:cs typeface="Inter" pitchFamily="34" charset="-120"/>
              </a:rPr>
              <a:t>  +$292K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77.3%</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1,421</a:t>
            </a:r>
            <a:pPr indent="0" marL="0">
              <a:buNone/>
            </a:pPr>
            <a:r>
              <a:rPr lang="en-US" sz="1400" b="1" dirty="0">
                <a:solidFill>
                  <a:srgbClr val="0B7A4A"/>
                </a:solidFill>
                <a:latin typeface="Inter" pitchFamily="34" charset="0"/>
                <a:ea typeface="Inter" pitchFamily="34" charset="-122"/>
                <a:cs typeface="Inter" pitchFamily="34" charset="-120"/>
              </a:rPr>
              <a:t>  +118</a:t>
            </a:r>
            <a:endParaRPr lang="en-US" sz="2200" dirty="0"/>
          </a:p>
        </p:txBody>
      </p:sp>
      <p:sp>
        <p:nvSpPr>
          <p:cNvPr id="19" name="Shape 17"/>
          <p:cNvSpPr/>
          <p:nvPr/>
        </p:nvSpPr>
        <p:spPr>
          <a:xfrm>
            <a:off x="7709154" y="658368"/>
            <a:ext cx="4022598" cy="475488"/>
          </a:xfrm>
          <a:prstGeom prst="rect">
            <a:avLst/>
          </a:prstGeom>
          <a:solidFill>
            <a:srgbClr val="EDF4FA"/>
          </a:solidFill>
          <a:ln/>
        </p:spPr>
        <p:txBody>
          <a:bodyPr/>
          <a:p/>
        </p:txBody>
      </p:sp>
      <p:sp>
        <p:nvSpPr>
          <p:cNvPr id="20" name="Text 18"/>
          <p:cNvSpPr txBox="1"/>
          <p:nvPr/>
        </p:nvSpPr>
        <p:spPr>
          <a:xfrm>
            <a:off x="7837170" y="658368"/>
            <a:ext cx="376656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MPI 99.0%   ·   3rd · CP ELR $235</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1</a:t>
            </a:r>
            <a:endParaRPr lang="en-US" sz="15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Techs under 85%</a:t>
            </a:r>
            <a:endParaRPr lang="en-US" sz="15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2 of 6</a:t>
            </a:r>
            <a:endParaRPr lang="en-US" sz="15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85%</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$247K</a:t>
            </a:r>
            <a:endParaRPr lang="en-US" sz="15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Dispatch, staging and approvals: flag 85%.</a:t>
            </a:r>
            <a:endParaRPr lang="en-US" sz="15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2</a:t>
            </a:r>
            <a:endParaRPr lang="en-US" sz="15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Brake fluid</a:t>
            </a:r>
            <a:endParaRPr lang="en-US" sz="15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7.2%</a:t>
            </a:r>
            <a:endParaRPr lang="en-US" sz="15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10%</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$20K</a:t>
            </a:r>
            <a:endParaRPr lang="en-US" sz="15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Recommend it on every visit: 52 more a year.</a:t>
            </a:r>
            <a:endParaRPr lang="en-US" sz="15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3</a:t>
            </a:r>
            <a:endParaRPr lang="en-US" sz="15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Fuel service</a:t>
            </a:r>
            <a:endParaRPr lang="en-US" sz="15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4.5%</a:t>
            </a:r>
            <a:endParaRPr lang="en-US" sz="15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7.5%</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$18K</a:t>
            </a:r>
            <a:endParaRPr lang="en-US" sz="15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Recommend it on every visit: 55 more a year.</a:t>
            </a:r>
            <a:endParaRPr lang="en-US" sz="15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4</a:t>
            </a:r>
            <a:endParaRPr lang="en-US" sz="15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Alignment</a:t>
            </a:r>
            <a:endParaRPr lang="en-US" sz="15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12.8%</a:t>
            </a:r>
            <a:endParaRPr lang="en-US" sz="15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15%</a:t>
            </a:r>
            <a:pPr indent="0" marL="0">
              <a:buNone/>
            </a:pPr>
            <a:r>
              <a:rPr lang="en-US" sz="1500" dirty="0">
                <a:solidFill>
                  <a:srgbClr val="595959"/>
                </a:solidFill>
                <a:latin typeface="Inter" pitchFamily="34" charset="0"/>
                <a:ea typeface="Inter" pitchFamily="34" charset="-122"/>
                <a:cs typeface="Inter" pitchFamily="34" charset="-120"/>
              </a:rPr>
              <a:t> benchmark</a:t>
            </a:r>
            <a:endParaRPr lang="en-US" sz="15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500" b="1" dirty="0">
                <a:solidFill>
                  <a:srgbClr val="0B2C4A"/>
                </a:solidFill>
                <a:latin typeface="Inter" pitchFamily="34" charset="0"/>
                <a:ea typeface="Inter" pitchFamily="34" charset="-122"/>
                <a:cs typeface="Inter" pitchFamily="34" charset="-120"/>
              </a:rPr>
              <a:t>$10K</a:t>
            </a:r>
            <a:endParaRPr lang="en-US" sz="15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Recommend it on every visit: 40 more a year.</a:t>
            </a:r>
            <a:endParaRPr lang="en-US" sz="1500" dirty="0"/>
          </a:p>
        </p:txBody>
      </p:sp>
      <p:sp>
        <p:nvSpPr>
          <p:cNvPr id="55" name="Shape 53"/>
          <p:cNvSpPr/>
          <p:nvPr/>
        </p:nvSpPr>
        <p:spPr>
          <a:xfrm>
            <a:off x="658368" y="3725266"/>
            <a:ext cx="10872216" cy="10973"/>
          </a:xfrm>
          <a:prstGeom prst="rect">
            <a:avLst/>
          </a:prstGeom>
          <a:solidFill>
            <a:srgbClr val="9AA3AD"/>
          </a:solidFill>
          <a:ln/>
        </p:spPr>
        <p:txBody>
          <a:bodyPr/>
          <a:p/>
        </p:txBody>
      </p:sp>
      <p:sp>
        <p:nvSpPr>
          <p:cNvPr id="56" name="Text 54"/>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500" b="1" dirty="0">
                <a:solidFill>
                  <a:srgbClr val="5B9BD5"/>
                </a:solidFill>
                <a:latin typeface="Inter" pitchFamily="34" charset="0"/>
                <a:ea typeface="Inter" pitchFamily="34" charset="-122"/>
                <a:cs typeface="Inter" pitchFamily="34" charset="-120"/>
              </a:rPr>
              <a:t>5</a:t>
            </a:r>
            <a:endParaRPr lang="en-US" sz="1500" dirty="0"/>
          </a:p>
        </p:txBody>
      </p:sp>
      <p:sp>
        <p:nvSpPr>
          <p:cNvPr id="57" name="Text 55"/>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Fixed gross/head</a:t>
            </a:r>
            <a:endParaRPr lang="en-US" sz="1500" dirty="0"/>
          </a:p>
        </p:txBody>
      </p:sp>
      <p:sp>
        <p:nvSpPr>
          <p:cNvPr id="58" name="Text 56"/>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500" b="1" dirty="0">
                <a:solidFill>
                  <a:srgbClr val="1A1A1A"/>
                </a:solidFill>
                <a:latin typeface="Inter" pitchFamily="34" charset="0"/>
                <a:ea typeface="Inter" pitchFamily="34" charset="-122"/>
                <a:cs typeface="Inter" pitchFamily="34" charset="-120"/>
              </a:rPr>
              <a:t>$15,226</a:t>
            </a:r>
            <a:endParaRPr lang="en-US" sz="1500" dirty="0"/>
          </a:p>
        </p:txBody>
      </p:sp>
      <p:sp>
        <p:nvSpPr>
          <p:cNvPr id="59" name="Text 57"/>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500" b="1" dirty="0">
                <a:solidFill>
                  <a:srgbClr val="595959"/>
                </a:solidFill>
                <a:latin typeface="Inter" pitchFamily="34" charset="0"/>
                <a:ea typeface="Inter" pitchFamily="34" charset="-122"/>
                <a:cs typeface="Inter" pitchFamily="34" charset="-120"/>
              </a:rPr>
              <a:t>$16,998</a:t>
            </a:r>
            <a:pPr indent="0" marL="0">
              <a:buNone/>
            </a:pPr>
            <a:r>
              <a:rPr lang="en-US" sz="1500" dirty="0">
                <a:solidFill>
                  <a:srgbClr val="595959"/>
                </a:solidFill>
                <a:latin typeface="Inter" pitchFamily="34" charset="0"/>
                <a:ea typeface="Inter" pitchFamily="34" charset="-122"/>
                <a:cs typeface="Inter" pitchFamily="34" charset="-120"/>
              </a:rPr>
              <a:t> peer avg</a:t>
            </a:r>
            <a:endParaRPr lang="en-US" sz="1500" dirty="0"/>
          </a:p>
        </p:txBody>
      </p:sp>
      <p:sp>
        <p:nvSpPr>
          <p:cNvPr id="60" name="Text 58"/>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500" dirty="0">
                <a:solidFill>
                  <a:srgbClr val="9AA3AD"/>
                </a:solidFill>
                <a:latin typeface="Inter" pitchFamily="34" charset="0"/>
                <a:ea typeface="Inter" pitchFamily="34" charset="-122"/>
                <a:cs typeface="Inter" pitchFamily="34" charset="-120"/>
              </a:rPr>
              <a:t>—</a:t>
            </a:r>
            <a:endParaRPr lang="en-US" sz="1500" dirty="0"/>
          </a:p>
        </p:txBody>
      </p:sp>
      <p:sp>
        <p:nvSpPr>
          <p:cNvPr id="61" name="Text 59"/>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Staff to gross: 1.7 heads over peer avg.</a:t>
            </a:r>
            <a:endParaRPr lang="en-US" sz="1500" dirty="0"/>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Mazda</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$3.31M</a:t>
            </a:r>
            <a:pPr indent="0" marL="0">
              <a:buNone/>
            </a:pPr>
            <a:r>
              <a:rPr lang="en-US" sz="1400" b="1" dirty="0">
                <a:solidFill>
                  <a:srgbClr val="0B7A4A"/>
                </a:solidFill>
                <a:latin typeface="Inter" pitchFamily="34" charset="0"/>
                <a:ea typeface="Inter" pitchFamily="34" charset="-122"/>
                <a:cs typeface="Inter" pitchFamily="34" charset="-120"/>
              </a:rPr>
              <a:t>  +$120K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$985,141</a:t>
            </a:r>
            <a:pPr indent="0" marL="0">
              <a:buNone/>
            </a:pPr>
            <a:r>
              <a:rPr lang="en-US" sz="1400" b="1" dirty="0">
                <a:solidFill>
                  <a:srgbClr val="A82B26"/>
                </a:solidFill>
                <a:latin typeface="Inter" pitchFamily="34" charset="0"/>
                <a:ea typeface="Inter" pitchFamily="34" charset="-122"/>
                <a:cs typeface="Inter" pitchFamily="34" charset="-120"/>
              </a:rPr>
              <a:t>  −$87K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78.4%</a:t>
            </a:r>
            <a:endParaRPr lang="en-US" sz="2200" dirty="0"/>
          </a:p>
        </p:txBody>
      </p:sp>
      <p:sp>
        <p:nvSpPr>
          <p:cNvPr id="14" name="Shape 12"/>
          <p:cNvSpPr/>
          <p:nvPr/>
        </p:nvSpPr>
        <p:spPr>
          <a:xfrm>
            <a:off x="7185660" y="1563624"/>
            <a:ext cx="64008" cy="256032"/>
          </a:xfrm>
          <a:prstGeom prst="rect">
            <a:avLst/>
          </a:prstGeom>
          <a:solidFill>
            <a:srgbClr val="12A566"/>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5,701</a:t>
            </a:r>
            <a:pPr indent="0" marL="0">
              <a:buNone/>
            </a:pPr>
            <a:r>
              <a:rPr lang="en-US" sz="1400" b="1" dirty="0">
                <a:solidFill>
                  <a:srgbClr val="0B7A4A"/>
                </a:solidFill>
                <a:latin typeface="Inter" pitchFamily="34" charset="0"/>
                <a:ea typeface="Inter" pitchFamily="34" charset="-122"/>
                <a:cs typeface="Inter" pitchFamily="34" charset="-120"/>
              </a:rPr>
              <a:t>  +180</a:t>
            </a:r>
            <a:endParaRPr lang="en-US" sz="2200" dirty="0"/>
          </a:p>
        </p:txBody>
      </p:sp>
      <p:sp>
        <p:nvSpPr>
          <p:cNvPr id="19" name="Shape 17"/>
          <p:cNvSpPr/>
          <p:nvPr/>
        </p:nvSpPr>
        <p:spPr>
          <a:xfrm>
            <a:off x="7709154" y="658368"/>
            <a:ext cx="4022598" cy="475488"/>
          </a:xfrm>
          <a:prstGeom prst="rect">
            <a:avLst/>
          </a:prstGeom>
          <a:solidFill>
            <a:srgbClr val="EDF4FA"/>
          </a:solidFill>
          <a:ln/>
        </p:spPr>
        <p:txBody>
          <a:bodyPr/>
          <a:p/>
        </p:txBody>
      </p:sp>
      <p:sp>
        <p:nvSpPr>
          <p:cNvPr id="20" name="Text 18"/>
          <p:cNvSpPr txBox="1"/>
          <p:nvPr/>
        </p:nvSpPr>
        <p:spPr>
          <a:xfrm>
            <a:off x="7837170" y="658368"/>
            <a:ext cx="376656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YOUR BEST PLACES</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4th · Video 89.0%   ·   5th · MPI 97.0%</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1.46</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$403K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+0.29 hr per RO.</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$238</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$167K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 of 11</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$103K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4 under 85%: dispatch, parts.</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5.2%</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$26K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174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8.4%</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$18K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115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13.1%</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$11K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138 more a year.</a:t>
            </a:r>
            <a:endParaRPr lang="en-US" sz="1400" dirty="0"/>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Nissan</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$4.78M</a:t>
            </a:r>
            <a:pPr indent="0" marL="0">
              <a:buNone/>
            </a:pPr>
            <a:r>
              <a:rPr lang="en-US" sz="1400" b="1" dirty="0">
                <a:solidFill>
                  <a:srgbClr val="0B7A4A"/>
                </a:solidFill>
                <a:latin typeface="Inter" pitchFamily="34" charset="0"/>
                <a:ea typeface="Inter" pitchFamily="34" charset="-122"/>
                <a:cs typeface="Inter" pitchFamily="34" charset="-120"/>
              </a:rPr>
              <a:t>  +$445K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$677,269</a:t>
            </a:r>
            <a:pPr indent="0" marL="0">
              <a:buNone/>
            </a:pPr>
            <a:r>
              <a:rPr lang="en-US" sz="1400" b="1" dirty="0">
                <a:solidFill>
                  <a:srgbClr val="0B7A4A"/>
                </a:solidFill>
                <a:latin typeface="Inter" pitchFamily="34" charset="0"/>
                <a:ea typeface="Inter" pitchFamily="34" charset="-122"/>
                <a:cs typeface="Inter" pitchFamily="34" charset="-120"/>
              </a:rPr>
              <a:t>  +$134K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70.6%</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6,973</a:t>
            </a:r>
            <a:pPr indent="0" marL="0">
              <a:buNone/>
            </a:pPr>
            <a:r>
              <a:rPr lang="en-US" sz="1400" b="1" dirty="0">
                <a:solidFill>
                  <a:srgbClr val="A82B26"/>
                </a:solidFill>
                <a:latin typeface="Inter" pitchFamily="34" charset="0"/>
                <a:ea typeface="Inter" pitchFamily="34" charset="-122"/>
                <a:cs typeface="Inter" pitchFamily="34" charset="-120"/>
              </a:rPr>
              <a:t>  −430</a:t>
            </a:r>
            <a:endParaRPr lang="en-US" sz="2200" dirty="0"/>
          </a:p>
        </p:txBody>
      </p:sp>
      <p:sp>
        <p:nvSpPr>
          <p:cNvPr id="19" name="Shape 17"/>
          <p:cNvSpPr/>
          <p:nvPr/>
        </p:nvSpPr>
        <p:spPr>
          <a:xfrm>
            <a:off x="7709154" y="658368"/>
            <a:ext cx="4022598" cy="475488"/>
          </a:xfrm>
          <a:prstGeom prst="rect">
            <a:avLst/>
          </a:prstGeom>
          <a:solidFill>
            <a:srgbClr val="EDF4FA"/>
          </a:solidFill>
          <a:ln/>
        </p:spPr>
        <p:txBody>
          <a:bodyPr/>
          <a:p/>
        </p:txBody>
      </p:sp>
      <p:sp>
        <p:nvSpPr>
          <p:cNvPr id="20" name="Text 18"/>
          <p:cNvSpPr txBox="1"/>
          <p:nvPr/>
        </p:nvSpPr>
        <p:spPr>
          <a:xfrm>
            <a:off x="7837170" y="658368"/>
            <a:ext cx="376656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YOUR BEST PLACES</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4th · CP ELR +$22   ·   5th · MPI 97.0%</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 of 17</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$509K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8 under 85%: dispatch, parts.</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6,973</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7,403</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$196K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573 more ROs.</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7.4%</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$83K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700 more a year.</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$77K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1,296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4.1%</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$64K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308 more a year.</a:t>
            </a:r>
            <a:endParaRPr lang="en-US" sz="1400" dirty="0"/>
          </a:p>
        </p:txBody>
      </p:sp>
      <p:sp>
        <p:nvSpPr>
          <p:cNvPr id="61" name="Shape 59"/>
          <p:cNvSpPr/>
          <p:nvPr/>
        </p:nvSpPr>
        <p:spPr>
          <a:xfrm>
            <a:off x="658368" y="4054450"/>
            <a:ext cx="10872216" cy="10973"/>
          </a:xfrm>
          <a:prstGeom prst="rect">
            <a:avLst/>
          </a:prstGeom>
          <a:solidFill>
            <a:srgbClr val="9AA3AD"/>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41.9%</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1,995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$11,957</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2.6 heads over peer avg.</a:t>
            </a:r>
            <a:endParaRPr lang="en-US" sz="1400" dirty="0"/>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Subaru LV</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$10.08M</a:t>
            </a:r>
            <a:pPr indent="0" marL="0">
              <a:buNone/>
            </a:pPr>
            <a:r>
              <a:rPr lang="en-US" sz="1400" b="1" dirty="0">
                <a:solidFill>
                  <a:srgbClr val="A82B26"/>
                </a:solidFill>
                <a:latin typeface="Inter" pitchFamily="34" charset="0"/>
                <a:ea typeface="Inter" pitchFamily="34" charset="-122"/>
                <a:cs typeface="Inter" pitchFamily="34" charset="-120"/>
              </a:rPr>
              <a:t>  −$499K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$2.94M</a:t>
            </a:r>
            <a:pPr indent="0" marL="0">
              <a:buNone/>
            </a:pPr>
            <a:r>
              <a:rPr lang="en-US" sz="1400" b="1" dirty="0">
                <a:solidFill>
                  <a:srgbClr val="0B7A4A"/>
                </a:solidFill>
                <a:latin typeface="Inter" pitchFamily="34" charset="0"/>
                <a:ea typeface="Inter" pitchFamily="34" charset="-122"/>
                <a:cs typeface="Inter" pitchFamily="34" charset="-120"/>
              </a:rPr>
              <a:t>  +$6K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86.0%</a:t>
            </a:r>
            <a:endParaRPr lang="en-US" sz="2200" dirty="0"/>
          </a:p>
        </p:txBody>
      </p:sp>
      <p:sp>
        <p:nvSpPr>
          <p:cNvPr id="14" name="Shape 12"/>
          <p:cNvSpPr/>
          <p:nvPr/>
        </p:nvSpPr>
        <p:spPr>
          <a:xfrm>
            <a:off x="7185660" y="1563624"/>
            <a:ext cx="64008" cy="256032"/>
          </a:xfrm>
          <a:prstGeom prst="rect">
            <a:avLst/>
          </a:prstGeom>
          <a:solidFill>
            <a:srgbClr val="12A566"/>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14,250</a:t>
            </a:r>
            <a:pPr indent="0" marL="0">
              <a:buNone/>
            </a:pPr>
            <a:r>
              <a:rPr lang="en-US" sz="1400" b="1" dirty="0">
                <a:solidFill>
                  <a:srgbClr val="A82B26"/>
                </a:solidFill>
                <a:latin typeface="Inter" pitchFamily="34" charset="0"/>
                <a:ea typeface="Inter" pitchFamily="34" charset="-122"/>
                <a:cs typeface="Inter" pitchFamily="34" charset="-120"/>
              </a:rPr>
              <a:t>  −574</a:t>
            </a:r>
            <a:endParaRPr lang="en-US" sz="2200" dirty="0"/>
          </a:p>
        </p:txBody>
      </p:sp>
      <p:sp>
        <p:nvSpPr>
          <p:cNvPr id="19" name="Shape 17"/>
          <p:cNvSpPr/>
          <p:nvPr/>
        </p:nvSpPr>
        <p:spPr>
          <a:xfrm>
            <a:off x="9404096" y="658368"/>
            <a:ext cx="2327656" cy="475488"/>
          </a:xfrm>
          <a:prstGeom prst="rect">
            <a:avLst/>
          </a:prstGeom>
          <a:solidFill>
            <a:srgbClr val="EDF4FA"/>
          </a:solidFill>
          <a:ln/>
        </p:spPr>
        <p:txBody>
          <a:bodyPr/>
          <a:p/>
        </p:txBody>
      </p:sp>
      <p:sp>
        <p:nvSpPr>
          <p:cNvPr id="20" name="Text 18"/>
          <p:cNvSpPr txBox="1"/>
          <p:nvPr/>
        </p:nvSpPr>
        <p:spPr>
          <a:xfrm>
            <a:off x="9532112" y="658368"/>
            <a:ext cx="207162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2nd · Video 92.0%</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 of 27</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$524K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11 under 85%: dispatch, parts.</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$3.83M</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$4.11M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$383K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$6.26M</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$6.47M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$282K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14,250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14,824</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$262K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765 more ROs.</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10.2%</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$68K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909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40.2%</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$13K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7.0%</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78 more a year.</a:t>
            </a:r>
            <a:endParaRPr lang="en-US" sz="1400" dirty="0"/>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Subaru Prescott</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$2.70M</a:t>
            </a:r>
            <a:pPr indent="0" marL="0">
              <a:buNone/>
            </a:pPr>
            <a:r>
              <a:rPr lang="en-US" sz="1400" b="1" dirty="0">
                <a:solidFill>
                  <a:srgbClr val="0B7A4A"/>
                </a:solidFill>
                <a:latin typeface="Inter" pitchFamily="34" charset="0"/>
                <a:ea typeface="Inter" pitchFamily="34" charset="-122"/>
                <a:cs typeface="Inter" pitchFamily="34" charset="-120"/>
              </a:rPr>
              <a:t>  +$368K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$128,541</a:t>
            </a:r>
            <a:pPr indent="0" marL="0">
              <a:buNone/>
            </a:pPr>
            <a:r>
              <a:rPr lang="en-US" sz="1400" b="1" dirty="0">
                <a:solidFill>
                  <a:srgbClr val="0B7A4A"/>
                </a:solidFill>
                <a:latin typeface="Inter" pitchFamily="34" charset="0"/>
                <a:ea typeface="Inter" pitchFamily="34" charset="-122"/>
                <a:cs typeface="Inter" pitchFamily="34" charset="-120"/>
              </a:rPr>
              <a:t>  +$183K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51.4%</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5,105</a:t>
            </a:r>
            <a:pPr indent="0" marL="0">
              <a:buNone/>
            </a:pPr>
            <a:r>
              <a:rPr lang="en-US" sz="1400" b="1" dirty="0">
                <a:solidFill>
                  <a:srgbClr val="0B7A4A"/>
                </a:solidFill>
                <a:latin typeface="Inter" pitchFamily="34" charset="0"/>
                <a:ea typeface="Inter" pitchFamily="34" charset="-122"/>
                <a:cs typeface="Inter" pitchFamily="34" charset="-120"/>
              </a:rPr>
              <a:t>  +367</a:t>
            </a:r>
            <a:endParaRPr lang="en-US" sz="2200" dirty="0"/>
          </a:p>
        </p:txBody>
      </p:sp>
      <p:sp>
        <p:nvSpPr>
          <p:cNvPr id="19" name="Shape 17"/>
          <p:cNvSpPr/>
          <p:nvPr/>
        </p:nvSpPr>
        <p:spPr>
          <a:xfrm>
            <a:off x="9216898" y="658368"/>
            <a:ext cx="2514854" cy="475488"/>
          </a:xfrm>
          <a:prstGeom prst="rect">
            <a:avLst/>
          </a:prstGeom>
          <a:solidFill>
            <a:srgbClr val="EDF4FA"/>
          </a:solidFill>
          <a:ln/>
        </p:spPr>
        <p:txBody>
          <a:bodyPr/>
          <a:p/>
        </p:txBody>
      </p:sp>
      <p:sp>
        <p:nvSpPr>
          <p:cNvPr id="20" name="Text 18"/>
          <p:cNvSpPr txBox="1"/>
          <p:nvPr/>
        </p:nvSpPr>
        <p:spPr>
          <a:xfrm>
            <a:off x="9344914" y="658368"/>
            <a:ext cx="2258822"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3rd · Fuel service 9.7%</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 of 12</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$691K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6 under 85%: dispatch, parts.</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$222</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$212K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1.60</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$185K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+0.15 hr per RO.</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34.8%</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$81K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ELR</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$140</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$147</a:t>
            </a:r>
            <a:pPr indent="0" marL="0">
              <a:buNone/>
            </a:pPr>
            <a:r>
              <a:rPr lang="en-US" sz="1400" dirty="0">
                <a:solidFill>
                  <a:srgbClr val="595959"/>
                </a:solidFill>
                <a:latin typeface="Inter" pitchFamily="34" charset="0"/>
                <a:ea typeface="Inter" pitchFamily="34" charset="-122"/>
                <a:cs typeface="Inter" pitchFamily="34" charset="-120"/>
              </a:rPr>
              <a:t> 70% of door</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$78K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Charge the posted rate; control discounts.</a:t>
            </a:r>
            <a:endParaRPr lang="en-US" sz="1400" dirty="0"/>
          </a:p>
        </p:txBody>
      </p:sp>
      <p:sp>
        <p:nvSpPr>
          <p:cNvPr id="61" name="Shape 59"/>
          <p:cNvSpPr/>
          <p:nvPr/>
        </p:nvSpPr>
        <p:spPr>
          <a:xfrm>
            <a:off x="658368" y="4059936"/>
            <a:ext cx="10872216" cy="329184"/>
          </a:xfrm>
          <a:prstGeom prst="rect">
            <a:avLst/>
          </a:prstGeom>
          <a:solidFill>
            <a:srgbClr val="F7F7F7"/>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GP %</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74.1%</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78%</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$58K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Right tech, right work; review discounts.</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12.5%</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165 more a year.</a:t>
            </a:r>
            <a:endParaRPr lang="en-US" sz="1400" dirty="0"/>
          </a:p>
        </p:txBody>
      </p:sp>
      <p:sp>
        <p:nvSpPr>
          <p:cNvPr id="74" name="Shape 72"/>
          <p:cNvSpPr/>
          <p:nvPr/>
        </p:nvSpPr>
        <p:spPr>
          <a:xfrm>
            <a:off x="658368" y="4712818"/>
            <a:ext cx="10872216" cy="10973"/>
          </a:xfrm>
          <a:prstGeom prst="rect">
            <a:avLst/>
          </a:prstGeom>
          <a:solidFill>
            <a:srgbClr val="9AA3AD"/>
          </a:solidFill>
          <a:ln/>
        </p:spPr>
        <p:txBody>
          <a:bodyPr/>
          <a:p/>
        </p:txBody>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54.2%</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395 more a year.</a:t>
            </a:r>
            <a:endParaRPr lang="en-US" sz="1400" dirty="0"/>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Subaru St George</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$3.52M</a:t>
            </a:r>
            <a:pPr indent="0" marL="0">
              <a:buNone/>
            </a:pPr>
            <a:r>
              <a:rPr lang="en-US" sz="1400" b="1" dirty="0">
                <a:solidFill>
                  <a:srgbClr val="0B7A4A"/>
                </a:solidFill>
                <a:latin typeface="Inter" pitchFamily="34" charset="0"/>
                <a:ea typeface="Inter" pitchFamily="34" charset="-122"/>
                <a:cs typeface="Inter" pitchFamily="34" charset="-120"/>
              </a:rPr>
              <a:t>  +$472K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$1.17M</a:t>
            </a:r>
            <a:pPr indent="0" marL="0">
              <a:buNone/>
            </a:pPr>
            <a:r>
              <a:rPr lang="en-US" sz="1400" b="1" dirty="0">
                <a:solidFill>
                  <a:srgbClr val="0B7A4A"/>
                </a:solidFill>
                <a:latin typeface="Inter" pitchFamily="34" charset="0"/>
                <a:ea typeface="Inter" pitchFamily="34" charset="-122"/>
                <a:cs typeface="Inter" pitchFamily="34" charset="-120"/>
              </a:rPr>
              <a:t>  +$113K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84.5%</a:t>
            </a:r>
            <a:endParaRPr lang="en-US" sz="2200" dirty="0"/>
          </a:p>
        </p:txBody>
      </p:sp>
      <p:sp>
        <p:nvSpPr>
          <p:cNvPr id="14" name="Shape 12"/>
          <p:cNvSpPr/>
          <p:nvPr/>
        </p:nvSpPr>
        <p:spPr>
          <a:xfrm>
            <a:off x="7185660" y="1563624"/>
            <a:ext cx="64008" cy="256032"/>
          </a:xfrm>
          <a:prstGeom prst="rect">
            <a:avLst/>
          </a:prstGeom>
          <a:solidFill>
            <a:srgbClr val="12A566"/>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5,553</a:t>
            </a:r>
            <a:pPr indent="0" marL="0">
              <a:buNone/>
            </a:pPr>
            <a:r>
              <a:rPr lang="en-US" sz="1400" b="1" dirty="0">
                <a:solidFill>
                  <a:srgbClr val="0B7A4A"/>
                </a:solidFill>
                <a:latin typeface="Inter" pitchFamily="34" charset="0"/>
                <a:ea typeface="Inter" pitchFamily="34" charset="-122"/>
                <a:cs typeface="Inter" pitchFamily="34" charset="-120"/>
              </a:rPr>
              <a:t>  +511</a:t>
            </a:r>
            <a:endParaRPr lang="en-US" sz="2200" dirty="0"/>
          </a:p>
        </p:txBody>
      </p:sp>
      <p:sp>
        <p:nvSpPr>
          <p:cNvPr id="19" name="Shape 17"/>
          <p:cNvSpPr/>
          <p:nvPr/>
        </p:nvSpPr>
        <p:spPr>
          <a:xfrm>
            <a:off x="6201410" y="658368"/>
            <a:ext cx="5530342" cy="475488"/>
          </a:xfrm>
          <a:prstGeom prst="rect">
            <a:avLst/>
          </a:prstGeom>
          <a:solidFill>
            <a:srgbClr val="EDF4FA"/>
          </a:solidFill>
          <a:ln/>
        </p:spPr>
        <p:txBody>
          <a:bodyPr/>
          <a:p/>
        </p:txBody>
      </p:sp>
      <p:sp>
        <p:nvSpPr>
          <p:cNvPr id="20" name="Text 18"/>
          <p:cNvSpPr txBox="1"/>
          <p:nvPr/>
        </p:nvSpPr>
        <p:spPr>
          <a:xfrm>
            <a:off x="6329426" y="658368"/>
            <a:ext cx="5274310"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Fuel service 13.8%   ·   1st · Hours per RO +0.55</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 of 12</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$265K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3 under 85%: dispatch, parts.</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3.6%</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$125K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837 more a year.</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GP %</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73.9%</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78%</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$98K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Right tech, right work; review discounts.</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11.0%</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$23K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291 more a year.</a:t>
            </a:r>
            <a:endParaRPr lang="en-US" sz="1400" dirty="0"/>
          </a:p>
        </p:txBody>
      </p:sp>
      <p:sp>
        <p:nvSpPr>
          <p:cNvPr id="55" name="Shape 53"/>
          <p:cNvSpPr/>
          <p:nvPr/>
        </p:nvSpPr>
        <p:spPr>
          <a:xfrm>
            <a:off x="658368" y="3725266"/>
            <a:ext cx="10872216" cy="10973"/>
          </a:xfrm>
          <a:prstGeom prst="rect">
            <a:avLst/>
          </a:prstGeom>
          <a:solidFill>
            <a:srgbClr val="9AA3AD"/>
          </a:solidFill>
          <a:ln/>
        </p:spPr>
        <p:txBody>
          <a:bodyPr/>
          <a:p/>
        </p:txBody>
      </p:sp>
      <p:sp>
        <p:nvSpPr>
          <p:cNvPr id="56" name="Text 54"/>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7" name="Text 55"/>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58" name="Text 56"/>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89.0%</a:t>
            </a:r>
            <a:endParaRPr lang="en-US" sz="1400" dirty="0"/>
          </a:p>
        </p:txBody>
      </p:sp>
      <p:sp>
        <p:nvSpPr>
          <p:cNvPr id="59" name="Text 57"/>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0" name="Text 58"/>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61" name="Text 59"/>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106 more a year.</a:t>
            </a:r>
            <a:endParaRPr lang="en-US" sz="1400" dirty="0"/>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Toyota Flagstaff</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$4.47M</a:t>
            </a:r>
            <a:pPr indent="0" marL="0">
              <a:buNone/>
            </a:pPr>
            <a:r>
              <a:rPr lang="en-US" sz="1400" b="1" dirty="0">
                <a:solidFill>
                  <a:srgbClr val="0B7A4A"/>
                </a:solidFill>
                <a:latin typeface="Inter" pitchFamily="34" charset="0"/>
                <a:ea typeface="Inter" pitchFamily="34" charset="-122"/>
                <a:cs typeface="Inter" pitchFamily="34" charset="-120"/>
              </a:rPr>
              <a:t>  +$422K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$901,549</a:t>
            </a:r>
            <a:pPr indent="0" marL="0">
              <a:buNone/>
            </a:pPr>
            <a:r>
              <a:rPr lang="en-US" sz="1400" b="1" dirty="0">
                <a:solidFill>
                  <a:srgbClr val="0B7A4A"/>
                </a:solidFill>
                <a:latin typeface="Inter" pitchFamily="34" charset="0"/>
                <a:ea typeface="Inter" pitchFamily="34" charset="-122"/>
                <a:cs typeface="Inter" pitchFamily="34" charset="-120"/>
              </a:rPr>
              <a:t>  +$131K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70.0%</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15,141</a:t>
            </a:r>
            <a:pPr indent="0" marL="0">
              <a:buNone/>
            </a:pPr>
            <a:r>
              <a:rPr lang="en-US" sz="1400" b="1" dirty="0">
                <a:solidFill>
                  <a:srgbClr val="0B7A4A"/>
                </a:solidFill>
                <a:latin typeface="Inter" pitchFamily="34" charset="0"/>
                <a:ea typeface="Inter" pitchFamily="34" charset="-122"/>
                <a:cs typeface="Inter" pitchFamily="34" charset="-120"/>
              </a:rPr>
              <a:t>  +798</a:t>
            </a:r>
            <a:endParaRPr lang="en-US" sz="2200" dirty="0"/>
          </a:p>
        </p:txBody>
      </p:sp>
      <p:sp>
        <p:nvSpPr>
          <p:cNvPr id="19" name="Shape 17"/>
          <p:cNvSpPr/>
          <p:nvPr/>
        </p:nvSpPr>
        <p:spPr>
          <a:xfrm>
            <a:off x="9404096" y="658368"/>
            <a:ext cx="2327656" cy="475488"/>
          </a:xfrm>
          <a:prstGeom prst="rect">
            <a:avLst/>
          </a:prstGeom>
          <a:solidFill>
            <a:srgbClr val="EDF4FA"/>
          </a:solidFill>
          <a:ln/>
        </p:spPr>
        <p:txBody>
          <a:bodyPr/>
          <a:p/>
        </p:txBody>
      </p:sp>
      <p:sp>
        <p:nvSpPr>
          <p:cNvPr id="20" name="Text 18"/>
          <p:cNvSpPr txBox="1"/>
          <p:nvPr/>
        </p:nvSpPr>
        <p:spPr>
          <a:xfrm>
            <a:off x="9532112" y="658368"/>
            <a:ext cx="207162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3rd · CP ROs +798</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1.41</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$1.26M</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+0.34 hr per RO.</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$201</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$1.01M</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 of 18</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$126K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6 under 85%: dispatch, parts.</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4.9%</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$109K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2,031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1.6%</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$109K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1,173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36.9%</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$108K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9.7%</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$90K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1,066 more a year.</a:t>
            </a:r>
            <a:endParaRPr lang="en-US" sz="1400" dirty="0"/>
          </a:p>
        </p:txBody>
      </p:sp>
      <p:sp>
        <p:nvSpPr>
          <p:cNvPr id="74" name="Shape 72"/>
          <p:cNvSpPr/>
          <p:nvPr/>
        </p:nvSpPr>
        <p:spPr>
          <a:xfrm>
            <a:off x="658368" y="4718304"/>
            <a:ext cx="10872216" cy="329184"/>
          </a:xfrm>
          <a:prstGeom prst="rect">
            <a:avLst/>
          </a:prstGeom>
          <a:solidFill>
            <a:srgbClr val="F7F7F7"/>
          </a:solidFill>
          <a:ln/>
        </p:spPr>
        <p:txBody>
          <a:bodyPr/>
          <a:p/>
        </p:txBody>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8.0%</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$48K</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389 more a year.</a:t>
            </a:r>
            <a:endParaRPr lang="en-US" sz="1400" dirty="0"/>
          </a:p>
        </p:txBody>
      </p:sp>
      <p:sp>
        <p:nvSpPr>
          <p:cNvPr id="81" name="Shape 79"/>
          <p:cNvSpPr/>
          <p:nvPr/>
        </p:nvSpPr>
        <p:spPr>
          <a:xfrm>
            <a:off x="658368" y="5042002"/>
            <a:ext cx="10872216" cy="10973"/>
          </a:xfrm>
          <a:prstGeom prst="rect">
            <a:avLst/>
          </a:prstGeom>
          <a:solidFill>
            <a:srgbClr val="9AA3AD"/>
          </a:solidFill>
          <a:ln/>
        </p:spPr>
        <p:txBody>
          <a:bodyPr/>
          <a:p/>
        </p:txBody>
      </p:sp>
      <p:sp>
        <p:nvSpPr>
          <p:cNvPr id="82" name="Text 80"/>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3" name="Text 81"/>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84" name="Text 82"/>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$10,794</a:t>
            </a:r>
            <a:endParaRPr lang="en-US" sz="1400" dirty="0"/>
          </a:p>
        </p:txBody>
      </p:sp>
      <p:sp>
        <p:nvSpPr>
          <p:cNvPr id="85" name="Text 83"/>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86" name="Text 84"/>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7" name="Text 85"/>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6.9 heads over peer avg.</a:t>
            </a:r>
            <a:endParaRPr lang="en-US" sz="1400" dirty="0"/>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Toyota Henderson</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$22.59M</a:t>
            </a:r>
            <a:pPr indent="0" marL="0">
              <a:buNone/>
            </a:pPr>
            <a:r>
              <a:rPr lang="en-US" sz="1400" b="1" dirty="0">
                <a:solidFill>
                  <a:srgbClr val="0B7A4A"/>
                </a:solidFill>
                <a:latin typeface="Inter" pitchFamily="34" charset="0"/>
                <a:ea typeface="Inter" pitchFamily="34" charset="-122"/>
                <a:cs typeface="Inter" pitchFamily="34" charset="-120"/>
              </a:rPr>
              <a:t>  +$1.77M</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$7.83M</a:t>
            </a:r>
            <a:pPr indent="0" marL="0">
              <a:buNone/>
            </a:pPr>
            <a:r>
              <a:rPr lang="en-US" sz="1400" b="1" dirty="0">
                <a:solidFill>
                  <a:srgbClr val="0B7A4A"/>
                </a:solidFill>
                <a:latin typeface="Inter" pitchFamily="34" charset="0"/>
                <a:ea typeface="Inter" pitchFamily="34" charset="-122"/>
                <a:cs typeface="Inter" pitchFamily="34" charset="-120"/>
              </a:rPr>
              <a:t>  +$1.42M</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79.6%</a:t>
            </a:r>
            <a:endParaRPr lang="en-US" sz="2200" dirty="0"/>
          </a:p>
        </p:txBody>
      </p:sp>
      <p:sp>
        <p:nvSpPr>
          <p:cNvPr id="14" name="Shape 12"/>
          <p:cNvSpPr/>
          <p:nvPr/>
        </p:nvSpPr>
        <p:spPr>
          <a:xfrm>
            <a:off x="7185660" y="1563624"/>
            <a:ext cx="64008" cy="256032"/>
          </a:xfrm>
          <a:prstGeom prst="rect">
            <a:avLst/>
          </a:prstGeom>
          <a:solidFill>
            <a:srgbClr val="12A566"/>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53,084</a:t>
            </a:r>
            <a:pPr indent="0" marL="0">
              <a:buNone/>
            </a:pPr>
            <a:r>
              <a:rPr lang="en-US" sz="1400" b="1" dirty="0">
                <a:solidFill>
                  <a:srgbClr val="0B7A4A"/>
                </a:solidFill>
                <a:latin typeface="Inter" pitchFamily="34" charset="0"/>
                <a:ea typeface="Inter" pitchFamily="34" charset="-122"/>
                <a:cs typeface="Inter" pitchFamily="34" charset="-120"/>
              </a:rPr>
              <a:t>  +65</a:t>
            </a:r>
            <a:endParaRPr lang="en-US" sz="2200" dirty="0"/>
          </a:p>
        </p:txBody>
      </p:sp>
      <p:sp>
        <p:nvSpPr>
          <p:cNvPr id="19" name="Shape 17"/>
          <p:cNvSpPr/>
          <p:nvPr/>
        </p:nvSpPr>
        <p:spPr>
          <a:xfrm>
            <a:off x="6107176" y="658368"/>
            <a:ext cx="5624576" cy="475488"/>
          </a:xfrm>
          <a:prstGeom prst="rect">
            <a:avLst/>
          </a:prstGeom>
          <a:solidFill>
            <a:srgbClr val="EDF4FA"/>
          </a:solidFill>
          <a:ln/>
        </p:spPr>
        <p:txBody>
          <a:bodyPr/>
          <a:p/>
        </p:txBody>
      </p:sp>
      <p:sp>
        <p:nvSpPr>
          <p:cNvPr id="20" name="Text 18"/>
          <p:cNvSpPr txBox="1"/>
          <p:nvPr/>
        </p:nvSpPr>
        <p:spPr>
          <a:xfrm>
            <a:off x="6235192" y="658368"/>
            <a:ext cx="536854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Fixed gross +$1.77M   ·   1st · Net profit +$1.42M</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1.47</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$3.55M</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+0.27 hr per RO.</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$227</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$2.07M</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20 of 59</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$842K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20 under 85%: dispatch, parts.</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11.2%</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$147K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2,671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6.0%</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$129K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1,056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14.5%</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$33K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326 more a year.</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40.2%</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$27K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74" name="Shape 72"/>
          <p:cNvSpPr/>
          <p:nvPr/>
        </p:nvSpPr>
        <p:spPr>
          <a:xfrm>
            <a:off x="658368" y="4712818"/>
            <a:ext cx="10872216" cy="10973"/>
          </a:xfrm>
          <a:prstGeom prst="rect">
            <a:avLst/>
          </a:prstGeom>
          <a:solidFill>
            <a:srgbClr val="9AA3AD"/>
          </a:solidFill>
          <a:ln/>
        </p:spPr>
        <p:txBody>
          <a:bodyPr/>
          <a:p/>
        </p:txBody>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31.7%</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21,344 more a year.</a:t>
            </a:r>
            <a:endParaRPr lang="en-US" sz="1400" dirty="0"/>
          </a:p>
        </p:txBody>
      </p:sp>
      <p:sp>
        <p:nvSpPr>
          <p:cNvPr id="81" name="Text 79"/>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2" name="Text 80"/>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83" name="Text 81"/>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76.1%</a:t>
            </a:r>
            <a:endParaRPr lang="en-US" sz="1400" dirty="0"/>
          </a:p>
        </p:txBody>
      </p:sp>
      <p:sp>
        <p:nvSpPr>
          <p:cNvPr id="84" name="Text 82"/>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85" name="Text 83"/>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86" name="Text 84"/>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11,350 more a year.</a:t>
            </a:r>
            <a:endParaRPr lang="en-US" sz="1400" dirty="0"/>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Toyota Prescott</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$5.08M</a:t>
            </a:r>
            <a:pPr indent="0" marL="0">
              <a:buNone/>
            </a:pPr>
            <a:r>
              <a:rPr lang="en-US" sz="1400" b="1" dirty="0">
                <a:solidFill>
                  <a:srgbClr val="0B7A4A"/>
                </a:solidFill>
                <a:latin typeface="Inter" pitchFamily="34" charset="0"/>
                <a:ea typeface="Inter" pitchFamily="34" charset="-122"/>
                <a:cs typeface="Inter" pitchFamily="34" charset="-120"/>
              </a:rPr>
              <a:t>  +$586K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$1.17M</a:t>
            </a:r>
            <a:pPr indent="0" marL="0">
              <a:buNone/>
            </a:pPr>
            <a:r>
              <a:rPr lang="en-US" sz="1400" b="1" dirty="0">
                <a:solidFill>
                  <a:srgbClr val="0B7A4A"/>
                </a:solidFill>
                <a:latin typeface="Inter" pitchFamily="34" charset="0"/>
                <a:ea typeface="Inter" pitchFamily="34" charset="-122"/>
                <a:cs typeface="Inter" pitchFamily="34" charset="-120"/>
              </a:rPr>
              <a:t>  +$285K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70.3%</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13,490</a:t>
            </a:r>
            <a:pPr indent="0" marL="0">
              <a:buNone/>
            </a:pPr>
            <a:r>
              <a:rPr lang="en-US" sz="1400" b="1" dirty="0">
                <a:solidFill>
                  <a:srgbClr val="A82B26"/>
                </a:solidFill>
                <a:latin typeface="Inter" pitchFamily="34" charset="0"/>
                <a:ea typeface="Inter" pitchFamily="34" charset="-122"/>
                <a:cs typeface="Inter" pitchFamily="34" charset="-120"/>
              </a:rPr>
              <a:t>  −80</a:t>
            </a:r>
            <a:endParaRPr lang="en-US" sz="2200" dirty="0"/>
          </a:p>
        </p:txBody>
      </p:sp>
      <p:sp>
        <p:nvSpPr>
          <p:cNvPr id="19" name="Shape 17"/>
          <p:cNvSpPr/>
          <p:nvPr/>
        </p:nvSpPr>
        <p:spPr>
          <a:xfrm>
            <a:off x="6295644" y="658368"/>
            <a:ext cx="5436108" cy="475488"/>
          </a:xfrm>
          <a:prstGeom prst="rect">
            <a:avLst/>
          </a:prstGeom>
          <a:solidFill>
            <a:srgbClr val="EDF4FA"/>
          </a:solidFill>
          <a:ln/>
        </p:spPr>
        <p:txBody>
          <a:bodyPr/>
          <a:p/>
        </p:txBody>
      </p:sp>
      <p:sp>
        <p:nvSpPr>
          <p:cNvPr id="20" name="Text 18"/>
          <p:cNvSpPr txBox="1"/>
          <p:nvPr/>
        </p:nvSpPr>
        <p:spPr>
          <a:xfrm>
            <a:off x="6423660" y="658368"/>
            <a:ext cx="518007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YOUR BEST PLACES</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7th · Fixed gross +$586K   ·   9th · Net profit +$285K</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1.38</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$1.19M</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+0.36 hr per RO.</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 of 22</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$927K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$220</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$617K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6.1%</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$132K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1,590 more a year.</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12.3%</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$49K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478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$1.45M</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$1.48M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$44K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68" name="Text 66"/>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70" name="Text 68"/>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13,490</a:t>
            </a:r>
            <a:endParaRPr lang="en-US" sz="1400" dirty="0"/>
          </a:p>
        </p:txBody>
      </p:sp>
      <p:sp>
        <p:nvSpPr>
          <p:cNvPr id="71" name="Text 69"/>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13,570</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72" name="Text 70"/>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$36K</a:t>
            </a:r>
            <a:endParaRPr lang="en-US" sz="1400" dirty="0"/>
          </a:p>
        </p:txBody>
      </p:sp>
      <p:sp>
        <p:nvSpPr>
          <p:cNvPr id="73" name="Text 71"/>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107 more ROs.</a:t>
            </a:r>
            <a:endParaRPr lang="en-US" sz="1400" dirty="0"/>
          </a:p>
        </p:txBody>
      </p:sp>
      <p:sp>
        <p:nvSpPr>
          <p:cNvPr id="74" name="Shape 72"/>
          <p:cNvSpPr/>
          <p:nvPr/>
        </p:nvSpPr>
        <p:spPr>
          <a:xfrm>
            <a:off x="658368" y="4718304"/>
            <a:ext cx="10872216" cy="329184"/>
          </a:xfrm>
          <a:prstGeom prst="rect">
            <a:avLst/>
          </a:prstGeom>
          <a:solidFill>
            <a:srgbClr val="F7F7F7"/>
          </a:solidFill>
          <a:ln/>
        </p:spPr>
        <p:txBody>
          <a:bodyPr/>
          <a:p/>
        </p:txBody>
      </p:sp>
      <p:sp>
        <p:nvSpPr>
          <p:cNvPr id="75" name="Text 73"/>
          <p:cNvSpPr txBox="1"/>
          <p:nvPr/>
        </p:nvSpPr>
        <p:spPr>
          <a:xfrm>
            <a:off x="658368" y="471830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71830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77" name="Text 75"/>
          <p:cNvSpPr txBox="1"/>
          <p:nvPr/>
        </p:nvSpPr>
        <p:spPr>
          <a:xfrm>
            <a:off x="2990088" y="471830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8.4%</a:t>
            </a:r>
            <a:endParaRPr lang="en-US" sz="1400" dirty="0"/>
          </a:p>
        </p:txBody>
      </p:sp>
      <p:sp>
        <p:nvSpPr>
          <p:cNvPr id="78" name="Text 76"/>
          <p:cNvSpPr txBox="1"/>
          <p:nvPr/>
        </p:nvSpPr>
        <p:spPr>
          <a:xfrm>
            <a:off x="4087368" y="471830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9" name="Text 77"/>
          <p:cNvSpPr txBox="1"/>
          <p:nvPr/>
        </p:nvSpPr>
        <p:spPr>
          <a:xfrm>
            <a:off x="5989320" y="471830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$32K</a:t>
            </a:r>
            <a:endParaRPr lang="en-US" sz="1400" dirty="0"/>
          </a:p>
        </p:txBody>
      </p:sp>
      <p:sp>
        <p:nvSpPr>
          <p:cNvPr id="80" name="Text 78"/>
          <p:cNvSpPr txBox="1"/>
          <p:nvPr/>
        </p:nvSpPr>
        <p:spPr>
          <a:xfrm>
            <a:off x="7059168" y="471830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287 more a year.</a:t>
            </a:r>
            <a:endParaRPr lang="en-US" sz="1400" dirty="0"/>
          </a:p>
        </p:txBody>
      </p:sp>
      <p:sp>
        <p:nvSpPr>
          <p:cNvPr id="81" name="Text 79"/>
          <p:cNvSpPr txBox="1"/>
          <p:nvPr/>
        </p:nvSpPr>
        <p:spPr>
          <a:xfrm>
            <a:off x="658368" y="504748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2" name="Text 80"/>
          <p:cNvSpPr txBox="1"/>
          <p:nvPr/>
        </p:nvSpPr>
        <p:spPr>
          <a:xfrm>
            <a:off x="1024128" y="504748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83" name="Text 81"/>
          <p:cNvSpPr txBox="1"/>
          <p:nvPr/>
        </p:nvSpPr>
        <p:spPr>
          <a:xfrm>
            <a:off x="2990088" y="504748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6.4%</a:t>
            </a:r>
            <a:endParaRPr lang="en-US" sz="1400" dirty="0"/>
          </a:p>
        </p:txBody>
      </p:sp>
      <p:sp>
        <p:nvSpPr>
          <p:cNvPr id="84" name="Text 82"/>
          <p:cNvSpPr txBox="1"/>
          <p:nvPr/>
        </p:nvSpPr>
        <p:spPr>
          <a:xfrm>
            <a:off x="4087368" y="504748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85" name="Text 83"/>
          <p:cNvSpPr txBox="1"/>
          <p:nvPr/>
        </p:nvSpPr>
        <p:spPr>
          <a:xfrm>
            <a:off x="5989320" y="504748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$19K</a:t>
            </a:r>
            <a:endParaRPr lang="en-US" sz="1400" dirty="0"/>
          </a:p>
        </p:txBody>
      </p:sp>
      <p:sp>
        <p:nvSpPr>
          <p:cNvPr id="86" name="Text 84"/>
          <p:cNvSpPr txBox="1"/>
          <p:nvPr/>
        </p:nvSpPr>
        <p:spPr>
          <a:xfrm>
            <a:off x="7059168" y="504748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186 more a year.</a:t>
            </a:r>
            <a:endParaRPr lang="en-US" sz="1400" dirty="0"/>
          </a:p>
        </p:txBody>
      </p:sp>
      <p:sp>
        <p:nvSpPr>
          <p:cNvPr id="87" name="Shape 85"/>
          <p:cNvSpPr/>
          <p:nvPr/>
        </p:nvSpPr>
        <p:spPr>
          <a:xfrm>
            <a:off x="658368" y="5371186"/>
            <a:ext cx="10872216" cy="10973"/>
          </a:xfrm>
          <a:prstGeom prst="rect">
            <a:avLst/>
          </a:prstGeom>
          <a:solidFill>
            <a:srgbClr val="9AA3AD"/>
          </a:solidFill>
          <a:ln/>
        </p:spPr>
        <p:txBody>
          <a:bodyPr/>
          <a:p/>
        </p:txBody>
      </p:sp>
      <p:sp>
        <p:nvSpPr>
          <p:cNvPr id="88" name="Text 86"/>
          <p:cNvSpPr txBox="1"/>
          <p:nvPr/>
        </p:nvSpPr>
        <p:spPr>
          <a:xfrm>
            <a:off x="658368" y="537667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89" name="Text 87"/>
          <p:cNvSpPr txBox="1"/>
          <p:nvPr/>
        </p:nvSpPr>
        <p:spPr>
          <a:xfrm>
            <a:off x="1024128" y="537667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90" name="Text 88"/>
          <p:cNvSpPr txBox="1"/>
          <p:nvPr/>
        </p:nvSpPr>
        <p:spPr>
          <a:xfrm>
            <a:off x="2990088" y="537667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$11,044</a:t>
            </a:r>
            <a:endParaRPr lang="en-US" sz="1400" dirty="0"/>
          </a:p>
        </p:txBody>
      </p:sp>
      <p:sp>
        <p:nvSpPr>
          <p:cNvPr id="91" name="Text 89"/>
          <p:cNvSpPr txBox="1"/>
          <p:nvPr/>
        </p:nvSpPr>
        <p:spPr>
          <a:xfrm>
            <a:off x="4087368" y="537667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92" name="Text 90"/>
          <p:cNvSpPr txBox="1"/>
          <p:nvPr/>
        </p:nvSpPr>
        <p:spPr>
          <a:xfrm>
            <a:off x="5989320" y="537667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3" name="Text 91"/>
          <p:cNvSpPr txBox="1"/>
          <p:nvPr/>
        </p:nvSpPr>
        <p:spPr>
          <a:xfrm>
            <a:off x="7059168" y="537667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6.7 heads over peer avg.</a:t>
            </a:r>
            <a:endParaRPr lang="en-US" sz="1400" dirty="0"/>
          </a:p>
        </p:txBody>
      </p:sp>
      <p:sp>
        <p:nvSpPr>
          <p:cNvPr id="94" name="Text 92"/>
          <p:cNvSpPr txBox="1"/>
          <p:nvPr/>
        </p:nvSpPr>
        <p:spPr>
          <a:xfrm>
            <a:off x="658368" y="570585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5" name="Text 93"/>
          <p:cNvSpPr txBox="1"/>
          <p:nvPr/>
        </p:nvSpPr>
        <p:spPr>
          <a:xfrm>
            <a:off x="1024128" y="570585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96" name="Text 94"/>
          <p:cNvSpPr txBox="1"/>
          <p:nvPr/>
        </p:nvSpPr>
        <p:spPr>
          <a:xfrm>
            <a:off x="2990088" y="570585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81.5%</a:t>
            </a:r>
            <a:endParaRPr lang="en-US" sz="1400" dirty="0"/>
          </a:p>
        </p:txBody>
      </p:sp>
      <p:sp>
        <p:nvSpPr>
          <p:cNvPr id="97" name="Text 95"/>
          <p:cNvSpPr txBox="1"/>
          <p:nvPr/>
        </p:nvSpPr>
        <p:spPr>
          <a:xfrm>
            <a:off x="4087368" y="570585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8" name="Text 96"/>
          <p:cNvSpPr txBox="1"/>
          <p:nvPr/>
        </p:nvSpPr>
        <p:spPr>
          <a:xfrm>
            <a:off x="5989320" y="5705856"/>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9" name="Text 97"/>
          <p:cNvSpPr txBox="1"/>
          <p:nvPr/>
        </p:nvSpPr>
        <p:spPr>
          <a:xfrm>
            <a:off x="7059168" y="570585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1,744 more a year.</a:t>
            </a:r>
            <a:endParaRPr lang="en-US" sz="1400" dirty="0"/>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Toyota Spokane</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$5.93M</a:t>
            </a:r>
            <a:pPr indent="0" marL="0">
              <a:buNone/>
            </a:pPr>
            <a:r>
              <a:rPr lang="en-US" sz="1400" b="1" dirty="0">
                <a:solidFill>
                  <a:srgbClr val="0B7A4A"/>
                </a:solidFill>
                <a:latin typeface="Inter" pitchFamily="34" charset="0"/>
                <a:ea typeface="Inter" pitchFamily="34" charset="-122"/>
                <a:cs typeface="Inter" pitchFamily="34" charset="-120"/>
              </a:rPr>
              <a:t>  +$545K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$699,325</a:t>
            </a:r>
            <a:pPr indent="0" marL="0">
              <a:buNone/>
            </a:pPr>
            <a:r>
              <a:rPr lang="en-US" sz="1400" b="1" dirty="0">
                <a:solidFill>
                  <a:srgbClr val="A82B26"/>
                </a:solidFill>
                <a:latin typeface="Inter" pitchFamily="34" charset="0"/>
                <a:ea typeface="Inter" pitchFamily="34" charset="-122"/>
                <a:cs typeface="Inter" pitchFamily="34" charset="-120"/>
              </a:rPr>
              <a:t>  −$268K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73.3%</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17,376</a:t>
            </a:r>
            <a:pPr indent="0" marL="0">
              <a:buNone/>
            </a:pPr>
            <a:r>
              <a:rPr lang="en-US" sz="1400" b="1" dirty="0">
                <a:solidFill>
                  <a:srgbClr val="0B7A4A"/>
                </a:solidFill>
                <a:latin typeface="Inter" pitchFamily="34" charset="0"/>
                <a:ea typeface="Inter" pitchFamily="34" charset="-122"/>
                <a:cs typeface="Inter" pitchFamily="34" charset="-120"/>
              </a:rPr>
              <a:t>  +1,008</a:t>
            </a:r>
            <a:endParaRPr lang="en-US" sz="2200" dirty="0"/>
          </a:p>
        </p:txBody>
      </p:sp>
      <p:sp>
        <p:nvSpPr>
          <p:cNvPr id="19" name="Shape 17"/>
          <p:cNvSpPr/>
          <p:nvPr/>
        </p:nvSpPr>
        <p:spPr>
          <a:xfrm>
            <a:off x="9404096" y="658368"/>
            <a:ext cx="2327656" cy="475488"/>
          </a:xfrm>
          <a:prstGeom prst="rect">
            <a:avLst/>
          </a:prstGeom>
          <a:solidFill>
            <a:srgbClr val="EDF4FA"/>
          </a:solidFill>
          <a:ln/>
        </p:spPr>
        <p:txBody>
          <a:bodyPr/>
          <a:p/>
        </p:txBody>
      </p:sp>
      <p:sp>
        <p:nvSpPr>
          <p:cNvPr id="20" name="Text 18"/>
          <p:cNvSpPr txBox="1"/>
          <p:nvPr/>
        </p:nvSpPr>
        <p:spPr>
          <a:xfrm>
            <a:off x="9532112" y="658368"/>
            <a:ext cx="2071624"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CP ROs +1,008</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31" name="Text 29"/>
          <p:cNvSpPr txBox="1"/>
          <p:nvPr/>
        </p:nvSpPr>
        <p:spPr>
          <a:xfrm>
            <a:off x="2990088" y="24140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$187</a:t>
            </a:r>
            <a:endParaRPr lang="en-US" sz="1400" dirty="0"/>
          </a:p>
        </p:txBody>
      </p:sp>
      <p:sp>
        <p:nvSpPr>
          <p:cNvPr id="32" name="Text 30"/>
          <p:cNvSpPr txBox="1"/>
          <p:nvPr/>
        </p:nvSpPr>
        <p:spPr>
          <a:xfrm>
            <a:off x="4087368" y="24140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33" name="Text 31"/>
          <p:cNvSpPr txBox="1"/>
          <p:nvPr/>
        </p:nvSpPr>
        <p:spPr>
          <a:xfrm>
            <a:off x="5989320" y="24140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$1.35M</a:t>
            </a:r>
            <a:endParaRPr lang="en-US" sz="1400" dirty="0"/>
          </a:p>
        </p:txBody>
      </p:sp>
      <p:sp>
        <p:nvSpPr>
          <p:cNvPr id="34" name="Text 32"/>
          <p:cNvSpPr txBox="1"/>
          <p:nvPr/>
        </p:nvSpPr>
        <p:spPr>
          <a:xfrm>
            <a:off x="7059168" y="24140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35" name="Shape 33"/>
          <p:cNvSpPr/>
          <p:nvPr/>
        </p:nvSpPr>
        <p:spPr>
          <a:xfrm>
            <a:off x="658368" y="2737866"/>
            <a:ext cx="10872216" cy="323850"/>
          </a:xfrm>
          <a:prstGeom prst="rect">
            <a:avLst/>
          </a:prstGeom>
          <a:solidFill>
            <a:srgbClr val="F7F7F7"/>
          </a:solidFill>
          <a:ln/>
        </p:spPr>
        <p:txBody>
          <a:bodyPr/>
          <a:p/>
        </p:txBody>
      </p:sp>
      <p:sp>
        <p:nvSpPr>
          <p:cNvPr id="36" name="Text 34"/>
          <p:cNvSpPr txBox="1"/>
          <p:nvPr/>
        </p:nvSpPr>
        <p:spPr>
          <a:xfrm>
            <a:off x="658368" y="27378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378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8" name="Text 36"/>
          <p:cNvSpPr txBox="1"/>
          <p:nvPr/>
        </p:nvSpPr>
        <p:spPr>
          <a:xfrm>
            <a:off x="2990088" y="27378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1.48</a:t>
            </a:r>
            <a:endParaRPr lang="en-US" sz="1400" dirty="0"/>
          </a:p>
        </p:txBody>
      </p:sp>
      <p:sp>
        <p:nvSpPr>
          <p:cNvPr id="39" name="Text 37"/>
          <p:cNvSpPr txBox="1"/>
          <p:nvPr/>
        </p:nvSpPr>
        <p:spPr>
          <a:xfrm>
            <a:off x="4087368" y="27378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378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$1.12M</a:t>
            </a:r>
            <a:endParaRPr lang="en-US" sz="1400" dirty="0"/>
          </a:p>
        </p:txBody>
      </p:sp>
      <p:sp>
        <p:nvSpPr>
          <p:cNvPr id="41" name="Text 39"/>
          <p:cNvSpPr txBox="1"/>
          <p:nvPr/>
        </p:nvSpPr>
        <p:spPr>
          <a:xfrm>
            <a:off x="7059168" y="27378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+0.26 hr per RO.</a:t>
            </a:r>
            <a:endParaRPr lang="en-US" sz="1400" dirty="0"/>
          </a:p>
        </p:txBody>
      </p:sp>
      <p:sp>
        <p:nvSpPr>
          <p:cNvPr id="42" name="Text 40"/>
          <p:cNvSpPr txBox="1"/>
          <p:nvPr/>
        </p:nvSpPr>
        <p:spPr>
          <a:xfrm>
            <a:off x="658368" y="30617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617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44" name="Text 42"/>
          <p:cNvSpPr txBox="1"/>
          <p:nvPr/>
        </p:nvSpPr>
        <p:spPr>
          <a:xfrm>
            <a:off x="2990088" y="30617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4.2%</a:t>
            </a:r>
            <a:endParaRPr lang="en-US" sz="1400" dirty="0"/>
          </a:p>
        </p:txBody>
      </p:sp>
      <p:sp>
        <p:nvSpPr>
          <p:cNvPr id="45" name="Text 43"/>
          <p:cNvSpPr txBox="1"/>
          <p:nvPr/>
        </p:nvSpPr>
        <p:spPr>
          <a:xfrm>
            <a:off x="4087368" y="30617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6" name="Text 44"/>
          <p:cNvSpPr txBox="1"/>
          <p:nvPr/>
        </p:nvSpPr>
        <p:spPr>
          <a:xfrm>
            <a:off x="5989320" y="30617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$225K</a:t>
            </a:r>
            <a:endParaRPr lang="en-US" sz="1400" dirty="0"/>
          </a:p>
        </p:txBody>
      </p:sp>
      <p:sp>
        <p:nvSpPr>
          <p:cNvPr id="47" name="Text 45"/>
          <p:cNvSpPr txBox="1"/>
          <p:nvPr/>
        </p:nvSpPr>
        <p:spPr>
          <a:xfrm>
            <a:off x="7059168" y="30617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2,490 more a year.</a:t>
            </a:r>
            <a:endParaRPr lang="en-US" sz="1400" dirty="0"/>
          </a:p>
        </p:txBody>
      </p:sp>
      <p:sp>
        <p:nvSpPr>
          <p:cNvPr id="48" name="Shape 46"/>
          <p:cNvSpPr/>
          <p:nvPr/>
        </p:nvSpPr>
        <p:spPr>
          <a:xfrm>
            <a:off x="658368" y="3385566"/>
            <a:ext cx="10872216" cy="323850"/>
          </a:xfrm>
          <a:prstGeom prst="rect">
            <a:avLst/>
          </a:prstGeom>
          <a:solidFill>
            <a:srgbClr val="F7F7F7"/>
          </a:solidFill>
          <a:ln/>
        </p:spPr>
        <p:txBody>
          <a:bodyPr/>
          <a:p/>
        </p:txBody>
      </p:sp>
      <p:sp>
        <p:nvSpPr>
          <p:cNvPr id="49" name="Text 47"/>
          <p:cNvSpPr txBox="1"/>
          <p:nvPr/>
        </p:nvSpPr>
        <p:spPr>
          <a:xfrm>
            <a:off x="658368" y="33855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3855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1" name="Text 49"/>
          <p:cNvSpPr txBox="1"/>
          <p:nvPr/>
        </p:nvSpPr>
        <p:spPr>
          <a:xfrm>
            <a:off x="2990088" y="33855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0.4%</a:t>
            </a:r>
            <a:endParaRPr lang="en-US" sz="1400" dirty="0"/>
          </a:p>
        </p:txBody>
      </p:sp>
      <p:sp>
        <p:nvSpPr>
          <p:cNvPr id="52" name="Text 50"/>
          <p:cNvSpPr txBox="1"/>
          <p:nvPr/>
        </p:nvSpPr>
        <p:spPr>
          <a:xfrm>
            <a:off x="4087368" y="33855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3" name="Text 51"/>
          <p:cNvSpPr txBox="1"/>
          <p:nvPr/>
        </p:nvSpPr>
        <p:spPr>
          <a:xfrm>
            <a:off x="5989320" y="33855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$180K</a:t>
            </a:r>
            <a:endParaRPr lang="en-US" sz="1400" dirty="0"/>
          </a:p>
        </p:txBody>
      </p:sp>
      <p:sp>
        <p:nvSpPr>
          <p:cNvPr id="54" name="Text 52"/>
          <p:cNvSpPr txBox="1"/>
          <p:nvPr/>
        </p:nvSpPr>
        <p:spPr>
          <a:xfrm>
            <a:off x="7059168" y="33855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3,361 more a year.</a:t>
            </a:r>
            <a:endParaRPr lang="en-US" sz="1400" dirty="0"/>
          </a:p>
        </p:txBody>
      </p:sp>
      <p:sp>
        <p:nvSpPr>
          <p:cNvPr id="55" name="Text 53"/>
          <p:cNvSpPr txBox="1"/>
          <p:nvPr/>
        </p:nvSpPr>
        <p:spPr>
          <a:xfrm>
            <a:off x="658368" y="37094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094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ELR</a:t>
            </a:r>
            <a:endParaRPr lang="en-US" sz="1400" dirty="0"/>
          </a:p>
        </p:txBody>
      </p:sp>
      <p:sp>
        <p:nvSpPr>
          <p:cNvPr id="57" name="Text 55"/>
          <p:cNvSpPr txBox="1"/>
          <p:nvPr/>
        </p:nvSpPr>
        <p:spPr>
          <a:xfrm>
            <a:off x="2990088" y="37094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$125</a:t>
            </a:r>
            <a:endParaRPr lang="en-US" sz="1400" dirty="0"/>
          </a:p>
        </p:txBody>
      </p:sp>
      <p:sp>
        <p:nvSpPr>
          <p:cNvPr id="58" name="Text 56"/>
          <p:cNvSpPr txBox="1"/>
          <p:nvPr/>
        </p:nvSpPr>
        <p:spPr>
          <a:xfrm>
            <a:off x="4087368" y="37094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$130</a:t>
            </a:r>
            <a:pPr indent="0" marL="0">
              <a:buNone/>
            </a:pPr>
            <a:r>
              <a:rPr lang="en-US" sz="1400" dirty="0">
                <a:solidFill>
                  <a:srgbClr val="595959"/>
                </a:solidFill>
                <a:latin typeface="Inter" pitchFamily="34" charset="0"/>
                <a:ea typeface="Inter" pitchFamily="34" charset="-122"/>
                <a:cs typeface="Inter" pitchFamily="34" charset="-120"/>
              </a:rPr>
              <a:t> 70% of door</a:t>
            </a:r>
            <a:endParaRPr lang="en-US" sz="1400" dirty="0"/>
          </a:p>
        </p:txBody>
      </p:sp>
      <p:sp>
        <p:nvSpPr>
          <p:cNvPr id="59" name="Text 57"/>
          <p:cNvSpPr txBox="1"/>
          <p:nvPr/>
        </p:nvSpPr>
        <p:spPr>
          <a:xfrm>
            <a:off x="5989320" y="37094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$157K</a:t>
            </a:r>
            <a:endParaRPr lang="en-US" sz="1400" dirty="0"/>
          </a:p>
        </p:txBody>
      </p:sp>
      <p:sp>
        <p:nvSpPr>
          <p:cNvPr id="60" name="Text 58"/>
          <p:cNvSpPr txBox="1"/>
          <p:nvPr/>
        </p:nvSpPr>
        <p:spPr>
          <a:xfrm>
            <a:off x="7059168" y="37094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Charge the posted rate; control discounts.</a:t>
            </a:r>
            <a:endParaRPr lang="en-US" sz="1400" dirty="0"/>
          </a:p>
        </p:txBody>
      </p:sp>
      <p:sp>
        <p:nvSpPr>
          <p:cNvPr id="61" name="Shape 59"/>
          <p:cNvSpPr/>
          <p:nvPr/>
        </p:nvSpPr>
        <p:spPr>
          <a:xfrm>
            <a:off x="658368" y="4033266"/>
            <a:ext cx="10872216" cy="323850"/>
          </a:xfrm>
          <a:prstGeom prst="rect">
            <a:avLst/>
          </a:prstGeom>
          <a:solidFill>
            <a:srgbClr val="F7F7F7"/>
          </a:solidFill>
          <a:ln/>
        </p:spPr>
        <p:txBody>
          <a:bodyPr/>
          <a:p/>
        </p:txBody>
      </p:sp>
      <p:sp>
        <p:nvSpPr>
          <p:cNvPr id="62" name="Text 60"/>
          <p:cNvSpPr txBox="1"/>
          <p:nvPr/>
        </p:nvSpPr>
        <p:spPr>
          <a:xfrm>
            <a:off x="658368" y="40332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332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64" name="Text 62"/>
          <p:cNvSpPr txBox="1"/>
          <p:nvPr/>
        </p:nvSpPr>
        <p:spPr>
          <a:xfrm>
            <a:off x="2990088" y="40332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 of 28</a:t>
            </a:r>
            <a:endParaRPr lang="en-US" sz="1400" dirty="0"/>
          </a:p>
        </p:txBody>
      </p:sp>
      <p:sp>
        <p:nvSpPr>
          <p:cNvPr id="65" name="Text 63"/>
          <p:cNvSpPr txBox="1"/>
          <p:nvPr/>
        </p:nvSpPr>
        <p:spPr>
          <a:xfrm>
            <a:off x="4087368" y="40332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332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$136K</a:t>
            </a:r>
            <a:endParaRPr lang="en-US" sz="1400" dirty="0"/>
          </a:p>
        </p:txBody>
      </p:sp>
      <p:sp>
        <p:nvSpPr>
          <p:cNvPr id="67" name="Text 65"/>
          <p:cNvSpPr txBox="1"/>
          <p:nvPr/>
        </p:nvSpPr>
        <p:spPr>
          <a:xfrm>
            <a:off x="7059168" y="40332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4 under 85%: dispatch, parts.</a:t>
            </a:r>
            <a:endParaRPr lang="en-US" sz="1400" dirty="0"/>
          </a:p>
        </p:txBody>
      </p:sp>
      <p:sp>
        <p:nvSpPr>
          <p:cNvPr id="68" name="Text 66"/>
          <p:cNvSpPr txBox="1"/>
          <p:nvPr/>
        </p:nvSpPr>
        <p:spPr>
          <a:xfrm>
            <a:off x="658368" y="43571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9" name="Text 67"/>
          <p:cNvSpPr txBox="1"/>
          <p:nvPr/>
        </p:nvSpPr>
        <p:spPr>
          <a:xfrm>
            <a:off x="1024128" y="43571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GP %</a:t>
            </a:r>
            <a:endParaRPr lang="en-US" sz="1400" dirty="0"/>
          </a:p>
        </p:txBody>
      </p:sp>
      <p:sp>
        <p:nvSpPr>
          <p:cNvPr id="70" name="Text 68"/>
          <p:cNvSpPr txBox="1"/>
          <p:nvPr/>
        </p:nvSpPr>
        <p:spPr>
          <a:xfrm>
            <a:off x="2990088" y="43571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75.7%</a:t>
            </a:r>
            <a:endParaRPr lang="en-US" sz="1400" dirty="0"/>
          </a:p>
        </p:txBody>
      </p:sp>
      <p:sp>
        <p:nvSpPr>
          <p:cNvPr id="71" name="Text 69"/>
          <p:cNvSpPr txBox="1"/>
          <p:nvPr/>
        </p:nvSpPr>
        <p:spPr>
          <a:xfrm>
            <a:off x="4087368" y="43571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78%</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2" name="Text 70"/>
          <p:cNvSpPr txBox="1"/>
          <p:nvPr/>
        </p:nvSpPr>
        <p:spPr>
          <a:xfrm>
            <a:off x="5989320" y="43571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$102K</a:t>
            </a:r>
            <a:endParaRPr lang="en-US" sz="1400" dirty="0"/>
          </a:p>
        </p:txBody>
      </p:sp>
      <p:sp>
        <p:nvSpPr>
          <p:cNvPr id="73" name="Text 71"/>
          <p:cNvSpPr txBox="1"/>
          <p:nvPr/>
        </p:nvSpPr>
        <p:spPr>
          <a:xfrm>
            <a:off x="7059168" y="43571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Right tech, right work; review discounts.</a:t>
            </a:r>
            <a:endParaRPr lang="en-US" sz="1400" dirty="0"/>
          </a:p>
        </p:txBody>
      </p:sp>
      <p:sp>
        <p:nvSpPr>
          <p:cNvPr id="74" name="Shape 72"/>
          <p:cNvSpPr/>
          <p:nvPr/>
        </p:nvSpPr>
        <p:spPr>
          <a:xfrm>
            <a:off x="658368" y="4680966"/>
            <a:ext cx="10872216" cy="323850"/>
          </a:xfrm>
          <a:prstGeom prst="rect">
            <a:avLst/>
          </a:prstGeom>
          <a:solidFill>
            <a:srgbClr val="F7F7F7"/>
          </a:solidFill>
          <a:ln/>
        </p:spPr>
        <p:txBody>
          <a:bodyPr/>
          <a:p/>
        </p:txBody>
      </p:sp>
      <p:sp>
        <p:nvSpPr>
          <p:cNvPr id="75" name="Text 73"/>
          <p:cNvSpPr txBox="1"/>
          <p:nvPr/>
        </p:nvSpPr>
        <p:spPr>
          <a:xfrm>
            <a:off x="658368" y="46809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6" name="Text 74"/>
          <p:cNvSpPr txBox="1"/>
          <p:nvPr/>
        </p:nvSpPr>
        <p:spPr>
          <a:xfrm>
            <a:off x="1024128" y="46809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77" name="Text 75"/>
          <p:cNvSpPr txBox="1"/>
          <p:nvPr/>
        </p:nvSpPr>
        <p:spPr>
          <a:xfrm>
            <a:off x="2990088" y="46809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7.0%</a:t>
            </a:r>
            <a:endParaRPr lang="en-US" sz="1400" dirty="0"/>
          </a:p>
        </p:txBody>
      </p:sp>
      <p:sp>
        <p:nvSpPr>
          <p:cNvPr id="78" name="Text 76"/>
          <p:cNvSpPr txBox="1"/>
          <p:nvPr/>
        </p:nvSpPr>
        <p:spPr>
          <a:xfrm>
            <a:off x="4087368" y="46809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9" name="Text 77"/>
          <p:cNvSpPr txBox="1"/>
          <p:nvPr/>
        </p:nvSpPr>
        <p:spPr>
          <a:xfrm>
            <a:off x="5989320" y="46809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$80K</a:t>
            </a:r>
            <a:endParaRPr lang="en-US" sz="1400" dirty="0"/>
          </a:p>
        </p:txBody>
      </p:sp>
      <p:sp>
        <p:nvSpPr>
          <p:cNvPr id="80" name="Text 78"/>
          <p:cNvSpPr txBox="1"/>
          <p:nvPr/>
        </p:nvSpPr>
        <p:spPr>
          <a:xfrm>
            <a:off x="7059168" y="46809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683 more a year.</a:t>
            </a:r>
            <a:endParaRPr lang="en-US" sz="1400" dirty="0"/>
          </a:p>
        </p:txBody>
      </p:sp>
      <p:sp>
        <p:nvSpPr>
          <p:cNvPr id="81" name="Text 79"/>
          <p:cNvSpPr txBox="1"/>
          <p:nvPr/>
        </p:nvSpPr>
        <p:spPr>
          <a:xfrm>
            <a:off x="658368" y="50048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2" name="Text 80"/>
          <p:cNvSpPr txBox="1"/>
          <p:nvPr/>
        </p:nvSpPr>
        <p:spPr>
          <a:xfrm>
            <a:off x="1024128" y="50048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83" name="Text 81"/>
          <p:cNvSpPr txBox="1"/>
          <p:nvPr/>
        </p:nvSpPr>
        <p:spPr>
          <a:xfrm>
            <a:off x="2990088" y="50048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$2.25M</a:t>
            </a:r>
            <a:endParaRPr lang="en-US" sz="1400" dirty="0"/>
          </a:p>
        </p:txBody>
      </p:sp>
      <p:sp>
        <p:nvSpPr>
          <p:cNvPr id="84" name="Text 82"/>
          <p:cNvSpPr txBox="1"/>
          <p:nvPr/>
        </p:nvSpPr>
        <p:spPr>
          <a:xfrm>
            <a:off x="4087368" y="50048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$2.31M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85" name="Text 83"/>
          <p:cNvSpPr txBox="1"/>
          <p:nvPr/>
        </p:nvSpPr>
        <p:spPr>
          <a:xfrm>
            <a:off x="5989320" y="500481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$76K</a:t>
            </a:r>
            <a:endParaRPr lang="en-US" sz="1400" dirty="0"/>
          </a:p>
        </p:txBody>
      </p:sp>
      <p:sp>
        <p:nvSpPr>
          <p:cNvPr id="86" name="Text 84"/>
          <p:cNvSpPr txBox="1"/>
          <p:nvPr/>
        </p:nvSpPr>
        <p:spPr>
          <a:xfrm>
            <a:off x="7059168" y="50048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87" name="Shape 85"/>
          <p:cNvSpPr/>
          <p:nvPr/>
        </p:nvSpPr>
        <p:spPr>
          <a:xfrm>
            <a:off x="658368" y="5328666"/>
            <a:ext cx="10872216" cy="323850"/>
          </a:xfrm>
          <a:prstGeom prst="rect">
            <a:avLst/>
          </a:prstGeom>
          <a:solidFill>
            <a:srgbClr val="F7F7F7"/>
          </a:solidFill>
          <a:ln/>
        </p:spPr>
        <p:txBody>
          <a:bodyPr/>
          <a:p/>
        </p:txBody>
      </p:sp>
      <p:sp>
        <p:nvSpPr>
          <p:cNvPr id="88" name="Text 86"/>
          <p:cNvSpPr txBox="1"/>
          <p:nvPr/>
        </p:nvSpPr>
        <p:spPr>
          <a:xfrm>
            <a:off x="658368" y="53286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89" name="Text 87"/>
          <p:cNvSpPr txBox="1"/>
          <p:nvPr/>
        </p:nvSpPr>
        <p:spPr>
          <a:xfrm>
            <a:off x="1024128" y="53286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90" name="Text 88"/>
          <p:cNvSpPr txBox="1"/>
          <p:nvPr/>
        </p:nvSpPr>
        <p:spPr>
          <a:xfrm>
            <a:off x="2990088" y="53286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5.8%</a:t>
            </a:r>
            <a:endParaRPr lang="en-US" sz="1400" dirty="0"/>
          </a:p>
        </p:txBody>
      </p:sp>
      <p:sp>
        <p:nvSpPr>
          <p:cNvPr id="91" name="Text 89"/>
          <p:cNvSpPr txBox="1"/>
          <p:nvPr/>
        </p:nvSpPr>
        <p:spPr>
          <a:xfrm>
            <a:off x="4087368" y="53286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2" name="Text 90"/>
          <p:cNvSpPr txBox="1"/>
          <p:nvPr/>
        </p:nvSpPr>
        <p:spPr>
          <a:xfrm>
            <a:off x="5989320" y="5328666"/>
            <a:ext cx="868680" cy="323850"/>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$56K</a:t>
            </a:r>
            <a:endParaRPr lang="en-US" sz="1400" dirty="0"/>
          </a:p>
        </p:txBody>
      </p:sp>
      <p:sp>
        <p:nvSpPr>
          <p:cNvPr id="93" name="Text 91"/>
          <p:cNvSpPr txBox="1"/>
          <p:nvPr/>
        </p:nvSpPr>
        <p:spPr>
          <a:xfrm>
            <a:off x="7059168" y="53286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387 more a year.</a:t>
            </a:r>
            <a:endParaRPr lang="en-US" sz="1400" dirty="0"/>
          </a:p>
        </p:txBody>
      </p:sp>
      <p:sp>
        <p:nvSpPr>
          <p:cNvPr id="94" name="Shape 92"/>
          <p:cNvSpPr/>
          <p:nvPr/>
        </p:nvSpPr>
        <p:spPr>
          <a:xfrm>
            <a:off x="658368" y="5647030"/>
            <a:ext cx="10872216" cy="10973"/>
          </a:xfrm>
          <a:prstGeom prst="rect">
            <a:avLst/>
          </a:prstGeom>
          <a:solidFill>
            <a:srgbClr val="9AA3AD"/>
          </a:solidFill>
          <a:ln/>
        </p:spPr>
        <p:txBody>
          <a:bodyPr/>
          <a:p/>
        </p:txBody>
      </p:sp>
      <p:sp>
        <p:nvSpPr>
          <p:cNvPr id="95" name="Text 93"/>
          <p:cNvSpPr txBox="1"/>
          <p:nvPr/>
        </p:nvSpPr>
        <p:spPr>
          <a:xfrm>
            <a:off x="658368" y="565251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6" name="Text 94"/>
          <p:cNvSpPr txBox="1"/>
          <p:nvPr/>
        </p:nvSpPr>
        <p:spPr>
          <a:xfrm>
            <a:off x="1024128" y="565251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97" name="Text 95"/>
          <p:cNvSpPr txBox="1"/>
          <p:nvPr/>
        </p:nvSpPr>
        <p:spPr>
          <a:xfrm>
            <a:off x="2990088" y="565251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$11,128</a:t>
            </a:r>
            <a:endParaRPr lang="en-US" sz="1400" dirty="0"/>
          </a:p>
        </p:txBody>
      </p:sp>
      <p:sp>
        <p:nvSpPr>
          <p:cNvPr id="98" name="Text 96"/>
          <p:cNvSpPr txBox="1"/>
          <p:nvPr/>
        </p:nvSpPr>
        <p:spPr>
          <a:xfrm>
            <a:off x="4087368" y="565251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99" name="Text 97"/>
          <p:cNvSpPr txBox="1"/>
          <p:nvPr/>
        </p:nvSpPr>
        <p:spPr>
          <a:xfrm>
            <a:off x="5989320" y="5652516"/>
            <a:ext cx="868680" cy="323850"/>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0" name="Text 98"/>
          <p:cNvSpPr txBox="1"/>
          <p:nvPr/>
        </p:nvSpPr>
        <p:spPr>
          <a:xfrm>
            <a:off x="7059168" y="565251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7.4 heads over peer avg.</a:t>
            </a:r>
            <a:endParaRPr lang="en-US" sz="1400" dirty="0"/>
          </a:p>
        </p:txBody>
      </p:sp>
      <p:sp>
        <p:nvSpPr>
          <p:cNvPr id="101" name="Shape 99"/>
          <p:cNvSpPr/>
          <p:nvPr/>
        </p:nvSpPr>
        <p:spPr>
          <a:xfrm>
            <a:off x="658368" y="5976366"/>
            <a:ext cx="10872216" cy="323850"/>
          </a:xfrm>
          <a:prstGeom prst="rect">
            <a:avLst/>
          </a:prstGeom>
          <a:solidFill>
            <a:srgbClr val="F7F7F7"/>
          </a:solidFill>
          <a:ln/>
        </p:spPr>
        <p:txBody>
          <a:bodyPr/>
          <a:p/>
        </p:txBody>
      </p:sp>
      <p:sp>
        <p:nvSpPr>
          <p:cNvPr id="102" name="Text 100"/>
          <p:cNvSpPr txBox="1"/>
          <p:nvPr/>
        </p:nvSpPr>
        <p:spPr>
          <a:xfrm>
            <a:off x="658368" y="5976366"/>
            <a:ext cx="310896" cy="323850"/>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12</a:t>
            </a:r>
            <a:endParaRPr lang="en-US" sz="1400" dirty="0"/>
          </a:p>
        </p:txBody>
      </p:sp>
      <p:sp>
        <p:nvSpPr>
          <p:cNvPr id="103" name="Text 101"/>
          <p:cNvSpPr txBox="1"/>
          <p:nvPr/>
        </p:nvSpPr>
        <p:spPr>
          <a:xfrm>
            <a:off x="1024128" y="5976366"/>
            <a:ext cx="187452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104" name="Text 102"/>
          <p:cNvSpPr txBox="1"/>
          <p:nvPr/>
        </p:nvSpPr>
        <p:spPr>
          <a:xfrm>
            <a:off x="2990088" y="5976366"/>
            <a:ext cx="1005840" cy="323850"/>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81.3%</a:t>
            </a:r>
            <a:endParaRPr lang="en-US" sz="1400" dirty="0"/>
          </a:p>
        </p:txBody>
      </p:sp>
      <p:sp>
        <p:nvSpPr>
          <p:cNvPr id="105" name="Text 103"/>
          <p:cNvSpPr txBox="1"/>
          <p:nvPr/>
        </p:nvSpPr>
        <p:spPr>
          <a:xfrm>
            <a:off x="4087368" y="5976366"/>
            <a:ext cx="1828800" cy="32385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106" name="Text 104"/>
          <p:cNvSpPr txBox="1"/>
          <p:nvPr/>
        </p:nvSpPr>
        <p:spPr>
          <a:xfrm>
            <a:off x="5989320" y="5976366"/>
            <a:ext cx="868680" cy="323850"/>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7" name="Text 105"/>
          <p:cNvSpPr txBox="1"/>
          <p:nvPr/>
        </p:nvSpPr>
        <p:spPr>
          <a:xfrm>
            <a:off x="7059168" y="5976366"/>
            <a:ext cx="4471416" cy="323850"/>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2,232 more a year.</a:t>
            </a:r>
            <a:endParaRPr lang="en-US" sz="1400" dirty="0"/>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Volvo</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$3.91M</a:t>
            </a:r>
            <a:pPr indent="0" marL="0">
              <a:buNone/>
            </a:pPr>
            <a:r>
              <a:rPr lang="en-US" sz="1400" b="1" dirty="0">
                <a:solidFill>
                  <a:srgbClr val="0B7A4A"/>
                </a:solidFill>
                <a:latin typeface="Inter" pitchFamily="34" charset="0"/>
                <a:ea typeface="Inter" pitchFamily="34" charset="-122"/>
                <a:cs typeface="Inter" pitchFamily="34" charset="-120"/>
              </a:rPr>
              <a:t>  +$63K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$1.33M</a:t>
            </a:r>
            <a:pPr indent="0" marL="0">
              <a:buNone/>
            </a:pPr>
            <a:r>
              <a:rPr lang="en-US" sz="1400" b="1" dirty="0">
                <a:solidFill>
                  <a:srgbClr val="0B7A4A"/>
                </a:solidFill>
                <a:latin typeface="Inter" pitchFamily="34" charset="0"/>
                <a:ea typeface="Inter" pitchFamily="34" charset="-122"/>
                <a:cs typeface="Inter" pitchFamily="34" charset="-120"/>
              </a:rPr>
              <a:t>  +$155K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81.8%</a:t>
            </a:r>
            <a:endParaRPr lang="en-US" sz="2200" dirty="0"/>
          </a:p>
        </p:txBody>
      </p:sp>
      <p:sp>
        <p:nvSpPr>
          <p:cNvPr id="14" name="Shape 12"/>
          <p:cNvSpPr/>
          <p:nvPr/>
        </p:nvSpPr>
        <p:spPr>
          <a:xfrm>
            <a:off x="7185660" y="1563624"/>
            <a:ext cx="64008" cy="256032"/>
          </a:xfrm>
          <a:prstGeom prst="rect">
            <a:avLst/>
          </a:prstGeom>
          <a:solidFill>
            <a:srgbClr val="12A566"/>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3,402</a:t>
            </a:r>
            <a:pPr indent="0" marL="0">
              <a:buNone/>
            </a:pPr>
            <a:r>
              <a:rPr lang="en-US" sz="1400" b="1" dirty="0">
                <a:solidFill>
                  <a:srgbClr val="0B7A4A"/>
                </a:solidFill>
                <a:latin typeface="Inter" pitchFamily="34" charset="0"/>
                <a:ea typeface="Inter" pitchFamily="34" charset="-122"/>
                <a:cs typeface="Inter" pitchFamily="34" charset="-120"/>
              </a:rPr>
              <a:t>  +46</a:t>
            </a:r>
            <a:endParaRPr lang="en-US" sz="2200" dirty="0"/>
          </a:p>
        </p:txBody>
      </p:sp>
      <p:sp>
        <p:nvSpPr>
          <p:cNvPr id="19" name="Shape 17"/>
          <p:cNvSpPr/>
          <p:nvPr/>
        </p:nvSpPr>
        <p:spPr>
          <a:xfrm>
            <a:off x="4787900" y="658368"/>
            <a:ext cx="6943852" cy="475488"/>
          </a:xfrm>
          <a:prstGeom prst="rect">
            <a:avLst/>
          </a:prstGeom>
          <a:solidFill>
            <a:srgbClr val="EDF4FA"/>
          </a:solidFill>
          <a:ln/>
        </p:spPr>
        <p:txBody>
          <a:bodyPr/>
          <a:p/>
        </p:txBody>
      </p:sp>
      <p:sp>
        <p:nvSpPr>
          <p:cNvPr id="20" name="Text 18"/>
          <p:cNvSpPr txBox="1"/>
          <p:nvPr/>
        </p:nvSpPr>
        <p:spPr>
          <a:xfrm>
            <a:off x="4915916" y="658368"/>
            <a:ext cx="6687820"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CP ELR +$41   ·   2nd · Gross/head $18,549   ·   3rd · MPI 98.2%</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 of 9</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$743K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2.28</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2.90</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$517K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+0.62 hr per RO.</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$506</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$632</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$505K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$1.49M</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$1.54M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$67K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55" name="Shape 53"/>
          <p:cNvSpPr/>
          <p:nvPr/>
        </p:nvSpPr>
        <p:spPr>
          <a:xfrm>
            <a:off x="658368" y="3725266"/>
            <a:ext cx="10872216" cy="10973"/>
          </a:xfrm>
          <a:prstGeom prst="rect">
            <a:avLst/>
          </a:prstGeom>
          <a:solidFill>
            <a:srgbClr val="9AA3AD"/>
          </a:solidFill>
          <a:ln/>
        </p:spPr>
        <p:txBody>
          <a:bodyPr/>
          <a:p/>
        </p:txBody>
      </p:sp>
      <p:sp>
        <p:nvSpPr>
          <p:cNvPr id="56" name="Text 54"/>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7" name="Text 55"/>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58" name="Text 56"/>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52.5%</a:t>
            </a:r>
            <a:endParaRPr lang="en-US" sz="1400" dirty="0"/>
          </a:p>
        </p:txBody>
      </p:sp>
      <p:sp>
        <p:nvSpPr>
          <p:cNvPr id="59" name="Text 57"/>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60" name="Text 58"/>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61" name="Text 59"/>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366 more a year.</a:t>
            </a:r>
            <a:endParaRPr lang="en-US" sz="1400" dirty="0"/>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VW Henderson</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$4.79M</a:t>
            </a:r>
            <a:pPr indent="0" marL="0">
              <a:buNone/>
            </a:pPr>
            <a:r>
              <a:rPr lang="en-US" sz="1400" b="1" dirty="0">
                <a:solidFill>
                  <a:srgbClr val="A82B26"/>
                </a:solidFill>
                <a:latin typeface="Inter" pitchFamily="34" charset="0"/>
                <a:ea typeface="Inter" pitchFamily="34" charset="-122"/>
                <a:cs typeface="Inter" pitchFamily="34" charset="-120"/>
              </a:rPr>
              <a:t>  −$761K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$1.09M</a:t>
            </a:r>
            <a:pPr indent="0" marL="0">
              <a:buNone/>
            </a:pPr>
            <a:r>
              <a:rPr lang="en-US" sz="1400" b="1" dirty="0">
                <a:solidFill>
                  <a:srgbClr val="A82B26"/>
                </a:solidFill>
                <a:latin typeface="Inter" pitchFamily="34" charset="0"/>
                <a:ea typeface="Inter" pitchFamily="34" charset="-122"/>
                <a:cs typeface="Inter" pitchFamily="34" charset="-120"/>
              </a:rPr>
              <a:t>  −$457K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83.8%</a:t>
            </a:r>
            <a:endParaRPr lang="en-US" sz="2200" dirty="0"/>
          </a:p>
        </p:txBody>
      </p:sp>
      <p:sp>
        <p:nvSpPr>
          <p:cNvPr id="14" name="Shape 12"/>
          <p:cNvSpPr/>
          <p:nvPr/>
        </p:nvSpPr>
        <p:spPr>
          <a:xfrm>
            <a:off x="7185660" y="1563624"/>
            <a:ext cx="64008" cy="256032"/>
          </a:xfrm>
          <a:prstGeom prst="rect">
            <a:avLst/>
          </a:prstGeom>
          <a:solidFill>
            <a:srgbClr val="12A566"/>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5,145</a:t>
            </a:r>
            <a:pPr indent="0" marL="0">
              <a:buNone/>
            </a:pPr>
            <a:r>
              <a:rPr lang="en-US" sz="1400" b="1" dirty="0">
                <a:solidFill>
                  <a:srgbClr val="A82B26"/>
                </a:solidFill>
                <a:latin typeface="Inter" pitchFamily="34" charset="0"/>
                <a:ea typeface="Inter" pitchFamily="34" charset="-122"/>
                <a:cs typeface="Inter" pitchFamily="34" charset="-120"/>
              </a:rPr>
              <a:t>  −4</a:t>
            </a:r>
            <a:endParaRPr lang="en-US" sz="2200" dirty="0"/>
          </a:p>
        </p:txBody>
      </p:sp>
      <p:sp>
        <p:nvSpPr>
          <p:cNvPr id="19" name="Shape 17"/>
          <p:cNvSpPr/>
          <p:nvPr/>
        </p:nvSpPr>
        <p:spPr>
          <a:xfrm>
            <a:off x="7709154" y="658368"/>
            <a:ext cx="4022598" cy="475488"/>
          </a:xfrm>
          <a:prstGeom prst="rect">
            <a:avLst/>
          </a:prstGeom>
          <a:solidFill>
            <a:srgbClr val="EDF4FA"/>
          </a:solidFill>
          <a:ln/>
        </p:spPr>
        <p:txBody>
          <a:bodyPr/>
          <a:p/>
        </p:txBody>
      </p:sp>
      <p:sp>
        <p:nvSpPr>
          <p:cNvPr id="20" name="Text 18"/>
          <p:cNvSpPr txBox="1"/>
          <p:nvPr/>
        </p:nvSpPr>
        <p:spPr>
          <a:xfrm>
            <a:off x="7837170" y="658368"/>
            <a:ext cx="3766566" cy="475488"/>
          </a:xfrm>
          <a:prstGeom prst="rect">
            <a:avLst/>
          </a:prstGeom>
          <a:noFill/>
          <a:ln/>
        </p:spPr>
        <p:txBody>
          <a:bodyPr wrap="square" lIns="0" tIns="0" rIns="0" bIns="0" rtlCol="0" anchor="ctr"/>
          <a:lstStyle/>
          <a:p>
            <a:pPr indent="0" marL="0">
              <a:lnSpc>
                <a:spcPct val="95000"/>
              </a:lnSpc>
              <a:buNone/>
            </a:pPr>
            <a:r>
              <a:rPr lang="en-US" sz="1400" b="1" spc="80" kern="0" dirty="0">
                <a:solidFill>
                  <a:srgbClr val="0B2C4A"/>
                </a:solidFill>
                <a:latin typeface="Inter" pitchFamily="34" charset="0"/>
                <a:ea typeface="Inter" pitchFamily="34" charset="-122"/>
                <a:cs typeface="Inter" pitchFamily="34" charset="-120"/>
              </a:rPr>
              <a:t>WHERE YOU LEAD</a:t>
            </a:r>
            <a:endParaRPr lang="en-US" sz="1400" dirty="0"/>
          </a:p>
          <a:p>
            <a:pPr indent="0" marL="0">
              <a:lnSpc>
                <a:spcPct val="95000"/>
              </a:lnSpc>
              <a:buNone/>
            </a:pPr>
            <a:r>
              <a:rPr lang="en-US" sz="1400" dirty="0">
                <a:solidFill>
                  <a:srgbClr val="1A1A1A"/>
                </a:solidFill>
                <a:latin typeface="Inter" pitchFamily="34" charset="0"/>
                <a:ea typeface="Inter" pitchFamily="34" charset="-122"/>
                <a:cs typeface="Inter" pitchFamily="34" charset="-120"/>
              </a:rPr>
              <a:t>1st · MPI 99.0%   ·   1st · Video 96.0%</a:t>
            </a:r>
            <a:endParaRPr lang="en-US" sz="1400" dirty="0"/>
          </a:p>
        </p:txBody>
      </p:sp>
      <p:sp>
        <p:nvSpPr>
          <p:cNvPr id="21" name="Shape 19"/>
          <p:cNvSpPr/>
          <p:nvPr/>
        </p:nvSpPr>
        <p:spPr>
          <a:xfrm>
            <a:off x="457200" y="2011680"/>
            <a:ext cx="11274552" cy="4343400"/>
          </a:xfrm>
          <a:prstGeom prst="rect">
            <a:avLst/>
          </a:prstGeom>
          <a:solidFill>
            <a:srgbClr val="FFFFFF"/>
          </a:solidFill>
          <a:ln/>
        </p:spPr>
        <p:txBody>
          <a:bodyPr/>
          <a:p/>
        </p:txBody>
      </p:sp>
      <p:sp>
        <p:nvSpPr>
          <p:cNvPr id="22" name="Text 20"/>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3" name="Text 21"/>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4" name="Text 22"/>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5" name="Text 23"/>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6" name="Text 24"/>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7" name="Text 25"/>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8" name="Shape 26"/>
          <p:cNvSpPr/>
          <p:nvPr/>
        </p:nvSpPr>
        <p:spPr>
          <a:xfrm>
            <a:off x="658368" y="2368296"/>
            <a:ext cx="10872216" cy="10973"/>
          </a:xfrm>
          <a:prstGeom prst="rect">
            <a:avLst/>
          </a:prstGeom>
          <a:solidFill>
            <a:srgbClr val="1A1A1A"/>
          </a:solidFill>
          <a:ln/>
        </p:spPr>
        <p:txBody>
          <a:bodyPr/>
          <a:p/>
        </p:txBody>
      </p:sp>
      <p:sp>
        <p:nvSpPr>
          <p:cNvPr id="29" name="Text 27"/>
          <p:cNvSpPr txBox="1"/>
          <p:nvPr/>
        </p:nvSpPr>
        <p:spPr>
          <a:xfrm>
            <a:off x="658368" y="241401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30" name="Text 28"/>
          <p:cNvSpPr txBox="1"/>
          <p:nvPr/>
        </p:nvSpPr>
        <p:spPr>
          <a:xfrm>
            <a:off x="1024128" y="241401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31" name="Text 29"/>
          <p:cNvSpPr txBox="1"/>
          <p:nvPr/>
        </p:nvSpPr>
        <p:spPr>
          <a:xfrm>
            <a:off x="2990088" y="241401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$3.50M</a:t>
            </a:r>
            <a:endParaRPr lang="en-US" sz="1400" dirty="0"/>
          </a:p>
        </p:txBody>
      </p:sp>
      <p:sp>
        <p:nvSpPr>
          <p:cNvPr id="32" name="Text 30"/>
          <p:cNvSpPr txBox="1"/>
          <p:nvPr/>
        </p:nvSpPr>
        <p:spPr>
          <a:xfrm>
            <a:off x="4087368" y="241401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33" name="Text 31"/>
          <p:cNvSpPr txBox="1"/>
          <p:nvPr/>
        </p:nvSpPr>
        <p:spPr>
          <a:xfrm>
            <a:off x="5989320" y="241401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$730K</a:t>
            </a:r>
            <a:endParaRPr lang="en-US" sz="1400" dirty="0"/>
          </a:p>
        </p:txBody>
      </p:sp>
      <p:sp>
        <p:nvSpPr>
          <p:cNvPr id="34" name="Text 32"/>
          <p:cNvSpPr txBox="1"/>
          <p:nvPr/>
        </p:nvSpPr>
        <p:spPr>
          <a:xfrm>
            <a:off x="7059168" y="241401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35" name="Shape 33"/>
          <p:cNvSpPr/>
          <p:nvPr/>
        </p:nvSpPr>
        <p:spPr>
          <a:xfrm>
            <a:off x="658368" y="2743200"/>
            <a:ext cx="10872216" cy="329184"/>
          </a:xfrm>
          <a:prstGeom prst="rect">
            <a:avLst/>
          </a:prstGeom>
          <a:solidFill>
            <a:srgbClr val="F7F7F7"/>
          </a:solidFill>
          <a:ln/>
        </p:spPr>
        <p:txBody>
          <a:bodyPr/>
          <a:p/>
        </p:txBody>
      </p:sp>
      <p:sp>
        <p:nvSpPr>
          <p:cNvPr id="36" name="Text 34"/>
          <p:cNvSpPr txBox="1"/>
          <p:nvPr/>
        </p:nvSpPr>
        <p:spPr>
          <a:xfrm>
            <a:off x="658368" y="274320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7" name="Text 35"/>
          <p:cNvSpPr txBox="1"/>
          <p:nvPr/>
        </p:nvSpPr>
        <p:spPr>
          <a:xfrm>
            <a:off x="1024128" y="274320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38" name="Text 36"/>
          <p:cNvSpPr txBox="1"/>
          <p:nvPr/>
        </p:nvSpPr>
        <p:spPr>
          <a:xfrm>
            <a:off x="2990088" y="274320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6 of 19</a:t>
            </a:r>
            <a:endParaRPr lang="en-US" sz="1400" dirty="0"/>
          </a:p>
        </p:txBody>
      </p:sp>
      <p:sp>
        <p:nvSpPr>
          <p:cNvPr id="39" name="Text 37"/>
          <p:cNvSpPr txBox="1"/>
          <p:nvPr/>
        </p:nvSpPr>
        <p:spPr>
          <a:xfrm>
            <a:off x="4087368" y="274320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40" name="Text 38"/>
          <p:cNvSpPr txBox="1"/>
          <p:nvPr/>
        </p:nvSpPr>
        <p:spPr>
          <a:xfrm>
            <a:off x="5989320" y="2743200"/>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$295K</a:t>
            </a:r>
            <a:endParaRPr lang="en-US" sz="1400" dirty="0"/>
          </a:p>
        </p:txBody>
      </p:sp>
      <p:sp>
        <p:nvSpPr>
          <p:cNvPr id="41" name="Text 39"/>
          <p:cNvSpPr txBox="1"/>
          <p:nvPr/>
        </p:nvSpPr>
        <p:spPr>
          <a:xfrm>
            <a:off x="7059168" y="274320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Lift the 6 under 85%: dispatch, parts.</a:t>
            </a:r>
            <a:endParaRPr lang="en-US" sz="1400" dirty="0"/>
          </a:p>
        </p:txBody>
      </p:sp>
      <p:sp>
        <p:nvSpPr>
          <p:cNvPr id="42" name="Text 40"/>
          <p:cNvSpPr txBox="1"/>
          <p:nvPr/>
        </p:nvSpPr>
        <p:spPr>
          <a:xfrm>
            <a:off x="658368" y="3072384"/>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3" name="Text 41"/>
          <p:cNvSpPr txBox="1"/>
          <p:nvPr/>
        </p:nvSpPr>
        <p:spPr>
          <a:xfrm>
            <a:off x="1024128" y="3072384"/>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44" name="Text 42"/>
          <p:cNvSpPr txBox="1"/>
          <p:nvPr/>
        </p:nvSpPr>
        <p:spPr>
          <a:xfrm>
            <a:off x="2990088" y="3072384"/>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$1.29M</a:t>
            </a:r>
            <a:endParaRPr lang="en-US" sz="1400" dirty="0"/>
          </a:p>
        </p:txBody>
      </p:sp>
      <p:sp>
        <p:nvSpPr>
          <p:cNvPr id="45" name="Text 43"/>
          <p:cNvSpPr txBox="1"/>
          <p:nvPr/>
        </p:nvSpPr>
        <p:spPr>
          <a:xfrm>
            <a:off x="4087368" y="3072384"/>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$1.50M</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6" name="Text 44"/>
          <p:cNvSpPr txBox="1"/>
          <p:nvPr/>
        </p:nvSpPr>
        <p:spPr>
          <a:xfrm>
            <a:off x="5989320" y="3072384"/>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$285K</a:t>
            </a:r>
            <a:endParaRPr lang="en-US" sz="1400" dirty="0"/>
          </a:p>
        </p:txBody>
      </p:sp>
      <p:sp>
        <p:nvSpPr>
          <p:cNvPr id="47" name="Text 45"/>
          <p:cNvSpPr txBox="1"/>
          <p:nvPr/>
        </p:nvSpPr>
        <p:spPr>
          <a:xfrm>
            <a:off x="7059168" y="3072384"/>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48" name="Shape 46"/>
          <p:cNvSpPr/>
          <p:nvPr/>
        </p:nvSpPr>
        <p:spPr>
          <a:xfrm>
            <a:off x="658368" y="3401568"/>
            <a:ext cx="10872216" cy="329184"/>
          </a:xfrm>
          <a:prstGeom prst="rect">
            <a:avLst/>
          </a:prstGeom>
          <a:solidFill>
            <a:srgbClr val="F7F7F7"/>
          </a:solidFill>
          <a:ln/>
        </p:spPr>
        <p:txBody>
          <a:bodyPr/>
          <a:p/>
        </p:txBody>
      </p:sp>
      <p:sp>
        <p:nvSpPr>
          <p:cNvPr id="49" name="Text 47"/>
          <p:cNvSpPr txBox="1"/>
          <p:nvPr/>
        </p:nvSpPr>
        <p:spPr>
          <a:xfrm>
            <a:off x="658368" y="3401568"/>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50" name="Text 48"/>
          <p:cNvSpPr txBox="1"/>
          <p:nvPr/>
        </p:nvSpPr>
        <p:spPr>
          <a:xfrm>
            <a:off x="1024128" y="3401568"/>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parts GP %</a:t>
            </a:r>
            <a:endParaRPr lang="en-US" sz="1400" dirty="0"/>
          </a:p>
        </p:txBody>
      </p:sp>
      <p:sp>
        <p:nvSpPr>
          <p:cNvPr id="51" name="Text 49"/>
          <p:cNvSpPr txBox="1"/>
          <p:nvPr/>
        </p:nvSpPr>
        <p:spPr>
          <a:xfrm>
            <a:off x="2990088" y="3401568"/>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36.9%</a:t>
            </a:r>
            <a:endParaRPr lang="en-US" sz="1400" dirty="0"/>
          </a:p>
        </p:txBody>
      </p:sp>
      <p:sp>
        <p:nvSpPr>
          <p:cNvPr id="52" name="Text 50"/>
          <p:cNvSpPr txBox="1"/>
          <p:nvPr/>
        </p:nvSpPr>
        <p:spPr>
          <a:xfrm>
            <a:off x="4087368" y="3401568"/>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3" name="Text 51"/>
          <p:cNvSpPr txBox="1"/>
          <p:nvPr/>
        </p:nvSpPr>
        <p:spPr>
          <a:xfrm>
            <a:off x="5989320" y="3401568"/>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$69K</a:t>
            </a:r>
            <a:endParaRPr lang="en-US" sz="1400" dirty="0"/>
          </a:p>
        </p:txBody>
      </p:sp>
      <p:sp>
        <p:nvSpPr>
          <p:cNvPr id="54" name="Text 52"/>
          <p:cNvSpPr txBox="1"/>
          <p:nvPr/>
        </p:nvSpPr>
        <p:spPr>
          <a:xfrm>
            <a:off x="7059168" y="3401568"/>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Price to the matrix; watch overrides.</a:t>
            </a:r>
            <a:endParaRPr lang="en-US" sz="1400" dirty="0"/>
          </a:p>
        </p:txBody>
      </p:sp>
      <p:sp>
        <p:nvSpPr>
          <p:cNvPr id="55" name="Text 53"/>
          <p:cNvSpPr txBox="1"/>
          <p:nvPr/>
        </p:nvSpPr>
        <p:spPr>
          <a:xfrm>
            <a:off x="658368" y="3730752"/>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6" name="Text 54"/>
          <p:cNvSpPr txBox="1"/>
          <p:nvPr/>
        </p:nvSpPr>
        <p:spPr>
          <a:xfrm>
            <a:off x="1024128" y="3730752"/>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57" name="Text 55"/>
          <p:cNvSpPr txBox="1"/>
          <p:nvPr/>
        </p:nvSpPr>
        <p:spPr>
          <a:xfrm>
            <a:off x="2990088" y="3730752"/>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8.2%</a:t>
            </a:r>
            <a:endParaRPr lang="en-US" sz="1400" dirty="0"/>
          </a:p>
        </p:txBody>
      </p:sp>
      <p:sp>
        <p:nvSpPr>
          <p:cNvPr id="58" name="Text 56"/>
          <p:cNvSpPr txBox="1"/>
          <p:nvPr/>
        </p:nvSpPr>
        <p:spPr>
          <a:xfrm>
            <a:off x="4087368" y="3730752"/>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59" name="Text 57"/>
          <p:cNvSpPr txBox="1"/>
          <p:nvPr/>
        </p:nvSpPr>
        <p:spPr>
          <a:xfrm>
            <a:off x="5989320" y="3730752"/>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$27K</a:t>
            </a:r>
            <a:endParaRPr lang="en-US" sz="1400" dirty="0"/>
          </a:p>
        </p:txBody>
      </p:sp>
      <p:sp>
        <p:nvSpPr>
          <p:cNvPr id="60" name="Text 58"/>
          <p:cNvSpPr txBox="1"/>
          <p:nvPr/>
        </p:nvSpPr>
        <p:spPr>
          <a:xfrm>
            <a:off x="7059168" y="3730752"/>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460 more a year.</a:t>
            </a:r>
            <a:endParaRPr lang="en-US" sz="1400" dirty="0"/>
          </a:p>
        </p:txBody>
      </p:sp>
      <p:sp>
        <p:nvSpPr>
          <p:cNvPr id="61" name="Shape 59"/>
          <p:cNvSpPr/>
          <p:nvPr/>
        </p:nvSpPr>
        <p:spPr>
          <a:xfrm>
            <a:off x="658368" y="4059936"/>
            <a:ext cx="10872216" cy="329184"/>
          </a:xfrm>
          <a:prstGeom prst="rect">
            <a:avLst/>
          </a:prstGeom>
          <a:solidFill>
            <a:srgbClr val="F7F7F7"/>
          </a:solidFill>
          <a:ln/>
        </p:spPr>
        <p:txBody>
          <a:bodyPr/>
          <a:p/>
        </p:txBody>
      </p:sp>
      <p:sp>
        <p:nvSpPr>
          <p:cNvPr id="62" name="Text 60"/>
          <p:cNvSpPr txBox="1"/>
          <p:nvPr/>
        </p:nvSpPr>
        <p:spPr>
          <a:xfrm>
            <a:off x="658368" y="4059936"/>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3" name="Text 61"/>
          <p:cNvSpPr txBox="1"/>
          <p:nvPr/>
        </p:nvSpPr>
        <p:spPr>
          <a:xfrm>
            <a:off x="1024128" y="4059936"/>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64" name="Text 62"/>
          <p:cNvSpPr txBox="1"/>
          <p:nvPr/>
        </p:nvSpPr>
        <p:spPr>
          <a:xfrm>
            <a:off x="2990088" y="4059936"/>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13.6%</a:t>
            </a:r>
            <a:endParaRPr lang="en-US" sz="1400" dirty="0"/>
          </a:p>
        </p:txBody>
      </p:sp>
      <p:sp>
        <p:nvSpPr>
          <p:cNvPr id="65" name="Text 63"/>
          <p:cNvSpPr txBox="1"/>
          <p:nvPr/>
        </p:nvSpPr>
        <p:spPr>
          <a:xfrm>
            <a:off x="4087368" y="4059936"/>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6" name="Text 64"/>
          <p:cNvSpPr txBox="1"/>
          <p:nvPr/>
        </p:nvSpPr>
        <p:spPr>
          <a:xfrm>
            <a:off x="5989320" y="4059936"/>
            <a:ext cx="868680" cy="329184"/>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$23K</a:t>
            </a:r>
            <a:endParaRPr lang="en-US" sz="1400" dirty="0"/>
          </a:p>
        </p:txBody>
      </p:sp>
      <p:sp>
        <p:nvSpPr>
          <p:cNvPr id="67" name="Text 65"/>
          <p:cNvSpPr txBox="1"/>
          <p:nvPr/>
        </p:nvSpPr>
        <p:spPr>
          <a:xfrm>
            <a:off x="7059168" y="4059936"/>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96 more a year.</a:t>
            </a:r>
            <a:endParaRPr lang="en-US" sz="1400" dirty="0"/>
          </a:p>
        </p:txBody>
      </p:sp>
      <p:sp>
        <p:nvSpPr>
          <p:cNvPr id="68" name="Shape 66"/>
          <p:cNvSpPr/>
          <p:nvPr/>
        </p:nvSpPr>
        <p:spPr>
          <a:xfrm>
            <a:off x="658368" y="4383634"/>
            <a:ext cx="10872216" cy="10973"/>
          </a:xfrm>
          <a:prstGeom prst="rect">
            <a:avLst/>
          </a:prstGeom>
          <a:solidFill>
            <a:srgbClr val="9AA3AD"/>
          </a:solidFill>
          <a:ln/>
        </p:spPr>
        <p:txBody>
          <a:bodyPr/>
          <a:p/>
        </p:txBody>
      </p:sp>
      <p:sp>
        <p:nvSpPr>
          <p:cNvPr id="69" name="Text 67"/>
          <p:cNvSpPr txBox="1"/>
          <p:nvPr/>
        </p:nvSpPr>
        <p:spPr>
          <a:xfrm>
            <a:off x="658368" y="4389120"/>
            <a:ext cx="310896" cy="329184"/>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70" name="Text 68"/>
          <p:cNvSpPr txBox="1"/>
          <p:nvPr/>
        </p:nvSpPr>
        <p:spPr>
          <a:xfrm>
            <a:off x="1024128" y="4389120"/>
            <a:ext cx="187452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71" name="Text 69"/>
          <p:cNvSpPr txBox="1"/>
          <p:nvPr/>
        </p:nvSpPr>
        <p:spPr>
          <a:xfrm>
            <a:off x="2990088" y="4389120"/>
            <a:ext cx="1005840" cy="329184"/>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$12,006</a:t>
            </a:r>
            <a:endParaRPr lang="en-US" sz="1400" dirty="0"/>
          </a:p>
        </p:txBody>
      </p:sp>
      <p:sp>
        <p:nvSpPr>
          <p:cNvPr id="72" name="Text 70"/>
          <p:cNvSpPr txBox="1"/>
          <p:nvPr/>
        </p:nvSpPr>
        <p:spPr>
          <a:xfrm>
            <a:off x="4087368" y="4389120"/>
            <a:ext cx="1828800" cy="329184"/>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73" name="Text 71"/>
          <p:cNvSpPr txBox="1"/>
          <p:nvPr/>
        </p:nvSpPr>
        <p:spPr>
          <a:xfrm>
            <a:off x="5989320" y="4389120"/>
            <a:ext cx="868680" cy="329184"/>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74" name="Text 72"/>
          <p:cNvSpPr txBox="1"/>
          <p:nvPr/>
        </p:nvSpPr>
        <p:spPr>
          <a:xfrm>
            <a:off x="7059168" y="4389120"/>
            <a:ext cx="4471416" cy="329184"/>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2.5 heads over peer avg.</a:t>
            </a:r>
            <a:endParaRPr lang="en-US" sz="1400" dirty="0"/>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txBody>
          <a:bodyPr/>
          <a:p/>
        </p:txBody>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STORE PRESCRIPTIONS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VW St George</a:t>
            </a:r>
            <a:endParaRPr lang="en-US" sz="2800" dirty="0"/>
          </a:p>
        </p:txBody>
      </p:sp>
      <p:sp>
        <p:nvSpPr>
          <p:cNvPr id="5" name="Shape 3"/>
          <p:cNvSpPr/>
          <p:nvPr/>
        </p:nvSpPr>
        <p:spPr>
          <a:xfrm>
            <a:off x="457200" y="1207008"/>
            <a:ext cx="11274552" cy="713232"/>
          </a:xfrm>
          <a:prstGeom prst="rect">
            <a:avLst/>
          </a:prstGeom>
          <a:solidFill>
            <a:srgbClr val="FFFFFF"/>
          </a:solidFill>
          <a:ln/>
        </p:spPr>
        <p:txBody>
          <a:bodyPr/>
          <a:p/>
        </p:txBody>
      </p:sp>
      <p:sp>
        <p:nvSpPr>
          <p:cNvPr id="6" name="Text 4"/>
          <p:cNvSpPr txBox="1"/>
          <p:nvPr/>
        </p:nvSpPr>
        <p:spPr>
          <a:xfrm>
            <a:off x="685800"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7" name="Text 5"/>
          <p:cNvSpPr txBox="1"/>
          <p:nvPr/>
        </p:nvSpPr>
        <p:spPr>
          <a:xfrm>
            <a:off x="685800"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$968,018</a:t>
            </a:r>
            <a:pPr indent="0" marL="0">
              <a:buNone/>
            </a:pPr>
            <a:r>
              <a:rPr lang="en-US" sz="1400" b="1" dirty="0">
                <a:solidFill>
                  <a:srgbClr val="A82B26"/>
                </a:solidFill>
                <a:latin typeface="Inter" pitchFamily="34" charset="0"/>
                <a:ea typeface="Inter" pitchFamily="34" charset="-122"/>
                <a:cs typeface="Inter" pitchFamily="34" charset="-120"/>
              </a:rPr>
              <a:t>  −$163K</a:t>
            </a:r>
            <a:endParaRPr lang="en-US" sz="2200" dirty="0"/>
          </a:p>
        </p:txBody>
      </p:sp>
      <p:sp>
        <p:nvSpPr>
          <p:cNvPr id="8" name="Shape 6"/>
          <p:cNvSpPr/>
          <p:nvPr/>
        </p:nvSpPr>
        <p:spPr>
          <a:xfrm>
            <a:off x="3355848" y="1316736"/>
            <a:ext cx="10973" cy="493776"/>
          </a:xfrm>
          <a:prstGeom prst="rect">
            <a:avLst/>
          </a:prstGeom>
          <a:solidFill>
            <a:srgbClr val="D9D9D9"/>
          </a:solidFill>
          <a:ln/>
        </p:spPr>
        <p:txBody>
          <a:bodyPr/>
          <a:p/>
        </p:txBody>
      </p:sp>
      <p:sp>
        <p:nvSpPr>
          <p:cNvPr id="9" name="Text 7"/>
          <p:cNvSpPr txBox="1"/>
          <p:nvPr/>
        </p:nvSpPr>
        <p:spPr>
          <a:xfrm>
            <a:off x="3447288"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10" name="Text 8"/>
          <p:cNvSpPr txBox="1"/>
          <p:nvPr/>
        </p:nvSpPr>
        <p:spPr>
          <a:xfrm>
            <a:off x="3447288" y="1517904"/>
            <a:ext cx="2651760" cy="347472"/>
          </a:xfrm>
          <a:prstGeom prst="rect">
            <a:avLst/>
          </a:prstGeom>
          <a:noFill/>
          <a:ln/>
        </p:spPr>
        <p:txBody>
          <a:bodyPr wrap="square" lIns="0" tIns="0" rIns="0" bIns="0" rtlCol="0" anchor="ctr"/>
          <a:lstStyle/>
          <a:p>
            <a:pPr indent="0" marL="0">
              <a:buNone/>
            </a:pPr>
            <a:r>
              <a:rPr lang="en-US" sz="2200" b="1" dirty="0">
                <a:solidFill>
                  <a:srgbClr val="A82B26"/>
                </a:solidFill>
                <a:latin typeface="Inter" pitchFamily="34" charset="0"/>
                <a:ea typeface="Inter" pitchFamily="34" charset="-122"/>
                <a:cs typeface="Inter" pitchFamily="34" charset="-120"/>
              </a:rPr>
              <a:t>−$58,644</a:t>
            </a:r>
            <a:pPr indent="0" marL="0">
              <a:buNone/>
            </a:pPr>
            <a:r>
              <a:rPr lang="en-US" sz="1400" b="1" dirty="0">
                <a:solidFill>
                  <a:srgbClr val="A82B26"/>
                </a:solidFill>
                <a:latin typeface="Inter" pitchFamily="34" charset="0"/>
                <a:ea typeface="Inter" pitchFamily="34" charset="-122"/>
                <a:cs typeface="Inter" pitchFamily="34" charset="-120"/>
              </a:rPr>
              <a:t>  −$212K</a:t>
            </a:r>
            <a:endParaRPr lang="en-US" sz="2200" dirty="0"/>
          </a:p>
        </p:txBody>
      </p:sp>
      <p:sp>
        <p:nvSpPr>
          <p:cNvPr id="11" name="Shape 9"/>
          <p:cNvSpPr/>
          <p:nvPr/>
        </p:nvSpPr>
        <p:spPr>
          <a:xfrm>
            <a:off x="6117336" y="1316736"/>
            <a:ext cx="10973" cy="493776"/>
          </a:xfrm>
          <a:prstGeom prst="rect">
            <a:avLst/>
          </a:prstGeom>
          <a:solidFill>
            <a:srgbClr val="D9D9D9"/>
          </a:solidFill>
          <a:ln/>
        </p:spPr>
        <p:txBody>
          <a:bodyPr/>
          <a:p/>
        </p:txBody>
      </p:sp>
      <p:sp>
        <p:nvSpPr>
          <p:cNvPr id="12" name="Text 10"/>
          <p:cNvSpPr txBox="1"/>
          <p:nvPr/>
        </p:nvSpPr>
        <p:spPr>
          <a:xfrm>
            <a:off x="6208776"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ABSORPTION</a:t>
            </a:r>
            <a:endParaRPr lang="en-US" sz="1400" dirty="0"/>
          </a:p>
        </p:txBody>
      </p:sp>
      <p:sp>
        <p:nvSpPr>
          <p:cNvPr id="13" name="Text 11"/>
          <p:cNvSpPr txBox="1"/>
          <p:nvPr/>
        </p:nvSpPr>
        <p:spPr>
          <a:xfrm>
            <a:off x="6208776" y="1517904"/>
            <a:ext cx="976884"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54.1%</a:t>
            </a:r>
            <a:endParaRPr lang="en-US" sz="2200" dirty="0"/>
          </a:p>
        </p:txBody>
      </p:sp>
      <p:sp>
        <p:nvSpPr>
          <p:cNvPr id="14" name="Shape 12"/>
          <p:cNvSpPr/>
          <p:nvPr/>
        </p:nvSpPr>
        <p:spPr>
          <a:xfrm>
            <a:off x="7185660" y="1563624"/>
            <a:ext cx="64008" cy="256032"/>
          </a:xfrm>
          <a:prstGeom prst="rect">
            <a:avLst/>
          </a:prstGeom>
          <a:solidFill>
            <a:srgbClr val="C2352F"/>
          </a:solidFill>
          <a:ln/>
        </p:spPr>
        <p:txBody>
          <a:bodyPr/>
          <a:p/>
        </p:txBody>
      </p:sp>
      <p:sp>
        <p:nvSpPr>
          <p:cNvPr id="15" name="Text 13"/>
          <p:cNvSpPr txBox="1"/>
          <p:nvPr/>
        </p:nvSpPr>
        <p:spPr>
          <a:xfrm>
            <a:off x="7341108" y="1517904"/>
            <a:ext cx="1519428" cy="347472"/>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group 77.9%</a:t>
            </a:r>
            <a:endParaRPr lang="en-US" sz="1400" dirty="0"/>
          </a:p>
        </p:txBody>
      </p:sp>
      <p:sp>
        <p:nvSpPr>
          <p:cNvPr id="16" name="Shape 14"/>
          <p:cNvSpPr/>
          <p:nvPr/>
        </p:nvSpPr>
        <p:spPr>
          <a:xfrm>
            <a:off x="8878824" y="1316736"/>
            <a:ext cx="10973" cy="493776"/>
          </a:xfrm>
          <a:prstGeom prst="rect">
            <a:avLst/>
          </a:prstGeom>
          <a:solidFill>
            <a:srgbClr val="D9D9D9"/>
          </a:solidFill>
          <a:ln/>
        </p:spPr>
        <p:txBody>
          <a:bodyPr/>
          <a:p/>
        </p:txBody>
      </p:sp>
      <p:sp>
        <p:nvSpPr>
          <p:cNvPr id="17" name="Text 15"/>
          <p:cNvSpPr txBox="1"/>
          <p:nvPr/>
        </p:nvSpPr>
        <p:spPr>
          <a:xfrm>
            <a:off x="8970264" y="1280160"/>
            <a:ext cx="2651760" cy="237744"/>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CP ROS</a:t>
            </a:r>
            <a:endParaRPr lang="en-US" sz="1400" dirty="0"/>
          </a:p>
        </p:txBody>
      </p:sp>
      <p:sp>
        <p:nvSpPr>
          <p:cNvPr id="18" name="Text 16"/>
          <p:cNvSpPr txBox="1"/>
          <p:nvPr/>
        </p:nvSpPr>
        <p:spPr>
          <a:xfrm>
            <a:off x="8970264" y="1517904"/>
            <a:ext cx="2651760" cy="347472"/>
          </a:xfrm>
          <a:prstGeom prst="rect">
            <a:avLst/>
          </a:prstGeom>
          <a:noFill/>
          <a:ln/>
        </p:spPr>
        <p:txBody>
          <a:bodyPr wrap="square" lIns="0" tIns="0" rIns="0" bIns="0" rtlCol="0" anchor="ctr"/>
          <a:lstStyle/>
          <a:p>
            <a:pPr indent="0" marL="0">
              <a:buNone/>
            </a:pPr>
            <a:r>
              <a:rPr lang="en-US" sz="2200" b="1" dirty="0">
                <a:solidFill>
                  <a:srgbClr val="0B2C4A"/>
                </a:solidFill>
                <a:latin typeface="Inter" pitchFamily="34" charset="0"/>
                <a:ea typeface="Inter" pitchFamily="34" charset="-122"/>
                <a:cs typeface="Inter" pitchFamily="34" charset="-120"/>
              </a:rPr>
              <a:t>1,919</a:t>
            </a:r>
            <a:pPr indent="0" marL="0">
              <a:buNone/>
            </a:pPr>
            <a:r>
              <a:rPr lang="en-US" sz="1400" b="1" dirty="0">
                <a:solidFill>
                  <a:srgbClr val="A82B26"/>
                </a:solidFill>
                <a:latin typeface="Inter" pitchFamily="34" charset="0"/>
                <a:ea typeface="Inter" pitchFamily="34" charset="-122"/>
                <a:cs typeface="Inter" pitchFamily="34" charset="-120"/>
              </a:rPr>
              <a:t>  −332</a:t>
            </a:r>
            <a:endParaRPr lang="en-US" sz="2200" dirty="0"/>
          </a:p>
        </p:txBody>
      </p:sp>
      <p:sp>
        <p:nvSpPr>
          <p:cNvPr id="19" name="Shape 17"/>
          <p:cNvSpPr/>
          <p:nvPr/>
        </p:nvSpPr>
        <p:spPr>
          <a:xfrm>
            <a:off x="457200" y="2011680"/>
            <a:ext cx="11274552" cy="4343400"/>
          </a:xfrm>
          <a:prstGeom prst="rect">
            <a:avLst/>
          </a:prstGeom>
          <a:solidFill>
            <a:srgbClr val="FFFFFF"/>
          </a:solidFill>
          <a:ln/>
        </p:spPr>
        <p:txBody>
          <a:bodyPr/>
          <a:p/>
        </p:txBody>
      </p:sp>
      <p:sp>
        <p:nvSpPr>
          <p:cNvPr id="20" name="Text 18"/>
          <p:cNvSpPr txBox="1"/>
          <p:nvPr/>
        </p:nvSpPr>
        <p:spPr>
          <a:xfrm>
            <a:off x="658368" y="2084832"/>
            <a:ext cx="310896" cy="256032"/>
          </a:xfrm>
          <a:prstGeom prst="rect">
            <a:avLst/>
          </a:prstGeom>
          <a:noFill/>
          <a:ln/>
        </p:spPr>
        <p:txBody>
          <a:bodyPr wrap="square" lIns="0" tIns="0" rIns="0" bIns="0" rtlCol="0" anchor="ctr"/>
          <a:lstStyle/>
          <a:p>
            <a:pPr algn="l" indent="0" marL="0">
              <a:buNone/>
            </a:pPr>
            <a:endParaRPr lang="en-US" sz="1400" dirty="0"/>
          </a:p>
        </p:txBody>
      </p:sp>
      <p:sp>
        <p:nvSpPr>
          <p:cNvPr id="21" name="Text 19"/>
          <p:cNvSpPr txBox="1"/>
          <p:nvPr/>
        </p:nvSpPr>
        <p:spPr>
          <a:xfrm>
            <a:off x="1024128" y="2084832"/>
            <a:ext cx="187452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AREA</a:t>
            </a:r>
            <a:endParaRPr lang="en-US" sz="1400" dirty="0"/>
          </a:p>
        </p:txBody>
      </p:sp>
      <p:sp>
        <p:nvSpPr>
          <p:cNvPr id="22" name="Text 20"/>
          <p:cNvSpPr txBox="1"/>
          <p:nvPr/>
        </p:nvSpPr>
        <p:spPr>
          <a:xfrm>
            <a:off x="2990088" y="2084832"/>
            <a:ext cx="100584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YOURS</a:t>
            </a:r>
            <a:endParaRPr lang="en-US" sz="1400" dirty="0"/>
          </a:p>
        </p:txBody>
      </p:sp>
      <p:sp>
        <p:nvSpPr>
          <p:cNvPr id="23" name="Text 21"/>
          <p:cNvSpPr txBox="1"/>
          <p:nvPr/>
        </p:nvSpPr>
        <p:spPr>
          <a:xfrm>
            <a:off x="4087368" y="2084832"/>
            <a:ext cx="1828800"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THE BAR</a:t>
            </a:r>
            <a:endParaRPr lang="en-US" sz="1400" dirty="0"/>
          </a:p>
        </p:txBody>
      </p:sp>
      <p:sp>
        <p:nvSpPr>
          <p:cNvPr id="24" name="Text 22"/>
          <p:cNvSpPr txBox="1"/>
          <p:nvPr/>
        </p:nvSpPr>
        <p:spPr>
          <a:xfrm>
            <a:off x="5989320" y="2084832"/>
            <a:ext cx="868680" cy="256032"/>
          </a:xfrm>
          <a:prstGeom prst="rect">
            <a:avLst/>
          </a:prstGeom>
          <a:noFill/>
          <a:ln/>
        </p:spPr>
        <p:txBody>
          <a:bodyPr wrap="square" lIns="0" tIns="0" rIns="0" bIns="0" rtlCol="0" anchor="ctr"/>
          <a:lstStyle/>
          <a:p>
            <a:pPr algn="r" indent="0" marL="0">
              <a:buNone/>
            </a:pPr>
            <a:r>
              <a:rPr lang="en-US" sz="1400" b="1" spc="80" kern="0" dirty="0">
                <a:solidFill>
                  <a:srgbClr val="595959"/>
                </a:solidFill>
                <a:latin typeface="Inter" pitchFamily="34" charset="0"/>
                <a:ea typeface="Inter" pitchFamily="34" charset="-122"/>
                <a:cs typeface="Inter" pitchFamily="34" charset="-120"/>
              </a:rPr>
              <a:t>A YEAR</a:t>
            </a:r>
            <a:endParaRPr lang="en-US" sz="1400" dirty="0"/>
          </a:p>
        </p:txBody>
      </p:sp>
      <p:sp>
        <p:nvSpPr>
          <p:cNvPr id="25" name="Text 23"/>
          <p:cNvSpPr txBox="1"/>
          <p:nvPr/>
        </p:nvSpPr>
        <p:spPr>
          <a:xfrm>
            <a:off x="7059168" y="2084832"/>
            <a:ext cx="4471416" cy="256032"/>
          </a:xfrm>
          <a:prstGeom prst="rect">
            <a:avLst/>
          </a:prstGeom>
          <a:noFill/>
          <a:ln/>
        </p:spPr>
        <p:txBody>
          <a:bodyPr wrap="square" lIns="0" tIns="0" rIns="0" bIns="0" rtlCol="0" anchor="ctr"/>
          <a:lstStyle/>
          <a:p>
            <a:pPr algn="l" indent="0" marL="0">
              <a:buNone/>
            </a:pPr>
            <a:r>
              <a:rPr lang="en-US" sz="1400" b="1" spc="80" kern="0" dirty="0">
                <a:solidFill>
                  <a:srgbClr val="595959"/>
                </a:solidFill>
                <a:latin typeface="Inter" pitchFamily="34" charset="0"/>
                <a:ea typeface="Inter" pitchFamily="34" charset="-122"/>
                <a:cs typeface="Inter" pitchFamily="34" charset="-120"/>
              </a:rPr>
              <a:t>PRESCRIPTION</a:t>
            </a:r>
            <a:endParaRPr lang="en-US" sz="1400" dirty="0"/>
          </a:p>
        </p:txBody>
      </p:sp>
      <p:sp>
        <p:nvSpPr>
          <p:cNvPr id="26" name="Shape 24"/>
          <p:cNvSpPr/>
          <p:nvPr/>
        </p:nvSpPr>
        <p:spPr>
          <a:xfrm>
            <a:off x="658368" y="2368296"/>
            <a:ext cx="10872216" cy="10973"/>
          </a:xfrm>
          <a:prstGeom prst="rect">
            <a:avLst/>
          </a:prstGeom>
          <a:solidFill>
            <a:srgbClr val="1A1A1A"/>
          </a:solidFill>
          <a:ln/>
        </p:spPr>
        <p:txBody>
          <a:bodyPr/>
          <a:p/>
        </p:txBody>
      </p:sp>
      <p:sp>
        <p:nvSpPr>
          <p:cNvPr id="27" name="Text 25"/>
          <p:cNvSpPr txBox="1"/>
          <p:nvPr/>
        </p:nvSpPr>
        <p:spPr>
          <a:xfrm>
            <a:off x="658368" y="2414016"/>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a:t>
            </a:r>
            <a:endParaRPr lang="en-US" sz="1400" dirty="0"/>
          </a:p>
        </p:txBody>
      </p:sp>
      <p:sp>
        <p:nvSpPr>
          <p:cNvPr id="28" name="Text 26"/>
          <p:cNvSpPr txBox="1"/>
          <p:nvPr/>
        </p:nvSpPr>
        <p:spPr>
          <a:xfrm>
            <a:off x="1024128" y="2414016"/>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Techs under 85%</a:t>
            </a:r>
            <a:endParaRPr lang="en-US" sz="1400" dirty="0"/>
          </a:p>
        </p:txBody>
      </p:sp>
      <p:sp>
        <p:nvSpPr>
          <p:cNvPr id="29" name="Text 27"/>
          <p:cNvSpPr txBox="1"/>
          <p:nvPr/>
        </p:nvSpPr>
        <p:spPr>
          <a:xfrm>
            <a:off x="2990088" y="2414016"/>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 of 5</a:t>
            </a:r>
            <a:endParaRPr lang="en-US" sz="1400" dirty="0"/>
          </a:p>
        </p:txBody>
      </p:sp>
      <p:sp>
        <p:nvSpPr>
          <p:cNvPr id="30" name="Text 28"/>
          <p:cNvSpPr txBox="1"/>
          <p:nvPr/>
        </p:nvSpPr>
        <p:spPr>
          <a:xfrm>
            <a:off x="4087368" y="2414016"/>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85%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31" name="Text 29"/>
          <p:cNvSpPr txBox="1"/>
          <p:nvPr/>
        </p:nvSpPr>
        <p:spPr>
          <a:xfrm>
            <a:off x="5989320" y="2414016"/>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$248K</a:t>
            </a:r>
            <a:endParaRPr lang="en-US" sz="1400" dirty="0"/>
          </a:p>
        </p:txBody>
      </p:sp>
      <p:sp>
        <p:nvSpPr>
          <p:cNvPr id="32" name="Text 30"/>
          <p:cNvSpPr txBox="1"/>
          <p:nvPr/>
        </p:nvSpPr>
        <p:spPr>
          <a:xfrm>
            <a:off x="7059168" y="2414016"/>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Dispatch, staging and approvals: flag 85%.</a:t>
            </a:r>
            <a:endParaRPr lang="en-US" sz="1400" dirty="0"/>
          </a:p>
        </p:txBody>
      </p:sp>
      <p:sp>
        <p:nvSpPr>
          <p:cNvPr id="33" name="Shape 31"/>
          <p:cNvSpPr/>
          <p:nvPr/>
        </p:nvSpPr>
        <p:spPr>
          <a:xfrm>
            <a:off x="658368" y="2712954"/>
            <a:ext cx="10872216" cy="298938"/>
          </a:xfrm>
          <a:prstGeom prst="rect">
            <a:avLst/>
          </a:prstGeom>
          <a:solidFill>
            <a:srgbClr val="F7F7F7"/>
          </a:solidFill>
          <a:ln/>
        </p:spPr>
        <p:txBody>
          <a:bodyPr/>
          <a:p/>
        </p:txBody>
      </p:sp>
      <p:sp>
        <p:nvSpPr>
          <p:cNvPr id="34" name="Text 32"/>
          <p:cNvSpPr txBox="1"/>
          <p:nvPr/>
        </p:nvSpPr>
        <p:spPr>
          <a:xfrm>
            <a:off x="658368" y="2712954"/>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2</a:t>
            </a:r>
            <a:endParaRPr lang="en-US" sz="1400" dirty="0"/>
          </a:p>
        </p:txBody>
      </p:sp>
      <p:sp>
        <p:nvSpPr>
          <p:cNvPr id="35" name="Text 33"/>
          <p:cNvSpPr txBox="1"/>
          <p:nvPr/>
        </p:nvSpPr>
        <p:spPr>
          <a:xfrm>
            <a:off x="1024128" y="2712954"/>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Service gross</a:t>
            </a:r>
            <a:endParaRPr lang="en-US" sz="1400" dirty="0"/>
          </a:p>
        </p:txBody>
      </p:sp>
      <p:sp>
        <p:nvSpPr>
          <p:cNvPr id="36" name="Text 34"/>
          <p:cNvSpPr txBox="1"/>
          <p:nvPr/>
        </p:nvSpPr>
        <p:spPr>
          <a:xfrm>
            <a:off x="2990088" y="2712954"/>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$588K</a:t>
            </a:r>
            <a:endParaRPr lang="en-US" sz="1400" dirty="0"/>
          </a:p>
        </p:txBody>
      </p:sp>
      <p:sp>
        <p:nvSpPr>
          <p:cNvPr id="37" name="Text 35"/>
          <p:cNvSpPr txBox="1"/>
          <p:nvPr/>
        </p:nvSpPr>
        <p:spPr>
          <a:xfrm>
            <a:off x="4087368" y="2712954"/>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$724K</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38" name="Text 36"/>
          <p:cNvSpPr txBox="1"/>
          <p:nvPr/>
        </p:nvSpPr>
        <p:spPr>
          <a:xfrm>
            <a:off x="5989320" y="2712954"/>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$180K</a:t>
            </a:r>
            <a:endParaRPr lang="en-US" sz="1400" dirty="0"/>
          </a:p>
        </p:txBody>
      </p:sp>
      <p:sp>
        <p:nvSpPr>
          <p:cNvPr id="39" name="Text 37"/>
          <p:cNvSpPr txBox="1"/>
          <p:nvPr/>
        </p:nvSpPr>
        <p:spPr>
          <a:xfrm>
            <a:off x="7059168" y="2712954"/>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Sell the MPI; price menus to market.</a:t>
            </a:r>
            <a:endParaRPr lang="en-US" sz="1400" dirty="0"/>
          </a:p>
        </p:txBody>
      </p:sp>
      <p:sp>
        <p:nvSpPr>
          <p:cNvPr id="40" name="Text 38"/>
          <p:cNvSpPr txBox="1"/>
          <p:nvPr/>
        </p:nvSpPr>
        <p:spPr>
          <a:xfrm>
            <a:off x="658368" y="3011893"/>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3</a:t>
            </a:r>
            <a:endParaRPr lang="en-US" sz="1400" dirty="0"/>
          </a:p>
        </p:txBody>
      </p:sp>
      <p:sp>
        <p:nvSpPr>
          <p:cNvPr id="41" name="Text 39"/>
          <p:cNvSpPr txBox="1"/>
          <p:nvPr/>
        </p:nvSpPr>
        <p:spPr>
          <a:xfrm>
            <a:off x="1024128" y="3011893"/>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RO count</a:t>
            </a:r>
            <a:endParaRPr lang="en-US" sz="1400" dirty="0"/>
          </a:p>
        </p:txBody>
      </p:sp>
      <p:sp>
        <p:nvSpPr>
          <p:cNvPr id="42" name="Text 40"/>
          <p:cNvSpPr txBox="1"/>
          <p:nvPr/>
        </p:nvSpPr>
        <p:spPr>
          <a:xfrm>
            <a:off x="2990088" y="3011893"/>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1,919</a:t>
            </a:r>
            <a:endParaRPr lang="en-US" sz="1400" dirty="0"/>
          </a:p>
        </p:txBody>
      </p:sp>
      <p:sp>
        <p:nvSpPr>
          <p:cNvPr id="43" name="Text 41"/>
          <p:cNvSpPr txBox="1"/>
          <p:nvPr/>
        </p:nvSpPr>
        <p:spPr>
          <a:xfrm>
            <a:off x="4087368" y="3011893"/>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2,251</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44" name="Text 42"/>
          <p:cNvSpPr txBox="1"/>
          <p:nvPr/>
        </p:nvSpPr>
        <p:spPr>
          <a:xfrm>
            <a:off x="5989320" y="3011893"/>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$151K</a:t>
            </a:r>
            <a:endParaRPr lang="en-US" sz="1400" dirty="0"/>
          </a:p>
        </p:txBody>
      </p:sp>
      <p:sp>
        <p:nvSpPr>
          <p:cNvPr id="45" name="Text 43"/>
          <p:cNvSpPr txBox="1"/>
          <p:nvPr/>
        </p:nvSpPr>
        <p:spPr>
          <a:xfrm>
            <a:off x="7059168" y="3011893"/>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Win back lapsed customers: 443 more ROs.</a:t>
            </a:r>
            <a:endParaRPr lang="en-US" sz="1400" dirty="0"/>
          </a:p>
        </p:txBody>
      </p:sp>
      <p:sp>
        <p:nvSpPr>
          <p:cNvPr id="46" name="Shape 44"/>
          <p:cNvSpPr/>
          <p:nvPr/>
        </p:nvSpPr>
        <p:spPr>
          <a:xfrm>
            <a:off x="658368" y="3310831"/>
            <a:ext cx="10872216" cy="298938"/>
          </a:xfrm>
          <a:prstGeom prst="rect">
            <a:avLst/>
          </a:prstGeom>
          <a:solidFill>
            <a:srgbClr val="F7F7F7"/>
          </a:solidFill>
          <a:ln/>
        </p:spPr>
        <p:txBody>
          <a:bodyPr/>
          <a:p/>
        </p:txBody>
      </p:sp>
      <p:sp>
        <p:nvSpPr>
          <p:cNvPr id="47" name="Text 45"/>
          <p:cNvSpPr txBox="1"/>
          <p:nvPr/>
        </p:nvSpPr>
        <p:spPr>
          <a:xfrm>
            <a:off x="658368" y="3310831"/>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4</a:t>
            </a:r>
            <a:endParaRPr lang="en-US" sz="1400" dirty="0"/>
          </a:p>
        </p:txBody>
      </p:sp>
      <p:sp>
        <p:nvSpPr>
          <p:cNvPr id="48" name="Text 46"/>
          <p:cNvSpPr txBox="1"/>
          <p:nvPr/>
        </p:nvSpPr>
        <p:spPr>
          <a:xfrm>
            <a:off x="1024128" y="3310831"/>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labor $ per RO</a:t>
            </a:r>
            <a:endParaRPr lang="en-US" sz="1400" dirty="0"/>
          </a:p>
        </p:txBody>
      </p:sp>
      <p:sp>
        <p:nvSpPr>
          <p:cNvPr id="49" name="Text 47"/>
          <p:cNvSpPr txBox="1"/>
          <p:nvPr/>
        </p:nvSpPr>
        <p:spPr>
          <a:xfrm>
            <a:off x="2990088" y="3310831"/>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$231</a:t>
            </a:r>
            <a:endParaRPr lang="en-US" sz="1400" dirty="0"/>
          </a:p>
        </p:txBody>
      </p:sp>
      <p:sp>
        <p:nvSpPr>
          <p:cNvPr id="50" name="Text 48"/>
          <p:cNvSpPr txBox="1"/>
          <p:nvPr/>
        </p:nvSpPr>
        <p:spPr>
          <a:xfrm>
            <a:off x="4087368" y="3310831"/>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$264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51" name="Text 49"/>
          <p:cNvSpPr txBox="1"/>
          <p:nvPr/>
        </p:nvSpPr>
        <p:spPr>
          <a:xfrm>
            <a:off x="5989320" y="3310831"/>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$68K</a:t>
            </a:r>
            <a:endParaRPr lang="en-US" sz="1400" dirty="0"/>
          </a:p>
        </p:txBody>
      </p:sp>
      <p:sp>
        <p:nvSpPr>
          <p:cNvPr id="52" name="Text 50"/>
          <p:cNvSpPr txBox="1"/>
          <p:nvPr/>
        </p:nvSpPr>
        <p:spPr>
          <a:xfrm>
            <a:off x="7059168" y="3310831"/>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Menu and MPI on every RO; track it daily.</a:t>
            </a:r>
            <a:endParaRPr lang="en-US" sz="1400" dirty="0"/>
          </a:p>
        </p:txBody>
      </p:sp>
      <p:sp>
        <p:nvSpPr>
          <p:cNvPr id="53" name="Text 51"/>
          <p:cNvSpPr txBox="1"/>
          <p:nvPr/>
        </p:nvSpPr>
        <p:spPr>
          <a:xfrm>
            <a:off x="658368" y="3609770"/>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5</a:t>
            </a:r>
            <a:endParaRPr lang="en-US" sz="1400" dirty="0"/>
          </a:p>
        </p:txBody>
      </p:sp>
      <p:sp>
        <p:nvSpPr>
          <p:cNvPr id="54" name="Text 52"/>
          <p:cNvSpPr txBox="1"/>
          <p:nvPr/>
        </p:nvSpPr>
        <p:spPr>
          <a:xfrm>
            <a:off x="1024128" y="3609770"/>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Parts gross</a:t>
            </a:r>
            <a:endParaRPr lang="en-US" sz="1400" dirty="0"/>
          </a:p>
        </p:txBody>
      </p:sp>
      <p:sp>
        <p:nvSpPr>
          <p:cNvPr id="55" name="Text 53"/>
          <p:cNvSpPr txBox="1"/>
          <p:nvPr/>
        </p:nvSpPr>
        <p:spPr>
          <a:xfrm>
            <a:off x="2990088" y="3609770"/>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$380K</a:t>
            </a:r>
            <a:endParaRPr lang="en-US" sz="1400" dirty="0"/>
          </a:p>
        </p:txBody>
      </p:sp>
      <p:sp>
        <p:nvSpPr>
          <p:cNvPr id="56" name="Text 54"/>
          <p:cNvSpPr txBox="1"/>
          <p:nvPr/>
        </p:nvSpPr>
        <p:spPr>
          <a:xfrm>
            <a:off x="4087368" y="3609770"/>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$407K</a:t>
            </a:r>
            <a:pPr indent="0" marL="0">
              <a:buNone/>
            </a:pPr>
            <a:r>
              <a:rPr lang="en-US" sz="1400" dirty="0">
                <a:solidFill>
                  <a:srgbClr val="595959"/>
                </a:solidFill>
                <a:latin typeface="Inter" pitchFamily="34" charset="0"/>
                <a:ea typeface="Inter" pitchFamily="34" charset="-122"/>
                <a:cs typeface="Inter" pitchFamily="34" charset="-120"/>
              </a:rPr>
              <a:t> in 2025</a:t>
            </a:r>
            <a:endParaRPr lang="en-US" sz="1400" dirty="0"/>
          </a:p>
        </p:txBody>
      </p:sp>
      <p:sp>
        <p:nvSpPr>
          <p:cNvPr id="57" name="Text 55"/>
          <p:cNvSpPr txBox="1"/>
          <p:nvPr/>
        </p:nvSpPr>
        <p:spPr>
          <a:xfrm>
            <a:off x="5989320" y="3609770"/>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$37K</a:t>
            </a:r>
            <a:endParaRPr lang="en-US" sz="1400" dirty="0"/>
          </a:p>
        </p:txBody>
      </p:sp>
      <p:sp>
        <p:nvSpPr>
          <p:cNvPr id="58" name="Text 56"/>
          <p:cNvSpPr txBox="1"/>
          <p:nvPr/>
        </p:nvSpPr>
        <p:spPr>
          <a:xfrm>
            <a:off x="7059168" y="3609770"/>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Parts on every RO; wholesale that pays.</a:t>
            </a:r>
            <a:endParaRPr lang="en-US" sz="1400" dirty="0"/>
          </a:p>
        </p:txBody>
      </p:sp>
      <p:sp>
        <p:nvSpPr>
          <p:cNvPr id="59" name="Shape 57"/>
          <p:cNvSpPr/>
          <p:nvPr/>
        </p:nvSpPr>
        <p:spPr>
          <a:xfrm>
            <a:off x="658368" y="3908708"/>
            <a:ext cx="10872216" cy="298938"/>
          </a:xfrm>
          <a:prstGeom prst="rect">
            <a:avLst/>
          </a:prstGeom>
          <a:solidFill>
            <a:srgbClr val="F7F7F7"/>
          </a:solidFill>
          <a:ln/>
        </p:spPr>
        <p:txBody>
          <a:bodyPr/>
          <a:p/>
        </p:txBody>
      </p:sp>
      <p:sp>
        <p:nvSpPr>
          <p:cNvPr id="60" name="Text 58"/>
          <p:cNvSpPr txBox="1"/>
          <p:nvPr/>
        </p:nvSpPr>
        <p:spPr>
          <a:xfrm>
            <a:off x="658368" y="3908708"/>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6</a:t>
            </a:r>
            <a:endParaRPr lang="en-US" sz="1400" dirty="0"/>
          </a:p>
        </p:txBody>
      </p:sp>
      <p:sp>
        <p:nvSpPr>
          <p:cNvPr id="61" name="Text 59"/>
          <p:cNvSpPr txBox="1"/>
          <p:nvPr/>
        </p:nvSpPr>
        <p:spPr>
          <a:xfrm>
            <a:off x="1024128" y="3908708"/>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Fuel service</a:t>
            </a:r>
            <a:endParaRPr lang="en-US" sz="1400" dirty="0"/>
          </a:p>
        </p:txBody>
      </p:sp>
      <p:sp>
        <p:nvSpPr>
          <p:cNvPr id="62" name="Text 60"/>
          <p:cNvSpPr txBox="1"/>
          <p:nvPr/>
        </p:nvSpPr>
        <p:spPr>
          <a:xfrm>
            <a:off x="2990088" y="3908708"/>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2.7%</a:t>
            </a:r>
            <a:endParaRPr lang="en-US" sz="1400" dirty="0"/>
          </a:p>
        </p:txBody>
      </p:sp>
      <p:sp>
        <p:nvSpPr>
          <p:cNvPr id="63" name="Text 61"/>
          <p:cNvSpPr txBox="1"/>
          <p:nvPr/>
        </p:nvSpPr>
        <p:spPr>
          <a:xfrm>
            <a:off x="4087368" y="3908708"/>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7.5%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64" name="Text 62"/>
          <p:cNvSpPr txBox="1"/>
          <p:nvPr/>
        </p:nvSpPr>
        <p:spPr>
          <a:xfrm>
            <a:off x="5989320" y="3908708"/>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$29K</a:t>
            </a:r>
            <a:endParaRPr lang="en-US" sz="1400" dirty="0"/>
          </a:p>
        </p:txBody>
      </p:sp>
      <p:sp>
        <p:nvSpPr>
          <p:cNvPr id="65" name="Text 63"/>
          <p:cNvSpPr txBox="1"/>
          <p:nvPr/>
        </p:nvSpPr>
        <p:spPr>
          <a:xfrm>
            <a:off x="7059168" y="3908708"/>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123 more a year.</a:t>
            </a:r>
            <a:endParaRPr lang="en-US" sz="1400" dirty="0"/>
          </a:p>
        </p:txBody>
      </p:sp>
      <p:sp>
        <p:nvSpPr>
          <p:cNvPr id="66" name="Text 64"/>
          <p:cNvSpPr txBox="1"/>
          <p:nvPr/>
        </p:nvSpPr>
        <p:spPr>
          <a:xfrm>
            <a:off x="658368" y="4207647"/>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7</a:t>
            </a:r>
            <a:endParaRPr lang="en-US" sz="1400" dirty="0"/>
          </a:p>
        </p:txBody>
      </p:sp>
      <p:sp>
        <p:nvSpPr>
          <p:cNvPr id="67" name="Text 65"/>
          <p:cNvSpPr txBox="1"/>
          <p:nvPr/>
        </p:nvSpPr>
        <p:spPr>
          <a:xfrm>
            <a:off x="1024128" y="4207647"/>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Tire balance</a:t>
            </a:r>
            <a:endParaRPr lang="en-US" sz="1400" dirty="0"/>
          </a:p>
        </p:txBody>
      </p:sp>
      <p:sp>
        <p:nvSpPr>
          <p:cNvPr id="68" name="Text 66"/>
          <p:cNvSpPr txBox="1"/>
          <p:nvPr/>
        </p:nvSpPr>
        <p:spPr>
          <a:xfrm>
            <a:off x="2990088" y="4207647"/>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0.4%</a:t>
            </a:r>
            <a:endParaRPr lang="en-US" sz="1400" dirty="0"/>
          </a:p>
        </p:txBody>
      </p:sp>
      <p:sp>
        <p:nvSpPr>
          <p:cNvPr id="69" name="Text 67"/>
          <p:cNvSpPr txBox="1"/>
          <p:nvPr/>
        </p:nvSpPr>
        <p:spPr>
          <a:xfrm>
            <a:off x="4087368" y="4207647"/>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70" name="Text 68"/>
          <p:cNvSpPr txBox="1"/>
          <p:nvPr/>
        </p:nvSpPr>
        <p:spPr>
          <a:xfrm>
            <a:off x="5989320" y="4207647"/>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$28K</a:t>
            </a:r>
            <a:endParaRPr lang="en-US" sz="1400" dirty="0"/>
          </a:p>
        </p:txBody>
      </p:sp>
      <p:sp>
        <p:nvSpPr>
          <p:cNvPr id="71" name="Text 69"/>
          <p:cNvSpPr txBox="1"/>
          <p:nvPr/>
        </p:nvSpPr>
        <p:spPr>
          <a:xfrm>
            <a:off x="7059168" y="4207647"/>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373 more a year.</a:t>
            </a:r>
            <a:endParaRPr lang="en-US" sz="1400" dirty="0"/>
          </a:p>
        </p:txBody>
      </p:sp>
      <p:sp>
        <p:nvSpPr>
          <p:cNvPr id="72" name="Shape 70"/>
          <p:cNvSpPr/>
          <p:nvPr/>
        </p:nvSpPr>
        <p:spPr>
          <a:xfrm>
            <a:off x="658368" y="4506585"/>
            <a:ext cx="10872216" cy="298938"/>
          </a:xfrm>
          <a:prstGeom prst="rect">
            <a:avLst/>
          </a:prstGeom>
          <a:solidFill>
            <a:srgbClr val="F7F7F7"/>
          </a:solidFill>
          <a:ln/>
        </p:spPr>
        <p:txBody>
          <a:bodyPr/>
          <a:p/>
        </p:txBody>
      </p:sp>
      <p:sp>
        <p:nvSpPr>
          <p:cNvPr id="73" name="Text 71"/>
          <p:cNvSpPr txBox="1"/>
          <p:nvPr/>
        </p:nvSpPr>
        <p:spPr>
          <a:xfrm>
            <a:off x="658368" y="4506585"/>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8</a:t>
            </a:r>
            <a:endParaRPr lang="en-US" sz="1400" dirty="0"/>
          </a:p>
        </p:txBody>
      </p:sp>
      <p:sp>
        <p:nvSpPr>
          <p:cNvPr id="74" name="Text 72"/>
          <p:cNvSpPr txBox="1"/>
          <p:nvPr/>
        </p:nvSpPr>
        <p:spPr>
          <a:xfrm>
            <a:off x="1024128" y="4506585"/>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CP hours per RO</a:t>
            </a:r>
            <a:endParaRPr lang="en-US" sz="1400" dirty="0"/>
          </a:p>
        </p:txBody>
      </p:sp>
      <p:sp>
        <p:nvSpPr>
          <p:cNvPr id="75" name="Text 73"/>
          <p:cNvSpPr txBox="1"/>
          <p:nvPr/>
        </p:nvSpPr>
        <p:spPr>
          <a:xfrm>
            <a:off x="2990088" y="4506585"/>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1.71</a:t>
            </a:r>
            <a:endParaRPr lang="en-US" sz="1400" dirty="0"/>
          </a:p>
        </p:txBody>
      </p:sp>
      <p:sp>
        <p:nvSpPr>
          <p:cNvPr id="76" name="Text 74"/>
          <p:cNvSpPr txBox="1"/>
          <p:nvPr/>
        </p:nvSpPr>
        <p:spPr>
          <a:xfrm>
            <a:off x="4087368" y="4506585"/>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1.75</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77" name="Text 75"/>
          <p:cNvSpPr txBox="1"/>
          <p:nvPr/>
        </p:nvSpPr>
        <p:spPr>
          <a:xfrm>
            <a:off x="5989320" y="4506585"/>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$18K</a:t>
            </a:r>
            <a:endParaRPr lang="en-US" sz="1400" dirty="0"/>
          </a:p>
        </p:txBody>
      </p:sp>
      <p:sp>
        <p:nvSpPr>
          <p:cNvPr id="78" name="Text 76"/>
          <p:cNvSpPr txBox="1"/>
          <p:nvPr/>
        </p:nvSpPr>
        <p:spPr>
          <a:xfrm>
            <a:off x="7059168" y="4506585"/>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Present every MPI finding: +0.04 hr per RO.</a:t>
            </a:r>
            <a:endParaRPr lang="en-US" sz="1400" dirty="0"/>
          </a:p>
        </p:txBody>
      </p:sp>
      <p:sp>
        <p:nvSpPr>
          <p:cNvPr id="79" name="Text 77"/>
          <p:cNvSpPr txBox="1"/>
          <p:nvPr/>
        </p:nvSpPr>
        <p:spPr>
          <a:xfrm>
            <a:off x="658368" y="4805524"/>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9</a:t>
            </a:r>
            <a:endParaRPr lang="en-US" sz="1400" dirty="0"/>
          </a:p>
        </p:txBody>
      </p:sp>
      <p:sp>
        <p:nvSpPr>
          <p:cNvPr id="80" name="Text 78"/>
          <p:cNvSpPr txBox="1"/>
          <p:nvPr/>
        </p:nvSpPr>
        <p:spPr>
          <a:xfrm>
            <a:off x="1024128" y="4805524"/>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Alignment</a:t>
            </a:r>
            <a:endParaRPr lang="en-US" sz="1400" dirty="0"/>
          </a:p>
        </p:txBody>
      </p:sp>
      <p:sp>
        <p:nvSpPr>
          <p:cNvPr id="81" name="Text 79"/>
          <p:cNvSpPr txBox="1"/>
          <p:nvPr/>
        </p:nvSpPr>
        <p:spPr>
          <a:xfrm>
            <a:off x="2990088" y="4805524"/>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5.6%</a:t>
            </a:r>
            <a:endParaRPr lang="en-US" sz="1400" dirty="0"/>
          </a:p>
        </p:txBody>
      </p:sp>
      <p:sp>
        <p:nvSpPr>
          <p:cNvPr id="82" name="Text 80"/>
          <p:cNvSpPr txBox="1"/>
          <p:nvPr/>
        </p:nvSpPr>
        <p:spPr>
          <a:xfrm>
            <a:off x="4087368" y="4805524"/>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15%</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83" name="Text 81"/>
          <p:cNvSpPr txBox="1"/>
          <p:nvPr/>
        </p:nvSpPr>
        <p:spPr>
          <a:xfrm>
            <a:off x="5989320" y="4805524"/>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$18K</a:t>
            </a:r>
            <a:endParaRPr lang="en-US" sz="1400" dirty="0"/>
          </a:p>
        </p:txBody>
      </p:sp>
      <p:sp>
        <p:nvSpPr>
          <p:cNvPr id="84" name="Text 82"/>
          <p:cNvSpPr txBox="1"/>
          <p:nvPr/>
        </p:nvSpPr>
        <p:spPr>
          <a:xfrm>
            <a:off x="7059168" y="4805524"/>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240 more a year.</a:t>
            </a:r>
            <a:endParaRPr lang="en-US" sz="1400" dirty="0"/>
          </a:p>
        </p:txBody>
      </p:sp>
      <p:sp>
        <p:nvSpPr>
          <p:cNvPr id="85" name="Shape 83"/>
          <p:cNvSpPr/>
          <p:nvPr/>
        </p:nvSpPr>
        <p:spPr>
          <a:xfrm>
            <a:off x="658368" y="5104462"/>
            <a:ext cx="10872216" cy="298938"/>
          </a:xfrm>
          <a:prstGeom prst="rect">
            <a:avLst/>
          </a:prstGeom>
          <a:solidFill>
            <a:srgbClr val="F7F7F7"/>
          </a:solidFill>
          <a:ln/>
        </p:spPr>
        <p:txBody>
          <a:bodyPr/>
          <a:p/>
        </p:txBody>
      </p:sp>
      <p:sp>
        <p:nvSpPr>
          <p:cNvPr id="86" name="Text 84"/>
          <p:cNvSpPr txBox="1"/>
          <p:nvPr/>
        </p:nvSpPr>
        <p:spPr>
          <a:xfrm>
            <a:off x="658368" y="5104462"/>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10</a:t>
            </a:r>
            <a:endParaRPr lang="en-US" sz="1400" dirty="0"/>
          </a:p>
        </p:txBody>
      </p:sp>
      <p:sp>
        <p:nvSpPr>
          <p:cNvPr id="87" name="Text 85"/>
          <p:cNvSpPr txBox="1"/>
          <p:nvPr/>
        </p:nvSpPr>
        <p:spPr>
          <a:xfrm>
            <a:off x="1024128" y="5104462"/>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Brake fluid</a:t>
            </a:r>
            <a:endParaRPr lang="en-US" sz="1400" dirty="0"/>
          </a:p>
        </p:txBody>
      </p:sp>
      <p:sp>
        <p:nvSpPr>
          <p:cNvPr id="88" name="Text 86"/>
          <p:cNvSpPr txBox="1"/>
          <p:nvPr/>
        </p:nvSpPr>
        <p:spPr>
          <a:xfrm>
            <a:off x="2990088" y="5104462"/>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5.4%</a:t>
            </a:r>
            <a:endParaRPr lang="en-US" sz="1400" dirty="0"/>
          </a:p>
        </p:txBody>
      </p:sp>
      <p:sp>
        <p:nvSpPr>
          <p:cNvPr id="89" name="Text 87"/>
          <p:cNvSpPr txBox="1"/>
          <p:nvPr/>
        </p:nvSpPr>
        <p:spPr>
          <a:xfrm>
            <a:off x="4087368" y="5104462"/>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0" name="Text 88"/>
          <p:cNvSpPr txBox="1"/>
          <p:nvPr/>
        </p:nvSpPr>
        <p:spPr>
          <a:xfrm>
            <a:off x="5989320" y="5104462"/>
            <a:ext cx="868680" cy="298938"/>
          </a:xfrm>
          <a:prstGeom prst="rect">
            <a:avLst/>
          </a:prstGeom>
          <a:noFill/>
          <a:ln/>
        </p:spPr>
        <p:txBody>
          <a:bodyPr wrap="square" lIns="0" tIns="0" rIns="0" bIns="0" rtlCol="0" anchor="ctr"/>
          <a:lstStyle/>
          <a:p>
            <a:pPr algn="r" indent="0" marL="0">
              <a:buNone/>
            </a:pPr>
            <a:r>
              <a:rPr lang="en-US" sz="1400" b="1" dirty="0">
                <a:solidFill>
                  <a:srgbClr val="0B2C4A"/>
                </a:solidFill>
                <a:latin typeface="Inter" pitchFamily="34" charset="0"/>
                <a:ea typeface="Inter" pitchFamily="34" charset="-122"/>
                <a:cs typeface="Inter" pitchFamily="34" charset="-120"/>
              </a:rPr>
              <a:t>$13K</a:t>
            </a:r>
            <a:endParaRPr lang="en-US" sz="1400" dirty="0"/>
          </a:p>
        </p:txBody>
      </p:sp>
      <p:sp>
        <p:nvSpPr>
          <p:cNvPr id="91" name="Text 89"/>
          <p:cNvSpPr txBox="1"/>
          <p:nvPr/>
        </p:nvSpPr>
        <p:spPr>
          <a:xfrm>
            <a:off x="7059168" y="5104462"/>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Recommend it on every visit: 117 more a year.</a:t>
            </a:r>
            <a:endParaRPr lang="en-US" sz="1400" dirty="0"/>
          </a:p>
        </p:txBody>
      </p:sp>
      <p:sp>
        <p:nvSpPr>
          <p:cNvPr id="92" name="Shape 90"/>
          <p:cNvSpPr/>
          <p:nvPr/>
        </p:nvSpPr>
        <p:spPr>
          <a:xfrm>
            <a:off x="658368" y="5397914"/>
            <a:ext cx="10872216" cy="10973"/>
          </a:xfrm>
          <a:prstGeom prst="rect">
            <a:avLst/>
          </a:prstGeom>
          <a:solidFill>
            <a:srgbClr val="9AA3AD"/>
          </a:solidFill>
          <a:ln/>
        </p:spPr>
        <p:txBody>
          <a:bodyPr/>
          <a:p/>
        </p:txBody>
      </p:sp>
      <p:sp>
        <p:nvSpPr>
          <p:cNvPr id="93" name="Text 91"/>
          <p:cNvSpPr txBox="1"/>
          <p:nvPr/>
        </p:nvSpPr>
        <p:spPr>
          <a:xfrm>
            <a:off x="658368" y="5403401"/>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11</a:t>
            </a:r>
            <a:endParaRPr lang="en-US" sz="1400" dirty="0"/>
          </a:p>
        </p:txBody>
      </p:sp>
      <p:sp>
        <p:nvSpPr>
          <p:cNvPr id="94" name="Text 92"/>
          <p:cNvSpPr txBox="1"/>
          <p:nvPr/>
        </p:nvSpPr>
        <p:spPr>
          <a:xfrm>
            <a:off x="1024128" y="5403401"/>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MPI completion</a:t>
            </a:r>
            <a:endParaRPr lang="en-US" sz="1400" dirty="0"/>
          </a:p>
        </p:txBody>
      </p:sp>
      <p:sp>
        <p:nvSpPr>
          <p:cNvPr id="95" name="Text 93"/>
          <p:cNvSpPr txBox="1"/>
          <p:nvPr/>
        </p:nvSpPr>
        <p:spPr>
          <a:xfrm>
            <a:off x="2990088" y="5403401"/>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45.7%</a:t>
            </a:r>
            <a:endParaRPr lang="en-US" sz="1400" dirty="0"/>
          </a:p>
        </p:txBody>
      </p:sp>
      <p:sp>
        <p:nvSpPr>
          <p:cNvPr id="96" name="Text 94"/>
          <p:cNvSpPr txBox="1"/>
          <p:nvPr/>
        </p:nvSpPr>
        <p:spPr>
          <a:xfrm>
            <a:off x="4087368" y="5403401"/>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90%</a:t>
            </a:r>
            <a:pPr indent="0" marL="0">
              <a:buNone/>
            </a:pPr>
            <a:r>
              <a:rPr lang="en-US" sz="1400" dirty="0">
                <a:solidFill>
                  <a:srgbClr val="595959"/>
                </a:solidFill>
                <a:latin typeface="Inter" pitchFamily="34" charset="0"/>
                <a:ea typeface="Inter" pitchFamily="34" charset="-122"/>
                <a:cs typeface="Inter" pitchFamily="34" charset="-120"/>
              </a:rPr>
              <a:t> benchmark</a:t>
            </a:r>
            <a:endParaRPr lang="en-US" sz="1400" dirty="0"/>
          </a:p>
        </p:txBody>
      </p:sp>
      <p:sp>
        <p:nvSpPr>
          <p:cNvPr id="97" name="Text 95"/>
          <p:cNvSpPr txBox="1"/>
          <p:nvPr/>
        </p:nvSpPr>
        <p:spPr>
          <a:xfrm>
            <a:off x="5989320" y="5403401"/>
            <a:ext cx="868680" cy="298938"/>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98" name="Text 96"/>
          <p:cNvSpPr txBox="1"/>
          <p:nvPr/>
        </p:nvSpPr>
        <p:spPr>
          <a:xfrm>
            <a:off x="7059168" y="5403401"/>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MPI every car: 1,733 more a year.</a:t>
            </a:r>
            <a:endParaRPr lang="en-US" sz="1400" dirty="0"/>
          </a:p>
        </p:txBody>
      </p:sp>
      <p:sp>
        <p:nvSpPr>
          <p:cNvPr id="99" name="Shape 97"/>
          <p:cNvSpPr/>
          <p:nvPr/>
        </p:nvSpPr>
        <p:spPr>
          <a:xfrm>
            <a:off x="658368" y="5702339"/>
            <a:ext cx="10872216" cy="298938"/>
          </a:xfrm>
          <a:prstGeom prst="rect">
            <a:avLst/>
          </a:prstGeom>
          <a:solidFill>
            <a:srgbClr val="F7F7F7"/>
          </a:solidFill>
          <a:ln/>
        </p:spPr>
        <p:txBody>
          <a:bodyPr/>
          <a:p/>
        </p:txBody>
      </p:sp>
      <p:sp>
        <p:nvSpPr>
          <p:cNvPr id="100" name="Text 98"/>
          <p:cNvSpPr txBox="1"/>
          <p:nvPr/>
        </p:nvSpPr>
        <p:spPr>
          <a:xfrm>
            <a:off x="658368" y="5702339"/>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12</a:t>
            </a:r>
            <a:endParaRPr lang="en-US" sz="1400" dirty="0"/>
          </a:p>
        </p:txBody>
      </p:sp>
      <p:sp>
        <p:nvSpPr>
          <p:cNvPr id="101" name="Text 99"/>
          <p:cNvSpPr txBox="1"/>
          <p:nvPr/>
        </p:nvSpPr>
        <p:spPr>
          <a:xfrm>
            <a:off x="1024128" y="5702339"/>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Fixed gross/head</a:t>
            </a:r>
            <a:endParaRPr lang="en-US" sz="1400" dirty="0"/>
          </a:p>
        </p:txBody>
      </p:sp>
      <p:sp>
        <p:nvSpPr>
          <p:cNvPr id="102" name="Text 100"/>
          <p:cNvSpPr txBox="1"/>
          <p:nvPr/>
        </p:nvSpPr>
        <p:spPr>
          <a:xfrm>
            <a:off x="2990088" y="5702339"/>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$9,878</a:t>
            </a:r>
            <a:endParaRPr lang="en-US" sz="1400" dirty="0"/>
          </a:p>
        </p:txBody>
      </p:sp>
      <p:sp>
        <p:nvSpPr>
          <p:cNvPr id="103" name="Text 101"/>
          <p:cNvSpPr txBox="1"/>
          <p:nvPr/>
        </p:nvSpPr>
        <p:spPr>
          <a:xfrm>
            <a:off x="4087368" y="5702339"/>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$12,714</a:t>
            </a:r>
            <a:pPr indent="0" marL="0">
              <a:buNone/>
            </a:pPr>
            <a:r>
              <a:rPr lang="en-US" sz="1400" dirty="0">
                <a:solidFill>
                  <a:srgbClr val="595959"/>
                </a:solidFill>
                <a:latin typeface="Inter" pitchFamily="34" charset="0"/>
                <a:ea typeface="Inter" pitchFamily="34" charset="-122"/>
                <a:cs typeface="Inter" pitchFamily="34" charset="-120"/>
              </a:rPr>
              <a:t> peer avg</a:t>
            </a:r>
            <a:endParaRPr lang="en-US" sz="1400" dirty="0"/>
          </a:p>
        </p:txBody>
      </p:sp>
      <p:sp>
        <p:nvSpPr>
          <p:cNvPr id="104" name="Text 102"/>
          <p:cNvSpPr txBox="1"/>
          <p:nvPr/>
        </p:nvSpPr>
        <p:spPr>
          <a:xfrm>
            <a:off x="5989320" y="5702339"/>
            <a:ext cx="868680" cy="298938"/>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05" name="Text 103"/>
          <p:cNvSpPr txBox="1"/>
          <p:nvPr/>
        </p:nvSpPr>
        <p:spPr>
          <a:xfrm>
            <a:off x="7059168" y="5702339"/>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Staff to gross: 2.4 heads over peer avg.</a:t>
            </a:r>
            <a:endParaRPr lang="en-US" sz="1400" dirty="0"/>
          </a:p>
        </p:txBody>
      </p:sp>
      <p:sp>
        <p:nvSpPr>
          <p:cNvPr id="106" name="Text 104"/>
          <p:cNvSpPr txBox="1"/>
          <p:nvPr/>
        </p:nvSpPr>
        <p:spPr>
          <a:xfrm>
            <a:off x="658368" y="6001278"/>
            <a:ext cx="310896" cy="298938"/>
          </a:xfrm>
          <a:prstGeom prst="rect">
            <a:avLst/>
          </a:prstGeom>
          <a:noFill/>
          <a:ln/>
        </p:spPr>
        <p:txBody>
          <a:bodyPr wrap="square" lIns="0" tIns="0" rIns="0" bIns="0" rtlCol="0" anchor="ctr"/>
          <a:lstStyle/>
          <a:p>
            <a:pPr indent="0" marL="0">
              <a:buNone/>
            </a:pPr>
            <a:r>
              <a:rPr lang="en-US" sz="1400" b="1" dirty="0">
                <a:solidFill>
                  <a:srgbClr val="5B9BD5"/>
                </a:solidFill>
                <a:latin typeface="Inter" pitchFamily="34" charset="0"/>
                <a:ea typeface="Inter" pitchFamily="34" charset="-122"/>
                <a:cs typeface="Inter" pitchFamily="34" charset="-120"/>
              </a:rPr>
              <a:t>13</a:t>
            </a:r>
            <a:endParaRPr lang="en-US" sz="1400" dirty="0"/>
          </a:p>
        </p:txBody>
      </p:sp>
      <p:sp>
        <p:nvSpPr>
          <p:cNvPr id="107" name="Text 105"/>
          <p:cNvSpPr txBox="1"/>
          <p:nvPr/>
        </p:nvSpPr>
        <p:spPr>
          <a:xfrm>
            <a:off x="1024128" y="6001278"/>
            <a:ext cx="187452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Video completion</a:t>
            </a:r>
            <a:endParaRPr lang="en-US" sz="1400" dirty="0"/>
          </a:p>
        </p:txBody>
      </p:sp>
      <p:sp>
        <p:nvSpPr>
          <p:cNvPr id="108" name="Text 106"/>
          <p:cNvSpPr txBox="1"/>
          <p:nvPr/>
        </p:nvSpPr>
        <p:spPr>
          <a:xfrm>
            <a:off x="2990088" y="6001278"/>
            <a:ext cx="1005840" cy="298938"/>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48.5%</a:t>
            </a:r>
            <a:endParaRPr lang="en-US" sz="1400" dirty="0"/>
          </a:p>
        </p:txBody>
      </p:sp>
      <p:sp>
        <p:nvSpPr>
          <p:cNvPr id="109" name="Text 107"/>
          <p:cNvSpPr txBox="1"/>
          <p:nvPr/>
        </p:nvSpPr>
        <p:spPr>
          <a:xfrm>
            <a:off x="4087368" y="6001278"/>
            <a:ext cx="1828800" cy="298938"/>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57.8%</a:t>
            </a:r>
            <a:pPr indent="0" marL="0">
              <a:buNone/>
            </a:pPr>
            <a:r>
              <a:rPr lang="en-US" sz="1400" dirty="0">
                <a:solidFill>
                  <a:srgbClr val="595959"/>
                </a:solidFill>
                <a:latin typeface="Inter" pitchFamily="34" charset="0"/>
                <a:ea typeface="Inter" pitchFamily="34" charset="-122"/>
                <a:cs typeface="Inter" pitchFamily="34" charset="-120"/>
              </a:rPr>
              <a:t> group</a:t>
            </a:r>
            <a:endParaRPr lang="en-US" sz="1400" dirty="0"/>
          </a:p>
        </p:txBody>
      </p:sp>
      <p:sp>
        <p:nvSpPr>
          <p:cNvPr id="110" name="Text 108"/>
          <p:cNvSpPr txBox="1"/>
          <p:nvPr/>
        </p:nvSpPr>
        <p:spPr>
          <a:xfrm>
            <a:off x="5989320" y="6001278"/>
            <a:ext cx="868680" cy="298938"/>
          </a:xfrm>
          <a:prstGeom prst="rect">
            <a:avLst/>
          </a:prstGeom>
          <a:noFill/>
          <a:ln/>
        </p:spPr>
        <p:txBody>
          <a:bodyPr wrap="square" lIns="0" tIns="0" rIns="0" bIns="0" rtlCol="0" anchor="ctr"/>
          <a:lstStyle/>
          <a:p>
            <a:pPr algn="r" indent="0" marL="0">
              <a:buNone/>
            </a:pPr>
            <a:r>
              <a:rPr lang="en-US" sz="1400" dirty="0">
                <a:solidFill>
                  <a:srgbClr val="9AA3AD"/>
                </a:solidFill>
                <a:latin typeface="Inter" pitchFamily="34" charset="0"/>
                <a:ea typeface="Inter" pitchFamily="34" charset="-122"/>
                <a:cs typeface="Inter" pitchFamily="34" charset="-120"/>
              </a:rPr>
              <a:t>—</a:t>
            </a:r>
            <a:endParaRPr lang="en-US" sz="1400" dirty="0"/>
          </a:p>
        </p:txBody>
      </p:sp>
      <p:sp>
        <p:nvSpPr>
          <p:cNvPr id="111" name="Text 109"/>
          <p:cNvSpPr txBox="1"/>
          <p:nvPr/>
        </p:nvSpPr>
        <p:spPr>
          <a:xfrm>
            <a:off x="7059168" y="6001278"/>
            <a:ext cx="4471416" cy="29893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Video on every MPI: 365 more a year.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2026-10-28T15:29:21Z</dcterms:created>
  <dcterms:modified xsi:type="dcterms:W3CDTF">2026-10-28T15:29:21Z</dcterms:modified>
</cp:coreProperties>
</file>