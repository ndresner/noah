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21.xml" ContentType="application/vnd.openxmlformats-officedocument.presentationml.notesSlide+xml"/>
  <Override PartName="/ppt/notesSlides/notesSlide137.xml" ContentType="application/vnd.openxmlformats-officedocument.presentationml.notesSlide+xml"/>
  <Override PartName="/ppt/notesSlides/notesSlide156.xml" ContentType="application/vnd.openxmlformats-officedocument.presentationml.notesSlide+xml"/>
  <Override PartName="/ppt/notesSlides/notesSlide17.xml" ContentType="application/vnd.openxmlformats-officedocument.presentationml.notesSlide+xml"/>
  <Override PartName="/ppt/notesSlides/notesSlide38.xml" ContentType="application/vnd.openxmlformats-officedocument.presentationml.notesSlide+xml"/>
  <Override PartName="/ppt/notesSlides/notesSlide43.xml" ContentType="application/vnd.openxmlformats-officedocument.presentationml.notesSlide+xml"/>
  <Override PartName="/ppt/notesSlides/notesSlide47.xml" ContentType="application/vnd.openxmlformats-officedocument.presentationml.notesSlide+xml"/>
  <Override PartName="/ppt/notesSlides/notesSlide7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17.xml" ContentType="application/vnd.openxmlformats-officedocument.presentationml.slide+xml"/>
  <Override PartName="/ppt/slides/slide134.xml" ContentType="application/vnd.openxmlformats-officedocument.presentationml.slide+xml"/>
  <Override PartName="/ppt/slides/slide154.xml" ContentType="application/vnd.openxmlformats-officedocument.presentationml.slide+xml"/>
  <Override PartName="/ppt/slides/slide31.xml" ContentType="application/vnd.openxmlformats-officedocument.presentationml.slide+xml"/>
  <Override PartName="/ppt/slides/slide36.xml" ContentType="application/vnd.openxmlformats-officedocument.presentationml.slide+xml"/>
  <Override PartName="/ppt/slides/slide40.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2" r:id="rId23"/>
    <p:sldId id="293" r:id="rId44"/>
    <p:sldId id="298" r:id="rId49"/>
    <p:sldId id="302" r:id="rId53"/>
    <p:sldId id="331" r:id="rId82"/>
    <p:sldId id="376" r:id="rId127"/>
    <p:sldId id="392" r:id="rId143"/>
    <p:sldId id="411" r:id="rId16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3" Type="http://schemas.openxmlformats.org/officeDocument/2006/relationships/slide" Target="slides/slide8.xml"/><Relationship Id="rId44" Type="http://schemas.openxmlformats.org/officeDocument/2006/relationships/slide" Target="slides/slide31.xml"/><Relationship Id="rId49" Type="http://schemas.openxmlformats.org/officeDocument/2006/relationships/slide" Target="slides/slide36.xml"/><Relationship Id="rId53" Type="http://schemas.openxmlformats.org/officeDocument/2006/relationships/slide" Target="slides/slide40.xml"/><Relationship Id="rId82" Type="http://schemas.openxmlformats.org/officeDocument/2006/relationships/slide" Target="slides/slide70.xml"/><Relationship Id="rId127" Type="http://schemas.openxmlformats.org/officeDocument/2006/relationships/slide" Target="slides/slide117.xml"/><Relationship Id="rId143" Type="http://schemas.openxmlformats.org/officeDocument/2006/relationships/slide" Target="slides/slide134.xml"/><Relationship Id="rId162" Type="http://schemas.openxmlformats.org/officeDocument/2006/relationships/slide" Target="slides/slide1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Toyota Henderson, Audi Henderson and Cadillac what changed. Ask Chevy LV, VW Henderson and Toyota Spokane what got in the way. Ask Honda Henderson, Toyota Henderson and Chevy LV what they started this year.Source: Qlik - Profit &amp; Loss, Detail statement. Same-store, INEOS excluded (opened 2026). Fixed ops net profit = service (Mechanical) + parts (P&amp;A) department profit: department gross less the department's own expenses; GMC Prescott body shop is its own department and is not included. Top and bottom five stores by dollar change in fixed ops net profit, Jan-Sep 2026 vs 2025 (dollars, not percent: several stores lost money in 2025). Moving now: Jul-Sep 2026 vs Jan-Mar 2026, each store against itself (monthly averages); the group moved +$1.05M a month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Lincoln, Cadillac and LR Reno what changed. Ask VW St George, Kia St George and VW Henderson what got in the way. Ask LR Henderson, LR Reno and Kia St George what they started this year.Source: Qlik - Profit &amp; Loss. Jan-Sep. Same-store, INEOS excluded (opened 2026). P&amp;L line Fixed Ops Absorption % = Total Gross Profit - Fixed Ops / Fixed Expenses. GMC Prescott includes its body shop, as on the P&amp;L. Top and bottom five stores by change in Fixed Ops Absorption %, Jan-Sep 2026 vs 2025. Moving now: Jul-Sep 2026 vs Jan-Mar 2026, each store against itself; the group moved +4.2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Prescott, Lincoln and LR Reno what changed. Ask VW St George, Kia St George and Mazda what got in the way. Ask Hyundai Prescott, LR Henderson and LR Reno what they started this year.Source: Qlik - Profit &amp; Loss. Jan-Sep. Same-store, INEOS excluded (opened 2026). Mechanical department profit / mechanical department gross (P&amp;L Detail statement). Body shop is its own department and is not included. Top and bottom five stores by change in Service Net to Gross %, Jan-Sep 2026 vs 2025. Moving now: Jul-Sep 2026 vs Jan-Mar 2026, each store against itself; the group moved +1.0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Lincoln, Acura and Nissan what changed. Ask Hyundai Prescott, Hyundai St George and VW St George what got in the way. Ask LR Reno, VW St George and Mazda what they started this year.Source: Qlik - Profit &amp; Loss. Jan-Sep. Same-store, INEOS excluded (opened 2026). P&amp;A department profit / P&amp;A department gross (P&amp;L Detail statement). Top and bottom five stores by change in Parts Net to Gross %, Jan-Sep 2026 vs 2025. Moving now: Jul-Sep 2026 vs Jan-Mar 2026, each store against itself; the group moved +5.3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Honda Spokane, Volvo and Lincoln what changed. Ask Kia LV, Subaru St George and Acura what got in the way. Ask VW St George, Audi Reno and Honda Spokane what they started this year.Source: Qlik - Closed Repair Orders. Customer pay, Jan-Sep by close month. Same-store, INEOS excluded (opened 2026). GMC Prescott body shop labor types excluded. Customer-pay labor sale / customer-pay sold hours. Top and bottom five stores by change in CP ELR, Jan-Sep 2026 vs 2025. Moving now: Jul-Sep 2026 vs Jan-Mar 2026, each store against itself; the group moved +1.1%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St George, LR Reno and Lincoln what changed. Ask Nissan, Kia LV and Mazda what got in the way. Ask Acura, Hyundai St George and Toyota Henderson what they started this year.Source: Qlik - Closed Repair Orders. Jan-Sep by close month. Same-store, INEOS excluded (opened 2026). GMC Prescott body shop labor types excluded. Internal labor sale / internal sold hours. A higher internal rate adds service gross but is a cost to used cars. Top and bottom five stores by change in Internal ELR, Jan-Sep 2026 vs 2025. Moving now: Jul-Sep 2026 vs Jan-Mar 2026, each store against itself; the group moved +4.1%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Subaru St George, Hyundai Prescott and Lincoln what changed. Ask VW St George, Kia St George and Cadillac what got in the way. Ask LR Henderson, Subaru St George and LR Reno what they started this year.Source: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fixed ops gross / fixed employees. Top and bottom five stores by change in Fixed Gross per Fixed Employee, Jan-Sep 2026 vs 2025. Moving now: Jul-Sep 2026 vs Jan-Mar 2026, each store against itself; the group moved +$1,107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Cadillac, Lexus and Audi Henderson what changed. Ask Acura, Honda Flagstaff and VW Henderson what got in the way. Ask Honda North, LR LV and Nissan what they started this year.Source: Qlik - Profit &amp; Loss, Gross Profit - Fixed Ops Warranty (service + parts warranty gross). Same-store, INEOS excluded (opened 2026); no body shop. Top and bottom five stores by percent change in warranty gross, Jan-Sep 2026 vs 2025. Moving now: Jul-Sep 2026 vs Jan-Mar 2026, each store against itself (monthly averages); the group moved +9.3%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Net Profit</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Shape 4"/>
          <p:cNvSpPr/>
          <p:nvPr/>
        </p:nvSpPr>
        <p:spPr>
          <a:xfrm>
            <a:off x="658368" y="1371600"/>
            <a:ext cx="3489960" cy="45720"/>
          </a:xfrm>
          <a:prstGeom prst="rect">
            <a:avLst/>
          </a:prstGeom>
          <a:solidFill>
            <a:srgbClr val="12A566"/>
          </a:solidFill>
          <a:ln/>
        </p:spPr>
        <p:txBody>
          <a:bodyPr/>
          <a:p/>
        </p:txBody>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txBody>
          <a:bodyPr/>
          <a:p/>
        </p:txBody>
      </p:sp>
      <p:sp>
        <p:nvSpPr>
          <p:cNvPr id="10" name="Shape 8"/>
          <p:cNvSpPr/>
          <p:nvPr/>
        </p:nvSpPr>
        <p:spPr>
          <a:xfrm>
            <a:off x="4084320" y="2139696"/>
            <a:ext cx="64008" cy="755294"/>
          </a:xfrm>
          <a:prstGeom prst="rect">
            <a:avLst/>
          </a:prstGeom>
          <a:solidFill>
            <a:srgbClr val="12A566"/>
          </a:solidFill>
          <a:ln/>
        </p:spPr>
        <p:txBody>
          <a:bodyPr/>
          <a:p/>
        </p:txBody>
      </p:sp>
      <p:sp>
        <p:nvSpPr>
          <p:cNvPr id="11" name="Text 9"/>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$6.41M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$7.83M</a:t>
            </a:r>
            <a:endParaRPr lang="en-US" sz="1400" dirty="0"/>
          </a:p>
        </p:txBody>
      </p:sp>
      <p:sp>
        <p:nvSpPr>
          <p:cNvPr id="13" name="Text 11"/>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+$1.42M</a:t>
            </a:r>
            <a:endParaRPr lang="en-US" sz="1600" dirty="0"/>
          </a:p>
        </p:txBody>
      </p:sp>
      <p:sp>
        <p:nvSpPr>
          <p:cNvPr id="14" name="Text 12"/>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3"/>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$4.94M</a:t>
            </a:r>
            <a:endParaRPr lang="en-US" sz="1400" dirty="0"/>
          </a:p>
        </p:txBody>
      </p:sp>
      <p:sp>
        <p:nvSpPr>
          <p:cNvPr id="16" name="Text 14"/>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+$838K</a:t>
            </a:r>
            <a:endParaRPr lang="en-US" sz="1600" dirty="0"/>
          </a:p>
        </p:txBody>
      </p:sp>
      <p:sp>
        <p:nvSpPr>
          <p:cNvPr id="17" name="Shape 15"/>
          <p:cNvSpPr/>
          <p:nvPr/>
        </p:nvSpPr>
        <p:spPr>
          <a:xfrm>
            <a:off x="658368" y="3760013"/>
            <a:ext cx="3489960" cy="828446"/>
          </a:xfrm>
          <a:prstGeom prst="rect">
            <a:avLst/>
          </a:prstGeom>
          <a:solidFill>
            <a:srgbClr val="F7F7F7"/>
          </a:solidFill>
          <a:ln/>
        </p:spPr>
        <p:txBody>
          <a:bodyPr/>
          <a:p/>
        </p:txBody>
      </p:sp>
      <p:sp>
        <p:nvSpPr>
          <p:cNvPr id="18" name="Text 16"/>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$2.60M</a:t>
            </a:r>
            <a:endParaRPr lang="en-US" sz="1400" dirty="0"/>
          </a:p>
        </p:txBody>
      </p:sp>
      <p:sp>
        <p:nvSpPr>
          <p:cNvPr id="20" name="Text 18"/>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+$766K</a:t>
            </a:r>
            <a:endParaRPr lang="en-US" sz="1600" dirty="0"/>
          </a:p>
        </p:txBody>
      </p:sp>
      <p:sp>
        <p:nvSpPr>
          <p:cNvPr id="21" name="Shape 19"/>
          <p:cNvSpPr/>
          <p:nvPr/>
        </p:nvSpPr>
        <p:spPr>
          <a:xfrm>
            <a:off x="4084320" y="4625035"/>
            <a:ext cx="64008" cy="755294"/>
          </a:xfrm>
          <a:prstGeom prst="rect">
            <a:avLst/>
          </a:prstGeom>
          <a:solidFill>
            <a:srgbClr val="12A566"/>
          </a:solidFill>
          <a:ln/>
        </p:spPr>
        <p:txBody>
          <a:bodyPr/>
          <a:p/>
        </p:txBody>
      </p:sp>
      <p:sp>
        <p:nvSpPr>
          <p:cNvPr id="22" name="Text 20"/>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3" name="Text 21"/>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$5.39M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$6.08M</a:t>
            </a:r>
            <a:endParaRPr lang="en-US" sz="1400" dirty="0"/>
          </a:p>
        </p:txBody>
      </p:sp>
      <p:sp>
        <p:nvSpPr>
          <p:cNvPr id="24" name="Text 22"/>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+$692K</a:t>
            </a:r>
            <a:endParaRPr lang="en-US" sz="1600" dirty="0"/>
          </a:p>
        </p:txBody>
      </p:sp>
      <p:sp>
        <p:nvSpPr>
          <p:cNvPr id="25" name="Shape 23"/>
          <p:cNvSpPr/>
          <p:nvPr/>
        </p:nvSpPr>
        <p:spPr>
          <a:xfrm>
            <a:off x="658368" y="5416906"/>
            <a:ext cx="3489960" cy="828446"/>
          </a:xfrm>
          <a:prstGeom prst="rect">
            <a:avLst/>
          </a:prstGeom>
          <a:solidFill>
            <a:srgbClr val="F7F7F7"/>
          </a:solidFill>
          <a:ln/>
        </p:spPr>
        <p:txBody>
          <a:bodyPr/>
          <a:p/>
        </p:txBody>
      </p:sp>
      <p:sp>
        <p:nvSpPr>
          <p:cNvPr id="26" name="Text 24"/>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7" name="Text 25"/>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−$389K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$94K</a:t>
            </a:r>
            <a:endParaRPr lang="en-US" sz="1400" dirty="0"/>
          </a:p>
        </p:txBody>
      </p:sp>
      <p:sp>
        <p:nvSpPr>
          <p:cNvPr id="28" name="Text 26"/>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+$484K</a:t>
            </a:r>
            <a:endParaRPr lang="en-US" sz="1600" dirty="0"/>
          </a:p>
        </p:txBody>
      </p:sp>
      <p:sp>
        <p:nvSpPr>
          <p:cNvPr id="29" name="Shape 27"/>
          <p:cNvSpPr/>
          <p:nvPr/>
        </p:nvSpPr>
        <p:spPr>
          <a:xfrm>
            <a:off x="4349496" y="1371600"/>
            <a:ext cx="3489960" cy="45720"/>
          </a:xfrm>
          <a:prstGeom prst="rect">
            <a:avLst/>
          </a:prstGeom>
          <a:solidFill>
            <a:srgbClr val="C2352F"/>
          </a:solidFill>
          <a:ln/>
        </p:spPr>
        <p:txBody>
          <a:bodyPr/>
          <a:p/>
        </p:txBody>
      </p:sp>
      <p:sp>
        <p:nvSpPr>
          <p:cNvPr id="30" name="Text 28"/>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1" name="Text 29"/>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2" name="Shape 30"/>
          <p:cNvSpPr/>
          <p:nvPr/>
        </p:nvSpPr>
        <p:spPr>
          <a:xfrm>
            <a:off x="4349496" y="2103120"/>
            <a:ext cx="3489960" cy="828446"/>
          </a:xfrm>
          <a:prstGeom prst="rect">
            <a:avLst/>
          </a:prstGeom>
          <a:solidFill>
            <a:srgbClr val="F7F7F7"/>
          </a:solidFill>
          <a:ln/>
        </p:spPr>
        <p:txBody>
          <a:bodyPr/>
          <a:p/>
        </p:txBody>
      </p:sp>
      <p:sp>
        <p:nvSpPr>
          <p:cNvPr id="33" name="Shape 31"/>
          <p:cNvSpPr/>
          <p:nvPr/>
        </p:nvSpPr>
        <p:spPr>
          <a:xfrm>
            <a:off x="7775448" y="2139696"/>
            <a:ext cx="64008" cy="755294"/>
          </a:xfrm>
          <a:prstGeom prst="rect">
            <a:avLst/>
          </a:prstGeom>
          <a:solidFill>
            <a:srgbClr val="2587C5"/>
          </a:solidFill>
          <a:ln/>
        </p:spPr>
        <p:txBody>
          <a:bodyPr/>
          <a:p/>
        </p:txBody>
      </p:sp>
      <p:sp>
        <p:nvSpPr>
          <p:cNvPr id="34" name="Text 32"/>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5" name="Text 33"/>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$2.91M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$2.27M</a:t>
            </a:r>
            <a:endParaRPr lang="en-US" sz="1400" dirty="0"/>
          </a:p>
        </p:txBody>
      </p:sp>
      <p:sp>
        <p:nvSpPr>
          <p:cNvPr id="36" name="Text 34"/>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−$643K</a:t>
            </a:r>
            <a:endParaRPr lang="en-US" sz="1600" dirty="0"/>
          </a:p>
        </p:txBody>
      </p:sp>
      <p:sp>
        <p:nvSpPr>
          <p:cNvPr id="37" name="Text 35"/>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8" name="Text 36"/>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$1.09M</a:t>
            </a:r>
            <a:endParaRPr lang="en-US" sz="1400" dirty="0"/>
          </a:p>
        </p:txBody>
      </p:sp>
      <p:sp>
        <p:nvSpPr>
          <p:cNvPr id="39" name="Text 37"/>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−$457K</a:t>
            </a:r>
            <a:endParaRPr lang="en-US" sz="1600" dirty="0"/>
          </a:p>
        </p:txBody>
      </p:sp>
      <p:sp>
        <p:nvSpPr>
          <p:cNvPr id="40" name="Shape 38"/>
          <p:cNvSpPr/>
          <p:nvPr/>
        </p:nvSpPr>
        <p:spPr>
          <a:xfrm>
            <a:off x="4349496" y="3760013"/>
            <a:ext cx="3489960" cy="828446"/>
          </a:xfrm>
          <a:prstGeom prst="rect">
            <a:avLst/>
          </a:prstGeom>
          <a:solidFill>
            <a:srgbClr val="F7F7F7"/>
          </a:solidFill>
          <a:ln/>
        </p:spPr>
        <p:txBody>
          <a:bodyPr/>
          <a:p/>
        </p:txBody>
      </p:sp>
      <p:sp>
        <p:nvSpPr>
          <p:cNvPr id="41" name="Text 39"/>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2" name="Text 40"/>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$967K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$699K</a:t>
            </a:r>
            <a:endParaRPr lang="en-US" sz="1400" dirty="0"/>
          </a:p>
        </p:txBody>
      </p:sp>
      <p:sp>
        <p:nvSpPr>
          <p:cNvPr id="43" name="Text 41"/>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−$268K</a:t>
            </a:r>
            <a:endParaRPr lang="en-US" sz="1600" dirty="0"/>
          </a:p>
        </p:txBody>
      </p:sp>
      <p:sp>
        <p:nvSpPr>
          <p:cNvPr id="44" name="Text 42"/>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5" name="Text 43"/>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$153K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−$59K</a:t>
            </a:r>
            <a:endParaRPr lang="en-US" sz="1400" dirty="0"/>
          </a:p>
        </p:txBody>
      </p:sp>
      <p:sp>
        <p:nvSpPr>
          <p:cNvPr id="46" name="Text 44"/>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−$212K</a:t>
            </a:r>
            <a:endParaRPr lang="en-US" sz="1600" dirty="0"/>
          </a:p>
        </p:txBody>
      </p:sp>
      <p:sp>
        <p:nvSpPr>
          <p:cNvPr id="47" name="Shape 45"/>
          <p:cNvSpPr/>
          <p:nvPr/>
        </p:nvSpPr>
        <p:spPr>
          <a:xfrm>
            <a:off x="4349496" y="5416906"/>
            <a:ext cx="3489960" cy="828446"/>
          </a:xfrm>
          <a:prstGeom prst="rect">
            <a:avLst/>
          </a:prstGeom>
          <a:solidFill>
            <a:srgbClr val="F7F7F7"/>
          </a:solidFill>
          <a:ln/>
        </p:spPr>
        <p:txBody>
          <a:bodyPr/>
          <a:p/>
        </p:txBody>
      </p:sp>
      <p:sp>
        <p:nvSpPr>
          <p:cNvPr id="48" name="Text 46"/>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9" name="Text 47"/>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$1.99M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$1.82M</a:t>
            </a:r>
            <a:endParaRPr lang="en-US" sz="1400" dirty="0"/>
          </a:p>
        </p:txBody>
      </p:sp>
      <p:sp>
        <p:nvSpPr>
          <p:cNvPr id="50" name="Text 48"/>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−$178K</a:t>
            </a:r>
            <a:endParaRPr lang="en-US" sz="1600" dirty="0"/>
          </a:p>
        </p:txBody>
      </p:sp>
      <p:sp>
        <p:nvSpPr>
          <p:cNvPr id="51" name="Shape 49"/>
          <p:cNvSpPr/>
          <p:nvPr/>
        </p:nvSpPr>
        <p:spPr>
          <a:xfrm>
            <a:off x="8040624" y="1371600"/>
            <a:ext cx="3489960" cy="45720"/>
          </a:xfrm>
          <a:prstGeom prst="rect">
            <a:avLst/>
          </a:prstGeom>
          <a:solidFill>
            <a:srgbClr val="2587C5"/>
          </a:solidFill>
          <a:ln/>
        </p:spPr>
        <p:txBody>
          <a:bodyPr/>
          <a:p/>
        </p:txBody>
      </p:sp>
      <p:sp>
        <p:nvSpPr>
          <p:cNvPr id="52" name="Text 50"/>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3" name="Text 51"/>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this year</a:t>
            </a:r>
            <a:endParaRPr lang="en-US" sz="1200" dirty="0"/>
          </a:p>
        </p:txBody>
      </p:sp>
      <p:sp>
        <p:nvSpPr>
          <p:cNvPr id="54" name="Shape 52"/>
          <p:cNvSpPr/>
          <p:nvPr/>
        </p:nvSpPr>
        <p:spPr>
          <a:xfrm>
            <a:off x="8040624" y="2103120"/>
            <a:ext cx="3489960" cy="828446"/>
          </a:xfrm>
          <a:prstGeom prst="rect">
            <a:avLst/>
          </a:prstGeom>
          <a:solidFill>
            <a:srgbClr val="F7F7F7"/>
          </a:solidFill>
          <a:ln/>
        </p:spPr>
        <p:txBody>
          <a:bodyPr/>
          <a:p/>
        </p:txBody>
      </p:sp>
      <p:sp>
        <p:nvSpPr>
          <p:cNvPr id="55" name="Shape 53"/>
          <p:cNvSpPr/>
          <p:nvPr/>
        </p:nvSpPr>
        <p:spPr>
          <a:xfrm>
            <a:off x="11466576" y="2139696"/>
            <a:ext cx="64008" cy="755294"/>
          </a:xfrm>
          <a:prstGeom prst="rect">
            <a:avLst/>
          </a:prstGeom>
          <a:solidFill>
            <a:srgbClr val="12A566"/>
          </a:solidFill>
          <a:ln/>
        </p:spPr>
        <p:txBody>
          <a:bodyPr/>
          <a:p/>
        </p:txBody>
      </p:sp>
      <p:sp>
        <p:nvSpPr>
          <p:cNvPr id="56" name="Text 54"/>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7" name="Text 55"/>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$586K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$725K</a:t>
            </a:r>
            <a:endParaRPr lang="en-US" sz="1400" dirty="0"/>
          </a:p>
        </p:txBody>
      </p:sp>
      <p:sp>
        <p:nvSpPr>
          <p:cNvPr id="58" name="Text 56"/>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+$139K</a:t>
            </a:r>
            <a:endParaRPr lang="en-US" sz="1600" dirty="0"/>
          </a:p>
        </p:txBody>
      </p:sp>
      <p:sp>
        <p:nvSpPr>
          <p:cNvPr id="59" name="Shape 57"/>
          <p:cNvSpPr/>
          <p:nvPr/>
        </p:nvSpPr>
        <p:spPr>
          <a:xfrm>
            <a:off x="11466576" y="2968142"/>
            <a:ext cx="64008" cy="755294"/>
          </a:xfrm>
          <a:prstGeom prst="rect">
            <a:avLst/>
          </a:prstGeom>
          <a:solidFill>
            <a:srgbClr val="12A566"/>
          </a:solidFill>
          <a:ln/>
        </p:spPr>
        <p:txBody>
          <a:bodyPr/>
          <a:p/>
        </p:txBody>
      </p:sp>
      <p:sp>
        <p:nvSpPr>
          <p:cNvPr id="60" name="Text 58"/>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1" name="Text 59"/>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$934K</a:t>
            </a:r>
            <a:endParaRPr lang="en-US" sz="1400" dirty="0"/>
          </a:p>
        </p:txBody>
      </p:sp>
      <p:sp>
        <p:nvSpPr>
          <p:cNvPr id="62" name="Text 60"/>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+$138K</a:t>
            </a:r>
            <a:endParaRPr lang="en-US" sz="1600" dirty="0"/>
          </a:p>
        </p:txBody>
      </p:sp>
      <p:sp>
        <p:nvSpPr>
          <p:cNvPr id="63" name="Shape 61"/>
          <p:cNvSpPr/>
          <p:nvPr/>
        </p:nvSpPr>
        <p:spPr>
          <a:xfrm>
            <a:off x="8040624" y="3760013"/>
            <a:ext cx="3489960" cy="828446"/>
          </a:xfrm>
          <a:prstGeom prst="rect">
            <a:avLst/>
          </a:prstGeom>
          <a:solidFill>
            <a:srgbClr val="F7F7F7"/>
          </a:solidFill>
          <a:ln/>
        </p:spPr>
        <p:txBody>
          <a:bodyPr/>
          <a:p/>
        </p:txBody>
      </p:sp>
      <p:sp>
        <p:nvSpPr>
          <p:cNvPr id="64" name="Shape 62"/>
          <p:cNvSpPr/>
          <p:nvPr/>
        </p:nvSpPr>
        <p:spPr>
          <a:xfrm>
            <a:off x="11466576" y="3796589"/>
            <a:ext cx="64008" cy="755294"/>
          </a:xfrm>
          <a:prstGeom prst="rect">
            <a:avLst/>
          </a:prstGeom>
          <a:solidFill>
            <a:srgbClr val="2587C5"/>
          </a:solidFill>
          <a:ln/>
        </p:spPr>
        <p:txBody>
          <a:bodyPr/>
          <a:p/>
        </p:txBody>
      </p:sp>
      <p:sp>
        <p:nvSpPr>
          <p:cNvPr id="65" name="Text 63"/>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6" name="Text 64"/>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$294K</a:t>
            </a:r>
            <a:endParaRPr lang="en-US" sz="1400" dirty="0"/>
          </a:p>
        </p:txBody>
      </p:sp>
      <p:sp>
        <p:nvSpPr>
          <p:cNvPr id="67" name="Text 65"/>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+$113K</a:t>
            </a:r>
            <a:endParaRPr lang="en-US" sz="1600" dirty="0"/>
          </a:p>
        </p:txBody>
      </p:sp>
      <p:sp>
        <p:nvSpPr>
          <p:cNvPr id="68" name="Text 66"/>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9" name="Text 67"/>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$408K</a:t>
            </a:r>
            <a:endParaRPr lang="en-US" sz="1400" dirty="0"/>
          </a:p>
        </p:txBody>
      </p:sp>
      <p:sp>
        <p:nvSpPr>
          <p:cNvPr id="70" name="Text 68"/>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+$92K</a:t>
            </a:r>
            <a:endParaRPr lang="en-US" sz="1600" dirty="0"/>
          </a:p>
        </p:txBody>
      </p:sp>
      <p:sp>
        <p:nvSpPr>
          <p:cNvPr id="71" name="Shape 69"/>
          <p:cNvSpPr/>
          <p:nvPr/>
        </p:nvSpPr>
        <p:spPr>
          <a:xfrm>
            <a:off x="8040624" y="5416906"/>
            <a:ext cx="3489960" cy="828446"/>
          </a:xfrm>
          <a:prstGeom prst="rect">
            <a:avLst/>
          </a:prstGeom>
          <a:solidFill>
            <a:srgbClr val="F7F7F7"/>
          </a:solidFill>
          <a:ln/>
        </p:spPr>
        <p:txBody>
          <a:bodyPr/>
          <a:p/>
        </p:txBody>
      </p:sp>
      <p:sp>
        <p:nvSpPr>
          <p:cNvPr id="72" name="Text 70"/>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73" name="Text 71"/>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$155K</a:t>
            </a:r>
            <a:endParaRPr lang="en-US" sz="1400" dirty="0"/>
          </a:p>
        </p:txBody>
      </p:sp>
      <p:sp>
        <p:nvSpPr>
          <p:cNvPr id="74" name="Text 72"/>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+$84K</a:t>
            </a:r>
            <a:endParaRPr lang="en-US" sz="160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Shape 4"/>
          <p:cNvSpPr/>
          <p:nvPr/>
        </p:nvSpPr>
        <p:spPr>
          <a:xfrm>
            <a:off x="658368" y="1371600"/>
            <a:ext cx="3489960" cy="45720"/>
          </a:xfrm>
          <a:prstGeom prst="rect">
            <a:avLst/>
          </a:prstGeom>
          <a:solidFill>
            <a:srgbClr val="12A566"/>
          </a:solidFill>
          <a:ln/>
        </p:spPr>
        <p:txBody>
          <a:bodyPr/>
          <a:p/>
        </p:txBody>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txBody>
          <a:bodyPr/>
          <a:p/>
        </p:txBody>
      </p:sp>
      <p:sp>
        <p:nvSpPr>
          <p:cNvPr id="10" name="Text 8"/>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43.8%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59.9%</a:t>
            </a:r>
            <a:endParaRPr lang="en-US" sz="1400" dirty="0"/>
          </a:p>
        </p:txBody>
      </p:sp>
      <p:sp>
        <p:nvSpPr>
          <p:cNvPr id="12" name="Text 10"/>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+16.1 pts</a:t>
            </a:r>
            <a:endParaRPr lang="en-US" sz="1600" dirty="0"/>
          </a:p>
        </p:txBody>
      </p:sp>
      <p:sp>
        <p:nvSpPr>
          <p:cNvPr id="13" name="Text 11"/>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86.1%</a:t>
            </a:r>
            <a:endParaRPr lang="en-US" sz="1400" dirty="0"/>
          </a:p>
        </p:txBody>
      </p:sp>
      <p:sp>
        <p:nvSpPr>
          <p:cNvPr id="15" name="Text 13"/>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+9.5 pts</a:t>
            </a:r>
            <a:endParaRPr lang="en-US" sz="1600" dirty="0"/>
          </a:p>
        </p:txBody>
      </p:sp>
      <p:sp>
        <p:nvSpPr>
          <p:cNvPr id="16" name="Shape 14"/>
          <p:cNvSpPr/>
          <p:nvPr/>
        </p:nvSpPr>
        <p:spPr>
          <a:xfrm>
            <a:off x="658368" y="3760013"/>
            <a:ext cx="3489960" cy="828446"/>
          </a:xfrm>
          <a:prstGeom prst="rect">
            <a:avLst/>
          </a:prstGeom>
          <a:solidFill>
            <a:srgbClr val="F7F7F7"/>
          </a:solidFill>
          <a:ln/>
        </p:spPr>
        <p:txBody>
          <a:bodyPr/>
          <a:p/>
        </p:txBody>
      </p:sp>
      <p:sp>
        <p:nvSpPr>
          <p:cNvPr id="17" name="Shape 15"/>
          <p:cNvSpPr/>
          <p:nvPr/>
        </p:nvSpPr>
        <p:spPr>
          <a:xfrm>
            <a:off x="4084320" y="3796589"/>
            <a:ext cx="64008" cy="755294"/>
          </a:xfrm>
          <a:prstGeom prst="rect">
            <a:avLst/>
          </a:prstGeom>
          <a:solidFill>
            <a:srgbClr val="12A566"/>
          </a:solidFill>
          <a:ln/>
        </p:spPr>
        <p:txBody>
          <a:bodyPr/>
          <a:p/>
        </p:txBody>
      </p:sp>
      <p:sp>
        <p:nvSpPr>
          <p:cNvPr id="18" name="Text 16"/>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67.8%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77.3%</a:t>
            </a:r>
            <a:endParaRPr lang="en-US" sz="1400" dirty="0"/>
          </a:p>
        </p:txBody>
      </p:sp>
      <p:sp>
        <p:nvSpPr>
          <p:cNvPr id="20" name="Text 18"/>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+9.5 pts</a:t>
            </a:r>
            <a:endParaRPr lang="en-US" sz="1600" dirty="0"/>
          </a:p>
        </p:txBody>
      </p:sp>
      <p:sp>
        <p:nvSpPr>
          <p:cNvPr id="21" name="Text 19"/>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2" name="Text 20"/>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72.8%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78.4%</a:t>
            </a:r>
            <a:endParaRPr lang="en-US" sz="1400" dirty="0"/>
          </a:p>
        </p:txBody>
      </p:sp>
      <p:sp>
        <p:nvSpPr>
          <p:cNvPr id="23" name="Text 21"/>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+5.6 pts</a:t>
            </a:r>
            <a:endParaRPr lang="en-US" sz="1600" dirty="0"/>
          </a:p>
        </p:txBody>
      </p:sp>
      <p:sp>
        <p:nvSpPr>
          <p:cNvPr id="24" name="Shape 22"/>
          <p:cNvSpPr/>
          <p:nvPr/>
        </p:nvSpPr>
        <p:spPr>
          <a:xfrm>
            <a:off x="658368" y="5416906"/>
            <a:ext cx="3489960" cy="828446"/>
          </a:xfrm>
          <a:prstGeom prst="rect">
            <a:avLst/>
          </a:prstGeom>
          <a:solidFill>
            <a:srgbClr val="F7F7F7"/>
          </a:solidFill>
          <a:ln/>
        </p:spPr>
        <p:txBody>
          <a:bodyPr/>
          <a:p/>
        </p:txBody>
      </p:sp>
      <p:sp>
        <p:nvSpPr>
          <p:cNvPr id="25" name="Text 23"/>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6" name="Text 24"/>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70.2%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75.6%</a:t>
            </a:r>
            <a:endParaRPr lang="en-US" sz="1400" dirty="0"/>
          </a:p>
        </p:txBody>
      </p:sp>
      <p:sp>
        <p:nvSpPr>
          <p:cNvPr id="27" name="Text 25"/>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+5.4 pts</a:t>
            </a:r>
            <a:endParaRPr lang="en-US" sz="1600" dirty="0"/>
          </a:p>
        </p:txBody>
      </p:sp>
      <p:sp>
        <p:nvSpPr>
          <p:cNvPr id="28" name="Shape 26"/>
          <p:cNvSpPr/>
          <p:nvPr/>
        </p:nvSpPr>
        <p:spPr>
          <a:xfrm>
            <a:off x="4349496" y="1371600"/>
            <a:ext cx="3489960" cy="45720"/>
          </a:xfrm>
          <a:prstGeom prst="rect">
            <a:avLst/>
          </a:prstGeom>
          <a:solidFill>
            <a:srgbClr val="C2352F"/>
          </a:solidFill>
          <a:ln/>
        </p:spPr>
        <p:txBody>
          <a:bodyPr/>
          <a:p/>
        </p:txBody>
      </p:sp>
      <p:sp>
        <p:nvSpPr>
          <p:cNvPr id="29"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0" name="Text 28"/>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1" name="Shape 29"/>
          <p:cNvSpPr/>
          <p:nvPr/>
        </p:nvSpPr>
        <p:spPr>
          <a:xfrm>
            <a:off x="4349496" y="2103120"/>
            <a:ext cx="3489960" cy="828446"/>
          </a:xfrm>
          <a:prstGeom prst="rect">
            <a:avLst/>
          </a:prstGeom>
          <a:solidFill>
            <a:srgbClr val="F7F7F7"/>
          </a:solidFill>
          <a:ln/>
        </p:spPr>
        <p:txBody>
          <a:bodyPr/>
          <a:p/>
        </p:txBody>
      </p:sp>
      <p:sp>
        <p:nvSpPr>
          <p:cNvPr id="32" name="Text 30"/>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3" name="Text 31"/>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54.1%</a:t>
            </a:r>
            <a:endParaRPr lang="en-US" sz="1400" dirty="0"/>
          </a:p>
        </p:txBody>
      </p:sp>
      <p:sp>
        <p:nvSpPr>
          <p:cNvPr id="34" name="Text 32"/>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−17.4 pts</a:t>
            </a:r>
            <a:endParaRPr lang="en-US" sz="1600" dirty="0"/>
          </a:p>
        </p:txBody>
      </p:sp>
      <p:sp>
        <p:nvSpPr>
          <p:cNvPr id="35" name="Shape 33"/>
          <p:cNvSpPr/>
          <p:nvPr/>
        </p:nvSpPr>
        <p:spPr>
          <a:xfrm>
            <a:off x="7775448" y="2968142"/>
            <a:ext cx="64008" cy="755294"/>
          </a:xfrm>
          <a:prstGeom prst="rect">
            <a:avLst/>
          </a:prstGeom>
          <a:solidFill>
            <a:srgbClr val="2587C5"/>
          </a:solidFill>
          <a:ln/>
        </p:spPr>
        <p:txBody>
          <a:bodyPr/>
          <a:p/>
        </p:txBody>
      </p:sp>
      <p:sp>
        <p:nvSpPr>
          <p:cNvPr id="36" name="Text 34"/>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7" name="Text 35"/>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75.9%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65.8%</a:t>
            </a:r>
            <a:endParaRPr lang="en-US" sz="1400" dirty="0"/>
          </a:p>
        </p:txBody>
      </p:sp>
      <p:sp>
        <p:nvSpPr>
          <p:cNvPr id="38" name="Text 36"/>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−10.1 pts</a:t>
            </a:r>
            <a:endParaRPr lang="en-US" sz="1600" dirty="0"/>
          </a:p>
        </p:txBody>
      </p:sp>
      <p:sp>
        <p:nvSpPr>
          <p:cNvPr id="39" name="Shape 37"/>
          <p:cNvSpPr/>
          <p:nvPr/>
        </p:nvSpPr>
        <p:spPr>
          <a:xfrm>
            <a:off x="4349496" y="3760013"/>
            <a:ext cx="3489960" cy="828446"/>
          </a:xfrm>
          <a:prstGeom prst="rect">
            <a:avLst/>
          </a:prstGeom>
          <a:solidFill>
            <a:srgbClr val="F7F7F7"/>
          </a:solidFill>
          <a:ln/>
        </p:spPr>
        <p:txBody>
          <a:bodyPr/>
          <a:p/>
        </p:txBody>
      </p:sp>
      <p:sp>
        <p:nvSpPr>
          <p:cNvPr id="40" name="Text 38"/>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1" name="Text 39"/>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93.5%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83.8%</a:t>
            </a:r>
            <a:endParaRPr lang="en-US" sz="1400" dirty="0"/>
          </a:p>
        </p:txBody>
      </p:sp>
      <p:sp>
        <p:nvSpPr>
          <p:cNvPr id="42" name="Text 40"/>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−9.7 pts</a:t>
            </a:r>
            <a:endParaRPr lang="en-US" sz="1600" dirty="0"/>
          </a:p>
        </p:txBody>
      </p:sp>
      <p:sp>
        <p:nvSpPr>
          <p:cNvPr id="43" name="Text 41"/>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4" name="Text 42"/>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109.7%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103.6%</a:t>
            </a:r>
            <a:endParaRPr lang="en-US" sz="1400" dirty="0"/>
          </a:p>
        </p:txBody>
      </p:sp>
      <p:sp>
        <p:nvSpPr>
          <p:cNvPr id="45" name="Text 43"/>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−6.1 pts</a:t>
            </a:r>
            <a:endParaRPr lang="en-US" sz="1600" dirty="0"/>
          </a:p>
        </p:txBody>
      </p:sp>
      <p:sp>
        <p:nvSpPr>
          <p:cNvPr id="46" name="Shape 44"/>
          <p:cNvSpPr/>
          <p:nvPr/>
        </p:nvSpPr>
        <p:spPr>
          <a:xfrm>
            <a:off x="4349496" y="5416906"/>
            <a:ext cx="3489960" cy="828446"/>
          </a:xfrm>
          <a:prstGeom prst="rect">
            <a:avLst/>
          </a:prstGeom>
          <a:solidFill>
            <a:srgbClr val="F7F7F7"/>
          </a:solidFill>
          <a:ln/>
        </p:spPr>
        <p:txBody>
          <a:bodyPr/>
          <a:p/>
        </p:txBody>
      </p:sp>
      <p:sp>
        <p:nvSpPr>
          <p:cNvPr id="47" name="Text 45"/>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8" name="Text 46"/>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65.4%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63.1%</a:t>
            </a:r>
            <a:endParaRPr lang="en-US" sz="1400" dirty="0"/>
          </a:p>
        </p:txBody>
      </p:sp>
      <p:sp>
        <p:nvSpPr>
          <p:cNvPr id="49" name="Text 47"/>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−2.3 pts</a:t>
            </a:r>
            <a:endParaRPr lang="en-US" sz="1600" dirty="0"/>
          </a:p>
        </p:txBody>
      </p:sp>
      <p:sp>
        <p:nvSpPr>
          <p:cNvPr id="50" name="Shape 48"/>
          <p:cNvSpPr/>
          <p:nvPr/>
        </p:nvSpPr>
        <p:spPr>
          <a:xfrm>
            <a:off x="8040624" y="1371600"/>
            <a:ext cx="3489960" cy="45720"/>
          </a:xfrm>
          <a:prstGeom prst="rect">
            <a:avLst/>
          </a:prstGeom>
          <a:solidFill>
            <a:srgbClr val="2587C5"/>
          </a:solidFill>
          <a:ln/>
        </p:spPr>
        <p:txBody>
          <a:bodyPr/>
          <a:p/>
        </p:txBody>
      </p:sp>
      <p:sp>
        <p:nvSpPr>
          <p:cNvPr id="51" name="Text 4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2" name="Text 50"/>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this year</a:t>
            </a:r>
            <a:endParaRPr lang="en-US" sz="1200" dirty="0"/>
          </a:p>
        </p:txBody>
      </p:sp>
      <p:sp>
        <p:nvSpPr>
          <p:cNvPr id="53" name="Shape 51"/>
          <p:cNvSpPr/>
          <p:nvPr/>
        </p:nvSpPr>
        <p:spPr>
          <a:xfrm>
            <a:off x="8040624" y="2103120"/>
            <a:ext cx="3489960" cy="828446"/>
          </a:xfrm>
          <a:prstGeom prst="rect">
            <a:avLst/>
          </a:prstGeom>
          <a:solidFill>
            <a:srgbClr val="F7F7F7"/>
          </a:solidFill>
          <a:ln/>
        </p:spPr>
        <p:txBody>
          <a:bodyPr/>
          <a:p/>
        </p:txBody>
      </p:sp>
      <p:sp>
        <p:nvSpPr>
          <p:cNvPr id="54" name="Text 52"/>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5" name="Text 53"/>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82.9%</a:t>
            </a:r>
            <a:endParaRPr lang="en-US" sz="1400" dirty="0"/>
          </a:p>
        </p:txBody>
      </p:sp>
      <p:sp>
        <p:nvSpPr>
          <p:cNvPr id="56" name="Text 54"/>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+16.3 pts</a:t>
            </a:r>
            <a:endParaRPr lang="en-US" sz="1600" dirty="0"/>
          </a:p>
        </p:txBody>
      </p:sp>
      <p:sp>
        <p:nvSpPr>
          <p:cNvPr id="57" name="Shape 55"/>
          <p:cNvSpPr/>
          <p:nvPr/>
        </p:nvSpPr>
        <p:spPr>
          <a:xfrm>
            <a:off x="11466576" y="2968142"/>
            <a:ext cx="64008" cy="755294"/>
          </a:xfrm>
          <a:prstGeom prst="rect">
            <a:avLst/>
          </a:prstGeom>
          <a:solidFill>
            <a:srgbClr val="12A566"/>
          </a:solidFill>
          <a:ln/>
        </p:spPr>
        <p:txBody>
          <a:bodyPr/>
          <a:p/>
        </p:txBody>
      </p:sp>
      <p:sp>
        <p:nvSpPr>
          <p:cNvPr id="58" name="Text 56"/>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9" name="Text 57"/>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69.5%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84.8%</a:t>
            </a:r>
            <a:endParaRPr lang="en-US" sz="1400" dirty="0"/>
          </a:p>
        </p:txBody>
      </p:sp>
      <p:sp>
        <p:nvSpPr>
          <p:cNvPr id="60" name="Text 58"/>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+15.3 pts</a:t>
            </a:r>
            <a:endParaRPr lang="en-US" sz="1600" dirty="0"/>
          </a:p>
        </p:txBody>
      </p:sp>
      <p:sp>
        <p:nvSpPr>
          <p:cNvPr id="61" name="Shape 59"/>
          <p:cNvSpPr/>
          <p:nvPr/>
        </p:nvSpPr>
        <p:spPr>
          <a:xfrm>
            <a:off x="8040624" y="3760013"/>
            <a:ext cx="3489960" cy="828446"/>
          </a:xfrm>
          <a:prstGeom prst="rect">
            <a:avLst/>
          </a:prstGeom>
          <a:solidFill>
            <a:srgbClr val="F7F7F7"/>
          </a:solidFill>
          <a:ln/>
        </p:spPr>
        <p:txBody>
          <a:bodyPr/>
          <a:p/>
        </p:txBody>
      </p:sp>
      <p:sp>
        <p:nvSpPr>
          <p:cNvPr id="62" name="Shape 60"/>
          <p:cNvSpPr/>
          <p:nvPr/>
        </p:nvSpPr>
        <p:spPr>
          <a:xfrm>
            <a:off x="11466576" y="3796589"/>
            <a:ext cx="64008" cy="755294"/>
          </a:xfrm>
          <a:prstGeom prst="rect">
            <a:avLst/>
          </a:prstGeom>
          <a:solidFill>
            <a:srgbClr val="2587C5"/>
          </a:solidFill>
          <a:ln/>
        </p:spPr>
        <p:txBody>
          <a:bodyPr/>
          <a:p/>
        </p:txBody>
      </p:sp>
      <p:sp>
        <p:nvSpPr>
          <p:cNvPr id="63" name="Text 61"/>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4" name="Text 62"/>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62.0%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73.1%</a:t>
            </a:r>
            <a:endParaRPr lang="en-US" sz="1400" dirty="0"/>
          </a:p>
        </p:txBody>
      </p:sp>
      <p:sp>
        <p:nvSpPr>
          <p:cNvPr id="65" name="Text 63"/>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+11.1 pts</a:t>
            </a:r>
            <a:endParaRPr lang="en-US" sz="1600" dirty="0"/>
          </a:p>
        </p:txBody>
      </p:sp>
      <p:sp>
        <p:nvSpPr>
          <p:cNvPr id="66" name="Text 64"/>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7" name="Text 65"/>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83.6%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94.4%</a:t>
            </a:r>
            <a:endParaRPr lang="en-US" sz="1400" dirty="0"/>
          </a:p>
        </p:txBody>
      </p:sp>
      <p:sp>
        <p:nvSpPr>
          <p:cNvPr id="68" name="Text 66"/>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+10.7 pts</a:t>
            </a:r>
            <a:endParaRPr lang="en-US" sz="1600" dirty="0"/>
          </a:p>
        </p:txBody>
      </p:sp>
      <p:sp>
        <p:nvSpPr>
          <p:cNvPr id="69" name="Shape 67"/>
          <p:cNvSpPr/>
          <p:nvPr/>
        </p:nvSpPr>
        <p:spPr>
          <a:xfrm>
            <a:off x="8040624" y="5416906"/>
            <a:ext cx="3489960" cy="828446"/>
          </a:xfrm>
          <a:prstGeom prst="rect">
            <a:avLst/>
          </a:prstGeom>
          <a:solidFill>
            <a:srgbClr val="F7F7F7"/>
          </a:solidFill>
          <a:ln/>
        </p:spPr>
        <p:txBody>
          <a:bodyPr/>
          <a:p/>
        </p:txBody>
      </p:sp>
      <p:sp>
        <p:nvSpPr>
          <p:cNvPr id="70" name="Text 68"/>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71" name="Text 69"/>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74.2%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84.2%</a:t>
            </a:r>
            <a:endParaRPr lang="en-US" sz="1400" dirty="0"/>
          </a:p>
        </p:txBody>
      </p:sp>
      <p:sp>
        <p:nvSpPr>
          <p:cNvPr id="72" name="Text 70"/>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+10.0 pts</a:t>
            </a:r>
            <a:endParaRPr lang="en-US" sz="1600"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to Gross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Shape 4"/>
          <p:cNvSpPr/>
          <p:nvPr/>
        </p:nvSpPr>
        <p:spPr>
          <a:xfrm>
            <a:off x="658368" y="1371600"/>
            <a:ext cx="3489960" cy="45720"/>
          </a:xfrm>
          <a:prstGeom prst="rect">
            <a:avLst/>
          </a:prstGeom>
          <a:solidFill>
            <a:srgbClr val="12A566"/>
          </a:solidFill>
          <a:ln/>
        </p:spPr>
        <p:txBody>
          <a:bodyPr/>
          <a:p/>
        </p:txBody>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txBody>
          <a:bodyPr/>
          <a:p/>
        </p:txBody>
      </p:sp>
      <p:sp>
        <p:nvSpPr>
          <p:cNvPr id="10" name="Shape 8"/>
          <p:cNvSpPr/>
          <p:nvPr/>
        </p:nvSpPr>
        <p:spPr>
          <a:xfrm>
            <a:off x="4084320" y="2139696"/>
            <a:ext cx="64008" cy="755294"/>
          </a:xfrm>
          <a:prstGeom prst="rect">
            <a:avLst/>
          </a:prstGeom>
          <a:solidFill>
            <a:srgbClr val="12A566"/>
          </a:solidFill>
          <a:ln/>
        </p:spPr>
        <p:txBody>
          <a:bodyPr/>
          <a:p/>
        </p:txBody>
      </p:sp>
      <p:sp>
        <p:nvSpPr>
          <p:cNvPr id="11" name="Text 9"/>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-52.7%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-19.2%</a:t>
            </a:r>
            <a:endParaRPr lang="en-US" sz="1400" dirty="0"/>
          </a:p>
        </p:txBody>
      </p:sp>
      <p:sp>
        <p:nvSpPr>
          <p:cNvPr id="13" name="Text 11"/>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+33.5 pts</a:t>
            </a:r>
            <a:endParaRPr lang="en-US" sz="1600" dirty="0"/>
          </a:p>
        </p:txBody>
      </p:sp>
      <p:sp>
        <p:nvSpPr>
          <p:cNvPr id="14" name="Shape 12"/>
          <p:cNvSpPr/>
          <p:nvPr/>
        </p:nvSpPr>
        <p:spPr>
          <a:xfrm>
            <a:off x="4084320" y="2968142"/>
            <a:ext cx="64008" cy="755294"/>
          </a:xfrm>
          <a:prstGeom prst="rect">
            <a:avLst/>
          </a:prstGeom>
          <a:solidFill>
            <a:srgbClr val="12A566"/>
          </a:solidFill>
          <a:ln/>
        </p:spPr>
        <p:txBody>
          <a:bodyPr/>
          <a:p/>
        </p:txBody>
      </p:sp>
      <p:sp>
        <p:nvSpPr>
          <p:cNvPr id="15" name="Text 13"/>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4"/>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-3.2%</a:t>
            </a:r>
            <a:endParaRPr lang="en-US" sz="1400" dirty="0"/>
          </a:p>
        </p:txBody>
      </p:sp>
      <p:sp>
        <p:nvSpPr>
          <p:cNvPr id="17" name="Text 15"/>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+22.5 pts</a:t>
            </a:r>
            <a:endParaRPr lang="en-US" sz="1600" dirty="0"/>
          </a:p>
        </p:txBody>
      </p:sp>
      <p:sp>
        <p:nvSpPr>
          <p:cNvPr id="18" name="Shape 16"/>
          <p:cNvSpPr/>
          <p:nvPr/>
        </p:nvSpPr>
        <p:spPr>
          <a:xfrm>
            <a:off x="658368" y="3760013"/>
            <a:ext cx="3489960" cy="828446"/>
          </a:xfrm>
          <a:prstGeom prst="rect">
            <a:avLst/>
          </a:prstGeom>
          <a:solidFill>
            <a:srgbClr val="F7F7F7"/>
          </a:solidFill>
          <a:ln/>
        </p:spPr>
        <p:txBody>
          <a:bodyPr/>
          <a:p/>
        </p:txBody>
      </p:sp>
      <p:sp>
        <p:nvSpPr>
          <p:cNvPr id="19" name="Shape 17"/>
          <p:cNvSpPr/>
          <p:nvPr/>
        </p:nvSpPr>
        <p:spPr>
          <a:xfrm>
            <a:off x="4084320" y="3796589"/>
            <a:ext cx="64008" cy="755294"/>
          </a:xfrm>
          <a:prstGeom prst="rect">
            <a:avLst/>
          </a:prstGeom>
          <a:solidFill>
            <a:srgbClr val="12A566"/>
          </a:solidFill>
          <a:ln/>
        </p:spPr>
        <p:txBody>
          <a:bodyPr/>
          <a:p/>
        </p:txBody>
      </p:sp>
      <p:sp>
        <p:nvSpPr>
          <p:cNvPr id="20" name="Text 18"/>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1" name="Text 19"/>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16.0%</a:t>
            </a:r>
            <a:endParaRPr lang="en-US" sz="1400" dirty="0"/>
          </a:p>
        </p:txBody>
      </p:sp>
      <p:sp>
        <p:nvSpPr>
          <p:cNvPr id="22" name="Text 20"/>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+20.1 pts</a:t>
            </a:r>
            <a:endParaRPr lang="en-US" sz="1600" dirty="0"/>
          </a:p>
        </p:txBody>
      </p:sp>
      <p:sp>
        <p:nvSpPr>
          <p:cNvPr id="23" name="Text 21"/>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4" name="Text 22"/>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-27.5%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-13.8%</a:t>
            </a:r>
            <a:endParaRPr lang="en-US" sz="1400" dirty="0"/>
          </a:p>
        </p:txBody>
      </p:sp>
      <p:sp>
        <p:nvSpPr>
          <p:cNvPr id="25" name="Text 23"/>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+13.7 pts</a:t>
            </a:r>
            <a:endParaRPr lang="en-US" sz="1600" dirty="0"/>
          </a:p>
        </p:txBody>
      </p:sp>
      <p:sp>
        <p:nvSpPr>
          <p:cNvPr id="26" name="Shape 24"/>
          <p:cNvSpPr/>
          <p:nvPr/>
        </p:nvSpPr>
        <p:spPr>
          <a:xfrm>
            <a:off x="658368" y="5416906"/>
            <a:ext cx="3489960" cy="828446"/>
          </a:xfrm>
          <a:prstGeom prst="rect">
            <a:avLst/>
          </a:prstGeom>
          <a:solidFill>
            <a:srgbClr val="F7F7F7"/>
          </a:solidFill>
          <a:ln/>
        </p:spPr>
        <p:txBody>
          <a:bodyPr/>
          <a:p/>
        </p:txBody>
      </p:sp>
      <p:sp>
        <p:nvSpPr>
          <p:cNvPr id="27" name="Text 25"/>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8" name="Text 26"/>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-26.3%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-14.4%</a:t>
            </a:r>
            <a:endParaRPr lang="en-US" sz="1400" dirty="0"/>
          </a:p>
        </p:txBody>
      </p:sp>
      <p:sp>
        <p:nvSpPr>
          <p:cNvPr id="29" name="Text 27"/>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+11.9 pts</a:t>
            </a:r>
            <a:endParaRPr lang="en-US" sz="1600" dirty="0"/>
          </a:p>
        </p:txBody>
      </p:sp>
      <p:sp>
        <p:nvSpPr>
          <p:cNvPr id="30" name="Shape 28"/>
          <p:cNvSpPr/>
          <p:nvPr/>
        </p:nvSpPr>
        <p:spPr>
          <a:xfrm>
            <a:off x="4349496" y="1371600"/>
            <a:ext cx="3489960" cy="45720"/>
          </a:xfrm>
          <a:prstGeom prst="rect">
            <a:avLst/>
          </a:prstGeom>
          <a:solidFill>
            <a:srgbClr val="C2352F"/>
          </a:solidFill>
          <a:ln/>
        </p:spPr>
        <p:txBody>
          <a:bodyPr/>
          <a:p/>
        </p:txBody>
      </p:sp>
      <p:sp>
        <p:nvSpPr>
          <p:cNvPr id="31" name="Text 29"/>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2" name="Text 30"/>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3" name="Shape 31"/>
          <p:cNvSpPr/>
          <p:nvPr/>
        </p:nvSpPr>
        <p:spPr>
          <a:xfrm>
            <a:off x="4349496" y="2103120"/>
            <a:ext cx="3489960" cy="828446"/>
          </a:xfrm>
          <a:prstGeom prst="rect">
            <a:avLst/>
          </a:prstGeom>
          <a:solidFill>
            <a:srgbClr val="F7F7F7"/>
          </a:solidFill>
          <a:ln/>
        </p:spPr>
        <p:txBody>
          <a:bodyPr/>
          <a:p/>
        </p:txBody>
      </p:sp>
      <p:sp>
        <p:nvSpPr>
          <p:cNvPr id="34" name="Text 32"/>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5" name="Text 33"/>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-25.2%</a:t>
            </a:r>
            <a:endParaRPr lang="en-US" sz="1400" dirty="0"/>
          </a:p>
        </p:txBody>
      </p:sp>
      <p:sp>
        <p:nvSpPr>
          <p:cNvPr id="36" name="Text 34"/>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−26.8 pts</a:t>
            </a:r>
            <a:endParaRPr lang="en-US" sz="1600" dirty="0"/>
          </a:p>
        </p:txBody>
      </p:sp>
      <p:sp>
        <p:nvSpPr>
          <p:cNvPr id="37" name="Text 35"/>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8" name="Text 36"/>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5.2%</a:t>
            </a:r>
            <a:endParaRPr lang="en-US" sz="1400" dirty="0"/>
          </a:p>
        </p:txBody>
      </p:sp>
      <p:sp>
        <p:nvSpPr>
          <p:cNvPr id="39" name="Text 37"/>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−10.9 pts</a:t>
            </a:r>
            <a:endParaRPr lang="en-US" sz="1600" dirty="0"/>
          </a:p>
        </p:txBody>
      </p:sp>
      <p:sp>
        <p:nvSpPr>
          <p:cNvPr id="40" name="Shape 38"/>
          <p:cNvSpPr/>
          <p:nvPr/>
        </p:nvSpPr>
        <p:spPr>
          <a:xfrm>
            <a:off x="4349496" y="3760013"/>
            <a:ext cx="3489960" cy="828446"/>
          </a:xfrm>
          <a:prstGeom prst="rect">
            <a:avLst/>
          </a:prstGeom>
          <a:solidFill>
            <a:srgbClr val="F7F7F7"/>
          </a:solidFill>
          <a:ln/>
        </p:spPr>
        <p:txBody>
          <a:bodyPr/>
          <a:p/>
        </p:txBody>
      </p:sp>
      <p:sp>
        <p:nvSpPr>
          <p:cNvPr id="41" name="Shape 39"/>
          <p:cNvSpPr/>
          <p:nvPr/>
        </p:nvSpPr>
        <p:spPr>
          <a:xfrm>
            <a:off x="7775448" y="3796589"/>
            <a:ext cx="64008" cy="755294"/>
          </a:xfrm>
          <a:prstGeom prst="rect">
            <a:avLst/>
          </a:prstGeom>
          <a:solidFill>
            <a:srgbClr val="2587C5"/>
          </a:solidFill>
          <a:ln/>
        </p:spPr>
        <p:txBody>
          <a:bodyPr/>
          <a:p/>
        </p:txBody>
      </p:sp>
      <p:sp>
        <p:nvSpPr>
          <p:cNvPr id="42" name="Text 40"/>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3" name="Text 41"/>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27.2%</a:t>
            </a:r>
            <a:endParaRPr lang="en-US" sz="1400" dirty="0"/>
          </a:p>
        </p:txBody>
      </p:sp>
      <p:sp>
        <p:nvSpPr>
          <p:cNvPr id="44" name="Text 42"/>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−8.4 pts</a:t>
            </a:r>
            <a:endParaRPr lang="en-US" sz="1600" dirty="0"/>
          </a:p>
        </p:txBody>
      </p:sp>
      <p:sp>
        <p:nvSpPr>
          <p:cNvPr id="45" name="Text 43"/>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6" name="Text 44"/>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18.1%</a:t>
            </a:r>
            <a:endParaRPr lang="en-US" sz="1400" dirty="0"/>
          </a:p>
        </p:txBody>
      </p:sp>
      <p:sp>
        <p:nvSpPr>
          <p:cNvPr id="47" name="Text 45"/>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−5.2 pts</a:t>
            </a:r>
            <a:endParaRPr lang="en-US" sz="1600" dirty="0"/>
          </a:p>
        </p:txBody>
      </p:sp>
      <p:sp>
        <p:nvSpPr>
          <p:cNvPr id="48" name="Shape 46"/>
          <p:cNvSpPr/>
          <p:nvPr/>
        </p:nvSpPr>
        <p:spPr>
          <a:xfrm>
            <a:off x="4349496" y="5416906"/>
            <a:ext cx="3489960" cy="828446"/>
          </a:xfrm>
          <a:prstGeom prst="rect">
            <a:avLst/>
          </a:prstGeom>
          <a:solidFill>
            <a:srgbClr val="F7F7F7"/>
          </a:solidFill>
          <a:ln/>
        </p:spPr>
        <p:txBody>
          <a:bodyPr/>
          <a:p/>
        </p:txBody>
      </p:sp>
      <p:sp>
        <p:nvSpPr>
          <p:cNvPr id="49" name="Text 47"/>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0" name="Text 48"/>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29.3%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25.3%</a:t>
            </a:r>
            <a:endParaRPr lang="en-US" sz="1400" dirty="0"/>
          </a:p>
        </p:txBody>
      </p:sp>
      <p:sp>
        <p:nvSpPr>
          <p:cNvPr id="51" name="Text 49"/>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−4.0 pts</a:t>
            </a:r>
            <a:endParaRPr lang="en-US" sz="1600" dirty="0"/>
          </a:p>
        </p:txBody>
      </p:sp>
      <p:sp>
        <p:nvSpPr>
          <p:cNvPr id="52" name="Shape 50"/>
          <p:cNvSpPr/>
          <p:nvPr/>
        </p:nvSpPr>
        <p:spPr>
          <a:xfrm>
            <a:off x="8040624" y="1371600"/>
            <a:ext cx="3489960" cy="45720"/>
          </a:xfrm>
          <a:prstGeom prst="rect">
            <a:avLst/>
          </a:prstGeom>
          <a:solidFill>
            <a:srgbClr val="2587C5"/>
          </a:solidFill>
          <a:ln/>
        </p:spPr>
        <p:txBody>
          <a:bodyPr/>
          <a:p/>
        </p:txBody>
      </p:sp>
      <p:sp>
        <p:nvSpPr>
          <p:cNvPr id="53" name="Text 51"/>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4" name="Text 52"/>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this year</a:t>
            </a:r>
            <a:endParaRPr lang="en-US" sz="1200" dirty="0"/>
          </a:p>
        </p:txBody>
      </p:sp>
      <p:sp>
        <p:nvSpPr>
          <p:cNvPr id="55" name="Shape 53"/>
          <p:cNvSpPr/>
          <p:nvPr/>
        </p:nvSpPr>
        <p:spPr>
          <a:xfrm>
            <a:off x="8040624" y="2103120"/>
            <a:ext cx="3489960" cy="828446"/>
          </a:xfrm>
          <a:prstGeom prst="rect">
            <a:avLst/>
          </a:prstGeom>
          <a:solidFill>
            <a:srgbClr val="F7F7F7"/>
          </a:solidFill>
          <a:ln/>
        </p:spPr>
        <p:txBody>
          <a:bodyPr/>
          <a:p/>
        </p:txBody>
      </p:sp>
      <p:sp>
        <p:nvSpPr>
          <p:cNvPr id="56" name="Shape 54"/>
          <p:cNvSpPr/>
          <p:nvPr/>
        </p:nvSpPr>
        <p:spPr>
          <a:xfrm>
            <a:off x="11466576" y="2139696"/>
            <a:ext cx="64008" cy="755294"/>
          </a:xfrm>
          <a:prstGeom prst="rect">
            <a:avLst/>
          </a:prstGeom>
          <a:solidFill>
            <a:srgbClr val="12A566"/>
          </a:solidFill>
          <a:ln/>
        </p:spPr>
        <p:txBody>
          <a:bodyPr/>
          <a:p/>
        </p:txBody>
      </p:sp>
      <p:sp>
        <p:nvSpPr>
          <p:cNvPr id="57" name="Text 55"/>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8" name="Text 56"/>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-32.0%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-8.3%</a:t>
            </a:r>
            <a:endParaRPr lang="en-US" sz="1400" dirty="0"/>
          </a:p>
        </p:txBody>
      </p:sp>
      <p:sp>
        <p:nvSpPr>
          <p:cNvPr id="59" name="Text 57"/>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+23.6 pts</a:t>
            </a:r>
            <a:endParaRPr lang="en-US" sz="1600" dirty="0"/>
          </a:p>
        </p:txBody>
      </p:sp>
      <p:sp>
        <p:nvSpPr>
          <p:cNvPr id="60" name="Text 58"/>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1" name="Text 59"/>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12.9%</a:t>
            </a:r>
            <a:endParaRPr lang="en-US" sz="1400" dirty="0"/>
          </a:p>
        </p:txBody>
      </p:sp>
      <p:sp>
        <p:nvSpPr>
          <p:cNvPr id="62" name="Text 60"/>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+17.4 pts</a:t>
            </a:r>
            <a:endParaRPr lang="en-US" sz="1600" dirty="0"/>
          </a:p>
        </p:txBody>
      </p:sp>
      <p:sp>
        <p:nvSpPr>
          <p:cNvPr id="63" name="Shape 61"/>
          <p:cNvSpPr/>
          <p:nvPr/>
        </p:nvSpPr>
        <p:spPr>
          <a:xfrm>
            <a:off x="8040624" y="3760013"/>
            <a:ext cx="3489960" cy="828446"/>
          </a:xfrm>
          <a:prstGeom prst="rect">
            <a:avLst/>
          </a:prstGeom>
          <a:solidFill>
            <a:srgbClr val="F7F7F7"/>
          </a:solidFill>
          <a:ln/>
        </p:spPr>
        <p:txBody>
          <a:bodyPr/>
          <a:p/>
        </p:txBody>
      </p:sp>
      <p:sp>
        <p:nvSpPr>
          <p:cNvPr id="64" name="Shape 62"/>
          <p:cNvSpPr/>
          <p:nvPr/>
        </p:nvSpPr>
        <p:spPr>
          <a:xfrm>
            <a:off x="11466576" y="3796589"/>
            <a:ext cx="64008" cy="755294"/>
          </a:xfrm>
          <a:prstGeom prst="rect">
            <a:avLst/>
          </a:prstGeom>
          <a:solidFill>
            <a:srgbClr val="12A566"/>
          </a:solidFill>
          <a:ln/>
        </p:spPr>
        <p:txBody>
          <a:bodyPr/>
          <a:p/>
        </p:txBody>
      </p:sp>
      <p:sp>
        <p:nvSpPr>
          <p:cNvPr id="65" name="Text 63"/>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6" name="Text 64"/>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21.6%</a:t>
            </a:r>
            <a:endParaRPr lang="en-US" sz="1400" dirty="0"/>
          </a:p>
        </p:txBody>
      </p:sp>
      <p:sp>
        <p:nvSpPr>
          <p:cNvPr id="67" name="Text 65"/>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+16.9 pts</a:t>
            </a:r>
            <a:endParaRPr lang="en-US" sz="1600" dirty="0"/>
          </a:p>
        </p:txBody>
      </p:sp>
      <p:sp>
        <p:nvSpPr>
          <p:cNvPr id="68" name="Shape 66"/>
          <p:cNvSpPr/>
          <p:nvPr/>
        </p:nvSpPr>
        <p:spPr>
          <a:xfrm>
            <a:off x="11466576" y="4625035"/>
            <a:ext cx="64008" cy="755294"/>
          </a:xfrm>
          <a:prstGeom prst="rect">
            <a:avLst/>
          </a:prstGeom>
          <a:solidFill>
            <a:srgbClr val="2587C5"/>
          </a:solidFill>
          <a:ln/>
        </p:spPr>
        <p:txBody>
          <a:bodyPr/>
          <a:p/>
        </p:txBody>
      </p:sp>
      <p:sp>
        <p:nvSpPr>
          <p:cNvPr id="69" name="Text 67"/>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70" name="Text 68"/>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34.2%</a:t>
            </a:r>
            <a:endParaRPr lang="en-US" sz="1400" dirty="0"/>
          </a:p>
        </p:txBody>
      </p:sp>
      <p:sp>
        <p:nvSpPr>
          <p:cNvPr id="71" name="Text 69"/>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+12.6 pts</a:t>
            </a:r>
            <a:endParaRPr lang="en-US" sz="1600" dirty="0"/>
          </a:p>
        </p:txBody>
      </p:sp>
      <p:sp>
        <p:nvSpPr>
          <p:cNvPr id="72" name="Shape 70"/>
          <p:cNvSpPr/>
          <p:nvPr/>
        </p:nvSpPr>
        <p:spPr>
          <a:xfrm>
            <a:off x="8040624" y="5416906"/>
            <a:ext cx="3489960" cy="828446"/>
          </a:xfrm>
          <a:prstGeom prst="rect">
            <a:avLst/>
          </a:prstGeom>
          <a:solidFill>
            <a:srgbClr val="F7F7F7"/>
          </a:solidFill>
          <a:ln/>
        </p:spPr>
        <p:txBody>
          <a:bodyPr/>
          <a:p/>
        </p:txBody>
      </p:sp>
      <p:sp>
        <p:nvSpPr>
          <p:cNvPr id="73" name="Shape 71"/>
          <p:cNvSpPr/>
          <p:nvPr/>
        </p:nvSpPr>
        <p:spPr>
          <a:xfrm>
            <a:off x="11466576" y="5453482"/>
            <a:ext cx="64008" cy="755294"/>
          </a:xfrm>
          <a:prstGeom prst="rect">
            <a:avLst/>
          </a:prstGeom>
          <a:solidFill>
            <a:srgbClr val="12A566"/>
          </a:solidFill>
          <a:ln/>
        </p:spPr>
        <p:txBody>
          <a:bodyPr/>
          <a:p/>
        </p:txBody>
      </p:sp>
      <p:sp>
        <p:nvSpPr>
          <p:cNvPr id="74" name="Text 72"/>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75" name="Text 73"/>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5.5%</a:t>
            </a:r>
            <a:endParaRPr lang="en-US" sz="1400" dirty="0"/>
          </a:p>
        </p:txBody>
      </p:sp>
      <p:sp>
        <p:nvSpPr>
          <p:cNvPr id="76" name="Text 74"/>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+12.2 pts</a:t>
            </a:r>
            <a:endParaRPr lang="en-US" sz="160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to Gross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Shape 4"/>
          <p:cNvSpPr/>
          <p:nvPr/>
        </p:nvSpPr>
        <p:spPr>
          <a:xfrm>
            <a:off x="658368" y="1371600"/>
            <a:ext cx="3489960" cy="45720"/>
          </a:xfrm>
          <a:prstGeom prst="rect">
            <a:avLst/>
          </a:prstGeom>
          <a:solidFill>
            <a:srgbClr val="12A566"/>
          </a:solidFill>
          <a:ln/>
        </p:spPr>
        <p:txBody>
          <a:bodyPr/>
          <a:p/>
        </p:txBody>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txBody>
          <a:bodyPr/>
          <a:p/>
        </p:txBody>
      </p:sp>
      <p:sp>
        <p:nvSpPr>
          <p:cNvPr id="10" name="Text 8"/>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17.9%</a:t>
            </a:r>
            <a:endParaRPr lang="en-US" sz="1400" dirty="0"/>
          </a:p>
        </p:txBody>
      </p:sp>
      <p:sp>
        <p:nvSpPr>
          <p:cNvPr id="12" name="Text 10"/>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+14.2 pts</a:t>
            </a:r>
            <a:endParaRPr lang="en-US" sz="1600" dirty="0"/>
          </a:p>
        </p:txBody>
      </p:sp>
      <p:sp>
        <p:nvSpPr>
          <p:cNvPr id="13" name="Shape 11"/>
          <p:cNvSpPr/>
          <p:nvPr/>
        </p:nvSpPr>
        <p:spPr>
          <a:xfrm>
            <a:off x="4084320" y="2968142"/>
            <a:ext cx="64008" cy="755294"/>
          </a:xfrm>
          <a:prstGeom prst="rect">
            <a:avLst/>
          </a:prstGeom>
          <a:solidFill>
            <a:srgbClr val="12A566"/>
          </a:solidFill>
          <a:ln/>
        </p:spPr>
        <p:txBody>
          <a:bodyPr/>
          <a:p/>
        </p:txBody>
      </p:sp>
      <p:sp>
        <p:nvSpPr>
          <p:cNvPr id="14" name="Text 12"/>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3"/>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25.2%</a:t>
            </a:r>
            <a:endParaRPr lang="en-US" sz="1400" dirty="0"/>
          </a:p>
        </p:txBody>
      </p:sp>
      <p:sp>
        <p:nvSpPr>
          <p:cNvPr id="16" name="Text 14"/>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+13.1 pts</a:t>
            </a:r>
            <a:endParaRPr lang="en-US" sz="1600" dirty="0"/>
          </a:p>
        </p:txBody>
      </p:sp>
      <p:sp>
        <p:nvSpPr>
          <p:cNvPr id="17" name="Shape 15"/>
          <p:cNvSpPr/>
          <p:nvPr/>
        </p:nvSpPr>
        <p:spPr>
          <a:xfrm>
            <a:off x="658368" y="3760013"/>
            <a:ext cx="3489960" cy="828446"/>
          </a:xfrm>
          <a:prstGeom prst="rect">
            <a:avLst/>
          </a:prstGeom>
          <a:solidFill>
            <a:srgbClr val="F7F7F7"/>
          </a:solidFill>
          <a:ln/>
        </p:spPr>
        <p:txBody>
          <a:bodyPr/>
          <a:p/>
        </p:txBody>
      </p:sp>
      <p:sp>
        <p:nvSpPr>
          <p:cNvPr id="18" name="Text 16"/>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32.9%</a:t>
            </a:r>
            <a:endParaRPr lang="en-US" sz="1400" dirty="0"/>
          </a:p>
        </p:txBody>
      </p:sp>
      <p:sp>
        <p:nvSpPr>
          <p:cNvPr id="20" name="Text 18"/>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+10.6 pts</a:t>
            </a:r>
            <a:endParaRPr lang="en-US" sz="1600" dirty="0"/>
          </a:p>
        </p:txBody>
      </p:sp>
      <p:sp>
        <p:nvSpPr>
          <p:cNvPr id="21" name="Text 19"/>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2" name="Text 20"/>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26.6%</a:t>
            </a:r>
            <a:endParaRPr lang="en-US" sz="1400" dirty="0"/>
          </a:p>
        </p:txBody>
      </p:sp>
      <p:sp>
        <p:nvSpPr>
          <p:cNvPr id="23" name="Text 21"/>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+7.6 pts</a:t>
            </a:r>
            <a:endParaRPr lang="en-US" sz="1600" dirty="0"/>
          </a:p>
        </p:txBody>
      </p:sp>
      <p:sp>
        <p:nvSpPr>
          <p:cNvPr id="24" name="Shape 22"/>
          <p:cNvSpPr/>
          <p:nvPr/>
        </p:nvSpPr>
        <p:spPr>
          <a:xfrm>
            <a:off x="658368" y="5416906"/>
            <a:ext cx="3489960" cy="828446"/>
          </a:xfrm>
          <a:prstGeom prst="rect">
            <a:avLst/>
          </a:prstGeom>
          <a:solidFill>
            <a:srgbClr val="F7F7F7"/>
          </a:solidFill>
          <a:ln/>
        </p:spPr>
        <p:txBody>
          <a:bodyPr/>
          <a:p/>
        </p:txBody>
      </p:sp>
      <p:sp>
        <p:nvSpPr>
          <p:cNvPr id="25" name="Text 23"/>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6" name="Text 24"/>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44.4%</a:t>
            </a:r>
            <a:endParaRPr lang="en-US" sz="1400" dirty="0"/>
          </a:p>
        </p:txBody>
      </p:sp>
      <p:sp>
        <p:nvSpPr>
          <p:cNvPr id="27" name="Text 25"/>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+7.0 pts</a:t>
            </a:r>
            <a:endParaRPr lang="en-US" sz="1600" dirty="0"/>
          </a:p>
        </p:txBody>
      </p:sp>
      <p:sp>
        <p:nvSpPr>
          <p:cNvPr id="28" name="Shape 26"/>
          <p:cNvSpPr/>
          <p:nvPr/>
        </p:nvSpPr>
        <p:spPr>
          <a:xfrm>
            <a:off x="4349496" y="1371600"/>
            <a:ext cx="3489960" cy="45720"/>
          </a:xfrm>
          <a:prstGeom prst="rect">
            <a:avLst/>
          </a:prstGeom>
          <a:solidFill>
            <a:srgbClr val="C2352F"/>
          </a:solidFill>
          <a:ln/>
        </p:spPr>
        <p:txBody>
          <a:bodyPr/>
          <a:p/>
        </p:txBody>
      </p:sp>
      <p:sp>
        <p:nvSpPr>
          <p:cNvPr id="29"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0" name="Text 28"/>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1" name="Shape 29"/>
          <p:cNvSpPr/>
          <p:nvPr/>
        </p:nvSpPr>
        <p:spPr>
          <a:xfrm>
            <a:off x="4349496" y="2103120"/>
            <a:ext cx="3489960" cy="828446"/>
          </a:xfrm>
          <a:prstGeom prst="rect">
            <a:avLst/>
          </a:prstGeom>
          <a:solidFill>
            <a:srgbClr val="F7F7F7"/>
          </a:solidFill>
          <a:ln/>
        </p:spPr>
        <p:txBody>
          <a:bodyPr/>
          <a:p/>
        </p:txBody>
      </p:sp>
      <p:sp>
        <p:nvSpPr>
          <p:cNvPr id="32" name="Text 30"/>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3" name="Text 31"/>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10.0%</a:t>
            </a:r>
            <a:endParaRPr lang="en-US" sz="1400" dirty="0"/>
          </a:p>
        </p:txBody>
      </p:sp>
      <p:sp>
        <p:nvSpPr>
          <p:cNvPr id="34" name="Text 32"/>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−12.5 pts</a:t>
            </a:r>
            <a:endParaRPr lang="en-US" sz="1600" dirty="0"/>
          </a:p>
        </p:txBody>
      </p:sp>
      <p:sp>
        <p:nvSpPr>
          <p:cNvPr id="35" name="Text 33"/>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6" name="Text 34"/>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49.3%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37.5%</a:t>
            </a:r>
            <a:endParaRPr lang="en-US" sz="1400" dirty="0"/>
          </a:p>
        </p:txBody>
      </p:sp>
      <p:sp>
        <p:nvSpPr>
          <p:cNvPr id="37" name="Text 35"/>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−11.8 pts</a:t>
            </a:r>
            <a:endParaRPr lang="en-US" sz="1600" dirty="0"/>
          </a:p>
        </p:txBody>
      </p:sp>
      <p:sp>
        <p:nvSpPr>
          <p:cNvPr id="38" name="Shape 36"/>
          <p:cNvSpPr/>
          <p:nvPr/>
        </p:nvSpPr>
        <p:spPr>
          <a:xfrm>
            <a:off x="4349496" y="3760013"/>
            <a:ext cx="3489960" cy="828446"/>
          </a:xfrm>
          <a:prstGeom prst="rect">
            <a:avLst/>
          </a:prstGeom>
          <a:solidFill>
            <a:srgbClr val="F7F7F7"/>
          </a:solidFill>
          <a:ln/>
        </p:spPr>
        <p:txBody>
          <a:bodyPr/>
          <a:p/>
        </p:txBody>
      </p:sp>
      <p:sp>
        <p:nvSpPr>
          <p:cNvPr id="39" name="Shape 37"/>
          <p:cNvSpPr/>
          <p:nvPr/>
        </p:nvSpPr>
        <p:spPr>
          <a:xfrm>
            <a:off x="7775448" y="3796589"/>
            <a:ext cx="64008" cy="755294"/>
          </a:xfrm>
          <a:prstGeom prst="rect">
            <a:avLst/>
          </a:prstGeom>
          <a:solidFill>
            <a:srgbClr val="2587C5"/>
          </a:solidFill>
          <a:ln/>
        </p:spPr>
        <p:txBody>
          <a:bodyPr/>
          <a:p/>
        </p:txBody>
      </p:sp>
      <p:sp>
        <p:nvSpPr>
          <p:cNvPr id="40" name="Text 38"/>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1" name="Text 39"/>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34.8%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23.6%</a:t>
            </a:r>
            <a:endParaRPr lang="en-US" sz="1400" dirty="0"/>
          </a:p>
        </p:txBody>
      </p:sp>
      <p:sp>
        <p:nvSpPr>
          <p:cNvPr id="42" name="Text 40"/>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−11.2 pts</a:t>
            </a:r>
            <a:endParaRPr lang="en-US" sz="1600" dirty="0"/>
          </a:p>
        </p:txBody>
      </p:sp>
      <p:sp>
        <p:nvSpPr>
          <p:cNvPr id="43" name="Text 41"/>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4" name="Text 42"/>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25.3%</a:t>
            </a:r>
            <a:endParaRPr lang="en-US" sz="1400" dirty="0"/>
          </a:p>
        </p:txBody>
      </p:sp>
      <p:sp>
        <p:nvSpPr>
          <p:cNvPr id="45" name="Text 43"/>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−9.9 pts</a:t>
            </a:r>
            <a:endParaRPr lang="en-US" sz="1600" dirty="0"/>
          </a:p>
        </p:txBody>
      </p:sp>
      <p:sp>
        <p:nvSpPr>
          <p:cNvPr id="46" name="Shape 44"/>
          <p:cNvSpPr/>
          <p:nvPr/>
        </p:nvSpPr>
        <p:spPr>
          <a:xfrm>
            <a:off x="4349496" y="5416906"/>
            <a:ext cx="3489960" cy="828446"/>
          </a:xfrm>
          <a:prstGeom prst="rect">
            <a:avLst/>
          </a:prstGeom>
          <a:solidFill>
            <a:srgbClr val="F7F7F7"/>
          </a:solidFill>
          <a:ln/>
        </p:spPr>
        <p:txBody>
          <a:bodyPr/>
          <a:p/>
        </p:txBody>
      </p:sp>
      <p:sp>
        <p:nvSpPr>
          <p:cNvPr id="47" name="Shape 45"/>
          <p:cNvSpPr/>
          <p:nvPr/>
        </p:nvSpPr>
        <p:spPr>
          <a:xfrm>
            <a:off x="7775448" y="5453482"/>
            <a:ext cx="64008" cy="755294"/>
          </a:xfrm>
          <a:prstGeom prst="rect">
            <a:avLst/>
          </a:prstGeom>
          <a:solidFill>
            <a:srgbClr val="2587C5"/>
          </a:solidFill>
          <a:ln/>
        </p:spPr>
        <p:txBody>
          <a:bodyPr/>
          <a:p/>
        </p:txBody>
      </p:sp>
      <p:sp>
        <p:nvSpPr>
          <p:cNvPr id="48" name="Text 46"/>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9" name="Text 47"/>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15.8%</a:t>
            </a:r>
            <a:endParaRPr lang="en-US" sz="1400" dirty="0"/>
          </a:p>
        </p:txBody>
      </p:sp>
      <p:sp>
        <p:nvSpPr>
          <p:cNvPr id="50" name="Text 48"/>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−8.3 pts</a:t>
            </a:r>
            <a:endParaRPr lang="en-US" sz="1600" dirty="0"/>
          </a:p>
        </p:txBody>
      </p:sp>
      <p:sp>
        <p:nvSpPr>
          <p:cNvPr id="51" name="Shape 49"/>
          <p:cNvSpPr/>
          <p:nvPr/>
        </p:nvSpPr>
        <p:spPr>
          <a:xfrm>
            <a:off x="8040624" y="1371600"/>
            <a:ext cx="3489960" cy="45720"/>
          </a:xfrm>
          <a:prstGeom prst="rect">
            <a:avLst/>
          </a:prstGeom>
          <a:solidFill>
            <a:srgbClr val="2587C5"/>
          </a:solidFill>
          <a:ln/>
        </p:spPr>
        <p:txBody>
          <a:bodyPr/>
          <a:p/>
        </p:txBody>
      </p:sp>
      <p:sp>
        <p:nvSpPr>
          <p:cNvPr id="52" name="Text 50"/>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3" name="Text 51"/>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this year</a:t>
            </a:r>
            <a:endParaRPr lang="en-US" sz="1200" dirty="0"/>
          </a:p>
        </p:txBody>
      </p:sp>
      <p:sp>
        <p:nvSpPr>
          <p:cNvPr id="54" name="Shape 52"/>
          <p:cNvSpPr/>
          <p:nvPr/>
        </p:nvSpPr>
        <p:spPr>
          <a:xfrm>
            <a:off x="8040624" y="2103120"/>
            <a:ext cx="3489960" cy="828446"/>
          </a:xfrm>
          <a:prstGeom prst="rect">
            <a:avLst/>
          </a:prstGeom>
          <a:solidFill>
            <a:srgbClr val="F7F7F7"/>
          </a:solidFill>
          <a:ln/>
        </p:spPr>
        <p:txBody>
          <a:bodyPr/>
          <a:p/>
        </p:txBody>
      </p:sp>
      <p:sp>
        <p:nvSpPr>
          <p:cNvPr id="55" name="Text 53"/>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6" name="Text 54"/>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35.8%</a:t>
            </a:r>
            <a:endParaRPr lang="en-US" sz="1400" dirty="0"/>
          </a:p>
        </p:txBody>
      </p:sp>
      <p:sp>
        <p:nvSpPr>
          <p:cNvPr id="57" name="Text 55"/>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+20.1 pts</a:t>
            </a:r>
            <a:endParaRPr lang="en-US" sz="1600" dirty="0"/>
          </a:p>
        </p:txBody>
      </p:sp>
      <p:sp>
        <p:nvSpPr>
          <p:cNvPr id="58" name="Shape 56"/>
          <p:cNvSpPr/>
          <p:nvPr/>
        </p:nvSpPr>
        <p:spPr>
          <a:xfrm>
            <a:off x="11466576" y="2968142"/>
            <a:ext cx="64008" cy="755294"/>
          </a:xfrm>
          <a:prstGeom prst="rect">
            <a:avLst/>
          </a:prstGeom>
          <a:solidFill>
            <a:srgbClr val="2587C5"/>
          </a:solidFill>
          <a:ln/>
        </p:spPr>
        <p:txBody>
          <a:bodyPr/>
          <a:p/>
        </p:txBody>
      </p:sp>
      <p:sp>
        <p:nvSpPr>
          <p:cNvPr id="59" name="Text 57"/>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0" name="Text 58"/>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34.2%</a:t>
            </a:r>
            <a:endParaRPr lang="en-US" sz="1400" dirty="0"/>
          </a:p>
        </p:txBody>
      </p:sp>
      <p:sp>
        <p:nvSpPr>
          <p:cNvPr id="61" name="Text 59"/>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+16.9 pts</a:t>
            </a:r>
            <a:endParaRPr lang="en-US" sz="1600" dirty="0"/>
          </a:p>
        </p:txBody>
      </p:sp>
      <p:sp>
        <p:nvSpPr>
          <p:cNvPr id="62" name="Shape 60"/>
          <p:cNvSpPr/>
          <p:nvPr/>
        </p:nvSpPr>
        <p:spPr>
          <a:xfrm>
            <a:off x="8040624" y="3760013"/>
            <a:ext cx="3489960" cy="828446"/>
          </a:xfrm>
          <a:prstGeom prst="rect">
            <a:avLst/>
          </a:prstGeom>
          <a:solidFill>
            <a:srgbClr val="F7F7F7"/>
          </a:solidFill>
          <a:ln/>
        </p:spPr>
        <p:txBody>
          <a:bodyPr/>
          <a:p/>
        </p:txBody>
      </p:sp>
      <p:sp>
        <p:nvSpPr>
          <p:cNvPr id="63" name="Text 61"/>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4" name="Text 62"/>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40.6%</a:t>
            </a:r>
            <a:endParaRPr lang="en-US" sz="1400" dirty="0"/>
          </a:p>
        </p:txBody>
      </p:sp>
      <p:sp>
        <p:nvSpPr>
          <p:cNvPr id="65" name="Text 63"/>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+16.5 pts</a:t>
            </a:r>
            <a:endParaRPr lang="en-US" sz="1600" dirty="0"/>
          </a:p>
        </p:txBody>
      </p:sp>
      <p:sp>
        <p:nvSpPr>
          <p:cNvPr id="66" name="Shape 64"/>
          <p:cNvSpPr/>
          <p:nvPr/>
        </p:nvSpPr>
        <p:spPr>
          <a:xfrm>
            <a:off x="11466576" y="4625035"/>
            <a:ext cx="64008" cy="755294"/>
          </a:xfrm>
          <a:prstGeom prst="rect">
            <a:avLst/>
          </a:prstGeom>
          <a:solidFill>
            <a:srgbClr val="12A566"/>
          </a:solidFill>
          <a:ln/>
        </p:spPr>
        <p:txBody>
          <a:bodyPr/>
          <a:p/>
        </p:txBody>
      </p:sp>
      <p:sp>
        <p:nvSpPr>
          <p:cNvPr id="67" name="Text 65"/>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8" name="Text 66"/>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31.0%</a:t>
            </a:r>
            <a:endParaRPr lang="en-US" sz="1400" dirty="0"/>
          </a:p>
        </p:txBody>
      </p:sp>
      <p:sp>
        <p:nvSpPr>
          <p:cNvPr id="69" name="Text 67"/>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+15.4 pts</a:t>
            </a:r>
            <a:endParaRPr lang="en-US" sz="1600" dirty="0"/>
          </a:p>
        </p:txBody>
      </p:sp>
      <p:sp>
        <p:nvSpPr>
          <p:cNvPr id="70" name="Shape 68"/>
          <p:cNvSpPr/>
          <p:nvPr/>
        </p:nvSpPr>
        <p:spPr>
          <a:xfrm>
            <a:off x="8040624" y="5416906"/>
            <a:ext cx="3489960" cy="828446"/>
          </a:xfrm>
          <a:prstGeom prst="rect">
            <a:avLst/>
          </a:prstGeom>
          <a:solidFill>
            <a:srgbClr val="F7F7F7"/>
          </a:solidFill>
          <a:ln/>
        </p:spPr>
        <p:txBody>
          <a:bodyPr/>
          <a:p/>
        </p:txBody>
      </p:sp>
      <p:sp>
        <p:nvSpPr>
          <p:cNvPr id="71" name="Shape 69"/>
          <p:cNvSpPr/>
          <p:nvPr/>
        </p:nvSpPr>
        <p:spPr>
          <a:xfrm>
            <a:off x="11466576" y="5453482"/>
            <a:ext cx="64008" cy="755294"/>
          </a:xfrm>
          <a:prstGeom prst="rect">
            <a:avLst/>
          </a:prstGeom>
          <a:solidFill>
            <a:srgbClr val="2587C5"/>
          </a:solidFill>
          <a:ln/>
        </p:spPr>
        <p:txBody>
          <a:bodyPr/>
          <a:p/>
        </p:txBody>
      </p:sp>
      <p:sp>
        <p:nvSpPr>
          <p:cNvPr id="72" name="Text 70"/>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73" name="Text 71"/>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24.1%</a:t>
            </a:r>
            <a:endParaRPr lang="en-US" sz="1400" dirty="0"/>
          </a:p>
        </p:txBody>
      </p:sp>
      <p:sp>
        <p:nvSpPr>
          <p:cNvPr id="74" name="Text 72"/>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+15.0 pts</a:t>
            </a:r>
            <a:endParaRPr lang="en-US" sz="1600" dirty="0"/>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Shape 4"/>
          <p:cNvSpPr/>
          <p:nvPr/>
        </p:nvSpPr>
        <p:spPr>
          <a:xfrm>
            <a:off x="658368" y="1371600"/>
            <a:ext cx="3489960" cy="45720"/>
          </a:xfrm>
          <a:prstGeom prst="rect">
            <a:avLst/>
          </a:prstGeom>
          <a:solidFill>
            <a:srgbClr val="12A566"/>
          </a:solidFill>
          <a:ln/>
        </p:spPr>
        <p:txBody>
          <a:bodyPr/>
          <a:p/>
        </p:txBody>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txBody>
          <a:bodyPr/>
          <a:p/>
        </p:txBody>
      </p:sp>
      <p:sp>
        <p:nvSpPr>
          <p:cNvPr id="10" name="Shape 8"/>
          <p:cNvSpPr/>
          <p:nvPr/>
        </p:nvSpPr>
        <p:spPr>
          <a:xfrm>
            <a:off x="4084320" y="2139696"/>
            <a:ext cx="64008" cy="755294"/>
          </a:xfrm>
          <a:prstGeom prst="rect">
            <a:avLst/>
          </a:prstGeom>
          <a:solidFill>
            <a:srgbClr val="12A566"/>
          </a:solidFill>
          <a:ln/>
        </p:spPr>
        <p:txBody>
          <a:bodyPr/>
          <a:p/>
        </p:txBody>
      </p:sp>
      <p:sp>
        <p:nvSpPr>
          <p:cNvPr id="11" name="Text 9"/>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$144</a:t>
            </a:r>
            <a:endParaRPr lang="en-US" sz="1400" dirty="0"/>
          </a:p>
        </p:txBody>
      </p:sp>
      <p:sp>
        <p:nvSpPr>
          <p:cNvPr id="13" name="Text 11"/>
          <p:cNvSpPr txBox="1"/>
          <p:nvPr/>
        </p:nvSpPr>
        <p:spPr>
          <a:xfrm>
            <a:off x="2941320" y="2202534"/>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+22.9%</a:t>
            </a:r>
            <a:endParaRPr lang="en-US" sz="1600" dirty="0"/>
          </a:p>
        </p:txBody>
      </p:sp>
      <p:sp>
        <p:nvSpPr>
          <p:cNvPr id="14" name="Text 12"/>
          <p:cNvSpPr txBox="1"/>
          <p:nvPr/>
        </p:nvSpPr>
        <p:spPr>
          <a:xfrm>
            <a:off x="2941320"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+$27</a:t>
            </a:r>
            <a:endParaRPr lang="en-US" sz="1300" dirty="0"/>
          </a:p>
        </p:txBody>
      </p:sp>
      <p:sp>
        <p:nvSpPr>
          <p:cNvPr id="15" name="Text 13"/>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4"/>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$222</a:t>
            </a:r>
            <a:endParaRPr lang="en-US" sz="1400" dirty="0"/>
          </a:p>
        </p:txBody>
      </p:sp>
      <p:sp>
        <p:nvSpPr>
          <p:cNvPr id="17" name="Text 15"/>
          <p:cNvSpPr txBox="1"/>
          <p:nvPr/>
        </p:nvSpPr>
        <p:spPr>
          <a:xfrm>
            <a:off x="2941320" y="3030980"/>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+22.3%</a:t>
            </a:r>
            <a:endParaRPr lang="en-US" sz="1600" dirty="0"/>
          </a:p>
        </p:txBody>
      </p:sp>
      <p:sp>
        <p:nvSpPr>
          <p:cNvPr id="18" name="Text 16"/>
          <p:cNvSpPr txBox="1"/>
          <p:nvPr/>
        </p:nvSpPr>
        <p:spPr>
          <a:xfrm>
            <a:off x="2941320"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+$41</a:t>
            </a:r>
            <a:endParaRPr lang="en-US" sz="1300" dirty="0"/>
          </a:p>
        </p:txBody>
      </p:sp>
      <p:sp>
        <p:nvSpPr>
          <p:cNvPr id="19" name="Shape 17"/>
          <p:cNvSpPr/>
          <p:nvPr/>
        </p:nvSpPr>
        <p:spPr>
          <a:xfrm>
            <a:off x="658368" y="3760013"/>
            <a:ext cx="3489960" cy="828446"/>
          </a:xfrm>
          <a:prstGeom prst="rect">
            <a:avLst/>
          </a:prstGeom>
          <a:solidFill>
            <a:srgbClr val="F7F7F7"/>
          </a:solidFill>
          <a:ln/>
        </p:spPr>
        <p:txBody>
          <a:bodyPr/>
          <a:p/>
        </p:txBody>
      </p:sp>
      <p:sp>
        <p:nvSpPr>
          <p:cNvPr id="20" name="Text 18"/>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1" name="Text 19"/>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$168</a:t>
            </a:r>
            <a:endParaRPr lang="en-US" sz="1400" dirty="0"/>
          </a:p>
        </p:txBody>
      </p:sp>
      <p:sp>
        <p:nvSpPr>
          <p:cNvPr id="22" name="Text 20"/>
          <p:cNvSpPr txBox="1"/>
          <p:nvPr/>
        </p:nvSpPr>
        <p:spPr>
          <a:xfrm>
            <a:off x="2941320" y="3859426"/>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+20.1%</a:t>
            </a:r>
            <a:endParaRPr lang="en-US" sz="1600" dirty="0"/>
          </a:p>
        </p:txBody>
      </p:sp>
      <p:sp>
        <p:nvSpPr>
          <p:cNvPr id="23" name="Text 21"/>
          <p:cNvSpPr txBox="1"/>
          <p:nvPr/>
        </p:nvSpPr>
        <p:spPr>
          <a:xfrm>
            <a:off x="2941320"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+$28</a:t>
            </a:r>
            <a:endParaRPr lang="en-US" sz="1300" dirty="0"/>
          </a:p>
        </p:txBody>
      </p:sp>
      <p:sp>
        <p:nvSpPr>
          <p:cNvPr id="24" name="Text 22"/>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5" name="Text 23"/>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$176</a:t>
            </a:r>
            <a:endParaRPr lang="en-US" sz="1400" dirty="0"/>
          </a:p>
        </p:txBody>
      </p:sp>
      <p:sp>
        <p:nvSpPr>
          <p:cNvPr id="26" name="Text 24"/>
          <p:cNvSpPr txBox="1"/>
          <p:nvPr/>
        </p:nvSpPr>
        <p:spPr>
          <a:xfrm>
            <a:off x="2941320" y="4687873"/>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+14.3%</a:t>
            </a:r>
            <a:endParaRPr lang="en-US" sz="1600" dirty="0"/>
          </a:p>
        </p:txBody>
      </p:sp>
      <p:sp>
        <p:nvSpPr>
          <p:cNvPr id="27" name="Text 25"/>
          <p:cNvSpPr txBox="1"/>
          <p:nvPr/>
        </p:nvSpPr>
        <p:spPr>
          <a:xfrm>
            <a:off x="2941320"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a:t>
            </a:r>
            <a:endParaRPr lang="en-US" sz="1300" dirty="0"/>
          </a:p>
        </p:txBody>
      </p:sp>
      <p:sp>
        <p:nvSpPr>
          <p:cNvPr id="28" name="Shape 26"/>
          <p:cNvSpPr/>
          <p:nvPr/>
        </p:nvSpPr>
        <p:spPr>
          <a:xfrm>
            <a:off x="658368" y="5416906"/>
            <a:ext cx="3489960" cy="828446"/>
          </a:xfrm>
          <a:prstGeom prst="rect">
            <a:avLst/>
          </a:prstGeom>
          <a:solidFill>
            <a:srgbClr val="F7F7F7"/>
          </a:solidFill>
          <a:ln/>
        </p:spPr>
        <p:txBody>
          <a:bodyPr/>
          <a:p/>
        </p:txBody>
      </p:sp>
      <p:sp>
        <p:nvSpPr>
          <p:cNvPr id="29" name="Text 27"/>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0" name="Text 28"/>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$139</a:t>
            </a:r>
            <a:endParaRPr lang="en-US" sz="1400" dirty="0"/>
          </a:p>
        </p:txBody>
      </p:sp>
      <p:sp>
        <p:nvSpPr>
          <p:cNvPr id="31" name="Text 29"/>
          <p:cNvSpPr txBox="1"/>
          <p:nvPr/>
        </p:nvSpPr>
        <p:spPr>
          <a:xfrm>
            <a:off x="2941320" y="5516319"/>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+13.8%</a:t>
            </a:r>
            <a:endParaRPr lang="en-US" sz="1600" dirty="0"/>
          </a:p>
        </p:txBody>
      </p:sp>
      <p:sp>
        <p:nvSpPr>
          <p:cNvPr id="32" name="Text 30"/>
          <p:cNvSpPr txBox="1"/>
          <p:nvPr/>
        </p:nvSpPr>
        <p:spPr>
          <a:xfrm>
            <a:off x="2941320"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a:t>
            </a:r>
            <a:endParaRPr lang="en-US" sz="1300" dirty="0"/>
          </a:p>
        </p:txBody>
      </p:sp>
      <p:sp>
        <p:nvSpPr>
          <p:cNvPr id="33" name="Shape 31"/>
          <p:cNvSpPr/>
          <p:nvPr/>
        </p:nvSpPr>
        <p:spPr>
          <a:xfrm>
            <a:off x="4349496" y="1371600"/>
            <a:ext cx="3489960" cy="45720"/>
          </a:xfrm>
          <a:prstGeom prst="rect">
            <a:avLst/>
          </a:prstGeom>
          <a:solidFill>
            <a:srgbClr val="C2352F"/>
          </a:solidFill>
          <a:ln/>
        </p:spPr>
        <p:txBody>
          <a:bodyPr/>
          <a:p/>
        </p:txBody>
      </p:sp>
      <p:sp>
        <p:nvSpPr>
          <p:cNvPr id="34" name="Text 32"/>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5" name="Text 33"/>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6" name="Shape 34"/>
          <p:cNvSpPr/>
          <p:nvPr/>
        </p:nvSpPr>
        <p:spPr>
          <a:xfrm>
            <a:off x="4349496" y="2103120"/>
            <a:ext cx="3489960" cy="828446"/>
          </a:xfrm>
          <a:prstGeom prst="rect">
            <a:avLst/>
          </a:prstGeom>
          <a:solidFill>
            <a:srgbClr val="F7F7F7"/>
          </a:solidFill>
          <a:ln/>
        </p:spPr>
        <p:txBody>
          <a:bodyPr/>
          <a:p/>
        </p:txBody>
      </p:sp>
      <p:sp>
        <p:nvSpPr>
          <p:cNvPr id="37" name="Shape 35"/>
          <p:cNvSpPr/>
          <p:nvPr/>
        </p:nvSpPr>
        <p:spPr>
          <a:xfrm>
            <a:off x="7775448" y="2139696"/>
            <a:ext cx="64008" cy="755294"/>
          </a:xfrm>
          <a:prstGeom prst="rect">
            <a:avLst/>
          </a:prstGeom>
          <a:solidFill>
            <a:srgbClr val="2587C5"/>
          </a:solidFill>
          <a:ln/>
        </p:spPr>
        <p:txBody>
          <a:bodyPr/>
          <a:p/>
        </p:txBody>
      </p:sp>
      <p:sp>
        <p:nvSpPr>
          <p:cNvPr id="38" name="Text 36"/>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9" name="Text 37"/>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$149</a:t>
            </a:r>
            <a:endParaRPr lang="en-US" sz="1400" dirty="0"/>
          </a:p>
        </p:txBody>
      </p:sp>
      <p:sp>
        <p:nvSpPr>
          <p:cNvPr id="40" name="Text 38"/>
          <p:cNvSpPr txBox="1"/>
          <p:nvPr/>
        </p:nvSpPr>
        <p:spPr>
          <a:xfrm>
            <a:off x="6632448" y="2202534"/>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−19.1%</a:t>
            </a:r>
            <a:endParaRPr lang="en-US" sz="1600" dirty="0"/>
          </a:p>
        </p:txBody>
      </p:sp>
      <p:sp>
        <p:nvSpPr>
          <p:cNvPr id="41" name="Text 39"/>
          <p:cNvSpPr txBox="1"/>
          <p:nvPr/>
        </p:nvSpPr>
        <p:spPr>
          <a:xfrm>
            <a:off x="6632448"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−$35</a:t>
            </a:r>
            <a:endParaRPr lang="en-US" sz="1300" dirty="0"/>
          </a:p>
        </p:txBody>
      </p:sp>
      <p:sp>
        <p:nvSpPr>
          <p:cNvPr id="42" name="Text 40"/>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3" name="Text 41"/>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$138</a:t>
            </a:r>
            <a:endParaRPr lang="en-US" sz="1400" dirty="0"/>
          </a:p>
        </p:txBody>
      </p:sp>
      <p:sp>
        <p:nvSpPr>
          <p:cNvPr id="44" name="Text 42"/>
          <p:cNvSpPr txBox="1"/>
          <p:nvPr/>
        </p:nvSpPr>
        <p:spPr>
          <a:xfrm>
            <a:off x="6632448" y="3030980"/>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−7.0%</a:t>
            </a:r>
            <a:endParaRPr lang="en-US" sz="1600" dirty="0"/>
          </a:p>
        </p:txBody>
      </p:sp>
      <p:sp>
        <p:nvSpPr>
          <p:cNvPr id="45" name="Text 43"/>
          <p:cNvSpPr txBox="1"/>
          <p:nvPr/>
        </p:nvSpPr>
        <p:spPr>
          <a:xfrm>
            <a:off x="6632448"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−$10</a:t>
            </a:r>
            <a:endParaRPr lang="en-US" sz="1300" dirty="0"/>
          </a:p>
        </p:txBody>
      </p:sp>
      <p:sp>
        <p:nvSpPr>
          <p:cNvPr id="46" name="Shape 44"/>
          <p:cNvSpPr/>
          <p:nvPr/>
        </p:nvSpPr>
        <p:spPr>
          <a:xfrm>
            <a:off x="4349496" y="3760013"/>
            <a:ext cx="3489960" cy="828446"/>
          </a:xfrm>
          <a:prstGeom prst="rect">
            <a:avLst/>
          </a:prstGeom>
          <a:solidFill>
            <a:srgbClr val="F7F7F7"/>
          </a:solidFill>
          <a:ln/>
        </p:spPr>
        <p:txBody>
          <a:bodyPr/>
          <a:p/>
        </p:txBody>
      </p:sp>
      <p:sp>
        <p:nvSpPr>
          <p:cNvPr id="47" name="Text 45"/>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8" name="Text 46"/>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$211</a:t>
            </a:r>
            <a:endParaRPr lang="en-US" sz="1400" dirty="0"/>
          </a:p>
        </p:txBody>
      </p:sp>
      <p:sp>
        <p:nvSpPr>
          <p:cNvPr id="49" name="Text 47"/>
          <p:cNvSpPr txBox="1"/>
          <p:nvPr/>
        </p:nvSpPr>
        <p:spPr>
          <a:xfrm>
            <a:off x="6632448" y="3859426"/>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−5.1%</a:t>
            </a:r>
            <a:endParaRPr lang="en-US" sz="1600" dirty="0"/>
          </a:p>
        </p:txBody>
      </p:sp>
      <p:sp>
        <p:nvSpPr>
          <p:cNvPr id="50" name="Text 48"/>
          <p:cNvSpPr txBox="1"/>
          <p:nvPr/>
        </p:nvSpPr>
        <p:spPr>
          <a:xfrm>
            <a:off x="6632448"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−$11</a:t>
            </a:r>
            <a:endParaRPr lang="en-US" sz="1300" dirty="0"/>
          </a:p>
        </p:txBody>
      </p:sp>
      <p:sp>
        <p:nvSpPr>
          <p:cNvPr id="51" name="Text 49"/>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2" name="Text 50"/>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$130</a:t>
            </a:r>
            <a:endParaRPr lang="en-US" sz="1400" dirty="0"/>
          </a:p>
        </p:txBody>
      </p:sp>
      <p:sp>
        <p:nvSpPr>
          <p:cNvPr id="53" name="Text 51"/>
          <p:cNvSpPr txBox="1"/>
          <p:nvPr/>
        </p:nvSpPr>
        <p:spPr>
          <a:xfrm>
            <a:off x="6632448" y="4687873"/>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−4.6%</a:t>
            </a:r>
            <a:endParaRPr lang="en-US" sz="1600" dirty="0"/>
          </a:p>
        </p:txBody>
      </p:sp>
      <p:sp>
        <p:nvSpPr>
          <p:cNvPr id="54" name="Text 52"/>
          <p:cNvSpPr txBox="1"/>
          <p:nvPr/>
        </p:nvSpPr>
        <p:spPr>
          <a:xfrm>
            <a:off x="6632448"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a:t>
            </a:r>
            <a:endParaRPr lang="en-US" sz="1300" dirty="0"/>
          </a:p>
        </p:txBody>
      </p:sp>
      <p:sp>
        <p:nvSpPr>
          <p:cNvPr id="55" name="Shape 53"/>
          <p:cNvSpPr/>
          <p:nvPr/>
        </p:nvSpPr>
        <p:spPr>
          <a:xfrm>
            <a:off x="4349496" y="5416906"/>
            <a:ext cx="3489960" cy="828446"/>
          </a:xfrm>
          <a:prstGeom prst="rect">
            <a:avLst/>
          </a:prstGeom>
          <a:solidFill>
            <a:srgbClr val="F7F7F7"/>
          </a:solidFill>
          <a:ln/>
        </p:spPr>
        <p:txBody>
          <a:bodyPr/>
          <a:p/>
        </p:txBody>
      </p:sp>
      <p:sp>
        <p:nvSpPr>
          <p:cNvPr id="56" name="Text 54"/>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7" name="Text 55"/>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$279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$266</a:t>
            </a:r>
            <a:endParaRPr lang="en-US" sz="1400" dirty="0"/>
          </a:p>
        </p:txBody>
      </p:sp>
      <p:sp>
        <p:nvSpPr>
          <p:cNvPr id="58" name="Text 56"/>
          <p:cNvSpPr txBox="1"/>
          <p:nvPr/>
        </p:nvSpPr>
        <p:spPr>
          <a:xfrm>
            <a:off x="6632448" y="5516319"/>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−4.5%</a:t>
            </a:r>
            <a:endParaRPr lang="en-US" sz="1600" dirty="0"/>
          </a:p>
        </p:txBody>
      </p:sp>
      <p:sp>
        <p:nvSpPr>
          <p:cNvPr id="59" name="Text 57"/>
          <p:cNvSpPr txBox="1"/>
          <p:nvPr/>
        </p:nvSpPr>
        <p:spPr>
          <a:xfrm>
            <a:off x="6632448"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−$13</a:t>
            </a:r>
            <a:endParaRPr lang="en-US" sz="1300" dirty="0"/>
          </a:p>
        </p:txBody>
      </p:sp>
      <p:sp>
        <p:nvSpPr>
          <p:cNvPr id="60" name="Shape 58"/>
          <p:cNvSpPr/>
          <p:nvPr/>
        </p:nvSpPr>
        <p:spPr>
          <a:xfrm>
            <a:off x="8040624" y="1371600"/>
            <a:ext cx="3489960" cy="45720"/>
          </a:xfrm>
          <a:prstGeom prst="rect">
            <a:avLst/>
          </a:prstGeom>
          <a:solidFill>
            <a:srgbClr val="2587C5"/>
          </a:solidFill>
          <a:ln/>
        </p:spPr>
        <p:txBody>
          <a:bodyPr/>
          <a:p/>
        </p:txBody>
      </p:sp>
      <p:sp>
        <p:nvSpPr>
          <p:cNvPr id="61" name="Text 5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2" name="Text 60"/>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this year</a:t>
            </a:r>
            <a:endParaRPr lang="en-US" sz="1200" dirty="0"/>
          </a:p>
        </p:txBody>
      </p:sp>
      <p:sp>
        <p:nvSpPr>
          <p:cNvPr id="63" name="Shape 61"/>
          <p:cNvSpPr/>
          <p:nvPr/>
        </p:nvSpPr>
        <p:spPr>
          <a:xfrm>
            <a:off x="8040624" y="2103120"/>
            <a:ext cx="3489960" cy="828446"/>
          </a:xfrm>
          <a:prstGeom prst="rect">
            <a:avLst/>
          </a:prstGeom>
          <a:solidFill>
            <a:srgbClr val="F7F7F7"/>
          </a:solidFill>
          <a:ln/>
        </p:spPr>
        <p:txBody>
          <a:bodyPr/>
          <a:p/>
        </p:txBody>
      </p:sp>
      <p:sp>
        <p:nvSpPr>
          <p:cNvPr id="64" name="Text 62"/>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5" name="Text 63"/>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$142</a:t>
            </a:r>
            <a:endParaRPr lang="en-US" sz="1400" dirty="0"/>
          </a:p>
        </p:txBody>
      </p:sp>
      <p:sp>
        <p:nvSpPr>
          <p:cNvPr id="66" name="Text 64"/>
          <p:cNvSpPr txBox="1"/>
          <p:nvPr/>
        </p:nvSpPr>
        <p:spPr>
          <a:xfrm>
            <a:off x="10323576" y="2202534"/>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+10.6%</a:t>
            </a:r>
            <a:endParaRPr lang="en-US" sz="1600" dirty="0"/>
          </a:p>
        </p:txBody>
      </p:sp>
      <p:sp>
        <p:nvSpPr>
          <p:cNvPr id="67" name="Text 65"/>
          <p:cNvSpPr txBox="1"/>
          <p:nvPr/>
        </p:nvSpPr>
        <p:spPr>
          <a:xfrm>
            <a:off x="10323576"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a:t>
            </a:r>
            <a:endParaRPr lang="en-US" sz="1300" dirty="0"/>
          </a:p>
        </p:txBody>
      </p:sp>
      <p:sp>
        <p:nvSpPr>
          <p:cNvPr id="68" name="Text 66"/>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9" name="Text 67"/>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$244</a:t>
            </a:r>
            <a:endParaRPr lang="en-US" sz="1400" dirty="0"/>
          </a:p>
        </p:txBody>
      </p:sp>
      <p:sp>
        <p:nvSpPr>
          <p:cNvPr id="70" name="Text 68"/>
          <p:cNvSpPr txBox="1"/>
          <p:nvPr/>
        </p:nvSpPr>
        <p:spPr>
          <a:xfrm>
            <a:off x="10323576" y="3030980"/>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+7.4%</a:t>
            </a:r>
            <a:endParaRPr lang="en-US" sz="1600" dirty="0"/>
          </a:p>
        </p:txBody>
      </p:sp>
      <p:sp>
        <p:nvSpPr>
          <p:cNvPr id="71" name="Text 69"/>
          <p:cNvSpPr txBox="1"/>
          <p:nvPr/>
        </p:nvSpPr>
        <p:spPr>
          <a:xfrm>
            <a:off x="10323576"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a:t>
            </a:r>
            <a:endParaRPr lang="en-US" sz="1300" dirty="0"/>
          </a:p>
        </p:txBody>
      </p:sp>
      <p:sp>
        <p:nvSpPr>
          <p:cNvPr id="72" name="Shape 70"/>
          <p:cNvSpPr/>
          <p:nvPr/>
        </p:nvSpPr>
        <p:spPr>
          <a:xfrm>
            <a:off x="8040624" y="3760013"/>
            <a:ext cx="3489960" cy="828446"/>
          </a:xfrm>
          <a:prstGeom prst="rect">
            <a:avLst/>
          </a:prstGeom>
          <a:solidFill>
            <a:srgbClr val="F7F7F7"/>
          </a:solidFill>
          <a:ln/>
        </p:spPr>
        <p:txBody>
          <a:bodyPr/>
          <a:p/>
        </p:txBody>
      </p:sp>
      <p:sp>
        <p:nvSpPr>
          <p:cNvPr id="73" name="Shape 71"/>
          <p:cNvSpPr/>
          <p:nvPr/>
        </p:nvSpPr>
        <p:spPr>
          <a:xfrm>
            <a:off x="11466576" y="3796589"/>
            <a:ext cx="64008" cy="755294"/>
          </a:xfrm>
          <a:prstGeom prst="rect">
            <a:avLst/>
          </a:prstGeom>
          <a:solidFill>
            <a:srgbClr val="12A566"/>
          </a:solidFill>
          <a:ln/>
        </p:spPr>
        <p:txBody>
          <a:bodyPr/>
          <a:p/>
        </p:txBody>
      </p:sp>
      <p:sp>
        <p:nvSpPr>
          <p:cNvPr id="74" name="Text 72"/>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5" name="Text 73"/>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$148</a:t>
            </a:r>
            <a:endParaRPr lang="en-US" sz="1400" dirty="0"/>
          </a:p>
        </p:txBody>
      </p:sp>
      <p:sp>
        <p:nvSpPr>
          <p:cNvPr id="76" name="Text 74"/>
          <p:cNvSpPr txBox="1"/>
          <p:nvPr/>
        </p:nvSpPr>
        <p:spPr>
          <a:xfrm>
            <a:off x="10323576" y="3859426"/>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+6.1%</a:t>
            </a:r>
            <a:endParaRPr lang="en-US" sz="1600" dirty="0"/>
          </a:p>
        </p:txBody>
      </p:sp>
      <p:sp>
        <p:nvSpPr>
          <p:cNvPr id="77" name="Text 75"/>
          <p:cNvSpPr txBox="1"/>
          <p:nvPr/>
        </p:nvSpPr>
        <p:spPr>
          <a:xfrm>
            <a:off x="10323576"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a:t>
            </a:r>
            <a:endParaRPr lang="en-US" sz="1300" dirty="0"/>
          </a:p>
        </p:txBody>
      </p:sp>
      <p:sp>
        <p:nvSpPr>
          <p:cNvPr id="78" name="Shape 76"/>
          <p:cNvSpPr/>
          <p:nvPr/>
        </p:nvSpPr>
        <p:spPr>
          <a:xfrm>
            <a:off x="11466576" y="4625035"/>
            <a:ext cx="64008" cy="755294"/>
          </a:xfrm>
          <a:prstGeom prst="rect">
            <a:avLst/>
          </a:prstGeom>
          <a:solidFill>
            <a:srgbClr val="2587C5"/>
          </a:solidFill>
          <a:ln/>
        </p:spPr>
        <p:txBody>
          <a:bodyPr/>
          <a:p/>
        </p:txBody>
      </p:sp>
      <p:sp>
        <p:nvSpPr>
          <p:cNvPr id="79" name="Text 77"/>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0" name="Text 78"/>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$151</a:t>
            </a:r>
            <a:endParaRPr lang="en-US" sz="1400" dirty="0"/>
          </a:p>
        </p:txBody>
      </p:sp>
      <p:sp>
        <p:nvSpPr>
          <p:cNvPr id="81" name="Text 79"/>
          <p:cNvSpPr txBox="1"/>
          <p:nvPr/>
        </p:nvSpPr>
        <p:spPr>
          <a:xfrm>
            <a:off x="10323576" y="4687873"/>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+5.7%</a:t>
            </a:r>
            <a:endParaRPr lang="en-US" sz="1600" dirty="0"/>
          </a:p>
        </p:txBody>
      </p:sp>
      <p:sp>
        <p:nvSpPr>
          <p:cNvPr id="82" name="Text 80"/>
          <p:cNvSpPr txBox="1"/>
          <p:nvPr/>
        </p:nvSpPr>
        <p:spPr>
          <a:xfrm>
            <a:off x="10323576"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a:t>
            </a:r>
            <a:endParaRPr lang="en-US" sz="1300" dirty="0"/>
          </a:p>
        </p:txBody>
      </p:sp>
      <p:sp>
        <p:nvSpPr>
          <p:cNvPr id="83" name="Shape 81"/>
          <p:cNvSpPr/>
          <p:nvPr/>
        </p:nvSpPr>
        <p:spPr>
          <a:xfrm>
            <a:off x="8040624" y="5416906"/>
            <a:ext cx="3489960" cy="828446"/>
          </a:xfrm>
          <a:prstGeom prst="rect">
            <a:avLst/>
          </a:prstGeom>
          <a:solidFill>
            <a:srgbClr val="F7F7F7"/>
          </a:solidFill>
          <a:ln/>
        </p:spPr>
        <p:txBody>
          <a:bodyPr/>
          <a:p/>
        </p:txBody>
      </p:sp>
      <p:sp>
        <p:nvSpPr>
          <p:cNvPr id="84" name="Text 82"/>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5" name="Text 83"/>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$146</a:t>
            </a:r>
            <a:endParaRPr lang="en-US" sz="1400" dirty="0"/>
          </a:p>
        </p:txBody>
      </p:sp>
      <p:sp>
        <p:nvSpPr>
          <p:cNvPr id="86" name="Text 84"/>
          <p:cNvSpPr txBox="1"/>
          <p:nvPr/>
        </p:nvSpPr>
        <p:spPr>
          <a:xfrm>
            <a:off x="10323576" y="5516319"/>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+5.0%</a:t>
            </a:r>
            <a:endParaRPr lang="en-US" sz="1600" dirty="0"/>
          </a:p>
        </p:txBody>
      </p:sp>
      <p:sp>
        <p:nvSpPr>
          <p:cNvPr id="87" name="Text 85"/>
          <p:cNvSpPr txBox="1"/>
          <p:nvPr/>
        </p:nvSpPr>
        <p:spPr>
          <a:xfrm>
            <a:off x="10323576"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a:t>
            </a:r>
            <a:endParaRPr lang="en-US" sz="1300" dirty="0"/>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ELR</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Shape 4"/>
          <p:cNvSpPr/>
          <p:nvPr/>
        </p:nvSpPr>
        <p:spPr>
          <a:xfrm>
            <a:off x="658368" y="1371600"/>
            <a:ext cx="3489960" cy="45720"/>
          </a:xfrm>
          <a:prstGeom prst="rect">
            <a:avLst/>
          </a:prstGeom>
          <a:solidFill>
            <a:srgbClr val="12A566"/>
          </a:solidFill>
          <a:ln/>
        </p:spPr>
        <p:txBody>
          <a:bodyPr/>
          <a:p/>
        </p:txBody>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txBody>
          <a:bodyPr/>
          <a:p/>
        </p:txBody>
      </p:sp>
      <p:sp>
        <p:nvSpPr>
          <p:cNvPr id="10" name="Shape 8"/>
          <p:cNvSpPr/>
          <p:nvPr/>
        </p:nvSpPr>
        <p:spPr>
          <a:xfrm>
            <a:off x="4084320" y="2139696"/>
            <a:ext cx="64008" cy="755294"/>
          </a:xfrm>
          <a:prstGeom prst="rect">
            <a:avLst/>
          </a:prstGeom>
          <a:solidFill>
            <a:srgbClr val="12A566"/>
          </a:solidFill>
          <a:ln/>
        </p:spPr>
        <p:txBody>
          <a:bodyPr/>
          <a:p/>
        </p:txBody>
      </p:sp>
      <p:sp>
        <p:nvSpPr>
          <p:cNvPr id="11" name="Text 9"/>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$205</a:t>
            </a:r>
            <a:endParaRPr lang="en-US" sz="1400" dirty="0"/>
          </a:p>
        </p:txBody>
      </p:sp>
      <p:sp>
        <p:nvSpPr>
          <p:cNvPr id="13" name="Text 11"/>
          <p:cNvSpPr txBox="1"/>
          <p:nvPr/>
        </p:nvSpPr>
        <p:spPr>
          <a:xfrm>
            <a:off x="2941320" y="2202534"/>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+29.5%</a:t>
            </a:r>
            <a:endParaRPr lang="en-US" sz="1600" dirty="0"/>
          </a:p>
        </p:txBody>
      </p:sp>
      <p:sp>
        <p:nvSpPr>
          <p:cNvPr id="14" name="Text 12"/>
          <p:cNvSpPr txBox="1"/>
          <p:nvPr/>
        </p:nvSpPr>
        <p:spPr>
          <a:xfrm>
            <a:off x="2941320"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+$47</a:t>
            </a:r>
            <a:endParaRPr lang="en-US" sz="1300" dirty="0"/>
          </a:p>
        </p:txBody>
      </p:sp>
      <p:sp>
        <p:nvSpPr>
          <p:cNvPr id="15" name="Text 13"/>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4"/>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$207</a:t>
            </a:r>
            <a:endParaRPr lang="en-US" sz="1400" dirty="0"/>
          </a:p>
        </p:txBody>
      </p:sp>
      <p:sp>
        <p:nvSpPr>
          <p:cNvPr id="17" name="Text 15"/>
          <p:cNvSpPr txBox="1"/>
          <p:nvPr/>
        </p:nvSpPr>
        <p:spPr>
          <a:xfrm>
            <a:off x="2941320" y="3030980"/>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+23.6%</a:t>
            </a:r>
            <a:endParaRPr lang="en-US" sz="1600" dirty="0"/>
          </a:p>
        </p:txBody>
      </p:sp>
      <p:sp>
        <p:nvSpPr>
          <p:cNvPr id="18" name="Text 16"/>
          <p:cNvSpPr txBox="1"/>
          <p:nvPr/>
        </p:nvSpPr>
        <p:spPr>
          <a:xfrm>
            <a:off x="2941320"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+$40</a:t>
            </a:r>
            <a:endParaRPr lang="en-US" sz="1300" dirty="0"/>
          </a:p>
        </p:txBody>
      </p:sp>
      <p:sp>
        <p:nvSpPr>
          <p:cNvPr id="19" name="Shape 17"/>
          <p:cNvSpPr/>
          <p:nvPr/>
        </p:nvSpPr>
        <p:spPr>
          <a:xfrm>
            <a:off x="658368" y="3760013"/>
            <a:ext cx="3489960" cy="828446"/>
          </a:xfrm>
          <a:prstGeom prst="rect">
            <a:avLst/>
          </a:prstGeom>
          <a:solidFill>
            <a:srgbClr val="F7F7F7"/>
          </a:solidFill>
          <a:ln/>
        </p:spPr>
        <p:txBody>
          <a:bodyPr/>
          <a:p/>
        </p:txBody>
      </p:sp>
      <p:sp>
        <p:nvSpPr>
          <p:cNvPr id="20" name="Text 18"/>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1" name="Text 19"/>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$166</a:t>
            </a:r>
            <a:endParaRPr lang="en-US" sz="1400" dirty="0"/>
          </a:p>
        </p:txBody>
      </p:sp>
      <p:sp>
        <p:nvSpPr>
          <p:cNvPr id="22" name="Text 20"/>
          <p:cNvSpPr txBox="1"/>
          <p:nvPr/>
        </p:nvSpPr>
        <p:spPr>
          <a:xfrm>
            <a:off x="2941320" y="3859426"/>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+19.6%</a:t>
            </a:r>
            <a:endParaRPr lang="en-US" sz="1600" dirty="0"/>
          </a:p>
        </p:txBody>
      </p:sp>
      <p:sp>
        <p:nvSpPr>
          <p:cNvPr id="23" name="Text 21"/>
          <p:cNvSpPr txBox="1"/>
          <p:nvPr/>
        </p:nvSpPr>
        <p:spPr>
          <a:xfrm>
            <a:off x="2941320"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+$27</a:t>
            </a:r>
            <a:endParaRPr lang="en-US" sz="1300" dirty="0"/>
          </a:p>
        </p:txBody>
      </p:sp>
      <p:sp>
        <p:nvSpPr>
          <p:cNvPr id="24" name="Text 22"/>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5" name="Text 23"/>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$134</a:t>
            </a:r>
            <a:endParaRPr lang="en-US" sz="1400" dirty="0"/>
          </a:p>
        </p:txBody>
      </p:sp>
      <p:sp>
        <p:nvSpPr>
          <p:cNvPr id="26" name="Text 24"/>
          <p:cNvSpPr txBox="1"/>
          <p:nvPr/>
        </p:nvSpPr>
        <p:spPr>
          <a:xfrm>
            <a:off x="2941320" y="4687873"/>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+18.3%</a:t>
            </a:r>
            <a:endParaRPr lang="en-US" sz="1600" dirty="0"/>
          </a:p>
        </p:txBody>
      </p:sp>
      <p:sp>
        <p:nvSpPr>
          <p:cNvPr id="27" name="Text 25"/>
          <p:cNvSpPr txBox="1"/>
          <p:nvPr/>
        </p:nvSpPr>
        <p:spPr>
          <a:xfrm>
            <a:off x="2941320"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+$21</a:t>
            </a:r>
            <a:endParaRPr lang="en-US" sz="1300" dirty="0"/>
          </a:p>
        </p:txBody>
      </p:sp>
      <p:sp>
        <p:nvSpPr>
          <p:cNvPr id="28" name="Shape 26"/>
          <p:cNvSpPr/>
          <p:nvPr/>
        </p:nvSpPr>
        <p:spPr>
          <a:xfrm>
            <a:off x="658368" y="5416906"/>
            <a:ext cx="3489960" cy="828446"/>
          </a:xfrm>
          <a:prstGeom prst="rect">
            <a:avLst/>
          </a:prstGeom>
          <a:solidFill>
            <a:srgbClr val="F7F7F7"/>
          </a:solidFill>
          <a:ln/>
        </p:spPr>
        <p:txBody>
          <a:bodyPr/>
          <a:p/>
        </p:txBody>
      </p:sp>
      <p:sp>
        <p:nvSpPr>
          <p:cNvPr id="29" name="Shape 27"/>
          <p:cNvSpPr/>
          <p:nvPr/>
        </p:nvSpPr>
        <p:spPr>
          <a:xfrm>
            <a:off x="4084320" y="5453482"/>
            <a:ext cx="64008" cy="755294"/>
          </a:xfrm>
          <a:prstGeom prst="rect">
            <a:avLst/>
          </a:prstGeom>
          <a:solidFill>
            <a:srgbClr val="12A566"/>
          </a:solidFill>
          <a:ln/>
        </p:spPr>
        <p:txBody>
          <a:bodyPr/>
          <a:p/>
        </p:txBody>
      </p:sp>
      <p:sp>
        <p:nvSpPr>
          <p:cNvPr id="30" name="Text 28"/>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1" name="Text 29"/>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$115</a:t>
            </a:r>
            <a:endParaRPr lang="en-US" sz="1400" dirty="0"/>
          </a:p>
        </p:txBody>
      </p:sp>
      <p:sp>
        <p:nvSpPr>
          <p:cNvPr id="32" name="Text 30"/>
          <p:cNvSpPr txBox="1"/>
          <p:nvPr/>
        </p:nvSpPr>
        <p:spPr>
          <a:xfrm>
            <a:off x="2941320" y="5516319"/>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+17.9%</a:t>
            </a:r>
            <a:endParaRPr lang="en-US" sz="1600" dirty="0"/>
          </a:p>
        </p:txBody>
      </p:sp>
      <p:sp>
        <p:nvSpPr>
          <p:cNvPr id="33" name="Text 31"/>
          <p:cNvSpPr txBox="1"/>
          <p:nvPr/>
        </p:nvSpPr>
        <p:spPr>
          <a:xfrm>
            <a:off x="2941320"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a:t>
            </a:r>
            <a:endParaRPr lang="en-US" sz="1300" dirty="0"/>
          </a:p>
        </p:txBody>
      </p:sp>
      <p:sp>
        <p:nvSpPr>
          <p:cNvPr id="34" name="Shape 32"/>
          <p:cNvSpPr/>
          <p:nvPr/>
        </p:nvSpPr>
        <p:spPr>
          <a:xfrm>
            <a:off x="4349496" y="1371600"/>
            <a:ext cx="3489960" cy="45720"/>
          </a:xfrm>
          <a:prstGeom prst="rect">
            <a:avLst/>
          </a:prstGeom>
          <a:solidFill>
            <a:srgbClr val="C2352F"/>
          </a:solidFill>
          <a:ln/>
        </p:spPr>
        <p:txBody>
          <a:bodyPr/>
          <a:p/>
        </p:txBody>
      </p:sp>
      <p:sp>
        <p:nvSpPr>
          <p:cNvPr id="35" name="Text 33"/>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6" name="Text 34"/>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7" name="Shape 35"/>
          <p:cNvSpPr/>
          <p:nvPr/>
        </p:nvSpPr>
        <p:spPr>
          <a:xfrm>
            <a:off x="4349496" y="2103120"/>
            <a:ext cx="3489960" cy="828446"/>
          </a:xfrm>
          <a:prstGeom prst="rect">
            <a:avLst/>
          </a:prstGeom>
          <a:solidFill>
            <a:srgbClr val="F7F7F7"/>
          </a:solidFill>
          <a:ln/>
        </p:spPr>
        <p:txBody>
          <a:bodyPr/>
          <a:p/>
        </p:txBody>
      </p:sp>
      <p:sp>
        <p:nvSpPr>
          <p:cNvPr id="38" name="Text 36"/>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9" name="Text 37"/>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$87</a:t>
            </a:r>
            <a:endParaRPr lang="en-US" sz="1400" dirty="0"/>
          </a:p>
        </p:txBody>
      </p:sp>
      <p:sp>
        <p:nvSpPr>
          <p:cNvPr id="40" name="Text 38"/>
          <p:cNvSpPr txBox="1"/>
          <p:nvPr/>
        </p:nvSpPr>
        <p:spPr>
          <a:xfrm>
            <a:off x="6632448" y="2202534"/>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−27.2%</a:t>
            </a:r>
            <a:endParaRPr lang="en-US" sz="1600" dirty="0"/>
          </a:p>
        </p:txBody>
      </p:sp>
      <p:sp>
        <p:nvSpPr>
          <p:cNvPr id="41" name="Text 39"/>
          <p:cNvSpPr txBox="1"/>
          <p:nvPr/>
        </p:nvSpPr>
        <p:spPr>
          <a:xfrm>
            <a:off x="6632448"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−$33</a:t>
            </a:r>
            <a:endParaRPr lang="en-US" sz="1300" dirty="0"/>
          </a:p>
        </p:txBody>
      </p:sp>
      <p:sp>
        <p:nvSpPr>
          <p:cNvPr id="42" name="Text 40"/>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3" name="Text 41"/>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$167</a:t>
            </a:r>
            <a:endParaRPr lang="en-US" sz="1400" dirty="0"/>
          </a:p>
        </p:txBody>
      </p:sp>
      <p:sp>
        <p:nvSpPr>
          <p:cNvPr id="44" name="Text 42"/>
          <p:cNvSpPr txBox="1"/>
          <p:nvPr/>
        </p:nvSpPr>
        <p:spPr>
          <a:xfrm>
            <a:off x="6632448" y="3030980"/>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−26.6%</a:t>
            </a:r>
            <a:endParaRPr lang="en-US" sz="1600" dirty="0"/>
          </a:p>
        </p:txBody>
      </p:sp>
      <p:sp>
        <p:nvSpPr>
          <p:cNvPr id="45" name="Text 43"/>
          <p:cNvSpPr txBox="1"/>
          <p:nvPr/>
        </p:nvSpPr>
        <p:spPr>
          <a:xfrm>
            <a:off x="6632448"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−$60</a:t>
            </a:r>
            <a:endParaRPr lang="en-US" sz="1300" dirty="0"/>
          </a:p>
        </p:txBody>
      </p:sp>
      <p:sp>
        <p:nvSpPr>
          <p:cNvPr id="46" name="Shape 44"/>
          <p:cNvSpPr/>
          <p:nvPr/>
        </p:nvSpPr>
        <p:spPr>
          <a:xfrm>
            <a:off x="4349496" y="3760013"/>
            <a:ext cx="3489960" cy="828446"/>
          </a:xfrm>
          <a:prstGeom prst="rect">
            <a:avLst/>
          </a:prstGeom>
          <a:solidFill>
            <a:srgbClr val="F7F7F7"/>
          </a:solidFill>
          <a:ln/>
        </p:spPr>
        <p:txBody>
          <a:bodyPr/>
          <a:p/>
        </p:txBody>
      </p:sp>
      <p:sp>
        <p:nvSpPr>
          <p:cNvPr id="47" name="Text 45"/>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8" name="Text 46"/>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$142</a:t>
            </a:r>
            <a:endParaRPr lang="en-US" sz="1400" dirty="0"/>
          </a:p>
        </p:txBody>
      </p:sp>
      <p:sp>
        <p:nvSpPr>
          <p:cNvPr id="49" name="Text 47"/>
          <p:cNvSpPr txBox="1"/>
          <p:nvPr/>
        </p:nvSpPr>
        <p:spPr>
          <a:xfrm>
            <a:off x="6632448" y="3859426"/>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−22.4%</a:t>
            </a:r>
            <a:endParaRPr lang="en-US" sz="1600" dirty="0"/>
          </a:p>
        </p:txBody>
      </p:sp>
      <p:sp>
        <p:nvSpPr>
          <p:cNvPr id="50" name="Text 48"/>
          <p:cNvSpPr txBox="1"/>
          <p:nvPr/>
        </p:nvSpPr>
        <p:spPr>
          <a:xfrm>
            <a:off x="6632448"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−$41</a:t>
            </a:r>
            <a:endParaRPr lang="en-US" sz="1300" dirty="0"/>
          </a:p>
        </p:txBody>
      </p:sp>
      <p:sp>
        <p:nvSpPr>
          <p:cNvPr id="51" name="Shape 49"/>
          <p:cNvSpPr/>
          <p:nvPr/>
        </p:nvSpPr>
        <p:spPr>
          <a:xfrm>
            <a:off x="7775448" y="4625035"/>
            <a:ext cx="64008" cy="755294"/>
          </a:xfrm>
          <a:prstGeom prst="rect">
            <a:avLst/>
          </a:prstGeom>
          <a:solidFill>
            <a:srgbClr val="2587C5"/>
          </a:solidFill>
          <a:ln/>
        </p:spPr>
        <p:txBody>
          <a:bodyPr/>
          <a:p/>
        </p:txBody>
      </p:sp>
      <p:sp>
        <p:nvSpPr>
          <p:cNvPr id="52" name="Text 50"/>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3" name="Text 51"/>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$152</a:t>
            </a:r>
            <a:endParaRPr lang="en-US" sz="1400" dirty="0"/>
          </a:p>
        </p:txBody>
      </p:sp>
      <p:sp>
        <p:nvSpPr>
          <p:cNvPr id="54" name="Text 52"/>
          <p:cNvSpPr txBox="1"/>
          <p:nvPr/>
        </p:nvSpPr>
        <p:spPr>
          <a:xfrm>
            <a:off x="6632448" y="4687873"/>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−12.0%</a:t>
            </a:r>
            <a:endParaRPr lang="en-US" sz="1600" dirty="0"/>
          </a:p>
        </p:txBody>
      </p:sp>
      <p:sp>
        <p:nvSpPr>
          <p:cNvPr id="55" name="Text 53"/>
          <p:cNvSpPr txBox="1"/>
          <p:nvPr/>
        </p:nvSpPr>
        <p:spPr>
          <a:xfrm>
            <a:off x="6632448"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−$21</a:t>
            </a:r>
            <a:endParaRPr lang="en-US" sz="1300" dirty="0"/>
          </a:p>
        </p:txBody>
      </p:sp>
      <p:sp>
        <p:nvSpPr>
          <p:cNvPr id="56" name="Shape 54"/>
          <p:cNvSpPr/>
          <p:nvPr/>
        </p:nvSpPr>
        <p:spPr>
          <a:xfrm>
            <a:off x="4349496" y="5416906"/>
            <a:ext cx="3489960" cy="828446"/>
          </a:xfrm>
          <a:prstGeom prst="rect">
            <a:avLst/>
          </a:prstGeom>
          <a:solidFill>
            <a:srgbClr val="F7F7F7"/>
          </a:solidFill>
          <a:ln/>
        </p:spPr>
        <p:txBody>
          <a:bodyPr/>
          <a:p/>
        </p:txBody>
      </p:sp>
      <p:sp>
        <p:nvSpPr>
          <p:cNvPr id="57" name="Text 55"/>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8" name="Text 56"/>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$139</a:t>
            </a:r>
            <a:endParaRPr lang="en-US" sz="1400" dirty="0"/>
          </a:p>
        </p:txBody>
      </p:sp>
      <p:sp>
        <p:nvSpPr>
          <p:cNvPr id="59" name="Text 57"/>
          <p:cNvSpPr txBox="1"/>
          <p:nvPr/>
        </p:nvSpPr>
        <p:spPr>
          <a:xfrm>
            <a:off x="6632448" y="5516319"/>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−11.3%</a:t>
            </a:r>
            <a:endParaRPr lang="en-US" sz="1600" dirty="0"/>
          </a:p>
        </p:txBody>
      </p:sp>
      <p:sp>
        <p:nvSpPr>
          <p:cNvPr id="60" name="Text 58"/>
          <p:cNvSpPr txBox="1"/>
          <p:nvPr/>
        </p:nvSpPr>
        <p:spPr>
          <a:xfrm>
            <a:off x="6632448"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−$18</a:t>
            </a:r>
            <a:endParaRPr lang="en-US" sz="1300" dirty="0"/>
          </a:p>
        </p:txBody>
      </p:sp>
      <p:sp>
        <p:nvSpPr>
          <p:cNvPr id="61" name="Shape 59"/>
          <p:cNvSpPr/>
          <p:nvPr/>
        </p:nvSpPr>
        <p:spPr>
          <a:xfrm>
            <a:off x="8040624" y="1371600"/>
            <a:ext cx="3489960" cy="45720"/>
          </a:xfrm>
          <a:prstGeom prst="rect">
            <a:avLst/>
          </a:prstGeom>
          <a:solidFill>
            <a:srgbClr val="2587C5"/>
          </a:solidFill>
          <a:ln/>
        </p:spPr>
        <p:txBody>
          <a:bodyPr/>
          <a:p/>
        </p:txBody>
      </p:sp>
      <p:sp>
        <p:nvSpPr>
          <p:cNvPr id="62" name="Text 60"/>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3" name="Text 61"/>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this year</a:t>
            </a:r>
            <a:endParaRPr lang="en-US" sz="1200" dirty="0"/>
          </a:p>
        </p:txBody>
      </p:sp>
      <p:sp>
        <p:nvSpPr>
          <p:cNvPr id="64" name="Shape 62"/>
          <p:cNvSpPr/>
          <p:nvPr/>
        </p:nvSpPr>
        <p:spPr>
          <a:xfrm>
            <a:off x="8040624" y="2103120"/>
            <a:ext cx="3489960" cy="828446"/>
          </a:xfrm>
          <a:prstGeom prst="rect">
            <a:avLst/>
          </a:prstGeom>
          <a:solidFill>
            <a:srgbClr val="F7F7F7"/>
          </a:solidFill>
          <a:ln/>
        </p:spPr>
        <p:txBody>
          <a:bodyPr/>
          <a:p/>
        </p:txBody>
      </p:sp>
      <p:sp>
        <p:nvSpPr>
          <p:cNvPr id="65" name="Shape 63"/>
          <p:cNvSpPr/>
          <p:nvPr/>
        </p:nvSpPr>
        <p:spPr>
          <a:xfrm>
            <a:off x="11466576" y="2139696"/>
            <a:ext cx="64008" cy="755294"/>
          </a:xfrm>
          <a:prstGeom prst="rect">
            <a:avLst/>
          </a:prstGeom>
          <a:solidFill>
            <a:srgbClr val="2587C5"/>
          </a:solidFill>
          <a:ln/>
        </p:spPr>
        <p:txBody>
          <a:bodyPr/>
          <a:p/>
        </p:txBody>
      </p:sp>
      <p:sp>
        <p:nvSpPr>
          <p:cNvPr id="66" name="Text 64"/>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7" name="Text 65"/>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$183</a:t>
            </a:r>
            <a:endParaRPr lang="en-US" sz="1400" dirty="0"/>
          </a:p>
        </p:txBody>
      </p:sp>
      <p:sp>
        <p:nvSpPr>
          <p:cNvPr id="68" name="Text 66"/>
          <p:cNvSpPr txBox="1"/>
          <p:nvPr/>
        </p:nvSpPr>
        <p:spPr>
          <a:xfrm>
            <a:off x="10323576" y="2202534"/>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+36.2%</a:t>
            </a:r>
            <a:endParaRPr lang="en-US" sz="1600" dirty="0"/>
          </a:p>
        </p:txBody>
      </p:sp>
      <p:sp>
        <p:nvSpPr>
          <p:cNvPr id="69" name="Text 67"/>
          <p:cNvSpPr txBox="1"/>
          <p:nvPr/>
        </p:nvSpPr>
        <p:spPr>
          <a:xfrm>
            <a:off x="10323576"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70" name="Shape 68"/>
          <p:cNvSpPr/>
          <p:nvPr/>
        </p:nvSpPr>
        <p:spPr>
          <a:xfrm>
            <a:off x="11466576" y="2968142"/>
            <a:ext cx="64008" cy="755294"/>
          </a:xfrm>
          <a:prstGeom prst="rect">
            <a:avLst/>
          </a:prstGeom>
          <a:solidFill>
            <a:srgbClr val="12A566"/>
          </a:solidFill>
          <a:ln/>
        </p:spPr>
        <p:txBody>
          <a:bodyPr/>
          <a:p/>
        </p:txBody>
      </p:sp>
      <p:sp>
        <p:nvSpPr>
          <p:cNvPr id="71" name="Text 69"/>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72" name="Text 70"/>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$233</a:t>
            </a:r>
            <a:endParaRPr lang="en-US" sz="1400" dirty="0"/>
          </a:p>
        </p:txBody>
      </p:sp>
      <p:sp>
        <p:nvSpPr>
          <p:cNvPr id="73" name="Text 71"/>
          <p:cNvSpPr txBox="1"/>
          <p:nvPr/>
        </p:nvSpPr>
        <p:spPr>
          <a:xfrm>
            <a:off x="10323576" y="3030980"/>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+31.8%</a:t>
            </a:r>
            <a:endParaRPr lang="en-US" sz="1600" dirty="0"/>
          </a:p>
        </p:txBody>
      </p:sp>
      <p:sp>
        <p:nvSpPr>
          <p:cNvPr id="74" name="Text 72"/>
          <p:cNvSpPr txBox="1"/>
          <p:nvPr/>
        </p:nvSpPr>
        <p:spPr>
          <a:xfrm>
            <a:off x="10323576"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+$56</a:t>
            </a:r>
            <a:endParaRPr lang="en-US" sz="1300" dirty="0"/>
          </a:p>
        </p:txBody>
      </p:sp>
      <p:sp>
        <p:nvSpPr>
          <p:cNvPr id="75" name="Shape 73"/>
          <p:cNvSpPr/>
          <p:nvPr/>
        </p:nvSpPr>
        <p:spPr>
          <a:xfrm>
            <a:off x="8040624" y="3760013"/>
            <a:ext cx="3489960" cy="828446"/>
          </a:xfrm>
          <a:prstGeom prst="rect">
            <a:avLst/>
          </a:prstGeom>
          <a:solidFill>
            <a:srgbClr val="F7F7F7"/>
          </a:solidFill>
          <a:ln/>
        </p:spPr>
        <p:txBody>
          <a:bodyPr/>
          <a:p/>
        </p:txBody>
      </p:sp>
      <p:sp>
        <p:nvSpPr>
          <p:cNvPr id="76" name="Shape 74"/>
          <p:cNvSpPr/>
          <p:nvPr/>
        </p:nvSpPr>
        <p:spPr>
          <a:xfrm>
            <a:off x="11466576" y="3796589"/>
            <a:ext cx="64008" cy="755294"/>
          </a:xfrm>
          <a:prstGeom prst="rect">
            <a:avLst/>
          </a:prstGeom>
          <a:solidFill>
            <a:srgbClr val="12A566"/>
          </a:solidFill>
          <a:ln/>
        </p:spPr>
        <p:txBody>
          <a:bodyPr/>
          <a:p/>
        </p:txBody>
      </p:sp>
      <p:sp>
        <p:nvSpPr>
          <p:cNvPr id="77" name="Text 75"/>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8" name="Text 76"/>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$129</a:t>
            </a:r>
            <a:endParaRPr lang="en-US" sz="1400" dirty="0"/>
          </a:p>
        </p:txBody>
      </p:sp>
      <p:sp>
        <p:nvSpPr>
          <p:cNvPr id="79" name="Text 77"/>
          <p:cNvSpPr txBox="1"/>
          <p:nvPr/>
        </p:nvSpPr>
        <p:spPr>
          <a:xfrm>
            <a:off x="10323576" y="3859426"/>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+25.2%</a:t>
            </a:r>
            <a:endParaRPr lang="en-US" sz="1600" dirty="0"/>
          </a:p>
        </p:txBody>
      </p:sp>
      <p:sp>
        <p:nvSpPr>
          <p:cNvPr id="80" name="Text 78"/>
          <p:cNvSpPr txBox="1"/>
          <p:nvPr/>
        </p:nvSpPr>
        <p:spPr>
          <a:xfrm>
            <a:off x="10323576"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+$26</a:t>
            </a:r>
            <a:endParaRPr lang="en-US" sz="1300" dirty="0"/>
          </a:p>
        </p:txBody>
      </p:sp>
      <p:sp>
        <p:nvSpPr>
          <p:cNvPr id="81" name="Text 79"/>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2" name="Text 80"/>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$119</a:t>
            </a:r>
            <a:endParaRPr lang="en-US" sz="1400" dirty="0"/>
          </a:p>
        </p:txBody>
      </p:sp>
      <p:sp>
        <p:nvSpPr>
          <p:cNvPr id="83" name="Text 81"/>
          <p:cNvSpPr txBox="1"/>
          <p:nvPr/>
        </p:nvSpPr>
        <p:spPr>
          <a:xfrm>
            <a:off x="10323576" y="4687873"/>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+23.3%</a:t>
            </a:r>
            <a:endParaRPr lang="en-US" sz="1600" dirty="0"/>
          </a:p>
        </p:txBody>
      </p:sp>
      <p:sp>
        <p:nvSpPr>
          <p:cNvPr id="84" name="Text 82"/>
          <p:cNvSpPr txBox="1"/>
          <p:nvPr/>
        </p:nvSpPr>
        <p:spPr>
          <a:xfrm>
            <a:off x="10323576"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+$23</a:t>
            </a:r>
            <a:endParaRPr lang="en-US" sz="1300" dirty="0"/>
          </a:p>
        </p:txBody>
      </p:sp>
      <p:sp>
        <p:nvSpPr>
          <p:cNvPr id="85" name="Shape 83"/>
          <p:cNvSpPr/>
          <p:nvPr/>
        </p:nvSpPr>
        <p:spPr>
          <a:xfrm>
            <a:off x="8040624" y="5416906"/>
            <a:ext cx="3489960" cy="828446"/>
          </a:xfrm>
          <a:prstGeom prst="rect">
            <a:avLst/>
          </a:prstGeom>
          <a:solidFill>
            <a:srgbClr val="F7F7F7"/>
          </a:solidFill>
          <a:ln/>
        </p:spPr>
        <p:txBody>
          <a:bodyPr/>
          <a:p/>
        </p:txBody>
      </p:sp>
      <p:sp>
        <p:nvSpPr>
          <p:cNvPr id="86" name="Text 84"/>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7" name="Text 85"/>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$187</a:t>
            </a:r>
            <a:endParaRPr lang="en-US" sz="1400" dirty="0"/>
          </a:p>
        </p:txBody>
      </p:sp>
      <p:sp>
        <p:nvSpPr>
          <p:cNvPr id="88" name="Text 86"/>
          <p:cNvSpPr txBox="1"/>
          <p:nvPr/>
        </p:nvSpPr>
        <p:spPr>
          <a:xfrm>
            <a:off x="10323576" y="5516319"/>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+17.6%</a:t>
            </a:r>
            <a:endParaRPr lang="en-US" sz="1600" dirty="0"/>
          </a:p>
        </p:txBody>
      </p:sp>
      <p:sp>
        <p:nvSpPr>
          <p:cNvPr id="89" name="Text 87"/>
          <p:cNvSpPr txBox="1"/>
          <p:nvPr/>
        </p:nvSpPr>
        <p:spPr>
          <a:xfrm>
            <a:off x="10323576"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+$28</a:t>
            </a:r>
            <a:endParaRPr lang="en-US" sz="1300" dirty="0"/>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Gross per Fixed Employee</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Shape 4"/>
          <p:cNvSpPr/>
          <p:nvPr/>
        </p:nvSpPr>
        <p:spPr>
          <a:xfrm>
            <a:off x="658368" y="1371600"/>
            <a:ext cx="3489960" cy="45720"/>
          </a:xfrm>
          <a:prstGeom prst="rect">
            <a:avLst/>
          </a:prstGeom>
          <a:solidFill>
            <a:srgbClr val="12A566"/>
          </a:solidFill>
          <a:ln/>
        </p:spPr>
        <p:txBody>
          <a:bodyPr/>
          <a:p/>
        </p:txBody>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txBody>
          <a:bodyPr/>
          <a:p/>
        </p:txBody>
      </p:sp>
      <p:sp>
        <p:nvSpPr>
          <p:cNvPr id="10" name="Shape 8"/>
          <p:cNvSpPr/>
          <p:nvPr/>
        </p:nvSpPr>
        <p:spPr>
          <a:xfrm>
            <a:off x="4084320" y="2139696"/>
            <a:ext cx="64008" cy="755294"/>
          </a:xfrm>
          <a:prstGeom prst="rect">
            <a:avLst/>
          </a:prstGeom>
          <a:solidFill>
            <a:srgbClr val="12A566"/>
          </a:solidFill>
          <a:ln/>
        </p:spPr>
        <p:txBody>
          <a:bodyPr/>
          <a:p/>
        </p:txBody>
      </p:sp>
      <p:sp>
        <p:nvSpPr>
          <p:cNvPr id="11" name="Text 9"/>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$11,398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$15,556</a:t>
            </a:r>
            <a:endParaRPr lang="en-US" sz="1400" dirty="0"/>
          </a:p>
        </p:txBody>
      </p:sp>
      <p:sp>
        <p:nvSpPr>
          <p:cNvPr id="13" name="Text 11"/>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+$4,158</a:t>
            </a:r>
            <a:endParaRPr lang="en-US" sz="1600" dirty="0"/>
          </a:p>
        </p:txBody>
      </p:sp>
      <p:sp>
        <p:nvSpPr>
          <p:cNvPr id="14" name="Text 12"/>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3"/>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$8,698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$11,631</a:t>
            </a:r>
            <a:endParaRPr lang="en-US" sz="1400" dirty="0"/>
          </a:p>
        </p:txBody>
      </p:sp>
      <p:sp>
        <p:nvSpPr>
          <p:cNvPr id="16" name="Text 14"/>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+$2,933</a:t>
            </a:r>
            <a:endParaRPr lang="en-US" sz="1600" dirty="0"/>
          </a:p>
        </p:txBody>
      </p:sp>
      <p:sp>
        <p:nvSpPr>
          <p:cNvPr id="17" name="Shape 15"/>
          <p:cNvSpPr/>
          <p:nvPr/>
        </p:nvSpPr>
        <p:spPr>
          <a:xfrm>
            <a:off x="658368" y="3760013"/>
            <a:ext cx="3489960" cy="828446"/>
          </a:xfrm>
          <a:prstGeom prst="rect">
            <a:avLst/>
          </a:prstGeom>
          <a:solidFill>
            <a:srgbClr val="F7F7F7"/>
          </a:solidFill>
          <a:ln/>
        </p:spPr>
        <p:txBody>
          <a:bodyPr/>
          <a:p/>
        </p:txBody>
      </p:sp>
      <p:sp>
        <p:nvSpPr>
          <p:cNvPr id="18" name="Text 16"/>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$8,419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$10,963</a:t>
            </a:r>
            <a:endParaRPr lang="en-US" sz="1400" dirty="0"/>
          </a:p>
        </p:txBody>
      </p:sp>
      <p:sp>
        <p:nvSpPr>
          <p:cNvPr id="20" name="Text 18"/>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+$2,545</a:t>
            </a:r>
            <a:endParaRPr lang="en-US" sz="1600" dirty="0"/>
          </a:p>
        </p:txBody>
      </p:sp>
      <p:sp>
        <p:nvSpPr>
          <p:cNvPr id="21" name="Text 19"/>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2" name="Text 20"/>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$10,881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$13,289</a:t>
            </a:r>
            <a:endParaRPr lang="en-US" sz="1400" dirty="0"/>
          </a:p>
        </p:txBody>
      </p:sp>
      <p:sp>
        <p:nvSpPr>
          <p:cNvPr id="23" name="Text 21"/>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+$2,409</a:t>
            </a:r>
            <a:endParaRPr lang="en-US" sz="1600" dirty="0"/>
          </a:p>
        </p:txBody>
      </p:sp>
      <p:sp>
        <p:nvSpPr>
          <p:cNvPr id="24" name="Shape 22"/>
          <p:cNvSpPr/>
          <p:nvPr/>
        </p:nvSpPr>
        <p:spPr>
          <a:xfrm>
            <a:off x="658368" y="5416906"/>
            <a:ext cx="3489960" cy="828446"/>
          </a:xfrm>
          <a:prstGeom prst="rect">
            <a:avLst/>
          </a:prstGeom>
          <a:solidFill>
            <a:srgbClr val="F7F7F7"/>
          </a:solidFill>
          <a:ln/>
        </p:spPr>
        <p:txBody>
          <a:bodyPr/>
          <a:p/>
        </p:txBody>
      </p:sp>
      <p:sp>
        <p:nvSpPr>
          <p:cNvPr id="25" name="Text 23"/>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6" name="Text 24"/>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$21,102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$23,461</a:t>
            </a:r>
            <a:endParaRPr lang="en-US" sz="1400" dirty="0"/>
          </a:p>
        </p:txBody>
      </p:sp>
      <p:sp>
        <p:nvSpPr>
          <p:cNvPr id="27" name="Text 25"/>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+$2,359</a:t>
            </a:r>
            <a:endParaRPr lang="en-US" sz="1600" dirty="0"/>
          </a:p>
        </p:txBody>
      </p:sp>
      <p:sp>
        <p:nvSpPr>
          <p:cNvPr id="28" name="Shape 26"/>
          <p:cNvSpPr/>
          <p:nvPr/>
        </p:nvSpPr>
        <p:spPr>
          <a:xfrm>
            <a:off x="4349496" y="1371600"/>
            <a:ext cx="3489960" cy="45720"/>
          </a:xfrm>
          <a:prstGeom prst="rect">
            <a:avLst/>
          </a:prstGeom>
          <a:solidFill>
            <a:srgbClr val="C2352F"/>
          </a:solidFill>
          <a:ln/>
        </p:spPr>
        <p:txBody>
          <a:bodyPr/>
          <a:p/>
        </p:txBody>
      </p:sp>
      <p:sp>
        <p:nvSpPr>
          <p:cNvPr id="29"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0" name="Text 28"/>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1" name="Shape 29"/>
          <p:cNvSpPr/>
          <p:nvPr/>
        </p:nvSpPr>
        <p:spPr>
          <a:xfrm>
            <a:off x="4349496" y="2103120"/>
            <a:ext cx="3489960" cy="828446"/>
          </a:xfrm>
          <a:prstGeom prst="rect">
            <a:avLst/>
          </a:prstGeom>
          <a:solidFill>
            <a:srgbClr val="F7F7F7"/>
          </a:solidFill>
          <a:ln/>
        </p:spPr>
        <p:txBody>
          <a:bodyPr/>
          <a:p/>
        </p:txBody>
      </p:sp>
      <p:sp>
        <p:nvSpPr>
          <p:cNvPr id="32" name="Text 30"/>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3" name="Text 31"/>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$11,197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$9,878</a:t>
            </a:r>
            <a:endParaRPr lang="en-US" sz="1400" dirty="0"/>
          </a:p>
        </p:txBody>
      </p:sp>
      <p:sp>
        <p:nvSpPr>
          <p:cNvPr id="34" name="Text 32"/>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−$1,319</a:t>
            </a:r>
            <a:endParaRPr lang="en-US" sz="1600" dirty="0"/>
          </a:p>
        </p:txBody>
      </p:sp>
      <p:sp>
        <p:nvSpPr>
          <p:cNvPr id="35" name="Text 33"/>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6" name="Text 34"/>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$13,334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$12,103</a:t>
            </a:r>
            <a:endParaRPr lang="en-US" sz="1400" dirty="0"/>
          </a:p>
        </p:txBody>
      </p:sp>
      <p:sp>
        <p:nvSpPr>
          <p:cNvPr id="37" name="Text 35"/>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−$1,230</a:t>
            </a:r>
            <a:endParaRPr lang="en-US" sz="1600" dirty="0"/>
          </a:p>
        </p:txBody>
      </p:sp>
      <p:sp>
        <p:nvSpPr>
          <p:cNvPr id="38" name="Shape 36"/>
          <p:cNvSpPr/>
          <p:nvPr/>
        </p:nvSpPr>
        <p:spPr>
          <a:xfrm>
            <a:off x="4349496" y="3760013"/>
            <a:ext cx="3489960" cy="828446"/>
          </a:xfrm>
          <a:prstGeom prst="rect">
            <a:avLst/>
          </a:prstGeom>
          <a:solidFill>
            <a:srgbClr val="F7F7F7"/>
          </a:solidFill>
          <a:ln/>
        </p:spPr>
        <p:txBody>
          <a:bodyPr/>
          <a:p/>
        </p:txBody>
      </p:sp>
      <p:sp>
        <p:nvSpPr>
          <p:cNvPr id="39" name="Text 37"/>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0" name="Text 38"/>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$14,765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$14,260</a:t>
            </a:r>
            <a:endParaRPr lang="en-US" sz="1400" dirty="0"/>
          </a:p>
        </p:txBody>
      </p:sp>
      <p:sp>
        <p:nvSpPr>
          <p:cNvPr id="41" name="Text 39"/>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−$505</a:t>
            </a:r>
            <a:endParaRPr lang="en-US" sz="1600" dirty="0"/>
          </a:p>
        </p:txBody>
      </p:sp>
      <p:sp>
        <p:nvSpPr>
          <p:cNvPr id="42" name="Text 40"/>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3" name="Text 41"/>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$12,419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$12,006</a:t>
            </a:r>
            <a:endParaRPr lang="en-US" sz="1400" dirty="0"/>
          </a:p>
        </p:txBody>
      </p:sp>
      <p:sp>
        <p:nvSpPr>
          <p:cNvPr id="44" name="Text 42"/>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−$414</a:t>
            </a:r>
            <a:endParaRPr lang="en-US" sz="1600" dirty="0"/>
          </a:p>
        </p:txBody>
      </p:sp>
      <p:sp>
        <p:nvSpPr>
          <p:cNvPr id="45" name="Shape 43"/>
          <p:cNvSpPr/>
          <p:nvPr/>
        </p:nvSpPr>
        <p:spPr>
          <a:xfrm>
            <a:off x="4349496" y="5416906"/>
            <a:ext cx="3489960" cy="828446"/>
          </a:xfrm>
          <a:prstGeom prst="rect">
            <a:avLst/>
          </a:prstGeom>
          <a:solidFill>
            <a:srgbClr val="F7F7F7"/>
          </a:solidFill>
          <a:ln/>
        </p:spPr>
        <p:txBody>
          <a:bodyPr/>
          <a:p/>
        </p:txBody>
      </p:sp>
      <p:sp>
        <p:nvSpPr>
          <p:cNvPr id="46" name="Shape 44"/>
          <p:cNvSpPr/>
          <p:nvPr/>
        </p:nvSpPr>
        <p:spPr>
          <a:xfrm>
            <a:off x="7775448" y="5453482"/>
            <a:ext cx="64008" cy="755294"/>
          </a:xfrm>
          <a:prstGeom prst="rect">
            <a:avLst/>
          </a:prstGeom>
          <a:solidFill>
            <a:srgbClr val="2587C5"/>
          </a:solidFill>
          <a:ln/>
        </p:spPr>
        <p:txBody>
          <a:bodyPr/>
          <a:p/>
        </p:txBody>
      </p:sp>
      <p:sp>
        <p:nvSpPr>
          <p:cNvPr id="47" name="Text 45"/>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8" name="Text 46"/>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$16,088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$15,966</a:t>
            </a:r>
            <a:endParaRPr lang="en-US" sz="1400" dirty="0"/>
          </a:p>
        </p:txBody>
      </p:sp>
      <p:sp>
        <p:nvSpPr>
          <p:cNvPr id="49" name="Text 47"/>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−$121</a:t>
            </a:r>
            <a:endParaRPr lang="en-US" sz="1600" dirty="0"/>
          </a:p>
        </p:txBody>
      </p:sp>
      <p:sp>
        <p:nvSpPr>
          <p:cNvPr id="50" name="Shape 48"/>
          <p:cNvSpPr/>
          <p:nvPr/>
        </p:nvSpPr>
        <p:spPr>
          <a:xfrm>
            <a:off x="8040624" y="1371600"/>
            <a:ext cx="3489960" cy="45720"/>
          </a:xfrm>
          <a:prstGeom prst="rect">
            <a:avLst/>
          </a:prstGeom>
          <a:solidFill>
            <a:srgbClr val="2587C5"/>
          </a:solidFill>
          <a:ln/>
        </p:spPr>
        <p:txBody>
          <a:bodyPr/>
          <a:p/>
        </p:txBody>
      </p:sp>
      <p:sp>
        <p:nvSpPr>
          <p:cNvPr id="51" name="Text 4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2" name="Text 50"/>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this year</a:t>
            </a:r>
            <a:endParaRPr lang="en-US" sz="1200" dirty="0"/>
          </a:p>
        </p:txBody>
      </p:sp>
      <p:sp>
        <p:nvSpPr>
          <p:cNvPr id="53" name="Shape 51"/>
          <p:cNvSpPr/>
          <p:nvPr/>
        </p:nvSpPr>
        <p:spPr>
          <a:xfrm>
            <a:off x="8040624" y="2103120"/>
            <a:ext cx="3489960" cy="828446"/>
          </a:xfrm>
          <a:prstGeom prst="rect">
            <a:avLst/>
          </a:prstGeom>
          <a:solidFill>
            <a:srgbClr val="F7F7F7"/>
          </a:solidFill>
          <a:ln/>
        </p:spPr>
        <p:txBody>
          <a:bodyPr/>
          <a:p/>
        </p:txBody>
      </p:sp>
      <p:sp>
        <p:nvSpPr>
          <p:cNvPr id="54" name="Text 52"/>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5" name="Text 53"/>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$15,825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$20,761</a:t>
            </a:r>
            <a:endParaRPr lang="en-US" sz="1400" dirty="0"/>
          </a:p>
        </p:txBody>
      </p:sp>
      <p:sp>
        <p:nvSpPr>
          <p:cNvPr id="56" name="Text 54"/>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+$4,936</a:t>
            </a:r>
            <a:endParaRPr lang="en-US" sz="1600" dirty="0"/>
          </a:p>
        </p:txBody>
      </p:sp>
      <p:sp>
        <p:nvSpPr>
          <p:cNvPr id="57" name="Shape 55"/>
          <p:cNvSpPr/>
          <p:nvPr/>
        </p:nvSpPr>
        <p:spPr>
          <a:xfrm>
            <a:off x="11466576" y="2968142"/>
            <a:ext cx="64008" cy="755294"/>
          </a:xfrm>
          <a:prstGeom prst="rect">
            <a:avLst/>
          </a:prstGeom>
          <a:solidFill>
            <a:srgbClr val="12A566"/>
          </a:solidFill>
          <a:ln/>
        </p:spPr>
        <p:txBody>
          <a:bodyPr/>
          <a:p/>
        </p:txBody>
      </p:sp>
      <p:sp>
        <p:nvSpPr>
          <p:cNvPr id="58" name="Text 56"/>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9" name="Text 57"/>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$12,440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$17,296</a:t>
            </a:r>
            <a:endParaRPr lang="en-US" sz="1400" dirty="0"/>
          </a:p>
        </p:txBody>
      </p:sp>
      <p:sp>
        <p:nvSpPr>
          <p:cNvPr id="60" name="Text 58"/>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+$4,856</a:t>
            </a:r>
            <a:endParaRPr lang="en-US" sz="1600" dirty="0"/>
          </a:p>
        </p:txBody>
      </p:sp>
      <p:sp>
        <p:nvSpPr>
          <p:cNvPr id="61" name="Shape 59"/>
          <p:cNvSpPr/>
          <p:nvPr/>
        </p:nvSpPr>
        <p:spPr>
          <a:xfrm>
            <a:off x="8040624" y="3760013"/>
            <a:ext cx="3489960" cy="828446"/>
          </a:xfrm>
          <a:prstGeom prst="rect">
            <a:avLst/>
          </a:prstGeom>
          <a:solidFill>
            <a:srgbClr val="F7F7F7"/>
          </a:solidFill>
          <a:ln/>
        </p:spPr>
        <p:txBody>
          <a:bodyPr/>
          <a:p/>
        </p:txBody>
      </p:sp>
      <p:sp>
        <p:nvSpPr>
          <p:cNvPr id="62" name="Text 60"/>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3" name="Text 61"/>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$13,709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$17,296</a:t>
            </a:r>
            <a:endParaRPr lang="en-US" sz="1400" dirty="0"/>
          </a:p>
        </p:txBody>
      </p:sp>
      <p:sp>
        <p:nvSpPr>
          <p:cNvPr id="64" name="Text 62"/>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+$3,587</a:t>
            </a:r>
            <a:endParaRPr lang="en-US" sz="1600" dirty="0"/>
          </a:p>
        </p:txBody>
      </p:sp>
      <p:sp>
        <p:nvSpPr>
          <p:cNvPr id="65" name="Text 63"/>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6" name="Text 64"/>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$8,525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$12,004</a:t>
            </a:r>
            <a:endParaRPr lang="en-US" sz="1400" dirty="0"/>
          </a:p>
        </p:txBody>
      </p:sp>
      <p:sp>
        <p:nvSpPr>
          <p:cNvPr id="67" name="Text 65"/>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+$3,479</a:t>
            </a:r>
            <a:endParaRPr lang="en-US" sz="1600" dirty="0"/>
          </a:p>
        </p:txBody>
      </p:sp>
      <p:sp>
        <p:nvSpPr>
          <p:cNvPr id="68" name="Shape 66"/>
          <p:cNvSpPr/>
          <p:nvPr/>
        </p:nvSpPr>
        <p:spPr>
          <a:xfrm>
            <a:off x="8040624" y="5416906"/>
            <a:ext cx="3489960" cy="828446"/>
          </a:xfrm>
          <a:prstGeom prst="rect">
            <a:avLst/>
          </a:prstGeom>
          <a:solidFill>
            <a:srgbClr val="F7F7F7"/>
          </a:solidFill>
          <a:ln/>
        </p:spPr>
        <p:txBody>
          <a:bodyPr/>
          <a:p/>
        </p:txBody>
      </p:sp>
      <p:sp>
        <p:nvSpPr>
          <p:cNvPr id="69" name="Shape 67"/>
          <p:cNvSpPr/>
          <p:nvPr/>
        </p:nvSpPr>
        <p:spPr>
          <a:xfrm>
            <a:off x="11466576" y="5453482"/>
            <a:ext cx="64008" cy="755294"/>
          </a:xfrm>
          <a:prstGeom prst="rect">
            <a:avLst/>
          </a:prstGeom>
          <a:solidFill>
            <a:srgbClr val="2587C5"/>
          </a:solidFill>
          <a:ln/>
        </p:spPr>
        <p:txBody>
          <a:bodyPr/>
          <a:p/>
        </p:txBody>
      </p:sp>
      <p:sp>
        <p:nvSpPr>
          <p:cNvPr id="70" name="Text 68"/>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71" name="Text 69"/>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$14,024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$16,995</a:t>
            </a:r>
            <a:endParaRPr lang="en-US" sz="1400" dirty="0"/>
          </a:p>
        </p:txBody>
      </p:sp>
      <p:sp>
        <p:nvSpPr>
          <p:cNvPr id="72" name="Text 70"/>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+$2,972</a:t>
            </a:r>
            <a:endParaRPr lang="en-US" sz="1600" dirty="0"/>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Warranty Gross Profit</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Shape 4"/>
          <p:cNvSpPr/>
          <p:nvPr/>
        </p:nvSpPr>
        <p:spPr>
          <a:xfrm>
            <a:off x="658368" y="1371600"/>
            <a:ext cx="3489960" cy="45720"/>
          </a:xfrm>
          <a:prstGeom prst="rect">
            <a:avLst/>
          </a:prstGeom>
          <a:solidFill>
            <a:srgbClr val="12A566"/>
          </a:solidFill>
          <a:ln/>
        </p:spPr>
        <p:txBody>
          <a:bodyPr/>
          <a:p/>
        </p:txBody>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txBody>
          <a:bodyPr/>
          <a:p/>
        </p:txBody>
      </p:sp>
      <p:sp>
        <p:nvSpPr>
          <p:cNvPr id="10" name="Text 8"/>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$4.10M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$6.13M</a:t>
            </a:r>
            <a:endParaRPr lang="en-US" sz="1400" dirty="0"/>
          </a:p>
        </p:txBody>
      </p:sp>
      <p:sp>
        <p:nvSpPr>
          <p:cNvPr id="12" name="Text 10"/>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+49.5%</a:t>
            </a:r>
            <a:endParaRPr lang="en-US" sz="1600" dirty="0"/>
          </a:p>
        </p:txBody>
      </p:sp>
      <p:sp>
        <p:nvSpPr>
          <p:cNvPr id="13" name="Text 11"/>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$510K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$704K</a:t>
            </a:r>
            <a:endParaRPr lang="en-US" sz="1400" dirty="0"/>
          </a:p>
        </p:txBody>
      </p:sp>
      <p:sp>
        <p:nvSpPr>
          <p:cNvPr id="15" name="Text 13"/>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+38.0%</a:t>
            </a:r>
            <a:endParaRPr lang="en-US" sz="1600" dirty="0"/>
          </a:p>
        </p:txBody>
      </p:sp>
      <p:sp>
        <p:nvSpPr>
          <p:cNvPr id="16" name="Shape 14"/>
          <p:cNvSpPr/>
          <p:nvPr/>
        </p:nvSpPr>
        <p:spPr>
          <a:xfrm>
            <a:off x="658368" y="3760013"/>
            <a:ext cx="3489960" cy="828446"/>
          </a:xfrm>
          <a:prstGeom prst="rect">
            <a:avLst/>
          </a:prstGeom>
          <a:solidFill>
            <a:srgbClr val="F7F7F7"/>
          </a:solidFill>
          <a:ln/>
        </p:spPr>
        <p:txBody>
          <a:bodyPr/>
          <a:p/>
        </p:txBody>
      </p:sp>
      <p:sp>
        <p:nvSpPr>
          <p:cNvPr id="17" name="Text 15"/>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8" name="Text 16"/>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$3.24M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$4.23M</a:t>
            </a:r>
            <a:endParaRPr lang="en-US" sz="1400" dirty="0"/>
          </a:p>
        </p:txBody>
      </p:sp>
      <p:sp>
        <p:nvSpPr>
          <p:cNvPr id="19" name="Text 17"/>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+30.4%</a:t>
            </a:r>
            <a:endParaRPr lang="en-US" sz="1600" dirty="0"/>
          </a:p>
        </p:txBody>
      </p:sp>
      <p:sp>
        <p:nvSpPr>
          <p:cNvPr id="20" name="Text 18"/>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1" name="Text 19"/>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$443K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$572K</a:t>
            </a:r>
            <a:endParaRPr lang="en-US" sz="1400" dirty="0"/>
          </a:p>
        </p:txBody>
      </p:sp>
      <p:sp>
        <p:nvSpPr>
          <p:cNvPr id="22" name="Text 20"/>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+29.0%</a:t>
            </a:r>
            <a:endParaRPr lang="en-US" sz="1600" dirty="0"/>
          </a:p>
        </p:txBody>
      </p:sp>
      <p:sp>
        <p:nvSpPr>
          <p:cNvPr id="23" name="Shape 21"/>
          <p:cNvSpPr/>
          <p:nvPr/>
        </p:nvSpPr>
        <p:spPr>
          <a:xfrm>
            <a:off x="658368" y="5416906"/>
            <a:ext cx="3489960" cy="828446"/>
          </a:xfrm>
          <a:prstGeom prst="rect">
            <a:avLst/>
          </a:prstGeom>
          <a:solidFill>
            <a:srgbClr val="F7F7F7"/>
          </a:solidFill>
          <a:ln/>
        </p:spPr>
        <p:txBody>
          <a:bodyPr/>
          <a:p/>
        </p:txBody>
      </p:sp>
      <p:sp>
        <p:nvSpPr>
          <p:cNvPr id="24" name="Text 22"/>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5" name="Text 23"/>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$837K</a:t>
            </a:r>
            <a:endParaRPr lang="en-US" sz="1400" dirty="0"/>
          </a:p>
        </p:txBody>
      </p:sp>
      <p:sp>
        <p:nvSpPr>
          <p:cNvPr id="26" name="Text 24"/>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+25.4%</a:t>
            </a:r>
            <a:endParaRPr lang="en-US" sz="1600" dirty="0"/>
          </a:p>
        </p:txBody>
      </p:sp>
      <p:sp>
        <p:nvSpPr>
          <p:cNvPr id="27" name="Shape 25"/>
          <p:cNvSpPr/>
          <p:nvPr/>
        </p:nvSpPr>
        <p:spPr>
          <a:xfrm>
            <a:off x="4349496" y="1371600"/>
            <a:ext cx="3489960" cy="45720"/>
          </a:xfrm>
          <a:prstGeom prst="rect">
            <a:avLst/>
          </a:prstGeom>
          <a:solidFill>
            <a:srgbClr val="C2352F"/>
          </a:solidFill>
          <a:ln/>
        </p:spPr>
        <p:txBody>
          <a:bodyPr/>
          <a:p/>
        </p:txBody>
      </p:sp>
      <p:sp>
        <p:nvSpPr>
          <p:cNvPr id="28" name="Text 26"/>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29" name="Text 27"/>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0" name="Shape 28"/>
          <p:cNvSpPr/>
          <p:nvPr/>
        </p:nvSpPr>
        <p:spPr>
          <a:xfrm>
            <a:off x="4349496" y="2103120"/>
            <a:ext cx="3489960" cy="828446"/>
          </a:xfrm>
          <a:prstGeom prst="rect">
            <a:avLst/>
          </a:prstGeom>
          <a:solidFill>
            <a:srgbClr val="F7F7F7"/>
          </a:solidFill>
          <a:ln/>
        </p:spPr>
        <p:txBody>
          <a:bodyPr/>
          <a:p/>
        </p:txBody>
      </p:sp>
      <p:sp>
        <p:nvSpPr>
          <p:cNvPr id="31" name="Text 29"/>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2" name="Text 30"/>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$983K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$573K</a:t>
            </a:r>
            <a:endParaRPr lang="en-US" sz="1400" dirty="0"/>
          </a:p>
        </p:txBody>
      </p:sp>
      <p:sp>
        <p:nvSpPr>
          <p:cNvPr id="33" name="Text 31"/>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−41.7%</a:t>
            </a:r>
            <a:endParaRPr lang="en-US" sz="1600" dirty="0"/>
          </a:p>
        </p:txBody>
      </p:sp>
      <p:sp>
        <p:nvSpPr>
          <p:cNvPr id="34" name="Text 32"/>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5" name="Text 33"/>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$218K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$135K</a:t>
            </a:r>
            <a:endParaRPr lang="en-US" sz="1400" dirty="0"/>
          </a:p>
        </p:txBody>
      </p:sp>
      <p:sp>
        <p:nvSpPr>
          <p:cNvPr id="36" name="Text 34"/>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−38.1%</a:t>
            </a:r>
            <a:endParaRPr lang="en-US" sz="1600" dirty="0"/>
          </a:p>
        </p:txBody>
      </p:sp>
      <p:sp>
        <p:nvSpPr>
          <p:cNvPr id="37" name="Shape 35"/>
          <p:cNvSpPr/>
          <p:nvPr/>
        </p:nvSpPr>
        <p:spPr>
          <a:xfrm>
            <a:off x="4349496" y="3760013"/>
            <a:ext cx="3489960" cy="828446"/>
          </a:xfrm>
          <a:prstGeom prst="rect">
            <a:avLst/>
          </a:prstGeom>
          <a:solidFill>
            <a:srgbClr val="F7F7F7"/>
          </a:solidFill>
          <a:ln/>
        </p:spPr>
        <p:txBody>
          <a:bodyPr/>
          <a:p/>
        </p:txBody>
      </p:sp>
      <p:sp>
        <p:nvSpPr>
          <p:cNvPr id="38" name="Text 36"/>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39" name="Text 37"/>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$1.52M</a:t>
            </a:r>
            <a:endParaRPr lang="en-US" sz="1400" dirty="0"/>
          </a:p>
        </p:txBody>
      </p:sp>
      <p:sp>
        <p:nvSpPr>
          <p:cNvPr id="40" name="Text 38"/>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−35.0%</a:t>
            </a:r>
            <a:endParaRPr lang="en-US" sz="1600" dirty="0"/>
          </a:p>
        </p:txBody>
      </p:sp>
      <p:sp>
        <p:nvSpPr>
          <p:cNvPr id="41" name="Shape 39"/>
          <p:cNvSpPr/>
          <p:nvPr/>
        </p:nvSpPr>
        <p:spPr>
          <a:xfrm>
            <a:off x="7775448" y="4625035"/>
            <a:ext cx="64008" cy="755294"/>
          </a:xfrm>
          <a:prstGeom prst="rect">
            <a:avLst/>
          </a:prstGeom>
          <a:solidFill>
            <a:srgbClr val="2587C5"/>
          </a:solidFill>
          <a:ln/>
        </p:spPr>
        <p:txBody>
          <a:bodyPr/>
          <a:p/>
        </p:txBody>
      </p:sp>
      <p:sp>
        <p:nvSpPr>
          <p:cNvPr id="42" name="Text 40"/>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3" name="Text 41"/>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$1.68M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$1.10M</a:t>
            </a:r>
            <a:endParaRPr lang="en-US" sz="1400" dirty="0"/>
          </a:p>
        </p:txBody>
      </p:sp>
      <p:sp>
        <p:nvSpPr>
          <p:cNvPr id="44" name="Text 42"/>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−34.8%</a:t>
            </a:r>
            <a:endParaRPr lang="en-US" sz="1600" dirty="0"/>
          </a:p>
        </p:txBody>
      </p:sp>
      <p:sp>
        <p:nvSpPr>
          <p:cNvPr id="45" name="Shape 43"/>
          <p:cNvSpPr/>
          <p:nvPr/>
        </p:nvSpPr>
        <p:spPr>
          <a:xfrm>
            <a:off x="4349496" y="5416906"/>
            <a:ext cx="3489960" cy="828446"/>
          </a:xfrm>
          <a:prstGeom prst="rect">
            <a:avLst/>
          </a:prstGeom>
          <a:solidFill>
            <a:srgbClr val="F7F7F7"/>
          </a:solidFill>
          <a:ln/>
        </p:spPr>
        <p:txBody>
          <a:bodyPr/>
          <a:p/>
        </p:txBody>
      </p:sp>
      <p:sp>
        <p:nvSpPr>
          <p:cNvPr id="46" name="Text 44"/>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7" name="Text 45"/>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$567K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$403K</a:t>
            </a:r>
            <a:endParaRPr lang="en-US" sz="1400" dirty="0"/>
          </a:p>
        </p:txBody>
      </p:sp>
      <p:sp>
        <p:nvSpPr>
          <p:cNvPr id="48" name="Text 46"/>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−28.9%</a:t>
            </a:r>
            <a:endParaRPr lang="en-US" sz="1600" dirty="0"/>
          </a:p>
        </p:txBody>
      </p:sp>
      <p:sp>
        <p:nvSpPr>
          <p:cNvPr id="49" name="Shape 47"/>
          <p:cNvSpPr/>
          <p:nvPr/>
        </p:nvSpPr>
        <p:spPr>
          <a:xfrm>
            <a:off x="8040624" y="1371600"/>
            <a:ext cx="3489960" cy="45720"/>
          </a:xfrm>
          <a:prstGeom prst="rect">
            <a:avLst/>
          </a:prstGeom>
          <a:solidFill>
            <a:srgbClr val="2587C5"/>
          </a:solidFill>
          <a:ln/>
        </p:spPr>
        <p:txBody>
          <a:bodyPr/>
          <a:p/>
        </p:txBody>
      </p:sp>
      <p:sp>
        <p:nvSpPr>
          <p:cNvPr id="50" name="Text 4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1" name="Text 49"/>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this year</a:t>
            </a:r>
            <a:endParaRPr lang="en-US" sz="1200" dirty="0"/>
          </a:p>
        </p:txBody>
      </p:sp>
      <p:sp>
        <p:nvSpPr>
          <p:cNvPr id="52" name="Shape 50"/>
          <p:cNvSpPr/>
          <p:nvPr/>
        </p:nvSpPr>
        <p:spPr>
          <a:xfrm>
            <a:off x="8040624" y="2103120"/>
            <a:ext cx="3489960" cy="828446"/>
          </a:xfrm>
          <a:prstGeom prst="rect">
            <a:avLst/>
          </a:prstGeom>
          <a:solidFill>
            <a:srgbClr val="F7F7F7"/>
          </a:solidFill>
          <a:ln/>
        </p:spPr>
        <p:txBody>
          <a:bodyPr/>
          <a:p/>
        </p:txBody>
      </p:sp>
      <p:sp>
        <p:nvSpPr>
          <p:cNvPr id="53" name="Shape 51"/>
          <p:cNvSpPr/>
          <p:nvPr/>
        </p:nvSpPr>
        <p:spPr>
          <a:xfrm>
            <a:off x="11466576" y="2139696"/>
            <a:ext cx="64008" cy="755294"/>
          </a:xfrm>
          <a:prstGeom prst="rect">
            <a:avLst/>
          </a:prstGeom>
          <a:solidFill>
            <a:srgbClr val="2587C5"/>
          </a:solidFill>
          <a:ln/>
        </p:spPr>
        <p:txBody>
          <a:bodyPr/>
          <a:p/>
        </p:txBody>
      </p:sp>
      <p:sp>
        <p:nvSpPr>
          <p:cNvPr id="54" name="Text 52"/>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5" name="Text 53"/>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$156K</a:t>
            </a:r>
            <a:endParaRPr lang="en-US" sz="1400" dirty="0"/>
          </a:p>
        </p:txBody>
      </p:sp>
      <p:sp>
        <p:nvSpPr>
          <p:cNvPr id="56" name="Text 54"/>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+57.0%</a:t>
            </a:r>
            <a:endParaRPr lang="en-US" sz="1600" dirty="0"/>
          </a:p>
        </p:txBody>
      </p:sp>
      <p:sp>
        <p:nvSpPr>
          <p:cNvPr id="57" name="Text 55"/>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8" name="Text 56"/>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$163K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$244K</a:t>
            </a:r>
            <a:endParaRPr lang="en-US" sz="1400" dirty="0"/>
          </a:p>
        </p:txBody>
      </p:sp>
      <p:sp>
        <p:nvSpPr>
          <p:cNvPr id="59" name="Text 57"/>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+49.6%</a:t>
            </a:r>
            <a:endParaRPr lang="en-US" sz="1600" dirty="0"/>
          </a:p>
        </p:txBody>
      </p:sp>
      <p:sp>
        <p:nvSpPr>
          <p:cNvPr id="60" name="Shape 58"/>
          <p:cNvSpPr/>
          <p:nvPr/>
        </p:nvSpPr>
        <p:spPr>
          <a:xfrm>
            <a:off x="8040624" y="3760013"/>
            <a:ext cx="3489960" cy="828446"/>
          </a:xfrm>
          <a:prstGeom prst="rect">
            <a:avLst/>
          </a:prstGeom>
          <a:solidFill>
            <a:srgbClr val="F7F7F7"/>
          </a:solidFill>
          <a:ln/>
        </p:spPr>
        <p:txBody>
          <a:bodyPr/>
          <a:p/>
        </p:txBody>
      </p:sp>
      <p:sp>
        <p:nvSpPr>
          <p:cNvPr id="61" name="Text 59"/>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2" name="Text 60"/>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$135K</a:t>
            </a:r>
            <a:endParaRPr lang="en-US" sz="1400" dirty="0"/>
          </a:p>
        </p:txBody>
      </p:sp>
      <p:sp>
        <p:nvSpPr>
          <p:cNvPr id="63" name="Text 61"/>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+41.6%</a:t>
            </a:r>
            <a:endParaRPr lang="en-US" sz="1600" dirty="0"/>
          </a:p>
        </p:txBody>
      </p:sp>
      <p:sp>
        <p:nvSpPr>
          <p:cNvPr id="64" name="Text 62"/>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5" name="Text 63"/>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$139K</a:t>
            </a:r>
            <a:endParaRPr lang="en-US" sz="1400" dirty="0"/>
          </a:p>
        </p:txBody>
      </p:sp>
      <p:sp>
        <p:nvSpPr>
          <p:cNvPr id="66" name="Text 64"/>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+38.2%</a:t>
            </a:r>
            <a:endParaRPr lang="en-US" sz="1600" dirty="0"/>
          </a:p>
        </p:txBody>
      </p:sp>
      <p:sp>
        <p:nvSpPr>
          <p:cNvPr id="67" name="Shape 65"/>
          <p:cNvSpPr/>
          <p:nvPr/>
        </p:nvSpPr>
        <p:spPr>
          <a:xfrm>
            <a:off x="8040624" y="5416906"/>
            <a:ext cx="3489960" cy="828446"/>
          </a:xfrm>
          <a:prstGeom prst="rect">
            <a:avLst/>
          </a:prstGeom>
          <a:solidFill>
            <a:srgbClr val="F7F7F7"/>
          </a:solidFill>
          <a:ln/>
        </p:spPr>
        <p:txBody>
          <a:bodyPr/>
          <a:p/>
        </p:txBody>
      </p:sp>
      <p:sp>
        <p:nvSpPr>
          <p:cNvPr id="68" name="Text 66"/>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9" name="Text 67"/>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$125K</a:t>
            </a:r>
            <a:endParaRPr lang="en-US" sz="1400" dirty="0"/>
          </a:p>
        </p:txBody>
      </p:sp>
      <p:sp>
        <p:nvSpPr>
          <p:cNvPr id="70" name="Text 68"/>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+32.4%</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2026-10-27T18:05:13Z</dcterms:created>
  <dcterms:modified xsi:type="dcterms:W3CDTF">2026-10-27T18:05:13Z</dcterms:modified>
</cp:coreProperties>
</file>