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95" r:id="rId146"/>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46" Type="http://schemas.openxmlformats.org/officeDocument/2006/relationships/slide" Target="slides/slide1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Standard service-department definitions. On the store slides, proficiency = Qlik hours flagged (sold hours) ÷ ADP regular + overtime hours, which stand in for available hours. Efficiency and productivity need DMS time clocked to repair orders, which this data does not include, so they are defined here but not measured. The example is illustrative, not a store or technician.PLACE: right after the Technician Proficiency explainer, before How We Measured It (Noah, Oct 27).</a:t>
            </a:r>
          </a:p>
          <a:p>
            <a:r>
              <a:t>Talk track: walk the example left to right. The tech was on repair orders 6 of 8 hours (75% productive) and flagged 7.5 hours in those 6 (125% efficient), so 7.5 flagged hours for 8 available (93.75% proficient). Proficiency is the one we measure: 85% target, group 94.7%. 'Productivity' here is the technician measure, not the Fixed Ops Productivity section (gross and ROs per employee).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Efficiency and Productivity</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713232" y="1463040"/>
            <a:ext cx="3453384" cy="3063240"/>
          </a:xfrm>
          <a:prstGeom prst="rect">
            <a:avLst/>
          </a:prstGeom>
          <a:solidFill>
            <a:srgbClr val="F7F7F7"/>
          </a:solidFill>
          <a:ln/>
        </p:spPr>
        <p:txBody>
          <a:bodyPr/>
          <a:p/>
        </p:txBody>
      </p:sp>
      <p:sp>
        <p:nvSpPr>
          <p:cNvPr id="7" name="Shape 5"/>
          <p:cNvSpPr/>
          <p:nvPr/>
        </p:nvSpPr>
        <p:spPr>
          <a:xfrm>
            <a:off x="713232" y="1463040"/>
            <a:ext cx="3453384" cy="64008"/>
          </a:xfrm>
          <a:prstGeom prst="rect">
            <a:avLst/>
          </a:prstGeom>
          <a:solidFill>
            <a:srgbClr val="2587C5"/>
          </a:solidFill>
          <a:ln/>
        </p:spPr>
        <p:txBody>
          <a:bodyPr/>
          <a:p/>
        </p:txBody>
      </p:sp>
      <p:sp>
        <p:nvSpPr>
          <p:cNvPr id="8" name="Text 6"/>
          <p:cNvSpPr txBox="1"/>
          <p:nvPr/>
        </p:nvSpPr>
        <p:spPr>
          <a:xfrm>
            <a:off x="896112"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PRODUCTIVITY</a:t>
            </a:r>
            <a:endParaRPr lang="en-US" sz="1400" dirty="0"/>
          </a:p>
        </p:txBody>
      </p:sp>
      <p:sp>
        <p:nvSpPr>
          <p:cNvPr id="9" name="Text 7"/>
          <p:cNvSpPr txBox="1"/>
          <p:nvPr/>
        </p:nvSpPr>
        <p:spPr>
          <a:xfrm>
            <a:off x="896112"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clocked to repair orders ÷ available hours</a:t>
            </a:r>
            <a:endParaRPr lang="en-US" sz="2000" dirty="0"/>
          </a:p>
        </p:txBody>
      </p:sp>
      <p:sp>
        <p:nvSpPr>
          <p:cNvPr id="10" name="Text 8"/>
          <p:cNvSpPr txBox="1"/>
          <p:nvPr/>
        </p:nvSpPr>
        <p:spPr>
          <a:xfrm>
            <a:off x="896112"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much of the technician's available time was spent on repair orders?</a:t>
            </a:r>
            <a:endParaRPr lang="en-US" sz="1600" dirty="0"/>
          </a:p>
        </p:txBody>
      </p:sp>
      <p:sp>
        <p:nvSpPr>
          <p:cNvPr id="11" name="Shape 9"/>
          <p:cNvSpPr/>
          <p:nvPr/>
        </p:nvSpPr>
        <p:spPr>
          <a:xfrm>
            <a:off x="896112" y="3858768"/>
            <a:ext cx="3087624" cy="10973"/>
          </a:xfrm>
          <a:prstGeom prst="rect">
            <a:avLst/>
          </a:prstGeom>
          <a:solidFill>
            <a:srgbClr val="D9D9D9"/>
          </a:solidFill>
          <a:ln/>
        </p:spPr>
        <p:txBody>
          <a:bodyPr/>
          <a:p/>
        </p:txBody>
      </p:sp>
      <p:sp>
        <p:nvSpPr>
          <p:cNvPr id="12" name="Text 10"/>
          <p:cNvSpPr txBox="1"/>
          <p:nvPr/>
        </p:nvSpPr>
        <p:spPr>
          <a:xfrm>
            <a:off x="896112"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6 ÷ 8 = 75%</a:t>
            </a:r>
            <a:endParaRPr lang="en-US" sz="1800" dirty="0"/>
          </a:p>
        </p:txBody>
      </p:sp>
      <p:sp>
        <p:nvSpPr>
          <p:cNvPr id="13" name="Shape 11"/>
          <p:cNvSpPr/>
          <p:nvPr/>
        </p:nvSpPr>
        <p:spPr>
          <a:xfrm>
            <a:off x="4367784" y="1463040"/>
            <a:ext cx="3453384" cy="3063240"/>
          </a:xfrm>
          <a:prstGeom prst="rect">
            <a:avLst/>
          </a:prstGeom>
          <a:solidFill>
            <a:srgbClr val="F7F7F7"/>
          </a:solidFill>
          <a:ln/>
        </p:spPr>
        <p:txBody>
          <a:bodyPr/>
          <a:p/>
        </p:txBody>
      </p:sp>
      <p:sp>
        <p:nvSpPr>
          <p:cNvPr id="14" name="Shape 12"/>
          <p:cNvSpPr/>
          <p:nvPr/>
        </p:nvSpPr>
        <p:spPr>
          <a:xfrm>
            <a:off x="4367784" y="1463040"/>
            <a:ext cx="3453384" cy="64008"/>
          </a:xfrm>
          <a:prstGeom prst="rect">
            <a:avLst/>
          </a:prstGeom>
          <a:solidFill>
            <a:srgbClr val="2587C5"/>
          </a:solidFill>
          <a:ln/>
        </p:spPr>
        <p:txBody>
          <a:bodyPr/>
          <a:p/>
        </p:txBody>
      </p:sp>
      <p:sp>
        <p:nvSpPr>
          <p:cNvPr id="15" name="Text 13"/>
          <p:cNvSpPr txBox="1"/>
          <p:nvPr/>
        </p:nvSpPr>
        <p:spPr>
          <a:xfrm>
            <a:off x="4550664"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EFFICIENCY</a:t>
            </a:r>
            <a:endParaRPr lang="en-US" sz="1400" dirty="0"/>
          </a:p>
        </p:txBody>
      </p:sp>
      <p:sp>
        <p:nvSpPr>
          <p:cNvPr id="16" name="Text 14"/>
          <p:cNvSpPr txBox="1"/>
          <p:nvPr/>
        </p:nvSpPr>
        <p:spPr>
          <a:xfrm>
            <a:off x="4550664"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hours clocked to repair orders</a:t>
            </a:r>
            <a:endParaRPr lang="en-US" sz="2000" dirty="0"/>
          </a:p>
        </p:txBody>
      </p:sp>
      <p:sp>
        <p:nvSpPr>
          <p:cNvPr id="17" name="Text 15"/>
          <p:cNvSpPr txBox="1"/>
          <p:nvPr/>
        </p:nvSpPr>
        <p:spPr>
          <a:xfrm>
            <a:off x="4550664"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for each hour clocked to repair orders?</a:t>
            </a:r>
            <a:endParaRPr lang="en-US" sz="1600" dirty="0"/>
          </a:p>
        </p:txBody>
      </p:sp>
      <p:sp>
        <p:nvSpPr>
          <p:cNvPr id="18" name="Shape 16"/>
          <p:cNvSpPr/>
          <p:nvPr/>
        </p:nvSpPr>
        <p:spPr>
          <a:xfrm>
            <a:off x="4550664" y="3858768"/>
            <a:ext cx="3087624" cy="10973"/>
          </a:xfrm>
          <a:prstGeom prst="rect">
            <a:avLst/>
          </a:prstGeom>
          <a:solidFill>
            <a:srgbClr val="D9D9D9"/>
          </a:solidFill>
          <a:ln/>
        </p:spPr>
        <p:txBody>
          <a:bodyPr/>
          <a:p/>
        </p:txBody>
      </p:sp>
      <p:sp>
        <p:nvSpPr>
          <p:cNvPr id="19" name="Text 17"/>
          <p:cNvSpPr txBox="1"/>
          <p:nvPr/>
        </p:nvSpPr>
        <p:spPr>
          <a:xfrm>
            <a:off x="4550664"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6 = 125%</a:t>
            </a:r>
            <a:endParaRPr lang="en-US" sz="1800" dirty="0"/>
          </a:p>
        </p:txBody>
      </p:sp>
      <p:sp>
        <p:nvSpPr>
          <p:cNvPr id="20" name="Shape 18"/>
          <p:cNvSpPr/>
          <p:nvPr/>
        </p:nvSpPr>
        <p:spPr>
          <a:xfrm>
            <a:off x="8022336" y="1463040"/>
            <a:ext cx="3453384" cy="3063240"/>
          </a:xfrm>
          <a:prstGeom prst="rect">
            <a:avLst/>
          </a:prstGeom>
          <a:solidFill>
            <a:srgbClr val="F7F7F7"/>
          </a:solidFill>
          <a:ln/>
        </p:spPr>
        <p:txBody>
          <a:bodyPr/>
          <a:p/>
        </p:txBody>
      </p:sp>
      <p:sp>
        <p:nvSpPr>
          <p:cNvPr id="21" name="Shape 19"/>
          <p:cNvSpPr/>
          <p:nvPr/>
        </p:nvSpPr>
        <p:spPr>
          <a:xfrm>
            <a:off x="8022336" y="1463040"/>
            <a:ext cx="3453384" cy="64008"/>
          </a:xfrm>
          <a:prstGeom prst="rect">
            <a:avLst/>
          </a:prstGeom>
          <a:solidFill>
            <a:srgbClr val="2587C5"/>
          </a:solidFill>
          <a:ln/>
        </p:spPr>
        <p:txBody>
          <a:bodyPr/>
          <a:p/>
        </p:txBody>
      </p:sp>
      <p:sp>
        <p:nvSpPr>
          <p:cNvPr id="22" name="Text 20"/>
          <p:cNvSpPr txBox="1"/>
          <p:nvPr/>
        </p:nvSpPr>
        <p:spPr>
          <a:xfrm>
            <a:off x="8205216"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PROFICIENCY</a:t>
            </a:r>
            <a:endParaRPr lang="en-US" sz="1400" dirty="0"/>
          </a:p>
        </p:txBody>
      </p:sp>
      <p:sp>
        <p:nvSpPr>
          <p:cNvPr id="23" name="Text 21"/>
          <p:cNvSpPr txBox="1"/>
          <p:nvPr/>
        </p:nvSpPr>
        <p:spPr>
          <a:xfrm>
            <a:off x="8205216"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available hours</a:t>
            </a:r>
            <a:endParaRPr lang="en-US" sz="2000" dirty="0"/>
          </a:p>
        </p:txBody>
      </p:sp>
      <p:sp>
        <p:nvSpPr>
          <p:cNvPr id="24" name="Text 22"/>
          <p:cNvSpPr txBox="1"/>
          <p:nvPr/>
        </p:nvSpPr>
        <p:spPr>
          <a:xfrm>
            <a:off x="8205216"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compared with their total available time?</a:t>
            </a:r>
            <a:endParaRPr lang="en-US" sz="1600" dirty="0"/>
          </a:p>
        </p:txBody>
      </p:sp>
      <p:sp>
        <p:nvSpPr>
          <p:cNvPr id="25" name="Shape 23"/>
          <p:cNvSpPr/>
          <p:nvPr/>
        </p:nvSpPr>
        <p:spPr>
          <a:xfrm>
            <a:off x="8205216" y="3858768"/>
            <a:ext cx="3087624" cy="10973"/>
          </a:xfrm>
          <a:prstGeom prst="rect">
            <a:avLst/>
          </a:prstGeom>
          <a:solidFill>
            <a:srgbClr val="D9D9D9"/>
          </a:solidFill>
          <a:ln/>
        </p:spPr>
        <p:txBody>
          <a:bodyPr/>
          <a:p/>
        </p:txBody>
      </p:sp>
      <p:sp>
        <p:nvSpPr>
          <p:cNvPr id="26" name="Text 24"/>
          <p:cNvSpPr txBox="1"/>
          <p:nvPr/>
        </p:nvSpPr>
        <p:spPr>
          <a:xfrm>
            <a:off x="8205216"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8 = 93.75%</a:t>
            </a:r>
            <a:endParaRPr lang="en-US" sz="1800" dirty="0"/>
          </a:p>
        </p:txBody>
      </p:sp>
      <p:sp>
        <p:nvSpPr>
          <p:cNvPr id="27" name="Shape 25"/>
          <p:cNvSpPr/>
          <p:nvPr/>
        </p:nvSpPr>
        <p:spPr>
          <a:xfrm>
            <a:off x="713232" y="4754880"/>
            <a:ext cx="10762488" cy="1261872"/>
          </a:xfrm>
          <a:prstGeom prst="rect">
            <a:avLst/>
          </a:prstGeom>
          <a:solidFill>
            <a:srgbClr val="EDF4FA"/>
          </a:solidFill>
          <a:ln/>
        </p:spPr>
        <p:txBody>
          <a:bodyPr/>
          <a:p/>
        </p:txBody>
      </p:sp>
      <p:sp>
        <p:nvSpPr>
          <p:cNvPr id="28" name="Text 26"/>
          <p:cNvSpPr txBox="1"/>
          <p:nvPr/>
        </p:nvSpPr>
        <p:spPr>
          <a:xfrm>
            <a:off x="896112" y="4901184"/>
            <a:ext cx="10396728" cy="256032"/>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PUTTING IT TOGETHER: ONE TECHNICIAN, ONE DAY</a:t>
            </a:r>
            <a:endParaRPr lang="en-US" sz="1400" dirty="0"/>
          </a:p>
        </p:txBody>
      </p:sp>
      <p:sp>
        <p:nvSpPr>
          <p:cNvPr id="29" name="Text 27"/>
          <p:cNvSpPr txBox="1"/>
          <p:nvPr/>
        </p:nvSpPr>
        <p:spPr>
          <a:xfrm>
            <a:off x="896112" y="5212080"/>
            <a:ext cx="10396728" cy="329184"/>
          </a:xfrm>
          <a:prstGeom prst="rect">
            <a:avLst/>
          </a:prstGeom>
          <a:noFill/>
          <a:ln/>
        </p:spPr>
        <p:txBody>
          <a:bodyPr wrap="square" lIns="0" tIns="0" rIns="0" bIns="0" rtlCol="0" anchor="ctr"/>
          <a:lstStyle/>
          <a:p>
            <a:pPr indent="0" marL="0">
              <a:buNone/>
            </a:pPr>
            <a:r>
              <a:rPr lang="en-US" sz="1800" dirty="0">
                <a:solidFill>
                  <a:srgbClr val="1A1A1A"/>
                </a:solidFill>
                <a:latin typeface="Inter" pitchFamily="34" charset="0"/>
                <a:ea typeface="Inter" pitchFamily="34" charset="-122"/>
                <a:cs typeface="Inter" pitchFamily="34" charset="-120"/>
              </a:rPr>
              <a:t>A technician has 8 available hours, clocks 6 hours to repair orders and flags 7.5 hours.</a:t>
            </a:r>
            <a:endParaRPr lang="en-US" sz="1800" dirty="0"/>
          </a:p>
        </p:txBody>
      </p:sp>
      <p:sp>
        <p:nvSpPr>
          <p:cNvPr id="30" name="Text 28"/>
          <p:cNvSpPr txBox="1"/>
          <p:nvPr/>
        </p:nvSpPr>
        <p:spPr>
          <a:xfrm>
            <a:off x="896112" y="5577840"/>
            <a:ext cx="10396728" cy="329184"/>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Productivity × efficiency = proficiency:  75% × 125% = 93.75%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2026-10-27T18:05:25Z</dcterms:created>
  <dcterms:modified xsi:type="dcterms:W3CDTF">2026-10-27T18:05:25Z</dcterms:modified>
</cp:coreProperties>
</file>