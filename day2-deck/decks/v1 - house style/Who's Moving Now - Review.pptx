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0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chart60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1.xml" ContentType="application/vnd.openxmlformats-officedocument.drawingml.chart+xml"/>
  <Override PartName="/ppt/charts/chart62.xml" ContentType="application/vnd.openxmlformats-officedocument.drawingml.chart+xml"/>
  <Override PartName="/ppt/charts/chart63.xml" ContentType="application/vnd.openxmlformats-officedocument.drawingml.chart+xml"/>
  <Override PartName="/ppt/charts/chart64.xml" ContentType="application/vnd.openxmlformats-officedocument.drawingml.chart+xml"/>
  <Override PartName="/ppt/charts/chart65.xml" ContentType="application/vnd.openxmlformats-officedocument.drawingml.chart+xml"/>
  <Override PartName="/ppt/charts/chart66.xml" ContentType="application/vnd.openxmlformats-officedocument.drawingml.chart+xml"/>
  <Override PartName="/ppt/charts/chart67.xml" ContentType="application/vnd.openxmlformats-officedocument.drawingml.chart+xml"/>
  <Override PartName="/ppt/charts/chart68.xml" ContentType="application/vnd.openxmlformats-officedocument.drawingml.chart+xml"/>
  <Override PartName="/ppt/charts/chart69.xml" ContentType="application/vnd.openxmlformats-officedocument.drawingml.chart+xml"/>
  <Override PartName="/ppt/charts/chart7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1.xml" ContentType="application/vnd.openxmlformats-officedocument.drawingml.chart+xml"/>
  <Override PartName="/ppt/charts/chart72.xml" ContentType="application/vnd.openxmlformats-officedocument.drawingml.chart+xml"/>
  <Override PartName="/ppt/charts/chart73.xml" ContentType="application/vnd.openxmlformats-officedocument.drawingml.chart+xml"/>
  <Override PartName="/ppt/charts/chart74.xml" ContentType="application/vnd.openxmlformats-officedocument.drawingml.chart+xml"/>
  <Override PartName="/ppt/charts/chart75.xml" ContentType="application/vnd.openxmlformats-officedocument.drawingml.chart+xml"/>
  <Override PartName="/ppt/charts/chart76.xml" ContentType="application/vnd.openxmlformats-officedocument.drawingml.chart+xml"/>
  <Override PartName="/ppt/charts/chart77.xml" ContentType="application/vnd.openxmlformats-officedocument.drawingml.chart+xml"/>
  <Override PartName="/ppt/charts/chart78.xml" ContentType="application/vnd.openxmlformats-officedocument.drawingml.chart+xml"/>
  <Override PartName="/ppt/charts/chart79.xml" ContentType="application/vnd.openxmlformats-officedocument.drawingml.chart+xml"/>
  <Override PartName="/ppt/charts/chart80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1.xml" ContentType="application/vnd.openxmlformats-officedocument.drawingml.chart+xml"/>
  <Override PartName="/ppt/charts/chart82.xml" ContentType="application/vnd.openxmlformats-officedocument.drawingml.chart+xml"/>
  <Override PartName="/ppt/charts/chart83.xml" ContentType="application/vnd.openxmlformats-officedocument.drawingml.chart+xml"/>
  <Override PartName="/ppt/charts/chart84.xml" ContentType="application/vnd.openxmlformats-officedocument.drawingml.chart+xml"/>
  <Override PartName="/ppt/charts/chart85.xml" ContentType="application/vnd.openxmlformats-officedocument.drawingml.chart+xml"/>
  <Override PartName="/ppt/charts/chart86.xml" ContentType="application/vnd.openxmlformats-officedocument.drawingml.chart+xml"/>
  <Override PartName="/ppt/charts/chart87.xml" ContentType="application/vnd.openxmlformats-officedocument.drawingml.chart+xml"/>
  <Override PartName="/ppt/charts/chart88.xml" ContentType="application/vnd.openxmlformats-officedocument.drawingml.chart+xml"/>
  <Override PartName="/ppt/charts/chart89.xml" ContentType="application/vnd.openxmlformats-officedocument.drawingml.chart+xml"/>
  <Override PartName="/ppt/charts/chart9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91.xml" ContentType="application/vnd.openxmlformats-officedocument.drawingml.chart+xml"/>
  <Override PartName="/ppt/charts/chart92.xml" ContentType="application/vnd.openxmlformats-officedocument.drawingml.chart+xml"/>
  <Override PartName="/ppt/charts/chart93.xml" ContentType="application/vnd.openxmlformats-officedocument.drawingml.chart+xml"/>
  <Override PartName="/ppt/charts/chart94.xml" ContentType="application/vnd.openxmlformats-officedocument.drawingml.chart+xml"/>
  <Override PartName="/ppt/charts/chart95.xml" ContentType="application/vnd.openxmlformats-officedocument.drawingml.chart+xml"/>
  <Override PartName="/ppt/charts/chart96.xml" ContentType="application/vnd.openxmlformats-officedocument.drawingml.chart+xml"/>
  <Override PartName="/ppt/charts/chart97.xml" ContentType="application/vnd.openxmlformats-officedocument.drawingml.chart+xml"/>
  <Override PartName="/ppt/charts/chart98.xml" ContentType="application/vnd.openxmlformats-officedocument.drawingml.chart+xml"/>
  <Override PartName="/ppt/charts/chart99.xml" ContentType="application/vnd.openxmlformats-officedocument.drawingml.chart+xml"/>
  <Override PartName="/ppt/charts/chart100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4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_rels/chart5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.xlsx"/></Relationships>
</file>

<file path=ppt/charts/_rels/chart5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.xlsx"/></Relationships>
</file>

<file path=ppt/charts/_rels/chart5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3.xlsx"/></Relationships>
</file>

<file path=ppt/charts/_rels/chart5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4.xlsx"/></Relationships>
</file>

<file path=ppt/charts/_rels/chart5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5.xlsx"/></Relationships>
</file>

<file path=ppt/charts/_rels/chart5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6.xlsx"/></Relationships>
</file>

<file path=ppt/charts/_rels/chart5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7.xlsx"/></Relationships>
</file>

<file path=ppt/charts/_rels/chart5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8.xlsx"/></Relationships>
</file>

<file path=ppt/charts/_rels/chart5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9.xlsx"/></Relationships>
</file>

<file path=ppt/charts/_rels/chart6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0.xlsx"/></Relationships>
</file>

<file path=ppt/charts/_rels/chart6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1.xlsx"/></Relationships>
</file>

<file path=ppt/charts/_rels/chart6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2.xlsx"/></Relationships>
</file>

<file path=ppt/charts/_rels/chart6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3.xlsx"/></Relationships>
</file>

<file path=ppt/charts/_rels/chart6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4.xlsx"/></Relationships>
</file>

<file path=ppt/charts/_rels/chart6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5.xlsx"/></Relationships>
</file>

<file path=ppt/charts/_rels/chart6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6.xlsx"/></Relationships>
</file>

<file path=ppt/charts/_rels/chart6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7.xlsx"/></Relationships>
</file>

<file path=ppt/charts/_rels/chart6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8.xlsx"/></Relationships>
</file>

<file path=ppt/charts/_rels/chart6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9.xlsx"/></Relationships>
</file>

<file path=ppt/charts/_rels/chart7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0.xlsx"/></Relationships>
</file>

<file path=ppt/charts/_rels/chart7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1.xlsx"/></Relationships>
</file>

<file path=ppt/charts/_rels/chart7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2.xlsx"/></Relationships>
</file>

<file path=ppt/charts/_rels/chart7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3.xlsx"/></Relationships>
</file>

<file path=ppt/charts/_rels/chart7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4.xlsx"/></Relationships>
</file>

<file path=ppt/charts/_rels/chart7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5.xlsx"/></Relationships>
</file>

<file path=ppt/charts/_rels/chart7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6.xlsx"/></Relationships>
</file>

<file path=ppt/charts/_rels/chart7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7.xlsx"/></Relationships>
</file>

<file path=ppt/charts/_rels/chart7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8.xlsx"/></Relationships>
</file>

<file path=ppt/charts/_rels/chart7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9.xlsx"/></Relationships>
</file>

<file path=ppt/charts/_rels/chart8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0.xlsx"/></Relationships>
</file>

<file path=ppt/charts/_rels/chart8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1.xlsx"/></Relationships>
</file>

<file path=ppt/charts/_rels/chart8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2.xlsx"/></Relationships>
</file>

<file path=ppt/charts/_rels/chart8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3.xlsx"/></Relationships>
</file>

<file path=ppt/charts/_rels/chart8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4.xlsx"/></Relationships>
</file>

<file path=ppt/charts/_rels/chart8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5.xlsx"/></Relationships>
</file>

<file path=ppt/charts/_rels/chart8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6.xlsx"/></Relationships>
</file>

<file path=ppt/charts/_rels/chart8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7.xlsx"/></Relationships>
</file>

<file path=ppt/charts/_rels/chart8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8.xlsx"/></Relationships>
</file>

<file path=ppt/charts/_rels/chart8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9.xlsx"/></Relationships>
</file>

<file path=ppt/charts/_rels/chart9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0.xlsx"/></Relationships>
</file>

<file path=ppt/charts/_rels/chart9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1.xlsx"/></Relationships>
</file>

<file path=ppt/charts/_rels/chart9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2.xlsx"/></Relationships>
</file>

<file path=ppt/charts/_rels/chart9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3.xlsx"/></Relationships>
</file>

<file path=ppt/charts/_rels/chart9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4.xlsx"/></Relationships>
</file>

<file path=ppt/charts/_rels/chart9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5.xlsx"/></Relationships>
</file>

<file path=ppt/charts/_rels/chart9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6.xlsx"/></Relationships>
</file>

<file path=ppt/charts/_rels/chart9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7.xlsx"/></Relationships>
</file>

<file path=ppt/charts/_rels/chart9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8.xlsx"/></Relationships>
</file>

<file path=ppt/charts/_rels/chart9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9.xlsx"/></Relationships>
</file>

<file path=ppt/charts/_rels/chart10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MAZDA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140105.4</c:v>
                </c:pt>
                <c:pt idx="1">
                  <c:v>129994.04000000001</c:v>
                </c:pt>
                <c:pt idx="2">
                  <c:v>194655.32</c:v>
                </c:pt>
                <c:pt idx="3">
                  <c:v>176169.16</c:v>
                </c:pt>
                <c:pt idx="4">
                  <c:v>174810.36</c:v>
                </c:pt>
                <c:pt idx="5">
                  <c:v>155900.23</c:v>
                </c:pt>
                <c:pt idx="6">
                  <c:v>168039.07</c:v>
                </c:pt>
                <c:pt idx="7">
                  <c:v>230368.93</c:v>
                </c:pt>
                <c:pt idx="8">
                  <c:v>227165.53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5425.1635"/>
          <c:min val="114937.806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KIA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86980.36</c:v>
                </c:pt>
                <c:pt idx="1">
                  <c:v>82836.39</c:v>
                </c:pt>
                <c:pt idx="2">
                  <c:v>86106.14</c:v>
                </c:pt>
                <c:pt idx="3">
                  <c:v>91223.19</c:v>
                </c:pt>
                <c:pt idx="4">
                  <c:v>82915.06</c:v>
                </c:pt>
                <c:pt idx="5">
                  <c:v>95470.58</c:v>
                </c:pt>
                <c:pt idx="6">
                  <c:v>121071.78</c:v>
                </c:pt>
                <c:pt idx="7">
                  <c:v>113797.79000000001</c:v>
                </c:pt>
                <c:pt idx="8">
                  <c:v>101183.02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6807.0885"/>
          <c:min val="77101.081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CDJR POST FALLS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236533.56</c:v>
                </c:pt>
                <c:pt idx="1">
                  <c:v>198065</c:v>
                </c:pt>
                <c:pt idx="2">
                  <c:v>220283.83000000002</c:v>
                </c:pt>
                <c:pt idx="3">
                  <c:v>202377.06</c:v>
                </c:pt>
                <c:pt idx="4">
                  <c:v>210946.1</c:v>
                </c:pt>
                <c:pt idx="5">
                  <c:v>234862.74</c:v>
                </c:pt>
                <c:pt idx="6">
                  <c:v>300394.59</c:v>
                </c:pt>
                <c:pt idx="7">
                  <c:v>271122.35000000003</c:v>
                </c:pt>
                <c:pt idx="8">
                  <c:v>265586.5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5744.0285"/>
          <c:min val="182715.561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VW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63266.58</c:v>
                </c:pt>
                <c:pt idx="1">
                  <c:v>48675.05</c:v>
                </c:pt>
                <c:pt idx="2">
                  <c:v>49504.81</c:v>
                </c:pt>
                <c:pt idx="3">
                  <c:v>58672.880000000005</c:v>
                </c:pt>
                <c:pt idx="4">
                  <c:v>58583.36</c:v>
                </c:pt>
                <c:pt idx="5">
                  <c:v>82540.21</c:v>
                </c:pt>
                <c:pt idx="6">
                  <c:v>77897.88</c:v>
                </c:pt>
                <c:pt idx="7">
                  <c:v>64144.34</c:v>
                </c:pt>
                <c:pt idx="8">
                  <c:v>57011.62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7619.98400000001"/>
          <c:min val="43595.27600000000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HYUNDAI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47133.479999999996</c:v>
                </c:pt>
                <c:pt idx="1">
                  <c:v>42518.81</c:v>
                </c:pt>
                <c:pt idx="2">
                  <c:v>57961.69</c:v>
                </c:pt>
                <c:pt idx="3">
                  <c:v>50013.479999999996</c:v>
                </c:pt>
                <c:pt idx="4">
                  <c:v>50169.79</c:v>
                </c:pt>
                <c:pt idx="5">
                  <c:v>48661.44</c:v>
                </c:pt>
                <c:pt idx="6">
                  <c:v>64651.67</c:v>
                </c:pt>
                <c:pt idx="7">
                  <c:v>56663.37</c:v>
                </c:pt>
                <c:pt idx="8">
                  <c:v>58829.520000000004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7971.599"/>
          <c:min val="39198.88099999999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LEXUS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176585.11</c:v>
                </c:pt>
                <c:pt idx="1">
                  <c:v>184273.9</c:v>
                </c:pt>
                <c:pt idx="2">
                  <c:v>243873.84</c:v>
                </c:pt>
                <c:pt idx="3">
                  <c:v>231682.97</c:v>
                </c:pt>
                <c:pt idx="4">
                  <c:v>262721.61</c:v>
                </c:pt>
                <c:pt idx="5">
                  <c:v>263340.99</c:v>
                </c:pt>
                <c:pt idx="6">
                  <c:v>244041.77</c:v>
                </c:pt>
                <c:pt idx="7">
                  <c:v>244446.27</c:v>
                </c:pt>
                <c:pt idx="8">
                  <c:v>249281.88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76354.372"/>
          <c:min val="163571.72799999997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TOYOTA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294309.57999999996</c:v>
                </c:pt>
                <c:pt idx="1">
                  <c:v>278868.58</c:v>
                </c:pt>
                <c:pt idx="2">
                  <c:v>359908.79</c:v>
                </c:pt>
                <c:pt idx="3">
                  <c:v>393728.92000000004</c:v>
                </c:pt>
                <c:pt idx="4">
                  <c:v>359273.68</c:v>
                </c:pt>
                <c:pt idx="5">
                  <c:v>386316.45</c:v>
                </c:pt>
                <c:pt idx="6">
                  <c:v>384135.08</c:v>
                </c:pt>
                <c:pt idx="7">
                  <c:v>397933.38999999996</c:v>
                </c:pt>
                <c:pt idx="8">
                  <c:v>341938.74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15793.11149999994"/>
          <c:min val="261008.8585000000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 RENO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177080.6</c:v>
                </c:pt>
                <c:pt idx="1">
                  <c:v>116317.49</c:v>
                </c:pt>
                <c:pt idx="2">
                  <c:v>151683.66999999998</c:v>
                </c:pt>
                <c:pt idx="3">
                  <c:v>189304.13</c:v>
                </c:pt>
                <c:pt idx="4">
                  <c:v>164925.71000000002</c:v>
                </c:pt>
                <c:pt idx="5">
                  <c:v>166070.51</c:v>
                </c:pt>
                <c:pt idx="6">
                  <c:v>172210.90000000002</c:v>
                </c:pt>
                <c:pt idx="7">
                  <c:v>228828.82</c:v>
                </c:pt>
                <c:pt idx="8">
                  <c:v>129178.53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5705.5195"/>
          <c:min val="99440.790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GMC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86931.73000000001</c:v>
                </c:pt>
                <c:pt idx="1">
                  <c:v>109867.53</c:v>
                </c:pt>
                <c:pt idx="2">
                  <c:v>104137.82</c:v>
                </c:pt>
                <c:pt idx="3">
                  <c:v>100928.84</c:v>
                </c:pt>
                <c:pt idx="4">
                  <c:v>93945.76000000001</c:v>
                </c:pt>
                <c:pt idx="5">
                  <c:v>108346.47</c:v>
                </c:pt>
                <c:pt idx="6">
                  <c:v>126637.39</c:v>
                </c:pt>
                <c:pt idx="7">
                  <c:v>106298.13999999998</c:v>
                </c:pt>
                <c:pt idx="8">
                  <c:v>124862.66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2593.239"/>
          <c:min val="80975.88100000001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HONDA SPOKANE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293762.4</c:v>
                </c:pt>
                <c:pt idx="1">
                  <c:v>268037.54000000004</c:v>
                </c:pt>
                <c:pt idx="2">
                  <c:v>319668.25</c:v>
                </c:pt>
                <c:pt idx="3">
                  <c:v>349268.96</c:v>
                </c:pt>
                <c:pt idx="4">
                  <c:v>347415.9</c:v>
                </c:pt>
                <c:pt idx="5">
                  <c:v>340633.41000000003</c:v>
                </c:pt>
                <c:pt idx="6">
                  <c:v>373611</c:v>
                </c:pt>
                <c:pt idx="7">
                  <c:v>323504.43</c:v>
                </c:pt>
                <c:pt idx="8">
                  <c:v>336990.87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9447.019"/>
          <c:min val="252201.5210000000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LEXUS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395</c:v>
                </c:pt>
                <c:pt idx="1">
                  <c:v>390</c:v>
                </c:pt>
                <c:pt idx="2">
                  <c:v>491</c:v>
                </c:pt>
                <c:pt idx="3">
                  <c:v>543</c:v>
                </c:pt>
                <c:pt idx="4">
                  <c:v>485</c:v>
                </c:pt>
                <c:pt idx="5">
                  <c:v>553</c:v>
                </c:pt>
                <c:pt idx="6">
                  <c:v>564</c:v>
                </c:pt>
                <c:pt idx="7">
                  <c:v>577</c:v>
                </c:pt>
                <c:pt idx="8">
                  <c:v>569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5.05"/>
          <c:min val="361.9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CDJR POST FALLS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567</c:v>
                </c:pt>
                <c:pt idx="1">
                  <c:v>513</c:v>
                </c:pt>
                <c:pt idx="2">
                  <c:v>550</c:v>
                </c:pt>
                <c:pt idx="3">
                  <c:v>539</c:v>
                </c:pt>
                <c:pt idx="4">
                  <c:v>538</c:v>
                </c:pt>
                <c:pt idx="5">
                  <c:v>649</c:v>
                </c:pt>
                <c:pt idx="6">
                  <c:v>716</c:v>
                </c:pt>
                <c:pt idx="7">
                  <c:v>663</c:v>
                </c:pt>
                <c:pt idx="8">
                  <c:v>623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46.45"/>
          <c:min val="482.5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 LV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352</c:v>
                </c:pt>
                <c:pt idx="1">
                  <c:v>362</c:v>
                </c:pt>
                <c:pt idx="2">
                  <c:v>336</c:v>
                </c:pt>
                <c:pt idx="3">
                  <c:v>402</c:v>
                </c:pt>
                <c:pt idx="4">
                  <c:v>356</c:v>
                </c:pt>
                <c:pt idx="5">
                  <c:v>442</c:v>
                </c:pt>
                <c:pt idx="6">
                  <c:v>449</c:v>
                </c:pt>
                <c:pt idx="7">
                  <c:v>396</c:v>
                </c:pt>
                <c:pt idx="8">
                  <c:v>401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65.95"/>
          <c:min val="319.0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MAZDA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578</c:v>
                </c:pt>
                <c:pt idx="1">
                  <c:v>519</c:v>
                </c:pt>
                <c:pt idx="2">
                  <c:v>637</c:v>
                </c:pt>
                <c:pt idx="3">
                  <c:v>642</c:v>
                </c:pt>
                <c:pt idx="4">
                  <c:v>663</c:v>
                </c:pt>
                <c:pt idx="5">
                  <c:v>654</c:v>
                </c:pt>
                <c:pt idx="6">
                  <c:v>674</c:v>
                </c:pt>
                <c:pt idx="7">
                  <c:v>677</c:v>
                </c:pt>
                <c:pt idx="8">
                  <c:v>657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.7"/>
          <c:min val="495.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HONDA FLAGSTAFF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364</c:v>
                </c:pt>
                <c:pt idx="1">
                  <c:v>375</c:v>
                </c:pt>
                <c:pt idx="2">
                  <c:v>452</c:v>
                </c:pt>
                <c:pt idx="3">
                  <c:v>507</c:v>
                </c:pt>
                <c:pt idx="4">
                  <c:v>463</c:v>
                </c:pt>
                <c:pt idx="5">
                  <c:v>493</c:v>
                </c:pt>
                <c:pt idx="6">
                  <c:v>493</c:v>
                </c:pt>
                <c:pt idx="7">
                  <c:v>458</c:v>
                </c:pt>
                <c:pt idx="8">
                  <c:v>425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8.45"/>
          <c:min val="342.5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VW HENDERSON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549</c:v>
                </c:pt>
                <c:pt idx="1">
                  <c:v>531</c:v>
                </c:pt>
                <c:pt idx="2">
                  <c:v>556</c:v>
                </c:pt>
                <c:pt idx="3">
                  <c:v>544</c:v>
                </c:pt>
                <c:pt idx="4">
                  <c:v>516</c:v>
                </c:pt>
                <c:pt idx="5">
                  <c:v>599</c:v>
                </c:pt>
                <c:pt idx="6">
                  <c:v>622</c:v>
                </c:pt>
                <c:pt idx="7">
                  <c:v>587</c:v>
                </c:pt>
                <c:pt idx="8">
                  <c:v>641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9.75"/>
          <c:min val="497.2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HONDA NORTH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1576</c:v>
                </c:pt>
                <c:pt idx="1">
                  <c:v>1477</c:v>
                </c:pt>
                <c:pt idx="2">
                  <c:v>1631</c:v>
                </c:pt>
                <c:pt idx="3">
                  <c:v>1610</c:v>
                </c:pt>
                <c:pt idx="4">
                  <c:v>1739</c:v>
                </c:pt>
                <c:pt idx="5">
                  <c:v>1738</c:v>
                </c:pt>
                <c:pt idx="6">
                  <c:v>1723</c:v>
                </c:pt>
                <c:pt idx="7">
                  <c:v>1875</c:v>
                </c:pt>
                <c:pt idx="8">
                  <c:v>1679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34.7"/>
          <c:min val="1417.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GMC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311</c:v>
                </c:pt>
                <c:pt idx="1">
                  <c:v>327</c:v>
                </c:pt>
                <c:pt idx="2">
                  <c:v>353</c:v>
                </c:pt>
                <c:pt idx="3">
                  <c:v>344</c:v>
                </c:pt>
                <c:pt idx="4">
                  <c:v>308</c:v>
                </c:pt>
                <c:pt idx="5">
                  <c:v>355</c:v>
                </c:pt>
                <c:pt idx="6">
                  <c:v>370</c:v>
                </c:pt>
                <c:pt idx="7">
                  <c:v>382</c:v>
                </c:pt>
                <c:pt idx="8">
                  <c:v>357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93.1"/>
          <c:min val="296.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TOYOTA SPOKANE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1764</c:v>
                </c:pt>
                <c:pt idx="1">
                  <c:v>1687</c:v>
                </c:pt>
                <c:pt idx="2">
                  <c:v>1914</c:v>
                </c:pt>
                <c:pt idx="3">
                  <c:v>2057</c:v>
                </c:pt>
                <c:pt idx="4">
                  <c:v>1923</c:v>
                </c:pt>
                <c:pt idx="5">
                  <c:v>2056</c:v>
                </c:pt>
                <c:pt idx="6">
                  <c:v>2095</c:v>
                </c:pt>
                <c:pt idx="7">
                  <c:v>1882</c:v>
                </c:pt>
                <c:pt idx="8">
                  <c:v>1998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56.2"/>
          <c:min val="1625.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SUBARU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615</c:v>
                </c:pt>
                <c:pt idx="1">
                  <c:v>524</c:v>
                </c:pt>
                <c:pt idx="2">
                  <c:v>607</c:v>
                </c:pt>
                <c:pt idx="3">
                  <c:v>608</c:v>
                </c:pt>
                <c:pt idx="4">
                  <c:v>639</c:v>
                </c:pt>
                <c:pt idx="5">
                  <c:v>637</c:v>
                </c:pt>
                <c:pt idx="6">
                  <c:v>632</c:v>
                </c:pt>
                <c:pt idx="7">
                  <c:v>632</c:v>
                </c:pt>
                <c:pt idx="8">
                  <c:v>659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79.25"/>
          <c:min val="503.7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MAZDA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1.1961937716262976</c:v>
                </c:pt>
                <c:pt idx="1">
                  <c:v>1.3</c:v>
                </c:pt>
                <c:pt idx="2">
                  <c:v>1.524175824175824</c:v>
                </c:pt>
                <c:pt idx="3">
                  <c:v>1.4054517133956386</c:v>
                </c:pt>
                <c:pt idx="4">
                  <c:v>1.4104072398190046</c:v>
                </c:pt>
                <c:pt idx="5">
                  <c:v>1.25</c:v>
                </c:pt>
                <c:pt idx="6">
                  <c:v>1.3206231454005934</c:v>
                </c:pt>
                <c:pt idx="7">
                  <c:v>1.7601181683899556</c:v>
                </c:pt>
                <c:pt idx="8">
                  <c:v>1.8642313546423135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9644369920947158"/>
          <c:min val="1.095988134173895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HYUNDAI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1.4608490566037735</c:v>
                </c:pt>
                <c:pt idx="1">
                  <c:v>1.4711340206185566</c:v>
                </c:pt>
                <c:pt idx="2">
                  <c:v>1.7298642533936652</c:v>
                </c:pt>
                <c:pt idx="3">
                  <c:v>1.7783898305084744</c:v>
                </c:pt>
                <c:pt idx="4">
                  <c:v>1.441391304347826</c:v>
                </c:pt>
                <c:pt idx="5">
                  <c:v>1.5297619047619047</c:v>
                </c:pt>
                <c:pt idx="6">
                  <c:v>1.819439655172414</c:v>
                </c:pt>
                <c:pt idx="7">
                  <c:v>1.7451485148514851</c:v>
                </c:pt>
                <c:pt idx="8">
                  <c:v>1.725108225108225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8761469077961022"/>
          <c:min val="1.3846840517241377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HYUNDAI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1.2968932038834953</c:v>
                </c:pt>
                <c:pt idx="1">
                  <c:v>1.3835549132947977</c:v>
                </c:pt>
                <c:pt idx="2">
                  <c:v>1.4527419354838709</c:v>
                </c:pt>
                <c:pt idx="3">
                  <c:v>1.3560913705583755</c:v>
                </c:pt>
                <c:pt idx="4">
                  <c:v>1.272883435582822</c:v>
                </c:pt>
                <c:pt idx="5">
                  <c:v>1.4657920792079207</c:v>
                </c:pt>
                <c:pt idx="6">
                  <c:v>1.5742705570291777</c:v>
                </c:pt>
                <c:pt idx="7">
                  <c:v>1.6565988372093023</c:v>
                </c:pt>
                <c:pt idx="8">
                  <c:v>1.4058823529411764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7141561474532745"/>
          <c:min val="1.215326125338849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KIA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1.208095238095238</c:v>
                </c:pt>
                <c:pt idx="1">
                  <c:v>1.2542997542997543</c:v>
                </c:pt>
                <c:pt idx="2">
                  <c:v>1.23446261682243</c:v>
                </c:pt>
                <c:pt idx="3">
                  <c:v>1.2625570776255708</c:v>
                </c:pt>
                <c:pt idx="4">
                  <c:v>1.2171394799054374</c:v>
                </c:pt>
                <c:pt idx="5">
                  <c:v>1.2735507246376812</c:v>
                </c:pt>
                <c:pt idx="6">
                  <c:v>1.3877800407331975</c:v>
                </c:pt>
                <c:pt idx="7">
                  <c:v>1.4995475113122172</c:v>
                </c:pt>
                <c:pt idx="8">
                  <c:v>1.2453229398663697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5432653522947641"/>
          <c:min val="1.164377397112691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CHEVY GMC BULLHEAD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1.575798319327731</c:v>
                </c:pt>
                <c:pt idx="1">
                  <c:v>1.6981651376146787</c:v>
                </c:pt>
                <c:pt idx="2">
                  <c:v>1.6719839142091153</c:v>
                </c:pt>
                <c:pt idx="3">
                  <c:v>1.9406276150627615</c:v>
                </c:pt>
                <c:pt idx="4">
                  <c:v>1.7418429003021147</c:v>
                </c:pt>
                <c:pt idx="5">
                  <c:v>1.6785185185185185</c:v>
                </c:pt>
                <c:pt idx="6">
                  <c:v>1.8784676354029062</c:v>
                </c:pt>
                <c:pt idx="7">
                  <c:v>1.8579465541490858</c:v>
                </c:pt>
                <c:pt idx="8">
                  <c:v>1.6184249628528975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9953520094230162"/>
          <c:min val="1.521073924967476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TOYOTA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1.188239247311828</c:v>
                </c:pt>
                <c:pt idx="1">
                  <c:v>1.275762195121951</c:v>
                </c:pt>
                <c:pt idx="2">
                  <c:v>1.4099208965062624</c:v>
                </c:pt>
                <c:pt idx="3">
                  <c:v>1.4275265957446808</c:v>
                </c:pt>
                <c:pt idx="4">
                  <c:v>1.4609295570079883</c:v>
                </c:pt>
                <c:pt idx="5">
                  <c:v>1.4721141374837874</c:v>
                </c:pt>
                <c:pt idx="6">
                  <c:v>1.4142063001852996</c:v>
                </c:pt>
                <c:pt idx="7">
                  <c:v>1.4298619824341279</c:v>
                </c:pt>
                <c:pt idx="8">
                  <c:v>1.3524723487312946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5146953710095814"/>
          <c:min val="1.14565801378603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ACURA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1.385793450881612</c:v>
                </c:pt>
                <c:pt idx="1">
                  <c:v>1.3389645776566756</c:v>
                </c:pt>
                <c:pt idx="2">
                  <c:v>1.2803874092009684</c:v>
                </c:pt>
                <c:pt idx="3">
                  <c:v>1.333613231552163</c:v>
                </c:pt>
                <c:pt idx="4">
                  <c:v>1.67296568627451</c:v>
                </c:pt>
                <c:pt idx="5">
                  <c:v>1.5423764705882352</c:v>
                </c:pt>
                <c:pt idx="6">
                  <c:v>1.4005580357142857</c:v>
                </c:pt>
                <c:pt idx="7">
                  <c:v>1.3604513064133017</c:v>
                </c:pt>
                <c:pt idx="8">
                  <c:v>1.4541353383458648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7318524278355412"/>
          <c:min val="1.2215006676399371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CDJR POST FALLS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2.221710758377425</c:v>
                </c:pt>
                <c:pt idx="1">
                  <c:v>2.0838986354775826</c:v>
                </c:pt>
                <c:pt idx="2">
                  <c:v>2.2707272727272727</c:v>
                </c:pt>
                <c:pt idx="3">
                  <c:v>2.2252504638218924</c:v>
                </c:pt>
                <c:pt idx="4">
                  <c:v>2.1553717472118956</c:v>
                </c:pt>
                <c:pt idx="5">
                  <c:v>1.9233127889060093</c:v>
                </c:pt>
                <c:pt idx="6">
                  <c:v>2.230418994413408</c:v>
                </c:pt>
                <c:pt idx="7">
                  <c:v>2.2426998491704375</c:v>
                </c:pt>
                <c:pt idx="8">
                  <c:v>2.44900481540931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27858619384805"/>
          <c:min val="1.844458984930514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AUDI RENO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2.604809843400447</c:v>
                </c:pt>
                <c:pt idx="1">
                  <c:v>2.3054666666666663</c:v>
                </c:pt>
                <c:pt idx="2">
                  <c:v>2.8330453563714904</c:v>
                </c:pt>
                <c:pt idx="3">
                  <c:v>2.798717948717949</c:v>
                </c:pt>
                <c:pt idx="4">
                  <c:v>2.574561403508772</c:v>
                </c:pt>
                <c:pt idx="5">
                  <c:v>3.172391304347826</c:v>
                </c:pt>
                <c:pt idx="6">
                  <c:v>2.7021809744779586</c:v>
                </c:pt>
                <c:pt idx="7">
                  <c:v>2.878063063063063</c:v>
                </c:pt>
                <c:pt idx="8">
                  <c:v>2.5885922330097086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3024299999999998"/>
          <c:min val="2.175427971014492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 RENO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3.5072</c:v>
                </c:pt>
                <c:pt idx="1">
                  <c:v>2.8326470588235293</c:v>
                </c:pt>
                <c:pt idx="2">
                  <c:v>3.3393630573248405</c:v>
                </c:pt>
                <c:pt idx="3">
                  <c:v>3.9942944785276078</c:v>
                </c:pt>
                <c:pt idx="4">
                  <c:v>4.023714285714286</c:v>
                </c:pt>
                <c:pt idx="5">
                  <c:v>3.3935403726708073</c:v>
                </c:pt>
                <c:pt idx="6">
                  <c:v>3.0639884393063586</c:v>
                </c:pt>
                <c:pt idx="7">
                  <c:v>3.7738297872340425</c:v>
                </c:pt>
                <c:pt idx="8">
                  <c:v>3.325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2023743697479"/>
          <c:min val="2.653986974789915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VW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133.50852736170845</c:v>
                </c:pt>
                <c:pt idx="1">
                  <c:v>124.52905604719764</c:v>
                </c:pt>
                <c:pt idx="2">
                  <c:v>125.66441779876723</c:v>
                </c:pt>
                <c:pt idx="3">
                  <c:v>131.4519062005467</c:v>
                </c:pt>
                <c:pt idx="4">
                  <c:v>132.6886803693774</c:v>
                </c:pt>
                <c:pt idx="5">
                  <c:v>140.1975303339418</c:v>
                </c:pt>
                <c:pt idx="6">
                  <c:v>142.53003268369446</c:v>
                </c:pt>
                <c:pt idx="7">
                  <c:v>141.47412587412586</c:v>
                </c:pt>
                <c:pt idx="8">
                  <c:v>141.50217039196633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5.23017917916897"/>
          <c:min val="121.82890955172311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AUDI RENO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226.99655601837938</c:v>
                </c:pt>
                <c:pt idx="1">
                  <c:v>230.6832340523972</c:v>
                </c:pt>
                <c:pt idx="2">
                  <c:v>225.44062666768312</c:v>
                </c:pt>
                <c:pt idx="3">
                  <c:v>220.3694915254237</c:v>
                </c:pt>
                <c:pt idx="4">
                  <c:v>229.04754684838161</c:v>
                </c:pt>
                <c:pt idx="5">
                  <c:v>247.9044473377647</c:v>
                </c:pt>
                <c:pt idx="6">
                  <c:v>243.19138102761363</c:v>
                </c:pt>
                <c:pt idx="7">
                  <c:v>243.7889909692768</c:v>
                </c:pt>
                <c:pt idx="8">
                  <c:v>245.53794655414907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2.03469070961586"/>
          <c:min val="216.2392481535725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HONDA SPOKANE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135.50618900582526</c:v>
                </c:pt>
                <c:pt idx="1">
                  <c:v>139.43354100521177</c:v>
                </c:pt>
                <c:pt idx="2">
                  <c:v>143.04070476965322</c:v>
                </c:pt>
                <c:pt idx="3">
                  <c:v>144.27756894597658</c:v>
                </c:pt>
                <c:pt idx="4">
                  <c:v>143.9452209905324</c:v>
                </c:pt>
                <c:pt idx="5">
                  <c:v>143.4172847205565</c:v>
                </c:pt>
                <c:pt idx="6">
                  <c:v>148.4194108316338</c:v>
                </c:pt>
                <c:pt idx="7">
                  <c:v>146.32433479457643</c:v>
                </c:pt>
                <c:pt idx="8">
                  <c:v>148.9747782648588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.99506665371382"/>
          <c:min val="133.4859006169702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KIA LV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146.10917942519472</c:v>
                </c:pt>
                <c:pt idx="1">
                  <c:v>139.31016738481938</c:v>
                </c:pt>
                <c:pt idx="2">
                  <c:v>141.53525925925928</c:v>
                </c:pt>
                <c:pt idx="3">
                  <c:v>149.0938108315364</c:v>
                </c:pt>
                <c:pt idx="4">
                  <c:v>157.86236726813692</c:v>
                </c:pt>
                <c:pt idx="5">
                  <c:v>155.1640949727532</c:v>
                </c:pt>
                <c:pt idx="6">
                  <c:v>145.80333762018492</c:v>
                </c:pt>
                <c:pt idx="7">
                  <c:v>147.881053660003</c:v>
                </c:pt>
                <c:pt idx="8">
                  <c:v>159.61675912057146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2.66274788093426"/>
          <c:min val="136.2641786244565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KIA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141.29899487583762</c:v>
                </c:pt>
                <c:pt idx="1">
                  <c:v>141.12609206660136</c:v>
                </c:pt>
                <c:pt idx="2">
                  <c:v>134.98959023374655</c:v>
                </c:pt>
                <c:pt idx="3">
                  <c:v>134.82066907775769</c:v>
                </c:pt>
                <c:pt idx="4">
                  <c:v>134.81227542002526</c:v>
                </c:pt>
                <c:pt idx="5">
                  <c:v>141.9157515410147</c:v>
                </c:pt>
                <c:pt idx="6">
                  <c:v>145.1528764308776</c:v>
                </c:pt>
                <c:pt idx="7">
                  <c:v>145.4075890162945</c:v>
                </c:pt>
                <c:pt idx="8">
                  <c:v>147.8839667352231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9.84472043250278"/>
          <c:min val="132.851521722745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NISSAN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170.91694630872482</c:v>
                </c:pt>
                <c:pt idx="1">
                  <c:v>174.94393030380394</c:v>
                </c:pt>
                <c:pt idx="2">
                  <c:v>171.33260055096417</c:v>
                </c:pt>
                <c:pt idx="3">
                  <c:v>169.3619524405507</c:v>
                </c:pt>
                <c:pt idx="4">
                  <c:v>178.97402165816766</c:v>
                </c:pt>
                <c:pt idx="5">
                  <c:v>176.8534134157945</c:v>
                </c:pt>
                <c:pt idx="6">
                  <c:v>178.75288589721362</c:v>
                </c:pt>
                <c:pt idx="7">
                  <c:v>178.72942668879108</c:v>
                </c:pt>
                <c:pt idx="8">
                  <c:v>183.27923149141628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5.36682334904611"/>
          <c:min val="167.2743605829208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GMC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147.17883416109635</c:v>
                </c:pt>
                <c:pt idx="1">
                  <c:v>135.63777641695583</c:v>
                </c:pt>
                <c:pt idx="2">
                  <c:v>141.64139075345048</c:v>
                </c:pt>
                <c:pt idx="3">
                  <c:v>139.12898539404827</c:v>
                </c:pt>
                <c:pt idx="4">
                  <c:v>140.79767083404693</c:v>
                </c:pt>
                <c:pt idx="5">
                  <c:v>142.24952097083244</c:v>
                </c:pt>
                <c:pt idx="6">
                  <c:v>142.61742003865575</c:v>
                </c:pt>
                <c:pt idx="7">
                  <c:v>143.95335221631723</c:v>
                </c:pt>
                <c:pt idx="8">
                  <c:v>154.41898907103825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7.2361709691506"/>
          <c:min val="132.8205945188434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VOLVO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208.9492918178626</c:v>
                </c:pt>
                <c:pt idx="1">
                  <c:v>217.9379829257705</c:v>
                </c:pt>
                <c:pt idx="2">
                  <c:v>223.98379699248122</c:v>
                </c:pt>
                <c:pt idx="3">
                  <c:v>226.2475382875938</c:v>
                </c:pt>
                <c:pt idx="4">
                  <c:v>219.74642583470168</c:v>
                </c:pt>
                <c:pt idx="5">
                  <c:v>224.43341441458693</c:v>
                </c:pt>
                <c:pt idx="6">
                  <c:v>228.6857179372484</c:v>
                </c:pt>
                <c:pt idx="7">
                  <c:v>221.59294258373205</c:v>
                </c:pt>
                <c:pt idx="8">
                  <c:v>226.9213371266003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1.64618185515627"/>
          <c:min val="205.9888278999547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CHEVY GMC BULLHEAD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153.1491574232082</c:v>
                </c:pt>
                <c:pt idx="1">
                  <c:v>157.95352962362688</c:v>
                </c:pt>
                <c:pt idx="2">
                  <c:v>156.04347791229054</c:v>
                </c:pt>
                <c:pt idx="3">
                  <c:v>157.37133021424003</c:v>
                </c:pt>
                <c:pt idx="4">
                  <c:v>149.20385916225828</c:v>
                </c:pt>
                <c:pt idx="5">
                  <c:v>155.4821624007061</c:v>
                </c:pt>
                <c:pt idx="6">
                  <c:v>158.9620323488045</c:v>
                </c:pt>
                <c:pt idx="7">
                  <c:v>164.2580469341408</c:v>
                </c:pt>
                <c:pt idx="8">
                  <c:v>162.51214652956298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6.51617509992317"/>
          <c:min val="146.945730996475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CADILLAC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169.23952076348527</c:v>
                </c:pt>
                <c:pt idx="1">
                  <c:v>171.362331838565</c:v>
                </c:pt>
                <c:pt idx="2">
                  <c:v>168.18649634020764</c:v>
                </c:pt>
                <c:pt idx="3">
                  <c:v>180.00863368961805</c:v>
                </c:pt>
                <c:pt idx="4">
                  <c:v>151.5942152678995</c:v>
                </c:pt>
                <c:pt idx="5">
                  <c:v>163.62502533205532</c:v>
                </c:pt>
                <c:pt idx="6">
                  <c:v>179.30890045543268</c:v>
                </c:pt>
                <c:pt idx="7">
                  <c:v>175.9947113813166</c:v>
                </c:pt>
                <c:pt idx="8">
                  <c:v>169.93955489368741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4.27079645287583"/>
          <c:min val="147.3320525046417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VW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226.22956521739133</c:v>
                </c:pt>
                <c:pt idx="1">
                  <c:v>248.52270270270267</c:v>
                </c:pt>
                <c:pt idx="2">
                  <c:v>200.74942028985507</c:v>
                </c:pt>
                <c:pt idx="3">
                  <c:v>243.29641592920353</c:v>
                </c:pt>
                <c:pt idx="4">
                  <c:v>234.13774647887323</c:v>
                </c:pt>
                <c:pt idx="5">
                  <c:v>287.9189156626506</c:v>
                </c:pt>
                <c:pt idx="6">
                  <c:v>324.6299523809524</c:v>
                </c:pt>
                <c:pt idx="7">
                  <c:v>281.9111059907834</c:v>
                </c:pt>
                <c:pt idx="8">
                  <c:v>287.2737362637363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3.212032194617"/>
          <c:min val="182.16734047619047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 RENO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735.0373714285714</c:v>
                </c:pt>
                <c:pt idx="1">
                  <c:v>633.5144852941177</c:v>
                </c:pt>
                <c:pt idx="2">
                  <c:v>695.5033121019109</c:v>
                </c:pt>
                <c:pt idx="3">
                  <c:v>845.1699386503068</c:v>
                </c:pt>
                <c:pt idx="4">
                  <c:v>839.2182857142857</c:v>
                </c:pt>
                <c:pt idx="5">
                  <c:v>919.2100621118013</c:v>
                </c:pt>
                <c:pt idx="6">
                  <c:v>872.8272254335259</c:v>
                </c:pt>
                <c:pt idx="7">
                  <c:v>956.7090425531915</c:v>
                </c:pt>
                <c:pt idx="8">
                  <c:v>764.899375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5.1882261420525"/>
          <c:min val="585.035301705256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ACURA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240.3025692695214</c:v>
                </c:pt>
                <c:pt idx="1">
                  <c:v>216.6792098092643</c:v>
                </c:pt>
                <c:pt idx="2">
                  <c:v>230.04961259079906</c:v>
                </c:pt>
                <c:pt idx="3">
                  <c:v>243.99435114503817</c:v>
                </c:pt>
                <c:pt idx="4">
                  <c:v>304.9811274509804</c:v>
                </c:pt>
                <c:pt idx="5">
                  <c:v>286.73334117647056</c:v>
                </c:pt>
                <c:pt idx="6">
                  <c:v>273.25761160714285</c:v>
                </c:pt>
                <c:pt idx="7">
                  <c:v>260.6470308788598</c:v>
                </c:pt>
                <c:pt idx="8">
                  <c:v>314.04050125313285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8.6446949697131"/>
          <c:min val="202.0750160926840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HONDA FLAGSTAFF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181.37186813186813</c:v>
                </c:pt>
                <c:pt idx="1">
                  <c:v>163.32138666666665</c:v>
                </c:pt>
                <c:pt idx="2">
                  <c:v>246.46716814159294</c:v>
                </c:pt>
                <c:pt idx="3">
                  <c:v>218.6002958579882</c:v>
                </c:pt>
                <c:pt idx="4">
                  <c:v>169.2365010799136</c:v>
                </c:pt>
                <c:pt idx="5">
                  <c:v>212.3986206896552</c:v>
                </c:pt>
                <c:pt idx="6">
                  <c:v>233.71951318458417</c:v>
                </c:pt>
                <c:pt idx="7">
                  <c:v>230.95786026200872</c:v>
                </c:pt>
                <c:pt idx="8">
                  <c:v>238.70922352941176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8.9390353628319"/>
          <c:min val="150.8495194454277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HYUNDAI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178.2198300970874</c:v>
                </c:pt>
                <c:pt idx="1">
                  <c:v>209.37557803468206</c:v>
                </c:pt>
                <c:pt idx="2">
                  <c:v>226.22274193548387</c:v>
                </c:pt>
                <c:pt idx="3">
                  <c:v>224.48005076142132</c:v>
                </c:pt>
                <c:pt idx="4">
                  <c:v>221.7853680981595</c:v>
                </c:pt>
                <c:pt idx="5">
                  <c:v>210.79133663366335</c:v>
                </c:pt>
                <c:pt idx="6">
                  <c:v>209.2606100795756</c:v>
                </c:pt>
                <c:pt idx="7">
                  <c:v>270.77191860465115</c:v>
                </c:pt>
                <c:pt idx="8">
                  <c:v>225.52879679144385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4.65473188078573"/>
          <c:min val="164.3370168209528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TOYOTA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128.18389112903225</c:v>
                </c:pt>
                <c:pt idx="1">
                  <c:v>143.6304268292683</c:v>
                </c:pt>
                <c:pt idx="2">
                  <c:v>136.9080487804878</c:v>
                </c:pt>
                <c:pt idx="3">
                  <c:v>198.15143617021278</c:v>
                </c:pt>
                <c:pt idx="4">
                  <c:v>159.63840958605664</c:v>
                </c:pt>
                <c:pt idx="5">
                  <c:v>147.4817120622568</c:v>
                </c:pt>
                <c:pt idx="6">
                  <c:v>150.852402717727</c:v>
                </c:pt>
                <c:pt idx="7">
                  <c:v>176.80212672521958</c:v>
                </c:pt>
                <c:pt idx="8">
                  <c:v>139.20603773584907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8.64656792638985"/>
          <c:min val="117.68875937285517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CHEVY GMC BULLHEAD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233.84593837535013</c:v>
                </c:pt>
                <c:pt idx="1">
                  <c:v>272.64770642201836</c:v>
                </c:pt>
                <c:pt idx="2">
                  <c:v>264.5160053619303</c:v>
                </c:pt>
                <c:pt idx="3">
                  <c:v>300.4536959553696</c:v>
                </c:pt>
                <c:pt idx="4">
                  <c:v>288.36308157099694</c:v>
                </c:pt>
                <c:pt idx="5">
                  <c:v>250.08998518518518</c:v>
                </c:pt>
                <c:pt idx="6">
                  <c:v>321.2700792602378</c:v>
                </c:pt>
                <c:pt idx="7">
                  <c:v>293.4214486638537</c:v>
                </c:pt>
                <c:pt idx="8">
                  <c:v>258.24791976225856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34.383700392971"/>
          <c:min val="220.73231724261697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AUDI HENDERSON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640.6571929824562</c:v>
                </c:pt>
                <c:pt idx="1">
                  <c:v>906.8386104218363</c:v>
                </c:pt>
                <c:pt idx="2">
                  <c:v>634.7025063291139</c:v>
                </c:pt>
                <c:pt idx="3">
                  <c:v>665.1664390243902</c:v>
                </c:pt>
                <c:pt idx="4">
                  <c:v>689.3056844547564</c:v>
                </c:pt>
                <c:pt idx="5">
                  <c:v>652.1006864988558</c:v>
                </c:pt>
                <c:pt idx="6">
                  <c:v>693.769124726477</c:v>
                </c:pt>
                <c:pt idx="7">
                  <c:v>709.0950352941177</c:v>
                </c:pt>
                <c:pt idx="8">
                  <c:v>1041.912085308057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2.9935221548983"/>
          <c:min val="573.621069482272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 HENDERSON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879.8076687116564</c:v>
                </c:pt>
                <c:pt idx="1">
                  <c:v>925.1433742331288</c:v>
                </c:pt>
                <c:pt idx="2">
                  <c:v>886.3305590062112</c:v>
                </c:pt>
                <c:pt idx="3">
                  <c:v>953.3849523809523</c:v>
                </c:pt>
                <c:pt idx="4">
                  <c:v>911.7989444444445</c:v>
                </c:pt>
                <c:pt idx="5">
                  <c:v>804.3490058479532</c:v>
                </c:pt>
                <c:pt idx="6">
                  <c:v>1035.5124242424242</c:v>
                </c:pt>
                <c:pt idx="7">
                  <c:v>994.8709444444444</c:v>
                </c:pt>
                <c:pt idx="8">
                  <c:v>934.7331325301205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70.186937001595"/>
          <c:min val="769.674493088782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HYUNDAI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268.8725</c:v>
                </c:pt>
                <c:pt idx="1">
                  <c:v>180.48355670103092</c:v>
                </c:pt>
                <c:pt idx="2">
                  <c:v>249.92049773755656</c:v>
                </c:pt>
                <c:pt idx="3">
                  <c:v>255.83444915254236</c:v>
                </c:pt>
                <c:pt idx="4">
                  <c:v>224.2878260869565</c:v>
                </c:pt>
                <c:pt idx="5">
                  <c:v>167.36384920634922</c:v>
                </c:pt>
                <c:pt idx="6">
                  <c:v>269.1880172413793</c:v>
                </c:pt>
                <c:pt idx="7">
                  <c:v>279.6357425742574</c:v>
                </c:pt>
                <c:pt idx="8">
                  <c:v>227.57493506493506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96.4765265794436"/>
          <c:min val="150.5230652011629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ACURA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0.3838170224523827</c:v>
                </c:pt>
                <c:pt idx="1">
                  <c:v>0.4035019812938098</c:v>
                </c:pt>
                <c:pt idx="2">
                  <c:v>0.3952216223703298</c:v>
                </c:pt>
                <c:pt idx="3">
                  <c:v>0.4448395856159019</c:v>
                </c:pt>
                <c:pt idx="4">
                  <c:v>0.47606328903347445</c:v>
                </c:pt>
                <c:pt idx="5">
                  <c:v>0.49427527129736526</c:v>
                </c:pt>
                <c:pt idx="6">
                  <c:v>0.4642179700098211</c:v>
                </c:pt>
                <c:pt idx="7">
                  <c:v>0.48270738633256904</c:v>
                </c:pt>
                <c:pt idx="8">
                  <c:v>0.45289434755155056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108440086241126"/>
          <c:min val="0.367248285125635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VW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0.40001902646023274</c:v>
                </c:pt>
                <c:pt idx="1">
                  <c:v>0.3720732457962403</c:v>
                </c:pt>
                <c:pt idx="2">
                  <c:v>0.4018829925450841</c:v>
                </c:pt>
                <c:pt idx="3">
                  <c:v>0.40962760928027814</c:v>
                </c:pt>
                <c:pt idx="4">
                  <c:v>0.4597764968817762</c:v>
                </c:pt>
                <c:pt idx="5">
                  <c:v>0.40350076249992856</c:v>
                </c:pt>
                <c:pt idx="6">
                  <c:v>0.45445150808341633</c:v>
                </c:pt>
                <c:pt idx="7">
                  <c:v>0.42913664813449875</c:v>
                </c:pt>
                <c:pt idx="8">
                  <c:v>0.425523613232545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7293198454460655"/>
          <c:min val="0.358917758133409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GMC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0.34774542164070493</c:v>
                </c:pt>
                <c:pt idx="1">
                  <c:v>0.3428853815363897</c:v>
                </c:pt>
                <c:pt idx="2">
                  <c:v>0.3678319883700978</c:v>
                </c:pt>
                <c:pt idx="3">
                  <c:v>0.3451036516062462</c:v>
                </c:pt>
                <c:pt idx="4">
                  <c:v>0.37383512874032615</c:v>
                </c:pt>
                <c:pt idx="5">
                  <c:v>0.37442614515827255</c:v>
                </c:pt>
                <c:pt idx="6">
                  <c:v>0.3765012914668214</c:v>
                </c:pt>
                <c:pt idx="7">
                  <c:v>0.4109924749697751</c:v>
                </c:pt>
                <c:pt idx="8">
                  <c:v>0.39565037718326934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212085389847829"/>
          <c:min val="0.332669317521381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AUDI RENO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0.41530601520715416</c:v>
                </c:pt>
                <c:pt idx="1">
                  <c:v>0.4108890052717672</c:v>
                </c:pt>
                <c:pt idx="2">
                  <c:v>0.405583451418382</c:v>
                </c:pt>
                <c:pt idx="3">
                  <c:v>0.41689218345561846</c:v>
                </c:pt>
                <c:pt idx="4">
                  <c:v>0.458754837572283</c:v>
                </c:pt>
                <c:pt idx="5">
                  <c:v>0.47543115549863596</c:v>
                </c:pt>
                <c:pt idx="6">
                  <c:v>0.44051206489623174</c:v>
                </c:pt>
                <c:pt idx="7">
                  <c:v>0.44067846901952584</c:v>
                </c:pt>
                <c:pt idx="8">
                  <c:v>0.4379850163841297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8590831111067406"/>
          <c:min val="0.395106295806343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TOYOTA HENDERSON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0.40057589442118835</c:v>
                </c:pt>
                <c:pt idx="1">
                  <c:v>0.3824592298574588</c:v>
                </c:pt>
                <c:pt idx="2">
                  <c:v>0.3990699220487699</c:v>
                </c:pt>
                <c:pt idx="3">
                  <c:v>0.3369845083698473</c:v>
                </c:pt>
                <c:pt idx="4">
                  <c:v>0.42446429931693574</c:v>
                </c:pt>
                <c:pt idx="5">
                  <c:v>0.4242123912395645</c:v>
                </c:pt>
                <c:pt idx="6">
                  <c:v>0.4125803196455596</c:v>
                </c:pt>
                <c:pt idx="7">
                  <c:v>0.4279628930950305</c:v>
                </c:pt>
                <c:pt idx="8">
                  <c:v>0.41019587611883684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41609650803808"/>
          <c:min val="0.323337750661069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KIA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0.39385465162077204</c:v>
                </c:pt>
                <c:pt idx="1">
                  <c:v>0.4104798110566934</c:v>
                </c:pt>
                <c:pt idx="2">
                  <c:v>0.39984615107565896</c:v>
                </c:pt>
                <c:pt idx="3">
                  <c:v>0.4242643654011316</c:v>
                </c:pt>
                <c:pt idx="4">
                  <c:v>0.43535929201653073</c:v>
                </c:pt>
                <c:pt idx="5">
                  <c:v>0.4359650422122587</c:v>
                </c:pt>
                <c:pt idx="6">
                  <c:v>0.4310274406950725</c:v>
                </c:pt>
                <c:pt idx="7">
                  <c:v>0.4257261405886852</c:v>
                </c:pt>
                <c:pt idx="8">
                  <c:v>0.4125780793358778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4228160080098167"/>
          <c:min val="0.3875380930320490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CDJR POST FALLS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0.34615649425879996</c:v>
                </c:pt>
                <c:pt idx="1">
                  <c:v>0.3553626019087758</c:v>
                </c:pt>
                <c:pt idx="2">
                  <c:v>0.33286088298414096</c:v>
                </c:pt>
                <c:pt idx="3">
                  <c:v>0.33135079455831645</c:v>
                </c:pt>
                <c:pt idx="4">
                  <c:v>0.36466133494564634</c:v>
                </c:pt>
                <c:pt idx="5">
                  <c:v>0.38118653720091344</c:v>
                </c:pt>
                <c:pt idx="6">
                  <c:v>0.3809185720341265</c:v>
                </c:pt>
                <c:pt idx="7">
                  <c:v>0.37479736400081787</c:v>
                </c:pt>
                <c:pt idx="8">
                  <c:v>0.3350495696231172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88661898597303"/>
          <c:min val="0.323875433161926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TOYOTA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0.414351536191364</c:v>
                </c:pt>
                <c:pt idx="1">
                  <c:v>0.39318087070517616</c:v>
                </c:pt>
                <c:pt idx="2">
                  <c:v>0.4185113634289955</c:v>
                </c:pt>
                <c:pt idx="3">
                  <c:v>0.3984325401778728</c:v>
                </c:pt>
                <c:pt idx="4">
                  <c:v>0.4275287802058474</c:v>
                </c:pt>
                <c:pt idx="5">
                  <c:v>0.4314231842150624</c:v>
                </c:pt>
                <c:pt idx="6">
                  <c:v>0.40647931761383654</c:v>
                </c:pt>
                <c:pt idx="7">
                  <c:v>0.42811568086149515</c:v>
                </c:pt>
                <c:pt idx="8">
                  <c:v>0.4328714643805786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38825053431889"/>
          <c:min val="0.387227281653865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 RENO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0.4411058127734458</c:v>
                </c:pt>
                <c:pt idx="1">
                  <c:v>0.45645701726723603</c:v>
                </c:pt>
                <c:pt idx="2">
                  <c:v>0.43879838840991475</c:v>
                </c:pt>
                <c:pt idx="3">
                  <c:v>0.40377729240207977</c:v>
                </c:pt>
                <c:pt idx="4">
                  <c:v>0.4744010071958122</c:v>
                </c:pt>
                <c:pt idx="5">
                  <c:v>0.4339098342743925</c:v>
                </c:pt>
                <c:pt idx="6">
                  <c:v>0.44740581583560335</c:v>
                </c:pt>
                <c:pt idx="7">
                  <c:v>0.46909418535282466</c:v>
                </c:pt>
                <c:pt idx="8">
                  <c:v>0.45065660188962764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8499456441487204"/>
          <c:min val="0.393183735183019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CHEVY GMC BULLHEAD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0.3680342105578381</c:v>
                </c:pt>
                <c:pt idx="1">
                  <c:v>0.3691001034144722</c:v>
                </c:pt>
                <c:pt idx="2">
                  <c:v>0.3670958755466887</c:v>
                </c:pt>
                <c:pt idx="3">
                  <c:v>0.37086270739787763</c:v>
                </c:pt>
                <c:pt idx="4">
                  <c:v>0.3526965626793513</c:v>
                </c:pt>
                <c:pt idx="5">
                  <c:v>0.37527049523033906</c:v>
                </c:pt>
                <c:pt idx="6">
                  <c:v>0.3587371292399778</c:v>
                </c:pt>
                <c:pt idx="7">
                  <c:v>0.3863209963060099</c:v>
                </c:pt>
                <c:pt idx="8">
                  <c:v>0.40033452080355186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0748021452218197"/>
          <c:min val="0.345550868960721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AUDI HENDERSON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0.23308270676691728</c:v>
                </c:pt>
                <c:pt idx="1">
                  <c:v>0.18114143920595532</c:v>
                </c:pt>
                <c:pt idx="2">
                  <c:v>0.21772151898734177</c:v>
                </c:pt>
                <c:pt idx="3">
                  <c:v>0.20243902439024392</c:v>
                </c:pt>
                <c:pt idx="4">
                  <c:v>0.33410672853828305</c:v>
                </c:pt>
                <c:pt idx="5">
                  <c:v>0.33638443935926776</c:v>
                </c:pt>
                <c:pt idx="6">
                  <c:v>0.31072210065645517</c:v>
                </c:pt>
                <c:pt idx="7">
                  <c:v>0.28941176470588237</c:v>
                </c:pt>
                <c:pt idx="8">
                  <c:v>0.35308056872037913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788714381475427"/>
          <c:min val="0.1553505697787917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MAZDA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0.07439446366782007</c:v>
                </c:pt>
                <c:pt idx="1">
                  <c:v>0.16377649325626203</c:v>
                </c:pt>
                <c:pt idx="2">
                  <c:v>0.14285714285714285</c:v>
                </c:pt>
                <c:pt idx="3">
                  <c:v>0.16510903426791276</c:v>
                </c:pt>
                <c:pt idx="4">
                  <c:v>0.1493212669683258</c:v>
                </c:pt>
                <c:pt idx="5">
                  <c:v>0.10703363914373089</c:v>
                </c:pt>
                <c:pt idx="6">
                  <c:v>0.16468842729970326</c:v>
                </c:pt>
                <c:pt idx="7">
                  <c:v>0.25258493353028066</c:v>
                </c:pt>
                <c:pt idx="8">
                  <c:v>0.2678843226788432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969078015304967"/>
          <c:min val="0.045370984816166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KIA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0.016666666666666666</c:v>
                </c:pt>
                <c:pt idx="1">
                  <c:v>0.04176904176904177</c:v>
                </c:pt>
                <c:pt idx="2">
                  <c:v>0.0630841121495327</c:v>
                </c:pt>
                <c:pt idx="3">
                  <c:v>0.06621004566210045</c:v>
                </c:pt>
                <c:pt idx="4">
                  <c:v>0.08983451536643026</c:v>
                </c:pt>
                <c:pt idx="5">
                  <c:v>0.07729468599033816</c:v>
                </c:pt>
                <c:pt idx="6">
                  <c:v>0.11608961303462322</c:v>
                </c:pt>
                <c:pt idx="7">
                  <c:v>0.11764705882352941</c:v>
                </c:pt>
                <c:pt idx="8">
                  <c:v>0.12026726057906459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3580734966592428"/>
          <c:min val="0.001126577579806978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HYUNDAI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0.16037735849056603</c:v>
                </c:pt>
                <c:pt idx="1">
                  <c:v>0.15463917525773196</c:v>
                </c:pt>
                <c:pt idx="2">
                  <c:v>0.23076923076923078</c:v>
                </c:pt>
                <c:pt idx="3">
                  <c:v>0.23728813559322035</c:v>
                </c:pt>
                <c:pt idx="4">
                  <c:v>0.1826086956521739</c:v>
                </c:pt>
                <c:pt idx="5">
                  <c:v>0.21428571428571427</c:v>
                </c:pt>
                <c:pt idx="6">
                  <c:v>0.24568965517241378</c:v>
                </c:pt>
                <c:pt idx="7">
                  <c:v>0.24752475247524752</c:v>
                </c:pt>
                <c:pt idx="8">
                  <c:v>0.27705627705627706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954188423260588"/>
          <c:min val="0.13627660998795021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HYUNDAI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0.15048543689320387</c:v>
                </c:pt>
                <c:pt idx="1">
                  <c:v>0.13583815028901733</c:v>
                </c:pt>
                <c:pt idx="2">
                  <c:v>0.0967741935483871</c:v>
                </c:pt>
                <c:pt idx="3">
                  <c:v>0.1116751269035533</c:v>
                </c:pt>
                <c:pt idx="4">
                  <c:v>0.11042944785276074</c:v>
                </c:pt>
                <c:pt idx="5">
                  <c:v>0.1485148514851485</c:v>
                </c:pt>
                <c:pt idx="6">
                  <c:v>0.19363395225464192</c:v>
                </c:pt>
                <c:pt idx="7">
                  <c:v>0.19186046511627908</c:v>
                </c:pt>
                <c:pt idx="8">
                  <c:v>0.19518716577540107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0994911160945318"/>
          <c:min val="0.0820122477143349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KIA LV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0.07551240560949299</c:v>
                </c:pt>
                <c:pt idx="1">
                  <c:v>0.06607369758576874</c:v>
                </c:pt>
                <c:pt idx="2">
                  <c:v>0.06277056277056277</c:v>
                </c:pt>
                <c:pt idx="3">
                  <c:v>0.09216101694915255</c:v>
                </c:pt>
                <c:pt idx="4">
                  <c:v>0.06885245901639345</c:v>
                </c:pt>
                <c:pt idx="5">
                  <c:v>0.11217948717948718</c:v>
                </c:pt>
                <c:pt idx="6">
                  <c:v>0.16770833333333332</c:v>
                </c:pt>
                <c:pt idx="7">
                  <c:v>0.1271282633371169</c:v>
                </c:pt>
                <c:pt idx="8">
                  <c:v>0.10011641443538999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834489989177489"/>
          <c:min val="0.0470298971861471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HONDA FLAGSTAFF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0.038461538461538464</c:v>
                </c:pt>
                <c:pt idx="1">
                  <c:v>0.09066666666666667</c:v>
                </c:pt>
                <c:pt idx="2">
                  <c:v>0.09955752212389381</c:v>
                </c:pt>
                <c:pt idx="3">
                  <c:v>0.11637080867850098</c:v>
                </c:pt>
                <c:pt idx="4">
                  <c:v>0.11231101511879049</c:v>
                </c:pt>
                <c:pt idx="5">
                  <c:v>0.1724137931034483</c:v>
                </c:pt>
                <c:pt idx="6">
                  <c:v>0.1257606490872211</c:v>
                </c:pt>
                <c:pt idx="7">
                  <c:v>0.10043668122270742</c:v>
                </c:pt>
                <c:pt idx="8">
                  <c:v>0.11764705882352941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9250663129973475"/>
          <c:min val="0.01836870026525199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 HENDERSON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0.20245398773006135</c:v>
                </c:pt>
                <c:pt idx="1">
                  <c:v>0.1901840490797546</c:v>
                </c:pt>
                <c:pt idx="2">
                  <c:v>0.2981366459627329</c:v>
                </c:pt>
                <c:pt idx="3">
                  <c:v>0.2</c:v>
                </c:pt>
                <c:pt idx="4">
                  <c:v>0.31666666666666665</c:v>
                </c:pt>
                <c:pt idx="5">
                  <c:v>0.23391812865497075</c:v>
                </c:pt>
                <c:pt idx="6">
                  <c:v>0.22424242424242424</c:v>
                </c:pt>
                <c:pt idx="7">
                  <c:v>0.24444444444444444</c:v>
                </c:pt>
                <c:pt idx="8">
                  <c:v>0.29518072289156627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3563905930470345"/>
          <c:min val="0.1712116564417178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HONDA NORTH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0.1434010152284264</c:v>
                </c:pt>
                <c:pt idx="1">
                  <c:v>0.13473256601218686</c:v>
                </c:pt>
                <c:pt idx="2">
                  <c:v>0.14347026364193746</c:v>
                </c:pt>
                <c:pt idx="3">
                  <c:v>0.17080745341614906</c:v>
                </c:pt>
                <c:pt idx="4">
                  <c:v>0.19838987924094306</c:v>
                </c:pt>
                <c:pt idx="5">
                  <c:v>0.17491369390103567</c:v>
                </c:pt>
                <c:pt idx="6">
                  <c:v>0.14625652930934416</c:v>
                </c:pt>
                <c:pt idx="7">
                  <c:v>0.17226666666666668</c:v>
                </c:pt>
                <c:pt idx="8">
                  <c:v>0.16557474687313878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079384762252565"/>
          <c:min val="0.1251839690278734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CHEVY LV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0.11658382286488929</c:v>
                </c:pt>
                <c:pt idx="1">
                  <c:v>0.11829573934837093</c:v>
                </c:pt>
                <c:pt idx="2">
                  <c:v>0.10888888888888888</c:v>
                </c:pt>
                <c:pt idx="3">
                  <c:v>0.15854214123006835</c:v>
                </c:pt>
                <c:pt idx="4">
                  <c:v>0.12994350282485875</c:v>
                </c:pt>
                <c:pt idx="5">
                  <c:v>0.13755656108597286</c:v>
                </c:pt>
                <c:pt idx="6">
                  <c:v>0.133244798583444</c:v>
                </c:pt>
                <c:pt idx="7">
                  <c:v>0.13096309630963096</c:v>
                </c:pt>
                <c:pt idx="8">
                  <c:v>0.12280701754385964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6599012908124527"/>
          <c:min val="0.1014409010377119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MAZDA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0.05536332179930796</c:v>
                </c:pt>
                <c:pt idx="1">
                  <c:v>0.1252408477842004</c:v>
                </c:pt>
                <c:pt idx="2">
                  <c:v>0.12401883830455258</c:v>
                </c:pt>
                <c:pt idx="3">
                  <c:v>0.11682242990654206</c:v>
                </c:pt>
                <c:pt idx="4">
                  <c:v>0.09803921568627451</c:v>
                </c:pt>
                <c:pt idx="5">
                  <c:v>0.07339449541284404</c:v>
                </c:pt>
                <c:pt idx="6">
                  <c:v>0.12166172106824925</c:v>
                </c:pt>
                <c:pt idx="7">
                  <c:v>0.22156573116691286</c:v>
                </c:pt>
                <c:pt idx="8">
                  <c:v>0.2374429223744292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647548624606974"/>
          <c:min val="0.028051381713039777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HYUNDAI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0.09433962264150944</c:v>
                </c:pt>
                <c:pt idx="1">
                  <c:v>0.11855670103092783</c:v>
                </c:pt>
                <c:pt idx="2">
                  <c:v>0.11312217194570136</c:v>
                </c:pt>
                <c:pt idx="3">
                  <c:v>0.1440677966101695</c:v>
                </c:pt>
                <c:pt idx="4">
                  <c:v>0.12173913043478261</c:v>
                </c:pt>
                <c:pt idx="5">
                  <c:v>0.1388888888888889</c:v>
                </c:pt>
                <c:pt idx="6">
                  <c:v>0.125</c:v>
                </c:pt>
                <c:pt idx="7">
                  <c:v>0.14356435643564355</c:v>
                </c:pt>
                <c:pt idx="8">
                  <c:v>0.21212121212121213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2978845054316754"/>
          <c:min val="0.0766723842195540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HONDA SPOKANE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0.004873294346978557</c:v>
                </c:pt>
                <c:pt idx="1">
                  <c:v>0.0012048192771084338</c:v>
                </c:pt>
                <c:pt idx="2">
                  <c:v>0.015321756894790603</c:v>
                </c:pt>
                <c:pt idx="3">
                  <c:v>0.011099899091826439</c:v>
                </c:pt>
                <c:pt idx="4">
                  <c:v>0.003972194637537239</c:v>
                </c:pt>
                <c:pt idx="5">
                  <c:v>0.03501945525291829</c:v>
                </c:pt>
                <c:pt idx="6">
                  <c:v>0.05103969754253308</c:v>
                </c:pt>
                <c:pt idx="7">
                  <c:v>0.04133064516129032</c:v>
                </c:pt>
                <c:pt idx="8">
                  <c:v>0.02747791952894995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5851492928234678"/>
          <c:min val="-0.00627041246270526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KIA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0.011904761904761904</c:v>
                </c:pt>
                <c:pt idx="1">
                  <c:v>0.05405405405405406</c:v>
                </c:pt>
                <c:pt idx="2">
                  <c:v>0.09345794392523364</c:v>
                </c:pt>
                <c:pt idx="3">
                  <c:v>0.1278538812785388</c:v>
                </c:pt>
                <c:pt idx="4">
                  <c:v>0.09219858156028368</c:v>
                </c:pt>
                <c:pt idx="5">
                  <c:v>0.05314009661835749</c:v>
                </c:pt>
                <c:pt idx="6">
                  <c:v>0.05702647657841141</c:v>
                </c:pt>
                <c:pt idx="7">
                  <c:v>0.10180995475113122</c:v>
                </c:pt>
                <c:pt idx="8">
                  <c:v>0.10022271714922049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4524624918460532"/>
          <c:min val="-0.00548760600130462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HONDA NORTH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0.09898477157360407</c:v>
                </c:pt>
                <c:pt idx="1">
                  <c:v>0.08869329722410291</c:v>
                </c:pt>
                <c:pt idx="2">
                  <c:v>0.10177805027590435</c:v>
                </c:pt>
                <c:pt idx="3">
                  <c:v>0.13354037267080746</c:v>
                </c:pt>
                <c:pt idx="4">
                  <c:v>0.156411730879816</c:v>
                </c:pt>
                <c:pt idx="5">
                  <c:v>0.1283084004602992</c:v>
                </c:pt>
                <c:pt idx="6">
                  <c:v>0.11723737666860128</c:v>
                </c:pt>
                <c:pt idx="7">
                  <c:v>0.13226666666666667</c:v>
                </c:pt>
                <c:pt idx="8">
                  <c:v>0.11554496724240619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6656949592817297"/>
          <c:min val="0.0785355321757459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SUBARU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0.003616636528028933</c:v>
                </c:pt>
                <c:pt idx="1">
                  <c:v>0.24609375</c:v>
                </c:pt>
                <c:pt idx="2">
                  <c:v>0.16339869281045752</c:v>
                </c:pt>
                <c:pt idx="3">
                  <c:v>0.16306156405990016</c:v>
                </c:pt>
                <c:pt idx="4">
                  <c:v>0.1684981684981685</c:v>
                </c:pt>
                <c:pt idx="5">
                  <c:v>0.14188034188034188</c:v>
                </c:pt>
                <c:pt idx="6">
                  <c:v>0.16387959866220736</c:v>
                </c:pt>
                <c:pt idx="7">
                  <c:v>0.13863216266173753</c:v>
                </c:pt>
                <c:pt idx="8">
                  <c:v>0.16337522441651706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8246531702079564"/>
          <c:min val="-0.03275493049276672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CHEVY LV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0.055128784455490284</c:v>
                </c:pt>
                <c:pt idx="1">
                  <c:v>0.05513784461152882</c:v>
                </c:pt>
                <c:pt idx="2">
                  <c:v>0.06488888888888888</c:v>
                </c:pt>
                <c:pt idx="3">
                  <c:v>0.07881548974943052</c:v>
                </c:pt>
                <c:pt idx="4">
                  <c:v>0.08050847457627118</c:v>
                </c:pt>
                <c:pt idx="5">
                  <c:v>0.09049773755656108</c:v>
                </c:pt>
                <c:pt idx="6">
                  <c:v>0.07923860115095174</c:v>
                </c:pt>
                <c:pt idx="7">
                  <c:v>0.08010801080108011</c:v>
                </c:pt>
                <c:pt idx="8">
                  <c:v>0.07212475633528265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958030805217217"/>
          <c:min val="0.0498234414903296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GMC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0.01929260450160772</c:v>
                </c:pt>
                <c:pt idx="1">
                  <c:v>0.10091743119266056</c:v>
                </c:pt>
                <c:pt idx="2">
                  <c:v>0.0906515580736544</c:v>
                </c:pt>
                <c:pt idx="3">
                  <c:v>0.06395348837209303</c:v>
                </c:pt>
                <c:pt idx="4">
                  <c:v>0.08116883116883117</c:v>
                </c:pt>
                <c:pt idx="5">
                  <c:v>0.0676056338028169</c:v>
                </c:pt>
                <c:pt idx="6">
                  <c:v>0.08378378378378379</c:v>
                </c:pt>
                <c:pt idx="7">
                  <c:v>0.08900523560209424</c:v>
                </c:pt>
                <c:pt idx="8">
                  <c:v>0.09523809523809523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1316115519631847"/>
          <c:min val="0.00704888049794979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SUBARU LV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0.0976685570258349</c:v>
                </c:pt>
                <c:pt idx="1">
                  <c:v>0.1078092605390463</c:v>
                </c:pt>
                <c:pt idx="2">
                  <c:v>0.10520023909145249</c:v>
                </c:pt>
                <c:pt idx="3">
                  <c:v>0.09673024523160763</c:v>
                </c:pt>
                <c:pt idx="4">
                  <c:v>0.08597883597883597</c:v>
                </c:pt>
                <c:pt idx="5">
                  <c:v>0.0961768219832736</c:v>
                </c:pt>
                <c:pt idx="6">
                  <c:v>0.10995723885155773</c:v>
                </c:pt>
                <c:pt idx="7">
                  <c:v>0.11163337250293771</c:v>
                </c:pt>
                <c:pt idx="8">
                  <c:v>0.10709677419354839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1548155298155298"/>
          <c:min val="0.08213065550022071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TOYOTA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0.04233870967741935</c:v>
                </c:pt>
                <c:pt idx="1">
                  <c:v>0.057926829268292686</c:v>
                </c:pt>
                <c:pt idx="2">
                  <c:v>0.06262359920896507</c:v>
                </c:pt>
                <c:pt idx="3">
                  <c:v>0.06316489361702128</c:v>
                </c:pt>
                <c:pt idx="4">
                  <c:v>0.08424110384894698</c:v>
                </c:pt>
                <c:pt idx="5">
                  <c:v>0.07068741893644617</c:v>
                </c:pt>
                <c:pt idx="6">
                  <c:v>0.06300185299567634</c:v>
                </c:pt>
                <c:pt idx="7">
                  <c:v>0.05081555834378921</c:v>
                </c:pt>
                <c:pt idx="8">
                  <c:v>0.06115810019518542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9052646297467612"/>
          <c:min val="0.03605335055169020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MAZDA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0.04325259515570934</c:v>
                </c:pt>
                <c:pt idx="1">
                  <c:v>0.05009633911368015</c:v>
                </c:pt>
                <c:pt idx="2">
                  <c:v>0.061224489795918366</c:v>
                </c:pt>
                <c:pt idx="3">
                  <c:v>0.06542056074766354</c:v>
                </c:pt>
                <c:pt idx="4">
                  <c:v>0.058823529411764705</c:v>
                </c:pt>
                <c:pt idx="5">
                  <c:v>0.04434250764525994</c:v>
                </c:pt>
                <c:pt idx="6">
                  <c:v>0.057863501483679525</c:v>
                </c:pt>
                <c:pt idx="7">
                  <c:v>0.17725258493353027</c:v>
                </c:pt>
                <c:pt idx="8">
                  <c:v>0.1902587519025875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1230967541461923"/>
          <c:min val="0.02120167164367761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AUDI RENO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0.007444168734491315</c:v>
                </c:pt>
                <c:pt idx="1">
                  <c:v>0.0030959752321981426</c:v>
                </c:pt>
                <c:pt idx="2">
                  <c:v>0.004796163069544364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0.05952380952380952</c:v>
                </c:pt>
                <c:pt idx="8">
                  <c:v>0.10632183908045977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2227011494252873"/>
          <c:min val="-0.01594827586206896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KIA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0.03333333333333333</c:v>
                </c:pt>
                <c:pt idx="1">
                  <c:v>0.044226044226044224</c:v>
                </c:pt>
                <c:pt idx="2">
                  <c:v>0.0397196261682243</c:v>
                </c:pt>
                <c:pt idx="3">
                  <c:v>0.0684931506849315</c:v>
                </c:pt>
                <c:pt idx="4">
                  <c:v>0.05200945626477541</c:v>
                </c:pt>
                <c:pt idx="5">
                  <c:v>0.05555555555555555</c:v>
                </c:pt>
                <c:pt idx="6">
                  <c:v>0.06720977596741344</c:v>
                </c:pt>
                <c:pt idx="7">
                  <c:v>0.083710407239819</c:v>
                </c:pt>
                <c:pt idx="8">
                  <c:v>0.08685968819599109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9488864142538975"/>
          <c:min val="0.02530438010393466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HYUNDAI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0.08490566037735849</c:v>
                </c:pt>
                <c:pt idx="1">
                  <c:v>0.0979381443298969</c:v>
                </c:pt>
                <c:pt idx="2">
                  <c:v>0.06787330316742081</c:v>
                </c:pt>
                <c:pt idx="3">
                  <c:v>0.08898305084745763</c:v>
                </c:pt>
                <c:pt idx="4">
                  <c:v>0.0782608695652174</c:v>
                </c:pt>
                <c:pt idx="5">
                  <c:v>0.0992063492063492</c:v>
                </c:pt>
                <c:pt idx="6">
                  <c:v>0.09913793103448276</c:v>
                </c:pt>
                <c:pt idx="7">
                  <c:v>0.09900990099009901</c:v>
                </c:pt>
                <c:pt idx="8">
                  <c:v>0.15151515151515152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640614287673111"/>
          <c:min val="0.055327025915261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KIA LV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0.08198489751887811</c:v>
                </c:pt>
                <c:pt idx="1">
                  <c:v>0.08132147395171538</c:v>
                </c:pt>
                <c:pt idx="2">
                  <c:v>0.07900432900432901</c:v>
                </c:pt>
                <c:pt idx="3">
                  <c:v>0.07203389830508475</c:v>
                </c:pt>
                <c:pt idx="4">
                  <c:v>0.05573770491803279</c:v>
                </c:pt>
                <c:pt idx="5">
                  <c:v>0.06837606837606838</c:v>
                </c:pt>
                <c:pt idx="6">
                  <c:v>0.10104166666666667</c:v>
                </c:pt>
                <c:pt idx="7">
                  <c:v>0.08740068104426787</c:v>
                </c:pt>
                <c:pt idx="8">
                  <c:v>0.119906868451688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295322429817363"/>
          <c:min val="0.04611233038798450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 HENDERSON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0.09815950920245399</c:v>
                </c:pt>
                <c:pt idx="1">
                  <c:v>0.13496932515337423</c:v>
                </c:pt>
                <c:pt idx="2">
                  <c:v>0.16770186335403728</c:v>
                </c:pt>
                <c:pt idx="3">
                  <c:v>0.12857142857142856</c:v>
                </c:pt>
                <c:pt idx="4">
                  <c:v>0.13333333333333333</c:v>
                </c:pt>
                <c:pt idx="5">
                  <c:v>0.16374269005847952</c:v>
                </c:pt>
                <c:pt idx="6">
                  <c:v>0.13333333333333333</c:v>
                </c:pt>
                <c:pt idx="7">
                  <c:v>0.18333333333333332</c:v>
                </c:pt>
                <c:pt idx="8">
                  <c:v>0.14457831325301204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9610940695296522"/>
          <c:min val="0.0853834355828220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GMC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0.04180064308681672</c:v>
                </c:pt>
                <c:pt idx="1">
                  <c:v>0.04892966360856269</c:v>
                </c:pt>
                <c:pt idx="2">
                  <c:v>0.04815864022662889</c:v>
                </c:pt>
                <c:pt idx="3">
                  <c:v>0.0872093023255814</c:v>
                </c:pt>
                <c:pt idx="4">
                  <c:v>0.06168831168831169</c:v>
                </c:pt>
                <c:pt idx="5">
                  <c:v>0.07323943661971831</c:v>
                </c:pt>
                <c:pt idx="6">
                  <c:v>0.07297297297297298</c:v>
                </c:pt>
                <c:pt idx="7">
                  <c:v>0.05759162303664921</c:v>
                </c:pt>
                <c:pt idx="8">
                  <c:v>0.05322128851540616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940206012113961"/>
          <c:min val="0.0349893442010020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HONDA FLAGSTAFF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0.03021978021978022</c:v>
                </c:pt>
                <c:pt idx="1">
                  <c:v>0.021333333333333333</c:v>
                </c:pt>
                <c:pt idx="2">
                  <c:v>0.022123893805309734</c:v>
                </c:pt>
                <c:pt idx="3">
                  <c:v>0.01775147928994083</c:v>
                </c:pt>
                <c:pt idx="4">
                  <c:v>0.032397408207343416</c:v>
                </c:pt>
                <c:pt idx="5">
                  <c:v>0.04259634888438134</c:v>
                </c:pt>
                <c:pt idx="6">
                  <c:v>0.05070993914807302</c:v>
                </c:pt>
                <c:pt idx="7">
                  <c:v>0.028384279475982533</c:v>
                </c:pt>
                <c:pt idx="8">
                  <c:v>0.03764705882352941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5565370812679285"/>
          <c:min val="0.012807710311221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LEXUS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0.06329113924050633</c:v>
                </c:pt>
                <c:pt idx="1">
                  <c:v>0.07948717948717948</c:v>
                </c:pt>
                <c:pt idx="2">
                  <c:v>0.0855397148676171</c:v>
                </c:pt>
                <c:pt idx="3">
                  <c:v>0.08103130755064457</c:v>
                </c:pt>
                <c:pt idx="4">
                  <c:v>0.07216494845360824</c:v>
                </c:pt>
                <c:pt idx="5">
                  <c:v>0.09584086799276673</c:v>
                </c:pt>
                <c:pt idx="6">
                  <c:v>0.10815602836879433</c:v>
                </c:pt>
                <c:pt idx="7">
                  <c:v>0.08665511265164645</c:v>
                </c:pt>
                <c:pt idx="8">
                  <c:v>0.07381370826010544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1488576173803752"/>
          <c:min val="0.0565614058712631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CHEVY LV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0.04338002711251695</c:v>
                </c:pt>
                <c:pt idx="1">
                  <c:v>0.04661654135338346</c:v>
                </c:pt>
                <c:pt idx="2">
                  <c:v>0.05511111111111111</c:v>
                </c:pt>
                <c:pt idx="3">
                  <c:v>0.06651480637813212</c:v>
                </c:pt>
                <c:pt idx="4">
                  <c:v>0.06167608286252354</c:v>
                </c:pt>
                <c:pt idx="5">
                  <c:v>0.0665158371040724</c:v>
                </c:pt>
                <c:pt idx="6">
                  <c:v>0.05312084993359894</c:v>
                </c:pt>
                <c:pt idx="7">
                  <c:v>0.05535553555355536</c:v>
                </c:pt>
                <c:pt idx="8">
                  <c:v>0.07407407407407407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7867818111830764"/>
          <c:min val="0.03877592006828338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MAZDA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0.02249134948096886</c:v>
                </c:pt>
                <c:pt idx="1">
                  <c:v>0.030828516377649325</c:v>
                </c:pt>
                <c:pt idx="2">
                  <c:v>0.023547880690737835</c:v>
                </c:pt>
                <c:pt idx="3">
                  <c:v>0.020249221183800622</c:v>
                </c:pt>
                <c:pt idx="4">
                  <c:v>0.027149321266968326</c:v>
                </c:pt>
                <c:pt idx="5">
                  <c:v>0.012232415902140673</c:v>
                </c:pt>
                <c:pt idx="6">
                  <c:v>0.026706231454005934</c:v>
                </c:pt>
                <c:pt idx="7">
                  <c:v>0.10635155096011817</c:v>
                </c:pt>
                <c:pt idx="8">
                  <c:v>0.1887366818873668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1521232178515073"/>
          <c:min val="-0.0142432239956432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HYUNDAI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0.03398058252427184</c:v>
                </c:pt>
                <c:pt idx="1">
                  <c:v>0.04335260115606936</c:v>
                </c:pt>
                <c:pt idx="2">
                  <c:v>0.04838709677419355</c:v>
                </c:pt>
                <c:pt idx="3">
                  <c:v>0.04060913705583756</c:v>
                </c:pt>
                <c:pt idx="4">
                  <c:v>0.06134969325153374</c:v>
                </c:pt>
                <c:pt idx="5">
                  <c:v>0.06188118811881188</c:v>
                </c:pt>
                <c:pt idx="6">
                  <c:v>0.0636604774535809</c:v>
                </c:pt>
                <c:pt idx="7">
                  <c:v>0.061046511627906974</c:v>
                </c:pt>
                <c:pt idx="8">
                  <c:v>0.11764705882352941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3019703026841806"/>
          <c:min val="0.02143061107938321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HONDA SPOKANE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0.0012048192771084338</c:v>
                </c:pt>
                <c:pt idx="2">
                  <c:v>0.033707865168539325</c:v>
                </c:pt>
                <c:pt idx="3">
                  <c:v>0.028254288597376387</c:v>
                </c:pt>
                <c:pt idx="4">
                  <c:v>0.030784508440913606</c:v>
                </c:pt>
                <c:pt idx="5">
                  <c:v>0.04377431906614786</c:v>
                </c:pt>
                <c:pt idx="6">
                  <c:v>0.04158790170132325</c:v>
                </c:pt>
                <c:pt idx="7">
                  <c:v>0.05141129032258065</c:v>
                </c:pt>
                <c:pt idx="8">
                  <c:v>0.053974484789008834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62070657507360155"/>
          <c:min val="-0.00809617271835132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LINCOLN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0.04912280701754386</c:v>
                </c:pt>
                <c:pt idx="1">
                  <c:v>0.08914728682170543</c:v>
                </c:pt>
                <c:pt idx="2">
                  <c:v>0.06493506493506493</c:v>
                </c:pt>
                <c:pt idx="3">
                  <c:v>0.06498194945848375</c:v>
                </c:pt>
                <c:pt idx="4">
                  <c:v>0.06007067137809187</c:v>
                </c:pt>
                <c:pt idx="5">
                  <c:v>0.1044776119402985</c:v>
                </c:pt>
                <c:pt idx="6">
                  <c:v>0.11987381703470032</c:v>
                </c:pt>
                <c:pt idx="7">
                  <c:v>0.11450381679389313</c:v>
                </c:pt>
                <c:pt idx="8">
                  <c:v>0.06885245901639345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3048646853727378"/>
          <c:min val="0.0385101555149703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AUDI RENO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0.023809523809523808</c:v>
                </c:pt>
                <c:pt idx="8">
                  <c:v>0.05459770114942529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6278735632183909"/>
          <c:min val="-0.00818965517241379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HYUNDAI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0.07075471698113207</c:v>
                </c:pt>
                <c:pt idx="1">
                  <c:v>0.07216494845360824</c:v>
                </c:pt>
                <c:pt idx="2">
                  <c:v>0.049773755656108594</c:v>
                </c:pt>
                <c:pt idx="3">
                  <c:v>0.0635593220338983</c:v>
                </c:pt>
                <c:pt idx="4">
                  <c:v>0.06956521739130435</c:v>
                </c:pt>
                <c:pt idx="5">
                  <c:v>0.07142857142857142</c:v>
                </c:pt>
                <c:pt idx="6">
                  <c:v>0.06465517241379311</c:v>
                </c:pt>
                <c:pt idx="7">
                  <c:v>0.06930693069306931</c:v>
                </c:pt>
                <c:pt idx="8">
                  <c:v>0.12987012987012986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4188458600223305"/>
          <c:min val="0.03775929952400540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ACURA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0.11335012594458438</c:v>
                </c:pt>
                <c:pt idx="1">
                  <c:v>0.07084468664850137</c:v>
                </c:pt>
                <c:pt idx="2">
                  <c:v>0.07990314769975787</c:v>
                </c:pt>
                <c:pt idx="3">
                  <c:v>0.05597964376590331</c:v>
                </c:pt>
                <c:pt idx="4">
                  <c:v>0.11519607843137254</c:v>
                </c:pt>
                <c:pt idx="5">
                  <c:v>0.0988235294117647</c:v>
                </c:pt>
                <c:pt idx="6">
                  <c:v>0.10714285714285714</c:v>
                </c:pt>
                <c:pt idx="7">
                  <c:v>0.0855106888361045</c:v>
                </c:pt>
                <c:pt idx="8">
                  <c:v>0.11278195488721804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2407854363119293"/>
          <c:min val="0.0470971785660829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HONDA FLAGSTAFF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0.0026666666666666666</c:v>
                </c:pt>
                <c:pt idx="2">
                  <c:v>0.00663716814159292</c:v>
                </c:pt>
                <c:pt idx="3">
                  <c:v>0</c:v>
                </c:pt>
                <c:pt idx="4">
                  <c:v>0</c:v>
                </c:pt>
                <c:pt idx="5">
                  <c:v>0.010141987829614604</c:v>
                </c:pt>
                <c:pt idx="6">
                  <c:v>0.014198782961460446</c:v>
                </c:pt>
                <c:pt idx="7">
                  <c:v>0.008733624454148471</c:v>
                </c:pt>
                <c:pt idx="8">
                  <c:v>0.021176470588235293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24352941176470588"/>
          <c:min val="-0.00317647058823529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KIA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0.07142857142857142</c:v>
                </c:pt>
                <c:pt idx="1">
                  <c:v>0.09828009828009827</c:v>
                </c:pt>
                <c:pt idx="2">
                  <c:v>0.07009345794392523</c:v>
                </c:pt>
                <c:pt idx="3">
                  <c:v>0.11187214611872145</c:v>
                </c:pt>
                <c:pt idx="4">
                  <c:v>0.09692671394799054</c:v>
                </c:pt>
                <c:pt idx="5">
                  <c:v>0.08695652173913043</c:v>
                </c:pt>
                <c:pt idx="6">
                  <c:v>0.07128309572301425</c:v>
                </c:pt>
                <c:pt idx="7">
                  <c:v>0.10633484162895927</c:v>
                </c:pt>
                <c:pt idx="8">
                  <c:v>0.0935412026726058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1813894934494089"/>
          <c:min val="0.063826654717705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GMC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0.022508038585209004</c:v>
                </c:pt>
                <c:pt idx="1">
                  <c:v>0.039755351681957186</c:v>
                </c:pt>
                <c:pt idx="2">
                  <c:v>0.028328611898016998</c:v>
                </c:pt>
                <c:pt idx="3">
                  <c:v>0.05232558139534884</c:v>
                </c:pt>
                <c:pt idx="4">
                  <c:v>0.03571428571428571</c:v>
                </c:pt>
                <c:pt idx="5">
                  <c:v>0.030985915492957747</c:v>
                </c:pt>
                <c:pt idx="6">
                  <c:v>0.05675675675675676</c:v>
                </c:pt>
                <c:pt idx="7">
                  <c:v>0.020942408376963352</c:v>
                </c:pt>
                <c:pt idx="8">
                  <c:v>0.0392156862745098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62128909013725774"/>
          <c:min val="0.01557025611999434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
Review note: the month line is the store's own monthly cp gross per month, so a step up shows as the line moving to a higher level and staying there. Volume measures (gross, ROs) still carry some store-specific seasonality (snowbird markets) the group baseline cannot fully remove; the rate measures are the cleanest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
Review note: the month line is the store's own monthly cp ros per month, so a step up shows as the line moving to a higher level and staying there. Volume measures (gross, ROs) still carry some store-specific seasonality (snowbird markets) the group baseline cannot fully remove; the rate measures are the cleanest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
Review note: the month line is the store's own monthly cp hours per ro, so a step up shows as the line moving to a higher level and staying there. Volume measures (gross, ROs) still carry some store-specific seasonality (snowbird markets) the group baseline cannot fully remove; the rate measures are the cleanest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
Review note: the month line is the store's own monthly cp elr, so a step up shows as the line moving to a higher level and staying there. Volume measures (gross, ROs) still carry some store-specific seasonality (snowbird markets) the group baseline cannot fully remove; the rate measures are the cleanest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
Review note: the month line is the store's own monthly cp parts $ per ro, so a step up shows as the line moving to a higher level and staying there. Volume measures (gross, ROs) still carry some store-specific seasonality (snowbird markets) the group baseline cannot fully remove; the rate measures are the cleanest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
Review note: the month line is the store's own monthly cp parts gp %, so a step up shows as the line moving to a higher level and staying there. Volume measures (gross, ROs) still carry some store-specific seasonality (snowbird markets) the group baseline cannot fully remove; the rate measures are the cleanest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 Opcode closing % = ROs with the service ÷ customer-pay ROs on the op-code report basis, same as the Opcode Benchmarks slides.
Review note: the month line is the store's own monthly alignment %, so a step up shows as the line moving to a higher level and staying there. Volume measures (gross, ROs) still carry some store-specific seasonality (snowbird markets) the group baseline cannot fully remove; the rate measures are the cleanest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 Opcode closing % = ROs with the service ÷ customer-pay ROs on the op-code report basis, same as the Opcode Benchmarks slides.
Review note: the month line is the store's own monthly balance %, so a step up shows as the line moving to a higher level and staying there. Volume measures (gross, ROs) still carry some store-specific seasonality (snowbird markets) the group baseline cannot fully remove; the rate measures are the cleanest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 Opcode closing % = ROs with the service ÷ customer-pay ROs on the op-code report basis, same as the Opcode Benchmarks slides.
Review note: the month line is the store's own monthly brake fluid %, so a step up shows as the line moving to a higher level and staying there. Volume measures (gross, ROs) still carry some store-specific seasonality (snowbird markets) the group baseline cannot fully remove; the rate measures are the cleanest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 Opcode closing % = ROs with the service ÷ customer-pay ROs on the op-code report basis, same as the Opcode Benchmarks slides.
Review note: the month line is the store's own monthly fuel service %, so a step up shows as the line moving to a higher level and staying there. Volume measures (gross, ROs) still carry some store-specific seasonality (snowbird markets) the group baseline cannot fully remove; the rate measures are the cleanest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chart" Target="/ppt/charts/chart7.xml"/><Relationship Id="rId8" Type="http://schemas.openxmlformats.org/officeDocument/2006/relationships/chart" Target="/ppt/charts/chart8.xml"/><Relationship Id="rId9" Type="http://schemas.openxmlformats.org/officeDocument/2006/relationships/chart" Target="/ppt/charts/chart9.xml"/><Relationship Id="rId10" Type="http://schemas.openxmlformats.org/officeDocument/2006/relationships/chart" Target="/ppt/charts/chart10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chart" Target="/ppt/charts/chart13.xml"/><Relationship Id="rId4" Type="http://schemas.openxmlformats.org/officeDocument/2006/relationships/chart" Target="/ppt/charts/chart14.xml"/><Relationship Id="rId5" Type="http://schemas.openxmlformats.org/officeDocument/2006/relationships/chart" Target="/ppt/charts/chart15.xml"/><Relationship Id="rId6" Type="http://schemas.openxmlformats.org/officeDocument/2006/relationships/chart" Target="/ppt/charts/chart16.xml"/><Relationship Id="rId7" Type="http://schemas.openxmlformats.org/officeDocument/2006/relationships/chart" Target="/ppt/charts/chart17.xml"/><Relationship Id="rId8" Type="http://schemas.openxmlformats.org/officeDocument/2006/relationships/chart" Target="/ppt/charts/chart18.xml"/><Relationship Id="rId9" Type="http://schemas.openxmlformats.org/officeDocument/2006/relationships/chart" Target="/ppt/charts/chart19.xml"/><Relationship Id="rId10" Type="http://schemas.openxmlformats.org/officeDocument/2006/relationships/chart" Target="/ppt/charts/chart20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chart" Target="/ppt/charts/chart22.xml"/><Relationship Id="rId3" Type="http://schemas.openxmlformats.org/officeDocument/2006/relationships/chart" Target="/ppt/charts/chart23.xml"/><Relationship Id="rId4" Type="http://schemas.openxmlformats.org/officeDocument/2006/relationships/chart" Target="/ppt/charts/chart24.xml"/><Relationship Id="rId5" Type="http://schemas.openxmlformats.org/officeDocument/2006/relationships/chart" Target="/ppt/charts/chart25.xml"/><Relationship Id="rId6" Type="http://schemas.openxmlformats.org/officeDocument/2006/relationships/chart" Target="/ppt/charts/chart26.xml"/><Relationship Id="rId7" Type="http://schemas.openxmlformats.org/officeDocument/2006/relationships/chart" Target="/ppt/charts/chart27.xml"/><Relationship Id="rId8" Type="http://schemas.openxmlformats.org/officeDocument/2006/relationships/chart" Target="/ppt/charts/chart28.xml"/><Relationship Id="rId9" Type="http://schemas.openxmlformats.org/officeDocument/2006/relationships/chart" Target="/ppt/charts/chart29.xml"/><Relationship Id="rId10" Type="http://schemas.openxmlformats.org/officeDocument/2006/relationships/chart" Target="/ppt/charts/chart30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1.xml"/><Relationship Id="rId2" Type="http://schemas.openxmlformats.org/officeDocument/2006/relationships/chart" Target="/ppt/charts/chart32.xml"/><Relationship Id="rId3" Type="http://schemas.openxmlformats.org/officeDocument/2006/relationships/chart" Target="/ppt/charts/chart33.xml"/><Relationship Id="rId4" Type="http://schemas.openxmlformats.org/officeDocument/2006/relationships/chart" Target="/ppt/charts/chart34.xml"/><Relationship Id="rId5" Type="http://schemas.openxmlformats.org/officeDocument/2006/relationships/chart" Target="/ppt/charts/chart35.xml"/><Relationship Id="rId6" Type="http://schemas.openxmlformats.org/officeDocument/2006/relationships/chart" Target="/ppt/charts/chart36.xml"/><Relationship Id="rId7" Type="http://schemas.openxmlformats.org/officeDocument/2006/relationships/chart" Target="/ppt/charts/chart37.xml"/><Relationship Id="rId8" Type="http://schemas.openxmlformats.org/officeDocument/2006/relationships/chart" Target="/ppt/charts/chart38.xml"/><Relationship Id="rId9" Type="http://schemas.openxmlformats.org/officeDocument/2006/relationships/chart" Target="/ppt/charts/chart39.xml"/><Relationship Id="rId10" Type="http://schemas.openxmlformats.org/officeDocument/2006/relationships/chart" Target="/ppt/charts/chart40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1.xml"/><Relationship Id="rId2" Type="http://schemas.openxmlformats.org/officeDocument/2006/relationships/chart" Target="/ppt/charts/chart42.xml"/><Relationship Id="rId3" Type="http://schemas.openxmlformats.org/officeDocument/2006/relationships/chart" Target="/ppt/charts/chart43.xml"/><Relationship Id="rId4" Type="http://schemas.openxmlformats.org/officeDocument/2006/relationships/chart" Target="/ppt/charts/chart44.xml"/><Relationship Id="rId5" Type="http://schemas.openxmlformats.org/officeDocument/2006/relationships/chart" Target="/ppt/charts/chart45.xml"/><Relationship Id="rId6" Type="http://schemas.openxmlformats.org/officeDocument/2006/relationships/chart" Target="/ppt/charts/chart46.xml"/><Relationship Id="rId7" Type="http://schemas.openxmlformats.org/officeDocument/2006/relationships/chart" Target="/ppt/charts/chart47.xml"/><Relationship Id="rId8" Type="http://schemas.openxmlformats.org/officeDocument/2006/relationships/chart" Target="/ppt/charts/chart48.xml"/><Relationship Id="rId9" Type="http://schemas.openxmlformats.org/officeDocument/2006/relationships/chart" Target="/ppt/charts/chart49.xml"/><Relationship Id="rId10" Type="http://schemas.openxmlformats.org/officeDocument/2006/relationships/chart" Target="/ppt/charts/chart50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1.xml"/><Relationship Id="rId2" Type="http://schemas.openxmlformats.org/officeDocument/2006/relationships/chart" Target="/ppt/charts/chart52.xml"/><Relationship Id="rId3" Type="http://schemas.openxmlformats.org/officeDocument/2006/relationships/chart" Target="/ppt/charts/chart53.xml"/><Relationship Id="rId4" Type="http://schemas.openxmlformats.org/officeDocument/2006/relationships/chart" Target="/ppt/charts/chart54.xml"/><Relationship Id="rId5" Type="http://schemas.openxmlformats.org/officeDocument/2006/relationships/chart" Target="/ppt/charts/chart55.xml"/><Relationship Id="rId6" Type="http://schemas.openxmlformats.org/officeDocument/2006/relationships/chart" Target="/ppt/charts/chart56.xml"/><Relationship Id="rId7" Type="http://schemas.openxmlformats.org/officeDocument/2006/relationships/chart" Target="/ppt/charts/chart57.xml"/><Relationship Id="rId8" Type="http://schemas.openxmlformats.org/officeDocument/2006/relationships/chart" Target="/ppt/charts/chart58.xml"/><Relationship Id="rId9" Type="http://schemas.openxmlformats.org/officeDocument/2006/relationships/chart" Target="/ppt/charts/chart59.xml"/><Relationship Id="rId10" Type="http://schemas.openxmlformats.org/officeDocument/2006/relationships/chart" Target="/ppt/charts/chart60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1.xml"/><Relationship Id="rId2" Type="http://schemas.openxmlformats.org/officeDocument/2006/relationships/chart" Target="/ppt/charts/chart62.xml"/><Relationship Id="rId3" Type="http://schemas.openxmlformats.org/officeDocument/2006/relationships/chart" Target="/ppt/charts/chart63.xml"/><Relationship Id="rId4" Type="http://schemas.openxmlformats.org/officeDocument/2006/relationships/chart" Target="/ppt/charts/chart64.xml"/><Relationship Id="rId5" Type="http://schemas.openxmlformats.org/officeDocument/2006/relationships/chart" Target="/ppt/charts/chart65.xml"/><Relationship Id="rId6" Type="http://schemas.openxmlformats.org/officeDocument/2006/relationships/chart" Target="/ppt/charts/chart66.xml"/><Relationship Id="rId7" Type="http://schemas.openxmlformats.org/officeDocument/2006/relationships/chart" Target="/ppt/charts/chart67.xml"/><Relationship Id="rId8" Type="http://schemas.openxmlformats.org/officeDocument/2006/relationships/chart" Target="/ppt/charts/chart68.xml"/><Relationship Id="rId9" Type="http://schemas.openxmlformats.org/officeDocument/2006/relationships/chart" Target="/ppt/charts/chart69.xml"/><Relationship Id="rId10" Type="http://schemas.openxmlformats.org/officeDocument/2006/relationships/chart" Target="/ppt/charts/chart70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1.xml"/><Relationship Id="rId2" Type="http://schemas.openxmlformats.org/officeDocument/2006/relationships/chart" Target="/ppt/charts/chart72.xml"/><Relationship Id="rId3" Type="http://schemas.openxmlformats.org/officeDocument/2006/relationships/chart" Target="/ppt/charts/chart73.xml"/><Relationship Id="rId4" Type="http://schemas.openxmlformats.org/officeDocument/2006/relationships/chart" Target="/ppt/charts/chart74.xml"/><Relationship Id="rId5" Type="http://schemas.openxmlformats.org/officeDocument/2006/relationships/chart" Target="/ppt/charts/chart75.xml"/><Relationship Id="rId6" Type="http://schemas.openxmlformats.org/officeDocument/2006/relationships/chart" Target="/ppt/charts/chart76.xml"/><Relationship Id="rId7" Type="http://schemas.openxmlformats.org/officeDocument/2006/relationships/chart" Target="/ppt/charts/chart77.xml"/><Relationship Id="rId8" Type="http://schemas.openxmlformats.org/officeDocument/2006/relationships/chart" Target="/ppt/charts/chart78.xml"/><Relationship Id="rId9" Type="http://schemas.openxmlformats.org/officeDocument/2006/relationships/chart" Target="/ppt/charts/chart79.xml"/><Relationship Id="rId10" Type="http://schemas.openxmlformats.org/officeDocument/2006/relationships/chart" Target="/ppt/charts/chart80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1.xml"/><Relationship Id="rId2" Type="http://schemas.openxmlformats.org/officeDocument/2006/relationships/chart" Target="/ppt/charts/chart82.xml"/><Relationship Id="rId3" Type="http://schemas.openxmlformats.org/officeDocument/2006/relationships/chart" Target="/ppt/charts/chart83.xml"/><Relationship Id="rId4" Type="http://schemas.openxmlformats.org/officeDocument/2006/relationships/chart" Target="/ppt/charts/chart84.xml"/><Relationship Id="rId5" Type="http://schemas.openxmlformats.org/officeDocument/2006/relationships/chart" Target="/ppt/charts/chart85.xml"/><Relationship Id="rId6" Type="http://schemas.openxmlformats.org/officeDocument/2006/relationships/chart" Target="/ppt/charts/chart86.xml"/><Relationship Id="rId7" Type="http://schemas.openxmlformats.org/officeDocument/2006/relationships/chart" Target="/ppt/charts/chart87.xml"/><Relationship Id="rId8" Type="http://schemas.openxmlformats.org/officeDocument/2006/relationships/chart" Target="/ppt/charts/chart88.xml"/><Relationship Id="rId9" Type="http://schemas.openxmlformats.org/officeDocument/2006/relationships/chart" Target="/ppt/charts/chart89.xml"/><Relationship Id="rId10" Type="http://schemas.openxmlformats.org/officeDocument/2006/relationships/chart" Target="/ppt/charts/chart90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1.xml"/><Relationship Id="rId2" Type="http://schemas.openxmlformats.org/officeDocument/2006/relationships/chart" Target="/ppt/charts/chart92.xml"/><Relationship Id="rId3" Type="http://schemas.openxmlformats.org/officeDocument/2006/relationships/chart" Target="/ppt/charts/chart93.xml"/><Relationship Id="rId4" Type="http://schemas.openxmlformats.org/officeDocument/2006/relationships/chart" Target="/ppt/charts/chart94.xml"/><Relationship Id="rId5" Type="http://schemas.openxmlformats.org/officeDocument/2006/relationships/chart" Target="/ppt/charts/chart95.xml"/><Relationship Id="rId6" Type="http://schemas.openxmlformats.org/officeDocument/2006/relationships/chart" Target="/ppt/charts/chart96.xml"/><Relationship Id="rId7" Type="http://schemas.openxmlformats.org/officeDocument/2006/relationships/chart" Target="/ppt/charts/chart97.xml"/><Relationship Id="rId8" Type="http://schemas.openxmlformats.org/officeDocument/2006/relationships/chart" Target="/ppt/charts/chart98.xml"/><Relationship Id="rId9" Type="http://schemas.openxmlformats.org/officeDocument/2006/relationships/chart" Target="/ppt/charts/chart99.xml"/><Relationship Id="rId10" Type="http://schemas.openxmlformats.org/officeDocument/2006/relationships/chart" Target="/ppt/charts/chart100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CP ENGINE · WHO'S MOVING NOW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Now: CP Gross per Month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 2026. Group $10.10M → $10.96M, +8.4%: that is the season. 21 of 33 stores beat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– Sep 2026, by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93392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93392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$155K → $209K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276088" y="2011680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183880" y="1993392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1993392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+34.6%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375611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375611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375611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$85K → $112K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276088" y="2393899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183880" y="2375611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375611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+31.3%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1792" y="2757830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275783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275783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0" y="275783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$218K → $279K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5276088" y="277611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183880" y="275783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0195560" y="275783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+27.8%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49808" y="314005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314005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3657600" y="314005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$54K → $66K</a:t>
            </a:r>
            <a:endParaRPr lang="en-US" sz="14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276088" y="315833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8183880" y="314005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95560" y="314005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+23.2%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21792" y="3522269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" y="3522269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97280" y="3522269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3657600" y="3522269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$49K → $60K</a:t>
            </a:r>
            <a:endParaRPr lang="en-US" sz="1400" dirty="0"/>
          </a:p>
        </p:txBody>
      </p:sp>
      <p:graphicFrame>
        <p:nvGraphicFramePr>
          <p:cNvPr id="41" name="Chart 4" descr=""/>
          <p:cNvGraphicFramePr/>
          <p:nvPr/>
        </p:nvGraphicFramePr>
        <p:xfrm>
          <a:off x="5276088" y="3540557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183880" y="3522269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195560" y="3522269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+22.0%</a:t>
            </a:r>
            <a:endParaRPr lang="en-US" sz="1600" dirty="0"/>
          </a:p>
        </p:txBody>
      </p:sp>
      <p:sp>
        <p:nvSpPr>
          <p:cNvPr id="44" name="Text 37"/>
          <p:cNvSpPr txBox="1"/>
          <p:nvPr/>
        </p:nvSpPr>
        <p:spPr>
          <a:xfrm>
            <a:off x="749808" y="3904488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500" dirty="0"/>
          </a:p>
        </p:txBody>
      </p:sp>
      <p:sp>
        <p:nvSpPr>
          <p:cNvPr id="45" name="Text 38"/>
          <p:cNvSpPr txBox="1"/>
          <p:nvPr/>
        </p:nvSpPr>
        <p:spPr>
          <a:xfrm>
            <a:off x="1097280" y="3904488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3657600" y="3904488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$202K → $246K</a:t>
            </a:r>
            <a:endParaRPr lang="en-US" sz="1400" dirty="0"/>
          </a:p>
        </p:txBody>
      </p:sp>
      <p:graphicFrame>
        <p:nvGraphicFramePr>
          <p:cNvPr id="47" name="Chart 5" descr=""/>
          <p:cNvGraphicFramePr/>
          <p:nvPr/>
        </p:nvGraphicFramePr>
        <p:xfrm>
          <a:off x="5276088" y="3922776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8" name="Text 40"/>
          <p:cNvSpPr txBox="1"/>
          <p:nvPr/>
        </p:nvSpPr>
        <p:spPr>
          <a:xfrm>
            <a:off x="8183880" y="3904488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10195560" y="3904488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+21.9%</a:t>
            </a:r>
            <a:endParaRPr lang="en-US" sz="1600" dirty="0"/>
          </a:p>
        </p:txBody>
      </p:sp>
      <p:sp>
        <p:nvSpPr>
          <p:cNvPr id="50" name="Shape 42"/>
          <p:cNvSpPr/>
          <p:nvPr/>
        </p:nvSpPr>
        <p:spPr>
          <a:xfrm>
            <a:off x="621792" y="4286707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749808" y="4286707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500" dirty="0"/>
          </a:p>
        </p:txBody>
      </p:sp>
      <p:sp>
        <p:nvSpPr>
          <p:cNvPr id="52" name="Text 44"/>
          <p:cNvSpPr txBox="1"/>
          <p:nvPr/>
        </p:nvSpPr>
        <p:spPr>
          <a:xfrm>
            <a:off x="1097280" y="4286707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400" dirty="0"/>
          </a:p>
        </p:txBody>
      </p:sp>
      <p:sp>
        <p:nvSpPr>
          <p:cNvPr id="53" name="Text 45"/>
          <p:cNvSpPr txBox="1"/>
          <p:nvPr/>
        </p:nvSpPr>
        <p:spPr>
          <a:xfrm>
            <a:off x="3657600" y="4286707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$311K → $375K</a:t>
            </a:r>
            <a:endParaRPr lang="en-US" sz="1400" dirty="0"/>
          </a:p>
        </p:txBody>
      </p:sp>
      <p:graphicFrame>
        <p:nvGraphicFramePr>
          <p:cNvPr id="54" name="Chart 6" descr=""/>
          <p:cNvGraphicFramePr/>
          <p:nvPr/>
        </p:nvGraphicFramePr>
        <p:xfrm>
          <a:off x="5276088" y="4304995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55" name="Text 46"/>
          <p:cNvSpPr txBox="1"/>
          <p:nvPr/>
        </p:nvSpPr>
        <p:spPr>
          <a:xfrm>
            <a:off x="8183880" y="4286707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56" name="Text 47"/>
          <p:cNvSpPr txBox="1"/>
          <p:nvPr/>
        </p:nvSpPr>
        <p:spPr>
          <a:xfrm>
            <a:off x="10195560" y="4286707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+20.4%</a:t>
            </a:r>
            <a:endParaRPr lang="en-US" sz="1600" dirty="0"/>
          </a:p>
        </p:txBody>
      </p:sp>
      <p:sp>
        <p:nvSpPr>
          <p:cNvPr id="57" name="Text 48"/>
          <p:cNvSpPr txBox="1"/>
          <p:nvPr/>
        </p:nvSpPr>
        <p:spPr>
          <a:xfrm>
            <a:off x="749808" y="466892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500" dirty="0"/>
          </a:p>
        </p:txBody>
      </p:sp>
      <p:sp>
        <p:nvSpPr>
          <p:cNvPr id="58" name="Text 49"/>
          <p:cNvSpPr txBox="1"/>
          <p:nvPr/>
        </p:nvSpPr>
        <p:spPr>
          <a:xfrm>
            <a:off x="1097280" y="466892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400" dirty="0"/>
          </a:p>
        </p:txBody>
      </p:sp>
      <p:sp>
        <p:nvSpPr>
          <p:cNvPr id="59" name="Text 50"/>
          <p:cNvSpPr txBox="1"/>
          <p:nvPr/>
        </p:nvSpPr>
        <p:spPr>
          <a:xfrm>
            <a:off x="3657600" y="466892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$148K → $177K</a:t>
            </a:r>
            <a:endParaRPr lang="en-US" sz="1400" dirty="0"/>
          </a:p>
        </p:txBody>
      </p:sp>
      <p:graphicFrame>
        <p:nvGraphicFramePr>
          <p:cNvPr id="60" name="Chart 7" descr=""/>
          <p:cNvGraphicFramePr/>
          <p:nvPr/>
        </p:nvGraphicFramePr>
        <p:xfrm>
          <a:off x="5276088" y="468721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61" name="Text 51"/>
          <p:cNvSpPr txBox="1"/>
          <p:nvPr/>
        </p:nvSpPr>
        <p:spPr>
          <a:xfrm>
            <a:off x="8183880" y="466892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62" name="Text 52"/>
          <p:cNvSpPr txBox="1"/>
          <p:nvPr/>
        </p:nvSpPr>
        <p:spPr>
          <a:xfrm>
            <a:off x="10195560" y="466892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+19.1%</a:t>
            </a:r>
            <a:endParaRPr lang="en-US" sz="1600" dirty="0"/>
          </a:p>
        </p:txBody>
      </p:sp>
      <p:sp>
        <p:nvSpPr>
          <p:cNvPr id="63" name="Shape 53"/>
          <p:cNvSpPr/>
          <p:nvPr/>
        </p:nvSpPr>
        <p:spPr>
          <a:xfrm>
            <a:off x="621792" y="5051146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4" name="Text 54"/>
          <p:cNvSpPr txBox="1"/>
          <p:nvPr/>
        </p:nvSpPr>
        <p:spPr>
          <a:xfrm>
            <a:off x="749808" y="505114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500" dirty="0"/>
          </a:p>
        </p:txBody>
      </p:sp>
      <p:sp>
        <p:nvSpPr>
          <p:cNvPr id="65" name="Text 55"/>
          <p:cNvSpPr txBox="1"/>
          <p:nvPr/>
        </p:nvSpPr>
        <p:spPr>
          <a:xfrm>
            <a:off x="1097280" y="505114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400" dirty="0"/>
          </a:p>
        </p:txBody>
      </p:sp>
      <p:sp>
        <p:nvSpPr>
          <p:cNvPr id="66" name="Text 56"/>
          <p:cNvSpPr txBox="1"/>
          <p:nvPr/>
        </p:nvSpPr>
        <p:spPr>
          <a:xfrm>
            <a:off x="3657600" y="505114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$100K → $119K</a:t>
            </a:r>
            <a:endParaRPr lang="en-US" sz="1400" dirty="0"/>
          </a:p>
        </p:txBody>
      </p:sp>
      <p:graphicFrame>
        <p:nvGraphicFramePr>
          <p:cNvPr id="67" name="Chart 8" descr=""/>
          <p:cNvGraphicFramePr/>
          <p:nvPr/>
        </p:nvGraphicFramePr>
        <p:xfrm>
          <a:off x="5276088" y="506943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68" name="Text 57"/>
          <p:cNvSpPr txBox="1"/>
          <p:nvPr/>
        </p:nvSpPr>
        <p:spPr>
          <a:xfrm>
            <a:off x="8183880" y="505114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69" name="Text 58"/>
          <p:cNvSpPr txBox="1"/>
          <p:nvPr/>
        </p:nvSpPr>
        <p:spPr>
          <a:xfrm>
            <a:off x="10195560" y="505114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+18.8%</a:t>
            </a:r>
            <a:endParaRPr lang="en-US" sz="1600" dirty="0"/>
          </a:p>
        </p:txBody>
      </p:sp>
      <p:sp>
        <p:nvSpPr>
          <p:cNvPr id="70" name="Text 59"/>
          <p:cNvSpPr txBox="1"/>
          <p:nvPr/>
        </p:nvSpPr>
        <p:spPr>
          <a:xfrm>
            <a:off x="749808" y="5433365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500" dirty="0"/>
          </a:p>
        </p:txBody>
      </p:sp>
      <p:sp>
        <p:nvSpPr>
          <p:cNvPr id="71" name="Text 60"/>
          <p:cNvSpPr txBox="1"/>
          <p:nvPr/>
        </p:nvSpPr>
        <p:spPr>
          <a:xfrm>
            <a:off x="1097280" y="5433365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400" dirty="0"/>
          </a:p>
        </p:txBody>
      </p:sp>
      <p:sp>
        <p:nvSpPr>
          <p:cNvPr id="72" name="Text 61"/>
          <p:cNvSpPr txBox="1"/>
          <p:nvPr/>
        </p:nvSpPr>
        <p:spPr>
          <a:xfrm>
            <a:off x="3657600" y="5433365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$294K → $345K</a:t>
            </a:r>
            <a:endParaRPr lang="en-US" sz="1400" dirty="0"/>
          </a:p>
        </p:txBody>
      </p:sp>
      <p:graphicFrame>
        <p:nvGraphicFramePr>
          <p:cNvPr id="73" name="Chart 9" descr=""/>
          <p:cNvGraphicFramePr/>
          <p:nvPr/>
        </p:nvGraphicFramePr>
        <p:xfrm>
          <a:off x="5276088" y="5451653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74" name="Text 62"/>
          <p:cNvSpPr txBox="1"/>
          <p:nvPr/>
        </p:nvSpPr>
        <p:spPr>
          <a:xfrm>
            <a:off x="8183880" y="5433365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75" name="Text 63"/>
          <p:cNvSpPr txBox="1"/>
          <p:nvPr/>
        </p:nvSpPr>
        <p:spPr>
          <a:xfrm>
            <a:off x="10195560" y="5433365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+17.3%</a:t>
            </a:r>
            <a:endParaRPr lang="en-US" sz="1600" dirty="0"/>
          </a:p>
        </p:txBody>
      </p:sp>
      <p:sp>
        <p:nvSpPr>
          <p:cNvPr id="76" name="Shape 64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77" name="Text 65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 went $155K to $209K, stepping up in August. Ask what changed that month.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CP ENGINE · WHO'S MOVING NOW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Now: CP ROs per Month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 2026. Group 29,846 → 32,085, +7.5%: that is the season. 17 of 33 stores beat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– Sep 2026, by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93392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93392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425 → 570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276088" y="2011680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183880" y="1993392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1993392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+34.0%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375611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375611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375611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543 → 667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276088" y="2393899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183880" y="2375611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375611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+22.8%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1792" y="2757830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275783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275783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0" y="275783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350 → 415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5276088" y="277611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183880" y="275783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0195560" y="275783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+18.6%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49808" y="314005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314005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3657600" y="314005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578 → 669</a:t>
            </a:r>
            <a:endParaRPr lang="en-US" sz="14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276088" y="315833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8183880" y="314005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95560" y="314005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+15.8%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21792" y="3522269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" y="3522269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97280" y="3522269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3657600" y="3522269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397 → 459</a:t>
            </a:r>
            <a:endParaRPr lang="en-US" sz="1400" dirty="0"/>
          </a:p>
        </p:txBody>
      </p:sp>
      <p:graphicFrame>
        <p:nvGraphicFramePr>
          <p:cNvPr id="41" name="Chart 4" descr=""/>
          <p:cNvGraphicFramePr/>
          <p:nvPr/>
        </p:nvGraphicFramePr>
        <p:xfrm>
          <a:off x="5276088" y="3540557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183880" y="3522269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195560" y="3522269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+15.5%</a:t>
            </a:r>
            <a:endParaRPr lang="en-US" sz="1600" dirty="0"/>
          </a:p>
        </p:txBody>
      </p:sp>
      <p:sp>
        <p:nvSpPr>
          <p:cNvPr id="44" name="Text 37"/>
          <p:cNvSpPr txBox="1"/>
          <p:nvPr/>
        </p:nvSpPr>
        <p:spPr>
          <a:xfrm>
            <a:off x="749808" y="3904488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500" dirty="0"/>
          </a:p>
        </p:txBody>
      </p:sp>
      <p:sp>
        <p:nvSpPr>
          <p:cNvPr id="45" name="Text 38"/>
          <p:cNvSpPr txBox="1"/>
          <p:nvPr/>
        </p:nvSpPr>
        <p:spPr>
          <a:xfrm>
            <a:off x="1097280" y="3904488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3657600" y="3904488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545 → 617</a:t>
            </a:r>
            <a:endParaRPr lang="en-US" sz="1400" dirty="0"/>
          </a:p>
        </p:txBody>
      </p:sp>
      <p:graphicFrame>
        <p:nvGraphicFramePr>
          <p:cNvPr id="47" name="Chart 5" descr=""/>
          <p:cNvGraphicFramePr/>
          <p:nvPr/>
        </p:nvGraphicFramePr>
        <p:xfrm>
          <a:off x="5276088" y="3922776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8" name="Text 40"/>
          <p:cNvSpPr txBox="1"/>
          <p:nvPr/>
        </p:nvSpPr>
        <p:spPr>
          <a:xfrm>
            <a:off x="8183880" y="3904488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10195560" y="3904488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+13.0%</a:t>
            </a:r>
            <a:endParaRPr lang="en-US" sz="1600" dirty="0"/>
          </a:p>
        </p:txBody>
      </p:sp>
      <p:sp>
        <p:nvSpPr>
          <p:cNvPr id="50" name="Shape 42"/>
          <p:cNvSpPr/>
          <p:nvPr/>
        </p:nvSpPr>
        <p:spPr>
          <a:xfrm>
            <a:off x="621792" y="4286707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749808" y="4286707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500" dirty="0"/>
          </a:p>
        </p:txBody>
      </p:sp>
      <p:sp>
        <p:nvSpPr>
          <p:cNvPr id="52" name="Text 44"/>
          <p:cNvSpPr txBox="1"/>
          <p:nvPr/>
        </p:nvSpPr>
        <p:spPr>
          <a:xfrm>
            <a:off x="1097280" y="4286707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400" dirty="0"/>
          </a:p>
        </p:txBody>
      </p:sp>
      <p:sp>
        <p:nvSpPr>
          <p:cNvPr id="53" name="Text 45"/>
          <p:cNvSpPr txBox="1"/>
          <p:nvPr/>
        </p:nvSpPr>
        <p:spPr>
          <a:xfrm>
            <a:off x="3657600" y="4286707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1,561 → 1,759</a:t>
            </a:r>
            <a:endParaRPr lang="en-US" sz="1400" dirty="0"/>
          </a:p>
        </p:txBody>
      </p:sp>
      <p:graphicFrame>
        <p:nvGraphicFramePr>
          <p:cNvPr id="54" name="Chart 6" descr=""/>
          <p:cNvGraphicFramePr/>
          <p:nvPr/>
        </p:nvGraphicFramePr>
        <p:xfrm>
          <a:off x="5276088" y="4304995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55" name="Text 46"/>
          <p:cNvSpPr txBox="1"/>
          <p:nvPr/>
        </p:nvSpPr>
        <p:spPr>
          <a:xfrm>
            <a:off x="8183880" y="4286707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400" dirty="0"/>
          </a:p>
        </p:txBody>
      </p:sp>
      <p:sp>
        <p:nvSpPr>
          <p:cNvPr id="56" name="Text 47"/>
          <p:cNvSpPr txBox="1"/>
          <p:nvPr/>
        </p:nvSpPr>
        <p:spPr>
          <a:xfrm>
            <a:off x="10195560" y="4286707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+12.6%</a:t>
            </a:r>
            <a:endParaRPr lang="en-US" sz="1600" dirty="0"/>
          </a:p>
        </p:txBody>
      </p:sp>
      <p:sp>
        <p:nvSpPr>
          <p:cNvPr id="57" name="Text 48"/>
          <p:cNvSpPr txBox="1"/>
          <p:nvPr/>
        </p:nvSpPr>
        <p:spPr>
          <a:xfrm>
            <a:off x="749808" y="466892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500" dirty="0"/>
          </a:p>
        </p:txBody>
      </p:sp>
      <p:sp>
        <p:nvSpPr>
          <p:cNvPr id="58" name="Text 49"/>
          <p:cNvSpPr txBox="1"/>
          <p:nvPr/>
        </p:nvSpPr>
        <p:spPr>
          <a:xfrm>
            <a:off x="1097280" y="466892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400" dirty="0"/>
          </a:p>
        </p:txBody>
      </p:sp>
      <p:sp>
        <p:nvSpPr>
          <p:cNvPr id="59" name="Text 50"/>
          <p:cNvSpPr txBox="1"/>
          <p:nvPr/>
        </p:nvSpPr>
        <p:spPr>
          <a:xfrm>
            <a:off x="3657600" y="466892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330 → 370</a:t>
            </a:r>
            <a:endParaRPr lang="en-US" sz="1400" dirty="0"/>
          </a:p>
        </p:txBody>
      </p:sp>
      <p:graphicFrame>
        <p:nvGraphicFramePr>
          <p:cNvPr id="60" name="Chart 7" descr=""/>
          <p:cNvGraphicFramePr/>
          <p:nvPr/>
        </p:nvGraphicFramePr>
        <p:xfrm>
          <a:off x="5276088" y="468721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61" name="Text 51"/>
          <p:cNvSpPr txBox="1"/>
          <p:nvPr/>
        </p:nvSpPr>
        <p:spPr>
          <a:xfrm>
            <a:off x="8183880" y="466892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62" name="Text 52"/>
          <p:cNvSpPr txBox="1"/>
          <p:nvPr/>
        </p:nvSpPr>
        <p:spPr>
          <a:xfrm>
            <a:off x="10195560" y="466892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+11.9%</a:t>
            </a:r>
            <a:endParaRPr lang="en-US" sz="1600" dirty="0"/>
          </a:p>
        </p:txBody>
      </p:sp>
      <p:sp>
        <p:nvSpPr>
          <p:cNvPr id="63" name="Shape 53"/>
          <p:cNvSpPr/>
          <p:nvPr/>
        </p:nvSpPr>
        <p:spPr>
          <a:xfrm>
            <a:off x="621792" y="5051146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4" name="Text 54"/>
          <p:cNvSpPr txBox="1"/>
          <p:nvPr/>
        </p:nvSpPr>
        <p:spPr>
          <a:xfrm>
            <a:off x="749808" y="505114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500" dirty="0"/>
          </a:p>
        </p:txBody>
      </p:sp>
      <p:sp>
        <p:nvSpPr>
          <p:cNvPr id="65" name="Text 55"/>
          <p:cNvSpPr txBox="1"/>
          <p:nvPr/>
        </p:nvSpPr>
        <p:spPr>
          <a:xfrm>
            <a:off x="1097280" y="505114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400" dirty="0"/>
          </a:p>
        </p:txBody>
      </p:sp>
      <p:sp>
        <p:nvSpPr>
          <p:cNvPr id="66" name="Text 56"/>
          <p:cNvSpPr txBox="1"/>
          <p:nvPr/>
        </p:nvSpPr>
        <p:spPr>
          <a:xfrm>
            <a:off x="3657600" y="505114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1,788 → 1,992</a:t>
            </a:r>
            <a:endParaRPr lang="en-US" sz="1400" dirty="0"/>
          </a:p>
        </p:txBody>
      </p:sp>
      <p:graphicFrame>
        <p:nvGraphicFramePr>
          <p:cNvPr id="67" name="Chart 8" descr=""/>
          <p:cNvGraphicFramePr/>
          <p:nvPr/>
        </p:nvGraphicFramePr>
        <p:xfrm>
          <a:off x="5276088" y="506943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68" name="Text 57"/>
          <p:cNvSpPr txBox="1"/>
          <p:nvPr/>
        </p:nvSpPr>
        <p:spPr>
          <a:xfrm>
            <a:off x="8183880" y="505114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69" name="Text 58"/>
          <p:cNvSpPr txBox="1"/>
          <p:nvPr/>
        </p:nvSpPr>
        <p:spPr>
          <a:xfrm>
            <a:off x="10195560" y="505114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+11.3%</a:t>
            </a:r>
            <a:endParaRPr lang="en-US" sz="1600" dirty="0"/>
          </a:p>
        </p:txBody>
      </p:sp>
      <p:sp>
        <p:nvSpPr>
          <p:cNvPr id="70" name="Text 59"/>
          <p:cNvSpPr txBox="1"/>
          <p:nvPr/>
        </p:nvSpPr>
        <p:spPr>
          <a:xfrm>
            <a:off x="749808" y="5433365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500" dirty="0"/>
          </a:p>
        </p:txBody>
      </p:sp>
      <p:sp>
        <p:nvSpPr>
          <p:cNvPr id="71" name="Text 60"/>
          <p:cNvSpPr txBox="1"/>
          <p:nvPr/>
        </p:nvSpPr>
        <p:spPr>
          <a:xfrm>
            <a:off x="1097280" y="5433365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400" dirty="0"/>
          </a:p>
        </p:txBody>
      </p:sp>
      <p:sp>
        <p:nvSpPr>
          <p:cNvPr id="72" name="Text 61"/>
          <p:cNvSpPr txBox="1"/>
          <p:nvPr/>
        </p:nvSpPr>
        <p:spPr>
          <a:xfrm>
            <a:off x="3657600" y="5433365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582 → 641</a:t>
            </a:r>
            <a:endParaRPr lang="en-US" sz="1400" dirty="0"/>
          </a:p>
        </p:txBody>
      </p:sp>
      <p:graphicFrame>
        <p:nvGraphicFramePr>
          <p:cNvPr id="73" name="Chart 9" descr=""/>
          <p:cNvGraphicFramePr/>
          <p:nvPr/>
        </p:nvGraphicFramePr>
        <p:xfrm>
          <a:off x="5276088" y="5451653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74" name="Text 62"/>
          <p:cNvSpPr txBox="1"/>
          <p:nvPr/>
        </p:nvSpPr>
        <p:spPr>
          <a:xfrm>
            <a:off x="8183880" y="5433365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75" name="Text 63"/>
          <p:cNvSpPr txBox="1"/>
          <p:nvPr/>
        </p:nvSpPr>
        <p:spPr>
          <a:xfrm>
            <a:off x="10195560" y="5433365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+10.1%</a:t>
            </a:r>
            <a:endParaRPr lang="en-US" sz="1600" dirty="0"/>
          </a:p>
        </p:txBody>
      </p:sp>
      <p:sp>
        <p:nvSpPr>
          <p:cNvPr id="76" name="Shape 64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77" name="Text 65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 went 425 to 570, stepping up in April. Ask what changed that month.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CP ENGINE · WHO'S MOVING NOW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Now: CP Hours per RO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 2026. Group 1.87 → 1.84, −1.8%: that is the season. 22 of 33 stores beat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– Sep 2026, by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93392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93392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1.35 → 1.65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276088" y="2011680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183880" y="1993392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1993392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+22.1%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375611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375611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375611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1.56 → 1.76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276088" y="2393899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183880" y="2375611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375611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+13.1%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1792" y="2757830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275783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275783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0" y="275783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1.37 → 1.54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5276088" y="277611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183880" y="275783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0195560" y="275783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+12.2%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49808" y="314005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314005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3657600" y="314005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1.23 → 1.38</a:t>
            </a:r>
            <a:endParaRPr lang="en-US" sz="14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276088" y="315833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8183880" y="314005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95560" y="314005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+11.7%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21792" y="3522269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" y="3522269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97280" y="3522269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3657600" y="3522269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1.65 → 1.79</a:t>
            </a:r>
            <a:endParaRPr lang="en-US" sz="1400" dirty="0"/>
          </a:p>
        </p:txBody>
      </p:sp>
      <p:graphicFrame>
        <p:nvGraphicFramePr>
          <p:cNvPr id="41" name="Chart 4" descr=""/>
          <p:cNvGraphicFramePr/>
          <p:nvPr/>
        </p:nvGraphicFramePr>
        <p:xfrm>
          <a:off x="5276088" y="3540557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183880" y="3522269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195560" y="3522269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+8.6%</a:t>
            </a:r>
            <a:endParaRPr lang="en-US" sz="1600" dirty="0"/>
          </a:p>
        </p:txBody>
      </p:sp>
      <p:sp>
        <p:nvSpPr>
          <p:cNvPr id="44" name="Text 37"/>
          <p:cNvSpPr txBox="1"/>
          <p:nvPr/>
        </p:nvSpPr>
        <p:spPr>
          <a:xfrm>
            <a:off x="749808" y="3904488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500" dirty="0"/>
          </a:p>
        </p:txBody>
      </p:sp>
      <p:sp>
        <p:nvSpPr>
          <p:cNvPr id="45" name="Text 38"/>
          <p:cNvSpPr txBox="1"/>
          <p:nvPr/>
        </p:nvSpPr>
        <p:spPr>
          <a:xfrm>
            <a:off x="1097280" y="3904488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3657600" y="3904488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1.29 → 1.40</a:t>
            </a:r>
            <a:endParaRPr lang="en-US" sz="1400" dirty="0"/>
          </a:p>
        </p:txBody>
      </p:sp>
      <p:graphicFrame>
        <p:nvGraphicFramePr>
          <p:cNvPr id="47" name="Chart 5" descr=""/>
          <p:cNvGraphicFramePr/>
          <p:nvPr/>
        </p:nvGraphicFramePr>
        <p:xfrm>
          <a:off x="5276088" y="3922776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8" name="Text 40"/>
          <p:cNvSpPr txBox="1"/>
          <p:nvPr/>
        </p:nvSpPr>
        <p:spPr>
          <a:xfrm>
            <a:off x="8183880" y="3904488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10195560" y="3904488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+8.2%</a:t>
            </a:r>
            <a:endParaRPr lang="en-US" sz="1600" dirty="0"/>
          </a:p>
        </p:txBody>
      </p:sp>
      <p:sp>
        <p:nvSpPr>
          <p:cNvPr id="50" name="Shape 42"/>
          <p:cNvSpPr/>
          <p:nvPr/>
        </p:nvSpPr>
        <p:spPr>
          <a:xfrm>
            <a:off x="621792" y="4286707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749808" y="4286707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500" dirty="0"/>
          </a:p>
        </p:txBody>
      </p:sp>
      <p:sp>
        <p:nvSpPr>
          <p:cNvPr id="52" name="Text 44"/>
          <p:cNvSpPr txBox="1"/>
          <p:nvPr/>
        </p:nvSpPr>
        <p:spPr>
          <a:xfrm>
            <a:off x="1097280" y="4286707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400" dirty="0"/>
          </a:p>
        </p:txBody>
      </p:sp>
      <p:sp>
        <p:nvSpPr>
          <p:cNvPr id="53" name="Text 45"/>
          <p:cNvSpPr txBox="1"/>
          <p:nvPr/>
        </p:nvSpPr>
        <p:spPr>
          <a:xfrm>
            <a:off x="3657600" y="4286707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1.33 → 1.40</a:t>
            </a:r>
            <a:endParaRPr lang="en-US" sz="1400" dirty="0"/>
          </a:p>
        </p:txBody>
      </p:sp>
      <p:graphicFrame>
        <p:nvGraphicFramePr>
          <p:cNvPr id="54" name="Chart 6" descr=""/>
          <p:cNvGraphicFramePr/>
          <p:nvPr/>
        </p:nvGraphicFramePr>
        <p:xfrm>
          <a:off x="5276088" y="4304995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55" name="Text 46"/>
          <p:cNvSpPr txBox="1"/>
          <p:nvPr/>
        </p:nvSpPr>
        <p:spPr>
          <a:xfrm>
            <a:off x="8183880" y="4286707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400" dirty="0"/>
          </a:p>
        </p:txBody>
      </p:sp>
      <p:sp>
        <p:nvSpPr>
          <p:cNvPr id="56" name="Text 47"/>
          <p:cNvSpPr txBox="1"/>
          <p:nvPr/>
        </p:nvSpPr>
        <p:spPr>
          <a:xfrm>
            <a:off x="10195560" y="4286707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+5.2%</a:t>
            </a:r>
            <a:endParaRPr lang="en-US" sz="1600" dirty="0"/>
          </a:p>
        </p:txBody>
      </p:sp>
      <p:sp>
        <p:nvSpPr>
          <p:cNvPr id="57" name="Text 48"/>
          <p:cNvSpPr txBox="1"/>
          <p:nvPr/>
        </p:nvSpPr>
        <p:spPr>
          <a:xfrm>
            <a:off x="749808" y="466892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500" dirty="0"/>
          </a:p>
        </p:txBody>
      </p:sp>
      <p:sp>
        <p:nvSpPr>
          <p:cNvPr id="58" name="Text 49"/>
          <p:cNvSpPr txBox="1"/>
          <p:nvPr/>
        </p:nvSpPr>
        <p:spPr>
          <a:xfrm>
            <a:off x="1097280" y="466892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400" dirty="0"/>
          </a:p>
        </p:txBody>
      </p:sp>
      <p:sp>
        <p:nvSpPr>
          <p:cNvPr id="59" name="Text 50"/>
          <p:cNvSpPr txBox="1"/>
          <p:nvPr/>
        </p:nvSpPr>
        <p:spPr>
          <a:xfrm>
            <a:off x="3657600" y="466892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2.19 → 2.30</a:t>
            </a:r>
            <a:endParaRPr lang="en-US" sz="1400" dirty="0"/>
          </a:p>
        </p:txBody>
      </p:sp>
      <p:graphicFrame>
        <p:nvGraphicFramePr>
          <p:cNvPr id="60" name="Chart 7" descr=""/>
          <p:cNvGraphicFramePr/>
          <p:nvPr/>
        </p:nvGraphicFramePr>
        <p:xfrm>
          <a:off x="5276088" y="468721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61" name="Text 51"/>
          <p:cNvSpPr txBox="1"/>
          <p:nvPr/>
        </p:nvSpPr>
        <p:spPr>
          <a:xfrm>
            <a:off x="8183880" y="466892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62" name="Text 52"/>
          <p:cNvSpPr txBox="1"/>
          <p:nvPr/>
        </p:nvSpPr>
        <p:spPr>
          <a:xfrm>
            <a:off x="10195560" y="466892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+4.9%</a:t>
            </a:r>
            <a:endParaRPr lang="en-US" sz="1600" dirty="0"/>
          </a:p>
        </p:txBody>
      </p:sp>
      <p:sp>
        <p:nvSpPr>
          <p:cNvPr id="63" name="Shape 53"/>
          <p:cNvSpPr/>
          <p:nvPr/>
        </p:nvSpPr>
        <p:spPr>
          <a:xfrm>
            <a:off x="621792" y="5051146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4" name="Text 54"/>
          <p:cNvSpPr txBox="1"/>
          <p:nvPr/>
        </p:nvSpPr>
        <p:spPr>
          <a:xfrm>
            <a:off x="749808" y="505114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500" dirty="0"/>
          </a:p>
        </p:txBody>
      </p:sp>
      <p:sp>
        <p:nvSpPr>
          <p:cNvPr id="65" name="Text 55"/>
          <p:cNvSpPr txBox="1"/>
          <p:nvPr/>
        </p:nvSpPr>
        <p:spPr>
          <a:xfrm>
            <a:off x="1097280" y="505114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400" dirty="0"/>
          </a:p>
        </p:txBody>
      </p:sp>
      <p:sp>
        <p:nvSpPr>
          <p:cNvPr id="66" name="Text 56"/>
          <p:cNvSpPr txBox="1"/>
          <p:nvPr/>
        </p:nvSpPr>
        <p:spPr>
          <a:xfrm>
            <a:off x="3657600" y="505114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2.60 → 2.73</a:t>
            </a:r>
            <a:endParaRPr lang="en-US" sz="1400" dirty="0"/>
          </a:p>
        </p:txBody>
      </p:sp>
      <p:graphicFrame>
        <p:nvGraphicFramePr>
          <p:cNvPr id="67" name="Chart 8" descr=""/>
          <p:cNvGraphicFramePr/>
          <p:nvPr/>
        </p:nvGraphicFramePr>
        <p:xfrm>
          <a:off x="5276088" y="506943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68" name="Text 57"/>
          <p:cNvSpPr txBox="1"/>
          <p:nvPr/>
        </p:nvSpPr>
        <p:spPr>
          <a:xfrm>
            <a:off x="8183880" y="505114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69" name="Text 58"/>
          <p:cNvSpPr txBox="1"/>
          <p:nvPr/>
        </p:nvSpPr>
        <p:spPr>
          <a:xfrm>
            <a:off x="10195560" y="505114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+4.8%</a:t>
            </a:r>
            <a:endParaRPr lang="en-US" sz="1600" dirty="0"/>
          </a:p>
        </p:txBody>
      </p:sp>
      <p:sp>
        <p:nvSpPr>
          <p:cNvPr id="70" name="Text 59"/>
          <p:cNvSpPr txBox="1"/>
          <p:nvPr/>
        </p:nvSpPr>
        <p:spPr>
          <a:xfrm>
            <a:off x="749808" y="5433365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500" dirty="0"/>
          </a:p>
        </p:txBody>
      </p:sp>
      <p:sp>
        <p:nvSpPr>
          <p:cNvPr id="71" name="Text 60"/>
          <p:cNvSpPr txBox="1"/>
          <p:nvPr/>
        </p:nvSpPr>
        <p:spPr>
          <a:xfrm>
            <a:off x="1097280" y="5433365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400" dirty="0"/>
          </a:p>
        </p:txBody>
      </p:sp>
      <p:sp>
        <p:nvSpPr>
          <p:cNvPr id="72" name="Text 61"/>
          <p:cNvSpPr txBox="1"/>
          <p:nvPr/>
        </p:nvSpPr>
        <p:spPr>
          <a:xfrm>
            <a:off x="3657600" y="5433365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3.25 → 3.41</a:t>
            </a:r>
            <a:endParaRPr lang="en-US" sz="1400" dirty="0"/>
          </a:p>
        </p:txBody>
      </p:sp>
      <p:graphicFrame>
        <p:nvGraphicFramePr>
          <p:cNvPr id="73" name="Chart 9" descr=""/>
          <p:cNvGraphicFramePr/>
          <p:nvPr/>
        </p:nvGraphicFramePr>
        <p:xfrm>
          <a:off x="5276088" y="5451653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74" name="Text 62"/>
          <p:cNvSpPr txBox="1"/>
          <p:nvPr/>
        </p:nvSpPr>
        <p:spPr>
          <a:xfrm>
            <a:off x="8183880" y="5433365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75" name="Text 63"/>
          <p:cNvSpPr txBox="1"/>
          <p:nvPr/>
        </p:nvSpPr>
        <p:spPr>
          <a:xfrm>
            <a:off x="10195560" y="5433365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+4.6%</a:t>
            </a:r>
            <a:endParaRPr lang="en-US" sz="1600" dirty="0"/>
          </a:p>
        </p:txBody>
      </p:sp>
      <p:sp>
        <p:nvSpPr>
          <p:cNvPr id="76" name="Shape 64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77" name="Text 65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 went 1.35 to 1.65, stepping up in August. Ask what changed that month.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CP ENGINE · WHO'S MOVING NOW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Now: CP ELR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 2026. Group $161.81 → $163.67, +1.1%: that is the season. 15 of 33 stores beat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– Sep 2026, by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93392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93392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$128.27 → $141.89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276088" y="2011680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183880" y="1993392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1993392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+10.6%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375611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375611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375611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$227.34 → $244.12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276088" y="2393899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183880" y="2375611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375611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+7.3%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1792" y="2757830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275783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275783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0" y="275783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$139.40 → $147.93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5276088" y="277611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183880" y="275783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0195560" y="275783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+6.1%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49808" y="314005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314005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3657600" y="314005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$142.56 → $150.72</a:t>
            </a:r>
            <a:endParaRPr lang="en-US" sz="14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276088" y="315833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8183880" y="314005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95560" y="314005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+5.7%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21792" y="3522269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" y="3522269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97280" y="3522269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3657600" y="3522269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$139.09 → $146.04</a:t>
            </a:r>
            <a:endParaRPr lang="en-US" sz="1400" dirty="0"/>
          </a:p>
        </p:txBody>
      </p:sp>
      <p:graphicFrame>
        <p:nvGraphicFramePr>
          <p:cNvPr id="41" name="Chart 4" descr=""/>
          <p:cNvGraphicFramePr/>
          <p:nvPr/>
        </p:nvGraphicFramePr>
        <p:xfrm>
          <a:off x="5276088" y="3540557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183880" y="3522269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195560" y="3522269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+5.0%</a:t>
            </a:r>
            <a:endParaRPr lang="en-US" sz="1600" dirty="0"/>
          </a:p>
        </p:txBody>
      </p:sp>
      <p:sp>
        <p:nvSpPr>
          <p:cNvPr id="44" name="Text 37"/>
          <p:cNvSpPr txBox="1"/>
          <p:nvPr/>
        </p:nvSpPr>
        <p:spPr>
          <a:xfrm>
            <a:off x="749808" y="3904488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500" dirty="0"/>
          </a:p>
        </p:txBody>
      </p:sp>
      <p:sp>
        <p:nvSpPr>
          <p:cNvPr id="45" name="Text 38"/>
          <p:cNvSpPr txBox="1"/>
          <p:nvPr/>
        </p:nvSpPr>
        <p:spPr>
          <a:xfrm>
            <a:off x="1097280" y="3904488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3657600" y="3904488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$172.35 → $180.14</a:t>
            </a:r>
            <a:endParaRPr lang="en-US" sz="1400" dirty="0"/>
          </a:p>
        </p:txBody>
      </p:sp>
      <p:graphicFrame>
        <p:nvGraphicFramePr>
          <p:cNvPr id="47" name="Chart 5" descr=""/>
          <p:cNvGraphicFramePr/>
          <p:nvPr/>
        </p:nvGraphicFramePr>
        <p:xfrm>
          <a:off x="5276088" y="3922776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8" name="Text 40"/>
          <p:cNvSpPr txBox="1"/>
          <p:nvPr/>
        </p:nvSpPr>
        <p:spPr>
          <a:xfrm>
            <a:off x="8183880" y="3904488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10195560" y="3904488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+4.5%</a:t>
            </a:r>
            <a:endParaRPr lang="en-US" sz="1600" dirty="0"/>
          </a:p>
        </p:txBody>
      </p:sp>
      <p:sp>
        <p:nvSpPr>
          <p:cNvPr id="50" name="Shape 42"/>
          <p:cNvSpPr/>
          <p:nvPr/>
        </p:nvSpPr>
        <p:spPr>
          <a:xfrm>
            <a:off x="621792" y="4286707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749808" y="4286707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500" dirty="0"/>
          </a:p>
        </p:txBody>
      </p:sp>
      <p:sp>
        <p:nvSpPr>
          <p:cNvPr id="52" name="Text 44"/>
          <p:cNvSpPr txBox="1"/>
          <p:nvPr/>
        </p:nvSpPr>
        <p:spPr>
          <a:xfrm>
            <a:off x="1097280" y="4286707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400" dirty="0"/>
          </a:p>
        </p:txBody>
      </p:sp>
      <p:sp>
        <p:nvSpPr>
          <p:cNvPr id="53" name="Text 45"/>
          <p:cNvSpPr txBox="1"/>
          <p:nvPr/>
        </p:nvSpPr>
        <p:spPr>
          <a:xfrm>
            <a:off x="3657600" y="4286707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$140.89 → $146.92</a:t>
            </a:r>
            <a:endParaRPr lang="en-US" sz="1400" dirty="0"/>
          </a:p>
        </p:txBody>
      </p:sp>
      <p:graphicFrame>
        <p:nvGraphicFramePr>
          <p:cNvPr id="54" name="Chart 6" descr=""/>
          <p:cNvGraphicFramePr/>
          <p:nvPr/>
        </p:nvGraphicFramePr>
        <p:xfrm>
          <a:off x="5276088" y="4304995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55" name="Text 46"/>
          <p:cNvSpPr txBox="1"/>
          <p:nvPr/>
        </p:nvSpPr>
        <p:spPr>
          <a:xfrm>
            <a:off x="8183880" y="4286707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56" name="Text 47"/>
          <p:cNvSpPr txBox="1"/>
          <p:nvPr/>
        </p:nvSpPr>
        <p:spPr>
          <a:xfrm>
            <a:off x="10195560" y="4286707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+4.2%</a:t>
            </a:r>
            <a:endParaRPr lang="en-US" sz="1600" dirty="0"/>
          </a:p>
        </p:txBody>
      </p:sp>
      <p:sp>
        <p:nvSpPr>
          <p:cNvPr id="57" name="Text 48"/>
          <p:cNvSpPr txBox="1"/>
          <p:nvPr/>
        </p:nvSpPr>
        <p:spPr>
          <a:xfrm>
            <a:off x="749808" y="466892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500" dirty="0"/>
          </a:p>
        </p:txBody>
      </p:sp>
      <p:sp>
        <p:nvSpPr>
          <p:cNvPr id="58" name="Text 49"/>
          <p:cNvSpPr txBox="1"/>
          <p:nvPr/>
        </p:nvSpPr>
        <p:spPr>
          <a:xfrm>
            <a:off x="1097280" y="466892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400" dirty="0"/>
          </a:p>
        </p:txBody>
      </p:sp>
      <p:sp>
        <p:nvSpPr>
          <p:cNvPr id="59" name="Text 50"/>
          <p:cNvSpPr txBox="1"/>
          <p:nvPr/>
        </p:nvSpPr>
        <p:spPr>
          <a:xfrm>
            <a:off x="3657600" y="466892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$216.72 → $225.50</a:t>
            </a:r>
            <a:endParaRPr lang="en-US" sz="1400" dirty="0"/>
          </a:p>
        </p:txBody>
      </p:sp>
      <p:graphicFrame>
        <p:nvGraphicFramePr>
          <p:cNvPr id="60" name="Chart 7" descr=""/>
          <p:cNvGraphicFramePr/>
          <p:nvPr/>
        </p:nvGraphicFramePr>
        <p:xfrm>
          <a:off x="5276088" y="468721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61" name="Text 51"/>
          <p:cNvSpPr txBox="1"/>
          <p:nvPr/>
        </p:nvSpPr>
        <p:spPr>
          <a:xfrm>
            <a:off x="8183880" y="466892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62" name="Text 52"/>
          <p:cNvSpPr txBox="1"/>
          <p:nvPr/>
        </p:nvSpPr>
        <p:spPr>
          <a:xfrm>
            <a:off x="10195560" y="466892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+4.0%</a:t>
            </a:r>
            <a:endParaRPr lang="en-US" sz="1600" dirty="0"/>
          </a:p>
        </p:txBody>
      </p:sp>
      <p:sp>
        <p:nvSpPr>
          <p:cNvPr id="63" name="Shape 53"/>
          <p:cNvSpPr/>
          <p:nvPr/>
        </p:nvSpPr>
        <p:spPr>
          <a:xfrm>
            <a:off x="621792" y="5051146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4" name="Text 54"/>
          <p:cNvSpPr txBox="1"/>
          <p:nvPr/>
        </p:nvSpPr>
        <p:spPr>
          <a:xfrm>
            <a:off x="749808" y="505114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500" dirty="0"/>
          </a:p>
        </p:txBody>
      </p:sp>
      <p:sp>
        <p:nvSpPr>
          <p:cNvPr id="65" name="Text 55"/>
          <p:cNvSpPr txBox="1"/>
          <p:nvPr/>
        </p:nvSpPr>
        <p:spPr>
          <a:xfrm>
            <a:off x="1097280" y="505114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400" dirty="0"/>
          </a:p>
        </p:txBody>
      </p:sp>
      <p:sp>
        <p:nvSpPr>
          <p:cNvPr id="66" name="Text 56"/>
          <p:cNvSpPr txBox="1"/>
          <p:nvPr/>
        </p:nvSpPr>
        <p:spPr>
          <a:xfrm>
            <a:off x="3657600" y="505114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$155.72 → $161.80</a:t>
            </a:r>
            <a:endParaRPr lang="en-US" sz="1400" dirty="0"/>
          </a:p>
        </p:txBody>
      </p:sp>
      <p:graphicFrame>
        <p:nvGraphicFramePr>
          <p:cNvPr id="67" name="Chart 8" descr=""/>
          <p:cNvGraphicFramePr/>
          <p:nvPr/>
        </p:nvGraphicFramePr>
        <p:xfrm>
          <a:off x="5276088" y="506943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68" name="Text 57"/>
          <p:cNvSpPr txBox="1"/>
          <p:nvPr/>
        </p:nvSpPr>
        <p:spPr>
          <a:xfrm>
            <a:off x="8183880" y="505114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69" name="Text 58"/>
          <p:cNvSpPr txBox="1"/>
          <p:nvPr/>
        </p:nvSpPr>
        <p:spPr>
          <a:xfrm>
            <a:off x="10195560" y="505114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+3.9%</a:t>
            </a:r>
            <a:endParaRPr lang="en-US" sz="1600" dirty="0"/>
          </a:p>
        </p:txBody>
      </p:sp>
      <p:sp>
        <p:nvSpPr>
          <p:cNvPr id="70" name="Text 59"/>
          <p:cNvSpPr txBox="1"/>
          <p:nvPr/>
        </p:nvSpPr>
        <p:spPr>
          <a:xfrm>
            <a:off x="749808" y="5433365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500" dirty="0"/>
          </a:p>
        </p:txBody>
      </p:sp>
      <p:sp>
        <p:nvSpPr>
          <p:cNvPr id="71" name="Text 60"/>
          <p:cNvSpPr txBox="1"/>
          <p:nvPr/>
        </p:nvSpPr>
        <p:spPr>
          <a:xfrm>
            <a:off x="1097280" y="5433365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400" dirty="0"/>
          </a:p>
        </p:txBody>
      </p:sp>
      <p:sp>
        <p:nvSpPr>
          <p:cNvPr id="72" name="Text 61"/>
          <p:cNvSpPr txBox="1"/>
          <p:nvPr/>
        </p:nvSpPr>
        <p:spPr>
          <a:xfrm>
            <a:off x="3657600" y="5433365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$169.51 → $175.47</a:t>
            </a:r>
            <a:endParaRPr lang="en-US" sz="1400" dirty="0"/>
          </a:p>
        </p:txBody>
      </p:sp>
      <p:graphicFrame>
        <p:nvGraphicFramePr>
          <p:cNvPr id="73" name="Chart 9" descr=""/>
          <p:cNvGraphicFramePr/>
          <p:nvPr/>
        </p:nvGraphicFramePr>
        <p:xfrm>
          <a:off x="5276088" y="5451653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74" name="Text 62"/>
          <p:cNvSpPr txBox="1"/>
          <p:nvPr/>
        </p:nvSpPr>
        <p:spPr>
          <a:xfrm>
            <a:off x="8183880" y="5433365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75" name="Text 63"/>
          <p:cNvSpPr txBox="1"/>
          <p:nvPr/>
        </p:nvSpPr>
        <p:spPr>
          <a:xfrm>
            <a:off x="10195560" y="5433365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+3.5%</a:t>
            </a:r>
            <a:endParaRPr lang="en-US" sz="1600" dirty="0"/>
          </a:p>
        </p:txBody>
      </p:sp>
      <p:sp>
        <p:nvSpPr>
          <p:cNvPr id="76" name="Shape 64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77" name="Text 65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 went $128.27 to $141.89, stepping up in June. Ask what changed that month.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CP ENGINE · WHO'S MOVING NOW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Now: CP Parts $ per RO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 2026. Group $230 → $242, +5.1%: that is the season. 19 of 33 stores beat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– Sep 2026, by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93392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93392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$224 → $298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276088" y="2011680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183880" y="1993392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1993392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+32.9%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375611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375611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375611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$692 → $877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276088" y="2393899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183880" y="2375611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375611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+26.6%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1792" y="2757830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275783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275783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0" y="275783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$229 → $282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5276088" y="277611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183880" y="275783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0195560" y="275783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+22.9%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49808" y="314005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314005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3657600" y="314005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$200 → $234</a:t>
            </a:r>
            <a:endParaRPr lang="en-US" sz="14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276088" y="315833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8183880" y="314005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95560" y="314005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+16.9%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21792" y="3522269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" y="3522269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97280" y="3522269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3657600" y="3522269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$204 → $234</a:t>
            </a:r>
            <a:endParaRPr lang="en-US" sz="1400" dirty="0"/>
          </a:p>
        </p:txBody>
      </p:sp>
      <p:graphicFrame>
        <p:nvGraphicFramePr>
          <p:cNvPr id="41" name="Chart 4" descr=""/>
          <p:cNvGraphicFramePr/>
          <p:nvPr/>
        </p:nvGraphicFramePr>
        <p:xfrm>
          <a:off x="5276088" y="3540557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183880" y="3522269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195560" y="3522269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+15.0%</a:t>
            </a:r>
            <a:endParaRPr lang="en-US" sz="1600" dirty="0"/>
          </a:p>
        </p:txBody>
      </p:sp>
      <p:sp>
        <p:nvSpPr>
          <p:cNvPr id="44" name="Text 37"/>
          <p:cNvSpPr txBox="1"/>
          <p:nvPr/>
        </p:nvSpPr>
        <p:spPr>
          <a:xfrm>
            <a:off x="749808" y="3904488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500" dirty="0"/>
          </a:p>
        </p:txBody>
      </p:sp>
      <p:sp>
        <p:nvSpPr>
          <p:cNvPr id="45" name="Text 38"/>
          <p:cNvSpPr txBox="1"/>
          <p:nvPr/>
        </p:nvSpPr>
        <p:spPr>
          <a:xfrm>
            <a:off x="1097280" y="3904488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3657600" y="3904488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$136 → $156</a:t>
            </a:r>
            <a:endParaRPr lang="en-US" sz="1400" dirty="0"/>
          </a:p>
        </p:txBody>
      </p:sp>
      <p:graphicFrame>
        <p:nvGraphicFramePr>
          <p:cNvPr id="47" name="Chart 5" descr=""/>
          <p:cNvGraphicFramePr/>
          <p:nvPr/>
        </p:nvGraphicFramePr>
        <p:xfrm>
          <a:off x="5276088" y="3922776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8" name="Text 40"/>
          <p:cNvSpPr txBox="1"/>
          <p:nvPr/>
        </p:nvSpPr>
        <p:spPr>
          <a:xfrm>
            <a:off x="8183880" y="3904488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10195560" y="3904488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+14.6%</a:t>
            </a:r>
            <a:endParaRPr lang="en-US" sz="1600" dirty="0"/>
          </a:p>
        </p:txBody>
      </p:sp>
      <p:sp>
        <p:nvSpPr>
          <p:cNvPr id="50" name="Shape 42"/>
          <p:cNvSpPr/>
          <p:nvPr/>
        </p:nvSpPr>
        <p:spPr>
          <a:xfrm>
            <a:off x="621792" y="4286707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749808" y="4286707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500" dirty="0"/>
          </a:p>
        </p:txBody>
      </p:sp>
      <p:sp>
        <p:nvSpPr>
          <p:cNvPr id="52" name="Text 44"/>
          <p:cNvSpPr txBox="1"/>
          <p:nvPr/>
        </p:nvSpPr>
        <p:spPr>
          <a:xfrm>
            <a:off x="1097280" y="4286707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400" dirty="0"/>
          </a:p>
        </p:txBody>
      </p:sp>
      <p:sp>
        <p:nvSpPr>
          <p:cNvPr id="53" name="Text 45"/>
          <p:cNvSpPr txBox="1"/>
          <p:nvPr/>
        </p:nvSpPr>
        <p:spPr>
          <a:xfrm>
            <a:off x="3657600" y="4286707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$257 → $292</a:t>
            </a:r>
            <a:endParaRPr lang="en-US" sz="1400" dirty="0"/>
          </a:p>
        </p:txBody>
      </p:sp>
      <p:graphicFrame>
        <p:nvGraphicFramePr>
          <p:cNvPr id="54" name="Chart 6" descr=""/>
          <p:cNvGraphicFramePr/>
          <p:nvPr/>
        </p:nvGraphicFramePr>
        <p:xfrm>
          <a:off x="5276088" y="4304995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55" name="Text 46"/>
          <p:cNvSpPr txBox="1"/>
          <p:nvPr/>
        </p:nvSpPr>
        <p:spPr>
          <a:xfrm>
            <a:off x="8183880" y="4286707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56" name="Text 47"/>
          <p:cNvSpPr txBox="1"/>
          <p:nvPr/>
        </p:nvSpPr>
        <p:spPr>
          <a:xfrm>
            <a:off x="10195560" y="4286707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+13.8%</a:t>
            </a:r>
            <a:endParaRPr lang="en-US" sz="1600" dirty="0"/>
          </a:p>
        </p:txBody>
      </p:sp>
      <p:sp>
        <p:nvSpPr>
          <p:cNvPr id="57" name="Text 48"/>
          <p:cNvSpPr txBox="1"/>
          <p:nvPr/>
        </p:nvSpPr>
        <p:spPr>
          <a:xfrm>
            <a:off x="749808" y="466892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500" dirty="0"/>
          </a:p>
        </p:txBody>
      </p:sp>
      <p:sp>
        <p:nvSpPr>
          <p:cNvPr id="58" name="Text 49"/>
          <p:cNvSpPr txBox="1"/>
          <p:nvPr/>
        </p:nvSpPr>
        <p:spPr>
          <a:xfrm>
            <a:off x="1097280" y="466892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400" dirty="0"/>
          </a:p>
        </p:txBody>
      </p:sp>
      <p:sp>
        <p:nvSpPr>
          <p:cNvPr id="59" name="Text 50"/>
          <p:cNvSpPr txBox="1"/>
          <p:nvPr/>
        </p:nvSpPr>
        <p:spPr>
          <a:xfrm>
            <a:off x="3657600" y="466892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$728 → $811</a:t>
            </a:r>
            <a:endParaRPr lang="en-US" sz="1400" dirty="0"/>
          </a:p>
        </p:txBody>
      </p:sp>
      <p:graphicFrame>
        <p:nvGraphicFramePr>
          <p:cNvPr id="60" name="Chart 7" descr=""/>
          <p:cNvGraphicFramePr/>
          <p:nvPr/>
        </p:nvGraphicFramePr>
        <p:xfrm>
          <a:off x="5276088" y="468721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61" name="Text 51"/>
          <p:cNvSpPr txBox="1"/>
          <p:nvPr/>
        </p:nvSpPr>
        <p:spPr>
          <a:xfrm>
            <a:off x="8183880" y="466892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62" name="Text 52"/>
          <p:cNvSpPr txBox="1"/>
          <p:nvPr/>
        </p:nvSpPr>
        <p:spPr>
          <a:xfrm>
            <a:off x="10195560" y="466892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+11.4%</a:t>
            </a:r>
            <a:endParaRPr lang="en-US" sz="1600" dirty="0"/>
          </a:p>
        </p:txBody>
      </p:sp>
      <p:sp>
        <p:nvSpPr>
          <p:cNvPr id="63" name="Shape 53"/>
          <p:cNvSpPr/>
          <p:nvPr/>
        </p:nvSpPr>
        <p:spPr>
          <a:xfrm>
            <a:off x="621792" y="5051146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4" name="Text 54"/>
          <p:cNvSpPr txBox="1"/>
          <p:nvPr/>
        </p:nvSpPr>
        <p:spPr>
          <a:xfrm>
            <a:off x="749808" y="505114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500" dirty="0"/>
          </a:p>
        </p:txBody>
      </p:sp>
      <p:sp>
        <p:nvSpPr>
          <p:cNvPr id="65" name="Text 55"/>
          <p:cNvSpPr txBox="1"/>
          <p:nvPr/>
        </p:nvSpPr>
        <p:spPr>
          <a:xfrm>
            <a:off x="1097280" y="505114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400" dirty="0"/>
          </a:p>
        </p:txBody>
      </p:sp>
      <p:sp>
        <p:nvSpPr>
          <p:cNvPr id="66" name="Text 56"/>
          <p:cNvSpPr txBox="1"/>
          <p:nvPr/>
        </p:nvSpPr>
        <p:spPr>
          <a:xfrm>
            <a:off x="3657600" y="505114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$897 → $988</a:t>
            </a:r>
            <a:endParaRPr lang="en-US" sz="1400" dirty="0"/>
          </a:p>
        </p:txBody>
      </p:sp>
      <p:graphicFrame>
        <p:nvGraphicFramePr>
          <p:cNvPr id="67" name="Chart 8" descr=""/>
          <p:cNvGraphicFramePr/>
          <p:nvPr/>
        </p:nvGraphicFramePr>
        <p:xfrm>
          <a:off x="5276088" y="506943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68" name="Text 57"/>
          <p:cNvSpPr txBox="1"/>
          <p:nvPr/>
        </p:nvSpPr>
        <p:spPr>
          <a:xfrm>
            <a:off x="8183880" y="505114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69" name="Text 58"/>
          <p:cNvSpPr txBox="1"/>
          <p:nvPr/>
        </p:nvSpPr>
        <p:spPr>
          <a:xfrm>
            <a:off x="10195560" y="505114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+10.1%</a:t>
            </a:r>
            <a:endParaRPr lang="en-US" sz="1600" dirty="0"/>
          </a:p>
        </p:txBody>
      </p:sp>
      <p:sp>
        <p:nvSpPr>
          <p:cNvPr id="70" name="Text 59"/>
          <p:cNvSpPr txBox="1"/>
          <p:nvPr/>
        </p:nvSpPr>
        <p:spPr>
          <a:xfrm>
            <a:off x="749808" y="5433365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500" dirty="0"/>
          </a:p>
        </p:txBody>
      </p:sp>
      <p:sp>
        <p:nvSpPr>
          <p:cNvPr id="71" name="Text 60"/>
          <p:cNvSpPr txBox="1"/>
          <p:nvPr/>
        </p:nvSpPr>
        <p:spPr>
          <a:xfrm>
            <a:off x="1097280" y="5433365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400" dirty="0"/>
          </a:p>
        </p:txBody>
      </p:sp>
      <p:sp>
        <p:nvSpPr>
          <p:cNvPr id="72" name="Text 61"/>
          <p:cNvSpPr txBox="1"/>
          <p:nvPr/>
        </p:nvSpPr>
        <p:spPr>
          <a:xfrm>
            <a:off x="3657600" y="5433365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$235 → $258</a:t>
            </a:r>
            <a:endParaRPr lang="en-US" sz="1400" dirty="0"/>
          </a:p>
        </p:txBody>
      </p:sp>
      <p:graphicFrame>
        <p:nvGraphicFramePr>
          <p:cNvPr id="73" name="Chart 9" descr=""/>
          <p:cNvGraphicFramePr/>
          <p:nvPr/>
        </p:nvGraphicFramePr>
        <p:xfrm>
          <a:off x="5276088" y="5451653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74" name="Text 62"/>
          <p:cNvSpPr txBox="1"/>
          <p:nvPr/>
        </p:nvSpPr>
        <p:spPr>
          <a:xfrm>
            <a:off x="8183880" y="5433365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75" name="Text 63"/>
          <p:cNvSpPr txBox="1"/>
          <p:nvPr/>
        </p:nvSpPr>
        <p:spPr>
          <a:xfrm>
            <a:off x="10195560" y="5433365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+9.8%</a:t>
            </a:r>
            <a:endParaRPr lang="en-US" sz="1600" dirty="0"/>
          </a:p>
        </p:txBody>
      </p:sp>
      <p:sp>
        <p:nvSpPr>
          <p:cNvPr id="76" name="Shape 64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77" name="Text 65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 went $224 to $298, stepping up in June. Ask what changed that month.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CP ENGINE · WHO'S MOVING NOW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Now: CP Parts GP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 2026. Group 40.6% → 40.6%, 0.0 pts: that is the season. 18 of 33 stores beat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– Sep 2026, by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93392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93392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39.4% → 46.6%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276088" y="2011680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183880" y="1993392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1993392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+7.2 pts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375611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375611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375611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39.1% → 43.8%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276088" y="2393899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183880" y="2375611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375611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+4.6 pts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1792" y="2757830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275783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275783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0" y="275783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35.3% → 39.2%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5276088" y="277611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183880" y="275783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0195560" y="275783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+3.9 pts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49808" y="314005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314005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3657600" y="314005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41.1% → 44.0%</a:t>
            </a:r>
            <a:endParaRPr lang="en-US" sz="14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276088" y="315833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8183880" y="314005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95560" y="314005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+2.9 pts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21792" y="3522269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" y="3522269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97280" y="3522269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3657600" y="3522269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39.4% → 41.7%</a:t>
            </a:r>
            <a:endParaRPr lang="en-US" sz="1400" dirty="0"/>
          </a:p>
        </p:txBody>
      </p:sp>
      <p:graphicFrame>
        <p:nvGraphicFramePr>
          <p:cNvPr id="41" name="Chart 4" descr=""/>
          <p:cNvGraphicFramePr/>
          <p:nvPr/>
        </p:nvGraphicFramePr>
        <p:xfrm>
          <a:off x="5276088" y="3540557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183880" y="3522269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195560" y="3522269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+2.2 pts</a:t>
            </a:r>
            <a:endParaRPr lang="en-US" sz="1600" dirty="0"/>
          </a:p>
        </p:txBody>
      </p:sp>
      <p:sp>
        <p:nvSpPr>
          <p:cNvPr id="44" name="Text 37"/>
          <p:cNvSpPr txBox="1"/>
          <p:nvPr/>
        </p:nvSpPr>
        <p:spPr>
          <a:xfrm>
            <a:off x="749808" y="3904488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500" dirty="0"/>
          </a:p>
        </p:txBody>
      </p:sp>
      <p:sp>
        <p:nvSpPr>
          <p:cNvPr id="45" name="Text 38"/>
          <p:cNvSpPr txBox="1"/>
          <p:nvPr/>
        </p:nvSpPr>
        <p:spPr>
          <a:xfrm>
            <a:off x="1097280" y="3904488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3657600" y="3904488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40.1% → 42.4%</a:t>
            </a:r>
            <a:endParaRPr lang="en-US" sz="1400" dirty="0"/>
          </a:p>
        </p:txBody>
      </p:sp>
      <p:graphicFrame>
        <p:nvGraphicFramePr>
          <p:cNvPr id="47" name="Chart 5" descr=""/>
          <p:cNvGraphicFramePr/>
          <p:nvPr/>
        </p:nvGraphicFramePr>
        <p:xfrm>
          <a:off x="5276088" y="3922776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8" name="Text 40"/>
          <p:cNvSpPr txBox="1"/>
          <p:nvPr/>
        </p:nvSpPr>
        <p:spPr>
          <a:xfrm>
            <a:off x="8183880" y="3904488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10195560" y="3904488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+2.2 pts</a:t>
            </a:r>
            <a:endParaRPr lang="en-US" sz="1600" dirty="0"/>
          </a:p>
        </p:txBody>
      </p:sp>
      <p:sp>
        <p:nvSpPr>
          <p:cNvPr id="50" name="Shape 42"/>
          <p:cNvSpPr/>
          <p:nvPr/>
        </p:nvSpPr>
        <p:spPr>
          <a:xfrm>
            <a:off x="621792" y="4286707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749808" y="4286707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500" dirty="0"/>
          </a:p>
        </p:txBody>
      </p:sp>
      <p:sp>
        <p:nvSpPr>
          <p:cNvPr id="52" name="Text 44"/>
          <p:cNvSpPr txBox="1"/>
          <p:nvPr/>
        </p:nvSpPr>
        <p:spPr>
          <a:xfrm>
            <a:off x="1097280" y="4286707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400" dirty="0"/>
          </a:p>
        </p:txBody>
      </p:sp>
      <p:sp>
        <p:nvSpPr>
          <p:cNvPr id="53" name="Text 45"/>
          <p:cNvSpPr txBox="1"/>
          <p:nvPr/>
        </p:nvSpPr>
        <p:spPr>
          <a:xfrm>
            <a:off x="3657600" y="4286707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34.4% → 36.3%</a:t>
            </a:r>
            <a:endParaRPr lang="en-US" sz="1400" dirty="0"/>
          </a:p>
        </p:txBody>
      </p:sp>
      <p:graphicFrame>
        <p:nvGraphicFramePr>
          <p:cNvPr id="54" name="Chart 6" descr=""/>
          <p:cNvGraphicFramePr/>
          <p:nvPr/>
        </p:nvGraphicFramePr>
        <p:xfrm>
          <a:off x="5276088" y="4304995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55" name="Text 46"/>
          <p:cNvSpPr txBox="1"/>
          <p:nvPr/>
        </p:nvSpPr>
        <p:spPr>
          <a:xfrm>
            <a:off x="8183880" y="4286707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400" dirty="0"/>
          </a:p>
        </p:txBody>
      </p:sp>
      <p:sp>
        <p:nvSpPr>
          <p:cNvPr id="56" name="Text 47"/>
          <p:cNvSpPr txBox="1"/>
          <p:nvPr/>
        </p:nvSpPr>
        <p:spPr>
          <a:xfrm>
            <a:off x="10195560" y="4286707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+1.8 pts</a:t>
            </a:r>
            <a:endParaRPr lang="en-US" sz="1600" dirty="0"/>
          </a:p>
        </p:txBody>
      </p:sp>
      <p:sp>
        <p:nvSpPr>
          <p:cNvPr id="57" name="Text 48"/>
          <p:cNvSpPr txBox="1"/>
          <p:nvPr/>
        </p:nvSpPr>
        <p:spPr>
          <a:xfrm>
            <a:off x="749808" y="466892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500" dirty="0"/>
          </a:p>
        </p:txBody>
      </p:sp>
      <p:sp>
        <p:nvSpPr>
          <p:cNvPr id="58" name="Text 49"/>
          <p:cNvSpPr txBox="1"/>
          <p:nvPr/>
        </p:nvSpPr>
        <p:spPr>
          <a:xfrm>
            <a:off x="1097280" y="466892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400" dirty="0"/>
          </a:p>
        </p:txBody>
      </p:sp>
      <p:sp>
        <p:nvSpPr>
          <p:cNvPr id="59" name="Text 50"/>
          <p:cNvSpPr txBox="1"/>
          <p:nvPr/>
        </p:nvSpPr>
        <p:spPr>
          <a:xfrm>
            <a:off x="3657600" y="466892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40.9% → 42.2%</a:t>
            </a:r>
            <a:endParaRPr lang="en-US" sz="1400" dirty="0"/>
          </a:p>
        </p:txBody>
      </p:sp>
      <p:graphicFrame>
        <p:nvGraphicFramePr>
          <p:cNvPr id="60" name="Chart 7" descr=""/>
          <p:cNvGraphicFramePr/>
          <p:nvPr/>
        </p:nvGraphicFramePr>
        <p:xfrm>
          <a:off x="5276088" y="468721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61" name="Text 51"/>
          <p:cNvSpPr txBox="1"/>
          <p:nvPr/>
        </p:nvSpPr>
        <p:spPr>
          <a:xfrm>
            <a:off x="8183880" y="466892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400" dirty="0"/>
          </a:p>
        </p:txBody>
      </p:sp>
      <p:sp>
        <p:nvSpPr>
          <p:cNvPr id="62" name="Text 52"/>
          <p:cNvSpPr txBox="1"/>
          <p:nvPr/>
        </p:nvSpPr>
        <p:spPr>
          <a:xfrm>
            <a:off x="10195560" y="466892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+1.3 pts</a:t>
            </a:r>
            <a:endParaRPr lang="en-US" sz="1600" dirty="0"/>
          </a:p>
        </p:txBody>
      </p:sp>
      <p:sp>
        <p:nvSpPr>
          <p:cNvPr id="63" name="Shape 53"/>
          <p:cNvSpPr/>
          <p:nvPr/>
        </p:nvSpPr>
        <p:spPr>
          <a:xfrm>
            <a:off x="621792" y="5051146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4" name="Text 54"/>
          <p:cNvSpPr txBox="1"/>
          <p:nvPr/>
        </p:nvSpPr>
        <p:spPr>
          <a:xfrm>
            <a:off x="749808" y="505114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500" dirty="0"/>
          </a:p>
        </p:txBody>
      </p:sp>
      <p:sp>
        <p:nvSpPr>
          <p:cNvPr id="65" name="Text 55"/>
          <p:cNvSpPr txBox="1"/>
          <p:nvPr/>
        </p:nvSpPr>
        <p:spPr>
          <a:xfrm>
            <a:off x="1097280" y="505114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400" dirty="0"/>
          </a:p>
        </p:txBody>
      </p:sp>
      <p:sp>
        <p:nvSpPr>
          <p:cNvPr id="66" name="Text 56"/>
          <p:cNvSpPr txBox="1"/>
          <p:nvPr/>
        </p:nvSpPr>
        <p:spPr>
          <a:xfrm>
            <a:off x="3657600" y="505114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44.4% → 45.7%</a:t>
            </a:r>
            <a:endParaRPr lang="en-US" sz="1400" dirty="0"/>
          </a:p>
        </p:txBody>
      </p:sp>
      <p:graphicFrame>
        <p:nvGraphicFramePr>
          <p:cNvPr id="67" name="Chart 8" descr=""/>
          <p:cNvGraphicFramePr/>
          <p:nvPr/>
        </p:nvGraphicFramePr>
        <p:xfrm>
          <a:off x="5276088" y="506943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68" name="Text 57"/>
          <p:cNvSpPr txBox="1"/>
          <p:nvPr/>
        </p:nvSpPr>
        <p:spPr>
          <a:xfrm>
            <a:off x="8183880" y="505114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400" dirty="0"/>
          </a:p>
        </p:txBody>
      </p:sp>
      <p:sp>
        <p:nvSpPr>
          <p:cNvPr id="69" name="Text 58"/>
          <p:cNvSpPr txBox="1"/>
          <p:nvPr/>
        </p:nvSpPr>
        <p:spPr>
          <a:xfrm>
            <a:off x="10195560" y="505114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+1.2 pts</a:t>
            </a:r>
            <a:endParaRPr lang="en-US" sz="1600" dirty="0"/>
          </a:p>
        </p:txBody>
      </p:sp>
      <p:sp>
        <p:nvSpPr>
          <p:cNvPr id="70" name="Text 59"/>
          <p:cNvSpPr txBox="1"/>
          <p:nvPr/>
        </p:nvSpPr>
        <p:spPr>
          <a:xfrm>
            <a:off x="749808" y="5433365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500" dirty="0"/>
          </a:p>
        </p:txBody>
      </p:sp>
      <p:sp>
        <p:nvSpPr>
          <p:cNvPr id="71" name="Text 60"/>
          <p:cNvSpPr txBox="1"/>
          <p:nvPr/>
        </p:nvSpPr>
        <p:spPr>
          <a:xfrm>
            <a:off x="1097280" y="5433365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400" dirty="0"/>
          </a:p>
        </p:txBody>
      </p:sp>
      <p:sp>
        <p:nvSpPr>
          <p:cNvPr id="72" name="Text 61"/>
          <p:cNvSpPr txBox="1"/>
          <p:nvPr/>
        </p:nvSpPr>
        <p:spPr>
          <a:xfrm>
            <a:off x="3657600" y="5433365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36.8% → 37.9%</a:t>
            </a:r>
            <a:endParaRPr lang="en-US" sz="1400" dirty="0"/>
          </a:p>
        </p:txBody>
      </p:sp>
      <p:graphicFrame>
        <p:nvGraphicFramePr>
          <p:cNvPr id="73" name="Chart 9" descr=""/>
          <p:cNvGraphicFramePr/>
          <p:nvPr/>
        </p:nvGraphicFramePr>
        <p:xfrm>
          <a:off x="5276088" y="5451653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74" name="Text 62"/>
          <p:cNvSpPr txBox="1"/>
          <p:nvPr/>
        </p:nvSpPr>
        <p:spPr>
          <a:xfrm>
            <a:off x="8183880" y="5433365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75" name="Text 63"/>
          <p:cNvSpPr txBox="1"/>
          <p:nvPr/>
        </p:nvSpPr>
        <p:spPr>
          <a:xfrm>
            <a:off x="10195560" y="5433365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+1.1 pts</a:t>
            </a:r>
            <a:endParaRPr lang="en-US" sz="1600" dirty="0"/>
          </a:p>
        </p:txBody>
      </p:sp>
      <p:sp>
        <p:nvSpPr>
          <p:cNvPr id="76" name="Shape 64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77" name="Text 65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 went 39.4% to 46.6%, stepping up in April. Ask what changed that month.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 · WHO'S MOVING NOW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Now: Alignment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 2026. Group 12.9% → 13.1%, +0.1 pts: that is the season. 15 of 33 stores beat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– Sep 2026, by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93392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93392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21.1% → 31.7%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276088" y="2011680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183880" y="1993392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1993392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+10.6 pts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375611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375611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375611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12.6% → 22.8%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276088" y="2393899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183880" y="2375611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375611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+10.1 pts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1792" y="2757830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275783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275783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0" y="275783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4.1% → 11.8%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5276088" y="277611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183880" y="275783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0195560" y="275783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+7.7 pts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49808" y="314005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314005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3657600" y="314005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18.3% → 25.7%</a:t>
            </a:r>
            <a:endParaRPr lang="en-US" sz="14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276088" y="315833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8183880" y="314005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95560" y="314005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+7.3 pts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21792" y="3522269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" y="3522269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97280" y="3522269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3657600" y="3522269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12.8% → 19.4%</a:t>
            </a:r>
            <a:endParaRPr lang="en-US" sz="1400" dirty="0"/>
          </a:p>
        </p:txBody>
      </p:sp>
      <p:graphicFrame>
        <p:nvGraphicFramePr>
          <p:cNvPr id="41" name="Chart 4" descr=""/>
          <p:cNvGraphicFramePr/>
          <p:nvPr/>
        </p:nvGraphicFramePr>
        <p:xfrm>
          <a:off x="5276088" y="3540557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183880" y="3522269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195560" y="3522269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+6.5 pts</a:t>
            </a:r>
            <a:endParaRPr lang="en-US" sz="1600" dirty="0"/>
          </a:p>
        </p:txBody>
      </p:sp>
      <p:sp>
        <p:nvSpPr>
          <p:cNvPr id="44" name="Text 37"/>
          <p:cNvSpPr txBox="1"/>
          <p:nvPr/>
        </p:nvSpPr>
        <p:spPr>
          <a:xfrm>
            <a:off x="749808" y="3904488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500" dirty="0"/>
          </a:p>
        </p:txBody>
      </p:sp>
      <p:sp>
        <p:nvSpPr>
          <p:cNvPr id="45" name="Text 38"/>
          <p:cNvSpPr txBox="1"/>
          <p:nvPr/>
        </p:nvSpPr>
        <p:spPr>
          <a:xfrm>
            <a:off x="1097280" y="3904488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3657600" y="3904488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6.8% → 13.3%</a:t>
            </a:r>
            <a:endParaRPr lang="en-US" sz="1400" dirty="0"/>
          </a:p>
        </p:txBody>
      </p:sp>
      <p:graphicFrame>
        <p:nvGraphicFramePr>
          <p:cNvPr id="47" name="Chart 5" descr=""/>
          <p:cNvGraphicFramePr/>
          <p:nvPr/>
        </p:nvGraphicFramePr>
        <p:xfrm>
          <a:off x="5276088" y="3922776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8" name="Text 40"/>
          <p:cNvSpPr txBox="1"/>
          <p:nvPr/>
        </p:nvSpPr>
        <p:spPr>
          <a:xfrm>
            <a:off x="8183880" y="3904488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10195560" y="3904488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+6.4 pts</a:t>
            </a:r>
            <a:endParaRPr lang="en-US" sz="1600" dirty="0"/>
          </a:p>
        </p:txBody>
      </p:sp>
      <p:sp>
        <p:nvSpPr>
          <p:cNvPr id="50" name="Shape 42"/>
          <p:cNvSpPr/>
          <p:nvPr/>
        </p:nvSpPr>
        <p:spPr>
          <a:xfrm>
            <a:off x="621792" y="4286707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749808" y="4286707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500" dirty="0"/>
          </a:p>
        </p:txBody>
      </p:sp>
      <p:sp>
        <p:nvSpPr>
          <p:cNvPr id="52" name="Text 44"/>
          <p:cNvSpPr txBox="1"/>
          <p:nvPr/>
        </p:nvSpPr>
        <p:spPr>
          <a:xfrm>
            <a:off x="1097280" y="4286707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400" dirty="0"/>
          </a:p>
        </p:txBody>
      </p:sp>
      <p:sp>
        <p:nvSpPr>
          <p:cNvPr id="53" name="Text 45"/>
          <p:cNvSpPr txBox="1"/>
          <p:nvPr/>
        </p:nvSpPr>
        <p:spPr>
          <a:xfrm>
            <a:off x="3657600" y="4286707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7.8% → 11.5%</a:t>
            </a:r>
            <a:endParaRPr lang="en-US" sz="1400" dirty="0"/>
          </a:p>
        </p:txBody>
      </p:sp>
      <p:graphicFrame>
        <p:nvGraphicFramePr>
          <p:cNvPr id="54" name="Chart 6" descr=""/>
          <p:cNvGraphicFramePr/>
          <p:nvPr/>
        </p:nvGraphicFramePr>
        <p:xfrm>
          <a:off x="5276088" y="4304995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55" name="Text 46"/>
          <p:cNvSpPr txBox="1"/>
          <p:nvPr/>
        </p:nvSpPr>
        <p:spPr>
          <a:xfrm>
            <a:off x="8183880" y="4286707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56" name="Text 47"/>
          <p:cNvSpPr txBox="1"/>
          <p:nvPr/>
        </p:nvSpPr>
        <p:spPr>
          <a:xfrm>
            <a:off x="10195560" y="4286707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+3.6 pts</a:t>
            </a:r>
            <a:endParaRPr lang="en-US" sz="1600" dirty="0"/>
          </a:p>
        </p:txBody>
      </p:sp>
      <p:sp>
        <p:nvSpPr>
          <p:cNvPr id="57" name="Text 48"/>
          <p:cNvSpPr txBox="1"/>
          <p:nvPr/>
        </p:nvSpPr>
        <p:spPr>
          <a:xfrm>
            <a:off x="749808" y="466892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500" dirty="0"/>
          </a:p>
        </p:txBody>
      </p:sp>
      <p:sp>
        <p:nvSpPr>
          <p:cNvPr id="58" name="Text 49"/>
          <p:cNvSpPr txBox="1"/>
          <p:nvPr/>
        </p:nvSpPr>
        <p:spPr>
          <a:xfrm>
            <a:off x="1097280" y="466892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400" dirty="0"/>
          </a:p>
        </p:txBody>
      </p:sp>
      <p:sp>
        <p:nvSpPr>
          <p:cNvPr id="59" name="Text 50"/>
          <p:cNvSpPr txBox="1"/>
          <p:nvPr/>
        </p:nvSpPr>
        <p:spPr>
          <a:xfrm>
            <a:off x="3657600" y="466892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23.0% → 25.4%</a:t>
            </a:r>
            <a:endParaRPr lang="en-US" sz="1400" dirty="0"/>
          </a:p>
        </p:txBody>
      </p:sp>
      <p:graphicFrame>
        <p:nvGraphicFramePr>
          <p:cNvPr id="60" name="Chart 7" descr=""/>
          <p:cNvGraphicFramePr/>
          <p:nvPr/>
        </p:nvGraphicFramePr>
        <p:xfrm>
          <a:off x="5276088" y="468721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61" name="Text 51"/>
          <p:cNvSpPr txBox="1"/>
          <p:nvPr/>
        </p:nvSpPr>
        <p:spPr>
          <a:xfrm>
            <a:off x="8183880" y="466892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400" dirty="0"/>
          </a:p>
        </p:txBody>
      </p:sp>
      <p:sp>
        <p:nvSpPr>
          <p:cNvPr id="62" name="Text 52"/>
          <p:cNvSpPr txBox="1"/>
          <p:nvPr/>
        </p:nvSpPr>
        <p:spPr>
          <a:xfrm>
            <a:off x="10195560" y="466892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+2.4 pts</a:t>
            </a:r>
            <a:endParaRPr lang="en-US" sz="1600" dirty="0"/>
          </a:p>
        </p:txBody>
      </p:sp>
      <p:sp>
        <p:nvSpPr>
          <p:cNvPr id="63" name="Shape 53"/>
          <p:cNvSpPr/>
          <p:nvPr/>
        </p:nvSpPr>
        <p:spPr>
          <a:xfrm>
            <a:off x="621792" y="5051146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4" name="Text 54"/>
          <p:cNvSpPr txBox="1"/>
          <p:nvPr/>
        </p:nvSpPr>
        <p:spPr>
          <a:xfrm>
            <a:off x="749808" y="505114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500" dirty="0"/>
          </a:p>
        </p:txBody>
      </p:sp>
      <p:sp>
        <p:nvSpPr>
          <p:cNvPr id="65" name="Text 55"/>
          <p:cNvSpPr txBox="1"/>
          <p:nvPr/>
        </p:nvSpPr>
        <p:spPr>
          <a:xfrm>
            <a:off x="1097280" y="505114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400" dirty="0"/>
          </a:p>
        </p:txBody>
      </p:sp>
      <p:sp>
        <p:nvSpPr>
          <p:cNvPr id="66" name="Text 56"/>
          <p:cNvSpPr txBox="1"/>
          <p:nvPr/>
        </p:nvSpPr>
        <p:spPr>
          <a:xfrm>
            <a:off x="3657600" y="505114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14.1% → 16.2%</a:t>
            </a:r>
            <a:endParaRPr lang="en-US" sz="1400" dirty="0"/>
          </a:p>
        </p:txBody>
      </p:sp>
      <p:graphicFrame>
        <p:nvGraphicFramePr>
          <p:cNvPr id="67" name="Chart 8" descr=""/>
          <p:cNvGraphicFramePr/>
          <p:nvPr/>
        </p:nvGraphicFramePr>
        <p:xfrm>
          <a:off x="5276088" y="506943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68" name="Text 57"/>
          <p:cNvSpPr txBox="1"/>
          <p:nvPr/>
        </p:nvSpPr>
        <p:spPr>
          <a:xfrm>
            <a:off x="8183880" y="505114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69" name="Text 58"/>
          <p:cNvSpPr txBox="1"/>
          <p:nvPr/>
        </p:nvSpPr>
        <p:spPr>
          <a:xfrm>
            <a:off x="10195560" y="505114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+2.0 pts</a:t>
            </a:r>
            <a:endParaRPr lang="en-US" sz="1600" dirty="0"/>
          </a:p>
        </p:txBody>
      </p:sp>
      <p:sp>
        <p:nvSpPr>
          <p:cNvPr id="70" name="Text 59"/>
          <p:cNvSpPr txBox="1"/>
          <p:nvPr/>
        </p:nvSpPr>
        <p:spPr>
          <a:xfrm>
            <a:off x="749808" y="5433365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500" dirty="0"/>
          </a:p>
        </p:txBody>
      </p:sp>
      <p:sp>
        <p:nvSpPr>
          <p:cNvPr id="71" name="Text 60"/>
          <p:cNvSpPr txBox="1"/>
          <p:nvPr/>
        </p:nvSpPr>
        <p:spPr>
          <a:xfrm>
            <a:off x="1097280" y="5433365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400" dirty="0"/>
          </a:p>
        </p:txBody>
      </p:sp>
      <p:sp>
        <p:nvSpPr>
          <p:cNvPr id="72" name="Text 61"/>
          <p:cNvSpPr txBox="1"/>
          <p:nvPr/>
        </p:nvSpPr>
        <p:spPr>
          <a:xfrm>
            <a:off x="3657600" y="5433365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11.4% → 12.9%</a:t>
            </a:r>
            <a:endParaRPr lang="en-US" sz="1400" dirty="0"/>
          </a:p>
        </p:txBody>
      </p:sp>
      <p:graphicFrame>
        <p:nvGraphicFramePr>
          <p:cNvPr id="73" name="Chart 9" descr=""/>
          <p:cNvGraphicFramePr/>
          <p:nvPr/>
        </p:nvGraphicFramePr>
        <p:xfrm>
          <a:off x="5276088" y="5451653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74" name="Text 62"/>
          <p:cNvSpPr txBox="1"/>
          <p:nvPr/>
        </p:nvSpPr>
        <p:spPr>
          <a:xfrm>
            <a:off x="8183880" y="5433365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75" name="Text 63"/>
          <p:cNvSpPr txBox="1"/>
          <p:nvPr/>
        </p:nvSpPr>
        <p:spPr>
          <a:xfrm>
            <a:off x="10195560" y="5433365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+1.4 pts</a:t>
            </a:r>
            <a:endParaRPr lang="en-US" sz="1600" dirty="0"/>
          </a:p>
        </p:txBody>
      </p:sp>
      <p:sp>
        <p:nvSpPr>
          <p:cNvPr id="76" name="Shape 64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77" name="Text 65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 went 21.1% to 31.7%, stepping up in May. Ask what changed that month.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 · WHO'S MOVING NOW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Now: Balance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 2026. Group 8.2% → 8.3%, 0.0 pts: that is the season. 15 of 33 stores beat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– Sep 2026, by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93392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93392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10.1% → 19.3%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276088" y="2011680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183880" y="1993392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1993392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+9.1 pts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375611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375611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375611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10.8% → 16.1%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276088" y="2393899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183880" y="2375611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375611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+5.2 pts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1792" y="2757830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275783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275783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0" y="275783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0.7% → 4.0%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5276088" y="277611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183880" y="275783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0195560" y="275783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+3.2 pts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49808" y="314005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314005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3657600" y="314005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5.3% → 8.5%</a:t>
            </a:r>
            <a:endParaRPr lang="en-US" sz="14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276088" y="315833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8183880" y="314005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95560" y="314005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+3.1 pts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21792" y="3522269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" y="3522269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97280" y="3522269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3657600" y="3522269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9.7% → 12.2%</a:t>
            </a:r>
            <a:endParaRPr lang="en-US" sz="1400" dirty="0"/>
          </a:p>
        </p:txBody>
      </p:sp>
      <p:graphicFrame>
        <p:nvGraphicFramePr>
          <p:cNvPr id="41" name="Chart 4" descr=""/>
          <p:cNvGraphicFramePr/>
          <p:nvPr/>
        </p:nvGraphicFramePr>
        <p:xfrm>
          <a:off x="5276088" y="3540557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183880" y="3522269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195560" y="3522269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+2.5 pts</a:t>
            </a:r>
            <a:endParaRPr lang="en-US" sz="1600" dirty="0"/>
          </a:p>
        </p:txBody>
      </p:sp>
      <p:sp>
        <p:nvSpPr>
          <p:cNvPr id="44" name="Text 37"/>
          <p:cNvSpPr txBox="1"/>
          <p:nvPr/>
        </p:nvSpPr>
        <p:spPr>
          <a:xfrm>
            <a:off x="749808" y="3904488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500" dirty="0"/>
          </a:p>
        </p:txBody>
      </p:sp>
      <p:sp>
        <p:nvSpPr>
          <p:cNvPr id="45" name="Text 38"/>
          <p:cNvSpPr txBox="1"/>
          <p:nvPr/>
        </p:nvSpPr>
        <p:spPr>
          <a:xfrm>
            <a:off x="1097280" y="3904488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3657600" y="3904488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13.6% → 15.6%</a:t>
            </a:r>
            <a:endParaRPr lang="en-US" sz="1400" dirty="0"/>
          </a:p>
        </p:txBody>
      </p:sp>
      <p:graphicFrame>
        <p:nvGraphicFramePr>
          <p:cNvPr id="47" name="Chart 5" descr=""/>
          <p:cNvGraphicFramePr/>
          <p:nvPr/>
        </p:nvGraphicFramePr>
        <p:xfrm>
          <a:off x="5276088" y="3922776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8" name="Text 40"/>
          <p:cNvSpPr txBox="1"/>
          <p:nvPr/>
        </p:nvSpPr>
        <p:spPr>
          <a:xfrm>
            <a:off x="8183880" y="3904488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10195560" y="3904488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+1.9 pts</a:t>
            </a:r>
            <a:endParaRPr lang="en-US" sz="1600" dirty="0"/>
          </a:p>
        </p:txBody>
      </p:sp>
      <p:sp>
        <p:nvSpPr>
          <p:cNvPr id="50" name="Shape 42"/>
          <p:cNvSpPr/>
          <p:nvPr/>
        </p:nvSpPr>
        <p:spPr>
          <a:xfrm>
            <a:off x="621792" y="4286707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749808" y="4286707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500" dirty="0"/>
          </a:p>
        </p:txBody>
      </p:sp>
      <p:sp>
        <p:nvSpPr>
          <p:cNvPr id="52" name="Text 44"/>
          <p:cNvSpPr txBox="1"/>
          <p:nvPr/>
        </p:nvSpPr>
        <p:spPr>
          <a:xfrm>
            <a:off x="1097280" y="4286707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400" dirty="0"/>
          </a:p>
        </p:txBody>
      </p:sp>
      <p:sp>
        <p:nvSpPr>
          <p:cNvPr id="53" name="Text 45"/>
          <p:cNvSpPr txBox="1"/>
          <p:nvPr/>
        </p:nvSpPr>
        <p:spPr>
          <a:xfrm>
            <a:off x="3657600" y="4286707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5.9% → 7.7%</a:t>
            </a:r>
            <a:endParaRPr lang="en-US" sz="1400" dirty="0"/>
          </a:p>
        </p:txBody>
      </p:sp>
      <p:graphicFrame>
        <p:nvGraphicFramePr>
          <p:cNvPr id="54" name="Chart 6" descr=""/>
          <p:cNvGraphicFramePr/>
          <p:nvPr/>
        </p:nvGraphicFramePr>
        <p:xfrm>
          <a:off x="5276088" y="4304995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55" name="Text 46"/>
          <p:cNvSpPr txBox="1"/>
          <p:nvPr/>
        </p:nvSpPr>
        <p:spPr>
          <a:xfrm>
            <a:off x="8183880" y="4286707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56" name="Text 47"/>
          <p:cNvSpPr txBox="1"/>
          <p:nvPr/>
        </p:nvSpPr>
        <p:spPr>
          <a:xfrm>
            <a:off x="10195560" y="4286707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+1.8 pts</a:t>
            </a:r>
            <a:endParaRPr lang="en-US" sz="1600" dirty="0"/>
          </a:p>
        </p:txBody>
      </p:sp>
      <p:sp>
        <p:nvSpPr>
          <p:cNvPr id="57" name="Text 48"/>
          <p:cNvSpPr txBox="1"/>
          <p:nvPr/>
        </p:nvSpPr>
        <p:spPr>
          <a:xfrm>
            <a:off x="749808" y="466892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500" dirty="0"/>
          </a:p>
        </p:txBody>
      </p:sp>
      <p:sp>
        <p:nvSpPr>
          <p:cNvPr id="58" name="Text 49"/>
          <p:cNvSpPr txBox="1"/>
          <p:nvPr/>
        </p:nvSpPr>
        <p:spPr>
          <a:xfrm>
            <a:off x="1097280" y="466892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400" dirty="0"/>
          </a:p>
        </p:txBody>
      </p:sp>
      <p:sp>
        <p:nvSpPr>
          <p:cNvPr id="59" name="Text 50"/>
          <p:cNvSpPr txBox="1"/>
          <p:nvPr/>
        </p:nvSpPr>
        <p:spPr>
          <a:xfrm>
            <a:off x="3657600" y="466892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7.2% → 8.9%</a:t>
            </a:r>
            <a:endParaRPr lang="en-US" sz="1400" dirty="0"/>
          </a:p>
        </p:txBody>
      </p:sp>
      <p:graphicFrame>
        <p:nvGraphicFramePr>
          <p:cNvPr id="60" name="Chart 7" descr=""/>
          <p:cNvGraphicFramePr/>
          <p:nvPr/>
        </p:nvGraphicFramePr>
        <p:xfrm>
          <a:off x="5276088" y="468721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61" name="Text 51"/>
          <p:cNvSpPr txBox="1"/>
          <p:nvPr/>
        </p:nvSpPr>
        <p:spPr>
          <a:xfrm>
            <a:off x="8183880" y="466892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62" name="Text 52"/>
          <p:cNvSpPr txBox="1"/>
          <p:nvPr/>
        </p:nvSpPr>
        <p:spPr>
          <a:xfrm>
            <a:off x="10195560" y="466892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+1.7 pts</a:t>
            </a:r>
            <a:endParaRPr lang="en-US" sz="1600" dirty="0"/>
          </a:p>
        </p:txBody>
      </p:sp>
      <p:sp>
        <p:nvSpPr>
          <p:cNvPr id="63" name="Shape 53"/>
          <p:cNvSpPr/>
          <p:nvPr/>
        </p:nvSpPr>
        <p:spPr>
          <a:xfrm>
            <a:off x="621792" y="5051146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4" name="Text 54"/>
          <p:cNvSpPr txBox="1"/>
          <p:nvPr/>
        </p:nvSpPr>
        <p:spPr>
          <a:xfrm>
            <a:off x="749808" y="505114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500" dirty="0"/>
          </a:p>
        </p:txBody>
      </p:sp>
      <p:sp>
        <p:nvSpPr>
          <p:cNvPr id="65" name="Text 55"/>
          <p:cNvSpPr txBox="1"/>
          <p:nvPr/>
        </p:nvSpPr>
        <p:spPr>
          <a:xfrm>
            <a:off x="1097280" y="505114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400" dirty="0"/>
          </a:p>
        </p:txBody>
      </p:sp>
      <p:sp>
        <p:nvSpPr>
          <p:cNvPr id="66" name="Text 56"/>
          <p:cNvSpPr txBox="1"/>
          <p:nvPr/>
        </p:nvSpPr>
        <p:spPr>
          <a:xfrm>
            <a:off x="3657600" y="505114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10.3% → 11.0%</a:t>
            </a:r>
            <a:endParaRPr lang="en-US" sz="1400" dirty="0"/>
          </a:p>
        </p:txBody>
      </p:sp>
      <p:graphicFrame>
        <p:nvGraphicFramePr>
          <p:cNvPr id="67" name="Chart 8" descr=""/>
          <p:cNvGraphicFramePr/>
          <p:nvPr/>
        </p:nvGraphicFramePr>
        <p:xfrm>
          <a:off x="5276088" y="506943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68" name="Text 57"/>
          <p:cNvSpPr txBox="1"/>
          <p:nvPr/>
        </p:nvSpPr>
        <p:spPr>
          <a:xfrm>
            <a:off x="8183880" y="505114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69" name="Text 58"/>
          <p:cNvSpPr txBox="1"/>
          <p:nvPr/>
        </p:nvSpPr>
        <p:spPr>
          <a:xfrm>
            <a:off x="10195560" y="505114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+0.6 pts</a:t>
            </a:r>
            <a:endParaRPr lang="en-US" sz="1600" dirty="0"/>
          </a:p>
        </p:txBody>
      </p:sp>
      <p:sp>
        <p:nvSpPr>
          <p:cNvPr id="70" name="Text 59"/>
          <p:cNvSpPr txBox="1"/>
          <p:nvPr/>
        </p:nvSpPr>
        <p:spPr>
          <a:xfrm>
            <a:off x="749808" y="5433365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500" dirty="0"/>
          </a:p>
        </p:txBody>
      </p:sp>
      <p:sp>
        <p:nvSpPr>
          <p:cNvPr id="71" name="Text 60"/>
          <p:cNvSpPr txBox="1"/>
          <p:nvPr/>
        </p:nvSpPr>
        <p:spPr>
          <a:xfrm>
            <a:off x="1097280" y="5433365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400" dirty="0"/>
          </a:p>
        </p:txBody>
      </p:sp>
      <p:sp>
        <p:nvSpPr>
          <p:cNvPr id="72" name="Text 61"/>
          <p:cNvSpPr txBox="1"/>
          <p:nvPr/>
        </p:nvSpPr>
        <p:spPr>
          <a:xfrm>
            <a:off x="3657600" y="5433365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5.4% → 5.8%</a:t>
            </a:r>
            <a:endParaRPr lang="en-US" sz="1400" dirty="0"/>
          </a:p>
        </p:txBody>
      </p:sp>
      <p:graphicFrame>
        <p:nvGraphicFramePr>
          <p:cNvPr id="73" name="Chart 9" descr=""/>
          <p:cNvGraphicFramePr/>
          <p:nvPr/>
        </p:nvGraphicFramePr>
        <p:xfrm>
          <a:off x="5276088" y="5451653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74" name="Text 62"/>
          <p:cNvSpPr txBox="1"/>
          <p:nvPr/>
        </p:nvSpPr>
        <p:spPr>
          <a:xfrm>
            <a:off x="8183880" y="5433365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75" name="Text 63"/>
          <p:cNvSpPr txBox="1"/>
          <p:nvPr/>
        </p:nvSpPr>
        <p:spPr>
          <a:xfrm>
            <a:off x="10195560" y="5433365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+0.4 pts</a:t>
            </a:r>
            <a:endParaRPr lang="en-US" sz="1600" dirty="0"/>
          </a:p>
        </p:txBody>
      </p:sp>
      <p:sp>
        <p:nvSpPr>
          <p:cNvPr id="76" name="Shape 64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77" name="Text 65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 went 10.1% to 19.3%, stepping up in August. Ask what changed that month.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 · WHO'S MOVING NOW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Now: Brake Fluid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 2026. Group 9.1% → 9.1%, 0.0 pts: that is the season. 15 of 33 stores beat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– Sep 2026, by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93392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93392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5.2% → 14.1%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276088" y="2011680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183880" y="1993392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1993392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+8.9 pts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375611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375611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375611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0.5% → 5.3%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276088" y="2393899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183880" y="2375611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375611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+4.8 pts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1792" y="2757830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275783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275783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0" y="275783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3.9% → 7.9%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5276088" y="277611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183880" y="275783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0195560" y="275783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+3.9 pts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49808" y="314005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314005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3657600" y="314005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8.3% → 11.7%</a:t>
            </a:r>
            <a:endParaRPr lang="en-US" sz="14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276088" y="315833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8183880" y="314005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95560" y="314005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+3.4 pts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21792" y="3522269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" y="3522269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97280" y="3522269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3657600" y="3522269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8.1% → 10.3%</a:t>
            </a:r>
            <a:endParaRPr lang="en-US" sz="1400" dirty="0"/>
          </a:p>
        </p:txBody>
      </p:sp>
      <p:graphicFrame>
        <p:nvGraphicFramePr>
          <p:cNvPr id="41" name="Chart 4" descr=""/>
          <p:cNvGraphicFramePr/>
          <p:nvPr/>
        </p:nvGraphicFramePr>
        <p:xfrm>
          <a:off x="5276088" y="3540557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183880" y="3522269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195560" y="3522269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+2.1 pts</a:t>
            </a:r>
            <a:endParaRPr lang="en-US" sz="1600" dirty="0"/>
          </a:p>
        </p:txBody>
      </p:sp>
      <p:sp>
        <p:nvSpPr>
          <p:cNvPr id="44" name="Text 37"/>
          <p:cNvSpPr txBox="1"/>
          <p:nvPr/>
        </p:nvSpPr>
        <p:spPr>
          <a:xfrm>
            <a:off x="749808" y="3904488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500" dirty="0"/>
          </a:p>
        </p:txBody>
      </p:sp>
      <p:sp>
        <p:nvSpPr>
          <p:cNvPr id="45" name="Text 38"/>
          <p:cNvSpPr txBox="1"/>
          <p:nvPr/>
        </p:nvSpPr>
        <p:spPr>
          <a:xfrm>
            <a:off x="1097280" y="3904488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3657600" y="3904488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13.3% → 15.5%</a:t>
            </a:r>
            <a:endParaRPr lang="en-US" sz="1400" dirty="0"/>
          </a:p>
        </p:txBody>
      </p:sp>
      <p:graphicFrame>
        <p:nvGraphicFramePr>
          <p:cNvPr id="47" name="Chart 5" descr=""/>
          <p:cNvGraphicFramePr/>
          <p:nvPr/>
        </p:nvGraphicFramePr>
        <p:xfrm>
          <a:off x="5276088" y="3922776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8" name="Text 40"/>
          <p:cNvSpPr txBox="1"/>
          <p:nvPr/>
        </p:nvSpPr>
        <p:spPr>
          <a:xfrm>
            <a:off x="8183880" y="3904488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10195560" y="3904488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+2.1 pts</a:t>
            </a:r>
            <a:endParaRPr lang="en-US" sz="1600" dirty="0"/>
          </a:p>
        </p:txBody>
      </p:sp>
      <p:sp>
        <p:nvSpPr>
          <p:cNvPr id="50" name="Shape 42"/>
          <p:cNvSpPr/>
          <p:nvPr/>
        </p:nvSpPr>
        <p:spPr>
          <a:xfrm>
            <a:off x="621792" y="4286707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749808" y="4286707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500" dirty="0"/>
          </a:p>
        </p:txBody>
      </p:sp>
      <p:sp>
        <p:nvSpPr>
          <p:cNvPr id="52" name="Text 44"/>
          <p:cNvSpPr txBox="1"/>
          <p:nvPr/>
        </p:nvSpPr>
        <p:spPr>
          <a:xfrm>
            <a:off x="1097280" y="4286707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400" dirty="0"/>
          </a:p>
        </p:txBody>
      </p:sp>
      <p:sp>
        <p:nvSpPr>
          <p:cNvPr id="53" name="Text 45"/>
          <p:cNvSpPr txBox="1"/>
          <p:nvPr/>
        </p:nvSpPr>
        <p:spPr>
          <a:xfrm>
            <a:off x="3657600" y="4286707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4.6% → 6.1%</a:t>
            </a:r>
            <a:endParaRPr lang="en-US" sz="1400" dirty="0"/>
          </a:p>
        </p:txBody>
      </p:sp>
      <p:graphicFrame>
        <p:nvGraphicFramePr>
          <p:cNvPr id="54" name="Chart 6" descr=""/>
          <p:cNvGraphicFramePr/>
          <p:nvPr/>
        </p:nvGraphicFramePr>
        <p:xfrm>
          <a:off x="5276088" y="4304995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55" name="Text 46"/>
          <p:cNvSpPr txBox="1"/>
          <p:nvPr/>
        </p:nvSpPr>
        <p:spPr>
          <a:xfrm>
            <a:off x="8183880" y="4286707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56" name="Text 47"/>
          <p:cNvSpPr txBox="1"/>
          <p:nvPr/>
        </p:nvSpPr>
        <p:spPr>
          <a:xfrm>
            <a:off x="10195560" y="4286707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+1.4 pts</a:t>
            </a:r>
            <a:endParaRPr lang="en-US" sz="1600" dirty="0"/>
          </a:p>
        </p:txBody>
      </p:sp>
      <p:sp>
        <p:nvSpPr>
          <p:cNvPr id="57" name="Text 48"/>
          <p:cNvSpPr txBox="1"/>
          <p:nvPr/>
        </p:nvSpPr>
        <p:spPr>
          <a:xfrm>
            <a:off x="749808" y="466892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500" dirty="0"/>
          </a:p>
        </p:txBody>
      </p:sp>
      <p:sp>
        <p:nvSpPr>
          <p:cNvPr id="58" name="Text 49"/>
          <p:cNvSpPr txBox="1"/>
          <p:nvPr/>
        </p:nvSpPr>
        <p:spPr>
          <a:xfrm>
            <a:off x="1097280" y="466892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400" dirty="0"/>
          </a:p>
        </p:txBody>
      </p:sp>
      <p:sp>
        <p:nvSpPr>
          <p:cNvPr id="59" name="Text 50"/>
          <p:cNvSpPr txBox="1"/>
          <p:nvPr/>
        </p:nvSpPr>
        <p:spPr>
          <a:xfrm>
            <a:off x="3657600" y="466892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2.4% → 3.9%</a:t>
            </a:r>
            <a:endParaRPr lang="en-US" sz="1400" dirty="0"/>
          </a:p>
        </p:txBody>
      </p:sp>
      <p:graphicFrame>
        <p:nvGraphicFramePr>
          <p:cNvPr id="60" name="Chart 7" descr=""/>
          <p:cNvGraphicFramePr/>
          <p:nvPr/>
        </p:nvGraphicFramePr>
        <p:xfrm>
          <a:off x="5276088" y="468721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61" name="Text 51"/>
          <p:cNvSpPr txBox="1"/>
          <p:nvPr/>
        </p:nvSpPr>
        <p:spPr>
          <a:xfrm>
            <a:off x="8183880" y="466892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400" dirty="0"/>
          </a:p>
        </p:txBody>
      </p:sp>
      <p:sp>
        <p:nvSpPr>
          <p:cNvPr id="62" name="Text 52"/>
          <p:cNvSpPr txBox="1"/>
          <p:nvPr/>
        </p:nvSpPr>
        <p:spPr>
          <a:xfrm>
            <a:off x="10195560" y="466892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+1.4 pts</a:t>
            </a:r>
            <a:endParaRPr lang="en-US" sz="1600" dirty="0"/>
          </a:p>
        </p:txBody>
      </p:sp>
      <p:sp>
        <p:nvSpPr>
          <p:cNvPr id="63" name="Shape 53"/>
          <p:cNvSpPr/>
          <p:nvPr/>
        </p:nvSpPr>
        <p:spPr>
          <a:xfrm>
            <a:off x="621792" y="5051146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4" name="Text 54"/>
          <p:cNvSpPr txBox="1"/>
          <p:nvPr/>
        </p:nvSpPr>
        <p:spPr>
          <a:xfrm>
            <a:off x="749808" y="505114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500" dirty="0"/>
          </a:p>
        </p:txBody>
      </p:sp>
      <p:sp>
        <p:nvSpPr>
          <p:cNvPr id="65" name="Text 55"/>
          <p:cNvSpPr txBox="1"/>
          <p:nvPr/>
        </p:nvSpPr>
        <p:spPr>
          <a:xfrm>
            <a:off x="1097280" y="505114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400" dirty="0"/>
          </a:p>
        </p:txBody>
      </p:sp>
      <p:sp>
        <p:nvSpPr>
          <p:cNvPr id="66" name="Text 56"/>
          <p:cNvSpPr txBox="1"/>
          <p:nvPr/>
        </p:nvSpPr>
        <p:spPr>
          <a:xfrm>
            <a:off x="3657600" y="505114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7.7% → 8.9%</a:t>
            </a:r>
            <a:endParaRPr lang="en-US" sz="1400" dirty="0"/>
          </a:p>
        </p:txBody>
      </p:sp>
      <p:graphicFrame>
        <p:nvGraphicFramePr>
          <p:cNvPr id="67" name="Chart 8" descr=""/>
          <p:cNvGraphicFramePr/>
          <p:nvPr/>
        </p:nvGraphicFramePr>
        <p:xfrm>
          <a:off x="5276088" y="506943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68" name="Text 57"/>
          <p:cNvSpPr txBox="1"/>
          <p:nvPr/>
        </p:nvSpPr>
        <p:spPr>
          <a:xfrm>
            <a:off x="8183880" y="505114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69" name="Text 58"/>
          <p:cNvSpPr txBox="1"/>
          <p:nvPr/>
        </p:nvSpPr>
        <p:spPr>
          <a:xfrm>
            <a:off x="10195560" y="505114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+1.2 pts</a:t>
            </a:r>
            <a:endParaRPr lang="en-US" sz="1600" dirty="0"/>
          </a:p>
        </p:txBody>
      </p:sp>
      <p:sp>
        <p:nvSpPr>
          <p:cNvPr id="70" name="Text 59"/>
          <p:cNvSpPr txBox="1"/>
          <p:nvPr/>
        </p:nvSpPr>
        <p:spPr>
          <a:xfrm>
            <a:off x="749808" y="5433365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500" dirty="0"/>
          </a:p>
        </p:txBody>
      </p:sp>
      <p:sp>
        <p:nvSpPr>
          <p:cNvPr id="71" name="Text 60"/>
          <p:cNvSpPr txBox="1"/>
          <p:nvPr/>
        </p:nvSpPr>
        <p:spPr>
          <a:xfrm>
            <a:off x="1097280" y="5433365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400" dirty="0"/>
          </a:p>
        </p:txBody>
      </p:sp>
      <p:sp>
        <p:nvSpPr>
          <p:cNvPr id="72" name="Text 61"/>
          <p:cNvSpPr txBox="1"/>
          <p:nvPr/>
        </p:nvSpPr>
        <p:spPr>
          <a:xfrm>
            <a:off x="3657600" y="5433365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4.8% → 6.0%</a:t>
            </a:r>
            <a:endParaRPr lang="en-US" sz="1400" dirty="0"/>
          </a:p>
        </p:txBody>
      </p:sp>
      <p:graphicFrame>
        <p:nvGraphicFramePr>
          <p:cNvPr id="73" name="Chart 9" descr=""/>
          <p:cNvGraphicFramePr/>
          <p:nvPr/>
        </p:nvGraphicFramePr>
        <p:xfrm>
          <a:off x="5276088" y="5451653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74" name="Text 62"/>
          <p:cNvSpPr txBox="1"/>
          <p:nvPr/>
        </p:nvSpPr>
        <p:spPr>
          <a:xfrm>
            <a:off x="8183880" y="5433365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75" name="Text 63"/>
          <p:cNvSpPr txBox="1"/>
          <p:nvPr/>
        </p:nvSpPr>
        <p:spPr>
          <a:xfrm>
            <a:off x="10195560" y="5433365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+1.1 pts</a:t>
            </a:r>
            <a:endParaRPr lang="en-US" sz="1600" dirty="0"/>
          </a:p>
        </p:txBody>
      </p:sp>
      <p:sp>
        <p:nvSpPr>
          <p:cNvPr id="76" name="Shape 64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77" name="Text 65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 went 5.2% to 14.1%, stepping up in August. Ask what changed that month.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 · WHO'S MOVING NOW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Now: Fuel Service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 2026. Group 5.8% → 5.6%, −0.2 pts: that is the season. 19 of 33 stores beat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– Sep 2026, by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93392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93392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2.5% → 10.7%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276088" y="2011680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183880" y="1993392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1993392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+8.1 pts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375611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375611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375611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 → 8.1%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276088" y="2393899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183880" y="2375611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375611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+3.9 pts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1792" y="2757830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275783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275783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0" y="275783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1.2% → 4.9%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5276088" y="277611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183880" y="275783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0195560" y="275783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+3.6 pts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49808" y="314005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314005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3657600" y="314005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6.7% → 10.1%</a:t>
            </a:r>
            <a:endParaRPr lang="en-US" sz="14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276088" y="315833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8183880" y="314005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95560" y="314005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+3.3 pts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21792" y="3522269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" y="3522269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97280" y="3522269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3657600" y="3522269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0.0% → 2.5%</a:t>
            </a:r>
            <a:endParaRPr lang="en-US" sz="1400" dirty="0"/>
          </a:p>
        </p:txBody>
      </p:sp>
      <p:graphicFrame>
        <p:nvGraphicFramePr>
          <p:cNvPr id="41" name="Chart 4" descr=""/>
          <p:cNvGraphicFramePr/>
          <p:nvPr/>
        </p:nvGraphicFramePr>
        <p:xfrm>
          <a:off x="5276088" y="3540557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183880" y="3522269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195560" y="3522269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+2.4 pts</a:t>
            </a:r>
            <a:endParaRPr lang="en-US" sz="1600" dirty="0"/>
          </a:p>
        </p:txBody>
      </p:sp>
      <p:sp>
        <p:nvSpPr>
          <p:cNvPr id="44" name="Text 37"/>
          <p:cNvSpPr txBox="1"/>
          <p:nvPr/>
        </p:nvSpPr>
        <p:spPr>
          <a:xfrm>
            <a:off x="749808" y="3904488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500" dirty="0"/>
          </a:p>
        </p:txBody>
      </p:sp>
      <p:sp>
        <p:nvSpPr>
          <p:cNvPr id="45" name="Text 38"/>
          <p:cNvSpPr txBox="1"/>
          <p:nvPr/>
        </p:nvSpPr>
        <p:spPr>
          <a:xfrm>
            <a:off x="1097280" y="3904488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3657600" y="3904488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6.4% → 8.9%</a:t>
            </a:r>
            <a:endParaRPr lang="en-US" sz="1400" dirty="0"/>
          </a:p>
        </p:txBody>
      </p:sp>
      <p:graphicFrame>
        <p:nvGraphicFramePr>
          <p:cNvPr id="47" name="Chart 5" descr=""/>
          <p:cNvGraphicFramePr/>
          <p:nvPr/>
        </p:nvGraphicFramePr>
        <p:xfrm>
          <a:off x="5276088" y="3922776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8" name="Text 40"/>
          <p:cNvSpPr txBox="1"/>
          <p:nvPr/>
        </p:nvSpPr>
        <p:spPr>
          <a:xfrm>
            <a:off x="8183880" y="3904488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10195560" y="3904488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+2.4 pts</a:t>
            </a:r>
            <a:endParaRPr lang="en-US" sz="1600" dirty="0"/>
          </a:p>
        </p:txBody>
      </p:sp>
      <p:sp>
        <p:nvSpPr>
          <p:cNvPr id="50" name="Shape 42"/>
          <p:cNvSpPr/>
          <p:nvPr/>
        </p:nvSpPr>
        <p:spPr>
          <a:xfrm>
            <a:off x="621792" y="4286707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749808" y="4286707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500" dirty="0"/>
          </a:p>
        </p:txBody>
      </p:sp>
      <p:sp>
        <p:nvSpPr>
          <p:cNvPr id="52" name="Text 44"/>
          <p:cNvSpPr txBox="1"/>
          <p:nvPr/>
        </p:nvSpPr>
        <p:spPr>
          <a:xfrm>
            <a:off x="1097280" y="4286707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400" dirty="0"/>
          </a:p>
        </p:txBody>
      </p:sp>
      <p:sp>
        <p:nvSpPr>
          <p:cNvPr id="53" name="Text 45"/>
          <p:cNvSpPr txBox="1"/>
          <p:nvPr/>
        </p:nvSpPr>
        <p:spPr>
          <a:xfrm>
            <a:off x="3657600" y="4286707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8.8% → 10.2%</a:t>
            </a:r>
            <a:endParaRPr lang="en-US" sz="1400" dirty="0"/>
          </a:p>
        </p:txBody>
      </p:sp>
      <p:graphicFrame>
        <p:nvGraphicFramePr>
          <p:cNvPr id="54" name="Chart 6" descr=""/>
          <p:cNvGraphicFramePr/>
          <p:nvPr/>
        </p:nvGraphicFramePr>
        <p:xfrm>
          <a:off x="5276088" y="4304995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55" name="Text 46"/>
          <p:cNvSpPr txBox="1"/>
          <p:nvPr/>
        </p:nvSpPr>
        <p:spPr>
          <a:xfrm>
            <a:off x="8183880" y="4286707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400" dirty="0"/>
          </a:p>
        </p:txBody>
      </p:sp>
      <p:sp>
        <p:nvSpPr>
          <p:cNvPr id="56" name="Text 47"/>
          <p:cNvSpPr txBox="1"/>
          <p:nvPr/>
        </p:nvSpPr>
        <p:spPr>
          <a:xfrm>
            <a:off x="10195560" y="4286707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+1.3 pts</a:t>
            </a:r>
            <a:endParaRPr lang="en-US" sz="1600" dirty="0"/>
          </a:p>
        </p:txBody>
      </p:sp>
      <p:sp>
        <p:nvSpPr>
          <p:cNvPr id="57" name="Text 48"/>
          <p:cNvSpPr txBox="1"/>
          <p:nvPr/>
        </p:nvSpPr>
        <p:spPr>
          <a:xfrm>
            <a:off x="749808" y="466892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500" dirty="0"/>
          </a:p>
        </p:txBody>
      </p:sp>
      <p:sp>
        <p:nvSpPr>
          <p:cNvPr id="58" name="Text 49"/>
          <p:cNvSpPr txBox="1"/>
          <p:nvPr/>
        </p:nvSpPr>
        <p:spPr>
          <a:xfrm>
            <a:off x="1097280" y="466892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400" dirty="0"/>
          </a:p>
        </p:txBody>
      </p:sp>
      <p:sp>
        <p:nvSpPr>
          <p:cNvPr id="59" name="Text 50"/>
          <p:cNvSpPr txBox="1"/>
          <p:nvPr/>
        </p:nvSpPr>
        <p:spPr>
          <a:xfrm>
            <a:off x="3657600" y="466892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0.3% → 1.5%</a:t>
            </a:r>
            <a:endParaRPr lang="en-US" sz="1400" dirty="0"/>
          </a:p>
        </p:txBody>
      </p:sp>
      <p:graphicFrame>
        <p:nvGraphicFramePr>
          <p:cNvPr id="60" name="Chart 7" descr=""/>
          <p:cNvGraphicFramePr/>
          <p:nvPr/>
        </p:nvGraphicFramePr>
        <p:xfrm>
          <a:off x="5276088" y="468721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61" name="Text 51"/>
          <p:cNvSpPr txBox="1"/>
          <p:nvPr/>
        </p:nvSpPr>
        <p:spPr>
          <a:xfrm>
            <a:off x="8183880" y="466892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62" name="Text 52"/>
          <p:cNvSpPr txBox="1"/>
          <p:nvPr/>
        </p:nvSpPr>
        <p:spPr>
          <a:xfrm>
            <a:off x="10195560" y="466892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+1.1 pts</a:t>
            </a:r>
            <a:endParaRPr lang="en-US" sz="1600" dirty="0"/>
          </a:p>
        </p:txBody>
      </p:sp>
      <p:sp>
        <p:nvSpPr>
          <p:cNvPr id="63" name="Shape 53"/>
          <p:cNvSpPr/>
          <p:nvPr/>
        </p:nvSpPr>
        <p:spPr>
          <a:xfrm>
            <a:off x="621792" y="5051146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4" name="Text 54"/>
          <p:cNvSpPr txBox="1"/>
          <p:nvPr/>
        </p:nvSpPr>
        <p:spPr>
          <a:xfrm>
            <a:off x="749808" y="505114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500" dirty="0"/>
          </a:p>
        </p:txBody>
      </p:sp>
      <p:sp>
        <p:nvSpPr>
          <p:cNvPr id="65" name="Text 55"/>
          <p:cNvSpPr txBox="1"/>
          <p:nvPr/>
        </p:nvSpPr>
        <p:spPr>
          <a:xfrm>
            <a:off x="1097280" y="505114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66" name="Text 56"/>
          <p:cNvSpPr txBox="1"/>
          <p:nvPr/>
        </p:nvSpPr>
        <p:spPr>
          <a:xfrm>
            <a:off x="3657600" y="505114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8.0% → 9.0%</a:t>
            </a:r>
            <a:endParaRPr lang="en-US" sz="1400" dirty="0"/>
          </a:p>
        </p:txBody>
      </p:sp>
      <p:graphicFrame>
        <p:nvGraphicFramePr>
          <p:cNvPr id="67" name="Chart 8" descr=""/>
          <p:cNvGraphicFramePr/>
          <p:nvPr/>
        </p:nvGraphicFramePr>
        <p:xfrm>
          <a:off x="5276088" y="506943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68" name="Text 57"/>
          <p:cNvSpPr txBox="1"/>
          <p:nvPr/>
        </p:nvSpPr>
        <p:spPr>
          <a:xfrm>
            <a:off x="8183880" y="505114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69" name="Text 58"/>
          <p:cNvSpPr txBox="1"/>
          <p:nvPr/>
        </p:nvSpPr>
        <p:spPr>
          <a:xfrm>
            <a:off x="10195560" y="505114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+1.0 pts</a:t>
            </a:r>
            <a:endParaRPr lang="en-US" sz="1600" dirty="0"/>
          </a:p>
        </p:txBody>
      </p:sp>
      <p:sp>
        <p:nvSpPr>
          <p:cNvPr id="70" name="Text 59"/>
          <p:cNvSpPr txBox="1"/>
          <p:nvPr/>
        </p:nvSpPr>
        <p:spPr>
          <a:xfrm>
            <a:off x="749808" y="5433365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500" dirty="0"/>
          </a:p>
        </p:txBody>
      </p:sp>
      <p:sp>
        <p:nvSpPr>
          <p:cNvPr id="71" name="Text 60"/>
          <p:cNvSpPr txBox="1"/>
          <p:nvPr/>
        </p:nvSpPr>
        <p:spPr>
          <a:xfrm>
            <a:off x="1097280" y="5433365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400" dirty="0"/>
          </a:p>
        </p:txBody>
      </p:sp>
      <p:sp>
        <p:nvSpPr>
          <p:cNvPr id="72" name="Text 61"/>
          <p:cNvSpPr txBox="1"/>
          <p:nvPr/>
        </p:nvSpPr>
        <p:spPr>
          <a:xfrm>
            <a:off x="3657600" y="5433365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3.0% → 3.9%</a:t>
            </a:r>
            <a:endParaRPr lang="en-US" sz="1400" dirty="0"/>
          </a:p>
        </p:txBody>
      </p:sp>
      <p:graphicFrame>
        <p:nvGraphicFramePr>
          <p:cNvPr id="73" name="Chart 9" descr=""/>
          <p:cNvGraphicFramePr/>
          <p:nvPr/>
        </p:nvGraphicFramePr>
        <p:xfrm>
          <a:off x="5276088" y="5451653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74" name="Text 62"/>
          <p:cNvSpPr txBox="1"/>
          <p:nvPr/>
        </p:nvSpPr>
        <p:spPr>
          <a:xfrm>
            <a:off x="8183880" y="5433365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75" name="Text 63"/>
          <p:cNvSpPr txBox="1"/>
          <p:nvPr/>
        </p:nvSpPr>
        <p:spPr>
          <a:xfrm>
            <a:off x="10195560" y="5433365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+0.8 pts</a:t>
            </a:r>
            <a:endParaRPr lang="en-US" sz="1600" dirty="0"/>
          </a:p>
        </p:txBody>
      </p:sp>
      <p:sp>
        <p:nvSpPr>
          <p:cNvPr id="76" name="Shape 64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77" name="Text 65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 went 2.5% to 10.7%, stepping up in August. Ask what changed that month.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2026-10-19T23:35:57Z</dcterms:created>
  <dcterms:modified xsi:type="dcterms:W3CDTF">2026-10-19T23:35:57Z</dcterms:modified>
</cp:coreProperties>
</file>