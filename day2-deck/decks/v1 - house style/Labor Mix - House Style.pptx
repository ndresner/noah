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Labor sale by pay type, Jan-Sep by close month. Same-store, INEOS excluded. GMC Prescott body shop labor types excluded. Jan-Sep 2026 shares of labor sale; sorted by customer-pay share. Bar labels are percent of labor sale; every value is also listed here.
HONDA SPOKANE: CP 70.3%, W 8.0%, I 21.6%
TOYOTA SPOKANE: CP 65.3%, W 15.5%, I 19.2%
TOYOTA FLAGSTAFF: CP 65.1%, W 11.2%, I 23.7%
HONDA FLAGSTAFF: CP 65.1%, W 11.9%, I 23.0%
LR LV: CP 64.9%, W 25.2%, I 10.0%
VOLVO: CP 62.9%, W 23.1%, I 14.0%
LR RENO: CP 61.5%, W 17.2%, I 21.3%
TOYOTA PRESCOTT: CP 60.5%, W 13.8%, I 25.8%
AUDI RENO: CP 59.7%, W 29.1%, I 11.2%
CDJR POST FALLS: CP 59.5%, W 23.6%, I 16.9%
NISSAN: CP 59.4%, W 17.7%, I 22.9%
SUBARU ST GEORGE: CP 59.0%, W 23.5%, I 17.5%
SUBARU LV: CP 58.0%, W 24.2%, I 17.7%
HONDA NORTH: CP 57.9%, W 13.5%, I 28.6%
TOYOTA HENDERSON: CP 57.3%, W 14.8%, I 27.9%
MAZDA: CP 56.6%, W 12.4%, I 31.0%
HONDA HENDERSON: CP 56.6%, W 10.2%, I 33.3%
VW ST GEORGE: CP 55.8%, W 31.0%, I 13.2%
LR HENDERSON: CP 55.3%, W 20.2%, I 24.5%
LEXUS: CP 54.5%, W 13.1%, I 32.4%
SUBARU PRESCOTT: CP 50.8%, W 19.2%, I 30.0%
ACURA: CP 48.7%, W 15.5%, I 35.8%
GMC PRESCOTT: CP 48.0%, W 23.1%, I 29.0%
VW HENDERSON: CP 47.2%, W 40.1%, I 12.8%
CHEVY LV: CP 47.0%, W 28.1%, I 24.9%
CHEVY GMC BULLHEAD: CP 45.3%, W 14.3%, I 40.4%
LINCOLN: CP 44.6%, W 37.5%, I 17.8%
HYUNDAI ST GEORGE: CP 40.3%, W 34.9%, I 24.8%
KIA ST GEORGE: CP 40.0%, W 38.4%, I 21.7%
KIA LV: CP 39.2%, W 31.5%, I 29.2%
AUDI HENDERSON: CP 34.1%, W 52.2%, I 13.7%
HYUNDAI PRESCOTT: CP 28.5%, W 35.7%, I 35.8%
CADILLAC: CP 27.9%, W 51.3%, I 20.7%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Labor sale by pay type, Jan-Sep by close month. Same-store, INEOS excluded. GMC Prescott body shop labor types excluded. Customer-pay labor sale / total labor sale (customer pay + warranty + internal). YTD from YTD totals, not the mean of months. Store rows reconcile to the group on every input, both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Labor sale by pay type, Jan-Sep by close month. Same-store, INEOS excluded. GMC Prescott body shop labor types excluded. Change in Customer Pay Share of Labor Sale, Jan-Sep 2026 vs 2025, best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Customer-pay labor sale by op code description, Jan-Sep. Same-store, INEOS excluded. GMC Prescott body shop labor types excluded. Maintenance = descriptions naming oil and filter, rotation, brake pads, rotors and brake service, scheduled/interval/mileage service, OEM care plans, alignment, balance, fluid exchanges and flushes, fuel induction, transmission/differential/transfer case/coolant service, spark plugs, filters, wipers, multi-point inspection, timing belt, BG and refresh services, smog/emissions inspection, fluid services, tune-ups, tire promotions (buy 3 get 1), CVT, EGR, 4x4, AWD, intermediate and transmission services, and any coolant replacement or change. Repair = repair, replace, R&amp;R, diagnosis, leak, noise, inoperative, check engine, warning light, struts, shocks, alternator, starter, water pump, reseal, gasket, calibration, overhaul, engine light, drive belt, belt and hose kit. Descriptions that are only a placeholder (exactly MISC, DEFAULT, STANDARD, GENERAL, GENERAL REPAIR, CUSTOMER STATES, GENERAL CONCERN, ADD DESCRIPTION, TELL US MORE and similar) are left unclassified; a placeholder followed by real detail is classified by that detail.
HONDA HENDERSON: M 71.2%, R 24.6%, U 4.2%
TOYOTA PRESCOTT: M 69.4%, R 25.1%, U 5.6%
TOYOTA HENDERSON: M 68.0%, R 24.7%, U 7.4%
LEXUS: M 67.1%, R 22.0%, U 10.9%
HONDA FLAGSTAFF: M 66.4%, R 25.5%, U 8.0%
HONDA NORTH: M 65.9%, R 29.5%, U 4.6%
MAZDA: M 63.9%, R 21.3%, U 14.8%
ACURA: M 62.0%, R 25.6%, U 12.5%
TOYOTA FLAGSTAFF: M 61.6%, R 13.1%, U 25.3%
TOYOTA SPOKANE: M 60.0%, R 26.4%, U 13.5%
KIA LV: M 59.7%, R 31.1%, U 9.2%
SUBARU PRESCOTT: M 59.2%, R 1.5%, U 39.3%
SUBARU ST GEORGE: M 59.0%, R 26.6%, U 14.4%
LR HENDERSON: M 58.8%, R 32.2%, U 9.0%
HYUNDAI ST GEORGE: M 58.3%, R 18.2%, U 23.6%
HYUNDAI PRESCOTT: M 56.8%, R 23.9%, U 19.3%
LR RENO: M 56.8%, R 23.9%, U 19.3%
SUBARU LV: M 55.1%, R 35.4%, U 9.5%
KIA ST GEORGE: M 55.1%, R 29.6%, U 15.3%
HONDA SPOKANE: M 48.6%, R 41.4%, U 10.0%
VOLVO: M 43.9%, R 41.7%, U 14.4%
LR LV: M 43.0%, R 30.0%, U 27.0%
LINCOLN: M 42.8%, R 28.9%, U 28.3%
VW HENDERSON: M 41.0%, R 51.3%, U 7.7%
CHEVY LV: M 40.6%, R 48.3%, U 11.1%
NISSAN: M 40.2%, R 41.9%, U 17.9%
CHEVY GMC BULLHEAD: M 38.4%, R 32.6%, U 29.0%
AUDI HENDERSON: M 35.1%, R 37.8%, U 27.1%
GMC PRESCOTT: M 33.9%, R 2.6%, U 63.5%
CADILLAC: M 32.8%, R 54.6%, U 12.6%
AUDI RENO: M 32.2%, R 29.7%, U 38.1%
VW ST GEORGE: M 27.5%, R 27.4%, U 45.1%
CDJR POST FALLS: M 26.5%, R 21.7%, U 51.8%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Customer-pay labor sale by op code description, Jan-Sep. Same-store, INEOS excluded. GMC Prescott body shop labor types excluded. Share of CP labor sale whose op code description matches neither the maintenance nor the repair rules, Jan-Sep 2026. Lower is better: green at or below the group, red above. Maintenance = descriptions naming oil and filter, rotation, brake pads, rotors and brake service, scheduled/interval/mileage service, OEM care plans, alignment, balance, fluid exchanges and flushes, fuel induction, transmission/differential/transfer case/coolant service, spark plugs, filters, wipers, multi-point inspection, timing belt, BG and refresh services, smog/emissions inspection, fluid services, tune-ups, tire promotions (buy 3 get 1), CVT, EGR, 4x4, AWD, intermediate and transmission services, and any coolant replacement or change. Repair = repair, replace, R&amp;R, diagnosis, leak, noise, inoperative, check engine, warning light, struts, shocks, alternator, starter, water pump, reseal, gasket, calibration, overhaul, engine light, drive belt, belt and hose kit. Descriptions that are only a placeholder (exactly MISC, DEFAULT, STANDARD, GENERAL, GENERAL REPAIR, CUSTOMER STATES, GENERAL CONCERN, ADD DESCRIPTION, TELL US MORE and similar) are left unclassified; a placeholder followed by real detail is classified by that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60" kern="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274320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Mix</a:t>
            </a:r>
            <a:endParaRPr lang="en-US" sz="82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40416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type   ·   Work type   ·   Op code descriptions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MIX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Sale by Pay Type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71600"/>
            <a:ext cx="201168" cy="201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4328" y="1371600"/>
            <a:ext cx="201168" cy="201168"/>
          </a:xfrm>
          <a:prstGeom prst="rect">
            <a:avLst/>
          </a:prstGeom>
          <a:solidFill>
            <a:srgbClr val="8FBE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0288" y="137160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64608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298448"/>
            <a:ext cx="4855464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298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26680" y="1344168"/>
            <a:ext cx="1948645" cy="292608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344168"/>
            <a:ext cx="194864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75325" y="1344168"/>
            <a:ext cx="882937" cy="292608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75325" y="1344168"/>
            <a:ext cx="88293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58262" y="1344168"/>
            <a:ext cx="880882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58262" y="1344168"/>
            <a:ext cx="88088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82880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07208" y="1856426"/>
            <a:ext cx="221921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07208" y="1856426"/>
            <a:ext cx="221921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6426" y="1856426"/>
            <a:ext cx="252542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6426" y="1856426"/>
            <a:ext cx="25254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78968" y="1856426"/>
            <a:ext cx="68292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78968" y="1856426"/>
            <a:ext cx="68292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05901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07208" y="2086639"/>
            <a:ext cx="2060840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07208" y="2086639"/>
            <a:ext cx="206084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68048" y="2086639"/>
            <a:ext cx="489573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8048" y="2086639"/>
            <a:ext cx="48957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57621" y="2086639"/>
            <a:ext cx="604267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57621" y="2086639"/>
            <a:ext cx="60426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228922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07208" y="2316853"/>
            <a:ext cx="205476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07208" y="2316853"/>
            <a:ext cx="205476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61970" y="2316853"/>
            <a:ext cx="352121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61970" y="2316853"/>
            <a:ext cx="35212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14091" y="2316853"/>
            <a:ext cx="747797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14091" y="2316853"/>
            <a:ext cx="74779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251944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807208" y="2547067"/>
            <a:ext cx="205316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807208" y="2547067"/>
            <a:ext cx="205316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60369" y="2547067"/>
            <a:ext cx="37587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60369" y="2547067"/>
            <a:ext cx="37587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236245" y="2547067"/>
            <a:ext cx="72564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236245" y="2547067"/>
            <a:ext cx="72564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274965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807208" y="2777280"/>
            <a:ext cx="204684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07208" y="2777280"/>
            <a:ext cx="204684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54056" y="2777280"/>
            <a:ext cx="793865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854056" y="2777280"/>
            <a:ext cx="79386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647921" y="2777280"/>
            <a:ext cx="313967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47921" y="2777280"/>
            <a:ext cx="31396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2979868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807208" y="3007494"/>
            <a:ext cx="198515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807208" y="3007494"/>
            <a:ext cx="198515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792363" y="3007494"/>
            <a:ext cx="729180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792363" y="3007494"/>
            <a:ext cx="72918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521542" y="3007494"/>
            <a:ext cx="44034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521542" y="3007494"/>
            <a:ext cx="44034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210082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807208" y="3237708"/>
            <a:ext cx="194019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807208" y="3237708"/>
            <a:ext cx="194019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747407" y="3237708"/>
            <a:ext cx="542990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747407" y="3237708"/>
            <a:ext cx="54299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290397" y="3237708"/>
            <a:ext cx="67149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290397" y="3237708"/>
            <a:ext cx="67149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658368" y="344029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807208" y="3467921"/>
            <a:ext cx="190739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807208" y="3467921"/>
            <a:ext cx="190739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14600" y="3467921"/>
            <a:ext cx="434501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714600" y="3467921"/>
            <a:ext cx="43450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149102" y="3467921"/>
            <a:ext cx="81278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149102" y="3467921"/>
            <a:ext cx="81278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3670509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2807208" y="3698135"/>
            <a:ext cx="188301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807208" y="3698135"/>
            <a:ext cx="188301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690219" y="3698135"/>
            <a:ext cx="918142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690219" y="3698135"/>
            <a:ext cx="91814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608361" y="3698135"/>
            <a:ext cx="353527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608361" y="3698135"/>
            <a:ext cx="35352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658368" y="3900723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2807208" y="3928348"/>
            <a:ext cx="187603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807208" y="3928348"/>
            <a:ext cx="187603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683240" y="3928348"/>
            <a:ext cx="74465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683240" y="3928348"/>
            <a:ext cx="74465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427896" y="3928348"/>
            <a:ext cx="533992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427896" y="3928348"/>
            <a:ext cx="53399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413093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2807208" y="4158562"/>
            <a:ext cx="187440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807208" y="4158562"/>
            <a:ext cx="187440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4681613" y="4158562"/>
            <a:ext cx="558160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681613" y="4158562"/>
            <a:ext cx="55816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5239773" y="4158562"/>
            <a:ext cx="72211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239773" y="4158562"/>
            <a:ext cx="72211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58368" y="436115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2807208" y="4388776"/>
            <a:ext cx="186281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807208" y="4388776"/>
            <a:ext cx="186281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4670022" y="4388776"/>
            <a:ext cx="740644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670022" y="4388776"/>
            <a:ext cx="74064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5410666" y="4388776"/>
            <a:ext cx="551222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410666" y="4388776"/>
            <a:ext cx="55122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58368" y="459136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2807208" y="4618989"/>
            <a:ext cx="183111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2807208" y="4618989"/>
            <a:ext cx="183111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4638327" y="4618989"/>
            <a:ext cx="764127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638327" y="4618989"/>
            <a:ext cx="76412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5402455" y="4618989"/>
            <a:ext cx="55943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402455" y="4618989"/>
            <a:ext cx="55943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658368" y="482157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2807208" y="4849203"/>
            <a:ext cx="1825486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2807208" y="4849203"/>
            <a:ext cx="182548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4632694" y="4849203"/>
            <a:ext cx="426634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632694" y="4849203"/>
            <a:ext cx="42663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5059328" y="4849203"/>
            <a:ext cx="90256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059328" y="4849203"/>
            <a:ext cx="90256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658368" y="505179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2807208" y="5079417"/>
            <a:ext cx="180755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2807208" y="5079417"/>
            <a:ext cx="180755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4614763" y="5079417"/>
            <a:ext cx="466810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4614763" y="5079417"/>
            <a:ext cx="46681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5081573" y="5079417"/>
            <a:ext cx="88031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081573" y="5079417"/>
            <a:ext cx="88031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58368" y="528200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2807208" y="5309630"/>
            <a:ext cx="178494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807208" y="5309630"/>
            <a:ext cx="178494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4592156" y="5309630"/>
            <a:ext cx="39037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4592156" y="5309630"/>
            <a:ext cx="39037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4982532" y="5309630"/>
            <a:ext cx="97935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4982532" y="5309630"/>
            <a:ext cx="97935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58368" y="5512218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2807208" y="5539844"/>
            <a:ext cx="1784687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2807208" y="5539844"/>
            <a:ext cx="178468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4591895" y="5539844"/>
            <a:ext cx="320373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4591895" y="5539844"/>
            <a:ext cx="32037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4912268" y="5539844"/>
            <a:ext cx="104962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4912268" y="5539844"/>
            <a:ext cx="104962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182880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8357616" y="1856426"/>
            <a:ext cx="1759183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8357616" y="1856426"/>
            <a:ext cx="175918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300" dirty="0"/>
          </a:p>
        </p:txBody>
      </p:sp>
      <p:sp>
        <p:nvSpPr>
          <p:cNvPr id="142" name="Shape 140"/>
          <p:cNvSpPr/>
          <p:nvPr/>
        </p:nvSpPr>
        <p:spPr>
          <a:xfrm>
            <a:off x="10116799" y="1856426"/>
            <a:ext cx="978643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10116799" y="1856426"/>
            <a:ext cx="97864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11095442" y="1856426"/>
            <a:ext cx="41685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1095442" y="1856426"/>
            <a:ext cx="41685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205901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47" name="Shape 145"/>
          <p:cNvSpPr/>
          <p:nvPr/>
        </p:nvSpPr>
        <p:spPr>
          <a:xfrm>
            <a:off x="8357616" y="2086639"/>
            <a:ext cx="174370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8357616" y="2086639"/>
            <a:ext cx="174370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10101325" y="2086639"/>
            <a:ext cx="638330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0101325" y="2086639"/>
            <a:ext cx="63833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10739655" y="2086639"/>
            <a:ext cx="77264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0739655" y="2086639"/>
            <a:ext cx="77264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6208776" y="228922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357616" y="2316853"/>
            <a:ext cx="171990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8357616" y="2316853"/>
            <a:ext cx="171990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300" dirty="0"/>
          </a:p>
        </p:txBody>
      </p:sp>
      <p:sp>
        <p:nvSpPr>
          <p:cNvPr id="156" name="Shape 154"/>
          <p:cNvSpPr/>
          <p:nvPr/>
        </p:nvSpPr>
        <p:spPr>
          <a:xfrm>
            <a:off x="10077524" y="2316853"/>
            <a:ext cx="412555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10077524" y="2316853"/>
            <a:ext cx="41255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10490079" y="2316853"/>
            <a:ext cx="1022217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10490079" y="2316853"/>
            <a:ext cx="102221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6208776" y="251944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61" name="Shape 159"/>
          <p:cNvSpPr/>
          <p:nvPr/>
        </p:nvSpPr>
        <p:spPr>
          <a:xfrm>
            <a:off x="8357616" y="2547067"/>
            <a:ext cx="160104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8357616" y="2547067"/>
            <a:ext cx="160104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9958657" y="2547067"/>
            <a:ext cx="606875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9958657" y="2547067"/>
            <a:ext cx="60687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10565532" y="2547067"/>
            <a:ext cx="94676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10565532" y="2547067"/>
            <a:ext cx="94676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274965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8357616" y="2777280"/>
            <a:ext cx="153622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8357616" y="2777280"/>
            <a:ext cx="153622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300" dirty="0"/>
          </a:p>
        </p:txBody>
      </p:sp>
      <p:sp>
        <p:nvSpPr>
          <p:cNvPr id="170" name="Shape 168"/>
          <p:cNvSpPr/>
          <p:nvPr/>
        </p:nvSpPr>
        <p:spPr>
          <a:xfrm>
            <a:off x="9893838" y="2777280"/>
            <a:ext cx="488153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9893838" y="2777280"/>
            <a:ext cx="48815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300" dirty="0"/>
          </a:p>
        </p:txBody>
      </p:sp>
      <p:sp>
        <p:nvSpPr>
          <p:cNvPr id="172" name="Shape 170"/>
          <p:cNvSpPr/>
          <p:nvPr/>
        </p:nvSpPr>
        <p:spPr>
          <a:xfrm>
            <a:off x="10381990" y="2777280"/>
            <a:ext cx="113030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10381990" y="2777280"/>
            <a:ext cx="113030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6208776" y="2979868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8357616" y="3007494"/>
            <a:ext cx="151363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8357616" y="3007494"/>
            <a:ext cx="151363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9871254" y="3007494"/>
            <a:ext cx="727538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9871254" y="3007494"/>
            <a:ext cx="72753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300" dirty="0"/>
          </a:p>
        </p:txBody>
      </p:sp>
      <p:sp>
        <p:nvSpPr>
          <p:cNvPr id="179" name="Shape 177"/>
          <p:cNvSpPr/>
          <p:nvPr/>
        </p:nvSpPr>
        <p:spPr>
          <a:xfrm>
            <a:off x="10598793" y="3007494"/>
            <a:ext cx="91350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10598793" y="3007494"/>
            <a:ext cx="91350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181" name="Text 179"/>
          <p:cNvSpPr txBox="1"/>
          <p:nvPr/>
        </p:nvSpPr>
        <p:spPr>
          <a:xfrm>
            <a:off x="6208776" y="3210082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82" name="Shape 180"/>
          <p:cNvSpPr/>
          <p:nvPr/>
        </p:nvSpPr>
        <p:spPr>
          <a:xfrm>
            <a:off x="8357616" y="3237708"/>
            <a:ext cx="148770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8357616" y="3237708"/>
            <a:ext cx="148770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300" dirty="0"/>
          </a:p>
        </p:txBody>
      </p:sp>
      <p:sp>
        <p:nvSpPr>
          <p:cNvPr id="184" name="Shape 182"/>
          <p:cNvSpPr/>
          <p:nvPr/>
        </p:nvSpPr>
        <p:spPr>
          <a:xfrm>
            <a:off x="9845325" y="3237708"/>
            <a:ext cx="1263575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9845325" y="3237708"/>
            <a:ext cx="126357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300" dirty="0"/>
          </a:p>
        </p:txBody>
      </p:sp>
      <p:sp>
        <p:nvSpPr>
          <p:cNvPr id="186" name="Shape 184"/>
          <p:cNvSpPr/>
          <p:nvPr/>
        </p:nvSpPr>
        <p:spPr>
          <a:xfrm>
            <a:off x="11108900" y="3237708"/>
            <a:ext cx="40339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11108900" y="3237708"/>
            <a:ext cx="40339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6208776" y="344029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8357616" y="3467921"/>
            <a:ext cx="1483116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8357616" y="3467921"/>
            <a:ext cx="148311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9840732" y="3467921"/>
            <a:ext cx="88573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9840732" y="3467921"/>
            <a:ext cx="88573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193" name="Shape 191"/>
          <p:cNvSpPr/>
          <p:nvPr/>
        </p:nvSpPr>
        <p:spPr>
          <a:xfrm>
            <a:off x="10726468" y="3467921"/>
            <a:ext cx="785828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10726468" y="3467921"/>
            <a:ext cx="78582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6208776" y="3670509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8357616" y="3698135"/>
            <a:ext cx="1429900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8357616" y="3698135"/>
            <a:ext cx="142990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9787516" y="3698135"/>
            <a:ext cx="45029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9787516" y="3698135"/>
            <a:ext cx="45029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200" name="Shape 198"/>
          <p:cNvSpPr/>
          <p:nvPr/>
        </p:nvSpPr>
        <p:spPr>
          <a:xfrm>
            <a:off x="10237812" y="3698135"/>
            <a:ext cx="127448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10237812" y="3698135"/>
            <a:ext cx="127448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300" dirty="0"/>
          </a:p>
        </p:txBody>
      </p:sp>
      <p:sp>
        <p:nvSpPr>
          <p:cNvPr id="202" name="Text 200"/>
          <p:cNvSpPr txBox="1"/>
          <p:nvPr/>
        </p:nvSpPr>
        <p:spPr>
          <a:xfrm>
            <a:off x="6208776" y="3900723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03" name="Shape 201"/>
          <p:cNvSpPr/>
          <p:nvPr/>
        </p:nvSpPr>
        <p:spPr>
          <a:xfrm>
            <a:off x="8357616" y="3928348"/>
            <a:ext cx="1407663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8357616" y="3928348"/>
            <a:ext cx="140766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300" dirty="0"/>
          </a:p>
        </p:txBody>
      </p:sp>
      <p:sp>
        <p:nvSpPr>
          <p:cNvPr id="205" name="Shape 203"/>
          <p:cNvSpPr/>
          <p:nvPr/>
        </p:nvSpPr>
        <p:spPr>
          <a:xfrm>
            <a:off x="9765279" y="3928348"/>
            <a:ext cx="1184133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9765279" y="3928348"/>
            <a:ext cx="118413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300" dirty="0"/>
          </a:p>
        </p:txBody>
      </p:sp>
      <p:sp>
        <p:nvSpPr>
          <p:cNvPr id="207" name="Shape 205"/>
          <p:cNvSpPr/>
          <p:nvPr/>
        </p:nvSpPr>
        <p:spPr>
          <a:xfrm>
            <a:off x="10949412" y="3928348"/>
            <a:ext cx="56288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10949412" y="3928348"/>
            <a:ext cx="56288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209" name="Text 207"/>
          <p:cNvSpPr txBox="1"/>
          <p:nvPr/>
        </p:nvSpPr>
        <p:spPr>
          <a:xfrm>
            <a:off x="6208776" y="413093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210" name="Shape 208"/>
          <p:cNvSpPr/>
          <p:nvPr/>
        </p:nvSpPr>
        <p:spPr>
          <a:xfrm>
            <a:off x="8357616" y="4158562"/>
            <a:ext cx="127231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8357616" y="4158562"/>
            <a:ext cx="127231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300" dirty="0"/>
          </a:p>
        </p:txBody>
      </p:sp>
      <p:sp>
        <p:nvSpPr>
          <p:cNvPr id="212" name="Shape 210"/>
          <p:cNvSpPr/>
          <p:nvPr/>
        </p:nvSpPr>
        <p:spPr>
          <a:xfrm>
            <a:off x="9629931" y="4158562"/>
            <a:ext cx="1101342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9629931" y="4158562"/>
            <a:ext cx="110134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300" dirty="0"/>
          </a:p>
        </p:txBody>
      </p:sp>
      <p:sp>
        <p:nvSpPr>
          <p:cNvPr id="214" name="Shape 212"/>
          <p:cNvSpPr/>
          <p:nvPr/>
        </p:nvSpPr>
        <p:spPr>
          <a:xfrm>
            <a:off x="10731273" y="4158562"/>
            <a:ext cx="78102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10731273" y="4158562"/>
            <a:ext cx="78102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216" name="Text 214"/>
          <p:cNvSpPr txBox="1"/>
          <p:nvPr/>
        </p:nvSpPr>
        <p:spPr>
          <a:xfrm>
            <a:off x="6208776" y="436115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217" name="Shape 215"/>
          <p:cNvSpPr/>
          <p:nvPr/>
        </p:nvSpPr>
        <p:spPr>
          <a:xfrm>
            <a:off x="8357616" y="4388776"/>
            <a:ext cx="126084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8357616" y="4388776"/>
            <a:ext cx="126084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300" dirty="0"/>
          </a:p>
        </p:txBody>
      </p:sp>
      <p:sp>
        <p:nvSpPr>
          <p:cNvPr id="219" name="Shape 217"/>
          <p:cNvSpPr/>
          <p:nvPr/>
        </p:nvSpPr>
        <p:spPr>
          <a:xfrm>
            <a:off x="9618457" y="4388776"/>
            <a:ext cx="121000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9618457" y="4388776"/>
            <a:ext cx="121000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300" dirty="0"/>
          </a:p>
        </p:txBody>
      </p:sp>
      <p:sp>
        <p:nvSpPr>
          <p:cNvPr id="221" name="Shape 219"/>
          <p:cNvSpPr/>
          <p:nvPr/>
        </p:nvSpPr>
        <p:spPr>
          <a:xfrm>
            <a:off x="10828463" y="4388776"/>
            <a:ext cx="68383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10828463" y="4388776"/>
            <a:ext cx="68383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300" dirty="0"/>
          </a:p>
        </p:txBody>
      </p:sp>
      <p:sp>
        <p:nvSpPr>
          <p:cNvPr id="223" name="Text 221"/>
          <p:cNvSpPr txBox="1"/>
          <p:nvPr/>
        </p:nvSpPr>
        <p:spPr>
          <a:xfrm>
            <a:off x="6208776" y="459136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224" name="Shape 222"/>
          <p:cNvSpPr/>
          <p:nvPr/>
        </p:nvSpPr>
        <p:spPr>
          <a:xfrm>
            <a:off x="8357616" y="4618989"/>
            <a:ext cx="123732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8357616" y="4618989"/>
            <a:ext cx="123732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300" dirty="0"/>
          </a:p>
        </p:txBody>
      </p:sp>
      <p:sp>
        <p:nvSpPr>
          <p:cNvPr id="226" name="Shape 224"/>
          <p:cNvSpPr/>
          <p:nvPr/>
        </p:nvSpPr>
        <p:spPr>
          <a:xfrm>
            <a:off x="9594940" y="4618989"/>
            <a:ext cx="995080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9594940" y="4618989"/>
            <a:ext cx="99508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10590020" y="4618989"/>
            <a:ext cx="92227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10590020" y="4618989"/>
            <a:ext cx="92227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230" name="Text 228"/>
          <p:cNvSpPr txBox="1"/>
          <p:nvPr/>
        </p:nvSpPr>
        <p:spPr>
          <a:xfrm>
            <a:off x="6208776" y="482157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231" name="Shape 229"/>
          <p:cNvSpPr/>
          <p:nvPr/>
        </p:nvSpPr>
        <p:spPr>
          <a:xfrm>
            <a:off x="8357616" y="4849203"/>
            <a:ext cx="107536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8357616" y="4849203"/>
            <a:ext cx="107536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300" dirty="0"/>
          </a:p>
        </p:txBody>
      </p:sp>
      <p:sp>
        <p:nvSpPr>
          <p:cNvPr id="233" name="Shape 231"/>
          <p:cNvSpPr/>
          <p:nvPr/>
        </p:nvSpPr>
        <p:spPr>
          <a:xfrm>
            <a:off x="9432984" y="4849203"/>
            <a:ext cx="1647182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9432984" y="4849203"/>
            <a:ext cx="164718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300" dirty="0"/>
          </a:p>
        </p:txBody>
      </p:sp>
      <p:sp>
        <p:nvSpPr>
          <p:cNvPr id="235" name="Shape 233"/>
          <p:cNvSpPr/>
          <p:nvPr/>
        </p:nvSpPr>
        <p:spPr>
          <a:xfrm>
            <a:off x="11080165" y="4849203"/>
            <a:ext cx="43213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11080165" y="4849203"/>
            <a:ext cx="43213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237" name="Text 235"/>
          <p:cNvSpPr txBox="1"/>
          <p:nvPr/>
        </p:nvSpPr>
        <p:spPr>
          <a:xfrm>
            <a:off x="6208776" y="505179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38" name="Shape 236"/>
          <p:cNvSpPr/>
          <p:nvPr/>
        </p:nvSpPr>
        <p:spPr>
          <a:xfrm>
            <a:off x="8357616" y="5079417"/>
            <a:ext cx="898846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8357616" y="5079417"/>
            <a:ext cx="89884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240" name="Shape 238"/>
          <p:cNvSpPr/>
          <p:nvPr/>
        </p:nvSpPr>
        <p:spPr>
          <a:xfrm>
            <a:off x="9256462" y="5079417"/>
            <a:ext cx="1126586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 txBox="1"/>
          <p:nvPr/>
        </p:nvSpPr>
        <p:spPr>
          <a:xfrm>
            <a:off x="9256462" y="5079417"/>
            <a:ext cx="112658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300" dirty="0"/>
          </a:p>
        </p:txBody>
      </p:sp>
      <p:sp>
        <p:nvSpPr>
          <p:cNvPr id="242" name="Shape 240"/>
          <p:cNvSpPr/>
          <p:nvPr/>
        </p:nvSpPr>
        <p:spPr>
          <a:xfrm>
            <a:off x="10383048" y="5079417"/>
            <a:ext cx="1129248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3" name="Text 241"/>
          <p:cNvSpPr txBox="1"/>
          <p:nvPr/>
        </p:nvSpPr>
        <p:spPr>
          <a:xfrm>
            <a:off x="10383048" y="5079417"/>
            <a:ext cx="112924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300" dirty="0"/>
          </a:p>
        </p:txBody>
      </p:sp>
      <p:sp>
        <p:nvSpPr>
          <p:cNvPr id="244" name="Text 242"/>
          <p:cNvSpPr txBox="1"/>
          <p:nvPr/>
        </p:nvSpPr>
        <p:spPr>
          <a:xfrm>
            <a:off x="6208776" y="528200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245" name="Shape 243"/>
          <p:cNvSpPr/>
          <p:nvPr/>
        </p:nvSpPr>
        <p:spPr>
          <a:xfrm>
            <a:off x="8357616" y="5309630"/>
            <a:ext cx="880673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8357616" y="5309630"/>
            <a:ext cx="88067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247" name="Shape 245"/>
          <p:cNvSpPr/>
          <p:nvPr/>
        </p:nvSpPr>
        <p:spPr>
          <a:xfrm>
            <a:off x="9238289" y="5309630"/>
            <a:ext cx="1619914" cy="174962"/>
          </a:xfrm>
          <a:prstGeom prst="rect">
            <a:avLst/>
          </a:prstGeom>
          <a:solidFill>
            <a:srgbClr val="8FBE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9238289" y="5309630"/>
            <a:ext cx="161991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300" dirty="0"/>
          </a:p>
        </p:txBody>
      </p:sp>
      <p:sp>
        <p:nvSpPr>
          <p:cNvPr id="249" name="Shape 247"/>
          <p:cNvSpPr/>
          <p:nvPr/>
        </p:nvSpPr>
        <p:spPr>
          <a:xfrm>
            <a:off x="10858202" y="5309630"/>
            <a:ext cx="65409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10858202" y="5309630"/>
            <a:ext cx="65409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300" dirty="0"/>
          </a:p>
        </p:txBody>
      </p:sp>
      <p:sp>
        <p:nvSpPr>
          <p:cNvPr id="251" name="Shape 249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52" name="Text 250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is 52.5% of labor sale (52.8% in 2025), warranty 23.8%, internal 23.7%. HONDA SPOKANE is most customer-pay at 70.3%.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MIX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Share of Labor Sale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1517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1673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· JANUARY–SEPTEMBER · SAME-STORE, 33 STORES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52.5%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−0.3 pts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627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65376"/>
            <a:ext cx="2697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−0.5%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11274552" cy="914400"/>
        </p:xfrm>
        <a:graphic>
          <a:graphicData uri="http://schemas.openxmlformats.org/drawingml/2006/table">
            <a:tbl>
              <a:tblPr/>
              <a:tblGrid>
                <a:gridCol w="3118104"/>
                <a:gridCol w="2039112"/>
                <a:gridCol w="2039112"/>
                <a:gridCol w="2039112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MONTH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VARIANCE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VAR 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+1.0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+0.2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+0.5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51.8%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−0.7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−1.3%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−0.3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+0.0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−0.4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−0.3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53.4%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50.7%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−2.7 pts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−5.0%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0.3 pts to 52.5%, behind 2025 in five of nine months. Warranty labor rose 8.8%, internal rose 5.8%.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MIX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Share of Labor Sale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33502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SAME-STORE, 33 STORES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−0.3 pts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13048" y="1909246"/>
            <a:ext cx="822960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847088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+10.8 pts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077302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13048" y="2139459"/>
            <a:ext cx="743105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2077302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+9.7 pts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307515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13048" y="2369673"/>
            <a:ext cx="727894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2307515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+9.5 pts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537729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13048" y="2599887"/>
            <a:ext cx="707067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2537729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+9.3 pts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767943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13048" y="2830100"/>
            <a:ext cx="680568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2767943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+8.9 pts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998156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13048" y="3060314"/>
            <a:ext cx="484894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09160" y="2998156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+6.4 pts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3228370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13048" y="3290528"/>
            <a:ext cx="408598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09160" y="3228370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+5.4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458584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813048" y="3520741"/>
            <a:ext cx="330015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09160" y="3458584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+4.3 pts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688797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813048" y="3750955"/>
            <a:ext cx="323582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09160" y="3688797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+4.2 pts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919011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13048" y="3981169"/>
            <a:ext cx="300859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9160" y="3919011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4149224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813048" y="4211382"/>
            <a:ext cx="245187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709160" y="4149224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+3.2 pts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4379438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813048" y="4441596"/>
            <a:ext cx="192673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09160" y="4379438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+2.5 pts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609652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813048" y="4671809"/>
            <a:ext cx="185671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09160" y="4609652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839865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813048" y="4902023"/>
            <a:ext cx="97498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09160" y="4839865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+1.3 pts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5070079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813048" y="5132237"/>
            <a:ext cx="78434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09160" y="5070079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+1.0 pts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5300293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813048" y="5362450"/>
            <a:ext cx="57563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09160" y="5300293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+0.8 pts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5530506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813048" y="5592664"/>
            <a:ext cx="17603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709160" y="5530506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 pts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208776" y="1847088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363456" y="1909246"/>
            <a:ext cx="12802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259568" y="1847088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 pts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208776" y="2077302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9363456" y="2139459"/>
            <a:ext cx="12802" cy="10589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259568" y="2077302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 pts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208776" y="2307515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358424" y="2369673"/>
            <a:ext cx="12802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259568" y="2307515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 pts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208776" y="2537729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9344965" y="2599887"/>
            <a:ext cx="18491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0259568" y="2537729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 pts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208776" y="2767943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9338492" y="2830100"/>
            <a:ext cx="24964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0259568" y="2767943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−0.3 pts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208776" y="2998156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9277829" y="3060314"/>
            <a:ext cx="85627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0259568" y="2998156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−1.1 pts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3228370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9261030" y="3290528"/>
            <a:ext cx="102426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259568" y="3228370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−1.3 pts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3458584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255627" y="3520741"/>
            <a:ext cx="107829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0259568" y="3458584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−1.4 pts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208776" y="3688797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9187462" y="3750955"/>
            <a:ext cx="175994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259568" y="3688797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−2.3 pts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6208776" y="3919011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9105500" y="3981169"/>
            <a:ext cx="257956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259568" y="3919011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−3.4 pts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4149224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9068378" y="4211382"/>
            <a:ext cx="295078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259568" y="4149224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 pts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4379438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9053926" y="4441596"/>
            <a:ext cx="309530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10259568" y="4379438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−4.1 pts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208776" y="4609652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8926934" y="4671809"/>
            <a:ext cx="436522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259568" y="4609652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−5.7 pts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6208776" y="4839865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868807" y="4902023"/>
            <a:ext cx="494649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259568" y="4839865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−6.5 pts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5070079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8841528" y="5132237"/>
            <a:ext cx="521928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259568" y="5070079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−6.8 pts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5300293"/>
            <a:ext cx="224028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8745761" y="5362450"/>
            <a:ext cx="617695" cy="10589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0259568" y="5300293"/>
            <a:ext cx="1271016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−8.1 pts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807562" y="1847088"/>
            <a:ext cx="10973" cy="3913632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357970" y="1847088"/>
            <a:ext cx="10973" cy="3913632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33 stores raised customer-pay share, led by MAZDA at +10.8 pts to 56.6%. 14 declined; LR RENO fell most at −8.1 pts.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MIX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Customer-Pay Labor by Work Type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71600"/>
            <a:ext cx="201168" cy="201168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4328" y="1371600"/>
            <a:ext cx="201168" cy="20116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98648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0288" y="137160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64608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Unclassified 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298448"/>
            <a:ext cx="4855464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1298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26680" y="1344168"/>
            <a:ext cx="2014951" cy="292608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344168"/>
            <a:ext cx="2014951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41631" y="1344168"/>
            <a:ext cx="1133995" cy="292608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41631" y="1344168"/>
            <a:ext cx="113399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875626" y="1344168"/>
            <a:ext cx="563518" cy="292608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75626" y="1344168"/>
            <a:ext cx="56351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182880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07208" y="1856426"/>
            <a:ext cx="2245237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07208" y="1856426"/>
            <a:ext cx="224523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52445" y="1856426"/>
            <a:ext cx="776580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52445" y="1856426"/>
            <a:ext cx="77658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29025" y="1856426"/>
            <a:ext cx="13286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205901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07208" y="2086639"/>
            <a:ext cx="2188220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07208" y="2086639"/>
            <a:ext cx="218822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95428" y="2086639"/>
            <a:ext cx="790580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95428" y="2086639"/>
            <a:ext cx="79058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86008" y="2086639"/>
            <a:ext cx="17588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86008" y="2086639"/>
            <a:ext cx="17588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228922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807208" y="2316853"/>
            <a:ext cx="214422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07208" y="2316853"/>
            <a:ext cx="214422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51432" y="2316853"/>
            <a:ext cx="778558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1432" y="2316853"/>
            <a:ext cx="77855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729990" y="2316853"/>
            <a:ext cx="231898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29990" y="2316853"/>
            <a:ext cx="23189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251944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807208" y="2547067"/>
            <a:ext cx="211579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07208" y="2547067"/>
            <a:ext cx="211579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23002" y="2547067"/>
            <a:ext cx="695501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23002" y="2547067"/>
            <a:ext cx="69550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18503" y="2547067"/>
            <a:ext cx="34338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18503" y="2547067"/>
            <a:ext cx="34338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274965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807208" y="2777280"/>
            <a:ext cx="209555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07208" y="2777280"/>
            <a:ext cx="209555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902766" y="2777280"/>
            <a:ext cx="805348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902766" y="2777280"/>
            <a:ext cx="80534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708115" y="2777280"/>
            <a:ext cx="25377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08115" y="2777280"/>
            <a:ext cx="25377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2979868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807208" y="3007494"/>
            <a:ext cx="207915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807208" y="3007494"/>
            <a:ext cx="207915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886360" y="3007494"/>
            <a:ext cx="929407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886360" y="3007494"/>
            <a:ext cx="92940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15767" y="3007494"/>
            <a:ext cx="14612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58368" y="3210082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2807208" y="3237708"/>
            <a:ext cx="201493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807208" y="3237708"/>
            <a:ext cx="201493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822143" y="3237708"/>
            <a:ext cx="672713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822143" y="3237708"/>
            <a:ext cx="67271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94856" y="3237708"/>
            <a:ext cx="467032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94856" y="3237708"/>
            <a:ext cx="46703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344029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2807208" y="3467921"/>
            <a:ext cx="1954587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807208" y="3467921"/>
            <a:ext cx="195458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761795" y="3467921"/>
            <a:ext cx="806939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761795" y="3467921"/>
            <a:ext cx="80693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568734" y="3467921"/>
            <a:ext cx="39315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568734" y="3467921"/>
            <a:ext cx="39315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3670509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807208" y="3698135"/>
            <a:ext cx="194403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807208" y="3698135"/>
            <a:ext cx="194403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751246" y="3698135"/>
            <a:ext cx="413200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751246" y="3698135"/>
            <a:ext cx="41320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5164447" y="3698135"/>
            <a:ext cx="79744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164447" y="3698135"/>
            <a:ext cx="79744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58368" y="3900723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2807208" y="3928348"/>
            <a:ext cx="189344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807208" y="3928348"/>
            <a:ext cx="189344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4700656" y="3928348"/>
            <a:ext cx="834167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700656" y="3928348"/>
            <a:ext cx="83416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5534823" y="3928348"/>
            <a:ext cx="42706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534823" y="3928348"/>
            <a:ext cx="42706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58368" y="413093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2807208" y="4158562"/>
            <a:ext cx="188299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807208" y="4158562"/>
            <a:ext cx="188299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90202" y="4158562"/>
            <a:ext cx="981874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690202" y="4158562"/>
            <a:ext cx="98187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5672077" y="4158562"/>
            <a:ext cx="28981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672077" y="4158562"/>
            <a:ext cx="28981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436115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2807208" y="4388776"/>
            <a:ext cx="186713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807208" y="4388776"/>
            <a:ext cx="186713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4674343" y="4388776"/>
            <a:ext cx="47200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21543" y="4388776"/>
            <a:ext cx="124034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721543" y="4388776"/>
            <a:ext cx="124034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658368" y="459136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2807208" y="4618989"/>
            <a:ext cx="186191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2807208" y="4618989"/>
            <a:ext cx="186191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4669123" y="4618989"/>
            <a:ext cx="838384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669123" y="4618989"/>
            <a:ext cx="83838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507507" y="4618989"/>
            <a:ext cx="45438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5507507" y="4618989"/>
            <a:ext cx="45438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58368" y="482157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2807208" y="4849203"/>
            <a:ext cx="185514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2807208" y="4849203"/>
            <a:ext cx="185514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4662349" y="4849203"/>
            <a:ext cx="1016459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4662349" y="4849203"/>
            <a:ext cx="101645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5678808" y="4849203"/>
            <a:ext cx="28308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678808" y="4849203"/>
            <a:ext cx="28308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15" name="Text 113"/>
          <p:cNvSpPr txBox="1"/>
          <p:nvPr/>
        </p:nvSpPr>
        <p:spPr>
          <a:xfrm>
            <a:off x="658368" y="505179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2807208" y="5079417"/>
            <a:ext cx="183841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2807208" y="5079417"/>
            <a:ext cx="183841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4645620" y="5079417"/>
            <a:ext cx="572933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4645620" y="5079417"/>
            <a:ext cx="57293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5218553" y="5079417"/>
            <a:ext cx="74333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5218553" y="5079417"/>
            <a:ext cx="74333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58368" y="528200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2807208" y="5309630"/>
            <a:ext cx="179319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2807208" y="5309630"/>
            <a:ext cx="179319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4600402" y="5309630"/>
            <a:ext cx="753875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600402" y="5309630"/>
            <a:ext cx="75387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5354277" y="5309630"/>
            <a:ext cx="60761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354277" y="5309630"/>
            <a:ext cx="60761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658368" y="5512218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2807208" y="5539844"/>
            <a:ext cx="179150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2807208" y="5539844"/>
            <a:ext cx="179150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4598712" y="5539844"/>
            <a:ext cx="753618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4598712" y="5539844"/>
            <a:ext cx="75361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5352329" y="5539844"/>
            <a:ext cx="609559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5352329" y="5539844"/>
            <a:ext cx="60955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182880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8357616" y="1856426"/>
            <a:ext cx="173965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357616" y="1856426"/>
            <a:ext cx="173965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10097275" y="1856426"/>
            <a:ext cx="1115781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10097275" y="1856426"/>
            <a:ext cx="111578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11213056" y="1856426"/>
            <a:ext cx="29924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11213056" y="1856426"/>
            <a:ext cx="29924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6208776" y="205901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8357616" y="2086639"/>
            <a:ext cx="1737636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8357616" y="2086639"/>
            <a:ext cx="173763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10095252" y="2086639"/>
            <a:ext cx="933948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0095252" y="2086639"/>
            <a:ext cx="93394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11029200" y="2086639"/>
            <a:ext cx="48309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1029200" y="2086639"/>
            <a:ext cx="48309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6208776" y="228922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8357616" y="2316853"/>
            <a:ext cx="1534178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8357616" y="2316853"/>
            <a:ext cx="153417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9891794" y="2316853"/>
            <a:ext cx="1305710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9891794" y="2316853"/>
            <a:ext cx="130571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300" dirty="0"/>
          </a:p>
        </p:txBody>
      </p:sp>
      <p:sp>
        <p:nvSpPr>
          <p:cNvPr id="155" name="Shape 153"/>
          <p:cNvSpPr/>
          <p:nvPr/>
        </p:nvSpPr>
        <p:spPr>
          <a:xfrm>
            <a:off x="11197503" y="2316853"/>
            <a:ext cx="31479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11197503" y="2316853"/>
            <a:ext cx="31479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251944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8357616" y="2547067"/>
            <a:ext cx="1384233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8357616" y="2547067"/>
            <a:ext cx="138423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300" dirty="0"/>
          </a:p>
        </p:txBody>
      </p:sp>
      <p:sp>
        <p:nvSpPr>
          <p:cNvPr id="160" name="Shape 158"/>
          <p:cNvSpPr/>
          <p:nvPr/>
        </p:nvSpPr>
        <p:spPr>
          <a:xfrm>
            <a:off x="9741849" y="2547067"/>
            <a:ext cx="1315083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9741849" y="2547067"/>
            <a:ext cx="131508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300" dirty="0"/>
          </a:p>
        </p:txBody>
      </p:sp>
      <p:sp>
        <p:nvSpPr>
          <p:cNvPr id="162" name="Shape 160"/>
          <p:cNvSpPr/>
          <p:nvPr/>
        </p:nvSpPr>
        <p:spPr>
          <a:xfrm>
            <a:off x="11056933" y="2547067"/>
            <a:ext cx="45536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11056933" y="2547067"/>
            <a:ext cx="45536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6208776" y="274965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8357616" y="2777280"/>
            <a:ext cx="135775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8357616" y="2777280"/>
            <a:ext cx="135775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9715375" y="2777280"/>
            <a:ext cx="945491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9715375" y="2777280"/>
            <a:ext cx="94549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10660866" y="2777280"/>
            <a:ext cx="851430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660866" y="2777280"/>
            <a:ext cx="85143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6208776" y="2979868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72" name="Shape 170"/>
          <p:cNvSpPr/>
          <p:nvPr/>
        </p:nvSpPr>
        <p:spPr>
          <a:xfrm>
            <a:off x="8357616" y="3007494"/>
            <a:ext cx="1350116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8357616" y="3007494"/>
            <a:ext cx="135011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9707732" y="3007494"/>
            <a:ext cx="911172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9707732" y="3007494"/>
            <a:ext cx="91117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176" name="Shape 174"/>
          <p:cNvSpPr/>
          <p:nvPr/>
        </p:nvSpPr>
        <p:spPr>
          <a:xfrm>
            <a:off x="10618904" y="3007494"/>
            <a:ext cx="893392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10618904" y="3007494"/>
            <a:ext cx="89339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6208776" y="3210082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79" name="Shape 177"/>
          <p:cNvSpPr/>
          <p:nvPr/>
        </p:nvSpPr>
        <p:spPr>
          <a:xfrm>
            <a:off x="8357616" y="3237708"/>
            <a:ext cx="1294066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8357616" y="3237708"/>
            <a:ext cx="129406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9651682" y="3237708"/>
            <a:ext cx="1618588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651682" y="3237708"/>
            <a:ext cx="161858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300" dirty="0"/>
          </a:p>
        </p:txBody>
      </p:sp>
      <p:sp>
        <p:nvSpPr>
          <p:cNvPr id="183" name="Shape 181"/>
          <p:cNvSpPr/>
          <p:nvPr/>
        </p:nvSpPr>
        <p:spPr>
          <a:xfrm>
            <a:off x="11270270" y="3237708"/>
            <a:ext cx="24202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11270270" y="3237708"/>
            <a:ext cx="24202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6208776" y="344029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86" name="Shape 184"/>
          <p:cNvSpPr/>
          <p:nvPr/>
        </p:nvSpPr>
        <p:spPr>
          <a:xfrm>
            <a:off x="8357616" y="3467921"/>
            <a:ext cx="1279235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8357616" y="3467921"/>
            <a:ext cx="127923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9636851" y="3467921"/>
            <a:ext cx="1523817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9636851" y="3467921"/>
            <a:ext cx="152381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300" dirty="0"/>
          </a:p>
        </p:txBody>
      </p:sp>
      <p:sp>
        <p:nvSpPr>
          <p:cNvPr id="190" name="Shape 188"/>
          <p:cNvSpPr/>
          <p:nvPr/>
        </p:nvSpPr>
        <p:spPr>
          <a:xfrm>
            <a:off x="11160668" y="3467921"/>
            <a:ext cx="351628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11160668" y="3467921"/>
            <a:ext cx="35162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6208776" y="3670509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93" name="Shape 191"/>
          <p:cNvSpPr/>
          <p:nvPr/>
        </p:nvSpPr>
        <p:spPr>
          <a:xfrm>
            <a:off x="8357616" y="3698135"/>
            <a:ext cx="126753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8357616" y="3698135"/>
            <a:ext cx="126753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300" dirty="0"/>
          </a:p>
        </p:txBody>
      </p:sp>
      <p:sp>
        <p:nvSpPr>
          <p:cNvPr id="195" name="Shape 193"/>
          <p:cNvSpPr/>
          <p:nvPr/>
        </p:nvSpPr>
        <p:spPr>
          <a:xfrm>
            <a:off x="9625148" y="3698135"/>
            <a:ext cx="1322830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9625148" y="3698135"/>
            <a:ext cx="132283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300" dirty="0"/>
          </a:p>
        </p:txBody>
      </p:sp>
      <p:sp>
        <p:nvSpPr>
          <p:cNvPr id="197" name="Shape 195"/>
          <p:cNvSpPr/>
          <p:nvPr/>
        </p:nvSpPr>
        <p:spPr>
          <a:xfrm>
            <a:off x="10947978" y="3698135"/>
            <a:ext cx="564318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10947978" y="3698135"/>
            <a:ext cx="564318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199" name="Text 197"/>
          <p:cNvSpPr txBox="1"/>
          <p:nvPr/>
        </p:nvSpPr>
        <p:spPr>
          <a:xfrm>
            <a:off x="6208776" y="3900723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00" name="Shape 198"/>
          <p:cNvSpPr/>
          <p:nvPr/>
        </p:nvSpPr>
        <p:spPr>
          <a:xfrm>
            <a:off x="8357616" y="3928348"/>
            <a:ext cx="1211800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8357616" y="3928348"/>
            <a:ext cx="1211800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300" dirty="0"/>
          </a:p>
        </p:txBody>
      </p:sp>
      <p:sp>
        <p:nvSpPr>
          <p:cNvPr id="202" name="Shape 200"/>
          <p:cNvSpPr/>
          <p:nvPr/>
        </p:nvSpPr>
        <p:spPr>
          <a:xfrm>
            <a:off x="9569416" y="3928348"/>
            <a:ext cx="1028046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9569416" y="3928348"/>
            <a:ext cx="102804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300" dirty="0"/>
          </a:p>
        </p:txBody>
      </p:sp>
      <p:sp>
        <p:nvSpPr>
          <p:cNvPr id="204" name="Shape 202"/>
          <p:cNvSpPr/>
          <p:nvPr/>
        </p:nvSpPr>
        <p:spPr>
          <a:xfrm>
            <a:off x="10597462" y="3928348"/>
            <a:ext cx="914834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10597462" y="3928348"/>
            <a:ext cx="91483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206" name="Text 204"/>
          <p:cNvSpPr txBox="1"/>
          <p:nvPr/>
        </p:nvSpPr>
        <p:spPr>
          <a:xfrm>
            <a:off x="6208776" y="4130936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207" name="Shape 205"/>
          <p:cNvSpPr/>
          <p:nvPr/>
        </p:nvSpPr>
        <p:spPr>
          <a:xfrm>
            <a:off x="8357616" y="4158562"/>
            <a:ext cx="1108292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8357616" y="4158562"/>
            <a:ext cx="110829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300" dirty="0"/>
          </a:p>
        </p:txBody>
      </p:sp>
      <p:sp>
        <p:nvSpPr>
          <p:cNvPr id="209" name="Shape 207"/>
          <p:cNvSpPr/>
          <p:nvPr/>
        </p:nvSpPr>
        <p:spPr>
          <a:xfrm>
            <a:off x="9465908" y="4158562"/>
            <a:ext cx="1192265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9465908" y="4158562"/>
            <a:ext cx="119226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300" dirty="0"/>
          </a:p>
        </p:txBody>
      </p:sp>
      <p:sp>
        <p:nvSpPr>
          <p:cNvPr id="211" name="Shape 209"/>
          <p:cNvSpPr/>
          <p:nvPr/>
        </p:nvSpPr>
        <p:spPr>
          <a:xfrm>
            <a:off x="10658173" y="4158562"/>
            <a:ext cx="854123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10658173" y="4158562"/>
            <a:ext cx="85412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300" dirty="0"/>
          </a:p>
        </p:txBody>
      </p:sp>
      <p:sp>
        <p:nvSpPr>
          <p:cNvPr id="213" name="Text 211"/>
          <p:cNvSpPr txBox="1"/>
          <p:nvPr/>
        </p:nvSpPr>
        <p:spPr>
          <a:xfrm>
            <a:off x="6208776" y="4361150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214" name="Shape 212"/>
          <p:cNvSpPr/>
          <p:nvPr/>
        </p:nvSpPr>
        <p:spPr>
          <a:xfrm>
            <a:off x="8357616" y="4388776"/>
            <a:ext cx="1069967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8357616" y="4388776"/>
            <a:ext cx="1069967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300" dirty="0"/>
          </a:p>
        </p:txBody>
      </p:sp>
      <p:sp>
        <p:nvSpPr>
          <p:cNvPr id="216" name="Shape 214"/>
          <p:cNvSpPr/>
          <p:nvPr/>
        </p:nvSpPr>
        <p:spPr>
          <a:xfrm>
            <a:off x="9427583" y="4388776"/>
            <a:ext cx="81602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509185" y="4388776"/>
            <a:ext cx="200311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9509185" y="4388776"/>
            <a:ext cx="200311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1300" dirty="0"/>
          </a:p>
        </p:txBody>
      </p:sp>
      <p:sp>
        <p:nvSpPr>
          <p:cNvPr id="219" name="Text 217"/>
          <p:cNvSpPr txBox="1"/>
          <p:nvPr/>
        </p:nvSpPr>
        <p:spPr>
          <a:xfrm>
            <a:off x="6208776" y="4591364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220" name="Shape 218"/>
          <p:cNvSpPr/>
          <p:nvPr/>
        </p:nvSpPr>
        <p:spPr>
          <a:xfrm>
            <a:off x="8357616" y="4618989"/>
            <a:ext cx="103469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8357616" y="4618989"/>
            <a:ext cx="103469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300" dirty="0"/>
          </a:p>
        </p:txBody>
      </p:sp>
      <p:sp>
        <p:nvSpPr>
          <p:cNvPr id="222" name="Shape 220"/>
          <p:cNvSpPr/>
          <p:nvPr/>
        </p:nvSpPr>
        <p:spPr>
          <a:xfrm>
            <a:off x="9392307" y="4618989"/>
            <a:ext cx="1723364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9392307" y="4618989"/>
            <a:ext cx="172336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300" dirty="0"/>
          </a:p>
        </p:txBody>
      </p:sp>
      <p:sp>
        <p:nvSpPr>
          <p:cNvPr id="224" name="Shape 222"/>
          <p:cNvSpPr/>
          <p:nvPr/>
        </p:nvSpPr>
        <p:spPr>
          <a:xfrm>
            <a:off x="11115671" y="4618989"/>
            <a:ext cx="396625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11115671" y="4618989"/>
            <a:ext cx="39662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300" dirty="0"/>
          </a:p>
        </p:txBody>
      </p:sp>
      <p:sp>
        <p:nvSpPr>
          <p:cNvPr id="226" name="Text 224"/>
          <p:cNvSpPr txBox="1"/>
          <p:nvPr/>
        </p:nvSpPr>
        <p:spPr>
          <a:xfrm>
            <a:off x="6208776" y="4821577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227" name="Shape 225"/>
          <p:cNvSpPr/>
          <p:nvPr/>
        </p:nvSpPr>
        <p:spPr>
          <a:xfrm>
            <a:off x="8357616" y="4849203"/>
            <a:ext cx="1015371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8357616" y="4849203"/>
            <a:ext cx="101537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300" dirty="0"/>
          </a:p>
        </p:txBody>
      </p:sp>
      <p:sp>
        <p:nvSpPr>
          <p:cNvPr id="229" name="Shape 227"/>
          <p:cNvSpPr/>
          <p:nvPr/>
        </p:nvSpPr>
        <p:spPr>
          <a:xfrm>
            <a:off x="9372987" y="4849203"/>
            <a:ext cx="938383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9372987" y="4849203"/>
            <a:ext cx="938383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300" dirty="0"/>
          </a:p>
        </p:txBody>
      </p:sp>
      <p:sp>
        <p:nvSpPr>
          <p:cNvPr id="231" name="Shape 229"/>
          <p:cNvSpPr/>
          <p:nvPr/>
        </p:nvSpPr>
        <p:spPr>
          <a:xfrm>
            <a:off x="10311370" y="4849203"/>
            <a:ext cx="1200926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10311370" y="4849203"/>
            <a:ext cx="1200926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300" dirty="0"/>
          </a:p>
        </p:txBody>
      </p:sp>
      <p:sp>
        <p:nvSpPr>
          <p:cNvPr id="233" name="Text 231"/>
          <p:cNvSpPr txBox="1"/>
          <p:nvPr/>
        </p:nvSpPr>
        <p:spPr>
          <a:xfrm>
            <a:off x="6208776" y="5051791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234" name="Shape 232"/>
          <p:cNvSpPr/>
          <p:nvPr/>
        </p:nvSpPr>
        <p:spPr>
          <a:xfrm>
            <a:off x="8357616" y="5079417"/>
            <a:ext cx="867269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 txBox="1"/>
          <p:nvPr/>
        </p:nvSpPr>
        <p:spPr>
          <a:xfrm>
            <a:off x="8357616" y="5079417"/>
            <a:ext cx="86726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300" dirty="0"/>
          </a:p>
        </p:txBody>
      </p:sp>
      <p:sp>
        <p:nvSpPr>
          <p:cNvPr id="236" name="Shape 234"/>
          <p:cNvSpPr/>
          <p:nvPr/>
        </p:nvSpPr>
        <p:spPr>
          <a:xfrm>
            <a:off x="9224885" y="5079417"/>
            <a:ext cx="864752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9224885" y="5079417"/>
            <a:ext cx="864752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300" dirty="0"/>
          </a:p>
        </p:txBody>
      </p:sp>
      <p:sp>
        <p:nvSpPr>
          <p:cNvPr id="238" name="Shape 236"/>
          <p:cNvSpPr/>
          <p:nvPr/>
        </p:nvSpPr>
        <p:spPr>
          <a:xfrm>
            <a:off x="10089637" y="5079417"/>
            <a:ext cx="1422659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10089637" y="5079417"/>
            <a:ext cx="1422659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1300" dirty="0"/>
          </a:p>
        </p:txBody>
      </p:sp>
      <p:sp>
        <p:nvSpPr>
          <p:cNvPr id="240" name="Text 238"/>
          <p:cNvSpPr txBox="1"/>
          <p:nvPr/>
        </p:nvSpPr>
        <p:spPr>
          <a:xfrm>
            <a:off x="6208776" y="5282005"/>
            <a:ext cx="2103120" cy="230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241" name="Shape 239"/>
          <p:cNvSpPr/>
          <p:nvPr/>
        </p:nvSpPr>
        <p:spPr>
          <a:xfrm>
            <a:off x="8357616" y="5309630"/>
            <a:ext cx="835514" cy="174962"/>
          </a:xfrm>
          <a:prstGeom prst="rect">
            <a:avLst/>
          </a:prstGeom>
          <a:solidFill>
            <a:srgbClr val="2587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8357616" y="5309630"/>
            <a:ext cx="835514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300" dirty="0"/>
          </a:p>
        </p:txBody>
      </p:sp>
      <p:sp>
        <p:nvSpPr>
          <p:cNvPr id="243" name="Shape 241"/>
          <p:cNvSpPr/>
          <p:nvPr/>
        </p:nvSpPr>
        <p:spPr>
          <a:xfrm>
            <a:off x="9193130" y="5309630"/>
            <a:ext cx="685335" cy="174962"/>
          </a:xfrm>
          <a:prstGeom prst="rect">
            <a:avLst/>
          </a:prstGeom>
          <a:solidFill>
            <a:srgbClr val="0B2C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9193130" y="5309630"/>
            <a:ext cx="685335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300" dirty="0"/>
          </a:p>
        </p:txBody>
      </p:sp>
      <p:sp>
        <p:nvSpPr>
          <p:cNvPr id="245" name="Shape 243"/>
          <p:cNvSpPr/>
          <p:nvPr/>
        </p:nvSpPr>
        <p:spPr>
          <a:xfrm>
            <a:off x="9878465" y="5309630"/>
            <a:ext cx="1633831" cy="174962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9878465" y="5309630"/>
            <a:ext cx="1633831" cy="174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1300" dirty="0"/>
          </a:p>
        </p:txBody>
      </p:sp>
      <p:sp>
        <p:nvSpPr>
          <p:cNvPr id="247" name="Shape 245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48" name="Text 246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is 54.3% of customer-pay labor, repair 30.5%, and 15.2% cannot be classified from its description (19.0% in 2025).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 MIX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Unclassified Customer-Pay Labor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389888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1800" y="1453358"/>
            <a:ext cx="121302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55464" y="1389888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643768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1707239"/>
            <a:ext cx="133406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55464" y="1643768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897649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1961119"/>
            <a:ext cx="160575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1897649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51529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215000"/>
            <a:ext cx="211718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5464" y="2151529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405410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2468880"/>
            <a:ext cx="220965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55464" y="2405410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659290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722760"/>
            <a:ext cx="231690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55464" y="2659290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913171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2976641"/>
            <a:ext cx="258447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2913171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167051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3230521"/>
            <a:ext cx="264592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55464" y="3167051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9.2%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420932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71800" y="3484402"/>
            <a:ext cx="273200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55464" y="3420932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9.5%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3674812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71800" y="3738282"/>
            <a:ext cx="287399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5464" y="3674812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928693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71800" y="3992163"/>
            <a:ext cx="313503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3928693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10.9%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182573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4246043"/>
            <a:ext cx="321029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55464" y="4182573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4436454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71800" y="4499924"/>
            <a:ext cx="358941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55464" y="4436454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58368" y="4690334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971800" y="4753804"/>
            <a:ext cx="362110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855464" y="4690334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4944215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971800" y="5007685"/>
            <a:ext cx="389902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55464" y="4944215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13.5%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5198095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971800" y="5261565"/>
            <a:ext cx="414841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855464" y="5198095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14.4%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5451976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971800" y="5515446"/>
            <a:ext cx="415737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855464" y="5451976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14.4%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208776" y="1389888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522208" y="1453358"/>
            <a:ext cx="426391" cy="1269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405872" y="1389888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14.8%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135624" y="1639196"/>
            <a:ext cx="5413248" cy="24473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208776" y="1643768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522208" y="1707239"/>
            <a:ext cx="437182" cy="126940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405872" y="1643768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15.2%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208776" y="1897649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522208" y="1961119"/>
            <a:ext cx="441057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405872" y="1897649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15.3%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151529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22208" y="2215000"/>
            <a:ext cx="515211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05872" y="2151529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17.9%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208776" y="2405410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522208" y="2468880"/>
            <a:ext cx="554737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0405872" y="2405410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19.3%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6208776" y="2659290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22208" y="2722760"/>
            <a:ext cx="556515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405872" y="2659290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19.3%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208776" y="2913171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522208" y="2976641"/>
            <a:ext cx="678650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405872" y="2913171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23.6%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3167051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8522208" y="3230521"/>
            <a:ext cx="728048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0405872" y="3167051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25.3%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3420932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522208" y="3484402"/>
            <a:ext cx="777338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405872" y="3420932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27.0%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6208776" y="3674812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522208" y="3738282"/>
            <a:ext cx="779797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405872" y="3674812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27.1%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3928693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522208" y="3992163"/>
            <a:ext cx="815649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3928693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28.3%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4182573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522208" y="4246043"/>
            <a:ext cx="835225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405872" y="4182573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29.0%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4436454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8522208" y="4499924"/>
            <a:ext cx="1096421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405872" y="4436454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38.1%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4690334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522208" y="4753804"/>
            <a:ext cx="1132410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405872" y="4690334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39.3%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4944215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8522208" y="5007685"/>
            <a:ext cx="1298859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4944215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5198095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522208" y="5261565"/>
            <a:ext cx="1491655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405872" y="5198095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51.8%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5451976"/>
            <a:ext cx="2240280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8522208" y="5515446"/>
            <a:ext cx="1828800" cy="1269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405872" y="5451976"/>
            <a:ext cx="1088136" cy="25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63.5%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3401666" y="1389888"/>
            <a:ext cx="14630" cy="431596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952074" y="1389888"/>
            <a:ext cx="14630" cy="431596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 can't classify 63.5% of its customer-pay labor from the description; HONDA HENDERSON only 4.2%. Vague op code descriptions hide what the shop sells.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2026-10-15T23:05:12Z</dcterms:created>
  <dcterms:modified xsi:type="dcterms:W3CDTF">2026-10-15T23:05:12Z</dcterms:modified>
</cp:coreProperties>
</file>