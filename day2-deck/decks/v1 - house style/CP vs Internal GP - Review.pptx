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Jan-Sep 2026 by close month. Same-store, INEOS excluded (opened 2026). GMC Prescott body shop labor types excluded. Gap = internal GP% minus customer-pay GP%, in points. Green at or better than the group gap (−2.7 pts), red below. 8 stores run internal at or above customer pay: CADILLAC, CHEVY GMC BULLHEAD, GMC PRESCOTT, HYUNDAI PRESCOTT, HYUNDAI ST GEORGE, KIA LV, KIA ST GEORGE and VW ST GEORGE. A wide gap can be a policy (internal detail, used-car recon pricing) rather than a miss; confirm with the store before calling it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Jan-Sep 2026 by close month. Same-store, INEOS excluded (opened 2026). GMC Prescott body shop labor types excluded. Gap = internal GP% minus customer-pay GP%, in points. Green at or better than the group gap (−4.2 pts), red below. 5 stores run internal at or above customer pay: CHEVY LV, HONDA HENDERSON, SUBARU PRESCOTT, TOYOTA HENDERSON and VOLVO. A wide gap can be a policy (internal detail, used-car recon pricing) rather than a miss; confirm with the store before calling it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Jan-Sep 2026 by close month. Same-store, INEOS excluded (opened 2026). GMC Prescott body shop labor types excluded. Gap = internal GP% minus customer-pay GP%, in points. Green at or better than the group gap (−2.7 pts), red below. 8 stores run internal at or above customer pay: CADILLAC, CHEVY GMC BULLHEAD, GMC PRESCOTT, HYUNDAI PRESCOTT, HYUNDAI ST GEORGE, KIA LV, KIA ST GEORGE and VW ST GEORGE. A wide gap can be a policy (internal detail, used-car recon pricing) rather than a miss; confirm with the store before calling it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Jan-Sep 2026 by close month. Same-store, INEOS excluded (opened 2026). GMC Prescott body shop labor types excluded. Gap = internal GP% minus customer-pay GP%, in points. Green at or better than the group gap (−4.2 pts), red below. 5 stores run internal at or above customer pay: CHEVY LV, HONDA HENDERSON, SUBARU PRESCOTT, TOYOTA HENDERSON and VOLVO. A wide gap can be a policy (internal detail, used-car recon pricing) rather than a miss; confirm with the store before calling it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 · OPTION 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vs Customer-Pay Labor Gross Profit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16736"/>
            <a:ext cx="10872216" cy="38404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16736"/>
            <a:ext cx="54864" cy="38404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131673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CUSTOMER PAY 80.8%      INTERNAL 78.1%      GAP </a:t>
            </a:r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−2.7 pts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green = gap at or better than the group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07408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74336" y="17739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9778" y="2103120"/>
            <a:ext cx="10973" cy="36576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" name="Shape 12"/>
          <p:cNvSpPr/>
          <p:nvPr/>
        </p:nvSpPr>
        <p:spPr>
          <a:xfrm>
            <a:off x="3183188" y="2103120"/>
            <a:ext cx="0" cy="3657600"/>
          </a:xfrm>
          <a:prstGeom prst="line">
            <a:avLst/>
          </a:prstGeom>
          <a:noFill/>
          <a:ln w="12700">
            <a:solidFill>
              <a:srgbClr val="0B2C4A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66176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390888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957816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24744" y="17739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00186" y="2103120"/>
            <a:ext cx="10973" cy="3442447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20" name="Shape 18"/>
          <p:cNvSpPr/>
          <p:nvPr/>
        </p:nvSpPr>
        <p:spPr>
          <a:xfrm>
            <a:off x="8733596" y="2103120"/>
            <a:ext cx="0" cy="3442447"/>
          </a:xfrm>
          <a:prstGeom prst="line">
            <a:avLst/>
          </a:prstGeom>
          <a:noFill/>
          <a:ln w="12700">
            <a:solidFill>
              <a:srgbClr val="0B2C4A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58368" y="2103120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55264" y="2151529"/>
            <a:ext cx="130113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840480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77.3%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82.1%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74336" y="2103120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+4.8 pts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5216" y="2318273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318273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55264" y="2366682"/>
            <a:ext cx="129665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840480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67.7%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07408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72.5%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974336" y="2318273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+4.8 pts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253342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55264" y="2581835"/>
            <a:ext cx="104292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840480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79.4%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407408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83.3%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974336" y="253342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5216" y="2748579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8368" y="274857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55264" y="2796988"/>
            <a:ext cx="96492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840480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72.2%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407408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75.8%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974336" y="274857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+3.6 pts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296373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255264" y="3012141"/>
            <a:ext cx="77376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840480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78.7%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407408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81.5%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974336" y="296373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+2.9 pts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85216" y="3178885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17888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255264" y="3227294"/>
            <a:ext cx="65728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840480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82.9%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407408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85.3%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4974336" y="317888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+2.4 pts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58368" y="339403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255264" y="3442447"/>
            <a:ext cx="65019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3840480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79.5%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4407408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81.9%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974336" y="339403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+2.4 pts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85216" y="3609191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360919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255264" y="3657600"/>
            <a:ext cx="23117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3840480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79.4%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4407408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80.2%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974336" y="360919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+0.9 pts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382434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3253849" y="3872753"/>
            <a:ext cx="9144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3840480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79.8%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4407408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79.8%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4974336" y="382434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−0.1 pts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85216" y="4039496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58368" y="403949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250197" y="4087906"/>
            <a:ext cx="9144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3840480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86.1%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4407408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85.9%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4974336" y="403949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−0.2 pts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425464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3245953" y="4303059"/>
            <a:ext cx="9311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3840480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83.2%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4407408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82.8%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4974336" y="425464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−0.3 pts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585216" y="4469802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58368" y="446980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3244900" y="4518212"/>
            <a:ext cx="10364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3840480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74.1%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4407408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73.8%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4974336" y="446980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−0.4 pts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658368" y="468495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3221879" y="4733365"/>
            <a:ext cx="33385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3840480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79.4%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4407408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78.2%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4974336" y="468495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−1.2 pts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585216" y="4900108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658368" y="490010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3198494" y="4948518"/>
            <a:ext cx="56770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3840480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79.3%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4407408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77.2%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4974336" y="490010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−2.1 pts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658368" y="511526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3198327" y="5163671"/>
            <a:ext cx="56937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3840480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78.5%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4407408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76.4%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4974336" y="511526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−2.1 pts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585216" y="5330414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658368" y="533041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3197693" y="5378824"/>
            <a:ext cx="57571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3840480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84.4%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4407408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82.3%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4974336" y="533041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−2.1 pts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658368" y="5545567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3195970" y="5593976"/>
            <a:ext cx="59294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3840480" y="5545567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73.9%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4407408" y="5545567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71.7%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4974336" y="5545567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−2.2 pts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6208776" y="2103120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8734848" y="2151529"/>
            <a:ext cx="70824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9390888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78.6%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9957816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76.0%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10524744" y="2103120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−2.6 pts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6135624" y="2318273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6208776" y="2318273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8730906" y="2366682"/>
            <a:ext cx="74766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9390888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85.0%</a:t>
            </a:r>
            <a:endParaRPr lang="en-US" sz="1300" dirty="0"/>
          </a:p>
        </p:txBody>
      </p:sp>
      <p:sp>
        <p:nvSpPr>
          <p:cNvPr id="123" name="Text 121"/>
          <p:cNvSpPr txBox="1"/>
          <p:nvPr/>
        </p:nvSpPr>
        <p:spPr>
          <a:xfrm>
            <a:off x="9957816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82.2%</a:t>
            </a:r>
            <a:endParaRPr lang="en-US" sz="1300" dirty="0"/>
          </a:p>
        </p:txBody>
      </p:sp>
      <p:sp>
        <p:nvSpPr>
          <p:cNvPr id="124" name="Text 122"/>
          <p:cNvSpPr txBox="1"/>
          <p:nvPr/>
        </p:nvSpPr>
        <p:spPr>
          <a:xfrm>
            <a:off x="10524744" y="2318273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−2.8 pts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253342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8716961" y="2581835"/>
            <a:ext cx="88711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9390888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75.7%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9957816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72.4%</a:t>
            </a:r>
            <a:endParaRPr lang="en-US" sz="1300" dirty="0"/>
          </a:p>
        </p:txBody>
      </p:sp>
      <p:sp>
        <p:nvSpPr>
          <p:cNvPr id="129" name="Text 127"/>
          <p:cNvSpPr txBox="1"/>
          <p:nvPr/>
        </p:nvSpPr>
        <p:spPr>
          <a:xfrm>
            <a:off x="10524744" y="253342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−3.3 pts</a:t>
            </a:r>
            <a:endParaRPr lang="en-US" sz="1300" dirty="0"/>
          </a:p>
        </p:txBody>
      </p:sp>
      <p:sp>
        <p:nvSpPr>
          <p:cNvPr id="130" name="Shape 128"/>
          <p:cNvSpPr/>
          <p:nvPr/>
        </p:nvSpPr>
        <p:spPr>
          <a:xfrm>
            <a:off x="6135624" y="2748579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6208776" y="274857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8711353" y="2796988"/>
            <a:ext cx="94319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9390888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84.3%</a:t>
            </a: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9957816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80.8%</a:t>
            </a: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10524744" y="274857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−3.5 pts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6208776" y="296373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37" name="Shape 135"/>
          <p:cNvSpPr/>
          <p:nvPr/>
        </p:nvSpPr>
        <p:spPr>
          <a:xfrm>
            <a:off x="8703971" y="3012141"/>
            <a:ext cx="101701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9390888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88.6%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9957816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84.8%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10524744" y="296373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−3.8 pts</a:t>
            </a:r>
            <a:endParaRPr lang="en-US" sz="1300" dirty="0"/>
          </a:p>
        </p:txBody>
      </p:sp>
      <p:sp>
        <p:nvSpPr>
          <p:cNvPr id="141" name="Shape 139"/>
          <p:cNvSpPr/>
          <p:nvPr/>
        </p:nvSpPr>
        <p:spPr>
          <a:xfrm>
            <a:off x="6135624" y="3178885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6208776" y="317888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8701890" y="3227294"/>
            <a:ext cx="103782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9390888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79.5%</a:t>
            </a:r>
            <a:endParaRPr lang="en-US" sz="1300" dirty="0"/>
          </a:p>
        </p:txBody>
      </p:sp>
      <p:sp>
        <p:nvSpPr>
          <p:cNvPr id="145" name="Text 143"/>
          <p:cNvSpPr txBox="1"/>
          <p:nvPr/>
        </p:nvSpPr>
        <p:spPr>
          <a:xfrm>
            <a:off x="9957816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75.7%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524744" y="317888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−3.8 pts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6208776" y="339403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148" name="Shape 146"/>
          <p:cNvSpPr/>
          <p:nvPr/>
        </p:nvSpPr>
        <p:spPr>
          <a:xfrm>
            <a:off x="8679444" y="3442447"/>
            <a:ext cx="126228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9390888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84.4%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9957816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79.7%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524744" y="339403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−4.7 pts</a:t>
            </a:r>
            <a:endParaRPr lang="en-US" sz="1300" dirty="0"/>
          </a:p>
        </p:txBody>
      </p:sp>
      <p:sp>
        <p:nvSpPr>
          <p:cNvPr id="152" name="Shape 150"/>
          <p:cNvSpPr/>
          <p:nvPr/>
        </p:nvSpPr>
        <p:spPr>
          <a:xfrm>
            <a:off x="6135624" y="3609191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6208776" y="360919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54" name="Shape 152"/>
          <p:cNvSpPr/>
          <p:nvPr/>
        </p:nvSpPr>
        <p:spPr>
          <a:xfrm>
            <a:off x="8672194" y="3657600"/>
            <a:ext cx="133478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9390888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79.1%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9957816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74.2%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10524744" y="360919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−4.9 pts</a:t>
            </a:r>
            <a:endParaRPr lang="en-US" sz="1300" dirty="0"/>
          </a:p>
        </p:txBody>
      </p:sp>
      <p:sp>
        <p:nvSpPr>
          <p:cNvPr id="158" name="Text 156"/>
          <p:cNvSpPr txBox="1"/>
          <p:nvPr/>
        </p:nvSpPr>
        <p:spPr>
          <a:xfrm>
            <a:off x="6208776" y="382434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159" name="Shape 157"/>
          <p:cNvSpPr/>
          <p:nvPr/>
        </p:nvSpPr>
        <p:spPr>
          <a:xfrm>
            <a:off x="8624168" y="3872753"/>
            <a:ext cx="181504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0" name="Text 158"/>
          <p:cNvSpPr txBox="1"/>
          <p:nvPr/>
        </p:nvSpPr>
        <p:spPr>
          <a:xfrm>
            <a:off x="9390888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82.0%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9957816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75.2%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10524744" y="382434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−6.7 pts</a:t>
            </a:r>
            <a:endParaRPr lang="en-US" sz="1300" dirty="0"/>
          </a:p>
        </p:txBody>
      </p:sp>
      <p:sp>
        <p:nvSpPr>
          <p:cNvPr id="163" name="Shape 161"/>
          <p:cNvSpPr/>
          <p:nvPr/>
        </p:nvSpPr>
        <p:spPr>
          <a:xfrm>
            <a:off x="6135624" y="4039496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6208776" y="403949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165" name="Shape 163"/>
          <p:cNvSpPr/>
          <p:nvPr/>
        </p:nvSpPr>
        <p:spPr>
          <a:xfrm>
            <a:off x="8616775" y="4087906"/>
            <a:ext cx="188897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6" name="Text 164"/>
          <p:cNvSpPr txBox="1"/>
          <p:nvPr/>
        </p:nvSpPr>
        <p:spPr>
          <a:xfrm>
            <a:off x="9390888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86.0%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9957816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79.0%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10524744" y="403949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−7.0 pts</a:t>
            </a:r>
            <a:endParaRPr lang="en-US" sz="1300" dirty="0"/>
          </a:p>
        </p:txBody>
      </p:sp>
      <p:sp>
        <p:nvSpPr>
          <p:cNvPr id="169" name="Text 167"/>
          <p:cNvSpPr txBox="1"/>
          <p:nvPr/>
        </p:nvSpPr>
        <p:spPr>
          <a:xfrm>
            <a:off x="6208776" y="425464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170" name="Shape 168"/>
          <p:cNvSpPr/>
          <p:nvPr/>
        </p:nvSpPr>
        <p:spPr>
          <a:xfrm>
            <a:off x="8590345" y="4303059"/>
            <a:ext cx="215327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9390888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83.5%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9957816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75.5%</a:t>
            </a:r>
            <a:endParaRPr lang="en-US" sz="1300" dirty="0"/>
          </a:p>
        </p:txBody>
      </p:sp>
      <p:sp>
        <p:nvSpPr>
          <p:cNvPr id="173" name="Text 171"/>
          <p:cNvSpPr txBox="1"/>
          <p:nvPr/>
        </p:nvSpPr>
        <p:spPr>
          <a:xfrm>
            <a:off x="10524744" y="425464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−8.0 pts</a:t>
            </a:r>
            <a:endParaRPr lang="en-US" sz="1300" dirty="0"/>
          </a:p>
        </p:txBody>
      </p:sp>
      <p:sp>
        <p:nvSpPr>
          <p:cNvPr id="174" name="Shape 172"/>
          <p:cNvSpPr/>
          <p:nvPr/>
        </p:nvSpPr>
        <p:spPr>
          <a:xfrm>
            <a:off x="6135624" y="4469802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5" name="Text 173"/>
          <p:cNvSpPr txBox="1"/>
          <p:nvPr/>
        </p:nvSpPr>
        <p:spPr>
          <a:xfrm>
            <a:off x="6208776" y="446980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76" name="Shape 174"/>
          <p:cNvSpPr/>
          <p:nvPr/>
        </p:nvSpPr>
        <p:spPr>
          <a:xfrm>
            <a:off x="8562958" y="4518212"/>
            <a:ext cx="242714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7" name="Text 175"/>
          <p:cNvSpPr txBox="1"/>
          <p:nvPr/>
        </p:nvSpPr>
        <p:spPr>
          <a:xfrm>
            <a:off x="9390888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77.8%</a:t>
            </a:r>
            <a:endParaRPr lang="en-US" sz="1300" dirty="0"/>
          </a:p>
        </p:txBody>
      </p:sp>
      <p:sp>
        <p:nvSpPr>
          <p:cNvPr id="178" name="Text 176"/>
          <p:cNvSpPr txBox="1"/>
          <p:nvPr/>
        </p:nvSpPr>
        <p:spPr>
          <a:xfrm>
            <a:off x="9957816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68.8%</a:t>
            </a:r>
            <a:endParaRPr lang="en-US" sz="1300" dirty="0"/>
          </a:p>
        </p:txBody>
      </p:sp>
      <p:sp>
        <p:nvSpPr>
          <p:cNvPr id="179" name="Text 177"/>
          <p:cNvSpPr txBox="1"/>
          <p:nvPr/>
        </p:nvSpPr>
        <p:spPr>
          <a:xfrm>
            <a:off x="10524744" y="446980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−9.0 pts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6208776" y="468495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181" name="Shape 179"/>
          <p:cNvSpPr/>
          <p:nvPr/>
        </p:nvSpPr>
        <p:spPr>
          <a:xfrm>
            <a:off x="8514572" y="4733365"/>
            <a:ext cx="291100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2" name="Text 180"/>
          <p:cNvSpPr txBox="1"/>
          <p:nvPr/>
        </p:nvSpPr>
        <p:spPr>
          <a:xfrm>
            <a:off x="9390888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78.5%</a:t>
            </a:r>
            <a:endParaRPr lang="en-US" sz="1300" dirty="0"/>
          </a:p>
        </p:txBody>
      </p:sp>
      <p:sp>
        <p:nvSpPr>
          <p:cNvPr id="183" name="Text 181"/>
          <p:cNvSpPr txBox="1"/>
          <p:nvPr/>
        </p:nvSpPr>
        <p:spPr>
          <a:xfrm>
            <a:off x="9957816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67.8%</a:t>
            </a:r>
            <a:endParaRPr lang="en-US" sz="1300" dirty="0"/>
          </a:p>
        </p:txBody>
      </p:sp>
      <p:sp>
        <p:nvSpPr>
          <p:cNvPr id="184" name="Text 182"/>
          <p:cNvSpPr txBox="1"/>
          <p:nvPr/>
        </p:nvSpPr>
        <p:spPr>
          <a:xfrm>
            <a:off x="10524744" y="468495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−10.8 pts</a:t>
            </a:r>
            <a:endParaRPr lang="en-US" sz="1300" dirty="0"/>
          </a:p>
        </p:txBody>
      </p:sp>
      <p:sp>
        <p:nvSpPr>
          <p:cNvPr id="185" name="Shape 183"/>
          <p:cNvSpPr/>
          <p:nvPr/>
        </p:nvSpPr>
        <p:spPr>
          <a:xfrm>
            <a:off x="6135624" y="4900108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6" name="Text 184"/>
          <p:cNvSpPr txBox="1"/>
          <p:nvPr/>
        </p:nvSpPr>
        <p:spPr>
          <a:xfrm>
            <a:off x="6208776" y="490010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187" name="Shape 185"/>
          <p:cNvSpPr/>
          <p:nvPr/>
        </p:nvSpPr>
        <p:spPr>
          <a:xfrm>
            <a:off x="8475849" y="4948518"/>
            <a:ext cx="329823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8" name="Text 186"/>
          <p:cNvSpPr txBox="1"/>
          <p:nvPr/>
        </p:nvSpPr>
        <p:spPr>
          <a:xfrm>
            <a:off x="9390888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82.4%</a:t>
            </a:r>
            <a:endParaRPr lang="en-US" sz="1300" dirty="0"/>
          </a:p>
        </p:txBody>
      </p:sp>
      <p:sp>
        <p:nvSpPr>
          <p:cNvPr id="189" name="Text 187"/>
          <p:cNvSpPr txBox="1"/>
          <p:nvPr/>
        </p:nvSpPr>
        <p:spPr>
          <a:xfrm>
            <a:off x="9957816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70.2%</a:t>
            </a:r>
            <a:endParaRPr lang="en-US" sz="1300" dirty="0"/>
          </a:p>
        </p:txBody>
      </p:sp>
      <p:sp>
        <p:nvSpPr>
          <p:cNvPr id="190" name="Text 188"/>
          <p:cNvSpPr txBox="1"/>
          <p:nvPr/>
        </p:nvSpPr>
        <p:spPr>
          <a:xfrm>
            <a:off x="10524744" y="490010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−12.2 pts</a:t>
            </a:r>
            <a:endParaRPr lang="en-US" sz="1300" dirty="0"/>
          </a:p>
        </p:txBody>
      </p:sp>
      <p:sp>
        <p:nvSpPr>
          <p:cNvPr id="191" name="Text 189"/>
          <p:cNvSpPr txBox="1"/>
          <p:nvPr/>
        </p:nvSpPr>
        <p:spPr>
          <a:xfrm>
            <a:off x="6208776" y="511526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192" name="Shape 190"/>
          <p:cNvSpPr/>
          <p:nvPr/>
        </p:nvSpPr>
        <p:spPr>
          <a:xfrm>
            <a:off x="8430963" y="5163671"/>
            <a:ext cx="374709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3" name="Text 191"/>
          <p:cNvSpPr txBox="1"/>
          <p:nvPr/>
        </p:nvSpPr>
        <p:spPr>
          <a:xfrm>
            <a:off x="9390888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83.9%</a:t>
            </a:r>
            <a:endParaRPr lang="en-US" sz="1300" dirty="0"/>
          </a:p>
        </p:txBody>
      </p:sp>
      <p:sp>
        <p:nvSpPr>
          <p:cNvPr id="194" name="Text 192"/>
          <p:cNvSpPr txBox="1"/>
          <p:nvPr/>
        </p:nvSpPr>
        <p:spPr>
          <a:xfrm>
            <a:off x="9957816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70.0%</a:t>
            </a:r>
            <a:endParaRPr lang="en-US" sz="1300" dirty="0"/>
          </a:p>
        </p:txBody>
      </p:sp>
      <p:sp>
        <p:nvSpPr>
          <p:cNvPr id="195" name="Text 193"/>
          <p:cNvSpPr txBox="1"/>
          <p:nvPr/>
        </p:nvSpPr>
        <p:spPr>
          <a:xfrm>
            <a:off x="10524744" y="511526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−13.9 pts</a:t>
            </a:r>
            <a:endParaRPr lang="en-US" sz="1300" dirty="0"/>
          </a:p>
        </p:txBody>
      </p:sp>
      <p:sp>
        <p:nvSpPr>
          <p:cNvPr id="196" name="Shape 194"/>
          <p:cNvSpPr/>
          <p:nvPr/>
        </p:nvSpPr>
        <p:spPr>
          <a:xfrm>
            <a:off x="6135624" y="5330414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97" name="Text 195"/>
          <p:cNvSpPr txBox="1"/>
          <p:nvPr/>
        </p:nvSpPr>
        <p:spPr>
          <a:xfrm>
            <a:off x="6208776" y="533041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198" name="Shape 196"/>
          <p:cNvSpPr/>
          <p:nvPr/>
        </p:nvSpPr>
        <p:spPr>
          <a:xfrm>
            <a:off x="8266176" y="5378824"/>
            <a:ext cx="539496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9" name="Text 197"/>
          <p:cNvSpPr txBox="1"/>
          <p:nvPr/>
        </p:nvSpPr>
        <p:spPr>
          <a:xfrm>
            <a:off x="9390888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78.8%</a:t>
            </a:r>
            <a:endParaRPr lang="en-US" sz="1300" dirty="0"/>
          </a:p>
        </p:txBody>
      </p:sp>
      <p:sp>
        <p:nvSpPr>
          <p:cNvPr id="200" name="Text 198"/>
          <p:cNvSpPr txBox="1"/>
          <p:nvPr/>
        </p:nvSpPr>
        <p:spPr>
          <a:xfrm>
            <a:off x="9957816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58.8%</a:t>
            </a:r>
            <a:endParaRPr lang="en-US" sz="1300" dirty="0"/>
          </a:p>
        </p:txBody>
      </p:sp>
      <p:sp>
        <p:nvSpPr>
          <p:cNvPr id="201" name="Text 199"/>
          <p:cNvSpPr txBox="1"/>
          <p:nvPr/>
        </p:nvSpPr>
        <p:spPr>
          <a:xfrm>
            <a:off x="10524744" y="533041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−20.0 pts</a:t>
            </a:r>
            <a:endParaRPr lang="en-US" sz="1300" dirty="0"/>
          </a:p>
        </p:txBody>
      </p:sp>
      <p:sp>
        <p:nvSpPr>
          <p:cNvPr id="202" name="Shape 200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3" name="Text 201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labor margin runs 2.7 pts below customer pay across the group; 18 of 33 stores are at or better than that gap. Widest: AUDI RENO (−20.0 pts), LR LV (−13.9 pts) and LR HENDERSON (−12.2 pts).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 · OPTION 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vs Customer-Pay Parts Gross Profit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16736"/>
            <a:ext cx="10872216" cy="38404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16736"/>
            <a:ext cx="54864" cy="38404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131673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CUSTOMER PAY 40.7%      INTERNAL 36.5%      GAP </a:t>
            </a:r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−4.2 pts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green = gap at or better than the group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07408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74336" y="17739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9778" y="2103120"/>
            <a:ext cx="10973" cy="3657600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4" name="Shape 12"/>
          <p:cNvSpPr/>
          <p:nvPr/>
        </p:nvSpPr>
        <p:spPr>
          <a:xfrm>
            <a:off x="3125947" y="2103120"/>
            <a:ext cx="0" cy="3657600"/>
          </a:xfrm>
          <a:prstGeom prst="line">
            <a:avLst/>
          </a:prstGeom>
          <a:noFill/>
          <a:ln w="12700">
            <a:solidFill>
              <a:srgbClr val="0B2C4A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66176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390888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957816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24744" y="17739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00186" y="2103120"/>
            <a:ext cx="10973" cy="3442447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20" name="Shape 18"/>
          <p:cNvSpPr/>
          <p:nvPr/>
        </p:nvSpPr>
        <p:spPr>
          <a:xfrm>
            <a:off x="8676355" y="2103120"/>
            <a:ext cx="0" cy="3442447"/>
          </a:xfrm>
          <a:prstGeom prst="line">
            <a:avLst/>
          </a:prstGeom>
          <a:noFill/>
          <a:ln w="12700">
            <a:solidFill>
              <a:srgbClr val="0B2C4A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58368" y="2103120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55264" y="2151529"/>
            <a:ext cx="150363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840480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40.2%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07408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45.1%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74336" y="2103120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+4.9 pts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5216" y="2318273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318273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55264" y="2366682"/>
            <a:ext cx="70154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840480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34.8%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07408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974336" y="2318273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+2.3 pts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253342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55264" y="2581835"/>
            <a:ext cx="38107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840480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42.1%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407408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43.3%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974336" y="253342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+1.2 pts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5216" y="2748579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8368" y="274857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55264" y="2796988"/>
            <a:ext cx="20517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840480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36.2%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407408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36.8%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4974336" y="274857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+0.7 pts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296373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255264" y="3012141"/>
            <a:ext cx="9144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840480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42.5%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407408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42.7%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974336" y="296373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+0.1 pts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85216" y="3178885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58368" y="317888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222182" y="3227294"/>
            <a:ext cx="33082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840480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37.2%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407408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36.1%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4974336" y="317888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−1.1 pts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58368" y="339403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179597" y="3442447"/>
            <a:ext cx="75667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3840480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4407408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974336" y="339403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−2.5 pts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85216" y="3609191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360919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178337" y="3657600"/>
            <a:ext cx="76927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3840480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4407408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34.5%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974336" y="360919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−2.5 pts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658368" y="382434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3177426" y="3872753"/>
            <a:ext cx="77838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3840480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43.4%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4407408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40.9%</a:t>
            </a:r>
            <a:endParaRPr lang="en-US" sz="1300" dirty="0"/>
          </a:p>
        </p:txBody>
      </p:sp>
      <p:sp>
        <p:nvSpPr>
          <p:cNvPr id="69" name="Text 67"/>
          <p:cNvSpPr txBox="1"/>
          <p:nvPr/>
        </p:nvSpPr>
        <p:spPr>
          <a:xfrm>
            <a:off x="4974336" y="382434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−2.5 pts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85216" y="4039496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58368" y="403949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137487" y="4087906"/>
            <a:ext cx="117777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3840480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40.3%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4407408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36.5%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4974336" y="403949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−3.8 pts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425464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3136637" y="4303059"/>
            <a:ext cx="118627" cy="11833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3840480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40.2%</a:t>
            </a:r>
            <a:endParaRPr lang="en-US" sz="1300" dirty="0"/>
          </a:p>
        </p:txBody>
      </p:sp>
      <p:sp>
        <p:nvSpPr>
          <p:cNvPr id="79" name="Text 77"/>
          <p:cNvSpPr txBox="1"/>
          <p:nvPr/>
        </p:nvSpPr>
        <p:spPr>
          <a:xfrm>
            <a:off x="4407408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36.3%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4974336" y="425464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−3.9 pts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585216" y="4469802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658368" y="446980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3096612" y="4518212"/>
            <a:ext cx="158652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3840480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41.9%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4407408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36.7%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4974336" y="446980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−5.2 pts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658368" y="468495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3081235" y="4733365"/>
            <a:ext cx="174029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3840480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4407408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31.3%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4974336" y="468495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−5.7 pts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585216" y="4900108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658368" y="490010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3077450" y="4948518"/>
            <a:ext cx="177814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3840480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42.7%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4407408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36.9%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4974336" y="490010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−5.8 pts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658368" y="511526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3070973" y="5163671"/>
            <a:ext cx="184291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3840480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4407408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33.4%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4974336" y="511526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−6.0 pts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585216" y="5330414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658368" y="533041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3060053" y="5378824"/>
            <a:ext cx="195211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3840480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36.9%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4407408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30.5%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4974336" y="533041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−6.4 pts</a:t>
            </a:r>
            <a:endParaRPr lang="en-US" sz="1300" dirty="0"/>
          </a:p>
        </p:txBody>
      </p:sp>
      <p:sp>
        <p:nvSpPr>
          <p:cNvPr id="109" name="Text 107"/>
          <p:cNvSpPr txBox="1"/>
          <p:nvPr/>
        </p:nvSpPr>
        <p:spPr>
          <a:xfrm>
            <a:off x="658368" y="5545567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3033339" y="5593976"/>
            <a:ext cx="221925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3840480" y="5545567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47.0%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4407408" y="5545567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39.7%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4974336" y="5545567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−7.2 pts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6208776" y="2103120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8575710" y="2151529"/>
            <a:ext cx="229962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9390888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33.6%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9957816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26.2%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10524744" y="2103120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−7.5 pts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6135624" y="2318273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6208776" y="2318273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21" name="Shape 119"/>
          <p:cNvSpPr/>
          <p:nvPr/>
        </p:nvSpPr>
        <p:spPr>
          <a:xfrm>
            <a:off x="8565630" y="2366682"/>
            <a:ext cx="240042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9390888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44.5%</a:t>
            </a:r>
            <a:endParaRPr lang="en-US" sz="1300" dirty="0"/>
          </a:p>
        </p:txBody>
      </p:sp>
      <p:sp>
        <p:nvSpPr>
          <p:cNvPr id="123" name="Text 121"/>
          <p:cNvSpPr txBox="1"/>
          <p:nvPr/>
        </p:nvSpPr>
        <p:spPr>
          <a:xfrm>
            <a:off x="9957816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36.6%</a:t>
            </a:r>
            <a:endParaRPr lang="en-US" sz="1300" dirty="0"/>
          </a:p>
        </p:txBody>
      </p:sp>
      <p:sp>
        <p:nvSpPr>
          <p:cNvPr id="124" name="Text 122"/>
          <p:cNvSpPr txBox="1"/>
          <p:nvPr/>
        </p:nvSpPr>
        <p:spPr>
          <a:xfrm>
            <a:off x="10524744" y="2318273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−7.8 pts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253342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8564916" y="2581835"/>
            <a:ext cx="240756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9390888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49.0%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9957816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41.2%</a:t>
            </a:r>
            <a:endParaRPr lang="en-US" sz="1300" dirty="0"/>
          </a:p>
        </p:txBody>
      </p:sp>
      <p:sp>
        <p:nvSpPr>
          <p:cNvPr id="129" name="Text 127"/>
          <p:cNvSpPr txBox="1"/>
          <p:nvPr/>
        </p:nvSpPr>
        <p:spPr>
          <a:xfrm>
            <a:off x="10524744" y="253342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−7.8 pts</a:t>
            </a:r>
            <a:endParaRPr lang="en-US" sz="1300" dirty="0"/>
          </a:p>
        </p:txBody>
      </p:sp>
      <p:sp>
        <p:nvSpPr>
          <p:cNvPr id="130" name="Shape 128"/>
          <p:cNvSpPr/>
          <p:nvPr/>
        </p:nvSpPr>
        <p:spPr>
          <a:xfrm>
            <a:off x="6135624" y="2748579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6208776" y="274857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8545748" y="2796988"/>
            <a:ext cx="259924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9390888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43.6%</a:t>
            </a: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9957816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35.1%</a:t>
            </a: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10524744" y="274857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−8.5 pts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6208776" y="296373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137" name="Shape 135"/>
          <p:cNvSpPr/>
          <p:nvPr/>
        </p:nvSpPr>
        <p:spPr>
          <a:xfrm>
            <a:off x="8541222" y="3012141"/>
            <a:ext cx="264450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9390888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43.1%</a:t>
            </a:r>
            <a:endParaRPr lang="en-US" sz="1300" dirty="0"/>
          </a:p>
        </p:txBody>
      </p:sp>
      <p:sp>
        <p:nvSpPr>
          <p:cNvPr id="139" name="Text 137"/>
          <p:cNvSpPr txBox="1"/>
          <p:nvPr/>
        </p:nvSpPr>
        <p:spPr>
          <a:xfrm>
            <a:off x="9957816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34.5%</a:t>
            </a:r>
            <a:endParaRPr lang="en-US" sz="1300" dirty="0"/>
          </a:p>
        </p:txBody>
      </p:sp>
      <p:sp>
        <p:nvSpPr>
          <p:cNvPr id="140" name="Text 138"/>
          <p:cNvSpPr txBox="1"/>
          <p:nvPr/>
        </p:nvSpPr>
        <p:spPr>
          <a:xfrm>
            <a:off x="10524744" y="296373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−8.6 pts</a:t>
            </a:r>
            <a:endParaRPr lang="en-US" sz="1300" dirty="0"/>
          </a:p>
        </p:txBody>
      </p:sp>
      <p:sp>
        <p:nvSpPr>
          <p:cNvPr id="141" name="Shape 139"/>
          <p:cNvSpPr/>
          <p:nvPr/>
        </p:nvSpPr>
        <p:spPr>
          <a:xfrm>
            <a:off x="6135624" y="3178885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6208776" y="317888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43" name="Shape 141"/>
          <p:cNvSpPr/>
          <p:nvPr/>
        </p:nvSpPr>
        <p:spPr>
          <a:xfrm>
            <a:off x="8534757" y="3227294"/>
            <a:ext cx="270915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9390888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41.7%</a:t>
            </a:r>
            <a:endParaRPr lang="en-US" sz="1300" dirty="0"/>
          </a:p>
        </p:txBody>
      </p:sp>
      <p:sp>
        <p:nvSpPr>
          <p:cNvPr id="145" name="Text 143"/>
          <p:cNvSpPr txBox="1"/>
          <p:nvPr/>
        </p:nvSpPr>
        <p:spPr>
          <a:xfrm>
            <a:off x="9957816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32.8%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524744" y="317888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−8.8 pts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6208776" y="339403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148" name="Shape 146"/>
          <p:cNvSpPr/>
          <p:nvPr/>
        </p:nvSpPr>
        <p:spPr>
          <a:xfrm>
            <a:off x="8499284" y="3442447"/>
            <a:ext cx="306388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9390888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42.5%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9957816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32.5%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524744" y="339403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−10.0 pts</a:t>
            </a:r>
            <a:endParaRPr lang="en-US" sz="1300" dirty="0"/>
          </a:p>
        </p:txBody>
      </p:sp>
      <p:sp>
        <p:nvSpPr>
          <p:cNvPr id="152" name="Shape 150"/>
          <p:cNvSpPr/>
          <p:nvPr/>
        </p:nvSpPr>
        <p:spPr>
          <a:xfrm>
            <a:off x="6135624" y="3609191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6208776" y="360919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154" name="Shape 152"/>
          <p:cNvSpPr/>
          <p:nvPr/>
        </p:nvSpPr>
        <p:spPr>
          <a:xfrm>
            <a:off x="8496238" y="3657600"/>
            <a:ext cx="309434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9390888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36.9%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9957816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26.8%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10524744" y="360919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−10.1 pts</a:t>
            </a:r>
            <a:endParaRPr lang="en-US" sz="1300" dirty="0"/>
          </a:p>
        </p:txBody>
      </p:sp>
      <p:sp>
        <p:nvSpPr>
          <p:cNvPr id="158" name="Text 156"/>
          <p:cNvSpPr txBox="1"/>
          <p:nvPr/>
        </p:nvSpPr>
        <p:spPr>
          <a:xfrm>
            <a:off x="6208776" y="382434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159" name="Shape 157"/>
          <p:cNvSpPr/>
          <p:nvPr/>
        </p:nvSpPr>
        <p:spPr>
          <a:xfrm>
            <a:off x="8493166" y="3872753"/>
            <a:ext cx="312506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0" name="Text 158"/>
          <p:cNvSpPr txBox="1"/>
          <p:nvPr/>
        </p:nvSpPr>
        <p:spPr>
          <a:xfrm>
            <a:off x="9390888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41.9%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9957816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31.7%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10524744" y="382434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−10.2 pts</a:t>
            </a:r>
            <a:endParaRPr lang="en-US" sz="1300" dirty="0"/>
          </a:p>
        </p:txBody>
      </p:sp>
      <p:sp>
        <p:nvSpPr>
          <p:cNvPr id="163" name="Shape 161"/>
          <p:cNvSpPr/>
          <p:nvPr/>
        </p:nvSpPr>
        <p:spPr>
          <a:xfrm>
            <a:off x="6135624" y="4039496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6208776" y="403949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165" name="Shape 163"/>
          <p:cNvSpPr/>
          <p:nvPr/>
        </p:nvSpPr>
        <p:spPr>
          <a:xfrm>
            <a:off x="8491434" y="4087906"/>
            <a:ext cx="314238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6" name="Text 164"/>
          <p:cNvSpPr txBox="1"/>
          <p:nvPr/>
        </p:nvSpPr>
        <p:spPr>
          <a:xfrm>
            <a:off x="9390888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41.0%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9957816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30.8%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10524744" y="403949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−10.2 pts</a:t>
            </a:r>
            <a:endParaRPr lang="en-US" sz="1300" dirty="0"/>
          </a:p>
        </p:txBody>
      </p:sp>
      <p:sp>
        <p:nvSpPr>
          <p:cNvPr id="169" name="Text 167"/>
          <p:cNvSpPr txBox="1"/>
          <p:nvPr/>
        </p:nvSpPr>
        <p:spPr>
          <a:xfrm>
            <a:off x="6208776" y="425464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170" name="Shape 168"/>
          <p:cNvSpPr/>
          <p:nvPr/>
        </p:nvSpPr>
        <p:spPr>
          <a:xfrm>
            <a:off x="8472728" y="4303059"/>
            <a:ext cx="332944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9390888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44.9%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9957816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34.0%</a:t>
            </a:r>
            <a:endParaRPr lang="en-US" sz="1300" dirty="0"/>
          </a:p>
        </p:txBody>
      </p:sp>
      <p:sp>
        <p:nvSpPr>
          <p:cNvPr id="173" name="Text 171"/>
          <p:cNvSpPr txBox="1"/>
          <p:nvPr/>
        </p:nvSpPr>
        <p:spPr>
          <a:xfrm>
            <a:off x="10524744" y="425464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−10.8 pts</a:t>
            </a:r>
            <a:endParaRPr lang="en-US" sz="1300" dirty="0"/>
          </a:p>
        </p:txBody>
      </p:sp>
      <p:sp>
        <p:nvSpPr>
          <p:cNvPr id="174" name="Shape 172"/>
          <p:cNvSpPr/>
          <p:nvPr/>
        </p:nvSpPr>
        <p:spPr>
          <a:xfrm>
            <a:off x="6135624" y="4469802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5" name="Text 173"/>
          <p:cNvSpPr txBox="1"/>
          <p:nvPr/>
        </p:nvSpPr>
        <p:spPr>
          <a:xfrm>
            <a:off x="6208776" y="446980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76" name="Shape 174"/>
          <p:cNvSpPr/>
          <p:nvPr/>
        </p:nvSpPr>
        <p:spPr>
          <a:xfrm>
            <a:off x="8461553" y="4518212"/>
            <a:ext cx="344119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7" name="Text 175"/>
          <p:cNvSpPr txBox="1"/>
          <p:nvPr/>
        </p:nvSpPr>
        <p:spPr>
          <a:xfrm>
            <a:off x="9390888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35.6%</a:t>
            </a:r>
            <a:endParaRPr lang="en-US" sz="1300" dirty="0"/>
          </a:p>
        </p:txBody>
      </p:sp>
      <p:sp>
        <p:nvSpPr>
          <p:cNvPr id="178" name="Text 176"/>
          <p:cNvSpPr txBox="1"/>
          <p:nvPr/>
        </p:nvSpPr>
        <p:spPr>
          <a:xfrm>
            <a:off x="9957816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24.4%</a:t>
            </a:r>
            <a:endParaRPr lang="en-US" sz="1300" dirty="0"/>
          </a:p>
        </p:txBody>
      </p:sp>
      <p:sp>
        <p:nvSpPr>
          <p:cNvPr id="179" name="Text 177"/>
          <p:cNvSpPr txBox="1"/>
          <p:nvPr/>
        </p:nvSpPr>
        <p:spPr>
          <a:xfrm>
            <a:off x="10524744" y="446980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−11.2 pts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6208776" y="468495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81" name="Shape 179"/>
          <p:cNvSpPr/>
          <p:nvPr/>
        </p:nvSpPr>
        <p:spPr>
          <a:xfrm>
            <a:off x="8358802" y="4733365"/>
            <a:ext cx="446870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2" name="Text 180"/>
          <p:cNvSpPr txBox="1"/>
          <p:nvPr/>
        </p:nvSpPr>
        <p:spPr>
          <a:xfrm>
            <a:off x="9390888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44.6%</a:t>
            </a:r>
            <a:endParaRPr lang="en-US" sz="1300" dirty="0"/>
          </a:p>
        </p:txBody>
      </p:sp>
      <p:sp>
        <p:nvSpPr>
          <p:cNvPr id="183" name="Text 181"/>
          <p:cNvSpPr txBox="1"/>
          <p:nvPr/>
        </p:nvSpPr>
        <p:spPr>
          <a:xfrm>
            <a:off x="9957816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30.1%</a:t>
            </a:r>
            <a:endParaRPr lang="en-US" sz="1300" dirty="0"/>
          </a:p>
        </p:txBody>
      </p:sp>
      <p:sp>
        <p:nvSpPr>
          <p:cNvPr id="184" name="Text 182"/>
          <p:cNvSpPr txBox="1"/>
          <p:nvPr/>
        </p:nvSpPr>
        <p:spPr>
          <a:xfrm>
            <a:off x="10524744" y="468495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−14.5 pts</a:t>
            </a:r>
            <a:endParaRPr lang="en-US" sz="1300" dirty="0"/>
          </a:p>
        </p:txBody>
      </p:sp>
      <p:sp>
        <p:nvSpPr>
          <p:cNvPr id="185" name="Shape 183"/>
          <p:cNvSpPr/>
          <p:nvPr/>
        </p:nvSpPr>
        <p:spPr>
          <a:xfrm>
            <a:off x="6135624" y="4900108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6" name="Text 184"/>
          <p:cNvSpPr txBox="1"/>
          <p:nvPr/>
        </p:nvSpPr>
        <p:spPr>
          <a:xfrm>
            <a:off x="6208776" y="490010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187" name="Shape 185"/>
          <p:cNvSpPr/>
          <p:nvPr/>
        </p:nvSpPr>
        <p:spPr>
          <a:xfrm>
            <a:off x="8352988" y="4948518"/>
            <a:ext cx="452684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8" name="Text 186"/>
          <p:cNvSpPr txBox="1"/>
          <p:nvPr/>
        </p:nvSpPr>
        <p:spPr>
          <a:xfrm>
            <a:off x="9390888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43.4%</a:t>
            </a:r>
            <a:endParaRPr lang="en-US" sz="1300" dirty="0"/>
          </a:p>
        </p:txBody>
      </p:sp>
      <p:sp>
        <p:nvSpPr>
          <p:cNvPr id="189" name="Text 187"/>
          <p:cNvSpPr txBox="1"/>
          <p:nvPr/>
        </p:nvSpPr>
        <p:spPr>
          <a:xfrm>
            <a:off x="9957816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28.7%</a:t>
            </a:r>
            <a:endParaRPr lang="en-US" sz="1300" dirty="0"/>
          </a:p>
        </p:txBody>
      </p:sp>
      <p:sp>
        <p:nvSpPr>
          <p:cNvPr id="190" name="Text 188"/>
          <p:cNvSpPr txBox="1"/>
          <p:nvPr/>
        </p:nvSpPr>
        <p:spPr>
          <a:xfrm>
            <a:off x="10524744" y="490010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−14.7 pts</a:t>
            </a:r>
            <a:endParaRPr lang="en-US" sz="1300" dirty="0"/>
          </a:p>
        </p:txBody>
      </p:sp>
      <p:sp>
        <p:nvSpPr>
          <p:cNvPr id="191" name="Text 189"/>
          <p:cNvSpPr txBox="1"/>
          <p:nvPr/>
        </p:nvSpPr>
        <p:spPr>
          <a:xfrm>
            <a:off x="6208776" y="511526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92" name="Shape 190"/>
          <p:cNvSpPr/>
          <p:nvPr/>
        </p:nvSpPr>
        <p:spPr>
          <a:xfrm>
            <a:off x="8331777" y="5163671"/>
            <a:ext cx="473895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3" name="Text 191"/>
          <p:cNvSpPr txBox="1"/>
          <p:nvPr/>
        </p:nvSpPr>
        <p:spPr>
          <a:xfrm>
            <a:off x="9390888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45.1%</a:t>
            </a:r>
            <a:endParaRPr lang="en-US" sz="1300" dirty="0"/>
          </a:p>
        </p:txBody>
      </p:sp>
      <p:sp>
        <p:nvSpPr>
          <p:cNvPr id="194" name="Text 192"/>
          <p:cNvSpPr txBox="1"/>
          <p:nvPr/>
        </p:nvSpPr>
        <p:spPr>
          <a:xfrm>
            <a:off x="9957816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29.7%</a:t>
            </a:r>
            <a:endParaRPr lang="en-US" sz="1300" dirty="0"/>
          </a:p>
        </p:txBody>
      </p:sp>
      <p:sp>
        <p:nvSpPr>
          <p:cNvPr id="195" name="Text 193"/>
          <p:cNvSpPr txBox="1"/>
          <p:nvPr/>
        </p:nvSpPr>
        <p:spPr>
          <a:xfrm>
            <a:off x="10524744" y="511526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−15.4 pts</a:t>
            </a:r>
            <a:endParaRPr lang="en-US" sz="1300" dirty="0"/>
          </a:p>
        </p:txBody>
      </p:sp>
      <p:sp>
        <p:nvSpPr>
          <p:cNvPr id="196" name="Shape 194"/>
          <p:cNvSpPr/>
          <p:nvPr/>
        </p:nvSpPr>
        <p:spPr>
          <a:xfrm>
            <a:off x="6135624" y="5330414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97" name="Text 195"/>
          <p:cNvSpPr txBox="1"/>
          <p:nvPr/>
        </p:nvSpPr>
        <p:spPr>
          <a:xfrm>
            <a:off x="6208776" y="533041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198" name="Shape 196"/>
          <p:cNvSpPr/>
          <p:nvPr/>
        </p:nvSpPr>
        <p:spPr>
          <a:xfrm>
            <a:off x="8266176" y="5378824"/>
            <a:ext cx="539496" cy="11833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99" name="Text 197"/>
          <p:cNvSpPr txBox="1"/>
          <p:nvPr/>
        </p:nvSpPr>
        <p:spPr>
          <a:xfrm>
            <a:off x="9390888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42.8%</a:t>
            </a:r>
            <a:endParaRPr lang="en-US" sz="1300" dirty="0"/>
          </a:p>
        </p:txBody>
      </p:sp>
      <p:sp>
        <p:nvSpPr>
          <p:cNvPr id="200" name="Text 198"/>
          <p:cNvSpPr txBox="1"/>
          <p:nvPr/>
        </p:nvSpPr>
        <p:spPr>
          <a:xfrm>
            <a:off x="9957816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25.2%</a:t>
            </a:r>
            <a:endParaRPr lang="en-US" sz="1300" dirty="0"/>
          </a:p>
        </p:txBody>
      </p:sp>
      <p:sp>
        <p:nvSpPr>
          <p:cNvPr id="201" name="Text 199"/>
          <p:cNvSpPr txBox="1"/>
          <p:nvPr/>
        </p:nvSpPr>
        <p:spPr>
          <a:xfrm>
            <a:off x="10524744" y="533041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−17.6 pts</a:t>
            </a:r>
            <a:endParaRPr lang="en-US" sz="1300" dirty="0"/>
          </a:p>
        </p:txBody>
      </p:sp>
      <p:sp>
        <p:nvSpPr>
          <p:cNvPr id="202" name="Shape 200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3" name="Text 201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parts margin runs 4.2 pts below customer pay across the group; 11 of 33 stores are at or better than that gap. Widest: LR LV (−17.6 pts), HONDA FLAGSTAFF (−15.4 pts) and AUDI RENO (−14.7 pts).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 · OPTION 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vs Customer-Pay Labor Gross Profit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16736"/>
            <a:ext cx="10872216" cy="38404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16736"/>
            <a:ext cx="54864" cy="38404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131673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CUSTOMER PAY 80.8%      INTERNAL 78.1%      GAP </a:t>
            </a:r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−2.7 pts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navy dot = CP, green/red dot = internal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07408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74336" y="17739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390888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957816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24744" y="17739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103120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02139" y="2196980"/>
            <a:ext cx="148555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Shape 17"/>
          <p:cNvSpPr/>
          <p:nvPr/>
        </p:nvSpPr>
        <p:spPr>
          <a:xfrm>
            <a:off x="3333559" y="2142116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0" name="Shape 18"/>
          <p:cNvSpPr/>
          <p:nvPr/>
        </p:nvSpPr>
        <p:spPr>
          <a:xfrm>
            <a:off x="3482114" y="2142116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840480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77.3%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07408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82.1%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74336" y="2103120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+4.8 pts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5216" y="2318273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" y="2318273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108087" y="2412133"/>
            <a:ext cx="148043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7" name="Shape 25"/>
          <p:cNvSpPr/>
          <p:nvPr/>
        </p:nvSpPr>
        <p:spPr>
          <a:xfrm>
            <a:off x="3039507" y="2357269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7550" y="2357269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840480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67.7%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07408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72.5%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974336" y="2318273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+4.8 pts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253342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469490" y="2627286"/>
            <a:ext cx="119074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4" name="Shape 32"/>
          <p:cNvSpPr/>
          <p:nvPr/>
        </p:nvSpPr>
        <p:spPr>
          <a:xfrm>
            <a:off x="3400910" y="2572422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35" name="Shape 33"/>
          <p:cNvSpPr/>
          <p:nvPr/>
        </p:nvSpPr>
        <p:spPr>
          <a:xfrm>
            <a:off x="3519983" y="2572422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840480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79.4%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407408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83.3%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974336" y="253342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5216" y="2748579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8368" y="274857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246206" y="2842439"/>
            <a:ext cx="110169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2" name="Shape 40"/>
          <p:cNvSpPr/>
          <p:nvPr/>
        </p:nvSpPr>
        <p:spPr>
          <a:xfrm>
            <a:off x="3177626" y="2787575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43" name="Shape 41"/>
          <p:cNvSpPr/>
          <p:nvPr/>
        </p:nvSpPr>
        <p:spPr>
          <a:xfrm>
            <a:off x="3287794" y="2787575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840480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72.2%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407408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75.8%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974336" y="274857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+3.6 pts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296373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445098" y="3057592"/>
            <a:ext cx="88343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9" name="Shape 47"/>
          <p:cNvSpPr/>
          <p:nvPr/>
        </p:nvSpPr>
        <p:spPr>
          <a:xfrm>
            <a:off x="3376518" y="3002728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50" name="Shape 48"/>
          <p:cNvSpPr/>
          <p:nvPr/>
        </p:nvSpPr>
        <p:spPr>
          <a:xfrm>
            <a:off x="3464861" y="3002728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840480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78.7%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407408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81.5%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4974336" y="296373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+2.9 pts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85216" y="3178885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58368" y="317888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575605" y="3272745"/>
            <a:ext cx="75044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7" name="Shape 55"/>
          <p:cNvSpPr/>
          <p:nvPr/>
        </p:nvSpPr>
        <p:spPr>
          <a:xfrm>
            <a:off x="3507025" y="3217881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58" name="Shape 56"/>
          <p:cNvSpPr/>
          <p:nvPr/>
        </p:nvSpPr>
        <p:spPr>
          <a:xfrm>
            <a:off x="3582070" y="3217881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840480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82.9%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4407408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85.3%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4974336" y="317888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+2.4 pts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339403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3470065" y="3487898"/>
            <a:ext cx="74235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64" name="Shape 62"/>
          <p:cNvSpPr/>
          <p:nvPr/>
        </p:nvSpPr>
        <p:spPr>
          <a:xfrm>
            <a:off x="3401485" y="3433034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65" name="Shape 63"/>
          <p:cNvSpPr/>
          <p:nvPr/>
        </p:nvSpPr>
        <p:spPr>
          <a:xfrm>
            <a:off x="3475720" y="3433034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3840480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4407408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81.9%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4974336" y="339403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+2.4 pts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85216" y="3609191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658368" y="360919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3467609" y="3703051"/>
            <a:ext cx="26393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72" name="Shape 70"/>
          <p:cNvSpPr/>
          <p:nvPr/>
        </p:nvSpPr>
        <p:spPr>
          <a:xfrm>
            <a:off x="3399029" y="3648187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73" name="Shape 71"/>
          <p:cNvSpPr/>
          <p:nvPr/>
        </p:nvSpPr>
        <p:spPr>
          <a:xfrm>
            <a:off x="3425422" y="3648187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3840480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79.4%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4407408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80.2%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4974336" y="360919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+0.9 pts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382434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3478988" y="3918204"/>
            <a:ext cx="9144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79" name="Shape 77"/>
          <p:cNvSpPr/>
          <p:nvPr/>
        </p:nvSpPr>
        <p:spPr>
          <a:xfrm>
            <a:off x="3412024" y="3863340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80" name="Shape 78"/>
          <p:cNvSpPr/>
          <p:nvPr/>
        </p:nvSpPr>
        <p:spPr>
          <a:xfrm>
            <a:off x="3410408" y="3863340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3840480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79.8%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4407408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79.8%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4974336" y="382434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−0.1 pts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585216" y="4039496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658368" y="403949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3668137" y="4133357"/>
            <a:ext cx="9144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7" name="Shape 85"/>
          <p:cNvSpPr/>
          <p:nvPr/>
        </p:nvSpPr>
        <p:spPr>
          <a:xfrm>
            <a:off x="3605342" y="4078493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88" name="Shape 86"/>
          <p:cNvSpPr/>
          <p:nvPr/>
        </p:nvSpPr>
        <p:spPr>
          <a:xfrm>
            <a:off x="3599557" y="4078493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3840480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86.1%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4407408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85.9%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4974336" y="403949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−0.2 pts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425464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3573014" y="4348510"/>
            <a:ext cx="10631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4" name="Shape 92"/>
          <p:cNvSpPr/>
          <p:nvPr/>
        </p:nvSpPr>
        <p:spPr>
          <a:xfrm>
            <a:off x="3515065" y="4293646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95" name="Shape 93"/>
          <p:cNvSpPr/>
          <p:nvPr/>
        </p:nvSpPr>
        <p:spPr>
          <a:xfrm>
            <a:off x="3504434" y="4293646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3840480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83.2%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4407408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82.8%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4974336" y="425464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−0.3 pts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585216" y="4469802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658368" y="446980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3293888" y="4563663"/>
            <a:ext cx="11833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237141" y="4508799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225308" y="4508799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3840480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74.1%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4407408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73.8%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4974336" y="446980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−0.4 pts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658368" y="468495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3429695" y="4778816"/>
            <a:ext cx="38117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9" name="Shape 107"/>
          <p:cNvSpPr/>
          <p:nvPr/>
        </p:nvSpPr>
        <p:spPr>
          <a:xfrm>
            <a:off x="3399231" y="4723952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3361115" y="4723952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3840480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79.4%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4407408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78.2%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4974336" y="468495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−1.2 pts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585216" y="4900108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658368" y="490010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3400294" y="4993969"/>
            <a:ext cx="64817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7" name="Shape 115"/>
          <p:cNvSpPr/>
          <p:nvPr/>
        </p:nvSpPr>
        <p:spPr>
          <a:xfrm>
            <a:off x="3396530" y="4939105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3331714" y="4939105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3840480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79.3%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4407408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77.2%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4974336" y="490010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−2.1 pts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58368" y="511526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3373993" y="5209122"/>
            <a:ext cx="65007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4" name="Shape 122"/>
          <p:cNvSpPr/>
          <p:nvPr/>
        </p:nvSpPr>
        <p:spPr>
          <a:xfrm>
            <a:off x="3370420" y="5154258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25" name="Shape 123"/>
          <p:cNvSpPr/>
          <p:nvPr/>
        </p:nvSpPr>
        <p:spPr>
          <a:xfrm>
            <a:off x="3305413" y="5154258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3840480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78.5%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4407408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76.4%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4974336" y="511526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−2.1 pts</a:t>
            </a:r>
            <a:endParaRPr lang="en-US" sz="1300" dirty="0"/>
          </a:p>
        </p:txBody>
      </p:sp>
      <p:sp>
        <p:nvSpPr>
          <p:cNvPr id="129" name="Shape 127"/>
          <p:cNvSpPr/>
          <p:nvPr/>
        </p:nvSpPr>
        <p:spPr>
          <a:xfrm>
            <a:off x="585216" y="5330414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658368" y="533041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31" name="Shape 129"/>
          <p:cNvSpPr/>
          <p:nvPr/>
        </p:nvSpPr>
        <p:spPr>
          <a:xfrm>
            <a:off x="3557028" y="5424275"/>
            <a:ext cx="65731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2" name="Shape 130"/>
          <p:cNvSpPr/>
          <p:nvPr/>
        </p:nvSpPr>
        <p:spPr>
          <a:xfrm>
            <a:off x="3554179" y="5369411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33" name="Shape 131"/>
          <p:cNvSpPr/>
          <p:nvPr/>
        </p:nvSpPr>
        <p:spPr>
          <a:xfrm>
            <a:off x="3488448" y="5369411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3840480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84.4%</a:t>
            </a: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4407408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82.3%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4974336" y="533041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−2.1 pts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658368" y="5545567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38" name="Shape 136"/>
          <p:cNvSpPr/>
          <p:nvPr/>
        </p:nvSpPr>
        <p:spPr>
          <a:xfrm>
            <a:off x="3229189" y="5639428"/>
            <a:ext cx="67698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9" name="Shape 137"/>
          <p:cNvSpPr/>
          <p:nvPr/>
        </p:nvSpPr>
        <p:spPr>
          <a:xfrm>
            <a:off x="3228307" y="5584564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40" name="Shape 138"/>
          <p:cNvSpPr/>
          <p:nvPr/>
        </p:nvSpPr>
        <p:spPr>
          <a:xfrm>
            <a:off x="3160609" y="5584564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3840480" y="5545567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73.9%</a:t>
            </a:r>
            <a:endParaRPr lang="en-US" sz="1300" dirty="0"/>
          </a:p>
        </p:txBody>
      </p:sp>
      <p:sp>
        <p:nvSpPr>
          <p:cNvPr id="142" name="Text 140"/>
          <p:cNvSpPr txBox="1"/>
          <p:nvPr/>
        </p:nvSpPr>
        <p:spPr>
          <a:xfrm>
            <a:off x="4407408" y="5545567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71.7%</a:t>
            </a:r>
            <a:endParaRPr lang="en-US" sz="1300" dirty="0"/>
          </a:p>
        </p:txBody>
      </p:sp>
      <p:sp>
        <p:nvSpPr>
          <p:cNvPr id="143" name="Text 141"/>
          <p:cNvSpPr txBox="1"/>
          <p:nvPr/>
        </p:nvSpPr>
        <p:spPr>
          <a:xfrm>
            <a:off x="4974336" y="5545567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−2.2 pts</a:t>
            </a: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6208776" y="2103120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145" name="Shape 143"/>
          <p:cNvSpPr/>
          <p:nvPr/>
        </p:nvSpPr>
        <p:spPr>
          <a:xfrm>
            <a:off x="8912269" y="2196980"/>
            <a:ext cx="80862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6" name="Shape 144"/>
          <p:cNvSpPr/>
          <p:nvPr/>
        </p:nvSpPr>
        <p:spPr>
          <a:xfrm>
            <a:off x="8924551" y="2142116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47" name="Shape 145"/>
          <p:cNvSpPr/>
          <p:nvPr/>
        </p:nvSpPr>
        <p:spPr>
          <a:xfrm>
            <a:off x="8843689" y="2142116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9390888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78.6%</a:t>
            </a:r>
            <a:endParaRPr lang="en-US" sz="1300" dirty="0"/>
          </a:p>
        </p:txBody>
      </p:sp>
      <p:sp>
        <p:nvSpPr>
          <p:cNvPr id="149" name="Text 147"/>
          <p:cNvSpPr txBox="1"/>
          <p:nvPr/>
        </p:nvSpPr>
        <p:spPr>
          <a:xfrm>
            <a:off x="9957816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76.0%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10524744" y="2103120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−2.6 pts</a:t>
            </a:r>
            <a:endParaRPr lang="en-US" sz="1300" dirty="0"/>
          </a:p>
        </p:txBody>
      </p:sp>
      <p:sp>
        <p:nvSpPr>
          <p:cNvPr id="151" name="Shape 149"/>
          <p:cNvSpPr/>
          <p:nvPr/>
        </p:nvSpPr>
        <p:spPr>
          <a:xfrm>
            <a:off x="6135624" y="2318273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2" name="Text 150"/>
          <p:cNvSpPr txBox="1"/>
          <p:nvPr/>
        </p:nvSpPr>
        <p:spPr>
          <a:xfrm>
            <a:off x="6208776" y="2318273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153" name="Shape 151"/>
          <p:cNvSpPr/>
          <p:nvPr/>
        </p:nvSpPr>
        <p:spPr>
          <a:xfrm>
            <a:off x="9104456" y="2412133"/>
            <a:ext cx="85364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4" name="Shape 152"/>
          <p:cNvSpPr/>
          <p:nvPr/>
        </p:nvSpPr>
        <p:spPr>
          <a:xfrm>
            <a:off x="9121240" y="2357269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55" name="Shape 153"/>
          <p:cNvSpPr/>
          <p:nvPr/>
        </p:nvSpPr>
        <p:spPr>
          <a:xfrm>
            <a:off x="9035876" y="2357269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56" name="Text 154"/>
          <p:cNvSpPr txBox="1"/>
          <p:nvPr/>
        </p:nvSpPr>
        <p:spPr>
          <a:xfrm>
            <a:off x="9390888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85.0%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9957816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82.2%</a:t>
            </a:r>
            <a:endParaRPr lang="en-US" sz="1300" dirty="0"/>
          </a:p>
        </p:txBody>
      </p:sp>
      <p:sp>
        <p:nvSpPr>
          <p:cNvPr id="158" name="Text 156"/>
          <p:cNvSpPr txBox="1"/>
          <p:nvPr/>
        </p:nvSpPr>
        <p:spPr>
          <a:xfrm>
            <a:off x="10524744" y="2318273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−2.8 pts</a:t>
            </a:r>
            <a:endParaRPr lang="en-US" sz="1300" dirty="0"/>
          </a:p>
        </p:txBody>
      </p:sp>
      <p:sp>
        <p:nvSpPr>
          <p:cNvPr id="159" name="Text 157"/>
          <p:cNvSpPr txBox="1"/>
          <p:nvPr/>
        </p:nvSpPr>
        <p:spPr>
          <a:xfrm>
            <a:off x="6208776" y="253342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60" name="Shape 158"/>
          <p:cNvSpPr/>
          <p:nvPr/>
        </p:nvSpPr>
        <p:spPr>
          <a:xfrm>
            <a:off x="8801530" y="2627286"/>
            <a:ext cx="101285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61" name="Shape 159"/>
          <p:cNvSpPr/>
          <p:nvPr/>
        </p:nvSpPr>
        <p:spPr>
          <a:xfrm>
            <a:off x="8834235" y="2572422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732950" y="2572422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63" name="Text 161"/>
          <p:cNvSpPr txBox="1"/>
          <p:nvPr/>
        </p:nvSpPr>
        <p:spPr>
          <a:xfrm>
            <a:off x="9390888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75.7%</a:t>
            </a:r>
            <a:endParaRPr lang="en-US" sz="1300" dirty="0"/>
          </a:p>
        </p:txBody>
      </p:sp>
      <p:sp>
        <p:nvSpPr>
          <p:cNvPr id="164" name="Text 162"/>
          <p:cNvSpPr txBox="1"/>
          <p:nvPr/>
        </p:nvSpPr>
        <p:spPr>
          <a:xfrm>
            <a:off x="9957816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72.4%</a:t>
            </a:r>
            <a:endParaRPr lang="en-US" sz="1300" dirty="0"/>
          </a:p>
        </p:txBody>
      </p:sp>
      <p:sp>
        <p:nvSpPr>
          <p:cNvPr id="165" name="Text 163"/>
          <p:cNvSpPr txBox="1"/>
          <p:nvPr/>
        </p:nvSpPr>
        <p:spPr>
          <a:xfrm>
            <a:off x="10524744" y="253342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−3.3 pts</a:t>
            </a:r>
            <a:endParaRPr lang="en-US" sz="1300" dirty="0"/>
          </a:p>
        </p:txBody>
      </p:sp>
      <p:sp>
        <p:nvSpPr>
          <p:cNvPr id="166" name="Shape 164"/>
          <p:cNvSpPr/>
          <p:nvPr/>
        </p:nvSpPr>
        <p:spPr>
          <a:xfrm>
            <a:off x="6135624" y="2748579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67" name="Text 165"/>
          <p:cNvSpPr txBox="1"/>
          <p:nvPr/>
        </p:nvSpPr>
        <p:spPr>
          <a:xfrm>
            <a:off x="6208776" y="274857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68" name="Shape 166"/>
          <p:cNvSpPr/>
          <p:nvPr/>
        </p:nvSpPr>
        <p:spPr>
          <a:xfrm>
            <a:off x="9060644" y="2842439"/>
            <a:ext cx="107688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69" name="Shape 167"/>
          <p:cNvSpPr/>
          <p:nvPr/>
        </p:nvSpPr>
        <p:spPr>
          <a:xfrm>
            <a:off x="9099752" y="2787575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992064" y="2787575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9390888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84.3%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9957816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80.8%</a:t>
            </a:r>
            <a:endParaRPr lang="en-US" sz="1300" dirty="0"/>
          </a:p>
        </p:txBody>
      </p:sp>
      <p:sp>
        <p:nvSpPr>
          <p:cNvPr id="173" name="Text 171"/>
          <p:cNvSpPr txBox="1"/>
          <p:nvPr/>
        </p:nvSpPr>
        <p:spPr>
          <a:xfrm>
            <a:off x="10524744" y="274857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−3.5 pts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6208776" y="296373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75" name="Shape 173"/>
          <p:cNvSpPr/>
          <p:nvPr/>
        </p:nvSpPr>
        <p:spPr>
          <a:xfrm>
            <a:off x="9185604" y="3057592"/>
            <a:ext cx="116115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6" name="Shape 174"/>
          <p:cNvSpPr/>
          <p:nvPr/>
        </p:nvSpPr>
        <p:spPr>
          <a:xfrm>
            <a:off x="9233139" y="3002728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77" name="Shape 175"/>
          <p:cNvSpPr/>
          <p:nvPr/>
        </p:nvSpPr>
        <p:spPr>
          <a:xfrm>
            <a:off x="9117024" y="3002728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78" name="Text 176"/>
          <p:cNvSpPr txBox="1"/>
          <p:nvPr/>
        </p:nvSpPr>
        <p:spPr>
          <a:xfrm>
            <a:off x="9390888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88.6%</a:t>
            </a:r>
            <a:endParaRPr lang="en-US" sz="1300" dirty="0"/>
          </a:p>
        </p:txBody>
      </p:sp>
      <p:sp>
        <p:nvSpPr>
          <p:cNvPr id="179" name="Text 177"/>
          <p:cNvSpPr txBox="1"/>
          <p:nvPr/>
        </p:nvSpPr>
        <p:spPr>
          <a:xfrm>
            <a:off x="9957816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84.8%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10524744" y="296373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−3.8 pts</a:t>
            </a:r>
            <a:endParaRPr lang="en-US" sz="1300" dirty="0"/>
          </a:p>
        </p:txBody>
      </p:sp>
      <p:sp>
        <p:nvSpPr>
          <p:cNvPr id="181" name="Shape 179"/>
          <p:cNvSpPr/>
          <p:nvPr/>
        </p:nvSpPr>
        <p:spPr>
          <a:xfrm>
            <a:off x="6135624" y="3178885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2" name="Text 180"/>
          <p:cNvSpPr txBox="1"/>
          <p:nvPr/>
        </p:nvSpPr>
        <p:spPr>
          <a:xfrm>
            <a:off x="6208776" y="317888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83" name="Shape 181"/>
          <p:cNvSpPr/>
          <p:nvPr/>
        </p:nvSpPr>
        <p:spPr>
          <a:xfrm>
            <a:off x="8903365" y="3272745"/>
            <a:ext cx="118492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4" name="Shape 182"/>
          <p:cNvSpPr/>
          <p:nvPr/>
        </p:nvSpPr>
        <p:spPr>
          <a:xfrm>
            <a:off x="8953277" y="3217881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85" name="Shape 183"/>
          <p:cNvSpPr/>
          <p:nvPr/>
        </p:nvSpPr>
        <p:spPr>
          <a:xfrm>
            <a:off x="8834785" y="3217881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86" name="Text 184"/>
          <p:cNvSpPr txBox="1"/>
          <p:nvPr/>
        </p:nvSpPr>
        <p:spPr>
          <a:xfrm>
            <a:off x="9390888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79.5%</a:t>
            </a:r>
            <a:endParaRPr lang="en-US" sz="1300" dirty="0"/>
          </a:p>
        </p:txBody>
      </p:sp>
      <p:sp>
        <p:nvSpPr>
          <p:cNvPr id="187" name="Text 185"/>
          <p:cNvSpPr txBox="1"/>
          <p:nvPr/>
        </p:nvSpPr>
        <p:spPr>
          <a:xfrm>
            <a:off x="9957816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75.7%</a:t>
            </a:r>
            <a:endParaRPr lang="en-US" sz="1300" dirty="0"/>
          </a:p>
        </p:txBody>
      </p:sp>
      <p:sp>
        <p:nvSpPr>
          <p:cNvPr id="188" name="Text 186"/>
          <p:cNvSpPr txBox="1"/>
          <p:nvPr/>
        </p:nvSpPr>
        <p:spPr>
          <a:xfrm>
            <a:off x="10524744" y="317888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−3.8 pts</a:t>
            </a:r>
            <a:endParaRPr lang="en-US" sz="1300" dirty="0"/>
          </a:p>
        </p:txBody>
      </p:sp>
      <p:sp>
        <p:nvSpPr>
          <p:cNvPr id="189" name="Text 187"/>
          <p:cNvSpPr txBox="1"/>
          <p:nvPr/>
        </p:nvSpPr>
        <p:spPr>
          <a:xfrm>
            <a:off x="6208776" y="339403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190" name="Shape 188"/>
          <p:cNvSpPr/>
          <p:nvPr/>
        </p:nvSpPr>
        <p:spPr>
          <a:xfrm>
            <a:off x="9029152" y="3487898"/>
            <a:ext cx="144120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1" name="Shape 189"/>
          <p:cNvSpPr/>
          <p:nvPr/>
        </p:nvSpPr>
        <p:spPr>
          <a:xfrm>
            <a:off x="9104691" y="3433034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92" name="Shape 190"/>
          <p:cNvSpPr/>
          <p:nvPr/>
        </p:nvSpPr>
        <p:spPr>
          <a:xfrm>
            <a:off x="8960572" y="3433034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93" name="Text 191"/>
          <p:cNvSpPr txBox="1"/>
          <p:nvPr/>
        </p:nvSpPr>
        <p:spPr>
          <a:xfrm>
            <a:off x="9390888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84.4%</a:t>
            </a:r>
            <a:endParaRPr lang="en-US" sz="1300" dirty="0"/>
          </a:p>
        </p:txBody>
      </p:sp>
      <p:sp>
        <p:nvSpPr>
          <p:cNvPr id="194" name="Text 192"/>
          <p:cNvSpPr txBox="1"/>
          <p:nvPr/>
        </p:nvSpPr>
        <p:spPr>
          <a:xfrm>
            <a:off x="9957816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79.7%</a:t>
            </a:r>
            <a:endParaRPr lang="en-US" sz="1300" dirty="0"/>
          </a:p>
        </p:txBody>
      </p:sp>
      <p:sp>
        <p:nvSpPr>
          <p:cNvPr id="195" name="Text 193"/>
          <p:cNvSpPr txBox="1"/>
          <p:nvPr/>
        </p:nvSpPr>
        <p:spPr>
          <a:xfrm>
            <a:off x="10524744" y="339403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−4.7 pts</a:t>
            </a:r>
            <a:endParaRPr lang="en-US" sz="1300" dirty="0"/>
          </a:p>
        </p:txBody>
      </p:sp>
      <p:sp>
        <p:nvSpPr>
          <p:cNvPr id="196" name="Shape 194"/>
          <p:cNvSpPr/>
          <p:nvPr/>
        </p:nvSpPr>
        <p:spPr>
          <a:xfrm>
            <a:off x="6135624" y="3609191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97" name="Text 195"/>
          <p:cNvSpPr txBox="1"/>
          <p:nvPr/>
        </p:nvSpPr>
        <p:spPr>
          <a:xfrm>
            <a:off x="6208776" y="360919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98" name="Shape 196"/>
          <p:cNvSpPr/>
          <p:nvPr/>
        </p:nvSpPr>
        <p:spPr>
          <a:xfrm>
            <a:off x="8857207" y="3703051"/>
            <a:ext cx="152397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9" name="Shape 197"/>
          <p:cNvSpPr/>
          <p:nvPr/>
        </p:nvSpPr>
        <p:spPr>
          <a:xfrm>
            <a:off x="8941024" y="3648187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00" name="Shape 198"/>
          <p:cNvSpPr/>
          <p:nvPr/>
        </p:nvSpPr>
        <p:spPr>
          <a:xfrm>
            <a:off x="8788627" y="3648187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01" name="Text 199"/>
          <p:cNvSpPr txBox="1"/>
          <p:nvPr/>
        </p:nvSpPr>
        <p:spPr>
          <a:xfrm>
            <a:off x="9390888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79.1%</a:t>
            </a:r>
            <a:endParaRPr lang="en-US" sz="1300" dirty="0"/>
          </a:p>
        </p:txBody>
      </p:sp>
      <p:sp>
        <p:nvSpPr>
          <p:cNvPr id="202" name="Text 200"/>
          <p:cNvSpPr txBox="1"/>
          <p:nvPr/>
        </p:nvSpPr>
        <p:spPr>
          <a:xfrm>
            <a:off x="9957816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74.2%</a:t>
            </a:r>
            <a:endParaRPr lang="en-US" sz="1300" dirty="0"/>
          </a:p>
        </p:txBody>
      </p:sp>
      <p:sp>
        <p:nvSpPr>
          <p:cNvPr id="203" name="Text 201"/>
          <p:cNvSpPr txBox="1"/>
          <p:nvPr/>
        </p:nvSpPr>
        <p:spPr>
          <a:xfrm>
            <a:off x="10524744" y="360919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−4.9 pts</a:t>
            </a:r>
            <a:endParaRPr lang="en-US" sz="1300" dirty="0"/>
          </a:p>
        </p:txBody>
      </p:sp>
      <p:sp>
        <p:nvSpPr>
          <p:cNvPr id="204" name="Text 202"/>
          <p:cNvSpPr txBox="1"/>
          <p:nvPr/>
        </p:nvSpPr>
        <p:spPr>
          <a:xfrm>
            <a:off x="6208776" y="382434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205" name="Shape 203"/>
          <p:cNvSpPr/>
          <p:nvPr/>
        </p:nvSpPr>
        <p:spPr>
          <a:xfrm>
            <a:off x="8890071" y="3918204"/>
            <a:ext cx="207231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6" name="Shape 204"/>
          <p:cNvSpPr/>
          <p:nvPr/>
        </p:nvSpPr>
        <p:spPr>
          <a:xfrm>
            <a:off x="9028721" y="3863340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07" name="Shape 205"/>
          <p:cNvSpPr/>
          <p:nvPr/>
        </p:nvSpPr>
        <p:spPr>
          <a:xfrm>
            <a:off x="8821491" y="3863340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08" name="Text 206"/>
          <p:cNvSpPr txBox="1"/>
          <p:nvPr/>
        </p:nvSpPr>
        <p:spPr>
          <a:xfrm>
            <a:off x="9390888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82.0%</a:t>
            </a:r>
            <a:endParaRPr lang="en-US" sz="1300" dirty="0"/>
          </a:p>
        </p:txBody>
      </p:sp>
      <p:sp>
        <p:nvSpPr>
          <p:cNvPr id="209" name="Text 207"/>
          <p:cNvSpPr txBox="1"/>
          <p:nvPr/>
        </p:nvSpPr>
        <p:spPr>
          <a:xfrm>
            <a:off x="9957816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75.2%</a:t>
            </a:r>
            <a:endParaRPr lang="en-US" sz="1300" dirty="0"/>
          </a:p>
        </p:txBody>
      </p:sp>
      <p:sp>
        <p:nvSpPr>
          <p:cNvPr id="210" name="Text 208"/>
          <p:cNvSpPr txBox="1"/>
          <p:nvPr/>
        </p:nvSpPr>
        <p:spPr>
          <a:xfrm>
            <a:off x="10524744" y="382434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−6.7 pts</a:t>
            </a:r>
            <a:endParaRPr lang="en-US" sz="1300" dirty="0"/>
          </a:p>
        </p:txBody>
      </p:sp>
      <p:sp>
        <p:nvSpPr>
          <p:cNvPr id="211" name="Shape 209"/>
          <p:cNvSpPr/>
          <p:nvPr/>
        </p:nvSpPr>
        <p:spPr>
          <a:xfrm>
            <a:off x="6135624" y="4039496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2" name="Text 210"/>
          <p:cNvSpPr txBox="1"/>
          <p:nvPr/>
        </p:nvSpPr>
        <p:spPr>
          <a:xfrm>
            <a:off x="6208776" y="403949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213" name="Shape 211"/>
          <p:cNvSpPr/>
          <p:nvPr/>
        </p:nvSpPr>
        <p:spPr>
          <a:xfrm>
            <a:off x="9004765" y="4133357"/>
            <a:ext cx="215671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4" name="Shape 212"/>
          <p:cNvSpPr/>
          <p:nvPr/>
        </p:nvSpPr>
        <p:spPr>
          <a:xfrm>
            <a:off x="9151856" y="4078493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15" name="Shape 213"/>
          <p:cNvSpPr/>
          <p:nvPr/>
        </p:nvSpPr>
        <p:spPr>
          <a:xfrm>
            <a:off x="8936185" y="4078493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16" name="Text 214"/>
          <p:cNvSpPr txBox="1"/>
          <p:nvPr/>
        </p:nvSpPr>
        <p:spPr>
          <a:xfrm>
            <a:off x="9390888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86.0%</a:t>
            </a:r>
            <a:endParaRPr lang="en-US" sz="1300" dirty="0"/>
          </a:p>
        </p:txBody>
      </p:sp>
      <p:sp>
        <p:nvSpPr>
          <p:cNvPr id="217" name="Text 215"/>
          <p:cNvSpPr txBox="1"/>
          <p:nvPr/>
        </p:nvSpPr>
        <p:spPr>
          <a:xfrm>
            <a:off x="9957816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79.0%</a:t>
            </a:r>
            <a:endParaRPr lang="en-US" sz="1300" dirty="0"/>
          </a:p>
        </p:txBody>
      </p:sp>
      <p:sp>
        <p:nvSpPr>
          <p:cNvPr id="218" name="Text 216"/>
          <p:cNvSpPr txBox="1"/>
          <p:nvPr/>
        </p:nvSpPr>
        <p:spPr>
          <a:xfrm>
            <a:off x="10524744" y="403949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−7.0 pts</a:t>
            </a:r>
            <a:endParaRPr lang="en-US" sz="1300" dirty="0"/>
          </a:p>
        </p:txBody>
      </p:sp>
      <p:sp>
        <p:nvSpPr>
          <p:cNvPr id="219" name="Text 217"/>
          <p:cNvSpPr txBox="1"/>
          <p:nvPr/>
        </p:nvSpPr>
        <p:spPr>
          <a:xfrm>
            <a:off x="6208776" y="425464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220" name="Shape 218"/>
          <p:cNvSpPr/>
          <p:nvPr/>
        </p:nvSpPr>
        <p:spPr>
          <a:xfrm>
            <a:off x="8898070" y="4348510"/>
            <a:ext cx="245847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1" name="Shape 219"/>
          <p:cNvSpPr/>
          <p:nvPr/>
        </p:nvSpPr>
        <p:spPr>
          <a:xfrm>
            <a:off x="9075337" y="4293646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22" name="Shape 220"/>
          <p:cNvSpPr/>
          <p:nvPr/>
        </p:nvSpPr>
        <p:spPr>
          <a:xfrm>
            <a:off x="8829490" y="4293646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23" name="Text 221"/>
          <p:cNvSpPr txBox="1"/>
          <p:nvPr/>
        </p:nvSpPr>
        <p:spPr>
          <a:xfrm>
            <a:off x="9390888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83.5%</a:t>
            </a:r>
            <a:endParaRPr lang="en-US" sz="1300" dirty="0"/>
          </a:p>
        </p:txBody>
      </p:sp>
      <p:sp>
        <p:nvSpPr>
          <p:cNvPr id="224" name="Text 222"/>
          <p:cNvSpPr txBox="1"/>
          <p:nvPr/>
        </p:nvSpPr>
        <p:spPr>
          <a:xfrm>
            <a:off x="9957816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75.5%</a:t>
            </a:r>
            <a:endParaRPr lang="en-US" sz="1300" dirty="0"/>
          </a:p>
        </p:txBody>
      </p:sp>
      <p:sp>
        <p:nvSpPr>
          <p:cNvPr id="225" name="Text 223"/>
          <p:cNvSpPr txBox="1"/>
          <p:nvPr/>
        </p:nvSpPr>
        <p:spPr>
          <a:xfrm>
            <a:off x="10524744" y="425464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−8.0 pts</a:t>
            </a:r>
            <a:endParaRPr lang="en-US" sz="1300" dirty="0"/>
          </a:p>
        </p:txBody>
      </p:sp>
      <p:sp>
        <p:nvSpPr>
          <p:cNvPr id="226" name="Shape 224"/>
          <p:cNvSpPr/>
          <p:nvPr/>
        </p:nvSpPr>
        <p:spPr>
          <a:xfrm>
            <a:off x="6135624" y="4469802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7" name="Text 225"/>
          <p:cNvSpPr txBox="1"/>
          <p:nvPr/>
        </p:nvSpPr>
        <p:spPr>
          <a:xfrm>
            <a:off x="6208776" y="446980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228" name="Shape 226"/>
          <p:cNvSpPr/>
          <p:nvPr/>
        </p:nvSpPr>
        <p:spPr>
          <a:xfrm>
            <a:off x="8692698" y="4563663"/>
            <a:ext cx="277116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9" name="Shape 227"/>
          <p:cNvSpPr/>
          <p:nvPr/>
        </p:nvSpPr>
        <p:spPr>
          <a:xfrm>
            <a:off x="8901234" y="4508799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30" name="Shape 228"/>
          <p:cNvSpPr/>
          <p:nvPr/>
        </p:nvSpPr>
        <p:spPr>
          <a:xfrm>
            <a:off x="8624118" y="4508799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31" name="Text 229"/>
          <p:cNvSpPr txBox="1"/>
          <p:nvPr/>
        </p:nvSpPr>
        <p:spPr>
          <a:xfrm>
            <a:off x="9390888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77.8%</a:t>
            </a:r>
            <a:endParaRPr lang="en-US" sz="1300" dirty="0"/>
          </a:p>
        </p:txBody>
      </p:sp>
      <p:sp>
        <p:nvSpPr>
          <p:cNvPr id="232" name="Text 230"/>
          <p:cNvSpPr txBox="1"/>
          <p:nvPr/>
        </p:nvSpPr>
        <p:spPr>
          <a:xfrm>
            <a:off x="9957816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68.8%</a:t>
            </a:r>
            <a:endParaRPr lang="en-US" sz="1300" dirty="0"/>
          </a:p>
        </p:txBody>
      </p:sp>
      <p:sp>
        <p:nvSpPr>
          <p:cNvPr id="233" name="Text 231"/>
          <p:cNvSpPr txBox="1"/>
          <p:nvPr/>
        </p:nvSpPr>
        <p:spPr>
          <a:xfrm>
            <a:off x="10524744" y="446980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−9.0 pts</a:t>
            </a:r>
            <a:endParaRPr lang="en-US" sz="1300" dirty="0"/>
          </a:p>
        </p:txBody>
      </p:sp>
      <p:sp>
        <p:nvSpPr>
          <p:cNvPr id="234" name="Text 232"/>
          <p:cNvSpPr txBox="1"/>
          <p:nvPr/>
        </p:nvSpPr>
        <p:spPr>
          <a:xfrm>
            <a:off x="6208776" y="468495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235" name="Shape 233"/>
          <p:cNvSpPr/>
          <p:nvPr/>
        </p:nvSpPr>
        <p:spPr>
          <a:xfrm>
            <a:off x="8659621" y="4778816"/>
            <a:ext cx="332360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6" name="Shape 234"/>
          <p:cNvSpPr/>
          <p:nvPr/>
        </p:nvSpPr>
        <p:spPr>
          <a:xfrm>
            <a:off x="8923402" y="4723952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37" name="Shape 235"/>
          <p:cNvSpPr/>
          <p:nvPr/>
        </p:nvSpPr>
        <p:spPr>
          <a:xfrm>
            <a:off x="8591041" y="4723952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38" name="Text 236"/>
          <p:cNvSpPr txBox="1"/>
          <p:nvPr/>
        </p:nvSpPr>
        <p:spPr>
          <a:xfrm>
            <a:off x="9390888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78.5%</a:t>
            </a:r>
            <a:endParaRPr lang="en-US" sz="1300" dirty="0"/>
          </a:p>
        </p:txBody>
      </p:sp>
      <p:sp>
        <p:nvSpPr>
          <p:cNvPr id="239" name="Text 237"/>
          <p:cNvSpPr txBox="1"/>
          <p:nvPr/>
        </p:nvSpPr>
        <p:spPr>
          <a:xfrm>
            <a:off x="9957816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67.8%</a:t>
            </a:r>
            <a:endParaRPr lang="en-US" sz="1300" dirty="0"/>
          </a:p>
        </p:txBody>
      </p:sp>
      <p:sp>
        <p:nvSpPr>
          <p:cNvPr id="240" name="Text 238"/>
          <p:cNvSpPr txBox="1"/>
          <p:nvPr/>
        </p:nvSpPr>
        <p:spPr>
          <a:xfrm>
            <a:off x="10524744" y="468495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−10.8 pts</a:t>
            </a:r>
            <a:endParaRPr lang="en-US" sz="1300" dirty="0"/>
          </a:p>
        </p:txBody>
      </p:sp>
      <p:sp>
        <p:nvSpPr>
          <p:cNvPr id="241" name="Shape 239"/>
          <p:cNvSpPr/>
          <p:nvPr/>
        </p:nvSpPr>
        <p:spPr>
          <a:xfrm>
            <a:off x="6135624" y="4900108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42" name="Text 240"/>
          <p:cNvSpPr txBox="1"/>
          <p:nvPr/>
        </p:nvSpPr>
        <p:spPr>
          <a:xfrm>
            <a:off x="6208776" y="490010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243" name="Shape 241"/>
          <p:cNvSpPr/>
          <p:nvPr/>
        </p:nvSpPr>
        <p:spPr>
          <a:xfrm>
            <a:off x="8734634" y="4993969"/>
            <a:ext cx="376572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44" name="Shape 242"/>
          <p:cNvSpPr/>
          <p:nvPr/>
        </p:nvSpPr>
        <p:spPr>
          <a:xfrm>
            <a:off x="9042625" y="4939105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45" name="Shape 243"/>
          <p:cNvSpPr/>
          <p:nvPr/>
        </p:nvSpPr>
        <p:spPr>
          <a:xfrm>
            <a:off x="8666054" y="4939105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46" name="Text 244"/>
          <p:cNvSpPr txBox="1"/>
          <p:nvPr/>
        </p:nvSpPr>
        <p:spPr>
          <a:xfrm>
            <a:off x="9390888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82.4%</a:t>
            </a:r>
            <a:endParaRPr lang="en-US" sz="1300" dirty="0"/>
          </a:p>
        </p:txBody>
      </p:sp>
      <p:sp>
        <p:nvSpPr>
          <p:cNvPr id="247" name="Text 245"/>
          <p:cNvSpPr txBox="1"/>
          <p:nvPr/>
        </p:nvSpPr>
        <p:spPr>
          <a:xfrm>
            <a:off x="9957816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70.2%</a:t>
            </a:r>
            <a:endParaRPr lang="en-US" sz="1300" dirty="0"/>
          </a:p>
        </p:txBody>
      </p:sp>
      <p:sp>
        <p:nvSpPr>
          <p:cNvPr id="248" name="Text 246"/>
          <p:cNvSpPr txBox="1"/>
          <p:nvPr/>
        </p:nvSpPr>
        <p:spPr>
          <a:xfrm>
            <a:off x="10524744" y="490010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−12.2 pts</a:t>
            </a:r>
            <a:endParaRPr lang="en-US" sz="1300" dirty="0"/>
          </a:p>
        </p:txBody>
      </p:sp>
      <p:sp>
        <p:nvSpPr>
          <p:cNvPr id="249" name="Text 247"/>
          <p:cNvSpPr txBox="1"/>
          <p:nvPr/>
        </p:nvSpPr>
        <p:spPr>
          <a:xfrm>
            <a:off x="6208776" y="511526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250" name="Shape 248"/>
          <p:cNvSpPr/>
          <p:nvPr/>
        </p:nvSpPr>
        <p:spPr>
          <a:xfrm>
            <a:off x="8728847" y="5209122"/>
            <a:ext cx="427819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51" name="Shape 249"/>
          <p:cNvSpPr/>
          <p:nvPr/>
        </p:nvSpPr>
        <p:spPr>
          <a:xfrm>
            <a:off x="9088086" y="5154258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52" name="Shape 250"/>
          <p:cNvSpPr/>
          <p:nvPr/>
        </p:nvSpPr>
        <p:spPr>
          <a:xfrm>
            <a:off x="8660267" y="5154258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53" name="Text 251"/>
          <p:cNvSpPr txBox="1"/>
          <p:nvPr/>
        </p:nvSpPr>
        <p:spPr>
          <a:xfrm>
            <a:off x="9390888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83.9%</a:t>
            </a:r>
            <a:endParaRPr lang="en-US" sz="1300" dirty="0"/>
          </a:p>
        </p:txBody>
      </p:sp>
      <p:sp>
        <p:nvSpPr>
          <p:cNvPr id="254" name="Text 252"/>
          <p:cNvSpPr txBox="1"/>
          <p:nvPr/>
        </p:nvSpPr>
        <p:spPr>
          <a:xfrm>
            <a:off x="9957816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70.0%</a:t>
            </a:r>
            <a:endParaRPr lang="en-US" sz="1300" dirty="0"/>
          </a:p>
        </p:txBody>
      </p:sp>
      <p:sp>
        <p:nvSpPr>
          <p:cNvPr id="255" name="Text 253"/>
          <p:cNvSpPr txBox="1"/>
          <p:nvPr/>
        </p:nvSpPr>
        <p:spPr>
          <a:xfrm>
            <a:off x="10524744" y="511526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−13.9 pts</a:t>
            </a:r>
            <a:endParaRPr lang="en-US" sz="1300" dirty="0"/>
          </a:p>
        </p:txBody>
      </p:sp>
      <p:sp>
        <p:nvSpPr>
          <p:cNvPr id="256" name="Shape 254"/>
          <p:cNvSpPr/>
          <p:nvPr/>
        </p:nvSpPr>
        <p:spPr>
          <a:xfrm>
            <a:off x="6135624" y="5330414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7" name="Text 255"/>
          <p:cNvSpPr txBox="1"/>
          <p:nvPr/>
        </p:nvSpPr>
        <p:spPr>
          <a:xfrm>
            <a:off x="6208776" y="533041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258" name="Shape 256"/>
          <p:cNvSpPr/>
          <p:nvPr/>
        </p:nvSpPr>
        <p:spPr>
          <a:xfrm>
            <a:off x="8383021" y="5424275"/>
            <a:ext cx="615963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59" name="Shape 257"/>
          <p:cNvSpPr/>
          <p:nvPr/>
        </p:nvSpPr>
        <p:spPr>
          <a:xfrm>
            <a:off x="8930404" y="5369411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60" name="Shape 258"/>
          <p:cNvSpPr/>
          <p:nvPr/>
        </p:nvSpPr>
        <p:spPr>
          <a:xfrm>
            <a:off x="8314441" y="5369411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61" name="Text 259"/>
          <p:cNvSpPr txBox="1"/>
          <p:nvPr/>
        </p:nvSpPr>
        <p:spPr>
          <a:xfrm>
            <a:off x="9390888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78.8%</a:t>
            </a:r>
            <a:endParaRPr lang="en-US" sz="1300" dirty="0"/>
          </a:p>
        </p:txBody>
      </p:sp>
      <p:sp>
        <p:nvSpPr>
          <p:cNvPr id="262" name="Text 260"/>
          <p:cNvSpPr txBox="1"/>
          <p:nvPr/>
        </p:nvSpPr>
        <p:spPr>
          <a:xfrm>
            <a:off x="9957816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58.8%</a:t>
            </a:r>
            <a:endParaRPr lang="en-US" sz="1300" dirty="0"/>
          </a:p>
        </p:txBody>
      </p:sp>
      <p:sp>
        <p:nvSpPr>
          <p:cNvPr id="263" name="Text 261"/>
          <p:cNvSpPr txBox="1"/>
          <p:nvPr/>
        </p:nvSpPr>
        <p:spPr>
          <a:xfrm>
            <a:off x="10524744" y="533041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−20.0 pts</a:t>
            </a:r>
            <a:endParaRPr lang="en-US" sz="1300" dirty="0"/>
          </a:p>
        </p:txBody>
      </p:sp>
      <p:sp>
        <p:nvSpPr>
          <p:cNvPr id="264" name="Shape 262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65" name="Text 263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labor margin runs 2.7 pts below customer pay across the group; 18 of 33 stores are at or better than that gap. Widest: AUDI RENO (−20.0 pts), LR LV (−13.9 pts) and LR HENDERSON (−12.2 pts).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&amp; INTERNAL · OPTION 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vs Customer-Pay Parts Gross Profit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16736"/>
            <a:ext cx="10872216" cy="38404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16736"/>
            <a:ext cx="54864" cy="38404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131673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CUSTOMER PAY 40.7%      INTERNAL 36.5%      GAP </a:t>
            </a:r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−4.2 pts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navy dot = CP, green/red dot = internal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07408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74336" y="17739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177393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390888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957816" y="17739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24744" y="177393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GAP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2103120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43130" y="2196980"/>
            <a:ext cx="176044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" name="Shape 17"/>
          <p:cNvSpPr/>
          <p:nvPr/>
        </p:nvSpPr>
        <p:spPr>
          <a:xfrm>
            <a:off x="3374550" y="2142116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0" name="Shape 18"/>
          <p:cNvSpPr/>
          <p:nvPr/>
        </p:nvSpPr>
        <p:spPr>
          <a:xfrm>
            <a:off x="3550594" y="2142116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840480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40.2%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07408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45.1%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74336" y="2103120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+4.9 pts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5216" y="2318273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" y="2318273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46517" y="2412133"/>
            <a:ext cx="82136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7" name="Shape 25"/>
          <p:cNvSpPr/>
          <p:nvPr/>
        </p:nvSpPr>
        <p:spPr>
          <a:xfrm>
            <a:off x="3177937" y="2357269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8" name="Shape 26"/>
          <p:cNvSpPr/>
          <p:nvPr/>
        </p:nvSpPr>
        <p:spPr>
          <a:xfrm>
            <a:off x="3260074" y="2357269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840480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34.8%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407408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974336" y="2318273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+2.3 pts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253342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510339" y="2627286"/>
            <a:ext cx="44616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4" name="Shape 32"/>
          <p:cNvSpPr/>
          <p:nvPr/>
        </p:nvSpPr>
        <p:spPr>
          <a:xfrm>
            <a:off x="3441759" y="2572422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35" name="Shape 33"/>
          <p:cNvSpPr/>
          <p:nvPr/>
        </p:nvSpPr>
        <p:spPr>
          <a:xfrm>
            <a:off x="3486374" y="2572422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840480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42.1%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407408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43.3%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974336" y="253342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+1.2 pts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5216" y="2748579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58368" y="274857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297045" y="2842439"/>
            <a:ext cx="24021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2" name="Shape 40"/>
          <p:cNvSpPr/>
          <p:nvPr/>
        </p:nvSpPr>
        <p:spPr>
          <a:xfrm>
            <a:off x="3228465" y="2787575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43" name="Shape 41"/>
          <p:cNvSpPr/>
          <p:nvPr/>
        </p:nvSpPr>
        <p:spPr>
          <a:xfrm>
            <a:off x="3252486" y="2787575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840480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36.2%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407408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36.8%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974336" y="274857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+0.7 pts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296373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525560" y="3057592"/>
            <a:ext cx="9144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9" name="Shape 47"/>
          <p:cNvSpPr/>
          <p:nvPr/>
        </p:nvSpPr>
        <p:spPr>
          <a:xfrm>
            <a:off x="3456980" y="3002728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50" name="Shape 48"/>
          <p:cNvSpPr/>
          <p:nvPr/>
        </p:nvSpPr>
        <p:spPr>
          <a:xfrm>
            <a:off x="3462180" y="3002728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840480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42.5%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407408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42.7%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4974336" y="296373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+0.1 pts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85216" y="3178885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58368" y="317888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293929" y="3272745"/>
            <a:ext cx="38732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7" name="Shape 55"/>
          <p:cNvSpPr/>
          <p:nvPr/>
        </p:nvSpPr>
        <p:spPr>
          <a:xfrm>
            <a:off x="3264081" y="3217881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58" name="Shape 56"/>
          <p:cNvSpPr/>
          <p:nvPr/>
        </p:nvSpPr>
        <p:spPr>
          <a:xfrm>
            <a:off x="3225349" y="3217881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840480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37.2%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4407408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36.1%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4974336" y="317888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−1.1 pts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339403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3326510" y="3487898"/>
            <a:ext cx="88590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64" name="Shape 62"/>
          <p:cNvSpPr/>
          <p:nvPr/>
        </p:nvSpPr>
        <p:spPr>
          <a:xfrm>
            <a:off x="3346520" y="3433034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65" name="Shape 63"/>
          <p:cNvSpPr/>
          <p:nvPr/>
        </p:nvSpPr>
        <p:spPr>
          <a:xfrm>
            <a:off x="3257930" y="3433034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3840480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4407408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4974336" y="339403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−2.5 pts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85216" y="3609191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658368" y="360919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3236489" y="3703051"/>
            <a:ext cx="90065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72" name="Shape 70"/>
          <p:cNvSpPr/>
          <p:nvPr/>
        </p:nvSpPr>
        <p:spPr>
          <a:xfrm>
            <a:off x="3257974" y="3648187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73" name="Shape 71"/>
          <p:cNvSpPr/>
          <p:nvPr/>
        </p:nvSpPr>
        <p:spPr>
          <a:xfrm>
            <a:off x="3167909" y="3648187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3840480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300" dirty="0"/>
          </a:p>
        </p:txBody>
      </p:sp>
      <p:sp>
        <p:nvSpPr>
          <p:cNvPr id="75" name="Text 73"/>
          <p:cNvSpPr txBox="1"/>
          <p:nvPr/>
        </p:nvSpPr>
        <p:spPr>
          <a:xfrm>
            <a:off x="4407408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34.5%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4974336" y="360919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−2.5 pts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382434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3465703" y="3918204"/>
            <a:ext cx="91132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79" name="Shape 77"/>
          <p:cNvSpPr/>
          <p:nvPr/>
        </p:nvSpPr>
        <p:spPr>
          <a:xfrm>
            <a:off x="3488255" y="3863340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80" name="Shape 78"/>
          <p:cNvSpPr/>
          <p:nvPr/>
        </p:nvSpPr>
        <p:spPr>
          <a:xfrm>
            <a:off x="3397123" y="3863340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3840480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43.4%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4407408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40.9%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4974336" y="382434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−2.5 pts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585216" y="4039496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658368" y="403949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3309192" y="4133357"/>
            <a:ext cx="137893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87" name="Shape 85"/>
          <p:cNvSpPr/>
          <p:nvPr/>
        </p:nvSpPr>
        <p:spPr>
          <a:xfrm>
            <a:off x="3378505" y="4078493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88" name="Shape 86"/>
          <p:cNvSpPr/>
          <p:nvPr/>
        </p:nvSpPr>
        <p:spPr>
          <a:xfrm>
            <a:off x="3240612" y="4078493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3840480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40.3%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4407408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36.5%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4974336" y="403949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−3.8 pts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425464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3302099" y="4348510"/>
            <a:ext cx="138887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4" name="Shape 92"/>
          <p:cNvSpPr/>
          <p:nvPr/>
        </p:nvSpPr>
        <p:spPr>
          <a:xfrm>
            <a:off x="3372406" y="4293646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95" name="Shape 93"/>
          <p:cNvSpPr/>
          <p:nvPr/>
        </p:nvSpPr>
        <p:spPr>
          <a:xfrm>
            <a:off x="3233519" y="4293646"/>
            <a:ext cx="137160" cy="137160"/>
          </a:xfrm>
          <a:prstGeom prst="ellipse">
            <a:avLst/>
          </a:prstGeom>
          <a:solidFill>
            <a:srgbClr val="12A566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3840480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40.2%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4407408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36.3%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4974336" y="425464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−3.9 pts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585216" y="4469802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658368" y="446980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3317186" y="4563663"/>
            <a:ext cx="185749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2" name="Shape 100"/>
          <p:cNvSpPr/>
          <p:nvPr/>
        </p:nvSpPr>
        <p:spPr>
          <a:xfrm>
            <a:off x="3434355" y="4508799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3248606" y="4508799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3840480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41.9%</a:t>
            </a:r>
            <a:endParaRPr lang="en-US" sz="1300" dirty="0"/>
          </a:p>
        </p:txBody>
      </p:sp>
      <p:sp>
        <p:nvSpPr>
          <p:cNvPr id="105" name="Text 103"/>
          <p:cNvSpPr txBox="1"/>
          <p:nvPr/>
        </p:nvSpPr>
        <p:spPr>
          <a:xfrm>
            <a:off x="4407408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36.7%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4974336" y="446980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−5.2 pts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658368" y="468495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3123543" y="4778816"/>
            <a:ext cx="203752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09" name="Shape 107"/>
          <p:cNvSpPr/>
          <p:nvPr/>
        </p:nvSpPr>
        <p:spPr>
          <a:xfrm>
            <a:off x="3258715" y="4723952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3054963" y="4723952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3840480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4407408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31.3%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4974336" y="468495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−5.7 pts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585216" y="4900108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658368" y="490010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3323749" y="4993969"/>
            <a:ext cx="208184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7" name="Shape 115"/>
          <p:cNvSpPr/>
          <p:nvPr/>
        </p:nvSpPr>
        <p:spPr>
          <a:xfrm>
            <a:off x="3463352" y="4939105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3255169" y="4939105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3840480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42.7%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4407408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36.9%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4974336" y="490010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−5.8 pts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58368" y="511526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123" name="Shape 121"/>
          <p:cNvSpPr/>
          <p:nvPr/>
        </p:nvSpPr>
        <p:spPr>
          <a:xfrm>
            <a:off x="3196577" y="5209122"/>
            <a:ext cx="215767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4" name="Shape 122"/>
          <p:cNvSpPr/>
          <p:nvPr/>
        </p:nvSpPr>
        <p:spPr>
          <a:xfrm>
            <a:off x="3343763" y="5154258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25" name="Shape 123"/>
          <p:cNvSpPr/>
          <p:nvPr/>
        </p:nvSpPr>
        <p:spPr>
          <a:xfrm>
            <a:off x="3127997" y="5154258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3840480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4407408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33.4%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4974336" y="511526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−6.0 pts</a:t>
            </a:r>
            <a:endParaRPr lang="en-US" sz="1300" dirty="0"/>
          </a:p>
        </p:txBody>
      </p:sp>
      <p:sp>
        <p:nvSpPr>
          <p:cNvPr id="129" name="Shape 127"/>
          <p:cNvSpPr/>
          <p:nvPr/>
        </p:nvSpPr>
        <p:spPr>
          <a:xfrm>
            <a:off x="585216" y="5330414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658368" y="533041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31" name="Shape 129"/>
          <p:cNvSpPr/>
          <p:nvPr/>
        </p:nvSpPr>
        <p:spPr>
          <a:xfrm>
            <a:off x="3094741" y="5424275"/>
            <a:ext cx="228552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2" name="Shape 130"/>
          <p:cNvSpPr/>
          <p:nvPr/>
        </p:nvSpPr>
        <p:spPr>
          <a:xfrm>
            <a:off x="3254713" y="5369411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33" name="Shape 131"/>
          <p:cNvSpPr/>
          <p:nvPr/>
        </p:nvSpPr>
        <p:spPr>
          <a:xfrm>
            <a:off x="3026161" y="5369411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3840480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36.9%</a:t>
            </a:r>
            <a:endParaRPr lang="en-US" sz="1300" dirty="0"/>
          </a:p>
        </p:txBody>
      </p:sp>
      <p:sp>
        <p:nvSpPr>
          <p:cNvPr id="135" name="Text 133"/>
          <p:cNvSpPr txBox="1"/>
          <p:nvPr/>
        </p:nvSpPr>
        <p:spPr>
          <a:xfrm>
            <a:off x="4407408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30.5%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4974336" y="533041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−6.4 pts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658368" y="5545567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138" name="Shape 136"/>
          <p:cNvSpPr/>
          <p:nvPr/>
        </p:nvSpPr>
        <p:spPr>
          <a:xfrm>
            <a:off x="3425612" y="5639428"/>
            <a:ext cx="259829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39" name="Shape 137"/>
          <p:cNvSpPr/>
          <p:nvPr/>
        </p:nvSpPr>
        <p:spPr>
          <a:xfrm>
            <a:off x="3616861" y="5584564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40" name="Shape 138"/>
          <p:cNvSpPr/>
          <p:nvPr/>
        </p:nvSpPr>
        <p:spPr>
          <a:xfrm>
            <a:off x="3357032" y="5584564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3840480" y="5545567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47.0%</a:t>
            </a:r>
            <a:endParaRPr lang="en-US" sz="1300" dirty="0"/>
          </a:p>
        </p:txBody>
      </p:sp>
      <p:sp>
        <p:nvSpPr>
          <p:cNvPr id="142" name="Text 140"/>
          <p:cNvSpPr txBox="1"/>
          <p:nvPr/>
        </p:nvSpPr>
        <p:spPr>
          <a:xfrm>
            <a:off x="4407408" y="5545567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39.7%</a:t>
            </a:r>
            <a:endParaRPr lang="en-US" sz="1300" dirty="0"/>
          </a:p>
        </p:txBody>
      </p:sp>
      <p:sp>
        <p:nvSpPr>
          <p:cNvPr id="143" name="Text 141"/>
          <p:cNvSpPr txBox="1"/>
          <p:nvPr/>
        </p:nvSpPr>
        <p:spPr>
          <a:xfrm>
            <a:off x="4974336" y="5545567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−7.2 pts</a:t>
            </a: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6208776" y="2103120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45" name="Shape 143"/>
          <p:cNvSpPr/>
          <p:nvPr/>
        </p:nvSpPr>
        <p:spPr>
          <a:xfrm>
            <a:off x="8487596" y="2196980"/>
            <a:ext cx="269238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6" name="Shape 144"/>
          <p:cNvSpPr/>
          <p:nvPr/>
        </p:nvSpPr>
        <p:spPr>
          <a:xfrm>
            <a:off x="8688254" y="2142116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47" name="Shape 145"/>
          <p:cNvSpPr/>
          <p:nvPr/>
        </p:nvSpPr>
        <p:spPr>
          <a:xfrm>
            <a:off x="8419016" y="2142116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9390888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33.6%</a:t>
            </a:r>
            <a:endParaRPr lang="en-US" sz="1300" dirty="0"/>
          </a:p>
        </p:txBody>
      </p:sp>
      <p:sp>
        <p:nvSpPr>
          <p:cNvPr id="149" name="Text 147"/>
          <p:cNvSpPr txBox="1"/>
          <p:nvPr/>
        </p:nvSpPr>
        <p:spPr>
          <a:xfrm>
            <a:off x="9957816" y="2103120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26.2%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10524744" y="2103120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−7.5 pts</a:t>
            </a:r>
            <a:endParaRPr lang="en-US" sz="1300" dirty="0"/>
          </a:p>
        </p:txBody>
      </p:sp>
      <p:sp>
        <p:nvSpPr>
          <p:cNvPr id="151" name="Shape 149"/>
          <p:cNvSpPr/>
          <p:nvPr/>
        </p:nvSpPr>
        <p:spPr>
          <a:xfrm>
            <a:off x="6135624" y="2318273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2" name="Text 150"/>
          <p:cNvSpPr txBox="1"/>
          <p:nvPr/>
        </p:nvSpPr>
        <p:spPr>
          <a:xfrm>
            <a:off x="6208776" y="2318273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53" name="Shape 151"/>
          <p:cNvSpPr/>
          <p:nvPr/>
        </p:nvSpPr>
        <p:spPr>
          <a:xfrm>
            <a:off x="8864741" y="2412133"/>
            <a:ext cx="281040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4" name="Shape 152"/>
          <p:cNvSpPr/>
          <p:nvPr/>
        </p:nvSpPr>
        <p:spPr>
          <a:xfrm>
            <a:off x="9077201" y="2357269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55" name="Shape 153"/>
          <p:cNvSpPr/>
          <p:nvPr/>
        </p:nvSpPr>
        <p:spPr>
          <a:xfrm>
            <a:off x="8796161" y="2357269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56" name="Text 154"/>
          <p:cNvSpPr txBox="1"/>
          <p:nvPr/>
        </p:nvSpPr>
        <p:spPr>
          <a:xfrm>
            <a:off x="9390888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44.5%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9957816" y="2318273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36.6%</a:t>
            </a:r>
            <a:endParaRPr lang="en-US" sz="1300" dirty="0"/>
          </a:p>
        </p:txBody>
      </p:sp>
      <p:sp>
        <p:nvSpPr>
          <p:cNvPr id="158" name="Text 156"/>
          <p:cNvSpPr txBox="1"/>
          <p:nvPr/>
        </p:nvSpPr>
        <p:spPr>
          <a:xfrm>
            <a:off x="10524744" y="2318273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−7.8 pts</a:t>
            </a:r>
            <a:endParaRPr lang="en-US" sz="1300" dirty="0"/>
          </a:p>
        </p:txBody>
      </p:sp>
      <p:sp>
        <p:nvSpPr>
          <p:cNvPr id="159" name="Text 157"/>
          <p:cNvSpPr txBox="1"/>
          <p:nvPr/>
        </p:nvSpPr>
        <p:spPr>
          <a:xfrm>
            <a:off x="6208776" y="253342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160" name="Shape 158"/>
          <p:cNvSpPr/>
          <p:nvPr/>
        </p:nvSpPr>
        <p:spPr>
          <a:xfrm>
            <a:off x="9028280" y="2627286"/>
            <a:ext cx="281876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61" name="Shape 159"/>
          <p:cNvSpPr/>
          <p:nvPr/>
        </p:nvSpPr>
        <p:spPr>
          <a:xfrm>
            <a:off x="9241576" y="2572422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959700" y="2572422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63" name="Text 161"/>
          <p:cNvSpPr txBox="1"/>
          <p:nvPr/>
        </p:nvSpPr>
        <p:spPr>
          <a:xfrm>
            <a:off x="9390888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49.0%</a:t>
            </a:r>
            <a:endParaRPr lang="en-US" sz="1300" dirty="0"/>
          </a:p>
        </p:txBody>
      </p:sp>
      <p:sp>
        <p:nvSpPr>
          <p:cNvPr id="164" name="Text 162"/>
          <p:cNvSpPr txBox="1"/>
          <p:nvPr/>
        </p:nvSpPr>
        <p:spPr>
          <a:xfrm>
            <a:off x="9957816" y="253342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41.2%</a:t>
            </a:r>
            <a:endParaRPr lang="en-US" sz="1300" dirty="0"/>
          </a:p>
        </p:txBody>
      </p:sp>
      <p:sp>
        <p:nvSpPr>
          <p:cNvPr id="165" name="Text 163"/>
          <p:cNvSpPr txBox="1"/>
          <p:nvPr/>
        </p:nvSpPr>
        <p:spPr>
          <a:xfrm>
            <a:off x="10524744" y="253342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−7.8 pts</a:t>
            </a:r>
            <a:endParaRPr lang="en-US" sz="1300" dirty="0"/>
          </a:p>
        </p:txBody>
      </p:sp>
      <p:sp>
        <p:nvSpPr>
          <p:cNvPr id="166" name="Shape 164"/>
          <p:cNvSpPr/>
          <p:nvPr/>
        </p:nvSpPr>
        <p:spPr>
          <a:xfrm>
            <a:off x="6135624" y="2748579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67" name="Text 165"/>
          <p:cNvSpPr txBox="1"/>
          <p:nvPr/>
        </p:nvSpPr>
        <p:spPr>
          <a:xfrm>
            <a:off x="6208776" y="274857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68" name="Shape 166"/>
          <p:cNvSpPr/>
          <p:nvPr/>
        </p:nvSpPr>
        <p:spPr>
          <a:xfrm>
            <a:off x="8809703" y="2842439"/>
            <a:ext cx="304317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69" name="Shape 167"/>
          <p:cNvSpPr/>
          <p:nvPr/>
        </p:nvSpPr>
        <p:spPr>
          <a:xfrm>
            <a:off x="9045441" y="2787575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741123" y="2787575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9390888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43.6%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9957816" y="274857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35.1%</a:t>
            </a:r>
            <a:endParaRPr lang="en-US" sz="1300" dirty="0"/>
          </a:p>
        </p:txBody>
      </p:sp>
      <p:sp>
        <p:nvSpPr>
          <p:cNvPr id="173" name="Text 171"/>
          <p:cNvSpPr txBox="1"/>
          <p:nvPr/>
        </p:nvSpPr>
        <p:spPr>
          <a:xfrm>
            <a:off x="10524744" y="274857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−8.5 pts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6208776" y="296373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175" name="Shape 173"/>
          <p:cNvSpPr/>
          <p:nvPr/>
        </p:nvSpPr>
        <p:spPr>
          <a:xfrm>
            <a:off x="8785895" y="3057592"/>
            <a:ext cx="309616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6" name="Shape 174"/>
          <p:cNvSpPr/>
          <p:nvPr/>
        </p:nvSpPr>
        <p:spPr>
          <a:xfrm>
            <a:off x="9026931" y="3002728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717315" y="3002728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78" name="Text 176"/>
          <p:cNvSpPr txBox="1"/>
          <p:nvPr/>
        </p:nvSpPr>
        <p:spPr>
          <a:xfrm>
            <a:off x="9390888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43.1%</a:t>
            </a:r>
            <a:endParaRPr lang="en-US" sz="1300" dirty="0"/>
          </a:p>
        </p:txBody>
      </p:sp>
      <p:sp>
        <p:nvSpPr>
          <p:cNvPr id="179" name="Text 177"/>
          <p:cNvSpPr txBox="1"/>
          <p:nvPr/>
        </p:nvSpPr>
        <p:spPr>
          <a:xfrm>
            <a:off x="9957816" y="296373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34.5%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10524744" y="296373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−8.6 pts</a:t>
            </a:r>
            <a:endParaRPr lang="en-US" sz="1300" dirty="0"/>
          </a:p>
        </p:txBody>
      </p:sp>
      <p:sp>
        <p:nvSpPr>
          <p:cNvPr id="181" name="Shape 179"/>
          <p:cNvSpPr/>
          <p:nvPr/>
        </p:nvSpPr>
        <p:spPr>
          <a:xfrm>
            <a:off x="6135624" y="3178885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2" name="Text 180"/>
          <p:cNvSpPr txBox="1"/>
          <p:nvPr/>
        </p:nvSpPr>
        <p:spPr>
          <a:xfrm>
            <a:off x="6208776" y="317888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83" name="Shape 181"/>
          <p:cNvSpPr/>
          <p:nvPr/>
        </p:nvSpPr>
        <p:spPr>
          <a:xfrm>
            <a:off x="8728317" y="3272745"/>
            <a:ext cx="317185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84" name="Shape 182"/>
          <p:cNvSpPr/>
          <p:nvPr/>
        </p:nvSpPr>
        <p:spPr>
          <a:xfrm>
            <a:off x="8976922" y="3217881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85" name="Shape 183"/>
          <p:cNvSpPr/>
          <p:nvPr/>
        </p:nvSpPr>
        <p:spPr>
          <a:xfrm>
            <a:off x="8659737" y="3217881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86" name="Text 184"/>
          <p:cNvSpPr txBox="1"/>
          <p:nvPr/>
        </p:nvSpPr>
        <p:spPr>
          <a:xfrm>
            <a:off x="9390888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41.7%</a:t>
            </a:r>
            <a:endParaRPr lang="en-US" sz="1300" dirty="0"/>
          </a:p>
        </p:txBody>
      </p:sp>
      <p:sp>
        <p:nvSpPr>
          <p:cNvPr id="187" name="Text 185"/>
          <p:cNvSpPr txBox="1"/>
          <p:nvPr/>
        </p:nvSpPr>
        <p:spPr>
          <a:xfrm>
            <a:off x="9957816" y="317888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32.8%</a:t>
            </a:r>
            <a:endParaRPr lang="en-US" sz="1300" dirty="0"/>
          </a:p>
        </p:txBody>
      </p:sp>
      <p:sp>
        <p:nvSpPr>
          <p:cNvPr id="188" name="Text 186"/>
          <p:cNvSpPr txBox="1"/>
          <p:nvPr/>
        </p:nvSpPr>
        <p:spPr>
          <a:xfrm>
            <a:off x="10524744" y="317888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−8.8 pts</a:t>
            </a:r>
            <a:endParaRPr lang="en-US" sz="1300" dirty="0"/>
          </a:p>
        </p:txBody>
      </p:sp>
      <p:sp>
        <p:nvSpPr>
          <p:cNvPr id="189" name="Text 187"/>
          <p:cNvSpPr txBox="1"/>
          <p:nvPr/>
        </p:nvSpPr>
        <p:spPr>
          <a:xfrm>
            <a:off x="6208776" y="339403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190" name="Shape 188"/>
          <p:cNvSpPr/>
          <p:nvPr/>
        </p:nvSpPr>
        <p:spPr>
          <a:xfrm>
            <a:off x="8717087" y="3487898"/>
            <a:ext cx="358717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1" name="Shape 189"/>
          <p:cNvSpPr/>
          <p:nvPr/>
        </p:nvSpPr>
        <p:spPr>
          <a:xfrm>
            <a:off x="9007225" y="3433034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192" name="Shape 190"/>
          <p:cNvSpPr/>
          <p:nvPr/>
        </p:nvSpPr>
        <p:spPr>
          <a:xfrm>
            <a:off x="8648507" y="3433034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193" name="Text 191"/>
          <p:cNvSpPr txBox="1"/>
          <p:nvPr/>
        </p:nvSpPr>
        <p:spPr>
          <a:xfrm>
            <a:off x="9390888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42.5%</a:t>
            </a:r>
            <a:endParaRPr lang="en-US" sz="1300" dirty="0"/>
          </a:p>
        </p:txBody>
      </p:sp>
      <p:sp>
        <p:nvSpPr>
          <p:cNvPr id="194" name="Text 192"/>
          <p:cNvSpPr txBox="1"/>
          <p:nvPr/>
        </p:nvSpPr>
        <p:spPr>
          <a:xfrm>
            <a:off x="9957816" y="339403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32.5%</a:t>
            </a:r>
            <a:endParaRPr lang="en-US" sz="1300" dirty="0"/>
          </a:p>
        </p:txBody>
      </p:sp>
      <p:sp>
        <p:nvSpPr>
          <p:cNvPr id="195" name="Text 193"/>
          <p:cNvSpPr txBox="1"/>
          <p:nvPr/>
        </p:nvSpPr>
        <p:spPr>
          <a:xfrm>
            <a:off x="10524744" y="339403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−10.0 pts</a:t>
            </a:r>
            <a:endParaRPr lang="en-US" sz="1300" dirty="0"/>
          </a:p>
        </p:txBody>
      </p:sp>
      <p:sp>
        <p:nvSpPr>
          <p:cNvPr id="196" name="Shape 194"/>
          <p:cNvSpPr/>
          <p:nvPr/>
        </p:nvSpPr>
        <p:spPr>
          <a:xfrm>
            <a:off x="6135624" y="3609191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97" name="Text 195"/>
          <p:cNvSpPr txBox="1"/>
          <p:nvPr/>
        </p:nvSpPr>
        <p:spPr>
          <a:xfrm>
            <a:off x="6208776" y="360919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198" name="Shape 196"/>
          <p:cNvSpPr/>
          <p:nvPr/>
        </p:nvSpPr>
        <p:spPr>
          <a:xfrm>
            <a:off x="8512041" y="3703051"/>
            <a:ext cx="362283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9" name="Shape 197"/>
          <p:cNvSpPr/>
          <p:nvPr/>
        </p:nvSpPr>
        <p:spPr>
          <a:xfrm>
            <a:off x="8805744" y="3648187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00" name="Shape 198"/>
          <p:cNvSpPr/>
          <p:nvPr/>
        </p:nvSpPr>
        <p:spPr>
          <a:xfrm>
            <a:off x="8443461" y="3648187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01" name="Text 199"/>
          <p:cNvSpPr txBox="1"/>
          <p:nvPr/>
        </p:nvSpPr>
        <p:spPr>
          <a:xfrm>
            <a:off x="9390888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36.9%</a:t>
            </a:r>
            <a:endParaRPr lang="en-US" sz="1300" dirty="0"/>
          </a:p>
        </p:txBody>
      </p:sp>
      <p:sp>
        <p:nvSpPr>
          <p:cNvPr id="202" name="Text 200"/>
          <p:cNvSpPr txBox="1"/>
          <p:nvPr/>
        </p:nvSpPr>
        <p:spPr>
          <a:xfrm>
            <a:off x="9957816" y="360919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26.8%</a:t>
            </a:r>
            <a:endParaRPr lang="en-US" sz="1300" dirty="0"/>
          </a:p>
        </p:txBody>
      </p:sp>
      <p:sp>
        <p:nvSpPr>
          <p:cNvPr id="203" name="Text 201"/>
          <p:cNvSpPr txBox="1"/>
          <p:nvPr/>
        </p:nvSpPr>
        <p:spPr>
          <a:xfrm>
            <a:off x="10524744" y="360919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−10.1 pts</a:t>
            </a:r>
            <a:endParaRPr lang="en-US" sz="1300" dirty="0"/>
          </a:p>
        </p:txBody>
      </p:sp>
      <p:sp>
        <p:nvSpPr>
          <p:cNvPr id="204" name="Text 202"/>
          <p:cNvSpPr txBox="1"/>
          <p:nvPr/>
        </p:nvSpPr>
        <p:spPr>
          <a:xfrm>
            <a:off x="6208776" y="382434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205" name="Shape 203"/>
          <p:cNvSpPr/>
          <p:nvPr/>
        </p:nvSpPr>
        <p:spPr>
          <a:xfrm>
            <a:off x="8687444" y="3918204"/>
            <a:ext cx="365880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6" name="Shape 204"/>
          <p:cNvSpPr/>
          <p:nvPr/>
        </p:nvSpPr>
        <p:spPr>
          <a:xfrm>
            <a:off x="8984744" y="3863340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07" name="Shape 205"/>
          <p:cNvSpPr/>
          <p:nvPr/>
        </p:nvSpPr>
        <p:spPr>
          <a:xfrm>
            <a:off x="8618864" y="3863340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08" name="Text 206"/>
          <p:cNvSpPr txBox="1"/>
          <p:nvPr/>
        </p:nvSpPr>
        <p:spPr>
          <a:xfrm>
            <a:off x="9390888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41.9%</a:t>
            </a:r>
            <a:endParaRPr lang="en-US" sz="1300" dirty="0"/>
          </a:p>
        </p:txBody>
      </p:sp>
      <p:sp>
        <p:nvSpPr>
          <p:cNvPr id="209" name="Text 207"/>
          <p:cNvSpPr txBox="1"/>
          <p:nvPr/>
        </p:nvSpPr>
        <p:spPr>
          <a:xfrm>
            <a:off x="9957816" y="382434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31.7%</a:t>
            </a:r>
            <a:endParaRPr lang="en-US" sz="1300" dirty="0"/>
          </a:p>
        </p:txBody>
      </p:sp>
      <p:sp>
        <p:nvSpPr>
          <p:cNvPr id="210" name="Text 208"/>
          <p:cNvSpPr txBox="1"/>
          <p:nvPr/>
        </p:nvSpPr>
        <p:spPr>
          <a:xfrm>
            <a:off x="10524744" y="382434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−10.2 pts</a:t>
            </a:r>
            <a:endParaRPr lang="en-US" sz="1300" dirty="0"/>
          </a:p>
        </p:txBody>
      </p:sp>
      <p:sp>
        <p:nvSpPr>
          <p:cNvPr id="211" name="Shape 209"/>
          <p:cNvSpPr/>
          <p:nvPr/>
        </p:nvSpPr>
        <p:spPr>
          <a:xfrm>
            <a:off x="6135624" y="4039496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12" name="Text 210"/>
          <p:cNvSpPr txBox="1"/>
          <p:nvPr/>
        </p:nvSpPr>
        <p:spPr>
          <a:xfrm>
            <a:off x="6208776" y="4039496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213" name="Shape 211"/>
          <p:cNvSpPr/>
          <p:nvPr/>
        </p:nvSpPr>
        <p:spPr>
          <a:xfrm>
            <a:off x="8654442" y="4133357"/>
            <a:ext cx="367907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4" name="Shape 212"/>
          <p:cNvSpPr/>
          <p:nvPr/>
        </p:nvSpPr>
        <p:spPr>
          <a:xfrm>
            <a:off x="8953769" y="4078493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15" name="Shape 213"/>
          <p:cNvSpPr/>
          <p:nvPr/>
        </p:nvSpPr>
        <p:spPr>
          <a:xfrm>
            <a:off x="8585862" y="4078493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16" name="Text 214"/>
          <p:cNvSpPr txBox="1"/>
          <p:nvPr/>
        </p:nvSpPr>
        <p:spPr>
          <a:xfrm>
            <a:off x="9390888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41.0%</a:t>
            </a:r>
            <a:endParaRPr lang="en-US" sz="1300" dirty="0"/>
          </a:p>
        </p:txBody>
      </p:sp>
      <p:sp>
        <p:nvSpPr>
          <p:cNvPr id="217" name="Text 215"/>
          <p:cNvSpPr txBox="1"/>
          <p:nvPr/>
        </p:nvSpPr>
        <p:spPr>
          <a:xfrm>
            <a:off x="9957816" y="4039496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30.8%</a:t>
            </a:r>
            <a:endParaRPr lang="en-US" sz="1300" dirty="0"/>
          </a:p>
        </p:txBody>
      </p:sp>
      <p:sp>
        <p:nvSpPr>
          <p:cNvPr id="218" name="Text 216"/>
          <p:cNvSpPr txBox="1"/>
          <p:nvPr/>
        </p:nvSpPr>
        <p:spPr>
          <a:xfrm>
            <a:off x="10524744" y="4039496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−10.2 pts</a:t>
            </a:r>
            <a:endParaRPr lang="en-US" sz="1300" dirty="0"/>
          </a:p>
        </p:txBody>
      </p:sp>
      <p:sp>
        <p:nvSpPr>
          <p:cNvPr id="219" name="Text 217"/>
          <p:cNvSpPr txBox="1"/>
          <p:nvPr/>
        </p:nvSpPr>
        <p:spPr>
          <a:xfrm>
            <a:off x="6208776" y="4254649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220" name="Shape 218"/>
          <p:cNvSpPr/>
          <p:nvPr/>
        </p:nvSpPr>
        <p:spPr>
          <a:xfrm>
            <a:off x="8770408" y="4348510"/>
            <a:ext cx="389809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1" name="Shape 219"/>
          <p:cNvSpPr/>
          <p:nvPr/>
        </p:nvSpPr>
        <p:spPr>
          <a:xfrm>
            <a:off x="9091637" y="4293646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22" name="Shape 220"/>
          <p:cNvSpPr/>
          <p:nvPr/>
        </p:nvSpPr>
        <p:spPr>
          <a:xfrm>
            <a:off x="8701828" y="4293646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23" name="Text 221"/>
          <p:cNvSpPr txBox="1"/>
          <p:nvPr/>
        </p:nvSpPr>
        <p:spPr>
          <a:xfrm>
            <a:off x="9390888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44.9%</a:t>
            </a:r>
            <a:endParaRPr lang="en-US" sz="1300" dirty="0"/>
          </a:p>
        </p:txBody>
      </p:sp>
      <p:sp>
        <p:nvSpPr>
          <p:cNvPr id="224" name="Text 222"/>
          <p:cNvSpPr txBox="1"/>
          <p:nvPr/>
        </p:nvSpPr>
        <p:spPr>
          <a:xfrm>
            <a:off x="9957816" y="4254649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34.0%</a:t>
            </a:r>
            <a:endParaRPr lang="en-US" sz="1300" dirty="0"/>
          </a:p>
        </p:txBody>
      </p:sp>
      <p:sp>
        <p:nvSpPr>
          <p:cNvPr id="225" name="Text 223"/>
          <p:cNvSpPr txBox="1"/>
          <p:nvPr/>
        </p:nvSpPr>
        <p:spPr>
          <a:xfrm>
            <a:off x="10524744" y="4254649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−10.8 pts</a:t>
            </a:r>
            <a:endParaRPr lang="en-US" sz="1300" dirty="0"/>
          </a:p>
        </p:txBody>
      </p:sp>
      <p:sp>
        <p:nvSpPr>
          <p:cNvPr id="226" name="Shape 224"/>
          <p:cNvSpPr/>
          <p:nvPr/>
        </p:nvSpPr>
        <p:spPr>
          <a:xfrm>
            <a:off x="6135624" y="4469802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7" name="Text 225"/>
          <p:cNvSpPr txBox="1"/>
          <p:nvPr/>
        </p:nvSpPr>
        <p:spPr>
          <a:xfrm>
            <a:off x="6208776" y="4469802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228" name="Shape 226"/>
          <p:cNvSpPr/>
          <p:nvPr/>
        </p:nvSpPr>
        <p:spPr>
          <a:xfrm>
            <a:off x="8425794" y="4563663"/>
            <a:ext cx="402892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9" name="Shape 227"/>
          <p:cNvSpPr/>
          <p:nvPr/>
        </p:nvSpPr>
        <p:spPr>
          <a:xfrm>
            <a:off x="8760105" y="4508799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30" name="Shape 228"/>
          <p:cNvSpPr/>
          <p:nvPr/>
        </p:nvSpPr>
        <p:spPr>
          <a:xfrm>
            <a:off x="8357214" y="4508799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31" name="Text 229"/>
          <p:cNvSpPr txBox="1"/>
          <p:nvPr/>
        </p:nvSpPr>
        <p:spPr>
          <a:xfrm>
            <a:off x="9390888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35.6%</a:t>
            </a:r>
            <a:endParaRPr lang="en-US" sz="1300" dirty="0"/>
          </a:p>
        </p:txBody>
      </p:sp>
      <p:sp>
        <p:nvSpPr>
          <p:cNvPr id="232" name="Text 230"/>
          <p:cNvSpPr txBox="1"/>
          <p:nvPr/>
        </p:nvSpPr>
        <p:spPr>
          <a:xfrm>
            <a:off x="9957816" y="4469802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24.4%</a:t>
            </a:r>
            <a:endParaRPr lang="en-US" sz="1300" dirty="0"/>
          </a:p>
        </p:txBody>
      </p:sp>
      <p:sp>
        <p:nvSpPr>
          <p:cNvPr id="233" name="Text 231"/>
          <p:cNvSpPr txBox="1"/>
          <p:nvPr/>
        </p:nvSpPr>
        <p:spPr>
          <a:xfrm>
            <a:off x="10524744" y="4469802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−11.2 pts</a:t>
            </a:r>
            <a:endParaRPr lang="en-US" sz="1300" dirty="0"/>
          </a:p>
        </p:txBody>
      </p:sp>
      <p:sp>
        <p:nvSpPr>
          <p:cNvPr id="234" name="Text 232"/>
          <p:cNvSpPr txBox="1"/>
          <p:nvPr/>
        </p:nvSpPr>
        <p:spPr>
          <a:xfrm>
            <a:off x="6208776" y="4684955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235" name="Shape 233"/>
          <p:cNvSpPr/>
          <p:nvPr/>
        </p:nvSpPr>
        <p:spPr>
          <a:xfrm>
            <a:off x="8627876" y="4778816"/>
            <a:ext cx="523192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6" name="Shape 234"/>
          <p:cNvSpPr/>
          <p:nvPr/>
        </p:nvSpPr>
        <p:spPr>
          <a:xfrm>
            <a:off x="9082487" y="4723952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37" name="Shape 235"/>
          <p:cNvSpPr/>
          <p:nvPr/>
        </p:nvSpPr>
        <p:spPr>
          <a:xfrm>
            <a:off x="8559296" y="4723952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38" name="Text 236"/>
          <p:cNvSpPr txBox="1"/>
          <p:nvPr/>
        </p:nvSpPr>
        <p:spPr>
          <a:xfrm>
            <a:off x="9390888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44.6%</a:t>
            </a:r>
            <a:endParaRPr lang="en-US" sz="1300" dirty="0"/>
          </a:p>
        </p:txBody>
      </p:sp>
      <p:sp>
        <p:nvSpPr>
          <p:cNvPr id="239" name="Text 237"/>
          <p:cNvSpPr txBox="1"/>
          <p:nvPr/>
        </p:nvSpPr>
        <p:spPr>
          <a:xfrm>
            <a:off x="9957816" y="4684955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30.1%</a:t>
            </a:r>
            <a:endParaRPr lang="en-US" sz="1300" dirty="0"/>
          </a:p>
        </p:txBody>
      </p:sp>
      <p:sp>
        <p:nvSpPr>
          <p:cNvPr id="240" name="Text 238"/>
          <p:cNvSpPr txBox="1"/>
          <p:nvPr/>
        </p:nvSpPr>
        <p:spPr>
          <a:xfrm>
            <a:off x="10524744" y="4684955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−14.5 pts</a:t>
            </a:r>
            <a:endParaRPr lang="en-US" sz="1300" dirty="0"/>
          </a:p>
        </p:txBody>
      </p:sp>
      <p:sp>
        <p:nvSpPr>
          <p:cNvPr id="241" name="Shape 239"/>
          <p:cNvSpPr/>
          <p:nvPr/>
        </p:nvSpPr>
        <p:spPr>
          <a:xfrm>
            <a:off x="6135624" y="4900108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42" name="Text 240"/>
          <p:cNvSpPr txBox="1"/>
          <p:nvPr/>
        </p:nvSpPr>
        <p:spPr>
          <a:xfrm>
            <a:off x="6208776" y="4900108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243" name="Shape 241"/>
          <p:cNvSpPr/>
          <p:nvPr/>
        </p:nvSpPr>
        <p:spPr>
          <a:xfrm>
            <a:off x="8579382" y="4993969"/>
            <a:ext cx="529999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44" name="Shape 242"/>
          <p:cNvSpPr/>
          <p:nvPr/>
        </p:nvSpPr>
        <p:spPr>
          <a:xfrm>
            <a:off x="9040801" y="4939105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45" name="Shape 243"/>
          <p:cNvSpPr/>
          <p:nvPr/>
        </p:nvSpPr>
        <p:spPr>
          <a:xfrm>
            <a:off x="8510802" y="4939105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46" name="Text 244"/>
          <p:cNvSpPr txBox="1"/>
          <p:nvPr/>
        </p:nvSpPr>
        <p:spPr>
          <a:xfrm>
            <a:off x="9390888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43.4%</a:t>
            </a:r>
            <a:endParaRPr lang="en-US" sz="1300" dirty="0"/>
          </a:p>
        </p:txBody>
      </p:sp>
      <p:sp>
        <p:nvSpPr>
          <p:cNvPr id="247" name="Text 245"/>
          <p:cNvSpPr txBox="1"/>
          <p:nvPr/>
        </p:nvSpPr>
        <p:spPr>
          <a:xfrm>
            <a:off x="9957816" y="4900108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28.7%</a:t>
            </a:r>
            <a:endParaRPr lang="en-US" sz="1300" dirty="0"/>
          </a:p>
        </p:txBody>
      </p:sp>
      <p:sp>
        <p:nvSpPr>
          <p:cNvPr id="248" name="Text 246"/>
          <p:cNvSpPr txBox="1"/>
          <p:nvPr/>
        </p:nvSpPr>
        <p:spPr>
          <a:xfrm>
            <a:off x="10524744" y="4900108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−14.7 pts</a:t>
            </a:r>
            <a:endParaRPr lang="en-US" sz="1300" dirty="0"/>
          </a:p>
        </p:txBody>
      </p:sp>
      <p:sp>
        <p:nvSpPr>
          <p:cNvPr id="249" name="Text 247"/>
          <p:cNvSpPr txBox="1"/>
          <p:nvPr/>
        </p:nvSpPr>
        <p:spPr>
          <a:xfrm>
            <a:off x="6208776" y="5115261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250" name="Shape 248"/>
          <p:cNvSpPr/>
          <p:nvPr/>
        </p:nvSpPr>
        <p:spPr>
          <a:xfrm>
            <a:off x="8614506" y="5209122"/>
            <a:ext cx="554833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51" name="Shape 249"/>
          <p:cNvSpPr/>
          <p:nvPr/>
        </p:nvSpPr>
        <p:spPr>
          <a:xfrm>
            <a:off x="9100759" y="5154258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52" name="Shape 250"/>
          <p:cNvSpPr/>
          <p:nvPr/>
        </p:nvSpPr>
        <p:spPr>
          <a:xfrm>
            <a:off x="8545926" y="5154258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53" name="Text 251"/>
          <p:cNvSpPr txBox="1"/>
          <p:nvPr/>
        </p:nvSpPr>
        <p:spPr>
          <a:xfrm>
            <a:off x="9390888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45.1%</a:t>
            </a:r>
            <a:endParaRPr lang="en-US" sz="1300" dirty="0"/>
          </a:p>
        </p:txBody>
      </p:sp>
      <p:sp>
        <p:nvSpPr>
          <p:cNvPr id="254" name="Text 252"/>
          <p:cNvSpPr txBox="1"/>
          <p:nvPr/>
        </p:nvSpPr>
        <p:spPr>
          <a:xfrm>
            <a:off x="9957816" y="5115261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29.7%</a:t>
            </a:r>
            <a:endParaRPr lang="en-US" sz="1300" dirty="0"/>
          </a:p>
        </p:txBody>
      </p:sp>
      <p:sp>
        <p:nvSpPr>
          <p:cNvPr id="255" name="Text 253"/>
          <p:cNvSpPr txBox="1"/>
          <p:nvPr/>
        </p:nvSpPr>
        <p:spPr>
          <a:xfrm>
            <a:off x="10524744" y="5115261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−15.4 pts</a:t>
            </a:r>
            <a:endParaRPr lang="en-US" sz="1300" dirty="0"/>
          </a:p>
        </p:txBody>
      </p:sp>
      <p:sp>
        <p:nvSpPr>
          <p:cNvPr id="256" name="Shape 254"/>
          <p:cNvSpPr/>
          <p:nvPr/>
        </p:nvSpPr>
        <p:spPr>
          <a:xfrm>
            <a:off x="6135624" y="5330414"/>
            <a:ext cx="5394960" cy="215153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7" name="Text 255"/>
          <p:cNvSpPr txBox="1"/>
          <p:nvPr/>
        </p:nvSpPr>
        <p:spPr>
          <a:xfrm>
            <a:off x="6208776" y="5330414"/>
            <a:ext cx="2011680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258" name="Shape 256"/>
          <p:cNvSpPr/>
          <p:nvPr/>
        </p:nvSpPr>
        <p:spPr>
          <a:xfrm>
            <a:off x="8453821" y="5424275"/>
            <a:ext cx="631638" cy="27432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59" name="Shape 257"/>
          <p:cNvSpPr/>
          <p:nvPr/>
        </p:nvSpPr>
        <p:spPr>
          <a:xfrm>
            <a:off x="9016879" y="5369411"/>
            <a:ext cx="137160" cy="137160"/>
          </a:xfrm>
          <a:prstGeom prst="ellipse">
            <a:avLst/>
          </a:prstGeom>
          <a:solidFill>
            <a:srgbClr val="0B2C4A"/>
          </a:solidFill>
          <a:ln/>
        </p:spPr>
      </p:sp>
      <p:sp>
        <p:nvSpPr>
          <p:cNvPr id="260" name="Shape 258"/>
          <p:cNvSpPr/>
          <p:nvPr/>
        </p:nvSpPr>
        <p:spPr>
          <a:xfrm>
            <a:off x="8385241" y="5369411"/>
            <a:ext cx="137160" cy="137160"/>
          </a:xfrm>
          <a:prstGeom prst="ellipse">
            <a:avLst/>
          </a:prstGeom>
          <a:solidFill>
            <a:srgbClr val="C2352F"/>
          </a:solidFill>
          <a:ln/>
        </p:spPr>
      </p:sp>
      <p:sp>
        <p:nvSpPr>
          <p:cNvPr id="261" name="Text 259"/>
          <p:cNvSpPr txBox="1"/>
          <p:nvPr/>
        </p:nvSpPr>
        <p:spPr>
          <a:xfrm>
            <a:off x="9390888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42.8%</a:t>
            </a:r>
            <a:endParaRPr lang="en-US" sz="1300" dirty="0"/>
          </a:p>
        </p:txBody>
      </p:sp>
      <p:sp>
        <p:nvSpPr>
          <p:cNvPr id="262" name="Text 260"/>
          <p:cNvSpPr txBox="1"/>
          <p:nvPr/>
        </p:nvSpPr>
        <p:spPr>
          <a:xfrm>
            <a:off x="9957816" y="5330414"/>
            <a:ext cx="56692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25.2%</a:t>
            </a:r>
            <a:endParaRPr lang="en-US" sz="1300" dirty="0"/>
          </a:p>
        </p:txBody>
      </p:sp>
      <p:sp>
        <p:nvSpPr>
          <p:cNvPr id="263" name="Text 261"/>
          <p:cNvSpPr txBox="1"/>
          <p:nvPr/>
        </p:nvSpPr>
        <p:spPr>
          <a:xfrm>
            <a:off x="10524744" y="5330414"/>
            <a:ext cx="85953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−17.6 pts</a:t>
            </a:r>
            <a:endParaRPr lang="en-US" sz="1300" dirty="0"/>
          </a:p>
        </p:txBody>
      </p:sp>
      <p:sp>
        <p:nvSpPr>
          <p:cNvPr id="264" name="Shape 262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65" name="Text 263"/>
          <p:cNvSpPr txBox="1"/>
          <p:nvPr/>
        </p:nvSpPr>
        <p:spPr>
          <a:xfrm>
            <a:off x="658368" y="5980176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parts margin runs 4.2 pts below customer pay across the group; 11 of 33 stores are at or better than that gap. Widest: LR LV (−17.6 pts), HONDA FLAGSTAFF (−15.4 pts) and AUDI RENO (−14.7 pts).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2026-10-21T17:28:42Z</dcterms:created>
  <dcterms:modified xsi:type="dcterms:W3CDTF">2026-10-21T17:28:42Z</dcterms:modified>
</cp:coreProperties>
</file>