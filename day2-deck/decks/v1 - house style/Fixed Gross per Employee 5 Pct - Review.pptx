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Gross: Qlik - Productivity app, P&amp;L Total Gross Profit - Fixed Ops. Headcount: ADP Employee Master extract 10/19/2026 (rebuilt 2026-10-20; the Qlik headcount history undercounted). Fixed gross per fixed employee = gross / fixed employees, Jan-Sep 2026 monthly average. Same-store, INEOS excluded (opened 2026). GMC Prescott body shop gross and body shop staff excluded. Each store is measured against its own number: Target = today + 5%. Gross/yr = 5% x the store's gross per employee x its average fixed employees x 12 (the same staff producing 5% more). Per working day uses 307 days open a year (6 days a week less the 6 service holidays). Today and Target = fixed gross per fixed employee a month.Framing: every store is measured against itself, so an Audi store does not set a Lincoln store's target. 5% is roughly one more customer-pay RO a day for a small store, or a few tenths of an hour per RO.
TOYOTA HENDERSON: $14,174 today -&gt; $14,883 target per employee a month; 177.1 fixed employees; $1,506,225 a year
CHEVY LV: $12,042 today -&gt; $12,644 target per employee a month; 152.7 fixed employees; $1,103,005 a year
HONDA HENDERSON: $16,061 today -&gt; $16,864 target per employee a month; 99.8 fixed employees; $961,535 a year
AUDI HENDERSON: $23,461 today -&gt; $24,634 target per employee a month; 58.4 fixed employees; $822,684 a year
SUBARU LV: $12,874 today -&gt; $13,518 target per employee a month; 87.0 fixed employees; $672,026 a year
CADILLAC: $14,260 today -&gt; $14,973 target per employee a month; 74.8 fixed employees; $639,799 a year
HONDA NORTH: $14,604 today -&gt; $15,334 target per employee a month; 65.6 fixed employees; $574,425 a year
LR LV: $18,148 today -&gt; $19,056 target per employee a month; 40.4 fixed employees; $440,403 a year
KIA LV: $13,289 today -&gt; $13,954 target per employee a month; 51.4 fixed employees; $410,199 a year
TOYOTA SPOKANE: $11,128 today -&gt; $11,685 target per employee a month; 59.2 fixed employees; $395,423 a year
TOYOTA PRESCOTT: $11,044 today -&gt; $11,596 target per employee a month; 51.1 fixed employees; $338,685 a year
VW HENDERSON: $12,006 today -&gt; $12,606 target per employee a month; 44.3 fixed employees; $319,353 a year
NISSAN: $11,957 today -&gt; $12,555 target per employee a month; 44.4 fixed employees; $318,864 a year
CHEVY GMC BULLHEAD: $10,391 today -&gt; $10,911 target per employee a month; 48.4 fixed employees; $302,035 a year
TOYOTA FLAGSTAFF: $10,794 today -&gt; $11,333 target per employee a month; 46.0 fixed employees; $297,906 a year
AUDI RENO: $14,916 today -&gt; $15,662 target per employee a month; 33.2 fixed employees; $297,322 a year
HONDA SPOKANE: $12,871 today -&gt; $13,514 target per employee a month; 36.1 fixed employees; $278,863 a year
LEXUS: $16,919 today -&gt; $17,765 target per employee a month; 27.2 fixed employees; $276,346 a year
VOLVO: $18,549 today -&gt; $19,476 target per employee a month; 23.4 fixed employees; $260,917 a year
CDJR POST FALLS: $9,953 today -&gt; $10,450 target per employee a month; 39.7 fixed employees; $236,877 a year
SUBARU ST GEORGE: $15,556 today -&gt; $16,333 target per employee a month; 25.1 fixed employees; $234,372 a year
LR HENDERSON: $18,268 today -&gt; $19,182 target per employee a month; 20.8 fixed employees; $227,743 a year
MAZDA: $15,966 today -&gt; $16,765 target per employee a month; 23.0 fixed employees; $220,335 a year
LINCOLN: $10,963 today -&gt; $11,511 target per employee a month; 30.2 fixed employees; $198,802 a year
ACURA: $12,364 today -&gt; $12,982 target per employee a month; 26.0 fixed employees; $192,877 a year
SUBARU PRESCOTT: $12,501 today -&gt; $13,126 target per employee a month; 24.0 fixed employees; $180,016 a year
KIA ST GEORGE: $12,103 today -&gt; $12,709 target per employee a month; 21.4 fixed employees; $155,730 a year
HYUNDAI ST GEORGE: $11,541 today -&gt; $12,118 target per employee a month; 22.0 fixed employees; $152,344 a year
GMC PRESCOTT: $9,498 today -&gt; $9,973 target per employee a month; 26.6 fixed employees; $151,334 a year
LR RENO: $15,226 today -&gt; $15,988 target per employee a month; 16.1 fixed employees; $147,187 a year
HONDA FLAGSTAFF: $9,149 today -&gt; $9,607 target per employee a month; 19.3 fixed employees; $106,131 a year
HYUNDAI PRESCOTT: $11,631 today -&gt; $12,212 target per employee a month; 14.7 fixed employees; $102,351 a year
VW ST GEORGE: $9,878 today -&gt; $10,372 target per employee a month; 10.9 fixed employees; $64,535 a year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PRODUCTIVITY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5% More per Employee Is Worth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19856" y="131673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Gross/yr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370832" y="13167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3167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70264" y="131673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Gross/yr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921240" y="13167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671048" y="13167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1700784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70048" y="1754034"/>
            <a:ext cx="694944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19856" y="1700784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$1,506,225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70832" y="1700784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$14,174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1700784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$14,883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1937452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70048" y="1990703"/>
            <a:ext cx="508906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419856" y="1937452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$1,103,005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370832" y="1937452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$12,042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1937452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$12,644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174120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670048" y="2227371"/>
            <a:ext cx="443634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19856" y="2174120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$961,535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370832" y="2174120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$16,061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2174120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$16,864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2410789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670048" y="2464039"/>
            <a:ext cx="379571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419856" y="2410789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$822,684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370832" y="2410789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$23,461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2410789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$24,634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2647457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670048" y="2700707"/>
            <a:ext cx="310060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419856" y="2647457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$672,026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370832" y="2647457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$12,874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120640" y="2647457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$13,518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" y="2884125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70048" y="2937376"/>
            <a:ext cx="295191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419856" y="2884125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$639,799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370832" y="2884125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$14,260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120640" y="2884125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$14,973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120793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670048" y="3174044"/>
            <a:ext cx="265029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419856" y="3120793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$574,425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370832" y="3120793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$14,604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120640" y="3120793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$15,334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3357462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670048" y="3410712"/>
            <a:ext cx="203194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419856" y="3357462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$440,403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4370832" y="3357462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$18,148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5120640" y="3357462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$19,056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3594130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670048" y="3647380"/>
            <a:ext cx="189258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3419856" y="3594130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$410,199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4370832" y="3594130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$13,289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5120640" y="3594130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$13,954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658368" y="3830798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2670048" y="3884048"/>
            <a:ext cx="182441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3419856" y="3830798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$395,423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4370832" y="3830798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$11,128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120640" y="3830798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$11,685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4067466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2670048" y="4120717"/>
            <a:ext cx="156263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3419856" y="4067466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$338,685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4370832" y="4067466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$11,044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5120640" y="4067466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$11,596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4304135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2670048" y="4357385"/>
            <a:ext cx="147344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3419856" y="4304135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$319,353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4370832" y="4304135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$12,006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5120640" y="4304135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$12,606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658368" y="4540803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2670048" y="4594053"/>
            <a:ext cx="147118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3419856" y="4540803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$318,864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4370832" y="4540803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$11,957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5120640" y="4540803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$12,555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4777471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2670048" y="4830721"/>
            <a:ext cx="139353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3419856" y="4777471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$302,035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4370832" y="4777471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$10,391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5120640" y="4777471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$10,911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658368" y="5014139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2670048" y="5067390"/>
            <a:ext cx="137448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3419856" y="5014139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$297,906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4370832" y="5014139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$10,794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5120640" y="5014139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$11,333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658368" y="5250808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2670048" y="5304058"/>
            <a:ext cx="137179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3419856" y="5250808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$297,322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4370832" y="5250808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$14,916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5120640" y="5250808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$15,662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658368" y="5487476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2670048" y="5540726"/>
            <a:ext cx="128662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3419856" y="5487476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$278,863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4370832" y="5487476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$12,871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5120640" y="5487476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$13,514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1700784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8220456" y="1754034"/>
            <a:ext cx="127501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8970264" y="1700784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$276,346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9921240" y="1700784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$16,919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10671048" y="1700784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$17,765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6208776" y="1937452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8220456" y="1990703"/>
            <a:ext cx="120382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8970264" y="1937452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$260,917</a:t>
            </a:r>
            <a:endParaRPr lang="en-US" sz="1300" dirty="0"/>
          </a:p>
        </p:txBody>
      </p:sp>
      <p:sp>
        <p:nvSpPr>
          <p:cNvPr id="105" name="Text 103"/>
          <p:cNvSpPr txBox="1"/>
          <p:nvPr/>
        </p:nvSpPr>
        <p:spPr>
          <a:xfrm>
            <a:off x="9921240" y="1937452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$18,549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10671048" y="1937452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$19,476</a:t>
            </a:r>
            <a:endParaRPr lang="en-US" sz="1300" dirty="0"/>
          </a:p>
        </p:txBody>
      </p:sp>
      <p:sp>
        <p:nvSpPr>
          <p:cNvPr id="107" name="Text 105"/>
          <p:cNvSpPr txBox="1"/>
          <p:nvPr/>
        </p:nvSpPr>
        <p:spPr>
          <a:xfrm>
            <a:off x="6208776" y="2174120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108" name="Shape 106"/>
          <p:cNvSpPr/>
          <p:nvPr/>
        </p:nvSpPr>
        <p:spPr>
          <a:xfrm>
            <a:off x="8220456" y="2227371"/>
            <a:ext cx="109290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09" name="Text 107"/>
          <p:cNvSpPr txBox="1"/>
          <p:nvPr/>
        </p:nvSpPr>
        <p:spPr>
          <a:xfrm>
            <a:off x="8970264" y="2174120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$236,877</a:t>
            </a:r>
            <a:endParaRPr lang="en-US" sz="1300" dirty="0"/>
          </a:p>
        </p:txBody>
      </p:sp>
      <p:sp>
        <p:nvSpPr>
          <p:cNvPr id="110" name="Text 108"/>
          <p:cNvSpPr txBox="1"/>
          <p:nvPr/>
        </p:nvSpPr>
        <p:spPr>
          <a:xfrm>
            <a:off x="9921240" y="2174120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$9,953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10671048" y="2174120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$10,450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6208776" y="2410789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8220456" y="2464039"/>
            <a:ext cx="108135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8970264" y="2410789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$234,372</a:t>
            </a:r>
            <a:endParaRPr lang="en-US" sz="1300" dirty="0"/>
          </a:p>
        </p:txBody>
      </p:sp>
      <p:sp>
        <p:nvSpPr>
          <p:cNvPr id="115" name="Text 113"/>
          <p:cNvSpPr txBox="1"/>
          <p:nvPr/>
        </p:nvSpPr>
        <p:spPr>
          <a:xfrm>
            <a:off x="9921240" y="2410789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$15,556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10671048" y="2410789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$16,333</a:t>
            </a:r>
            <a:endParaRPr lang="en-US" sz="1300" dirty="0"/>
          </a:p>
        </p:txBody>
      </p:sp>
      <p:sp>
        <p:nvSpPr>
          <p:cNvPr id="117" name="Text 115"/>
          <p:cNvSpPr txBox="1"/>
          <p:nvPr/>
        </p:nvSpPr>
        <p:spPr>
          <a:xfrm>
            <a:off x="6208776" y="2647457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8220456" y="2700707"/>
            <a:ext cx="105077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8970264" y="2647457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$227,743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9921240" y="2647457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$18,268</a:t>
            </a:r>
            <a:endParaRPr lang="en-US" sz="1300" dirty="0"/>
          </a:p>
        </p:txBody>
      </p:sp>
      <p:sp>
        <p:nvSpPr>
          <p:cNvPr id="121" name="Text 119"/>
          <p:cNvSpPr txBox="1"/>
          <p:nvPr/>
        </p:nvSpPr>
        <p:spPr>
          <a:xfrm>
            <a:off x="10671048" y="2647457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$19,182</a:t>
            </a:r>
            <a:endParaRPr lang="en-US" sz="1300" dirty="0"/>
          </a:p>
        </p:txBody>
      </p:sp>
      <p:sp>
        <p:nvSpPr>
          <p:cNvPr id="122" name="Text 120"/>
          <p:cNvSpPr txBox="1"/>
          <p:nvPr/>
        </p:nvSpPr>
        <p:spPr>
          <a:xfrm>
            <a:off x="6208776" y="2884125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123" name="Shape 121"/>
          <p:cNvSpPr/>
          <p:nvPr/>
        </p:nvSpPr>
        <p:spPr>
          <a:xfrm>
            <a:off x="8220456" y="2937376"/>
            <a:ext cx="101658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8970264" y="2884125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$220,335</a:t>
            </a:r>
            <a:endParaRPr lang="en-US" sz="1300" dirty="0"/>
          </a:p>
        </p:txBody>
      </p:sp>
      <p:sp>
        <p:nvSpPr>
          <p:cNvPr id="125" name="Text 123"/>
          <p:cNvSpPr txBox="1"/>
          <p:nvPr/>
        </p:nvSpPr>
        <p:spPr>
          <a:xfrm>
            <a:off x="9921240" y="2884125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$15,966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10671048" y="2884125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$16,765</a:t>
            </a:r>
            <a:endParaRPr lang="en-US" sz="1300" dirty="0"/>
          </a:p>
        </p:txBody>
      </p:sp>
      <p:sp>
        <p:nvSpPr>
          <p:cNvPr id="127" name="Text 125"/>
          <p:cNvSpPr txBox="1"/>
          <p:nvPr/>
        </p:nvSpPr>
        <p:spPr>
          <a:xfrm>
            <a:off x="6208776" y="3120793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128" name="Shape 126"/>
          <p:cNvSpPr/>
          <p:nvPr/>
        </p:nvSpPr>
        <p:spPr>
          <a:xfrm>
            <a:off x="8220456" y="3174044"/>
            <a:ext cx="91723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8970264" y="3120793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$198,802</a:t>
            </a:r>
            <a:endParaRPr lang="en-US" sz="1300" dirty="0"/>
          </a:p>
        </p:txBody>
      </p:sp>
      <p:sp>
        <p:nvSpPr>
          <p:cNvPr id="130" name="Text 128"/>
          <p:cNvSpPr txBox="1"/>
          <p:nvPr/>
        </p:nvSpPr>
        <p:spPr>
          <a:xfrm>
            <a:off x="9921240" y="3120793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$10,963</a:t>
            </a:r>
            <a:endParaRPr lang="en-US" sz="1300" dirty="0"/>
          </a:p>
        </p:txBody>
      </p:sp>
      <p:sp>
        <p:nvSpPr>
          <p:cNvPr id="131" name="Text 129"/>
          <p:cNvSpPr txBox="1"/>
          <p:nvPr/>
        </p:nvSpPr>
        <p:spPr>
          <a:xfrm>
            <a:off x="10671048" y="3120793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$11,511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6208776" y="3357462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133" name="Shape 131"/>
          <p:cNvSpPr/>
          <p:nvPr/>
        </p:nvSpPr>
        <p:spPr>
          <a:xfrm>
            <a:off x="8220456" y="3410712"/>
            <a:ext cx="88990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8970264" y="3357462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$192,877</a:t>
            </a:r>
            <a:endParaRPr lang="en-US" sz="1300" dirty="0"/>
          </a:p>
        </p:txBody>
      </p:sp>
      <p:sp>
        <p:nvSpPr>
          <p:cNvPr id="135" name="Text 133"/>
          <p:cNvSpPr txBox="1"/>
          <p:nvPr/>
        </p:nvSpPr>
        <p:spPr>
          <a:xfrm>
            <a:off x="9921240" y="3357462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$12,364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10671048" y="3357462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$12,982</a:t>
            </a:r>
            <a:endParaRPr lang="en-US" sz="1300" dirty="0"/>
          </a:p>
        </p:txBody>
      </p:sp>
      <p:sp>
        <p:nvSpPr>
          <p:cNvPr id="137" name="Text 135"/>
          <p:cNvSpPr txBox="1"/>
          <p:nvPr/>
        </p:nvSpPr>
        <p:spPr>
          <a:xfrm>
            <a:off x="6208776" y="3594130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138" name="Shape 136"/>
          <p:cNvSpPr/>
          <p:nvPr/>
        </p:nvSpPr>
        <p:spPr>
          <a:xfrm>
            <a:off x="8220456" y="3647380"/>
            <a:ext cx="83056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39" name="Text 137"/>
          <p:cNvSpPr txBox="1"/>
          <p:nvPr/>
        </p:nvSpPr>
        <p:spPr>
          <a:xfrm>
            <a:off x="8970264" y="3594130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$180,016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9921240" y="3594130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$12,501</a:t>
            </a:r>
            <a:endParaRPr lang="en-US" sz="1300" dirty="0"/>
          </a:p>
        </p:txBody>
      </p:sp>
      <p:sp>
        <p:nvSpPr>
          <p:cNvPr id="141" name="Text 139"/>
          <p:cNvSpPr txBox="1"/>
          <p:nvPr/>
        </p:nvSpPr>
        <p:spPr>
          <a:xfrm>
            <a:off x="10671048" y="3594130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$13,126</a:t>
            </a:r>
            <a:endParaRPr lang="en-US" sz="1300" dirty="0"/>
          </a:p>
        </p:txBody>
      </p:sp>
      <p:sp>
        <p:nvSpPr>
          <p:cNvPr id="142" name="Text 140"/>
          <p:cNvSpPr txBox="1"/>
          <p:nvPr/>
        </p:nvSpPr>
        <p:spPr>
          <a:xfrm>
            <a:off x="6208776" y="3830798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143" name="Shape 141"/>
          <p:cNvSpPr/>
          <p:nvPr/>
        </p:nvSpPr>
        <p:spPr>
          <a:xfrm>
            <a:off x="8220456" y="3884048"/>
            <a:ext cx="71851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8970264" y="3830798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$155,730</a:t>
            </a:r>
            <a:endParaRPr lang="en-US" sz="1300" dirty="0"/>
          </a:p>
        </p:txBody>
      </p:sp>
      <p:sp>
        <p:nvSpPr>
          <p:cNvPr id="145" name="Text 143"/>
          <p:cNvSpPr txBox="1"/>
          <p:nvPr/>
        </p:nvSpPr>
        <p:spPr>
          <a:xfrm>
            <a:off x="9921240" y="3830798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$12,103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10671048" y="3830798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$12,709</a:t>
            </a:r>
            <a:endParaRPr lang="en-US" sz="1300" dirty="0"/>
          </a:p>
        </p:txBody>
      </p:sp>
      <p:sp>
        <p:nvSpPr>
          <p:cNvPr id="147" name="Text 145"/>
          <p:cNvSpPr txBox="1"/>
          <p:nvPr/>
        </p:nvSpPr>
        <p:spPr>
          <a:xfrm>
            <a:off x="6208776" y="4067466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148" name="Shape 146"/>
          <p:cNvSpPr/>
          <p:nvPr/>
        </p:nvSpPr>
        <p:spPr>
          <a:xfrm>
            <a:off x="8220456" y="4120717"/>
            <a:ext cx="70289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8970264" y="4067466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$152,344</a:t>
            </a:r>
            <a:endParaRPr lang="en-US" sz="1300" dirty="0"/>
          </a:p>
        </p:txBody>
      </p:sp>
      <p:sp>
        <p:nvSpPr>
          <p:cNvPr id="150" name="Text 148"/>
          <p:cNvSpPr txBox="1"/>
          <p:nvPr/>
        </p:nvSpPr>
        <p:spPr>
          <a:xfrm>
            <a:off x="9921240" y="4067466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$11,541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10671048" y="4067466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$12,118</a:t>
            </a:r>
            <a:endParaRPr lang="en-US" sz="1300" dirty="0"/>
          </a:p>
        </p:txBody>
      </p:sp>
      <p:sp>
        <p:nvSpPr>
          <p:cNvPr id="152" name="Text 150"/>
          <p:cNvSpPr txBox="1"/>
          <p:nvPr/>
        </p:nvSpPr>
        <p:spPr>
          <a:xfrm>
            <a:off x="6208776" y="4304135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153" name="Shape 151"/>
          <p:cNvSpPr/>
          <p:nvPr/>
        </p:nvSpPr>
        <p:spPr>
          <a:xfrm>
            <a:off x="8220456" y="4357385"/>
            <a:ext cx="69822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54" name="Text 152"/>
          <p:cNvSpPr txBox="1"/>
          <p:nvPr/>
        </p:nvSpPr>
        <p:spPr>
          <a:xfrm>
            <a:off x="8970264" y="4304135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$151,334</a:t>
            </a:r>
            <a:endParaRPr lang="en-US" sz="1300" dirty="0"/>
          </a:p>
        </p:txBody>
      </p:sp>
      <p:sp>
        <p:nvSpPr>
          <p:cNvPr id="155" name="Text 153"/>
          <p:cNvSpPr txBox="1"/>
          <p:nvPr/>
        </p:nvSpPr>
        <p:spPr>
          <a:xfrm>
            <a:off x="9921240" y="4304135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$9,498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10671048" y="4304135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$9,973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6208776" y="4540803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158" name="Shape 156"/>
          <p:cNvSpPr/>
          <p:nvPr/>
        </p:nvSpPr>
        <p:spPr>
          <a:xfrm>
            <a:off x="8220456" y="4594053"/>
            <a:ext cx="67909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8970264" y="4540803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$147,187</a:t>
            </a:r>
            <a:endParaRPr lang="en-US" sz="1300" dirty="0"/>
          </a:p>
        </p:txBody>
      </p:sp>
      <p:sp>
        <p:nvSpPr>
          <p:cNvPr id="160" name="Text 158"/>
          <p:cNvSpPr txBox="1"/>
          <p:nvPr/>
        </p:nvSpPr>
        <p:spPr>
          <a:xfrm>
            <a:off x="9921240" y="4540803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$15,226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10671048" y="4540803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$15,988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6208776" y="4777471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163" name="Shape 161"/>
          <p:cNvSpPr/>
          <p:nvPr/>
        </p:nvSpPr>
        <p:spPr>
          <a:xfrm>
            <a:off x="8220456" y="4830721"/>
            <a:ext cx="48967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64" name="Text 162"/>
          <p:cNvSpPr txBox="1"/>
          <p:nvPr/>
        </p:nvSpPr>
        <p:spPr>
          <a:xfrm>
            <a:off x="8970264" y="4777471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$106,131</a:t>
            </a:r>
            <a:endParaRPr lang="en-US" sz="1300" dirty="0"/>
          </a:p>
        </p:txBody>
      </p:sp>
      <p:sp>
        <p:nvSpPr>
          <p:cNvPr id="165" name="Text 163"/>
          <p:cNvSpPr txBox="1"/>
          <p:nvPr/>
        </p:nvSpPr>
        <p:spPr>
          <a:xfrm>
            <a:off x="9921240" y="4777471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$9,149</a:t>
            </a:r>
            <a:endParaRPr lang="en-US" sz="1300" dirty="0"/>
          </a:p>
        </p:txBody>
      </p:sp>
      <p:sp>
        <p:nvSpPr>
          <p:cNvPr id="166" name="Text 164"/>
          <p:cNvSpPr txBox="1"/>
          <p:nvPr/>
        </p:nvSpPr>
        <p:spPr>
          <a:xfrm>
            <a:off x="10671048" y="4777471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$9,607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6208776" y="5014139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168" name="Shape 166"/>
          <p:cNvSpPr/>
          <p:nvPr/>
        </p:nvSpPr>
        <p:spPr>
          <a:xfrm>
            <a:off x="8220456" y="5067390"/>
            <a:ext cx="47223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69" name="Text 167"/>
          <p:cNvSpPr txBox="1"/>
          <p:nvPr/>
        </p:nvSpPr>
        <p:spPr>
          <a:xfrm>
            <a:off x="8970264" y="5014139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$102,351</a:t>
            </a:r>
            <a:endParaRPr lang="en-US" sz="1300" dirty="0"/>
          </a:p>
        </p:txBody>
      </p:sp>
      <p:sp>
        <p:nvSpPr>
          <p:cNvPr id="170" name="Text 168"/>
          <p:cNvSpPr txBox="1"/>
          <p:nvPr/>
        </p:nvSpPr>
        <p:spPr>
          <a:xfrm>
            <a:off x="9921240" y="5014139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$11,631</a:t>
            </a:r>
            <a:endParaRPr lang="en-US" sz="1300" dirty="0"/>
          </a:p>
        </p:txBody>
      </p:sp>
      <p:sp>
        <p:nvSpPr>
          <p:cNvPr id="171" name="Text 169"/>
          <p:cNvSpPr txBox="1"/>
          <p:nvPr/>
        </p:nvSpPr>
        <p:spPr>
          <a:xfrm>
            <a:off x="10671048" y="5014139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$12,212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6208776" y="5250808"/>
            <a:ext cx="193852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173" name="Shape 171"/>
          <p:cNvSpPr/>
          <p:nvPr/>
        </p:nvSpPr>
        <p:spPr>
          <a:xfrm>
            <a:off x="8220456" y="5304058"/>
            <a:ext cx="29775" cy="130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74" name="Text 172"/>
          <p:cNvSpPr txBox="1"/>
          <p:nvPr/>
        </p:nvSpPr>
        <p:spPr>
          <a:xfrm>
            <a:off x="8970264" y="5250808"/>
            <a:ext cx="950976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$64,535</a:t>
            </a:r>
            <a:endParaRPr lang="en-US" sz="1300" dirty="0"/>
          </a:p>
        </p:txBody>
      </p:sp>
      <p:sp>
        <p:nvSpPr>
          <p:cNvPr id="175" name="Text 173"/>
          <p:cNvSpPr txBox="1"/>
          <p:nvPr/>
        </p:nvSpPr>
        <p:spPr>
          <a:xfrm>
            <a:off x="9921240" y="5250808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$9,878</a:t>
            </a:r>
            <a:endParaRPr lang="en-US" sz="1300" dirty="0"/>
          </a:p>
        </p:txBody>
      </p:sp>
      <p:sp>
        <p:nvSpPr>
          <p:cNvPr id="176" name="Text 174"/>
          <p:cNvSpPr txBox="1"/>
          <p:nvPr/>
        </p:nvSpPr>
        <p:spPr>
          <a:xfrm>
            <a:off x="10671048" y="5250808"/>
            <a:ext cx="749808" cy="23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$10,372</a:t>
            </a:r>
            <a:endParaRPr lang="en-US" sz="1300" dirty="0"/>
          </a:p>
        </p:txBody>
      </p:sp>
      <p:sp>
        <p:nvSpPr>
          <p:cNvPr id="177" name="Shape 175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78" name="Text 176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5% more gross from the people already on staff is worth $12,586,648 a year. For the average employee that is $681 more a month, about $27 a working day.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2026-10-20T16:30:27Z</dcterms:created>
  <dcterms:modified xsi:type="dcterms:W3CDTF">2026-10-20T16:30:27Z</dcterms:modified>
</cp:coreProperties>
</file>