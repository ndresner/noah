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P&amp;L line Fixed Ops Absorption % = Total Gross Profit - Fixed Ops / Fixed Expenses. GMC Prescott includes its body shop, as on the P&amp;L.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P&amp;L line Fixed Ops Absorption % = Total Gross Profit - Fixed Ops / Fixed Expenses. GMC Prescott includes its body shop, as on the P&amp;L. Jan-Sep 2026 YTD. Green at or above the group, red below. Bars start at 30.0% so differences are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Change in Fixed Ops Absorption %,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Mechanical department profit / mechanical department gross (P&amp;L Detail statement). Body shop is its own department and is not included.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Mechanical department profit / mechanical department gross (P&amp;L Detail statement). Body shop is its own department and is not included. Jan-Sep 2026 YTD. Green at or above the group, red below. Bars start at -45.0% so differences are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Change in Service Net to Gross %,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P&amp;A department profit / P&amp;A department gross (P&amp;L Detail statement).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P&amp;A department profit / P&amp;A department gross (P&amp;L Detail statement). Jan-Sep 2026 YTD. Green at or above the group, red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Change in Parts Net to Gross %,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377440"/>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FIXED OPS</a:t>
            </a:r>
            <a:endParaRPr lang="en-US" sz="2000" dirty="0"/>
          </a:p>
        </p:txBody>
      </p:sp>
      <p:sp>
        <p:nvSpPr>
          <p:cNvPr id="3" name="Text 1"/>
          <p:cNvSpPr txBox="1"/>
          <p:nvPr/>
        </p:nvSpPr>
        <p:spPr>
          <a:xfrm>
            <a:off x="667512" y="2743200"/>
            <a:ext cx="10789920" cy="1234440"/>
          </a:xfrm>
          <a:prstGeom prst="rect">
            <a:avLst/>
          </a:prstGeom>
          <a:noFill/>
          <a:ln/>
        </p:spPr>
        <p:txBody>
          <a:bodyPr wrap="square" lIns="0" tIns="0" rIns="0" bIns="0" rtlCol="0" anchor="ctr"/>
          <a:lstStyle/>
          <a:p>
            <a:pPr indent="0" marL="0">
              <a:buNone/>
            </a:pPr>
            <a:r>
              <a:rPr lang="en-US" sz="8200" b="1" dirty="0">
                <a:solidFill>
                  <a:srgbClr val="1A1A1A"/>
                </a:solidFill>
                <a:latin typeface="Inter" pitchFamily="34" charset="0"/>
                <a:ea typeface="Inter" pitchFamily="34" charset="-122"/>
                <a:cs typeface="Inter" pitchFamily="34" charset="-120"/>
              </a:rPr>
              <a:t>Profitability</a:t>
            </a:r>
            <a:endParaRPr lang="en-US" sz="8200" dirty="0"/>
          </a:p>
        </p:txBody>
      </p:sp>
      <p:sp>
        <p:nvSpPr>
          <p:cNvPr id="4" name="Text 2"/>
          <p:cNvSpPr txBox="1"/>
          <p:nvPr/>
        </p:nvSpPr>
        <p:spPr>
          <a:xfrm>
            <a:off x="694944" y="404164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Absorption   ·   Service net to gross   ·   Parts net to gross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Absorption %</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76.0%</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78.1%</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+2.1 pts</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+2.7%</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77.0%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74.8%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−2.3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−2.9%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75.1%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74.5%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−0.6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74.1%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78.5%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76.3%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79.6%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76.9%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75.4%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79.2%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78.4%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83.0%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+4.6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75.9%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79.9%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+4.0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72.7%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77.6%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+4.9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2.1 pts to 78.1%, ahead of 2025 in six of nine months. Fixed gross grew 4.1%; fixed expenses 1.3%.</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Absorption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7" name="Shape 5"/>
          <p:cNvSpPr/>
          <p:nvPr/>
        </p:nvSpPr>
        <p:spPr>
          <a:xfrm>
            <a:off x="2971800" y="1453358"/>
            <a:ext cx="1828800" cy="126940"/>
          </a:xfrm>
          <a:prstGeom prst="rect">
            <a:avLst/>
          </a:prstGeom>
          <a:solidFill>
            <a:srgbClr val="12A566"/>
          </a:solidFill>
          <a:ln/>
        </p:spPr>
      </p:sp>
      <p:sp>
        <p:nvSpPr>
          <p:cNvPr id="8" name="Text 6"/>
          <p:cNvSpPr txBox="1"/>
          <p:nvPr/>
        </p:nvSpPr>
        <p:spPr>
          <a:xfrm>
            <a:off x="4855464"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106.6%</a:t>
            </a:r>
            <a:endParaRPr lang="en-US" sz="1300" dirty="0"/>
          </a:p>
        </p:txBody>
      </p:sp>
      <p:sp>
        <p:nvSpPr>
          <p:cNvPr id="9" name="Text 7"/>
          <p:cNvSpPr txBox="1"/>
          <p:nvPr/>
        </p:nvSpPr>
        <p:spPr>
          <a:xfrm>
            <a:off x="658368"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 name="Shape 8"/>
          <p:cNvSpPr/>
          <p:nvPr/>
        </p:nvSpPr>
        <p:spPr>
          <a:xfrm>
            <a:off x="2971800" y="1707239"/>
            <a:ext cx="1757110" cy="126940"/>
          </a:xfrm>
          <a:prstGeom prst="rect">
            <a:avLst/>
          </a:prstGeom>
          <a:solidFill>
            <a:srgbClr val="12A566"/>
          </a:solidFill>
          <a:ln/>
        </p:spPr>
      </p:sp>
      <p:sp>
        <p:nvSpPr>
          <p:cNvPr id="11" name="Text 9"/>
          <p:cNvSpPr txBox="1"/>
          <p:nvPr/>
        </p:nvSpPr>
        <p:spPr>
          <a:xfrm>
            <a:off x="4855464"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103.6%</a:t>
            </a:r>
            <a:endParaRPr lang="en-US" sz="1300" dirty="0"/>
          </a:p>
        </p:txBody>
      </p:sp>
      <p:sp>
        <p:nvSpPr>
          <p:cNvPr id="12" name="Text 10"/>
          <p:cNvSpPr txBox="1"/>
          <p:nvPr/>
        </p:nvSpPr>
        <p:spPr>
          <a:xfrm>
            <a:off x="658368"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3" name="Shape 11"/>
          <p:cNvSpPr/>
          <p:nvPr/>
        </p:nvSpPr>
        <p:spPr>
          <a:xfrm>
            <a:off x="2971800" y="1961119"/>
            <a:ext cx="1521003" cy="126940"/>
          </a:xfrm>
          <a:prstGeom prst="rect">
            <a:avLst/>
          </a:prstGeom>
          <a:solidFill>
            <a:srgbClr val="12A566"/>
          </a:solidFill>
          <a:ln/>
        </p:spPr>
      </p:sp>
      <p:sp>
        <p:nvSpPr>
          <p:cNvPr id="14" name="Text 12"/>
          <p:cNvSpPr txBox="1"/>
          <p:nvPr/>
        </p:nvSpPr>
        <p:spPr>
          <a:xfrm>
            <a:off x="4855464" y="189764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93.7%</a:t>
            </a:r>
            <a:endParaRPr lang="en-US" sz="1300" dirty="0"/>
          </a:p>
        </p:txBody>
      </p:sp>
      <p:sp>
        <p:nvSpPr>
          <p:cNvPr id="15" name="Text 13"/>
          <p:cNvSpPr txBox="1"/>
          <p:nvPr/>
        </p:nvSpPr>
        <p:spPr>
          <a:xfrm>
            <a:off x="658368"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6" name="Shape 14"/>
          <p:cNvSpPr/>
          <p:nvPr/>
        </p:nvSpPr>
        <p:spPr>
          <a:xfrm>
            <a:off x="2971800" y="2215000"/>
            <a:ext cx="1430394" cy="126940"/>
          </a:xfrm>
          <a:prstGeom prst="rect">
            <a:avLst/>
          </a:prstGeom>
          <a:solidFill>
            <a:srgbClr val="12A566"/>
          </a:solidFill>
          <a:ln/>
        </p:spPr>
      </p:sp>
      <p:sp>
        <p:nvSpPr>
          <p:cNvPr id="17" name="Text 15"/>
          <p:cNvSpPr txBox="1"/>
          <p:nvPr/>
        </p:nvSpPr>
        <p:spPr>
          <a:xfrm>
            <a:off x="4855464" y="215152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89.9%</a:t>
            </a:r>
            <a:endParaRPr lang="en-US" sz="1300" dirty="0"/>
          </a:p>
        </p:txBody>
      </p:sp>
      <p:sp>
        <p:nvSpPr>
          <p:cNvPr id="18" name="Text 16"/>
          <p:cNvSpPr txBox="1"/>
          <p:nvPr/>
        </p:nvSpPr>
        <p:spPr>
          <a:xfrm>
            <a:off x="658368"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9" name="Shape 17"/>
          <p:cNvSpPr/>
          <p:nvPr/>
        </p:nvSpPr>
        <p:spPr>
          <a:xfrm>
            <a:off x="2971800" y="2468880"/>
            <a:ext cx="1374906" cy="126940"/>
          </a:xfrm>
          <a:prstGeom prst="rect">
            <a:avLst/>
          </a:prstGeom>
          <a:solidFill>
            <a:srgbClr val="12A566"/>
          </a:solidFill>
          <a:ln/>
        </p:spPr>
      </p:sp>
      <p:sp>
        <p:nvSpPr>
          <p:cNvPr id="20" name="Text 18"/>
          <p:cNvSpPr txBox="1"/>
          <p:nvPr/>
        </p:nvSpPr>
        <p:spPr>
          <a:xfrm>
            <a:off x="4855464" y="240541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87.6%</a:t>
            </a:r>
            <a:endParaRPr lang="en-US" sz="1300" dirty="0"/>
          </a:p>
        </p:txBody>
      </p:sp>
      <p:sp>
        <p:nvSpPr>
          <p:cNvPr id="21" name="Text 19"/>
          <p:cNvSpPr txBox="1"/>
          <p:nvPr/>
        </p:nvSpPr>
        <p:spPr>
          <a:xfrm>
            <a:off x="658368"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22" name="Shape 20"/>
          <p:cNvSpPr/>
          <p:nvPr/>
        </p:nvSpPr>
        <p:spPr>
          <a:xfrm>
            <a:off x="2971800" y="2722760"/>
            <a:ext cx="1344762" cy="126940"/>
          </a:xfrm>
          <a:prstGeom prst="rect">
            <a:avLst/>
          </a:prstGeom>
          <a:solidFill>
            <a:srgbClr val="12A566"/>
          </a:solidFill>
          <a:ln/>
        </p:spPr>
      </p:sp>
      <p:sp>
        <p:nvSpPr>
          <p:cNvPr id="23" name="Text 21"/>
          <p:cNvSpPr txBox="1"/>
          <p:nvPr/>
        </p:nvSpPr>
        <p:spPr>
          <a:xfrm>
            <a:off x="4855464" y="265929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86.3%</a:t>
            </a:r>
            <a:endParaRPr lang="en-US" sz="1300" dirty="0"/>
          </a:p>
        </p:txBody>
      </p:sp>
      <p:sp>
        <p:nvSpPr>
          <p:cNvPr id="24" name="Text 22"/>
          <p:cNvSpPr txBox="1"/>
          <p:nvPr/>
        </p:nvSpPr>
        <p:spPr>
          <a:xfrm>
            <a:off x="658368"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5" name="Shape 23"/>
          <p:cNvSpPr/>
          <p:nvPr/>
        </p:nvSpPr>
        <p:spPr>
          <a:xfrm>
            <a:off x="2971800" y="2976641"/>
            <a:ext cx="1338691" cy="126940"/>
          </a:xfrm>
          <a:prstGeom prst="rect">
            <a:avLst/>
          </a:prstGeom>
          <a:solidFill>
            <a:srgbClr val="12A566"/>
          </a:solidFill>
          <a:ln/>
        </p:spPr>
      </p:sp>
      <p:sp>
        <p:nvSpPr>
          <p:cNvPr id="26" name="Text 24"/>
          <p:cNvSpPr txBox="1"/>
          <p:nvPr/>
        </p:nvSpPr>
        <p:spPr>
          <a:xfrm>
            <a:off x="4855464" y="291317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86.1%</a:t>
            </a:r>
            <a:endParaRPr lang="en-US" sz="1300" dirty="0"/>
          </a:p>
        </p:txBody>
      </p:sp>
      <p:sp>
        <p:nvSpPr>
          <p:cNvPr id="27" name="Text 25"/>
          <p:cNvSpPr txBox="1"/>
          <p:nvPr/>
        </p:nvSpPr>
        <p:spPr>
          <a:xfrm>
            <a:off x="658368"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28" name="Shape 26"/>
          <p:cNvSpPr/>
          <p:nvPr/>
        </p:nvSpPr>
        <p:spPr>
          <a:xfrm>
            <a:off x="2971800" y="3230521"/>
            <a:ext cx="1336460" cy="126940"/>
          </a:xfrm>
          <a:prstGeom prst="rect">
            <a:avLst/>
          </a:prstGeom>
          <a:solidFill>
            <a:srgbClr val="12A566"/>
          </a:solidFill>
          <a:ln/>
        </p:spPr>
      </p:sp>
      <p:sp>
        <p:nvSpPr>
          <p:cNvPr id="29" name="Text 27"/>
          <p:cNvSpPr txBox="1"/>
          <p:nvPr/>
        </p:nvSpPr>
        <p:spPr>
          <a:xfrm>
            <a:off x="4855464" y="316705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86.0%</a:t>
            </a:r>
            <a:endParaRPr lang="en-US" sz="1300" dirty="0"/>
          </a:p>
        </p:txBody>
      </p:sp>
      <p:sp>
        <p:nvSpPr>
          <p:cNvPr id="30" name="Text 28"/>
          <p:cNvSpPr txBox="1"/>
          <p:nvPr/>
        </p:nvSpPr>
        <p:spPr>
          <a:xfrm>
            <a:off x="658368"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31" name="Shape 29"/>
          <p:cNvSpPr/>
          <p:nvPr/>
        </p:nvSpPr>
        <p:spPr>
          <a:xfrm>
            <a:off x="2971800" y="3484402"/>
            <a:ext cx="1300722" cy="126940"/>
          </a:xfrm>
          <a:prstGeom prst="rect">
            <a:avLst/>
          </a:prstGeom>
          <a:solidFill>
            <a:srgbClr val="12A566"/>
          </a:solidFill>
          <a:ln/>
        </p:spPr>
      </p:sp>
      <p:sp>
        <p:nvSpPr>
          <p:cNvPr id="32" name="Text 30"/>
          <p:cNvSpPr txBox="1"/>
          <p:nvPr/>
        </p:nvSpPr>
        <p:spPr>
          <a:xfrm>
            <a:off x="4855464" y="342093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84.5%</a:t>
            </a:r>
            <a:endParaRPr lang="en-US" sz="1300" dirty="0"/>
          </a:p>
        </p:txBody>
      </p:sp>
      <p:sp>
        <p:nvSpPr>
          <p:cNvPr id="33" name="Text 31"/>
          <p:cNvSpPr txBox="1"/>
          <p:nvPr/>
        </p:nvSpPr>
        <p:spPr>
          <a:xfrm>
            <a:off x="658368"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34" name="Shape 32"/>
          <p:cNvSpPr/>
          <p:nvPr/>
        </p:nvSpPr>
        <p:spPr>
          <a:xfrm>
            <a:off x="2971800" y="3738282"/>
            <a:ext cx="1285206" cy="126940"/>
          </a:xfrm>
          <a:prstGeom prst="rect">
            <a:avLst/>
          </a:prstGeom>
          <a:solidFill>
            <a:srgbClr val="12A566"/>
          </a:solidFill>
          <a:ln/>
        </p:spPr>
      </p:sp>
      <p:sp>
        <p:nvSpPr>
          <p:cNvPr id="35" name="Text 33"/>
          <p:cNvSpPr txBox="1"/>
          <p:nvPr/>
        </p:nvSpPr>
        <p:spPr>
          <a:xfrm>
            <a:off x="4855464" y="367481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83.8%</a:t>
            </a:r>
            <a:endParaRPr lang="en-US" sz="1300" dirty="0"/>
          </a:p>
        </p:txBody>
      </p:sp>
      <p:sp>
        <p:nvSpPr>
          <p:cNvPr id="36" name="Text 34"/>
          <p:cNvSpPr txBox="1"/>
          <p:nvPr/>
        </p:nvSpPr>
        <p:spPr>
          <a:xfrm>
            <a:off x="658368"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37" name="Shape 35"/>
          <p:cNvSpPr/>
          <p:nvPr/>
        </p:nvSpPr>
        <p:spPr>
          <a:xfrm>
            <a:off x="2971800" y="3992163"/>
            <a:ext cx="1236334" cy="126940"/>
          </a:xfrm>
          <a:prstGeom prst="rect">
            <a:avLst/>
          </a:prstGeom>
          <a:solidFill>
            <a:srgbClr val="12A566"/>
          </a:solidFill>
          <a:ln/>
        </p:spPr>
      </p:sp>
      <p:sp>
        <p:nvSpPr>
          <p:cNvPr id="38" name="Text 36"/>
          <p:cNvSpPr txBox="1"/>
          <p:nvPr/>
        </p:nvSpPr>
        <p:spPr>
          <a:xfrm>
            <a:off x="4855464" y="392869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81.8%</a:t>
            </a:r>
            <a:endParaRPr lang="en-US" sz="1300" dirty="0"/>
          </a:p>
        </p:txBody>
      </p:sp>
      <p:sp>
        <p:nvSpPr>
          <p:cNvPr id="39" name="Text 37"/>
          <p:cNvSpPr txBox="1"/>
          <p:nvPr/>
        </p:nvSpPr>
        <p:spPr>
          <a:xfrm>
            <a:off x="658368"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40" name="Shape 38"/>
          <p:cNvSpPr/>
          <p:nvPr/>
        </p:nvSpPr>
        <p:spPr>
          <a:xfrm>
            <a:off x="2971800" y="4246043"/>
            <a:ext cx="1229112" cy="126940"/>
          </a:xfrm>
          <a:prstGeom prst="rect">
            <a:avLst/>
          </a:prstGeom>
          <a:solidFill>
            <a:srgbClr val="12A566"/>
          </a:solidFill>
          <a:ln/>
        </p:spPr>
      </p:sp>
      <p:sp>
        <p:nvSpPr>
          <p:cNvPr id="41" name="Text 39"/>
          <p:cNvSpPr txBox="1"/>
          <p:nvPr/>
        </p:nvSpPr>
        <p:spPr>
          <a:xfrm>
            <a:off x="4855464" y="418257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81.5%</a:t>
            </a:r>
            <a:endParaRPr lang="en-US" sz="1300" dirty="0"/>
          </a:p>
        </p:txBody>
      </p:sp>
      <p:sp>
        <p:nvSpPr>
          <p:cNvPr id="42" name="Text 40"/>
          <p:cNvSpPr txBox="1"/>
          <p:nvPr/>
        </p:nvSpPr>
        <p:spPr>
          <a:xfrm>
            <a:off x="658368"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43" name="Shape 41"/>
          <p:cNvSpPr/>
          <p:nvPr/>
        </p:nvSpPr>
        <p:spPr>
          <a:xfrm>
            <a:off x="2971800" y="4499924"/>
            <a:ext cx="1183660" cy="126940"/>
          </a:xfrm>
          <a:prstGeom prst="rect">
            <a:avLst/>
          </a:prstGeom>
          <a:solidFill>
            <a:srgbClr val="12A566"/>
          </a:solidFill>
          <a:ln/>
        </p:spPr>
      </p:sp>
      <p:sp>
        <p:nvSpPr>
          <p:cNvPr id="44" name="Text 42"/>
          <p:cNvSpPr txBox="1"/>
          <p:nvPr/>
        </p:nvSpPr>
        <p:spPr>
          <a:xfrm>
            <a:off x="4855464" y="443645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79.6%</a:t>
            </a:r>
            <a:endParaRPr lang="en-US" sz="1300" dirty="0"/>
          </a:p>
        </p:txBody>
      </p:sp>
      <p:sp>
        <p:nvSpPr>
          <p:cNvPr id="45" name="Text 43"/>
          <p:cNvSpPr txBox="1"/>
          <p:nvPr/>
        </p:nvSpPr>
        <p:spPr>
          <a:xfrm>
            <a:off x="658368"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46" name="Shape 44"/>
          <p:cNvSpPr/>
          <p:nvPr/>
        </p:nvSpPr>
        <p:spPr>
          <a:xfrm>
            <a:off x="2971800" y="4753804"/>
            <a:ext cx="1161064" cy="126940"/>
          </a:xfrm>
          <a:prstGeom prst="rect">
            <a:avLst/>
          </a:prstGeom>
          <a:solidFill>
            <a:srgbClr val="12A566"/>
          </a:solidFill>
          <a:ln/>
        </p:spPr>
      </p:sp>
      <p:sp>
        <p:nvSpPr>
          <p:cNvPr id="47" name="Text 45"/>
          <p:cNvSpPr txBox="1"/>
          <p:nvPr/>
        </p:nvSpPr>
        <p:spPr>
          <a:xfrm>
            <a:off x="4855464" y="469033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78.6%</a:t>
            </a:r>
            <a:endParaRPr lang="en-US" sz="1300" dirty="0"/>
          </a:p>
        </p:txBody>
      </p:sp>
      <p:sp>
        <p:nvSpPr>
          <p:cNvPr id="48" name="Text 46"/>
          <p:cNvSpPr txBox="1"/>
          <p:nvPr/>
        </p:nvSpPr>
        <p:spPr>
          <a:xfrm>
            <a:off x="658368"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9" name="Shape 47"/>
          <p:cNvSpPr/>
          <p:nvPr/>
        </p:nvSpPr>
        <p:spPr>
          <a:xfrm>
            <a:off x="2971800" y="5007685"/>
            <a:ext cx="1156533" cy="126940"/>
          </a:xfrm>
          <a:prstGeom prst="rect">
            <a:avLst/>
          </a:prstGeom>
          <a:solidFill>
            <a:srgbClr val="12A566"/>
          </a:solidFill>
          <a:ln/>
        </p:spPr>
      </p:sp>
      <p:sp>
        <p:nvSpPr>
          <p:cNvPr id="50" name="Text 48"/>
          <p:cNvSpPr txBox="1"/>
          <p:nvPr/>
        </p:nvSpPr>
        <p:spPr>
          <a:xfrm>
            <a:off x="4855464" y="4944215"/>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78.4%</a:t>
            </a:r>
            <a:endParaRPr lang="en-US" sz="1300" dirty="0"/>
          </a:p>
        </p:txBody>
      </p:sp>
      <p:sp>
        <p:nvSpPr>
          <p:cNvPr id="51" name="Shape 49"/>
          <p:cNvSpPr/>
          <p:nvPr/>
        </p:nvSpPr>
        <p:spPr>
          <a:xfrm>
            <a:off x="585216" y="5193523"/>
            <a:ext cx="5413248" cy="244736"/>
          </a:xfrm>
          <a:prstGeom prst="rect">
            <a:avLst/>
          </a:prstGeom>
          <a:solidFill>
            <a:srgbClr val="EDF4FA"/>
          </a:solidFill>
          <a:ln/>
        </p:spPr>
      </p:sp>
      <p:sp>
        <p:nvSpPr>
          <p:cNvPr id="52" name="Text 50"/>
          <p:cNvSpPr txBox="1"/>
          <p:nvPr/>
        </p:nvSpPr>
        <p:spPr>
          <a:xfrm>
            <a:off x="658368" y="5198095"/>
            <a:ext cx="2240280" cy="253880"/>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53" name="Shape 51"/>
          <p:cNvSpPr/>
          <p:nvPr/>
        </p:nvSpPr>
        <p:spPr>
          <a:xfrm>
            <a:off x="2971800" y="5261565"/>
            <a:ext cx="1148728" cy="126940"/>
          </a:xfrm>
          <a:prstGeom prst="rect">
            <a:avLst/>
          </a:prstGeom>
          <a:solidFill>
            <a:srgbClr val="0B2C4A"/>
          </a:solidFill>
          <a:ln/>
        </p:spPr>
      </p:sp>
      <p:sp>
        <p:nvSpPr>
          <p:cNvPr id="54" name="Text 52"/>
          <p:cNvSpPr txBox="1"/>
          <p:nvPr/>
        </p:nvSpPr>
        <p:spPr>
          <a:xfrm>
            <a:off x="4855464" y="5198095"/>
            <a:ext cx="1088136" cy="253880"/>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78.1%</a:t>
            </a:r>
            <a:endParaRPr lang="en-US" sz="1300" dirty="0"/>
          </a:p>
        </p:txBody>
      </p:sp>
      <p:sp>
        <p:nvSpPr>
          <p:cNvPr id="55" name="Text 53"/>
          <p:cNvSpPr txBox="1"/>
          <p:nvPr/>
        </p:nvSpPr>
        <p:spPr>
          <a:xfrm>
            <a:off x="658368"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56" name="Shape 54"/>
          <p:cNvSpPr/>
          <p:nvPr/>
        </p:nvSpPr>
        <p:spPr>
          <a:xfrm>
            <a:off x="2971800" y="5515446"/>
            <a:ext cx="1129639" cy="126940"/>
          </a:xfrm>
          <a:prstGeom prst="rect">
            <a:avLst/>
          </a:prstGeom>
          <a:solidFill>
            <a:srgbClr val="C2352F"/>
          </a:solidFill>
          <a:ln/>
        </p:spPr>
      </p:sp>
      <p:sp>
        <p:nvSpPr>
          <p:cNvPr id="57" name="Text 55"/>
          <p:cNvSpPr txBox="1"/>
          <p:nvPr/>
        </p:nvSpPr>
        <p:spPr>
          <a:xfrm>
            <a:off x="4855464"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77.3%</a:t>
            </a:r>
            <a:endParaRPr lang="en-US" sz="1300" dirty="0"/>
          </a:p>
        </p:txBody>
      </p:sp>
      <p:sp>
        <p:nvSpPr>
          <p:cNvPr id="58" name="Text 56"/>
          <p:cNvSpPr txBox="1"/>
          <p:nvPr/>
        </p:nvSpPr>
        <p:spPr>
          <a:xfrm>
            <a:off x="6208776"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59" name="Shape 57"/>
          <p:cNvSpPr/>
          <p:nvPr/>
        </p:nvSpPr>
        <p:spPr>
          <a:xfrm>
            <a:off x="8522208" y="1453358"/>
            <a:ext cx="1089713" cy="126940"/>
          </a:xfrm>
          <a:prstGeom prst="rect">
            <a:avLst/>
          </a:prstGeom>
          <a:solidFill>
            <a:srgbClr val="C2352F"/>
          </a:solidFill>
          <a:ln/>
        </p:spPr>
      </p:sp>
      <p:sp>
        <p:nvSpPr>
          <p:cNvPr id="60" name="Text 58"/>
          <p:cNvSpPr txBox="1"/>
          <p:nvPr/>
        </p:nvSpPr>
        <p:spPr>
          <a:xfrm>
            <a:off x="10405872" y="138988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75.6%</a:t>
            </a:r>
            <a:endParaRPr lang="en-US" sz="1300" dirty="0"/>
          </a:p>
        </p:txBody>
      </p:sp>
      <p:sp>
        <p:nvSpPr>
          <p:cNvPr id="61" name="Text 59"/>
          <p:cNvSpPr txBox="1"/>
          <p:nvPr/>
        </p:nvSpPr>
        <p:spPr>
          <a:xfrm>
            <a:off x="6208776"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62" name="Shape 60"/>
          <p:cNvSpPr/>
          <p:nvPr/>
        </p:nvSpPr>
        <p:spPr>
          <a:xfrm>
            <a:off x="8522208" y="1707239"/>
            <a:ext cx="1089638" cy="126940"/>
          </a:xfrm>
          <a:prstGeom prst="rect">
            <a:avLst/>
          </a:prstGeom>
          <a:solidFill>
            <a:srgbClr val="C2352F"/>
          </a:solidFill>
          <a:ln/>
        </p:spPr>
      </p:sp>
      <p:sp>
        <p:nvSpPr>
          <p:cNvPr id="63" name="Text 61"/>
          <p:cNvSpPr txBox="1"/>
          <p:nvPr/>
        </p:nvSpPr>
        <p:spPr>
          <a:xfrm>
            <a:off x="10405872" y="164376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75.6%</a:t>
            </a:r>
            <a:endParaRPr lang="en-US" sz="1300" dirty="0"/>
          </a:p>
        </p:txBody>
      </p:sp>
      <p:sp>
        <p:nvSpPr>
          <p:cNvPr id="64" name="Text 62"/>
          <p:cNvSpPr txBox="1"/>
          <p:nvPr/>
        </p:nvSpPr>
        <p:spPr>
          <a:xfrm>
            <a:off x="6208776"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65" name="Shape 63"/>
          <p:cNvSpPr/>
          <p:nvPr/>
        </p:nvSpPr>
        <p:spPr>
          <a:xfrm>
            <a:off x="8522208" y="1961119"/>
            <a:ext cx="1059190" cy="126940"/>
          </a:xfrm>
          <a:prstGeom prst="rect">
            <a:avLst/>
          </a:prstGeom>
          <a:solidFill>
            <a:srgbClr val="C2352F"/>
          </a:solidFill>
          <a:ln/>
        </p:spPr>
      </p:sp>
      <p:sp>
        <p:nvSpPr>
          <p:cNvPr id="66" name="Text 64"/>
          <p:cNvSpPr txBox="1"/>
          <p:nvPr/>
        </p:nvSpPr>
        <p:spPr>
          <a:xfrm>
            <a:off x="10405872" y="189764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74.4%</a:t>
            </a:r>
            <a:endParaRPr lang="en-US" sz="1300" dirty="0"/>
          </a:p>
        </p:txBody>
      </p:sp>
      <p:sp>
        <p:nvSpPr>
          <p:cNvPr id="67" name="Text 65"/>
          <p:cNvSpPr txBox="1"/>
          <p:nvPr/>
        </p:nvSpPr>
        <p:spPr>
          <a:xfrm>
            <a:off x="6208776"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68" name="Shape 66"/>
          <p:cNvSpPr/>
          <p:nvPr/>
        </p:nvSpPr>
        <p:spPr>
          <a:xfrm>
            <a:off x="8522208" y="2215000"/>
            <a:ext cx="1033980" cy="126940"/>
          </a:xfrm>
          <a:prstGeom prst="rect">
            <a:avLst/>
          </a:prstGeom>
          <a:solidFill>
            <a:srgbClr val="C2352F"/>
          </a:solidFill>
          <a:ln/>
        </p:spPr>
      </p:sp>
      <p:sp>
        <p:nvSpPr>
          <p:cNvPr id="69" name="Text 67"/>
          <p:cNvSpPr txBox="1"/>
          <p:nvPr/>
        </p:nvSpPr>
        <p:spPr>
          <a:xfrm>
            <a:off x="10405872" y="215152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73.3%</a:t>
            </a:r>
            <a:endParaRPr lang="en-US" sz="1300" dirty="0"/>
          </a:p>
        </p:txBody>
      </p:sp>
      <p:sp>
        <p:nvSpPr>
          <p:cNvPr id="70" name="Text 68"/>
          <p:cNvSpPr txBox="1"/>
          <p:nvPr/>
        </p:nvSpPr>
        <p:spPr>
          <a:xfrm>
            <a:off x="6208776"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71" name="Shape 69"/>
          <p:cNvSpPr/>
          <p:nvPr/>
        </p:nvSpPr>
        <p:spPr>
          <a:xfrm>
            <a:off x="8522208" y="2468880"/>
            <a:ext cx="970327" cy="126940"/>
          </a:xfrm>
          <a:prstGeom prst="rect">
            <a:avLst/>
          </a:prstGeom>
          <a:solidFill>
            <a:srgbClr val="C2352F"/>
          </a:solidFill>
          <a:ln/>
        </p:spPr>
      </p:sp>
      <p:sp>
        <p:nvSpPr>
          <p:cNvPr id="72" name="Text 70"/>
          <p:cNvSpPr txBox="1"/>
          <p:nvPr/>
        </p:nvSpPr>
        <p:spPr>
          <a:xfrm>
            <a:off x="10405872" y="240541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70.6%</a:t>
            </a:r>
            <a:endParaRPr lang="en-US" sz="1300" dirty="0"/>
          </a:p>
        </p:txBody>
      </p:sp>
      <p:sp>
        <p:nvSpPr>
          <p:cNvPr id="73" name="Text 71"/>
          <p:cNvSpPr txBox="1"/>
          <p:nvPr/>
        </p:nvSpPr>
        <p:spPr>
          <a:xfrm>
            <a:off x="6208776"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74" name="Shape 72"/>
          <p:cNvSpPr/>
          <p:nvPr/>
        </p:nvSpPr>
        <p:spPr>
          <a:xfrm>
            <a:off x="8522208" y="2722760"/>
            <a:ext cx="962499" cy="126940"/>
          </a:xfrm>
          <a:prstGeom prst="rect">
            <a:avLst/>
          </a:prstGeom>
          <a:solidFill>
            <a:srgbClr val="C2352F"/>
          </a:solidFill>
          <a:ln/>
        </p:spPr>
      </p:sp>
      <p:sp>
        <p:nvSpPr>
          <p:cNvPr id="75" name="Text 73"/>
          <p:cNvSpPr txBox="1"/>
          <p:nvPr/>
        </p:nvSpPr>
        <p:spPr>
          <a:xfrm>
            <a:off x="10405872" y="265929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70.3%</a:t>
            </a:r>
            <a:endParaRPr lang="en-US" sz="1300" dirty="0"/>
          </a:p>
        </p:txBody>
      </p:sp>
      <p:sp>
        <p:nvSpPr>
          <p:cNvPr id="76" name="Text 74"/>
          <p:cNvSpPr txBox="1"/>
          <p:nvPr/>
        </p:nvSpPr>
        <p:spPr>
          <a:xfrm>
            <a:off x="6208776"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77" name="Shape 75"/>
          <p:cNvSpPr/>
          <p:nvPr/>
        </p:nvSpPr>
        <p:spPr>
          <a:xfrm>
            <a:off x="8522208" y="2976641"/>
            <a:ext cx="955146" cy="126940"/>
          </a:xfrm>
          <a:prstGeom prst="rect">
            <a:avLst/>
          </a:prstGeom>
          <a:solidFill>
            <a:srgbClr val="C2352F"/>
          </a:solidFill>
          <a:ln/>
        </p:spPr>
      </p:sp>
      <p:sp>
        <p:nvSpPr>
          <p:cNvPr id="78" name="Text 76"/>
          <p:cNvSpPr txBox="1"/>
          <p:nvPr/>
        </p:nvSpPr>
        <p:spPr>
          <a:xfrm>
            <a:off x="10405872" y="291317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70.0%</a:t>
            </a:r>
            <a:endParaRPr lang="en-US" sz="1300" dirty="0"/>
          </a:p>
        </p:txBody>
      </p:sp>
      <p:sp>
        <p:nvSpPr>
          <p:cNvPr id="79" name="Text 77"/>
          <p:cNvSpPr txBox="1"/>
          <p:nvPr/>
        </p:nvSpPr>
        <p:spPr>
          <a:xfrm>
            <a:off x="6208776"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80" name="Shape 78"/>
          <p:cNvSpPr/>
          <p:nvPr/>
        </p:nvSpPr>
        <p:spPr>
          <a:xfrm>
            <a:off x="8522208" y="3230521"/>
            <a:ext cx="929859" cy="126940"/>
          </a:xfrm>
          <a:prstGeom prst="rect">
            <a:avLst/>
          </a:prstGeom>
          <a:solidFill>
            <a:srgbClr val="C2352F"/>
          </a:solidFill>
          <a:ln/>
        </p:spPr>
      </p:sp>
      <p:sp>
        <p:nvSpPr>
          <p:cNvPr id="81" name="Text 79"/>
          <p:cNvSpPr txBox="1"/>
          <p:nvPr/>
        </p:nvSpPr>
        <p:spPr>
          <a:xfrm>
            <a:off x="10405872" y="316705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68.9%</a:t>
            </a:r>
            <a:endParaRPr lang="en-US" sz="1300" dirty="0"/>
          </a:p>
        </p:txBody>
      </p:sp>
      <p:sp>
        <p:nvSpPr>
          <p:cNvPr id="82" name="Text 80"/>
          <p:cNvSpPr txBox="1"/>
          <p:nvPr/>
        </p:nvSpPr>
        <p:spPr>
          <a:xfrm>
            <a:off x="6208776"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83" name="Shape 81"/>
          <p:cNvSpPr/>
          <p:nvPr/>
        </p:nvSpPr>
        <p:spPr>
          <a:xfrm>
            <a:off x="8522208" y="3484402"/>
            <a:ext cx="855566" cy="126940"/>
          </a:xfrm>
          <a:prstGeom prst="rect">
            <a:avLst/>
          </a:prstGeom>
          <a:solidFill>
            <a:srgbClr val="C2352F"/>
          </a:solidFill>
          <a:ln/>
        </p:spPr>
      </p:sp>
      <p:sp>
        <p:nvSpPr>
          <p:cNvPr id="84" name="Text 82"/>
          <p:cNvSpPr txBox="1"/>
          <p:nvPr/>
        </p:nvSpPr>
        <p:spPr>
          <a:xfrm>
            <a:off x="10405872" y="342093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65.8%</a:t>
            </a:r>
            <a:endParaRPr lang="en-US" sz="1300" dirty="0"/>
          </a:p>
        </p:txBody>
      </p:sp>
      <p:sp>
        <p:nvSpPr>
          <p:cNvPr id="85" name="Text 83"/>
          <p:cNvSpPr txBox="1"/>
          <p:nvPr/>
        </p:nvSpPr>
        <p:spPr>
          <a:xfrm>
            <a:off x="6208776"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86" name="Shape 84"/>
          <p:cNvSpPr/>
          <p:nvPr/>
        </p:nvSpPr>
        <p:spPr>
          <a:xfrm>
            <a:off x="8522208" y="3738282"/>
            <a:ext cx="837160" cy="126940"/>
          </a:xfrm>
          <a:prstGeom prst="rect">
            <a:avLst/>
          </a:prstGeom>
          <a:solidFill>
            <a:srgbClr val="C2352F"/>
          </a:solidFill>
          <a:ln/>
        </p:spPr>
      </p:sp>
      <p:sp>
        <p:nvSpPr>
          <p:cNvPr id="87" name="Text 85"/>
          <p:cNvSpPr txBox="1"/>
          <p:nvPr/>
        </p:nvSpPr>
        <p:spPr>
          <a:xfrm>
            <a:off x="10405872" y="367481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65.1%</a:t>
            </a:r>
            <a:endParaRPr lang="en-US" sz="1300" dirty="0"/>
          </a:p>
        </p:txBody>
      </p:sp>
      <p:sp>
        <p:nvSpPr>
          <p:cNvPr id="88" name="Text 86"/>
          <p:cNvSpPr txBox="1"/>
          <p:nvPr/>
        </p:nvSpPr>
        <p:spPr>
          <a:xfrm>
            <a:off x="6208776"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9" name="Shape 87"/>
          <p:cNvSpPr/>
          <p:nvPr/>
        </p:nvSpPr>
        <p:spPr>
          <a:xfrm>
            <a:off x="8522208" y="3992163"/>
            <a:ext cx="804031" cy="126940"/>
          </a:xfrm>
          <a:prstGeom prst="rect">
            <a:avLst/>
          </a:prstGeom>
          <a:solidFill>
            <a:srgbClr val="C2352F"/>
          </a:solidFill>
          <a:ln/>
        </p:spPr>
      </p:sp>
      <p:sp>
        <p:nvSpPr>
          <p:cNvPr id="90" name="Text 88"/>
          <p:cNvSpPr txBox="1"/>
          <p:nvPr/>
        </p:nvSpPr>
        <p:spPr>
          <a:xfrm>
            <a:off x="10405872" y="392869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63.7%</a:t>
            </a:r>
            <a:endParaRPr lang="en-US" sz="1300" dirty="0"/>
          </a:p>
        </p:txBody>
      </p:sp>
      <p:sp>
        <p:nvSpPr>
          <p:cNvPr id="91" name="Text 89"/>
          <p:cNvSpPr txBox="1"/>
          <p:nvPr/>
        </p:nvSpPr>
        <p:spPr>
          <a:xfrm>
            <a:off x="6208776"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92" name="Shape 90"/>
          <p:cNvSpPr/>
          <p:nvPr/>
        </p:nvSpPr>
        <p:spPr>
          <a:xfrm>
            <a:off x="8522208" y="4246043"/>
            <a:ext cx="789432" cy="126940"/>
          </a:xfrm>
          <a:prstGeom prst="rect">
            <a:avLst/>
          </a:prstGeom>
          <a:solidFill>
            <a:srgbClr val="C2352F"/>
          </a:solidFill>
          <a:ln/>
        </p:spPr>
      </p:sp>
      <p:sp>
        <p:nvSpPr>
          <p:cNvPr id="93" name="Text 91"/>
          <p:cNvSpPr txBox="1"/>
          <p:nvPr/>
        </p:nvSpPr>
        <p:spPr>
          <a:xfrm>
            <a:off x="10405872"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63.1%</a:t>
            </a:r>
            <a:endParaRPr lang="en-US" sz="1300" dirty="0"/>
          </a:p>
        </p:txBody>
      </p:sp>
      <p:sp>
        <p:nvSpPr>
          <p:cNvPr id="94" name="Text 92"/>
          <p:cNvSpPr txBox="1"/>
          <p:nvPr/>
        </p:nvSpPr>
        <p:spPr>
          <a:xfrm>
            <a:off x="6208776"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95" name="Shape 93"/>
          <p:cNvSpPr/>
          <p:nvPr/>
        </p:nvSpPr>
        <p:spPr>
          <a:xfrm>
            <a:off x="8522208" y="4499924"/>
            <a:ext cx="713781" cy="126940"/>
          </a:xfrm>
          <a:prstGeom prst="rect">
            <a:avLst/>
          </a:prstGeom>
          <a:solidFill>
            <a:srgbClr val="C2352F"/>
          </a:solidFill>
          <a:ln/>
        </p:spPr>
      </p:sp>
      <p:sp>
        <p:nvSpPr>
          <p:cNvPr id="96" name="Text 94"/>
          <p:cNvSpPr txBox="1"/>
          <p:nvPr/>
        </p:nvSpPr>
        <p:spPr>
          <a:xfrm>
            <a:off x="10405872"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59.9%</a:t>
            </a:r>
            <a:endParaRPr lang="en-US" sz="1300" dirty="0"/>
          </a:p>
        </p:txBody>
      </p:sp>
      <p:sp>
        <p:nvSpPr>
          <p:cNvPr id="97" name="Text 95"/>
          <p:cNvSpPr txBox="1"/>
          <p:nvPr/>
        </p:nvSpPr>
        <p:spPr>
          <a:xfrm>
            <a:off x="6208776"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98" name="Shape 96"/>
          <p:cNvSpPr/>
          <p:nvPr/>
        </p:nvSpPr>
        <p:spPr>
          <a:xfrm>
            <a:off x="8522208" y="4753804"/>
            <a:ext cx="650262" cy="126940"/>
          </a:xfrm>
          <a:prstGeom prst="rect">
            <a:avLst/>
          </a:prstGeom>
          <a:solidFill>
            <a:srgbClr val="C2352F"/>
          </a:solidFill>
          <a:ln/>
        </p:spPr>
      </p:sp>
      <p:sp>
        <p:nvSpPr>
          <p:cNvPr id="99" name="Text 97"/>
          <p:cNvSpPr txBox="1"/>
          <p:nvPr/>
        </p:nvSpPr>
        <p:spPr>
          <a:xfrm>
            <a:off x="10405872"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57.2%</a:t>
            </a:r>
            <a:endParaRPr lang="en-US" sz="1300" dirty="0"/>
          </a:p>
        </p:txBody>
      </p:sp>
      <p:sp>
        <p:nvSpPr>
          <p:cNvPr id="100" name="Text 98"/>
          <p:cNvSpPr txBox="1"/>
          <p:nvPr/>
        </p:nvSpPr>
        <p:spPr>
          <a:xfrm>
            <a:off x="6208776"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1" name="Shape 99"/>
          <p:cNvSpPr/>
          <p:nvPr/>
        </p:nvSpPr>
        <p:spPr>
          <a:xfrm>
            <a:off x="8522208" y="5007685"/>
            <a:ext cx="574750" cy="126940"/>
          </a:xfrm>
          <a:prstGeom prst="rect">
            <a:avLst/>
          </a:prstGeom>
          <a:solidFill>
            <a:srgbClr val="C2352F"/>
          </a:solidFill>
          <a:ln/>
        </p:spPr>
      </p:sp>
      <p:sp>
        <p:nvSpPr>
          <p:cNvPr id="102" name="Text 100"/>
          <p:cNvSpPr txBox="1"/>
          <p:nvPr/>
        </p:nvSpPr>
        <p:spPr>
          <a:xfrm>
            <a:off x="10405872"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54.1%</a:t>
            </a:r>
            <a:endParaRPr lang="en-US" sz="1300" dirty="0"/>
          </a:p>
        </p:txBody>
      </p:sp>
      <p:sp>
        <p:nvSpPr>
          <p:cNvPr id="103" name="Text 101"/>
          <p:cNvSpPr txBox="1"/>
          <p:nvPr/>
        </p:nvSpPr>
        <p:spPr>
          <a:xfrm>
            <a:off x="6208776"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04" name="Shape 102"/>
          <p:cNvSpPr/>
          <p:nvPr/>
        </p:nvSpPr>
        <p:spPr>
          <a:xfrm>
            <a:off x="8522208" y="5261565"/>
            <a:ext cx="510111" cy="126940"/>
          </a:xfrm>
          <a:prstGeom prst="rect">
            <a:avLst/>
          </a:prstGeom>
          <a:solidFill>
            <a:srgbClr val="C2352F"/>
          </a:solidFill>
          <a:ln/>
        </p:spPr>
      </p:sp>
      <p:sp>
        <p:nvSpPr>
          <p:cNvPr id="105" name="Text 103"/>
          <p:cNvSpPr txBox="1"/>
          <p:nvPr/>
        </p:nvSpPr>
        <p:spPr>
          <a:xfrm>
            <a:off x="10405872"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51.4%</a:t>
            </a:r>
            <a:endParaRPr lang="en-US" sz="1300" dirty="0"/>
          </a:p>
        </p:txBody>
      </p:sp>
      <p:sp>
        <p:nvSpPr>
          <p:cNvPr id="106" name="Text 104"/>
          <p:cNvSpPr txBox="1"/>
          <p:nvPr/>
        </p:nvSpPr>
        <p:spPr>
          <a:xfrm>
            <a:off x="6208776"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7" name="Shape 105"/>
          <p:cNvSpPr/>
          <p:nvPr/>
        </p:nvSpPr>
        <p:spPr>
          <a:xfrm>
            <a:off x="8522208" y="5515446"/>
            <a:ext cx="387033" cy="126940"/>
          </a:xfrm>
          <a:prstGeom prst="rect">
            <a:avLst/>
          </a:prstGeom>
          <a:solidFill>
            <a:srgbClr val="C2352F"/>
          </a:solidFill>
          <a:ln/>
        </p:spPr>
      </p:sp>
      <p:sp>
        <p:nvSpPr>
          <p:cNvPr id="108" name="Text 106"/>
          <p:cNvSpPr txBox="1"/>
          <p:nvPr/>
        </p:nvSpPr>
        <p:spPr>
          <a:xfrm>
            <a:off x="10405872"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46.2%</a:t>
            </a:r>
            <a:endParaRPr lang="en-US" sz="1300" dirty="0"/>
          </a:p>
        </p:txBody>
      </p:sp>
      <p:sp>
        <p:nvSpPr>
          <p:cNvPr id="109" name="Shape 107"/>
          <p:cNvSpPr/>
          <p:nvPr/>
        </p:nvSpPr>
        <p:spPr>
          <a:xfrm>
            <a:off x="4113213" y="1389888"/>
            <a:ext cx="14630" cy="4315968"/>
          </a:xfrm>
          <a:prstGeom prst="rect">
            <a:avLst/>
          </a:prstGeom>
          <a:solidFill>
            <a:srgbClr val="0B2C4A"/>
          </a:solidFill>
          <a:ln/>
        </p:spPr>
      </p:sp>
      <p:sp>
        <p:nvSpPr>
          <p:cNvPr id="110" name="Shape 108"/>
          <p:cNvSpPr/>
          <p:nvPr/>
        </p:nvSpPr>
        <p:spPr>
          <a:xfrm>
            <a:off x="9663621" y="1389888"/>
            <a:ext cx="14630" cy="4315968"/>
          </a:xfrm>
          <a:prstGeom prst="rect">
            <a:avLst/>
          </a:prstGeom>
          <a:solidFill>
            <a:srgbClr val="0B2C4A"/>
          </a:solidFill>
          <a:ln/>
        </p:spPr>
      </p:sp>
      <p:sp>
        <p:nvSpPr>
          <p:cNvPr id="111" name="Shape 109"/>
          <p:cNvSpPr/>
          <p:nvPr/>
        </p:nvSpPr>
        <p:spPr>
          <a:xfrm>
            <a:off x="457200" y="5961888"/>
            <a:ext cx="11274552" cy="548640"/>
          </a:xfrm>
          <a:prstGeom prst="rect">
            <a:avLst/>
          </a:prstGeom>
          <a:solidFill>
            <a:srgbClr val="EDF4FA"/>
          </a:solidFill>
          <a:ln/>
        </p:spPr>
      </p:sp>
      <p:sp>
        <p:nvSpPr>
          <p:cNvPr id="112" name="Text 11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15 of 33 stores at or above the 78.1% group, led by AUDI HENDERSON at 106.6%. HYUNDAI PRESCOTT is lowest at 46.2%.</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Absorption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+2.1 pts</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2" name="Shape 10"/>
          <p:cNvSpPr/>
          <p:nvPr/>
        </p:nvSpPr>
        <p:spPr>
          <a:xfrm>
            <a:off x="3813048" y="1909246"/>
            <a:ext cx="758401"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+16.1 pts</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5" name="Shape 13"/>
          <p:cNvSpPr/>
          <p:nvPr/>
        </p:nvSpPr>
        <p:spPr>
          <a:xfrm>
            <a:off x="3813048" y="2139459"/>
            <a:ext cx="450769"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+9.5 pts</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8" name="Shape 16"/>
          <p:cNvSpPr/>
          <p:nvPr/>
        </p:nvSpPr>
        <p:spPr>
          <a:xfrm>
            <a:off x="3813048" y="2369673"/>
            <a:ext cx="448866"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+9.5 pts</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21" name="Shape 19"/>
          <p:cNvSpPr/>
          <p:nvPr/>
        </p:nvSpPr>
        <p:spPr>
          <a:xfrm>
            <a:off x="3813048" y="2599887"/>
            <a:ext cx="264472"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+5.6 pts</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24" name="Shape 22"/>
          <p:cNvSpPr/>
          <p:nvPr/>
        </p:nvSpPr>
        <p:spPr>
          <a:xfrm>
            <a:off x="3813048" y="2830100"/>
            <a:ext cx="256132"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+5.4 pts</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27" name="Shape 25"/>
          <p:cNvSpPr/>
          <p:nvPr/>
        </p:nvSpPr>
        <p:spPr>
          <a:xfrm>
            <a:off x="3813048" y="3060314"/>
            <a:ext cx="248223"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+5.3 pts</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30" name="Shape 28"/>
          <p:cNvSpPr/>
          <p:nvPr/>
        </p:nvSpPr>
        <p:spPr>
          <a:xfrm>
            <a:off x="3813048" y="3290528"/>
            <a:ext cx="247899"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+5.2 pts</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33" name="Shape 31"/>
          <p:cNvSpPr/>
          <p:nvPr/>
        </p:nvSpPr>
        <p:spPr>
          <a:xfrm>
            <a:off x="3813048" y="3520741"/>
            <a:ext cx="244073"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+5.2 pts</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36" name="Shape 34"/>
          <p:cNvSpPr/>
          <p:nvPr/>
        </p:nvSpPr>
        <p:spPr>
          <a:xfrm>
            <a:off x="3813048" y="3750955"/>
            <a:ext cx="240793"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+5.1 pts</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39" name="Shape 37"/>
          <p:cNvSpPr/>
          <p:nvPr/>
        </p:nvSpPr>
        <p:spPr>
          <a:xfrm>
            <a:off x="3813048" y="3981169"/>
            <a:ext cx="235650"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+5.0 pts</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42" name="Shape 40"/>
          <p:cNvSpPr/>
          <p:nvPr/>
        </p:nvSpPr>
        <p:spPr>
          <a:xfrm>
            <a:off x="3813048" y="4211382"/>
            <a:ext cx="233789"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+4.9 pts</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45" name="Shape 43"/>
          <p:cNvSpPr/>
          <p:nvPr/>
        </p:nvSpPr>
        <p:spPr>
          <a:xfrm>
            <a:off x="3813048" y="4441596"/>
            <a:ext cx="224860"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+4.8 pts</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48" name="Shape 46"/>
          <p:cNvSpPr/>
          <p:nvPr/>
        </p:nvSpPr>
        <p:spPr>
          <a:xfrm>
            <a:off x="3813048" y="4671809"/>
            <a:ext cx="188558"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+4.0 pts</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51" name="Shape 49"/>
          <p:cNvSpPr/>
          <p:nvPr/>
        </p:nvSpPr>
        <p:spPr>
          <a:xfrm>
            <a:off x="3813048" y="4902023"/>
            <a:ext cx="182091"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 pts</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54" name="Shape 52"/>
          <p:cNvSpPr/>
          <p:nvPr/>
        </p:nvSpPr>
        <p:spPr>
          <a:xfrm>
            <a:off x="3813048" y="5132237"/>
            <a:ext cx="180766"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 pts</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57" name="Shape 55"/>
          <p:cNvSpPr/>
          <p:nvPr/>
        </p:nvSpPr>
        <p:spPr>
          <a:xfrm>
            <a:off x="3813048" y="5362450"/>
            <a:ext cx="154357"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 pts</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60" name="Shape 58"/>
          <p:cNvSpPr/>
          <p:nvPr/>
        </p:nvSpPr>
        <p:spPr>
          <a:xfrm>
            <a:off x="3813048" y="5592664"/>
            <a:ext cx="152494"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+3.2 pts</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63" name="Shape 61"/>
          <p:cNvSpPr/>
          <p:nvPr/>
        </p:nvSpPr>
        <p:spPr>
          <a:xfrm>
            <a:off x="9363456" y="1909246"/>
            <a:ext cx="118534"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 pts</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66" name="Shape 64"/>
          <p:cNvSpPr/>
          <p:nvPr/>
        </p:nvSpPr>
        <p:spPr>
          <a:xfrm>
            <a:off x="9363456" y="2139459"/>
            <a:ext cx="80893"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 pts</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9" name="Shape 67"/>
          <p:cNvSpPr/>
          <p:nvPr/>
        </p:nvSpPr>
        <p:spPr>
          <a:xfrm>
            <a:off x="9363456" y="2369673"/>
            <a:ext cx="75419"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 pts</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72" name="Shape 70"/>
          <p:cNvSpPr/>
          <p:nvPr/>
        </p:nvSpPr>
        <p:spPr>
          <a:xfrm>
            <a:off x="9363456" y="2599887"/>
            <a:ext cx="29502"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+0.6 pts</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75" name="Shape 73"/>
          <p:cNvSpPr/>
          <p:nvPr/>
        </p:nvSpPr>
        <p:spPr>
          <a:xfrm>
            <a:off x="9363456" y="2830100"/>
            <a:ext cx="14122"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+0.3 pts</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78" name="Shape 76"/>
          <p:cNvSpPr/>
          <p:nvPr/>
        </p:nvSpPr>
        <p:spPr>
          <a:xfrm>
            <a:off x="9363456" y="3060314"/>
            <a:ext cx="12802"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 pts</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81" name="Shape 79"/>
          <p:cNvSpPr/>
          <p:nvPr/>
        </p:nvSpPr>
        <p:spPr>
          <a:xfrm>
            <a:off x="9358065" y="3290528"/>
            <a:ext cx="12802"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−0.1 pts</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84" name="Shape 82"/>
          <p:cNvSpPr/>
          <p:nvPr/>
        </p:nvSpPr>
        <p:spPr>
          <a:xfrm>
            <a:off x="9356983" y="3520741"/>
            <a:ext cx="12802"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−0.1 pts</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7" name="Shape 85"/>
          <p:cNvSpPr/>
          <p:nvPr/>
        </p:nvSpPr>
        <p:spPr>
          <a:xfrm>
            <a:off x="9352447" y="3750955"/>
            <a:ext cx="12802"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−0.2 pts</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90" name="Shape 88"/>
          <p:cNvSpPr/>
          <p:nvPr/>
        </p:nvSpPr>
        <p:spPr>
          <a:xfrm>
            <a:off x="9312683" y="3981169"/>
            <a:ext cx="50773"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 pts</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93" name="Shape 91"/>
          <p:cNvSpPr/>
          <p:nvPr/>
        </p:nvSpPr>
        <p:spPr>
          <a:xfrm>
            <a:off x="9311195" y="4211382"/>
            <a:ext cx="52261"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 pts</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96" name="Shape 94"/>
          <p:cNvSpPr/>
          <p:nvPr/>
        </p:nvSpPr>
        <p:spPr>
          <a:xfrm>
            <a:off x="9254075" y="4441596"/>
            <a:ext cx="109381"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 pts</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99" name="Shape 97"/>
          <p:cNvSpPr/>
          <p:nvPr/>
        </p:nvSpPr>
        <p:spPr>
          <a:xfrm>
            <a:off x="9074386" y="4671809"/>
            <a:ext cx="289070"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−6.1 pts</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02" name="Shape 100"/>
          <p:cNvSpPr/>
          <p:nvPr/>
        </p:nvSpPr>
        <p:spPr>
          <a:xfrm>
            <a:off x="8905746" y="4902023"/>
            <a:ext cx="457710"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−9.7 pts</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05" name="Shape 103"/>
          <p:cNvSpPr/>
          <p:nvPr/>
        </p:nvSpPr>
        <p:spPr>
          <a:xfrm>
            <a:off x="8885821" y="5132237"/>
            <a:ext cx="477635"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−10.1 pts</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8" name="Shape 106"/>
          <p:cNvSpPr/>
          <p:nvPr/>
        </p:nvSpPr>
        <p:spPr>
          <a:xfrm>
            <a:off x="8540496" y="5362450"/>
            <a:ext cx="822960"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−17.4 pts</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23 of 33 stores raised absorption, led by LINCOLN at +16.1 pts to 59.9%. 10 declined; VW ST GEORGE fell most at −17.4 pts.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to Gross %</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18.9%</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21.8%</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+2.9 pts</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+15.6%</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+7.1%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+26.3%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24.5%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+3.3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+2.5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+3.5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+17.4%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+2.8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+6.6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+50.1%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2.9 pts to 21.8%, ahead of 2025 in all nine months. Department profit grew 21.6% on 5.2% more gross.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to Gross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7" name="Shape 5"/>
          <p:cNvSpPr/>
          <p:nvPr/>
        </p:nvSpPr>
        <p:spPr>
          <a:xfrm>
            <a:off x="2971800" y="1453358"/>
            <a:ext cx="1828800" cy="126940"/>
          </a:xfrm>
          <a:prstGeom prst="rect">
            <a:avLst/>
          </a:prstGeom>
          <a:solidFill>
            <a:srgbClr val="12A566"/>
          </a:solidFill>
          <a:ln/>
        </p:spPr>
      </p:sp>
      <p:sp>
        <p:nvSpPr>
          <p:cNvPr id="8" name="Text 6"/>
          <p:cNvSpPr txBox="1"/>
          <p:nvPr/>
        </p:nvSpPr>
        <p:spPr>
          <a:xfrm>
            <a:off x="4855464"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43.0%</a:t>
            </a:r>
            <a:endParaRPr lang="en-US" sz="1300" dirty="0"/>
          </a:p>
        </p:txBody>
      </p:sp>
      <p:sp>
        <p:nvSpPr>
          <p:cNvPr id="9" name="Text 7"/>
          <p:cNvSpPr txBox="1"/>
          <p:nvPr/>
        </p:nvSpPr>
        <p:spPr>
          <a:xfrm>
            <a:off x="658368"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0" name="Shape 8"/>
          <p:cNvSpPr/>
          <p:nvPr/>
        </p:nvSpPr>
        <p:spPr>
          <a:xfrm>
            <a:off x="2971800" y="1707239"/>
            <a:ext cx="1735978" cy="126940"/>
          </a:xfrm>
          <a:prstGeom prst="rect">
            <a:avLst/>
          </a:prstGeom>
          <a:solidFill>
            <a:srgbClr val="12A566"/>
          </a:solidFill>
          <a:ln/>
        </p:spPr>
      </p:sp>
      <p:sp>
        <p:nvSpPr>
          <p:cNvPr id="11" name="Text 9"/>
          <p:cNvSpPr txBox="1"/>
          <p:nvPr/>
        </p:nvSpPr>
        <p:spPr>
          <a:xfrm>
            <a:off x="4855464"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38.6%</a:t>
            </a:r>
            <a:endParaRPr lang="en-US" sz="1300" dirty="0"/>
          </a:p>
        </p:txBody>
      </p:sp>
      <p:sp>
        <p:nvSpPr>
          <p:cNvPr id="12" name="Text 10"/>
          <p:cNvSpPr txBox="1"/>
          <p:nvPr/>
        </p:nvSpPr>
        <p:spPr>
          <a:xfrm>
            <a:off x="658368"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3" name="Shape 11"/>
          <p:cNvSpPr/>
          <p:nvPr/>
        </p:nvSpPr>
        <p:spPr>
          <a:xfrm>
            <a:off x="2971800" y="1961119"/>
            <a:ext cx="1727990" cy="126940"/>
          </a:xfrm>
          <a:prstGeom prst="rect">
            <a:avLst/>
          </a:prstGeom>
          <a:solidFill>
            <a:srgbClr val="12A566"/>
          </a:solidFill>
          <a:ln/>
        </p:spPr>
      </p:sp>
      <p:sp>
        <p:nvSpPr>
          <p:cNvPr id="14" name="Text 12"/>
          <p:cNvSpPr txBox="1"/>
          <p:nvPr/>
        </p:nvSpPr>
        <p:spPr>
          <a:xfrm>
            <a:off x="4855464" y="189764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38.2%</a:t>
            </a:r>
            <a:endParaRPr lang="en-US" sz="1300" dirty="0"/>
          </a:p>
        </p:txBody>
      </p:sp>
      <p:sp>
        <p:nvSpPr>
          <p:cNvPr id="15" name="Text 13"/>
          <p:cNvSpPr txBox="1"/>
          <p:nvPr/>
        </p:nvSpPr>
        <p:spPr>
          <a:xfrm>
            <a:off x="658368"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6" name="Shape 14"/>
          <p:cNvSpPr/>
          <p:nvPr/>
        </p:nvSpPr>
        <p:spPr>
          <a:xfrm>
            <a:off x="2971800" y="2215000"/>
            <a:ext cx="1704494" cy="126940"/>
          </a:xfrm>
          <a:prstGeom prst="rect">
            <a:avLst/>
          </a:prstGeom>
          <a:solidFill>
            <a:srgbClr val="12A566"/>
          </a:solidFill>
          <a:ln/>
        </p:spPr>
      </p:sp>
      <p:sp>
        <p:nvSpPr>
          <p:cNvPr id="17" name="Text 15"/>
          <p:cNvSpPr txBox="1"/>
          <p:nvPr/>
        </p:nvSpPr>
        <p:spPr>
          <a:xfrm>
            <a:off x="4855464" y="215152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37.1%</a:t>
            </a:r>
            <a:endParaRPr lang="en-US" sz="1300" dirty="0"/>
          </a:p>
        </p:txBody>
      </p:sp>
      <p:sp>
        <p:nvSpPr>
          <p:cNvPr id="18" name="Text 16"/>
          <p:cNvSpPr txBox="1"/>
          <p:nvPr/>
        </p:nvSpPr>
        <p:spPr>
          <a:xfrm>
            <a:off x="658368"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9" name="Shape 17"/>
          <p:cNvSpPr/>
          <p:nvPr/>
        </p:nvSpPr>
        <p:spPr>
          <a:xfrm>
            <a:off x="2971800" y="2468880"/>
            <a:ext cx="1643563" cy="126940"/>
          </a:xfrm>
          <a:prstGeom prst="rect">
            <a:avLst/>
          </a:prstGeom>
          <a:solidFill>
            <a:srgbClr val="12A566"/>
          </a:solidFill>
          <a:ln/>
        </p:spPr>
      </p:sp>
      <p:sp>
        <p:nvSpPr>
          <p:cNvPr id="20" name="Text 18"/>
          <p:cNvSpPr txBox="1"/>
          <p:nvPr/>
        </p:nvSpPr>
        <p:spPr>
          <a:xfrm>
            <a:off x="4855464" y="240541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34.1%</a:t>
            </a:r>
            <a:endParaRPr lang="en-US" sz="1300" dirty="0"/>
          </a:p>
        </p:txBody>
      </p:sp>
      <p:sp>
        <p:nvSpPr>
          <p:cNvPr id="21" name="Text 19"/>
          <p:cNvSpPr txBox="1"/>
          <p:nvPr/>
        </p:nvSpPr>
        <p:spPr>
          <a:xfrm>
            <a:off x="658368"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22" name="Shape 20"/>
          <p:cNvSpPr/>
          <p:nvPr/>
        </p:nvSpPr>
        <p:spPr>
          <a:xfrm>
            <a:off x="2971800" y="2722760"/>
            <a:ext cx="1547521" cy="126940"/>
          </a:xfrm>
          <a:prstGeom prst="rect">
            <a:avLst/>
          </a:prstGeom>
          <a:solidFill>
            <a:srgbClr val="12A566"/>
          </a:solidFill>
          <a:ln/>
        </p:spPr>
      </p:sp>
      <p:sp>
        <p:nvSpPr>
          <p:cNvPr id="23" name="Text 21"/>
          <p:cNvSpPr txBox="1"/>
          <p:nvPr/>
        </p:nvSpPr>
        <p:spPr>
          <a:xfrm>
            <a:off x="4855464" y="265929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29.5%</a:t>
            </a:r>
            <a:endParaRPr lang="en-US" sz="1300" dirty="0"/>
          </a:p>
        </p:txBody>
      </p:sp>
      <p:sp>
        <p:nvSpPr>
          <p:cNvPr id="24" name="Text 22"/>
          <p:cNvSpPr txBox="1"/>
          <p:nvPr/>
        </p:nvSpPr>
        <p:spPr>
          <a:xfrm>
            <a:off x="658368"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25" name="Shape 23"/>
          <p:cNvSpPr/>
          <p:nvPr/>
        </p:nvSpPr>
        <p:spPr>
          <a:xfrm>
            <a:off x="2971800" y="2976641"/>
            <a:ext cx="1517568" cy="126940"/>
          </a:xfrm>
          <a:prstGeom prst="rect">
            <a:avLst/>
          </a:prstGeom>
          <a:solidFill>
            <a:srgbClr val="12A566"/>
          </a:solidFill>
          <a:ln/>
        </p:spPr>
      </p:sp>
      <p:sp>
        <p:nvSpPr>
          <p:cNvPr id="26" name="Text 24"/>
          <p:cNvSpPr txBox="1"/>
          <p:nvPr/>
        </p:nvSpPr>
        <p:spPr>
          <a:xfrm>
            <a:off x="4855464" y="291317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28.1%</a:t>
            </a:r>
            <a:endParaRPr lang="en-US" sz="1300" dirty="0"/>
          </a:p>
        </p:txBody>
      </p:sp>
      <p:sp>
        <p:nvSpPr>
          <p:cNvPr id="27" name="Text 25"/>
          <p:cNvSpPr txBox="1"/>
          <p:nvPr/>
        </p:nvSpPr>
        <p:spPr>
          <a:xfrm>
            <a:off x="658368"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28" name="Shape 26"/>
          <p:cNvSpPr/>
          <p:nvPr/>
        </p:nvSpPr>
        <p:spPr>
          <a:xfrm>
            <a:off x="2971800" y="3230521"/>
            <a:ext cx="1498638" cy="126940"/>
          </a:xfrm>
          <a:prstGeom prst="rect">
            <a:avLst/>
          </a:prstGeom>
          <a:solidFill>
            <a:srgbClr val="12A566"/>
          </a:solidFill>
          <a:ln/>
        </p:spPr>
      </p:sp>
      <p:sp>
        <p:nvSpPr>
          <p:cNvPr id="29" name="Text 27"/>
          <p:cNvSpPr txBox="1"/>
          <p:nvPr/>
        </p:nvSpPr>
        <p:spPr>
          <a:xfrm>
            <a:off x="4855464" y="316705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27.2%</a:t>
            </a:r>
            <a:endParaRPr lang="en-US" sz="1300" dirty="0"/>
          </a:p>
        </p:txBody>
      </p:sp>
      <p:sp>
        <p:nvSpPr>
          <p:cNvPr id="30" name="Text 28"/>
          <p:cNvSpPr txBox="1"/>
          <p:nvPr/>
        </p:nvSpPr>
        <p:spPr>
          <a:xfrm>
            <a:off x="658368"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31" name="Shape 29"/>
          <p:cNvSpPr/>
          <p:nvPr/>
        </p:nvSpPr>
        <p:spPr>
          <a:xfrm>
            <a:off x="2971800" y="3484402"/>
            <a:ext cx="1492748" cy="126940"/>
          </a:xfrm>
          <a:prstGeom prst="rect">
            <a:avLst/>
          </a:prstGeom>
          <a:solidFill>
            <a:srgbClr val="12A566"/>
          </a:solidFill>
          <a:ln/>
        </p:spPr>
      </p:sp>
      <p:sp>
        <p:nvSpPr>
          <p:cNvPr id="32" name="Text 30"/>
          <p:cNvSpPr txBox="1"/>
          <p:nvPr/>
        </p:nvSpPr>
        <p:spPr>
          <a:xfrm>
            <a:off x="4855464" y="342093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26.9%</a:t>
            </a:r>
            <a:endParaRPr lang="en-US" sz="1300" dirty="0"/>
          </a:p>
        </p:txBody>
      </p:sp>
      <p:sp>
        <p:nvSpPr>
          <p:cNvPr id="33" name="Text 31"/>
          <p:cNvSpPr txBox="1"/>
          <p:nvPr/>
        </p:nvSpPr>
        <p:spPr>
          <a:xfrm>
            <a:off x="658368"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34" name="Shape 32"/>
          <p:cNvSpPr/>
          <p:nvPr/>
        </p:nvSpPr>
        <p:spPr>
          <a:xfrm>
            <a:off x="2971800" y="3738282"/>
            <a:ext cx="1460705" cy="126940"/>
          </a:xfrm>
          <a:prstGeom prst="rect">
            <a:avLst/>
          </a:prstGeom>
          <a:solidFill>
            <a:srgbClr val="12A566"/>
          </a:solidFill>
          <a:ln/>
        </p:spPr>
      </p:sp>
      <p:sp>
        <p:nvSpPr>
          <p:cNvPr id="35" name="Text 33"/>
          <p:cNvSpPr txBox="1"/>
          <p:nvPr/>
        </p:nvSpPr>
        <p:spPr>
          <a:xfrm>
            <a:off x="4855464" y="367481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25.3%</a:t>
            </a:r>
            <a:endParaRPr lang="en-US" sz="1300" dirty="0"/>
          </a:p>
        </p:txBody>
      </p:sp>
      <p:sp>
        <p:nvSpPr>
          <p:cNvPr id="36" name="Shape 34"/>
          <p:cNvSpPr/>
          <p:nvPr/>
        </p:nvSpPr>
        <p:spPr>
          <a:xfrm>
            <a:off x="585216" y="3924121"/>
            <a:ext cx="5413248" cy="244736"/>
          </a:xfrm>
          <a:prstGeom prst="rect">
            <a:avLst/>
          </a:prstGeom>
          <a:solidFill>
            <a:srgbClr val="EDF4FA"/>
          </a:solidFill>
          <a:ln/>
        </p:spPr>
      </p:sp>
      <p:sp>
        <p:nvSpPr>
          <p:cNvPr id="37" name="Text 35"/>
          <p:cNvSpPr txBox="1"/>
          <p:nvPr/>
        </p:nvSpPr>
        <p:spPr>
          <a:xfrm>
            <a:off x="658368" y="3928693"/>
            <a:ext cx="2240280" cy="253880"/>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38" name="Shape 36"/>
          <p:cNvSpPr/>
          <p:nvPr/>
        </p:nvSpPr>
        <p:spPr>
          <a:xfrm>
            <a:off x="2971800" y="3992163"/>
            <a:ext cx="1388105" cy="126940"/>
          </a:xfrm>
          <a:prstGeom prst="rect">
            <a:avLst/>
          </a:prstGeom>
          <a:solidFill>
            <a:srgbClr val="0B2C4A"/>
          </a:solidFill>
          <a:ln/>
        </p:spPr>
      </p:sp>
      <p:sp>
        <p:nvSpPr>
          <p:cNvPr id="39" name="Text 37"/>
          <p:cNvSpPr txBox="1"/>
          <p:nvPr/>
        </p:nvSpPr>
        <p:spPr>
          <a:xfrm>
            <a:off x="4855464" y="3928693"/>
            <a:ext cx="1088136" cy="253880"/>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21.8%</a:t>
            </a:r>
            <a:endParaRPr lang="en-US" sz="1300" dirty="0"/>
          </a:p>
        </p:txBody>
      </p:sp>
      <p:sp>
        <p:nvSpPr>
          <p:cNvPr id="40" name="Text 38"/>
          <p:cNvSpPr txBox="1"/>
          <p:nvPr/>
        </p:nvSpPr>
        <p:spPr>
          <a:xfrm>
            <a:off x="658368"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41" name="Shape 39"/>
          <p:cNvSpPr/>
          <p:nvPr/>
        </p:nvSpPr>
        <p:spPr>
          <a:xfrm>
            <a:off x="2971800" y="4246043"/>
            <a:ext cx="1387799" cy="126940"/>
          </a:xfrm>
          <a:prstGeom prst="rect">
            <a:avLst/>
          </a:prstGeom>
          <a:solidFill>
            <a:srgbClr val="C2352F"/>
          </a:solidFill>
          <a:ln/>
        </p:spPr>
      </p:sp>
      <p:sp>
        <p:nvSpPr>
          <p:cNvPr id="42" name="Text 40"/>
          <p:cNvSpPr txBox="1"/>
          <p:nvPr/>
        </p:nvSpPr>
        <p:spPr>
          <a:xfrm>
            <a:off x="4855464"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21.8%</a:t>
            </a:r>
            <a:endParaRPr lang="en-US" sz="1300" dirty="0"/>
          </a:p>
        </p:txBody>
      </p:sp>
      <p:sp>
        <p:nvSpPr>
          <p:cNvPr id="43" name="Text 41"/>
          <p:cNvSpPr txBox="1"/>
          <p:nvPr/>
        </p:nvSpPr>
        <p:spPr>
          <a:xfrm>
            <a:off x="658368"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44" name="Shape 42"/>
          <p:cNvSpPr/>
          <p:nvPr/>
        </p:nvSpPr>
        <p:spPr>
          <a:xfrm>
            <a:off x="2971800" y="4499924"/>
            <a:ext cx="1381811" cy="126940"/>
          </a:xfrm>
          <a:prstGeom prst="rect">
            <a:avLst/>
          </a:prstGeom>
          <a:solidFill>
            <a:srgbClr val="C2352F"/>
          </a:solidFill>
          <a:ln/>
        </p:spPr>
      </p:sp>
      <p:sp>
        <p:nvSpPr>
          <p:cNvPr id="45" name="Text 43"/>
          <p:cNvSpPr txBox="1"/>
          <p:nvPr/>
        </p:nvSpPr>
        <p:spPr>
          <a:xfrm>
            <a:off x="4855464"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21.5%</a:t>
            </a:r>
            <a:endParaRPr lang="en-US" sz="1300" dirty="0"/>
          </a:p>
        </p:txBody>
      </p:sp>
      <p:sp>
        <p:nvSpPr>
          <p:cNvPr id="46" name="Text 44"/>
          <p:cNvSpPr txBox="1"/>
          <p:nvPr/>
        </p:nvSpPr>
        <p:spPr>
          <a:xfrm>
            <a:off x="658368"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47" name="Shape 45"/>
          <p:cNvSpPr/>
          <p:nvPr/>
        </p:nvSpPr>
        <p:spPr>
          <a:xfrm>
            <a:off x="2971800" y="4753804"/>
            <a:ext cx="1353607" cy="126940"/>
          </a:xfrm>
          <a:prstGeom prst="rect">
            <a:avLst/>
          </a:prstGeom>
          <a:solidFill>
            <a:srgbClr val="C2352F"/>
          </a:solidFill>
          <a:ln/>
        </p:spPr>
      </p:sp>
      <p:sp>
        <p:nvSpPr>
          <p:cNvPr id="48" name="Text 46"/>
          <p:cNvSpPr txBox="1"/>
          <p:nvPr/>
        </p:nvSpPr>
        <p:spPr>
          <a:xfrm>
            <a:off x="4855464"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20.2%</a:t>
            </a:r>
            <a:endParaRPr lang="en-US" sz="1300" dirty="0"/>
          </a:p>
        </p:txBody>
      </p:sp>
      <p:sp>
        <p:nvSpPr>
          <p:cNvPr id="49" name="Text 47"/>
          <p:cNvSpPr txBox="1"/>
          <p:nvPr/>
        </p:nvSpPr>
        <p:spPr>
          <a:xfrm>
            <a:off x="658368"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50" name="Shape 48"/>
          <p:cNvSpPr/>
          <p:nvPr/>
        </p:nvSpPr>
        <p:spPr>
          <a:xfrm>
            <a:off x="2971800" y="5007685"/>
            <a:ext cx="1337394" cy="126940"/>
          </a:xfrm>
          <a:prstGeom prst="rect">
            <a:avLst/>
          </a:prstGeom>
          <a:solidFill>
            <a:srgbClr val="C2352F"/>
          </a:solidFill>
          <a:ln/>
        </p:spPr>
      </p:sp>
      <p:sp>
        <p:nvSpPr>
          <p:cNvPr id="51" name="Text 49"/>
          <p:cNvSpPr txBox="1"/>
          <p:nvPr/>
        </p:nvSpPr>
        <p:spPr>
          <a:xfrm>
            <a:off x="4855464"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19.4%</a:t>
            </a:r>
            <a:endParaRPr lang="en-US" sz="1300" dirty="0"/>
          </a:p>
        </p:txBody>
      </p:sp>
      <p:sp>
        <p:nvSpPr>
          <p:cNvPr id="52" name="Text 50"/>
          <p:cNvSpPr txBox="1"/>
          <p:nvPr/>
        </p:nvSpPr>
        <p:spPr>
          <a:xfrm>
            <a:off x="658368"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3" name="Shape 51"/>
          <p:cNvSpPr/>
          <p:nvPr/>
        </p:nvSpPr>
        <p:spPr>
          <a:xfrm>
            <a:off x="2971800" y="5261565"/>
            <a:ext cx="1335138" cy="126940"/>
          </a:xfrm>
          <a:prstGeom prst="rect">
            <a:avLst/>
          </a:prstGeom>
          <a:solidFill>
            <a:srgbClr val="C2352F"/>
          </a:solidFill>
          <a:ln/>
        </p:spPr>
      </p:sp>
      <p:sp>
        <p:nvSpPr>
          <p:cNvPr id="54" name="Text 52"/>
          <p:cNvSpPr txBox="1"/>
          <p:nvPr/>
        </p:nvSpPr>
        <p:spPr>
          <a:xfrm>
            <a:off x="4855464"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19.3%</a:t>
            </a:r>
            <a:endParaRPr lang="en-US" sz="1300" dirty="0"/>
          </a:p>
        </p:txBody>
      </p:sp>
      <p:sp>
        <p:nvSpPr>
          <p:cNvPr id="55" name="Text 53"/>
          <p:cNvSpPr txBox="1"/>
          <p:nvPr/>
        </p:nvSpPr>
        <p:spPr>
          <a:xfrm>
            <a:off x="658368"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56" name="Shape 54"/>
          <p:cNvSpPr/>
          <p:nvPr/>
        </p:nvSpPr>
        <p:spPr>
          <a:xfrm>
            <a:off x="2971800" y="5515446"/>
            <a:ext cx="1326983" cy="126940"/>
          </a:xfrm>
          <a:prstGeom prst="rect">
            <a:avLst/>
          </a:prstGeom>
          <a:solidFill>
            <a:srgbClr val="C2352F"/>
          </a:solidFill>
          <a:ln/>
        </p:spPr>
      </p:sp>
      <p:sp>
        <p:nvSpPr>
          <p:cNvPr id="57" name="Text 55"/>
          <p:cNvSpPr txBox="1"/>
          <p:nvPr/>
        </p:nvSpPr>
        <p:spPr>
          <a:xfrm>
            <a:off x="4855464"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18.9%</a:t>
            </a:r>
            <a:endParaRPr lang="en-US" sz="1300" dirty="0"/>
          </a:p>
        </p:txBody>
      </p:sp>
      <p:sp>
        <p:nvSpPr>
          <p:cNvPr id="58" name="Text 56"/>
          <p:cNvSpPr txBox="1"/>
          <p:nvPr/>
        </p:nvSpPr>
        <p:spPr>
          <a:xfrm>
            <a:off x="6208776"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59" name="Shape 57"/>
          <p:cNvSpPr/>
          <p:nvPr/>
        </p:nvSpPr>
        <p:spPr>
          <a:xfrm>
            <a:off x="8522208" y="1453358"/>
            <a:ext cx="1310033" cy="126940"/>
          </a:xfrm>
          <a:prstGeom prst="rect">
            <a:avLst/>
          </a:prstGeom>
          <a:solidFill>
            <a:srgbClr val="C2352F"/>
          </a:solidFill>
          <a:ln/>
        </p:spPr>
      </p:sp>
      <p:sp>
        <p:nvSpPr>
          <p:cNvPr id="60" name="Text 58"/>
          <p:cNvSpPr txBox="1"/>
          <p:nvPr/>
        </p:nvSpPr>
        <p:spPr>
          <a:xfrm>
            <a:off x="10405872" y="138988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18.1%</a:t>
            </a:r>
            <a:endParaRPr lang="en-US" sz="1300" dirty="0"/>
          </a:p>
        </p:txBody>
      </p:sp>
      <p:sp>
        <p:nvSpPr>
          <p:cNvPr id="61" name="Text 59"/>
          <p:cNvSpPr txBox="1"/>
          <p:nvPr/>
        </p:nvSpPr>
        <p:spPr>
          <a:xfrm>
            <a:off x="6208776"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2" name="Shape 60"/>
          <p:cNvSpPr/>
          <p:nvPr/>
        </p:nvSpPr>
        <p:spPr>
          <a:xfrm>
            <a:off x="8522208" y="1707239"/>
            <a:ext cx="1267031" cy="126940"/>
          </a:xfrm>
          <a:prstGeom prst="rect">
            <a:avLst/>
          </a:prstGeom>
          <a:solidFill>
            <a:srgbClr val="C2352F"/>
          </a:solidFill>
          <a:ln/>
        </p:spPr>
      </p:sp>
      <p:sp>
        <p:nvSpPr>
          <p:cNvPr id="63" name="Text 61"/>
          <p:cNvSpPr txBox="1"/>
          <p:nvPr/>
        </p:nvSpPr>
        <p:spPr>
          <a:xfrm>
            <a:off x="10405872" y="164376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16.0%</a:t>
            </a:r>
            <a:endParaRPr lang="en-US" sz="1300" dirty="0"/>
          </a:p>
        </p:txBody>
      </p:sp>
      <p:sp>
        <p:nvSpPr>
          <p:cNvPr id="64" name="Text 62"/>
          <p:cNvSpPr txBox="1"/>
          <p:nvPr/>
        </p:nvSpPr>
        <p:spPr>
          <a:xfrm>
            <a:off x="6208776"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65" name="Shape 63"/>
          <p:cNvSpPr/>
          <p:nvPr/>
        </p:nvSpPr>
        <p:spPr>
          <a:xfrm>
            <a:off x="8522208" y="1961119"/>
            <a:ext cx="1258375" cy="126940"/>
          </a:xfrm>
          <a:prstGeom prst="rect">
            <a:avLst/>
          </a:prstGeom>
          <a:solidFill>
            <a:srgbClr val="C2352F"/>
          </a:solidFill>
          <a:ln/>
        </p:spPr>
      </p:sp>
      <p:sp>
        <p:nvSpPr>
          <p:cNvPr id="66" name="Text 64"/>
          <p:cNvSpPr txBox="1"/>
          <p:nvPr/>
        </p:nvSpPr>
        <p:spPr>
          <a:xfrm>
            <a:off x="10405872" y="189764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15.6%</a:t>
            </a:r>
            <a:endParaRPr lang="en-US" sz="1300" dirty="0"/>
          </a:p>
        </p:txBody>
      </p:sp>
      <p:sp>
        <p:nvSpPr>
          <p:cNvPr id="67" name="Text 65"/>
          <p:cNvSpPr txBox="1"/>
          <p:nvPr/>
        </p:nvSpPr>
        <p:spPr>
          <a:xfrm>
            <a:off x="6208776"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68" name="Shape 66"/>
          <p:cNvSpPr/>
          <p:nvPr/>
        </p:nvSpPr>
        <p:spPr>
          <a:xfrm>
            <a:off x="8522208" y="2215000"/>
            <a:ext cx="1181215" cy="126940"/>
          </a:xfrm>
          <a:prstGeom prst="rect">
            <a:avLst/>
          </a:prstGeom>
          <a:solidFill>
            <a:srgbClr val="C2352F"/>
          </a:solidFill>
          <a:ln/>
        </p:spPr>
      </p:sp>
      <p:sp>
        <p:nvSpPr>
          <p:cNvPr id="69" name="Text 67"/>
          <p:cNvSpPr txBox="1"/>
          <p:nvPr/>
        </p:nvSpPr>
        <p:spPr>
          <a:xfrm>
            <a:off x="10405872" y="215152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11.9%</a:t>
            </a:r>
            <a:endParaRPr lang="en-US" sz="1300" dirty="0"/>
          </a:p>
        </p:txBody>
      </p:sp>
      <p:sp>
        <p:nvSpPr>
          <p:cNvPr id="70" name="Text 68"/>
          <p:cNvSpPr txBox="1"/>
          <p:nvPr/>
        </p:nvSpPr>
        <p:spPr>
          <a:xfrm>
            <a:off x="6208776"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71" name="Shape 69"/>
          <p:cNvSpPr/>
          <p:nvPr/>
        </p:nvSpPr>
        <p:spPr>
          <a:xfrm>
            <a:off x="8522208" y="2468880"/>
            <a:ext cx="1179871" cy="126940"/>
          </a:xfrm>
          <a:prstGeom prst="rect">
            <a:avLst/>
          </a:prstGeom>
          <a:solidFill>
            <a:srgbClr val="C2352F"/>
          </a:solidFill>
          <a:ln/>
        </p:spPr>
      </p:sp>
      <p:sp>
        <p:nvSpPr>
          <p:cNvPr id="72" name="Text 70"/>
          <p:cNvSpPr txBox="1"/>
          <p:nvPr/>
        </p:nvSpPr>
        <p:spPr>
          <a:xfrm>
            <a:off x="10405872" y="240541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11.8%</a:t>
            </a:r>
            <a:endParaRPr lang="en-US" sz="1300" dirty="0"/>
          </a:p>
        </p:txBody>
      </p:sp>
      <p:sp>
        <p:nvSpPr>
          <p:cNvPr id="73" name="Text 71"/>
          <p:cNvSpPr txBox="1"/>
          <p:nvPr/>
        </p:nvSpPr>
        <p:spPr>
          <a:xfrm>
            <a:off x="6208776"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74" name="Shape 72"/>
          <p:cNvSpPr/>
          <p:nvPr/>
        </p:nvSpPr>
        <p:spPr>
          <a:xfrm>
            <a:off x="8522208" y="2722760"/>
            <a:ext cx="1097676" cy="126940"/>
          </a:xfrm>
          <a:prstGeom prst="rect">
            <a:avLst/>
          </a:prstGeom>
          <a:solidFill>
            <a:srgbClr val="C2352F"/>
          </a:solidFill>
          <a:ln/>
        </p:spPr>
      </p:sp>
      <p:sp>
        <p:nvSpPr>
          <p:cNvPr id="75" name="Text 73"/>
          <p:cNvSpPr txBox="1"/>
          <p:nvPr/>
        </p:nvSpPr>
        <p:spPr>
          <a:xfrm>
            <a:off x="10405872" y="265929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a:t>
            </a:r>
            <a:endParaRPr lang="en-US" sz="1300" dirty="0"/>
          </a:p>
        </p:txBody>
      </p:sp>
      <p:sp>
        <p:nvSpPr>
          <p:cNvPr id="76" name="Text 74"/>
          <p:cNvSpPr txBox="1"/>
          <p:nvPr/>
        </p:nvSpPr>
        <p:spPr>
          <a:xfrm>
            <a:off x="6208776"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77" name="Shape 75"/>
          <p:cNvSpPr/>
          <p:nvPr/>
        </p:nvSpPr>
        <p:spPr>
          <a:xfrm>
            <a:off x="8522208" y="2976641"/>
            <a:ext cx="1041650" cy="126940"/>
          </a:xfrm>
          <a:prstGeom prst="rect">
            <a:avLst/>
          </a:prstGeom>
          <a:solidFill>
            <a:srgbClr val="C2352F"/>
          </a:solidFill>
          <a:ln/>
        </p:spPr>
      </p:sp>
      <p:sp>
        <p:nvSpPr>
          <p:cNvPr id="78" name="Text 76"/>
          <p:cNvSpPr txBox="1"/>
          <p:nvPr/>
        </p:nvSpPr>
        <p:spPr>
          <a:xfrm>
            <a:off x="10405872" y="291317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5.2%</a:t>
            </a:r>
            <a:endParaRPr lang="en-US" sz="1300" dirty="0"/>
          </a:p>
        </p:txBody>
      </p:sp>
      <p:sp>
        <p:nvSpPr>
          <p:cNvPr id="79" name="Text 77"/>
          <p:cNvSpPr txBox="1"/>
          <p:nvPr/>
        </p:nvSpPr>
        <p:spPr>
          <a:xfrm>
            <a:off x="6208776"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80" name="Shape 78"/>
          <p:cNvSpPr/>
          <p:nvPr/>
        </p:nvSpPr>
        <p:spPr>
          <a:xfrm>
            <a:off x="8522208" y="3230521"/>
            <a:ext cx="1034935" cy="126940"/>
          </a:xfrm>
          <a:prstGeom prst="rect">
            <a:avLst/>
          </a:prstGeom>
          <a:solidFill>
            <a:srgbClr val="C2352F"/>
          </a:solidFill>
          <a:ln/>
        </p:spPr>
      </p:sp>
      <p:sp>
        <p:nvSpPr>
          <p:cNvPr id="81" name="Text 79"/>
          <p:cNvSpPr txBox="1"/>
          <p:nvPr/>
        </p:nvSpPr>
        <p:spPr>
          <a:xfrm>
            <a:off x="10405872" y="316705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4.8%</a:t>
            </a:r>
            <a:endParaRPr lang="en-US" sz="1300" dirty="0"/>
          </a:p>
        </p:txBody>
      </p:sp>
      <p:sp>
        <p:nvSpPr>
          <p:cNvPr id="82" name="Text 80"/>
          <p:cNvSpPr txBox="1"/>
          <p:nvPr/>
        </p:nvSpPr>
        <p:spPr>
          <a:xfrm>
            <a:off x="6208776"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83" name="Shape 81"/>
          <p:cNvSpPr/>
          <p:nvPr/>
        </p:nvSpPr>
        <p:spPr>
          <a:xfrm>
            <a:off x="8522208" y="3484402"/>
            <a:ext cx="1012595" cy="126940"/>
          </a:xfrm>
          <a:prstGeom prst="rect">
            <a:avLst/>
          </a:prstGeom>
          <a:solidFill>
            <a:srgbClr val="C2352F"/>
          </a:solidFill>
          <a:ln/>
        </p:spPr>
      </p:sp>
      <p:sp>
        <p:nvSpPr>
          <p:cNvPr id="84" name="Text 82"/>
          <p:cNvSpPr txBox="1"/>
          <p:nvPr/>
        </p:nvSpPr>
        <p:spPr>
          <a:xfrm>
            <a:off x="10405872" y="342093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3.8%</a:t>
            </a:r>
            <a:endParaRPr lang="en-US" sz="1300" dirty="0"/>
          </a:p>
        </p:txBody>
      </p:sp>
      <p:sp>
        <p:nvSpPr>
          <p:cNvPr id="85" name="Text 83"/>
          <p:cNvSpPr txBox="1"/>
          <p:nvPr/>
        </p:nvSpPr>
        <p:spPr>
          <a:xfrm>
            <a:off x="6208776"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6" name="Shape 84"/>
          <p:cNvSpPr/>
          <p:nvPr/>
        </p:nvSpPr>
        <p:spPr>
          <a:xfrm>
            <a:off x="8522208" y="3738282"/>
            <a:ext cx="1008325" cy="126940"/>
          </a:xfrm>
          <a:prstGeom prst="rect">
            <a:avLst/>
          </a:prstGeom>
          <a:solidFill>
            <a:srgbClr val="C2352F"/>
          </a:solidFill>
          <a:ln/>
        </p:spPr>
      </p:sp>
      <p:sp>
        <p:nvSpPr>
          <p:cNvPr id="87" name="Text 85"/>
          <p:cNvSpPr txBox="1"/>
          <p:nvPr/>
        </p:nvSpPr>
        <p:spPr>
          <a:xfrm>
            <a:off x="10405872" y="367481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3.5%</a:t>
            </a:r>
            <a:endParaRPr lang="en-US" sz="1300" dirty="0"/>
          </a:p>
        </p:txBody>
      </p:sp>
      <p:sp>
        <p:nvSpPr>
          <p:cNvPr id="88" name="Text 86"/>
          <p:cNvSpPr txBox="1"/>
          <p:nvPr/>
        </p:nvSpPr>
        <p:spPr>
          <a:xfrm>
            <a:off x="6208776"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89" name="Shape 87"/>
          <p:cNvSpPr/>
          <p:nvPr/>
        </p:nvSpPr>
        <p:spPr>
          <a:xfrm>
            <a:off x="8522208" y="3992163"/>
            <a:ext cx="868848" cy="126940"/>
          </a:xfrm>
          <a:prstGeom prst="rect">
            <a:avLst/>
          </a:prstGeom>
          <a:solidFill>
            <a:srgbClr val="C2352F"/>
          </a:solidFill>
          <a:ln/>
        </p:spPr>
      </p:sp>
      <p:sp>
        <p:nvSpPr>
          <p:cNvPr id="90" name="Text 88"/>
          <p:cNvSpPr txBox="1"/>
          <p:nvPr/>
        </p:nvSpPr>
        <p:spPr>
          <a:xfrm>
            <a:off x="10405872" y="392869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-3.2%</a:t>
            </a:r>
            <a:endParaRPr lang="en-US" sz="1300" dirty="0"/>
          </a:p>
        </p:txBody>
      </p:sp>
      <p:sp>
        <p:nvSpPr>
          <p:cNvPr id="91" name="Text 89"/>
          <p:cNvSpPr txBox="1"/>
          <p:nvPr/>
        </p:nvSpPr>
        <p:spPr>
          <a:xfrm>
            <a:off x="6208776"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92" name="Shape 90"/>
          <p:cNvSpPr/>
          <p:nvPr/>
        </p:nvSpPr>
        <p:spPr>
          <a:xfrm>
            <a:off x="8522208" y="4246043"/>
            <a:ext cx="802558" cy="126940"/>
          </a:xfrm>
          <a:prstGeom prst="rect">
            <a:avLst/>
          </a:prstGeom>
          <a:solidFill>
            <a:srgbClr val="C2352F"/>
          </a:solidFill>
          <a:ln/>
        </p:spPr>
      </p:sp>
      <p:sp>
        <p:nvSpPr>
          <p:cNvPr id="93" name="Text 91"/>
          <p:cNvSpPr txBox="1"/>
          <p:nvPr/>
        </p:nvSpPr>
        <p:spPr>
          <a:xfrm>
            <a:off x="10405872"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-6.4%</a:t>
            </a:r>
            <a:endParaRPr lang="en-US" sz="1300" dirty="0"/>
          </a:p>
        </p:txBody>
      </p:sp>
      <p:sp>
        <p:nvSpPr>
          <p:cNvPr id="94" name="Text 92"/>
          <p:cNvSpPr txBox="1"/>
          <p:nvPr/>
        </p:nvSpPr>
        <p:spPr>
          <a:xfrm>
            <a:off x="6208776"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95" name="Shape 93"/>
          <p:cNvSpPr/>
          <p:nvPr/>
        </p:nvSpPr>
        <p:spPr>
          <a:xfrm>
            <a:off x="8522208" y="4499924"/>
            <a:ext cx="647235" cy="126940"/>
          </a:xfrm>
          <a:prstGeom prst="rect">
            <a:avLst/>
          </a:prstGeom>
          <a:solidFill>
            <a:srgbClr val="C2352F"/>
          </a:solidFill>
          <a:ln/>
        </p:spPr>
      </p:sp>
      <p:sp>
        <p:nvSpPr>
          <p:cNvPr id="96" name="Text 94"/>
          <p:cNvSpPr txBox="1"/>
          <p:nvPr/>
        </p:nvSpPr>
        <p:spPr>
          <a:xfrm>
            <a:off x="10405872"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-13.8%</a:t>
            </a:r>
            <a:endParaRPr lang="en-US" sz="1300" dirty="0"/>
          </a:p>
        </p:txBody>
      </p:sp>
      <p:sp>
        <p:nvSpPr>
          <p:cNvPr id="97" name="Text 95"/>
          <p:cNvSpPr txBox="1"/>
          <p:nvPr/>
        </p:nvSpPr>
        <p:spPr>
          <a:xfrm>
            <a:off x="6208776"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98" name="Shape 96"/>
          <p:cNvSpPr/>
          <p:nvPr/>
        </p:nvSpPr>
        <p:spPr>
          <a:xfrm>
            <a:off x="8522208" y="4753804"/>
            <a:ext cx="636072" cy="126940"/>
          </a:xfrm>
          <a:prstGeom prst="rect">
            <a:avLst/>
          </a:prstGeom>
          <a:solidFill>
            <a:srgbClr val="C2352F"/>
          </a:solidFill>
          <a:ln/>
        </p:spPr>
      </p:sp>
      <p:sp>
        <p:nvSpPr>
          <p:cNvPr id="99" name="Text 97"/>
          <p:cNvSpPr txBox="1"/>
          <p:nvPr/>
        </p:nvSpPr>
        <p:spPr>
          <a:xfrm>
            <a:off x="10405872"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-14.4%</a:t>
            </a:r>
            <a:endParaRPr lang="en-US" sz="1300" dirty="0"/>
          </a:p>
        </p:txBody>
      </p:sp>
      <p:sp>
        <p:nvSpPr>
          <p:cNvPr id="100" name="Text 98"/>
          <p:cNvSpPr txBox="1"/>
          <p:nvPr/>
        </p:nvSpPr>
        <p:spPr>
          <a:xfrm>
            <a:off x="6208776"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1" name="Shape 99"/>
          <p:cNvSpPr/>
          <p:nvPr/>
        </p:nvSpPr>
        <p:spPr>
          <a:xfrm>
            <a:off x="8522208" y="5007685"/>
            <a:ext cx="535848" cy="126940"/>
          </a:xfrm>
          <a:prstGeom prst="rect">
            <a:avLst/>
          </a:prstGeom>
          <a:solidFill>
            <a:srgbClr val="C2352F"/>
          </a:solidFill>
          <a:ln/>
        </p:spPr>
      </p:sp>
      <p:sp>
        <p:nvSpPr>
          <p:cNvPr id="102" name="Text 100"/>
          <p:cNvSpPr txBox="1"/>
          <p:nvPr/>
        </p:nvSpPr>
        <p:spPr>
          <a:xfrm>
            <a:off x="10405872"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-19.2%</a:t>
            </a:r>
            <a:endParaRPr lang="en-US" sz="1300" dirty="0"/>
          </a:p>
        </p:txBody>
      </p:sp>
      <p:sp>
        <p:nvSpPr>
          <p:cNvPr id="103" name="Text 101"/>
          <p:cNvSpPr txBox="1"/>
          <p:nvPr/>
        </p:nvSpPr>
        <p:spPr>
          <a:xfrm>
            <a:off x="6208776"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4" name="Shape 102"/>
          <p:cNvSpPr/>
          <p:nvPr/>
        </p:nvSpPr>
        <p:spPr>
          <a:xfrm>
            <a:off x="8522208" y="5261565"/>
            <a:ext cx="411295" cy="126940"/>
          </a:xfrm>
          <a:prstGeom prst="rect">
            <a:avLst/>
          </a:prstGeom>
          <a:solidFill>
            <a:srgbClr val="C2352F"/>
          </a:solidFill>
          <a:ln/>
        </p:spPr>
      </p:sp>
      <p:sp>
        <p:nvSpPr>
          <p:cNvPr id="105" name="Text 103"/>
          <p:cNvSpPr txBox="1"/>
          <p:nvPr/>
        </p:nvSpPr>
        <p:spPr>
          <a:xfrm>
            <a:off x="10405872"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-25.2%</a:t>
            </a:r>
            <a:endParaRPr lang="en-US" sz="1300" dirty="0"/>
          </a:p>
        </p:txBody>
      </p:sp>
      <p:sp>
        <p:nvSpPr>
          <p:cNvPr id="106" name="Text 104"/>
          <p:cNvSpPr txBox="1"/>
          <p:nvPr/>
        </p:nvSpPr>
        <p:spPr>
          <a:xfrm>
            <a:off x="6208776"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07" name="Shape 105"/>
          <p:cNvSpPr/>
          <p:nvPr/>
        </p:nvSpPr>
        <p:spPr>
          <a:xfrm>
            <a:off x="8522208" y="5515446"/>
            <a:ext cx="143097" cy="126940"/>
          </a:xfrm>
          <a:prstGeom prst="rect">
            <a:avLst/>
          </a:prstGeom>
          <a:solidFill>
            <a:srgbClr val="C2352F"/>
          </a:solidFill>
          <a:ln/>
        </p:spPr>
      </p:sp>
      <p:sp>
        <p:nvSpPr>
          <p:cNvPr id="108" name="Text 106"/>
          <p:cNvSpPr txBox="1"/>
          <p:nvPr/>
        </p:nvSpPr>
        <p:spPr>
          <a:xfrm>
            <a:off x="10405872"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-38.1%</a:t>
            </a:r>
            <a:endParaRPr lang="en-US" sz="1300" dirty="0"/>
          </a:p>
        </p:txBody>
      </p:sp>
      <p:sp>
        <p:nvSpPr>
          <p:cNvPr id="109" name="Shape 107"/>
          <p:cNvSpPr/>
          <p:nvPr/>
        </p:nvSpPr>
        <p:spPr>
          <a:xfrm>
            <a:off x="4352590" y="1389888"/>
            <a:ext cx="14630" cy="4315968"/>
          </a:xfrm>
          <a:prstGeom prst="rect">
            <a:avLst/>
          </a:prstGeom>
          <a:solidFill>
            <a:srgbClr val="0B2C4A"/>
          </a:solidFill>
          <a:ln/>
        </p:spPr>
      </p:sp>
      <p:sp>
        <p:nvSpPr>
          <p:cNvPr id="110" name="Shape 108"/>
          <p:cNvSpPr/>
          <p:nvPr/>
        </p:nvSpPr>
        <p:spPr>
          <a:xfrm>
            <a:off x="9902998" y="1389888"/>
            <a:ext cx="14630" cy="4315968"/>
          </a:xfrm>
          <a:prstGeom prst="rect">
            <a:avLst/>
          </a:prstGeom>
          <a:solidFill>
            <a:srgbClr val="0B2C4A"/>
          </a:solidFill>
          <a:ln/>
        </p:spPr>
      </p:sp>
      <p:sp>
        <p:nvSpPr>
          <p:cNvPr id="111" name="Shape 109"/>
          <p:cNvSpPr/>
          <p:nvPr/>
        </p:nvSpPr>
        <p:spPr>
          <a:xfrm>
            <a:off x="457200" y="5961888"/>
            <a:ext cx="11274552" cy="548640"/>
          </a:xfrm>
          <a:prstGeom prst="rect">
            <a:avLst/>
          </a:prstGeom>
          <a:solidFill>
            <a:srgbClr val="EDF4FA"/>
          </a:solidFill>
          <a:ln/>
        </p:spPr>
      </p:sp>
      <p:sp>
        <p:nvSpPr>
          <p:cNvPr id="112" name="Text 11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10 of 33 stores at or above the 21.8% group, led by HONDA HENDERSON at 43.0%. GMC PRESCOTT is lowest at -38.1%.</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to Gross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+2.9 pts</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+33.5 pts</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5" name="Shape 13"/>
          <p:cNvSpPr/>
          <p:nvPr/>
        </p:nvSpPr>
        <p:spPr>
          <a:xfrm>
            <a:off x="3813048" y="2139459"/>
            <a:ext cx="553025"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+22.5 pts</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8" name="Shape 16"/>
          <p:cNvSpPr/>
          <p:nvPr/>
        </p:nvSpPr>
        <p:spPr>
          <a:xfrm>
            <a:off x="3813048" y="2369673"/>
            <a:ext cx="493432"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+20.1 pts</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1" name="Shape 19"/>
          <p:cNvSpPr/>
          <p:nvPr/>
        </p:nvSpPr>
        <p:spPr>
          <a:xfrm>
            <a:off x="3813048" y="2599887"/>
            <a:ext cx="337084"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+13.7 pts</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24" name="Shape 22"/>
          <p:cNvSpPr/>
          <p:nvPr/>
        </p:nvSpPr>
        <p:spPr>
          <a:xfrm>
            <a:off x="3813048" y="2830100"/>
            <a:ext cx="293441"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+11.9 pts</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27" name="Shape 25"/>
          <p:cNvSpPr/>
          <p:nvPr/>
        </p:nvSpPr>
        <p:spPr>
          <a:xfrm>
            <a:off x="3813048" y="3060314"/>
            <a:ext cx="205444"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+8.4 pts</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30" name="Shape 28"/>
          <p:cNvSpPr/>
          <p:nvPr/>
        </p:nvSpPr>
        <p:spPr>
          <a:xfrm>
            <a:off x="3813048" y="3290528"/>
            <a:ext cx="194241"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 pts</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33" name="Shape 31"/>
          <p:cNvSpPr/>
          <p:nvPr/>
        </p:nvSpPr>
        <p:spPr>
          <a:xfrm>
            <a:off x="3813048" y="3520741"/>
            <a:ext cx="179023"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 pts</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36" name="Shape 34"/>
          <p:cNvSpPr/>
          <p:nvPr/>
        </p:nvSpPr>
        <p:spPr>
          <a:xfrm>
            <a:off x="3813048" y="3750955"/>
            <a:ext cx="174156"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+7.1 pts</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39" name="Shape 37"/>
          <p:cNvSpPr/>
          <p:nvPr/>
        </p:nvSpPr>
        <p:spPr>
          <a:xfrm>
            <a:off x="3813048" y="3981169"/>
            <a:ext cx="155343"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+6.3 pts</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42" name="Shape 40"/>
          <p:cNvSpPr/>
          <p:nvPr/>
        </p:nvSpPr>
        <p:spPr>
          <a:xfrm>
            <a:off x="3813048" y="4211382"/>
            <a:ext cx="152384"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+6.2 pts</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45" name="Shape 43"/>
          <p:cNvSpPr/>
          <p:nvPr/>
        </p:nvSpPr>
        <p:spPr>
          <a:xfrm>
            <a:off x="3813048" y="4441596"/>
            <a:ext cx="147508"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+6.0 pts</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48" name="Shape 46"/>
          <p:cNvSpPr/>
          <p:nvPr/>
        </p:nvSpPr>
        <p:spPr>
          <a:xfrm>
            <a:off x="3813048" y="4671809"/>
            <a:ext cx="118294"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+4.8 pts</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51" name="Shape 49"/>
          <p:cNvSpPr/>
          <p:nvPr/>
        </p:nvSpPr>
        <p:spPr>
          <a:xfrm>
            <a:off x="3813048" y="4902023"/>
            <a:ext cx="114831"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+4.7 pts</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4" name="Shape 52"/>
          <p:cNvSpPr/>
          <p:nvPr/>
        </p:nvSpPr>
        <p:spPr>
          <a:xfrm>
            <a:off x="3813048" y="5132237"/>
            <a:ext cx="111058"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 pts</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57" name="Shape 55"/>
          <p:cNvSpPr/>
          <p:nvPr/>
        </p:nvSpPr>
        <p:spPr>
          <a:xfrm>
            <a:off x="3813048" y="5362450"/>
            <a:ext cx="101341"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 pts</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60" name="Shape 58"/>
          <p:cNvSpPr/>
          <p:nvPr/>
        </p:nvSpPr>
        <p:spPr>
          <a:xfrm>
            <a:off x="3813048" y="5592664"/>
            <a:ext cx="100776"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 pts</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63" name="Shape 61"/>
          <p:cNvSpPr/>
          <p:nvPr/>
        </p:nvSpPr>
        <p:spPr>
          <a:xfrm>
            <a:off x="9363456" y="1909246"/>
            <a:ext cx="95545"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 pts</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66" name="Shape 64"/>
          <p:cNvSpPr/>
          <p:nvPr/>
        </p:nvSpPr>
        <p:spPr>
          <a:xfrm>
            <a:off x="9363456" y="2139459"/>
            <a:ext cx="92199"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 pts</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69" name="Shape 67"/>
          <p:cNvSpPr/>
          <p:nvPr/>
        </p:nvSpPr>
        <p:spPr>
          <a:xfrm>
            <a:off x="9363456" y="2369673"/>
            <a:ext cx="58212"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+2.4 pts</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72" name="Shape 70"/>
          <p:cNvSpPr/>
          <p:nvPr/>
        </p:nvSpPr>
        <p:spPr>
          <a:xfrm>
            <a:off x="9363456" y="2599887"/>
            <a:ext cx="55239"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 pts</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75" name="Shape 73"/>
          <p:cNvSpPr/>
          <p:nvPr/>
        </p:nvSpPr>
        <p:spPr>
          <a:xfrm>
            <a:off x="9363456" y="2830100"/>
            <a:ext cx="25937"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 pts</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78" name="Shape 76"/>
          <p:cNvSpPr/>
          <p:nvPr/>
        </p:nvSpPr>
        <p:spPr>
          <a:xfrm>
            <a:off x="9363456" y="3060314"/>
            <a:ext cx="12802"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 pts</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1" name="Shape 79"/>
          <p:cNvSpPr/>
          <p:nvPr/>
        </p:nvSpPr>
        <p:spPr>
          <a:xfrm>
            <a:off x="9363456" y="3290528"/>
            <a:ext cx="12802" cy="105898"/>
          </a:xfrm>
          <a:prstGeom prst="rect">
            <a:avLst/>
          </a:prstGeom>
          <a:solidFill>
            <a:srgbClr val="12A566"/>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 pts</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84" name="Shape 82"/>
          <p:cNvSpPr/>
          <p:nvPr/>
        </p:nvSpPr>
        <p:spPr>
          <a:xfrm>
            <a:off x="9353116" y="3520741"/>
            <a:ext cx="12802"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−0.4 pts</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7" name="Shape 85"/>
          <p:cNvSpPr/>
          <p:nvPr/>
        </p:nvSpPr>
        <p:spPr>
          <a:xfrm>
            <a:off x="9326494" y="3750955"/>
            <a:ext cx="36962"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 pts</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0" name="Shape 88"/>
          <p:cNvSpPr/>
          <p:nvPr/>
        </p:nvSpPr>
        <p:spPr>
          <a:xfrm>
            <a:off x="9307443" y="3981169"/>
            <a:ext cx="56013"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 pts</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93" name="Shape 91"/>
          <p:cNvSpPr/>
          <p:nvPr/>
        </p:nvSpPr>
        <p:spPr>
          <a:xfrm>
            <a:off x="9286228" y="4211382"/>
            <a:ext cx="77228"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−3.1 pts</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96" name="Shape 94"/>
          <p:cNvSpPr/>
          <p:nvPr/>
        </p:nvSpPr>
        <p:spPr>
          <a:xfrm>
            <a:off x="9266152" y="4441596"/>
            <a:ext cx="97304"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−4.0 pts</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99" name="Shape 97"/>
          <p:cNvSpPr/>
          <p:nvPr/>
        </p:nvSpPr>
        <p:spPr>
          <a:xfrm>
            <a:off x="9236766" y="4671809"/>
            <a:ext cx="126690"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−5.2 pts</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02" name="Shape 100"/>
          <p:cNvSpPr/>
          <p:nvPr/>
        </p:nvSpPr>
        <p:spPr>
          <a:xfrm>
            <a:off x="9155753" y="4902023"/>
            <a:ext cx="207703"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−8.4 pts</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05" name="Shape 103"/>
          <p:cNvSpPr/>
          <p:nvPr/>
        </p:nvSpPr>
        <p:spPr>
          <a:xfrm>
            <a:off x="9094201" y="5132237"/>
            <a:ext cx="269255"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−10.9 pts</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8" name="Shape 106"/>
          <p:cNvSpPr/>
          <p:nvPr/>
        </p:nvSpPr>
        <p:spPr>
          <a:xfrm>
            <a:off x="8704074" y="5362450"/>
            <a:ext cx="659382"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−26.8 pts</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24 of 33 stores raised service net to gross, led by HYUNDAI PRESCOTT at +33.5 pts to -19.2%. 9 declined; VW ST GEORGE fell most at −26.8 pts.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to Gross %</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37.1%</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36.7%</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−0.4 pts</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−1.1%</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33.5%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−6.1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−15.5%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36.6%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32.0%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−4.6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35.0%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36.3%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37.7%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36.7%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33.6%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−3.1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−8.4%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37.7%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35.7%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34.8%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+3.9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FBEBEA"/>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Down 0.4 pts to 36.7%, behind 2025 in four of nine months. Gross grew 1.9% but department profit grew 0.8%.</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to Gross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7" name="Shape 5"/>
          <p:cNvSpPr/>
          <p:nvPr/>
        </p:nvSpPr>
        <p:spPr>
          <a:xfrm>
            <a:off x="2971800" y="1453358"/>
            <a:ext cx="1828800" cy="126940"/>
          </a:xfrm>
          <a:prstGeom prst="rect">
            <a:avLst/>
          </a:prstGeom>
          <a:solidFill>
            <a:srgbClr val="12A566"/>
          </a:solidFill>
          <a:ln/>
        </p:spPr>
      </p:sp>
      <p:sp>
        <p:nvSpPr>
          <p:cNvPr id="8" name="Text 6"/>
          <p:cNvSpPr txBox="1"/>
          <p:nvPr/>
        </p:nvSpPr>
        <p:spPr>
          <a:xfrm>
            <a:off x="4855464"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58.7%</a:t>
            </a:r>
            <a:endParaRPr lang="en-US" sz="1300" dirty="0"/>
          </a:p>
        </p:txBody>
      </p:sp>
      <p:sp>
        <p:nvSpPr>
          <p:cNvPr id="9" name="Text 7"/>
          <p:cNvSpPr txBox="1"/>
          <p:nvPr/>
        </p:nvSpPr>
        <p:spPr>
          <a:xfrm>
            <a:off x="658368"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0" name="Shape 8"/>
          <p:cNvSpPr/>
          <p:nvPr/>
        </p:nvSpPr>
        <p:spPr>
          <a:xfrm>
            <a:off x="2971800" y="1707239"/>
            <a:ext cx="1545246" cy="126940"/>
          </a:xfrm>
          <a:prstGeom prst="rect">
            <a:avLst/>
          </a:prstGeom>
          <a:solidFill>
            <a:srgbClr val="12A566"/>
          </a:solidFill>
          <a:ln/>
        </p:spPr>
      </p:sp>
      <p:sp>
        <p:nvSpPr>
          <p:cNvPr id="11" name="Text 9"/>
          <p:cNvSpPr txBox="1"/>
          <p:nvPr/>
        </p:nvSpPr>
        <p:spPr>
          <a:xfrm>
            <a:off x="4855464"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49.6%</a:t>
            </a:r>
            <a:endParaRPr lang="en-US" sz="1300" dirty="0"/>
          </a:p>
        </p:txBody>
      </p:sp>
      <p:sp>
        <p:nvSpPr>
          <p:cNvPr id="12" name="Text 10"/>
          <p:cNvSpPr txBox="1"/>
          <p:nvPr/>
        </p:nvSpPr>
        <p:spPr>
          <a:xfrm>
            <a:off x="658368"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3" name="Shape 11"/>
          <p:cNvSpPr/>
          <p:nvPr/>
        </p:nvSpPr>
        <p:spPr>
          <a:xfrm>
            <a:off x="2971800" y="1961119"/>
            <a:ext cx="1526558" cy="126940"/>
          </a:xfrm>
          <a:prstGeom prst="rect">
            <a:avLst/>
          </a:prstGeom>
          <a:solidFill>
            <a:srgbClr val="12A566"/>
          </a:solidFill>
          <a:ln/>
        </p:spPr>
      </p:sp>
      <p:sp>
        <p:nvSpPr>
          <p:cNvPr id="14" name="Text 12"/>
          <p:cNvSpPr txBox="1"/>
          <p:nvPr/>
        </p:nvSpPr>
        <p:spPr>
          <a:xfrm>
            <a:off x="4855464" y="189764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49.0%</a:t>
            </a:r>
            <a:endParaRPr lang="en-US" sz="1300" dirty="0"/>
          </a:p>
        </p:txBody>
      </p:sp>
      <p:sp>
        <p:nvSpPr>
          <p:cNvPr id="15" name="Text 13"/>
          <p:cNvSpPr txBox="1"/>
          <p:nvPr/>
        </p:nvSpPr>
        <p:spPr>
          <a:xfrm>
            <a:off x="658368"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6" name="Shape 14"/>
          <p:cNvSpPr/>
          <p:nvPr/>
        </p:nvSpPr>
        <p:spPr>
          <a:xfrm>
            <a:off x="2971800" y="2215000"/>
            <a:ext cx="1511838" cy="126940"/>
          </a:xfrm>
          <a:prstGeom prst="rect">
            <a:avLst/>
          </a:prstGeom>
          <a:solidFill>
            <a:srgbClr val="12A566"/>
          </a:solidFill>
          <a:ln/>
        </p:spPr>
      </p:sp>
      <p:sp>
        <p:nvSpPr>
          <p:cNvPr id="17" name="Text 15"/>
          <p:cNvSpPr txBox="1"/>
          <p:nvPr/>
        </p:nvSpPr>
        <p:spPr>
          <a:xfrm>
            <a:off x="4855464" y="215152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48.5%</a:t>
            </a:r>
            <a:endParaRPr lang="en-US" sz="1300" dirty="0"/>
          </a:p>
        </p:txBody>
      </p:sp>
      <p:sp>
        <p:nvSpPr>
          <p:cNvPr id="18" name="Text 16"/>
          <p:cNvSpPr txBox="1"/>
          <p:nvPr/>
        </p:nvSpPr>
        <p:spPr>
          <a:xfrm>
            <a:off x="658368"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9" name="Shape 17"/>
          <p:cNvSpPr/>
          <p:nvPr/>
        </p:nvSpPr>
        <p:spPr>
          <a:xfrm>
            <a:off x="2971800" y="2468880"/>
            <a:ext cx="1424288" cy="126940"/>
          </a:xfrm>
          <a:prstGeom prst="rect">
            <a:avLst/>
          </a:prstGeom>
          <a:solidFill>
            <a:srgbClr val="12A566"/>
          </a:solidFill>
          <a:ln/>
        </p:spPr>
      </p:sp>
      <p:sp>
        <p:nvSpPr>
          <p:cNvPr id="20" name="Text 18"/>
          <p:cNvSpPr txBox="1"/>
          <p:nvPr/>
        </p:nvSpPr>
        <p:spPr>
          <a:xfrm>
            <a:off x="4855464" y="240541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45.7%</a:t>
            </a:r>
            <a:endParaRPr lang="en-US" sz="1300" dirty="0"/>
          </a:p>
        </p:txBody>
      </p:sp>
      <p:sp>
        <p:nvSpPr>
          <p:cNvPr id="21" name="Text 19"/>
          <p:cNvSpPr txBox="1"/>
          <p:nvPr/>
        </p:nvSpPr>
        <p:spPr>
          <a:xfrm>
            <a:off x="658368"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22" name="Shape 20"/>
          <p:cNvSpPr/>
          <p:nvPr/>
        </p:nvSpPr>
        <p:spPr>
          <a:xfrm>
            <a:off x="2971800" y="2722760"/>
            <a:ext cx="1419158" cy="126940"/>
          </a:xfrm>
          <a:prstGeom prst="rect">
            <a:avLst/>
          </a:prstGeom>
          <a:solidFill>
            <a:srgbClr val="12A566"/>
          </a:solidFill>
          <a:ln/>
        </p:spPr>
      </p:sp>
      <p:sp>
        <p:nvSpPr>
          <p:cNvPr id="23" name="Text 21"/>
          <p:cNvSpPr txBox="1"/>
          <p:nvPr/>
        </p:nvSpPr>
        <p:spPr>
          <a:xfrm>
            <a:off x="4855464" y="265929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45.5%</a:t>
            </a:r>
            <a:endParaRPr lang="en-US" sz="1300" dirty="0"/>
          </a:p>
        </p:txBody>
      </p:sp>
      <p:sp>
        <p:nvSpPr>
          <p:cNvPr id="24" name="Text 22"/>
          <p:cNvSpPr txBox="1"/>
          <p:nvPr/>
        </p:nvSpPr>
        <p:spPr>
          <a:xfrm>
            <a:off x="658368"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25" name="Shape 23"/>
          <p:cNvSpPr/>
          <p:nvPr/>
        </p:nvSpPr>
        <p:spPr>
          <a:xfrm>
            <a:off x="2971800" y="2976641"/>
            <a:ext cx="1412784" cy="126940"/>
          </a:xfrm>
          <a:prstGeom prst="rect">
            <a:avLst/>
          </a:prstGeom>
          <a:solidFill>
            <a:srgbClr val="12A566"/>
          </a:solidFill>
          <a:ln/>
        </p:spPr>
      </p:sp>
      <p:sp>
        <p:nvSpPr>
          <p:cNvPr id="26" name="Text 24"/>
          <p:cNvSpPr txBox="1"/>
          <p:nvPr/>
        </p:nvSpPr>
        <p:spPr>
          <a:xfrm>
            <a:off x="4855464" y="291317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45.3%</a:t>
            </a:r>
            <a:endParaRPr lang="en-US" sz="1300" dirty="0"/>
          </a:p>
        </p:txBody>
      </p:sp>
      <p:sp>
        <p:nvSpPr>
          <p:cNvPr id="27" name="Text 25"/>
          <p:cNvSpPr txBox="1"/>
          <p:nvPr/>
        </p:nvSpPr>
        <p:spPr>
          <a:xfrm>
            <a:off x="658368"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28" name="Shape 26"/>
          <p:cNvSpPr/>
          <p:nvPr/>
        </p:nvSpPr>
        <p:spPr>
          <a:xfrm>
            <a:off x="2971800" y="3230521"/>
            <a:ext cx="1382775" cy="126940"/>
          </a:xfrm>
          <a:prstGeom prst="rect">
            <a:avLst/>
          </a:prstGeom>
          <a:solidFill>
            <a:srgbClr val="12A566"/>
          </a:solidFill>
          <a:ln/>
        </p:spPr>
      </p:sp>
      <p:sp>
        <p:nvSpPr>
          <p:cNvPr id="29" name="Text 27"/>
          <p:cNvSpPr txBox="1"/>
          <p:nvPr/>
        </p:nvSpPr>
        <p:spPr>
          <a:xfrm>
            <a:off x="4855464" y="316705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44.4%</a:t>
            </a:r>
            <a:endParaRPr lang="en-US" sz="1300" dirty="0"/>
          </a:p>
        </p:txBody>
      </p:sp>
      <p:sp>
        <p:nvSpPr>
          <p:cNvPr id="30" name="Text 28"/>
          <p:cNvSpPr txBox="1"/>
          <p:nvPr/>
        </p:nvSpPr>
        <p:spPr>
          <a:xfrm>
            <a:off x="658368"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31" name="Shape 29"/>
          <p:cNvSpPr/>
          <p:nvPr/>
        </p:nvSpPr>
        <p:spPr>
          <a:xfrm>
            <a:off x="2971800" y="3484402"/>
            <a:ext cx="1376663" cy="126940"/>
          </a:xfrm>
          <a:prstGeom prst="rect">
            <a:avLst/>
          </a:prstGeom>
          <a:solidFill>
            <a:srgbClr val="12A566"/>
          </a:solidFill>
          <a:ln/>
        </p:spPr>
      </p:sp>
      <p:sp>
        <p:nvSpPr>
          <p:cNvPr id="32" name="Text 30"/>
          <p:cNvSpPr txBox="1"/>
          <p:nvPr/>
        </p:nvSpPr>
        <p:spPr>
          <a:xfrm>
            <a:off x="4855464" y="342093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44.2%</a:t>
            </a:r>
            <a:endParaRPr lang="en-US" sz="1300" dirty="0"/>
          </a:p>
        </p:txBody>
      </p:sp>
      <p:sp>
        <p:nvSpPr>
          <p:cNvPr id="33" name="Text 31"/>
          <p:cNvSpPr txBox="1"/>
          <p:nvPr/>
        </p:nvSpPr>
        <p:spPr>
          <a:xfrm>
            <a:off x="658368"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34" name="Shape 32"/>
          <p:cNvSpPr/>
          <p:nvPr/>
        </p:nvSpPr>
        <p:spPr>
          <a:xfrm>
            <a:off x="2971800" y="3738282"/>
            <a:ext cx="1364265" cy="126940"/>
          </a:xfrm>
          <a:prstGeom prst="rect">
            <a:avLst/>
          </a:prstGeom>
          <a:solidFill>
            <a:srgbClr val="12A566"/>
          </a:solidFill>
          <a:ln/>
        </p:spPr>
      </p:sp>
      <p:sp>
        <p:nvSpPr>
          <p:cNvPr id="35" name="Text 33"/>
          <p:cNvSpPr txBox="1"/>
          <p:nvPr/>
        </p:nvSpPr>
        <p:spPr>
          <a:xfrm>
            <a:off x="4855464" y="367481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43.8%</a:t>
            </a:r>
            <a:endParaRPr lang="en-US" sz="1300" dirty="0"/>
          </a:p>
        </p:txBody>
      </p:sp>
      <p:sp>
        <p:nvSpPr>
          <p:cNvPr id="36" name="Text 34"/>
          <p:cNvSpPr txBox="1"/>
          <p:nvPr/>
        </p:nvSpPr>
        <p:spPr>
          <a:xfrm>
            <a:off x="658368"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37" name="Shape 35"/>
          <p:cNvSpPr/>
          <p:nvPr/>
        </p:nvSpPr>
        <p:spPr>
          <a:xfrm>
            <a:off x="2971800" y="3992163"/>
            <a:ext cx="1340053" cy="126940"/>
          </a:xfrm>
          <a:prstGeom prst="rect">
            <a:avLst/>
          </a:prstGeom>
          <a:solidFill>
            <a:srgbClr val="12A566"/>
          </a:solidFill>
          <a:ln/>
        </p:spPr>
      </p:sp>
      <p:sp>
        <p:nvSpPr>
          <p:cNvPr id="38" name="Text 36"/>
          <p:cNvSpPr txBox="1"/>
          <p:nvPr/>
        </p:nvSpPr>
        <p:spPr>
          <a:xfrm>
            <a:off x="4855464" y="392869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43.0%</a:t>
            </a:r>
            <a:endParaRPr lang="en-US" sz="1300" dirty="0"/>
          </a:p>
        </p:txBody>
      </p:sp>
      <p:sp>
        <p:nvSpPr>
          <p:cNvPr id="39" name="Text 37"/>
          <p:cNvSpPr txBox="1"/>
          <p:nvPr/>
        </p:nvSpPr>
        <p:spPr>
          <a:xfrm>
            <a:off x="658368"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40" name="Shape 38"/>
          <p:cNvSpPr/>
          <p:nvPr/>
        </p:nvSpPr>
        <p:spPr>
          <a:xfrm>
            <a:off x="2971800" y="4246043"/>
            <a:ext cx="1308048" cy="126940"/>
          </a:xfrm>
          <a:prstGeom prst="rect">
            <a:avLst/>
          </a:prstGeom>
          <a:solidFill>
            <a:srgbClr val="12A566"/>
          </a:solidFill>
          <a:ln/>
        </p:spPr>
      </p:sp>
      <p:sp>
        <p:nvSpPr>
          <p:cNvPr id="41" name="Text 39"/>
          <p:cNvSpPr txBox="1"/>
          <p:nvPr/>
        </p:nvSpPr>
        <p:spPr>
          <a:xfrm>
            <a:off x="4855464" y="418257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42.0%</a:t>
            </a:r>
            <a:endParaRPr lang="en-US" sz="1300" dirty="0"/>
          </a:p>
        </p:txBody>
      </p:sp>
      <p:sp>
        <p:nvSpPr>
          <p:cNvPr id="42" name="Text 40"/>
          <p:cNvSpPr txBox="1"/>
          <p:nvPr/>
        </p:nvSpPr>
        <p:spPr>
          <a:xfrm>
            <a:off x="658368"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3" name="Shape 41"/>
          <p:cNvSpPr/>
          <p:nvPr/>
        </p:nvSpPr>
        <p:spPr>
          <a:xfrm>
            <a:off x="2971800" y="4499924"/>
            <a:ext cx="1236554" cy="126940"/>
          </a:xfrm>
          <a:prstGeom prst="rect">
            <a:avLst/>
          </a:prstGeom>
          <a:solidFill>
            <a:srgbClr val="12A566"/>
          </a:solidFill>
          <a:ln/>
        </p:spPr>
      </p:sp>
      <p:sp>
        <p:nvSpPr>
          <p:cNvPr id="44" name="Text 42"/>
          <p:cNvSpPr txBox="1"/>
          <p:nvPr/>
        </p:nvSpPr>
        <p:spPr>
          <a:xfrm>
            <a:off x="4855464" y="443645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39.7%</a:t>
            </a:r>
            <a:endParaRPr lang="en-US" sz="1300" dirty="0"/>
          </a:p>
        </p:txBody>
      </p:sp>
      <p:sp>
        <p:nvSpPr>
          <p:cNvPr id="45" name="Text 43"/>
          <p:cNvSpPr txBox="1"/>
          <p:nvPr/>
        </p:nvSpPr>
        <p:spPr>
          <a:xfrm>
            <a:off x="658368"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46" name="Shape 44"/>
          <p:cNvSpPr/>
          <p:nvPr/>
        </p:nvSpPr>
        <p:spPr>
          <a:xfrm>
            <a:off x="2971800" y="4753804"/>
            <a:ext cx="1226075" cy="126940"/>
          </a:xfrm>
          <a:prstGeom prst="rect">
            <a:avLst/>
          </a:prstGeom>
          <a:solidFill>
            <a:srgbClr val="12A566"/>
          </a:solidFill>
          <a:ln/>
        </p:spPr>
      </p:sp>
      <p:sp>
        <p:nvSpPr>
          <p:cNvPr id="47" name="Text 45"/>
          <p:cNvSpPr txBox="1"/>
          <p:nvPr/>
        </p:nvSpPr>
        <p:spPr>
          <a:xfrm>
            <a:off x="4855464" y="469033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39.3%</a:t>
            </a:r>
            <a:endParaRPr lang="en-US" sz="1300" dirty="0"/>
          </a:p>
        </p:txBody>
      </p:sp>
      <p:sp>
        <p:nvSpPr>
          <p:cNvPr id="48" name="Text 46"/>
          <p:cNvSpPr txBox="1"/>
          <p:nvPr/>
        </p:nvSpPr>
        <p:spPr>
          <a:xfrm>
            <a:off x="658368"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49" name="Shape 47"/>
          <p:cNvSpPr/>
          <p:nvPr/>
        </p:nvSpPr>
        <p:spPr>
          <a:xfrm>
            <a:off x="2971800" y="5007685"/>
            <a:ext cx="1167498" cy="126940"/>
          </a:xfrm>
          <a:prstGeom prst="rect">
            <a:avLst/>
          </a:prstGeom>
          <a:solidFill>
            <a:srgbClr val="12A566"/>
          </a:solidFill>
          <a:ln/>
        </p:spPr>
      </p:sp>
      <p:sp>
        <p:nvSpPr>
          <p:cNvPr id="50" name="Text 48"/>
          <p:cNvSpPr txBox="1"/>
          <p:nvPr/>
        </p:nvSpPr>
        <p:spPr>
          <a:xfrm>
            <a:off x="4855464" y="4944215"/>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37.5%</a:t>
            </a:r>
            <a:endParaRPr lang="en-US" sz="1300" dirty="0"/>
          </a:p>
        </p:txBody>
      </p:sp>
      <p:sp>
        <p:nvSpPr>
          <p:cNvPr id="51" name="Shape 49"/>
          <p:cNvSpPr/>
          <p:nvPr/>
        </p:nvSpPr>
        <p:spPr>
          <a:xfrm>
            <a:off x="585216" y="5193523"/>
            <a:ext cx="5413248" cy="244736"/>
          </a:xfrm>
          <a:prstGeom prst="rect">
            <a:avLst/>
          </a:prstGeom>
          <a:solidFill>
            <a:srgbClr val="EDF4FA"/>
          </a:solidFill>
          <a:ln/>
        </p:spPr>
      </p:sp>
      <p:sp>
        <p:nvSpPr>
          <p:cNvPr id="52" name="Text 50"/>
          <p:cNvSpPr txBox="1"/>
          <p:nvPr/>
        </p:nvSpPr>
        <p:spPr>
          <a:xfrm>
            <a:off x="658368" y="5198095"/>
            <a:ext cx="2240280" cy="253880"/>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53" name="Shape 51"/>
          <p:cNvSpPr/>
          <p:nvPr/>
        </p:nvSpPr>
        <p:spPr>
          <a:xfrm>
            <a:off x="2971800" y="5261565"/>
            <a:ext cx="1144882" cy="126940"/>
          </a:xfrm>
          <a:prstGeom prst="rect">
            <a:avLst/>
          </a:prstGeom>
          <a:solidFill>
            <a:srgbClr val="0B2C4A"/>
          </a:solidFill>
          <a:ln/>
        </p:spPr>
      </p:sp>
      <p:sp>
        <p:nvSpPr>
          <p:cNvPr id="54" name="Text 52"/>
          <p:cNvSpPr txBox="1"/>
          <p:nvPr/>
        </p:nvSpPr>
        <p:spPr>
          <a:xfrm>
            <a:off x="4855464" y="5198095"/>
            <a:ext cx="1088136" cy="253880"/>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36.7%</a:t>
            </a:r>
            <a:endParaRPr lang="en-US" sz="1300" dirty="0"/>
          </a:p>
        </p:txBody>
      </p:sp>
      <p:sp>
        <p:nvSpPr>
          <p:cNvPr id="55" name="Text 53"/>
          <p:cNvSpPr txBox="1"/>
          <p:nvPr/>
        </p:nvSpPr>
        <p:spPr>
          <a:xfrm>
            <a:off x="658368"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56" name="Shape 54"/>
          <p:cNvSpPr/>
          <p:nvPr/>
        </p:nvSpPr>
        <p:spPr>
          <a:xfrm>
            <a:off x="2971800" y="5515446"/>
            <a:ext cx="1123320" cy="126940"/>
          </a:xfrm>
          <a:prstGeom prst="rect">
            <a:avLst/>
          </a:prstGeom>
          <a:solidFill>
            <a:srgbClr val="C2352F"/>
          </a:solidFill>
          <a:ln/>
        </p:spPr>
      </p:sp>
      <p:sp>
        <p:nvSpPr>
          <p:cNvPr id="57" name="Text 55"/>
          <p:cNvSpPr txBox="1"/>
          <p:nvPr/>
        </p:nvSpPr>
        <p:spPr>
          <a:xfrm>
            <a:off x="4855464"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36.0%</a:t>
            </a:r>
            <a:endParaRPr lang="en-US" sz="1300" dirty="0"/>
          </a:p>
        </p:txBody>
      </p:sp>
      <p:sp>
        <p:nvSpPr>
          <p:cNvPr id="58" name="Text 56"/>
          <p:cNvSpPr txBox="1"/>
          <p:nvPr/>
        </p:nvSpPr>
        <p:spPr>
          <a:xfrm>
            <a:off x="6208776"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59" name="Shape 57"/>
          <p:cNvSpPr/>
          <p:nvPr/>
        </p:nvSpPr>
        <p:spPr>
          <a:xfrm>
            <a:off x="8522208" y="1453358"/>
            <a:ext cx="1109250" cy="126940"/>
          </a:xfrm>
          <a:prstGeom prst="rect">
            <a:avLst/>
          </a:prstGeom>
          <a:solidFill>
            <a:srgbClr val="C2352F"/>
          </a:solidFill>
          <a:ln/>
        </p:spPr>
      </p:sp>
      <p:sp>
        <p:nvSpPr>
          <p:cNvPr id="60" name="Text 58"/>
          <p:cNvSpPr txBox="1"/>
          <p:nvPr/>
        </p:nvSpPr>
        <p:spPr>
          <a:xfrm>
            <a:off x="10405872" y="138988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35.6%</a:t>
            </a:r>
            <a:endParaRPr lang="en-US" sz="1300" dirty="0"/>
          </a:p>
        </p:txBody>
      </p:sp>
      <p:sp>
        <p:nvSpPr>
          <p:cNvPr id="61" name="Text 59"/>
          <p:cNvSpPr txBox="1"/>
          <p:nvPr/>
        </p:nvSpPr>
        <p:spPr>
          <a:xfrm>
            <a:off x="6208776"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2" name="Shape 60"/>
          <p:cNvSpPr/>
          <p:nvPr/>
        </p:nvSpPr>
        <p:spPr>
          <a:xfrm>
            <a:off x="8522208" y="1707239"/>
            <a:ext cx="1075298" cy="126940"/>
          </a:xfrm>
          <a:prstGeom prst="rect">
            <a:avLst/>
          </a:prstGeom>
          <a:solidFill>
            <a:srgbClr val="C2352F"/>
          </a:solidFill>
          <a:ln/>
        </p:spPr>
      </p:sp>
      <p:sp>
        <p:nvSpPr>
          <p:cNvPr id="63" name="Text 61"/>
          <p:cNvSpPr txBox="1"/>
          <p:nvPr/>
        </p:nvSpPr>
        <p:spPr>
          <a:xfrm>
            <a:off x="10405872" y="164376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34.5%</a:t>
            </a:r>
            <a:endParaRPr lang="en-US" sz="1300" dirty="0"/>
          </a:p>
        </p:txBody>
      </p:sp>
      <p:sp>
        <p:nvSpPr>
          <p:cNvPr id="64" name="Text 62"/>
          <p:cNvSpPr txBox="1"/>
          <p:nvPr/>
        </p:nvSpPr>
        <p:spPr>
          <a:xfrm>
            <a:off x="6208776"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5" name="Shape 63"/>
          <p:cNvSpPr/>
          <p:nvPr/>
        </p:nvSpPr>
        <p:spPr>
          <a:xfrm>
            <a:off x="8522208" y="1961119"/>
            <a:ext cx="1023782" cy="126940"/>
          </a:xfrm>
          <a:prstGeom prst="rect">
            <a:avLst/>
          </a:prstGeom>
          <a:solidFill>
            <a:srgbClr val="C2352F"/>
          </a:solidFill>
          <a:ln/>
        </p:spPr>
      </p:sp>
      <p:sp>
        <p:nvSpPr>
          <p:cNvPr id="66" name="Text 64"/>
          <p:cNvSpPr txBox="1"/>
          <p:nvPr/>
        </p:nvSpPr>
        <p:spPr>
          <a:xfrm>
            <a:off x="10405872" y="189764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32.9%</a:t>
            </a:r>
            <a:endParaRPr lang="en-US" sz="1300" dirty="0"/>
          </a:p>
        </p:txBody>
      </p:sp>
      <p:sp>
        <p:nvSpPr>
          <p:cNvPr id="67" name="Text 65"/>
          <p:cNvSpPr txBox="1"/>
          <p:nvPr/>
        </p:nvSpPr>
        <p:spPr>
          <a:xfrm>
            <a:off x="6208776"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68" name="Shape 66"/>
          <p:cNvSpPr/>
          <p:nvPr/>
        </p:nvSpPr>
        <p:spPr>
          <a:xfrm>
            <a:off x="8522208" y="2215000"/>
            <a:ext cx="1017333" cy="126940"/>
          </a:xfrm>
          <a:prstGeom prst="rect">
            <a:avLst/>
          </a:prstGeom>
          <a:solidFill>
            <a:srgbClr val="C2352F"/>
          </a:solidFill>
          <a:ln/>
        </p:spPr>
      </p:sp>
      <p:sp>
        <p:nvSpPr>
          <p:cNvPr id="69" name="Text 67"/>
          <p:cNvSpPr txBox="1"/>
          <p:nvPr/>
        </p:nvSpPr>
        <p:spPr>
          <a:xfrm>
            <a:off x="10405872" y="215152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32.6%</a:t>
            </a:r>
            <a:endParaRPr lang="en-US" sz="1300" dirty="0"/>
          </a:p>
        </p:txBody>
      </p:sp>
      <p:sp>
        <p:nvSpPr>
          <p:cNvPr id="70" name="Text 68"/>
          <p:cNvSpPr txBox="1"/>
          <p:nvPr/>
        </p:nvSpPr>
        <p:spPr>
          <a:xfrm>
            <a:off x="6208776"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71" name="Shape 69"/>
          <p:cNvSpPr/>
          <p:nvPr/>
        </p:nvSpPr>
        <p:spPr>
          <a:xfrm>
            <a:off x="8522208" y="2468880"/>
            <a:ext cx="973894" cy="126940"/>
          </a:xfrm>
          <a:prstGeom prst="rect">
            <a:avLst/>
          </a:prstGeom>
          <a:solidFill>
            <a:srgbClr val="C2352F"/>
          </a:solidFill>
          <a:ln/>
        </p:spPr>
      </p:sp>
      <p:sp>
        <p:nvSpPr>
          <p:cNvPr id="72" name="Text 70"/>
          <p:cNvSpPr txBox="1"/>
          <p:nvPr/>
        </p:nvSpPr>
        <p:spPr>
          <a:xfrm>
            <a:off x="10405872" y="240541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31.3%</a:t>
            </a:r>
            <a:endParaRPr lang="en-US" sz="1300" dirty="0"/>
          </a:p>
        </p:txBody>
      </p:sp>
      <p:sp>
        <p:nvSpPr>
          <p:cNvPr id="73" name="Text 71"/>
          <p:cNvSpPr txBox="1"/>
          <p:nvPr/>
        </p:nvSpPr>
        <p:spPr>
          <a:xfrm>
            <a:off x="6208776"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74" name="Shape 72"/>
          <p:cNvSpPr/>
          <p:nvPr/>
        </p:nvSpPr>
        <p:spPr>
          <a:xfrm>
            <a:off x="8522208" y="2722760"/>
            <a:ext cx="966492" cy="126940"/>
          </a:xfrm>
          <a:prstGeom prst="rect">
            <a:avLst/>
          </a:prstGeom>
          <a:solidFill>
            <a:srgbClr val="C2352F"/>
          </a:solidFill>
          <a:ln/>
        </p:spPr>
      </p:sp>
      <p:sp>
        <p:nvSpPr>
          <p:cNvPr id="75" name="Text 73"/>
          <p:cNvSpPr txBox="1"/>
          <p:nvPr/>
        </p:nvSpPr>
        <p:spPr>
          <a:xfrm>
            <a:off x="10405872" y="265929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31.0%</a:t>
            </a:r>
            <a:endParaRPr lang="en-US" sz="1300" dirty="0"/>
          </a:p>
        </p:txBody>
      </p:sp>
      <p:sp>
        <p:nvSpPr>
          <p:cNvPr id="76" name="Text 74"/>
          <p:cNvSpPr txBox="1"/>
          <p:nvPr/>
        </p:nvSpPr>
        <p:spPr>
          <a:xfrm>
            <a:off x="6208776"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77" name="Shape 75"/>
          <p:cNvSpPr/>
          <p:nvPr/>
        </p:nvSpPr>
        <p:spPr>
          <a:xfrm>
            <a:off x="8522208" y="2976641"/>
            <a:ext cx="959312" cy="126940"/>
          </a:xfrm>
          <a:prstGeom prst="rect">
            <a:avLst/>
          </a:prstGeom>
          <a:solidFill>
            <a:srgbClr val="C2352F"/>
          </a:solidFill>
          <a:ln/>
        </p:spPr>
      </p:sp>
      <p:sp>
        <p:nvSpPr>
          <p:cNvPr id="78" name="Text 76"/>
          <p:cNvSpPr txBox="1"/>
          <p:nvPr/>
        </p:nvSpPr>
        <p:spPr>
          <a:xfrm>
            <a:off x="10405872" y="291317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30.8%</a:t>
            </a:r>
            <a:endParaRPr lang="en-US" sz="1300" dirty="0"/>
          </a:p>
        </p:txBody>
      </p:sp>
      <p:sp>
        <p:nvSpPr>
          <p:cNvPr id="79" name="Text 77"/>
          <p:cNvSpPr txBox="1"/>
          <p:nvPr/>
        </p:nvSpPr>
        <p:spPr>
          <a:xfrm>
            <a:off x="6208776"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80" name="Shape 78"/>
          <p:cNvSpPr/>
          <p:nvPr/>
        </p:nvSpPr>
        <p:spPr>
          <a:xfrm>
            <a:off x="8522208" y="3230521"/>
            <a:ext cx="933483" cy="126940"/>
          </a:xfrm>
          <a:prstGeom prst="rect">
            <a:avLst/>
          </a:prstGeom>
          <a:solidFill>
            <a:srgbClr val="C2352F"/>
          </a:solidFill>
          <a:ln/>
        </p:spPr>
      </p:sp>
      <p:sp>
        <p:nvSpPr>
          <p:cNvPr id="81" name="Text 79"/>
          <p:cNvSpPr txBox="1"/>
          <p:nvPr/>
        </p:nvSpPr>
        <p:spPr>
          <a:xfrm>
            <a:off x="10405872" y="316705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30.0%</a:t>
            </a:r>
            <a:endParaRPr lang="en-US" sz="1300" dirty="0"/>
          </a:p>
        </p:txBody>
      </p:sp>
      <p:sp>
        <p:nvSpPr>
          <p:cNvPr id="82" name="Text 80"/>
          <p:cNvSpPr txBox="1"/>
          <p:nvPr/>
        </p:nvSpPr>
        <p:spPr>
          <a:xfrm>
            <a:off x="6208776"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3" name="Shape 81"/>
          <p:cNvSpPr/>
          <p:nvPr/>
        </p:nvSpPr>
        <p:spPr>
          <a:xfrm>
            <a:off x="8522208" y="3484402"/>
            <a:ext cx="829878" cy="126940"/>
          </a:xfrm>
          <a:prstGeom prst="rect">
            <a:avLst/>
          </a:prstGeom>
          <a:solidFill>
            <a:srgbClr val="C2352F"/>
          </a:solidFill>
          <a:ln/>
        </p:spPr>
      </p:sp>
      <p:sp>
        <p:nvSpPr>
          <p:cNvPr id="84" name="Text 82"/>
          <p:cNvSpPr txBox="1"/>
          <p:nvPr/>
        </p:nvSpPr>
        <p:spPr>
          <a:xfrm>
            <a:off x="10405872" y="342093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26.6%</a:t>
            </a:r>
            <a:endParaRPr lang="en-US" sz="1300" dirty="0"/>
          </a:p>
        </p:txBody>
      </p:sp>
      <p:sp>
        <p:nvSpPr>
          <p:cNvPr id="85" name="Text 83"/>
          <p:cNvSpPr txBox="1"/>
          <p:nvPr/>
        </p:nvSpPr>
        <p:spPr>
          <a:xfrm>
            <a:off x="6208776"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86" name="Shape 84"/>
          <p:cNvSpPr/>
          <p:nvPr/>
        </p:nvSpPr>
        <p:spPr>
          <a:xfrm>
            <a:off x="8522208" y="3738282"/>
            <a:ext cx="800984" cy="126940"/>
          </a:xfrm>
          <a:prstGeom prst="rect">
            <a:avLst/>
          </a:prstGeom>
          <a:solidFill>
            <a:srgbClr val="C2352F"/>
          </a:solidFill>
          <a:ln/>
        </p:spPr>
      </p:sp>
      <p:sp>
        <p:nvSpPr>
          <p:cNvPr id="87" name="Text 85"/>
          <p:cNvSpPr txBox="1"/>
          <p:nvPr/>
        </p:nvSpPr>
        <p:spPr>
          <a:xfrm>
            <a:off x="10405872" y="367481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25.7%</a:t>
            </a:r>
            <a:endParaRPr lang="en-US" sz="1300" dirty="0"/>
          </a:p>
        </p:txBody>
      </p:sp>
      <p:sp>
        <p:nvSpPr>
          <p:cNvPr id="88" name="Text 86"/>
          <p:cNvSpPr txBox="1"/>
          <p:nvPr/>
        </p:nvSpPr>
        <p:spPr>
          <a:xfrm>
            <a:off x="6208776"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9" name="Shape 87"/>
          <p:cNvSpPr/>
          <p:nvPr/>
        </p:nvSpPr>
        <p:spPr>
          <a:xfrm>
            <a:off x="8522208" y="3992163"/>
            <a:ext cx="787663" cy="126940"/>
          </a:xfrm>
          <a:prstGeom prst="rect">
            <a:avLst/>
          </a:prstGeom>
          <a:solidFill>
            <a:srgbClr val="C2352F"/>
          </a:solidFill>
          <a:ln/>
        </p:spPr>
      </p:sp>
      <p:sp>
        <p:nvSpPr>
          <p:cNvPr id="90" name="Text 88"/>
          <p:cNvSpPr txBox="1"/>
          <p:nvPr/>
        </p:nvSpPr>
        <p:spPr>
          <a:xfrm>
            <a:off x="10405872" y="392869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25.3%</a:t>
            </a:r>
            <a:endParaRPr lang="en-US" sz="1300" dirty="0"/>
          </a:p>
        </p:txBody>
      </p:sp>
      <p:sp>
        <p:nvSpPr>
          <p:cNvPr id="91" name="Text 89"/>
          <p:cNvSpPr txBox="1"/>
          <p:nvPr/>
        </p:nvSpPr>
        <p:spPr>
          <a:xfrm>
            <a:off x="6208776"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92" name="Shape 90"/>
          <p:cNvSpPr/>
          <p:nvPr/>
        </p:nvSpPr>
        <p:spPr>
          <a:xfrm>
            <a:off x="8522208" y="4246043"/>
            <a:ext cx="785031" cy="126940"/>
          </a:xfrm>
          <a:prstGeom prst="rect">
            <a:avLst/>
          </a:prstGeom>
          <a:solidFill>
            <a:srgbClr val="C2352F"/>
          </a:solidFill>
          <a:ln/>
        </p:spPr>
      </p:sp>
      <p:sp>
        <p:nvSpPr>
          <p:cNvPr id="93" name="Text 91"/>
          <p:cNvSpPr txBox="1"/>
          <p:nvPr/>
        </p:nvSpPr>
        <p:spPr>
          <a:xfrm>
            <a:off x="10405872"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25.2%</a:t>
            </a:r>
            <a:endParaRPr lang="en-US" sz="1300" dirty="0"/>
          </a:p>
        </p:txBody>
      </p:sp>
      <p:sp>
        <p:nvSpPr>
          <p:cNvPr id="94" name="Text 92"/>
          <p:cNvSpPr txBox="1"/>
          <p:nvPr/>
        </p:nvSpPr>
        <p:spPr>
          <a:xfrm>
            <a:off x="6208776"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5" name="Shape 93"/>
          <p:cNvSpPr/>
          <p:nvPr/>
        </p:nvSpPr>
        <p:spPr>
          <a:xfrm>
            <a:off x="8522208" y="4499924"/>
            <a:ext cx="743572" cy="126940"/>
          </a:xfrm>
          <a:prstGeom prst="rect">
            <a:avLst/>
          </a:prstGeom>
          <a:solidFill>
            <a:srgbClr val="C2352F"/>
          </a:solidFill>
          <a:ln/>
        </p:spPr>
      </p:sp>
      <p:sp>
        <p:nvSpPr>
          <p:cNvPr id="96" name="Text 94"/>
          <p:cNvSpPr txBox="1"/>
          <p:nvPr/>
        </p:nvSpPr>
        <p:spPr>
          <a:xfrm>
            <a:off x="10405872"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23.9%</a:t>
            </a:r>
            <a:endParaRPr lang="en-US" sz="1300" dirty="0"/>
          </a:p>
        </p:txBody>
      </p:sp>
      <p:sp>
        <p:nvSpPr>
          <p:cNvPr id="97" name="Text 95"/>
          <p:cNvSpPr txBox="1"/>
          <p:nvPr/>
        </p:nvSpPr>
        <p:spPr>
          <a:xfrm>
            <a:off x="6208776"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8" name="Shape 96"/>
          <p:cNvSpPr/>
          <p:nvPr/>
        </p:nvSpPr>
        <p:spPr>
          <a:xfrm>
            <a:off x="8522208" y="4753804"/>
            <a:ext cx="735985" cy="126940"/>
          </a:xfrm>
          <a:prstGeom prst="rect">
            <a:avLst/>
          </a:prstGeom>
          <a:solidFill>
            <a:srgbClr val="C2352F"/>
          </a:solidFill>
          <a:ln/>
        </p:spPr>
      </p:sp>
      <p:sp>
        <p:nvSpPr>
          <p:cNvPr id="99" name="Text 97"/>
          <p:cNvSpPr txBox="1"/>
          <p:nvPr/>
        </p:nvSpPr>
        <p:spPr>
          <a:xfrm>
            <a:off x="10405872"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23.6%</a:t>
            </a:r>
            <a:endParaRPr lang="en-US" sz="1300" dirty="0"/>
          </a:p>
        </p:txBody>
      </p:sp>
      <p:sp>
        <p:nvSpPr>
          <p:cNvPr id="100" name="Text 98"/>
          <p:cNvSpPr txBox="1"/>
          <p:nvPr/>
        </p:nvSpPr>
        <p:spPr>
          <a:xfrm>
            <a:off x="6208776"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01" name="Shape 99"/>
          <p:cNvSpPr/>
          <p:nvPr/>
        </p:nvSpPr>
        <p:spPr>
          <a:xfrm>
            <a:off x="8522208" y="5007685"/>
            <a:ext cx="557976" cy="126940"/>
          </a:xfrm>
          <a:prstGeom prst="rect">
            <a:avLst/>
          </a:prstGeom>
          <a:solidFill>
            <a:srgbClr val="C2352F"/>
          </a:solidFill>
          <a:ln/>
        </p:spPr>
      </p:sp>
      <p:sp>
        <p:nvSpPr>
          <p:cNvPr id="102" name="Text 100"/>
          <p:cNvSpPr txBox="1"/>
          <p:nvPr/>
        </p:nvSpPr>
        <p:spPr>
          <a:xfrm>
            <a:off x="10405872"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17.9%</a:t>
            </a:r>
            <a:endParaRPr lang="en-US" sz="1300" dirty="0"/>
          </a:p>
        </p:txBody>
      </p:sp>
      <p:sp>
        <p:nvSpPr>
          <p:cNvPr id="103" name="Text 101"/>
          <p:cNvSpPr txBox="1"/>
          <p:nvPr/>
        </p:nvSpPr>
        <p:spPr>
          <a:xfrm>
            <a:off x="6208776"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04" name="Shape 102"/>
          <p:cNvSpPr/>
          <p:nvPr/>
        </p:nvSpPr>
        <p:spPr>
          <a:xfrm>
            <a:off x="8522208" y="5261565"/>
            <a:ext cx="492295" cy="126940"/>
          </a:xfrm>
          <a:prstGeom prst="rect">
            <a:avLst/>
          </a:prstGeom>
          <a:solidFill>
            <a:srgbClr val="C2352F"/>
          </a:solidFill>
          <a:ln/>
        </p:spPr>
      </p:sp>
      <p:sp>
        <p:nvSpPr>
          <p:cNvPr id="105" name="Text 103"/>
          <p:cNvSpPr txBox="1"/>
          <p:nvPr/>
        </p:nvSpPr>
        <p:spPr>
          <a:xfrm>
            <a:off x="10405872"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15.8%</a:t>
            </a:r>
            <a:endParaRPr lang="en-US" sz="1300" dirty="0"/>
          </a:p>
        </p:txBody>
      </p:sp>
      <p:sp>
        <p:nvSpPr>
          <p:cNvPr id="106" name="Text 104"/>
          <p:cNvSpPr txBox="1"/>
          <p:nvPr/>
        </p:nvSpPr>
        <p:spPr>
          <a:xfrm>
            <a:off x="6208776"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7" name="Shape 105"/>
          <p:cNvSpPr/>
          <p:nvPr/>
        </p:nvSpPr>
        <p:spPr>
          <a:xfrm>
            <a:off x="8522208" y="5515446"/>
            <a:ext cx="310481" cy="126940"/>
          </a:xfrm>
          <a:prstGeom prst="rect">
            <a:avLst/>
          </a:prstGeom>
          <a:solidFill>
            <a:srgbClr val="C2352F"/>
          </a:solidFill>
          <a:ln/>
        </p:spPr>
      </p:sp>
      <p:sp>
        <p:nvSpPr>
          <p:cNvPr id="108" name="Text 106"/>
          <p:cNvSpPr txBox="1"/>
          <p:nvPr/>
        </p:nvSpPr>
        <p:spPr>
          <a:xfrm>
            <a:off x="10405872"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10.0%</a:t>
            </a:r>
            <a:endParaRPr lang="en-US" sz="1300" dirty="0"/>
          </a:p>
        </p:txBody>
      </p:sp>
      <p:sp>
        <p:nvSpPr>
          <p:cNvPr id="109" name="Shape 107"/>
          <p:cNvSpPr/>
          <p:nvPr/>
        </p:nvSpPr>
        <p:spPr>
          <a:xfrm>
            <a:off x="4109367" y="1389888"/>
            <a:ext cx="14630" cy="4315968"/>
          </a:xfrm>
          <a:prstGeom prst="rect">
            <a:avLst/>
          </a:prstGeom>
          <a:solidFill>
            <a:srgbClr val="0B2C4A"/>
          </a:solidFill>
          <a:ln/>
        </p:spPr>
      </p:sp>
      <p:sp>
        <p:nvSpPr>
          <p:cNvPr id="110" name="Shape 108"/>
          <p:cNvSpPr/>
          <p:nvPr/>
        </p:nvSpPr>
        <p:spPr>
          <a:xfrm>
            <a:off x="9659775" y="1389888"/>
            <a:ext cx="14630" cy="4315968"/>
          </a:xfrm>
          <a:prstGeom prst="rect">
            <a:avLst/>
          </a:prstGeom>
          <a:solidFill>
            <a:srgbClr val="0B2C4A"/>
          </a:solidFill>
          <a:ln/>
        </p:spPr>
      </p:sp>
      <p:sp>
        <p:nvSpPr>
          <p:cNvPr id="111" name="Shape 109"/>
          <p:cNvSpPr/>
          <p:nvPr/>
        </p:nvSpPr>
        <p:spPr>
          <a:xfrm>
            <a:off x="457200" y="5961888"/>
            <a:ext cx="11274552" cy="548640"/>
          </a:xfrm>
          <a:prstGeom prst="rect">
            <a:avLst/>
          </a:prstGeom>
          <a:solidFill>
            <a:srgbClr val="EDF4FA"/>
          </a:solidFill>
          <a:ln/>
        </p:spPr>
      </p:sp>
      <p:sp>
        <p:nvSpPr>
          <p:cNvPr id="112" name="Text 11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15 of 33 stores at or above the 36.7% group, led by SUBARU ST GEORGE at 58.7%. HYUNDAI PRESCOTT is lowest at 10.0%.</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to Gross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−0.4 pts</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+14.2 pts</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5" name="Shape 13"/>
          <p:cNvSpPr/>
          <p:nvPr/>
        </p:nvSpPr>
        <p:spPr>
          <a:xfrm>
            <a:off x="3813048" y="2139459"/>
            <a:ext cx="754464"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+13.1 pts</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8" name="Shape 16"/>
          <p:cNvSpPr/>
          <p:nvPr/>
        </p:nvSpPr>
        <p:spPr>
          <a:xfrm>
            <a:off x="3813048" y="2369673"/>
            <a:ext cx="613386"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+10.6 pts</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21" name="Shape 19"/>
          <p:cNvSpPr/>
          <p:nvPr/>
        </p:nvSpPr>
        <p:spPr>
          <a:xfrm>
            <a:off x="3813048" y="2599887"/>
            <a:ext cx="436790"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 pts</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24" name="Shape 22"/>
          <p:cNvSpPr/>
          <p:nvPr/>
        </p:nvSpPr>
        <p:spPr>
          <a:xfrm>
            <a:off x="3813048" y="2830100"/>
            <a:ext cx="406943"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+7.0 pts</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7" name="Shape 25"/>
          <p:cNvSpPr/>
          <p:nvPr/>
        </p:nvSpPr>
        <p:spPr>
          <a:xfrm>
            <a:off x="3813048" y="3060314"/>
            <a:ext cx="365438"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+6.3 pts</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30" name="Shape 28"/>
          <p:cNvSpPr/>
          <p:nvPr/>
        </p:nvSpPr>
        <p:spPr>
          <a:xfrm>
            <a:off x="3813048" y="3290528"/>
            <a:ext cx="364504"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+6.3 pts</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33" name="Shape 31"/>
          <p:cNvSpPr/>
          <p:nvPr/>
        </p:nvSpPr>
        <p:spPr>
          <a:xfrm>
            <a:off x="3813048" y="3520741"/>
            <a:ext cx="345765"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+6.0 pts</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36" name="Shape 34"/>
          <p:cNvSpPr/>
          <p:nvPr/>
        </p:nvSpPr>
        <p:spPr>
          <a:xfrm>
            <a:off x="3813048" y="3750955"/>
            <a:ext cx="262830"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 pts</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39" name="Shape 37"/>
          <p:cNvSpPr/>
          <p:nvPr/>
        </p:nvSpPr>
        <p:spPr>
          <a:xfrm>
            <a:off x="3813048" y="3981169"/>
            <a:ext cx="187098"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+3.2 pts</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42" name="Shape 40"/>
          <p:cNvSpPr/>
          <p:nvPr/>
        </p:nvSpPr>
        <p:spPr>
          <a:xfrm>
            <a:off x="3813048" y="4211382"/>
            <a:ext cx="182955"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+3.2 pts</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5" name="Shape 43"/>
          <p:cNvSpPr/>
          <p:nvPr/>
        </p:nvSpPr>
        <p:spPr>
          <a:xfrm>
            <a:off x="3813048" y="4441596"/>
            <a:ext cx="127948"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 pts</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48" name="Shape 46"/>
          <p:cNvSpPr/>
          <p:nvPr/>
        </p:nvSpPr>
        <p:spPr>
          <a:xfrm>
            <a:off x="3813048" y="4671809"/>
            <a:ext cx="116121"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 pts</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51" name="Shape 49"/>
          <p:cNvSpPr/>
          <p:nvPr/>
        </p:nvSpPr>
        <p:spPr>
          <a:xfrm>
            <a:off x="3813048" y="4902023"/>
            <a:ext cx="85787"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 pts</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54" name="Shape 52"/>
          <p:cNvSpPr/>
          <p:nvPr/>
        </p:nvSpPr>
        <p:spPr>
          <a:xfrm>
            <a:off x="3813048" y="5132237"/>
            <a:ext cx="73673"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 pts</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57" name="Shape 55"/>
          <p:cNvSpPr/>
          <p:nvPr/>
        </p:nvSpPr>
        <p:spPr>
          <a:xfrm>
            <a:off x="3811134" y="5362450"/>
            <a:ext cx="12802" cy="105898"/>
          </a:xfrm>
          <a:prstGeom prst="rect">
            <a:avLst/>
          </a:prstGeom>
          <a:solidFill>
            <a:srgbClr val="C2352F"/>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 pts</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60" name="Shape 58"/>
          <p:cNvSpPr/>
          <p:nvPr/>
        </p:nvSpPr>
        <p:spPr>
          <a:xfrm>
            <a:off x="3810212" y="5592664"/>
            <a:ext cx="12802" cy="105898"/>
          </a:xfrm>
          <a:prstGeom prst="rect">
            <a:avLst/>
          </a:prstGeom>
          <a:solidFill>
            <a:srgbClr val="C2352F"/>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 pts</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63" name="Shape 61"/>
          <p:cNvSpPr/>
          <p:nvPr/>
        </p:nvSpPr>
        <p:spPr>
          <a:xfrm>
            <a:off x="9303826" y="1909246"/>
            <a:ext cx="59630" cy="105898"/>
          </a:xfrm>
          <a:prstGeom prst="rect">
            <a:avLst/>
          </a:prstGeom>
          <a:solidFill>
            <a:srgbClr val="C2352F"/>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 pts</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66" name="Shape 64"/>
          <p:cNvSpPr/>
          <p:nvPr/>
        </p:nvSpPr>
        <p:spPr>
          <a:xfrm>
            <a:off x="9284240" y="2139459"/>
            <a:ext cx="79216" cy="105898"/>
          </a:xfrm>
          <a:prstGeom prst="rect">
            <a:avLst/>
          </a:prstGeom>
          <a:solidFill>
            <a:srgbClr val="C2352F"/>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 pts</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69" name="Shape 67"/>
          <p:cNvSpPr/>
          <p:nvPr/>
        </p:nvSpPr>
        <p:spPr>
          <a:xfrm>
            <a:off x="9201245" y="2369673"/>
            <a:ext cx="162211" cy="105898"/>
          </a:xfrm>
          <a:prstGeom prst="rect">
            <a:avLst/>
          </a:prstGeom>
          <a:solidFill>
            <a:srgbClr val="C2352F"/>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−2.8 pts</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72" name="Shape 70"/>
          <p:cNvSpPr/>
          <p:nvPr/>
        </p:nvSpPr>
        <p:spPr>
          <a:xfrm>
            <a:off x="9167098" y="2599887"/>
            <a:ext cx="196358" cy="105898"/>
          </a:xfrm>
          <a:prstGeom prst="rect">
            <a:avLst/>
          </a:prstGeom>
          <a:solidFill>
            <a:srgbClr val="C2352F"/>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−3.4 pts</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75" name="Shape 73"/>
          <p:cNvSpPr/>
          <p:nvPr/>
        </p:nvSpPr>
        <p:spPr>
          <a:xfrm>
            <a:off x="9121965" y="2830100"/>
            <a:ext cx="241491" cy="105898"/>
          </a:xfrm>
          <a:prstGeom prst="rect">
            <a:avLst/>
          </a:prstGeom>
          <a:solidFill>
            <a:srgbClr val="C2352F"/>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−4.2 pts</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78" name="Shape 76"/>
          <p:cNvSpPr/>
          <p:nvPr/>
        </p:nvSpPr>
        <p:spPr>
          <a:xfrm>
            <a:off x="9120079" y="3060314"/>
            <a:ext cx="243377"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−4.2 pts</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81" name="Shape 79"/>
          <p:cNvSpPr/>
          <p:nvPr/>
        </p:nvSpPr>
        <p:spPr>
          <a:xfrm>
            <a:off x="9088637" y="3290528"/>
            <a:ext cx="274819"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−4.8 pts</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84" name="Shape 82"/>
          <p:cNvSpPr/>
          <p:nvPr/>
        </p:nvSpPr>
        <p:spPr>
          <a:xfrm>
            <a:off x="9047587" y="3520741"/>
            <a:ext cx="315869"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−5.5 pts</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87" name="Shape 85"/>
          <p:cNvSpPr/>
          <p:nvPr/>
        </p:nvSpPr>
        <p:spPr>
          <a:xfrm>
            <a:off x="9044914" y="3750955"/>
            <a:ext cx="318542"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−5.5 pts</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0" name="Shape 88"/>
          <p:cNvSpPr/>
          <p:nvPr/>
        </p:nvSpPr>
        <p:spPr>
          <a:xfrm>
            <a:off x="9027348" y="3981169"/>
            <a:ext cx="336108"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−5.8 pts</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93" name="Shape 91"/>
          <p:cNvSpPr/>
          <p:nvPr/>
        </p:nvSpPr>
        <p:spPr>
          <a:xfrm>
            <a:off x="8968811" y="4211382"/>
            <a:ext cx="394645"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 pts</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96" name="Shape 94"/>
          <p:cNvSpPr/>
          <p:nvPr/>
        </p:nvSpPr>
        <p:spPr>
          <a:xfrm>
            <a:off x="8882968" y="4441596"/>
            <a:ext cx="480488"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−8.3 pts</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99" name="Shape 97"/>
          <p:cNvSpPr/>
          <p:nvPr/>
        </p:nvSpPr>
        <p:spPr>
          <a:xfrm>
            <a:off x="8791354" y="4671809"/>
            <a:ext cx="572102"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−9.9 pts</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2" name="Shape 100"/>
          <p:cNvSpPr/>
          <p:nvPr/>
        </p:nvSpPr>
        <p:spPr>
          <a:xfrm>
            <a:off x="8717129" y="4902023"/>
            <a:ext cx="646327"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−11.2 pts</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05" name="Shape 103"/>
          <p:cNvSpPr/>
          <p:nvPr/>
        </p:nvSpPr>
        <p:spPr>
          <a:xfrm>
            <a:off x="8681163" y="5132237"/>
            <a:ext cx="682293"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−11.8 pts</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8" name="Shape 106"/>
          <p:cNvSpPr/>
          <p:nvPr/>
        </p:nvSpPr>
        <p:spPr>
          <a:xfrm>
            <a:off x="8639635" y="5362450"/>
            <a:ext cx="723821"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−12.5 pts</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FBEBEA"/>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15 of 33 stores raised parts net to gross, led by LINCOLN at +14.2 pts to 17.9%. 18 declined; HYUNDAI PRESCOTT fell most at −12.5 pts.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2026-10-15T23:05:12Z</dcterms:created>
  <dcterms:modified xsi:type="dcterms:W3CDTF">2026-10-15T23:05:12Z</dcterms:modified>
</cp:coreProperties>
</file>