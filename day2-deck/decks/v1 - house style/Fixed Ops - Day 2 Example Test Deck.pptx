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00.xml" ContentType="application/vnd.openxmlformats-officedocument.drawingml.chart+xml"/>
  <Override PartName="/ppt/charts/chart101.xml" ContentType="application/vnd.openxmlformats-officedocument.drawingml.chart+xml"/>
  <Override PartName="/ppt/charts/chart102.xml" ContentType="application/vnd.openxmlformats-officedocument.drawingml.chart+xml"/>
  <Override PartName="/ppt/charts/chart103.xml" ContentType="application/vnd.openxmlformats-officedocument.drawingml.chart+xml"/>
  <Override PartName="/ppt/charts/chart104.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charts/chart32.xml" ContentType="application/vnd.openxmlformats-officedocument.drawingml.chart+xml"/>
  <Override PartName="/ppt/charts/chart33.xml" ContentType="application/vnd.openxmlformats-officedocument.drawingml.chart+xml"/>
  <Override PartName="/ppt/charts/chart34.xml" ContentType="application/vnd.openxmlformats-officedocument.drawingml.chart+xml"/>
  <Override PartName="/ppt/charts/chart35.xml" ContentType="application/vnd.openxmlformats-officedocument.drawingml.chart+xml"/>
  <Override PartName="/ppt/charts/chart36.xml" ContentType="application/vnd.openxmlformats-officedocument.drawingml.chart+xml"/>
  <Override PartName="/ppt/charts/chart37.xml" ContentType="application/vnd.openxmlformats-officedocument.drawingml.chart+xml"/>
  <Override PartName="/ppt/charts/chart38.xml" ContentType="application/vnd.openxmlformats-officedocument.drawingml.chart+xml"/>
  <Override PartName="/ppt/charts/chart39.xml" ContentType="application/vnd.openxmlformats-officedocument.drawingml.chart+xml"/>
  <Override PartName="/ppt/charts/chart4.xml" ContentType="application/vnd.openxmlformats-officedocument.drawingml.chart+xml"/>
  <Override PartName="/ppt/charts/chart40.xml" ContentType="application/vnd.openxmlformats-officedocument.drawingml.chart+xml"/>
  <Override PartName="/ppt/charts/chart41.xml" ContentType="application/vnd.openxmlformats-officedocument.drawingml.chart+xml"/>
  <Override PartName="/ppt/charts/chart42.xml" ContentType="application/vnd.openxmlformats-officedocument.drawingml.chart+xml"/>
  <Override PartName="/ppt/charts/chart43.xml" ContentType="application/vnd.openxmlformats-officedocument.drawingml.chart+xml"/>
  <Override PartName="/ppt/charts/chart44.xml" ContentType="application/vnd.openxmlformats-officedocument.drawingml.chart+xml"/>
  <Override PartName="/ppt/charts/chart45.xml" ContentType="application/vnd.openxmlformats-officedocument.drawingml.chart+xml"/>
  <Override PartName="/ppt/charts/chart46.xml" ContentType="application/vnd.openxmlformats-officedocument.drawingml.chart+xml"/>
  <Override PartName="/ppt/charts/chart47.xml" ContentType="application/vnd.openxmlformats-officedocument.drawingml.chart+xml"/>
  <Override PartName="/ppt/charts/chart48.xml" ContentType="application/vnd.openxmlformats-officedocument.drawingml.chart+xml"/>
  <Override PartName="/ppt/charts/chart49.xml" ContentType="application/vnd.openxmlformats-officedocument.drawingml.chart+xml"/>
  <Override PartName="/ppt/charts/chart5.xml" ContentType="application/vnd.openxmlformats-officedocument.drawingml.chart+xml"/>
  <Override PartName="/ppt/charts/chart50.xml" ContentType="application/vnd.openxmlformats-officedocument.drawingml.chart+xml"/>
  <Override PartName="/ppt/charts/chart51.xml" ContentType="application/vnd.openxmlformats-officedocument.drawingml.chart+xml"/>
  <Override PartName="/ppt/charts/chart52.xml" ContentType="application/vnd.openxmlformats-officedocument.drawingml.chart+xml"/>
  <Override PartName="/ppt/charts/chart53.xml" ContentType="application/vnd.openxmlformats-officedocument.drawingml.chart+xml"/>
  <Override PartName="/ppt/charts/chart54.xml" ContentType="application/vnd.openxmlformats-officedocument.drawingml.chart+xml"/>
  <Override PartName="/ppt/charts/chart55.xml" ContentType="application/vnd.openxmlformats-officedocument.drawingml.chart+xml"/>
  <Override PartName="/ppt/charts/chart56.xml" ContentType="application/vnd.openxmlformats-officedocument.drawingml.chart+xml"/>
  <Override PartName="/ppt/charts/chart57.xml" ContentType="application/vnd.openxmlformats-officedocument.drawingml.chart+xml"/>
  <Override PartName="/ppt/charts/chart58.xml" ContentType="application/vnd.openxmlformats-officedocument.drawingml.chart+xml"/>
  <Override PartName="/ppt/charts/chart59.xml" ContentType="application/vnd.openxmlformats-officedocument.drawingml.chart+xml"/>
  <Override PartName="/ppt/charts/chart6.xml" ContentType="application/vnd.openxmlformats-officedocument.drawingml.chart+xml"/>
  <Override PartName="/ppt/charts/chart60.xml" ContentType="application/vnd.openxmlformats-officedocument.drawingml.chart+xml"/>
  <Override PartName="/ppt/charts/chart61.xml" ContentType="application/vnd.openxmlformats-officedocument.drawingml.chart+xml"/>
  <Override PartName="/ppt/charts/chart62.xml" ContentType="application/vnd.openxmlformats-officedocument.drawingml.chart+xml"/>
  <Override PartName="/ppt/charts/chart63.xml" ContentType="application/vnd.openxmlformats-officedocument.drawingml.chart+xml"/>
  <Override PartName="/ppt/charts/chart64.xml" ContentType="application/vnd.openxmlformats-officedocument.drawingml.chart+xml"/>
  <Override PartName="/ppt/charts/chart65.xml" ContentType="application/vnd.openxmlformats-officedocument.drawingml.chart+xml"/>
  <Override PartName="/ppt/charts/chart66.xml" ContentType="application/vnd.openxmlformats-officedocument.drawingml.chart+xml"/>
  <Override PartName="/ppt/charts/chart67.xml" ContentType="application/vnd.openxmlformats-officedocument.drawingml.chart+xml"/>
  <Override PartName="/ppt/charts/chart68.xml" ContentType="application/vnd.openxmlformats-officedocument.drawingml.chart+xml"/>
  <Override PartName="/ppt/charts/chart69.xml" ContentType="application/vnd.openxmlformats-officedocument.drawingml.chart+xml"/>
  <Override PartName="/ppt/charts/chart7.xml" ContentType="application/vnd.openxmlformats-officedocument.drawingml.chart+xml"/>
  <Override PartName="/ppt/charts/chart70.xml" ContentType="application/vnd.openxmlformats-officedocument.drawingml.chart+xml"/>
  <Override PartName="/ppt/charts/chart71.xml" ContentType="application/vnd.openxmlformats-officedocument.drawingml.chart+xml"/>
  <Override PartName="/ppt/charts/chart72.xml" ContentType="application/vnd.openxmlformats-officedocument.drawingml.chart+xml"/>
  <Override PartName="/ppt/charts/chart73.xml" ContentType="application/vnd.openxmlformats-officedocument.drawingml.chart+xml"/>
  <Override PartName="/ppt/charts/chart74.xml" ContentType="application/vnd.openxmlformats-officedocument.drawingml.chart+xml"/>
  <Override PartName="/ppt/charts/chart75.xml" ContentType="application/vnd.openxmlformats-officedocument.drawingml.chart+xml"/>
  <Override PartName="/ppt/charts/chart76.xml" ContentType="application/vnd.openxmlformats-officedocument.drawingml.chart+xml"/>
  <Override PartName="/ppt/charts/chart77.xml" ContentType="application/vnd.openxmlformats-officedocument.drawingml.chart+xml"/>
  <Override PartName="/ppt/charts/chart78.xml" ContentType="application/vnd.openxmlformats-officedocument.drawingml.chart+xml"/>
  <Override PartName="/ppt/charts/chart79.xml" ContentType="application/vnd.openxmlformats-officedocument.drawingml.chart+xml"/>
  <Override PartName="/ppt/charts/chart8.xml" ContentType="application/vnd.openxmlformats-officedocument.drawingml.chart+xml"/>
  <Override PartName="/ppt/charts/chart80.xml" ContentType="application/vnd.openxmlformats-officedocument.drawingml.chart+xml"/>
  <Override PartName="/ppt/charts/chart81.xml" ContentType="application/vnd.openxmlformats-officedocument.drawingml.chart+xml"/>
  <Override PartName="/ppt/charts/chart82.xml" ContentType="application/vnd.openxmlformats-officedocument.drawingml.chart+xml"/>
  <Override PartName="/ppt/charts/chart83.xml" ContentType="application/vnd.openxmlformats-officedocument.drawingml.chart+xml"/>
  <Override PartName="/ppt/charts/chart84.xml" ContentType="application/vnd.openxmlformats-officedocument.drawingml.chart+xml"/>
  <Override PartName="/ppt/charts/chart85.xml" ContentType="application/vnd.openxmlformats-officedocument.drawingml.chart+xml"/>
  <Override PartName="/ppt/charts/chart86.xml" ContentType="application/vnd.openxmlformats-officedocument.drawingml.chart+xml"/>
  <Override PartName="/ppt/charts/chart87.xml" ContentType="application/vnd.openxmlformats-officedocument.drawingml.chart+xml"/>
  <Override PartName="/ppt/charts/chart88.xml" ContentType="application/vnd.openxmlformats-officedocument.drawingml.chart+xml"/>
  <Override PartName="/ppt/charts/chart89.xml" ContentType="application/vnd.openxmlformats-officedocument.drawingml.chart+xml"/>
  <Override PartName="/ppt/charts/chart9.xml" ContentType="application/vnd.openxmlformats-officedocument.drawingml.chart+xml"/>
  <Override PartName="/ppt/charts/chart90.xml" ContentType="application/vnd.openxmlformats-officedocument.drawingml.chart+xml"/>
  <Override PartName="/ppt/charts/chart91.xml" ContentType="application/vnd.openxmlformats-officedocument.drawingml.chart+xml"/>
  <Override PartName="/ppt/charts/chart92.xml" ContentType="application/vnd.openxmlformats-officedocument.drawingml.chart+xml"/>
  <Override PartName="/ppt/charts/chart93.xml" ContentType="application/vnd.openxmlformats-officedocument.drawingml.chart+xml"/>
  <Override PartName="/ppt/charts/chart94.xml" ContentType="application/vnd.openxmlformats-officedocument.drawingml.chart+xml"/>
  <Override PartName="/ppt/charts/chart95.xml" ContentType="application/vnd.openxmlformats-officedocument.drawingml.chart+xml"/>
  <Override PartName="/ppt/charts/chart96.xml" ContentType="application/vnd.openxmlformats-officedocument.drawingml.chart+xml"/>
  <Override PartName="/ppt/charts/chart97.xml" ContentType="application/vnd.openxmlformats-officedocument.drawingml.chart+xml"/>
  <Override PartName="/ppt/charts/chart98.xml" ContentType="application/vnd.openxmlformats-officedocument.drawingml.chart+xml"/>
  <Override PartName="/ppt/charts/chart9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359" r:id="rId89"/>
    <p:sldId id="257" r:id="rId3"/>
    <p:sldId id="360" r:id="rId88"/>
    <p:sldId id="258" r:id="rId4"/>
    <p:sldId id="259" r:id="rId5"/>
    <p:sldId id="260" r:id="rId6"/>
    <p:sldId id="261" r:id="rId7"/>
    <p:sldId id="262" r:id="rId8"/>
    <p:sldId id="263" r:id="rId9"/>
    <p:sldId id="264" r:id="rId10"/>
    <p:sldId id="265" r:id="rId11"/>
    <p:sldId id="266" r:id="rId12"/>
    <p:sldId id="267" r:id="rId13"/>
    <p:sldId id="268" r:id="rId14"/>
    <p:sldId id="361" r:id="rId87"/>
    <p:sldId id="269" r:id="rId15"/>
    <p:sldId id="270" r:id="rId16"/>
    <p:sldId id="271" r:id="rId17"/>
    <p:sldId id="362" r:id="rId86"/>
    <p:sldId id="272" r:id="rId18"/>
    <p:sldId id="273" r:id="rId19"/>
    <p:sldId id="274" r:id="rId20"/>
    <p:sldId id="275" r:id="rId21"/>
    <p:sldId id="276" r:id="rId22"/>
    <p:sldId id="277" r:id="rId23"/>
    <p:sldId id="278" r:id="rId24"/>
    <p:sldId id="363" r:id="rId85"/>
    <p:sldId id="364" r:id="rId84"/>
    <p:sldId id="365" r:id="rId83"/>
    <p:sldId id="279" r:id="rId25"/>
    <p:sldId id="280" r:id="rId26"/>
    <p:sldId id="366" r:id="rId82"/>
    <p:sldId id="367" r:id="rId81"/>
    <p:sldId id="368" r:id="rId80"/>
    <p:sldId id="369" r:id="rId79"/>
    <p:sldId id="370" r:id="rId78"/>
    <p:sldId id="281" r:id="rId27"/>
    <p:sldId id="282" r:id="rId28"/>
    <p:sldId id="283" r:id="rId29"/>
    <p:sldId id="371" r:id="rId77"/>
    <p:sldId id="372" r:id="rId76"/>
    <p:sldId id="373" r:id="rId75"/>
    <p:sldId id="374" r:id="rId110"/>
    <p:sldId id="284" r:id="rId30"/>
    <p:sldId id="285" r:id="rId31"/>
    <p:sldId id="286" r:id="rId32"/>
    <p:sldId id="375" r:id="rId111"/>
    <p:sldId id="287" r:id="rId33"/>
    <p:sldId id="288" r:id="rId34"/>
    <p:sldId id="289" r:id="rId35"/>
    <p:sldId id="290" r:id="rId36"/>
    <p:sldId id="291" r:id="rId37"/>
    <p:sldId id="292" r:id="rId38"/>
    <p:sldId id="376" r:id="rId112"/>
    <p:sldId id="293" r:id="rId39"/>
    <p:sldId id="294" r:id="rId40"/>
    <p:sldId id="295" r:id="rId41"/>
    <p:sldId id="377" r:id="rId113"/>
    <p:sldId id="296" r:id="rId42"/>
    <p:sldId id="297" r:id="rId43"/>
    <p:sldId id="298" r:id="rId44"/>
    <p:sldId id="378" r:id="rId114"/>
    <p:sldId id="379" r:id="rId115"/>
    <p:sldId id="380" r:id="rId116"/>
    <p:sldId id="299" r:id="rId45"/>
    <p:sldId id="300" r:id="rId46"/>
    <p:sldId id="301" r:id="rId47"/>
    <p:sldId id="381" r:id="rId117"/>
    <p:sldId id="302" r:id="rId48"/>
    <p:sldId id="303" r:id="rId49"/>
    <p:sldId id="304" r:id="rId50"/>
    <p:sldId id="382" r:id="rId118"/>
    <p:sldId id="383" r:id="rId119"/>
    <p:sldId id="305" r:id="rId51"/>
    <p:sldId id="384" r:id="rId120"/>
    <p:sldId id="306" r:id="rId52"/>
    <p:sldId id="307" r:id="rId53"/>
    <p:sldId id="308" r:id="rId54"/>
    <p:sldId id="309" r:id="rId55"/>
    <p:sldId id="310" r:id="rId56"/>
    <p:sldId id="385" r:id="rId121"/>
    <p:sldId id="311" r:id="rId57"/>
    <p:sldId id="386" r:id="rId122"/>
    <p:sldId id="387" r:id="rId123"/>
    <p:sldId id="312" r:id="rId58"/>
    <p:sldId id="313" r:id="rId59"/>
    <p:sldId id="388" r:id="rId124"/>
    <p:sldId id="314" r:id="rId60"/>
    <p:sldId id="315" r:id="rId61"/>
    <p:sldId id="389" r:id="rId125"/>
    <p:sldId id="316" r:id="rId62"/>
    <p:sldId id="317" r:id="rId63"/>
    <p:sldId id="390" r:id="rId126"/>
    <p:sldId id="318" r:id="rId64"/>
    <p:sldId id="319" r:id="rId65"/>
    <p:sldId id="391" r:id="rId127"/>
    <p:sldId id="392" r:id="rId128"/>
    <p:sldId id="393" r:id="rId129"/>
    <p:sldId id="394" r:id="rId130"/>
    <p:sldId id="395" r:id="rId131"/>
    <p:sldId id="396" r:id="rId132"/>
    <p:sldId id="397" r:id="rId133"/>
    <p:sldId id="320" r:id="rId66"/>
    <p:sldId id="398" r:id="rId134"/>
    <p:sldId id="321" r:id="rId67"/>
    <p:sldId id="322" r:id="rId68"/>
    <p:sldId id="323" r:id="rId69"/>
    <p:sldId id="324" r:id="rId70"/>
    <p:sldId id="325" r:id="rId71"/>
    <p:sldId id="326" r:id="rId72"/>
    <p:sldId id="327" r:id="rId73"/>
    <p:sldId id="328" r:id="rId74"/>
    <p:sldId id="344" r:id="rId95"/>
    <p:sldId id="399" r:id="rId135"/>
    <p:sldId id="400" r:id="rId136"/>
    <p:sldId id="345" r:id="rId96"/>
    <p:sldId id="346" r:id="rId97"/>
    <p:sldId id="347" r:id="rId98"/>
    <p:sldId id="401" r:id="rId137"/>
    <p:sldId id="402" r:id="rId138"/>
    <p:sldId id="348" r:id="rId99"/>
    <p:sldId id="349" r:id="rId100"/>
    <p:sldId id="350" r:id="rId101"/>
    <p:sldId id="351" r:id="rId102"/>
    <p:sldId id="352" r:id="rId103"/>
    <p:sldId id="353" r:id="rId104"/>
    <p:sldId id="354" r:id="rId105"/>
    <p:sldId id="355" r:id="rId106"/>
    <p:sldId id="356" r:id="rId107"/>
    <p:sldId id="357" r:id="rId108"/>
    <p:sldId id="358" r:id="rId109"/>
    <p:sldId id="403" r:id="rId139"/>
    <p:sldId id="404" r:id="rId140"/>
    <p:sldId id="405" r:id="rId141"/>
    <p:sldId id="406" r:id="rId142"/>
    <p:sldId id="407" r:id="rId143"/>
    <p:sldId id="408" r:id="rId144"/>
    <p:sldId id="409" r:id="rId145"/>
    <p:sldId id="410" r:id="rId146"/>
    <p:sldId id="411" r:id="rId147"/>
    <p:sldId id="412" r:id="rId148"/>
    <p:sldId id="413" r:id="rId149"/>
    <p:sldId id="414" r:id="rId150"/>
    <p:sldId id="415" r:id="rId151"/>
    <p:sldId id="416" r:id="rId152"/>
    <p:sldId id="417" r:id="rId153"/>
    <p:sldId id="418" r:id="rId154"/>
    <p:sldId id="419" r:id="rId155"/>
    <p:sldId id="420" r:id="rId156"/>
    <p:sldId id="421" r:id="rId157"/>
    <p:sldId id="422" r:id="rId158"/>
    <p:sldId id="423" r:id="rId159"/>
    <p:sldId id="424" r:id="rId160"/>
    <p:sldId id="425" r:id="rId161"/>
    <p:sldId id="426" r:id="rId162"/>
    <p:sldId id="427" r:id="rId163"/>
    <p:sldId id="428" r:id="rId164"/>
    <p:sldId id="429" r:id="rId165"/>
  </p:sldIdLst>
  <p:notesMasterIdLst>
    <p:notesMasterId r:id="rId9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103.xml"/><Relationship Id="rId76" Type="http://schemas.openxmlformats.org/officeDocument/2006/relationships/slide" Target="slides/slide102.xml"/><Relationship Id="rId77" Type="http://schemas.openxmlformats.org/officeDocument/2006/relationships/slide" Target="slides/slide101.xml"/><Relationship Id="rId78" Type="http://schemas.openxmlformats.org/officeDocument/2006/relationships/slide" Target="slides/slide100.xml"/><Relationship Id="rId79" Type="http://schemas.openxmlformats.org/officeDocument/2006/relationships/slide" Target="slides/slide99.xml"/><Relationship Id="rId80" Type="http://schemas.openxmlformats.org/officeDocument/2006/relationships/slide" Target="slides/slide98.xml"/><Relationship Id="rId81" Type="http://schemas.openxmlformats.org/officeDocument/2006/relationships/slide" Target="slides/slide97.xml"/><Relationship Id="rId82" Type="http://schemas.openxmlformats.org/officeDocument/2006/relationships/slide" Target="slides/slide96.xml"/><Relationship Id="rId83" Type="http://schemas.openxmlformats.org/officeDocument/2006/relationships/slide" Target="slides/slide95.xml"/><Relationship Id="rId84" Type="http://schemas.openxmlformats.org/officeDocument/2006/relationships/slide" Target="slides/slide94.xml"/><Relationship Id="rId85" Type="http://schemas.openxmlformats.org/officeDocument/2006/relationships/slide" Target="slides/slide93.xml"/><Relationship Id="rId86" Type="http://schemas.openxmlformats.org/officeDocument/2006/relationships/slide" Target="slides/slide92.xml"/><Relationship Id="rId87" Type="http://schemas.openxmlformats.org/officeDocument/2006/relationships/slide" Target="slides/slide91.xml"/><Relationship Id="rId88" Type="http://schemas.openxmlformats.org/officeDocument/2006/relationships/slide" Target="slides/slide90.xml"/><Relationship Id="rId89" Type="http://schemas.openxmlformats.org/officeDocument/2006/relationships/slide" Target="slides/slide89.xml"/><Relationship Id="rId90" Type="http://schemas.openxmlformats.org/officeDocument/2006/relationships/notesMaster" Target="notesMasters/notesMaster1.xml"/><Relationship Id="rId91" Type="http://schemas.openxmlformats.org/officeDocument/2006/relationships/presProps" Target="presProps.xml"/><Relationship Id="rId92" Type="http://schemas.openxmlformats.org/officeDocument/2006/relationships/viewProps" Target="viewProps.xml"/><Relationship Id="rId93" Type="http://schemas.openxmlformats.org/officeDocument/2006/relationships/theme" Target="theme/theme1.xml"/><Relationship Id="rId94" Type="http://schemas.openxmlformats.org/officeDocument/2006/relationships/tableStyles" Target="tableStyles.xml"/><Relationship Id="rId95" Type="http://schemas.openxmlformats.org/officeDocument/2006/relationships/slide" Target="slides/slide74.xml"/><Relationship Id="rId96" Type="http://schemas.openxmlformats.org/officeDocument/2006/relationships/slide" Target="slides/slide75.xml"/><Relationship Id="rId97" Type="http://schemas.openxmlformats.org/officeDocument/2006/relationships/slide" Target="slides/slide76.xml"/><Relationship Id="rId98" Type="http://schemas.openxmlformats.org/officeDocument/2006/relationships/slide" Target="slides/slide77.xml"/><Relationship Id="rId99" Type="http://schemas.openxmlformats.org/officeDocument/2006/relationships/slide" Target="slides/slide78.xml"/><Relationship Id="rId100" Type="http://schemas.openxmlformats.org/officeDocument/2006/relationships/slide" Target="slides/slide79.xml"/><Relationship Id="rId101" Type="http://schemas.openxmlformats.org/officeDocument/2006/relationships/slide" Target="slides/slide80.xml"/><Relationship Id="rId102" Type="http://schemas.openxmlformats.org/officeDocument/2006/relationships/slide" Target="slides/slide81.xml"/><Relationship Id="rId103" Type="http://schemas.openxmlformats.org/officeDocument/2006/relationships/slide" Target="slides/slide82.xml"/><Relationship Id="rId104" Type="http://schemas.openxmlformats.org/officeDocument/2006/relationships/slide" Target="slides/slide83.xml"/><Relationship Id="rId105" Type="http://schemas.openxmlformats.org/officeDocument/2006/relationships/slide" Target="slides/slide84.xml"/><Relationship Id="rId106" Type="http://schemas.openxmlformats.org/officeDocument/2006/relationships/slide" Target="slides/slide85.xml"/><Relationship Id="rId107" Type="http://schemas.openxmlformats.org/officeDocument/2006/relationships/slide" Target="slides/slide86.xml"/><Relationship Id="rId108" Type="http://schemas.openxmlformats.org/officeDocument/2006/relationships/slide" Target="slides/slide87.xml"/><Relationship Id="rId109" Type="http://schemas.openxmlformats.org/officeDocument/2006/relationships/slide" Target="slides/slide88.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6.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7.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Worksheet18.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Worksheet19.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Worksheet20.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Worksheet21.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Worksheet22.xlsx"/></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Worksheet23.xlsx"/></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Worksheet24.xlsx"/></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Worksheet25.xlsx"/></Relationships>
</file>

<file path=ppt/charts/_rels/chart26.xml.rels><?xml version='1.0' encoding='UTF-8' standalone='yes'?>
<Relationships xmlns="http://schemas.openxmlformats.org/package/2006/relationships"><Relationship Id="rId1" Type="http://schemas.openxmlformats.org/officeDocument/2006/relationships/package" Target="../embeddings/Microsoft_Excel_Worksheet26.xlsx"/></Relationships>
</file>

<file path=ppt/charts/_rels/chart27.xml.rels><?xml version='1.0' encoding='UTF-8' standalone='yes'?>
<Relationships xmlns="http://schemas.openxmlformats.org/package/2006/relationships"><Relationship Id="rId1" Type="http://schemas.openxmlformats.org/officeDocument/2006/relationships/package" Target="../embeddings/Microsoft_Excel_Worksheet27.xlsx"/></Relationships>
</file>

<file path=ppt/charts/_rels/chart28.xml.rels><?xml version='1.0' encoding='UTF-8' standalone='yes'?>
<Relationships xmlns="http://schemas.openxmlformats.org/package/2006/relationships"><Relationship Id="rId1" Type="http://schemas.openxmlformats.org/officeDocument/2006/relationships/package" Target="../embeddings/Microsoft_Excel_Worksheet28.xlsx"/></Relationships>
</file>

<file path=ppt/charts/_rels/chart29.xml.rels><?xml version='1.0' encoding='UTF-8' standalone='yes'?>
<Relationships xmlns="http://schemas.openxmlformats.org/package/2006/relationships"><Relationship Id="rId1" Type="http://schemas.openxmlformats.org/officeDocument/2006/relationships/package" Target="../embeddings/Microsoft_Excel_Worksheet29.xlsx"/></Relationships>
</file>

<file path=ppt/charts/_rels/chart30.xml.rels><?xml version='1.0' encoding='UTF-8' standalone='yes'?>
<Relationships xmlns="http://schemas.openxmlformats.org/package/2006/relationships"><Relationship Id="rId1" Type="http://schemas.openxmlformats.org/officeDocument/2006/relationships/package" Target="../embeddings/Microsoft_Excel_Worksheet30.xlsx"/></Relationships>
</file>

<file path=ppt/charts/_rels/chart31.xml.rels><?xml version='1.0' encoding='UTF-8' standalone='yes'?>
<Relationships xmlns="http://schemas.openxmlformats.org/package/2006/relationships"><Relationship Id="rId1" Type="http://schemas.openxmlformats.org/officeDocument/2006/relationships/package" Target="../embeddings/Microsoft_Excel_Worksheet31.xlsx"/></Relationships>
</file>

<file path=ppt/charts/_rels/chart32.xml.rels><?xml version='1.0' encoding='UTF-8' standalone='yes'?>
<Relationships xmlns="http://schemas.openxmlformats.org/package/2006/relationships"><Relationship Id="rId1" Type="http://schemas.openxmlformats.org/officeDocument/2006/relationships/package" Target="../embeddings/Microsoft_Excel_Worksheet32.xlsx"/></Relationships>
</file>

<file path=ppt/charts/_rels/chart33.xml.rels><?xml version='1.0' encoding='UTF-8' standalone='yes'?>
<Relationships xmlns="http://schemas.openxmlformats.org/package/2006/relationships"><Relationship Id="rId1" Type="http://schemas.openxmlformats.org/officeDocument/2006/relationships/package" Target="../embeddings/Microsoft_Excel_Worksheet33.xlsx"/></Relationships>
</file>

<file path=ppt/charts/_rels/chart34.xml.rels><?xml version='1.0' encoding='UTF-8' standalone='yes'?>
<Relationships xmlns="http://schemas.openxmlformats.org/package/2006/relationships"><Relationship Id="rId1" Type="http://schemas.openxmlformats.org/officeDocument/2006/relationships/package" Target="../embeddings/Microsoft_Excel_Worksheet34.xlsx"/></Relationships>
</file>

<file path=ppt/charts/_rels/chart35.xml.rels><?xml version='1.0' encoding='UTF-8' standalone='yes'?>
<Relationships xmlns="http://schemas.openxmlformats.org/package/2006/relationships"><Relationship Id="rId1" Type="http://schemas.openxmlformats.org/officeDocument/2006/relationships/package" Target="../embeddings/Microsoft_Excel_Worksheet35.xlsx"/></Relationships>
</file>

<file path=ppt/charts/_rels/chart36.xml.rels><?xml version='1.0' encoding='UTF-8' standalone='yes'?>
<Relationships xmlns="http://schemas.openxmlformats.org/package/2006/relationships"><Relationship Id="rId1" Type="http://schemas.openxmlformats.org/officeDocument/2006/relationships/package" Target="../embeddings/Microsoft_Excel_Worksheet36.xlsx"/></Relationships>
</file>

<file path=ppt/charts/_rels/chart37.xml.rels><?xml version='1.0' encoding='UTF-8' standalone='yes'?>
<Relationships xmlns="http://schemas.openxmlformats.org/package/2006/relationships"><Relationship Id="rId1" Type="http://schemas.openxmlformats.org/officeDocument/2006/relationships/package" Target="../embeddings/Microsoft_Excel_Worksheet37.xlsx"/></Relationships>
</file>

<file path=ppt/charts/_rels/chart38.xml.rels><?xml version='1.0' encoding='UTF-8' standalone='yes'?>
<Relationships xmlns="http://schemas.openxmlformats.org/package/2006/relationships"><Relationship Id="rId1" Type="http://schemas.openxmlformats.org/officeDocument/2006/relationships/package" Target="../embeddings/Microsoft_Excel_Worksheet38.xlsx"/></Relationships>
</file>

<file path=ppt/charts/_rels/chart39.xml.rels><?xml version='1.0' encoding='UTF-8' standalone='yes'?>
<Relationships xmlns="http://schemas.openxmlformats.org/package/2006/relationships"><Relationship Id="rId1" Type="http://schemas.openxmlformats.org/officeDocument/2006/relationships/package" Target="../embeddings/Microsoft_Excel_Worksheet39.xlsx"/></Relationships>
</file>

<file path=ppt/charts/_rels/chart40.xml.rels><?xml version='1.0' encoding='UTF-8' standalone='yes'?>
<Relationships xmlns="http://schemas.openxmlformats.org/package/2006/relationships"><Relationship Id="rId1" Type="http://schemas.openxmlformats.org/officeDocument/2006/relationships/package" Target="../embeddings/Microsoft_Excel_Worksheet40.xlsx"/></Relationships>
</file>

<file path=ppt/charts/_rels/chart41.xml.rels><?xml version='1.0' encoding='UTF-8' standalone='yes'?>
<Relationships xmlns="http://schemas.openxmlformats.org/package/2006/relationships"><Relationship Id="rId1" Type="http://schemas.openxmlformats.org/officeDocument/2006/relationships/package" Target="../embeddings/Microsoft_Excel_Worksheet41.xlsx"/></Relationships>
</file>

<file path=ppt/charts/_rels/chart42.xml.rels><?xml version='1.0' encoding='UTF-8' standalone='yes'?>
<Relationships xmlns="http://schemas.openxmlformats.org/package/2006/relationships"><Relationship Id="rId1" Type="http://schemas.openxmlformats.org/officeDocument/2006/relationships/package" Target="../embeddings/Microsoft_Excel_Worksheet42.xlsx"/></Relationships>
</file>

<file path=ppt/charts/_rels/chart43.xml.rels><?xml version='1.0' encoding='UTF-8' standalone='yes'?>
<Relationships xmlns="http://schemas.openxmlformats.org/package/2006/relationships"><Relationship Id="rId1" Type="http://schemas.openxmlformats.org/officeDocument/2006/relationships/package" Target="../embeddings/Microsoft_Excel_Worksheet43.xlsx"/></Relationships>
</file>

<file path=ppt/charts/_rels/chart44.xml.rels><?xml version='1.0' encoding='UTF-8' standalone='yes'?>
<Relationships xmlns="http://schemas.openxmlformats.org/package/2006/relationships"><Relationship Id="rId1" Type="http://schemas.openxmlformats.org/officeDocument/2006/relationships/package" Target="../embeddings/Microsoft_Excel_Worksheet44.xlsx"/></Relationships>
</file>

<file path=ppt/charts/_rels/chart45.xml.rels><?xml version='1.0' encoding='UTF-8' standalone='yes'?>
<Relationships xmlns="http://schemas.openxmlformats.org/package/2006/relationships"><Relationship Id="rId1" Type="http://schemas.openxmlformats.org/officeDocument/2006/relationships/package" Target="../embeddings/Microsoft_Excel_Worksheet45.xlsx"/></Relationships>
</file>

<file path=ppt/charts/_rels/chart46.xml.rels><?xml version='1.0' encoding='UTF-8' standalone='yes'?>
<Relationships xmlns="http://schemas.openxmlformats.org/package/2006/relationships"><Relationship Id="rId1" Type="http://schemas.openxmlformats.org/officeDocument/2006/relationships/package" Target="../embeddings/Microsoft_Excel_Worksheet46.xlsx"/></Relationships>
</file>

<file path=ppt/charts/_rels/chart47.xml.rels><?xml version='1.0' encoding='UTF-8' standalone='yes'?>
<Relationships xmlns="http://schemas.openxmlformats.org/package/2006/relationships"><Relationship Id="rId1" Type="http://schemas.openxmlformats.org/officeDocument/2006/relationships/package" Target="../embeddings/Microsoft_Excel_Worksheet47.xlsx"/></Relationships>
</file>

<file path=ppt/charts/_rels/chart48.xml.rels><?xml version='1.0' encoding='UTF-8' standalone='yes'?>
<Relationships xmlns="http://schemas.openxmlformats.org/package/2006/relationships"><Relationship Id="rId1" Type="http://schemas.openxmlformats.org/officeDocument/2006/relationships/package" Target="../embeddings/Microsoft_Excel_Worksheet48.xlsx"/></Relationships>
</file>

<file path=ppt/charts/_rels/chart49.xml.rels><?xml version='1.0' encoding='UTF-8' standalone='yes'?>
<Relationships xmlns="http://schemas.openxmlformats.org/package/2006/relationships"><Relationship Id="rId1" Type="http://schemas.openxmlformats.org/officeDocument/2006/relationships/package" Target="../embeddings/Microsoft_Excel_Worksheet49.xlsx"/></Relationships>
</file>

<file path=ppt/charts/_rels/chart50.xml.rels><?xml version='1.0' encoding='UTF-8' standalone='yes'?>
<Relationships xmlns="http://schemas.openxmlformats.org/package/2006/relationships"><Relationship Id="rId1" Type="http://schemas.openxmlformats.org/officeDocument/2006/relationships/package" Target="../embeddings/Microsoft_Excel_Worksheet50.xlsx"/></Relationships>
</file>

<file path=ppt/charts/_rels/chart51.xml.rels><?xml version='1.0' encoding='UTF-8' standalone='yes'?>
<Relationships xmlns="http://schemas.openxmlformats.org/package/2006/relationships"><Relationship Id="rId1" Type="http://schemas.openxmlformats.org/officeDocument/2006/relationships/package" Target="../embeddings/Microsoft_Excel_Worksheet51.xlsx"/></Relationships>
</file>

<file path=ppt/charts/_rels/chart52.xml.rels><?xml version='1.0' encoding='UTF-8' standalone='yes'?>
<Relationships xmlns="http://schemas.openxmlformats.org/package/2006/relationships"><Relationship Id="rId1" Type="http://schemas.openxmlformats.org/officeDocument/2006/relationships/package" Target="../embeddings/Microsoft_Excel_Worksheet52.xlsx"/></Relationships>
</file>

<file path=ppt/charts/_rels/chart53.xml.rels><?xml version='1.0' encoding='UTF-8' standalone='yes'?>
<Relationships xmlns="http://schemas.openxmlformats.org/package/2006/relationships"><Relationship Id="rId1" Type="http://schemas.openxmlformats.org/officeDocument/2006/relationships/package" Target="../embeddings/Microsoft_Excel_Worksheet53.xlsx"/></Relationships>
</file>

<file path=ppt/charts/_rels/chart54.xml.rels><?xml version='1.0' encoding='UTF-8' standalone='yes'?>
<Relationships xmlns="http://schemas.openxmlformats.org/package/2006/relationships"><Relationship Id="rId1" Type="http://schemas.openxmlformats.org/officeDocument/2006/relationships/package" Target="../embeddings/Microsoft_Excel_Worksheet54.xlsx"/></Relationships>
</file>

<file path=ppt/charts/_rels/chart55.xml.rels><?xml version='1.0' encoding='UTF-8' standalone='yes'?>
<Relationships xmlns="http://schemas.openxmlformats.org/package/2006/relationships"><Relationship Id="rId1" Type="http://schemas.openxmlformats.org/officeDocument/2006/relationships/package" Target="../embeddings/Microsoft_Excel_Worksheet55.xlsx"/></Relationships>
</file>

<file path=ppt/charts/_rels/chart56.xml.rels><?xml version='1.0' encoding='UTF-8' standalone='yes'?>
<Relationships xmlns="http://schemas.openxmlformats.org/package/2006/relationships"><Relationship Id="rId1" Type="http://schemas.openxmlformats.org/officeDocument/2006/relationships/package" Target="../embeddings/Microsoft_Excel_Worksheet56.xlsx"/></Relationships>
</file>

<file path=ppt/charts/_rels/chart57.xml.rels><?xml version='1.0' encoding='UTF-8' standalone='yes'?>
<Relationships xmlns="http://schemas.openxmlformats.org/package/2006/relationships"><Relationship Id="rId1" Type="http://schemas.openxmlformats.org/officeDocument/2006/relationships/package" Target="../embeddings/Microsoft_Excel_Worksheet57.xlsx"/></Relationships>
</file>

<file path=ppt/charts/_rels/chart58.xml.rels><?xml version='1.0' encoding='UTF-8' standalone='yes'?>
<Relationships xmlns="http://schemas.openxmlformats.org/package/2006/relationships"><Relationship Id="rId1" Type="http://schemas.openxmlformats.org/officeDocument/2006/relationships/package" Target="../embeddings/Microsoft_Excel_Worksheet58.xlsx"/></Relationships>
</file>

<file path=ppt/charts/_rels/chart59.xml.rels><?xml version='1.0' encoding='UTF-8' standalone='yes'?>
<Relationships xmlns="http://schemas.openxmlformats.org/package/2006/relationships"><Relationship Id="rId1" Type="http://schemas.openxmlformats.org/officeDocument/2006/relationships/package" Target="../embeddings/Microsoft_Excel_Worksheet59.xlsx"/></Relationships>
</file>

<file path=ppt/charts/_rels/chart60.xml.rels><?xml version='1.0' encoding='UTF-8' standalone='yes'?>
<Relationships xmlns="http://schemas.openxmlformats.org/package/2006/relationships"><Relationship Id="rId1" Type="http://schemas.openxmlformats.org/officeDocument/2006/relationships/package" Target="../embeddings/Microsoft_Excel_Worksheet60.xlsx"/></Relationships>
</file>

<file path=ppt/charts/_rels/chart61.xml.rels><?xml version='1.0' encoding='UTF-8' standalone='yes'?>
<Relationships xmlns="http://schemas.openxmlformats.org/package/2006/relationships"><Relationship Id="rId1" Type="http://schemas.openxmlformats.org/officeDocument/2006/relationships/package" Target="../embeddings/Microsoft_Excel_Worksheet61.xlsx"/></Relationships>
</file>

<file path=ppt/charts/_rels/chart62.xml.rels><?xml version='1.0' encoding='UTF-8' standalone='yes'?>
<Relationships xmlns="http://schemas.openxmlformats.org/package/2006/relationships"><Relationship Id="rId1" Type="http://schemas.openxmlformats.org/officeDocument/2006/relationships/package" Target="../embeddings/Microsoft_Excel_Worksheet62.xlsx"/></Relationships>
</file>

<file path=ppt/charts/_rels/chart63.xml.rels><?xml version='1.0' encoding='UTF-8' standalone='yes'?>
<Relationships xmlns="http://schemas.openxmlformats.org/package/2006/relationships"><Relationship Id="rId1" Type="http://schemas.openxmlformats.org/officeDocument/2006/relationships/package" Target="../embeddings/Microsoft_Excel_Worksheet63.xlsx"/></Relationships>
</file>

<file path=ppt/charts/_rels/chart64.xml.rels><?xml version='1.0' encoding='UTF-8' standalone='yes'?>
<Relationships xmlns="http://schemas.openxmlformats.org/package/2006/relationships"><Relationship Id="rId1" Type="http://schemas.openxmlformats.org/officeDocument/2006/relationships/package" Target="../embeddings/Microsoft_Excel_Worksheet64.xlsx"/></Relationships>
</file>

<file path=ppt/charts/_rels/chart65.xml.rels><?xml version='1.0' encoding='UTF-8' standalone='yes'?>
<Relationships xmlns="http://schemas.openxmlformats.org/package/2006/relationships"><Relationship Id="rId1" Type="http://schemas.openxmlformats.org/officeDocument/2006/relationships/package" Target="../embeddings/Microsoft_Excel_Worksheet65.xlsx"/></Relationships>
</file>

<file path=ppt/charts/_rels/chart66.xml.rels><?xml version='1.0' encoding='UTF-8' standalone='yes'?>
<Relationships xmlns="http://schemas.openxmlformats.org/package/2006/relationships"><Relationship Id="rId1" Type="http://schemas.openxmlformats.org/officeDocument/2006/relationships/package" Target="../embeddings/Microsoft_Excel_Worksheet66.xlsx"/></Relationships>
</file>

<file path=ppt/charts/_rels/chart67.xml.rels><?xml version='1.0' encoding='UTF-8' standalone='yes'?>
<Relationships xmlns="http://schemas.openxmlformats.org/package/2006/relationships"><Relationship Id="rId1" Type="http://schemas.openxmlformats.org/officeDocument/2006/relationships/package" Target="../embeddings/Microsoft_Excel_Worksheet67.xlsx"/></Relationships>
</file>

<file path=ppt/charts/_rels/chart68.xml.rels><?xml version='1.0' encoding='UTF-8' standalone='yes'?>
<Relationships xmlns="http://schemas.openxmlformats.org/package/2006/relationships"><Relationship Id="rId1" Type="http://schemas.openxmlformats.org/officeDocument/2006/relationships/package" Target="../embeddings/Microsoft_Excel_Worksheet68.xlsx"/></Relationships>
</file>

<file path=ppt/charts/_rels/chart69.xml.rels><?xml version='1.0' encoding='UTF-8' standalone='yes'?>
<Relationships xmlns="http://schemas.openxmlformats.org/package/2006/relationships"><Relationship Id="rId1" Type="http://schemas.openxmlformats.org/officeDocument/2006/relationships/package" Target="../embeddings/Microsoft_Excel_Worksheet69.xlsx"/></Relationships>
</file>

<file path=ppt/charts/_rels/chart70.xml.rels><?xml version='1.0' encoding='UTF-8' standalone='yes'?>
<Relationships xmlns="http://schemas.openxmlformats.org/package/2006/relationships"><Relationship Id="rId1" Type="http://schemas.openxmlformats.org/officeDocument/2006/relationships/package" Target="../embeddings/Microsoft_Excel_Worksheet70.xlsx"/></Relationships>
</file>

<file path=ppt/charts/_rels/chart71.xml.rels><?xml version='1.0' encoding='UTF-8' standalone='yes'?>
<Relationships xmlns="http://schemas.openxmlformats.org/package/2006/relationships"><Relationship Id="rId1" Type="http://schemas.openxmlformats.org/officeDocument/2006/relationships/package" Target="../embeddings/Microsoft_Excel_Worksheet71.xlsx"/></Relationships>
</file>

<file path=ppt/charts/_rels/chart72.xml.rels><?xml version='1.0' encoding='UTF-8' standalone='yes'?>
<Relationships xmlns="http://schemas.openxmlformats.org/package/2006/relationships"><Relationship Id="rId1" Type="http://schemas.openxmlformats.org/officeDocument/2006/relationships/package" Target="../embeddings/Microsoft_Excel_Worksheet72.xlsx"/></Relationships>
</file>

<file path=ppt/charts/_rels/chart73.xml.rels><?xml version='1.0' encoding='UTF-8' standalone='yes'?>
<Relationships xmlns="http://schemas.openxmlformats.org/package/2006/relationships"><Relationship Id="rId1" Type="http://schemas.openxmlformats.org/officeDocument/2006/relationships/package" Target="../embeddings/Microsoft_Excel_Worksheet73.xlsx"/></Relationships>
</file>

<file path=ppt/charts/_rels/chart74.xml.rels><?xml version='1.0' encoding='UTF-8' standalone='yes'?>
<Relationships xmlns="http://schemas.openxmlformats.org/package/2006/relationships"><Relationship Id="rId1" Type="http://schemas.openxmlformats.org/officeDocument/2006/relationships/package" Target="../embeddings/Microsoft_Excel_Worksheet74.xlsx"/></Relationships>
</file>

<file path=ppt/charts/_rels/chart75.xml.rels><?xml version='1.0' encoding='UTF-8' standalone='yes'?>
<Relationships xmlns="http://schemas.openxmlformats.org/package/2006/relationships"><Relationship Id="rId1" Type="http://schemas.openxmlformats.org/officeDocument/2006/relationships/package" Target="../embeddings/Microsoft_Excel_Worksheet75.xlsx"/></Relationships>
</file>

<file path=ppt/charts/_rels/chart76.xml.rels><?xml version='1.0' encoding='UTF-8' standalone='yes'?>
<Relationships xmlns="http://schemas.openxmlformats.org/package/2006/relationships"><Relationship Id="rId1" Type="http://schemas.openxmlformats.org/officeDocument/2006/relationships/package" Target="../embeddings/Microsoft_Excel_Worksheet76.xlsx"/></Relationships>
</file>

<file path=ppt/charts/_rels/chart77.xml.rels><?xml version='1.0' encoding='UTF-8' standalone='yes'?>
<Relationships xmlns="http://schemas.openxmlformats.org/package/2006/relationships"><Relationship Id="rId1" Type="http://schemas.openxmlformats.org/officeDocument/2006/relationships/package" Target="../embeddings/Microsoft_Excel_Worksheet77.xlsx"/></Relationships>
</file>

<file path=ppt/charts/_rels/chart78.xml.rels><?xml version='1.0' encoding='UTF-8' standalone='yes'?>
<Relationships xmlns="http://schemas.openxmlformats.org/package/2006/relationships"><Relationship Id="rId1" Type="http://schemas.openxmlformats.org/officeDocument/2006/relationships/package" Target="../embeddings/Microsoft_Excel_Worksheet78.xlsx"/></Relationships>
</file>

<file path=ppt/charts/_rels/chart79.xml.rels><?xml version='1.0' encoding='UTF-8' standalone='yes'?>
<Relationships xmlns="http://schemas.openxmlformats.org/package/2006/relationships"><Relationship Id="rId1" Type="http://schemas.openxmlformats.org/officeDocument/2006/relationships/package" Target="../embeddings/Microsoft_Excel_Worksheet79.xlsx"/></Relationships>
</file>

<file path=ppt/charts/_rels/chart80.xml.rels><?xml version='1.0' encoding='UTF-8' standalone='yes'?>
<Relationships xmlns="http://schemas.openxmlformats.org/package/2006/relationships"><Relationship Id="rId1" Type="http://schemas.openxmlformats.org/officeDocument/2006/relationships/package" Target="../embeddings/Microsoft_Excel_Worksheet80.xlsx"/></Relationships>
</file>

<file path=ppt/charts/_rels/chart81.xml.rels><?xml version='1.0' encoding='UTF-8' standalone='yes'?>
<Relationships xmlns="http://schemas.openxmlformats.org/package/2006/relationships"><Relationship Id="rId1" Type="http://schemas.openxmlformats.org/officeDocument/2006/relationships/package" Target="../embeddings/Microsoft_Excel_Worksheet81.xlsx"/></Relationships>
</file>

<file path=ppt/charts/_rels/chart82.xml.rels><?xml version='1.0' encoding='UTF-8' standalone='yes'?>
<Relationships xmlns="http://schemas.openxmlformats.org/package/2006/relationships"><Relationship Id="rId1" Type="http://schemas.openxmlformats.org/officeDocument/2006/relationships/package" Target="../embeddings/Microsoft_Excel_Worksheet82.xlsx"/></Relationships>
</file>

<file path=ppt/charts/_rels/chart83.xml.rels><?xml version='1.0' encoding='UTF-8' standalone='yes'?>
<Relationships xmlns="http://schemas.openxmlformats.org/package/2006/relationships"><Relationship Id="rId1" Type="http://schemas.openxmlformats.org/officeDocument/2006/relationships/package" Target="../embeddings/Microsoft_Excel_Worksheet83.xlsx"/></Relationships>
</file>

<file path=ppt/charts/_rels/chart84.xml.rels><?xml version='1.0' encoding='UTF-8' standalone='yes'?>
<Relationships xmlns="http://schemas.openxmlformats.org/package/2006/relationships"><Relationship Id="rId1" Type="http://schemas.openxmlformats.org/officeDocument/2006/relationships/package" Target="../embeddings/Microsoft_Excel_Worksheet84.xlsx"/></Relationships>
</file>

<file path=ppt/charts/_rels/chart85.xml.rels><?xml version='1.0' encoding='UTF-8' standalone='yes'?>
<Relationships xmlns="http://schemas.openxmlformats.org/package/2006/relationships"><Relationship Id="rId1" Type="http://schemas.openxmlformats.org/officeDocument/2006/relationships/package" Target="../embeddings/Microsoft_Excel_Worksheet85.xlsx"/></Relationships>
</file>

<file path=ppt/charts/_rels/chart86.xml.rels><?xml version='1.0' encoding='UTF-8' standalone='yes'?>
<Relationships xmlns="http://schemas.openxmlformats.org/package/2006/relationships"><Relationship Id="rId1" Type="http://schemas.openxmlformats.org/officeDocument/2006/relationships/package" Target="../embeddings/Microsoft_Excel_Worksheet86.xlsx"/></Relationships>
</file>

<file path=ppt/charts/_rels/chart87.xml.rels><?xml version='1.0' encoding='UTF-8' standalone='yes'?>
<Relationships xmlns="http://schemas.openxmlformats.org/package/2006/relationships"><Relationship Id="rId1" Type="http://schemas.openxmlformats.org/officeDocument/2006/relationships/package" Target="../embeddings/Microsoft_Excel_Worksheet87.xlsx"/></Relationships>
</file>

<file path=ppt/charts/_rels/chart88.xml.rels><?xml version='1.0' encoding='UTF-8' standalone='yes'?>
<Relationships xmlns="http://schemas.openxmlformats.org/package/2006/relationships"><Relationship Id="rId1" Type="http://schemas.openxmlformats.org/officeDocument/2006/relationships/package" Target="../embeddings/Microsoft_Excel_Worksheet88.xlsx"/></Relationships>
</file>

<file path=ppt/charts/_rels/chart89.xml.rels><?xml version='1.0' encoding='UTF-8' standalone='yes'?>
<Relationships xmlns="http://schemas.openxmlformats.org/package/2006/relationships"><Relationship Id="rId1" Type="http://schemas.openxmlformats.org/officeDocument/2006/relationships/package" Target="../embeddings/Microsoft_Excel_Worksheet89.xlsx"/></Relationships>
</file>

<file path=ppt/charts/_rels/chart90.xml.rels><?xml version='1.0' encoding='UTF-8' standalone='yes'?>
<Relationships xmlns="http://schemas.openxmlformats.org/package/2006/relationships"><Relationship Id="rId1" Type="http://schemas.openxmlformats.org/officeDocument/2006/relationships/package" Target="../embeddings/Microsoft_Excel_Worksheet90.xlsx"/></Relationships>
</file>

<file path=ppt/charts/_rels/chart91.xml.rels><?xml version='1.0' encoding='UTF-8' standalone='yes'?>
<Relationships xmlns="http://schemas.openxmlformats.org/package/2006/relationships"><Relationship Id="rId1" Type="http://schemas.openxmlformats.org/officeDocument/2006/relationships/package" Target="../embeddings/Microsoft_Excel_Worksheet91.xlsx"/></Relationships>
</file>

<file path=ppt/charts/_rels/chart92.xml.rels><?xml version='1.0' encoding='UTF-8' standalone='yes'?>
<Relationships xmlns="http://schemas.openxmlformats.org/package/2006/relationships"><Relationship Id="rId1" Type="http://schemas.openxmlformats.org/officeDocument/2006/relationships/package" Target="../embeddings/Microsoft_Excel_Worksheet92.xlsx"/></Relationships>
</file>

<file path=ppt/charts/_rels/chart93.xml.rels><?xml version='1.0' encoding='UTF-8' standalone='yes'?>
<Relationships xmlns="http://schemas.openxmlformats.org/package/2006/relationships"><Relationship Id="rId1" Type="http://schemas.openxmlformats.org/officeDocument/2006/relationships/package" Target="../embeddings/Microsoft_Excel_Worksheet93.xlsx"/></Relationships>
</file>

<file path=ppt/charts/_rels/chart94.xml.rels><?xml version='1.0' encoding='UTF-8' standalone='yes'?>
<Relationships xmlns="http://schemas.openxmlformats.org/package/2006/relationships"><Relationship Id="rId1" Type="http://schemas.openxmlformats.org/officeDocument/2006/relationships/package" Target="../embeddings/Microsoft_Excel_Worksheet94.xlsx"/></Relationships>
</file>

<file path=ppt/charts/_rels/chart95.xml.rels><?xml version='1.0' encoding='UTF-8' standalone='yes'?>
<Relationships xmlns="http://schemas.openxmlformats.org/package/2006/relationships"><Relationship Id="rId1" Type="http://schemas.openxmlformats.org/officeDocument/2006/relationships/package" Target="../embeddings/Microsoft_Excel_Worksheet95.xlsx"/></Relationships>
</file>

<file path=ppt/charts/_rels/chart96.xml.rels><?xml version='1.0' encoding='UTF-8' standalone='yes'?>
<Relationships xmlns="http://schemas.openxmlformats.org/package/2006/relationships"><Relationship Id="rId1" Type="http://schemas.openxmlformats.org/officeDocument/2006/relationships/package" Target="../embeddings/Microsoft_Excel_Worksheet96.xlsx"/></Relationships>
</file>

<file path=ppt/charts/_rels/chart97.xml.rels><?xml version='1.0' encoding='UTF-8' standalone='yes'?>
<Relationships xmlns="http://schemas.openxmlformats.org/package/2006/relationships"><Relationship Id="rId1" Type="http://schemas.openxmlformats.org/officeDocument/2006/relationships/package" Target="../embeddings/Microsoft_Excel_Worksheet97.xlsx"/></Relationships>
</file>

<file path=ppt/charts/_rels/chart98.xml.rels><?xml version='1.0' encoding='UTF-8' standalone='yes'?>
<Relationships xmlns="http://schemas.openxmlformats.org/package/2006/relationships"><Relationship Id="rId1" Type="http://schemas.openxmlformats.org/officeDocument/2006/relationships/package" Target="../embeddings/Microsoft_Excel_Worksheet98.xlsx"/></Relationships>
</file>

<file path=ppt/charts/_rels/chart99.xml.rels><?xml version='1.0' encoding='UTF-8' standalone='yes'?>
<Relationships xmlns="http://schemas.openxmlformats.org/package/2006/relationships"><Relationship Id="rId1" Type="http://schemas.openxmlformats.org/officeDocument/2006/relationships/package" Target="../embeddings/Microsoft_Excel_Worksheet99.xlsx"/></Relationships>
</file>

<file path=ppt/charts/_rels/chart100.xml.rels><?xml version='1.0' encoding='UTF-8' standalone='yes'?>
<Relationships xmlns="http://schemas.openxmlformats.org/package/2006/relationships"><Relationship Id="rId1" Type="http://schemas.openxmlformats.org/officeDocument/2006/relationships/package" Target="../embeddings/Microsoft_Excel_Worksheet100.xlsx"/></Relationships>
</file>

<file path=ppt/charts/_rels/chart101.xml.rels><?xml version='1.0' encoding='UTF-8' standalone='yes'?>
<Relationships xmlns="http://schemas.openxmlformats.org/package/2006/relationships"><Relationship Id="rId1" Type="http://schemas.openxmlformats.org/officeDocument/2006/relationships/package" Target="../embeddings/Microsoft_Excel_Worksheet101.xlsx"/></Relationships>
</file>

<file path=ppt/charts/_rels/chart102.xml.rels><?xml version='1.0' encoding='UTF-8' standalone='yes'?>
<Relationships xmlns="http://schemas.openxmlformats.org/package/2006/relationships"><Relationship Id="rId1" Type="http://schemas.openxmlformats.org/officeDocument/2006/relationships/package" Target="../embeddings/Microsoft_Excel_Worksheet102.xlsx"/></Relationships>
</file>

<file path=ppt/charts/_rels/chart103.xml.rels><?xml version='1.0' encoding='UTF-8' standalone='yes'?>
<Relationships xmlns="http://schemas.openxmlformats.org/package/2006/relationships"><Relationship Id="rId1" Type="http://schemas.openxmlformats.org/officeDocument/2006/relationships/package" Target="../embeddings/Microsoft_Excel_Worksheet103.xlsx"/></Relationships>
</file>

<file path=ppt/charts/_rels/chart104.xml.rels><?xml version='1.0' encoding='UTF-8' standalone='yes'?>
<Relationships xmlns="http://schemas.openxmlformats.org/package/2006/relationships"><Relationship Id="rId1" Type="http://schemas.openxmlformats.org/officeDocument/2006/relationships/package" Target="../embeddings/Microsoft_Excel_Worksheet10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Group total, trailing 12 months ($M)</c:v>
                </c:pt>
              </c:strCache>
            </c:strRef>
          </c:tx>
          <c:spPr>
            <a:solidFill>
              <a:srgbClr val="2587C5"/>
            </a:solidFill>
            <a:ln w="38100" cap="flat">
              <a:solidFill>
                <a:srgbClr val="2587C5"/>
              </a:solidFill>
              <a:prstDash val="solid"/>
              <a:round/>
            </a:ln>
            <a:effectLst/>
          </c:spPr>
          <c:invertIfNegative val="0"/>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circle"/>
            <c:size val="8"/>
            <c:spPr>
              <a:solidFill>
                <a:srgbClr val="2587C5"/>
              </a:solidFill>
              <a:ln w="12700" cap="flat">
                <a:solidFill>
                  <a:srgbClr val="2587C5"/>
                </a:solidFill>
                <a:prstDash val="solid"/>
                <a:round/>
              </a:ln>
              <a:effectLst/>
            </c:spPr>
          </c:marker>
          <c:cat>
            <c:multiLvlStrRef>
              <c:f>Sheet1!$A$2:$A$13</c:f>
              <c:multiLvlStrCache>
                <c:ptCount val="12"/>
                <c:lvl>
                  <c:pt idx="0">
                    <c:v>Oct '25</c:v>
                  </c:pt>
                  <c:pt idx="1">
                    <c:v>Nov '25</c:v>
                  </c:pt>
                  <c:pt idx="2">
                    <c:v>Dec '25</c:v>
                  </c:pt>
                  <c:pt idx="3">
                    <c:v>Jan '26</c:v>
                  </c:pt>
                  <c:pt idx="4">
                    <c:v>Feb '26</c:v>
                  </c:pt>
                  <c:pt idx="5">
                    <c:v>Mar '26</c:v>
                  </c:pt>
                  <c:pt idx="6">
                    <c:v>Apr '26</c:v>
                  </c:pt>
                  <c:pt idx="7">
                    <c:v>May '26</c:v>
                  </c:pt>
                  <c:pt idx="8">
                    <c:v>Jun '26</c:v>
                  </c:pt>
                  <c:pt idx="9">
                    <c:v>Jul '26</c:v>
                  </c:pt>
                  <c:pt idx="10">
                    <c:v>Aug '26</c:v>
                  </c:pt>
                  <c:pt idx="11">
                    <c:v>Sep '26</c:v>
                  </c:pt>
                </c:lvl>
              </c:multiLvlStrCache>
            </c:multiLvlStrRef>
          </c:cat>
          <c:val>
            <c:numRef>
              <c:f>Sheet1!$B$2:$B$13</c:f>
              <c:numCache>
                <c:formatCode>General</c:formatCode>
                <c:ptCount val="12"/>
                <c:pt idx="0">
                  <c:v>21.27</c:v>
                </c:pt>
                <c:pt idx="1">
                  <c:v>17.74</c:v>
                </c:pt>
                <c:pt idx="2">
                  <c:v>19.32</c:v>
                </c:pt>
                <c:pt idx="3">
                  <c:v>19.88</c:v>
                </c:pt>
                <c:pt idx="4">
                  <c:v>18.87</c:v>
                </c:pt>
                <c:pt idx="5">
                  <c:v>21.12</c:v>
                </c:pt>
                <c:pt idx="6">
                  <c:v>21.8</c:v>
                </c:pt>
                <c:pt idx="7">
                  <c:v>20.12</c:v>
                </c:pt>
                <c:pt idx="8">
                  <c:v>21.52</c:v>
                </c:pt>
                <c:pt idx="9">
                  <c:v>22.71</c:v>
                </c:pt>
                <c:pt idx="10">
                  <c:v>21.64</c:v>
                </c:pt>
                <c:pt idx="11">
                  <c:v>21.13</c:v>
                </c:pt>
              </c:numCache>
            </c:numRef>
          </c:val>
          <c:smooth val="0"/>
        </c:ser>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1A"/>
                </a:solidFill>
                <a:latin typeface="+mn-lt"/>
              </a:defRPr>
            </a:pPr>
            <a:endParaRPr lang="en-US"/>
          </a:p>
        </c:txPr>
        <c:crossAx val="2094734552"/>
        <c:crosses val="autoZero"/>
        <c:auto val="1"/>
        <c:lblAlgn val="ctr"/>
        <c:noMultiLvlLbl val="1"/>
      </c:catAx>
      <c:valAx>
        <c:axId val="2094734552"/>
        <c:scaling>
          <c:orientation val="minMax"/>
          <c:max val="24.84"/>
          <c:min val="16.16"/>
        </c:scaling>
        <c:delete val="0"/>
        <c:axPos val="l"/>
        <c:majorGridlines>
          <c:spPr>
            <a:ln w="9525" cap="flat">
              <a:solidFill>
                <a:srgbClr val="D9D9D9"/>
              </a:solidFill>
              <a:prstDash val="solid"/>
              <a:round/>
            </a:ln>
          </c:spPr>
        </c:majorGridlines>
        <c:numFmt formatCode="$0&quot;M&quot;" sourceLinked="0"/>
        <c:majorTickMark val="out"/>
        <c:minorTickMark val="none"/>
        <c:tickLblPos val="nextTo"/>
        <c:spPr>
          <a:ln w="12700" cap="flat">
            <a:noFill/>
            <a:prstDash val="solid"/>
            <a:round/>
          </a:ln>
        </c:spPr>
        <c:txPr>
          <a:bodyPr/>
          <a:lstStyle/>
          <a:p>
            <a:pPr>
              <a:defRPr sz="1400" b="0" i="0" u="none" strike="noStrike">
                <a:solidFill>
                  <a:srgbClr val="595959"/>
                </a:solidFill>
                <a:latin typeface="+mn-lt"/>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Group total, trailing 12 months ($M)</c:v>
                </c:pt>
              </c:strCache>
            </c:strRef>
          </c:tx>
          <c:spPr>
            <a:solidFill>
              <a:srgbClr val="2587C5"/>
            </a:solidFill>
            <a:ln w="38100" cap="flat">
              <a:solidFill>
                <a:srgbClr val="2587C5"/>
              </a:solidFill>
              <a:prstDash val="solid"/>
              <a:round/>
            </a:ln>
            <a:effectLst/>
          </c:spPr>
          <c:invertIfNegative val="0"/>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circle"/>
            <c:size val="8"/>
            <c:spPr>
              <a:solidFill>
                <a:srgbClr val="2587C5"/>
              </a:solidFill>
              <a:ln w="12700" cap="flat">
                <a:solidFill>
                  <a:srgbClr val="2587C5"/>
                </a:solidFill>
                <a:prstDash val="solid"/>
                <a:round/>
              </a:ln>
              <a:effectLst/>
            </c:spPr>
          </c:marker>
          <c:cat>
            <c:multiLvlStrRef>
              <c:f>Sheet1!$A$2:$A$13</c:f>
              <c:multiLvlStrCache>
                <c:ptCount val="12"/>
                <c:lvl>
                  <c:pt idx="0">
                    <c:v>Oct '25</c:v>
                  </c:pt>
                  <c:pt idx="1">
                    <c:v>Nov '25</c:v>
                  </c:pt>
                  <c:pt idx="2">
                    <c:v>Dec '25</c:v>
                  </c:pt>
                  <c:pt idx="3">
                    <c:v>Jan '26</c:v>
                  </c:pt>
                  <c:pt idx="4">
                    <c:v>Feb '26</c:v>
                  </c:pt>
                  <c:pt idx="5">
                    <c:v>Mar '26</c:v>
                  </c:pt>
                  <c:pt idx="6">
                    <c:v>Apr '26</c:v>
                  </c:pt>
                  <c:pt idx="7">
                    <c:v>May '26</c:v>
                  </c:pt>
                  <c:pt idx="8">
                    <c:v>Jun '26</c:v>
                  </c:pt>
                  <c:pt idx="9">
                    <c:v>Jul '26</c:v>
                  </c:pt>
                  <c:pt idx="10">
                    <c:v>Aug '26</c:v>
                  </c:pt>
                  <c:pt idx="11">
                    <c:v>Sep '26</c:v>
                  </c:pt>
                </c:lvl>
              </c:multiLvlStrCache>
            </c:multiLvlStrRef>
          </c:cat>
          <c:val>
            <c:numRef>
              <c:f>Sheet1!$B$2:$B$13</c:f>
              <c:numCache>
                <c:formatCode>General</c:formatCode>
                <c:ptCount val="12"/>
                <c:pt idx="0">
                  <c:v>13.74</c:v>
                </c:pt>
                <c:pt idx="1">
                  <c:v>11.84</c:v>
                </c:pt>
                <c:pt idx="2">
                  <c:v>12.92</c:v>
                </c:pt>
                <c:pt idx="3">
                  <c:v>13.47</c:v>
                </c:pt>
                <c:pt idx="4">
                  <c:v>12.79</c:v>
                </c:pt>
                <c:pt idx="5">
                  <c:v>14.35</c:v>
                </c:pt>
                <c:pt idx="6">
                  <c:v>14.65</c:v>
                </c:pt>
                <c:pt idx="7">
                  <c:v>13.71</c:v>
                </c:pt>
                <c:pt idx="8">
                  <c:v>14.45</c:v>
                </c:pt>
                <c:pt idx="9">
                  <c:v>15.06</c:v>
                </c:pt>
                <c:pt idx="10">
                  <c:v>14.43</c:v>
                </c:pt>
                <c:pt idx="11">
                  <c:v>13.96</c:v>
                </c:pt>
              </c:numCache>
            </c:numRef>
          </c:val>
          <c:smooth val="0"/>
        </c:ser>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1A"/>
                </a:solidFill>
                <a:latin typeface="+mn-lt"/>
              </a:defRPr>
            </a:pPr>
            <a:endParaRPr lang="en-US"/>
          </a:p>
        </c:txPr>
        <c:crossAx val="2094734552"/>
        <c:crosses val="autoZero"/>
        <c:auto val="1"/>
        <c:lblAlgn val="ctr"/>
        <c:noMultiLvlLbl val="1"/>
      </c:catAx>
      <c:valAx>
        <c:axId val="2094734552"/>
        <c:scaling>
          <c:orientation val="minMax"/>
          <c:max val="16.6"/>
          <c:min val="10.4"/>
        </c:scaling>
        <c:delete val="0"/>
        <c:axPos val="l"/>
        <c:majorGridlines>
          <c:spPr>
            <a:ln w="9525" cap="flat">
              <a:solidFill>
                <a:srgbClr val="D9D9D9"/>
              </a:solidFill>
              <a:prstDash val="solid"/>
              <a:round/>
            </a:ln>
          </c:spPr>
        </c:majorGridlines>
        <c:numFmt formatCode="$0&quot;M&quot;" sourceLinked="0"/>
        <c:majorTickMark val="out"/>
        <c:minorTickMark val="none"/>
        <c:tickLblPos val="nextTo"/>
        <c:spPr>
          <a:ln w="12700" cap="flat">
            <a:noFill/>
            <a:prstDash val="solid"/>
            <a:round/>
          </a:ln>
        </c:spPr>
        <c:txPr>
          <a:bodyPr/>
          <a:lstStyle/>
          <a:p>
            <a:pPr>
              <a:defRPr sz="1400" b="0" i="0" u="none" strike="noStrike">
                <a:solidFill>
                  <a:srgbClr val="595959"/>
                </a:solidFill>
                <a:latin typeface="+mn-lt"/>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Group total, trailing 12 months ($M)</c:v>
                </c:pt>
              </c:strCache>
            </c:strRef>
          </c:tx>
          <c:spPr>
            <a:solidFill>
              <a:srgbClr val="2587C5"/>
            </a:solidFill>
            <a:ln w="38100" cap="flat">
              <a:solidFill>
                <a:srgbClr val="2587C5"/>
              </a:solidFill>
              <a:prstDash val="solid"/>
              <a:round/>
            </a:ln>
            <a:effectLst/>
          </c:spPr>
          <c:invertIfNegative val="0"/>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circle"/>
            <c:size val="8"/>
            <c:spPr>
              <a:solidFill>
                <a:srgbClr val="2587C5"/>
              </a:solidFill>
              <a:ln w="12700" cap="flat">
                <a:solidFill>
                  <a:srgbClr val="2587C5"/>
                </a:solidFill>
                <a:prstDash val="solid"/>
                <a:round/>
              </a:ln>
              <a:effectLst/>
            </c:spPr>
          </c:marker>
          <c:cat>
            <c:multiLvlStrRef>
              <c:f>Sheet1!$A$2:$A$13</c:f>
              <c:multiLvlStrCache>
                <c:ptCount val="12"/>
                <c:lvl>
                  <c:pt idx="0">
                    <c:v>Oct '25</c:v>
                  </c:pt>
                  <c:pt idx="1">
                    <c:v>Nov '25</c:v>
                  </c:pt>
                  <c:pt idx="2">
                    <c:v>Dec '25</c:v>
                  </c:pt>
                  <c:pt idx="3">
                    <c:v>Jan '26</c:v>
                  </c:pt>
                  <c:pt idx="4">
                    <c:v>Feb '26</c:v>
                  </c:pt>
                  <c:pt idx="5">
                    <c:v>Mar '26</c:v>
                  </c:pt>
                  <c:pt idx="6">
                    <c:v>Apr '26</c:v>
                  </c:pt>
                  <c:pt idx="7">
                    <c:v>May '26</c:v>
                  </c:pt>
                  <c:pt idx="8">
                    <c:v>Jun '26</c:v>
                  </c:pt>
                  <c:pt idx="9">
                    <c:v>Jul '26</c:v>
                  </c:pt>
                  <c:pt idx="10">
                    <c:v>Aug '26</c:v>
                  </c:pt>
                  <c:pt idx="11">
                    <c:v>Sep '26</c:v>
                  </c:pt>
                </c:lvl>
              </c:multiLvlStrCache>
            </c:multiLvlStrRef>
          </c:cat>
          <c:val>
            <c:numRef>
              <c:f>Sheet1!$B$2:$B$13</c:f>
              <c:numCache>
                <c:formatCode>General</c:formatCode>
                <c:ptCount val="12"/>
                <c:pt idx="0">
                  <c:v>7.53</c:v>
                </c:pt>
                <c:pt idx="1">
                  <c:v>5.91</c:v>
                </c:pt>
                <c:pt idx="2">
                  <c:v>6.4</c:v>
                </c:pt>
                <c:pt idx="3">
                  <c:v>6.41</c:v>
                </c:pt>
                <c:pt idx="4">
                  <c:v>6.08</c:v>
                </c:pt>
                <c:pt idx="5">
                  <c:v>6.77</c:v>
                </c:pt>
                <c:pt idx="6">
                  <c:v>7.14</c:v>
                </c:pt>
                <c:pt idx="7">
                  <c:v>6.41</c:v>
                </c:pt>
                <c:pt idx="8">
                  <c:v>7.07</c:v>
                </c:pt>
                <c:pt idx="9">
                  <c:v>7.66</c:v>
                </c:pt>
                <c:pt idx="10">
                  <c:v>7.21</c:v>
                </c:pt>
                <c:pt idx="11">
                  <c:v>7.18</c:v>
                </c:pt>
              </c:numCache>
            </c:numRef>
          </c:val>
          <c:smooth val="0"/>
        </c:ser>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1A"/>
                </a:solidFill>
                <a:latin typeface="+mn-lt"/>
              </a:defRPr>
            </a:pPr>
            <a:endParaRPr lang="en-US"/>
          </a:p>
        </c:txPr>
        <c:crossAx val="2094734552"/>
        <c:crosses val="autoZero"/>
        <c:auto val="1"/>
        <c:lblAlgn val="ctr"/>
        <c:noMultiLvlLbl val="1"/>
      </c:catAx>
      <c:valAx>
        <c:axId val="2094734552"/>
        <c:scaling>
          <c:orientation val="minMax"/>
          <c:max val="9.48"/>
          <c:min val="4.52"/>
        </c:scaling>
        <c:delete val="0"/>
        <c:axPos val="l"/>
        <c:majorGridlines>
          <c:spPr>
            <a:ln w="9525" cap="flat">
              <a:solidFill>
                <a:srgbClr val="D9D9D9"/>
              </a:solidFill>
              <a:prstDash val="solid"/>
              <a:round/>
            </a:ln>
          </c:spPr>
        </c:majorGridlines>
        <c:numFmt formatCode="$0&quot;M&quot;" sourceLinked="0"/>
        <c:majorTickMark val="out"/>
        <c:minorTickMark val="none"/>
        <c:tickLblPos val="nextTo"/>
        <c:spPr>
          <a:ln w="12700" cap="flat">
            <a:noFill/>
            <a:prstDash val="solid"/>
            <a:round/>
          </a:ln>
        </c:spPr>
        <c:txPr>
          <a:bodyPr/>
          <a:lstStyle/>
          <a:p>
            <a:pPr>
              <a:defRPr sz="1400" b="0" i="0" u="none" strike="noStrike">
                <a:solidFill>
                  <a:srgbClr val="595959"/>
                </a:solidFill>
                <a:latin typeface="+mn-lt"/>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LEXUS</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395</c:v>
                </c:pt>
                <c:pt idx="1">
                  <c:v>390</c:v>
                </c:pt>
                <c:pt idx="2">
                  <c:v>491</c:v>
                </c:pt>
                <c:pt idx="3">
                  <c:v>543</c:v>
                </c:pt>
                <c:pt idx="4">
                  <c:v>485</c:v>
                </c:pt>
                <c:pt idx="5">
                  <c:v>553</c:v>
                </c:pt>
                <c:pt idx="6">
                  <c:v>564</c:v>
                </c:pt>
                <c:pt idx="7">
                  <c:v>577</c:v>
                </c:pt>
                <c:pt idx="8">
                  <c:v>569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605.05"/>
          <c:min val="361.9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Fixed employees, trailing 12 months</c:v>
                </c:pt>
              </c:strCache>
            </c:strRef>
          </c:tx>
          <c:spPr>
            <a:solidFill>
              <a:srgbClr val="2587C5"/>
            </a:solidFill>
            <a:ln w="38100" cap="flat">
              <a:solidFill>
                <a:srgbClr val="2587C5"/>
              </a:solidFill>
              <a:prstDash val="solid"/>
              <a:round/>
            </a:ln>
            <a:effectLst/>
          </c:spPr>
          <c:invertIfNegative val="0"/>
          <c:dLbls>
            <c:numFmt formatCode="#,##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circle"/>
            <c:size val="8"/>
            <c:spPr>
              <a:solidFill>
                <a:srgbClr val="2587C5"/>
              </a:solidFill>
              <a:ln w="12700" cap="flat">
                <a:solidFill>
                  <a:srgbClr val="2587C5"/>
                </a:solidFill>
                <a:prstDash val="solid"/>
                <a:round/>
              </a:ln>
              <a:effectLst/>
            </c:spPr>
          </c:marker>
          <c:cat>
            <c:multiLvlStrRef>
              <c:f>Sheet1!$A$2:$A$13</c:f>
              <c:multiLvlStrCache>
                <c:ptCount val="12"/>
                <c:lvl>
                  <c:pt idx="0">
                    <c:v>Oct '25</c:v>
                  </c:pt>
                  <c:pt idx="1">
                    <c:v>Nov '25</c:v>
                  </c:pt>
                  <c:pt idx="2">
                    <c:v>Dec '25</c:v>
                  </c:pt>
                  <c:pt idx="3">
                    <c:v>Jan '26</c:v>
                  </c:pt>
                  <c:pt idx="4">
                    <c:v>Feb '26</c:v>
                  </c:pt>
                  <c:pt idx="5">
                    <c:v>Mar '26</c:v>
                  </c:pt>
                  <c:pt idx="6">
                    <c:v>Apr '26</c:v>
                  </c:pt>
                  <c:pt idx="7">
                    <c:v>May '26</c:v>
                  </c:pt>
                  <c:pt idx="8">
                    <c:v>Jun '26</c:v>
                  </c:pt>
                  <c:pt idx="9">
                    <c:v>Jul '26</c:v>
                  </c:pt>
                  <c:pt idx="10">
                    <c:v>Aug '26</c:v>
                  </c:pt>
                  <c:pt idx="11">
                    <c:v>Sep '26</c:v>
                  </c:pt>
                </c:lvl>
              </c:multiLvlStrCache>
            </c:multiLvlStrRef>
          </c:cat>
          <c:val>
            <c:numRef>
              <c:f>Sheet1!$B$2:$B$13</c:f>
              <c:numCache>
                <c:formatCode>General</c:formatCode>
                <c:ptCount val="12"/>
                <c:pt idx="0">
                  <c:v>1604</c:v>
                </c:pt>
                <c:pt idx="1">
                  <c:v>1582</c:v>
                </c:pt>
                <c:pt idx="2">
                  <c:v>1563</c:v>
                </c:pt>
                <c:pt idx="3">
                  <c:v>1530</c:v>
                </c:pt>
                <c:pt idx="4">
                  <c:v>1530</c:v>
                </c:pt>
                <c:pt idx="5">
                  <c:v>1540</c:v>
                </c:pt>
                <c:pt idx="6">
                  <c:v>1545</c:v>
                </c:pt>
                <c:pt idx="7">
                  <c:v>1537</c:v>
                </c:pt>
                <c:pt idx="8">
                  <c:v>1546</c:v>
                </c:pt>
                <c:pt idx="9">
                  <c:v>1548</c:v>
                </c:pt>
                <c:pt idx="10">
                  <c:v>1549</c:v>
                </c:pt>
                <c:pt idx="11">
                  <c:v>1540</c:v>
                </c:pt>
              </c:numCache>
            </c:numRef>
          </c:val>
          <c:smooth val="0"/>
        </c:ser>
        <c:dLbls>
          <c:numFmt formatCode="#,##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1A"/>
                </a:solidFill>
                <a:latin typeface="+mn-lt"/>
              </a:defRPr>
            </a:pPr>
            <a:endParaRPr lang="en-US"/>
          </a:p>
        </c:txPr>
        <c:crossAx val="2094734552"/>
        <c:crosses val="autoZero"/>
        <c:auto val="1"/>
        <c:lblAlgn val="ctr"/>
        <c:noMultiLvlLbl val="1"/>
      </c:catAx>
      <c:valAx>
        <c:axId val="2094734552"/>
        <c:scaling>
          <c:orientation val="minMax"/>
          <c:max val="1620"/>
          <c:min val="1520"/>
        </c:scaling>
        <c:delete val="0"/>
        <c:axPos val="l"/>
        <c:majorGridlines>
          <c:spPr>
            <a:ln w="9525" cap="flat">
              <a:solidFill>
                <a:srgbClr val="D9D9D9"/>
              </a:solidFill>
              <a:prstDash val="solid"/>
              <a:round/>
            </a:ln>
          </c:spPr>
        </c:majorGridlines>
        <c:numFmt formatCode="#,##0" sourceLinked="0"/>
        <c:majorTickMark val="out"/>
        <c:minorTickMark val="none"/>
        <c:tickLblPos val="nextTo"/>
        <c:spPr>
          <a:ln w="12700" cap="flat">
            <a:noFill/>
            <a:prstDash val="solid"/>
            <a:round/>
          </a:ln>
        </c:spPr>
        <c:txPr>
          <a:bodyPr/>
          <a:lstStyle/>
          <a:p>
            <a:pPr>
              <a:defRPr sz="1400" b="0" i="0" u="none" strike="noStrike">
                <a:solidFill>
                  <a:srgbClr val="595959"/>
                </a:solidFill>
                <a:latin typeface="+mn-lt"/>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CDJR POST FALLS</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567</c:v>
                </c:pt>
                <c:pt idx="1">
                  <c:v>513</c:v>
                </c:pt>
                <c:pt idx="2">
                  <c:v>550</c:v>
                </c:pt>
                <c:pt idx="3">
                  <c:v>539</c:v>
                </c:pt>
                <c:pt idx="4">
                  <c:v>538</c:v>
                </c:pt>
                <c:pt idx="5">
                  <c:v>649</c:v>
                </c:pt>
                <c:pt idx="6">
                  <c:v>716</c:v>
                </c:pt>
                <c:pt idx="7">
                  <c:v>663</c:v>
                </c:pt>
                <c:pt idx="8">
                  <c:v>623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746.45"/>
          <c:min val="482.5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LR LV</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352</c:v>
                </c:pt>
                <c:pt idx="1">
                  <c:v>362</c:v>
                </c:pt>
                <c:pt idx="2">
                  <c:v>336</c:v>
                </c:pt>
                <c:pt idx="3">
                  <c:v>402</c:v>
                </c:pt>
                <c:pt idx="4">
                  <c:v>356</c:v>
                </c:pt>
                <c:pt idx="5">
                  <c:v>442</c:v>
                </c:pt>
                <c:pt idx="6">
                  <c:v>449</c:v>
                </c:pt>
                <c:pt idx="7">
                  <c:v>396</c:v>
                </c:pt>
                <c:pt idx="8">
                  <c:v>401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65.95"/>
          <c:min val="319.0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MAZDA</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578</c:v>
                </c:pt>
                <c:pt idx="1">
                  <c:v>519</c:v>
                </c:pt>
                <c:pt idx="2">
                  <c:v>637</c:v>
                </c:pt>
                <c:pt idx="3">
                  <c:v>642</c:v>
                </c:pt>
                <c:pt idx="4">
                  <c:v>663</c:v>
                </c:pt>
                <c:pt idx="5">
                  <c:v>654</c:v>
                </c:pt>
                <c:pt idx="6">
                  <c:v>674</c:v>
                </c:pt>
                <c:pt idx="7">
                  <c:v>677</c:v>
                </c:pt>
                <c:pt idx="8">
                  <c:v>657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700.7"/>
          <c:min val="495.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HONDA FLAGSTAFF</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364</c:v>
                </c:pt>
                <c:pt idx="1">
                  <c:v>375</c:v>
                </c:pt>
                <c:pt idx="2">
                  <c:v>452</c:v>
                </c:pt>
                <c:pt idx="3">
                  <c:v>507</c:v>
                </c:pt>
                <c:pt idx="4">
                  <c:v>463</c:v>
                </c:pt>
                <c:pt idx="5">
                  <c:v>493</c:v>
                </c:pt>
                <c:pt idx="6">
                  <c:v>493</c:v>
                </c:pt>
                <c:pt idx="7">
                  <c:v>458</c:v>
                </c:pt>
                <c:pt idx="8">
                  <c:v>425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528.45"/>
          <c:min val="342.5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VW HENDERSON</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549</c:v>
                </c:pt>
                <c:pt idx="1">
                  <c:v>531</c:v>
                </c:pt>
                <c:pt idx="2">
                  <c:v>556</c:v>
                </c:pt>
                <c:pt idx="3">
                  <c:v>544</c:v>
                </c:pt>
                <c:pt idx="4">
                  <c:v>516</c:v>
                </c:pt>
                <c:pt idx="5">
                  <c:v>599</c:v>
                </c:pt>
                <c:pt idx="6">
                  <c:v>622</c:v>
                </c:pt>
                <c:pt idx="7">
                  <c:v>587</c:v>
                </c:pt>
                <c:pt idx="8">
                  <c:v>641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659.75"/>
          <c:min val="497.2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HONDA NORTH</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1576</c:v>
                </c:pt>
                <c:pt idx="1">
                  <c:v>1477</c:v>
                </c:pt>
                <c:pt idx="2">
                  <c:v>1631</c:v>
                </c:pt>
                <c:pt idx="3">
                  <c:v>1610</c:v>
                </c:pt>
                <c:pt idx="4">
                  <c:v>1739</c:v>
                </c:pt>
                <c:pt idx="5">
                  <c:v>1738</c:v>
                </c:pt>
                <c:pt idx="6">
                  <c:v>1723</c:v>
                </c:pt>
                <c:pt idx="7">
                  <c:v>1875</c:v>
                </c:pt>
                <c:pt idx="8">
                  <c:v>1679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934.7"/>
          <c:min val="1417.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GMC PRESCOTT</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311</c:v>
                </c:pt>
                <c:pt idx="1">
                  <c:v>327</c:v>
                </c:pt>
                <c:pt idx="2">
                  <c:v>353</c:v>
                </c:pt>
                <c:pt idx="3">
                  <c:v>344</c:v>
                </c:pt>
                <c:pt idx="4">
                  <c:v>308</c:v>
                </c:pt>
                <c:pt idx="5">
                  <c:v>355</c:v>
                </c:pt>
                <c:pt idx="6">
                  <c:v>370</c:v>
                </c:pt>
                <c:pt idx="7">
                  <c:v>382</c:v>
                </c:pt>
                <c:pt idx="8">
                  <c:v>357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93.1"/>
          <c:min val="296.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TOYOTA SPOKANE</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1764</c:v>
                </c:pt>
                <c:pt idx="1">
                  <c:v>1687</c:v>
                </c:pt>
                <c:pt idx="2">
                  <c:v>1914</c:v>
                </c:pt>
                <c:pt idx="3">
                  <c:v>2057</c:v>
                </c:pt>
                <c:pt idx="4">
                  <c:v>1923</c:v>
                </c:pt>
                <c:pt idx="5">
                  <c:v>2056</c:v>
                </c:pt>
                <c:pt idx="6">
                  <c:v>2095</c:v>
                </c:pt>
                <c:pt idx="7">
                  <c:v>1882</c:v>
                </c:pt>
                <c:pt idx="8">
                  <c:v>1998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156.2"/>
          <c:min val="1625.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SUBARU ST GEORGE</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615</c:v>
                </c:pt>
                <c:pt idx="1">
                  <c:v>524</c:v>
                </c:pt>
                <c:pt idx="2">
                  <c:v>607</c:v>
                </c:pt>
                <c:pt idx="3">
                  <c:v>608</c:v>
                </c:pt>
                <c:pt idx="4">
                  <c:v>639</c:v>
                </c:pt>
                <c:pt idx="5">
                  <c:v>637</c:v>
                </c:pt>
                <c:pt idx="6">
                  <c:v>632</c:v>
                </c:pt>
                <c:pt idx="7">
                  <c:v>632</c:v>
                </c:pt>
                <c:pt idx="8">
                  <c:v>659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679.25"/>
          <c:min val="503.7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MAZDA</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1.1961937716262976</c:v>
                </c:pt>
                <c:pt idx="1">
                  <c:v>1.3</c:v>
                </c:pt>
                <c:pt idx="2">
                  <c:v>1.524175824175824</c:v>
                </c:pt>
                <c:pt idx="3">
                  <c:v>1.4054517133956386</c:v>
                </c:pt>
                <c:pt idx="4">
                  <c:v>1.4104072398190046</c:v>
                </c:pt>
                <c:pt idx="5">
                  <c:v>1.25</c:v>
                </c:pt>
                <c:pt idx="6">
                  <c:v>1.3206231454005934</c:v>
                </c:pt>
                <c:pt idx="7">
                  <c:v>1.7601181683899556</c:v>
                </c:pt>
                <c:pt idx="8">
                  <c:v>1.8642313546423135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9644369920947158"/>
          <c:min val="1.095988134173895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HYUNDAI PRESCOTT</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1.4608490566037735</c:v>
                </c:pt>
                <c:pt idx="1">
                  <c:v>1.4711340206185566</c:v>
                </c:pt>
                <c:pt idx="2">
                  <c:v>1.7298642533936652</c:v>
                </c:pt>
                <c:pt idx="3">
                  <c:v>1.7783898305084744</c:v>
                </c:pt>
                <c:pt idx="4">
                  <c:v>1.441391304347826</c:v>
                </c:pt>
                <c:pt idx="5">
                  <c:v>1.5297619047619047</c:v>
                </c:pt>
                <c:pt idx="6">
                  <c:v>1.819439655172414</c:v>
                </c:pt>
                <c:pt idx="7">
                  <c:v>1.7451485148514851</c:v>
                </c:pt>
                <c:pt idx="8">
                  <c:v>1.725108225108225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8761469077961022"/>
          <c:min val="1.384684051724137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HYUNDAI ST GEORGE</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1.2968932038834953</c:v>
                </c:pt>
                <c:pt idx="1">
                  <c:v>1.3835549132947977</c:v>
                </c:pt>
                <c:pt idx="2">
                  <c:v>1.4527419354838709</c:v>
                </c:pt>
                <c:pt idx="3">
                  <c:v>1.3560913705583755</c:v>
                </c:pt>
                <c:pt idx="4">
                  <c:v>1.272883435582822</c:v>
                </c:pt>
                <c:pt idx="5">
                  <c:v>1.4657920792079207</c:v>
                </c:pt>
                <c:pt idx="6">
                  <c:v>1.5742705570291777</c:v>
                </c:pt>
                <c:pt idx="7">
                  <c:v>1.6565988372093023</c:v>
                </c:pt>
                <c:pt idx="8">
                  <c:v>1.4058823529411764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7141561474532745"/>
          <c:min val="1.215326125338849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KIA ST GEORGE</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1.208095238095238</c:v>
                </c:pt>
                <c:pt idx="1">
                  <c:v>1.2542997542997543</c:v>
                </c:pt>
                <c:pt idx="2">
                  <c:v>1.23446261682243</c:v>
                </c:pt>
                <c:pt idx="3">
                  <c:v>1.2625570776255708</c:v>
                </c:pt>
                <c:pt idx="4">
                  <c:v>1.2171394799054374</c:v>
                </c:pt>
                <c:pt idx="5">
                  <c:v>1.2735507246376812</c:v>
                </c:pt>
                <c:pt idx="6">
                  <c:v>1.3877800407331975</c:v>
                </c:pt>
                <c:pt idx="7">
                  <c:v>1.4995475113122172</c:v>
                </c:pt>
                <c:pt idx="8">
                  <c:v>1.2453229398663697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5432653522947641"/>
          <c:min val="1.164377397112691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CHEVY GMC BULLHEAD</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1.575798319327731</c:v>
                </c:pt>
                <c:pt idx="1">
                  <c:v>1.6981651376146787</c:v>
                </c:pt>
                <c:pt idx="2">
                  <c:v>1.6719839142091153</c:v>
                </c:pt>
                <c:pt idx="3">
                  <c:v>1.9406276150627615</c:v>
                </c:pt>
                <c:pt idx="4">
                  <c:v>1.7418429003021147</c:v>
                </c:pt>
                <c:pt idx="5">
                  <c:v>1.6785185185185185</c:v>
                </c:pt>
                <c:pt idx="6">
                  <c:v>1.8784676354029062</c:v>
                </c:pt>
                <c:pt idx="7">
                  <c:v>1.8579465541490858</c:v>
                </c:pt>
                <c:pt idx="8">
                  <c:v>1.6184249628528975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9953520094230162"/>
          <c:min val="1.521073924967476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TOYOTA PRESCOTT</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1.188239247311828</c:v>
                </c:pt>
                <c:pt idx="1">
                  <c:v>1.275762195121951</c:v>
                </c:pt>
                <c:pt idx="2">
                  <c:v>1.4099208965062624</c:v>
                </c:pt>
                <c:pt idx="3">
                  <c:v>1.4275265957446808</c:v>
                </c:pt>
                <c:pt idx="4">
                  <c:v>1.4609295570079883</c:v>
                </c:pt>
                <c:pt idx="5">
                  <c:v>1.4721141374837874</c:v>
                </c:pt>
                <c:pt idx="6">
                  <c:v>1.4142063001852996</c:v>
                </c:pt>
                <c:pt idx="7">
                  <c:v>1.4298619824341279</c:v>
                </c:pt>
                <c:pt idx="8">
                  <c:v>1.3524723487312946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5146953710095814"/>
          <c:min val="1.14565801378603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ACURA</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1.385793450881612</c:v>
                </c:pt>
                <c:pt idx="1">
                  <c:v>1.3389645776566756</c:v>
                </c:pt>
                <c:pt idx="2">
                  <c:v>1.2803874092009684</c:v>
                </c:pt>
                <c:pt idx="3">
                  <c:v>1.333613231552163</c:v>
                </c:pt>
                <c:pt idx="4">
                  <c:v>1.67296568627451</c:v>
                </c:pt>
                <c:pt idx="5">
                  <c:v>1.5423764705882352</c:v>
                </c:pt>
                <c:pt idx="6">
                  <c:v>1.4005580357142857</c:v>
                </c:pt>
                <c:pt idx="7">
                  <c:v>1.3604513064133017</c:v>
                </c:pt>
                <c:pt idx="8">
                  <c:v>1.4541353383458648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7318524278355412"/>
          <c:min val="1.221500667639937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CDJR POST FALLS</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2.221710758377425</c:v>
                </c:pt>
                <c:pt idx="1">
                  <c:v>2.0838986354775826</c:v>
                </c:pt>
                <c:pt idx="2">
                  <c:v>2.2707272727272727</c:v>
                </c:pt>
                <c:pt idx="3">
                  <c:v>2.2252504638218924</c:v>
                </c:pt>
                <c:pt idx="4">
                  <c:v>2.1553717472118956</c:v>
                </c:pt>
                <c:pt idx="5">
                  <c:v>1.9233127889060093</c:v>
                </c:pt>
                <c:pt idx="6">
                  <c:v>2.230418994413408</c:v>
                </c:pt>
                <c:pt idx="7">
                  <c:v>2.2426998491704375</c:v>
                </c:pt>
                <c:pt idx="8">
                  <c:v>2.44900481540931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527858619384805"/>
          <c:min val="1.844458984930514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AUDI RENO</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2.604809843400447</c:v>
                </c:pt>
                <c:pt idx="1">
                  <c:v>2.3054666666666663</c:v>
                </c:pt>
                <c:pt idx="2">
                  <c:v>2.8330453563714904</c:v>
                </c:pt>
                <c:pt idx="3">
                  <c:v>2.798717948717949</c:v>
                </c:pt>
                <c:pt idx="4">
                  <c:v>2.574561403508772</c:v>
                </c:pt>
                <c:pt idx="5">
                  <c:v>3.172391304347826</c:v>
                </c:pt>
                <c:pt idx="6">
                  <c:v>2.7021809744779586</c:v>
                </c:pt>
                <c:pt idx="7">
                  <c:v>2.878063063063063</c:v>
                </c:pt>
                <c:pt idx="8">
                  <c:v>2.5885922330097086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3024299999999998"/>
          <c:min val="2.175427971014492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LR RENO</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3.5072</c:v>
                </c:pt>
                <c:pt idx="1">
                  <c:v>2.8326470588235293</c:v>
                </c:pt>
                <c:pt idx="2">
                  <c:v>3.3393630573248405</c:v>
                </c:pt>
                <c:pt idx="3">
                  <c:v>3.9942944785276078</c:v>
                </c:pt>
                <c:pt idx="4">
                  <c:v>4.023714285714286</c:v>
                </c:pt>
                <c:pt idx="5">
                  <c:v>3.3935403726708073</c:v>
                </c:pt>
                <c:pt idx="6">
                  <c:v>3.0639884393063586</c:v>
                </c:pt>
                <c:pt idx="7">
                  <c:v>3.7738297872340425</c:v>
                </c:pt>
                <c:pt idx="8">
                  <c:v>3.325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2023743697479"/>
          <c:min val="2.653986974789915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VW ST GEORGE</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133.50852736170845</c:v>
                </c:pt>
                <c:pt idx="1">
                  <c:v>124.52905604719764</c:v>
                </c:pt>
                <c:pt idx="2">
                  <c:v>125.66441779876723</c:v>
                </c:pt>
                <c:pt idx="3">
                  <c:v>131.4519062005467</c:v>
                </c:pt>
                <c:pt idx="4">
                  <c:v>132.6886803693774</c:v>
                </c:pt>
                <c:pt idx="5">
                  <c:v>140.1975303339418</c:v>
                </c:pt>
                <c:pt idx="6">
                  <c:v>142.53003268369446</c:v>
                </c:pt>
                <c:pt idx="7">
                  <c:v>141.47412587412586</c:v>
                </c:pt>
                <c:pt idx="8">
                  <c:v>141.50217039196633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45.23017917916897"/>
          <c:min val="121.8289095517231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AUDI RENO</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226.99655601837938</c:v>
                </c:pt>
                <c:pt idx="1">
                  <c:v>230.6832340523972</c:v>
                </c:pt>
                <c:pt idx="2">
                  <c:v>225.44062666768312</c:v>
                </c:pt>
                <c:pt idx="3">
                  <c:v>220.3694915254237</c:v>
                </c:pt>
                <c:pt idx="4">
                  <c:v>229.04754684838161</c:v>
                </c:pt>
                <c:pt idx="5">
                  <c:v>247.9044473377647</c:v>
                </c:pt>
                <c:pt idx="6">
                  <c:v>243.19138102761363</c:v>
                </c:pt>
                <c:pt idx="7">
                  <c:v>243.7889909692768</c:v>
                </c:pt>
                <c:pt idx="8">
                  <c:v>245.53794655414907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52.03469070961586"/>
          <c:min val="216.2392481535725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HONDA SPOKANE</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135.50618900582526</c:v>
                </c:pt>
                <c:pt idx="1">
                  <c:v>139.43354100521177</c:v>
                </c:pt>
                <c:pt idx="2">
                  <c:v>143.04070476965322</c:v>
                </c:pt>
                <c:pt idx="3">
                  <c:v>144.27756894597658</c:v>
                </c:pt>
                <c:pt idx="4">
                  <c:v>143.9452209905324</c:v>
                </c:pt>
                <c:pt idx="5">
                  <c:v>143.4172847205565</c:v>
                </c:pt>
                <c:pt idx="6">
                  <c:v>148.4194108316338</c:v>
                </c:pt>
                <c:pt idx="7">
                  <c:v>146.32433479457643</c:v>
                </c:pt>
                <c:pt idx="8">
                  <c:v>148.9747782648588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50.99506665371382"/>
          <c:min val="133.4859006169702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KIA LV</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146.10917942519472</c:v>
                </c:pt>
                <c:pt idx="1">
                  <c:v>139.31016738481938</c:v>
                </c:pt>
                <c:pt idx="2">
                  <c:v>141.53525925925928</c:v>
                </c:pt>
                <c:pt idx="3">
                  <c:v>149.0938108315364</c:v>
                </c:pt>
                <c:pt idx="4">
                  <c:v>157.86236726813692</c:v>
                </c:pt>
                <c:pt idx="5">
                  <c:v>155.1640949727532</c:v>
                </c:pt>
                <c:pt idx="6">
                  <c:v>145.80333762018492</c:v>
                </c:pt>
                <c:pt idx="7">
                  <c:v>147.881053660003</c:v>
                </c:pt>
                <c:pt idx="8">
                  <c:v>159.61675912057146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62.66274788093426"/>
          <c:min val="136.2641786244565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KIA ST GEORGE</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141.29899487583762</c:v>
                </c:pt>
                <c:pt idx="1">
                  <c:v>141.12609206660136</c:v>
                </c:pt>
                <c:pt idx="2">
                  <c:v>134.98959023374655</c:v>
                </c:pt>
                <c:pt idx="3">
                  <c:v>134.82066907775769</c:v>
                </c:pt>
                <c:pt idx="4">
                  <c:v>134.81227542002526</c:v>
                </c:pt>
                <c:pt idx="5">
                  <c:v>141.9157515410147</c:v>
                </c:pt>
                <c:pt idx="6">
                  <c:v>145.1528764308776</c:v>
                </c:pt>
                <c:pt idx="7">
                  <c:v>145.4075890162945</c:v>
                </c:pt>
                <c:pt idx="8">
                  <c:v>147.8839667352231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49.84472043250278"/>
          <c:min val="132.851521722745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NISSAN</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170.91694630872482</c:v>
                </c:pt>
                <c:pt idx="1">
                  <c:v>174.94393030380394</c:v>
                </c:pt>
                <c:pt idx="2">
                  <c:v>171.33260055096417</c:v>
                </c:pt>
                <c:pt idx="3">
                  <c:v>169.3619524405507</c:v>
                </c:pt>
                <c:pt idx="4">
                  <c:v>178.97402165816766</c:v>
                </c:pt>
                <c:pt idx="5">
                  <c:v>176.8534134157945</c:v>
                </c:pt>
                <c:pt idx="6">
                  <c:v>178.75288589721362</c:v>
                </c:pt>
                <c:pt idx="7">
                  <c:v>178.72942668879108</c:v>
                </c:pt>
                <c:pt idx="8">
                  <c:v>183.27923149141628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85.36682334904611"/>
          <c:min val="167.2743605829208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GMC PRESCOTT</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147.17883416109635</c:v>
                </c:pt>
                <c:pt idx="1">
                  <c:v>135.63777641695583</c:v>
                </c:pt>
                <c:pt idx="2">
                  <c:v>141.64139075345048</c:v>
                </c:pt>
                <c:pt idx="3">
                  <c:v>139.12898539404827</c:v>
                </c:pt>
                <c:pt idx="4">
                  <c:v>140.79767083404693</c:v>
                </c:pt>
                <c:pt idx="5">
                  <c:v>142.24952097083244</c:v>
                </c:pt>
                <c:pt idx="6">
                  <c:v>142.61742003865575</c:v>
                </c:pt>
                <c:pt idx="7">
                  <c:v>143.95335221631723</c:v>
                </c:pt>
                <c:pt idx="8">
                  <c:v>154.41898907103825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57.2361709691506"/>
          <c:min val="132.8205945188434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VOLVO</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208.9492918178626</c:v>
                </c:pt>
                <c:pt idx="1">
                  <c:v>217.9379829257705</c:v>
                </c:pt>
                <c:pt idx="2">
                  <c:v>223.98379699248122</c:v>
                </c:pt>
                <c:pt idx="3">
                  <c:v>226.2475382875938</c:v>
                </c:pt>
                <c:pt idx="4">
                  <c:v>219.74642583470168</c:v>
                </c:pt>
                <c:pt idx="5">
                  <c:v>224.43341441458693</c:v>
                </c:pt>
                <c:pt idx="6">
                  <c:v>228.6857179372484</c:v>
                </c:pt>
                <c:pt idx="7">
                  <c:v>221.59294258373205</c:v>
                </c:pt>
                <c:pt idx="8">
                  <c:v>226.9213371266003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31.64618185515627"/>
          <c:min val="205.988827899954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CHEVY GMC BULLHEAD</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153.1491574232082</c:v>
                </c:pt>
                <c:pt idx="1">
                  <c:v>157.95352962362688</c:v>
                </c:pt>
                <c:pt idx="2">
                  <c:v>156.04347791229054</c:v>
                </c:pt>
                <c:pt idx="3">
                  <c:v>157.37133021424003</c:v>
                </c:pt>
                <c:pt idx="4">
                  <c:v>149.20385916225828</c:v>
                </c:pt>
                <c:pt idx="5">
                  <c:v>155.4821624007061</c:v>
                </c:pt>
                <c:pt idx="6">
                  <c:v>158.9620323488045</c:v>
                </c:pt>
                <c:pt idx="7">
                  <c:v>164.2580469341408</c:v>
                </c:pt>
                <c:pt idx="8">
                  <c:v>162.51214652956298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66.51617509992317"/>
          <c:min val="146.945730996475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CADILLAC</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169.23952076348527</c:v>
                </c:pt>
                <c:pt idx="1">
                  <c:v>171.362331838565</c:v>
                </c:pt>
                <c:pt idx="2">
                  <c:v>168.18649634020764</c:v>
                </c:pt>
                <c:pt idx="3">
                  <c:v>180.00863368961805</c:v>
                </c:pt>
                <c:pt idx="4">
                  <c:v>151.5942152678995</c:v>
                </c:pt>
                <c:pt idx="5">
                  <c:v>163.62502533205532</c:v>
                </c:pt>
                <c:pt idx="6">
                  <c:v>179.30890045543268</c:v>
                </c:pt>
                <c:pt idx="7">
                  <c:v>175.9947113813166</c:v>
                </c:pt>
                <c:pt idx="8">
                  <c:v>169.93955489368741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84.27079645287583"/>
          <c:min val="147.3320525046417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VW ST GEORGE</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226.22956521739133</c:v>
                </c:pt>
                <c:pt idx="1">
                  <c:v>248.52270270270267</c:v>
                </c:pt>
                <c:pt idx="2">
                  <c:v>200.74942028985507</c:v>
                </c:pt>
                <c:pt idx="3">
                  <c:v>243.29641592920353</c:v>
                </c:pt>
                <c:pt idx="4">
                  <c:v>234.13774647887323</c:v>
                </c:pt>
                <c:pt idx="5">
                  <c:v>287.9189156626506</c:v>
                </c:pt>
                <c:pt idx="6">
                  <c:v>324.6299523809524</c:v>
                </c:pt>
                <c:pt idx="7">
                  <c:v>281.9111059907834</c:v>
                </c:pt>
                <c:pt idx="8">
                  <c:v>287.2737362637363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43.212032194617"/>
          <c:min val="182.1673404761904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LR RENO</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735.0373714285714</c:v>
                </c:pt>
                <c:pt idx="1">
                  <c:v>633.5144852941177</c:v>
                </c:pt>
                <c:pt idx="2">
                  <c:v>695.5033121019109</c:v>
                </c:pt>
                <c:pt idx="3">
                  <c:v>845.1699386503068</c:v>
                </c:pt>
                <c:pt idx="4">
                  <c:v>839.2182857142857</c:v>
                </c:pt>
                <c:pt idx="5">
                  <c:v>919.2100621118013</c:v>
                </c:pt>
                <c:pt idx="6">
                  <c:v>872.8272254335259</c:v>
                </c:pt>
                <c:pt idx="7">
                  <c:v>956.7090425531915</c:v>
                </c:pt>
                <c:pt idx="8">
                  <c:v>764.899375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005.1882261420525"/>
          <c:min val="585.035301705256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ACURA</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240.3025692695214</c:v>
                </c:pt>
                <c:pt idx="1">
                  <c:v>216.6792098092643</c:v>
                </c:pt>
                <c:pt idx="2">
                  <c:v>230.04961259079906</c:v>
                </c:pt>
                <c:pt idx="3">
                  <c:v>243.99435114503817</c:v>
                </c:pt>
                <c:pt idx="4">
                  <c:v>304.9811274509804</c:v>
                </c:pt>
                <c:pt idx="5">
                  <c:v>286.73334117647056</c:v>
                </c:pt>
                <c:pt idx="6">
                  <c:v>273.25761160714285</c:v>
                </c:pt>
                <c:pt idx="7">
                  <c:v>260.6470308788598</c:v>
                </c:pt>
                <c:pt idx="8">
                  <c:v>314.04050125313285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28.6446949697131"/>
          <c:min val="202.0750160926840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HONDA FLAGSTAFF</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181.37186813186813</c:v>
                </c:pt>
                <c:pt idx="1">
                  <c:v>163.32138666666665</c:v>
                </c:pt>
                <c:pt idx="2">
                  <c:v>246.46716814159294</c:v>
                </c:pt>
                <c:pt idx="3">
                  <c:v>218.6002958579882</c:v>
                </c:pt>
                <c:pt idx="4">
                  <c:v>169.2365010799136</c:v>
                </c:pt>
                <c:pt idx="5">
                  <c:v>212.3986206896552</c:v>
                </c:pt>
                <c:pt idx="6">
                  <c:v>233.71951318458417</c:v>
                </c:pt>
                <c:pt idx="7">
                  <c:v>230.95786026200872</c:v>
                </c:pt>
                <c:pt idx="8">
                  <c:v>238.70922352941176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58.9390353628319"/>
          <c:min val="150.8495194454277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HYUNDAI ST GEORGE</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178.2198300970874</c:v>
                </c:pt>
                <c:pt idx="1">
                  <c:v>209.37557803468206</c:v>
                </c:pt>
                <c:pt idx="2">
                  <c:v>226.22274193548387</c:v>
                </c:pt>
                <c:pt idx="3">
                  <c:v>224.48005076142132</c:v>
                </c:pt>
                <c:pt idx="4">
                  <c:v>221.7853680981595</c:v>
                </c:pt>
                <c:pt idx="5">
                  <c:v>210.79133663366335</c:v>
                </c:pt>
                <c:pt idx="6">
                  <c:v>209.2606100795756</c:v>
                </c:pt>
                <c:pt idx="7">
                  <c:v>270.77191860465115</c:v>
                </c:pt>
                <c:pt idx="8">
                  <c:v>225.52879679144385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84.65473188078573"/>
          <c:min val="164.3370168209528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TOYOTA PRESCOTT</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128.18389112903225</c:v>
                </c:pt>
                <c:pt idx="1">
                  <c:v>143.6304268292683</c:v>
                </c:pt>
                <c:pt idx="2">
                  <c:v>136.9080487804878</c:v>
                </c:pt>
                <c:pt idx="3">
                  <c:v>198.15143617021278</c:v>
                </c:pt>
                <c:pt idx="4">
                  <c:v>159.63840958605664</c:v>
                </c:pt>
                <c:pt idx="5">
                  <c:v>147.4817120622568</c:v>
                </c:pt>
                <c:pt idx="6">
                  <c:v>150.852402717727</c:v>
                </c:pt>
                <c:pt idx="7">
                  <c:v>176.80212672521958</c:v>
                </c:pt>
                <c:pt idx="8">
                  <c:v>139.20603773584907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08.64656792638985"/>
          <c:min val="117.6887593728551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CHEVY GMC BULLHEAD</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233.84593837535013</c:v>
                </c:pt>
                <c:pt idx="1">
                  <c:v>272.64770642201836</c:v>
                </c:pt>
                <c:pt idx="2">
                  <c:v>264.5160053619303</c:v>
                </c:pt>
                <c:pt idx="3">
                  <c:v>300.4536959553696</c:v>
                </c:pt>
                <c:pt idx="4">
                  <c:v>288.36308157099694</c:v>
                </c:pt>
                <c:pt idx="5">
                  <c:v>250.08998518518518</c:v>
                </c:pt>
                <c:pt idx="6">
                  <c:v>321.2700792602378</c:v>
                </c:pt>
                <c:pt idx="7">
                  <c:v>293.4214486638537</c:v>
                </c:pt>
                <c:pt idx="8">
                  <c:v>258.24791976225856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34.383700392971"/>
          <c:min val="220.7323172426169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AUDI HENDERSON</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640.6571929824562</c:v>
                </c:pt>
                <c:pt idx="1">
                  <c:v>906.8386104218363</c:v>
                </c:pt>
                <c:pt idx="2">
                  <c:v>634.7025063291139</c:v>
                </c:pt>
                <c:pt idx="3">
                  <c:v>665.1664390243902</c:v>
                </c:pt>
                <c:pt idx="4">
                  <c:v>689.3056844547564</c:v>
                </c:pt>
                <c:pt idx="5">
                  <c:v>652.1006864988558</c:v>
                </c:pt>
                <c:pt idx="6">
                  <c:v>693.769124726477</c:v>
                </c:pt>
                <c:pt idx="7">
                  <c:v>709.0950352941177</c:v>
                </c:pt>
                <c:pt idx="8">
                  <c:v>1041.912085308057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102.9935221548983"/>
          <c:min val="573.621069482272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4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LR HENDERSON</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879.8076687116564</c:v>
                </c:pt>
                <c:pt idx="1">
                  <c:v>925.1433742331288</c:v>
                </c:pt>
                <c:pt idx="2">
                  <c:v>886.3305590062112</c:v>
                </c:pt>
                <c:pt idx="3">
                  <c:v>953.3849523809523</c:v>
                </c:pt>
                <c:pt idx="4">
                  <c:v>911.7989444444445</c:v>
                </c:pt>
                <c:pt idx="5">
                  <c:v>804.3490058479532</c:v>
                </c:pt>
                <c:pt idx="6">
                  <c:v>1035.5124242424242</c:v>
                </c:pt>
                <c:pt idx="7">
                  <c:v>994.8709444444444</c:v>
                </c:pt>
                <c:pt idx="8">
                  <c:v>934.7331325301205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070.186937001595"/>
          <c:min val="769.674493088782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4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HYUNDAI PRESCOTT</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268.8725</c:v>
                </c:pt>
                <c:pt idx="1">
                  <c:v>180.48355670103092</c:v>
                </c:pt>
                <c:pt idx="2">
                  <c:v>249.92049773755656</c:v>
                </c:pt>
                <c:pt idx="3">
                  <c:v>255.83444915254236</c:v>
                </c:pt>
                <c:pt idx="4">
                  <c:v>224.2878260869565</c:v>
                </c:pt>
                <c:pt idx="5">
                  <c:v>167.36384920634922</c:v>
                </c:pt>
                <c:pt idx="6">
                  <c:v>269.1880172413793</c:v>
                </c:pt>
                <c:pt idx="7">
                  <c:v>279.6357425742574</c:v>
                </c:pt>
                <c:pt idx="8">
                  <c:v>227.57493506493506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96.4765265794436"/>
          <c:min val="150.5230652011629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4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ACURA</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0.3838170224523827</c:v>
                </c:pt>
                <c:pt idx="1">
                  <c:v>0.4035019812938098</c:v>
                </c:pt>
                <c:pt idx="2">
                  <c:v>0.3952216223703298</c:v>
                </c:pt>
                <c:pt idx="3">
                  <c:v>0.4448395856159019</c:v>
                </c:pt>
                <c:pt idx="4">
                  <c:v>0.47606328903347445</c:v>
                </c:pt>
                <c:pt idx="5">
                  <c:v>0.49427527129736526</c:v>
                </c:pt>
                <c:pt idx="6">
                  <c:v>0.4642179700098211</c:v>
                </c:pt>
                <c:pt idx="7">
                  <c:v>0.48270738633256904</c:v>
                </c:pt>
                <c:pt idx="8">
                  <c:v>0.45289434755155056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5108440086241126"/>
          <c:min val="0.367248285125635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4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VW ST GEORGE</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0.40001902646023274</c:v>
                </c:pt>
                <c:pt idx="1">
                  <c:v>0.3720732457962403</c:v>
                </c:pt>
                <c:pt idx="2">
                  <c:v>0.4018829925450841</c:v>
                </c:pt>
                <c:pt idx="3">
                  <c:v>0.40962760928027814</c:v>
                </c:pt>
                <c:pt idx="4">
                  <c:v>0.4597764968817762</c:v>
                </c:pt>
                <c:pt idx="5">
                  <c:v>0.40350076249992856</c:v>
                </c:pt>
                <c:pt idx="6">
                  <c:v>0.45445150808341633</c:v>
                </c:pt>
                <c:pt idx="7">
                  <c:v>0.42913664813449875</c:v>
                </c:pt>
                <c:pt idx="8">
                  <c:v>0.425523613232545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7293198454460655"/>
          <c:min val="0.358917758133409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4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GMC PRESCOTT</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0.34774542164070493</c:v>
                </c:pt>
                <c:pt idx="1">
                  <c:v>0.3428853815363897</c:v>
                </c:pt>
                <c:pt idx="2">
                  <c:v>0.3678319883700978</c:v>
                </c:pt>
                <c:pt idx="3">
                  <c:v>0.3451036516062462</c:v>
                </c:pt>
                <c:pt idx="4">
                  <c:v>0.37383512874032615</c:v>
                </c:pt>
                <c:pt idx="5">
                  <c:v>0.37442614515827255</c:v>
                </c:pt>
                <c:pt idx="6">
                  <c:v>0.3765012914668214</c:v>
                </c:pt>
                <c:pt idx="7">
                  <c:v>0.4109924749697751</c:v>
                </c:pt>
                <c:pt idx="8">
                  <c:v>0.39565037718326934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212085389847829"/>
          <c:min val="0.332669317521381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4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AUDI RENO</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0.41530601520715416</c:v>
                </c:pt>
                <c:pt idx="1">
                  <c:v>0.4108890052717672</c:v>
                </c:pt>
                <c:pt idx="2">
                  <c:v>0.405583451418382</c:v>
                </c:pt>
                <c:pt idx="3">
                  <c:v>0.41689218345561846</c:v>
                </c:pt>
                <c:pt idx="4">
                  <c:v>0.458754837572283</c:v>
                </c:pt>
                <c:pt idx="5">
                  <c:v>0.47543115549863596</c:v>
                </c:pt>
                <c:pt idx="6">
                  <c:v>0.44051206489623174</c:v>
                </c:pt>
                <c:pt idx="7">
                  <c:v>0.44067846901952584</c:v>
                </c:pt>
                <c:pt idx="8">
                  <c:v>0.4379850163841297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8590831111067406"/>
          <c:min val="0.395106295806343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4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TOYOTA HENDERSON</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0.40057589442118835</c:v>
                </c:pt>
                <c:pt idx="1">
                  <c:v>0.3824592298574588</c:v>
                </c:pt>
                <c:pt idx="2">
                  <c:v>0.3990699220487699</c:v>
                </c:pt>
                <c:pt idx="3">
                  <c:v>0.3369845083698473</c:v>
                </c:pt>
                <c:pt idx="4">
                  <c:v>0.42446429931693574</c:v>
                </c:pt>
                <c:pt idx="5">
                  <c:v>0.4242123912395645</c:v>
                </c:pt>
                <c:pt idx="6">
                  <c:v>0.4125803196455596</c:v>
                </c:pt>
                <c:pt idx="7">
                  <c:v>0.4279628930950305</c:v>
                </c:pt>
                <c:pt idx="8">
                  <c:v>0.41019587611883684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41609650803808"/>
          <c:min val="0.323337750661069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5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KIA ST GEORGE</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0.39385465162077204</c:v>
                </c:pt>
                <c:pt idx="1">
                  <c:v>0.4104798110566934</c:v>
                </c:pt>
                <c:pt idx="2">
                  <c:v>0.39984615107565896</c:v>
                </c:pt>
                <c:pt idx="3">
                  <c:v>0.4242643654011316</c:v>
                </c:pt>
                <c:pt idx="4">
                  <c:v>0.43535929201653073</c:v>
                </c:pt>
                <c:pt idx="5">
                  <c:v>0.4359650422122587</c:v>
                </c:pt>
                <c:pt idx="6">
                  <c:v>0.4310274406950725</c:v>
                </c:pt>
                <c:pt idx="7">
                  <c:v>0.4257261405886852</c:v>
                </c:pt>
                <c:pt idx="8">
                  <c:v>0.4125780793358778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4228160080098167"/>
          <c:min val="0.3875380930320490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5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CDJR POST FALLS</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0.34615649425879996</c:v>
                </c:pt>
                <c:pt idx="1">
                  <c:v>0.3553626019087758</c:v>
                </c:pt>
                <c:pt idx="2">
                  <c:v>0.33286088298414096</c:v>
                </c:pt>
                <c:pt idx="3">
                  <c:v>0.33135079455831645</c:v>
                </c:pt>
                <c:pt idx="4">
                  <c:v>0.36466133494564634</c:v>
                </c:pt>
                <c:pt idx="5">
                  <c:v>0.38118653720091344</c:v>
                </c:pt>
                <c:pt idx="6">
                  <c:v>0.3809185720341265</c:v>
                </c:pt>
                <c:pt idx="7">
                  <c:v>0.37479736400081787</c:v>
                </c:pt>
                <c:pt idx="8">
                  <c:v>0.3350495696231172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388661898597303"/>
          <c:min val="0.323875433161926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5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TOYOTA PRESCOTT</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0.414351536191364</c:v>
                </c:pt>
                <c:pt idx="1">
                  <c:v>0.39318087070517616</c:v>
                </c:pt>
                <c:pt idx="2">
                  <c:v>0.4185113634289955</c:v>
                </c:pt>
                <c:pt idx="3">
                  <c:v>0.3984325401778728</c:v>
                </c:pt>
                <c:pt idx="4">
                  <c:v>0.4275287802058474</c:v>
                </c:pt>
                <c:pt idx="5">
                  <c:v>0.4314231842150624</c:v>
                </c:pt>
                <c:pt idx="6">
                  <c:v>0.40647931761383654</c:v>
                </c:pt>
                <c:pt idx="7">
                  <c:v>0.42811568086149515</c:v>
                </c:pt>
                <c:pt idx="8">
                  <c:v>0.4328714643805786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38825053431889"/>
          <c:min val="0.387227281653865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5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LR RENO</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0.4411058127734458</c:v>
                </c:pt>
                <c:pt idx="1">
                  <c:v>0.45645701726723603</c:v>
                </c:pt>
                <c:pt idx="2">
                  <c:v>0.43879838840991475</c:v>
                </c:pt>
                <c:pt idx="3">
                  <c:v>0.40377729240207977</c:v>
                </c:pt>
                <c:pt idx="4">
                  <c:v>0.4744010071958122</c:v>
                </c:pt>
                <c:pt idx="5">
                  <c:v>0.4339098342743925</c:v>
                </c:pt>
                <c:pt idx="6">
                  <c:v>0.44740581583560335</c:v>
                </c:pt>
                <c:pt idx="7">
                  <c:v>0.46909418535282466</c:v>
                </c:pt>
                <c:pt idx="8">
                  <c:v>0.45065660188962764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8499456441487204"/>
          <c:min val="0.393183735183019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5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CHEVY GMC BULLHEAD</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0.3680342105578381</c:v>
                </c:pt>
                <c:pt idx="1">
                  <c:v>0.3691001034144722</c:v>
                </c:pt>
                <c:pt idx="2">
                  <c:v>0.3670958755466887</c:v>
                </c:pt>
                <c:pt idx="3">
                  <c:v>0.37086270739787763</c:v>
                </c:pt>
                <c:pt idx="4">
                  <c:v>0.3526965626793513</c:v>
                </c:pt>
                <c:pt idx="5">
                  <c:v>0.37527049523033906</c:v>
                </c:pt>
                <c:pt idx="6">
                  <c:v>0.3587371292399778</c:v>
                </c:pt>
                <c:pt idx="7">
                  <c:v>0.3863209963060099</c:v>
                </c:pt>
                <c:pt idx="8">
                  <c:v>0.40033452080355186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0748021452218197"/>
          <c:min val="0.345550868960721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5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MAZDA</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140105.4</c:v>
                </c:pt>
                <c:pt idx="1">
                  <c:v>129994.04000000001</c:v>
                </c:pt>
                <c:pt idx="2">
                  <c:v>194655.32</c:v>
                </c:pt>
                <c:pt idx="3">
                  <c:v>176169.16</c:v>
                </c:pt>
                <c:pt idx="4">
                  <c:v>174810.36</c:v>
                </c:pt>
                <c:pt idx="5">
                  <c:v>155900.23</c:v>
                </c:pt>
                <c:pt idx="6">
                  <c:v>168039.07</c:v>
                </c:pt>
                <c:pt idx="7">
                  <c:v>230368.93</c:v>
                </c:pt>
                <c:pt idx="8">
                  <c:v>227165.53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45425.1635"/>
          <c:min val="114937.806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5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KIA ST GEORGE</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86980.36</c:v>
                </c:pt>
                <c:pt idx="1">
                  <c:v>82836.39</c:v>
                </c:pt>
                <c:pt idx="2">
                  <c:v>86106.14</c:v>
                </c:pt>
                <c:pt idx="3">
                  <c:v>91223.19</c:v>
                </c:pt>
                <c:pt idx="4">
                  <c:v>82915.06</c:v>
                </c:pt>
                <c:pt idx="5">
                  <c:v>95470.58</c:v>
                </c:pt>
                <c:pt idx="6">
                  <c:v>121071.78</c:v>
                </c:pt>
                <c:pt idx="7">
                  <c:v>113797.79000000001</c:v>
                </c:pt>
                <c:pt idx="8">
                  <c:v>101183.02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26807.0885"/>
          <c:min val="77101.081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5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CDJR POST FALLS</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236533.56</c:v>
                </c:pt>
                <c:pt idx="1">
                  <c:v>198065</c:v>
                </c:pt>
                <c:pt idx="2">
                  <c:v>220283.83000000002</c:v>
                </c:pt>
                <c:pt idx="3">
                  <c:v>202377.06</c:v>
                </c:pt>
                <c:pt idx="4">
                  <c:v>210946.1</c:v>
                </c:pt>
                <c:pt idx="5">
                  <c:v>234862.74</c:v>
                </c:pt>
                <c:pt idx="6">
                  <c:v>300394.59</c:v>
                </c:pt>
                <c:pt idx="7">
                  <c:v>271122.35000000003</c:v>
                </c:pt>
                <c:pt idx="8">
                  <c:v>265586.5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15744.0285"/>
          <c:min val="182715.561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5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VW ST GEORGE</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63266.58</c:v>
                </c:pt>
                <c:pt idx="1">
                  <c:v>48675.05</c:v>
                </c:pt>
                <c:pt idx="2">
                  <c:v>49504.81</c:v>
                </c:pt>
                <c:pt idx="3">
                  <c:v>58672.880000000005</c:v>
                </c:pt>
                <c:pt idx="4">
                  <c:v>58583.36</c:v>
                </c:pt>
                <c:pt idx="5">
                  <c:v>82540.21</c:v>
                </c:pt>
                <c:pt idx="6">
                  <c:v>77897.88</c:v>
                </c:pt>
                <c:pt idx="7">
                  <c:v>64144.34</c:v>
                </c:pt>
                <c:pt idx="8">
                  <c:v>57011.62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87619.98400000001"/>
          <c:min val="43595.27600000000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5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HYUNDAI PRESCOTT</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47133.479999999996</c:v>
                </c:pt>
                <c:pt idx="1">
                  <c:v>42518.81</c:v>
                </c:pt>
                <c:pt idx="2">
                  <c:v>57961.69</c:v>
                </c:pt>
                <c:pt idx="3">
                  <c:v>50013.479999999996</c:v>
                </c:pt>
                <c:pt idx="4">
                  <c:v>50169.79</c:v>
                </c:pt>
                <c:pt idx="5">
                  <c:v>48661.44</c:v>
                </c:pt>
                <c:pt idx="6">
                  <c:v>64651.67</c:v>
                </c:pt>
                <c:pt idx="7">
                  <c:v>56663.37</c:v>
                </c:pt>
                <c:pt idx="8">
                  <c:v>58829.520000000004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67971.599"/>
          <c:min val="39198.88099999999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6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LEXUS</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176585.11</c:v>
                </c:pt>
                <c:pt idx="1">
                  <c:v>184273.9</c:v>
                </c:pt>
                <c:pt idx="2">
                  <c:v>243873.84</c:v>
                </c:pt>
                <c:pt idx="3">
                  <c:v>231682.97</c:v>
                </c:pt>
                <c:pt idx="4">
                  <c:v>262721.61</c:v>
                </c:pt>
                <c:pt idx="5">
                  <c:v>263340.99</c:v>
                </c:pt>
                <c:pt idx="6">
                  <c:v>244041.77</c:v>
                </c:pt>
                <c:pt idx="7">
                  <c:v>244446.27</c:v>
                </c:pt>
                <c:pt idx="8">
                  <c:v>249281.88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76354.372"/>
          <c:min val="163571.7279999999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6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TOYOTA PRESCOTT</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294309.57999999996</c:v>
                </c:pt>
                <c:pt idx="1">
                  <c:v>278868.58</c:v>
                </c:pt>
                <c:pt idx="2">
                  <c:v>359908.79</c:v>
                </c:pt>
                <c:pt idx="3">
                  <c:v>393728.92000000004</c:v>
                </c:pt>
                <c:pt idx="4">
                  <c:v>359273.68</c:v>
                </c:pt>
                <c:pt idx="5">
                  <c:v>386316.45</c:v>
                </c:pt>
                <c:pt idx="6">
                  <c:v>384135.08</c:v>
                </c:pt>
                <c:pt idx="7">
                  <c:v>397933.38999999996</c:v>
                </c:pt>
                <c:pt idx="8">
                  <c:v>341938.74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15793.11149999994"/>
          <c:min val="261008.8585000000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6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LR RENO</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177080.6</c:v>
                </c:pt>
                <c:pt idx="1">
                  <c:v>116317.49</c:v>
                </c:pt>
                <c:pt idx="2">
                  <c:v>151683.66999999998</c:v>
                </c:pt>
                <c:pt idx="3">
                  <c:v>189304.13</c:v>
                </c:pt>
                <c:pt idx="4">
                  <c:v>164925.71000000002</c:v>
                </c:pt>
                <c:pt idx="5">
                  <c:v>166070.51</c:v>
                </c:pt>
                <c:pt idx="6">
                  <c:v>172210.90000000002</c:v>
                </c:pt>
                <c:pt idx="7">
                  <c:v>228828.82</c:v>
                </c:pt>
                <c:pt idx="8">
                  <c:v>129178.53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45705.5195"/>
          <c:min val="99440.790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6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GMC PRESCOTT</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86931.73000000001</c:v>
                </c:pt>
                <c:pt idx="1">
                  <c:v>109867.53</c:v>
                </c:pt>
                <c:pt idx="2">
                  <c:v>104137.82</c:v>
                </c:pt>
                <c:pt idx="3">
                  <c:v>100928.84</c:v>
                </c:pt>
                <c:pt idx="4">
                  <c:v>93945.76000000001</c:v>
                </c:pt>
                <c:pt idx="5">
                  <c:v>108346.47</c:v>
                </c:pt>
                <c:pt idx="6">
                  <c:v>126637.39</c:v>
                </c:pt>
                <c:pt idx="7">
                  <c:v>106298.13999999998</c:v>
                </c:pt>
                <c:pt idx="8">
                  <c:v>124862.66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32593.239"/>
          <c:min val="80975.8810000000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6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HONDA SPOKANE</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293762.4</c:v>
                </c:pt>
                <c:pt idx="1">
                  <c:v>268037.54000000004</c:v>
                </c:pt>
                <c:pt idx="2">
                  <c:v>319668.25</c:v>
                </c:pt>
                <c:pt idx="3">
                  <c:v>349268.96</c:v>
                </c:pt>
                <c:pt idx="4">
                  <c:v>347415.9</c:v>
                </c:pt>
                <c:pt idx="5">
                  <c:v>340633.41000000003</c:v>
                </c:pt>
                <c:pt idx="6">
                  <c:v>373611</c:v>
                </c:pt>
                <c:pt idx="7">
                  <c:v>323504.43</c:v>
                </c:pt>
                <c:pt idx="8">
                  <c:v>336990.87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89447.019"/>
          <c:min val="252201.5210000000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6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AUDI HENDERSON</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0.23308270676691728</c:v>
                </c:pt>
                <c:pt idx="1">
                  <c:v>0.18114143920595532</c:v>
                </c:pt>
                <c:pt idx="2">
                  <c:v>0.21772151898734177</c:v>
                </c:pt>
                <c:pt idx="3">
                  <c:v>0.20243902439024392</c:v>
                </c:pt>
                <c:pt idx="4">
                  <c:v>0.33410672853828305</c:v>
                </c:pt>
                <c:pt idx="5">
                  <c:v>0.33638443935926776</c:v>
                </c:pt>
                <c:pt idx="6">
                  <c:v>0.31072210065645517</c:v>
                </c:pt>
                <c:pt idx="7">
                  <c:v>0.28941176470588237</c:v>
                </c:pt>
                <c:pt idx="8">
                  <c:v>0.35308056872037913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3788714381475427"/>
          <c:min val="0.1553505697787917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6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MAZDA</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0.07439446366782007</c:v>
                </c:pt>
                <c:pt idx="1">
                  <c:v>0.16377649325626203</c:v>
                </c:pt>
                <c:pt idx="2">
                  <c:v>0.14285714285714285</c:v>
                </c:pt>
                <c:pt idx="3">
                  <c:v>0.16510903426791276</c:v>
                </c:pt>
                <c:pt idx="4">
                  <c:v>0.1493212669683258</c:v>
                </c:pt>
                <c:pt idx="5">
                  <c:v>0.10703363914373089</c:v>
                </c:pt>
                <c:pt idx="6">
                  <c:v>0.16468842729970326</c:v>
                </c:pt>
                <c:pt idx="7">
                  <c:v>0.25258493353028066</c:v>
                </c:pt>
                <c:pt idx="8">
                  <c:v>0.2678843226788432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969078015304967"/>
          <c:min val="0.045370984816166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6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KIA ST GEORGE</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0.016666666666666666</c:v>
                </c:pt>
                <c:pt idx="1">
                  <c:v>0.04176904176904177</c:v>
                </c:pt>
                <c:pt idx="2">
                  <c:v>0.0630841121495327</c:v>
                </c:pt>
                <c:pt idx="3">
                  <c:v>0.06621004566210045</c:v>
                </c:pt>
                <c:pt idx="4">
                  <c:v>0.08983451536643026</c:v>
                </c:pt>
                <c:pt idx="5">
                  <c:v>0.07729468599033816</c:v>
                </c:pt>
                <c:pt idx="6">
                  <c:v>0.11608961303462322</c:v>
                </c:pt>
                <c:pt idx="7">
                  <c:v>0.11764705882352941</c:v>
                </c:pt>
                <c:pt idx="8">
                  <c:v>0.12026726057906459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3580734966592428"/>
          <c:min val="0.001126577579806978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6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HYUNDAI PRESCOTT</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0.16037735849056603</c:v>
                </c:pt>
                <c:pt idx="1">
                  <c:v>0.15463917525773196</c:v>
                </c:pt>
                <c:pt idx="2">
                  <c:v>0.23076923076923078</c:v>
                </c:pt>
                <c:pt idx="3">
                  <c:v>0.23728813559322035</c:v>
                </c:pt>
                <c:pt idx="4">
                  <c:v>0.1826086956521739</c:v>
                </c:pt>
                <c:pt idx="5">
                  <c:v>0.21428571428571427</c:v>
                </c:pt>
                <c:pt idx="6">
                  <c:v>0.24568965517241378</c:v>
                </c:pt>
                <c:pt idx="7">
                  <c:v>0.24752475247524752</c:v>
                </c:pt>
                <c:pt idx="8">
                  <c:v>0.27705627705627706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954188423260588"/>
          <c:min val="0.1362766099879502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6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HYUNDAI ST GEORGE</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0.15048543689320387</c:v>
                </c:pt>
                <c:pt idx="1">
                  <c:v>0.13583815028901733</c:v>
                </c:pt>
                <c:pt idx="2">
                  <c:v>0.0967741935483871</c:v>
                </c:pt>
                <c:pt idx="3">
                  <c:v>0.1116751269035533</c:v>
                </c:pt>
                <c:pt idx="4">
                  <c:v>0.11042944785276074</c:v>
                </c:pt>
                <c:pt idx="5">
                  <c:v>0.1485148514851485</c:v>
                </c:pt>
                <c:pt idx="6">
                  <c:v>0.19363395225464192</c:v>
                </c:pt>
                <c:pt idx="7">
                  <c:v>0.19186046511627908</c:v>
                </c:pt>
                <c:pt idx="8">
                  <c:v>0.19518716577540107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0994911160945318"/>
          <c:min val="0.0820122477143349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7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KIA LV</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0.07551240560949299</c:v>
                </c:pt>
                <c:pt idx="1">
                  <c:v>0.06607369758576874</c:v>
                </c:pt>
                <c:pt idx="2">
                  <c:v>0.06277056277056277</c:v>
                </c:pt>
                <c:pt idx="3">
                  <c:v>0.09216101694915255</c:v>
                </c:pt>
                <c:pt idx="4">
                  <c:v>0.06885245901639345</c:v>
                </c:pt>
                <c:pt idx="5">
                  <c:v>0.11217948717948718</c:v>
                </c:pt>
                <c:pt idx="6">
                  <c:v>0.16770833333333332</c:v>
                </c:pt>
                <c:pt idx="7">
                  <c:v>0.1271282633371169</c:v>
                </c:pt>
                <c:pt idx="8">
                  <c:v>0.10011641443538999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834489989177489"/>
          <c:min val="0.0470298971861471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7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HONDA FLAGSTAFF</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0.038461538461538464</c:v>
                </c:pt>
                <c:pt idx="1">
                  <c:v>0.09066666666666667</c:v>
                </c:pt>
                <c:pt idx="2">
                  <c:v>0.09955752212389381</c:v>
                </c:pt>
                <c:pt idx="3">
                  <c:v>0.11637080867850098</c:v>
                </c:pt>
                <c:pt idx="4">
                  <c:v>0.11231101511879049</c:v>
                </c:pt>
                <c:pt idx="5">
                  <c:v>0.1724137931034483</c:v>
                </c:pt>
                <c:pt idx="6">
                  <c:v>0.1257606490872211</c:v>
                </c:pt>
                <c:pt idx="7">
                  <c:v>0.10043668122270742</c:v>
                </c:pt>
                <c:pt idx="8">
                  <c:v>0.11764705882352941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9250663129973475"/>
          <c:min val="0.01836870026525199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7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LR HENDERSON</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0.20245398773006135</c:v>
                </c:pt>
                <c:pt idx="1">
                  <c:v>0.1901840490797546</c:v>
                </c:pt>
                <c:pt idx="2">
                  <c:v>0.2981366459627329</c:v>
                </c:pt>
                <c:pt idx="3">
                  <c:v>0.2</c:v>
                </c:pt>
                <c:pt idx="4">
                  <c:v>0.31666666666666665</c:v>
                </c:pt>
                <c:pt idx="5">
                  <c:v>0.23391812865497075</c:v>
                </c:pt>
                <c:pt idx="6">
                  <c:v>0.22424242424242424</c:v>
                </c:pt>
                <c:pt idx="7">
                  <c:v>0.24444444444444444</c:v>
                </c:pt>
                <c:pt idx="8">
                  <c:v>0.29518072289156627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33563905930470345"/>
          <c:min val="0.1712116564417178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7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HONDA NORTH</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0.1434010152284264</c:v>
                </c:pt>
                <c:pt idx="1">
                  <c:v>0.13473256601218686</c:v>
                </c:pt>
                <c:pt idx="2">
                  <c:v>0.14347026364193746</c:v>
                </c:pt>
                <c:pt idx="3">
                  <c:v>0.17080745341614906</c:v>
                </c:pt>
                <c:pt idx="4">
                  <c:v>0.19838987924094306</c:v>
                </c:pt>
                <c:pt idx="5">
                  <c:v>0.17491369390103567</c:v>
                </c:pt>
                <c:pt idx="6">
                  <c:v>0.14625652930934416</c:v>
                </c:pt>
                <c:pt idx="7">
                  <c:v>0.17226666666666668</c:v>
                </c:pt>
                <c:pt idx="8">
                  <c:v>0.16557474687313878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079384762252565"/>
          <c:min val="0.1251839690278734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7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CHEVY LV</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0.11658382286488929</c:v>
                </c:pt>
                <c:pt idx="1">
                  <c:v>0.11829573934837093</c:v>
                </c:pt>
                <c:pt idx="2">
                  <c:v>0.10888888888888888</c:v>
                </c:pt>
                <c:pt idx="3">
                  <c:v>0.15854214123006835</c:v>
                </c:pt>
                <c:pt idx="4">
                  <c:v>0.12994350282485875</c:v>
                </c:pt>
                <c:pt idx="5">
                  <c:v>0.13755656108597286</c:v>
                </c:pt>
                <c:pt idx="6">
                  <c:v>0.133244798583444</c:v>
                </c:pt>
                <c:pt idx="7">
                  <c:v>0.13096309630963096</c:v>
                </c:pt>
                <c:pt idx="8">
                  <c:v>0.12280701754385964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6599012908124527"/>
          <c:min val="0.1014409010377119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7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MAZDA</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0.05536332179930796</c:v>
                </c:pt>
                <c:pt idx="1">
                  <c:v>0.1252408477842004</c:v>
                </c:pt>
                <c:pt idx="2">
                  <c:v>0.12401883830455258</c:v>
                </c:pt>
                <c:pt idx="3">
                  <c:v>0.11682242990654206</c:v>
                </c:pt>
                <c:pt idx="4">
                  <c:v>0.09803921568627451</c:v>
                </c:pt>
                <c:pt idx="5">
                  <c:v>0.07339449541284404</c:v>
                </c:pt>
                <c:pt idx="6">
                  <c:v>0.12166172106824925</c:v>
                </c:pt>
                <c:pt idx="7">
                  <c:v>0.22156573116691286</c:v>
                </c:pt>
                <c:pt idx="8">
                  <c:v>0.2374429223744292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647548624606974"/>
          <c:min val="0.02805138171303977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7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HYUNDAI PRESCOTT</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0.09433962264150944</c:v>
                </c:pt>
                <c:pt idx="1">
                  <c:v>0.11855670103092783</c:v>
                </c:pt>
                <c:pt idx="2">
                  <c:v>0.11312217194570136</c:v>
                </c:pt>
                <c:pt idx="3">
                  <c:v>0.1440677966101695</c:v>
                </c:pt>
                <c:pt idx="4">
                  <c:v>0.12173913043478261</c:v>
                </c:pt>
                <c:pt idx="5">
                  <c:v>0.1388888888888889</c:v>
                </c:pt>
                <c:pt idx="6">
                  <c:v>0.125</c:v>
                </c:pt>
                <c:pt idx="7">
                  <c:v>0.14356435643564355</c:v>
                </c:pt>
                <c:pt idx="8">
                  <c:v>0.21212121212121213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2978845054316754"/>
          <c:min val="0.0766723842195540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7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HONDA SPOKANE</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0.004873294346978557</c:v>
                </c:pt>
                <c:pt idx="1">
                  <c:v>0.0012048192771084338</c:v>
                </c:pt>
                <c:pt idx="2">
                  <c:v>0.015321756894790603</c:v>
                </c:pt>
                <c:pt idx="3">
                  <c:v>0.011099899091826439</c:v>
                </c:pt>
                <c:pt idx="4">
                  <c:v>0.003972194637537239</c:v>
                </c:pt>
                <c:pt idx="5">
                  <c:v>0.03501945525291829</c:v>
                </c:pt>
                <c:pt idx="6">
                  <c:v>0.05103969754253308</c:v>
                </c:pt>
                <c:pt idx="7">
                  <c:v>0.04133064516129032</c:v>
                </c:pt>
                <c:pt idx="8">
                  <c:v>0.02747791952894995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05851492928234678"/>
          <c:min val="-0.00627041246270526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7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KIA ST GEORGE</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0.011904761904761904</c:v>
                </c:pt>
                <c:pt idx="1">
                  <c:v>0.05405405405405406</c:v>
                </c:pt>
                <c:pt idx="2">
                  <c:v>0.09345794392523364</c:v>
                </c:pt>
                <c:pt idx="3">
                  <c:v>0.1278538812785388</c:v>
                </c:pt>
                <c:pt idx="4">
                  <c:v>0.09219858156028368</c:v>
                </c:pt>
                <c:pt idx="5">
                  <c:v>0.05314009661835749</c:v>
                </c:pt>
                <c:pt idx="6">
                  <c:v>0.05702647657841141</c:v>
                </c:pt>
                <c:pt idx="7">
                  <c:v>0.10180995475113122</c:v>
                </c:pt>
                <c:pt idx="8">
                  <c:v>0.10022271714922049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4524624918460532"/>
          <c:min val="-0.00548760600130462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7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HONDA NORTH</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0.09898477157360407</c:v>
                </c:pt>
                <c:pt idx="1">
                  <c:v>0.08869329722410291</c:v>
                </c:pt>
                <c:pt idx="2">
                  <c:v>0.10177805027590435</c:v>
                </c:pt>
                <c:pt idx="3">
                  <c:v>0.13354037267080746</c:v>
                </c:pt>
                <c:pt idx="4">
                  <c:v>0.156411730879816</c:v>
                </c:pt>
                <c:pt idx="5">
                  <c:v>0.1283084004602992</c:v>
                </c:pt>
                <c:pt idx="6">
                  <c:v>0.11723737666860128</c:v>
                </c:pt>
                <c:pt idx="7">
                  <c:v>0.13226666666666667</c:v>
                </c:pt>
                <c:pt idx="8">
                  <c:v>0.11554496724240619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6656949592817297"/>
          <c:min val="0.0785355321757459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8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SUBARU PRESCOTT</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0.003616636528028933</c:v>
                </c:pt>
                <c:pt idx="1">
                  <c:v>0.24609375</c:v>
                </c:pt>
                <c:pt idx="2">
                  <c:v>0.16339869281045752</c:v>
                </c:pt>
                <c:pt idx="3">
                  <c:v>0.16306156405990016</c:v>
                </c:pt>
                <c:pt idx="4">
                  <c:v>0.1684981684981685</c:v>
                </c:pt>
                <c:pt idx="5">
                  <c:v>0.14188034188034188</c:v>
                </c:pt>
                <c:pt idx="6">
                  <c:v>0.16387959866220736</c:v>
                </c:pt>
                <c:pt idx="7">
                  <c:v>0.13863216266173753</c:v>
                </c:pt>
                <c:pt idx="8">
                  <c:v>0.16337522441651706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8246531702079564"/>
          <c:min val="-0.03275493049276672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8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CHEVY LV</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0.055128784455490284</c:v>
                </c:pt>
                <c:pt idx="1">
                  <c:v>0.05513784461152882</c:v>
                </c:pt>
                <c:pt idx="2">
                  <c:v>0.06488888888888888</c:v>
                </c:pt>
                <c:pt idx="3">
                  <c:v>0.07881548974943052</c:v>
                </c:pt>
                <c:pt idx="4">
                  <c:v>0.08050847457627118</c:v>
                </c:pt>
                <c:pt idx="5">
                  <c:v>0.09049773755656108</c:v>
                </c:pt>
                <c:pt idx="6">
                  <c:v>0.07923860115095174</c:v>
                </c:pt>
                <c:pt idx="7">
                  <c:v>0.08010801080108011</c:v>
                </c:pt>
                <c:pt idx="8">
                  <c:v>0.07212475633528265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0958030805217217"/>
          <c:min val="0.0498234414903296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8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GMC PRESCOTT</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0.01929260450160772</c:v>
                </c:pt>
                <c:pt idx="1">
                  <c:v>0.10091743119266056</c:v>
                </c:pt>
                <c:pt idx="2">
                  <c:v>0.0906515580736544</c:v>
                </c:pt>
                <c:pt idx="3">
                  <c:v>0.06395348837209303</c:v>
                </c:pt>
                <c:pt idx="4">
                  <c:v>0.08116883116883117</c:v>
                </c:pt>
                <c:pt idx="5">
                  <c:v>0.0676056338028169</c:v>
                </c:pt>
                <c:pt idx="6">
                  <c:v>0.08378378378378379</c:v>
                </c:pt>
                <c:pt idx="7">
                  <c:v>0.08900523560209424</c:v>
                </c:pt>
                <c:pt idx="8">
                  <c:v>0.09523809523809523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1316115519631847"/>
          <c:min val="0.00704888049794979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8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SUBARU LV</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0.0976685570258349</c:v>
                </c:pt>
                <c:pt idx="1">
                  <c:v>0.1078092605390463</c:v>
                </c:pt>
                <c:pt idx="2">
                  <c:v>0.10520023909145249</c:v>
                </c:pt>
                <c:pt idx="3">
                  <c:v>0.09673024523160763</c:v>
                </c:pt>
                <c:pt idx="4">
                  <c:v>0.08597883597883597</c:v>
                </c:pt>
                <c:pt idx="5">
                  <c:v>0.0961768219832736</c:v>
                </c:pt>
                <c:pt idx="6">
                  <c:v>0.10995723885155773</c:v>
                </c:pt>
                <c:pt idx="7">
                  <c:v>0.11163337250293771</c:v>
                </c:pt>
                <c:pt idx="8">
                  <c:v>0.10709677419354839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1548155298155298"/>
          <c:min val="0.0821306555002207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8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TOYOTA PRESCOTT</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0.04233870967741935</c:v>
                </c:pt>
                <c:pt idx="1">
                  <c:v>0.057926829268292686</c:v>
                </c:pt>
                <c:pt idx="2">
                  <c:v>0.06262359920896507</c:v>
                </c:pt>
                <c:pt idx="3">
                  <c:v>0.06316489361702128</c:v>
                </c:pt>
                <c:pt idx="4">
                  <c:v>0.08424110384894698</c:v>
                </c:pt>
                <c:pt idx="5">
                  <c:v>0.07068741893644617</c:v>
                </c:pt>
                <c:pt idx="6">
                  <c:v>0.06300185299567634</c:v>
                </c:pt>
                <c:pt idx="7">
                  <c:v>0.05081555834378921</c:v>
                </c:pt>
                <c:pt idx="8">
                  <c:v>0.06115810019518542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09052646297467612"/>
          <c:min val="0.03605335055169020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8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MAZDA</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0.04325259515570934</c:v>
                </c:pt>
                <c:pt idx="1">
                  <c:v>0.05009633911368015</c:v>
                </c:pt>
                <c:pt idx="2">
                  <c:v>0.061224489795918366</c:v>
                </c:pt>
                <c:pt idx="3">
                  <c:v>0.06542056074766354</c:v>
                </c:pt>
                <c:pt idx="4">
                  <c:v>0.058823529411764705</c:v>
                </c:pt>
                <c:pt idx="5">
                  <c:v>0.04434250764525994</c:v>
                </c:pt>
                <c:pt idx="6">
                  <c:v>0.057863501483679525</c:v>
                </c:pt>
                <c:pt idx="7">
                  <c:v>0.17725258493353027</c:v>
                </c:pt>
                <c:pt idx="8">
                  <c:v>0.1902587519025875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1230967541461923"/>
          <c:min val="0.02120167164367761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8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AUDI RENO</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0.007444168734491315</c:v>
                </c:pt>
                <c:pt idx="1">
                  <c:v>0.0030959752321981426</c:v>
                </c:pt>
                <c:pt idx="2">
                  <c:v>0.004796163069544364</c:v>
                </c:pt>
                <c:pt idx="3">
                  <c:v>0</c:v>
                </c:pt>
                <c:pt idx="4">
                  <c:v>0</c:v>
                </c:pt>
                <c:pt idx="5">
                  <c:v>0</c:v>
                </c:pt>
                <c:pt idx="6">
                  <c:v>0</c:v>
                </c:pt>
                <c:pt idx="7">
                  <c:v>0.05952380952380952</c:v>
                </c:pt>
                <c:pt idx="8">
                  <c:v>0.10632183908045977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2227011494252873"/>
          <c:min val="-0.01594827586206896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8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KIA ST GEORGE</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0.03333333333333333</c:v>
                </c:pt>
                <c:pt idx="1">
                  <c:v>0.044226044226044224</c:v>
                </c:pt>
                <c:pt idx="2">
                  <c:v>0.0397196261682243</c:v>
                </c:pt>
                <c:pt idx="3">
                  <c:v>0.0684931506849315</c:v>
                </c:pt>
                <c:pt idx="4">
                  <c:v>0.05200945626477541</c:v>
                </c:pt>
                <c:pt idx="5">
                  <c:v>0.05555555555555555</c:v>
                </c:pt>
                <c:pt idx="6">
                  <c:v>0.06720977596741344</c:v>
                </c:pt>
                <c:pt idx="7">
                  <c:v>0.083710407239819</c:v>
                </c:pt>
                <c:pt idx="8">
                  <c:v>0.08685968819599109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09488864142538975"/>
          <c:min val="0.02530438010393466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8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HYUNDAI PRESCOTT</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0.08490566037735849</c:v>
                </c:pt>
                <c:pt idx="1">
                  <c:v>0.0979381443298969</c:v>
                </c:pt>
                <c:pt idx="2">
                  <c:v>0.06787330316742081</c:v>
                </c:pt>
                <c:pt idx="3">
                  <c:v>0.08898305084745763</c:v>
                </c:pt>
                <c:pt idx="4">
                  <c:v>0.0782608695652174</c:v>
                </c:pt>
                <c:pt idx="5">
                  <c:v>0.0992063492063492</c:v>
                </c:pt>
                <c:pt idx="6">
                  <c:v>0.09913793103448276</c:v>
                </c:pt>
                <c:pt idx="7">
                  <c:v>0.09900990099009901</c:v>
                </c:pt>
                <c:pt idx="8">
                  <c:v>0.15151515151515152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640614287673111"/>
          <c:min val="0.055327025915261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8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KIA LV</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0.08198489751887811</c:v>
                </c:pt>
                <c:pt idx="1">
                  <c:v>0.08132147395171538</c:v>
                </c:pt>
                <c:pt idx="2">
                  <c:v>0.07900432900432901</c:v>
                </c:pt>
                <c:pt idx="3">
                  <c:v>0.07203389830508475</c:v>
                </c:pt>
                <c:pt idx="4">
                  <c:v>0.05573770491803279</c:v>
                </c:pt>
                <c:pt idx="5">
                  <c:v>0.06837606837606838</c:v>
                </c:pt>
                <c:pt idx="6">
                  <c:v>0.10104166666666667</c:v>
                </c:pt>
                <c:pt idx="7">
                  <c:v>0.08740068104426787</c:v>
                </c:pt>
                <c:pt idx="8">
                  <c:v>0.119906868451688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295322429817363"/>
          <c:min val="0.04611233038798450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9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LR HENDERSON</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0.09815950920245399</c:v>
                </c:pt>
                <c:pt idx="1">
                  <c:v>0.13496932515337423</c:v>
                </c:pt>
                <c:pt idx="2">
                  <c:v>0.16770186335403728</c:v>
                </c:pt>
                <c:pt idx="3">
                  <c:v>0.12857142857142856</c:v>
                </c:pt>
                <c:pt idx="4">
                  <c:v>0.13333333333333333</c:v>
                </c:pt>
                <c:pt idx="5">
                  <c:v>0.16374269005847952</c:v>
                </c:pt>
                <c:pt idx="6">
                  <c:v>0.13333333333333333</c:v>
                </c:pt>
                <c:pt idx="7">
                  <c:v>0.18333333333333332</c:v>
                </c:pt>
                <c:pt idx="8">
                  <c:v>0.14457831325301204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9610940695296522"/>
          <c:min val="0.0853834355828220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9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GMC PRESCOTT</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0.04180064308681672</c:v>
                </c:pt>
                <c:pt idx="1">
                  <c:v>0.04892966360856269</c:v>
                </c:pt>
                <c:pt idx="2">
                  <c:v>0.04815864022662889</c:v>
                </c:pt>
                <c:pt idx="3">
                  <c:v>0.0872093023255814</c:v>
                </c:pt>
                <c:pt idx="4">
                  <c:v>0.06168831168831169</c:v>
                </c:pt>
                <c:pt idx="5">
                  <c:v>0.07323943661971831</c:v>
                </c:pt>
                <c:pt idx="6">
                  <c:v>0.07297297297297298</c:v>
                </c:pt>
                <c:pt idx="7">
                  <c:v>0.05759162303664921</c:v>
                </c:pt>
                <c:pt idx="8">
                  <c:v>0.05322128851540616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0940206012113961"/>
          <c:min val="0.0349893442010020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9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HONDA FLAGSTAFF</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0.03021978021978022</c:v>
                </c:pt>
                <c:pt idx="1">
                  <c:v>0.021333333333333333</c:v>
                </c:pt>
                <c:pt idx="2">
                  <c:v>0.022123893805309734</c:v>
                </c:pt>
                <c:pt idx="3">
                  <c:v>0.01775147928994083</c:v>
                </c:pt>
                <c:pt idx="4">
                  <c:v>0.032397408207343416</c:v>
                </c:pt>
                <c:pt idx="5">
                  <c:v>0.04259634888438134</c:v>
                </c:pt>
                <c:pt idx="6">
                  <c:v>0.05070993914807302</c:v>
                </c:pt>
                <c:pt idx="7">
                  <c:v>0.028384279475982533</c:v>
                </c:pt>
                <c:pt idx="8">
                  <c:v>0.03764705882352941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05565370812679285"/>
          <c:min val="0.01280771031122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9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LEXUS</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0.06329113924050633</c:v>
                </c:pt>
                <c:pt idx="1">
                  <c:v>0.07948717948717948</c:v>
                </c:pt>
                <c:pt idx="2">
                  <c:v>0.0855397148676171</c:v>
                </c:pt>
                <c:pt idx="3">
                  <c:v>0.08103130755064457</c:v>
                </c:pt>
                <c:pt idx="4">
                  <c:v>0.07216494845360824</c:v>
                </c:pt>
                <c:pt idx="5">
                  <c:v>0.09584086799276673</c:v>
                </c:pt>
                <c:pt idx="6">
                  <c:v>0.10815602836879433</c:v>
                </c:pt>
                <c:pt idx="7">
                  <c:v>0.08665511265164645</c:v>
                </c:pt>
                <c:pt idx="8">
                  <c:v>0.07381370826010544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1488576173803752"/>
          <c:min val="0.0565614058712631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9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CHEVY LV</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0.04338002711251695</c:v>
                </c:pt>
                <c:pt idx="1">
                  <c:v>0.04661654135338346</c:v>
                </c:pt>
                <c:pt idx="2">
                  <c:v>0.05511111111111111</c:v>
                </c:pt>
                <c:pt idx="3">
                  <c:v>0.06651480637813212</c:v>
                </c:pt>
                <c:pt idx="4">
                  <c:v>0.06167608286252354</c:v>
                </c:pt>
                <c:pt idx="5">
                  <c:v>0.0665158371040724</c:v>
                </c:pt>
                <c:pt idx="6">
                  <c:v>0.05312084993359894</c:v>
                </c:pt>
                <c:pt idx="7">
                  <c:v>0.05535553555355536</c:v>
                </c:pt>
                <c:pt idx="8">
                  <c:v>0.07407407407407407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07867818111830764"/>
          <c:min val="0.03877592006828338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9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MAZDA</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0.02249134948096886</c:v>
                </c:pt>
                <c:pt idx="1">
                  <c:v>0.030828516377649325</c:v>
                </c:pt>
                <c:pt idx="2">
                  <c:v>0.023547880690737835</c:v>
                </c:pt>
                <c:pt idx="3">
                  <c:v>0.020249221183800622</c:v>
                </c:pt>
                <c:pt idx="4">
                  <c:v>0.027149321266968326</c:v>
                </c:pt>
                <c:pt idx="5">
                  <c:v>0.012232415902140673</c:v>
                </c:pt>
                <c:pt idx="6">
                  <c:v>0.026706231454005934</c:v>
                </c:pt>
                <c:pt idx="7">
                  <c:v>0.10635155096011817</c:v>
                </c:pt>
                <c:pt idx="8">
                  <c:v>0.1887366818873668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1521232178515073"/>
          <c:min val="-0.0142432239956432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9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HYUNDAI ST GEORGE</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0.03398058252427184</c:v>
                </c:pt>
                <c:pt idx="1">
                  <c:v>0.04335260115606936</c:v>
                </c:pt>
                <c:pt idx="2">
                  <c:v>0.04838709677419355</c:v>
                </c:pt>
                <c:pt idx="3">
                  <c:v>0.04060913705583756</c:v>
                </c:pt>
                <c:pt idx="4">
                  <c:v>0.06134969325153374</c:v>
                </c:pt>
                <c:pt idx="5">
                  <c:v>0.06188118811881188</c:v>
                </c:pt>
                <c:pt idx="6">
                  <c:v>0.0636604774535809</c:v>
                </c:pt>
                <c:pt idx="7">
                  <c:v>0.061046511627906974</c:v>
                </c:pt>
                <c:pt idx="8">
                  <c:v>0.11764705882352941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3019703026841806"/>
          <c:min val="0.0214306110793832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9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HONDA SPOKANE</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c:v>
                </c:pt>
                <c:pt idx="1">
                  <c:v>0.0012048192771084338</c:v>
                </c:pt>
                <c:pt idx="2">
                  <c:v>0.033707865168539325</c:v>
                </c:pt>
                <c:pt idx="3">
                  <c:v>0.028254288597376387</c:v>
                </c:pt>
                <c:pt idx="4">
                  <c:v>0.030784508440913606</c:v>
                </c:pt>
                <c:pt idx="5">
                  <c:v>0.04377431906614786</c:v>
                </c:pt>
                <c:pt idx="6">
                  <c:v>0.04158790170132325</c:v>
                </c:pt>
                <c:pt idx="7">
                  <c:v>0.05141129032258065</c:v>
                </c:pt>
                <c:pt idx="8">
                  <c:v>0.053974484789008834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062070657507360155"/>
          <c:min val="-0.00809617271835132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9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LINCOLN</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0.04912280701754386</c:v>
                </c:pt>
                <c:pt idx="1">
                  <c:v>0.08914728682170543</c:v>
                </c:pt>
                <c:pt idx="2">
                  <c:v>0.06493506493506493</c:v>
                </c:pt>
                <c:pt idx="3">
                  <c:v>0.06498194945848375</c:v>
                </c:pt>
                <c:pt idx="4">
                  <c:v>0.06007067137809187</c:v>
                </c:pt>
                <c:pt idx="5">
                  <c:v>0.1044776119402985</c:v>
                </c:pt>
                <c:pt idx="6">
                  <c:v>0.11987381703470032</c:v>
                </c:pt>
                <c:pt idx="7">
                  <c:v>0.11450381679389313</c:v>
                </c:pt>
                <c:pt idx="8">
                  <c:v>0.06885245901639345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3048646853727378"/>
          <c:min val="0.0385101555149703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9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AUDI RENO</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c:v>
                </c:pt>
                <c:pt idx="1">
                  <c:v>0</c:v>
                </c:pt>
                <c:pt idx="2">
                  <c:v>0</c:v>
                </c:pt>
                <c:pt idx="3">
                  <c:v>0</c:v>
                </c:pt>
                <c:pt idx="4">
                  <c:v>0</c:v>
                </c:pt>
                <c:pt idx="5">
                  <c:v>0</c:v>
                </c:pt>
                <c:pt idx="6">
                  <c:v>0</c:v>
                </c:pt>
                <c:pt idx="7">
                  <c:v>0.023809523809523808</c:v>
                </c:pt>
                <c:pt idx="8">
                  <c:v>0.05459770114942529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06278735632183909"/>
          <c:min val="-0.00818965517241379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10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HYUNDAI PRESCOTT</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0.07075471698113207</c:v>
                </c:pt>
                <c:pt idx="1">
                  <c:v>0.07216494845360824</c:v>
                </c:pt>
                <c:pt idx="2">
                  <c:v>0.049773755656108594</c:v>
                </c:pt>
                <c:pt idx="3">
                  <c:v>0.0635593220338983</c:v>
                </c:pt>
                <c:pt idx="4">
                  <c:v>0.06956521739130435</c:v>
                </c:pt>
                <c:pt idx="5">
                  <c:v>0.07142857142857142</c:v>
                </c:pt>
                <c:pt idx="6">
                  <c:v>0.06465517241379311</c:v>
                </c:pt>
                <c:pt idx="7">
                  <c:v>0.06930693069306931</c:v>
                </c:pt>
                <c:pt idx="8">
                  <c:v>0.12987012987012986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4188458600223305"/>
          <c:min val="0.03775929952400540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10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ACURA</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0.11335012594458438</c:v>
                </c:pt>
                <c:pt idx="1">
                  <c:v>0.07084468664850137</c:v>
                </c:pt>
                <c:pt idx="2">
                  <c:v>0.07990314769975787</c:v>
                </c:pt>
                <c:pt idx="3">
                  <c:v>0.05597964376590331</c:v>
                </c:pt>
                <c:pt idx="4">
                  <c:v>0.11519607843137254</c:v>
                </c:pt>
                <c:pt idx="5">
                  <c:v>0.0988235294117647</c:v>
                </c:pt>
                <c:pt idx="6">
                  <c:v>0.10714285714285714</c:v>
                </c:pt>
                <c:pt idx="7">
                  <c:v>0.0855106888361045</c:v>
                </c:pt>
                <c:pt idx="8">
                  <c:v>0.11278195488721804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2407854363119293"/>
          <c:min val="0.0470971785660829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10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HONDA FLAGSTAFF</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c:v>
                </c:pt>
                <c:pt idx="1">
                  <c:v>0.0026666666666666666</c:v>
                </c:pt>
                <c:pt idx="2">
                  <c:v>0.00663716814159292</c:v>
                </c:pt>
                <c:pt idx="3">
                  <c:v>0</c:v>
                </c:pt>
                <c:pt idx="4">
                  <c:v>0</c:v>
                </c:pt>
                <c:pt idx="5">
                  <c:v>0.010141987829614604</c:v>
                </c:pt>
                <c:pt idx="6">
                  <c:v>0.014198782961460446</c:v>
                </c:pt>
                <c:pt idx="7">
                  <c:v>0.008733624454148471</c:v>
                </c:pt>
                <c:pt idx="8">
                  <c:v>0.021176470588235293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024352941176470588"/>
          <c:min val="-0.00317647058823529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10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KIA ST GEORGE</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0.07142857142857142</c:v>
                </c:pt>
                <c:pt idx="1">
                  <c:v>0.09828009828009827</c:v>
                </c:pt>
                <c:pt idx="2">
                  <c:v>0.07009345794392523</c:v>
                </c:pt>
                <c:pt idx="3">
                  <c:v>0.11187214611872145</c:v>
                </c:pt>
                <c:pt idx="4">
                  <c:v>0.09692671394799054</c:v>
                </c:pt>
                <c:pt idx="5">
                  <c:v>0.08695652173913043</c:v>
                </c:pt>
                <c:pt idx="6">
                  <c:v>0.07128309572301425</c:v>
                </c:pt>
                <c:pt idx="7">
                  <c:v>0.10633484162895927</c:v>
                </c:pt>
                <c:pt idx="8">
                  <c:v>0.0935412026726058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1813894934494089"/>
          <c:min val="0.063826654717705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10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GMC PRESCOTT</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0.022508038585209004</c:v>
                </c:pt>
                <c:pt idx="1">
                  <c:v>0.039755351681957186</c:v>
                </c:pt>
                <c:pt idx="2">
                  <c:v>0.028328611898016998</c:v>
                </c:pt>
                <c:pt idx="3">
                  <c:v>0.05232558139534884</c:v>
                </c:pt>
                <c:pt idx="4">
                  <c:v>0.03571428571428571</c:v>
                </c:pt>
                <c:pt idx="5">
                  <c:v>0.030985915492957747</c:v>
                </c:pt>
                <c:pt idx="6">
                  <c:v>0.05675675675675676</c:v>
                </c:pt>
                <c:pt idx="7">
                  <c:v>0.020942408376963352</c:v>
                </c:pt>
                <c:pt idx="8">
                  <c:v>0.0392156862745098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062128909013725774"/>
          <c:min val="0.01557025611999434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draft for Noah and Tray. Segment order follows the day: scoreboard (gross, profitability), the CP engine (ROs &gt; hours/RO &gt; ELR &gt; $/RO &gt; margin), labor mix, selling the work (opcodes), warranty &amp; internal, productivity. Door-rate slides in the CP Engine include every option (A-E plus the current version) for selection - option letter is the first line of each slide's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Same-store, INEOS excluded (opened 2026). Fixed ops = service + parts; GMC Prescott body shop gross excluded. Trailing 12 months Oct 2025 - Sep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Same-store, INEOS excluded (opened 2026). Fixed ops = service + parts; GMC Prescott body shop gross excluded. Jan-Sep 2026 vs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Same-store, INEOS excluded (opened 2026). Fixed ops = service + parts; GMC Prescott body shop gross excluded. Jan-Sep 2026 vs 2025, best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Same-store, INEOS excluded (opened 2026). Fixed ops = service + parts; GMC Prescott body shop gross excluded. Top five and bottom four stores by variance.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Same-store, INEOS excluded (opened 2026). Fixed ops = service + parts; GMC Prescott body shop gross excluded. Trailing 12 months Oct 2025 - Sep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Same-store, INEOS excluded (opened 2026). Fixed ops = service + parts; GMC Prescott body shop gross excluded. Jan-Sep 2026 vs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Same-store, INEOS excluded (opened 2026). Fixed ops = service + parts; GMC Prescott body shop gross excluded. Jan-Sep 2026 vs 2025, best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Same-store, INEOS excluded (opened 2026). Fixed ops = service + parts; GMC Prescott body shop gross excluded. Trailing 12 months Oct 2025 - Sep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Same-store, INEOS excluded (opened 2026). Fixed ops = service + parts; GMC Prescott body shop gross excluded. Jan-Sep 2026 vs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Same-store, INEOS excluded (opened 2026). Fixed ops = service + parts; GMC Prescott body shop gross excluded. Jan-Sep 2026 vs 2025, best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Jan-Sep. Same-store, INEOS excluded (opened 2026). P&amp;L line Fixed Ops Absorption % = Total Gross Profit - Fixed Ops / Fixed Expenses. GMC Prescott includes its body shop, as on the P&amp;L. YTD from YTD totals, not the mean of months. Store rows reconcile to the group on every input, both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Jan-Sep. Same-store, INEOS excluded (opened 2026). P&amp;L line Fixed Ops Absorption % = Total Gross Profit - Fixed Ops / Fixed Expenses. GMC Prescott includes its body shop, as on the P&amp;L. Jan-Sep 2026 YTD. Green at or above the group, red below. Bars start at 30.0% so differences are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Jan-Sep. Same-store, INEOS excluded (opened 2026). Change in Fixed Ops Absorption %, Jan-Sep 2026 vs 2025, best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Jan-Sep. Same-store, INEOS excluded (opened 2026). Mechanical department profit / mechanical department gross (P&amp;L Detail statement). Body shop is its own department and is not included. YTD from YTD totals, not the mean of months. Store rows reconcile to the group on every input, both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Jan-Sep. Same-store, INEOS excluded (opened 2026). Mechanical department profit / mechanical department gross (P&amp;L Detail statement). Body shop is its own department and is not included. Jan-Sep 2026 YTD. Green at or above the group, red below. Bars start at -45.0% so differences are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Jan-Sep. Same-store, INEOS excluded (opened 2026). Change in Service Net to Gross %, Jan-Sep 2026 vs 2025, best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Jan-Sep. Same-store, INEOS excluded (opened 2026). P&amp;A department profit / P&amp;A department gross (P&amp;L Detail statement). YTD from YTD totals, not the mean of months. Store rows reconcile to the group on every input, both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Jan-Sep. Same-store, INEOS excluded (opened 2026). P&amp;A department profit / P&amp;A department gross (P&amp;L Detail statement). Jan-Sep 2026 YTD. Green at or above the group, red below.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Jan-Sep. Same-store, INEOS excluded (opened 2026). Change in Parts Net to Gross %, Jan-Sep 2026 vs 2025, best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Distinct customer-pay ROs: every RO with a customer-pay line, whether or not labor was charged (governed RO Count). YTD from YTD totals, not the mean of months. Store rows reconcile to the group on every input, both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Change in CP RO count (percent, so store size does not drive the ranking), Jan-Sep 2026 vs 2025, best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Customer-pay sold hours / all customer-pay ROs. YTD from YTD totals, not the mean of months. Store rows reconcile to the group on every input, both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Customer-pay sold hours / all customer-pay ROs. Jan-Sep 2026 YTD. Green at or above own segment average, red below. Segment averages from segment totals. Luxury = Lexus, Lincoln, Cadillac, Volvo, Audi Reno, Audi Henderson, LR Reno, LR LV, LR Henderson; Acura counted as non-luxury.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Change in CP Hours per RO, Jan-Sep 2026 vs 2025, best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Customer-pay labor sale / customer-pay sold hours. YTD from YTD totals, not the mean of months. Store rows reconcile to the group on every input, both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Customer-pay labor sale / customer-pay sold hours. Jan-Sep 2026 YTD. Green at or above own segment average, red below. Segment averages from segment totals. Luxury = Lexus, Lincoln, Cadillac, Volvo, Audi Reno, Audi Henderson, LR Reno, LR LV, LR Henderson; Acura counted as non-luxury.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Change in CP ELR, Jan-Sep 2026 vs 2025, best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OPTION D - door rate by store, split by labor grid, standard rate only. Store door rate sheet (Oct 15 2026); averages weighted by Jul-Sep CP sold hours. Bars start at $100. INEOS on the sheet but excluded (same-store).
AUDI HENDERSON: premium $399.00 (Lambo Non-Grid)
CHEVY GMC BULLHEAD: premium $199.87 (Non-Standard Grid)
CHEVY LV: premium $264.87 (Diesel/Corvette)
GMC PRESCOTT: premium $230.00 (EV)
HONDA FLAGSTAFF: premium $215.00 (EV)
KIA ST GEORGE: premium $195.00 (EV)
SUBARU ST GEORGE: premium $210.00 (EV)
VW HENDERSON: premium $210.00 (EV)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OPTION E - door rate by store with premium rates, split by labor grid. Store door rate sheet (Oct 15 2026); averages weighted by Jul-Sep CP sold hours. Bars start at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CURRENT VERSION - bars and % only. Qlik - Closed Repair Orders. Customer pay, Jan-Sep by close month. Same-store, INEOS excluded (opened 2026). GMC Prescott body shop labor types excluded. CP ELR for JUL-SEP 2026 (last three months, to match current door rates) / store door rate (standard rate from the store door rate sheet; premium, EV and diesel rates not applied). Group = group CP labor sale / hours-weighted door rate. Green at or above 70%, red below. Bars start at 40%. Percentages are truncated, not rounded.
AUDI RENO: ELR $244.12 / door $235.87 = 103.4%
VOLVO: ELR $225.50 / door $249.95 = 90.2%
CHEVY GMC BULLHEAD: ELR $161.80 / door $179.87 = 89.9%
HYUNDAI ST GEORGE: ELR $165.96 / door $184.87 = 89.7%
ACURA: ELR $199.04 / door $224.87 = 88.5%
LR RENO: ELR $238.62 / door $275.00 = 86.7%
HONDA FLAGSTAFF: ELR $159.69 / door $185.00 = 86.3%
HONDA SPOKANE: ELR $147.93 / door $179.00 = 82.6%
LEXUS: ELR $187.42 / door $229.95 = 81.5%
CDJR POST FALLS: ELR $161.93 / door $199.95 = 80.9%
TOYOTA PRESCOTT: ELR $155.78 / door $195.00 = 79.8%
LR HENDERSON: ELR $234.48 / door $294.87 = 79.5%
KIA ST GEORGE: ELR $146.04 / door $185.00 = 78.9%
MAZDA: ELR $165.67 / door $209.87 = 78.9%
VW HENDERSON: ELR $160.84 / door $204.87 = 78.5%
VW ST GEORGE: ELR $141.89 / door $184.87 = 76.7%
AUDI HENDERSON: ELR $266.72 / door $348.87 = 76.4%
LR LV: ELR $233.88 / door $310.00 = 75.4%
SUBARU LV: ELR $162.12 / door $215.37 = 75.2%
NISSAN: ELR $180.14 / door $239.87 = 75.1%
TOYOTA FLAGSTAFF: ELR $142.51 / door $190.00 = 75.0%
SUBARU ST GEORGE: ELR $136.71 / door $185.00 = 73.8%
TOYOTA HENDERSON: ELR $154.55 / door $211.26 = 73.1%
HONDA HENDERSON: ELR $153.45 / door $211.87 = 72.4%
HONDA NORTH: ELR $149.70 / door $211.87 = 70.6%
KIA LV: ELR $150.72 / door $219.87 = 68.5%
LINCOLN: ELR $167.22 / door $244.87 = 68.2%
TOYOTA SPOKANE: ELR $124.92 / door $185.00 = 67.5%
GMC PRESCOTT: ELR $146.92 / door $220.00 = 66.7%
SUBARU PRESCOTT: ELR $139.81 / door $210.00 = 66.5%
CHEVY LV: ELR $146.25 / door $224.87 = 65.0%
HYUNDAI PRESCOTT: ELR $136.12 / door $210.00 = 64.8%
CADILLAC: ELR $175.47 / door $285.00 = 61.5%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OPTION A - ELR and door rate columns. Qlik - Closed Repair Orders. CP ELR Jul-Sep 2026 (last three months, to match current door rates). Door rate = standard rate from the store door rate sheet; premium, EV and diesel rates not applied. Same-store, INEOS excluded; GMC Prescott body shop excluded. Averages weighted by Jul-Sep CP sold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OPTION B - ELR and the ELR needed for 70% of door rate (door x 0.70). Qlik - Closed Repair Orders. CP ELR Jul-Sep 2026 (last three months, to match current door rates). Door rate = standard rate from the store door rate sheet; premium, EV and diesel rates not applied. Same-store, INEOS excluded; GMC Prescott body shop excluded. Averages weighted by Jul-Sep CP sold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OPTION C - split by labor grid. Qlik - Closed Repair Orders. CP ELR Jul-Sep 2026 (last three months, to match current door rates). Door rate = standard rate from the store door rate sheet; premium, EV and diesel rates not applied. Same-store, INEOS excluded; GMC Prescott body shop excluded. Averages weighted by Jul-Sep CP sold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Customer-pay labor sale / all customer-pay ROs (governed Labor Sale/RO). YTD from YTD totals, not the mean of months. Store rows reconcile to the group on every input, both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Customer-pay labor sale / all customer-pay ROs (governed Labor Sale/RO). Jan-Sep 2026 YTD. Green at or above own segment average, red below. Segment averages from segment totals. Luxury = Lexus, Lincoln, Cadillac, Volvo, Audi Reno, Audi Henderson, LR Reno, LR LV, LR Henderson; Acura counted as non-luxury.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Change in CP Labor $ per RO, Jan-Sep 2026 vs 2025, best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Customer-pay parts sale / all customer-pay ROs (governed Parts Sale/RO). YTD from YTD totals, not the mean of months. Store rows reconcile to the group on every input, both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Customer-pay parts sale / all customer-pay ROs (governed Parts Sale/RO). Jan-Sep 2026 YTD. Green at or above own segment average, red below. Segment averages from segment totals. Luxury = Lexus, Lincoln, Cadillac, Volvo, Audi Reno, Audi Henderson, LR Reno, LR LV, LR Henderson; Acura counted as non-luxury.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Change in CP Parts $ per RO, Jan-Sep 2026 vs 2025, best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Customer-pay labor gross / customer-pay labor sale. Roundtable target 78-80%. YTD from YTD totals, not the mean of months. Store rows reconcile to the group on every input, both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Customer-pay labor gross / customer-pay labor sale. Roundtable target 78-80%. Jan-Sep 2026 YTD. Green at or above the group, red below. Bars start at 60.0% so differences are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Change in CP Labor Gross Profit %, Jan-Sep 2026 vs 2025, best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Customer-pay parts gross / customer-pay parts sale on repair orders (counter and wholesale not included). YTD from YTD totals, not the mean of months. Store rows reconcile to the group on every input, both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Customer-pay parts gross / customer-pay parts sale on repair orders (counter and wholesale not included). Jan-Sep 2026 YTD. Green at or above the group, red below. Bars start at 25.0% so differences are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Change in CP Parts Gross Profit %, Jan-Sep 2026 vs 2025, best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Labor sale by pay type, Jan-Sep by close month. Same-store, INEOS excluded. GMC Prescott body shop labor types excluded. Jan-Sep 2026 shares of labor sale; sorted by customer-pay share. Bar labels are percent of labor sale; every value is also listed here.
HONDA SPOKANE: CP 70.3%, W 8.0%, I 21.6%
TOYOTA SPOKANE: CP 65.3%, W 15.5%, I 19.2%
TOYOTA FLAGSTAFF: CP 65.1%, W 11.2%, I 23.7%
HONDA FLAGSTAFF: CP 65.1%, W 11.9%, I 23.0%
LR LV: CP 64.9%, W 25.2%, I 10.0%
VOLVO: CP 62.9%, W 23.1%, I 14.0%
LR RENO: CP 61.5%, W 17.2%, I 21.3%
TOYOTA PRESCOTT: CP 60.5%, W 13.8%, I 25.8%
AUDI RENO: CP 59.7%, W 29.1%, I 11.2%
CDJR POST FALLS: CP 59.5%, W 23.6%, I 16.9%
NISSAN: CP 59.4%, W 17.7%, I 22.9%
SUBARU ST GEORGE: CP 59.0%, W 23.5%, I 17.5%
SUBARU LV: CP 58.0%, W 24.2%, I 17.7%
HONDA NORTH: CP 57.9%, W 13.5%, I 28.6%
TOYOTA HENDERSON: CP 57.3%, W 14.8%, I 27.9%
MAZDA: CP 56.6%, W 12.4%, I 31.0%
HONDA HENDERSON: CP 56.6%, W 10.2%, I 33.3%
VW ST GEORGE: CP 55.8%, W 31.0%, I 13.2%
LR HENDERSON: CP 55.3%, W 20.2%, I 24.5%
LEXUS: CP 54.5%, W 13.1%, I 32.4%
SUBARU PRESCOTT: CP 50.8%, W 19.2%, I 30.0%
ACURA: CP 48.7%, W 15.5%, I 35.8%
GMC PRESCOTT: CP 48.0%, W 23.1%, I 29.0%
VW HENDERSON: CP 47.2%, W 40.1%, I 12.8%
CHEVY LV: CP 47.0%, W 28.1%, I 24.9%
CHEVY GMC BULLHEAD: CP 45.3%, W 14.3%, I 40.4%
LINCOLN: CP 44.6%, W 37.5%, I 17.8%
HYUNDAI ST GEORGE: CP 40.3%, W 34.9%, I 24.8%
KIA ST GEORGE: CP 40.0%, W 38.4%, I 21.7%
KIA LV: CP 39.2%, W 31.5%, I 29.2%
AUDI HENDERSON: CP 34.1%, W 52.2%, I 13.7%
HYUNDAI PRESCOTT: CP 28.5%, W 35.7%, I 35.8%
CADILLAC: CP 27.9%, W 51.3%, I 20.7%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Labor sale by pay type, Jan-Sep by close month. Same-store, INEOS excluded. GMC Prescott body shop labor types excluded. Customer-pay labor sale / total labor sale (customer pay + warranty + internal). YTD from YTD totals, not the mean of months. Store rows reconcile to the group on every input, both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Labor sale by pay type, Jan-Sep by close month. Same-store, INEOS excluded. GMC Prescott body shop labor types excluded. Change in Customer Pay Share of Labor Sale, Jan-Sep 2026 vs 2025, best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Customer-pay labor sale by op code description, Jan-Sep. Same-store, INEOS excluded. GMC Prescott body shop labor types excluded. Maintenance = descriptions naming oil and filter, rotation, brake pads, rotors and brake service, scheduled/interval/mileage service, OEM care plans, alignment, balance, fluid exchanges and flushes, fuel induction, transmission/differential/transfer case/coolant service, spark plugs, filters, wipers, multi-point inspection, timing belt, BG and refresh services, smog/emissions inspection, fluid services, tune-ups, tire promotions (buy 3 get 1), CVT, EGR, 4x4, AWD, intermediate and transmission services, and any coolant replacement or change. Repair = repair, replace, R&amp;R, diagnosis, leak, noise, inoperative, check engine, warning light, struts, shocks, alternator, starter, water pump, reseal, gasket, calibration, overhaul, engine light, drive belt, belt and hose kit. Descriptions that are only a placeholder (exactly MISC, DEFAULT, STANDARD, GENERAL, GENERAL REPAIR, CUSTOMER STATES, GENERAL CONCERN, ADD DESCRIPTION, TELL US MORE and similar) are left unclassified; a placeholder followed by real detail is classified by that detail.
HONDA HENDERSON: M 71.2%, R 24.6%, U 4.2%
TOYOTA PRESCOTT: M 69.4%, R 25.1%, U 5.6%
TOYOTA HENDERSON: M 68.0%, R 24.7%, U 7.4%
LEXUS: M 67.1%, R 22.0%, U 10.9%
HONDA FLAGSTAFF: M 66.4%, R 25.5%, U 8.0%
HONDA NORTH: M 65.9%, R 29.5%, U 4.6%
MAZDA: M 63.9%, R 21.3%, U 14.8%
ACURA: M 62.0%, R 25.6%, U 12.5%
TOYOTA FLAGSTAFF: M 61.6%, R 13.1%, U 25.3%
TOYOTA SPOKANE: M 60.0%, R 26.4%, U 13.5%
KIA LV: M 59.7%, R 31.1%, U 9.2%
SUBARU PRESCOTT: M 59.2%, R 1.5%, U 39.3%
SUBARU ST GEORGE: M 59.0%, R 26.6%, U 14.4%
LR HENDERSON: M 58.8%, R 32.2%, U 9.0%
HYUNDAI ST GEORGE: M 58.3%, R 18.2%, U 23.6%
HYUNDAI PRESCOTT: M 56.8%, R 23.9%, U 19.3%
LR RENO: M 56.8%, R 23.9%, U 19.3%
SUBARU LV: M 55.1%, R 35.4%, U 9.5%
KIA ST GEORGE: M 55.1%, R 29.6%, U 15.3%
HONDA SPOKANE: M 48.6%, R 41.4%, U 10.0%
VOLVO: M 43.9%, R 41.7%, U 14.4%
LR LV: M 43.0%, R 30.0%, U 27.0%
LINCOLN: M 42.8%, R 28.9%, U 28.3%
VW HENDERSON: M 41.0%, R 51.3%, U 7.7%
CHEVY LV: M 40.6%, R 48.3%, U 11.1%
NISSAN: M 40.2%, R 41.9%, U 17.9%
CHEVY GMC BULLHEAD: M 38.4%, R 32.6%, U 29.0%
AUDI HENDERSON: M 35.1%, R 37.8%, U 27.1%
GMC PRESCOTT: M 33.9%, R 2.6%, U 63.5%
CADILLAC: M 32.8%, R 54.6%, U 12.6%
AUDI RENO: M 32.2%, R 29.7%, U 38.1%
VW ST GEORGE: M 27.5%, R 27.4%, U 45.1%
CDJR POST FALLS: M 26.5%, R 21.7%, U 51.8%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Customer-pay labor sale by op code description, Jan-Sep. Same-store, INEOS excluded. GMC Prescott body shop labor types excluded. Share of CP labor sale whose op code description matches neither the maintenance nor the repair rules, Jan-Sep 2026. Lower is better: green at or below the group, red above. Maintenance = descriptions naming oil and filter, rotation, brake pads, rotors and brake service, scheduled/interval/mileage service, OEM care plans, alignment, balance, fluid exchanges and flushes, fuel induction, transmission/differential/transfer case/coolant service, spark plugs, filters, wipers, multi-point inspection, timing belt, BG and refresh services, smog/emissions inspection, fluid services, tune-ups, tire promotions (buy 3 get 1), CVT, EGR, 4x4, AWD, intermediate and transmission services, and any coolant replacement or change. Repair = repair, replace, R&amp;R, diagnosis, leak, noise, inoperative, check engine, warning light, struts, shocks, alternator, starter, water pump, reseal, gasket, calibration, overhaul, engine light, drive belt, belt and hose kit. Descriptions that are only a placeholder (exactly MISC, DEFAULT, STANDARD, GENERAL, GENERAL REPAIR, CUSTOMER STATES, GENERAL CONCERN, ADD DESCRIPTION, TELL US MORE and similar) are left unclassified; a placeholder followed by real detail is classified by that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excluded. ALIGNMENT % = alignment ROs ÷ customer-pay ROs on the op-code report basis. YTD from YTD totals, not the mean of months.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excluded. Jan-Sep 2026 YTD; green at or above the 15% benchmark, red below.
AUDI HENDERSON: 27.5% (2025 21.8%)
LR HENDERSON: 24.4% (2025 19.4%)
HYUNDAI PRESCOTT: 21.8% (2025 15.0%)
HONDA HENDERSON: 21.3% (2025 20.7%)
ACURA: 17.5% (2025 14.2%)
LR LV: 17.4% (2025 11.4%)
MAZDA: 16.7% (2025 10.0%)
HONDA NORTH: 16.2% (2025 15.0%)
HYUNDAI ST GEORGE: 14.8% (2025 5.2%)
SUBARU LV: 14.6% (2025 16.1%)
TOYOTA HENDERSON: 14.5% (2025 15.1%)
CADILLAC: 13.9% (2025 9.7%)
VOLVO: 13.9% (2025 13.5%)
VW HENDERSON: 13.6% (2025 13.5%)
LR RENO: 12.9% (2025 17.7%)
CHEVY LV: 12.9% (2025 13.4%)
SUBARU PRESCOTT: 12.6% (2025 7.1%)
HONDA SPOKANE: 12.5% (2025 10.8%)
TOYOTA PRESCOTT: 12.3% (2025 9.5%)
AUDI RENO: 11.8% (2025 11.7%)
GMC PRESCOTT: 11.7% (2025 5.0%)
LEXUS: 11.4% (2025 8.3%)
CHEVY GMC BULLHEAD: 11.1% (2025 11.2%)
HONDA FLAGSTAFF: 11.1% (2025 5.6%)
SUBARU ST GEORGE: 11.1% (2025 11.9%)
KIA LV: 9.8% (2025 13.3%)
TOYOTA FLAGSTAFF: 9.7% (2025 6.3%)
LINCOLN: 8.4% (2025 2.7%)
KIA ST GEORGE: 8.0% (2025 2.5%)
NISSAN: 7.5% (2025 5.3%)
VW ST GEORGE: 5.6% (2025 3.9%)
TOYOTA SPOKANE: 4.3% (2025 2.6%)
CDJR POST FALLS: 4.2% (2025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excluded. BALANCE % = balance ROs ÷ customer-pay ROs on the op-code report basis. YTD from YTD totals, not the mean of months.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excluded. Jan-Sep 2026 YTD; green at or above the 15% benchmark, red below. CHECK OP-CODE MAPPING - under 0.5%: AUDI HENDERSON, AUDI RENO, LEXUS, TOYOTA SPOKANE, VW ST GEORGE. Near zero in 2025, so year-over-year gain may be mapping: HONDA SPOKANE, SUBARU PRESCOTT.
LR HENDERSON: 27.0% (2025 22.9%)
HONDA HENDERSON: 18.4% (2025 17.7%)
LR LV: 17.0% (2025 3.4%)
LR RENO: 17.0% (2025 16.3%)
SUBARU PRESCOTT: 15.0% (2025 0.1%)
ACURA: 14.1% (2025 10.3%)
HYUNDAI PRESCOTT: 13.5% (2025 8.9%)
MAZDA: 13.2% (2025 6.5%)
HONDA NORTH: 12.0% (2025 11.3%)
VOLVO: 11.7% (2025 10.9%)
TOYOTA HENDERSON: 11.2% (2025 11.7%)
SUBARU LV: 10.2% (2025 11.3%)
CHEVY GMC BULLHEAD: 9.1% (2025 6.5%)
VW HENDERSON: 8.3% (2025 7.0%)
GMC PRESCOTT: 7.8% (2025 2.0%)
KIA ST GEORGE: 7.7% (2025 1.1%)
CHEVY LV: 7.3% (2025 4.2%)
TOYOTA PRESCOTT: 6.2% (2025 3.3%)
CADILLAC: 6.0% (2025 2.6%)
KIA LV: 5.2% (2025 6.6%)
TOYOTA FLAGSTAFF: 4.9% (2025 3.7%)
SUBARU ST GEORGE: 3.7% (2025 5.3%)
HONDA SPOKANE: 2.2% (2025 0.1%)
LINCOLN: 1.7% (2025 0.0%)
HONDA FLAGSTAFF: 1.3% (2025 0.2%)
CDJR POST FALLS: 1.3% (2025 0.2%)
HYUNDAI ST GEORGE: 1.2% (2025 0.4%)
NISSAN: 1.1% (2025 2.6%)
TOYOTA SPOKANE: 0.5% (2025 0.3%)
VW ST GEORGE: 0.4% (2025 0.7%)
AUDI RENO: 0.1% (2025 0.2%)
LEXUS: 0.1% (2025 0.1%)
AUDI HENDERSON: 0.0% (2025 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excluded. BRAKE FLUSH % = brake fluid service ROs ÷ customer-pay ROs on the op-code report basis. YTD from YTD totals, not the mean of months.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excluded. Jan-Sep 2026 YTD; green at or above the 10% benchmark, red below.
LR LV: 20.7% (2025 15.2%)
HONDA HENDERSON: 15.6% (2025 12.9%)
LR HENDERSON: 14.3% (2025 9.0%)
ACURA: 12.7% (2025 8.6%)
HONDA NORTH: 12.1% (2025 13.1%)
VOLVO: 11.9% (2025 12.1%)
NISSAN: 11.6% (2025 3.8%)
SUBARU ST GEORGE: 10.8% (2025 11.0%)
SUBARU PRESCOTT: 10.6% (2025 6.4%)
HONDA SPOKANE: 10.3% (2025 9.8%)
SUBARU LV: 10.1% (2025 9.3%)
TOYOTA HENDERSON: 10.1% (2025 9.7%)
HYUNDAI PRESCOTT: 9.7% (2025 8.1%)
VW HENDERSON: 9.5% (2025 7.8%)
MAZDA: 8.5% (2025 4.6%)
TOYOTA PRESCOTT: 8.4% (2025 6.1%)
LEXUS: 8.4% (2025 4.9%)
KIA LV: 8.3% (2025 7.2%)
TOYOTA FLAGSTAFF: 8.1% (2025 7.3%)
LINCOLN: 7.5% (2025 2.4%)
LR RENO: 7.2% (2025 2.5%)
CHEVY GMC BULLHEAD: 7.1% (2025 3.8%)
TOYOTA SPOKANE: 7.0% (2025 6.8%)
GMC PRESCOTT: 6.1% (2025 4.6%)
KIA ST GEORGE: 6.0% (2025 3.8%)
CHEVY LV: 5.8% (2025 5.3%)
VW ST GEORGE: 5.4% (2025 4.0%)
HYUNDAI ST GEORGE: 4.7% (2025 1.6%)
CADILLAC: 4.7% (2025 4.1%)
CDJR POST FALLS: 4.2% (2025 6.0%)
HONDA FLAGSTAFF: 3.2% (2025 2.4%)
AUDI HENDERSON: 2.5% (2025 1.8%)
AUDI RENO: 1.9% (2025 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excluded. FUEL SERVICE % = fuel service ROs ÷ customer-pay ROs on the op-code report basis. YTD from YTD totals, not the mean of months.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excluded. Jan-Sep 2026 YTD; green at or above the 7.5% benchmark, red below. CHECK OP-CODE MAPPING - under 0.5%: AUDI HENDERSON, VOLVO, VW HENDERSON. Near zero in 2025, so year-over-year gain may be mapping: HONDA SPOKANE, LR LV, LR RENO, SUBARU ST GEORGE.
SUBARU ST GEORGE: 13.8% (2025 0.0%)
HONDA HENDERSON: 12.0% (2025 10.4%)
SUBARU PRESCOTT: 9.8% (2025 5.9%)
ACURA: 9.4% (2025 5.4%)
KIA ST GEORGE: 8.9% (2025 5.6%)
LINCOLN: 8.2% (2025 2.1%)
HONDA NORTH: 7.7% (2025 5.3%)
HYUNDAI PRESCOTT: 7.4% (2025 6.7%)
SUBARU LV: 7.1% (2025 8.2%)
TOYOTA PRESCOTT: 6.5% (2025 5.0%)
TOYOTA HENDERSON: 6.0% (2025 6.1%)
HYUNDAI ST GEORGE: 5.9% (2025 2.4%)
TOYOTA SPOKANE: 5.8% (2025 6.1%)
LR LV: 5.5% (2025 0.2%)
CHEVY LV: 5.3% (2025 4.8%)
MAZDA: 5.2% (2025 1.4%)
CADILLAC: 5.1% (2025 4.4%)
LR RENO: 4.6% (2025 0.0%)
LEXUS: 4.3% (2025 1.9%)
NISSAN: 4.2% (2025 0.8%)
GMC PRESCOTT: 3.6% (2025 3.0%)
HONDA SPOKANE: 3.2% (2025 0.0%)
KIA LV: 3.2% (2025 2.9%)
CDJR POST FALLS: 3.0% (2025 4.0%)
CHEVY GMC BULLHEAD: 2.7% (2025 1.8%)
VW ST GEORGE: 2.7% (2025 2.4%)
LR HENDERSON: 2.6% (2025 2.4%)
TOYOTA FLAGSTAFF: 1.7% (2025 1.7%)
AUDI RENO: 0.8% (2025 0.0%)
HONDA FLAGSTAFF: 0.7% (2025 0.7%)
AUDI HENDERSON: 0.0% (2025 0.0%)
VOLVO: 0.0% (2025 0.0%)
VW HENDERSON: 0.0% (2025 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Jan-Sep by close month. Same-store, INEOS excluded (opened 2026). GMC Prescott body shop labor types excluded. Distinct warranty ROs: every RO with a warranty line. YTD from YTD totals, not the mean of months. Store rows reconcile to the group on every input, both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Jan-Sep by close month. Same-store, INEOS excluded (opened 2026). GMC Prescott body shop labor types excluded. Change in warranty RO count (percent, so store size does not drive the ranking), Jan-Sep 2026 vs 2025, best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Jan-Sep by close month. Same-store, INEOS excluded (opened 2026). GMC Prescott body shop labor types excluded. Warranty labor sale / warranty sold hours. YTD from YTD totals, not the mean of months. Store rows reconcile to the group on every input, both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Jan-Sep by close month. Same-store, INEOS excluded (opened 2026). GMC Prescott body shop labor types excluded. Warranty labor sale / warranty sold hours. Jan-Sep 2026 YTD. Green at or above the group, red below.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Jan-Sep by close month. Same-store, INEOS excluded (opened 2026). GMC Prescott body shop labor types excluded. Change in Warranty ELR, Jan-Sep 2026 vs 2025, best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Jan-Sep by close month. Same-store, INEOS excluded (opened 2026). GMC Prescott body shop labor types excluded. Internal labor sale / internal sold hours. A higher internal rate adds service gross but is a cost to used cars. YTD from YTD totals, not the mean of months. Store rows reconcile to the group on every input, both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Jan-Sep by close month. Same-store, INEOS excluded (opened 2026). GMC Prescott body shop labor types excluded. Internal labor sale / internal sold hours. A higher internal rate adds service gross but is a cost to used cars. Jan-Sep 2026 YTD. Green at or above the group, red below.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Jan-Sep by close month. Same-store, INEOS excluded (opened 2026). GMC Prescott body shop labor types excluded. Change in Internal ELR, Jan-Sep 2026 vs 2025, best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Talking points: Service Manager Roundtable (Nov 15, 2024) and GM meeting decks (Jan and May 2026). Data: Qlik (Profit &amp; Loss, Closed Repair Orders, Productivity), Jan-Sep 2026 vs 2025, same-store, 33 stores, INEOS excluded.PLACE: CP Engine section, before the CP ELR slides (ahead of the door-rate options).</a:t>
            </a:r>
          </a:p>
          <a:p>
            <a:r>
              <a:t>Said: Roundtable slide 15 (Pricing Strategy); Jan/May GM Road to the Sale slide (pricing lines); Jan GM slide 54 (Discounting Discipline); 70% benchmark from the Jan/May door rate slides.</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all CP ROs, Jan-Sep 2026 by close date. Same-store, INEOS excluded (opened 2026). GMC Prescott body shop labor types excluded. Each store: 0.1 x its CP RO count x its own customer-pay labor gross and parts gross per sold hour; a year = Jan-Sep x 12 / 9. Gross, not sale, so it will not match the $4,543,691 labor sale on the Hours per RO slide. Gross/yr = labor gross + parts gross a year. Parts assumes the extra hours carry the store's average customer-pay parts gross per sold hour.Talk track: 0.1 hour is six minutes of sold time on a visit - one more inspection item sold, one tire rotation, one cabin filter. Parts gross assumes the extra hours carry the store's usual parts.</a:t>
            </a:r>
          </a:p>
          <a:p>
            <a:r>
              <a:t>TOYOTA HENDERSON: 53,084 CP ROs, 1.47 hrs/RO; +0.1 = $97,028 gross a month, $1,164,334 a year (labor $868,256, parts $296,078)</a:t>
            </a:r>
          </a:p>
          <a:p>
            <a:r>
              <a:t>HONDA HENDERSON: 22,527 CP ROs, 1.97 hrs/RO; +0.1 = $42,821 gross a month, $513,852 a year (labor $396,326, parts $117,527)</a:t>
            </a:r>
          </a:p>
          <a:p>
            <a:r>
              <a:t>CHEVY LV: 19,520 CP ROs, 2.30 hrs/RO; +0.1 = $34,189 gross a month, $410,273 a year (labor $295,521, parts $114,751)</a:t>
            </a:r>
          </a:p>
          <a:p>
            <a:r>
              <a:t>TOYOTA SPOKANE: 17,376 CP ROs, 1.48 hrs/RO; +0.1 = $28,273 gross a month, $339,280 a year (labor $220,993, parts $118,287)</a:t>
            </a:r>
          </a:p>
          <a:p>
            <a:r>
              <a:t>TOYOTA FLAGSTAFF: 15,141 CP ROs, 1.41 hrs/RO; +0.1 = $25,581 gross a month, $306,971 a year (labor $228,073, parts $78,899)</a:t>
            </a:r>
          </a:p>
          <a:p>
            <a:r>
              <a:t>HONDA NORTH: 15,048 CP ROs, 2.02 hrs/RO; +0.1 = $27,949 gross a month, $335,387 a year (labor $243,757, parts $91,630)</a:t>
            </a:r>
          </a:p>
          <a:p>
            <a:r>
              <a:t>SUBARU LV: 14,250 CP ROs, 1.95 hrs/RO; +0.1 = $28,789 gross a month, $345,471 a year (labor $260,598, parts $84,873)</a:t>
            </a:r>
          </a:p>
          <a:p>
            <a:r>
              <a:t>TOYOTA PRESCOTT: 13,490 CP ROs, 1.38 hrs/RO; +0.1 = $25,680 gross a month, $308,157 a year (labor $224,917, parts $83,240)</a:t>
            </a:r>
          </a:p>
          <a:p>
            <a:r>
              <a:t>HONDA SPOKANE: 8,930 CP ROs, 2.01 hrs/RO; +0.1 = $16,345 gross a month, $196,138 a year (labor $136,735, parts $59,403)</a:t>
            </a:r>
          </a:p>
          <a:p>
            <a:r>
              <a:t>KIA LV: 8,133 CP ROs, 1.57 hrs/RO; +0.1 = $15,446 gross a month, $185,357 a year (labor $128,599, parts $56,758)</a:t>
            </a:r>
          </a:p>
          <a:p>
            <a:r>
              <a:t>NISSAN: 6,973 CP ROs, 2.11 hrs/RO; +0.1 = $14,916 gross a month, $178,988 a year (labor $128,448, parts $50,540)</a:t>
            </a:r>
          </a:p>
          <a:p>
            <a:r>
              <a:t>CHEVY GMC BULLHEAD: 6,309 CP ROs, 1.74 hrs/RO; +0.1 = $12,652 gross a month, $151,825 a year (labor $102,262, parts $49,564)</a:t>
            </a:r>
          </a:p>
          <a:p>
            <a:r>
              <a:t>MAZDA: 5,701 CP ROs, 1.46 hrs/RO; +0.1 = $12,192 gross a month, $146,304 a year (labor $105,012, parts $41,292)</a:t>
            </a:r>
          </a:p>
          <a:p>
            <a:r>
              <a:t>SUBARU ST GEORGE: 5,553 CP ROs, 2.30 hrs/RO; +0.1 = $9,589 gross a month, $115,073 a year (labor $75,721, parts $39,353)</a:t>
            </a:r>
          </a:p>
          <a:p>
            <a:r>
              <a:t>CDJR POST FALLS: 5,358 CP ROs, 2.20 hrs/RO; +0.1 = $10,803 gross a month, $129,631 a year (labor $91,262, parts $38,370)</a:t>
            </a:r>
          </a:p>
          <a:p>
            <a:r>
              <a:t>CADILLAC: 5,344 CP ROs, 2.73 hrs/RO; +0.1 = $11,060 gross a month, $132,722 a year (labor $95,285, parts $37,436)</a:t>
            </a:r>
          </a:p>
          <a:p>
            <a:r>
              <a:t>VW HENDERSON: 5,145 CP ROs, 2.49 hrs/RO; +0.1 = $9,835 gross a month, $118,025 a year (labor $89,434, parts $28,590)</a:t>
            </a:r>
          </a:p>
          <a:p>
            <a:r>
              <a:t>SUBARU PRESCOTT: 5,105 CP ROs, 1.60 hrs/RO; +0.1 = $8,418 gross a month, $101,015 a year (labor $70,208, parts $30,807)</a:t>
            </a:r>
          </a:p>
          <a:p>
            <a:r>
              <a:t>LEXUS: 4,567 CP ROs, 2.08 hrs/RO; +0.1 = $11,202 gross a month, $134,424 a year (labor $99,999, parts $34,425)</a:t>
            </a:r>
          </a:p>
          <a:p>
            <a:r>
              <a:t>HONDA FLAGSTAFF: 4,030 CP ROs, 1.67 hrs/RO; +0.1 = $8,249 gross a month, $98,985 a year (labor $68,101, parts $30,883)</a:t>
            </a:r>
          </a:p>
          <a:p>
            <a:r>
              <a:t>AUDI RENO: 3,917 CP ROs, 2.73 hrs/RO; +0.1 = $11,814 gross a month, $141,770 a year (labor $96,704, parts $45,066)</a:t>
            </a:r>
          </a:p>
          <a:p>
            <a:r>
              <a:t>KIA ST GEORGE: 3,912 CP ROs, 1.29 hrs/RO; +0.1 = $7,424 gross a month, $89,084 a year (labor $58,429, parts $30,655)</a:t>
            </a:r>
          </a:p>
          <a:p>
            <a:r>
              <a:t>AUDI HENDERSON: 3,779 CP ROs, 3.48 hrs/RO; +0.1 = $12,411 gross a month, $148,928 a year (labor $113,075, parts $35,853)</a:t>
            </a:r>
          </a:p>
          <a:p>
            <a:r>
              <a:t>ACURA: 3,671 CP ROs, 1.42 hrs/RO; +0.1 = $10,212 gross a month, $122,550 a year (labor $81,713, parts $40,837)</a:t>
            </a:r>
          </a:p>
          <a:p>
            <a:r>
              <a:t>LR LV: 3,496 CP ROs, 3.99 hrs/RO; +0.1 = $11,125 gross a month, $133,501 a year (labor $91,287, parts $42,215)</a:t>
            </a:r>
          </a:p>
          <a:p>
            <a:r>
              <a:t>VOLVO: 3,402 CP ROs, 2.28 hrs/RO; +0.1 = $10,992 gross a month, $131,908 a year (labor $89,257, parts $42,652)</a:t>
            </a:r>
          </a:p>
          <a:p>
            <a:r>
              <a:t>HYUNDAI ST GEORGE: 3,349 CP ROs, 1.43 hrs/RO; +0.1 = $7,381 gross a month, $88,568 a year (labor $61,607, parts $26,961)</a:t>
            </a:r>
          </a:p>
          <a:p>
            <a:r>
              <a:t>GMC PRESCOTT: 3,107 CP ROs, 1.96 hrs/RO; +0.1 = $5,461 gross a month, $65,535 a year (labor $42,792, parts $22,743)</a:t>
            </a:r>
          </a:p>
          <a:p>
            <a:r>
              <a:t>LINCOLN: 2,630 CP ROs, 2.48 hrs/RO; +0.1 = $5,651 gross a month, $67,817 a year (labor $48,880, parts $18,937)</a:t>
            </a:r>
          </a:p>
          <a:p>
            <a:r>
              <a:t>HYUNDAI PRESCOTT: 2,010 CP ROs, 1.64 hrs/RO; +0.1 = $3,238 gross a month, $38,856 a year (labor $23,679, parts $15,178)</a:t>
            </a:r>
          </a:p>
          <a:p>
            <a:r>
              <a:t>VW ST GEORGE: 1,919 CP ROs, 1.71 hrs/RO; +0.1 = $3,646 gross a month, $43,756 a year (labor $27,475, parts $16,281)</a:t>
            </a:r>
          </a:p>
          <a:p>
            <a:r>
              <a:t>LR HENDERSON: 1,559 CP ROs, 3.99 hrs/RO; +0.1 = $5,068 gross a month, $60,821 a year (labor $40,050, parts $20,772)</a:t>
            </a:r>
          </a:p>
          <a:p>
            <a:r>
              <a:t>LR RENO: 1,421 CP ROs, 3.48 hrs/RO; +0.1 = $4,771 gross a month, $57,255 a year (labor $37,516, parts $19,739)</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by close date. Same-store, 33 stores (INEOS excluded, opened 2026). GMC Prescott body shop labor types excluded. CP gross = CP labor gross + CP parts gross. Change is Jul-Sep 2026 (Q3) vs Jan-Mar 2026 (Q1), each store against itself. Gross and ROs are per-month averages of each quarter. The group's own Q1-to-Q3 change is the seasonal baseline: it is the same for every store, so ranking by a store's change is the same as ranking by how far it beat the group. 'Stepped up in' = the month that best splits the store's year into a lower stretch before and a higher stretch after (at least three months before, two after). It is a conversation starter, not proof of cause.</a:t>
            </a:r>
          </a:p>
          <a:p/>
          <a:p>
            <a:r>
              <a:t>Review note: the month line is the store's own monthly cp hours per ro, so a step up shows as the line moving to a higher level and staying there. Volume measures (gross, ROs) still carry some store-specific seasonality (snowbird markets) the group baseline cannot fully remove; the rate measures are the cleanest read.</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Definitions match the data slides: Qlik - Closed Repair Orders (all customer-pay ROs, by close month), Profit &amp; Loss and Productivity apps, Jan-Sep 2026 vs 2025, same-store, 33 stores. Worked example: Service Manager Roundtable, Nov 15, 2024, slide 21.PLACE: CP Engine, in front of CP Hours per RO.</a:t>
            </a:r>
          </a:p>
          <a:p>
            <a:r>
              <a:t>$4,543,691 = 0.1 x 279,756 CP ROs x $162.42 CP ELR (on the Hours per RO data slide).</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Jan-Sep by close date. Same-store, INEOS excluded (opened 2026). GMC Prescott body shop labor types excluded. Change in customer-pay hours sold (percent, so store size does not drive the ranking), Jan-Sep 2026 vs 2025, best first.</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Jan-Sep by close date. Same-store, INEOS excluded (opened 2026). GMC Prescott body shop labor types excluded. Total customer-pay labor hours sold, all CP ROs. YTD from YTD totals, not the mean of months. Store rows reconcile to the group on every input, both years.</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Jan-Sep by close date. Same-store, INEOS excluded (opened 2026). GMC Prescott body shop labor types excluded. Per RO = the store's customer-pay labor gross + parts gross / its CP RO count, Jan-Sep 2026. Days open a year: 307 for every store (open 6 days a week, 2026 calendar, less the 6 service holidays: New Year's, Memorial Day, Independence Day, Labor Day, Thanksgiving, Christmas). ROs/day = Jan-Sep 2026 CP ROs at a yearly pace / days open. Assumes the added RO is an average one.Talk track: one more customer a day - one more answered call, one appointment kept, one 'close to losing' customer brought back. Retention, phones and the scheduler are the levers.</a:t>
            </a:r>
          </a:p>
          <a:p>
            <a:r>
              <a:t>LR HENDERSON: $1,168 gross per RO x 307 days open a year = $358,484; 6.8 CP ROs a day today</a:t>
            </a:r>
          </a:p>
          <a:p>
            <a:r>
              <a:t>LR LV: $1,142 gross per RO x 307 days open a year = $350,585; 15.2 CP ROs a day today</a:t>
            </a:r>
          </a:p>
          <a:p>
            <a:r>
              <a:t>LR RENO: $1,052 gross per RO x 307 days open a year = $323,117; 6.2 CP ROs a day today</a:t>
            </a:r>
          </a:p>
          <a:p>
            <a:r>
              <a:t>AUDI HENDERSON: $1,030 gross per RO x 307 days open a year = $316,136; 16.4 CP ROs a day today</a:t>
            </a:r>
          </a:p>
          <a:p>
            <a:r>
              <a:t>AUDI RENO: $740 gross per RO x 307 days open a year = $227,297; 17.0 CP ROs a day today</a:t>
            </a:r>
          </a:p>
          <a:p>
            <a:r>
              <a:t>VOLVO: $662 gross per RO x 307 days open a year = $203,362; 14.8 CP ROs a day today</a:t>
            </a:r>
          </a:p>
          <a:p>
            <a:r>
              <a:t>CADILLAC: $509 gross per RO x 307 days open a year = $156,140; 23.2 CP ROs a day today</a:t>
            </a:r>
          </a:p>
          <a:p>
            <a:r>
              <a:t>LINCOLN: $480 gross per RO x 307 days open a year = $147,507; 11.4 CP ROs a day today</a:t>
            </a:r>
          </a:p>
          <a:p>
            <a:r>
              <a:t>LEXUS: $460 gross per RO x 307 days open a year = $141,182; 19.8 CP ROs a day today</a:t>
            </a:r>
          </a:p>
          <a:p>
            <a:r>
              <a:t>VW HENDERSON: $429 gross per RO x 307 days open a year = $131,560; 22.3 CP ROs a day today</a:t>
            </a:r>
          </a:p>
          <a:p>
            <a:r>
              <a:t>NISSAN: $406 gross per RO x 307 days open a year = $124,728; 30.3 CP ROs a day today</a:t>
            </a:r>
          </a:p>
          <a:p>
            <a:r>
              <a:t>CDJR POST FALLS: $399 gross per RO x 307 days open a year = $122,626; 23.3 CP ROs a day today</a:t>
            </a:r>
          </a:p>
          <a:p>
            <a:r>
              <a:t>CHEVY LV: $362 gross per RO x 307 days open a year = $111,273; 84.8 CP ROs a day today</a:t>
            </a:r>
          </a:p>
          <a:p>
            <a:r>
              <a:t>SUBARU ST GEORGE: $357 gross per RO x 307 days open a year = $109,693; 24.1 CP ROs a day today</a:t>
            </a:r>
          </a:p>
          <a:p>
            <a:r>
              <a:t>ACURA: $356 gross per RO x 307 days open a year = $109,151; 15.9 CP ROs a day today</a:t>
            </a:r>
          </a:p>
          <a:p>
            <a:r>
              <a:t>SUBARU LV: $354 gross per RO x 307 days open a year = $108,687; 61.9 CP ROs a day today</a:t>
            </a:r>
          </a:p>
          <a:p>
            <a:r>
              <a:t>HONDA NORTH: $338 gross per RO x 307 days open a year = $103,675; 65.4 CP ROs a day today</a:t>
            </a:r>
          </a:p>
          <a:p>
            <a:r>
              <a:t>HONDA HENDERSON: $337 gross per RO x 307 days open a year = $103,382; 97.8 CP ROs a day today</a:t>
            </a:r>
          </a:p>
          <a:p>
            <a:r>
              <a:t>HONDA SPOKANE: $331 gross per RO x 307 days open a year = $101,516; 38.8 CP ROs a day today</a:t>
            </a:r>
          </a:p>
          <a:p>
            <a:r>
              <a:t>CHEVY GMC BULLHEAD: $314 gross per RO x 307 days open a year = $96,545; 27.4 CP ROs a day today</a:t>
            </a:r>
          </a:p>
          <a:p>
            <a:r>
              <a:t>GMC PRESCOTT: $310 gross per RO x 307 days open a year = $95,050; 13.5 CP ROs a day today</a:t>
            </a:r>
          </a:p>
          <a:p>
            <a:r>
              <a:t>HONDA FLAGSTAFF: $307 gross per RO x 307 days open a year = $94,176; 17.5 CP ROs a day today</a:t>
            </a:r>
          </a:p>
          <a:p>
            <a:r>
              <a:t>VW ST GEORGE: $292 gross per RO x 307 days open a year = $89,636; 8.3 CP ROs a day today</a:t>
            </a:r>
          </a:p>
          <a:p>
            <a:r>
              <a:t>HYUNDAI ST GEORGE: $283 gross per RO x 307 days open a year = $86,985; 14.5 CP ROs a day today</a:t>
            </a:r>
          </a:p>
          <a:p>
            <a:r>
              <a:t>MAZDA: $280 gross per RO x 307 days open a year = $86,010; 24.8 CP ROs a day today</a:t>
            </a:r>
          </a:p>
          <a:p>
            <a:r>
              <a:t>KIA LV: $268 gross per RO x 307 days open a year = $82,314; 35.3 CP ROs a day today</a:t>
            </a:r>
          </a:p>
          <a:p>
            <a:r>
              <a:t>TOYOTA HENDERSON: $242 gross per RO x 307 days open a year = $74,324; 230.5 CP ROs a day today</a:t>
            </a:r>
          </a:p>
          <a:p>
            <a:r>
              <a:t>HYUNDAI PRESCOTT: $237 gross per RO x 307 days open a year = $72,795; 8.7 CP ROs a day today</a:t>
            </a:r>
          </a:p>
          <a:p>
            <a:r>
              <a:t>SUBARU PRESCOTT: $237 gross per RO x 307 days open a year = $72,776; 22.2 CP ROs a day today</a:t>
            </a:r>
          </a:p>
          <a:p>
            <a:r>
              <a:t>TOYOTA PRESCOTT: $237 gross per RO x 307 days open a year = $72,743; 58.6 CP ROs a day today</a:t>
            </a:r>
          </a:p>
          <a:p>
            <a:r>
              <a:t>KIA ST GEORGE: $220 gross per RO x 307 days open a year = $67,614; 17.0 CP ROs a day today</a:t>
            </a:r>
          </a:p>
          <a:p>
            <a:r>
              <a:t>TOYOTA SPOKANE: $217 gross per RO x 307 days open a year = $66,622; 75.5 CP ROs a day today</a:t>
            </a:r>
          </a:p>
          <a:p>
            <a:r>
              <a:t>TOYOTA FLAGSTAFF: $214 gross per RO x 307 days open a year = $65,596; 65.8 CP ROs a day today</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by close date. Same-store, 33 stores (INEOS excluded, opened 2026). GMC Prescott body shop labor types excluded. CP gross = CP labor gross + CP parts gross. Change is Jul-Sep 2026 (Q3) vs Jan-Mar 2026 (Q1), each store against itself. Gross and ROs are per-month averages of each quarter. The group's own Q1-to-Q3 change is the seasonal baseline: it is the same for every store, so ranking by a store's change is the same as ranking by how far it beat the group. 'Stepped up in' = the month that best splits the store's year into a lower stretch before and a higher stretch after (at least three months before, two after). It is a conversation starter, not proof of cause.</a:t>
            </a:r>
          </a:p>
          <a:p/>
          <a:p>
            <a:r>
              <a:t>Review note: the month line is the store's own monthly cp ros per month, so a step up shows as the line moving to a higher level and staying there. Volume measures (gross, ROs) still carry some store-specific seasonality (snowbird markets) the group baseline cannot fully remove; the rate measures are the cleanest read.</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Definitions match the data slides: Qlik - Closed Repair Orders (all customer-pay ROs, by close month), Profit &amp; Loss and Productivity apps, Jan-Sep 2026 vs 2025, same-store, 33 stores. Worked example: Service Manager Roundtable, Nov 15, 2024, slide 21.PLACE: CP Engine, in front of CP RO Count.</a:t>
            </a:r>
          </a:p>
          <a:p>
            <a:r>
              <a:t>Definition is the data slides' own: distinct ROs with a customer-pay line, by close month. This includes the roughly 0.9% of CP ROs with no labor charged (parts-only sales such as additives, wipers and batteries, and blank CP lines); Qlik's hasLabor flag is set on every line, so it does not filter them, and the count is kept that way to match the numbers stores are used to. GMC Prescott body-shop-only ROs excluded.</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Talking points: Service Manager Roundtable (Nov 15, 2024) and GM meeting decks (Jan and May 2026). Data: Qlik (Profit &amp; Loss, Closed Repair Orders, Productivity), Jan-Sep 2026 vs 2025, same-store, 33 stores, INEOS excluded.PLACE: CP Engine section, after the CP RO Count slides and before Hours per RO.</a:t>
            </a:r>
          </a:p>
          <a:p>
            <a:r>
              <a:t>Said: Jan/May GM slides on Appointment Scheduling, Appointment Discipline, Phone Call Handling and Retention Management (Jan 2, 7, 9, 11; May 2, 4, 8, 9).</a:t>
            </a:r>
          </a:p>
          <a:p>
            <a:r>
              <a:t>Optional: the Flai voice AI service view (Jul 16-Aug 15 pull: 4,368 of 8,351 transfers rang out) fits here, but it is a different source and period; refresh it before use and keep it off any slide with a P&amp;L number.</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Talking points: Service Manager Roundtable (Nov 15, 2024) and GM meeting decks (Jan and May 2026). Data: Qlik (Profit &amp; Loss, Closed Repair Orders, Productivity), Jan-Sep 2026 vs 2025, same-store, 33 stores, INEOS excluded.PLACE: CP Engine section, after the section break and before CP RO Count.</a:t>
            </a:r>
          </a:p>
          <a:p>
            <a:r>
              <a:t>Said: Roundtable slides 18-19 (KPIs; CP Labor $ per RO).</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Definitions match the data slides: Qlik - Closed Repair Orders (all customer-pay ROs, by close month), Profit &amp; Loss and Productivity apps, Jan-Sep 2026 vs 2025, same-store, 33 stores. Worked example: Service Manager Roundtable, Nov 15, 2024, slide 21.PLACE: Profitability, in front of Service Net to Gross %.</a:t>
            </a:r>
          </a:p>
          <a:p>
            <a:r>
              <a:t>P&amp;L Detail statement: DEPARTMENT PROFIT OR LOSS / GROSS PROFIT / INCOME, Mechanical Dept (service) and P&amp;A Dept (parts).</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Definitions match the data slides: Qlik - Closed Repair Orders (all customer-pay ROs, by close month), Profit &amp; Loss and Productivity apps, Jan-Sep 2026 vs 2025, same-store, 33 stores. Worked example: Service Manager Roundtable, Nov 15, 2024, slide 21.PLACE: Profitability, in front of Fixed Ops Absorption %.</a:t>
            </a:r>
          </a:p>
          <a:p>
            <a:r>
              <a:t>P&amp;L definition: line 254 Total Gross Profit - Fixed Ops / line 258 Fixed Expenses (the stored line 257 returns a dollar value, so the slide derives it). GMC Prescott includes its body shop, as on the P&amp;L.</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Talking points: Service Manager Roundtable (Nov 15, 2024) and GM meeting decks (Jan and May 2026). Data: Qlik (Profit &amp; Loss, Closed Repair Orders, Productivity), Jan-Sep 2026 vs 2025, same-store, 33 stores, INEOS excluded.PLACE: Gross section, after the section break and before Total Gross Profit - Fixed Ops.</a:t>
            </a:r>
          </a:p>
          <a:p>
            <a:r>
              <a:t>Said: Roundtable slide 9 ('Service Department?'); Jan GM slide 58 (Sales and Service Relationship).</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Talking points: Service Manager Roundtable (Nov 15, 2024) and GM meeting decks (Jan and May 2026). Data: Qlik (Profit &amp; Loss, Closed Repair Orders, Productivity), Jan-Sep 2026 vs 2025, same-store, 33 stores, INEOS excluded.PLACE: right after the cover, before the Gross section.</a:t>
            </a:r>
          </a:p>
          <a:p>
            <a:r>
              <a:t>Said: Roundtable slides 2, 5, 7, 6 (objective; philosophy &amp; culture; 'you get what you tolerate'; collaboration). Ask adapted from Roundtable slide 24 closing questions.</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Gross and ROs: Qlik - Productivity app (P&amp;L Total Gross Profit - Fixed Ops; CP &amp; W ROs). Headcount: ADP Employee Master extract, 10/19/2026, month-end snapshots, Qlik's fixed-employee title list. Each person counted once: someone open at two stores is counted at the old store until that record closes. Monthly averages, Jan-Sep. Same-store, INEOS excluded (opened 2026). GMC Prescott body shop gross, staff and body-only ROs excluded. Monthly fixed ops gross / fixed employees. YTD from YTD totals, not the mean of months. Store rows reconcile to the group on every input, both years.</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Gross and ROs: Qlik - Productivity app (P&amp;L Total Gross Profit - Fixed Ops; CP &amp; W ROs). Headcount: ADP Employee Master extract, 10/19/2026, month-end snapshots, Qlik's fixed-employee title list. Each person counted once: someone open at two stores is counted at the old store until that record closes. Monthly averages, Jan-Sep. Same-store, INEOS excluded (opened 2026). GMC Prescott body shop gross, staff and body-only ROs excluded. Monthly fixed ops gross / fixed employees. Jan-Sep 2026 YTD. Green at or above the group, red below.</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Gross and ROs: Qlik - Productivity app (P&amp;L Total Gross Profit - Fixed Ops; CP &amp; W ROs). Headcount: ADP Employee Master extract, 10/19/2026, month-end snapshots, Qlik's fixed-employee title list. Each person counted once: someone open at two stores is counted at the old store until that record closes. Monthly averages, Jan-Sep. Same-store, INEOS excluded (opened 2026). GMC Prescott body shop gross, staff and body-only ROs excluded. Change in Fixed Gross per Fixed Employee, Jan-Sep 2026 vs 2025, best first.</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Gross and ROs: Qlik - Productivity app (P&amp;L Total Gross Profit - Fixed Ops; CP &amp; W ROs). Headcount: ADP Employee Master extract, 10/19/2026, month-end snapshots, Qlik's fixed-employee title list. Each person counted once: someone open at two stores is counted at the old store until that record closes. Monthly averages, Jan-Sep. Same-store, INEOS excluded (opened 2026). GMC Prescott body shop gross, staff and body-only ROs excluded. Monthly CP &amp; W ROs / service advisors. YTD from YTD totals, not the mean of months. Store rows reconcile to the group on every input, both years.</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Gross and ROs: Qlik - Productivity app (P&amp;L Total Gross Profit - Fixed Ops; CP &amp; W ROs). Headcount: ADP Employee Master extract, 10/19/2026, month-end snapshots, Qlik's fixed-employee title list. Each person counted once: someone open at two stores is counted at the old store until that record closes. Monthly averages, Jan-Sep. Same-store, INEOS excluded (opened 2026). GMC Prescott body shop gross, staff and body-only ROs excluded. Monthly CP &amp; W ROs / service advisors. Jan-Sep 2026 YTD. Green at or above own segment average, red below. Segment averages from segment totals. Luxury = Lexus, Lincoln, Cadillac, Volvo, Audi Reno, Audi Henderson, LR Reno, LR LV, LR Henderson; Acura counted as non-luxury.</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Gross and ROs: Qlik - Productivity app (P&amp;L Total Gross Profit - Fixed Ops; CP &amp; W ROs). Headcount: ADP Employee Master extract, 10/19/2026, month-end snapshots, Qlik's fixed-employee title list. Each person counted once: someone open at two stores is counted at the old store until that record closes. Monthly averages, Jan-Sep. Same-store, INEOS excluded (opened 2026). GMC Prescott body shop gross, staff and body-only ROs excluded. Change in CP &amp; W ROs per Service Advisor, Jan-Sep 2026 vs 2025, best first.</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Gross and ROs: Qlik - Productivity app (P&amp;L Total Gross Profit - Fixed Ops; CP &amp; W ROs). Headcount: ADP Employee Master extract, 10/19/2026, month-end snapshots, Qlik's fixed-employee title list. Each person counted once: someone open at two stores is counted at the old store until that record closes. Monthly averages, Jan-Sep. Same-store, INEOS excluded (opened 2026). GMC Prescott body shop gross, staff and body-only ROs excluded. Monthly CP &amp; W ROs / fixed employees. YTD from YTD totals, not the mean of months. Store rows reconcile to the group on every input, both years.</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Gross and ROs: Qlik - Productivity app (P&amp;L Total Gross Profit - Fixed Ops; CP &amp; W ROs). Headcount: ADP Employee Master extract, 10/19/2026, month-end snapshots, Qlik's fixed-employee title list. Each person counted once: someone open at two stores is counted at the old store until that record closes. Monthly averages, Jan-Sep. Same-store, INEOS excluded (opened 2026). GMC Prescott body shop gross, staff and body-only ROs excluded. Monthly CP &amp; W ROs / fixed employees. Jan-Sep 2026 YTD. Green at or above own segment average, red below. Segment averages from segment totals. Luxury = Lexus, Lincoln, Cadillac, Volvo, Audi Reno, Audi Henderson, LR Reno, LR LV, LR Henderson; Acura counted as non-luxury.</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Gross and ROs: Qlik - Productivity app (P&amp;L Total Gross Profit - Fixed Ops; CP &amp; W ROs). Headcount: ADP Employee Master extract, 10/19/2026, month-end snapshots, Qlik's fixed-employee title list. Each person counted once: someone open at two stores is counted at the old store until that record closes. Monthly averages, Jan-Sep. Same-store, INEOS excluded (opened 2026). GMC Prescott body shop gross, staff and body-only ROs excluded. Change in CP &amp; W ROs per Fixed Employee, Jan-Sep 2026 vs 2025, best first.</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Gross and ROs: Qlik - Productivity app (P&amp;L Total Gross Profit - Fixed Ops; CP &amp; W ROs). Headcount: ADP Employee Master extract, 10/19/2026, month-end snapshots, Qlik's fixed-employee title list. Each person counted once: someone open at two stores is counted at the old store until that record closes. Monthly averages, Jan-Sep. Same-store, INEOS excluded (opened 2026). GMC Prescott body shop gross, staff and body-only ROs excluded. Monthly CP &amp; W ROs / fixed managers. Small stores carry one to three managers, so one hire moves the ratio sharply. YTD from YTD totals, not the mean of months. Store rows reconcile to the group on every input, both years.</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Gross and ROs: Qlik - Productivity app (P&amp;L Total Gross Profit - Fixed Ops; CP &amp; W ROs). Headcount: ADP Employee Master extract, 10/19/2026, month-end snapshots, Qlik's fixed-employee title list. Each person counted once: someone open at two stores is counted at the old store until that record closes. Monthly averages, Jan-Sep. Same-store, INEOS excluded (opened 2026). GMC Prescott body shop gross, staff and body-only ROs excluded. Monthly CP &amp; W ROs / fixed managers. Small stores carry one to three managers, so one hire moves the ratio sharply. Jan-Sep 2026 YTD. Green at or above own segment average, red below. Segment averages from segment totals. Luxury = Lexus, Lincoln, Cadillac, Volvo, Audi Reno, Audi Henderson, LR Reno, LR LV, LR Henderson; Acura counted as non-luxury.</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Gross and ROs: Qlik - Productivity app (P&amp;L Total Gross Profit - Fixed Ops; CP &amp; W ROs). Headcount: ADP Employee Master extract, 10/19/2026, month-end snapshots, Qlik's fixed-employee title list. Each person counted once: someone open at two stores is counted at the old store until that record closes. Monthly averages, Jan-Sep. Same-store, INEOS excluded (opened 2026). GMC Prescott body shop gross, staff and body-only ROs excluded. Change in CP &amp; W ROs per Fixed Manager, Jan-Sep 2026 vs 2025, best first.</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Gross and ROs: Qlik - Productivity app (P&amp;L Total Gross Profit - Fixed Ops; CP &amp; W ROs). Headcount: ADP Employee Master extract, 10/19/2026, month-end snapshots, Qlik's fixed-employee title list. Each person counted once: someone open at two stores is counted at the old store until that record closes. Monthly averages, Jan-Sep. Same-store, INEOS excluded (opened 2026). GMC Prescott body shop gross, staff and body-only ROs excluded. Fixed employees include managers; technicians = service, express, foreman and team-leader titles.</a:t>
            </a:r>
          </a:p>
          <a:p>
            <a:r>
              <a:t>Jan 25: 1625 fixed, 703 techs, 238 advisors, 117 managers</a:t>
            </a:r>
          </a:p>
          <a:p>
            <a:r>
              <a:t>Feb 25: 1632 fixed, 705 techs, 237 advisors, 116 managers</a:t>
            </a:r>
          </a:p>
          <a:p>
            <a:r>
              <a:t>Mar 25: 1629 fixed, 702 techs, 240 advisors, 116 managers</a:t>
            </a:r>
          </a:p>
          <a:p>
            <a:r>
              <a:t>Apr 25: 1615 fixed, 695 techs, 242 advisors, 111 managers</a:t>
            </a:r>
          </a:p>
          <a:p>
            <a:r>
              <a:t>May 25: 1623 fixed, 699 techs, 250 advisors, 111 managers</a:t>
            </a:r>
          </a:p>
          <a:p>
            <a:r>
              <a:t>Jun 25: 1616 fixed, 695 techs, 247 advisors, 109 managers</a:t>
            </a:r>
          </a:p>
          <a:p>
            <a:r>
              <a:t>Jul 25: 1629 fixed, 705 techs, 247 advisors, 110 managers</a:t>
            </a:r>
          </a:p>
          <a:p>
            <a:r>
              <a:t>Aug 25: 1627 fixed, 701 techs, 251 advisors, 110 managers</a:t>
            </a:r>
          </a:p>
          <a:p>
            <a:r>
              <a:t>Sep 25: 1616 fixed, 701 techs, 248 advisors, 107 managers</a:t>
            </a:r>
          </a:p>
          <a:p>
            <a:r>
              <a:t>Oct 25: 1604 fixed, 688 techs, 249 advisors, 109 managers</a:t>
            </a:r>
          </a:p>
          <a:p>
            <a:r>
              <a:t>Nov 25: 1582 fixed, 685 techs, 247 advisors, 107 managers</a:t>
            </a:r>
          </a:p>
          <a:p>
            <a:r>
              <a:t>Dec 25: 1563 fixed, 674 techs, 249 advisors, 107 managers</a:t>
            </a:r>
          </a:p>
          <a:p>
            <a:r>
              <a:t>Jan 26: 1530 fixed, 657 techs, 248 advisors, 106 managers</a:t>
            </a:r>
          </a:p>
          <a:p>
            <a:r>
              <a:t>Feb 26: 1530 fixed, 670 techs, 245 advisors, 108 managers</a:t>
            </a:r>
          </a:p>
          <a:p>
            <a:r>
              <a:t>Mar 26: 1540 fixed, 669 techs, 252 advisors, 107 managers</a:t>
            </a:r>
          </a:p>
          <a:p>
            <a:r>
              <a:t>Apr 26: 1545 fixed, 687 techs, 250 advisors, 106 managers</a:t>
            </a:r>
          </a:p>
          <a:p>
            <a:r>
              <a:t>May 26: 1537 fixed, 680 techs, 254 advisors, 105 managers</a:t>
            </a:r>
          </a:p>
          <a:p>
            <a:r>
              <a:t>Jun 26: 1546 fixed, 684 techs, 250 advisors, 105 managers</a:t>
            </a:r>
          </a:p>
          <a:p>
            <a:r>
              <a:t>Jul 26: 1548 fixed, 682 techs, 250 advisors, 106 managers</a:t>
            </a:r>
          </a:p>
          <a:p>
            <a:r>
              <a:t>Aug 26: 1549 fixed, 684 techs, 244 advisors, 104 managers</a:t>
            </a:r>
          </a:p>
          <a:p>
            <a:r>
              <a:t>Sep 26: 1540 fixed, 684 techs, 241 advisors, 104 managers</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Gross and ROs: Qlik - Productivity app (P&amp;L Total Gross Profit - Fixed Ops; CP &amp; W ROs). Headcount: ADP Employee Master extract, 10/19/2026, month-end snapshots, Qlik's fixed-employee title list. Each person counted once: someone open at two stores is counted at the old store until that record closes. Monthly averages, Jan-Sep. Same-store, INEOS excluded (opened 2026). GMC Prescott body shop gross, staff and body-only ROs excluded. Change in fixed ops headcount, Sep 2026 vs Sep 2025, most added first. Neutral colour: added staff can be growth or excess.</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Definitions match the data slides: Qlik - Closed Repair Orders (all customer-pay ROs, by close month), Profit &amp; Loss and Productivity apps, Jan-Sep 2026 vs 2025, same-store, 33 stores. Worked example: Service Manager Roundtable, Nov 15, 2024, slide 21.PLACE: CP Engine, in front of CP ELR (and ahead of the door-rate slides).</a:t>
            </a:r>
          </a:p>
          <a:p>
            <a:r>
              <a:t>Example: Roundtable slide 21 table: same $25 tech rate, very different ELR by job; the seven jobs total 8.1 hours and $1,056 = $130/hr.</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by close date. Same-store, 33 stores (INEOS excluded, opened 2026). GMC Prescott body shop labor types excluded. CP gross = CP labor gross + CP parts gross. Change is Jul-Sep 2026 (Q3) vs Jan-Mar 2026 (Q1), each store against itself. Gross and ROs are per-month averages of each quarter. The group's own Q1-to-Q3 change is the seasonal baseline: it is the same for every store, so ranking by a store's change is the same as ranking by how far it beat the group. 'Stepped up in' = the month that best splits the store's year into a lower stretch before and a higher stretch after (at least three months before, two after). It is a conversation starter, not proof of cause.</a:t>
            </a:r>
          </a:p>
          <a:p/>
          <a:p>
            <a:r>
              <a:t>Review note: the month line is the store's own monthly cp elr, so a step up shows as the line moving to a higher level and staying there. Volume measures (gross, ROs) still carry some store-specific seasonality (snowbird markets) the group baseline cannot fully remove; the rate measures are the cleanest read.</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Definitions match the data slides: Qlik - Closed Repair Orders (all customer-pay ROs, by close month), Profit &amp; Loss and Productivity apps, Jan-Sep 2026 vs 2025, same-store, 33 stores. Worked example: Service Manager Roundtable, Nov 15, 2024, slide 21.PLACE: CP Engine, in front of CP Labor $ per RO.</a:t>
            </a:r>
          </a:p>
          <a:p>
            <a:r>
              <a:t>1.87 x $162.42 = $303.73, which rounds to the $304 on the data slide.</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Definitions match the data slides: Qlik - Closed Repair Orders (all customer-pay ROs, by close month), Profit &amp; Loss and Productivity apps, Jan-Sep 2026 vs 2025, same-store, 33 stores. Worked example: Service Manager Roundtable, Nov 15, 2024, slide 21.PLACE: CP Engine, in front of CP Parts $ per RO.</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by close date. Same-store, 33 stores (INEOS excluded, opened 2026). GMC Prescott body shop labor types excluded. CP gross = CP labor gross + CP parts gross. Change is Jul-Sep 2026 (Q3) vs Jan-Mar 2026 (Q1), each store against itself. Gross and ROs are per-month averages of each quarter. The group's own Q1-to-Q3 change is the seasonal baseline: it is the same for every store, so ranking by a store's change is the same as ranking by how far it beat the group. 'Stepped up in' = the month that best splits the store's year into a lower stretch before and a higher stretch after (at least three months before, two after). It is a conversation starter, not proof of cause.</a:t>
            </a:r>
          </a:p>
          <a:p/>
          <a:p>
            <a:r>
              <a:t>Review note: the month line is the store's own monthly cp parts $ per ro, so a step up shows as the line moving to a higher level and staying there. Volume measures (gross, ROs) still carry some store-specific seasonality (snowbird markets) the group baseline cannot fully remove; the rate measures are the cleanest read.</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Talking points: Service Manager Roundtable (Nov 15, 2024) and GM meeting decks (Jan and May 2026). Data: Qlik (Profit &amp; Loss, Closed Repair Orders, Productivity), Jan-Sep 2026 vs 2025, same-store, 33 stores, INEOS excluded.PLACE: CP Engine section, before CP Labor Gross Profit %.</a:t>
            </a:r>
          </a:p>
          <a:p>
            <a:r>
              <a:t>Said: Roundtable slide 21 (Gross Profit %). Above 80% can mean techs are underpaid on the work they do; below 78% means the job mix or the dispatch is off.</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Definitions match the data slides: Qlik - Closed Repair Orders (all customer-pay ROs, by close month), Profit &amp; Loss and Productivity apps, Jan-Sep 2026 vs 2025, same-store, 33 stores. Worked example: Service Manager Roundtable, Nov 15, 2024, slide 21.PLACE: CP Engine, in front of CP Labor Gross Profit %.</a:t>
            </a:r>
          </a:p>
          <a:p>
            <a:r>
              <a:t>Example: Roundtable slide 21, every job at a $25 tech rate; margins differ because each job's ELR differs.</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Definitions match the data slides: Qlik - Closed Repair Orders (all customer-pay ROs, by close month), Profit &amp; Loss and Productivity apps, Jan-Sep 2026 vs 2025, same-store, 33 stores. Worked example: Service Manager Roundtable, Nov 15, 2024, slide 21.PLACE: CP Engine, in front of CP Parts Gross Profit %.</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by close date. Same-store, 33 stores (INEOS excluded, opened 2026). GMC Prescott body shop labor types excluded. CP gross = CP labor gross + CP parts gross. Change is Jul-Sep 2026 (Q3) vs Jan-Mar 2026 (Q1), each store against itself. Gross and ROs are per-month averages of each quarter. The group's own Q1-to-Q3 change is the seasonal baseline: it is the same for every store, so ranking by a store's change is the same as ranking by how far it beat the group. 'Stepped up in' = the month that best splits the store's year into a lower stretch before and a higher stretch after (at least three months before, two after). It is a conversation starter, not proof of cause.</a:t>
            </a:r>
          </a:p>
          <a:p/>
          <a:p>
            <a:r>
              <a:t>Review note: the month line is the store's own monthly cp parts gp %, so a step up shows as the line moving to a higher level and staying there. Volume measures (gross, ROs) still carry some store-specific seasonality (snowbird markets) the group baseline cannot fully remove; the rate measures are the cleanest read.</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by close date. Same-store, 33 stores (INEOS excluded, opened 2026). GMC Prescott body shop labor types excluded. CP gross = CP labor gross + CP parts gross. Change is Jul-Sep 2026 (Q3) vs Jan-Mar 2026 (Q1), each store against itself. Gross and ROs are per-month averages of each quarter. The group's own Q1-to-Q3 change is the seasonal baseline: it is the same for every store, so ranking by a store's change is the same as ranking by how far it beat the group. 'Stepped up in' = the month that best splits the store's year into a lower stretch before and a higher stretch after (at least three months before, two after). It is a conversation starter, not proof of cause.</a:t>
            </a:r>
          </a:p>
          <a:p/>
          <a:p>
            <a:r>
              <a:t>Review note: the month line is the store's own monthly cp gross per month, so a step up shows as the line moving to a higher level and staying there. Volume measures (gross, ROs) still carry some store-specific seasonality (snowbird markets) the group baseline cannot fully remove; the rate measures are the cleanest read.</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Talking points: Service Manager Roundtable (Nov 15, 2024) and GM meeting decks (Jan and May 2026). Data: Qlik (Profit &amp; Loss, Closed Repair Orders, Productivity), Jan-Sep 2026 vs 2025, same-store, 33 stores, INEOS excluded.PLACE: Labor Mix section, after the section break and before the pay type slides.</a:t>
            </a:r>
          </a:p>
          <a:p>
            <a:r>
              <a:t>Said: Jan GM slide 8 / May GM slide 7 (Express Service).</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Talking points: Service Manager Roundtable (Nov 15, 2024) and GM meeting decks (Jan and May 2026). Data: Qlik (Profit &amp; Loss, Closed Repair Orders, Productivity), Jan-Sep 2026 vs 2025, same-store, 33 stores, INEOS excluded.PLACE: Labor Mix section, before the work-type (maintenance / repair / unclassified) slides.</a:t>
            </a:r>
          </a:p>
          <a:p>
            <a:r>
              <a:t>Said: Jan GM slide 19 / May GM slide 15 (Tracking &amp; Accountability); Roundtable slide 16 (Performance Tracking).</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Talking points: Service Manager Roundtable (Nov 15, 2024) and GM meeting decks (Jan and May 2026). Data: Qlik (Profit &amp; Loss, Closed Repair Orders, Productivity), Jan-Sep 2026 vs 2025, same-store, 33 stores, INEOS excluded.PLACE: Opcodes section, after the section break and before Alignment %.</a:t>
            </a:r>
          </a:p>
          <a:p>
            <a:r>
              <a:t>Said: Roundtable slides 11, 12, 14 (Road to the Sale, Maintenance Menus, MPI Mandate); Jan GM slide 15 / May GM slide 11 (Road to the Sale). Fuel service is 5.8% vs 7.5% (4,731 short).</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Definitions match the data slides: Qlik - Closed Repair Orders (all customer-pay ROs, by close month), Profit &amp; Loss and Productivity apps, Jan-Sep 2026 vs 2025, same-store, 33 stores. Worked example: Service Manager Roundtable, Nov 15, 2024, slide 21.PLACE: Opcodes, after the section break, in front of Alignment %.</a:t>
            </a:r>
          </a:p>
          <a:p>
            <a:r>
              <a:t>Denominator: CP ROs on the op code report basis (excluding ROs flagged out of the report).</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by close date. Same-store, 33 stores (INEOS excluded, opened 2026). GMC Prescott body shop labor types excluded. CP gross = CP labor gross + CP parts gross. Change is Jul-Sep 2026 (Q3) vs Jan-Mar 2026 (Q1), each store against itself. Gross and ROs are per-month averages of each quarter. The group's own Q1-to-Q3 change is the seasonal baseline: it is the same for every store, so ranking by a store's change is the same as ranking by how far it beat the group. 'Stepped up in' = the month that best splits the store's year into a lower stretch before and a higher stretch after (at least three months before, two after). It is a conversation starter, not proof of cause. Opcode closing % = ROs with the service ÷ customer-pay ROs on the op-code report basis, same as the Opcode Benchmarks slides.</a:t>
            </a:r>
          </a:p>
          <a:p/>
          <a:p>
            <a:r>
              <a:t>Review note: the month line is the store's own monthly alignment %, so a step up shows as the line moving to a higher level and staying there. Volume measures (gross, ROs) still carry some store-specific seasonality (snowbird markets) the group baseline cannot fully remove; the rate measures are the cleanest read.</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by close date. Same-store, 33 stores (INEOS excluded, opened 2026). GMC Prescott body shop labor types excluded. CP gross = CP labor gross + CP parts gross. Change is Jul-Sep 2026 (Q3) vs Jan-Mar 2026 (Q1), each store against itself. Gross and ROs are per-month averages of each quarter. The group's own Q1-to-Q3 change is the seasonal baseline: it is the same for every store, so ranking by a store's change is the same as ranking by how far it beat the group. 'Stepped up in' = the month that best splits the store's year into a lower stretch before and a higher stretch after (at least three months before, two after). It is a conversation starter, not proof of cause. Opcode closing % = ROs with the service ÷ customer-pay ROs on the op-code report basis, same as the Opcode Benchmarks slides.</a:t>
            </a:r>
          </a:p>
          <a:p/>
          <a:p>
            <a:r>
              <a:t>Review note: the month line is the store's own monthly balance %, so a step up shows as the line moving to a higher level and staying there. Volume measures (gross, ROs) still carry some store-specific seasonality (snowbird markets) the group baseline cannot fully remove; the rate measures are the cleanest read.</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by close date. Same-store, 33 stores (INEOS excluded, opened 2026). GMC Prescott body shop labor types excluded. CP gross = CP labor gross + CP parts gross. Change is Jul-Sep 2026 (Q3) vs Jan-Mar 2026 (Q1), each store against itself. Gross and ROs are per-month averages of each quarter. The group's own Q1-to-Q3 change is the seasonal baseline: it is the same for every store, so ranking by a store's change is the same as ranking by how far it beat the group. 'Stepped up in' = the month that best splits the store's year into a lower stretch before and a higher stretch after (at least three months before, two after). It is a conversation starter, not proof of cause. Opcode closing % = ROs with the service ÷ customer-pay ROs on the op-code report basis, same as the Opcode Benchmarks slides.</a:t>
            </a:r>
          </a:p>
          <a:p/>
          <a:p>
            <a:r>
              <a:t>Review note: the month line is the store's own monthly brake fluid %, so a step up shows as the line moving to a higher level and staying there. Volume measures (gross, ROs) still carry some store-specific seasonality (snowbird markets) the group baseline cannot fully remove; the rate measures are the cleanest read.</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by close date. Same-store, 33 stores (INEOS excluded, opened 2026). GMC Prescott body shop labor types excluded. CP gross = CP labor gross + CP parts gross. Change is Jul-Sep 2026 (Q3) vs Jan-Mar 2026 (Q1), each store against itself. Gross and ROs are per-month averages of each quarter. The group's own Q1-to-Q3 change is the seasonal baseline: it is the same for every store, so ranking by a store's change is the same as ranking by how far it beat the group. 'Stepped up in' = the month that best splits the store's year into a lower stretch before and a higher stretch after (at least three months before, two after). It is a conversation starter, not proof of cause. Opcode closing % = ROs with the service ÷ customer-pay ROs on the op-code report basis, same as the Opcode Benchmarks slides.</a:t>
            </a:r>
          </a:p>
          <a:p/>
          <a:p>
            <a:r>
              <a:t>Review note: the month line is the store's own monthly fuel service %, so a step up shows as the line moving to a higher level and staying there. Volume measures (gross, ROs) still carry some store-specific seasonality (snowbird markets) the group baseline cannot fully remove; the rate measures are the cleanest read.</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Jan-Sep 2026 by close date, op code report basis. Same-store, INEOS excluded (opened 2026). Services short = benchmark x the store's CP ROs, minus the services it sold. Each service valued at the store's own labor + parts gross per service sold (group average where the store sold fewer than 30), capped at twice the group average because some flagged lines carry other work bundled on them. A year = Jan-Sep x 12 / 9. Stores at or above the benchmark are not shown and do not offset anyone. Alignment: group gross per service $129. Rate = Jan-Sep closing %. Services = services short a year.Near-zero stores are included on purpose (Noah, Oct 19 2026): some stores sell little of a service by OEM recommendation or local habit (e.g. Spokane customers swap seasonal tires, so fewer balances), but not every customer fits that pattern, so the opportunity is real. A store with a high RO count can show more opportunity than one selling at zero.</a:t>
            </a:r>
          </a:p>
          <a:p>
            <a:r>
              <a:t>TOYOTA HENDERSON: 14.5%, 326 services short a year x $102/service = $33,148</a:t>
            </a:r>
          </a:p>
          <a:p>
            <a:r>
              <a:t>CHEVY LV: 12.8%, 556 services short a year x $136/service = $75,460</a:t>
            </a:r>
          </a:p>
          <a:p>
            <a:r>
              <a:t>TOYOTA SPOKANE: 4.2%, 2,490 services short a year x $90/service = $225,288</a:t>
            </a:r>
          </a:p>
          <a:p>
            <a:r>
              <a:t>TOYOTA FLAGSTAFF: 9.7%, 1,066 services short a year x $84/service = $89,952</a:t>
            </a:r>
          </a:p>
          <a:p>
            <a:r>
              <a:t>SUBARU LV: 14.5%, 83 services short a year x $117/service = $9,769</a:t>
            </a:r>
          </a:p>
          <a:p>
            <a:r>
              <a:t>TOYOTA PRESCOTT: 12.3%, 478 services short a year x $103/service = $49,384</a:t>
            </a:r>
          </a:p>
          <a:p>
            <a:r>
              <a:t>HONDA SPOKANE: 12.5%, 294 services short a year x $124/service = $36,325</a:t>
            </a:r>
          </a:p>
          <a:p>
            <a:r>
              <a:t>KIA LV: 9.7%, 568 services short a year x $135/service = $76,788</a:t>
            </a:r>
          </a:p>
          <a:p>
            <a:r>
              <a:t>NISSAN: 7.4%, 700 services short a year x $119/service = $83,122</a:t>
            </a:r>
          </a:p>
          <a:p>
            <a:r>
              <a:t>CHEVY GMC BULLHEAD: 11.1%, 324 services short a year x $78/service = $25,354</a:t>
            </a:r>
          </a:p>
          <a:p>
            <a:r>
              <a:t>SUBARU ST GEORGE: 11.0%, 291 services short a year x $78/service = $22,634</a:t>
            </a:r>
          </a:p>
          <a:p>
            <a:r>
              <a:t>CDJR POST FALLS: 4.2%, 770 services short a year x $74/service = $57,157</a:t>
            </a:r>
          </a:p>
          <a:p>
            <a:r>
              <a:t>CADILLAC: 13.8%, 79 services short a year x $115/service = $9,131</a:t>
            </a:r>
          </a:p>
          <a:p>
            <a:r>
              <a:t>VW HENDERSON: 13.6%, 96 services short a year x $245/service = $23,446</a:t>
            </a:r>
          </a:p>
          <a:p>
            <a:r>
              <a:t>SUBARU PRESCOTT: 12.5%, 165 services short a year x $73/service = $12,083</a:t>
            </a:r>
          </a:p>
          <a:p>
            <a:r>
              <a:t>LEXUS: 11.3%, 221 services short a year x $147/service = $32,644</a:t>
            </a:r>
          </a:p>
          <a:p>
            <a:r>
              <a:t>HONDA FLAGSTAFF: 11.0%, 210 services short a year x $100/service = $20,944</a:t>
            </a:r>
          </a:p>
          <a:p>
            <a:r>
              <a:t>KIA ST GEORGE: 8.0%, 365 services short a year x $105/service = $38,212</a:t>
            </a:r>
          </a:p>
          <a:p>
            <a:r>
              <a:t>AUDI RENO: 11.8%, 149 services short a year x $230/service = $34,339</a:t>
            </a:r>
          </a:p>
          <a:p>
            <a:r>
              <a:t>VOLVO: 13.8%, 51 services short a year x $142/service = $7,258</a:t>
            </a:r>
          </a:p>
          <a:p>
            <a:r>
              <a:t>HYUNDAI ST GEORGE: 14.8%, 7 services short a year x $121/service = $865</a:t>
            </a:r>
          </a:p>
          <a:p>
            <a:r>
              <a:t>GMC PRESCOTT: 11.7%, 135 services short a year x $85/service = $11,494</a:t>
            </a:r>
          </a:p>
          <a:p>
            <a:r>
              <a:t>LINCOLN: 8.4%, 230 services short a year x $114/service = $26,302</a:t>
            </a:r>
          </a:p>
          <a:p>
            <a:r>
              <a:t>VW ST GEORGE: 5.6%, 240 services short a year x $74/service = $17,767</a:t>
            </a:r>
          </a:p>
          <a:p>
            <a:r>
              <a:t>LR RENO: 12.8%, 40 services short a year x $259/service = $10,409 (capped; raw $715/service)</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Jan-Sep 2026 by close date, op code report basis. Same-store, INEOS excluded (opened 2026). Services short = benchmark x the store's CP ROs, minus the services it sold. Each service valued at the store's own labor + parts gross per service sold (group average where the store sold fewer than 30), capped at twice the group average because some flagged lines carry other work bundled on them. A year = Jan-Sep x 12 / 9. Stores at or above the benchmark are not shown and do not offset anyone. Tire Balance: group gross per service $75. Rate = Jan-Sep closing %. Services = services short a year.Near-zero stores are included on purpose (Noah, Oct 19 2026): some stores sell little of a service by OEM recommendation or local habit (e.g. Spokane customers swap seasonal tires, so fewer balances), but not every customer fits that pattern, so the opportunity is real. A store with a high RO count can show more opportunity than one selling at zero.</a:t>
            </a:r>
          </a:p>
          <a:p>
            <a:r>
              <a:t>TOYOTA HENDERSON: 11.2%, 2,671 services short a year x $55/service = $147,351</a:t>
            </a:r>
          </a:p>
          <a:p>
            <a:r>
              <a:t>CHEVY LV: 7.3%, 2,001 services short a year x $53/service = $106,293</a:t>
            </a:r>
          </a:p>
          <a:p>
            <a:r>
              <a:t>TOYOTA SPOKANE: 0.4%, 3,361 services short a year x $53/service = $179,701</a:t>
            </a:r>
          </a:p>
          <a:p>
            <a:r>
              <a:t>TOYOTA FLAGSTAFF: 4.9%, 2,031 services short a year x $54/service = $109,054</a:t>
            </a:r>
          </a:p>
          <a:p>
            <a:r>
              <a:t>HONDA NORTH: 12.0%, 600 services short a year x $64/service = $38,266</a:t>
            </a:r>
          </a:p>
          <a:p>
            <a:r>
              <a:t>SUBARU LV: 10.2%, 909 services short a year x $75/service = $67,808</a:t>
            </a:r>
          </a:p>
          <a:p>
            <a:r>
              <a:t>TOYOTA PRESCOTT: 6.1%, 1,590 services short a year x $83/service = $132,315</a:t>
            </a:r>
          </a:p>
          <a:p>
            <a:r>
              <a:t>HONDA SPOKANE: 2.1%, 1,526 services short a year x $52/service = $80,060</a:t>
            </a:r>
          </a:p>
          <a:p>
            <a:r>
              <a:t>KIA LV: 5.2%, 1,059 services short a year x $68/service = $71,767</a:t>
            </a:r>
          </a:p>
          <a:p>
            <a:r>
              <a:t>NISSAN: 1.0%, 1,296 services short a year x $59/service = $76,668</a:t>
            </a:r>
          </a:p>
          <a:p>
            <a:r>
              <a:t>CHEVY GMC BULLHEAD: 9.0%, 496 services short a year x $42/service = $20,863</a:t>
            </a:r>
          </a:p>
          <a:p>
            <a:r>
              <a:t>MAZDA: 13.1%, 138 services short a year x $79/service = $10,870</a:t>
            </a:r>
          </a:p>
          <a:p>
            <a:r>
              <a:t>SUBARU ST GEORGE: 3.6%, 837 services short a year x $149/service = $124,903 (capped; raw $247/service)</a:t>
            </a:r>
          </a:p>
          <a:p>
            <a:r>
              <a:t>CDJR POST FALLS: 1.2%, 981 services short a year x $75/service = $73,291</a:t>
            </a:r>
          </a:p>
          <a:p>
            <a:r>
              <a:t>CADILLAC: 5.9%, 643 services short a year x $22/service = $14,275</a:t>
            </a:r>
          </a:p>
          <a:p>
            <a:r>
              <a:t>VW HENDERSON: 8.2%, 460 services short a year x $60/service = $27,375</a:t>
            </a:r>
          </a:p>
          <a:p>
            <a:r>
              <a:t>SUBARU PRESCOTT: 14.9%, 1 services short a year x $34/service = $34</a:t>
            </a:r>
          </a:p>
          <a:p>
            <a:r>
              <a:t>LEXUS: 0.0%, 909 services short a year x $75/service (group avg) = $67,832</a:t>
            </a:r>
          </a:p>
          <a:p>
            <a:r>
              <a:t>HONDA FLAGSTAFF: 1.3%, 735 services short a year x $70/service = $51,753</a:t>
            </a:r>
          </a:p>
          <a:p>
            <a:r>
              <a:t>KIA ST GEORGE: 7.7%, 380 services short a year x $48/service = $18,369</a:t>
            </a:r>
          </a:p>
          <a:p>
            <a:r>
              <a:t>AUDI HENDERSON: 0.0%, 754 services short a year x $75/service (group avg) = $56,275</a:t>
            </a:r>
          </a:p>
          <a:p>
            <a:r>
              <a:t>ACURA: 14.1%, 44 services short a year x $64/service = $2,765</a:t>
            </a:r>
          </a:p>
          <a:p>
            <a:r>
              <a:t>AUDI RENO: 0.1%, 696 services short a year x $75/service (group avg) = $51,909</a:t>
            </a:r>
          </a:p>
          <a:p>
            <a:r>
              <a:t>VOLVO: 11.7%, 148 services short a year x $51/service = $7,511</a:t>
            </a:r>
          </a:p>
          <a:p>
            <a:r>
              <a:t>HYUNDAI ST GEORGE: 1.2%, 615 services short a year x $58/service = $35,684</a:t>
            </a:r>
          </a:p>
          <a:p>
            <a:r>
              <a:t>GMC PRESCOTT: 7.7%, 300 services short a year x $90/service = $26,856</a:t>
            </a:r>
          </a:p>
          <a:p>
            <a:r>
              <a:t>LINCOLN: 1.6%, 467 services short a year x $66/service = $30,836</a:t>
            </a:r>
          </a:p>
          <a:p>
            <a:r>
              <a:t>HYUNDAI PRESCOTT: 13.5%, 39 services short a year x $149/service = $5,868 (capped; raw $311/service)</a:t>
            </a:r>
          </a:p>
          <a:p>
            <a:r>
              <a:t>VW ST GEORGE: 0.4%, 373 services short a year x $75/service (group avg) = $27,832</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Jan-Sep 2026 by close date, op code report basis. Same-store, INEOS excluded (opened 2026). Services short = benchmark x the store's CP ROs, minus the services it sold. Each service valued at the store's own labor + parts gross per service sold (group average where the store sold fewer than 30), capped at twice the group average because some flagged lines carry other work bundled on them. A year = Jan-Sep x 12 / 9. Stores at or above the benchmark are not shown and do not offset anyone. Brake Fluid: group gross per service $189. Rate = Jan-Sep closing %. Services = services short a year.Near-zero stores are included on purpose (Noah, Oct 19 2026): some stores sell little of a service by OEM recommendation or local habit (e.g. Spokane customers swap seasonal tires, so fewer balances), but not every customer fits that pattern, so the opportunity is real. A store with a high RO count can show more opportunity than one selling at zero.</a:t>
            </a:r>
          </a:p>
          <a:p>
            <a:r>
              <a:t>CHEVY LV: 5.7%, 1,093 services short a year x $138/service = $150,836</a:t>
            </a:r>
          </a:p>
          <a:p>
            <a:r>
              <a:t>TOYOTA SPOKANE: 7.0%, 683 services short a year x $117/service = $79,964</a:t>
            </a:r>
          </a:p>
          <a:p>
            <a:r>
              <a:t>TOYOTA FLAGSTAFF: 8.0%, 389 services short a year x $123/service = $47,769</a:t>
            </a:r>
          </a:p>
          <a:p>
            <a:r>
              <a:t>TOYOTA PRESCOTT: 8.4%, 287 services short a year x $112/service = $32,135</a:t>
            </a:r>
          </a:p>
          <a:p>
            <a:r>
              <a:t>KIA LV: 8.2%, 187 services short a year x $120/service = $22,410</a:t>
            </a:r>
          </a:p>
          <a:p>
            <a:r>
              <a:t>CHEVY GMC BULLHEAD: 7.0%, 245 services short a year x $87/service = $21,314</a:t>
            </a:r>
          </a:p>
          <a:p>
            <a:r>
              <a:t>MAZDA: 8.4%, 115 services short a year x $154/service = $17,686</a:t>
            </a:r>
          </a:p>
          <a:p>
            <a:r>
              <a:t>CDJR POST FALLS: 4.2%, 412 services short a year x $128/service = $52,525</a:t>
            </a:r>
          </a:p>
          <a:p>
            <a:r>
              <a:t>CADILLAC: 4.6%, 379 services short a year x $150/service = $56,716</a:t>
            </a:r>
          </a:p>
          <a:p>
            <a:r>
              <a:t>VW HENDERSON: 9.5%, 33 services short a year x $134/service = $4,382</a:t>
            </a:r>
          </a:p>
          <a:p>
            <a:r>
              <a:t>LEXUS: 8.3%, 98 services short a year x $154/service = $15,116</a:t>
            </a:r>
          </a:p>
          <a:p>
            <a:r>
              <a:t>HONDA FLAGSTAFF: 3.1%, 367 services short a year x $184/service = $67,341</a:t>
            </a:r>
          </a:p>
          <a:p>
            <a:r>
              <a:t>KIA ST GEORGE: 5.9%, 211 services short a year x $119/service = $25,037</a:t>
            </a:r>
          </a:p>
          <a:p>
            <a:r>
              <a:t>AUDI HENDERSON: 2.4%, 380 services short a year x $196/service = $74,435</a:t>
            </a:r>
          </a:p>
          <a:p>
            <a:r>
              <a:t>AUDI RENO: 1.9%, 378 services short a year x $206/service = $77,911</a:t>
            </a:r>
          </a:p>
          <a:p>
            <a:r>
              <a:t>HYUNDAI ST GEORGE: 4.7%, 235 services short a year x $134/service = $31,519</a:t>
            </a:r>
          </a:p>
          <a:p>
            <a:r>
              <a:t>GMC PRESCOTT: 6.0%, 162 services short a year x $127/service = $20,618</a:t>
            </a:r>
          </a:p>
          <a:p>
            <a:r>
              <a:t>LINCOLN: 7.5%, 87 services short a year x $126/service = $10,912</a:t>
            </a:r>
          </a:p>
          <a:p>
            <a:r>
              <a:t>HYUNDAI PRESCOTT: 9.6%, 9 services short a year x $354/service = $3,306</a:t>
            </a:r>
          </a:p>
          <a:p>
            <a:r>
              <a:t>VW ST GEORGE: 5.4%, 117 services short a year x $111/service = $13,049</a:t>
            </a:r>
          </a:p>
          <a:p>
            <a:r>
              <a:t>LR RENO: 7.2%, 52 services short a year x $377/service = $19,677 (capped; raw $1,380/service)</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Jan-Sep 2026 by close date, op code report basis. Same-store, INEOS excluded (opened 2026). Services short = benchmark x the store's CP ROs, minus the services it sold. Each service valued at the store's own labor + parts gross per service sold (group average where the store sold fewer than 30), capped at twice the group average because some flagged lines carry other work bundled on them. A year = Jan-Sep x 12 / 9. Stores at or above the benchmark are not shown and do not offset anyone. Fuel System Service: group gross per service $165. Rate = Jan-Sep closing %. Services = services short a year.Near-zero stores are included on purpose (Noah, Oct 19 2026): some stores sell little of a service by OEM recommendation or local habit (e.g. Spokane customers swap seasonal tires, so fewer balances), but not every customer fits that pattern, so the opportunity is real. A store with a high RO count can show more opportunity than one selling at zero.</a:t>
            </a:r>
          </a:p>
          <a:p>
            <a:r>
              <a:t>TOYOTA HENDERSON: 6.0%, 1,056 services short a year x $122/service = $128,570</a:t>
            </a:r>
          </a:p>
          <a:p>
            <a:r>
              <a:t>CHEVY LV: 5.2%, 585 services short a year x $243/service = $142,290</a:t>
            </a:r>
          </a:p>
          <a:p>
            <a:r>
              <a:t>TOYOTA SPOKANE: 5.8%, 387 services short a year x $145/service = $56,085</a:t>
            </a:r>
          </a:p>
          <a:p>
            <a:r>
              <a:t>TOYOTA FLAGSTAFF: 1.6%, 1,173 services short a year x $93/service = $108,879</a:t>
            </a:r>
          </a:p>
          <a:p>
            <a:r>
              <a:t>SUBARU LV: 7.0%, 78 services short a year x $130/service = $10,205</a:t>
            </a:r>
          </a:p>
          <a:p>
            <a:r>
              <a:t>TOYOTA PRESCOTT: 6.4%, 186 services short a year x $101/service = $18,882</a:t>
            </a:r>
          </a:p>
          <a:p>
            <a:r>
              <a:t>HONDA SPOKANE: 3.2%, 509 services short a year x $147/service = $75,071</a:t>
            </a:r>
          </a:p>
          <a:p>
            <a:r>
              <a:t>KIA LV: 3.2%, 464 services short a year x $163/service = $75,595</a:t>
            </a:r>
          </a:p>
          <a:p>
            <a:r>
              <a:t>NISSAN: 4.1%, 308 services short a year x $206/service = $63,573</a:t>
            </a:r>
          </a:p>
          <a:p>
            <a:r>
              <a:t>CHEVY GMC BULLHEAD: 2.7%, 400 services short a year x $163/service = $65,189</a:t>
            </a:r>
          </a:p>
          <a:p>
            <a:r>
              <a:t>MAZDA: 5.2%, 174 services short a year x $150/service = $26,069</a:t>
            </a:r>
          </a:p>
          <a:p>
            <a:r>
              <a:t>CDJR POST FALLS: 3.0%, 321 services short a year x $192/service = $61,758</a:t>
            </a:r>
          </a:p>
          <a:p>
            <a:r>
              <a:t>CADILLAC: 5.1%, 170 services short a year x $269/service = $45,825</a:t>
            </a:r>
          </a:p>
          <a:p>
            <a:r>
              <a:t>VW HENDERSON: 0.0%, 515 services short a year x $165/service (group avg) = $84,636</a:t>
            </a:r>
          </a:p>
          <a:p>
            <a:r>
              <a:t>LEXUS: 4.2%, 195 services short a year x $128/service = $24,920</a:t>
            </a:r>
          </a:p>
          <a:p>
            <a:r>
              <a:t>HONDA FLAGSTAFF: 0.7%, 364 services short a year x $165/service (group avg) = $59,934</a:t>
            </a:r>
          </a:p>
          <a:p>
            <a:r>
              <a:t>AUDI HENDERSON: 0.0%, 378 services short a year x $165/service (group avg) = $62,165</a:t>
            </a:r>
          </a:p>
          <a:p>
            <a:r>
              <a:t>AUDI RENO: 0.8%, 313 services short a year x $165/service (group avg) = $51,429</a:t>
            </a:r>
          </a:p>
          <a:p>
            <a:r>
              <a:t>LR LV: 5.5%, 92 services short a year x $258/service = $23,832</a:t>
            </a:r>
          </a:p>
          <a:p>
            <a:r>
              <a:t>VOLVO: 0.0%, 340 services short a year x $165/service (group avg) = $55,964</a:t>
            </a:r>
          </a:p>
          <a:p>
            <a:r>
              <a:t>HYUNDAI ST GEORGE: 5.8%, 72 services short a year x $176/service = $12,726</a:t>
            </a:r>
          </a:p>
          <a:p>
            <a:r>
              <a:t>GMC PRESCOTT: 3.6%, 160 services short a year x $133/service = $21,222</a:t>
            </a:r>
          </a:p>
          <a:p>
            <a:r>
              <a:t>HYUNDAI PRESCOTT: 7.3%, 4 services short a year x $329/service = $1,206 (capped; raw $459/service)</a:t>
            </a:r>
          </a:p>
          <a:p>
            <a:r>
              <a:t>VW ST GEORGE: 2.7%, 123 services short a year x $236/service = $28,870</a:t>
            </a:r>
          </a:p>
          <a:p>
            <a:r>
              <a:t>LR HENDERSON: 2.5%, 103 services short a year x $329/service = $33,745 (capped; raw $774/service)</a:t>
            </a:r>
          </a:p>
          <a:p>
            <a:r>
              <a:t>LR RENO: 4.5%, 55 services short a year x $329/service = $18,238 (capped; raw $1,631/service)</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Jan-Sep 2026 by close date, op code report basis. Same-store, INEOS excluded (opened 2026). Services short = benchmark x the store's CP ROs, minus the services it sold. Each service valued at the store's own labor + parts gross per service sold (group average where the store sold fewer than 30), capped at twice the group average because some flagged lines carry other work bundled on them. A year = Jan-Sep x 12 / 9. Stores at or above the benchmark are not shown and do not offset anyone. Alignment, tire balance, brake fluid and fuel system service added together. Below = how many of the four benchmarks the store is under. Services = services short a year.TOYOTA SPOKANE: $541,039 a year, 6,921 services, under 4 of 4</a:t>
            </a:r>
          </a:p>
          <a:p>
            <a:r>
              <a:t>CHEVY LV: $474,880 a year, 4,236 services, under 4 of 4</a:t>
            </a:r>
          </a:p>
          <a:p>
            <a:r>
              <a:t>TOYOTA FLAGSTAFF: $355,653 a year, 4,659 services, under 4 of 4</a:t>
            </a:r>
          </a:p>
          <a:p>
            <a:r>
              <a:t>TOYOTA HENDERSON: $309,068 a year, 4,054 services, under 3 of 4</a:t>
            </a:r>
          </a:p>
          <a:p>
            <a:r>
              <a:t>KIA LV: $246,559 a year, 2,278 services, under 4 of 4</a:t>
            </a:r>
          </a:p>
          <a:p>
            <a:r>
              <a:t>CDJR POST FALLS: $244,731 a year, 2,484 services, under 4 of 4</a:t>
            </a:r>
          </a:p>
          <a:p>
            <a:r>
              <a:t>TOYOTA PRESCOTT: $232,717 a year, 2,541 services, under 4 of 4</a:t>
            </a:r>
          </a:p>
          <a:p>
            <a:r>
              <a:t>NISSAN: $223,362 a year, 2,304 services, under 3 of 4</a:t>
            </a:r>
          </a:p>
          <a:p>
            <a:r>
              <a:t>AUDI RENO: $215,588 a year, 1,536 services, under 4 of 4</a:t>
            </a:r>
          </a:p>
          <a:p>
            <a:r>
              <a:t>HONDA FLAGSTAFF: $199,972 a year, 1,676 services, under 4 of 4</a:t>
            </a:r>
          </a:p>
          <a:p>
            <a:r>
              <a:t>AUDI HENDERSON: $192,876 a year, 1,512 services, under 3 of 4</a:t>
            </a:r>
          </a:p>
          <a:p>
            <a:r>
              <a:t>HONDA SPOKANE: $191,456 a year, 2,329 services, under 3 of 4</a:t>
            </a:r>
          </a:p>
          <a:p>
            <a:r>
              <a:t>SUBARU ST GEORGE: $147,537 a year, 1,128 services, under 2 of 4</a:t>
            </a:r>
          </a:p>
          <a:p>
            <a:r>
              <a:t>LEXUS: $140,511 a year, 1,424 services, under 4 of 4</a:t>
            </a:r>
          </a:p>
          <a:p>
            <a:r>
              <a:t>VW HENDERSON: $139,840 a year, 1,103 services, under 4 of 4</a:t>
            </a:r>
          </a:p>
          <a:p>
            <a:r>
              <a:t>CHEVY GMC BULLHEAD: $132,721 a year, 1,466 services, under 4 of 4</a:t>
            </a:r>
          </a:p>
          <a:p>
            <a:r>
              <a:t>CADILLAC: $125,947 a year, 1,273 services, under 4 of 4</a:t>
            </a:r>
          </a:p>
          <a:p>
            <a:r>
              <a:t>SUBARU LV: $87,782 a year, 1,070 services, under 3 of 4</a:t>
            </a:r>
          </a:p>
          <a:p>
            <a:r>
              <a:t>VW ST GEORGE: $87,518 a year, 853 services, under 4 of 4</a:t>
            </a:r>
          </a:p>
          <a:p>
            <a:r>
              <a:t>KIA ST GEORGE: $81,619 a year, 956 services, under 3 of 4</a:t>
            </a:r>
          </a:p>
          <a:p>
            <a:r>
              <a:t>HYUNDAI ST GEORGE: $80,793 a year, 929 services, under 4 of 4</a:t>
            </a:r>
          </a:p>
          <a:p>
            <a:r>
              <a:t>GMC PRESCOTT: $80,190 a year, 757 services, under 4 of 4</a:t>
            </a:r>
          </a:p>
          <a:p>
            <a:r>
              <a:t>VOLVO: $70,733 a year, 540 services, under 3 of 4</a:t>
            </a:r>
          </a:p>
          <a:p>
            <a:r>
              <a:t>LINCOLN: $68,050 a year, 784 services, under 3 of 4</a:t>
            </a:r>
          </a:p>
          <a:p>
            <a:r>
              <a:t>MAZDA: $54,625 a year, 426 services, under 3 of 4</a:t>
            </a:r>
          </a:p>
          <a:p>
            <a:r>
              <a:t>LR RENO: $48,324 a year, 148 services, under 3 of 4</a:t>
            </a:r>
          </a:p>
          <a:p>
            <a:r>
              <a:t>HONDA NORTH: $38,266 a year, 600 services, under 1 of 4</a:t>
            </a:r>
          </a:p>
          <a:p>
            <a:r>
              <a:t>LR HENDERSON: $33,745 a year, 103 services, under 1 of 4</a:t>
            </a:r>
          </a:p>
          <a:p>
            <a:r>
              <a:t>LR LV: $23,832 a year, 92 services, under 1 of 4</a:t>
            </a:r>
          </a:p>
          <a:p>
            <a:r>
              <a:t>SUBARU PRESCOTT: $12,118 a year, 166 services, under 2 of 4</a:t>
            </a:r>
          </a:p>
          <a:p>
            <a:r>
              <a:t>HYUNDAI PRESCOTT: $10,380 a year, 52 services, under 3 of 4</a:t>
            </a:r>
          </a:p>
          <a:p>
            <a:r>
              <a:t>ACURA: $2,765 a year, 44 services, under 1 of 4</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Jan-Sep 2026 by close date, op code report basis. Same-store, INEOS excluded (opened 2026). Services short = benchmark x the store's CP ROs, minus the services it sold. Each service valued at the store's own labor + parts gross per service sold (group average where the store sold fewer than 30), capped at twice the group average because some flagged lines carry other work bundled on them. A year = Jan-Sep x 12 / 9. Stores at or above the benchmark are not shown and do not offset anyone.Talk track: every one of these cars is already on a customer-pay RO in our drive. The inspection and the menu find the need; the advisor presents it.</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Talking points: Service Manager Roundtable (Nov 15, 2024) and GM meeting decks (Jan and May 2026). Data: Qlik (Profit &amp; Loss, Closed Repair Orders, Productivity), Jan-Sep 2026 vs 2025, same-store, 33 stores, INEOS excluded.PLACE: Warranty &amp; Internal section, after the section break and before Warranty RO Count.</a:t>
            </a:r>
          </a:p>
          <a:p>
            <a:r>
              <a:t>Said: Jan GM slides 13-14 (audit chargebacks; Warranty Compliance). The Jan slide named six stores' chargebacks; kept to the $400,000 total here, in line with no store call-outs from the podium.</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Talking points: Service Manager Roundtable (Nov 15, 2024) and GM meeting decks (Jan and May 2026). Data: Qlik (Profit &amp; Loss, Closed Repair Orders, Productivity), Jan-Sep 2026 vs 2025, same-store, 33 stores, INEOS excluded.PLACE: Productivity section, after the section break and before Fixed Gross per Fixed Employee.</a:t>
            </a:r>
          </a:p>
          <a:p>
            <a:r>
              <a:t>Said: Roundtable slide 6 (People); Jan GM slide 57 (Technician Pipeline).</a:t>
            </a:r>
          </a:p>
          <a:p>
            <a:r>
              <a:t>Numbers rebuilt 2026-10-20 on ADP headcount (Employee Master extract 10/19/2026); the Qlik headcount history undercounted 2025.</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Talking points: Service Manager Roundtable (Nov 15, 2024) and GM meeting decks (Jan and May 2026). Data: Qlik (Profit &amp; Loss, Closed Repair Orders, Productivity), Jan-Sep 2026 vs 2025, same-store, 33 stores, INEOS excluded.PLACE: Productivity section, before CP &amp; W ROs per Service Advisor.</a:t>
            </a:r>
          </a:p>
          <a:p>
            <a:r>
              <a:t>Said: Jan GM slide 16 / May GM slide 12 (Pay Plans aka Work Instructions).</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Gross: Qlik - Productivity app, P&amp;L Total Gross Profit - Fixed Ops. Headcount: ADP Employee Master extract 10/19/2026 (rebuilt 2026-10-20; the Qlik headcount history undercounted). Fixed gross per fixed employee = gross / fixed employees, Jan-Sep 2026 monthly average. Same-store, INEOS excluded (opened 2026). GMC Prescott body shop gross and body shop staff excluded. Each store compared with its own segment average a month: luxury $16,998, non-luxury $12,714 (luxury = Lexus, Lincoln, Cadillac, Volvo, Audi Reno, Audi Henderson, LR Reno, LR LV, LR Henderson). Gross/yr = (segment average - store) x the store's average fixed employees x 12. Stores at or above their segment average are not shown. Per emp = the store's fixed gross per fixed employee a month. Seg avg = its segment's average.Framing: gross the team already in the building could produce, not a headcount target. Luxury stores are measured against luxury, non-luxury against non-luxury. Audi Henderson ($23,686) lifts the luxury average; Lincoln ($11,127) sits below even the non-luxury average.</a:t>
            </a:r>
          </a:p>
          <a:p>
            <a:r>
              <a:t>CADILLAC (luxury): $14,260 per employee a month vs $16,998; 74.8 fixed employees; $2,456,862 a year</a:t>
            </a:r>
          </a:p>
          <a:p>
            <a:r>
              <a:t>LINCOLN (luxury): $10,963 per employee a month vs $16,998; 30.2 fixed employees; $2,188,561 a year</a:t>
            </a:r>
          </a:p>
          <a:p>
            <a:r>
              <a:t>CHEVY GMC BULLHEAD (non-luxury): $10,391 per employee a month vs $12,714; 48.4 fixed employees; $1,350,504 a year</a:t>
            </a:r>
          </a:p>
          <a:p>
            <a:r>
              <a:t>CDJR POST FALLS (non-luxury): $9,953 per employee a month vs $12,714; 39.7 fixed employees; $1,314,435 a year</a:t>
            </a:r>
          </a:p>
          <a:p>
            <a:r>
              <a:t>CHEVY LV (non-luxury): $12,042 per employee a month vs $12,714; 152.7 fixed employees; $1,232,343 a year</a:t>
            </a:r>
          </a:p>
          <a:p>
            <a:r>
              <a:t>TOYOTA SPOKANE (non-luxury): $11,128 per employee a month vs $12,714; 59.2 fixed employees; $1,127,104 a year</a:t>
            </a:r>
          </a:p>
          <a:p>
            <a:r>
              <a:t>TOYOTA FLAGSTAFF (non-luxury): $10,794 per employee a month vs $12,714; 46.0 fixed employees; $1,060,118 a year</a:t>
            </a:r>
          </a:p>
          <a:p>
            <a:r>
              <a:t>GMC PRESCOTT (non-luxury): $9,498 per employee a month vs $12,714; 26.6 fixed employees; $1,024,925 a year</a:t>
            </a:r>
          </a:p>
          <a:p>
            <a:r>
              <a:t>TOYOTA PRESCOTT (non-luxury): $11,044 per employee a month vs $12,714; 51.1 fixed employees; $1,024,357 a year</a:t>
            </a:r>
          </a:p>
          <a:p>
            <a:r>
              <a:t>AUDI RENO (luxury): $14,916 per employee a month vs $16,998; 33.2 fixed employees; $830,073 a year</a:t>
            </a:r>
          </a:p>
          <a:p>
            <a:r>
              <a:t>HONDA FLAGSTAFF (non-luxury): $9,149 per employee a month vs $12,714; 19.3 fixed employees; $827,082 a year</a:t>
            </a:r>
          </a:p>
          <a:p>
            <a:r>
              <a:t>NISSAN (non-luxury): $11,957 per employee a month vs $12,714; 44.4 fixed employees; $403,638 a year</a:t>
            </a:r>
          </a:p>
          <a:p>
            <a:r>
              <a:t>VW HENDERSON (non-luxury): $12,006 per employee a month vs $12,714; 44.3 fixed employees; $376,895 a year</a:t>
            </a:r>
          </a:p>
          <a:p>
            <a:r>
              <a:t>VW ST GEORGE (non-luxury): $9,878 per employee a month vs $12,714; 10.9 fixed employees; $370,634 a year</a:t>
            </a:r>
          </a:p>
          <a:p>
            <a:r>
              <a:t>LR RENO (luxury): $15,226 per employee a month vs $16,998; 16.1 fixed employees; $342,526 a year</a:t>
            </a:r>
          </a:p>
          <a:p>
            <a:r>
              <a:t>HYUNDAI ST GEORGE (non-luxury): $11,541 per employee a month vs $12,714; 22.0 fixed employees; $309,678 a year</a:t>
            </a:r>
          </a:p>
          <a:p>
            <a:r>
              <a:t>HYUNDAI PRESCOTT (non-luxury): $11,631 per employee a month vs $12,714; 14.7 fixed employees; $190,674 a year</a:t>
            </a:r>
          </a:p>
          <a:p>
            <a:r>
              <a:t>KIA ST GEORGE (non-luxury): $12,103 per employee a month vs $12,714; 21.4 fixed employees; $157,193 a year</a:t>
            </a:r>
          </a:p>
          <a:p>
            <a:r>
              <a:t>ACURA (non-luxury): $12,364 per employee a month vs $12,714; 26.0 fixed employees; $109,303 a year</a:t>
            </a:r>
          </a:p>
          <a:p>
            <a:r>
              <a:t>SUBARU PRESCOTT (non-luxury): $12,501 per employee a month vs $12,714; 24.0 fixed employees; $61,379 a year</a:t>
            </a:r>
          </a:p>
          <a:p>
            <a:r>
              <a:t>LEXUS (luxury): $16,919 per employee a month vs $16,998; 27.2 fixed employees; $25,739 a year</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Gross: Qlik - Productivity app, P&amp;L Total Gross Profit - Fixed Ops. Headcount: ADP Employee Master extract 10/19/2026 (rebuilt 2026-10-20; the Qlik headcount history undercounted). Fixed gross per fixed employee = gross / fixed employees, Jan-Sep 2026 monthly average. Same-store, INEOS excluded (opened 2026). GMC Prescott body shop gross and body shop staff excluded. Each store is measured against its own number: Target = today + 5%. Gross/yr = 5% x the store's gross per employee x its average fixed employees x 12 (the same staff producing 5% more). Per working day uses 307 days open a year (6 days a week less the 6 service holidays). Today and Target = fixed gross per fixed employee a month.Framing: every store is measured against itself, so an Audi store does not set a Lincoln store's target. 5% is roughly one more customer-pay RO a day for a small store, or a few tenths of an hour per RO.</a:t>
            </a:r>
          </a:p>
          <a:p>
            <a:r>
              <a:t>TOYOTA HENDERSON: $14,174 today -&gt; $14,883 target per employee a month; 177.1 fixed employees; $1,506,225 a year</a:t>
            </a:r>
          </a:p>
          <a:p>
            <a:r>
              <a:t>CHEVY LV: $12,042 today -&gt; $12,644 target per employee a month; 152.7 fixed employees; $1,103,005 a year</a:t>
            </a:r>
          </a:p>
          <a:p>
            <a:r>
              <a:t>HONDA HENDERSON: $16,061 today -&gt; $16,864 target per employee a month; 99.8 fixed employees; $961,535 a year</a:t>
            </a:r>
          </a:p>
          <a:p>
            <a:r>
              <a:t>AUDI HENDERSON: $23,461 today -&gt; $24,634 target per employee a month; 58.4 fixed employees; $822,684 a year</a:t>
            </a:r>
          </a:p>
          <a:p>
            <a:r>
              <a:t>SUBARU LV: $12,874 today -&gt; $13,518 target per employee a month; 87.0 fixed employees; $672,026 a year</a:t>
            </a:r>
          </a:p>
          <a:p>
            <a:r>
              <a:t>CADILLAC: $14,260 today -&gt; $14,973 target per employee a month; 74.8 fixed employees; $639,799 a year</a:t>
            </a:r>
          </a:p>
          <a:p>
            <a:r>
              <a:t>HONDA NORTH: $14,604 today -&gt; $15,334 target per employee a month; 65.6 fixed employees; $574,425 a year</a:t>
            </a:r>
          </a:p>
          <a:p>
            <a:r>
              <a:t>LR LV: $18,148 today -&gt; $19,056 target per employee a month; 40.4 fixed employees; $440,403 a year</a:t>
            </a:r>
          </a:p>
          <a:p>
            <a:r>
              <a:t>KIA LV: $13,289 today -&gt; $13,954 target per employee a month; 51.4 fixed employees; $410,199 a year</a:t>
            </a:r>
          </a:p>
          <a:p>
            <a:r>
              <a:t>TOYOTA SPOKANE: $11,128 today -&gt; $11,685 target per employee a month; 59.2 fixed employees; $395,423 a year</a:t>
            </a:r>
          </a:p>
          <a:p>
            <a:r>
              <a:t>TOYOTA PRESCOTT: $11,044 today -&gt; $11,596 target per employee a month; 51.1 fixed employees; $338,685 a year</a:t>
            </a:r>
          </a:p>
          <a:p>
            <a:r>
              <a:t>VW HENDERSON: $12,006 today -&gt; $12,606 target per employee a month; 44.3 fixed employees; $319,353 a year</a:t>
            </a:r>
          </a:p>
          <a:p>
            <a:r>
              <a:t>NISSAN: $11,957 today -&gt; $12,555 target per employee a month; 44.4 fixed employees; $318,864 a year</a:t>
            </a:r>
          </a:p>
          <a:p>
            <a:r>
              <a:t>CHEVY GMC BULLHEAD: $10,391 today -&gt; $10,911 target per employee a month; 48.4 fixed employees; $302,035 a year</a:t>
            </a:r>
          </a:p>
          <a:p>
            <a:r>
              <a:t>TOYOTA FLAGSTAFF: $10,794 today -&gt; $11,333 target per employee a month; 46.0 fixed employees; $297,906 a year</a:t>
            </a:r>
          </a:p>
          <a:p>
            <a:r>
              <a:t>AUDI RENO: $14,916 today -&gt; $15,662 target per employee a month; 33.2 fixed employees; $297,322 a year</a:t>
            </a:r>
          </a:p>
          <a:p>
            <a:r>
              <a:t>HONDA SPOKANE: $12,871 today -&gt; $13,514 target per employee a month; 36.1 fixed employees; $278,863 a year</a:t>
            </a:r>
          </a:p>
          <a:p>
            <a:r>
              <a:t>LEXUS: $16,919 today -&gt; $17,765 target per employee a month; 27.2 fixed employees; $276,346 a year</a:t>
            </a:r>
          </a:p>
          <a:p>
            <a:r>
              <a:t>VOLVO: $18,549 today -&gt; $19,476 target per employee a month; 23.4 fixed employees; $260,917 a year</a:t>
            </a:r>
          </a:p>
          <a:p>
            <a:r>
              <a:t>CDJR POST FALLS: $9,953 today -&gt; $10,450 target per employee a month; 39.7 fixed employees; $236,877 a year</a:t>
            </a:r>
          </a:p>
          <a:p>
            <a:r>
              <a:t>SUBARU ST GEORGE: $15,556 today -&gt; $16,333 target per employee a month; 25.1 fixed employees; $234,372 a year</a:t>
            </a:r>
          </a:p>
          <a:p>
            <a:r>
              <a:t>LR HENDERSON: $18,268 today -&gt; $19,182 target per employee a month; 20.8 fixed employees; $227,743 a year</a:t>
            </a:r>
          </a:p>
          <a:p>
            <a:r>
              <a:t>MAZDA: $15,966 today -&gt; $16,765 target per employee a month; 23.0 fixed employees; $220,335 a year</a:t>
            </a:r>
          </a:p>
          <a:p>
            <a:r>
              <a:t>LINCOLN: $10,963 today -&gt; $11,511 target per employee a month; 30.2 fixed employees; $198,802 a year</a:t>
            </a:r>
          </a:p>
          <a:p>
            <a:r>
              <a:t>ACURA: $12,364 today -&gt; $12,982 target per employee a month; 26.0 fixed employees; $192,877 a year</a:t>
            </a:r>
          </a:p>
          <a:p>
            <a:r>
              <a:t>SUBARU PRESCOTT: $12,501 today -&gt; $13,126 target per employee a month; 24.0 fixed employees; $180,016 a year</a:t>
            </a:r>
          </a:p>
          <a:p>
            <a:r>
              <a:t>KIA ST GEORGE: $12,103 today -&gt; $12,709 target per employee a month; 21.4 fixed employees; $155,730 a year</a:t>
            </a:r>
          </a:p>
          <a:p>
            <a:r>
              <a:t>HYUNDAI ST GEORGE: $11,541 today -&gt; $12,118 target per employee a month; 22.0 fixed employees; $152,344 a year</a:t>
            </a:r>
          </a:p>
          <a:p>
            <a:r>
              <a:t>GMC PRESCOTT: $9,498 today -&gt; $9,973 target per employee a month; 26.6 fixed employees; $151,334 a year</a:t>
            </a:r>
          </a:p>
          <a:p>
            <a:r>
              <a:t>LR RENO: $15,226 today -&gt; $15,988 target per employee a month; 16.1 fixed employees; $147,187 a year</a:t>
            </a:r>
          </a:p>
          <a:p>
            <a:r>
              <a:t>HONDA FLAGSTAFF: $9,149 today -&gt; $9,607 target per employee a month; 19.3 fixed employees; $106,131 a year</a:t>
            </a:r>
          </a:p>
          <a:p>
            <a:r>
              <a:t>HYUNDAI PRESCOTT: $11,631 today -&gt; $12,212 target per employee a month; 14.7 fixed employees; $102,351 a year</a:t>
            </a:r>
          </a:p>
          <a:p>
            <a:r>
              <a:t>VW ST GEORGE: $9,878 today -&gt; $10,372 target per employee a month; 10.9 fixed employees; $64,535 a year</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Talking points: Service Manager Roundtable (Nov 15, 2024) and GM meeting decks (Jan and May 2026). Data: Qlik (Profit &amp; Loss, Closed Repair Orders, Productivity), Jan-Sep 2026 vs 2025, same-store, 33 stores, INEOS excluded.PLACE: Technician Proficiency section, after the section break and before the store proficiency ranker.</a:t>
            </a:r>
          </a:p>
          <a:p>
            <a:r>
              <a:t>Said: Roundtable slide 22 (Technicians &amp; Stalls); Jan GM slide 52 / May GM slide 16 (MPI Completion and Tech Efficiency).</a:t>
            </a:r>
          </a:p>
          <a:p>
            <a:r>
              <a:t>Now: proficiency slides (ADP paid hours + Qlik sold hours, Dec 25-Oct 9, with the foreman 30%, tech 10%, role-change and keying-error rules).</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Definitions match the data slides: Qlik - Closed Repair Orders (all customer-pay ROs, by close month), Profit &amp; Loss and Productivity apps, Jan-Sep 2026 vs 2025, same-store, 33 stores. Worked example: Service Manager Roundtable, Nov 15, 2024, slide 21.PLACE: Technician Proficiency, after the section break, in front of the store ranker.</a:t>
            </a:r>
          </a:p>
          <a:p>
            <a:r>
              <a:t>Proficiency uses ADP paid hours (regular + overtime), so it includes time not on an RO. Efficiency would use DMS time punched on jobs, which this data does not have.</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Definitions match the data slides: Qlik - Closed Repair Orders (all customer-pay ROs, by close month), Profit &amp; Loss and Productivity apps, Jan-Sep 2026 vs 2025, same-store, 33 stores. Worked example: Service Manager Roundtable, Nov 15, 2024, slide 21.PLACE: right after 'What Is Technician Proficiency?'.</a:t>
            </a:r>
          </a:p>
          <a:p>
            <a:r>
              <a:t>Rules as applied on the proficiency slides (Oct 16 2026). Express techs at stores that pool express hours are mostly excluded by the 10% rule.</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ADP paid hours (regular + overtime) and Qlik - Closed Repair Orders sold hours, all pay types, matched by tech number. Dec 25, 2025 - Oct 9, 2026 (shown as Jan-Sep). Same-store, INEOS excluded (opened 2026). Service, express, team-leader and shop-foreman titles only; body shop, detail and tint excluded. Outliers dropped: shop foremen at or below 30% (workbook uses 20%; under 30% a foreman is mainly dispatching), team leaders at or below 20%, service and express technicians at or below 10% (workbook uses 2%; under 10% a tech is not working as a line tech). Unassigned codes (MULT, 999, 77777) excluded. Role changes: ADP shows one current title with paid hours for the whole period, so when a tech's paid hours exceed 125% of full time over the months they actually flagged, paid hours are scaled to that span (56 techs). 45 keying-error lines removed from sold hours (5,399 hrs: single lines of 20+ hours with under $25 labor sale per hour, e.g. 940.58 hrs for $0 at Hyundai St George, RO 177970). Proficiency = sold hours / paid hours, from store totals. Green at or above 85%, red below. Bars start at 40%.ACURA: 67.4% (11,339 sold / 16,815 paid, 11 techs: 0 above, 0 on, 11 under)</a:t>
            </a:r>
          </a:p>
          <a:p>
            <a:r>
              <a:t>AUDI HENDERSON: 91.0% (33,481 sold / 36,766 paid, 23 techs: 6 above, 4 on, 13 under)</a:t>
            </a:r>
          </a:p>
          <a:p>
            <a:r>
              <a:t>AUDI RENO: 117.1% (15,985 sold / 13,640 paid, 10 techs: 6 above, 0 on, 4 under)</a:t>
            </a:r>
          </a:p>
          <a:p>
            <a:r>
              <a:t>CADILLAC: 87.7% (42,358 sold / 48,277 paid, 29 techs: 8 above, 5 on, 16 under)</a:t>
            </a:r>
          </a:p>
          <a:p>
            <a:r>
              <a:t>CDJR POST FALLS: 71.2% (14,538 sold / 20,418 paid, 14 techs: 4 above, 1 on, 9 under)</a:t>
            </a:r>
          </a:p>
          <a:p>
            <a:r>
              <a:t>CHEVY GMC BULLHEAD: 68.4% (19,904 sold / 29,093 paid, 20 techs: 2 above, 2 on, 16 under)</a:t>
            </a:r>
          </a:p>
          <a:p>
            <a:r>
              <a:t>CHEVY LV: 103.4% (81,675 sold / 78,983 paid, 51 techs: 21 above, 14 on, 16 under)</a:t>
            </a:r>
          </a:p>
          <a:p>
            <a:r>
              <a:t>GMC PRESCOTT: 73.6% (10,985 sold / 14,924 paid, 12 techs: 1 above, 4 on, 7 under)</a:t>
            </a:r>
          </a:p>
          <a:p>
            <a:r>
              <a:t>HONDA FLAGSTAFF: 78.5% (7,653 sold / 9,743 paid, 6 techs: 2 above, 0 on, 4 under)</a:t>
            </a:r>
          </a:p>
          <a:p>
            <a:r>
              <a:t>HONDA HENDERSON: 118.5% (61,099 sold / 51,555 paid, 28 techs: 16 above, 7 on, 5 under)</a:t>
            </a:r>
          </a:p>
          <a:p>
            <a:r>
              <a:t>HONDA NORTH: 109.3% (39,419 sold / 36,062 paid, 22 techs: 10 above, 8 on, 4 under)</a:t>
            </a:r>
          </a:p>
          <a:p>
            <a:r>
              <a:t>HONDA SPOKANE: 109.0% (17,638 sold / 16,169 paid, 15 techs: 10 above, 3 on, 2 under)</a:t>
            </a:r>
          </a:p>
          <a:p>
            <a:r>
              <a:t>HYUNDAI PRESCOTT: 78.8% (9,116 sold / 11,564 paid, 9 techs: 1 above, 2 on, 6 under)</a:t>
            </a:r>
          </a:p>
          <a:p>
            <a:r>
              <a:t>HYUNDAI ST GEORGE: 69.0% (9,329 sold / 13,515 paid, 11 techs: 3 above, 0 on, 8 under)</a:t>
            </a:r>
          </a:p>
          <a:p>
            <a:r>
              <a:t>KIA LV: 76.8% (20,682 sold / 26,909 paid, 20 techs: 2 above, 2 on, 16 under)</a:t>
            </a:r>
          </a:p>
          <a:p>
            <a:r>
              <a:t>KIA ST GEORGE: 67.5% (11,981 sold / 17,746 paid, 12 techs: 1 above, 2 on, 9 under)</a:t>
            </a:r>
          </a:p>
          <a:p>
            <a:r>
              <a:t>LEXUS: 104.7% (16,940 sold / 16,175 paid, 11 techs: 4 above, 1 on, 6 under)</a:t>
            </a:r>
          </a:p>
          <a:p>
            <a:r>
              <a:t>LINCOLN: 94.9% (15,983 sold / 16,836 paid, 11 techs: 4 above, 2 on, 5 under)</a:t>
            </a:r>
          </a:p>
          <a:p>
            <a:r>
              <a:t>LR HENDERSON: 106.0% (11,497 sold / 10,838 paid, 7 techs: 3 above, 1 on, 3 under)</a:t>
            </a:r>
          </a:p>
          <a:p>
            <a:r>
              <a:t>LR LV: 91.2% (20,301 sold / 22,258 paid, 16 techs: 5 above, 3 on, 8 under)</a:t>
            </a:r>
          </a:p>
          <a:p>
            <a:r>
              <a:t>LR RENO: 81.4% (7,559 sold / 9,283 paid, 6 techs: 1 above, 3 on, 2 under)</a:t>
            </a:r>
          </a:p>
          <a:p>
            <a:r>
              <a:t>MAZDA: 101.6% (14,560 sold / 14,322 paid, 11 techs: 5 above, 2 on, 4 under)</a:t>
            </a:r>
          </a:p>
          <a:p>
            <a:r>
              <a:t>NISSAN: 91.1% (24,792 sold / 27,197 paid, 17 techs: 3 above, 6 on, 8 under)</a:t>
            </a:r>
          </a:p>
          <a:p>
            <a:r>
              <a:t>SUBARU LV: 96.9% (41,501 sold / 42,797 paid, 27 techs: 9 above, 7 on, 11 under)</a:t>
            </a:r>
          </a:p>
          <a:p>
            <a:r>
              <a:t>SUBARU PRESCOTT: 98.4% (17,475 sold / 17,747 paid, 12 techs: 6 above, 0 on, 6 under)</a:t>
            </a:r>
          </a:p>
          <a:p>
            <a:r>
              <a:t>SUBARU ST GEORGE: 109.7% (20,954 sold / 19,086 paid, 12 techs: 9 above, 0 on, 3 under)</a:t>
            </a:r>
          </a:p>
          <a:p>
            <a:r>
              <a:t>TOYOTA FLAGSTAFF: 102.4% (31,978 sold / 31,216 paid, 18 techs: 7 above, 5 on, 6 under)</a:t>
            </a:r>
          </a:p>
          <a:p>
            <a:r>
              <a:t>TOYOTA HENDERSON: 104.3% (104,465 sold / 100,080 paid, 59 techs: 22 above, 17 on, 20 under)</a:t>
            </a:r>
          </a:p>
          <a:p>
            <a:r>
              <a:t>TOYOTA PRESCOTT: 83.6% (29,341 sold / 35,081 paid, 22 techs: 6 above, 5 on, 11 under)</a:t>
            </a:r>
          </a:p>
          <a:p>
            <a:r>
              <a:t>TOYOTA SPOKANE: 108.0% (35,947 sold / 33,274 paid, 28 techs: 15 above, 9 on, 4 under)</a:t>
            </a:r>
          </a:p>
          <a:p>
            <a:r>
              <a:t>VOLVO: 72.3% (10,479 sold / 14,475 paid, 9 techs: 0 above, 1 on, 8 under)</a:t>
            </a:r>
          </a:p>
          <a:p>
            <a:r>
              <a:t>VW HENDERSON: 92.2% (25,394 sold / 27,527 paid, 19 techs: 6 above, 7 on, 6 under)</a:t>
            </a:r>
          </a:p>
          <a:p>
            <a:r>
              <a:t>VW ST GEORGE: 70.0% (5,375 sold / 7,674 paid, 5 techs: 0 above, 0 on, 5 under)</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ADP paid hours (regular + overtime) and Qlik - Closed Repair Orders sold hours, all pay types, matched by tech number. Dec 25, 2025 - Oct 9, 2026 (shown as Jan-Sep). Same-store, INEOS excluded (opened 2026). Service, express, team-leader and shop-foreman titles only; body shop, detail and tint excluded. Outliers dropped: shop foremen at or below 30% (workbook uses 20%; under 30% a foreman is mainly dispatching), team leaders at or below 20%, service and express technicians at or below 10% (workbook uses 2%; under 10% a tech is not working as a line tech). Unassigned codes (MULT, 999, 77777) excluded. Role changes: ADP shows one current title with paid hours for the whole period, so when a tech's paid hours exceed 125% of full time over the months they actually flagged, paid hours are scaled to that span (56 techs). 45 keying-error lines removed from sold hours (5,399 hrs: single lines of 20+ hours with under $25 labor sale per hour, e.g. 940.58 hrs for $0 at Hyundai St George, RO 177970). Share of each store's technicians by proficiency band (workbook status: Above Target, On Target, Under Target), most above first.ACURA: 67.4% (11,339 sold / 16,815 paid, 11 techs: 0 above, 0 on, 11 under)</a:t>
            </a:r>
          </a:p>
          <a:p>
            <a:r>
              <a:t>AUDI HENDERSON: 91.0% (33,481 sold / 36,766 paid, 23 techs: 6 above, 4 on, 13 under)</a:t>
            </a:r>
          </a:p>
          <a:p>
            <a:r>
              <a:t>AUDI RENO: 117.1% (15,985 sold / 13,640 paid, 10 techs: 6 above, 0 on, 4 under)</a:t>
            </a:r>
          </a:p>
          <a:p>
            <a:r>
              <a:t>CADILLAC: 87.7% (42,358 sold / 48,277 paid, 29 techs: 8 above, 5 on, 16 under)</a:t>
            </a:r>
          </a:p>
          <a:p>
            <a:r>
              <a:t>CDJR POST FALLS: 71.2% (14,538 sold / 20,418 paid, 14 techs: 4 above, 1 on, 9 under)</a:t>
            </a:r>
          </a:p>
          <a:p>
            <a:r>
              <a:t>CHEVY GMC BULLHEAD: 68.4% (19,904 sold / 29,093 paid, 20 techs: 2 above, 2 on, 16 under)</a:t>
            </a:r>
          </a:p>
          <a:p>
            <a:r>
              <a:t>CHEVY LV: 103.4% (81,675 sold / 78,983 paid, 51 techs: 21 above, 14 on, 16 under)</a:t>
            </a:r>
          </a:p>
          <a:p>
            <a:r>
              <a:t>GMC PRESCOTT: 73.6% (10,985 sold / 14,924 paid, 12 techs: 1 above, 4 on, 7 under)</a:t>
            </a:r>
          </a:p>
          <a:p>
            <a:r>
              <a:t>HONDA FLAGSTAFF: 78.5% (7,653 sold / 9,743 paid, 6 techs: 2 above, 0 on, 4 under)</a:t>
            </a:r>
          </a:p>
          <a:p>
            <a:r>
              <a:t>HONDA HENDERSON: 118.5% (61,099 sold / 51,555 paid, 28 techs: 16 above, 7 on, 5 under)</a:t>
            </a:r>
          </a:p>
          <a:p>
            <a:r>
              <a:t>HONDA NORTH: 109.3% (39,419 sold / 36,062 paid, 22 techs: 10 above, 8 on, 4 under)</a:t>
            </a:r>
          </a:p>
          <a:p>
            <a:r>
              <a:t>HONDA SPOKANE: 109.0% (17,638 sold / 16,169 paid, 15 techs: 10 above, 3 on, 2 under)</a:t>
            </a:r>
          </a:p>
          <a:p>
            <a:r>
              <a:t>HYUNDAI PRESCOTT: 78.8% (9,116 sold / 11,564 paid, 9 techs: 1 above, 2 on, 6 under)</a:t>
            </a:r>
          </a:p>
          <a:p>
            <a:r>
              <a:t>HYUNDAI ST GEORGE: 69.0% (9,329 sold / 13,515 paid, 11 techs: 3 above, 0 on, 8 under)</a:t>
            </a:r>
          </a:p>
          <a:p>
            <a:r>
              <a:t>KIA LV: 76.8% (20,682 sold / 26,909 paid, 20 techs: 2 above, 2 on, 16 under)</a:t>
            </a:r>
          </a:p>
          <a:p>
            <a:r>
              <a:t>KIA ST GEORGE: 67.5% (11,981 sold / 17,746 paid, 12 techs: 1 above, 2 on, 9 under)</a:t>
            </a:r>
          </a:p>
          <a:p>
            <a:r>
              <a:t>LEXUS: 104.7% (16,940 sold / 16,175 paid, 11 techs: 4 above, 1 on, 6 under)</a:t>
            </a:r>
          </a:p>
          <a:p>
            <a:r>
              <a:t>LINCOLN: 94.9% (15,983 sold / 16,836 paid, 11 techs: 4 above, 2 on, 5 under)</a:t>
            </a:r>
          </a:p>
          <a:p>
            <a:r>
              <a:t>LR HENDERSON: 106.0% (11,497 sold / 10,838 paid, 7 techs: 3 above, 1 on, 3 under)</a:t>
            </a:r>
          </a:p>
          <a:p>
            <a:r>
              <a:t>LR LV: 91.2% (20,301 sold / 22,258 paid, 16 techs: 5 above, 3 on, 8 under)</a:t>
            </a:r>
          </a:p>
          <a:p>
            <a:r>
              <a:t>LR RENO: 81.4% (7,559 sold / 9,283 paid, 6 techs: 1 above, 3 on, 2 under)</a:t>
            </a:r>
          </a:p>
          <a:p>
            <a:r>
              <a:t>MAZDA: 101.6% (14,560 sold / 14,322 paid, 11 techs: 5 above, 2 on, 4 under)</a:t>
            </a:r>
          </a:p>
          <a:p>
            <a:r>
              <a:t>NISSAN: 91.1% (24,792 sold / 27,197 paid, 17 techs: 3 above, 6 on, 8 under)</a:t>
            </a:r>
          </a:p>
          <a:p>
            <a:r>
              <a:t>SUBARU LV: 96.9% (41,501 sold / 42,797 paid, 27 techs: 9 above, 7 on, 11 under)</a:t>
            </a:r>
          </a:p>
          <a:p>
            <a:r>
              <a:t>SUBARU PRESCOTT: 98.4% (17,475 sold / 17,747 paid, 12 techs: 6 above, 0 on, 6 under)</a:t>
            </a:r>
          </a:p>
          <a:p>
            <a:r>
              <a:t>SUBARU ST GEORGE: 109.7% (20,954 sold / 19,086 paid, 12 techs: 9 above, 0 on, 3 under)</a:t>
            </a:r>
          </a:p>
          <a:p>
            <a:r>
              <a:t>TOYOTA FLAGSTAFF: 102.4% (31,978 sold / 31,216 paid, 18 techs: 7 above, 5 on, 6 under)</a:t>
            </a:r>
          </a:p>
          <a:p>
            <a:r>
              <a:t>TOYOTA HENDERSON: 104.3% (104,465 sold / 100,080 paid, 59 techs: 22 above, 17 on, 20 under)</a:t>
            </a:r>
          </a:p>
          <a:p>
            <a:r>
              <a:t>TOYOTA PRESCOTT: 83.6% (29,341 sold / 35,081 paid, 22 techs: 6 above, 5 on, 11 under)</a:t>
            </a:r>
          </a:p>
          <a:p>
            <a:r>
              <a:t>TOYOTA SPOKANE: 108.0% (35,947 sold / 33,274 paid, 28 techs: 15 above, 9 on, 4 under)</a:t>
            </a:r>
          </a:p>
          <a:p>
            <a:r>
              <a:t>VOLVO: 72.3% (10,479 sold / 14,475 paid, 9 techs: 0 above, 1 on, 8 under)</a:t>
            </a:r>
          </a:p>
          <a:p>
            <a:r>
              <a:t>VW HENDERSON: 92.2% (25,394 sold / 27,527 paid, 19 techs: 6 above, 7 on, 6 under)</a:t>
            </a:r>
          </a:p>
          <a:p>
            <a:r>
              <a:t>VW ST GEORGE: 70.0% (5,375 sold / 7,674 paid, 5 techs: 0 above, 0 on, 5 under)</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Each technician under 85% lifted to 85% of their own paid hours; techs at or above 85% count as zero, so no store offsets one tech with another. Gap hours valued at what the store's own technicians (counted titles) earn per sold hour in labor gross and parts gross, all pay types, Qlik - Closed Repair Orders, same dates; tech pay at their labor cost per sold hour. Store-wide averages are not used because they carry detail, rental and recon sale booked with no hours. Per month = period total / 9.49 months (Dec 25, 2025 - Oct 9, 2026). Parts assumes the extra hours carry the store's average parts per hour. Population as on the proficiency slides.ACURA: 67.4%; 11 of 11 under 85%; gap 2,954 hrs; labor $50K/mo + parts $26K/mo; tech pay $14K/mo; 25.4% of $299K/mo RO gross; top quarter 74% (3 techs); 3.46 ROs/tech day; 1.75 hrs/RO</a:t>
            </a:r>
          </a:p>
          <a:p>
            <a:r>
              <a:t>AUDI HENDERSON: 91.0%; 13 of 23 under 85%; gap 3,426 hrs; labor $81K/mo + parts $20K/mo; tech pay $14K/mo; 8.3% of $1.23M/mo RO gross; top quarter 135% (6 techs); 2.77 ROs/tech day; 3.23 hrs/RO</a:t>
            </a:r>
          </a:p>
          <a:p>
            <a:r>
              <a:t>AUDI RENO: 117.1%; 4 of 10 under 85%; gap 826 hrs; labor $14K/mo + parts $6K/mo; tech pay $4K/mo; 4.0% of $504K/mo RO gross; top quarter 194% (2 techs); 4.08 ROs/tech day; 2.88 hrs/RO</a:t>
            </a:r>
          </a:p>
          <a:p>
            <a:r>
              <a:t>CADILLAC: 87.7%; 16 of 29 under 85%; gap 6,705 hrs; labor $108K/mo + parts $49K/mo; tech pay $24K/mo; 13.6% of $1.16M/mo RO gross; top quarter 143% (7 techs); 2.48 ROs/tech day; 3.41 hrs/RO</a:t>
            </a:r>
          </a:p>
          <a:p>
            <a:r>
              <a:t>CDJR POST FALLS: 71.2%; 9 of 14 under 85%; gap 5,005 hrs; labor $68K/mo + parts $32K/mo; tech pay $18K/mo; 24.6% of $408K/mo RO gross; top quarter 129% (4 techs); 3.77 ROs/tech day; 2.25 hrs/RO</a:t>
            </a:r>
          </a:p>
          <a:p>
            <a:r>
              <a:t>CHEVY GMC BULLHEAD: 68.4%; 16 of 20 under 85%; gap 5,809 hrs; labor $73K/mo + parts $39K/mo; tech pay $20K/mo; 23.2% of $483K/mo RO gross; top quarter 96% (5 techs); 3.06 ROs/tech day; 2.19 hrs/RO</a:t>
            </a:r>
          </a:p>
          <a:p>
            <a:r>
              <a:t>CHEVY LV: 103.4%; 16 of 51 under 85%; gap 5,102 hrs; labor $62K/mo + parts $25K/mo; tech pay $17K/mo; 5.2% of $1.69M/mo RO gross; top quarter 164% (13 techs); 3.95 ROs/tech day; 2.69 hrs/RO</a:t>
            </a:r>
          </a:p>
          <a:p>
            <a:r>
              <a:t>GMC PRESCOTT: 73.6%; 7 of 12 under 85%; gap 2,741 hrs; labor $31K/mo + parts $17K/mo; tech pay $12K/mo; 14.4% of $333K/mo RO gross; top quarter 104% (3 techs); 3.59 ROs/tech day; 4.21 hrs/RO</a:t>
            </a:r>
          </a:p>
          <a:p>
            <a:r>
              <a:t>HONDA FLAGSTAFF: 78.5%; 4 of 6 under 85%; gap 2,217 hrs; labor $28K/mo + parts $12K/mo; tech pay $8K/mo; 19.6% of $202K/mo RO gross; top quarter 131% (2 techs); 5.23 ROs/tech day; 1.85 hrs/RO</a:t>
            </a:r>
          </a:p>
          <a:p>
            <a:r>
              <a:t>HONDA HENDERSON: 118.5%; 5 of 28 under 85%; gap 669 hrs; labor $9K/mo + parts $4K/mo; tech pay $2K/mo; 0.8% of $1.54M/mo RO gross; top quarter 172% (7 techs); 6.04 ROs/tech day; 2.11 hrs/RO</a:t>
            </a:r>
          </a:p>
          <a:p>
            <a:r>
              <a:t>HONDA NORTH: 109.3%; 4 of 22 under 85%; gap 764 hrs; labor $9K/mo + parts $4K/mo; tech pay $2K/mo; 1.4% of $949K/mo RO gross; top quarter 152% (6 techs); 6.08 ROs/tech day; 2.29 hrs/RO</a:t>
            </a:r>
          </a:p>
          <a:p>
            <a:r>
              <a:t>HONDA SPOKANE: 109.0%; 2 of 15 under 85%; gap 57 hrs; labor $1K/mo + parts $0K/mo; tech pay $0K/mo; 0.2% of $453K/mo RO gross; top quarter 130% (4 techs); 6.24 ROs/tech day; 2.14 hrs/RO</a:t>
            </a:r>
          </a:p>
          <a:p>
            <a:r>
              <a:t>HYUNDAI PRESCOTT: 78.8%; 6 of 9 under 85%; gap 1,873 hrs; labor $23K/mo + parts $11K/mo; tech pay $8K/mo; 18.5% of $185K/mo RO gross; top quarter 113% (2 techs); 3.75 ROs/tech day; 1.78 hrs/RO</a:t>
            </a:r>
          </a:p>
          <a:p>
            <a:r>
              <a:t>HYUNDAI ST GEORGE: 69.0%; 8 of 11 under 85%; gap 3,952 hrs; labor $58K/mo + parts $30K/mo; tech pay $13K/mo; 31.9% of $277K/mo RO gross; top quarter 122% (3 techs); 4.23 ROs/tech day; 1.45 hrs/RO</a:t>
            </a:r>
          </a:p>
          <a:p>
            <a:r>
              <a:t>KIA LV: 76.8%; 16 of 20 under 85%; gap 3,389 hrs; labor $51K/mo + parts $23K/mo; tech pay $12K/mo; 11.6% of $643K/mo RO gross; top quarter 101% (5 techs); 5.22 ROs/tech day; 1.70 hrs/RO</a:t>
            </a:r>
          </a:p>
          <a:p>
            <a:r>
              <a:t>KIA ST GEORGE: 67.5%; 9 of 12 under 85%; gap 3,713 hrs; labor $48K/mo + parts $29K/mo; tech pay $11K/mo; 29.7% of $258K/mo RO gross; top quarter 98% (3 techs); 4.25 ROs/tech day; 1.31 hrs/RO</a:t>
            </a:r>
          </a:p>
          <a:p>
            <a:r>
              <a:t>LEXUS: 104.7%; 6 of 11 under 85%; gap 1,451 hrs; labor $24K/mo + parts $7K/mo; tech pay $5K/mo; 7.9% of $400K/mo RO gross; top quarter 178% (3 techs); 4.01 ROs/tech day; 2.44 hrs/RO</a:t>
            </a:r>
          </a:p>
          <a:p>
            <a:r>
              <a:t>LINCOLN: 94.9%; 5 of 11 under 85%; gap 1,236 hrs; labor $17K/mo + parts $7K/mo; tech pay $4K/mo; 7.6% of $312K/mo RO gross; top quarter 125% (3 techs); 3.24 ROs/tech day; 2.35 hrs/RO</a:t>
            </a:r>
          </a:p>
          <a:p>
            <a:r>
              <a:t>LR HENDERSON: 106.0%; 3 of 7 under 85%; gap 567 hrs; labor $9K/mo + parts $5K/mo; tech pay $2K/mo; 4.2% of $357K/mo RO gross; top quarter 145% (2 techs); 2.94 ROs/tech day; 3.68 hrs/RO</a:t>
            </a:r>
          </a:p>
          <a:p>
            <a:r>
              <a:t>LR LV: 91.2%; 8 of 16 under 85%; gap 2,154 hrs; labor $42K/mo + parts $21K/mo; tech pay $9K/mo; 9.0% of $702K/mo RO gross; top quarter 131% (4 techs); 2.41 ROs/tech day; 3.54 hrs/RO</a:t>
            </a:r>
          </a:p>
          <a:p>
            <a:r>
              <a:t>LR RENO: 81.4%; 2 of 6 under 85%; gap 724 hrs; labor $14K/mo + parts $7K/mo; tech pay $3K/mo; 8.0% of $257K/mo RO gross; top quarter 96% (2 techs); 2.36 ROs/tech day; 3.20 hrs/RO</a:t>
            </a:r>
          </a:p>
          <a:p>
            <a:r>
              <a:t>MAZDA: 101.6%; 4 of 11 under 85%; gap 415 hrs; labor $6K/mo + parts $3K/mo; tech pay $1K/mo; 2.7% of $322K/mo RO gross; top quarter 123% (3 techs); 5.78 ROs/tech day; 1.54 hrs/RO</a:t>
            </a:r>
          </a:p>
          <a:p>
            <a:r>
              <a:t>NISSAN: 91.1%; 8 of 17 under 85%; gap 2,291 hrs; labor $30K/mo + parts $13K/mo; tech pay $9K/mo; 8.0% of $532K/mo RO gross; top quarter 132% (4 techs); 4.08 ROs/tech day; 2.29 hrs/RO</a:t>
            </a:r>
          </a:p>
          <a:p>
            <a:r>
              <a:t>SUBARU LV: 96.9%; 11 of 27 under 85%; gap 2,050 hrs; labor $29K/mo + parts $15K/mo; tech pay $5K/mo; 4.1% of $1.07M/mo RO gross; top quarter 132% (7 techs); 4.64 ROs/tech day; 2.07 hrs/RO</a:t>
            </a:r>
          </a:p>
          <a:p>
            <a:r>
              <a:t>SUBARU PRESCOTT: 98.4%; 6 of 12 under 85%; gap 3,523 hrs; labor $37K/mo + parts $21K/mo; tech pay $13K/mo; 20.0% of $288K/mo RO gross; top quarter 179% (3 techs); 4.73 ROs/tech day; 1.68 hrs/RO</a:t>
            </a:r>
          </a:p>
          <a:p>
            <a:r>
              <a:t>SUBARU ST GEORGE: 109.7%; 3 of 12 under 85%; gap 1,248 hrs; labor $14K/mo + parts $8K/mo; tech pay $5K/mo; 5.8% of $382K/mo RO gross; top quarter 146% (3 techs); 4.11 ROs/tech day; 2.20 hrs/RO</a:t>
            </a:r>
          </a:p>
          <a:p>
            <a:r>
              <a:t>TOYOTA FLAGSTAFF: 102.4%; 6 of 18 under 85%; gap 662 hrs; labor $8K/mo + parts $3K/mo; tech pay $2K/mo; 1.9% of $542K/mo RO gross; top quarter 151% (4 techs); 4.96 ROs/tech day; 1.84 hrs/RO</a:t>
            </a:r>
          </a:p>
          <a:p>
            <a:r>
              <a:t>TOYOTA HENDERSON: 104.3%; 20 of 59 under 85%; gap 4,057 hrs; labor $51K/mo + parts $19K/mo; tech pay $14K/mo; 2.9% of $2.44M/mo RO gross; top quarter 153% (15 techs); 6.41 ROs/tech day; 1.88 hrs/RO</a:t>
            </a:r>
          </a:p>
          <a:p>
            <a:r>
              <a:t>TOYOTA PRESCOTT: 83.6%; 11 of 22 under 85%; gap 4,174 hrs; labor $57K/mo + parts $20K/mo; tech pay $16K/mo; 13.5% of $573K/mo RO gross; top quarter 118% (6 techs); 4.22 ROs/tech day; 1.72 hrs/RO</a:t>
            </a:r>
          </a:p>
          <a:p>
            <a:r>
              <a:t>TOYOTA SPOKANE: 108.0%; 4 of 28 under 85%; gap 745 hrs; labor $8K/mo + parts $4K/mo; tech pay $3K/mo; 1.9% of $609K/mo RO gross; top quarter 134% (7 techs); 5.36 ROs/tech day; 1.81 hrs/RO</a:t>
            </a:r>
          </a:p>
          <a:p>
            <a:r>
              <a:t>VOLVO: 72.3%; 8 of 9 under 85%; gap 1,963 hrs; labor $40K/mo + parts $22K/mo; tech pay $5K/mo; 14.8% of $417K/mo RO gross; top quarter 89% (2 techs); 3.81 ROs/tech day; 1.92 hrs/RO</a:t>
            </a:r>
          </a:p>
          <a:p>
            <a:r>
              <a:t>VW HENDERSON: 92.2%; 6 of 19 under 85%; gap 1,416 hrs; labor $19K/mo + parts $5K/mo; tech pay $4K/mo; 4.8% of $516K/mo RO gross; top quarter 115% (5 techs); 3.77 ROs/tech day; 2.28 hrs/RO</a:t>
            </a:r>
          </a:p>
          <a:p>
            <a:r>
              <a:t>VW ST GEORGE: 70.0%; 5 of 5 under 85%; gap 1,149 hrs; labor $13K/mo + parts $7K/mo; tech pay $3K/mo; 19.0% of $109K/mo RO gross; top quarter 76% (1 techs); 3.81 ROs/tech day; 1.65 hrs/RO</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Each technician under 85% lifted to 85% of their own paid hours; techs at or above 85% count as zero, so no store offsets one tech with another. Gap hours valued at what the store's own technicians (counted titles) earn per sold hour in labor gross and parts gross, all pay types, Qlik - Closed Repair Orders, same dates; tech pay at their labor cost per sold hour. Store-wide averages are not used because they carry detail, rental and recon sale booked with no hours. Per month = period total / 9.49 months (Dec 25, 2025 - Oct 9, 2026). Parts assumes the extra hours carry the store's average parts per hour. Population as on the proficiency slides. Per mo = labor + parts gross. Under 85% = technicians under 85% of all counted. Store = store proficiency.ACURA: 67.4%; 11 of 11 under 85%; gap 2,954 hrs; labor $50K/mo + parts $26K/mo; tech pay $14K/mo; 25.4% of $299K/mo RO gross; top quarter 74% (3 techs); 3.46 ROs/tech day; 1.75 hrs/RO</a:t>
            </a:r>
          </a:p>
          <a:p>
            <a:r>
              <a:t>AUDI HENDERSON: 91.0%; 13 of 23 under 85%; gap 3,426 hrs; labor $81K/mo + parts $20K/mo; tech pay $14K/mo; 8.3% of $1.23M/mo RO gross; top quarter 135% (6 techs); 2.77 ROs/tech day; 3.23 hrs/RO</a:t>
            </a:r>
          </a:p>
          <a:p>
            <a:r>
              <a:t>AUDI RENO: 117.1%; 4 of 10 under 85%; gap 826 hrs; labor $14K/mo + parts $6K/mo; tech pay $4K/mo; 4.0% of $504K/mo RO gross; top quarter 194% (2 techs); 4.08 ROs/tech day; 2.88 hrs/RO</a:t>
            </a:r>
          </a:p>
          <a:p>
            <a:r>
              <a:t>CADILLAC: 87.7%; 16 of 29 under 85%; gap 6,705 hrs; labor $108K/mo + parts $49K/mo; tech pay $24K/mo; 13.6% of $1.16M/mo RO gross; top quarter 143% (7 techs); 2.48 ROs/tech day; 3.41 hrs/RO</a:t>
            </a:r>
          </a:p>
          <a:p>
            <a:r>
              <a:t>CDJR POST FALLS: 71.2%; 9 of 14 under 85%; gap 5,005 hrs; labor $68K/mo + parts $32K/mo; tech pay $18K/mo; 24.6% of $408K/mo RO gross; top quarter 129% (4 techs); 3.77 ROs/tech day; 2.25 hrs/RO</a:t>
            </a:r>
          </a:p>
          <a:p>
            <a:r>
              <a:t>CHEVY GMC BULLHEAD: 68.4%; 16 of 20 under 85%; gap 5,809 hrs; labor $73K/mo + parts $39K/mo; tech pay $20K/mo; 23.2% of $483K/mo RO gross; top quarter 96% (5 techs); 3.06 ROs/tech day; 2.19 hrs/RO</a:t>
            </a:r>
          </a:p>
          <a:p>
            <a:r>
              <a:t>CHEVY LV: 103.4%; 16 of 51 under 85%; gap 5,102 hrs; labor $62K/mo + parts $25K/mo; tech pay $17K/mo; 5.2% of $1.69M/mo RO gross; top quarter 164% (13 techs); 3.95 ROs/tech day; 2.69 hrs/RO</a:t>
            </a:r>
          </a:p>
          <a:p>
            <a:r>
              <a:t>GMC PRESCOTT: 73.6%; 7 of 12 under 85%; gap 2,741 hrs; labor $31K/mo + parts $17K/mo; tech pay $12K/mo; 14.4% of $333K/mo RO gross; top quarter 104% (3 techs); 3.59 ROs/tech day; 4.21 hrs/RO</a:t>
            </a:r>
          </a:p>
          <a:p>
            <a:r>
              <a:t>HONDA FLAGSTAFF: 78.5%; 4 of 6 under 85%; gap 2,217 hrs; labor $28K/mo + parts $12K/mo; tech pay $8K/mo; 19.6% of $202K/mo RO gross; top quarter 131% (2 techs); 5.23 ROs/tech day; 1.85 hrs/RO</a:t>
            </a:r>
          </a:p>
          <a:p>
            <a:r>
              <a:t>HONDA HENDERSON: 118.5%; 5 of 28 under 85%; gap 669 hrs; labor $9K/mo + parts $4K/mo; tech pay $2K/mo; 0.8% of $1.54M/mo RO gross; top quarter 172% (7 techs); 6.04 ROs/tech day; 2.11 hrs/RO</a:t>
            </a:r>
          </a:p>
          <a:p>
            <a:r>
              <a:t>HONDA NORTH: 109.3%; 4 of 22 under 85%; gap 764 hrs; labor $9K/mo + parts $4K/mo; tech pay $2K/mo; 1.4% of $949K/mo RO gross; top quarter 152% (6 techs); 6.08 ROs/tech day; 2.29 hrs/RO</a:t>
            </a:r>
          </a:p>
          <a:p>
            <a:r>
              <a:t>HONDA SPOKANE: 109.0%; 2 of 15 under 85%; gap 57 hrs; labor $1K/mo + parts $0K/mo; tech pay $0K/mo; 0.2% of $453K/mo RO gross; top quarter 130% (4 techs); 6.24 ROs/tech day; 2.14 hrs/RO</a:t>
            </a:r>
          </a:p>
          <a:p>
            <a:r>
              <a:t>HYUNDAI PRESCOTT: 78.8%; 6 of 9 under 85%; gap 1,873 hrs; labor $23K/mo + parts $11K/mo; tech pay $8K/mo; 18.5% of $185K/mo RO gross; top quarter 113% (2 techs); 3.75 ROs/tech day; 1.78 hrs/RO</a:t>
            </a:r>
          </a:p>
          <a:p>
            <a:r>
              <a:t>HYUNDAI ST GEORGE: 69.0%; 8 of 11 under 85%; gap 3,952 hrs; labor $58K/mo + parts $30K/mo; tech pay $13K/mo; 31.9% of $277K/mo RO gross; top quarter 122% (3 techs); 4.23 ROs/tech day; 1.45 hrs/RO</a:t>
            </a:r>
          </a:p>
          <a:p>
            <a:r>
              <a:t>KIA LV: 76.8%; 16 of 20 under 85%; gap 3,389 hrs; labor $51K/mo + parts $23K/mo; tech pay $12K/mo; 11.6% of $643K/mo RO gross; top quarter 101% (5 techs); 5.22 ROs/tech day; 1.70 hrs/RO</a:t>
            </a:r>
          </a:p>
          <a:p>
            <a:r>
              <a:t>KIA ST GEORGE: 67.5%; 9 of 12 under 85%; gap 3,713 hrs; labor $48K/mo + parts $29K/mo; tech pay $11K/mo; 29.7% of $258K/mo RO gross; top quarter 98% (3 techs); 4.25 ROs/tech day; 1.31 hrs/RO</a:t>
            </a:r>
          </a:p>
          <a:p>
            <a:r>
              <a:t>LEXUS: 104.7%; 6 of 11 under 85%; gap 1,451 hrs; labor $24K/mo + parts $7K/mo; tech pay $5K/mo; 7.9% of $400K/mo RO gross; top quarter 178% (3 techs); 4.01 ROs/tech day; 2.44 hrs/RO</a:t>
            </a:r>
          </a:p>
          <a:p>
            <a:r>
              <a:t>LINCOLN: 94.9%; 5 of 11 under 85%; gap 1,236 hrs; labor $17K/mo + parts $7K/mo; tech pay $4K/mo; 7.6% of $312K/mo RO gross; top quarter 125% (3 techs); 3.24 ROs/tech day; 2.35 hrs/RO</a:t>
            </a:r>
          </a:p>
          <a:p>
            <a:r>
              <a:t>LR HENDERSON: 106.0%; 3 of 7 under 85%; gap 567 hrs; labor $9K/mo + parts $5K/mo; tech pay $2K/mo; 4.2% of $357K/mo RO gross; top quarter 145% (2 techs); 2.94 ROs/tech day; 3.68 hrs/RO</a:t>
            </a:r>
          </a:p>
          <a:p>
            <a:r>
              <a:t>LR LV: 91.2%; 8 of 16 under 85%; gap 2,154 hrs; labor $42K/mo + parts $21K/mo; tech pay $9K/mo; 9.0% of $702K/mo RO gross; top quarter 131% (4 techs); 2.41 ROs/tech day; 3.54 hrs/RO</a:t>
            </a:r>
          </a:p>
          <a:p>
            <a:r>
              <a:t>LR RENO: 81.4%; 2 of 6 under 85%; gap 724 hrs; labor $14K/mo + parts $7K/mo; tech pay $3K/mo; 8.0% of $257K/mo RO gross; top quarter 96% (2 techs); 2.36 ROs/tech day; 3.20 hrs/RO</a:t>
            </a:r>
          </a:p>
          <a:p>
            <a:r>
              <a:t>MAZDA: 101.6%; 4 of 11 under 85%; gap 415 hrs; labor $6K/mo + parts $3K/mo; tech pay $1K/mo; 2.7% of $322K/mo RO gross; top quarter 123% (3 techs); 5.78 ROs/tech day; 1.54 hrs/RO</a:t>
            </a:r>
          </a:p>
          <a:p>
            <a:r>
              <a:t>NISSAN: 91.1%; 8 of 17 under 85%; gap 2,291 hrs; labor $30K/mo + parts $13K/mo; tech pay $9K/mo; 8.0% of $532K/mo RO gross; top quarter 132% (4 techs); 4.08 ROs/tech day; 2.29 hrs/RO</a:t>
            </a:r>
          </a:p>
          <a:p>
            <a:r>
              <a:t>SUBARU LV: 96.9%; 11 of 27 under 85%; gap 2,050 hrs; labor $29K/mo + parts $15K/mo; tech pay $5K/mo; 4.1% of $1.07M/mo RO gross; top quarter 132% (7 techs); 4.64 ROs/tech day; 2.07 hrs/RO</a:t>
            </a:r>
          </a:p>
          <a:p>
            <a:r>
              <a:t>SUBARU PRESCOTT: 98.4%; 6 of 12 under 85%; gap 3,523 hrs; labor $37K/mo + parts $21K/mo; tech pay $13K/mo; 20.0% of $288K/mo RO gross; top quarter 179% (3 techs); 4.73 ROs/tech day; 1.68 hrs/RO</a:t>
            </a:r>
          </a:p>
          <a:p>
            <a:r>
              <a:t>SUBARU ST GEORGE: 109.7%; 3 of 12 under 85%; gap 1,248 hrs; labor $14K/mo + parts $8K/mo; tech pay $5K/mo; 5.8% of $382K/mo RO gross; top quarter 146% (3 techs); 4.11 ROs/tech day; 2.20 hrs/RO</a:t>
            </a:r>
          </a:p>
          <a:p>
            <a:r>
              <a:t>TOYOTA FLAGSTAFF: 102.4%; 6 of 18 under 85%; gap 662 hrs; labor $8K/mo + parts $3K/mo; tech pay $2K/mo; 1.9% of $542K/mo RO gross; top quarter 151% (4 techs); 4.96 ROs/tech day; 1.84 hrs/RO</a:t>
            </a:r>
          </a:p>
          <a:p>
            <a:r>
              <a:t>TOYOTA HENDERSON: 104.3%; 20 of 59 under 85%; gap 4,057 hrs; labor $51K/mo + parts $19K/mo; tech pay $14K/mo; 2.9% of $2.44M/mo RO gross; top quarter 153% (15 techs); 6.41 ROs/tech day; 1.88 hrs/RO</a:t>
            </a:r>
          </a:p>
          <a:p>
            <a:r>
              <a:t>TOYOTA PRESCOTT: 83.6%; 11 of 22 under 85%; gap 4,174 hrs; labor $57K/mo + parts $20K/mo; tech pay $16K/mo; 13.5% of $573K/mo RO gross; top quarter 118% (6 techs); 4.22 ROs/tech day; 1.72 hrs/RO</a:t>
            </a:r>
          </a:p>
          <a:p>
            <a:r>
              <a:t>TOYOTA SPOKANE: 108.0%; 4 of 28 under 85%; gap 745 hrs; labor $8K/mo + parts $4K/mo; tech pay $3K/mo; 1.9% of $609K/mo RO gross; top quarter 134% (7 techs); 5.36 ROs/tech day; 1.81 hrs/RO</a:t>
            </a:r>
          </a:p>
          <a:p>
            <a:r>
              <a:t>VOLVO: 72.3%; 8 of 9 under 85%; gap 1,963 hrs; labor $40K/mo + parts $22K/mo; tech pay $5K/mo; 14.8% of $417K/mo RO gross; top quarter 89% (2 techs); 3.81 ROs/tech day; 1.92 hrs/RO</a:t>
            </a:r>
          </a:p>
          <a:p>
            <a:r>
              <a:t>VW HENDERSON: 92.2%; 6 of 19 under 85%; gap 1,416 hrs; labor $19K/mo + parts $5K/mo; tech pay $4K/mo; 4.8% of $516K/mo RO gross; top quarter 115% (5 techs); 3.77 ROs/tech day; 2.28 hrs/RO</a:t>
            </a:r>
          </a:p>
          <a:p>
            <a:r>
              <a:t>VW ST GEORGE: 70.0%; 5 of 5 under 85%; gap 1,149 hrs; labor $13K/mo + parts $7K/mo; tech pay $3K/mo; 19.0% of $109K/mo RO gross; top quarter 76% (1 techs); 3.81 ROs/tech day; 1.65 hrs/RO</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Each technician under 85% lifted to 85% of their own paid hours; techs at or above 85% count as zero, so no store offsets one tech with another. Gap hours valued at what the store's own technicians (counted titles) earn per sold hour in labor gross and parts gross, all pay types, Qlik - Closed Repair Orders, same dates; tech pay at their labor cost per sold hour. Store-wide averages are not used because they carry detail, rental and recon sale booked with no hours. Per month = period total / 9.49 months (Dec 25, 2025 - Oct 9, 2026). Parts assumes the extra hours carry the store's average parts per hour. Population as on the proficiency slides. Missed and Gross are per month. Share = missed labor + parts gross / labor + parts gross on the store's closed ROs, all pay types, same dates (includes work on shared tech codes). Not P&amp;L gross: counter and wholesale parts are excluded because techs do not produce them.ACURA: 67.4%; 11 of 11 under 85%; gap 2,954 hrs; labor $50K/mo + parts $26K/mo; tech pay $14K/mo; 25.4% of $299K/mo RO gross; top quarter 74% (3 techs); 3.46 ROs/tech day; 1.75 hrs/RO</a:t>
            </a:r>
          </a:p>
          <a:p>
            <a:r>
              <a:t>AUDI HENDERSON: 91.0%; 13 of 23 under 85%; gap 3,426 hrs; labor $81K/mo + parts $20K/mo; tech pay $14K/mo; 8.3% of $1.23M/mo RO gross; top quarter 135% (6 techs); 2.77 ROs/tech day; 3.23 hrs/RO</a:t>
            </a:r>
          </a:p>
          <a:p>
            <a:r>
              <a:t>AUDI RENO: 117.1%; 4 of 10 under 85%; gap 826 hrs; labor $14K/mo + parts $6K/mo; tech pay $4K/mo; 4.0% of $504K/mo RO gross; top quarter 194% (2 techs); 4.08 ROs/tech day; 2.88 hrs/RO</a:t>
            </a:r>
          </a:p>
          <a:p>
            <a:r>
              <a:t>CADILLAC: 87.7%; 16 of 29 under 85%; gap 6,705 hrs; labor $108K/mo + parts $49K/mo; tech pay $24K/mo; 13.6% of $1.16M/mo RO gross; top quarter 143% (7 techs); 2.48 ROs/tech day; 3.41 hrs/RO</a:t>
            </a:r>
          </a:p>
          <a:p>
            <a:r>
              <a:t>CDJR POST FALLS: 71.2%; 9 of 14 under 85%; gap 5,005 hrs; labor $68K/mo + parts $32K/mo; tech pay $18K/mo; 24.6% of $408K/mo RO gross; top quarter 129% (4 techs); 3.77 ROs/tech day; 2.25 hrs/RO</a:t>
            </a:r>
          </a:p>
          <a:p>
            <a:r>
              <a:t>CHEVY GMC BULLHEAD: 68.4%; 16 of 20 under 85%; gap 5,809 hrs; labor $73K/mo + parts $39K/mo; tech pay $20K/mo; 23.2% of $483K/mo RO gross; top quarter 96% (5 techs); 3.06 ROs/tech day; 2.19 hrs/RO</a:t>
            </a:r>
          </a:p>
          <a:p>
            <a:r>
              <a:t>CHEVY LV: 103.4%; 16 of 51 under 85%; gap 5,102 hrs; labor $62K/mo + parts $25K/mo; tech pay $17K/mo; 5.2% of $1.69M/mo RO gross; top quarter 164% (13 techs); 3.95 ROs/tech day; 2.69 hrs/RO</a:t>
            </a:r>
          </a:p>
          <a:p>
            <a:r>
              <a:t>GMC PRESCOTT: 73.6%; 7 of 12 under 85%; gap 2,741 hrs; labor $31K/mo + parts $17K/mo; tech pay $12K/mo; 14.4% of $333K/mo RO gross; top quarter 104% (3 techs); 3.59 ROs/tech day; 4.21 hrs/RO</a:t>
            </a:r>
          </a:p>
          <a:p>
            <a:r>
              <a:t>HONDA FLAGSTAFF: 78.5%; 4 of 6 under 85%; gap 2,217 hrs; labor $28K/mo + parts $12K/mo; tech pay $8K/mo; 19.6% of $202K/mo RO gross; top quarter 131% (2 techs); 5.23 ROs/tech day; 1.85 hrs/RO</a:t>
            </a:r>
          </a:p>
          <a:p>
            <a:r>
              <a:t>HONDA HENDERSON: 118.5%; 5 of 28 under 85%; gap 669 hrs; labor $9K/mo + parts $4K/mo; tech pay $2K/mo; 0.8% of $1.54M/mo RO gross; top quarter 172% (7 techs); 6.04 ROs/tech day; 2.11 hrs/RO</a:t>
            </a:r>
          </a:p>
          <a:p>
            <a:r>
              <a:t>HONDA NORTH: 109.3%; 4 of 22 under 85%; gap 764 hrs; labor $9K/mo + parts $4K/mo; tech pay $2K/mo; 1.4% of $949K/mo RO gross; top quarter 152% (6 techs); 6.08 ROs/tech day; 2.29 hrs/RO</a:t>
            </a:r>
          </a:p>
          <a:p>
            <a:r>
              <a:t>HONDA SPOKANE: 109.0%; 2 of 15 under 85%; gap 57 hrs; labor $1K/mo + parts $0K/mo; tech pay $0K/mo; 0.2% of $453K/mo RO gross; top quarter 130% (4 techs); 6.24 ROs/tech day; 2.14 hrs/RO</a:t>
            </a:r>
          </a:p>
          <a:p>
            <a:r>
              <a:t>HYUNDAI PRESCOTT: 78.8%; 6 of 9 under 85%; gap 1,873 hrs; labor $23K/mo + parts $11K/mo; tech pay $8K/mo; 18.5% of $185K/mo RO gross; top quarter 113% (2 techs); 3.75 ROs/tech day; 1.78 hrs/RO</a:t>
            </a:r>
          </a:p>
          <a:p>
            <a:r>
              <a:t>HYUNDAI ST GEORGE: 69.0%; 8 of 11 under 85%; gap 3,952 hrs; labor $58K/mo + parts $30K/mo; tech pay $13K/mo; 31.9% of $277K/mo RO gross; top quarter 122% (3 techs); 4.23 ROs/tech day; 1.45 hrs/RO</a:t>
            </a:r>
          </a:p>
          <a:p>
            <a:r>
              <a:t>KIA LV: 76.8%; 16 of 20 under 85%; gap 3,389 hrs; labor $51K/mo + parts $23K/mo; tech pay $12K/mo; 11.6% of $643K/mo RO gross; top quarter 101% (5 techs); 5.22 ROs/tech day; 1.70 hrs/RO</a:t>
            </a:r>
          </a:p>
          <a:p>
            <a:r>
              <a:t>KIA ST GEORGE: 67.5%; 9 of 12 under 85%; gap 3,713 hrs; labor $48K/mo + parts $29K/mo; tech pay $11K/mo; 29.7% of $258K/mo RO gross; top quarter 98% (3 techs); 4.25 ROs/tech day; 1.31 hrs/RO</a:t>
            </a:r>
          </a:p>
          <a:p>
            <a:r>
              <a:t>LEXUS: 104.7%; 6 of 11 under 85%; gap 1,451 hrs; labor $24K/mo + parts $7K/mo; tech pay $5K/mo; 7.9% of $400K/mo RO gross; top quarter 178% (3 techs); 4.01 ROs/tech day; 2.44 hrs/RO</a:t>
            </a:r>
          </a:p>
          <a:p>
            <a:r>
              <a:t>LINCOLN: 94.9%; 5 of 11 under 85%; gap 1,236 hrs; labor $17K/mo + parts $7K/mo; tech pay $4K/mo; 7.6% of $312K/mo RO gross; top quarter 125% (3 techs); 3.24 ROs/tech day; 2.35 hrs/RO</a:t>
            </a:r>
          </a:p>
          <a:p>
            <a:r>
              <a:t>LR HENDERSON: 106.0%; 3 of 7 under 85%; gap 567 hrs; labor $9K/mo + parts $5K/mo; tech pay $2K/mo; 4.2% of $357K/mo RO gross; top quarter 145% (2 techs); 2.94 ROs/tech day; 3.68 hrs/RO</a:t>
            </a:r>
          </a:p>
          <a:p>
            <a:r>
              <a:t>LR LV: 91.2%; 8 of 16 under 85%; gap 2,154 hrs; labor $42K/mo + parts $21K/mo; tech pay $9K/mo; 9.0% of $702K/mo RO gross; top quarter 131% (4 techs); 2.41 ROs/tech day; 3.54 hrs/RO</a:t>
            </a:r>
          </a:p>
          <a:p>
            <a:r>
              <a:t>LR RENO: 81.4%; 2 of 6 under 85%; gap 724 hrs; labor $14K/mo + parts $7K/mo; tech pay $3K/mo; 8.0% of $257K/mo RO gross; top quarter 96% (2 techs); 2.36 ROs/tech day; 3.20 hrs/RO</a:t>
            </a:r>
          </a:p>
          <a:p>
            <a:r>
              <a:t>MAZDA: 101.6%; 4 of 11 under 85%; gap 415 hrs; labor $6K/mo + parts $3K/mo; tech pay $1K/mo; 2.7% of $322K/mo RO gross; top quarter 123% (3 techs); 5.78 ROs/tech day; 1.54 hrs/RO</a:t>
            </a:r>
          </a:p>
          <a:p>
            <a:r>
              <a:t>NISSAN: 91.1%; 8 of 17 under 85%; gap 2,291 hrs; labor $30K/mo + parts $13K/mo; tech pay $9K/mo; 8.0% of $532K/mo RO gross; top quarter 132% (4 techs); 4.08 ROs/tech day; 2.29 hrs/RO</a:t>
            </a:r>
          </a:p>
          <a:p>
            <a:r>
              <a:t>SUBARU LV: 96.9%; 11 of 27 under 85%; gap 2,050 hrs; labor $29K/mo + parts $15K/mo; tech pay $5K/mo; 4.1% of $1.07M/mo RO gross; top quarter 132% (7 techs); 4.64 ROs/tech day; 2.07 hrs/RO</a:t>
            </a:r>
          </a:p>
          <a:p>
            <a:r>
              <a:t>SUBARU PRESCOTT: 98.4%; 6 of 12 under 85%; gap 3,523 hrs; labor $37K/mo + parts $21K/mo; tech pay $13K/mo; 20.0% of $288K/mo RO gross; top quarter 179% (3 techs); 4.73 ROs/tech day; 1.68 hrs/RO</a:t>
            </a:r>
          </a:p>
          <a:p>
            <a:r>
              <a:t>SUBARU ST GEORGE: 109.7%; 3 of 12 under 85%; gap 1,248 hrs; labor $14K/mo + parts $8K/mo; tech pay $5K/mo; 5.8% of $382K/mo RO gross; top quarter 146% (3 techs); 4.11 ROs/tech day; 2.20 hrs/RO</a:t>
            </a:r>
          </a:p>
          <a:p>
            <a:r>
              <a:t>TOYOTA FLAGSTAFF: 102.4%; 6 of 18 under 85%; gap 662 hrs; labor $8K/mo + parts $3K/mo; tech pay $2K/mo; 1.9% of $542K/mo RO gross; top quarter 151% (4 techs); 4.96 ROs/tech day; 1.84 hrs/RO</a:t>
            </a:r>
          </a:p>
          <a:p>
            <a:r>
              <a:t>TOYOTA HENDERSON: 104.3%; 20 of 59 under 85%; gap 4,057 hrs; labor $51K/mo + parts $19K/mo; tech pay $14K/mo; 2.9% of $2.44M/mo RO gross; top quarter 153% (15 techs); 6.41 ROs/tech day; 1.88 hrs/RO</a:t>
            </a:r>
          </a:p>
          <a:p>
            <a:r>
              <a:t>TOYOTA PRESCOTT: 83.6%; 11 of 22 under 85%; gap 4,174 hrs; labor $57K/mo + parts $20K/mo; tech pay $16K/mo; 13.5% of $573K/mo RO gross; top quarter 118% (6 techs); 4.22 ROs/tech day; 1.72 hrs/RO</a:t>
            </a:r>
          </a:p>
          <a:p>
            <a:r>
              <a:t>TOYOTA SPOKANE: 108.0%; 4 of 28 under 85%; gap 745 hrs; labor $8K/mo + parts $4K/mo; tech pay $3K/mo; 1.9% of $609K/mo RO gross; top quarter 134% (7 techs); 5.36 ROs/tech day; 1.81 hrs/RO</a:t>
            </a:r>
          </a:p>
          <a:p>
            <a:r>
              <a:t>VOLVO: 72.3%; 8 of 9 under 85%; gap 1,963 hrs; labor $40K/mo + parts $22K/mo; tech pay $5K/mo; 14.8% of $417K/mo RO gross; top quarter 89% (2 techs); 3.81 ROs/tech day; 1.92 hrs/RO</a:t>
            </a:r>
          </a:p>
          <a:p>
            <a:r>
              <a:t>VW HENDERSON: 92.2%; 6 of 19 under 85%; gap 1,416 hrs; labor $19K/mo + parts $5K/mo; tech pay $4K/mo; 4.8% of $516K/mo RO gross; top quarter 115% (5 techs); 3.77 ROs/tech day; 2.28 hrs/RO</a:t>
            </a:r>
          </a:p>
          <a:p>
            <a:r>
              <a:t>VW ST GEORGE: 70.0%; 5 of 5 under 85%; gap 1,149 hrs; labor $13K/mo + parts $7K/mo; tech pay $3K/mo; 19.0% of $109K/mo RO gross; top quarter 76% (1 techs); 3.81 ROs/tech day; 1.65 hrs/RO</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ADP paid hours (regular + overtime) and Qlik - Closed Repair Orders sold hours, all pay types, matched by tech number. Dec 25, 2025 - Oct 9, 2026 (shown as Jan-Sep). Same-store, INEOS excluded (opened 2026). Service, express, team-leader and shop-foreman titles only; body shop, detail and tint excluded. Outliers dropped: shop foremen at or below 30% (workbook uses 20%; under 30% a foreman is mainly dispatching), team leaders at or below 20%, service and express technicians at or below 10% (workbook uses 2%; under 10% a tech is not working as a line tech). Unassigned codes (MULT, 999, 77777) excluded. Role changes: ADP shows one current title with paid hours for the whole period, so when a tech's paid hours exceed 125% of full time over the months they actually flagged, paid hours are scaled to that span (56 techs). 45 keying-error lines removed from sold hours (5,399 hrs: single lines of 20+ hours with under $25 labor sale per hour, e.g. 940.58 hrs for $0 at Hyundai St George, RO 177970). Top quarter = the store's most proficient quarter of counted technicians (at least one), sold / paid hours combined. Bars capped at 190%.ACURA: 67.4%; 11 of 11 under 85%; gap 2,954 hrs; labor $50K/mo + parts $26K/mo; tech pay $14K/mo; 25.4% of $299K/mo RO gross; top quarter 74% (3 techs); 3.46 ROs/tech day; 1.75 hrs/RO</a:t>
            </a:r>
          </a:p>
          <a:p>
            <a:r>
              <a:t>AUDI HENDERSON: 91.0%; 13 of 23 under 85%; gap 3,426 hrs; labor $81K/mo + parts $20K/mo; tech pay $14K/mo; 8.3% of $1.23M/mo RO gross; top quarter 135% (6 techs); 2.77 ROs/tech day; 3.23 hrs/RO</a:t>
            </a:r>
          </a:p>
          <a:p>
            <a:r>
              <a:t>AUDI RENO: 117.1%; 4 of 10 under 85%; gap 826 hrs; labor $14K/mo + parts $6K/mo; tech pay $4K/mo; 4.0% of $504K/mo RO gross; top quarter 194% (2 techs); 4.08 ROs/tech day; 2.88 hrs/RO</a:t>
            </a:r>
          </a:p>
          <a:p>
            <a:r>
              <a:t>CADILLAC: 87.7%; 16 of 29 under 85%; gap 6,705 hrs; labor $108K/mo + parts $49K/mo; tech pay $24K/mo; 13.6% of $1.16M/mo RO gross; top quarter 143% (7 techs); 2.48 ROs/tech day; 3.41 hrs/RO</a:t>
            </a:r>
          </a:p>
          <a:p>
            <a:r>
              <a:t>CDJR POST FALLS: 71.2%; 9 of 14 under 85%; gap 5,005 hrs; labor $68K/mo + parts $32K/mo; tech pay $18K/mo; 24.6% of $408K/mo RO gross; top quarter 129% (4 techs); 3.77 ROs/tech day; 2.25 hrs/RO</a:t>
            </a:r>
          </a:p>
          <a:p>
            <a:r>
              <a:t>CHEVY GMC BULLHEAD: 68.4%; 16 of 20 under 85%; gap 5,809 hrs; labor $73K/mo + parts $39K/mo; tech pay $20K/mo; 23.2% of $483K/mo RO gross; top quarter 96% (5 techs); 3.06 ROs/tech day; 2.19 hrs/RO</a:t>
            </a:r>
          </a:p>
          <a:p>
            <a:r>
              <a:t>CHEVY LV: 103.4%; 16 of 51 under 85%; gap 5,102 hrs; labor $62K/mo + parts $25K/mo; tech pay $17K/mo; 5.2% of $1.69M/mo RO gross; top quarter 164% (13 techs); 3.95 ROs/tech day; 2.69 hrs/RO</a:t>
            </a:r>
          </a:p>
          <a:p>
            <a:r>
              <a:t>GMC PRESCOTT: 73.6%; 7 of 12 under 85%; gap 2,741 hrs; labor $31K/mo + parts $17K/mo; tech pay $12K/mo; 14.4% of $333K/mo RO gross; top quarter 104% (3 techs); 3.59 ROs/tech day; 4.21 hrs/RO</a:t>
            </a:r>
          </a:p>
          <a:p>
            <a:r>
              <a:t>HONDA FLAGSTAFF: 78.5%; 4 of 6 under 85%; gap 2,217 hrs; labor $28K/mo + parts $12K/mo; tech pay $8K/mo; 19.6% of $202K/mo RO gross; top quarter 131% (2 techs); 5.23 ROs/tech day; 1.85 hrs/RO</a:t>
            </a:r>
          </a:p>
          <a:p>
            <a:r>
              <a:t>HONDA HENDERSON: 118.5%; 5 of 28 under 85%; gap 669 hrs; labor $9K/mo + parts $4K/mo; tech pay $2K/mo; 0.8% of $1.54M/mo RO gross; top quarter 172% (7 techs); 6.04 ROs/tech day; 2.11 hrs/RO</a:t>
            </a:r>
          </a:p>
          <a:p>
            <a:r>
              <a:t>HONDA NORTH: 109.3%; 4 of 22 under 85%; gap 764 hrs; labor $9K/mo + parts $4K/mo; tech pay $2K/mo; 1.4% of $949K/mo RO gross; top quarter 152% (6 techs); 6.08 ROs/tech day; 2.29 hrs/RO</a:t>
            </a:r>
          </a:p>
          <a:p>
            <a:r>
              <a:t>HONDA SPOKANE: 109.0%; 2 of 15 under 85%; gap 57 hrs; labor $1K/mo + parts $0K/mo; tech pay $0K/mo; 0.2% of $453K/mo RO gross; top quarter 130% (4 techs); 6.24 ROs/tech day; 2.14 hrs/RO</a:t>
            </a:r>
          </a:p>
          <a:p>
            <a:r>
              <a:t>HYUNDAI PRESCOTT: 78.8%; 6 of 9 under 85%; gap 1,873 hrs; labor $23K/mo + parts $11K/mo; tech pay $8K/mo; 18.5% of $185K/mo RO gross; top quarter 113% (2 techs); 3.75 ROs/tech day; 1.78 hrs/RO</a:t>
            </a:r>
          </a:p>
          <a:p>
            <a:r>
              <a:t>HYUNDAI ST GEORGE: 69.0%; 8 of 11 under 85%; gap 3,952 hrs; labor $58K/mo + parts $30K/mo; tech pay $13K/mo; 31.9% of $277K/mo RO gross; top quarter 122% (3 techs); 4.23 ROs/tech day; 1.45 hrs/RO</a:t>
            </a:r>
          </a:p>
          <a:p>
            <a:r>
              <a:t>KIA LV: 76.8%; 16 of 20 under 85%; gap 3,389 hrs; labor $51K/mo + parts $23K/mo; tech pay $12K/mo; 11.6% of $643K/mo RO gross; top quarter 101% (5 techs); 5.22 ROs/tech day; 1.70 hrs/RO</a:t>
            </a:r>
          </a:p>
          <a:p>
            <a:r>
              <a:t>KIA ST GEORGE: 67.5%; 9 of 12 under 85%; gap 3,713 hrs; labor $48K/mo + parts $29K/mo; tech pay $11K/mo; 29.7% of $258K/mo RO gross; top quarter 98% (3 techs); 4.25 ROs/tech day; 1.31 hrs/RO</a:t>
            </a:r>
          </a:p>
          <a:p>
            <a:r>
              <a:t>LEXUS: 104.7%; 6 of 11 under 85%; gap 1,451 hrs; labor $24K/mo + parts $7K/mo; tech pay $5K/mo; 7.9% of $400K/mo RO gross; top quarter 178% (3 techs); 4.01 ROs/tech day; 2.44 hrs/RO</a:t>
            </a:r>
          </a:p>
          <a:p>
            <a:r>
              <a:t>LINCOLN: 94.9%; 5 of 11 under 85%; gap 1,236 hrs; labor $17K/mo + parts $7K/mo; tech pay $4K/mo; 7.6% of $312K/mo RO gross; top quarter 125% (3 techs); 3.24 ROs/tech day; 2.35 hrs/RO</a:t>
            </a:r>
          </a:p>
          <a:p>
            <a:r>
              <a:t>LR HENDERSON: 106.0%; 3 of 7 under 85%; gap 567 hrs; labor $9K/mo + parts $5K/mo; tech pay $2K/mo; 4.2% of $357K/mo RO gross; top quarter 145% (2 techs); 2.94 ROs/tech day; 3.68 hrs/RO</a:t>
            </a:r>
          </a:p>
          <a:p>
            <a:r>
              <a:t>LR LV: 91.2%; 8 of 16 under 85%; gap 2,154 hrs; labor $42K/mo + parts $21K/mo; tech pay $9K/mo; 9.0% of $702K/mo RO gross; top quarter 131% (4 techs); 2.41 ROs/tech day; 3.54 hrs/RO</a:t>
            </a:r>
          </a:p>
          <a:p>
            <a:r>
              <a:t>LR RENO: 81.4%; 2 of 6 under 85%; gap 724 hrs; labor $14K/mo + parts $7K/mo; tech pay $3K/mo; 8.0% of $257K/mo RO gross; top quarter 96% (2 techs); 2.36 ROs/tech day; 3.20 hrs/RO</a:t>
            </a:r>
          </a:p>
          <a:p>
            <a:r>
              <a:t>MAZDA: 101.6%; 4 of 11 under 85%; gap 415 hrs; labor $6K/mo + parts $3K/mo; tech pay $1K/mo; 2.7% of $322K/mo RO gross; top quarter 123% (3 techs); 5.78 ROs/tech day; 1.54 hrs/RO</a:t>
            </a:r>
          </a:p>
          <a:p>
            <a:r>
              <a:t>NISSAN: 91.1%; 8 of 17 under 85%; gap 2,291 hrs; labor $30K/mo + parts $13K/mo; tech pay $9K/mo; 8.0% of $532K/mo RO gross; top quarter 132% (4 techs); 4.08 ROs/tech day; 2.29 hrs/RO</a:t>
            </a:r>
          </a:p>
          <a:p>
            <a:r>
              <a:t>SUBARU LV: 96.9%; 11 of 27 under 85%; gap 2,050 hrs; labor $29K/mo + parts $15K/mo; tech pay $5K/mo; 4.1% of $1.07M/mo RO gross; top quarter 132% (7 techs); 4.64 ROs/tech day; 2.07 hrs/RO</a:t>
            </a:r>
          </a:p>
          <a:p>
            <a:r>
              <a:t>SUBARU PRESCOTT: 98.4%; 6 of 12 under 85%; gap 3,523 hrs; labor $37K/mo + parts $21K/mo; tech pay $13K/mo; 20.0% of $288K/mo RO gross; top quarter 179% (3 techs); 4.73 ROs/tech day; 1.68 hrs/RO</a:t>
            </a:r>
          </a:p>
          <a:p>
            <a:r>
              <a:t>SUBARU ST GEORGE: 109.7%; 3 of 12 under 85%; gap 1,248 hrs; labor $14K/mo + parts $8K/mo; tech pay $5K/mo; 5.8% of $382K/mo RO gross; top quarter 146% (3 techs); 4.11 ROs/tech day; 2.20 hrs/RO</a:t>
            </a:r>
          </a:p>
          <a:p>
            <a:r>
              <a:t>TOYOTA FLAGSTAFF: 102.4%; 6 of 18 under 85%; gap 662 hrs; labor $8K/mo + parts $3K/mo; tech pay $2K/mo; 1.9% of $542K/mo RO gross; top quarter 151% (4 techs); 4.96 ROs/tech day; 1.84 hrs/RO</a:t>
            </a:r>
          </a:p>
          <a:p>
            <a:r>
              <a:t>TOYOTA HENDERSON: 104.3%; 20 of 59 under 85%; gap 4,057 hrs; labor $51K/mo + parts $19K/mo; tech pay $14K/mo; 2.9% of $2.44M/mo RO gross; top quarter 153% (15 techs); 6.41 ROs/tech day; 1.88 hrs/RO</a:t>
            </a:r>
          </a:p>
          <a:p>
            <a:r>
              <a:t>TOYOTA PRESCOTT: 83.6%; 11 of 22 under 85%; gap 4,174 hrs; labor $57K/mo + parts $20K/mo; tech pay $16K/mo; 13.5% of $573K/mo RO gross; top quarter 118% (6 techs); 4.22 ROs/tech day; 1.72 hrs/RO</a:t>
            </a:r>
          </a:p>
          <a:p>
            <a:r>
              <a:t>TOYOTA SPOKANE: 108.0%; 4 of 28 under 85%; gap 745 hrs; labor $8K/mo + parts $4K/mo; tech pay $3K/mo; 1.9% of $609K/mo RO gross; top quarter 134% (7 techs); 5.36 ROs/tech day; 1.81 hrs/RO</a:t>
            </a:r>
          </a:p>
          <a:p>
            <a:r>
              <a:t>VOLVO: 72.3%; 8 of 9 under 85%; gap 1,963 hrs; labor $40K/mo + parts $22K/mo; tech pay $5K/mo; 14.8% of $417K/mo RO gross; top quarter 89% (2 techs); 3.81 ROs/tech day; 1.92 hrs/RO</a:t>
            </a:r>
          </a:p>
          <a:p>
            <a:r>
              <a:t>VW HENDERSON: 92.2%; 6 of 19 under 85%; gap 1,416 hrs; labor $19K/mo + parts $5K/mo; tech pay $4K/mo; 4.8% of $516K/mo RO gross; top quarter 115% (5 techs); 3.77 ROs/tech day; 2.28 hrs/RO</a:t>
            </a:r>
          </a:p>
          <a:p>
            <a:r>
              <a:t>VW ST GEORGE: 70.0%; 5 of 5 under 85%; gap 1,149 hrs; labor $13K/mo + parts $7K/mo; tech pay $3K/mo; 19.0% of $109K/mo RO gross; top quarter 76% (1 techs); 3.81 ROs/tech day; 1.65 hrs/RO</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ADP paid hours (regular + overtime) and Qlik - Closed Repair Orders sold hours, all pay types, matched by tech number. Dec 25, 2025 - Oct 9, 2026 (shown as Jan-Sep). Same-store, INEOS excluded (opened 2026). Service, express, team-leader and shop-foreman titles only; body shop, detail and tint excluded. Outliers dropped: shop foremen at or below 30% (workbook uses 20%; under 30% a foreman is mainly dispatching), team leaders at or below 20%, service and express technicians at or below 10% (workbook uses 2%; under 10% a tech is not working as a line tech). Unassigned codes (MULT, 999, 77777) excluded. Role changes: ADP shows one current title with paid hours for the whole period, so when a tech's paid hours exceed 125% of full time over the months they actually flagged, paid hours are scaled to that span (56 techs). 45 keying-error lines removed from sold hours (5,399 hrs: single lines of 20+ hours with under $25 labor sale per hour, e.g. 940.58 hrs for $0 at Hyundai St George, RO 177970). Stores under 85% only. ROs/day = distinct ROs, all pay types, per counted tech per 8 paid hours. Seg avg = luxury 3.0, non-luxury 4.9 (luxury = Lexus, Lincoln, Cadillac, Volvo, Audi Reno, Audi Henderson, LR Reno, LR LV, LR Henderson). Fewer ROs per tech can mean too few cars for the staff or slow techs turning work away; it starts the conversation rather than settling it.ACURA: 67.4%; 11 of 11 under 85%; gap 2,954 hrs; labor $50K/mo + parts $26K/mo; tech pay $14K/mo; 25.4% of $299K/mo RO gross; top quarter 74% (3 techs); 3.46 ROs/tech day; 1.75 hrs/RO</a:t>
            </a:r>
          </a:p>
          <a:p>
            <a:r>
              <a:t>AUDI HENDERSON: 91.0%; 13 of 23 under 85%; gap 3,426 hrs; labor $81K/mo + parts $20K/mo; tech pay $14K/mo; 8.3% of $1.23M/mo RO gross; top quarter 135% (6 techs); 2.77 ROs/tech day; 3.23 hrs/RO</a:t>
            </a:r>
          </a:p>
          <a:p>
            <a:r>
              <a:t>AUDI RENO: 117.1%; 4 of 10 under 85%; gap 826 hrs; labor $14K/mo + parts $6K/mo; tech pay $4K/mo; 4.0% of $504K/mo RO gross; top quarter 194% (2 techs); 4.08 ROs/tech day; 2.88 hrs/RO</a:t>
            </a:r>
          </a:p>
          <a:p>
            <a:r>
              <a:t>CADILLAC: 87.7%; 16 of 29 under 85%; gap 6,705 hrs; labor $108K/mo + parts $49K/mo; tech pay $24K/mo; 13.6% of $1.16M/mo RO gross; top quarter 143% (7 techs); 2.48 ROs/tech day; 3.41 hrs/RO</a:t>
            </a:r>
          </a:p>
          <a:p>
            <a:r>
              <a:t>CDJR POST FALLS: 71.2%; 9 of 14 under 85%; gap 5,005 hrs; labor $68K/mo + parts $32K/mo; tech pay $18K/mo; 24.6% of $408K/mo RO gross; top quarter 129% (4 techs); 3.77 ROs/tech day; 2.25 hrs/RO</a:t>
            </a:r>
          </a:p>
          <a:p>
            <a:r>
              <a:t>CHEVY GMC BULLHEAD: 68.4%; 16 of 20 under 85%; gap 5,809 hrs; labor $73K/mo + parts $39K/mo; tech pay $20K/mo; 23.2% of $483K/mo RO gross; top quarter 96% (5 techs); 3.06 ROs/tech day; 2.19 hrs/RO</a:t>
            </a:r>
          </a:p>
          <a:p>
            <a:r>
              <a:t>CHEVY LV: 103.4%; 16 of 51 under 85%; gap 5,102 hrs; labor $62K/mo + parts $25K/mo; tech pay $17K/mo; 5.2% of $1.69M/mo RO gross; top quarter 164% (13 techs); 3.95 ROs/tech day; 2.69 hrs/RO</a:t>
            </a:r>
          </a:p>
          <a:p>
            <a:r>
              <a:t>GMC PRESCOTT: 73.6%; 7 of 12 under 85%; gap 2,741 hrs; labor $31K/mo + parts $17K/mo; tech pay $12K/mo; 14.4% of $333K/mo RO gross; top quarter 104% (3 techs); 3.59 ROs/tech day; 4.21 hrs/RO</a:t>
            </a:r>
          </a:p>
          <a:p>
            <a:r>
              <a:t>HONDA FLAGSTAFF: 78.5%; 4 of 6 under 85%; gap 2,217 hrs; labor $28K/mo + parts $12K/mo; tech pay $8K/mo; 19.6% of $202K/mo RO gross; top quarter 131% (2 techs); 5.23 ROs/tech day; 1.85 hrs/RO</a:t>
            </a:r>
          </a:p>
          <a:p>
            <a:r>
              <a:t>HONDA HENDERSON: 118.5%; 5 of 28 under 85%; gap 669 hrs; labor $9K/mo + parts $4K/mo; tech pay $2K/mo; 0.8% of $1.54M/mo RO gross; top quarter 172% (7 techs); 6.04 ROs/tech day; 2.11 hrs/RO</a:t>
            </a:r>
          </a:p>
          <a:p>
            <a:r>
              <a:t>HONDA NORTH: 109.3%; 4 of 22 under 85%; gap 764 hrs; labor $9K/mo + parts $4K/mo; tech pay $2K/mo; 1.4% of $949K/mo RO gross; top quarter 152% (6 techs); 6.08 ROs/tech day; 2.29 hrs/RO</a:t>
            </a:r>
          </a:p>
          <a:p>
            <a:r>
              <a:t>HONDA SPOKANE: 109.0%; 2 of 15 under 85%; gap 57 hrs; labor $1K/mo + parts $0K/mo; tech pay $0K/mo; 0.2% of $453K/mo RO gross; top quarter 130% (4 techs); 6.24 ROs/tech day; 2.14 hrs/RO</a:t>
            </a:r>
          </a:p>
          <a:p>
            <a:r>
              <a:t>HYUNDAI PRESCOTT: 78.8%; 6 of 9 under 85%; gap 1,873 hrs; labor $23K/mo + parts $11K/mo; tech pay $8K/mo; 18.5% of $185K/mo RO gross; top quarter 113% (2 techs); 3.75 ROs/tech day; 1.78 hrs/RO</a:t>
            </a:r>
          </a:p>
          <a:p>
            <a:r>
              <a:t>HYUNDAI ST GEORGE: 69.0%; 8 of 11 under 85%; gap 3,952 hrs; labor $58K/mo + parts $30K/mo; tech pay $13K/mo; 31.9% of $277K/mo RO gross; top quarter 122% (3 techs); 4.23 ROs/tech day; 1.45 hrs/RO</a:t>
            </a:r>
          </a:p>
          <a:p>
            <a:r>
              <a:t>KIA LV: 76.8%; 16 of 20 under 85%; gap 3,389 hrs; labor $51K/mo + parts $23K/mo; tech pay $12K/mo; 11.6% of $643K/mo RO gross; top quarter 101% (5 techs); 5.22 ROs/tech day; 1.70 hrs/RO</a:t>
            </a:r>
          </a:p>
          <a:p>
            <a:r>
              <a:t>KIA ST GEORGE: 67.5%; 9 of 12 under 85%; gap 3,713 hrs; labor $48K/mo + parts $29K/mo; tech pay $11K/mo; 29.7% of $258K/mo RO gross; top quarter 98% (3 techs); 4.25 ROs/tech day; 1.31 hrs/RO</a:t>
            </a:r>
          </a:p>
          <a:p>
            <a:r>
              <a:t>LEXUS: 104.7%; 6 of 11 under 85%; gap 1,451 hrs; labor $24K/mo + parts $7K/mo; tech pay $5K/mo; 7.9% of $400K/mo RO gross; top quarter 178% (3 techs); 4.01 ROs/tech day; 2.44 hrs/RO</a:t>
            </a:r>
          </a:p>
          <a:p>
            <a:r>
              <a:t>LINCOLN: 94.9%; 5 of 11 under 85%; gap 1,236 hrs; labor $17K/mo + parts $7K/mo; tech pay $4K/mo; 7.6% of $312K/mo RO gross; top quarter 125% (3 techs); 3.24 ROs/tech day; 2.35 hrs/RO</a:t>
            </a:r>
          </a:p>
          <a:p>
            <a:r>
              <a:t>LR HENDERSON: 106.0%; 3 of 7 under 85%; gap 567 hrs; labor $9K/mo + parts $5K/mo; tech pay $2K/mo; 4.2% of $357K/mo RO gross; top quarter 145% (2 techs); 2.94 ROs/tech day; 3.68 hrs/RO</a:t>
            </a:r>
          </a:p>
          <a:p>
            <a:r>
              <a:t>LR LV: 91.2%; 8 of 16 under 85%; gap 2,154 hrs; labor $42K/mo + parts $21K/mo; tech pay $9K/mo; 9.0% of $702K/mo RO gross; top quarter 131% (4 techs); 2.41 ROs/tech day; 3.54 hrs/RO</a:t>
            </a:r>
          </a:p>
          <a:p>
            <a:r>
              <a:t>LR RENO: 81.4%; 2 of 6 under 85%; gap 724 hrs; labor $14K/mo + parts $7K/mo; tech pay $3K/mo; 8.0% of $257K/mo RO gross; top quarter 96% (2 techs); 2.36 ROs/tech day; 3.20 hrs/RO</a:t>
            </a:r>
          </a:p>
          <a:p>
            <a:r>
              <a:t>MAZDA: 101.6%; 4 of 11 under 85%; gap 415 hrs; labor $6K/mo + parts $3K/mo; tech pay $1K/mo; 2.7% of $322K/mo RO gross; top quarter 123% (3 techs); 5.78 ROs/tech day; 1.54 hrs/RO</a:t>
            </a:r>
          </a:p>
          <a:p>
            <a:r>
              <a:t>NISSAN: 91.1%; 8 of 17 under 85%; gap 2,291 hrs; labor $30K/mo + parts $13K/mo; tech pay $9K/mo; 8.0% of $532K/mo RO gross; top quarter 132% (4 techs); 4.08 ROs/tech day; 2.29 hrs/RO</a:t>
            </a:r>
          </a:p>
          <a:p>
            <a:r>
              <a:t>SUBARU LV: 96.9%; 11 of 27 under 85%; gap 2,050 hrs; labor $29K/mo + parts $15K/mo; tech pay $5K/mo; 4.1% of $1.07M/mo RO gross; top quarter 132% (7 techs); 4.64 ROs/tech day; 2.07 hrs/RO</a:t>
            </a:r>
          </a:p>
          <a:p>
            <a:r>
              <a:t>SUBARU PRESCOTT: 98.4%; 6 of 12 under 85%; gap 3,523 hrs; labor $37K/mo + parts $21K/mo; tech pay $13K/mo; 20.0% of $288K/mo RO gross; top quarter 179% (3 techs); 4.73 ROs/tech day; 1.68 hrs/RO</a:t>
            </a:r>
          </a:p>
          <a:p>
            <a:r>
              <a:t>SUBARU ST GEORGE: 109.7%; 3 of 12 under 85%; gap 1,248 hrs; labor $14K/mo + parts $8K/mo; tech pay $5K/mo; 5.8% of $382K/mo RO gross; top quarter 146% (3 techs); 4.11 ROs/tech day; 2.20 hrs/RO</a:t>
            </a:r>
          </a:p>
          <a:p>
            <a:r>
              <a:t>TOYOTA FLAGSTAFF: 102.4%; 6 of 18 under 85%; gap 662 hrs; labor $8K/mo + parts $3K/mo; tech pay $2K/mo; 1.9% of $542K/mo RO gross; top quarter 151% (4 techs); 4.96 ROs/tech day; 1.84 hrs/RO</a:t>
            </a:r>
          </a:p>
          <a:p>
            <a:r>
              <a:t>TOYOTA HENDERSON: 104.3%; 20 of 59 under 85%; gap 4,057 hrs; labor $51K/mo + parts $19K/mo; tech pay $14K/mo; 2.9% of $2.44M/mo RO gross; top quarter 153% (15 techs); 6.41 ROs/tech day; 1.88 hrs/RO</a:t>
            </a:r>
          </a:p>
          <a:p>
            <a:r>
              <a:t>TOYOTA PRESCOTT: 83.6%; 11 of 22 under 85%; gap 4,174 hrs; labor $57K/mo + parts $20K/mo; tech pay $16K/mo; 13.5% of $573K/mo RO gross; top quarter 118% (6 techs); 4.22 ROs/tech day; 1.72 hrs/RO</a:t>
            </a:r>
          </a:p>
          <a:p>
            <a:r>
              <a:t>TOYOTA SPOKANE: 108.0%; 4 of 28 under 85%; gap 745 hrs; labor $8K/mo + parts $4K/mo; tech pay $3K/mo; 1.9% of $609K/mo RO gross; top quarter 134% (7 techs); 5.36 ROs/tech day; 1.81 hrs/RO</a:t>
            </a:r>
          </a:p>
          <a:p>
            <a:r>
              <a:t>VOLVO: 72.3%; 8 of 9 under 85%; gap 1,963 hrs; labor $40K/mo + parts $22K/mo; tech pay $5K/mo; 14.8% of $417K/mo RO gross; top quarter 89% (2 techs); 3.81 ROs/tech day; 1.92 hrs/RO</a:t>
            </a:r>
          </a:p>
          <a:p>
            <a:r>
              <a:t>VW HENDERSON: 92.2%; 6 of 19 under 85%; gap 1,416 hrs; labor $19K/mo + parts $5K/mo; tech pay $4K/mo; 4.8% of $516K/mo RO gross; top quarter 115% (5 techs); 3.77 ROs/tech day; 2.28 hrs/RO</a:t>
            </a:r>
          </a:p>
          <a:p>
            <a:r>
              <a:t>VW ST GEORGE: 70.0%; 5 of 5 under 85%; gap 1,149 hrs; labor $13K/mo + parts $7K/mo; tech pay $3K/mo; 19.0% of $109K/mo RO gross; top quarter 76% (1 techs); 3.81 ROs/tech day; 1.65 hrs/RO</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Value of a minute = each store's counted technicians' labor gross + parts gross per sold hour, divided by 60 (Qlik - Closed Repair Orders, all pay types, same rates as the proficiency opportunity slides). Tech-days = counted techs' paid hours (ADP) / 8 per day. Assumes each minute saved becomes a minute of flagged work. 583 counted technicians, same-store, INEOS excluded. Month = Dec 25, 2025 - Oct 9, 2026 / 9.49; year = month x 12.Talk track: staged parts delivered to the bay (Roundtable: 'Stage parts, deliver and retrieve'), dispatch with the next job ready, fast MPI approvals, tools and keys where they belong. Ten minutes a day is less than two parts-counter trips.</a:t>
            </a:r>
          </a:p>
          <a:p>
            <a:r>
              <a:t>Assumption to say out loud: a minute saved only counts if it turns into flagged time, so the store needs the work waiting.</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Value of a minute = each store's counted technicians' labor gross + parts gross per sold hour, divided by 60 (Qlik - Closed Repair Orders, all pay types, same rates as the proficiency opportunity slides). Tech-days = counted techs' paid hours (ADP) / 8 per day. Assumes each minute saved becomes a minute of flagged work. 583 counted technicians, same-store, INEOS excluded. Month = Dec 25, 2025 - Oct 9, 2026 / 9.49; year = month x 12. A year = one minute a day for every counted tech at the store, for a year. Per min = gross per tech minute.</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Before → after, by measure:</a:t>
            </a:r>
          </a:p>
          <a:p>
            <a:r>
              <a:t>CP Gross: top LINCOLN $865K → $1.26M; SUBARU PRESCOTT $832K → $1.21M; SUBARU ST GEORGE $1.48M → $1.98M; KIA ST GEORGE $657K → $862K; LEXUS $1.63M → $2.10M. Bottom SUBARU LV $5.12M → $5.04M; TOYOTA HENDERSON $13.04M → $12.85M; CHEVY LV $7.40M → $7.08M; AUDI RENO $3.38M → $2.90M; VW ST GEORGE $702K → $560K.</a:t>
            </a:r>
          </a:p>
          <a:p>
            <a:r>
              <a:t>CP RO Count: top KIA LV 7,156 → 8,133; HYUNDAI PRESCOTT 1,784 → 2,010; GMC PRESCOTT 2,810 → 3,107; SUBARU ST GEORGE 5,042 → 5,553; LR RENO 1,303 → 1,421. Bottom ACURA 3,910 → 3,671; HONDA SPOKANE 9,929 → 8,930; AUDI RENO 4,379 → 3,917; HYUNDAI ST GEORGE 3,784 → 3,349; VW ST GEORGE 2,251 → 1,919.</a:t>
            </a:r>
          </a:p>
          <a:p>
            <a:r>
              <a:t>CP Hours per RO: top HYUNDAI ST GEORGE 1.03 → 1.43; SUBARU ST GEORGE 1.75 → 2.30; KIA ST GEORGE 0.99 → 1.29; SUBARU PRESCOTT 1.34 → 1.60; KIA LV 1.32 → 1.57. Bottom CHEVY LV 2.37 → 2.30; AUDI RENO 2.88 → 2.73; VOLVO 2.58 → 2.28; VW ST GEORGE 1.95 → 1.71; LR RENO 4.04 → 3.48.</a:t>
            </a:r>
          </a:p>
          <a:p>
            <a:r>
              <a:t>CP ELR: top HONDA SPOKANE $117.05 → $143.89; VOLVO $181.59 → $222.12; LINCOLN $139.55 → $167.64; NISSAN $153.87 → $175.90; SUBARU PRESCOTT $122.25 → $139.13. Bottom AUDI HENDERSON $278.97 → $266.32; HYUNDAI PRESCOTT $136.71 → $130.46; ACURA $221.78 → $210.50; SUBARU ST GEORGE $148.84 → $138.48; KIA LV $184.36 → $149.23.</a:t>
            </a:r>
          </a:p>
          <a:p>
            <a:r>
              <a:t>CP Parts $ per RO: top LINCOLN $281 → $363; LEXUS $193 → $240; HYUNDAI ST GEORGE $181 → $219; HONDA FLAGSTAFF $179 → $212; SUBARU ST GEORGE $238 → $280. Bottom CADILLAC $358 → $350; VW ST GEORGE $266 → $259; LR RENO $876 → $814; AUDI RENO $596 → $542; KIA LV $227 → $193.</a:t>
            </a:r>
          </a:p>
          <a:p>
            <a:r>
              <a:t>CP Parts GP %: top ACURA 38.7% → 44.9%; NISSAN 38.2% → 42.7%; SUBARU PRESCOTT 31.0% → 34.8%; LINCOLN 33.7% → 37.0%; LR RENO 41.3% → 44.6%. Bottom HONDA HENDERSON 42.2% → 42.1%; TOYOTA FLAGSTAFF 37.4% → 36.9%; HYUNDAI PRESCOTT 39.9% → 39.4%; TOYOTA SPOKANE 45.3% → 44.5%; AUDI HENDERSON 35.8% → 33.6%.Source: Qlik - Closed Repair Orders. Customer pay, by close date. Same-store, 33 stores (INEOS excluded, opened 2026). GMC Prescott body shop labor types excluded. CP gross = CP labor gross + CP parts gross. Change is Jan-Sep 2026 vs Jan-Sep 2025. Ranked by percent change (points for parts GP %), so store size does not drive the ranking.</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Before → after, by measure:</a:t>
            </a:r>
          </a:p>
          <a:p>
            <a:r>
              <a:t>CP Gross per Month: top MAZDA $155K → $209K; KIA ST GEORGE $85K → $112K; CDJR POST FALLS $218K → $279K; VW ST GEORGE $54K → $66K; HYUNDAI PRESCOTT $49K → $60K. Bottom TOYOTA HENDERSON $1.38M → $1.42M; LINCOLN $140K → $139K; SUBARU ST GEORGE $220K → $218K; HONDA HENDERSON $841K → $823K; CADILLAC $317K → $283K.</a:t>
            </a:r>
          </a:p>
          <a:p>
            <a:r>
              <a:t>CP ROs per Month: top LEXUS 425 → 570; CDJR POST FALLS 543 → 667; LR LV 350 → 415; MAZDA 578 → 669; HONDA FLAGSTAFF 397 → 459. Bottom SUBARU PRESCOTT 559 → 565; AUDI RENO 428 → 429; VW ST GEORGE 207 → 203; HYUNDAI ST GEORGE 377 → 365; CADILLAC 609 → 582.</a:t>
            </a:r>
          </a:p>
          <a:p>
            <a:r>
              <a:t>CP Hours per RO: top MAZDA 1.35 → 1.65; HYUNDAI PRESCOTT 1.56 → 1.76; HYUNDAI ST GEORGE 1.37 → 1.54; KIA ST GEORGE 1.23 → 1.38; CHEVY GMC BULLHEAD 1.65 → 1.79. Bottom LEXUS 2.17 → 2.01; SUBARU ST GEORGE 2.43 → 2.20; HONDA HENDERSON 2.06 → 1.86; VW HENDERSON 2.66 → 2.37; CADILLAC 2.85 → 2.45.</a:t>
            </a:r>
          </a:p>
          <a:p>
            <a:r>
              <a:t>CP ELR: top VW ST GEORGE $128.27 → $141.89; AUDI RENO $227.34 → $244.12; HONDA SPOKANE $139.40 → $147.93; KIA LV $142.56 → $150.72; KIA ST GEORGE $139.09 → $146.04. Bottom LR LV $238.78 → $233.88; HONDA FLAGSTAFF $164.77 → $159.69; SUBARU ST GEORGE $141.07 → $136.71; LEXUS $196.84 → $187.42; ACURA $232.02 → $199.04.</a:t>
            </a:r>
          </a:p>
          <a:p>
            <a:r>
              <a:t>CP Parts $ per RO: top VW ST GEORGE $224 → $298; LR RENO $692 → $877; ACURA $229 → $282; HONDA FLAGSTAFF $200 → $234; HYUNDAI ST GEORGE $204 → $234. Bottom SUBARU ST GEORGE $286 → $277; TOYOTA FLAGSTAFF $147 → $142; LR LV $873 → $834; GMC PRESCOTT $299 → $282; HONDA HENDERSON $190 → $178.</a:t>
            </a:r>
          </a:p>
          <a:p>
            <a:r>
              <a:t>CP Parts GP %: top ACURA 39.4% → 46.6%; VW ST GEORGE 39.1% → 43.8%; GMC PRESCOTT 35.3% → 39.2%; AUDI RENO 41.1% → 44.0%; TOYOTA HENDERSON 39.4% → 41.7%. Bottom LR HENDERSON 44.2% → 42.1%; NISSAN 44.5% → 41.3%; CHEVY LV 38.2% → 35.0%; LINCOLN 39.9% → 36.0%; HONDA HENDERSON 44.3% → 40.0%.Source: Qlik - Closed Repair Orders. Customer pay, by close date. Same-store, 33 stores (INEOS excluded, opened 2026). GMC Prescott body shop labor types excluded. CP gross = CP labor gross + CP parts gross. Change is Jul-Sep 2026 (Q3) vs Jan-Mar 2026 (Q1), each store against itself. Gross and ROs are per-month averages of each quarter. The group's own Q1-to-Q3 change is the seasonal baseline: it is the same for every store, so ranking by a store's change is the same as ranking by how far it beat the group. 'Stepped up in' = the month that best splits the store's year into a lower stretch before and a higher stretch after (at least three months before, two after). It is a conversation starter, not proof of cause.</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by close date. Same-store, 33 stores (INEOS excluded, opened 2026). GMC Prescott body shop labor types excluded. CP gross = CP labor gross + CP parts gross. Left: Jan-Sep 2026 vs Jan-Sep 2025. Right: Q3 2026 vs Q1 2026. Top-5 finishes counted across six measures; top six stores shown in each view.</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by close date. Same-store, 33 stores (INEOS excluded, opened 2026). GMC Prescott body shop labor types excluded. CP gross = CP labor gross + CP parts gross. Change is Jul-Sep 2026 (Q3) vs Jan-Mar 2026 (Q1), each store against itself. Gross and ROs are per-month averages of each quarter. The group's own Q1-to-Q3 change is the seasonal baseline: it is the same for every store, so ranking by a store's change is the same as ranking by how far it beat the group. 'Stepped up in' = the month that best splits the store's year into a lower stretch before and a higher stretch after (at least three months before, two after). It is a conversation starter, not proof of cause. Each row is the top Q1-to-Q3 mover on that measure. Opcode row: MAZDA tops 3 of the four opcode lists; its biggest move is shown. Opcode closing % = ROs with the service ÷ customer-pay ROs on the op-code report basis.</a:t>
            </a:r>
          </a:p>
          <a:p/>
          <a:p>
            <a:r>
              <a:t>MAZDA's August opcode increase was confirmed with the store as a real change (Noah, Oct 19 2026).</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Labor + parts gross a year, each from its own slide: Technician Proficiency (each tech under 85% raised to 85%, monthly x 12), Hours per RO (0.1 hr x CP ROs at each store's gross per hour), Op Codes (stores under each benchmark brought to it), One More CP RO a Day (307 open days), Tech Minute (one minute per tech per day). Jan-Sep 2026, same-store, 33 stores. The levers overlap - op code services are part of hours per RO, and selling more hours needs tech time - so they are not added together.Talk track: the GM owns the conditions - staffing, pay plans, marketing budget, the parts department. The service manager owns the daily process - dispatch, the inspection, the menu, the drive. Each line has its own slide earlier in the day.</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Talking points: Service Manager Roundtable (Nov 15, 2024) and GM meeting decks (Jan and May 2026). Data: Qlik (Profit &amp; Loss, Closed Repair Orders, Productivity), Jan-Sep 2026 vs 2025, same-store, 33 stores, INEOS excluded.PLACE: the close, after the last Productivity / Proficiency slide.</a:t>
            </a:r>
          </a:p>
          <a:p>
            <a:r>
              <a:t>Said: Roundtable slide 24 (Misc &amp; Closing). Commitments tracking was dropped for this meeting, so this asks for commitments without a scorecard.</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for review with Tray. Alternate designs still to choose between: Door Rate / ELR % of Door Rate options, and Your Best Techs Prove It options A-C. Delete whichever we don't pick.</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OPTION A - ELR and door rate columns. Qlik - Closed Repair Orders. CP ELR Jul-Sep 2026 (last three months, to match current door rates). Door rate = standard rate from the store door rate sheet; premium, EV and diesel rates not applied. Same-store, INEOS excluded; GMC Prescott body shop excluded. Averages weighted by Jul-Sep CP sold hours.</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OPTION B - ELR and the ELR needed for 70% of door rate (door x 0.70). Qlik - Closed Repair Orders. CP ELR Jul-Sep 2026 (last three months, to match current door rates). Door rate = standard rate from the store door rate sheet; premium, EV and diesel rates not applied. Same-store, INEOS excluded; GMC Prescott body shop excluded. Averages weighted by Jul-Sep CP sold hours.</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OPTION C - split by labor grid. Qlik - Closed Repair Orders. CP ELR Jul-Sep 2026 (last three months, to match current door rates). Door rate = standard rate from the store door rate sheet; premium, EV and diesel rates not applied. Same-store, INEOS excluded; GMC Prescott body shop excluded. Averages weighted by Jul-Sep CP sold hours.</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OPTION D - door rate by store, split by labor grid, standard rate only. Store door rate sheet (Oct 15 2026); averages weighted by Jul-Sep CP sold hours. Bars start at $100. INEOS on the sheet but excluded (same-store).</a:t>
            </a:r>
          </a:p>
          <a:p>
            <a:r>
              <a:t>AUDI HENDERSON: premium $399.00 (Lambo Non-Grid)</a:t>
            </a:r>
          </a:p>
          <a:p>
            <a:r>
              <a:t>CHEVY GMC BULLHEAD: premium $199.87 (Non-Standard Grid)</a:t>
            </a:r>
          </a:p>
          <a:p>
            <a:r>
              <a:t>CHEVY LV: premium $264.87 (Diesel/Corvette)</a:t>
            </a:r>
          </a:p>
          <a:p>
            <a:r>
              <a:t>GMC PRESCOTT: premium $230.00 (EV)</a:t>
            </a:r>
          </a:p>
          <a:p>
            <a:r>
              <a:t>HONDA FLAGSTAFF: premium $215.00 (EV)</a:t>
            </a:r>
          </a:p>
          <a:p>
            <a:r>
              <a:t>KIA ST GEORGE: premium $195.00 (EV)</a:t>
            </a:r>
          </a:p>
          <a:p>
            <a:r>
              <a:t>SUBARU ST GEORGE: premium $210.00 (EV)</a:t>
            </a:r>
          </a:p>
          <a:p>
            <a:r>
              <a:t>VW HENDERSON: premium $210.00 (EV)</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OPTION E - door rate by store with premium rates, split by labor grid. Store door rate sheet (Oct 15 2026); averages weighted by Jul-Sep CP sold hours. Bars start at $100.</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Stores under 85% only. Store = sold / paid hours for counted technicians. Best techs = the store's most proficient quarter of counted technicians (at least one), their sold / paid hours combined. Same population and rules as the proficiency slides.</a:t>
            </a:r>
          </a:p>
          <a:p>
            <a:r>
              <a:t>ACURA: store 67%, best 3 of 11 techs 73%</a:t>
            </a:r>
          </a:p>
          <a:p>
            <a:r>
              <a:t>KIA ST GEORGE: store 67%, best 3 of 12 techs 97%</a:t>
            </a:r>
          </a:p>
          <a:p>
            <a:r>
              <a:t>CHEVY GMC BULLHEAD: store 68%, best 5 of 20 techs 96%</a:t>
            </a:r>
          </a:p>
          <a:p>
            <a:r>
              <a:t>HYUNDAI ST GEORGE: store 69%, best 3 of 11 techs 122%</a:t>
            </a:r>
          </a:p>
          <a:p>
            <a:r>
              <a:t>VW ST GEORGE: store 70%, best 1 of 5 techs 76%</a:t>
            </a:r>
          </a:p>
          <a:p>
            <a:r>
              <a:t>CDJR POST FALLS: store 71%, best 4 of 14 techs 128%</a:t>
            </a:r>
          </a:p>
          <a:p>
            <a:r>
              <a:t>VOLVO: store 72%, best 2 of 9 techs 88%</a:t>
            </a:r>
          </a:p>
          <a:p>
            <a:r>
              <a:t>GMC PRESCOTT: store 73%, best 3 of 12 techs 103%</a:t>
            </a:r>
          </a:p>
          <a:p>
            <a:r>
              <a:t>KIA LV: store 76%, best 5 of 20 techs 100%</a:t>
            </a:r>
          </a:p>
          <a:p>
            <a:r>
              <a:t>HONDA FLAGSTAFF: store 78%, best 2 of 6 techs 130%</a:t>
            </a:r>
          </a:p>
          <a:p>
            <a:r>
              <a:t>HYUNDAI PRESCOTT: store 78%, best 2 of 9 techs 112%</a:t>
            </a:r>
          </a:p>
          <a:p>
            <a:r>
              <a:t>LR RENO: store 81%, best 2 of 6 techs 96%</a:t>
            </a:r>
          </a:p>
          <a:p>
            <a:r>
              <a:t>TOYOTA PRESCOTT: store 83%, best 6 of 22 techs 117%</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Stores under 85% only. Store = sold / paid hours for counted technicians. Best techs = the store's most proficient quarter of counted technicians (at least one), their sold / paid hours combined. Same population and rules as the proficiency slides.</a:t>
            </a:r>
          </a:p>
          <a:p>
            <a:r>
              <a:t>ACURA: store 67%, best 3 of 11 techs 73%</a:t>
            </a:r>
          </a:p>
          <a:p>
            <a:r>
              <a:t>KIA ST GEORGE: store 67%, best 3 of 12 techs 97%</a:t>
            </a:r>
          </a:p>
          <a:p>
            <a:r>
              <a:t>CHEVY GMC BULLHEAD: store 68%, best 5 of 20 techs 96%</a:t>
            </a:r>
          </a:p>
          <a:p>
            <a:r>
              <a:t>HYUNDAI ST GEORGE: store 69%, best 3 of 11 techs 122%</a:t>
            </a:r>
          </a:p>
          <a:p>
            <a:r>
              <a:t>VW ST GEORGE: store 70%, best 1 of 5 techs 76%</a:t>
            </a:r>
          </a:p>
          <a:p>
            <a:r>
              <a:t>CDJR POST FALLS: store 71%, best 4 of 14 techs 128%</a:t>
            </a:r>
          </a:p>
          <a:p>
            <a:r>
              <a:t>VOLVO: store 72%, best 2 of 9 techs 88%</a:t>
            </a:r>
          </a:p>
          <a:p>
            <a:r>
              <a:t>GMC PRESCOTT: store 73%, best 3 of 12 techs 103%</a:t>
            </a:r>
          </a:p>
          <a:p>
            <a:r>
              <a:t>KIA LV: store 76%, best 5 of 20 techs 100%</a:t>
            </a:r>
          </a:p>
          <a:p>
            <a:r>
              <a:t>HONDA FLAGSTAFF: store 78%, best 2 of 6 techs 130%</a:t>
            </a:r>
          </a:p>
          <a:p>
            <a:r>
              <a:t>HYUNDAI PRESCOTT: store 78%, best 2 of 9 techs 112%</a:t>
            </a:r>
          </a:p>
          <a:p>
            <a:r>
              <a:t>LR RENO: store 81%, best 2 of 6 techs 96%</a:t>
            </a:r>
          </a:p>
          <a:p>
            <a:r>
              <a:t>TOYOTA PRESCOTT: store 83%, best 6 of 22 techs 117%</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Stores under 85% only. Store = sold / paid hours for counted technicians. Best techs = the store's most proficient quarter of counted technicians (at least one), their sold / paid hours combined. Same population and rules as the proficiency slides.</a:t>
            </a:r>
          </a:p>
          <a:p>
            <a:r>
              <a:t>ACURA: store 67%, best 3 of 11 techs 73%</a:t>
            </a:r>
          </a:p>
          <a:p>
            <a:r>
              <a:t>KIA ST GEORGE: store 67%, best 3 of 12 techs 97%</a:t>
            </a:r>
          </a:p>
          <a:p>
            <a:r>
              <a:t>CHEVY GMC BULLHEAD: store 68%, best 5 of 20 techs 96%</a:t>
            </a:r>
          </a:p>
          <a:p>
            <a:r>
              <a:t>HYUNDAI ST GEORGE: store 69%, best 3 of 11 techs 122%</a:t>
            </a:r>
          </a:p>
          <a:p>
            <a:r>
              <a:t>VW ST GEORGE: store 70%, best 1 of 5 techs 76%</a:t>
            </a:r>
          </a:p>
          <a:p>
            <a:r>
              <a:t>CDJR POST FALLS: store 71%, best 4 of 14 techs 128%</a:t>
            </a:r>
          </a:p>
          <a:p>
            <a:r>
              <a:t>VOLVO: store 72%, best 2 of 9 techs 88%</a:t>
            </a:r>
          </a:p>
          <a:p>
            <a:r>
              <a:t>GMC PRESCOTT: store 73%, best 3 of 12 techs 103%</a:t>
            </a:r>
          </a:p>
          <a:p>
            <a:r>
              <a:t>KIA LV: store 76%, best 5 of 20 techs 100%</a:t>
            </a:r>
          </a:p>
          <a:p>
            <a:r>
              <a:t>HONDA FLAGSTAFF: store 78%, best 2 of 6 techs 130%</a:t>
            </a:r>
          </a:p>
          <a:p>
            <a:r>
              <a:t>HYUNDAI PRESCOTT: store 78%, best 2 of 9 techs 112%</a:t>
            </a:r>
          </a:p>
          <a:p>
            <a:r>
              <a:t>LR RENO: store 81%, best 2 of 6 techs 96%</a:t>
            </a:r>
          </a:p>
          <a:p>
            <a:r>
              <a:t>TOYOTA PRESCOTT: store 83%, best 6 of 22 techs 117%</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5.xml"/><Relationship Id="rId3" Type="http://schemas.openxmlformats.org/officeDocument/2006/relationships/notesSlide" Target="../notesSlides/notesSlide10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4.xml"/><Relationship Id="rId3" Type="http://schemas.openxmlformats.org/officeDocument/2006/relationships/chart" Target="../charts/chart6.xml"/><Relationship Id="rId4" Type="http://schemas.openxmlformats.org/officeDocument/2006/relationships/chart" Target="../charts/chart7.xml"/><Relationship Id="rId5" Type="http://schemas.openxmlformats.org/officeDocument/2006/relationships/chart" Target="../charts/chart8.xml"/><Relationship Id="rId6" Type="http://schemas.openxmlformats.org/officeDocument/2006/relationships/chart" Target="../charts/chart9.xml"/><Relationship Id="rId7" Type="http://schemas.openxmlformats.org/officeDocument/2006/relationships/chart" Target="../charts/chart10.xml"/><Relationship Id="rId8" Type="http://schemas.openxmlformats.org/officeDocument/2006/relationships/chart" Target="../charts/chart11.xml"/><Relationship Id="rId9" Type="http://schemas.openxmlformats.org/officeDocument/2006/relationships/chart" Target="../charts/chart12.xml"/><Relationship Id="rId10" Type="http://schemas.openxmlformats.org/officeDocument/2006/relationships/chart" Target="../charts/chart13.xml"/><Relationship Id="rId11" Type="http://schemas.openxmlformats.org/officeDocument/2006/relationships/chart" Target="../charts/chart14.xml"/><Relationship Id="rId12" Type="http://schemas.openxmlformats.org/officeDocument/2006/relationships/notesSlide" Target="../notesSlides/notesSlide8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15.xml"/><Relationship Id="rId3" Type="http://schemas.openxmlformats.org/officeDocument/2006/relationships/chart" Target="../charts/chart16.xml"/><Relationship Id="rId4" Type="http://schemas.openxmlformats.org/officeDocument/2006/relationships/chart" Target="../charts/chart17.xml"/><Relationship Id="rId5" Type="http://schemas.openxmlformats.org/officeDocument/2006/relationships/chart" Target="../charts/chart18.xml"/><Relationship Id="rId6" Type="http://schemas.openxmlformats.org/officeDocument/2006/relationships/chart" Target="../charts/chart19.xml"/><Relationship Id="rId7" Type="http://schemas.openxmlformats.org/officeDocument/2006/relationships/chart" Target="../charts/chart20.xml"/><Relationship Id="rId8" Type="http://schemas.openxmlformats.org/officeDocument/2006/relationships/chart" Target="../charts/chart21.xml"/><Relationship Id="rId9" Type="http://schemas.openxmlformats.org/officeDocument/2006/relationships/chart" Target="../charts/chart22.xml"/><Relationship Id="rId10" Type="http://schemas.openxmlformats.org/officeDocument/2006/relationships/chart" Target="../charts/chart23.xml"/><Relationship Id="rId11" Type="http://schemas.openxmlformats.org/officeDocument/2006/relationships/chart" Target="../charts/chart24.xml"/><Relationship Id="rId12" Type="http://schemas.openxmlformats.org/officeDocument/2006/relationships/notesSlide" Target="../notesSlides/notesSlide76.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25.xml"/><Relationship Id="rId3" Type="http://schemas.openxmlformats.org/officeDocument/2006/relationships/chart" Target="../charts/chart26.xml"/><Relationship Id="rId4" Type="http://schemas.openxmlformats.org/officeDocument/2006/relationships/chart" Target="../charts/chart27.xml"/><Relationship Id="rId5" Type="http://schemas.openxmlformats.org/officeDocument/2006/relationships/chart" Target="../charts/chart28.xml"/><Relationship Id="rId6" Type="http://schemas.openxmlformats.org/officeDocument/2006/relationships/chart" Target="../charts/chart29.xml"/><Relationship Id="rId7" Type="http://schemas.openxmlformats.org/officeDocument/2006/relationships/chart" Target="../charts/chart30.xml"/><Relationship Id="rId8" Type="http://schemas.openxmlformats.org/officeDocument/2006/relationships/chart" Target="../charts/chart31.xml"/><Relationship Id="rId9" Type="http://schemas.openxmlformats.org/officeDocument/2006/relationships/chart" Target="../charts/chart32.xml"/><Relationship Id="rId10" Type="http://schemas.openxmlformats.org/officeDocument/2006/relationships/chart" Target="../charts/chart33.xml"/><Relationship Id="rId11" Type="http://schemas.openxmlformats.org/officeDocument/2006/relationships/chart" Target="../charts/chart34.xml"/><Relationship Id="rId12" Type="http://schemas.openxmlformats.org/officeDocument/2006/relationships/notesSlide" Target="../notesSlides/notesSlide104.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35.xml"/><Relationship Id="rId3" Type="http://schemas.openxmlformats.org/officeDocument/2006/relationships/chart" Target="../charts/chart36.xml"/><Relationship Id="rId4" Type="http://schemas.openxmlformats.org/officeDocument/2006/relationships/chart" Target="../charts/chart37.xml"/><Relationship Id="rId5" Type="http://schemas.openxmlformats.org/officeDocument/2006/relationships/chart" Target="../charts/chart38.xml"/><Relationship Id="rId6" Type="http://schemas.openxmlformats.org/officeDocument/2006/relationships/chart" Target="../charts/chart39.xml"/><Relationship Id="rId7" Type="http://schemas.openxmlformats.org/officeDocument/2006/relationships/chart" Target="../charts/chart40.xml"/><Relationship Id="rId8" Type="http://schemas.openxmlformats.org/officeDocument/2006/relationships/chart" Target="../charts/chart41.xml"/><Relationship Id="rId9" Type="http://schemas.openxmlformats.org/officeDocument/2006/relationships/chart" Target="../charts/chart42.xml"/><Relationship Id="rId10" Type="http://schemas.openxmlformats.org/officeDocument/2006/relationships/chart" Target="../charts/chart43.xml"/><Relationship Id="rId11" Type="http://schemas.openxmlformats.org/officeDocument/2006/relationships/chart" Target="../charts/chart44.xml"/><Relationship Id="rId12" Type="http://schemas.openxmlformats.org/officeDocument/2006/relationships/notesSlide" Target="../notesSlides/notesSlide10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45.xml"/><Relationship Id="rId3" Type="http://schemas.openxmlformats.org/officeDocument/2006/relationships/chart" Target="../charts/chart46.xml"/><Relationship Id="rId4" Type="http://schemas.openxmlformats.org/officeDocument/2006/relationships/chart" Target="../charts/chart47.xml"/><Relationship Id="rId5" Type="http://schemas.openxmlformats.org/officeDocument/2006/relationships/chart" Target="../charts/chart48.xml"/><Relationship Id="rId6" Type="http://schemas.openxmlformats.org/officeDocument/2006/relationships/chart" Target="../charts/chart49.xml"/><Relationship Id="rId7" Type="http://schemas.openxmlformats.org/officeDocument/2006/relationships/chart" Target="../charts/chart50.xml"/><Relationship Id="rId8" Type="http://schemas.openxmlformats.org/officeDocument/2006/relationships/chart" Target="../charts/chart51.xml"/><Relationship Id="rId9" Type="http://schemas.openxmlformats.org/officeDocument/2006/relationships/chart" Target="../charts/chart52.xml"/><Relationship Id="rId10" Type="http://schemas.openxmlformats.org/officeDocument/2006/relationships/chart" Target="../charts/chart53.xml"/><Relationship Id="rId11" Type="http://schemas.openxmlformats.org/officeDocument/2006/relationships/chart" Target="../charts/chart54.xml"/><Relationship Id="rId12" Type="http://schemas.openxmlformats.org/officeDocument/2006/relationships/notesSlide" Target="../notesSlides/notesSlide11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55.xml"/><Relationship Id="rId3" Type="http://schemas.openxmlformats.org/officeDocument/2006/relationships/chart" Target="../charts/chart56.xml"/><Relationship Id="rId4" Type="http://schemas.openxmlformats.org/officeDocument/2006/relationships/chart" Target="../charts/chart57.xml"/><Relationship Id="rId5" Type="http://schemas.openxmlformats.org/officeDocument/2006/relationships/chart" Target="../charts/chart58.xml"/><Relationship Id="rId6" Type="http://schemas.openxmlformats.org/officeDocument/2006/relationships/chart" Target="../charts/chart59.xml"/><Relationship Id="rId7" Type="http://schemas.openxmlformats.org/officeDocument/2006/relationships/chart" Target="../charts/chart60.xml"/><Relationship Id="rId8" Type="http://schemas.openxmlformats.org/officeDocument/2006/relationships/chart" Target="../charts/chart61.xml"/><Relationship Id="rId9" Type="http://schemas.openxmlformats.org/officeDocument/2006/relationships/chart" Target="../charts/chart62.xml"/><Relationship Id="rId10" Type="http://schemas.openxmlformats.org/officeDocument/2006/relationships/chart" Target="../charts/chart63.xml"/><Relationship Id="rId11" Type="http://schemas.openxmlformats.org/officeDocument/2006/relationships/chart" Target="../charts/chart64.xml"/><Relationship Id="rId12" Type="http://schemas.openxmlformats.org/officeDocument/2006/relationships/notesSlide" Target="../notesSlides/notesSlide11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65.xml"/><Relationship Id="rId3" Type="http://schemas.openxmlformats.org/officeDocument/2006/relationships/chart" Target="../charts/chart66.xml"/><Relationship Id="rId4" Type="http://schemas.openxmlformats.org/officeDocument/2006/relationships/chart" Target="../charts/chart67.xml"/><Relationship Id="rId5" Type="http://schemas.openxmlformats.org/officeDocument/2006/relationships/chart" Target="../charts/chart68.xml"/><Relationship Id="rId6" Type="http://schemas.openxmlformats.org/officeDocument/2006/relationships/chart" Target="../charts/chart69.xml"/><Relationship Id="rId7" Type="http://schemas.openxmlformats.org/officeDocument/2006/relationships/chart" Target="../charts/chart70.xml"/><Relationship Id="rId8" Type="http://schemas.openxmlformats.org/officeDocument/2006/relationships/chart" Target="../charts/chart71.xml"/><Relationship Id="rId9" Type="http://schemas.openxmlformats.org/officeDocument/2006/relationships/chart" Target="../charts/chart72.xml"/><Relationship Id="rId10" Type="http://schemas.openxmlformats.org/officeDocument/2006/relationships/chart" Target="../charts/chart73.xml"/><Relationship Id="rId11" Type="http://schemas.openxmlformats.org/officeDocument/2006/relationships/chart" Target="../charts/chart74.xml"/><Relationship Id="rId12" Type="http://schemas.openxmlformats.org/officeDocument/2006/relationships/notesSlide" Target="../notesSlides/notesSlide11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75.xml"/><Relationship Id="rId3" Type="http://schemas.openxmlformats.org/officeDocument/2006/relationships/chart" Target="../charts/chart76.xml"/><Relationship Id="rId4" Type="http://schemas.openxmlformats.org/officeDocument/2006/relationships/chart" Target="../charts/chart77.xml"/><Relationship Id="rId5" Type="http://schemas.openxmlformats.org/officeDocument/2006/relationships/chart" Target="../charts/chart78.xml"/><Relationship Id="rId6" Type="http://schemas.openxmlformats.org/officeDocument/2006/relationships/chart" Target="../charts/chart79.xml"/><Relationship Id="rId7" Type="http://schemas.openxmlformats.org/officeDocument/2006/relationships/chart" Target="../charts/chart80.xml"/><Relationship Id="rId8" Type="http://schemas.openxmlformats.org/officeDocument/2006/relationships/chart" Target="../charts/chart81.xml"/><Relationship Id="rId9" Type="http://schemas.openxmlformats.org/officeDocument/2006/relationships/chart" Target="../charts/chart82.xml"/><Relationship Id="rId10" Type="http://schemas.openxmlformats.org/officeDocument/2006/relationships/chart" Target="../charts/chart83.xml"/><Relationship Id="rId11" Type="http://schemas.openxmlformats.org/officeDocument/2006/relationships/chart" Target="../charts/chart84.xml"/><Relationship Id="rId12" Type="http://schemas.openxmlformats.org/officeDocument/2006/relationships/notesSlide" Target="../notesSlides/notesSlide118.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85.xml"/><Relationship Id="rId3" Type="http://schemas.openxmlformats.org/officeDocument/2006/relationships/chart" Target="../charts/chart86.xml"/><Relationship Id="rId4" Type="http://schemas.openxmlformats.org/officeDocument/2006/relationships/chart" Target="../charts/chart87.xml"/><Relationship Id="rId5" Type="http://schemas.openxmlformats.org/officeDocument/2006/relationships/chart" Target="../charts/chart88.xml"/><Relationship Id="rId6" Type="http://schemas.openxmlformats.org/officeDocument/2006/relationships/chart" Target="../charts/chart89.xml"/><Relationship Id="rId7" Type="http://schemas.openxmlformats.org/officeDocument/2006/relationships/chart" Target="../charts/chart90.xml"/><Relationship Id="rId8" Type="http://schemas.openxmlformats.org/officeDocument/2006/relationships/chart" Target="../charts/chart91.xml"/><Relationship Id="rId9" Type="http://schemas.openxmlformats.org/officeDocument/2006/relationships/chart" Target="../charts/chart92.xml"/><Relationship Id="rId10" Type="http://schemas.openxmlformats.org/officeDocument/2006/relationships/chart" Target="../charts/chart93.xml"/><Relationship Id="rId11" Type="http://schemas.openxmlformats.org/officeDocument/2006/relationships/chart" Target="../charts/chart94.xml"/><Relationship Id="rId12" Type="http://schemas.openxmlformats.org/officeDocument/2006/relationships/notesSlide" Target="../notesSlides/notesSlide119.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95.xml"/><Relationship Id="rId3" Type="http://schemas.openxmlformats.org/officeDocument/2006/relationships/chart" Target="../charts/chart96.xml"/><Relationship Id="rId4" Type="http://schemas.openxmlformats.org/officeDocument/2006/relationships/chart" Target="../charts/chart97.xml"/><Relationship Id="rId5" Type="http://schemas.openxmlformats.org/officeDocument/2006/relationships/chart" Target="../charts/chart98.xml"/><Relationship Id="rId6" Type="http://schemas.openxmlformats.org/officeDocument/2006/relationships/chart" Target="../charts/chart99.xml"/><Relationship Id="rId7" Type="http://schemas.openxmlformats.org/officeDocument/2006/relationships/chart" Target="../charts/chart100.xml"/><Relationship Id="rId8" Type="http://schemas.openxmlformats.org/officeDocument/2006/relationships/chart" Target="../charts/chart101.xml"/><Relationship Id="rId9" Type="http://schemas.openxmlformats.org/officeDocument/2006/relationships/chart" Target="../charts/chart102.xml"/><Relationship Id="rId10" Type="http://schemas.openxmlformats.org/officeDocument/2006/relationships/chart" Target="../charts/chart103.xml"/><Relationship Id="rId11" Type="http://schemas.openxmlformats.org/officeDocument/2006/relationships/chart" Target="../charts/chart104.xml"/><Relationship Id="rId12" Type="http://schemas.openxmlformats.org/officeDocument/2006/relationships/notesSlide" Target="../notesSlides/notesSlide120.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3.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4.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5.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6.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8.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9.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0.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1.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3.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4.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5.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6.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2148840"/>
            <a:ext cx="10789920" cy="1737360"/>
          </a:xfrm>
          <a:prstGeom prst="rect">
            <a:avLst/>
          </a:prstGeom>
          <a:noFill/>
          <a:ln/>
        </p:spPr>
        <p:txBody>
          <a:bodyPr wrap="square" lIns="0" tIns="0" rIns="0" bIns="0" rtlCol="0" anchor="ctr"/>
          <a:lstStyle/>
          <a:p>
            <a:pPr indent="0" marL="0">
              <a:buNone/>
            </a:pPr>
            <a:r>
              <a:rPr lang="en-US" sz="6200" b="1" dirty="0">
                <a:solidFill>
                  <a:srgbClr val="1A1A1A"/>
                </a:solidFill>
                <a:latin typeface="Inter" pitchFamily="34" charset="0"/>
                <a:ea typeface="Inter" pitchFamily="34" charset="-122"/>
                <a:cs typeface="Inter" pitchFamily="34" charset="-120"/>
              </a:rPr>
              <a:t>Fixed Operations</a:t>
            </a:r>
            <a:endParaRPr lang="en-US" sz="6200" dirty="0"/>
          </a:p>
          <a:p>
            <a:pPr indent="0" marL="0">
              <a:buNone/>
            </a:pPr>
            <a:r>
              <a:rPr lang="en-US" sz="6200" b="1" dirty="0">
                <a:solidFill>
                  <a:srgbClr val="1A1A1A"/>
                </a:solidFill>
                <a:latin typeface="Inter" pitchFamily="34" charset="0"/>
                <a:ea typeface="Inter" pitchFamily="34" charset="-122"/>
                <a:cs typeface="Inter" pitchFamily="34" charset="-120"/>
              </a:rPr>
              <a:t>Business Update</a:t>
            </a:r>
            <a:endParaRPr lang="en-US" sz="6200" dirty="0"/>
          </a:p>
        </p:txBody>
      </p:sp>
      <p:sp>
        <p:nvSpPr>
          <p:cNvPr id="3" name="Text 1"/>
          <p:cNvSpPr txBox="1"/>
          <p:nvPr/>
        </p:nvSpPr>
        <p:spPr>
          <a:xfrm>
            <a:off x="694944" y="3913632"/>
            <a:ext cx="10789920" cy="457200"/>
          </a:xfrm>
          <a:prstGeom prst="rect">
            <a:avLst/>
          </a:prstGeom>
          <a:noFill/>
          <a:ln/>
        </p:spPr>
        <p:txBody>
          <a:bodyPr wrap="square" lIns="0" tIns="0" rIns="0" bIns="0" rtlCol="0" anchor="ctr"/>
          <a:lstStyle/>
          <a:p>
            <a:pPr indent="0" marL="0">
              <a:buNone/>
            </a:pPr>
            <a:r>
              <a:rPr lang="en-US" sz="2600" dirty="0">
                <a:solidFill>
                  <a:srgbClr val="2587C5"/>
                </a:solidFill>
                <a:latin typeface="Inter" pitchFamily="34" charset="0"/>
                <a:ea typeface="Inter" pitchFamily="34" charset="-122"/>
                <a:cs typeface="Inter" pitchFamily="34" charset="-120"/>
              </a:rPr>
              <a:t>GM &amp; Service Manager Meeting  ·  Day 2  ·  October 29, 2026</a:t>
            </a:r>
            <a:endParaRPr lang="en-US" sz="2600" dirty="0"/>
          </a:p>
        </p:txBody>
      </p:sp>
      <p:sp>
        <p:nvSpPr>
          <p:cNvPr id="4" name="Text 2"/>
          <p:cNvSpPr txBox="1"/>
          <p:nvPr/>
        </p:nvSpPr>
        <p:spPr>
          <a:xfrm>
            <a:off x="694944" y="4407408"/>
            <a:ext cx="10789920" cy="411480"/>
          </a:xfrm>
          <a:prstGeom prst="rect">
            <a:avLst/>
          </a:prstGeom>
          <a:noFill/>
          <a:ln/>
        </p:spPr>
        <p:txBody>
          <a:bodyPr wrap="square" lIns="0" tIns="0" rIns="0" bIns="0" rtlCol="0" anchor="ctr"/>
          <a:lstStyle/>
          <a:p>
            <a:pPr indent="0" marL="0">
              <a:buNone/>
            </a:pPr>
            <a:r>
              <a:rPr lang="en-US" sz="2000" dirty="0">
                <a:solidFill>
                  <a:srgbClr val="595959"/>
                </a:solidFill>
                <a:latin typeface="Inter" pitchFamily="34" charset="0"/>
                <a:ea typeface="Inter" pitchFamily="34" charset="-122"/>
                <a:cs typeface="Inter" pitchFamily="34" charset="-120"/>
              </a:rPr>
              <a:t>Review draft   ·   Data through September 2026   ·   Same-store, 33 stores</a:t>
            </a:r>
            <a:endParaRPr lang="en-US" sz="2000" dirty="0"/>
          </a:p>
        </p:txBody>
      </p:sp>
      <p:sp>
        <p:nvSpPr>
          <p:cNvPr id="5" name="Shape 3"/>
          <p:cNvSpPr/>
          <p:nvPr/>
        </p:nvSpPr>
        <p:spPr>
          <a:xfrm>
            <a:off x="685800" y="5257800"/>
            <a:ext cx="1340249" cy="45720"/>
          </a:xfrm>
          <a:prstGeom prst="rect">
            <a:avLst/>
          </a:prstGeom>
          <a:solidFill>
            <a:srgbClr val="D9D9D9"/>
          </a:solidFill>
          <a:ln/>
        </p:spPr>
      </p:sp>
      <p:sp>
        <p:nvSpPr>
          <p:cNvPr id="6" name="Text 4"/>
          <p:cNvSpPr txBox="1"/>
          <p:nvPr/>
        </p:nvSpPr>
        <p:spPr>
          <a:xfrm>
            <a:off x="685800"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Gross</a:t>
            </a:r>
            <a:endParaRPr lang="en-US" sz="1550" dirty="0"/>
          </a:p>
        </p:txBody>
      </p:sp>
      <p:sp>
        <p:nvSpPr>
          <p:cNvPr id="7" name="Shape 5"/>
          <p:cNvSpPr/>
          <p:nvPr/>
        </p:nvSpPr>
        <p:spPr>
          <a:xfrm>
            <a:off x="2227217" y="5257800"/>
            <a:ext cx="1340249" cy="45720"/>
          </a:xfrm>
          <a:prstGeom prst="rect">
            <a:avLst/>
          </a:prstGeom>
          <a:solidFill>
            <a:srgbClr val="D9D9D9"/>
          </a:solidFill>
          <a:ln/>
        </p:spPr>
      </p:sp>
      <p:sp>
        <p:nvSpPr>
          <p:cNvPr id="8" name="Text 6"/>
          <p:cNvSpPr txBox="1"/>
          <p:nvPr/>
        </p:nvSpPr>
        <p:spPr>
          <a:xfrm>
            <a:off x="2227217"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Profitability</a:t>
            </a:r>
            <a:endParaRPr lang="en-US" sz="1550" dirty="0"/>
          </a:p>
        </p:txBody>
      </p:sp>
      <p:sp>
        <p:nvSpPr>
          <p:cNvPr id="9" name="Shape 7"/>
          <p:cNvSpPr/>
          <p:nvPr/>
        </p:nvSpPr>
        <p:spPr>
          <a:xfrm>
            <a:off x="3768634" y="5257800"/>
            <a:ext cx="1340249" cy="45720"/>
          </a:xfrm>
          <a:prstGeom prst="rect">
            <a:avLst/>
          </a:prstGeom>
          <a:solidFill>
            <a:srgbClr val="D9D9D9"/>
          </a:solidFill>
          <a:ln/>
        </p:spPr>
      </p:sp>
      <p:sp>
        <p:nvSpPr>
          <p:cNvPr id="10" name="Text 8"/>
          <p:cNvSpPr txBox="1"/>
          <p:nvPr/>
        </p:nvSpPr>
        <p:spPr>
          <a:xfrm>
            <a:off x="3768634"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CP Engine</a:t>
            </a:r>
            <a:endParaRPr lang="en-US" sz="1550" dirty="0"/>
          </a:p>
        </p:txBody>
      </p:sp>
      <p:sp>
        <p:nvSpPr>
          <p:cNvPr id="11" name="Shape 9"/>
          <p:cNvSpPr/>
          <p:nvPr/>
        </p:nvSpPr>
        <p:spPr>
          <a:xfrm>
            <a:off x="5310051" y="5257800"/>
            <a:ext cx="1340249" cy="45720"/>
          </a:xfrm>
          <a:prstGeom prst="rect">
            <a:avLst/>
          </a:prstGeom>
          <a:solidFill>
            <a:srgbClr val="D9D9D9"/>
          </a:solidFill>
          <a:ln/>
        </p:spPr>
      </p:sp>
      <p:sp>
        <p:nvSpPr>
          <p:cNvPr id="12" name="Text 10"/>
          <p:cNvSpPr txBox="1"/>
          <p:nvPr/>
        </p:nvSpPr>
        <p:spPr>
          <a:xfrm>
            <a:off x="5310051"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Labor Mix</a:t>
            </a:r>
            <a:endParaRPr lang="en-US" sz="1550" dirty="0"/>
          </a:p>
        </p:txBody>
      </p:sp>
      <p:sp>
        <p:nvSpPr>
          <p:cNvPr id="13" name="Shape 11"/>
          <p:cNvSpPr/>
          <p:nvPr/>
        </p:nvSpPr>
        <p:spPr>
          <a:xfrm>
            <a:off x="6851469" y="5257800"/>
            <a:ext cx="1340249" cy="45720"/>
          </a:xfrm>
          <a:prstGeom prst="rect">
            <a:avLst/>
          </a:prstGeom>
          <a:solidFill>
            <a:srgbClr val="D9D9D9"/>
          </a:solidFill>
          <a:ln/>
        </p:spPr>
      </p:sp>
      <p:sp>
        <p:nvSpPr>
          <p:cNvPr id="14" name="Text 12"/>
          <p:cNvSpPr txBox="1"/>
          <p:nvPr/>
        </p:nvSpPr>
        <p:spPr>
          <a:xfrm>
            <a:off x="6851469"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Opcodes</a:t>
            </a:r>
            <a:endParaRPr lang="en-US" sz="1550" dirty="0"/>
          </a:p>
        </p:txBody>
      </p:sp>
      <p:sp>
        <p:nvSpPr>
          <p:cNvPr id="15" name="Shape 13"/>
          <p:cNvSpPr/>
          <p:nvPr/>
        </p:nvSpPr>
        <p:spPr>
          <a:xfrm>
            <a:off x="8392886" y="5257800"/>
            <a:ext cx="1340249" cy="45720"/>
          </a:xfrm>
          <a:prstGeom prst="rect">
            <a:avLst/>
          </a:prstGeom>
          <a:solidFill>
            <a:srgbClr val="D9D9D9"/>
          </a:solidFill>
          <a:ln/>
        </p:spPr>
      </p:sp>
      <p:sp>
        <p:nvSpPr>
          <p:cNvPr id="16" name="Text 14"/>
          <p:cNvSpPr txBox="1"/>
          <p:nvPr/>
        </p:nvSpPr>
        <p:spPr>
          <a:xfrm>
            <a:off x="8392886"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Warranty</a:t>
            </a:r>
            <a:endParaRPr lang="en-US" sz="1550" dirty="0"/>
          </a:p>
        </p:txBody>
      </p:sp>
      <p:sp>
        <p:nvSpPr>
          <p:cNvPr id="17" name="Shape 15"/>
          <p:cNvSpPr/>
          <p:nvPr/>
        </p:nvSpPr>
        <p:spPr>
          <a:xfrm>
            <a:off x="9934303" y="5257800"/>
            <a:ext cx="1340249" cy="45720"/>
          </a:xfrm>
          <a:prstGeom prst="rect">
            <a:avLst/>
          </a:prstGeom>
          <a:solidFill>
            <a:srgbClr val="D9D9D9"/>
          </a:solidFill>
          <a:ln/>
        </p:spPr>
      </p:sp>
      <p:sp>
        <p:nvSpPr>
          <p:cNvPr id="18" name="Text 16"/>
          <p:cNvSpPr txBox="1"/>
          <p:nvPr/>
        </p:nvSpPr>
        <p:spPr>
          <a:xfrm>
            <a:off x="9934303"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Productivity</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13232" y="2377440"/>
            <a:ext cx="9144000" cy="365760"/>
          </a:xfrm>
          <a:prstGeom prst="rect">
            <a:avLst/>
          </a:prstGeom>
          <a:noFill/>
          <a:ln/>
        </p:spPr>
        <p:txBody>
          <a:bodyPr wrap="square" lIns="0" tIns="0" rIns="0" bIns="0" rtlCol="0" anchor="ctr"/>
          <a:lstStyle/>
          <a:p>
            <a:pPr indent="0" marL="0">
              <a:buNone/>
            </a:pPr>
            <a:r>
              <a:rPr lang="en-US" sz="2000" b="1" spc="260" kern="0" dirty="0">
                <a:solidFill>
                  <a:srgbClr val="2587C5"/>
                </a:solidFill>
                <a:latin typeface="Inter" pitchFamily="34" charset="0"/>
                <a:ea typeface="Inter" pitchFamily="34" charset="-122"/>
                <a:cs typeface="Inter" pitchFamily="34" charset="-120"/>
              </a:rPr>
              <a:t>FIXED OPS</a:t>
            </a:r>
            <a:endParaRPr lang="en-US" sz="2000" dirty="0"/>
          </a:p>
        </p:txBody>
      </p:sp>
      <p:sp>
        <p:nvSpPr>
          <p:cNvPr id="3" name="Text 1"/>
          <p:cNvSpPr txBox="1"/>
          <p:nvPr/>
        </p:nvSpPr>
        <p:spPr>
          <a:xfrm>
            <a:off x="667512" y="2743200"/>
            <a:ext cx="10789920" cy="1234440"/>
          </a:xfrm>
          <a:prstGeom prst="rect">
            <a:avLst/>
          </a:prstGeom>
          <a:noFill/>
          <a:ln/>
        </p:spPr>
        <p:txBody>
          <a:bodyPr wrap="square" lIns="0" tIns="0" rIns="0" bIns="0" rtlCol="0" anchor="ctr"/>
          <a:lstStyle/>
          <a:p>
            <a:pPr indent="0" marL="0">
              <a:buNone/>
            </a:pPr>
            <a:r>
              <a:rPr lang="en-US" sz="8200" b="1" dirty="0">
                <a:solidFill>
                  <a:srgbClr val="1A1A1A"/>
                </a:solidFill>
                <a:latin typeface="Inter" pitchFamily="34" charset="0"/>
                <a:ea typeface="Inter" pitchFamily="34" charset="-122"/>
                <a:cs typeface="Inter" pitchFamily="34" charset="-120"/>
              </a:rPr>
              <a:t>Gross</a:t>
            </a:r>
            <a:endParaRPr lang="en-US" sz="8200" dirty="0"/>
          </a:p>
        </p:txBody>
      </p:sp>
      <p:sp>
        <p:nvSpPr>
          <p:cNvPr id="4" name="Text 2"/>
          <p:cNvSpPr txBox="1"/>
          <p:nvPr/>
        </p:nvSpPr>
        <p:spPr>
          <a:xfrm>
            <a:off x="694944" y="4041648"/>
            <a:ext cx="10789920" cy="411480"/>
          </a:xfrm>
          <a:prstGeom prst="rect">
            <a:avLst/>
          </a:prstGeom>
          <a:noFill/>
          <a:ln/>
        </p:spPr>
        <p:txBody>
          <a:bodyPr wrap="square" lIns="0" tIns="0" rIns="0" bIns="0" rtlCol="0" anchor="ctr"/>
          <a:lstStyle/>
          <a:p>
            <a:pPr indent="0" marL="0">
              <a:buNone/>
            </a:pPr>
            <a:r>
              <a:rPr lang="en-US" sz="2200" dirty="0">
                <a:solidFill>
                  <a:srgbClr val="595959"/>
                </a:solidFill>
                <a:latin typeface="Inter" pitchFamily="34" charset="0"/>
                <a:ea typeface="Inter" pitchFamily="34" charset="-122"/>
                <a:cs typeface="Inter" pitchFamily="34" charset="-120"/>
              </a:rPr>
              <a:t>Fixed ops   ·   Service   ·   Parts</a:t>
            </a:r>
            <a:endParaRPr lang="en-US" sz="2200" dirty="0"/>
          </a:p>
        </p:txBody>
      </p:sp>
      <p:sp>
        <p:nvSpPr>
          <p:cNvPr id="5" name="Shape 3"/>
          <p:cNvSpPr/>
          <p:nvPr/>
        </p:nvSpPr>
        <p:spPr>
          <a:xfrm>
            <a:off x="685800" y="5257800"/>
            <a:ext cx="1340249" cy="91440"/>
          </a:xfrm>
          <a:prstGeom prst="rect">
            <a:avLst/>
          </a:prstGeom>
          <a:solidFill>
            <a:srgbClr val="2587C5"/>
          </a:solidFill>
          <a:ln/>
        </p:spPr>
      </p:sp>
      <p:sp>
        <p:nvSpPr>
          <p:cNvPr id="6" name="Text 4"/>
          <p:cNvSpPr txBox="1"/>
          <p:nvPr/>
        </p:nvSpPr>
        <p:spPr>
          <a:xfrm>
            <a:off x="685800" y="5440680"/>
            <a:ext cx="1340249" cy="365760"/>
          </a:xfrm>
          <a:prstGeom prst="rect">
            <a:avLst/>
          </a:prstGeom>
          <a:noFill/>
          <a:ln/>
        </p:spPr>
        <p:txBody>
          <a:bodyPr wrap="square" lIns="0" tIns="0" rIns="0" bIns="0" rtlCol="0" anchor="ctr"/>
          <a:lstStyle/>
          <a:p>
            <a:pPr indent="0" marL="0">
              <a:buNone/>
            </a:pPr>
            <a:r>
              <a:rPr lang="en-US" sz="1550" b="1" dirty="0">
                <a:solidFill>
                  <a:srgbClr val="1A1A1A"/>
                </a:solidFill>
                <a:latin typeface="Inter" pitchFamily="34" charset="0"/>
                <a:ea typeface="Inter" pitchFamily="34" charset="-122"/>
                <a:cs typeface="Inter" pitchFamily="34" charset="-120"/>
              </a:rPr>
              <a:t>Gross</a:t>
            </a:r>
            <a:endParaRPr lang="en-US" sz="1550" dirty="0"/>
          </a:p>
        </p:txBody>
      </p:sp>
      <p:sp>
        <p:nvSpPr>
          <p:cNvPr id="7" name="Shape 5"/>
          <p:cNvSpPr/>
          <p:nvPr/>
        </p:nvSpPr>
        <p:spPr>
          <a:xfrm>
            <a:off x="2227217" y="5257800"/>
            <a:ext cx="1340249" cy="45720"/>
          </a:xfrm>
          <a:prstGeom prst="rect">
            <a:avLst/>
          </a:prstGeom>
          <a:solidFill>
            <a:srgbClr val="D9D9D9"/>
          </a:solidFill>
          <a:ln/>
        </p:spPr>
      </p:sp>
      <p:sp>
        <p:nvSpPr>
          <p:cNvPr id="8" name="Text 6"/>
          <p:cNvSpPr txBox="1"/>
          <p:nvPr/>
        </p:nvSpPr>
        <p:spPr>
          <a:xfrm>
            <a:off x="2227217"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Profitability</a:t>
            </a:r>
            <a:endParaRPr lang="en-US" sz="1550" dirty="0"/>
          </a:p>
        </p:txBody>
      </p:sp>
      <p:sp>
        <p:nvSpPr>
          <p:cNvPr id="9" name="Shape 7"/>
          <p:cNvSpPr/>
          <p:nvPr/>
        </p:nvSpPr>
        <p:spPr>
          <a:xfrm>
            <a:off x="3768634" y="5257800"/>
            <a:ext cx="1340249" cy="45720"/>
          </a:xfrm>
          <a:prstGeom prst="rect">
            <a:avLst/>
          </a:prstGeom>
          <a:solidFill>
            <a:srgbClr val="D9D9D9"/>
          </a:solidFill>
          <a:ln/>
        </p:spPr>
      </p:sp>
      <p:sp>
        <p:nvSpPr>
          <p:cNvPr id="10" name="Text 8"/>
          <p:cNvSpPr txBox="1"/>
          <p:nvPr/>
        </p:nvSpPr>
        <p:spPr>
          <a:xfrm>
            <a:off x="3768634"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CP Engine</a:t>
            </a:r>
            <a:endParaRPr lang="en-US" sz="1550" dirty="0"/>
          </a:p>
        </p:txBody>
      </p:sp>
      <p:sp>
        <p:nvSpPr>
          <p:cNvPr id="11" name="Shape 9"/>
          <p:cNvSpPr/>
          <p:nvPr/>
        </p:nvSpPr>
        <p:spPr>
          <a:xfrm>
            <a:off x="5310051" y="5257800"/>
            <a:ext cx="1340249" cy="45720"/>
          </a:xfrm>
          <a:prstGeom prst="rect">
            <a:avLst/>
          </a:prstGeom>
          <a:solidFill>
            <a:srgbClr val="D9D9D9"/>
          </a:solidFill>
          <a:ln/>
        </p:spPr>
      </p:sp>
      <p:sp>
        <p:nvSpPr>
          <p:cNvPr id="12" name="Text 10"/>
          <p:cNvSpPr txBox="1"/>
          <p:nvPr/>
        </p:nvSpPr>
        <p:spPr>
          <a:xfrm>
            <a:off x="5310051"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Labor Mix</a:t>
            </a:r>
            <a:endParaRPr lang="en-US" sz="1550" dirty="0"/>
          </a:p>
        </p:txBody>
      </p:sp>
      <p:sp>
        <p:nvSpPr>
          <p:cNvPr id="13" name="Shape 11"/>
          <p:cNvSpPr/>
          <p:nvPr/>
        </p:nvSpPr>
        <p:spPr>
          <a:xfrm>
            <a:off x="6851469" y="5257800"/>
            <a:ext cx="1340249" cy="45720"/>
          </a:xfrm>
          <a:prstGeom prst="rect">
            <a:avLst/>
          </a:prstGeom>
          <a:solidFill>
            <a:srgbClr val="D9D9D9"/>
          </a:solidFill>
          <a:ln/>
        </p:spPr>
      </p:sp>
      <p:sp>
        <p:nvSpPr>
          <p:cNvPr id="14" name="Text 12"/>
          <p:cNvSpPr txBox="1"/>
          <p:nvPr/>
        </p:nvSpPr>
        <p:spPr>
          <a:xfrm>
            <a:off x="6851469"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Opcodes</a:t>
            </a:r>
            <a:endParaRPr lang="en-US" sz="1550" dirty="0"/>
          </a:p>
        </p:txBody>
      </p:sp>
      <p:sp>
        <p:nvSpPr>
          <p:cNvPr id="15" name="Shape 13"/>
          <p:cNvSpPr/>
          <p:nvPr/>
        </p:nvSpPr>
        <p:spPr>
          <a:xfrm>
            <a:off x="8392886" y="5257800"/>
            <a:ext cx="1340249" cy="45720"/>
          </a:xfrm>
          <a:prstGeom prst="rect">
            <a:avLst/>
          </a:prstGeom>
          <a:solidFill>
            <a:srgbClr val="D9D9D9"/>
          </a:solidFill>
          <a:ln/>
        </p:spPr>
      </p:sp>
      <p:sp>
        <p:nvSpPr>
          <p:cNvPr id="16" name="Text 14"/>
          <p:cNvSpPr txBox="1"/>
          <p:nvPr/>
        </p:nvSpPr>
        <p:spPr>
          <a:xfrm>
            <a:off x="8392886"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Warranty</a:t>
            </a:r>
            <a:endParaRPr lang="en-US" sz="1550" dirty="0"/>
          </a:p>
        </p:txBody>
      </p:sp>
      <p:sp>
        <p:nvSpPr>
          <p:cNvPr id="17" name="Shape 15"/>
          <p:cNvSpPr/>
          <p:nvPr/>
        </p:nvSpPr>
        <p:spPr>
          <a:xfrm>
            <a:off x="9934303" y="5257800"/>
            <a:ext cx="1340249" cy="45720"/>
          </a:xfrm>
          <a:prstGeom prst="rect">
            <a:avLst/>
          </a:prstGeom>
          <a:solidFill>
            <a:srgbClr val="D9D9D9"/>
          </a:solidFill>
          <a:ln/>
        </p:spPr>
      </p:sp>
      <p:sp>
        <p:nvSpPr>
          <p:cNvPr id="18" name="Text 16"/>
          <p:cNvSpPr txBox="1"/>
          <p:nvPr/>
        </p:nvSpPr>
        <p:spPr>
          <a:xfrm>
            <a:off x="9934303"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Productivity</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Total Gross Profit - Fixed Ops</a:t>
            </a:r>
            <a:endParaRPr lang="en-US" sz="2800" dirty="0"/>
          </a:p>
        </p:txBody>
      </p:sp>
      <p:sp>
        <p:nvSpPr>
          <p:cNvPr id="5" name="Shape 3"/>
          <p:cNvSpPr/>
          <p:nvPr/>
        </p:nvSpPr>
        <p:spPr>
          <a:xfrm>
            <a:off x="457200" y="1207008"/>
            <a:ext cx="7589520" cy="4617720"/>
          </a:xfrm>
          <a:prstGeom prst="rect">
            <a:avLst/>
          </a:prstGeom>
          <a:solidFill>
            <a:srgbClr val="FFFFFF"/>
          </a:solidFill>
          <a:ln/>
        </p:spPr>
      </p:sp>
      <p:sp>
        <p:nvSpPr>
          <p:cNvPr id="6" name="Text 4"/>
          <p:cNvSpPr txBox="1"/>
          <p:nvPr/>
        </p:nvSpPr>
        <p:spPr>
          <a:xfrm>
            <a:off x="685800" y="1344168"/>
            <a:ext cx="7132320"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Group total, trailing 12 months ($M)</a:t>
            </a:r>
            <a:endParaRPr lang="en-US" sz="1500" dirty="0"/>
          </a:p>
        </p:txBody>
      </p:sp>
      <p:sp>
        <p:nvSpPr>
          <p:cNvPr id="7" name="Shape 5"/>
          <p:cNvSpPr/>
          <p:nvPr/>
        </p:nvSpPr>
        <p:spPr>
          <a:xfrm>
            <a:off x="685800" y="1691640"/>
            <a:ext cx="7132320" cy="10973"/>
          </a:xfrm>
          <a:prstGeom prst="rect">
            <a:avLst/>
          </a:prstGeom>
          <a:solidFill>
            <a:srgbClr val="1A1A1A"/>
          </a:solidFill>
          <a:ln/>
        </p:spPr>
      </p:sp>
      <p:graphicFrame>
        <p:nvGraphicFramePr>
          <p:cNvPr id="8" name="Chart 0" descr=""/>
          <p:cNvGraphicFramePr/>
          <p:nvPr/>
        </p:nvGraphicFramePr>
        <p:xfrm>
          <a:off x="621792" y="1810512"/>
          <a:ext cx="6858000" cy="3858768"/>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8229600" y="1207008"/>
            <a:ext cx="3502152" cy="4617720"/>
          </a:xfrm>
          <a:prstGeom prst="rect">
            <a:avLst/>
          </a:prstGeom>
          <a:solidFill>
            <a:srgbClr val="FFFFFF"/>
          </a:solidFill>
          <a:ln/>
        </p:spPr>
      </p:sp>
      <p:sp>
        <p:nvSpPr>
          <p:cNvPr id="10" name="Text 7"/>
          <p:cNvSpPr txBox="1"/>
          <p:nvPr/>
        </p:nvSpPr>
        <p:spPr>
          <a:xfrm>
            <a:off x="8458200" y="1344168"/>
            <a:ext cx="30449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What it says</a:t>
            </a:r>
            <a:endParaRPr lang="en-US" sz="1500" dirty="0"/>
          </a:p>
        </p:txBody>
      </p:sp>
      <p:sp>
        <p:nvSpPr>
          <p:cNvPr id="11" name="Shape 8"/>
          <p:cNvSpPr/>
          <p:nvPr/>
        </p:nvSpPr>
        <p:spPr>
          <a:xfrm>
            <a:off x="8458200" y="1691640"/>
            <a:ext cx="3044952" cy="10973"/>
          </a:xfrm>
          <a:prstGeom prst="rect">
            <a:avLst/>
          </a:prstGeom>
          <a:solidFill>
            <a:srgbClr val="1A1A1A"/>
          </a:solidFill>
          <a:ln/>
        </p:spPr>
      </p:sp>
      <p:sp>
        <p:nvSpPr>
          <p:cNvPr id="12" name="Shape 9"/>
          <p:cNvSpPr/>
          <p:nvPr/>
        </p:nvSpPr>
        <p:spPr>
          <a:xfrm>
            <a:off x="8458200" y="1938528"/>
            <a:ext cx="100584" cy="100584"/>
          </a:xfrm>
          <a:prstGeom prst="ellipse">
            <a:avLst/>
          </a:prstGeom>
          <a:solidFill>
            <a:srgbClr val="2587C5"/>
          </a:solidFill>
          <a:ln/>
        </p:spPr>
      </p:sp>
      <p:sp>
        <p:nvSpPr>
          <p:cNvPr id="13" name="Text 10"/>
          <p:cNvSpPr txBox="1"/>
          <p:nvPr/>
        </p:nvSpPr>
        <p:spPr>
          <a:xfrm>
            <a:off x="8705088" y="1810512"/>
            <a:ext cx="2834640" cy="1051560"/>
          </a:xfrm>
          <a:prstGeom prst="rect">
            <a:avLst/>
          </a:prstGeom>
          <a:noFill/>
          <a:ln/>
        </p:spPr>
        <p:txBody>
          <a:bodyPr wrap="square" lIns="0" tIns="0" rIns="0" bIns="0" rtlCol="0" anchor="t"/>
          <a:lstStyle/>
          <a:p>
            <a:pPr indent="0" marL="0">
              <a:buNone/>
            </a:pPr>
            <a:r>
              <a:rPr lang="en-US" sz="1500" b="1" dirty="0">
                <a:solidFill>
                  <a:srgbClr val="2587C5"/>
                </a:solidFill>
                <a:latin typeface="Inter" pitchFamily="34" charset="0"/>
                <a:ea typeface="Inter" pitchFamily="34" charset="-122"/>
                <a:cs typeface="Inter" pitchFamily="34" charset="-120"/>
              </a:rPr>
              <a:t>Peak Jul '26 at $22.71M. Low Nov '25 at $17.74M.</a:t>
            </a:r>
            <a:endParaRPr lang="en-US" sz="1500" dirty="0"/>
          </a:p>
        </p:txBody>
      </p:sp>
      <p:sp>
        <p:nvSpPr>
          <p:cNvPr id="14" name="Shape 11"/>
          <p:cNvSpPr/>
          <p:nvPr/>
        </p:nvSpPr>
        <p:spPr>
          <a:xfrm>
            <a:off x="8458200" y="3072384"/>
            <a:ext cx="100584" cy="100584"/>
          </a:xfrm>
          <a:prstGeom prst="ellipse">
            <a:avLst/>
          </a:prstGeom>
          <a:solidFill>
            <a:srgbClr val="1A1A1A"/>
          </a:solidFill>
          <a:ln/>
        </p:spPr>
      </p:sp>
      <p:sp>
        <p:nvSpPr>
          <p:cNvPr id="15" name="Text 12"/>
          <p:cNvSpPr txBox="1"/>
          <p:nvPr/>
        </p:nvSpPr>
        <p:spPr>
          <a:xfrm>
            <a:off x="8705088" y="2944368"/>
            <a:ext cx="2834640" cy="1051560"/>
          </a:xfrm>
          <a:prstGeom prst="rect">
            <a:avLst/>
          </a:prstGeom>
          <a:noFill/>
          <a:ln/>
        </p:spPr>
        <p:txBody>
          <a:bodyPr wrap="square" lIns="0" tIns="0" rIns="0" bIns="0" rtlCol="0" anchor="t"/>
          <a:lstStyle/>
          <a:p>
            <a:pPr indent="0" marL="0">
              <a:buNone/>
            </a:pPr>
            <a:r>
              <a:rPr lang="en-US" sz="1500" dirty="0">
                <a:solidFill>
                  <a:srgbClr val="1A1A1A"/>
                </a:solidFill>
                <a:latin typeface="Inter" pitchFamily="34" charset="0"/>
                <a:ea typeface="Inter" pitchFamily="34" charset="-122"/>
                <a:cs typeface="Inter" pitchFamily="34" charset="-120"/>
              </a:rPr>
              <a:t>Jun–Sep year over year: +5.8%, +9.4%, +6.5%, +11.0%.</a:t>
            </a:r>
            <a:endParaRPr lang="en-US" sz="1500" dirty="0"/>
          </a:p>
        </p:txBody>
      </p:sp>
      <p:sp>
        <p:nvSpPr>
          <p:cNvPr id="16" name="Shape 13"/>
          <p:cNvSpPr/>
          <p:nvPr/>
        </p:nvSpPr>
        <p:spPr>
          <a:xfrm>
            <a:off x="8458200" y="4206240"/>
            <a:ext cx="100584" cy="100584"/>
          </a:xfrm>
          <a:prstGeom prst="ellipse">
            <a:avLst/>
          </a:prstGeom>
          <a:solidFill>
            <a:srgbClr val="1A1A1A"/>
          </a:solidFill>
          <a:ln/>
        </p:spPr>
      </p:sp>
      <p:sp>
        <p:nvSpPr>
          <p:cNvPr id="17" name="Text 14"/>
          <p:cNvSpPr txBox="1"/>
          <p:nvPr/>
        </p:nvSpPr>
        <p:spPr>
          <a:xfrm>
            <a:off x="8705088" y="4078224"/>
            <a:ext cx="2834640" cy="1051560"/>
          </a:xfrm>
          <a:prstGeom prst="rect">
            <a:avLst/>
          </a:prstGeom>
          <a:noFill/>
          <a:ln/>
        </p:spPr>
        <p:txBody>
          <a:bodyPr wrap="square" lIns="0" tIns="0" rIns="0" bIns="0" rtlCol="0" anchor="t"/>
          <a:lstStyle/>
          <a:p>
            <a:pPr indent="0" marL="0">
              <a:buNone/>
            </a:pPr>
            <a:r>
              <a:rPr lang="en-US" sz="1500" dirty="0">
                <a:solidFill>
                  <a:srgbClr val="1A1A1A"/>
                </a:solidFill>
                <a:latin typeface="Inter" pitchFamily="34" charset="0"/>
                <a:ea typeface="Inter" pitchFamily="34" charset="-122"/>
                <a:cs typeface="Inter" pitchFamily="34" charset="-120"/>
              </a:rPr>
              <a:t>6 of 9 months in 2026 beat the same month of 2025.</a:t>
            </a:r>
            <a:endParaRPr lang="en-US" sz="1500" dirty="0"/>
          </a:p>
        </p:txBody>
      </p:sp>
      <p:sp>
        <p:nvSpPr>
          <p:cNvPr id="18" name="Shape 15"/>
          <p:cNvSpPr/>
          <p:nvPr/>
        </p:nvSpPr>
        <p:spPr>
          <a:xfrm>
            <a:off x="457200" y="5961888"/>
            <a:ext cx="11274552" cy="548640"/>
          </a:xfrm>
          <a:prstGeom prst="rect">
            <a:avLst/>
          </a:prstGeom>
          <a:solidFill>
            <a:srgbClr val="E6F6EE"/>
          </a:solidFill>
          <a:ln/>
        </p:spPr>
      </p:sp>
      <p:sp>
        <p:nvSpPr>
          <p:cNvPr id="19" name="Text 16"/>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Fixed Ops gross ran $20.59M a month over the last twelve, up $7,468,567 year to date.</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Total Gross Profit - Fixed Ops</a:t>
            </a:r>
            <a:endParaRPr lang="en-US" sz="2800" dirty="0"/>
          </a:p>
        </p:txBody>
      </p:sp>
      <p:sp>
        <p:nvSpPr>
          <p:cNvPr id="5" name="Shape 3"/>
          <p:cNvSpPr/>
          <p:nvPr/>
        </p:nvSpPr>
        <p:spPr>
          <a:xfrm>
            <a:off x="457200" y="1207008"/>
            <a:ext cx="11274552" cy="1517904"/>
          </a:xfrm>
          <a:prstGeom prst="rect">
            <a:avLst/>
          </a:prstGeom>
          <a:solidFill>
            <a:srgbClr val="FFFFFF"/>
          </a:solidFill>
          <a:ln/>
        </p:spPr>
      </p:sp>
      <p:sp>
        <p:nvSpPr>
          <p:cNvPr id="6" name="Text 4"/>
          <p:cNvSpPr txBox="1"/>
          <p:nvPr/>
        </p:nvSpPr>
        <p:spPr>
          <a:xfrm>
            <a:off x="685800" y="1316736"/>
            <a:ext cx="10789920" cy="274320"/>
          </a:xfrm>
          <a:prstGeom prst="rect">
            <a:avLst/>
          </a:prstGeom>
          <a:noFill/>
          <a:ln/>
        </p:spPr>
        <p:txBody>
          <a:bodyPr wrap="square" lIns="0" tIns="0" rIns="0" bIns="0" rtlCol="0" anchor="ctr"/>
          <a:lstStyle/>
          <a:p>
            <a:pPr indent="0" marL="0">
              <a:buNone/>
            </a:pPr>
            <a:r>
              <a:rPr lang="en-US" sz="1400" spc="100" kern="0" dirty="0">
                <a:solidFill>
                  <a:srgbClr val="595959"/>
                </a:solidFill>
                <a:latin typeface="Inter" pitchFamily="34" charset="0"/>
                <a:ea typeface="Inter" pitchFamily="34" charset="-122"/>
                <a:cs typeface="Inter" pitchFamily="34" charset="-120"/>
              </a:rPr>
              <a:t>GROUP · JANUARY–SEPTEMBER · SAME-STORE, 33 STORES</a:t>
            </a:r>
            <a:endParaRPr lang="en-US" sz="1400" dirty="0"/>
          </a:p>
        </p:txBody>
      </p:sp>
      <p:sp>
        <p:nvSpPr>
          <p:cNvPr id="7" name="Text 5"/>
          <p:cNvSpPr txBox="1"/>
          <p:nvPr/>
        </p:nvSpPr>
        <p:spPr>
          <a:xfrm>
            <a:off x="68580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a:t>
            </a:r>
            <a:endParaRPr lang="en-US" sz="1400" dirty="0"/>
          </a:p>
        </p:txBody>
      </p:sp>
      <p:sp>
        <p:nvSpPr>
          <p:cNvPr id="8" name="Text 6"/>
          <p:cNvSpPr txBox="1"/>
          <p:nvPr/>
        </p:nvSpPr>
        <p:spPr>
          <a:xfrm>
            <a:off x="68580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$181.33M</a:t>
            </a:r>
            <a:endParaRPr lang="en-US" sz="3000" dirty="0"/>
          </a:p>
        </p:txBody>
      </p:sp>
      <p:sp>
        <p:nvSpPr>
          <p:cNvPr id="9" name="Text 7"/>
          <p:cNvSpPr txBox="1"/>
          <p:nvPr/>
        </p:nvSpPr>
        <p:spPr>
          <a:xfrm>
            <a:off x="347472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a:t>
            </a:r>
            <a:endParaRPr lang="en-US" sz="1400" dirty="0"/>
          </a:p>
        </p:txBody>
      </p:sp>
      <p:sp>
        <p:nvSpPr>
          <p:cNvPr id="10" name="Text 8"/>
          <p:cNvSpPr txBox="1"/>
          <p:nvPr/>
        </p:nvSpPr>
        <p:spPr>
          <a:xfrm>
            <a:off x="347472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$188.80M</a:t>
            </a:r>
            <a:endParaRPr lang="en-US" sz="3000" dirty="0"/>
          </a:p>
        </p:txBody>
      </p:sp>
      <p:sp>
        <p:nvSpPr>
          <p:cNvPr id="11" name="Text 9"/>
          <p:cNvSpPr txBox="1"/>
          <p:nvPr/>
        </p:nvSpPr>
        <p:spPr>
          <a:xfrm>
            <a:off x="626364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2" name="Text 10"/>
          <p:cNvSpPr txBox="1"/>
          <p:nvPr/>
        </p:nvSpPr>
        <p:spPr>
          <a:xfrm>
            <a:off x="626364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+$7,468,567</a:t>
            </a:r>
            <a:endParaRPr lang="en-US" sz="3000" dirty="0"/>
          </a:p>
        </p:txBody>
      </p:sp>
      <p:sp>
        <p:nvSpPr>
          <p:cNvPr id="13" name="Text 11"/>
          <p:cNvSpPr txBox="1"/>
          <p:nvPr/>
        </p:nvSpPr>
        <p:spPr>
          <a:xfrm>
            <a:off x="905256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4" name="Text 12"/>
          <p:cNvSpPr txBox="1"/>
          <p:nvPr/>
        </p:nvSpPr>
        <p:spPr>
          <a:xfrm>
            <a:off x="905256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+4.1%</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2816352"/>
          <a:ext cx="11274552" cy="914400"/>
        </p:xfrm>
        <a:graphic>
          <a:graphicData uri="http://schemas.openxmlformats.org/drawingml/2006/table">
            <a:tbl>
              <a:tblPr/>
              <a:tblGrid>
                <a:gridCol w="3118104"/>
                <a:gridCol w="2039112"/>
                <a:gridCol w="2039112"/>
                <a:gridCol w="2039112"/>
                <a:gridCol w="2039112"/>
              </a:tblGrid>
              <a:tr h="274320">
                <a:tc>
                  <a:txBody>
                    <a:bodyPr/>
                    <a:lstStyle/>
                    <a:p>
                      <a:pPr algn="l" indent="0" marL="0">
                        <a:buNone/>
                      </a:pPr>
                      <a:r>
                        <a:rPr lang="en-US" sz="1400" b="1" dirty="0">
                          <a:solidFill>
                            <a:srgbClr val="FFFFFF"/>
                          </a:solidFill>
                          <a:latin typeface="Inter" pitchFamily="34" charset="0"/>
                          <a:ea typeface="Inter" pitchFamily="34" charset="-122"/>
                          <a:cs typeface="Inter" pitchFamily="34" charset="-120"/>
                        </a:rPr>
                        <a:t>MONTH</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VARIANCE</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 %</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JAN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$20.46M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$19.88M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−$577,606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−2.8%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FEB</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$19.10M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$18.87M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−$232,279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−1.2%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$20.19M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$21.12M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+$924,230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APR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$20.85M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$21.80M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+$943,298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MAY</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$20.28M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$20.12M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−$154,977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−0.8%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$20.34M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$21.52M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+$1,183,612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+5.8%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JUL</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$20.75M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$22.71M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+$1,960,141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+9.4%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AUG</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$20.32M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$21.64M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+$1,323,650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+6.5%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SEP</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$19.03M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$21.13M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+$2,098,497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+11.0%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16" name="Shape 13"/>
          <p:cNvSpPr/>
          <p:nvPr/>
        </p:nvSpPr>
        <p:spPr>
          <a:xfrm>
            <a:off x="457200" y="5961888"/>
            <a:ext cx="11274552" cy="548640"/>
          </a:xfrm>
          <a:prstGeom prst="rect">
            <a:avLst/>
          </a:prstGeom>
          <a:solidFill>
            <a:srgbClr val="E6F6EE"/>
          </a:solidFill>
          <a:ln/>
        </p:spPr>
      </p:sp>
      <p:sp>
        <p:nvSpPr>
          <p:cNvPr id="17" name="Text 14"/>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+$7,468,567 (4.1%) year to date; 6 of nine months ahead of 2025, best September at +$2,098,497.</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Total Gross Profit - Fixed Ops</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01168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GROUP</a:t>
            </a:r>
            <a:endParaRPr lang="en-US" sz="1500" dirty="0"/>
          </a:p>
        </p:txBody>
      </p:sp>
      <p:sp>
        <p:nvSpPr>
          <p:cNvPr id="9" name="Text 7"/>
          <p:cNvSpPr txBox="1"/>
          <p:nvPr/>
        </p:nvSpPr>
        <p:spPr>
          <a:xfrm>
            <a:off x="2834640" y="1335024"/>
            <a:ext cx="420624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SAME-STORE, 33 STORES</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+$7,468,567</a:t>
            </a:r>
            <a:endParaRPr lang="en-US" sz="2000" dirty="0"/>
          </a:p>
        </p:txBody>
      </p:sp>
      <p:sp>
        <p:nvSpPr>
          <p:cNvPr id="11" name="Text 9"/>
          <p:cNvSpPr txBox="1"/>
          <p:nvPr/>
        </p:nvSpPr>
        <p:spPr>
          <a:xfrm>
            <a:off x="658368"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12" name="Shape 10"/>
          <p:cNvSpPr/>
          <p:nvPr/>
        </p:nvSpPr>
        <p:spPr>
          <a:xfrm>
            <a:off x="3813048" y="1909246"/>
            <a:ext cx="822960" cy="105898"/>
          </a:xfrm>
          <a:prstGeom prst="rect">
            <a:avLst/>
          </a:prstGeom>
          <a:solidFill>
            <a:srgbClr val="12A566"/>
          </a:solidFill>
          <a:ln/>
        </p:spPr>
      </p:sp>
      <p:sp>
        <p:nvSpPr>
          <p:cNvPr id="13" name="Text 11"/>
          <p:cNvSpPr txBox="1"/>
          <p:nvPr/>
        </p:nvSpPr>
        <p:spPr>
          <a:xfrm>
            <a:off x="4709160"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+$1,772,700</a:t>
            </a:r>
            <a:endParaRPr lang="en-US" sz="1300" dirty="0"/>
          </a:p>
        </p:txBody>
      </p:sp>
      <p:sp>
        <p:nvSpPr>
          <p:cNvPr id="14" name="Text 12"/>
          <p:cNvSpPr txBox="1"/>
          <p:nvPr/>
        </p:nvSpPr>
        <p:spPr>
          <a:xfrm>
            <a:off x="658368"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15" name="Shape 13"/>
          <p:cNvSpPr/>
          <p:nvPr/>
        </p:nvSpPr>
        <p:spPr>
          <a:xfrm>
            <a:off x="3813048" y="2139459"/>
            <a:ext cx="791467" cy="105898"/>
          </a:xfrm>
          <a:prstGeom prst="rect">
            <a:avLst/>
          </a:prstGeom>
          <a:solidFill>
            <a:srgbClr val="12A566"/>
          </a:solidFill>
          <a:ln/>
        </p:spPr>
      </p:sp>
      <p:sp>
        <p:nvSpPr>
          <p:cNvPr id="16" name="Text 14"/>
          <p:cNvSpPr txBox="1"/>
          <p:nvPr/>
        </p:nvSpPr>
        <p:spPr>
          <a:xfrm>
            <a:off x="4709160"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+$1,704,863</a:t>
            </a:r>
            <a:endParaRPr lang="en-US" sz="1300" dirty="0"/>
          </a:p>
        </p:txBody>
      </p:sp>
      <p:sp>
        <p:nvSpPr>
          <p:cNvPr id="17" name="Text 15"/>
          <p:cNvSpPr txBox="1"/>
          <p:nvPr/>
        </p:nvSpPr>
        <p:spPr>
          <a:xfrm>
            <a:off x="658368"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18" name="Shape 16"/>
          <p:cNvSpPr/>
          <p:nvPr/>
        </p:nvSpPr>
        <p:spPr>
          <a:xfrm>
            <a:off x="3813048" y="2369673"/>
            <a:ext cx="432600" cy="105898"/>
          </a:xfrm>
          <a:prstGeom prst="rect">
            <a:avLst/>
          </a:prstGeom>
          <a:solidFill>
            <a:srgbClr val="12A566"/>
          </a:solidFill>
          <a:ln/>
        </p:spPr>
      </p:sp>
      <p:sp>
        <p:nvSpPr>
          <p:cNvPr id="19" name="Text 17"/>
          <p:cNvSpPr txBox="1"/>
          <p:nvPr/>
        </p:nvSpPr>
        <p:spPr>
          <a:xfrm>
            <a:off x="4709160"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+$931,844</a:t>
            </a:r>
            <a:endParaRPr lang="en-US" sz="1300" dirty="0"/>
          </a:p>
        </p:txBody>
      </p:sp>
      <p:sp>
        <p:nvSpPr>
          <p:cNvPr id="20" name="Text 18"/>
          <p:cNvSpPr txBox="1"/>
          <p:nvPr/>
        </p:nvSpPr>
        <p:spPr>
          <a:xfrm>
            <a:off x="658368"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21" name="Shape 19"/>
          <p:cNvSpPr/>
          <p:nvPr/>
        </p:nvSpPr>
        <p:spPr>
          <a:xfrm>
            <a:off x="3813048" y="2599887"/>
            <a:ext cx="354557" cy="105898"/>
          </a:xfrm>
          <a:prstGeom prst="rect">
            <a:avLst/>
          </a:prstGeom>
          <a:solidFill>
            <a:srgbClr val="12A566"/>
          </a:solidFill>
          <a:ln/>
        </p:spPr>
      </p:sp>
      <p:sp>
        <p:nvSpPr>
          <p:cNvPr id="22" name="Text 20"/>
          <p:cNvSpPr txBox="1"/>
          <p:nvPr/>
        </p:nvSpPr>
        <p:spPr>
          <a:xfrm>
            <a:off x="4709160"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+$763,736</a:t>
            </a:r>
            <a:endParaRPr lang="en-US" sz="1300" dirty="0"/>
          </a:p>
        </p:txBody>
      </p:sp>
      <p:sp>
        <p:nvSpPr>
          <p:cNvPr id="23" name="Text 21"/>
          <p:cNvSpPr txBox="1"/>
          <p:nvPr/>
        </p:nvSpPr>
        <p:spPr>
          <a:xfrm>
            <a:off x="658368"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24" name="Shape 22"/>
          <p:cNvSpPr/>
          <p:nvPr/>
        </p:nvSpPr>
        <p:spPr>
          <a:xfrm>
            <a:off x="3813048" y="2830100"/>
            <a:ext cx="333043" cy="105898"/>
          </a:xfrm>
          <a:prstGeom prst="rect">
            <a:avLst/>
          </a:prstGeom>
          <a:solidFill>
            <a:srgbClr val="12A566"/>
          </a:solidFill>
          <a:ln/>
        </p:spPr>
      </p:sp>
      <p:sp>
        <p:nvSpPr>
          <p:cNvPr id="25" name="Text 23"/>
          <p:cNvSpPr txBox="1"/>
          <p:nvPr/>
        </p:nvSpPr>
        <p:spPr>
          <a:xfrm>
            <a:off x="4709160"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+$717,392</a:t>
            </a:r>
            <a:endParaRPr lang="en-US" sz="1300" dirty="0"/>
          </a:p>
        </p:txBody>
      </p:sp>
      <p:sp>
        <p:nvSpPr>
          <p:cNvPr id="26" name="Text 24"/>
          <p:cNvSpPr txBox="1"/>
          <p:nvPr/>
        </p:nvSpPr>
        <p:spPr>
          <a:xfrm>
            <a:off x="658368"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27" name="Shape 25"/>
          <p:cNvSpPr/>
          <p:nvPr/>
        </p:nvSpPr>
        <p:spPr>
          <a:xfrm>
            <a:off x="3813048" y="3060314"/>
            <a:ext cx="308326" cy="105898"/>
          </a:xfrm>
          <a:prstGeom prst="rect">
            <a:avLst/>
          </a:prstGeom>
          <a:solidFill>
            <a:srgbClr val="12A566"/>
          </a:solidFill>
          <a:ln/>
        </p:spPr>
      </p:sp>
      <p:sp>
        <p:nvSpPr>
          <p:cNvPr id="28" name="Text 26"/>
          <p:cNvSpPr txBox="1"/>
          <p:nvPr/>
        </p:nvSpPr>
        <p:spPr>
          <a:xfrm>
            <a:off x="4709160"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+$664,150</a:t>
            </a:r>
            <a:endParaRPr lang="en-US" sz="1300" dirty="0"/>
          </a:p>
        </p:txBody>
      </p:sp>
      <p:sp>
        <p:nvSpPr>
          <p:cNvPr id="29" name="Text 27"/>
          <p:cNvSpPr txBox="1"/>
          <p:nvPr/>
        </p:nvSpPr>
        <p:spPr>
          <a:xfrm>
            <a:off x="658368"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30" name="Shape 28"/>
          <p:cNvSpPr/>
          <p:nvPr/>
        </p:nvSpPr>
        <p:spPr>
          <a:xfrm>
            <a:off x="3813048" y="3290528"/>
            <a:ext cx="272000" cy="105898"/>
          </a:xfrm>
          <a:prstGeom prst="rect">
            <a:avLst/>
          </a:prstGeom>
          <a:solidFill>
            <a:srgbClr val="12A566"/>
          </a:solidFill>
          <a:ln/>
        </p:spPr>
      </p:sp>
      <p:sp>
        <p:nvSpPr>
          <p:cNvPr id="31" name="Text 29"/>
          <p:cNvSpPr txBox="1"/>
          <p:nvPr/>
        </p:nvSpPr>
        <p:spPr>
          <a:xfrm>
            <a:off x="4709160" y="3228370"/>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+$585,903</a:t>
            </a:r>
            <a:endParaRPr lang="en-US" sz="1300" dirty="0"/>
          </a:p>
        </p:txBody>
      </p:sp>
      <p:sp>
        <p:nvSpPr>
          <p:cNvPr id="32" name="Text 30"/>
          <p:cNvSpPr txBox="1"/>
          <p:nvPr/>
        </p:nvSpPr>
        <p:spPr>
          <a:xfrm>
            <a:off x="658368"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33" name="Shape 31"/>
          <p:cNvSpPr/>
          <p:nvPr/>
        </p:nvSpPr>
        <p:spPr>
          <a:xfrm>
            <a:off x="3813048" y="3520741"/>
            <a:ext cx="252788" cy="105898"/>
          </a:xfrm>
          <a:prstGeom prst="rect">
            <a:avLst/>
          </a:prstGeom>
          <a:solidFill>
            <a:srgbClr val="12A566"/>
          </a:solidFill>
          <a:ln/>
        </p:spPr>
      </p:sp>
      <p:sp>
        <p:nvSpPr>
          <p:cNvPr id="34" name="Text 32"/>
          <p:cNvSpPr txBox="1"/>
          <p:nvPr/>
        </p:nvSpPr>
        <p:spPr>
          <a:xfrm>
            <a:off x="4709160" y="345858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+$544,518</a:t>
            </a:r>
            <a:endParaRPr lang="en-US" sz="1300" dirty="0"/>
          </a:p>
        </p:txBody>
      </p:sp>
      <p:sp>
        <p:nvSpPr>
          <p:cNvPr id="35" name="Text 33"/>
          <p:cNvSpPr txBox="1"/>
          <p:nvPr/>
        </p:nvSpPr>
        <p:spPr>
          <a:xfrm>
            <a:off x="658368"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36" name="Shape 34"/>
          <p:cNvSpPr/>
          <p:nvPr/>
        </p:nvSpPr>
        <p:spPr>
          <a:xfrm>
            <a:off x="3813048" y="3750955"/>
            <a:ext cx="219305" cy="105898"/>
          </a:xfrm>
          <a:prstGeom prst="rect">
            <a:avLst/>
          </a:prstGeom>
          <a:solidFill>
            <a:srgbClr val="12A566"/>
          </a:solidFill>
          <a:ln/>
        </p:spPr>
      </p:sp>
      <p:sp>
        <p:nvSpPr>
          <p:cNvPr id="37" name="Text 35"/>
          <p:cNvSpPr txBox="1"/>
          <p:nvPr/>
        </p:nvSpPr>
        <p:spPr>
          <a:xfrm>
            <a:off x="4709160" y="3688797"/>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+$472,394</a:t>
            </a:r>
            <a:endParaRPr lang="en-US" sz="1300" dirty="0"/>
          </a:p>
        </p:txBody>
      </p:sp>
      <p:sp>
        <p:nvSpPr>
          <p:cNvPr id="38" name="Text 36"/>
          <p:cNvSpPr txBox="1"/>
          <p:nvPr/>
        </p:nvSpPr>
        <p:spPr>
          <a:xfrm>
            <a:off x="658368"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39" name="Shape 37"/>
          <p:cNvSpPr/>
          <p:nvPr/>
        </p:nvSpPr>
        <p:spPr>
          <a:xfrm>
            <a:off x="3813048" y="3981169"/>
            <a:ext cx="206401" cy="105898"/>
          </a:xfrm>
          <a:prstGeom prst="rect">
            <a:avLst/>
          </a:prstGeom>
          <a:solidFill>
            <a:srgbClr val="12A566"/>
          </a:solidFill>
          <a:ln/>
        </p:spPr>
      </p:sp>
      <p:sp>
        <p:nvSpPr>
          <p:cNvPr id="40" name="Text 38"/>
          <p:cNvSpPr txBox="1"/>
          <p:nvPr/>
        </p:nvSpPr>
        <p:spPr>
          <a:xfrm>
            <a:off x="4709160" y="3919011"/>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+$444,598</a:t>
            </a:r>
            <a:endParaRPr lang="en-US" sz="1300" dirty="0"/>
          </a:p>
        </p:txBody>
      </p:sp>
      <p:sp>
        <p:nvSpPr>
          <p:cNvPr id="41" name="Text 39"/>
          <p:cNvSpPr txBox="1"/>
          <p:nvPr/>
        </p:nvSpPr>
        <p:spPr>
          <a:xfrm>
            <a:off x="658368"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42" name="Shape 40"/>
          <p:cNvSpPr/>
          <p:nvPr/>
        </p:nvSpPr>
        <p:spPr>
          <a:xfrm>
            <a:off x="3813048" y="4211382"/>
            <a:ext cx="196073" cy="105898"/>
          </a:xfrm>
          <a:prstGeom prst="rect">
            <a:avLst/>
          </a:prstGeom>
          <a:solidFill>
            <a:srgbClr val="12A566"/>
          </a:solidFill>
          <a:ln/>
        </p:spPr>
      </p:sp>
      <p:sp>
        <p:nvSpPr>
          <p:cNvPr id="43" name="Text 41"/>
          <p:cNvSpPr txBox="1"/>
          <p:nvPr/>
        </p:nvSpPr>
        <p:spPr>
          <a:xfrm>
            <a:off x="4709160" y="414922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+$422,352</a:t>
            </a:r>
            <a:endParaRPr lang="en-US" sz="1300" dirty="0"/>
          </a:p>
        </p:txBody>
      </p:sp>
      <p:sp>
        <p:nvSpPr>
          <p:cNvPr id="44" name="Text 42"/>
          <p:cNvSpPr txBox="1"/>
          <p:nvPr/>
        </p:nvSpPr>
        <p:spPr>
          <a:xfrm>
            <a:off x="658368"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45" name="Shape 43"/>
          <p:cNvSpPr/>
          <p:nvPr/>
        </p:nvSpPr>
        <p:spPr>
          <a:xfrm>
            <a:off x="3813048" y="4441596"/>
            <a:ext cx="187781" cy="105898"/>
          </a:xfrm>
          <a:prstGeom prst="rect">
            <a:avLst/>
          </a:prstGeom>
          <a:solidFill>
            <a:srgbClr val="12A566"/>
          </a:solidFill>
          <a:ln/>
        </p:spPr>
      </p:sp>
      <p:sp>
        <p:nvSpPr>
          <p:cNvPr id="46" name="Text 44"/>
          <p:cNvSpPr txBox="1"/>
          <p:nvPr/>
        </p:nvSpPr>
        <p:spPr>
          <a:xfrm>
            <a:off x="4709160" y="437943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+$404,490</a:t>
            </a:r>
            <a:endParaRPr lang="en-US" sz="1300" dirty="0"/>
          </a:p>
        </p:txBody>
      </p:sp>
      <p:sp>
        <p:nvSpPr>
          <p:cNvPr id="47" name="Text 45"/>
          <p:cNvSpPr txBox="1"/>
          <p:nvPr/>
        </p:nvSpPr>
        <p:spPr>
          <a:xfrm>
            <a:off x="658368"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48" name="Shape 46"/>
          <p:cNvSpPr/>
          <p:nvPr/>
        </p:nvSpPr>
        <p:spPr>
          <a:xfrm>
            <a:off x="3813048" y="4671809"/>
            <a:ext cx="173120" cy="105898"/>
          </a:xfrm>
          <a:prstGeom prst="rect">
            <a:avLst/>
          </a:prstGeom>
          <a:solidFill>
            <a:srgbClr val="12A566"/>
          </a:solidFill>
          <a:ln/>
        </p:spPr>
      </p:sp>
      <p:sp>
        <p:nvSpPr>
          <p:cNvPr id="49" name="Text 47"/>
          <p:cNvSpPr txBox="1"/>
          <p:nvPr/>
        </p:nvSpPr>
        <p:spPr>
          <a:xfrm>
            <a:off x="4709160" y="460965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+$372,910</a:t>
            </a:r>
            <a:endParaRPr lang="en-US" sz="1300" dirty="0"/>
          </a:p>
        </p:txBody>
      </p:sp>
      <p:sp>
        <p:nvSpPr>
          <p:cNvPr id="50" name="Text 48"/>
          <p:cNvSpPr txBox="1"/>
          <p:nvPr/>
        </p:nvSpPr>
        <p:spPr>
          <a:xfrm>
            <a:off x="658368"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51" name="Shape 49"/>
          <p:cNvSpPr/>
          <p:nvPr/>
        </p:nvSpPr>
        <p:spPr>
          <a:xfrm>
            <a:off x="3813048" y="4902023"/>
            <a:ext cx="170861" cy="105898"/>
          </a:xfrm>
          <a:prstGeom prst="rect">
            <a:avLst/>
          </a:prstGeom>
          <a:solidFill>
            <a:srgbClr val="12A566"/>
          </a:solidFill>
          <a:ln/>
        </p:spPr>
      </p:sp>
      <p:sp>
        <p:nvSpPr>
          <p:cNvPr id="52" name="Text 50"/>
          <p:cNvSpPr txBox="1"/>
          <p:nvPr/>
        </p:nvSpPr>
        <p:spPr>
          <a:xfrm>
            <a:off x="4709160" y="483986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+$368,043</a:t>
            </a:r>
            <a:endParaRPr lang="en-US" sz="1300" dirty="0"/>
          </a:p>
        </p:txBody>
      </p:sp>
      <p:sp>
        <p:nvSpPr>
          <p:cNvPr id="53" name="Text 51"/>
          <p:cNvSpPr txBox="1"/>
          <p:nvPr/>
        </p:nvSpPr>
        <p:spPr>
          <a:xfrm>
            <a:off x="658368"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54" name="Shape 52"/>
          <p:cNvSpPr/>
          <p:nvPr/>
        </p:nvSpPr>
        <p:spPr>
          <a:xfrm>
            <a:off x="3813048" y="5132237"/>
            <a:ext cx="100234" cy="105898"/>
          </a:xfrm>
          <a:prstGeom prst="rect">
            <a:avLst/>
          </a:prstGeom>
          <a:solidFill>
            <a:srgbClr val="12A566"/>
          </a:solidFill>
          <a:ln/>
        </p:spPr>
      </p:sp>
      <p:sp>
        <p:nvSpPr>
          <p:cNvPr id="55" name="Text 53"/>
          <p:cNvSpPr txBox="1"/>
          <p:nvPr/>
        </p:nvSpPr>
        <p:spPr>
          <a:xfrm>
            <a:off x="4709160" y="507007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+$215,909</a:t>
            </a:r>
            <a:endParaRPr lang="en-US" sz="1300" dirty="0"/>
          </a:p>
        </p:txBody>
      </p:sp>
      <p:sp>
        <p:nvSpPr>
          <p:cNvPr id="56" name="Text 54"/>
          <p:cNvSpPr txBox="1"/>
          <p:nvPr/>
        </p:nvSpPr>
        <p:spPr>
          <a:xfrm>
            <a:off x="658368"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57" name="Shape 55"/>
          <p:cNvSpPr/>
          <p:nvPr/>
        </p:nvSpPr>
        <p:spPr>
          <a:xfrm>
            <a:off x="3813048" y="5362450"/>
            <a:ext cx="82786" cy="105898"/>
          </a:xfrm>
          <a:prstGeom prst="rect">
            <a:avLst/>
          </a:prstGeom>
          <a:solidFill>
            <a:srgbClr val="12A566"/>
          </a:solidFill>
          <a:ln/>
        </p:spPr>
      </p:sp>
      <p:sp>
        <p:nvSpPr>
          <p:cNvPr id="58" name="Text 56"/>
          <p:cNvSpPr txBox="1"/>
          <p:nvPr/>
        </p:nvSpPr>
        <p:spPr>
          <a:xfrm>
            <a:off x="4709160" y="530029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+$178,326</a:t>
            </a:r>
            <a:endParaRPr lang="en-US" sz="1300" dirty="0"/>
          </a:p>
        </p:txBody>
      </p:sp>
      <p:sp>
        <p:nvSpPr>
          <p:cNvPr id="59" name="Text 57"/>
          <p:cNvSpPr txBox="1"/>
          <p:nvPr/>
        </p:nvSpPr>
        <p:spPr>
          <a:xfrm>
            <a:off x="658368" y="553050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60" name="Shape 58"/>
          <p:cNvSpPr/>
          <p:nvPr/>
        </p:nvSpPr>
        <p:spPr>
          <a:xfrm>
            <a:off x="3813048" y="5592664"/>
            <a:ext cx="72738" cy="105898"/>
          </a:xfrm>
          <a:prstGeom prst="rect">
            <a:avLst/>
          </a:prstGeom>
          <a:solidFill>
            <a:srgbClr val="12A566"/>
          </a:solidFill>
          <a:ln/>
        </p:spPr>
      </p:sp>
      <p:sp>
        <p:nvSpPr>
          <p:cNvPr id="61" name="Text 59"/>
          <p:cNvSpPr txBox="1"/>
          <p:nvPr/>
        </p:nvSpPr>
        <p:spPr>
          <a:xfrm>
            <a:off x="4709160" y="553050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+$156,681</a:t>
            </a:r>
            <a:endParaRPr lang="en-US" sz="1300" dirty="0"/>
          </a:p>
        </p:txBody>
      </p:sp>
      <p:sp>
        <p:nvSpPr>
          <p:cNvPr id="62" name="Text 60"/>
          <p:cNvSpPr txBox="1"/>
          <p:nvPr/>
        </p:nvSpPr>
        <p:spPr>
          <a:xfrm>
            <a:off x="6208776"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63" name="Shape 61"/>
          <p:cNvSpPr/>
          <p:nvPr/>
        </p:nvSpPr>
        <p:spPr>
          <a:xfrm>
            <a:off x="9363456" y="1909246"/>
            <a:ext cx="62750" cy="105898"/>
          </a:xfrm>
          <a:prstGeom prst="rect">
            <a:avLst/>
          </a:prstGeom>
          <a:solidFill>
            <a:srgbClr val="12A566"/>
          </a:solidFill>
          <a:ln/>
        </p:spPr>
      </p:sp>
      <p:sp>
        <p:nvSpPr>
          <p:cNvPr id="64" name="Text 62"/>
          <p:cNvSpPr txBox="1"/>
          <p:nvPr/>
        </p:nvSpPr>
        <p:spPr>
          <a:xfrm>
            <a:off x="10259568"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+$135,167</a:t>
            </a:r>
            <a:endParaRPr lang="en-US" sz="1300" dirty="0"/>
          </a:p>
        </p:txBody>
      </p:sp>
      <p:sp>
        <p:nvSpPr>
          <p:cNvPr id="65" name="Text 63"/>
          <p:cNvSpPr txBox="1"/>
          <p:nvPr/>
        </p:nvSpPr>
        <p:spPr>
          <a:xfrm>
            <a:off x="6208776"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66" name="Shape 64"/>
          <p:cNvSpPr/>
          <p:nvPr/>
        </p:nvSpPr>
        <p:spPr>
          <a:xfrm>
            <a:off x="9363456" y="2139459"/>
            <a:ext cx="58029" cy="105898"/>
          </a:xfrm>
          <a:prstGeom prst="rect">
            <a:avLst/>
          </a:prstGeom>
          <a:solidFill>
            <a:srgbClr val="12A566"/>
          </a:solidFill>
          <a:ln/>
        </p:spPr>
      </p:sp>
      <p:sp>
        <p:nvSpPr>
          <p:cNvPr id="67" name="Text 65"/>
          <p:cNvSpPr txBox="1"/>
          <p:nvPr/>
        </p:nvSpPr>
        <p:spPr>
          <a:xfrm>
            <a:off x="10259568"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+$124,997</a:t>
            </a:r>
            <a:endParaRPr lang="en-US" sz="1300" dirty="0"/>
          </a:p>
        </p:txBody>
      </p:sp>
      <p:sp>
        <p:nvSpPr>
          <p:cNvPr id="68" name="Text 66"/>
          <p:cNvSpPr txBox="1"/>
          <p:nvPr/>
        </p:nvSpPr>
        <p:spPr>
          <a:xfrm>
            <a:off x="6208776"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69" name="Shape 67"/>
          <p:cNvSpPr/>
          <p:nvPr/>
        </p:nvSpPr>
        <p:spPr>
          <a:xfrm>
            <a:off x="9363456" y="2369673"/>
            <a:ext cx="55545" cy="105898"/>
          </a:xfrm>
          <a:prstGeom prst="rect">
            <a:avLst/>
          </a:prstGeom>
          <a:solidFill>
            <a:srgbClr val="12A566"/>
          </a:solidFill>
          <a:ln/>
        </p:spPr>
      </p:sp>
      <p:sp>
        <p:nvSpPr>
          <p:cNvPr id="70" name="Text 68"/>
          <p:cNvSpPr txBox="1"/>
          <p:nvPr/>
        </p:nvSpPr>
        <p:spPr>
          <a:xfrm>
            <a:off x="10259568"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+$119,647</a:t>
            </a:r>
            <a:endParaRPr lang="en-US" sz="1300" dirty="0"/>
          </a:p>
        </p:txBody>
      </p:sp>
      <p:sp>
        <p:nvSpPr>
          <p:cNvPr id="71" name="Text 69"/>
          <p:cNvSpPr txBox="1"/>
          <p:nvPr/>
        </p:nvSpPr>
        <p:spPr>
          <a:xfrm>
            <a:off x="6208776"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72" name="Shape 70"/>
          <p:cNvSpPr/>
          <p:nvPr/>
        </p:nvSpPr>
        <p:spPr>
          <a:xfrm>
            <a:off x="9363456" y="2599887"/>
            <a:ext cx="44161" cy="105898"/>
          </a:xfrm>
          <a:prstGeom prst="rect">
            <a:avLst/>
          </a:prstGeom>
          <a:solidFill>
            <a:srgbClr val="12A566"/>
          </a:solidFill>
          <a:ln/>
        </p:spPr>
      </p:sp>
      <p:sp>
        <p:nvSpPr>
          <p:cNvPr id="73" name="Text 71"/>
          <p:cNvSpPr txBox="1"/>
          <p:nvPr/>
        </p:nvSpPr>
        <p:spPr>
          <a:xfrm>
            <a:off x="10259568"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+$95,125</a:t>
            </a:r>
            <a:endParaRPr lang="en-US" sz="1300" dirty="0"/>
          </a:p>
        </p:txBody>
      </p:sp>
      <p:sp>
        <p:nvSpPr>
          <p:cNvPr id="74" name="Text 72"/>
          <p:cNvSpPr txBox="1"/>
          <p:nvPr/>
        </p:nvSpPr>
        <p:spPr>
          <a:xfrm>
            <a:off x="6208776"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75" name="Shape 73"/>
          <p:cNvSpPr/>
          <p:nvPr/>
        </p:nvSpPr>
        <p:spPr>
          <a:xfrm>
            <a:off x="9363456" y="2830100"/>
            <a:ext cx="40940" cy="105898"/>
          </a:xfrm>
          <a:prstGeom prst="rect">
            <a:avLst/>
          </a:prstGeom>
          <a:solidFill>
            <a:srgbClr val="12A566"/>
          </a:solidFill>
          <a:ln/>
        </p:spPr>
      </p:sp>
      <p:sp>
        <p:nvSpPr>
          <p:cNvPr id="76" name="Text 74"/>
          <p:cNvSpPr txBox="1"/>
          <p:nvPr/>
        </p:nvSpPr>
        <p:spPr>
          <a:xfrm>
            <a:off x="10259568"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+$88,186</a:t>
            </a:r>
            <a:endParaRPr lang="en-US" sz="1300" dirty="0"/>
          </a:p>
        </p:txBody>
      </p:sp>
      <p:sp>
        <p:nvSpPr>
          <p:cNvPr id="77" name="Text 75"/>
          <p:cNvSpPr txBox="1"/>
          <p:nvPr/>
        </p:nvSpPr>
        <p:spPr>
          <a:xfrm>
            <a:off x="6208776"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78" name="Shape 76"/>
          <p:cNvSpPr/>
          <p:nvPr/>
        </p:nvSpPr>
        <p:spPr>
          <a:xfrm>
            <a:off x="9363456" y="3060314"/>
            <a:ext cx="29152" cy="105898"/>
          </a:xfrm>
          <a:prstGeom prst="rect">
            <a:avLst/>
          </a:prstGeom>
          <a:solidFill>
            <a:srgbClr val="12A566"/>
          </a:solidFill>
          <a:ln/>
        </p:spPr>
      </p:sp>
      <p:sp>
        <p:nvSpPr>
          <p:cNvPr id="79" name="Text 77"/>
          <p:cNvSpPr txBox="1"/>
          <p:nvPr/>
        </p:nvSpPr>
        <p:spPr>
          <a:xfrm>
            <a:off x="10259568"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+$62,795</a:t>
            </a:r>
            <a:endParaRPr lang="en-US" sz="1300" dirty="0"/>
          </a:p>
        </p:txBody>
      </p:sp>
      <p:sp>
        <p:nvSpPr>
          <p:cNvPr id="80" name="Text 78"/>
          <p:cNvSpPr txBox="1"/>
          <p:nvPr/>
        </p:nvSpPr>
        <p:spPr>
          <a:xfrm>
            <a:off x="6208776"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81" name="Shape 79"/>
          <p:cNvSpPr/>
          <p:nvPr/>
        </p:nvSpPr>
        <p:spPr>
          <a:xfrm>
            <a:off x="9363456" y="3290528"/>
            <a:ext cx="18085" cy="105898"/>
          </a:xfrm>
          <a:prstGeom prst="rect">
            <a:avLst/>
          </a:prstGeom>
          <a:solidFill>
            <a:srgbClr val="12A566"/>
          </a:solidFill>
          <a:ln/>
        </p:spPr>
      </p:sp>
      <p:sp>
        <p:nvSpPr>
          <p:cNvPr id="82" name="Text 80"/>
          <p:cNvSpPr txBox="1"/>
          <p:nvPr/>
        </p:nvSpPr>
        <p:spPr>
          <a:xfrm>
            <a:off x="10259568" y="3228370"/>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+$38,956</a:t>
            </a:r>
            <a:endParaRPr lang="en-US" sz="1300" dirty="0"/>
          </a:p>
        </p:txBody>
      </p:sp>
      <p:sp>
        <p:nvSpPr>
          <p:cNvPr id="83" name="Text 81"/>
          <p:cNvSpPr txBox="1"/>
          <p:nvPr/>
        </p:nvSpPr>
        <p:spPr>
          <a:xfrm>
            <a:off x="6208776"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84" name="Shape 82"/>
          <p:cNvSpPr/>
          <p:nvPr/>
        </p:nvSpPr>
        <p:spPr>
          <a:xfrm>
            <a:off x="9363456" y="3520741"/>
            <a:ext cx="12802" cy="105898"/>
          </a:xfrm>
          <a:prstGeom prst="rect">
            <a:avLst/>
          </a:prstGeom>
          <a:solidFill>
            <a:srgbClr val="12A566"/>
          </a:solidFill>
          <a:ln/>
        </p:spPr>
      </p:sp>
      <p:sp>
        <p:nvSpPr>
          <p:cNvPr id="85" name="Text 83"/>
          <p:cNvSpPr txBox="1"/>
          <p:nvPr/>
        </p:nvSpPr>
        <p:spPr>
          <a:xfrm>
            <a:off x="10259568" y="345858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+$22,653</a:t>
            </a:r>
            <a:endParaRPr lang="en-US" sz="1300" dirty="0"/>
          </a:p>
        </p:txBody>
      </p:sp>
      <p:sp>
        <p:nvSpPr>
          <p:cNvPr id="86" name="Text 84"/>
          <p:cNvSpPr txBox="1"/>
          <p:nvPr/>
        </p:nvSpPr>
        <p:spPr>
          <a:xfrm>
            <a:off x="6208776"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87" name="Shape 85"/>
          <p:cNvSpPr/>
          <p:nvPr/>
        </p:nvSpPr>
        <p:spPr>
          <a:xfrm>
            <a:off x="9287856" y="3750955"/>
            <a:ext cx="75600" cy="105898"/>
          </a:xfrm>
          <a:prstGeom prst="rect">
            <a:avLst/>
          </a:prstGeom>
          <a:solidFill>
            <a:srgbClr val="C2352F"/>
          </a:solidFill>
          <a:ln/>
        </p:spPr>
      </p:sp>
      <p:sp>
        <p:nvSpPr>
          <p:cNvPr id="88" name="Text 86"/>
          <p:cNvSpPr txBox="1"/>
          <p:nvPr/>
        </p:nvSpPr>
        <p:spPr>
          <a:xfrm>
            <a:off x="10259568" y="3688797"/>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−$162,846</a:t>
            </a:r>
            <a:endParaRPr lang="en-US" sz="1300" dirty="0"/>
          </a:p>
        </p:txBody>
      </p:sp>
      <p:sp>
        <p:nvSpPr>
          <p:cNvPr id="89" name="Text 87"/>
          <p:cNvSpPr txBox="1"/>
          <p:nvPr/>
        </p:nvSpPr>
        <p:spPr>
          <a:xfrm>
            <a:off x="6208776"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90" name="Shape 88"/>
          <p:cNvSpPr/>
          <p:nvPr/>
        </p:nvSpPr>
        <p:spPr>
          <a:xfrm>
            <a:off x="9268916" y="3981169"/>
            <a:ext cx="94540" cy="105898"/>
          </a:xfrm>
          <a:prstGeom prst="rect">
            <a:avLst/>
          </a:prstGeom>
          <a:solidFill>
            <a:srgbClr val="C2352F"/>
          </a:solidFill>
          <a:ln/>
        </p:spPr>
      </p:sp>
      <p:sp>
        <p:nvSpPr>
          <p:cNvPr id="91" name="Text 89"/>
          <p:cNvSpPr txBox="1"/>
          <p:nvPr/>
        </p:nvSpPr>
        <p:spPr>
          <a:xfrm>
            <a:off x="10259568" y="3919011"/>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−$203,644</a:t>
            </a:r>
            <a:endParaRPr lang="en-US" sz="1300" dirty="0"/>
          </a:p>
        </p:txBody>
      </p:sp>
      <p:sp>
        <p:nvSpPr>
          <p:cNvPr id="92" name="Text 90"/>
          <p:cNvSpPr txBox="1"/>
          <p:nvPr/>
        </p:nvSpPr>
        <p:spPr>
          <a:xfrm>
            <a:off x="6208776"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93" name="Shape 91"/>
          <p:cNvSpPr/>
          <p:nvPr/>
        </p:nvSpPr>
        <p:spPr>
          <a:xfrm>
            <a:off x="9160588" y="4211382"/>
            <a:ext cx="202868" cy="105898"/>
          </a:xfrm>
          <a:prstGeom prst="rect">
            <a:avLst/>
          </a:prstGeom>
          <a:solidFill>
            <a:srgbClr val="C2352F"/>
          </a:solidFill>
          <a:ln/>
        </p:spPr>
      </p:sp>
      <p:sp>
        <p:nvSpPr>
          <p:cNvPr id="94" name="Text 92"/>
          <p:cNvSpPr txBox="1"/>
          <p:nvPr/>
        </p:nvSpPr>
        <p:spPr>
          <a:xfrm>
            <a:off x="10259568" y="414922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−$436,988</a:t>
            </a:r>
            <a:endParaRPr lang="en-US" sz="1300" dirty="0"/>
          </a:p>
        </p:txBody>
      </p:sp>
      <p:sp>
        <p:nvSpPr>
          <p:cNvPr id="95" name="Text 93"/>
          <p:cNvSpPr txBox="1"/>
          <p:nvPr/>
        </p:nvSpPr>
        <p:spPr>
          <a:xfrm>
            <a:off x="6208776"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96" name="Shape 94"/>
          <p:cNvSpPr/>
          <p:nvPr/>
        </p:nvSpPr>
        <p:spPr>
          <a:xfrm>
            <a:off x="9131996" y="4441596"/>
            <a:ext cx="231460" cy="105898"/>
          </a:xfrm>
          <a:prstGeom prst="rect">
            <a:avLst/>
          </a:prstGeom>
          <a:solidFill>
            <a:srgbClr val="C2352F"/>
          </a:solidFill>
          <a:ln/>
        </p:spPr>
      </p:sp>
      <p:sp>
        <p:nvSpPr>
          <p:cNvPr id="97" name="Text 95"/>
          <p:cNvSpPr txBox="1"/>
          <p:nvPr/>
        </p:nvSpPr>
        <p:spPr>
          <a:xfrm>
            <a:off x="10259568" y="4379438"/>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−$498,577</a:t>
            </a:r>
            <a:endParaRPr lang="en-US" sz="1300" dirty="0"/>
          </a:p>
        </p:txBody>
      </p:sp>
      <p:sp>
        <p:nvSpPr>
          <p:cNvPr id="98" name="Text 96"/>
          <p:cNvSpPr txBox="1"/>
          <p:nvPr/>
        </p:nvSpPr>
        <p:spPr>
          <a:xfrm>
            <a:off x="6208776"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99" name="Shape 97"/>
          <p:cNvSpPr/>
          <p:nvPr/>
        </p:nvSpPr>
        <p:spPr>
          <a:xfrm>
            <a:off x="9123542" y="4671809"/>
            <a:ext cx="239914" cy="105898"/>
          </a:xfrm>
          <a:prstGeom prst="rect">
            <a:avLst/>
          </a:prstGeom>
          <a:solidFill>
            <a:srgbClr val="C2352F"/>
          </a:solidFill>
          <a:ln/>
        </p:spPr>
      </p:sp>
      <p:sp>
        <p:nvSpPr>
          <p:cNvPr id="100" name="Text 98"/>
          <p:cNvSpPr txBox="1"/>
          <p:nvPr/>
        </p:nvSpPr>
        <p:spPr>
          <a:xfrm>
            <a:off x="10259568" y="4609652"/>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−$516,788</a:t>
            </a:r>
            <a:endParaRPr lang="en-US" sz="1300" dirty="0"/>
          </a:p>
        </p:txBody>
      </p:sp>
      <p:sp>
        <p:nvSpPr>
          <p:cNvPr id="101" name="Text 99"/>
          <p:cNvSpPr txBox="1"/>
          <p:nvPr/>
        </p:nvSpPr>
        <p:spPr>
          <a:xfrm>
            <a:off x="6208776"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102" name="Shape 100"/>
          <p:cNvSpPr/>
          <p:nvPr/>
        </p:nvSpPr>
        <p:spPr>
          <a:xfrm>
            <a:off x="9122123" y="4902023"/>
            <a:ext cx="241333" cy="105898"/>
          </a:xfrm>
          <a:prstGeom prst="rect">
            <a:avLst/>
          </a:prstGeom>
          <a:solidFill>
            <a:srgbClr val="C2352F"/>
          </a:solidFill>
          <a:ln/>
        </p:spPr>
      </p:sp>
      <p:sp>
        <p:nvSpPr>
          <p:cNvPr id="103" name="Text 101"/>
          <p:cNvSpPr txBox="1"/>
          <p:nvPr/>
        </p:nvSpPr>
        <p:spPr>
          <a:xfrm>
            <a:off x="10259568" y="4839865"/>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−$519,845</a:t>
            </a:r>
            <a:endParaRPr lang="en-US" sz="1300" dirty="0"/>
          </a:p>
        </p:txBody>
      </p:sp>
      <p:sp>
        <p:nvSpPr>
          <p:cNvPr id="104" name="Text 102"/>
          <p:cNvSpPr txBox="1"/>
          <p:nvPr/>
        </p:nvSpPr>
        <p:spPr>
          <a:xfrm>
            <a:off x="6208776"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105" name="Shape 103"/>
          <p:cNvSpPr/>
          <p:nvPr/>
        </p:nvSpPr>
        <p:spPr>
          <a:xfrm>
            <a:off x="9010079" y="5132237"/>
            <a:ext cx="353377" cy="105898"/>
          </a:xfrm>
          <a:prstGeom prst="rect">
            <a:avLst/>
          </a:prstGeom>
          <a:solidFill>
            <a:srgbClr val="C2352F"/>
          </a:solidFill>
          <a:ln/>
        </p:spPr>
      </p:sp>
      <p:sp>
        <p:nvSpPr>
          <p:cNvPr id="106" name="Text 104"/>
          <p:cNvSpPr txBox="1"/>
          <p:nvPr/>
        </p:nvSpPr>
        <p:spPr>
          <a:xfrm>
            <a:off x="10259568" y="5070079"/>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−$761,192</a:t>
            </a:r>
            <a:endParaRPr lang="en-US" sz="1300" dirty="0"/>
          </a:p>
        </p:txBody>
      </p:sp>
      <p:sp>
        <p:nvSpPr>
          <p:cNvPr id="107" name="Text 105"/>
          <p:cNvSpPr txBox="1"/>
          <p:nvPr/>
        </p:nvSpPr>
        <p:spPr>
          <a:xfrm>
            <a:off x="6208776"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108" name="Shape 106"/>
          <p:cNvSpPr/>
          <p:nvPr/>
        </p:nvSpPr>
        <p:spPr>
          <a:xfrm>
            <a:off x="8973544" y="5362450"/>
            <a:ext cx="389912" cy="105898"/>
          </a:xfrm>
          <a:prstGeom prst="rect">
            <a:avLst/>
          </a:prstGeom>
          <a:solidFill>
            <a:srgbClr val="C2352F"/>
          </a:solidFill>
          <a:ln/>
        </p:spPr>
      </p:sp>
      <p:sp>
        <p:nvSpPr>
          <p:cNvPr id="109" name="Text 107"/>
          <p:cNvSpPr txBox="1"/>
          <p:nvPr/>
        </p:nvSpPr>
        <p:spPr>
          <a:xfrm>
            <a:off x="10259568" y="530029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−$839,891</a:t>
            </a:r>
            <a:endParaRPr lang="en-US" sz="1300" dirty="0"/>
          </a:p>
        </p:txBody>
      </p:sp>
      <p:sp>
        <p:nvSpPr>
          <p:cNvPr id="110" name="Shape 108"/>
          <p:cNvSpPr/>
          <p:nvPr/>
        </p:nvSpPr>
        <p:spPr>
          <a:xfrm>
            <a:off x="3807562" y="1847088"/>
            <a:ext cx="10973" cy="3913632"/>
          </a:xfrm>
          <a:prstGeom prst="rect">
            <a:avLst/>
          </a:prstGeom>
          <a:solidFill>
            <a:srgbClr val="9AA3AD"/>
          </a:solidFill>
          <a:ln/>
        </p:spPr>
      </p:sp>
      <p:sp>
        <p:nvSpPr>
          <p:cNvPr id="111" name="Shape 109"/>
          <p:cNvSpPr/>
          <p:nvPr/>
        </p:nvSpPr>
        <p:spPr>
          <a:xfrm>
            <a:off x="9357970" y="1847088"/>
            <a:ext cx="10973" cy="3913632"/>
          </a:xfrm>
          <a:prstGeom prst="rect">
            <a:avLst/>
          </a:prstGeom>
          <a:solidFill>
            <a:srgbClr val="9AA3AD"/>
          </a:solidFill>
          <a:ln/>
        </p:spPr>
      </p:sp>
      <p:sp>
        <p:nvSpPr>
          <p:cNvPr id="112" name="Shape 110"/>
          <p:cNvSpPr/>
          <p:nvPr/>
        </p:nvSpPr>
        <p:spPr>
          <a:xfrm>
            <a:off x="457200" y="5961888"/>
            <a:ext cx="11274552" cy="548640"/>
          </a:xfrm>
          <a:prstGeom prst="rect">
            <a:avLst/>
          </a:prstGeom>
          <a:solidFill>
            <a:srgbClr val="E6F6EE"/>
          </a:solidFill>
          <a:ln/>
        </p:spPr>
      </p:sp>
      <p:sp>
        <p:nvSpPr>
          <p:cNvPr id="113" name="Text 111"/>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25 of 33 stores grew, led by TOYOTA HENDERSON at +$1,772,700; 8 declined, HONDA NORTH most at −$839,891.</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Total Gross Profit - Fixed Ops</a:t>
            </a:r>
            <a:endParaRPr lang="en-US" sz="2800" dirty="0"/>
          </a:p>
        </p:txBody>
      </p:sp>
      <p:sp>
        <p:nvSpPr>
          <p:cNvPr id="5" name="Shape 3"/>
          <p:cNvSpPr/>
          <p:nvPr/>
        </p:nvSpPr>
        <p:spPr>
          <a:xfrm>
            <a:off x="457200" y="1207008"/>
            <a:ext cx="5486400" cy="4645152"/>
          </a:xfrm>
          <a:prstGeom prst="rect">
            <a:avLst/>
          </a:prstGeom>
          <a:solidFill>
            <a:srgbClr val="FFFFFF"/>
          </a:solidFill>
          <a:ln/>
        </p:spPr>
      </p:sp>
      <p:sp>
        <p:nvSpPr>
          <p:cNvPr id="6" name="Text 4"/>
          <p:cNvSpPr txBox="1"/>
          <p:nvPr/>
        </p:nvSpPr>
        <p:spPr>
          <a:xfrm>
            <a:off x="685800" y="1344168"/>
            <a:ext cx="5029200"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How the group got there, Jan–Sep</a:t>
            </a:r>
            <a:endParaRPr lang="en-US" sz="1500" dirty="0"/>
          </a:p>
        </p:txBody>
      </p:sp>
      <p:sp>
        <p:nvSpPr>
          <p:cNvPr id="7" name="Shape 5"/>
          <p:cNvSpPr/>
          <p:nvPr/>
        </p:nvSpPr>
        <p:spPr>
          <a:xfrm>
            <a:off x="685800" y="1691640"/>
            <a:ext cx="5029200" cy="10973"/>
          </a:xfrm>
          <a:prstGeom prst="rect">
            <a:avLst/>
          </a:prstGeom>
          <a:solidFill>
            <a:srgbClr val="1A1A1A"/>
          </a:solidFill>
          <a:ln/>
        </p:spPr>
      </p:sp>
      <p:sp>
        <p:nvSpPr>
          <p:cNvPr id="8" name="Shape 6"/>
          <p:cNvSpPr/>
          <p:nvPr/>
        </p:nvSpPr>
        <p:spPr>
          <a:xfrm>
            <a:off x="713232" y="1700784"/>
            <a:ext cx="4974336" cy="621792"/>
          </a:xfrm>
          <a:prstGeom prst="rect">
            <a:avLst/>
          </a:prstGeom>
          <a:solidFill>
            <a:srgbClr val="F7F7F7"/>
          </a:solidFill>
          <a:ln/>
        </p:spPr>
      </p:sp>
      <p:sp>
        <p:nvSpPr>
          <p:cNvPr id="9" name="Text 7"/>
          <p:cNvSpPr txBox="1"/>
          <p:nvPr/>
        </p:nvSpPr>
        <p:spPr>
          <a:xfrm>
            <a:off x="896112" y="1728216"/>
            <a:ext cx="2743200" cy="457200"/>
          </a:xfrm>
          <a:prstGeom prst="rect">
            <a:avLst/>
          </a:prstGeom>
          <a:noFill/>
          <a:ln/>
        </p:spPr>
        <p:txBody>
          <a:bodyPr wrap="square" lIns="0" tIns="0" rIns="0" bIns="0" rtlCol="0" anchor="ctr"/>
          <a:lstStyle/>
          <a:p>
            <a:pPr indent="0" marL="0">
              <a:buNone/>
            </a:pPr>
            <a:r>
              <a:rPr lang="en-US" sz="2600" b="1" dirty="0">
                <a:solidFill>
                  <a:srgbClr val="1A1A1A"/>
                </a:solidFill>
                <a:latin typeface="Inter" pitchFamily="34" charset="0"/>
                <a:ea typeface="Inter" pitchFamily="34" charset="-122"/>
                <a:cs typeface="Inter" pitchFamily="34" charset="-120"/>
              </a:rPr>
              <a:t>$181.33M</a:t>
            </a:r>
            <a:endParaRPr lang="en-US" sz="2600" dirty="0"/>
          </a:p>
        </p:txBody>
      </p:sp>
      <p:sp>
        <p:nvSpPr>
          <p:cNvPr id="10" name="Text 8"/>
          <p:cNvSpPr txBox="1"/>
          <p:nvPr/>
        </p:nvSpPr>
        <p:spPr>
          <a:xfrm>
            <a:off x="3657600" y="1728216"/>
            <a:ext cx="1874520" cy="585216"/>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2025 group</a:t>
            </a:r>
            <a:endParaRPr lang="en-US" sz="1400" dirty="0"/>
          </a:p>
        </p:txBody>
      </p:sp>
      <p:sp>
        <p:nvSpPr>
          <p:cNvPr id="11" name="Shape 9"/>
          <p:cNvSpPr/>
          <p:nvPr/>
        </p:nvSpPr>
        <p:spPr>
          <a:xfrm>
            <a:off x="987552" y="2395728"/>
            <a:ext cx="292608" cy="292608"/>
          </a:xfrm>
          <a:prstGeom prst="ellipse">
            <a:avLst/>
          </a:prstGeom>
          <a:solidFill>
            <a:srgbClr val="2587C5"/>
          </a:solidFill>
          <a:ln/>
        </p:spPr>
      </p:sp>
      <p:sp>
        <p:nvSpPr>
          <p:cNvPr id="12" name="Text 10"/>
          <p:cNvSpPr txBox="1"/>
          <p:nvPr/>
        </p:nvSpPr>
        <p:spPr>
          <a:xfrm>
            <a:off x="987552" y="2395728"/>
            <a:ext cx="292608" cy="292608"/>
          </a:xfrm>
          <a:prstGeom prst="rect">
            <a:avLst/>
          </a:prstGeom>
          <a:noFill/>
          <a:ln/>
        </p:spPr>
        <p:txBody>
          <a:bodyPr wrap="square" lIns="0" tIns="0" rIns="0" bIns="0"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a:t>
            </a:r>
            <a:endParaRPr lang="en-US" sz="1800" dirty="0"/>
          </a:p>
        </p:txBody>
      </p:sp>
      <p:sp>
        <p:nvSpPr>
          <p:cNvPr id="13" name="Shape 11"/>
          <p:cNvSpPr/>
          <p:nvPr/>
        </p:nvSpPr>
        <p:spPr>
          <a:xfrm>
            <a:off x="713232" y="2706624"/>
            <a:ext cx="4974336" cy="621792"/>
          </a:xfrm>
          <a:prstGeom prst="rect">
            <a:avLst/>
          </a:prstGeom>
          <a:solidFill>
            <a:srgbClr val="E6F6EE"/>
          </a:solidFill>
          <a:ln/>
        </p:spPr>
      </p:sp>
      <p:sp>
        <p:nvSpPr>
          <p:cNvPr id="14" name="Text 12"/>
          <p:cNvSpPr txBox="1"/>
          <p:nvPr/>
        </p:nvSpPr>
        <p:spPr>
          <a:xfrm>
            <a:off x="896112" y="2734056"/>
            <a:ext cx="2743200" cy="457200"/>
          </a:xfrm>
          <a:prstGeom prst="rect">
            <a:avLst/>
          </a:prstGeom>
          <a:noFill/>
          <a:ln/>
        </p:spPr>
        <p:txBody>
          <a:bodyPr wrap="square" lIns="0" tIns="0" rIns="0" bIns="0" rtlCol="0" anchor="ctr"/>
          <a:lstStyle/>
          <a:p>
            <a:pPr indent="0" marL="0">
              <a:buNone/>
            </a:pPr>
            <a:r>
              <a:rPr lang="en-US" sz="2600" b="1" dirty="0">
                <a:solidFill>
                  <a:srgbClr val="0B7A4A"/>
                </a:solidFill>
                <a:latin typeface="Inter" pitchFamily="34" charset="0"/>
                <a:ea typeface="Inter" pitchFamily="34" charset="-122"/>
                <a:cs typeface="Inter" pitchFamily="34" charset="-120"/>
              </a:rPr>
              <a:t>+$7,468,567</a:t>
            </a:r>
            <a:endParaRPr lang="en-US" sz="2600" dirty="0"/>
          </a:p>
        </p:txBody>
      </p:sp>
      <p:sp>
        <p:nvSpPr>
          <p:cNvPr id="15" name="Text 13"/>
          <p:cNvSpPr txBox="1"/>
          <p:nvPr/>
        </p:nvSpPr>
        <p:spPr>
          <a:xfrm>
            <a:off x="3657600" y="2734056"/>
            <a:ext cx="1874520" cy="585216"/>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same-store growth</a:t>
            </a:r>
            <a:endParaRPr lang="en-US" sz="1400" dirty="0"/>
          </a:p>
        </p:txBody>
      </p:sp>
      <p:sp>
        <p:nvSpPr>
          <p:cNvPr id="16" name="Shape 14"/>
          <p:cNvSpPr/>
          <p:nvPr/>
        </p:nvSpPr>
        <p:spPr>
          <a:xfrm>
            <a:off x="987552" y="3401568"/>
            <a:ext cx="292608" cy="292608"/>
          </a:xfrm>
          <a:prstGeom prst="ellipse">
            <a:avLst/>
          </a:prstGeom>
          <a:solidFill>
            <a:srgbClr val="0B2C4A"/>
          </a:solidFill>
          <a:ln/>
        </p:spPr>
      </p:sp>
      <p:sp>
        <p:nvSpPr>
          <p:cNvPr id="17" name="Text 15"/>
          <p:cNvSpPr txBox="1"/>
          <p:nvPr/>
        </p:nvSpPr>
        <p:spPr>
          <a:xfrm>
            <a:off x="987552" y="3401568"/>
            <a:ext cx="292608" cy="292608"/>
          </a:xfrm>
          <a:prstGeom prst="rect">
            <a:avLst/>
          </a:prstGeom>
          <a:noFill/>
          <a:ln/>
        </p:spPr>
        <p:txBody>
          <a:bodyPr wrap="square" lIns="0" tIns="0" rIns="0" bIns="0"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a:t>
            </a:r>
            <a:endParaRPr lang="en-US" sz="1800" dirty="0"/>
          </a:p>
        </p:txBody>
      </p:sp>
      <p:sp>
        <p:nvSpPr>
          <p:cNvPr id="18" name="Shape 16"/>
          <p:cNvSpPr/>
          <p:nvPr/>
        </p:nvSpPr>
        <p:spPr>
          <a:xfrm>
            <a:off x="713232" y="3712464"/>
            <a:ext cx="4974336" cy="713232"/>
          </a:xfrm>
          <a:prstGeom prst="rect">
            <a:avLst/>
          </a:prstGeom>
          <a:solidFill>
            <a:srgbClr val="EDF4FA"/>
          </a:solidFill>
          <a:ln/>
        </p:spPr>
      </p:sp>
      <p:sp>
        <p:nvSpPr>
          <p:cNvPr id="19" name="Text 17"/>
          <p:cNvSpPr txBox="1"/>
          <p:nvPr/>
        </p:nvSpPr>
        <p:spPr>
          <a:xfrm>
            <a:off x="896112" y="3739896"/>
            <a:ext cx="2743200" cy="512064"/>
          </a:xfrm>
          <a:prstGeom prst="rect">
            <a:avLst/>
          </a:prstGeom>
          <a:noFill/>
          <a:ln/>
        </p:spPr>
        <p:txBody>
          <a:bodyPr wrap="square" lIns="0" tIns="0" rIns="0" bIns="0" rtlCol="0" anchor="ctr"/>
          <a:lstStyle/>
          <a:p>
            <a:pPr indent="0" marL="0">
              <a:buNone/>
            </a:pPr>
            <a:r>
              <a:rPr lang="en-US" sz="3000" b="1" dirty="0">
                <a:solidFill>
                  <a:srgbClr val="0B2C4A"/>
                </a:solidFill>
                <a:latin typeface="Inter" pitchFamily="34" charset="0"/>
                <a:ea typeface="Inter" pitchFamily="34" charset="-122"/>
                <a:cs typeface="Inter" pitchFamily="34" charset="-120"/>
              </a:rPr>
              <a:t>$188.80M</a:t>
            </a:r>
            <a:endParaRPr lang="en-US" sz="3000" dirty="0"/>
          </a:p>
        </p:txBody>
      </p:sp>
      <p:sp>
        <p:nvSpPr>
          <p:cNvPr id="20" name="Text 18"/>
          <p:cNvSpPr txBox="1"/>
          <p:nvPr/>
        </p:nvSpPr>
        <p:spPr>
          <a:xfrm>
            <a:off x="3657600" y="3739896"/>
            <a:ext cx="1874520" cy="658368"/>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2026 group</a:t>
            </a:r>
            <a:endParaRPr lang="en-US" sz="1400" dirty="0"/>
          </a:p>
        </p:txBody>
      </p:sp>
      <p:sp>
        <p:nvSpPr>
          <p:cNvPr id="21" name="Shape 19"/>
          <p:cNvSpPr/>
          <p:nvPr/>
        </p:nvSpPr>
        <p:spPr>
          <a:xfrm>
            <a:off x="6126480" y="1207008"/>
            <a:ext cx="5605272" cy="4645152"/>
          </a:xfrm>
          <a:prstGeom prst="rect">
            <a:avLst/>
          </a:prstGeom>
          <a:solidFill>
            <a:srgbClr val="FFFFFF"/>
          </a:solidFill>
          <a:ln/>
        </p:spPr>
      </p:sp>
      <p:sp>
        <p:nvSpPr>
          <p:cNvPr id="22" name="Text 20"/>
          <p:cNvSpPr txBox="1"/>
          <p:nvPr/>
        </p:nvSpPr>
        <p:spPr>
          <a:xfrm>
            <a:off x="6355080" y="1344168"/>
            <a:ext cx="514807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Who moved it</a:t>
            </a:r>
            <a:endParaRPr lang="en-US" sz="1500" dirty="0"/>
          </a:p>
        </p:txBody>
      </p:sp>
      <p:sp>
        <p:nvSpPr>
          <p:cNvPr id="23" name="Shape 21"/>
          <p:cNvSpPr/>
          <p:nvPr/>
        </p:nvSpPr>
        <p:spPr>
          <a:xfrm>
            <a:off x="6355080" y="1691640"/>
            <a:ext cx="5148072" cy="10973"/>
          </a:xfrm>
          <a:prstGeom prst="rect">
            <a:avLst/>
          </a:prstGeom>
          <a:solidFill>
            <a:srgbClr val="1A1A1A"/>
          </a:solidFill>
          <a:ln/>
        </p:spPr>
      </p:sp>
      <p:sp>
        <p:nvSpPr>
          <p:cNvPr id="24" name="Text 22"/>
          <p:cNvSpPr txBox="1"/>
          <p:nvPr/>
        </p:nvSpPr>
        <p:spPr>
          <a:xfrm>
            <a:off x="6355080" y="1828800"/>
            <a:ext cx="2148840" cy="38404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TOYOTA HENDERSON</a:t>
            </a:r>
            <a:endParaRPr lang="en-US" sz="1400" dirty="0"/>
          </a:p>
        </p:txBody>
      </p:sp>
      <p:sp>
        <p:nvSpPr>
          <p:cNvPr id="25" name="Shape 23"/>
          <p:cNvSpPr/>
          <p:nvPr/>
        </p:nvSpPr>
        <p:spPr>
          <a:xfrm>
            <a:off x="8595360" y="1929384"/>
            <a:ext cx="1463040" cy="182880"/>
          </a:xfrm>
          <a:prstGeom prst="rect">
            <a:avLst/>
          </a:prstGeom>
          <a:solidFill>
            <a:srgbClr val="12A566"/>
          </a:solidFill>
          <a:ln/>
        </p:spPr>
      </p:sp>
      <p:sp>
        <p:nvSpPr>
          <p:cNvPr id="26" name="Text 24"/>
          <p:cNvSpPr txBox="1"/>
          <p:nvPr/>
        </p:nvSpPr>
        <p:spPr>
          <a:xfrm>
            <a:off x="10149840" y="1828800"/>
            <a:ext cx="1371600" cy="384048"/>
          </a:xfrm>
          <a:prstGeom prst="rect">
            <a:avLst/>
          </a:prstGeom>
          <a:noFill/>
          <a:ln/>
        </p:spPr>
        <p:txBody>
          <a:bodyPr wrap="square" lIns="0" tIns="0" rIns="0" bIns="0" rtlCol="0" anchor="ctr"/>
          <a:lstStyle/>
          <a:p>
            <a:pPr algn="r" indent="0" marL="0">
              <a:buNone/>
            </a:pPr>
            <a:r>
              <a:rPr lang="en-US" sz="1400" b="1" dirty="0">
                <a:solidFill>
                  <a:srgbClr val="0B7A4A"/>
                </a:solidFill>
                <a:latin typeface="Inter" pitchFamily="34" charset="0"/>
                <a:ea typeface="Inter" pitchFamily="34" charset="-122"/>
                <a:cs typeface="Inter" pitchFamily="34" charset="-120"/>
              </a:rPr>
              <a:t>+$1,772,700</a:t>
            </a:r>
            <a:endParaRPr lang="en-US" sz="1400" dirty="0"/>
          </a:p>
        </p:txBody>
      </p:sp>
      <p:sp>
        <p:nvSpPr>
          <p:cNvPr id="27" name="Text 25"/>
          <p:cNvSpPr txBox="1"/>
          <p:nvPr/>
        </p:nvSpPr>
        <p:spPr>
          <a:xfrm>
            <a:off x="6355080" y="2258568"/>
            <a:ext cx="2148840" cy="38404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AUDI HENDERSON</a:t>
            </a:r>
            <a:endParaRPr lang="en-US" sz="1400" dirty="0"/>
          </a:p>
        </p:txBody>
      </p:sp>
      <p:sp>
        <p:nvSpPr>
          <p:cNvPr id="28" name="Shape 26"/>
          <p:cNvSpPr/>
          <p:nvPr/>
        </p:nvSpPr>
        <p:spPr>
          <a:xfrm>
            <a:off x="8595360" y="2359152"/>
            <a:ext cx="1407053" cy="182880"/>
          </a:xfrm>
          <a:prstGeom prst="rect">
            <a:avLst/>
          </a:prstGeom>
          <a:solidFill>
            <a:srgbClr val="12A566"/>
          </a:solidFill>
          <a:ln/>
        </p:spPr>
      </p:sp>
      <p:sp>
        <p:nvSpPr>
          <p:cNvPr id="29" name="Text 27"/>
          <p:cNvSpPr txBox="1"/>
          <p:nvPr/>
        </p:nvSpPr>
        <p:spPr>
          <a:xfrm>
            <a:off x="10149840" y="2258568"/>
            <a:ext cx="1371600" cy="384048"/>
          </a:xfrm>
          <a:prstGeom prst="rect">
            <a:avLst/>
          </a:prstGeom>
          <a:noFill/>
          <a:ln/>
        </p:spPr>
        <p:txBody>
          <a:bodyPr wrap="square" lIns="0" tIns="0" rIns="0" bIns="0" rtlCol="0" anchor="ctr"/>
          <a:lstStyle/>
          <a:p>
            <a:pPr algn="r" indent="0" marL="0">
              <a:buNone/>
            </a:pPr>
            <a:r>
              <a:rPr lang="en-US" sz="1400" b="1" dirty="0">
                <a:solidFill>
                  <a:srgbClr val="0B7A4A"/>
                </a:solidFill>
                <a:latin typeface="Inter" pitchFamily="34" charset="0"/>
                <a:ea typeface="Inter" pitchFamily="34" charset="-122"/>
                <a:cs typeface="Inter" pitchFamily="34" charset="-120"/>
              </a:rPr>
              <a:t>+$1,704,863</a:t>
            </a:r>
            <a:endParaRPr lang="en-US" sz="1400" dirty="0"/>
          </a:p>
        </p:txBody>
      </p:sp>
      <p:sp>
        <p:nvSpPr>
          <p:cNvPr id="30" name="Text 28"/>
          <p:cNvSpPr txBox="1"/>
          <p:nvPr/>
        </p:nvSpPr>
        <p:spPr>
          <a:xfrm>
            <a:off x="6355080" y="2688336"/>
            <a:ext cx="2148840" cy="38404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HONDA HENDERSON</a:t>
            </a:r>
            <a:endParaRPr lang="en-US" sz="1400" dirty="0"/>
          </a:p>
        </p:txBody>
      </p:sp>
      <p:sp>
        <p:nvSpPr>
          <p:cNvPr id="31" name="Shape 29"/>
          <p:cNvSpPr/>
          <p:nvPr/>
        </p:nvSpPr>
        <p:spPr>
          <a:xfrm>
            <a:off x="8595360" y="2788920"/>
            <a:ext cx="769067" cy="182880"/>
          </a:xfrm>
          <a:prstGeom prst="rect">
            <a:avLst/>
          </a:prstGeom>
          <a:solidFill>
            <a:srgbClr val="12A566"/>
          </a:solidFill>
          <a:ln/>
        </p:spPr>
      </p:sp>
      <p:sp>
        <p:nvSpPr>
          <p:cNvPr id="32" name="Text 30"/>
          <p:cNvSpPr txBox="1"/>
          <p:nvPr/>
        </p:nvSpPr>
        <p:spPr>
          <a:xfrm>
            <a:off x="10149840" y="2688336"/>
            <a:ext cx="1371600" cy="384048"/>
          </a:xfrm>
          <a:prstGeom prst="rect">
            <a:avLst/>
          </a:prstGeom>
          <a:noFill/>
          <a:ln/>
        </p:spPr>
        <p:txBody>
          <a:bodyPr wrap="square" lIns="0" tIns="0" rIns="0" bIns="0" rtlCol="0" anchor="ctr"/>
          <a:lstStyle/>
          <a:p>
            <a:pPr algn="r" indent="0" marL="0">
              <a:buNone/>
            </a:pPr>
            <a:r>
              <a:rPr lang="en-US" sz="1400" b="1" dirty="0">
                <a:solidFill>
                  <a:srgbClr val="0B7A4A"/>
                </a:solidFill>
                <a:latin typeface="Inter" pitchFamily="34" charset="0"/>
                <a:ea typeface="Inter" pitchFamily="34" charset="-122"/>
                <a:cs typeface="Inter" pitchFamily="34" charset="-120"/>
              </a:rPr>
              <a:t>+$931,844</a:t>
            </a:r>
            <a:endParaRPr lang="en-US" sz="1400" dirty="0"/>
          </a:p>
        </p:txBody>
      </p:sp>
      <p:sp>
        <p:nvSpPr>
          <p:cNvPr id="33" name="Text 31"/>
          <p:cNvSpPr txBox="1"/>
          <p:nvPr/>
        </p:nvSpPr>
        <p:spPr>
          <a:xfrm>
            <a:off x="6355080" y="3118104"/>
            <a:ext cx="2148840" cy="38404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LEXUS</a:t>
            </a:r>
            <a:endParaRPr lang="en-US" sz="1400" dirty="0"/>
          </a:p>
        </p:txBody>
      </p:sp>
      <p:sp>
        <p:nvSpPr>
          <p:cNvPr id="34" name="Shape 32"/>
          <p:cNvSpPr/>
          <p:nvPr/>
        </p:nvSpPr>
        <p:spPr>
          <a:xfrm>
            <a:off x="8595360" y="3218688"/>
            <a:ext cx="630324" cy="182880"/>
          </a:xfrm>
          <a:prstGeom prst="rect">
            <a:avLst/>
          </a:prstGeom>
          <a:solidFill>
            <a:srgbClr val="12A566"/>
          </a:solidFill>
          <a:ln/>
        </p:spPr>
      </p:sp>
      <p:sp>
        <p:nvSpPr>
          <p:cNvPr id="35" name="Text 33"/>
          <p:cNvSpPr txBox="1"/>
          <p:nvPr/>
        </p:nvSpPr>
        <p:spPr>
          <a:xfrm>
            <a:off x="10149840" y="3118104"/>
            <a:ext cx="1371600" cy="384048"/>
          </a:xfrm>
          <a:prstGeom prst="rect">
            <a:avLst/>
          </a:prstGeom>
          <a:noFill/>
          <a:ln/>
        </p:spPr>
        <p:txBody>
          <a:bodyPr wrap="square" lIns="0" tIns="0" rIns="0" bIns="0" rtlCol="0" anchor="ctr"/>
          <a:lstStyle/>
          <a:p>
            <a:pPr algn="r" indent="0" marL="0">
              <a:buNone/>
            </a:pPr>
            <a:r>
              <a:rPr lang="en-US" sz="1400" b="1" dirty="0">
                <a:solidFill>
                  <a:srgbClr val="0B7A4A"/>
                </a:solidFill>
                <a:latin typeface="Inter" pitchFamily="34" charset="0"/>
                <a:ea typeface="Inter" pitchFamily="34" charset="-122"/>
                <a:cs typeface="Inter" pitchFamily="34" charset="-120"/>
              </a:rPr>
              <a:t>+$763,736</a:t>
            </a:r>
            <a:endParaRPr lang="en-US" sz="1400" dirty="0"/>
          </a:p>
        </p:txBody>
      </p:sp>
      <p:sp>
        <p:nvSpPr>
          <p:cNvPr id="36" name="Text 34"/>
          <p:cNvSpPr txBox="1"/>
          <p:nvPr/>
        </p:nvSpPr>
        <p:spPr>
          <a:xfrm>
            <a:off x="6355080" y="3547872"/>
            <a:ext cx="2148840" cy="38404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LINCOLN</a:t>
            </a:r>
            <a:endParaRPr lang="en-US" sz="1400" dirty="0"/>
          </a:p>
        </p:txBody>
      </p:sp>
      <p:sp>
        <p:nvSpPr>
          <p:cNvPr id="37" name="Shape 35"/>
          <p:cNvSpPr/>
          <p:nvPr/>
        </p:nvSpPr>
        <p:spPr>
          <a:xfrm>
            <a:off x="8595360" y="3648456"/>
            <a:ext cx="592076" cy="182880"/>
          </a:xfrm>
          <a:prstGeom prst="rect">
            <a:avLst/>
          </a:prstGeom>
          <a:solidFill>
            <a:srgbClr val="12A566"/>
          </a:solidFill>
          <a:ln/>
        </p:spPr>
      </p:sp>
      <p:sp>
        <p:nvSpPr>
          <p:cNvPr id="38" name="Text 36"/>
          <p:cNvSpPr txBox="1"/>
          <p:nvPr/>
        </p:nvSpPr>
        <p:spPr>
          <a:xfrm>
            <a:off x="10149840" y="3547872"/>
            <a:ext cx="1371600" cy="384048"/>
          </a:xfrm>
          <a:prstGeom prst="rect">
            <a:avLst/>
          </a:prstGeom>
          <a:noFill/>
          <a:ln/>
        </p:spPr>
        <p:txBody>
          <a:bodyPr wrap="square" lIns="0" tIns="0" rIns="0" bIns="0" rtlCol="0" anchor="ctr"/>
          <a:lstStyle/>
          <a:p>
            <a:pPr algn="r" indent="0" marL="0">
              <a:buNone/>
            </a:pPr>
            <a:r>
              <a:rPr lang="en-US" sz="1400" b="1" dirty="0">
                <a:solidFill>
                  <a:srgbClr val="0B7A4A"/>
                </a:solidFill>
                <a:latin typeface="Inter" pitchFamily="34" charset="0"/>
                <a:ea typeface="Inter" pitchFamily="34" charset="-122"/>
                <a:cs typeface="Inter" pitchFamily="34" charset="-120"/>
              </a:rPr>
              <a:t>+$717,392</a:t>
            </a:r>
            <a:endParaRPr lang="en-US" sz="1400" dirty="0"/>
          </a:p>
        </p:txBody>
      </p:sp>
      <p:sp>
        <p:nvSpPr>
          <p:cNvPr id="39" name="Text 37"/>
          <p:cNvSpPr txBox="1"/>
          <p:nvPr/>
        </p:nvSpPr>
        <p:spPr>
          <a:xfrm>
            <a:off x="6355080" y="3977640"/>
            <a:ext cx="2148840" cy="38404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ACURA</a:t>
            </a:r>
            <a:endParaRPr lang="en-US" sz="1400" dirty="0"/>
          </a:p>
        </p:txBody>
      </p:sp>
      <p:sp>
        <p:nvSpPr>
          <p:cNvPr id="40" name="Shape 38"/>
          <p:cNvSpPr/>
          <p:nvPr/>
        </p:nvSpPr>
        <p:spPr>
          <a:xfrm>
            <a:off x="8168846" y="4078224"/>
            <a:ext cx="426514" cy="182880"/>
          </a:xfrm>
          <a:prstGeom prst="rect">
            <a:avLst/>
          </a:prstGeom>
          <a:solidFill>
            <a:srgbClr val="C2352F"/>
          </a:solidFill>
          <a:ln/>
        </p:spPr>
      </p:sp>
      <p:sp>
        <p:nvSpPr>
          <p:cNvPr id="41" name="Text 39"/>
          <p:cNvSpPr txBox="1"/>
          <p:nvPr/>
        </p:nvSpPr>
        <p:spPr>
          <a:xfrm>
            <a:off x="10149840" y="3977640"/>
            <a:ext cx="1371600" cy="384048"/>
          </a:xfrm>
          <a:prstGeom prst="rect">
            <a:avLst/>
          </a:prstGeom>
          <a:noFill/>
          <a:ln/>
        </p:spPr>
        <p:txBody>
          <a:bodyPr wrap="square" lIns="0" tIns="0" rIns="0" bIns="0" rtlCol="0" anchor="ctr"/>
          <a:lstStyle/>
          <a:p>
            <a:pPr algn="r" indent="0" marL="0">
              <a:buNone/>
            </a:pPr>
            <a:r>
              <a:rPr lang="en-US" sz="1400" b="1" dirty="0">
                <a:solidFill>
                  <a:srgbClr val="A82B26"/>
                </a:solidFill>
                <a:latin typeface="Inter" pitchFamily="34" charset="0"/>
                <a:ea typeface="Inter" pitchFamily="34" charset="-122"/>
                <a:cs typeface="Inter" pitchFamily="34" charset="-120"/>
              </a:rPr>
              <a:t>−$516,788</a:t>
            </a:r>
            <a:endParaRPr lang="en-US" sz="1400" dirty="0"/>
          </a:p>
        </p:txBody>
      </p:sp>
      <p:sp>
        <p:nvSpPr>
          <p:cNvPr id="42" name="Text 40"/>
          <p:cNvSpPr txBox="1"/>
          <p:nvPr/>
        </p:nvSpPr>
        <p:spPr>
          <a:xfrm>
            <a:off x="6355080" y="4407408"/>
            <a:ext cx="2148840" cy="38404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AUDI RENO</a:t>
            </a:r>
            <a:endParaRPr lang="en-US" sz="1400" dirty="0"/>
          </a:p>
        </p:txBody>
      </p:sp>
      <p:sp>
        <p:nvSpPr>
          <p:cNvPr id="43" name="Shape 41"/>
          <p:cNvSpPr/>
          <p:nvPr/>
        </p:nvSpPr>
        <p:spPr>
          <a:xfrm>
            <a:off x="8166323" y="4507992"/>
            <a:ext cx="429037" cy="182880"/>
          </a:xfrm>
          <a:prstGeom prst="rect">
            <a:avLst/>
          </a:prstGeom>
          <a:solidFill>
            <a:srgbClr val="C2352F"/>
          </a:solidFill>
          <a:ln/>
        </p:spPr>
      </p:sp>
      <p:sp>
        <p:nvSpPr>
          <p:cNvPr id="44" name="Text 42"/>
          <p:cNvSpPr txBox="1"/>
          <p:nvPr/>
        </p:nvSpPr>
        <p:spPr>
          <a:xfrm>
            <a:off x="10149840" y="4407408"/>
            <a:ext cx="1371600" cy="384048"/>
          </a:xfrm>
          <a:prstGeom prst="rect">
            <a:avLst/>
          </a:prstGeom>
          <a:noFill/>
          <a:ln/>
        </p:spPr>
        <p:txBody>
          <a:bodyPr wrap="square" lIns="0" tIns="0" rIns="0" bIns="0" rtlCol="0" anchor="ctr"/>
          <a:lstStyle/>
          <a:p>
            <a:pPr algn="r" indent="0" marL="0">
              <a:buNone/>
            </a:pPr>
            <a:r>
              <a:rPr lang="en-US" sz="1400" b="1" dirty="0">
                <a:solidFill>
                  <a:srgbClr val="A82B26"/>
                </a:solidFill>
                <a:latin typeface="Inter" pitchFamily="34" charset="0"/>
                <a:ea typeface="Inter" pitchFamily="34" charset="-122"/>
                <a:cs typeface="Inter" pitchFamily="34" charset="-120"/>
              </a:rPr>
              <a:t>−$519,845</a:t>
            </a:r>
            <a:endParaRPr lang="en-US" sz="1400" dirty="0"/>
          </a:p>
        </p:txBody>
      </p:sp>
      <p:sp>
        <p:nvSpPr>
          <p:cNvPr id="45" name="Text 43"/>
          <p:cNvSpPr txBox="1"/>
          <p:nvPr/>
        </p:nvSpPr>
        <p:spPr>
          <a:xfrm>
            <a:off x="6355080" y="4837176"/>
            <a:ext cx="2148840" cy="38404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VW HENDERSON</a:t>
            </a:r>
            <a:endParaRPr lang="en-US" sz="1400" dirty="0"/>
          </a:p>
        </p:txBody>
      </p:sp>
      <p:sp>
        <p:nvSpPr>
          <p:cNvPr id="46" name="Shape 44"/>
          <p:cNvSpPr/>
          <p:nvPr/>
        </p:nvSpPr>
        <p:spPr>
          <a:xfrm>
            <a:off x="7967135" y="4937760"/>
            <a:ext cx="628225" cy="182880"/>
          </a:xfrm>
          <a:prstGeom prst="rect">
            <a:avLst/>
          </a:prstGeom>
          <a:solidFill>
            <a:srgbClr val="C2352F"/>
          </a:solidFill>
          <a:ln/>
        </p:spPr>
      </p:sp>
      <p:sp>
        <p:nvSpPr>
          <p:cNvPr id="47" name="Text 45"/>
          <p:cNvSpPr txBox="1"/>
          <p:nvPr/>
        </p:nvSpPr>
        <p:spPr>
          <a:xfrm>
            <a:off x="10149840" y="4837176"/>
            <a:ext cx="1371600" cy="384048"/>
          </a:xfrm>
          <a:prstGeom prst="rect">
            <a:avLst/>
          </a:prstGeom>
          <a:noFill/>
          <a:ln/>
        </p:spPr>
        <p:txBody>
          <a:bodyPr wrap="square" lIns="0" tIns="0" rIns="0" bIns="0" rtlCol="0" anchor="ctr"/>
          <a:lstStyle/>
          <a:p>
            <a:pPr algn="r" indent="0" marL="0">
              <a:buNone/>
            </a:pPr>
            <a:r>
              <a:rPr lang="en-US" sz="1400" b="1" dirty="0">
                <a:solidFill>
                  <a:srgbClr val="A82B26"/>
                </a:solidFill>
                <a:latin typeface="Inter" pitchFamily="34" charset="0"/>
                <a:ea typeface="Inter" pitchFamily="34" charset="-122"/>
                <a:cs typeface="Inter" pitchFamily="34" charset="-120"/>
              </a:rPr>
              <a:t>−$761,192</a:t>
            </a:r>
            <a:endParaRPr lang="en-US" sz="1400" dirty="0"/>
          </a:p>
        </p:txBody>
      </p:sp>
      <p:sp>
        <p:nvSpPr>
          <p:cNvPr id="48" name="Text 46"/>
          <p:cNvSpPr txBox="1"/>
          <p:nvPr/>
        </p:nvSpPr>
        <p:spPr>
          <a:xfrm>
            <a:off x="6355080" y="5266944"/>
            <a:ext cx="2148840" cy="38404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HONDA NORTH</a:t>
            </a:r>
            <a:endParaRPr lang="en-US" sz="1400" dirty="0"/>
          </a:p>
        </p:txBody>
      </p:sp>
      <p:sp>
        <p:nvSpPr>
          <p:cNvPr id="49" name="Shape 47"/>
          <p:cNvSpPr/>
          <p:nvPr/>
        </p:nvSpPr>
        <p:spPr>
          <a:xfrm>
            <a:off x="7902183" y="5367528"/>
            <a:ext cx="693177" cy="182880"/>
          </a:xfrm>
          <a:prstGeom prst="rect">
            <a:avLst/>
          </a:prstGeom>
          <a:solidFill>
            <a:srgbClr val="C2352F"/>
          </a:solidFill>
          <a:ln/>
        </p:spPr>
      </p:sp>
      <p:sp>
        <p:nvSpPr>
          <p:cNvPr id="50" name="Text 48"/>
          <p:cNvSpPr txBox="1"/>
          <p:nvPr/>
        </p:nvSpPr>
        <p:spPr>
          <a:xfrm>
            <a:off x="10149840" y="5266944"/>
            <a:ext cx="1371600" cy="384048"/>
          </a:xfrm>
          <a:prstGeom prst="rect">
            <a:avLst/>
          </a:prstGeom>
          <a:noFill/>
          <a:ln/>
        </p:spPr>
        <p:txBody>
          <a:bodyPr wrap="square" lIns="0" tIns="0" rIns="0" bIns="0" rtlCol="0" anchor="ctr"/>
          <a:lstStyle/>
          <a:p>
            <a:pPr algn="r" indent="0" marL="0">
              <a:buNone/>
            </a:pPr>
            <a:r>
              <a:rPr lang="en-US" sz="1400" b="1" dirty="0">
                <a:solidFill>
                  <a:srgbClr val="A82B26"/>
                </a:solidFill>
                <a:latin typeface="Inter" pitchFamily="34" charset="0"/>
                <a:ea typeface="Inter" pitchFamily="34" charset="-122"/>
                <a:cs typeface="Inter" pitchFamily="34" charset="-120"/>
              </a:rPr>
              <a:t>−$839,891</a:t>
            </a:r>
            <a:endParaRPr lang="en-US" sz="1400" dirty="0"/>
          </a:p>
        </p:txBody>
      </p:sp>
      <p:sp>
        <p:nvSpPr>
          <p:cNvPr id="51" name="Shape 49"/>
          <p:cNvSpPr/>
          <p:nvPr/>
        </p:nvSpPr>
        <p:spPr>
          <a:xfrm>
            <a:off x="8589874" y="1828800"/>
            <a:ext cx="10973" cy="3813048"/>
          </a:xfrm>
          <a:prstGeom prst="rect">
            <a:avLst/>
          </a:prstGeom>
          <a:solidFill>
            <a:srgbClr val="9AA3AD"/>
          </a:solidFill>
          <a:ln/>
        </p:spPr>
      </p:sp>
      <p:sp>
        <p:nvSpPr>
          <p:cNvPr id="52" name="Shape 50"/>
          <p:cNvSpPr/>
          <p:nvPr/>
        </p:nvSpPr>
        <p:spPr>
          <a:xfrm>
            <a:off x="457200" y="5961888"/>
            <a:ext cx="11274552" cy="548640"/>
          </a:xfrm>
          <a:prstGeom prst="rect">
            <a:avLst/>
          </a:prstGeom>
          <a:solidFill>
            <a:srgbClr val="E6F6EE"/>
          </a:solidFill>
          <a:ln/>
        </p:spPr>
      </p:sp>
      <p:sp>
        <p:nvSpPr>
          <p:cNvPr id="53" name="Text 51"/>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Five stores added +$5,890,534; the bottom four gave back $2,637,716.</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Total Gross Profit - Service</a:t>
            </a:r>
            <a:endParaRPr lang="en-US" sz="2800" dirty="0"/>
          </a:p>
        </p:txBody>
      </p:sp>
      <p:sp>
        <p:nvSpPr>
          <p:cNvPr id="5" name="Shape 3"/>
          <p:cNvSpPr/>
          <p:nvPr/>
        </p:nvSpPr>
        <p:spPr>
          <a:xfrm>
            <a:off x="457200" y="1207008"/>
            <a:ext cx="7589520" cy="4617720"/>
          </a:xfrm>
          <a:prstGeom prst="rect">
            <a:avLst/>
          </a:prstGeom>
          <a:solidFill>
            <a:srgbClr val="FFFFFF"/>
          </a:solidFill>
          <a:ln/>
        </p:spPr>
      </p:sp>
      <p:sp>
        <p:nvSpPr>
          <p:cNvPr id="6" name="Text 4"/>
          <p:cNvSpPr txBox="1"/>
          <p:nvPr/>
        </p:nvSpPr>
        <p:spPr>
          <a:xfrm>
            <a:off x="685800" y="1344168"/>
            <a:ext cx="7132320"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Group total, trailing 12 months ($M)</a:t>
            </a:r>
            <a:endParaRPr lang="en-US" sz="1500" dirty="0"/>
          </a:p>
        </p:txBody>
      </p:sp>
      <p:sp>
        <p:nvSpPr>
          <p:cNvPr id="7" name="Shape 5"/>
          <p:cNvSpPr/>
          <p:nvPr/>
        </p:nvSpPr>
        <p:spPr>
          <a:xfrm>
            <a:off x="685800" y="1691640"/>
            <a:ext cx="7132320" cy="10973"/>
          </a:xfrm>
          <a:prstGeom prst="rect">
            <a:avLst/>
          </a:prstGeom>
          <a:solidFill>
            <a:srgbClr val="1A1A1A"/>
          </a:solidFill>
          <a:ln/>
        </p:spPr>
      </p:sp>
      <p:graphicFrame>
        <p:nvGraphicFramePr>
          <p:cNvPr id="8" name="Chart 0" descr=""/>
          <p:cNvGraphicFramePr/>
          <p:nvPr/>
        </p:nvGraphicFramePr>
        <p:xfrm>
          <a:off x="621792" y="1810512"/>
          <a:ext cx="6858000" cy="3858768"/>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8229600" y="1207008"/>
            <a:ext cx="3502152" cy="4617720"/>
          </a:xfrm>
          <a:prstGeom prst="rect">
            <a:avLst/>
          </a:prstGeom>
          <a:solidFill>
            <a:srgbClr val="FFFFFF"/>
          </a:solidFill>
          <a:ln/>
        </p:spPr>
      </p:sp>
      <p:sp>
        <p:nvSpPr>
          <p:cNvPr id="10" name="Text 7"/>
          <p:cNvSpPr txBox="1"/>
          <p:nvPr/>
        </p:nvSpPr>
        <p:spPr>
          <a:xfrm>
            <a:off x="8458200" y="1344168"/>
            <a:ext cx="30449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What it says</a:t>
            </a:r>
            <a:endParaRPr lang="en-US" sz="1500" dirty="0"/>
          </a:p>
        </p:txBody>
      </p:sp>
      <p:sp>
        <p:nvSpPr>
          <p:cNvPr id="11" name="Shape 8"/>
          <p:cNvSpPr/>
          <p:nvPr/>
        </p:nvSpPr>
        <p:spPr>
          <a:xfrm>
            <a:off x="8458200" y="1691640"/>
            <a:ext cx="3044952" cy="10973"/>
          </a:xfrm>
          <a:prstGeom prst="rect">
            <a:avLst/>
          </a:prstGeom>
          <a:solidFill>
            <a:srgbClr val="1A1A1A"/>
          </a:solidFill>
          <a:ln/>
        </p:spPr>
      </p:sp>
      <p:sp>
        <p:nvSpPr>
          <p:cNvPr id="12" name="Shape 9"/>
          <p:cNvSpPr/>
          <p:nvPr/>
        </p:nvSpPr>
        <p:spPr>
          <a:xfrm>
            <a:off x="8458200" y="1938528"/>
            <a:ext cx="100584" cy="100584"/>
          </a:xfrm>
          <a:prstGeom prst="ellipse">
            <a:avLst/>
          </a:prstGeom>
          <a:solidFill>
            <a:srgbClr val="2587C5"/>
          </a:solidFill>
          <a:ln/>
        </p:spPr>
      </p:sp>
      <p:sp>
        <p:nvSpPr>
          <p:cNvPr id="13" name="Text 10"/>
          <p:cNvSpPr txBox="1"/>
          <p:nvPr/>
        </p:nvSpPr>
        <p:spPr>
          <a:xfrm>
            <a:off x="8705088" y="1810512"/>
            <a:ext cx="2834640" cy="1051560"/>
          </a:xfrm>
          <a:prstGeom prst="rect">
            <a:avLst/>
          </a:prstGeom>
          <a:noFill/>
          <a:ln/>
        </p:spPr>
        <p:txBody>
          <a:bodyPr wrap="square" lIns="0" tIns="0" rIns="0" bIns="0" rtlCol="0" anchor="t"/>
          <a:lstStyle/>
          <a:p>
            <a:pPr indent="0" marL="0">
              <a:buNone/>
            </a:pPr>
            <a:r>
              <a:rPr lang="en-US" sz="1500" b="1" dirty="0">
                <a:solidFill>
                  <a:srgbClr val="2587C5"/>
                </a:solidFill>
                <a:latin typeface="Inter" pitchFamily="34" charset="0"/>
                <a:ea typeface="Inter" pitchFamily="34" charset="-122"/>
                <a:cs typeface="Inter" pitchFamily="34" charset="-120"/>
              </a:rPr>
              <a:t>Peak Jul '26 at $15.06M. Low Nov '25 at $11.84M.</a:t>
            </a:r>
            <a:endParaRPr lang="en-US" sz="1500" dirty="0"/>
          </a:p>
        </p:txBody>
      </p:sp>
      <p:sp>
        <p:nvSpPr>
          <p:cNvPr id="14" name="Shape 11"/>
          <p:cNvSpPr/>
          <p:nvPr/>
        </p:nvSpPr>
        <p:spPr>
          <a:xfrm>
            <a:off x="8458200" y="3072384"/>
            <a:ext cx="100584" cy="100584"/>
          </a:xfrm>
          <a:prstGeom prst="ellipse">
            <a:avLst/>
          </a:prstGeom>
          <a:solidFill>
            <a:srgbClr val="1A1A1A"/>
          </a:solidFill>
          <a:ln/>
        </p:spPr>
      </p:sp>
      <p:sp>
        <p:nvSpPr>
          <p:cNvPr id="15" name="Text 12"/>
          <p:cNvSpPr txBox="1"/>
          <p:nvPr/>
        </p:nvSpPr>
        <p:spPr>
          <a:xfrm>
            <a:off x="8705088" y="2944368"/>
            <a:ext cx="2834640" cy="1051560"/>
          </a:xfrm>
          <a:prstGeom prst="rect">
            <a:avLst/>
          </a:prstGeom>
          <a:noFill/>
          <a:ln/>
        </p:spPr>
        <p:txBody>
          <a:bodyPr wrap="square" lIns="0" tIns="0" rIns="0" bIns="0" rtlCol="0" anchor="t"/>
          <a:lstStyle/>
          <a:p>
            <a:pPr indent="0" marL="0">
              <a:buNone/>
            </a:pPr>
            <a:r>
              <a:rPr lang="en-US" sz="1500" dirty="0">
                <a:solidFill>
                  <a:srgbClr val="1A1A1A"/>
                </a:solidFill>
                <a:latin typeface="Inter" pitchFamily="34" charset="0"/>
                <a:ea typeface="Inter" pitchFamily="34" charset="-122"/>
                <a:cs typeface="Inter" pitchFamily="34" charset="-120"/>
              </a:rPr>
              <a:t>Jun–Sep year over year: +6.8%, +9.3%, +6.8%, +11.7%.</a:t>
            </a:r>
            <a:endParaRPr lang="en-US" sz="1500" dirty="0"/>
          </a:p>
        </p:txBody>
      </p:sp>
      <p:sp>
        <p:nvSpPr>
          <p:cNvPr id="16" name="Shape 13"/>
          <p:cNvSpPr/>
          <p:nvPr/>
        </p:nvSpPr>
        <p:spPr>
          <a:xfrm>
            <a:off x="8458200" y="4206240"/>
            <a:ext cx="100584" cy="100584"/>
          </a:xfrm>
          <a:prstGeom prst="ellipse">
            <a:avLst/>
          </a:prstGeom>
          <a:solidFill>
            <a:srgbClr val="1A1A1A"/>
          </a:solidFill>
          <a:ln/>
        </p:spPr>
      </p:sp>
      <p:sp>
        <p:nvSpPr>
          <p:cNvPr id="17" name="Text 14"/>
          <p:cNvSpPr txBox="1"/>
          <p:nvPr/>
        </p:nvSpPr>
        <p:spPr>
          <a:xfrm>
            <a:off x="8705088" y="4078224"/>
            <a:ext cx="2834640" cy="1051560"/>
          </a:xfrm>
          <a:prstGeom prst="rect">
            <a:avLst/>
          </a:prstGeom>
          <a:noFill/>
          <a:ln/>
        </p:spPr>
        <p:txBody>
          <a:bodyPr wrap="square" lIns="0" tIns="0" rIns="0" bIns="0" rtlCol="0" anchor="t"/>
          <a:lstStyle/>
          <a:p>
            <a:pPr indent="0" marL="0">
              <a:buNone/>
            </a:pPr>
            <a:r>
              <a:rPr lang="en-US" sz="1500" dirty="0">
                <a:solidFill>
                  <a:srgbClr val="1A1A1A"/>
                </a:solidFill>
                <a:latin typeface="Inter" pitchFamily="34" charset="0"/>
                <a:ea typeface="Inter" pitchFamily="34" charset="-122"/>
                <a:cs typeface="Inter" pitchFamily="34" charset="-120"/>
              </a:rPr>
              <a:t>9 of 9 months in 2026 beat the same month of 2025.</a:t>
            </a:r>
            <a:endParaRPr lang="en-US" sz="1500" dirty="0"/>
          </a:p>
        </p:txBody>
      </p:sp>
      <p:sp>
        <p:nvSpPr>
          <p:cNvPr id="18" name="Shape 15"/>
          <p:cNvSpPr/>
          <p:nvPr/>
        </p:nvSpPr>
        <p:spPr>
          <a:xfrm>
            <a:off x="457200" y="5961888"/>
            <a:ext cx="11274552" cy="548640"/>
          </a:xfrm>
          <a:prstGeom prst="rect">
            <a:avLst/>
          </a:prstGeom>
          <a:solidFill>
            <a:srgbClr val="E6F6EE"/>
          </a:solidFill>
          <a:ln/>
        </p:spPr>
      </p:sp>
      <p:sp>
        <p:nvSpPr>
          <p:cNvPr id="19" name="Text 16"/>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Service gross ran $13.78M a month over the last twelve, up $6,297,386 year to date.</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Total Gross Profit - Service</a:t>
            </a:r>
            <a:endParaRPr lang="en-US" sz="2800" dirty="0"/>
          </a:p>
        </p:txBody>
      </p:sp>
      <p:sp>
        <p:nvSpPr>
          <p:cNvPr id="5" name="Shape 3"/>
          <p:cNvSpPr/>
          <p:nvPr/>
        </p:nvSpPr>
        <p:spPr>
          <a:xfrm>
            <a:off x="457200" y="1207008"/>
            <a:ext cx="11274552" cy="1517904"/>
          </a:xfrm>
          <a:prstGeom prst="rect">
            <a:avLst/>
          </a:prstGeom>
          <a:solidFill>
            <a:srgbClr val="FFFFFF"/>
          </a:solidFill>
          <a:ln/>
        </p:spPr>
      </p:sp>
      <p:sp>
        <p:nvSpPr>
          <p:cNvPr id="6" name="Text 4"/>
          <p:cNvSpPr txBox="1"/>
          <p:nvPr/>
        </p:nvSpPr>
        <p:spPr>
          <a:xfrm>
            <a:off x="685800" y="1316736"/>
            <a:ext cx="10789920" cy="274320"/>
          </a:xfrm>
          <a:prstGeom prst="rect">
            <a:avLst/>
          </a:prstGeom>
          <a:noFill/>
          <a:ln/>
        </p:spPr>
        <p:txBody>
          <a:bodyPr wrap="square" lIns="0" tIns="0" rIns="0" bIns="0" rtlCol="0" anchor="ctr"/>
          <a:lstStyle/>
          <a:p>
            <a:pPr indent="0" marL="0">
              <a:buNone/>
            </a:pPr>
            <a:r>
              <a:rPr lang="en-US" sz="1400" spc="100" kern="0" dirty="0">
                <a:solidFill>
                  <a:srgbClr val="595959"/>
                </a:solidFill>
                <a:latin typeface="Inter" pitchFamily="34" charset="0"/>
                <a:ea typeface="Inter" pitchFamily="34" charset="-122"/>
                <a:cs typeface="Inter" pitchFamily="34" charset="-120"/>
              </a:rPr>
              <a:t>GROUP · JANUARY–SEPTEMBER · SAME-STORE, 33 STORES</a:t>
            </a:r>
            <a:endParaRPr lang="en-US" sz="1400" dirty="0"/>
          </a:p>
        </p:txBody>
      </p:sp>
      <p:sp>
        <p:nvSpPr>
          <p:cNvPr id="7" name="Text 5"/>
          <p:cNvSpPr txBox="1"/>
          <p:nvPr/>
        </p:nvSpPr>
        <p:spPr>
          <a:xfrm>
            <a:off x="68580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a:t>
            </a:r>
            <a:endParaRPr lang="en-US" sz="1400" dirty="0"/>
          </a:p>
        </p:txBody>
      </p:sp>
      <p:sp>
        <p:nvSpPr>
          <p:cNvPr id="8" name="Text 6"/>
          <p:cNvSpPr txBox="1"/>
          <p:nvPr/>
        </p:nvSpPr>
        <p:spPr>
          <a:xfrm>
            <a:off x="68580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$120.57M</a:t>
            </a:r>
            <a:endParaRPr lang="en-US" sz="3000" dirty="0"/>
          </a:p>
        </p:txBody>
      </p:sp>
      <p:sp>
        <p:nvSpPr>
          <p:cNvPr id="9" name="Text 7"/>
          <p:cNvSpPr txBox="1"/>
          <p:nvPr/>
        </p:nvSpPr>
        <p:spPr>
          <a:xfrm>
            <a:off x="347472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a:t>
            </a:r>
            <a:endParaRPr lang="en-US" sz="1400" dirty="0"/>
          </a:p>
        </p:txBody>
      </p:sp>
      <p:sp>
        <p:nvSpPr>
          <p:cNvPr id="10" name="Text 8"/>
          <p:cNvSpPr txBox="1"/>
          <p:nvPr/>
        </p:nvSpPr>
        <p:spPr>
          <a:xfrm>
            <a:off x="347472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$126.87M</a:t>
            </a:r>
            <a:endParaRPr lang="en-US" sz="3000" dirty="0"/>
          </a:p>
        </p:txBody>
      </p:sp>
      <p:sp>
        <p:nvSpPr>
          <p:cNvPr id="11" name="Text 9"/>
          <p:cNvSpPr txBox="1"/>
          <p:nvPr/>
        </p:nvSpPr>
        <p:spPr>
          <a:xfrm>
            <a:off x="626364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2" name="Text 10"/>
          <p:cNvSpPr txBox="1"/>
          <p:nvPr/>
        </p:nvSpPr>
        <p:spPr>
          <a:xfrm>
            <a:off x="626364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+$6,297,386</a:t>
            </a:r>
            <a:endParaRPr lang="en-US" sz="3000" dirty="0"/>
          </a:p>
        </p:txBody>
      </p:sp>
      <p:sp>
        <p:nvSpPr>
          <p:cNvPr id="13" name="Text 11"/>
          <p:cNvSpPr txBox="1"/>
          <p:nvPr/>
        </p:nvSpPr>
        <p:spPr>
          <a:xfrm>
            <a:off x="905256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4" name="Text 12"/>
          <p:cNvSpPr txBox="1"/>
          <p:nvPr/>
        </p:nvSpPr>
        <p:spPr>
          <a:xfrm>
            <a:off x="905256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+5.2%</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2816352"/>
          <a:ext cx="11274552" cy="914400"/>
        </p:xfrm>
        <a:graphic>
          <a:graphicData uri="http://schemas.openxmlformats.org/drawingml/2006/table">
            <a:tbl>
              <a:tblPr/>
              <a:tblGrid>
                <a:gridCol w="3118104"/>
                <a:gridCol w="2039112"/>
                <a:gridCol w="2039112"/>
                <a:gridCol w="2039112"/>
                <a:gridCol w="2039112"/>
              </a:tblGrid>
              <a:tr h="274320">
                <a:tc>
                  <a:txBody>
                    <a:bodyPr/>
                    <a:lstStyle/>
                    <a:p>
                      <a:pPr algn="l" indent="0" marL="0">
                        <a:buNone/>
                      </a:pPr>
                      <a:r>
                        <a:rPr lang="en-US" sz="1400" b="1" dirty="0">
                          <a:solidFill>
                            <a:srgbClr val="FFFFFF"/>
                          </a:solidFill>
                          <a:latin typeface="Inter" pitchFamily="34" charset="0"/>
                          <a:ea typeface="Inter" pitchFamily="34" charset="-122"/>
                          <a:cs typeface="Inter" pitchFamily="34" charset="-120"/>
                        </a:rPr>
                        <a:t>MONTH</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VARIANCE</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 %</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JAN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$13.41M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$13.47M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+$62,504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FEB</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$12.64M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$12.79M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+$156,479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$13.59M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$14.35M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+$754,425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+5.6%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APR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$14.01M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$14.65M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+$642,759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MAY</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$13.61M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$13.71M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+$98,858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$13.53M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$14.45M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+$924,002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+6.8%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JUL</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$13.78M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$15.06M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+$1,275,282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+9.3%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AUG</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$13.51M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$14.43M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+$925,229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+6.8%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SEP</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$12.50M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$13.96M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+$1,457,847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+11.7%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16" name="Shape 13"/>
          <p:cNvSpPr/>
          <p:nvPr/>
        </p:nvSpPr>
        <p:spPr>
          <a:xfrm>
            <a:off x="457200" y="5961888"/>
            <a:ext cx="11274552" cy="548640"/>
          </a:xfrm>
          <a:prstGeom prst="rect">
            <a:avLst/>
          </a:prstGeom>
          <a:solidFill>
            <a:srgbClr val="E6F6EE"/>
          </a:solidFill>
          <a:ln/>
        </p:spPr>
      </p:sp>
      <p:sp>
        <p:nvSpPr>
          <p:cNvPr id="17" name="Text 14"/>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+$6,297,386 (5.2%) year to date; 9 of nine months ahead of 2025, best September at +$1,457,847.</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Total Gross Profit - Service</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01168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GROUP</a:t>
            </a:r>
            <a:endParaRPr lang="en-US" sz="1500" dirty="0"/>
          </a:p>
        </p:txBody>
      </p:sp>
      <p:sp>
        <p:nvSpPr>
          <p:cNvPr id="9" name="Text 7"/>
          <p:cNvSpPr txBox="1"/>
          <p:nvPr/>
        </p:nvSpPr>
        <p:spPr>
          <a:xfrm>
            <a:off x="2834640" y="1335024"/>
            <a:ext cx="420624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SAME-STORE, 33 STORES</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+$6,297,386</a:t>
            </a:r>
            <a:endParaRPr lang="en-US" sz="2000" dirty="0"/>
          </a:p>
        </p:txBody>
      </p:sp>
      <p:sp>
        <p:nvSpPr>
          <p:cNvPr id="11" name="Text 9"/>
          <p:cNvSpPr txBox="1"/>
          <p:nvPr/>
        </p:nvSpPr>
        <p:spPr>
          <a:xfrm>
            <a:off x="658368"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12" name="Shape 10"/>
          <p:cNvSpPr/>
          <p:nvPr/>
        </p:nvSpPr>
        <p:spPr>
          <a:xfrm>
            <a:off x="3813048" y="1909246"/>
            <a:ext cx="822960" cy="105898"/>
          </a:xfrm>
          <a:prstGeom prst="rect">
            <a:avLst/>
          </a:prstGeom>
          <a:solidFill>
            <a:srgbClr val="12A566"/>
          </a:solidFill>
          <a:ln/>
        </p:spPr>
      </p:sp>
      <p:sp>
        <p:nvSpPr>
          <p:cNvPr id="13" name="Text 11"/>
          <p:cNvSpPr txBox="1"/>
          <p:nvPr/>
        </p:nvSpPr>
        <p:spPr>
          <a:xfrm>
            <a:off x="4709160"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+$1,499,243</a:t>
            </a:r>
            <a:endParaRPr lang="en-US" sz="1300" dirty="0"/>
          </a:p>
        </p:txBody>
      </p:sp>
      <p:sp>
        <p:nvSpPr>
          <p:cNvPr id="14" name="Text 12"/>
          <p:cNvSpPr txBox="1"/>
          <p:nvPr/>
        </p:nvSpPr>
        <p:spPr>
          <a:xfrm>
            <a:off x="658368"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15" name="Shape 13"/>
          <p:cNvSpPr/>
          <p:nvPr/>
        </p:nvSpPr>
        <p:spPr>
          <a:xfrm>
            <a:off x="3813048" y="2139459"/>
            <a:ext cx="777878" cy="105898"/>
          </a:xfrm>
          <a:prstGeom prst="rect">
            <a:avLst/>
          </a:prstGeom>
          <a:solidFill>
            <a:srgbClr val="12A566"/>
          </a:solidFill>
          <a:ln/>
        </p:spPr>
      </p:sp>
      <p:sp>
        <p:nvSpPr>
          <p:cNvPr id="16" name="Text 14"/>
          <p:cNvSpPr txBox="1"/>
          <p:nvPr/>
        </p:nvSpPr>
        <p:spPr>
          <a:xfrm>
            <a:off x="4709160"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+$1,417,114</a:t>
            </a:r>
            <a:endParaRPr lang="en-US" sz="1300" dirty="0"/>
          </a:p>
        </p:txBody>
      </p:sp>
      <p:sp>
        <p:nvSpPr>
          <p:cNvPr id="17" name="Text 15"/>
          <p:cNvSpPr txBox="1"/>
          <p:nvPr/>
        </p:nvSpPr>
        <p:spPr>
          <a:xfrm>
            <a:off x="658368"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18" name="Shape 16"/>
          <p:cNvSpPr/>
          <p:nvPr/>
        </p:nvSpPr>
        <p:spPr>
          <a:xfrm>
            <a:off x="3813048" y="2369673"/>
            <a:ext cx="350936" cy="105898"/>
          </a:xfrm>
          <a:prstGeom prst="rect">
            <a:avLst/>
          </a:prstGeom>
          <a:solidFill>
            <a:srgbClr val="12A566"/>
          </a:solidFill>
          <a:ln/>
        </p:spPr>
      </p:sp>
      <p:sp>
        <p:nvSpPr>
          <p:cNvPr id="19" name="Text 17"/>
          <p:cNvSpPr txBox="1"/>
          <p:nvPr/>
        </p:nvSpPr>
        <p:spPr>
          <a:xfrm>
            <a:off x="4709160"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+$639,324</a:t>
            </a:r>
            <a:endParaRPr lang="en-US" sz="1300" dirty="0"/>
          </a:p>
        </p:txBody>
      </p:sp>
      <p:sp>
        <p:nvSpPr>
          <p:cNvPr id="20" name="Text 18"/>
          <p:cNvSpPr txBox="1"/>
          <p:nvPr/>
        </p:nvSpPr>
        <p:spPr>
          <a:xfrm>
            <a:off x="658368"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21" name="Shape 19"/>
          <p:cNvSpPr/>
          <p:nvPr/>
        </p:nvSpPr>
        <p:spPr>
          <a:xfrm>
            <a:off x="3813048" y="2599887"/>
            <a:ext cx="339840" cy="105898"/>
          </a:xfrm>
          <a:prstGeom prst="rect">
            <a:avLst/>
          </a:prstGeom>
          <a:solidFill>
            <a:srgbClr val="12A566"/>
          </a:solidFill>
          <a:ln/>
        </p:spPr>
      </p:sp>
      <p:sp>
        <p:nvSpPr>
          <p:cNvPr id="22" name="Text 20"/>
          <p:cNvSpPr txBox="1"/>
          <p:nvPr/>
        </p:nvSpPr>
        <p:spPr>
          <a:xfrm>
            <a:off x="4709160"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+$619,111</a:t>
            </a:r>
            <a:endParaRPr lang="en-US" sz="1300" dirty="0"/>
          </a:p>
        </p:txBody>
      </p:sp>
      <p:sp>
        <p:nvSpPr>
          <p:cNvPr id="23" name="Text 21"/>
          <p:cNvSpPr txBox="1"/>
          <p:nvPr/>
        </p:nvSpPr>
        <p:spPr>
          <a:xfrm>
            <a:off x="658368"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24" name="Shape 22"/>
          <p:cNvSpPr/>
          <p:nvPr/>
        </p:nvSpPr>
        <p:spPr>
          <a:xfrm>
            <a:off x="3813048" y="2830100"/>
            <a:ext cx="335344" cy="105898"/>
          </a:xfrm>
          <a:prstGeom prst="rect">
            <a:avLst/>
          </a:prstGeom>
          <a:solidFill>
            <a:srgbClr val="12A566"/>
          </a:solidFill>
          <a:ln/>
        </p:spPr>
      </p:sp>
      <p:sp>
        <p:nvSpPr>
          <p:cNvPr id="25" name="Text 23"/>
          <p:cNvSpPr txBox="1"/>
          <p:nvPr/>
        </p:nvSpPr>
        <p:spPr>
          <a:xfrm>
            <a:off x="4709160"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+$610,920</a:t>
            </a:r>
            <a:endParaRPr lang="en-US" sz="1300" dirty="0"/>
          </a:p>
        </p:txBody>
      </p:sp>
      <p:sp>
        <p:nvSpPr>
          <p:cNvPr id="26" name="Text 24"/>
          <p:cNvSpPr txBox="1"/>
          <p:nvPr/>
        </p:nvSpPr>
        <p:spPr>
          <a:xfrm>
            <a:off x="658368"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27" name="Shape 25"/>
          <p:cNvSpPr/>
          <p:nvPr/>
        </p:nvSpPr>
        <p:spPr>
          <a:xfrm>
            <a:off x="3813048" y="3060314"/>
            <a:ext cx="330317" cy="105898"/>
          </a:xfrm>
          <a:prstGeom prst="rect">
            <a:avLst/>
          </a:prstGeom>
          <a:solidFill>
            <a:srgbClr val="12A566"/>
          </a:solidFill>
          <a:ln/>
        </p:spPr>
      </p:sp>
      <p:sp>
        <p:nvSpPr>
          <p:cNvPr id="28" name="Text 26"/>
          <p:cNvSpPr txBox="1"/>
          <p:nvPr/>
        </p:nvSpPr>
        <p:spPr>
          <a:xfrm>
            <a:off x="4709160"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+$601,761</a:t>
            </a:r>
            <a:endParaRPr lang="en-US" sz="1300" dirty="0"/>
          </a:p>
        </p:txBody>
      </p:sp>
      <p:sp>
        <p:nvSpPr>
          <p:cNvPr id="29" name="Text 27"/>
          <p:cNvSpPr txBox="1"/>
          <p:nvPr/>
        </p:nvSpPr>
        <p:spPr>
          <a:xfrm>
            <a:off x="658368"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30" name="Shape 28"/>
          <p:cNvSpPr/>
          <p:nvPr/>
        </p:nvSpPr>
        <p:spPr>
          <a:xfrm>
            <a:off x="3813048" y="3290528"/>
            <a:ext cx="260649" cy="105898"/>
          </a:xfrm>
          <a:prstGeom prst="rect">
            <a:avLst/>
          </a:prstGeom>
          <a:solidFill>
            <a:srgbClr val="12A566"/>
          </a:solidFill>
          <a:ln/>
        </p:spPr>
      </p:sp>
      <p:sp>
        <p:nvSpPr>
          <p:cNvPr id="31" name="Text 29"/>
          <p:cNvSpPr txBox="1"/>
          <p:nvPr/>
        </p:nvSpPr>
        <p:spPr>
          <a:xfrm>
            <a:off x="4709160" y="3228370"/>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+$474,842</a:t>
            </a:r>
            <a:endParaRPr lang="en-US" sz="1300" dirty="0"/>
          </a:p>
        </p:txBody>
      </p:sp>
      <p:sp>
        <p:nvSpPr>
          <p:cNvPr id="32" name="Text 30"/>
          <p:cNvSpPr txBox="1"/>
          <p:nvPr/>
        </p:nvSpPr>
        <p:spPr>
          <a:xfrm>
            <a:off x="658368"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33" name="Shape 31"/>
          <p:cNvSpPr/>
          <p:nvPr/>
        </p:nvSpPr>
        <p:spPr>
          <a:xfrm>
            <a:off x="3813048" y="3520741"/>
            <a:ext cx="213882" cy="105898"/>
          </a:xfrm>
          <a:prstGeom prst="rect">
            <a:avLst/>
          </a:prstGeom>
          <a:solidFill>
            <a:srgbClr val="12A566"/>
          </a:solidFill>
          <a:ln/>
        </p:spPr>
      </p:sp>
      <p:sp>
        <p:nvSpPr>
          <p:cNvPr id="34" name="Text 32"/>
          <p:cNvSpPr txBox="1"/>
          <p:nvPr/>
        </p:nvSpPr>
        <p:spPr>
          <a:xfrm>
            <a:off x="4709160" y="345858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+$389,643</a:t>
            </a:r>
            <a:endParaRPr lang="en-US" sz="1300" dirty="0"/>
          </a:p>
        </p:txBody>
      </p:sp>
      <p:sp>
        <p:nvSpPr>
          <p:cNvPr id="35" name="Text 33"/>
          <p:cNvSpPr txBox="1"/>
          <p:nvPr/>
        </p:nvSpPr>
        <p:spPr>
          <a:xfrm>
            <a:off x="658368"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36" name="Shape 34"/>
          <p:cNvSpPr/>
          <p:nvPr/>
        </p:nvSpPr>
        <p:spPr>
          <a:xfrm>
            <a:off x="3813048" y="3750955"/>
            <a:ext cx="211020" cy="105898"/>
          </a:xfrm>
          <a:prstGeom prst="rect">
            <a:avLst/>
          </a:prstGeom>
          <a:solidFill>
            <a:srgbClr val="12A566"/>
          </a:solidFill>
          <a:ln/>
        </p:spPr>
      </p:sp>
      <p:sp>
        <p:nvSpPr>
          <p:cNvPr id="37" name="Text 35"/>
          <p:cNvSpPr txBox="1"/>
          <p:nvPr/>
        </p:nvSpPr>
        <p:spPr>
          <a:xfrm>
            <a:off x="4709160" y="3688797"/>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+$384,429</a:t>
            </a:r>
            <a:endParaRPr lang="en-US" sz="1300" dirty="0"/>
          </a:p>
        </p:txBody>
      </p:sp>
      <p:sp>
        <p:nvSpPr>
          <p:cNvPr id="38" name="Text 36"/>
          <p:cNvSpPr txBox="1"/>
          <p:nvPr/>
        </p:nvSpPr>
        <p:spPr>
          <a:xfrm>
            <a:off x="658368"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39" name="Shape 37"/>
          <p:cNvSpPr/>
          <p:nvPr/>
        </p:nvSpPr>
        <p:spPr>
          <a:xfrm>
            <a:off x="3813048" y="3981169"/>
            <a:ext cx="189316" cy="105898"/>
          </a:xfrm>
          <a:prstGeom prst="rect">
            <a:avLst/>
          </a:prstGeom>
          <a:solidFill>
            <a:srgbClr val="12A566"/>
          </a:solidFill>
          <a:ln/>
        </p:spPr>
      </p:sp>
      <p:sp>
        <p:nvSpPr>
          <p:cNvPr id="40" name="Text 38"/>
          <p:cNvSpPr txBox="1"/>
          <p:nvPr/>
        </p:nvSpPr>
        <p:spPr>
          <a:xfrm>
            <a:off x="4709160" y="3919011"/>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+$344,890</a:t>
            </a:r>
            <a:endParaRPr lang="en-US" sz="1300" dirty="0"/>
          </a:p>
        </p:txBody>
      </p:sp>
      <p:sp>
        <p:nvSpPr>
          <p:cNvPr id="41" name="Text 39"/>
          <p:cNvSpPr txBox="1"/>
          <p:nvPr/>
        </p:nvSpPr>
        <p:spPr>
          <a:xfrm>
            <a:off x="658368"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42" name="Shape 40"/>
          <p:cNvSpPr/>
          <p:nvPr/>
        </p:nvSpPr>
        <p:spPr>
          <a:xfrm>
            <a:off x="3813048" y="4211382"/>
            <a:ext cx="172889" cy="105898"/>
          </a:xfrm>
          <a:prstGeom prst="rect">
            <a:avLst/>
          </a:prstGeom>
          <a:solidFill>
            <a:srgbClr val="12A566"/>
          </a:solidFill>
          <a:ln/>
        </p:spPr>
      </p:sp>
      <p:sp>
        <p:nvSpPr>
          <p:cNvPr id="43" name="Text 41"/>
          <p:cNvSpPr txBox="1"/>
          <p:nvPr/>
        </p:nvSpPr>
        <p:spPr>
          <a:xfrm>
            <a:off x="4709160" y="414922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+$314,963</a:t>
            </a:r>
            <a:endParaRPr lang="en-US" sz="1300" dirty="0"/>
          </a:p>
        </p:txBody>
      </p:sp>
      <p:sp>
        <p:nvSpPr>
          <p:cNvPr id="44" name="Text 42"/>
          <p:cNvSpPr txBox="1"/>
          <p:nvPr/>
        </p:nvSpPr>
        <p:spPr>
          <a:xfrm>
            <a:off x="658368"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45" name="Shape 43"/>
          <p:cNvSpPr/>
          <p:nvPr/>
        </p:nvSpPr>
        <p:spPr>
          <a:xfrm>
            <a:off x="3813048" y="4441596"/>
            <a:ext cx="160379" cy="105898"/>
          </a:xfrm>
          <a:prstGeom prst="rect">
            <a:avLst/>
          </a:prstGeom>
          <a:solidFill>
            <a:srgbClr val="12A566"/>
          </a:solidFill>
          <a:ln/>
        </p:spPr>
      </p:sp>
      <p:sp>
        <p:nvSpPr>
          <p:cNvPr id="46" name="Text 44"/>
          <p:cNvSpPr txBox="1"/>
          <p:nvPr/>
        </p:nvSpPr>
        <p:spPr>
          <a:xfrm>
            <a:off x="4709160" y="437943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+$292,173</a:t>
            </a:r>
            <a:endParaRPr lang="en-US" sz="1300" dirty="0"/>
          </a:p>
        </p:txBody>
      </p:sp>
      <p:sp>
        <p:nvSpPr>
          <p:cNvPr id="47" name="Text 45"/>
          <p:cNvSpPr txBox="1"/>
          <p:nvPr/>
        </p:nvSpPr>
        <p:spPr>
          <a:xfrm>
            <a:off x="658368"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48" name="Shape 46"/>
          <p:cNvSpPr/>
          <p:nvPr/>
        </p:nvSpPr>
        <p:spPr>
          <a:xfrm>
            <a:off x="3813048" y="4671809"/>
            <a:ext cx="128390" cy="105898"/>
          </a:xfrm>
          <a:prstGeom prst="rect">
            <a:avLst/>
          </a:prstGeom>
          <a:solidFill>
            <a:srgbClr val="12A566"/>
          </a:solidFill>
          <a:ln/>
        </p:spPr>
      </p:sp>
      <p:sp>
        <p:nvSpPr>
          <p:cNvPr id="49" name="Text 47"/>
          <p:cNvSpPr txBox="1"/>
          <p:nvPr/>
        </p:nvSpPr>
        <p:spPr>
          <a:xfrm>
            <a:off x="4709160" y="460965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+$233,897</a:t>
            </a:r>
            <a:endParaRPr lang="en-US" sz="1300" dirty="0"/>
          </a:p>
        </p:txBody>
      </p:sp>
      <p:sp>
        <p:nvSpPr>
          <p:cNvPr id="50" name="Text 48"/>
          <p:cNvSpPr txBox="1"/>
          <p:nvPr/>
        </p:nvSpPr>
        <p:spPr>
          <a:xfrm>
            <a:off x="658368"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51" name="Shape 49"/>
          <p:cNvSpPr/>
          <p:nvPr/>
        </p:nvSpPr>
        <p:spPr>
          <a:xfrm>
            <a:off x="3813048" y="4902023"/>
            <a:ext cx="118951" cy="105898"/>
          </a:xfrm>
          <a:prstGeom prst="rect">
            <a:avLst/>
          </a:prstGeom>
          <a:solidFill>
            <a:srgbClr val="12A566"/>
          </a:solidFill>
          <a:ln/>
        </p:spPr>
      </p:sp>
      <p:sp>
        <p:nvSpPr>
          <p:cNvPr id="52" name="Text 50"/>
          <p:cNvSpPr txBox="1"/>
          <p:nvPr/>
        </p:nvSpPr>
        <p:spPr>
          <a:xfrm>
            <a:off x="4709160" y="483986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+$216,701</a:t>
            </a:r>
            <a:endParaRPr lang="en-US" sz="1300" dirty="0"/>
          </a:p>
        </p:txBody>
      </p:sp>
      <p:sp>
        <p:nvSpPr>
          <p:cNvPr id="53" name="Text 51"/>
          <p:cNvSpPr txBox="1"/>
          <p:nvPr/>
        </p:nvSpPr>
        <p:spPr>
          <a:xfrm>
            <a:off x="658368"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54" name="Shape 52"/>
          <p:cNvSpPr/>
          <p:nvPr/>
        </p:nvSpPr>
        <p:spPr>
          <a:xfrm>
            <a:off x="3813048" y="5132237"/>
            <a:ext cx="110697" cy="105898"/>
          </a:xfrm>
          <a:prstGeom prst="rect">
            <a:avLst/>
          </a:prstGeom>
          <a:solidFill>
            <a:srgbClr val="12A566"/>
          </a:solidFill>
          <a:ln/>
        </p:spPr>
      </p:sp>
      <p:sp>
        <p:nvSpPr>
          <p:cNvPr id="55" name="Text 53"/>
          <p:cNvSpPr txBox="1"/>
          <p:nvPr/>
        </p:nvSpPr>
        <p:spPr>
          <a:xfrm>
            <a:off x="4709160" y="507007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+$201,665</a:t>
            </a:r>
            <a:endParaRPr lang="en-US" sz="1300" dirty="0"/>
          </a:p>
        </p:txBody>
      </p:sp>
      <p:sp>
        <p:nvSpPr>
          <p:cNvPr id="56" name="Text 54"/>
          <p:cNvSpPr txBox="1"/>
          <p:nvPr/>
        </p:nvSpPr>
        <p:spPr>
          <a:xfrm>
            <a:off x="658368"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57" name="Shape 55"/>
          <p:cNvSpPr/>
          <p:nvPr/>
        </p:nvSpPr>
        <p:spPr>
          <a:xfrm>
            <a:off x="3813048" y="5362450"/>
            <a:ext cx="107433" cy="105898"/>
          </a:xfrm>
          <a:prstGeom prst="rect">
            <a:avLst/>
          </a:prstGeom>
          <a:solidFill>
            <a:srgbClr val="12A566"/>
          </a:solidFill>
          <a:ln/>
        </p:spPr>
      </p:sp>
      <p:sp>
        <p:nvSpPr>
          <p:cNvPr id="58" name="Text 56"/>
          <p:cNvSpPr txBox="1"/>
          <p:nvPr/>
        </p:nvSpPr>
        <p:spPr>
          <a:xfrm>
            <a:off x="4709160" y="530029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+$195,719</a:t>
            </a:r>
            <a:endParaRPr lang="en-US" sz="1300" dirty="0"/>
          </a:p>
        </p:txBody>
      </p:sp>
      <p:sp>
        <p:nvSpPr>
          <p:cNvPr id="59" name="Text 57"/>
          <p:cNvSpPr txBox="1"/>
          <p:nvPr/>
        </p:nvSpPr>
        <p:spPr>
          <a:xfrm>
            <a:off x="658368" y="553050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60" name="Shape 58"/>
          <p:cNvSpPr/>
          <p:nvPr/>
        </p:nvSpPr>
        <p:spPr>
          <a:xfrm>
            <a:off x="3813048" y="5592664"/>
            <a:ext cx="92823" cy="105898"/>
          </a:xfrm>
          <a:prstGeom prst="rect">
            <a:avLst/>
          </a:prstGeom>
          <a:solidFill>
            <a:srgbClr val="12A566"/>
          </a:solidFill>
          <a:ln/>
        </p:spPr>
      </p:sp>
      <p:sp>
        <p:nvSpPr>
          <p:cNvPr id="61" name="Text 59"/>
          <p:cNvSpPr txBox="1"/>
          <p:nvPr/>
        </p:nvSpPr>
        <p:spPr>
          <a:xfrm>
            <a:off x="4709160" y="553050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+$169,102</a:t>
            </a:r>
            <a:endParaRPr lang="en-US" sz="1300" dirty="0"/>
          </a:p>
        </p:txBody>
      </p:sp>
      <p:sp>
        <p:nvSpPr>
          <p:cNvPr id="62" name="Text 60"/>
          <p:cNvSpPr txBox="1"/>
          <p:nvPr/>
        </p:nvSpPr>
        <p:spPr>
          <a:xfrm>
            <a:off x="6208776"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63" name="Shape 61"/>
          <p:cNvSpPr/>
          <p:nvPr/>
        </p:nvSpPr>
        <p:spPr>
          <a:xfrm>
            <a:off x="9363456" y="1909246"/>
            <a:ext cx="88703" cy="105898"/>
          </a:xfrm>
          <a:prstGeom prst="rect">
            <a:avLst/>
          </a:prstGeom>
          <a:solidFill>
            <a:srgbClr val="12A566"/>
          </a:solidFill>
          <a:ln/>
        </p:spPr>
      </p:sp>
      <p:sp>
        <p:nvSpPr>
          <p:cNvPr id="64" name="Text 62"/>
          <p:cNvSpPr txBox="1"/>
          <p:nvPr/>
        </p:nvSpPr>
        <p:spPr>
          <a:xfrm>
            <a:off x="10259568"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+$161,597</a:t>
            </a:r>
            <a:endParaRPr lang="en-US" sz="1300" dirty="0"/>
          </a:p>
        </p:txBody>
      </p:sp>
      <p:sp>
        <p:nvSpPr>
          <p:cNvPr id="65" name="Text 63"/>
          <p:cNvSpPr txBox="1"/>
          <p:nvPr/>
        </p:nvSpPr>
        <p:spPr>
          <a:xfrm>
            <a:off x="6208776"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66" name="Shape 64"/>
          <p:cNvSpPr/>
          <p:nvPr/>
        </p:nvSpPr>
        <p:spPr>
          <a:xfrm>
            <a:off x="9363456" y="2139459"/>
            <a:ext cx="61939" cy="105898"/>
          </a:xfrm>
          <a:prstGeom prst="rect">
            <a:avLst/>
          </a:prstGeom>
          <a:solidFill>
            <a:srgbClr val="12A566"/>
          </a:solidFill>
          <a:ln/>
        </p:spPr>
      </p:sp>
      <p:sp>
        <p:nvSpPr>
          <p:cNvPr id="67" name="Text 65"/>
          <p:cNvSpPr txBox="1"/>
          <p:nvPr/>
        </p:nvSpPr>
        <p:spPr>
          <a:xfrm>
            <a:off x="10259568"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+$112,838</a:t>
            </a:r>
            <a:endParaRPr lang="en-US" sz="1300" dirty="0"/>
          </a:p>
        </p:txBody>
      </p:sp>
      <p:sp>
        <p:nvSpPr>
          <p:cNvPr id="68" name="Text 66"/>
          <p:cNvSpPr txBox="1"/>
          <p:nvPr/>
        </p:nvSpPr>
        <p:spPr>
          <a:xfrm>
            <a:off x="6208776"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69" name="Shape 67"/>
          <p:cNvSpPr/>
          <p:nvPr/>
        </p:nvSpPr>
        <p:spPr>
          <a:xfrm>
            <a:off x="9363456" y="2369673"/>
            <a:ext cx="37407" cy="105898"/>
          </a:xfrm>
          <a:prstGeom prst="rect">
            <a:avLst/>
          </a:prstGeom>
          <a:solidFill>
            <a:srgbClr val="12A566"/>
          </a:solidFill>
          <a:ln/>
        </p:spPr>
      </p:sp>
      <p:sp>
        <p:nvSpPr>
          <p:cNvPr id="70" name="Text 68"/>
          <p:cNvSpPr txBox="1"/>
          <p:nvPr/>
        </p:nvSpPr>
        <p:spPr>
          <a:xfrm>
            <a:off x="10259568"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+$68,148</a:t>
            </a:r>
            <a:endParaRPr lang="en-US" sz="1300" dirty="0"/>
          </a:p>
        </p:txBody>
      </p:sp>
      <p:sp>
        <p:nvSpPr>
          <p:cNvPr id="71" name="Text 69"/>
          <p:cNvSpPr txBox="1"/>
          <p:nvPr/>
        </p:nvSpPr>
        <p:spPr>
          <a:xfrm>
            <a:off x="6208776"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72" name="Shape 70"/>
          <p:cNvSpPr/>
          <p:nvPr/>
        </p:nvSpPr>
        <p:spPr>
          <a:xfrm>
            <a:off x="9363456" y="2599887"/>
            <a:ext cx="17118" cy="105898"/>
          </a:xfrm>
          <a:prstGeom prst="rect">
            <a:avLst/>
          </a:prstGeom>
          <a:solidFill>
            <a:srgbClr val="12A566"/>
          </a:solidFill>
          <a:ln/>
        </p:spPr>
      </p:sp>
      <p:sp>
        <p:nvSpPr>
          <p:cNvPr id="73" name="Text 71"/>
          <p:cNvSpPr txBox="1"/>
          <p:nvPr/>
        </p:nvSpPr>
        <p:spPr>
          <a:xfrm>
            <a:off x="10259568"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+$31,186</a:t>
            </a:r>
            <a:endParaRPr lang="en-US" sz="1300" dirty="0"/>
          </a:p>
        </p:txBody>
      </p:sp>
      <p:sp>
        <p:nvSpPr>
          <p:cNvPr id="74" name="Text 72"/>
          <p:cNvSpPr txBox="1"/>
          <p:nvPr/>
        </p:nvSpPr>
        <p:spPr>
          <a:xfrm>
            <a:off x="6208776"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75" name="Shape 73"/>
          <p:cNvSpPr/>
          <p:nvPr/>
        </p:nvSpPr>
        <p:spPr>
          <a:xfrm>
            <a:off x="9363456" y="2830100"/>
            <a:ext cx="12802" cy="105898"/>
          </a:xfrm>
          <a:prstGeom prst="rect">
            <a:avLst/>
          </a:prstGeom>
          <a:solidFill>
            <a:srgbClr val="12A566"/>
          </a:solidFill>
          <a:ln/>
        </p:spPr>
      </p:sp>
      <p:sp>
        <p:nvSpPr>
          <p:cNvPr id="76" name="Text 74"/>
          <p:cNvSpPr txBox="1"/>
          <p:nvPr/>
        </p:nvSpPr>
        <p:spPr>
          <a:xfrm>
            <a:off x="10259568"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+$20,233</a:t>
            </a:r>
            <a:endParaRPr lang="en-US" sz="1300" dirty="0"/>
          </a:p>
        </p:txBody>
      </p:sp>
      <p:sp>
        <p:nvSpPr>
          <p:cNvPr id="77" name="Text 75"/>
          <p:cNvSpPr txBox="1"/>
          <p:nvPr/>
        </p:nvSpPr>
        <p:spPr>
          <a:xfrm>
            <a:off x="6208776"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78" name="Shape 76"/>
          <p:cNvSpPr/>
          <p:nvPr/>
        </p:nvSpPr>
        <p:spPr>
          <a:xfrm>
            <a:off x="9363456" y="3060314"/>
            <a:ext cx="12802" cy="105898"/>
          </a:xfrm>
          <a:prstGeom prst="rect">
            <a:avLst/>
          </a:prstGeom>
          <a:solidFill>
            <a:srgbClr val="12A566"/>
          </a:solidFill>
          <a:ln/>
        </p:spPr>
      </p:sp>
      <p:sp>
        <p:nvSpPr>
          <p:cNvPr id="79" name="Text 77"/>
          <p:cNvSpPr txBox="1"/>
          <p:nvPr/>
        </p:nvSpPr>
        <p:spPr>
          <a:xfrm>
            <a:off x="10259568"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+$20,119</a:t>
            </a:r>
            <a:endParaRPr lang="en-US" sz="1300" dirty="0"/>
          </a:p>
        </p:txBody>
      </p:sp>
      <p:sp>
        <p:nvSpPr>
          <p:cNvPr id="80" name="Text 78"/>
          <p:cNvSpPr txBox="1"/>
          <p:nvPr/>
        </p:nvSpPr>
        <p:spPr>
          <a:xfrm>
            <a:off x="6208776"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81" name="Shape 79"/>
          <p:cNvSpPr/>
          <p:nvPr/>
        </p:nvSpPr>
        <p:spPr>
          <a:xfrm>
            <a:off x="9350324" y="3290528"/>
            <a:ext cx="13132" cy="105898"/>
          </a:xfrm>
          <a:prstGeom prst="rect">
            <a:avLst/>
          </a:prstGeom>
          <a:solidFill>
            <a:srgbClr val="C2352F"/>
          </a:solidFill>
          <a:ln/>
        </p:spPr>
      </p:sp>
      <p:sp>
        <p:nvSpPr>
          <p:cNvPr id="82" name="Text 80"/>
          <p:cNvSpPr txBox="1"/>
          <p:nvPr/>
        </p:nvSpPr>
        <p:spPr>
          <a:xfrm>
            <a:off x="10259568" y="3228370"/>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−$23,923</a:t>
            </a:r>
            <a:endParaRPr lang="en-US" sz="1300" dirty="0"/>
          </a:p>
        </p:txBody>
      </p:sp>
      <p:sp>
        <p:nvSpPr>
          <p:cNvPr id="83" name="Text 81"/>
          <p:cNvSpPr txBox="1"/>
          <p:nvPr/>
        </p:nvSpPr>
        <p:spPr>
          <a:xfrm>
            <a:off x="6208776"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84" name="Shape 82"/>
          <p:cNvSpPr/>
          <p:nvPr/>
        </p:nvSpPr>
        <p:spPr>
          <a:xfrm>
            <a:off x="9348246" y="3520741"/>
            <a:ext cx="15210" cy="105898"/>
          </a:xfrm>
          <a:prstGeom prst="rect">
            <a:avLst/>
          </a:prstGeom>
          <a:solidFill>
            <a:srgbClr val="C2352F"/>
          </a:solidFill>
          <a:ln/>
        </p:spPr>
      </p:sp>
      <p:sp>
        <p:nvSpPr>
          <p:cNvPr id="85" name="Text 83"/>
          <p:cNvSpPr txBox="1"/>
          <p:nvPr/>
        </p:nvSpPr>
        <p:spPr>
          <a:xfrm>
            <a:off x="10259568" y="345858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−$27,710</a:t>
            </a:r>
            <a:endParaRPr lang="en-US" sz="1300" dirty="0"/>
          </a:p>
        </p:txBody>
      </p:sp>
      <p:sp>
        <p:nvSpPr>
          <p:cNvPr id="86" name="Text 84"/>
          <p:cNvSpPr txBox="1"/>
          <p:nvPr/>
        </p:nvSpPr>
        <p:spPr>
          <a:xfrm>
            <a:off x="6208776"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87" name="Shape 85"/>
          <p:cNvSpPr/>
          <p:nvPr/>
        </p:nvSpPr>
        <p:spPr>
          <a:xfrm>
            <a:off x="9331765" y="3750955"/>
            <a:ext cx="31691" cy="105898"/>
          </a:xfrm>
          <a:prstGeom prst="rect">
            <a:avLst/>
          </a:prstGeom>
          <a:solidFill>
            <a:srgbClr val="C2352F"/>
          </a:solidFill>
          <a:ln/>
        </p:spPr>
      </p:sp>
      <p:sp>
        <p:nvSpPr>
          <p:cNvPr id="88" name="Text 86"/>
          <p:cNvSpPr txBox="1"/>
          <p:nvPr/>
        </p:nvSpPr>
        <p:spPr>
          <a:xfrm>
            <a:off x="10259568" y="3688797"/>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−$57,734</a:t>
            </a:r>
            <a:endParaRPr lang="en-US" sz="1300" dirty="0"/>
          </a:p>
        </p:txBody>
      </p:sp>
      <p:sp>
        <p:nvSpPr>
          <p:cNvPr id="89" name="Text 87"/>
          <p:cNvSpPr txBox="1"/>
          <p:nvPr/>
        </p:nvSpPr>
        <p:spPr>
          <a:xfrm>
            <a:off x="6208776"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90" name="Shape 88"/>
          <p:cNvSpPr/>
          <p:nvPr/>
        </p:nvSpPr>
        <p:spPr>
          <a:xfrm>
            <a:off x="9289333" y="3981169"/>
            <a:ext cx="74123" cy="105898"/>
          </a:xfrm>
          <a:prstGeom prst="rect">
            <a:avLst/>
          </a:prstGeom>
          <a:solidFill>
            <a:srgbClr val="C2352F"/>
          </a:solidFill>
          <a:ln/>
        </p:spPr>
      </p:sp>
      <p:sp>
        <p:nvSpPr>
          <p:cNvPr id="91" name="Text 89"/>
          <p:cNvSpPr txBox="1"/>
          <p:nvPr/>
        </p:nvSpPr>
        <p:spPr>
          <a:xfrm>
            <a:off x="10259568" y="3919011"/>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−$135,036</a:t>
            </a:r>
            <a:endParaRPr lang="en-US" sz="1300" dirty="0"/>
          </a:p>
        </p:txBody>
      </p:sp>
      <p:sp>
        <p:nvSpPr>
          <p:cNvPr id="92" name="Text 90"/>
          <p:cNvSpPr txBox="1"/>
          <p:nvPr/>
        </p:nvSpPr>
        <p:spPr>
          <a:xfrm>
            <a:off x="6208776"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93" name="Shape 91"/>
          <p:cNvSpPr/>
          <p:nvPr/>
        </p:nvSpPr>
        <p:spPr>
          <a:xfrm>
            <a:off x="9258104" y="4211382"/>
            <a:ext cx="105352" cy="105898"/>
          </a:xfrm>
          <a:prstGeom prst="rect">
            <a:avLst/>
          </a:prstGeom>
          <a:solidFill>
            <a:srgbClr val="C2352F"/>
          </a:solidFill>
          <a:ln/>
        </p:spPr>
      </p:sp>
      <p:sp>
        <p:nvSpPr>
          <p:cNvPr id="94" name="Text 92"/>
          <p:cNvSpPr txBox="1"/>
          <p:nvPr/>
        </p:nvSpPr>
        <p:spPr>
          <a:xfrm>
            <a:off x="10259568" y="414922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−$191,926</a:t>
            </a:r>
            <a:endParaRPr lang="en-US" sz="1300" dirty="0"/>
          </a:p>
        </p:txBody>
      </p:sp>
      <p:sp>
        <p:nvSpPr>
          <p:cNvPr id="95" name="Text 93"/>
          <p:cNvSpPr txBox="1"/>
          <p:nvPr/>
        </p:nvSpPr>
        <p:spPr>
          <a:xfrm>
            <a:off x="6208776"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96" name="Shape 94"/>
          <p:cNvSpPr/>
          <p:nvPr/>
        </p:nvSpPr>
        <p:spPr>
          <a:xfrm>
            <a:off x="9247464" y="4441596"/>
            <a:ext cx="115992" cy="105898"/>
          </a:xfrm>
          <a:prstGeom prst="rect">
            <a:avLst/>
          </a:prstGeom>
          <a:solidFill>
            <a:srgbClr val="C2352F"/>
          </a:solidFill>
          <a:ln/>
        </p:spPr>
      </p:sp>
      <p:sp>
        <p:nvSpPr>
          <p:cNvPr id="97" name="Text 95"/>
          <p:cNvSpPr txBox="1"/>
          <p:nvPr/>
        </p:nvSpPr>
        <p:spPr>
          <a:xfrm>
            <a:off x="10259568" y="4379438"/>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−$211,311</a:t>
            </a:r>
            <a:endParaRPr lang="en-US" sz="1300" dirty="0"/>
          </a:p>
        </p:txBody>
      </p:sp>
      <p:sp>
        <p:nvSpPr>
          <p:cNvPr id="98" name="Text 96"/>
          <p:cNvSpPr txBox="1"/>
          <p:nvPr/>
        </p:nvSpPr>
        <p:spPr>
          <a:xfrm>
            <a:off x="6208776"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99" name="Shape 97"/>
          <p:cNvSpPr/>
          <p:nvPr/>
        </p:nvSpPr>
        <p:spPr>
          <a:xfrm>
            <a:off x="9146720" y="4671809"/>
            <a:ext cx="216736" cy="105898"/>
          </a:xfrm>
          <a:prstGeom prst="rect">
            <a:avLst/>
          </a:prstGeom>
          <a:solidFill>
            <a:srgbClr val="C2352F"/>
          </a:solidFill>
          <a:ln/>
        </p:spPr>
      </p:sp>
      <p:sp>
        <p:nvSpPr>
          <p:cNvPr id="100" name="Text 98"/>
          <p:cNvSpPr txBox="1"/>
          <p:nvPr/>
        </p:nvSpPr>
        <p:spPr>
          <a:xfrm>
            <a:off x="10259568" y="4609652"/>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−$394,842</a:t>
            </a:r>
            <a:endParaRPr lang="en-US" sz="1300" dirty="0"/>
          </a:p>
        </p:txBody>
      </p:sp>
      <p:sp>
        <p:nvSpPr>
          <p:cNvPr id="101" name="Text 99"/>
          <p:cNvSpPr txBox="1"/>
          <p:nvPr/>
        </p:nvSpPr>
        <p:spPr>
          <a:xfrm>
            <a:off x="6208776"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102" name="Shape 100"/>
          <p:cNvSpPr/>
          <p:nvPr/>
        </p:nvSpPr>
        <p:spPr>
          <a:xfrm>
            <a:off x="9123073" y="4902023"/>
            <a:ext cx="240383" cy="105898"/>
          </a:xfrm>
          <a:prstGeom prst="rect">
            <a:avLst/>
          </a:prstGeom>
          <a:solidFill>
            <a:srgbClr val="C2352F"/>
          </a:solidFill>
          <a:ln/>
        </p:spPr>
      </p:sp>
      <p:sp>
        <p:nvSpPr>
          <p:cNvPr id="103" name="Text 101"/>
          <p:cNvSpPr txBox="1"/>
          <p:nvPr/>
        </p:nvSpPr>
        <p:spPr>
          <a:xfrm>
            <a:off x="10259568" y="4839865"/>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−$437,922</a:t>
            </a:r>
            <a:endParaRPr lang="en-US" sz="1300" dirty="0"/>
          </a:p>
        </p:txBody>
      </p:sp>
      <p:sp>
        <p:nvSpPr>
          <p:cNvPr id="104" name="Text 102"/>
          <p:cNvSpPr txBox="1"/>
          <p:nvPr/>
        </p:nvSpPr>
        <p:spPr>
          <a:xfrm>
            <a:off x="6208776"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105" name="Shape 103"/>
          <p:cNvSpPr/>
          <p:nvPr/>
        </p:nvSpPr>
        <p:spPr>
          <a:xfrm>
            <a:off x="9063083" y="5132237"/>
            <a:ext cx="300373" cy="105898"/>
          </a:xfrm>
          <a:prstGeom prst="rect">
            <a:avLst/>
          </a:prstGeom>
          <a:solidFill>
            <a:srgbClr val="C2352F"/>
          </a:solidFill>
          <a:ln/>
        </p:spPr>
      </p:sp>
      <p:sp>
        <p:nvSpPr>
          <p:cNvPr id="106" name="Text 104"/>
          <p:cNvSpPr txBox="1"/>
          <p:nvPr/>
        </p:nvSpPr>
        <p:spPr>
          <a:xfrm>
            <a:off x="10259568" y="5070079"/>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−$547,210</a:t>
            </a:r>
            <a:endParaRPr lang="en-US" sz="1300" dirty="0"/>
          </a:p>
        </p:txBody>
      </p:sp>
      <p:sp>
        <p:nvSpPr>
          <p:cNvPr id="107" name="Text 105"/>
          <p:cNvSpPr txBox="1"/>
          <p:nvPr/>
        </p:nvSpPr>
        <p:spPr>
          <a:xfrm>
            <a:off x="6208776"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108" name="Shape 106"/>
          <p:cNvSpPr/>
          <p:nvPr/>
        </p:nvSpPr>
        <p:spPr>
          <a:xfrm>
            <a:off x="8982169" y="5362450"/>
            <a:ext cx="381287" cy="105898"/>
          </a:xfrm>
          <a:prstGeom prst="rect">
            <a:avLst/>
          </a:prstGeom>
          <a:solidFill>
            <a:srgbClr val="C2352F"/>
          </a:solidFill>
          <a:ln/>
        </p:spPr>
      </p:sp>
      <p:sp>
        <p:nvSpPr>
          <p:cNvPr id="109" name="Text 107"/>
          <p:cNvSpPr txBox="1"/>
          <p:nvPr/>
        </p:nvSpPr>
        <p:spPr>
          <a:xfrm>
            <a:off x="10259568" y="530029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−$694,616</a:t>
            </a:r>
            <a:endParaRPr lang="en-US" sz="1300" dirty="0"/>
          </a:p>
        </p:txBody>
      </p:sp>
      <p:sp>
        <p:nvSpPr>
          <p:cNvPr id="110" name="Shape 108"/>
          <p:cNvSpPr/>
          <p:nvPr/>
        </p:nvSpPr>
        <p:spPr>
          <a:xfrm>
            <a:off x="3807562" y="1847088"/>
            <a:ext cx="10973" cy="3913632"/>
          </a:xfrm>
          <a:prstGeom prst="rect">
            <a:avLst/>
          </a:prstGeom>
          <a:solidFill>
            <a:srgbClr val="9AA3AD"/>
          </a:solidFill>
          <a:ln/>
        </p:spPr>
      </p:sp>
      <p:sp>
        <p:nvSpPr>
          <p:cNvPr id="111" name="Shape 109"/>
          <p:cNvSpPr/>
          <p:nvPr/>
        </p:nvSpPr>
        <p:spPr>
          <a:xfrm>
            <a:off x="9357970" y="1847088"/>
            <a:ext cx="10973" cy="3913632"/>
          </a:xfrm>
          <a:prstGeom prst="rect">
            <a:avLst/>
          </a:prstGeom>
          <a:solidFill>
            <a:srgbClr val="9AA3AD"/>
          </a:solidFill>
          <a:ln/>
        </p:spPr>
      </p:sp>
      <p:sp>
        <p:nvSpPr>
          <p:cNvPr id="112" name="Shape 110"/>
          <p:cNvSpPr/>
          <p:nvPr/>
        </p:nvSpPr>
        <p:spPr>
          <a:xfrm>
            <a:off x="457200" y="5961888"/>
            <a:ext cx="11274552" cy="548640"/>
          </a:xfrm>
          <a:prstGeom prst="rect">
            <a:avLst/>
          </a:prstGeom>
          <a:solidFill>
            <a:srgbClr val="E6F6EE"/>
          </a:solidFill>
          <a:ln/>
        </p:spPr>
      </p:sp>
      <p:sp>
        <p:nvSpPr>
          <p:cNvPr id="113" name="Text 111"/>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23 of 33 stores grew, led by TOYOTA HENDERSON at +$1,499,243; 10 declined, HONDA NORTH most at −$694,616.</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Total Gross Profit - Parts</a:t>
            </a:r>
            <a:endParaRPr lang="en-US" sz="2800" dirty="0"/>
          </a:p>
        </p:txBody>
      </p:sp>
      <p:sp>
        <p:nvSpPr>
          <p:cNvPr id="5" name="Shape 3"/>
          <p:cNvSpPr/>
          <p:nvPr/>
        </p:nvSpPr>
        <p:spPr>
          <a:xfrm>
            <a:off x="457200" y="1207008"/>
            <a:ext cx="7589520" cy="4617720"/>
          </a:xfrm>
          <a:prstGeom prst="rect">
            <a:avLst/>
          </a:prstGeom>
          <a:solidFill>
            <a:srgbClr val="FFFFFF"/>
          </a:solidFill>
          <a:ln/>
        </p:spPr>
      </p:sp>
      <p:sp>
        <p:nvSpPr>
          <p:cNvPr id="6" name="Text 4"/>
          <p:cNvSpPr txBox="1"/>
          <p:nvPr/>
        </p:nvSpPr>
        <p:spPr>
          <a:xfrm>
            <a:off x="685800" y="1344168"/>
            <a:ext cx="7132320"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Group total, trailing 12 months ($M)</a:t>
            </a:r>
            <a:endParaRPr lang="en-US" sz="1500" dirty="0"/>
          </a:p>
        </p:txBody>
      </p:sp>
      <p:sp>
        <p:nvSpPr>
          <p:cNvPr id="7" name="Shape 5"/>
          <p:cNvSpPr/>
          <p:nvPr/>
        </p:nvSpPr>
        <p:spPr>
          <a:xfrm>
            <a:off x="685800" y="1691640"/>
            <a:ext cx="7132320" cy="10973"/>
          </a:xfrm>
          <a:prstGeom prst="rect">
            <a:avLst/>
          </a:prstGeom>
          <a:solidFill>
            <a:srgbClr val="1A1A1A"/>
          </a:solidFill>
          <a:ln/>
        </p:spPr>
      </p:sp>
      <p:graphicFrame>
        <p:nvGraphicFramePr>
          <p:cNvPr id="8" name="Chart 0" descr=""/>
          <p:cNvGraphicFramePr/>
          <p:nvPr/>
        </p:nvGraphicFramePr>
        <p:xfrm>
          <a:off x="621792" y="1810512"/>
          <a:ext cx="6858000" cy="3858768"/>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8229600" y="1207008"/>
            <a:ext cx="3502152" cy="4617720"/>
          </a:xfrm>
          <a:prstGeom prst="rect">
            <a:avLst/>
          </a:prstGeom>
          <a:solidFill>
            <a:srgbClr val="FFFFFF"/>
          </a:solidFill>
          <a:ln/>
        </p:spPr>
      </p:sp>
      <p:sp>
        <p:nvSpPr>
          <p:cNvPr id="10" name="Text 7"/>
          <p:cNvSpPr txBox="1"/>
          <p:nvPr/>
        </p:nvSpPr>
        <p:spPr>
          <a:xfrm>
            <a:off x="8458200" y="1344168"/>
            <a:ext cx="30449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What it says</a:t>
            </a:r>
            <a:endParaRPr lang="en-US" sz="1500" dirty="0"/>
          </a:p>
        </p:txBody>
      </p:sp>
      <p:sp>
        <p:nvSpPr>
          <p:cNvPr id="11" name="Shape 8"/>
          <p:cNvSpPr/>
          <p:nvPr/>
        </p:nvSpPr>
        <p:spPr>
          <a:xfrm>
            <a:off x="8458200" y="1691640"/>
            <a:ext cx="3044952" cy="10973"/>
          </a:xfrm>
          <a:prstGeom prst="rect">
            <a:avLst/>
          </a:prstGeom>
          <a:solidFill>
            <a:srgbClr val="1A1A1A"/>
          </a:solidFill>
          <a:ln/>
        </p:spPr>
      </p:sp>
      <p:sp>
        <p:nvSpPr>
          <p:cNvPr id="12" name="Shape 9"/>
          <p:cNvSpPr/>
          <p:nvPr/>
        </p:nvSpPr>
        <p:spPr>
          <a:xfrm>
            <a:off x="8458200" y="1938528"/>
            <a:ext cx="100584" cy="100584"/>
          </a:xfrm>
          <a:prstGeom prst="ellipse">
            <a:avLst/>
          </a:prstGeom>
          <a:solidFill>
            <a:srgbClr val="2587C5"/>
          </a:solidFill>
          <a:ln/>
        </p:spPr>
      </p:sp>
      <p:sp>
        <p:nvSpPr>
          <p:cNvPr id="13" name="Text 10"/>
          <p:cNvSpPr txBox="1"/>
          <p:nvPr/>
        </p:nvSpPr>
        <p:spPr>
          <a:xfrm>
            <a:off x="8705088" y="1810512"/>
            <a:ext cx="2834640" cy="1051560"/>
          </a:xfrm>
          <a:prstGeom prst="rect">
            <a:avLst/>
          </a:prstGeom>
          <a:noFill/>
          <a:ln/>
        </p:spPr>
        <p:txBody>
          <a:bodyPr wrap="square" lIns="0" tIns="0" rIns="0" bIns="0" rtlCol="0" anchor="t"/>
          <a:lstStyle/>
          <a:p>
            <a:pPr indent="0" marL="0">
              <a:buNone/>
            </a:pPr>
            <a:r>
              <a:rPr lang="en-US" sz="1500" b="1" dirty="0">
                <a:solidFill>
                  <a:srgbClr val="2587C5"/>
                </a:solidFill>
                <a:latin typeface="Inter" pitchFamily="34" charset="0"/>
                <a:ea typeface="Inter" pitchFamily="34" charset="-122"/>
                <a:cs typeface="Inter" pitchFamily="34" charset="-120"/>
              </a:rPr>
              <a:t>Peak Jul '26 at $7.66M. Low Nov '25 at $5.91M.</a:t>
            </a:r>
            <a:endParaRPr lang="en-US" sz="1500" dirty="0"/>
          </a:p>
        </p:txBody>
      </p:sp>
      <p:sp>
        <p:nvSpPr>
          <p:cNvPr id="14" name="Shape 11"/>
          <p:cNvSpPr/>
          <p:nvPr/>
        </p:nvSpPr>
        <p:spPr>
          <a:xfrm>
            <a:off x="8458200" y="3072384"/>
            <a:ext cx="100584" cy="100584"/>
          </a:xfrm>
          <a:prstGeom prst="ellipse">
            <a:avLst/>
          </a:prstGeom>
          <a:solidFill>
            <a:srgbClr val="1A1A1A"/>
          </a:solidFill>
          <a:ln/>
        </p:spPr>
      </p:sp>
      <p:sp>
        <p:nvSpPr>
          <p:cNvPr id="15" name="Text 12"/>
          <p:cNvSpPr txBox="1"/>
          <p:nvPr/>
        </p:nvSpPr>
        <p:spPr>
          <a:xfrm>
            <a:off x="8705088" y="2944368"/>
            <a:ext cx="2834640" cy="1051560"/>
          </a:xfrm>
          <a:prstGeom prst="rect">
            <a:avLst/>
          </a:prstGeom>
          <a:noFill/>
          <a:ln/>
        </p:spPr>
        <p:txBody>
          <a:bodyPr wrap="square" lIns="0" tIns="0" rIns="0" bIns="0" rtlCol="0" anchor="t"/>
          <a:lstStyle/>
          <a:p>
            <a:pPr indent="0" marL="0">
              <a:buNone/>
            </a:pPr>
            <a:r>
              <a:rPr lang="en-US" sz="1500" dirty="0">
                <a:solidFill>
                  <a:srgbClr val="1A1A1A"/>
                </a:solidFill>
                <a:latin typeface="Inter" pitchFamily="34" charset="0"/>
                <a:ea typeface="Inter" pitchFamily="34" charset="-122"/>
                <a:cs typeface="Inter" pitchFamily="34" charset="-120"/>
              </a:rPr>
              <a:t>Jun–Sep year over year: +3.8%, +9.8%, +5.9%, +9.8%.</a:t>
            </a:r>
            <a:endParaRPr lang="en-US" sz="1500" dirty="0"/>
          </a:p>
        </p:txBody>
      </p:sp>
      <p:sp>
        <p:nvSpPr>
          <p:cNvPr id="16" name="Shape 13"/>
          <p:cNvSpPr/>
          <p:nvPr/>
        </p:nvSpPr>
        <p:spPr>
          <a:xfrm>
            <a:off x="8458200" y="4206240"/>
            <a:ext cx="100584" cy="100584"/>
          </a:xfrm>
          <a:prstGeom prst="ellipse">
            <a:avLst/>
          </a:prstGeom>
          <a:solidFill>
            <a:srgbClr val="1A1A1A"/>
          </a:solidFill>
          <a:ln/>
        </p:spPr>
      </p:sp>
      <p:sp>
        <p:nvSpPr>
          <p:cNvPr id="17" name="Text 14"/>
          <p:cNvSpPr txBox="1"/>
          <p:nvPr/>
        </p:nvSpPr>
        <p:spPr>
          <a:xfrm>
            <a:off x="8705088" y="4078224"/>
            <a:ext cx="2834640" cy="1051560"/>
          </a:xfrm>
          <a:prstGeom prst="rect">
            <a:avLst/>
          </a:prstGeom>
          <a:noFill/>
          <a:ln/>
        </p:spPr>
        <p:txBody>
          <a:bodyPr wrap="square" lIns="0" tIns="0" rIns="0" bIns="0" rtlCol="0" anchor="t"/>
          <a:lstStyle/>
          <a:p>
            <a:pPr indent="0" marL="0">
              <a:buNone/>
            </a:pPr>
            <a:r>
              <a:rPr lang="en-US" sz="1500" dirty="0">
                <a:solidFill>
                  <a:srgbClr val="1A1A1A"/>
                </a:solidFill>
                <a:latin typeface="Inter" pitchFamily="34" charset="0"/>
                <a:ea typeface="Inter" pitchFamily="34" charset="-122"/>
                <a:cs typeface="Inter" pitchFamily="34" charset="-120"/>
              </a:rPr>
              <a:t>6 of 9 months in 2026 beat the same month of 2025.</a:t>
            </a:r>
            <a:endParaRPr lang="en-US" sz="1500" dirty="0"/>
          </a:p>
        </p:txBody>
      </p:sp>
      <p:sp>
        <p:nvSpPr>
          <p:cNvPr id="18" name="Shape 15"/>
          <p:cNvSpPr/>
          <p:nvPr/>
        </p:nvSpPr>
        <p:spPr>
          <a:xfrm>
            <a:off x="457200" y="5961888"/>
            <a:ext cx="11274552" cy="548640"/>
          </a:xfrm>
          <a:prstGeom prst="rect">
            <a:avLst/>
          </a:prstGeom>
          <a:solidFill>
            <a:srgbClr val="E6F6EE"/>
          </a:solidFill>
          <a:ln/>
        </p:spPr>
      </p:sp>
      <p:sp>
        <p:nvSpPr>
          <p:cNvPr id="19" name="Text 16"/>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Parts gross ran $6.81M a month over the last twelve, up $1,171,181 year to date.</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Total Gross Profit - Parts</a:t>
            </a:r>
            <a:endParaRPr lang="en-US" sz="2800" dirty="0"/>
          </a:p>
        </p:txBody>
      </p:sp>
      <p:sp>
        <p:nvSpPr>
          <p:cNvPr id="5" name="Shape 3"/>
          <p:cNvSpPr/>
          <p:nvPr/>
        </p:nvSpPr>
        <p:spPr>
          <a:xfrm>
            <a:off x="457200" y="1207008"/>
            <a:ext cx="11274552" cy="1517904"/>
          </a:xfrm>
          <a:prstGeom prst="rect">
            <a:avLst/>
          </a:prstGeom>
          <a:solidFill>
            <a:srgbClr val="FFFFFF"/>
          </a:solidFill>
          <a:ln/>
        </p:spPr>
      </p:sp>
      <p:sp>
        <p:nvSpPr>
          <p:cNvPr id="6" name="Text 4"/>
          <p:cNvSpPr txBox="1"/>
          <p:nvPr/>
        </p:nvSpPr>
        <p:spPr>
          <a:xfrm>
            <a:off x="685800" y="1316736"/>
            <a:ext cx="10789920" cy="274320"/>
          </a:xfrm>
          <a:prstGeom prst="rect">
            <a:avLst/>
          </a:prstGeom>
          <a:noFill/>
          <a:ln/>
        </p:spPr>
        <p:txBody>
          <a:bodyPr wrap="square" lIns="0" tIns="0" rIns="0" bIns="0" rtlCol="0" anchor="ctr"/>
          <a:lstStyle/>
          <a:p>
            <a:pPr indent="0" marL="0">
              <a:buNone/>
            </a:pPr>
            <a:r>
              <a:rPr lang="en-US" sz="1400" spc="100" kern="0" dirty="0">
                <a:solidFill>
                  <a:srgbClr val="595959"/>
                </a:solidFill>
                <a:latin typeface="Inter" pitchFamily="34" charset="0"/>
                <a:ea typeface="Inter" pitchFamily="34" charset="-122"/>
                <a:cs typeface="Inter" pitchFamily="34" charset="-120"/>
              </a:rPr>
              <a:t>GROUP · JANUARY–SEPTEMBER · SAME-STORE, 33 STORES</a:t>
            </a:r>
            <a:endParaRPr lang="en-US" sz="1400" dirty="0"/>
          </a:p>
        </p:txBody>
      </p:sp>
      <p:sp>
        <p:nvSpPr>
          <p:cNvPr id="7" name="Text 5"/>
          <p:cNvSpPr txBox="1"/>
          <p:nvPr/>
        </p:nvSpPr>
        <p:spPr>
          <a:xfrm>
            <a:off x="68580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a:t>
            </a:r>
            <a:endParaRPr lang="en-US" sz="1400" dirty="0"/>
          </a:p>
        </p:txBody>
      </p:sp>
      <p:sp>
        <p:nvSpPr>
          <p:cNvPr id="8" name="Text 6"/>
          <p:cNvSpPr txBox="1"/>
          <p:nvPr/>
        </p:nvSpPr>
        <p:spPr>
          <a:xfrm>
            <a:off x="68580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$60.76M</a:t>
            </a:r>
            <a:endParaRPr lang="en-US" sz="3000" dirty="0"/>
          </a:p>
        </p:txBody>
      </p:sp>
      <p:sp>
        <p:nvSpPr>
          <p:cNvPr id="9" name="Text 7"/>
          <p:cNvSpPr txBox="1"/>
          <p:nvPr/>
        </p:nvSpPr>
        <p:spPr>
          <a:xfrm>
            <a:off x="347472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a:t>
            </a:r>
            <a:endParaRPr lang="en-US" sz="1400" dirty="0"/>
          </a:p>
        </p:txBody>
      </p:sp>
      <p:sp>
        <p:nvSpPr>
          <p:cNvPr id="10" name="Text 8"/>
          <p:cNvSpPr txBox="1"/>
          <p:nvPr/>
        </p:nvSpPr>
        <p:spPr>
          <a:xfrm>
            <a:off x="347472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$61.93M</a:t>
            </a:r>
            <a:endParaRPr lang="en-US" sz="3000" dirty="0"/>
          </a:p>
        </p:txBody>
      </p:sp>
      <p:sp>
        <p:nvSpPr>
          <p:cNvPr id="11" name="Text 9"/>
          <p:cNvSpPr txBox="1"/>
          <p:nvPr/>
        </p:nvSpPr>
        <p:spPr>
          <a:xfrm>
            <a:off x="626364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2" name="Text 10"/>
          <p:cNvSpPr txBox="1"/>
          <p:nvPr/>
        </p:nvSpPr>
        <p:spPr>
          <a:xfrm>
            <a:off x="626364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+$1,171,181</a:t>
            </a:r>
            <a:endParaRPr lang="en-US" sz="3000" dirty="0"/>
          </a:p>
        </p:txBody>
      </p:sp>
      <p:sp>
        <p:nvSpPr>
          <p:cNvPr id="13" name="Text 11"/>
          <p:cNvSpPr txBox="1"/>
          <p:nvPr/>
        </p:nvSpPr>
        <p:spPr>
          <a:xfrm>
            <a:off x="905256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4" name="Text 12"/>
          <p:cNvSpPr txBox="1"/>
          <p:nvPr/>
        </p:nvSpPr>
        <p:spPr>
          <a:xfrm>
            <a:off x="905256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+1.9%</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2816352"/>
          <a:ext cx="11274552" cy="914400"/>
        </p:xfrm>
        <a:graphic>
          <a:graphicData uri="http://schemas.openxmlformats.org/drawingml/2006/table">
            <a:tbl>
              <a:tblPr/>
              <a:tblGrid>
                <a:gridCol w="3118104"/>
                <a:gridCol w="2039112"/>
                <a:gridCol w="2039112"/>
                <a:gridCol w="2039112"/>
                <a:gridCol w="2039112"/>
              </a:tblGrid>
              <a:tr h="274320">
                <a:tc>
                  <a:txBody>
                    <a:bodyPr/>
                    <a:lstStyle/>
                    <a:p>
                      <a:pPr algn="l" indent="0" marL="0">
                        <a:buNone/>
                      </a:pPr>
                      <a:r>
                        <a:rPr lang="en-US" sz="1400" b="1" dirty="0">
                          <a:solidFill>
                            <a:srgbClr val="FFFFFF"/>
                          </a:solidFill>
                          <a:latin typeface="Inter" pitchFamily="34" charset="0"/>
                          <a:ea typeface="Inter" pitchFamily="34" charset="-122"/>
                          <a:cs typeface="Inter" pitchFamily="34" charset="-120"/>
                        </a:rPr>
                        <a:t>MONTH</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VARIANCE</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 %</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JAN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$7.05M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$6.41M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−$640,110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−9.1%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FEB</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$6.47M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$6.08M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−$388,758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−6.0%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$6.60M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$6.77M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+$169,805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APR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$6.84M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$7.14M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+$300,539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MAY</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$6.67M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$6.41M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−$253,835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−3.8%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$6.81M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$7.07M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+$259,611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JUL</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$6.97M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$7.66M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+$684,859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+9.8%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AUG</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$6.81M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$7.21M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+$398,421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+5.9%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SEP</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$6.54M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$7.18M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+$640,651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+9.8%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16" name="Shape 13"/>
          <p:cNvSpPr/>
          <p:nvPr/>
        </p:nvSpPr>
        <p:spPr>
          <a:xfrm>
            <a:off x="457200" y="5961888"/>
            <a:ext cx="11274552" cy="548640"/>
          </a:xfrm>
          <a:prstGeom prst="rect">
            <a:avLst/>
          </a:prstGeom>
          <a:solidFill>
            <a:srgbClr val="E6F6EE"/>
          </a:solidFill>
          <a:ln/>
        </p:spPr>
      </p:sp>
      <p:sp>
        <p:nvSpPr>
          <p:cNvPr id="17" name="Text 14"/>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+$1,171,181 (1.9%) year to date; 6 of nine months ahead of 2025, best July at +$684,859.</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Total Gross Profit - Parts</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01168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GROUP</a:t>
            </a:r>
            <a:endParaRPr lang="en-US" sz="1500" dirty="0"/>
          </a:p>
        </p:txBody>
      </p:sp>
      <p:sp>
        <p:nvSpPr>
          <p:cNvPr id="9" name="Text 7"/>
          <p:cNvSpPr txBox="1"/>
          <p:nvPr/>
        </p:nvSpPr>
        <p:spPr>
          <a:xfrm>
            <a:off x="2834640" y="1335024"/>
            <a:ext cx="420624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SAME-STORE, 33 STORES</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+$1,171,181</a:t>
            </a:r>
            <a:endParaRPr lang="en-US" sz="2000" dirty="0"/>
          </a:p>
        </p:txBody>
      </p:sp>
      <p:sp>
        <p:nvSpPr>
          <p:cNvPr id="11" name="Text 9"/>
          <p:cNvSpPr txBox="1"/>
          <p:nvPr/>
        </p:nvSpPr>
        <p:spPr>
          <a:xfrm>
            <a:off x="658368"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12" name="Shape 10"/>
          <p:cNvSpPr/>
          <p:nvPr/>
        </p:nvSpPr>
        <p:spPr>
          <a:xfrm>
            <a:off x="3813048" y="1909246"/>
            <a:ext cx="822960" cy="105898"/>
          </a:xfrm>
          <a:prstGeom prst="rect">
            <a:avLst/>
          </a:prstGeom>
          <a:solidFill>
            <a:srgbClr val="12A566"/>
          </a:solidFill>
          <a:ln/>
        </p:spPr>
      </p:sp>
      <p:sp>
        <p:nvSpPr>
          <p:cNvPr id="13" name="Text 11"/>
          <p:cNvSpPr txBox="1"/>
          <p:nvPr/>
        </p:nvSpPr>
        <p:spPr>
          <a:xfrm>
            <a:off x="4709160"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+$688,074</a:t>
            </a:r>
            <a:endParaRPr lang="en-US" sz="1300" dirty="0"/>
          </a:p>
        </p:txBody>
      </p:sp>
      <p:sp>
        <p:nvSpPr>
          <p:cNvPr id="14" name="Text 12"/>
          <p:cNvSpPr txBox="1"/>
          <p:nvPr/>
        </p:nvSpPr>
        <p:spPr>
          <a:xfrm>
            <a:off x="658368"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15" name="Shape 13"/>
          <p:cNvSpPr/>
          <p:nvPr/>
        </p:nvSpPr>
        <p:spPr>
          <a:xfrm>
            <a:off x="3813048" y="2139459"/>
            <a:ext cx="383836" cy="105898"/>
          </a:xfrm>
          <a:prstGeom prst="rect">
            <a:avLst/>
          </a:prstGeom>
          <a:solidFill>
            <a:srgbClr val="12A566"/>
          </a:solidFill>
          <a:ln/>
        </p:spPr>
      </p:sp>
      <p:sp>
        <p:nvSpPr>
          <p:cNvPr id="16" name="Text 14"/>
          <p:cNvSpPr txBox="1"/>
          <p:nvPr/>
        </p:nvSpPr>
        <p:spPr>
          <a:xfrm>
            <a:off x="4709160"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+$320,924</a:t>
            </a:r>
            <a:endParaRPr lang="en-US" sz="1300" dirty="0"/>
          </a:p>
        </p:txBody>
      </p:sp>
      <p:sp>
        <p:nvSpPr>
          <p:cNvPr id="17" name="Text 15"/>
          <p:cNvSpPr txBox="1"/>
          <p:nvPr/>
        </p:nvSpPr>
        <p:spPr>
          <a:xfrm>
            <a:off x="658368"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18" name="Shape 16"/>
          <p:cNvSpPr/>
          <p:nvPr/>
        </p:nvSpPr>
        <p:spPr>
          <a:xfrm>
            <a:off x="3813048" y="2369673"/>
            <a:ext cx="344157" cy="105898"/>
          </a:xfrm>
          <a:prstGeom prst="rect">
            <a:avLst/>
          </a:prstGeom>
          <a:solidFill>
            <a:srgbClr val="12A566"/>
          </a:solidFill>
          <a:ln/>
        </p:spPr>
      </p:sp>
      <p:sp>
        <p:nvSpPr>
          <p:cNvPr id="19" name="Text 17"/>
          <p:cNvSpPr txBox="1"/>
          <p:nvPr/>
        </p:nvSpPr>
        <p:spPr>
          <a:xfrm>
            <a:off x="4709160"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+$287,749</a:t>
            </a:r>
            <a:endParaRPr lang="en-US" sz="1300" dirty="0"/>
          </a:p>
        </p:txBody>
      </p:sp>
      <p:sp>
        <p:nvSpPr>
          <p:cNvPr id="20" name="Text 18"/>
          <p:cNvSpPr txBox="1"/>
          <p:nvPr/>
        </p:nvSpPr>
        <p:spPr>
          <a:xfrm>
            <a:off x="658368"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21" name="Shape 19"/>
          <p:cNvSpPr/>
          <p:nvPr/>
        </p:nvSpPr>
        <p:spPr>
          <a:xfrm>
            <a:off x="3813048" y="2599887"/>
            <a:ext cx="327064" cy="105898"/>
          </a:xfrm>
          <a:prstGeom prst="rect">
            <a:avLst/>
          </a:prstGeom>
          <a:solidFill>
            <a:srgbClr val="12A566"/>
          </a:solidFill>
          <a:ln/>
        </p:spPr>
      </p:sp>
      <p:sp>
        <p:nvSpPr>
          <p:cNvPr id="22" name="Text 20"/>
          <p:cNvSpPr txBox="1"/>
          <p:nvPr/>
        </p:nvSpPr>
        <p:spPr>
          <a:xfrm>
            <a:off x="4709160"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+$273,457</a:t>
            </a:r>
            <a:endParaRPr lang="en-US" sz="1300" dirty="0"/>
          </a:p>
        </p:txBody>
      </p:sp>
      <p:sp>
        <p:nvSpPr>
          <p:cNvPr id="23" name="Text 21"/>
          <p:cNvSpPr txBox="1"/>
          <p:nvPr/>
        </p:nvSpPr>
        <p:spPr>
          <a:xfrm>
            <a:off x="658368"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24" name="Shape 22"/>
          <p:cNvSpPr/>
          <p:nvPr/>
        </p:nvSpPr>
        <p:spPr>
          <a:xfrm>
            <a:off x="3813048" y="2830100"/>
            <a:ext cx="323802" cy="105898"/>
          </a:xfrm>
          <a:prstGeom prst="rect">
            <a:avLst/>
          </a:prstGeom>
          <a:solidFill>
            <a:srgbClr val="12A566"/>
          </a:solidFill>
          <a:ln/>
        </p:spPr>
      </p:sp>
      <p:sp>
        <p:nvSpPr>
          <p:cNvPr id="25" name="Text 23"/>
          <p:cNvSpPr txBox="1"/>
          <p:nvPr/>
        </p:nvSpPr>
        <p:spPr>
          <a:xfrm>
            <a:off x="4709160"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+$270,730</a:t>
            </a:r>
            <a:endParaRPr lang="en-US" sz="1300" dirty="0"/>
          </a:p>
        </p:txBody>
      </p:sp>
      <p:sp>
        <p:nvSpPr>
          <p:cNvPr id="26" name="Text 24"/>
          <p:cNvSpPr txBox="1"/>
          <p:nvPr/>
        </p:nvSpPr>
        <p:spPr>
          <a:xfrm>
            <a:off x="658368"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27" name="Shape 25"/>
          <p:cNvSpPr/>
          <p:nvPr/>
        </p:nvSpPr>
        <p:spPr>
          <a:xfrm>
            <a:off x="3813048" y="3060314"/>
            <a:ext cx="290098" cy="105898"/>
          </a:xfrm>
          <a:prstGeom prst="rect">
            <a:avLst/>
          </a:prstGeom>
          <a:solidFill>
            <a:srgbClr val="12A566"/>
          </a:solidFill>
          <a:ln/>
        </p:spPr>
      </p:sp>
      <p:sp>
        <p:nvSpPr>
          <p:cNvPr id="28" name="Text 26"/>
          <p:cNvSpPr txBox="1"/>
          <p:nvPr/>
        </p:nvSpPr>
        <p:spPr>
          <a:xfrm>
            <a:off x="4709160"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+$242,550</a:t>
            </a:r>
            <a:endParaRPr lang="en-US" sz="1300" dirty="0"/>
          </a:p>
        </p:txBody>
      </p:sp>
      <p:sp>
        <p:nvSpPr>
          <p:cNvPr id="29" name="Text 27"/>
          <p:cNvSpPr txBox="1"/>
          <p:nvPr/>
        </p:nvSpPr>
        <p:spPr>
          <a:xfrm>
            <a:off x="658368"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30" name="Shape 28"/>
          <p:cNvSpPr/>
          <p:nvPr/>
        </p:nvSpPr>
        <p:spPr>
          <a:xfrm>
            <a:off x="3813048" y="3290528"/>
            <a:ext cx="252007" cy="105898"/>
          </a:xfrm>
          <a:prstGeom prst="rect">
            <a:avLst/>
          </a:prstGeom>
          <a:solidFill>
            <a:srgbClr val="12A566"/>
          </a:solidFill>
          <a:ln/>
        </p:spPr>
      </p:sp>
      <p:sp>
        <p:nvSpPr>
          <p:cNvPr id="31" name="Text 29"/>
          <p:cNvSpPr txBox="1"/>
          <p:nvPr/>
        </p:nvSpPr>
        <p:spPr>
          <a:xfrm>
            <a:off x="4709160" y="3228370"/>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+$210,702</a:t>
            </a:r>
            <a:endParaRPr lang="en-US" sz="1300" dirty="0"/>
          </a:p>
        </p:txBody>
      </p:sp>
      <p:sp>
        <p:nvSpPr>
          <p:cNvPr id="32" name="Text 30"/>
          <p:cNvSpPr txBox="1"/>
          <p:nvPr/>
        </p:nvSpPr>
        <p:spPr>
          <a:xfrm>
            <a:off x="658368"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33" name="Shape 31"/>
          <p:cNvSpPr/>
          <p:nvPr/>
        </p:nvSpPr>
        <p:spPr>
          <a:xfrm>
            <a:off x="3813048" y="3520741"/>
            <a:ext cx="189222" cy="105898"/>
          </a:xfrm>
          <a:prstGeom prst="rect">
            <a:avLst/>
          </a:prstGeom>
          <a:solidFill>
            <a:srgbClr val="12A566"/>
          </a:solidFill>
          <a:ln/>
        </p:spPr>
      </p:sp>
      <p:sp>
        <p:nvSpPr>
          <p:cNvPr id="34" name="Text 32"/>
          <p:cNvSpPr txBox="1"/>
          <p:nvPr/>
        </p:nvSpPr>
        <p:spPr>
          <a:xfrm>
            <a:off x="4709160" y="345858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+$158,208</a:t>
            </a:r>
            <a:endParaRPr lang="en-US" sz="1300" dirty="0"/>
          </a:p>
        </p:txBody>
      </p:sp>
      <p:sp>
        <p:nvSpPr>
          <p:cNvPr id="35" name="Text 33"/>
          <p:cNvSpPr txBox="1"/>
          <p:nvPr/>
        </p:nvSpPr>
        <p:spPr>
          <a:xfrm>
            <a:off x="658368"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36" name="Shape 34"/>
          <p:cNvSpPr/>
          <p:nvPr/>
        </p:nvSpPr>
        <p:spPr>
          <a:xfrm>
            <a:off x="3813048" y="3750955"/>
            <a:ext cx="181010" cy="105898"/>
          </a:xfrm>
          <a:prstGeom prst="rect">
            <a:avLst/>
          </a:prstGeom>
          <a:solidFill>
            <a:srgbClr val="12A566"/>
          </a:solidFill>
          <a:ln/>
        </p:spPr>
      </p:sp>
      <p:sp>
        <p:nvSpPr>
          <p:cNvPr id="37" name="Text 35"/>
          <p:cNvSpPr txBox="1"/>
          <p:nvPr/>
        </p:nvSpPr>
        <p:spPr>
          <a:xfrm>
            <a:off x="4709160" y="3688797"/>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+$151,342</a:t>
            </a:r>
            <a:endParaRPr lang="en-US" sz="1300" dirty="0"/>
          </a:p>
        </p:txBody>
      </p:sp>
      <p:sp>
        <p:nvSpPr>
          <p:cNvPr id="38" name="Text 36"/>
          <p:cNvSpPr txBox="1"/>
          <p:nvPr/>
        </p:nvSpPr>
        <p:spPr>
          <a:xfrm>
            <a:off x="658368"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39" name="Shape 37"/>
          <p:cNvSpPr/>
          <p:nvPr/>
        </p:nvSpPr>
        <p:spPr>
          <a:xfrm>
            <a:off x="3813048" y="3981169"/>
            <a:ext cx="148801" cy="105898"/>
          </a:xfrm>
          <a:prstGeom prst="rect">
            <a:avLst/>
          </a:prstGeom>
          <a:solidFill>
            <a:srgbClr val="12A566"/>
          </a:solidFill>
          <a:ln/>
        </p:spPr>
      </p:sp>
      <p:sp>
        <p:nvSpPr>
          <p:cNvPr id="40" name="Text 38"/>
          <p:cNvSpPr txBox="1"/>
          <p:nvPr/>
        </p:nvSpPr>
        <p:spPr>
          <a:xfrm>
            <a:off x="4709160" y="3919011"/>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+$124,412</a:t>
            </a:r>
            <a:endParaRPr lang="en-US" sz="1300" dirty="0"/>
          </a:p>
        </p:txBody>
      </p:sp>
      <p:sp>
        <p:nvSpPr>
          <p:cNvPr id="41" name="Text 39"/>
          <p:cNvSpPr txBox="1"/>
          <p:nvPr/>
        </p:nvSpPr>
        <p:spPr>
          <a:xfrm>
            <a:off x="658368"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42" name="Shape 40"/>
          <p:cNvSpPr/>
          <p:nvPr/>
        </p:nvSpPr>
        <p:spPr>
          <a:xfrm>
            <a:off x="3813048" y="4211382"/>
            <a:ext cx="105802" cy="105898"/>
          </a:xfrm>
          <a:prstGeom prst="rect">
            <a:avLst/>
          </a:prstGeom>
          <a:solidFill>
            <a:srgbClr val="12A566"/>
          </a:solidFill>
          <a:ln/>
        </p:spPr>
      </p:sp>
      <p:sp>
        <p:nvSpPr>
          <p:cNvPr id="43" name="Text 41"/>
          <p:cNvSpPr txBox="1"/>
          <p:nvPr/>
        </p:nvSpPr>
        <p:spPr>
          <a:xfrm>
            <a:off x="4709160" y="414922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+$88,461</a:t>
            </a:r>
            <a:endParaRPr lang="en-US" sz="1300" dirty="0"/>
          </a:p>
        </p:txBody>
      </p:sp>
      <p:sp>
        <p:nvSpPr>
          <p:cNvPr id="44" name="Text 42"/>
          <p:cNvSpPr txBox="1"/>
          <p:nvPr/>
        </p:nvSpPr>
        <p:spPr>
          <a:xfrm>
            <a:off x="658368"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45" name="Shape 43"/>
          <p:cNvSpPr/>
          <p:nvPr/>
        </p:nvSpPr>
        <p:spPr>
          <a:xfrm>
            <a:off x="3813048" y="4441596"/>
            <a:ext cx="71283" cy="105898"/>
          </a:xfrm>
          <a:prstGeom prst="rect">
            <a:avLst/>
          </a:prstGeom>
          <a:solidFill>
            <a:srgbClr val="12A566"/>
          </a:solidFill>
          <a:ln/>
        </p:spPr>
      </p:sp>
      <p:sp>
        <p:nvSpPr>
          <p:cNvPr id="46" name="Text 44"/>
          <p:cNvSpPr txBox="1"/>
          <p:nvPr/>
        </p:nvSpPr>
        <p:spPr>
          <a:xfrm>
            <a:off x="4709160" y="437943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+$59,600</a:t>
            </a:r>
            <a:endParaRPr lang="en-US" sz="1300" dirty="0"/>
          </a:p>
        </p:txBody>
      </p:sp>
      <p:sp>
        <p:nvSpPr>
          <p:cNvPr id="47" name="Text 45"/>
          <p:cNvSpPr txBox="1"/>
          <p:nvPr/>
        </p:nvSpPr>
        <p:spPr>
          <a:xfrm>
            <a:off x="658368"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48" name="Shape 46"/>
          <p:cNvSpPr/>
          <p:nvPr/>
        </p:nvSpPr>
        <p:spPr>
          <a:xfrm>
            <a:off x="3813048" y="4671809"/>
            <a:ext cx="60236" cy="105898"/>
          </a:xfrm>
          <a:prstGeom prst="rect">
            <a:avLst/>
          </a:prstGeom>
          <a:solidFill>
            <a:srgbClr val="12A566"/>
          </a:solidFill>
          <a:ln/>
        </p:spPr>
      </p:sp>
      <p:sp>
        <p:nvSpPr>
          <p:cNvPr id="49" name="Text 47"/>
          <p:cNvSpPr txBox="1"/>
          <p:nvPr/>
        </p:nvSpPr>
        <p:spPr>
          <a:xfrm>
            <a:off x="4709160" y="460965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+$50,363</a:t>
            </a:r>
            <a:endParaRPr lang="en-US" sz="1300" dirty="0"/>
          </a:p>
        </p:txBody>
      </p:sp>
      <p:sp>
        <p:nvSpPr>
          <p:cNvPr id="50" name="Text 48"/>
          <p:cNvSpPr txBox="1"/>
          <p:nvPr/>
        </p:nvSpPr>
        <p:spPr>
          <a:xfrm>
            <a:off x="658368"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51" name="Shape 49"/>
          <p:cNvSpPr/>
          <p:nvPr/>
        </p:nvSpPr>
        <p:spPr>
          <a:xfrm>
            <a:off x="3813048" y="4902023"/>
            <a:ext cx="55982" cy="105898"/>
          </a:xfrm>
          <a:prstGeom prst="rect">
            <a:avLst/>
          </a:prstGeom>
          <a:solidFill>
            <a:srgbClr val="12A566"/>
          </a:solidFill>
          <a:ln/>
        </p:spPr>
      </p:sp>
      <p:sp>
        <p:nvSpPr>
          <p:cNvPr id="52" name="Text 50"/>
          <p:cNvSpPr txBox="1"/>
          <p:nvPr/>
        </p:nvSpPr>
        <p:spPr>
          <a:xfrm>
            <a:off x="4709160" y="483986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+$46,807</a:t>
            </a:r>
            <a:endParaRPr lang="en-US" sz="1300" dirty="0"/>
          </a:p>
        </p:txBody>
      </p:sp>
      <p:sp>
        <p:nvSpPr>
          <p:cNvPr id="53" name="Text 51"/>
          <p:cNvSpPr txBox="1"/>
          <p:nvPr/>
        </p:nvSpPr>
        <p:spPr>
          <a:xfrm>
            <a:off x="658368"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54" name="Shape 52"/>
          <p:cNvSpPr/>
          <p:nvPr/>
        </p:nvSpPr>
        <p:spPr>
          <a:xfrm>
            <a:off x="3813048" y="5132237"/>
            <a:ext cx="39122" cy="105898"/>
          </a:xfrm>
          <a:prstGeom prst="rect">
            <a:avLst/>
          </a:prstGeom>
          <a:solidFill>
            <a:srgbClr val="12A566"/>
          </a:solidFill>
          <a:ln/>
        </p:spPr>
      </p:sp>
      <p:sp>
        <p:nvSpPr>
          <p:cNvPr id="55" name="Text 53"/>
          <p:cNvSpPr txBox="1"/>
          <p:nvPr/>
        </p:nvSpPr>
        <p:spPr>
          <a:xfrm>
            <a:off x="4709160" y="507007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+$32,709</a:t>
            </a:r>
            <a:endParaRPr lang="en-US" sz="1300" dirty="0"/>
          </a:p>
        </p:txBody>
      </p:sp>
      <p:sp>
        <p:nvSpPr>
          <p:cNvPr id="56" name="Text 54"/>
          <p:cNvSpPr txBox="1"/>
          <p:nvPr/>
        </p:nvSpPr>
        <p:spPr>
          <a:xfrm>
            <a:off x="658368"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57" name="Shape 55"/>
          <p:cNvSpPr/>
          <p:nvPr/>
        </p:nvSpPr>
        <p:spPr>
          <a:xfrm>
            <a:off x="3813048" y="5362450"/>
            <a:ext cx="32266" cy="105898"/>
          </a:xfrm>
          <a:prstGeom prst="rect">
            <a:avLst/>
          </a:prstGeom>
          <a:solidFill>
            <a:srgbClr val="12A566"/>
          </a:solidFill>
          <a:ln/>
        </p:spPr>
      </p:sp>
      <p:sp>
        <p:nvSpPr>
          <p:cNvPr id="58" name="Text 56"/>
          <p:cNvSpPr txBox="1"/>
          <p:nvPr/>
        </p:nvSpPr>
        <p:spPr>
          <a:xfrm>
            <a:off x="4709160" y="530029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+$26,978</a:t>
            </a:r>
            <a:endParaRPr lang="en-US" sz="1300" dirty="0"/>
          </a:p>
        </p:txBody>
      </p:sp>
      <p:sp>
        <p:nvSpPr>
          <p:cNvPr id="59" name="Text 57"/>
          <p:cNvSpPr txBox="1"/>
          <p:nvPr/>
        </p:nvSpPr>
        <p:spPr>
          <a:xfrm>
            <a:off x="658368" y="553050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60" name="Shape 58"/>
          <p:cNvSpPr/>
          <p:nvPr/>
        </p:nvSpPr>
        <p:spPr>
          <a:xfrm>
            <a:off x="3813048" y="5592664"/>
            <a:ext cx="22393" cy="105898"/>
          </a:xfrm>
          <a:prstGeom prst="rect">
            <a:avLst/>
          </a:prstGeom>
          <a:solidFill>
            <a:srgbClr val="12A566"/>
          </a:solidFill>
          <a:ln/>
        </p:spPr>
      </p:sp>
      <p:sp>
        <p:nvSpPr>
          <p:cNvPr id="61" name="Text 59"/>
          <p:cNvSpPr txBox="1"/>
          <p:nvPr/>
        </p:nvSpPr>
        <p:spPr>
          <a:xfrm>
            <a:off x="4709160" y="553050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+$18,723</a:t>
            </a:r>
            <a:endParaRPr lang="en-US" sz="1300" dirty="0"/>
          </a:p>
        </p:txBody>
      </p:sp>
      <p:sp>
        <p:nvSpPr>
          <p:cNvPr id="62" name="Text 60"/>
          <p:cNvSpPr txBox="1"/>
          <p:nvPr/>
        </p:nvSpPr>
        <p:spPr>
          <a:xfrm>
            <a:off x="6208776"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63" name="Shape 61"/>
          <p:cNvSpPr/>
          <p:nvPr/>
        </p:nvSpPr>
        <p:spPr>
          <a:xfrm>
            <a:off x="9357576" y="1909246"/>
            <a:ext cx="12802" cy="105898"/>
          </a:xfrm>
          <a:prstGeom prst="rect">
            <a:avLst/>
          </a:prstGeom>
          <a:solidFill>
            <a:srgbClr val="C2352F"/>
          </a:solidFill>
          <a:ln/>
        </p:spPr>
      </p:sp>
      <p:sp>
        <p:nvSpPr>
          <p:cNvPr id="64" name="Text 62"/>
          <p:cNvSpPr txBox="1"/>
          <p:nvPr/>
        </p:nvSpPr>
        <p:spPr>
          <a:xfrm>
            <a:off x="10259568" y="1847088"/>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−$4,916</a:t>
            </a:r>
            <a:endParaRPr lang="en-US" sz="1300" dirty="0"/>
          </a:p>
        </p:txBody>
      </p:sp>
      <p:sp>
        <p:nvSpPr>
          <p:cNvPr id="65" name="Text 63"/>
          <p:cNvSpPr txBox="1"/>
          <p:nvPr/>
        </p:nvSpPr>
        <p:spPr>
          <a:xfrm>
            <a:off x="6208776"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66" name="Shape 64"/>
          <p:cNvSpPr/>
          <p:nvPr/>
        </p:nvSpPr>
        <p:spPr>
          <a:xfrm>
            <a:off x="9349679" y="2139459"/>
            <a:ext cx="13777" cy="105898"/>
          </a:xfrm>
          <a:prstGeom prst="rect">
            <a:avLst/>
          </a:prstGeom>
          <a:solidFill>
            <a:srgbClr val="C2352F"/>
          </a:solidFill>
          <a:ln/>
        </p:spPr>
      </p:sp>
      <p:sp>
        <p:nvSpPr>
          <p:cNvPr id="67" name="Text 65"/>
          <p:cNvSpPr txBox="1"/>
          <p:nvPr/>
        </p:nvSpPr>
        <p:spPr>
          <a:xfrm>
            <a:off x="10259568" y="2077302"/>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−$11,519</a:t>
            </a:r>
            <a:endParaRPr lang="en-US" sz="1300" dirty="0"/>
          </a:p>
        </p:txBody>
      </p:sp>
      <p:sp>
        <p:nvSpPr>
          <p:cNvPr id="68" name="Text 66"/>
          <p:cNvSpPr txBox="1"/>
          <p:nvPr/>
        </p:nvSpPr>
        <p:spPr>
          <a:xfrm>
            <a:off x="6208776"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69" name="Shape 67"/>
          <p:cNvSpPr/>
          <p:nvPr/>
        </p:nvSpPr>
        <p:spPr>
          <a:xfrm>
            <a:off x="9330194" y="2369673"/>
            <a:ext cx="33262" cy="105898"/>
          </a:xfrm>
          <a:prstGeom prst="rect">
            <a:avLst/>
          </a:prstGeom>
          <a:solidFill>
            <a:srgbClr val="C2352F"/>
          </a:solidFill>
          <a:ln/>
        </p:spPr>
      </p:sp>
      <p:sp>
        <p:nvSpPr>
          <p:cNvPr id="70" name="Text 68"/>
          <p:cNvSpPr txBox="1"/>
          <p:nvPr/>
        </p:nvSpPr>
        <p:spPr>
          <a:xfrm>
            <a:off x="10259568" y="2307515"/>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−$27,810</a:t>
            </a:r>
            <a:endParaRPr lang="en-US" sz="1300" dirty="0"/>
          </a:p>
        </p:txBody>
      </p:sp>
      <p:sp>
        <p:nvSpPr>
          <p:cNvPr id="71" name="Text 69"/>
          <p:cNvSpPr txBox="1"/>
          <p:nvPr/>
        </p:nvSpPr>
        <p:spPr>
          <a:xfrm>
            <a:off x="6208776"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72" name="Shape 70"/>
          <p:cNvSpPr/>
          <p:nvPr/>
        </p:nvSpPr>
        <p:spPr>
          <a:xfrm>
            <a:off x="9323739" y="2599887"/>
            <a:ext cx="39717" cy="105898"/>
          </a:xfrm>
          <a:prstGeom prst="rect">
            <a:avLst/>
          </a:prstGeom>
          <a:solidFill>
            <a:srgbClr val="C2352F"/>
          </a:solidFill>
          <a:ln/>
        </p:spPr>
      </p:sp>
      <p:sp>
        <p:nvSpPr>
          <p:cNvPr id="73" name="Text 71"/>
          <p:cNvSpPr txBox="1"/>
          <p:nvPr/>
        </p:nvSpPr>
        <p:spPr>
          <a:xfrm>
            <a:off x="10259568" y="2537729"/>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−$33,207</a:t>
            </a:r>
            <a:endParaRPr lang="en-US" sz="1300" dirty="0"/>
          </a:p>
        </p:txBody>
      </p:sp>
      <p:sp>
        <p:nvSpPr>
          <p:cNvPr id="74" name="Text 72"/>
          <p:cNvSpPr txBox="1"/>
          <p:nvPr/>
        </p:nvSpPr>
        <p:spPr>
          <a:xfrm>
            <a:off x="6208776"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75" name="Shape 73"/>
          <p:cNvSpPr/>
          <p:nvPr/>
        </p:nvSpPr>
        <p:spPr>
          <a:xfrm>
            <a:off x="9313048" y="2830100"/>
            <a:ext cx="50408" cy="105898"/>
          </a:xfrm>
          <a:prstGeom prst="rect">
            <a:avLst/>
          </a:prstGeom>
          <a:solidFill>
            <a:srgbClr val="C2352F"/>
          </a:solidFill>
          <a:ln/>
        </p:spPr>
      </p:sp>
      <p:sp>
        <p:nvSpPr>
          <p:cNvPr id="76" name="Text 74"/>
          <p:cNvSpPr txBox="1"/>
          <p:nvPr/>
        </p:nvSpPr>
        <p:spPr>
          <a:xfrm>
            <a:off x="10259568" y="276794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−$42,146</a:t>
            </a:r>
            <a:endParaRPr lang="en-US" sz="1300" dirty="0"/>
          </a:p>
        </p:txBody>
      </p:sp>
      <p:sp>
        <p:nvSpPr>
          <p:cNvPr id="77" name="Text 75"/>
          <p:cNvSpPr txBox="1"/>
          <p:nvPr/>
        </p:nvSpPr>
        <p:spPr>
          <a:xfrm>
            <a:off x="6208776"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78" name="Shape 76"/>
          <p:cNvSpPr/>
          <p:nvPr/>
        </p:nvSpPr>
        <p:spPr>
          <a:xfrm>
            <a:off x="9303603" y="3060314"/>
            <a:ext cx="59853" cy="105898"/>
          </a:xfrm>
          <a:prstGeom prst="rect">
            <a:avLst/>
          </a:prstGeom>
          <a:solidFill>
            <a:srgbClr val="C2352F"/>
          </a:solidFill>
          <a:ln/>
        </p:spPr>
      </p:sp>
      <p:sp>
        <p:nvSpPr>
          <p:cNvPr id="79" name="Text 77"/>
          <p:cNvSpPr txBox="1"/>
          <p:nvPr/>
        </p:nvSpPr>
        <p:spPr>
          <a:xfrm>
            <a:off x="10259568" y="2998156"/>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−$50,043</a:t>
            </a:r>
            <a:endParaRPr lang="en-US" sz="1300" dirty="0"/>
          </a:p>
        </p:txBody>
      </p:sp>
      <p:sp>
        <p:nvSpPr>
          <p:cNvPr id="80" name="Text 78"/>
          <p:cNvSpPr txBox="1"/>
          <p:nvPr/>
        </p:nvSpPr>
        <p:spPr>
          <a:xfrm>
            <a:off x="6208776"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81" name="Shape 79"/>
          <p:cNvSpPr/>
          <p:nvPr/>
        </p:nvSpPr>
        <p:spPr>
          <a:xfrm>
            <a:off x="9294991" y="3290528"/>
            <a:ext cx="68465" cy="105898"/>
          </a:xfrm>
          <a:prstGeom prst="rect">
            <a:avLst/>
          </a:prstGeom>
          <a:solidFill>
            <a:srgbClr val="C2352F"/>
          </a:solidFill>
          <a:ln/>
        </p:spPr>
      </p:sp>
      <p:sp>
        <p:nvSpPr>
          <p:cNvPr id="82" name="Text 80"/>
          <p:cNvSpPr txBox="1"/>
          <p:nvPr/>
        </p:nvSpPr>
        <p:spPr>
          <a:xfrm>
            <a:off x="10259568" y="3228370"/>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−$57,243</a:t>
            </a:r>
            <a:endParaRPr lang="en-US" sz="1300" dirty="0"/>
          </a:p>
        </p:txBody>
      </p:sp>
      <p:sp>
        <p:nvSpPr>
          <p:cNvPr id="83" name="Text 81"/>
          <p:cNvSpPr txBox="1"/>
          <p:nvPr/>
        </p:nvSpPr>
        <p:spPr>
          <a:xfrm>
            <a:off x="6208776"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84" name="Shape 82"/>
          <p:cNvSpPr/>
          <p:nvPr/>
        </p:nvSpPr>
        <p:spPr>
          <a:xfrm>
            <a:off x="9291035" y="3520741"/>
            <a:ext cx="72421" cy="105898"/>
          </a:xfrm>
          <a:prstGeom prst="rect">
            <a:avLst/>
          </a:prstGeom>
          <a:solidFill>
            <a:srgbClr val="C2352F"/>
          </a:solidFill>
          <a:ln/>
        </p:spPr>
      </p:sp>
      <p:sp>
        <p:nvSpPr>
          <p:cNvPr id="85" name="Text 83"/>
          <p:cNvSpPr txBox="1"/>
          <p:nvPr/>
        </p:nvSpPr>
        <p:spPr>
          <a:xfrm>
            <a:off x="10259568" y="345858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−$60,551</a:t>
            </a:r>
            <a:endParaRPr lang="en-US" sz="1300" dirty="0"/>
          </a:p>
        </p:txBody>
      </p:sp>
      <p:sp>
        <p:nvSpPr>
          <p:cNvPr id="86" name="Text 84"/>
          <p:cNvSpPr txBox="1"/>
          <p:nvPr/>
        </p:nvSpPr>
        <p:spPr>
          <a:xfrm>
            <a:off x="6208776"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87" name="Shape 85"/>
          <p:cNvSpPr/>
          <p:nvPr/>
        </p:nvSpPr>
        <p:spPr>
          <a:xfrm>
            <a:off x="9269131" y="3750955"/>
            <a:ext cx="94325" cy="105898"/>
          </a:xfrm>
          <a:prstGeom prst="rect">
            <a:avLst/>
          </a:prstGeom>
          <a:solidFill>
            <a:srgbClr val="C2352F"/>
          </a:solidFill>
          <a:ln/>
        </p:spPr>
      </p:sp>
      <p:sp>
        <p:nvSpPr>
          <p:cNvPr id="88" name="Text 86"/>
          <p:cNvSpPr txBox="1"/>
          <p:nvPr/>
        </p:nvSpPr>
        <p:spPr>
          <a:xfrm>
            <a:off x="10259568" y="3688797"/>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−$78,865</a:t>
            </a:r>
            <a:endParaRPr lang="en-US" sz="1300" dirty="0"/>
          </a:p>
        </p:txBody>
      </p:sp>
      <p:sp>
        <p:nvSpPr>
          <p:cNvPr id="89" name="Text 87"/>
          <p:cNvSpPr txBox="1"/>
          <p:nvPr/>
        </p:nvSpPr>
        <p:spPr>
          <a:xfrm>
            <a:off x="6208776"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90" name="Shape 88"/>
          <p:cNvSpPr/>
          <p:nvPr/>
        </p:nvSpPr>
        <p:spPr>
          <a:xfrm>
            <a:off x="9189703" y="3981169"/>
            <a:ext cx="173753" cy="105898"/>
          </a:xfrm>
          <a:prstGeom prst="rect">
            <a:avLst/>
          </a:prstGeom>
          <a:solidFill>
            <a:srgbClr val="C2352F"/>
          </a:solidFill>
          <a:ln/>
        </p:spPr>
      </p:sp>
      <p:sp>
        <p:nvSpPr>
          <p:cNvPr id="91" name="Text 89"/>
          <p:cNvSpPr txBox="1"/>
          <p:nvPr/>
        </p:nvSpPr>
        <p:spPr>
          <a:xfrm>
            <a:off x="10259568" y="3919011"/>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−$145,275</a:t>
            </a:r>
            <a:endParaRPr lang="en-US" sz="1300" dirty="0"/>
          </a:p>
        </p:txBody>
      </p:sp>
      <p:sp>
        <p:nvSpPr>
          <p:cNvPr id="92" name="Text 90"/>
          <p:cNvSpPr txBox="1"/>
          <p:nvPr/>
        </p:nvSpPr>
        <p:spPr>
          <a:xfrm>
            <a:off x="6208776"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93" name="Shape 91"/>
          <p:cNvSpPr/>
          <p:nvPr/>
        </p:nvSpPr>
        <p:spPr>
          <a:xfrm>
            <a:off x="9188943" y="4211382"/>
            <a:ext cx="174513" cy="105898"/>
          </a:xfrm>
          <a:prstGeom prst="rect">
            <a:avLst/>
          </a:prstGeom>
          <a:solidFill>
            <a:srgbClr val="C2352F"/>
          </a:solidFill>
          <a:ln/>
        </p:spPr>
      </p:sp>
      <p:sp>
        <p:nvSpPr>
          <p:cNvPr id="94" name="Text 92"/>
          <p:cNvSpPr txBox="1"/>
          <p:nvPr/>
        </p:nvSpPr>
        <p:spPr>
          <a:xfrm>
            <a:off x="10259568" y="414922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−$145,910</a:t>
            </a:r>
            <a:endParaRPr lang="en-US" sz="1300" dirty="0"/>
          </a:p>
        </p:txBody>
      </p:sp>
      <p:sp>
        <p:nvSpPr>
          <p:cNvPr id="95" name="Text 93"/>
          <p:cNvSpPr txBox="1"/>
          <p:nvPr/>
        </p:nvSpPr>
        <p:spPr>
          <a:xfrm>
            <a:off x="6208776"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96" name="Shape 94"/>
          <p:cNvSpPr/>
          <p:nvPr/>
        </p:nvSpPr>
        <p:spPr>
          <a:xfrm>
            <a:off x="9163508" y="4441596"/>
            <a:ext cx="199948" cy="105898"/>
          </a:xfrm>
          <a:prstGeom prst="rect">
            <a:avLst/>
          </a:prstGeom>
          <a:solidFill>
            <a:srgbClr val="C2352F"/>
          </a:solidFill>
          <a:ln/>
        </p:spPr>
      </p:sp>
      <p:sp>
        <p:nvSpPr>
          <p:cNvPr id="97" name="Text 95"/>
          <p:cNvSpPr txBox="1"/>
          <p:nvPr/>
        </p:nvSpPr>
        <p:spPr>
          <a:xfrm>
            <a:off x="10259568" y="4379438"/>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−$167,176</a:t>
            </a:r>
            <a:endParaRPr lang="en-US" sz="1300" dirty="0"/>
          </a:p>
        </p:txBody>
      </p:sp>
      <p:sp>
        <p:nvSpPr>
          <p:cNvPr id="98" name="Text 96"/>
          <p:cNvSpPr txBox="1"/>
          <p:nvPr/>
        </p:nvSpPr>
        <p:spPr>
          <a:xfrm>
            <a:off x="6208776"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99" name="Shape 97"/>
          <p:cNvSpPr/>
          <p:nvPr/>
        </p:nvSpPr>
        <p:spPr>
          <a:xfrm>
            <a:off x="9107526" y="4671809"/>
            <a:ext cx="255930" cy="105898"/>
          </a:xfrm>
          <a:prstGeom prst="rect">
            <a:avLst/>
          </a:prstGeom>
          <a:solidFill>
            <a:srgbClr val="C2352F"/>
          </a:solidFill>
          <a:ln/>
        </p:spPr>
      </p:sp>
      <p:sp>
        <p:nvSpPr>
          <p:cNvPr id="100" name="Text 98"/>
          <p:cNvSpPr txBox="1"/>
          <p:nvPr/>
        </p:nvSpPr>
        <p:spPr>
          <a:xfrm>
            <a:off x="10259568" y="4609652"/>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−$213,982</a:t>
            </a:r>
            <a:endParaRPr lang="en-US" sz="1300" dirty="0"/>
          </a:p>
        </p:txBody>
      </p:sp>
      <p:sp>
        <p:nvSpPr>
          <p:cNvPr id="101" name="Text 99"/>
          <p:cNvSpPr txBox="1"/>
          <p:nvPr/>
        </p:nvSpPr>
        <p:spPr>
          <a:xfrm>
            <a:off x="6208776"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102" name="Shape 100"/>
          <p:cNvSpPr/>
          <p:nvPr/>
        </p:nvSpPr>
        <p:spPr>
          <a:xfrm>
            <a:off x="9092223" y="4902023"/>
            <a:ext cx="271233" cy="105898"/>
          </a:xfrm>
          <a:prstGeom prst="rect">
            <a:avLst/>
          </a:prstGeom>
          <a:solidFill>
            <a:srgbClr val="C2352F"/>
          </a:solidFill>
          <a:ln/>
        </p:spPr>
      </p:sp>
      <p:sp>
        <p:nvSpPr>
          <p:cNvPr id="103" name="Text 101"/>
          <p:cNvSpPr txBox="1"/>
          <p:nvPr/>
        </p:nvSpPr>
        <p:spPr>
          <a:xfrm>
            <a:off x="10259568" y="4839865"/>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−$226,777</a:t>
            </a:r>
            <a:endParaRPr lang="en-US" sz="1300" dirty="0"/>
          </a:p>
        </p:txBody>
      </p:sp>
      <p:sp>
        <p:nvSpPr>
          <p:cNvPr id="104" name="Text 102"/>
          <p:cNvSpPr txBox="1"/>
          <p:nvPr/>
        </p:nvSpPr>
        <p:spPr>
          <a:xfrm>
            <a:off x="6208776"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105" name="Shape 103"/>
          <p:cNvSpPr/>
          <p:nvPr/>
        </p:nvSpPr>
        <p:spPr>
          <a:xfrm>
            <a:off x="9019877" y="5132237"/>
            <a:ext cx="343579" cy="105898"/>
          </a:xfrm>
          <a:prstGeom prst="rect">
            <a:avLst/>
          </a:prstGeom>
          <a:solidFill>
            <a:srgbClr val="C2352F"/>
          </a:solidFill>
          <a:ln/>
        </p:spPr>
      </p:sp>
      <p:sp>
        <p:nvSpPr>
          <p:cNvPr id="106" name="Text 104"/>
          <p:cNvSpPr txBox="1"/>
          <p:nvPr/>
        </p:nvSpPr>
        <p:spPr>
          <a:xfrm>
            <a:off x="10259568" y="5070079"/>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−$287,265</a:t>
            </a:r>
            <a:endParaRPr lang="en-US" sz="1300" dirty="0"/>
          </a:p>
        </p:txBody>
      </p:sp>
      <p:sp>
        <p:nvSpPr>
          <p:cNvPr id="107" name="Text 105"/>
          <p:cNvSpPr txBox="1"/>
          <p:nvPr/>
        </p:nvSpPr>
        <p:spPr>
          <a:xfrm>
            <a:off x="6208776"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108" name="Shape 106"/>
          <p:cNvSpPr/>
          <p:nvPr/>
        </p:nvSpPr>
        <p:spPr>
          <a:xfrm>
            <a:off x="8971254" y="5362450"/>
            <a:ext cx="392202" cy="105898"/>
          </a:xfrm>
          <a:prstGeom prst="rect">
            <a:avLst/>
          </a:prstGeom>
          <a:solidFill>
            <a:srgbClr val="C2352F"/>
          </a:solidFill>
          <a:ln/>
        </p:spPr>
      </p:sp>
      <p:sp>
        <p:nvSpPr>
          <p:cNvPr id="109" name="Text 107"/>
          <p:cNvSpPr txBox="1"/>
          <p:nvPr/>
        </p:nvSpPr>
        <p:spPr>
          <a:xfrm>
            <a:off x="10259568" y="530029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−$327,919</a:t>
            </a:r>
            <a:endParaRPr lang="en-US" sz="1300" dirty="0"/>
          </a:p>
        </p:txBody>
      </p:sp>
      <p:sp>
        <p:nvSpPr>
          <p:cNvPr id="110" name="Shape 108"/>
          <p:cNvSpPr/>
          <p:nvPr/>
        </p:nvSpPr>
        <p:spPr>
          <a:xfrm>
            <a:off x="3807562" y="1847088"/>
            <a:ext cx="10973" cy="3913632"/>
          </a:xfrm>
          <a:prstGeom prst="rect">
            <a:avLst/>
          </a:prstGeom>
          <a:solidFill>
            <a:srgbClr val="9AA3AD"/>
          </a:solidFill>
          <a:ln/>
        </p:spPr>
      </p:sp>
      <p:sp>
        <p:nvSpPr>
          <p:cNvPr id="111" name="Shape 109"/>
          <p:cNvSpPr/>
          <p:nvPr/>
        </p:nvSpPr>
        <p:spPr>
          <a:xfrm>
            <a:off x="9357970" y="1847088"/>
            <a:ext cx="10973" cy="3913632"/>
          </a:xfrm>
          <a:prstGeom prst="rect">
            <a:avLst/>
          </a:prstGeom>
          <a:solidFill>
            <a:srgbClr val="9AA3AD"/>
          </a:solidFill>
          <a:ln/>
        </p:spPr>
      </p:sp>
      <p:sp>
        <p:nvSpPr>
          <p:cNvPr id="112" name="Shape 110"/>
          <p:cNvSpPr/>
          <p:nvPr/>
        </p:nvSpPr>
        <p:spPr>
          <a:xfrm>
            <a:off x="457200" y="5961888"/>
            <a:ext cx="11274552" cy="548640"/>
          </a:xfrm>
          <a:prstGeom prst="rect">
            <a:avLst/>
          </a:prstGeom>
          <a:solidFill>
            <a:srgbClr val="E6F6EE"/>
          </a:solidFill>
          <a:ln/>
        </p:spPr>
      </p:sp>
      <p:sp>
        <p:nvSpPr>
          <p:cNvPr id="113" name="Text 111"/>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17 of 33 stores grew, led by CADILLAC at +$688,074; 16 declined, AUDI RENO most at −$327,919.</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13232" y="2377440"/>
            <a:ext cx="9144000" cy="365760"/>
          </a:xfrm>
          <a:prstGeom prst="rect">
            <a:avLst/>
          </a:prstGeom>
          <a:noFill/>
          <a:ln/>
        </p:spPr>
        <p:txBody>
          <a:bodyPr wrap="square" lIns="0" tIns="0" rIns="0" bIns="0" rtlCol="0" anchor="ctr"/>
          <a:lstStyle/>
          <a:p>
            <a:pPr indent="0" marL="0">
              <a:buNone/>
            </a:pPr>
            <a:r>
              <a:rPr lang="en-US" sz="2000" b="1" spc="260" kern="0" dirty="0">
                <a:solidFill>
                  <a:srgbClr val="2587C5"/>
                </a:solidFill>
                <a:latin typeface="Inter" pitchFamily="34" charset="0"/>
                <a:ea typeface="Inter" pitchFamily="34" charset="-122"/>
                <a:cs typeface="Inter" pitchFamily="34" charset="-120"/>
              </a:rPr>
              <a:t>FIXED OPS</a:t>
            </a:r>
            <a:endParaRPr lang="en-US" sz="2000" dirty="0"/>
          </a:p>
        </p:txBody>
      </p:sp>
      <p:sp>
        <p:nvSpPr>
          <p:cNvPr id="3" name="Text 1"/>
          <p:cNvSpPr txBox="1"/>
          <p:nvPr/>
        </p:nvSpPr>
        <p:spPr>
          <a:xfrm>
            <a:off x="667512" y="2743200"/>
            <a:ext cx="10789920" cy="1234440"/>
          </a:xfrm>
          <a:prstGeom prst="rect">
            <a:avLst/>
          </a:prstGeom>
          <a:noFill/>
          <a:ln/>
        </p:spPr>
        <p:txBody>
          <a:bodyPr wrap="square" lIns="0" tIns="0" rIns="0" bIns="0" rtlCol="0" anchor="ctr"/>
          <a:lstStyle/>
          <a:p>
            <a:pPr indent="0" marL="0">
              <a:buNone/>
            </a:pPr>
            <a:r>
              <a:rPr lang="en-US" sz="8200" b="1" dirty="0">
                <a:solidFill>
                  <a:srgbClr val="1A1A1A"/>
                </a:solidFill>
                <a:latin typeface="Inter" pitchFamily="34" charset="0"/>
                <a:ea typeface="Inter" pitchFamily="34" charset="-122"/>
                <a:cs typeface="Inter" pitchFamily="34" charset="-120"/>
              </a:rPr>
              <a:t>Profitability</a:t>
            </a:r>
            <a:endParaRPr lang="en-US" sz="8200" dirty="0"/>
          </a:p>
        </p:txBody>
      </p:sp>
      <p:sp>
        <p:nvSpPr>
          <p:cNvPr id="4" name="Text 2"/>
          <p:cNvSpPr txBox="1"/>
          <p:nvPr/>
        </p:nvSpPr>
        <p:spPr>
          <a:xfrm>
            <a:off x="694944" y="4041648"/>
            <a:ext cx="10789920" cy="411480"/>
          </a:xfrm>
          <a:prstGeom prst="rect">
            <a:avLst/>
          </a:prstGeom>
          <a:noFill/>
          <a:ln/>
        </p:spPr>
        <p:txBody>
          <a:bodyPr wrap="square" lIns="0" tIns="0" rIns="0" bIns="0" rtlCol="0" anchor="ctr"/>
          <a:lstStyle/>
          <a:p>
            <a:pPr indent="0" marL="0">
              <a:buNone/>
            </a:pPr>
            <a:r>
              <a:rPr lang="en-US" sz="2200" dirty="0">
                <a:solidFill>
                  <a:srgbClr val="595959"/>
                </a:solidFill>
                <a:latin typeface="Inter" pitchFamily="34" charset="0"/>
                <a:ea typeface="Inter" pitchFamily="34" charset="-122"/>
                <a:cs typeface="Inter" pitchFamily="34" charset="-120"/>
              </a:rPr>
              <a:t>Absorption   ·   Service net to gross   ·   Parts net to gross</a:t>
            </a:r>
            <a:endParaRPr lang="en-US" sz="2200" dirty="0"/>
          </a:p>
        </p:txBody>
      </p:sp>
      <p:sp>
        <p:nvSpPr>
          <p:cNvPr id="5" name="Shape 3"/>
          <p:cNvSpPr/>
          <p:nvPr/>
        </p:nvSpPr>
        <p:spPr>
          <a:xfrm>
            <a:off x="685800" y="5257800"/>
            <a:ext cx="1340249" cy="45720"/>
          </a:xfrm>
          <a:prstGeom prst="rect">
            <a:avLst/>
          </a:prstGeom>
          <a:solidFill>
            <a:srgbClr val="5B9BD5"/>
          </a:solidFill>
          <a:ln/>
        </p:spPr>
      </p:sp>
      <p:sp>
        <p:nvSpPr>
          <p:cNvPr id="6" name="Text 4"/>
          <p:cNvSpPr txBox="1"/>
          <p:nvPr/>
        </p:nvSpPr>
        <p:spPr>
          <a:xfrm>
            <a:off x="685800"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Gross</a:t>
            </a:r>
            <a:endParaRPr lang="en-US" sz="1550" dirty="0"/>
          </a:p>
        </p:txBody>
      </p:sp>
      <p:sp>
        <p:nvSpPr>
          <p:cNvPr id="7" name="Shape 5"/>
          <p:cNvSpPr/>
          <p:nvPr/>
        </p:nvSpPr>
        <p:spPr>
          <a:xfrm>
            <a:off x="2227217" y="5257800"/>
            <a:ext cx="1340249" cy="91440"/>
          </a:xfrm>
          <a:prstGeom prst="rect">
            <a:avLst/>
          </a:prstGeom>
          <a:solidFill>
            <a:srgbClr val="2587C5"/>
          </a:solidFill>
          <a:ln/>
        </p:spPr>
      </p:sp>
      <p:sp>
        <p:nvSpPr>
          <p:cNvPr id="8" name="Text 6"/>
          <p:cNvSpPr txBox="1"/>
          <p:nvPr/>
        </p:nvSpPr>
        <p:spPr>
          <a:xfrm>
            <a:off x="2227217" y="5440680"/>
            <a:ext cx="1340249" cy="365760"/>
          </a:xfrm>
          <a:prstGeom prst="rect">
            <a:avLst/>
          </a:prstGeom>
          <a:noFill/>
          <a:ln/>
        </p:spPr>
        <p:txBody>
          <a:bodyPr wrap="square" lIns="0" tIns="0" rIns="0" bIns="0" rtlCol="0" anchor="ctr"/>
          <a:lstStyle/>
          <a:p>
            <a:pPr indent="0" marL="0">
              <a:buNone/>
            </a:pPr>
            <a:r>
              <a:rPr lang="en-US" sz="1550" b="1" dirty="0">
                <a:solidFill>
                  <a:srgbClr val="1A1A1A"/>
                </a:solidFill>
                <a:latin typeface="Inter" pitchFamily="34" charset="0"/>
                <a:ea typeface="Inter" pitchFamily="34" charset="-122"/>
                <a:cs typeface="Inter" pitchFamily="34" charset="-120"/>
              </a:rPr>
              <a:t>Profitability</a:t>
            </a:r>
            <a:endParaRPr lang="en-US" sz="1550" dirty="0"/>
          </a:p>
        </p:txBody>
      </p:sp>
      <p:sp>
        <p:nvSpPr>
          <p:cNvPr id="9" name="Shape 7"/>
          <p:cNvSpPr/>
          <p:nvPr/>
        </p:nvSpPr>
        <p:spPr>
          <a:xfrm>
            <a:off x="3768634" y="5257800"/>
            <a:ext cx="1340249" cy="45720"/>
          </a:xfrm>
          <a:prstGeom prst="rect">
            <a:avLst/>
          </a:prstGeom>
          <a:solidFill>
            <a:srgbClr val="D9D9D9"/>
          </a:solidFill>
          <a:ln/>
        </p:spPr>
      </p:sp>
      <p:sp>
        <p:nvSpPr>
          <p:cNvPr id="10" name="Text 8"/>
          <p:cNvSpPr txBox="1"/>
          <p:nvPr/>
        </p:nvSpPr>
        <p:spPr>
          <a:xfrm>
            <a:off x="3768634"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CP Engine</a:t>
            </a:r>
            <a:endParaRPr lang="en-US" sz="1550" dirty="0"/>
          </a:p>
        </p:txBody>
      </p:sp>
      <p:sp>
        <p:nvSpPr>
          <p:cNvPr id="11" name="Shape 9"/>
          <p:cNvSpPr/>
          <p:nvPr/>
        </p:nvSpPr>
        <p:spPr>
          <a:xfrm>
            <a:off x="5310051" y="5257800"/>
            <a:ext cx="1340249" cy="45720"/>
          </a:xfrm>
          <a:prstGeom prst="rect">
            <a:avLst/>
          </a:prstGeom>
          <a:solidFill>
            <a:srgbClr val="D9D9D9"/>
          </a:solidFill>
          <a:ln/>
        </p:spPr>
      </p:sp>
      <p:sp>
        <p:nvSpPr>
          <p:cNvPr id="12" name="Text 10"/>
          <p:cNvSpPr txBox="1"/>
          <p:nvPr/>
        </p:nvSpPr>
        <p:spPr>
          <a:xfrm>
            <a:off x="5310051"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Labor Mix</a:t>
            </a:r>
            <a:endParaRPr lang="en-US" sz="1550" dirty="0"/>
          </a:p>
        </p:txBody>
      </p:sp>
      <p:sp>
        <p:nvSpPr>
          <p:cNvPr id="13" name="Shape 11"/>
          <p:cNvSpPr/>
          <p:nvPr/>
        </p:nvSpPr>
        <p:spPr>
          <a:xfrm>
            <a:off x="6851469" y="5257800"/>
            <a:ext cx="1340249" cy="45720"/>
          </a:xfrm>
          <a:prstGeom prst="rect">
            <a:avLst/>
          </a:prstGeom>
          <a:solidFill>
            <a:srgbClr val="D9D9D9"/>
          </a:solidFill>
          <a:ln/>
        </p:spPr>
      </p:sp>
      <p:sp>
        <p:nvSpPr>
          <p:cNvPr id="14" name="Text 12"/>
          <p:cNvSpPr txBox="1"/>
          <p:nvPr/>
        </p:nvSpPr>
        <p:spPr>
          <a:xfrm>
            <a:off x="6851469"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Opcodes</a:t>
            </a:r>
            <a:endParaRPr lang="en-US" sz="1550" dirty="0"/>
          </a:p>
        </p:txBody>
      </p:sp>
      <p:sp>
        <p:nvSpPr>
          <p:cNvPr id="15" name="Shape 13"/>
          <p:cNvSpPr/>
          <p:nvPr/>
        </p:nvSpPr>
        <p:spPr>
          <a:xfrm>
            <a:off x="8392886" y="5257800"/>
            <a:ext cx="1340249" cy="45720"/>
          </a:xfrm>
          <a:prstGeom prst="rect">
            <a:avLst/>
          </a:prstGeom>
          <a:solidFill>
            <a:srgbClr val="D9D9D9"/>
          </a:solidFill>
          <a:ln/>
        </p:spPr>
      </p:sp>
      <p:sp>
        <p:nvSpPr>
          <p:cNvPr id="16" name="Text 14"/>
          <p:cNvSpPr txBox="1"/>
          <p:nvPr/>
        </p:nvSpPr>
        <p:spPr>
          <a:xfrm>
            <a:off x="8392886"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Warranty</a:t>
            </a:r>
            <a:endParaRPr lang="en-US" sz="1550" dirty="0"/>
          </a:p>
        </p:txBody>
      </p:sp>
      <p:sp>
        <p:nvSpPr>
          <p:cNvPr id="17" name="Shape 15"/>
          <p:cNvSpPr/>
          <p:nvPr/>
        </p:nvSpPr>
        <p:spPr>
          <a:xfrm>
            <a:off x="9934303" y="5257800"/>
            <a:ext cx="1340249" cy="45720"/>
          </a:xfrm>
          <a:prstGeom prst="rect">
            <a:avLst/>
          </a:prstGeom>
          <a:solidFill>
            <a:srgbClr val="D9D9D9"/>
          </a:solidFill>
          <a:ln/>
        </p:spPr>
      </p:sp>
      <p:sp>
        <p:nvSpPr>
          <p:cNvPr id="18" name="Text 16"/>
          <p:cNvSpPr txBox="1"/>
          <p:nvPr/>
        </p:nvSpPr>
        <p:spPr>
          <a:xfrm>
            <a:off x="9934303"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Productivity</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Fixed Ops Absorption %</a:t>
            </a:r>
            <a:endParaRPr lang="en-US" sz="2800" dirty="0"/>
          </a:p>
        </p:txBody>
      </p:sp>
      <p:sp>
        <p:nvSpPr>
          <p:cNvPr id="5" name="Shape 3"/>
          <p:cNvSpPr/>
          <p:nvPr/>
        </p:nvSpPr>
        <p:spPr>
          <a:xfrm>
            <a:off x="457200" y="1207008"/>
            <a:ext cx="11274552" cy="1517904"/>
          </a:xfrm>
          <a:prstGeom prst="rect">
            <a:avLst/>
          </a:prstGeom>
          <a:solidFill>
            <a:srgbClr val="FFFFFF"/>
          </a:solidFill>
          <a:ln/>
        </p:spPr>
      </p:sp>
      <p:sp>
        <p:nvSpPr>
          <p:cNvPr id="6" name="Text 4"/>
          <p:cNvSpPr txBox="1"/>
          <p:nvPr/>
        </p:nvSpPr>
        <p:spPr>
          <a:xfrm>
            <a:off x="685800" y="1316736"/>
            <a:ext cx="10789920" cy="274320"/>
          </a:xfrm>
          <a:prstGeom prst="rect">
            <a:avLst/>
          </a:prstGeom>
          <a:noFill/>
          <a:ln/>
        </p:spPr>
        <p:txBody>
          <a:bodyPr wrap="square" lIns="0" tIns="0" rIns="0" bIns="0" rtlCol="0" anchor="ctr"/>
          <a:lstStyle/>
          <a:p>
            <a:pPr indent="0" marL="0">
              <a:buNone/>
            </a:pPr>
            <a:r>
              <a:rPr lang="en-US" sz="1400" spc="100" kern="0" dirty="0">
                <a:solidFill>
                  <a:srgbClr val="595959"/>
                </a:solidFill>
                <a:latin typeface="Inter" pitchFamily="34" charset="0"/>
                <a:ea typeface="Inter" pitchFamily="34" charset="-122"/>
                <a:cs typeface="Inter" pitchFamily="34" charset="-120"/>
              </a:rPr>
              <a:t>GROUP · JANUARY–SEPTEMBER · SAME-STORE, 33 STORES</a:t>
            </a:r>
            <a:endParaRPr lang="en-US" sz="1400" dirty="0"/>
          </a:p>
        </p:txBody>
      </p:sp>
      <p:sp>
        <p:nvSpPr>
          <p:cNvPr id="7" name="Text 5"/>
          <p:cNvSpPr txBox="1"/>
          <p:nvPr/>
        </p:nvSpPr>
        <p:spPr>
          <a:xfrm>
            <a:off x="68580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a:t>
            </a:r>
            <a:endParaRPr lang="en-US" sz="1400" dirty="0"/>
          </a:p>
        </p:txBody>
      </p:sp>
      <p:sp>
        <p:nvSpPr>
          <p:cNvPr id="8" name="Text 6"/>
          <p:cNvSpPr txBox="1"/>
          <p:nvPr/>
        </p:nvSpPr>
        <p:spPr>
          <a:xfrm>
            <a:off x="68580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76.0%</a:t>
            </a:r>
            <a:endParaRPr lang="en-US" sz="3000" dirty="0"/>
          </a:p>
        </p:txBody>
      </p:sp>
      <p:sp>
        <p:nvSpPr>
          <p:cNvPr id="9" name="Text 7"/>
          <p:cNvSpPr txBox="1"/>
          <p:nvPr/>
        </p:nvSpPr>
        <p:spPr>
          <a:xfrm>
            <a:off x="347472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a:t>
            </a:r>
            <a:endParaRPr lang="en-US" sz="1400" dirty="0"/>
          </a:p>
        </p:txBody>
      </p:sp>
      <p:sp>
        <p:nvSpPr>
          <p:cNvPr id="10" name="Text 8"/>
          <p:cNvSpPr txBox="1"/>
          <p:nvPr/>
        </p:nvSpPr>
        <p:spPr>
          <a:xfrm>
            <a:off x="347472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78.1%</a:t>
            </a:r>
            <a:endParaRPr lang="en-US" sz="3000" dirty="0"/>
          </a:p>
        </p:txBody>
      </p:sp>
      <p:sp>
        <p:nvSpPr>
          <p:cNvPr id="11" name="Text 9"/>
          <p:cNvSpPr txBox="1"/>
          <p:nvPr/>
        </p:nvSpPr>
        <p:spPr>
          <a:xfrm>
            <a:off x="626364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2" name="Text 10"/>
          <p:cNvSpPr txBox="1"/>
          <p:nvPr/>
        </p:nvSpPr>
        <p:spPr>
          <a:xfrm>
            <a:off x="626364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+2.1 pts</a:t>
            </a:r>
            <a:endParaRPr lang="en-US" sz="3000" dirty="0"/>
          </a:p>
        </p:txBody>
      </p:sp>
      <p:sp>
        <p:nvSpPr>
          <p:cNvPr id="13" name="Text 11"/>
          <p:cNvSpPr txBox="1"/>
          <p:nvPr/>
        </p:nvSpPr>
        <p:spPr>
          <a:xfrm>
            <a:off x="905256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4" name="Text 12"/>
          <p:cNvSpPr txBox="1"/>
          <p:nvPr/>
        </p:nvSpPr>
        <p:spPr>
          <a:xfrm>
            <a:off x="905256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+2.7%</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2816352"/>
          <a:ext cx="11274552" cy="914400"/>
        </p:xfrm>
        <a:graphic>
          <a:graphicData uri="http://schemas.openxmlformats.org/drawingml/2006/table">
            <a:tbl>
              <a:tblPr/>
              <a:tblGrid>
                <a:gridCol w="3118104"/>
                <a:gridCol w="2039112"/>
                <a:gridCol w="2039112"/>
                <a:gridCol w="2039112"/>
                <a:gridCol w="2039112"/>
              </a:tblGrid>
              <a:tr h="274320">
                <a:tc>
                  <a:txBody>
                    <a:bodyPr/>
                    <a:lstStyle/>
                    <a:p>
                      <a:pPr algn="l" indent="0" marL="0">
                        <a:buNone/>
                      </a:pPr>
                      <a:r>
                        <a:rPr lang="en-US" sz="1400" b="1" dirty="0">
                          <a:solidFill>
                            <a:srgbClr val="FFFFFF"/>
                          </a:solidFill>
                          <a:latin typeface="Inter" pitchFamily="34" charset="0"/>
                          <a:ea typeface="Inter" pitchFamily="34" charset="-122"/>
                          <a:cs typeface="Inter" pitchFamily="34" charset="-120"/>
                        </a:rPr>
                        <a:t>MONTH</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VARIANCE</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 %</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JAN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77.0%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74.8%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−2.3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−2.9%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FEB</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75.1%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74.5%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−0.6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−0.8%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74.1%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78.5%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+4.4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+5.9%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APR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76.3%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79.6%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+3.2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MAY</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76.9%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75.4%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−1.4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−1.9%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77.8%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79.2%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+1.4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JUL</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78.4%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83.0%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+4.6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+5.8%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AUG</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75.9%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79.9%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+4.0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+5.2%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SEP</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72.7%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77.6%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+4.9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+6.8%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16" name="Shape 13"/>
          <p:cNvSpPr/>
          <p:nvPr/>
        </p:nvSpPr>
        <p:spPr>
          <a:xfrm>
            <a:off x="457200" y="5961888"/>
            <a:ext cx="11274552" cy="548640"/>
          </a:xfrm>
          <a:prstGeom prst="rect">
            <a:avLst/>
          </a:prstGeom>
          <a:solidFill>
            <a:srgbClr val="E6F6EE"/>
          </a:solidFill>
          <a:ln/>
        </p:spPr>
      </p:sp>
      <p:sp>
        <p:nvSpPr>
          <p:cNvPr id="17" name="Text 14"/>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Up 2.1 pts to 78.1%, ahead of 2025 in six of nine months. Fixed gross grew 4.1%; fixed expenses 1.3%.</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Fixed Ops Absorption %</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38988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7" name="Shape 5"/>
          <p:cNvSpPr/>
          <p:nvPr/>
        </p:nvSpPr>
        <p:spPr>
          <a:xfrm>
            <a:off x="2971800" y="1453358"/>
            <a:ext cx="1828800" cy="126940"/>
          </a:xfrm>
          <a:prstGeom prst="rect">
            <a:avLst/>
          </a:prstGeom>
          <a:solidFill>
            <a:srgbClr val="12A566"/>
          </a:solidFill>
          <a:ln/>
        </p:spPr>
      </p:sp>
      <p:sp>
        <p:nvSpPr>
          <p:cNvPr id="8" name="Text 6"/>
          <p:cNvSpPr txBox="1"/>
          <p:nvPr/>
        </p:nvSpPr>
        <p:spPr>
          <a:xfrm>
            <a:off x="4855464" y="1389888"/>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106.6%</a:t>
            </a:r>
            <a:endParaRPr lang="en-US" sz="1300" dirty="0"/>
          </a:p>
        </p:txBody>
      </p:sp>
      <p:sp>
        <p:nvSpPr>
          <p:cNvPr id="9" name="Text 7"/>
          <p:cNvSpPr txBox="1"/>
          <p:nvPr/>
        </p:nvSpPr>
        <p:spPr>
          <a:xfrm>
            <a:off x="658368" y="164376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10" name="Shape 8"/>
          <p:cNvSpPr/>
          <p:nvPr/>
        </p:nvSpPr>
        <p:spPr>
          <a:xfrm>
            <a:off x="2971800" y="1707239"/>
            <a:ext cx="1757110" cy="126940"/>
          </a:xfrm>
          <a:prstGeom prst="rect">
            <a:avLst/>
          </a:prstGeom>
          <a:solidFill>
            <a:srgbClr val="12A566"/>
          </a:solidFill>
          <a:ln/>
        </p:spPr>
      </p:sp>
      <p:sp>
        <p:nvSpPr>
          <p:cNvPr id="11" name="Text 9"/>
          <p:cNvSpPr txBox="1"/>
          <p:nvPr/>
        </p:nvSpPr>
        <p:spPr>
          <a:xfrm>
            <a:off x="4855464" y="1643768"/>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103.6%</a:t>
            </a:r>
            <a:endParaRPr lang="en-US" sz="1300" dirty="0"/>
          </a:p>
        </p:txBody>
      </p:sp>
      <p:sp>
        <p:nvSpPr>
          <p:cNvPr id="12" name="Text 10"/>
          <p:cNvSpPr txBox="1"/>
          <p:nvPr/>
        </p:nvSpPr>
        <p:spPr>
          <a:xfrm>
            <a:off x="658368" y="189764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13" name="Shape 11"/>
          <p:cNvSpPr/>
          <p:nvPr/>
        </p:nvSpPr>
        <p:spPr>
          <a:xfrm>
            <a:off x="2971800" y="1961119"/>
            <a:ext cx="1521003" cy="126940"/>
          </a:xfrm>
          <a:prstGeom prst="rect">
            <a:avLst/>
          </a:prstGeom>
          <a:solidFill>
            <a:srgbClr val="12A566"/>
          </a:solidFill>
          <a:ln/>
        </p:spPr>
      </p:sp>
      <p:sp>
        <p:nvSpPr>
          <p:cNvPr id="14" name="Text 12"/>
          <p:cNvSpPr txBox="1"/>
          <p:nvPr/>
        </p:nvSpPr>
        <p:spPr>
          <a:xfrm>
            <a:off x="4855464" y="1897649"/>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93.7%</a:t>
            </a:r>
            <a:endParaRPr lang="en-US" sz="1300" dirty="0"/>
          </a:p>
        </p:txBody>
      </p:sp>
      <p:sp>
        <p:nvSpPr>
          <p:cNvPr id="15" name="Text 13"/>
          <p:cNvSpPr txBox="1"/>
          <p:nvPr/>
        </p:nvSpPr>
        <p:spPr>
          <a:xfrm>
            <a:off x="658368" y="215152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16" name="Shape 14"/>
          <p:cNvSpPr/>
          <p:nvPr/>
        </p:nvSpPr>
        <p:spPr>
          <a:xfrm>
            <a:off x="2971800" y="2215000"/>
            <a:ext cx="1430394" cy="126940"/>
          </a:xfrm>
          <a:prstGeom prst="rect">
            <a:avLst/>
          </a:prstGeom>
          <a:solidFill>
            <a:srgbClr val="12A566"/>
          </a:solidFill>
          <a:ln/>
        </p:spPr>
      </p:sp>
      <p:sp>
        <p:nvSpPr>
          <p:cNvPr id="17" name="Text 15"/>
          <p:cNvSpPr txBox="1"/>
          <p:nvPr/>
        </p:nvSpPr>
        <p:spPr>
          <a:xfrm>
            <a:off x="4855464" y="2151529"/>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89.9%</a:t>
            </a:r>
            <a:endParaRPr lang="en-US" sz="1300" dirty="0"/>
          </a:p>
        </p:txBody>
      </p:sp>
      <p:sp>
        <p:nvSpPr>
          <p:cNvPr id="18" name="Text 16"/>
          <p:cNvSpPr txBox="1"/>
          <p:nvPr/>
        </p:nvSpPr>
        <p:spPr>
          <a:xfrm>
            <a:off x="658368" y="240541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19" name="Shape 17"/>
          <p:cNvSpPr/>
          <p:nvPr/>
        </p:nvSpPr>
        <p:spPr>
          <a:xfrm>
            <a:off x="2971800" y="2468880"/>
            <a:ext cx="1374906" cy="126940"/>
          </a:xfrm>
          <a:prstGeom prst="rect">
            <a:avLst/>
          </a:prstGeom>
          <a:solidFill>
            <a:srgbClr val="12A566"/>
          </a:solidFill>
          <a:ln/>
        </p:spPr>
      </p:sp>
      <p:sp>
        <p:nvSpPr>
          <p:cNvPr id="20" name="Text 18"/>
          <p:cNvSpPr txBox="1"/>
          <p:nvPr/>
        </p:nvSpPr>
        <p:spPr>
          <a:xfrm>
            <a:off x="4855464" y="2405410"/>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87.6%</a:t>
            </a:r>
            <a:endParaRPr lang="en-US" sz="1300" dirty="0"/>
          </a:p>
        </p:txBody>
      </p:sp>
      <p:sp>
        <p:nvSpPr>
          <p:cNvPr id="21" name="Text 19"/>
          <p:cNvSpPr txBox="1"/>
          <p:nvPr/>
        </p:nvSpPr>
        <p:spPr>
          <a:xfrm>
            <a:off x="658368" y="265929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22" name="Shape 20"/>
          <p:cNvSpPr/>
          <p:nvPr/>
        </p:nvSpPr>
        <p:spPr>
          <a:xfrm>
            <a:off x="2971800" y="2722760"/>
            <a:ext cx="1344762" cy="126940"/>
          </a:xfrm>
          <a:prstGeom prst="rect">
            <a:avLst/>
          </a:prstGeom>
          <a:solidFill>
            <a:srgbClr val="12A566"/>
          </a:solidFill>
          <a:ln/>
        </p:spPr>
      </p:sp>
      <p:sp>
        <p:nvSpPr>
          <p:cNvPr id="23" name="Text 21"/>
          <p:cNvSpPr txBox="1"/>
          <p:nvPr/>
        </p:nvSpPr>
        <p:spPr>
          <a:xfrm>
            <a:off x="4855464" y="2659290"/>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86.3%</a:t>
            </a:r>
            <a:endParaRPr lang="en-US" sz="1300" dirty="0"/>
          </a:p>
        </p:txBody>
      </p:sp>
      <p:sp>
        <p:nvSpPr>
          <p:cNvPr id="24" name="Text 22"/>
          <p:cNvSpPr txBox="1"/>
          <p:nvPr/>
        </p:nvSpPr>
        <p:spPr>
          <a:xfrm>
            <a:off x="658368" y="291317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25" name="Shape 23"/>
          <p:cNvSpPr/>
          <p:nvPr/>
        </p:nvSpPr>
        <p:spPr>
          <a:xfrm>
            <a:off x="2971800" y="2976641"/>
            <a:ext cx="1338691" cy="126940"/>
          </a:xfrm>
          <a:prstGeom prst="rect">
            <a:avLst/>
          </a:prstGeom>
          <a:solidFill>
            <a:srgbClr val="12A566"/>
          </a:solidFill>
          <a:ln/>
        </p:spPr>
      </p:sp>
      <p:sp>
        <p:nvSpPr>
          <p:cNvPr id="26" name="Text 24"/>
          <p:cNvSpPr txBox="1"/>
          <p:nvPr/>
        </p:nvSpPr>
        <p:spPr>
          <a:xfrm>
            <a:off x="4855464" y="2913171"/>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86.1%</a:t>
            </a:r>
            <a:endParaRPr lang="en-US" sz="1300" dirty="0"/>
          </a:p>
        </p:txBody>
      </p:sp>
      <p:sp>
        <p:nvSpPr>
          <p:cNvPr id="27" name="Text 25"/>
          <p:cNvSpPr txBox="1"/>
          <p:nvPr/>
        </p:nvSpPr>
        <p:spPr>
          <a:xfrm>
            <a:off x="658368" y="316705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28" name="Shape 26"/>
          <p:cNvSpPr/>
          <p:nvPr/>
        </p:nvSpPr>
        <p:spPr>
          <a:xfrm>
            <a:off x="2971800" y="3230521"/>
            <a:ext cx="1336460" cy="126940"/>
          </a:xfrm>
          <a:prstGeom prst="rect">
            <a:avLst/>
          </a:prstGeom>
          <a:solidFill>
            <a:srgbClr val="12A566"/>
          </a:solidFill>
          <a:ln/>
        </p:spPr>
      </p:sp>
      <p:sp>
        <p:nvSpPr>
          <p:cNvPr id="29" name="Text 27"/>
          <p:cNvSpPr txBox="1"/>
          <p:nvPr/>
        </p:nvSpPr>
        <p:spPr>
          <a:xfrm>
            <a:off x="4855464" y="3167051"/>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86.0%</a:t>
            </a:r>
            <a:endParaRPr lang="en-US" sz="1300" dirty="0"/>
          </a:p>
        </p:txBody>
      </p:sp>
      <p:sp>
        <p:nvSpPr>
          <p:cNvPr id="30" name="Text 28"/>
          <p:cNvSpPr txBox="1"/>
          <p:nvPr/>
        </p:nvSpPr>
        <p:spPr>
          <a:xfrm>
            <a:off x="658368" y="342093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31" name="Shape 29"/>
          <p:cNvSpPr/>
          <p:nvPr/>
        </p:nvSpPr>
        <p:spPr>
          <a:xfrm>
            <a:off x="2971800" y="3484402"/>
            <a:ext cx="1300722" cy="126940"/>
          </a:xfrm>
          <a:prstGeom prst="rect">
            <a:avLst/>
          </a:prstGeom>
          <a:solidFill>
            <a:srgbClr val="12A566"/>
          </a:solidFill>
          <a:ln/>
        </p:spPr>
      </p:sp>
      <p:sp>
        <p:nvSpPr>
          <p:cNvPr id="32" name="Text 30"/>
          <p:cNvSpPr txBox="1"/>
          <p:nvPr/>
        </p:nvSpPr>
        <p:spPr>
          <a:xfrm>
            <a:off x="4855464" y="3420932"/>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84.5%</a:t>
            </a:r>
            <a:endParaRPr lang="en-US" sz="1300" dirty="0"/>
          </a:p>
        </p:txBody>
      </p:sp>
      <p:sp>
        <p:nvSpPr>
          <p:cNvPr id="33" name="Text 31"/>
          <p:cNvSpPr txBox="1"/>
          <p:nvPr/>
        </p:nvSpPr>
        <p:spPr>
          <a:xfrm>
            <a:off x="658368" y="367481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34" name="Shape 32"/>
          <p:cNvSpPr/>
          <p:nvPr/>
        </p:nvSpPr>
        <p:spPr>
          <a:xfrm>
            <a:off x="2971800" y="3738282"/>
            <a:ext cx="1285206" cy="126940"/>
          </a:xfrm>
          <a:prstGeom prst="rect">
            <a:avLst/>
          </a:prstGeom>
          <a:solidFill>
            <a:srgbClr val="12A566"/>
          </a:solidFill>
          <a:ln/>
        </p:spPr>
      </p:sp>
      <p:sp>
        <p:nvSpPr>
          <p:cNvPr id="35" name="Text 33"/>
          <p:cNvSpPr txBox="1"/>
          <p:nvPr/>
        </p:nvSpPr>
        <p:spPr>
          <a:xfrm>
            <a:off x="4855464" y="3674812"/>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83.8%</a:t>
            </a:r>
            <a:endParaRPr lang="en-US" sz="1300" dirty="0"/>
          </a:p>
        </p:txBody>
      </p:sp>
      <p:sp>
        <p:nvSpPr>
          <p:cNvPr id="36" name="Text 34"/>
          <p:cNvSpPr txBox="1"/>
          <p:nvPr/>
        </p:nvSpPr>
        <p:spPr>
          <a:xfrm>
            <a:off x="658368" y="392869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37" name="Shape 35"/>
          <p:cNvSpPr/>
          <p:nvPr/>
        </p:nvSpPr>
        <p:spPr>
          <a:xfrm>
            <a:off x="2971800" y="3992163"/>
            <a:ext cx="1236334" cy="126940"/>
          </a:xfrm>
          <a:prstGeom prst="rect">
            <a:avLst/>
          </a:prstGeom>
          <a:solidFill>
            <a:srgbClr val="12A566"/>
          </a:solidFill>
          <a:ln/>
        </p:spPr>
      </p:sp>
      <p:sp>
        <p:nvSpPr>
          <p:cNvPr id="38" name="Text 36"/>
          <p:cNvSpPr txBox="1"/>
          <p:nvPr/>
        </p:nvSpPr>
        <p:spPr>
          <a:xfrm>
            <a:off x="4855464" y="3928693"/>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81.8%</a:t>
            </a:r>
            <a:endParaRPr lang="en-US" sz="1300" dirty="0"/>
          </a:p>
        </p:txBody>
      </p:sp>
      <p:sp>
        <p:nvSpPr>
          <p:cNvPr id="39" name="Text 37"/>
          <p:cNvSpPr txBox="1"/>
          <p:nvPr/>
        </p:nvSpPr>
        <p:spPr>
          <a:xfrm>
            <a:off x="658368" y="418257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40" name="Shape 38"/>
          <p:cNvSpPr/>
          <p:nvPr/>
        </p:nvSpPr>
        <p:spPr>
          <a:xfrm>
            <a:off x="2971800" y="4246043"/>
            <a:ext cx="1229112" cy="126940"/>
          </a:xfrm>
          <a:prstGeom prst="rect">
            <a:avLst/>
          </a:prstGeom>
          <a:solidFill>
            <a:srgbClr val="12A566"/>
          </a:solidFill>
          <a:ln/>
        </p:spPr>
      </p:sp>
      <p:sp>
        <p:nvSpPr>
          <p:cNvPr id="41" name="Text 39"/>
          <p:cNvSpPr txBox="1"/>
          <p:nvPr/>
        </p:nvSpPr>
        <p:spPr>
          <a:xfrm>
            <a:off x="4855464" y="4182573"/>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81.5%</a:t>
            </a:r>
            <a:endParaRPr lang="en-US" sz="1300" dirty="0"/>
          </a:p>
        </p:txBody>
      </p:sp>
      <p:sp>
        <p:nvSpPr>
          <p:cNvPr id="42" name="Text 40"/>
          <p:cNvSpPr txBox="1"/>
          <p:nvPr/>
        </p:nvSpPr>
        <p:spPr>
          <a:xfrm>
            <a:off x="658368" y="443645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43" name="Shape 41"/>
          <p:cNvSpPr/>
          <p:nvPr/>
        </p:nvSpPr>
        <p:spPr>
          <a:xfrm>
            <a:off x="2971800" y="4499924"/>
            <a:ext cx="1183660" cy="126940"/>
          </a:xfrm>
          <a:prstGeom prst="rect">
            <a:avLst/>
          </a:prstGeom>
          <a:solidFill>
            <a:srgbClr val="12A566"/>
          </a:solidFill>
          <a:ln/>
        </p:spPr>
      </p:sp>
      <p:sp>
        <p:nvSpPr>
          <p:cNvPr id="44" name="Text 42"/>
          <p:cNvSpPr txBox="1"/>
          <p:nvPr/>
        </p:nvSpPr>
        <p:spPr>
          <a:xfrm>
            <a:off x="4855464" y="4436454"/>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79.6%</a:t>
            </a:r>
            <a:endParaRPr lang="en-US" sz="1300" dirty="0"/>
          </a:p>
        </p:txBody>
      </p:sp>
      <p:sp>
        <p:nvSpPr>
          <p:cNvPr id="45" name="Text 43"/>
          <p:cNvSpPr txBox="1"/>
          <p:nvPr/>
        </p:nvSpPr>
        <p:spPr>
          <a:xfrm>
            <a:off x="658368" y="469033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46" name="Shape 44"/>
          <p:cNvSpPr/>
          <p:nvPr/>
        </p:nvSpPr>
        <p:spPr>
          <a:xfrm>
            <a:off x="2971800" y="4753804"/>
            <a:ext cx="1161064" cy="126940"/>
          </a:xfrm>
          <a:prstGeom prst="rect">
            <a:avLst/>
          </a:prstGeom>
          <a:solidFill>
            <a:srgbClr val="12A566"/>
          </a:solidFill>
          <a:ln/>
        </p:spPr>
      </p:sp>
      <p:sp>
        <p:nvSpPr>
          <p:cNvPr id="47" name="Text 45"/>
          <p:cNvSpPr txBox="1"/>
          <p:nvPr/>
        </p:nvSpPr>
        <p:spPr>
          <a:xfrm>
            <a:off x="4855464" y="4690334"/>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78.6%</a:t>
            </a:r>
            <a:endParaRPr lang="en-US" sz="1300" dirty="0"/>
          </a:p>
        </p:txBody>
      </p:sp>
      <p:sp>
        <p:nvSpPr>
          <p:cNvPr id="48" name="Text 46"/>
          <p:cNvSpPr txBox="1"/>
          <p:nvPr/>
        </p:nvSpPr>
        <p:spPr>
          <a:xfrm>
            <a:off x="658368" y="494421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49" name="Shape 47"/>
          <p:cNvSpPr/>
          <p:nvPr/>
        </p:nvSpPr>
        <p:spPr>
          <a:xfrm>
            <a:off x="2971800" y="5007685"/>
            <a:ext cx="1156533" cy="126940"/>
          </a:xfrm>
          <a:prstGeom prst="rect">
            <a:avLst/>
          </a:prstGeom>
          <a:solidFill>
            <a:srgbClr val="12A566"/>
          </a:solidFill>
          <a:ln/>
        </p:spPr>
      </p:sp>
      <p:sp>
        <p:nvSpPr>
          <p:cNvPr id="50" name="Text 48"/>
          <p:cNvSpPr txBox="1"/>
          <p:nvPr/>
        </p:nvSpPr>
        <p:spPr>
          <a:xfrm>
            <a:off x="4855464" y="4944215"/>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78.4%</a:t>
            </a:r>
            <a:endParaRPr lang="en-US" sz="1300" dirty="0"/>
          </a:p>
        </p:txBody>
      </p:sp>
      <p:sp>
        <p:nvSpPr>
          <p:cNvPr id="51" name="Shape 49"/>
          <p:cNvSpPr/>
          <p:nvPr/>
        </p:nvSpPr>
        <p:spPr>
          <a:xfrm>
            <a:off x="585216" y="5193523"/>
            <a:ext cx="5413248" cy="244736"/>
          </a:xfrm>
          <a:prstGeom prst="rect">
            <a:avLst/>
          </a:prstGeom>
          <a:solidFill>
            <a:srgbClr val="EDF4FA"/>
          </a:solidFill>
          <a:ln/>
        </p:spPr>
      </p:sp>
      <p:sp>
        <p:nvSpPr>
          <p:cNvPr id="52" name="Text 50"/>
          <p:cNvSpPr txBox="1"/>
          <p:nvPr/>
        </p:nvSpPr>
        <p:spPr>
          <a:xfrm>
            <a:off x="658368" y="5198095"/>
            <a:ext cx="2240280" cy="253880"/>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GROUP</a:t>
            </a:r>
            <a:endParaRPr lang="en-US" sz="1300" dirty="0"/>
          </a:p>
        </p:txBody>
      </p:sp>
      <p:sp>
        <p:nvSpPr>
          <p:cNvPr id="53" name="Shape 51"/>
          <p:cNvSpPr/>
          <p:nvPr/>
        </p:nvSpPr>
        <p:spPr>
          <a:xfrm>
            <a:off x="2971800" y="5261565"/>
            <a:ext cx="1148728" cy="126940"/>
          </a:xfrm>
          <a:prstGeom prst="rect">
            <a:avLst/>
          </a:prstGeom>
          <a:solidFill>
            <a:srgbClr val="0B2C4A"/>
          </a:solidFill>
          <a:ln/>
        </p:spPr>
      </p:sp>
      <p:sp>
        <p:nvSpPr>
          <p:cNvPr id="54" name="Text 52"/>
          <p:cNvSpPr txBox="1"/>
          <p:nvPr/>
        </p:nvSpPr>
        <p:spPr>
          <a:xfrm>
            <a:off x="4855464" y="5198095"/>
            <a:ext cx="1088136" cy="253880"/>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78.1%</a:t>
            </a:r>
            <a:endParaRPr lang="en-US" sz="1300" dirty="0"/>
          </a:p>
        </p:txBody>
      </p:sp>
      <p:sp>
        <p:nvSpPr>
          <p:cNvPr id="55" name="Text 53"/>
          <p:cNvSpPr txBox="1"/>
          <p:nvPr/>
        </p:nvSpPr>
        <p:spPr>
          <a:xfrm>
            <a:off x="658368" y="5451976"/>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56" name="Shape 54"/>
          <p:cNvSpPr/>
          <p:nvPr/>
        </p:nvSpPr>
        <p:spPr>
          <a:xfrm>
            <a:off x="2971800" y="5515446"/>
            <a:ext cx="1129639" cy="126940"/>
          </a:xfrm>
          <a:prstGeom prst="rect">
            <a:avLst/>
          </a:prstGeom>
          <a:solidFill>
            <a:srgbClr val="C2352F"/>
          </a:solidFill>
          <a:ln/>
        </p:spPr>
      </p:sp>
      <p:sp>
        <p:nvSpPr>
          <p:cNvPr id="57" name="Text 55"/>
          <p:cNvSpPr txBox="1"/>
          <p:nvPr/>
        </p:nvSpPr>
        <p:spPr>
          <a:xfrm>
            <a:off x="4855464" y="5451976"/>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77.3%</a:t>
            </a:r>
            <a:endParaRPr lang="en-US" sz="1300" dirty="0"/>
          </a:p>
        </p:txBody>
      </p:sp>
      <p:sp>
        <p:nvSpPr>
          <p:cNvPr id="58" name="Text 56"/>
          <p:cNvSpPr txBox="1"/>
          <p:nvPr/>
        </p:nvSpPr>
        <p:spPr>
          <a:xfrm>
            <a:off x="6208776" y="138988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59" name="Shape 57"/>
          <p:cNvSpPr/>
          <p:nvPr/>
        </p:nvSpPr>
        <p:spPr>
          <a:xfrm>
            <a:off x="8522208" y="1453358"/>
            <a:ext cx="1089713" cy="126940"/>
          </a:xfrm>
          <a:prstGeom prst="rect">
            <a:avLst/>
          </a:prstGeom>
          <a:solidFill>
            <a:srgbClr val="C2352F"/>
          </a:solidFill>
          <a:ln/>
        </p:spPr>
      </p:sp>
      <p:sp>
        <p:nvSpPr>
          <p:cNvPr id="60" name="Text 58"/>
          <p:cNvSpPr txBox="1"/>
          <p:nvPr/>
        </p:nvSpPr>
        <p:spPr>
          <a:xfrm>
            <a:off x="10405872" y="1389888"/>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75.6%</a:t>
            </a:r>
            <a:endParaRPr lang="en-US" sz="1300" dirty="0"/>
          </a:p>
        </p:txBody>
      </p:sp>
      <p:sp>
        <p:nvSpPr>
          <p:cNvPr id="61" name="Text 59"/>
          <p:cNvSpPr txBox="1"/>
          <p:nvPr/>
        </p:nvSpPr>
        <p:spPr>
          <a:xfrm>
            <a:off x="6208776" y="164376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62" name="Shape 60"/>
          <p:cNvSpPr/>
          <p:nvPr/>
        </p:nvSpPr>
        <p:spPr>
          <a:xfrm>
            <a:off x="8522208" y="1707239"/>
            <a:ext cx="1089638" cy="126940"/>
          </a:xfrm>
          <a:prstGeom prst="rect">
            <a:avLst/>
          </a:prstGeom>
          <a:solidFill>
            <a:srgbClr val="C2352F"/>
          </a:solidFill>
          <a:ln/>
        </p:spPr>
      </p:sp>
      <p:sp>
        <p:nvSpPr>
          <p:cNvPr id="63" name="Text 61"/>
          <p:cNvSpPr txBox="1"/>
          <p:nvPr/>
        </p:nvSpPr>
        <p:spPr>
          <a:xfrm>
            <a:off x="10405872" y="1643768"/>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75.6%</a:t>
            </a:r>
            <a:endParaRPr lang="en-US" sz="1300" dirty="0"/>
          </a:p>
        </p:txBody>
      </p:sp>
      <p:sp>
        <p:nvSpPr>
          <p:cNvPr id="64" name="Text 62"/>
          <p:cNvSpPr txBox="1"/>
          <p:nvPr/>
        </p:nvSpPr>
        <p:spPr>
          <a:xfrm>
            <a:off x="6208776" y="189764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65" name="Shape 63"/>
          <p:cNvSpPr/>
          <p:nvPr/>
        </p:nvSpPr>
        <p:spPr>
          <a:xfrm>
            <a:off x="8522208" y="1961119"/>
            <a:ext cx="1059190" cy="126940"/>
          </a:xfrm>
          <a:prstGeom prst="rect">
            <a:avLst/>
          </a:prstGeom>
          <a:solidFill>
            <a:srgbClr val="C2352F"/>
          </a:solidFill>
          <a:ln/>
        </p:spPr>
      </p:sp>
      <p:sp>
        <p:nvSpPr>
          <p:cNvPr id="66" name="Text 64"/>
          <p:cNvSpPr txBox="1"/>
          <p:nvPr/>
        </p:nvSpPr>
        <p:spPr>
          <a:xfrm>
            <a:off x="10405872" y="1897649"/>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74.4%</a:t>
            </a:r>
            <a:endParaRPr lang="en-US" sz="1300" dirty="0"/>
          </a:p>
        </p:txBody>
      </p:sp>
      <p:sp>
        <p:nvSpPr>
          <p:cNvPr id="67" name="Text 65"/>
          <p:cNvSpPr txBox="1"/>
          <p:nvPr/>
        </p:nvSpPr>
        <p:spPr>
          <a:xfrm>
            <a:off x="6208776" y="215152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68" name="Shape 66"/>
          <p:cNvSpPr/>
          <p:nvPr/>
        </p:nvSpPr>
        <p:spPr>
          <a:xfrm>
            <a:off x="8522208" y="2215000"/>
            <a:ext cx="1033980" cy="126940"/>
          </a:xfrm>
          <a:prstGeom prst="rect">
            <a:avLst/>
          </a:prstGeom>
          <a:solidFill>
            <a:srgbClr val="C2352F"/>
          </a:solidFill>
          <a:ln/>
        </p:spPr>
      </p:sp>
      <p:sp>
        <p:nvSpPr>
          <p:cNvPr id="69" name="Text 67"/>
          <p:cNvSpPr txBox="1"/>
          <p:nvPr/>
        </p:nvSpPr>
        <p:spPr>
          <a:xfrm>
            <a:off x="10405872" y="2151529"/>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73.3%</a:t>
            </a:r>
            <a:endParaRPr lang="en-US" sz="1300" dirty="0"/>
          </a:p>
        </p:txBody>
      </p:sp>
      <p:sp>
        <p:nvSpPr>
          <p:cNvPr id="70" name="Text 68"/>
          <p:cNvSpPr txBox="1"/>
          <p:nvPr/>
        </p:nvSpPr>
        <p:spPr>
          <a:xfrm>
            <a:off x="6208776" y="240541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71" name="Shape 69"/>
          <p:cNvSpPr/>
          <p:nvPr/>
        </p:nvSpPr>
        <p:spPr>
          <a:xfrm>
            <a:off x="8522208" y="2468880"/>
            <a:ext cx="970327" cy="126940"/>
          </a:xfrm>
          <a:prstGeom prst="rect">
            <a:avLst/>
          </a:prstGeom>
          <a:solidFill>
            <a:srgbClr val="C2352F"/>
          </a:solidFill>
          <a:ln/>
        </p:spPr>
      </p:sp>
      <p:sp>
        <p:nvSpPr>
          <p:cNvPr id="72" name="Text 70"/>
          <p:cNvSpPr txBox="1"/>
          <p:nvPr/>
        </p:nvSpPr>
        <p:spPr>
          <a:xfrm>
            <a:off x="10405872" y="2405410"/>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70.6%</a:t>
            </a:r>
            <a:endParaRPr lang="en-US" sz="1300" dirty="0"/>
          </a:p>
        </p:txBody>
      </p:sp>
      <p:sp>
        <p:nvSpPr>
          <p:cNvPr id="73" name="Text 71"/>
          <p:cNvSpPr txBox="1"/>
          <p:nvPr/>
        </p:nvSpPr>
        <p:spPr>
          <a:xfrm>
            <a:off x="6208776" y="265929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74" name="Shape 72"/>
          <p:cNvSpPr/>
          <p:nvPr/>
        </p:nvSpPr>
        <p:spPr>
          <a:xfrm>
            <a:off x="8522208" y="2722760"/>
            <a:ext cx="962499" cy="126940"/>
          </a:xfrm>
          <a:prstGeom prst="rect">
            <a:avLst/>
          </a:prstGeom>
          <a:solidFill>
            <a:srgbClr val="C2352F"/>
          </a:solidFill>
          <a:ln/>
        </p:spPr>
      </p:sp>
      <p:sp>
        <p:nvSpPr>
          <p:cNvPr id="75" name="Text 73"/>
          <p:cNvSpPr txBox="1"/>
          <p:nvPr/>
        </p:nvSpPr>
        <p:spPr>
          <a:xfrm>
            <a:off x="10405872" y="2659290"/>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70.3%</a:t>
            </a:r>
            <a:endParaRPr lang="en-US" sz="1300" dirty="0"/>
          </a:p>
        </p:txBody>
      </p:sp>
      <p:sp>
        <p:nvSpPr>
          <p:cNvPr id="76" name="Text 74"/>
          <p:cNvSpPr txBox="1"/>
          <p:nvPr/>
        </p:nvSpPr>
        <p:spPr>
          <a:xfrm>
            <a:off x="6208776" y="291317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77" name="Shape 75"/>
          <p:cNvSpPr/>
          <p:nvPr/>
        </p:nvSpPr>
        <p:spPr>
          <a:xfrm>
            <a:off x="8522208" y="2976641"/>
            <a:ext cx="955146" cy="126940"/>
          </a:xfrm>
          <a:prstGeom prst="rect">
            <a:avLst/>
          </a:prstGeom>
          <a:solidFill>
            <a:srgbClr val="C2352F"/>
          </a:solidFill>
          <a:ln/>
        </p:spPr>
      </p:sp>
      <p:sp>
        <p:nvSpPr>
          <p:cNvPr id="78" name="Text 76"/>
          <p:cNvSpPr txBox="1"/>
          <p:nvPr/>
        </p:nvSpPr>
        <p:spPr>
          <a:xfrm>
            <a:off x="10405872" y="2913171"/>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70.0%</a:t>
            </a:r>
            <a:endParaRPr lang="en-US" sz="1300" dirty="0"/>
          </a:p>
        </p:txBody>
      </p:sp>
      <p:sp>
        <p:nvSpPr>
          <p:cNvPr id="79" name="Text 77"/>
          <p:cNvSpPr txBox="1"/>
          <p:nvPr/>
        </p:nvSpPr>
        <p:spPr>
          <a:xfrm>
            <a:off x="6208776" y="316705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80" name="Shape 78"/>
          <p:cNvSpPr/>
          <p:nvPr/>
        </p:nvSpPr>
        <p:spPr>
          <a:xfrm>
            <a:off x="8522208" y="3230521"/>
            <a:ext cx="929859" cy="126940"/>
          </a:xfrm>
          <a:prstGeom prst="rect">
            <a:avLst/>
          </a:prstGeom>
          <a:solidFill>
            <a:srgbClr val="C2352F"/>
          </a:solidFill>
          <a:ln/>
        </p:spPr>
      </p:sp>
      <p:sp>
        <p:nvSpPr>
          <p:cNvPr id="81" name="Text 79"/>
          <p:cNvSpPr txBox="1"/>
          <p:nvPr/>
        </p:nvSpPr>
        <p:spPr>
          <a:xfrm>
            <a:off x="10405872" y="3167051"/>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68.9%</a:t>
            </a:r>
            <a:endParaRPr lang="en-US" sz="1300" dirty="0"/>
          </a:p>
        </p:txBody>
      </p:sp>
      <p:sp>
        <p:nvSpPr>
          <p:cNvPr id="82" name="Text 80"/>
          <p:cNvSpPr txBox="1"/>
          <p:nvPr/>
        </p:nvSpPr>
        <p:spPr>
          <a:xfrm>
            <a:off x="6208776" y="342093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83" name="Shape 81"/>
          <p:cNvSpPr/>
          <p:nvPr/>
        </p:nvSpPr>
        <p:spPr>
          <a:xfrm>
            <a:off x="8522208" y="3484402"/>
            <a:ext cx="855566" cy="126940"/>
          </a:xfrm>
          <a:prstGeom prst="rect">
            <a:avLst/>
          </a:prstGeom>
          <a:solidFill>
            <a:srgbClr val="C2352F"/>
          </a:solidFill>
          <a:ln/>
        </p:spPr>
      </p:sp>
      <p:sp>
        <p:nvSpPr>
          <p:cNvPr id="84" name="Text 82"/>
          <p:cNvSpPr txBox="1"/>
          <p:nvPr/>
        </p:nvSpPr>
        <p:spPr>
          <a:xfrm>
            <a:off x="10405872" y="3420932"/>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65.8%</a:t>
            </a:r>
            <a:endParaRPr lang="en-US" sz="1300" dirty="0"/>
          </a:p>
        </p:txBody>
      </p:sp>
      <p:sp>
        <p:nvSpPr>
          <p:cNvPr id="85" name="Text 83"/>
          <p:cNvSpPr txBox="1"/>
          <p:nvPr/>
        </p:nvSpPr>
        <p:spPr>
          <a:xfrm>
            <a:off x="6208776" y="367481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86" name="Shape 84"/>
          <p:cNvSpPr/>
          <p:nvPr/>
        </p:nvSpPr>
        <p:spPr>
          <a:xfrm>
            <a:off x="8522208" y="3738282"/>
            <a:ext cx="837160" cy="126940"/>
          </a:xfrm>
          <a:prstGeom prst="rect">
            <a:avLst/>
          </a:prstGeom>
          <a:solidFill>
            <a:srgbClr val="C2352F"/>
          </a:solidFill>
          <a:ln/>
        </p:spPr>
      </p:sp>
      <p:sp>
        <p:nvSpPr>
          <p:cNvPr id="87" name="Text 85"/>
          <p:cNvSpPr txBox="1"/>
          <p:nvPr/>
        </p:nvSpPr>
        <p:spPr>
          <a:xfrm>
            <a:off x="10405872" y="3674812"/>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65.1%</a:t>
            </a:r>
            <a:endParaRPr lang="en-US" sz="1300" dirty="0"/>
          </a:p>
        </p:txBody>
      </p:sp>
      <p:sp>
        <p:nvSpPr>
          <p:cNvPr id="88" name="Text 86"/>
          <p:cNvSpPr txBox="1"/>
          <p:nvPr/>
        </p:nvSpPr>
        <p:spPr>
          <a:xfrm>
            <a:off x="6208776" y="392869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89" name="Shape 87"/>
          <p:cNvSpPr/>
          <p:nvPr/>
        </p:nvSpPr>
        <p:spPr>
          <a:xfrm>
            <a:off x="8522208" y="3992163"/>
            <a:ext cx="804031" cy="126940"/>
          </a:xfrm>
          <a:prstGeom prst="rect">
            <a:avLst/>
          </a:prstGeom>
          <a:solidFill>
            <a:srgbClr val="C2352F"/>
          </a:solidFill>
          <a:ln/>
        </p:spPr>
      </p:sp>
      <p:sp>
        <p:nvSpPr>
          <p:cNvPr id="90" name="Text 88"/>
          <p:cNvSpPr txBox="1"/>
          <p:nvPr/>
        </p:nvSpPr>
        <p:spPr>
          <a:xfrm>
            <a:off x="10405872" y="3928693"/>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63.7%</a:t>
            </a:r>
            <a:endParaRPr lang="en-US" sz="1300" dirty="0"/>
          </a:p>
        </p:txBody>
      </p:sp>
      <p:sp>
        <p:nvSpPr>
          <p:cNvPr id="91" name="Text 89"/>
          <p:cNvSpPr txBox="1"/>
          <p:nvPr/>
        </p:nvSpPr>
        <p:spPr>
          <a:xfrm>
            <a:off x="6208776" y="418257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92" name="Shape 90"/>
          <p:cNvSpPr/>
          <p:nvPr/>
        </p:nvSpPr>
        <p:spPr>
          <a:xfrm>
            <a:off x="8522208" y="4246043"/>
            <a:ext cx="789432" cy="126940"/>
          </a:xfrm>
          <a:prstGeom prst="rect">
            <a:avLst/>
          </a:prstGeom>
          <a:solidFill>
            <a:srgbClr val="C2352F"/>
          </a:solidFill>
          <a:ln/>
        </p:spPr>
      </p:sp>
      <p:sp>
        <p:nvSpPr>
          <p:cNvPr id="93" name="Text 91"/>
          <p:cNvSpPr txBox="1"/>
          <p:nvPr/>
        </p:nvSpPr>
        <p:spPr>
          <a:xfrm>
            <a:off x="10405872" y="4182573"/>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63.1%</a:t>
            </a:r>
            <a:endParaRPr lang="en-US" sz="1300" dirty="0"/>
          </a:p>
        </p:txBody>
      </p:sp>
      <p:sp>
        <p:nvSpPr>
          <p:cNvPr id="94" name="Text 92"/>
          <p:cNvSpPr txBox="1"/>
          <p:nvPr/>
        </p:nvSpPr>
        <p:spPr>
          <a:xfrm>
            <a:off x="6208776" y="443645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95" name="Shape 93"/>
          <p:cNvSpPr/>
          <p:nvPr/>
        </p:nvSpPr>
        <p:spPr>
          <a:xfrm>
            <a:off x="8522208" y="4499924"/>
            <a:ext cx="713781" cy="126940"/>
          </a:xfrm>
          <a:prstGeom prst="rect">
            <a:avLst/>
          </a:prstGeom>
          <a:solidFill>
            <a:srgbClr val="C2352F"/>
          </a:solidFill>
          <a:ln/>
        </p:spPr>
      </p:sp>
      <p:sp>
        <p:nvSpPr>
          <p:cNvPr id="96" name="Text 94"/>
          <p:cNvSpPr txBox="1"/>
          <p:nvPr/>
        </p:nvSpPr>
        <p:spPr>
          <a:xfrm>
            <a:off x="10405872" y="4436454"/>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59.9%</a:t>
            </a:r>
            <a:endParaRPr lang="en-US" sz="1300" dirty="0"/>
          </a:p>
        </p:txBody>
      </p:sp>
      <p:sp>
        <p:nvSpPr>
          <p:cNvPr id="97" name="Text 95"/>
          <p:cNvSpPr txBox="1"/>
          <p:nvPr/>
        </p:nvSpPr>
        <p:spPr>
          <a:xfrm>
            <a:off x="6208776" y="469033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98" name="Shape 96"/>
          <p:cNvSpPr/>
          <p:nvPr/>
        </p:nvSpPr>
        <p:spPr>
          <a:xfrm>
            <a:off x="8522208" y="4753804"/>
            <a:ext cx="650262" cy="126940"/>
          </a:xfrm>
          <a:prstGeom prst="rect">
            <a:avLst/>
          </a:prstGeom>
          <a:solidFill>
            <a:srgbClr val="C2352F"/>
          </a:solidFill>
          <a:ln/>
        </p:spPr>
      </p:sp>
      <p:sp>
        <p:nvSpPr>
          <p:cNvPr id="99" name="Text 97"/>
          <p:cNvSpPr txBox="1"/>
          <p:nvPr/>
        </p:nvSpPr>
        <p:spPr>
          <a:xfrm>
            <a:off x="10405872" y="4690334"/>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57.2%</a:t>
            </a:r>
            <a:endParaRPr lang="en-US" sz="1300" dirty="0"/>
          </a:p>
        </p:txBody>
      </p:sp>
      <p:sp>
        <p:nvSpPr>
          <p:cNvPr id="100" name="Text 98"/>
          <p:cNvSpPr txBox="1"/>
          <p:nvPr/>
        </p:nvSpPr>
        <p:spPr>
          <a:xfrm>
            <a:off x="6208776" y="494421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101" name="Shape 99"/>
          <p:cNvSpPr/>
          <p:nvPr/>
        </p:nvSpPr>
        <p:spPr>
          <a:xfrm>
            <a:off x="8522208" y="5007685"/>
            <a:ext cx="574750" cy="126940"/>
          </a:xfrm>
          <a:prstGeom prst="rect">
            <a:avLst/>
          </a:prstGeom>
          <a:solidFill>
            <a:srgbClr val="C2352F"/>
          </a:solidFill>
          <a:ln/>
        </p:spPr>
      </p:sp>
      <p:sp>
        <p:nvSpPr>
          <p:cNvPr id="102" name="Text 100"/>
          <p:cNvSpPr txBox="1"/>
          <p:nvPr/>
        </p:nvSpPr>
        <p:spPr>
          <a:xfrm>
            <a:off x="10405872" y="4944215"/>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54.1%</a:t>
            </a:r>
            <a:endParaRPr lang="en-US" sz="1300" dirty="0"/>
          </a:p>
        </p:txBody>
      </p:sp>
      <p:sp>
        <p:nvSpPr>
          <p:cNvPr id="103" name="Text 101"/>
          <p:cNvSpPr txBox="1"/>
          <p:nvPr/>
        </p:nvSpPr>
        <p:spPr>
          <a:xfrm>
            <a:off x="6208776" y="519809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104" name="Shape 102"/>
          <p:cNvSpPr/>
          <p:nvPr/>
        </p:nvSpPr>
        <p:spPr>
          <a:xfrm>
            <a:off x="8522208" y="5261565"/>
            <a:ext cx="510111" cy="126940"/>
          </a:xfrm>
          <a:prstGeom prst="rect">
            <a:avLst/>
          </a:prstGeom>
          <a:solidFill>
            <a:srgbClr val="C2352F"/>
          </a:solidFill>
          <a:ln/>
        </p:spPr>
      </p:sp>
      <p:sp>
        <p:nvSpPr>
          <p:cNvPr id="105" name="Text 103"/>
          <p:cNvSpPr txBox="1"/>
          <p:nvPr/>
        </p:nvSpPr>
        <p:spPr>
          <a:xfrm>
            <a:off x="10405872" y="5198095"/>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51.4%</a:t>
            </a:r>
            <a:endParaRPr lang="en-US" sz="1300" dirty="0"/>
          </a:p>
        </p:txBody>
      </p:sp>
      <p:sp>
        <p:nvSpPr>
          <p:cNvPr id="106" name="Text 104"/>
          <p:cNvSpPr txBox="1"/>
          <p:nvPr/>
        </p:nvSpPr>
        <p:spPr>
          <a:xfrm>
            <a:off x="6208776" y="5451976"/>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07" name="Shape 105"/>
          <p:cNvSpPr/>
          <p:nvPr/>
        </p:nvSpPr>
        <p:spPr>
          <a:xfrm>
            <a:off x="8522208" y="5515446"/>
            <a:ext cx="387033" cy="126940"/>
          </a:xfrm>
          <a:prstGeom prst="rect">
            <a:avLst/>
          </a:prstGeom>
          <a:solidFill>
            <a:srgbClr val="C2352F"/>
          </a:solidFill>
          <a:ln/>
        </p:spPr>
      </p:sp>
      <p:sp>
        <p:nvSpPr>
          <p:cNvPr id="108" name="Text 106"/>
          <p:cNvSpPr txBox="1"/>
          <p:nvPr/>
        </p:nvSpPr>
        <p:spPr>
          <a:xfrm>
            <a:off x="10405872" y="5451976"/>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46.2%</a:t>
            </a:r>
            <a:endParaRPr lang="en-US" sz="1300" dirty="0"/>
          </a:p>
        </p:txBody>
      </p:sp>
      <p:sp>
        <p:nvSpPr>
          <p:cNvPr id="109" name="Shape 107"/>
          <p:cNvSpPr/>
          <p:nvPr/>
        </p:nvSpPr>
        <p:spPr>
          <a:xfrm>
            <a:off x="4113213" y="1389888"/>
            <a:ext cx="14630" cy="4315968"/>
          </a:xfrm>
          <a:prstGeom prst="rect">
            <a:avLst/>
          </a:prstGeom>
          <a:solidFill>
            <a:srgbClr val="0B2C4A"/>
          </a:solidFill>
          <a:ln/>
        </p:spPr>
      </p:sp>
      <p:sp>
        <p:nvSpPr>
          <p:cNvPr id="110" name="Shape 108"/>
          <p:cNvSpPr/>
          <p:nvPr/>
        </p:nvSpPr>
        <p:spPr>
          <a:xfrm>
            <a:off x="9663621" y="1389888"/>
            <a:ext cx="14630" cy="4315968"/>
          </a:xfrm>
          <a:prstGeom prst="rect">
            <a:avLst/>
          </a:prstGeom>
          <a:solidFill>
            <a:srgbClr val="0B2C4A"/>
          </a:solidFill>
          <a:ln/>
        </p:spPr>
      </p:sp>
      <p:sp>
        <p:nvSpPr>
          <p:cNvPr id="111" name="Shape 109"/>
          <p:cNvSpPr/>
          <p:nvPr/>
        </p:nvSpPr>
        <p:spPr>
          <a:xfrm>
            <a:off x="457200" y="5961888"/>
            <a:ext cx="11274552" cy="548640"/>
          </a:xfrm>
          <a:prstGeom prst="rect">
            <a:avLst/>
          </a:prstGeom>
          <a:solidFill>
            <a:srgbClr val="EDF4FA"/>
          </a:solidFill>
          <a:ln/>
        </p:spPr>
      </p:sp>
      <p:sp>
        <p:nvSpPr>
          <p:cNvPr id="112" name="Text 110"/>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15 of 33 stores at or above the 78.1% group, led by AUDI HENDERSON at 106.6%. HYUNDAI PRESCOTT is lowest at 46.2%.</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Fixed Ops Absorption %</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01168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GROUP</a:t>
            </a:r>
            <a:endParaRPr lang="en-US" sz="1500" dirty="0"/>
          </a:p>
        </p:txBody>
      </p:sp>
      <p:sp>
        <p:nvSpPr>
          <p:cNvPr id="9" name="Text 7"/>
          <p:cNvSpPr txBox="1"/>
          <p:nvPr/>
        </p:nvSpPr>
        <p:spPr>
          <a:xfrm>
            <a:off x="2834640" y="1335024"/>
            <a:ext cx="420624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SAME-STORE, 33 STORES</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+2.1 pts</a:t>
            </a:r>
            <a:endParaRPr lang="en-US" sz="2000" dirty="0"/>
          </a:p>
        </p:txBody>
      </p:sp>
      <p:sp>
        <p:nvSpPr>
          <p:cNvPr id="11" name="Text 9"/>
          <p:cNvSpPr txBox="1"/>
          <p:nvPr/>
        </p:nvSpPr>
        <p:spPr>
          <a:xfrm>
            <a:off x="658368"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12" name="Shape 10"/>
          <p:cNvSpPr/>
          <p:nvPr/>
        </p:nvSpPr>
        <p:spPr>
          <a:xfrm>
            <a:off x="3813048" y="1909246"/>
            <a:ext cx="758401" cy="105898"/>
          </a:xfrm>
          <a:prstGeom prst="rect">
            <a:avLst/>
          </a:prstGeom>
          <a:solidFill>
            <a:srgbClr val="12A566"/>
          </a:solidFill>
          <a:ln/>
        </p:spPr>
      </p:sp>
      <p:sp>
        <p:nvSpPr>
          <p:cNvPr id="13" name="Text 11"/>
          <p:cNvSpPr txBox="1"/>
          <p:nvPr/>
        </p:nvSpPr>
        <p:spPr>
          <a:xfrm>
            <a:off x="4709160"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+16.1 pts</a:t>
            </a:r>
            <a:endParaRPr lang="en-US" sz="1300" dirty="0"/>
          </a:p>
        </p:txBody>
      </p:sp>
      <p:sp>
        <p:nvSpPr>
          <p:cNvPr id="14" name="Text 12"/>
          <p:cNvSpPr txBox="1"/>
          <p:nvPr/>
        </p:nvSpPr>
        <p:spPr>
          <a:xfrm>
            <a:off x="658368"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15" name="Shape 13"/>
          <p:cNvSpPr/>
          <p:nvPr/>
        </p:nvSpPr>
        <p:spPr>
          <a:xfrm>
            <a:off x="3813048" y="2139459"/>
            <a:ext cx="450769" cy="105898"/>
          </a:xfrm>
          <a:prstGeom prst="rect">
            <a:avLst/>
          </a:prstGeom>
          <a:solidFill>
            <a:srgbClr val="12A566"/>
          </a:solidFill>
          <a:ln/>
        </p:spPr>
      </p:sp>
      <p:sp>
        <p:nvSpPr>
          <p:cNvPr id="16" name="Text 14"/>
          <p:cNvSpPr txBox="1"/>
          <p:nvPr/>
        </p:nvSpPr>
        <p:spPr>
          <a:xfrm>
            <a:off x="4709160"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+9.5 pts</a:t>
            </a:r>
            <a:endParaRPr lang="en-US" sz="1300" dirty="0"/>
          </a:p>
        </p:txBody>
      </p:sp>
      <p:sp>
        <p:nvSpPr>
          <p:cNvPr id="17" name="Text 15"/>
          <p:cNvSpPr txBox="1"/>
          <p:nvPr/>
        </p:nvSpPr>
        <p:spPr>
          <a:xfrm>
            <a:off x="658368"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18" name="Shape 16"/>
          <p:cNvSpPr/>
          <p:nvPr/>
        </p:nvSpPr>
        <p:spPr>
          <a:xfrm>
            <a:off x="3813048" y="2369673"/>
            <a:ext cx="448866" cy="105898"/>
          </a:xfrm>
          <a:prstGeom prst="rect">
            <a:avLst/>
          </a:prstGeom>
          <a:solidFill>
            <a:srgbClr val="12A566"/>
          </a:solidFill>
          <a:ln/>
        </p:spPr>
      </p:sp>
      <p:sp>
        <p:nvSpPr>
          <p:cNvPr id="19" name="Text 17"/>
          <p:cNvSpPr txBox="1"/>
          <p:nvPr/>
        </p:nvSpPr>
        <p:spPr>
          <a:xfrm>
            <a:off x="4709160"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+9.5 pts</a:t>
            </a:r>
            <a:endParaRPr lang="en-US" sz="1300" dirty="0"/>
          </a:p>
        </p:txBody>
      </p:sp>
      <p:sp>
        <p:nvSpPr>
          <p:cNvPr id="20" name="Text 18"/>
          <p:cNvSpPr txBox="1"/>
          <p:nvPr/>
        </p:nvSpPr>
        <p:spPr>
          <a:xfrm>
            <a:off x="658368"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21" name="Shape 19"/>
          <p:cNvSpPr/>
          <p:nvPr/>
        </p:nvSpPr>
        <p:spPr>
          <a:xfrm>
            <a:off x="3813048" y="2599887"/>
            <a:ext cx="264472" cy="105898"/>
          </a:xfrm>
          <a:prstGeom prst="rect">
            <a:avLst/>
          </a:prstGeom>
          <a:solidFill>
            <a:srgbClr val="12A566"/>
          </a:solidFill>
          <a:ln/>
        </p:spPr>
      </p:sp>
      <p:sp>
        <p:nvSpPr>
          <p:cNvPr id="22" name="Text 20"/>
          <p:cNvSpPr txBox="1"/>
          <p:nvPr/>
        </p:nvSpPr>
        <p:spPr>
          <a:xfrm>
            <a:off x="4709160"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+5.6 pts</a:t>
            </a:r>
            <a:endParaRPr lang="en-US" sz="1300" dirty="0"/>
          </a:p>
        </p:txBody>
      </p:sp>
      <p:sp>
        <p:nvSpPr>
          <p:cNvPr id="23" name="Text 21"/>
          <p:cNvSpPr txBox="1"/>
          <p:nvPr/>
        </p:nvSpPr>
        <p:spPr>
          <a:xfrm>
            <a:off x="658368"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24" name="Shape 22"/>
          <p:cNvSpPr/>
          <p:nvPr/>
        </p:nvSpPr>
        <p:spPr>
          <a:xfrm>
            <a:off x="3813048" y="2830100"/>
            <a:ext cx="256132" cy="105898"/>
          </a:xfrm>
          <a:prstGeom prst="rect">
            <a:avLst/>
          </a:prstGeom>
          <a:solidFill>
            <a:srgbClr val="12A566"/>
          </a:solidFill>
          <a:ln/>
        </p:spPr>
      </p:sp>
      <p:sp>
        <p:nvSpPr>
          <p:cNvPr id="25" name="Text 23"/>
          <p:cNvSpPr txBox="1"/>
          <p:nvPr/>
        </p:nvSpPr>
        <p:spPr>
          <a:xfrm>
            <a:off x="4709160"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+5.4 pts</a:t>
            </a:r>
            <a:endParaRPr lang="en-US" sz="1300" dirty="0"/>
          </a:p>
        </p:txBody>
      </p:sp>
      <p:sp>
        <p:nvSpPr>
          <p:cNvPr id="26" name="Text 24"/>
          <p:cNvSpPr txBox="1"/>
          <p:nvPr/>
        </p:nvSpPr>
        <p:spPr>
          <a:xfrm>
            <a:off x="658368"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27" name="Shape 25"/>
          <p:cNvSpPr/>
          <p:nvPr/>
        </p:nvSpPr>
        <p:spPr>
          <a:xfrm>
            <a:off x="3813048" y="3060314"/>
            <a:ext cx="248223" cy="105898"/>
          </a:xfrm>
          <a:prstGeom prst="rect">
            <a:avLst/>
          </a:prstGeom>
          <a:solidFill>
            <a:srgbClr val="12A566"/>
          </a:solidFill>
          <a:ln/>
        </p:spPr>
      </p:sp>
      <p:sp>
        <p:nvSpPr>
          <p:cNvPr id="28" name="Text 26"/>
          <p:cNvSpPr txBox="1"/>
          <p:nvPr/>
        </p:nvSpPr>
        <p:spPr>
          <a:xfrm>
            <a:off x="4709160"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+5.3 pts</a:t>
            </a:r>
            <a:endParaRPr lang="en-US" sz="1300" dirty="0"/>
          </a:p>
        </p:txBody>
      </p:sp>
      <p:sp>
        <p:nvSpPr>
          <p:cNvPr id="29" name="Text 27"/>
          <p:cNvSpPr txBox="1"/>
          <p:nvPr/>
        </p:nvSpPr>
        <p:spPr>
          <a:xfrm>
            <a:off x="658368"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30" name="Shape 28"/>
          <p:cNvSpPr/>
          <p:nvPr/>
        </p:nvSpPr>
        <p:spPr>
          <a:xfrm>
            <a:off x="3813048" y="3290528"/>
            <a:ext cx="247899" cy="105898"/>
          </a:xfrm>
          <a:prstGeom prst="rect">
            <a:avLst/>
          </a:prstGeom>
          <a:solidFill>
            <a:srgbClr val="12A566"/>
          </a:solidFill>
          <a:ln/>
        </p:spPr>
      </p:sp>
      <p:sp>
        <p:nvSpPr>
          <p:cNvPr id="31" name="Text 29"/>
          <p:cNvSpPr txBox="1"/>
          <p:nvPr/>
        </p:nvSpPr>
        <p:spPr>
          <a:xfrm>
            <a:off x="4709160" y="3228370"/>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+5.2 pts</a:t>
            </a:r>
            <a:endParaRPr lang="en-US" sz="1300" dirty="0"/>
          </a:p>
        </p:txBody>
      </p:sp>
      <p:sp>
        <p:nvSpPr>
          <p:cNvPr id="32" name="Text 30"/>
          <p:cNvSpPr txBox="1"/>
          <p:nvPr/>
        </p:nvSpPr>
        <p:spPr>
          <a:xfrm>
            <a:off x="658368"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33" name="Shape 31"/>
          <p:cNvSpPr/>
          <p:nvPr/>
        </p:nvSpPr>
        <p:spPr>
          <a:xfrm>
            <a:off x="3813048" y="3520741"/>
            <a:ext cx="244073" cy="105898"/>
          </a:xfrm>
          <a:prstGeom prst="rect">
            <a:avLst/>
          </a:prstGeom>
          <a:solidFill>
            <a:srgbClr val="12A566"/>
          </a:solidFill>
          <a:ln/>
        </p:spPr>
      </p:sp>
      <p:sp>
        <p:nvSpPr>
          <p:cNvPr id="34" name="Text 32"/>
          <p:cNvSpPr txBox="1"/>
          <p:nvPr/>
        </p:nvSpPr>
        <p:spPr>
          <a:xfrm>
            <a:off x="4709160" y="345858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+5.2 pts</a:t>
            </a:r>
            <a:endParaRPr lang="en-US" sz="1300" dirty="0"/>
          </a:p>
        </p:txBody>
      </p:sp>
      <p:sp>
        <p:nvSpPr>
          <p:cNvPr id="35" name="Text 33"/>
          <p:cNvSpPr txBox="1"/>
          <p:nvPr/>
        </p:nvSpPr>
        <p:spPr>
          <a:xfrm>
            <a:off x="658368"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36" name="Shape 34"/>
          <p:cNvSpPr/>
          <p:nvPr/>
        </p:nvSpPr>
        <p:spPr>
          <a:xfrm>
            <a:off x="3813048" y="3750955"/>
            <a:ext cx="240793" cy="105898"/>
          </a:xfrm>
          <a:prstGeom prst="rect">
            <a:avLst/>
          </a:prstGeom>
          <a:solidFill>
            <a:srgbClr val="12A566"/>
          </a:solidFill>
          <a:ln/>
        </p:spPr>
      </p:sp>
      <p:sp>
        <p:nvSpPr>
          <p:cNvPr id="37" name="Text 35"/>
          <p:cNvSpPr txBox="1"/>
          <p:nvPr/>
        </p:nvSpPr>
        <p:spPr>
          <a:xfrm>
            <a:off x="4709160" y="3688797"/>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+5.1 pts</a:t>
            </a:r>
            <a:endParaRPr lang="en-US" sz="1300" dirty="0"/>
          </a:p>
        </p:txBody>
      </p:sp>
      <p:sp>
        <p:nvSpPr>
          <p:cNvPr id="38" name="Text 36"/>
          <p:cNvSpPr txBox="1"/>
          <p:nvPr/>
        </p:nvSpPr>
        <p:spPr>
          <a:xfrm>
            <a:off x="658368"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39" name="Shape 37"/>
          <p:cNvSpPr/>
          <p:nvPr/>
        </p:nvSpPr>
        <p:spPr>
          <a:xfrm>
            <a:off x="3813048" y="3981169"/>
            <a:ext cx="235650" cy="105898"/>
          </a:xfrm>
          <a:prstGeom prst="rect">
            <a:avLst/>
          </a:prstGeom>
          <a:solidFill>
            <a:srgbClr val="12A566"/>
          </a:solidFill>
          <a:ln/>
        </p:spPr>
      </p:sp>
      <p:sp>
        <p:nvSpPr>
          <p:cNvPr id="40" name="Text 38"/>
          <p:cNvSpPr txBox="1"/>
          <p:nvPr/>
        </p:nvSpPr>
        <p:spPr>
          <a:xfrm>
            <a:off x="4709160" y="3919011"/>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+5.0 pts</a:t>
            </a:r>
            <a:endParaRPr lang="en-US" sz="1300" dirty="0"/>
          </a:p>
        </p:txBody>
      </p:sp>
      <p:sp>
        <p:nvSpPr>
          <p:cNvPr id="41" name="Text 39"/>
          <p:cNvSpPr txBox="1"/>
          <p:nvPr/>
        </p:nvSpPr>
        <p:spPr>
          <a:xfrm>
            <a:off x="658368"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42" name="Shape 40"/>
          <p:cNvSpPr/>
          <p:nvPr/>
        </p:nvSpPr>
        <p:spPr>
          <a:xfrm>
            <a:off x="3813048" y="4211382"/>
            <a:ext cx="233789" cy="105898"/>
          </a:xfrm>
          <a:prstGeom prst="rect">
            <a:avLst/>
          </a:prstGeom>
          <a:solidFill>
            <a:srgbClr val="12A566"/>
          </a:solidFill>
          <a:ln/>
        </p:spPr>
      </p:sp>
      <p:sp>
        <p:nvSpPr>
          <p:cNvPr id="43" name="Text 41"/>
          <p:cNvSpPr txBox="1"/>
          <p:nvPr/>
        </p:nvSpPr>
        <p:spPr>
          <a:xfrm>
            <a:off x="4709160" y="414922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+4.9 pts</a:t>
            </a:r>
            <a:endParaRPr lang="en-US" sz="1300" dirty="0"/>
          </a:p>
        </p:txBody>
      </p:sp>
      <p:sp>
        <p:nvSpPr>
          <p:cNvPr id="44" name="Text 42"/>
          <p:cNvSpPr txBox="1"/>
          <p:nvPr/>
        </p:nvSpPr>
        <p:spPr>
          <a:xfrm>
            <a:off x="658368"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45" name="Shape 43"/>
          <p:cNvSpPr/>
          <p:nvPr/>
        </p:nvSpPr>
        <p:spPr>
          <a:xfrm>
            <a:off x="3813048" y="4441596"/>
            <a:ext cx="224860" cy="105898"/>
          </a:xfrm>
          <a:prstGeom prst="rect">
            <a:avLst/>
          </a:prstGeom>
          <a:solidFill>
            <a:srgbClr val="12A566"/>
          </a:solidFill>
          <a:ln/>
        </p:spPr>
      </p:sp>
      <p:sp>
        <p:nvSpPr>
          <p:cNvPr id="46" name="Text 44"/>
          <p:cNvSpPr txBox="1"/>
          <p:nvPr/>
        </p:nvSpPr>
        <p:spPr>
          <a:xfrm>
            <a:off x="4709160" y="437943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+4.8 pts</a:t>
            </a:r>
            <a:endParaRPr lang="en-US" sz="1300" dirty="0"/>
          </a:p>
        </p:txBody>
      </p:sp>
      <p:sp>
        <p:nvSpPr>
          <p:cNvPr id="47" name="Text 45"/>
          <p:cNvSpPr txBox="1"/>
          <p:nvPr/>
        </p:nvSpPr>
        <p:spPr>
          <a:xfrm>
            <a:off x="658368"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48" name="Shape 46"/>
          <p:cNvSpPr/>
          <p:nvPr/>
        </p:nvSpPr>
        <p:spPr>
          <a:xfrm>
            <a:off x="3813048" y="4671809"/>
            <a:ext cx="188558" cy="105898"/>
          </a:xfrm>
          <a:prstGeom prst="rect">
            <a:avLst/>
          </a:prstGeom>
          <a:solidFill>
            <a:srgbClr val="12A566"/>
          </a:solidFill>
          <a:ln/>
        </p:spPr>
      </p:sp>
      <p:sp>
        <p:nvSpPr>
          <p:cNvPr id="49" name="Text 47"/>
          <p:cNvSpPr txBox="1"/>
          <p:nvPr/>
        </p:nvSpPr>
        <p:spPr>
          <a:xfrm>
            <a:off x="4709160" y="460965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+4.0 pts</a:t>
            </a:r>
            <a:endParaRPr lang="en-US" sz="1300" dirty="0"/>
          </a:p>
        </p:txBody>
      </p:sp>
      <p:sp>
        <p:nvSpPr>
          <p:cNvPr id="50" name="Text 48"/>
          <p:cNvSpPr txBox="1"/>
          <p:nvPr/>
        </p:nvSpPr>
        <p:spPr>
          <a:xfrm>
            <a:off x="658368"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51" name="Shape 49"/>
          <p:cNvSpPr/>
          <p:nvPr/>
        </p:nvSpPr>
        <p:spPr>
          <a:xfrm>
            <a:off x="3813048" y="4902023"/>
            <a:ext cx="182091" cy="105898"/>
          </a:xfrm>
          <a:prstGeom prst="rect">
            <a:avLst/>
          </a:prstGeom>
          <a:solidFill>
            <a:srgbClr val="12A566"/>
          </a:solidFill>
          <a:ln/>
        </p:spPr>
      </p:sp>
      <p:sp>
        <p:nvSpPr>
          <p:cNvPr id="52" name="Text 50"/>
          <p:cNvSpPr txBox="1"/>
          <p:nvPr/>
        </p:nvSpPr>
        <p:spPr>
          <a:xfrm>
            <a:off x="4709160" y="483986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+3.9 pts</a:t>
            </a:r>
            <a:endParaRPr lang="en-US" sz="1300" dirty="0"/>
          </a:p>
        </p:txBody>
      </p:sp>
      <p:sp>
        <p:nvSpPr>
          <p:cNvPr id="53" name="Text 51"/>
          <p:cNvSpPr txBox="1"/>
          <p:nvPr/>
        </p:nvSpPr>
        <p:spPr>
          <a:xfrm>
            <a:off x="658368"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54" name="Shape 52"/>
          <p:cNvSpPr/>
          <p:nvPr/>
        </p:nvSpPr>
        <p:spPr>
          <a:xfrm>
            <a:off x="3813048" y="5132237"/>
            <a:ext cx="180766" cy="105898"/>
          </a:xfrm>
          <a:prstGeom prst="rect">
            <a:avLst/>
          </a:prstGeom>
          <a:solidFill>
            <a:srgbClr val="12A566"/>
          </a:solidFill>
          <a:ln/>
        </p:spPr>
      </p:sp>
      <p:sp>
        <p:nvSpPr>
          <p:cNvPr id="55" name="Text 53"/>
          <p:cNvSpPr txBox="1"/>
          <p:nvPr/>
        </p:nvSpPr>
        <p:spPr>
          <a:xfrm>
            <a:off x="4709160" y="507007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+3.8 pts</a:t>
            </a:r>
            <a:endParaRPr lang="en-US" sz="1300" dirty="0"/>
          </a:p>
        </p:txBody>
      </p:sp>
      <p:sp>
        <p:nvSpPr>
          <p:cNvPr id="56" name="Text 54"/>
          <p:cNvSpPr txBox="1"/>
          <p:nvPr/>
        </p:nvSpPr>
        <p:spPr>
          <a:xfrm>
            <a:off x="658368"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57" name="Shape 55"/>
          <p:cNvSpPr/>
          <p:nvPr/>
        </p:nvSpPr>
        <p:spPr>
          <a:xfrm>
            <a:off x="3813048" y="5362450"/>
            <a:ext cx="154357" cy="105898"/>
          </a:xfrm>
          <a:prstGeom prst="rect">
            <a:avLst/>
          </a:prstGeom>
          <a:solidFill>
            <a:srgbClr val="12A566"/>
          </a:solidFill>
          <a:ln/>
        </p:spPr>
      </p:sp>
      <p:sp>
        <p:nvSpPr>
          <p:cNvPr id="58" name="Text 56"/>
          <p:cNvSpPr txBox="1"/>
          <p:nvPr/>
        </p:nvSpPr>
        <p:spPr>
          <a:xfrm>
            <a:off x="4709160" y="530029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+3.3 pts</a:t>
            </a:r>
            <a:endParaRPr lang="en-US" sz="1300" dirty="0"/>
          </a:p>
        </p:txBody>
      </p:sp>
      <p:sp>
        <p:nvSpPr>
          <p:cNvPr id="59" name="Text 57"/>
          <p:cNvSpPr txBox="1"/>
          <p:nvPr/>
        </p:nvSpPr>
        <p:spPr>
          <a:xfrm>
            <a:off x="658368" y="553050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60" name="Shape 58"/>
          <p:cNvSpPr/>
          <p:nvPr/>
        </p:nvSpPr>
        <p:spPr>
          <a:xfrm>
            <a:off x="3813048" y="5592664"/>
            <a:ext cx="152494" cy="105898"/>
          </a:xfrm>
          <a:prstGeom prst="rect">
            <a:avLst/>
          </a:prstGeom>
          <a:solidFill>
            <a:srgbClr val="12A566"/>
          </a:solidFill>
          <a:ln/>
        </p:spPr>
      </p:sp>
      <p:sp>
        <p:nvSpPr>
          <p:cNvPr id="61" name="Text 59"/>
          <p:cNvSpPr txBox="1"/>
          <p:nvPr/>
        </p:nvSpPr>
        <p:spPr>
          <a:xfrm>
            <a:off x="4709160" y="553050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+3.2 pts</a:t>
            </a:r>
            <a:endParaRPr lang="en-US" sz="1300" dirty="0"/>
          </a:p>
        </p:txBody>
      </p:sp>
      <p:sp>
        <p:nvSpPr>
          <p:cNvPr id="62" name="Text 60"/>
          <p:cNvSpPr txBox="1"/>
          <p:nvPr/>
        </p:nvSpPr>
        <p:spPr>
          <a:xfrm>
            <a:off x="6208776"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63" name="Shape 61"/>
          <p:cNvSpPr/>
          <p:nvPr/>
        </p:nvSpPr>
        <p:spPr>
          <a:xfrm>
            <a:off x="9363456" y="1909246"/>
            <a:ext cx="118534" cy="105898"/>
          </a:xfrm>
          <a:prstGeom prst="rect">
            <a:avLst/>
          </a:prstGeom>
          <a:solidFill>
            <a:srgbClr val="12A566"/>
          </a:solidFill>
          <a:ln/>
        </p:spPr>
      </p:sp>
      <p:sp>
        <p:nvSpPr>
          <p:cNvPr id="64" name="Text 62"/>
          <p:cNvSpPr txBox="1"/>
          <p:nvPr/>
        </p:nvSpPr>
        <p:spPr>
          <a:xfrm>
            <a:off x="10259568"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+2.5 pts</a:t>
            </a:r>
            <a:endParaRPr lang="en-US" sz="1300" dirty="0"/>
          </a:p>
        </p:txBody>
      </p:sp>
      <p:sp>
        <p:nvSpPr>
          <p:cNvPr id="65" name="Text 63"/>
          <p:cNvSpPr txBox="1"/>
          <p:nvPr/>
        </p:nvSpPr>
        <p:spPr>
          <a:xfrm>
            <a:off x="6208776"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66" name="Shape 64"/>
          <p:cNvSpPr/>
          <p:nvPr/>
        </p:nvSpPr>
        <p:spPr>
          <a:xfrm>
            <a:off x="9363456" y="2139459"/>
            <a:ext cx="80893" cy="105898"/>
          </a:xfrm>
          <a:prstGeom prst="rect">
            <a:avLst/>
          </a:prstGeom>
          <a:solidFill>
            <a:srgbClr val="12A566"/>
          </a:solidFill>
          <a:ln/>
        </p:spPr>
      </p:sp>
      <p:sp>
        <p:nvSpPr>
          <p:cNvPr id="67" name="Text 65"/>
          <p:cNvSpPr txBox="1"/>
          <p:nvPr/>
        </p:nvSpPr>
        <p:spPr>
          <a:xfrm>
            <a:off x="10259568"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+1.7 pts</a:t>
            </a:r>
            <a:endParaRPr lang="en-US" sz="1300" dirty="0"/>
          </a:p>
        </p:txBody>
      </p:sp>
      <p:sp>
        <p:nvSpPr>
          <p:cNvPr id="68" name="Text 66"/>
          <p:cNvSpPr txBox="1"/>
          <p:nvPr/>
        </p:nvSpPr>
        <p:spPr>
          <a:xfrm>
            <a:off x="6208776"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69" name="Shape 67"/>
          <p:cNvSpPr/>
          <p:nvPr/>
        </p:nvSpPr>
        <p:spPr>
          <a:xfrm>
            <a:off x="9363456" y="2369673"/>
            <a:ext cx="75419" cy="105898"/>
          </a:xfrm>
          <a:prstGeom prst="rect">
            <a:avLst/>
          </a:prstGeom>
          <a:solidFill>
            <a:srgbClr val="12A566"/>
          </a:solidFill>
          <a:ln/>
        </p:spPr>
      </p:sp>
      <p:sp>
        <p:nvSpPr>
          <p:cNvPr id="70" name="Text 68"/>
          <p:cNvSpPr txBox="1"/>
          <p:nvPr/>
        </p:nvSpPr>
        <p:spPr>
          <a:xfrm>
            <a:off x="10259568"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+1.6 pts</a:t>
            </a:r>
            <a:endParaRPr lang="en-US" sz="1300" dirty="0"/>
          </a:p>
        </p:txBody>
      </p:sp>
      <p:sp>
        <p:nvSpPr>
          <p:cNvPr id="71" name="Text 69"/>
          <p:cNvSpPr txBox="1"/>
          <p:nvPr/>
        </p:nvSpPr>
        <p:spPr>
          <a:xfrm>
            <a:off x="6208776"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72" name="Shape 70"/>
          <p:cNvSpPr/>
          <p:nvPr/>
        </p:nvSpPr>
        <p:spPr>
          <a:xfrm>
            <a:off x="9363456" y="2599887"/>
            <a:ext cx="29502" cy="105898"/>
          </a:xfrm>
          <a:prstGeom prst="rect">
            <a:avLst/>
          </a:prstGeom>
          <a:solidFill>
            <a:srgbClr val="12A566"/>
          </a:solidFill>
          <a:ln/>
        </p:spPr>
      </p:sp>
      <p:sp>
        <p:nvSpPr>
          <p:cNvPr id="73" name="Text 71"/>
          <p:cNvSpPr txBox="1"/>
          <p:nvPr/>
        </p:nvSpPr>
        <p:spPr>
          <a:xfrm>
            <a:off x="10259568"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+0.6 pts</a:t>
            </a:r>
            <a:endParaRPr lang="en-US" sz="1300" dirty="0"/>
          </a:p>
        </p:txBody>
      </p:sp>
      <p:sp>
        <p:nvSpPr>
          <p:cNvPr id="74" name="Text 72"/>
          <p:cNvSpPr txBox="1"/>
          <p:nvPr/>
        </p:nvSpPr>
        <p:spPr>
          <a:xfrm>
            <a:off x="6208776"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75" name="Shape 73"/>
          <p:cNvSpPr/>
          <p:nvPr/>
        </p:nvSpPr>
        <p:spPr>
          <a:xfrm>
            <a:off x="9363456" y="2830100"/>
            <a:ext cx="14122" cy="105898"/>
          </a:xfrm>
          <a:prstGeom prst="rect">
            <a:avLst/>
          </a:prstGeom>
          <a:solidFill>
            <a:srgbClr val="12A566"/>
          </a:solidFill>
          <a:ln/>
        </p:spPr>
      </p:sp>
      <p:sp>
        <p:nvSpPr>
          <p:cNvPr id="76" name="Text 74"/>
          <p:cNvSpPr txBox="1"/>
          <p:nvPr/>
        </p:nvSpPr>
        <p:spPr>
          <a:xfrm>
            <a:off x="10259568"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+0.3 pts</a:t>
            </a:r>
            <a:endParaRPr lang="en-US" sz="1300" dirty="0"/>
          </a:p>
        </p:txBody>
      </p:sp>
      <p:sp>
        <p:nvSpPr>
          <p:cNvPr id="77" name="Text 75"/>
          <p:cNvSpPr txBox="1"/>
          <p:nvPr/>
        </p:nvSpPr>
        <p:spPr>
          <a:xfrm>
            <a:off x="6208776"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78" name="Shape 76"/>
          <p:cNvSpPr/>
          <p:nvPr/>
        </p:nvSpPr>
        <p:spPr>
          <a:xfrm>
            <a:off x="9363456" y="3060314"/>
            <a:ext cx="12802" cy="105898"/>
          </a:xfrm>
          <a:prstGeom prst="rect">
            <a:avLst/>
          </a:prstGeom>
          <a:solidFill>
            <a:srgbClr val="12A566"/>
          </a:solidFill>
          <a:ln/>
        </p:spPr>
      </p:sp>
      <p:sp>
        <p:nvSpPr>
          <p:cNvPr id="79" name="Text 77"/>
          <p:cNvSpPr txBox="1"/>
          <p:nvPr/>
        </p:nvSpPr>
        <p:spPr>
          <a:xfrm>
            <a:off x="10259568"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+0.0 pts</a:t>
            </a:r>
            <a:endParaRPr lang="en-US" sz="1300" dirty="0"/>
          </a:p>
        </p:txBody>
      </p:sp>
      <p:sp>
        <p:nvSpPr>
          <p:cNvPr id="80" name="Text 78"/>
          <p:cNvSpPr txBox="1"/>
          <p:nvPr/>
        </p:nvSpPr>
        <p:spPr>
          <a:xfrm>
            <a:off x="6208776"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81" name="Shape 79"/>
          <p:cNvSpPr/>
          <p:nvPr/>
        </p:nvSpPr>
        <p:spPr>
          <a:xfrm>
            <a:off x="9358065" y="3290528"/>
            <a:ext cx="12802" cy="105898"/>
          </a:xfrm>
          <a:prstGeom prst="rect">
            <a:avLst/>
          </a:prstGeom>
          <a:solidFill>
            <a:srgbClr val="C2352F"/>
          </a:solidFill>
          <a:ln/>
        </p:spPr>
      </p:sp>
      <p:sp>
        <p:nvSpPr>
          <p:cNvPr id="82" name="Text 80"/>
          <p:cNvSpPr txBox="1"/>
          <p:nvPr/>
        </p:nvSpPr>
        <p:spPr>
          <a:xfrm>
            <a:off x="10259568" y="3228370"/>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−0.1 pts</a:t>
            </a:r>
            <a:endParaRPr lang="en-US" sz="1300" dirty="0"/>
          </a:p>
        </p:txBody>
      </p:sp>
      <p:sp>
        <p:nvSpPr>
          <p:cNvPr id="83" name="Text 81"/>
          <p:cNvSpPr txBox="1"/>
          <p:nvPr/>
        </p:nvSpPr>
        <p:spPr>
          <a:xfrm>
            <a:off x="6208776"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84" name="Shape 82"/>
          <p:cNvSpPr/>
          <p:nvPr/>
        </p:nvSpPr>
        <p:spPr>
          <a:xfrm>
            <a:off x="9356983" y="3520741"/>
            <a:ext cx="12802" cy="105898"/>
          </a:xfrm>
          <a:prstGeom prst="rect">
            <a:avLst/>
          </a:prstGeom>
          <a:solidFill>
            <a:srgbClr val="C2352F"/>
          </a:solidFill>
          <a:ln/>
        </p:spPr>
      </p:sp>
      <p:sp>
        <p:nvSpPr>
          <p:cNvPr id="85" name="Text 83"/>
          <p:cNvSpPr txBox="1"/>
          <p:nvPr/>
        </p:nvSpPr>
        <p:spPr>
          <a:xfrm>
            <a:off x="10259568" y="345858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−0.1 pts</a:t>
            </a:r>
            <a:endParaRPr lang="en-US" sz="1300" dirty="0"/>
          </a:p>
        </p:txBody>
      </p:sp>
      <p:sp>
        <p:nvSpPr>
          <p:cNvPr id="86" name="Text 84"/>
          <p:cNvSpPr txBox="1"/>
          <p:nvPr/>
        </p:nvSpPr>
        <p:spPr>
          <a:xfrm>
            <a:off x="6208776"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87" name="Shape 85"/>
          <p:cNvSpPr/>
          <p:nvPr/>
        </p:nvSpPr>
        <p:spPr>
          <a:xfrm>
            <a:off x="9352447" y="3750955"/>
            <a:ext cx="12802" cy="105898"/>
          </a:xfrm>
          <a:prstGeom prst="rect">
            <a:avLst/>
          </a:prstGeom>
          <a:solidFill>
            <a:srgbClr val="C2352F"/>
          </a:solidFill>
          <a:ln/>
        </p:spPr>
      </p:sp>
      <p:sp>
        <p:nvSpPr>
          <p:cNvPr id="88" name="Text 86"/>
          <p:cNvSpPr txBox="1"/>
          <p:nvPr/>
        </p:nvSpPr>
        <p:spPr>
          <a:xfrm>
            <a:off x="10259568" y="3688797"/>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−0.2 pts</a:t>
            </a:r>
            <a:endParaRPr lang="en-US" sz="1300" dirty="0"/>
          </a:p>
        </p:txBody>
      </p:sp>
      <p:sp>
        <p:nvSpPr>
          <p:cNvPr id="89" name="Text 87"/>
          <p:cNvSpPr txBox="1"/>
          <p:nvPr/>
        </p:nvSpPr>
        <p:spPr>
          <a:xfrm>
            <a:off x="6208776"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90" name="Shape 88"/>
          <p:cNvSpPr/>
          <p:nvPr/>
        </p:nvSpPr>
        <p:spPr>
          <a:xfrm>
            <a:off x="9312683" y="3981169"/>
            <a:ext cx="50773" cy="105898"/>
          </a:xfrm>
          <a:prstGeom prst="rect">
            <a:avLst/>
          </a:prstGeom>
          <a:solidFill>
            <a:srgbClr val="C2352F"/>
          </a:solidFill>
          <a:ln/>
        </p:spPr>
      </p:sp>
      <p:sp>
        <p:nvSpPr>
          <p:cNvPr id="91" name="Text 89"/>
          <p:cNvSpPr txBox="1"/>
          <p:nvPr/>
        </p:nvSpPr>
        <p:spPr>
          <a:xfrm>
            <a:off x="10259568" y="3919011"/>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 pts</a:t>
            </a:r>
            <a:endParaRPr lang="en-US" sz="1300" dirty="0"/>
          </a:p>
        </p:txBody>
      </p:sp>
      <p:sp>
        <p:nvSpPr>
          <p:cNvPr id="92" name="Text 90"/>
          <p:cNvSpPr txBox="1"/>
          <p:nvPr/>
        </p:nvSpPr>
        <p:spPr>
          <a:xfrm>
            <a:off x="6208776"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93" name="Shape 91"/>
          <p:cNvSpPr/>
          <p:nvPr/>
        </p:nvSpPr>
        <p:spPr>
          <a:xfrm>
            <a:off x="9311195" y="4211382"/>
            <a:ext cx="52261" cy="105898"/>
          </a:xfrm>
          <a:prstGeom prst="rect">
            <a:avLst/>
          </a:prstGeom>
          <a:solidFill>
            <a:srgbClr val="C2352F"/>
          </a:solidFill>
          <a:ln/>
        </p:spPr>
      </p:sp>
      <p:sp>
        <p:nvSpPr>
          <p:cNvPr id="94" name="Text 92"/>
          <p:cNvSpPr txBox="1"/>
          <p:nvPr/>
        </p:nvSpPr>
        <p:spPr>
          <a:xfrm>
            <a:off x="10259568" y="414922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 pts</a:t>
            </a:r>
            <a:endParaRPr lang="en-US" sz="1300" dirty="0"/>
          </a:p>
        </p:txBody>
      </p:sp>
      <p:sp>
        <p:nvSpPr>
          <p:cNvPr id="95" name="Text 93"/>
          <p:cNvSpPr txBox="1"/>
          <p:nvPr/>
        </p:nvSpPr>
        <p:spPr>
          <a:xfrm>
            <a:off x="6208776"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96" name="Shape 94"/>
          <p:cNvSpPr/>
          <p:nvPr/>
        </p:nvSpPr>
        <p:spPr>
          <a:xfrm>
            <a:off x="9254075" y="4441596"/>
            <a:ext cx="109381" cy="105898"/>
          </a:xfrm>
          <a:prstGeom prst="rect">
            <a:avLst/>
          </a:prstGeom>
          <a:solidFill>
            <a:srgbClr val="C2352F"/>
          </a:solidFill>
          <a:ln/>
        </p:spPr>
      </p:sp>
      <p:sp>
        <p:nvSpPr>
          <p:cNvPr id="97" name="Text 95"/>
          <p:cNvSpPr txBox="1"/>
          <p:nvPr/>
        </p:nvSpPr>
        <p:spPr>
          <a:xfrm>
            <a:off x="10259568" y="4379438"/>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−2.3 pts</a:t>
            </a:r>
            <a:endParaRPr lang="en-US" sz="1300" dirty="0"/>
          </a:p>
        </p:txBody>
      </p:sp>
      <p:sp>
        <p:nvSpPr>
          <p:cNvPr id="98" name="Text 96"/>
          <p:cNvSpPr txBox="1"/>
          <p:nvPr/>
        </p:nvSpPr>
        <p:spPr>
          <a:xfrm>
            <a:off x="6208776"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99" name="Shape 97"/>
          <p:cNvSpPr/>
          <p:nvPr/>
        </p:nvSpPr>
        <p:spPr>
          <a:xfrm>
            <a:off x="9074386" y="4671809"/>
            <a:ext cx="289070" cy="105898"/>
          </a:xfrm>
          <a:prstGeom prst="rect">
            <a:avLst/>
          </a:prstGeom>
          <a:solidFill>
            <a:srgbClr val="C2352F"/>
          </a:solidFill>
          <a:ln/>
        </p:spPr>
      </p:sp>
      <p:sp>
        <p:nvSpPr>
          <p:cNvPr id="100" name="Text 98"/>
          <p:cNvSpPr txBox="1"/>
          <p:nvPr/>
        </p:nvSpPr>
        <p:spPr>
          <a:xfrm>
            <a:off x="10259568" y="4609652"/>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−6.1 pts</a:t>
            </a:r>
            <a:endParaRPr lang="en-US" sz="1300" dirty="0"/>
          </a:p>
        </p:txBody>
      </p:sp>
      <p:sp>
        <p:nvSpPr>
          <p:cNvPr id="101" name="Text 99"/>
          <p:cNvSpPr txBox="1"/>
          <p:nvPr/>
        </p:nvSpPr>
        <p:spPr>
          <a:xfrm>
            <a:off x="6208776"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102" name="Shape 100"/>
          <p:cNvSpPr/>
          <p:nvPr/>
        </p:nvSpPr>
        <p:spPr>
          <a:xfrm>
            <a:off x="8905746" y="4902023"/>
            <a:ext cx="457710" cy="105898"/>
          </a:xfrm>
          <a:prstGeom prst="rect">
            <a:avLst/>
          </a:prstGeom>
          <a:solidFill>
            <a:srgbClr val="C2352F"/>
          </a:solidFill>
          <a:ln/>
        </p:spPr>
      </p:sp>
      <p:sp>
        <p:nvSpPr>
          <p:cNvPr id="103" name="Text 101"/>
          <p:cNvSpPr txBox="1"/>
          <p:nvPr/>
        </p:nvSpPr>
        <p:spPr>
          <a:xfrm>
            <a:off x="10259568" y="4839865"/>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−9.7 pts</a:t>
            </a:r>
            <a:endParaRPr lang="en-US" sz="1300" dirty="0"/>
          </a:p>
        </p:txBody>
      </p:sp>
      <p:sp>
        <p:nvSpPr>
          <p:cNvPr id="104" name="Text 102"/>
          <p:cNvSpPr txBox="1"/>
          <p:nvPr/>
        </p:nvSpPr>
        <p:spPr>
          <a:xfrm>
            <a:off x="6208776"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105" name="Shape 103"/>
          <p:cNvSpPr/>
          <p:nvPr/>
        </p:nvSpPr>
        <p:spPr>
          <a:xfrm>
            <a:off x="8885821" y="5132237"/>
            <a:ext cx="477635" cy="105898"/>
          </a:xfrm>
          <a:prstGeom prst="rect">
            <a:avLst/>
          </a:prstGeom>
          <a:solidFill>
            <a:srgbClr val="C2352F"/>
          </a:solidFill>
          <a:ln/>
        </p:spPr>
      </p:sp>
      <p:sp>
        <p:nvSpPr>
          <p:cNvPr id="106" name="Text 104"/>
          <p:cNvSpPr txBox="1"/>
          <p:nvPr/>
        </p:nvSpPr>
        <p:spPr>
          <a:xfrm>
            <a:off x="10259568" y="5070079"/>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−10.1 pts</a:t>
            </a:r>
            <a:endParaRPr lang="en-US" sz="1300" dirty="0"/>
          </a:p>
        </p:txBody>
      </p:sp>
      <p:sp>
        <p:nvSpPr>
          <p:cNvPr id="107" name="Text 105"/>
          <p:cNvSpPr txBox="1"/>
          <p:nvPr/>
        </p:nvSpPr>
        <p:spPr>
          <a:xfrm>
            <a:off x="6208776"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108" name="Shape 106"/>
          <p:cNvSpPr/>
          <p:nvPr/>
        </p:nvSpPr>
        <p:spPr>
          <a:xfrm>
            <a:off x="8540496" y="5362450"/>
            <a:ext cx="822960" cy="105898"/>
          </a:xfrm>
          <a:prstGeom prst="rect">
            <a:avLst/>
          </a:prstGeom>
          <a:solidFill>
            <a:srgbClr val="C2352F"/>
          </a:solidFill>
          <a:ln/>
        </p:spPr>
      </p:sp>
      <p:sp>
        <p:nvSpPr>
          <p:cNvPr id="109" name="Text 107"/>
          <p:cNvSpPr txBox="1"/>
          <p:nvPr/>
        </p:nvSpPr>
        <p:spPr>
          <a:xfrm>
            <a:off x="10259568" y="530029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−17.4 pts</a:t>
            </a:r>
            <a:endParaRPr lang="en-US" sz="1300" dirty="0"/>
          </a:p>
        </p:txBody>
      </p:sp>
      <p:sp>
        <p:nvSpPr>
          <p:cNvPr id="110" name="Shape 108"/>
          <p:cNvSpPr/>
          <p:nvPr/>
        </p:nvSpPr>
        <p:spPr>
          <a:xfrm>
            <a:off x="3807562" y="1847088"/>
            <a:ext cx="10973" cy="3913632"/>
          </a:xfrm>
          <a:prstGeom prst="rect">
            <a:avLst/>
          </a:prstGeom>
          <a:solidFill>
            <a:srgbClr val="9AA3AD"/>
          </a:solidFill>
          <a:ln/>
        </p:spPr>
      </p:sp>
      <p:sp>
        <p:nvSpPr>
          <p:cNvPr id="111" name="Shape 109"/>
          <p:cNvSpPr/>
          <p:nvPr/>
        </p:nvSpPr>
        <p:spPr>
          <a:xfrm>
            <a:off x="9357970" y="1847088"/>
            <a:ext cx="10973" cy="3913632"/>
          </a:xfrm>
          <a:prstGeom prst="rect">
            <a:avLst/>
          </a:prstGeom>
          <a:solidFill>
            <a:srgbClr val="9AA3AD"/>
          </a:solidFill>
          <a:ln/>
        </p:spPr>
      </p:sp>
      <p:sp>
        <p:nvSpPr>
          <p:cNvPr id="112" name="Shape 110"/>
          <p:cNvSpPr/>
          <p:nvPr/>
        </p:nvSpPr>
        <p:spPr>
          <a:xfrm>
            <a:off x="457200" y="5961888"/>
            <a:ext cx="11274552" cy="548640"/>
          </a:xfrm>
          <a:prstGeom prst="rect">
            <a:avLst/>
          </a:prstGeom>
          <a:solidFill>
            <a:srgbClr val="E6F6EE"/>
          </a:solidFill>
          <a:ln/>
        </p:spPr>
      </p:sp>
      <p:sp>
        <p:nvSpPr>
          <p:cNvPr id="113" name="Text 111"/>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23 of 33 stores raised absorption, led by LINCOLN at +16.1 pts to 59.9%. 10 declined; VW ST GEORGE fell most at −17.4 pts.</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Service Net to Gross %</a:t>
            </a:r>
            <a:endParaRPr lang="en-US" sz="2800" dirty="0"/>
          </a:p>
        </p:txBody>
      </p:sp>
      <p:sp>
        <p:nvSpPr>
          <p:cNvPr id="5" name="Shape 3"/>
          <p:cNvSpPr/>
          <p:nvPr/>
        </p:nvSpPr>
        <p:spPr>
          <a:xfrm>
            <a:off x="457200" y="1207008"/>
            <a:ext cx="11274552" cy="1517904"/>
          </a:xfrm>
          <a:prstGeom prst="rect">
            <a:avLst/>
          </a:prstGeom>
          <a:solidFill>
            <a:srgbClr val="FFFFFF"/>
          </a:solidFill>
          <a:ln/>
        </p:spPr>
      </p:sp>
      <p:sp>
        <p:nvSpPr>
          <p:cNvPr id="6" name="Text 4"/>
          <p:cNvSpPr txBox="1"/>
          <p:nvPr/>
        </p:nvSpPr>
        <p:spPr>
          <a:xfrm>
            <a:off x="685800" y="1316736"/>
            <a:ext cx="10789920" cy="274320"/>
          </a:xfrm>
          <a:prstGeom prst="rect">
            <a:avLst/>
          </a:prstGeom>
          <a:noFill/>
          <a:ln/>
        </p:spPr>
        <p:txBody>
          <a:bodyPr wrap="square" lIns="0" tIns="0" rIns="0" bIns="0" rtlCol="0" anchor="ctr"/>
          <a:lstStyle/>
          <a:p>
            <a:pPr indent="0" marL="0">
              <a:buNone/>
            </a:pPr>
            <a:r>
              <a:rPr lang="en-US" sz="1400" spc="100" kern="0" dirty="0">
                <a:solidFill>
                  <a:srgbClr val="595959"/>
                </a:solidFill>
                <a:latin typeface="Inter" pitchFamily="34" charset="0"/>
                <a:ea typeface="Inter" pitchFamily="34" charset="-122"/>
                <a:cs typeface="Inter" pitchFamily="34" charset="-120"/>
              </a:rPr>
              <a:t>GROUP · JANUARY–SEPTEMBER · SAME-STORE, 33 STORES</a:t>
            </a:r>
            <a:endParaRPr lang="en-US" sz="1400" dirty="0"/>
          </a:p>
        </p:txBody>
      </p:sp>
      <p:sp>
        <p:nvSpPr>
          <p:cNvPr id="7" name="Text 5"/>
          <p:cNvSpPr txBox="1"/>
          <p:nvPr/>
        </p:nvSpPr>
        <p:spPr>
          <a:xfrm>
            <a:off x="68580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a:t>
            </a:r>
            <a:endParaRPr lang="en-US" sz="1400" dirty="0"/>
          </a:p>
        </p:txBody>
      </p:sp>
      <p:sp>
        <p:nvSpPr>
          <p:cNvPr id="8" name="Text 6"/>
          <p:cNvSpPr txBox="1"/>
          <p:nvPr/>
        </p:nvSpPr>
        <p:spPr>
          <a:xfrm>
            <a:off x="68580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18.9%</a:t>
            </a:r>
            <a:endParaRPr lang="en-US" sz="3000" dirty="0"/>
          </a:p>
        </p:txBody>
      </p:sp>
      <p:sp>
        <p:nvSpPr>
          <p:cNvPr id="9" name="Text 7"/>
          <p:cNvSpPr txBox="1"/>
          <p:nvPr/>
        </p:nvSpPr>
        <p:spPr>
          <a:xfrm>
            <a:off x="347472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a:t>
            </a:r>
            <a:endParaRPr lang="en-US" sz="1400" dirty="0"/>
          </a:p>
        </p:txBody>
      </p:sp>
      <p:sp>
        <p:nvSpPr>
          <p:cNvPr id="10" name="Text 8"/>
          <p:cNvSpPr txBox="1"/>
          <p:nvPr/>
        </p:nvSpPr>
        <p:spPr>
          <a:xfrm>
            <a:off x="347472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21.8%</a:t>
            </a:r>
            <a:endParaRPr lang="en-US" sz="3000" dirty="0"/>
          </a:p>
        </p:txBody>
      </p:sp>
      <p:sp>
        <p:nvSpPr>
          <p:cNvPr id="11" name="Text 9"/>
          <p:cNvSpPr txBox="1"/>
          <p:nvPr/>
        </p:nvSpPr>
        <p:spPr>
          <a:xfrm>
            <a:off x="626364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2" name="Text 10"/>
          <p:cNvSpPr txBox="1"/>
          <p:nvPr/>
        </p:nvSpPr>
        <p:spPr>
          <a:xfrm>
            <a:off x="626364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+2.9 pts</a:t>
            </a:r>
            <a:endParaRPr lang="en-US" sz="3000" dirty="0"/>
          </a:p>
        </p:txBody>
      </p:sp>
      <p:sp>
        <p:nvSpPr>
          <p:cNvPr id="13" name="Text 11"/>
          <p:cNvSpPr txBox="1"/>
          <p:nvPr/>
        </p:nvSpPr>
        <p:spPr>
          <a:xfrm>
            <a:off x="905256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4" name="Text 12"/>
          <p:cNvSpPr txBox="1"/>
          <p:nvPr/>
        </p:nvSpPr>
        <p:spPr>
          <a:xfrm>
            <a:off x="905256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+15.6%</a:t>
            </a:r>
            <a:endParaRPr lang="en-US" sz="3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2816352"/>
          <a:ext cx="11274552" cy="914400"/>
        </p:xfrm>
        <a:graphic>
          <a:graphicData uri="http://schemas.openxmlformats.org/drawingml/2006/table">
            <a:tbl>
              <a:tblPr/>
              <a:tblGrid>
                <a:gridCol w="3118104"/>
                <a:gridCol w="2039112"/>
                <a:gridCol w="2039112"/>
                <a:gridCol w="2039112"/>
                <a:gridCol w="2039112"/>
              </a:tblGrid>
              <a:tr h="274320">
                <a:tc>
                  <a:txBody>
                    <a:bodyPr/>
                    <a:lstStyle/>
                    <a:p>
                      <a:pPr algn="l" indent="0" marL="0">
                        <a:buNone/>
                      </a:pPr>
                      <a:r>
                        <a:rPr lang="en-US" sz="1400" b="1" dirty="0">
                          <a:solidFill>
                            <a:srgbClr val="FFFFFF"/>
                          </a:solidFill>
                          <a:latin typeface="Inter" pitchFamily="34" charset="0"/>
                          <a:ea typeface="Inter" pitchFamily="34" charset="-122"/>
                          <a:cs typeface="Inter" pitchFamily="34" charset="-120"/>
                        </a:rPr>
                        <a:t>MONTH</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VARIANCE</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 %</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JAN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16.9%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18.1%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+1.2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+7.1%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FEB</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16.1%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20.3%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+4.2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+26.3%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21.2%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24.5%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+3.3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+15.7%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APR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21.2%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23.3%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+2.1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+9.9%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MAY</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21.5%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21.9%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+0.4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19.4%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21.9%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+2.5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+12.7%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JUL</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20.3%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23.8%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+3.5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+17.4%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AUG</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19.6%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+2.8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+14.5%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SEP</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13.1%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19.7%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+6.6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+50.1%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16" name="Shape 13"/>
          <p:cNvSpPr/>
          <p:nvPr/>
        </p:nvSpPr>
        <p:spPr>
          <a:xfrm>
            <a:off x="457200" y="5961888"/>
            <a:ext cx="11274552" cy="548640"/>
          </a:xfrm>
          <a:prstGeom prst="rect">
            <a:avLst/>
          </a:prstGeom>
          <a:solidFill>
            <a:srgbClr val="E6F6EE"/>
          </a:solidFill>
          <a:ln/>
        </p:spPr>
      </p:sp>
      <p:sp>
        <p:nvSpPr>
          <p:cNvPr id="17" name="Text 14"/>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Up 2.9 pts to 21.8%, ahead of 2025 in all nine months. Department profit grew 21.6% on 5.2% more gross.</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Service Net to Gross %</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38988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7" name="Shape 5"/>
          <p:cNvSpPr/>
          <p:nvPr/>
        </p:nvSpPr>
        <p:spPr>
          <a:xfrm>
            <a:off x="2971800" y="1453358"/>
            <a:ext cx="1828800" cy="126940"/>
          </a:xfrm>
          <a:prstGeom prst="rect">
            <a:avLst/>
          </a:prstGeom>
          <a:solidFill>
            <a:srgbClr val="12A566"/>
          </a:solidFill>
          <a:ln/>
        </p:spPr>
      </p:sp>
      <p:sp>
        <p:nvSpPr>
          <p:cNvPr id="8" name="Text 6"/>
          <p:cNvSpPr txBox="1"/>
          <p:nvPr/>
        </p:nvSpPr>
        <p:spPr>
          <a:xfrm>
            <a:off x="4855464" y="1389888"/>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43.0%</a:t>
            </a:r>
            <a:endParaRPr lang="en-US" sz="1300" dirty="0"/>
          </a:p>
        </p:txBody>
      </p:sp>
      <p:sp>
        <p:nvSpPr>
          <p:cNvPr id="9" name="Text 7"/>
          <p:cNvSpPr txBox="1"/>
          <p:nvPr/>
        </p:nvSpPr>
        <p:spPr>
          <a:xfrm>
            <a:off x="658368" y="164376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10" name="Shape 8"/>
          <p:cNvSpPr/>
          <p:nvPr/>
        </p:nvSpPr>
        <p:spPr>
          <a:xfrm>
            <a:off x="2971800" y="1707239"/>
            <a:ext cx="1735978" cy="126940"/>
          </a:xfrm>
          <a:prstGeom prst="rect">
            <a:avLst/>
          </a:prstGeom>
          <a:solidFill>
            <a:srgbClr val="12A566"/>
          </a:solidFill>
          <a:ln/>
        </p:spPr>
      </p:sp>
      <p:sp>
        <p:nvSpPr>
          <p:cNvPr id="11" name="Text 9"/>
          <p:cNvSpPr txBox="1"/>
          <p:nvPr/>
        </p:nvSpPr>
        <p:spPr>
          <a:xfrm>
            <a:off x="4855464" y="1643768"/>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38.6%</a:t>
            </a:r>
            <a:endParaRPr lang="en-US" sz="1300" dirty="0"/>
          </a:p>
        </p:txBody>
      </p:sp>
      <p:sp>
        <p:nvSpPr>
          <p:cNvPr id="12" name="Text 10"/>
          <p:cNvSpPr txBox="1"/>
          <p:nvPr/>
        </p:nvSpPr>
        <p:spPr>
          <a:xfrm>
            <a:off x="658368" y="189764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13" name="Shape 11"/>
          <p:cNvSpPr/>
          <p:nvPr/>
        </p:nvSpPr>
        <p:spPr>
          <a:xfrm>
            <a:off x="2971800" y="1961119"/>
            <a:ext cx="1727990" cy="126940"/>
          </a:xfrm>
          <a:prstGeom prst="rect">
            <a:avLst/>
          </a:prstGeom>
          <a:solidFill>
            <a:srgbClr val="12A566"/>
          </a:solidFill>
          <a:ln/>
        </p:spPr>
      </p:sp>
      <p:sp>
        <p:nvSpPr>
          <p:cNvPr id="14" name="Text 12"/>
          <p:cNvSpPr txBox="1"/>
          <p:nvPr/>
        </p:nvSpPr>
        <p:spPr>
          <a:xfrm>
            <a:off x="4855464" y="1897649"/>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38.2%</a:t>
            </a:r>
            <a:endParaRPr lang="en-US" sz="1300" dirty="0"/>
          </a:p>
        </p:txBody>
      </p:sp>
      <p:sp>
        <p:nvSpPr>
          <p:cNvPr id="15" name="Text 13"/>
          <p:cNvSpPr txBox="1"/>
          <p:nvPr/>
        </p:nvSpPr>
        <p:spPr>
          <a:xfrm>
            <a:off x="658368" y="215152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16" name="Shape 14"/>
          <p:cNvSpPr/>
          <p:nvPr/>
        </p:nvSpPr>
        <p:spPr>
          <a:xfrm>
            <a:off x="2971800" y="2215000"/>
            <a:ext cx="1704494" cy="126940"/>
          </a:xfrm>
          <a:prstGeom prst="rect">
            <a:avLst/>
          </a:prstGeom>
          <a:solidFill>
            <a:srgbClr val="12A566"/>
          </a:solidFill>
          <a:ln/>
        </p:spPr>
      </p:sp>
      <p:sp>
        <p:nvSpPr>
          <p:cNvPr id="17" name="Text 15"/>
          <p:cNvSpPr txBox="1"/>
          <p:nvPr/>
        </p:nvSpPr>
        <p:spPr>
          <a:xfrm>
            <a:off x="4855464" y="2151529"/>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37.1%</a:t>
            </a:r>
            <a:endParaRPr lang="en-US" sz="1300" dirty="0"/>
          </a:p>
        </p:txBody>
      </p:sp>
      <p:sp>
        <p:nvSpPr>
          <p:cNvPr id="18" name="Text 16"/>
          <p:cNvSpPr txBox="1"/>
          <p:nvPr/>
        </p:nvSpPr>
        <p:spPr>
          <a:xfrm>
            <a:off x="658368" y="240541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19" name="Shape 17"/>
          <p:cNvSpPr/>
          <p:nvPr/>
        </p:nvSpPr>
        <p:spPr>
          <a:xfrm>
            <a:off x="2971800" y="2468880"/>
            <a:ext cx="1643563" cy="126940"/>
          </a:xfrm>
          <a:prstGeom prst="rect">
            <a:avLst/>
          </a:prstGeom>
          <a:solidFill>
            <a:srgbClr val="12A566"/>
          </a:solidFill>
          <a:ln/>
        </p:spPr>
      </p:sp>
      <p:sp>
        <p:nvSpPr>
          <p:cNvPr id="20" name="Text 18"/>
          <p:cNvSpPr txBox="1"/>
          <p:nvPr/>
        </p:nvSpPr>
        <p:spPr>
          <a:xfrm>
            <a:off x="4855464" y="2405410"/>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34.1%</a:t>
            </a:r>
            <a:endParaRPr lang="en-US" sz="1300" dirty="0"/>
          </a:p>
        </p:txBody>
      </p:sp>
      <p:sp>
        <p:nvSpPr>
          <p:cNvPr id="21" name="Text 19"/>
          <p:cNvSpPr txBox="1"/>
          <p:nvPr/>
        </p:nvSpPr>
        <p:spPr>
          <a:xfrm>
            <a:off x="658368" y="265929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22" name="Shape 20"/>
          <p:cNvSpPr/>
          <p:nvPr/>
        </p:nvSpPr>
        <p:spPr>
          <a:xfrm>
            <a:off x="2971800" y="2722760"/>
            <a:ext cx="1547521" cy="126940"/>
          </a:xfrm>
          <a:prstGeom prst="rect">
            <a:avLst/>
          </a:prstGeom>
          <a:solidFill>
            <a:srgbClr val="12A566"/>
          </a:solidFill>
          <a:ln/>
        </p:spPr>
      </p:sp>
      <p:sp>
        <p:nvSpPr>
          <p:cNvPr id="23" name="Text 21"/>
          <p:cNvSpPr txBox="1"/>
          <p:nvPr/>
        </p:nvSpPr>
        <p:spPr>
          <a:xfrm>
            <a:off x="4855464" y="2659290"/>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29.5%</a:t>
            </a:r>
            <a:endParaRPr lang="en-US" sz="1300" dirty="0"/>
          </a:p>
        </p:txBody>
      </p:sp>
      <p:sp>
        <p:nvSpPr>
          <p:cNvPr id="24" name="Text 22"/>
          <p:cNvSpPr txBox="1"/>
          <p:nvPr/>
        </p:nvSpPr>
        <p:spPr>
          <a:xfrm>
            <a:off x="658368" y="291317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25" name="Shape 23"/>
          <p:cNvSpPr/>
          <p:nvPr/>
        </p:nvSpPr>
        <p:spPr>
          <a:xfrm>
            <a:off x="2971800" y="2976641"/>
            <a:ext cx="1517568" cy="126940"/>
          </a:xfrm>
          <a:prstGeom prst="rect">
            <a:avLst/>
          </a:prstGeom>
          <a:solidFill>
            <a:srgbClr val="12A566"/>
          </a:solidFill>
          <a:ln/>
        </p:spPr>
      </p:sp>
      <p:sp>
        <p:nvSpPr>
          <p:cNvPr id="26" name="Text 24"/>
          <p:cNvSpPr txBox="1"/>
          <p:nvPr/>
        </p:nvSpPr>
        <p:spPr>
          <a:xfrm>
            <a:off x="4855464" y="2913171"/>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28.1%</a:t>
            </a:r>
            <a:endParaRPr lang="en-US" sz="1300" dirty="0"/>
          </a:p>
        </p:txBody>
      </p:sp>
      <p:sp>
        <p:nvSpPr>
          <p:cNvPr id="27" name="Text 25"/>
          <p:cNvSpPr txBox="1"/>
          <p:nvPr/>
        </p:nvSpPr>
        <p:spPr>
          <a:xfrm>
            <a:off x="658368" y="316705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28" name="Shape 26"/>
          <p:cNvSpPr/>
          <p:nvPr/>
        </p:nvSpPr>
        <p:spPr>
          <a:xfrm>
            <a:off x="2971800" y="3230521"/>
            <a:ext cx="1498638" cy="126940"/>
          </a:xfrm>
          <a:prstGeom prst="rect">
            <a:avLst/>
          </a:prstGeom>
          <a:solidFill>
            <a:srgbClr val="12A566"/>
          </a:solidFill>
          <a:ln/>
        </p:spPr>
      </p:sp>
      <p:sp>
        <p:nvSpPr>
          <p:cNvPr id="29" name="Text 27"/>
          <p:cNvSpPr txBox="1"/>
          <p:nvPr/>
        </p:nvSpPr>
        <p:spPr>
          <a:xfrm>
            <a:off x="4855464" y="3167051"/>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27.2%</a:t>
            </a:r>
            <a:endParaRPr lang="en-US" sz="1300" dirty="0"/>
          </a:p>
        </p:txBody>
      </p:sp>
      <p:sp>
        <p:nvSpPr>
          <p:cNvPr id="30" name="Text 28"/>
          <p:cNvSpPr txBox="1"/>
          <p:nvPr/>
        </p:nvSpPr>
        <p:spPr>
          <a:xfrm>
            <a:off x="658368" y="342093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31" name="Shape 29"/>
          <p:cNvSpPr/>
          <p:nvPr/>
        </p:nvSpPr>
        <p:spPr>
          <a:xfrm>
            <a:off x="2971800" y="3484402"/>
            <a:ext cx="1492748" cy="126940"/>
          </a:xfrm>
          <a:prstGeom prst="rect">
            <a:avLst/>
          </a:prstGeom>
          <a:solidFill>
            <a:srgbClr val="12A566"/>
          </a:solidFill>
          <a:ln/>
        </p:spPr>
      </p:sp>
      <p:sp>
        <p:nvSpPr>
          <p:cNvPr id="32" name="Text 30"/>
          <p:cNvSpPr txBox="1"/>
          <p:nvPr/>
        </p:nvSpPr>
        <p:spPr>
          <a:xfrm>
            <a:off x="4855464" y="3420932"/>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26.9%</a:t>
            </a:r>
            <a:endParaRPr lang="en-US" sz="1300" dirty="0"/>
          </a:p>
        </p:txBody>
      </p:sp>
      <p:sp>
        <p:nvSpPr>
          <p:cNvPr id="33" name="Text 31"/>
          <p:cNvSpPr txBox="1"/>
          <p:nvPr/>
        </p:nvSpPr>
        <p:spPr>
          <a:xfrm>
            <a:off x="658368" y="367481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34" name="Shape 32"/>
          <p:cNvSpPr/>
          <p:nvPr/>
        </p:nvSpPr>
        <p:spPr>
          <a:xfrm>
            <a:off x="2971800" y="3738282"/>
            <a:ext cx="1460705" cy="126940"/>
          </a:xfrm>
          <a:prstGeom prst="rect">
            <a:avLst/>
          </a:prstGeom>
          <a:solidFill>
            <a:srgbClr val="12A566"/>
          </a:solidFill>
          <a:ln/>
        </p:spPr>
      </p:sp>
      <p:sp>
        <p:nvSpPr>
          <p:cNvPr id="35" name="Text 33"/>
          <p:cNvSpPr txBox="1"/>
          <p:nvPr/>
        </p:nvSpPr>
        <p:spPr>
          <a:xfrm>
            <a:off x="4855464" y="3674812"/>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25.3%</a:t>
            </a:r>
            <a:endParaRPr lang="en-US" sz="1300" dirty="0"/>
          </a:p>
        </p:txBody>
      </p:sp>
      <p:sp>
        <p:nvSpPr>
          <p:cNvPr id="36" name="Shape 34"/>
          <p:cNvSpPr/>
          <p:nvPr/>
        </p:nvSpPr>
        <p:spPr>
          <a:xfrm>
            <a:off x="585216" y="3924121"/>
            <a:ext cx="5413248" cy="244736"/>
          </a:xfrm>
          <a:prstGeom prst="rect">
            <a:avLst/>
          </a:prstGeom>
          <a:solidFill>
            <a:srgbClr val="EDF4FA"/>
          </a:solidFill>
          <a:ln/>
        </p:spPr>
      </p:sp>
      <p:sp>
        <p:nvSpPr>
          <p:cNvPr id="37" name="Text 35"/>
          <p:cNvSpPr txBox="1"/>
          <p:nvPr/>
        </p:nvSpPr>
        <p:spPr>
          <a:xfrm>
            <a:off x="658368" y="3928693"/>
            <a:ext cx="2240280" cy="253880"/>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GROUP</a:t>
            </a:r>
            <a:endParaRPr lang="en-US" sz="1300" dirty="0"/>
          </a:p>
        </p:txBody>
      </p:sp>
      <p:sp>
        <p:nvSpPr>
          <p:cNvPr id="38" name="Shape 36"/>
          <p:cNvSpPr/>
          <p:nvPr/>
        </p:nvSpPr>
        <p:spPr>
          <a:xfrm>
            <a:off x="2971800" y="3992163"/>
            <a:ext cx="1388105" cy="126940"/>
          </a:xfrm>
          <a:prstGeom prst="rect">
            <a:avLst/>
          </a:prstGeom>
          <a:solidFill>
            <a:srgbClr val="0B2C4A"/>
          </a:solidFill>
          <a:ln/>
        </p:spPr>
      </p:sp>
      <p:sp>
        <p:nvSpPr>
          <p:cNvPr id="39" name="Text 37"/>
          <p:cNvSpPr txBox="1"/>
          <p:nvPr/>
        </p:nvSpPr>
        <p:spPr>
          <a:xfrm>
            <a:off x="4855464" y="3928693"/>
            <a:ext cx="1088136" cy="253880"/>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21.8%</a:t>
            </a:r>
            <a:endParaRPr lang="en-US" sz="1300" dirty="0"/>
          </a:p>
        </p:txBody>
      </p:sp>
      <p:sp>
        <p:nvSpPr>
          <p:cNvPr id="40" name="Text 38"/>
          <p:cNvSpPr txBox="1"/>
          <p:nvPr/>
        </p:nvSpPr>
        <p:spPr>
          <a:xfrm>
            <a:off x="658368" y="418257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41" name="Shape 39"/>
          <p:cNvSpPr/>
          <p:nvPr/>
        </p:nvSpPr>
        <p:spPr>
          <a:xfrm>
            <a:off x="2971800" y="4246043"/>
            <a:ext cx="1387799" cy="126940"/>
          </a:xfrm>
          <a:prstGeom prst="rect">
            <a:avLst/>
          </a:prstGeom>
          <a:solidFill>
            <a:srgbClr val="C2352F"/>
          </a:solidFill>
          <a:ln/>
        </p:spPr>
      </p:sp>
      <p:sp>
        <p:nvSpPr>
          <p:cNvPr id="42" name="Text 40"/>
          <p:cNvSpPr txBox="1"/>
          <p:nvPr/>
        </p:nvSpPr>
        <p:spPr>
          <a:xfrm>
            <a:off x="4855464" y="4182573"/>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21.8%</a:t>
            </a:r>
            <a:endParaRPr lang="en-US" sz="1300" dirty="0"/>
          </a:p>
        </p:txBody>
      </p:sp>
      <p:sp>
        <p:nvSpPr>
          <p:cNvPr id="43" name="Text 41"/>
          <p:cNvSpPr txBox="1"/>
          <p:nvPr/>
        </p:nvSpPr>
        <p:spPr>
          <a:xfrm>
            <a:off x="658368" y="443645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44" name="Shape 42"/>
          <p:cNvSpPr/>
          <p:nvPr/>
        </p:nvSpPr>
        <p:spPr>
          <a:xfrm>
            <a:off x="2971800" y="4499924"/>
            <a:ext cx="1381811" cy="126940"/>
          </a:xfrm>
          <a:prstGeom prst="rect">
            <a:avLst/>
          </a:prstGeom>
          <a:solidFill>
            <a:srgbClr val="C2352F"/>
          </a:solidFill>
          <a:ln/>
        </p:spPr>
      </p:sp>
      <p:sp>
        <p:nvSpPr>
          <p:cNvPr id="45" name="Text 43"/>
          <p:cNvSpPr txBox="1"/>
          <p:nvPr/>
        </p:nvSpPr>
        <p:spPr>
          <a:xfrm>
            <a:off x="4855464" y="4436454"/>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21.5%</a:t>
            </a:r>
            <a:endParaRPr lang="en-US" sz="1300" dirty="0"/>
          </a:p>
        </p:txBody>
      </p:sp>
      <p:sp>
        <p:nvSpPr>
          <p:cNvPr id="46" name="Text 44"/>
          <p:cNvSpPr txBox="1"/>
          <p:nvPr/>
        </p:nvSpPr>
        <p:spPr>
          <a:xfrm>
            <a:off x="658368" y="469033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47" name="Shape 45"/>
          <p:cNvSpPr/>
          <p:nvPr/>
        </p:nvSpPr>
        <p:spPr>
          <a:xfrm>
            <a:off x="2971800" y="4753804"/>
            <a:ext cx="1353607" cy="126940"/>
          </a:xfrm>
          <a:prstGeom prst="rect">
            <a:avLst/>
          </a:prstGeom>
          <a:solidFill>
            <a:srgbClr val="C2352F"/>
          </a:solidFill>
          <a:ln/>
        </p:spPr>
      </p:sp>
      <p:sp>
        <p:nvSpPr>
          <p:cNvPr id="48" name="Text 46"/>
          <p:cNvSpPr txBox="1"/>
          <p:nvPr/>
        </p:nvSpPr>
        <p:spPr>
          <a:xfrm>
            <a:off x="4855464" y="4690334"/>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20.2%</a:t>
            </a:r>
            <a:endParaRPr lang="en-US" sz="1300" dirty="0"/>
          </a:p>
        </p:txBody>
      </p:sp>
      <p:sp>
        <p:nvSpPr>
          <p:cNvPr id="49" name="Text 47"/>
          <p:cNvSpPr txBox="1"/>
          <p:nvPr/>
        </p:nvSpPr>
        <p:spPr>
          <a:xfrm>
            <a:off x="658368" y="494421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50" name="Shape 48"/>
          <p:cNvSpPr/>
          <p:nvPr/>
        </p:nvSpPr>
        <p:spPr>
          <a:xfrm>
            <a:off x="2971800" y="5007685"/>
            <a:ext cx="1337394" cy="126940"/>
          </a:xfrm>
          <a:prstGeom prst="rect">
            <a:avLst/>
          </a:prstGeom>
          <a:solidFill>
            <a:srgbClr val="C2352F"/>
          </a:solidFill>
          <a:ln/>
        </p:spPr>
      </p:sp>
      <p:sp>
        <p:nvSpPr>
          <p:cNvPr id="51" name="Text 49"/>
          <p:cNvSpPr txBox="1"/>
          <p:nvPr/>
        </p:nvSpPr>
        <p:spPr>
          <a:xfrm>
            <a:off x="4855464" y="4944215"/>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19.4%</a:t>
            </a:r>
            <a:endParaRPr lang="en-US" sz="1300" dirty="0"/>
          </a:p>
        </p:txBody>
      </p:sp>
      <p:sp>
        <p:nvSpPr>
          <p:cNvPr id="52" name="Text 50"/>
          <p:cNvSpPr txBox="1"/>
          <p:nvPr/>
        </p:nvSpPr>
        <p:spPr>
          <a:xfrm>
            <a:off x="658368" y="519809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53" name="Shape 51"/>
          <p:cNvSpPr/>
          <p:nvPr/>
        </p:nvSpPr>
        <p:spPr>
          <a:xfrm>
            <a:off x="2971800" y="5261565"/>
            <a:ext cx="1335138" cy="126940"/>
          </a:xfrm>
          <a:prstGeom prst="rect">
            <a:avLst/>
          </a:prstGeom>
          <a:solidFill>
            <a:srgbClr val="C2352F"/>
          </a:solidFill>
          <a:ln/>
        </p:spPr>
      </p:sp>
      <p:sp>
        <p:nvSpPr>
          <p:cNvPr id="54" name="Text 52"/>
          <p:cNvSpPr txBox="1"/>
          <p:nvPr/>
        </p:nvSpPr>
        <p:spPr>
          <a:xfrm>
            <a:off x="4855464" y="5198095"/>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19.3%</a:t>
            </a:r>
            <a:endParaRPr lang="en-US" sz="1300" dirty="0"/>
          </a:p>
        </p:txBody>
      </p:sp>
      <p:sp>
        <p:nvSpPr>
          <p:cNvPr id="55" name="Text 53"/>
          <p:cNvSpPr txBox="1"/>
          <p:nvPr/>
        </p:nvSpPr>
        <p:spPr>
          <a:xfrm>
            <a:off x="658368" y="5451976"/>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56" name="Shape 54"/>
          <p:cNvSpPr/>
          <p:nvPr/>
        </p:nvSpPr>
        <p:spPr>
          <a:xfrm>
            <a:off x="2971800" y="5515446"/>
            <a:ext cx="1326983" cy="126940"/>
          </a:xfrm>
          <a:prstGeom prst="rect">
            <a:avLst/>
          </a:prstGeom>
          <a:solidFill>
            <a:srgbClr val="C2352F"/>
          </a:solidFill>
          <a:ln/>
        </p:spPr>
      </p:sp>
      <p:sp>
        <p:nvSpPr>
          <p:cNvPr id="57" name="Text 55"/>
          <p:cNvSpPr txBox="1"/>
          <p:nvPr/>
        </p:nvSpPr>
        <p:spPr>
          <a:xfrm>
            <a:off x="4855464" y="5451976"/>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18.9%</a:t>
            </a:r>
            <a:endParaRPr lang="en-US" sz="1300" dirty="0"/>
          </a:p>
        </p:txBody>
      </p:sp>
      <p:sp>
        <p:nvSpPr>
          <p:cNvPr id="58" name="Text 56"/>
          <p:cNvSpPr txBox="1"/>
          <p:nvPr/>
        </p:nvSpPr>
        <p:spPr>
          <a:xfrm>
            <a:off x="6208776" y="138988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59" name="Shape 57"/>
          <p:cNvSpPr/>
          <p:nvPr/>
        </p:nvSpPr>
        <p:spPr>
          <a:xfrm>
            <a:off x="8522208" y="1453358"/>
            <a:ext cx="1310033" cy="126940"/>
          </a:xfrm>
          <a:prstGeom prst="rect">
            <a:avLst/>
          </a:prstGeom>
          <a:solidFill>
            <a:srgbClr val="C2352F"/>
          </a:solidFill>
          <a:ln/>
        </p:spPr>
      </p:sp>
      <p:sp>
        <p:nvSpPr>
          <p:cNvPr id="60" name="Text 58"/>
          <p:cNvSpPr txBox="1"/>
          <p:nvPr/>
        </p:nvSpPr>
        <p:spPr>
          <a:xfrm>
            <a:off x="10405872" y="1389888"/>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18.1%</a:t>
            </a:r>
            <a:endParaRPr lang="en-US" sz="1300" dirty="0"/>
          </a:p>
        </p:txBody>
      </p:sp>
      <p:sp>
        <p:nvSpPr>
          <p:cNvPr id="61" name="Text 59"/>
          <p:cNvSpPr txBox="1"/>
          <p:nvPr/>
        </p:nvSpPr>
        <p:spPr>
          <a:xfrm>
            <a:off x="6208776" y="164376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62" name="Shape 60"/>
          <p:cNvSpPr/>
          <p:nvPr/>
        </p:nvSpPr>
        <p:spPr>
          <a:xfrm>
            <a:off x="8522208" y="1707239"/>
            <a:ext cx="1267031" cy="126940"/>
          </a:xfrm>
          <a:prstGeom prst="rect">
            <a:avLst/>
          </a:prstGeom>
          <a:solidFill>
            <a:srgbClr val="C2352F"/>
          </a:solidFill>
          <a:ln/>
        </p:spPr>
      </p:sp>
      <p:sp>
        <p:nvSpPr>
          <p:cNvPr id="63" name="Text 61"/>
          <p:cNvSpPr txBox="1"/>
          <p:nvPr/>
        </p:nvSpPr>
        <p:spPr>
          <a:xfrm>
            <a:off x="10405872" y="1643768"/>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16.0%</a:t>
            </a:r>
            <a:endParaRPr lang="en-US" sz="1300" dirty="0"/>
          </a:p>
        </p:txBody>
      </p:sp>
      <p:sp>
        <p:nvSpPr>
          <p:cNvPr id="64" name="Text 62"/>
          <p:cNvSpPr txBox="1"/>
          <p:nvPr/>
        </p:nvSpPr>
        <p:spPr>
          <a:xfrm>
            <a:off x="6208776" y="189764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65" name="Shape 63"/>
          <p:cNvSpPr/>
          <p:nvPr/>
        </p:nvSpPr>
        <p:spPr>
          <a:xfrm>
            <a:off x="8522208" y="1961119"/>
            <a:ext cx="1258375" cy="126940"/>
          </a:xfrm>
          <a:prstGeom prst="rect">
            <a:avLst/>
          </a:prstGeom>
          <a:solidFill>
            <a:srgbClr val="C2352F"/>
          </a:solidFill>
          <a:ln/>
        </p:spPr>
      </p:sp>
      <p:sp>
        <p:nvSpPr>
          <p:cNvPr id="66" name="Text 64"/>
          <p:cNvSpPr txBox="1"/>
          <p:nvPr/>
        </p:nvSpPr>
        <p:spPr>
          <a:xfrm>
            <a:off x="10405872" y="1897649"/>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15.6%</a:t>
            </a:r>
            <a:endParaRPr lang="en-US" sz="1300" dirty="0"/>
          </a:p>
        </p:txBody>
      </p:sp>
      <p:sp>
        <p:nvSpPr>
          <p:cNvPr id="67" name="Text 65"/>
          <p:cNvSpPr txBox="1"/>
          <p:nvPr/>
        </p:nvSpPr>
        <p:spPr>
          <a:xfrm>
            <a:off x="6208776" y="215152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68" name="Shape 66"/>
          <p:cNvSpPr/>
          <p:nvPr/>
        </p:nvSpPr>
        <p:spPr>
          <a:xfrm>
            <a:off x="8522208" y="2215000"/>
            <a:ext cx="1181215" cy="126940"/>
          </a:xfrm>
          <a:prstGeom prst="rect">
            <a:avLst/>
          </a:prstGeom>
          <a:solidFill>
            <a:srgbClr val="C2352F"/>
          </a:solidFill>
          <a:ln/>
        </p:spPr>
      </p:sp>
      <p:sp>
        <p:nvSpPr>
          <p:cNvPr id="69" name="Text 67"/>
          <p:cNvSpPr txBox="1"/>
          <p:nvPr/>
        </p:nvSpPr>
        <p:spPr>
          <a:xfrm>
            <a:off x="10405872" y="2151529"/>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11.9%</a:t>
            </a:r>
            <a:endParaRPr lang="en-US" sz="1300" dirty="0"/>
          </a:p>
        </p:txBody>
      </p:sp>
      <p:sp>
        <p:nvSpPr>
          <p:cNvPr id="70" name="Text 68"/>
          <p:cNvSpPr txBox="1"/>
          <p:nvPr/>
        </p:nvSpPr>
        <p:spPr>
          <a:xfrm>
            <a:off x="6208776" y="240541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71" name="Shape 69"/>
          <p:cNvSpPr/>
          <p:nvPr/>
        </p:nvSpPr>
        <p:spPr>
          <a:xfrm>
            <a:off x="8522208" y="2468880"/>
            <a:ext cx="1179871" cy="126940"/>
          </a:xfrm>
          <a:prstGeom prst="rect">
            <a:avLst/>
          </a:prstGeom>
          <a:solidFill>
            <a:srgbClr val="C2352F"/>
          </a:solidFill>
          <a:ln/>
        </p:spPr>
      </p:sp>
      <p:sp>
        <p:nvSpPr>
          <p:cNvPr id="72" name="Text 70"/>
          <p:cNvSpPr txBox="1"/>
          <p:nvPr/>
        </p:nvSpPr>
        <p:spPr>
          <a:xfrm>
            <a:off x="10405872" y="2405410"/>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11.8%</a:t>
            </a:r>
            <a:endParaRPr lang="en-US" sz="1300" dirty="0"/>
          </a:p>
        </p:txBody>
      </p:sp>
      <p:sp>
        <p:nvSpPr>
          <p:cNvPr id="73" name="Text 71"/>
          <p:cNvSpPr txBox="1"/>
          <p:nvPr/>
        </p:nvSpPr>
        <p:spPr>
          <a:xfrm>
            <a:off x="6208776" y="265929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74" name="Shape 72"/>
          <p:cNvSpPr/>
          <p:nvPr/>
        </p:nvSpPr>
        <p:spPr>
          <a:xfrm>
            <a:off x="8522208" y="2722760"/>
            <a:ext cx="1097676" cy="126940"/>
          </a:xfrm>
          <a:prstGeom prst="rect">
            <a:avLst/>
          </a:prstGeom>
          <a:solidFill>
            <a:srgbClr val="C2352F"/>
          </a:solidFill>
          <a:ln/>
        </p:spPr>
      </p:sp>
      <p:sp>
        <p:nvSpPr>
          <p:cNvPr id="75" name="Text 73"/>
          <p:cNvSpPr txBox="1"/>
          <p:nvPr/>
        </p:nvSpPr>
        <p:spPr>
          <a:xfrm>
            <a:off x="10405872" y="2659290"/>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7.8%</a:t>
            </a:r>
            <a:endParaRPr lang="en-US" sz="1300" dirty="0"/>
          </a:p>
        </p:txBody>
      </p:sp>
      <p:sp>
        <p:nvSpPr>
          <p:cNvPr id="76" name="Text 74"/>
          <p:cNvSpPr txBox="1"/>
          <p:nvPr/>
        </p:nvSpPr>
        <p:spPr>
          <a:xfrm>
            <a:off x="6208776" y="291317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77" name="Shape 75"/>
          <p:cNvSpPr/>
          <p:nvPr/>
        </p:nvSpPr>
        <p:spPr>
          <a:xfrm>
            <a:off x="8522208" y="2976641"/>
            <a:ext cx="1041650" cy="126940"/>
          </a:xfrm>
          <a:prstGeom prst="rect">
            <a:avLst/>
          </a:prstGeom>
          <a:solidFill>
            <a:srgbClr val="C2352F"/>
          </a:solidFill>
          <a:ln/>
        </p:spPr>
      </p:sp>
      <p:sp>
        <p:nvSpPr>
          <p:cNvPr id="78" name="Text 76"/>
          <p:cNvSpPr txBox="1"/>
          <p:nvPr/>
        </p:nvSpPr>
        <p:spPr>
          <a:xfrm>
            <a:off x="10405872" y="2913171"/>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5.2%</a:t>
            </a:r>
            <a:endParaRPr lang="en-US" sz="1300" dirty="0"/>
          </a:p>
        </p:txBody>
      </p:sp>
      <p:sp>
        <p:nvSpPr>
          <p:cNvPr id="79" name="Text 77"/>
          <p:cNvSpPr txBox="1"/>
          <p:nvPr/>
        </p:nvSpPr>
        <p:spPr>
          <a:xfrm>
            <a:off x="6208776" y="316705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80" name="Shape 78"/>
          <p:cNvSpPr/>
          <p:nvPr/>
        </p:nvSpPr>
        <p:spPr>
          <a:xfrm>
            <a:off x="8522208" y="3230521"/>
            <a:ext cx="1034935" cy="126940"/>
          </a:xfrm>
          <a:prstGeom prst="rect">
            <a:avLst/>
          </a:prstGeom>
          <a:solidFill>
            <a:srgbClr val="C2352F"/>
          </a:solidFill>
          <a:ln/>
        </p:spPr>
      </p:sp>
      <p:sp>
        <p:nvSpPr>
          <p:cNvPr id="81" name="Text 79"/>
          <p:cNvSpPr txBox="1"/>
          <p:nvPr/>
        </p:nvSpPr>
        <p:spPr>
          <a:xfrm>
            <a:off x="10405872" y="3167051"/>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4.8%</a:t>
            </a:r>
            <a:endParaRPr lang="en-US" sz="1300" dirty="0"/>
          </a:p>
        </p:txBody>
      </p:sp>
      <p:sp>
        <p:nvSpPr>
          <p:cNvPr id="82" name="Text 80"/>
          <p:cNvSpPr txBox="1"/>
          <p:nvPr/>
        </p:nvSpPr>
        <p:spPr>
          <a:xfrm>
            <a:off x="6208776" y="342093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83" name="Shape 81"/>
          <p:cNvSpPr/>
          <p:nvPr/>
        </p:nvSpPr>
        <p:spPr>
          <a:xfrm>
            <a:off x="8522208" y="3484402"/>
            <a:ext cx="1012595" cy="126940"/>
          </a:xfrm>
          <a:prstGeom prst="rect">
            <a:avLst/>
          </a:prstGeom>
          <a:solidFill>
            <a:srgbClr val="C2352F"/>
          </a:solidFill>
          <a:ln/>
        </p:spPr>
      </p:sp>
      <p:sp>
        <p:nvSpPr>
          <p:cNvPr id="84" name="Text 82"/>
          <p:cNvSpPr txBox="1"/>
          <p:nvPr/>
        </p:nvSpPr>
        <p:spPr>
          <a:xfrm>
            <a:off x="10405872" y="3420932"/>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3.8%</a:t>
            </a:r>
            <a:endParaRPr lang="en-US" sz="1300" dirty="0"/>
          </a:p>
        </p:txBody>
      </p:sp>
      <p:sp>
        <p:nvSpPr>
          <p:cNvPr id="85" name="Text 83"/>
          <p:cNvSpPr txBox="1"/>
          <p:nvPr/>
        </p:nvSpPr>
        <p:spPr>
          <a:xfrm>
            <a:off x="6208776" y="367481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86" name="Shape 84"/>
          <p:cNvSpPr/>
          <p:nvPr/>
        </p:nvSpPr>
        <p:spPr>
          <a:xfrm>
            <a:off x="8522208" y="3738282"/>
            <a:ext cx="1008325" cy="126940"/>
          </a:xfrm>
          <a:prstGeom prst="rect">
            <a:avLst/>
          </a:prstGeom>
          <a:solidFill>
            <a:srgbClr val="C2352F"/>
          </a:solidFill>
          <a:ln/>
        </p:spPr>
      </p:sp>
      <p:sp>
        <p:nvSpPr>
          <p:cNvPr id="87" name="Text 85"/>
          <p:cNvSpPr txBox="1"/>
          <p:nvPr/>
        </p:nvSpPr>
        <p:spPr>
          <a:xfrm>
            <a:off x="10405872" y="3674812"/>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3.5%</a:t>
            </a:r>
            <a:endParaRPr lang="en-US" sz="1300" dirty="0"/>
          </a:p>
        </p:txBody>
      </p:sp>
      <p:sp>
        <p:nvSpPr>
          <p:cNvPr id="88" name="Text 86"/>
          <p:cNvSpPr txBox="1"/>
          <p:nvPr/>
        </p:nvSpPr>
        <p:spPr>
          <a:xfrm>
            <a:off x="6208776" y="392869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89" name="Shape 87"/>
          <p:cNvSpPr/>
          <p:nvPr/>
        </p:nvSpPr>
        <p:spPr>
          <a:xfrm>
            <a:off x="8522208" y="3992163"/>
            <a:ext cx="868848" cy="126940"/>
          </a:xfrm>
          <a:prstGeom prst="rect">
            <a:avLst/>
          </a:prstGeom>
          <a:solidFill>
            <a:srgbClr val="C2352F"/>
          </a:solidFill>
          <a:ln/>
        </p:spPr>
      </p:sp>
      <p:sp>
        <p:nvSpPr>
          <p:cNvPr id="90" name="Text 88"/>
          <p:cNvSpPr txBox="1"/>
          <p:nvPr/>
        </p:nvSpPr>
        <p:spPr>
          <a:xfrm>
            <a:off x="10405872" y="3928693"/>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-3.2%</a:t>
            </a:r>
            <a:endParaRPr lang="en-US" sz="1300" dirty="0"/>
          </a:p>
        </p:txBody>
      </p:sp>
      <p:sp>
        <p:nvSpPr>
          <p:cNvPr id="91" name="Text 89"/>
          <p:cNvSpPr txBox="1"/>
          <p:nvPr/>
        </p:nvSpPr>
        <p:spPr>
          <a:xfrm>
            <a:off x="6208776" y="418257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92" name="Shape 90"/>
          <p:cNvSpPr/>
          <p:nvPr/>
        </p:nvSpPr>
        <p:spPr>
          <a:xfrm>
            <a:off x="8522208" y="4246043"/>
            <a:ext cx="802558" cy="126940"/>
          </a:xfrm>
          <a:prstGeom prst="rect">
            <a:avLst/>
          </a:prstGeom>
          <a:solidFill>
            <a:srgbClr val="C2352F"/>
          </a:solidFill>
          <a:ln/>
        </p:spPr>
      </p:sp>
      <p:sp>
        <p:nvSpPr>
          <p:cNvPr id="93" name="Text 91"/>
          <p:cNvSpPr txBox="1"/>
          <p:nvPr/>
        </p:nvSpPr>
        <p:spPr>
          <a:xfrm>
            <a:off x="10405872" y="4182573"/>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-6.4%</a:t>
            </a:r>
            <a:endParaRPr lang="en-US" sz="1300" dirty="0"/>
          </a:p>
        </p:txBody>
      </p:sp>
      <p:sp>
        <p:nvSpPr>
          <p:cNvPr id="94" name="Text 92"/>
          <p:cNvSpPr txBox="1"/>
          <p:nvPr/>
        </p:nvSpPr>
        <p:spPr>
          <a:xfrm>
            <a:off x="6208776" y="443645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95" name="Shape 93"/>
          <p:cNvSpPr/>
          <p:nvPr/>
        </p:nvSpPr>
        <p:spPr>
          <a:xfrm>
            <a:off x="8522208" y="4499924"/>
            <a:ext cx="647235" cy="126940"/>
          </a:xfrm>
          <a:prstGeom prst="rect">
            <a:avLst/>
          </a:prstGeom>
          <a:solidFill>
            <a:srgbClr val="C2352F"/>
          </a:solidFill>
          <a:ln/>
        </p:spPr>
      </p:sp>
      <p:sp>
        <p:nvSpPr>
          <p:cNvPr id="96" name="Text 94"/>
          <p:cNvSpPr txBox="1"/>
          <p:nvPr/>
        </p:nvSpPr>
        <p:spPr>
          <a:xfrm>
            <a:off x="10405872" y="4436454"/>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-13.8%</a:t>
            </a:r>
            <a:endParaRPr lang="en-US" sz="1300" dirty="0"/>
          </a:p>
        </p:txBody>
      </p:sp>
      <p:sp>
        <p:nvSpPr>
          <p:cNvPr id="97" name="Text 95"/>
          <p:cNvSpPr txBox="1"/>
          <p:nvPr/>
        </p:nvSpPr>
        <p:spPr>
          <a:xfrm>
            <a:off x="6208776" y="469033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98" name="Shape 96"/>
          <p:cNvSpPr/>
          <p:nvPr/>
        </p:nvSpPr>
        <p:spPr>
          <a:xfrm>
            <a:off x="8522208" y="4753804"/>
            <a:ext cx="636072" cy="126940"/>
          </a:xfrm>
          <a:prstGeom prst="rect">
            <a:avLst/>
          </a:prstGeom>
          <a:solidFill>
            <a:srgbClr val="C2352F"/>
          </a:solidFill>
          <a:ln/>
        </p:spPr>
      </p:sp>
      <p:sp>
        <p:nvSpPr>
          <p:cNvPr id="99" name="Text 97"/>
          <p:cNvSpPr txBox="1"/>
          <p:nvPr/>
        </p:nvSpPr>
        <p:spPr>
          <a:xfrm>
            <a:off x="10405872" y="4690334"/>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-14.4%</a:t>
            </a:r>
            <a:endParaRPr lang="en-US" sz="1300" dirty="0"/>
          </a:p>
        </p:txBody>
      </p:sp>
      <p:sp>
        <p:nvSpPr>
          <p:cNvPr id="100" name="Text 98"/>
          <p:cNvSpPr txBox="1"/>
          <p:nvPr/>
        </p:nvSpPr>
        <p:spPr>
          <a:xfrm>
            <a:off x="6208776" y="494421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01" name="Shape 99"/>
          <p:cNvSpPr/>
          <p:nvPr/>
        </p:nvSpPr>
        <p:spPr>
          <a:xfrm>
            <a:off x="8522208" y="5007685"/>
            <a:ext cx="535848" cy="126940"/>
          </a:xfrm>
          <a:prstGeom prst="rect">
            <a:avLst/>
          </a:prstGeom>
          <a:solidFill>
            <a:srgbClr val="C2352F"/>
          </a:solidFill>
          <a:ln/>
        </p:spPr>
      </p:sp>
      <p:sp>
        <p:nvSpPr>
          <p:cNvPr id="102" name="Text 100"/>
          <p:cNvSpPr txBox="1"/>
          <p:nvPr/>
        </p:nvSpPr>
        <p:spPr>
          <a:xfrm>
            <a:off x="10405872" y="4944215"/>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-19.2%</a:t>
            </a:r>
            <a:endParaRPr lang="en-US" sz="1300" dirty="0"/>
          </a:p>
        </p:txBody>
      </p:sp>
      <p:sp>
        <p:nvSpPr>
          <p:cNvPr id="103" name="Text 101"/>
          <p:cNvSpPr txBox="1"/>
          <p:nvPr/>
        </p:nvSpPr>
        <p:spPr>
          <a:xfrm>
            <a:off x="6208776" y="519809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104" name="Shape 102"/>
          <p:cNvSpPr/>
          <p:nvPr/>
        </p:nvSpPr>
        <p:spPr>
          <a:xfrm>
            <a:off x="8522208" y="5261565"/>
            <a:ext cx="411295" cy="126940"/>
          </a:xfrm>
          <a:prstGeom prst="rect">
            <a:avLst/>
          </a:prstGeom>
          <a:solidFill>
            <a:srgbClr val="C2352F"/>
          </a:solidFill>
          <a:ln/>
        </p:spPr>
      </p:sp>
      <p:sp>
        <p:nvSpPr>
          <p:cNvPr id="105" name="Text 103"/>
          <p:cNvSpPr txBox="1"/>
          <p:nvPr/>
        </p:nvSpPr>
        <p:spPr>
          <a:xfrm>
            <a:off x="10405872" y="5198095"/>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-25.2%</a:t>
            </a:r>
            <a:endParaRPr lang="en-US" sz="1300" dirty="0"/>
          </a:p>
        </p:txBody>
      </p:sp>
      <p:sp>
        <p:nvSpPr>
          <p:cNvPr id="106" name="Text 104"/>
          <p:cNvSpPr txBox="1"/>
          <p:nvPr/>
        </p:nvSpPr>
        <p:spPr>
          <a:xfrm>
            <a:off x="6208776" y="5451976"/>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107" name="Shape 105"/>
          <p:cNvSpPr/>
          <p:nvPr/>
        </p:nvSpPr>
        <p:spPr>
          <a:xfrm>
            <a:off x="8522208" y="5515446"/>
            <a:ext cx="143097" cy="126940"/>
          </a:xfrm>
          <a:prstGeom prst="rect">
            <a:avLst/>
          </a:prstGeom>
          <a:solidFill>
            <a:srgbClr val="C2352F"/>
          </a:solidFill>
          <a:ln/>
        </p:spPr>
      </p:sp>
      <p:sp>
        <p:nvSpPr>
          <p:cNvPr id="108" name="Text 106"/>
          <p:cNvSpPr txBox="1"/>
          <p:nvPr/>
        </p:nvSpPr>
        <p:spPr>
          <a:xfrm>
            <a:off x="10405872" y="5451976"/>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-38.1%</a:t>
            </a:r>
            <a:endParaRPr lang="en-US" sz="1300" dirty="0"/>
          </a:p>
        </p:txBody>
      </p:sp>
      <p:sp>
        <p:nvSpPr>
          <p:cNvPr id="109" name="Shape 107"/>
          <p:cNvSpPr/>
          <p:nvPr/>
        </p:nvSpPr>
        <p:spPr>
          <a:xfrm>
            <a:off x="4352590" y="1389888"/>
            <a:ext cx="14630" cy="4315968"/>
          </a:xfrm>
          <a:prstGeom prst="rect">
            <a:avLst/>
          </a:prstGeom>
          <a:solidFill>
            <a:srgbClr val="0B2C4A"/>
          </a:solidFill>
          <a:ln/>
        </p:spPr>
      </p:sp>
      <p:sp>
        <p:nvSpPr>
          <p:cNvPr id="110" name="Shape 108"/>
          <p:cNvSpPr/>
          <p:nvPr/>
        </p:nvSpPr>
        <p:spPr>
          <a:xfrm>
            <a:off x="9902998" y="1389888"/>
            <a:ext cx="14630" cy="4315968"/>
          </a:xfrm>
          <a:prstGeom prst="rect">
            <a:avLst/>
          </a:prstGeom>
          <a:solidFill>
            <a:srgbClr val="0B2C4A"/>
          </a:solidFill>
          <a:ln/>
        </p:spPr>
      </p:sp>
      <p:sp>
        <p:nvSpPr>
          <p:cNvPr id="111" name="Shape 109"/>
          <p:cNvSpPr/>
          <p:nvPr/>
        </p:nvSpPr>
        <p:spPr>
          <a:xfrm>
            <a:off x="457200" y="5961888"/>
            <a:ext cx="11274552" cy="548640"/>
          </a:xfrm>
          <a:prstGeom prst="rect">
            <a:avLst/>
          </a:prstGeom>
          <a:solidFill>
            <a:srgbClr val="EDF4FA"/>
          </a:solidFill>
          <a:ln/>
        </p:spPr>
      </p:sp>
      <p:sp>
        <p:nvSpPr>
          <p:cNvPr id="112" name="Text 110"/>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10 of 33 stores at or above the 21.8% group, led by HONDA HENDERSON at 43.0%. GMC PRESCOTT is lowest at -38.1%.</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Service Net to Gross %</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01168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GROUP</a:t>
            </a:r>
            <a:endParaRPr lang="en-US" sz="1500" dirty="0"/>
          </a:p>
        </p:txBody>
      </p:sp>
      <p:sp>
        <p:nvSpPr>
          <p:cNvPr id="9" name="Text 7"/>
          <p:cNvSpPr txBox="1"/>
          <p:nvPr/>
        </p:nvSpPr>
        <p:spPr>
          <a:xfrm>
            <a:off x="2834640" y="1335024"/>
            <a:ext cx="420624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SAME-STORE, 33 STORES</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+2.9 pts</a:t>
            </a:r>
            <a:endParaRPr lang="en-US" sz="2000" dirty="0"/>
          </a:p>
        </p:txBody>
      </p:sp>
      <p:sp>
        <p:nvSpPr>
          <p:cNvPr id="11" name="Text 9"/>
          <p:cNvSpPr txBox="1"/>
          <p:nvPr/>
        </p:nvSpPr>
        <p:spPr>
          <a:xfrm>
            <a:off x="658368"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2" name="Shape 10"/>
          <p:cNvSpPr/>
          <p:nvPr/>
        </p:nvSpPr>
        <p:spPr>
          <a:xfrm>
            <a:off x="3813048" y="1909246"/>
            <a:ext cx="822960" cy="105898"/>
          </a:xfrm>
          <a:prstGeom prst="rect">
            <a:avLst/>
          </a:prstGeom>
          <a:solidFill>
            <a:srgbClr val="12A566"/>
          </a:solidFill>
          <a:ln/>
        </p:spPr>
      </p:sp>
      <p:sp>
        <p:nvSpPr>
          <p:cNvPr id="13" name="Text 11"/>
          <p:cNvSpPr txBox="1"/>
          <p:nvPr/>
        </p:nvSpPr>
        <p:spPr>
          <a:xfrm>
            <a:off x="4709160"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+33.5 pts</a:t>
            </a:r>
            <a:endParaRPr lang="en-US" sz="1300" dirty="0"/>
          </a:p>
        </p:txBody>
      </p:sp>
      <p:sp>
        <p:nvSpPr>
          <p:cNvPr id="14" name="Text 12"/>
          <p:cNvSpPr txBox="1"/>
          <p:nvPr/>
        </p:nvSpPr>
        <p:spPr>
          <a:xfrm>
            <a:off x="658368"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15" name="Shape 13"/>
          <p:cNvSpPr/>
          <p:nvPr/>
        </p:nvSpPr>
        <p:spPr>
          <a:xfrm>
            <a:off x="3813048" y="2139459"/>
            <a:ext cx="553025" cy="105898"/>
          </a:xfrm>
          <a:prstGeom prst="rect">
            <a:avLst/>
          </a:prstGeom>
          <a:solidFill>
            <a:srgbClr val="12A566"/>
          </a:solidFill>
          <a:ln/>
        </p:spPr>
      </p:sp>
      <p:sp>
        <p:nvSpPr>
          <p:cNvPr id="16" name="Text 14"/>
          <p:cNvSpPr txBox="1"/>
          <p:nvPr/>
        </p:nvSpPr>
        <p:spPr>
          <a:xfrm>
            <a:off x="4709160"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+22.5 pts</a:t>
            </a:r>
            <a:endParaRPr lang="en-US" sz="1300" dirty="0"/>
          </a:p>
        </p:txBody>
      </p:sp>
      <p:sp>
        <p:nvSpPr>
          <p:cNvPr id="17" name="Text 15"/>
          <p:cNvSpPr txBox="1"/>
          <p:nvPr/>
        </p:nvSpPr>
        <p:spPr>
          <a:xfrm>
            <a:off x="658368"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18" name="Shape 16"/>
          <p:cNvSpPr/>
          <p:nvPr/>
        </p:nvSpPr>
        <p:spPr>
          <a:xfrm>
            <a:off x="3813048" y="2369673"/>
            <a:ext cx="493432" cy="105898"/>
          </a:xfrm>
          <a:prstGeom prst="rect">
            <a:avLst/>
          </a:prstGeom>
          <a:solidFill>
            <a:srgbClr val="12A566"/>
          </a:solidFill>
          <a:ln/>
        </p:spPr>
      </p:sp>
      <p:sp>
        <p:nvSpPr>
          <p:cNvPr id="19" name="Text 17"/>
          <p:cNvSpPr txBox="1"/>
          <p:nvPr/>
        </p:nvSpPr>
        <p:spPr>
          <a:xfrm>
            <a:off x="4709160"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+20.1 pts</a:t>
            </a:r>
            <a:endParaRPr lang="en-US" sz="1300" dirty="0"/>
          </a:p>
        </p:txBody>
      </p:sp>
      <p:sp>
        <p:nvSpPr>
          <p:cNvPr id="20" name="Text 18"/>
          <p:cNvSpPr txBox="1"/>
          <p:nvPr/>
        </p:nvSpPr>
        <p:spPr>
          <a:xfrm>
            <a:off x="658368"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21" name="Shape 19"/>
          <p:cNvSpPr/>
          <p:nvPr/>
        </p:nvSpPr>
        <p:spPr>
          <a:xfrm>
            <a:off x="3813048" y="2599887"/>
            <a:ext cx="337084" cy="105898"/>
          </a:xfrm>
          <a:prstGeom prst="rect">
            <a:avLst/>
          </a:prstGeom>
          <a:solidFill>
            <a:srgbClr val="12A566"/>
          </a:solidFill>
          <a:ln/>
        </p:spPr>
      </p:sp>
      <p:sp>
        <p:nvSpPr>
          <p:cNvPr id="22" name="Text 20"/>
          <p:cNvSpPr txBox="1"/>
          <p:nvPr/>
        </p:nvSpPr>
        <p:spPr>
          <a:xfrm>
            <a:off x="4709160"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+13.7 pts</a:t>
            </a:r>
            <a:endParaRPr lang="en-US" sz="1300" dirty="0"/>
          </a:p>
        </p:txBody>
      </p:sp>
      <p:sp>
        <p:nvSpPr>
          <p:cNvPr id="23" name="Text 21"/>
          <p:cNvSpPr txBox="1"/>
          <p:nvPr/>
        </p:nvSpPr>
        <p:spPr>
          <a:xfrm>
            <a:off x="658368"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24" name="Shape 22"/>
          <p:cNvSpPr/>
          <p:nvPr/>
        </p:nvSpPr>
        <p:spPr>
          <a:xfrm>
            <a:off x="3813048" y="2830100"/>
            <a:ext cx="293441" cy="105898"/>
          </a:xfrm>
          <a:prstGeom prst="rect">
            <a:avLst/>
          </a:prstGeom>
          <a:solidFill>
            <a:srgbClr val="12A566"/>
          </a:solidFill>
          <a:ln/>
        </p:spPr>
      </p:sp>
      <p:sp>
        <p:nvSpPr>
          <p:cNvPr id="25" name="Text 23"/>
          <p:cNvSpPr txBox="1"/>
          <p:nvPr/>
        </p:nvSpPr>
        <p:spPr>
          <a:xfrm>
            <a:off x="4709160"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+11.9 pts</a:t>
            </a:r>
            <a:endParaRPr lang="en-US" sz="1300" dirty="0"/>
          </a:p>
        </p:txBody>
      </p:sp>
      <p:sp>
        <p:nvSpPr>
          <p:cNvPr id="26" name="Text 24"/>
          <p:cNvSpPr txBox="1"/>
          <p:nvPr/>
        </p:nvSpPr>
        <p:spPr>
          <a:xfrm>
            <a:off x="658368"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27" name="Shape 25"/>
          <p:cNvSpPr/>
          <p:nvPr/>
        </p:nvSpPr>
        <p:spPr>
          <a:xfrm>
            <a:off x="3813048" y="3060314"/>
            <a:ext cx="205444" cy="105898"/>
          </a:xfrm>
          <a:prstGeom prst="rect">
            <a:avLst/>
          </a:prstGeom>
          <a:solidFill>
            <a:srgbClr val="12A566"/>
          </a:solidFill>
          <a:ln/>
        </p:spPr>
      </p:sp>
      <p:sp>
        <p:nvSpPr>
          <p:cNvPr id="28" name="Text 26"/>
          <p:cNvSpPr txBox="1"/>
          <p:nvPr/>
        </p:nvSpPr>
        <p:spPr>
          <a:xfrm>
            <a:off x="4709160"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+8.4 pts</a:t>
            </a:r>
            <a:endParaRPr lang="en-US" sz="1300" dirty="0"/>
          </a:p>
        </p:txBody>
      </p:sp>
      <p:sp>
        <p:nvSpPr>
          <p:cNvPr id="29" name="Text 27"/>
          <p:cNvSpPr txBox="1"/>
          <p:nvPr/>
        </p:nvSpPr>
        <p:spPr>
          <a:xfrm>
            <a:off x="658368"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30" name="Shape 28"/>
          <p:cNvSpPr/>
          <p:nvPr/>
        </p:nvSpPr>
        <p:spPr>
          <a:xfrm>
            <a:off x="3813048" y="3290528"/>
            <a:ext cx="194241" cy="105898"/>
          </a:xfrm>
          <a:prstGeom prst="rect">
            <a:avLst/>
          </a:prstGeom>
          <a:solidFill>
            <a:srgbClr val="12A566"/>
          </a:solidFill>
          <a:ln/>
        </p:spPr>
      </p:sp>
      <p:sp>
        <p:nvSpPr>
          <p:cNvPr id="31" name="Text 29"/>
          <p:cNvSpPr txBox="1"/>
          <p:nvPr/>
        </p:nvSpPr>
        <p:spPr>
          <a:xfrm>
            <a:off x="4709160" y="3228370"/>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+7.9 pts</a:t>
            </a:r>
            <a:endParaRPr lang="en-US" sz="1300" dirty="0"/>
          </a:p>
        </p:txBody>
      </p:sp>
      <p:sp>
        <p:nvSpPr>
          <p:cNvPr id="32" name="Text 30"/>
          <p:cNvSpPr txBox="1"/>
          <p:nvPr/>
        </p:nvSpPr>
        <p:spPr>
          <a:xfrm>
            <a:off x="658368"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33" name="Shape 31"/>
          <p:cNvSpPr/>
          <p:nvPr/>
        </p:nvSpPr>
        <p:spPr>
          <a:xfrm>
            <a:off x="3813048" y="3520741"/>
            <a:ext cx="179023" cy="105898"/>
          </a:xfrm>
          <a:prstGeom prst="rect">
            <a:avLst/>
          </a:prstGeom>
          <a:solidFill>
            <a:srgbClr val="12A566"/>
          </a:solidFill>
          <a:ln/>
        </p:spPr>
      </p:sp>
      <p:sp>
        <p:nvSpPr>
          <p:cNvPr id="34" name="Text 32"/>
          <p:cNvSpPr txBox="1"/>
          <p:nvPr/>
        </p:nvSpPr>
        <p:spPr>
          <a:xfrm>
            <a:off x="4709160" y="345858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+7.3 pts</a:t>
            </a:r>
            <a:endParaRPr lang="en-US" sz="1300" dirty="0"/>
          </a:p>
        </p:txBody>
      </p:sp>
      <p:sp>
        <p:nvSpPr>
          <p:cNvPr id="35" name="Text 33"/>
          <p:cNvSpPr txBox="1"/>
          <p:nvPr/>
        </p:nvSpPr>
        <p:spPr>
          <a:xfrm>
            <a:off x="658368"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36" name="Shape 34"/>
          <p:cNvSpPr/>
          <p:nvPr/>
        </p:nvSpPr>
        <p:spPr>
          <a:xfrm>
            <a:off x="3813048" y="3750955"/>
            <a:ext cx="174156" cy="105898"/>
          </a:xfrm>
          <a:prstGeom prst="rect">
            <a:avLst/>
          </a:prstGeom>
          <a:solidFill>
            <a:srgbClr val="12A566"/>
          </a:solidFill>
          <a:ln/>
        </p:spPr>
      </p:sp>
      <p:sp>
        <p:nvSpPr>
          <p:cNvPr id="37" name="Text 35"/>
          <p:cNvSpPr txBox="1"/>
          <p:nvPr/>
        </p:nvSpPr>
        <p:spPr>
          <a:xfrm>
            <a:off x="4709160" y="3688797"/>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+7.1 pts</a:t>
            </a:r>
            <a:endParaRPr lang="en-US" sz="1300" dirty="0"/>
          </a:p>
        </p:txBody>
      </p:sp>
      <p:sp>
        <p:nvSpPr>
          <p:cNvPr id="38" name="Text 36"/>
          <p:cNvSpPr txBox="1"/>
          <p:nvPr/>
        </p:nvSpPr>
        <p:spPr>
          <a:xfrm>
            <a:off x="658368"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39" name="Shape 37"/>
          <p:cNvSpPr/>
          <p:nvPr/>
        </p:nvSpPr>
        <p:spPr>
          <a:xfrm>
            <a:off x="3813048" y="3981169"/>
            <a:ext cx="155343" cy="105898"/>
          </a:xfrm>
          <a:prstGeom prst="rect">
            <a:avLst/>
          </a:prstGeom>
          <a:solidFill>
            <a:srgbClr val="12A566"/>
          </a:solidFill>
          <a:ln/>
        </p:spPr>
      </p:sp>
      <p:sp>
        <p:nvSpPr>
          <p:cNvPr id="40" name="Text 38"/>
          <p:cNvSpPr txBox="1"/>
          <p:nvPr/>
        </p:nvSpPr>
        <p:spPr>
          <a:xfrm>
            <a:off x="4709160" y="3919011"/>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+6.3 pts</a:t>
            </a:r>
            <a:endParaRPr lang="en-US" sz="1300" dirty="0"/>
          </a:p>
        </p:txBody>
      </p:sp>
      <p:sp>
        <p:nvSpPr>
          <p:cNvPr id="41" name="Text 39"/>
          <p:cNvSpPr txBox="1"/>
          <p:nvPr/>
        </p:nvSpPr>
        <p:spPr>
          <a:xfrm>
            <a:off x="658368"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42" name="Shape 40"/>
          <p:cNvSpPr/>
          <p:nvPr/>
        </p:nvSpPr>
        <p:spPr>
          <a:xfrm>
            <a:off x="3813048" y="4211382"/>
            <a:ext cx="152384" cy="105898"/>
          </a:xfrm>
          <a:prstGeom prst="rect">
            <a:avLst/>
          </a:prstGeom>
          <a:solidFill>
            <a:srgbClr val="12A566"/>
          </a:solidFill>
          <a:ln/>
        </p:spPr>
      </p:sp>
      <p:sp>
        <p:nvSpPr>
          <p:cNvPr id="43" name="Text 41"/>
          <p:cNvSpPr txBox="1"/>
          <p:nvPr/>
        </p:nvSpPr>
        <p:spPr>
          <a:xfrm>
            <a:off x="4709160" y="414922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+6.2 pts</a:t>
            </a:r>
            <a:endParaRPr lang="en-US" sz="1300" dirty="0"/>
          </a:p>
        </p:txBody>
      </p:sp>
      <p:sp>
        <p:nvSpPr>
          <p:cNvPr id="44" name="Text 42"/>
          <p:cNvSpPr txBox="1"/>
          <p:nvPr/>
        </p:nvSpPr>
        <p:spPr>
          <a:xfrm>
            <a:off x="658368"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45" name="Shape 43"/>
          <p:cNvSpPr/>
          <p:nvPr/>
        </p:nvSpPr>
        <p:spPr>
          <a:xfrm>
            <a:off x="3813048" y="4441596"/>
            <a:ext cx="147508" cy="105898"/>
          </a:xfrm>
          <a:prstGeom prst="rect">
            <a:avLst/>
          </a:prstGeom>
          <a:solidFill>
            <a:srgbClr val="12A566"/>
          </a:solidFill>
          <a:ln/>
        </p:spPr>
      </p:sp>
      <p:sp>
        <p:nvSpPr>
          <p:cNvPr id="46" name="Text 44"/>
          <p:cNvSpPr txBox="1"/>
          <p:nvPr/>
        </p:nvSpPr>
        <p:spPr>
          <a:xfrm>
            <a:off x="4709160" y="437943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+6.0 pts</a:t>
            </a:r>
            <a:endParaRPr lang="en-US" sz="1300" dirty="0"/>
          </a:p>
        </p:txBody>
      </p:sp>
      <p:sp>
        <p:nvSpPr>
          <p:cNvPr id="47" name="Text 45"/>
          <p:cNvSpPr txBox="1"/>
          <p:nvPr/>
        </p:nvSpPr>
        <p:spPr>
          <a:xfrm>
            <a:off x="658368"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48" name="Shape 46"/>
          <p:cNvSpPr/>
          <p:nvPr/>
        </p:nvSpPr>
        <p:spPr>
          <a:xfrm>
            <a:off x="3813048" y="4671809"/>
            <a:ext cx="118294" cy="105898"/>
          </a:xfrm>
          <a:prstGeom prst="rect">
            <a:avLst/>
          </a:prstGeom>
          <a:solidFill>
            <a:srgbClr val="12A566"/>
          </a:solidFill>
          <a:ln/>
        </p:spPr>
      </p:sp>
      <p:sp>
        <p:nvSpPr>
          <p:cNvPr id="49" name="Text 47"/>
          <p:cNvSpPr txBox="1"/>
          <p:nvPr/>
        </p:nvSpPr>
        <p:spPr>
          <a:xfrm>
            <a:off x="4709160" y="460965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+4.8 pts</a:t>
            </a:r>
            <a:endParaRPr lang="en-US" sz="1300" dirty="0"/>
          </a:p>
        </p:txBody>
      </p:sp>
      <p:sp>
        <p:nvSpPr>
          <p:cNvPr id="50" name="Text 48"/>
          <p:cNvSpPr txBox="1"/>
          <p:nvPr/>
        </p:nvSpPr>
        <p:spPr>
          <a:xfrm>
            <a:off x="658368"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51" name="Shape 49"/>
          <p:cNvSpPr/>
          <p:nvPr/>
        </p:nvSpPr>
        <p:spPr>
          <a:xfrm>
            <a:off x="3813048" y="4902023"/>
            <a:ext cx="114831" cy="105898"/>
          </a:xfrm>
          <a:prstGeom prst="rect">
            <a:avLst/>
          </a:prstGeom>
          <a:solidFill>
            <a:srgbClr val="12A566"/>
          </a:solidFill>
          <a:ln/>
        </p:spPr>
      </p:sp>
      <p:sp>
        <p:nvSpPr>
          <p:cNvPr id="52" name="Text 50"/>
          <p:cNvSpPr txBox="1"/>
          <p:nvPr/>
        </p:nvSpPr>
        <p:spPr>
          <a:xfrm>
            <a:off x="4709160" y="483986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+4.7 pts</a:t>
            </a:r>
            <a:endParaRPr lang="en-US" sz="1300" dirty="0"/>
          </a:p>
        </p:txBody>
      </p:sp>
      <p:sp>
        <p:nvSpPr>
          <p:cNvPr id="53" name="Text 51"/>
          <p:cNvSpPr txBox="1"/>
          <p:nvPr/>
        </p:nvSpPr>
        <p:spPr>
          <a:xfrm>
            <a:off x="658368"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54" name="Shape 52"/>
          <p:cNvSpPr/>
          <p:nvPr/>
        </p:nvSpPr>
        <p:spPr>
          <a:xfrm>
            <a:off x="3813048" y="5132237"/>
            <a:ext cx="111058" cy="105898"/>
          </a:xfrm>
          <a:prstGeom prst="rect">
            <a:avLst/>
          </a:prstGeom>
          <a:solidFill>
            <a:srgbClr val="12A566"/>
          </a:solidFill>
          <a:ln/>
        </p:spPr>
      </p:sp>
      <p:sp>
        <p:nvSpPr>
          <p:cNvPr id="55" name="Text 53"/>
          <p:cNvSpPr txBox="1"/>
          <p:nvPr/>
        </p:nvSpPr>
        <p:spPr>
          <a:xfrm>
            <a:off x="4709160" y="507007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+4.5 pts</a:t>
            </a:r>
            <a:endParaRPr lang="en-US" sz="1300" dirty="0"/>
          </a:p>
        </p:txBody>
      </p:sp>
      <p:sp>
        <p:nvSpPr>
          <p:cNvPr id="56" name="Text 54"/>
          <p:cNvSpPr txBox="1"/>
          <p:nvPr/>
        </p:nvSpPr>
        <p:spPr>
          <a:xfrm>
            <a:off x="658368"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57" name="Shape 55"/>
          <p:cNvSpPr/>
          <p:nvPr/>
        </p:nvSpPr>
        <p:spPr>
          <a:xfrm>
            <a:off x="3813048" y="5362450"/>
            <a:ext cx="101341" cy="105898"/>
          </a:xfrm>
          <a:prstGeom prst="rect">
            <a:avLst/>
          </a:prstGeom>
          <a:solidFill>
            <a:srgbClr val="12A566"/>
          </a:solidFill>
          <a:ln/>
        </p:spPr>
      </p:sp>
      <p:sp>
        <p:nvSpPr>
          <p:cNvPr id="58" name="Text 56"/>
          <p:cNvSpPr txBox="1"/>
          <p:nvPr/>
        </p:nvSpPr>
        <p:spPr>
          <a:xfrm>
            <a:off x="4709160" y="530029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+4.1 pts</a:t>
            </a:r>
            <a:endParaRPr lang="en-US" sz="1300" dirty="0"/>
          </a:p>
        </p:txBody>
      </p:sp>
      <p:sp>
        <p:nvSpPr>
          <p:cNvPr id="59" name="Text 57"/>
          <p:cNvSpPr txBox="1"/>
          <p:nvPr/>
        </p:nvSpPr>
        <p:spPr>
          <a:xfrm>
            <a:off x="658368" y="553050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60" name="Shape 58"/>
          <p:cNvSpPr/>
          <p:nvPr/>
        </p:nvSpPr>
        <p:spPr>
          <a:xfrm>
            <a:off x="3813048" y="5592664"/>
            <a:ext cx="100776" cy="105898"/>
          </a:xfrm>
          <a:prstGeom prst="rect">
            <a:avLst/>
          </a:prstGeom>
          <a:solidFill>
            <a:srgbClr val="12A566"/>
          </a:solidFill>
          <a:ln/>
        </p:spPr>
      </p:sp>
      <p:sp>
        <p:nvSpPr>
          <p:cNvPr id="61" name="Text 59"/>
          <p:cNvSpPr txBox="1"/>
          <p:nvPr/>
        </p:nvSpPr>
        <p:spPr>
          <a:xfrm>
            <a:off x="4709160" y="553050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+4.1 pts</a:t>
            </a:r>
            <a:endParaRPr lang="en-US" sz="1300" dirty="0"/>
          </a:p>
        </p:txBody>
      </p:sp>
      <p:sp>
        <p:nvSpPr>
          <p:cNvPr id="62" name="Text 60"/>
          <p:cNvSpPr txBox="1"/>
          <p:nvPr/>
        </p:nvSpPr>
        <p:spPr>
          <a:xfrm>
            <a:off x="6208776"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63" name="Shape 61"/>
          <p:cNvSpPr/>
          <p:nvPr/>
        </p:nvSpPr>
        <p:spPr>
          <a:xfrm>
            <a:off x="9363456" y="1909246"/>
            <a:ext cx="95545" cy="105898"/>
          </a:xfrm>
          <a:prstGeom prst="rect">
            <a:avLst/>
          </a:prstGeom>
          <a:solidFill>
            <a:srgbClr val="12A566"/>
          </a:solidFill>
          <a:ln/>
        </p:spPr>
      </p:sp>
      <p:sp>
        <p:nvSpPr>
          <p:cNvPr id="64" name="Text 62"/>
          <p:cNvSpPr txBox="1"/>
          <p:nvPr/>
        </p:nvSpPr>
        <p:spPr>
          <a:xfrm>
            <a:off x="10259568"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+3.9 pts</a:t>
            </a:r>
            <a:endParaRPr lang="en-US" sz="1300" dirty="0"/>
          </a:p>
        </p:txBody>
      </p:sp>
      <p:sp>
        <p:nvSpPr>
          <p:cNvPr id="65" name="Text 63"/>
          <p:cNvSpPr txBox="1"/>
          <p:nvPr/>
        </p:nvSpPr>
        <p:spPr>
          <a:xfrm>
            <a:off x="6208776"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66" name="Shape 64"/>
          <p:cNvSpPr/>
          <p:nvPr/>
        </p:nvSpPr>
        <p:spPr>
          <a:xfrm>
            <a:off x="9363456" y="2139459"/>
            <a:ext cx="92199" cy="105898"/>
          </a:xfrm>
          <a:prstGeom prst="rect">
            <a:avLst/>
          </a:prstGeom>
          <a:solidFill>
            <a:srgbClr val="12A566"/>
          </a:solidFill>
          <a:ln/>
        </p:spPr>
      </p:sp>
      <p:sp>
        <p:nvSpPr>
          <p:cNvPr id="67" name="Text 65"/>
          <p:cNvSpPr txBox="1"/>
          <p:nvPr/>
        </p:nvSpPr>
        <p:spPr>
          <a:xfrm>
            <a:off x="10259568"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+3.7 pts</a:t>
            </a:r>
            <a:endParaRPr lang="en-US" sz="1300" dirty="0"/>
          </a:p>
        </p:txBody>
      </p:sp>
      <p:sp>
        <p:nvSpPr>
          <p:cNvPr id="68" name="Text 66"/>
          <p:cNvSpPr txBox="1"/>
          <p:nvPr/>
        </p:nvSpPr>
        <p:spPr>
          <a:xfrm>
            <a:off x="6208776"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69" name="Shape 67"/>
          <p:cNvSpPr/>
          <p:nvPr/>
        </p:nvSpPr>
        <p:spPr>
          <a:xfrm>
            <a:off x="9363456" y="2369673"/>
            <a:ext cx="58212" cy="105898"/>
          </a:xfrm>
          <a:prstGeom prst="rect">
            <a:avLst/>
          </a:prstGeom>
          <a:solidFill>
            <a:srgbClr val="12A566"/>
          </a:solidFill>
          <a:ln/>
        </p:spPr>
      </p:sp>
      <p:sp>
        <p:nvSpPr>
          <p:cNvPr id="70" name="Text 68"/>
          <p:cNvSpPr txBox="1"/>
          <p:nvPr/>
        </p:nvSpPr>
        <p:spPr>
          <a:xfrm>
            <a:off x="10259568"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+2.4 pts</a:t>
            </a:r>
            <a:endParaRPr lang="en-US" sz="1300" dirty="0"/>
          </a:p>
        </p:txBody>
      </p:sp>
      <p:sp>
        <p:nvSpPr>
          <p:cNvPr id="71" name="Text 69"/>
          <p:cNvSpPr txBox="1"/>
          <p:nvPr/>
        </p:nvSpPr>
        <p:spPr>
          <a:xfrm>
            <a:off x="6208776"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72" name="Shape 70"/>
          <p:cNvSpPr/>
          <p:nvPr/>
        </p:nvSpPr>
        <p:spPr>
          <a:xfrm>
            <a:off x="9363456" y="2599887"/>
            <a:ext cx="55239" cy="105898"/>
          </a:xfrm>
          <a:prstGeom prst="rect">
            <a:avLst/>
          </a:prstGeom>
          <a:solidFill>
            <a:srgbClr val="12A566"/>
          </a:solidFill>
          <a:ln/>
        </p:spPr>
      </p:sp>
      <p:sp>
        <p:nvSpPr>
          <p:cNvPr id="73" name="Text 71"/>
          <p:cNvSpPr txBox="1"/>
          <p:nvPr/>
        </p:nvSpPr>
        <p:spPr>
          <a:xfrm>
            <a:off x="10259568"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+2.2 pts</a:t>
            </a:r>
            <a:endParaRPr lang="en-US" sz="1300" dirty="0"/>
          </a:p>
        </p:txBody>
      </p:sp>
      <p:sp>
        <p:nvSpPr>
          <p:cNvPr id="74" name="Text 72"/>
          <p:cNvSpPr txBox="1"/>
          <p:nvPr/>
        </p:nvSpPr>
        <p:spPr>
          <a:xfrm>
            <a:off x="6208776"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75" name="Shape 73"/>
          <p:cNvSpPr/>
          <p:nvPr/>
        </p:nvSpPr>
        <p:spPr>
          <a:xfrm>
            <a:off x="9363456" y="2830100"/>
            <a:ext cx="25937" cy="105898"/>
          </a:xfrm>
          <a:prstGeom prst="rect">
            <a:avLst/>
          </a:prstGeom>
          <a:solidFill>
            <a:srgbClr val="12A566"/>
          </a:solidFill>
          <a:ln/>
        </p:spPr>
      </p:sp>
      <p:sp>
        <p:nvSpPr>
          <p:cNvPr id="76" name="Text 74"/>
          <p:cNvSpPr txBox="1"/>
          <p:nvPr/>
        </p:nvSpPr>
        <p:spPr>
          <a:xfrm>
            <a:off x="10259568"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+1.1 pts</a:t>
            </a:r>
            <a:endParaRPr lang="en-US" sz="1300" dirty="0"/>
          </a:p>
        </p:txBody>
      </p:sp>
      <p:sp>
        <p:nvSpPr>
          <p:cNvPr id="77" name="Text 75"/>
          <p:cNvSpPr txBox="1"/>
          <p:nvPr/>
        </p:nvSpPr>
        <p:spPr>
          <a:xfrm>
            <a:off x="6208776"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78" name="Shape 76"/>
          <p:cNvSpPr/>
          <p:nvPr/>
        </p:nvSpPr>
        <p:spPr>
          <a:xfrm>
            <a:off x="9363456" y="3060314"/>
            <a:ext cx="12802" cy="105898"/>
          </a:xfrm>
          <a:prstGeom prst="rect">
            <a:avLst/>
          </a:prstGeom>
          <a:solidFill>
            <a:srgbClr val="12A566"/>
          </a:solidFill>
          <a:ln/>
        </p:spPr>
      </p:sp>
      <p:sp>
        <p:nvSpPr>
          <p:cNvPr id="79" name="Text 77"/>
          <p:cNvSpPr txBox="1"/>
          <p:nvPr/>
        </p:nvSpPr>
        <p:spPr>
          <a:xfrm>
            <a:off x="10259568"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+0.2 pts</a:t>
            </a:r>
            <a:endParaRPr lang="en-US" sz="1300" dirty="0"/>
          </a:p>
        </p:txBody>
      </p:sp>
      <p:sp>
        <p:nvSpPr>
          <p:cNvPr id="80" name="Text 78"/>
          <p:cNvSpPr txBox="1"/>
          <p:nvPr/>
        </p:nvSpPr>
        <p:spPr>
          <a:xfrm>
            <a:off x="6208776"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81" name="Shape 79"/>
          <p:cNvSpPr/>
          <p:nvPr/>
        </p:nvSpPr>
        <p:spPr>
          <a:xfrm>
            <a:off x="9363456" y="3290528"/>
            <a:ext cx="12802" cy="105898"/>
          </a:xfrm>
          <a:prstGeom prst="rect">
            <a:avLst/>
          </a:prstGeom>
          <a:solidFill>
            <a:srgbClr val="12A566"/>
          </a:solidFill>
          <a:ln/>
        </p:spPr>
      </p:sp>
      <p:sp>
        <p:nvSpPr>
          <p:cNvPr id="82" name="Text 80"/>
          <p:cNvSpPr txBox="1"/>
          <p:nvPr/>
        </p:nvSpPr>
        <p:spPr>
          <a:xfrm>
            <a:off x="10259568" y="3228370"/>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+0.0 pts</a:t>
            </a:r>
            <a:endParaRPr lang="en-US" sz="1300" dirty="0"/>
          </a:p>
        </p:txBody>
      </p:sp>
      <p:sp>
        <p:nvSpPr>
          <p:cNvPr id="83" name="Text 81"/>
          <p:cNvSpPr txBox="1"/>
          <p:nvPr/>
        </p:nvSpPr>
        <p:spPr>
          <a:xfrm>
            <a:off x="6208776"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84" name="Shape 82"/>
          <p:cNvSpPr/>
          <p:nvPr/>
        </p:nvSpPr>
        <p:spPr>
          <a:xfrm>
            <a:off x="9353116" y="3520741"/>
            <a:ext cx="12802" cy="105898"/>
          </a:xfrm>
          <a:prstGeom prst="rect">
            <a:avLst/>
          </a:prstGeom>
          <a:solidFill>
            <a:srgbClr val="C2352F"/>
          </a:solidFill>
          <a:ln/>
        </p:spPr>
      </p:sp>
      <p:sp>
        <p:nvSpPr>
          <p:cNvPr id="85" name="Text 83"/>
          <p:cNvSpPr txBox="1"/>
          <p:nvPr/>
        </p:nvSpPr>
        <p:spPr>
          <a:xfrm>
            <a:off x="10259568" y="345858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−0.4 pts</a:t>
            </a:r>
            <a:endParaRPr lang="en-US" sz="1300" dirty="0"/>
          </a:p>
        </p:txBody>
      </p:sp>
      <p:sp>
        <p:nvSpPr>
          <p:cNvPr id="86" name="Text 84"/>
          <p:cNvSpPr txBox="1"/>
          <p:nvPr/>
        </p:nvSpPr>
        <p:spPr>
          <a:xfrm>
            <a:off x="6208776"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87" name="Shape 85"/>
          <p:cNvSpPr/>
          <p:nvPr/>
        </p:nvSpPr>
        <p:spPr>
          <a:xfrm>
            <a:off x="9326494" y="3750955"/>
            <a:ext cx="36962" cy="105898"/>
          </a:xfrm>
          <a:prstGeom prst="rect">
            <a:avLst/>
          </a:prstGeom>
          <a:solidFill>
            <a:srgbClr val="C2352F"/>
          </a:solidFill>
          <a:ln/>
        </p:spPr>
      </p:sp>
      <p:sp>
        <p:nvSpPr>
          <p:cNvPr id="88" name="Text 86"/>
          <p:cNvSpPr txBox="1"/>
          <p:nvPr/>
        </p:nvSpPr>
        <p:spPr>
          <a:xfrm>
            <a:off x="10259568" y="3688797"/>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−1.5 pts</a:t>
            </a:r>
            <a:endParaRPr lang="en-US" sz="1300" dirty="0"/>
          </a:p>
        </p:txBody>
      </p:sp>
      <p:sp>
        <p:nvSpPr>
          <p:cNvPr id="89" name="Text 87"/>
          <p:cNvSpPr txBox="1"/>
          <p:nvPr/>
        </p:nvSpPr>
        <p:spPr>
          <a:xfrm>
            <a:off x="6208776"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90" name="Shape 88"/>
          <p:cNvSpPr/>
          <p:nvPr/>
        </p:nvSpPr>
        <p:spPr>
          <a:xfrm>
            <a:off x="9307443" y="3981169"/>
            <a:ext cx="56013" cy="105898"/>
          </a:xfrm>
          <a:prstGeom prst="rect">
            <a:avLst/>
          </a:prstGeom>
          <a:solidFill>
            <a:srgbClr val="C2352F"/>
          </a:solidFill>
          <a:ln/>
        </p:spPr>
      </p:sp>
      <p:sp>
        <p:nvSpPr>
          <p:cNvPr id="91" name="Text 89"/>
          <p:cNvSpPr txBox="1"/>
          <p:nvPr/>
        </p:nvSpPr>
        <p:spPr>
          <a:xfrm>
            <a:off x="10259568" y="3919011"/>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−2.3 pts</a:t>
            </a:r>
            <a:endParaRPr lang="en-US" sz="1300" dirty="0"/>
          </a:p>
        </p:txBody>
      </p:sp>
      <p:sp>
        <p:nvSpPr>
          <p:cNvPr id="92" name="Text 90"/>
          <p:cNvSpPr txBox="1"/>
          <p:nvPr/>
        </p:nvSpPr>
        <p:spPr>
          <a:xfrm>
            <a:off x="6208776"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93" name="Shape 91"/>
          <p:cNvSpPr/>
          <p:nvPr/>
        </p:nvSpPr>
        <p:spPr>
          <a:xfrm>
            <a:off x="9286228" y="4211382"/>
            <a:ext cx="77228" cy="105898"/>
          </a:xfrm>
          <a:prstGeom prst="rect">
            <a:avLst/>
          </a:prstGeom>
          <a:solidFill>
            <a:srgbClr val="C2352F"/>
          </a:solidFill>
          <a:ln/>
        </p:spPr>
      </p:sp>
      <p:sp>
        <p:nvSpPr>
          <p:cNvPr id="94" name="Text 92"/>
          <p:cNvSpPr txBox="1"/>
          <p:nvPr/>
        </p:nvSpPr>
        <p:spPr>
          <a:xfrm>
            <a:off x="10259568" y="414922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−3.1 pts</a:t>
            </a:r>
            <a:endParaRPr lang="en-US" sz="1300" dirty="0"/>
          </a:p>
        </p:txBody>
      </p:sp>
      <p:sp>
        <p:nvSpPr>
          <p:cNvPr id="95" name="Text 93"/>
          <p:cNvSpPr txBox="1"/>
          <p:nvPr/>
        </p:nvSpPr>
        <p:spPr>
          <a:xfrm>
            <a:off x="6208776"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96" name="Shape 94"/>
          <p:cNvSpPr/>
          <p:nvPr/>
        </p:nvSpPr>
        <p:spPr>
          <a:xfrm>
            <a:off x="9266152" y="4441596"/>
            <a:ext cx="97304" cy="105898"/>
          </a:xfrm>
          <a:prstGeom prst="rect">
            <a:avLst/>
          </a:prstGeom>
          <a:solidFill>
            <a:srgbClr val="C2352F"/>
          </a:solidFill>
          <a:ln/>
        </p:spPr>
      </p:sp>
      <p:sp>
        <p:nvSpPr>
          <p:cNvPr id="97" name="Text 95"/>
          <p:cNvSpPr txBox="1"/>
          <p:nvPr/>
        </p:nvSpPr>
        <p:spPr>
          <a:xfrm>
            <a:off x="10259568" y="4379438"/>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−4.0 pts</a:t>
            </a:r>
            <a:endParaRPr lang="en-US" sz="1300" dirty="0"/>
          </a:p>
        </p:txBody>
      </p:sp>
      <p:sp>
        <p:nvSpPr>
          <p:cNvPr id="98" name="Text 96"/>
          <p:cNvSpPr txBox="1"/>
          <p:nvPr/>
        </p:nvSpPr>
        <p:spPr>
          <a:xfrm>
            <a:off x="6208776"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99" name="Shape 97"/>
          <p:cNvSpPr/>
          <p:nvPr/>
        </p:nvSpPr>
        <p:spPr>
          <a:xfrm>
            <a:off x="9236766" y="4671809"/>
            <a:ext cx="126690" cy="105898"/>
          </a:xfrm>
          <a:prstGeom prst="rect">
            <a:avLst/>
          </a:prstGeom>
          <a:solidFill>
            <a:srgbClr val="C2352F"/>
          </a:solidFill>
          <a:ln/>
        </p:spPr>
      </p:sp>
      <p:sp>
        <p:nvSpPr>
          <p:cNvPr id="100" name="Text 98"/>
          <p:cNvSpPr txBox="1"/>
          <p:nvPr/>
        </p:nvSpPr>
        <p:spPr>
          <a:xfrm>
            <a:off x="10259568" y="4609652"/>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−5.2 pts</a:t>
            </a:r>
            <a:endParaRPr lang="en-US" sz="1300" dirty="0"/>
          </a:p>
        </p:txBody>
      </p:sp>
      <p:sp>
        <p:nvSpPr>
          <p:cNvPr id="101" name="Text 99"/>
          <p:cNvSpPr txBox="1"/>
          <p:nvPr/>
        </p:nvSpPr>
        <p:spPr>
          <a:xfrm>
            <a:off x="6208776"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102" name="Shape 100"/>
          <p:cNvSpPr/>
          <p:nvPr/>
        </p:nvSpPr>
        <p:spPr>
          <a:xfrm>
            <a:off x="9155753" y="4902023"/>
            <a:ext cx="207703" cy="105898"/>
          </a:xfrm>
          <a:prstGeom prst="rect">
            <a:avLst/>
          </a:prstGeom>
          <a:solidFill>
            <a:srgbClr val="C2352F"/>
          </a:solidFill>
          <a:ln/>
        </p:spPr>
      </p:sp>
      <p:sp>
        <p:nvSpPr>
          <p:cNvPr id="103" name="Text 101"/>
          <p:cNvSpPr txBox="1"/>
          <p:nvPr/>
        </p:nvSpPr>
        <p:spPr>
          <a:xfrm>
            <a:off x="10259568" y="4839865"/>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−8.4 pts</a:t>
            </a:r>
            <a:endParaRPr lang="en-US" sz="1300" dirty="0"/>
          </a:p>
        </p:txBody>
      </p:sp>
      <p:sp>
        <p:nvSpPr>
          <p:cNvPr id="104" name="Text 102"/>
          <p:cNvSpPr txBox="1"/>
          <p:nvPr/>
        </p:nvSpPr>
        <p:spPr>
          <a:xfrm>
            <a:off x="6208776"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105" name="Shape 103"/>
          <p:cNvSpPr/>
          <p:nvPr/>
        </p:nvSpPr>
        <p:spPr>
          <a:xfrm>
            <a:off x="9094201" y="5132237"/>
            <a:ext cx="269255" cy="105898"/>
          </a:xfrm>
          <a:prstGeom prst="rect">
            <a:avLst/>
          </a:prstGeom>
          <a:solidFill>
            <a:srgbClr val="C2352F"/>
          </a:solidFill>
          <a:ln/>
        </p:spPr>
      </p:sp>
      <p:sp>
        <p:nvSpPr>
          <p:cNvPr id="106" name="Text 104"/>
          <p:cNvSpPr txBox="1"/>
          <p:nvPr/>
        </p:nvSpPr>
        <p:spPr>
          <a:xfrm>
            <a:off x="10259568" y="5070079"/>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−10.9 pts</a:t>
            </a:r>
            <a:endParaRPr lang="en-US" sz="1300" dirty="0"/>
          </a:p>
        </p:txBody>
      </p:sp>
      <p:sp>
        <p:nvSpPr>
          <p:cNvPr id="107" name="Text 105"/>
          <p:cNvSpPr txBox="1"/>
          <p:nvPr/>
        </p:nvSpPr>
        <p:spPr>
          <a:xfrm>
            <a:off x="6208776"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108" name="Shape 106"/>
          <p:cNvSpPr/>
          <p:nvPr/>
        </p:nvSpPr>
        <p:spPr>
          <a:xfrm>
            <a:off x="8704074" y="5362450"/>
            <a:ext cx="659382" cy="105898"/>
          </a:xfrm>
          <a:prstGeom prst="rect">
            <a:avLst/>
          </a:prstGeom>
          <a:solidFill>
            <a:srgbClr val="C2352F"/>
          </a:solidFill>
          <a:ln/>
        </p:spPr>
      </p:sp>
      <p:sp>
        <p:nvSpPr>
          <p:cNvPr id="109" name="Text 107"/>
          <p:cNvSpPr txBox="1"/>
          <p:nvPr/>
        </p:nvSpPr>
        <p:spPr>
          <a:xfrm>
            <a:off x="10259568" y="530029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−26.8 pts</a:t>
            </a:r>
            <a:endParaRPr lang="en-US" sz="1300" dirty="0"/>
          </a:p>
        </p:txBody>
      </p:sp>
      <p:sp>
        <p:nvSpPr>
          <p:cNvPr id="110" name="Shape 108"/>
          <p:cNvSpPr/>
          <p:nvPr/>
        </p:nvSpPr>
        <p:spPr>
          <a:xfrm>
            <a:off x="3807562" y="1847088"/>
            <a:ext cx="10973" cy="3913632"/>
          </a:xfrm>
          <a:prstGeom prst="rect">
            <a:avLst/>
          </a:prstGeom>
          <a:solidFill>
            <a:srgbClr val="9AA3AD"/>
          </a:solidFill>
          <a:ln/>
        </p:spPr>
      </p:sp>
      <p:sp>
        <p:nvSpPr>
          <p:cNvPr id="111" name="Shape 109"/>
          <p:cNvSpPr/>
          <p:nvPr/>
        </p:nvSpPr>
        <p:spPr>
          <a:xfrm>
            <a:off x="9357970" y="1847088"/>
            <a:ext cx="10973" cy="3913632"/>
          </a:xfrm>
          <a:prstGeom prst="rect">
            <a:avLst/>
          </a:prstGeom>
          <a:solidFill>
            <a:srgbClr val="9AA3AD"/>
          </a:solidFill>
          <a:ln/>
        </p:spPr>
      </p:sp>
      <p:sp>
        <p:nvSpPr>
          <p:cNvPr id="112" name="Shape 110"/>
          <p:cNvSpPr/>
          <p:nvPr/>
        </p:nvSpPr>
        <p:spPr>
          <a:xfrm>
            <a:off x="457200" y="5961888"/>
            <a:ext cx="11274552" cy="548640"/>
          </a:xfrm>
          <a:prstGeom prst="rect">
            <a:avLst/>
          </a:prstGeom>
          <a:solidFill>
            <a:srgbClr val="E6F6EE"/>
          </a:solidFill>
          <a:ln/>
        </p:spPr>
      </p:sp>
      <p:sp>
        <p:nvSpPr>
          <p:cNvPr id="113" name="Text 111"/>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24 of 33 stores raised service net to gross, led by HYUNDAI PRESCOTT at +33.5 pts to -19.2%. 9 declined; VW ST GEORGE fell most at −26.8 pts.</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Parts Net to Gross %</a:t>
            </a:r>
            <a:endParaRPr lang="en-US" sz="2800" dirty="0"/>
          </a:p>
        </p:txBody>
      </p:sp>
      <p:sp>
        <p:nvSpPr>
          <p:cNvPr id="5" name="Shape 3"/>
          <p:cNvSpPr/>
          <p:nvPr/>
        </p:nvSpPr>
        <p:spPr>
          <a:xfrm>
            <a:off x="457200" y="1207008"/>
            <a:ext cx="11274552" cy="1517904"/>
          </a:xfrm>
          <a:prstGeom prst="rect">
            <a:avLst/>
          </a:prstGeom>
          <a:solidFill>
            <a:srgbClr val="FFFFFF"/>
          </a:solidFill>
          <a:ln/>
        </p:spPr>
      </p:sp>
      <p:sp>
        <p:nvSpPr>
          <p:cNvPr id="6" name="Text 4"/>
          <p:cNvSpPr txBox="1"/>
          <p:nvPr/>
        </p:nvSpPr>
        <p:spPr>
          <a:xfrm>
            <a:off x="685800" y="1316736"/>
            <a:ext cx="10789920" cy="274320"/>
          </a:xfrm>
          <a:prstGeom prst="rect">
            <a:avLst/>
          </a:prstGeom>
          <a:noFill/>
          <a:ln/>
        </p:spPr>
        <p:txBody>
          <a:bodyPr wrap="square" lIns="0" tIns="0" rIns="0" bIns="0" rtlCol="0" anchor="ctr"/>
          <a:lstStyle/>
          <a:p>
            <a:pPr indent="0" marL="0">
              <a:buNone/>
            </a:pPr>
            <a:r>
              <a:rPr lang="en-US" sz="1400" spc="100" kern="0" dirty="0">
                <a:solidFill>
                  <a:srgbClr val="595959"/>
                </a:solidFill>
                <a:latin typeface="Inter" pitchFamily="34" charset="0"/>
                <a:ea typeface="Inter" pitchFamily="34" charset="-122"/>
                <a:cs typeface="Inter" pitchFamily="34" charset="-120"/>
              </a:rPr>
              <a:t>GROUP · JANUARY–SEPTEMBER · SAME-STORE, 33 STORES</a:t>
            </a:r>
            <a:endParaRPr lang="en-US" sz="1400" dirty="0"/>
          </a:p>
        </p:txBody>
      </p:sp>
      <p:sp>
        <p:nvSpPr>
          <p:cNvPr id="7" name="Text 5"/>
          <p:cNvSpPr txBox="1"/>
          <p:nvPr/>
        </p:nvSpPr>
        <p:spPr>
          <a:xfrm>
            <a:off x="68580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a:t>
            </a:r>
            <a:endParaRPr lang="en-US" sz="1400" dirty="0"/>
          </a:p>
        </p:txBody>
      </p:sp>
      <p:sp>
        <p:nvSpPr>
          <p:cNvPr id="8" name="Text 6"/>
          <p:cNvSpPr txBox="1"/>
          <p:nvPr/>
        </p:nvSpPr>
        <p:spPr>
          <a:xfrm>
            <a:off x="68580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37.1%</a:t>
            </a:r>
            <a:endParaRPr lang="en-US" sz="3000" dirty="0"/>
          </a:p>
        </p:txBody>
      </p:sp>
      <p:sp>
        <p:nvSpPr>
          <p:cNvPr id="9" name="Text 7"/>
          <p:cNvSpPr txBox="1"/>
          <p:nvPr/>
        </p:nvSpPr>
        <p:spPr>
          <a:xfrm>
            <a:off x="347472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a:t>
            </a:r>
            <a:endParaRPr lang="en-US" sz="1400" dirty="0"/>
          </a:p>
        </p:txBody>
      </p:sp>
      <p:sp>
        <p:nvSpPr>
          <p:cNvPr id="10" name="Text 8"/>
          <p:cNvSpPr txBox="1"/>
          <p:nvPr/>
        </p:nvSpPr>
        <p:spPr>
          <a:xfrm>
            <a:off x="347472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36.7%</a:t>
            </a:r>
            <a:endParaRPr lang="en-US" sz="3000" dirty="0"/>
          </a:p>
        </p:txBody>
      </p:sp>
      <p:sp>
        <p:nvSpPr>
          <p:cNvPr id="11" name="Text 9"/>
          <p:cNvSpPr txBox="1"/>
          <p:nvPr/>
        </p:nvSpPr>
        <p:spPr>
          <a:xfrm>
            <a:off x="626364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2" name="Text 10"/>
          <p:cNvSpPr txBox="1"/>
          <p:nvPr/>
        </p:nvSpPr>
        <p:spPr>
          <a:xfrm>
            <a:off x="6263640" y="1865376"/>
            <a:ext cx="2697480" cy="603504"/>
          </a:xfrm>
          <a:prstGeom prst="rect">
            <a:avLst/>
          </a:prstGeom>
          <a:noFill/>
          <a:ln/>
        </p:spPr>
        <p:txBody>
          <a:bodyPr wrap="square" lIns="0" tIns="0" rIns="0" bIns="0" rtlCol="0" anchor="ctr"/>
          <a:lstStyle/>
          <a:p>
            <a:pPr indent="0" marL="0">
              <a:buNone/>
            </a:pPr>
            <a:r>
              <a:rPr lang="en-US" sz="3000" b="1" dirty="0">
                <a:solidFill>
                  <a:srgbClr val="A82B26"/>
                </a:solidFill>
                <a:latin typeface="Inter" pitchFamily="34" charset="0"/>
                <a:ea typeface="Inter" pitchFamily="34" charset="-122"/>
                <a:cs typeface="Inter" pitchFamily="34" charset="-120"/>
              </a:rPr>
              <a:t>−0.4 pts</a:t>
            </a:r>
            <a:endParaRPr lang="en-US" sz="3000" dirty="0"/>
          </a:p>
        </p:txBody>
      </p:sp>
      <p:sp>
        <p:nvSpPr>
          <p:cNvPr id="13" name="Text 11"/>
          <p:cNvSpPr txBox="1"/>
          <p:nvPr/>
        </p:nvSpPr>
        <p:spPr>
          <a:xfrm>
            <a:off x="905256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4" name="Text 12"/>
          <p:cNvSpPr txBox="1"/>
          <p:nvPr/>
        </p:nvSpPr>
        <p:spPr>
          <a:xfrm>
            <a:off x="9052560" y="1865376"/>
            <a:ext cx="2697480" cy="603504"/>
          </a:xfrm>
          <a:prstGeom prst="rect">
            <a:avLst/>
          </a:prstGeom>
          <a:noFill/>
          <a:ln/>
        </p:spPr>
        <p:txBody>
          <a:bodyPr wrap="square" lIns="0" tIns="0" rIns="0" bIns="0" rtlCol="0" anchor="ctr"/>
          <a:lstStyle/>
          <a:p>
            <a:pPr indent="0" marL="0">
              <a:buNone/>
            </a:pPr>
            <a:r>
              <a:rPr lang="en-US" sz="3000" b="1" dirty="0">
                <a:solidFill>
                  <a:srgbClr val="A82B26"/>
                </a:solidFill>
                <a:latin typeface="Inter" pitchFamily="34" charset="0"/>
                <a:ea typeface="Inter" pitchFamily="34" charset="-122"/>
                <a:cs typeface="Inter" pitchFamily="34" charset="-120"/>
              </a:rPr>
              <a:t>−1.1%</a:t>
            </a:r>
            <a:endParaRPr lang="en-US" sz="3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2816352"/>
          <a:ext cx="11274552" cy="914400"/>
        </p:xfrm>
        <a:graphic>
          <a:graphicData uri="http://schemas.openxmlformats.org/drawingml/2006/table">
            <a:tbl>
              <a:tblPr/>
              <a:tblGrid>
                <a:gridCol w="3118104"/>
                <a:gridCol w="2039112"/>
                <a:gridCol w="2039112"/>
                <a:gridCol w="2039112"/>
                <a:gridCol w="2039112"/>
              </a:tblGrid>
              <a:tr h="274320">
                <a:tc>
                  <a:txBody>
                    <a:bodyPr/>
                    <a:lstStyle/>
                    <a:p>
                      <a:pPr algn="l" indent="0" marL="0">
                        <a:buNone/>
                      </a:pPr>
                      <a:r>
                        <a:rPr lang="en-US" sz="1400" b="1" dirty="0">
                          <a:solidFill>
                            <a:srgbClr val="FFFFFF"/>
                          </a:solidFill>
                          <a:latin typeface="Inter" pitchFamily="34" charset="0"/>
                          <a:ea typeface="Inter" pitchFamily="34" charset="-122"/>
                          <a:cs typeface="Inter" pitchFamily="34" charset="-120"/>
                        </a:rPr>
                        <a:t>MONTH</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VARIANCE</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 %</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JAN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39.6%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33.5%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−6.1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−15.5%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FEB</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36.6%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32.0%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−4.6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−12.6%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35.0%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36.3%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+1.3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APR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37.7%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38.0%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+0.4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MAY</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36.7%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33.6%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−3.1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−8.4%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38.1%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37.7%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−0.4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−1.0%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JUL</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39.7%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41.0%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+1.3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AUG</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35.7%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38.1%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+2.4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+6.7%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SEP</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34.8%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38.8%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+3.9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+11.3%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16" name="Shape 13"/>
          <p:cNvSpPr/>
          <p:nvPr/>
        </p:nvSpPr>
        <p:spPr>
          <a:xfrm>
            <a:off x="457200" y="5961888"/>
            <a:ext cx="11274552" cy="548640"/>
          </a:xfrm>
          <a:prstGeom prst="rect">
            <a:avLst/>
          </a:prstGeom>
          <a:solidFill>
            <a:srgbClr val="FBEBEA"/>
          </a:solidFill>
          <a:ln/>
        </p:spPr>
      </p:sp>
      <p:sp>
        <p:nvSpPr>
          <p:cNvPr id="17" name="Text 14"/>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Down 0.4 pts to 36.7%, behind 2025 in four of nine months. Gross grew 1.9% but department profit grew 0.8%.</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Parts Net to Gross %</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38988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7" name="Shape 5"/>
          <p:cNvSpPr/>
          <p:nvPr/>
        </p:nvSpPr>
        <p:spPr>
          <a:xfrm>
            <a:off x="2971800" y="1453358"/>
            <a:ext cx="1828800" cy="126940"/>
          </a:xfrm>
          <a:prstGeom prst="rect">
            <a:avLst/>
          </a:prstGeom>
          <a:solidFill>
            <a:srgbClr val="12A566"/>
          </a:solidFill>
          <a:ln/>
        </p:spPr>
      </p:sp>
      <p:sp>
        <p:nvSpPr>
          <p:cNvPr id="8" name="Text 6"/>
          <p:cNvSpPr txBox="1"/>
          <p:nvPr/>
        </p:nvSpPr>
        <p:spPr>
          <a:xfrm>
            <a:off x="4855464" y="1389888"/>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58.7%</a:t>
            </a:r>
            <a:endParaRPr lang="en-US" sz="1300" dirty="0"/>
          </a:p>
        </p:txBody>
      </p:sp>
      <p:sp>
        <p:nvSpPr>
          <p:cNvPr id="9" name="Text 7"/>
          <p:cNvSpPr txBox="1"/>
          <p:nvPr/>
        </p:nvSpPr>
        <p:spPr>
          <a:xfrm>
            <a:off x="658368" y="164376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10" name="Shape 8"/>
          <p:cNvSpPr/>
          <p:nvPr/>
        </p:nvSpPr>
        <p:spPr>
          <a:xfrm>
            <a:off x="2971800" y="1707239"/>
            <a:ext cx="1545246" cy="126940"/>
          </a:xfrm>
          <a:prstGeom prst="rect">
            <a:avLst/>
          </a:prstGeom>
          <a:solidFill>
            <a:srgbClr val="12A566"/>
          </a:solidFill>
          <a:ln/>
        </p:spPr>
      </p:sp>
      <p:sp>
        <p:nvSpPr>
          <p:cNvPr id="11" name="Text 9"/>
          <p:cNvSpPr txBox="1"/>
          <p:nvPr/>
        </p:nvSpPr>
        <p:spPr>
          <a:xfrm>
            <a:off x="4855464" y="1643768"/>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49.6%</a:t>
            </a:r>
            <a:endParaRPr lang="en-US" sz="1300" dirty="0"/>
          </a:p>
        </p:txBody>
      </p:sp>
      <p:sp>
        <p:nvSpPr>
          <p:cNvPr id="12" name="Text 10"/>
          <p:cNvSpPr txBox="1"/>
          <p:nvPr/>
        </p:nvSpPr>
        <p:spPr>
          <a:xfrm>
            <a:off x="658368" y="189764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13" name="Shape 11"/>
          <p:cNvSpPr/>
          <p:nvPr/>
        </p:nvSpPr>
        <p:spPr>
          <a:xfrm>
            <a:off x="2971800" y="1961119"/>
            <a:ext cx="1526558" cy="126940"/>
          </a:xfrm>
          <a:prstGeom prst="rect">
            <a:avLst/>
          </a:prstGeom>
          <a:solidFill>
            <a:srgbClr val="12A566"/>
          </a:solidFill>
          <a:ln/>
        </p:spPr>
      </p:sp>
      <p:sp>
        <p:nvSpPr>
          <p:cNvPr id="14" name="Text 12"/>
          <p:cNvSpPr txBox="1"/>
          <p:nvPr/>
        </p:nvSpPr>
        <p:spPr>
          <a:xfrm>
            <a:off x="4855464" y="1897649"/>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49.0%</a:t>
            </a:r>
            <a:endParaRPr lang="en-US" sz="1300" dirty="0"/>
          </a:p>
        </p:txBody>
      </p:sp>
      <p:sp>
        <p:nvSpPr>
          <p:cNvPr id="15" name="Text 13"/>
          <p:cNvSpPr txBox="1"/>
          <p:nvPr/>
        </p:nvSpPr>
        <p:spPr>
          <a:xfrm>
            <a:off x="658368" y="215152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16" name="Shape 14"/>
          <p:cNvSpPr/>
          <p:nvPr/>
        </p:nvSpPr>
        <p:spPr>
          <a:xfrm>
            <a:off x="2971800" y="2215000"/>
            <a:ext cx="1511838" cy="126940"/>
          </a:xfrm>
          <a:prstGeom prst="rect">
            <a:avLst/>
          </a:prstGeom>
          <a:solidFill>
            <a:srgbClr val="12A566"/>
          </a:solidFill>
          <a:ln/>
        </p:spPr>
      </p:sp>
      <p:sp>
        <p:nvSpPr>
          <p:cNvPr id="17" name="Text 15"/>
          <p:cNvSpPr txBox="1"/>
          <p:nvPr/>
        </p:nvSpPr>
        <p:spPr>
          <a:xfrm>
            <a:off x="4855464" y="2151529"/>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48.5%</a:t>
            </a:r>
            <a:endParaRPr lang="en-US" sz="1300" dirty="0"/>
          </a:p>
        </p:txBody>
      </p:sp>
      <p:sp>
        <p:nvSpPr>
          <p:cNvPr id="18" name="Text 16"/>
          <p:cNvSpPr txBox="1"/>
          <p:nvPr/>
        </p:nvSpPr>
        <p:spPr>
          <a:xfrm>
            <a:off x="658368" y="240541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19" name="Shape 17"/>
          <p:cNvSpPr/>
          <p:nvPr/>
        </p:nvSpPr>
        <p:spPr>
          <a:xfrm>
            <a:off x="2971800" y="2468880"/>
            <a:ext cx="1424288" cy="126940"/>
          </a:xfrm>
          <a:prstGeom prst="rect">
            <a:avLst/>
          </a:prstGeom>
          <a:solidFill>
            <a:srgbClr val="12A566"/>
          </a:solidFill>
          <a:ln/>
        </p:spPr>
      </p:sp>
      <p:sp>
        <p:nvSpPr>
          <p:cNvPr id="20" name="Text 18"/>
          <p:cNvSpPr txBox="1"/>
          <p:nvPr/>
        </p:nvSpPr>
        <p:spPr>
          <a:xfrm>
            <a:off x="4855464" y="2405410"/>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45.7%</a:t>
            </a:r>
            <a:endParaRPr lang="en-US" sz="1300" dirty="0"/>
          </a:p>
        </p:txBody>
      </p:sp>
      <p:sp>
        <p:nvSpPr>
          <p:cNvPr id="21" name="Text 19"/>
          <p:cNvSpPr txBox="1"/>
          <p:nvPr/>
        </p:nvSpPr>
        <p:spPr>
          <a:xfrm>
            <a:off x="658368" y="265929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22" name="Shape 20"/>
          <p:cNvSpPr/>
          <p:nvPr/>
        </p:nvSpPr>
        <p:spPr>
          <a:xfrm>
            <a:off x="2971800" y="2722760"/>
            <a:ext cx="1419158" cy="126940"/>
          </a:xfrm>
          <a:prstGeom prst="rect">
            <a:avLst/>
          </a:prstGeom>
          <a:solidFill>
            <a:srgbClr val="12A566"/>
          </a:solidFill>
          <a:ln/>
        </p:spPr>
      </p:sp>
      <p:sp>
        <p:nvSpPr>
          <p:cNvPr id="23" name="Text 21"/>
          <p:cNvSpPr txBox="1"/>
          <p:nvPr/>
        </p:nvSpPr>
        <p:spPr>
          <a:xfrm>
            <a:off x="4855464" y="2659290"/>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45.5%</a:t>
            </a:r>
            <a:endParaRPr lang="en-US" sz="1300" dirty="0"/>
          </a:p>
        </p:txBody>
      </p:sp>
      <p:sp>
        <p:nvSpPr>
          <p:cNvPr id="24" name="Text 22"/>
          <p:cNvSpPr txBox="1"/>
          <p:nvPr/>
        </p:nvSpPr>
        <p:spPr>
          <a:xfrm>
            <a:off x="658368" y="291317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25" name="Shape 23"/>
          <p:cNvSpPr/>
          <p:nvPr/>
        </p:nvSpPr>
        <p:spPr>
          <a:xfrm>
            <a:off x="2971800" y="2976641"/>
            <a:ext cx="1412784" cy="126940"/>
          </a:xfrm>
          <a:prstGeom prst="rect">
            <a:avLst/>
          </a:prstGeom>
          <a:solidFill>
            <a:srgbClr val="12A566"/>
          </a:solidFill>
          <a:ln/>
        </p:spPr>
      </p:sp>
      <p:sp>
        <p:nvSpPr>
          <p:cNvPr id="26" name="Text 24"/>
          <p:cNvSpPr txBox="1"/>
          <p:nvPr/>
        </p:nvSpPr>
        <p:spPr>
          <a:xfrm>
            <a:off x="4855464" y="2913171"/>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45.3%</a:t>
            </a:r>
            <a:endParaRPr lang="en-US" sz="1300" dirty="0"/>
          </a:p>
        </p:txBody>
      </p:sp>
      <p:sp>
        <p:nvSpPr>
          <p:cNvPr id="27" name="Text 25"/>
          <p:cNvSpPr txBox="1"/>
          <p:nvPr/>
        </p:nvSpPr>
        <p:spPr>
          <a:xfrm>
            <a:off x="658368" y="316705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28" name="Shape 26"/>
          <p:cNvSpPr/>
          <p:nvPr/>
        </p:nvSpPr>
        <p:spPr>
          <a:xfrm>
            <a:off x="2971800" y="3230521"/>
            <a:ext cx="1382775" cy="126940"/>
          </a:xfrm>
          <a:prstGeom prst="rect">
            <a:avLst/>
          </a:prstGeom>
          <a:solidFill>
            <a:srgbClr val="12A566"/>
          </a:solidFill>
          <a:ln/>
        </p:spPr>
      </p:sp>
      <p:sp>
        <p:nvSpPr>
          <p:cNvPr id="29" name="Text 27"/>
          <p:cNvSpPr txBox="1"/>
          <p:nvPr/>
        </p:nvSpPr>
        <p:spPr>
          <a:xfrm>
            <a:off x="4855464" y="3167051"/>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44.4%</a:t>
            </a:r>
            <a:endParaRPr lang="en-US" sz="1300" dirty="0"/>
          </a:p>
        </p:txBody>
      </p:sp>
      <p:sp>
        <p:nvSpPr>
          <p:cNvPr id="30" name="Text 28"/>
          <p:cNvSpPr txBox="1"/>
          <p:nvPr/>
        </p:nvSpPr>
        <p:spPr>
          <a:xfrm>
            <a:off x="658368" y="342093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31" name="Shape 29"/>
          <p:cNvSpPr/>
          <p:nvPr/>
        </p:nvSpPr>
        <p:spPr>
          <a:xfrm>
            <a:off x="2971800" y="3484402"/>
            <a:ext cx="1376663" cy="126940"/>
          </a:xfrm>
          <a:prstGeom prst="rect">
            <a:avLst/>
          </a:prstGeom>
          <a:solidFill>
            <a:srgbClr val="12A566"/>
          </a:solidFill>
          <a:ln/>
        </p:spPr>
      </p:sp>
      <p:sp>
        <p:nvSpPr>
          <p:cNvPr id="32" name="Text 30"/>
          <p:cNvSpPr txBox="1"/>
          <p:nvPr/>
        </p:nvSpPr>
        <p:spPr>
          <a:xfrm>
            <a:off x="4855464" y="3420932"/>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44.2%</a:t>
            </a:r>
            <a:endParaRPr lang="en-US" sz="1300" dirty="0"/>
          </a:p>
        </p:txBody>
      </p:sp>
      <p:sp>
        <p:nvSpPr>
          <p:cNvPr id="33" name="Text 31"/>
          <p:cNvSpPr txBox="1"/>
          <p:nvPr/>
        </p:nvSpPr>
        <p:spPr>
          <a:xfrm>
            <a:off x="658368" y="367481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34" name="Shape 32"/>
          <p:cNvSpPr/>
          <p:nvPr/>
        </p:nvSpPr>
        <p:spPr>
          <a:xfrm>
            <a:off x="2971800" y="3738282"/>
            <a:ext cx="1364265" cy="126940"/>
          </a:xfrm>
          <a:prstGeom prst="rect">
            <a:avLst/>
          </a:prstGeom>
          <a:solidFill>
            <a:srgbClr val="12A566"/>
          </a:solidFill>
          <a:ln/>
        </p:spPr>
      </p:sp>
      <p:sp>
        <p:nvSpPr>
          <p:cNvPr id="35" name="Text 33"/>
          <p:cNvSpPr txBox="1"/>
          <p:nvPr/>
        </p:nvSpPr>
        <p:spPr>
          <a:xfrm>
            <a:off x="4855464" y="3674812"/>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43.8%</a:t>
            </a:r>
            <a:endParaRPr lang="en-US" sz="1300" dirty="0"/>
          </a:p>
        </p:txBody>
      </p:sp>
      <p:sp>
        <p:nvSpPr>
          <p:cNvPr id="36" name="Text 34"/>
          <p:cNvSpPr txBox="1"/>
          <p:nvPr/>
        </p:nvSpPr>
        <p:spPr>
          <a:xfrm>
            <a:off x="658368" y="392869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37" name="Shape 35"/>
          <p:cNvSpPr/>
          <p:nvPr/>
        </p:nvSpPr>
        <p:spPr>
          <a:xfrm>
            <a:off x="2971800" y="3992163"/>
            <a:ext cx="1340053" cy="126940"/>
          </a:xfrm>
          <a:prstGeom prst="rect">
            <a:avLst/>
          </a:prstGeom>
          <a:solidFill>
            <a:srgbClr val="12A566"/>
          </a:solidFill>
          <a:ln/>
        </p:spPr>
      </p:sp>
      <p:sp>
        <p:nvSpPr>
          <p:cNvPr id="38" name="Text 36"/>
          <p:cNvSpPr txBox="1"/>
          <p:nvPr/>
        </p:nvSpPr>
        <p:spPr>
          <a:xfrm>
            <a:off x="4855464" y="3928693"/>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43.0%</a:t>
            </a:r>
            <a:endParaRPr lang="en-US" sz="1300" dirty="0"/>
          </a:p>
        </p:txBody>
      </p:sp>
      <p:sp>
        <p:nvSpPr>
          <p:cNvPr id="39" name="Text 37"/>
          <p:cNvSpPr txBox="1"/>
          <p:nvPr/>
        </p:nvSpPr>
        <p:spPr>
          <a:xfrm>
            <a:off x="658368" y="418257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40" name="Shape 38"/>
          <p:cNvSpPr/>
          <p:nvPr/>
        </p:nvSpPr>
        <p:spPr>
          <a:xfrm>
            <a:off x="2971800" y="4246043"/>
            <a:ext cx="1308048" cy="126940"/>
          </a:xfrm>
          <a:prstGeom prst="rect">
            <a:avLst/>
          </a:prstGeom>
          <a:solidFill>
            <a:srgbClr val="12A566"/>
          </a:solidFill>
          <a:ln/>
        </p:spPr>
      </p:sp>
      <p:sp>
        <p:nvSpPr>
          <p:cNvPr id="41" name="Text 39"/>
          <p:cNvSpPr txBox="1"/>
          <p:nvPr/>
        </p:nvSpPr>
        <p:spPr>
          <a:xfrm>
            <a:off x="4855464" y="4182573"/>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42.0%</a:t>
            </a:r>
            <a:endParaRPr lang="en-US" sz="1300" dirty="0"/>
          </a:p>
        </p:txBody>
      </p:sp>
      <p:sp>
        <p:nvSpPr>
          <p:cNvPr id="42" name="Text 40"/>
          <p:cNvSpPr txBox="1"/>
          <p:nvPr/>
        </p:nvSpPr>
        <p:spPr>
          <a:xfrm>
            <a:off x="658368" y="443645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43" name="Shape 41"/>
          <p:cNvSpPr/>
          <p:nvPr/>
        </p:nvSpPr>
        <p:spPr>
          <a:xfrm>
            <a:off x="2971800" y="4499924"/>
            <a:ext cx="1236554" cy="126940"/>
          </a:xfrm>
          <a:prstGeom prst="rect">
            <a:avLst/>
          </a:prstGeom>
          <a:solidFill>
            <a:srgbClr val="12A566"/>
          </a:solidFill>
          <a:ln/>
        </p:spPr>
      </p:sp>
      <p:sp>
        <p:nvSpPr>
          <p:cNvPr id="44" name="Text 42"/>
          <p:cNvSpPr txBox="1"/>
          <p:nvPr/>
        </p:nvSpPr>
        <p:spPr>
          <a:xfrm>
            <a:off x="4855464" y="4436454"/>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39.7%</a:t>
            </a:r>
            <a:endParaRPr lang="en-US" sz="1300" dirty="0"/>
          </a:p>
        </p:txBody>
      </p:sp>
      <p:sp>
        <p:nvSpPr>
          <p:cNvPr id="45" name="Text 43"/>
          <p:cNvSpPr txBox="1"/>
          <p:nvPr/>
        </p:nvSpPr>
        <p:spPr>
          <a:xfrm>
            <a:off x="658368" y="469033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46" name="Shape 44"/>
          <p:cNvSpPr/>
          <p:nvPr/>
        </p:nvSpPr>
        <p:spPr>
          <a:xfrm>
            <a:off x="2971800" y="4753804"/>
            <a:ext cx="1226075" cy="126940"/>
          </a:xfrm>
          <a:prstGeom prst="rect">
            <a:avLst/>
          </a:prstGeom>
          <a:solidFill>
            <a:srgbClr val="12A566"/>
          </a:solidFill>
          <a:ln/>
        </p:spPr>
      </p:sp>
      <p:sp>
        <p:nvSpPr>
          <p:cNvPr id="47" name="Text 45"/>
          <p:cNvSpPr txBox="1"/>
          <p:nvPr/>
        </p:nvSpPr>
        <p:spPr>
          <a:xfrm>
            <a:off x="4855464" y="4690334"/>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39.3%</a:t>
            </a:r>
            <a:endParaRPr lang="en-US" sz="1300" dirty="0"/>
          </a:p>
        </p:txBody>
      </p:sp>
      <p:sp>
        <p:nvSpPr>
          <p:cNvPr id="48" name="Text 46"/>
          <p:cNvSpPr txBox="1"/>
          <p:nvPr/>
        </p:nvSpPr>
        <p:spPr>
          <a:xfrm>
            <a:off x="658368" y="494421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49" name="Shape 47"/>
          <p:cNvSpPr/>
          <p:nvPr/>
        </p:nvSpPr>
        <p:spPr>
          <a:xfrm>
            <a:off x="2971800" y="5007685"/>
            <a:ext cx="1167498" cy="126940"/>
          </a:xfrm>
          <a:prstGeom prst="rect">
            <a:avLst/>
          </a:prstGeom>
          <a:solidFill>
            <a:srgbClr val="12A566"/>
          </a:solidFill>
          <a:ln/>
        </p:spPr>
      </p:sp>
      <p:sp>
        <p:nvSpPr>
          <p:cNvPr id="50" name="Text 48"/>
          <p:cNvSpPr txBox="1"/>
          <p:nvPr/>
        </p:nvSpPr>
        <p:spPr>
          <a:xfrm>
            <a:off x="4855464" y="4944215"/>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37.5%</a:t>
            </a:r>
            <a:endParaRPr lang="en-US" sz="1300" dirty="0"/>
          </a:p>
        </p:txBody>
      </p:sp>
      <p:sp>
        <p:nvSpPr>
          <p:cNvPr id="51" name="Shape 49"/>
          <p:cNvSpPr/>
          <p:nvPr/>
        </p:nvSpPr>
        <p:spPr>
          <a:xfrm>
            <a:off x="585216" y="5193523"/>
            <a:ext cx="5413248" cy="244736"/>
          </a:xfrm>
          <a:prstGeom prst="rect">
            <a:avLst/>
          </a:prstGeom>
          <a:solidFill>
            <a:srgbClr val="EDF4FA"/>
          </a:solidFill>
          <a:ln/>
        </p:spPr>
      </p:sp>
      <p:sp>
        <p:nvSpPr>
          <p:cNvPr id="52" name="Text 50"/>
          <p:cNvSpPr txBox="1"/>
          <p:nvPr/>
        </p:nvSpPr>
        <p:spPr>
          <a:xfrm>
            <a:off x="658368" y="5198095"/>
            <a:ext cx="2240280" cy="253880"/>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GROUP</a:t>
            </a:r>
            <a:endParaRPr lang="en-US" sz="1300" dirty="0"/>
          </a:p>
        </p:txBody>
      </p:sp>
      <p:sp>
        <p:nvSpPr>
          <p:cNvPr id="53" name="Shape 51"/>
          <p:cNvSpPr/>
          <p:nvPr/>
        </p:nvSpPr>
        <p:spPr>
          <a:xfrm>
            <a:off x="2971800" y="5261565"/>
            <a:ext cx="1144882" cy="126940"/>
          </a:xfrm>
          <a:prstGeom prst="rect">
            <a:avLst/>
          </a:prstGeom>
          <a:solidFill>
            <a:srgbClr val="0B2C4A"/>
          </a:solidFill>
          <a:ln/>
        </p:spPr>
      </p:sp>
      <p:sp>
        <p:nvSpPr>
          <p:cNvPr id="54" name="Text 52"/>
          <p:cNvSpPr txBox="1"/>
          <p:nvPr/>
        </p:nvSpPr>
        <p:spPr>
          <a:xfrm>
            <a:off x="4855464" y="5198095"/>
            <a:ext cx="1088136" cy="253880"/>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36.7%</a:t>
            </a:r>
            <a:endParaRPr lang="en-US" sz="1300" dirty="0"/>
          </a:p>
        </p:txBody>
      </p:sp>
      <p:sp>
        <p:nvSpPr>
          <p:cNvPr id="55" name="Text 53"/>
          <p:cNvSpPr txBox="1"/>
          <p:nvPr/>
        </p:nvSpPr>
        <p:spPr>
          <a:xfrm>
            <a:off x="658368" y="5451976"/>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56" name="Shape 54"/>
          <p:cNvSpPr/>
          <p:nvPr/>
        </p:nvSpPr>
        <p:spPr>
          <a:xfrm>
            <a:off x="2971800" y="5515446"/>
            <a:ext cx="1123320" cy="126940"/>
          </a:xfrm>
          <a:prstGeom prst="rect">
            <a:avLst/>
          </a:prstGeom>
          <a:solidFill>
            <a:srgbClr val="C2352F"/>
          </a:solidFill>
          <a:ln/>
        </p:spPr>
      </p:sp>
      <p:sp>
        <p:nvSpPr>
          <p:cNvPr id="57" name="Text 55"/>
          <p:cNvSpPr txBox="1"/>
          <p:nvPr/>
        </p:nvSpPr>
        <p:spPr>
          <a:xfrm>
            <a:off x="4855464" y="5451976"/>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36.0%</a:t>
            </a:r>
            <a:endParaRPr lang="en-US" sz="1300" dirty="0"/>
          </a:p>
        </p:txBody>
      </p:sp>
      <p:sp>
        <p:nvSpPr>
          <p:cNvPr id="58" name="Text 56"/>
          <p:cNvSpPr txBox="1"/>
          <p:nvPr/>
        </p:nvSpPr>
        <p:spPr>
          <a:xfrm>
            <a:off x="6208776" y="138988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59" name="Shape 57"/>
          <p:cNvSpPr/>
          <p:nvPr/>
        </p:nvSpPr>
        <p:spPr>
          <a:xfrm>
            <a:off x="8522208" y="1453358"/>
            <a:ext cx="1109250" cy="126940"/>
          </a:xfrm>
          <a:prstGeom prst="rect">
            <a:avLst/>
          </a:prstGeom>
          <a:solidFill>
            <a:srgbClr val="C2352F"/>
          </a:solidFill>
          <a:ln/>
        </p:spPr>
      </p:sp>
      <p:sp>
        <p:nvSpPr>
          <p:cNvPr id="60" name="Text 58"/>
          <p:cNvSpPr txBox="1"/>
          <p:nvPr/>
        </p:nvSpPr>
        <p:spPr>
          <a:xfrm>
            <a:off x="10405872" y="1389888"/>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35.6%</a:t>
            </a:r>
            <a:endParaRPr lang="en-US" sz="1300" dirty="0"/>
          </a:p>
        </p:txBody>
      </p:sp>
      <p:sp>
        <p:nvSpPr>
          <p:cNvPr id="61" name="Text 59"/>
          <p:cNvSpPr txBox="1"/>
          <p:nvPr/>
        </p:nvSpPr>
        <p:spPr>
          <a:xfrm>
            <a:off x="6208776" y="164376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62" name="Shape 60"/>
          <p:cNvSpPr/>
          <p:nvPr/>
        </p:nvSpPr>
        <p:spPr>
          <a:xfrm>
            <a:off x="8522208" y="1707239"/>
            <a:ext cx="1075298" cy="126940"/>
          </a:xfrm>
          <a:prstGeom prst="rect">
            <a:avLst/>
          </a:prstGeom>
          <a:solidFill>
            <a:srgbClr val="C2352F"/>
          </a:solidFill>
          <a:ln/>
        </p:spPr>
      </p:sp>
      <p:sp>
        <p:nvSpPr>
          <p:cNvPr id="63" name="Text 61"/>
          <p:cNvSpPr txBox="1"/>
          <p:nvPr/>
        </p:nvSpPr>
        <p:spPr>
          <a:xfrm>
            <a:off x="10405872" y="1643768"/>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34.5%</a:t>
            </a:r>
            <a:endParaRPr lang="en-US" sz="1300" dirty="0"/>
          </a:p>
        </p:txBody>
      </p:sp>
      <p:sp>
        <p:nvSpPr>
          <p:cNvPr id="64" name="Text 62"/>
          <p:cNvSpPr txBox="1"/>
          <p:nvPr/>
        </p:nvSpPr>
        <p:spPr>
          <a:xfrm>
            <a:off x="6208776" y="189764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65" name="Shape 63"/>
          <p:cNvSpPr/>
          <p:nvPr/>
        </p:nvSpPr>
        <p:spPr>
          <a:xfrm>
            <a:off x="8522208" y="1961119"/>
            <a:ext cx="1023782" cy="126940"/>
          </a:xfrm>
          <a:prstGeom prst="rect">
            <a:avLst/>
          </a:prstGeom>
          <a:solidFill>
            <a:srgbClr val="C2352F"/>
          </a:solidFill>
          <a:ln/>
        </p:spPr>
      </p:sp>
      <p:sp>
        <p:nvSpPr>
          <p:cNvPr id="66" name="Text 64"/>
          <p:cNvSpPr txBox="1"/>
          <p:nvPr/>
        </p:nvSpPr>
        <p:spPr>
          <a:xfrm>
            <a:off x="10405872" y="1897649"/>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32.9%</a:t>
            </a:r>
            <a:endParaRPr lang="en-US" sz="1300" dirty="0"/>
          </a:p>
        </p:txBody>
      </p:sp>
      <p:sp>
        <p:nvSpPr>
          <p:cNvPr id="67" name="Text 65"/>
          <p:cNvSpPr txBox="1"/>
          <p:nvPr/>
        </p:nvSpPr>
        <p:spPr>
          <a:xfrm>
            <a:off x="6208776" y="215152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68" name="Shape 66"/>
          <p:cNvSpPr/>
          <p:nvPr/>
        </p:nvSpPr>
        <p:spPr>
          <a:xfrm>
            <a:off x="8522208" y="2215000"/>
            <a:ext cx="1017333" cy="126940"/>
          </a:xfrm>
          <a:prstGeom prst="rect">
            <a:avLst/>
          </a:prstGeom>
          <a:solidFill>
            <a:srgbClr val="C2352F"/>
          </a:solidFill>
          <a:ln/>
        </p:spPr>
      </p:sp>
      <p:sp>
        <p:nvSpPr>
          <p:cNvPr id="69" name="Text 67"/>
          <p:cNvSpPr txBox="1"/>
          <p:nvPr/>
        </p:nvSpPr>
        <p:spPr>
          <a:xfrm>
            <a:off x="10405872" y="2151529"/>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32.6%</a:t>
            </a:r>
            <a:endParaRPr lang="en-US" sz="1300" dirty="0"/>
          </a:p>
        </p:txBody>
      </p:sp>
      <p:sp>
        <p:nvSpPr>
          <p:cNvPr id="70" name="Text 68"/>
          <p:cNvSpPr txBox="1"/>
          <p:nvPr/>
        </p:nvSpPr>
        <p:spPr>
          <a:xfrm>
            <a:off x="6208776" y="240541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71" name="Shape 69"/>
          <p:cNvSpPr/>
          <p:nvPr/>
        </p:nvSpPr>
        <p:spPr>
          <a:xfrm>
            <a:off x="8522208" y="2468880"/>
            <a:ext cx="973894" cy="126940"/>
          </a:xfrm>
          <a:prstGeom prst="rect">
            <a:avLst/>
          </a:prstGeom>
          <a:solidFill>
            <a:srgbClr val="C2352F"/>
          </a:solidFill>
          <a:ln/>
        </p:spPr>
      </p:sp>
      <p:sp>
        <p:nvSpPr>
          <p:cNvPr id="72" name="Text 70"/>
          <p:cNvSpPr txBox="1"/>
          <p:nvPr/>
        </p:nvSpPr>
        <p:spPr>
          <a:xfrm>
            <a:off x="10405872" y="2405410"/>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31.3%</a:t>
            </a:r>
            <a:endParaRPr lang="en-US" sz="1300" dirty="0"/>
          </a:p>
        </p:txBody>
      </p:sp>
      <p:sp>
        <p:nvSpPr>
          <p:cNvPr id="73" name="Text 71"/>
          <p:cNvSpPr txBox="1"/>
          <p:nvPr/>
        </p:nvSpPr>
        <p:spPr>
          <a:xfrm>
            <a:off x="6208776" y="265929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74" name="Shape 72"/>
          <p:cNvSpPr/>
          <p:nvPr/>
        </p:nvSpPr>
        <p:spPr>
          <a:xfrm>
            <a:off x="8522208" y="2722760"/>
            <a:ext cx="966492" cy="126940"/>
          </a:xfrm>
          <a:prstGeom prst="rect">
            <a:avLst/>
          </a:prstGeom>
          <a:solidFill>
            <a:srgbClr val="C2352F"/>
          </a:solidFill>
          <a:ln/>
        </p:spPr>
      </p:sp>
      <p:sp>
        <p:nvSpPr>
          <p:cNvPr id="75" name="Text 73"/>
          <p:cNvSpPr txBox="1"/>
          <p:nvPr/>
        </p:nvSpPr>
        <p:spPr>
          <a:xfrm>
            <a:off x="10405872" y="2659290"/>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31.0%</a:t>
            </a:r>
            <a:endParaRPr lang="en-US" sz="1300" dirty="0"/>
          </a:p>
        </p:txBody>
      </p:sp>
      <p:sp>
        <p:nvSpPr>
          <p:cNvPr id="76" name="Text 74"/>
          <p:cNvSpPr txBox="1"/>
          <p:nvPr/>
        </p:nvSpPr>
        <p:spPr>
          <a:xfrm>
            <a:off x="6208776" y="291317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77" name="Shape 75"/>
          <p:cNvSpPr/>
          <p:nvPr/>
        </p:nvSpPr>
        <p:spPr>
          <a:xfrm>
            <a:off x="8522208" y="2976641"/>
            <a:ext cx="959312" cy="126940"/>
          </a:xfrm>
          <a:prstGeom prst="rect">
            <a:avLst/>
          </a:prstGeom>
          <a:solidFill>
            <a:srgbClr val="C2352F"/>
          </a:solidFill>
          <a:ln/>
        </p:spPr>
      </p:sp>
      <p:sp>
        <p:nvSpPr>
          <p:cNvPr id="78" name="Text 76"/>
          <p:cNvSpPr txBox="1"/>
          <p:nvPr/>
        </p:nvSpPr>
        <p:spPr>
          <a:xfrm>
            <a:off x="10405872" y="2913171"/>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30.8%</a:t>
            </a:r>
            <a:endParaRPr lang="en-US" sz="1300" dirty="0"/>
          </a:p>
        </p:txBody>
      </p:sp>
      <p:sp>
        <p:nvSpPr>
          <p:cNvPr id="79" name="Text 77"/>
          <p:cNvSpPr txBox="1"/>
          <p:nvPr/>
        </p:nvSpPr>
        <p:spPr>
          <a:xfrm>
            <a:off x="6208776" y="316705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80" name="Shape 78"/>
          <p:cNvSpPr/>
          <p:nvPr/>
        </p:nvSpPr>
        <p:spPr>
          <a:xfrm>
            <a:off x="8522208" y="3230521"/>
            <a:ext cx="933483" cy="126940"/>
          </a:xfrm>
          <a:prstGeom prst="rect">
            <a:avLst/>
          </a:prstGeom>
          <a:solidFill>
            <a:srgbClr val="C2352F"/>
          </a:solidFill>
          <a:ln/>
        </p:spPr>
      </p:sp>
      <p:sp>
        <p:nvSpPr>
          <p:cNvPr id="81" name="Text 79"/>
          <p:cNvSpPr txBox="1"/>
          <p:nvPr/>
        </p:nvSpPr>
        <p:spPr>
          <a:xfrm>
            <a:off x="10405872" y="3167051"/>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30.0%</a:t>
            </a:r>
            <a:endParaRPr lang="en-US" sz="1300" dirty="0"/>
          </a:p>
        </p:txBody>
      </p:sp>
      <p:sp>
        <p:nvSpPr>
          <p:cNvPr id="82" name="Text 80"/>
          <p:cNvSpPr txBox="1"/>
          <p:nvPr/>
        </p:nvSpPr>
        <p:spPr>
          <a:xfrm>
            <a:off x="6208776" y="342093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83" name="Shape 81"/>
          <p:cNvSpPr/>
          <p:nvPr/>
        </p:nvSpPr>
        <p:spPr>
          <a:xfrm>
            <a:off x="8522208" y="3484402"/>
            <a:ext cx="829878" cy="126940"/>
          </a:xfrm>
          <a:prstGeom prst="rect">
            <a:avLst/>
          </a:prstGeom>
          <a:solidFill>
            <a:srgbClr val="C2352F"/>
          </a:solidFill>
          <a:ln/>
        </p:spPr>
      </p:sp>
      <p:sp>
        <p:nvSpPr>
          <p:cNvPr id="84" name="Text 82"/>
          <p:cNvSpPr txBox="1"/>
          <p:nvPr/>
        </p:nvSpPr>
        <p:spPr>
          <a:xfrm>
            <a:off x="10405872" y="3420932"/>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26.6%</a:t>
            </a:r>
            <a:endParaRPr lang="en-US" sz="1300" dirty="0"/>
          </a:p>
        </p:txBody>
      </p:sp>
      <p:sp>
        <p:nvSpPr>
          <p:cNvPr id="85" name="Text 83"/>
          <p:cNvSpPr txBox="1"/>
          <p:nvPr/>
        </p:nvSpPr>
        <p:spPr>
          <a:xfrm>
            <a:off x="6208776" y="367481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86" name="Shape 84"/>
          <p:cNvSpPr/>
          <p:nvPr/>
        </p:nvSpPr>
        <p:spPr>
          <a:xfrm>
            <a:off x="8522208" y="3738282"/>
            <a:ext cx="800984" cy="126940"/>
          </a:xfrm>
          <a:prstGeom prst="rect">
            <a:avLst/>
          </a:prstGeom>
          <a:solidFill>
            <a:srgbClr val="C2352F"/>
          </a:solidFill>
          <a:ln/>
        </p:spPr>
      </p:sp>
      <p:sp>
        <p:nvSpPr>
          <p:cNvPr id="87" name="Text 85"/>
          <p:cNvSpPr txBox="1"/>
          <p:nvPr/>
        </p:nvSpPr>
        <p:spPr>
          <a:xfrm>
            <a:off x="10405872" y="3674812"/>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25.7%</a:t>
            </a:r>
            <a:endParaRPr lang="en-US" sz="1300" dirty="0"/>
          </a:p>
        </p:txBody>
      </p:sp>
      <p:sp>
        <p:nvSpPr>
          <p:cNvPr id="88" name="Text 86"/>
          <p:cNvSpPr txBox="1"/>
          <p:nvPr/>
        </p:nvSpPr>
        <p:spPr>
          <a:xfrm>
            <a:off x="6208776" y="392869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89" name="Shape 87"/>
          <p:cNvSpPr/>
          <p:nvPr/>
        </p:nvSpPr>
        <p:spPr>
          <a:xfrm>
            <a:off x="8522208" y="3992163"/>
            <a:ext cx="787663" cy="126940"/>
          </a:xfrm>
          <a:prstGeom prst="rect">
            <a:avLst/>
          </a:prstGeom>
          <a:solidFill>
            <a:srgbClr val="C2352F"/>
          </a:solidFill>
          <a:ln/>
        </p:spPr>
      </p:sp>
      <p:sp>
        <p:nvSpPr>
          <p:cNvPr id="90" name="Text 88"/>
          <p:cNvSpPr txBox="1"/>
          <p:nvPr/>
        </p:nvSpPr>
        <p:spPr>
          <a:xfrm>
            <a:off x="10405872" y="3928693"/>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25.3%</a:t>
            </a:r>
            <a:endParaRPr lang="en-US" sz="1300" dirty="0"/>
          </a:p>
        </p:txBody>
      </p:sp>
      <p:sp>
        <p:nvSpPr>
          <p:cNvPr id="91" name="Text 89"/>
          <p:cNvSpPr txBox="1"/>
          <p:nvPr/>
        </p:nvSpPr>
        <p:spPr>
          <a:xfrm>
            <a:off x="6208776" y="418257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92" name="Shape 90"/>
          <p:cNvSpPr/>
          <p:nvPr/>
        </p:nvSpPr>
        <p:spPr>
          <a:xfrm>
            <a:off x="8522208" y="4246043"/>
            <a:ext cx="785031" cy="126940"/>
          </a:xfrm>
          <a:prstGeom prst="rect">
            <a:avLst/>
          </a:prstGeom>
          <a:solidFill>
            <a:srgbClr val="C2352F"/>
          </a:solidFill>
          <a:ln/>
        </p:spPr>
      </p:sp>
      <p:sp>
        <p:nvSpPr>
          <p:cNvPr id="93" name="Text 91"/>
          <p:cNvSpPr txBox="1"/>
          <p:nvPr/>
        </p:nvSpPr>
        <p:spPr>
          <a:xfrm>
            <a:off x="10405872" y="4182573"/>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25.2%</a:t>
            </a:r>
            <a:endParaRPr lang="en-US" sz="1300" dirty="0"/>
          </a:p>
        </p:txBody>
      </p:sp>
      <p:sp>
        <p:nvSpPr>
          <p:cNvPr id="94" name="Text 92"/>
          <p:cNvSpPr txBox="1"/>
          <p:nvPr/>
        </p:nvSpPr>
        <p:spPr>
          <a:xfrm>
            <a:off x="6208776" y="443645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95" name="Shape 93"/>
          <p:cNvSpPr/>
          <p:nvPr/>
        </p:nvSpPr>
        <p:spPr>
          <a:xfrm>
            <a:off x="8522208" y="4499924"/>
            <a:ext cx="743572" cy="126940"/>
          </a:xfrm>
          <a:prstGeom prst="rect">
            <a:avLst/>
          </a:prstGeom>
          <a:solidFill>
            <a:srgbClr val="C2352F"/>
          </a:solidFill>
          <a:ln/>
        </p:spPr>
      </p:sp>
      <p:sp>
        <p:nvSpPr>
          <p:cNvPr id="96" name="Text 94"/>
          <p:cNvSpPr txBox="1"/>
          <p:nvPr/>
        </p:nvSpPr>
        <p:spPr>
          <a:xfrm>
            <a:off x="10405872" y="4436454"/>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23.9%</a:t>
            </a:r>
            <a:endParaRPr lang="en-US" sz="1300" dirty="0"/>
          </a:p>
        </p:txBody>
      </p:sp>
      <p:sp>
        <p:nvSpPr>
          <p:cNvPr id="97" name="Text 95"/>
          <p:cNvSpPr txBox="1"/>
          <p:nvPr/>
        </p:nvSpPr>
        <p:spPr>
          <a:xfrm>
            <a:off x="6208776" y="469033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98" name="Shape 96"/>
          <p:cNvSpPr/>
          <p:nvPr/>
        </p:nvSpPr>
        <p:spPr>
          <a:xfrm>
            <a:off x="8522208" y="4753804"/>
            <a:ext cx="735985" cy="126940"/>
          </a:xfrm>
          <a:prstGeom prst="rect">
            <a:avLst/>
          </a:prstGeom>
          <a:solidFill>
            <a:srgbClr val="C2352F"/>
          </a:solidFill>
          <a:ln/>
        </p:spPr>
      </p:sp>
      <p:sp>
        <p:nvSpPr>
          <p:cNvPr id="99" name="Text 97"/>
          <p:cNvSpPr txBox="1"/>
          <p:nvPr/>
        </p:nvSpPr>
        <p:spPr>
          <a:xfrm>
            <a:off x="10405872" y="4690334"/>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23.6%</a:t>
            </a:r>
            <a:endParaRPr lang="en-US" sz="1300" dirty="0"/>
          </a:p>
        </p:txBody>
      </p:sp>
      <p:sp>
        <p:nvSpPr>
          <p:cNvPr id="100" name="Text 98"/>
          <p:cNvSpPr txBox="1"/>
          <p:nvPr/>
        </p:nvSpPr>
        <p:spPr>
          <a:xfrm>
            <a:off x="6208776" y="494421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101" name="Shape 99"/>
          <p:cNvSpPr/>
          <p:nvPr/>
        </p:nvSpPr>
        <p:spPr>
          <a:xfrm>
            <a:off x="8522208" y="5007685"/>
            <a:ext cx="557976" cy="126940"/>
          </a:xfrm>
          <a:prstGeom prst="rect">
            <a:avLst/>
          </a:prstGeom>
          <a:solidFill>
            <a:srgbClr val="C2352F"/>
          </a:solidFill>
          <a:ln/>
        </p:spPr>
      </p:sp>
      <p:sp>
        <p:nvSpPr>
          <p:cNvPr id="102" name="Text 100"/>
          <p:cNvSpPr txBox="1"/>
          <p:nvPr/>
        </p:nvSpPr>
        <p:spPr>
          <a:xfrm>
            <a:off x="10405872" y="4944215"/>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17.9%</a:t>
            </a:r>
            <a:endParaRPr lang="en-US" sz="1300" dirty="0"/>
          </a:p>
        </p:txBody>
      </p:sp>
      <p:sp>
        <p:nvSpPr>
          <p:cNvPr id="103" name="Text 101"/>
          <p:cNvSpPr txBox="1"/>
          <p:nvPr/>
        </p:nvSpPr>
        <p:spPr>
          <a:xfrm>
            <a:off x="6208776" y="519809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104" name="Shape 102"/>
          <p:cNvSpPr/>
          <p:nvPr/>
        </p:nvSpPr>
        <p:spPr>
          <a:xfrm>
            <a:off x="8522208" y="5261565"/>
            <a:ext cx="492295" cy="126940"/>
          </a:xfrm>
          <a:prstGeom prst="rect">
            <a:avLst/>
          </a:prstGeom>
          <a:solidFill>
            <a:srgbClr val="C2352F"/>
          </a:solidFill>
          <a:ln/>
        </p:spPr>
      </p:sp>
      <p:sp>
        <p:nvSpPr>
          <p:cNvPr id="105" name="Text 103"/>
          <p:cNvSpPr txBox="1"/>
          <p:nvPr/>
        </p:nvSpPr>
        <p:spPr>
          <a:xfrm>
            <a:off x="10405872" y="5198095"/>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15.8%</a:t>
            </a:r>
            <a:endParaRPr lang="en-US" sz="1300" dirty="0"/>
          </a:p>
        </p:txBody>
      </p:sp>
      <p:sp>
        <p:nvSpPr>
          <p:cNvPr id="106" name="Text 104"/>
          <p:cNvSpPr txBox="1"/>
          <p:nvPr/>
        </p:nvSpPr>
        <p:spPr>
          <a:xfrm>
            <a:off x="6208776" y="5451976"/>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07" name="Shape 105"/>
          <p:cNvSpPr/>
          <p:nvPr/>
        </p:nvSpPr>
        <p:spPr>
          <a:xfrm>
            <a:off x="8522208" y="5515446"/>
            <a:ext cx="310481" cy="126940"/>
          </a:xfrm>
          <a:prstGeom prst="rect">
            <a:avLst/>
          </a:prstGeom>
          <a:solidFill>
            <a:srgbClr val="C2352F"/>
          </a:solidFill>
          <a:ln/>
        </p:spPr>
      </p:sp>
      <p:sp>
        <p:nvSpPr>
          <p:cNvPr id="108" name="Text 106"/>
          <p:cNvSpPr txBox="1"/>
          <p:nvPr/>
        </p:nvSpPr>
        <p:spPr>
          <a:xfrm>
            <a:off x="10405872" y="5451976"/>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10.0%</a:t>
            </a:r>
            <a:endParaRPr lang="en-US" sz="1300" dirty="0"/>
          </a:p>
        </p:txBody>
      </p:sp>
      <p:sp>
        <p:nvSpPr>
          <p:cNvPr id="109" name="Shape 107"/>
          <p:cNvSpPr/>
          <p:nvPr/>
        </p:nvSpPr>
        <p:spPr>
          <a:xfrm>
            <a:off x="4109367" y="1389888"/>
            <a:ext cx="14630" cy="4315968"/>
          </a:xfrm>
          <a:prstGeom prst="rect">
            <a:avLst/>
          </a:prstGeom>
          <a:solidFill>
            <a:srgbClr val="0B2C4A"/>
          </a:solidFill>
          <a:ln/>
        </p:spPr>
      </p:sp>
      <p:sp>
        <p:nvSpPr>
          <p:cNvPr id="110" name="Shape 108"/>
          <p:cNvSpPr/>
          <p:nvPr/>
        </p:nvSpPr>
        <p:spPr>
          <a:xfrm>
            <a:off x="9659775" y="1389888"/>
            <a:ext cx="14630" cy="4315968"/>
          </a:xfrm>
          <a:prstGeom prst="rect">
            <a:avLst/>
          </a:prstGeom>
          <a:solidFill>
            <a:srgbClr val="0B2C4A"/>
          </a:solidFill>
          <a:ln/>
        </p:spPr>
      </p:sp>
      <p:sp>
        <p:nvSpPr>
          <p:cNvPr id="111" name="Shape 109"/>
          <p:cNvSpPr/>
          <p:nvPr/>
        </p:nvSpPr>
        <p:spPr>
          <a:xfrm>
            <a:off x="457200" y="5961888"/>
            <a:ext cx="11274552" cy="548640"/>
          </a:xfrm>
          <a:prstGeom prst="rect">
            <a:avLst/>
          </a:prstGeom>
          <a:solidFill>
            <a:srgbClr val="EDF4FA"/>
          </a:solidFill>
          <a:ln/>
        </p:spPr>
      </p:sp>
      <p:sp>
        <p:nvSpPr>
          <p:cNvPr id="112" name="Text 110"/>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15 of 33 stores at or above the 36.7% group, led by SUBARU ST GEORGE at 58.7%. HYUNDAI PRESCOTT is lowest at 10.0%.</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Parts Net to Gross %</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01168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GROUP</a:t>
            </a:r>
            <a:endParaRPr lang="en-US" sz="1500" dirty="0"/>
          </a:p>
        </p:txBody>
      </p:sp>
      <p:sp>
        <p:nvSpPr>
          <p:cNvPr id="9" name="Text 7"/>
          <p:cNvSpPr txBox="1"/>
          <p:nvPr/>
        </p:nvSpPr>
        <p:spPr>
          <a:xfrm>
            <a:off x="2834640" y="1335024"/>
            <a:ext cx="420624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SAME-STORE, 33 STORES</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−0.4 pts</a:t>
            </a:r>
            <a:endParaRPr lang="en-US" sz="2000" dirty="0"/>
          </a:p>
        </p:txBody>
      </p:sp>
      <p:sp>
        <p:nvSpPr>
          <p:cNvPr id="11" name="Text 9"/>
          <p:cNvSpPr txBox="1"/>
          <p:nvPr/>
        </p:nvSpPr>
        <p:spPr>
          <a:xfrm>
            <a:off x="658368"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12" name="Shape 10"/>
          <p:cNvSpPr/>
          <p:nvPr/>
        </p:nvSpPr>
        <p:spPr>
          <a:xfrm>
            <a:off x="3813048" y="1909246"/>
            <a:ext cx="822960" cy="105898"/>
          </a:xfrm>
          <a:prstGeom prst="rect">
            <a:avLst/>
          </a:prstGeom>
          <a:solidFill>
            <a:srgbClr val="12A566"/>
          </a:solidFill>
          <a:ln/>
        </p:spPr>
      </p:sp>
      <p:sp>
        <p:nvSpPr>
          <p:cNvPr id="13" name="Text 11"/>
          <p:cNvSpPr txBox="1"/>
          <p:nvPr/>
        </p:nvSpPr>
        <p:spPr>
          <a:xfrm>
            <a:off x="4709160"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+14.2 pts</a:t>
            </a:r>
            <a:endParaRPr lang="en-US" sz="1300" dirty="0"/>
          </a:p>
        </p:txBody>
      </p:sp>
      <p:sp>
        <p:nvSpPr>
          <p:cNvPr id="14" name="Text 12"/>
          <p:cNvSpPr txBox="1"/>
          <p:nvPr/>
        </p:nvSpPr>
        <p:spPr>
          <a:xfrm>
            <a:off x="658368"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15" name="Shape 13"/>
          <p:cNvSpPr/>
          <p:nvPr/>
        </p:nvSpPr>
        <p:spPr>
          <a:xfrm>
            <a:off x="3813048" y="2139459"/>
            <a:ext cx="754464" cy="105898"/>
          </a:xfrm>
          <a:prstGeom prst="rect">
            <a:avLst/>
          </a:prstGeom>
          <a:solidFill>
            <a:srgbClr val="12A566"/>
          </a:solidFill>
          <a:ln/>
        </p:spPr>
      </p:sp>
      <p:sp>
        <p:nvSpPr>
          <p:cNvPr id="16" name="Text 14"/>
          <p:cNvSpPr txBox="1"/>
          <p:nvPr/>
        </p:nvSpPr>
        <p:spPr>
          <a:xfrm>
            <a:off x="4709160"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+13.1 pts</a:t>
            </a:r>
            <a:endParaRPr lang="en-US" sz="1300" dirty="0"/>
          </a:p>
        </p:txBody>
      </p:sp>
      <p:sp>
        <p:nvSpPr>
          <p:cNvPr id="17" name="Text 15"/>
          <p:cNvSpPr txBox="1"/>
          <p:nvPr/>
        </p:nvSpPr>
        <p:spPr>
          <a:xfrm>
            <a:off x="658368"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18" name="Shape 16"/>
          <p:cNvSpPr/>
          <p:nvPr/>
        </p:nvSpPr>
        <p:spPr>
          <a:xfrm>
            <a:off x="3813048" y="2369673"/>
            <a:ext cx="613386" cy="105898"/>
          </a:xfrm>
          <a:prstGeom prst="rect">
            <a:avLst/>
          </a:prstGeom>
          <a:solidFill>
            <a:srgbClr val="12A566"/>
          </a:solidFill>
          <a:ln/>
        </p:spPr>
      </p:sp>
      <p:sp>
        <p:nvSpPr>
          <p:cNvPr id="19" name="Text 17"/>
          <p:cNvSpPr txBox="1"/>
          <p:nvPr/>
        </p:nvSpPr>
        <p:spPr>
          <a:xfrm>
            <a:off x="4709160"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+10.6 pts</a:t>
            </a:r>
            <a:endParaRPr lang="en-US" sz="1300" dirty="0"/>
          </a:p>
        </p:txBody>
      </p:sp>
      <p:sp>
        <p:nvSpPr>
          <p:cNvPr id="20" name="Text 18"/>
          <p:cNvSpPr txBox="1"/>
          <p:nvPr/>
        </p:nvSpPr>
        <p:spPr>
          <a:xfrm>
            <a:off x="658368"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21" name="Shape 19"/>
          <p:cNvSpPr/>
          <p:nvPr/>
        </p:nvSpPr>
        <p:spPr>
          <a:xfrm>
            <a:off x="3813048" y="2599887"/>
            <a:ext cx="436790" cy="105898"/>
          </a:xfrm>
          <a:prstGeom prst="rect">
            <a:avLst/>
          </a:prstGeom>
          <a:solidFill>
            <a:srgbClr val="12A566"/>
          </a:solidFill>
          <a:ln/>
        </p:spPr>
      </p:sp>
      <p:sp>
        <p:nvSpPr>
          <p:cNvPr id="22" name="Text 20"/>
          <p:cNvSpPr txBox="1"/>
          <p:nvPr/>
        </p:nvSpPr>
        <p:spPr>
          <a:xfrm>
            <a:off x="4709160"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+7.6 pts</a:t>
            </a:r>
            <a:endParaRPr lang="en-US" sz="1300" dirty="0"/>
          </a:p>
        </p:txBody>
      </p:sp>
      <p:sp>
        <p:nvSpPr>
          <p:cNvPr id="23" name="Text 21"/>
          <p:cNvSpPr txBox="1"/>
          <p:nvPr/>
        </p:nvSpPr>
        <p:spPr>
          <a:xfrm>
            <a:off x="658368"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24" name="Shape 22"/>
          <p:cNvSpPr/>
          <p:nvPr/>
        </p:nvSpPr>
        <p:spPr>
          <a:xfrm>
            <a:off x="3813048" y="2830100"/>
            <a:ext cx="406943" cy="105898"/>
          </a:xfrm>
          <a:prstGeom prst="rect">
            <a:avLst/>
          </a:prstGeom>
          <a:solidFill>
            <a:srgbClr val="12A566"/>
          </a:solidFill>
          <a:ln/>
        </p:spPr>
      </p:sp>
      <p:sp>
        <p:nvSpPr>
          <p:cNvPr id="25" name="Text 23"/>
          <p:cNvSpPr txBox="1"/>
          <p:nvPr/>
        </p:nvSpPr>
        <p:spPr>
          <a:xfrm>
            <a:off x="4709160"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+7.0 pts</a:t>
            </a:r>
            <a:endParaRPr lang="en-US" sz="1300" dirty="0"/>
          </a:p>
        </p:txBody>
      </p:sp>
      <p:sp>
        <p:nvSpPr>
          <p:cNvPr id="26" name="Text 24"/>
          <p:cNvSpPr txBox="1"/>
          <p:nvPr/>
        </p:nvSpPr>
        <p:spPr>
          <a:xfrm>
            <a:off x="658368"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27" name="Shape 25"/>
          <p:cNvSpPr/>
          <p:nvPr/>
        </p:nvSpPr>
        <p:spPr>
          <a:xfrm>
            <a:off x="3813048" y="3060314"/>
            <a:ext cx="365438" cy="105898"/>
          </a:xfrm>
          <a:prstGeom prst="rect">
            <a:avLst/>
          </a:prstGeom>
          <a:solidFill>
            <a:srgbClr val="12A566"/>
          </a:solidFill>
          <a:ln/>
        </p:spPr>
      </p:sp>
      <p:sp>
        <p:nvSpPr>
          <p:cNvPr id="28" name="Text 26"/>
          <p:cNvSpPr txBox="1"/>
          <p:nvPr/>
        </p:nvSpPr>
        <p:spPr>
          <a:xfrm>
            <a:off x="4709160"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+6.3 pts</a:t>
            </a:r>
            <a:endParaRPr lang="en-US" sz="1300" dirty="0"/>
          </a:p>
        </p:txBody>
      </p:sp>
      <p:sp>
        <p:nvSpPr>
          <p:cNvPr id="29" name="Text 27"/>
          <p:cNvSpPr txBox="1"/>
          <p:nvPr/>
        </p:nvSpPr>
        <p:spPr>
          <a:xfrm>
            <a:off x="658368"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30" name="Shape 28"/>
          <p:cNvSpPr/>
          <p:nvPr/>
        </p:nvSpPr>
        <p:spPr>
          <a:xfrm>
            <a:off x="3813048" y="3290528"/>
            <a:ext cx="364504" cy="105898"/>
          </a:xfrm>
          <a:prstGeom prst="rect">
            <a:avLst/>
          </a:prstGeom>
          <a:solidFill>
            <a:srgbClr val="12A566"/>
          </a:solidFill>
          <a:ln/>
        </p:spPr>
      </p:sp>
      <p:sp>
        <p:nvSpPr>
          <p:cNvPr id="31" name="Text 29"/>
          <p:cNvSpPr txBox="1"/>
          <p:nvPr/>
        </p:nvSpPr>
        <p:spPr>
          <a:xfrm>
            <a:off x="4709160" y="3228370"/>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+6.3 pts</a:t>
            </a:r>
            <a:endParaRPr lang="en-US" sz="1300" dirty="0"/>
          </a:p>
        </p:txBody>
      </p:sp>
      <p:sp>
        <p:nvSpPr>
          <p:cNvPr id="32" name="Text 30"/>
          <p:cNvSpPr txBox="1"/>
          <p:nvPr/>
        </p:nvSpPr>
        <p:spPr>
          <a:xfrm>
            <a:off x="658368"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33" name="Shape 31"/>
          <p:cNvSpPr/>
          <p:nvPr/>
        </p:nvSpPr>
        <p:spPr>
          <a:xfrm>
            <a:off x="3813048" y="3520741"/>
            <a:ext cx="345765" cy="105898"/>
          </a:xfrm>
          <a:prstGeom prst="rect">
            <a:avLst/>
          </a:prstGeom>
          <a:solidFill>
            <a:srgbClr val="12A566"/>
          </a:solidFill>
          <a:ln/>
        </p:spPr>
      </p:sp>
      <p:sp>
        <p:nvSpPr>
          <p:cNvPr id="34" name="Text 32"/>
          <p:cNvSpPr txBox="1"/>
          <p:nvPr/>
        </p:nvSpPr>
        <p:spPr>
          <a:xfrm>
            <a:off x="4709160" y="345858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+6.0 pts</a:t>
            </a:r>
            <a:endParaRPr lang="en-US" sz="1300" dirty="0"/>
          </a:p>
        </p:txBody>
      </p:sp>
      <p:sp>
        <p:nvSpPr>
          <p:cNvPr id="35" name="Text 33"/>
          <p:cNvSpPr txBox="1"/>
          <p:nvPr/>
        </p:nvSpPr>
        <p:spPr>
          <a:xfrm>
            <a:off x="658368"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36" name="Shape 34"/>
          <p:cNvSpPr/>
          <p:nvPr/>
        </p:nvSpPr>
        <p:spPr>
          <a:xfrm>
            <a:off x="3813048" y="3750955"/>
            <a:ext cx="262830" cy="105898"/>
          </a:xfrm>
          <a:prstGeom prst="rect">
            <a:avLst/>
          </a:prstGeom>
          <a:solidFill>
            <a:srgbClr val="12A566"/>
          </a:solidFill>
          <a:ln/>
        </p:spPr>
      </p:sp>
      <p:sp>
        <p:nvSpPr>
          <p:cNvPr id="37" name="Text 35"/>
          <p:cNvSpPr txBox="1"/>
          <p:nvPr/>
        </p:nvSpPr>
        <p:spPr>
          <a:xfrm>
            <a:off x="4709160" y="3688797"/>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+4.5 pts</a:t>
            </a:r>
            <a:endParaRPr lang="en-US" sz="1300" dirty="0"/>
          </a:p>
        </p:txBody>
      </p:sp>
      <p:sp>
        <p:nvSpPr>
          <p:cNvPr id="38" name="Text 36"/>
          <p:cNvSpPr txBox="1"/>
          <p:nvPr/>
        </p:nvSpPr>
        <p:spPr>
          <a:xfrm>
            <a:off x="658368"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39" name="Shape 37"/>
          <p:cNvSpPr/>
          <p:nvPr/>
        </p:nvSpPr>
        <p:spPr>
          <a:xfrm>
            <a:off x="3813048" y="3981169"/>
            <a:ext cx="187098" cy="105898"/>
          </a:xfrm>
          <a:prstGeom prst="rect">
            <a:avLst/>
          </a:prstGeom>
          <a:solidFill>
            <a:srgbClr val="12A566"/>
          </a:solidFill>
          <a:ln/>
        </p:spPr>
      </p:sp>
      <p:sp>
        <p:nvSpPr>
          <p:cNvPr id="40" name="Text 38"/>
          <p:cNvSpPr txBox="1"/>
          <p:nvPr/>
        </p:nvSpPr>
        <p:spPr>
          <a:xfrm>
            <a:off x="4709160" y="3919011"/>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+3.2 pts</a:t>
            </a:r>
            <a:endParaRPr lang="en-US" sz="1300" dirty="0"/>
          </a:p>
        </p:txBody>
      </p:sp>
      <p:sp>
        <p:nvSpPr>
          <p:cNvPr id="41" name="Text 39"/>
          <p:cNvSpPr txBox="1"/>
          <p:nvPr/>
        </p:nvSpPr>
        <p:spPr>
          <a:xfrm>
            <a:off x="658368"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42" name="Shape 40"/>
          <p:cNvSpPr/>
          <p:nvPr/>
        </p:nvSpPr>
        <p:spPr>
          <a:xfrm>
            <a:off x="3813048" y="4211382"/>
            <a:ext cx="182955" cy="105898"/>
          </a:xfrm>
          <a:prstGeom prst="rect">
            <a:avLst/>
          </a:prstGeom>
          <a:solidFill>
            <a:srgbClr val="12A566"/>
          </a:solidFill>
          <a:ln/>
        </p:spPr>
      </p:sp>
      <p:sp>
        <p:nvSpPr>
          <p:cNvPr id="43" name="Text 41"/>
          <p:cNvSpPr txBox="1"/>
          <p:nvPr/>
        </p:nvSpPr>
        <p:spPr>
          <a:xfrm>
            <a:off x="4709160" y="414922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+3.2 pts</a:t>
            </a:r>
            <a:endParaRPr lang="en-US" sz="1300" dirty="0"/>
          </a:p>
        </p:txBody>
      </p:sp>
      <p:sp>
        <p:nvSpPr>
          <p:cNvPr id="44" name="Text 42"/>
          <p:cNvSpPr txBox="1"/>
          <p:nvPr/>
        </p:nvSpPr>
        <p:spPr>
          <a:xfrm>
            <a:off x="658368"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45" name="Shape 43"/>
          <p:cNvSpPr/>
          <p:nvPr/>
        </p:nvSpPr>
        <p:spPr>
          <a:xfrm>
            <a:off x="3813048" y="4441596"/>
            <a:ext cx="127948" cy="105898"/>
          </a:xfrm>
          <a:prstGeom prst="rect">
            <a:avLst/>
          </a:prstGeom>
          <a:solidFill>
            <a:srgbClr val="12A566"/>
          </a:solidFill>
          <a:ln/>
        </p:spPr>
      </p:sp>
      <p:sp>
        <p:nvSpPr>
          <p:cNvPr id="46" name="Text 44"/>
          <p:cNvSpPr txBox="1"/>
          <p:nvPr/>
        </p:nvSpPr>
        <p:spPr>
          <a:xfrm>
            <a:off x="4709160" y="437943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+2.2 pts</a:t>
            </a:r>
            <a:endParaRPr lang="en-US" sz="1300" dirty="0"/>
          </a:p>
        </p:txBody>
      </p:sp>
      <p:sp>
        <p:nvSpPr>
          <p:cNvPr id="47" name="Text 45"/>
          <p:cNvSpPr txBox="1"/>
          <p:nvPr/>
        </p:nvSpPr>
        <p:spPr>
          <a:xfrm>
            <a:off x="658368"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48" name="Shape 46"/>
          <p:cNvSpPr/>
          <p:nvPr/>
        </p:nvSpPr>
        <p:spPr>
          <a:xfrm>
            <a:off x="3813048" y="4671809"/>
            <a:ext cx="116121" cy="105898"/>
          </a:xfrm>
          <a:prstGeom prst="rect">
            <a:avLst/>
          </a:prstGeom>
          <a:solidFill>
            <a:srgbClr val="12A566"/>
          </a:solidFill>
          <a:ln/>
        </p:spPr>
      </p:sp>
      <p:sp>
        <p:nvSpPr>
          <p:cNvPr id="49" name="Text 47"/>
          <p:cNvSpPr txBox="1"/>
          <p:nvPr/>
        </p:nvSpPr>
        <p:spPr>
          <a:xfrm>
            <a:off x="4709160" y="460965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+2.0 pts</a:t>
            </a:r>
            <a:endParaRPr lang="en-US" sz="1300" dirty="0"/>
          </a:p>
        </p:txBody>
      </p:sp>
      <p:sp>
        <p:nvSpPr>
          <p:cNvPr id="50" name="Text 48"/>
          <p:cNvSpPr txBox="1"/>
          <p:nvPr/>
        </p:nvSpPr>
        <p:spPr>
          <a:xfrm>
            <a:off x="658368"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51" name="Shape 49"/>
          <p:cNvSpPr/>
          <p:nvPr/>
        </p:nvSpPr>
        <p:spPr>
          <a:xfrm>
            <a:off x="3813048" y="4902023"/>
            <a:ext cx="85787" cy="105898"/>
          </a:xfrm>
          <a:prstGeom prst="rect">
            <a:avLst/>
          </a:prstGeom>
          <a:solidFill>
            <a:srgbClr val="12A566"/>
          </a:solidFill>
          <a:ln/>
        </p:spPr>
      </p:sp>
      <p:sp>
        <p:nvSpPr>
          <p:cNvPr id="52" name="Text 50"/>
          <p:cNvSpPr txBox="1"/>
          <p:nvPr/>
        </p:nvSpPr>
        <p:spPr>
          <a:xfrm>
            <a:off x="4709160" y="483986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+1.5 pts</a:t>
            </a:r>
            <a:endParaRPr lang="en-US" sz="1300" dirty="0"/>
          </a:p>
        </p:txBody>
      </p:sp>
      <p:sp>
        <p:nvSpPr>
          <p:cNvPr id="53" name="Text 51"/>
          <p:cNvSpPr txBox="1"/>
          <p:nvPr/>
        </p:nvSpPr>
        <p:spPr>
          <a:xfrm>
            <a:off x="658368"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54" name="Shape 52"/>
          <p:cNvSpPr/>
          <p:nvPr/>
        </p:nvSpPr>
        <p:spPr>
          <a:xfrm>
            <a:off x="3813048" y="5132237"/>
            <a:ext cx="73673" cy="105898"/>
          </a:xfrm>
          <a:prstGeom prst="rect">
            <a:avLst/>
          </a:prstGeom>
          <a:solidFill>
            <a:srgbClr val="12A566"/>
          </a:solidFill>
          <a:ln/>
        </p:spPr>
      </p:sp>
      <p:sp>
        <p:nvSpPr>
          <p:cNvPr id="55" name="Text 53"/>
          <p:cNvSpPr txBox="1"/>
          <p:nvPr/>
        </p:nvSpPr>
        <p:spPr>
          <a:xfrm>
            <a:off x="4709160" y="507007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+1.3 pts</a:t>
            </a:r>
            <a:endParaRPr lang="en-US" sz="1300" dirty="0"/>
          </a:p>
        </p:txBody>
      </p:sp>
      <p:sp>
        <p:nvSpPr>
          <p:cNvPr id="56" name="Text 54"/>
          <p:cNvSpPr txBox="1"/>
          <p:nvPr/>
        </p:nvSpPr>
        <p:spPr>
          <a:xfrm>
            <a:off x="658368"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57" name="Shape 55"/>
          <p:cNvSpPr/>
          <p:nvPr/>
        </p:nvSpPr>
        <p:spPr>
          <a:xfrm>
            <a:off x="3811134" y="5362450"/>
            <a:ext cx="12802" cy="105898"/>
          </a:xfrm>
          <a:prstGeom prst="rect">
            <a:avLst/>
          </a:prstGeom>
          <a:solidFill>
            <a:srgbClr val="C2352F"/>
          </a:solidFill>
          <a:ln/>
        </p:spPr>
      </p:sp>
      <p:sp>
        <p:nvSpPr>
          <p:cNvPr id="58" name="Text 56"/>
          <p:cNvSpPr txBox="1"/>
          <p:nvPr/>
        </p:nvSpPr>
        <p:spPr>
          <a:xfrm>
            <a:off x="4709160" y="530029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−0.0 pts</a:t>
            </a:r>
            <a:endParaRPr lang="en-US" sz="1300" dirty="0"/>
          </a:p>
        </p:txBody>
      </p:sp>
      <p:sp>
        <p:nvSpPr>
          <p:cNvPr id="59" name="Text 57"/>
          <p:cNvSpPr txBox="1"/>
          <p:nvPr/>
        </p:nvSpPr>
        <p:spPr>
          <a:xfrm>
            <a:off x="658368" y="553050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60" name="Shape 58"/>
          <p:cNvSpPr/>
          <p:nvPr/>
        </p:nvSpPr>
        <p:spPr>
          <a:xfrm>
            <a:off x="3810212" y="5592664"/>
            <a:ext cx="12802" cy="105898"/>
          </a:xfrm>
          <a:prstGeom prst="rect">
            <a:avLst/>
          </a:prstGeom>
          <a:solidFill>
            <a:srgbClr val="C2352F"/>
          </a:solidFill>
          <a:ln/>
        </p:spPr>
      </p:sp>
      <p:sp>
        <p:nvSpPr>
          <p:cNvPr id="61" name="Text 59"/>
          <p:cNvSpPr txBox="1"/>
          <p:nvPr/>
        </p:nvSpPr>
        <p:spPr>
          <a:xfrm>
            <a:off x="4709160" y="5530506"/>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−0.0 pts</a:t>
            </a:r>
            <a:endParaRPr lang="en-US" sz="1300" dirty="0"/>
          </a:p>
        </p:txBody>
      </p:sp>
      <p:sp>
        <p:nvSpPr>
          <p:cNvPr id="62" name="Text 60"/>
          <p:cNvSpPr txBox="1"/>
          <p:nvPr/>
        </p:nvSpPr>
        <p:spPr>
          <a:xfrm>
            <a:off x="6208776"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63" name="Shape 61"/>
          <p:cNvSpPr/>
          <p:nvPr/>
        </p:nvSpPr>
        <p:spPr>
          <a:xfrm>
            <a:off x="9303826" y="1909246"/>
            <a:ext cx="59630" cy="105898"/>
          </a:xfrm>
          <a:prstGeom prst="rect">
            <a:avLst/>
          </a:prstGeom>
          <a:solidFill>
            <a:srgbClr val="C2352F"/>
          </a:solidFill>
          <a:ln/>
        </p:spPr>
      </p:sp>
      <p:sp>
        <p:nvSpPr>
          <p:cNvPr id="64" name="Text 62"/>
          <p:cNvSpPr txBox="1"/>
          <p:nvPr/>
        </p:nvSpPr>
        <p:spPr>
          <a:xfrm>
            <a:off x="10259568" y="1847088"/>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−1.0 pts</a:t>
            </a:r>
            <a:endParaRPr lang="en-US" sz="1300" dirty="0"/>
          </a:p>
        </p:txBody>
      </p:sp>
      <p:sp>
        <p:nvSpPr>
          <p:cNvPr id="65" name="Text 63"/>
          <p:cNvSpPr txBox="1"/>
          <p:nvPr/>
        </p:nvSpPr>
        <p:spPr>
          <a:xfrm>
            <a:off x="6208776"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66" name="Shape 64"/>
          <p:cNvSpPr/>
          <p:nvPr/>
        </p:nvSpPr>
        <p:spPr>
          <a:xfrm>
            <a:off x="9284240" y="2139459"/>
            <a:ext cx="79216" cy="105898"/>
          </a:xfrm>
          <a:prstGeom prst="rect">
            <a:avLst/>
          </a:prstGeom>
          <a:solidFill>
            <a:srgbClr val="C2352F"/>
          </a:solidFill>
          <a:ln/>
        </p:spPr>
      </p:sp>
      <p:sp>
        <p:nvSpPr>
          <p:cNvPr id="67" name="Text 65"/>
          <p:cNvSpPr txBox="1"/>
          <p:nvPr/>
        </p:nvSpPr>
        <p:spPr>
          <a:xfrm>
            <a:off x="10259568" y="2077302"/>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 pts</a:t>
            </a:r>
            <a:endParaRPr lang="en-US" sz="1300" dirty="0"/>
          </a:p>
        </p:txBody>
      </p:sp>
      <p:sp>
        <p:nvSpPr>
          <p:cNvPr id="68" name="Text 66"/>
          <p:cNvSpPr txBox="1"/>
          <p:nvPr/>
        </p:nvSpPr>
        <p:spPr>
          <a:xfrm>
            <a:off x="6208776"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69" name="Shape 67"/>
          <p:cNvSpPr/>
          <p:nvPr/>
        </p:nvSpPr>
        <p:spPr>
          <a:xfrm>
            <a:off x="9201245" y="2369673"/>
            <a:ext cx="162211" cy="105898"/>
          </a:xfrm>
          <a:prstGeom prst="rect">
            <a:avLst/>
          </a:prstGeom>
          <a:solidFill>
            <a:srgbClr val="C2352F"/>
          </a:solidFill>
          <a:ln/>
        </p:spPr>
      </p:sp>
      <p:sp>
        <p:nvSpPr>
          <p:cNvPr id="70" name="Text 68"/>
          <p:cNvSpPr txBox="1"/>
          <p:nvPr/>
        </p:nvSpPr>
        <p:spPr>
          <a:xfrm>
            <a:off x="10259568" y="2307515"/>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−2.8 pts</a:t>
            </a:r>
            <a:endParaRPr lang="en-US" sz="1300" dirty="0"/>
          </a:p>
        </p:txBody>
      </p:sp>
      <p:sp>
        <p:nvSpPr>
          <p:cNvPr id="71" name="Text 69"/>
          <p:cNvSpPr txBox="1"/>
          <p:nvPr/>
        </p:nvSpPr>
        <p:spPr>
          <a:xfrm>
            <a:off x="6208776"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72" name="Shape 70"/>
          <p:cNvSpPr/>
          <p:nvPr/>
        </p:nvSpPr>
        <p:spPr>
          <a:xfrm>
            <a:off x="9167098" y="2599887"/>
            <a:ext cx="196358" cy="105898"/>
          </a:xfrm>
          <a:prstGeom prst="rect">
            <a:avLst/>
          </a:prstGeom>
          <a:solidFill>
            <a:srgbClr val="C2352F"/>
          </a:solidFill>
          <a:ln/>
        </p:spPr>
      </p:sp>
      <p:sp>
        <p:nvSpPr>
          <p:cNvPr id="73" name="Text 71"/>
          <p:cNvSpPr txBox="1"/>
          <p:nvPr/>
        </p:nvSpPr>
        <p:spPr>
          <a:xfrm>
            <a:off x="10259568" y="2537729"/>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−3.4 pts</a:t>
            </a:r>
            <a:endParaRPr lang="en-US" sz="1300" dirty="0"/>
          </a:p>
        </p:txBody>
      </p:sp>
      <p:sp>
        <p:nvSpPr>
          <p:cNvPr id="74" name="Text 72"/>
          <p:cNvSpPr txBox="1"/>
          <p:nvPr/>
        </p:nvSpPr>
        <p:spPr>
          <a:xfrm>
            <a:off x="6208776"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75" name="Shape 73"/>
          <p:cNvSpPr/>
          <p:nvPr/>
        </p:nvSpPr>
        <p:spPr>
          <a:xfrm>
            <a:off x="9121965" y="2830100"/>
            <a:ext cx="241491" cy="105898"/>
          </a:xfrm>
          <a:prstGeom prst="rect">
            <a:avLst/>
          </a:prstGeom>
          <a:solidFill>
            <a:srgbClr val="C2352F"/>
          </a:solidFill>
          <a:ln/>
        </p:spPr>
      </p:sp>
      <p:sp>
        <p:nvSpPr>
          <p:cNvPr id="76" name="Text 74"/>
          <p:cNvSpPr txBox="1"/>
          <p:nvPr/>
        </p:nvSpPr>
        <p:spPr>
          <a:xfrm>
            <a:off x="10259568" y="276794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−4.2 pts</a:t>
            </a:r>
            <a:endParaRPr lang="en-US" sz="1300" dirty="0"/>
          </a:p>
        </p:txBody>
      </p:sp>
      <p:sp>
        <p:nvSpPr>
          <p:cNvPr id="77" name="Text 75"/>
          <p:cNvSpPr txBox="1"/>
          <p:nvPr/>
        </p:nvSpPr>
        <p:spPr>
          <a:xfrm>
            <a:off x="6208776"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78" name="Shape 76"/>
          <p:cNvSpPr/>
          <p:nvPr/>
        </p:nvSpPr>
        <p:spPr>
          <a:xfrm>
            <a:off x="9120079" y="3060314"/>
            <a:ext cx="243377" cy="105898"/>
          </a:xfrm>
          <a:prstGeom prst="rect">
            <a:avLst/>
          </a:prstGeom>
          <a:solidFill>
            <a:srgbClr val="C2352F"/>
          </a:solidFill>
          <a:ln/>
        </p:spPr>
      </p:sp>
      <p:sp>
        <p:nvSpPr>
          <p:cNvPr id="79" name="Text 77"/>
          <p:cNvSpPr txBox="1"/>
          <p:nvPr/>
        </p:nvSpPr>
        <p:spPr>
          <a:xfrm>
            <a:off x="10259568" y="2998156"/>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−4.2 pts</a:t>
            </a:r>
            <a:endParaRPr lang="en-US" sz="1300" dirty="0"/>
          </a:p>
        </p:txBody>
      </p:sp>
      <p:sp>
        <p:nvSpPr>
          <p:cNvPr id="80" name="Text 78"/>
          <p:cNvSpPr txBox="1"/>
          <p:nvPr/>
        </p:nvSpPr>
        <p:spPr>
          <a:xfrm>
            <a:off x="6208776"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81" name="Shape 79"/>
          <p:cNvSpPr/>
          <p:nvPr/>
        </p:nvSpPr>
        <p:spPr>
          <a:xfrm>
            <a:off x="9088637" y="3290528"/>
            <a:ext cx="274819" cy="105898"/>
          </a:xfrm>
          <a:prstGeom prst="rect">
            <a:avLst/>
          </a:prstGeom>
          <a:solidFill>
            <a:srgbClr val="C2352F"/>
          </a:solidFill>
          <a:ln/>
        </p:spPr>
      </p:sp>
      <p:sp>
        <p:nvSpPr>
          <p:cNvPr id="82" name="Text 80"/>
          <p:cNvSpPr txBox="1"/>
          <p:nvPr/>
        </p:nvSpPr>
        <p:spPr>
          <a:xfrm>
            <a:off x="10259568" y="3228370"/>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−4.8 pts</a:t>
            </a:r>
            <a:endParaRPr lang="en-US" sz="1300" dirty="0"/>
          </a:p>
        </p:txBody>
      </p:sp>
      <p:sp>
        <p:nvSpPr>
          <p:cNvPr id="83" name="Text 81"/>
          <p:cNvSpPr txBox="1"/>
          <p:nvPr/>
        </p:nvSpPr>
        <p:spPr>
          <a:xfrm>
            <a:off x="6208776"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84" name="Shape 82"/>
          <p:cNvSpPr/>
          <p:nvPr/>
        </p:nvSpPr>
        <p:spPr>
          <a:xfrm>
            <a:off x="9047587" y="3520741"/>
            <a:ext cx="315869" cy="105898"/>
          </a:xfrm>
          <a:prstGeom prst="rect">
            <a:avLst/>
          </a:prstGeom>
          <a:solidFill>
            <a:srgbClr val="C2352F"/>
          </a:solidFill>
          <a:ln/>
        </p:spPr>
      </p:sp>
      <p:sp>
        <p:nvSpPr>
          <p:cNvPr id="85" name="Text 83"/>
          <p:cNvSpPr txBox="1"/>
          <p:nvPr/>
        </p:nvSpPr>
        <p:spPr>
          <a:xfrm>
            <a:off x="10259568" y="345858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−5.5 pts</a:t>
            </a:r>
            <a:endParaRPr lang="en-US" sz="1300" dirty="0"/>
          </a:p>
        </p:txBody>
      </p:sp>
      <p:sp>
        <p:nvSpPr>
          <p:cNvPr id="86" name="Text 84"/>
          <p:cNvSpPr txBox="1"/>
          <p:nvPr/>
        </p:nvSpPr>
        <p:spPr>
          <a:xfrm>
            <a:off x="6208776"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87" name="Shape 85"/>
          <p:cNvSpPr/>
          <p:nvPr/>
        </p:nvSpPr>
        <p:spPr>
          <a:xfrm>
            <a:off x="9044914" y="3750955"/>
            <a:ext cx="318542" cy="105898"/>
          </a:xfrm>
          <a:prstGeom prst="rect">
            <a:avLst/>
          </a:prstGeom>
          <a:solidFill>
            <a:srgbClr val="C2352F"/>
          </a:solidFill>
          <a:ln/>
        </p:spPr>
      </p:sp>
      <p:sp>
        <p:nvSpPr>
          <p:cNvPr id="88" name="Text 86"/>
          <p:cNvSpPr txBox="1"/>
          <p:nvPr/>
        </p:nvSpPr>
        <p:spPr>
          <a:xfrm>
            <a:off x="10259568" y="3688797"/>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−5.5 pts</a:t>
            </a:r>
            <a:endParaRPr lang="en-US" sz="1300" dirty="0"/>
          </a:p>
        </p:txBody>
      </p:sp>
      <p:sp>
        <p:nvSpPr>
          <p:cNvPr id="89" name="Text 87"/>
          <p:cNvSpPr txBox="1"/>
          <p:nvPr/>
        </p:nvSpPr>
        <p:spPr>
          <a:xfrm>
            <a:off x="6208776"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90" name="Shape 88"/>
          <p:cNvSpPr/>
          <p:nvPr/>
        </p:nvSpPr>
        <p:spPr>
          <a:xfrm>
            <a:off x="9027348" y="3981169"/>
            <a:ext cx="336108" cy="105898"/>
          </a:xfrm>
          <a:prstGeom prst="rect">
            <a:avLst/>
          </a:prstGeom>
          <a:solidFill>
            <a:srgbClr val="C2352F"/>
          </a:solidFill>
          <a:ln/>
        </p:spPr>
      </p:sp>
      <p:sp>
        <p:nvSpPr>
          <p:cNvPr id="91" name="Text 89"/>
          <p:cNvSpPr txBox="1"/>
          <p:nvPr/>
        </p:nvSpPr>
        <p:spPr>
          <a:xfrm>
            <a:off x="10259568" y="3919011"/>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−5.8 pts</a:t>
            </a:r>
            <a:endParaRPr lang="en-US" sz="1300" dirty="0"/>
          </a:p>
        </p:txBody>
      </p:sp>
      <p:sp>
        <p:nvSpPr>
          <p:cNvPr id="92" name="Text 90"/>
          <p:cNvSpPr txBox="1"/>
          <p:nvPr/>
        </p:nvSpPr>
        <p:spPr>
          <a:xfrm>
            <a:off x="6208776"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93" name="Shape 91"/>
          <p:cNvSpPr/>
          <p:nvPr/>
        </p:nvSpPr>
        <p:spPr>
          <a:xfrm>
            <a:off x="8968811" y="4211382"/>
            <a:ext cx="394645" cy="105898"/>
          </a:xfrm>
          <a:prstGeom prst="rect">
            <a:avLst/>
          </a:prstGeom>
          <a:solidFill>
            <a:srgbClr val="C2352F"/>
          </a:solidFill>
          <a:ln/>
        </p:spPr>
      </p:sp>
      <p:sp>
        <p:nvSpPr>
          <p:cNvPr id="94" name="Text 92"/>
          <p:cNvSpPr txBox="1"/>
          <p:nvPr/>
        </p:nvSpPr>
        <p:spPr>
          <a:xfrm>
            <a:off x="10259568" y="414922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−6.8 pts</a:t>
            </a:r>
            <a:endParaRPr lang="en-US" sz="1300" dirty="0"/>
          </a:p>
        </p:txBody>
      </p:sp>
      <p:sp>
        <p:nvSpPr>
          <p:cNvPr id="95" name="Text 93"/>
          <p:cNvSpPr txBox="1"/>
          <p:nvPr/>
        </p:nvSpPr>
        <p:spPr>
          <a:xfrm>
            <a:off x="6208776"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96" name="Shape 94"/>
          <p:cNvSpPr/>
          <p:nvPr/>
        </p:nvSpPr>
        <p:spPr>
          <a:xfrm>
            <a:off x="8882968" y="4441596"/>
            <a:ext cx="480488" cy="105898"/>
          </a:xfrm>
          <a:prstGeom prst="rect">
            <a:avLst/>
          </a:prstGeom>
          <a:solidFill>
            <a:srgbClr val="C2352F"/>
          </a:solidFill>
          <a:ln/>
        </p:spPr>
      </p:sp>
      <p:sp>
        <p:nvSpPr>
          <p:cNvPr id="97" name="Text 95"/>
          <p:cNvSpPr txBox="1"/>
          <p:nvPr/>
        </p:nvSpPr>
        <p:spPr>
          <a:xfrm>
            <a:off x="10259568" y="4379438"/>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−8.3 pts</a:t>
            </a:r>
            <a:endParaRPr lang="en-US" sz="1300" dirty="0"/>
          </a:p>
        </p:txBody>
      </p:sp>
      <p:sp>
        <p:nvSpPr>
          <p:cNvPr id="98" name="Text 96"/>
          <p:cNvSpPr txBox="1"/>
          <p:nvPr/>
        </p:nvSpPr>
        <p:spPr>
          <a:xfrm>
            <a:off x="6208776"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99" name="Shape 97"/>
          <p:cNvSpPr/>
          <p:nvPr/>
        </p:nvSpPr>
        <p:spPr>
          <a:xfrm>
            <a:off x="8791354" y="4671809"/>
            <a:ext cx="572102" cy="105898"/>
          </a:xfrm>
          <a:prstGeom prst="rect">
            <a:avLst/>
          </a:prstGeom>
          <a:solidFill>
            <a:srgbClr val="C2352F"/>
          </a:solidFill>
          <a:ln/>
        </p:spPr>
      </p:sp>
      <p:sp>
        <p:nvSpPr>
          <p:cNvPr id="100" name="Text 98"/>
          <p:cNvSpPr txBox="1"/>
          <p:nvPr/>
        </p:nvSpPr>
        <p:spPr>
          <a:xfrm>
            <a:off x="10259568" y="4609652"/>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−9.9 pts</a:t>
            </a:r>
            <a:endParaRPr lang="en-US" sz="1300" dirty="0"/>
          </a:p>
        </p:txBody>
      </p:sp>
      <p:sp>
        <p:nvSpPr>
          <p:cNvPr id="101" name="Text 99"/>
          <p:cNvSpPr txBox="1"/>
          <p:nvPr/>
        </p:nvSpPr>
        <p:spPr>
          <a:xfrm>
            <a:off x="6208776"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102" name="Shape 100"/>
          <p:cNvSpPr/>
          <p:nvPr/>
        </p:nvSpPr>
        <p:spPr>
          <a:xfrm>
            <a:off x="8717129" y="4902023"/>
            <a:ext cx="646327" cy="105898"/>
          </a:xfrm>
          <a:prstGeom prst="rect">
            <a:avLst/>
          </a:prstGeom>
          <a:solidFill>
            <a:srgbClr val="C2352F"/>
          </a:solidFill>
          <a:ln/>
        </p:spPr>
      </p:sp>
      <p:sp>
        <p:nvSpPr>
          <p:cNvPr id="103" name="Text 101"/>
          <p:cNvSpPr txBox="1"/>
          <p:nvPr/>
        </p:nvSpPr>
        <p:spPr>
          <a:xfrm>
            <a:off x="10259568" y="4839865"/>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−11.2 pts</a:t>
            </a:r>
            <a:endParaRPr lang="en-US" sz="1300" dirty="0"/>
          </a:p>
        </p:txBody>
      </p:sp>
      <p:sp>
        <p:nvSpPr>
          <p:cNvPr id="104" name="Text 102"/>
          <p:cNvSpPr txBox="1"/>
          <p:nvPr/>
        </p:nvSpPr>
        <p:spPr>
          <a:xfrm>
            <a:off x="6208776"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105" name="Shape 103"/>
          <p:cNvSpPr/>
          <p:nvPr/>
        </p:nvSpPr>
        <p:spPr>
          <a:xfrm>
            <a:off x="8681163" y="5132237"/>
            <a:ext cx="682293" cy="105898"/>
          </a:xfrm>
          <a:prstGeom prst="rect">
            <a:avLst/>
          </a:prstGeom>
          <a:solidFill>
            <a:srgbClr val="C2352F"/>
          </a:solidFill>
          <a:ln/>
        </p:spPr>
      </p:sp>
      <p:sp>
        <p:nvSpPr>
          <p:cNvPr id="106" name="Text 104"/>
          <p:cNvSpPr txBox="1"/>
          <p:nvPr/>
        </p:nvSpPr>
        <p:spPr>
          <a:xfrm>
            <a:off x="10259568" y="5070079"/>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−11.8 pts</a:t>
            </a:r>
            <a:endParaRPr lang="en-US" sz="1300" dirty="0"/>
          </a:p>
        </p:txBody>
      </p:sp>
      <p:sp>
        <p:nvSpPr>
          <p:cNvPr id="107" name="Text 105"/>
          <p:cNvSpPr txBox="1"/>
          <p:nvPr/>
        </p:nvSpPr>
        <p:spPr>
          <a:xfrm>
            <a:off x="6208776"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08" name="Shape 106"/>
          <p:cNvSpPr/>
          <p:nvPr/>
        </p:nvSpPr>
        <p:spPr>
          <a:xfrm>
            <a:off x="8639635" y="5362450"/>
            <a:ext cx="723821" cy="105898"/>
          </a:xfrm>
          <a:prstGeom prst="rect">
            <a:avLst/>
          </a:prstGeom>
          <a:solidFill>
            <a:srgbClr val="C2352F"/>
          </a:solidFill>
          <a:ln/>
        </p:spPr>
      </p:sp>
      <p:sp>
        <p:nvSpPr>
          <p:cNvPr id="109" name="Text 107"/>
          <p:cNvSpPr txBox="1"/>
          <p:nvPr/>
        </p:nvSpPr>
        <p:spPr>
          <a:xfrm>
            <a:off x="10259568" y="530029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−12.5 pts</a:t>
            </a:r>
            <a:endParaRPr lang="en-US" sz="1300" dirty="0"/>
          </a:p>
        </p:txBody>
      </p:sp>
      <p:sp>
        <p:nvSpPr>
          <p:cNvPr id="110" name="Shape 108"/>
          <p:cNvSpPr/>
          <p:nvPr/>
        </p:nvSpPr>
        <p:spPr>
          <a:xfrm>
            <a:off x="3807562" y="1847088"/>
            <a:ext cx="10973" cy="3913632"/>
          </a:xfrm>
          <a:prstGeom prst="rect">
            <a:avLst/>
          </a:prstGeom>
          <a:solidFill>
            <a:srgbClr val="9AA3AD"/>
          </a:solidFill>
          <a:ln/>
        </p:spPr>
      </p:sp>
      <p:sp>
        <p:nvSpPr>
          <p:cNvPr id="111" name="Shape 109"/>
          <p:cNvSpPr/>
          <p:nvPr/>
        </p:nvSpPr>
        <p:spPr>
          <a:xfrm>
            <a:off x="9357970" y="1847088"/>
            <a:ext cx="10973" cy="3913632"/>
          </a:xfrm>
          <a:prstGeom prst="rect">
            <a:avLst/>
          </a:prstGeom>
          <a:solidFill>
            <a:srgbClr val="9AA3AD"/>
          </a:solidFill>
          <a:ln/>
        </p:spPr>
      </p:sp>
      <p:sp>
        <p:nvSpPr>
          <p:cNvPr id="112" name="Shape 110"/>
          <p:cNvSpPr/>
          <p:nvPr/>
        </p:nvSpPr>
        <p:spPr>
          <a:xfrm>
            <a:off x="457200" y="5961888"/>
            <a:ext cx="11274552" cy="548640"/>
          </a:xfrm>
          <a:prstGeom prst="rect">
            <a:avLst/>
          </a:prstGeom>
          <a:solidFill>
            <a:srgbClr val="FBEBEA"/>
          </a:solidFill>
          <a:ln/>
        </p:spPr>
      </p:sp>
      <p:sp>
        <p:nvSpPr>
          <p:cNvPr id="113" name="Text 111"/>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15 of 33 stores raised parts net to gross, led by LINCOLN at +14.2 pts to 17.9%. 18 declined; HYUNDAI PRESCOTT fell most at −12.5 pts.</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13232" y="2377440"/>
            <a:ext cx="9144000" cy="365760"/>
          </a:xfrm>
          <a:prstGeom prst="rect">
            <a:avLst/>
          </a:prstGeom>
          <a:noFill/>
          <a:ln/>
        </p:spPr>
        <p:txBody>
          <a:bodyPr wrap="square" lIns="0" tIns="0" rIns="0" bIns="0" rtlCol="0" anchor="ctr"/>
          <a:lstStyle/>
          <a:p>
            <a:pPr indent="0" marL="0">
              <a:buNone/>
            </a:pPr>
            <a:r>
              <a:rPr lang="en-US" sz="2000" b="1" spc="260" kern="0" dirty="0">
                <a:solidFill>
                  <a:srgbClr val="2587C5"/>
                </a:solidFill>
                <a:latin typeface="Inter" pitchFamily="34" charset="0"/>
                <a:ea typeface="Inter" pitchFamily="34" charset="-122"/>
                <a:cs typeface="Inter" pitchFamily="34" charset="-120"/>
              </a:rPr>
              <a:t>FIXED OPS</a:t>
            </a:r>
            <a:endParaRPr lang="en-US" sz="2000" dirty="0"/>
          </a:p>
        </p:txBody>
      </p:sp>
      <p:sp>
        <p:nvSpPr>
          <p:cNvPr id="3" name="Text 1"/>
          <p:cNvSpPr txBox="1"/>
          <p:nvPr/>
        </p:nvSpPr>
        <p:spPr>
          <a:xfrm>
            <a:off x="667512" y="2743200"/>
            <a:ext cx="10789920" cy="1234440"/>
          </a:xfrm>
          <a:prstGeom prst="rect">
            <a:avLst/>
          </a:prstGeom>
          <a:noFill/>
          <a:ln/>
        </p:spPr>
        <p:txBody>
          <a:bodyPr wrap="square" lIns="0" tIns="0" rIns="0" bIns="0" rtlCol="0" anchor="ctr"/>
          <a:lstStyle/>
          <a:p>
            <a:pPr indent="0" marL="0">
              <a:buNone/>
            </a:pPr>
            <a:r>
              <a:rPr lang="en-US" sz="8200" b="1" dirty="0">
                <a:solidFill>
                  <a:srgbClr val="1A1A1A"/>
                </a:solidFill>
                <a:latin typeface="Inter" pitchFamily="34" charset="0"/>
                <a:ea typeface="Inter" pitchFamily="34" charset="-122"/>
                <a:cs typeface="Inter" pitchFamily="34" charset="-120"/>
              </a:rPr>
              <a:t>The CP Engine</a:t>
            </a:r>
            <a:endParaRPr lang="en-US" sz="8200" dirty="0"/>
          </a:p>
        </p:txBody>
      </p:sp>
      <p:sp>
        <p:nvSpPr>
          <p:cNvPr id="4" name="Text 2"/>
          <p:cNvSpPr txBox="1"/>
          <p:nvPr/>
        </p:nvSpPr>
        <p:spPr>
          <a:xfrm>
            <a:off x="694944" y="4041648"/>
            <a:ext cx="10789920" cy="411480"/>
          </a:xfrm>
          <a:prstGeom prst="rect">
            <a:avLst/>
          </a:prstGeom>
          <a:noFill/>
          <a:ln/>
        </p:spPr>
        <p:txBody>
          <a:bodyPr wrap="square" lIns="0" tIns="0" rIns="0" bIns="0" rtlCol="0" anchor="ctr"/>
          <a:lstStyle/>
          <a:p>
            <a:pPr indent="0" marL="0">
              <a:buNone/>
            </a:pPr>
            <a:r>
              <a:rPr lang="en-US" sz="2200" dirty="0">
                <a:solidFill>
                  <a:srgbClr val="595959"/>
                </a:solidFill>
                <a:latin typeface="Inter" pitchFamily="34" charset="0"/>
                <a:ea typeface="Inter" pitchFamily="34" charset="-122"/>
                <a:cs typeface="Inter" pitchFamily="34" charset="-120"/>
              </a:rPr>
              <a:t>ROs   ·   Hours per RO   ·   ELR   ·   $ per RO   ·   Margin</a:t>
            </a:r>
            <a:endParaRPr lang="en-US" sz="2200" dirty="0"/>
          </a:p>
        </p:txBody>
      </p:sp>
      <p:sp>
        <p:nvSpPr>
          <p:cNvPr id="5" name="Shape 3"/>
          <p:cNvSpPr/>
          <p:nvPr/>
        </p:nvSpPr>
        <p:spPr>
          <a:xfrm>
            <a:off x="685800" y="5257800"/>
            <a:ext cx="1340249" cy="45720"/>
          </a:xfrm>
          <a:prstGeom prst="rect">
            <a:avLst/>
          </a:prstGeom>
          <a:solidFill>
            <a:srgbClr val="5B9BD5"/>
          </a:solidFill>
          <a:ln/>
        </p:spPr>
      </p:sp>
      <p:sp>
        <p:nvSpPr>
          <p:cNvPr id="6" name="Text 4"/>
          <p:cNvSpPr txBox="1"/>
          <p:nvPr/>
        </p:nvSpPr>
        <p:spPr>
          <a:xfrm>
            <a:off x="685800"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Gross</a:t>
            </a:r>
            <a:endParaRPr lang="en-US" sz="1550" dirty="0"/>
          </a:p>
        </p:txBody>
      </p:sp>
      <p:sp>
        <p:nvSpPr>
          <p:cNvPr id="7" name="Shape 5"/>
          <p:cNvSpPr/>
          <p:nvPr/>
        </p:nvSpPr>
        <p:spPr>
          <a:xfrm>
            <a:off x="2227217" y="5257800"/>
            <a:ext cx="1340249" cy="45720"/>
          </a:xfrm>
          <a:prstGeom prst="rect">
            <a:avLst/>
          </a:prstGeom>
          <a:solidFill>
            <a:srgbClr val="5B9BD5"/>
          </a:solidFill>
          <a:ln/>
        </p:spPr>
      </p:sp>
      <p:sp>
        <p:nvSpPr>
          <p:cNvPr id="8" name="Text 6"/>
          <p:cNvSpPr txBox="1"/>
          <p:nvPr/>
        </p:nvSpPr>
        <p:spPr>
          <a:xfrm>
            <a:off x="2227217"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Profitability</a:t>
            </a:r>
            <a:endParaRPr lang="en-US" sz="1550" dirty="0"/>
          </a:p>
        </p:txBody>
      </p:sp>
      <p:sp>
        <p:nvSpPr>
          <p:cNvPr id="9" name="Shape 7"/>
          <p:cNvSpPr/>
          <p:nvPr/>
        </p:nvSpPr>
        <p:spPr>
          <a:xfrm>
            <a:off x="3768634" y="5257800"/>
            <a:ext cx="1340249" cy="91440"/>
          </a:xfrm>
          <a:prstGeom prst="rect">
            <a:avLst/>
          </a:prstGeom>
          <a:solidFill>
            <a:srgbClr val="2587C5"/>
          </a:solidFill>
          <a:ln/>
        </p:spPr>
      </p:sp>
      <p:sp>
        <p:nvSpPr>
          <p:cNvPr id="10" name="Text 8"/>
          <p:cNvSpPr txBox="1"/>
          <p:nvPr/>
        </p:nvSpPr>
        <p:spPr>
          <a:xfrm>
            <a:off x="3768634" y="5440680"/>
            <a:ext cx="1340249" cy="365760"/>
          </a:xfrm>
          <a:prstGeom prst="rect">
            <a:avLst/>
          </a:prstGeom>
          <a:noFill/>
          <a:ln/>
        </p:spPr>
        <p:txBody>
          <a:bodyPr wrap="square" lIns="0" tIns="0" rIns="0" bIns="0" rtlCol="0" anchor="ctr"/>
          <a:lstStyle/>
          <a:p>
            <a:pPr indent="0" marL="0">
              <a:buNone/>
            </a:pPr>
            <a:r>
              <a:rPr lang="en-US" sz="1550" b="1" dirty="0">
                <a:solidFill>
                  <a:srgbClr val="1A1A1A"/>
                </a:solidFill>
                <a:latin typeface="Inter" pitchFamily="34" charset="0"/>
                <a:ea typeface="Inter" pitchFamily="34" charset="-122"/>
                <a:cs typeface="Inter" pitchFamily="34" charset="-120"/>
              </a:rPr>
              <a:t>CP Engine</a:t>
            </a:r>
            <a:endParaRPr lang="en-US" sz="1550" dirty="0"/>
          </a:p>
        </p:txBody>
      </p:sp>
      <p:sp>
        <p:nvSpPr>
          <p:cNvPr id="11" name="Shape 9"/>
          <p:cNvSpPr/>
          <p:nvPr/>
        </p:nvSpPr>
        <p:spPr>
          <a:xfrm>
            <a:off x="5310051" y="5257800"/>
            <a:ext cx="1340249" cy="45720"/>
          </a:xfrm>
          <a:prstGeom prst="rect">
            <a:avLst/>
          </a:prstGeom>
          <a:solidFill>
            <a:srgbClr val="D9D9D9"/>
          </a:solidFill>
          <a:ln/>
        </p:spPr>
      </p:sp>
      <p:sp>
        <p:nvSpPr>
          <p:cNvPr id="12" name="Text 10"/>
          <p:cNvSpPr txBox="1"/>
          <p:nvPr/>
        </p:nvSpPr>
        <p:spPr>
          <a:xfrm>
            <a:off x="5310051"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Labor Mix</a:t>
            </a:r>
            <a:endParaRPr lang="en-US" sz="1550" dirty="0"/>
          </a:p>
        </p:txBody>
      </p:sp>
      <p:sp>
        <p:nvSpPr>
          <p:cNvPr id="13" name="Shape 11"/>
          <p:cNvSpPr/>
          <p:nvPr/>
        </p:nvSpPr>
        <p:spPr>
          <a:xfrm>
            <a:off x="6851469" y="5257800"/>
            <a:ext cx="1340249" cy="45720"/>
          </a:xfrm>
          <a:prstGeom prst="rect">
            <a:avLst/>
          </a:prstGeom>
          <a:solidFill>
            <a:srgbClr val="D9D9D9"/>
          </a:solidFill>
          <a:ln/>
        </p:spPr>
      </p:sp>
      <p:sp>
        <p:nvSpPr>
          <p:cNvPr id="14" name="Text 12"/>
          <p:cNvSpPr txBox="1"/>
          <p:nvPr/>
        </p:nvSpPr>
        <p:spPr>
          <a:xfrm>
            <a:off x="6851469"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Opcodes</a:t>
            </a:r>
            <a:endParaRPr lang="en-US" sz="1550" dirty="0"/>
          </a:p>
        </p:txBody>
      </p:sp>
      <p:sp>
        <p:nvSpPr>
          <p:cNvPr id="15" name="Shape 13"/>
          <p:cNvSpPr/>
          <p:nvPr/>
        </p:nvSpPr>
        <p:spPr>
          <a:xfrm>
            <a:off x="8392886" y="5257800"/>
            <a:ext cx="1340249" cy="45720"/>
          </a:xfrm>
          <a:prstGeom prst="rect">
            <a:avLst/>
          </a:prstGeom>
          <a:solidFill>
            <a:srgbClr val="D9D9D9"/>
          </a:solidFill>
          <a:ln/>
        </p:spPr>
      </p:sp>
      <p:sp>
        <p:nvSpPr>
          <p:cNvPr id="16" name="Text 14"/>
          <p:cNvSpPr txBox="1"/>
          <p:nvPr/>
        </p:nvSpPr>
        <p:spPr>
          <a:xfrm>
            <a:off x="8392886"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Warranty</a:t>
            </a:r>
            <a:endParaRPr lang="en-US" sz="1550" dirty="0"/>
          </a:p>
        </p:txBody>
      </p:sp>
      <p:sp>
        <p:nvSpPr>
          <p:cNvPr id="17" name="Shape 15"/>
          <p:cNvSpPr/>
          <p:nvPr/>
        </p:nvSpPr>
        <p:spPr>
          <a:xfrm>
            <a:off x="9934303" y="5257800"/>
            <a:ext cx="1340249" cy="45720"/>
          </a:xfrm>
          <a:prstGeom prst="rect">
            <a:avLst/>
          </a:prstGeom>
          <a:solidFill>
            <a:srgbClr val="D9D9D9"/>
          </a:solidFill>
          <a:ln/>
        </p:spPr>
      </p:sp>
      <p:sp>
        <p:nvSpPr>
          <p:cNvPr id="18" name="Text 16"/>
          <p:cNvSpPr txBox="1"/>
          <p:nvPr/>
        </p:nvSpPr>
        <p:spPr>
          <a:xfrm>
            <a:off x="9934303"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Productivity</a:t>
            </a:r>
            <a:endParaRPr lang="en-US" sz="15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RO Count</a:t>
            </a:r>
            <a:endParaRPr lang="en-US" sz="2800" dirty="0"/>
          </a:p>
        </p:txBody>
      </p:sp>
      <p:sp>
        <p:nvSpPr>
          <p:cNvPr id="5" name="Shape 3"/>
          <p:cNvSpPr/>
          <p:nvPr/>
        </p:nvSpPr>
        <p:spPr>
          <a:xfrm>
            <a:off x="457200" y="1207008"/>
            <a:ext cx="11274552" cy="1517904"/>
          </a:xfrm>
          <a:prstGeom prst="rect">
            <a:avLst/>
          </a:prstGeom>
          <a:solidFill>
            <a:srgbClr val="FFFFFF"/>
          </a:solidFill>
          <a:ln/>
        </p:spPr>
      </p:sp>
      <p:sp>
        <p:nvSpPr>
          <p:cNvPr id="6" name="Text 4"/>
          <p:cNvSpPr txBox="1"/>
          <p:nvPr/>
        </p:nvSpPr>
        <p:spPr>
          <a:xfrm>
            <a:off x="685800" y="1316736"/>
            <a:ext cx="10789920" cy="274320"/>
          </a:xfrm>
          <a:prstGeom prst="rect">
            <a:avLst/>
          </a:prstGeom>
          <a:noFill/>
          <a:ln/>
        </p:spPr>
        <p:txBody>
          <a:bodyPr wrap="square" lIns="0" tIns="0" rIns="0" bIns="0" rtlCol="0" anchor="ctr"/>
          <a:lstStyle/>
          <a:p>
            <a:pPr indent="0" marL="0">
              <a:buNone/>
            </a:pPr>
            <a:r>
              <a:rPr lang="en-US" sz="1400" spc="100" kern="0" dirty="0">
                <a:solidFill>
                  <a:srgbClr val="595959"/>
                </a:solidFill>
                <a:latin typeface="Inter" pitchFamily="34" charset="0"/>
                <a:ea typeface="Inter" pitchFamily="34" charset="-122"/>
                <a:cs typeface="Inter" pitchFamily="34" charset="-120"/>
              </a:rPr>
              <a:t>GROUP · JANUARY–SEPTEMBER · SAME-STORE, 33 STORES</a:t>
            </a:r>
            <a:endParaRPr lang="en-US" sz="1400" dirty="0"/>
          </a:p>
        </p:txBody>
      </p:sp>
      <p:sp>
        <p:nvSpPr>
          <p:cNvPr id="7" name="Text 5"/>
          <p:cNvSpPr txBox="1"/>
          <p:nvPr/>
        </p:nvSpPr>
        <p:spPr>
          <a:xfrm>
            <a:off x="68580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a:t>
            </a:r>
            <a:endParaRPr lang="en-US" sz="1400" dirty="0"/>
          </a:p>
        </p:txBody>
      </p:sp>
      <p:sp>
        <p:nvSpPr>
          <p:cNvPr id="8" name="Text 6"/>
          <p:cNvSpPr txBox="1"/>
          <p:nvPr/>
        </p:nvSpPr>
        <p:spPr>
          <a:xfrm>
            <a:off x="68580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279,300</a:t>
            </a:r>
            <a:endParaRPr lang="en-US" sz="3000" dirty="0"/>
          </a:p>
        </p:txBody>
      </p:sp>
      <p:sp>
        <p:nvSpPr>
          <p:cNvPr id="9" name="Text 7"/>
          <p:cNvSpPr txBox="1"/>
          <p:nvPr/>
        </p:nvSpPr>
        <p:spPr>
          <a:xfrm>
            <a:off x="347472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a:t>
            </a:r>
            <a:endParaRPr lang="en-US" sz="1400" dirty="0"/>
          </a:p>
        </p:txBody>
      </p:sp>
      <p:sp>
        <p:nvSpPr>
          <p:cNvPr id="10" name="Text 8"/>
          <p:cNvSpPr txBox="1"/>
          <p:nvPr/>
        </p:nvSpPr>
        <p:spPr>
          <a:xfrm>
            <a:off x="347472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279,756</a:t>
            </a:r>
            <a:endParaRPr lang="en-US" sz="3000" dirty="0"/>
          </a:p>
        </p:txBody>
      </p:sp>
      <p:sp>
        <p:nvSpPr>
          <p:cNvPr id="11" name="Text 9"/>
          <p:cNvSpPr txBox="1"/>
          <p:nvPr/>
        </p:nvSpPr>
        <p:spPr>
          <a:xfrm>
            <a:off x="626364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2" name="Text 10"/>
          <p:cNvSpPr txBox="1"/>
          <p:nvPr/>
        </p:nvSpPr>
        <p:spPr>
          <a:xfrm>
            <a:off x="626364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+456</a:t>
            </a:r>
            <a:endParaRPr lang="en-US" sz="3000" dirty="0"/>
          </a:p>
        </p:txBody>
      </p:sp>
      <p:sp>
        <p:nvSpPr>
          <p:cNvPr id="13" name="Text 11"/>
          <p:cNvSpPr txBox="1"/>
          <p:nvPr/>
        </p:nvSpPr>
        <p:spPr>
          <a:xfrm>
            <a:off x="905256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4" name="Text 12"/>
          <p:cNvSpPr txBox="1"/>
          <p:nvPr/>
        </p:nvSpPr>
        <p:spPr>
          <a:xfrm>
            <a:off x="905256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+0.2%</a:t>
            </a:r>
            <a:endParaRPr lang="en-US" sz="3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2816352"/>
          <a:ext cx="11274552" cy="914400"/>
        </p:xfrm>
        <a:graphic>
          <a:graphicData uri="http://schemas.openxmlformats.org/drawingml/2006/table">
            <a:tbl>
              <a:tblPr/>
              <a:tblGrid>
                <a:gridCol w="3118104"/>
                <a:gridCol w="2039112"/>
                <a:gridCol w="2039112"/>
                <a:gridCol w="2039112"/>
                <a:gridCol w="2039112"/>
              </a:tblGrid>
              <a:tr h="274320">
                <a:tc>
                  <a:txBody>
                    <a:bodyPr/>
                    <a:lstStyle/>
                    <a:p>
                      <a:pPr algn="l" indent="0" marL="0">
                        <a:buNone/>
                      </a:pPr>
                      <a:r>
                        <a:rPr lang="en-US" sz="1400" b="1" dirty="0">
                          <a:solidFill>
                            <a:srgbClr val="FFFFFF"/>
                          </a:solidFill>
                          <a:latin typeface="Inter" pitchFamily="34" charset="0"/>
                          <a:ea typeface="Inter" pitchFamily="34" charset="-122"/>
                          <a:cs typeface="Inter" pitchFamily="34" charset="-120"/>
                        </a:rPr>
                        <a:t>MONTH</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VARIANCE</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 %</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JAN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30,872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30,678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−194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−0.6%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FEB</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28,163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27,329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−834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−3.0%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31,247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31,531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+284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APR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31,754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30,786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−968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−3.0%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MAY</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31,740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30,636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−1,104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−3.5%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31,179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32,541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+1,362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JUL</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32,360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33,097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+737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AUG</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31,996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32,319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+323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SEP</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29,989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30,839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+850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16" name="Shape 13"/>
          <p:cNvSpPr/>
          <p:nvPr/>
        </p:nvSpPr>
        <p:spPr>
          <a:xfrm>
            <a:off x="457200" y="5961888"/>
            <a:ext cx="11274552" cy="548640"/>
          </a:xfrm>
          <a:prstGeom prst="rect">
            <a:avLst/>
          </a:prstGeom>
          <a:solidFill>
            <a:srgbClr val="E6F6EE"/>
          </a:solidFill>
          <a:ln/>
        </p:spPr>
      </p:sp>
      <p:sp>
        <p:nvSpPr>
          <p:cNvPr id="17" name="Text 14"/>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Up 456 to 279,756, ahead of 2025 in five of nine months. Volume is flat, so every gain here comes from selling more per RO.</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RO Count</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01168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GROUP</a:t>
            </a:r>
            <a:endParaRPr lang="en-US" sz="1500" dirty="0"/>
          </a:p>
        </p:txBody>
      </p:sp>
      <p:sp>
        <p:nvSpPr>
          <p:cNvPr id="9" name="Text 7"/>
          <p:cNvSpPr txBox="1"/>
          <p:nvPr/>
        </p:nvSpPr>
        <p:spPr>
          <a:xfrm>
            <a:off x="2834640" y="1335024"/>
            <a:ext cx="420624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SAME-STORE, 33 STORES</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+0.2%</a:t>
            </a:r>
            <a:endParaRPr lang="en-US" sz="2000" dirty="0"/>
          </a:p>
        </p:txBody>
      </p:sp>
      <p:sp>
        <p:nvSpPr>
          <p:cNvPr id="11" name="Text 9"/>
          <p:cNvSpPr txBox="1"/>
          <p:nvPr/>
        </p:nvSpPr>
        <p:spPr>
          <a:xfrm>
            <a:off x="658368"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12" name="Shape 10"/>
          <p:cNvSpPr/>
          <p:nvPr/>
        </p:nvSpPr>
        <p:spPr>
          <a:xfrm>
            <a:off x="3813048" y="1909246"/>
            <a:ext cx="761799" cy="105898"/>
          </a:xfrm>
          <a:prstGeom prst="rect">
            <a:avLst/>
          </a:prstGeom>
          <a:solidFill>
            <a:srgbClr val="12A566"/>
          </a:solidFill>
          <a:ln/>
        </p:spPr>
      </p:sp>
      <p:sp>
        <p:nvSpPr>
          <p:cNvPr id="13" name="Text 11"/>
          <p:cNvSpPr txBox="1"/>
          <p:nvPr/>
        </p:nvSpPr>
        <p:spPr>
          <a:xfrm>
            <a:off x="4709160"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+13.7%</a:t>
            </a:r>
            <a:endParaRPr lang="en-US" sz="1300" dirty="0"/>
          </a:p>
        </p:txBody>
      </p:sp>
      <p:sp>
        <p:nvSpPr>
          <p:cNvPr id="14" name="Text 12"/>
          <p:cNvSpPr txBox="1"/>
          <p:nvPr/>
        </p:nvSpPr>
        <p:spPr>
          <a:xfrm>
            <a:off x="658368"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5" name="Shape 13"/>
          <p:cNvSpPr/>
          <p:nvPr/>
        </p:nvSpPr>
        <p:spPr>
          <a:xfrm>
            <a:off x="3813048" y="2139459"/>
            <a:ext cx="706854" cy="105898"/>
          </a:xfrm>
          <a:prstGeom prst="rect">
            <a:avLst/>
          </a:prstGeom>
          <a:solidFill>
            <a:srgbClr val="12A566"/>
          </a:solidFill>
          <a:ln/>
        </p:spPr>
      </p:sp>
      <p:sp>
        <p:nvSpPr>
          <p:cNvPr id="16" name="Text 14"/>
          <p:cNvSpPr txBox="1"/>
          <p:nvPr/>
        </p:nvSpPr>
        <p:spPr>
          <a:xfrm>
            <a:off x="4709160"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+12.7%</a:t>
            </a:r>
            <a:endParaRPr lang="en-US" sz="1300" dirty="0"/>
          </a:p>
        </p:txBody>
      </p:sp>
      <p:sp>
        <p:nvSpPr>
          <p:cNvPr id="17" name="Text 15"/>
          <p:cNvSpPr txBox="1"/>
          <p:nvPr/>
        </p:nvSpPr>
        <p:spPr>
          <a:xfrm>
            <a:off x="658368"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18" name="Shape 16"/>
          <p:cNvSpPr/>
          <p:nvPr/>
        </p:nvSpPr>
        <p:spPr>
          <a:xfrm>
            <a:off x="3813048" y="2369673"/>
            <a:ext cx="589748" cy="105898"/>
          </a:xfrm>
          <a:prstGeom prst="rect">
            <a:avLst/>
          </a:prstGeom>
          <a:solidFill>
            <a:srgbClr val="12A566"/>
          </a:solidFill>
          <a:ln/>
        </p:spPr>
      </p:sp>
      <p:sp>
        <p:nvSpPr>
          <p:cNvPr id="19" name="Text 17"/>
          <p:cNvSpPr txBox="1"/>
          <p:nvPr/>
        </p:nvSpPr>
        <p:spPr>
          <a:xfrm>
            <a:off x="4709160"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+10.6%</a:t>
            </a:r>
            <a:endParaRPr lang="en-US" sz="1300" dirty="0"/>
          </a:p>
        </p:txBody>
      </p:sp>
      <p:sp>
        <p:nvSpPr>
          <p:cNvPr id="20" name="Text 18"/>
          <p:cNvSpPr txBox="1"/>
          <p:nvPr/>
        </p:nvSpPr>
        <p:spPr>
          <a:xfrm>
            <a:off x="658368"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21" name="Shape 19"/>
          <p:cNvSpPr/>
          <p:nvPr/>
        </p:nvSpPr>
        <p:spPr>
          <a:xfrm>
            <a:off x="3813048" y="2599887"/>
            <a:ext cx="565502" cy="105898"/>
          </a:xfrm>
          <a:prstGeom prst="rect">
            <a:avLst/>
          </a:prstGeom>
          <a:solidFill>
            <a:srgbClr val="12A566"/>
          </a:solidFill>
          <a:ln/>
        </p:spPr>
      </p:sp>
      <p:sp>
        <p:nvSpPr>
          <p:cNvPr id="22" name="Text 20"/>
          <p:cNvSpPr txBox="1"/>
          <p:nvPr/>
        </p:nvSpPr>
        <p:spPr>
          <a:xfrm>
            <a:off x="4709160"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+10.1%</a:t>
            </a:r>
            <a:endParaRPr lang="en-US" sz="1300" dirty="0"/>
          </a:p>
        </p:txBody>
      </p:sp>
      <p:sp>
        <p:nvSpPr>
          <p:cNvPr id="23" name="Text 21"/>
          <p:cNvSpPr txBox="1"/>
          <p:nvPr/>
        </p:nvSpPr>
        <p:spPr>
          <a:xfrm>
            <a:off x="658368"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24" name="Shape 22"/>
          <p:cNvSpPr/>
          <p:nvPr/>
        </p:nvSpPr>
        <p:spPr>
          <a:xfrm>
            <a:off x="3813048" y="2830100"/>
            <a:ext cx="505305" cy="105898"/>
          </a:xfrm>
          <a:prstGeom prst="rect">
            <a:avLst/>
          </a:prstGeom>
          <a:solidFill>
            <a:srgbClr val="12A566"/>
          </a:solidFill>
          <a:ln/>
        </p:spPr>
      </p:sp>
      <p:sp>
        <p:nvSpPr>
          <p:cNvPr id="25" name="Text 23"/>
          <p:cNvSpPr txBox="1"/>
          <p:nvPr/>
        </p:nvSpPr>
        <p:spPr>
          <a:xfrm>
            <a:off x="4709160"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+9.1%</a:t>
            </a:r>
            <a:endParaRPr lang="en-US" sz="1300" dirty="0"/>
          </a:p>
        </p:txBody>
      </p:sp>
      <p:sp>
        <p:nvSpPr>
          <p:cNvPr id="26" name="Text 24"/>
          <p:cNvSpPr txBox="1"/>
          <p:nvPr/>
        </p:nvSpPr>
        <p:spPr>
          <a:xfrm>
            <a:off x="658368"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27" name="Shape 25"/>
          <p:cNvSpPr/>
          <p:nvPr/>
        </p:nvSpPr>
        <p:spPr>
          <a:xfrm>
            <a:off x="3813048" y="3060314"/>
            <a:ext cx="432202" cy="105898"/>
          </a:xfrm>
          <a:prstGeom prst="rect">
            <a:avLst/>
          </a:prstGeom>
          <a:solidFill>
            <a:srgbClr val="12A566"/>
          </a:solidFill>
          <a:ln/>
        </p:spPr>
      </p:sp>
      <p:sp>
        <p:nvSpPr>
          <p:cNvPr id="28" name="Text 26"/>
          <p:cNvSpPr txBox="1"/>
          <p:nvPr/>
        </p:nvSpPr>
        <p:spPr>
          <a:xfrm>
            <a:off x="4709160"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+7.7%</a:t>
            </a:r>
            <a:endParaRPr lang="en-US" sz="1300" dirty="0"/>
          </a:p>
        </p:txBody>
      </p:sp>
      <p:sp>
        <p:nvSpPr>
          <p:cNvPr id="29" name="Text 27"/>
          <p:cNvSpPr txBox="1"/>
          <p:nvPr/>
        </p:nvSpPr>
        <p:spPr>
          <a:xfrm>
            <a:off x="658368"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30" name="Shape 28"/>
          <p:cNvSpPr/>
          <p:nvPr/>
        </p:nvSpPr>
        <p:spPr>
          <a:xfrm>
            <a:off x="3813048" y="3290528"/>
            <a:ext cx="343622" cy="105898"/>
          </a:xfrm>
          <a:prstGeom prst="rect">
            <a:avLst/>
          </a:prstGeom>
          <a:solidFill>
            <a:srgbClr val="12A566"/>
          </a:solidFill>
          <a:ln/>
        </p:spPr>
      </p:sp>
      <p:sp>
        <p:nvSpPr>
          <p:cNvPr id="31" name="Text 29"/>
          <p:cNvSpPr txBox="1"/>
          <p:nvPr/>
        </p:nvSpPr>
        <p:spPr>
          <a:xfrm>
            <a:off x="4709160" y="3228370"/>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+6.2%</a:t>
            </a:r>
            <a:endParaRPr lang="en-US" sz="1300" dirty="0"/>
          </a:p>
        </p:txBody>
      </p:sp>
      <p:sp>
        <p:nvSpPr>
          <p:cNvPr id="32" name="Text 30"/>
          <p:cNvSpPr txBox="1"/>
          <p:nvPr/>
        </p:nvSpPr>
        <p:spPr>
          <a:xfrm>
            <a:off x="658368"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33" name="Shape 31"/>
          <p:cNvSpPr/>
          <p:nvPr/>
        </p:nvSpPr>
        <p:spPr>
          <a:xfrm>
            <a:off x="3813048" y="3520741"/>
            <a:ext cx="310441" cy="105898"/>
          </a:xfrm>
          <a:prstGeom prst="rect">
            <a:avLst/>
          </a:prstGeom>
          <a:solidFill>
            <a:srgbClr val="12A566"/>
          </a:solidFill>
          <a:ln/>
        </p:spPr>
      </p:sp>
      <p:sp>
        <p:nvSpPr>
          <p:cNvPr id="34" name="Text 32"/>
          <p:cNvSpPr txBox="1"/>
          <p:nvPr/>
        </p:nvSpPr>
        <p:spPr>
          <a:xfrm>
            <a:off x="4709160" y="345858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+5.6%</a:t>
            </a:r>
            <a:endParaRPr lang="en-US" sz="1300" dirty="0"/>
          </a:p>
        </p:txBody>
      </p:sp>
      <p:sp>
        <p:nvSpPr>
          <p:cNvPr id="35" name="Text 33"/>
          <p:cNvSpPr txBox="1"/>
          <p:nvPr/>
        </p:nvSpPr>
        <p:spPr>
          <a:xfrm>
            <a:off x="658368"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36" name="Shape 34"/>
          <p:cNvSpPr/>
          <p:nvPr/>
        </p:nvSpPr>
        <p:spPr>
          <a:xfrm>
            <a:off x="3813048" y="3750955"/>
            <a:ext cx="204540" cy="105898"/>
          </a:xfrm>
          <a:prstGeom prst="rect">
            <a:avLst/>
          </a:prstGeom>
          <a:solidFill>
            <a:srgbClr val="12A566"/>
          </a:solidFill>
          <a:ln/>
        </p:spPr>
      </p:sp>
      <p:sp>
        <p:nvSpPr>
          <p:cNvPr id="37" name="Text 35"/>
          <p:cNvSpPr txBox="1"/>
          <p:nvPr/>
        </p:nvSpPr>
        <p:spPr>
          <a:xfrm>
            <a:off x="4709160" y="3688797"/>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+3.7%</a:t>
            </a:r>
            <a:endParaRPr lang="en-US" sz="1300" dirty="0"/>
          </a:p>
        </p:txBody>
      </p:sp>
      <p:sp>
        <p:nvSpPr>
          <p:cNvPr id="38" name="Text 36"/>
          <p:cNvSpPr txBox="1"/>
          <p:nvPr/>
        </p:nvSpPr>
        <p:spPr>
          <a:xfrm>
            <a:off x="658368"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39" name="Shape 37"/>
          <p:cNvSpPr/>
          <p:nvPr/>
        </p:nvSpPr>
        <p:spPr>
          <a:xfrm>
            <a:off x="3813048" y="3981169"/>
            <a:ext cx="194015" cy="105898"/>
          </a:xfrm>
          <a:prstGeom prst="rect">
            <a:avLst/>
          </a:prstGeom>
          <a:solidFill>
            <a:srgbClr val="12A566"/>
          </a:solidFill>
          <a:ln/>
        </p:spPr>
      </p:sp>
      <p:sp>
        <p:nvSpPr>
          <p:cNvPr id="40" name="Text 38"/>
          <p:cNvSpPr txBox="1"/>
          <p:nvPr/>
        </p:nvSpPr>
        <p:spPr>
          <a:xfrm>
            <a:off x="4709160" y="3919011"/>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+3.5%</a:t>
            </a:r>
            <a:endParaRPr lang="en-US" sz="1300" dirty="0"/>
          </a:p>
        </p:txBody>
      </p:sp>
      <p:sp>
        <p:nvSpPr>
          <p:cNvPr id="41" name="Text 39"/>
          <p:cNvSpPr txBox="1"/>
          <p:nvPr/>
        </p:nvSpPr>
        <p:spPr>
          <a:xfrm>
            <a:off x="658368"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42" name="Shape 40"/>
          <p:cNvSpPr/>
          <p:nvPr/>
        </p:nvSpPr>
        <p:spPr>
          <a:xfrm>
            <a:off x="3813048" y="4211382"/>
            <a:ext cx="192458" cy="105898"/>
          </a:xfrm>
          <a:prstGeom prst="rect">
            <a:avLst/>
          </a:prstGeom>
          <a:solidFill>
            <a:srgbClr val="12A566"/>
          </a:solidFill>
          <a:ln/>
        </p:spPr>
      </p:sp>
      <p:sp>
        <p:nvSpPr>
          <p:cNvPr id="43" name="Text 41"/>
          <p:cNvSpPr txBox="1"/>
          <p:nvPr/>
        </p:nvSpPr>
        <p:spPr>
          <a:xfrm>
            <a:off x="4709160" y="414922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+3.4%</a:t>
            </a:r>
            <a:endParaRPr lang="en-US" sz="1300" dirty="0"/>
          </a:p>
        </p:txBody>
      </p:sp>
      <p:sp>
        <p:nvSpPr>
          <p:cNvPr id="44" name="Text 42"/>
          <p:cNvSpPr txBox="1"/>
          <p:nvPr/>
        </p:nvSpPr>
        <p:spPr>
          <a:xfrm>
            <a:off x="658368"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45" name="Shape 43"/>
          <p:cNvSpPr/>
          <p:nvPr/>
        </p:nvSpPr>
        <p:spPr>
          <a:xfrm>
            <a:off x="3813048" y="4441596"/>
            <a:ext cx="181916" cy="105898"/>
          </a:xfrm>
          <a:prstGeom prst="rect">
            <a:avLst/>
          </a:prstGeom>
          <a:solidFill>
            <a:srgbClr val="12A566"/>
          </a:solidFill>
          <a:ln/>
        </p:spPr>
      </p:sp>
      <p:sp>
        <p:nvSpPr>
          <p:cNvPr id="46" name="Text 44"/>
          <p:cNvSpPr txBox="1"/>
          <p:nvPr/>
        </p:nvSpPr>
        <p:spPr>
          <a:xfrm>
            <a:off x="4709160" y="437943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+3.3%</a:t>
            </a:r>
            <a:endParaRPr lang="en-US" sz="1300" dirty="0"/>
          </a:p>
        </p:txBody>
      </p:sp>
      <p:sp>
        <p:nvSpPr>
          <p:cNvPr id="47" name="Text 45"/>
          <p:cNvSpPr txBox="1"/>
          <p:nvPr/>
        </p:nvSpPr>
        <p:spPr>
          <a:xfrm>
            <a:off x="658368"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48" name="Shape 46"/>
          <p:cNvSpPr/>
          <p:nvPr/>
        </p:nvSpPr>
        <p:spPr>
          <a:xfrm>
            <a:off x="3813048" y="4671809"/>
            <a:ext cx="146808" cy="105898"/>
          </a:xfrm>
          <a:prstGeom prst="rect">
            <a:avLst/>
          </a:prstGeom>
          <a:solidFill>
            <a:srgbClr val="12A566"/>
          </a:solidFill>
          <a:ln/>
        </p:spPr>
      </p:sp>
      <p:sp>
        <p:nvSpPr>
          <p:cNvPr id="49" name="Text 47"/>
          <p:cNvSpPr txBox="1"/>
          <p:nvPr/>
        </p:nvSpPr>
        <p:spPr>
          <a:xfrm>
            <a:off x="4709160" y="460965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+2.6%</a:t>
            </a:r>
            <a:endParaRPr lang="en-US" sz="1300" dirty="0"/>
          </a:p>
        </p:txBody>
      </p:sp>
      <p:sp>
        <p:nvSpPr>
          <p:cNvPr id="50" name="Text 48"/>
          <p:cNvSpPr txBox="1"/>
          <p:nvPr/>
        </p:nvSpPr>
        <p:spPr>
          <a:xfrm>
            <a:off x="658368"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51" name="Shape 49"/>
          <p:cNvSpPr/>
          <p:nvPr/>
        </p:nvSpPr>
        <p:spPr>
          <a:xfrm>
            <a:off x="3813048" y="4902023"/>
            <a:ext cx="144079" cy="105898"/>
          </a:xfrm>
          <a:prstGeom prst="rect">
            <a:avLst/>
          </a:prstGeom>
          <a:solidFill>
            <a:srgbClr val="12A566"/>
          </a:solidFill>
          <a:ln/>
        </p:spPr>
      </p:sp>
      <p:sp>
        <p:nvSpPr>
          <p:cNvPr id="52" name="Text 50"/>
          <p:cNvSpPr txBox="1"/>
          <p:nvPr/>
        </p:nvSpPr>
        <p:spPr>
          <a:xfrm>
            <a:off x="4709160" y="483986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+2.6%</a:t>
            </a:r>
            <a:endParaRPr lang="en-US" sz="1300" dirty="0"/>
          </a:p>
        </p:txBody>
      </p:sp>
      <p:sp>
        <p:nvSpPr>
          <p:cNvPr id="53" name="Text 51"/>
          <p:cNvSpPr txBox="1"/>
          <p:nvPr/>
        </p:nvSpPr>
        <p:spPr>
          <a:xfrm>
            <a:off x="658368"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54" name="Shape 52"/>
          <p:cNvSpPr/>
          <p:nvPr/>
        </p:nvSpPr>
        <p:spPr>
          <a:xfrm>
            <a:off x="3813048" y="5132237"/>
            <a:ext cx="132886" cy="105898"/>
          </a:xfrm>
          <a:prstGeom prst="rect">
            <a:avLst/>
          </a:prstGeom>
          <a:solidFill>
            <a:srgbClr val="12A566"/>
          </a:solidFill>
          <a:ln/>
        </p:spPr>
      </p:sp>
      <p:sp>
        <p:nvSpPr>
          <p:cNvPr id="55" name="Text 53"/>
          <p:cNvSpPr txBox="1"/>
          <p:nvPr/>
        </p:nvSpPr>
        <p:spPr>
          <a:xfrm>
            <a:off x="4709160" y="507007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+2.4%</a:t>
            </a:r>
            <a:endParaRPr lang="en-US" sz="1300" dirty="0"/>
          </a:p>
        </p:txBody>
      </p:sp>
      <p:sp>
        <p:nvSpPr>
          <p:cNvPr id="56" name="Text 54"/>
          <p:cNvSpPr txBox="1"/>
          <p:nvPr/>
        </p:nvSpPr>
        <p:spPr>
          <a:xfrm>
            <a:off x="658368"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57" name="Shape 55"/>
          <p:cNvSpPr/>
          <p:nvPr/>
        </p:nvSpPr>
        <p:spPr>
          <a:xfrm>
            <a:off x="3813048" y="5362450"/>
            <a:ext cx="94634" cy="105898"/>
          </a:xfrm>
          <a:prstGeom prst="rect">
            <a:avLst/>
          </a:prstGeom>
          <a:solidFill>
            <a:srgbClr val="12A566"/>
          </a:solidFill>
          <a:ln/>
        </p:spPr>
      </p:sp>
      <p:sp>
        <p:nvSpPr>
          <p:cNvPr id="58" name="Text 56"/>
          <p:cNvSpPr txBox="1"/>
          <p:nvPr/>
        </p:nvSpPr>
        <p:spPr>
          <a:xfrm>
            <a:off x="4709160" y="530029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+1.7%</a:t>
            </a:r>
            <a:endParaRPr lang="en-US" sz="1300" dirty="0"/>
          </a:p>
        </p:txBody>
      </p:sp>
      <p:sp>
        <p:nvSpPr>
          <p:cNvPr id="59" name="Text 57"/>
          <p:cNvSpPr txBox="1"/>
          <p:nvPr/>
        </p:nvSpPr>
        <p:spPr>
          <a:xfrm>
            <a:off x="658368" y="553050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60" name="Shape 58"/>
          <p:cNvSpPr/>
          <p:nvPr/>
        </p:nvSpPr>
        <p:spPr>
          <a:xfrm>
            <a:off x="3813048" y="5592664"/>
            <a:ext cx="81818" cy="105898"/>
          </a:xfrm>
          <a:prstGeom prst="rect">
            <a:avLst/>
          </a:prstGeom>
          <a:solidFill>
            <a:srgbClr val="12A566"/>
          </a:solidFill>
          <a:ln/>
        </p:spPr>
      </p:sp>
      <p:sp>
        <p:nvSpPr>
          <p:cNvPr id="61" name="Text 59"/>
          <p:cNvSpPr txBox="1"/>
          <p:nvPr/>
        </p:nvSpPr>
        <p:spPr>
          <a:xfrm>
            <a:off x="4709160" y="553050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+1.5%</a:t>
            </a:r>
            <a:endParaRPr lang="en-US" sz="1300" dirty="0"/>
          </a:p>
        </p:txBody>
      </p:sp>
      <p:sp>
        <p:nvSpPr>
          <p:cNvPr id="62" name="Text 60"/>
          <p:cNvSpPr txBox="1"/>
          <p:nvPr/>
        </p:nvSpPr>
        <p:spPr>
          <a:xfrm>
            <a:off x="6208776"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63" name="Shape 61"/>
          <p:cNvSpPr/>
          <p:nvPr/>
        </p:nvSpPr>
        <p:spPr>
          <a:xfrm>
            <a:off x="9363456" y="1909246"/>
            <a:ext cx="76481" cy="105898"/>
          </a:xfrm>
          <a:prstGeom prst="rect">
            <a:avLst/>
          </a:prstGeom>
          <a:solidFill>
            <a:srgbClr val="12A566"/>
          </a:solidFill>
          <a:ln/>
        </p:spPr>
      </p:sp>
      <p:sp>
        <p:nvSpPr>
          <p:cNvPr id="64" name="Text 62"/>
          <p:cNvSpPr txBox="1"/>
          <p:nvPr/>
        </p:nvSpPr>
        <p:spPr>
          <a:xfrm>
            <a:off x="10259568"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+1.4%</a:t>
            </a:r>
            <a:endParaRPr lang="en-US" sz="1300" dirty="0"/>
          </a:p>
        </p:txBody>
      </p:sp>
      <p:sp>
        <p:nvSpPr>
          <p:cNvPr id="65" name="Text 63"/>
          <p:cNvSpPr txBox="1"/>
          <p:nvPr/>
        </p:nvSpPr>
        <p:spPr>
          <a:xfrm>
            <a:off x="6208776"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66" name="Shape 64"/>
          <p:cNvSpPr/>
          <p:nvPr/>
        </p:nvSpPr>
        <p:spPr>
          <a:xfrm>
            <a:off x="9363456" y="2139459"/>
            <a:ext cx="12802" cy="105898"/>
          </a:xfrm>
          <a:prstGeom prst="rect">
            <a:avLst/>
          </a:prstGeom>
          <a:solidFill>
            <a:srgbClr val="12A566"/>
          </a:solidFill>
          <a:ln/>
        </p:spPr>
      </p:sp>
      <p:sp>
        <p:nvSpPr>
          <p:cNvPr id="67" name="Text 65"/>
          <p:cNvSpPr txBox="1"/>
          <p:nvPr/>
        </p:nvSpPr>
        <p:spPr>
          <a:xfrm>
            <a:off x="10259568"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+0.2%</a:t>
            </a:r>
            <a:endParaRPr lang="en-US" sz="1300" dirty="0"/>
          </a:p>
        </p:txBody>
      </p:sp>
      <p:sp>
        <p:nvSpPr>
          <p:cNvPr id="68" name="Text 66"/>
          <p:cNvSpPr txBox="1"/>
          <p:nvPr/>
        </p:nvSpPr>
        <p:spPr>
          <a:xfrm>
            <a:off x="6208776"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69" name="Shape 67"/>
          <p:cNvSpPr/>
          <p:nvPr/>
        </p:nvSpPr>
        <p:spPr>
          <a:xfrm>
            <a:off x="9363456" y="2369673"/>
            <a:ext cx="12802" cy="105898"/>
          </a:xfrm>
          <a:prstGeom prst="rect">
            <a:avLst/>
          </a:prstGeom>
          <a:solidFill>
            <a:srgbClr val="12A566"/>
          </a:solidFill>
          <a:ln/>
        </p:spPr>
      </p:sp>
      <p:sp>
        <p:nvSpPr>
          <p:cNvPr id="70" name="Text 68"/>
          <p:cNvSpPr txBox="1"/>
          <p:nvPr/>
        </p:nvSpPr>
        <p:spPr>
          <a:xfrm>
            <a:off x="10259568"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+0.1%</a:t>
            </a:r>
            <a:endParaRPr lang="en-US" sz="1300" dirty="0"/>
          </a:p>
        </p:txBody>
      </p:sp>
      <p:sp>
        <p:nvSpPr>
          <p:cNvPr id="71" name="Text 69"/>
          <p:cNvSpPr txBox="1"/>
          <p:nvPr/>
        </p:nvSpPr>
        <p:spPr>
          <a:xfrm>
            <a:off x="6208776"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72" name="Shape 70"/>
          <p:cNvSpPr/>
          <p:nvPr/>
        </p:nvSpPr>
        <p:spPr>
          <a:xfrm>
            <a:off x="9359121" y="2599887"/>
            <a:ext cx="12802" cy="105898"/>
          </a:xfrm>
          <a:prstGeom prst="rect">
            <a:avLst/>
          </a:prstGeom>
          <a:solidFill>
            <a:srgbClr val="C2352F"/>
          </a:solidFill>
          <a:ln/>
        </p:spPr>
      </p:sp>
      <p:sp>
        <p:nvSpPr>
          <p:cNvPr id="73" name="Text 71"/>
          <p:cNvSpPr txBox="1"/>
          <p:nvPr/>
        </p:nvSpPr>
        <p:spPr>
          <a:xfrm>
            <a:off x="10259568" y="2537729"/>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−0.1%</a:t>
            </a:r>
            <a:endParaRPr lang="en-US" sz="1300" dirty="0"/>
          </a:p>
        </p:txBody>
      </p:sp>
      <p:sp>
        <p:nvSpPr>
          <p:cNvPr id="74" name="Text 72"/>
          <p:cNvSpPr txBox="1"/>
          <p:nvPr/>
        </p:nvSpPr>
        <p:spPr>
          <a:xfrm>
            <a:off x="6208776"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75" name="Shape 73"/>
          <p:cNvSpPr/>
          <p:nvPr/>
        </p:nvSpPr>
        <p:spPr>
          <a:xfrm>
            <a:off x="9330561" y="2830100"/>
            <a:ext cx="32895" cy="105898"/>
          </a:xfrm>
          <a:prstGeom prst="rect">
            <a:avLst/>
          </a:prstGeom>
          <a:solidFill>
            <a:srgbClr val="C2352F"/>
          </a:solidFill>
          <a:ln/>
        </p:spPr>
      </p:sp>
      <p:sp>
        <p:nvSpPr>
          <p:cNvPr id="76" name="Text 74"/>
          <p:cNvSpPr txBox="1"/>
          <p:nvPr/>
        </p:nvSpPr>
        <p:spPr>
          <a:xfrm>
            <a:off x="10259568" y="276794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−0.6%</a:t>
            </a:r>
            <a:endParaRPr lang="en-US" sz="1300" dirty="0"/>
          </a:p>
        </p:txBody>
      </p:sp>
      <p:sp>
        <p:nvSpPr>
          <p:cNvPr id="77" name="Text 75"/>
          <p:cNvSpPr txBox="1"/>
          <p:nvPr/>
        </p:nvSpPr>
        <p:spPr>
          <a:xfrm>
            <a:off x="6208776"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78" name="Shape 76"/>
          <p:cNvSpPr/>
          <p:nvPr/>
        </p:nvSpPr>
        <p:spPr>
          <a:xfrm>
            <a:off x="9322226" y="3060314"/>
            <a:ext cx="41230" cy="105898"/>
          </a:xfrm>
          <a:prstGeom prst="rect">
            <a:avLst/>
          </a:prstGeom>
          <a:solidFill>
            <a:srgbClr val="C2352F"/>
          </a:solidFill>
          <a:ln/>
        </p:spPr>
      </p:sp>
      <p:sp>
        <p:nvSpPr>
          <p:cNvPr id="79" name="Text 77"/>
          <p:cNvSpPr txBox="1"/>
          <p:nvPr/>
        </p:nvSpPr>
        <p:spPr>
          <a:xfrm>
            <a:off x="10259568" y="2998156"/>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−0.7%</a:t>
            </a:r>
            <a:endParaRPr lang="en-US" sz="1300" dirty="0"/>
          </a:p>
        </p:txBody>
      </p:sp>
      <p:sp>
        <p:nvSpPr>
          <p:cNvPr id="80" name="Text 78"/>
          <p:cNvSpPr txBox="1"/>
          <p:nvPr/>
        </p:nvSpPr>
        <p:spPr>
          <a:xfrm>
            <a:off x="6208776"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81" name="Shape 79"/>
          <p:cNvSpPr/>
          <p:nvPr/>
        </p:nvSpPr>
        <p:spPr>
          <a:xfrm>
            <a:off x="9316788" y="3290528"/>
            <a:ext cx="46668" cy="105898"/>
          </a:xfrm>
          <a:prstGeom prst="rect">
            <a:avLst/>
          </a:prstGeom>
          <a:solidFill>
            <a:srgbClr val="C2352F"/>
          </a:solidFill>
          <a:ln/>
        </p:spPr>
      </p:sp>
      <p:sp>
        <p:nvSpPr>
          <p:cNvPr id="82" name="Text 80"/>
          <p:cNvSpPr txBox="1"/>
          <p:nvPr/>
        </p:nvSpPr>
        <p:spPr>
          <a:xfrm>
            <a:off x="10259568" y="3228370"/>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−0.8%</a:t>
            </a:r>
            <a:endParaRPr lang="en-US" sz="1300" dirty="0"/>
          </a:p>
        </p:txBody>
      </p:sp>
      <p:sp>
        <p:nvSpPr>
          <p:cNvPr id="83" name="Text 81"/>
          <p:cNvSpPr txBox="1"/>
          <p:nvPr/>
        </p:nvSpPr>
        <p:spPr>
          <a:xfrm>
            <a:off x="6208776"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84" name="Shape 82"/>
          <p:cNvSpPr/>
          <p:nvPr/>
        </p:nvSpPr>
        <p:spPr>
          <a:xfrm>
            <a:off x="9147402" y="3520741"/>
            <a:ext cx="216054" cy="105898"/>
          </a:xfrm>
          <a:prstGeom prst="rect">
            <a:avLst/>
          </a:prstGeom>
          <a:solidFill>
            <a:srgbClr val="C2352F"/>
          </a:solidFill>
          <a:ln/>
        </p:spPr>
      </p:sp>
      <p:sp>
        <p:nvSpPr>
          <p:cNvPr id="85" name="Text 83"/>
          <p:cNvSpPr txBox="1"/>
          <p:nvPr/>
        </p:nvSpPr>
        <p:spPr>
          <a:xfrm>
            <a:off x="10259568" y="345858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−3.9%</a:t>
            </a:r>
            <a:endParaRPr lang="en-US" sz="1300" dirty="0"/>
          </a:p>
        </p:txBody>
      </p:sp>
      <p:sp>
        <p:nvSpPr>
          <p:cNvPr id="86" name="Text 84"/>
          <p:cNvSpPr txBox="1"/>
          <p:nvPr/>
        </p:nvSpPr>
        <p:spPr>
          <a:xfrm>
            <a:off x="6208776"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87" name="Shape 85"/>
          <p:cNvSpPr/>
          <p:nvPr/>
        </p:nvSpPr>
        <p:spPr>
          <a:xfrm>
            <a:off x="9103983" y="3750955"/>
            <a:ext cx="259473" cy="105898"/>
          </a:xfrm>
          <a:prstGeom prst="rect">
            <a:avLst/>
          </a:prstGeom>
          <a:solidFill>
            <a:srgbClr val="C2352F"/>
          </a:solidFill>
          <a:ln/>
        </p:spPr>
      </p:sp>
      <p:sp>
        <p:nvSpPr>
          <p:cNvPr id="88" name="Text 86"/>
          <p:cNvSpPr txBox="1"/>
          <p:nvPr/>
        </p:nvSpPr>
        <p:spPr>
          <a:xfrm>
            <a:off x="10259568" y="3688797"/>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−4.7%</a:t>
            </a:r>
            <a:endParaRPr lang="en-US" sz="1300" dirty="0"/>
          </a:p>
        </p:txBody>
      </p:sp>
      <p:sp>
        <p:nvSpPr>
          <p:cNvPr id="89" name="Text 87"/>
          <p:cNvSpPr txBox="1"/>
          <p:nvPr/>
        </p:nvSpPr>
        <p:spPr>
          <a:xfrm>
            <a:off x="6208776"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90" name="Shape 88"/>
          <p:cNvSpPr/>
          <p:nvPr/>
        </p:nvSpPr>
        <p:spPr>
          <a:xfrm>
            <a:off x="9089171" y="3981169"/>
            <a:ext cx="274285" cy="105898"/>
          </a:xfrm>
          <a:prstGeom prst="rect">
            <a:avLst/>
          </a:prstGeom>
          <a:solidFill>
            <a:srgbClr val="C2352F"/>
          </a:solidFill>
          <a:ln/>
        </p:spPr>
      </p:sp>
      <p:sp>
        <p:nvSpPr>
          <p:cNvPr id="91" name="Text 89"/>
          <p:cNvSpPr txBox="1"/>
          <p:nvPr/>
        </p:nvSpPr>
        <p:spPr>
          <a:xfrm>
            <a:off x="10259568" y="3919011"/>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−4.9%</a:t>
            </a:r>
            <a:endParaRPr lang="en-US" sz="1300" dirty="0"/>
          </a:p>
        </p:txBody>
      </p:sp>
      <p:sp>
        <p:nvSpPr>
          <p:cNvPr id="92" name="Text 90"/>
          <p:cNvSpPr txBox="1"/>
          <p:nvPr/>
        </p:nvSpPr>
        <p:spPr>
          <a:xfrm>
            <a:off x="6208776"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93" name="Shape 91"/>
          <p:cNvSpPr/>
          <p:nvPr/>
        </p:nvSpPr>
        <p:spPr>
          <a:xfrm>
            <a:off x="9039358" y="4211382"/>
            <a:ext cx="324098" cy="105898"/>
          </a:xfrm>
          <a:prstGeom prst="rect">
            <a:avLst/>
          </a:prstGeom>
          <a:solidFill>
            <a:srgbClr val="C2352F"/>
          </a:solidFill>
          <a:ln/>
        </p:spPr>
      </p:sp>
      <p:sp>
        <p:nvSpPr>
          <p:cNvPr id="94" name="Text 92"/>
          <p:cNvSpPr txBox="1"/>
          <p:nvPr/>
        </p:nvSpPr>
        <p:spPr>
          <a:xfrm>
            <a:off x="10259568" y="414922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−5.8%</a:t>
            </a:r>
            <a:endParaRPr lang="en-US" sz="1300" dirty="0"/>
          </a:p>
        </p:txBody>
      </p:sp>
      <p:sp>
        <p:nvSpPr>
          <p:cNvPr id="95" name="Text 93"/>
          <p:cNvSpPr txBox="1"/>
          <p:nvPr/>
        </p:nvSpPr>
        <p:spPr>
          <a:xfrm>
            <a:off x="6208776"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96" name="Shape 94"/>
          <p:cNvSpPr/>
          <p:nvPr/>
        </p:nvSpPr>
        <p:spPr>
          <a:xfrm>
            <a:off x="9022391" y="4441596"/>
            <a:ext cx="341065" cy="105898"/>
          </a:xfrm>
          <a:prstGeom prst="rect">
            <a:avLst/>
          </a:prstGeom>
          <a:solidFill>
            <a:srgbClr val="C2352F"/>
          </a:solidFill>
          <a:ln/>
        </p:spPr>
      </p:sp>
      <p:sp>
        <p:nvSpPr>
          <p:cNvPr id="97" name="Text 95"/>
          <p:cNvSpPr txBox="1"/>
          <p:nvPr/>
        </p:nvSpPr>
        <p:spPr>
          <a:xfrm>
            <a:off x="10259568" y="4379438"/>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−6.1%</a:t>
            </a:r>
            <a:endParaRPr lang="en-US" sz="1300" dirty="0"/>
          </a:p>
        </p:txBody>
      </p:sp>
      <p:sp>
        <p:nvSpPr>
          <p:cNvPr id="98" name="Text 96"/>
          <p:cNvSpPr txBox="1"/>
          <p:nvPr/>
        </p:nvSpPr>
        <p:spPr>
          <a:xfrm>
            <a:off x="6208776"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99" name="Shape 97"/>
          <p:cNvSpPr/>
          <p:nvPr/>
        </p:nvSpPr>
        <p:spPr>
          <a:xfrm>
            <a:off x="8802051" y="4671809"/>
            <a:ext cx="561405" cy="105898"/>
          </a:xfrm>
          <a:prstGeom prst="rect">
            <a:avLst/>
          </a:prstGeom>
          <a:solidFill>
            <a:srgbClr val="C2352F"/>
          </a:solidFill>
          <a:ln/>
        </p:spPr>
      </p:sp>
      <p:sp>
        <p:nvSpPr>
          <p:cNvPr id="100" name="Text 98"/>
          <p:cNvSpPr txBox="1"/>
          <p:nvPr/>
        </p:nvSpPr>
        <p:spPr>
          <a:xfrm>
            <a:off x="10259568" y="4609652"/>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−10.1%</a:t>
            </a:r>
            <a:endParaRPr lang="en-US" sz="1300" dirty="0"/>
          </a:p>
        </p:txBody>
      </p:sp>
      <p:sp>
        <p:nvSpPr>
          <p:cNvPr id="101" name="Text 99"/>
          <p:cNvSpPr txBox="1"/>
          <p:nvPr/>
        </p:nvSpPr>
        <p:spPr>
          <a:xfrm>
            <a:off x="6208776"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102" name="Shape 100"/>
          <p:cNvSpPr/>
          <p:nvPr/>
        </p:nvSpPr>
        <p:spPr>
          <a:xfrm>
            <a:off x="8774771" y="4902023"/>
            <a:ext cx="588685" cy="105898"/>
          </a:xfrm>
          <a:prstGeom prst="rect">
            <a:avLst/>
          </a:prstGeom>
          <a:solidFill>
            <a:srgbClr val="C2352F"/>
          </a:solidFill>
          <a:ln/>
        </p:spPr>
      </p:sp>
      <p:sp>
        <p:nvSpPr>
          <p:cNvPr id="103" name="Text 101"/>
          <p:cNvSpPr txBox="1"/>
          <p:nvPr/>
        </p:nvSpPr>
        <p:spPr>
          <a:xfrm>
            <a:off x="10259568" y="4839865"/>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−10.6%</a:t>
            </a:r>
            <a:endParaRPr lang="en-US" sz="1300" dirty="0"/>
          </a:p>
        </p:txBody>
      </p:sp>
      <p:sp>
        <p:nvSpPr>
          <p:cNvPr id="104" name="Text 102"/>
          <p:cNvSpPr txBox="1"/>
          <p:nvPr/>
        </p:nvSpPr>
        <p:spPr>
          <a:xfrm>
            <a:off x="6208776"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105" name="Shape 103"/>
          <p:cNvSpPr/>
          <p:nvPr/>
        </p:nvSpPr>
        <p:spPr>
          <a:xfrm>
            <a:off x="8722019" y="5132237"/>
            <a:ext cx="641437" cy="105898"/>
          </a:xfrm>
          <a:prstGeom prst="rect">
            <a:avLst/>
          </a:prstGeom>
          <a:solidFill>
            <a:srgbClr val="C2352F"/>
          </a:solidFill>
          <a:ln/>
        </p:spPr>
      </p:sp>
      <p:sp>
        <p:nvSpPr>
          <p:cNvPr id="106" name="Text 104"/>
          <p:cNvSpPr txBox="1"/>
          <p:nvPr/>
        </p:nvSpPr>
        <p:spPr>
          <a:xfrm>
            <a:off x="10259568" y="5070079"/>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−11.5%</a:t>
            </a:r>
            <a:endParaRPr lang="en-US" sz="1300" dirty="0"/>
          </a:p>
        </p:txBody>
      </p:sp>
      <p:sp>
        <p:nvSpPr>
          <p:cNvPr id="107" name="Text 105"/>
          <p:cNvSpPr txBox="1"/>
          <p:nvPr/>
        </p:nvSpPr>
        <p:spPr>
          <a:xfrm>
            <a:off x="6208776"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108" name="Shape 106"/>
          <p:cNvSpPr/>
          <p:nvPr/>
        </p:nvSpPr>
        <p:spPr>
          <a:xfrm>
            <a:off x="8540496" y="5362450"/>
            <a:ext cx="822960" cy="105898"/>
          </a:xfrm>
          <a:prstGeom prst="rect">
            <a:avLst/>
          </a:prstGeom>
          <a:solidFill>
            <a:srgbClr val="C2352F"/>
          </a:solidFill>
          <a:ln/>
        </p:spPr>
      </p:sp>
      <p:sp>
        <p:nvSpPr>
          <p:cNvPr id="109" name="Text 107"/>
          <p:cNvSpPr txBox="1"/>
          <p:nvPr/>
        </p:nvSpPr>
        <p:spPr>
          <a:xfrm>
            <a:off x="10259568" y="530029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−14.7%</a:t>
            </a:r>
            <a:endParaRPr lang="en-US" sz="1300" dirty="0"/>
          </a:p>
        </p:txBody>
      </p:sp>
      <p:sp>
        <p:nvSpPr>
          <p:cNvPr id="110" name="Shape 108"/>
          <p:cNvSpPr/>
          <p:nvPr/>
        </p:nvSpPr>
        <p:spPr>
          <a:xfrm>
            <a:off x="3807562" y="1847088"/>
            <a:ext cx="10973" cy="3913632"/>
          </a:xfrm>
          <a:prstGeom prst="rect">
            <a:avLst/>
          </a:prstGeom>
          <a:solidFill>
            <a:srgbClr val="9AA3AD"/>
          </a:solidFill>
          <a:ln/>
        </p:spPr>
      </p:sp>
      <p:sp>
        <p:nvSpPr>
          <p:cNvPr id="111" name="Shape 109"/>
          <p:cNvSpPr/>
          <p:nvPr/>
        </p:nvSpPr>
        <p:spPr>
          <a:xfrm>
            <a:off x="9357970" y="1847088"/>
            <a:ext cx="10973" cy="3913632"/>
          </a:xfrm>
          <a:prstGeom prst="rect">
            <a:avLst/>
          </a:prstGeom>
          <a:solidFill>
            <a:srgbClr val="9AA3AD"/>
          </a:solidFill>
          <a:ln/>
        </p:spPr>
      </p:sp>
      <p:sp>
        <p:nvSpPr>
          <p:cNvPr id="112" name="Shape 110"/>
          <p:cNvSpPr/>
          <p:nvPr/>
        </p:nvSpPr>
        <p:spPr>
          <a:xfrm>
            <a:off x="457200" y="5961888"/>
            <a:ext cx="11274552" cy="548640"/>
          </a:xfrm>
          <a:prstGeom prst="rect">
            <a:avLst/>
          </a:prstGeom>
          <a:solidFill>
            <a:srgbClr val="E6F6EE"/>
          </a:solidFill>
          <a:ln/>
        </p:spPr>
      </p:sp>
      <p:sp>
        <p:nvSpPr>
          <p:cNvPr id="113" name="Text 111"/>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20 of 33 stores grew CP RO count, led by KIA LV at +13.7% to 8,133. 13 declined; VW ST GEORGE fell most at −14.7%.</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Hours per RO</a:t>
            </a:r>
            <a:endParaRPr lang="en-US" sz="2800" dirty="0"/>
          </a:p>
        </p:txBody>
      </p:sp>
      <p:sp>
        <p:nvSpPr>
          <p:cNvPr id="5" name="Shape 3"/>
          <p:cNvSpPr/>
          <p:nvPr/>
        </p:nvSpPr>
        <p:spPr>
          <a:xfrm>
            <a:off x="457200" y="1207008"/>
            <a:ext cx="11274552" cy="1517904"/>
          </a:xfrm>
          <a:prstGeom prst="rect">
            <a:avLst/>
          </a:prstGeom>
          <a:solidFill>
            <a:srgbClr val="FFFFFF"/>
          </a:solidFill>
          <a:ln/>
        </p:spPr>
      </p:sp>
      <p:sp>
        <p:nvSpPr>
          <p:cNvPr id="6" name="Text 4"/>
          <p:cNvSpPr txBox="1"/>
          <p:nvPr/>
        </p:nvSpPr>
        <p:spPr>
          <a:xfrm>
            <a:off x="685800" y="1316736"/>
            <a:ext cx="10789920" cy="274320"/>
          </a:xfrm>
          <a:prstGeom prst="rect">
            <a:avLst/>
          </a:prstGeom>
          <a:noFill/>
          <a:ln/>
        </p:spPr>
        <p:txBody>
          <a:bodyPr wrap="square" lIns="0" tIns="0" rIns="0" bIns="0" rtlCol="0" anchor="ctr"/>
          <a:lstStyle/>
          <a:p>
            <a:pPr indent="0" marL="0">
              <a:buNone/>
            </a:pPr>
            <a:r>
              <a:rPr lang="en-US" sz="1400" spc="100" kern="0" dirty="0">
                <a:solidFill>
                  <a:srgbClr val="595959"/>
                </a:solidFill>
                <a:latin typeface="Inter" pitchFamily="34" charset="0"/>
                <a:ea typeface="Inter" pitchFamily="34" charset="-122"/>
                <a:cs typeface="Inter" pitchFamily="34" charset="-120"/>
              </a:rPr>
              <a:t>GROUP · JANUARY–SEPTEMBER · SAME-STORE, 33 STORES</a:t>
            </a:r>
            <a:endParaRPr lang="en-US" sz="1400" dirty="0"/>
          </a:p>
        </p:txBody>
      </p:sp>
      <p:sp>
        <p:nvSpPr>
          <p:cNvPr id="7" name="Text 5"/>
          <p:cNvSpPr txBox="1"/>
          <p:nvPr/>
        </p:nvSpPr>
        <p:spPr>
          <a:xfrm>
            <a:off x="68580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a:t>
            </a:r>
            <a:endParaRPr lang="en-US" sz="1400" dirty="0"/>
          </a:p>
        </p:txBody>
      </p:sp>
      <p:sp>
        <p:nvSpPr>
          <p:cNvPr id="8" name="Text 6"/>
          <p:cNvSpPr txBox="1"/>
          <p:nvPr/>
        </p:nvSpPr>
        <p:spPr>
          <a:xfrm>
            <a:off x="68580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1.80</a:t>
            </a:r>
            <a:endParaRPr lang="en-US" sz="3000" dirty="0"/>
          </a:p>
        </p:txBody>
      </p:sp>
      <p:sp>
        <p:nvSpPr>
          <p:cNvPr id="9" name="Text 7"/>
          <p:cNvSpPr txBox="1"/>
          <p:nvPr/>
        </p:nvSpPr>
        <p:spPr>
          <a:xfrm>
            <a:off x="347472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a:t>
            </a:r>
            <a:endParaRPr lang="en-US" sz="1400" dirty="0"/>
          </a:p>
        </p:txBody>
      </p:sp>
      <p:sp>
        <p:nvSpPr>
          <p:cNvPr id="10" name="Text 8"/>
          <p:cNvSpPr txBox="1"/>
          <p:nvPr/>
        </p:nvSpPr>
        <p:spPr>
          <a:xfrm>
            <a:off x="347472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1.87</a:t>
            </a:r>
            <a:endParaRPr lang="en-US" sz="3000" dirty="0"/>
          </a:p>
        </p:txBody>
      </p:sp>
      <p:sp>
        <p:nvSpPr>
          <p:cNvPr id="11" name="Text 9"/>
          <p:cNvSpPr txBox="1"/>
          <p:nvPr/>
        </p:nvSpPr>
        <p:spPr>
          <a:xfrm>
            <a:off x="626364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2" name="Text 10"/>
          <p:cNvSpPr txBox="1"/>
          <p:nvPr/>
        </p:nvSpPr>
        <p:spPr>
          <a:xfrm>
            <a:off x="626364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+0.07</a:t>
            </a:r>
            <a:endParaRPr lang="en-US" sz="3000" dirty="0"/>
          </a:p>
        </p:txBody>
      </p:sp>
      <p:sp>
        <p:nvSpPr>
          <p:cNvPr id="13" name="Text 11"/>
          <p:cNvSpPr txBox="1"/>
          <p:nvPr/>
        </p:nvSpPr>
        <p:spPr>
          <a:xfrm>
            <a:off x="905256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4" name="Text 12"/>
          <p:cNvSpPr txBox="1"/>
          <p:nvPr/>
        </p:nvSpPr>
        <p:spPr>
          <a:xfrm>
            <a:off x="905256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+3.6%</a:t>
            </a:r>
            <a:endParaRPr lang="en-US" sz="30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57200" y="2816352"/>
          <a:ext cx="11274552" cy="914400"/>
        </p:xfrm>
        <a:graphic>
          <a:graphicData uri="http://schemas.openxmlformats.org/drawingml/2006/table">
            <a:tbl>
              <a:tblPr/>
              <a:tblGrid>
                <a:gridCol w="3118104"/>
                <a:gridCol w="2039112"/>
                <a:gridCol w="2039112"/>
                <a:gridCol w="2039112"/>
                <a:gridCol w="2039112"/>
              </a:tblGrid>
              <a:tr h="274320">
                <a:tc>
                  <a:txBody>
                    <a:bodyPr/>
                    <a:lstStyle/>
                    <a:p>
                      <a:pPr algn="l" indent="0" marL="0">
                        <a:buNone/>
                      </a:pPr>
                      <a:r>
                        <a:rPr lang="en-US" sz="1400" b="1" dirty="0">
                          <a:solidFill>
                            <a:srgbClr val="FFFFFF"/>
                          </a:solidFill>
                          <a:latin typeface="Inter" pitchFamily="34" charset="0"/>
                          <a:ea typeface="Inter" pitchFamily="34" charset="-122"/>
                          <a:cs typeface="Inter" pitchFamily="34" charset="-120"/>
                        </a:rPr>
                        <a:t>MONTH</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VARIANCE</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 %</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JAN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1.79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1.81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+0.03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FEB</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1.82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1.90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+0.08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1.83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1.91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+0.08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APR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1.83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1.94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+0.11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+5.9%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MAY</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1.82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1.89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+0.07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1.81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1.87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+0.06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JUL</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1.78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1.87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+0.09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AUG</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1.78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1.84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+0.06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SEP</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1.78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1.80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+0.02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16" name="Shape 13"/>
          <p:cNvSpPr/>
          <p:nvPr/>
        </p:nvSpPr>
        <p:spPr>
          <a:xfrm>
            <a:off x="457200" y="5961888"/>
            <a:ext cx="11274552" cy="548640"/>
          </a:xfrm>
          <a:prstGeom prst="rect">
            <a:avLst/>
          </a:prstGeom>
          <a:solidFill>
            <a:srgbClr val="E6F6EE"/>
          </a:solidFill>
          <a:ln/>
        </p:spPr>
      </p:sp>
      <p:sp>
        <p:nvSpPr>
          <p:cNvPr id="17" name="Text 14"/>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Up 0.07 to 1.87, ahead of 2025 in all nine months. Each 0.1 hour per RO is worth $4,543,691 of labor at the 2026 ELR.</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Hours per RO</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316736"/>
            <a:ext cx="3383280" cy="32918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LUXURY · 9 STORES</a:t>
            </a:r>
            <a:endParaRPr lang="en-US" sz="1400" dirty="0"/>
          </a:p>
        </p:txBody>
      </p:sp>
      <p:sp>
        <p:nvSpPr>
          <p:cNvPr id="7" name="Text 5"/>
          <p:cNvSpPr txBox="1"/>
          <p:nvPr/>
        </p:nvSpPr>
        <p:spPr>
          <a:xfrm>
            <a:off x="658368" y="1755648"/>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8" name="Shape 6"/>
          <p:cNvSpPr/>
          <p:nvPr/>
        </p:nvSpPr>
        <p:spPr>
          <a:xfrm>
            <a:off x="2267712" y="1832317"/>
            <a:ext cx="1030941" cy="153338"/>
          </a:xfrm>
          <a:prstGeom prst="rect">
            <a:avLst/>
          </a:prstGeom>
          <a:solidFill>
            <a:srgbClr val="12A566"/>
          </a:solidFill>
          <a:ln/>
        </p:spPr>
      </p:sp>
      <p:sp>
        <p:nvSpPr>
          <p:cNvPr id="9" name="Text 7"/>
          <p:cNvSpPr txBox="1"/>
          <p:nvPr/>
        </p:nvSpPr>
        <p:spPr>
          <a:xfrm>
            <a:off x="3355848" y="1755648"/>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3.99</a:t>
            </a:r>
            <a:endParaRPr lang="en-US" sz="1300" dirty="0"/>
          </a:p>
        </p:txBody>
      </p:sp>
      <p:sp>
        <p:nvSpPr>
          <p:cNvPr id="10" name="Text 8"/>
          <p:cNvSpPr txBox="1"/>
          <p:nvPr/>
        </p:nvSpPr>
        <p:spPr>
          <a:xfrm>
            <a:off x="658368" y="2062324"/>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11" name="Shape 9"/>
          <p:cNvSpPr/>
          <p:nvPr/>
        </p:nvSpPr>
        <p:spPr>
          <a:xfrm>
            <a:off x="2267712" y="2138993"/>
            <a:ext cx="1030041" cy="153338"/>
          </a:xfrm>
          <a:prstGeom prst="rect">
            <a:avLst/>
          </a:prstGeom>
          <a:solidFill>
            <a:srgbClr val="12A566"/>
          </a:solidFill>
          <a:ln/>
        </p:spPr>
      </p:sp>
      <p:sp>
        <p:nvSpPr>
          <p:cNvPr id="12" name="Text 10"/>
          <p:cNvSpPr txBox="1"/>
          <p:nvPr/>
        </p:nvSpPr>
        <p:spPr>
          <a:xfrm>
            <a:off x="3355848" y="2062324"/>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3.99</a:t>
            </a:r>
            <a:endParaRPr lang="en-US" sz="1300" dirty="0"/>
          </a:p>
        </p:txBody>
      </p:sp>
      <p:sp>
        <p:nvSpPr>
          <p:cNvPr id="13" name="Text 11"/>
          <p:cNvSpPr txBox="1"/>
          <p:nvPr/>
        </p:nvSpPr>
        <p:spPr>
          <a:xfrm>
            <a:off x="658368" y="2368999"/>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14" name="Shape 12"/>
          <p:cNvSpPr/>
          <p:nvPr/>
        </p:nvSpPr>
        <p:spPr>
          <a:xfrm>
            <a:off x="2267712" y="2445668"/>
            <a:ext cx="900016" cy="153338"/>
          </a:xfrm>
          <a:prstGeom prst="rect">
            <a:avLst/>
          </a:prstGeom>
          <a:solidFill>
            <a:srgbClr val="12A566"/>
          </a:solidFill>
          <a:ln/>
        </p:spPr>
      </p:sp>
      <p:sp>
        <p:nvSpPr>
          <p:cNvPr id="15" name="Text 13"/>
          <p:cNvSpPr txBox="1"/>
          <p:nvPr/>
        </p:nvSpPr>
        <p:spPr>
          <a:xfrm>
            <a:off x="3355848" y="2368999"/>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3.48</a:t>
            </a:r>
            <a:endParaRPr lang="en-US" sz="1300" dirty="0"/>
          </a:p>
        </p:txBody>
      </p:sp>
      <p:sp>
        <p:nvSpPr>
          <p:cNvPr id="16" name="Text 14"/>
          <p:cNvSpPr txBox="1"/>
          <p:nvPr/>
        </p:nvSpPr>
        <p:spPr>
          <a:xfrm>
            <a:off x="658368" y="2675675"/>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17" name="Shape 15"/>
          <p:cNvSpPr/>
          <p:nvPr/>
        </p:nvSpPr>
        <p:spPr>
          <a:xfrm>
            <a:off x="2267712" y="2752344"/>
            <a:ext cx="899733" cy="153338"/>
          </a:xfrm>
          <a:prstGeom prst="rect">
            <a:avLst/>
          </a:prstGeom>
          <a:solidFill>
            <a:srgbClr val="12A566"/>
          </a:solidFill>
          <a:ln/>
        </p:spPr>
      </p:sp>
      <p:sp>
        <p:nvSpPr>
          <p:cNvPr id="18" name="Text 16"/>
          <p:cNvSpPr txBox="1"/>
          <p:nvPr/>
        </p:nvSpPr>
        <p:spPr>
          <a:xfrm>
            <a:off x="3355848" y="2675675"/>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3.48</a:t>
            </a:r>
            <a:endParaRPr lang="en-US" sz="1300" dirty="0"/>
          </a:p>
        </p:txBody>
      </p:sp>
      <p:sp>
        <p:nvSpPr>
          <p:cNvPr id="19" name="Shape 17"/>
          <p:cNvSpPr/>
          <p:nvPr/>
        </p:nvSpPr>
        <p:spPr>
          <a:xfrm>
            <a:off x="603504" y="2982351"/>
            <a:ext cx="3566160" cy="297532"/>
          </a:xfrm>
          <a:prstGeom prst="rect">
            <a:avLst/>
          </a:prstGeom>
          <a:solidFill>
            <a:srgbClr val="EDF4FA"/>
          </a:solidFill>
          <a:ln/>
        </p:spPr>
      </p:sp>
      <p:sp>
        <p:nvSpPr>
          <p:cNvPr id="20" name="Text 18"/>
          <p:cNvSpPr txBox="1"/>
          <p:nvPr/>
        </p:nvSpPr>
        <p:spPr>
          <a:xfrm>
            <a:off x="658368" y="2982351"/>
            <a:ext cx="1554480" cy="306676"/>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LUXURY</a:t>
            </a:r>
            <a:endParaRPr lang="en-US" sz="1300" dirty="0"/>
          </a:p>
        </p:txBody>
      </p:sp>
      <p:sp>
        <p:nvSpPr>
          <p:cNvPr id="21" name="Shape 19"/>
          <p:cNvSpPr/>
          <p:nvPr/>
        </p:nvSpPr>
        <p:spPr>
          <a:xfrm>
            <a:off x="2267712" y="3059020"/>
            <a:ext cx="749289" cy="153338"/>
          </a:xfrm>
          <a:prstGeom prst="rect">
            <a:avLst/>
          </a:prstGeom>
          <a:solidFill>
            <a:srgbClr val="0B2C4A"/>
          </a:solidFill>
          <a:ln/>
        </p:spPr>
      </p:sp>
      <p:sp>
        <p:nvSpPr>
          <p:cNvPr id="22" name="Text 20"/>
          <p:cNvSpPr txBox="1"/>
          <p:nvPr/>
        </p:nvSpPr>
        <p:spPr>
          <a:xfrm>
            <a:off x="3355848" y="2982351"/>
            <a:ext cx="777240" cy="306676"/>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2.90</a:t>
            </a:r>
            <a:endParaRPr lang="en-US" sz="1300" dirty="0"/>
          </a:p>
        </p:txBody>
      </p:sp>
      <p:sp>
        <p:nvSpPr>
          <p:cNvPr id="23" name="Text 21"/>
          <p:cNvSpPr txBox="1"/>
          <p:nvPr/>
        </p:nvSpPr>
        <p:spPr>
          <a:xfrm>
            <a:off x="658368" y="3289026"/>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24" name="Shape 22"/>
          <p:cNvSpPr/>
          <p:nvPr/>
        </p:nvSpPr>
        <p:spPr>
          <a:xfrm>
            <a:off x="2267712" y="3365695"/>
            <a:ext cx="705361" cy="153338"/>
          </a:xfrm>
          <a:prstGeom prst="rect">
            <a:avLst/>
          </a:prstGeom>
          <a:solidFill>
            <a:srgbClr val="C2352F"/>
          </a:solidFill>
          <a:ln/>
        </p:spPr>
      </p:sp>
      <p:sp>
        <p:nvSpPr>
          <p:cNvPr id="25" name="Text 23"/>
          <p:cNvSpPr txBox="1"/>
          <p:nvPr/>
        </p:nvSpPr>
        <p:spPr>
          <a:xfrm>
            <a:off x="3355848" y="3289026"/>
            <a:ext cx="777240"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2.73</a:t>
            </a:r>
            <a:endParaRPr lang="en-US" sz="1300" dirty="0"/>
          </a:p>
        </p:txBody>
      </p:sp>
      <p:sp>
        <p:nvSpPr>
          <p:cNvPr id="26" name="Text 24"/>
          <p:cNvSpPr txBox="1"/>
          <p:nvPr/>
        </p:nvSpPr>
        <p:spPr>
          <a:xfrm>
            <a:off x="658368" y="3595702"/>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27" name="Shape 25"/>
          <p:cNvSpPr/>
          <p:nvPr/>
        </p:nvSpPr>
        <p:spPr>
          <a:xfrm>
            <a:off x="2267712" y="3672371"/>
            <a:ext cx="704590" cy="153338"/>
          </a:xfrm>
          <a:prstGeom prst="rect">
            <a:avLst/>
          </a:prstGeom>
          <a:solidFill>
            <a:srgbClr val="C2352F"/>
          </a:solidFill>
          <a:ln/>
        </p:spPr>
      </p:sp>
      <p:sp>
        <p:nvSpPr>
          <p:cNvPr id="28" name="Text 26"/>
          <p:cNvSpPr txBox="1"/>
          <p:nvPr/>
        </p:nvSpPr>
        <p:spPr>
          <a:xfrm>
            <a:off x="3355848" y="3595702"/>
            <a:ext cx="777240"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2.73</a:t>
            </a:r>
            <a:endParaRPr lang="en-US" sz="1300" dirty="0"/>
          </a:p>
        </p:txBody>
      </p:sp>
      <p:sp>
        <p:nvSpPr>
          <p:cNvPr id="29" name="Text 27"/>
          <p:cNvSpPr txBox="1"/>
          <p:nvPr/>
        </p:nvSpPr>
        <p:spPr>
          <a:xfrm>
            <a:off x="658368" y="3902378"/>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30" name="Shape 28"/>
          <p:cNvSpPr/>
          <p:nvPr/>
        </p:nvSpPr>
        <p:spPr>
          <a:xfrm>
            <a:off x="2267712" y="3979047"/>
            <a:ext cx="641802" cy="153338"/>
          </a:xfrm>
          <a:prstGeom prst="rect">
            <a:avLst/>
          </a:prstGeom>
          <a:solidFill>
            <a:srgbClr val="C2352F"/>
          </a:solidFill>
          <a:ln/>
        </p:spPr>
      </p:sp>
      <p:sp>
        <p:nvSpPr>
          <p:cNvPr id="31" name="Text 29"/>
          <p:cNvSpPr txBox="1"/>
          <p:nvPr/>
        </p:nvSpPr>
        <p:spPr>
          <a:xfrm>
            <a:off x="3355848" y="3902378"/>
            <a:ext cx="777240"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2.48</a:t>
            </a:r>
            <a:endParaRPr lang="en-US" sz="1300" dirty="0"/>
          </a:p>
        </p:txBody>
      </p:sp>
      <p:sp>
        <p:nvSpPr>
          <p:cNvPr id="32" name="Text 30"/>
          <p:cNvSpPr txBox="1"/>
          <p:nvPr/>
        </p:nvSpPr>
        <p:spPr>
          <a:xfrm>
            <a:off x="658368" y="4209054"/>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33" name="Shape 31"/>
          <p:cNvSpPr/>
          <p:nvPr/>
        </p:nvSpPr>
        <p:spPr>
          <a:xfrm>
            <a:off x="2267712" y="4285722"/>
            <a:ext cx="588446" cy="153338"/>
          </a:xfrm>
          <a:prstGeom prst="rect">
            <a:avLst/>
          </a:prstGeom>
          <a:solidFill>
            <a:srgbClr val="C2352F"/>
          </a:solidFill>
          <a:ln/>
        </p:spPr>
      </p:sp>
      <p:sp>
        <p:nvSpPr>
          <p:cNvPr id="34" name="Text 32"/>
          <p:cNvSpPr txBox="1"/>
          <p:nvPr/>
        </p:nvSpPr>
        <p:spPr>
          <a:xfrm>
            <a:off x="3355848" y="4209054"/>
            <a:ext cx="777240"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2.28</a:t>
            </a:r>
            <a:endParaRPr lang="en-US" sz="1300" dirty="0"/>
          </a:p>
        </p:txBody>
      </p:sp>
      <p:sp>
        <p:nvSpPr>
          <p:cNvPr id="35" name="Text 33"/>
          <p:cNvSpPr txBox="1"/>
          <p:nvPr/>
        </p:nvSpPr>
        <p:spPr>
          <a:xfrm>
            <a:off x="658368" y="4515729"/>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36" name="Shape 34"/>
          <p:cNvSpPr/>
          <p:nvPr/>
        </p:nvSpPr>
        <p:spPr>
          <a:xfrm>
            <a:off x="2267712" y="4592398"/>
            <a:ext cx="538154" cy="153338"/>
          </a:xfrm>
          <a:prstGeom prst="rect">
            <a:avLst/>
          </a:prstGeom>
          <a:solidFill>
            <a:srgbClr val="C2352F"/>
          </a:solidFill>
          <a:ln/>
        </p:spPr>
      </p:sp>
      <p:sp>
        <p:nvSpPr>
          <p:cNvPr id="37" name="Text 35"/>
          <p:cNvSpPr txBox="1"/>
          <p:nvPr/>
        </p:nvSpPr>
        <p:spPr>
          <a:xfrm>
            <a:off x="3355848" y="4515729"/>
            <a:ext cx="777240"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2.08</a:t>
            </a:r>
            <a:endParaRPr lang="en-US" sz="1300" dirty="0"/>
          </a:p>
        </p:txBody>
      </p:sp>
      <p:sp>
        <p:nvSpPr>
          <p:cNvPr id="38" name="Text 36"/>
          <p:cNvSpPr txBox="1"/>
          <p:nvPr/>
        </p:nvSpPr>
        <p:spPr>
          <a:xfrm>
            <a:off x="658368" y="4950421"/>
            <a:ext cx="3383280" cy="36576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LUXURY AVG  </a:t>
            </a:r>
            <a:pPr indent="0" marL="0">
              <a:buNone/>
            </a:pPr>
            <a:r>
              <a:rPr lang="en-US" sz="1800" b="1" dirty="0">
                <a:solidFill>
                  <a:srgbClr val="0B2C4A"/>
                </a:solidFill>
                <a:latin typeface="Inter" pitchFamily="34" charset="0"/>
                <a:ea typeface="Inter" pitchFamily="34" charset="-122"/>
                <a:cs typeface="Inter" pitchFamily="34" charset="-120"/>
              </a:rPr>
              <a:t>2.90  </a:t>
            </a:r>
            <a:pPr indent="0" marL="0">
              <a:buNone/>
            </a:pPr>
            <a:r>
              <a:rPr lang="en-US" sz="1400" b="1" dirty="0">
                <a:solidFill>
                  <a:srgbClr val="0B7A4A"/>
                </a:solidFill>
                <a:latin typeface="Inter" pitchFamily="34" charset="0"/>
                <a:ea typeface="Inter" pitchFamily="34" charset="-122"/>
                <a:cs typeface="Inter" pitchFamily="34" charset="-120"/>
              </a:rPr>
              <a:t>(+0.06)</a:t>
            </a:r>
            <a:endParaRPr lang="en-US" sz="1400" dirty="0"/>
          </a:p>
        </p:txBody>
      </p:sp>
      <p:sp>
        <p:nvSpPr>
          <p:cNvPr id="39" name="Text 37"/>
          <p:cNvSpPr txBox="1"/>
          <p:nvPr/>
        </p:nvSpPr>
        <p:spPr>
          <a:xfrm>
            <a:off x="658368" y="5334469"/>
            <a:ext cx="3383280" cy="36576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NON-LUXURY AVG  </a:t>
            </a:r>
            <a:pPr indent="0" marL="0">
              <a:buNone/>
            </a:pPr>
            <a:r>
              <a:rPr lang="en-US" sz="1800" b="1" dirty="0">
                <a:solidFill>
                  <a:srgbClr val="0B2C4A"/>
                </a:solidFill>
                <a:latin typeface="Inter" pitchFamily="34" charset="0"/>
                <a:ea typeface="Inter" pitchFamily="34" charset="-122"/>
                <a:cs typeface="Inter" pitchFamily="34" charset="-120"/>
              </a:rPr>
              <a:t>1.75  </a:t>
            </a:r>
            <a:pPr indent="0" marL="0">
              <a:buNone/>
            </a:pPr>
            <a:r>
              <a:rPr lang="en-US" sz="1400" b="1" dirty="0">
                <a:solidFill>
                  <a:srgbClr val="0B7A4A"/>
                </a:solidFill>
                <a:latin typeface="Inter" pitchFamily="34" charset="0"/>
                <a:ea typeface="Inter" pitchFamily="34" charset="-122"/>
                <a:cs typeface="Inter" pitchFamily="34" charset="-120"/>
              </a:rPr>
              <a:t>(+0.06)</a:t>
            </a:r>
            <a:endParaRPr lang="en-US" sz="1400" dirty="0"/>
          </a:p>
        </p:txBody>
      </p:sp>
      <p:sp>
        <p:nvSpPr>
          <p:cNvPr id="40" name="Text 38"/>
          <p:cNvSpPr txBox="1"/>
          <p:nvPr/>
        </p:nvSpPr>
        <p:spPr>
          <a:xfrm>
            <a:off x="4315968" y="1316736"/>
            <a:ext cx="7132320" cy="32918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NON-LUXURY · 24 STORES</a:t>
            </a:r>
            <a:endParaRPr lang="en-US" sz="1400" dirty="0"/>
          </a:p>
        </p:txBody>
      </p:sp>
      <p:sp>
        <p:nvSpPr>
          <p:cNvPr id="41" name="Text 39"/>
          <p:cNvSpPr txBox="1"/>
          <p:nvPr/>
        </p:nvSpPr>
        <p:spPr>
          <a:xfrm>
            <a:off x="4315968" y="1755648"/>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42" name="Shape 40"/>
          <p:cNvSpPr/>
          <p:nvPr/>
        </p:nvSpPr>
        <p:spPr>
          <a:xfrm>
            <a:off x="6291072" y="1832317"/>
            <a:ext cx="627529" cy="153338"/>
          </a:xfrm>
          <a:prstGeom prst="rect">
            <a:avLst/>
          </a:prstGeom>
          <a:solidFill>
            <a:srgbClr val="12A566"/>
          </a:solidFill>
          <a:ln/>
        </p:spPr>
      </p:sp>
      <p:sp>
        <p:nvSpPr>
          <p:cNvPr id="43" name="Text 41"/>
          <p:cNvSpPr txBox="1"/>
          <p:nvPr/>
        </p:nvSpPr>
        <p:spPr>
          <a:xfrm>
            <a:off x="6967728" y="1755648"/>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2.49</a:t>
            </a:r>
            <a:endParaRPr lang="en-US" sz="1300" dirty="0"/>
          </a:p>
        </p:txBody>
      </p:sp>
      <p:sp>
        <p:nvSpPr>
          <p:cNvPr id="44" name="Text 42"/>
          <p:cNvSpPr txBox="1"/>
          <p:nvPr/>
        </p:nvSpPr>
        <p:spPr>
          <a:xfrm>
            <a:off x="4315968" y="2062324"/>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45" name="Shape 43"/>
          <p:cNvSpPr/>
          <p:nvPr/>
        </p:nvSpPr>
        <p:spPr>
          <a:xfrm>
            <a:off x="6291072" y="2138993"/>
            <a:ext cx="579287" cy="153338"/>
          </a:xfrm>
          <a:prstGeom prst="rect">
            <a:avLst/>
          </a:prstGeom>
          <a:solidFill>
            <a:srgbClr val="12A566"/>
          </a:solidFill>
          <a:ln/>
        </p:spPr>
      </p:sp>
      <p:sp>
        <p:nvSpPr>
          <p:cNvPr id="46" name="Text 44"/>
          <p:cNvSpPr txBox="1"/>
          <p:nvPr/>
        </p:nvSpPr>
        <p:spPr>
          <a:xfrm>
            <a:off x="6967728" y="2062324"/>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2.30</a:t>
            </a:r>
            <a:endParaRPr lang="en-US" sz="1300" dirty="0"/>
          </a:p>
        </p:txBody>
      </p:sp>
      <p:sp>
        <p:nvSpPr>
          <p:cNvPr id="47" name="Text 45"/>
          <p:cNvSpPr txBox="1"/>
          <p:nvPr/>
        </p:nvSpPr>
        <p:spPr>
          <a:xfrm>
            <a:off x="4315968" y="2368999"/>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48" name="Shape 46"/>
          <p:cNvSpPr/>
          <p:nvPr/>
        </p:nvSpPr>
        <p:spPr>
          <a:xfrm>
            <a:off x="6291072" y="2445668"/>
            <a:ext cx="579196" cy="153338"/>
          </a:xfrm>
          <a:prstGeom prst="rect">
            <a:avLst/>
          </a:prstGeom>
          <a:solidFill>
            <a:srgbClr val="12A566"/>
          </a:solidFill>
          <a:ln/>
        </p:spPr>
      </p:sp>
      <p:sp>
        <p:nvSpPr>
          <p:cNvPr id="49" name="Text 47"/>
          <p:cNvSpPr txBox="1"/>
          <p:nvPr/>
        </p:nvSpPr>
        <p:spPr>
          <a:xfrm>
            <a:off x="6967728" y="2368999"/>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2.30</a:t>
            </a:r>
            <a:endParaRPr lang="en-US" sz="1300" dirty="0"/>
          </a:p>
        </p:txBody>
      </p:sp>
      <p:sp>
        <p:nvSpPr>
          <p:cNvPr id="50" name="Text 48"/>
          <p:cNvSpPr txBox="1"/>
          <p:nvPr/>
        </p:nvSpPr>
        <p:spPr>
          <a:xfrm>
            <a:off x="4315968" y="2675675"/>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51" name="Shape 49"/>
          <p:cNvSpPr/>
          <p:nvPr/>
        </p:nvSpPr>
        <p:spPr>
          <a:xfrm>
            <a:off x="6291072" y="2752344"/>
            <a:ext cx="554590" cy="153338"/>
          </a:xfrm>
          <a:prstGeom prst="rect">
            <a:avLst/>
          </a:prstGeom>
          <a:solidFill>
            <a:srgbClr val="12A566"/>
          </a:solidFill>
          <a:ln/>
        </p:spPr>
      </p:sp>
      <p:sp>
        <p:nvSpPr>
          <p:cNvPr id="52" name="Text 50"/>
          <p:cNvSpPr txBox="1"/>
          <p:nvPr/>
        </p:nvSpPr>
        <p:spPr>
          <a:xfrm>
            <a:off x="6967728" y="2675675"/>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2.20</a:t>
            </a:r>
            <a:endParaRPr lang="en-US" sz="1300" dirty="0"/>
          </a:p>
        </p:txBody>
      </p:sp>
      <p:sp>
        <p:nvSpPr>
          <p:cNvPr id="53" name="Text 51"/>
          <p:cNvSpPr txBox="1"/>
          <p:nvPr/>
        </p:nvSpPr>
        <p:spPr>
          <a:xfrm>
            <a:off x="4315968" y="2982351"/>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54" name="Shape 52"/>
          <p:cNvSpPr/>
          <p:nvPr/>
        </p:nvSpPr>
        <p:spPr>
          <a:xfrm>
            <a:off x="6291072" y="3059020"/>
            <a:ext cx="531685" cy="153338"/>
          </a:xfrm>
          <a:prstGeom prst="rect">
            <a:avLst/>
          </a:prstGeom>
          <a:solidFill>
            <a:srgbClr val="12A566"/>
          </a:solidFill>
          <a:ln/>
        </p:spPr>
      </p:sp>
      <p:sp>
        <p:nvSpPr>
          <p:cNvPr id="55" name="Text 53"/>
          <p:cNvSpPr txBox="1"/>
          <p:nvPr/>
        </p:nvSpPr>
        <p:spPr>
          <a:xfrm>
            <a:off x="6967728" y="2982351"/>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2.11</a:t>
            </a:r>
            <a:endParaRPr lang="en-US" sz="1300" dirty="0"/>
          </a:p>
        </p:txBody>
      </p:sp>
      <p:sp>
        <p:nvSpPr>
          <p:cNvPr id="56" name="Text 54"/>
          <p:cNvSpPr txBox="1"/>
          <p:nvPr/>
        </p:nvSpPr>
        <p:spPr>
          <a:xfrm>
            <a:off x="4315968" y="3289026"/>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57" name="Shape 55"/>
          <p:cNvSpPr/>
          <p:nvPr/>
        </p:nvSpPr>
        <p:spPr>
          <a:xfrm>
            <a:off x="6291072" y="3365695"/>
            <a:ext cx="508980" cy="153338"/>
          </a:xfrm>
          <a:prstGeom prst="rect">
            <a:avLst/>
          </a:prstGeom>
          <a:solidFill>
            <a:srgbClr val="12A566"/>
          </a:solidFill>
          <a:ln/>
        </p:spPr>
      </p:sp>
      <p:sp>
        <p:nvSpPr>
          <p:cNvPr id="58" name="Text 56"/>
          <p:cNvSpPr txBox="1"/>
          <p:nvPr/>
        </p:nvSpPr>
        <p:spPr>
          <a:xfrm>
            <a:off x="6967728" y="3289026"/>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2.02</a:t>
            </a:r>
            <a:endParaRPr lang="en-US" sz="1300" dirty="0"/>
          </a:p>
        </p:txBody>
      </p:sp>
      <p:sp>
        <p:nvSpPr>
          <p:cNvPr id="59" name="Text 57"/>
          <p:cNvSpPr txBox="1"/>
          <p:nvPr/>
        </p:nvSpPr>
        <p:spPr>
          <a:xfrm>
            <a:off x="4315968" y="3595702"/>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60" name="Shape 58"/>
          <p:cNvSpPr/>
          <p:nvPr/>
        </p:nvSpPr>
        <p:spPr>
          <a:xfrm>
            <a:off x="6291072" y="3672371"/>
            <a:ext cx="505731" cy="153338"/>
          </a:xfrm>
          <a:prstGeom prst="rect">
            <a:avLst/>
          </a:prstGeom>
          <a:solidFill>
            <a:srgbClr val="12A566"/>
          </a:solidFill>
          <a:ln/>
        </p:spPr>
      </p:sp>
      <p:sp>
        <p:nvSpPr>
          <p:cNvPr id="61" name="Text 59"/>
          <p:cNvSpPr txBox="1"/>
          <p:nvPr/>
        </p:nvSpPr>
        <p:spPr>
          <a:xfrm>
            <a:off x="6967728" y="3595702"/>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2.01</a:t>
            </a:r>
            <a:endParaRPr lang="en-US" sz="1300" dirty="0"/>
          </a:p>
        </p:txBody>
      </p:sp>
      <p:sp>
        <p:nvSpPr>
          <p:cNvPr id="62" name="Text 60"/>
          <p:cNvSpPr txBox="1"/>
          <p:nvPr/>
        </p:nvSpPr>
        <p:spPr>
          <a:xfrm>
            <a:off x="4315968" y="3902378"/>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63" name="Shape 61"/>
          <p:cNvSpPr/>
          <p:nvPr/>
        </p:nvSpPr>
        <p:spPr>
          <a:xfrm>
            <a:off x="6291072" y="3979047"/>
            <a:ext cx="495913" cy="153338"/>
          </a:xfrm>
          <a:prstGeom prst="rect">
            <a:avLst/>
          </a:prstGeom>
          <a:solidFill>
            <a:srgbClr val="12A566"/>
          </a:solidFill>
          <a:ln/>
        </p:spPr>
      </p:sp>
      <p:sp>
        <p:nvSpPr>
          <p:cNvPr id="64" name="Text 62"/>
          <p:cNvSpPr txBox="1"/>
          <p:nvPr/>
        </p:nvSpPr>
        <p:spPr>
          <a:xfrm>
            <a:off x="6967728" y="3902378"/>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1.97</a:t>
            </a:r>
            <a:endParaRPr lang="en-US" sz="1300" dirty="0"/>
          </a:p>
        </p:txBody>
      </p:sp>
      <p:sp>
        <p:nvSpPr>
          <p:cNvPr id="65" name="Text 63"/>
          <p:cNvSpPr txBox="1"/>
          <p:nvPr/>
        </p:nvSpPr>
        <p:spPr>
          <a:xfrm>
            <a:off x="4315968" y="4209054"/>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66" name="Shape 64"/>
          <p:cNvSpPr/>
          <p:nvPr/>
        </p:nvSpPr>
        <p:spPr>
          <a:xfrm>
            <a:off x="6291072" y="4285722"/>
            <a:ext cx="493081" cy="153338"/>
          </a:xfrm>
          <a:prstGeom prst="rect">
            <a:avLst/>
          </a:prstGeom>
          <a:solidFill>
            <a:srgbClr val="12A566"/>
          </a:solidFill>
          <a:ln/>
        </p:spPr>
      </p:sp>
      <p:sp>
        <p:nvSpPr>
          <p:cNvPr id="67" name="Text 65"/>
          <p:cNvSpPr txBox="1"/>
          <p:nvPr/>
        </p:nvSpPr>
        <p:spPr>
          <a:xfrm>
            <a:off x="6967728" y="4209054"/>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1.96</a:t>
            </a:r>
            <a:endParaRPr lang="en-US" sz="1300" dirty="0"/>
          </a:p>
        </p:txBody>
      </p:sp>
      <p:sp>
        <p:nvSpPr>
          <p:cNvPr id="68" name="Text 66"/>
          <p:cNvSpPr txBox="1"/>
          <p:nvPr/>
        </p:nvSpPr>
        <p:spPr>
          <a:xfrm>
            <a:off x="4315968" y="4515729"/>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69" name="Shape 67"/>
          <p:cNvSpPr/>
          <p:nvPr/>
        </p:nvSpPr>
        <p:spPr>
          <a:xfrm>
            <a:off x="6291072" y="4592398"/>
            <a:ext cx="490542" cy="153338"/>
          </a:xfrm>
          <a:prstGeom prst="rect">
            <a:avLst/>
          </a:prstGeom>
          <a:solidFill>
            <a:srgbClr val="12A566"/>
          </a:solidFill>
          <a:ln/>
        </p:spPr>
      </p:sp>
      <p:sp>
        <p:nvSpPr>
          <p:cNvPr id="70" name="Text 68"/>
          <p:cNvSpPr txBox="1"/>
          <p:nvPr/>
        </p:nvSpPr>
        <p:spPr>
          <a:xfrm>
            <a:off x="6967728" y="4515729"/>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1.95</a:t>
            </a:r>
            <a:endParaRPr lang="en-US" sz="1300" dirty="0"/>
          </a:p>
        </p:txBody>
      </p:sp>
      <p:sp>
        <p:nvSpPr>
          <p:cNvPr id="71" name="Shape 69"/>
          <p:cNvSpPr/>
          <p:nvPr/>
        </p:nvSpPr>
        <p:spPr>
          <a:xfrm>
            <a:off x="4261104" y="4822405"/>
            <a:ext cx="3529584" cy="297532"/>
          </a:xfrm>
          <a:prstGeom prst="rect">
            <a:avLst/>
          </a:prstGeom>
          <a:solidFill>
            <a:srgbClr val="EDF4FA"/>
          </a:solidFill>
          <a:ln/>
        </p:spPr>
      </p:sp>
      <p:sp>
        <p:nvSpPr>
          <p:cNvPr id="72" name="Text 70"/>
          <p:cNvSpPr txBox="1"/>
          <p:nvPr/>
        </p:nvSpPr>
        <p:spPr>
          <a:xfrm>
            <a:off x="4315968" y="4822405"/>
            <a:ext cx="1920240" cy="306676"/>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NON-LUXURY</a:t>
            </a:r>
            <a:endParaRPr lang="en-US" sz="1300" dirty="0"/>
          </a:p>
        </p:txBody>
      </p:sp>
      <p:sp>
        <p:nvSpPr>
          <p:cNvPr id="73" name="Shape 71"/>
          <p:cNvSpPr/>
          <p:nvPr/>
        </p:nvSpPr>
        <p:spPr>
          <a:xfrm>
            <a:off x="6291072" y="4899074"/>
            <a:ext cx="439804" cy="153338"/>
          </a:xfrm>
          <a:prstGeom prst="rect">
            <a:avLst/>
          </a:prstGeom>
          <a:solidFill>
            <a:srgbClr val="0B2C4A"/>
          </a:solidFill>
          <a:ln/>
        </p:spPr>
      </p:sp>
      <p:sp>
        <p:nvSpPr>
          <p:cNvPr id="74" name="Text 72"/>
          <p:cNvSpPr txBox="1"/>
          <p:nvPr/>
        </p:nvSpPr>
        <p:spPr>
          <a:xfrm>
            <a:off x="6967728" y="4822405"/>
            <a:ext cx="786384" cy="306676"/>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1.75</a:t>
            </a:r>
            <a:endParaRPr lang="en-US" sz="1300" dirty="0"/>
          </a:p>
        </p:txBody>
      </p:sp>
      <p:sp>
        <p:nvSpPr>
          <p:cNvPr id="75" name="Text 73"/>
          <p:cNvSpPr txBox="1"/>
          <p:nvPr/>
        </p:nvSpPr>
        <p:spPr>
          <a:xfrm>
            <a:off x="4315968" y="5129081"/>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76" name="Shape 74"/>
          <p:cNvSpPr/>
          <p:nvPr/>
        </p:nvSpPr>
        <p:spPr>
          <a:xfrm>
            <a:off x="6291072" y="5205750"/>
            <a:ext cx="438976" cy="153338"/>
          </a:xfrm>
          <a:prstGeom prst="rect">
            <a:avLst/>
          </a:prstGeom>
          <a:solidFill>
            <a:srgbClr val="C2352F"/>
          </a:solidFill>
          <a:ln/>
        </p:spPr>
      </p:sp>
      <p:sp>
        <p:nvSpPr>
          <p:cNvPr id="77" name="Text 75"/>
          <p:cNvSpPr txBox="1"/>
          <p:nvPr/>
        </p:nvSpPr>
        <p:spPr>
          <a:xfrm>
            <a:off x="6967728" y="5129081"/>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1.74</a:t>
            </a:r>
            <a:endParaRPr lang="en-US" sz="1300" dirty="0"/>
          </a:p>
        </p:txBody>
      </p:sp>
      <p:sp>
        <p:nvSpPr>
          <p:cNvPr id="78" name="Text 76"/>
          <p:cNvSpPr txBox="1"/>
          <p:nvPr/>
        </p:nvSpPr>
        <p:spPr>
          <a:xfrm>
            <a:off x="4315968" y="5435756"/>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79" name="Shape 77"/>
          <p:cNvSpPr/>
          <p:nvPr/>
        </p:nvSpPr>
        <p:spPr>
          <a:xfrm>
            <a:off x="6291072" y="5512425"/>
            <a:ext cx="430143" cy="153338"/>
          </a:xfrm>
          <a:prstGeom prst="rect">
            <a:avLst/>
          </a:prstGeom>
          <a:solidFill>
            <a:srgbClr val="C2352F"/>
          </a:solidFill>
          <a:ln/>
        </p:spPr>
      </p:sp>
      <p:sp>
        <p:nvSpPr>
          <p:cNvPr id="80" name="Text 78"/>
          <p:cNvSpPr txBox="1"/>
          <p:nvPr/>
        </p:nvSpPr>
        <p:spPr>
          <a:xfrm>
            <a:off x="6967728" y="5435756"/>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1.71</a:t>
            </a:r>
            <a:endParaRPr lang="en-US" sz="1300" dirty="0"/>
          </a:p>
        </p:txBody>
      </p:sp>
      <p:sp>
        <p:nvSpPr>
          <p:cNvPr id="81" name="Text 79"/>
          <p:cNvSpPr txBox="1"/>
          <p:nvPr/>
        </p:nvSpPr>
        <p:spPr>
          <a:xfrm>
            <a:off x="7918704" y="1755648"/>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82" name="Shape 80"/>
          <p:cNvSpPr/>
          <p:nvPr/>
        </p:nvSpPr>
        <p:spPr>
          <a:xfrm>
            <a:off x="9893808" y="1832317"/>
            <a:ext cx="419539" cy="153338"/>
          </a:xfrm>
          <a:prstGeom prst="rect">
            <a:avLst/>
          </a:prstGeom>
          <a:solidFill>
            <a:srgbClr val="C2352F"/>
          </a:solidFill>
          <a:ln/>
        </p:spPr>
      </p:sp>
      <p:sp>
        <p:nvSpPr>
          <p:cNvPr id="83" name="Text 81"/>
          <p:cNvSpPr txBox="1"/>
          <p:nvPr/>
        </p:nvSpPr>
        <p:spPr>
          <a:xfrm>
            <a:off x="10570464" y="1755648"/>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1.67</a:t>
            </a:r>
            <a:endParaRPr lang="en-US" sz="1300" dirty="0"/>
          </a:p>
        </p:txBody>
      </p:sp>
      <p:sp>
        <p:nvSpPr>
          <p:cNvPr id="84" name="Text 82"/>
          <p:cNvSpPr txBox="1"/>
          <p:nvPr/>
        </p:nvSpPr>
        <p:spPr>
          <a:xfrm>
            <a:off x="7918704" y="2062324"/>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85" name="Shape 83"/>
          <p:cNvSpPr/>
          <p:nvPr/>
        </p:nvSpPr>
        <p:spPr>
          <a:xfrm>
            <a:off x="9893808" y="2138993"/>
            <a:ext cx="412033" cy="153338"/>
          </a:xfrm>
          <a:prstGeom prst="rect">
            <a:avLst/>
          </a:prstGeom>
          <a:solidFill>
            <a:srgbClr val="C2352F"/>
          </a:solidFill>
          <a:ln/>
        </p:spPr>
      </p:sp>
      <p:sp>
        <p:nvSpPr>
          <p:cNvPr id="86" name="Text 84"/>
          <p:cNvSpPr txBox="1"/>
          <p:nvPr/>
        </p:nvSpPr>
        <p:spPr>
          <a:xfrm>
            <a:off x="10570464" y="2062324"/>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1.64</a:t>
            </a:r>
            <a:endParaRPr lang="en-US" sz="1300" dirty="0"/>
          </a:p>
        </p:txBody>
      </p:sp>
      <p:sp>
        <p:nvSpPr>
          <p:cNvPr id="87" name="Text 85"/>
          <p:cNvSpPr txBox="1"/>
          <p:nvPr/>
        </p:nvSpPr>
        <p:spPr>
          <a:xfrm>
            <a:off x="7918704" y="2368999"/>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88" name="Shape 86"/>
          <p:cNvSpPr/>
          <p:nvPr/>
        </p:nvSpPr>
        <p:spPr>
          <a:xfrm>
            <a:off x="9893808" y="2445668"/>
            <a:ext cx="402432" cy="153338"/>
          </a:xfrm>
          <a:prstGeom prst="rect">
            <a:avLst/>
          </a:prstGeom>
          <a:solidFill>
            <a:srgbClr val="C2352F"/>
          </a:solidFill>
          <a:ln/>
        </p:spPr>
      </p:sp>
      <p:sp>
        <p:nvSpPr>
          <p:cNvPr id="89" name="Text 87"/>
          <p:cNvSpPr txBox="1"/>
          <p:nvPr/>
        </p:nvSpPr>
        <p:spPr>
          <a:xfrm>
            <a:off x="10570464" y="2368999"/>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1.60</a:t>
            </a:r>
            <a:endParaRPr lang="en-US" sz="1300" dirty="0"/>
          </a:p>
        </p:txBody>
      </p:sp>
      <p:sp>
        <p:nvSpPr>
          <p:cNvPr id="90" name="Text 88"/>
          <p:cNvSpPr txBox="1"/>
          <p:nvPr/>
        </p:nvSpPr>
        <p:spPr>
          <a:xfrm>
            <a:off x="7918704" y="2675675"/>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91" name="Shape 89"/>
          <p:cNvSpPr/>
          <p:nvPr/>
        </p:nvSpPr>
        <p:spPr>
          <a:xfrm>
            <a:off x="9893808" y="2752344"/>
            <a:ext cx="395193" cy="153338"/>
          </a:xfrm>
          <a:prstGeom prst="rect">
            <a:avLst/>
          </a:prstGeom>
          <a:solidFill>
            <a:srgbClr val="C2352F"/>
          </a:solidFill>
          <a:ln/>
        </p:spPr>
      </p:sp>
      <p:sp>
        <p:nvSpPr>
          <p:cNvPr id="92" name="Text 90"/>
          <p:cNvSpPr txBox="1"/>
          <p:nvPr/>
        </p:nvSpPr>
        <p:spPr>
          <a:xfrm>
            <a:off x="10570464" y="2675675"/>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1.57</a:t>
            </a:r>
            <a:endParaRPr lang="en-US" sz="1300" dirty="0"/>
          </a:p>
        </p:txBody>
      </p:sp>
      <p:sp>
        <p:nvSpPr>
          <p:cNvPr id="93" name="Text 91"/>
          <p:cNvSpPr txBox="1"/>
          <p:nvPr/>
        </p:nvSpPr>
        <p:spPr>
          <a:xfrm>
            <a:off x="7918704" y="2982351"/>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94" name="Shape 92"/>
          <p:cNvSpPr/>
          <p:nvPr/>
        </p:nvSpPr>
        <p:spPr>
          <a:xfrm>
            <a:off x="9893808" y="3059020"/>
            <a:ext cx="373339" cy="153338"/>
          </a:xfrm>
          <a:prstGeom prst="rect">
            <a:avLst/>
          </a:prstGeom>
          <a:solidFill>
            <a:srgbClr val="C2352F"/>
          </a:solidFill>
          <a:ln/>
        </p:spPr>
      </p:sp>
      <p:sp>
        <p:nvSpPr>
          <p:cNvPr id="95" name="Text 93"/>
          <p:cNvSpPr txBox="1"/>
          <p:nvPr/>
        </p:nvSpPr>
        <p:spPr>
          <a:xfrm>
            <a:off x="10570464" y="2982351"/>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1.48</a:t>
            </a:r>
            <a:endParaRPr lang="en-US" sz="1300" dirty="0"/>
          </a:p>
        </p:txBody>
      </p:sp>
      <p:sp>
        <p:nvSpPr>
          <p:cNvPr id="96" name="Text 94"/>
          <p:cNvSpPr txBox="1"/>
          <p:nvPr/>
        </p:nvSpPr>
        <p:spPr>
          <a:xfrm>
            <a:off x="7918704" y="3289026"/>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97" name="Shape 95"/>
          <p:cNvSpPr/>
          <p:nvPr/>
        </p:nvSpPr>
        <p:spPr>
          <a:xfrm>
            <a:off x="9893808" y="3365695"/>
            <a:ext cx="370773" cy="153338"/>
          </a:xfrm>
          <a:prstGeom prst="rect">
            <a:avLst/>
          </a:prstGeom>
          <a:solidFill>
            <a:srgbClr val="C2352F"/>
          </a:solidFill>
          <a:ln/>
        </p:spPr>
      </p:sp>
      <p:sp>
        <p:nvSpPr>
          <p:cNvPr id="98" name="Text 96"/>
          <p:cNvSpPr txBox="1"/>
          <p:nvPr/>
        </p:nvSpPr>
        <p:spPr>
          <a:xfrm>
            <a:off x="10570464" y="3289026"/>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1.47</a:t>
            </a:r>
            <a:endParaRPr lang="en-US" sz="1300" dirty="0"/>
          </a:p>
        </p:txBody>
      </p:sp>
      <p:sp>
        <p:nvSpPr>
          <p:cNvPr id="99" name="Text 97"/>
          <p:cNvSpPr txBox="1"/>
          <p:nvPr/>
        </p:nvSpPr>
        <p:spPr>
          <a:xfrm>
            <a:off x="7918704" y="3595702"/>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100" name="Shape 98"/>
          <p:cNvSpPr/>
          <p:nvPr/>
        </p:nvSpPr>
        <p:spPr>
          <a:xfrm>
            <a:off x="9893808" y="3672371"/>
            <a:ext cx="366723" cy="153338"/>
          </a:xfrm>
          <a:prstGeom prst="rect">
            <a:avLst/>
          </a:prstGeom>
          <a:solidFill>
            <a:srgbClr val="C2352F"/>
          </a:solidFill>
          <a:ln/>
        </p:spPr>
      </p:sp>
      <p:sp>
        <p:nvSpPr>
          <p:cNvPr id="101" name="Text 99"/>
          <p:cNvSpPr txBox="1"/>
          <p:nvPr/>
        </p:nvSpPr>
        <p:spPr>
          <a:xfrm>
            <a:off x="10570464" y="3595702"/>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1.46</a:t>
            </a:r>
            <a:endParaRPr lang="en-US" sz="1300" dirty="0"/>
          </a:p>
        </p:txBody>
      </p:sp>
      <p:sp>
        <p:nvSpPr>
          <p:cNvPr id="102" name="Text 100"/>
          <p:cNvSpPr txBox="1"/>
          <p:nvPr/>
        </p:nvSpPr>
        <p:spPr>
          <a:xfrm>
            <a:off x="7918704" y="3902378"/>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103" name="Shape 101"/>
          <p:cNvSpPr/>
          <p:nvPr/>
        </p:nvSpPr>
        <p:spPr>
          <a:xfrm>
            <a:off x="9893808" y="3979047"/>
            <a:ext cx="359896" cy="153338"/>
          </a:xfrm>
          <a:prstGeom prst="rect">
            <a:avLst/>
          </a:prstGeom>
          <a:solidFill>
            <a:srgbClr val="C2352F"/>
          </a:solidFill>
          <a:ln/>
        </p:spPr>
      </p:sp>
      <p:sp>
        <p:nvSpPr>
          <p:cNvPr id="104" name="Text 102"/>
          <p:cNvSpPr txBox="1"/>
          <p:nvPr/>
        </p:nvSpPr>
        <p:spPr>
          <a:xfrm>
            <a:off x="10570464" y="3902378"/>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1.43</a:t>
            </a:r>
            <a:endParaRPr lang="en-US" sz="1300" dirty="0"/>
          </a:p>
        </p:txBody>
      </p:sp>
      <p:sp>
        <p:nvSpPr>
          <p:cNvPr id="105" name="Text 103"/>
          <p:cNvSpPr txBox="1"/>
          <p:nvPr/>
        </p:nvSpPr>
        <p:spPr>
          <a:xfrm>
            <a:off x="7918704" y="4209054"/>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106" name="Shape 104"/>
          <p:cNvSpPr/>
          <p:nvPr/>
        </p:nvSpPr>
        <p:spPr>
          <a:xfrm>
            <a:off x="9893808" y="4285722"/>
            <a:ext cx="357762" cy="153338"/>
          </a:xfrm>
          <a:prstGeom prst="rect">
            <a:avLst/>
          </a:prstGeom>
          <a:solidFill>
            <a:srgbClr val="C2352F"/>
          </a:solidFill>
          <a:ln/>
        </p:spPr>
      </p:sp>
      <p:sp>
        <p:nvSpPr>
          <p:cNvPr id="107" name="Text 105"/>
          <p:cNvSpPr txBox="1"/>
          <p:nvPr/>
        </p:nvSpPr>
        <p:spPr>
          <a:xfrm>
            <a:off x="10570464" y="4209054"/>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1.42</a:t>
            </a:r>
            <a:endParaRPr lang="en-US" sz="1300" dirty="0"/>
          </a:p>
        </p:txBody>
      </p:sp>
      <p:sp>
        <p:nvSpPr>
          <p:cNvPr id="108" name="Text 106"/>
          <p:cNvSpPr txBox="1"/>
          <p:nvPr/>
        </p:nvSpPr>
        <p:spPr>
          <a:xfrm>
            <a:off x="7918704" y="4515729"/>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109" name="Shape 107"/>
          <p:cNvSpPr/>
          <p:nvPr/>
        </p:nvSpPr>
        <p:spPr>
          <a:xfrm>
            <a:off x="9893808" y="4592398"/>
            <a:ext cx="354023" cy="153338"/>
          </a:xfrm>
          <a:prstGeom prst="rect">
            <a:avLst/>
          </a:prstGeom>
          <a:solidFill>
            <a:srgbClr val="C2352F"/>
          </a:solidFill>
          <a:ln/>
        </p:spPr>
      </p:sp>
      <p:sp>
        <p:nvSpPr>
          <p:cNvPr id="110" name="Text 108"/>
          <p:cNvSpPr txBox="1"/>
          <p:nvPr/>
        </p:nvSpPr>
        <p:spPr>
          <a:xfrm>
            <a:off x="10570464" y="4515729"/>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1.41</a:t>
            </a:r>
            <a:endParaRPr lang="en-US" sz="1300" dirty="0"/>
          </a:p>
        </p:txBody>
      </p:sp>
      <p:sp>
        <p:nvSpPr>
          <p:cNvPr id="111" name="Text 109"/>
          <p:cNvSpPr txBox="1"/>
          <p:nvPr/>
        </p:nvSpPr>
        <p:spPr>
          <a:xfrm>
            <a:off x="7918704" y="4822405"/>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112" name="Shape 110"/>
          <p:cNvSpPr/>
          <p:nvPr/>
        </p:nvSpPr>
        <p:spPr>
          <a:xfrm>
            <a:off x="9893808" y="4899074"/>
            <a:ext cx="348438" cy="153338"/>
          </a:xfrm>
          <a:prstGeom prst="rect">
            <a:avLst/>
          </a:prstGeom>
          <a:solidFill>
            <a:srgbClr val="C2352F"/>
          </a:solidFill>
          <a:ln/>
        </p:spPr>
      </p:sp>
      <p:sp>
        <p:nvSpPr>
          <p:cNvPr id="113" name="Text 111"/>
          <p:cNvSpPr txBox="1"/>
          <p:nvPr/>
        </p:nvSpPr>
        <p:spPr>
          <a:xfrm>
            <a:off x="10570464" y="4822405"/>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1.38</a:t>
            </a:r>
            <a:endParaRPr lang="en-US" sz="1300" dirty="0"/>
          </a:p>
        </p:txBody>
      </p:sp>
      <p:sp>
        <p:nvSpPr>
          <p:cNvPr id="114" name="Text 112"/>
          <p:cNvSpPr txBox="1"/>
          <p:nvPr/>
        </p:nvSpPr>
        <p:spPr>
          <a:xfrm>
            <a:off x="7918704" y="5129081"/>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115" name="Shape 113"/>
          <p:cNvSpPr/>
          <p:nvPr/>
        </p:nvSpPr>
        <p:spPr>
          <a:xfrm>
            <a:off x="9893808" y="5205750"/>
            <a:ext cx="324886" cy="153338"/>
          </a:xfrm>
          <a:prstGeom prst="rect">
            <a:avLst/>
          </a:prstGeom>
          <a:solidFill>
            <a:srgbClr val="C2352F"/>
          </a:solidFill>
          <a:ln/>
        </p:spPr>
      </p:sp>
      <p:sp>
        <p:nvSpPr>
          <p:cNvPr id="116" name="Text 114"/>
          <p:cNvSpPr txBox="1"/>
          <p:nvPr/>
        </p:nvSpPr>
        <p:spPr>
          <a:xfrm>
            <a:off x="10570464" y="5129081"/>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1.29</a:t>
            </a:r>
            <a:endParaRPr lang="en-US" sz="1300" dirty="0"/>
          </a:p>
        </p:txBody>
      </p:sp>
      <p:sp>
        <p:nvSpPr>
          <p:cNvPr id="117" name="Shape 115"/>
          <p:cNvSpPr/>
          <p:nvPr/>
        </p:nvSpPr>
        <p:spPr>
          <a:xfrm>
            <a:off x="457200" y="5961888"/>
            <a:ext cx="11274552" cy="548640"/>
          </a:xfrm>
          <a:prstGeom prst="rect">
            <a:avLst/>
          </a:prstGeom>
          <a:solidFill>
            <a:srgbClr val="EDF4FA"/>
          </a:solidFill>
          <a:ln/>
        </p:spPr>
      </p:sp>
      <p:sp>
        <p:nvSpPr>
          <p:cNvPr id="118" name="Text 116"/>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Against their own segment, 4 of 9 luxury stores beat 2.90 and 10 of 24 others beat 1.75. VW HENDERSON leads non-luxury at 2.49.</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Hours per RO</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01168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GROUP</a:t>
            </a:r>
            <a:endParaRPr lang="en-US" sz="1500" dirty="0"/>
          </a:p>
        </p:txBody>
      </p:sp>
      <p:sp>
        <p:nvSpPr>
          <p:cNvPr id="9" name="Text 7"/>
          <p:cNvSpPr txBox="1"/>
          <p:nvPr/>
        </p:nvSpPr>
        <p:spPr>
          <a:xfrm>
            <a:off x="2834640" y="1335024"/>
            <a:ext cx="420624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SAME-STORE, 33 STORES</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+0.07</a:t>
            </a:r>
            <a:endParaRPr lang="en-US" sz="2000" dirty="0"/>
          </a:p>
        </p:txBody>
      </p:sp>
      <p:sp>
        <p:nvSpPr>
          <p:cNvPr id="11" name="Text 9"/>
          <p:cNvSpPr txBox="1"/>
          <p:nvPr/>
        </p:nvSpPr>
        <p:spPr>
          <a:xfrm>
            <a:off x="658368"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12" name="Shape 10"/>
          <p:cNvSpPr/>
          <p:nvPr/>
        </p:nvSpPr>
        <p:spPr>
          <a:xfrm>
            <a:off x="3813048" y="1909246"/>
            <a:ext cx="815480" cy="105898"/>
          </a:xfrm>
          <a:prstGeom prst="rect">
            <a:avLst/>
          </a:prstGeom>
          <a:solidFill>
            <a:srgbClr val="12A566"/>
          </a:solidFill>
          <a:ln/>
        </p:spPr>
      </p:sp>
      <p:sp>
        <p:nvSpPr>
          <p:cNvPr id="13" name="Text 11"/>
          <p:cNvSpPr txBox="1"/>
          <p:nvPr/>
        </p:nvSpPr>
        <p:spPr>
          <a:xfrm>
            <a:off x="4709160"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+0.55</a:t>
            </a:r>
            <a:endParaRPr lang="en-US" sz="1300" dirty="0"/>
          </a:p>
        </p:txBody>
      </p:sp>
      <p:sp>
        <p:nvSpPr>
          <p:cNvPr id="14" name="Text 12"/>
          <p:cNvSpPr txBox="1"/>
          <p:nvPr/>
        </p:nvSpPr>
        <p:spPr>
          <a:xfrm>
            <a:off x="658368"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15" name="Shape 13"/>
          <p:cNvSpPr/>
          <p:nvPr/>
        </p:nvSpPr>
        <p:spPr>
          <a:xfrm>
            <a:off x="3813048" y="2139459"/>
            <a:ext cx="597882" cy="105898"/>
          </a:xfrm>
          <a:prstGeom prst="rect">
            <a:avLst/>
          </a:prstGeom>
          <a:solidFill>
            <a:srgbClr val="12A566"/>
          </a:solidFill>
          <a:ln/>
        </p:spPr>
      </p:sp>
      <p:sp>
        <p:nvSpPr>
          <p:cNvPr id="16" name="Text 14"/>
          <p:cNvSpPr txBox="1"/>
          <p:nvPr/>
        </p:nvSpPr>
        <p:spPr>
          <a:xfrm>
            <a:off x="4709160"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+0.40</a:t>
            </a:r>
            <a:endParaRPr lang="en-US" sz="1300" dirty="0"/>
          </a:p>
        </p:txBody>
      </p:sp>
      <p:sp>
        <p:nvSpPr>
          <p:cNvPr id="17" name="Text 15"/>
          <p:cNvSpPr txBox="1"/>
          <p:nvPr/>
        </p:nvSpPr>
        <p:spPr>
          <a:xfrm>
            <a:off x="658368"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18" name="Shape 16"/>
          <p:cNvSpPr/>
          <p:nvPr/>
        </p:nvSpPr>
        <p:spPr>
          <a:xfrm>
            <a:off x="3813048" y="2369673"/>
            <a:ext cx="451128" cy="105898"/>
          </a:xfrm>
          <a:prstGeom prst="rect">
            <a:avLst/>
          </a:prstGeom>
          <a:solidFill>
            <a:srgbClr val="12A566"/>
          </a:solidFill>
          <a:ln/>
        </p:spPr>
      </p:sp>
      <p:sp>
        <p:nvSpPr>
          <p:cNvPr id="19" name="Text 17"/>
          <p:cNvSpPr txBox="1"/>
          <p:nvPr/>
        </p:nvSpPr>
        <p:spPr>
          <a:xfrm>
            <a:off x="4709160"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+0.30</a:t>
            </a:r>
            <a:endParaRPr lang="en-US" sz="1300" dirty="0"/>
          </a:p>
        </p:txBody>
      </p:sp>
      <p:sp>
        <p:nvSpPr>
          <p:cNvPr id="20" name="Text 18"/>
          <p:cNvSpPr txBox="1"/>
          <p:nvPr/>
        </p:nvSpPr>
        <p:spPr>
          <a:xfrm>
            <a:off x="658368"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21" name="Shape 19"/>
          <p:cNvSpPr/>
          <p:nvPr/>
        </p:nvSpPr>
        <p:spPr>
          <a:xfrm>
            <a:off x="3813048" y="2599887"/>
            <a:ext cx="442294" cy="105898"/>
          </a:xfrm>
          <a:prstGeom prst="rect">
            <a:avLst/>
          </a:prstGeom>
          <a:solidFill>
            <a:srgbClr val="12A566"/>
          </a:solidFill>
          <a:ln/>
        </p:spPr>
      </p:sp>
      <p:sp>
        <p:nvSpPr>
          <p:cNvPr id="22" name="Text 20"/>
          <p:cNvSpPr txBox="1"/>
          <p:nvPr/>
        </p:nvSpPr>
        <p:spPr>
          <a:xfrm>
            <a:off x="4709160"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+0.30</a:t>
            </a:r>
            <a:endParaRPr lang="en-US" sz="1300" dirty="0"/>
          </a:p>
        </p:txBody>
      </p:sp>
      <p:sp>
        <p:nvSpPr>
          <p:cNvPr id="23" name="Text 21"/>
          <p:cNvSpPr txBox="1"/>
          <p:nvPr/>
        </p:nvSpPr>
        <p:spPr>
          <a:xfrm>
            <a:off x="658368"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24" name="Shape 22"/>
          <p:cNvSpPr/>
          <p:nvPr/>
        </p:nvSpPr>
        <p:spPr>
          <a:xfrm>
            <a:off x="3813048" y="2830100"/>
            <a:ext cx="437185" cy="105898"/>
          </a:xfrm>
          <a:prstGeom prst="rect">
            <a:avLst/>
          </a:prstGeom>
          <a:solidFill>
            <a:srgbClr val="12A566"/>
          </a:solidFill>
          <a:ln/>
        </p:spPr>
      </p:sp>
      <p:sp>
        <p:nvSpPr>
          <p:cNvPr id="25" name="Text 23"/>
          <p:cNvSpPr txBox="1"/>
          <p:nvPr/>
        </p:nvSpPr>
        <p:spPr>
          <a:xfrm>
            <a:off x="4709160"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+0.29</a:t>
            </a:r>
            <a:endParaRPr lang="en-US" sz="1300" dirty="0"/>
          </a:p>
        </p:txBody>
      </p:sp>
      <p:sp>
        <p:nvSpPr>
          <p:cNvPr id="26" name="Text 24"/>
          <p:cNvSpPr txBox="1"/>
          <p:nvPr/>
        </p:nvSpPr>
        <p:spPr>
          <a:xfrm>
            <a:off x="658368"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27" name="Shape 25"/>
          <p:cNvSpPr/>
          <p:nvPr/>
        </p:nvSpPr>
        <p:spPr>
          <a:xfrm>
            <a:off x="3813048" y="3060314"/>
            <a:ext cx="435057" cy="105898"/>
          </a:xfrm>
          <a:prstGeom prst="rect">
            <a:avLst/>
          </a:prstGeom>
          <a:solidFill>
            <a:srgbClr val="12A566"/>
          </a:solidFill>
          <a:ln/>
        </p:spPr>
      </p:sp>
      <p:sp>
        <p:nvSpPr>
          <p:cNvPr id="28" name="Text 26"/>
          <p:cNvSpPr txBox="1"/>
          <p:nvPr/>
        </p:nvSpPr>
        <p:spPr>
          <a:xfrm>
            <a:off x="4709160"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+0.29</a:t>
            </a:r>
            <a:endParaRPr lang="en-US" sz="1300" dirty="0"/>
          </a:p>
        </p:txBody>
      </p:sp>
      <p:sp>
        <p:nvSpPr>
          <p:cNvPr id="29" name="Text 27"/>
          <p:cNvSpPr txBox="1"/>
          <p:nvPr/>
        </p:nvSpPr>
        <p:spPr>
          <a:xfrm>
            <a:off x="658368"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30" name="Shape 28"/>
          <p:cNvSpPr/>
          <p:nvPr/>
        </p:nvSpPr>
        <p:spPr>
          <a:xfrm>
            <a:off x="3813048" y="3290528"/>
            <a:ext cx="389257" cy="105898"/>
          </a:xfrm>
          <a:prstGeom prst="rect">
            <a:avLst/>
          </a:prstGeom>
          <a:solidFill>
            <a:srgbClr val="12A566"/>
          </a:solidFill>
          <a:ln/>
        </p:spPr>
      </p:sp>
      <p:sp>
        <p:nvSpPr>
          <p:cNvPr id="31" name="Text 29"/>
          <p:cNvSpPr txBox="1"/>
          <p:nvPr/>
        </p:nvSpPr>
        <p:spPr>
          <a:xfrm>
            <a:off x="4709160" y="3228370"/>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+0.26</a:t>
            </a:r>
            <a:endParaRPr lang="en-US" sz="1300" dirty="0"/>
          </a:p>
        </p:txBody>
      </p:sp>
      <p:sp>
        <p:nvSpPr>
          <p:cNvPr id="32" name="Text 30"/>
          <p:cNvSpPr txBox="1"/>
          <p:nvPr/>
        </p:nvSpPr>
        <p:spPr>
          <a:xfrm>
            <a:off x="658368"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33" name="Shape 31"/>
          <p:cNvSpPr/>
          <p:nvPr/>
        </p:nvSpPr>
        <p:spPr>
          <a:xfrm>
            <a:off x="3813048" y="3520741"/>
            <a:ext cx="383056" cy="105898"/>
          </a:xfrm>
          <a:prstGeom prst="rect">
            <a:avLst/>
          </a:prstGeom>
          <a:solidFill>
            <a:srgbClr val="12A566"/>
          </a:solidFill>
          <a:ln/>
        </p:spPr>
      </p:sp>
      <p:sp>
        <p:nvSpPr>
          <p:cNvPr id="34" name="Text 32"/>
          <p:cNvSpPr txBox="1"/>
          <p:nvPr/>
        </p:nvSpPr>
        <p:spPr>
          <a:xfrm>
            <a:off x="4709160" y="345858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+0.26</a:t>
            </a:r>
            <a:endParaRPr lang="en-US" sz="1300" dirty="0"/>
          </a:p>
        </p:txBody>
      </p:sp>
      <p:sp>
        <p:nvSpPr>
          <p:cNvPr id="35" name="Text 33"/>
          <p:cNvSpPr txBox="1"/>
          <p:nvPr/>
        </p:nvSpPr>
        <p:spPr>
          <a:xfrm>
            <a:off x="658368"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36" name="Shape 34"/>
          <p:cNvSpPr/>
          <p:nvPr/>
        </p:nvSpPr>
        <p:spPr>
          <a:xfrm>
            <a:off x="3813048" y="3750955"/>
            <a:ext cx="368232" cy="105898"/>
          </a:xfrm>
          <a:prstGeom prst="rect">
            <a:avLst/>
          </a:prstGeom>
          <a:solidFill>
            <a:srgbClr val="12A566"/>
          </a:solidFill>
          <a:ln/>
        </p:spPr>
      </p:sp>
      <p:sp>
        <p:nvSpPr>
          <p:cNvPr id="37" name="Text 35"/>
          <p:cNvSpPr txBox="1"/>
          <p:nvPr/>
        </p:nvSpPr>
        <p:spPr>
          <a:xfrm>
            <a:off x="4709160" y="3688797"/>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+0.25</a:t>
            </a:r>
            <a:endParaRPr lang="en-US" sz="1300" dirty="0"/>
          </a:p>
        </p:txBody>
      </p:sp>
      <p:sp>
        <p:nvSpPr>
          <p:cNvPr id="38" name="Text 36"/>
          <p:cNvSpPr txBox="1"/>
          <p:nvPr/>
        </p:nvSpPr>
        <p:spPr>
          <a:xfrm>
            <a:off x="658368"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39" name="Shape 37"/>
          <p:cNvSpPr/>
          <p:nvPr/>
        </p:nvSpPr>
        <p:spPr>
          <a:xfrm>
            <a:off x="3813048" y="3981169"/>
            <a:ext cx="342831" cy="105898"/>
          </a:xfrm>
          <a:prstGeom prst="rect">
            <a:avLst/>
          </a:prstGeom>
          <a:solidFill>
            <a:srgbClr val="12A566"/>
          </a:solidFill>
          <a:ln/>
        </p:spPr>
      </p:sp>
      <p:sp>
        <p:nvSpPr>
          <p:cNvPr id="40" name="Text 38"/>
          <p:cNvSpPr txBox="1"/>
          <p:nvPr/>
        </p:nvSpPr>
        <p:spPr>
          <a:xfrm>
            <a:off x="4709160" y="3919011"/>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+0.23</a:t>
            </a:r>
            <a:endParaRPr lang="en-US" sz="1300" dirty="0"/>
          </a:p>
        </p:txBody>
      </p:sp>
      <p:sp>
        <p:nvSpPr>
          <p:cNvPr id="41" name="Text 39"/>
          <p:cNvSpPr txBox="1"/>
          <p:nvPr/>
        </p:nvSpPr>
        <p:spPr>
          <a:xfrm>
            <a:off x="658368"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42" name="Shape 40"/>
          <p:cNvSpPr/>
          <p:nvPr/>
        </p:nvSpPr>
        <p:spPr>
          <a:xfrm>
            <a:off x="3813048" y="4211382"/>
            <a:ext cx="293149" cy="105898"/>
          </a:xfrm>
          <a:prstGeom prst="rect">
            <a:avLst/>
          </a:prstGeom>
          <a:solidFill>
            <a:srgbClr val="12A566"/>
          </a:solidFill>
          <a:ln/>
        </p:spPr>
      </p:sp>
      <p:sp>
        <p:nvSpPr>
          <p:cNvPr id="43" name="Text 41"/>
          <p:cNvSpPr txBox="1"/>
          <p:nvPr/>
        </p:nvSpPr>
        <p:spPr>
          <a:xfrm>
            <a:off x="4709160" y="414922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+0.20</a:t>
            </a:r>
            <a:endParaRPr lang="en-US" sz="1300" dirty="0"/>
          </a:p>
        </p:txBody>
      </p:sp>
      <p:sp>
        <p:nvSpPr>
          <p:cNvPr id="44" name="Text 42"/>
          <p:cNvSpPr txBox="1"/>
          <p:nvPr/>
        </p:nvSpPr>
        <p:spPr>
          <a:xfrm>
            <a:off x="658368"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45" name="Shape 43"/>
          <p:cNvSpPr/>
          <p:nvPr/>
        </p:nvSpPr>
        <p:spPr>
          <a:xfrm>
            <a:off x="3813048" y="4441596"/>
            <a:ext cx="276427" cy="105898"/>
          </a:xfrm>
          <a:prstGeom prst="rect">
            <a:avLst/>
          </a:prstGeom>
          <a:solidFill>
            <a:srgbClr val="12A566"/>
          </a:solidFill>
          <a:ln/>
        </p:spPr>
      </p:sp>
      <p:sp>
        <p:nvSpPr>
          <p:cNvPr id="46" name="Text 44"/>
          <p:cNvSpPr txBox="1"/>
          <p:nvPr/>
        </p:nvSpPr>
        <p:spPr>
          <a:xfrm>
            <a:off x="4709160" y="437943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+0.19</a:t>
            </a:r>
            <a:endParaRPr lang="en-US" sz="1300" dirty="0"/>
          </a:p>
        </p:txBody>
      </p:sp>
      <p:sp>
        <p:nvSpPr>
          <p:cNvPr id="47" name="Text 45"/>
          <p:cNvSpPr txBox="1"/>
          <p:nvPr/>
        </p:nvSpPr>
        <p:spPr>
          <a:xfrm>
            <a:off x="658368"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48" name="Shape 46"/>
          <p:cNvSpPr/>
          <p:nvPr/>
        </p:nvSpPr>
        <p:spPr>
          <a:xfrm>
            <a:off x="3813048" y="4671809"/>
            <a:ext cx="234816" cy="105898"/>
          </a:xfrm>
          <a:prstGeom prst="rect">
            <a:avLst/>
          </a:prstGeom>
          <a:solidFill>
            <a:srgbClr val="12A566"/>
          </a:solidFill>
          <a:ln/>
        </p:spPr>
      </p:sp>
      <p:sp>
        <p:nvSpPr>
          <p:cNvPr id="49" name="Text 47"/>
          <p:cNvSpPr txBox="1"/>
          <p:nvPr/>
        </p:nvSpPr>
        <p:spPr>
          <a:xfrm>
            <a:off x="4709160" y="460965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+0.16</a:t>
            </a:r>
            <a:endParaRPr lang="en-US" sz="1300" dirty="0"/>
          </a:p>
        </p:txBody>
      </p:sp>
      <p:sp>
        <p:nvSpPr>
          <p:cNvPr id="50" name="Text 48"/>
          <p:cNvSpPr txBox="1"/>
          <p:nvPr/>
        </p:nvSpPr>
        <p:spPr>
          <a:xfrm>
            <a:off x="658368"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51" name="Shape 49"/>
          <p:cNvSpPr/>
          <p:nvPr/>
        </p:nvSpPr>
        <p:spPr>
          <a:xfrm>
            <a:off x="3813048" y="4902023"/>
            <a:ext cx="192190" cy="105898"/>
          </a:xfrm>
          <a:prstGeom prst="rect">
            <a:avLst/>
          </a:prstGeom>
          <a:solidFill>
            <a:srgbClr val="12A566"/>
          </a:solidFill>
          <a:ln/>
        </p:spPr>
      </p:sp>
      <p:sp>
        <p:nvSpPr>
          <p:cNvPr id="52" name="Text 50"/>
          <p:cNvSpPr txBox="1"/>
          <p:nvPr/>
        </p:nvSpPr>
        <p:spPr>
          <a:xfrm>
            <a:off x="4709160" y="483986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+0.13</a:t>
            </a:r>
            <a:endParaRPr lang="en-US" sz="1300" dirty="0"/>
          </a:p>
        </p:txBody>
      </p:sp>
      <p:sp>
        <p:nvSpPr>
          <p:cNvPr id="53" name="Text 51"/>
          <p:cNvSpPr txBox="1"/>
          <p:nvPr/>
        </p:nvSpPr>
        <p:spPr>
          <a:xfrm>
            <a:off x="658368"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54" name="Shape 52"/>
          <p:cNvSpPr/>
          <p:nvPr/>
        </p:nvSpPr>
        <p:spPr>
          <a:xfrm>
            <a:off x="3813048" y="5132237"/>
            <a:ext cx="165698" cy="105898"/>
          </a:xfrm>
          <a:prstGeom prst="rect">
            <a:avLst/>
          </a:prstGeom>
          <a:solidFill>
            <a:srgbClr val="12A566"/>
          </a:solidFill>
          <a:ln/>
        </p:spPr>
      </p:sp>
      <p:sp>
        <p:nvSpPr>
          <p:cNvPr id="55" name="Text 53"/>
          <p:cNvSpPr txBox="1"/>
          <p:nvPr/>
        </p:nvSpPr>
        <p:spPr>
          <a:xfrm>
            <a:off x="4709160" y="507007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+0.11</a:t>
            </a:r>
            <a:endParaRPr lang="en-US" sz="1300" dirty="0"/>
          </a:p>
        </p:txBody>
      </p:sp>
      <p:sp>
        <p:nvSpPr>
          <p:cNvPr id="56" name="Text 54"/>
          <p:cNvSpPr txBox="1"/>
          <p:nvPr/>
        </p:nvSpPr>
        <p:spPr>
          <a:xfrm>
            <a:off x="658368"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57" name="Shape 55"/>
          <p:cNvSpPr/>
          <p:nvPr/>
        </p:nvSpPr>
        <p:spPr>
          <a:xfrm>
            <a:off x="3813048" y="5362450"/>
            <a:ext cx="154983" cy="105898"/>
          </a:xfrm>
          <a:prstGeom prst="rect">
            <a:avLst/>
          </a:prstGeom>
          <a:solidFill>
            <a:srgbClr val="12A566"/>
          </a:solidFill>
          <a:ln/>
        </p:spPr>
      </p:sp>
      <p:sp>
        <p:nvSpPr>
          <p:cNvPr id="58" name="Text 56"/>
          <p:cNvSpPr txBox="1"/>
          <p:nvPr/>
        </p:nvSpPr>
        <p:spPr>
          <a:xfrm>
            <a:off x="4709160" y="530029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+0.10</a:t>
            </a:r>
            <a:endParaRPr lang="en-US" sz="1300" dirty="0"/>
          </a:p>
        </p:txBody>
      </p:sp>
      <p:sp>
        <p:nvSpPr>
          <p:cNvPr id="59" name="Text 57"/>
          <p:cNvSpPr txBox="1"/>
          <p:nvPr/>
        </p:nvSpPr>
        <p:spPr>
          <a:xfrm>
            <a:off x="658368" y="553050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60" name="Shape 58"/>
          <p:cNvSpPr/>
          <p:nvPr/>
        </p:nvSpPr>
        <p:spPr>
          <a:xfrm>
            <a:off x="3813048" y="5592664"/>
            <a:ext cx="151084" cy="105898"/>
          </a:xfrm>
          <a:prstGeom prst="rect">
            <a:avLst/>
          </a:prstGeom>
          <a:solidFill>
            <a:srgbClr val="12A566"/>
          </a:solidFill>
          <a:ln/>
        </p:spPr>
      </p:sp>
      <p:sp>
        <p:nvSpPr>
          <p:cNvPr id="61" name="Text 59"/>
          <p:cNvSpPr txBox="1"/>
          <p:nvPr/>
        </p:nvSpPr>
        <p:spPr>
          <a:xfrm>
            <a:off x="4709160" y="553050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+0.10</a:t>
            </a:r>
            <a:endParaRPr lang="en-US" sz="1300" dirty="0"/>
          </a:p>
        </p:txBody>
      </p:sp>
      <p:sp>
        <p:nvSpPr>
          <p:cNvPr id="62" name="Text 60"/>
          <p:cNvSpPr txBox="1"/>
          <p:nvPr/>
        </p:nvSpPr>
        <p:spPr>
          <a:xfrm>
            <a:off x="6208776"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63" name="Shape 61"/>
          <p:cNvSpPr/>
          <p:nvPr/>
        </p:nvSpPr>
        <p:spPr>
          <a:xfrm>
            <a:off x="9363456" y="1909246"/>
            <a:ext cx="140525" cy="105898"/>
          </a:xfrm>
          <a:prstGeom prst="rect">
            <a:avLst/>
          </a:prstGeom>
          <a:solidFill>
            <a:srgbClr val="12A566"/>
          </a:solidFill>
          <a:ln/>
        </p:spPr>
      </p:sp>
      <p:sp>
        <p:nvSpPr>
          <p:cNvPr id="64" name="Text 62"/>
          <p:cNvSpPr txBox="1"/>
          <p:nvPr/>
        </p:nvSpPr>
        <p:spPr>
          <a:xfrm>
            <a:off x="10259568"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+0.09</a:t>
            </a:r>
            <a:endParaRPr lang="en-US" sz="1300" dirty="0"/>
          </a:p>
        </p:txBody>
      </p:sp>
      <p:sp>
        <p:nvSpPr>
          <p:cNvPr id="65" name="Text 63"/>
          <p:cNvSpPr txBox="1"/>
          <p:nvPr/>
        </p:nvSpPr>
        <p:spPr>
          <a:xfrm>
            <a:off x="6208776"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66" name="Shape 64"/>
          <p:cNvSpPr/>
          <p:nvPr/>
        </p:nvSpPr>
        <p:spPr>
          <a:xfrm>
            <a:off x="9363456" y="2139459"/>
            <a:ext cx="136109" cy="105898"/>
          </a:xfrm>
          <a:prstGeom prst="rect">
            <a:avLst/>
          </a:prstGeom>
          <a:solidFill>
            <a:srgbClr val="12A566"/>
          </a:solidFill>
          <a:ln/>
        </p:spPr>
      </p:sp>
      <p:sp>
        <p:nvSpPr>
          <p:cNvPr id="67" name="Text 65"/>
          <p:cNvSpPr txBox="1"/>
          <p:nvPr/>
        </p:nvSpPr>
        <p:spPr>
          <a:xfrm>
            <a:off x="10259568"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+0.09</a:t>
            </a:r>
            <a:endParaRPr lang="en-US" sz="1300" dirty="0"/>
          </a:p>
        </p:txBody>
      </p:sp>
      <p:sp>
        <p:nvSpPr>
          <p:cNvPr id="68" name="Text 66"/>
          <p:cNvSpPr txBox="1"/>
          <p:nvPr/>
        </p:nvSpPr>
        <p:spPr>
          <a:xfrm>
            <a:off x="6208776"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69" name="Shape 67"/>
          <p:cNvSpPr/>
          <p:nvPr/>
        </p:nvSpPr>
        <p:spPr>
          <a:xfrm>
            <a:off x="9363456" y="2369673"/>
            <a:ext cx="129736" cy="105898"/>
          </a:xfrm>
          <a:prstGeom prst="rect">
            <a:avLst/>
          </a:prstGeom>
          <a:solidFill>
            <a:srgbClr val="12A566"/>
          </a:solidFill>
          <a:ln/>
        </p:spPr>
      </p:sp>
      <p:sp>
        <p:nvSpPr>
          <p:cNvPr id="70" name="Text 68"/>
          <p:cNvSpPr txBox="1"/>
          <p:nvPr/>
        </p:nvSpPr>
        <p:spPr>
          <a:xfrm>
            <a:off x="10259568"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+0.09</a:t>
            </a:r>
            <a:endParaRPr lang="en-US" sz="1300" dirty="0"/>
          </a:p>
        </p:txBody>
      </p:sp>
      <p:sp>
        <p:nvSpPr>
          <p:cNvPr id="71" name="Text 69"/>
          <p:cNvSpPr txBox="1"/>
          <p:nvPr/>
        </p:nvSpPr>
        <p:spPr>
          <a:xfrm>
            <a:off x="6208776"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72" name="Shape 70"/>
          <p:cNvSpPr/>
          <p:nvPr/>
        </p:nvSpPr>
        <p:spPr>
          <a:xfrm>
            <a:off x="9363456" y="2599887"/>
            <a:ext cx="121354" cy="105898"/>
          </a:xfrm>
          <a:prstGeom prst="rect">
            <a:avLst/>
          </a:prstGeom>
          <a:solidFill>
            <a:srgbClr val="12A566"/>
          </a:solidFill>
          <a:ln/>
        </p:spPr>
      </p:sp>
      <p:sp>
        <p:nvSpPr>
          <p:cNvPr id="73" name="Text 71"/>
          <p:cNvSpPr txBox="1"/>
          <p:nvPr/>
        </p:nvSpPr>
        <p:spPr>
          <a:xfrm>
            <a:off x="10259568"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+0.08</a:t>
            </a:r>
            <a:endParaRPr lang="en-US" sz="1300" dirty="0"/>
          </a:p>
        </p:txBody>
      </p:sp>
      <p:sp>
        <p:nvSpPr>
          <p:cNvPr id="74" name="Text 72"/>
          <p:cNvSpPr txBox="1"/>
          <p:nvPr/>
        </p:nvSpPr>
        <p:spPr>
          <a:xfrm>
            <a:off x="6208776"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75" name="Shape 73"/>
          <p:cNvSpPr/>
          <p:nvPr/>
        </p:nvSpPr>
        <p:spPr>
          <a:xfrm>
            <a:off x="9363456" y="2830100"/>
            <a:ext cx="118307" cy="105898"/>
          </a:xfrm>
          <a:prstGeom prst="rect">
            <a:avLst/>
          </a:prstGeom>
          <a:solidFill>
            <a:srgbClr val="12A566"/>
          </a:solidFill>
          <a:ln/>
        </p:spPr>
      </p:sp>
      <p:sp>
        <p:nvSpPr>
          <p:cNvPr id="76" name="Text 74"/>
          <p:cNvSpPr txBox="1"/>
          <p:nvPr/>
        </p:nvSpPr>
        <p:spPr>
          <a:xfrm>
            <a:off x="10259568"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+0.08</a:t>
            </a:r>
            <a:endParaRPr lang="en-US" sz="1300" dirty="0"/>
          </a:p>
        </p:txBody>
      </p:sp>
      <p:sp>
        <p:nvSpPr>
          <p:cNvPr id="77" name="Text 75"/>
          <p:cNvSpPr txBox="1"/>
          <p:nvPr/>
        </p:nvSpPr>
        <p:spPr>
          <a:xfrm>
            <a:off x="6208776"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78" name="Shape 76"/>
          <p:cNvSpPr/>
          <p:nvPr/>
        </p:nvSpPr>
        <p:spPr>
          <a:xfrm>
            <a:off x="9363456" y="3060314"/>
            <a:ext cx="67607" cy="105898"/>
          </a:xfrm>
          <a:prstGeom prst="rect">
            <a:avLst/>
          </a:prstGeom>
          <a:solidFill>
            <a:srgbClr val="12A566"/>
          </a:solidFill>
          <a:ln/>
        </p:spPr>
      </p:sp>
      <p:sp>
        <p:nvSpPr>
          <p:cNvPr id="79" name="Text 77"/>
          <p:cNvSpPr txBox="1"/>
          <p:nvPr/>
        </p:nvSpPr>
        <p:spPr>
          <a:xfrm>
            <a:off x="10259568"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+0.05</a:t>
            </a:r>
            <a:endParaRPr lang="en-US" sz="1300" dirty="0"/>
          </a:p>
        </p:txBody>
      </p:sp>
      <p:sp>
        <p:nvSpPr>
          <p:cNvPr id="80" name="Text 78"/>
          <p:cNvSpPr txBox="1"/>
          <p:nvPr/>
        </p:nvSpPr>
        <p:spPr>
          <a:xfrm>
            <a:off x="6208776"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81" name="Shape 79"/>
          <p:cNvSpPr/>
          <p:nvPr/>
        </p:nvSpPr>
        <p:spPr>
          <a:xfrm>
            <a:off x="9363456" y="3290528"/>
            <a:ext cx="61651" cy="105898"/>
          </a:xfrm>
          <a:prstGeom prst="rect">
            <a:avLst/>
          </a:prstGeom>
          <a:solidFill>
            <a:srgbClr val="12A566"/>
          </a:solidFill>
          <a:ln/>
        </p:spPr>
      </p:sp>
      <p:sp>
        <p:nvSpPr>
          <p:cNvPr id="82" name="Text 80"/>
          <p:cNvSpPr txBox="1"/>
          <p:nvPr/>
        </p:nvSpPr>
        <p:spPr>
          <a:xfrm>
            <a:off x="10259568" y="3228370"/>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+0.04</a:t>
            </a:r>
            <a:endParaRPr lang="en-US" sz="1300" dirty="0"/>
          </a:p>
        </p:txBody>
      </p:sp>
      <p:sp>
        <p:nvSpPr>
          <p:cNvPr id="83" name="Text 81"/>
          <p:cNvSpPr txBox="1"/>
          <p:nvPr/>
        </p:nvSpPr>
        <p:spPr>
          <a:xfrm>
            <a:off x="6208776"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84" name="Shape 82"/>
          <p:cNvSpPr/>
          <p:nvPr/>
        </p:nvSpPr>
        <p:spPr>
          <a:xfrm>
            <a:off x="9363456" y="3520741"/>
            <a:ext cx="12802" cy="105898"/>
          </a:xfrm>
          <a:prstGeom prst="rect">
            <a:avLst/>
          </a:prstGeom>
          <a:solidFill>
            <a:srgbClr val="12A566"/>
          </a:solidFill>
          <a:ln/>
        </p:spPr>
      </p:sp>
      <p:sp>
        <p:nvSpPr>
          <p:cNvPr id="85" name="Text 83"/>
          <p:cNvSpPr txBox="1"/>
          <p:nvPr/>
        </p:nvSpPr>
        <p:spPr>
          <a:xfrm>
            <a:off x="10259568" y="345858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+0.01</a:t>
            </a:r>
            <a:endParaRPr lang="en-US" sz="1300" dirty="0"/>
          </a:p>
        </p:txBody>
      </p:sp>
      <p:sp>
        <p:nvSpPr>
          <p:cNvPr id="86" name="Text 84"/>
          <p:cNvSpPr txBox="1"/>
          <p:nvPr/>
        </p:nvSpPr>
        <p:spPr>
          <a:xfrm>
            <a:off x="6208776"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87" name="Shape 85"/>
          <p:cNvSpPr/>
          <p:nvPr/>
        </p:nvSpPr>
        <p:spPr>
          <a:xfrm>
            <a:off x="9363456" y="3750955"/>
            <a:ext cx="12802" cy="105898"/>
          </a:xfrm>
          <a:prstGeom prst="rect">
            <a:avLst/>
          </a:prstGeom>
          <a:solidFill>
            <a:srgbClr val="12A566"/>
          </a:solidFill>
          <a:ln/>
        </p:spPr>
      </p:sp>
      <p:sp>
        <p:nvSpPr>
          <p:cNvPr id="88" name="Text 86"/>
          <p:cNvSpPr txBox="1"/>
          <p:nvPr/>
        </p:nvSpPr>
        <p:spPr>
          <a:xfrm>
            <a:off x="10259568" y="3688797"/>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+0.00</a:t>
            </a:r>
            <a:endParaRPr lang="en-US" sz="1300" dirty="0"/>
          </a:p>
        </p:txBody>
      </p:sp>
      <p:sp>
        <p:nvSpPr>
          <p:cNvPr id="89" name="Text 87"/>
          <p:cNvSpPr txBox="1"/>
          <p:nvPr/>
        </p:nvSpPr>
        <p:spPr>
          <a:xfrm>
            <a:off x="6208776"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90" name="Shape 88"/>
          <p:cNvSpPr/>
          <p:nvPr/>
        </p:nvSpPr>
        <p:spPr>
          <a:xfrm>
            <a:off x="9322637" y="3981169"/>
            <a:ext cx="40819" cy="105898"/>
          </a:xfrm>
          <a:prstGeom prst="rect">
            <a:avLst/>
          </a:prstGeom>
          <a:solidFill>
            <a:srgbClr val="C2352F"/>
          </a:solidFill>
          <a:ln/>
        </p:spPr>
      </p:sp>
      <p:sp>
        <p:nvSpPr>
          <p:cNvPr id="91" name="Text 89"/>
          <p:cNvSpPr txBox="1"/>
          <p:nvPr/>
        </p:nvSpPr>
        <p:spPr>
          <a:xfrm>
            <a:off x="10259568" y="3919011"/>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−0.03</a:t>
            </a:r>
            <a:endParaRPr lang="en-US" sz="1300" dirty="0"/>
          </a:p>
        </p:txBody>
      </p:sp>
      <p:sp>
        <p:nvSpPr>
          <p:cNvPr id="92" name="Text 90"/>
          <p:cNvSpPr txBox="1"/>
          <p:nvPr/>
        </p:nvSpPr>
        <p:spPr>
          <a:xfrm>
            <a:off x="6208776"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93" name="Shape 91"/>
          <p:cNvSpPr/>
          <p:nvPr/>
        </p:nvSpPr>
        <p:spPr>
          <a:xfrm>
            <a:off x="9317113" y="4211382"/>
            <a:ext cx="46343" cy="105898"/>
          </a:xfrm>
          <a:prstGeom prst="rect">
            <a:avLst/>
          </a:prstGeom>
          <a:solidFill>
            <a:srgbClr val="C2352F"/>
          </a:solidFill>
          <a:ln/>
        </p:spPr>
      </p:sp>
      <p:sp>
        <p:nvSpPr>
          <p:cNvPr id="94" name="Text 92"/>
          <p:cNvSpPr txBox="1"/>
          <p:nvPr/>
        </p:nvSpPr>
        <p:spPr>
          <a:xfrm>
            <a:off x="10259568" y="414922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−0.03</a:t>
            </a:r>
            <a:endParaRPr lang="en-US" sz="1300" dirty="0"/>
          </a:p>
        </p:txBody>
      </p:sp>
      <p:sp>
        <p:nvSpPr>
          <p:cNvPr id="95" name="Text 93"/>
          <p:cNvSpPr txBox="1"/>
          <p:nvPr/>
        </p:nvSpPr>
        <p:spPr>
          <a:xfrm>
            <a:off x="6208776"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96" name="Shape 94"/>
          <p:cNvSpPr/>
          <p:nvPr/>
        </p:nvSpPr>
        <p:spPr>
          <a:xfrm>
            <a:off x="9260707" y="4441596"/>
            <a:ext cx="102749" cy="105898"/>
          </a:xfrm>
          <a:prstGeom prst="rect">
            <a:avLst/>
          </a:prstGeom>
          <a:solidFill>
            <a:srgbClr val="C2352F"/>
          </a:solidFill>
          <a:ln/>
        </p:spPr>
      </p:sp>
      <p:sp>
        <p:nvSpPr>
          <p:cNvPr id="97" name="Text 95"/>
          <p:cNvSpPr txBox="1"/>
          <p:nvPr/>
        </p:nvSpPr>
        <p:spPr>
          <a:xfrm>
            <a:off x="10259568" y="4379438"/>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−0.07</a:t>
            </a:r>
            <a:endParaRPr lang="en-US" sz="1300" dirty="0"/>
          </a:p>
        </p:txBody>
      </p:sp>
      <p:sp>
        <p:nvSpPr>
          <p:cNvPr id="98" name="Text 96"/>
          <p:cNvSpPr txBox="1"/>
          <p:nvPr/>
        </p:nvSpPr>
        <p:spPr>
          <a:xfrm>
            <a:off x="6208776"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99" name="Shape 97"/>
          <p:cNvSpPr/>
          <p:nvPr/>
        </p:nvSpPr>
        <p:spPr>
          <a:xfrm>
            <a:off x="9136828" y="4671809"/>
            <a:ext cx="226628" cy="105898"/>
          </a:xfrm>
          <a:prstGeom prst="rect">
            <a:avLst/>
          </a:prstGeom>
          <a:solidFill>
            <a:srgbClr val="C2352F"/>
          </a:solidFill>
          <a:ln/>
        </p:spPr>
      </p:sp>
      <p:sp>
        <p:nvSpPr>
          <p:cNvPr id="100" name="Text 98"/>
          <p:cNvSpPr txBox="1"/>
          <p:nvPr/>
        </p:nvSpPr>
        <p:spPr>
          <a:xfrm>
            <a:off x="10259568" y="4609652"/>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−0.15</a:t>
            </a:r>
            <a:endParaRPr lang="en-US" sz="1300" dirty="0"/>
          </a:p>
        </p:txBody>
      </p:sp>
      <p:sp>
        <p:nvSpPr>
          <p:cNvPr id="101" name="Text 99"/>
          <p:cNvSpPr txBox="1"/>
          <p:nvPr/>
        </p:nvSpPr>
        <p:spPr>
          <a:xfrm>
            <a:off x="6208776"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102" name="Shape 100"/>
          <p:cNvSpPr/>
          <p:nvPr/>
        </p:nvSpPr>
        <p:spPr>
          <a:xfrm>
            <a:off x="8999228" y="4902023"/>
            <a:ext cx="364228" cy="105898"/>
          </a:xfrm>
          <a:prstGeom prst="rect">
            <a:avLst/>
          </a:prstGeom>
          <a:solidFill>
            <a:srgbClr val="C2352F"/>
          </a:solidFill>
          <a:ln/>
        </p:spPr>
      </p:sp>
      <p:sp>
        <p:nvSpPr>
          <p:cNvPr id="103" name="Text 101"/>
          <p:cNvSpPr txBox="1"/>
          <p:nvPr/>
        </p:nvSpPr>
        <p:spPr>
          <a:xfrm>
            <a:off x="10259568" y="4839865"/>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−0.24</a:t>
            </a:r>
            <a:endParaRPr lang="en-US" sz="1300" dirty="0"/>
          </a:p>
        </p:txBody>
      </p:sp>
      <p:sp>
        <p:nvSpPr>
          <p:cNvPr id="104" name="Text 102"/>
          <p:cNvSpPr txBox="1"/>
          <p:nvPr/>
        </p:nvSpPr>
        <p:spPr>
          <a:xfrm>
            <a:off x="6208776"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105" name="Shape 103"/>
          <p:cNvSpPr/>
          <p:nvPr/>
        </p:nvSpPr>
        <p:spPr>
          <a:xfrm>
            <a:off x="8913803" y="5132237"/>
            <a:ext cx="449653" cy="105898"/>
          </a:xfrm>
          <a:prstGeom prst="rect">
            <a:avLst/>
          </a:prstGeom>
          <a:solidFill>
            <a:srgbClr val="C2352F"/>
          </a:solidFill>
          <a:ln/>
        </p:spPr>
      </p:sp>
      <p:sp>
        <p:nvSpPr>
          <p:cNvPr id="106" name="Text 104"/>
          <p:cNvSpPr txBox="1"/>
          <p:nvPr/>
        </p:nvSpPr>
        <p:spPr>
          <a:xfrm>
            <a:off x="10259568" y="5070079"/>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−0.30</a:t>
            </a:r>
            <a:endParaRPr lang="en-US" sz="1300" dirty="0"/>
          </a:p>
        </p:txBody>
      </p:sp>
      <p:sp>
        <p:nvSpPr>
          <p:cNvPr id="107" name="Text 105"/>
          <p:cNvSpPr txBox="1"/>
          <p:nvPr/>
        </p:nvSpPr>
        <p:spPr>
          <a:xfrm>
            <a:off x="6208776"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108" name="Shape 106"/>
          <p:cNvSpPr/>
          <p:nvPr/>
        </p:nvSpPr>
        <p:spPr>
          <a:xfrm>
            <a:off x="8540496" y="5362450"/>
            <a:ext cx="822960" cy="105898"/>
          </a:xfrm>
          <a:prstGeom prst="rect">
            <a:avLst/>
          </a:prstGeom>
          <a:solidFill>
            <a:srgbClr val="C2352F"/>
          </a:solidFill>
          <a:ln/>
        </p:spPr>
      </p:sp>
      <p:sp>
        <p:nvSpPr>
          <p:cNvPr id="109" name="Text 107"/>
          <p:cNvSpPr txBox="1"/>
          <p:nvPr/>
        </p:nvSpPr>
        <p:spPr>
          <a:xfrm>
            <a:off x="10259568" y="530029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−0.55</a:t>
            </a:r>
            <a:endParaRPr lang="en-US" sz="1300" dirty="0"/>
          </a:p>
        </p:txBody>
      </p:sp>
      <p:sp>
        <p:nvSpPr>
          <p:cNvPr id="110" name="Shape 108"/>
          <p:cNvSpPr/>
          <p:nvPr/>
        </p:nvSpPr>
        <p:spPr>
          <a:xfrm>
            <a:off x="3807562" y="1847088"/>
            <a:ext cx="10973" cy="3913632"/>
          </a:xfrm>
          <a:prstGeom prst="rect">
            <a:avLst/>
          </a:prstGeom>
          <a:solidFill>
            <a:srgbClr val="9AA3AD"/>
          </a:solidFill>
          <a:ln/>
        </p:spPr>
      </p:sp>
      <p:sp>
        <p:nvSpPr>
          <p:cNvPr id="111" name="Shape 109"/>
          <p:cNvSpPr/>
          <p:nvPr/>
        </p:nvSpPr>
        <p:spPr>
          <a:xfrm>
            <a:off x="9357970" y="1847088"/>
            <a:ext cx="10973" cy="3913632"/>
          </a:xfrm>
          <a:prstGeom prst="rect">
            <a:avLst/>
          </a:prstGeom>
          <a:solidFill>
            <a:srgbClr val="9AA3AD"/>
          </a:solidFill>
          <a:ln/>
        </p:spPr>
      </p:sp>
      <p:sp>
        <p:nvSpPr>
          <p:cNvPr id="112" name="Shape 110"/>
          <p:cNvSpPr/>
          <p:nvPr/>
        </p:nvSpPr>
        <p:spPr>
          <a:xfrm>
            <a:off x="457200" y="5961888"/>
            <a:ext cx="11274552" cy="548640"/>
          </a:xfrm>
          <a:prstGeom prst="rect">
            <a:avLst/>
          </a:prstGeom>
          <a:solidFill>
            <a:srgbClr val="E6F6EE"/>
          </a:solidFill>
          <a:ln/>
        </p:spPr>
      </p:sp>
      <p:sp>
        <p:nvSpPr>
          <p:cNvPr id="113" name="Text 111"/>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26 of 33 stores sold more hours per RO, led by SUBARU ST GEORGE at +0.55 to 2.30. 7 declined; LR RENO fell most at −0.55.</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ELR</a:t>
            </a:r>
            <a:endParaRPr lang="en-US" sz="2800" dirty="0"/>
          </a:p>
        </p:txBody>
      </p:sp>
      <p:sp>
        <p:nvSpPr>
          <p:cNvPr id="5" name="Shape 3"/>
          <p:cNvSpPr/>
          <p:nvPr/>
        </p:nvSpPr>
        <p:spPr>
          <a:xfrm>
            <a:off x="457200" y="1207008"/>
            <a:ext cx="11274552" cy="1517904"/>
          </a:xfrm>
          <a:prstGeom prst="rect">
            <a:avLst/>
          </a:prstGeom>
          <a:solidFill>
            <a:srgbClr val="FFFFFF"/>
          </a:solidFill>
          <a:ln/>
        </p:spPr>
      </p:sp>
      <p:sp>
        <p:nvSpPr>
          <p:cNvPr id="6" name="Text 4"/>
          <p:cNvSpPr txBox="1"/>
          <p:nvPr/>
        </p:nvSpPr>
        <p:spPr>
          <a:xfrm>
            <a:off x="685800" y="1316736"/>
            <a:ext cx="10789920" cy="274320"/>
          </a:xfrm>
          <a:prstGeom prst="rect">
            <a:avLst/>
          </a:prstGeom>
          <a:noFill/>
          <a:ln/>
        </p:spPr>
        <p:txBody>
          <a:bodyPr wrap="square" lIns="0" tIns="0" rIns="0" bIns="0" rtlCol="0" anchor="ctr"/>
          <a:lstStyle/>
          <a:p>
            <a:pPr indent="0" marL="0">
              <a:buNone/>
            </a:pPr>
            <a:r>
              <a:rPr lang="en-US" sz="1400" spc="100" kern="0" dirty="0">
                <a:solidFill>
                  <a:srgbClr val="595959"/>
                </a:solidFill>
                <a:latin typeface="Inter" pitchFamily="34" charset="0"/>
                <a:ea typeface="Inter" pitchFamily="34" charset="-122"/>
                <a:cs typeface="Inter" pitchFamily="34" charset="-120"/>
              </a:rPr>
              <a:t>GROUP · JANUARY–SEPTEMBER · SAME-STORE, 33 STORES</a:t>
            </a:r>
            <a:endParaRPr lang="en-US" sz="1400" dirty="0"/>
          </a:p>
        </p:txBody>
      </p:sp>
      <p:sp>
        <p:nvSpPr>
          <p:cNvPr id="7" name="Text 5"/>
          <p:cNvSpPr txBox="1"/>
          <p:nvPr/>
        </p:nvSpPr>
        <p:spPr>
          <a:xfrm>
            <a:off x="68580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a:t>
            </a:r>
            <a:endParaRPr lang="en-US" sz="1400" dirty="0"/>
          </a:p>
        </p:txBody>
      </p:sp>
      <p:sp>
        <p:nvSpPr>
          <p:cNvPr id="8" name="Text 6"/>
          <p:cNvSpPr txBox="1"/>
          <p:nvPr/>
        </p:nvSpPr>
        <p:spPr>
          <a:xfrm>
            <a:off x="68580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$158.86</a:t>
            </a:r>
            <a:endParaRPr lang="en-US" sz="3000" dirty="0"/>
          </a:p>
        </p:txBody>
      </p:sp>
      <p:sp>
        <p:nvSpPr>
          <p:cNvPr id="9" name="Text 7"/>
          <p:cNvSpPr txBox="1"/>
          <p:nvPr/>
        </p:nvSpPr>
        <p:spPr>
          <a:xfrm>
            <a:off x="347472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a:t>
            </a:r>
            <a:endParaRPr lang="en-US" sz="1400" dirty="0"/>
          </a:p>
        </p:txBody>
      </p:sp>
      <p:sp>
        <p:nvSpPr>
          <p:cNvPr id="10" name="Text 8"/>
          <p:cNvSpPr txBox="1"/>
          <p:nvPr/>
        </p:nvSpPr>
        <p:spPr>
          <a:xfrm>
            <a:off x="347472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$162.42</a:t>
            </a:r>
            <a:endParaRPr lang="en-US" sz="3000" dirty="0"/>
          </a:p>
        </p:txBody>
      </p:sp>
      <p:sp>
        <p:nvSpPr>
          <p:cNvPr id="11" name="Text 9"/>
          <p:cNvSpPr txBox="1"/>
          <p:nvPr/>
        </p:nvSpPr>
        <p:spPr>
          <a:xfrm>
            <a:off x="626364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2" name="Text 10"/>
          <p:cNvSpPr txBox="1"/>
          <p:nvPr/>
        </p:nvSpPr>
        <p:spPr>
          <a:xfrm>
            <a:off x="626364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+$3.56</a:t>
            </a:r>
            <a:endParaRPr lang="en-US" sz="3000" dirty="0"/>
          </a:p>
        </p:txBody>
      </p:sp>
      <p:sp>
        <p:nvSpPr>
          <p:cNvPr id="13" name="Text 11"/>
          <p:cNvSpPr txBox="1"/>
          <p:nvPr/>
        </p:nvSpPr>
        <p:spPr>
          <a:xfrm>
            <a:off x="905256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4" name="Text 12"/>
          <p:cNvSpPr txBox="1"/>
          <p:nvPr/>
        </p:nvSpPr>
        <p:spPr>
          <a:xfrm>
            <a:off x="905256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+2.2%</a:t>
            </a:r>
            <a:endParaRPr lang="en-US" sz="30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457200" y="2816352"/>
          <a:ext cx="11274552" cy="914400"/>
        </p:xfrm>
        <a:graphic>
          <a:graphicData uri="http://schemas.openxmlformats.org/drawingml/2006/table">
            <a:tbl>
              <a:tblPr/>
              <a:tblGrid>
                <a:gridCol w="3118104"/>
                <a:gridCol w="2039112"/>
                <a:gridCol w="2039112"/>
                <a:gridCol w="2039112"/>
                <a:gridCol w="2039112"/>
              </a:tblGrid>
              <a:tr h="274320">
                <a:tc>
                  <a:txBody>
                    <a:bodyPr/>
                    <a:lstStyle/>
                    <a:p>
                      <a:pPr algn="l" indent="0" marL="0">
                        <a:buNone/>
                      </a:pPr>
                      <a:r>
                        <a:rPr lang="en-US" sz="1400" b="1" dirty="0">
                          <a:solidFill>
                            <a:srgbClr val="FFFFFF"/>
                          </a:solidFill>
                          <a:latin typeface="Inter" pitchFamily="34" charset="0"/>
                          <a:ea typeface="Inter" pitchFamily="34" charset="-122"/>
                          <a:cs typeface="Inter" pitchFamily="34" charset="-120"/>
                        </a:rPr>
                        <a:t>MONTH</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VARIANCE</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 %</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JAN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$157.20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$161.13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+$3.93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FEB</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$159.46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$162.30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+$2.85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$158.38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$162.02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+$3.64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APR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$158.80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$162.06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MAY</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$158.09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$161.12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+$3.03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$159.24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$162.01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+$2.77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JUL</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$159.33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$162.60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AUG</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$160.09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$164.83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+$4.74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SEP</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$159.15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$163.61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+$4.46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16" name="Shape 13"/>
          <p:cNvSpPr/>
          <p:nvPr/>
        </p:nvSpPr>
        <p:spPr>
          <a:xfrm>
            <a:off x="457200" y="5961888"/>
            <a:ext cx="11274552" cy="548640"/>
          </a:xfrm>
          <a:prstGeom prst="rect">
            <a:avLst/>
          </a:prstGeom>
          <a:solidFill>
            <a:srgbClr val="E6F6EE"/>
          </a:solidFill>
          <a:ln/>
        </p:spPr>
      </p:sp>
      <p:sp>
        <p:nvSpPr>
          <p:cNvPr id="17" name="Text 14"/>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Up $3.56 to $162.42, ahead of 2025 in all nine months.</a:t>
            </a: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ELR</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316736"/>
            <a:ext cx="3383280" cy="32918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LUXURY · 9 STORES</a:t>
            </a:r>
            <a:endParaRPr lang="en-US" sz="1400" dirty="0"/>
          </a:p>
        </p:txBody>
      </p:sp>
      <p:sp>
        <p:nvSpPr>
          <p:cNvPr id="7" name="Text 5"/>
          <p:cNvSpPr txBox="1"/>
          <p:nvPr/>
        </p:nvSpPr>
        <p:spPr>
          <a:xfrm>
            <a:off x="658368" y="1755648"/>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8" name="Shape 6"/>
          <p:cNvSpPr/>
          <p:nvPr/>
        </p:nvSpPr>
        <p:spPr>
          <a:xfrm>
            <a:off x="2267712" y="1832317"/>
            <a:ext cx="1030941" cy="153338"/>
          </a:xfrm>
          <a:prstGeom prst="rect">
            <a:avLst/>
          </a:prstGeom>
          <a:solidFill>
            <a:srgbClr val="12A566"/>
          </a:solidFill>
          <a:ln/>
        </p:spPr>
      </p:sp>
      <p:sp>
        <p:nvSpPr>
          <p:cNvPr id="9" name="Text 7"/>
          <p:cNvSpPr txBox="1"/>
          <p:nvPr/>
        </p:nvSpPr>
        <p:spPr>
          <a:xfrm>
            <a:off x="3355848" y="1755648"/>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$266.32</a:t>
            </a:r>
            <a:endParaRPr lang="en-US" sz="1300" dirty="0"/>
          </a:p>
        </p:txBody>
      </p:sp>
      <p:sp>
        <p:nvSpPr>
          <p:cNvPr id="10" name="Text 8"/>
          <p:cNvSpPr txBox="1"/>
          <p:nvPr/>
        </p:nvSpPr>
        <p:spPr>
          <a:xfrm>
            <a:off x="658368" y="2062324"/>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11" name="Shape 9"/>
          <p:cNvSpPr/>
          <p:nvPr/>
        </p:nvSpPr>
        <p:spPr>
          <a:xfrm>
            <a:off x="2267712" y="2138993"/>
            <a:ext cx="909937" cy="153338"/>
          </a:xfrm>
          <a:prstGeom prst="rect">
            <a:avLst/>
          </a:prstGeom>
          <a:solidFill>
            <a:srgbClr val="12A566"/>
          </a:solidFill>
          <a:ln/>
        </p:spPr>
      </p:sp>
      <p:sp>
        <p:nvSpPr>
          <p:cNvPr id="12" name="Text 10"/>
          <p:cNvSpPr txBox="1"/>
          <p:nvPr/>
        </p:nvSpPr>
        <p:spPr>
          <a:xfrm>
            <a:off x="3355848" y="2062324"/>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$235.07</a:t>
            </a:r>
            <a:endParaRPr lang="en-US" sz="1300" dirty="0"/>
          </a:p>
        </p:txBody>
      </p:sp>
      <p:sp>
        <p:nvSpPr>
          <p:cNvPr id="13" name="Text 11"/>
          <p:cNvSpPr txBox="1"/>
          <p:nvPr/>
        </p:nvSpPr>
        <p:spPr>
          <a:xfrm>
            <a:off x="658368" y="2368999"/>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14" name="Shape 12"/>
          <p:cNvSpPr/>
          <p:nvPr/>
        </p:nvSpPr>
        <p:spPr>
          <a:xfrm>
            <a:off x="2267712" y="2445668"/>
            <a:ext cx="907949" cy="153338"/>
          </a:xfrm>
          <a:prstGeom prst="rect">
            <a:avLst/>
          </a:prstGeom>
          <a:solidFill>
            <a:srgbClr val="12A566"/>
          </a:solidFill>
          <a:ln/>
        </p:spPr>
      </p:sp>
      <p:sp>
        <p:nvSpPr>
          <p:cNvPr id="15" name="Text 13"/>
          <p:cNvSpPr txBox="1"/>
          <p:nvPr/>
        </p:nvSpPr>
        <p:spPr>
          <a:xfrm>
            <a:off x="3355848" y="2368999"/>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$234.55</a:t>
            </a:r>
            <a:endParaRPr lang="en-US" sz="1300" dirty="0"/>
          </a:p>
        </p:txBody>
      </p:sp>
      <p:sp>
        <p:nvSpPr>
          <p:cNvPr id="16" name="Text 14"/>
          <p:cNvSpPr txBox="1"/>
          <p:nvPr/>
        </p:nvSpPr>
        <p:spPr>
          <a:xfrm>
            <a:off x="658368" y="2675675"/>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17" name="Shape 15"/>
          <p:cNvSpPr/>
          <p:nvPr/>
        </p:nvSpPr>
        <p:spPr>
          <a:xfrm>
            <a:off x="2267712" y="2752344"/>
            <a:ext cx="905009" cy="153338"/>
          </a:xfrm>
          <a:prstGeom prst="rect">
            <a:avLst/>
          </a:prstGeom>
          <a:solidFill>
            <a:srgbClr val="12A566"/>
          </a:solidFill>
          <a:ln/>
        </p:spPr>
      </p:sp>
      <p:sp>
        <p:nvSpPr>
          <p:cNvPr id="18" name="Text 16"/>
          <p:cNvSpPr txBox="1"/>
          <p:nvPr/>
        </p:nvSpPr>
        <p:spPr>
          <a:xfrm>
            <a:off x="3355848" y="2675675"/>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$233.79</a:t>
            </a:r>
            <a:endParaRPr lang="en-US" sz="1300" dirty="0"/>
          </a:p>
        </p:txBody>
      </p:sp>
      <p:sp>
        <p:nvSpPr>
          <p:cNvPr id="19" name="Text 17"/>
          <p:cNvSpPr txBox="1"/>
          <p:nvPr/>
        </p:nvSpPr>
        <p:spPr>
          <a:xfrm>
            <a:off x="658368" y="2982351"/>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20" name="Shape 18"/>
          <p:cNvSpPr/>
          <p:nvPr/>
        </p:nvSpPr>
        <p:spPr>
          <a:xfrm>
            <a:off x="2267712" y="3059020"/>
            <a:ext cx="903719" cy="153338"/>
          </a:xfrm>
          <a:prstGeom prst="rect">
            <a:avLst/>
          </a:prstGeom>
          <a:solidFill>
            <a:srgbClr val="12A566"/>
          </a:solidFill>
          <a:ln/>
        </p:spPr>
      </p:sp>
      <p:sp>
        <p:nvSpPr>
          <p:cNvPr id="21" name="Text 19"/>
          <p:cNvSpPr txBox="1"/>
          <p:nvPr/>
        </p:nvSpPr>
        <p:spPr>
          <a:xfrm>
            <a:off x="3355848" y="2982351"/>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$233.46</a:t>
            </a:r>
            <a:endParaRPr lang="en-US" sz="1300" dirty="0"/>
          </a:p>
        </p:txBody>
      </p:sp>
      <p:sp>
        <p:nvSpPr>
          <p:cNvPr id="22" name="Text 20"/>
          <p:cNvSpPr txBox="1"/>
          <p:nvPr/>
        </p:nvSpPr>
        <p:spPr>
          <a:xfrm>
            <a:off x="658368" y="3289026"/>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23" name="Shape 21"/>
          <p:cNvSpPr/>
          <p:nvPr/>
        </p:nvSpPr>
        <p:spPr>
          <a:xfrm>
            <a:off x="2267712" y="3365695"/>
            <a:ext cx="859813" cy="153338"/>
          </a:xfrm>
          <a:prstGeom prst="rect">
            <a:avLst/>
          </a:prstGeom>
          <a:solidFill>
            <a:srgbClr val="12A566"/>
          </a:solidFill>
          <a:ln/>
        </p:spPr>
      </p:sp>
      <p:sp>
        <p:nvSpPr>
          <p:cNvPr id="24" name="Text 22"/>
          <p:cNvSpPr txBox="1"/>
          <p:nvPr/>
        </p:nvSpPr>
        <p:spPr>
          <a:xfrm>
            <a:off x="3355848" y="3289026"/>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$222.12</a:t>
            </a:r>
            <a:endParaRPr lang="en-US" sz="1300" dirty="0"/>
          </a:p>
        </p:txBody>
      </p:sp>
      <p:sp>
        <p:nvSpPr>
          <p:cNvPr id="25" name="Shape 23"/>
          <p:cNvSpPr/>
          <p:nvPr/>
        </p:nvSpPr>
        <p:spPr>
          <a:xfrm>
            <a:off x="603504" y="3595702"/>
            <a:ext cx="3566160" cy="297532"/>
          </a:xfrm>
          <a:prstGeom prst="rect">
            <a:avLst/>
          </a:prstGeom>
          <a:solidFill>
            <a:srgbClr val="EDF4FA"/>
          </a:solidFill>
          <a:ln/>
        </p:spPr>
      </p:sp>
      <p:sp>
        <p:nvSpPr>
          <p:cNvPr id="26" name="Text 24"/>
          <p:cNvSpPr txBox="1"/>
          <p:nvPr/>
        </p:nvSpPr>
        <p:spPr>
          <a:xfrm>
            <a:off x="658368" y="3595702"/>
            <a:ext cx="1554480" cy="306676"/>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LUXURY</a:t>
            </a:r>
            <a:endParaRPr lang="en-US" sz="1300" dirty="0"/>
          </a:p>
        </p:txBody>
      </p:sp>
      <p:sp>
        <p:nvSpPr>
          <p:cNvPr id="27" name="Shape 25"/>
          <p:cNvSpPr/>
          <p:nvPr/>
        </p:nvSpPr>
        <p:spPr>
          <a:xfrm>
            <a:off x="2267712" y="3672371"/>
            <a:ext cx="843067" cy="153338"/>
          </a:xfrm>
          <a:prstGeom prst="rect">
            <a:avLst/>
          </a:prstGeom>
          <a:solidFill>
            <a:srgbClr val="0B2C4A"/>
          </a:solidFill>
          <a:ln/>
        </p:spPr>
      </p:sp>
      <p:sp>
        <p:nvSpPr>
          <p:cNvPr id="28" name="Text 26"/>
          <p:cNvSpPr txBox="1"/>
          <p:nvPr/>
        </p:nvSpPr>
        <p:spPr>
          <a:xfrm>
            <a:off x="3355848" y="3595702"/>
            <a:ext cx="777240" cy="306676"/>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$217.79</a:t>
            </a:r>
            <a:endParaRPr lang="en-US" sz="1300" dirty="0"/>
          </a:p>
        </p:txBody>
      </p:sp>
      <p:sp>
        <p:nvSpPr>
          <p:cNvPr id="29" name="Text 27"/>
          <p:cNvSpPr txBox="1"/>
          <p:nvPr/>
        </p:nvSpPr>
        <p:spPr>
          <a:xfrm>
            <a:off x="658368" y="3902378"/>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30" name="Shape 28"/>
          <p:cNvSpPr/>
          <p:nvPr/>
        </p:nvSpPr>
        <p:spPr>
          <a:xfrm>
            <a:off x="2267712" y="3979047"/>
            <a:ext cx="748218" cy="153338"/>
          </a:xfrm>
          <a:prstGeom prst="rect">
            <a:avLst/>
          </a:prstGeom>
          <a:solidFill>
            <a:srgbClr val="C2352F"/>
          </a:solidFill>
          <a:ln/>
        </p:spPr>
      </p:sp>
      <p:sp>
        <p:nvSpPr>
          <p:cNvPr id="31" name="Text 29"/>
          <p:cNvSpPr txBox="1"/>
          <p:nvPr/>
        </p:nvSpPr>
        <p:spPr>
          <a:xfrm>
            <a:off x="3355848" y="3902378"/>
            <a:ext cx="777240"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$193.29</a:t>
            </a:r>
            <a:endParaRPr lang="en-US" sz="1300" dirty="0"/>
          </a:p>
        </p:txBody>
      </p:sp>
      <p:sp>
        <p:nvSpPr>
          <p:cNvPr id="32" name="Text 30"/>
          <p:cNvSpPr txBox="1"/>
          <p:nvPr/>
        </p:nvSpPr>
        <p:spPr>
          <a:xfrm>
            <a:off x="658368" y="4209054"/>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33" name="Shape 31"/>
          <p:cNvSpPr/>
          <p:nvPr/>
        </p:nvSpPr>
        <p:spPr>
          <a:xfrm>
            <a:off x="2267712" y="4285722"/>
            <a:ext cx="658116" cy="153338"/>
          </a:xfrm>
          <a:prstGeom prst="rect">
            <a:avLst/>
          </a:prstGeom>
          <a:solidFill>
            <a:srgbClr val="C2352F"/>
          </a:solidFill>
          <a:ln/>
        </p:spPr>
      </p:sp>
      <p:sp>
        <p:nvSpPr>
          <p:cNvPr id="34" name="Text 32"/>
          <p:cNvSpPr txBox="1"/>
          <p:nvPr/>
        </p:nvSpPr>
        <p:spPr>
          <a:xfrm>
            <a:off x="3355848" y="4209054"/>
            <a:ext cx="777240"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$170.01</a:t>
            </a:r>
            <a:endParaRPr lang="en-US" sz="1300" dirty="0"/>
          </a:p>
        </p:txBody>
      </p:sp>
      <p:sp>
        <p:nvSpPr>
          <p:cNvPr id="35" name="Text 33"/>
          <p:cNvSpPr txBox="1"/>
          <p:nvPr/>
        </p:nvSpPr>
        <p:spPr>
          <a:xfrm>
            <a:off x="658368" y="4515729"/>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36" name="Shape 34"/>
          <p:cNvSpPr/>
          <p:nvPr/>
        </p:nvSpPr>
        <p:spPr>
          <a:xfrm>
            <a:off x="2267712" y="4592398"/>
            <a:ext cx="648916" cy="153338"/>
          </a:xfrm>
          <a:prstGeom prst="rect">
            <a:avLst/>
          </a:prstGeom>
          <a:solidFill>
            <a:srgbClr val="C2352F"/>
          </a:solidFill>
          <a:ln/>
        </p:spPr>
      </p:sp>
      <p:sp>
        <p:nvSpPr>
          <p:cNvPr id="37" name="Text 35"/>
          <p:cNvSpPr txBox="1"/>
          <p:nvPr/>
        </p:nvSpPr>
        <p:spPr>
          <a:xfrm>
            <a:off x="3355848" y="4515729"/>
            <a:ext cx="777240"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$167.64</a:t>
            </a:r>
            <a:endParaRPr lang="en-US" sz="1300" dirty="0"/>
          </a:p>
        </p:txBody>
      </p:sp>
      <p:sp>
        <p:nvSpPr>
          <p:cNvPr id="38" name="Text 36"/>
          <p:cNvSpPr txBox="1"/>
          <p:nvPr/>
        </p:nvSpPr>
        <p:spPr>
          <a:xfrm>
            <a:off x="658368" y="4950421"/>
            <a:ext cx="3383280" cy="36576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LUXURY AVG  </a:t>
            </a:r>
            <a:pPr indent="0" marL="0">
              <a:buNone/>
            </a:pPr>
            <a:r>
              <a:rPr lang="en-US" sz="1800" b="1" dirty="0">
                <a:solidFill>
                  <a:srgbClr val="0B2C4A"/>
                </a:solidFill>
                <a:latin typeface="Inter" pitchFamily="34" charset="0"/>
                <a:ea typeface="Inter" pitchFamily="34" charset="-122"/>
                <a:cs typeface="Inter" pitchFamily="34" charset="-120"/>
              </a:rPr>
              <a:t>$217.79  </a:t>
            </a:r>
            <a:pPr indent="0" marL="0">
              <a:buNone/>
            </a:pPr>
            <a:r>
              <a:rPr lang="en-US" sz="1400" b="1" dirty="0">
                <a:solidFill>
                  <a:srgbClr val="0B7A4A"/>
                </a:solidFill>
                <a:latin typeface="Inter" pitchFamily="34" charset="0"/>
                <a:ea typeface="Inter" pitchFamily="34" charset="-122"/>
                <a:cs typeface="Inter" pitchFamily="34" charset="-120"/>
              </a:rPr>
              <a:t>(+$6.75)</a:t>
            </a:r>
            <a:endParaRPr lang="en-US" sz="1400" dirty="0"/>
          </a:p>
        </p:txBody>
      </p:sp>
      <p:sp>
        <p:nvSpPr>
          <p:cNvPr id="39" name="Text 37"/>
          <p:cNvSpPr txBox="1"/>
          <p:nvPr/>
        </p:nvSpPr>
        <p:spPr>
          <a:xfrm>
            <a:off x="658368" y="5334469"/>
            <a:ext cx="3383280" cy="36576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NON-LUXURY AVG  </a:t>
            </a:r>
            <a:pPr indent="0" marL="0">
              <a:buNone/>
            </a:pPr>
            <a:r>
              <a:rPr lang="en-US" sz="1800" b="1" dirty="0">
                <a:solidFill>
                  <a:srgbClr val="0B2C4A"/>
                </a:solidFill>
                <a:latin typeface="Inter" pitchFamily="34" charset="0"/>
                <a:ea typeface="Inter" pitchFamily="34" charset="-122"/>
                <a:cs typeface="Inter" pitchFamily="34" charset="-120"/>
              </a:rPr>
              <a:t>$151.32  </a:t>
            </a:r>
            <a:pPr indent="0" marL="0">
              <a:buNone/>
            </a:pPr>
            <a:r>
              <a:rPr lang="en-US" sz="1400" b="1" dirty="0">
                <a:solidFill>
                  <a:srgbClr val="0B7A4A"/>
                </a:solidFill>
                <a:latin typeface="Inter" pitchFamily="34" charset="0"/>
                <a:ea typeface="Inter" pitchFamily="34" charset="-122"/>
                <a:cs typeface="Inter" pitchFamily="34" charset="-120"/>
              </a:rPr>
              <a:t>(+$3.00)</a:t>
            </a:r>
            <a:endParaRPr lang="en-US" sz="1400" dirty="0"/>
          </a:p>
        </p:txBody>
      </p:sp>
      <p:sp>
        <p:nvSpPr>
          <p:cNvPr id="40" name="Text 38"/>
          <p:cNvSpPr txBox="1"/>
          <p:nvPr/>
        </p:nvSpPr>
        <p:spPr>
          <a:xfrm>
            <a:off x="4315968" y="1316736"/>
            <a:ext cx="7132320" cy="32918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NON-LUXURY · 24 STORES</a:t>
            </a:r>
            <a:endParaRPr lang="en-US" sz="1400" dirty="0"/>
          </a:p>
        </p:txBody>
      </p:sp>
      <p:sp>
        <p:nvSpPr>
          <p:cNvPr id="41" name="Text 39"/>
          <p:cNvSpPr txBox="1"/>
          <p:nvPr/>
        </p:nvSpPr>
        <p:spPr>
          <a:xfrm>
            <a:off x="4315968" y="1755648"/>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42" name="Shape 40"/>
          <p:cNvSpPr/>
          <p:nvPr/>
        </p:nvSpPr>
        <p:spPr>
          <a:xfrm>
            <a:off x="6291072" y="1832317"/>
            <a:ext cx="627529" cy="153338"/>
          </a:xfrm>
          <a:prstGeom prst="rect">
            <a:avLst/>
          </a:prstGeom>
          <a:solidFill>
            <a:srgbClr val="12A566"/>
          </a:solidFill>
          <a:ln/>
        </p:spPr>
      </p:sp>
      <p:sp>
        <p:nvSpPr>
          <p:cNvPr id="43" name="Text 41"/>
          <p:cNvSpPr txBox="1"/>
          <p:nvPr/>
        </p:nvSpPr>
        <p:spPr>
          <a:xfrm>
            <a:off x="6967728" y="1755648"/>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$210.50</a:t>
            </a:r>
            <a:endParaRPr lang="en-US" sz="1300" dirty="0"/>
          </a:p>
        </p:txBody>
      </p:sp>
      <p:sp>
        <p:nvSpPr>
          <p:cNvPr id="44" name="Text 42"/>
          <p:cNvSpPr txBox="1"/>
          <p:nvPr/>
        </p:nvSpPr>
        <p:spPr>
          <a:xfrm>
            <a:off x="4315968" y="2062324"/>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45" name="Shape 43"/>
          <p:cNvSpPr/>
          <p:nvPr/>
        </p:nvSpPr>
        <p:spPr>
          <a:xfrm>
            <a:off x="6291072" y="2138993"/>
            <a:ext cx="524370" cy="153338"/>
          </a:xfrm>
          <a:prstGeom prst="rect">
            <a:avLst/>
          </a:prstGeom>
          <a:solidFill>
            <a:srgbClr val="12A566"/>
          </a:solidFill>
          <a:ln/>
        </p:spPr>
      </p:sp>
      <p:sp>
        <p:nvSpPr>
          <p:cNvPr id="46" name="Text 44"/>
          <p:cNvSpPr txBox="1"/>
          <p:nvPr/>
        </p:nvSpPr>
        <p:spPr>
          <a:xfrm>
            <a:off x="6967728" y="2062324"/>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$175.90</a:t>
            </a:r>
            <a:endParaRPr lang="en-US" sz="1300" dirty="0"/>
          </a:p>
        </p:txBody>
      </p:sp>
      <p:sp>
        <p:nvSpPr>
          <p:cNvPr id="47" name="Text 45"/>
          <p:cNvSpPr txBox="1"/>
          <p:nvPr/>
        </p:nvSpPr>
        <p:spPr>
          <a:xfrm>
            <a:off x="4315968" y="2368999"/>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48" name="Shape 46"/>
          <p:cNvSpPr/>
          <p:nvPr/>
        </p:nvSpPr>
        <p:spPr>
          <a:xfrm>
            <a:off x="6291072" y="2445668"/>
            <a:ext cx="496190" cy="153338"/>
          </a:xfrm>
          <a:prstGeom prst="rect">
            <a:avLst/>
          </a:prstGeom>
          <a:solidFill>
            <a:srgbClr val="12A566"/>
          </a:solidFill>
          <a:ln/>
        </p:spPr>
      </p:sp>
      <p:sp>
        <p:nvSpPr>
          <p:cNvPr id="49" name="Text 47"/>
          <p:cNvSpPr txBox="1"/>
          <p:nvPr/>
        </p:nvSpPr>
        <p:spPr>
          <a:xfrm>
            <a:off x="6967728" y="2368999"/>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$166.44</a:t>
            </a:r>
            <a:endParaRPr lang="en-US" sz="1300" dirty="0"/>
          </a:p>
        </p:txBody>
      </p:sp>
      <p:sp>
        <p:nvSpPr>
          <p:cNvPr id="50" name="Text 48"/>
          <p:cNvSpPr txBox="1"/>
          <p:nvPr/>
        </p:nvSpPr>
        <p:spPr>
          <a:xfrm>
            <a:off x="4315968" y="2675675"/>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51" name="Shape 49"/>
          <p:cNvSpPr/>
          <p:nvPr/>
        </p:nvSpPr>
        <p:spPr>
          <a:xfrm>
            <a:off x="6291072" y="2752344"/>
            <a:ext cx="487825" cy="153338"/>
          </a:xfrm>
          <a:prstGeom prst="rect">
            <a:avLst/>
          </a:prstGeom>
          <a:solidFill>
            <a:srgbClr val="12A566"/>
          </a:solidFill>
          <a:ln/>
        </p:spPr>
      </p:sp>
      <p:sp>
        <p:nvSpPr>
          <p:cNvPr id="52" name="Text 50"/>
          <p:cNvSpPr txBox="1"/>
          <p:nvPr/>
        </p:nvSpPr>
        <p:spPr>
          <a:xfrm>
            <a:off x="6967728" y="2675675"/>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$163.64</a:t>
            </a:r>
            <a:endParaRPr lang="en-US" sz="1300" dirty="0"/>
          </a:p>
        </p:txBody>
      </p:sp>
      <p:sp>
        <p:nvSpPr>
          <p:cNvPr id="53" name="Text 51"/>
          <p:cNvSpPr txBox="1"/>
          <p:nvPr/>
        </p:nvSpPr>
        <p:spPr>
          <a:xfrm>
            <a:off x="4315968" y="2982351"/>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54" name="Shape 52"/>
          <p:cNvSpPr/>
          <p:nvPr/>
        </p:nvSpPr>
        <p:spPr>
          <a:xfrm>
            <a:off x="6291072" y="3059020"/>
            <a:ext cx="485485" cy="153338"/>
          </a:xfrm>
          <a:prstGeom prst="rect">
            <a:avLst/>
          </a:prstGeom>
          <a:solidFill>
            <a:srgbClr val="12A566"/>
          </a:solidFill>
          <a:ln/>
        </p:spPr>
      </p:sp>
      <p:sp>
        <p:nvSpPr>
          <p:cNvPr id="55" name="Text 53"/>
          <p:cNvSpPr txBox="1"/>
          <p:nvPr/>
        </p:nvSpPr>
        <p:spPr>
          <a:xfrm>
            <a:off x="6967728" y="2982351"/>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$162.85</a:t>
            </a:r>
            <a:endParaRPr lang="en-US" sz="1300" dirty="0"/>
          </a:p>
        </p:txBody>
      </p:sp>
      <p:sp>
        <p:nvSpPr>
          <p:cNvPr id="56" name="Text 54"/>
          <p:cNvSpPr txBox="1"/>
          <p:nvPr/>
        </p:nvSpPr>
        <p:spPr>
          <a:xfrm>
            <a:off x="4315968" y="3289026"/>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57" name="Shape 55"/>
          <p:cNvSpPr/>
          <p:nvPr/>
        </p:nvSpPr>
        <p:spPr>
          <a:xfrm>
            <a:off x="6291072" y="3365695"/>
            <a:ext cx="478952" cy="153338"/>
          </a:xfrm>
          <a:prstGeom prst="rect">
            <a:avLst/>
          </a:prstGeom>
          <a:solidFill>
            <a:srgbClr val="12A566"/>
          </a:solidFill>
          <a:ln/>
        </p:spPr>
      </p:sp>
      <p:sp>
        <p:nvSpPr>
          <p:cNvPr id="58" name="Text 56"/>
          <p:cNvSpPr txBox="1"/>
          <p:nvPr/>
        </p:nvSpPr>
        <p:spPr>
          <a:xfrm>
            <a:off x="6967728" y="3289026"/>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$160.66</a:t>
            </a:r>
            <a:endParaRPr lang="en-US" sz="1300" dirty="0"/>
          </a:p>
        </p:txBody>
      </p:sp>
      <p:sp>
        <p:nvSpPr>
          <p:cNvPr id="59" name="Text 57"/>
          <p:cNvSpPr txBox="1"/>
          <p:nvPr/>
        </p:nvSpPr>
        <p:spPr>
          <a:xfrm>
            <a:off x="4315968" y="3595702"/>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60" name="Shape 58"/>
          <p:cNvSpPr/>
          <p:nvPr/>
        </p:nvSpPr>
        <p:spPr>
          <a:xfrm>
            <a:off x="6291072" y="3672371"/>
            <a:ext cx="475697" cy="153338"/>
          </a:xfrm>
          <a:prstGeom prst="rect">
            <a:avLst/>
          </a:prstGeom>
          <a:solidFill>
            <a:srgbClr val="12A566"/>
          </a:solidFill>
          <a:ln/>
        </p:spPr>
      </p:sp>
      <p:sp>
        <p:nvSpPr>
          <p:cNvPr id="61" name="Text 59"/>
          <p:cNvSpPr txBox="1"/>
          <p:nvPr/>
        </p:nvSpPr>
        <p:spPr>
          <a:xfrm>
            <a:off x="6967728" y="3595702"/>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$159.57</a:t>
            </a:r>
            <a:endParaRPr lang="en-US" sz="1300" dirty="0"/>
          </a:p>
        </p:txBody>
      </p:sp>
      <p:sp>
        <p:nvSpPr>
          <p:cNvPr id="62" name="Text 60"/>
          <p:cNvSpPr txBox="1"/>
          <p:nvPr/>
        </p:nvSpPr>
        <p:spPr>
          <a:xfrm>
            <a:off x="4315968" y="3902378"/>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63" name="Shape 61"/>
          <p:cNvSpPr/>
          <p:nvPr/>
        </p:nvSpPr>
        <p:spPr>
          <a:xfrm>
            <a:off x="6291072" y="3979047"/>
            <a:ext cx="475119" cy="153338"/>
          </a:xfrm>
          <a:prstGeom prst="rect">
            <a:avLst/>
          </a:prstGeom>
          <a:solidFill>
            <a:srgbClr val="12A566"/>
          </a:solidFill>
          <a:ln/>
        </p:spPr>
      </p:sp>
      <p:sp>
        <p:nvSpPr>
          <p:cNvPr id="64" name="Text 62"/>
          <p:cNvSpPr txBox="1"/>
          <p:nvPr/>
        </p:nvSpPr>
        <p:spPr>
          <a:xfrm>
            <a:off x="6967728" y="3902378"/>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$159.38</a:t>
            </a:r>
            <a:endParaRPr lang="en-US" sz="1300" dirty="0"/>
          </a:p>
        </p:txBody>
      </p:sp>
      <p:sp>
        <p:nvSpPr>
          <p:cNvPr id="65" name="Text 63"/>
          <p:cNvSpPr txBox="1"/>
          <p:nvPr/>
        </p:nvSpPr>
        <p:spPr>
          <a:xfrm>
            <a:off x="4315968" y="4209054"/>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66" name="Shape 64"/>
          <p:cNvSpPr/>
          <p:nvPr/>
        </p:nvSpPr>
        <p:spPr>
          <a:xfrm>
            <a:off x="6291072" y="4285722"/>
            <a:ext cx="469045" cy="153338"/>
          </a:xfrm>
          <a:prstGeom prst="rect">
            <a:avLst/>
          </a:prstGeom>
          <a:solidFill>
            <a:srgbClr val="12A566"/>
          </a:solidFill>
          <a:ln/>
        </p:spPr>
      </p:sp>
      <p:sp>
        <p:nvSpPr>
          <p:cNvPr id="67" name="Text 65"/>
          <p:cNvSpPr txBox="1"/>
          <p:nvPr/>
        </p:nvSpPr>
        <p:spPr>
          <a:xfrm>
            <a:off x="6967728" y="4209054"/>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$157.34</a:t>
            </a:r>
            <a:endParaRPr lang="en-US" sz="1300" dirty="0"/>
          </a:p>
        </p:txBody>
      </p:sp>
      <p:sp>
        <p:nvSpPr>
          <p:cNvPr id="68" name="Text 66"/>
          <p:cNvSpPr txBox="1"/>
          <p:nvPr/>
        </p:nvSpPr>
        <p:spPr>
          <a:xfrm>
            <a:off x="4315968" y="4515729"/>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69" name="Shape 67"/>
          <p:cNvSpPr/>
          <p:nvPr/>
        </p:nvSpPr>
        <p:spPr>
          <a:xfrm>
            <a:off x="6291072" y="4592398"/>
            <a:ext cx="465606" cy="153338"/>
          </a:xfrm>
          <a:prstGeom prst="rect">
            <a:avLst/>
          </a:prstGeom>
          <a:solidFill>
            <a:srgbClr val="12A566"/>
          </a:solidFill>
          <a:ln/>
        </p:spPr>
      </p:sp>
      <p:sp>
        <p:nvSpPr>
          <p:cNvPr id="70" name="Text 68"/>
          <p:cNvSpPr txBox="1"/>
          <p:nvPr/>
        </p:nvSpPr>
        <p:spPr>
          <a:xfrm>
            <a:off x="6967728" y="4515729"/>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$156.18</a:t>
            </a:r>
            <a:endParaRPr lang="en-US" sz="1300" dirty="0"/>
          </a:p>
        </p:txBody>
      </p:sp>
      <p:sp>
        <p:nvSpPr>
          <p:cNvPr id="71" name="Text 69"/>
          <p:cNvSpPr txBox="1"/>
          <p:nvPr/>
        </p:nvSpPr>
        <p:spPr>
          <a:xfrm>
            <a:off x="4315968" y="4822405"/>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72" name="Shape 70"/>
          <p:cNvSpPr/>
          <p:nvPr/>
        </p:nvSpPr>
        <p:spPr>
          <a:xfrm>
            <a:off x="6291072" y="4899074"/>
            <a:ext cx="460611" cy="153338"/>
          </a:xfrm>
          <a:prstGeom prst="rect">
            <a:avLst/>
          </a:prstGeom>
          <a:solidFill>
            <a:srgbClr val="12A566"/>
          </a:solidFill>
          <a:ln/>
        </p:spPr>
      </p:sp>
      <p:sp>
        <p:nvSpPr>
          <p:cNvPr id="73" name="Text 71"/>
          <p:cNvSpPr txBox="1"/>
          <p:nvPr/>
        </p:nvSpPr>
        <p:spPr>
          <a:xfrm>
            <a:off x="6967728" y="4822405"/>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$154.51</a:t>
            </a:r>
            <a:endParaRPr lang="en-US" sz="1300" dirty="0"/>
          </a:p>
        </p:txBody>
      </p:sp>
      <p:sp>
        <p:nvSpPr>
          <p:cNvPr id="74" name="Text 72"/>
          <p:cNvSpPr txBox="1"/>
          <p:nvPr/>
        </p:nvSpPr>
        <p:spPr>
          <a:xfrm>
            <a:off x="4315968" y="5129081"/>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75" name="Shape 73"/>
          <p:cNvSpPr/>
          <p:nvPr/>
        </p:nvSpPr>
        <p:spPr>
          <a:xfrm>
            <a:off x="6291072" y="5205750"/>
            <a:ext cx="456968" cy="153338"/>
          </a:xfrm>
          <a:prstGeom prst="rect">
            <a:avLst/>
          </a:prstGeom>
          <a:solidFill>
            <a:srgbClr val="12A566"/>
          </a:solidFill>
          <a:ln/>
        </p:spPr>
      </p:sp>
      <p:sp>
        <p:nvSpPr>
          <p:cNvPr id="76" name="Text 74"/>
          <p:cNvSpPr txBox="1"/>
          <p:nvPr/>
        </p:nvSpPr>
        <p:spPr>
          <a:xfrm>
            <a:off x="6967728" y="5129081"/>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$153.29</a:t>
            </a:r>
            <a:endParaRPr lang="en-US" sz="1300" dirty="0"/>
          </a:p>
        </p:txBody>
      </p:sp>
      <p:sp>
        <p:nvSpPr>
          <p:cNvPr id="77" name="Shape 75"/>
          <p:cNvSpPr/>
          <p:nvPr/>
        </p:nvSpPr>
        <p:spPr>
          <a:xfrm>
            <a:off x="4261104" y="5435756"/>
            <a:ext cx="3529584" cy="297532"/>
          </a:xfrm>
          <a:prstGeom prst="rect">
            <a:avLst/>
          </a:prstGeom>
          <a:solidFill>
            <a:srgbClr val="EDF4FA"/>
          </a:solidFill>
          <a:ln/>
        </p:spPr>
      </p:sp>
      <p:sp>
        <p:nvSpPr>
          <p:cNvPr id="78" name="Text 76"/>
          <p:cNvSpPr txBox="1"/>
          <p:nvPr/>
        </p:nvSpPr>
        <p:spPr>
          <a:xfrm>
            <a:off x="4315968" y="5435756"/>
            <a:ext cx="1920240" cy="306676"/>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NON-LUXURY</a:t>
            </a:r>
            <a:endParaRPr lang="en-US" sz="1300" dirty="0"/>
          </a:p>
        </p:txBody>
      </p:sp>
      <p:sp>
        <p:nvSpPr>
          <p:cNvPr id="79" name="Shape 77"/>
          <p:cNvSpPr/>
          <p:nvPr/>
        </p:nvSpPr>
        <p:spPr>
          <a:xfrm>
            <a:off x="6291072" y="5512425"/>
            <a:ext cx="451095" cy="153338"/>
          </a:xfrm>
          <a:prstGeom prst="rect">
            <a:avLst/>
          </a:prstGeom>
          <a:solidFill>
            <a:srgbClr val="0B2C4A"/>
          </a:solidFill>
          <a:ln/>
        </p:spPr>
      </p:sp>
      <p:sp>
        <p:nvSpPr>
          <p:cNvPr id="80" name="Text 78"/>
          <p:cNvSpPr txBox="1"/>
          <p:nvPr/>
        </p:nvSpPr>
        <p:spPr>
          <a:xfrm>
            <a:off x="6967728" y="5435756"/>
            <a:ext cx="786384" cy="306676"/>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$151.32</a:t>
            </a:r>
            <a:endParaRPr lang="en-US" sz="1300" dirty="0"/>
          </a:p>
        </p:txBody>
      </p:sp>
      <p:sp>
        <p:nvSpPr>
          <p:cNvPr id="81" name="Text 79"/>
          <p:cNvSpPr txBox="1"/>
          <p:nvPr/>
        </p:nvSpPr>
        <p:spPr>
          <a:xfrm>
            <a:off x="7918704" y="1755648"/>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82" name="Shape 80"/>
          <p:cNvSpPr/>
          <p:nvPr/>
        </p:nvSpPr>
        <p:spPr>
          <a:xfrm>
            <a:off x="9893808" y="1832317"/>
            <a:ext cx="444873" cy="153338"/>
          </a:xfrm>
          <a:prstGeom prst="rect">
            <a:avLst/>
          </a:prstGeom>
          <a:solidFill>
            <a:srgbClr val="C2352F"/>
          </a:solidFill>
          <a:ln/>
        </p:spPr>
      </p:sp>
      <p:sp>
        <p:nvSpPr>
          <p:cNvPr id="83" name="Text 81"/>
          <p:cNvSpPr txBox="1"/>
          <p:nvPr/>
        </p:nvSpPr>
        <p:spPr>
          <a:xfrm>
            <a:off x="10570464" y="1755648"/>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$149.23</a:t>
            </a:r>
            <a:endParaRPr lang="en-US" sz="1300" dirty="0"/>
          </a:p>
        </p:txBody>
      </p:sp>
      <p:sp>
        <p:nvSpPr>
          <p:cNvPr id="84" name="Text 82"/>
          <p:cNvSpPr txBox="1"/>
          <p:nvPr/>
        </p:nvSpPr>
        <p:spPr>
          <a:xfrm>
            <a:off x="7918704" y="2062324"/>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85" name="Shape 83"/>
          <p:cNvSpPr/>
          <p:nvPr/>
        </p:nvSpPr>
        <p:spPr>
          <a:xfrm>
            <a:off x="9893808" y="2138993"/>
            <a:ext cx="441895" cy="153338"/>
          </a:xfrm>
          <a:prstGeom prst="rect">
            <a:avLst/>
          </a:prstGeom>
          <a:solidFill>
            <a:srgbClr val="C2352F"/>
          </a:solidFill>
          <a:ln/>
        </p:spPr>
      </p:sp>
      <p:sp>
        <p:nvSpPr>
          <p:cNvPr id="86" name="Text 84"/>
          <p:cNvSpPr txBox="1"/>
          <p:nvPr/>
        </p:nvSpPr>
        <p:spPr>
          <a:xfrm>
            <a:off x="10570464" y="2062324"/>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$148.23</a:t>
            </a:r>
            <a:endParaRPr lang="en-US" sz="1300" dirty="0"/>
          </a:p>
        </p:txBody>
      </p:sp>
      <p:sp>
        <p:nvSpPr>
          <p:cNvPr id="87" name="Text 85"/>
          <p:cNvSpPr txBox="1"/>
          <p:nvPr/>
        </p:nvSpPr>
        <p:spPr>
          <a:xfrm>
            <a:off x="7918704" y="2368999"/>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88" name="Shape 86"/>
          <p:cNvSpPr/>
          <p:nvPr/>
        </p:nvSpPr>
        <p:spPr>
          <a:xfrm>
            <a:off x="9893808" y="2445668"/>
            <a:ext cx="430759" cy="153338"/>
          </a:xfrm>
          <a:prstGeom prst="rect">
            <a:avLst/>
          </a:prstGeom>
          <a:solidFill>
            <a:srgbClr val="C2352F"/>
          </a:solidFill>
          <a:ln/>
        </p:spPr>
      </p:sp>
      <p:sp>
        <p:nvSpPr>
          <p:cNvPr id="89" name="Text 87"/>
          <p:cNvSpPr txBox="1"/>
          <p:nvPr/>
        </p:nvSpPr>
        <p:spPr>
          <a:xfrm>
            <a:off x="10570464" y="2368999"/>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$144.50</a:t>
            </a:r>
            <a:endParaRPr lang="en-US" sz="1300" dirty="0"/>
          </a:p>
        </p:txBody>
      </p:sp>
      <p:sp>
        <p:nvSpPr>
          <p:cNvPr id="90" name="Text 88"/>
          <p:cNvSpPr txBox="1"/>
          <p:nvPr/>
        </p:nvSpPr>
        <p:spPr>
          <a:xfrm>
            <a:off x="7918704" y="2675675"/>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91" name="Shape 89"/>
          <p:cNvSpPr/>
          <p:nvPr/>
        </p:nvSpPr>
        <p:spPr>
          <a:xfrm>
            <a:off x="9893808" y="2752344"/>
            <a:ext cx="428958" cy="153338"/>
          </a:xfrm>
          <a:prstGeom prst="rect">
            <a:avLst/>
          </a:prstGeom>
          <a:solidFill>
            <a:srgbClr val="C2352F"/>
          </a:solidFill>
          <a:ln/>
        </p:spPr>
      </p:sp>
      <p:sp>
        <p:nvSpPr>
          <p:cNvPr id="92" name="Text 90"/>
          <p:cNvSpPr txBox="1"/>
          <p:nvPr/>
        </p:nvSpPr>
        <p:spPr>
          <a:xfrm>
            <a:off x="10570464" y="2675675"/>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$143.89</a:t>
            </a:r>
            <a:endParaRPr lang="en-US" sz="1300" dirty="0"/>
          </a:p>
        </p:txBody>
      </p:sp>
      <p:sp>
        <p:nvSpPr>
          <p:cNvPr id="93" name="Text 91"/>
          <p:cNvSpPr txBox="1"/>
          <p:nvPr/>
        </p:nvSpPr>
        <p:spPr>
          <a:xfrm>
            <a:off x="7918704" y="2982351"/>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94" name="Shape 92"/>
          <p:cNvSpPr/>
          <p:nvPr/>
        </p:nvSpPr>
        <p:spPr>
          <a:xfrm>
            <a:off x="9893808" y="3059020"/>
            <a:ext cx="426467" cy="153338"/>
          </a:xfrm>
          <a:prstGeom prst="rect">
            <a:avLst/>
          </a:prstGeom>
          <a:solidFill>
            <a:srgbClr val="C2352F"/>
          </a:solidFill>
          <a:ln/>
        </p:spPr>
      </p:sp>
      <p:sp>
        <p:nvSpPr>
          <p:cNvPr id="95" name="Text 93"/>
          <p:cNvSpPr txBox="1"/>
          <p:nvPr/>
        </p:nvSpPr>
        <p:spPr>
          <a:xfrm>
            <a:off x="10570464" y="2982351"/>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$143.06</a:t>
            </a:r>
            <a:endParaRPr lang="en-US" sz="1300" dirty="0"/>
          </a:p>
        </p:txBody>
      </p:sp>
      <p:sp>
        <p:nvSpPr>
          <p:cNvPr id="96" name="Text 94"/>
          <p:cNvSpPr txBox="1"/>
          <p:nvPr/>
        </p:nvSpPr>
        <p:spPr>
          <a:xfrm>
            <a:off x="7918704" y="3289026"/>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97" name="Shape 95"/>
          <p:cNvSpPr/>
          <p:nvPr/>
        </p:nvSpPr>
        <p:spPr>
          <a:xfrm>
            <a:off x="9893808" y="3365695"/>
            <a:ext cx="425697" cy="153338"/>
          </a:xfrm>
          <a:prstGeom prst="rect">
            <a:avLst/>
          </a:prstGeom>
          <a:solidFill>
            <a:srgbClr val="C2352F"/>
          </a:solidFill>
          <a:ln/>
        </p:spPr>
      </p:sp>
      <p:sp>
        <p:nvSpPr>
          <p:cNvPr id="98" name="Text 96"/>
          <p:cNvSpPr txBox="1"/>
          <p:nvPr/>
        </p:nvSpPr>
        <p:spPr>
          <a:xfrm>
            <a:off x="10570464" y="3289026"/>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$142.80</a:t>
            </a:r>
            <a:endParaRPr lang="en-US" sz="1300" dirty="0"/>
          </a:p>
        </p:txBody>
      </p:sp>
      <p:sp>
        <p:nvSpPr>
          <p:cNvPr id="99" name="Text 97"/>
          <p:cNvSpPr txBox="1"/>
          <p:nvPr/>
        </p:nvSpPr>
        <p:spPr>
          <a:xfrm>
            <a:off x="7918704" y="3595702"/>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100" name="Shape 98"/>
          <p:cNvSpPr/>
          <p:nvPr/>
        </p:nvSpPr>
        <p:spPr>
          <a:xfrm>
            <a:off x="9893808" y="3672371"/>
            <a:ext cx="420646" cy="153338"/>
          </a:xfrm>
          <a:prstGeom prst="rect">
            <a:avLst/>
          </a:prstGeom>
          <a:solidFill>
            <a:srgbClr val="C2352F"/>
          </a:solidFill>
          <a:ln/>
        </p:spPr>
      </p:sp>
      <p:sp>
        <p:nvSpPr>
          <p:cNvPr id="101" name="Text 99"/>
          <p:cNvSpPr txBox="1"/>
          <p:nvPr/>
        </p:nvSpPr>
        <p:spPr>
          <a:xfrm>
            <a:off x="10570464" y="3595702"/>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$141.10</a:t>
            </a:r>
            <a:endParaRPr lang="en-US" sz="1300" dirty="0"/>
          </a:p>
        </p:txBody>
      </p:sp>
      <p:sp>
        <p:nvSpPr>
          <p:cNvPr id="102" name="Text 100"/>
          <p:cNvSpPr txBox="1"/>
          <p:nvPr/>
        </p:nvSpPr>
        <p:spPr>
          <a:xfrm>
            <a:off x="7918704" y="3902378"/>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103" name="Shape 101"/>
          <p:cNvSpPr/>
          <p:nvPr/>
        </p:nvSpPr>
        <p:spPr>
          <a:xfrm>
            <a:off x="9893808" y="3979047"/>
            <a:ext cx="414760" cy="153338"/>
          </a:xfrm>
          <a:prstGeom prst="rect">
            <a:avLst/>
          </a:prstGeom>
          <a:solidFill>
            <a:srgbClr val="C2352F"/>
          </a:solidFill>
          <a:ln/>
        </p:spPr>
      </p:sp>
      <p:sp>
        <p:nvSpPr>
          <p:cNvPr id="104" name="Text 102"/>
          <p:cNvSpPr txBox="1"/>
          <p:nvPr/>
        </p:nvSpPr>
        <p:spPr>
          <a:xfrm>
            <a:off x="10570464" y="3902378"/>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$139.13</a:t>
            </a:r>
            <a:endParaRPr lang="en-US" sz="1300" dirty="0"/>
          </a:p>
        </p:txBody>
      </p:sp>
      <p:sp>
        <p:nvSpPr>
          <p:cNvPr id="105" name="Text 103"/>
          <p:cNvSpPr txBox="1"/>
          <p:nvPr/>
        </p:nvSpPr>
        <p:spPr>
          <a:xfrm>
            <a:off x="7918704" y="4209054"/>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106" name="Shape 104"/>
          <p:cNvSpPr/>
          <p:nvPr/>
        </p:nvSpPr>
        <p:spPr>
          <a:xfrm>
            <a:off x="9893808" y="4285722"/>
            <a:ext cx="412834" cy="153338"/>
          </a:xfrm>
          <a:prstGeom prst="rect">
            <a:avLst/>
          </a:prstGeom>
          <a:solidFill>
            <a:srgbClr val="C2352F"/>
          </a:solidFill>
          <a:ln/>
        </p:spPr>
      </p:sp>
      <p:sp>
        <p:nvSpPr>
          <p:cNvPr id="107" name="Text 105"/>
          <p:cNvSpPr txBox="1"/>
          <p:nvPr/>
        </p:nvSpPr>
        <p:spPr>
          <a:xfrm>
            <a:off x="10570464" y="4209054"/>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$138.48</a:t>
            </a:r>
            <a:endParaRPr lang="en-US" sz="1300" dirty="0"/>
          </a:p>
        </p:txBody>
      </p:sp>
      <p:sp>
        <p:nvSpPr>
          <p:cNvPr id="108" name="Text 106"/>
          <p:cNvSpPr txBox="1"/>
          <p:nvPr/>
        </p:nvSpPr>
        <p:spPr>
          <a:xfrm>
            <a:off x="7918704" y="4515729"/>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109" name="Shape 107"/>
          <p:cNvSpPr/>
          <p:nvPr/>
        </p:nvSpPr>
        <p:spPr>
          <a:xfrm>
            <a:off x="9893808" y="4592398"/>
            <a:ext cx="402913" cy="153338"/>
          </a:xfrm>
          <a:prstGeom prst="rect">
            <a:avLst/>
          </a:prstGeom>
          <a:solidFill>
            <a:srgbClr val="C2352F"/>
          </a:solidFill>
          <a:ln/>
        </p:spPr>
      </p:sp>
      <p:sp>
        <p:nvSpPr>
          <p:cNvPr id="110" name="Text 108"/>
          <p:cNvSpPr txBox="1"/>
          <p:nvPr/>
        </p:nvSpPr>
        <p:spPr>
          <a:xfrm>
            <a:off x="10570464" y="4515729"/>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$135.15</a:t>
            </a:r>
            <a:endParaRPr lang="en-US" sz="1300" dirty="0"/>
          </a:p>
        </p:txBody>
      </p:sp>
      <p:sp>
        <p:nvSpPr>
          <p:cNvPr id="111" name="Text 109"/>
          <p:cNvSpPr txBox="1"/>
          <p:nvPr/>
        </p:nvSpPr>
        <p:spPr>
          <a:xfrm>
            <a:off x="7918704" y="4822405"/>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12" name="Shape 110"/>
          <p:cNvSpPr/>
          <p:nvPr/>
        </p:nvSpPr>
        <p:spPr>
          <a:xfrm>
            <a:off x="9893808" y="4899074"/>
            <a:ext cx="388906" cy="153338"/>
          </a:xfrm>
          <a:prstGeom prst="rect">
            <a:avLst/>
          </a:prstGeom>
          <a:solidFill>
            <a:srgbClr val="C2352F"/>
          </a:solidFill>
          <a:ln/>
        </p:spPr>
      </p:sp>
      <p:sp>
        <p:nvSpPr>
          <p:cNvPr id="113" name="Text 111"/>
          <p:cNvSpPr txBox="1"/>
          <p:nvPr/>
        </p:nvSpPr>
        <p:spPr>
          <a:xfrm>
            <a:off x="10570464" y="4822405"/>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$130.46</a:t>
            </a:r>
            <a:endParaRPr lang="en-US" sz="1300" dirty="0"/>
          </a:p>
        </p:txBody>
      </p:sp>
      <p:sp>
        <p:nvSpPr>
          <p:cNvPr id="114" name="Text 112"/>
          <p:cNvSpPr txBox="1"/>
          <p:nvPr/>
        </p:nvSpPr>
        <p:spPr>
          <a:xfrm>
            <a:off x="7918704" y="5129081"/>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115" name="Shape 113"/>
          <p:cNvSpPr/>
          <p:nvPr/>
        </p:nvSpPr>
        <p:spPr>
          <a:xfrm>
            <a:off x="9893808" y="5205750"/>
            <a:ext cx="375885" cy="153338"/>
          </a:xfrm>
          <a:prstGeom prst="rect">
            <a:avLst/>
          </a:prstGeom>
          <a:solidFill>
            <a:srgbClr val="C2352F"/>
          </a:solidFill>
          <a:ln/>
        </p:spPr>
      </p:sp>
      <p:sp>
        <p:nvSpPr>
          <p:cNvPr id="116" name="Text 114"/>
          <p:cNvSpPr txBox="1"/>
          <p:nvPr/>
        </p:nvSpPr>
        <p:spPr>
          <a:xfrm>
            <a:off x="10570464" y="5129081"/>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$126.09</a:t>
            </a:r>
            <a:endParaRPr lang="en-US" sz="1300" dirty="0"/>
          </a:p>
        </p:txBody>
      </p:sp>
      <p:sp>
        <p:nvSpPr>
          <p:cNvPr id="117" name="Shape 115"/>
          <p:cNvSpPr/>
          <p:nvPr/>
        </p:nvSpPr>
        <p:spPr>
          <a:xfrm>
            <a:off x="457200" y="5961888"/>
            <a:ext cx="11274552" cy="548640"/>
          </a:xfrm>
          <a:prstGeom prst="rect">
            <a:avLst/>
          </a:prstGeom>
          <a:solidFill>
            <a:srgbClr val="EDF4FA"/>
          </a:solidFill>
          <a:ln/>
        </p:spPr>
      </p:sp>
      <p:sp>
        <p:nvSpPr>
          <p:cNvPr id="118" name="Text 116"/>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Against their own segment, 6 of 9 luxury stores beat $217.79 and 12 of 24 others beat $151.32. ACURA leads non-luxury at $210.50.</a:t>
            </a:r>
            <a:endParaRPr lang="en-US"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ELR</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01168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GROUP</a:t>
            </a:r>
            <a:endParaRPr lang="en-US" sz="1500" dirty="0"/>
          </a:p>
        </p:txBody>
      </p:sp>
      <p:sp>
        <p:nvSpPr>
          <p:cNvPr id="9" name="Text 7"/>
          <p:cNvSpPr txBox="1"/>
          <p:nvPr/>
        </p:nvSpPr>
        <p:spPr>
          <a:xfrm>
            <a:off x="2834640" y="1335024"/>
            <a:ext cx="420624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SAME-STORE, 33 STORES</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+$3.56</a:t>
            </a:r>
            <a:endParaRPr lang="en-US" sz="2000" dirty="0"/>
          </a:p>
        </p:txBody>
      </p:sp>
      <p:sp>
        <p:nvSpPr>
          <p:cNvPr id="11" name="Text 9"/>
          <p:cNvSpPr txBox="1"/>
          <p:nvPr/>
        </p:nvSpPr>
        <p:spPr>
          <a:xfrm>
            <a:off x="658368"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12" name="Shape 10"/>
          <p:cNvSpPr/>
          <p:nvPr/>
        </p:nvSpPr>
        <p:spPr>
          <a:xfrm>
            <a:off x="3813048" y="1909246"/>
            <a:ext cx="822960" cy="105898"/>
          </a:xfrm>
          <a:prstGeom prst="rect">
            <a:avLst/>
          </a:prstGeom>
          <a:solidFill>
            <a:srgbClr val="12A566"/>
          </a:solidFill>
          <a:ln/>
        </p:spPr>
      </p:sp>
      <p:sp>
        <p:nvSpPr>
          <p:cNvPr id="13" name="Text 11"/>
          <p:cNvSpPr txBox="1"/>
          <p:nvPr/>
        </p:nvSpPr>
        <p:spPr>
          <a:xfrm>
            <a:off x="4709160"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+$40.53</a:t>
            </a:r>
            <a:endParaRPr lang="en-US" sz="1300" dirty="0"/>
          </a:p>
        </p:txBody>
      </p:sp>
      <p:sp>
        <p:nvSpPr>
          <p:cNvPr id="14" name="Text 12"/>
          <p:cNvSpPr txBox="1"/>
          <p:nvPr/>
        </p:nvSpPr>
        <p:spPr>
          <a:xfrm>
            <a:off x="658368"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15" name="Shape 13"/>
          <p:cNvSpPr/>
          <p:nvPr/>
        </p:nvSpPr>
        <p:spPr>
          <a:xfrm>
            <a:off x="3813048" y="2139459"/>
            <a:ext cx="570185" cy="105898"/>
          </a:xfrm>
          <a:prstGeom prst="rect">
            <a:avLst/>
          </a:prstGeom>
          <a:solidFill>
            <a:srgbClr val="12A566"/>
          </a:solidFill>
          <a:ln/>
        </p:spPr>
      </p:sp>
      <p:sp>
        <p:nvSpPr>
          <p:cNvPr id="16" name="Text 14"/>
          <p:cNvSpPr txBox="1"/>
          <p:nvPr/>
        </p:nvSpPr>
        <p:spPr>
          <a:xfrm>
            <a:off x="4709160"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+$28.08</a:t>
            </a:r>
            <a:endParaRPr lang="en-US" sz="1300" dirty="0"/>
          </a:p>
        </p:txBody>
      </p:sp>
      <p:sp>
        <p:nvSpPr>
          <p:cNvPr id="17" name="Text 15"/>
          <p:cNvSpPr txBox="1"/>
          <p:nvPr/>
        </p:nvSpPr>
        <p:spPr>
          <a:xfrm>
            <a:off x="658368"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18" name="Shape 16"/>
          <p:cNvSpPr/>
          <p:nvPr/>
        </p:nvSpPr>
        <p:spPr>
          <a:xfrm>
            <a:off x="3813048" y="2369673"/>
            <a:ext cx="544980" cy="105898"/>
          </a:xfrm>
          <a:prstGeom prst="rect">
            <a:avLst/>
          </a:prstGeom>
          <a:solidFill>
            <a:srgbClr val="12A566"/>
          </a:solidFill>
          <a:ln/>
        </p:spPr>
      </p:sp>
      <p:sp>
        <p:nvSpPr>
          <p:cNvPr id="19" name="Text 17"/>
          <p:cNvSpPr txBox="1"/>
          <p:nvPr/>
        </p:nvSpPr>
        <p:spPr>
          <a:xfrm>
            <a:off x="4709160"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+$26.84</a:t>
            </a:r>
            <a:endParaRPr lang="en-US" sz="1300" dirty="0"/>
          </a:p>
        </p:txBody>
      </p:sp>
      <p:sp>
        <p:nvSpPr>
          <p:cNvPr id="20" name="Text 18"/>
          <p:cNvSpPr txBox="1"/>
          <p:nvPr/>
        </p:nvSpPr>
        <p:spPr>
          <a:xfrm>
            <a:off x="658368"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21" name="Shape 19"/>
          <p:cNvSpPr/>
          <p:nvPr/>
        </p:nvSpPr>
        <p:spPr>
          <a:xfrm>
            <a:off x="3813048" y="2599887"/>
            <a:ext cx="447186" cy="105898"/>
          </a:xfrm>
          <a:prstGeom prst="rect">
            <a:avLst/>
          </a:prstGeom>
          <a:solidFill>
            <a:srgbClr val="12A566"/>
          </a:solidFill>
          <a:ln/>
        </p:spPr>
      </p:sp>
      <p:sp>
        <p:nvSpPr>
          <p:cNvPr id="22" name="Text 20"/>
          <p:cNvSpPr txBox="1"/>
          <p:nvPr/>
        </p:nvSpPr>
        <p:spPr>
          <a:xfrm>
            <a:off x="4709160"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+$22.02</a:t>
            </a:r>
            <a:endParaRPr lang="en-US" sz="1300" dirty="0"/>
          </a:p>
        </p:txBody>
      </p:sp>
      <p:sp>
        <p:nvSpPr>
          <p:cNvPr id="23" name="Text 21"/>
          <p:cNvSpPr txBox="1"/>
          <p:nvPr/>
        </p:nvSpPr>
        <p:spPr>
          <a:xfrm>
            <a:off x="658368"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24" name="Shape 22"/>
          <p:cNvSpPr/>
          <p:nvPr/>
        </p:nvSpPr>
        <p:spPr>
          <a:xfrm>
            <a:off x="3813048" y="2830100"/>
            <a:ext cx="353607" cy="105898"/>
          </a:xfrm>
          <a:prstGeom prst="rect">
            <a:avLst/>
          </a:prstGeom>
          <a:solidFill>
            <a:srgbClr val="12A566"/>
          </a:solidFill>
          <a:ln/>
        </p:spPr>
      </p:sp>
      <p:sp>
        <p:nvSpPr>
          <p:cNvPr id="25" name="Text 23"/>
          <p:cNvSpPr txBox="1"/>
          <p:nvPr/>
        </p:nvSpPr>
        <p:spPr>
          <a:xfrm>
            <a:off x="4709160"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+$17.41</a:t>
            </a:r>
            <a:endParaRPr lang="en-US" sz="1300" dirty="0"/>
          </a:p>
        </p:txBody>
      </p:sp>
      <p:sp>
        <p:nvSpPr>
          <p:cNvPr id="26" name="Text 24"/>
          <p:cNvSpPr txBox="1"/>
          <p:nvPr/>
        </p:nvSpPr>
        <p:spPr>
          <a:xfrm>
            <a:off x="658368"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27" name="Shape 25"/>
          <p:cNvSpPr/>
          <p:nvPr/>
        </p:nvSpPr>
        <p:spPr>
          <a:xfrm>
            <a:off x="3813048" y="3060314"/>
            <a:ext cx="342708" cy="105898"/>
          </a:xfrm>
          <a:prstGeom prst="rect">
            <a:avLst/>
          </a:prstGeom>
          <a:solidFill>
            <a:srgbClr val="12A566"/>
          </a:solidFill>
          <a:ln/>
        </p:spPr>
      </p:sp>
      <p:sp>
        <p:nvSpPr>
          <p:cNvPr id="28" name="Text 26"/>
          <p:cNvSpPr txBox="1"/>
          <p:nvPr/>
        </p:nvSpPr>
        <p:spPr>
          <a:xfrm>
            <a:off x="4709160"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+$16.88</a:t>
            </a:r>
            <a:endParaRPr lang="en-US" sz="1300" dirty="0"/>
          </a:p>
        </p:txBody>
      </p:sp>
      <p:sp>
        <p:nvSpPr>
          <p:cNvPr id="29" name="Text 27"/>
          <p:cNvSpPr txBox="1"/>
          <p:nvPr/>
        </p:nvSpPr>
        <p:spPr>
          <a:xfrm>
            <a:off x="658368"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30" name="Shape 28"/>
          <p:cNvSpPr/>
          <p:nvPr/>
        </p:nvSpPr>
        <p:spPr>
          <a:xfrm>
            <a:off x="3813048" y="3290528"/>
            <a:ext cx="302370" cy="105898"/>
          </a:xfrm>
          <a:prstGeom prst="rect">
            <a:avLst/>
          </a:prstGeom>
          <a:solidFill>
            <a:srgbClr val="12A566"/>
          </a:solidFill>
          <a:ln/>
        </p:spPr>
      </p:sp>
      <p:sp>
        <p:nvSpPr>
          <p:cNvPr id="31" name="Text 29"/>
          <p:cNvSpPr txBox="1"/>
          <p:nvPr/>
        </p:nvSpPr>
        <p:spPr>
          <a:xfrm>
            <a:off x="4709160" y="3228370"/>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+$14.89</a:t>
            </a:r>
            <a:endParaRPr lang="en-US" sz="1300" dirty="0"/>
          </a:p>
        </p:txBody>
      </p:sp>
      <p:sp>
        <p:nvSpPr>
          <p:cNvPr id="32" name="Text 30"/>
          <p:cNvSpPr txBox="1"/>
          <p:nvPr/>
        </p:nvSpPr>
        <p:spPr>
          <a:xfrm>
            <a:off x="658368"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33" name="Shape 31"/>
          <p:cNvSpPr/>
          <p:nvPr/>
        </p:nvSpPr>
        <p:spPr>
          <a:xfrm>
            <a:off x="3813048" y="3520741"/>
            <a:ext cx="240583" cy="105898"/>
          </a:xfrm>
          <a:prstGeom prst="rect">
            <a:avLst/>
          </a:prstGeom>
          <a:solidFill>
            <a:srgbClr val="12A566"/>
          </a:solidFill>
          <a:ln/>
        </p:spPr>
      </p:sp>
      <p:sp>
        <p:nvSpPr>
          <p:cNvPr id="34" name="Text 32"/>
          <p:cNvSpPr txBox="1"/>
          <p:nvPr/>
        </p:nvSpPr>
        <p:spPr>
          <a:xfrm>
            <a:off x="4709160" y="345858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+$11.85</a:t>
            </a:r>
            <a:endParaRPr lang="en-US" sz="1300" dirty="0"/>
          </a:p>
        </p:txBody>
      </p:sp>
      <p:sp>
        <p:nvSpPr>
          <p:cNvPr id="35" name="Text 33"/>
          <p:cNvSpPr txBox="1"/>
          <p:nvPr/>
        </p:nvSpPr>
        <p:spPr>
          <a:xfrm>
            <a:off x="658368"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36" name="Shape 34"/>
          <p:cNvSpPr/>
          <p:nvPr/>
        </p:nvSpPr>
        <p:spPr>
          <a:xfrm>
            <a:off x="3813048" y="3750955"/>
            <a:ext cx="186333" cy="105898"/>
          </a:xfrm>
          <a:prstGeom prst="rect">
            <a:avLst/>
          </a:prstGeom>
          <a:solidFill>
            <a:srgbClr val="12A566"/>
          </a:solidFill>
          <a:ln/>
        </p:spPr>
      </p:sp>
      <p:sp>
        <p:nvSpPr>
          <p:cNvPr id="37" name="Text 35"/>
          <p:cNvSpPr txBox="1"/>
          <p:nvPr/>
        </p:nvSpPr>
        <p:spPr>
          <a:xfrm>
            <a:off x="4709160" y="3688797"/>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+$9.18</a:t>
            </a:r>
            <a:endParaRPr lang="en-US" sz="1300" dirty="0"/>
          </a:p>
        </p:txBody>
      </p:sp>
      <p:sp>
        <p:nvSpPr>
          <p:cNvPr id="38" name="Text 36"/>
          <p:cNvSpPr txBox="1"/>
          <p:nvPr/>
        </p:nvSpPr>
        <p:spPr>
          <a:xfrm>
            <a:off x="658368"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39" name="Shape 37"/>
          <p:cNvSpPr/>
          <p:nvPr/>
        </p:nvSpPr>
        <p:spPr>
          <a:xfrm>
            <a:off x="3813048" y="3981169"/>
            <a:ext cx="151751" cy="105898"/>
          </a:xfrm>
          <a:prstGeom prst="rect">
            <a:avLst/>
          </a:prstGeom>
          <a:solidFill>
            <a:srgbClr val="12A566"/>
          </a:solidFill>
          <a:ln/>
        </p:spPr>
      </p:sp>
      <p:sp>
        <p:nvSpPr>
          <p:cNvPr id="40" name="Text 38"/>
          <p:cNvSpPr txBox="1"/>
          <p:nvPr/>
        </p:nvSpPr>
        <p:spPr>
          <a:xfrm>
            <a:off x="4709160" y="3919011"/>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+$7.47</a:t>
            </a:r>
            <a:endParaRPr lang="en-US" sz="1300" dirty="0"/>
          </a:p>
        </p:txBody>
      </p:sp>
      <p:sp>
        <p:nvSpPr>
          <p:cNvPr id="41" name="Text 39"/>
          <p:cNvSpPr txBox="1"/>
          <p:nvPr/>
        </p:nvSpPr>
        <p:spPr>
          <a:xfrm>
            <a:off x="658368"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42" name="Shape 40"/>
          <p:cNvSpPr/>
          <p:nvPr/>
        </p:nvSpPr>
        <p:spPr>
          <a:xfrm>
            <a:off x="3813048" y="4211382"/>
            <a:ext cx="125240" cy="105898"/>
          </a:xfrm>
          <a:prstGeom prst="rect">
            <a:avLst/>
          </a:prstGeom>
          <a:solidFill>
            <a:srgbClr val="12A566"/>
          </a:solidFill>
          <a:ln/>
        </p:spPr>
      </p:sp>
      <p:sp>
        <p:nvSpPr>
          <p:cNvPr id="43" name="Text 41"/>
          <p:cNvSpPr txBox="1"/>
          <p:nvPr/>
        </p:nvSpPr>
        <p:spPr>
          <a:xfrm>
            <a:off x="4709160" y="414922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+$6.17</a:t>
            </a:r>
            <a:endParaRPr lang="en-US" sz="1300" dirty="0"/>
          </a:p>
        </p:txBody>
      </p:sp>
      <p:sp>
        <p:nvSpPr>
          <p:cNvPr id="44" name="Text 42"/>
          <p:cNvSpPr txBox="1"/>
          <p:nvPr/>
        </p:nvSpPr>
        <p:spPr>
          <a:xfrm>
            <a:off x="658368"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45" name="Shape 43"/>
          <p:cNvSpPr/>
          <p:nvPr/>
        </p:nvSpPr>
        <p:spPr>
          <a:xfrm>
            <a:off x="3813048" y="4441596"/>
            <a:ext cx="90779" cy="105898"/>
          </a:xfrm>
          <a:prstGeom prst="rect">
            <a:avLst/>
          </a:prstGeom>
          <a:solidFill>
            <a:srgbClr val="12A566"/>
          </a:solidFill>
          <a:ln/>
        </p:spPr>
      </p:sp>
      <p:sp>
        <p:nvSpPr>
          <p:cNvPr id="46" name="Text 44"/>
          <p:cNvSpPr txBox="1"/>
          <p:nvPr/>
        </p:nvSpPr>
        <p:spPr>
          <a:xfrm>
            <a:off x="4709160" y="437943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+$4.47</a:t>
            </a:r>
            <a:endParaRPr lang="en-US" sz="1300" dirty="0"/>
          </a:p>
        </p:txBody>
      </p:sp>
      <p:sp>
        <p:nvSpPr>
          <p:cNvPr id="47" name="Text 45"/>
          <p:cNvSpPr txBox="1"/>
          <p:nvPr/>
        </p:nvSpPr>
        <p:spPr>
          <a:xfrm>
            <a:off x="658368"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48" name="Shape 46"/>
          <p:cNvSpPr/>
          <p:nvPr/>
        </p:nvSpPr>
        <p:spPr>
          <a:xfrm>
            <a:off x="3813048" y="4671809"/>
            <a:ext cx="86228" cy="105898"/>
          </a:xfrm>
          <a:prstGeom prst="rect">
            <a:avLst/>
          </a:prstGeom>
          <a:solidFill>
            <a:srgbClr val="12A566"/>
          </a:solidFill>
          <a:ln/>
        </p:spPr>
      </p:sp>
      <p:sp>
        <p:nvSpPr>
          <p:cNvPr id="49" name="Text 47"/>
          <p:cNvSpPr txBox="1"/>
          <p:nvPr/>
        </p:nvSpPr>
        <p:spPr>
          <a:xfrm>
            <a:off x="4709160" y="460965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+$4.25</a:t>
            </a:r>
            <a:endParaRPr lang="en-US" sz="1300" dirty="0"/>
          </a:p>
        </p:txBody>
      </p:sp>
      <p:sp>
        <p:nvSpPr>
          <p:cNvPr id="50" name="Text 48"/>
          <p:cNvSpPr txBox="1"/>
          <p:nvPr/>
        </p:nvSpPr>
        <p:spPr>
          <a:xfrm>
            <a:off x="658368"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51" name="Shape 49"/>
          <p:cNvSpPr/>
          <p:nvPr/>
        </p:nvSpPr>
        <p:spPr>
          <a:xfrm>
            <a:off x="3813048" y="4902023"/>
            <a:ext cx="76426" cy="105898"/>
          </a:xfrm>
          <a:prstGeom prst="rect">
            <a:avLst/>
          </a:prstGeom>
          <a:solidFill>
            <a:srgbClr val="12A566"/>
          </a:solidFill>
          <a:ln/>
        </p:spPr>
      </p:sp>
      <p:sp>
        <p:nvSpPr>
          <p:cNvPr id="52" name="Text 50"/>
          <p:cNvSpPr txBox="1"/>
          <p:nvPr/>
        </p:nvSpPr>
        <p:spPr>
          <a:xfrm>
            <a:off x="4709160" y="483986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+$3.76</a:t>
            </a:r>
            <a:endParaRPr lang="en-US" sz="1300" dirty="0"/>
          </a:p>
        </p:txBody>
      </p:sp>
      <p:sp>
        <p:nvSpPr>
          <p:cNvPr id="53" name="Text 51"/>
          <p:cNvSpPr txBox="1"/>
          <p:nvPr/>
        </p:nvSpPr>
        <p:spPr>
          <a:xfrm>
            <a:off x="658368"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54" name="Shape 52"/>
          <p:cNvSpPr/>
          <p:nvPr/>
        </p:nvSpPr>
        <p:spPr>
          <a:xfrm>
            <a:off x="3813048" y="5132237"/>
            <a:ext cx="69092" cy="105898"/>
          </a:xfrm>
          <a:prstGeom prst="rect">
            <a:avLst/>
          </a:prstGeom>
          <a:solidFill>
            <a:srgbClr val="12A566"/>
          </a:solidFill>
          <a:ln/>
        </p:spPr>
      </p:sp>
      <p:sp>
        <p:nvSpPr>
          <p:cNvPr id="55" name="Text 53"/>
          <p:cNvSpPr txBox="1"/>
          <p:nvPr/>
        </p:nvSpPr>
        <p:spPr>
          <a:xfrm>
            <a:off x="4709160" y="507007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+$3.40</a:t>
            </a:r>
            <a:endParaRPr lang="en-US" sz="1300" dirty="0"/>
          </a:p>
        </p:txBody>
      </p:sp>
      <p:sp>
        <p:nvSpPr>
          <p:cNvPr id="56" name="Text 54"/>
          <p:cNvSpPr txBox="1"/>
          <p:nvPr/>
        </p:nvSpPr>
        <p:spPr>
          <a:xfrm>
            <a:off x="658368"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57" name="Shape 55"/>
          <p:cNvSpPr/>
          <p:nvPr/>
        </p:nvSpPr>
        <p:spPr>
          <a:xfrm>
            <a:off x="3813048" y="5362450"/>
            <a:ext cx="67289" cy="105898"/>
          </a:xfrm>
          <a:prstGeom prst="rect">
            <a:avLst/>
          </a:prstGeom>
          <a:solidFill>
            <a:srgbClr val="12A566"/>
          </a:solidFill>
          <a:ln/>
        </p:spPr>
      </p:sp>
      <p:sp>
        <p:nvSpPr>
          <p:cNvPr id="58" name="Text 56"/>
          <p:cNvSpPr txBox="1"/>
          <p:nvPr/>
        </p:nvSpPr>
        <p:spPr>
          <a:xfrm>
            <a:off x="4709160" y="530029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+$3.31</a:t>
            </a:r>
            <a:endParaRPr lang="en-US" sz="1300" dirty="0"/>
          </a:p>
        </p:txBody>
      </p:sp>
      <p:sp>
        <p:nvSpPr>
          <p:cNvPr id="59" name="Text 57"/>
          <p:cNvSpPr txBox="1"/>
          <p:nvPr/>
        </p:nvSpPr>
        <p:spPr>
          <a:xfrm>
            <a:off x="658368" y="553050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60" name="Shape 58"/>
          <p:cNvSpPr/>
          <p:nvPr/>
        </p:nvSpPr>
        <p:spPr>
          <a:xfrm>
            <a:off x="3813048" y="5592664"/>
            <a:ext cx="65390" cy="105898"/>
          </a:xfrm>
          <a:prstGeom prst="rect">
            <a:avLst/>
          </a:prstGeom>
          <a:solidFill>
            <a:srgbClr val="12A566"/>
          </a:solidFill>
          <a:ln/>
        </p:spPr>
      </p:sp>
      <p:sp>
        <p:nvSpPr>
          <p:cNvPr id="61" name="Text 59"/>
          <p:cNvSpPr txBox="1"/>
          <p:nvPr/>
        </p:nvSpPr>
        <p:spPr>
          <a:xfrm>
            <a:off x="4709160" y="553050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+$3.22</a:t>
            </a:r>
            <a:endParaRPr lang="en-US" sz="1300" dirty="0"/>
          </a:p>
        </p:txBody>
      </p:sp>
      <p:sp>
        <p:nvSpPr>
          <p:cNvPr id="62" name="Text 60"/>
          <p:cNvSpPr txBox="1"/>
          <p:nvPr/>
        </p:nvSpPr>
        <p:spPr>
          <a:xfrm>
            <a:off x="6208776"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63" name="Shape 61"/>
          <p:cNvSpPr/>
          <p:nvPr/>
        </p:nvSpPr>
        <p:spPr>
          <a:xfrm>
            <a:off x="9363456" y="1909246"/>
            <a:ext cx="36255" cy="105898"/>
          </a:xfrm>
          <a:prstGeom prst="rect">
            <a:avLst/>
          </a:prstGeom>
          <a:solidFill>
            <a:srgbClr val="12A566"/>
          </a:solidFill>
          <a:ln/>
        </p:spPr>
      </p:sp>
      <p:sp>
        <p:nvSpPr>
          <p:cNvPr id="64" name="Text 62"/>
          <p:cNvSpPr txBox="1"/>
          <p:nvPr/>
        </p:nvSpPr>
        <p:spPr>
          <a:xfrm>
            <a:off x="10259568"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+$1.79</a:t>
            </a:r>
            <a:endParaRPr lang="en-US" sz="1300" dirty="0"/>
          </a:p>
        </p:txBody>
      </p:sp>
      <p:sp>
        <p:nvSpPr>
          <p:cNvPr id="65" name="Text 63"/>
          <p:cNvSpPr txBox="1"/>
          <p:nvPr/>
        </p:nvSpPr>
        <p:spPr>
          <a:xfrm>
            <a:off x="6208776"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66" name="Shape 64"/>
          <p:cNvSpPr/>
          <p:nvPr/>
        </p:nvSpPr>
        <p:spPr>
          <a:xfrm>
            <a:off x="9363456" y="2139459"/>
            <a:ext cx="12802" cy="105898"/>
          </a:xfrm>
          <a:prstGeom prst="rect">
            <a:avLst/>
          </a:prstGeom>
          <a:solidFill>
            <a:srgbClr val="12A566"/>
          </a:solidFill>
          <a:ln/>
        </p:spPr>
      </p:sp>
      <p:sp>
        <p:nvSpPr>
          <p:cNvPr id="67" name="Text 65"/>
          <p:cNvSpPr txBox="1"/>
          <p:nvPr/>
        </p:nvSpPr>
        <p:spPr>
          <a:xfrm>
            <a:off x="10259568"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+$0.18</a:t>
            </a:r>
            <a:endParaRPr lang="en-US" sz="1300" dirty="0"/>
          </a:p>
        </p:txBody>
      </p:sp>
      <p:sp>
        <p:nvSpPr>
          <p:cNvPr id="68" name="Text 66"/>
          <p:cNvSpPr txBox="1"/>
          <p:nvPr/>
        </p:nvSpPr>
        <p:spPr>
          <a:xfrm>
            <a:off x="6208776"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69" name="Shape 67"/>
          <p:cNvSpPr/>
          <p:nvPr/>
        </p:nvSpPr>
        <p:spPr>
          <a:xfrm>
            <a:off x="9345276" y="2369673"/>
            <a:ext cx="18180" cy="105898"/>
          </a:xfrm>
          <a:prstGeom prst="rect">
            <a:avLst/>
          </a:prstGeom>
          <a:solidFill>
            <a:srgbClr val="C2352F"/>
          </a:solidFill>
          <a:ln/>
        </p:spPr>
      </p:sp>
      <p:sp>
        <p:nvSpPr>
          <p:cNvPr id="70" name="Text 68"/>
          <p:cNvSpPr txBox="1"/>
          <p:nvPr/>
        </p:nvSpPr>
        <p:spPr>
          <a:xfrm>
            <a:off x="10259568" y="2307515"/>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−$0.90</a:t>
            </a:r>
            <a:endParaRPr lang="en-US" sz="1300" dirty="0"/>
          </a:p>
        </p:txBody>
      </p:sp>
      <p:sp>
        <p:nvSpPr>
          <p:cNvPr id="71" name="Text 69"/>
          <p:cNvSpPr txBox="1"/>
          <p:nvPr/>
        </p:nvSpPr>
        <p:spPr>
          <a:xfrm>
            <a:off x="6208776"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72" name="Shape 70"/>
          <p:cNvSpPr/>
          <p:nvPr/>
        </p:nvSpPr>
        <p:spPr>
          <a:xfrm>
            <a:off x="9343443" y="2599887"/>
            <a:ext cx="20013" cy="105898"/>
          </a:xfrm>
          <a:prstGeom prst="rect">
            <a:avLst/>
          </a:prstGeom>
          <a:solidFill>
            <a:srgbClr val="C2352F"/>
          </a:solidFill>
          <a:ln/>
        </p:spPr>
      </p:sp>
      <p:sp>
        <p:nvSpPr>
          <p:cNvPr id="73" name="Text 71"/>
          <p:cNvSpPr txBox="1"/>
          <p:nvPr/>
        </p:nvSpPr>
        <p:spPr>
          <a:xfrm>
            <a:off x="10259568" y="2537729"/>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−$0.99</a:t>
            </a:r>
            <a:endParaRPr lang="en-US" sz="1300" dirty="0"/>
          </a:p>
        </p:txBody>
      </p:sp>
      <p:sp>
        <p:nvSpPr>
          <p:cNvPr id="74" name="Text 72"/>
          <p:cNvSpPr txBox="1"/>
          <p:nvPr/>
        </p:nvSpPr>
        <p:spPr>
          <a:xfrm>
            <a:off x="6208776"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75" name="Shape 73"/>
          <p:cNvSpPr/>
          <p:nvPr/>
        </p:nvSpPr>
        <p:spPr>
          <a:xfrm>
            <a:off x="9334108" y="2830100"/>
            <a:ext cx="29348" cy="105898"/>
          </a:xfrm>
          <a:prstGeom prst="rect">
            <a:avLst/>
          </a:prstGeom>
          <a:solidFill>
            <a:srgbClr val="C2352F"/>
          </a:solidFill>
          <a:ln/>
        </p:spPr>
      </p:sp>
      <p:sp>
        <p:nvSpPr>
          <p:cNvPr id="76" name="Text 74"/>
          <p:cNvSpPr txBox="1"/>
          <p:nvPr/>
        </p:nvSpPr>
        <p:spPr>
          <a:xfrm>
            <a:off x="10259568" y="276794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−$1.45</a:t>
            </a:r>
            <a:endParaRPr lang="en-US" sz="1300" dirty="0"/>
          </a:p>
        </p:txBody>
      </p:sp>
      <p:sp>
        <p:nvSpPr>
          <p:cNvPr id="77" name="Text 75"/>
          <p:cNvSpPr txBox="1"/>
          <p:nvPr/>
        </p:nvSpPr>
        <p:spPr>
          <a:xfrm>
            <a:off x="6208776"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78" name="Shape 76"/>
          <p:cNvSpPr/>
          <p:nvPr/>
        </p:nvSpPr>
        <p:spPr>
          <a:xfrm>
            <a:off x="9332465" y="3060314"/>
            <a:ext cx="30991" cy="105898"/>
          </a:xfrm>
          <a:prstGeom prst="rect">
            <a:avLst/>
          </a:prstGeom>
          <a:solidFill>
            <a:srgbClr val="C2352F"/>
          </a:solidFill>
          <a:ln/>
        </p:spPr>
      </p:sp>
      <p:sp>
        <p:nvSpPr>
          <p:cNvPr id="79" name="Text 77"/>
          <p:cNvSpPr txBox="1"/>
          <p:nvPr/>
        </p:nvSpPr>
        <p:spPr>
          <a:xfrm>
            <a:off x="10259568" y="2998156"/>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−$1.53</a:t>
            </a:r>
            <a:endParaRPr lang="en-US" sz="1300" dirty="0"/>
          </a:p>
        </p:txBody>
      </p:sp>
      <p:sp>
        <p:nvSpPr>
          <p:cNvPr id="80" name="Text 78"/>
          <p:cNvSpPr txBox="1"/>
          <p:nvPr/>
        </p:nvSpPr>
        <p:spPr>
          <a:xfrm>
            <a:off x="6208776"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81" name="Shape 79"/>
          <p:cNvSpPr/>
          <p:nvPr/>
        </p:nvSpPr>
        <p:spPr>
          <a:xfrm>
            <a:off x="9326112" y="3290528"/>
            <a:ext cx="37344" cy="105898"/>
          </a:xfrm>
          <a:prstGeom prst="rect">
            <a:avLst/>
          </a:prstGeom>
          <a:solidFill>
            <a:srgbClr val="C2352F"/>
          </a:solidFill>
          <a:ln/>
        </p:spPr>
      </p:sp>
      <p:sp>
        <p:nvSpPr>
          <p:cNvPr id="82" name="Text 80"/>
          <p:cNvSpPr txBox="1"/>
          <p:nvPr/>
        </p:nvSpPr>
        <p:spPr>
          <a:xfrm>
            <a:off x="10259568" y="3228370"/>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−$1.84</a:t>
            </a:r>
            <a:endParaRPr lang="en-US" sz="1300" dirty="0"/>
          </a:p>
        </p:txBody>
      </p:sp>
      <p:sp>
        <p:nvSpPr>
          <p:cNvPr id="83" name="Text 81"/>
          <p:cNvSpPr txBox="1"/>
          <p:nvPr/>
        </p:nvSpPr>
        <p:spPr>
          <a:xfrm>
            <a:off x="6208776"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84" name="Shape 82"/>
          <p:cNvSpPr/>
          <p:nvPr/>
        </p:nvSpPr>
        <p:spPr>
          <a:xfrm>
            <a:off x="9322099" y="3520741"/>
            <a:ext cx="41357" cy="105898"/>
          </a:xfrm>
          <a:prstGeom prst="rect">
            <a:avLst/>
          </a:prstGeom>
          <a:solidFill>
            <a:srgbClr val="C2352F"/>
          </a:solidFill>
          <a:ln/>
        </p:spPr>
      </p:sp>
      <p:sp>
        <p:nvSpPr>
          <p:cNvPr id="85" name="Text 83"/>
          <p:cNvSpPr txBox="1"/>
          <p:nvPr/>
        </p:nvSpPr>
        <p:spPr>
          <a:xfrm>
            <a:off x="10259568" y="345858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−$2.04</a:t>
            </a:r>
            <a:endParaRPr lang="en-US" sz="1300" dirty="0"/>
          </a:p>
        </p:txBody>
      </p:sp>
      <p:sp>
        <p:nvSpPr>
          <p:cNvPr id="86" name="Text 84"/>
          <p:cNvSpPr txBox="1"/>
          <p:nvPr/>
        </p:nvSpPr>
        <p:spPr>
          <a:xfrm>
            <a:off x="6208776"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87" name="Shape 85"/>
          <p:cNvSpPr/>
          <p:nvPr/>
        </p:nvSpPr>
        <p:spPr>
          <a:xfrm>
            <a:off x="9322058" y="3750955"/>
            <a:ext cx="41398" cy="105898"/>
          </a:xfrm>
          <a:prstGeom prst="rect">
            <a:avLst/>
          </a:prstGeom>
          <a:solidFill>
            <a:srgbClr val="C2352F"/>
          </a:solidFill>
          <a:ln/>
        </p:spPr>
      </p:sp>
      <p:sp>
        <p:nvSpPr>
          <p:cNvPr id="88" name="Text 86"/>
          <p:cNvSpPr txBox="1"/>
          <p:nvPr/>
        </p:nvSpPr>
        <p:spPr>
          <a:xfrm>
            <a:off x="10259568" y="3688797"/>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−$2.04</a:t>
            </a:r>
            <a:endParaRPr lang="en-US" sz="1300" dirty="0"/>
          </a:p>
        </p:txBody>
      </p:sp>
      <p:sp>
        <p:nvSpPr>
          <p:cNvPr id="89" name="Text 87"/>
          <p:cNvSpPr txBox="1"/>
          <p:nvPr/>
        </p:nvSpPr>
        <p:spPr>
          <a:xfrm>
            <a:off x="6208776"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90" name="Shape 88"/>
          <p:cNvSpPr/>
          <p:nvPr/>
        </p:nvSpPr>
        <p:spPr>
          <a:xfrm>
            <a:off x="9319940" y="3981169"/>
            <a:ext cx="43516" cy="105898"/>
          </a:xfrm>
          <a:prstGeom prst="rect">
            <a:avLst/>
          </a:prstGeom>
          <a:solidFill>
            <a:srgbClr val="C2352F"/>
          </a:solidFill>
          <a:ln/>
        </p:spPr>
      </p:sp>
      <p:sp>
        <p:nvSpPr>
          <p:cNvPr id="91" name="Text 89"/>
          <p:cNvSpPr txBox="1"/>
          <p:nvPr/>
        </p:nvSpPr>
        <p:spPr>
          <a:xfrm>
            <a:off x="10259568" y="3919011"/>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−$2.14</a:t>
            </a:r>
            <a:endParaRPr lang="en-US" sz="1300" dirty="0"/>
          </a:p>
        </p:txBody>
      </p:sp>
      <p:sp>
        <p:nvSpPr>
          <p:cNvPr id="92" name="Text 90"/>
          <p:cNvSpPr txBox="1"/>
          <p:nvPr/>
        </p:nvSpPr>
        <p:spPr>
          <a:xfrm>
            <a:off x="6208776"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93" name="Shape 91"/>
          <p:cNvSpPr/>
          <p:nvPr/>
        </p:nvSpPr>
        <p:spPr>
          <a:xfrm>
            <a:off x="9290260" y="4211382"/>
            <a:ext cx="73196" cy="105898"/>
          </a:xfrm>
          <a:prstGeom prst="rect">
            <a:avLst/>
          </a:prstGeom>
          <a:solidFill>
            <a:srgbClr val="C2352F"/>
          </a:solidFill>
          <a:ln/>
        </p:spPr>
      </p:sp>
      <p:sp>
        <p:nvSpPr>
          <p:cNvPr id="94" name="Text 92"/>
          <p:cNvSpPr txBox="1"/>
          <p:nvPr/>
        </p:nvSpPr>
        <p:spPr>
          <a:xfrm>
            <a:off x="10259568" y="414922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−$3.60</a:t>
            </a:r>
            <a:endParaRPr lang="en-US" sz="1300" dirty="0"/>
          </a:p>
        </p:txBody>
      </p:sp>
      <p:sp>
        <p:nvSpPr>
          <p:cNvPr id="95" name="Text 93"/>
          <p:cNvSpPr txBox="1"/>
          <p:nvPr/>
        </p:nvSpPr>
        <p:spPr>
          <a:xfrm>
            <a:off x="6208776"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96" name="Shape 94"/>
          <p:cNvSpPr/>
          <p:nvPr/>
        </p:nvSpPr>
        <p:spPr>
          <a:xfrm>
            <a:off x="9236404" y="4441596"/>
            <a:ext cx="127052" cy="105898"/>
          </a:xfrm>
          <a:prstGeom prst="rect">
            <a:avLst/>
          </a:prstGeom>
          <a:solidFill>
            <a:srgbClr val="C2352F"/>
          </a:solidFill>
          <a:ln/>
        </p:spPr>
      </p:sp>
      <p:sp>
        <p:nvSpPr>
          <p:cNvPr id="97" name="Text 95"/>
          <p:cNvSpPr txBox="1"/>
          <p:nvPr/>
        </p:nvSpPr>
        <p:spPr>
          <a:xfrm>
            <a:off x="10259568" y="4379438"/>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−$6.26</a:t>
            </a:r>
            <a:endParaRPr lang="en-US" sz="1300" dirty="0"/>
          </a:p>
        </p:txBody>
      </p:sp>
      <p:sp>
        <p:nvSpPr>
          <p:cNvPr id="98" name="Text 96"/>
          <p:cNvSpPr txBox="1"/>
          <p:nvPr/>
        </p:nvSpPr>
        <p:spPr>
          <a:xfrm>
            <a:off x="6208776"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99" name="Shape 97"/>
          <p:cNvSpPr/>
          <p:nvPr/>
        </p:nvSpPr>
        <p:spPr>
          <a:xfrm>
            <a:off x="9153225" y="4671809"/>
            <a:ext cx="210231" cy="105898"/>
          </a:xfrm>
          <a:prstGeom prst="rect">
            <a:avLst/>
          </a:prstGeom>
          <a:solidFill>
            <a:srgbClr val="C2352F"/>
          </a:solidFill>
          <a:ln/>
        </p:spPr>
      </p:sp>
      <p:sp>
        <p:nvSpPr>
          <p:cNvPr id="100" name="Text 98"/>
          <p:cNvSpPr txBox="1"/>
          <p:nvPr/>
        </p:nvSpPr>
        <p:spPr>
          <a:xfrm>
            <a:off x="10259568" y="4609652"/>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−$10.35</a:t>
            </a:r>
            <a:endParaRPr lang="en-US" sz="1300" dirty="0"/>
          </a:p>
        </p:txBody>
      </p:sp>
      <p:sp>
        <p:nvSpPr>
          <p:cNvPr id="101" name="Text 99"/>
          <p:cNvSpPr txBox="1"/>
          <p:nvPr/>
        </p:nvSpPr>
        <p:spPr>
          <a:xfrm>
            <a:off x="6208776"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102" name="Shape 100"/>
          <p:cNvSpPr/>
          <p:nvPr/>
        </p:nvSpPr>
        <p:spPr>
          <a:xfrm>
            <a:off x="9134462" y="4902023"/>
            <a:ext cx="228994" cy="105898"/>
          </a:xfrm>
          <a:prstGeom prst="rect">
            <a:avLst/>
          </a:prstGeom>
          <a:solidFill>
            <a:srgbClr val="C2352F"/>
          </a:solidFill>
          <a:ln/>
        </p:spPr>
      </p:sp>
      <p:sp>
        <p:nvSpPr>
          <p:cNvPr id="103" name="Text 101"/>
          <p:cNvSpPr txBox="1"/>
          <p:nvPr/>
        </p:nvSpPr>
        <p:spPr>
          <a:xfrm>
            <a:off x="10259568" y="4839865"/>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−$11.28</a:t>
            </a:r>
            <a:endParaRPr lang="en-US" sz="1300" dirty="0"/>
          </a:p>
        </p:txBody>
      </p:sp>
      <p:sp>
        <p:nvSpPr>
          <p:cNvPr id="104" name="Text 102"/>
          <p:cNvSpPr txBox="1"/>
          <p:nvPr/>
        </p:nvSpPr>
        <p:spPr>
          <a:xfrm>
            <a:off x="6208776"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105" name="Shape 103"/>
          <p:cNvSpPr/>
          <p:nvPr/>
        </p:nvSpPr>
        <p:spPr>
          <a:xfrm>
            <a:off x="9106714" y="5132237"/>
            <a:ext cx="256742" cy="105898"/>
          </a:xfrm>
          <a:prstGeom prst="rect">
            <a:avLst/>
          </a:prstGeom>
          <a:solidFill>
            <a:srgbClr val="C2352F"/>
          </a:solidFill>
          <a:ln/>
        </p:spPr>
      </p:sp>
      <p:sp>
        <p:nvSpPr>
          <p:cNvPr id="106" name="Text 104"/>
          <p:cNvSpPr txBox="1"/>
          <p:nvPr/>
        </p:nvSpPr>
        <p:spPr>
          <a:xfrm>
            <a:off x="10259568" y="5070079"/>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−$12.64</a:t>
            </a:r>
            <a:endParaRPr lang="en-US" sz="1300" dirty="0"/>
          </a:p>
        </p:txBody>
      </p:sp>
      <p:sp>
        <p:nvSpPr>
          <p:cNvPr id="107" name="Text 105"/>
          <p:cNvSpPr txBox="1"/>
          <p:nvPr/>
        </p:nvSpPr>
        <p:spPr>
          <a:xfrm>
            <a:off x="6208776"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108" name="Shape 106"/>
          <p:cNvSpPr/>
          <p:nvPr/>
        </p:nvSpPr>
        <p:spPr>
          <a:xfrm>
            <a:off x="8650173" y="5362450"/>
            <a:ext cx="713283" cy="105898"/>
          </a:xfrm>
          <a:prstGeom prst="rect">
            <a:avLst/>
          </a:prstGeom>
          <a:solidFill>
            <a:srgbClr val="C2352F"/>
          </a:solidFill>
          <a:ln/>
        </p:spPr>
      </p:sp>
      <p:sp>
        <p:nvSpPr>
          <p:cNvPr id="109" name="Text 107"/>
          <p:cNvSpPr txBox="1"/>
          <p:nvPr/>
        </p:nvSpPr>
        <p:spPr>
          <a:xfrm>
            <a:off x="10259568" y="530029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−$35.13</a:t>
            </a:r>
            <a:endParaRPr lang="en-US" sz="1300" dirty="0"/>
          </a:p>
        </p:txBody>
      </p:sp>
      <p:sp>
        <p:nvSpPr>
          <p:cNvPr id="110" name="Shape 108"/>
          <p:cNvSpPr/>
          <p:nvPr/>
        </p:nvSpPr>
        <p:spPr>
          <a:xfrm>
            <a:off x="3807562" y="1847088"/>
            <a:ext cx="10973" cy="3913632"/>
          </a:xfrm>
          <a:prstGeom prst="rect">
            <a:avLst/>
          </a:prstGeom>
          <a:solidFill>
            <a:srgbClr val="9AA3AD"/>
          </a:solidFill>
          <a:ln/>
        </p:spPr>
      </p:sp>
      <p:sp>
        <p:nvSpPr>
          <p:cNvPr id="111" name="Shape 109"/>
          <p:cNvSpPr/>
          <p:nvPr/>
        </p:nvSpPr>
        <p:spPr>
          <a:xfrm>
            <a:off x="9357970" y="1847088"/>
            <a:ext cx="10973" cy="3913632"/>
          </a:xfrm>
          <a:prstGeom prst="rect">
            <a:avLst/>
          </a:prstGeom>
          <a:solidFill>
            <a:srgbClr val="9AA3AD"/>
          </a:solidFill>
          <a:ln/>
        </p:spPr>
      </p:sp>
      <p:sp>
        <p:nvSpPr>
          <p:cNvPr id="112" name="Shape 110"/>
          <p:cNvSpPr/>
          <p:nvPr/>
        </p:nvSpPr>
        <p:spPr>
          <a:xfrm>
            <a:off x="457200" y="5961888"/>
            <a:ext cx="11274552" cy="548640"/>
          </a:xfrm>
          <a:prstGeom prst="rect">
            <a:avLst/>
          </a:prstGeom>
          <a:solidFill>
            <a:srgbClr val="E6F6EE"/>
          </a:solidFill>
          <a:ln/>
        </p:spPr>
      </p:sp>
      <p:sp>
        <p:nvSpPr>
          <p:cNvPr id="113" name="Text 111"/>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19 of 33 stores raised CP ELR, led by VOLVO at +$40.53 to $222.12. 14 declined; KIA LV fell most at −$35.13.</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Door Rate</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316736"/>
            <a:ext cx="4334256" cy="32918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LABOR GRID · 17 STORES</a:t>
            </a:r>
            <a:endParaRPr lang="en-US" sz="1400" dirty="0"/>
          </a:p>
        </p:txBody>
      </p:sp>
      <p:sp>
        <p:nvSpPr>
          <p:cNvPr id="7" name="Text 5"/>
          <p:cNvSpPr txBox="1"/>
          <p:nvPr/>
        </p:nvSpPr>
        <p:spPr>
          <a:xfrm>
            <a:off x="5120640" y="1316736"/>
            <a:ext cx="74980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DOOR</a:t>
            </a:r>
            <a:endParaRPr lang="en-US" sz="1400" dirty="0"/>
          </a:p>
        </p:txBody>
      </p:sp>
      <p:sp>
        <p:nvSpPr>
          <p:cNvPr id="8" name="Text 6"/>
          <p:cNvSpPr txBox="1"/>
          <p:nvPr/>
        </p:nvSpPr>
        <p:spPr>
          <a:xfrm>
            <a:off x="658368" y="175564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9" name="Shape 7"/>
          <p:cNvSpPr/>
          <p:nvPr/>
        </p:nvSpPr>
        <p:spPr>
          <a:xfrm>
            <a:off x="2651760" y="1811020"/>
            <a:ext cx="2414016" cy="110744"/>
          </a:xfrm>
          <a:prstGeom prst="rect">
            <a:avLst/>
          </a:prstGeom>
          <a:solidFill>
            <a:srgbClr val="2587C5"/>
          </a:solidFill>
          <a:ln/>
        </p:spPr>
      </p:sp>
      <p:sp>
        <p:nvSpPr>
          <p:cNvPr id="10" name="Text 8"/>
          <p:cNvSpPr txBox="1"/>
          <p:nvPr/>
        </p:nvSpPr>
        <p:spPr>
          <a:xfrm>
            <a:off x="5120640" y="1755648"/>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$348.87</a:t>
            </a:r>
            <a:endParaRPr lang="en-US" sz="1300" dirty="0"/>
          </a:p>
        </p:txBody>
      </p:sp>
      <p:sp>
        <p:nvSpPr>
          <p:cNvPr id="11" name="Text 9"/>
          <p:cNvSpPr txBox="1"/>
          <p:nvPr/>
        </p:nvSpPr>
        <p:spPr>
          <a:xfrm>
            <a:off x="658368" y="197713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12" name="Shape 10"/>
          <p:cNvSpPr/>
          <p:nvPr/>
        </p:nvSpPr>
        <p:spPr>
          <a:xfrm>
            <a:off x="2651760" y="2032508"/>
            <a:ext cx="2036981" cy="110744"/>
          </a:xfrm>
          <a:prstGeom prst="rect">
            <a:avLst/>
          </a:prstGeom>
          <a:solidFill>
            <a:srgbClr val="2587C5"/>
          </a:solidFill>
          <a:ln/>
        </p:spPr>
      </p:sp>
      <p:sp>
        <p:nvSpPr>
          <p:cNvPr id="13" name="Text 11"/>
          <p:cNvSpPr txBox="1"/>
          <p:nvPr/>
        </p:nvSpPr>
        <p:spPr>
          <a:xfrm>
            <a:off x="5120640" y="1977136"/>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$310.00</a:t>
            </a:r>
            <a:endParaRPr lang="en-US" sz="1300" dirty="0"/>
          </a:p>
        </p:txBody>
      </p:sp>
      <p:sp>
        <p:nvSpPr>
          <p:cNvPr id="14" name="Text 12"/>
          <p:cNvSpPr txBox="1"/>
          <p:nvPr/>
        </p:nvSpPr>
        <p:spPr>
          <a:xfrm>
            <a:off x="658368" y="219862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15" name="Shape 13"/>
          <p:cNvSpPr/>
          <p:nvPr/>
        </p:nvSpPr>
        <p:spPr>
          <a:xfrm>
            <a:off x="2651760" y="2253996"/>
            <a:ext cx="1890221" cy="110744"/>
          </a:xfrm>
          <a:prstGeom prst="rect">
            <a:avLst/>
          </a:prstGeom>
          <a:solidFill>
            <a:srgbClr val="2587C5"/>
          </a:solidFill>
          <a:ln/>
        </p:spPr>
      </p:sp>
      <p:sp>
        <p:nvSpPr>
          <p:cNvPr id="16" name="Text 14"/>
          <p:cNvSpPr txBox="1"/>
          <p:nvPr/>
        </p:nvSpPr>
        <p:spPr>
          <a:xfrm>
            <a:off x="5120640" y="2198624"/>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$294.87</a:t>
            </a:r>
            <a:endParaRPr lang="en-US" sz="1300" dirty="0"/>
          </a:p>
        </p:txBody>
      </p:sp>
      <p:sp>
        <p:nvSpPr>
          <p:cNvPr id="17" name="Text 15"/>
          <p:cNvSpPr txBox="1"/>
          <p:nvPr/>
        </p:nvSpPr>
        <p:spPr>
          <a:xfrm>
            <a:off x="658368" y="2420112"/>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18" name="Shape 16"/>
          <p:cNvSpPr/>
          <p:nvPr/>
        </p:nvSpPr>
        <p:spPr>
          <a:xfrm>
            <a:off x="2651760" y="2475484"/>
            <a:ext cx="1794483" cy="110744"/>
          </a:xfrm>
          <a:prstGeom prst="rect">
            <a:avLst/>
          </a:prstGeom>
          <a:solidFill>
            <a:srgbClr val="2587C5"/>
          </a:solidFill>
          <a:ln/>
        </p:spPr>
      </p:sp>
      <p:sp>
        <p:nvSpPr>
          <p:cNvPr id="19" name="Text 17"/>
          <p:cNvSpPr txBox="1"/>
          <p:nvPr/>
        </p:nvSpPr>
        <p:spPr>
          <a:xfrm>
            <a:off x="5120640" y="2420112"/>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$285.00</a:t>
            </a:r>
            <a:endParaRPr lang="en-US" sz="1300" dirty="0"/>
          </a:p>
        </p:txBody>
      </p:sp>
      <p:sp>
        <p:nvSpPr>
          <p:cNvPr id="20" name="Text 18"/>
          <p:cNvSpPr txBox="1"/>
          <p:nvPr/>
        </p:nvSpPr>
        <p:spPr>
          <a:xfrm>
            <a:off x="658368" y="2641600"/>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21" name="Shape 19"/>
          <p:cNvSpPr/>
          <p:nvPr/>
        </p:nvSpPr>
        <p:spPr>
          <a:xfrm>
            <a:off x="2651760" y="2696972"/>
            <a:ext cx="1356726" cy="110744"/>
          </a:xfrm>
          <a:prstGeom prst="rect">
            <a:avLst/>
          </a:prstGeom>
          <a:solidFill>
            <a:srgbClr val="2587C5"/>
          </a:solidFill>
          <a:ln/>
        </p:spPr>
      </p:sp>
      <p:sp>
        <p:nvSpPr>
          <p:cNvPr id="22" name="Text 20"/>
          <p:cNvSpPr txBox="1"/>
          <p:nvPr/>
        </p:nvSpPr>
        <p:spPr>
          <a:xfrm>
            <a:off x="5120640" y="2641600"/>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$239.87</a:t>
            </a:r>
            <a:endParaRPr lang="en-US" sz="1300" dirty="0"/>
          </a:p>
        </p:txBody>
      </p:sp>
      <p:sp>
        <p:nvSpPr>
          <p:cNvPr id="23" name="Text 21"/>
          <p:cNvSpPr txBox="1"/>
          <p:nvPr/>
        </p:nvSpPr>
        <p:spPr>
          <a:xfrm>
            <a:off x="658368" y="286308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24" name="Shape 22"/>
          <p:cNvSpPr/>
          <p:nvPr/>
        </p:nvSpPr>
        <p:spPr>
          <a:xfrm>
            <a:off x="2651760" y="2918460"/>
            <a:ext cx="1317926" cy="110744"/>
          </a:xfrm>
          <a:prstGeom prst="rect">
            <a:avLst/>
          </a:prstGeom>
          <a:solidFill>
            <a:srgbClr val="2587C5"/>
          </a:solidFill>
          <a:ln/>
        </p:spPr>
      </p:sp>
      <p:sp>
        <p:nvSpPr>
          <p:cNvPr id="25" name="Text 23"/>
          <p:cNvSpPr txBox="1"/>
          <p:nvPr/>
        </p:nvSpPr>
        <p:spPr>
          <a:xfrm>
            <a:off x="5120640" y="2863088"/>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$235.87</a:t>
            </a:r>
            <a:endParaRPr lang="en-US" sz="1300" dirty="0"/>
          </a:p>
        </p:txBody>
      </p:sp>
      <p:sp>
        <p:nvSpPr>
          <p:cNvPr id="26" name="Shape 24"/>
          <p:cNvSpPr/>
          <p:nvPr/>
        </p:nvSpPr>
        <p:spPr>
          <a:xfrm>
            <a:off x="603504" y="3084576"/>
            <a:ext cx="5285232" cy="212344"/>
          </a:xfrm>
          <a:prstGeom prst="rect">
            <a:avLst/>
          </a:prstGeom>
          <a:solidFill>
            <a:srgbClr val="EDF4FA"/>
          </a:solidFill>
          <a:ln/>
        </p:spPr>
      </p:sp>
      <p:sp>
        <p:nvSpPr>
          <p:cNvPr id="27" name="Text 25"/>
          <p:cNvSpPr txBox="1"/>
          <p:nvPr/>
        </p:nvSpPr>
        <p:spPr>
          <a:xfrm>
            <a:off x="658368" y="3084576"/>
            <a:ext cx="1920240" cy="221488"/>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GRID AVG</a:t>
            </a:r>
            <a:endParaRPr lang="en-US" sz="1300" dirty="0"/>
          </a:p>
        </p:txBody>
      </p:sp>
      <p:sp>
        <p:nvSpPr>
          <p:cNvPr id="28" name="Shape 26"/>
          <p:cNvSpPr/>
          <p:nvPr/>
        </p:nvSpPr>
        <p:spPr>
          <a:xfrm>
            <a:off x="2651760" y="3139948"/>
            <a:ext cx="1246950" cy="110744"/>
          </a:xfrm>
          <a:prstGeom prst="rect">
            <a:avLst/>
          </a:prstGeom>
          <a:solidFill>
            <a:srgbClr val="0B2C4A"/>
          </a:solidFill>
          <a:ln/>
        </p:spPr>
      </p:sp>
      <p:sp>
        <p:nvSpPr>
          <p:cNvPr id="29" name="Text 27"/>
          <p:cNvSpPr txBox="1"/>
          <p:nvPr/>
        </p:nvSpPr>
        <p:spPr>
          <a:xfrm>
            <a:off x="5120640" y="3084576"/>
            <a:ext cx="749808" cy="22148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$228.55</a:t>
            </a:r>
            <a:endParaRPr lang="en-US" sz="1300" dirty="0"/>
          </a:p>
        </p:txBody>
      </p:sp>
      <p:sp>
        <p:nvSpPr>
          <p:cNvPr id="30" name="Text 28"/>
          <p:cNvSpPr txBox="1"/>
          <p:nvPr/>
        </p:nvSpPr>
        <p:spPr>
          <a:xfrm>
            <a:off x="658368" y="330606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31" name="Shape 29"/>
          <p:cNvSpPr/>
          <p:nvPr/>
        </p:nvSpPr>
        <p:spPr>
          <a:xfrm>
            <a:off x="2651760" y="3361436"/>
            <a:ext cx="1211227" cy="110744"/>
          </a:xfrm>
          <a:prstGeom prst="rect">
            <a:avLst/>
          </a:prstGeom>
          <a:solidFill>
            <a:srgbClr val="2587C5"/>
          </a:solidFill>
          <a:ln/>
        </p:spPr>
      </p:sp>
      <p:sp>
        <p:nvSpPr>
          <p:cNvPr id="32" name="Text 30"/>
          <p:cNvSpPr txBox="1"/>
          <p:nvPr/>
        </p:nvSpPr>
        <p:spPr>
          <a:xfrm>
            <a:off x="5120640" y="3306064"/>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$224.87</a:t>
            </a:r>
            <a:endParaRPr lang="en-US" sz="1300" dirty="0"/>
          </a:p>
        </p:txBody>
      </p:sp>
      <p:sp>
        <p:nvSpPr>
          <p:cNvPr id="33" name="Text 31"/>
          <p:cNvSpPr txBox="1"/>
          <p:nvPr/>
        </p:nvSpPr>
        <p:spPr>
          <a:xfrm>
            <a:off x="658368" y="3527552"/>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34" name="Shape 32"/>
          <p:cNvSpPr/>
          <p:nvPr/>
        </p:nvSpPr>
        <p:spPr>
          <a:xfrm>
            <a:off x="2651760" y="3582924"/>
            <a:ext cx="1211227" cy="110744"/>
          </a:xfrm>
          <a:prstGeom prst="rect">
            <a:avLst/>
          </a:prstGeom>
          <a:solidFill>
            <a:srgbClr val="2587C5"/>
          </a:solidFill>
          <a:ln/>
        </p:spPr>
      </p:sp>
      <p:sp>
        <p:nvSpPr>
          <p:cNvPr id="35" name="Text 33"/>
          <p:cNvSpPr txBox="1"/>
          <p:nvPr/>
        </p:nvSpPr>
        <p:spPr>
          <a:xfrm>
            <a:off x="5120640" y="3527552"/>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$224.87</a:t>
            </a:r>
            <a:endParaRPr lang="en-US" sz="1300" dirty="0"/>
          </a:p>
        </p:txBody>
      </p:sp>
      <p:sp>
        <p:nvSpPr>
          <p:cNvPr id="36" name="Text 34"/>
          <p:cNvSpPr txBox="1"/>
          <p:nvPr/>
        </p:nvSpPr>
        <p:spPr>
          <a:xfrm>
            <a:off x="658368" y="3749040"/>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37" name="Shape 35"/>
          <p:cNvSpPr/>
          <p:nvPr/>
        </p:nvSpPr>
        <p:spPr>
          <a:xfrm>
            <a:off x="2651760" y="3804412"/>
            <a:ext cx="1162728" cy="110744"/>
          </a:xfrm>
          <a:prstGeom prst="rect">
            <a:avLst/>
          </a:prstGeom>
          <a:solidFill>
            <a:srgbClr val="2587C5"/>
          </a:solidFill>
          <a:ln/>
        </p:spPr>
      </p:sp>
      <p:sp>
        <p:nvSpPr>
          <p:cNvPr id="38" name="Text 36"/>
          <p:cNvSpPr txBox="1"/>
          <p:nvPr/>
        </p:nvSpPr>
        <p:spPr>
          <a:xfrm>
            <a:off x="5120640" y="3749040"/>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$219.87</a:t>
            </a:r>
            <a:endParaRPr lang="en-US" sz="1300" dirty="0"/>
          </a:p>
        </p:txBody>
      </p:sp>
      <p:sp>
        <p:nvSpPr>
          <p:cNvPr id="39" name="Text 37"/>
          <p:cNvSpPr txBox="1"/>
          <p:nvPr/>
        </p:nvSpPr>
        <p:spPr>
          <a:xfrm>
            <a:off x="658368" y="397052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40" name="Shape 38"/>
          <p:cNvSpPr/>
          <p:nvPr/>
        </p:nvSpPr>
        <p:spPr>
          <a:xfrm>
            <a:off x="2651760" y="4025900"/>
            <a:ext cx="1085129" cy="110744"/>
          </a:xfrm>
          <a:prstGeom prst="rect">
            <a:avLst/>
          </a:prstGeom>
          <a:solidFill>
            <a:srgbClr val="2587C5"/>
          </a:solidFill>
          <a:ln/>
        </p:spPr>
      </p:sp>
      <p:sp>
        <p:nvSpPr>
          <p:cNvPr id="41" name="Text 39"/>
          <p:cNvSpPr txBox="1"/>
          <p:nvPr/>
        </p:nvSpPr>
        <p:spPr>
          <a:xfrm>
            <a:off x="5120640" y="3970528"/>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$211.87</a:t>
            </a:r>
            <a:endParaRPr lang="en-US" sz="1300" dirty="0"/>
          </a:p>
        </p:txBody>
      </p:sp>
      <p:sp>
        <p:nvSpPr>
          <p:cNvPr id="42" name="Text 40"/>
          <p:cNvSpPr txBox="1"/>
          <p:nvPr/>
        </p:nvSpPr>
        <p:spPr>
          <a:xfrm>
            <a:off x="658368" y="419201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43" name="Shape 41"/>
          <p:cNvSpPr/>
          <p:nvPr/>
        </p:nvSpPr>
        <p:spPr>
          <a:xfrm>
            <a:off x="2651760" y="4247388"/>
            <a:ext cx="1085129" cy="110744"/>
          </a:xfrm>
          <a:prstGeom prst="rect">
            <a:avLst/>
          </a:prstGeom>
          <a:solidFill>
            <a:srgbClr val="2587C5"/>
          </a:solidFill>
          <a:ln/>
        </p:spPr>
      </p:sp>
      <p:sp>
        <p:nvSpPr>
          <p:cNvPr id="44" name="Text 42"/>
          <p:cNvSpPr txBox="1"/>
          <p:nvPr/>
        </p:nvSpPr>
        <p:spPr>
          <a:xfrm>
            <a:off x="5120640" y="4192016"/>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$211.87</a:t>
            </a:r>
            <a:endParaRPr lang="en-US" sz="1300" dirty="0"/>
          </a:p>
        </p:txBody>
      </p:sp>
      <p:sp>
        <p:nvSpPr>
          <p:cNvPr id="45" name="Text 43"/>
          <p:cNvSpPr txBox="1"/>
          <p:nvPr/>
        </p:nvSpPr>
        <p:spPr>
          <a:xfrm>
            <a:off x="658368" y="441350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46" name="Shape 44"/>
          <p:cNvSpPr/>
          <p:nvPr/>
        </p:nvSpPr>
        <p:spPr>
          <a:xfrm>
            <a:off x="2651760" y="4468876"/>
            <a:ext cx="1079212" cy="110744"/>
          </a:xfrm>
          <a:prstGeom prst="rect">
            <a:avLst/>
          </a:prstGeom>
          <a:solidFill>
            <a:srgbClr val="2587C5"/>
          </a:solidFill>
          <a:ln/>
        </p:spPr>
      </p:sp>
      <p:sp>
        <p:nvSpPr>
          <p:cNvPr id="47" name="Text 45"/>
          <p:cNvSpPr txBox="1"/>
          <p:nvPr/>
        </p:nvSpPr>
        <p:spPr>
          <a:xfrm>
            <a:off x="5120640" y="4413504"/>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$211.26</a:t>
            </a:r>
            <a:endParaRPr lang="en-US" sz="1300" dirty="0"/>
          </a:p>
        </p:txBody>
      </p:sp>
      <p:sp>
        <p:nvSpPr>
          <p:cNvPr id="48" name="Text 46"/>
          <p:cNvSpPr txBox="1"/>
          <p:nvPr/>
        </p:nvSpPr>
        <p:spPr>
          <a:xfrm>
            <a:off x="658368" y="4634992"/>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49" name="Shape 47"/>
          <p:cNvSpPr/>
          <p:nvPr/>
        </p:nvSpPr>
        <p:spPr>
          <a:xfrm>
            <a:off x="2651760" y="4690364"/>
            <a:ext cx="1065729" cy="110744"/>
          </a:xfrm>
          <a:prstGeom prst="rect">
            <a:avLst/>
          </a:prstGeom>
          <a:solidFill>
            <a:srgbClr val="2587C5"/>
          </a:solidFill>
          <a:ln/>
        </p:spPr>
      </p:sp>
      <p:sp>
        <p:nvSpPr>
          <p:cNvPr id="50" name="Text 48"/>
          <p:cNvSpPr txBox="1"/>
          <p:nvPr/>
        </p:nvSpPr>
        <p:spPr>
          <a:xfrm>
            <a:off x="5120640" y="4634992"/>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$209.87</a:t>
            </a:r>
            <a:endParaRPr lang="en-US" sz="1300" dirty="0"/>
          </a:p>
        </p:txBody>
      </p:sp>
      <p:sp>
        <p:nvSpPr>
          <p:cNvPr id="51" name="Text 49"/>
          <p:cNvSpPr txBox="1"/>
          <p:nvPr/>
        </p:nvSpPr>
        <p:spPr>
          <a:xfrm>
            <a:off x="658368" y="4856480"/>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52" name="Shape 50"/>
          <p:cNvSpPr/>
          <p:nvPr/>
        </p:nvSpPr>
        <p:spPr>
          <a:xfrm>
            <a:off x="2651760" y="4911852"/>
            <a:ext cx="1017229" cy="110744"/>
          </a:xfrm>
          <a:prstGeom prst="rect">
            <a:avLst/>
          </a:prstGeom>
          <a:solidFill>
            <a:srgbClr val="2587C5"/>
          </a:solidFill>
          <a:ln/>
        </p:spPr>
      </p:sp>
      <p:sp>
        <p:nvSpPr>
          <p:cNvPr id="53" name="Text 51"/>
          <p:cNvSpPr txBox="1"/>
          <p:nvPr/>
        </p:nvSpPr>
        <p:spPr>
          <a:xfrm>
            <a:off x="5120640" y="4856480"/>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$204.87</a:t>
            </a:r>
            <a:endParaRPr lang="en-US" sz="1300" dirty="0"/>
          </a:p>
        </p:txBody>
      </p:sp>
      <p:sp>
        <p:nvSpPr>
          <p:cNvPr id="54" name="Text 52"/>
          <p:cNvSpPr txBox="1"/>
          <p:nvPr/>
        </p:nvSpPr>
        <p:spPr>
          <a:xfrm>
            <a:off x="658368" y="507796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55" name="Shape 53"/>
          <p:cNvSpPr/>
          <p:nvPr/>
        </p:nvSpPr>
        <p:spPr>
          <a:xfrm>
            <a:off x="2651760" y="5133340"/>
            <a:ext cx="823231" cy="110744"/>
          </a:xfrm>
          <a:prstGeom prst="rect">
            <a:avLst/>
          </a:prstGeom>
          <a:solidFill>
            <a:srgbClr val="2587C5"/>
          </a:solidFill>
          <a:ln/>
        </p:spPr>
      </p:sp>
      <p:sp>
        <p:nvSpPr>
          <p:cNvPr id="56" name="Text 54"/>
          <p:cNvSpPr txBox="1"/>
          <p:nvPr/>
        </p:nvSpPr>
        <p:spPr>
          <a:xfrm>
            <a:off x="5120640" y="5077968"/>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$184.87</a:t>
            </a:r>
            <a:endParaRPr lang="en-US" sz="1300" dirty="0"/>
          </a:p>
        </p:txBody>
      </p:sp>
      <p:sp>
        <p:nvSpPr>
          <p:cNvPr id="57" name="Text 55"/>
          <p:cNvSpPr txBox="1"/>
          <p:nvPr/>
        </p:nvSpPr>
        <p:spPr>
          <a:xfrm>
            <a:off x="658368" y="529945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58" name="Shape 56"/>
          <p:cNvSpPr/>
          <p:nvPr/>
        </p:nvSpPr>
        <p:spPr>
          <a:xfrm>
            <a:off x="2651760" y="5354828"/>
            <a:ext cx="823231" cy="110744"/>
          </a:xfrm>
          <a:prstGeom prst="rect">
            <a:avLst/>
          </a:prstGeom>
          <a:solidFill>
            <a:srgbClr val="2587C5"/>
          </a:solidFill>
          <a:ln/>
        </p:spPr>
      </p:sp>
      <p:sp>
        <p:nvSpPr>
          <p:cNvPr id="59" name="Text 57"/>
          <p:cNvSpPr txBox="1"/>
          <p:nvPr/>
        </p:nvSpPr>
        <p:spPr>
          <a:xfrm>
            <a:off x="5120640" y="5299456"/>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$184.87</a:t>
            </a:r>
            <a:endParaRPr lang="en-US" sz="1300" dirty="0"/>
          </a:p>
        </p:txBody>
      </p:sp>
      <p:sp>
        <p:nvSpPr>
          <p:cNvPr id="60" name="Text 58"/>
          <p:cNvSpPr txBox="1"/>
          <p:nvPr/>
        </p:nvSpPr>
        <p:spPr>
          <a:xfrm>
            <a:off x="658368" y="552094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61" name="Shape 59"/>
          <p:cNvSpPr/>
          <p:nvPr/>
        </p:nvSpPr>
        <p:spPr>
          <a:xfrm>
            <a:off x="2651760" y="5576316"/>
            <a:ext cx="774732" cy="110744"/>
          </a:xfrm>
          <a:prstGeom prst="rect">
            <a:avLst/>
          </a:prstGeom>
          <a:solidFill>
            <a:srgbClr val="2587C5"/>
          </a:solidFill>
          <a:ln/>
        </p:spPr>
      </p:sp>
      <p:sp>
        <p:nvSpPr>
          <p:cNvPr id="62" name="Text 60"/>
          <p:cNvSpPr txBox="1"/>
          <p:nvPr/>
        </p:nvSpPr>
        <p:spPr>
          <a:xfrm>
            <a:off x="5120640" y="5520944"/>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$179.87</a:t>
            </a:r>
            <a:endParaRPr lang="en-US" sz="1300" dirty="0"/>
          </a:p>
        </p:txBody>
      </p:sp>
      <p:sp>
        <p:nvSpPr>
          <p:cNvPr id="63" name="Text 61"/>
          <p:cNvSpPr txBox="1"/>
          <p:nvPr/>
        </p:nvSpPr>
        <p:spPr>
          <a:xfrm>
            <a:off x="6208776" y="1316736"/>
            <a:ext cx="4334256" cy="32918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NO GRID · 16 STORES</a:t>
            </a:r>
            <a:endParaRPr lang="en-US" sz="1400" dirty="0"/>
          </a:p>
        </p:txBody>
      </p:sp>
      <p:sp>
        <p:nvSpPr>
          <p:cNvPr id="64" name="Text 62"/>
          <p:cNvSpPr txBox="1"/>
          <p:nvPr/>
        </p:nvSpPr>
        <p:spPr>
          <a:xfrm>
            <a:off x="10671048" y="1316736"/>
            <a:ext cx="74980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DOOR</a:t>
            </a:r>
            <a:endParaRPr lang="en-US" sz="1400" dirty="0"/>
          </a:p>
        </p:txBody>
      </p:sp>
      <p:sp>
        <p:nvSpPr>
          <p:cNvPr id="65" name="Text 63"/>
          <p:cNvSpPr txBox="1"/>
          <p:nvPr/>
        </p:nvSpPr>
        <p:spPr>
          <a:xfrm>
            <a:off x="6208776" y="175564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66" name="Shape 64"/>
          <p:cNvSpPr/>
          <p:nvPr/>
        </p:nvSpPr>
        <p:spPr>
          <a:xfrm>
            <a:off x="8202168" y="1811020"/>
            <a:ext cx="1697484" cy="110744"/>
          </a:xfrm>
          <a:prstGeom prst="rect">
            <a:avLst/>
          </a:prstGeom>
          <a:solidFill>
            <a:srgbClr val="2587C5"/>
          </a:solidFill>
          <a:ln/>
        </p:spPr>
      </p:sp>
      <p:sp>
        <p:nvSpPr>
          <p:cNvPr id="67" name="Text 65"/>
          <p:cNvSpPr txBox="1"/>
          <p:nvPr/>
        </p:nvSpPr>
        <p:spPr>
          <a:xfrm>
            <a:off x="10671048" y="1755648"/>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$275.00</a:t>
            </a:r>
            <a:endParaRPr lang="en-US" sz="1300" dirty="0"/>
          </a:p>
        </p:txBody>
      </p:sp>
      <p:sp>
        <p:nvSpPr>
          <p:cNvPr id="68" name="Text 66"/>
          <p:cNvSpPr txBox="1"/>
          <p:nvPr/>
        </p:nvSpPr>
        <p:spPr>
          <a:xfrm>
            <a:off x="6208776" y="197713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69" name="Shape 67"/>
          <p:cNvSpPr/>
          <p:nvPr/>
        </p:nvSpPr>
        <p:spPr>
          <a:xfrm>
            <a:off x="8202168" y="2032508"/>
            <a:ext cx="1454501" cy="110744"/>
          </a:xfrm>
          <a:prstGeom prst="rect">
            <a:avLst/>
          </a:prstGeom>
          <a:solidFill>
            <a:srgbClr val="2587C5"/>
          </a:solidFill>
          <a:ln/>
        </p:spPr>
      </p:sp>
      <p:sp>
        <p:nvSpPr>
          <p:cNvPr id="70" name="Text 68"/>
          <p:cNvSpPr txBox="1"/>
          <p:nvPr/>
        </p:nvSpPr>
        <p:spPr>
          <a:xfrm>
            <a:off x="10671048" y="1977136"/>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$249.95</a:t>
            </a:r>
            <a:endParaRPr lang="en-US" sz="1300" dirty="0"/>
          </a:p>
        </p:txBody>
      </p:sp>
      <p:sp>
        <p:nvSpPr>
          <p:cNvPr id="71" name="Text 69"/>
          <p:cNvSpPr txBox="1"/>
          <p:nvPr/>
        </p:nvSpPr>
        <p:spPr>
          <a:xfrm>
            <a:off x="6208776" y="219862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72" name="Shape 70"/>
          <p:cNvSpPr/>
          <p:nvPr/>
        </p:nvSpPr>
        <p:spPr>
          <a:xfrm>
            <a:off x="8202168" y="2253996"/>
            <a:ext cx="1405226" cy="110744"/>
          </a:xfrm>
          <a:prstGeom prst="rect">
            <a:avLst/>
          </a:prstGeom>
          <a:solidFill>
            <a:srgbClr val="2587C5"/>
          </a:solidFill>
          <a:ln/>
        </p:spPr>
      </p:sp>
      <p:sp>
        <p:nvSpPr>
          <p:cNvPr id="73" name="Text 71"/>
          <p:cNvSpPr txBox="1"/>
          <p:nvPr/>
        </p:nvSpPr>
        <p:spPr>
          <a:xfrm>
            <a:off x="10671048" y="2198624"/>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$244.87</a:t>
            </a:r>
            <a:endParaRPr lang="en-US" sz="1300" dirty="0"/>
          </a:p>
        </p:txBody>
      </p:sp>
      <p:sp>
        <p:nvSpPr>
          <p:cNvPr id="74" name="Text 72"/>
          <p:cNvSpPr txBox="1"/>
          <p:nvPr/>
        </p:nvSpPr>
        <p:spPr>
          <a:xfrm>
            <a:off x="6208776" y="2420112"/>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75" name="Shape 73"/>
          <p:cNvSpPr/>
          <p:nvPr/>
        </p:nvSpPr>
        <p:spPr>
          <a:xfrm>
            <a:off x="8202168" y="2475484"/>
            <a:ext cx="1260503" cy="110744"/>
          </a:xfrm>
          <a:prstGeom prst="rect">
            <a:avLst/>
          </a:prstGeom>
          <a:solidFill>
            <a:srgbClr val="2587C5"/>
          </a:solidFill>
          <a:ln/>
        </p:spPr>
      </p:sp>
      <p:sp>
        <p:nvSpPr>
          <p:cNvPr id="76" name="Text 74"/>
          <p:cNvSpPr txBox="1"/>
          <p:nvPr/>
        </p:nvSpPr>
        <p:spPr>
          <a:xfrm>
            <a:off x="10671048" y="2420112"/>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$229.95</a:t>
            </a:r>
            <a:endParaRPr lang="en-US" sz="1300" dirty="0"/>
          </a:p>
        </p:txBody>
      </p:sp>
      <p:sp>
        <p:nvSpPr>
          <p:cNvPr id="77" name="Text 75"/>
          <p:cNvSpPr txBox="1"/>
          <p:nvPr/>
        </p:nvSpPr>
        <p:spPr>
          <a:xfrm>
            <a:off x="6208776" y="2641600"/>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78" name="Shape 76"/>
          <p:cNvSpPr/>
          <p:nvPr/>
        </p:nvSpPr>
        <p:spPr>
          <a:xfrm>
            <a:off x="8202168" y="2696972"/>
            <a:ext cx="1163989" cy="110744"/>
          </a:xfrm>
          <a:prstGeom prst="rect">
            <a:avLst/>
          </a:prstGeom>
          <a:solidFill>
            <a:srgbClr val="2587C5"/>
          </a:solidFill>
          <a:ln/>
        </p:spPr>
      </p:sp>
      <p:sp>
        <p:nvSpPr>
          <p:cNvPr id="79" name="Text 77"/>
          <p:cNvSpPr txBox="1"/>
          <p:nvPr/>
        </p:nvSpPr>
        <p:spPr>
          <a:xfrm>
            <a:off x="10671048" y="2641600"/>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$220.00</a:t>
            </a:r>
            <a:endParaRPr lang="en-US" sz="1300" dirty="0"/>
          </a:p>
        </p:txBody>
      </p:sp>
      <p:sp>
        <p:nvSpPr>
          <p:cNvPr id="80" name="Text 78"/>
          <p:cNvSpPr txBox="1"/>
          <p:nvPr/>
        </p:nvSpPr>
        <p:spPr>
          <a:xfrm>
            <a:off x="6208776" y="286308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81" name="Shape 79"/>
          <p:cNvSpPr/>
          <p:nvPr/>
        </p:nvSpPr>
        <p:spPr>
          <a:xfrm>
            <a:off x="8202168" y="2918460"/>
            <a:ext cx="1119078" cy="110744"/>
          </a:xfrm>
          <a:prstGeom prst="rect">
            <a:avLst/>
          </a:prstGeom>
          <a:solidFill>
            <a:srgbClr val="2587C5"/>
          </a:solidFill>
          <a:ln/>
        </p:spPr>
      </p:sp>
      <p:sp>
        <p:nvSpPr>
          <p:cNvPr id="82" name="Text 80"/>
          <p:cNvSpPr txBox="1"/>
          <p:nvPr/>
        </p:nvSpPr>
        <p:spPr>
          <a:xfrm>
            <a:off x="10671048" y="2863088"/>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$215.37</a:t>
            </a:r>
            <a:endParaRPr lang="en-US" sz="1300" dirty="0"/>
          </a:p>
        </p:txBody>
      </p:sp>
      <p:sp>
        <p:nvSpPr>
          <p:cNvPr id="83" name="Text 81"/>
          <p:cNvSpPr txBox="1"/>
          <p:nvPr/>
        </p:nvSpPr>
        <p:spPr>
          <a:xfrm>
            <a:off x="6208776" y="308457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84" name="Shape 82"/>
          <p:cNvSpPr/>
          <p:nvPr/>
        </p:nvSpPr>
        <p:spPr>
          <a:xfrm>
            <a:off x="8202168" y="3139948"/>
            <a:ext cx="1066990" cy="110744"/>
          </a:xfrm>
          <a:prstGeom prst="rect">
            <a:avLst/>
          </a:prstGeom>
          <a:solidFill>
            <a:srgbClr val="2587C5"/>
          </a:solidFill>
          <a:ln/>
        </p:spPr>
      </p:sp>
      <p:sp>
        <p:nvSpPr>
          <p:cNvPr id="85" name="Text 83"/>
          <p:cNvSpPr txBox="1"/>
          <p:nvPr/>
        </p:nvSpPr>
        <p:spPr>
          <a:xfrm>
            <a:off x="10671048" y="3084576"/>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$210.00</a:t>
            </a:r>
            <a:endParaRPr lang="en-US" sz="1300" dirty="0"/>
          </a:p>
        </p:txBody>
      </p:sp>
      <p:sp>
        <p:nvSpPr>
          <p:cNvPr id="86" name="Text 84"/>
          <p:cNvSpPr txBox="1"/>
          <p:nvPr/>
        </p:nvSpPr>
        <p:spPr>
          <a:xfrm>
            <a:off x="6208776" y="330606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87" name="Shape 85"/>
          <p:cNvSpPr/>
          <p:nvPr/>
        </p:nvSpPr>
        <p:spPr>
          <a:xfrm>
            <a:off x="8202168" y="3361436"/>
            <a:ext cx="1066990" cy="110744"/>
          </a:xfrm>
          <a:prstGeom prst="rect">
            <a:avLst/>
          </a:prstGeom>
          <a:solidFill>
            <a:srgbClr val="2587C5"/>
          </a:solidFill>
          <a:ln/>
        </p:spPr>
      </p:sp>
      <p:sp>
        <p:nvSpPr>
          <p:cNvPr id="88" name="Text 86"/>
          <p:cNvSpPr txBox="1"/>
          <p:nvPr/>
        </p:nvSpPr>
        <p:spPr>
          <a:xfrm>
            <a:off x="10671048" y="3306064"/>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$210.00</a:t>
            </a:r>
            <a:endParaRPr lang="en-US" sz="1300" dirty="0"/>
          </a:p>
        </p:txBody>
      </p:sp>
      <p:sp>
        <p:nvSpPr>
          <p:cNvPr id="89" name="Shape 87"/>
          <p:cNvSpPr/>
          <p:nvPr/>
        </p:nvSpPr>
        <p:spPr>
          <a:xfrm>
            <a:off x="6153912" y="3527552"/>
            <a:ext cx="5285232" cy="212344"/>
          </a:xfrm>
          <a:prstGeom prst="rect">
            <a:avLst/>
          </a:prstGeom>
          <a:solidFill>
            <a:srgbClr val="EDF4FA"/>
          </a:solidFill>
          <a:ln/>
        </p:spPr>
      </p:sp>
      <p:sp>
        <p:nvSpPr>
          <p:cNvPr id="90" name="Text 88"/>
          <p:cNvSpPr txBox="1"/>
          <p:nvPr/>
        </p:nvSpPr>
        <p:spPr>
          <a:xfrm>
            <a:off x="6208776" y="3527552"/>
            <a:ext cx="1920240" cy="221488"/>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NO-GRID AVG</a:t>
            </a:r>
            <a:endParaRPr lang="en-US" sz="1300" dirty="0"/>
          </a:p>
        </p:txBody>
      </p:sp>
      <p:sp>
        <p:nvSpPr>
          <p:cNvPr id="91" name="Shape 89"/>
          <p:cNvSpPr/>
          <p:nvPr/>
        </p:nvSpPr>
        <p:spPr>
          <a:xfrm>
            <a:off x="8202168" y="3582924"/>
            <a:ext cx="997468" cy="110744"/>
          </a:xfrm>
          <a:prstGeom prst="rect">
            <a:avLst/>
          </a:prstGeom>
          <a:solidFill>
            <a:srgbClr val="0B2C4A"/>
          </a:solidFill>
          <a:ln/>
        </p:spPr>
      </p:sp>
      <p:sp>
        <p:nvSpPr>
          <p:cNvPr id="92" name="Text 90"/>
          <p:cNvSpPr txBox="1"/>
          <p:nvPr/>
        </p:nvSpPr>
        <p:spPr>
          <a:xfrm>
            <a:off x="10671048" y="3527552"/>
            <a:ext cx="749808" cy="22148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$202.83</a:t>
            </a:r>
            <a:endParaRPr lang="en-US" sz="1300" dirty="0"/>
          </a:p>
        </p:txBody>
      </p:sp>
      <p:sp>
        <p:nvSpPr>
          <p:cNvPr id="93" name="Text 91"/>
          <p:cNvSpPr txBox="1"/>
          <p:nvPr/>
        </p:nvSpPr>
        <p:spPr>
          <a:xfrm>
            <a:off x="6208776" y="3749040"/>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94" name="Shape 92"/>
          <p:cNvSpPr/>
          <p:nvPr/>
        </p:nvSpPr>
        <p:spPr>
          <a:xfrm>
            <a:off x="8202168" y="3804412"/>
            <a:ext cx="969506" cy="110744"/>
          </a:xfrm>
          <a:prstGeom prst="rect">
            <a:avLst/>
          </a:prstGeom>
          <a:solidFill>
            <a:srgbClr val="2587C5"/>
          </a:solidFill>
          <a:ln/>
        </p:spPr>
      </p:sp>
      <p:sp>
        <p:nvSpPr>
          <p:cNvPr id="95" name="Text 93"/>
          <p:cNvSpPr txBox="1"/>
          <p:nvPr/>
        </p:nvSpPr>
        <p:spPr>
          <a:xfrm>
            <a:off x="10671048" y="3749040"/>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$199.95</a:t>
            </a:r>
            <a:endParaRPr lang="en-US" sz="1300" dirty="0"/>
          </a:p>
        </p:txBody>
      </p:sp>
      <p:sp>
        <p:nvSpPr>
          <p:cNvPr id="96" name="Text 94"/>
          <p:cNvSpPr txBox="1"/>
          <p:nvPr/>
        </p:nvSpPr>
        <p:spPr>
          <a:xfrm>
            <a:off x="6208776" y="397052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97" name="Shape 95"/>
          <p:cNvSpPr/>
          <p:nvPr/>
        </p:nvSpPr>
        <p:spPr>
          <a:xfrm>
            <a:off x="8202168" y="4025900"/>
            <a:ext cx="921491" cy="110744"/>
          </a:xfrm>
          <a:prstGeom prst="rect">
            <a:avLst/>
          </a:prstGeom>
          <a:solidFill>
            <a:srgbClr val="2587C5"/>
          </a:solidFill>
          <a:ln/>
        </p:spPr>
      </p:sp>
      <p:sp>
        <p:nvSpPr>
          <p:cNvPr id="98" name="Text 96"/>
          <p:cNvSpPr txBox="1"/>
          <p:nvPr/>
        </p:nvSpPr>
        <p:spPr>
          <a:xfrm>
            <a:off x="10671048" y="3970528"/>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$195.00</a:t>
            </a:r>
            <a:endParaRPr lang="en-US" sz="1300" dirty="0"/>
          </a:p>
        </p:txBody>
      </p:sp>
      <p:sp>
        <p:nvSpPr>
          <p:cNvPr id="99" name="Text 97"/>
          <p:cNvSpPr txBox="1"/>
          <p:nvPr/>
        </p:nvSpPr>
        <p:spPr>
          <a:xfrm>
            <a:off x="6208776" y="419201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100" name="Shape 98"/>
          <p:cNvSpPr/>
          <p:nvPr/>
        </p:nvSpPr>
        <p:spPr>
          <a:xfrm>
            <a:off x="8202168" y="4247388"/>
            <a:ext cx="872992" cy="110744"/>
          </a:xfrm>
          <a:prstGeom prst="rect">
            <a:avLst/>
          </a:prstGeom>
          <a:solidFill>
            <a:srgbClr val="2587C5"/>
          </a:solidFill>
          <a:ln/>
        </p:spPr>
      </p:sp>
      <p:sp>
        <p:nvSpPr>
          <p:cNvPr id="101" name="Text 99"/>
          <p:cNvSpPr txBox="1"/>
          <p:nvPr/>
        </p:nvSpPr>
        <p:spPr>
          <a:xfrm>
            <a:off x="10671048" y="4192016"/>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$190.00</a:t>
            </a:r>
            <a:endParaRPr lang="en-US" sz="1300" dirty="0"/>
          </a:p>
        </p:txBody>
      </p:sp>
      <p:sp>
        <p:nvSpPr>
          <p:cNvPr id="102" name="Text 100"/>
          <p:cNvSpPr txBox="1"/>
          <p:nvPr/>
        </p:nvSpPr>
        <p:spPr>
          <a:xfrm>
            <a:off x="6208776" y="441350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103" name="Shape 101"/>
          <p:cNvSpPr/>
          <p:nvPr/>
        </p:nvSpPr>
        <p:spPr>
          <a:xfrm>
            <a:off x="8202168" y="4468876"/>
            <a:ext cx="824492" cy="110744"/>
          </a:xfrm>
          <a:prstGeom prst="rect">
            <a:avLst/>
          </a:prstGeom>
          <a:solidFill>
            <a:srgbClr val="2587C5"/>
          </a:solidFill>
          <a:ln/>
        </p:spPr>
      </p:sp>
      <p:sp>
        <p:nvSpPr>
          <p:cNvPr id="104" name="Text 102"/>
          <p:cNvSpPr txBox="1"/>
          <p:nvPr/>
        </p:nvSpPr>
        <p:spPr>
          <a:xfrm>
            <a:off x="10671048" y="4413504"/>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$185.00</a:t>
            </a:r>
            <a:endParaRPr lang="en-US" sz="1300" dirty="0"/>
          </a:p>
        </p:txBody>
      </p:sp>
      <p:sp>
        <p:nvSpPr>
          <p:cNvPr id="105" name="Text 103"/>
          <p:cNvSpPr txBox="1"/>
          <p:nvPr/>
        </p:nvSpPr>
        <p:spPr>
          <a:xfrm>
            <a:off x="6208776" y="4634992"/>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106" name="Shape 104"/>
          <p:cNvSpPr/>
          <p:nvPr/>
        </p:nvSpPr>
        <p:spPr>
          <a:xfrm>
            <a:off x="8202168" y="4690364"/>
            <a:ext cx="824492" cy="110744"/>
          </a:xfrm>
          <a:prstGeom prst="rect">
            <a:avLst/>
          </a:prstGeom>
          <a:solidFill>
            <a:srgbClr val="2587C5"/>
          </a:solidFill>
          <a:ln/>
        </p:spPr>
      </p:sp>
      <p:sp>
        <p:nvSpPr>
          <p:cNvPr id="107" name="Text 105"/>
          <p:cNvSpPr txBox="1"/>
          <p:nvPr/>
        </p:nvSpPr>
        <p:spPr>
          <a:xfrm>
            <a:off x="10671048" y="4634992"/>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$185.00</a:t>
            </a:r>
            <a:endParaRPr lang="en-US" sz="1300" dirty="0"/>
          </a:p>
        </p:txBody>
      </p:sp>
      <p:sp>
        <p:nvSpPr>
          <p:cNvPr id="108" name="Text 106"/>
          <p:cNvSpPr txBox="1"/>
          <p:nvPr/>
        </p:nvSpPr>
        <p:spPr>
          <a:xfrm>
            <a:off x="6208776" y="4856480"/>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109" name="Shape 107"/>
          <p:cNvSpPr/>
          <p:nvPr/>
        </p:nvSpPr>
        <p:spPr>
          <a:xfrm>
            <a:off x="8202168" y="4911852"/>
            <a:ext cx="824492" cy="110744"/>
          </a:xfrm>
          <a:prstGeom prst="rect">
            <a:avLst/>
          </a:prstGeom>
          <a:solidFill>
            <a:srgbClr val="2587C5"/>
          </a:solidFill>
          <a:ln/>
        </p:spPr>
      </p:sp>
      <p:sp>
        <p:nvSpPr>
          <p:cNvPr id="110" name="Text 108"/>
          <p:cNvSpPr txBox="1"/>
          <p:nvPr/>
        </p:nvSpPr>
        <p:spPr>
          <a:xfrm>
            <a:off x="10671048" y="4856480"/>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$185.00</a:t>
            </a:r>
            <a:endParaRPr lang="en-US" sz="1300" dirty="0"/>
          </a:p>
        </p:txBody>
      </p:sp>
      <p:sp>
        <p:nvSpPr>
          <p:cNvPr id="111" name="Text 109"/>
          <p:cNvSpPr txBox="1"/>
          <p:nvPr/>
        </p:nvSpPr>
        <p:spPr>
          <a:xfrm>
            <a:off x="6208776" y="507796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112" name="Shape 110"/>
          <p:cNvSpPr/>
          <p:nvPr/>
        </p:nvSpPr>
        <p:spPr>
          <a:xfrm>
            <a:off x="8202168" y="5133340"/>
            <a:ext cx="824492" cy="110744"/>
          </a:xfrm>
          <a:prstGeom prst="rect">
            <a:avLst/>
          </a:prstGeom>
          <a:solidFill>
            <a:srgbClr val="2587C5"/>
          </a:solidFill>
          <a:ln/>
        </p:spPr>
      </p:sp>
      <p:sp>
        <p:nvSpPr>
          <p:cNvPr id="113" name="Text 111"/>
          <p:cNvSpPr txBox="1"/>
          <p:nvPr/>
        </p:nvSpPr>
        <p:spPr>
          <a:xfrm>
            <a:off x="10671048" y="5077968"/>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$185.00</a:t>
            </a:r>
            <a:endParaRPr lang="en-US" sz="1300" dirty="0"/>
          </a:p>
        </p:txBody>
      </p:sp>
      <p:sp>
        <p:nvSpPr>
          <p:cNvPr id="114" name="Text 112"/>
          <p:cNvSpPr txBox="1"/>
          <p:nvPr/>
        </p:nvSpPr>
        <p:spPr>
          <a:xfrm>
            <a:off x="6208776" y="529945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115" name="Shape 113"/>
          <p:cNvSpPr/>
          <p:nvPr/>
        </p:nvSpPr>
        <p:spPr>
          <a:xfrm>
            <a:off x="8202168" y="5354828"/>
            <a:ext cx="766293" cy="110744"/>
          </a:xfrm>
          <a:prstGeom prst="rect">
            <a:avLst/>
          </a:prstGeom>
          <a:solidFill>
            <a:srgbClr val="2587C5"/>
          </a:solidFill>
          <a:ln/>
        </p:spPr>
      </p:sp>
      <p:sp>
        <p:nvSpPr>
          <p:cNvPr id="116" name="Text 114"/>
          <p:cNvSpPr txBox="1"/>
          <p:nvPr/>
        </p:nvSpPr>
        <p:spPr>
          <a:xfrm>
            <a:off x="10671048" y="5299456"/>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$179.00</a:t>
            </a:r>
            <a:endParaRPr lang="en-US" sz="1300" dirty="0"/>
          </a:p>
        </p:txBody>
      </p:sp>
      <p:sp>
        <p:nvSpPr>
          <p:cNvPr id="117" name="Shape 115"/>
          <p:cNvSpPr/>
          <p:nvPr/>
        </p:nvSpPr>
        <p:spPr>
          <a:xfrm>
            <a:off x="6035040" y="1371600"/>
            <a:ext cx="10973" cy="4370832"/>
          </a:xfrm>
          <a:prstGeom prst="rect">
            <a:avLst/>
          </a:prstGeom>
          <a:solidFill>
            <a:srgbClr val="D9D9D9"/>
          </a:solidFill>
          <a:ln/>
        </p:spPr>
      </p:sp>
      <p:sp>
        <p:nvSpPr>
          <p:cNvPr id="118" name="Shape 116"/>
          <p:cNvSpPr/>
          <p:nvPr/>
        </p:nvSpPr>
        <p:spPr>
          <a:xfrm>
            <a:off x="457200" y="5961888"/>
            <a:ext cx="11274552" cy="548640"/>
          </a:xfrm>
          <a:prstGeom prst="rect">
            <a:avLst/>
          </a:prstGeom>
          <a:solidFill>
            <a:srgbClr val="EDF4FA"/>
          </a:solidFill>
          <a:ln/>
        </p:spPr>
      </p:sp>
      <p:sp>
        <p:nvSpPr>
          <p:cNvPr id="119" name="Text 117"/>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17 stores price labor on a grid, 16 at a flat door rate. Hours-weighted door rate: $228.55 grid, $202.83 no grid.</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Door Rate</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316736"/>
            <a:ext cx="2688336" cy="32918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LABOR GRID · 17 STORES</a:t>
            </a:r>
            <a:endParaRPr lang="en-US" sz="1400" dirty="0"/>
          </a:p>
        </p:txBody>
      </p:sp>
      <p:sp>
        <p:nvSpPr>
          <p:cNvPr id="7" name="Text 5"/>
          <p:cNvSpPr txBox="1"/>
          <p:nvPr/>
        </p:nvSpPr>
        <p:spPr>
          <a:xfrm>
            <a:off x="3474720" y="1316736"/>
            <a:ext cx="74980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DOOR</a:t>
            </a:r>
            <a:endParaRPr lang="en-US" sz="1400" dirty="0"/>
          </a:p>
        </p:txBody>
      </p:sp>
      <p:sp>
        <p:nvSpPr>
          <p:cNvPr id="8" name="Text 6"/>
          <p:cNvSpPr txBox="1"/>
          <p:nvPr/>
        </p:nvSpPr>
        <p:spPr>
          <a:xfrm>
            <a:off x="4224528" y="1316736"/>
            <a:ext cx="987552"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PREMIUM</a:t>
            </a:r>
            <a:endParaRPr lang="en-US" sz="1400" dirty="0"/>
          </a:p>
        </p:txBody>
      </p:sp>
      <p:sp>
        <p:nvSpPr>
          <p:cNvPr id="9" name="Text 7"/>
          <p:cNvSpPr txBox="1"/>
          <p:nvPr/>
        </p:nvSpPr>
        <p:spPr>
          <a:xfrm>
            <a:off x="5212080" y="1316736"/>
            <a:ext cx="65836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FOR</a:t>
            </a:r>
            <a:endParaRPr lang="en-US" sz="1400" dirty="0"/>
          </a:p>
        </p:txBody>
      </p:sp>
      <p:sp>
        <p:nvSpPr>
          <p:cNvPr id="10" name="Text 8"/>
          <p:cNvSpPr txBox="1"/>
          <p:nvPr/>
        </p:nvSpPr>
        <p:spPr>
          <a:xfrm>
            <a:off x="658368" y="175564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11" name="Shape 9"/>
          <p:cNvSpPr/>
          <p:nvPr/>
        </p:nvSpPr>
        <p:spPr>
          <a:xfrm>
            <a:off x="2651760" y="1811020"/>
            <a:ext cx="768096" cy="110744"/>
          </a:xfrm>
          <a:prstGeom prst="rect">
            <a:avLst/>
          </a:prstGeom>
          <a:solidFill>
            <a:srgbClr val="2587C5"/>
          </a:solidFill>
          <a:ln/>
        </p:spPr>
      </p:sp>
      <p:sp>
        <p:nvSpPr>
          <p:cNvPr id="12" name="Text 10"/>
          <p:cNvSpPr txBox="1"/>
          <p:nvPr/>
        </p:nvSpPr>
        <p:spPr>
          <a:xfrm>
            <a:off x="3474720" y="1755648"/>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$348.87</a:t>
            </a:r>
            <a:endParaRPr lang="en-US" sz="1300" dirty="0"/>
          </a:p>
        </p:txBody>
      </p:sp>
      <p:sp>
        <p:nvSpPr>
          <p:cNvPr id="13" name="Text 11"/>
          <p:cNvSpPr txBox="1"/>
          <p:nvPr/>
        </p:nvSpPr>
        <p:spPr>
          <a:xfrm>
            <a:off x="4224528" y="1755648"/>
            <a:ext cx="987552"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$399.00</a:t>
            </a:r>
            <a:endParaRPr lang="en-US" sz="1300" dirty="0"/>
          </a:p>
        </p:txBody>
      </p:sp>
      <p:sp>
        <p:nvSpPr>
          <p:cNvPr id="14" name="Text 12"/>
          <p:cNvSpPr txBox="1"/>
          <p:nvPr/>
        </p:nvSpPr>
        <p:spPr>
          <a:xfrm>
            <a:off x="5212080" y="1755648"/>
            <a:ext cx="658368"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Lambo</a:t>
            </a:r>
            <a:endParaRPr lang="en-US" sz="1300" dirty="0"/>
          </a:p>
        </p:txBody>
      </p:sp>
      <p:sp>
        <p:nvSpPr>
          <p:cNvPr id="15" name="Text 13"/>
          <p:cNvSpPr txBox="1"/>
          <p:nvPr/>
        </p:nvSpPr>
        <p:spPr>
          <a:xfrm>
            <a:off x="658368" y="197713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16" name="Shape 14"/>
          <p:cNvSpPr/>
          <p:nvPr/>
        </p:nvSpPr>
        <p:spPr>
          <a:xfrm>
            <a:off x="2651760" y="2032508"/>
            <a:ext cx="648130" cy="110744"/>
          </a:xfrm>
          <a:prstGeom prst="rect">
            <a:avLst/>
          </a:prstGeom>
          <a:solidFill>
            <a:srgbClr val="2587C5"/>
          </a:solidFill>
          <a:ln/>
        </p:spPr>
      </p:sp>
      <p:sp>
        <p:nvSpPr>
          <p:cNvPr id="17" name="Text 15"/>
          <p:cNvSpPr txBox="1"/>
          <p:nvPr/>
        </p:nvSpPr>
        <p:spPr>
          <a:xfrm>
            <a:off x="3474720" y="1977136"/>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$310.00</a:t>
            </a:r>
            <a:endParaRPr lang="en-US" sz="1300" dirty="0"/>
          </a:p>
        </p:txBody>
      </p:sp>
      <p:sp>
        <p:nvSpPr>
          <p:cNvPr id="18" name="Text 16"/>
          <p:cNvSpPr txBox="1"/>
          <p:nvPr/>
        </p:nvSpPr>
        <p:spPr>
          <a:xfrm>
            <a:off x="4224528" y="1977136"/>
            <a:ext cx="987552" cy="221488"/>
          </a:xfrm>
          <a:prstGeom prst="rect">
            <a:avLst/>
          </a:prstGeom>
          <a:noFill/>
          <a:ln/>
        </p:spPr>
        <p:txBody>
          <a:bodyPr wrap="square" lIns="0" tIns="0" rIns="0" bIns="0" rtlCol="0" anchor="ctr"/>
          <a:lstStyle/>
          <a:p>
            <a:pPr algn="r" indent="0" marL="0">
              <a:buNone/>
            </a:pPr>
            <a:endParaRPr lang="en-US" sz="1300" dirty="0"/>
          </a:p>
        </p:txBody>
      </p:sp>
      <p:sp>
        <p:nvSpPr>
          <p:cNvPr id="19" name="Text 17"/>
          <p:cNvSpPr txBox="1"/>
          <p:nvPr/>
        </p:nvSpPr>
        <p:spPr>
          <a:xfrm>
            <a:off x="5212080" y="1977136"/>
            <a:ext cx="658368" cy="221488"/>
          </a:xfrm>
          <a:prstGeom prst="rect">
            <a:avLst/>
          </a:prstGeom>
          <a:noFill/>
          <a:ln/>
        </p:spPr>
        <p:txBody>
          <a:bodyPr wrap="square" lIns="0" tIns="0" rIns="0" bIns="0" rtlCol="0" anchor="ctr"/>
          <a:lstStyle/>
          <a:p>
            <a:pPr algn="r" indent="0" marL="0">
              <a:buNone/>
            </a:pPr>
            <a:endParaRPr lang="en-US" sz="1300" dirty="0"/>
          </a:p>
        </p:txBody>
      </p:sp>
      <p:sp>
        <p:nvSpPr>
          <p:cNvPr id="20" name="Text 18"/>
          <p:cNvSpPr txBox="1"/>
          <p:nvPr/>
        </p:nvSpPr>
        <p:spPr>
          <a:xfrm>
            <a:off x="658368" y="219862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21" name="Shape 19"/>
          <p:cNvSpPr/>
          <p:nvPr/>
        </p:nvSpPr>
        <p:spPr>
          <a:xfrm>
            <a:off x="2651760" y="2253996"/>
            <a:ext cx="601434" cy="110744"/>
          </a:xfrm>
          <a:prstGeom prst="rect">
            <a:avLst/>
          </a:prstGeom>
          <a:solidFill>
            <a:srgbClr val="2587C5"/>
          </a:solidFill>
          <a:ln/>
        </p:spPr>
      </p:sp>
      <p:sp>
        <p:nvSpPr>
          <p:cNvPr id="22" name="Text 20"/>
          <p:cNvSpPr txBox="1"/>
          <p:nvPr/>
        </p:nvSpPr>
        <p:spPr>
          <a:xfrm>
            <a:off x="3474720" y="2198624"/>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$294.87</a:t>
            </a:r>
            <a:endParaRPr lang="en-US" sz="1300" dirty="0"/>
          </a:p>
        </p:txBody>
      </p:sp>
      <p:sp>
        <p:nvSpPr>
          <p:cNvPr id="23" name="Text 21"/>
          <p:cNvSpPr txBox="1"/>
          <p:nvPr/>
        </p:nvSpPr>
        <p:spPr>
          <a:xfrm>
            <a:off x="4224528" y="2198624"/>
            <a:ext cx="987552" cy="221488"/>
          </a:xfrm>
          <a:prstGeom prst="rect">
            <a:avLst/>
          </a:prstGeom>
          <a:noFill/>
          <a:ln/>
        </p:spPr>
        <p:txBody>
          <a:bodyPr wrap="square" lIns="0" tIns="0" rIns="0" bIns="0" rtlCol="0" anchor="ctr"/>
          <a:lstStyle/>
          <a:p>
            <a:pPr algn="r" indent="0" marL="0">
              <a:buNone/>
            </a:pPr>
            <a:endParaRPr lang="en-US" sz="1300" dirty="0"/>
          </a:p>
        </p:txBody>
      </p:sp>
      <p:sp>
        <p:nvSpPr>
          <p:cNvPr id="24" name="Text 22"/>
          <p:cNvSpPr txBox="1"/>
          <p:nvPr/>
        </p:nvSpPr>
        <p:spPr>
          <a:xfrm>
            <a:off x="5212080" y="2198624"/>
            <a:ext cx="658368" cy="221488"/>
          </a:xfrm>
          <a:prstGeom prst="rect">
            <a:avLst/>
          </a:prstGeom>
          <a:noFill/>
          <a:ln/>
        </p:spPr>
        <p:txBody>
          <a:bodyPr wrap="square" lIns="0" tIns="0" rIns="0" bIns="0" rtlCol="0" anchor="ctr"/>
          <a:lstStyle/>
          <a:p>
            <a:pPr algn="r" indent="0" marL="0">
              <a:buNone/>
            </a:pPr>
            <a:endParaRPr lang="en-US" sz="1300" dirty="0"/>
          </a:p>
        </p:txBody>
      </p:sp>
      <p:sp>
        <p:nvSpPr>
          <p:cNvPr id="25" name="Text 23"/>
          <p:cNvSpPr txBox="1"/>
          <p:nvPr/>
        </p:nvSpPr>
        <p:spPr>
          <a:xfrm>
            <a:off x="658368" y="2420112"/>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26" name="Shape 24"/>
          <p:cNvSpPr/>
          <p:nvPr/>
        </p:nvSpPr>
        <p:spPr>
          <a:xfrm>
            <a:off x="2651760" y="2475484"/>
            <a:ext cx="570972" cy="110744"/>
          </a:xfrm>
          <a:prstGeom prst="rect">
            <a:avLst/>
          </a:prstGeom>
          <a:solidFill>
            <a:srgbClr val="2587C5"/>
          </a:solidFill>
          <a:ln/>
        </p:spPr>
      </p:sp>
      <p:sp>
        <p:nvSpPr>
          <p:cNvPr id="27" name="Text 25"/>
          <p:cNvSpPr txBox="1"/>
          <p:nvPr/>
        </p:nvSpPr>
        <p:spPr>
          <a:xfrm>
            <a:off x="3474720" y="2420112"/>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$285.00</a:t>
            </a:r>
            <a:endParaRPr lang="en-US" sz="1300" dirty="0"/>
          </a:p>
        </p:txBody>
      </p:sp>
      <p:sp>
        <p:nvSpPr>
          <p:cNvPr id="28" name="Text 26"/>
          <p:cNvSpPr txBox="1"/>
          <p:nvPr/>
        </p:nvSpPr>
        <p:spPr>
          <a:xfrm>
            <a:off x="4224528" y="2420112"/>
            <a:ext cx="987552" cy="221488"/>
          </a:xfrm>
          <a:prstGeom prst="rect">
            <a:avLst/>
          </a:prstGeom>
          <a:noFill/>
          <a:ln/>
        </p:spPr>
        <p:txBody>
          <a:bodyPr wrap="square" lIns="0" tIns="0" rIns="0" bIns="0" rtlCol="0" anchor="ctr"/>
          <a:lstStyle/>
          <a:p>
            <a:pPr algn="r" indent="0" marL="0">
              <a:buNone/>
            </a:pPr>
            <a:endParaRPr lang="en-US" sz="1300" dirty="0"/>
          </a:p>
        </p:txBody>
      </p:sp>
      <p:sp>
        <p:nvSpPr>
          <p:cNvPr id="29" name="Text 27"/>
          <p:cNvSpPr txBox="1"/>
          <p:nvPr/>
        </p:nvSpPr>
        <p:spPr>
          <a:xfrm>
            <a:off x="5212080" y="2420112"/>
            <a:ext cx="658368" cy="221488"/>
          </a:xfrm>
          <a:prstGeom prst="rect">
            <a:avLst/>
          </a:prstGeom>
          <a:noFill/>
          <a:ln/>
        </p:spPr>
        <p:txBody>
          <a:bodyPr wrap="square" lIns="0" tIns="0" rIns="0" bIns="0" rtlCol="0" anchor="ctr"/>
          <a:lstStyle/>
          <a:p>
            <a:pPr algn="r" indent="0" marL="0">
              <a:buNone/>
            </a:pPr>
            <a:endParaRPr lang="en-US" sz="1300" dirty="0"/>
          </a:p>
        </p:txBody>
      </p:sp>
      <p:sp>
        <p:nvSpPr>
          <p:cNvPr id="30" name="Text 28"/>
          <p:cNvSpPr txBox="1"/>
          <p:nvPr/>
        </p:nvSpPr>
        <p:spPr>
          <a:xfrm>
            <a:off x="658368" y="2641600"/>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31" name="Shape 29"/>
          <p:cNvSpPr/>
          <p:nvPr/>
        </p:nvSpPr>
        <p:spPr>
          <a:xfrm>
            <a:off x="2651760" y="2696972"/>
            <a:ext cx="431686" cy="110744"/>
          </a:xfrm>
          <a:prstGeom prst="rect">
            <a:avLst/>
          </a:prstGeom>
          <a:solidFill>
            <a:srgbClr val="2587C5"/>
          </a:solidFill>
          <a:ln/>
        </p:spPr>
      </p:sp>
      <p:sp>
        <p:nvSpPr>
          <p:cNvPr id="32" name="Text 30"/>
          <p:cNvSpPr txBox="1"/>
          <p:nvPr/>
        </p:nvSpPr>
        <p:spPr>
          <a:xfrm>
            <a:off x="3474720" y="2641600"/>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$239.87</a:t>
            </a:r>
            <a:endParaRPr lang="en-US" sz="1300" dirty="0"/>
          </a:p>
        </p:txBody>
      </p:sp>
      <p:sp>
        <p:nvSpPr>
          <p:cNvPr id="33" name="Text 31"/>
          <p:cNvSpPr txBox="1"/>
          <p:nvPr/>
        </p:nvSpPr>
        <p:spPr>
          <a:xfrm>
            <a:off x="4224528" y="2641600"/>
            <a:ext cx="987552" cy="221488"/>
          </a:xfrm>
          <a:prstGeom prst="rect">
            <a:avLst/>
          </a:prstGeom>
          <a:noFill/>
          <a:ln/>
        </p:spPr>
        <p:txBody>
          <a:bodyPr wrap="square" lIns="0" tIns="0" rIns="0" bIns="0" rtlCol="0" anchor="ctr"/>
          <a:lstStyle/>
          <a:p>
            <a:pPr algn="r" indent="0" marL="0">
              <a:buNone/>
            </a:pPr>
            <a:endParaRPr lang="en-US" sz="1300" dirty="0"/>
          </a:p>
        </p:txBody>
      </p:sp>
      <p:sp>
        <p:nvSpPr>
          <p:cNvPr id="34" name="Text 32"/>
          <p:cNvSpPr txBox="1"/>
          <p:nvPr/>
        </p:nvSpPr>
        <p:spPr>
          <a:xfrm>
            <a:off x="5212080" y="2641600"/>
            <a:ext cx="658368" cy="221488"/>
          </a:xfrm>
          <a:prstGeom prst="rect">
            <a:avLst/>
          </a:prstGeom>
          <a:noFill/>
          <a:ln/>
        </p:spPr>
        <p:txBody>
          <a:bodyPr wrap="square" lIns="0" tIns="0" rIns="0" bIns="0" rtlCol="0" anchor="ctr"/>
          <a:lstStyle/>
          <a:p>
            <a:pPr algn="r" indent="0" marL="0">
              <a:buNone/>
            </a:pPr>
            <a:endParaRPr lang="en-US" sz="1300" dirty="0"/>
          </a:p>
        </p:txBody>
      </p:sp>
      <p:sp>
        <p:nvSpPr>
          <p:cNvPr id="35" name="Text 33"/>
          <p:cNvSpPr txBox="1"/>
          <p:nvPr/>
        </p:nvSpPr>
        <p:spPr>
          <a:xfrm>
            <a:off x="658368" y="286308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36" name="Shape 34"/>
          <p:cNvSpPr/>
          <p:nvPr/>
        </p:nvSpPr>
        <p:spPr>
          <a:xfrm>
            <a:off x="2651760" y="2918460"/>
            <a:ext cx="419340" cy="110744"/>
          </a:xfrm>
          <a:prstGeom prst="rect">
            <a:avLst/>
          </a:prstGeom>
          <a:solidFill>
            <a:srgbClr val="2587C5"/>
          </a:solidFill>
          <a:ln/>
        </p:spPr>
      </p:sp>
      <p:sp>
        <p:nvSpPr>
          <p:cNvPr id="37" name="Text 35"/>
          <p:cNvSpPr txBox="1"/>
          <p:nvPr/>
        </p:nvSpPr>
        <p:spPr>
          <a:xfrm>
            <a:off x="3474720" y="2863088"/>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$235.87</a:t>
            </a:r>
            <a:endParaRPr lang="en-US" sz="1300" dirty="0"/>
          </a:p>
        </p:txBody>
      </p:sp>
      <p:sp>
        <p:nvSpPr>
          <p:cNvPr id="38" name="Text 36"/>
          <p:cNvSpPr txBox="1"/>
          <p:nvPr/>
        </p:nvSpPr>
        <p:spPr>
          <a:xfrm>
            <a:off x="4224528" y="2863088"/>
            <a:ext cx="987552" cy="221488"/>
          </a:xfrm>
          <a:prstGeom prst="rect">
            <a:avLst/>
          </a:prstGeom>
          <a:noFill/>
          <a:ln/>
        </p:spPr>
        <p:txBody>
          <a:bodyPr wrap="square" lIns="0" tIns="0" rIns="0" bIns="0" rtlCol="0" anchor="ctr"/>
          <a:lstStyle/>
          <a:p>
            <a:pPr algn="r" indent="0" marL="0">
              <a:buNone/>
            </a:pPr>
            <a:endParaRPr lang="en-US" sz="1300" dirty="0"/>
          </a:p>
        </p:txBody>
      </p:sp>
      <p:sp>
        <p:nvSpPr>
          <p:cNvPr id="39" name="Text 37"/>
          <p:cNvSpPr txBox="1"/>
          <p:nvPr/>
        </p:nvSpPr>
        <p:spPr>
          <a:xfrm>
            <a:off x="5212080" y="2863088"/>
            <a:ext cx="658368" cy="221488"/>
          </a:xfrm>
          <a:prstGeom prst="rect">
            <a:avLst/>
          </a:prstGeom>
          <a:noFill/>
          <a:ln/>
        </p:spPr>
        <p:txBody>
          <a:bodyPr wrap="square" lIns="0" tIns="0" rIns="0" bIns="0" rtlCol="0" anchor="ctr"/>
          <a:lstStyle/>
          <a:p>
            <a:pPr algn="r" indent="0" marL="0">
              <a:buNone/>
            </a:pPr>
            <a:endParaRPr lang="en-US" sz="1300" dirty="0"/>
          </a:p>
        </p:txBody>
      </p:sp>
      <p:sp>
        <p:nvSpPr>
          <p:cNvPr id="40" name="Shape 38"/>
          <p:cNvSpPr/>
          <p:nvPr/>
        </p:nvSpPr>
        <p:spPr>
          <a:xfrm>
            <a:off x="603504" y="3084576"/>
            <a:ext cx="5285232" cy="212344"/>
          </a:xfrm>
          <a:prstGeom prst="rect">
            <a:avLst/>
          </a:prstGeom>
          <a:solidFill>
            <a:srgbClr val="EDF4FA"/>
          </a:solidFill>
          <a:ln/>
        </p:spPr>
      </p:sp>
      <p:sp>
        <p:nvSpPr>
          <p:cNvPr id="41" name="Text 39"/>
          <p:cNvSpPr txBox="1"/>
          <p:nvPr/>
        </p:nvSpPr>
        <p:spPr>
          <a:xfrm>
            <a:off x="658368" y="3084576"/>
            <a:ext cx="1920240" cy="221488"/>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GRID AVG</a:t>
            </a:r>
            <a:endParaRPr lang="en-US" sz="1300" dirty="0"/>
          </a:p>
        </p:txBody>
      </p:sp>
      <p:sp>
        <p:nvSpPr>
          <p:cNvPr id="42" name="Shape 40"/>
          <p:cNvSpPr/>
          <p:nvPr/>
        </p:nvSpPr>
        <p:spPr>
          <a:xfrm>
            <a:off x="2651760" y="3139948"/>
            <a:ext cx="396757" cy="110744"/>
          </a:xfrm>
          <a:prstGeom prst="rect">
            <a:avLst/>
          </a:prstGeom>
          <a:solidFill>
            <a:srgbClr val="0B2C4A"/>
          </a:solidFill>
          <a:ln/>
        </p:spPr>
      </p:sp>
      <p:sp>
        <p:nvSpPr>
          <p:cNvPr id="43" name="Text 41"/>
          <p:cNvSpPr txBox="1"/>
          <p:nvPr/>
        </p:nvSpPr>
        <p:spPr>
          <a:xfrm>
            <a:off x="3474720" y="3084576"/>
            <a:ext cx="749808" cy="22148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$228.55</a:t>
            </a:r>
            <a:endParaRPr lang="en-US" sz="1300" dirty="0"/>
          </a:p>
        </p:txBody>
      </p:sp>
      <p:sp>
        <p:nvSpPr>
          <p:cNvPr id="44" name="Text 42"/>
          <p:cNvSpPr txBox="1"/>
          <p:nvPr/>
        </p:nvSpPr>
        <p:spPr>
          <a:xfrm>
            <a:off x="4224528" y="3084576"/>
            <a:ext cx="987552" cy="221488"/>
          </a:xfrm>
          <a:prstGeom prst="rect">
            <a:avLst/>
          </a:prstGeom>
          <a:noFill/>
          <a:ln/>
        </p:spPr>
        <p:txBody>
          <a:bodyPr wrap="square" lIns="0" tIns="0" rIns="0" bIns="0" rtlCol="0" anchor="ctr"/>
          <a:lstStyle/>
          <a:p>
            <a:pPr algn="r" indent="0" marL="0">
              <a:buNone/>
            </a:pPr>
            <a:endParaRPr lang="en-US" sz="1300" dirty="0"/>
          </a:p>
        </p:txBody>
      </p:sp>
      <p:sp>
        <p:nvSpPr>
          <p:cNvPr id="45" name="Text 43"/>
          <p:cNvSpPr txBox="1"/>
          <p:nvPr/>
        </p:nvSpPr>
        <p:spPr>
          <a:xfrm>
            <a:off x="5212080" y="3084576"/>
            <a:ext cx="658368" cy="221488"/>
          </a:xfrm>
          <a:prstGeom prst="rect">
            <a:avLst/>
          </a:prstGeom>
          <a:noFill/>
          <a:ln/>
        </p:spPr>
        <p:txBody>
          <a:bodyPr wrap="square" lIns="0" tIns="0" rIns="0" bIns="0" rtlCol="0" anchor="ctr"/>
          <a:lstStyle/>
          <a:p>
            <a:pPr algn="r" indent="0" marL="0">
              <a:buNone/>
            </a:pPr>
            <a:endParaRPr lang="en-US" sz="1300" dirty="0"/>
          </a:p>
        </p:txBody>
      </p:sp>
      <p:sp>
        <p:nvSpPr>
          <p:cNvPr id="46" name="Text 44"/>
          <p:cNvSpPr txBox="1"/>
          <p:nvPr/>
        </p:nvSpPr>
        <p:spPr>
          <a:xfrm>
            <a:off x="658368" y="330606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47" name="Shape 45"/>
          <p:cNvSpPr/>
          <p:nvPr/>
        </p:nvSpPr>
        <p:spPr>
          <a:xfrm>
            <a:off x="2651760" y="3361436"/>
            <a:ext cx="385391" cy="110744"/>
          </a:xfrm>
          <a:prstGeom prst="rect">
            <a:avLst/>
          </a:prstGeom>
          <a:solidFill>
            <a:srgbClr val="2587C5"/>
          </a:solidFill>
          <a:ln/>
        </p:spPr>
      </p:sp>
      <p:sp>
        <p:nvSpPr>
          <p:cNvPr id="48" name="Text 46"/>
          <p:cNvSpPr txBox="1"/>
          <p:nvPr/>
        </p:nvSpPr>
        <p:spPr>
          <a:xfrm>
            <a:off x="3474720" y="3306064"/>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$224.87</a:t>
            </a:r>
            <a:endParaRPr lang="en-US" sz="1300" dirty="0"/>
          </a:p>
        </p:txBody>
      </p:sp>
      <p:sp>
        <p:nvSpPr>
          <p:cNvPr id="49" name="Text 47"/>
          <p:cNvSpPr txBox="1"/>
          <p:nvPr/>
        </p:nvSpPr>
        <p:spPr>
          <a:xfrm>
            <a:off x="4224528" y="3306064"/>
            <a:ext cx="987552" cy="221488"/>
          </a:xfrm>
          <a:prstGeom prst="rect">
            <a:avLst/>
          </a:prstGeom>
          <a:noFill/>
          <a:ln/>
        </p:spPr>
        <p:txBody>
          <a:bodyPr wrap="square" lIns="0" tIns="0" rIns="0" bIns="0" rtlCol="0" anchor="ctr"/>
          <a:lstStyle/>
          <a:p>
            <a:pPr algn="r" indent="0" marL="0">
              <a:buNone/>
            </a:pPr>
            <a:endParaRPr lang="en-US" sz="1300" dirty="0"/>
          </a:p>
        </p:txBody>
      </p:sp>
      <p:sp>
        <p:nvSpPr>
          <p:cNvPr id="50" name="Text 48"/>
          <p:cNvSpPr txBox="1"/>
          <p:nvPr/>
        </p:nvSpPr>
        <p:spPr>
          <a:xfrm>
            <a:off x="5212080" y="3306064"/>
            <a:ext cx="658368" cy="221488"/>
          </a:xfrm>
          <a:prstGeom prst="rect">
            <a:avLst/>
          </a:prstGeom>
          <a:noFill/>
          <a:ln/>
        </p:spPr>
        <p:txBody>
          <a:bodyPr wrap="square" lIns="0" tIns="0" rIns="0" bIns="0" rtlCol="0" anchor="ctr"/>
          <a:lstStyle/>
          <a:p>
            <a:pPr algn="r" indent="0" marL="0">
              <a:buNone/>
            </a:pPr>
            <a:endParaRPr lang="en-US" sz="1300" dirty="0"/>
          </a:p>
        </p:txBody>
      </p:sp>
      <p:sp>
        <p:nvSpPr>
          <p:cNvPr id="51" name="Text 49"/>
          <p:cNvSpPr txBox="1"/>
          <p:nvPr/>
        </p:nvSpPr>
        <p:spPr>
          <a:xfrm>
            <a:off x="658368" y="3527552"/>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52" name="Shape 50"/>
          <p:cNvSpPr/>
          <p:nvPr/>
        </p:nvSpPr>
        <p:spPr>
          <a:xfrm>
            <a:off x="2651760" y="3582924"/>
            <a:ext cx="385391" cy="110744"/>
          </a:xfrm>
          <a:prstGeom prst="rect">
            <a:avLst/>
          </a:prstGeom>
          <a:solidFill>
            <a:srgbClr val="2587C5"/>
          </a:solidFill>
          <a:ln/>
        </p:spPr>
      </p:sp>
      <p:sp>
        <p:nvSpPr>
          <p:cNvPr id="53" name="Text 51"/>
          <p:cNvSpPr txBox="1"/>
          <p:nvPr/>
        </p:nvSpPr>
        <p:spPr>
          <a:xfrm>
            <a:off x="3474720" y="3527552"/>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$224.87</a:t>
            </a:r>
            <a:endParaRPr lang="en-US" sz="1300" dirty="0"/>
          </a:p>
        </p:txBody>
      </p:sp>
      <p:sp>
        <p:nvSpPr>
          <p:cNvPr id="54" name="Text 52"/>
          <p:cNvSpPr txBox="1"/>
          <p:nvPr/>
        </p:nvSpPr>
        <p:spPr>
          <a:xfrm>
            <a:off x="4224528" y="3527552"/>
            <a:ext cx="987552"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$264.87</a:t>
            </a:r>
            <a:endParaRPr lang="en-US" sz="1300" dirty="0"/>
          </a:p>
        </p:txBody>
      </p:sp>
      <p:sp>
        <p:nvSpPr>
          <p:cNvPr id="55" name="Text 53"/>
          <p:cNvSpPr txBox="1"/>
          <p:nvPr/>
        </p:nvSpPr>
        <p:spPr>
          <a:xfrm>
            <a:off x="5212080" y="3527552"/>
            <a:ext cx="658368"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Diesel</a:t>
            </a:r>
            <a:endParaRPr lang="en-US" sz="1300" dirty="0"/>
          </a:p>
        </p:txBody>
      </p:sp>
      <p:sp>
        <p:nvSpPr>
          <p:cNvPr id="56" name="Text 54"/>
          <p:cNvSpPr txBox="1"/>
          <p:nvPr/>
        </p:nvSpPr>
        <p:spPr>
          <a:xfrm>
            <a:off x="658368" y="3749040"/>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57" name="Shape 55"/>
          <p:cNvSpPr/>
          <p:nvPr/>
        </p:nvSpPr>
        <p:spPr>
          <a:xfrm>
            <a:off x="2651760" y="3804412"/>
            <a:ext cx="369959" cy="110744"/>
          </a:xfrm>
          <a:prstGeom prst="rect">
            <a:avLst/>
          </a:prstGeom>
          <a:solidFill>
            <a:srgbClr val="2587C5"/>
          </a:solidFill>
          <a:ln/>
        </p:spPr>
      </p:sp>
      <p:sp>
        <p:nvSpPr>
          <p:cNvPr id="58" name="Text 56"/>
          <p:cNvSpPr txBox="1"/>
          <p:nvPr/>
        </p:nvSpPr>
        <p:spPr>
          <a:xfrm>
            <a:off x="3474720" y="3749040"/>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$219.87</a:t>
            </a:r>
            <a:endParaRPr lang="en-US" sz="1300" dirty="0"/>
          </a:p>
        </p:txBody>
      </p:sp>
      <p:sp>
        <p:nvSpPr>
          <p:cNvPr id="59" name="Text 57"/>
          <p:cNvSpPr txBox="1"/>
          <p:nvPr/>
        </p:nvSpPr>
        <p:spPr>
          <a:xfrm>
            <a:off x="4224528" y="3749040"/>
            <a:ext cx="987552" cy="221488"/>
          </a:xfrm>
          <a:prstGeom prst="rect">
            <a:avLst/>
          </a:prstGeom>
          <a:noFill/>
          <a:ln/>
        </p:spPr>
        <p:txBody>
          <a:bodyPr wrap="square" lIns="0" tIns="0" rIns="0" bIns="0" rtlCol="0" anchor="ctr"/>
          <a:lstStyle/>
          <a:p>
            <a:pPr algn="r" indent="0" marL="0">
              <a:buNone/>
            </a:pPr>
            <a:endParaRPr lang="en-US" sz="1300" dirty="0"/>
          </a:p>
        </p:txBody>
      </p:sp>
      <p:sp>
        <p:nvSpPr>
          <p:cNvPr id="60" name="Text 58"/>
          <p:cNvSpPr txBox="1"/>
          <p:nvPr/>
        </p:nvSpPr>
        <p:spPr>
          <a:xfrm>
            <a:off x="5212080" y="3749040"/>
            <a:ext cx="658368" cy="221488"/>
          </a:xfrm>
          <a:prstGeom prst="rect">
            <a:avLst/>
          </a:prstGeom>
          <a:noFill/>
          <a:ln/>
        </p:spPr>
        <p:txBody>
          <a:bodyPr wrap="square" lIns="0" tIns="0" rIns="0" bIns="0" rtlCol="0" anchor="ctr"/>
          <a:lstStyle/>
          <a:p>
            <a:pPr algn="r" indent="0" marL="0">
              <a:buNone/>
            </a:pPr>
            <a:endParaRPr lang="en-US" sz="1300" dirty="0"/>
          </a:p>
        </p:txBody>
      </p:sp>
      <p:sp>
        <p:nvSpPr>
          <p:cNvPr id="61" name="Text 59"/>
          <p:cNvSpPr txBox="1"/>
          <p:nvPr/>
        </p:nvSpPr>
        <p:spPr>
          <a:xfrm>
            <a:off x="658368" y="397052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62" name="Shape 60"/>
          <p:cNvSpPr/>
          <p:nvPr/>
        </p:nvSpPr>
        <p:spPr>
          <a:xfrm>
            <a:off x="2651760" y="4025900"/>
            <a:ext cx="345268" cy="110744"/>
          </a:xfrm>
          <a:prstGeom prst="rect">
            <a:avLst/>
          </a:prstGeom>
          <a:solidFill>
            <a:srgbClr val="2587C5"/>
          </a:solidFill>
          <a:ln/>
        </p:spPr>
      </p:sp>
      <p:sp>
        <p:nvSpPr>
          <p:cNvPr id="63" name="Text 61"/>
          <p:cNvSpPr txBox="1"/>
          <p:nvPr/>
        </p:nvSpPr>
        <p:spPr>
          <a:xfrm>
            <a:off x="3474720" y="3970528"/>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$211.87</a:t>
            </a:r>
            <a:endParaRPr lang="en-US" sz="1300" dirty="0"/>
          </a:p>
        </p:txBody>
      </p:sp>
      <p:sp>
        <p:nvSpPr>
          <p:cNvPr id="64" name="Text 62"/>
          <p:cNvSpPr txBox="1"/>
          <p:nvPr/>
        </p:nvSpPr>
        <p:spPr>
          <a:xfrm>
            <a:off x="4224528" y="3970528"/>
            <a:ext cx="987552" cy="221488"/>
          </a:xfrm>
          <a:prstGeom prst="rect">
            <a:avLst/>
          </a:prstGeom>
          <a:noFill/>
          <a:ln/>
        </p:spPr>
        <p:txBody>
          <a:bodyPr wrap="square" lIns="0" tIns="0" rIns="0" bIns="0" rtlCol="0" anchor="ctr"/>
          <a:lstStyle/>
          <a:p>
            <a:pPr algn="r" indent="0" marL="0">
              <a:buNone/>
            </a:pPr>
            <a:endParaRPr lang="en-US" sz="1300" dirty="0"/>
          </a:p>
        </p:txBody>
      </p:sp>
      <p:sp>
        <p:nvSpPr>
          <p:cNvPr id="65" name="Text 63"/>
          <p:cNvSpPr txBox="1"/>
          <p:nvPr/>
        </p:nvSpPr>
        <p:spPr>
          <a:xfrm>
            <a:off x="5212080" y="3970528"/>
            <a:ext cx="658368" cy="221488"/>
          </a:xfrm>
          <a:prstGeom prst="rect">
            <a:avLst/>
          </a:prstGeom>
          <a:noFill/>
          <a:ln/>
        </p:spPr>
        <p:txBody>
          <a:bodyPr wrap="square" lIns="0" tIns="0" rIns="0" bIns="0" rtlCol="0" anchor="ctr"/>
          <a:lstStyle/>
          <a:p>
            <a:pPr algn="r" indent="0" marL="0">
              <a:buNone/>
            </a:pPr>
            <a:endParaRPr lang="en-US" sz="1300" dirty="0"/>
          </a:p>
        </p:txBody>
      </p:sp>
      <p:sp>
        <p:nvSpPr>
          <p:cNvPr id="66" name="Text 64"/>
          <p:cNvSpPr txBox="1"/>
          <p:nvPr/>
        </p:nvSpPr>
        <p:spPr>
          <a:xfrm>
            <a:off x="658368" y="419201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67" name="Shape 65"/>
          <p:cNvSpPr/>
          <p:nvPr/>
        </p:nvSpPr>
        <p:spPr>
          <a:xfrm>
            <a:off x="2651760" y="4247388"/>
            <a:ext cx="345268" cy="110744"/>
          </a:xfrm>
          <a:prstGeom prst="rect">
            <a:avLst/>
          </a:prstGeom>
          <a:solidFill>
            <a:srgbClr val="2587C5"/>
          </a:solidFill>
          <a:ln/>
        </p:spPr>
      </p:sp>
      <p:sp>
        <p:nvSpPr>
          <p:cNvPr id="68" name="Text 66"/>
          <p:cNvSpPr txBox="1"/>
          <p:nvPr/>
        </p:nvSpPr>
        <p:spPr>
          <a:xfrm>
            <a:off x="3474720" y="4192016"/>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$211.87</a:t>
            </a:r>
            <a:endParaRPr lang="en-US" sz="1300" dirty="0"/>
          </a:p>
        </p:txBody>
      </p:sp>
      <p:sp>
        <p:nvSpPr>
          <p:cNvPr id="69" name="Text 67"/>
          <p:cNvSpPr txBox="1"/>
          <p:nvPr/>
        </p:nvSpPr>
        <p:spPr>
          <a:xfrm>
            <a:off x="4224528" y="4192016"/>
            <a:ext cx="987552" cy="221488"/>
          </a:xfrm>
          <a:prstGeom prst="rect">
            <a:avLst/>
          </a:prstGeom>
          <a:noFill/>
          <a:ln/>
        </p:spPr>
        <p:txBody>
          <a:bodyPr wrap="square" lIns="0" tIns="0" rIns="0" bIns="0" rtlCol="0" anchor="ctr"/>
          <a:lstStyle/>
          <a:p>
            <a:pPr algn="r" indent="0" marL="0">
              <a:buNone/>
            </a:pPr>
            <a:endParaRPr lang="en-US" sz="1300" dirty="0"/>
          </a:p>
        </p:txBody>
      </p:sp>
      <p:sp>
        <p:nvSpPr>
          <p:cNvPr id="70" name="Text 68"/>
          <p:cNvSpPr txBox="1"/>
          <p:nvPr/>
        </p:nvSpPr>
        <p:spPr>
          <a:xfrm>
            <a:off x="5212080" y="4192016"/>
            <a:ext cx="658368" cy="221488"/>
          </a:xfrm>
          <a:prstGeom prst="rect">
            <a:avLst/>
          </a:prstGeom>
          <a:noFill/>
          <a:ln/>
        </p:spPr>
        <p:txBody>
          <a:bodyPr wrap="square" lIns="0" tIns="0" rIns="0" bIns="0" rtlCol="0" anchor="ctr"/>
          <a:lstStyle/>
          <a:p>
            <a:pPr algn="r" indent="0" marL="0">
              <a:buNone/>
            </a:pPr>
            <a:endParaRPr lang="en-US" sz="1300" dirty="0"/>
          </a:p>
        </p:txBody>
      </p:sp>
      <p:sp>
        <p:nvSpPr>
          <p:cNvPr id="71" name="Text 69"/>
          <p:cNvSpPr txBox="1"/>
          <p:nvPr/>
        </p:nvSpPr>
        <p:spPr>
          <a:xfrm>
            <a:off x="658368" y="441350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72" name="Shape 70"/>
          <p:cNvSpPr/>
          <p:nvPr/>
        </p:nvSpPr>
        <p:spPr>
          <a:xfrm>
            <a:off x="2651760" y="4468876"/>
            <a:ext cx="343386" cy="110744"/>
          </a:xfrm>
          <a:prstGeom prst="rect">
            <a:avLst/>
          </a:prstGeom>
          <a:solidFill>
            <a:srgbClr val="2587C5"/>
          </a:solidFill>
          <a:ln/>
        </p:spPr>
      </p:sp>
      <p:sp>
        <p:nvSpPr>
          <p:cNvPr id="73" name="Text 71"/>
          <p:cNvSpPr txBox="1"/>
          <p:nvPr/>
        </p:nvSpPr>
        <p:spPr>
          <a:xfrm>
            <a:off x="3474720" y="4413504"/>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$211.26</a:t>
            </a:r>
            <a:endParaRPr lang="en-US" sz="1300" dirty="0"/>
          </a:p>
        </p:txBody>
      </p:sp>
      <p:sp>
        <p:nvSpPr>
          <p:cNvPr id="74" name="Text 72"/>
          <p:cNvSpPr txBox="1"/>
          <p:nvPr/>
        </p:nvSpPr>
        <p:spPr>
          <a:xfrm>
            <a:off x="4224528" y="4413504"/>
            <a:ext cx="987552" cy="221488"/>
          </a:xfrm>
          <a:prstGeom prst="rect">
            <a:avLst/>
          </a:prstGeom>
          <a:noFill/>
          <a:ln/>
        </p:spPr>
        <p:txBody>
          <a:bodyPr wrap="square" lIns="0" tIns="0" rIns="0" bIns="0" rtlCol="0" anchor="ctr"/>
          <a:lstStyle/>
          <a:p>
            <a:pPr algn="r" indent="0" marL="0">
              <a:buNone/>
            </a:pPr>
            <a:endParaRPr lang="en-US" sz="1300" dirty="0"/>
          </a:p>
        </p:txBody>
      </p:sp>
      <p:sp>
        <p:nvSpPr>
          <p:cNvPr id="75" name="Text 73"/>
          <p:cNvSpPr txBox="1"/>
          <p:nvPr/>
        </p:nvSpPr>
        <p:spPr>
          <a:xfrm>
            <a:off x="5212080" y="4413504"/>
            <a:ext cx="658368" cy="221488"/>
          </a:xfrm>
          <a:prstGeom prst="rect">
            <a:avLst/>
          </a:prstGeom>
          <a:noFill/>
          <a:ln/>
        </p:spPr>
        <p:txBody>
          <a:bodyPr wrap="square" lIns="0" tIns="0" rIns="0" bIns="0" rtlCol="0" anchor="ctr"/>
          <a:lstStyle/>
          <a:p>
            <a:pPr algn="r" indent="0" marL="0">
              <a:buNone/>
            </a:pPr>
            <a:endParaRPr lang="en-US" sz="1300" dirty="0"/>
          </a:p>
        </p:txBody>
      </p:sp>
      <p:sp>
        <p:nvSpPr>
          <p:cNvPr id="76" name="Text 74"/>
          <p:cNvSpPr txBox="1"/>
          <p:nvPr/>
        </p:nvSpPr>
        <p:spPr>
          <a:xfrm>
            <a:off x="658368" y="4634992"/>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77" name="Shape 75"/>
          <p:cNvSpPr/>
          <p:nvPr/>
        </p:nvSpPr>
        <p:spPr>
          <a:xfrm>
            <a:off x="2651760" y="4690364"/>
            <a:ext cx="339096" cy="110744"/>
          </a:xfrm>
          <a:prstGeom prst="rect">
            <a:avLst/>
          </a:prstGeom>
          <a:solidFill>
            <a:srgbClr val="2587C5"/>
          </a:solidFill>
          <a:ln/>
        </p:spPr>
      </p:sp>
      <p:sp>
        <p:nvSpPr>
          <p:cNvPr id="78" name="Text 76"/>
          <p:cNvSpPr txBox="1"/>
          <p:nvPr/>
        </p:nvSpPr>
        <p:spPr>
          <a:xfrm>
            <a:off x="3474720" y="4634992"/>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$209.87</a:t>
            </a:r>
            <a:endParaRPr lang="en-US" sz="1300" dirty="0"/>
          </a:p>
        </p:txBody>
      </p:sp>
      <p:sp>
        <p:nvSpPr>
          <p:cNvPr id="79" name="Text 77"/>
          <p:cNvSpPr txBox="1"/>
          <p:nvPr/>
        </p:nvSpPr>
        <p:spPr>
          <a:xfrm>
            <a:off x="4224528" y="4634992"/>
            <a:ext cx="987552" cy="221488"/>
          </a:xfrm>
          <a:prstGeom prst="rect">
            <a:avLst/>
          </a:prstGeom>
          <a:noFill/>
          <a:ln/>
        </p:spPr>
        <p:txBody>
          <a:bodyPr wrap="square" lIns="0" tIns="0" rIns="0" bIns="0" rtlCol="0" anchor="ctr"/>
          <a:lstStyle/>
          <a:p>
            <a:pPr algn="r" indent="0" marL="0">
              <a:buNone/>
            </a:pPr>
            <a:endParaRPr lang="en-US" sz="1300" dirty="0"/>
          </a:p>
        </p:txBody>
      </p:sp>
      <p:sp>
        <p:nvSpPr>
          <p:cNvPr id="80" name="Text 78"/>
          <p:cNvSpPr txBox="1"/>
          <p:nvPr/>
        </p:nvSpPr>
        <p:spPr>
          <a:xfrm>
            <a:off x="5212080" y="4634992"/>
            <a:ext cx="658368" cy="221488"/>
          </a:xfrm>
          <a:prstGeom prst="rect">
            <a:avLst/>
          </a:prstGeom>
          <a:noFill/>
          <a:ln/>
        </p:spPr>
        <p:txBody>
          <a:bodyPr wrap="square" lIns="0" tIns="0" rIns="0" bIns="0" rtlCol="0" anchor="ctr"/>
          <a:lstStyle/>
          <a:p>
            <a:pPr algn="r" indent="0" marL="0">
              <a:buNone/>
            </a:pPr>
            <a:endParaRPr lang="en-US" sz="1300" dirty="0"/>
          </a:p>
        </p:txBody>
      </p:sp>
      <p:sp>
        <p:nvSpPr>
          <p:cNvPr id="81" name="Text 79"/>
          <p:cNvSpPr txBox="1"/>
          <p:nvPr/>
        </p:nvSpPr>
        <p:spPr>
          <a:xfrm>
            <a:off x="658368" y="4856480"/>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82" name="Shape 80"/>
          <p:cNvSpPr/>
          <p:nvPr/>
        </p:nvSpPr>
        <p:spPr>
          <a:xfrm>
            <a:off x="2651760" y="4911852"/>
            <a:ext cx="323664" cy="110744"/>
          </a:xfrm>
          <a:prstGeom prst="rect">
            <a:avLst/>
          </a:prstGeom>
          <a:solidFill>
            <a:srgbClr val="2587C5"/>
          </a:solidFill>
          <a:ln/>
        </p:spPr>
      </p:sp>
      <p:sp>
        <p:nvSpPr>
          <p:cNvPr id="83" name="Text 81"/>
          <p:cNvSpPr txBox="1"/>
          <p:nvPr/>
        </p:nvSpPr>
        <p:spPr>
          <a:xfrm>
            <a:off x="3474720" y="4856480"/>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$204.87</a:t>
            </a:r>
            <a:endParaRPr lang="en-US" sz="1300" dirty="0"/>
          </a:p>
        </p:txBody>
      </p:sp>
      <p:sp>
        <p:nvSpPr>
          <p:cNvPr id="84" name="Text 82"/>
          <p:cNvSpPr txBox="1"/>
          <p:nvPr/>
        </p:nvSpPr>
        <p:spPr>
          <a:xfrm>
            <a:off x="4224528" y="4856480"/>
            <a:ext cx="987552"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$210.00</a:t>
            </a:r>
            <a:endParaRPr lang="en-US" sz="1300" dirty="0"/>
          </a:p>
        </p:txBody>
      </p:sp>
      <p:sp>
        <p:nvSpPr>
          <p:cNvPr id="85" name="Text 83"/>
          <p:cNvSpPr txBox="1"/>
          <p:nvPr/>
        </p:nvSpPr>
        <p:spPr>
          <a:xfrm>
            <a:off x="5212080" y="4856480"/>
            <a:ext cx="658368"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EV</a:t>
            </a:r>
            <a:endParaRPr lang="en-US" sz="1300" dirty="0"/>
          </a:p>
        </p:txBody>
      </p:sp>
      <p:sp>
        <p:nvSpPr>
          <p:cNvPr id="86" name="Text 84"/>
          <p:cNvSpPr txBox="1"/>
          <p:nvPr/>
        </p:nvSpPr>
        <p:spPr>
          <a:xfrm>
            <a:off x="658368" y="507796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87" name="Shape 85"/>
          <p:cNvSpPr/>
          <p:nvPr/>
        </p:nvSpPr>
        <p:spPr>
          <a:xfrm>
            <a:off x="2651760" y="5133340"/>
            <a:ext cx="261937" cy="110744"/>
          </a:xfrm>
          <a:prstGeom prst="rect">
            <a:avLst/>
          </a:prstGeom>
          <a:solidFill>
            <a:srgbClr val="2587C5"/>
          </a:solidFill>
          <a:ln/>
        </p:spPr>
      </p:sp>
      <p:sp>
        <p:nvSpPr>
          <p:cNvPr id="88" name="Text 86"/>
          <p:cNvSpPr txBox="1"/>
          <p:nvPr/>
        </p:nvSpPr>
        <p:spPr>
          <a:xfrm>
            <a:off x="3474720" y="5077968"/>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$184.87</a:t>
            </a:r>
            <a:endParaRPr lang="en-US" sz="1300" dirty="0"/>
          </a:p>
        </p:txBody>
      </p:sp>
      <p:sp>
        <p:nvSpPr>
          <p:cNvPr id="89" name="Text 87"/>
          <p:cNvSpPr txBox="1"/>
          <p:nvPr/>
        </p:nvSpPr>
        <p:spPr>
          <a:xfrm>
            <a:off x="4224528" y="5077968"/>
            <a:ext cx="987552" cy="221488"/>
          </a:xfrm>
          <a:prstGeom prst="rect">
            <a:avLst/>
          </a:prstGeom>
          <a:noFill/>
          <a:ln/>
        </p:spPr>
        <p:txBody>
          <a:bodyPr wrap="square" lIns="0" tIns="0" rIns="0" bIns="0" rtlCol="0" anchor="ctr"/>
          <a:lstStyle/>
          <a:p>
            <a:pPr algn="r" indent="0" marL="0">
              <a:buNone/>
            </a:pPr>
            <a:endParaRPr lang="en-US" sz="1300" dirty="0"/>
          </a:p>
        </p:txBody>
      </p:sp>
      <p:sp>
        <p:nvSpPr>
          <p:cNvPr id="90" name="Text 88"/>
          <p:cNvSpPr txBox="1"/>
          <p:nvPr/>
        </p:nvSpPr>
        <p:spPr>
          <a:xfrm>
            <a:off x="5212080" y="5077968"/>
            <a:ext cx="658368" cy="221488"/>
          </a:xfrm>
          <a:prstGeom prst="rect">
            <a:avLst/>
          </a:prstGeom>
          <a:noFill/>
          <a:ln/>
        </p:spPr>
        <p:txBody>
          <a:bodyPr wrap="square" lIns="0" tIns="0" rIns="0" bIns="0" rtlCol="0" anchor="ctr"/>
          <a:lstStyle/>
          <a:p>
            <a:pPr algn="r" indent="0" marL="0">
              <a:buNone/>
            </a:pPr>
            <a:endParaRPr lang="en-US" sz="1300" dirty="0"/>
          </a:p>
        </p:txBody>
      </p:sp>
      <p:sp>
        <p:nvSpPr>
          <p:cNvPr id="91" name="Text 89"/>
          <p:cNvSpPr txBox="1"/>
          <p:nvPr/>
        </p:nvSpPr>
        <p:spPr>
          <a:xfrm>
            <a:off x="658368" y="529945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92" name="Shape 90"/>
          <p:cNvSpPr/>
          <p:nvPr/>
        </p:nvSpPr>
        <p:spPr>
          <a:xfrm>
            <a:off x="2651760" y="5354828"/>
            <a:ext cx="261937" cy="110744"/>
          </a:xfrm>
          <a:prstGeom prst="rect">
            <a:avLst/>
          </a:prstGeom>
          <a:solidFill>
            <a:srgbClr val="2587C5"/>
          </a:solidFill>
          <a:ln/>
        </p:spPr>
      </p:sp>
      <p:sp>
        <p:nvSpPr>
          <p:cNvPr id="93" name="Text 91"/>
          <p:cNvSpPr txBox="1"/>
          <p:nvPr/>
        </p:nvSpPr>
        <p:spPr>
          <a:xfrm>
            <a:off x="3474720" y="5299456"/>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$184.87</a:t>
            </a:r>
            <a:endParaRPr lang="en-US" sz="1300" dirty="0"/>
          </a:p>
        </p:txBody>
      </p:sp>
      <p:sp>
        <p:nvSpPr>
          <p:cNvPr id="94" name="Text 92"/>
          <p:cNvSpPr txBox="1"/>
          <p:nvPr/>
        </p:nvSpPr>
        <p:spPr>
          <a:xfrm>
            <a:off x="4224528" y="5299456"/>
            <a:ext cx="987552" cy="221488"/>
          </a:xfrm>
          <a:prstGeom prst="rect">
            <a:avLst/>
          </a:prstGeom>
          <a:noFill/>
          <a:ln/>
        </p:spPr>
        <p:txBody>
          <a:bodyPr wrap="square" lIns="0" tIns="0" rIns="0" bIns="0" rtlCol="0" anchor="ctr"/>
          <a:lstStyle/>
          <a:p>
            <a:pPr algn="r" indent="0" marL="0">
              <a:buNone/>
            </a:pPr>
            <a:endParaRPr lang="en-US" sz="1300" dirty="0"/>
          </a:p>
        </p:txBody>
      </p:sp>
      <p:sp>
        <p:nvSpPr>
          <p:cNvPr id="95" name="Text 93"/>
          <p:cNvSpPr txBox="1"/>
          <p:nvPr/>
        </p:nvSpPr>
        <p:spPr>
          <a:xfrm>
            <a:off x="5212080" y="5299456"/>
            <a:ext cx="658368" cy="221488"/>
          </a:xfrm>
          <a:prstGeom prst="rect">
            <a:avLst/>
          </a:prstGeom>
          <a:noFill/>
          <a:ln/>
        </p:spPr>
        <p:txBody>
          <a:bodyPr wrap="square" lIns="0" tIns="0" rIns="0" bIns="0" rtlCol="0" anchor="ctr"/>
          <a:lstStyle/>
          <a:p>
            <a:pPr algn="r" indent="0" marL="0">
              <a:buNone/>
            </a:pPr>
            <a:endParaRPr lang="en-US" sz="1300" dirty="0"/>
          </a:p>
        </p:txBody>
      </p:sp>
      <p:sp>
        <p:nvSpPr>
          <p:cNvPr id="96" name="Text 94"/>
          <p:cNvSpPr txBox="1"/>
          <p:nvPr/>
        </p:nvSpPr>
        <p:spPr>
          <a:xfrm>
            <a:off x="658368" y="552094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97" name="Shape 95"/>
          <p:cNvSpPr/>
          <p:nvPr/>
        </p:nvSpPr>
        <p:spPr>
          <a:xfrm>
            <a:off x="2651760" y="5576316"/>
            <a:ext cx="246506" cy="110744"/>
          </a:xfrm>
          <a:prstGeom prst="rect">
            <a:avLst/>
          </a:prstGeom>
          <a:solidFill>
            <a:srgbClr val="2587C5"/>
          </a:solidFill>
          <a:ln/>
        </p:spPr>
      </p:sp>
      <p:sp>
        <p:nvSpPr>
          <p:cNvPr id="98" name="Text 96"/>
          <p:cNvSpPr txBox="1"/>
          <p:nvPr/>
        </p:nvSpPr>
        <p:spPr>
          <a:xfrm>
            <a:off x="3474720" y="5520944"/>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$179.87</a:t>
            </a:r>
            <a:endParaRPr lang="en-US" sz="1300" dirty="0"/>
          </a:p>
        </p:txBody>
      </p:sp>
      <p:sp>
        <p:nvSpPr>
          <p:cNvPr id="99" name="Text 97"/>
          <p:cNvSpPr txBox="1"/>
          <p:nvPr/>
        </p:nvSpPr>
        <p:spPr>
          <a:xfrm>
            <a:off x="4224528" y="5520944"/>
            <a:ext cx="987552"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$199.87</a:t>
            </a:r>
            <a:endParaRPr lang="en-US" sz="1300" dirty="0"/>
          </a:p>
        </p:txBody>
      </p:sp>
      <p:sp>
        <p:nvSpPr>
          <p:cNvPr id="100" name="Text 98"/>
          <p:cNvSpPr txBox="1"/>
          <p:nvPr/>
        </p:nvSpPr>
        <p:spPr>
          <a:xfrm>
            <a:off x="5212080" y="5520944"/>
            <a:ext cx="658368"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Non-std</a:t>
            </a:r>
            <a:endParaRPr lang="en-US" sz="1300" dirty="0"/>
          </a:p>
        </p:txBody>
      </p:sp>
      <p:sp>
        <p:nvSpPr>
          <p:cNvPr id="101" name="Text 99"/>
          <p:cNvSpPr txBox="1"/>
          <p:nvPr/>
        </p:nvSpPr>
        <p:spPr>
          <a:xfrm>
            <a:off x="6208776" y="1316736"/>
            <a:ext cx="2688336" cy="32918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NO GRID · 16 STORES</a:t>
            </a:r>
            <a:endParaRPr lang="en-US" sz="1400" dirty="0"/>
          </a:p>
        </p:txBody>
      </p:sp>
      <p:sp>
        <p:nvSpPr>
          <p:cNvPr id="102" name="Text 100"/>
          <p:cNvSpPr txBox="1"/>
          <p:nvPr/>
        </p:nvSpPr>
        <p:spPr>
          <a:xfrm>
            <a:off x="9025128" y="1316736"/>
            <a:ext cx="74980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DOOR</a:t>
            </a:r>
            <a:endParaRPr lang="en-US" sz="1400" dirty="0"/>
          </a:p>
        </p:txBody>
      </p:sp>
      <p:sp>
        <p:nvSpPr>
          <p:cNvPr id="103" name="Text 101"/>
          <p:cNvSpPr txBox="1"/>
          <p:nvPr/>
        </p:nvSpPr>
        <p:spPr>
          <a:xfrm>
            <a:off x="9774936" y="1316736"/>
            <a:ext cx="987552"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PREMIUM</a:t>
            </a:r>
            <a:endParaRPr lang="en-US" sz="1400" dirty="0"/>
          </a:p>
        </p:txBody>
      </p:sp>
      <p:sp>
        <p:nvSpPr>
          <p:cNvPr id="104" name="Text 102"/>
          <p:cNvSpPr txBox="1"/>
          <p:nvPr/>
        </p:nvSpPr>
        <p:spPr>
          <a:xfrm>
            <a:off x="10762488" y="1316736"/>
            <a:ext cx="65836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FOR</a:t>
            </a:r>
            <a:endParaRPr lang="en-US" sz="1400" dirty="0"/>
          </a:p>
        </p:txBody>
      </p:sp>
      <p:sp>
        <p:nvSpPr>
          <p:cNvPr id="105" name="Text 103"/>
          <p:cNvSpPr txBox="1"/>
          <p:nvPr/>
        </p:nvSpPr>
        <p:spPr>
          <a:xfrm>
            <a:off x="6208776" y="175564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106" name="Shape 104"/>
          <p:cNvSpPr/>
          <p:nvPr/>
        </p:nvSpPr>
        <p:spPr>
          <a:xfrm>
            <a:off x="8202168" y="1811020"/>
            <a:ext cx="540108" cy="110744"/>
          </a:xfrm>
          <a:prstGeom prst="rect">
            <a:avLst/>
          </a:prstGeom>
          <a:solidFill>
            <a:srgbClr val="2587C5"/>
          </a:solidFill>
          <a:ln/>
        </p:spPr>
      </p:sp>
      <p:sp>
        <p:nvSpPr>
          <p:cNvPr id="107" name="Text 105"/>
          <p:cNvSpPr txBox="1"/>
          <p:nvPr/>
        </p:nvSpPr>
        <p:spPr>
          <a:xfrm>
            <a:off x="9025128" y="1755648"/>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$275.00</a:t>
            </a:r>
            <a:endParaRPr lang="en-US" sz="1300" dirty="0"/>
          </a:p>
        </p:txBody>
      </p:sp>
      <p:sp>
        <p:nvSpPr>
          <p:cNvPr id="108" name="Text 106"/>
          <p:cNvSpPr txBox="1"/>
          <p:nvPr/>
        </p:nvSpPr>
        <p:spPr>
          <a:xfrm>
            <a:off x="9774936" y="1755648"/>
            <a:ext cx="987552" cy="221488"/>
          </a:xfrm>
          <a:prstGeom prst="rect">
            <a:avLst/>
          </a:prstGeom>
          <a:noFill/>
          <a:ln/>
        </p:spPr>
        <p:txBody>
          <a:bodyPr wrap="square" lIns="0" tIns="0" rIns="0" bIns="0" rtlCol="0" anchor="ctr"/>
          <a:lstStyle/>
          <a:p>
            <a:pPr algn="r" indent="0" marL="0">
              <a:buNone/>
            </a:pPr>
            <a:endParaRPr lang="en-US" sz="1300" dirty="0"/>
          </a:p>
        </p:txBody>
      </p:sp>
      <p:sp>
        <p:nvSpPr>
          <p:cNvPr id="109" name="Text 107"/>
          <p:cNvSpPr txBox="1"/>
          <p:nvPr/>
        </p:nvSpPr>
        <p:spPr>
          <a:xfrm>
            <a:off x="10762488" y="1755648"/>
            <a:ext cx="658368" cy="221488"/>
          </a:xfrm>
          <a:prstGeom prst="rect">
            <a:avLst/>
          </a:prstGeom>
          <a:noFill/>
          <a:ln/>
        </p:spPr>
        <p:txBody>
          <a:bodyPr wrap="square" lIns="0" tIns="0" rIns="0" bIns="0" rtlCol="0" anchor="ctr"/>
          <a:lstStyle/>
          <a:p>
            <a:pPr algn="r" indent="0" marL="0">
              <a:buNone/>
            </a:pPr>
            <a:endParaRPr lang="en-US" sz="1300" dirty="0"/>
          </a:p>
        </p:txBody>
      </p:sp>
      <p:sp>
        <p:nvSpPr>
          <p:cNvPr id="110" name="Text 108"/>
          <p:cNvSpPr txBox="1"/>
          <p:nvPr/>
        </p:nvSpPr>
        <p:spPr>
          <a:xfrm>
            <a:off x="6208776" y="197713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111" name="Shape 109"/>
          <p:cNvSpPr/>
          <p:nvPr/>
        </p:nvSpPr>
        <p:spPr>
          <a:xfrm>
            <a:off x="8202168" y="2032508"/>
            <a:ext cx="462796" cy="110744"/>
          </a:xfrm>
          <a:prstGeom prst="rect">
            <a:avLst/>
          </a:prstGeom>
          <a:solidFill>
            <a:srgbClr val="2587C5"/>
          </a:solidFill>
          <a:ln/>
        </p:spPr>
      </p:sp>
      <p:sp>
        <p:nvSpPr>
          <p:cNvPr id="112" name="Text 110"/>
          <p:cNvSpPr txBox="1"/>
          <p:nvPr/>
        </p:nvSpPr>
        <p:spPr>
          <a:xfrm>
            <a:off x="9025128" y="1977136"/>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$249.95</a:t>
            </a:r>
            <a:endParaRPr lang="en-US" sz="1300" dirty="0"/>
          </a:p>
        </p:txBody>
      </p:sp>
      <p:sp>
        <p:nvSpPr>
          <p:cNvPr id="113" name="Text 111"/>
          <p:cNvSpPr txBox="1"/>
          <p:nvPr/>
        </p:nvSpPr>
        <p:spPr>
          <a:xfrm>
            <a:off x="9774936" y="1977136"/>
            <a:ext cx="987552" cy="221488"/>
          </a:xfrm>
          <a:prstGeom prst="rect">
            <a:avLst/>
          </a:prstGeom>
          <a:noFill/>
          <a:ln/>
        </p:spPr>
        <p:txBody>
          <a:bodyPr wrap="square" lIns="0" tIns="0" rIns="0" bIns="0" rtlCol="0" anchor="ctr"/>
          <a:lstStyle/>
          <a:p>
            <a:pPr algn="r" indent="0" marL="0">
              <a:buNone/>
            </a:pPr>
            <a:endParaRPr lang="en-US" sz="1300" dirty="0"/>
          </a:p>
        </p:txBody>
      </p:sp>
      <p:sp>
        <p:nvSpPr>
          <p:cNvPr id="114" name="Text 112"/>
          <p:cNvSpPr txBox="1"/>
          <p:nvPr/>
        </p:nvSpPr>
        <p:spPr>
          <a:xfrm>
            <a:off x="10762488" y="1977136"/>
            <a:ext cx="658368" cy="221488"/>
          </a:xfrm>
          <a:prstGeom prst="rect">
            <a:avLst/>
          </a:prstGeom>
          <a:noFill/>
          <a:ln/>
        </p:spPr>
        <p:txBody>
          <a:bodyPr wrap="square" lIns="0" tIns="0" rIns="0" bIns="0" rtlCol="0" anchor="ctr"/>
          <a:lstStyle/>
          <a:p>
            <a:pPr algn="r" indent="0" marL="0">
              <a:buNone/>
            </a:pPr>
            <a:endParaRPr lang="en-US" sz="1300" dirty="0"/>
          </a:p>
        </p:txBody>
      </p:sp>
      <p:sp>
        <p:nvSpPr>
          <p:cNvPr id="115" name="Text 113"/>
          <p:cNvSpPr txBox="1"/>
          <p:nvPr/>
        </p:nvSpPr>
        <p:spPr>
          <a:xfrm>
            <a:off x="6208776" y="219862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116" name="Shape 114"/>
          <p:cNvSpPr/>
          <p:nvPr/>
        </p:nvSpPr>
        <p:spPr>
          <a:xfrm>
            <a:off x="8202168" y="2253996"/>
            <a:ext cx="447117" cy="110744"/>
          </a:xfrm>
          <a:prstGeom prst="rect">
            <a:avLst/>
          </a:prstGeom>
          <a:solidFill>
            <a:srgbClr val="2587C5"/>
          </a:solidFill>
          <a:ln/>
        </p:spPr>
      </p:sp>
      <p:sp>
        <p:nvSpPr>
          <p:cNvPr id="117" name="Text 115"/>
          <p:cNvSpPr txBox="1"/>
          <p:nvPr/>
        </p:nvSpPr>
        <p:spPr>
          <a:xfrm>
            <a:off x="9025128" y="2198624"/>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$244.87</a:t>
            </a:r>
            <a:endParaRPr lang="en-US" sz="1300" dirty="0"/>
          </a:p>
        </p:txBody>
      </p:sp>
      <p:sp>
        <p:nvSpPr>
          <p:cNvPr id="118" name="Text 116"/>
          <p:cNvSpPr txBox="1"/>
          <p:nvPr/>
        </p:nvSpPr>
        <p:spPr>
          <a:xfrm>
            <a:off x="9774936" y="2198624"/>
            <a:ext cx="987552" cy="221488"/>
          </a:xfrm>
          <a:prstGeom prst="rect">
            <a:avLst/>
          </a:prstGeom>
          <a:noFill/>
          <a:ln/>
        </p:spPr>
        <p:txBody>
          <a:bodyPr wrap="square" lIns="0" tIns="0" rIns="0" bIns="0" rtlCol="0" anchor="ctr"/>
          <a:lstStyle/>
          <a:p>
            <a:pPr algn="r" indent="0" marL="0">
              <a:buNone/>
            </a:pPr>
            <a:endParaRPr lang="en-US" sz="1300" dirty="0"/>
          </a:p>
        </p:txBody>
      </p:sp>
      <p:sp>
        <p:nvSpPr>
          <p:cNvPr id="119" name="Text 117"/>
          <p:cNvSpPr txBox="1"/>
          <p:nvPr/>
        </p:nvSpPr>
        <p:spPr>
          <a:xfrm>
            <a:off x="10762488" y="2198624"/>
            <a:ext cx="658368" cy="221488"/>
          </a:xfrm>
          <a:prstGeom prst="rect">
            <a:avLst/>
          </a:prstGeom>
          <a:noFill/>
          <a:ln/>
        </p:spPr>
        <p:txBody>
          <a:bodyPr wrap="square" lIns="0" tIns="0" rIns="0" bIns="0" rtlCol="0" anchor="ctr"/>
          <a:lstStyle/>
          <a:p>
            <a:pPr algn="r" indent="0" marL="0">
              <a:buNone/>
            </a:pPr>
            <a:endParaRPr lang="en-US" sz="1300" dirty="0"/>
          </a:p>
        </p:txBody>
      </p:sp>
      <p:sp>
        <p:nvSpPr>
          <p:cNvPr id="120" name="Text 118"/>
          <p:cNvSpPr txBox="1"/>
          <p:nvPr/>
        </p:nvSpPr>
        <p:spPr>
          <a:xfrm>
            <a:off x="6208776" y="2420112"/>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121" name="Shape 119"/>
          <p:cNvSpPr/>
          <p:nvPr/>
        </p:nvSpPr>
        <p:spPr>
          <a:xfrm>
            <a:off x="8202168" y="2475484"/>
            <a:ext cx="401069" cy="110744"/>
          </a:xfrm>
          <a:prstGeom prst="rect">
            <a:avLst/>
          </a:prstGeom>
          <a:solidFill>
            <a:srgbClr val="2587C5"/>
          </a:solidFill>
          <a:ln/>
        </p:spPr>
      </p:sp>
      <p:sp>
        <p:nvSpPr>
          <p:cNvPr id="122" name="Text 120"/>
          <p:cNvSpPr txBox="1"/>
          <p:nvPr/>
        </p:nvSpPr>
        <p:spPr>
          <a:xfrm>
            <a:off x="9025128" y="2420112"/>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$229.95</a:t>
            </a:r>
            <a:endParaRPr lang="en-US" sz="1300" dirty="0"/>
          </a:p>
        </p:txBody>
      </p:sp>
      <p:sp>
        <p:nvSpPr>
          <p:cNvPr id="123" name="Text 121"/>
          <p:cNvSpPr txBox="1"/>
          <p:nvPr/>
        </p:nvSpPr>
        <p:spPr>
          <a:xfrm>
            <a:off x="9774936" y="2420112"/>
            <a:ext cx="987552" cy="221488"/>
          </a:xfrm>
          <a:prstGeom prst="rect">
            <a:avLst/>
          </a:prstGeom>
          <a:noFill/>
          <a:ln/>
        </p:spPr>
        <p:txBody>
          <a:bodyPr wrap="square" lIns="0" tIns="0" rIns="0" bIns="0" rtlCol="0" anchor="ctr"/>
          <a:lstStyle/>
          <a:p>
            <a:pPr algn="r" indent="0" marL="0">
              <a:buNone/>
            </a:pPr>
            <a:endParaRPr lang="en-US" sz="1300" dirty="0"/>
          </a:p>
        </p:txBody>
      </p:sp>
      <p:sp>
        <p:nvSpPr>
          <p:cNvPr id="124" name="Text 122"/>
          <p:cNvSpPr txBox="1"/>
          <p:nvPr/>
        </p:nvSpPr>
        <p:spPr>
          <a:xfrm>
            <a:off x="10762488" y="2420112"/>
            <a:ext cx="658368" cy="221488"/>
          </a:xfrm>
          <a:prstGeom prst="rect">
            <a:avLst/>
          </a:prstGeom>
          <a:noFill/>
          <a:ln/>
        </p:spPr>
        <p:txBody>
          <a:bodyPr wrap="square" lIns="0" tIns="0" rIns="0" bIns="0" rtlCol="0" anchor="ctr"/>
          <a:lstStyle/>
          <a:p>
            <a:pPr algn="r" indent="0" marL="0">
              <a:buNone/>
            </a:pPr>
            <a:endParaRPr lang="en-US" sz="1300" dirty="0"/>
          </a:p>
        </p:txBody>
      </p:sp>
      <p:sp>
        <p:nvSpPr>
          <p:cNvPr id="125" name="Text 123"/>
          <p:cNvSpPr txBox="1"/>
          <p:nvPr/>
        </p:nvSpPr>
        <p:spPr>
          <a:xfrm>
            <a:off x="6208776" y="2641600"/>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126" name="Shape 124"/>
          <p:cNvSpPr/>
          <p:nvPr/>
        </p:nvSpPr>
        <p:spPr>
          <a:xfrm>
            <a:off x="8202168" y="2696972"/>
            <a:ext cx="370360" cy="110744"/>
          </a:xfrm>
          <a:prstGeom prst="rect">
            <a:avLst/>
          </a:prstGeom>
          <a:solidFill>
            <a:srgbClr val="2587C5"/>
          </a:solidFill>
          <a:ln/>
        </p:spPr>
      </p:sp>
      <p:sp>
        <p:nvSpPr>
          <p:cNvPr id="127" name="Text 125"/>
          <p:cNvSpPr txBox="1"/>
          <p:nvPr/>
        </p:nvSpPr>
        <p:spPr>
          <a:xfrm>
            <a:off x="9025128" y="2641600"/>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$220.00</a:t>
            </a:r>
            <a:endParaRPr lang="en-US" sz="1300" dirty="0"/>
          </a:p>
        </p:txBody>
      </p:sp>
      <p:sp>
        <p:nvSpPr>
          <p:cNvPr id="128" name="Text 126"/>
          <p:cNvSpPr txBox="1"/>
          <p:nvPr/>
        </p:nvSpPr>
        <p:spPr>
          <a:xfrm>
            <a:off x="9774936" y="2641600"/>
            <a:ext cx="987552"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$230.00</a:t>
            </a:r>
            <a:endParaRPr lang="en-US" sz="1300" dirty="0"/>
          </a:p>
        </p:txBody>
      </p:sp>
      <p:sp>
        <p:nvSpPr>
          <p:cNvPr id="129" name="Text 127"/>
          <p:cNvSpPr txBox="1"/>
          <p:nvPr/>
        </p:nvSpPr>
        <p:spPr>
          <a:xfrm>
            <a:off x="10762488" y="2641600"/>
            <a:ext cx="658368"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EV</a:t>
            </a:r>
            <a:endParaRPr lang="en-US" sz="1300" dirty="0"/>
          </a:p>
        </p:txBody>
      </p:sp>
      <p:sp>
        <p:nvSpPr>
          <p:cNvPr id="130" name="Text 128"/>
          <p:cNvSpPr txBox="1"/>
          <p:nvPr/>
        </p:nvSpPr>
        <p:spPr>
          <a:xfrm>
            <a:off x="6208776" y="286308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131" name="Shape 129"/>
          <p:cNvSpPr/>
          <p:nvPr/>
        </p:nvSpPr>
        <p:spPr>
          <a:xfrm>
            <a:off x="8202168" y="2918460"/>
            <a:ext cx="356070" cy="110744"/>
          </a:xfrm>
          <a:prstGeom prst="rect">
            <a:avLst/>
          </a:prstGeom>
          <a:solidFill>
            <a:srgbClr val="2587C5"/>
          </a:solidFill>
          <a:ln/>
        </p:spPr>
      </p:sp>
      <p:sp>
        <p:nvSpPr>
          <p:cNvPr id="132" name="Text 130"/>
          <p:cNvSpPr txBox="1"/>
          <p:nvPr/>
        </p:nvSpPr>
        <p:spPr>
          <a:xfrm>
            <a:off x="9025128" y="2863088"/>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$215.37</a:t>
            </a:r>
            <a:endParaRPr lang="en-US" sz="1300" dirty="0"/>
          </a:p>
        </p:txBody>
      </p:sp>
      <p:sp>
        <p:nvSpPr>
          <p:cNvPr id="133" name="Text 131"/>
          <p:cNvSpPr txBox="1"/>
          <p:nvPr/>
        </p:nvSpPr>
        <p:spPr>
          <a:xfrm>
            <a:off x="9774936" y="2863088"/>
            <a:ext cx="987552" cy="221488"/>
          </a:xfrm>
          <a:prstGeom prst="rect">
            <a:avLst/>
          </a:prstGeom>
          <a:noFill/>
          <a:ln/>
        </p:spPr>
        <p:txBody>
          <a:bodyPr wrap="square" lIns="0" tIns="0" rIns="0" bIns="0" rtlCol="0" anchor="ctr"/>
          <a:lstStyle/>
          <a:p>
            <a:pPr algn="r" indent="0" marL="0">
              <a:buNone/>
            </a:pPr>
            <a:endParaRPr lang="en-US" sz="1300" dirty="0"/>
          </a:p>
        </p:txBody>
      </p:sp>
      <p:sp>
        <p:nvSpPr>
          <p:cNvPr id="134" name="Text 132"/>
          <p:cNvSpPr txBox="1"/>
          <p:nvPr/>
        </p:nvSpPr>
        <p:spPr>
          <a:xfrm>
            <a:off x="10762488" y="2863088"/>
            <a:ext cx="658368" cy="221488"/>
          </a:xfrm>
          <a:prstGeom prst="rect">
            <a:avLst/>
          </a:prstGeom>
          <a:noFill/>
          <a:ln/>
        </p:spPr>
        <p:txBody>
          <a:bodyPr wrap="square" lIns="0" tIns="0" rIns="0" bIns="0" rtlCol="0" anchor="ctr"/>
          <a:lstStyle/>
          <a:p>
            <a:pPr algn="r" indent="0" marL="0">
              <a:buNone/>
            </a:pPr>
            <a:endParaRPr lang="en-US" sz="1300" dirty="0"/>
          </a:p>
        </p:txBody>
      </p:sp>
      <p:sp>
        <p:nvSpPr>
          <p:cNvPr id="135" name="Text 133"/>
          <p:cNvSpPr txBox="1"/>
          <p:nvPr/>
        </p:nvSpPr>
        <p:spPr>
          <a:xfrm>
            <a:off x="6208776" y="308457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36" name="Shape 134"/>
          <p:cNvSpPr/>
          <p:nvPr/>
        </p:nvSpPr>
        <p:spPr>
          <a:xfrm>
            <a:off x="8202168" y="3139948"/>
            <a:ext cx="339497" cy="110744"/>
          </a:xfrm>
          <a:prstGeom prst="rect">
            <a:avLst/>
          </a:prstGeom>
          <a:solidFill>
            <a:srgbClr val="2587C5"/>
          </a:solidFill>
          <a:ln/>
        </p:spPr>
      </p:sp>
      <p:sp>
        <p:nvSpPr>
          <p:cNvPr id="137" name="Text 135"/>
          <p:cNvSpPr txBox="1"/>
          <p:nvPr/>
        </p:nvSpPr>
        <p:spPr>
          <a:xfrm>
            <a:off x="9025128" y="3084576"/>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$210.00</a:t>
            </a:r>
            <a:endParaRPr lang="en-US" sz="1300" dirty="0"/>
          </a:p>
        </p:txBody>
      </p:sp>
      <p:sp>
        <p:nvSpPr>
          <p:cNvPr id="138" name="Text 136"/>
          <p:cNvSpPr txBox="1"/>
          <p:nvPr/>
        </p:nvSpPr>
        <p:spPr>
          <a:xfrm>
            <a:off x="9774936" y="3084576"/>
            <a:ext cx="987552" cy="221488"/>
          </a:xfrm>
          <a:prstGeom prst="rect">
            <a:avLst/>
          </a:prstGeom>
          <a:noFill/>
          <a:ln/>
        </p:spPr>
        <p:txBody>
          <a:bodyPr wrap="square" lIns="0" tIns="0" rIns="0" bIns="0" rtlCol="0" anchor="ctr"/>
          <a:lstStyle/>
          <a:p>
            <a:pPr algn="r" indent="0" marL="0">
              <a:buNone/>
            </a:pPr>
            <a:endParaRPr lang="en-US" sz="1300" dirty="0"/>
          </a:p>
        </p:txBody>
      </p:sp>
      <p:sp>
        <p:nvSpPr>
          <p:cNvPr id="139" name="Text 137"/>
          <p:cNvSpPr txBox="1"/>
          <p:nvPr/>
        </p:nvSpPr>
        <p:spPr>
          <a:xfrm>
            <a:off x="10762488" y="3084576"/>
            <a:ext cx="658368" cy="221488"/>
          </a:xfrm>
          <a:prstGeom prst="rect">
            <a:avLst/>
          </a:prstGeom>
          <a:noFill/>
          <a:ln/>
        </p:spPr>
        <p:txBody>
          <a:bodyPr wrap="square" lIns="0" tIns="0" rIns="0" bIns="0" rtlCol="0" anchor="ctr"/>
          <a:lstStyle/>
          <a:p>
            <a:pPr algn="r" indent="0" marL="0">
              <a:buNone/>
            </a:pPr>
            <a:endParaRPr lang="en-US" sz="1300" dirty="0"/>
          </a:p>
        </p:txBody>
      </p:sp>
      <p:sp>
        <p:nvSpPr>
          <p:cNvPr id="140" name="Text 138"/>
          <p:cNvSpPr txBox="1"/>
          <p:nvPr/>
        </p:nvSpPr>
        <p:spPr>
          <a:xfrm>
            <a:off x="6208776" y="330606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141" name="Shape 139"/>
          <p:cNvSpPr/>
          <p:nvPr/>
        </p:nvSpPr>
        <p:spPr>
          <a:xfrm>
            <a:off x="8202168" y="3361436"/>
            <a:ext cx="339497" cy="110744"/>
          </a:xfrm>
          <a:prstGeom prst="rect">
            <a:avLst/>
          </a:prstGeom>
          <a:solidFill>
            <a:srgbClr val="2587C5"/>
          </a:solidFill>
          <a:ln/>
        </p:spPr>
      </p:sp>
      <p:sp>
        <p:nvSpPr>
          <p:cNvPr id="142" name="Text 140"/>
          <p:cNvSpPr txBox="1"/>
          <p:nvPr/>
        </p:nvSpPr>
        <p:spPr>
          <a:xfrm>
            <a:off x="9025128" y="3306064"/>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$210.00</a:t>
            </a:r>
            <a:endParaRPr lang="en-US" sz="1300" dirty="0"/>
          </a:p>
        </p:txBody>
      </p:sp>
      <p:sp>
        <p:nvSpPr>
          <p:cNvPr id="143" name="Text 141"/>
          <p:cNvSpPr txBox="1"/>
          <p:nvPr/>
        </p:nvSpPr>
        <p:spPr>
          <a:xfrm>
            <a:off x="9774936" y="3306064"/>
            <a:ext cx="987552" cy="221488"/>
          </a:xfrm>
          <a:prstGeom prst="rect">
            <a:avLst/>
          </a:prstGeom>
          <a:noFill/>
          <a:ln/>
        </p:spPr>
        <p:txBody>
          <a:bodyPr wrap="square" lIns="0" tIns="0" rIns="0" bIns="0" rtlCol="0" anchor="ctr"/>
          <a:lstStyle/>
          <a:p>
            <a:pPr algn="r" indent="0" marL="0">
              <a:buNone/>
            </a:pPr>
            <a:endParaRPr lang="en-US" sz="1300" dirty="0"/>
          </a:p>
        </p:txBody>
      </p:sp>
      <p:sp>
        <p:nvSpPr>
          <p:cNvPr id="144" name="Text 142"/>
          <p:cNvSpPr txBox="1"/>
          <p:nvPr/>
        </p:nvSpPr>
        <p:spPr>
          <a:xfrm>
            <a:off x="10762488" y="3306064"/>
            <a:ext cx="658368" cy="221488"/>
          </a:xfrm>
          <a:prstGeom prst="rect">
            <a:avLst/>
          </a:prstGeom>
          <a:noFill/>
          <a:ln/>
        </p:spPr>
        <p:txBody>
          <a:bodyPr wrap="square" lIns="0" tIns="0" rIns="0" bIns="0" rtlCol="0" anchor="ctr"/>
          <a:lstStyle/>
          <a:p>
            <a:pPr algn="r" indent="0" marL="0">
              <a:buNone/>
            </a:pPr>
            <a:endParaRPr lang="en-US" sz="1300" dirty="0"/>
          </a:p>
        </p:txBody>
      </p:sp>
      <p:sp>
        <p:nvSpPr>
          <p:cNvPr id="145" name="Shape 143"/>
          <p:cNvSpPr/>
          <p:nvPr/>
        </p:nvSpPr>
        <p:spPr>
          <a:xfrm>
            <a:off x="6153912" y="3527552"/>
            <a:ext cx="5285232" cy="212344"/>
          </a:xfrm>
          <a:prstGeom prst="rect">
            <a:avLst/>
          </a:prstGeom>
          <a:solidFill>
            <a:srgbClr val="EDF4FA"/>
          </a:solidFill>
          <a:ln/>
        </p:spPr>
      </p:sp>
      <p:sp>
        <p:nvSpPr>
          <p:cNvPr id="146" name="Text 144"/>
          <p:cNvSpPr txBox="1"/>
          <p:nvPr/>
        </p:nvSpPr>
        <p:spPr>
          <a:xfrm>
            <a:off x="6208776" y="3527552"/>
            <a:ext cx="1920240" cy="221488"/>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NO-GRID AVG</a:t>
            </a:r>
            <a:endParaRPr lang="en-US" sz="1300" dirty="0"/>
          </a:p>
        </p:txBody>
      </p:sp>
      <p:sp>
        <p:nvSpPr>
          <p:cNvPr id="147" name="Shape 145"/>
          <p:cNvSpPr/>
          <p:nvPr/>
        </p:nvSpPr>
        <p:spPr>
          <a:xfrm>
            <a:off x="8202168" y="3582924"/>
            <a:ext cx="317376" cy="110744"/>
          </a:xfrm>
          <a:prstGeom prst="rect">
            <a:avLst/>
          </a:prstGeom>
          <a:solidFill>
            <a:srgbClr val="0B2C4A"/>
          </a:solidFill>
          <a:ln/>
        </p:spPr>
      </p:sp>
      <p:sp>
        <p:nvSpPr>
          <p:cNvPr id="148" name="Text 146"/>
          <p:cNvSpPr txBox="1"/>
          <p:nvPr/>
        </p:nvSpPr>
        <p:spPr>
          <a:xfrm>
            <a:off x="9025128" y="3527552"/>
            <a:ext cx="749808" cy="22148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$202.83</a:t>
            </a:r>
            <a:endParaRPr lang="en-US" sz="1300" dirty="0"/>
          </a:p>
        </p:txBody>
      </p:sp>
      <p:sp>
        <p:nvSpPr>
          <p:cNvPr id="149" name="Text 147"/>
          <p:cNvSpPr txBox="1"/>
          <p:nvPr/>
        </p:nvSpPr>
        <p:spPr>
          <a:xfrm>
            <a:off x="9774936" y="3527552"/>
            <a:ext cx="987552" cy="221488"/>
          </a:xfrm>
          <a:prstGeom prst="rect">
            <a:avLst/>
          </a:prstGeom>
          <a:noFill/>
          <a:ln/>
        </p:spPr>
        <p:txBody>
          <a:bodyPr wrap="square" lIns="0" tIns="0" rIns="0" bIns="0" rtlCol="0" anchor="ctr"/>
          <a:lstStyle/>
          <a:p>
            <a:pPr algn="r" indent="0" marL="0">
              <a:buNone/>
            </a:pPr>
            <a:endParaRPr lang="en-US" sz="1300" dirty="0"/>
          </a:p>
        </p:txBody>
      </p:sp>
      <p:sp>
        <p:nvSpPr>
          <p:cNvPr id="150" name="Text 148"/>
          <p:cNvSpPr txBox="1"/>
          <p:nvPr/>
        </p:nvSpPr>
        <p:spPr>
          <a:xfrm>
            <a:off x="10762488" y="3527552"/>
            <a:ext cx="658368" cy="221488"/>
          </a:xfrm>
          <a:prstGeom prst="rect">
            <a:avLst/>
          </a:prstGeom>
          <a:noFill/>
          <a:ln/>
        </p:spPr>
        <p:txBody>
          <a:bodyPr wrap="square" lIns="0" tIns="0" rIns="0" bIns="0" rtlCol="0" anchor="ctr"/>
          <a:lstStyle/>
          <a:p>
            <a:pPr algn="r" indent="0" marL="0">
              <a:buNone/>
            </a:pPr>
            <a:endParaRPr lang="en-US" sz="1300" dirty="0"/>
          </a:p>
        </p:txBody>
      </p:sp>
      <p:sp>
        <p:nvSpPr>
          <p:cNvPr id="151" name="Text 149"/>
          <p:cNvSpPr txBox="1"/>
          <p:nvPr/>
        </p:nvSpPr>
        <p:spPr>
          <a:xfrm>
            <a:off x="6208776" y="3749040"/>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152" name="Shape 150"/>
          <p:cNvSpPr/>
          <p:nvPr/>
        </p:nvSpPr>
        <p:spPr>
          <a:xfrm>
            <a:off x="8202168" y="3804412"/>
            <a:ext cx="308479" cy="110744"/>
          </a:xfrm>
          <a:prstGeom prst="rect">
            <a:avLst/>
          </a:prstGeom>
          <a:solidFill>
            <a:srgbClr val="2587C5"/>
          </a:solidFill>
          <a:ln/>
        </p:spPr>
      </p:sp>
      <p:sp>
        <p:nvSpPr>
          <p:cNvPr id="153" name="Text 151"/>
          <p:cNvSpPr txBox="1"/>
          <p:nvPr/>
        </p:nvSpPr>
        <p:spPr>
          <a:xfrm>
            <a:off x="9025128" y="3749040"/>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$199.95</a:t>
            </a:r>
            <a:endParaRPr lang="en-US" sz="1300" dirty="0"/>
          </a:p>
        </p:txBody>
      </p:sp>
      <p:sp>
        <p:nvSpPr>
          <p:cNvPr id="154" name="Text 152"/>
          <p:cNvSpPr txBox="1"/>
          <p:nvPr/>
        </p:nvSpPr>
        <p:spPr>
          <a:xfrm>
            <a:off x="9774936" y="3749040"/>
            <a:ext cx="987552" cy="221488"/>
          </a:xfrm>
          <a:prstGeom prst="rect">
            <a:avLst/>
          </a:prstGeom>
          <a:noFill/>
          <a:ln/>
        </p:spPr>
        <p:txBody>
          <a:bodyPr wrap="square" lIns="0" tIns="0" rIns="0" bIns="0" rtlCol="0" anchor="ctr"/>
          <a:lstStyle/>
          <a:p>
            <a:pPr algn="r" indent="0" marL="0">
              <a:buNone/>
            </a:pPr>
            <a:endParaRPr lang="en-US" sz="1300" dirty="0"/>
          </a:p>
        </p:txBody>
      </p:sp>
      <p:sp>
        <p:nvSpPr>
          <p:cNvPr id="155" name="Text 153"/>
          <p:cNvSpPr txBox="1"/>
          <p:nvPr/>
        </p:nvSpPr>
        <p:spPr>
          <a:xfrm>
            <a:off x="10762488" y="3749040"/>
            <a:ext cx="658368" cy="221488"/>
          </a:xfrm>
          <a:prstGeom prst="rect">
            <a:avLst/>
          </a:prstGeom>
          <a:noFill/>
          <a:ln/>
        </p:spPr>
        <p:txBody>
          <a:bodyPr wrap="square" lIns="0" tIns="0" rIns="0" bIns="0" rtlCol="0" anchor="ctr"/>
          <a:lstStyle/>
          <a:p>
            <a:pPr algn="r" indent="0" marL="0">
              <a:buNone/>
            </a:pPr>
            <a:endParaRPr lang="en-US" sz="1300" dirty="0"/>
          </a:p>
        </p:txBody>
      </p:sp>
      <p:sp>
        <p:nvSpPr>
          <p:cNvPr id="156" name="Text 154"/>
          <p:cNvSpPr txBox="1"/>
          <p:nvPr/>
        </p:nvSpPr>
        <p:spPr>
          <a:xfrm>
            <a:off x="6208776" y="397052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157" name="Shape 155"/>
          <p:cNvSpPr/>
          <p:nvPr/>
        </p:nvSpPr>
        <p:spPr>
          <a:xfrm>
            <a:off x="8202168" y="4025900"/>
            <a:ext cx="293202" cy="110744"/>
          </a:xfrm>
          <a:prstGeom prst="rect">
            <a:avLst/>
          </a:prstGeom>
          <a:solidFill>
            <a:srgbClr val="2587C5"/>
          </a:solidFill>
          <a:ln/>
        </p:spPr>
      </p:sp>
      <p:sp>
        <p:nvSpPr>
          <p:cNvPr id="158" name="Text 156"/>
          <p:cNvSpPr txBox="1"/>
          <p:nvPr/>
        </p:nvSpPr>
        <p:spPr>
          <a:xfrm>
            <a:off x="9025128" y="3970528"/>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$195.00</a:t>
            </a:r>
            <a:endParaRPr lang="en-US" sz="1300" dirty="0"/>
          </a:p>
        </p:txBody>
      </p:sp>
      <p:sp>
        <p:nvSpPr>
          <p:cNvPr id="159" name="Text 157"/>
          <p:cNvSpPr txBox="1"/>
          <p:nvPr/>
        </p:nvSpPr>
        <p:spPr>
          <a:xfrm>
            <a:off x="9774936" y="3970528"/>
            <a:ext cx="987552" cy="221488"/>
          </a:xfrm>
          <a:prstGeom prst="rect">
            <a:avLst/>
          </a:prstGeom>
          <a:noFill/>
          <a:ln/>
        </p:spPr>
        <p:txBody>
          <a:bodyPr wrap="square" lIns="0" tIns="0" rIns="0" bIns="0" rtlCol="0" anchor="ctr"/>
          <a:lstStyle/>
          <a:p>
            <a:pPr algn="r" indent="0" marL="0">
              <a:buNone/>
            </a:pPr>
            <a:endParaRPr lang="en-US" sz="1300" dirty="0"/>
          </a:p>
        </p:txBody>
      </p:sp>
      <p:sp>
        <p:nvSpPr>
          <p:cNvPr id="160" name="Text 158"/>
          <p:cNvSpPr txBox="1"/>
          <p:nvPr/>
        </p:nvSpPr>
        <p:spPr>
          <a:xfrm>
            <a:off x="10762488" y="3970528"/>
            <a:ext cx="658368" cy="221488"/>
          </a:xfrm>
          <a:prstGeom prst="rect">
            <a:avLst/>
          </a:prstGeom>
          <a:noFill/>
          <a:ln/>
        </p:spPr>
        <p:txBody>
          <a:bodyPr wrap="square" lIns="0" tIns="0" rIns="0" bIns="0" rtlCol="0" anchor="ctr"/>
          <a:lstStyle/>
          <a:p>
            <a:pPr algn="r" indent="0" marL="0">
              <a:buNone/>
            </a:pPr>
            <a:endParaRPr lang="en-US" sz="1300" dirty="0"/>
          </a:p>
        </p:txBody>
      </p:sp>
      <p:sp>
        <p:nvSpPr>
          <p:cNvPr id="161" name="Text 159"/>
          <p:cNvSpPr txBox="1"/>
          <p:nvPr/>
        </p:nvSpPr>
        <p:spPr>
          <a:xfrm>
            <a:off x="6208776" y="419201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162" name="Shape 160"/>
          <p:cNvSpPr/>
          <p:nvPr/>
        </p:nvSpPr>
        <p:spPr>
          <a:xfrm>
            <a:off x="8202168" y="4247388"/>
            <a:ext cx="277770" cy="110744"/>
          </a:xfrm>
          <a:prstGeom prst="rect">
            <a:avLst/>
          </a:prstGeom>
          <a:solidFill>
            <a:srgbClr val="2587C5"/>
          </a:solidFill>
          <a:ln/>
        </p:spPr>
      </p:sp>
      <p:sp>
        <p:nvSpPr>
          <p:cNvPr id="163" name="Text 161"/>
          <p:cNvSpPr txBox="1"/>
          <p:nvPr/>
        </p:nvSpPr>
        <p:spPr>
          <a:xfrm>
            <a:off x="9025128" y="4192016"/>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$190.00</a:t>
            </a:r>
            <a:endParaRPr lang="en-US" sz="1300" dirty="0"/>
          </a:p>
        </p:txBody>
      </p:sp>
      <p:sp>
        <p:nvSpPr>
          <p:cNvPr id="164" name="Text 162"/>
          <p:cNvSpPr txBox="1"/>
          <p:nvPr/>
        </p:nvSpPr>
        <p:spPr>
          <a:xfrm>
            <a:off x="9774936" y="4192016"/>
            <a:ext cx="987552" cy="221488"/>
          </a:xfrm>
          <a:prstGeom prst="rect">
            <a:avLst/>
          </a:prstGeom>
          <a:noFill/>
          <a:ln/>
        </p:spPr>
        <p:txBody>
          <a:bodyPr wrap="square" lIns="0" tIns="0" rIns="0" bIns="0" rtlCol="0" anchor="ctr"/>
          <a:lstStyle/>
          <a:p>
            <a:pPr algn="r" indent="0" marL="0">
              <a:buNone/>
            </a:pPr>
            <a:endParaRPr lang="en-US" sz="1300" dirty="0"/>
          </a:p>
        </p:txBody>
      </p:sp>
      <p:sp>
        <p:nvSpPr>
          <p:cNvPr id="165" name="Text 163"/>
          <p:cNvSpPr txBox="1"/>
          <p:nvPr/>
        </p:nvSpPr>
        <p:spPr>
          <a:xfrm>
            <a:off x="10762488" y="4192016"/>
            <a:ext cx="658368" cy="221488"/>
          </a:xfrm>
          <a:prstGeom prst="rect">
            <a:avLst/>
          </a:prstGeom>
          <a:noFill/>
          <a:ln/>
        </p:spPr>
        <p:txBody>
          <a:bodyPr wrap="square" lIns="0" tIns="0" rIns="0" bIns="0" rtlCol="0" anchor="ctr"/>
          <a:lstStyle/>
          <a:p>
            <a:pPr algn="r" indent="0" marL="0">
              <a:buNone/>
            </a:pPr>
            <a:endParaRPr lang="en-US" sz="1300" dirty="0"/>
          </a:p>
        </p:txBody>
      </p:sp>
      <p:sp>
        <p:nvSpPr>
          <p:cNvPr id="166" name="Text 164"/>
          <p:cNvSpPr txBox="1"/>
          <p:nvPr/>
        </p:nvSpPr>
        <p:spPr>
          <a:xfrm>
            <a:off x="6208776" y="441350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167" name="Shape 165"/>
          <p:cNvSpPr/>
          <p:nvPr/>
        </p:nvSpPr>
        <p:spPr>
          <a:xfrm>
            <a:off x="8202168" y="4468876"/>
            <a:ext cx="262338" cy="110744"/>
          </a:xfrm>
          <a:prstGeom prst="rect">
            <a:avLst/>
          </a:prstGeom>
          <a:solidFill>
            <a:srgbClr val="2587C5"/>
          </a:solidFill>
          <a:ln/>
        </p:spPr>
      </p:sp>
      <p:sp>
        <p:nvSpPr>
          <p:cNvPr id="168" name="Text 166"/>
          <p:cNvSpPr txBox="1"/>
          <p:nvPr/>
        </p:nvSpPr>
        <p:spPr>
          <a:xfrm>
            <a:off x="9025128" y="4413504"/>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$185.00</a:t>
            </a:r>
            <a:endParaRPr lang="en-US" sz="1300" dirty="0"/>
          </a:p>
        </p:txBody>
      </p:sp>
      <p:sp>
        <p:nvSpPr>
          <p:cNvPr id="169" name="Text 167"/>
          <p:cNvSpPr txBox="1"/>
          <p:nvPr/>
        </p:nvSpPr>
        <p:spPr>
          <a:xfrm>
            <a:off x="9774936" y="4413504"/>
            <a:ext cx="987552"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$215.00</a:t>
            </a:r>
            <a:endParaRPr lang="en-US" sz="1300" dirty="0"/>
          </a:p>
        </p:txBody>
      </p:sp>
      <p:sp>
        <p:nvSpPr>
          <p:cNvPr id="170" name="Text 168"/>
          <p:cNvSpPr txBox="1"/>
          <p:nvPr/>
        </p:nvSpPr>
        <p:spPr>
          <a:xfrm>
            <a:off x="10762488" y="4413504"/>
            <a:ext cx="658368"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EV</a:t>
            </a:r>
            <a:endParaRPr lang="en-US" sz="1300" dirty="0"/>
          </a:p>
        </p:txBody>
      </p:sp>
      <p:sp>
        <p:nvSpPr>
          <p:cNvPr id="171" name="Text 169"/>
          <p:cNvSpPr txBox="1"/>
          <p:nvPr/>
        </p:nvSpPr>
        <p:spPr>
          <a:xfrm>
            <a:off x="6208776" y="4634992"/>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172" name="Shape 170"/>
          <p:cNvSpPr/>
          <p:nvPr/>
        </p:nvSpPr>
        <p:spPr>
          <a:xfrm>
            <a:off x="8202168" y="4690364"/>
            <a:ext cx="262338" cy="110744"/>
          </a:xfrm>
          <a:prstGeom prst="rect">
            <a:avLst/>
          </a:prstGeom>
          <a:solidFill>
            <a:srgbClr val="2587C5"/>
          </a:solidFill>
          <a:ln/>
        </p:spPr>
      </p:sp>
      <p:sp>
        <p:nvSpPr>
          <p:cNvPr id="173" name="Text 171"/>
          <p:cNvSpPr txBox="1"/>
          <p:nvPr/>
        </p:nvSpPr>
        <p:spPr>
          <a:xfrm>
            <a:off x="9025128" y="4634992"/>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$185.00</a:t>
            </a:r>
            <a:endParaRPr lang="en-US" sz="1300" dirty="0"/>
          </a:p>
        </p:txBody>
      </p:sp>
      <p:sp>
        <p:nvSpPr>
          <p:cNvPr id="174" name="Text 172"/>
          <p:cNvSpPr txBox="1"/>
          <p:nvPr/>
        </p:nvSpPr>
        <p:spPr>
          <a:xfrm>
            <a:off x="9774936" y="4634992"/>
            <a:ext cx="987552"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$195.00</a:t>
            </a:r>
            <a:endParaRPr lang="en-US" sz="1300" dirty="0"/>
          </a:p>
        </p:txBody>
      </p:sp>
      <p:sp>
        <p:nvSpPr>
          <p:cNvPr id="175" name="Text 173"/>
          <p:cNvSpPr txBox="1"/>
          <p:nvPr/>
        </p:nvSpPr>
        <p:spPr>
          <a:xfrm>
            <a:off x="10762488" y="4634992"/>
            <a:ext cx="658368"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EV</a:t>
            </a:r>
            <a:endParaRPr lang="en-US" sz="1300" dirty="0"/>
          </a:p>
        </p:txBody>
      </p:sp>
      <p:sp>
        <p:nvSpPr>
          <p:cNvPr id="176" name="Text 174"/>
          <p:cNvSpPr txBox="1"/>
          <p:nvPr/>
        </p:nvSpPr>
        <p:spPr>
          <a:xfrm>
            <a:off x="6208776" y="4856480"/>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177" name="Shape 175"/>
          <p:cNvSpPr/>
          <p:nvPr/>
        </p:nvSpPr>
        <p:spPr>
          <a:xfrm>
            <a:off x="8202168" y="4911852"/>
            <a:ext cx="262338" cy="110744"/>
          </a:xfrm>
          <a:prstGeom prst="rect">
            <a:avLst/>
          </a:prstGeom>
          <a:solidFill>
            <a:srgbClr val="2587C5"/>
          </a:solidFill>
          <a:ln/>
        </p:spPr>
      </p:sp>
      <p:sp>
        <p:nvSpPr>
          <p:cNvPr id="178" name="Text 176"/>
          <p:cNvSpPr txBox="1"/>
          <p:nvPr/>
        </p:nvSpPr>
        <p:spPr>
          <a:xfrm>
            <a:off x="9025128" y="4856480"/>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$185.00</a:t>
            </a:r>
            <a:endParaRPr lang="en-US" sz="1300" dirty="0"/>
          </a:p>
        </p:txBody>
      </p:sp>
      <p:sp>
        <p:nvSpPr>
          <p:cNvPr id="179" name="Text 177"/>
          <p:cNvSpPr txBox="1"/>
          <p:nvPr/>
        </p:nvSpPr>
        <p:spPr>
          <a:xfrm>
            <a:off x="9774936" y="4856480"/>
            <a:ext cx="987552"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$210.00</a:t>
            </a:r>
            <a:endParaRPr lang="en-US" sz="1300" dirty="0"/>
          </a:p>
        </p:txBody>
      </p:sp>
      <p:sp>
        <p:nvSpPr>
          <p:cNvPr id="180" name="Text 178"/>
          <p:cNvSpPr txBox="1"/>
          <p:nvPr/>
        </p:nvSpPr>
        <p:spPr>
          <a:xfrm>
            <a:off x="10762488" y="4856480"/>
            <a:ext cx="658368"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EV</a:t>
            </a:r>
            <a:endParaRPr lang="en-US" sz="1300" dirty="0"/>
          </a:p>
        </p:txBody>
      </p:sp>
      <p:sp>
        <p:nvSpPr>
          <p:cNvPr id="181" name="Text 179"/>
          <p:cNvSpPr txBox="1"/>
          <p:nvPr/>
        </p:nvSpPr>
        <p:spPr>
          <a:xfrm>
            <a:off x="6208776" y="507796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182" name="Shape 180"/>
          <p:cNvSpPr/>
          <p:nvPr/>
        </p:nvSpPr>
        <p:spPr>
          <a:xfrm>
            <a:off x="8202168" y="5133340"/>
            <a:ext cx="262338" cy="110744"/>
          </a:xfrm>
          <a:prstGeom prst="rect">
            <a:avLst/>
          </a:prstGeom>
          <a:solidFill>
            <a:srgbClr val="2587C5"/>
          </a:solidFill>
          <a:ln/>
        </p:spPr>
      </p:sp>
      <p:sp>
        <p:nvSpPr>
          <p:cNvPr id="183" name="Text 181"/>
          <p:cNvSpPr txBox="1"/>
          <p:nvPr/>
        </p:nvSpPr>
        <p:spPr>
          <a:xfrm>
            <a:off x="9025128" y="5077968"/>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$185.00</a:t>
            </a:r>
            <a:endParaRPr lang="en-US" sz="1300" dirty="0"/>
          </a:p>
        </p:txBody>
      </p:sp>
      <p:sp>
        <p:nvSpPr>
          <p:cNvPr id="184" name="Text 182"/>
          <p:cNvSpPr txBox="1"/>
          <p:nvPr/>
        </p:nvSpPr>
        <p:spPr>
          <a:xfrm>
            <a:off x="9774936" y="5077968"/>
            <a:ext cx="987552" cy="221488"/>
          </a:xfrm>
          <a:prstGeom prst="rect">
            <a:avLst/>
          </a:prstGeom>
          <a:noFill/>
          <a:ln/>
        </p:spPr>
        <p:txBody>
          <a:bodyPr wrap="square" lIns="0" tIns="0" rIns="0" bIns="0" rtlCol="0" anchor="ctr"/>
          <a:lstStyle/>
          <a:p>
            <a:pPr algn="r" indent="0" marL="0">
              <a:buNone/>
            </a:pPr>
            <a:endParaRPr lang="en-US" sz="1300" dirty="0"/>
          </a:p>
        </p:txBody>
      </p:sp>
      <p:sp>
        <p:nvSpPr>
          <p:cNvPr id="185" name="Text 183"/>
          <p:cNvSpPr txBox="1"/>
          <p:nvPr/>
        </p:nvSpPr>
        <p:spPr>
          <a:xfrm>
            <a:off x="10762488" y="5077968"/>
            <a:ext cx="658368" cy="221488"/>
          </a:xfrm>
          <a:prstGeom prst="rect">
            <a:avLst/>
          </a:prstGeom>
          <a:noFill/>
          <a:ln/>
        </p:spPr>
        <p:txBody>
          <a:bodyPr wrap="square" lIns="0" tIns="0" rIns="0" bIns="0" rtlCol="0" anchor="ctr"/>
          <a:lstStyle/>
          <a:p>
            <a:pPr algn="r" indent="0" marL="0">
              <a:buNone/>
            </a:pPr>
            <a:endParaRPr lang="en-US" sz="1300" dirty="0"/>
          </a:p>
        </p:txBody>
      </p:sp>
      <p:sp>
        <p:nvSpPr>
          <p:cNvPr id="186" name="Text 184"/>
          <p:cNvSpPr txBox="1"/>
          <p:nvPr/>
        </p:nvSpPr>
        <p:spPr>
          <a:xfrm>
            <a:off x="6208776" y="529945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187" name="Shape 185"/>
          <p:cNvSpPr/>
          <p:nvPr/>
        </p:nvSpPr>
        <p:spPr>
          <a:xfrm>
            <a:off x="8202168" y="5354828"/>
            <a:ext cx="243820" cy="110744"/>
          </a:xfrm>
          <a:prstGeom prst="rect">
            <a:avLst/>
          </a:prstGeom>
          <a:solidFill>
            <a:srgbClr val="2587C5"/>
          </a:solidFill>
          <a:ln/>
        </p:spPr>
      </p:sp>
      <p:sp>
        <p:nvSpPr>
          <p:cNvPr id="188" name="Text 186"/>
          <p:cNvSpPr txBox="1"/>
          <p:nvPr/>
        </p:nvSpPr>
        <p:spPr>
          <a:xfrm>
            <a:off x="9025128" y="5299456"/>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$179.00</a:t>
            </a:r>
            <a:endParaRPr lang="en-US" sz="1300" dirty="0"/>
          </a:p>
        </p:txBody>
      </p:sp>
      <p:sp>
        <p:nvSpPr>
          <p:cNvPr id="189" name="Text 187"/>
          <p:cNvSpPr txBox="1"/>
          <p:nvPr/>
        </p:nvSpPr>
        <p:spPr>
          <a:xfrm>
            <a:off x="9774936" y="5299456"/>
            <a:ext cx="987552" cy="221488"/>
          </a:xfrm>
          <a:prstGeom prst="rect">
            <a:avLst/>
          </a:prstGeom>
          <a:noFill/>
          <a:ln/>
        </p:spPr>
        <p:txBody>
          <a:bodyPr wrap="square" lIns="0" tIns="0" rIns="0" bIns="0" rtlCol="0" anchor="ctr"/>
          <a:lstStyle/>
          <a:p>
            <a:pPr algn="r" indent="0" marL="0">
              <a:buNone/>
            </a:pPr>
            <a:endParaRPr lang="en-US" sz="1300" dirty="0"/>
          </a:p>
        </p:txBody>
      </p:sp>
      <p:sp>
        <p:nvSpPr>
          <p:cNvPr id="190" name="Text 188"/>
          <p:cNvSpPr txBox="1"/>
          <p:nvPr/>
        </p:nvSpPr>
        <p:spPr>
          <a:xfrm>
            <a:off x="10762488" y="5299456"/>
            <a:ext cx="658368" cy="221488"/>
          </a:xfrm>
          <a:prstGeom prst="rect">
            <a:avLst/>
          </a:prstGeom>
          <a:noFill/>
          <a:ln/>
        </p:spPr>
        <p:txBody>
          <a:bodyPr wrap="square" lIns="0" tIns="0" rIns="0" bIns="0" rtlCol="0" anchor="ctr"/>
          <a:lstStyle/>
          <a:p>
            <a:pPr algn="r" indent="0" marL="0">
              <a:buNone/>
            </a:pPr>
            <a:endParaRPr lang="en-US" sz="1300" dirty="0"/>
          </a:p>
        </p:txBody>
      </p:sp>
      <p:sp>
        <p:nvSpPr>
          <p:cNvPr id="191" name="Shape 189"/>
          <p:cNvSpPr/>
          <p:nvPr/>
        </p:nvSpPr>
        <p:spPr>
          <a:xfrm>
            <a:off x="6035040" y="1371600"/>
            <a:ext cx="10973" cy="4370832"/>
          </a:xfrm>
          <a:prstGeom prst="rect">
            <a:avLst/>
          </a:prstGeom>
          <a:solidFill>
            <a:srgbClr val="D9D9D9"/>
          </a:solidFill>
          <a:ln/>
        </p:spPr>
      </p:sp>
      <p:sp>
        <p:nvSpPr>
          <p:cNvPr id="192" name="Shape 190"/>
          <p:cNvSpPr/>
          <p:nvPr/>
        </p:nvSpPr>
        <p:spPr>
          <a:xfrm>
            <a:off x="457200" y="5961888"/>
            <a:ext cx="11274552" cy="548640"/>
          </a:xfrm>
          <a:prstGeom prst="rect">
            <a:avLst/>
          </a:prstGeom>
          <a:solidFill>
            <a:srgbClr val="EDF4FA"/>
          </a:solidFill>
          <a:ln/>
        </p:spPr>
      </p:sp>
      <p:sp>
        <p:nvSpPr>
          <p:cNvPr id="193" name="Text 191"/>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17 stores price labor on a grid, 16 at a flat door rate. Hours-weighted door rate: $228.55 grid, $202.83 no grid.</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ELR % of Door Rate</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70078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7" name="Shape 5"/>
          <p:cNvSpPr/>
          <p:nvPr/>
        </p:nvSpPr>
        <p:spPr>
          <a:xfrm>
            <a:off x="2971800" y="1759682"/>
            <a:ext cx="1828800" cy="117796"/>
          </a:xfrm>
          <a:prstGeom prst="rect">
            <a:avLst/>
          </a:prstGeom>
          <a:solidFill>
            <a:srgbClr val="12A566"/>
          </a:solidFill>
          <a:ln/>
        </p:spPr>
      </p:sp>
      <p:sp>
        <p:nvSpPr>
          <p:cNvPr id="8" name="Text 6"/>
          <p:cNvSpPr txBox="1"/>
          <p:nvPr/>
        </p:nvSpPr>
        <p:spPr>
          <a:xfrm>
            <a:off x="4855464" y="1700784"/>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103.4%</a:t>
            </a:r>
            <a:endParaRPr lang="en-US" sz="1300" dirty="0"/>
          </a:p>
        </p:txBody>
      </p:sp>
      <p:sp>
        <p:nvSpPr>
          <p:cNvPr id="9" name="Text 7"/>
          <p:cNvSpPr txBox="1"/>
          <p:nvPr/>
        </p:nvSpPr>
        <p:spPr>
          <a:xfrm>
            <a:off x="658368" y="193637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10" name="Shape 8"/>
          <p:cNvSpPr/>
          <p:nvPr/>
        </p:nvSpPr>
        <p:spPr>
          <a:xfrm>
            <a:off x="2971800" y="1995275"/>
            <a:ext cx="1446306" cy="117796"/>
          </a:xfrm>
          <a:prstGeom prst="rect">
            <a:avLst/>
          </a:prstGeom>
          <a:solidFill>
            <a:srgbClr val="12A566"/>
          </a:solidFill>
          <a:ln/>
        </p:spPr>
      </p:sp>
      <p:sp>
        <p:nvSpPr>
          <p:cNvPr id="11" name="Text 9"/>
          <p:cNvSpPr txBox="1"/>
          <p:nvPr/>
        </p:nvSpPr>
        <p:spPr>
          <a:xfrm>
            <a:off x="4855464" y="1936376"/>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90.2%</a:t>
            </a:r>
            <a:endParaRPr lang="en-US" sz="1300" dirty="0"/>
          </a:p>
        </p:txBody>
      </p:sp>
      <p:sp>
        <p:nvSpPr>
          <p:cNvPr id="12" name="Text 10"/>
          <p:cNvSpPr txBox="1"/>
          <p:nvPr/>
        </p:nvSpPr>
        <p:spPr>
          <a:xfrm>
            <a:off x="658368" y="217196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13" name="Shape 11"/>
          <p:cNvSpPr/>
          <p:nvPr/>
        </p:nvSpPr>
        <p:spPr>
          <a:xfrm>
            <a:off x="2971800" y="2230867"/>
            <a:ext cx="1438649" cy="117796"/>
          </a:xfrm>
          <a:prstGeom prst="rect">
            <a:avLst/>
          </a:prstGeom>
          <a:solidFill>
            <a:srgbClr val="12A566"/>
          </a:solidFill>
          <a:ln/>
        </p:spPr>
      </p:sp>
      <p:sp>
        <p:nvSpPr>
          <p:cNvPr id="14" name="Text 12"/>
          <p:cNvSpPr txBox="1"/>
          <p:nvPr/>
        </p:nvSpPr>
        <p:spPr>
          <a:xfrm>
            <a:off x="4855464" y="2171969"/>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89.9%</a:t>
            </a:r>
            <a:endParaRPr lang="en-US" sz="1300" dirty="0"/>
          </a:p>
        </p:txBody>
      </p:sp>
      <p:sp>
        <p:nvSpPr>
          <p:cNvPr id="15" name="Text 13"/>
          <p:cNvSpPr txBox="1"/>
          <p:nvPr/>
        </p:nvSpPr>
        <p:spPr>
          <a:xfrm>
            <a:off x="658368" y="240756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16" name="Shape 14"/>
          <p:cNvSpPr/>
          <p:nvPr/>
        </p:nvSpPr>
        <p:spPr>
          <a:xfrm>
            <a:off x="2971800" y="2466460"/>
            <a:ext cx="1433426" cy="117796"/>
          </a:xfrm>
          <a:prstGeom prst="rect">
            <a:avLst/>
          </a:prstGeom>
          <a:solidFill>
            <a:srgbClr val="12A566"/>
          </a:solidFill>
          <a:ln/>
        </p:spPr>
      </p:sp>
      <p:sp>
        <p:nvSpPr>
          <p:cNvPr id="17" name="Text 15"/>
          <p:cNvSpPr txBox="1"/>
          <p:nvPr/>
        </p:nvSpPr>
        <p:spPr>
          <a:xfrm>
            <a:off x="4855464" y="2407561"/>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89.7%</a:t>
            </a:r>
            <a:endParaRPr lang="en-US" sz="1300" dirty="0"/>
          </a:p>
        </p:txBody>
      </p:sp>
      <p:sp>
        <p:nvSpPr>
          <p:cNvPr id="18" name="Text 16"/>
          <p:cNvSpPr txBox="1"/>
          <p:nvPr/>
        </p:nvSpPr>
        <p:spPr>
          <a:xfrm>
            <a:off x="658368" y="264315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19" name="Shape 17"/>
          <p:cNvSpPr/>
          <p:nvPr/>
        </p:nvSpPr>
        <p:spPr>
          <a:xfrm>
            <a:off x="2971800" y="2702052"/>
            <a:ext cx="1397196" cy="117796"/>
          </a:xfrm>
          <a:prstGeom prst="rect">
            <a:avLst/>
          </a:prstGeom>
          <a:solidFill>
            <a:srgbClr val="12A566"/>
          </a:solidFill>
          <a:ln/>
        </p:spPr>
      </p:sp>
      <p:sp>
        <p:nvSpPr>
          <p:cNvPr id="20" name="Text 18"/>
          <p:cNvSpPr txBox="1"/>
          <p:nvPr/>
        </p:nvSpPr>
        <p:spPr>
          <a:xfrm>
            <a:off x="4855464" y="2643154"/>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88.5%</a:t>
            </a:r>
            <a:endParaRPr lang="en-US" sz="1300" dirty="0"/>
          </a:p>
        </p:txBody>
      </p:sp>
      <p:sp>
        <p:nvSpPr>
          <p:cNvPr id="21" name="Text 19"/>
          <p:cNvSpPr txBox="1"/>
          <p:nvPr/>
        </p:nvSpPr>
        <p:spPr>
          <a:xfrm>
            <a:off x="658368" y="287874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22" name="Shape 20"/>
          <p:cNvSpPr/>
          <p:nvPr/>
        </p:nvSpPr>
        <p:spPr>
          <a:xfrm>
            <a:off x="2971800" y="2937644"/>
            <a:ext cx="1347014" cy="117796"/>
          </a:xfrm>
          <a:prstGeom prst="rect">
            <a:avLst/>
          </a:prstGeom>
          <a:solidFill>
            <a:srgbClr val="12A566"/>
          </a:solidFill>
          <a:ln/>
        </p:spPr>
      </p:sp>
      <p:sp>
        <p:nvSpPr>
          <p:cNvPr id="23" name="Text 21"/>
          <p:cNvSpPr txBox="1"/>
          <p:nvPr/>
        </p:nvSpPr>
        <p:spPr>
          <a:xfrm>
            <a:off x="4855464" y="2878746"/>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86.7%</a:t>
            </a:r>
            <a:endParaRPr lang="en-US" sz="1300" dirty="0"/>
          </a:p>
        </p:txBody>
      </p:sp>
      <p:sp>
        <p:nvSpPr>
          <p:cNvPr id="24" name="Text 22"/>
          <p:cNvSpPr txBox="1"/>
          <p:nvPr/>
        </p:nvSpPr>
        <p:spPr>
          <a:xfrm>
            <a:off x="658368" y="311433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25" name="Shape 23"/>
          <p:cNvSpPr/>
          <p:nvPr/>
        </p:nvSpPr>
        <p:spPr>
          <a:xfrm>
            <a:off x="2971800" y="3173237"/>
            <a:ext cx="1333990" cy="117796"/>
          </a:xfrm>
          <a:prstGeom prst="rect">
            <a:avLst/>
          </a:prstGeom>
          <a:solidFill>
            <a:srgbClr val="12A566"/>
          </a:solidFill>
          <a:ln/>
        </p:spPr>
      </p:sp>
      <p:sp>
        <p:nvSpPr>
          <p:cNvPr id="26" name="Text 24"/>
          <p:cNvSpPr txBox="1"/>
          <p:nvPr/>
        </p:nvSpPr>
        <p:spPr>
          <a:xfrm>
            <a:off x="4855464" y="3114339"/>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86.3%</a:t>
            </a:r>
            <a:endParaRPr lang="en-US" sz="1300" dirty="0"/>
          </a:p>
        </p:txBody>
      </p:sp>
      <p:sp>
        <p:nvSpPr>
          <p:cNvPr id="27" name="Text 25"/>
          <p:cNvSpPr txBox="1"/>
          <p:nvPr/>
        </p:nvSpPr>
        <p:spPr>
          <a:xfrm>
            <a:off x="658368" y="334993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28" name="Shape 26"/>
          <p:cNvSpPr/>
          <p:nvPr/>
        </p:nvSpPr>
        <p:spPr>
          <a:xfrm>
            <a:off x="2971800" y="3408829"/>
            <a:ext cx="1228076" cy="117796"/>
          </a:xfrm>
          <a:prstGeom prst="rect">
            <a:avLst/>
          </a:prstGeom>
          <a:solidFill>
            <a:srgbClr val="12A566"/>
          </a:solidFill>
          <a:ln/>
        </p:spPr>
      </p:sp>
      <p:sp>
        <p:nvSpPr>
          <p:cNvPr id="29" name="Text 27"/>
          <p:cNvSpPr txBox="1"/>
          <p:nvPr/>
        </p:nvSpPr>
        <p:spPr>
          <a:xfrm>
            <a:off x="4855464" y="3349931"/>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82.6%</a:t>
            </a:r>
            <a:endParaRPr lang="en-US" sz="1300" dirty="0"/>
          </a:p>
        </p:txBody>
      </p:sp>
      <p:sp>
        <p:nvSpPr>
          <p:cNvPr id="30" name="Text 28"/>
          <p:cNvSpPr txBox="1"/>
          <p:nvPr/>
        </p:nvSpPr>
        <p:spPr>
          <a:xfrm>
            <a:off x="658368" y="358552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31" name="Shape 29"/>
          <p:cNvSpPr/>
          <p:nvPr/>
        </p:nvSpPr>
        <p:spPr>
          <a:xfrm>
            <a:off x="2971800" y="3644422"/>
            <a:ext cx="1195346" cy="117796"/>
          </a:xfrm>
          <a:prstGeom prst="rect">
            <a:avLst/>
          </a:prstGeom>
          <a:solidFill>
            <a:srgbClr val="12A566"/>
          </a:solidFill>
          <a:ln/>
        </p:spPr>
      </p:sp>
      <p:sp>
        <p:nvSpPr>
          <p:cNvPr id="32" name="Text 30"/>
          <p:cNvSpPr txBox="1"/>
          <p:nvPr/>
        </p:nvSpPr>
        <p:spPr>
          <a:xfrm>
            <a:off x="4855464" y="3585524"/>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81.5%</a:t>
            </a:r>
            <a:endParaRPr lang="en-US" sz="1300" dirty="0"/>
          </a:p>
        </p:txBody>
      </p:sp>
      <p:sp>
        <p:nvSpPr>
          <p:cNvPr id="33" name="Text 31"/>
          <p:cNvSpPr txBox="1"/>
          <p:nvPr/>
        </p:nvSpPr>
        <p:spPr>
          <a:xfrm>
            <a:off x="658368" y="382111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34" name="Shape 32"/>
          <p:cNvSpPr/>
          <p:nvPr/>
        </p:nvSpPr>
        <p:spPr>
          <a:xfrm>
            <a:off x="2971800" y="3880014"/>
            <a:ext cx="1180380" cy="117796"/>
          </a:xfrm>
          <a:prstGeom prst="rect">
            <a:avLst/>
          </a:prstGeom>
          <a:solidFill>
            <a:srgbClr val="12A566"/>
          </a:solidFill>
          <a:ln/>
        </p:spPr>
      </p:sp>
      <p:sp>
        <p:nvSpPr>
          <p:cNvPr id="35" name="Text 33"/>
          <p:cNvSpPr txBox="1"/>
          <p:nvPr/>
        </p:nvSpPr>
        <p:spPr>
          <a:xfrm>
            <a:off x="4855464" y="3821116"/>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80.9%</a:t>
            </a:r>
            <a:endParaRPr lang="en-US" sz="1300" dirty="0"/>
          </a:p>
        </p:txBody>
      </p:sp>
      <p:sp>
        <p:nvSpPr>
          <p:cNvPr id="36" name="Text 34"/>
          <p:cNvSpPr txBox="1"/>
          <p:nvPr/>
        </p:nvSpPr>
        <p:spPr>
          <a:xfrm>
            <a:off x="658368" y="405670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37" name="Shape 35"/>
          <p:cNvSpPr/>
          <p:nvPr/>
        </p:nvSpPr>
        <p:spPr>
          <a:xfrm>
            <a:off x="2971800" y="4115607"/>
            <a:ext cx="1148734" cy="117796"/>
          </a:xfrm>
          <a:prstGeom prst="rect">
            <a:avLst/>
          </a:prstGeom>
          <a:solidFill>
            <a:srgbClr val="12A566"/>
          </a:solidFill>
          <a:ln/>
        </p:spPr>
      </p:sp>
      <p:sp>
        <p:nvSpPr>
          <p:cNvPr id="38" name="Text 36"/>
          <p:cNvSpPr txBox="1"/>
          <p:nvPr/>
        </p:nvSpPr>
        <p:spPr>
          <a:xfrm>
            <a:off x="4855464" y="4056709"/>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79.8%</a:t>
            </a:r>
            <a:endParaRPr lang="en-US" sz="1300" dirty="0"/>
          </a:p>
        </p:txBody>
      </p:sp>
      <p:sp>
        <p:nvSpPr>
          <p:cNvPr id="39" name="Text 37"/>
          <p:cNvSpPr txBox="1"/>
          <p:nvPr/>
        </p:nvSpPr>
        <p:spPr>
          <a:xfrm>
            <a:off x="658368" y="429230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40" name="Shape 38"/>
          <p:cNvSpPr/>
          <p:nvPr/>
        </p:nvSpPr>
        <p:spPr>
          <a:xfrm>
            <a:off x="2971800" y="4351199"/>
            <a:ext cx="1138233" cy="117796"/>
          </a:xfrm>
          <a:prstGeom prst="rect">
            <a:avLst/>
          </a:prstGeom>
          <a:solidFill>
            <a:srgbClr val="12A566"/>
          </a:solidFill>
          <a:ln/>
        </p:spPr>
      </p:sp>
      <p:sp>
        <p:nvSpPr>
          <p:cNvPr id="41" name="Text 39"/>
          <p:cNvSpPr txBox="1"/>
          <p:nvPr/>
        </p:nvSpPr>
        <p:spPr>
          <a:xfrm>
            <a:off x="4855464" y="4292301"/>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79.5%</a:t>
            </a:r>
            <a:endParaRPr lang="en-US" sz="1300" dirty="0"/>
          </a:p>
        </p:txBody>
      </p:sp>
      <p:sp>
        <p:nvSpPr>
          <p:cNvPr id="42" name="Text 40"/>
          <p:cNvSpPr txBox="1"/>
          <p:nvPr/>
        </p:nvSpPr>
        <p:spPr>
          <a:xfrm>
            <a:off x="658368" y="452789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43" name="Shape 41"/>
          <p:cNvSpPr/>
          <p:nvPr/>
        </p:nvSpPr>
        <p:spPr>
          <a:xfrm>
            <a:off x="2971800" y="4586792"/>
            <a:ext cx="1121572" cy="117796"/>
          </a:xfrm>
          <a:prstGeom prst="rect">
            <a:avLst/>
          </a:prstGeom>
          <a:solidFill>
            <a:srgbClr val="12A566"/>
          </a:solidFill>
          <a:ln/>
        </p:spPr>
      </p:sp>
      <p:sp>
        <p:nvSpPr>
          <p:cNvPr id="44" name="Text 42"/>
          <p:cNvSpPr txBox="1"/>
          <p:nvPr/>
        </p:nvSpPr>
        <p:spPr>
          <a:xfrm>
            <a:off x="4855464" y="4527894"/>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78.9%</a:t>
            </a:r>
            <a:endParaRPr lang="en-US" sz="1300" dirty="0"/>
          </a:p>
        </p:txBody>
      </p:sp>
      <p:sp>
        <p:nvSpPr>
          <p:cNvPr id="45" name="Text 43"/>
          <p:cNvSpPr txBox="1"/>
          <p:nvPr/>
        </p:nvSpPr>
        <p:spPr>
          <a:xfrm>
            <a:off x="658368" y="476348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46" name="Shape 44"/>
          <p:cNvSpPr/>
          <p:nvPr/>
        </p:nvSpPr>
        <p:spPr>
          <a:xfrm>
            <a:off x="2971800" y="4822384"/>
            <a:ext cx="1121425" cy="117796"/>
          </a:xfrm>
          <a:prstGeom prst="rect">
            <a:avLst/>
          </a:prstGeom>
          <a:solidFill>
            <a:srgbClr val="12A566"/>
          </a:solidFill>
          <a:ln/>
        </p:spPr>
      </p:sp>
      <p:sp>
        <p:nvSpPr>
          <p:cNvPr id="47" name="Text 45"/>
          <p:cNvSpPr txBox="1"/>
          <p:nvPr/>
        </p:nvSpPr>
        <p:spPr>
          <a:xfrm>
            <a:off x="4855464" y="4763486"/>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78.9%</a:t>
            </a:r>
            <a:endParaRPr lang="en-US" sz="1300" dirty="0"/>
          </a:p>
        </p:txBody>
      </p:sp>
      <p:sp>
        <p:nvSpPr>
          <p:cNvPr id="48" name="Text 46"/>
          <p:cNvSpPr txBox="1"/>
          <p:nvPr/>
        </p:nvSpPr>
        <p:spPr>
          <a:xfrm>
            <a:off x="658368" y="499907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49" name="Shape 47"/>
          <p:cNvSpPr/>
          <p:nvPr/>
        </p:nvSpPr>
        <p:spPr>
          <a:xfrm>
            <a:off x="2971800" y="5057977"/>
            <a:ext cx="1109101" cy="117796"/>
          </a:xfrm>
          <a:prstGeom prst="rect">
            <a:avLst/>
          </a:prstGeom>
          <a:solidFill>
            <a:srgbClr val="12A566"/>
          </a:solidFill>
          <a:ln/>
        </p:spPr>
      </p:sp>
      <p:sp>
        <p:nvSpPr>
          <p:cNvPr id="50" name="Text 48"/>
          <p:cNvSpPr txBox="1"/>
          <p:nvPr/>
        </p:nvSpPr>
        <p:spPr>
          <a:xfrm>
            <a:off x="4855464" y="4999079"/>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78.5%</a:t>
            </a:r>
            <a:endParaRPr lang="en-US" sz="1300" dirty="0"/>
          </a:p>
        </p:txBody>
      </p:sp>
      <p:sp>
        <p:nvSpPr>
          <p:cNvPr id="51" name="Text 49"/>
          <p:cNvSpPr txBox="1"/>
          <p:nvPr/>
        </p:nvSpPr>
        <p:spPr>
          <a:xfrm>
            <a:off x="658368" y="523467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52" name="Shape 50"/>
          <p:cNvSpPr/>
          <p:nvPr/>
        </p:nvSpPr>
        <p:spPr>
          <a:xfrm>
            <a:off x="2971800" y="5293569"/>
            <a:ext cx="1058530" cy="117796"/>
          </a:xfrm>
          <a:prstGeom prst="rect">
            <a:avLst/>
          </a:prstGeom>
          <a:solidFill>
            <a:srgbClr val="12A566"/>
          </a:solidFill>
          <a:ln/>
        </p:spPr>
      </p:sp>
      <p:sp>
        <p:nvSpPr>
          <p:cNvPr id="53" name="Text 51"/>
          <p:cNvSpPr txBox="1"/>
          <p:nvPr/>
        </p:nvSpPr>
        <p:spPr>
          <a:xfrm>
            <a:off x="4855464" y="5234671"/>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76.7%</a:t>
            </a:r>
            <a:endParaRPr lang="en-US" sz="1300" dirty="0"/>
          </a:p>
        </p:txBody>
      </p:sp>
      <p:sp>
        <p:nvSpPr>
          <p:cNvPr id="54" name="Text 52"/>
          <p:cNvSpPr txBox="1"/>
          <p:nvPr/>
        </p:nvSpPr>
        <p:spPr>
          <a:xfrm>
            <a:off x="658368" y="547026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55" name="Shape 53"/>
          <p:cNvSpPr/>
          <p:nvPr/>
        </p:nvSpPr>
        <p:spPr>
          <a:xfrm>
            <a:off x="2971800" y="5529162"/>
            <a:ext cx="1049894" cy="117796"/>
          </a:xfrm>
          <a:prstGeom prst="rect">
            <a:avLst/>
          </a:prstGeom>
          <a:solidFill>
            <a:srgbClr val="12A566"/>
          </a:solidFill>
          <a:ln/>
        </p:spPr>
      </p:sp>
      <p:sp>
        <p:nvSpPr>
          <p:cNvPr id="56" name="Text 54"/>
          <p:cNvSpPr txBox="1"/>
          <p:nvPr/>
        </p:nvSpPr>
        <p:spPr>
          <a:xfrm>
            <a:off x="4855464" y="5470264"/>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76.4%</a:t>
            </a:r>
            <a:endParaRPr lang="en-US" sz="1300" dirty="0"/>
          </a:p>
        </p:txBody>
      </p:sp>
      <p:sp>
        <p:nvSpPr>
          <p:cNvPr id="57" name="Text 55"/>
          <p:cNvSpPr txBox="1"/>
          <p:nvPr/>
        </p:nvSpPr>
        <p:spPr>
          <a:xfrm>
            <a:off x="6208776" y="170078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58" name="Shape 56"/>
          <p:cNvSpPr/>
          <p:nvPr/>
        </p:nvSpPr>
        <p:spPr>
          <a:xfrm>
            <a:off x="8522208" y="1759682"/>
            <a:ext cx="1020847" cy="117796"/>
          </a:xfrm>
          <a:prstGeom prst="rect">
            <a:avLst/>
          </a:prstGeom>
          <a:solidFill>
            <a:srgbClr val="12A566"/>
          </a:solidFill>
          <a:ln/>
        </p:spPr>
      </p:sp>
      <p:sp>
        <p:nvSpPr>
          <p:cNvPr id="59" name="Text 57"/>
          <p:cNvSpPr txBox="1"/>
          <p:nvPr/>
        </p:nvSpPr>
        <p:spPr>
          <a:xfrm>
            <a:off x="10405872" y="1700784"/>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75.4%</a:t>
            </a:r>
            <a:endParaRPr lang="en-US" sz="1300" dirty="0"/>
          </a:p>
        </p:txBody>
      </p:sp>
      <p:sp>
        <p:nvSpPr>
          <p:cNvPr id="60" name="Text 58"/>
          <p:cNvSpPr txBox="1"/>
          <p:nvPr/>
        </p:nvSpPr>
        <p:spPr>
          <a:xfrm>
            <a:off x="6208776" y="193637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61" name="Shape 59"/>
          <p:cNvSpPr/>
          <p:nvPr/>
        </p:nvSpPr>
        <p:spPr>
          <a:xfrm>
            <a:off x="8522208" y="1995275"/>
            <a:ext cx="1015981" cy="117796"/>
          </a:xfrm>
          <a:prstGeom prst="rect">
            <a:avLst/>
          </a:prstGeom>
          <a:solidFill>
            <a:srgbClr val="12A566"/>
          </a:solidFill>
          <a:ln/>
        </p:spPr>
      </p:sp>
      <p:sp>
        <p:nvSpPr>
          <p:cNvPr id="62" name="Text 60"/>
          <p:cNvSpPr txBox="1"/>
          <p:nvPr/>
        </p:nvSpPr>
        <p:spPr>
          <a:xfrm>
            <a:off x="10405872" y="1936376"/>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75.2%</a:t>
            </a:r>
            <a:endParaRPr lang="en-US" sz="1300" dirty="0"/>
          </a:p>
        </p:txBody>
      </p:sp>
      <p:sp>
        <p:nvSpPr>
          <p:cNvPr id="63" name="Text 61"/>
          <p:cNvSpPr txBox="1"/>
          <p:nvPr/>
        </p:nvSpPr>
        <p:spPr>
          <a:xfrm>
            <a:off x="6208776" y="217196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64" name="Shape 62"/>
          <p:cNvSpPr/>
          <p:nvPr/>
        </p:nvSpPr>
        <p:spPr>
          <a:xfrm>
            <a:off x="8522208" y="2230867"/>
            <a:ext cx="1010910" cy="117796"/>
          </a:xfrm>
          <a:prstGeom prst="rect">
            <a:avLst/>
          </a:prstGeom>
          <a:solidFill>
            <a:srgbClr val="12A566"/>
          </a:solidFill>
          <a:ln/>
        </p:spPr>
      </p:sp>
      <p:sp>
        <p:nvSpPr>
          <p:cNvPr id="65" name="Text 63"/>
          <p:cNvSpPr txBox="1"/>
          <p:nvPr/>
        </p:nvSpPr>
        <p:spPr>
          <a:xfrm>
            <a:off x="10405872" y="2171969"/>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75.1%</a:t>
            </a:r>
            <a:endParaRPr lang="en-US" sz="1300" dirty="0"/>
          </a:p>
        </p:txBody>
      </p:sp>
      <p:sp>
        <p:nvSpPr>
          <p:cNvPr id="66" name="Text 64"/>
          <p:cNvSpPr txBox="1"/>
          <p:nvPr/>
        </p:nvSpPr>
        <p:spPr>
          <a:xfrm>
            <a:off x="6208776" y="240756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67" name="Shape 65"/>
          <p:cNvSpPr/>
          <p:nvPr/>
        </p:nvSpPr>
        <p:spPr>
          <a:xfrm>
            <a:off x="8522208" y="2466460"/>
            <a:ext cx="1008228" cy="117796"/>
          </a:xfrm>
          <a:prstGeom prst="rect">
            <a:avLst/>
          </a:prstGeom>
          <a:solidFill>
            <a:srgbClr val="12A566"/>
          </a:solidFill>
          <a:ln/>
        </p:spPr>
      </p:sp>
      <p:sp>
        <p:nvSpPr>
          <p:cNvPr id="68" name="Text 66"/>
          <p:cNvSpPr txBox="1"/>
          <p:nvPr/>
        </p:nvSpPr>
        <p:spPr>
          <a:xfrm>
            <a:off x="10405872" y="2407561"/>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75.0%</a:t>
            </a:r>
            <a:endParaRPr lang="en-US" sz="1300" dirty="0"/>
          </a:p>
        </p:txBody>
      </p:sp>
      <p:sp>
        <p:nvSpPr>
          <p:cNvPr id="69" name="Shape 67"/>
          <p:cNvSpPr/>
          <p:nvPr/>
        </p:nvSpPr>
        <p:spPr>
          <a:xfrm>
            <a:off x="6135624" y="2638582"/>
            <a:ext cx="5413248" cy="226448"/>
          </a:xfrm>
          <a:prstGeom prst="rect">
            <a:avLst/>
          </a:prstGeom>
          <a:solidFill>
            <a:srgbClr val="EDF4FA"/>
          </a:solidFill>
          <a:ln/>
        </p:spPr>
      </p:sp>
      <p:sp>
        <p:nvSpPr>
          <p:cNvPr id="70" name="Text 68"/>
          <p:cNvSpPr txBox="1"/>
          <p:nvPr/>
        </p:nvSpPr>
        <p:spPr>
          <a:xfrm>
            <a:off x="6208776" y="2643154"/>
            <a:ext cx="2240280" cy="235592"/>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GROUP</a:t>
            </a:r>
            <a:endParaRPr lang="en-US" sz="1300" dirty="0"/>
          </a:p>
        </p:txBody>
      </p:sp>
      <p:sp>
        <p:nvSpPr>
          <p:cNvPr id="71" name="Shape 69"/>
          <p:cNvSpPr/>
          <p:nvPr/>
        </p:nvSpPr>
        <p:spPr>
          <a:xfrm>
            <a:off x="8522208" y="2702052"/>
            <a:ext cx="1002151" cy="117796"/>
          </a:xfrm>
          <a:prstGeom prst="rect">
            <a:avLst/>
          </a:prstGeom>
          <a:solidFill>
            <a:srgbClr val="0B2C4A"/>
          </a:solidFill>
          <a:ln/>
        </p:spPr>
      </p:sp>
      <p:sp>
        <p:nvSpPr>
          <p:cNvPr id="72" name="Text 70"/>
          <p:cNvSpPr txBox="1"/>
          <p:nvPr/>
        </p:nvSpPr>
        <p:spPr>
          <a:xfrm>
            <a:off x="10405872" y="2643154"/>
            <a:ext cx="1088136" cy="23559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74.7%</a:t>
            </a:r>
            <a:endParaRPr lang="en-US" sz="1300" dirty="0"/>
          </a:p>
        </p:txBody>
      </p:sp>
      <p:sp>
        <p:nvSpPr>
          <p:cNvPr id="73" name="Text 71"/>
          <p:cNvSpPr txBox="1"/>
          <p:nvPr/>
        </p:nvSpPr>
        <p:spPr>
          <a:xfrm>
            <a:off x="6208776" y="287874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74" name="Shape 72"/>
          <p:cNvSpPr/>
          <p:nvPr/>
        </p:nvSpPr>
        <p:spPr>
          <a:xfrm>
            <a:off x="8522208" y="2937644"/>
            <a:ext cx="976219" cy="117796"/>
          </a:xfrm>
          <a:prstGeom prst="rect">
            <a:avLst/>
          </a:prstGeom>
          <a:solidFill>
            <a:srgbClr val="12A566"/>
          </a:solidFill>
          <a:ln/>
        </p:spPr>
      </p:sp>
      <p:sp>
        <p:nvSpPr>
          <p:cNvPr id="75" name="Text 73"/>
          <p:cNvSpPr txBox="1"/>
          <p:nvPr/>
        </p:nvSpPr>
        <p:spPr>
          <a:xfrm>
            <a:off x="10405872" y="2878746"/>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73.8%</a:t>
            </a:r>
            <a:endParaRPr lang="en-US" sz="1300" dirty="0"/>
          </a:p>
        </p:txBody>
      </p:sp>
      <p:sp>
        <p:nvSpPr>
          <p:cNvPr id="76" name="Text 74"/>
          <p:cNvSpPr txBox="1"/>
          <p:nvPr/>
        </p:nvSpPr>
        <p:spPr>
          <a:xfrm>
            <a:off x="6208776" y="311433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77" name="Shape 75"/>
          <p:cNvSpPr/>
          <p:nvPr/>
        </p:nvSpPr>
        <p:spPr>
          <a:xfrm>
            <a:off x="8522208" y="3173237"/>
            <a:ext cx="954948" cy="117796"/>
          </a:xfrm>
          <a:prstGeom prst="rect">
            <a:avLst/>
          </a:prstGeom>
          <a:solidFill>
            <a:srgbClr val="12A566"/>
          </a:solidFill>
          <a:ln/>
        </p:spPr>
      </p:sp>
      <p:sp>
        <p:nvSpPr>
          <p:cNvPr id="78" name="Text 76"/>
          <p:cNvSpPr txBox="1"/>
          <p:nvPr/>
        </p:nvSpPr>
        <p:spPr>
          <a:xfrm>
            <a:off x="10405872" y="3114339"/>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73.1%</a:t>
            </a:r>
            <a:endParaRPr lang="en-US" sz="1300" dirty="0"/>
          </a:p>
        </p:txBody>
      </p:sp>
      <p:sp>
        <p:nvSpPr>
          <p:cNvPr id="79" name="Text 77"/>
          <p:cNvSpPr txBox="1"/>
          <p:nvPr/>
        </p:nvSpPr>
        <p:spPr>
          <a:xfrm>
            <a:off x="6208776" y="334993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80" name="Shape 78"/>
          <p:cNvSpPr/>
          <p:nvPr/>
        </p:nvSpPr>
        <p:spPr>
          <a:xfrm>
            <a:off x="8522208" y="3408829"/>
            <a:ext cx="933949" cy="117796"/>
          </a:xfrm>
          <a:prstGeom prst="rect">
            <a:avLst/>
          </a:prstGeom>
          <a:solidFill>
            <a:srgbClr val="12A566"/>
          </a:solidFill>
          <a:ln/>
        </p:spPr>
      </p:sp>
      <p:sp>
        <p:nvSpPr>
          <p:cNvPr id="81" name="Text 79"/>
          <p:cNvSpPr txBox="1"/>
          <p:nvPr/>
        </p:nvSpPr>
        <p:spPr>
          <a:xfrm>
            <a:off x="10405872" y="3349931"/>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72.4%</a:t>
            </a:r>
            <a:endParaRPr lang="en-US" sz="1300" dirty="0"/>
          </a:p>
        </p:txBody>
      </p:sp>
      <p:sp>
        <p:nvSpPr>
          <p:cNvPr id="82" name="Text 80"/>
          <p:cNvSpPr txBox="1"/>
          <p:nvPr/>
        </p:nvSpPr>
        <p:spPr>
          <a:xfrm>
            <a:off x="6208776" y="358552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83" name="Shape 81"/>
          <p:cNvSpPr/>
          <p:nvPr/>
        </p:nvSpPr>
        <p:spPr>
          <a:xfrm>
            <a:off x="8522208" y="3644422"/>
            <a:ext cx="882890" cy="117796"/>
          </a:xfrm>
          <a:prstGeom prst="rect">
            <a:avLst/>
          </a:prstGeom>
          <a:solidFill>
            <a:srgbClr val="12A566"/>
          </a:solidFill>
          <a:ln/>
        </p:spPr>
      </p:sp>
      <p:sp>
        <p:nvSpPr>
          <p:cNvPr id="84" name="Text 82"/>
          <p:cNvSpPr txBox="1"/>
          <p:nvPr/>
        </p:nvSpPr>
        <p:spPr>
          <a:xfrm>
            <a:off x="10405872" y="3585524"/>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70.6%</a:t>
            </a:r>
            <a:endParaRPr lang="en-US" sz="1300" dirty="0"/>
          </a:p>
        </p:txBody>
      </p:sp>
      <p:sp>
        <p:nvSpPr>
          <p:cNvPr id="85" name="Text 83"/>
          <p:cNvSpPr txBox="1"/>
          <p:nvPr/>
        </p:nvSpPr>
        <p:spPr>
          <a:xfrm>
            <a:off x="6208776" y="382111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86" name="Shape 84"/>
          <p:cNvSpPr/>
          <p:nvPr/>
        </p:nvSpPr>
        <p:spPr>
          <a:xfrm>
            <a:off x="8522208" y="3880014"/>
            <a:ext cx="822290" cy="117796"/>
          </a:xfrm>
          <a:prstGeom prst="rect">
            <a:avLst/>
          </a:prstGeom>
          <a:solidFill>
            <a:srgbClr val="C2352F"/>
          </a:solidFill>
          <a:ln/>
        </p:spPr>
      </p:sp>
      <p:sp>
        <p:nvSpPr>
          <p:cNvPr id="87" name="Text 85"/>
          <p:cNvSpPr txBox="1"/>
          <p:nvPr/>
        </p:nvSpPr>
        <p:spPr>
          <a:xfrm>
            <a:off x="10405872" y="3821116"/>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68.5%</a:t>
            </a:r>
            <a:endParaRPr lang="en-US" sz="1300" dirty="0"/>
          </a:p>
        </p:txBody>
      </p:sp>
      <p:sp>
        <p:nvSpPr>
          <p:cNvPr id="88" name="Text 86"/>
          <p:cNvSpPr txBox="1"/>
          <p:nvPr/>
        </p:nvSpPr>
        <p:spPr>
          <a:xfrm>
            <a:off x="6208776" y="405670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89" name="Shape 87"/>
          <p:cNvSpPr/>
          <p:nvPr/>
        </p:nvSpPr>
        <p:spPr>
          <a:xfrm>
            <a:off x="8522208" y="4115607"/>
            <a:ext cx="814780" cy="117796"/>
          </a:xfrm>
          <a:prstGeom prst="rect">
            <a:avLst/>
          </a:prstGeom>
          <a:solidFill>
            <a:srgbClr val="C2352F"/>
          </a:solidFill>
          <a:ln/>
        </p:spPr>
      </p:sp>
      <p:sp>
        <p:nvSpPr>
          <p:cNvPr id="90" name="Text 88"/>
          <p:cNvSpPr txBox="1"/>
          <p:nvPr/>
        </p:nvSpPr>
        <p:spPr>
          <a:xfrm>
            <a:off x="10405872" y="4056709"/>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68.2%</a:t>
            </a:r>
            <a:endParaRPr lang="en-US" sz="1300" dirty="0"/>
          </a:p>
        </p:txBody>
      </p:sp>
      <p:sp>
        <p:nvSpPr>
          <p:cNvPr id="91" name="Text 89"/>
          <p:cNvSpPr txBox="1"/>
          <p:nvPr/>
        </p:nvSpPr>
        <p:spPr>
          <a:xfrm>
            <a:off x="6208776" y="429230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92" name="Shape 90"/>
          <p:cNvSpPr/>
          <p:nvPr/>
        </p:nvSpPr>
        <p:spPr>
          <a:xfrm>
            <a:off x="8522208" y="4351199"/>
            <a:ext cx="792761" cy="117796"/>
          </a:xfrm>
          <a:prstGeom prst="rect">
            <a:avLst/>
          </a:prstGeom>
          <a:solidFill>
            <a:srgbClr val="C2352F"/>
          </a:solidFill>
          <a:ln/>
        </p:spPr>
      </p:sp>
      <p:sp>
        <p:nvSpPr>
          <p:cNvPr id="93" name="Text 91"/>
          <p:cNvSpPr txBox="1"/>
          <p:nvPr/>
        </p:nvSpPr>
        <p:spPr>
          <a:xfrm>
            <a:off x="10405872" y="4292301"/>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67.5%</a:t>
            </a:r>
            <a:endParaRPr lang="en-US" sz="1300" dirty="0"/>
          </a:p>
        </p:txBody>
      </p:sp>
      <p:sp>
        <p:nvSpPr>
          <p:cNvPr id="94" name="Text 92"/>
          <p:cNvSpPr txBox="1"/>
          <p:nvPr/>
        </p:nvSpPr>
        <p:spPr>
          <a:xfrm>
            <a:off x="6208776" y="452789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95" name="Shape 93"/>
          <p:cNvSpPr/>
          <p:nvPr/>
        </p:nvSpPr>
        <p:spPr>
          <a:xfrm>
            <a:off x="8522208" y="4586792"/>
            <a:ext cx="771374" cy="117796"/>
          </a:xfrm>
          <a:prstGeom prst="rect">
            <a:avLst/>
          </a:prstGeom>
          <a:solidFill>
            <a:srgbClr val="C2352F"/>
          </a:solidFill>
          <a:ln/>
        </p:spPr>
      </p:sp>
      <p:sp>
        <p:nvSpPr>
          <p:cNvPr id="96" name="Text 94"/>
          <p:cNvSpPr txBox="1"/>
          <p:nvPr/>
        </p:nvSpPr>
        <p:spPr>
          <a:xfrm>
            <a:off x="10405872" y="452789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66.7%</a:t>
            </a:r>
            <a:endParaRPr lang="en-US" sz="1300" dirty="0"/>
          </a:p>
        </p:txBody>
      </p:sp>
      <p:sp>
        <p:nvSpPr>
          <p:cNvPr id="97" name="Text 95"/>
          <p:cNvSpPr txBox="1"/>
          <p:nvPr/>
        </p:nvSpPr>
        <p:spPr>
          <a:xfrm>
            <a:off x="6208776" y="476348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98" name="Shape 96"/>
          <p:cNvSpPr/>
          <p:nvPr/>
        </p:nvSpPr>
        <p:spPr>
          <a:xfrm>
            <a:off x="8522208" y="4822384"/>
            <a:ext cx="765356" cy="117796"/>
          </a:xfrm>
          <a:prstGeom prst="rect">
            <a:avLst/>
          </a:prstGeom>
          <a:solidFill>
            <a:srgbClr val="C2352F"/>
          </a:solidFill>
          <a:ln/>
        </p:spPr>
      </p:sp>
      <p:sp>
        <p:nvSpPr>
          <p:cNvPr id="99" name="Text 97"/>
          <p:cNvSpPr txBox="1"/>
          <p:nvPr/>
        </p:nvSpPr>
        <p:spPr>
          <a:xfrm>
            <a:off x="10405872" y="4763486"/>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66.5%</a:t>
            </a:r>
            <a:endParaRPr lang="en-US" sz="1300" dirty="0"/>
          </a:p>
        </p:txBody>
      </p:sp>
      <p:sp>
        <p:nvSpPr>
          <p:cNvPr id="100" name="Text 98"/>
          <p:cNvSpPr txBox="1"/>
          <p:nvPr/>
        </p:nvSpPr>
        <p:spPr>
          <a:xfrm>
            <a:off x="6208776" y="499907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101" name="Shape 99"/>
          <p:cNvSpPr/>
          <p:nvPr/>
        </p:nvSpPr>
        <p:spPr>
          <a:xfrm>
            <a:off x="8522208" y="5057977"/>
            <a:ext cx="721038" cy="117796"/>
          </a:xfrm>
          <a:prstGeom prst="rect">
            <a:avLst/>
          </a:prstGeom>
          <a:solidFill>
            <a:srgbClr val="C2352F"/>
          </a:solidFill>
          <a:ln/>
        </p:spPr>
      </p:sp>
      <p:sp>
        <p:nvSpPr>
          <p:cNvPr id="102" name="Text 100"/>
          <p:cNvSpPr txBox="1"/>
          <p:nvPr/>
        </p:nvSpPr>
        <p:spPr>
          <a:xfrm>
            <a:off x="10405872" y="4999079"/>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65.0%</a:t>
            </a:r>
            <a:endParaRPr lang="en-US" sz="1300" dirty="0"/>
          </a:p>
        </p:txBody>
      </p:sp>
      <p:sp>
        <p:nvSpPr>
          <p:cNvPr id="103" name="Text 101"/>
          <p:cNvSpPr txBox="1"/>
          <p:nvPr/>
        </p:nvSpPr>
        <p:spPr>
          <a:xfrm>
            <a:off x="6208776" y="523467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04" name="Shape 102"/>
          <p:cNvSpPr/>
          <p:nvPr/>
        </p:nvSpPr>
        <p:spPr>
          <a:xfrm>
            <a:off x="8522208" y="5293569"/>
            <a:ext cx="714836" cy="117796"/>
          </a:xfrm>
          <a:prstGeom prst="rect">
            <a:avLst/>
          </a:prstGeom>
          <a:solidFill>
            <a:srgbClr val="C2352F"/>
          </a:solidFill>
          <a:ln/>
        </p:spPr>
      </p:sp>
      <p:sp>
        <p:nvSpPr>
          <p:cNvPr id="105" name="Text 103"/>
          <p:cNvSpPr txBox="1"/>
          <p:nvPr/>
        </p:nvSpPr>
        <p:spPr>
          <a:xfrm>
            <a:off x="10405872" y="5234671"/>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64.8%</a:t>
            </a:r>
            <a:endParaRPr lang="en-US" sz="1300" dirty="0"/>
          </a:p>
        </p:txBody>
      </p:sp>
      <p:sp>
        <p:nvSpPr>
          <p:cNvPr id="106" name="Text 104"/>
          <p:cNvSpPr txBox="1"/>
          <p:nvPr/>
        </p:nvSpPr>
        <p:spPr>
          <a:xfrm>
            <a:off x="6208776" y="547026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107" name="Shape 105"/>
          <p:cNvSpPr/>
          <p:nvPr/>
        </p:nvSpPr>
        <p:spPr>
          <a:xfrm>
            <a:off x="8522208" y="5529162"/>
            <a:ext cx="621227" cy="117796"/>
          </a:xfrm>
          <a:prstGeom prst="rect">
            <a:avLst/>
          </a:prstGeom>
          <a:solidFill>
            <a:srgbClr val="C2352F"/>
          </a:solidFill>
          <a:ln/>
        </p:spPr>
      </p:sp>
      <p:sp>
        <p:nvSpPr>
          <p:cNvPr id="108" name="Text 106"/>
          <p:cNvSpPr txBox="1"/>
          <p:nvPr/>
        </p:nvSpPr>
        <p:spPr>
          <a:xfrm>
            <a:off x="10405872" y="547026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61.5%</a:t>
            </a:r>
            <a:endParaRPr lang="en-US" sz="1300" dirty="0"/>
          </a:p>
        </p:txBody>
      </p:sp>
      <p:sp>
        <p:nvSpPr>
          <p:cNvPr id="109" name="Shape 107"/>
          <p:cNvSpPr/>
          <p:nvPr/>
        </p:nvSpPr>
        <p:spPr>
          <a:xfrm>
            <a:off x="3828503" y="1700784"/>
            <a:ext cx="14630" cy="4005072"/>
          </a:xfrm>
          <a:prstGeom prst="rect">
            <a:avLst/>
          </a:prstGeom>
          <a:solidFill>
            <a:srgbClr val="0B2C4A"/>
          </a:solidFill>
          <a:ln/>
        </p:spPr>
      </p:sp>
      <p:sp>
        <p:nvSpPr>
          <p:cNvPr id="110" name="Text 108"/>
          <p:cNvSpPr txBox="1"/>
          <p:nvPr/>
        </p:nvSpPr>
        <p:spPr>
          <a:xfrm>
            <a:off x="2464219" y="1316736"/>
            <a:ext cx="2743200" cy="292608"/>
          </a:xfrm>
          <a:prstGeom prst="rect">
            <a:avLst/>
          </a:prstGeom>
          <a:noFill/>
          <a:ln/>
        </p:spPr>
        <p:txBody>
          <a:bodyPr wrap="square" lIns="0" tIns="0" rIns="0" bIns="0" rtlCol="0" anchor="ctr"/>
          <a:lstStyle/>
          <a:p>
            <a:pPr algn="ctr" indent="0" marL="0">
              <a:buNone/>
            </a:pPr>
            <a:r>
              <a:rPr lang="en-US" sz="1400" b="1" spc="90" kern="0" dirty="0">
                <a:solidFill>
                  <a:srgbClr val="0B2C4A"/>
                </a:solidFill>
                <a:latin typeface="Inter" pitchFamily="34" charset="0"/>
                <a:ea typeface="Inter" pitchFamily="34" charset="-122"/>
                <a:cs typeface="Inter" pitchFamily="34" charset="-120"/>
              </a:rPr>
              <a:t>BENCHMARK 70.0%</a:t>
            </a:r>
            <a:endParaRPr lang="en-US" sz="1400" dirty="0"/>
          </a:p>
        </p:txBody>
      </p:sp>
      <p:sp>
        <p:nvSpPr>
          <p:cNvPr id="111" name="Shape 109"/>
          <p:cNvSpPr/>
          <p:nvPr/>
        </p:nvSpPr>
        <p:spPr>
          <a:xfrm>
            <a:off x="9378911" y="1700784"/>
            <a:ext cx="14630" cy="4005072"/>
          </a:xfrm>
          <a:prstGeom prst="rect">
            <a:avLst/>
          </a:prstGeom>
          <a:solidFill>
            <a:srgbClr val="0B2C4A"/>
          </a:solidFill>
          <a:ln/>
        </p:spPr>
      </p:sp>
      <p:sp>
        <p:nvSpPr>
          <p:cNvPr id="112" name="Text 110"/>
          <p:cNvSpPr txBox="1"/>
          <p:nvPr/>
        </p:nvSpPr>
        <p:spPr>
          <a:xfrm>
            <a:off x="8014627" y="1316736"/>
            <a:ext cx="2743200" cy="292608"/>
          </a:xfrm>
          <a:prstGeom prst="rect">
            <a:avLst/>
          </a:prstGeom>
          <a:noFill/>
          <a:ln/>
        </p:spPr>
        <p:txBody>
          <a:bodyPr wrap="square" lIns="0" tIns="0" rIns="0" bIns="0" rtlCol="0" anchor="ctr"/>
          <a:lstStyle/>
          <a:p>
            <a:pPr algn="ctr" indent="0" marL="0">
              <a:buNone/>
            </a:pPr>
            <a:r>
              <a:rPr lang="en-US" sz="1400" b="1" spc="90" kern="0" dirty="0">
                <a:solidFill>
                  <a:srgbClr val="0B2C4A"/>
                </a:solidFill>
                <a:latin typeface="Inter" pitchFamily="34" charset="0"/>
                <a:ea typeface="Inter" pitchFamily="34" charset="-122"/>
                <a:cs typeface="Inter" pitchFamily="34" charset="-120"/>
              </a:rPr>
              <a:t>BENCHMARK 70.0%</a:t>
            </a:r>
            <a:endParaRPr lang="en-US" sz="1400" dirty="0"/>
          </a:p>
        </p:txBody>
      </p:sp>
      <p:sp>
        <p:nvSpPr>
          <p:cNvPr id="113" name="Shape 111"/>
          <p:cNvSpPr/>
          <p:nvPr/>
        </p:nvSpPr>
        <p:spPr>
          <a:xfrm>
            <a:off x="457200" y="5961888"/>
            <a:ext cx="11274552" cy="548640"/>
          </a:xfrm>
          <a:prstGeom prst="rect">
            <a:avLst/>
          </a:prstGeom>
          <a:solidFill>
            <a:srgbClr val="EDF4FA"/>
          </a:solidFill>
          <a:ln/>
        </p:spPr>
      </p:sp>
      <p:sp>
        <p:nvSpPr>
          <p:cNvPr id="114" name="Text 112"/>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Jul–Sep: 25 of 33 stores realize at least 70% of door rate; the group is at 74.7%. AUDI RENO leads at 103.4%; CADILLAC is lowest at 61.5%.</a:t>
            </a:r>
            <a:endParaRPr lang="en-US" sz="1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ELR % of Door Rate</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700784"/>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7" name="Shape 5"/>
          <p:cNvSpPr/>
          <p:nvPr/>
        </p:nvSpPr>
        <p:spPr>
          <a:xfrm>
            <a:off x="2670048" y="1759682"/>
            <a:ext cx="841248" cy="117796"/>
          </a:xfrm>
          <a:prstGeom prst="rect">
            <a:avLst/>
          </a:prstGeom>
          <a:solidFill>
            <a:srgbClr val="12A566"/>
          </a:solidFill>
          <a:ln/>
        </p:spPr>
      </p:sp>
      <p:sp>
        <p:nvSpPr>
          <p:cNvPr id="8" name="Text 6"/>
          <p:cNvSpPr txBox="1"/>
          <p:nvPr/>
        </p:nvSpPr>
        <p:spPr>
          <a:xfrm>
            <a:off x="3566160" y="1700784"/>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103.4%</a:t>
            </a:r>
            <a:endParaRPr lang="en-US" sz="1300" dirty="0"/>
          </a:p>
        </p:txBody>
      </p:sp>
      <p:sp>
        <p:nvSpPr>
          <p:cNvPr id="9" name="Text 7"/>
          <p:cNvSpPr txBox="1"/>
          <p:nvPr/>
        </p:nvSpPr>
        <p:spPr>
          <a:xfrm>
            <a:off x="4242816" y="170078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$244.12</a:t>
            </a:r>
            <a:endParaRPr lang="en-US" sz="1300" dirty="0"/>
          </a:p>
        </p:txBody>
      </p:sp>
      <p:sp>
        <p:nvSpPr>
          <p:cNvPr id="10" name="Text 8"/>
          <p:cNvSpPr txBox="1"/>
          <p:nvPr/>
        </p:nvSpPr>
        <p:spPr>
          <a:xfrm>
            <a:off x="5029200" y="170078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$235.87</a:t>
            </a:r>
            <a:endParaRPr lang="en-US" sz="1300" dirty="0"/>
          </a:p>
        </p:txBody>
      </p:sp>
      <p:sp>
        <p:nvSpPr>
          <p:cNvPr id="11" name="Text 9"/>
          <p:cNvSpPr txBox="1"/>
          <p:nvPr/>
        </p:nvSpPr>
        <p:spPr>
          <a:xfrm>
            <a:off x="658368" y="1936376"/>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12" name="Shape 10"/>
          <p:cNvSpPr/>
          <p:nvPr/>
        </p:nvSpPr>
        <p:spPr>
          <a:xfrm>
            <a:off x="2670048" y="1995275"/>
            <a:ext cx="665301" cy="117796"/>
          </a:xfrm>
          <a:prstGeom prst="rect">
            <a:avLst/>
          </a:prstGeom>
          <a:solidFill>
            <a:srgbClr val="12A566"/>
          </a:solidFill>
          <a:ln/>
        </p:spPr>
      </p:sp>
      <p:sp>
        <p:nvSpPr>
          <p:cNvPr id="13" name="Text 11"/>
          <p:cNvSpPr txBox="1"/>
          <p:nvPr/>
        </p:nvSpPr>
        <p:spPr>
          <a:xfrm>
            <a:off x="3566160" y="1936376"/>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90.2%</a:t>
            </a:r>
            <a:endParaRPr lang="en-US" sz="1300" dirty="0"/>
          </a:p>
        </p:txBody>
      </p:sp>
      <p:sp>
        <p:nvSpPr>
          <p:cNvPr id="14" name="Text 12"/>
          <p:cNvSpPr txBox="1"/>
          <p:nvPr/>
        </p:nvSpPr>
        <p:spPr>
          <a:xfrm>
            <a:off x="4242816" y="193637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$225.50</a:t>
            </a:r>
            <a:endParaRPr lang="en-US" sz="1300" dirty="0"/>
          </a:p>
        </p:txBody>
      </p:sp>
      <p:sp>
        <p:nvSpPr>
          <p:cNvPr id="15" name="Text 13"/>
          <p:cNvSpPr txBox="1"/>
          <p:nvPr/>
        </p:nvSpPr>
        <p:spPr>
          <a:xfrm>
            <a:off x="5029200" y="193637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$249.95</a:t>
            </a:r>
            <a:endParaRPr lang="en-US" sz="1300" dirty="0"/>
          </a:p>
        </p:txBody>
      </p:sp>
      <p:sp>
        <p:nvSpPr>
          <p:cNvPr id="16" name="Text 14"/>
          <p:cNvSpPr txBox="1"/>
          <p:nvPr/>
        </p:nvSpPr>
        <p:spPr>
          <a:xfrm>
            <a:off x="658368" y="2171969"/>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17" name="Shape 15"/>
          <p:cNvSpPr/>
          <p:nvPr/>
        </p:nvSpPr>
        <p:spPr>
          <a:xfrm>
            <a:off x="2670048" y="2230867"/>
            <a:ext cx="661778" cy="117796"/>
          </a:xfrm>
          <a:prstGeom prst="rect">
            <a:avLst/>
          </a:prstGeom>
          <a:solidFill>
            <a:srgbClr val="12A566"/>
          </a:solidFill>
          <a:ln/>
        </p:spPr>
      </p:sp>
      <p:sp>
        <p:nvSpPr>
          <p:cNvPr id="18" name="Text 16"/>
          <p:cNvSpPr txBox="1"/>
          <p:nvPr/>
        </p:nvSpPr>
        <p:spPr>
          <a:xfrm>
            <a:off x="3566160" y="2171969"/>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89.9%</a:t>
            </a:r>
            <a:endParaRPr lang="en-US" sz="1300" dirty="0"/>
          </a:p>
        </p:txBody>
      </p:sp>
      <p:sp>
        <p:nvSpPr>
          <p:cNvPr id="19" name="Text 17"/>
          <p:cNvSpPr txBox="1"/>
          <p:nvPr/>
        </p:nvSpPr>
        <p:spPr>
          <a:xfrm>
            <a:off x="4242816" y="217196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$161.80</a:t>
            </a:r>
            <a:endParaRPr lang="en-US" sz="1300" dirty="0"/>
          </a:p>
        </p:txBody>
      </p:sp>
      <p:sp>
        <p:nvSpPr>
          <p:cNvPr id="20" name="Text 18"/>
          <p:cNvSpPr txBox="1"/>
          <p:nvPr/>
        </p:nvSpPr>
        <p:spPr>
          <a:xfrm>
            <a:off x="5029200" y="217196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$179.87</a:t>
            </a:r>
            <a:endParaRPr lang="en-US" sz="1300" dirty="0"/>
          </a:p>
        </p:txBody>
      </p:sp>
      <p:sp>
        <p:nvSpPr>
          <p:cNvPr id="21" name="Text 19"/>
          <p:cNvSpPr txBox="1"/>
          <p:nvPr/>
        </p:nvSpPr>
        <p:spPr>
          <a:xfrm>
            <a:off x="658368" y="2407561"/>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22" name="Shape 20"/>
          <p:cNvSpPr/>
          <p:nvPr/>
        </p:nvSpPr>
        <p:spPr>
          <a:xfrm>
            <a:off x="2670048" y="2466460"/>
            <a:ext cx="659376" cy="117796"/>
          </a:xfrm>
          <a:prstGeom prst="rect">
            <a:avLst/>
          </a:prstGeom>
          <a:solidFill>
            <a:srgbClr val="12A566"/>
          </a:solidFill>
          <a:ln/>
        </p:spPr>
      </p:sp>
      <p:sp>
        <p:nvSpPr>
          <p:cNvPr id="23" name="Text 21"/>
          <p:cNvSpPr txBox="1"/>
          <p:nvPr/>
        </p:nvSpPr>
        <p:spPr>
          <a:xfrm>
            <a:off x="3566160" y="2407561"/>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89.7%</a:t>
            </a:r>
            <a:endParaRPr lang="en-US" sz="1300" dirty="0"/>
          </a:p>
        </p:txBody>
      </p:sp>
      <p:sp>
        <p:nvSpPr>
          <p:cNvPr id="24" name="Text 22"/>
          <p:cNvSpPr txBox="1"/>
          <p:nvPr/>
        </p:nvSpPr>
        <p:spPr>
          <a:xfrm>
            <a:off x="4242816" y="240756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$165.96</a:t>
            </a:r>
            <a:endParaRPr lang="en-US" sz="1300" dirty="0"/>
          </a:p>
        </p:txBody>
      </p:sp>
      <p:sp>
        <p:nvSpPr>
          <p:cNvPr id="25" name="Text 23"/>
          <p:cNvSpPr txBox="1"/>
          <p:nvPr/>
        </p:nvSpPr>
        <p:spPr>
          <a:xfrm>
            <a:off x="5029200" y="240756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$184.87</a:t>
            </a:r>
            <a:endParaRPr lang="en-US" sz="1300" dirty="0"/>
          </a:p>
        </p:txBody>
      </p:sp>
      <p:sp>
        <p:nvSpPr>
          <p:cNvPr id="26" name="Text 24"/>
          <p:cNvSpPr txBox="1"/>
          <p:nvPr/>
        </p:nvSpPr>
        <p:spPr>
          <a:xfrm>
            <a:off x="658368" y="2643154"/>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27" name="Shape 25"/>
          <p:cNvSpPr/>
          <p:nvPr/>
        </p:nvSpPr>
        <p:spPr>
          <a:xfrm>
            <a:off x="2670048" y="2702052"/>
            <a:ext cx="642710" cy="117796"/>
          </a:xfrm>
          <a:prstGeom prst="rect">
            <a:avLst/>
          </a:prstGeom>
          <a:solidFill>
            <a:srgbClr val="12A566"/>
          </a:solidFill>
          <a:ln/>
        </p:spPr>
      </p:sp>
      <p:sp>
        <p:nvSpPr>
          <p:cNvPr id="28" name="Text 26"/>
          <p:cNvSpPr txBox="1"/>
          <p:nvPr/>
        </p:nvSpPr>
        <p:spPr>
          <a:xfrm>
            <a:off x="3566160" y="2643154"/>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88.5%</a:t>
            </a:r>
            <a:endParaRPr lang="en-US" sz="1300" dirty="0"/>
          </a:p>
        </p:txBody>
      </p:sp>
      <p:sp>
        <p:nvSpPr>
          <p:cNvPr id="29" name="Text 27"/>
          <p:cNvSpPr txBox="1"/>
          <p:nvPr/>
        </p:nvSpPr>
        <p:spPr>
          <a:xfrm>
            <a:off x="4242816" y="264315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$199.04</a:t>
            </a:r>
            <a:endParaRPr lang="en-US" sz="1300" dirty="0"/>
          </a:p>
        </p:txBody>
      </p:sp>
      <p:sp>
        <p:nvSpPr>
          <p:cNvPr id="30" name="Text 28"/>
          <p:cNvSpPr txBox="1"/>
          <p:nvPr/>
        </p:nvSpPr>
        <p:spPr>
          <a:xfrm>
            <a:off x="5029200" y="264315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$224.87</a:t>
            </a:r>
            <a:endParaRPr lang="en-US" sz="1300" dirty="0"/>
          </a:p>
        </p:txBody>
      </p:sp>
      <p:sp>
        <p:nvSpPr>
          <p:cNvPr id="31" name="Text 29"/>
          <p:cNvSpPr txBox="1"/>
          <p:nvPr/>
        </p:nvSpPr>
        <p:spPr>
          <a:xfrm>
            <a:off x="658368" y="2878746"/>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32" name="Shape 30"/>
          <p:cNvSpPr/>
          <p:nvPr/>
        </p:nvSpPr>
        <p:spPr>
          <a:xfrm>
            <a:off x="2670048" y="2937644"/>
            <a:ext cx="619626" cy="117796"/>
          </a:xfrm>
          <a:prstGeom prst="rect">
            <a:avLst/>
          </a:prstGeom>
          <a:solidFill>
            <a:srgbClr val="12A566"/>
          </a:solidFill>
          <a:ln/>
        </p:spPr>
      </p:sp>
      <p:sp>
        <p:nvSpPr>
          <p:cNvPr id="33" name="Text 31"/>
          <p:cNvSpPr txBox="1"/>
          <p:nvPr/>
        </p:nvSpPr>
        <p:spPr>
          <a:xfrm>
            <a:off x="3566160" y="2878746"/>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86.7%</a:t>
            </a:r>
            <a:endParaRPr lang="en-US" sz="1300" dirty="0"/>
          </a:p>
        </p:txBody>
      </p:sp>
      <p:sp>
        <p:nvSpPr>
          <p:cNvPr id="34" name="Text 32"/>
          <p:cNvSpPr txBox="1"/>
          <p:nvPr/>
        </p:nvSpPr>
        <p:spPr>
          <a:xfrm>
            <a:off x="4242816" y="287874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$238.62</a:t>
            </a:r>
            <a:endParaRPr lang="en-US" sz="1300" dirty="0"/>
          </a:p>
        </p:txBody>
      </p:sp>
      <p:sp>
        <p:nvSpPr>
          <p:cNvPr id="35" name="Text 33"/>
          <p:cNvSpPr txBox="1"/>
          <p:nvPr/>
        </p:nvSpPr>
        <p:spPr>
          <a:xfrm>
            <a:off x="5029200" y="287874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$275.00</a:t>
            </a:r>
            <a:endParaRPr lang="en-US" sz="1300" dirty="0"/>
          </a:p>
        </p:txBody>
      </p:sp>
      <p:sp>
        <p:nvSpPr>
          <p:cNvPr id="36" name="Text 34"/>
          <p:cNvSpPr txBox="1"/>
          <p:nvPr/>
        </p:nvSpPr>
        <p:spPr>
          <a:xfrm>
            <a:off x="658368" y="3114339"/>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37" name="Shape 35"/>
          <p:cNvSpPr/>
          <p:nvPr/>
        </p:nvSpPr>
        <p:spPr>
          <a:xfrm>
            <a:off x="2670048" y="3173237"/>
            <a:ext cx="613635" cy="117796"/>
          </a:xfrm>
          <a:prstGeom prst="rect">
            <a:avLst/>
          </a:prstGeom>
          <a:solidFill>
            <a:srgbClr val="12A566"/>
          </a:solidFill>
          <a:ln/>
        </p:spPr>
      </p:sp>
      <p:sp>
        <p:nvSpPr>
          <p:cNvPr id="38" name="Text 36"/>
          <p:cNvSpPr txBox="1"/>
          <p:nvPr/>
        </p:nvSpPr>
        <p:spPr>
          <a:xfrm>
            <a:off x="3566160" y="3114339"/>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86.3%</a:t>
            </a:r>
            <a:endParaRPr lang="en-US" sz="1300" dirty="0"/>
          </a:p>
        </p:txBody>
      </p:sp>
      <p:sp>
        <p:nvSpPr>
          <p:cNvPr id="39" name="Text 37"/>
          <p:cNvSpPr txBox="1"/>
          <p:nvPr/>
        </p:nvSpPr>
        <p:spPr>
          <a:xfrm>
            <a:off x="4242816" y="311433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$159.69</a:t>
            </a:r>
            <a:endParaRPr lang="en-US" sz="1300" dirty="0"/>
          </a:p>
        </p:txBody>
      </p:sp>
      <p:sp>
        <p:nvSpPr>
          <p:cNvPr id="40" name="Text 38"/>
          <p:cNvSpPr txBox="1"/>
          <p:nvPr/>
        </p:nvSpPr>
        <p:spPr>
          <a:xfrm>
            <a:off x="5029200" y="311433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$185.00</a:t>
            </a:r>
            <a:endParaRPr lang="en-US" sz="1300" dirty="0"/>
          </a:p>
        </p:txBody>
      </p:sp>
      <p:sp>
        <p:nvSpPr>
          <p:cNvPr id="41" name="Text 39"/>
          <p:cNvSpPr txBox="1"/>
          <p:nvPr/>
        </p:nvSpPr>
        <p:spPr>
          <a:xfrm>
            <a:off x="658368" y="3349931"/>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42" name="Shape 40"/>
          <p:cNvSpPr/>
          <p:nvPr/>
        </p:nvSpPr>
        <p:spPr>
          <a:xfrm>
            <a:off x="2670048" y="3408829"/>
            <a:ext cx="564915" cy="117796"/>
          </a:xfrm>
          <a:prstGeom prst="rect">
            <a:avLst/>
          </a:prstGeom>
          <a:solidFill>
            <a:srgbClr val="12A566"/>
          </a:solidFill>
          <a:ln/>
        </p:spPr>
      </p:sp>
      <p:sp>
        <p:nvSpPr>
          <p:cNvPr id="43" name="Text 41"/>
          <p:cNvSpPr txBox="1"/>
          <p:nvPr/>
        </p:nvSpPr>
        <p:spPr>
          <a:xfrm>
            <a:off x="3566160" y="3349931"/>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82.6%</a:t>
            </a:r>
            <a:endParaRPr lang="en-US" sz="1300" dirty="0"/>
          </a:p>
        </p:txBody>
      </p:sp>
      <p:sp>
        <p:nvSpPr>
          <p:cNvPr id="44" name="Text 42"/>
          <p:cNvSpPr txBox="1"/>
          <p:nvPr/>
        </p:nvSpPr>
        <p:spPr>
          <a:xfrm>
            <a:off x="4242816" y="334993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$147.93</a:t>
            </a:r>
            <a:endParaRPr lang="en-US" sz="1300" dirty="0"/>
          </a:p>
        </p:txBody>
      </p:sp>
      <p:sp>
        <p:nvSpPr>
          <p:cNvPr id="45" name="Text 43"/>
          <p:cNvSpPr txBox="1"/>
          <p:nvPr/>
        </p:nvSpPr>
        <p:spPr>
          <a:xfrm>
            <a:off x="5029200" y="334993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$179.00</a:t>
            </a:r>
            <a:endParaRPr lang="en-US" sz="1300" dirty="0"/>
          </a:p>
        </p:txBody>
      </p:sp>
      <p:sp>
        <p:nvSpPr>
          <p:cNvPr id="46" name="Text 44"/>
          <p:cNvSpPr txBox="1"/>
          <p:nvPr/>
        </p:nvSpPr>
        <p:spPr>
          <a:xfrm>
            <a:off x="658368" y="3585524"/>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47" name="Shape 45"/>
          <p:cNvSpPr/>
          <p:nvPr/>
        </p:nvSpPr>
        <p:spPr>
          <a:xfrm>
            <a:off x="2670048" y="3644422"/>
            <a:ext cx="549859" cy="117796"/>
          </a:xfrm>
          <a:prstGeom prst="rect">
            <a:avLst/>
          </a:prstGeom>
          <a:solidFill>
            <a:srgbClr val="12A566"/>
          </a:solidFill>
          <a:ln/>
        </p:spPr>
      </p:sp>
      <p:sp>
        <p:nvSpPr>
          <p:cNvPr id="48" name="Text 46"/>
          <p:cNvSpPr txBox="1"/>
          <p:nvPr/>
        </p:nvSpPr>
        <p:spPr>
          <a:xfrm>
            <a:off x="3566160" y="3585524"/>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81.5%</a:t>
            </a:r>
            <a:endParaRPr lang="en-US" sz="1300" dirty="0"/>
          </a:p>
        </p:txBody>
      </p:sp>
      <p:sp>
        <p:nvSpPr>
          <p:cNvPr id="49" name="Text 47"/>
          <p:cNvSpPr txBox="1"/>
          <p:nvPr/>
        </p:nvSpPr>
        <p:spPr>
          <a:xfrm>
            <a:off x="4242816" y="358552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$187.42</a:t>
            </a:r>
            <a:endParaRPr lang="en-US" sz="1300" dirty="0"/>
          </a:p>
        </p:txBody>
      </p:sp>
      <p:sp>
        <p:nvSpPr>
          <p:cNvPr id="50" name="Text 48"/>
          <p:cNvSpPr txBox="1"/>
          <p:nvPr/>
        </p:nvSpPr>
        <p:spPr>
          <a:xfrm>
            <a:off x="5029200" y="358552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$229.95</a:t>
            </a:r>
            <a:endParaRPr lang="en-US" sz="1300" dirty="0"/>
          </a:p>
        </p:txBody>
      </p:sp>
      <p:sp>
        <p:nvSpPr>
          <p:cNvPr id="51" name="Text 49"/>
          <p:cNvSpPr txBox="1"/>
          <p:nvPr/>
        </p:nvSpPr>
        <p:spPr>
          <a:xfrm>
            <a:off x="658368" y="3821116"/>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52" name="Shape 50"/>
          <p:cNvSpPr/>
          <p:nvPr/>
        </p:nvSpPr>
        <p:spPr>
          <a:xfrm>
            <a:off x="2670048" y="3880014"/>
            <a:ext cx="542975" cy="117796"/>
          </a:xfrm>
          <a:prstGeom prst="rect">
            <a:avLst/>
          </a:prstGeom>
          <a:solidFill>
            <a:srgbClr val="12A566"/>
          </a:solidFill>
          <a:ln/>
        </p:spPr>
      </p:sp>
      <p:sp>
        <p:nvSpPr>
          <p:cNvPr id="53" name="Text 51"/>
          <p:cNvSpPr txBox="1"/>
          <p:nvPr/>
        </p:nvSpPr>
        <p:spPr>
          <a:xfrm>
            <a:off x="3566160" y="3821116"/>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80.9%</a:t>
            </a:r>
            <a:endParaRPr lang="en-US" sz="1300" dirty="0"/>
          </a:p>
        </p:txBody>
      </p:sp>
      <p:sp>
        <p:nvSpPr>
          <p:cNvPr id="54" name="Text 52"/>
          <p:cNvSpPr txBox="1"/>
          <p:nvPr/>
        </p:nvSpPr>
        <p:spPr>
          <a:xfrm>
            <a:off x="4242816" y="382111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$161.93</a:t>
            </a:r>
            <a:endParaRPr lang="en-US" sz="1300" dirty="0"/>
          </a:p>
        </p:txBody>
      </p:sp>
      <p:sp>
        <p:nvSpPr>
          <p:cNvPr id="55" name="Text 53"/>
          <p:cNvSpPr txBox="1"/>
          <p:nvPr/>
        </p:nvSpPr>
        <p:spPr>
          <a:xfrm>
            <a:off x="5029200" y="382111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$199.95</a:t>
            </a:r>
            <a:endParaRPr lang="en-US" sz="1300" dirty="0"/>
          </a:p>
        </p:txBody>
      </p:sp>
      <p:sp>
        <p:nvSpPr>
          <p:cNvPr id="56" name="Text 54"/>
          <p:cNvSpPr txBox="1"/>
          <p:nvPr/>
        </p:nvSpPr>
        <p:spPr>
          <a:xfrm>
            <a:off x="658368" y="4056709"/>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57" name="Shape 55"/>
          <p:cNvSpPr/>
          <p:nvPr/>
        </p:nvSpPr>
        <p:spPr>
          <a:xfrm>
            <a:off x="2670048" y="4115607"/>
            <a:ext cx="528418" cy="117796"/>
          </a:xfrm>
          <a:prstGeom prst="rect">
            <a:avLst/>
          </a:prstGeom>
          <a:solidFill>
            <a:srgbClr val="12A566"/>
          </a:solidFill>
          <a:ln/>
        </p:spPr>
      </p:sp>
      <p:sp>
        <p:nvSpPr>
          <p:cNvPr id="58" name="Text 56"/>
          <p:cNvSpPr txBox="1"/>
          <p:nvPr/>
        </p:nvSpPr>
        <p:spPr>
          <a:xfrm>
            <a:off x="3566160" y="4056709"/>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79.8%</a:t>
            </a:r>
            <a:endParaRPr lang="en-US" sz="1300" dirty="0"/>
          </a:p>
        </p:txBody>
      </p:sp>
      <p:sp>
        <p:nvSpPr>
          <p:cNvPr id="59" name="Text 57"/>
          <p:cNvSpPr txBox="1"/>
          <p:nvPr/>
        </p:nvSpPr>
        <p:spPr>
          <a:xfrm>
            <a:off x="4242816" y="405670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$155.78</a:t>
            </a:r>
            <a:endParaRPr lang="en-US" sz="1300" dirty="0"/>
          </a:p>
        </p:txBody>
      </p:sp>
      <p:sp>
        <p:nvSpPr>
          <p:cNvPr id="60" name="Text 58"/>
          <p:cNvSpPr txBox="1"/>
          <p:nvPr/>
        </p:nvSpPr>
        <p:spPr>
          <a:xfrm>
            <a:off x="5029200" y="405670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$195.00</a:t>
            </a:r>
            <a:endParaRPr lang="en-US" sz="1300" dirty="0"/>
          </a:p>
        </p:txBody>
      </p:sp>
      <p:sp>
        <p:nvSpPr>
          <p:cNvPr id="61" name="Text 59"/>
          <p:cNvSpPr txBox="1"/>
          <p:nvPr/>
        </p:nvSpPr>
        <p:spPr>
          <a:xfrm>
            <a:off x="658368" y="4292301"/>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62" name="Shape 60"/>
          <p:cNvSpPr/>
          <p:nvPr/>
        </p:nvSpPr>
        <p:spPr>
          <a:xfrm>
            <a:off x="2670048" y="4351199"/>
            <a:ext cx="523587" cy="117796"/>
          </a:xfrm>
          <a:prstGeom prst="rect">
            <a:avLst/>
          </a:prstGeom>
          <a:solidFill>
            <a:srgbClr val="12A566"/>
          </a:solidFill>
          <a:ln/>
        </p:spPr>
      </p:sp>
      <p:sp>
        <p:nvSpPr>
          <p:cNvPr id="63" name="Text 61"/>
          <p:cNvSpPr txBox="1"/>
          <p:nvPr/>
        </p:nvSpPr>
        <p:spPr>
          <a:xfrm>
            <a:off x="3566160" y="4292301"/>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79.5%</a:t>
            </a:r>
            <a:endParaRPr lang="en-US" sz="1300" dirty="0"/>
          </a:p>
        </p:txBody>
      </p:sp>
      <p:sp>
        <p:nvSpPr>
          <p:cNvPr id="64" name="Text 62"/>
          <p:cNvSpPr txBox="1"/>
          <p:nvPr/>
        </p:nvSpPr>
        <p:spPr>
          <a:xfrm>
            <a:off x="4242816" y="429230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$234.48</a:t>
            </a:r>
            <a:endParaRPr lang="en-US" sz="1300" dirty="0"/>
          </a:p>
        </p:txBody>
      </p:sp>
      <p:sp>
        <p:nvSpPr>
          <p:cNvPr id="65" name="Text 63"/>
          <p:cNvSpPr txBox="1"/>
          <p:nvPr/>
        </p:nvSpPr>
        <p:spPr>
          <a:xfrm>
            <a:off x="5029200" y="429230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$294.87</a:t>
            </a:r>
            <a:endParaRPr lang="en-US" sz="1300" dirty="0"/>
          </a:p>
        </p:txBody>
      </p:sp>
      <p:sp>
        <p:nvSpPr>
          <p:cNvPr id="66" name="Text 64"/>
          <p:cNvSpPr txBox="1"/>
          <p:nvPr/>
        </p:nvSpPr>
        <p:spPr>
          <a:xfrm>
            <a:off x="658368" y="4527894"/>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67" name="Shape 65"/>
          <p:cNvSpPr/>
          <p:nvPr/>
        </p:nvSpPr>
        <p:spPr>
          <a:xfrm>
            <a:off x="2670048" y="4586792"/>
            <a:ext cx="515923" cy="117796"/>
          </a:xfrm>
          <a:prstGeom prst="rect">
            <a:avLst/>
          </a:prstGeom>
          <a:solidFill>
            <a:srgbClr val="12A566"/>
          </a:solidFill>
          <a:ln/>
        </p:spPr>
      </p:sp>
      <p:sp>
        <p:nvSpPr>
          <p:cNvPr id="68" name="Text 66"/>
          <p:cNvSpPr txBox="1"/>
          <p:nvPr/>
        </p:nvSpPr>
        <p:spPr>
          <a:xfrm>
            <a:off x="3566160" y="4527894"/>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78.9%</a:t>
            </a:r>
            <a:endParaRPr lang="en-US" sz="1300" dirty="0"/>
          </a:p>
        </p:txBody>
      </p:sp>
      <p:sp>
        <p:nvSpPr>
          <p:cNvPr id="69" name="Text 67"/>
          <p:cNvSpPr txBox="1"/>
          <p:nvPr/>
        </p:nvSpPr>
        <p:spPr>
          <a:xfrm>
            <a:off x="4242816" y="452789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$146.04</a:t>
            </a:r>
            <a:endParaRPr lang="en-US" sz="1300" dirty="0"/>
          </a:p>
        </p:txBody>
      </p:sp>
      <p:sp>
        <p:nvSpPr>
          <p:cNvPr id="70" name="Text 68"/>
          <p:cNvSpPr txBox="1"/>
          <p:nvPr/>
        </p:nvSpPr>
        <p:spPr>
          <a:xfrm>
            <a:off x="5029200" y="452789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$185.00</a:t>
            </a:r>
            <a:endParaRPr lang="en-US" sz="1300" dirty="0"/>
          </a:p>
        </p:txBody>
      </p:sp>
      <p:sp>
        <p:nvSpPr>
          <p:cNvPr id="71" name="Text 69"/>
          <p:cNvSpPr txBox="1"/>
          <p:nvPr/>
        </p:nvSpPr>
        <p:spPr>
          <a:xfrm>
            <a:off x="658368" y="4763486"/>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72" name="Shape 70"/>
          <p:cNvSpPr/>
          <p:nvPr/>
        </p:nvSpPr>
        <p:spPr>
          <a:xfrm>
            <a:off x="2670048" y="4822384"/>
            <a:ext cx="515855" cy="117796"/>
          </a:xfrm>
          <a:prstGeom prst="rect">
            <a:avLst/>
          </a:prstGeom>
          <a:solidFill>
            <a:srgbClr val="12A566"/>
          </a:solidFill>
          <a:ln/>
        </p:spPr>
      </p:sp>
      <p:sp>
        <p:nvSpPr>
          <p:cNvPr id="73" name="Text 71"/>
          <p:cNvSpPr txBox="1"/>
          <p:nvPr/>
        </p:nvSpPr>
        <p:spPr>
          <a:xfrm>
            <a:off x="3566160" y="4763486"/>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78.9%</a:t>
            </a:r>
            <a:endParaRPr lang="en-US" sz="1300" dirty="0"/>
          </a:p>
        </p:txBody>
      </p:sp>
      <p:sp>
        <p:nvSpPr>
          <p:cNvPr id="74" name="Text 72"/>
          <p:cNvSpPr txBox="1"/>
          <p:nvPr/>
        </p:nvSpPr>
        <p:spPr>
          <a:xfrm>
            <a:off x="4242816" y="476348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$165.67</a:t>
            </a:r>
            <a:endParaRPr lang="en-US" sz="1300" dirty="0"/>
          </a:p>
        </p:txBody>
      </p:sp>
      <p:sp>
        <p:nvSpPr>
          <p:cNvPr id="75" name="Text 73"/>
          <p:cNvSpPr txBox="1"/>
          <p:nvPr/>
        </p:nvSpPr>
        <p:spPr>
          <a:xfrm>
            <a:off x="5029200" y="476348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$209.87</a:t>
            </a:r>
            <a:endParaRPr lang="en-US" sz="1300" dirty="0"/>
          </a:p>
        </p:txBody>
      </p:sp>
      <p:sp>
        <p:nvSpPr>
          <p:cNvPr id="76" name="Text 74"/>
          <p:cNvSpPr txBox="1"/>
          <p:nvPr/>
        </p:nvSpPr>
        <p:spPr>
          <a:xfrm>
            <a:off x="658368" y="4999079"/>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77" name="Shape 75"/>
          <p:cNvSpPr/>
          <p:nvPr/>
        </p:nvSpPr>
        <p:spPr>
          <a:xfrm>
            <a:off x="2670048" y="5057977"/>
            <a:ext cx="510186" cy="117796"/>
          </a:xfrm>
          <a:prstGeom prst="rect">
            <a:avLst/>
          </a:prstGeom>
          <a:solidFill>
            <a:srgbClr val="12A566"/>
          </a:solidFill>
          <a:ln/>
        </p:spPr>
      </p:sp>
      <p:sp>
        <p:nvSpPr>
          <p:cNvPr id="78" name="Text 76"/>
          <p:cNvSpPr txBox="1"/>
          <p:nvPr/>
        </p:nvSpPr>
        <p:spPr>
          <a:xfrm>
            <a:off x="3566160" y="4999079"/>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78.5%</a:t>
            </a:r>
            <a:endParaRPr lang="en-US" sz="1300" dirty="0"/>
          </a:p>
        </p:txBody>
      </p:sp>
      <p:sp>
        <p:nvSpPr>
          <p:cNvPr id="79" name="Text 77"/>
          <p:cNvSpPr txBox="1"/>
          <p:nvPr/>
        </p:nvSpPr>
        <p:spPr>
          <a:xfrm>
            <a:off x="4242816" y="499907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$160.84</a:t>
            </a:r>
            <a:endParaRPr lang="en-US" sz="1300" dirty="0"/>
          </a:p>
        </p:txBody>
      </p:sp>
      <p:sp>
        <p:nvSpPr>
          <p:cNvPr id="80" name="Text 78"/>
          <p:cNvSpPr txBox="1"/>
          <p:nvPr/>
        </p:nvSpPr>
        <p:spPr>
          <a:xfrm>
            <a:off x="5029200" y="499907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$204.87</a:t>
            </a:r>
            <a:endParaRPr lang="en-US" sz="1300" dirty="0"/>
          </a:p>
        </p:txBody>
      </p:sp>
      <p:sp>
        <p:nvSpPr>
          <p:cNvPr id="81" name="Text 79"/>
          <p:cNvSpPr txBox="1"/>
          <p:nvPr/>
        </p:nvSpPr>
        <p:spPr>
          <a:xfrm>
            <a:off x="658368" y="5234671"/>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82" name="Shape 80"/>
          <p:cNvSpPr/>
          <p:nvPr/>
        </p:nvSpPr>
        <p:spPr>
          <a:xfrm>
            <a:off x="2670048" y="5293569"/>
            <a:ext cx="486924" cy="117796"/>
          </a:xfrm>
          <a:prstGeom prst="rect">
            <a:avLst/>
          </a:prstGeom>
          <a:solidFill>
            <a:srgbClr val="12A566"/>
          </a:solidFill>
          <a:ln/>
        </p:spPr>
      </p:sp>
      <p:sp>
        <p:nvSpPr>
          <p:cNvPr id="83" name="Text 81"/>
          <p:cNvSpPr txBox="1"/>
          <p:nvPr/>
        </p:nvSpPr>
        <p:spPr>
          <a:xfrm>
            <a:off x="3566160" y="5234671"/>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76.7%</a:t>
            </a:r>
            <a:endParaRPr lang="en-US" sz="1300" dirty="0"/>
          </a:p>
        </p:txBody>
      </p:sp>
      <p:sp>
        <p:nvSpPr>
          <p:cNvPr id="84" name="Text 82"/>
          <p:cNvSpPr txBox="1"/>
          <p:nvPr/>
        </p:nvSpPr>
        <p:spPr>
          <a:xfrm>
            <a:off x="4242816" y="523467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$141.89</a:t>
            </a:r>
            <a:endParaRPr lang="en-US" sz="1300" dirty="0"/>
          </a:p>
        </p:txBody>
      </p:sp>
      <p:sp>
        <p:nvSpPr>
          <p:cNvPr id="85" name="Text 83"/>
          <p:cNvSpPr txBox="1"/>
          <p:nvPr/>
        </p:nvSpPr>
        <p:spPr>
          <a:xfrm>
            <a:off x="5029200" y="523467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$184.87</a:t>
            </a:r>
            <a:endParaRPr lang="en-US" sz="1300" dirty="0"/>
          </a:p>
        </p:txBody>
      </p:sp>
      <p:sp>
        <p:nvSpPr>
          <p:cNvPr id="86" name="Text 84"/>
          <p:cNvSpPr txBox="1"/>
          <p:nvPr/>
        </p:nvSpPr>
        <p:spPr>
          <a:xfrm>
            <a:off x="658368" y="5470264"/>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87" name="Shape 85"/>
          <p:cNvSpPr/>
          <p:nvPr/>
        </p:nvSpPr>
        <p:spPr>
          <a:xfrm>
            <a:off x="2670048" y="5529162"/>
            <a:ext cx="482951" cy="117796"/>
          </a:xfrm>
          <a:prstGeom prst="rect">
            <a:avLst/>
          </a:prstGeom>
          <a:solidFill>
            <a:srgbClr val="12A566"/>
          </a:solidFill>
          <a:ln/>
        </p:spPr>
      </p:sp>
      <p:sp>
        <p:nvSpPr>
          <p:cNvPr id="88" name="Text 86"/>
          <p:cNvSpPr txBox="1"/>
          <p:nvPr/>
        </p:nvSpPr>
        <p:spPr>
          <a:xfrm>
            <a:off x="3566160" y="5470264"/>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76.4%</a:t>
            </a:r>
            <a:endParaRPr lang="en-US" sz="1300" dirty="0"/>
          </a:p>
        </p:txBody>
      </p:sp>
      <p:sp>
        <p:nvSpPr>
          <p:cNvPr id="89" name="Text 87"/>
          <p:cNvSpPr txBox="1"/>
          <p:nvPr/>
        </p:nvSpPr>
        <p:spPr>
          <a:xfrm>
            <a:off x="4242816" y="547026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$266.72</a:t>
            </a:r>
            <a:endParaRPr lang="en-US" sz="1300" dirty="0"/>
          </a:p>
        </p:txBody>
      </p:sp>
      <p:sp>
        <p:nvSpPr>
          <p:cNvPr id="90" name="Text 88"/>
          <p:cNvSpPr txBox="1"/>
          <p:nvPr/>
        </p:nvSpPr>
        <p:spPr>
          <a:xfrm>
            <a:off x="5029200" y="547026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$348.87</a:t>
            </a:r>
            <a:endParaRPr lang="en-US" sz="1300" dirty="0"/>
          </a:p>
        </p:txBody>
      </p:sp>
      <p:sp>
        <p:nvSpPr>
          <p:cNvPr id="91" name="Text 89"/>
          <p:cNvSpPr txBox="1"/>
          <p:nvPr/>
        </p:nvSpPr>
        <p:spPr>
          <a:xfrm>
            <a:off x="6208776" y="1700784"/>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92" name="Shape 90"/>
          <p:cNvSpPr/>
          <p:nvPr/>
        </p:nvSpPr>
        <p:spPr>
          <a:xfrm>
            <a:off x="8220456" y="1759682"/>
            <a:ext cx="469589" cy="117796"/>
          </a:xfrm>
          <a:prstGeom prst="rect">
            <a:avLst/>
          </a:prstGeom>
          <a:solidFill>
            <a:srgbClr val="12A566"/>
          </a:solidFill>
          <a:ln/>
        </p:spPr>
      </p:sp>
      <p:sp>
        <p:nvSpPr>
          <p:cNvPr id="93" name="Text 91"/>
          <p:cNvSpPr txBox="1"/>
          <p:nvPr/>
        </p:nvSpPr>
        <p:spPr>
          <a:xfrm>
            <a:off x="9116568" y="1700784"/>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75.4%</a:t>
            </a:r>
            <a:endParaRPr lang="en-US" sz="1300" dirty="0"/>
          </a:p>
        </p:txBody>
      </p:sp>
      <p:sp>
        <p:nvSpPr>
          <p:cNvPr id="94" name="Text 92"/>
          <p:cNvSpPr txBox="1"/>
          <p:nvPr/>
        </p:nvSpPr>
        <p:spPr>
          <a:xfrm>
            <a:off x="9793224" y="170078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$233.88</a:t>
            </a:r>
            <a:endParaRPr lang="en-US" sz="1300" dirty="0"/>
          </a:p>
        </p:txBody>
      </p:sp>
      <p:sp>
        <p:nvSpPr>
          <p:cNvPr id="95" name="Text 93"/>
          <p:cNvSpPr txBox="1"/>
          <p:nvPr/>
        </p:nvSpPr>
        <p:spPr>
          <a:xfrm>
            <a:off x="10579608" y="170078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$310.00</a:t>
            </a:r>
            <a:endParaRPr lang="en-US" sz="1300" dirty="0"/>
          </a:p>
        </p:txBody>
      </p:sp>
      <p:sp>
        <p:nvSpPr>
          <p:cNvPr id="96" name="Text 94"/>
          <p:cNvSpPr txBox="1"/>
          <p:nvPr/>
        </p:nvSpPr>
        <p:spPr>
          <a:xfrm>
            <a:off x="6208776" y="1936376"/>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97" name="Shape 95"/>
          <p:cNvSpPr/>
          <p:nvPr/>
        </p:nvSpPr>
        <p:spPr>
          <a:xfrm>
            <a:off x="8220456" y="1995275"/>
            <a:ext cx="467351" cy="117796"/>
          </a:xfrm>
          <a:prstGeom prst="rect">
            <a:avLst/>
          </a:prstGeom>
          <a:solidFill>
            <a:srgbClr val="12A566"/>
          </a:solidFill>
          <a:ln/>
        </p:spPr>
      </p:sp>
      <p:sp>
        <p:nvSpPr>
          <p:cNvPr id="98" name="Text 96"/>
          <p:cNvSpPr txBox="1"/>
          <p:nvPr/>
        </p:nvSpPr>
        <p:spPr>
          <a:xfrm>
            <a:off x="9116568" y="1936376"/>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75.2%</a:t>
            </a:r>
            <a:endParaRPr lang="en-US" sz="1300" dirty="0"/>
          </a:p>
        </p:txBody>
      </p:sp>
      <p:sp>
        <p:nvSpPr>
          <p:cNvPr id="99" name="Text 97"/>
          <p:cNvSpPr txBox="1"/>
          <p:nvPr/>
        </p:nvSpPr>
        <p:spPr>
          <a:xfrm>
            <a:off x="9793224" y="193637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$162.12</a:t>
            </a:r>
            <a:endParaRPr lang="en-US" sz="1300" dirty="0"/>
          </a:p>
        </p:txBody>
      </p:sp>
      <p:sp>
        <p:nvSpPr>
          <p:cNvPr id="100" name="Text 98"/>
          <p:cNvSpPr txBox="1"/>
          <p:nvPr/>
        </p:nvSpPr>
        <p:spPr>
          <a:xfrm>
            <a:off x="10579608" y="193637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$215.37</a:t>
            </a:r>
            <a:endParaRPr lang="en-US" sz="1300" dirty="0"/>
          </a:p>
        </p:txBody>
      </p:sp>
      <p:sp>
        <p:nvSpPr>
          <p:cNvPr id="101" name="Text 99"/>
          <p:cNvSpPr txBox="1"/>
          <p:nvPr/>
        </p:nvSpPr>
        <p:spPr>
          <a:xfrm>
            <a:off x="6208776" y="2171969"/>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102" name="Shape 100"/>
          <p:cNvSpPr/>
          <p:nvPr/>
        </p:nvSpPr>
        <p:spPr>
          <a:xfrm>
            <a:off x="8220456" y="2230867"/>
            <a:ext cx="465019" cy="117796"/>
          </a:xfrm>
          <a:prstGeom prst="rect">
            <a:avLst/>
          </a:prstGeom>
          <a:solidFill>
            <a:srgbClr val="12A566"/>
          </a:solidFill>
          <a:ln/>
        </p:spPr>
      </p:sp>
      <p:sp>
        <p:nvSpPr>
          <p:cNvPr id="103" name="Text 101"/>
          <p:cNvSpPr txBox="1"/>
          <p:nvPr/>
        </p:nvSpPr>
        <p:spPr>
          <a:xfrm>
            <a:off x="9116568" y="2171969"/>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75.1%</a:t>
            </a:r>
            <a:endParaRPr lang="en-US" sz="1300" dirty="0"/>
          </a:p>
        </p:txBody>
      </p:sp>
      <p:sp>
        <p:nvSpPr>
          <p:cNvPr id="104" name="Text 102"/>
          <p:cNvSpPr txBox="1"/>
          <p:nvPr/>
        </p:nvSpPr>
        <p:spPr>
          <a:xfrm>
            <a:off x="9793224" y="217196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$180.14</a:t>
            </a:r>
            <a:endParaRPr lang="en-US" sz="1300" dirty="0"/>
          </a:p>
        </p:txBody>
      </p:sp>
      <p:sp>
        <p:nvSpPr>
          <p:cNvPr id="105" name="Text 103"/>
          <p:cNvSpPr txBox="1"/>
          <p:nvPr/>
        </p:nvSpPr>
        <p:spPr>
          <a:xfrm>
            <a:off x="10579608" y="217196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$239.87</a:t>
            </a:r>
            <a:endParaRPr lang="en-US" sz="1300" dirty="0"/>
          </a:p>
        </p:txBody>
      </p:sp>
      <p:sp>
        <p:nvSpPr>
          <p:cNvPr id="106" name="Text 104"/>
          <p:cNvSpPr txBox="1"/>
          <p:nvPr/>
        </p:nvSpPr>
        <p:spPr>
          <a:xfrm>
            <a:off x="6208776" y="2407561"/>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107" name="Shape 105"/>
          <p:cNvSpPr/>
          <p:nvPr/>
        </p:nvSpPr>
        <p:spPr>
          <a:xfrm>
            <a:off x="8220456" y="2466460"/>
            <a:ext cx="463785" cy="117796"/>
          </a:xfrm>
          <a:prstGeom prst="rect">
            <a:avLst/>
          </a:prstGeom>
          <a:solidFill>
            <a:srgbClr val="12A566"/>
          </a:solidFill>
          <a:ln/>
        </p:spPr>
      </p:sp>
      <p:sp>
        <p:nvSpPr>
          <p:cNvPr id="108" name="Text 106"/>
          <p:cNvSpPr txBox="1"/>
          <p:nvPr/>
        </p:nvSpPr>
        <p:spPr>
          <a:xfrm>
            <a:off x="9116568" y="2407561"/>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75.0%</a:t>
            </a:r>
            <a:endParaRPr lang="en-US" sz="1300" dirty="0"/>
          </a:p>
        </p:txBody>
      </p:sp>
      <p:sp>
        <p:nvSpPr>
          <p:cNvPr id="109" name="Text 107"/>
          <p:cNvSpPr txBox="1"/>
          <p:nvPr/>
        </p:nvSpPr>
        <p:spPr>
          <a:xfrm>
            <a:off x="9793224" y="240756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$142.51</a:t>
            </a:r>
            <a:endParaRPr lang="en-US" sz="1300" dirty="0"/>
          </a:p>
        </p:txBody>
      </p:sp>
      <p:sp>
        <p:nvSpPr>
          <p:cNvPr id="110" name="Text 108"/>
          <p:cNvSpPr txBox="1"/>
          <p:nvPr/>
        </p:nvSpPr>
        <p:spPr>
          <a:xfrm>
            <a:off x="10579608" y="240756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$190.00</a:t>
            </a:r>
            <a:endParaRPr lang="en-US" sz="1300" dirty="0"/>
          </a:p>
        </p:txBody>
      </p:sp>
      <p:sp>
        <p:nvSpPr>
          <p:cNvPr id="111" name="Shape 109"/>
          <p:cNvSpPr/>
          <p:nvPr/>
        </p:nvSpPr>
        <p:spPr>
          <a:xfrm>
            <a:off x="6135624" y="2638582"/>
            <a:ext cx="5285232" cy="226448"/>
          </a:xfrm>
          <a:prstGeom prst="rect">
            <a:avLst/>
          </a:prstGeom>
          <a:solidFill>
            <a:srgbClr val="EDF4FA"/>
          </a:solidFill>
          <a:ln/>
        </p:spPr>
      </p:sp>
      <p:sp>
        <p:nvSpPr>
          <p:cNvPr id="112" name="Text 110"/>
          <p:cNvSpPr txBox="1"/>
          <p:nvPr/>
        </p:nvSpPr>
        <p:spPr>
          <a:xfrm>
            <a:off x="6208776" y="2643154"/>
            <a:ext cx="1938528" cy="235592"/>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GROUP</a:t>
            </a:r>
            <a:endParaRPr lang="en-US" sz="1300" dirty="0"/>
          </a:p>
        </p:txBody>
      </p:sp>
      <p:sp>
        <p:nvSpPr>
          <p:cNvPr id="113" name="Shape 111"/>
          <p:cNvSpPr/>
          <p:nvPr/>
        </p:nvSpPr>
        <p:spPr>
          <a:xfrm>
            <a:off x="8220456" y="2702052"/>
            <a:ext cx="460989" cy="117796"/>
          </a:xfrm>
          <a:prstGeom prst="rect">
            <a:avLst/>
          </a:prstGeom>
          <a:solidFill>
            <a:srgbClr val="0B2C4A"/>
          </a:solidFill>
          <a:ln/>
        </p:spPr>
      </p:sp>
      <p:sp>
        <p:nvSpPr>
          <p:cNvPr id="114" name="Text 112"/>
          <p:cNvSpPr txBox="1"/>
          <p:nvPr/>
        </p:nvSpPr>
        <p:spPr>
          <a:xfrm>
            <a:off x="9116568" y="2643154"/>
            <a:ext cx="676656" cy="23559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74.7%</a:t>
            </a:r>
            <a:endParaRPr lang="en-US" sz="1300" dirty="0"/>
          </a:p>
        </p:txBody>
      </p:sp>
      <p:sp>
        <p:nvSpPr>
          <p:cNvPr id="115" name="Text 113"/>
          <p:cNvSpPr txBox="1"/>
          <p:nvPr/>
        </p:nvSpPr>
        <p:spPr>
          <a:xfrm>
            <a:off x="9793224" y="2643154"/>
            <a:ext cx="786384" cy="23559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$163.67</a:t>
            </a:r>
            <a:endParaRPr lang="en-US" sz="1300" dirty="0"/>
          </a:p>
        </p:txBody>
      </p:sp>
      <p:sp>
        <p:nvSpPr>
          <p:cNvPr id="116" name="Text 114"/>
          <p:cNvSpPr txBox="1"/>
          <p:nvPr/>
        </p:nvSpPr>
        <p:spPr>
          <a:xfrm>
            <a:off x="10579608" y="2643154"/>
            <a:ext cx="786384" cy="23559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$218.82</a:t>
            </a:r>
            <a:endParaRPr lang="en-US" sz="1300" dirty="0"/>
          </a:p>
        </p:txBody>
      </p:sp>
      <p:sp>
        <p:nvSpPr>
          <p:cNvPr id="117" name="Text 115"/>
          <p:cNvSpPr txBox="1"/>
          <p:nvPr/>
        </p:nvSpPr>
        <p:spPr>
          <a:xfrm>
            <a:off x="6208776" y="2878746"/>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118" name="Shape 116"/>
          <p:cNvSpPr/>
          <p:nvPr/>
        </p:nvSpPr>
        <p:spPr>
          <a:xfrm>
            <a:off x="8220456" y="2937644"/>
            <a:ext cx="449061" cy="117796"/>
          </a:xfrm>
          <a:prstGeom prst="rect">
            <a:avLst/>
          </a:prstGeom>
          <a:solidFill>
            <a:srgbClr val="12A566"/>
          </a:solidFill>
          <a:ln/>
        </p:spPr>
      </p:sp>
      <p:sp>
        <p:nvSpPr>
          <p:cNvPr id="119" name="Text 117"/>
          <p:cNvSpPr txBox="1"/>
          <p:nvPr/>
        </p:nvSpPr>
        <p:spPr>
          <a:xfrm>
            <a:off x="9116568" y="2878746"/>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73.8%</a:t>
            </a:r>
            <a:endParaRPr lang="en-US" sz="1300" dirty="0"/>
          </a:p>
        </p:txBody>
      </p:sp>
      <p:sp>
        <p:nvSpPr>
          <p:cNvPr id="120" name="Text 118"/>
          <p:cNvSpPr txBox="1"/>
          <p:nvPr/>
        </p:nvSpPr>
        <p:spPr>
          <a:xfrm>
            <a:off x="9793224" y="287874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$136.71</a:t>
            </a:r>
            <a:endParaRPr lang="en-US" sz="1300" dirty="0"/>
          </a:p>
        </p:txBody>
      </p:sp>
      <p:sp>
        <p:nvSpPr>
          <p:cNvPr id="121" name="Text 119"/>
          <p:cNvSpPr txBox="1"/>
          <p:nvPr/>
        </p:nvSpPr>
        <p:spPr>
          <a:xfrm>
            <a:off x="10579608" y="287874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$185.00</a:t>
            </a:r>
            <a:endParaRPr lang="en-US" sz="1300" dirty="0"/>
          </a:p>
        </p:txBody>
      </p:sp>
      <p:sp>
        <p:nvSpPr>
          <p:cNvPr id="122" name="Text 120"/>
          <p:cNvSpPr txBox="1"/>
          <p:nvPr/>
        </p:nvSpPr>
        <p:spPr>
          <a:xfrm>
            <a:off x="6208776" y="3114339"/>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123" name="Shape 121"/>
          <p:cNvSpPr/>
          <p:nvPr/>
        </p:nvSpPr>
        <p:spPr>
          <a:xfrm>
            <a:off x="8220456" y="3173237"/>
            <a:ext cx="439276" cy="117796"/>
          </a:xfrm>
          <a:prstGeom prst="rect">
            <a:avLst/>
          </a:prstGeom>
          <a:solidFill>
            <a:srgbClr val="12A566"/>
          </a:solidFill>
          <a:ln/>
        </p:spPr>
      </p:sp>
      <p:sp>
        <p:nvSpPr>
          <p:cNvPr id="124" name="Text 122"/>
          <p:cNvSpPr txBox="1"/>
          <p:nvPr/>
        </p:nvSpPr>
        <p:spPr>
          <a:xfrm>
            <a:off x="9116568" y="3114339"/>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73.1%</a:t>
            </a:r>
            <a:endParaRPr lang="en-US" sz="1300" dirty="0"/>
          </a:p>
        </p:txBody>
      </p:sp>
      <p:sp>
        <p:nvSpPr>
          <p:cNvPr id="125" name="Text 123"/>
          <p:cNvSpPr txBox="1"/>
          <p:nvPr/>
        </p:nvSpPr>
        <p:spPr>
          <a:xfrm>
            <a:off x="9793224" y="311433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$154.55</a:t>
            </a:r>
            <a:endParaRPr lang="en-US" sz="1300" dirty="0"/>
          </a:p>
        </p:txBody>
      </p:sp>
      <p:sp>
        <p:nvSpPr>
          <p:cNvPr id="126" name="Text 124"/>
          <p:cNvSpPr txBox="1"/>
          <p:nvPr/>
        </p:nvSpPr>
        <p:spPr>
          <a:xfrm>
            <a:off x="10579608" y="311433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$211.26</a:t>
            </a:r>
            <a:endParaRPr lang="en-US" sz="1300" dirty="0"/>
          </a:p>
        </p:txBody>
      </p:sp>
      <p:sp>
        <p:nvSpPr>
          <p:cNvPr id="127" name="Text 125"/>
          <p:cNvSpPr txBox="1"/>
          <p:nvPr/>
        </p:nvSpPr>
        <p:spPr>
          <a:xfrm>
            <a:off x="6208776" y="3349931"/>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128" name="Shape 126"/>
          <p:cNvSpPr/>
          <p:nvPr/>
        </p:nvSpPr>
        <p:spPr>
          <a:xfrm>
            <a:off x="8220456" y="3408829"/>
            <a:ext cx="429617" cy="117796"/>
          </a:xfrm>
          <a:prstGeom prst="rect">
            <a:avLst/>
          </a:prstGeom>
          <a:solidFill>
            <a:srgbClr val="12A566"/>
          </a:solidFill>
          <a:ln/>
        </p:spPr>
      </p:sp>
      <p:sp>
        <p:nvSpPr>
          <p:cNvPr id="129" name="Text 127"/>
          <p:cNvSpPr txBox="1"/>
          <p:nvPr/>
        </p:nvSpPr>
        <p:spPr>
          <a:xfrm>
            <a:off x="9116568" y="3349931"/>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72.4%</a:t>
            </a:r>
            <a:endParaRPr lang="en-US" sz="1300" dirty="0"/>
          </a:p>
        </p:txBody>
      </p:sp>
      <p:sp>
        <p:nvSpPr>
          <p:cNvPr id="130" name="Text 128"/>
          <p:cNvSpPr txBox="1"/>
          <p:nvPr/>
        </p:nvSpPr>
        <p:spPr>
          <a:xfrm>
            <a:off x="9793224" y="334993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$153.45</a:t>
            </a:r>
            <a:endParaRPr lang="en-US" sz="1300" dirty="0"/>
          </a:p>
        </p:txBody>
      </p:sp>
      <p:sp>
        <p:nvSpPr>
          <p:cNvPr id="131" name="Text 129"/>
          <p:cNvSpPr txBox="1"/>
          <p:nvPr/>
        </p:nvSpPr>
        <p:spPr>
          <a:xfrm>
            <a:off x="10579608" y="334993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$211.87</a:t>
            </a:r>
            <a:endParaRPr lang="en-US" sz="1300" dirty="0"/>
          </a:p>
        </p:txBody>
      </p:sp>
      <p:sp>
        <p:nvSpPr>
          <p:cNvPr id="132" name="Text 130"/>
          <p:cNvSpPr txBox="1"/>
          <p:nvPr/>
        </p:nvSpPr>
        <p:spPr>
          <a:xfrm>
            <a:off x="6208776" y="3585524"/>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133" name="Shape 131"/>
          <p:cNvSpPr/>
          <p:nvPr/>
        </p:nvSpPr>
        <p:spPr>
          <a:xfrm>
            <a:off x="8220456" y="3644422"/>
            <a:ext cx="406129" cy="117796"/>
          </a:xfrm>
          <a:prstGeom prst="rect">
            <a:avLst/>
          </a:prstGeom>
          <a:solidFill>
            <a:srgbClr val="12A566"/>
          </a:solidFill>
          <a:ln/>
        </p:spPr>
      </p:sp>
      <p:sp>
        <p:nvSpPr>
          <p:cNvPr id="134" name="Text 132"/>
          <p:cNvSpPr txBox="1"/>
          <p:nvPr/>
        </p:nvSpPr>
        <p:spPr>
          <a:xfrm>
            <a:off x="9116568" y="3585524"/>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70.6%</a:t>
            </a:r>
            <a:endParaRPr lang="en-US" sz="1300" dirty="0"/>
          </a:p>
        </p:txBody>
      </p:sp>
      <p:sp>
        <p:nvSpPr>
          <p:cNvPr id="135" name="Text 133"/>
          <p:cNvSpPr txBox="1"/>
          <p:nvPr/>
        </p:nvSpPr>
        <p:spPr>
          <a:xfrm>
            <a:off x="9793224" y="358552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$149.70</a:t>
            </a:r>
            <a:endParaRPr lang="en-US" sz="1300" dirty="0"/>
          </a:p>
        </p:txBody>
      </p:sp>
      <p:sp>
        <p:nvSpPr>
          <p:cNvPr id="136" name="Text 134"/>
          <p:cNvSpPr txBox="1"/>
          <p:nvPr/>
        </p:nvSpPr>
        <p:spPr>
          <a:xfrm>
            <a:off x="10579608" y="358552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$211.87</a:t>
            </a:r>
            <a:endParaRPr lang="en-US" sz="1300" dirty="0"/>
          </a:p>
        </p:txBody>
      </p:sp>
      <p:sp>
        <p:nvSpPr>
          <p:cNvPr id="137" name="Text 135"/>
          <p:cNvSpPr txBox="1"/>
          <p:nvPr/>
        </p:nvSpPr>
        <p:spPr>
          <a:xfrm>
            <a:off x="6208776" y="3821116"/>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138" name="Shape 136"/>
          <p:cNvSpPr/>
          <p:nvPr/>
        </p:nvSpPr>
        <p:spPr>
          <a:xfrm>
            <a:off x="8220456" y="3880014"/>
            <a:ext cx="378253" cy="117796"/>
          </a:xfrm>
          <a:prstGeom prst="rect">
            <a:avLst/>
          </a:prstGeom>
          <a:solidFill>
            <a:srgbClr val="C2352F"/>
          </a:solidFill>
          <a:ln/>
        </p:spPr>
      </p:sp>
      <p:sp>
        <p:nvSpPr>
          <p:cNvPr id="139" name="Text 137"/>
          <p:cNvSpPr txBox="1"/>
          <p:nvPr/>
        </p:nvSpPr>
        <p:spPr>
          <a:xfrm>
            <a:off x="9116568" y="3821116"/>
            <a:ext cx="67665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68.5%</a:t>
            </a:r>
            <a:endParaRPr lang="en-US" sz="1300" dirty="0"/>
          </a:p>
        </p:txBody>
      </p:sp>
      <p:sp>
        <p:nvSpPr>
          <p:cNvPr id="140" name="Text 138"/>
          <p:cNvSpPr txBox="1"/>
          <p:nvPr/>
        </p:nvSpPr>
        <p:spPr>
          <a:xfrm>
            <a:off x="9793224" y="382111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$150.72</a:t>
            </a:r>
            <a:endParaRPr lang="en-US" sz="1300" dirty="0"/>
          </a:p>
        </p:txBody>
      </p:sp>
      <p:sp>
        <p:nvSpPr>
          <p:cNvPr id="141" name="Text 139"/>
          <p:cNvSpPr txBox="1"/>
          <p:nvPr/>
        </p:nvSpPr>
        <p:spPr>
          <a:xfrm>
            <a:off x="10579608" y="382111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$219.87</a:t>
            </a:r>
            <a:endParaRPr lang="en-US" sz="1300" dirty="0"/>
          </a:p>
        </p:txBody>
      </p:sp>
      <p:sp>
        <p:nvSpPr>
          <p:cNvPr id="142" name="Text 140"/>
          <p:cNvSpPr txBox="1"/>
          <p:nvPr/>
        </p:nvSpPr>
        <p:spPr>
          <a:xfrm>
            <a:off x="6208776" y="4056709"/>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143" name="Shape 141"/>
          <p:cNvSpPr/>
          <p:nvPr/>
        </p:nvSpPr>
        <p:spPr>
          <a:xfrm>
            <a:off x="8220456" y="4115607"/>
            <a:ext cx="374799" cy="117796"/>
          </a:xfrm>
          <a:prstGeom prst="rect">
            <a:avLst/>
          </a:prstGeom>
          <a:solidFill>
            <a:srgbClr val="C2352F"/>
          </a:solidFill>
          <a:ln/>
        </p:spPr>
      </p:sp>
      <p:sp>
        <p:nvSpPr>
          <p:cNvPr id="144" name="Text 142"/>
          <p:cNvSpPr txBox="1"/>
          <p:nvPr/>
        </p:nvSpPr>
        <p:spPr>
          <a:xfrm>
            <a:off x="9116568" y="4056709"/>
            <a:ext cx="67665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68.2%</a:t>
            </a:r>
            <a:endParaRPr lang="en-US" sz="1300" dirty="0"/>
          </a:p>
        </p:txBody>
      </p:sp>
      <p:sp>
        <p:nvSpPr>
          <p:cNvPr id="145" name="Text 143"/>
          <p:cNvSpPr txBox="1"/>
          <p:nvPr/>
        </p:nvSpPr>
        <p:spPr>
          <a:xfrm>
            <a:off x="9793224" y="405670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$167.22</a:t>
            </a:r>
            <a:endParaRPr lang="en-US" sz="1300" dirty="0"/>
          </a:p>
        </p:txBody>
      </p:sp>
      <p:sp>
        <p:nvSpPr>
          <p:cNvPr id="146" name="Text 144"/>
          <p:cNvSpPr txBox="1"/>
          <p:nvPr/>
        </p:nvSpPr>
        <p:spPr>
          <a:xfrm>
            <a:off x="10579608" y="405670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$244.87</a:t>
            </a:r>
            <a:endParaRPr lang="en-US" sz="1300" dirty="0"/>
          </a:p>
        </p:txBody>
      </p:sp>
      <p:sp>
        <p:nvSpPr>
          <p:cNvPr id="147" name="Text 145"/>
          <p:cNvSpPr txBox="1"/>
          <p:nvPr/>
        </p:nvSpPr>
        <p:spPr>
          <a:xfrm>
            <a:off x="6208776" y="4292301"/>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148" name="Shape 146"/>
          <p:cNvSpPr/>
          <p:nvPr/>
        </p:nvSpPr>
        <p:spPr>
          <a:xfrm>
            <a:off x="8220456" y="4351199"/>
            <a:ext cx="364670" cy="117796"/>
          </a:xfrm>
          <a:prstGeom prst="rect">
            <a:avLst/>
          </a:prstGeom>
          <a:solidFill>
            <a:srgbClr val="C2352F"/>
          </a:solidFill>
          <a:ln/>
        </p:spPr>
      </p:sp>
      <p:sp>
        <p:nvSpPr>
          <p:cNvPr id="149" name="Text 147"/>
          <p:cNvSpPr txBox="1"/>
          <p:nvPr/>
        </p:nvSpPr>
        <p:spPr>
          <a:xfrm>
            <a:off x="9116568" y="4292301"/>
            <a:ext cx="67665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67.5%</a:t>
            </a:r>
            <a:endParaRPr lang="en-US" sz="1300" dirty="0"/>
          </a:p>
        </p:txBody>
      </p:sp>
      <p:sp>
        <p:nvSpPr>
          <p:cNvPr id="150" name="Text 148"/>
          <p:cNvSpPr txBox="1"/>
          <p:nvPr/>
        </p:nvSpPr>
        <p:spPr>
          <a:xfrm>
            <a:off x="9793224" y="429230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$124.92</a:t>
            </a:r>
            <a:endParaRPr lang="en-US" sz="1300" dirty="0"/>
          </a:p>
        </p:txBody>
      </p:sp>
      <p:sp>
        <p:nvSpPr>
          <p:cNvPr id="151" name="Text 149"/>
          <p:cNvSpPr txBox="1"/>
          <p:nvPr/>
        </p:nvSpPr>
        <p:spPr>
          <a:xfrm>
            <a:off x="10579608" y="429230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$185.00</a:t>
            </a:r>
            <a:endParaRPr lang="en-US" sz="1300" dirty="0"/>
          </a:p>
        </p:txBody>
      </p:sp>
      <p:sp>
        <p:nvSpPr>
          <p:cNvPr id="152" name="Text 150"/>
          <p:cNvSpPr txBox="1"/>
          <p:nvPr/>
        </p:nvSpPr>
        <p:spPr>
          <a:xfrm>
            <a:off x="6208776" y="4527894"/>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153" name="Shape 151"/>
          <p:cNvSpPr/>
          <p:nvPr/>
        </p:nvSpPr>
        <p:spPr>
          <a:xfrm>
            <a:off x="8220456" y="4586792"/>
            <a:ext cx="354832" cy="117796"/>
          </a:xfrm>
          <a:prstGeom prst="rect">
            <a:avLst/>
          </a:prstGeom>
          <a:solidFill>
            <a:srgbClr val="C2352F"/>
          </a:solidFill>
          <a:ln/>
        </p:spPr>
      </p:sp>
      <p:sp>
        <p:nvSpPr>
          <p:cNvPr id="154" name="Text 152"/>
          <p:cNvSpPr txBox="1"/>
          <p:nvPr/>
        </p:nvSpPr>
        <p:spPr>
          <a:xfrm>
            <a:off x="9116568" y="4527894"/>
            <a:ext cx="67665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66.7%</a:t>
            </a:r>
            <a:endParaRPr lang="en-US" sz="1300" dirty="0"/>
          </a:p>
        </p:txBody>
      </p:sp>
      <p:sp>
        <p:nvSpPr>
          <p:cNvPr id="155" name="Text 153"/>
          <p:cNvSpPr txBox="1"/>
          <p:nvPr/>
        </p:nvSpPr>
        <p:spPr>
          <a:xfrm>
            <a:off x="9793224" y="452789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$146.92</a:t>
            </a:r>
            <a:endParaRPr lang="en-US" sz="1300" dirty="0"/>
          </a:p>
        </p:txBody>
      </p:sp>
      <p:sp>
        <p:nvSpPr>
          <p:cNvPr id="156" name="Text 154"/>
          <p:cNvSpPr txBox="1"/>
          <p:nvPr/>
        </p:nvSpPr>
        <p:spPr>
          <a:xfrm>
            <a:off x="10579608" y="452789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$220.00</a:t>
            </a:r>
            <a:endParaRPr lang="en-US" sz="1300" dirty="0"/>
          </a:p>
        </p:txBody>
      </p:sp>
      <p:sp>
        <p:nvSpPr>
          <p:cNvPr id="157" name="Text 155"/>
          <p:cNvSpPr txBox="1"/>
          <p:nvPr/>
        </p:nvSpPr>
        <p:spPr>
          <a:xfrm>
            <a:off x="6208776" y="4763486"/>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158" name="Shape 156"/>
          <p:cNvSpPr/>
          <p:nvPr/>
        </p:nvSpPr>
        <p:spPr>
          <a:xfrm>
            <a:off x="8220456" y="4822384"/>
            <a:ext cx="352064" cy="117796"/>
          </a:xfrm>
          <a:prstGeom prst="rect">
            <a:avLst/>
          </a:prstGeom>
          <a:solidFill>
            <a:srgbClr val="C2352F"/>
          </a:solidFill>
          <a:ln/>
        </p:spPr>
      </p:sp>
      <p:sp>
        <p:nvSpPr>
          <p:cNvPr id="159" name="Text 157"/>
          <p:cNvSpPr txBox="1"/>
          <p:nvPr/>
        </p:nvSpPr>
        <p:spPr>
          <a:xfrm>
            <a:off x="9116568" y="4763486"/>
            <a:ext cx="67665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66.5%</a:t>
            </a:r>
            <a:endParaRPr lang="en-US" sz="1300" dirty="0"/>
          </a:p>
        </p:txBody>
      </p:sp>
      <p:sp>
        <p:nvSpPr>
          <p:cNvPr id="160" name="Text 158"/>
          <p:cNvSpPr txBox="1"/>
          <p:nvPr/>
        </p:nvSpPr>
        <p:spPr>
          <a:xfrm>
            <a:off x="9793224" y="476348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$139.81</a:t>
            </a:r>
            <a:endParaRPr lang="en-US" sz="1300" dirty="0"/>
          </a:p>
        </p:txBody>
      </p:sp>
      <p:sp>
        <p:nvSpPr>
          <p:cNvPr id="161" name="Text 159"/>
          <p:cNvSpPr txBox="1"/>
          <p:nvPr/>
        </p:nvSpPr>
        <p:spPr>
          <a:xfrm>
            <a:off x="10579608" y="476348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$210.00</a:t>
            </a:r>
            <a:endParaRPr lang="en-US" sz="1300" dirty="0"/>
          </a:p>
        </p:txBody>
      </p:sp>
      <p:sp>
        <p:nvSpPr>
          <p:cNvPr id="162" name="Text 160"/>
          <p:cNvSpPr txBox="1"/>
          <p:nvPr/>
        </p:nvSpPr>
        <p:spPr>
          <a:xfrm>
            <a:off x="6208776" y="4999079"/>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163" name="Shape 161"/>
          <p:cNvSpPr/>
          <p:nvPr/>
        </p:nvSpPr>
        <p:spPr>
          <a:xfrm>
            <a:off x="8220456" y="5057977"/>
            <a:ext cx="331678" cy="117796"/>
          </a:xfrm>
          <a:prstGeom prst="rect">
            <a:avLst/>
          </a:prstGeom>
          <a:solidFill>
            <a:srgbClr val="C2352F"/>
          </a:solidFill>
          <a:ln/>
        </p:spPr>
      </p:sp>
      <p:sp>
        <p:nvSpPr>
          <p:cNvPr id="164" name="Text 162"/>
          <p:cNvSpPr txBox="1"/>
          <p:nvPr/>
        </p:nvSpPr>
        <p:spPr>
          <a:xfrm>
            <a:off x="9116568" y="4999079"/>
            <a:ext cx="67665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65.0%</a:t>
            </a:r>
            <a:endParaRPr lang="en-US" sz="1300" dirty="0"/>
          </a:p>
        </p:txBody>
      </p:sp>
      <p:sp>
        <p:nvSpPr>
          <p:cNvPr id="165" name="Text 163"/>
          <p:cNvSpPr txBox="1"/>
          <p:nvPr/>
        </p:nvSpPr>
        <p:spPr>
          <a:xfrm>
            <a:off x="9793224" y="499907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$146.25</a:t>
            </a:r>
            <a:endParaRPr lang="en-US" sz="1300" dirty="0"/>
          </a:p>
        </p:txBody>
      </p:sp>
      <p:sp>
        <p:nvSpPr>
          <p:cNvPr id="166" name="Text 164"/>
          <p:cNvSpPr txBox="1"/>
          <p:nvPr/>
        </p:nvSpPr>
        <p:spPr>
          <a:xfrm>
            <a:off x="10579608" y="499907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$224.87</a:t>
            </a:r>
            <a:endParaRPr lang="en-US" sz="1300" dirty="0"/>
          </a:p>
        </p:txBody>
      </p:sp>
      <p:sp>
        <p:nvSpPr>
          <p:cNvPr id="167" name="Text 165"/>
          <p:cNvSpPr txBox="1"/>
          <p:nvPr/>
        </p:nvSpPr>
        <p:spPr>
          <a:xfrm>
            <a:off x="6208776" y="5234671"/>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68" name="Shape 166"/>
          <p:cNvSpPr/>
          <p:nvPr/>
        </p:nvSpPr>
        <p:spPr>
          <a:xfrm>
            <a:off x="8220456" y="5293569"/>
            <a:ext cx="328825" cy="117796"/>
          </a:xfrm>
          <a:prstGeom prst="rect">
            <a:avLst/>
          </a:prstGeom>
          <a:solidFill>
            <a:srgbClr val="C2352F"/>
          </a:solidFill>
          <a:ln/>
        </p:spPr>
      </p:sp>
      <p:sp>
        <p:nvSpPr>
          <p:cNvPr id="169" name="Text 167"/>
          <p:cNvSpPr txBox="1"/>
          <p:nvPr/>
        </p:nvSpPr>
        <p:spPr>
          <a:xfrm>
            <a:off x="9116568" y="5234671"/>
            <a:ext cx="67665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64.8%</a:t>
            </a:r>
            <a:endParaRPr lang="en-US" sz="1300" dirty="0"/>
          </a:p>
        </p:txBody>
      </p:sp>
      <p:sp>
        <p:nvSpPr>
          <p:cNvPr id="170" name="Text 168"/>
          <p:cNvSpPr txBox="1"/>
          <p:nvPr/>
        </p:nvSpPr>
        <p:spPr>
          <a:xfrm>
            <a:off x="9793224" y="523467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$136.12</a:t>
            </a:r>
            <a:endParaRPr lang="en-US" sz="1300" dirty="0"/>
          </a:p>
        </p:txBody>
      </p:sp>
      <p:sp>
        <p:nvSpPr>
          <p:cNvPr id="171" name="Text 169"/>
          <p:cNvSpPr txBox="1"/>
          <p:nvPr/>
        </p:nvSpPr>
        <p:spPr>
          <a:xfrm>
            <a:off x="10579608" y="523467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$210.00</a:t>
            </a:r>
            <a:endParaRPr lang="en-US" sz="1300" dirty="0"/>
          </a:p>
        </p:txBody>
      </p:sp>
      <p:sp>
        <p:nvSpPr>
          <p:cNvPr id="172" name="Text 170"/>
          <p:cNvSpPr txBox="1"/>
          <p:nvPr/>
        </p:nvSpPr>
        <p:spPr>
          <a:xfrm>
            <a:off x="6208776" y="5470264"/>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173" name="Shape 171"/>
          <p:cNvSpPr/>
          <p:nvPr/>
        </p:nvSpPr>
        <p:spPr>
          <a:xfrm>
            <a:off x="8220456" y="5529162"/>
            <a:ext cx="285765" cy="117796"/>
          </a:xfrm>
          <a:prstGeom prst="rect">
            <a:avLst/>
          </a:prstGeom>
          <a:solidFill>
            <a:srgbClr val="C2352F"/>
          </a:solidFill>
          <a:ln/>
        </p:spPr>
      </p:sp>
      <p:sp>
        <p:nvSpPr>
          <p:cNvPr id="174" name="Text 172"/>
          <p:cNvSpPr txBox="1"/>
          <p:nvPr/>
        </p:nvSpPr>
        <p:spPr>
          <a:xfrm>
            <a:off x="9116568" y="5470264"/>
            <a:ext cx="67665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61.5%</a:t>
            </a:r>
            <a:endParaRPr lang="en-US" sz="1300" dirty="0"/>
          </a:p>
        </p:txBody>
      </p:sp>
      <p:sp>
        <p:nvSpPr>
          <p:cNvPr id="175" name="Text 173"/>
          <p:cNvSpPr txBox="1"/>
          <p:nvPr/>
        </p:nvSpPr>
        <p:spPr>
          <a:xfrm>
            <a:off x="9793224" y="547026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$175.47</a:t>
            </a:r>
            <a:endParaRPr lang="en-US" sz="1300" dirty="0"/>
          </a:p>
        </p:txBody>
      </p:sp>
      <p:sp>
        <p:nvSpPr>
          <p:cNvPr id="176" name="Text 174"/>
          <p:cNvSpPr txBox="1"/>
          <p:nvPr/>
        </p:nvSpPr>
        <p:spPr>
          <a:xfrm>
            <a:off x="10579608" y="547026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$285.00</a:t>
            </a:r>
            <a:endParaRPr lang="en-US" sz="1300" dirty="0"/>
          </a:p>
        </p:txBody>
      </p:sp>
      <p:sp>
        <p:nvSpPr>
          <p:cNvPr id="177" name="Text 175"/>
          <p:cNvSpPr txBox="1"/>
          <p:nvPr/>
        </p:nvSpPr>
        <p:spPr>
          <a:xfrm>
            <a:off x="3566160" y="1316736"/>
            <a:ext cx="676656" cy="292608"/>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a:t>
            </a:r>
            <a:endParaRPr lang="en-US" sz="1400" dirty="0"/>
          </a:p>
        </p:txBody>
      </p:sp>
      <p:sp>
        <p:nvSpPr>
          <p:cNvPr id="178" name="Text 176"/>
          <p:cNvSpPr txBox="1"/>
          <p:nvPr/>
        </p:nvSpPr>
        <p:spPr>
          <a:xfrm>
            <a:off x="4242816" y="1316736"/>
            <a:ext cx="786384" cy="292608"/>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ELR</a:t>
            </a:r>
            <a:endParaRPr lang="en-US" sz="1400" dirty="0"/>
          </a:p>
        </p:txBody>
      </p:sp>
      <p:sp>
        <p:nvSpPr>
          <p:cNvPr id="179" name="Text 177"/>
          <p:cNvSpPr txBox="1"/>
          <p:nvPr/>
        </p:nvSpPr>
        <p:spPr>
          <a:xfrm>
            <a:off x="5029200" y="1316736"/>
            <a:ext cx="786384" cy="292608"/>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DOOR</a:t>
            </a:r>
            <a:endParaRPr lang="en-US" sz="1400" dirty="0"/>
          </a:p>
        </p:txBody>
      </p:sp>
      <p:sp>
        <p:nvSpPr>
          <p:cNvPr id="180" name="Text 178"/>
          <p:cNvSpPr txBox="1"/>
          <p:nvPr/>
        </p:nvSpPr>
        <p:spPr>
          <a:xfrm>
            <a:off x="9116568" y="1316736"/>
            <a:ext cx="676656" cy="292608"/>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a:t>
            </a:r>
            <a:endParaRPr lang="en-US" sz="1400" dirty="0"/>
          </a:p>
        </p:txBody>
      </p:sp>
      <p:sp>
        <p:nvSpPr>
          <p:cNvPr id="181" name="Text 179"/>
          <p:cNvSpPr txBox="1"/>
          <p:nvPr/>
        </p:nvSpPr>
        <p:spPr>
          <a:xfrm>
            <a:off x="9793224" y="1316736"/>
            <a:ext cx="786384" cy="292608"/>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ELR</a:t>
            </a:r>
            <a:endParaRPr lang="en-US" sz="1400" dirty="0"/>
          </a:p>
        </p:txBody>
      </p:sp>
      <p:sp>
        <p:nvSpPr>
          <p:cNvPr id="182" name="Text 180"/>
          <p:cNvSpPr txBox="1"/>
          <p:nvPr/>
        </p:nvSpPr>
        <p:spPr>
          <a:xfrm>
            <a:off x="10579608" y="1316736"/>
            <a:ext cx="786384" cy="292608"/>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DOOR</a:t>
            </a:r>
            <a:endParaRPr lang="en-US" sz="1400" dirty="0"/>
          </a:p>
        </p:txBody>
      </p:sp>
      <p:sp>
        <p:nvSpPr>
          <p:cNvPr id="183" name="Shape 181"/>
          <p:cNvSpPr/>
          <p:nvPr/>
        </p:nvSpPr>
        <p:spPr>
          <a:xfrm>
            <a:off x="3060181" y="1700784"/>
            <a:ext cx="14630" cy="4005072"/>
          </a:xfrm>
          <a:prstGeom prst="rect">
            <a:avLst/>
          </a:prstGeom>
          <a:solidFill>
            <a:srgbClr val="0B2C4A"/>
          </a:solidFill>
          <a:ln/>
        </p:spPr>
      </p:sp>
      <p:sp>
        <p:nvSpPr>
          <p:cNvPr id="184" name="Text 182"/>
          <p:cNvSpPr txBox="1"/>
          <p:nvPr/>
        </p:nvSpPr>
        <p:spPr>
          <a:xfrm>
            <a:off x="2518857" y="1316736"/>
            <a:ext cx="1097280" cy="292608"/>
          </a:xfrm>
          <a:prstGeom prst="rect">
            <a:avLst/>
          </a:prstGeom>
          <a:noFill/>
          <a:ln/>
        </p:spPr>
        <p:txBody>
          <a:bodyPr wrap="none" lIns="0" tIns="0" rIns="0" bIns="0" rtlCol="0" anchor="ctr"/>
          <a:lstStyle/>
          <a:p>
            <a:pPr algn="ctr" indent="0" marL="0">
              <a:buNone/>
            </a:pPr>
            <a:r>
              <a:rPr lang="en-US" sz="1400" b="1" dirty="0">
                <a:solidFill>
                  <a:srgbClr val="0B2C4A"/>
                </a:solidFill>
                <a:latin typeface="Inter" pitchFamily="34" charset="0"/>
                <a:ea typeface="Inter" pitchFamily="34" charset="-122"/>
                <a:cs typeface="Inter" pitchFamily="34" charset="-120"/>
              </a:rPr>
              <a:t>70.0% LINE</a:t>
            </a:r>
            <a:endParaRPr lang="en-US" sz="1400" dirty="0"/>
          </a:p>
        </p:txBody>
      </p:sp>
      <p:sp>
        <p:nvSpPr>
          <p:cNvPr id="185" name="Shape 183"/>
          <p:cNvSpPr/>
          <p:nvPr/>
        </p:nvSpPr>
        <p:spPr>
          <a:xfrm>
            <a:off x="8610589" y="1700784"/>
            <a:ext cx="14630" cy="4005072"/>
          </a:xfrm>
          <a:prstGeom prst="rect">
            <a:avLst/>
          </a:prstGeom>
          <a:solidFill>
            <a:srgbClr val="0B2C4A"/>
          </a:solidFill>
          <a:ln/>
        </p:spPr>
      </p:sp>
      <p:sp>
        <p:nvSpPr>
          <p:cNvPr id="186" name="Text 184"/>
          <p:cNvSpPr txBox="1"/>
          <p:nvPr/>
        </p:nvSpPr>
        <p:spPr>
          <a:xfrm>
            <a:off x="8069265" y="1316736"/>
            <a:ext cx="1097280" cy="292608"/>
          </a:xfrm>
          <a:prstGeom prst="rect">
            <a:avLst/>
          </a:prstGeom>
          <a:noFill/>
          <a:ln/>
        </p:spPr>
        <p:txBody>
          <a:bodyPr wrap="none" lIns="0" tIns="0" rIns="0" bIns="0" rtlCol="0" anchor="ctr"/>
          <a:lstStyle/>
          <a:p>
            <a:pPr algn="ctr" indent="0" marL="0">
              <a:buNone/>
            </a:pPr>
            <a:r>
              <a:rPr lang="en-US" sz="1400" b="1" dirty="0">
                <a:solidFill>
                  <a:srgbClr val="0B2C4A"/>
                </a:solidFill>
                <a:latin typeface="Inter" pitchFamily="34" charset="0"/>
                <a:ea typeface="Inter" pitchFamily="34" charset="-122"/>
                <a:cs typeface="Inter" pitchFamily="34" charset="-120"/>
              </a:rPr>
              <a:t>70.0% LINE</a:t>
            </a:r>
            <a:endParaRPr lang="en-US" sz="1400" dirty="0"/>
          </a:p>
        </p:txBody>
      </p:sp>
      <p:sp>
        <p:nvSpPr>
          <p:cNvPr id="187" name="Shape 185"/>
          <p:cNvSpPr/>
          <p:nvPr/>
        </p:nvSpPr>
        <p:spPr>
          <a:xfrm>
            <a:off x="457200" y="5961888"/>
            <a:ext cx="11274552" cy="548640"/>
          </a:xfrm>
          <a:prstGeom prst="rect">
            <a:avLst/>
          </a:prstGeom>
          <a:solidFill>
            <a:srgbClr val="EDF4FA"/>
          </a:solidFill>
          <a:ln/>
        </p:spPr>
      </p:sp>
      <p:sp>
        <p:nvSpPr>
          <p:cNvPr id="188" name="Text 186"/>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Jul–Sep: 25 of 33 stores realize at least 70% of door rate; the group is at 74.7%. CADILLAC is lowest at 61.5%.</a:t>
            </a:r>
            <a:endParaRPr lang="en-US" sz="1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ELR % of Door Rate</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700784"/>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7" name="Shape 5"/>
          <p:cNvSpPr/>
          <p:nvPr/>
        </p:nvSpPr>
        <p:spPr>
          <a:xfrm>
            <a:off x="2670048" y="1759682"/>
            <a:ext cx="786384" cy="117796"/>
          </a:xfrm>
          <a:prstGeom prst="rect">
            <a:avLst/>
          </a:prstGeom>
          <a:solidFill>
            <a:srgbClr val="12A566"/>
          </a:solidFill>
          <a:ln/>
        </p:spPr>
      </p:sp>
      <p:sp>
        <p:nvSpPr>
          <p:cNvPr id="8" name="Text 6"/>
          <p:cNvSpPr txBox="1"/>
          <p:nvPr/>
        </p:nvSpPr>
        <p:spPr>
          <a:xfrm>
            <a:off x="3511296" y="1700784"/>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103.4%</a:t>
            </a:r>
            <a:endParaRPr lang="en-US" sz="1300" dirty="0"/>
          </a:p>
        </p:txBody>
      </p:sp>
      <p:sp>
        <p:nvSpPr>
          <p:cNvPr id="9" name="Text 7"/>
          <p:cNvSpPr txBox="1"/>
          <p:nvPr/>
        </p:nvSpPr>
        <p:spPr>
          <a:xfrm>
            <a:off x="4187952" y="170078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$244.12</a:t>
            </a:r>
            <a:endParaRPr lang="en-US" sz="1300" dirty="0"/>
          </a:p>
        </p:txBody>
      </p:sp>
      <p:sp>
        <p:nvSpPr>
          <p:cNvPr id="10" name="Text 8"/>
          <p:cNvSpPr txBox="1"/>
          <p:nvPr/>
        </p:nvSpPr>
        <p:spPr>
          <a:xfrm>
            <a:off x="4974336" y="1700784"/>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$165.11</a:t>
            </a:r>
            <a:endParaRPr lang="en-US" sz="1300" dirty="0"/>
          </a:p>
        </p:txBody>
      </p:sp>
      <p:sp>
        <p:nvSpPr>
          <p:cNvPr id="11" name="Text 9"/>
          <p:cNvSpPr txBox="1"/>
          <p:nvPr/>
        </p:nvSpPr>
        <p:spPr>
          <a:xfrm>
            <a:off x="658368" y="1936376"/>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12" name="Shape 10"/>
          <p:cNvSpPr/>
          <p:nvPr/>
        </p:nvSpPr>
        <p:spPr>
          <a:xfrm>
            <a:off x="2670048" y="1995275"/>
            <a:ext cx="621911" cy="117796"/>
          </a:xfrm>
          <a:prstGeom prst="rect">
            <a:avLst/>
          </a:prstGeom>
          <a:solidFill>
            <a:srgbClr val="12A566"/>
          </a:solidFill>
          <a:ln/>
        </p:spPr>
      </p:sp>
      <p:sp>
        <p:nvSpPr>
          <p:cNvPr id="13" name="Text 11"/>
          <p:cNvSpPr txBox="1"/>
          <p:nvPr/>
        </p:nvSpPr>
        <p:spPr>
          <a:xfrm>
            <a:off x="3511296" y="1936376"/>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90.2%</a:t>
            </a:r>
            <a:endParaRPr lang="en-US" sz="1300" dirty="0"/>
          </a:p>
        </p:txBody>
      </p:sp>
      <p:sp>
        <p:nvSpPr>
          <p:cNvPr id="14" name="Text 12"/>
          <p:cNvSpPr txBox="1"/>
          <p:nvPr/>
        </p:nvSpPr>
        <p:spPr>
          <a:xfrm>
            <a:off x="4187952" y="193637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$225.50</a:t>
            </a:r>
            <a:endParaRPr lang="en-US" sz="1300" dirty="0"/>
          </a:p>
        </p:txBody>
      </p:sp>
      <p:sp>
        <p:nvSpPr>
          <p:cNvPr id="15" name="Text 13"/>
          <p:cNvSpPr txBox="1"/>
          <p:nvPr/>
        </p:nvSpPr>
        <p:spPr>
          <a:xfrm>
            <a:off x="4974336" y="1936376"/>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$174.96</a:t>
            </a:r>
            <a:endParaRPr lang="en-US" sz="1300" dirty="0"/>
          </a:p>
        </p:txBody>
      </p:sp>
      <p:sp>
        <p:nvSpPr>
          <p:cNvPr id="16" name="Text 14"/>
          <p:cNvSpPr txBox="1"/>
          <p:nvPr/>
        </p:nvSpPr>
        <p:spPr>
          <a:xfrm>
            <a:off x="658368" y="2171969"/>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17" name="Shape 15"/>
          <p:cNvSpPr/>
          <p:nvPr/>
        </p:nvSpPr>
        <p:spPr>
          <a:xfrm>
            <a:off x="2670048" y="2230867"/>
            <a:ext cx="618619" cy="117796"/>
          </a:xfrm>
          <a:prstGeom prst="rect">
            <a:avLst/>
          </a:prstGeom>
          <a:solidFill>
            <a:srgbClr val="12A566"/>
          </a:solidFill>
          <a:ln/>
        </p:spPr>
      </p:sp>
      <p:sp>
        <p:nvSpPr>
          <p:cNvPr id="18" name="Text 16"/>
          <p:cNvSpPr txBox="1"/>
          <p:nvPr/>
        </p:nvSpPr>
        <p:spPr>
          <a:xfrm>
            <a:off x="3511296" y="2171969"/>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89.9%</a:t>
            </a:r>
            <a:endParaRPr lang="en-US" sz="1300" dirty="0"/>
          </a:p>
        </p:txBody>
      </p:sp>
      <p:sp>
        <p:nvSpPr>
          <p:cNvPr id="19" name="Text 17"/>
          <p:cNvSpPr txBox="1"/>
          <p:nvPr/>
        </p:nvSpPr>
        <p:spPr>
          <a:xfrm>
            <a:off x="4187952" y="217196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$161.80</a:t>
            </a:r>
            <a:endParaRPr lang="en-US" sz="1300" dirty="0"/>
          </a:p>
        </p:txBody>
      </p:sp>
      <p:sp>
        <p:nvSpPr>
          <p:cNvPr id="20" name="Text 18"/>
          <p:cNvSpPr txBox="1"/>
          <p:nvPr/>
        </p:nvSpPr>
        <p:spPr>
          <a:xfrm>
            <a:off x="4974336" y="2171969"/>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$125.91</a:t>
            </a:r>
            <a:endParaRPr lang="en-US" sz="1300" dirty="0"/>
          </a:p>
        </p:txBody>
      </p:sp>
      <p:sp>
        <p:nvSpPr>
          <p:cNvPr id="21" name="Text 19"/>
          <p:cNvSpPr txBox="1"/>
          <p:nvPr/>
        </p:nvSpPr>
        <p:spPr>
          <a:xfrm>
            <a:off x="658368" y="2407561"/>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22" name="Shape 20"/>
          <p:cNvSpPr/>
          <p:nvPr/>
        </p:nvSpPr>
        <p:spPr>
          <a:xfrm>
            <a:off x="2670048" y="2466460"/>
            <a:ext cx="616373" cy="117796"/>
          </a:xfrm>
          <a:prstGeom prst="rect">
            <a:avLst/>
          </a:prstGeom>
          <a:solidFill>
            <a:srgbClr val="12A566"/>
          </a:solidFill>
          <a:ln/>
        </p:spPr>
      </p:sp>
      <p:sp>
        <p:nvSpPr>
          <p:cNvPr id="23" name="Text 21"/>
          <p:cNvSpPr txBox="1"/>
          <p:nvPr/>
        </p:nvSpPr>
        <p:spPr>
          <a:xfrm>
            <a:off x="3511296" y="2407561"/>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89.7%</a:t>
            </a:r>
            <a:endParaRPr lang="en-US" sz="1300" dirty="0"/>
          </a:p>
        </p:txBody>
      </p:sp>
      <p:sp>
        <p:nvSpPr>
          <p:cNvPr id="24" name="Text 22"/>
          <p:cNvSpPr txBox="1"/>
          <p:nvPr/>
        </p:nvSpPr>
        <p:spPr>
          <a:xfrm>
            <a:off x="4187952" y="240756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$165.96</a:t>
            </a:r>
            <a:endParaRPr lang="en-US" sz="1300" dirty="0"/>
          </a:p>
        </p:txBody>
      </p:sp>
      <p:sp>
        <p:nvSpPr>
          <p:cNvPr id="25" name="Text 23"/>
          <p:cNvSpPr txBox="1"/>
          <p:nvPr/>
        </p:nvSpPr>
        <p:spPr>
          <a:xfrm>
            <a:off x="4974336" y="2407561"/>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$129.41</a:t>
            </a:r>
            <a:endParaRPr lang="en-US" sz="1300" dirty="0"/>
          </a:p>
        </p:txBody>
      </p:sp>
      <p:sp>
        <p:nvSpPr>
          <p:cNvPr id="26" name="Text 24"/>
          <p:cNvSpPr txBox="1"/>
          <p:nvPr/>
        </p:nvSpPr>
        <p:spPr>
          <a:xfrm>
            <a:off x="658368" y="2643154"/>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27" name="Shape 25"/>
          <p:cNvSpPr/>
          <p:nvPr/>
        </p:nvSpPr>
        <p:spPr>
          <a:xfrm>
            <a:off x="2670048" y="2702052"/>
            <a:ext cx="600794" cy="117796"/>
          </a:xfrm>
          <a:prstGeom prst="rect">
            <a:avLst/>
          </a:prstGeom>
          <a:solidFill>
            <a:srgbClr val="12A566"/>
          </a:solidFill>
          <a:ln/>
        </p:spPr>
      </p:sp>
      <p:sp>
        <p:nvSpPr>
          <p:cNvPr id="28" name="Text 26"/>
          <p:cNvSpPr txBox="1"/>
          <p:nvPr/>
        </p:nvSpPr>
        <p:spPr>
          <a:xfrm>
            <a:off x="3511296" y="2643154"/>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88.5%</a:t>
            </a:r>
            <a:endParaRPr lang="en-US" sz="1300" dirty="0"/>
          </a:p>
        </p:txBody>
      </p:sp>
      <p:sp>
        <p:nvSpPr>
          <p:cNvPr id="29" name="Text 27"/>
          <p:cNvSpPr txBox="1"/>
          <p:nvPr/>
        </p:nvSpPr>
        <p:spPr>
          <a:xfrm>
            <a:off x="4187952" y="264315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$199.04</a:t>
            </a:r>
            <a:endParaRPr lang="en-US" sz="1300" dirty="0"/>
          </a:p>
        </p:txBody>
      </p:sp>
      <p:sp>
        <p:nvSpPr>
          <p:cNvPr id="30" name="Text 28"/>
          <p:cNvSpPr txBox="1"/>
          <p:nvPr/>
        </p:nvSpPr>
        <p:spPr>
          <a:xfrm>
            <a:off x="4974336" y="2643154"/>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$157.41</a:t>
            </a:r>
            <a:endParaRPr lang="en-US" sz="1300" dirty="0"/>
          </a:p>
        </p:txBody>
      </p:sp>
      <p:sp>
        <p:nvSpPr>
          <p:cNvPr id="31" name="Text 29"/>
          <p:cNvSpPr txBox="1"/>
          <p:nvPr/>
        </p:nvSpPr>
        <p:spPr>
          <a:xfrm>
            <a:off x="658368" y="2878746"/>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32" name="Shape 30"/>
          <p:cNvSpPr/>
          <p:nvPr/>
        </p:nvSpPr>
        <p:spPr>
          <a:xfrm>
            <a:off x="2670048" y="2937644"/>
            <a:ext cx="579216" cy="117796"/>
          </a:xfrm>
          <a:prstGeom prst="rect">
            <a:avLst/>
          </a:prstGeom>
          <a:solidFill>
            <a:srgbClr val="12A566"/>
          </a:solidFill>
          <a:ln/>
        </p:spPr>
      </p:sp>
      <p:sp>
        <p:nvSpPr>
          <p:cNvPr id="33" name="Text 31"/>
          <p:cNvSpPr txBox="1"/>
          <p:nvPr/>
        </p:nvSpPr>
        <p:spPr>
          <a:xfrm>
            <a:off x="3511296" y="2878746"/>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86.7%</a:t>
            </a:r>
            <a:endParaRPr lang="en-US" sz="1300" dirty="0"/>
          </a:p>
        </p:txBody>
      </p:sp>
      <p:sp>
        <p:nvSpPr>
          <p:cNvPr id="34" name="Text 32"/>
          <p:cNvSpPr txBox="1"/>
          <p:nvPr/>
        </p:nvSpPr>
        <p:spPr>
          <a:xfrm>
            <a:off x="4187952" y="287874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$238.62</a:t>
            </a:r>
            <a:endParaRPr lang="en-US" sz="1300" dirty="0"/>
          </a:p>
        </p:txBody>
      </p:sp>
      <p:sp>
        <p:nvSpPr>
          <p:cNvPr id="35" name="Text 33"/>
          <p:cNvSpPr txBox="1"/>
          <p:nvPr/>
        </p:nvSpPr>
        <p:spPr>
          <a:xfrm>
            <a:off x="4974336" y="2878746"/>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$192.50</a:t>
            </a:r>
            <a:endParaRPr lang="en-US" sz="1300" dirty="0"/>
          </a:p>
        </p:txBody>
      </p:sp>
      <p:sp>
        <p:nvSpPr>
          <p:cNvPr id="36" name="Text 34"/>
          <p:cNvSpPr txBox="1"/>
          <p:nvPr/>
        </p:nvSpPr>
        <p:spPr>
          <a:xfrm>
            <a:off x="658368" y="3114339"/>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37" name="Shape 35"/>
          <p:cNvSpPr/>
          <p:nvPr/>
        </p:nvSpPr>
        <p:spPr>
          <a:xfrm>
            <a:off x="2670048" y="3173237"/>
            <a:ext cx="573616" cy="117796"/>
          </a:xfrm>
          <a:prstGeom prst="rect">
            <a:avLst/>
          </a:prstGeom>
          <a:solidFill>
            <a:srgbClr val="12A566"/>
          </a:solidFill>
          <a:ln/>
        </p:spPr>
      </p:sp>
      <p:sp>
        <p:nvSpPr>
          <p:cNvPr id="38" name="Text 36"/>
          <p:cNvSpPr txBox="1"/>
          <p:nvPr/>
        </p:nvSpPr>
        <p:spPr>
          <a:xfrm>
            <a:off x="3511296" y="3114339"/>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86.3%</a:t>
            </a:r>
            <a:endParaRPr lang="en-US" sz="1300" dirty="0"/>
          </a:p>
        </p:txBody>
      </p:sp>
      <p:sp>
        <p:nvSpPr>
          <p:cNvPr id="39" name="Text 37"/>
          <p:cNvSpPr txBox="1"/>
          <p:nvPr/>
        </p:nvSpPr>
        <p:spPr>
          <a:xfrm>
            <a:off x="4187952" y="311433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$159.69</a:t>
            </a:r>
            <a:endParaRPr lang="en-US" sz="1300" dirty="0"/>
          </a:p>
        </p:txBody>
      </p:sp>
      <p:sp>
        <p:nvSpPr>
          <p:cNvPr id="40" name="Text 38"/>
          <p:cNvSpPr txBox="1"/>
          <p:nvPr/>
        </p:nvSpPr>
        <p:spPr>
          <a:xfrm>
            <a:off x="4974336" y="3114339"/>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$129.50</a:t>
            </a:r>
            <a:endParaRPr lang="en-US" sz="1300" dirty="0"/>
          </a:p>
        </p:txBody>
      </p:sp>
      <p:sp>
        <p:nvSpPr>
          <p:cNvPr id="41" name="Text 39"/>
          <p:cNvSpPr txBox="1"/>
          <p:nvPr/>
        </p:nvSpPr>
        <p:spPr>
          <a:xfrm>
            <a:off x="658368" y="3349931"/>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42" name="Shape 40"/>
          <p:cNvSpPr/>
          <p:nvPr/>
        </p:nvSpPr>
        <p:spPr>
          <a:xfrm>
            <a:off x="2670048" y="3408829"/>
            <a:ext cx="528073" cy="117796"/>
          </a:xfrm>
          <a:prstGeom prst="rect">
            <a:avLst/>
          </a:prstGeom>
          <a:solidFill>
            <a:srgbClr val="12A566"/>
          </a:solidFill>
          <a:ln/>
        </p:spPr>
      </p:sp>
      <p:sp>
        <p:nvSpPr>
          <p:cNvPr id="43" name="Text 41"/>
          <p:cNvSpPr txBox="1"/>
          <p:nvPr/>
        </p:nvSpPr>
        <p:spPr>
          <a:xfrm>
            <a:off x="3511296" y="3349931"/>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82.6%</a:t>
            </a:r>
            <a:endParaRPr lang="en-US" sz="1300" dirty="0"/>
          </a:p>
        </p:txBody>
      </p:sp>
      <p:sp>
        <p:nvSpPr>
          <p:cNvPr id="44" name="Text 42"/>
          <p:cNvSpPr txBox="1"/>
          <p:nvPr/>
        </p:nvSpPr>
        <p:spPr>
          <a:xfrm>
            <a:off x="4187952" y="334993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$147.93</a:t>
            </a:r>
            <a:endParaRPr lang="en-US" sz="1300" dirty="0"/>
          </a:p>
        </p:txBody>
      </p:sp>
      <p:sp>
        <p:nvSpPr>
          <p:cNvPr id="45" name="Text 43"/>
          <p:cNvSpPr txBox="1"/>
          <p:nvPr/>
        </p:nvSpPr>
        <p:spPr>
          <a:xfrm>
            <a:off x="4974336" y="3349931"/>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$125.30</a:t>
            </a:r>
            <a:endParaRPr lang="en-US" sz="1300" dirty="0"/>
          </a:p>
        </p:txBody>
      </p:sp>
      <p:sp>
        <p:nvSpPr>
          <p:cNvPr id="46" name="Text 44"/>
          <p:cNvSpPr txBox="1"/>
          <p:nvPr/>
        </p:nvSpPr>
        <p:spPr>
          <a:xfrm>
            <a:off x="658368" y="3585524"/>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47" name="Shape 45"/>
          <p:cNvSpPr/>
          <p:nvPr/>
        </p:nvSpPr>
        <p:spPr>
          <a:xfrm>
            <a:off x="2670048" y="3644422"/>
            <a:ext cx="513999" cy="117796"/>
          </a:xfrm>
          <a:prstGeom prst="rect">
            <a:avLst/>
          </a:prstGeom>
          <a:solidFill>
            <a:srgbClr val="12A566"/>
          </a:solidFill>
          <a:ln/>
        </p:spPr>
      </p:sp>
      <p:sp>
        <p:nvSpPr>
          <p:cNvPr id="48" name="Text 46"/>
          <p:cNvSpPr txBox="1"/>
          <p:nvPr/>
        </p:nvSpPr>
        <p:spPr>
          <a:xfrm>
            <a:off x="3511296" y="3585524"/>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81.5%</a:t>
            </a:r>
            <a:endParaRPr lang="en-US" sz="1300" dirty="0"/>
          </a:p>
        </p:txBody>
      </p:sp>
      <p:sp>
        <p:nvSpPr>
          <p:cNvPr id="49" name="Text 47"/>
          <p:cNvSpPr txBox="1"/>
          <p:nvPr/>
        </p:nvSpPr>
        <p:spPr>
          <a:xfrm>
            <a:off x="4187952" y="358552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$187.42</a:t>
            </a:r>
            <a:endParaRPr lang="en-US" sz="1300" dirty="0"/>
          </a:p>
        </p:txBody>
      </p:sp>
      <p:sp>
        <p:nvSpPr>
          <p:cNvPr id="50" name="Text 48"/>
          <p:cNvSpPr txBox="1"/>
          <p:nvPr/>
        </p:nvSpPr>
        <p:spPr>
          <a:xfrm>
            <a:off x="4974336" y="3585524"/>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$160.96</a:t>
            </a:r>
            <a:endParaRPr lang="en-US" sz="1300" dirty="0"/>
          </a:p>
        </p:txBody>
      </p:sp>
      <p:sp>
        <p:nvSpPr>
          <p:cNvPr id="51" name="Text 49"/>
          <p:cNvSpPr txBox="1"/>
          <p:nvPr/>
        </p:nvSpPr>
        <p:spPr>
          <a:xfrm>
            <a:off x="658368" y="3821116"/>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52" name="Shape 50"/>
          <p:cNvSpPr/>
          <p:nvPr/>
        </p:nvSpPr>
        <p:spPr>
          <a:xfrm>
            <a:off x="2670048" y="3880014"/>
            <a:ext cx="507564" cy="117796"/>
          </a:xfrm>
          <a:prstGeom prst="rect">
            <a:avLst/>
          </a:prstGeom>
          <a:solidFill>
            <a:srgbClr val="12A566"/>
          </a:solidFill>
          <a:ln/>
        </p:spPr>
      </p:sp>
      <p:sp>
        <p:nvSpPr>
          <p:cNvPr id="53" name="Text 51"/>
          <p:cNvSpPr txBox="1"/>
          <p:nvPr/>
        </p:nvSpPr>
        <p:spPr>
          <a:xfrm>
            <a:off x="3511296" y="3821116"/>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80.9%</a:t>
            </a:r>
            <a:endParaRPr lang="en-US" sz="1300" dirty="0"/>
          </a:p>
        </p:txBody>
      </p:sp>
      <p:sp>
        <p:nvSpPr>
          <p:cNvPr id="54" name="Text 52"/>
          <p:cNvSpPr txBox="1"/>
          <p:nvPr/>
        </p:nvSpPr>
        <p:spPr>
          <a:xfrm>
            <a:off x="4187952" y="382111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$161.93</a:t>
            </a:r>
            <a:endParaRPr lang="en-US" sz="1300" dirty="0"/>
          </a:p>
        </p:txBody>
      </p:sp>
      <p:sp>
        <p:nvSpPr>
          <p:cNvPr id="55" name="Text 53"/>
          <p:cNvSpPr txBox="1"/>
          <p:nvPr/>
        </p:nvSpPr>
        <p:spPr>
          <a:xfrm>
            <a:off x="4974336" y="3821116"/>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$139.96</a:t>
            </a:r>
            <a:endParaRPr lang="en-US" sz="1300" dirty="0"/>
          </a:p>
        </p:txBody>
      </p:sp>
      <p:sp>
        <p:nvSpPr>
          <p:cNvPr id="56" name="Text 54"/>
          <p:cNvSpPr txBox="1"/>
          <p:nvPr/>
        </p:nvSpPr>
        <p:spPr>
          <a:xfrm>
            <a:off x="658368" y="4056709"/>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57" name="Shape 55"/>
          <p:cNvSpPr/>
          <p:nvPr/>
        </p:nvSpPr>
        <p:spPr>
          <a:xfrm>
            <a:off x="2670048" y="4115607"/>
            <a:ext cx="493956" cy="117796"/>
          </a:xfrm>
          <a:prstGeom prst="rect">
            <a:avLst/>
          </a:prstGeom>
          <a:solidFill>
            <a:srgbClr val="12A566"/>
          </a:solidFill>
          <a:ln/>
        </p:spPr>
      </p:sp>
      <p:sp>
        <p:nvSpPr>
          <p:cNvPr id="58" name="Text 56"/>
          <p:cNvSpPr txBox="1"/>
          <p:nvPr/>
        </p:nvSpPr>
        <p:spPr>
          <a:xfrm>
            <a:off x="3511296" y="4056709"/>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79.8%</a:t>
            </a:r>
            <a:endParaRPr lang="en-US" sz="1300" dirty="0"/>
          </a:p>
        </p:txBody>
      </p:sp>
      <p:sp>
        <p:nvSpPr>
          <p:cNvPr id="59" name="Text 57"/>
          <p:cNvSpPr txBox="1"/>
          <p:nvPr/>
        </p:nvSpPr>
        <p:spPr>
          <a:xfrm>
            <a:off x="4187952" y="405670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$155.78</a:t>
            </a:r>
            <a:endParaRPr lang="en-US" sz="1300" dirty="0"/>
          </a:p>
        </p:txBody>
      </p:sp>
      <p:sp>
        <p:nvSpPr>
          <p:cNvPr id="60" name="Text 58"/>
          <p:cNvSpPr txBox="1"/>
          <p:nvPr/>
        </p:nvSpPr>
        <p:spPr>
          <a:xfrm>
            <a:off x="4974336" y="4056709"/>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$136.50</a:t>
            </a:r>
            <a:endParaRPr lang="en-US" sz="1300" dirty="0"/>
          </a:p>
        </p:txBody>
      </p:sp>
      <p:sp>
        <p:nvSpPr>
          <p:cNvPr id="61" name="Text 59"/>
          <p:cNvSpPr txBox="1"/>
          <p:nvPr/>
        </p:nvSpPr>
        <p:spPr>
          <a:xfrm>
            <a:off x="658368" y="4292301"/>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62" name="Shape 60"/>
          <p:cNvSpPr/>
          <p:nvPr/>
        </p:nvSpPr>
        <p:spPr>
          <a:xfrm>
            <a:off x="2670048" y="4351199"/>
            <a:ext cx="489440" cy="117796"/>
          </a:xfrm>
          <a:prstGeom prst="rect">
            <a:avLst/>
          </a:prstGeom>
          <a:solidFill>
            <a:srgbClr val="12A566"/>
          </a:solidFill>
          <a:ln/>
        </p:spPr>
      </p:sp>
      <p:sp>
        <p:nvSpPr>
          <p:cNvPr id="63" name="Text 61"/>
          <p:cNvSpPr txBox="1"/>
          <p:nvPr/>
        </p:nvSpPr>
        <p:spPr>
          <a:xfrm>
            <a:off x="3511296" y="4292301"/>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79.5%</a:t>
            </a:r>
            <a:endParaRPr lang="en-US" sz="1300" dirty="0"/>
          </a:p>
        </p:txBody>
      </p:sp>
      <p:sp>
        <p:nvSpPr>
          <p:cNvPr id="64" name="Text 62"/>
          <p:cNvSpPr txBox="1"/>
          <p:nvPr/>
        </p:nvSpPr>
        <p:spPr>
          <a:xfrm>
            <a:off x="4187952" y="429230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$234.48</a:t>
            </a:r>
            <a:endParaRPr lang="en-US" sz="1300" dirty="0"/>
          </a:p>
        </p:txBody>
      </p:sp>
      <p:sp>
        <p:nvSpPr>
          <p:cNvPr id="65" name="Text 63"/>
          <p:cNvSpPr txBox="1"/>
          <p:nvPr/>
        </p:nvSpPr>
        <p:spPr>
          <a:xfrm>
            <a:off x="4974336" y="4292301"/>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$206.41</a:t>
            </a:r>
            <a:endParaRPr lang="en-US" sz="1300" dirty="0"/>
          </a:p>
        </p:txBody>
      </p:sp>
      <p:sp>
        <p:nvSpPr>
          <p:cNvPr id="66" name="Text 64"/>
          <p:cNvSpPr txBox="1"/>
          <p:nvPr/>
        </p:nvSpPr>
        <p:spPr>
          <a:xfrm>
            <a:off x="658368" y="4527894"/>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67" name="Shape 65"/>
          <p:cNvSpPr/>
          <p:nvPr/>
        </p:nvSpPr>
        <p:spPr>
          <a:xfrm>
            <a:off x="2670048" y="4586792"/>
            <a:ext cx="482276" cy="117796"/>
          </a:xfrm>
          <a:prstGeom prst="rect">
            <a:avLst/>
          </a:prstGeom>
          <a:solidFill>
            <a:srgbClr val="12A566"/>
          </a:solidFill>
          <a:ln/>
        </p:spPr>
      </p:sp>
      <p:sp>
        <p:nvSpPr>
          <p:cNvPr id="68" name="Text 66"/>
          <p:cNvSpPr txBox="1"/>
          <p:nvPr/>
        </p:nvSpPr>
        <p:spPr>
          <a:xfrm>
            <a:off x="3511296" y="4527894"/>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78.9%</a:t>
            </a:r>
            <a:endParaRPr lang="en-US" sz="1300" dirty="0"/>
          </a:p>
        </p:txBody>
      </p:sp>
      <p:sp>
        <p:nvSpPr>
          <p:cNvPr id="69" name="Text 67"/>
          <p:cNvSpPr txBox="1"/>
          <p:nvPr/>
        </p:nvSpPr>
        <p:spPr>
          <a:xfrm>
            <a:off x="4187952" y="452789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$146.04</a:t>
            </a:r>
            <a:endParaRPr lang="en-US" sz="1300" dirty="0"/>
          </a:p>
        </p:txBody>
      </p:sp>
      <p:sp>
        <p:nvSpPr>
          <p:cNvPr id="70" name="Text 68"/>
          <p:cNvSpPr txBox="1"/>
          <p:nvPr/>
        </p:nvSpPr>
        <p:spPr>
          <a:xfrm>
            <a:off x="4974336" y="4527894"/>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$129.50</a:t>
            </a:r>
            <a:endParaRPr lang="en-US" sz="1300" dirty="0"/>
          </a:p>
        </p:txBody>
      </p:sp>
      <p:sp>
        <p:nvSpPr>
          <p:cNvPr id="71" name="Text 69"/>
          <p:cNvSpPr txBox="1"/>
          <p:nvPr/>
        </p:nvSpPr>
        <p:spPr>
          <a:xfrm>
            <a:off x="658368" y="4763486"/>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72" name="Shape 70"/>
          <p:cNvSpPr/>
          <p:nvPr/>
        </p:nvSpPr>
        <p:spPr>
          <a:xfrm>
            <a:off x="2670048" y="4822384"/>
            <a:ext cx="482213" cy="117796"/>
          </a:xfrm>
          <a:prstGeom prst="rect">
            <a:avLst/>
          </a:prstGeom>
          <a:solidFill>
            <a:srgbClr val="12A566"/>
          </a:solidFill>
          <a:ln/>
        </p:spPr>
      </p:sp>
      <p:sp>
        <p:nvSpPr>
          <p:cNvPr id="73" name="Text 71"/>
          <p:cNvSpPr txBox="1"/>
          <p:nvPr/>
        </p:nvSpPr>
        <p:spPr>
          <a:xfrm>
            <a:off x="3511296" y="4763486"/>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78.9%</a:t>
            </a:r>
            <a:endParaRPr lang="en-US" sz="1300" dirty="0"/>
          </a:p>
        </p:txBody>
      </p:sp>
      <p:sp>
        <p:nvSpPr>
          <p:cNvPr id="74" name="Text 72"/>
          <p:cNvSpPr txBox="1"/>
          <p:nvPr/>
        </p:nvSpPr>
        <p:spPr>
          <a:xfrm>
            <a:off x="4187952" y="476348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$165.67</a:t>
            </a:r>
            <a:endParaRPr lang="en-US" sz="1300" dirty="0"/>
          </a:p>
        </p:txBody>
      </p:sp>
      <p:sp>
        <p:nvSpPr>
          <p:cNvPr id="75" name="Text 73"/>
          <p:cNvSpPr txBox="1"/>
          <p:nvPr/>
        </p:nvSpPr>
        <p:spPr>
          <a:xfrm>
            <a:off x="4974336" y="4763486"/>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$146.91</a:t>
            </a:r>
            <a:endParaRPr lang="en-US" sz="1300" dirty="0"/>
          </a:p>
        </p:txBody>
      </p:sp>
      <p:sp>
        <p:nvSpPr>
          <p:cNvPr id="76" name="Text 74"/>
          <p:cNvSpPr txBox="1"/>
          <p:nvPr/>
        </p:nvSpPr>
        <p:spPr>
          <a:xfrm>
            <a:off x="658368" y="4999079"/>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77" name="Shape 75"/>
          <p:cNvSpPr/>
          <p:nvPr/>
        </p:nvSpPr>
        <p:spPr>
          <a:xfrm>
            <a:off x="2670048" y="5057977"/>
            <a:ext cx="476913" cy="117796"/>
          </a:xfrm>
          <a:prstGeom prst="rect">
            <a:avLst/>
          </a:prstGeom>
          <a:solidFill>
            <a:srgbClr val="12A566"/>
          </a:solidFill>
          <a:ln/>
        </p:spPr>
      </p:sp>
      <p:sp>
        <p:nvSpPr>
          <p:cNvPr id="78" name="Text 76"/>
          <p:cNvSpPr txBox="1"/>
          <p:nvPr/>
        </p:nvSpPr>
        <p:spPr>
          <a:xfrm>
            <a:off x="3511296" y="4999079"/>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78.5%</a:t>
            </a:r>
            <a:endParaRPr lang="en-US" sz="1300" dirty="0"/>
          </a:p>
        </p:txBody>
      </p:sp>
      <p:sp>
        <p:nvSpPr>
          <p:cNvPr id="79" name="Text 77"/>
          <p:cNvSpPr txBox="1"/>
          <p:nvPr/>
        </p:nvSpPr>
        <p:spPr>
          <a:xfrm>
            <a:off x="4187952" y="499907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$160.84</a:t>
            </a:r>
            <a:endParaRPr lang="en-US" sz="1300" dirty="0"/>
          </a:p>
        </p:txBody>
      </p:sp>
      <p:sp>
        <p:nvSpPr>
          <p:cNvPr id="80" name="Text 78"/>
          <p:cNvSpPr txBox="1"/>
          <p:nvPr/>
        </p:nvSpPr>
        <p:spPr>
          <a:xfrm>
            <a:off x="4974336" y="4999079"/>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$143.41</a:t>
            </a:r>
            <a:endParaRPr lang="en-US" sz="1300" dirty="0"/>
          </a:p>
        </p:txBody>
      </p:sp>
      <p:sp>
        <p:nvSpPr>
          <p:cNvPr id="81" name="Text 79"/>
          <p:cNvSpPr txBox="1"/>
          <p:nvPr/>
        </p:nvSpPr>
        <p:spPr>
          <a:xfrm>
            <a:off x="658368" y="5234671"/>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82" name="Shape 80"/>
          <p:cNvSpPr/>
          <p:nvPr/>
        </p:nvSpPr>
        <p:spPr>
          <a:xfrm>
            <a:off x="2670048" y="5293569"/>
            <a:ext cx="455168" cy="117796"/>
          </a:xfrm>
          <a:prstGeom prst="rect">
            <a:avLst/>
          </a:prstGeom>
          <a:solidFill>
            <a:srgbClr val="12A566"/>
          </a:solidFill>
          <a:ln/>
        </p:spPr>
      </p:sp>
      <p:sp>
        <p:nvSpPr>
          <p:cNvPr id="83" name="Text 81"/>
          <p:cNvSpPr txBox="1"/>
          <p:nvPr/>
        </p:nvSpPr>
        <p:spPr>
          <a:xfrm>
            <a:off x="3511296" y="5234671"/>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76.7%</a:t>
            </a:r>
            <a:endParaRPr lang="en-US" sz="1300" dirty="0"/>
          </a:p>
        </p:txBody>
      </p:sp>
      <p:sp>
        <p:nvSpPr>
          <p:cNvPr id="84" name="Text 82"/>
          <p:cNvSpPr txBox="1"/>
          <p:nvPr/>
        </p:nvSpPr>
        <p:spPr>
          <a:xfrm>
            <a:off x="4187952" y="523467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$141.89</a:t>
            </a:r>
            <a:endParaRPr lang="en-US" sz="1300" dirty="0"/>
          </a:p>
        </p:txBody>
      </p:sp>
      <p:sp>
        <p:nvSpPr>
          <p:cNvPr id="85" name="Text 83"/>
          <p:cNvSpPr txBox="1"/>
          <p:nvPr/>
        </p:nvSpPr>
        <p:spPr>
          <a:xfrm>
            <a:off x="4974336" y="5234671"/>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$129.41</a:t>
            </a:r>
            <a:endParaRPr lang="en-US" sz="1300" dirty="0"/>
          </a:p>
        </p:txBody>
      </p:sp>
      <p:sp>
        <p:nvSpPr>
          <p:cNvPr id="86" name="Text 84"/>
          <p:cNvSpPr txBox="1"/>
          <p:nvPr/>
        </p:nvSpPr>
        <p:spPr>
          <a:xfrm>
            <a:off x="658368" y="5470264"/>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87" name="Shape 85"/>
          <p:cNvSpPr/>
          <p:nvPr/>
        </p:nvSpPr>
        <p:spPr>
          <a:xfrm>
            <a:off x="2670048" y="5529162"/>
            <a:ext cx="451454" cy="117796"/>
          </a:xfrm>
          <a:prstGeom prst="rect">
            <a:avLst/>
          </a:prstGeom>
          <a:solidFill>
            <a:srgbClr val="12A566"/>
          </a:solidFill>
          <a:ln/>
        </p:spPr>
      </p:sp>
      <p:sp>
        <p:nvSpPr>
          <p:cNvPr id="88" name="Text 86"/>
          <p:cNvSpPr txBox="1"/>
          <p:nvPr/>
        </p:nvSpPr>
        <p:spPr>
          <a:xfrm>
            <a:off x="3511296" y="5470264"/>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76.4%</a:t>
            </a:r>
            <a:endParaRPr lang="en-US" sz="1300" dirty="0"/>
          </a:p>
        </p:txBody>
      </p:sp>
      <p:sp>
        <p:nvSpPr>
          <p:cNvPr id="89" name="Text 87"/>
          <p:cNvSpPr txBox="1"/>
          <p:nvPr/>
        </p:nvSpPr>
        <p:spPr>
          <a:xfrm>
            <a:off x="4187952" y="547026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$266.72</a:t>
            </a:r>
            <a:endParaRPr lang="en-US" sz="1300" dirty="0"/>
          </a:p>
        </p:txBody>
      </p:sp>
      <p:sp>
        <p:nvSpPr>
          <p:cNvPr id="90" name="Text 88"/>
          <p:cNvSpPr txBox="1"/>
          <p:nvPr/>
        </p:nvSpPr>
        <p:spPr>
          <a:xfrm>
            <a:off x="4974336" y="5470264"/>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$244.21</a:t>
            </a:r>
            <a:endParaRPr lang="en-US" sz="1300" dirty="0"/>
          </a:p>
        </p:txBody>
      </p:sp>
      <p:sp>
        <p:nvSpPr>
          <p:cNvPr id="91" name="Text 89"/>
          <p:cNvSpPr txBox="1"/>
          <p:nvPr/>
        </p:nvSpPr>
        <p:spPr>
          <a:xfrm>
            <a:off x="6208776" y="1700784"/>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92" name="Shape 90"/>
          <p:cNvSpPr/>
          <p:nvPr/>
        </p:nvSpPr>
        <p:spPr>
          <a:xfrm>
            <a:off x="8220456" y="1759682"/>
            <a:ext cx="438964" cy="117796"/>
          </a:xfrm>
          <a:prstGeom prst="rect">
            <a:avLst/>
          </a:prstGeom>
          <a:solidFill>
            <a:srgbClr val="12A566"/>
          </a:solidFill>
          <a:ln/>
        </p:spPr>
      </p:sp>
      <p:sp>
        <p:nvSpPr>
          <p:cNvPr id="93" name="Text 91"/>
          <p:cNvSpPr txBox="1"/>
          <p:nvPr/>
        </p:nvSpPr>
        <p:spPr>
          <a:xfrm>
            <a:off x="9061704" y="1700784"/>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75.4%</a:t>
            </a:r>
            <a:endParaRPr lang="en-US" sz="1300" dirty="0"/>
          </a:p>
        </p:txBody>
      </p:sp>
      <p:sp>
        <p:nvSpPr>
          <p:cNvPr id="94" name="Text 92"/>
          <p:cNvSpPr txBox="1"/>
          <p:nvPr/>
        </p:nvSpPr>
        <p:spPr>
          <a:xfrm>
            <a:off x="9738360" y="170078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$233.88</a:t>
            </a:r>
            <a:endParaRPr lang="en-US" sz="1300" dirty="0"/>
          </a:p>
        </p:txBody>
      </p:sp>
      <p:sp>
        <p:nvSpPr>
          <p:cNvPr id="95" name="Text 93"/>
          <p:cNvSpPr txBox="1"/>
          <p:nvPr/>
        </p:nvSpPr>
        <p:spPr>
          <a:xfrm>
            <a:off x="10524744" y="1700784"/>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$217.00</a:t>
            </a:r>
            <a:endParaRPr lang="en-US" sz="1300" dirty="0"/>
          </a:p>
        </p:txBody>
      </p:sp>
      <p:sp>
        <p:nvSpPr>
          <p:cNvPr id="96" name="Text 94"/>
          <p:cNvSpPr txBox="1"/>
          <p:nvPr/>
        </p:nvSpPr>
        <p:spPr>
          <a:xfrm>
            <a:off x="6208776" y="1936376"/>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97" name="Shape 95"/>
          <p:cNvSpPr/>
          <p:nvPr/>
        </p:nvSpPr>
        <p:spPr>
          <a:xfrm>
            <a:off x="8220456" y="1995275"/>
            <a:ext cx="436872" cy="117796"/>
          </a:xfrm>
          <a:prstGeom prst="rect">
            <a:avLst/>
          </a:prstGeom>
          <a:solidFill>
            <a:srgbClr val="12A566"/>
          </a:solidFill>
          <a:ln/>
        </p:spPr>
      </p:sp>
      <p:sp>
        <p:nvSpPr>
          <p:cNvPr id="98" name="Text 96"/>
          <p:cNvSpPr txBox="1"/>
          <p:nvPr/>
        </p:nvSpPr>
        <p:spPr>
          <a:xfrm>
            <a:off x="9061704" y="1936376"/>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75.2%</a:t>
            </a:r>
            <a:endParaRPr lang="en-US" sz="1300" dirty="0"/>
          </a:p>
        </p:txBody>
      </p:sp>
      <p:sp>
        <p:nvSpPr>
          <p:cNvPr id="99" name="Text 97"/>
          <p:cNvSpPr txBox="1"/>
          <p:nvPr/>
        </p:nvSpPr>
        <p:spPr>
          <a:xfrm>
            <a:off x="9738360" y="193637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$162.12</a:t>
            </a:r>
            <a:endParaRPr lang="en-US" sz="1300" dirty="0"/>
          </a:p>
        </p:txBody>
      </p:sp>
      <p:sp>
        <p:nvSpPr>
          <p:cNvPr id="100" name="Text 98"/>
          <p:cNvSpPr txBox="1"/>
          <p:nvPr/>
        </p:nvSpPr>
        <p:spPr>
          <a:xfrm>
            <a:off x="10524744" y="1936376"/>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$150.76</a:t>
            </a:r>
            <a:endParaRPr lang="en-US" sz="1300" dirty="0"/>
          </a:p>
        </p:txBody>
      </p:sp>
      <p:sp>
        <p:nvSpPr>
          <p:cNvPr id="101" name="Text 99"/>
          <p:cNvSpPr txBox="1"/>
          <p:nvPr/>
        </p:nvSpPr>
        <p:spPr>
          <a:xfrm>
            <a:off x="6208776" y="2171969"/>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102" name="Shape 100"/>
          <p:cNvSpPr/>
          <p:nvPr/>
        </p:nvSpPr>
        <p:spPr>
          <a:xfrm>
            <a:off x="8220456" y="2230867"/>
            <a:ext cx="434691" cy="117796"/>
          </a:xfrm>
          <a:prstGeom prst="rect">
            <a:avLst/>
          </a:prstGeom>
          <a:solidFill>
            <a:srgbClr val="12A566"/>
          </a:solidFill>
          <a:ln/>
        </p:spPr>
      </p:sp>
      <p:sp>
        <p:nvSpPr>
          <p:cNvPr id="103" name="Text 101"/>
          <p:cNvSpPr txBox="1"/>
          <p:nvPr/>
        </p:nvSpPr>
        <p:spPr>
          <a:xfrm>
            <a:off x="9061704" y="2171969"/>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75.1%</a:t>
            </a:r>
            <a:endParaRPr lang="en-US" sz="1300" dirty="0"/>
          </a:p>
        </p:txBody>
      </p:sp>
      <p:sp>
        <p:nvSpPr>
          <p:cNvPr id="104" name="Text 102"/>
          <p:cNvSpPr txBox="1"/>
          <p:nvPr/>
        </p:nvSpPr>
        <p:spPr>
          <a:xfrm>
            <a:off x="9738360" y="217196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$180.14</a:t>
            </a:r>
            <a:endParaRPr lang="en-US" sz="1300" dirty="0"/>
          </a:p>
        </p:txBody>
      </p:sp>
      <p:sp>
        <p:nvSpPr>
          <p:cNvPr id="105" name="Text 103"/>
          <p:cNvSpPr txBox="1"/>
          <p:nvPr/>
        </p:nvSpPr>
        <p:spPr>
          <a:xfrm>
            <a:off x="10524744" y="2171969"/>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$167.91</a:t>
            </a:r>
            <a:endParaRPr lang="en-US" sz="1300" dirty="0"/>
          </a:p>
        </p:txBody>
      </p:sp>
      <p:sp>
        <p:nvSpPr>
          <p:cNvPr id="106" name="Text 104"/>
          <p:cNvSpPr txBox="1"/>
          <p:nvPr/>
        </p:nvSpPr>
        <p:spPr>
          <a:xfrm>
            <a:off x="6208776" y="2407561"/>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107" name="Shape 105"/>
          <p:cNvSpPr/>
          <p:nvPr/>
        </p:nvSpPr>
        <p:spPr>
          <a:xfrm>
            <a:off x="8220456" y="2466460"/>
            <a:ext cx="433538" cy="117796"/>
          </a:xfrm>
          <a:prstGeom prst="rect">
            <a:avLst/>
          </a:prstGeom>
          <a:solidFill>
            <a:srgbClr val="12A566"/>
          </a:solidFill>
          <a:ln/>
        </p:spPr>
      </p:sp>
      <p:sp>
        <p:nvSpPr>
          <p:cNvPr id="108" name="Text 106"/>
          <p:cNvSpPr txBox="1"/>
          <p:nvPr/>
        </p:nvSpPr>
        <p:spPr>
          <a:xfrm>
            <a:off x="9061704" y="2407561"/>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75.0%</a:t>
            </a:r>
            <a:endParaRPr lang="en-US" sz="1300" dirty="0"/>
          </a:p>
        </p:txBody>
      </p:sp>
      <p:sp>
        <p:nvSpPr>
          <p:cNvPr id="109" name="Text 107"/>
          <p:cNvSpPr txBox="1"/>
          <p:nvPr/>
        </p:nvSpPr>
        <p:spPr>
          <a:xfrm>
            <a:off x="9738360" y="240756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$142.51</a:t>
            </a:r>
            <a:endParaRPr lang="en-US" sz="1300" dirty="0"/>
          </a:p>
        </p:txBody>
      </p:sp>
      <p:sp>
        <p:nvSpPr>
          <p:cNvPr id="110" name="Text 108"/>
          <p:cNvSpPr txBox="1"/>
          <p:nvPr/>
        </p:nvSpPr>
        <p:spPr>
          <a:xfrm>
            <a:off x="10524744" y="2407561"/>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$133.00</a:t>
            </a:r>
            <a:endParaRPr lang="en-US" sz="1300" dirty="0"/>
          </a:p>
        </p:txBody>
      </p:sp>
      <p:sp>
        <p:nvSpPr>
          <p:cNvPr id="111" name="Shape 109"/>
          <p:cNvSpPr/>
          <p:nvPr/>
        </p:nvSpPr>
        <p:spPr>
          <a:xfrm>
            <a:off x="6135624" y="2638582"/>
            <a:ext cx="5285232" cy="226448"/>
          </a:xfrm>
          <a:prstGeom prst="rect">
            <a:avLst/>
          </a:prstGeom>
          <a:solidFill>
            <a:srgbClr val="EDF4FA"/>
          </a:solidFill>
          <a:ln/>
        </p:spPr>
      </p:sp>
      <p:sp>
        <p:nvSpPr>
          <p:cNvPr id="112" name="Text 110"/>
          <p:cNvSpPr txBox="1"/>
          <p:nvPr/>
        </p:nvSpPr>
        <p:spPr>
          <a:xfrm>
            <a:off x="6208776" y="2643154"/>
            <a:ext cx="1938528" cy="235592"/>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GROUP</a:t>
            </a:r>
            <a:endParaRPr lang="en-US" sz="1300" dirty="0"/>
          </a:p>
        </p:txBody>
      </p:sp>
      <p:sp>
        <p:nvSpPr>
          <p:cNvPr id="113" name="Shape 111"/>
          <p:cNvSpPr/>
          <p:nvPr/>
        </p:nvSpPr>
        <p:spPr>
          <a:xfrm>
            <a:off x="8220456" y="2702052"/>
            <a:ext cx="430925" cy="117796"/>
          </a:xfrm>
          <a:prstGeom prst="rect">
            <a:avLst/>
          </a:prstGeom>
          <a:solidFill>
            <a:srgbClr val="0B2C4A"/>
          </a:solidFill>
          <a:ln/>
        </p:spPr>
      </p:sp>
      <p:sp>
        <p:nvSpPr>
          <p:cNvPr id="114" name="Text 112"/>
          <p:cNvSpPr txBox="1"/>
          <p:nvPr/>
        </p:nvSpPr>
        <p:spPr>
          <a:xfrm>
            <a:off x="9061704" y="2643154"/>
            <a:ext cx="676656" cy="23559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74.7%</a:t>
            </a:r>
            <a:endParaRPr lang="en-US" sz="1300" dirty="0"/>
          </a:p>
        </p:txBody>
      </p:sp>
      <p:sp>
        <p:nvSpPr>
          <p:cNvPr id="115" name="Text 113"/>
          <p:cNvSpPr txBox="1"/>
          <p:nvPr/>
        </p:nvSpPr>
        <p:spPr>
          <a:xfrm>
            <a:off x="9738360" y="2643154"/>
            <a:ext cx="786384" cy="23559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$163.67</a:t>
            </a:r>
            <a:endParaRPr lang="en-US" sz="1300" dirty="0"/>
          </a:p>
        </p:txBody>
      </p:sp>
      <p:sp>
        <p:nvSpPr>
          <p:cNvPr id="116" name="Text 114"/>
          <p:cNvSpPr txBox="1"/>
          <p:nvPr/>
        </p:nvSpPr>
        <p:spPr>
          <a:xfrm>
            <a:off x="10524744" y="2643154"/>
            <a:ext cx="841248" cy="23559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$153.17</a:t>
            </a:r>
            <a:endParaRPr lang="en-US" sz="1300" dirty="0"/>
          </a:p>
        </p:txBody>
      </p:sp>
      <p:sp>
        <p:nvSpPr>
          <p:cNvPr id="117" name="Text 115"/>
          <p:cNvSpPr txBox="1"/>
          <p:nvPr/>
        </p:nvSpPr>
        <p:spPr>
          <a:xfrm>
            <a:off x="6208776" y="2878746"/>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118" name="Shape 116"/>
          <p:cNvSpPr/>
          <p:nvPr/>
        </p:nvSpPr>
        <p:spPr>
          <a:xfrm>
            <a:off x="8220456" y="2937644"/>
            <a:ext cx="419774" cy="117796"/>
          </a:xfrm>
          <a:prstGeom prst="rect">
            <a:avLst/>
          </a:prstGeom>
          <a:solidFill>
            <a:srgbClr val="12A566"/>
          </a:solidFill>
          <a:ln/>
        </p:spPr>
      </p:sp>
      <p:sp>
        <p:nvSpPr>
          <p:cNvPr id="119" name="Text 117"/>
          <p:cNvSpPr txBox="1"/>
          <p:nvPr/>
        </p:nvSpPr>
        <p:spPr>
          <a:xfrm>
            <a:off x="9061704" y="2878746"/>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73.8%</a:t>
            </a:r>
            <a:endParaRPr lang="en-US" sz="1300" dirty="0"/>
          </a:p>
        </p:txBody>
      </p:sp>
      <p:sp>
        <p:nvSpPr>
          <p:cNvPr id="120" name="Text 118"/>
          <p:cNvSpPr txBox="1"/>
          <p:nvPr/>
        </p:nvSpPr>
        <p:spPr>
          <a:xfrm>
            <a:off x="9738360" y="287874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$136.71</a:t>
            </a:r>
            <a:endParaRPr lang="en-US" sz="1300" dirty="0"/>
          </a:p>
        </p:txBody>
      </p:sp>
      <p:sp>
        <p:nvSpPr>
          <p:cNvPr id="121" name="Text 119"/>
          <p:cNvSpPr txBox="1"/>
          <p:nvPr/>
        </p:nvSpPr>
        <p:spPr>
          <a:xfrm>
            <a:off x="10524744" y="2878746"/>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$129.50</a:t>
            </a:r>
            <a:endParaRPr lang="en-US" sz="1300" dirty="0"/>
          </a:p>
        </p:txBody>
      </p:sp>
      <p:sp>
        <p:nvSpPr>
          <p:cNvPr id="122" name="Text 120"/>
          <p:cNvSpPr txBox="1"/>
          <p:nvPr/>
        </p:nvSpPr>
        <p:spPr>
          <a:xfrm>
            <a:off x="6208776" y="3114339"/>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123" name="Shape 121"/>
          <p:cNvSpPr/>
          <p:nvPr/>
        </p:nvSpPr>
        <p:spPr>
          <a:xfrm>
            <a:off x="8220456" y="3173237"/>
            <a:ext cx="410628" cy="117796"/>
          </a:xfrm>
          <a:prstGeom prst="rect">
            <a:avLst/>
          </a:prstGeom>
          <a:solidFill>
            <a:srgbClr val="12A566"/>
          </a:solidFill>
          <a:ln/>
        </p:spPr>
      </p:sp>
      <p:sp>
        <p:nvSpPr>
          <p:cNvPr id="124" name="Text 122"/>
          <p:cNvSpPr txBox="1"/>
          <p:nvPr/>
        </p:nvSpPr>
        <p:spPr>
          <a:xfrm>
            <a:off x="9061704" y="3114339"/>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73.1%</a:t>
            </a:r>
            <a:endParaRPr lang="en-US" sz="1300" dirty="0"/>
          </a:p>
        </p:txBody>
      </p:sp>
      <p:sp>
        <p:nvSpPr>
          <p:cNvPr id="125" name="Text 123"/>
          <p:cNvSpPr txBox="1"/>
          <p:nvPr/>
        </p:nvSpPr>
        <p:spPr>
          <a:xfrm>
            <a:off x="9738360" y="311433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$154.55</a:t>
            </a:r>
            <a:endParaRPr lang="en-US" sz="1300" dirty="0"/>
          </a:p>
        </p:txBody>
      </p:sp>
      <p:sp>
        <p:nvSpPr>
          <p:cNvPr id="126" name="Text 124"/>
          <p:cNvSpPr txBox="1"/>
          <p:nvPr/>
        </p:nvSpPr>
        <p:spPr>
          <a:xfrm>
            <a:off x="10524744" y="3114339"/>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$147.88</a:t>
            </a:r>
            <a:endParaRPr lang="en-US" sz="1300" dirty="0"/>
          </a:p>
        </p:txBody>
      </p:sp>
      <p:sp>
        <p:nvSpPr>
          <p:cNvPr id="127" name="Text 125"/>
          <p:cNvSpPr txBox="1"/>
          <p:nvPr/>
        </p:nvSpPr>
        <p:spPr>
          <a:xfrm>
            <a:off x="6208776" y="3349931"/>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128" name="Shape 126"/>
          <p:cNvSpPr/>
          <p:nvPr/>
        </p:nvSpPr>
        <p:spPr>
          <a:xfrm>
            <a:off x="8220456" y="3408829"/>
            <a:ext cx="401598" cy="117796"/>
          </a:xfrm>
          <a:prstGeom prst="rect">
            <a:avLst/>
          </a:prstGeom>
          <a:solidFill>
            <a:srgbClr val="12A566"/>
          </a:solidFill>
          <a:ln/>
        </p:spPr>
      </p:sp>
      <p:sp>
        <p:nvSpPr>
          <p:cNvPr id="129" name="Text 127"/>
          <p:cNvSpPr txBox="1"/>
          <p:nvPr/>
        </p:nvSpPr>
        <p:spPr>
          <a:xfrm>
            <a:off x="9061704" y="3349931"/>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72.4%</a:t>
            </a:r>
            <a:endParaRPr lang="en-US" sz="1300" dirty="0"/>
          </a:p>
        </p:txBody>
      </p:sp>
      <p:sp>
        <p:nvSpPr>
          <p:cNvPr id="130" name="Text 128"/>
          <p:cNvSpPr txBox="1"/>
          <p:nvPr/>
        </p:nvSpPr>
        <p:spPr>
          <a:xfrm>
            <a:off x="9738360" y="334993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$153.45</a:t>
            </a:r>
            <a:endParaRPr lang="en-US" sz="1300" dirty="0"/>
          </a:p>
        </p:txBody>
      </p:sp>
      <p:sp>
        <p:nvSpPr>
          <p:cNvPr id="131" name="Text 129"/>
          <p:cNvSpPr txBox="1"/>
          <p:nvPr/>
        </p:nvSpPr>
        <p:spPr>
          <a:xfrm>
            <a:off x="10524744" y="3349931"/>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$148.31</a:t>
            </a:r>
            <a:endParaRPr lang="en-US" sz="1300" dirty="0"/>
          </a:p>
        </p:txBody>
      </p:sp>
      <p:sp>
        <p:nvSpPr>
          <p:cNvPr id="132" name="Text 130"/>
          <p:cNvSpPr txBox="1"/>
          <p:nvPr/>
        </p:nvSpPr>
        <p:spPr>
          <a:xfrm>
            <a:off x="6208776" y="3585524"/>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133" name="Shape 131"/>
          <p:cNvSpPr/>
          <p:nvPr/>
        </p:nvSpPr>
        <p:spPr>
          <a:xfrm>
            <a:off x="8220456" y="3644422"/>
            <a:ext cx="379643" cy="117796"/>
          </a:xfrm>
          <a:prstGeom prst="rect">
            <a:avLst/>
          </a:prstGeom>
          <a:solidFill>
            <a:srgbClr val="12A566"/>
          </a:solidFill>
          <a:ln/>
        </p:spPr>
      </p:sp>
      <p:sp>
        <p:nvSpPr>
          <p:cNvPr id="134" name="Text 132"/>
          <p:cNvSpPr txBox="1"/>
          <p:nvPr/>
        </p:nvSpPr>
        <p:spPr>
          <a:xfrm>
            <a:off x="9061704" y="3585524"/>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70.6%</a:t>
            </a:r>
            <a:endParaRPr lang="en-US" sz="1300" dirty="0"/>
          </a:p>
        </p:txBody>
      </p:sp>
      <p:sp>
        <p:nvSpPr>
          <p:cNvPr id="135" name="Text 133"/>
          <p:cNvSpPr txBox="1"/>
          <p:nvPr/>
        </p:nvSpPr>
        <p:spPr>
          <a:xfrm>
            <a:off x="9738360" y="358552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$149.70</a:t>
            </a:r>
            <a:endParaRPr lang="en-US" sz="1300" dirty="0"/>
          </a:p>
        </p:txBody>
      </p:sp>
      <p:sp>
        <p:nvSpPr>
          <p:cNvPr id="136" name="Text 134"/>
          <p:cNvSpPr txBox="1"/>
          <p:nvPr/>
        </p:nvSpPr>
        <p:spPr>
          <a:xfrm>
            <a:off x="10524744" y="3585524"/>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$148.31</a:t>
            </a:r>
            <a:endParaRPr lang="en-US" sz="1300" dirty="0"/>
          </a:p>
        </p:txBody>
      </p:sp>
      <p:sp>
        <p:nvSpPr>
          <p:cNvPr id="137" name="Text 135"/>
          <p:cNvSpPr txBox="1"/>
          <p:nvPr/>
        </p:nvSpPr>
        <p:spPr>
          <a:xfrm>
            <a:off x="6208776" y="3821116"/>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138" name="Shape 136"/>
          <p:cNvSpPr/>
          <p:nvPr/>
        </p:nvSpPr>
        <p:spPr>
          <a:xfrm>
            <a:off x="8220456" y="3880014"/>
            <a:ext cx="353585" cy="117796"/>
          </a:xfrm>
          <a:prstGeom prst="rect">
            <a:avLst/>
          </a:prstGeom>
          <a:solidFill>
            <a:srgbClr val="C2352F"/>
          </a:solidFill>
          <a:ln/>
        </p:spPr>
      </p:sp>
      <p:sp>
        <p:nvSpPr>
          <p:cNvPr id="139" name="Text 137"/>
          <p:cNvSpPr txBox="1"/>
          <p:nvPr/>
        </p:nvSpPr>
        <p:spPr>
          <a:xfrm>
            <a:off x="9061704" y="3821116"/>
            <a:ext cx="67665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68.5%</a:t>
            </a:r>
            <a:endParaRPr lang="en-US" sz="1300" dirty="0"/>
          </a:p>
        </p:txBody>
      </p:sp>
      <p:sp>
        <p:nvSpPr>
          <p:cNvPr id="140" name="Text 138"/>
          <p:cNvSpPr txBox="1"/>
          <p:nvPr/>
        </p:nvSpPr>
        <p:spPr>
          <a:xfrm>
            <a:off x="9738360" y="382111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$150.72</a:t>
            </a:r>
            <a:endParaRPr lang="en-US" sz="1300" dirty="0"/>
          </a:p>
        </p:txBody>
      </p:sp>
      <p:sp>
        <p:nvSpPr>
          <p:cNvPr id="141" name="Text 139"/>
          <p:cNvSpPr txBox="1"/>
          <p:nvPr/>
        </p:nvSpPr>
        <p:spPr>
          <a:xfrm>
            <a:off x="10524744" y="3821116"/>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$153.91</a:t>
            </a:r>
            <a:endParaRPr lang="en-US" sz="1300" dirty="0"/>
          </a:p>
        </p:txBody>
      </p:sp>
      <p:sp>
        <p:nvSpPr>
          <p:cNvPr id="142" name="Text 140"/>
          <p:cNvSpPr txBox="1"/>
          <p:nvPr/>
        </p:nvSpPr>
        <p:spPr>
          <a:xfrm>
            <a:off x="6208776" y="4056709"/>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143" name="Shape 141"/>
          <p:cNvSpPr/>
          <p:nvPr/>
        </p:nvSpPr>
        <p:spPr>
          <a:xfrm>
            <a:off x="8220456" y="4115607"/>
            <a:ext cx="350355" cy="117796"/>
          </a:xfrm>
          <a:prstGeom prst="rect">
            <a:avLst/>
          </a:prstGeom>
          <a:solidFill>
            <a:srgbClr val="C2352F"/>
          </a:solidFill>
          <a:ln/>
        </p:spPr>
      </p:sp>
      <p:sp>
        <p:nvSpPr>
          <p:cNvPr id="144" name="Text 142"/>
          <p:cNvSpPr txBox="1"/>
          <p:nvPr/>
        </p:nvSpPr>
        <p:spPr>
          <a:xfrm>
            <a:off x="9061704" y="4056709"/>
            <a:ext cx="67665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68.2%</a:t>
            </a:r>
            <a:endParaRPr lang="en-US" sz="1300" dirty="0"/>
          </a:p>
        </p:txBody>
      </p:sp>
      <p:sp>
        <p:nvSpPr>
          <p:cNvPr id="145" name="Text 143"/>
          <p:cNvSpPr txBox="1"/>
          <p:nvPr/>
        </p:nvSpPr>
        <p:spPr>
          <a:xfrm>
            <a:off x="9738360" y="405670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$167.22</a:t>
            </a:r>
            <a:endParaRPr lang="en-US" sz="1300" dirty="0"/>
          </a:p>
        </p:txBody>
      </p:sp>
      <p:sp>
        <p:nvSpPr>
          <p:cNvPr id="146" name="Text 144"/>
          <p:cNvSpPr txBox="1"/>
          <p:nvPr/>
        </p:nvSpPr>
        <p:spPr>
          <a:xfrm>
            <a:off x="10524744" y="4056709"/>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$171.41</a:t>
            </a:r>
            <a:endParaRPr lang="en-US" sz="1300" dirty="0"/>
          </a:p>
        </p:txBody>
      </p:sp>
      <p:sp>
        <p:nvSpPr>
          <p:cNvPr id="147" name="Text 145"/>
          <p:cNvSpPr txBox="1"/>
          <p:nvPr/>
        </p:nvSpPr>
        <p:spPr>
          <a:xfrm>
            <a:off x="6208776" y="4292301"/>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148" name="Shape 146"/>
          <p:cNvSpPr/>
          <p:nvPr/>
        </p:nvSpPr>
        <p:spPr>
          <a:xfrm>
            <a:off x="8220456" y="4351199"/>
            <a:ext cx="340887" cy="117796"/>
          </a:xfrm>
          <a:prstGeom prst="rect">
            <a:avLst/>
          </a:prstGeom>
          <a:solidFill>
            <a:srgbClr val="C2352F"/>
          </a:solidFill>
          <a:ln/>
        </p:spPr>
      </p:sp>
      <p:sp>
        <p:nvSpPr>
          <p:cNvPr id="149" name="Text 147"/>
          <p:cNvSpPr txBox="1"/>
          <p:nvPr/>
        </p:nvSpPr>
        <p:spPr>
          <a:xfrm>
            <a:off x="9061704" y="4292301"/>
            <a:ext cx="67665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67.5%</a:t>
            </a:r>
            <a:endParaRPr lang="en-US" sz="1300" dirty="0"/>
          </a:p>
        </p:txBody>
      </p:sp>
      <p:sp>
        <p:nvSpPr>
          <p:cNvPr id="150" name="Text 148"/>
          <p:cNvSpPr txBox="1"/>
          <p:nvPr/>
        </p:nvSpPr>
        <p:spPr>
          <a:xfrm>
            <a:off x="9738360" y="429230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$124.92</a:t>
            </a:r>
            <a:endParaRPr lang="en-US" sz="1300" dirty="0"/>
          </a:p>
        </p:txBody>
      </p:sp>
      <p:sp>
        <p:nvSpPr>
          <p:cNvPr id="151" name="Text 149"/>
          <p:cNvSpPr txBox="1"/>
          <p:nvPr/>
        </p:nvSpPr>
        <p:spPr>
          <a:xfrm>
            <a:off x="10524744" y="4292301"/>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$129.50</a:t>
            </a:r>
            <a:endParaRPr lang="en-US" sz="1300" dirty="0"/>
          </a:p>
        </p:txBody>
      </p:sp>
      <p:sp>
        <p:nvSpPr>
          <p:cNvPr id="152" name="Text 150"/>
          <p:cNvSpPr txBox="1"/>
          <p:nvPr/>
        </p:nvSpPr>
        <p:spPr>
          <a:xfrm>
            <a:off x="6208776" y="4527894"/>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153" name="Shape 151"/>
          <p:cNvSpPr/>
          <p:nvPr/>
        </p:nvSpPr>
        <p:spPr>
          <a:xfrm>
            <a:off x="8220456" y="4586792"/>
            <a:ext cx="331691" cy="117796"/>
          </a:xfrm>
          <a:prstGeom prst="rect">
            <a:avLst/>
          </a:prstGeom>
          <a:solidFill>
            <a:srgbClr val="C2352F"/>
          </a:solidFill>
          <a:ln/>
        </p:spPr>
      </p:sp>
      <p:sp>
        <p:nvSpPr>
          <p:cNvPr id="154" name="Text 152"/>
          <p:cNvSpPr txBox="1"/>
          <p:nvPr/>
        </p:nvSpPr>
        <p:spPr>
          <a:xfrm>
            <a:off x="9061704" y="4527894"/>
            <a:ext cx="67665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66.7%</a:t>
            </a:r>
            <a:endParaRPr lang="en-US" sz="1300" dirty="0"/>
          </a:p>
        </p:txBody>
      </p:sp>
      <p:sp>
        <p:nvSpPr>
          <p:cNvPr id="155" name="Text 153"/>
          <p:cNvSpPr txBox="1"/>
          <p:nvPr/>
        </p:nvSpPr>
        <p:spPr>
          <a:xfrm>
            <a:off x="9738360" y="452789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$146.92</a:t>
            </a:r>
            <a:endParaRPr lang="en-US" sz="1300" dirty="0"/>
          </a:p>
        </p:txBody>
      </p:sp>
      <p:sp>
        <p:nvSpPr>
          <p:cNvPr id="156" name="Text 154"/>
          <p:cNvSpPr txBox="1"/>
          <p:nvPr/>
        </p:nvSpPr>
        <p:spPr>
          <a:xfrm>
            <a:off x="10524744" y="4527894"/>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$154.00</a:t>
            </a:r>
            <a:endParaRPr lang="en-US" sz="1300" dirty="0"/>
          </a:p>
        </p:txBody>
      </p:sp>
      <p:sp>
        <p:nvSpPr>
          <p:cNvPr id="157" name="Text 155"/>
          <p:cNvSpPr txBox="1"/>
          <p:nvPr/>
        </p:nvSpPr>
        <p:spPr>
          <a:xfrm>
            <a:off x="6208776" y="4763486"/>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158" name="Shape 156"/>
          <p:cNvSpPr/>
          <p:nvPr/>
        </p:nvSpPr>
        <p:spPr>
          <a:xfrm>
            <a:off x="8220456" y="4822384"/>
            <a:ext cx="329103" cy="117796"/>
          </a:xfrm>
          <a:prstGeom prst="rect">
            <a:avLst/>
          </a:prstGeom>
          <a:solidFill>
            <a:srgbClr val="C2352F"/>
          </a:solidFill>
          <a:ln/>
        </p:spPr>
      </p:sp>
      <p:sp>
        <p:nvSpPr>
          <p:cNvPr id="159" name="Text 157"/>
          <p:cNvSpPr txBox="1"/>
          <p:nvPr/>
        </p:nvSpPr>
        <p:spPr>
          <a:xfrm>
            <a:off x="9061704" y="4763486"/>
            <a:ext cx="67665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66.5%</a:t>
            </a:r>
            <a:endParaRPr lang="en-US" sz="1300" dirty="0"/>
          </a:p>
        </p:txBody>
      </p:sp>
      <p:sp>
        <p:nvSpPr>
          <p:cNvPr id="160" name="Text 158"/>
          <p:cNvSpPr txBox="1"/>
          <p:nvPr/>
        </p:nvSpPr>
        <p:spPr>
          <a:xfrm>
            <a:off x="9738360" y="476348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$139.81</a:t>
            </a:r>
            <a:endParaRPr lang="en-US" sz="1300" dirty="0"/>
          </a:p>
        </p:txBody>
      </p:sp>
      <p:sp>
        <p:nvSpPr>
          <p:cNvPr id="161" name="Text 159"/>
          <p:cNvSpPr txBox="1"/>
          <p:nvPr/>
        </p:nvSpPr>
        <p:spPr>
          <a:xfrm>
            <a:off x="10524744" y="4763486"/>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$147.00</a:t>
            </a:r>
            <a:endParaRPr lang="en-US" sz="1300" dirty="0"/>
          </a:p>
        </p:txBody>
      </p:sp>
      <p:sp>
        <p:nvSpPr>
          <p:cNvPr id="162" name="Text 160"/>
          <p:cNvSpPr txBox="1"/>
          <p:nvPr/>
        </p:nvSpPr>
        <p:spPr>
          <a:xfrm>
            <a:off x="6208776" y="4999079"/>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163" name="Shape 161"/>
          <p:cNvSpPr/>
          <p:nvPr/>
        </p:nvSpPr>
        <p:spPr>
          <a:xfrm>
            <a:off x="8220456" y="5057977"/>
            <a:ext cx="310047" cy="117796"/>
          </a:xfrm>
          <a:prstGeom prst="rect">
            <a:avLst/>
          </a:prstGeom>
          <a:solidFill>
            <a:srgbClr val="C2352F"/>
          </a:solidFill>
          <a:ln/>
        </p:spPr>
      </p:sp>
      <p:sp>
        <p:nvSpPr>
          <p:cNvPr id="164" name="Text 162"/>
          <p:cNvSpPr txBox="1"/>
          <p:nvPr/>
        </p:nvSpPr>
        <p:spPr>
          <a:xfrm>
            <a:off x="9061704" y="4999079"/>
            <a:ext cx="67665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65.0%</a:t>
            </a:r>
            <a:endParaRPr lang="en-US" sz="1300" dirty="0"/>
          </a:p>
        </p:txBody>
      </p:sp>
      <p:sp>
        <p:nvSpPr>
          <p:cNvPr id="165" name="Text 163"/>
          <p:cNvSpPr txBox="1"/>
          <p:nvPr/>
        </p:nvSpPr>
        <p:spPr>
          <a:xfrm>
            <a:off x="9738360" y="499907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$146.25</a:t>
            </a:r>
            <a:endParaRPr lang="en-US" sz="1300" dirty="0"/>
          </a:p>
        </p:txBody>
      </p:sp>
      <p:sp>
        <p:nvSpPr>
          <p:cNvPr id="166" name="Text 164"/>
          <p:cNvSpPr txBox="1"/>
          <p:nvPr/>
        </p:nvSpPr>
        <p:spPr>
          <a:xfrm>
            <a:off x="10524744" y="4999079"/>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$157.41</a:t>
            </a:r>
            <a:endParaRPr lang="en-US" sz="1300" dirty="0"/>
          </a:p>
        </p:txBody>
      </p:sp>
      <p:sp>
        <p:nvSpPr>
          <p:cNvPr id="167" name="Text 165"/>
          <p:cNvSpPr txBox="1"/>
          <p:nvPr/>
        </p:nvSpPr>
        <p:spPr>
          <a:xfrm>
            <a:off x="6208776" y="5234671"/>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68" name="Shape 166"/>
          <p:cNvSpPr/>
          <p:nvPr/>
        </p:nvSpPr>
        <p:spPr>
          <a:xfrm>
            <a:off x="8220456" y="5293569"/>
            <a:ext cx="307379" cy="117796"/>
          </a:xfrm>
          <a:prstGeom prst="rect">
            <a:avLst/>
          </a:prstGeom>
          <a:solidFill>
            <a:srgbClr val="C2352F"/>
          </a:solidFill>
          <a:ln/>
        </p:spPr>
      </p:sp>
      <p:sp>
        <p:nvSpPr>
          <p:cNvPr id="169" name="Text 167"/>
          <p:cNvSpPr txBox="1"/>
          <p:nvPr/>
        </p:nvSpPr>
        <p:spPr>
          <a:xfrm>
            <a:off x="9061704" y="5234671"/>
            <a:ext cx="67665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64.8%</a:t>
            </a:r>
            <a:endParaRPr lang="en-US" sz="1300" dirty="0"/>
          </a:p>
        </p:txBody>
      </p:sp>
      <p:sp>
        <p:nvSpPr>
          <p:cNvPr id="170" name="Text 168"/>
          <p:cNvSpPr txBox="1"/>
          <p:nvPr/>
        </p:nvSpPr>
        <p:spPr>
          <a:xfrm>
            <a:off x="9738360" y="523467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$136.12</a:t>
            </a:r>
            <a:endParaRPr lang="en-US" sz="1300" dirty="0"/>
          </a:p>
        </p:txBody>
      </p:sp>
      <p:sp>
        <p:nvSpPr>
          <p:cNvPr id="171" name="Text 169"/>
          <p:cNvSpPr txBox="1"/>
          <p:nvPr/>
        </p:nvSpPr>
        <p:spPr>
          <a:xfrm>
            <a:off x="10524744" y="5234671"/>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$147.00</a:t>
            </a:r>
            <a:endParaRPr lang="en-US" sz="1300" dirty="0"/>
          </a:p>
        </p:txBody>
      </p:sp>
      <p:sp>
        <p:nvSpPr>
          <p:cNvPr id="172" name="Text 170"/>
          <p:cNvSpPr txBox="1"/>
          <p:nvPr/>
        </p:nvSpPr>
        <p:spPr>
          <a:xfrm>
            <a:off x="6208776" y="5470264"/>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173" name="Shape 171"/>
          <p:cNvSpPr/>
          <p:nvPr/>
        </p:nvSpPr>
        <p:spPr>
          <a:xfrm>
            <a:off x="8220456" y="5529162"/>
            <a:ext cx="267128" cy="117796"/>
          </a:xfrm>
          <a:prstGeom prst="rect">
            <a:avLst/>
          </a:prstGeom>
          <a:solidFill>
            <a:srgbClr val="C2352F"/>
          </a:solidFill>
          <a:ln/>
        </p:spPr>
      </p:sp>
      <p:sp>
        <p:nvSpPr>
          <p:cNvPr id="174" name="Text 172"/>
          <p:cNvSpPr txBox="1"/>
          <p:nvPr/>
        </p:nvSpPr>
        <p:spPr>
          <a:xfrm>
            <a:off x="9061704" y="5470264"/>
            <a:ext cx="67665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61.5%</a:t>
            </a:r>
            <a:endParaRPr lang="en-US" sz="1300" dirty="0"/>
          </a:p>
        </p:txBody>
      </p:sp>
      <p:sp>
        <p:nvSpPr>
          <p:cNvPr id="175" name="Text 173"/>
          <p:cNvSpPr txBox="1"/>
          <p:nvPr/>
        </p:nvSpPr>
        <p:spPr>
          <a:xfrm>
            <a:off x="9738360" y="547026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$175.47</a:t>
            </a:r>
            <a:endParaRPr lang="en-US" sz="1300" dirty="0"/>
          </a:p>
        </p:txBody>
      </p:sp>
      <p:sp>
        <p:nvSpPr>
          <p:cNvPr id="176" name="Text 174"/>
          <p:cNvSpPr txBox="1"/>
          <p:nvPr/>
        </p:nvSpPr>
        <p:spPr>
          <a:xfrm>
            <a:off x="10524744" y="5470264"/>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$199.50</a:t>
            </a:r>
            <a:endParaRPr lang="en-US" sz="1300" dirty="0"/>
          </a:p>
        </p:txBody>
      </p:sp>
      <p:sp>
        <p:nvSpPr>
          <p:cNvPr id="177" name="Text 175"/>
          <p:cNvSpPr txBox="1"/>
          <p:nvPr/>
        </p:nvSpPr>
        <p:spPr>
          <a:xfrm>
            <a:off x="3511296" y="1316736"/>
            <a:ext cx="676656" cy="292608"/>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a:t>
            </a:r>
            <a:endParaRPr lang="en-US" sz="1400" dirty="0"/>
          </a:p>
        </p:txBody>
      </p:sp>
      <p:sp>
        <p:nvSpPr>
          <p:cNvPr id="178" name="Text 176"/>
          <p:cNvSpPr txBox="1"/>
          <p:nvPr/>
        </p:nvSpPr>
        <p:spPr>
          <a:xfrm>
            <a:off x="4187952" y="1316736"/>
            <a:ext cx="786384" cy="292608"/>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ELR</a:t>
            </a:r>
            <a:endParaRPr lang="en-US" sz="1400" dirty="0"/>
          </a:p>
        </p:txBody>
      </p:sp>
      <p:sp>
        <p:nvSpPr>
          <p:cNvPr id="179" name="Text 177"/>
          <p:cNvSpPr txBox="1"/>
          <p:nvPr/>
        </p:nvSpPr>
        <p:spPr>
          <a:xfrm>
            <a:off x="4974336" y="1316736"/>
            <a:ext cx="841248" cy="292608"/>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70% TGT</a:t>
            </a:r>
            <a:endParaRPr lang="en-US" sz="1400" dirty="0"/>
          </a:p>
        </p:txBody>
      </p:sp>
      <p:sp>
        <p:nvSpPr>
          <p:cNvPr id="180" name="Text 178"/>
          <p:cNvSpPr txBox="1"/>
          <p:nvPr/>
        </p:nvSpPr>
        <p:spPr>
          <a:xfrm>
            <a:off x="9061704" y="1316736"/>
            <a:ext cx="676656" cy="292608"/>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a:t>
            </a:r>
            <a:endParaRPr lang="en-US" sz="1400" dirty="0"/>
          </a:p>
        </p:txBody>
      </p:sp>
      <p:sp>
        <p:nvSpPr>
          <p:cNvPr id="181" name="Text 179"/>
          <p:cNvSpPr txBox="1"/>
          <p:nvPr/>
        </p:nvSpPr>
        <p:spPr>
          <a:xfrm>
            <a:off x="9738360" y="1316736"/>
            <a:ext cx="786384" cy="292608"/>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ELR</a:t>
            </a:r>
            <a:endParaRPr lang="en-US" sz="1400" dirty="0"/>
          </a:p>
        </p:txBody>
      </p:sp>
      <p:sp>
        <p:nvSpPr>
          <p:cNvPr id="182" name="Text 180"/>
          <p:cNvSpPr txBox="1"/>
          <p:nvPr/>
        </p:nvSpPr>
        <p:spPr>
          <a:xfrm>
            <a:off x="10524744" y="1316736"/>
            <a:ext cx="841248" cy="292608"/>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70% TGT</a:t>
            </a:r>
            <a:endParaRPr lang="en-US" sz="1400" dirty="0"/>
          </a:p>
        </p:txBody>
      </p:sp>
      <p:sp>
        <p:nvSpPr>
          <p:cNvPr id="183" name="Shape 181"/>
          <p:cNvSpPr/>
          <p:nvPr/>
        </p:nvSpPr>
        <p:spPr>
          <a:xfrm>
            <a:off x="3034261" y="1700784"/>
            <a:ext cx="14630" cy="4005072"/>
          </a:xfrm>
          <a:prstGeom prst="rect">
            <a:avLst/>
          </a:prstGeom>
          <a:solidFill>
            <a:srgbClr val="0B2C4A"/>
          </a:solidFill>
          <a:ln/>
        </p:spPr>
      </p:sp>
      <p:sp>
        <p:nvSpPr>
          <p:cNvPr id="184" name="Text 182"/>
          <p:cNvSpPr txBox="1"/>
          <p:nvPr/>
        </p:nvSpPr>
        <p:spPr>
          <a:xfrm>
            <a:off x="2492936" y="1316736"/>
            <a:ext cx="1097280" cy="292608"/>
          </a:xfrm>
          <a:prstGeom prst="rect">
            <a:avLst/>
          </a:prstGeom>
          <a:noFill/>
          <a:ln/>
        </p:spPr>
        <p:txBody>
          <a:bodyPr wrap="none" lIns="0" tIns="0" rIns="0" bIns="0" rtlCol="0" anchor="ctr"/>
          <a:lstStyle/>
          <a:p>
            <a:pPr algn="ctr" indent="0" marL="0">
              <a:buNone/>
            </a:pPr>
            <a:r>
              <a:rPr lang="en-US" sz="1400" b="1" dirty="0">
                <a:solidFill>
                  <a:srgbClr val="0B2C4A"/>
                </a:solidFill>
                <a:latin typeface="Inter" pitchFamily="34" charset="0"/>
                <a:ea typeface="Inter" pitchFamily="34" charset="-122"/>
                <a:cs typeface="Inter" pitchFamily="34" charset="-120"/>
              </a:rPr>
              <a:t>70.0% LINE</a:t>
            </a:r>
            <a:endParaRPr lang="en-US" sz="1400" dirty="0"/>
          </a:p>
        </p:txBody>
      </p:sp>
      <p:sp>
        <p:nvSpPr>
          <p:cNvPr id="185" name="Shape 183"/>
          <p:cNvSpPr/>
          <p:nvPr/>
        </p:nvSpPr>
        <p:spPr>
          <a:xfrm>
            <a:off x="8584669" y="1700784"/>
            <a:ext cx="14630" cy="4005072"/>
          </a:xfrm>
          <a:prstGeom prst="rect">
            <a:avLst/>
          </a:prstGeom>
          <a:solidFill>
            <a:srgbClr val="0B2C4A"/>
          </a:solidFill>
          <a:ln/>
        </p:spPr>
      </p:sp>
      <p:sp>
        <p:nvSpPr>
          <p:cNvPr id="186" name="Text 184"/>
          <p:cNvSpPr txBox="1"/>
          <p:nvPr/>
        </p:nvSpPr>
        <p:spPr>
          <a:xfrm>
            <a:off x="8043344" y="1316736"/>
            <a:ext cx="1097280" cy="292608"/>
          </a:xfrm>
          <a:prstGeom prst="rect">
            <a:avLst/>
          </a:prstGeom>
          <a:noFill/>
          <a:ln/>
        </p:spPr>
        <p:txBody>
          <a:bodyPr wrap="none" lIns="0" tIns="0" rIns="0" bIns="0" rtlCol="0" anchor="ctr"/>
          <a:lstStyle/>
          <a:p>
            <a:pPr algn="ctr" indent="0" marL="0">
              <a:buNone/>
            </a:pPr>
            <a:r>
              <a:rPr lang="en-US" sz="1400" b="1" dirty="0">
                <a:solidFill>
                  <a:srgbClr val="0B2C4A"/>
                </a:solidFill>
                <a:latin typeface="Inter" pitchFamily="34" charset="0"/>
                <a:ea typeface="Inter" pitchFamily="34" charset="-122"/>
                <a:cs typeface="Inter" pitchFamily="34" charset="-120"/>
              </a:rPr>
              <a:t>70.0% LINE</a:t>
            </a:r>
            <a:endParaRPr lang="en-US" sz="1400" dirty="0"/>
          </a:p>
        </p:txBody>
      </p:sp>
      <p:sp>
        <p:nvSpPr>
          <p:cNvPr id="187" name="Shape 185"/>
          <p:cNvSpPr/>
          <p:nvPr/>
        </p:nvSpPr>
        <p:spPr>
          <a:xfrm>
            <a:off x="457200" y="5961888"/>
            <a:ext cx="11274552" cy="548640"/>
          </a:xfrm>
          <a:prstGeom prst="rect">
            <a:avLst/>
          </a:prstGeom>
          <a:solidFill>
            <a:srgbClr val="EDF4FA"/>
          </a:solidFill>
          <a:ln/>
        </p:spPr>
      </p:sp>
      <p:sp>
        <p:nvSpPr>
          <p:cNvPr id="188" name="Text 186"/>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Jul–Sep: 25 of 33 stores at or above 70% of door rate. CADILLAC runs $175.47 against a $199.50 target.</a:t>
            </a:r>
            <a:endParaRPr lang="en-US" sz="1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ELR % of Door Rate</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316736"/>
            <a:ext cx="2761488" cy="32918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LABOR GRID · 17 STORES</a:t>
            </a:r>
            <a:endParaRPr lang="en-US" sz="1400" dirty="0"/>
          </a:p>
        </p:txBody>
      </p:sp>
      <p:sp>
        <p:nvSpPr>
          <p:cNvPr id="7" name="Text 5"/>
          <p:cNvSpPr txBox="1"/>
          <p:nvPr/>
        </p:nvSpPr>
        <p:spPr>
          <a:xfrm>
            <a:off x="3547872" y="1316736"/>
            <a:ext cx="74980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a:t>
            </a:r>
            <a:endParaRPr lang="en-US" sz="1400" dirty="0"/>
          </a:p>
        </p:txBody>
      </p:sp>
      <p:sp>
        <p:nvSpPr>
          <p:cNvPr id="8" name="Text 6"/>
          <p:cNvSpPr txBox="1"/>
          <p:nvPr/>
        </p:nvSpPr>
        <p:spPr>
          <a:xfrm>
            <a:off x="4297680" y="1316736"/>
            <a:ext cx="786384"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ELR</a:t>
            </a:r>
            <a:endParaRPr lang="en-US" sz="1400" dirty="0"/>
          </a:p>
        </p:txBody>
      </p:sp>
      <p:sp>
        <p:nvSpPr>
          <p:cNvPr id="9" name="Text 7"/>
          <p:cNvSpPr txBox="1"/>
          <p:nvPr/>
        </p:nvSpPr>
        <p:spPr>
          <a:xfrm>
            <a:off x="5084064" y="1316736"/>
            <a:ext cx="786384"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DOOR</a:t>
            </a:r>
            <a:endParaRPr lang="en-US" sz="1400" dirty="0"/>
          </a:p>
        </p:txBody>
      </p:sp>
      <p:sp>
        <p:nvSpPr>
          <p:cNvPr id="10" name="Text 8"/>
          <p:cNvSpPr txBox="1"/>
          <p:nvPr/>
        </p:nvSpPr>
        <p:spPr>
          <a:xfrm>
            <a:off x="658368" y="175564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11" name="Shape 9"/>
          <p:cNvSpPr/>
          <p:nvPr/>
        </p:nvSpPr>
        <p:spPr>
          <a:xfrm>
            <a:off x="2651760" y="1811020"/>
            <a:ext cx="841248" cy="110744"/>
          </a:xfrm>
          <a:prstGeom prst="rect">
            <a:avLst/>
          </a:prstGeom>
          <a:solidFill>
            <a:srgbClr val="12A566"/>
          </a:solidFill>
          <a:ln/>
        </p:spPr>
      </p:sp>
      <p:sp>
        <p:nvSpPr>
          <p:cNvPr id="12" name="Text 10"/>
          <p:cNvSpPr txBox="1"/>
          <p:nvPr/>
        </p:nvSpPr>
        <p:spPr>
          <a:xfrm>
            <a:off x="3547872" y="1755648"/>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103.4%</a:t>
            </a:r>
            <a:endParaRPr lang="en-US" sz="1300" dirty="0"/>
          </a:p>
        </p:txBody>
      </p:sp>
      <p:sp>
        <p:nvSpPr>
          <p:cNvPr id="13" name="Text 11"/>
          <p:cNvSpPr txBox="1"/>
          <p:nvPr/>
        </p:nvSpPr>
        <p:spPr>
          <a:xfrm>
            <a:off x="4297680" y="1755648"/>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$244.12</a:t>
            </a:r>
            <a:endParaRPr lang="en-US" sz="1300" dirty="0"/>
          </a:p>
        </p:txBody>
      </p:sp>
      <p:sp>
        <p:nvSpPr>
          <p:cNvPr id="14" name="Text 12"/>
          <p:cNvSpPr txBox="1"/>
          <p:nvPr/>
        </p:nvSpPr>
        <p:spPr>
          <a:xfrm>
            <a:off x="5084064" y="1755648"/>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$235.87</a:t>
            </a:r>
            <a:endParaRPr lang="en-US" sz="1300" dirty="0"/>
          </a:p>
        </p:txBody>
      </p:sp>
      <p:sp>
        <p:nvSpPr>
          <p:cNvPr id="15" name="Text 13"/>
          <p:cNvSpPr txBox="1"/>
          <p:nvPr/>
        </p:nvSpPr>
        <p:spPr>
          <a:xfrm>
            <a:off x="658368" y="197713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16" name="Shape 14"/>
          <p:cNvSpPr/>
          <p:nvPr/>
        </p:nvSpPr>
        <p:spPr>
          <a:xfrm>
            <a:off x="2651760" y="2032508"/>
            <a:ext cx="661778" cy="110744"/>
          </a:xfrm>
          <a:prstGeom prst="rect">
            <a:avLst/>
          </a:prstGeom>
          <a:solidFill>
            <a:srgbClr val="12A566"/>
          </a:solidFill>
          <a:ln/>
        </p:spPr>
      </p:sp>
      <p:sp>
        <p:nvSpPr>
          <p:cNvPr id="17" name="Text 15"/>
          <p:cNvSpPr txBox="1"/>
          <p:nvPr/>
        </p:nvSpPr>
        <p:spPr>
          <a:xfrm>
            <a:off x="3547872" y="1977136"/>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89.9%</a:t>
            </a:r>
            <a:endParaRPr lang="en-US" sz="1300" dirty="0"/>
          </a:p>
        </p:txBody>
      </p:sp>
      <p:sp>
        <p:nvSpPr>
          <p:cNvPr id="18" name="Text 16"/>
          <p:cNvSpPr txBox="1"/>
          <p:nvPr/>
        </p:nvSpPr>
        <p:spPr>
          <a:xfrm>
            <a:off x="4297680" y="1977136"/>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$161.80</a:t>
            </a:r>
            <a:endParaRPr lang="en-US" sz="1300" dirty="0"/>
          </a:p>
        </p:txBody>
      </p:sp>
      <p:sp>
        <p:nvSpPr>
          <p:cNvPr id="19" name="Text 17"/>
          <p:cNvSpPr txBox="1"/>
          <p:nvPr/>
        </p:nvSpPr>
        <p:spPr>
          <a:xfrm>
            <a:off x="5084064" y="1977136"/>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$179.87</a:t>
            </a:r>
            <a:endParaRPr lang="en-US" sz="1300" dirty="0"/>
          </a:p>
        </p:txBody>
      </p:sp>
      <p:sp>
        <p:nvSpPr>
          <p:cNvPr id="20" name="Text 18"/>
          <p:cNvSpPr txBox="1"/>
          <p:nvPr/>
        </p:nvSpPr>
        <p:spPr>
          <a:xfrm>
            <a:off x="658368" y="219862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21" name="Shape 19"/>
          <p:cNvSpPr/>
          <p:nvPr/>
        </p:nvSpPr>
        <p:spPr>
          <a:xfrm>
            <a:off x="2651760" y="2253996"/>
            <a:ext cx="659376" cy="110744"/>
          </a:xfrm>
          <a:prstGeom prst="rect">
            <a:avLst/>
          </a:prstGeom>
          <a:solidFill>
            <a:srgbClr val="12A566"/>
          </a:solidFill>
          <a:ln/>
        </p:spPr>
      </p:sp>
      <p:sp>
        <p:nvSpPr>
          <p:cNvPr id="22" name="Text 20"/>
          <p:cNvSpPr txBox="1"/>
          <p:nvPr/>
        </p:nvSpPr>
        <p:spPr>
          <a:xfrm>
            <a:off x="3547872" y="2198624"/>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89.7%</a:t>
            </a:r>
            <a:endParaRPr lang="en-US" sz="1300" dirty="0"/>
          </a:p>
        </p:txBody>
      </p:sp>
      <p:sp>
        <p:nvSpPr>
          <p:cNvPr id="23" name="Text 21"/>
          <p:cNvSpPr txBox="1"/>
          <p:nvPr/>
        </p:nvSpPr>
        <p:spPr>
          <a:xfrm>
            <a:off x="4297680" y="2198624"/>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$165.96</a:t>
            </a:r>
            <a:endParaRPr lang="en-US" sz="1300" dirty="0"/>
          </a:p>
        </p:txBody>
      </p:sp>
      <p:sp>
        <p:nvSpPr>
          <p:cNvPr id="24" name="Text 22"/>
          <p:cNvSpPr txBox="1"/>
          <p:nvPr/>
        </p:nvSpPr>
        <p:spPr>
          <a:xfrm>
            <a:off x="5084064" y="2198624"/>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$184.87</a:t>
            </a:r>
            <a:endParaRPr lang="en-US" sz="1300" dirty="0"/>
          </a:p>
        </p:txBody>
      </p:sp>
      <p:sp>
        <p:nvSpPr>
          <p:cNvPr id="25" name="Text 23"/>
          <p:cNvSpPr txBox="1"/>
          <p:nvPr/>
        </p:nvSpPr>
        <p:spPr>
          <a:xfrm>
            <a:off x="658368" y="2420112"/>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26" name="Shape 24"/>
          <p:cNvSpPr/>
          <p:nvPr/>
        </p:nvSpPr>
        <p:spPr>
          <a:xfrm>
            <a:off x="2651760" y="2475484"/>
            <a:ext cx="642710" cy="110744"/>
          </a:xfrm>
          <a:prstGeom prst="rect">
            <a:avLst/>
          </a:prstGeom>
          <a:solidFill>
            <a:srgbClr val="12A566"/>
          </a:solidFill>
          <a:ln/>
        </p:spPr>
      </p:sp>
      <p:sp>
        <p:nvSpPr>
          <p:cNvPr id="27" name="Text 25"/>
          <p:cNvSpPr txBox="1"/>
          <p:nvPr/>
        </p:nvSpPr>
        <p:spPr>
          <a:xfrm>
            <a:off x="3547872" y="2420112"/>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88.5%</a:t>
            </a:r>
            <a:endParaRPr lang="en-US" sz="1300" dirty="0"/>
          </a:p>
        </p:txBody>
      </p:sp>
      <p:sp>
        <p:nvSpPr>
          <p:cNvPr id="28" name="Text 26"/>
          <p:cNvSpPr txBox="1"/>
          <p:nvPr/>
        </p:nvSpPr>
        <p:spPr>
          <a:xfrm>
            <a:off x="4297680" y="2420112"/>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$199.04</a:t>
            </a:r>
            <a:endParaRPr lang="en-US" sz="1300" dirty="0"/>
          </a:p>
        </p:txBody>
      </p:sp>
      <p:sp>
        <p:nvSpPr>
          <p:cNvPr id="29" name="Text 27"/>
          <p:cNvSpPr txBox="1"/>
          <p:nvPr/>
        </p:nvSpPr>
        <p:spPr>
          <a:xfrm>
            <a:off x="5084064" y="2420112"/>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$224.87</a:t>
            </a:r>
            <a:endParaRPr lang="en-US" sz="1300" dirty="0"/>
          </a:p>
        </p:txBody>
      </p:sp>
      <p:sp>
        <p:nvSpPr>
          <p:cNvPr id="30" name="Text 28"/>
          <p:cNvSpPr txBox="1"/>
          <p:nvPr/>
        </p:nvSpPr>
        <p:spPr>
          <a:xfrm>
            <a:off x="658368" y="2641600"/>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31" name="Shape 29"/>
          <p:cNvSpPr/>
          <p:nvPr/>
        </p:nvSpPr>
        <p:spPr>
          <a:xfrm>
            <a:off x="2651760" y="2696972"/>
            <a:ext cx="523587" cy="110744"/>
          </a:xfrm>
          <a:prstGeom prst="rect">
            <a:avLst/>
          </a:prstGeom>
          <a:solidFill>
            <a:srgbClr val="12A566"/>
          </a:solidFill>
          <a:ln/>
        </p:spPr>
      </p:sp>
      <p:sp>
        <p:nvSpPr>
          <p:cNvPr id="32" name="Text 30"/>
          <p:cNvSpPr txBox="1"/>
          <p:nvPr/>
        </p:nvSpPr>
        <p:spPr>
          <a:xfrm>
            <a:off x="3547872" y="2641600"/>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79.5%</a:t>
            </a:r>
            <a:endParaRPr lang="en-US" sz="1300" dirty="0"/>
          </a:p>
        </p:txBody>
      </p:sp>
      <p:sp>
        <p:nvSpPr>
          <p:cNvPr id="33" name="Text 31"/>
          <p:cNvSpPr txBox="1"/>
          <p:nvPr/>
        </p:nvSpPr>
        <p:spPr>
          <a:xfrm>
            <a:off x="4297680" y="2641600"/>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$234.48</a:t>
            </a:r>
            <a:endParaRPr lang="en-US" sz="1300" dirty="0"/>
          </a:p>
        </p:txBody>
      </p:sp>
      <p:sp>
        <p:nvSpPr>
          <p:cNvPr id="34" name="Text 32"/>
          <p:cNvSpPr txBox="1"/>
          <p:nvPr/>
        </p:nvSpPr>
        <p:spPr>
          <a:xfrm>
            <a:off x="5084064" y="2641600"/>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$294.87</a:t>
            </a:r>
            <a:endParaRPr lang="en-US" sz="1300" dirty="0"/>
          </a:p>
        </p:txBody>
      </p:sp>
      <p:sp>
        <p:nvSpPr>
          <p:cNvPr id="35" name="Text 33"/>
          <p:cNvSpPr txBox="1"/>
          <p:nvPr/>
        </p:nvSpPr>
        <p:spPr>
          <a:xfrm>
            <a:off x="658368" y="286308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36" name="Shape 34"/>
          <p:cNvSpPr/>
          <p:nvPr/>
        </p:nvSpPr>
        <p:spPr>
          <a:xfrm>
            <a:off x="2651760" y="2918460"/>
            <a:ext cx="515855" cy="110744"/>
          </a:xfrm>
          <a:prstGeom prst="rect">
            <a:avLst/>
          </a:prstGeom>
          <a:solidFill>
            <a:srgbClr val="12A566"/>
          </a:solidFill>
          <a:ln/>
        </p:spPr>
      </p:sp>
      <p:sp>
        <p:nvSpPr>
          <p:cNvPr id="37" name="Text 35"/>
          <p:cNvSpPr txBox="1"/>
          <p:nvPr/>
        </p:nvSpPr>
        <p:spPr>
          <a:xfrm>
            <a:off x="3547872" y="2863088"/>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78.9%</a:t>
            </a:r>
            <a:endParaRPr lang="en-US" sz="1300" dirty="0"/>
          </a:p>
        </p:txBody>
      </p:sp>
      <p:sp>
        <p:nvSpPr>
          <p:cNvPr id="38" name="Text 36"/>
          <p:cNvSpPr txBox="1"/>
          <p:nvPr/>
        </p:nvSpPr>
        <p:spPr>
          <a:xfrm>
            <a:off x="4297680" y="2863088"/>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$165.67</a:t>
            </a:r>
            <a:endParaRPr lang="en-US" sz="1300" dirty="0"/>
          </a:p>
        </p:txBody>
      </p:sp>
      <p:sp>
        <p:nvSpPr>
          <p:cNvPr id="39" name="Text 37"/>
          <p:cNvSpPr txBox="1"/>
          <p:nvPr/>
        </p:nvSpPr>
        <p:spPr>
          <a:xfrm>
            <a:off x="5084064" y="2863088"/>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$209.87</a:t>
            </a:r>
            <a:endParaRPr lang="en-US" sz="1300" dirty="0"/>
          </a:p>
        </p:txBody>
      </p:sp>
      <p:sp>
        <p:nvSpPr>
          <p:cNvPr id="40" name="Text 38"/>
          <p:cNvSpPr txBox="1"/>
          <p:nvPr/>
        </p:nvSpPr>
        <p:spPr>
          <a:xfrm>
            <a:off x="658368" y="308457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41" name="Shape 39"/>
          <p:cNvSpPr/>
          <p:nvPr/>
        </p:nvSpPr>
        <p:spPr>
          <a:xfrm>
            <a:off x="2651760" y="3139948"/>
            <a:ext cx="510186" cy="110744"/>
          </a:xfrm>
          <a:prstGeom prst="rect">
            <a:avLst/>
          </a:prstGeom>
          <a:solidFill>
            <a:srgbClr val="12A566"/>
          </a:solidFill>
          <a:ln/>
        </p:spPr>
      </p:sp>
      <p:sp>
        <p:nvSpPr>
          <p:cNvPr id="42" name="Text 40"/>
          <p:cNvSpPr txBox="1"/>
          <p:nvPr/>
        </p:nvSpPr>
        <p:spPr>
          <a:xfrm>
            <a:off x="3547872" y="3084576"/>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78.5%</a:t>
            </a:r>
            <a:endParaRPr lang="en-US" sz="1300" dirty="0"/>
          </a:p>
        </p:txBody>
      </p:sp>
      <p:sp>
        <p:nvSpPr>
          <p:cNvPr id="43" name="Text 41"/>
          <p:cNvSpPr txBox="1"/>
          <p:nvPr/>
        </p:nvSpPr>
        <p:spPr>
          <a:xfrm>
            <a:off x="4297680" y="3084576"/>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$160.84</a:t>
            </a:r>
            <a:endParaRPr lang="en-US" sz="1300" dirty="0"/>
          </a:p>
        </p:txBody>
      </p:sp>
      <p:sp>
        <p:nvSpPr>
          <p:cNvPr id="44" name="Text 42"/>
          <p:cNvSpPr txBox="1"/>
          <p:nvPr/>
        </p:nvSpPr>
        <p:spPr>
          <a:xfrm>
            <a:off x="5084064" y="3084576"/>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$204.87</a:t>
            </a:r>
            <a:endParaRPr lang="en-US" sz="1300" dirty="0"/>
          </a:p>
        </p:txBody>
      </p:sp>
      <p:sp>
        <p:nvSpPr>
          <p:cNvPr id="45" name="Text 43"/>
          <p:cNvSpPr txBox="1"/>
          <p:nvPr/>
        </p:nvSpPr>
        <p:spPr>
          <a:xfrm>
            <a:off x="658368" y="330606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46" name="Shape 44"/>
          <p:cNvSpPr/>
          <p:nvPr/>
        </p:nvSpPr>
        <p:spPr>
          <a:xfrm>
            <a:off x="2651760" y="3361436"/>
            <a:ext cx="486924" cy="110744"/>
          </a:xfrm>
          <a:prstGeom prst="rect">
            <a:avLst/>
          </a:prstGeom>
          <a:solidFill>
            <a:srgbClr val="12A566"/>
          </a:solidFill>
          <a:ln/>
        </p:spPr>
      </p:sp>
      <p:sp>
        <p:nvSpPr>
          <p:cNvPr id="47" name="Text 45"/>
          <p:cNvSpPr txBox="1"/>
          <p:nvPr/>
        </p:nvSpPr>
        <p:spPr>
          <a:xfrm>
            <a:off x="3547872" y="3306064"/>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76.7%</a:t>
            </a:r>
            <a:endParaRPr lang="en-US" sz="1300" dirty="0"/>
          </a:p>
        </p:txBody>
      </p:sp>
      <p:sp>
        <p:nvSpPr>
          <p:cNvPr id="48" name="Text 46"/>
          <p:cNvSpPr txBox="1"/>
          <p:nvPr/>
        </p:nvSpPr>
        <p:spPr>
          <a:xfrm>
            <a:off x="4297680" y="3306064"/>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$141.89</a:t>
            </a:r>
            <a:endParaRPr lang="en-US" sz="1300" dirty="0"/>
          </a:p>
        </p:txBody>
      </p:sp>
      <p:sp>
        <p:nvSpPr>
          <p:cNvPr id="49" name="Text 47"/>
          <p:cNvSpPr txBox="1"/>
          <p:nvPr/>
        </p:nvSpPr>
        <p:spPr>
          <a:xfrm>
            <a:off x="5084064" y="3306064"/>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$184.87</a:t>
            </a:r>
            <a:endParaRPr lang="en-US" sz="1300" dirty="0"/>
          </a:p>
        </p:txBody>
      </p:sp>
      <p:sp>
        <p:nvSpPr>
          <p:cNvPr id="50" name="Text 48"/>
          <p:cNvSpPr txBox="1"/>
          <p:nvPr/>
        </p:nvSpPr>
        <p:spPr>
          <a:xfrm>
            <a:off x="658368" y="3527552"/>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51" name="Shape 49"/>
          <p:cNvSpPr/>
          <p:nvPr/>
        </p:nvSpPr>
        <p:spPr>
          <a:xfrm>
            <a:off x="2651760" y="3582924"/>
            <a:ext cx="482951" cy="110744"/>
          </a:xfrm>
          <a:prstGeom prst="rect">
            <a:avLst/>
          </a:prstGeom>
          <a:solidFill>
            <a:srgbClr val="12A566"/>
          </a:solidFill>
          <a:ln/>
        </p:spPr>
      </p:sp>
      <p:sp>
        <p:nvSpPr>
          <p:cNvPr id="52" name="Text 50"/>
          <p:cNvSpPr txBox="1"/>
          <p:nvPr/>
        </p:nvSpPr>
        <p:spPr>
          <a:xfrm>
            <a:off x="3547872" y="3527552"/>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76.4%</a:t>
            </a:r>
            <a:endParaRPr lang="en-US" sz="1300" dirty="0"/>
          </a:p>
        </p:txBody>
      </p:sp>
      <p:sp>
        <p:nvSpPr>
          <p:cNvPr id="53" name="Text 51"/>
          <p:cNvSpPr txBox="1"/>
          <p:nvPr/>
        </p:nvSpPr>
        <p:spPr>
          <a:xfrm>
            <a:off x="4297680" y="3527552"/>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$266.72</a:t>
            </a:r>
            <a:endParaRPr lang="en-US" sz="1300" dirty="0"/>
          </a:p>
        </p:txBody>
      </p:sp>
      <p:sp>
        <p:nvSpPr>
          <p:cNvPr id="54" name="Text 52"/>
          <p:cNvSpPr txBox="1"/>
          <p:nvPr/>
        </p:nvSpPr>
        <p:spPr>
          <a:xfrm>
            <a:off x="5084064" y="3527552"/>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$348.87</a:t>
            </a:r>
            <a:endParaRPr lang="en-US" sz="1300" dirty="0"/>
          </a:p>
        </p:txBody>
      </p:sp>
      <p:sp>
        <p:nvSpPr>
          <p:cNvPr id="55" name="Text 53"/>
          <p:cNvSpPr txBox="1"/>
          <p:nvPr/>
        </p:nvSpPr>
        <p:spPr>
          <a:xfrm>
            <a:off x="658368" y="3749040"/>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56" name="Shape 54"/>
          <p:cNvSpPr/>
          <p:nvPr/>
        </p:nvSpPr>
        <p:spPr>
          <a:xfrm>
            <a:off x="2651760" y="3804412"/>
            <a:ext cx="469589" cy="110744"/>
          </a:xfrm>
          <a:prstGeom prst="rect">
            <a:avLst/>
          </a:prstGeom>
          <a:solidFill>
            <a:srgbClr val="12A566"/>
          </a:solidFill>
          <a:ln/>
        </p:spPr>
      </p:sp>
      <p:sp>
        <p:nvSpPr>
          <p:cNvPr id="57" name="Text 55"/>
          <p:cNvSpPr txBox="1"/>
          <p:nvPr/>
        </p:nvSpPr>
        <p:spPr>
          <a:xfrm>
            <a:off x="3547872" y="3749040"/>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75.4%</a:t>
            </a:r>
            <a:endParaRPr lang="en-US" sz="1300" dirty="0"/>
          </a:p>
        </p:txBody>
      </p:sp>
      <p:sp>
        <p:nvSpPr>
          <p:cNvPr id="58" name="Text 56"/>
          <p:cNvSpPr txBox="1"/>
          <p:nvPr/>
        </p:nvSpPr>
        <p:spPr>
          <a:xfrm>
            <a:off x="4297680" y="3749040"/>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$233.88</a:t>
            </a:r>
            <a:endParaRPr lang="en-US" sz="1300" dirty="0"/>
          </a:p>
        </p:txBody>
      </p:sp>
      <p:sp>
        <p:nvSpPr>
          <p:cNvPr id="59" name="Text 57"/>
          <p:cNvSpPr txBox="1"/>
          <p:nvPr/>
        </p:nvSpPr>
        <p:spPr>
          <a:xfrm>
            <a:off x="5084064" y="3749040"/>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$310.00</a:t>
            </a:r>
            <a:endParaRPr lang="en-US" sz="1300" dirty="0"/>
          </a:p>
        </p:txBody>
      </p:sp>
      <p:sp>
        <p:nvSpPr>
          <p:cNvPr id="60" name="Text 58"/>
          <p:cNvSpPr txBox="1"/>
          <p:nvPr/>
        </p:nvSpPr>
        <p:spPr>
          <a:xfrm>
            <a:off x="658368" y="397052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61" name="Shape 59"/>
          <p:cNvSpPr/>
          <p:nvPr/>
        </p:nvSpPr>
        <p:spPr>
          <a:xfrm>
            <a:off x="2651760" y="4025900"/>
            <a:ext cx="465019" cy="110744"/>
          </a:xfrm>
          <a:prstGeom prst="rect">
            <a:avLst/>
          </a:prstGeom>
          <a:solidFill>
            <a:srgbClr val="12A566"/>
          </a:solidFill>
          <a:ln/>
        </p:spPr>
      </p:sp>
      <p:sp>
        <p:nvSpPr>
          <p:cNvPr id="62" name="Text 60"/>
          <p:cNvSpPr txBox="1"/>
          <p:nvPr/>
        </p:nvSpPr>
        <p:spPr>
          <a:xfrm>
            <a:off x="3547872" y="3970528"/>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75.1%</a:t>
            </a:r>
            <a:endParaRPr lang="en-US" sz="1300" dirty="0"/>
          </a:p>
        </p:txBody>
      </p:sp>
      <p:sp>
        <p:nvSpPr>
          <p:cNvPr id="63" name="Text 61"/>
          <p:cNvSpPr txBox="1"/>
          <p:nvPr/>
        </p:nvSpPr>
        <p:spPr>
          <a:xfrm>
            <a:off x="4297680" y="3970528"/>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$180.14</a:t>
            </a:r>
            <a:endParaRPr lang="en-US" sz="1300" dirty="0"/>
          </a:p>
        </p:txBody>
      </p:sp>
      <p:sp>
        <p:nvSpPr>
          <p:cNvPr id="64" name="Text 62"/>
          <p:cNvSpPr txBox="1"/>
          <p:nvPr/>
        </p:nvSpPr>
        <p:spPr>
          <a:xfrm>
            <a:off x="5084064" y="3970528"/>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$239.87</a:t>
            </a:r>
            <a:endParaRPr lang="en-US" sz="1300" dirty="0"/>
          </a:p>
        </p:txBody>
      </p:sp>
      <p:sp>
        <p:nvSpPr>
          <p:cNvPr id="65" name="Shape 63"/>
          <p:cNvSpPr/>
          <p:nvPr/>
        </p:nvSpPr>
        <p:spPr>
          <a:xfrm>
            <a:off x="603504" y="4192016"/>
            <a:ext cx="5285232" cy="212344"/>
          </a:xfrm>
          <a:prstGeom prst="rect">
            <a:avLst/>
          </a:prstGeom>
          <a:solidFill>
            <a:srgbClr val="EDF4FA"/>
          </a:solidFill>
          <a:ln/>
        </p:spPr>
      </p:sp>
      <p:sp>
        <p:nvSpPr>
          <p:cNvPr id="66" name="Text 64"/>
          <p:cNvSpPr txBox="1"/>
          <p:nvPr/>
        </p:nvSpPr>
        <p:spPr>
          <a:xfrm>
            <a:off x="658368" y="4192016"/>
            <a:ext cx="1920240" cy="221488"/>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GRID AVG</a:t>
            </a:r>
            <a:endParaRPr lang="en-US" sz="1300" dirty="0"/>
          </a:p>
        </p:txBody>
      </p:sp>
      <p:sp>
        <p:nvSpPr>
          <p:cNvPr id="67" name="Shape 65"/>
          <p:cNvSpPr/>
          <p:nvPr/>
        </p:nvSpPr>
        <p:spPr>
          <a:xfrm>
            <a:off x="2651760" y="4247388"/>
            <a:ext cx="449272" cy="110744"/>
          </a:xfrm>
          <a:prstGeom prst="rect">
            <a:avLst/>
          </a:prstGeom>
          <a:solidFill>
            <a:srgbClr val="0B2C4A"/>
          </a:solidFill>
          <a:ln/>
        </p:spPr>
      </p:sp>
      <p:sp>
        <p:nvSpPr>
          <p:cNvPr id="68" name="Text 66"/>
          <p:cNvSpPr txBox="1"/>
          <p:nvPr/>
        </p:nvSpPr>
        <p:spPr>
          <a:xfrm>
            <a:off x="3547872" y="4192016"/>
            <a:ext cx="749808" cy="22148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73.9%</a:t>
            </a:r>
            <a:endParaRPr lang="en-US" sz="1300" dirty="0"/>
          </a:p>
        </p:txBody>
      </p:sp>
      <p:sp>
        <p:nvSpPr>
          <p:cNvPr id="69" name="Text 67"/>
          <p:cNvSpPr txBox="1"/>
          <p:nvPr/>
        </p:nvSpPr>
        <p:spPr>
          <a:xfrm>
            <a:off x="4297680" y="4192016"/>
            <a:ext cx="786384" cy="22148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$168.93</a:t>
            </a:r>
            <a:endParaRPr lang="en-US" sz="1300" dirty="0"/>
          </a:p>
        </p:txBody>
      </p:sp>
      <p:sp>
        <p:nvSpPr>
          <p:cNvPr id="70" name="Text 68"/>
          <p:cNvSpPr txBox="1"/>
          <p:nvPr/>
        </p:nvSpPr>
        <p:spPr>
          <a:xfrm>
            <a:off x="5084064" y="4192016"/>
            <a:ext cx="786384" cy="22148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$228.55</a:t>
            </a:r>
            <a:endParaRPr lang="en-US" sz="1300" dirty="0"/>
          </a:p>
        </p:txBody>
      </p:sp>
      <p:sp>
        <p:nvSpPr>
          <p:cNvPr id="71" name="Text 69"/>
          <p:cNvSpPr txBox="1"/>
          <p:nvPr/>
        </p:nvSpPr>
        <p:spPr>
          <a:xfrm>
            <a:off x="658368" y="441350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72" name="Shape 70"/>
          <p:cNvSpPr/>
          <p:nvPr/>
        </p:nvSpPr>
        <p:spPr>
          <a:xfrm>
            <a:off x="2651760" y="4468876"/>
            <a:ext cx="439276" cy="110744"/>
          </a:xfrm>
          <a:prstGeom prst="rect">
            <a:avLst/>
          </a:prstGeom>
          <a:solidFill>
            <a:srgbClr val="12A566"/>
          </a:solidFill>
          <a:ln/>
        </p:spPr>
      </p:sp>
      <p:sp>
        <p:nvSpPr>
          <p:cNvPr id="73" name="Text 71"/>
          <p:cNvSpPr txBox="1"/>
          <p:nvPr/>
        </p:nvSpPr>
        <p:spPr>
          <a:xfrm>
            <a:off x="3547872" y="4413504"/>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73.1%</a:t>
            </a:r>
            <a:endParaRPr lang="en-US" sz="1300" dirty="0"/>
          </a:p>
        </p:txBody>
      </p:sp>
      <p:sp>
        <p:nvSpPr>
          <p:cNvPr id="74" name="Text 72"/>
          <p:cNvSpPr txBox="1"/>
          <p:nvPr/>
        </p:nvSpPr>
        <p:spPr>
          <a:xfrm>
            <a:off x="4297680" y="4413504"/>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$154.55</a:t>
            </a:r>
            <a:endParaRPr lang="en-US" sz="1300" dirty="0"/>
          </a:p>
        </p:txBody>
      </p:sp>
      <p:sp>
        <p:nvSpPr>
          <p:cNvPr id="75" name="Text 73"/>
          <p:cNvSpPr txBox="1"/>
          <p:nvPr/>
        </p:nvSpPr>
        <p:spPr>
          <a:xfrm>
            <a:off x="5084064" y="4413504"/>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$211.26</a:t>
            </a:r>
            <a:endParaRPr lang="en-US" sz="1300" dirty="0"/>
          </a:p>
        </p:txBody>
      </p:sp>
      <p:sp>
        <p:nvSpPr>
          <p:cNvPr id="76" name="Text 74"/>
          <p:cNvSpPr txBox="1"/>
          <p:nvPr/>
        </p:nvSpPr>
        <p:spPr>
          <a:xfrm>
            <a:off x="658368" y="4634992"/>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77" name="Shape 75"/>
          <p:cNvSpPr/>
          <p:nvPr/>
        </p:nvSpPr>
        <p:spPr>
          <a:xfrm>
            <a:off x="2651760" y="4690364"/>
            <a:ext cx="429617" cy="110744"/>
          </a:xfrm>
          <a:prstGeom prst="rect">
            <a:avLst/>
          </a:prstGeom>
          <a:solidFill>
            <a:srgbClr val="12A566"/>
          </a:solidFill>
          <a:ln/>
        </p:spPr>
      </p:sp>
      <p:sp>
        <p:nvSpPr>
          <p:cNvPr id="78" name="Text 76"/>
          <p:cNvSpPr txBox="1"/>
          <p:nvPr/>
        </p:nvSpPr>
        <p:spPr>
          <a:xfrm>
            <a:off x="3547872" y="4634992"/>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72.4%</a:t>
            </a:r>
            <a:endParaRPr lang="en-US" sz="1300" dirty="0"/>
          </a:p>
        </p:txBody>
      </p:sp>
      <p:sp>
        <p:nvSpPr>
          <p:cNvPr id="79" name="Text 77"/>
          <p:cNvSpPr txBox="1"/>
          <p:nvPr/>
        </p:nvSpPr>
        <p:spPr>
          <a:xfrm>
            <a:off x="4297680" y="4634992"/>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$153.45</a:t>
            </a:r>
            <a:endParaRPr lang="en-US" sz="1300" dirty="0"/>
          </a:p>
        </p:txBody>
      </p:sp>
      <p:sp>
        <p:nvSpPr>
          <p:cNvPr id="80" name="Text 78"/>
          <p:cNvSpPr txBox="1"/>
          <p:nvPr/>
        </p:nvSpPr>
        <p:spPr>
          <a:xfrm>
            <a:off x="5084064" y="4634992"/>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$211.87</a:t>
            </a:r>
            <a:endParaRPr lang="en-US" sz="1300" dirty="0"/>
          </a:p>
        </p:txBody>
      </p:sp>
      <p:sp>
        <p:nvSpPr>
          <p:cNvPr id="81" name="Text 79"/>
          <p:cNvSpPr txBox="1"/>
          <p:nvPr/>
        </p:nvSpPr>
        <p:spPr>
          <a:xfrm>
            <a:off x="658368" y="4856480"/>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82" name="Shape 80"/>
          <p:cNvSpPr/>
          <p:nvPr/>
        </p:nvSpPr>
        <p:spPr>
          <a:xfrm>
            <a:off x="2651760" y="4911852"/>
            <a:ext cx="406129" cy="110744"/>
          </a:xfrm>
          <a:prstGeom prst="rect">
            <a:avLst/>
          </a:prstGeom>
          <a:solidFill>
            <a:srgbClr val="12A566"/>
          </a:solidFill>
          <a:ln/>
        </p:spPr>
      </p:sp>
      <p:sp>
        <p:nvSpPr>
          <p:cNvPr id="83" name="Text 81"/>
          <p:cNvSpPr txBox="1"/>
          <p:nvPr/>
        </p:nvSpPr>
        <p:spPr>
          <a:xfrm>
            <a:off x="3547872" y="4856480"/>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70.6%</a:t>
            </a:r>
            <a:endParaRPr lang="en-US" sz="1300" dirty="0"/>
          </a:p>
        </p:txBody>
      </p:sp>
      <p:sp>
        <p:nvSpPr>
          <p:cNvPr id="84" name="Text 82"/>
          <p:cNvSpPr txBox="1"/>
          <p:nvPr/>
        </p:nvSpPr>
        <p:spPr>
          <a:xfrm>
            <a:off x="4297680" y="4856480"/>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$149.70</a:t>
            </a:r>
            <a:endParaRPr lang="en-US" sz="1300" dirty="0"/>
          </a:p>
        </p:txBody>
      </p:sp>
      <p:sp>
        <p:nvSpPr>
          <p:cNvPr id="85" name="Text 83"/>
          <p:cNvSpPr txBox="1"/>
          <p:nvPr/>
        </p:nvSpPr>
        <p:spPr>
          <a:xfrm>
            <a:off x="5084064" y="4856480"/>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$211.87</a:t>
            </a:r>
            <a:endParaRPr lang="en-US" sz="1300" dirty="0"/>
          </a:p>
        </p:txBody>
      </p:sp>
      <p:sp>
        <p:nvSpPr>
          <p:cNvPr id="86" name="Text 84"/>
          <p:cNvSpPr txBox="1"/>
          <p:nvPr/>
        </p:nvSpPr>
        <p:spPr>
          <a:xfrm>
            <a:off x="658368" y="507796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87" name="Shape 85"/>
          <p:cNvSpPr/>
          <p:nvPr/>
        </p:nvSpPr>
        <p:spPr>
          <a:xfrm>
            <a:off x="2651760" y="5133340"/>
            <a:ext cx="378253" cy="110744"/>
          </a:xfrm>
          <a:prstGeom prst="rect">
            <a:avLst/>
          </a:prstGeom>
          <a:solidFill>
            <a:srgbClr val="C2352F"/>
          </a:solidFill>
          <a:ln/>
        </p:spPr>
      </p:sp>
      <p:sp>
        <p:nvSpPr>
          <p:cNvPr id="88" name="Text 86"/>
          <p:cNvSpPr txBox="1"/>
          <p:nvPr/>
        </p:nvSpPr>
        <p:spPr>
          <a:xfrm>
            <a:off x="3547872" y="5077968"/>
            <a:ext cx="749808" cy="221488"/>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68.5%</a:t>
            </a:r>
            <a:endParaRPr lang="en-US" sz="1300" dirty="0"/>
          </a:p>
        </p:txBody>
      </p:sp>
      <p:sp>
        <p:nvSpPr>
          <p:cNvPr id="89" name="Text 87"/>
          <p:cNvSpPr txBox="1"/>
          <p:nvPr/>
        </p:nvSpPr>
        <p:spPr>
          <a:xfrm>
            <a:off x="4297680" y="5077968"/>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$150.72</a:t>
            </a:r>
            <a:endParaRPr lang="en-US" sz="1300" dirty="0"/>
          </a:p>
        </p:txBody>
      </p:sp>
      <p:sp>
        <p:nvSpPr>
          <p:cNvPr id="90" name="Text 88"/>
          <p:cNvSpPr txBox="1"/>
          <p:nvPr/>
        </p:nvSpPr>
        <p:spPr>
          <a:xfrm>
            <a:off x="5084064" y="5077968"/>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$219.87</a:t>
            </a:r>
            <a:endParaRPr lang="en-US" sz="1300" dirty="0"/>
          </a:p>
        </p:txBody>
      </p:sp>
      <p:sp>
        <p:nvSpPr>
          <p:cNvPr id="91" name="Text 89"/>
          <p:cNvSpPr txBox="1"/>
          <p:nvPr/>
        </p:nvSpPr>
        <p:spPr>
          <a:xfrm>
            <a:off x="658368" y="529945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92" name="Shape 90"/>
          <p:cNvSpPr/>
          <p:nvPr/>
        </p:nvSpPr>
        <p:spPr>
          <a:xfrm>
            <a:off x="2651760" y="5354828"/>
            <a:ext cx="331678" cy="110744"/>
          </a:xfrm>
          <a:prstGeom prst="rect">
            <a:avLst/>
          </a:prstGeom>
          <a:solidFill>
            <a:srgbClr val="C2352F"/>
          </a:solidFill>
          <a:ln/>
        </p:spPr>
      </p:sp>
      <p:sp>
        <p:nvSpPr>
          <p:cNvPr id="93" name="Text 91"/>
          <p:cNvSpPr txBox="1"/>
          <p:nvPr/>
        </p:nvSpPr>
        <p:spPr>
          <a:xfrm>
            <a:off x="3547872" y="5299456"/>
            <a:ext cx="749808" cy="221488"/>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65.0%</a:t>
            </a:r>
            <a:endParaRPr lang="en-US" sz="1300" dirty="0"/>
          </a:p>
        </p:txBody>
      </p:sp>
      <p:sp>
        <p:nvSpPr>
          <p:cNvPr id="94" name="Text 92"/>
          <p:cNvSpPr txBox="1"/>
          <p:nvPr/>
        </p:nvSpPr>
        <p:spPr>
          <a:xfrm>
            <a:off x="4297680" y="5299456"/>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$146.25</a:t>
            </a:r>
            <a:endParaRPr lang="en-US" sz="1300" dirty="0"/>
          </a:p>
        </p:txBody>
      </p:sp>
      <p:sp>
        <p:nvSpPr>
          <p:cNvPr id="95" name="Text 93"/>
          <p:cNvSpPr txBox="1"/>
          <p:nvPr/>
        </p:nvSpPr>
        <p:spPr>
          <a:xfrm>
            <a:off x="5084064" y="5299456"/>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$224.87</a:t>
            </a:r>
            <a:endParaRPr lang="en-US" sz="1300" dirty="0"/>
          </a:p>
        </p:txBody>
      </p:sp>
      <p:sp>
        <p:nvSpPr>
          <p:cNvPr id="96" name="Text 94"/>
          <p:cNvSpPr txBox="1"/>
          <p:nvPr/>
        </p:nvSpPr>
        <p:spPr>
          <a:xfrm>
            <a:off x="658368" y="552094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97" name="Shape 95"/>
          <p:cNvSpPr/>
          <p:nvPr/>
        </p:nvSpPr>
        <p:spPr>
          <a:xfrm>
            <a:off x="2651760" y="5576316"/>
            <a:ext cx="285765" cy="110744"/>
          </a:xfrm>
          <a:prstGeom prst="rect">
            <a:avLst/>
          </a:prstGeom>
          <a:solidFill>
            <a:srgbClr val="C2352F"/>
          </a:solidFill>
          <a:ln/>
        </p:spPr>
      </p:sp>
      <p:sp>
        <p:nvSpPr>
          <p:cNvPr id="98" name="Text 96"/>
          <p:cNvSpPr txBox="1"/>
          <p:nvPr/>
        </p:nvSpPr>
        <p:spPr>
          <a:xfrm>
            <a:off x="3547872" y="5520944"/>
            <a:ext cx="749808" cy="221488"/>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61.5%</a:t>
            </a:r>
            <a:endParaRPr lang="en-US" sz="1300" dirty="0"/>
          </a:p>
        </p:txBody>
      </p:sp>
      <p:sp>
        <p:nvSpPr>
          <p:cNvPr id="99" name="Text 97"/>
          <p:cNvSpPr txBox="1"/>
          <p:nvPr/>
        </p:nvSpPr>
        <p:spPr>
          <a:xfrm>
            <a:off x="4297680" y="5520944"/>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$175.47</a:t>
            </a:r>
            <a:endParaRPr lang="en-US" sz="1300" dirty="0"/>
          </a:p>
        </p:txBody>
      </p:sp>
      <p:sp>
        <p:nvSpPr>
          <p:cNvPr id="100" name="Text 98"/>
          <p:cNvSpPr txBox="1"/>
          <p:nvPr/>
        </p:nvSpPr>
        <p:spPr>
          <a:xfrm>
            <a:off x="5084064" y="5520944"/>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$285.00</a:t>
            </a:r>
            <a:endParaRPr lang="en-US" sz="1300" dirty="0"/>
          </a:p>
        </p:txBody>
      </p:sp>
      <p:sp>
        <p:nvSpPr>
          <p:cNvPr id="101" name="Shape 99"/>
          <p:cNvSpPr/>
          <p:nvPr/>
        </p:nvSpPr>
        <p:spPr>
          <a:xfrm>
            <a:off x="3041893" y="1755648"/>
            <a:ext cx="14630" cy="3986784"/>
          </a:xfrm>
          <a:prstGeom prst="rect">
            <a:avLst/>
          </a:prstGeom>
          <a:solidFill>
            <a:srgbClr val="0B2C4A"/>
          </a:solidFill>
          <a:ln/>
        </p:spPr>
      </p:sp>
      <p:sp>
        <p:nvSpPr>
          <p:cNvPr id="102" name="Text 100"/>
          <p:cNvSpPr txBox="1"/>
          <p:nvPr/>
        </p:nvSpPr>
        <p:spPr>
          <a:xfrm>
            <a:off x="6208776" y="1316736"/>
            <a:ext cx="2761488" cy="32918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NO GRID · 16 STORES</a:t>
            </a:r>
            <a:endParaRPr lang="en-US" sz="1400" dirty="0"/>
          </a:p>
        </p:txBody>
      </p:sp>
      <p:sp>
        <p:nvSpPr>
          <p:cNvPr id="103" name="Text 101"/>
          <p:cNvSpPr txBox="1"/>
          <p:nvPr/>
        </p:nvSpPr>
        <p:spPr>
          <a:xfrm>
            <a:off x="9098280" y="1316736"/>
            <a:ext cx="74980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a:t>
            </a:r>
            <a:endParaRPr lang="en-US" sz="1400" dirty="0"/>
          </a:p>
        </p:txBody>
      </p:sp>
      <p:sp>
        <p:nvSpPr>
          <p:cNvPr id="104" name="Text 102"/>
          <p:cNvSpPr txBox="1"/>
          <p:nvPr/>
        </p:nvSpPr>
        <p:spPr>
          <a:xfrm>
            <a:off x="9848088" y="1316736"/>
            <a:ext cx="786384"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ELR</a:t>
            </a:r>
            <a:endParaRPr lang="en-US" sz="1400" dirty="0"/>
          </a:p>
        </p:txBody>
      </p:sp>
      <p:sp>
        <p:nvSpPr>
          <p:cNvPr id="105" name="Text 103"/>
          <p:cNvSpPr txBox="1"/>
          <p:nvPr/>
        </p:nvSpPr>
        <p:spPr>
          <a:xfrm>
            <a:off x="10634472" y="1316736"/>
            <a:ext cx="786384"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DOOR</a:t>
            </a:r>
            <a:endParaRPr lang="en-US" sz="1400" dirty="0"/>
          </a:p>
        </p:txBody>
      </p:sp>
      <p:sp>
        <p:nvSpPr>
          <p:cNvPr id="106" name="Text 104"/>
          <p:cNvSpPr txBox="1"/>
          <p:nvPr/>
        </p:nvSpPr>
        <p:spPr>
          <a:xfrm>
            <a:off x="6208776" y="175564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107" name="Shape 105"/>
          <p:cNvSpPr/>
          <p:nvPr/>
        </p:nvSpPr>
        <p:spPr>
          <a:xfrm>
            <a:off x="8202168" y="1811020"/>
            <a:ext cx="665301" cy="110744"/>
          </a:xfrm>
          <a:prstGeom prst="rect">
            <a:avLst/>
          </a:prstGeom>
          <a:solidFill>
            <a:srgbClr val="12A566"/>
          </a:solidFill>
          <a:ln/>
        </p:spPr>
      </p:sp>
      <p:sp>
        <p:nvSpPr>
          <p:cNvPr id="108" name="Text 106"/>
          <p:cNvSpPr txBox="1"/>
          <p:nvPr/>
        </p:nvSpPr>
        <p:spPr>
          <a:xfrm>
            <a:off x="9098280" y="1755648"/>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90.2%</a:t>
            </a:r>
            <a:endParaRPr lang="en-US" sz="1300" dirty="0"/>
          </a:p>
        </p:txBody>
      </p:sp>
      <p:sp>
        <p:nvSpPr>
          <p:cNvPr id="109" name="Text 107"/>
          <p:cNvSpPr txBox="1"/>
          <p:nvPr/>
        </p:nvSpPr>
        <p:spPr>
          <a:xfrm>
            <a:off x="9848088" y="1755648"/>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$225.50</a:t>
            </a:r>
            <a:endParaRPr lang="en-US" sz="1300" dirty="0"/>
          </a:p>
        </p:txBody>
      </p:sp>
      <p:sp>
        <p:nvSpPr>
          <p:cNvPr id="110" name="Text 108"/>
          <p:cNvSpPr txBox="1"/>
          <p:nvPr/>
        </p:nvSpPr>
        <p:spPr>
          <a:xfrm>
            <a:off x="10634472" y="1755648"/>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$249.95</a:t>
            </a:r>
            <a:endParaRPr lang="en-US" sz="1300" dirty="0"/>
          </a:p>
        </p:txBody>
      </p:sp>
      <p:sp>
        <p:nvSpPr>
          <p:cNvPr id="111" name="Text 109"/>
          <p:cNvSpPr txBox="1"/>
          <p:nvPr/>
        </p:nvSpPr>
        <p:spPr>
          <a:xfrm>
            <a:off x="6208776" y="197713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112" name="Shape 110"/>
          <p:cNvSpPr/>
          <p:nvPr/>
        </p:nvSpPr>
        <p:spPr>
          <a:xfrm>
            <a:off x="8202168" y="2032508"/>
            <a:ext cx="619626" cy="110744"/>
          </a:xfrm>
          <a:prstGeom prst="rect">
            <a:avLst/>
          </a:prstGeom>
          <a:solidFill>
            <a:srgbClr val="12A566"/>
          </a:solidFill>
          <a:ln/>
        </p:spPr>
      </p:sp>
      <p:sp>
        <p:nvSpPr>
          <p:cNvPr id="113" name="Text 111"/>
          <p:cNvSpPr txBox="1"/>
          <p:nvPr/>
        </p:nvSpPr>
        <p:spPr>
          <a:xfrm>
            <a:off x="9098280" y="1977136"/>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86.7%</a:t>
            </a:r>
            <a:endParaRPr lang="en-US" sz="1300" dirty="0"/>
          </a:p>
        </p:txBody>
      </p:sp>
      <p:sp>
        <p:nvSpPr>
          <p:cNvPr id="114" name="Text 112"/>
          <p:cNvSpPr txBox="1"/>
          <p:nvPr/>
        </p:nvSpPr>
        <p:spPr>
          <a:xfrm>
            <a:off x="9848088" y="1977136"/>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$238.62</a:t>
            </a:r>
            <a:endParaRPr lang="en-US" sz="1300" dirty="0"/>
          </a:p>
        </p:txBody>
      </p:sp>
      <p:sp>
        <p:nvSpPr>
          <p:cNvPr id="115" name="Text 113"/>
          <p:cNvSpPr txBox="1"/>
          <p:nvPr/>
        </p:nvSpPr>
        <p:spPr>
          <a:xfrm>
            <a:off x="10634472" y="1977136"/>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$275.00</a:t>
            </a:r>
            <a:endParaRPr lang="en-US" sz="1300" dirty="0"/>
          </a:p>
        </p:txBody>
      </p:sp>
      <p:sp>
        <p:nvSpPr>
          <p:cNvPr id="116" name="Text 114"/>
          <p:cNvSpPr txBox="1"/>
          <p:nvPr/>
        </p:nvSpPr>
        <p:spPr>
          <a:xfrm>
            <a:off x="6208776" y="219862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117" name="Shape 115"/>
          <p:cNvSpPr/>
          <p:nvPr/>
        </p:nvSpPr>
        <p:spPr>
          <a:xfrm>
            <a:off x="8202168" y="2253996"/>
            <a:ext cx="613635" cy="110744"/>
          </a:xfrm>
          <a:prstGeom prst="rect">
            <a:avLst/>
          </a:prstGeom>
          <a:solidFill>
            <a:srgbClr val="12A566"/>
          </a:solidFill>
          <a:ln/>
        </p:spPr>
      </p:sp>
      <p:sp>
        <p:nvSpPr>
          <p:cNvPr id="118" name="Text 116"/>
          <p:cNvSpPr txBox="1"/>
          <p:nvPr/>
        </p:nvSpPr>
        <p:spPr>
          <a:xfrm>
            <a:off x="9098280" y="2198624"/>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86.3%</a:t>
            </a:r>
            <a:endParaRPr lang="en-US" sz="1300" dirty="0"/>
          </a:p>
        </p:txBody>
      </p:sp>
      <p:sp>
        <p:nvSpPr>
          <p:cNvPr id="119" name="Text 117"/>
          <p:cNvSpPr txBox="1"/>
          <p:nvPr/>
        </p:nvSpPr>
        <p:spPr>
          <a:xfrm>
            <a:off x="9848088" y="2198624"/>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$159.69</a:t>
            </a:r>
            <a:endParaRPr lang="en-US" sz="1300" dirty="0"/>
          </a:p>
        </p:txBody>
      </p:sp>
      <p:sp>
        <p:nvSpPr>
          <p:cNvPr id="120" name="Text 118"/>
          <p:cNvSpPr txBox="1"/>
          <p:nvPr/>
        </p:nvSpPr>
        <p:spPr>
          <a:xfrm>
            <a:off x="10634472" y="2198624"/>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$185.00</a:t>
            </a:r>
            <a:endParaRPr lang="en-US" sz="1300" dirty="0"/>
          </a:p>
        </p:txBody>
      </p:sp>
      <p:sp>
        <p:nvSpPr>
          <p:cNvPr id="121" name="Text 119"/>
          <p:cNvSpPr txBox="1"/>
          <p:nvPr/>
        </p:nvSpPr>
        <p:spPr>
          <a:xfrm>
            <a:off x="6208776" y="2420112"/>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122" name="Shape 120"/>
          <p:cNvSpPr/>
          <p:nvPr/>
        </p:nvSpPr>
        <p:spPr>
          <a:xfrm>
            <a:off x="8202168" y="2475484"/>
            <a:ext cx="564915" cy="110744"/>
          </a:xfrm>
          <a:prstGeom prst="rect">
            <a:avLst/>
          </a:prstGeom>
          <a:solidFill>
            <a:srgbClr val="12A566"/>
          </a:solidFill>
          <a:ln/>
        </p:spPr>
      </p:sp>
      <p:sp>
        <p:nvSpPr>
          <p:cNvPr id="123" name="Text 121"/>
          <p:cNvSpPr txBox="1"/>
          <p:nvPr/>
        </p:nvSpPr>
        <p:spPr>
          <a:xfrm>
            <a:off x="9098280" y="2420112"/>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82.6%</a:t>
            </a:r>
            <a:endParaRPr lang="en-US" sz="1300" dirty="0"/>
          </a:p>
        </p:txBody>
      </p:sp>
      <p:sp>
        <p:nvSpPr>
          <p:cNvPr id="124" name="Text 122"/>
          <p:cNvSpPr txBox="1"/>
          <p:nvPr/>
        </p:nvSpPr>
        <p:spPr>
          <a:xfrm>
            <a:off x="9848088" y="2420112"/>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$147.93</a:t>
            </a:r>
            <a:endParaRPr lang="en-US" sz="1300" dirty="0"/>
          </a:p>
        </p:txBody>
      </p:sp>
      <p:sp>
        <p:nvSpPr>
          <p:cNvPr id="125" name="Text 123"/>
          <p:cNvSpPr txBox="1"/>
          <p:nvPr/>
        </p:nvSpPr>
        <p:spPr>
          <a:xfrm>
            <a:off x="10634472" y="2420112"/>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$179.00</a:t>
            </a:r>
            <a:endParaRPr lang="en-US" sz="1300" dirty="0"/>
          </a:p>
        </p:txBody>
      </p:sp>
      <p:sp>
        <p:nvSpPr>
          <p:cNvPr id="126" name="Text 124"/>
          <p:cNvSpPr txBox="1"/>
          <p:nvPr/>
        </p:nvSpPr>
        <p:spPr>
          <a:xfrm>
            <a:off x="6208776" y="2641600"/>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127" name="Shape 125"/>
          <p:cNvSpPr/>
          <p:nvPr/>
        </p:nvSpPr>
        <p:spPr>
          <a:xfrm>
            <a:off x="8202168" y="2696972"/>
            <a:ext cx="549859" cy="110744"/>
          </a:xfrm>
          <a:prstGeom prst="rect">
            <a:avLst/>
          </a:prstGeom>
          <a:solidFill>
            <a:srgbClr val="12A566"/>
          </a:solidFill>
          <a:ln/>
        </p:spPr>
      </p:sp>
      <p:sp>
        <p:nvSpPr>
          <p:cNvPr id="128" name="Text 126"/>
          <p:cNvSpPr txBox="1"/>
          <p:nvPr/>
        </p:nvSpPr>
        <p:spPr>
          <a:xfrm>
            <a:off x="9098280" y="2641600"/>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81.5%</a:t>
            </a:r>
            <a:endParaRPr lang="en-US" sz="1300" dirty="0"/>
          </a:p>
        </p:txBody>
      </p:sp>
      <p:sp>
        <p:nvSpPr>
          <p:cNvPr id="129" name="Text 127"/>
          <p:cNvSpPr txBox="1"/>
          <p:nvPr/>
        </p:nvSpPr>
        <p:spPr>
          <a:xfrm>
            <a:off x="9848088" y="2641600"/>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$187.42</a:t>
            </a:r>
            <a:endParaRPr lang="en-US" sz="1300" dirty="0"/>
          </a:p>
        </p:txBody>
      </p:sp>
      <p:sp>
        <p:nvSpPr>
          <p:cNvPr id="130" name="Text 128"/>
          <p:cNvSpPr txBox="1"/>
          <p:nvPr/>
        </p:nvSpPr>
        <p:spPr>
          <a:xfrm>
            <a:off x="10634472" y="2641600"/>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$229.95</a:t>
            </a:r>
            <a:endParaRPr lang="en-US" sz="1300" dirty="0"/>
          </a:p>
        </p:txBody>
      </p:sp>
      <p:sp>
        <p:nvSpPr>
          <p:cNvPr id="131" name="Text 129"/>
          <p:cNvSpPr txBox="1"/>
          <p:nvPr/>
        </p:nvSpPr>
        <p:spPr>
          <a:xfrm>
            <a:off x="6208776" y="286308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132" name="Shape 130"/>
          <p:cNvSpPr/>
          <p:nvPr/>
        </p:nvSpPr>
        <p:spPr>
          <a:xfrm>
            <a:off x="8202168" y="2918460"/>
            <a:ext cx="542975" cy="110744"/>
          </a:xfrm>
          <a:prstGeom prst="rect">
            <a:avLst/>
          </a:prstGeom>
          <a:solidFill>
            <a:srgbClr val="12A566"/>
          </a:solidFill>
          <a:ln/>
        </p:spPr>
      </p:sp>
      <p:sp>
        <p:nvSpPr>
          <p:cNvPr id="133" name="Text 131"/>
          <p:cNvSpPr txBox="1"/>
          <p:nvPr/>
        </p:nvSpPr>
        <p:spPr>
          <a:xfrm>
            <a:off x="9098280" y="2863088"/>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80.9%</a:t>
            </a:r>
            <a:endParaRPr lang="en-US" sz="1300" dirty="0"/>
          </a:p>
        </p:txBody>
      </p:sp>
      <p:sp>
        <p:nvSpPr>
          <p:cNvPr id="134" name="Text 132"/>
          <p:cNvSpPr txBox="1"/>
          <p:nvPr/>
        </p:nvSpPr>
        <p:spPr>
          <a:xfrm>
            <a:off x="9848088" y="2863088"/>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$161.93</a:t>
            </a:r>
            <a:endParaRPr lang="en-US" sz="1300" dirty="0"/>
          </a:p>
        </p:txBody>
      </p:sp>
      <p:sp>
        <p:nvSpPr>
          <p:cNvPr id="135" name="Text 133"/>
          <p:cNvSpPr txBox="1"/>
          <p:nvPr/>
        </p:nvSpPr>
        <p:spPr>
          <a:xfrm>
            <a:off x="10634472" y="2863088"/>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$199.95</a:t>
            </a:r>
            <a:endParaRPr lang="en-US" sz="1300" dirty="0"/>
          </a:p>
        </p:txBody>
      </p:sp>
      <p:sp>
        <p:nvSpPr>
          <p:cNvPr id="136" name="Text 134"/>
          <p:cNvSpPr txBox="1"/>
          <p:nvPr/>
        </p:nvSpPr>
        <p:spPr>
          <a:xfrm>
            <a:off x="6208776" y="308457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137" name="Shape 135"/>
          <p:cNvSpPr/>
          <p:nvPr/>
        </p:nvSpPr>
        <p:spPr>
          <a:xfrm>
            <a:off x="8202168" y="3139948"/>
            <a:ext cx="528418" cy="110744"/>
          </a:xfrm>
          <a:prstGeom prst="rect">
            <a:avLst/>
          </a:prstGeom>
          <a:solidFill>
            <a:srgbClr val="12A566"/>
          </a:solidFill>
          <a:ln/>
        </p:spPr>
      </p:sp>
      <p:sp>
        <p:nvSpPr>
          <p:cNvPr id="138" name="Text 136"/>
          <p:cNvSpPr txBox="1"/>
          <p:nvPr/>
        </p:nvSpPr>
        <p:spPr>
          <a:xfrm>
            <a:off x="9098280" y="3084576"/>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79.8%</a:t>
            </a:r>
            <a:endParaRPr lang="en-US" sz="1300" dirty="0"/>
          </a:p>
        </p:txBody>
      </p:sp>
      <p:sp>
        <p:nvSpPr>
          <p:cNvPr id="139" name="Text 137"/>
          <p:cNvSpPr txBox="1"/>
          <p:nvPr/>
        </p:nvSpPr>
        <p:spPr>
          <a:xfrm>
            <a:off x="9848088" y="3084576"/>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$155.78</a:t>
            </a:r>
            <a:endParaRPr lang="en-US" sz="1300" dirty="0"/>
          </a:p>
        </p:txBody>
      </p:sp>
      <p:sp>
        <p:nvSpPr>
          <p:cNvPr id="140" name="Text 138"/>
          <p:cNvSpPr txBox="1"/>
          <p:nvPr/>
        </p:nvSpPr>
        <p:spPr>
          <a:xfrm>
            <a:off x="10634472" y="3084576"/>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$195.00</a:t>
            </a:r>
            <a:endParaRPr lang="en-US" sz="1300" dirty="0"/>
          </a:p>
        </p:txBody>
      </p:sp>
      <p:sp>
        <p:nvSpPr>
          <p:cNvPr id="141" name="Text 139"/>
          <p:cNvSpPr txBox="1"/>
          <p:nvPr/>
        </p:nvSpPr>
        <p:spPr>
          <a:xfrm>
            <a:off x="6208776" y="330606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142" name="Shape 140"/>
          <p:cNvSpPr/>
          <p:nvPr/>
        </p:nvSpPr>
        <p:spPr>
          <a:xfrm>
            <a:off x="8202168" y="3361436"/>
            <a:ext cx="515923" cy="110744"/>
          </a:xfrm>
          <a:prstGeom prst="rect">
            <a:avLst/>
          </a:prstGeom>
          <a:solidFill>
            <a:srgbClr val="12A566"/>
          </a:solidFill>
          <a:ln/>
        </p:spPr>
      </p:sp>
      <p:sp>
        <p:nvSpPr>
          <p:cNvPr id="143" name="Text 141"/>
          <p:cNvSpPr txBox="1"/>
          <p:nvPr/>
        </p:nvSpPr>
        <p:spPr>
          <a:xfrm>
            <a:off x="9098280" y="3306064"/>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78.9%</a:t>
            </a:r>
            <a:endParaRPr lang="en-US" sz="1300" dirty="0"/>
          </a:p>
        </p:txBody>
      </p:sp>
      <p:sp>
        <p:nvSpPr>
          <p:cNvPr id="144" name="Text 142"/>
          <p:cNvSpPr txBox="1"/>
          <p:nvPr/>
        </p:nvSpPr>
        <p:spPr>
          <a:xfrm>
            <a:off x="9848088" y="3306064"/>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$146.04</a:t>
            </a:r>
            <a:endParaRPr lang="en-US" sz="1300" dirty="0"/>
          </a:p>
        </p:txBody>
      </p:sp>
      <p:sp>
        <p:nvSpPr>
          <p:cNvPr id="145" name="Text 143"/>
          <p:cNvSpPr txBox="1"/>
          <p:nvPr/>
        </p:nvSpPr>
        <p:spPr>
          <a:xfrm>
            <a:off x="10634472" y="3306064"/>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$185.00</a:t>
            </a:r>
            <a:endParaRPr lang="en-US" sz="1300" dirty="0"/>
          </a:p>
        </p:txBody>
      </p:sp>
      <p:sp>
        <p:nvSpPr>
          <p:cNvPr id="146" name="Shape 144"/>
          <p:cNvSpPr/>
          <p:nvPr/>
        </p:nvSpPr>
        <p:spPr>
          <a:xfrm>
            <a:off x="6153912" y="3527552"/>
            <a:ext cx="5285232" cy="212344"/>
          </a:xfrm>
          <a:prstGeom prst="rect">
            <a:avLst/>
          </a:prstGeom>
          <a:solidFill>
            <a:srgbClr val="EDF4FA"/>
          </a:solidFill>
          <a:ln/>
        </p:spPr>
      </p:sp>
      <p:sp>
        <p:nvSpPr>
          <p:cNvPr id="147" name="Text 145"/>
          <p:cNvSpPr txBox="1"/>
          <p:nvPr/>
        </p:nvSpPr>
        <p:spPr>
          <a:xfrm>
            <a:off x="6208776" y="3527552"/>
            <a:ext cx="1920240" cy="221488"/>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NO-GRID AVG</a:t>
            </a:r>
            <a:endParaRPr lang="en-US" sz="1300" dirty="0"/>
          </a:p>
        </p:txBody>
      </p:sp>
      <p:sp>
        <p:nvSpPr>
          <p:cNvPr id="148" name="Shape 146"/>
          <p:cNvSpPr/>
          <p:nvPr/>
        </p:nvSpPr>
        <p:spPr>
          <a:xfrm>
            <a:off x="8202168" y="3582924"/>
            <a:ext cx="482674" cy="110744"/>
          </a:xfrm>
          <a:prstGeom prst="rect">
            <a:avLst/>
          </a:prstGeom>
          <a:solidFill>
            <a:srgbClr val="0B2C4A"/>
          </a:solidFill>
          <a:ln/>
        </p:spPr>
      </p:sp>
      <p:sp>
        <p:nvSpPr>
          <p:cNvPr id="149" name="Text 147"/>
          <p:cNvSpPr txBox="1"/>
          <p:nvPr/>
        </p:nvSpPr>
        <p:spPr>
          <a:xfrm>
            <a:off x="9098280" y="3527552"/>
            <a:ext cx="749808" cy="22148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76.4%</a:t>
            </a:r>
            <a:endParaRPr lang="en-US" sz="1300" dirty="0"/>
          </a:p>
        </p:txBody>
      </p:sp>
      <p:sp>
        <p:nvSpPr>
          <p:cNvPr id="150" name="Text 148"/>
          <p:cNvSpPr txBox="1"/>
          <p:nvPr/>
        </p:nvSpPr>
        <p:spPr>
          <a:xfrm>
            <a:off x="9848088" y="3527552"/>
            <a:ext cx="786384" cy="22148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$155.03</a:t>
            </a:r>
            <a:endParaRPr lang="en-US" sz="1300" dirty="0"/>
          </a:p>
        </p:txBody>
      </p:sp>
      <p:sp>
        <p:nvSpPr>
          <p:cNvPr id="151" name="Text 149"/>
          <p:cNvSpPr txBox="1"/>
          <p:nvPr/>
        </p:nvSpPr>
        <p:spPr>
          <a:xfrm>
            <a:off x="10634472" y="3527552"/>
            <a:ext cx="786384" cy="22148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$202.83</a:t>
            </a:r>
            <a:endParaRPr lang="en-US" sz="1300" dirty="0"/>
          </a:p>
        </p:txBody>
      </p:sp>
      <p:sp>
        <p:nvSpPr>
          <p:cNvPr id="152" name="Text 150"/>
          <p:cNvSpPr txBox="1"/>
          <p:nvPr/>
        </p:nvSpPr>
        <p:spPr>
          <a:xfrm>
            <a:off x="6208776" y="3749040"/>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153" name="Shape 151"/>
          <p:cNvSpPr/>
          <p:nvPr/>
        </p:nvSpPr>
        <p:spPr>
          <a:xfrm>
            <a:off x="8202168" y="3804412"/>
            <a:ext cx="467351" cy="110744"/>
          </a:xfrm>
          <a:prstGeom prst="rect">
            <a:avLst/>
          </a:prstGeom>
          <a:solidFill>
            <a:srgbClr val="12A566"/>
          </a:solidFill>
          <a:ln/>
        </p:spPr>
      </p:sp>
      <p:sp>
        <p:nvSpPr>
          <p:cNvPr id="154" name="Text 152"/>
          <p:cNvSpPr txBox="1"/>
          <p:nvPr/>
        </p:nvSpPr>
        <p:spPr>
          <a:xfrm>
            <a:off x="9098280" y="3749040"/>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75.2%</a:t>
            </a:r>
            <a:endParaRPr lang="en-US" sz="1300" dirty="0"/>
          </a:p>
        </p:txBody>
      </p:sp>
      <p:sp>
        <p:nvSpPr>
          <p:cNvPr id="155" name="Text 153"/>
          <p:cNvSpPr txBox="1"/>
          <p:nvPr/>
        </p:nvSpPr>
        <p:spPr>
          <a:xfrm>
            <a:off x="9848088" y="3749040"/>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$162.12</a:t>
            </a:r>
            <a:endParaRPr lang="en-US" sz="1300" dirty="0"/>
          </a:p>
        </p:txBody>
      </p:sp>
      <p:sp>
        <p:nvSpPr>
          <p:cNvPr id="156" name="Text 154"/>
          <p:cNvSpPr txBox="1"/>
          <p:nvPr/>
        </p:nvSpPr>
        <p:spPr>
          <a:xfrm>
            <a:off x="10634472" y="3749040"/>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$215.37</a:t>
            </a:r>
            <a:endParaRPr lang="en-US" sz="1300" dirty="0"/>
          </a:p>
        </p:txBody>
      </p:sp>
      <p:sp>
        <p:nvSpPr>
          <p:cNvPr id="157" name="Text 155"/>
          <p:cNvSpPr txBox="1"/>
          <p:nvPr/>
        </p:nvSpPr>
        <p:spPr>
          <a:xfrm>
            <a:off x="6208776" y="397052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158" name="Shape 156"/>
          <p:cNvSpPr/>
          <p:nvPr/>
        </p:nvSpPr>
        <p:spPr>
          <a:xfrm>
            <a:off x="8202168" y="4025900"/>
            <a:ext cx="463785" cy="110744"/>
          </a:xfrm>
          <a:prstGeom prst="rect">
            <a:avLst/>
          </a:prstGeom>
          <a:solidFill>
            <a:srgbClr val="12A566"/>
          </a:solidFill>
          <a:ln/>
        </p:spPr>
      </p:sp>
      <p:sp>
        <p:nvSpPr>
          <p:cNvPr id="159" name="Text 157"/>
          <p:cNvSpPr txBox="1"/>
          <p:nvPr/>
        </p:nvSpPr>
        <p:spPr>
          <a:xfrm>
            <a:off x="9098280" y="3970528"/>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75.0%</a:t>
            </a:r>
            <a:endParaRPr lang="en-US" sz="1300" dirty="0"/>
          </a:p>
        </p:txBody>
      </p:sp>
      <p:sp>
        <p:nvSpPr>
          <p:cNvPr id="160" name="Text 158"/>
          <p:cNvSpPr txBox="1"/>
          <p:nvPr/>
        </p:nvSpPr>
        <p:spPr>
          <a:xfrm>
            <a:off x="9848088" y="3970528"/>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$142.51</a:t>
            </a:r>
            <a:endParaRPr lang="en-US" sz="1300" dirty="0"/>
          </a:p>
        </p:txBody>
      </p:sp>
      <p:sp>
        <p:nvSpPr>
          <p:cNvPr id="161" name="Text 159"/>
          <p:cNvSpPr txBox="1"/>
          <p:nvPr/>
        </p:nvSpPr>
        <p:spPr>
          <a:xfrm>
            <a:off x="10634472" y="3970528"/>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$190.00</a:t>
            </a:r>
            <a:endParaRPr lang="en-US" sz="1300" dirty="0"/>
          </a:p>
        </p:txBody>
      </p:sp>
      <p:sp>
        <p:nvSpPr>
          <p:cNvPr id="162" name="Text 160"/>
          <p:cNvSpPr txBox="1"/>
          <p:nvPr/>
        </p:nvSpPr>
        <p:spPr>
          <a:xfrm>
            <a:off x="6208776" y="419201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163" name="Shape 161"/>
          <p:cNvSpPr/>
          <p:nvPr/>
        </p:nvSpPr>
        <p:spPr>
          <a:xfrm>
            <a:off x="8202168" y="4247388"/>
            <a:ext cx="449061" cy="110744"/>
          </a:xfrm>
          <a:prstGeom prst="rect">
            <a:avLst/>
          </a:prstGeom>
          <a:solidFill>
            <a:srgbClr val="12A566"/>
          </a:solidFill>
          <a:ln/>
        </p:spPr>
      </p:sp>
      <p:sp>
        <p:nvSpPr>
          <p:cNvPr id="164" name="Text 162"/>
          <p:cNvSpPr txBox="1"/>
          <p:nvPr/>
        </p:nvSpPr>
        <p:spPr>
          <a:xfrm>
            <a:off x="9098280" y="4192016"/>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73.8%</a:t>
            </a:r>
            <a:endParaRPr lang="en-US" sz="1300" dirty="0"/>
          </a:p>
        </p:txBody>
      </p:sp>
      <p:sp>
        <p:nvSpPr>
          <p:cNvPr id="165" name="Text 163"/>
          <p:cNvSpPr txBox="1"/>
          <p:nvPr/>
        </p:nvSpPr>
        <p:spPr>
          <a:xfrm>
            <a:off x="9848088" y="4192016"/>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$136.71</a:t>
            </a:r>
            <a:endParaRPr lang="en-US" sz="1300" dirty="0"/>
          </a:p>
        </p:txBody>
      </p:sp>
      <p:sp>
        <p:nvSpPr>
          <p:cNvPr id="166" name="Text 164"/>
          <p:cNvSpPr txBox="1"/>
          <p:nvPr/>
        </p:nvSpPr>
        <p:spPr>
          <a:xfrm>
            <a:off x="10634472" y="4192016"/>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$185.00</a:t>
            </a:r>
            <a:endParaRPr lang="en-US" sz="1300" dirty="0"/>
          </a:p>
        </p:txBody>
      </p:sp>
      <p:sp>
        <p:nvSpPr>
          <p:cNvPr id="167" name="Text 165"/>
          <p:cNvSpPr txBox="1"/>
          <p:nvPr/>
        </p:nvSpPr>
        <p:spPr>
          <a:xfrm>
            <a:off x="6208776" y="441350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168" name="Shape 166"/>
          <p:cNvSpPr/>
          <p:nvPr/>
        </p:nvSpPr>
        <p:spPr>
          <a:xfrm>
            <a:off x="8202168" y="4468876"/>
            <a:ext cx="374799" cy="110744"/>
          </a:xfrm>
          <a:prstGeom prst="rect">
            <a:avLst/>
          </a:prstGeom>
          <a:solidFill>
            <a:srgbClr val="C2352F"/>
          </a:solidFill>
          <a:ln/>
        </p:spPr>
      </p:sp>
      <p:sp>
        <p:nvSpPr>
          <p:cNvPr id="169" name="Text 167"/>
          <p:cNvSpPr txBox="1"/>
          <p:nvPr/>
        </p:nvSpPr>
        <p:spPr>
          <a:xfrm>
            <a:off x="9098280" y="4413504"/>
            <a:ext cx="749808" cy="221488"/>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68.2%</a:t>
            </a:r>
            <a:endParaRPr lang="en-US" sz="1300" dirty="0"/>
          </a:p>
        </p:txBody>
      </p:sp>
      <p:sp>
        <p:nvSpPr>
          <p:cNvPr id="170" name="Text 168"/>
          <p:cNvSpPr txBox="1"/>
          <p:nvPr/>
        </p:nvSpPr>
        <p:spPr>
          <a:xfrm>
            <a:off x="9848088" y="4413504"/>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$167.22</a:t>
            </a:r>
            <a:endParaRPr lang="en-US" sz="1300" dirty="0"/>
          </a:p>
        </p:txBody>
      </p:sp>
      <p:sp>
        <p:nvSpPr>
          <p:cNvPr id="171" name="Text 169"/>
          <p:cNvSpPr txBox="1"/>
          <p:nvPr/>
        </p:nvSpPr>
        <p:spPr>
          <a:xfrm>
            <a:off x="10634472" y="4413504"/>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$244.87</a:t>
            </a:r>
            <a:endParaRPr lang="en-US" sz="1300" dirty="0"/>
          </a:p>
        </p:txBody>
      </p:sp>
      <p:sp>
        <p:nvSpPr>
          <p:cNvPr id="172" name="Text 170"/>
          <p:cNvSpPr txBox="1"/>
          <p:nvPr/>
        </p:nvSpPr>
        <p:spPr>
          <a:xfrm>
            <a:off x="6208776" y="4634992"/>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173" name="Shape 171"/>
          <p:cNvSpPr/>
          <p:nvPr/>
        </p:nvSpPr>
        <p:spPr>
          <a:xfrm>
            <a:off x="8202168" y="4690364"/>
            <a:ext cx="364670" cy="110744"/>
          </a:xfrm>
          <a:prstGeom prst="rect">
            <a:avLst/>
          </a:prstGeom>
          <a:solidFill>
            <a:srgbClr val="C2352F"/>
          </a:solidFill>
          <a:ln/>
        </p:spPr>
      </p:sp>
      <p:sp>
        <p:nvSpPr>
          <p:cNvPr id="174" name="Text 172"/>
          <p:cNvSpPr txBox="1"/>
          <p:nvPr/>
        </p:nvSpPr>
        <p:spPr>
          <a:xfrm>
            <a:off x="9098280" y="4634992"/>
            <a:ext cx="749808" cy="221488"/>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67.5%</a:t>
            </a:r>
            <a:endParaRPr lang="en-US" sz="1300" dirty="0"/>
          </a:p>
        </p:txBody>
      </p:sp>
      <p:sp>
        <p:nvSpPr>
          <p:cNvPr id="175" name="Text 173"/>
          <p:cNvSpPr txBox="1"/>
          <p:nvPr/>
        </p:nvSpPr>
        <p:spPr>
          <a:xfrm>
            <a:off x="9848088" y="4634992"/>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$124.92</a:t>
            </a:r>
            <a:endParaRPr lang="en-US" sz="1300" dirty="0"/>
          </a:p>
        </p:txBody>
      </p:sp>
      <p:sp>
        <p:nvSpPr>
          <p:cNvPr id="176" name="Text 174"/>
          <p:cNvSpPr txBox="1"/>
          <p:nvPr/>
        </p:nvSpPr>
        <p:spPr>
          <a:xfrm>
            <a:off x="10634472" y="4634992"/>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$185.00</a:t>
            </a:r>
            <a:endParaRPr lang="en-US" sz="1300" dirty="0"/>
          </a:p>
        </p:txBody>
      </p:sp>
      <p:sp>
        <p:nvSpPr>
          <p:cNvPr id="177" name="Text 175"/>
          <p:cNvSpPr txBox="1"/>
          <p:nvPr/>
        </p:nvSpPr>
        <p:spPr>
          <a:xfrm>
            <a:off x="6208776" y="4856480"/>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178" name="Shape 176"/>
          <p:cNvSpPr/>
          <p:nvPr/>
        </p:nvSpPr>
        <p:spPr>
          <a:xfrm>
            <a:off x="8202168" y="4911852"/>
            <a:ext cx="354832" cy="110744"/>
          </a:xfrm>
          <a:prstGeom prst="rect">
            <a:avLst/>
          </a:prstGeom>
          <a:solidFill>
            <a:srgbClr val="C2352F"/>
          </a:solidFill>
          <a:ln/>
        </p:spPr>
      </p:sp>
      <p:sp>
        <p:nvSpPr>
          <p:cNvPr id="179" name="Text 177"/>
          <p:cNvSpPr txBox="1"/>
          <p:nvPr/>
        </p:nvSpPr>
        <p:spPr>
          <a:xfrm>
            <a:off x="9098280" y="4856480"/>
            <a:ext cx="749808" cy="221488"/>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66.7%</a:t>
            </a:r>
            <a:endParaRPr lang="en-US" sz="1300" dirty="0"/>
          </a:p>
        </p:txBody>
      </p:sp>
      <p:sp>
        <p:nvSpPr>
          <p:cNvPr id="180" name="Text 178"/>
          <p:cNvSpPr txBox="1"/>
          <p:nvPr/>
        </p:nvSpPr>
        <p:spPr>
          <a:xfrm>
            <a:off x="9848088" y="4856480"/>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$146.92</a:t>
            </a:r>
            <a:endParaRPr lang="en-US" sz="1300" dirty="0"/>
          </a:p>
        </p:txBody>
      </p:sp>
      <p:sp>
        <p:nvSpPr>
          <p:cNvPr id="181" name="Text 179"/>
          <p:cNvSpPr txBox="1"/>
          <p:nvPr/>
        </p:nvSpPr>
        <p:spPr>
          <a:xfrm>
            <a:off x="10634472" y="4856480"/>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$220.00</a:t>
            </a:r>
            <a:endParaRPr lang="en-US" sz="1300" dirty="0"/>
          </a:p>
        </p:txBody>
      </p:sp>
      <p:sp>
        <p:nvSpPr>
          <p:cNvPr id="182" name="Text 180"/>
          <p:cNvSpPr txBox="1"/>
          <p:nvPr/>
        </p:nvSpPr>
        <p:spPr>
          <a:xfrm>
            <a:off x="6208776" y="507796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183" name="Shape 181"/>
          <p:cNvSpPr/>
          <p:nvPr/>
        </p:nvSpPr>
        <p:spPr>
          <a:xfrm>
            <a:off x="8202168" y="5133340"/>
            <a:ext cx="352064" cy="110744"/>
          </a:xfrm>
          <a:prstGeom prst="rect">
            <a:avLst/>
          </a:prstGeom>
          <a:solidFill>
            <a:srgbClr val="C2352F"/>
          </a:solidFill>
          <a:ln/>
        </p:spPr>
      </p:sp>
      <p:sp>
        <p:nvSpPr>
          <p:cNvPr id="184" name="Text 182"/>
          <p:cNvSpPr txBox="1"/>
          <p:nvPr/>
        </p:nvSpPr>
        <p:spPr>
          <a:xfrm>
            <a:off x="9098280" y="5077968"/>
            <a:ext cx="749808" cy="221488"/>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66.5%</a:t>
            </a:r>
            <a:endParaRPr lang="en-US" sz="1300" dirty="0"/>
          </a:p>
        </p:txBody>
      </p:sp>
      <p:sp>
        <p:nvSpPr>
          <p:cNvPr id="185" name="Text 183"/>
          <p:cNvSpPr txBox="1"/>
          <p:nvPr/>
        </p:nvSpPr>
        <p:spPr>
          <a:xfrm>
            <a:off x="9848088" y="5077968"/>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$139.81</a:t>
            </a:r>
            <a:endParaRPr lang="en-US" sz="1300" dirty="0"/>
          </a:p>
        </p:txBody>
      </p:sp>
      <p:sp>
        <p:nvSpPr>
          <p:cNvPr id="186" name="Text 184"/>
          <p:cNvSpPr txBox="1"/>
          <p:nvPr/>
        </p:nvSpPr>
        <p:spPr>
          <a:xfrm>
            <a:off x="10634472" y="5077968"/>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$210.00</a:t>
            </a:r>
            <a:endParaRPr lang="en-US" sz="1300" dirty="0"/>
          </a:p>
        </p:txBody>
      </p:sp>
      <p:sp>
        <p:nvSpPr>
          <p:cNvPr id="187" name="Text 185"/>
          <p:cNvSpPr txBox="1"/>
          <p:nvPr/>
        </p:nvSpPr>
        <p:spPr>
          <a:xfrm>
            <a:off x="6208776" y="529945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88" name="Shape 186"/>
          <p:cNvSpPr/>
          <p:nvPr/>
        </p:nvSpPr>
        <p:spPr>
          <a:xfrm>
            <a:off x="8202168" y="5354828"/>
            <a:ext cx="328825" cy="110744"/>
          </a:xfrm>
          <a:prstGeom prst="rect">
            <a:avLst/>
          </a:prstGeom>
          <a:solidFill>
            <a:srgbClr val="C2352F"/>
          </a:solidFill>
          <a:ln/>
        </p:spPr>
      </p:sp>
      <p:sp>
        <p:nvSpPr>
          <p:cNvPr id="189" name="Text 187"/>
          <p:cNvSpPr txBox="1"/>
          <p:nvPr/>
        </p:nvSpPr>
        <p:spPr>
          <a:xfrm>
            <a:off x="9098280" y="5299456"/>
            <a:ext cx="749808" cy="221488"/>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64.8%</a:t>
            </a:r>
            <a:endParaRPr lang="en-US" sz="1300" dirty="0"/>
          </a:p>
        </p:txBody>
      </p:sp>
      <p:sp>
        <p:nvSpPr>
          <p:cNvPr id="190" name="Text 188"/>
          <p:cNvSpPr txBox="1"/>
          <p:nvPr/>
        </p:nvSpPr>
        <p:spPr>
          <a:xfrm>
            <a:off x="9848088" y="5299456"/>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$136.12</a:t>
            </a:r>
            <a:endParaRPr lang="en-US" sz="1300" dirty="0"/>
          </a:p>
        </p:txBody>
      </p:sp>
      <p:sp>
        <p:nvSpPr>
          <p:cNvPr id="191" name="Text 189"/>
          <p:cNvSpPr txBox="1"/>
          <p:nvPr/>
        </p:nvSpPr>
        <p:spPr>
          <a:xfrm>
            <a:off x="10634472" y="5299456"/>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$210.00</a:t>
            </a:r>
            <a:endParaRPr lang="en-US" sz="1300" dirty="0"/>
          </a:p>
        </p:txBody>
      </p:sp>
      <p:sp>
        <p:nvSpPr>
          <p:cNvPr id="192" name="Shape 190"/>
          <p:cNvSpPr/>
          <p:nvPr/>
        </p:nvSpPr>
        <p:spPr>
          <a:xfrm>
            <a:off x="8592301" y="1755648"/>
            <a:ext cx="14630" cy="3765296"/>
          </a:xfrm>
          <a:prstGeom prst="rect">
            <a:avLst/>
          </a:prstGeom>
          <a:solidFill>
            <a:srgbClr val="0B2C4A"/>
          </a:solidFill>
          <a:ln/>
        </p:spPr>
      </p:sp>
      <p:sp>
        <p:nvSpPr>
          <p:cNvPr id="193" name="Shape 191"/>
          <p:cNvSpPr/>
          <p:nvPr/>
        </p:nvSpPr>
        <p:spPr>
          <a:xfrm>
            <a:off x="6035040" y="1371600"/>
            <a:ext cx="10973" cy="4370832"/>
          </a:xfrm>
          <a:prstGeom prst="rect">
            <a:avLst/>
          </a:prstGeom>
          <a:solidFill>
            <a:srgbClr val="D9D9D9"/>
          </a:solidFill>
          <a:ln/>
        </p:spPr>
      </p:sp>
      <p:sp>
        <p:nvSpPr>
          <p:cNvPr id="194" name="Shape 192"/>
          <p:cNvSpPr/>
          <p:nvPr/>
        </p:nvSpPr>
        <p:spPr>
          <a:xfrm>
            <a:off x="457200" y="5961888"/>
            <a:ext cx="11274552" cy="548640"/>
          </a:xfrm>
          <a:prstGeom prst="rect">
            <a:avLst/>
          </a:prstGeom>
          <a:solidFill>
            <a:srgbClr val="EDF4FA"/>
          </a:solidFill>
          <a:ln/>
        </p:spPr>
      </p:sp>
      <p:sp>
        <p:nvSpPr>
          <p:cNvPr id="195" name="Text 193"/>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Jul–Sep: grid stores realize 73.9% of door rate, no-grid stores 76.4%. A grid should lift ELR on longer jobs, yet grid stores trail.</a:t>
            </a:r>
            <a:endParaRPr lang="en-US" sz="16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Labor $ per RO</a:t>
            </a:r>
            <a:endParaRPr lang="en-US" sz="2800" dirty="0"/>
          </a:p>
        </p:txBody>
      </p:sp>
      <p:sp>
        <p:nvSpPr>
          <p:cNvPr id="5" name="Shape 3"/>
          <p:cNvSpPr/>
          <p:nvPr/>
        </p:nvSpPr>
        <p:spPr>
          <a:xfrm>
            <a:off x="457200" y="1207008"/>
            <a:ext cx="11274552" cy="1517904"/>
          </a:xfrm>
          <a:prstGeom prst="rect">
            <a:avLst/>
          </a:prstGeom>
          <a:solidFill>
            <a:srgbClr val="FFFFFF"/>
          </a:solidFill>
          <a:ln/>
        </p:spPr>
      </p:sp>
      <p:sp>
        <p:nvSpPr>
          <p:cNvPr id="6" name="Text 4"/>
          <p:cNvSpPr txBox="1"/>
          <p:nvPr/>
        </p:nvSpPr>
        <p:spPr>
          <a:xfrm>
            <a:off x="685800" y="1316736"/>
            <a:ext cx="10789920" cy="274320"/>
          </a:xfrm>
          <a:prstGeom prst="rect">
            <a:avLst/>
          </a:prstGeom>
          <a:noFill/>
          <a:ln/>
        </p:spPr>
        <p:txBody>
          <a:bodyPr wrap="square" lIns="0" tIns="0" rIns="0" bIns="0" rtlCol="0" anchor="ctr"/>
          <a:lstStyle/>
          <a:p>
            <a:pPr indent="0" marL="0">
              <a:buNone/>
            </a:pPr>
            <a:r>
              <a:rPr lang="en-US" sz="1400" spc="100" kern="0" dirty="0">
                <a:solidFill>
                  <a:srgbClr val="595959"/>
                </a:solidFill>
                <a:latin typeface="Inter" pitchFamily="34" charset="0"/>
                <a:ea typeface="Inter" pitchFamily="34" charset="-122"/>
                <a:cs typeface="Inter" pitchFamily="34" charset="-120"/>
              </a:rPr>
              <a:t>GROUP · JANUARY–SEPTEMBER · SAME-STORE, 33 STORES</a:t>
            </a:r>
            <a:endParaRPr lang="en-US" sz="1400" dirty="0"/>
          </a:p>
        </p:txBody>
      </p:sp>
      <p:sp>
        <p:nvSpPr>
          <p:cNvPr id="7" name="Text 5"/>
          <p:cNvSpPr txBox="1"/>
          <p:nvPr/>
        </p:nvSpPr>
        <p:spPr>
          <a:xfrm>
            <a:off x="68580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a:t>
            </a:r>
            <a:endParaRPr lang="en-US" sz="1400" dirty="0"/>
          </a:p>
        </p:txBody>
      </p:sp>
      <p:sp>
        <p:nvSpPr>
          <p:cNvPr id="8" name="Text 6"/>
          <p:cNvSpPr txBox="1"/>
          <p:nvPr/>
        </p:nvSpPr>
        <p:spPr>
          <a:xfrm>
            <a:off x="68580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$287</a:t>
            </a:r>
            <a:endParaRPr lang="en-US" sz="3000" dirty="0"/>
          </a:p>
        </p:txBody>
      </p:sp>
      <p:sp>
        <p:nvSpPr>
          <p:cNvPr id="9" name="Text 7"/>
          <p:cNvSpPr txBox="1"/>
          <p:nvPr/>
        </p:nvSpPr>
        <p:spPr>
          <a:xfrm>
            <a:off x="347472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a:t>
            </a:r>
            <a:endParaRPr lang="en-US" sz="1400" dirty="0"/>
          </a:p>
        </p:txBody>
      </p:sp>
      <p:sp>
        <p:nvSpPr>
          <p:cNvPr id="10" name="Text 8"/>
          <p:cNvSpPr txBox="1"/>
          <p:nvPr/>
        </p:nvSpPr>
        <p:spPr>
          <a:xfrm>
            <a:off x="347472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$304</a:t>
            </a:r>
            <a:endParaRPr lang="en-US" sz="3000" dirty="0"/>
          </a:p>
        </p:txBody>
      </p:sp>
      <p:sp>
        <p:nvSpPr>
          <p:cNvPr id="11" name="Text 9"/>
          <p:cNvSpPr txBox="1"/>
          <p:nvPr/>
        </p:nvSpPr>
        <p:spPr>
          <a:xfrm>
            <a:off x="626364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2" name="Text 10"/>
          <p:cNvSpPr txBox="1"/>
          <p:nvPr/>
        </p:nvSpPr>
        <p:spPr>
          <a:xfrm>
            <a:off x="626364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+$17</a:t>
            </a:r>
            <a:endParaRPr lang="en-US" sz="3000" dirty="0"/>
          </a:p>
        </p:txBody>
      </p:sp>
      <p:sp>
        <p:nvSpPr>
          <p:cNvPr id="13" name="Text 11"/>
          <p:cNvSpPr txBox="1"/>
          <p:nvPr/>
        </p:nvSpPr>
        <p:spPr>
          <a:xfrm>
            <a:off x="905256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4" name="Text 12"/>
          <p:cNvSpPr txBox="1"/>
          <p:nvPr/>
        </p:nvSpPr>
        <p:spPr>
          <a:xfrm>
            <a:off x="905256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+5.9%</a:t>
            </a:r>
            <a:endParaRPr lang="en-US" sz="30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457200" y="2816352"/>
          <a:ext cx="11274552" cy="914400"/>
        </p:xfrm>
        <a:graphic>
          <a:graphicData uri="http://schemas.openxmlformats.org/drawingml/2006/table">
            <a:tbl>
              <a:tblPr/>
              <a:tblGrid>
                <a:gridCol w="3118104"/>
                <a:gridCol w="2039112"/>
                <a:gridCol w="2039112"/>
                <a:gridCol w="2039112"/>
                <a:gridCol w="2039112"/>
              </a:tblGrid>
              <a:tr h="274320">
                <a:tc>
                  <a:txBody>
                    <a:bodyPr/>
                    <a:lstStyle/>
                    <a:p>
                      <a:pPr algn="l" indent="0" marL="0">
                        <a:buNone/>
                      </a:pPr>
                      <a:r>
                        <a:rPr lang="en-US" sz="1400" b="1" dirty="0">
                          <a:solidFill>
                            <a:srgbClr val="FFFFFF"/>
                          </a:solidFill>
                          <a:latin typeface="Inter" pitchFamily="34" charset="0"/>
                          <a:ea typeface="Inter" pitchFamily="34" charset="-122"/>
                          <a:cs typeface="Inter" pitchFamily="34" charset="-120"/>
                        </a:rPr>
                        <a:t>MONTH</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VARIANCE</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 %</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JAN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$281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$292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FEB</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$290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$309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+6.5%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$290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$309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+6.6%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APR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$291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$315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+8.1%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MAY</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$288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$304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+5.6%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$288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$303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+5.2%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JUL</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$284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$304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+6.9%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AUG</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$285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$304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+6.6%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SEP</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$283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$294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16" name="Shape 13"/>
          <p:cNvSpPr/>
          <p:nvPr/>
        </p:nvSpPr>
        <p:spPr>
          <a:xfrm>
            <a:off x="457200" y="5961888"/>
            <a:ext cx="11274552" cy="548640"/>
          </a:xfrm>
          <a:prstGeom prst="rect">
            <a:avLst/>
          </a:prstGeom>
          <a:solidFill>
            <a:srgbClr val="E6F6EE"/>
          </a:solidFill>
          <a:ln/>
        </p:spPr>
      </p:sp>
      <p:sp>
        <p:nvSpPr>
          <p:cNvPr id="17" name="Text 14"/>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Up $17 to $304, ahead of 2025 in all nine months. ROs were flat, so the $4,899,376 labor gain came from selling more per visit.</a:t>
            </a:r>
            <a:endParaRPr lang="en-US"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Labor $ per RO</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316736"/>
            <a:ext cx="3383280" cy="32918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LUXURY · 9 STORES</a:t>
            </a:r>
            <a:endParaRPr lang="en-US" sz="1400" dirty="0"/>
          </a:p>
        </p:txBody>
      </p:sp>
      <p:sp>
        <p:nvSpPr>
          <p:cNvPr id="7" name="Text 5"/>
          <p:cNvSpPr txBox="1"/>
          <p:nvPr/>
        </p:nvSpPr>
        <p:spPr>
          <a:xfrm>
            <a:off x="658368" y="1755648"/>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8" name="Shape 6"/>
          <p:cNvSpPr/>
          <p:nvPr/>
        </p:nvSpPr>
        <p:spPr>
          <a:xfrm>
            <a:off x="2267712" y="1832317"/>
            <a:ext cx="1030941" cy="153338"/>
          </a:xfrm>
          <a:prstGeom prst="rect">
            <a:avLst/>
          </a:prstGeom>
          <a:solidFill>
            <a:srgbClr val="12A566"/>
          </a:solidFill>
          <a:ln/>
        </p:spPr>
      </p:sp>
      <p:sp>
        <p:nvSpPr>
          <p:cNvPr id="9" name="Text 7"/>
          <p:cNvSpPr txBox="1"/>
          <p:nvPr/>
        </p:nvSpPr>
        <p:spPr>
          <a:xfrm>
            <a:off x="3355848" y="1755648"/>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$933</a:t>
            </a:r>
            <a:endParaRPr lang="en-US" sz="1300" dirty="0"/>
          </a:p>
        </p:txBody>
      </p:sp>
      <p:sp>
        <p:nvSpPr>
          <p:cNvPr id="10" name="Text 8"/>
          <p:cNvSpPr txBox="1"/>
          <p:nvPr/>
        </p:nvSpPr>
        <p:spPr>
          <a:xfrm>
            <a:off x="658368" y="2062324"/>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11" name="Shape 9"/>
          <p:cNvSpPr/>
          <p:nvPr/>
        </p:nvSpPr>
        <p:spPr>
          <a:xfrm>
            <a:off x="2267712" y="2138993"/>
            <a:ext cx="1028573" cy="153338"/>
          </a:xfrm>
          <a:prstGeom prst="rect">
            <a:avLst/>
          </a:prstGeom>
          <a:solidFill>
            <a:srgbClr val="12A566"/>
          </a:solidFill>
          <a:ln/>
        </p:spPr>
      </p:sp>
      <p:sp>
        <p:nvSpPr>
          <p:cNvPr id="12" name="Text 10"/>
          <p:cNvSpPr txBox="1"/>
          <p:nvPr/>
        </p:nvSpPr>
        <p:spPr>
          <a:xfrm>
            <a:off x="3355848" y="2062324"/>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$931</a:t>
            </a:r>
            <a:endParaRPr lang="en-US" sz="1300" dirty="0"/>
          </a:p>
        </p:txBody>
      </p:sp>
      <p:sp>
        <p:nvSpPr>
          <p:cNvPr id="13" name="Text 11"/>
          <p:cNvSpPr txBox="1"/>
          <p:nvPr/>
        </p:nvSpPr>
        <p:spPr>
          <a:xfrm>
            <a:off x="658368" y="2368999"/>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14" name="Shape 12"/>
          <p:cNvSpPr/>
          <p:nvPr/>
        </p:nvSpPr>
        <p:spPr>
          <a:xfrm>
            <a:off x="2267712" y="2445668"/>
            <a:ext cx="1025253" cy="153338"/>
          </a:xfrm>
          <a:prstGeom prst="rect">
            <a:avLst/>
          </a:prstGeom>
          <a:solidFill>
            <a:srgbClr val="12A566"/>
          </a:solidFill>
          <a:ln/>
        </p:spPr>
      </p:sp>
      <p:sp>
        <p:nvSpPr>
          <p:cNvPr id="15" name="Text 13"/>
          <p:cNvSpPr txBox="1"/>
          <p:nvPr/>
        </p:nvSpPr>
        <p:spPr>
          <a:xfrm>
            <a:off x="3355848" y="2368999"/>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$928</a:t>
            </a:r>
            <a:endParaRPr lang="en-US" sz="1300" dirty="0"/>
          </a:p>
        </p:txBody>
      </p:sp>
      <p:sp>
        <p:nvSpPr>
          <p:cNvPr id="16" name="Text 14"/>
          <p:cNvSpPr txBox="1"/>
          <p:nvPr/>
        </p:nvSpPr>
        <p:spPr>
          <a:xfrm>
            <a:off x="658368" y="2675675"/>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17" name="Shape 15"/>
          <p:cNvSpPr/>
          <p:nvPr/>
        </p:nvSpPr>
        <p:spPr>
          <a:xfrm>
            <a:off x="2267712" y="2752344"/>
            <a:ext cx="902656" cy="153338"/>
          </a:xfrm>
          <a:prstGeom prst="rect">
            <a:avLst/>
          </a:prstGeom>
          <a:solidFill>
            <a:srgbClr val="12A566"/>
          </a:solidFill>
          <a:ln/>
        </p:spPr>
      </p:sp>
      <p:sp>
        <p:nvSpPr>
          <p:cNvPr id="18" name="Text 16"/>
          <p:cNvSpPr txBox="1"/>
          <p:nvPr/>
        </p:nvSpPr>
        <p:spPr>
          <a:xfrm>
            <a:off x="3355848" y="2675675"/>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$817</a:t>
            </a:r>
            <a:endParaRPr lang="en-US" sz="1300" dirty="0"/>
          </a:p>
        </p:txBody>
      </p:sp>
      <p:sp>
        <p:nvSpPr>
          <p:cNvPr id="19" name="Text 17"/>
          <p:cNvSpPr txBox="1"/>
          <p:nvPr/>
        </p:nvSpPr>
        <p:spPr>
          <a:xfrm>
            <a:off x="658368" y="2982351"/>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20" name="Shape 18"/>
          <p:cNvSpPr/>
          <p:nvPr/>
        </p:nvSpPr>
        <p:spPr>
          <a:xfrm>
            <a:off x="2267712" y="3059020"/>
            <a:ext cx="708427" cy="153338"/>
          </a:xfrm>
          <a:prstGeom prst="rect">
            <a:avLst/>
          </a:prstGeom>
          <a:solidFill>
            <a:srgbClr val="12A566"/>
          </a:solidFill>
          <a:ln/>
        </p:spPr>
      </p:sp>
      <p:sp>
        <p:nvSpPr>
          <p:cNvPr id="21" name="Text 19"/>
          <p:cNvSpPr txBox="1"/>
          <p:nvPr/>
        </p:nvSpPr>
        <p:spPr>
          <a:xfrm>
            <a:off x="3355848" y="2982351"/>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$641</a:t>
            </a:r>
            <a:endParaRPr lang="en-US" sz="1300" dirty="0"/>
          </a:p>
        </p:txBody>
      </p:sp>
      <p:sp>
        <p:nvSpPr>
          <p:cNvPr id="22" name="Shape 20"/>
          <p:cNvSpPr/>
          <p:nvPr/>
        </p:nvSpPr>
        <p:spPr>
          <a:xfrm>
            <a:off x="603504" y="3289026"/>
            <a:ext cx="3566160" cy="297532"/>
          </a:xfrm>
          <a:prstGeom prst="rect">
            <a:avLst/>
          </a:prstGeom>
          <a:solidFill>
            <a:srgbClr val="EDF4FA"/>
          </a:solidFill>
          <a:ln/>
        </p:spPr>
      </p:sp>
      <p:sp>
        <p:nvSpPr>
          <p:cNvPr id="23" name="Text 21"/>
          <p:cNvSpPr txBox="1"/>
          <p:nvPr/>
        </p:nvSpPr>
        <p:spPr>
          <a:xfrm>
            <a:off x="658368" y="3289026"/>
            <a:ext cx="1554480" cy="306676"/>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LUXURY</a:t>
            </a:r>
            <a:endParaRPr lang="en-US" sz="1300" dirty="0"/>
          </a:p>
        </p:txBody>
      </p:sp>
      <p:sp>
        <p:nvSpPr>
          <p:cNvPr id="24" name="Shape 22"/>
          <p:cNvSpPr/>
          <p:nvPr/>
        </p:nvSpPr>
        <p:spPr>
          <a:xfrm>
            <a:off x="2267712" y="3365695"/>
            <a:ext cx="698005" cy="153338"/>
          </a:xfrm>
          <a:prstGeom prst="rect">
            <a:avLst/>
          </a:prstGeom>
          <a:solidFill>
            <a:srgbClr val="0B2C4A"/>
          </a:solidFill>
          <a:ln/>
        </p:spPr>
      </p:sp>
      <p:sp>
        <p:nvSpPr>
          <p:cNvPr id="25" name="Text 23"/>
          <p:cNvSpPr txBox="1"/>
          <p:nvPr/>
        </p:nvSpPr>
        <p:spPr>
          <a:xfrm>
            <a:off x="3355848" y="3289026"/>
            <a:ext cx="777240" cy="306676"/>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$632</a:t>
            </a:r>
            <a:endParaRPr lang="en-US" sz="1300" dirty="0"/>
          </a:p>
        </p:txBody>
      </p:sp>
      <p:sp>
        <p:nvSpPr>
          <p:cNvPr id="26" name="Text 24"/>
          <p:cNvSpPr txBox="1"/>
          <p:nvPr/>
        </p:nvSpPr>
        <p:spPr>
          <a:xfrm>
            <a:off x="658368" y="3595702"/>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27" name="Shape 25"/>
          <p:cNvSpPr/>
          <p:nvPr/>
        </p:nvSpPr>
        <p:spPr>
          <a:xfrm>
            <a:off x="2267712" y="3672371"/>
            <a:ext cx="559059" cy="153338"/>
          </a:xfrm>
          <a:prstGeom prst="rect">
            <a:avLst/>
          </a:prstGeom>
          <a:solidFill>
            <a:srgbClr val="C2352F"/>
          </a:solidFill>
          <a:ln/>
        </p:spPr>
      </p:sp>
      <p:sp>
        <p:nvSpPr>
          <p:cNvPr id="28" name="Text 26"/>
          <p:cNvSpPr txBox="1"/>
          <p:nvPr/>
        </p:nvSpPr>
        <p:spPr>
          <a:xfrm>
            <a:off x="3355848" y="3595702"/>
            <a:ext cx="777240"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$506</a:t>
            </a:r>
            <a:endParaRPr lang="en-US" sz="1300" dirty="0"/>
          </a:p>
        </p:txBody>
      </p:sp>
      <p:sp>
        <p:nvSpPr>
          <p:cNvPr id="29" name="Text 27"/>
          <p:cNvSpPr txBox="1"/>
          <p:nvPr/>
        </p:nvSpPr>
        <p:spPr>
          <a:xfrm>
            <a:off x="658368" y="3902378"/>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30" name="Shape 28"/>
          <p:cNvSpPr/>
          <p:nvPr/>
        </p:nvSpPr>
        <p:spPr>
          <a:xfrm>
            <a:off x="2267712" y="3979047"/>
            <a:ext cx="512934" cy="153338"/>
          </a:xfrm>
          <a:prstGeom prst="rect">
            <a:avLst/>
          </a:prstGeom>
          <a:solidFill>
            <a:srgbClr val="C2352F"/>
          </a:solidFill>
          <a:ln/>
        </p:spPr>
      </p:sp>
      <p:sp>
        <p:nvSpPr>
          <p:cNvPr id="31" name="Text 29"/>
          <p:cNvSpPr txBox="1"/>
          <p:nvPr/>
        </p:nvSpPr>
        <p:spPr>
          <a:xfrm>
            <a:off x="3355848" y="3902378"/>
            <a:ext cx="777240"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$464</a:t>
            </a:r>
            <a:endParaRPr lang="en-US" sz="1300" dirty="0"/>
          </a:p>
        </p:txBody>
      </p:sp>
      <p:sp>
        <p:nvSpPr>
          <p:cNvPr id="32" name="Text 30"/>
          <p:cNvSpPr txBox="1"/>
          <p:nvPr/>
        </p:nvSpPr>
        <p:spPr>
          <a:xfrm>
            <a:off x="658368" y="4209054"/>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33" name="Shape 31"/>
          <p:cNvSpPr/>
          <p:nvPr/>
        </p:nvSpPr>
        <p:spPr>
          <a:xfrm>
            <a:off x="2267712" y="4285722"/>
            <a:ext cx="460190" cy="153338"/>
          </a:xfrm>
          <a:prstGeom prst="rect">
            <a:avLst/>
          </a:prstGeom>
          <a:solidFill>
            <a:srgbClr val="C2352F"/>
          </a:solidFill>
          <a:ln/>
        </p:spPr>
      </p:sp>
      <p:sp>
        <p:nvSpPr>
          <p:cNvPr id="34" name="Text 32"/>
          <p:cNvSpPr txBox="1"/>
          <p:nvPr/>
        </p:nvSpPr>
        <p:spPr>
          <a:xfrm>
            <a:off x="3355848" y="4209054"/>
            <a:ext cx="777240"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$416</a:t>
            </a:r>
            <a:endParaRPr lang="en-US" sz="1300" dirty="0"/>
          </a:p>
        </p:txBody>
      </p:sp>
      <p:sp>
        <p:nvSpPr>
          <p:cNvPr id="35" name="Text 33"/>
          <p:cNvSpPr txBox="1"/>
          <p:nvPr/>
        </p:nvSpPr>
        <p:spPr>
          <a:xfrm>
            <a:off x="658368" y="4515729"/>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36" name="Shape 34"/>
          <p:cNvSpPr/>
          <p:nvPr/>
        </p:nvSpPr>
        <p:spPr>
          <a:xfrm>
            <a:off x="2267712" y="4592398"/>
            <a:ext cx="444920" cy="153338"/>
          </a:xfrm>
          <a:prstGeom prst="rect">
            <a:avLst/>
          </a:prstGeom>
          <a:solidFill>
            <a:srgbClr val="C2352F"/>
          </a:solidFill>
          <a:ln/>
        </p:spPr>
      </p:sp>
      <p:sp>
        <p:nvSpPr>
          <p:cNvPr id="37" name="Text 35"/>
          <p:cNvSpPr txBox="1"/>
          <p:nvPr/>
        </p:nvSpPr>
        <p:spPr>
          <a:xfrm>
            <a:off x="3355848" y="4515729"/>
            <a:ext cx="777240"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$403</a:t>
            </a:r>
            <a:endParaRPr lang="en-US" sz="1300" dirty="0"/>
          </a:p>
        </p:txBody>
      </p:sp>
      <p:sp>
        <p:nvSpPr>
          <p:cNvPr id="38" name="Text 36"/>
          <p:cNvSpPr txBox="1"/>
          <p:nvPr/>
        </p:nvSpPr>
        <p:spPr>
          <a:xfrm>
            <a:off x="658368" y="4950421"/>
            <a:ext cx="3383280" cy="36576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LUXURY AVG  </a:t>
            </a:r>
            <a:pPr indent="0" marL="0">
              <a:buNone/>
            </a:pPr>
            <a:r>
              <a:rPr lang="en-US" sz="1800" b="1" dirty="0">
                <a:solidFill>
                  <a:srgbClr val="0B2C4A"/>
                </a:solidFill>
                <a:latin typeface="Inter" pitchFamily="34" charset="0"/>
                <a:ea typeface="Inter" pitchFamily="34" charset="-122"/>
                <a:cs typeface="Inter" pitchFamily="34" charset="-120"/>
              </a:rPr>
              <a:t>$632  </a:t>
            </a:r>
            <a:pPr indent="0" marL="0">
              <a:buNone/>
            </a:pPr>
            <a:r>
              <a:rPr lang="en-US" sz="1400" b="1" dirty="0">
                <a:solidFill>
                  <a:srgbClr val="0B7A4A"/>
                </a:solidFill>
                <a:latin typeface="Inter" pitchFamily="34" charset="0"/>
                <a:ea typeface="Inter" pitchFamily="34" charset="-122"/>
                <a:cs typeface="Inter" pitchFamily="34" charset="-120"/>
              </a:rPr>
              <a:t>(+$33)</a:t>
            </a:r>
            <a:endParaRPr lang="en-US" sz="1400" dirty="0"/>
          </a:p>
        </p:txBody>
      </p:sp>
      <p:sp>
        <p:nvSpPr>
          <p:cNvPr id="39" name="Text 37"/>
          <p:cNvSpPr txBox="1"/>
          <p:nvPr/>
        </p:nvSpPr>
        <p:spPr>
          <a:xfrm>
            <a:off x="658368" y="5334469"/>
            <a:ext cx="3383280" cy="36576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NON-LUXURY AVG  </a:t>
            </a:r>
            <a:pPr indent="0" marL="0">
              <a:buNone/>
            </a:pPr>
            <a:r>
              <a:rPr lang="en-US" sz="1800" b="1" dirty="0">
                <a:solidFill>
                  <a:srgbClr val="0B2C4A"/>
                </a:solidFill>
                <a:latin typeface="Inter" pitchFamily="34" charset="0"/>
                <a:ea typeface="Inter" pitchFamily="34" charset="-122"/>
                <a:cs typeface="Inter" pitchFamily="34" charset="-120"/>
              </a:rPr>
              <a:t>$264  </a:t>
            </a:r>
            <a:pPr indent="0" marL="0">
              <a:buNone/>
            </a:pPr>
            <a:r>
              <a:rPr lang="en-US" sz="1400" b="1" dirty="0">
                <a:solidFill>
                  <a:srgbClr val="0B7A4A"/>
                </a:solidFill>
                <a:latin typeface="Inter" pitchFamily="34" charset="0"/>
                <a:ea typeface="Inter" pitchFamily="34" charset="-122"/>
                <a:cs typeface="Inter" pitchFamily="34" charset="-120"/>
              </a:rPr>
              <a:t>(+$15)</a:t>
            </a:r>
            <a:endParaRPr lang="en-US" sz="1400" dirty="0"/>
          </a:p>
        </p:txBody>
      </p:sp>
      <p:sp>
        <p:nvSpPr>
          <p:cNvPr id="40" name="Text 38"/>
          <p:cNvSpPr txBox="1"/>
          <p:nvPr/>
        </p:nvSpPr>
        <p:spPr>
          <a:xfrm>
            <a:off x="4315968" y="1316736"/>
            <a:ext cx="7132320" cy="32918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NON-LUXURY · 24 STORES</a:t>
            </a:r>
            <a:endParaRPr lang="en-US" sz="1400" dirty="0"/>
          </a:p>
        </p:txBody>
      </p:sp>
      <p:sp>
        <p:nvSpPr>
          <p:cNvPr id="41" name="Text 39"/>
          <p:cNvSpPr txBox="1"/>
          <p:nvPr/>
        </p:nvSpPr>
        <p:spPr>
          <a:xfrm>
            <a:off x="4315968" y="1755648"/>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42" name="Shape 40"/>
          <p:cNvSpPr/>
          <p:nvPr/>
        </p:nvSpPr>
        <p:spPr>
          <a:xfrm>
            <a:off x="6291072" y="1832317"/>
            <a:ext cx="627529" cy="153338"/>
          </a:xfrm>
          <a:prstGeom prst="rect">
            <a:avLst/>
          </a:prstGeom>
          <a:solidFill>
            <a:srgbClr val="12A566"/>
          </a:solidFill>
          <a:ln/>
        </p:spPr>
      </p:sp>
      <p:sp>
        <p:nvSpPr>
          <p:cNvPr id="43" name="Text 41"/>
          <p:cNvSpPr txBox="1"/>
          <p:nvPr/>
        </p:nvSpPr>
        <p:spPr>
          <a:xfrm>
            <a:off x="6967728" y="1755648"/>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$389</a:t>
            </a:r>
            <a:endParaRPr lang="en-US" sz="1300" dirty="0"/>
          </a:p>
        </p:txBody>
      </p:sp>
      <p:sp>
        <p:nvSpPr>
          <p:cNvPr id="44" name="Text 42"/>
          <p:cNvSpPr txBox="1"/>
          <p:nvPr/>
        </p:nvSpPr>
        <p:spPr>
          <a:xfrm>
            <a:off x="4315968" y="2062324"/>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45" name="Shape 43"/>
          <p:cNvSpPr/>
          <p:nvPr/>
        </p:nvSpPr>
        <p:spPr>
          <a:xfrm>
            <a:off x="6291072" y="2138993"/>
            <a:ext cx="598789" cy="153338"/>
          </a:xfrm>
          <a:prstGeom prst="rect">
            <a:avLst/>
          </a:prstGeom>
          <a:solidFill>
            <a:srgbClr val="12A566"/>
          </a:solidFill>
          <a:ln/>
        </p:spPr>
      </p:sp>
      <p:sp>
        <p:nvSpPr>
          <p:cNvPr id="46" name="Text 44"/>
          <p:cNvSpPr txBox="1"/>
          <p:nvPr/>
        </p:nvSpPr>
        <p:spPr>
          <a:xfrm>
            <a:off x="6967728" y="2062324"/>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$371</a:t>
            </a:r>
            <a:endParaRPr lang="en-US" sz="1300" dirty="0"/>
          </a:p>
        </p:txBody>
      </p:sp>
      <p:sp>
        <p:nvSpPr>
          <p:cNvPr id="47" name="Text 45"/>
          <p:cNvSpPr txBox="1"/>
          <p:nvPr/>
        </p:nvSpPr>
        <p:spPr>
          <a:xfrm>
            <a:off x="4315968" y="2368999"/>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48" name="Shape 46"/>
          <p:cNvSpPr/>
          <p:nvPr/>
        </p:nvSpPr>
        <p:spPr>
          <a:xfrm>
            <a:off x="6291072" y="2445668"/>
            <a:ext cx="570486" cy="153338"/>
          </a:xfrm>
          <a:prstGeom prst="rect">
            <a:avLst/>
          </a:prstGeom>
          <a:solidFill>
            <a:srgbClr val="12A566"/>
          </a:solidFill>
          <a:ln/>
        </p:spPr>
      </p:sp>
      <p:sp>
        <p:nvSpPr>
          <p:cNvPr id="49" name="Text 47"/>
          <p:cNvSpPr txBox="1"/>
          <p:nvPr/>
        </p:nvSpPr>
        <p:spPr>
          <a:xfrm>
            <a:off x="6967728" y="2368999"/>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$354</a:t>
            </a:r>
            <a:endParaRPr lang="en-US" sz="1300" dirty="0"/>
          </a:p>
        </p:txBody>
      </p:sp>
      <p:sp>
        <p:nvSpPr>
          <p:cNvPr id="50" name="Text 48"/>
          <p:cNvSpPr txBox="1"/>
          <p:nvPr/>
        </p:nvSpPr>
        <p:spPr>
          <a:xfrm>
            <a:off x="4315968" y="2675675"/>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51" name="Shape 49"/>
          <p:cNvSpPr/>
          <p:nvPr/>
        </p:nvSpPr>
        <p:spPr>
          <a:xfrm>
            <a:off x="6291072" y="2752344"/>
            <a:ext cx="535931" cy="153338"/>
          </a:xfrm>
          <a:prstGeom prst="rect">
            <a:avLst/>
          </a:prstGeom>
          <a:solidFill>
            <a:srgbClr val="12A566"/>
          </a:solidFill>
          <a:ln/>
        </p:spPr>
      </p:sp>
      <p:sp>
        <p:nvSpPr>
          <p:cNvPr id="52" name="Text 50"/>
          <p:cNvSpPr txBox="1"/>
          <p:nvPr/>
        </p:nvSpPr>
        <p:spPr>
          <a:xfrm>
            <a:off x="6967728" y="2675675"/>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$332</a:t>
            </a:r>
            <a:endParaRPr lang="en-US" sz="1300" dirty="0"/>
          </a:p>
        </p:txBody>
      </p:sp>
      <p:sp>
        <p:nvSpPr>
          <p:cNvPr id="53" name="Text 51"/>
          <p:cNvSpPr txBox="1"/>
          <p:nvPr/>
        </p:nvSpPr>
        <p:spPr>
          <a:xfrm>
            <a:off x="4315968" y="2982351"/>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54" name="Shape 52"/>
          <p:cNvSpPr/>
          <p:nvPr/>
        </p:nvSpPr>
        <p:spPr>
          <a:xfrm>
            <a:off x="6291072" y="3059020"/>
            <a:ext cx="513550" cy="153338"/>
          </a:xfrm>
          <a:prstGeom prst="rect">
            <a:avLst/>
          </a:prstGeom>
          <a:solidFill>
            <a:srgbClr val="12A566"/>
          </a:solidFill>
          <a:ln/>
        </p:spPr>
      </p:sp>
      <p:sp>
        <p:nvSpPr>
          <p:cNvPr id="55" name="Text 53"/>
          <p:cNvSpPr txBox="1"/>
          <p:nvPr/>
        </p:nvSpPr>
        <p:spPr>
          <a:xfrm>
            <a:off x="6967728" y="2982351"/>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$318</a:t>
            </a:r>
            <a:endParaRPr lang="en-US" sz="1300" dirty="0"/>
          </a:p>
        </p:txBody>
      </p:sp>
      <p:sp>
        <p:nvSpPr>
          <p:cNvPr id="56" name="Text 54"/>
          <p:cNvSpPr txBox="1"/>
          <p:nvPr/>
        </p:nvSpPr>
        <p:spPr>
          <a:xfrm>
            <a:off x="4315968" y="3289026"/>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57" name="Shape 55"/>
          <p:cNvSpPr/>
          <p:nvPr/>
        </p:nvSpPr>
        <p:spPr>
          <a:xfrm>
            <a:off x="6291072" y="3365695"/>
            <a:ext cx="501174" cy="153338"/>
          </a:xfrm>
          <a:prstGeom prst="rect">
            <a:avLst/>
          </a:prstGeom>
          <a:solidFill>
            <a:srgbClr val="12A566"/>
          </a:solidFill>
          <a:ln/>
        </p:spPr>
      </p:sp>
      <p:sp>
        <p:nvSpPr>
          <p:cNvPr id="58" name="Text 56"/>
          <p:cNvSpPr txBox="1"/>
          <p:nvPr/>
        </p:nvSpPr>
        <p:spPr>
          <a:xfrm>
            <a:off x="6967728" y="3289026"/>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$311</a:t>
            </a:r>
            <a:endParaRPr lang="en-US" sz="1300" dirty="0"/>
          </a:p>
        </p:txBody>
      </p:sp>
      <p:sp>
        <p:nvSpPr>
          <p:cNvPr id="59" name="Text 57"/>
          <p:cNvSpPr txBox="1"/>
          <p:nvPr/>
        </p:nvSpPr>
        <p:spPr>
          <a:xfrm>
            <a:off x="4315968" y="3595702"/>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60" name="Shape 58"/>
          <p:cNvSpPr/>
          <p:nvPr/>
        </p:nvSpPr>
        <p:spPr>
          <a:xfrm>
            <a:off x="6291072" y="3672371"/>
            <a:ext cx="486714" cy="153338"/>
          </a:xfrm>
          <a:prstGeom prst="rect">
            <a:avLst/>
          </a:prstGeom>
          <a:solidFill>
            <a:srgbClr val="12A566"/>
          </a:solidFill>
          <a:ln/>
        </p:spPr>
      </p:sp>
      <p:sp>
        <p:nvSpPr>
          <p:cNvPr id="61" name="Text 59"/>
          <p:cNvSpPr txBox="1"/>
          <p:nvPr/>
        </p:nvSpPr>
        <p:spPr>
          <a:xfrm>
            <a:off x="6967728" y="3595702"/>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$302</a:t>
            </a:r>
            <a:endParaRPr lang="en-US" sz="1300" dirty="0"/>
          </a:p>
        </p:txBody>
      </p:sp>
      <p:sp>
        <p:nvSpPr>
          <p:cNvPr id="62" name="Text 60"/>
          <p:cNvSpPr txBox="1"/>
          <p:nvPr/>
        </p:nvSpPr>
        <p:spPr>
          <a:xfrm>
            <a:off x="4315968" y="3902378"/>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63" name="Shape 61"/>
          <p:cNvSpPr/>
          <p:nvPr/>
        </p:nvSpPr>
        <p:spPr>
          <a:xfrm>
            <a:off x="6291072" y="3979047"/>
            <a:ext cx="483060" cy="153338"/>
          </a:xfrm>
          <a:prstGeom prst="rect">
            <a:avLst/>
          </a:prstGeom>
          <a:solidFill>
            <a:srgbClr val="12A566"/>
          </a:solidFill>
          <a:ln/>
        </p:spPr>
      </p:sp>
      <p:sp>
        <p:nvSpPr>
          <p:cNvPr id="64" name="Text 62"/>
          <p:cNvSpPr txBox="1"/>
          <p:nvPr/>
        </p:nvSpPr>
        <p:spPr>
          <a:xfrm>
            <a:off x="6967728" y="3902378"/>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$299</a:t>
            </a:r>
            <a:endParaRPr lang="en-US" sz="1300" dirty="0"/>
          </a:p>
        </p:txBody>
      </p:sp>
      <p:sp>
        <p:nvSpPr>
          <p:cNvPr id="65" name="Text 63"/>
          <p:cNvSpPr txBox="1"/>
          <p:nvPr/>
        </p:nvSpPr>
        <p:spPr>
          <a:xfrm>
            <a:off x="4315968" y="4209054"/>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66" name="Shape 64"/>
          <p:cNvSpPr/>
          <p:nvPr/>
        </p:nvSpPr>
        <p:spPr>
          <a:xfrm>
            <a:off x="6291072" y="4285722"/>
            <a:ext cx="482181" cy="153338"/>
          </a:xfrm>
          <a:prstGeom prst="rect">
            <a:avLst/>
          </a:prstGeom>
          <a:solidFill>
            <a:srgbClr val="12A566"/>
          </a:solidFill>
          <a:ln/>
        </p:spPr>
      </p:sp>
      <p:sp>
        <p:nvSpPr>
          <p:cNvPr id="67" name="Text 65"/>
          <p:cNvSpPr txBox="1"/>
          <p:nvPr/>
        </p:nvSpPr>
        <p:spPr>
          <a:xfrm>
            <a:off x="6967728" y="4209054"/>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$299</a:t>
            </a:r>
            <a:endParaRPr lang="en-US" sz="1300" dirty="0"/>
          </a:p>
        </p:txBody>
      </p:sp>
      <p:sp>
        <p:nvSpPr>
          <p:cNvPr id="68" name="Text 66"/>
          <p:cNvSpPr txBox="1"/>
          <p:nvPr/>
        </p:nvSpPr>
        <p:spPr>
          <a:xfrm>
            <a:off x="4315968" y="4515729"/>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69" name="Shape 67"/>
          <p:cNvSpPr/>
          <p:nvPr/>
        </p:nvSpPr>
        <p:spPr>
          <a:xfrm>
            <a:off x="6291072" y="4592398"/>
            <a:ext cx="465926" cy="153338"/>
          </a:xfrm>
          <a:prstGeom prst="rect">
            <a:avLst/>
          </a:prstGeom>
          <a:solidFill>
            <a:srgbClr val="12A566"/>
          </a:solidFill>
          <a:ln/>
        </p:spPr>
      </p:sp>
      <p:sp>
        <p:nvSpPr>
          <p:cNvPr id="70" name="Text 68"/>
          <p:cNvSpPr txBox="1"/>
          <p:nvPr/>
        </p:nvSpPr>
        <p:spPr>
          <a:xfrm>
            <a:off x="6967728" y="4515729"/>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$289</a:t>
            </a:r>
            <a:endParaRPr lang="en-US" sz="1300" dirty="0"/>
          </a:p>
        </p:txBody>
      </p:sp>
      <p:sp>
        <p:nvSpPr>
          <p:cNvPr id="71" name="Text 69"/>
          <p:cNvSpPr txBox="1"/>
          <p:nvPr/>
        </p:nvSpPr>
        <p:spPr>
          <a:xfrm>
            <a:off x="4315968" y="4822405"/>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72" name="Shape 70"/>
          <p:cNvSpPr/>
          <p:nvPr/>
        </p:nvSpPr>
        <p:spPr>
          <a:xfrm>
            <a:off x="6291072" y="4899074"/>
            <a:ext cx="451632" cy="153338"/>
          </a:xfrm>
          <a:prstGeom prst="rect">
            <a:avLst/>
          </a:prstGeom>
          <a:solidFill>
            <a:srgbClr val="12A566"/>
          </a:solidFill>
          <a:ln/>
        </p:spPr>
      </p:sp>
      <p:sp>
        <p:nvSpPr>
          <p:cNvPr id="73" name="Text 71"/>
          <p:cNvSpPr txBox="1"/>
          <p:nvPr/>
        </p:nvSpPr>
        <p:spPr>
          <a:xfrm>
            <a:off x="6967728" y="4822405"/>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$280</a:t>
            </a:r>
            <a:endParaRPr lang="en-US" sz="1300" dirty="0"/>
          </a:p>
        </p:txBody>
      </p:sp>
      <p:sp>
        <p:nvSpPr>
          <p:cNvPr id="74" name="Text 72"/>
          <p:cNvSpPr txBox="1"/>
          <p:nvPr/>
        </p:nvSpPr>
        <p:spPr>
          <a:xfrm>
            <a:off x="4315968" y="5129081"/>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75" name="Shape 73"/>
          <p:cNvSpPr/>
          <p:nvPr/>
        </p:nvSpPr>
        <p:spPr>
          <a:xfrm>
            <a:off x="6291072" y="5205750"/>
            <a:ext cx="442219" cy="153338"/>
          </a:xfrm>
          <a:prstGeom prst="rect">
            <a:avLst/>
          </a:prstGeom>
          <a:solidFill>
            <a:srgbClr val="12A566"/>
          </a:solidFill>
          <a:ln/>
        </p:spPr>
      </p:sp>
      <p:sp>
        <p:nvSpPr>
          <p:cNvPr id="76" name="Text 74"/>
          <p:cNvSpPr txBox="1"/>
          <p:nvPr/>
        </p:nvSpPr>
        <p:spPr>
          <a:xfrm>
            <a:off x="6967728" y="5129081"/>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$274</a:t>
            </a:r>
            <a:endParaRPr lang="en-US" sz="1300" dirty="0"/>
          </a:p>
        </p:txBody>
      </p:sp>
      <p:sp>
        <p:nvSpPr>
          <p:cNvPr id="77" name="Text 75"/>
          <p:cNvSpPr txBox="1"/>
          <p:nvPr/>
        </p:nvSpPr>
        <p:spPr>
          <a:xfrm>
            <a:off x="4315968" y="5435756"/>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78" name="Shape 76"/>
          <p:cNvSpPr/>
          <p:nvPr/>
        </p:nvSpPr>
        <p:spPr>
          <a:xfrm>
            <a:off x="6291072" y="5512425"/>
            <a:ext cx="437452" cy="153338"/>
          </a:xfrm>
          <a:prstGeom prst="rect">
            <a:avLst/>
          </a:prstGeom>
          <a:solidFill>
            <a:srgbClr val="12A566"/>
          </a:solidFill>
          <a:ln/>
        </p:spPr>
      </p:sp>
      <p:sp>
        <p:nvSpPr>
          <p:cNvPr id="79" name="Text 77"/>
          <p:cNvSpPr txBox="1"/>
          <p:nvPr/>
        </p:nvSpPr>
        <p:spPr>
          <a:xfrm>
            <a:off x="6967728" y="5435756"/>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$271</a:t>
            </a:r>
            <a:endParaRPr lang="en-US" sz="1300" dirty="0"/>
          </a:p>
        </p:txBody>
      </p:sp>
      <p:sp>
        <p:nvSpPr>
          <p:cNvPr id="80" name="Shape 78"/>
          <p:cNvSpPr/>
          <p:nvPr/>
        </p:nvSpPr>
        <p:spPr>
          <a:xfrm>
            <a:off x="7863840" y="1755648"/>
            <a:ext cx="3529584" cy="297532"/>
          </a:xfrm>
          <a:prstGeom prst="rect">
            <a:avLst/>
          </a:prstGeom>
          <a:solidFill>
            <a:srgbClr val="EDF4FA"/>
          </a:solidFill>
          <a:ln/>
        </p:spPr>
      </p:sp>
      <p:sp>
        <p:nvSpPr>
          <p:cNvPr id="81" name="Text 79"/>
          <p:cNvSpPr txBox="1"/>
          <p:nvPr/>
        </p:nvSpPr>
        <p:spPr>
          <a:xfrm>
            <a:off x="7918704" y="1755648"/>
            <a:ext cx="1920240" cy="306676"/>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NON-LUXURY</a:t>
            </a:r>
            <a:endParaRPr lang="en-US" sz="1300" dirty="0"/>
          </a:p>
        </p:txBody>
      </p:sp>
      <p:sp>
        <p:nvSpPr>
          <p:cNvPr id="82" name="Shape 80"/>
          <p:cNvSpPr/>
          <p:nvPr/>
        </p:nvSpPr>
        <p:spPr>
          <a:xfrm>
            <a:off x="9893808" y="1832317"/>
            <a:ext cx="426097" cy="153338"/>
          </a:xfrm>
          <a:prstGeom prst="rect">
            <a:avLst/>
          </a:prstGeom>
          <a:solidFill>
            <a:srgbClr val="0B2C4A"/>
          </a:solidFill>
          <a:ln/>
        </p:spPr>
      </p:sp>
      <p:sp>
        <p:nvSpPr>
          <p:cNvPr id="83" name="Text 81"/>
          <p:cNvSpPr txBox="1"/>
          <p:nvPr/>
        </p:nvSpPr>
        <p:spPr>
          <a:xfrm>
            <a:off x="10570464" y="1755648"/>
            <a:ext cx="786384" cy="306676"/>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$264</a:t>
            </a:r>
            <a:endParaRPr lang="en-US" sz="1300" dirty="0"/>
          </a:p>
        </p:txBody>
      </p:sp>
      <p:sp>
        <p:nvSpPr>
          <p:cNvPr id="84" name="Text 82"/>
          <p:cNvSpPr txBox="1"/>
          <p:nvPr/>
        </p:nvSpPr>
        <p:spPr>
          <a:xfrm>
            <a:off x="7918704" y="2062324"/>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85" name="Shape 83"/>
          <p:cNvSpPr/>
          <p:nvPr/>
        </p:nvSpPr>
        <p:spPr>
          <a:xfrm>
            <a:off x="9893808" y="2138993"/>
            <a:ext cx="384223" cy="153338"/>
          </a:xfrm>
          <a:prstGeom prst="rect">
            <a:avLst/>
          </a:prstGeom>
          <a:solidFill>
            <a:srgbClr val="C2352F"/>
          </a:solidFill>
          <a:ln/>
        </p:spPr>
      </p:sp>
      <p:sp>
        <p:nvSpPr>
          <p:cNvPr id="86" name="Text 84"/>
          <p:cNvSpPr txBox="1"/>
          <p:nvPr/>
        </p:nvSpPr>
        <p:spPr>
          <a:xfrm>
            <a:off x="10570464" y="2062324"/>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$238</a:t>
            </a:r>
            <a:endParaRPr lang="en-US" sz="1300" dirty="0"/>
          </a:p>
        </p:txBody>
      </p:sp>
      <p:sp>
        <p:nvSpPr>
          <p:cNvPr id="87" name="Text 85"/>
          <p:cNvSpPr txBox="1"/>
          <p:nvPr/>
        </p:nvSpPr>
        <p:spPr>
          <a:xfrm>
            <a:off x="7918704" y="2368999"/>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88" name="Shape 86"/>
          <p:cNvSpPr/>
          <p:nvPr/>
        </p:nvSpPr>
        <p:spPr>
          <a:xfrm>
            <a:off x="9893808" y="2445668"/>
            <a:ext cx="383536" cy="153338"/>
          </a:xfrm>
          <a:prstGeom prst="rect">
            <a:avLst/>
          </a:prstGeom>
          <a:solidFill>
            <a:srgbClr val="C2352F"/>
          </a:solidFill>
          <a:ln/>
        </p:spPr>
      </p:sp>
      <p:sp>
        <p:nvSpPr>
          <p:cNvPr id="89" name="Text 87"/>
          <p:cNvSpPr txBox="1"/>
          <p:nvPr/>
        </p:nvSpPr>
        <p:spPr>
          <a:xfrm>
            <a:off x="10570464" y="2368999"/>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$238</a:t>
            </a:r>
            <a:endParaRPr lang="en-US" sz="1300" dirty="0"/>
          </a:p>
        </p:txBody>
      </p:sp>
      <p:sp>
        <p:nvSpPr>
          <p:cNvPr id="90" name="Text 88"/>
          <p:cNvSpPr txBox="1"/>
          <p:nvPr/>
        </p:nvSpPr>
        <p:spPr>
          <a:xfrm>
            <a:off x="7918704" y="2675675"/>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91" name="Shape 89"/>
          <p:cNvSpPr/>
          <p:nvPr/>
        </p:nvSpPr>
        <p:spPr>
          <a:xfrm>
            <a:off x="9893808" y="2752344"/>
            <a:ext cx="377596" cy="153338"/>
          </a:xfrm>
          <a:prstGeom prst="rect">
            <a:avLst/>
          </a:prstGeom>
          <a:solidFill>
            <a:srgbClr val="C2352F"/>
          </a:solidFill>
          <a:ln/>
        </p:spPr>
      </p:sp>
      <p:sp>
        <p:nvSpPr>
          <p:cNvPr id="92" name="Text 90"/>
          <p:cNvSpPr txBox="1"/>
          <p:nvPr/>
        </p:nvSpPr>
        <p:spPr>
          <a:xfrm>
            <a:off x="10570464" y="2675675"/>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$234</a:t>
            </a:r>
            <a:endParaRPr lang="en-US" sz="1300" dirty="0"/>
          </a:p>
        </p:txBody>
      </p:sp>
      <p:sp>
        <p:nvSpPr>
          <p:cNvPr id="93" name="Text 91"/>
          <p:cNvSpPr txBox="1"/>
          <p:nvPr/>
        </p:nvSpPr>
        <p:spPr>
          <a:xfrm>
            <a:off x="7918704" y="2982351"/>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94" name="Shape 92"/>
          <p:cNvSpPr/>
          <p:nvPr/>
        </p:nvSpPr>
        <p:spPr>
          <a:xfrm>
            <a:off x="9893808" y="3059020"/>
            <a:ext cx="372225" cy="153338"/>
          </a:xfrm>
          <a:prstGeom prst="rect">
            <a:avLst/>
          </a:prstGeom>
          <a:solidFill>
            <a:srgbClr val="C2352F"/>
          </a:solidFill>
          <a:ln/>
        </p:spPr>
      </p:sp>
      <p:sp>
        <p:nvSpPr>
          <p:cNvPr id="95" name="Text 93"/>
          <p:cNvSpPr txBox="1"/>
          <p:nvPr/>
        </p:nvSpPr>
        <p:spPr>
          <a:xfrm>
            <a:off x="10570464" y="2982351"/>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$231</a:t>
            </a:r>
            <a:endParaRPr lang="en-US" sz="1300" dirty="0"/>
          </a:p>
        </p:txBody>
      </p:sp>
      <p:sp>
        <p:nvSpPr>
          <p:cNvPr id="96" name="Text 94"/>
          <p:cNvSpPr txBox="1"/>
          <p:nvPr/>
        </p:nvSpPr>
        <p:spPr>
          <a:xfrm>
            <a:off x="7918704" y="3289026"/>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97" name="Shape 95"/>
          <p:cNvSpPr/>
          <p:nvPr/>
        </p:nvSpPr>
        <p:spPr>
          <a:xfrm>
            <a:off x="9893808" y="3365695"/>
            <a:ext cx="366796" cy="153338"/>
          </a:xfrm>
          <a:prstGeom prst="rect">
            <a:avLst/>
          </a:prstGeom>
          <a:solidFill>
            <a:srgbClr val="C2352F"/>
          </a:solidFill>
          <a:ln/>
        </p:spPr>
      </p:sp>
      <p:sp>
        <p:nvSpPr>
          <p:cNvPr id="98" name="Text 96"/>
          <p:cNvSpPr txBox="1"/>
          <p:nvPr/>
        </p:nvSpPr>
        <p:spPr>
          <a:xfrm>
            <a:off x="10570464" y="3289026"/>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$227</a:t>
            </a:r>
            <a:endParaRPr lang="en-US" sz="1300" dirty="0"/>
          </a:p>
        </p:txBody>
      </p:sp>
      <p:sp>
        <p:nvSpPr>
          <p:cNvPr id="99" name="Text 97"/>
          <p:cNvSpPr txBox="1"/>
          <p:nvPr/>
        </p:nvSpPr>
        <p:spPr>
          <a:xfrm>
            <a:off x="7918704" y="3595702"/>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100" name="Shape 98"/>
          <p:cNvSpPr/>
          <p:nvPr/>
        </p:nvSpPr>
        <p:spPr>
          <a:xfrm>
            <a:off x="9893808" y="3672371"/>
            <a:ext cx="358486" cy="153338"/>
          </a:xfrm>
          <a:prstGeom prst="rect">
            <a:avLst/>
          </a:prstGeom>
          <a:solidFill>
            <a:srgbClr val="C2352F"/>
          </a:solidFill>
          <a:ln/>
        </p:spPr>
      </p:sp>
      <p:sp>
        <p:nvSpPr>
          <p:cNvPr id="101" name="Text 99"/>
          <p:cNvSpPr txBox="1"/>
          <p:nvPr/>
        </p:nvSpPr>
        <p:spPr>
          <a:xfrm>
            <a:off x="10570464" y="3595702"/>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$222</a:t>
            </a:r>
            <a:endParaRPr lang="en-US" sz="1300" dirty="0"/>
          </a:p>
        </p:txBody>
      </p:sp>
      <p:sp>
        <p:nvSpPr>
          <p:cNvPr id="102" name="Text 100"/>
          <p:cNvSpPr txBox="1"/>
          <p:nvPr/>
        </p:nvSpPr>
        <p:spPr>
          <a:xfrm>
            <a:off x="7918704" y="3902378"/>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103" name="Shape 101"/>
          <p:cNvSpPr/>
          <p:nvPr/>
        </p:nvSpPr>
        <p:spPr>
          <a:xfrm>
            <a:off x="9893808" y="3979047"/>
            <a:ext cx="355557" cy="153338"/>
          </a:xfrm>
          <a:prstGeom prst="rect">
            <a:avLst/>
          </a:prstGeom>
          <a:solidFill>
            <a:srgbClr val="C2352F"/>
          </a:solidFill>
          <a:ln/>
        </p:spPr>
      </p:sp>
      <p:sp>
        <p:nvSpPr>
          <p:cNvPr id="104" name="Text 102"/>
          <p:cNvSpPr txBox="1"/>
          <p:nvPr/>
        </p:nvSpPr>
        <p:spPr>
          <a:xfrm>
            <a:off x="10570464" y="3902378"/>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$220</a:t>
            </a:r>
            <a:endParaRPr lang="en-US" sz="1300" dirty="0"/>
          </a:p>
        </p:txBody>
      </p:sp>
      <p:sp>
        <p:nvSpPr>
          <p:cNvPr id="105" name="Text 103"/>
          <p:cNvSpPr txBox="1"/>
          <p:nvPr/>
        </p:nvSpPr>
        <p:spPr>
          <a:xfrm>
            <a:off x="7918704" y="4209054"/>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06" name="Shape 104"/>
          <p:cNvSpPr/>
          <p:nvPr/>
        </p:nvSpPr>
        <p:spPr>
          <a:xfrm>
            <a:off x="9893808" y="4285722"/>
            <a:ext cx="344158" cy="153338"/>
          </a:xfrm>
          <a:prstGeom prst="rect">
            <a:avLst/>
          </a:prstGeom>
          <a:solidFill>
            <a:srgbClr val="C2352F"/>
          </a:solidFill>
          <a:ln/>
        </p:spPr>
      </p:sp>
      <p:sp>
        <p:nvSpPr>
          <p:cNvPr id="107" name="Text 105"/>
          <p:cNvSpPr txBox="1"/>
          <p:nvPr/>
        </p:nvSpPr>
        <p:spPr>
          <a:xfrm>
            <a:off x="10570464" y="4209054"/>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$213</a:t>
            </a:r>
            <a:endParaRPr lang="en-US" sz="1300" dirty="0"/>
          </a:p>
        </p:txBody>
      </p:sp>
      <p:sp>
        <p:nvSpPr>
          <p:cNvPr id="108" name="Text 106"/>
          <p:cNvSpPr txBox="1"/>
          <p:nvPr/>
        </p:nvSpPr>
        <p:spPr>
          <a:xfrm>
            <a:off x="7918704" y="4515729"/>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109" name="Shape 107"/>
          <p:cNvSpPr/>
          <p:nvPr/>
        </p:nvSpPr>
        <p:spPr>
          <a:xfrm>
            <a:off x="9893808" y="4592398"/>
            <a:ext cx="323678" cy="153338"/>
          </a:xfrm>
          <a:prstGeom prst="rect">
            <a:avLst/>
          </a:prstGeom>
          <a:solidFill>
            <a:srgbClr val="C2352F"/>
          </a:solidFill>
          <a:ln/>
        </p:spPr>
      </p:sp>
      <p:sp>
        <p:nvSpPr>
          <p:cNvPr id="110" name="Text 108"/>
          <p:cNvSpPr txBox="1"/>
          <p:nvPr/>
        </p:nvSpPr>
        <p:spPr>
          <a:xfrm>
            <a:off x="10570464" y="4515729"/>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$201</a:t>
            </a:r>
            <a:endParaRPr lang="en-US" sz="1300" dirty="0"/>
          </a:p>
        </p:txBody>
      </p:sp>
      <p:sp>
        <p:nvSpPr>
          <p:cNvPr id="111" name="Text 109"/>
          <p:cNvSpPr txBox="1"/>
          <p:nvPr/>
        </p:nvSpPr>
        <p:spPr>
          <a:xfrm>
            <a:off x="7918704" y="4822405"/>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112" name="Shape 110"/>
          <p:cNvSpPr/>
          <p:nvPr/>
        </p:nvSpPr>
        <p:spPr>
          <a:xfrm>
            <a:off x="9893808" y="4899074"/>
            <a:ext cx="301397" cy="153338"/>
          </a:xfrm>
          <a:prstGeom prst="rect">
            <a:avLst/>
          </a:prstGeom>
          <a:solidFill>
            <a:srgbClr val="C2352F"/>
          </a:solidFill>
          <a:ln/>
        </p:spPr>
      </p:sp>
      <p:sp>
        <p:nvSpPr>
          <p:cNvPr id="113" name="Text 111"/>
          <p:cNvSpPr txBox="1"/>
          <p:nvPr/>
        </p:nvSpPr>
        <p:spPr>
          <a:xfrm>
            <a:off x="10570464" y="4822405"/>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$187</a:t>
            </a:r>
            <a:endParaRPr lang="en-US" sz="1300" dirty="0"/>
          </a:p>
        </p:txBody>
      </p:sp>
      <p:sp>
        <p:nvSpPr>
          <p:cNvPr id="114" name="Text 112"/>
          <p:cNvSpPr txBox="1"/>
          <p:nvPr/>
        </p:nvSpPr>
        <p:spPr>
          <a:xfrm>
            <a:off x="7918704" y="5129081"/>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115" name="Shape 113"/>
          <p:cNvSpPr/>
          <p:nvPr/>
        </p:nvSpPr>
        <p:spPr>
          <a:xfrm>
            <a:off x="9893808" y="5205750"/>
            <a:ext cx="293515" cy="153338"/>
          </a:xfrm>
          <a:prstGeom prst="rect">
            <a:avLst/>
          </a:prstGeom>
          <a:solidFill>
            <a:srgbClr val="C2352F"/>
          </a:solidFill>
          <a:ln/>
        </p:spPr>
      </p:sp>
      <p:sp>
        <p:nvSpPr>
          <p:cNvPr id="116" name="Text 114"/>
          <p:cNvSpPr txBox="1"/>
          <p:nvPr/>
        </p:nvSpPr>
        <p:spPr>
          <a:xfrm>
            <a:off x="10570464" y="5129081"/>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$182</a:t>
            </a:r>
            <a:endParaRPr lang="en-US" sz="1300" dirty="0"/>
          </a:p>
        </p:txBody>
      </p:sp>
      <p:sp>
        <p:nvSpPr>
          <p:cNvPr id="117" name="Shape 115"/>
          <p:cNvSpPr/>
          <p:nvPr/>
        </p:nvSpPr>
        <p:spPr>
          <a:xfrm>
            <a:off x="457200" y="5961888"/>
            <a:ext cx="11274552" cy="548640"/>
          </a:xfrm>
          <a:prstGeom prst="rect">
            <a:avLst/>
          </a:prstGeom>
          <a:solidFill>
            <a:srgbClr val="EDF4FA"/>
          </a:solidFill>
          <a:ln/>
        </p:spPr>
      </p:sp>
      <p:sp>
        <p:nvSpPr>
          <p:cNvPr id="118" name="Text 116"/>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Against their own segment, 5 of 9 luxury stores beat $632 and 13 of 24 others beat $264. VW HENDERSON leads non-luxury at $389.</a:t>
            </a:r>
            <a:endParaRPr lang="en-US" sz="16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Labor $ per RO</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01168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GROUP</a:t>
            </a:r>
            <a:endParaRPr lang="en-US" sz="1500" dirty="0"/>
          </a:p>
        </p:txBody>
      </p:sp>
      <p:sp>
        <p:nvSpPr>
          <p:cNvPr id="9" name="Text 7"/>
          <p:cNvSpPr txBox="1"/>
          <p:nvPr/>
        </p:nvSpPr>
        <p:spPr>
          <a:xfrm>
            <a:off x="2834640" y="1335024"/>
            <a:ext cx="420624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SAME-STORE, 33 STORES</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+$17</a:t>
            </a:r>
            <a:endParaRPr lang="en-US" sz="2000" dirty="0"/>
          </a:p>
        </p:txBody>
      </p:sp>
      <p:sp>
        <p:nvSpPr>
          <p:cNvPr id="11" name="Text 9"/>
          <p:cNvSpPr txBox="1"/>
          <p:nvPr/>
        </p:nvSpPr>
        <p:spPr>
          <a:xfrm>
            <a:off x="658368"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12" name="Shape 10"/>
          <p:cNvSpPr/>
          <p:nvPr/>
        </p:nvSpPr>
        <p:spPr>
          <a:xfrm>
            <a:off x="3813048" y="1909246"/>
            <a:ext cx="822960" cy="105898"/>
          </a:xfrm>
          <a:prstGeom prst="rect">
            <a:avLst/>
          </a:prstGeom>
          <a:solidFill>
            <a:srgbClr val="12A566"/>
          </a:solidFill>
          <a:ln/>
        </p:spPr>
      </p:sp>
      <p:sp>
        <p:nvSpPr>
          <p:cNvPr id="13" name="Text 11"/>
          <p:cNvSpPr txBox="1"/>
          <p:nvPr/>
        </p:nvSpPr>
        <p:spPr>
          <a:xfrm>
            <a:off x="4709160"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+$111</a:t>
            </a:r>
            <a:endParaRPr lang="en-US" sz="1300" dirty="0"/>
          </a:p>
        </p:txBody>
      </p:sp>
      <p:sp>
        <p:nvSpPr>
          <p:cNvPr id="14" name="Text 12"/>
          <p:cNvSpPr txBox="1"/>
          <p:nvPr/>
        </p:nvSpPr>
        <p:spPr>
          <a:xfrm>
            <a:off x="658368"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15" name="Shape 13"/>
          <p:cNvSpPr/>
          <p:nvPr/>
        </p:nvSpPr>
        <p:spPr>
          <a:xfrm>
            <a:off x="3813048" y="2139459"/>
            <a:ext cx="609822" cy="105898"/>
          </a:xfrm>
          <a:prstGeom prst="rect">
            <a:avLst/>
          </a:prstGeom>
          <a:solidFill>
            <a:srgbClr val="12A566"/>
          </a:solidFill>
          <a:ln/>
        </p:spPr>
      </p:sp>
      <p:sp>
        <p:nvSpPr>
          <p:cNvPr id="16" name="Text 14"/>
          <p:cNvSpPr txBox="1"/>
          <p:nvPr/>
        </p:nvSpPr>
        <p:spPr>
          <a:xfrm>
            <a:off x="4709160"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+$82</a:t>
            </a:r>
            <a:endParaRPr lang="en-US" sz="1300" dirty="0"/>
          </a:p>
        </p:txBody>
      </p:sp>
      <p:sp>
        <p:nvSpPr>
          <p:cNvPr id="17" name="Text 15"/>
          <p:cNvSpPr txBox="1"/>
          <p:nvPr/>
        </p:nvSpPr>
        <p:spPr>
          <a:xfrm>
            <a:off x="658368"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18" name="Shape 16"/>
          <p:cNvSpPr/>
          <p:nvPr/>
        </p:nvSpPr>
        <p:spPr>
          <a:xfrm>
            <a:off x="3813048" y="2369673"/>
            <a:ext cx="585207" cy="105898"/>
          </a:xfrm>
          <a:prstGeom prst="rect">
            <a:avLst/>
          </a:prstGeom>
          <a:solidFill>
            <a:srgbClr val="12A566"/>
          </a:solidFill>
          <a:ln/>
        </p:spPr>
      </p:sp>
      <p:sp>
        <p:nvSpPr>
          <p:cNvPr id="19" name="Text 17"/>
          <p:cNvSpPr txBox="1"/>
          <p:nvPr/>
        </p:nvSpPr>
        <p:spPr>
          <a:xfrm>
            <a:off x="4709160"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+$79</a:t>
            </a:r>
            <a:endParaRPr lang="en-US" sz="1300" dirty="0"/>
          </a:p>
        </p:txBody>
      </p:sp>
      <p:sp>
        <p:nvSpPr>
          <p:cNvPr id="20" name="Text 18"/>
          <p:cNvSpPr txBox="1"/>
          <p:nvPr/>
        </p:nvSpPr>
        <p:spPr>
          <a:xfrm>
            <a:off x="658368"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21" name="Shape 19"/>
          <p:cNvSpPr/>
          <p:nvPr/>
        </p:nvSpPr>
        <p:spPr>
          <a:xfrm>
            <a:off x="3813048" y="2599887"/>
            <a:ext cx="491068" cy="105898"/>
          </a:xfrm>
          <a:prstGeom prst="rect">
            <a:avLst/>
          </a:prstGeom>
          <a:solidFill>
            <a:srgbClr val="12A566"/>
          </a:solidFill>
          <a:ln/>
        </p:spPr>
      </p:sp>
      <p:sp>
        <p:nvSpPr>
          <p:cNvPr id="22" name="Text 20"/>
          <p:cNvSpPr txBox="1"/>
          <p:nvPr/>
        </p:nvSpPr>
        <p:spPr>
          <a:xfrm>
            <a:off x="4709160"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+$66</a:t>
            </a:r>
            <a:endParaRPr lang="en-US" sz="1300" dirty="0"/>
          </a:p>
        </p:txBody>
      </p:sp>
      <p:sp>
        <p:nvSpPr>
          <p:cNvPr id="23" name="Text 21"/>
          <p:cNvSpPr txBox="1"/>
          <p:nvPr/>
        </p:nvSpPr>
        <p:spPr>
          <a:xfrm>
            <a:off x="658368"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24" name="Shape 22"/>
          <p:cNvSpPr/>
          <p:nvPr/>
        </p:nvSpPr>
        <p:spPr>
          <a:xfrm>
            <a:off x="3813048" y="2830100"/>
            <a:ext cx="483581" cy="105898"/>
          </a:xfrm>
          <a:prstGeom prst="rect">
            <a:avLst/>
          </a:prstGeom>
          <a:solidFill>
            <a:srgbClr val="12A566"/>
          </a:solidFill>
          <a:ln/>
        </p:spPr>
      </p:sp>
      <p:sp>
        <p:nvSpPr>
          <p:cNvPr id="25" name="Text 23"/>
          <p:cNvSpPr txBox="1"/>
          <p:nvPr/>
        </p:nvSpPr>
        <p:spPr>
          <a:xfrm>
            <a:off x="4709160"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+$65</a:t>
            </a:r>
            <a:endParaRPr lang="en-US" sz="1300" dirty="0"/>
          </a:p>
        </p:txBody>
      </p:sp>
      <p:sp>
        <p:nvSpPr>
          <p:cNvPr id="26" name="Text 24"/>
          <p:cNvSpPr txBox="1"/>
          <p:nvPr/>
        </p:nvSpPr>
        <p:spPr>
          <a:xfrm>
            <a:off x="658368"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27" name="Shape 25"/>
          <p:cNvSpPr/>
          <p:nvPr/>
        </p:nvSpPr>
        <p:spPr>
          <a:xfrm>
            <a:off x="3813048" y="3060314"/>
            <a:ext cx="438729" cy="105898"/>
          </a:xfrm>
          <a:prstGeom prst="rect">
            <a:avLst/>
          </a:prstGeom>
          <a:solidFill>
            <a:srgbClr val="12A566"/>
          </a:solidFill>
          <a:ln/>
        </p:spPr>
      </p:sp>
      <p:sp>
        <p:nvSpPr>
          <p:cNvPr id="28" name="Text 26"/>
          <p:cNvSpPr txBox="1"/>
          <p:nvPr/>
        </p:nvSpPr>
        <p:spPr>
          <a:xfrm>
            <a:off x="4709160"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+$59</a:t>
            </a:r>
            <a:endParaRPr lang="en-US" sz="1300" dirty="0"/>
          </a:p>
        </p:txBody>
      </p:sp>
      <p:sp>
        <p:nvSpPr>
          <p:cNvPr id="29" name="Text 27"/>
          <p:cNvSpPr txBox="1"/>
          <p:nvPr/>
        </p:nvSpPr>
        <p:spPr>
          <a:xfrm>
            <a:off x="658368"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30" name="Shape 28"/>
          <p:cNvSpPr/>
          <p:nvPr/>
        </p:nvSpPr>
        <p:spPr>
          <a:xfrm>
            <a:off x="3813048" y="3290528"/>
            <a:ext cx="437050" cy="105898"/>
          </a:xfrm>
          <a:prstGeom prst="rect">
            <a:avLst/>
          </a:prstGeom>
          <a:solidFill>
            <a:srgbClr val="12A566"/>
          </a:solidFill>
          <a:ln/>
        </p:spPr>
      </p:sp>
      <p:sp>
        <p:nvSpPr>
          <p:cNvPr id="31" name="Text 29"/>
          <p:cNvSpPr txBox="1"/>
          <p:nvPr/>
        </p:nvSpPr>
        <p:spPr>
          <a:xfrm>
            <a:off x="4709160" y="3228370"/>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+$59</a:t>
            </a:r>
            <a:endParaRPr lang="en-US" sz="1300" dirty="0"/>
          </a:p>
        </p:txBody>
      </p:sp>
      <p:sp>
        <p:nvSpPr>
          <p:cNvPr id="32" name="Text 30"/>
          <p:cNvSpPr txBox="1"/>
          <p:nvPr/>
        </p:nvSpPr>
        <p:spPr>
          <a:xfrm>
            <a:off x="658368"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33" name="Shape 31"/>
          <p:cNvSpPr/>
          <p:nvPr/>
        </p:nvSpPr>
        <p:spPr>
          <a:xfrm>
            <a:off x="3813048" y="3520741"/>
            <a:ext cx="430143" cy="105898"/>
          </a:xfrm>
          <a:prstGeom prst="rect">
            <a:avLst/>
          </a:prstGeom>
          <a:solidFill>
            <a:srgbClr val="12A566"/>
          </a:solidFill>
          <a:ln/>
        </p:spPr>
      </p:sp>
      <p:sp>
        <p:nvSpPr>
          <p:cNvPr id="34" name="Text 32"/>
          <p:cNvSpPr txBox="1"/>
          <p:nvPr/>
        </p:nvSpPr>
        <p:spPr>
          <a:xfrm>
            <a:off x="4709160" y="345858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+$58</a:t>
            </a:r>
            <a:endParaRPr lang="en-US" sz="1300" dirty="0"/>
          </a:p>
        </p:txBody>
      </p:sp>
      <p:sp>
        <p:nvSpPr>
          <p:cNvPr id="35" name="Text 33"/>
          <p:cNvSpPr txBox="1"/>
          <p:nvPr/>
        </p:nvSpPr>
        <p:spPr>
          <a:xfrm>
            <a:off x="658368"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36" name="Shape 34"/>
          <p:cNvSpPr/>
          <p:nvPr/>
        </p:nvSpPr>
        <p:spPr>
          <a:xfrm>
            <a:off x="3813048" y="3750955"/>
            <a:ext cx="304996" cy="105898"/>
          </a:xfrm>
          <a:prstGeom prst="rect">
            <a:avLst/>
          </a:prstGeom>
          <a:solidFill>
            <a:srgbClr val="12A566"/>
          </a:solidFill>
          <a:ln/>
        </p:spPr>
      </p:sp>
      <p:sp>
        <p:nvSpPr>
          <p:cNvPr id="37" name="Text 35"/>
          <p:cNvSpPr txBox="1"/>
          <p:nvPr/>
        </p:nvSpPr>
        <p:spPr>
          <a:xfrm>
            <a:off x="4709160" y="3688797"/>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+$41</a:t>
            </a:r>
            <a:endParaRPr lang="en-US" sz="1300" dirty="0"/>
          </a:p>
        </p:txBody>
      </p:sp>
      <p:sp>
        <p:nvSpPr>
          <p:cNvPr id="38" name="Text 36"/>
          <p:cNvSpPr txBox="1"/>
          <p:nvPr/>
        </p:nvSpPr>
        <p:spPr>
          <a:xfrm>
            <a:off x="658368"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39" name="Shape 37"/>
          <p:cNvSpPr/>
          <p:nvPr/>
        </p:nvSpPr>
        <p:spPr>
          <a:xfrm>
            <a:off x="3813048" y="3981169"/>
            <a:ext cx="278520" cy="105898"/>
          </a:xfrm>
          <a:prstGeom prst="rect">
            <a:avLst/>
          </a:prstGeom>
          <a:solidFill>
            <a:srgbClr val="12A566"/>
          </a:solidFill>
          <a:ln/>
        </p:spPr>
      </p:sp>
      <p:sp>
        <p:nvSpPr>
          <p:cNvPr id="40" name="Text 38"/>
          <p:cNvSpPr txBox="1"/>
          <p:nvPr/>
        </p:nvSpPr>
        <p:spPr>
          <a:xfrm>
            <a:off x="4709160" y="3919011"/>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+$37</a:t>
            </a:r>
            <a:endParaRPr lang="en-US" sz="1300" dirty="0"/>
          </a:p>
        </p:txBody>
      </p:sp>
      <p:sp>
        <p:nvSpPr>
          <p:cNvPr id="41" name="Text 39"/>
          <p:cNvSpPr txBox="1"/>
          <p:nvPr/>
        </p:nvSpPr>
        <p:spPr>
          <a:xfrm>
            <a:off x="658368"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42" name="Shape 40"/>
          <p:cNvSpPr/>
          <p:nvPr/>
        </p:nvSpPr>
        <p:spPr>
          <a:xfrm>
            <a:off x="3813048" y="4211382"/>
            <a:ext cx="256754" cy="105898"/>
          </a:xfrm>
          <a:prstGeom prst="rect">
            <a:avLst/>
          </a:prstGeom>
          <a:solidFill>
            <a:srgbClr val="12A566"/>
          </a:solidFill>
          <a:ln/>
        </p:spPr>
      </p:sp>
      <p:sp>
        <p:nvSpPr>
          <p:cNvPr id="43" name="Text 41"/>
          <p:cNvSpPr txBox="1"/>
          <p:nvPr/>
        </p:nvSpPr>
        <p:spPr>
          <a:xfrm>
            <a:off x="4709160" y="414922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+$35</a:t>
            </a:r>
            <a:endParaRPr lang="en-US" sz="1300" dirty="0"/>
          </a:p>
        </p:txBody>
      </p:sp>
      <p:sp>
        <p:nvSpPr>
          <p:cNvPr id="44" name="Text 42"/>
          <p:cNvSpPr txBox="1"/>
          <p:nvPr/>
        </p:nvSpPr>
        <p:spPr>
          <a:xfrm>
            <a:off x="658368"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45" name="Shape 43"/>
          <p:cNvSpPr/>
          <p:nvPr/>
        </p:nvSpPr>
        <p:spPr>
          <a:xfrm>
            <a:off x="3813048" y="4441596"/>
            <a:ext cx="248844" cy="105898"/>
          </a:xfrm>
          <a:prstGeom prst="rect">
            <a:avLst/>
          </a:prstGeom>
          <a:solidFill>
            <a:srgbClr val="12A566"/>
          </a:solidFill>
          <a:ln/>
        </p:spPr>
      </p:sp>
      <p:sp>
        <p:nvSpPr>
          <p:cNvPr id="46" name="Text 44"/>
          <p:cNvSpPr txBox="1"/>
          <p:nvPr/>
        </p:nvSpPr>
        <p:spPr>
          <a:xfrm>
            <a:off x="4709160" y="437943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+$33</a:t>
            </a:r>
            <a:endParaRPr lang="en-US" sz="1300" dirty="0"/>
          </a:p>
        </p:txBody>
      </p:sp>
      <p:sp>
        <p:nvSpPr>
          <p:cNvPr id="47" name="Text 45"/>
          <p:cNvSpPr txBox="1"/>
          <p:nvPr/>
        </p:nvSpPr>
        <p:spPr>
          <a:xfrm>
            <a:off x="658368"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48" name="Shape 46"/>
          <p:cNvSpPr/>
          <p:nvPr/>
        </p:nvSpPr>
        <p:spPr>
          <a:xfrm>
            <a:off x="3813048" y="4671809"/>
            <a:ext cx="228583" cy="105898"/>
          </a:xfrm>
          <a:prstGeom prst="rect">
            <a:avLst/>
          </a:prstGeom>
          <a:solidFill>
            <a:srgbClr val="12A566"/>
          </a:solidFill>
          <a:ln/>
        </p:spPr>
      </p:sp>
      <p:sp>
        <p:nvSpPr>
          <p:cNvPr id="49" name="Text 47"/>
          <p:cNvSpPr txBox="1"/>
          <p:nvPr/>
        </p:nvSpPr>
        <p:spPr>
          <a:xfrm>
            <a:off x="4709160" y="460965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+$31</a:t>
            </a:r>
            <a:endParaRPr lang="en-US" sz="1300" dirty="0"/>
          </a:p>
        </p:txBody>
      </p:sp>
      <p:sp>
        <p:nvSpPr>
          <p:cNvPr id="50" name="Text 48"/>
          <p:cNvSpPr txBox="1"/>
          <p:nvPr/>
        </p:nvSpPr>
        <p:spPr>
          <a:xfrm>
            <a:off x="658368"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51" name="Shape 49"/>
          <p:cNvSpPr/>
          <p:nvPr/>
        </p:nvSpPr>
        <p:spPr>
          <a:xfrm>
            <a:off x="3813048" y="4902023"/>
            <a:ext cx="188867" cy="105898"/>
          </a:xfrm>
          <a:prstGeom prst="rect">
            <a:avLst/>
          </a:prstGeom>
          <a:solidFill>
            <a:srgbClr val="12A566"/>
          </a:solidFill>
          <a:ln/>
        </p:spPr>
      </p:sp>
      <p:sp>
        <p:nvSpPr>
          <p:cNvPr id="52" name="Text 50"/>
          <p:cNvSpPr txBox="1"/>
          <p:nvPr/>
        </p:nvSpPr>
        <p:spPr>
          <a:xfrm>
            <a:off x="4709160" y="483986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+$25</a:t>
            </a:r>
            <a:endParaRPr lang="en-US" sz="1300" dirty="0"/>
          </a:p>
        </p:txBody>
      </p:sp>
      <p:sp>
        <p:nvSpPr>
          <p:cNvPr id="53" name="Text 51"/>
          <p:cNvSpPr txBox="1"/>
          <p:nvPr/>
        </p:nvSpPr>
        <p:spPr>
          <a:xfrm>
            <a:off x="658368"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54" name="Shape 52"/>
          <p:cNvSpPr/>
          <p:nvPr/>
        </p:nvSpPr>
        <p:spPr>
          <a:xfrm>
            <a:off x="3813048" y="5132237"/>
            <a:ext cx="183723" cy="105898"/>
          </a:xfrm>
          <a:prstGeom prst="rect">
            <a:avLst/>
          </a:prstGeom>
          <a:solidFill>
            <a:srgbClr val="12A566"/>
          </a:solidFill>
          <a:ln/>
        </p:spPr>
      </p:sp>
      <p:sp>
        <p:nvSpPr>
          <p:cNvPr id="55" name="Text 53"/>
          <p:cNvSpPr txBox="1"/>
          <p:nvPr/>
        </p:nvSpPr>
        <p:spPr>
          <a:xfrm>
            <a:off x="4709160" y="507007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+$25</a:t>
            </a:r>
            <a:endParaRPr lang="en-US" sz="1300" dirty="0"/>
          </a:p>
        </p:txBody>
      </p:sp>
      <p:sp>
        <p:nvSpPr>
          <p:cNvPr id="56" name="Text 54"/>
          <p:cNvSpPr txBox="1"/>
          <p:nvPr/>
        </p:nvSpPr>
        <p:spPr>
          <a:xfrm>
            <a:off x="658368"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57" name="Shape 55"/>
          <p:cNvSpPr/>
          <p:nvPr/>
        </p:nvSpPr>
        <p:spPr>
          <a:xfrm>
            <a:off x="3813048" y="5362450"/>
            <a:ext cx="172185" cy="105898"/>
          </a:xfrm>
          <a:prstGeom prst="rect">
            <a:avLst/>
          </a:prstGeom>
          <a:solidFill>
            <a:srgbClr val="12A566"/>
          </a:solidFill>
          <a:ln/>
        </p:spPr>
      </p:sp>
      <p:sp>
        <p:nvSpPr>
          <p:cNvPr id="58" name="Text 56"/>
          <p:cNvSpPr txBox="1"/>
          <p:nvPr/>
        </p:nvSpPr>
        <p:spPr>
          <a:xfrm>
            <a:off x="4709160" y="530029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+$23</a:t>
            </a:r>
            <a:endParaRPr lang="en-US" sz="1300" dirty="0"/>
          </a:p>
        </p:txBody>
      </p:sp>
      <p:sp>
        <p:nvSpPr>
          <p:cNvPr id="59" name="Text 57"/>
          <p:cNvSpPr txBox="1"/>
          <p:nvPr/>
        </p:nvSpPr>
        <p:spPr>
          <a:xfrm>
            <a:off x="658368" y="553050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60" name="Shape 58"/>
          <p:cNvSpPr/>
          <p:nvPr/>
        </p:nvSpPr>
        <p:spPr>
          <a:xfrm>
            <a:off x="3813048" y="5592664"/>
            <a:ext cx="166284" cy="105898"/>
          </a:xfrm>
          <a:prstGeom prst="rect">
            <a:avLst/>
          </a:prstGeom>
          <a:solidFill>
            <a:srgbClr val="12A566"/>
          </a:solidFill>
          <a:ln/>
        </p:spPr>
      </p:sp>
      <p:sp>
        <p:nvSpPr>
          <p:cNvPr id="61" name="Text 59"/>
          <p:cNvSpPr txBox="1"/>
          <p:nvPr/>
        </p:nvSpPr>
        <p:spPr>
          <a:xfrm>
            <a:off x="4709160" y="553050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+$22</a:t>
            </a:r>
            <a:endParaRPr lang="en-US" sz="1300" dirty="0"/>
          </a:p>
        </p:txBody>
      </p:sp>
      <p:sp>
        <p:nvSpPr>
          <p:cNvPr id="62" name="Text 60"/>
          <p:cNvSpPr txBox="1"/>
          <p:nvPr/>
        </p:nvSpPr>
        <p:spPr>
          <a:xfrm>
            <a:off x="6208776"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63" name="Shape 61"/>
          <p:cNvSpPr/>
          <p:nvPr/>
        </p:nvSpPr>
        <p:spPr>
          <a:xfrm>
            <a:off x="9363456" y="1909246"/>
            <a:ext cx="126421" cy="105898"/>
          </a:xfrm>
          <a:prstGeom prst="rect">
            <a:avLst/>
          </a:prstGeom>
          <a:solidFill>
            <a:srgbClr val="12A566"/>
          </a:solidFill>
          <a:ln/>
        </p:spPr>
      </p:sp>
      <p:sp>
        <p:nvSpPr>
          <p:cNvPr id="64" name="Text 62"/>
          <p:cNvSpPr txBox="1"/>
          <p:nvPr/>
        </p:nvSpPr>
        <p:spPr>
          <a:xfrm>
            <a:off x="10259568"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+$17</a:t>
            </a:r>
            <a:endParaRPr lang="en-US" sz="1300" dirty="0"/>
          </a:p>
        </p:txBody>
      </p:sp>
      <p:sp>
        <p:nvSpPr>
          <p:cNvPr id="65" name="Text 63"/>
          <p:cNvSpPr txBox="1"/>
          <p:nvPr/>
        </p:nvSpPr>
        <p:spPr>
          <a:xfrm>
            <a:off x="6208776"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66" name="Shape 64"/>
          <p:cNvSpPr/>
          <p:nvPr/>
        </p:nvSpPr>
        <p:spPr>
          <a:xfrm>
            <a:off x="9363456" y="2139459"/>
            <a:ext cx="124369" cy="105898"/>
          </a:xfrm>
          <a:prstGeom prst="rect">
            <a:avLst/>
          </a:prstGeom>
          <a:solidFill>
            <a:srgbClr val="12A566"/>
          </a:solidFill>
          <a:ln/>
        </p:spPr>
      </p:sp>
      <p:sp>
        <p:nvSpPr>
          <p:cNvPr id="67" name="Text 65"/>
          <p:cNvSpPr txBox="1"/>
          <p:nvPr/>
        </p:nvSpPr>
        <p:spPr>
          <a:xfrm>
            <a:off x="10259568"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+$17</a:t>
            </a:r>
            <a:endParaRPr lang="en-US" sz="1300" dirty="0"/>
          </a:p>
        </p:txBody>
      </p:sp>
      <p:sp>
        <p:nvSpPr>
          <p:cNvPr id="68" name="Text 66"/>
          <p:cNvSpPr txBox="1"/>
          <p:nvPr/>
        </p:nvSpPr>
        <p:spPr>
          <a:xfrm>
            <a:off x="6208776"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69" name="Shape 67"/>
          <p:cNvSpPr/>
          <p:nvPr/>
        </p:nvSpPr>
        <p:spPr>
          <a:xfrm>
            <a:off x="9363456" y="2369673"/>
            <a:ext cx="121165" cy="105898"/>
          </a:xfrm>
          <a:prstGeom prst="rect">
            <a:avLst/>
          </a:prstGeom>
          <a:solidFill>
            <a:srgbClr val="12A566"/>
          </a:solidFill>
          <a:ln/>
        </p:spPr>
      </p:sp>
      <p:sp>
        <p:nvSpPr>
          <p:cNvPr id="70" name="Text 68"/>
          <p:cNvSpPr txBox="1"/>
          <p:nvPr/>
        </p:nvSpPr>
        <p:spPr>
          <a:xfrm>
            <a:off x="10259568"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+$16</a:t>
            </a:r>
            <a:endParaRPr lang="en-US" sz="1300" dirty="0"/>
          </a:p>
        </p:txBody>
      </p:sp>
      <p:sp>
        <p:nvSpPr>
          <p:cNvPr id="71" name="Text 69"/>
          <p:cNvSpPr txBox="1"/>
          <p:nvPr/>
        </p:nvSpPr>
        <p:spPr>
          <a:xfrm>
            <a:off x="6208776"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72" name="Shape 70"/>
          <p:cNvSpPr/>
          <p:nvPr/>
        </p:nvSpPr>
        <p:spPr>
          <a:xfrm>
            <a:off x="9363456" y="2599887"/>
            <a:ext cx="107512" cy="105898"/>
          </a:xfrm>
          <a:prstGeom prst="rect">
            <a:avLst/>
          </a:prstGeom>
          <a:solidFill>
            <a:srgbClr val="12A566"/>
          </a:solidFill>
          <a:ln/>
        </p:spPr>
      </p:sp>
      <p:sp>
        <p:nvSpPr>
          <p:cNvPr id="73" name="Text 71"/>
          <p:cNvSpPr txBox="1"/>
          <p:nvPr/>
        </p:nvSpPr>
        <p:spPr>
          <a:xfrm>
            <a:off x="10259568"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+$14</a:t>
            </a:r>
            <a:endParaRPr lang="en-US" sz="1300" dirty="0"/>
          </a:p>
        </p:txBody>
      </p:sp>
      <p:sp>
        <p:nvSpPr>
          <p:cNvPr id="74" name="Text 72"/>
          <p:cNvSpPr txBox="1"/>
          <p:nvPr/>
        </p:nvSpPr>
        <p:spPr>
          <a:xfrm>
            <a:off x="6208776"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75" name="Shape 73"/>
          <p:cNvSpPr/>
          <p:nvPr/>
        </p:nvSpPr>
        <p:spPr>
          <a:xfrm>
            <a:off x="9363456" y="2830100"/>
            <a:ext cx="103586" cy="105898"/>
          </a:xfrm>
          <a:prstGeom prst="rect">
            <a:avLst/>
          </a:prstGeom>
          <a:solidFill>
            <a:srgbClr val="12A566"/>
          </a:solidFill>
          <a:ln/>
        </p:spPr>
      </p:sp>
      <p:sp>
        <p:nvSpPr>
          <p:cNvPr id="76" name="Text 74"/>
          <p:cNvSpPr txBox="1"/>
          <p:nvPr/>
        </p:nvSpPr>
        <p:spPr>
          <a:xfrm>
            <a:off x="10259568"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+$14</a:t>
            </a:r>
            <a:endParaRPr lang="en-US" sz="1300" dirty="0"/>
          </a:p>
        </p:txBody>
      </p:sp>
      <p:sp>
        <p:nvSpPr>
          <p:cNvPr id="77" name="Text 75"/>
          <p:cNvSpPr txBox="1"/>
          <p:nvPr/>
        </p:nvSpPr>
        <p:spPr>
          <a:xfrm>
            <a:off x="6208776"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78" name="Shape 76"/>
          <p:cNvSpPr/>
          <p:nvPr/>
        </p:nvSpPr>
        <p:spPr>
          <a:xfrm>
            <a:off x="9363456" y="3060314"/>
            <a:ext cx="96298" cy="105898"/>
          </a:xfrm>
          <a:prstGeom prst="rect">
            <a:avLst/>
          </a:prstGeom>
          <a:solidFill>
            <a:srgbClr val="12A566"/>
          </a:solidFill>
          <a:ln/>
        </p:spPr>
      </p:sp>
      <p:sp>
        <p:nvSpPr>
          <p:cNvPr id="79" name="Text 77"/>
          <p:cNvSpPr txBox="1"/>
          <p:nvPr/>
        </p:nvSpPr>
        <p:spPr>
          <a:xfrm>
            <a:off x="10259568"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+$13</a:t>
            </a:r>
            <a:endParaRPr lang="en-US" sz="1300" dirty="0"/>
          </a:p>
        </p:txBody>
      </p:sp>
      <p:sp>
        <p:nvSpPr>
          <p:cNvPr id="80" name="Text 78"/>
          <p:cNvSpPr txBox="1"/>
          <p:nvPr/>
        </p:nvSpPr>
        <p:spPr>
          <a:xfrm>
            <a:off x="6208776"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81" name="Shape 79"/>
          <p:cNvSpPr/>
          <p:nvPr/>
        </p:nvSpPr>
        <p:spPr>
          <a:xfrm>
            <a:off x="9363456" y="3290528"/>
            <a:ext cx="58595" cy="105898"/>
          </a:xfrm>
          <a:prstGeom prst="rect">
            <a:avLst/>
          </a:prstGeom>
          <a:solidFill>
            <a:srgbClr val="12A566"/>
          </a:solidFill>
          <a:ln/>
        </p:spPr>
      </p:sp>
      <p:sp>
        <p:nvSpPr>
          <p:cNvPr id="82" name="Text 80"/>
          <p:cNvSpPr txBox="1"/>
          <p:nvPr/>
        </p:nvSpPr>
        <p:spPr>
          <a:xfrm>
            <a:off x="10259568" y="3228370"/>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a:t>
            </a:r>
            <a:endParaRPr lang="en-US" sz="1300" dirty="0"/>
          </a:p>
        </p:txBody>
      </p:sp>
      <p:sp>
        <p:nvSpPr>
          <p:cNvPr id="83" name="Text 81"/>
          <p:cNvSpPr txBox="1"/>
          <p:nvPr/>
        </p:nvSpPr>
        <p:spPr>
          <a:xfrm>
            <a:off x="6208776"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84" name="Shape 82"/>
          <p:cNvSpPr/>
          <p:nvPr/>
        </p:nvSpPr>
        <p:spPr>
          <a:xfrm>
            <a:off x="9363456" y="3520741"/>
            <a:ext cx="52601" cy="105898"/>
          </a:xfrm>
          <a:prstGeom prst="rect">
            <a:avLst/>
          </a:prstGeom>
          <a:solidFill>
            <a:srgbClr val="12A566"/>
          </a:solidFill>
          <a:ln/>
        </p:spPr>
      </p:sp>
      <p:sp>
        <p:nvSpPr>
          <p:cNvPr id="85" name="Text 83"/>
          <p:cNvSpPr txBox="1"/>
          <p:nvPr/>
        </p:nvSpPr>
        <p:spPr>
          <a:xfrm>
            <a:off x="10259568" y="345858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a:t>
            </a:r>
            <a:endParaRPr lang="en-US" sz="1300" dirty="0"/>
          </a:p>
        </p:txBody>
      </p:sp>
      <p:sp>
        <p:nvSpPr>
          <p:cNvPr id="86" name="Text 84"/>
          <p:cNvSpPr txBox="1"/>
          <p:nvPr/>
        </p:nvSpPr>
        <p:spPr>
          <a:xfrm>
            <a:off x="6208776"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87" name="Shape 85"/>
          <p:cNvSpPr/>
          <p:nvPr/>
        </p:nvSpPr>
        <p:spPr>
          <a:xfrm>
            <a:off x="9363456" y="3750955"/>
            <a:ext cx="31853" cy="105898"/>
          </a:xfrm>
          <a:prstGeom prst="rect">
            <a:avLst/>
          </a:prstGeom>
          <a:solidFill>
            <a:srgbClr val="12A566"/>
          </a:solidFill>
          <a:ln/>
        </p:spPr>
      </p:sp>
      <p:sp>
        <p:nvSpPr>
          <p:cNvPr id="88" name="Text 86"/>
          <p:cNvSpPr txBox="1"/>
          <p:nvPr/>
        </p:nvSpPr>
        <p:spPr>
          <a:xfrm>
            <a:off x="10259568" y="3688797"/>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a:t>
            </a:r>
            <a:endParaRPr lang="en-US" sz="1300" dirty="0"/>
          </a:p>
        </p:txBody>
      </p:sp>
      <p:sp>
        <p:nvSpPr>
          <p:cNvPr id="89" name="Text 87"/>
          <p:cNvSpPr txBox="1"/>
          <p:nvPr/>
        </p:nvSpPr>
        <p:spPr>
          <a:xfrm>
            <a:off x="6208776"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90" name="Shape 88"/>
          <p:cNvSpPr/>
          <p:nvPr/>
        </p:nvSpPr>
        <p:spPr>
          <a:xfrm>
            <a:off x="9320642" y="3981169"/>
            <a:ext cx="42814" cy="105898"/>
          </a:xfrm>
          <a:prstGeom prst="rect">
            <a:avLst/>
          </a:prstGeom>
          <a:solidFill>
            <a:srgbClr val="C2352F"/>
          </a:solidFill>
          <a:ln/>
        </p:spPr>
      </p:sp>
      <p:sp>
        <p:nvSpPr>
          <p:cNvPr id="91" name="Text 89"/>
          <p:cNvSpPr txBox="1"/>
          <p:nvPr/>
        </p:nvSpPr>
        <p:spPr>
          <a:xfrm>
            <a:off x="10259568" y="3919011"/>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a:t>
            </a:r>
            <a:endParaRPr lang="en-US" sz="1300" dirty="0"/>
          </a:p>
        </p:txBody>
      </p:sp>
      <p:sp>
        <p:nvSpPr>
          <p:cNvPr id="92" name="Text 90"/>
          <p:cNvSpPr txBox="1"/>
          <p:nvPr/>
        </p:nvSpPr>
        <p:spPr>
          <a:xfrm>
            <a:off x="6208776"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93" name="Shape 91"/>
          <p:cNvSpPr/>
          <p:nvPr/>
        </p:nvSpPr>
        <p:spPr>
          <a:xfrm>
            <a:off x="9314873" y="4211382"/>
            <a:ext cx="48583" cy="105898"/>
          </a:xfrm>
          <a:prstGeom prst="rect">
            <a:avLst/>
          </a:prstGeom>
          <a:solidFill>
            <a:srgbClr val="C2352F"/>
          </a:solidFill>
          <a:ln/>
        </p:spPr>
      </p:sp>
      <p:sp>
        <p:nvSpPr>
          <p:cNvPr id="94" name="Text 92"/>
          <p:cNvSpPr txBox="1"/>
          <p:nvPr/>
        </p:nvSpPr>
        <p:spPr>
          <a:xfrm>
            <a:off x="10259568" y="414922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a:t>
            </a:r>
            <a:endParaRPr lang="en-US" sz="1300" dirty="0"/>
          </a:p>
        </p:txBody>
      </p:sp>
      <p:sp>
        <p:nvSpPr>
          <p:cNvPr id="95" name="Text 93"/>
          <p:cNvSpPr txBox="1"/>
          <p:nvPr/>
        </p:nvSpPr>
        <p:spPr>
          <a:xfrm>
            <a:off x="6208776"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96" name="Shape 94"/>
          <p:cNvSpPr/>
          <p:nvPr/>
        </p:nvSpPr>
        <p:spPr>
          <a:xfrm>
            <a:off x="9298639" y="4441596"/>
            <a:ext cx="64817" cy="105898"/>
          </a:xfrm>
          <a:prstGeom prst="rect">
            <a:avLst/>
          </a:prstGeom>
          <a:solidFill>
            <a:srgbClr val="C2352F"/>
          </a:solidFill>
          <a:ln/>
        </p:spPr>
      </p:sp>
      <p:sp>
        <p:nvSpPr>
          <p:cNvPr id="97" name="Text 95"/>
          <p:cNvSpPr txBox="1"/>
          <p:nvPr/>
        </p:nvSpPr>
        <p:spPr>
          <a:xfrm>
            <a:off x="10259568" y="4379438"/>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−$9</a:t>
            </a:r>
            <a:endParaRPr lang="en-US" sz="1300" dirty="0"/>
          </a:p>
        </p:txBody>
      </p:sp>
      <p:sp>
        <p:nvSpPr>
          <p:cNvPr id="98" name="Text 96"/>
          <p:cNvSpPr txBox="1"/>
          <p:nvPr/>
        </p:nvSpPr>
        <p:spPr>
          <a:xfrm>
            <a:off x="6208776"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99" name="Shape 97"/>
          <p:cNvSpPr/>
          <p:nvPr/>
        </p:nvSpPr>
        <p:spPr>
          <a:xfrm>
            <a:off x="9293054" y="4671809"/>
            <a:ext cx="70402" cy="105898"/>
          </a:xfrm>
          <a:prstGeom prst="rect">
            <a:avLst/>
          </a:prstGeom>
          <a:solidFill>
            <a:srgbClr val="C2352F"/>
          </a:solidFill>
          <a:ln/>
        </p:spPr>
      </p:sp>
      <p:sp>
        <p:nvSpPr>
          <p:cNvPr id="100" name="Text 98"/>
          <p:cNvSpPr txBox="1"/>
          <p:nvPr/>
        </p:nvSpPr>
        <p:spPr>
          <a:xfrm>
            <a:off x="10259568" y="4609652"/>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−$9</a:t>
            </a:r>
            <a:endParaRPr lang="en-US" sz="1300" dirty="0"/>
          </a:p>
        </p:txBody>
      </p:sp>
      <p:sp>
        <p:nvSpPr>
          <p:cNvPr id="101" name="Text 99"/>
          <p:cNvSpPr txBox="1"/>
          <p:nvPr/>
        </p:nvSpPr>
        <p:spPr>
          <a:xfrm>
            <a:off x="6208776"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102" name="Shape 100"/>
          <p:cNvSpPr/>
          <p:nvPr/>
        </p:nvSpPr>
        <p:spPr>
          <a:xfrm>
            <a:off x="9216709" y="4902023"/>
            <a:ext cx="146747" cy="105898"/>
          </a:xfrm>
          <a:prstGeom prst="rect">
            <a:avLst/>
          </a:prstGeom>
          <a:solidFill>
            <a:srgbClr val="C2352F"/>
          </a:solidFill>
          <a:ln/>
        </p:spPr>
      </p:sp>
      <p:sp>
        <p:nvSpPr>
          <p:cNvPr id="103" name="Text 101"/>
          <p:cNvSpPr txBox="1"/>
          <p:nvPr/>
        </p:nvSpPr>
        <p:spPr>
          <a:xfrm>
            <a:off x="10259568" y="4839865"/>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−$20</a:t>
            </a:r>
            <a:endParaRPr lang="en-US" sz="1300" dirty="0"/>
          </a:p>
        </p:txBody>
      </p:sp>
      <p:sp>
        <p:nvSpPr>
          <p:cNvPr id="104" name="Text 102"/>
          <p:cNvSpPr txBox="1"/>
          <p:nvPr/>
        </p:nvSpPr>
        <p:spPr>
          <a:xfrm>
            <a:off x="6208776"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105" name="Shape 103"/>
          <p:cNvSpPr/>
          <p:nvPr/>
        </p:nvSpPr>
        <p:spPr>
          <a:xfrm>
            <a:off x="9087533" y="5132237"/>
            <a:ext cx="275923" cy="105898"/>
          </a:xfrm>
          <a:prstGeom prst="rect">
            <a:avLst/>
          </a:prstGeom>
          <a:solidFill>
            <a:srgbClr val="C2352F"/>
          </a:solidFill>
          <a:ln/>
        </p:spPr>
      </p:sp>
      <p:sp>
        <p:nvSpPr>
          <p:cNvPr id="106" name="Text 104"/>
          <p:cNvSpPr txBox="1"/>
          <p:nvPr/>
        </p:nvSpPr>
        <p:spPr>
          <a:xfrm>
            <a:off x="10259568" y="5070079"/>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−$37</a:t>
            </a:r>
            <a:endParaRPr lang="en-US" sz="1300" dirty="0"/>
          </a:p>
        </p:txBody>
      </p:sp>
      <p:sp>
        <p:nvSpPr>
          <p:cNvPr id="107" name="Text 105"/>
          <p:cNvSpPr txBox="1"/>
          <p:nvPr/>
        </p:nvSpPr>
        <p:spPr>
          <a:xfrm>
            <a:off x="6208776"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108" name="Shape 106"/>
          <p:cNvSpPr/>
          <p:nvPr/>
        </p:nvSpPr>
        <p:spPr>
          <a:xfrm>
            <a:off x="8920751" y="5362450"/>
            <a:ext cx="442705" cy="105898"/>
          </a:xfrm>
          <a:prstGeom prst="rect">
            <a:avLst/>
          </a:prstGeom>
          <a:solidFill>
            <a:srgbClr val="C2352F"/>
          </a:solidFill>
          <a:ln/>
        </p:spPr>
      </p:sp>
      <p:sp>
        <p:nvSpPr>
          <p:cNvPr id="109" name="Text 107"/>
          <p:cNvSpPr txBox="1"/>
          <p:nvPr/>
        </p:nvSpPr>
        <p:spPr>
          <a:xfrm>
            <a:off x="10259568" y="530029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−$59</a:t>
            </a:r>
            <a:endParaRPr lang="en-US" sz="1300" dirty="0"/>
          </a:p>
        </p:txBody>
      </p:sp>
      <p:sp>
        <p:nvSpPr>
          <p:cNvPr id="110" name="Shape 108"/>
          <p:cNvSpPr/>
          <p:nvPr/>
        </p:nvSpPr>
        <p:spPr>
          <a:xfrm>
            <a:off x="3807562" y="1847088"/>
            <a:ext cx="10973" cy="3913632"/>
          </a:xfrm>
          <a:prstGeom prst="rect">
            <a:avLst/>
          </a:prstGeom>
          <a:solidFill>
            <a:srgbClr val="9AA3AD"/>
          </a:solidFill>
          <a:ln/>
        </p:spPr>
      </p:sp>
      <p:sp>
        <p:nvSpPr>
          <p:cNvPr id="111" name="Shape 109"/>
          <p:cNvSpPr/>
          <p:nvPr/>
        </p:nvSpPr>
        <p:spPr>
          <a:xfrm>
            <a:off x="9357970" y="1847088"/>
            <a:ext cx="10973" cy="3913632"/>
          </a:xfrm>
          <a:prstGeom prst="rect">
            <a:avLst/>
          </a:prstGeom>
          <a:solidFill>
            <a:srgbClr val="9AA3AD"/>
          </a:solidFill>
          <a:ln/>
        </p:spPr>
      </p:sp>
      <p:sp>
        <p:nvSpPr>
          <p:cNvPr id="112" name="Shape 110"/>
          <p:cNvSpPr/>
          <p:nvPr/>
        </p:nvSpPr>
        <p:spPr>
          <a:xfrm>
            <a:off x="457200" y="5961888"/>
            <a:ext cx="11274552" cy="548640"/>
          </a:xfrm>
          <a:prstGeom prst="rect">
            <a:avLst/>
          </a:prstGeom>
          <a:solidFill>
            <a:srgbClr val="E6F6EE"/>
          </a:solidFill>
          <a:ln/>
        </p:spPr>
      </p:sp>
      <p:sp>
        <p:nvSpPr>
          <p:cNvPr id="113" name="Text 111"/>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26 of 33 stores grew CP labor per RO, led by LINCOLN at +$111 to $416. 7 declined; LR RENO fell most at −$59.</a:t>
            </a:r>
            <a:endParaRPr lang="en-US" sz="16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Parts $ per RO</a:t>
            </a:r>
            <a:endParaRPr lang="en-US" sz="2800" dirty="0"/>
          </a:p>
        </p:txBody>
      </p:sp>
      <p:sp>
        <p:nvSpPr>
          <p:cNvPr id="5" name="Shape 3"/>
          <p:cNvSpPr/>
          <p:nvPr/>
        </p:nvSpPr>
        <p:spPr>
          <a:xfrm>
            <a:off x="457200" y="1207008"/>
            <a:ext cx="11274552" cy="1517904"/>
          </a:xfrm>
          <a:prstGeom prst="rect">
            <a:avLst/>
          </a:prstGeom>
          <a:solidFill>
            <a:srgbClr val="FFFFFF"/>
          </a:solidFill>
          <a:ln/>
        </p:spPr>
      </p:sp>
      <p:sp>
        <p:nvSpPr>
          <p:cNvPr id="6" name="Text 4"/>
          <p:cNvSpPr txBox="1"/>
          <p:nvPr/>
        </p:nvSpPr>
        <p:spPr>
          <a:xfrm>
            <a:off x="685800" y="1316736"/>
            <a:ext cx="10789920" cy="274320"/>
          </a:xfrm>
          <a:prstGeom prst="rect">
            <a:avLst/>
          </a:prstGeom>
          <a:noFill/>
          <a:ln/>
        </p:spPr>
        <p:txBody>
          <a:bodyPr wrap="square" lIns="0" tIns="0" rIns="0" bIns="0" rtlCol="0" anchor="ctr"/>
          <a:lstStyle/>
          <a:p>
            <a:pPr indent="0" marL="0">
              <a:buNone/>
            </a:pPr>
            <a:r>
              <a:rPr lang="en-US" sz="1400" spc="100" kern="0" dirty="0">
                <a:solidFill>
                  <a:srgbClr val="595959"/>
                </a:solidFill>
                <a:latin typeface="Inter" pitchFamily="34" charset="0"/>
                <a:ea typeface="Inter" pitchFamily="34" charset="-122"/>
                <a:cs typeface="Inter" pitchFamily="34" charset="-120"/>
              </a:rPr>
              <a:t>GROUP · JANUARY–SEPTEMBER · SAME-STORE, 33 STORES</a:t>
            </a:r>
            <a:endParaRPr lang="en-US" sz="1400" dirty="0"/>
          </a:p>
        </p:txBody>
      </p:sp>
      <p:sp>
        <p:nvSpPr>
          <p:cNvPr id="7" name="Text 5"/>
          <p:cNvSpPr txBox="1"/>
          <p:nvPr/>
        </p:nvSpPr>
        <p:spPr>
          <a:xfrm>
            <a:off x="68580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a:t>
            </a:r>
            <a:endParaRPr lang="en-US" sz="1400" dirty="0"/>
          </a:p>
        </p:txBody>
      </p:sp>
      <p:sp>
        <p:nvSpPr>
          <p:cNvPr id="8" name="Text 6"/>
          <p:cNvSpPr txBox="1"/>
          <p:nvPr/>
        </p:nvSpPr>
        <p:spPr>
          <a:xfrm>
            <a:off x="68580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$228</a:t>
            </a:r>
            <a:endParaRPr lang="en-US" sz="3000" dirty="0"/>
          </a:p>
        </p:txBody>
      </p:sp>
      <p:sp>
        <p:nvSpPr>
          <p:cNvPr id="9" name="Text 7"/>
          <p:cNvSpPr txBox="1"/>
          <p:nvPr/>
        </p:nvSpPr>
        <p:spPr>
          <a:xfrm>
            <a:off x="347472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a:t>
            </a:r>
            <a:endParaRPr lang="en-US" sz="1400" dirty="0"/>
          </a:p>
        </p:txBody>
      </p:sp>
      <p:sp>
        <p:nvSpPr>
          <p:cNvPr id="10" name="Text 8"/>
          <p:cNvSpPr txBox="1"/>
          <p:nvPr/>
        </p:nvSpPr>
        <p:spPr>
          <a:xfrm>
            <a:off x="347472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$238</a:t>
            </a:r>
            <a:endParaRPr lang="en-US" sz="3000" dirty="0"/>
          </a:p>
        </p:txBody>
      </p:sp>
      <p:sp>
        <p:nvSpPr>
          <p:cNvPr id="11" name="Text 9"/>
          <p:cNvSpPr txBox="1"/>
          <p:nvPr/>
        </p:nvSpPr>
        <p:spPr>
          <a:xfrm>
            <a:off x="626364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2" name="Text 10"/>
          <p:cNvSpPr txBox="1"/>
          <p:nvPr/>
        </p:nvSpPr>
        <p:spPr>
          <a:xfrm>
            <a:off x="626364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+$9</a:t>
            </a:r>
            <a:endParaRPr lang="en-US" sz="3000" dirty="0"/>
          </a:p>
        </p:txBody>
      </p:sp>
      <p:sp>
        <p:nvSpPr>
          <p:cNvPr id="13" name="Text 11"/>
          <p:cNvSpPr txBox="1"/>
          <p:nvPr/>
        </p:nvSpPr>
        <p:spPr>
          <a:xfrm>
            <a:off x="905256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4" name="Text 12"/>
          <p:cNvSpPr txBox="1"/>
          <p:nvPr/>
        </p:nvSpPr>
        <p:spPr>
          <a:xfrm>
            <a:off x="905256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+4.1%</a:t>
            </a:r>
            <a:endParaRPr lang="en-US" sz="30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457200" y="2816352"/>
          <a:ext cx="11274552" cy="914400"/>
        </p:xfrm>
        <a:graphic>
          <a:graphicData uri="http://schemas.openxmlformats.org/drawingml/2006/table">
            <a:tbl>
              <a:tblPr/>
              <a:tblGrid>
                <a:gridCol w="3118104"/>
                <a:gridCol w="2039112"/>
                <a:gridCol w="2039112"/>
                <a:gridCol w="2039112"/>
                <a:gridCol w="2039112"/>
              </a:tblGrid>
              <a:tr h="274320">
                <a:tc>
                  <a:txBody>
                    <a:bodyPr/>
                    <a:lstStyle/>
                    <a:p>
                      <a:pPr algn="l" indent="0" marL="0">
                        <a:buNone/>
                      </a:pPr>
                      <a:r>
                        <a:rPr lang="en-US" sz="1400" b="1" dirty="0">
                          <a:solidFill>
                            <a:srgbClr val="FFFFFF"/>
                          </a:solidFill>
                          <a:latin typeface="Inter" pitchFamily="34" charset="0"/>
                          <a:ea typeface="Inter" pitchFamily="34" charset="-122"/>
                          <a:cs typeface="Inter" pitchFamily="34" charset="-120"/>
                        </a:rPr>
                        <a:t>MONTH</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VARIANCE</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 %</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JAN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$222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$224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FEB</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$237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+5.1%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$229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APR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$228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$251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+9.7%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MAY</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$237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$231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$236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JUL</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$233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$242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AUG</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$233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$242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SEP</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$232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$242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16" name="Shape 13"/>
          <p:cNvSpPr/>
          <p:nvPr/>
        </p:nvSpPr>
        <p:spPr>
          <a:xfrm>
            <a:off x="457200" y="5961888"/>
            <a:ext cx="11274552" cy="548640"/>
          </a:xfrm>
          <a:prstGeom prst="rect">
            <a:avLst/>
          </a:prstGeom>
          <a:solidFill>
            <a:srgbClr val="E6F6EE"/>
          </a:solidFill>
          <a:ln/>
        </p:spPr>
      </p:sp>
      <p:sp>
        <p:nvSpPr>
          <p:cNvPr id="17" name="Text 14"/>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Up $9 to $238, ahead of 2025 in all nine months. Parts sale grew $2,750,802 on flat RO count.</a:t>
            </a:r>
            <a:endParaRPr lang="en-US" sz="16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Parts $ per RO</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316736"/>
            <a:ext cx="3383280" cy="32918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LUXURY · 9 STORES</a:t>
            </a:r>
            <a:endParaRPr lang="en-US" sz="1400" dirty="0"/>
          </a:p>
        </p:txBody>
      </p:sp>
      <p:sp>
        <p:nvSpPr>
          <p:cNvPr id="7" name="Text 5"/>
          <p:cNvSpPr txBox="1"/>
          <p:nvPr/>
        </p:nvSpPr>
        <p:spPr>
          <a:xfrm>
            <a:off x="658368" y="1755648"/>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8" name="Shape 6"/>
          <p:cNvSpPr/>
          <p:nvPr/>
        </p:nvSpPr>
        <p:spPr>
          <a:xfrm>
            <a:off x="2267712" y="1832317"/>
            <a:ext cx="1030941" cy="153338"/>
          </a:xfrm>
          <a:prstGeom prst="rect">
            <a:avLst/>
          </a:prstGeom>
          <a:solidFill>
            <a:srgbClr val="12A566"/>
          </a:solidFill>
          <a:ln/>
        </p:spPr>
      </p:sp>
      <p:sp>
        <p:nvSpPr>
          <p:cNvPr id="9" name="Text 7"/>
          <p:cNvSpPr txBox="1"/>
          <p:nvPr/>
        </p:nvSpPr>
        <p:spPr>
          <a:xfrm>
            <a:off x="3355848" y="1755648"/>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$926</a:t>
            </a:r>
            <a:endParaRPr lang="en-US" sz="1300" dirty="0"/>
          </a:p>
        </p:txBody>
      </p:sp>
      <p:sp>
        <p:nvSpPr>
          <p:cNvPr id="10" name="Text 8"/>
          <p:cNvSpPr txBox="1"/>
          <p:nvPr/>
        </p:nvSpPr>
        <p:spPr>
          <a:xfrm>
            <a:off x="658368" y="2062324"/>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11" name="Shape 9"/>
          <p:cNvSpPr/>
          <p:nvPr/>
        </p:nvSpPr>
        <p:spPr>
          <a:xfrm>
            <a:off x="2267712" y="2138993"/>
            <a:ext cx="939609" cy="153338"/>
          </a:xfrm>
          <a:prstGeom prst="rect">
            <a:avLst/>
          </a:prstGeom>
          <a:solidFill>
            <a:srgbClr val="12A566"/>
          </a:solidFill>
          <a:ln/>
        </p:spPr>
      </p:sp>
      <p:sp>
        <p:nvSpPr>
          <p:cNvPr id="12" name="Text 10"/>
          <p:cNvSpPr txBox="1"/>
          <p:nvPr/>
        </p:nvSpPr>
        <p:spPr>
          <a:xfrm>
            <a:off x="3355848" y="2062324"/>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$844</a:t>
            </a:r>
            <a:endParaRPr lang="en-US" sz="1300" dirty="0"/>
          </a:p>
        </p:txBody>
      </p:sp>
      <p:sp>
        <p:nvSpPr>
          <p:cNvPr id="13" name="Text 11"/>
          <p:cNvSpPr txBox="1"/>
          <p:nvPr/>
        </p:nvSpPr>
        <p:spPr>
          <a:xfrm>
            <a:off x="658368" y="2368999"/>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14" name="Shape 12"/>
          <p:cNvSpPr/>
          <p:nvPr/>
        </p:nvSpPr>
        <p:spPr>
          <a:xfrm>
            <a:off x="2267712" y="2445668"/>
            <a:ext cx="905544" cy="153338"/>
          </a:xfrm>
          <a:prstGeom prst="rect">
            <a:avLst/>
          </a:prstGeom>
          <a:solidFill>
            <a:srgbClr val="12A566"/>
          </a:solidFill>
          <a:ln/>
        </p:spPr>
      </p:sp>
      <p:sp>
        <p:nvSpPr>
          <p:cNvPr id="15" name="Text 13"/>
          <p:cNvSpPr txBox="1"/>
          <p:nvPr/>
        </p:nvSpPr>
        <p:spPr>
          <a:xfrm>
            <a:off x="3355848" y="2368999"/>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$814</a:t>
            </a:r>
            <a:endParaRPr lang="en-US" sz="1300" dirty="0"/>
          </a:p>
        </p:txBody>
      </p:sp>
      <p:sp>
        <p:nvSpPr>
          <p:cNvPr id="16" name="Text 14"/>
          <p:cNvSpPr txBox="1"/>
          <p:nvPr/>
        </p:nvSpPr>
        <p:spPr>
          <a:xfrm>
            <a:off x="658368" y="2675675"/>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17" name="Shape 15"/>
          <p:cNvSpPr/>
          <p:nvPr/>
        </p:nvSpPr>
        <p:spPr>
          <a:xfrm>
            <a:off x="2267712" y="2752344"/>
            <a:ext cx="820245" cy="153338"/>
          </a:xfrm>
          <a:prstGeom prst="rect">
            <a:avLst/>
          </a:prstGeom>
          <a:solidFill>
            <a:srgbClr val="12A566"/>
          </a:solidFill>
          <a:ln/>
        </p:spPr>
      </p:sp>
      <p:sp>
        <p:nvSpPr>
          <p:cNvPr id="18" name="Text 16"/>
          <p:cNvSpPr txBox="1"/>
          <p:nvPr/>
        </p:nvSpPr>
        <p:spPr>
          <a:xfrm>
            <a:off x="3355848" y="2675675"/>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$737</a:t>
            </a:r>
            <a:endParaRPr lang="en-US" sz="1300" dirty="0"/>
          </a:p>
        </p:txBody>
      </p:sp>
      <p:sp>
        <p:nvSpPr>
          <p:cNvPr id="19" name="Text 17"/>
          <p:cNvSpPr txBox="1"/>
          <p:nvPr/>
        </p:nvSpPr>
        <p:spPr>
          <a:xfrm>
            <a:off x="658368" y="2982351"/>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20" name="Shape 18"/>
          <p:cNvSpPr/>
          <p:nvPr/>
        </p:nvSpPr>
        <p:spPr>
          <a:xfrm>
            <a:off x="2267712" y="3059020"/>
            <a:ext cx="603026" cy="153338"/>
          </a:xfrm>
          <a:prstGeom prst="rect">
            <a:avLst/>
          </a:prstGeom>
          <a:solidFill>
            <a:srgbClr val="12A566"/>
          </a:solidFill>
          <a:ln/>
        </p:spPr>
      </p:sp>
      <p:sp>
        <p:nvSpPr>
          <p:cNvPr id="21" name="Text 19"/>
          <p:cNvSpPr txBox="1"/>
          <p:nvPr/>
        </p:nvSpPr>
        <p:spPr>
          <a:xfrm>
            <a:off x="3355848" y="2982351"/>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$542</a:t>
            </a:r>
            <a:endParaRPr lang="en-US" sz="1300" dirty="0"/>
          </a:p>
        </p:txBody>
      </p:sp>
      <p:sp>
        <p:nvSpPr>
          <p:cNvPr id="22" name="Shape 20"/>
          <p:cNvSpPr/>
          <p:nvPr/>
        </p:nvSpPr>
        <p:spPr>
          <a:xfrm>
            <a:off x="603504" y="3289026"/>
            <a:ext cx="3566160" cy="297532"/>
          </a:xfrm>
          <a:prstGeom prst="rect">
            <a:avLst/>
          </a:prstGeom>
          <a:solidFill>
            <a:srgbClr val="EDF4FA"/>
          </a:solidFill>
          <a:ln/>
        </p:spPr>
      </p:sp>
      <p:sp>
        <p:nvSpPr>
          <p:cNvPr id="23" name="Text 21"/>
          <p:cNvSpPr txBox="1"/>
          <p:nvPr/>
        </p:nvSpPr>
        <p:spPr>
          <a:xfrm>
            <a:off x="658368" y="3289026"/>
            <a:ext cx="1554480" cy="306676"/>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LUXURY</a:t>
            </a:r>
            <a:endParaRPr lang="en-US" sz="1300" dirty="0"/>
          </a:p>
        </p:txBody>
      </p:sp>
      <p:sp>
        <p:nvSpPr>
          <p:cNvPr id="24" name="Shape 22"/>
          <p:cNvSpPr/>
          <p:nvPr/>
        </p:nvSpPr>
        <p:spPr>
          <a:xfrm>
            <a:off x="2267712" y="3365695"/>
            <a:ext cx="594783" cy="153338"/>
          </a:xfrm>
          <a:prstGeom prst="rect">
            <a:avLst/>
          </a:prstGeom>
          <a:solidFill>
            <a:srgbClr val="0B2C4A"/>
          </a:solidFill>
          <a:ln/>
        </p:spPr>
      </p:sp>
      <p:sp>
        <p:nvSpPr>
          <p:cNvPr id="25" name="Text 23"/>
          <p:cNvSpPr txBox="1"/>
          <p:nvPr/>
        </p:nvSpPr>
        <p:spPr>
          <a:xfrm>
            <a:off x="3355848" y="3289026"/>
            <a:ext cx="777240" cy="306676"/>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$534</a:t>
            </a:r>
            <a:endParaRPr lang="en-US" sz="1300" dirty="0"/>
          </a:p>
        </p:txBody>
      </p:sp>
      <p:sp>
        <p:nvSpPr>
          <p:cNvPr id="26" name="Text 24"/>
          <p:cNvSpPr txBox="1"/>
          <p:nvPr/>
        </p:nvSpPr>
        <p:spPr>
          <a:xfrm>
            <a:off x="658368" y="3595702"/>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27" name="Shape 25"/>
          <p:cNvSpPr/>
          <p:nvPr/>
        </p:nvSpPr>
        <p:spPr>
          <a:xfrm>
            <a:off x="2267712" y="3672371"/>
            <a:ext cx="560785" cy="153338"/>
          </a:xfrm>
          <a:prstGeom prst="rect">
            <a:avLst/>
          </a:prstGeom>
          <a:solidFill>
            <a:srgbClr val="C2352F"/>
          </a:solidFill>
          <a:ln/>
        </p:spPr>
      </p:sp>
      <p:sp>
        <p:nvSpPr>
          <p:cNvPr id="28" name="Text 26"/>
          <p:cNvSpPr txBox="1"/>
          <p:nvPr/>
        </p:nvSpPr>
        <p:spPr>
          <a:xfrm>
            <a:off x="3355848" y="3595702"/>
            <a:ext cx="777240"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$504</a:t>
            </a:r>
            <a:endParaRPr lang="en-US" sz="1300" dirty="0"/>
          </a:p>
        </p:txBody>
      </p:sp>
      <p:sp>
        <p:nvSpPr>
          <p:cNvPr id="29" name="Text 27"/>
          <p:cNvSpPr txBox="1"/>
          <p:nvPr/>
        </p:nvSpPr>
        <p:spPr>
          <a:xfrm>
            <a:off x="658368" y="3902378"/>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30" name="Shape 28"/>
          <p:cNvSpPr/>
          <p:nvPr/>
        </p:nvSpPr>
        <p:spPr>
          <a:xfrm>
            <a:off x="2267712" y="3979047"/>
            <a:ext cx="403834" cy="153338"/>
          </a:xfrm>
          <a:prstGeom prst="rect">
            <a:avLst/>
          </a:prstGeom>
          <a:solidFill>
            <a:srgbClr val="C2352F"/>
          </a:solidFill>
          <a:ln/>
        </p:spPr>
      </p:sp>
      <p:sp>
        <p:nvSpPr>
          <p:cNvPr id="31" name="Text 29"/>
          <p:cNvSpPr txBox="1"/>
          <p:nvPr/>
        </p:nvSpPr>
        <p:spPr>
          <a:xfrm>
            <a:off x="3355848" y="3902378"/>
            <a:ext cx="777240"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$363</a:t>
            </a:r>
            <a:endParaRPr lang="en-US" sz="1300" dirty="0"/>
          </a:p>
        </p:txBody>
      </p:sp>
      <p:sp>
        <p:nvSpPr>
          <p:cNvPr id="32" name="Text 30"/>
          <p:cNvSpPr txBox="1"/>
          <p:nvPr/>
        </p:nvSpPr>
        <p:spPr>
          <a:xfrm>
            <a:off x="658368" y="4209054"/>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33" name="Shape 31"/>
          <p:cNvSpPr/>
          <p:nvPr/>
        </p:nvSpPr>
        <p:spPr>
          <a:xfrm>
            <a:off x="2267712" y="4285722"/>
            <a:ext cx="389252" cy="153338"/>
          </a:xfrm>
          <a:prstGeom prst="rect">
            <a:avLst/>
          </a:prstGeom>
          <a:solidFill>
            <a:srgbClr val="C2352F"/>
          </a:solidFill>
          <a:ln/>
        </p:spPr>
      </p:sp>
      <p:sp>
        <p:nvSpPr>
          <p:cNvPr id="34" name="Text 32"/>
          <p:cNvSpPr txBox="1"/>
          <p:nvPr/>
        </p:nvSpPr>
        <p:spPr>
          <a:xfrm>
            <a:off x="3355848" y="4209054"/>
            <a:ext cx="777240"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$350</a:t>
            </a:r>
            <a:endParaRPr lang="en-US" sz="1300" dirty="0"/>
          </a:p>
        </p:txBody>
      </p:sp>
      <p:sp>
        <p:nvSpPr>
          <p:cNvPr id="35" name="Text 33"/>
          <p:cNvSpPr txBox="1"/>
          <p:nvPr/>
        </p:nvSpPr>
        <p:spPr>
          <a:xfrm>
            <a:off x="658368" y="4515729"/>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36" name="Shape 34"/>
          <p:cNvSpPr/>
          <p:nvPr/>
        </p:nvSpPr>
        <p:spPr>
          <a:xfrm>
            <a:off x="2267712" y="4592398"/>
            <a:ext cx="267398" cy="153338"/>
          </a:xfrm>
          <a:prstGeom prst="rect">
            <a:avLst/>
          </a:prstGeom>
          <a:solidFill>
            <a:srgbClr val="C2352F"/>
          </a:solidFill>
          <a:ln/>
        </p:spPr>
      </p:sp>
      <p:sp>
        <p:nvSpPr>
          <p:cNvPr id="37" name="Text 35"/>
          <p:cNvSpPr txBox="1"/>
          <p:nvPr/>
        </p:nvSpPr>
        <p:spPr>
          <a:xfrm>
            <a:off x="3355848" y="4515729"/>
            <a:ext cx="777240"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$240</a:t>
            </a:r>
            <a:endParaRPr lang="en-US" sz="1300" dirty="0"/>
          </a:p>
        </p:txBody>
      </p:sp>
      <p:sp>
        <p:nvSpPr>
          <p:cNvPr id="38" name="Text 36"/>
          <p:cNvSpPr txBox="1"/>
          <p:nvPr/>
        </p:nvSpPr>
        <p:spPr>
          <a:xfrm>
            <a:off x="658368" y="4950421"/>
            <a:ext cx="3383280" cy="36576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LUXURY AVG  </a:t>
            </a:r>
            <a:pPr indent="0" marL="0">
              <a:buNone/>
            </a:pPr>
            <a:r>
              <a:rPr lang="en-US" sz="1800" b="1" dirty="0">
                <a:solidFill>
                  <a:srgbClr val="0B2C4A"/>
                </a:solidFill>
                <a:latin typeface="Inter" pitchFamily="34" charset="0"/>
                <a:ea typeface="Inter" pitchFamily="34" charset="-122"/>
                <a:cs typeface="Inter" pitchFamily="34" charset="-120"/>
              </a:rPr>
              <a:t>$534  </a:t>
            </a:r>
            <a:pPr indent="0" marL="0">
              <a:buNone/>
            </a:pPr>
            <a:r>
              <a:rPr lang="en-US" sz="1400" b="1" dirty="0">
                <a:solidFill>
                  <a:srgbClr val="0B7A4A"/>
                </a:solidFill>
                <a:latin typeface="Inter" pitchFamily="34" charset="0"/>
                <a:ea typeface="Inter" pitchFamily="34" charset="-122"/>
                <a:cs typeface="Inter" pitchFamily="34" charset="-120"/>
              </a:rPr>
              <a:t>(+$12)</a:t>
            </a:r>
            <a:endParaRPr lang="en-US" sz="1400" dirty="0"/>
          </a:p>
        </p:txBody>
      </p:sp>
      <p:sp>
        <p:nvSpPr>
          <p:cNvPr id="39" name="Text 37"/>
          <p:cNvSpPr txBox="1"/>
          <p:nvPr/>
        </p:nvSpPr>
        <p:spPr>
          <a:xfrm>
            <a:off x="658368" y="5334469"/>
            <a:ext cx="3383280" cy="36576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NON-LUXURY AVG  </a:t>
            </a:r>
            <a:pPr indent="0" marL="0">
              <a:buNone/>
            </a:pPr>
            <a:r>
              <a:rPr lang="en-US" sz="1800" b="1" dirty="0">
                <a:solidFill>
                  <a:srgbClr val="0B2C4A"/>
                </a:solidFill>
                <a:latin typeface="Inter" pitchFamily="34" charset="0"/>
                <a:ea typeface="Inter" pitchFamily="34" charset="-122"/>
                <a:cs typeface="Inter" pitchFamily="34" charset="-120"/>
              </a:rPr>
              <a:t>$202  </a:t>
            </a:r>
            <a:pPr indent="0" marL="0">
              <a:buNone/>
            </a:pPr>
            <a:r>
              <a:rPr lang="en-US" sz="1400" b="1" dirty="0">
                <a:solidFill>
                  <a:srgbClr val="0B7A4A"/>
                </a:solidFill>
                <a:latin typeface="Inter" pitchFamily="34" charset="0"/>
                <a:ea typeface="Inter" pitchFamily="34" charset="-122"/>
                <a:cs typeface="Inter" pitchFamily="34" charset="-120"/>
              </a:rPr>
              <a:t>(+$9)</a:t>
            </a:r>
            <a:endParaRPr lang="en-US" sz="1400" dirty="0"/>
          </a:p>
        </p:txBody>
      </p:sp>
      <p:sp>
        <p:nvSpPr>
          <p:cNvPr id="40" name="Text 38"/>
          <p:cNvSpPr txBox="1"/>
          <p:nvPr/>
        </p:nvSpPr>
        <p:spPr>
          <a:xfrm>
            <a:off x="4315968" y="1316736"/>
            <a:ext cx="7132320" cy="32918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NON-LUXURY · 24 STORES</a:t>
            </a:r>
            <a:endParaRPr lang="en-US" sz="1400" dirty="0"/>
          </a:p>
        </p:txBody>
      </p:sp>
      <p:sp>
        <p:nvSpPr>
          <p:cNvPr id="41" name="Text 39"/>
          <p:cNvSpPr txBox="1"/>
          <p:nvPr/>
        </p:nvSpPr>
        <p:spPr>
          <a:xfrm>
            <a:off x="4315968" y="1755648"/>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42" name="Shape 40"/>
          <p:cNvSpPr/>
          <p:nvPr/>
        </p:nvSpPr>
        <p:spPr>
          <a:xfrm>
            <a:off x="6291072" y="1832317"/>
            <a:ext cx="627529" cy="153338"/>
          </a:xfrm>
          <a:prstGeom prst="rect">
            <a:avLst/>
          </a:prstGeom>
          <a:solidFill>
            <a:srgbClr val="12A566"/>
          </a:solidFill>
          <a:ln/>
        </p:spPr>
      </p:sp>
      <p:sp>
        <p:nvSpPr>
          <p:cNvPr id="43" name="Text 41"/>
          <p:cNvSpPr txBox="1"/>
          <p:nvPr/>
        </p:nvSpPr>
        <p:spPr>
          <a:xfrm>
            <a:off x="6967728" y="1755648"/>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$332</a:t>
            </a:r>
            <a:endParaRPr lang="en-US" sz="1300" dirty="0"/>
          </a:p>
        </p:txBody>
      </p:sp>
      <p:sp>
        <p:nvSpPr>
          <p:cNvPr id="44" name="Text 42"/>
          <p:cNvSpPr txBox="1"/>
          <p:nvPr/>
        </p:nvSpPr>
        <p:spPr>
          <a:xfrm>
            <a:off x="4315968" y="2062324"/>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45" name="Shape 43"/>
          <p:cNvSpPr/>
          <p:nvPr/>
        </p:nvSpPr>
        <p:spPr>
          <a:xfrm>
            <a:off x="6291072" y="2138993"/>
            <a:ext cx="549290" cy="153338"/>
          </a:xfrm>
          <a:prstGeom prst="rect">
            <a:avLst/>
          </a:prstGeom>
          <a:solidFill>
            <a:srgbClr val="12A566"/>
          </a:solidFill>
          <a:ln/>
        </p:spPr>
      </p:sp>
      <p:sp>
        <p:nvSpPr>
          <p:cNvPr id="46" name="Text 44"/>
          <p:cNvSpPr txBox="1"/>
          <p:nvPr/>
        </p:nvSpPr>
        <p:spPr>
          <a:xfrm>
            <a:off x="6967728" y="2062324"/>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$290</a:t>
            </a:r>
            <a:endParaRPr lang="en-US" sz="1300" dirty="0"/>
          </a:p>
        </p:txBody>
      </p:sp>
      <p:sp>
        <p:nvSpPr>
          <p:cNvPr id="47" name="Text 45"/>
          <p:cNvSpPr txBox="1"/>
          <p:nvPr/>
        </p:nvSpPr>
        <p:spPr>
          <a:xfrm>
            <a:off x="4315968" y="2368999"/>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48" name="Shape 46"/>
          <p:cNvSpPr/>
          <p:nvPr/>
        </p:nvSpPr>
        <p:spPr>
          <a:xfrm>
            <a:off x="6291072" y="2445668"/>
            <a:ext cx="532049" cy="153338"/>
          </a:xfrm>
          <a:prstGeom prst="rect">
            <a:avLst/>
          </a:prstGeom>
          <a:solidFill>
            <a:srgbClr val="12A566"/>
          </a:solidFill>
          <a:ln/>
        </p:spPr>
      </p:sp>
      <p:sp>
        <p:nvSpPr>
          <p:cNvPr id="49" name="Text 47"/>
          <p:cNvSpPr txBox="1"/>
          <p:nvPr/>
        </p:nvSpPr>
        <p:spPr>
          <a:xfrm>
            <a:off x="6967728" y="2368999"/>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$281</a:t>
            </a:r>
            <a:endParaRPr lang="en-US" sz="1300" dirty="0"/>
          </a:p>
        </p:txBody>
      </p:sp>
      <p:sp>
        <p:nvSpPr>
          <p:cNvPr id="50" name="Text 48"/>
          <p:cNvSpPr txBox="1"/>
          <p:nvPr/>
        </p:nvSpPr>
        <p:spPr>
          <a:xfrm>
            <a:off x="4315968" y="2675675"/>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51" name="Shape 49"/>
          <p:cNvSpPr/>
          <p:nvPr/>
        </p:nvSpPr>
        <p:spPr>
          <a:xfrm>
            <a:off x="6291072" y="2752344"/>
            <a:ext cx="530476" cy="153338"/>
          </a:xfrm>
          <a:prstGeom prst="rect">
            <a:avLst/>
          </a:prstGeom>
          <a:solidFill>
            <a:srgbClr val="12A566"/>
          </a:solidFill>
          <a:ln/>
        </p:spPr>
      </p:sp>
      <p:sp>
        <p:nvSpPr>
          <p:cNvPr id="52" name="Text 50"/>
          <p:cNvSpPr txBox="1"/>
          <p:nvPr/>
        </p:nvSpPr>
        <p:spPr>
          <a:xfrm>
            <a:off x="6967728" y="2675675"/>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$280</a:t>
            </a:r>
            <a:endParaRPr lang="en-US" sz="1300" dirty="0"/>
          </a:p>
        </p:txBody>
      </p:sp>
      <p:sp>
        <p:nvSpPr>
          <p:cNvPr id="53" name="Text 51"/>
          <p:cNvSpPr txBox="1"/>
          <p:nvPr/>
        </p:nvSpPr>
        <p:spPr>
          <a:xfrm>
            <a:off x="4315968" y="2982351"/>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54" name="Shape 52"/>
          <p:cNvSpPr/>
          <p:nvPr/>
        </p:nvSpPr>
        <p:spPr>
          <a:xfrm>
            <a:off x="6291072" y="3059020"/>
            <a:ext cx="530317" cy="153338"/>
          </a:xfrm>
          <a:prstGeom prst="rect">
            <a:avLst/>
          </a:prstGeom>
          <a:solidFill>
            <a:srgbClr val="12A566"/>
          </a:solidFill>
          <a:ln/>
        </p:spPr>
      </p:sp>
      <p:sp>
        <p:nvSpPr>
          <p:cNvPr id="55" name="Text 53"/>
          <p:cNvSpPr txBox="1"/>
          <p:nvPr/>
        </p:nvSpPr>
        <p:spPr>
          <a:xfrm>
            <a:off x="6967728" y="2982351"/>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$280</a:t>
            </a:r>
            <a:endParaRPr lang="en-US" sz="1300" dirty="0"/>
          </a:p>
        </p:txBody>
      </p:sp>
      <p:sp>
        <p:nvSpPr>
          <p:cNvPr id="56" name="Text 54"/>
          <p:cNvSpPr txBox="1"/>
          <p:nvPr/>
        </p:nvSpPr>
        <p:spPr>
          <a:xfrm>
            <a:off x="4315968" y="3289026"/>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57" name="Shape 55"/>
          <p:cNvSpPr/>
          <p:nvPr/>
        </p:nvSpPr>
        <p:spPr>
          <a:xfrm>
            <a:off x="6291072" y="3365695"/>
            <a:ext cx="522725" cy="153338"/>
          </a:xfrm>
          <a:prstGeom prst="rect">
            <a:avLst/>
          </a:prstGeom>
          <a:solidFill>
            <a:srgbClr val="12A566"/>
          </a:solidFill>
          <a:ln/>
        </p:spPr>
      </p:sp>
      <p:sp>
        <p:nvSpPr>
          <p:cNvPr id="58" name="Text 56"/>
          <p:cNvSpPr txBox="1"/>
          <p:nvPr/>
        </p:nvSpPr>
        <p:spPr>
          <a:xfrm>
            <a:off x="6967728" y="3289026"/>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$276</a:t>
            </a:r>
            <a:endParaRPr lang="en-US" sz="1300" dirty="0"/>
          </a:p>
        </p:txBody>
      </p:sp>
      <p:sp>
        <p:nvSpPr>
          <p:cNvPr id="59" name="Text 57"/>
          <p:cNvSpPr txBox="1"/>
          <p:nvPr/>
        </p:nvSpPr>
        <p:spPr>
          <a:xfrm>
            <a:off x="4315968" y="3595702"/>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60" name="Shape 58"/>
          <p:cNvSpPr/>
          <p:nvPr/>
        </p:nvSpPr>
        <p:spPr>
          <a:xfrm>
            <a:off x="6291072" y="3672371"/>
            <a:ext cx="508315" cy="153338"/>
          </a:xfrm>
          <a:prstGeom prst="rect">
            <a:avLst/>
          </a:prstGeom>
          <a:solidFill>
            <a:srgbClr val="12A566"/>
          </a:solidFill>
          <a:ln/>
        </p:spPr>
      </p:sp>
      <p:sp>
        <p:nvSpPr>
          <p:cNvPr id="61" name="Text 59"/>
          <p:cNvSpPr txBox="1"/>
          <p:nvPr/>
        </p:nvSpPr>
        <p:spPr>
          <a:xfrm>
            <a:off x="6967728" y="3595702"/>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$269</a:t>
            </a:r>
            <a:endParaRPr lang="en-US" sz="1300" dirty="0"/>
          </a:p>
        </p:txBody>
      </p:sp>
      <p:sp>
        <p:nvSpPr>
          <p:cNvPr id="62" name="Text 60"/>
          <p:cNvSpPr txBox="1"/>
          <p:nvPr/>
        </p:nvSpPr>
        <p:spPr>
          <a:xfrm>
            <a:off x="4315968" y="3902378"/>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63" name="Shape 61"/>
          <p:cNvSpPr/>
          <p:nvPr/>
        </p:nvSpPr>
        <p:spPr>
          <a:xfrm>
            <a:off x="6291072" y="3979047"/>
            <a:ext cx="499621" cy="153338"/>
          </a:xfrm>
          <a:prstGeom prst="rect">
            <a:avLst/>
          </a:prstGeom>
          <a:solidFill>
            <a:srgbClr val="12A566"/>
          </a:solidFill>
          <a:ln/>
        </p:spPr>
      </p:sp>
      <p:sp>
        <p:nvSpPr>
          <p:cNvPr id="64" name="Text 62"/>
          <p:cNvSpPr txBox="1"/>
          <p:nvPr/>
        </p:nvSpPr>
        <p:spPr>
          <a:xfrm>
            <a:off x="6967728" y="3902378"/>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$264</a:t>
            </a:r>
            <a:endParaRPr lang="en-US" sz="1300" dirty="0"/>
          </a:p>
        </p:txBody>
      </p:sp>
      <p:sp>
        <p:nvSpPr>
          <p:cNvPr id="65" name="Text 63"/>
          <p:cNvSpPr txBox="1"/>
          <p:nvPr/>
        </p:nvSpPr>
        <p:spPr>
          <a:xfrm>
            <a:off x="4315968" y="4209054"/>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66" name="Shape 64"/>
          <p:cNvSpPr/>
          <p:nvPr/>
        </p:nvSpPr>
        <p:spPr>
          <a:xfrm>
            <a:off x="6291072" y="4285722"/>
            <a:ext cx="490656" cy="153338"/>
          </a:xfrm>
          <a:prstGeom prst="rect">
            <a:avLst/>
          </a:prstGeom>
          <a:solidFill>
            <a:srgbClr val="12A566"/>
          </a:solidFill>
          <a:ln/>
        </p:spPr>
      </p:sp>
      <p:sp>
        <p:nvSpPr>
          <p:cNvPr id="67" name="Text 65"/>
          <p:cNvSpPr txBox="1"/>
          <p:nvPr/>
        </p:nvSpPr>
        <p:spPr>
          <a:xfrm>
            <a:off x="6967728" y="4209054"/>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$259</a:t>
            </a:r>
            <a:endParaRPr lang="en-US" sz="1300" dirty="0"/>
          </a:p>
        </p:txBody>
      </p:sp>
      <p:sp>
        <p:nvSpPr>
          <p:cNvPr id="68" name="Text 66"/>
          <p:cNvSpPr txBox="1"/>
          <p:nvPr/>
        </p:nvSpPr>
        <p:spPr>
          <a:xfrm>
            <a:off x="4315968" y="4515729"/>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69" name="Shape 67"/>
          <p:cNvSpPr/>
          <p:nvPr/>
        </p:nvSpPr>
        <p:spPr>
          <a:xfrm>
            <a:off x="6291072" y="4592398"/>
            <a:ext cx="445055" cy="153338"/>
          </a:xfrm>
          <a:prstGeom prst="rect">
            <a:avLst/>
          </a:prstGeom>
          <a:solidFill>
            <a:srgbClr val="12A566"/>
          </a:solidFill>
          <a:ln/>
        </p:spPr>
      </p:sp>
      <p:sp>
        <p:nvSpPr>
          <p:cNvPr id="70" name="Text 68"/>
          <p:cNvSpPr txBox="1"/>
          <p:nvPr/>
        </p:nvSpPr>
        <p:spPr>
          <a:xfrm>
            <a:off x="6967728" y="4515729"/>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$235</a:t>
            </a:r>
            <a:endParaRPr lang="en-US" sz="1300" dirty="0"/>
          </a:p>
        </p:txBody>
      </p:sp>
      <p:sp>
        <p:nvSpPr>
          <p:cNvPr id="71" name="Text 69"/>
          <p:cNvSpPr txBox="1"/>
          <p:nvPr/>
        </p:nvSpPr>
        <p:spPr>
          <a:xfrm>
            <a:off x="4315968" y="4822405"/>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72" name="Shape 70"/>
          <p:cNvSpPr/>
          <p:nvPr/>
        </p:nvSpPr>
        <p:spPr>
          <a:xfrm>
            <a:off x="6291072" y="4899074"/>
            <a:ext cx="413647" cy="153338"/>
          </a:xfrm>
          <a:prstGeom prst="rect">
            <a:avLst/>
          </a:prstGeom>
          <a:solidFill>
            <a:srgbClr val="12A566"/>
          </a:solidFill>
          <a:ln/>
        </p:spPr>
      </p:sp>
      <p:sp>
        <p:nvSpPr>
          <p:cNvPr id="73" name="Text 71"/>
          <p:cNvSpPr txBox="1"/>
          <p:nvPr/>
        </p:nvSpPr>
        <p:spPr>
          <a:xfrm>
            <a:off x="6967728" y="4822405"/>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$219</a:t>
            </a:r>
            <a:endParaRPr lang="en-US" sz="1300" dirty="0"/>
          </a:p>
        </p:txBody>
      </p:sp>
      <p:sp>
        <p:nvSpPr>
          <p:cNvPr id="74" name="Text 72"/>
          <p:cNvSpPr txBox="1"/>
          <p:nvPr/>
        </p:nvSpPr>
        <p:spPr>
          <a:xfrm>
            <a:off x="4315968" y="5129081"/>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75" name="Shape 73"/>
          <p:cNvSpPr/>
          <p:nvPr/>
        </p:nvSpPr>
        <p:spPr>
          <a:xfrm>
            <a:off x="6291072" y="5205750"/>
            <a:ext cx="409648" cy="153338"/>
          </a:xfrm>
          <a:prstGeom prst="rect">
            <a:avLst/>
          </a:prstGeom>
          <a:solidFill>
            <a:srgbClr val="12A566"/>
          </a:solidFill>
          <a:ln/>
        </p:spPr>
      </p:sp>
      <p:sp>
        <p:nvSpPr>
          <p:cNvPr id="76" name="Text 74"/>
          <p:cNvSpPr txBox="1"/>
          <p:nvPr/>
        </p:nvSpPr>
        <p:spPr>
          <a:xfrm>
            <a:off x="6967728" y="5129081"/>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$217</a:t>
            </a:r>
            <a:endParaRPr lang="en-US" sz="1300" dirty="0"/>
          </a:p>
        </p:txBody>
      </p:sp>
      <p:sp>
        <p:nvSpPr>
          <p:cNvPr id="77" name="Text 75"/>
          <p:cNvSpPr txBox="1"/>
          <p:nvPr/>
        </p:nvSpPr>
        <p:spPr>
          <a:xfrm>
            <a:off x="4315968" y="5435756"/>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78" name="Shape 76"/>
          <p:cNvSpPr/>
          <p:nvPr/>
        </p:nvSpPr>
        <p:spPr>
          <a:xfrm>
            <a:off x="6291072" y="5512425"/>
            <a:ext cx="403417" cy="153338"/>
          </a:xfrm>
          <a:prstGeom prst="rect">
            <a:avLst/>
          </a:prstGeom>
          <a:solidFill>
            <a:srgbClr val="12A566"/>
          </a:solidFill>
          <a:ln/>
        </p:spPr>
      </p:sp>
      <p:sp>
        <p:nvSpPr>
          <p:cNvPr id="79" name="Text 77"/>
          <p:cNvSpPr txBox="1"/>
          <p:nvPr/>
        </p:nvSpPr>
        <p:spPr>
          <a:xfrm>
            <a:off x="6967728" y="5435756"/>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$213</a:t>
            </a:r>
            <a:endParaRPr lang="en-US" sz="1300" dirty="0"/>
          </a:p>
        </p:txBody>
      </p:sp>
      <p:sp>
        <p:nvSpPr>
          <p:cNvPr id="80" name="Text 78"/>
          <p:cNvSpPr txBox="1"/>
          <p:nvPr/>
        </p:nvSpPr>
        <p:spPr>
          <a:xfrm>
            <a:off x="7918704" y="1755648"/>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81" name="Shape 79"/>
          <p:cNvSpPr/>
          <p:nvPr/>
        </p:nvSpPr>
        <p:spPr>
          <a:xfrm>
            <a:off x="9893808" y="1832317"/>
            <a:ext cx="402285" cy="153338"/>
          </a:xfrm>
          <a:prstGeom prst="rect">
            <a:avLst/>
          </a:prstGeom>
          <a:solidFill>
            <a:srgbClr val="12A566"/>
          </a:solidFill>
          <a:ln/>
        </p:spPr>
      </p:sp>
      <p:sp>
        <p:nvSpPr>
          <p:cNvPr id="82" name="Text 80"/>
          <p:cNvSpPr txBox="1"/>
          <p:nvPr/>
        </p:nvSpPr>
        <p:spPr>
          <a:xfrm>
            <a:off x="10570464" y="1755648"/>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$213</a:t>
            </a:r>
            <a:endParaRPr lang="en-US" sz="1300" dirty="0"/>
          </a:p>
        </p:txBody>
      </p:sp>
      <p:sp>
        <p:nvSpPr>
          <p:cNvPr id="83" name="Text 81"/>
          <p:cNvSpPr txBox="1"/>
          <p:nvPr/>
        </p:nvSpPr>
        <p:spPr>
          <a:xfrm>
            <a:off x="7918704" y="2062324"/>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84" name="Shape 82"/>
          <p:cNvSpPr/>
          <p:nvPr/>
        </p:nvSpPr>
        <p:spPr>
          <a:xfrm>
            <a:off x="9893808" y="2138993"/>
            <a:ext cx="401345" cy="153338"/>
          </a:xfrm>
          <a:prstGeom prst="rect">
            <a:avLst/>
          </a:prstGeom>
          <a:solidFill>
            <a:srgbClr val="12A566"/>
          </a:solidFill>
          <a:ln/>
        </p:spPr>
      </p:sp>
      <p:sp>
        <p:nvSpPr>
          <p:cNvPr id="85" name="Text 83"/>
          <p:cNvSpPr txBox="1"/>
          <p:nvPr/>
        </p:nvSpPr>
        <p:spPr>
          <a:xfrm>
            <a:off x="10570464" y="2062324"/>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$212</a:t>
            </a:r>
            <a:endParaRPr lang="en-US" sz="1300" dirty="0"/>
          </a:p>
        </p:txBody>
      </p:sp>
      <p:sp>
        <p:nvSpPr>
          <p:cNvPr id="86" name="Text 84"/>
          <p:cNvSpPr txBox="1"/>
          <p:nvPr/>
        </p:nvSpPr>
        <p:spPr>
          <a:xfrm>
            <a:off x="7918704" y="2368999"/>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87" name="Shape 85"/>
          <p:cNvSpPr/>
          <p:nvPr/>
        </p:nvSpPr>
        <p:spPr>
          <a:xfrm>
            <a:off x="9893808" y="2445668"/>
            <a:ext cx="393477" cy="153338"/>
          </a:xfrm>
          <a:prstGeom prst="rect">
            <a:avLst/>
          </a:prstGeom>
          <a:solidFill>
            <a:srgbClr val="12A566"/>
          </a:solidFill>
          <a:ln/>
        </p:spPr>
      </p:sp>
      <p:sp>
        <p:nvSpPr>
          <p:cNvPr id="88" name="Text 86"/>
          <p:cNvSpPr txBox="1"/>
          <p:nvPr/>
        </p:nvSpPr>
        <p:spPr>
          <a:xfrm>
            <a:off x="10570464" y="2368999"/>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$208</a:t>
            </a:r>
            <a:endParaRPr lang="en-US" sz="1300" dirty="0"/>
          </a:p>
        </p:txBody>
      </p:sp>
      <p:sp>
        <p:nvSpPr>
          <p:cNvPr id="89" name="Shape 87"/>
          <p:cNvSpPr/>
          <p:nvPr/>
        </p:nvSpPr>
        <p:spPr>
          <a:xfrm>
            <a:off x="7863840" y="2675675"/>
            <a:ext cx="3529584" cy="297532"/>
          </a:xfrm>
          <a:prstGeom prst="rect">
            <a:avLst/>
          </a:prstGeom>
          <a:solidFill>
            <a:srgbClr val="EDF4FA"/>
          </a:solidFill>
          <a:ln/>
        </p:spPr>
      </p:sp>
      <p:sp>
        <p:nvSpPr>
          <p:cNvPr id="90" name="Text 88"/>
          <p:cNvSpPr txBox="1"/>
          <p:nvPr/>
        </p:nvSpPr>
        <p:spPr>
          <a:xfrm>
            <a:off x="7918704" y="2675675"/>
            <a:ext cx="1920240" cy="306676"/>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NON-LUXURY</a:t>
            </a:r>
            <a:endParaRPr lang="en-US" sz="1300" dirty="0"/>
          </a:p>
        </p:txBody>
      </p:sp>
      <p:sp>
        <p:nvSpPr>
          <p:cNvPr id="91" name="Shape 89"/>
          <p:cNvSpPr/>
          <p:nvPr/>
        </p:nvSpPr>
        <p:spPr>
          <a:xfrm>
            <a:off x="9893808" y="2752344"/>
            <a:ext cx="382510" cy="153338"/>
          </a:xfrm>
          <a:prstGeom prst="rect">
            <a:avLst/>
          </a:prstGeom>
          <a:solidFill>
            <a:srgbClr val="0B2C4A"/>
          </a:solidFill>
          <a:ln/>
        </p:spPr>
      </p:sp>
      <p:sp>
        <p:nvSpPr>
          <p:cNvPr id="92" name="Text 90"/>
          <p:cNvSpPr txBox="1"/>
          <p:nvPr/>
        </p:nvSpPr>
        <p:spPr>
          <a:xfrm>
            <a:off x="10570464" y="2675675"/>
            <a:ext cx="786384" cy="306676"/>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$202</a:t>
            </a:r>
            <a:endParaRPr lang="en-US" sz="1300" dirty="0"/>
          </a:p>
        </p:txBody>
      </p:sp>
      <p:sp>
        <p:nvSpPr>
          <p:cNvPr id="93" name="Text 91"/>
          <p:cNvSpPr txBox="1"/>
          <p:nvPr/>
        </p:nvSpPr>
        <p:spPr>
          <a:xfrm>
            <a:off x="7918704" y="2982351"/>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94" name="Shape 92"/>
          <p:cNvSpPr/>
          <p:nvPr/>
        </p:nvSpPr>
        <p:spPr>
          <a:xfrm>
            <a:off x="9893808" y="3059020"/>
            <a:ext cx="370852" cy="153338"/>
          </a:xfrm>
          <a:prstGeom prst="rect">
            <a:avLst/>
          </a:prstGeom>
          <a:solidFill>
            <a:srgbClr val="C2352F"/>
          </a:solidFill>
          <a:ln/>
        </p:spPr>
      </p:sp>
      <p:sp>
        <p:nvSpPr>
          <p:cNvPr id="95" name="Text 93"/>
          <p:cNvSpPr txBox="1"/>
          <p:nvPr/>
        </p:nvSpPr>
        <p:spPr>
          <a:xfrm>
            <a:off x="10570464" y="2982351"/>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$196</a:t>
            </a:r>
            <a:endParaRPr lang="en-US" sz="1300" dirty="0"/>
          </a:p>
        </p:txBody>
      </p:sp>
      <p:sp>
        <p:nvSpPr>
          <p:cNvPr id="96" name="Text 94"/>
          <p:cNvSpPr txBox="1"/>
          <p:nvPr/>
        </p:nvSpPr>
        <p:spPr>
          <a:xfrm>
            <a:off x="7918704" y="3289026"/>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97" name="Shape 95"/>
          <p:cNvSpPr/>
          <p:nvPr/>
        </p:nvSpPr>
        <p:spPr>
          <a:xfrm>
            <a:off x="9893808" y="3365695"/>
            <a:ext cx="365344" cy="153338"/>
          </a:xfrm>
          <a:prstGeom prst="rect">
            <a:avLst/>
          </a:prstGeom>
          <a:solidFill>
            <a:srgbClr val="C2352F"/>
          </a:solidFill>
          <a:ln/>
        </p:spPr>
      </p:sp>
      <p:sp>
        <p:nvSpPr>
          <p:cNvPr id="98" name="Text 96"/>
          <p:cNvSpPr txBox="1"/>
          <p:nvPr/>
        </p:nvSpPr>
        <p:spPr>
          <a:xfrm>
            <a:off x="10570464" y="3289026"/>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$193</a:t>
            </a:r>
            <a:endParaRPr lang="en-US" sz="1300" dirty="0"/>
          </a:p>
        </p:txBody>
      </p:sp>
      <p:sp>
        <p:nvSpPr>
          <p:cNvPr id="99" name="Text 97"/>
          <p:cNvSpPr txBox="1"/>
          <p:nvPr/>
        </p:nvSpPr>
        <p:spPr>
          <a:xfrm>
            <a:off x="7918704" y="3595702"/>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100" name="Shape 98"/>
          <p:cNvSpPr/>
          <p:nvPr/>
        </p:nvSpPr>
        <p:spPr>
          <a:xfrm>
            <a:off x="9893808" y="3672371"/>
            <a:ext cx="346140" cy="153338"/>
          </a:xfrm>
          <a:prstGeom prst="rect">
            <a:avLst/>
          </a:prstGeom>
          <a:solidFill>
            <a:srgbClr val="C2352F"/>
          </a:solidFill>
          <a:ln/>
        </p:spPr>
      </p:sp>
      <p:sp>
        <p:nvSpPr>
          <p:cNvPr id="101" name="Text 99"/>
          <p:cNvSpPr txBox="1"/>
          <p:nvPr/>
        </p:nvSpPr>
        <p:spPr>
          <a:xfrm>
            <a:off x="10570464" y="3595702"/>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$183</a:t>
            </a:r>
            <a:endParaRPr lang="en-US" sz="1300" dirty="0"/>
          </a:p>
        </p:txBody>
      </p:sp>
      <p:sp>
        <p:nvSpPr>
          <p:cNvPr id="102" name="Text 100"/>
          <p:cNvSpPr txBox="1"/>
          <p:nvPr/>
        </p:nvSpPr>
        <p:spPr>
          <a:xfrm>
            <a:off x="7918704" y="3902378"/>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103" name="Shape 101"/>
          <p:cNvSpPr/>
          <p:nvPr/>
        </p:nvSpPr>
        <p:spPr>
          <a:xfrm>
            <a:off x="9893808" y="3979047"/>
            <a:ext cx="342275" cy="153338"/>
          </a:xfrm>
          <a:prstGeom prst="rect">
            <a:avLst/>
          </a:prstGeom>
          <a:solidFill>
            <a:srgbClr val="C2352F"/>
          </a:solidFill>
          <a:ln/>
        </p:spPr>
      </p:sp>
      <p:sp>
        <p:nvSpPr>
          <p:cNvPr id="104" name="Text 102"/>
          <p:cNvSpPr txBox="1"/>
          <p:nvPr/>
        </p:nvSpPr>
        <p:spPr>
          <a:xfrm>
            <a:off x="10570464" y="3902378"/>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$181</a:t>
            </a:r>
            <a:endParaRPr lang="en-US" sz="1300" dirty="0"/>
          </a:p>
        </p:txBody>
      </p:sp>
      <p:sp>
        <p:nvSpPr>
          <p:cNvPr id="105" name="Text 103"/>
          <p:cNvSpPr txBox="1"/>
          <p:nvPr/>
        </p:nvSpPr>
        <p:spPr>
          <a:xfrm>
            <a:off x="7918704" y="4209054"/>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106" name="Shape 104"/>
          <p:cNvSpPr/>
          <p:nvPr/>
        </p:nvSpPr>
        <p:spPr>
          <a:xfrm>
            <a:off x="9893808" y="4285722"/>
            <a:ext cx="321936" cy="153338"/>
          </a:xfrm>
          <a:prstGeom prst="rect">
            <a:avLst/>
          </a:prstGeom>
          <a:solidFill>
            <a:srgbClr val="C2352F"/>
          </a:solidFill>
          <a:ln/>
        </p:spPr>
      </p:sp>
      <p:sp>
        <p:nvSpPr>
          <p:cNvPr id="107" name="Text 105"/>
          <p:cNvSpPr txBox="1"/>
          <p:nvPr/>
        </p:nvSpPr>
        <p:spPr>
          <a:xfrm>
            <a:off x="10570464" y="4209054"/>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$170</a:t>
            </a:r>
            <a:endParaRPr lang="en-US" sz="1300" dirty="0"/>
          </a:p>
        </p:txBody>
      </p:sp>
      <p:sp>
        <p:nvSpPr>
          <p:cNvPr id="108" name="Text 106"/>
          <p:cNvSpPr txBox="1"/>
          <p:nvPr/>
        </p:nvSpPr>
        <p:spPr>
          <a:xfrm>
            <a:off x="7918704" y="4515729"/>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109" name="Shape 107"/>
          <p:cNvSpPr/>
          <p:nvPr/>
        </p:nvSpPr>
        <p:spPr>
          <a:xfrm>
            <a:off x="9893808" y="4592398"/>
            <a:ext cx="290572" cy="153338"/>
          </a:xfrm>
          <a:prstGeom prst="rect">
            <a:avLst/>
          </a:prstGeom>
          <a:solidFill>
            <a:srgbClr val="C2352F"/>
          </a:solidFill>
          <a:ln/>
        </p:spPr>
      </p:sp>
      <p:sp>
        <p:nvSpPr>
          <p:cNvPr id="110" name="Text 108"/>
          <p:cNvSpPr txBox="1"/>
          <p:nvPr/>
        </p:nvSpPr>
        <p:spPr>
          <a:xfrm>
            <a:off x="10570464" y="4515729"/>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$154</a:t>
            </a:r>
            <a:endParaRPr lang="en-US" sz="1300" dirty="0"/>
          </a:p>
        </p:txBody>
      </p:sp>
      <p:sp>
        <p:nvSpPr>
          <p:cNvPr id="111" name="Text 109"/>
          <p:cNvSpPr txBox="1"/>
          <p:nvPr/>
        </p:nvSpPr>
        <p:spPr>
          <a:xfrm>
            <a:off x="7918704" y="4822405"/>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112" name="Shape 110"/>
          <p:cNvSpPr/>
          <p:nvPr/>
        </p:nvSpPr>
        <p:spPr>
          <a:xfrm>
            <a:off x="9893808" y="4899074"/>
            <a:ext cx="289524" cy="153338"/>
          </a:xfrm>
          <a:prstGeom prst="rect">
            <a:avLst/>
          </a:prstGeom>
          <a:solidFill>
            <a:srgbClr val="C2352F"/>
          </a:solidFill>
          <a:ln/>
        </p:spPr>
      </p:sp>
      <p:sp>
        <p:nvSpPr>
          <p:cNvPr id="113" name="Text 111"/>
          <p:cNvSpPr txBox="1"/>
          <p:nvPr/>
        </p:nvSpPr>
        <p:spPr>
          <a:xfrm>
            <a:off x="10570464" y="4822405"/>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$153</a:t>
            </a:r>
            <a:endParaRPr lang="en-US" sz="1300" dirty="0"/>
          </a:p>
        </p:txBody>
      </p:sp>
      <p:sp>
        <p:nvSpPr>
          <p:cNvPr id="114" name="Text 112"/>
          <p:cNvSpPr txBox="1"/>
          <p:nvPr/>
        </p:nvSpPr>
        <p:spPr>
          <a:xfrm>
            <a:off x="7918704" y="5129081"/>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115" name="Shape 113"/>
          <p:cNvSpPr/>
          <p:nvPr/>
        </p:nvSpPr>
        <p:spPr>
          <a:xfrm>
            <a:off x="9893808" y="5205750"/>
            <a:ext cx="281601" cy="153338"/>
          </a:xfrm>
          <a:prstGeom prst="rect">
            <a:avLst/>
          </a:prstGeom>
          <a:solidFill>
            <a:srgbClr val="C2352F"/>
          </a:solidFill>
          <a:ln/>
        </p:spPr>
      </p:sp>
      <p:sp>
        <p:nvSpPr>
          <p:cNvPr id="116" name="Text 114"/>
          <p:cNvSpPr txBox="1"/>
          <p:nvPr/>
        </p:nvSpPr>
        <p:spPr>
          <a:xfrm>
            <a:off x="10570464" y="5129081"/>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$149</a:t>
            </a:r>
            <a:endParaRPr lang="en-US" sz="1300" dirty="0"/>
          </a:p>
        </p:txBody>
      </p:sp>
      <p:sp>
        <p:nvSpPr>
          <p:cNvPr id="117" name="Shape 115"/>
          <p:cNvSpPr/>
          <p:nvPr/>
        </p:nvSpPr>
        <p:spPr>
          <a:xfrm>
            <a:off x="457200" y="5961888"/>
            <a:ext cx="11274552" cy="548640"/>
          </a:xfrm>
          <a:prstGeom prst="rect">
            <a:avLst/>
          </a:prstGeom>
          <a:solidFill>
            <a:srgbClr val="EDF4FA"/>
          </a:solidFill>
          <a:ln/>
        </p:spPr>
      </p:sp>
      <p:sp>
        <p:nvSpPr>
          <p:cNvPr id="118" name="Text 116"/>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Against their own segment, 5 of 9 luxury stores beat $534 and 16 of 24 others beat $202. CDJR POST FALLS leads non-luxury at $332.</a:t>
            </a:r>
            <a:endParaRPr lang="en-US" sz="16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Parts $ per RO</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01168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GROUP</a:t>
            </a:r>
            <a:endParaRPr lang="en-US" sz="1500" dirty="0"/>
          </a:p>
        </p:txBody>
      </p:sp>
      <p:sp>
        <p:nvSpPr>
          <p:cNvPr id="9" name="Text 7"/>
          <p:cNvSpPr txBox="1"/>
          <p:nvPr/>
        </p:nvSpPr>
        <p:spPr>
          <a:xfrm>
            <a:off x="2834640" y="1335024"/>
            <a:ext cx="420624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SAME-STORE, 33 STORES</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+$9</a:t>
            </a:r>
            <a:endParaRPr lang="en-US" sz="2000" dirty="0"/>
          </a:p>
        </p:txBody>
      </p:sp>
      <p:sp>
        <p:nvSpPr>
          <p:cNvPr id="11" name="Text 9"/>
          <p:cNvSpPr txBox="1"/>
          <p:nvPr/>
        </p:nvSpPr>
        <p:spPr>
          <a:xfrm>
            <a:off x="658368"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12" name="Shape 10"/>
          <p:cNvSpPr/>
          <p:nvPr/>
        </p:nvSpPr>
        <p:spPr>
          <a:xfrm>
            <a:off x="3813048" y="1909246"/>
            <a:ext cx="822960" cy="105898"/>
          </a:xfrm>
          <a:prstGeom prst="rect">
            <a:avLst/>
          </a:prstGeom>
          <a:solidFill>
            <a:srgbClr val="12A566"/>
          </a:solidFill>
          <a:ln/>
        </p:spPr>
      </p:sp>
      <p:sp>
        <p:nvSpPr>
          <p:cNvPr id="13" name="Text 11"/>
          <p:cNvSpPr txBox="1"/>
          <p:nvPr/>
        </p:nvSpPr>
        <p:spPr>
          <a:xfrm>
            <a:off x="4709160"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+$95</a:t>
            </a:r>
            <a:endParaRPr lang="en-US" sz="1300" dirty="0"/>
          </a:p>
        </p:txBody>
      </p:sp>
      <p:sp>
        <p:nvSpPr>
          <p:cNvPr id="14" name="Text 12"/>
          <p:cNvSpPr txBox="1"/>
          <p:nvPr/>
        </p:nvSpPr>
        <p:spPr>
          <a:xfrm>
            <a:off x="658368"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15" name="Shape 13"/>
          <p:cNvSpPr/>
          <p:nvPr/>
        </p:nvSpPr>
        <p:spPr>
          <a:xfrm>
            <a:off x="3813048" y="2139459"/>
            <a:ext cx="704180" cy="105898"/>
          </a:xfrm>
          <a:prstGeom prst="rect">
            <a:avLst/>
          </a:prstGeom>
          <a:solidFill>
            <a:srgbClr val="12A566"/>
          </a:solidFill>
          <a:ln/>
        </p:spPr>
      </p:sp>
      <p:sp>
        <p:nvSpPr>
          <p:cNvPr id="16" name="Text 14"/>
          <p:cNvSpPr txBox="1"/>
          <p:nvPr/>
        </p:nvSpPr>
        <p:spPr>
          <a:xfrm>
            <a:off x="4709160"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+$81</a:t>
            </a:r>
            <a:endParaRPr lang="en-US" sz="1300" dirty="0"/>
          </a:p>
        </p:txBody>
      </p:sp>
      <p:sp>
        <p:nvSpPr>
          <p:cNvPr id="17" name="Text 15"/>
          <p:cNvSpPr txBox="1"/>
          <p:nvPr/>
        </p:nvSpPr>
        <p:spPr>
          <a:xfrm>
            <a:off x="658368"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18" name="Shape 16"/>
          <p:cNvSpPr/>
          <p:nvPr/>
        </p:nvSpPr>
        <p:spPr>
          <a:xfrm>
            <a:off x="3813048" y="2369673"/>
            <a:ext cx="412380" cy="105898"/>
          </a:xfrm>
          <a:prstGeom prst="rect">
            <a:avLst/>
          </a:prstGeom>
          <a:solidFill>
            <a:srgbClr val="12A566"/>
          </a:solidFill>
          <a:ln/>
        </p:spPr>
      </p:sp>
      <p:sp>
        <p:nvSpPr>
          <p:cNvPr id="19" name="Text 17"/>
          <p:cNvSpPr txBox="1"/>
          <p:nvPr/>
        </p:nvSpPr>
        <p:spPr>
          <a:xfrm>
            <a:off x="4709160"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+$48</a:t>
            </a:r>
            <a:endParaRPr lang="en-US" sz="1300" dirty="0"/>
          </a:p>
        </p:txBody>
      </p:sp>
      <p:sp>
        <p:nvSpPr>
          <p:cNvPr id="20" name="Text 18"/>
          <p:cNvSpPr txBox="1"/>
          <p:nvPr/>
        </p:nvSpPr>
        <p:spPr>
          <a:xfrm>
            <a:off x="658368"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21" name="Shape 19"/>
          <p:cNvSpPr/>
          <p:nvPr/>
        </p:nvSpPr>
        <p:spPr>
          <a:xfrm>
            <a:off x="3813048" y="2599887"/>
            <a:ext cx="364173" cy="105898"/>
          </a:xfrm>
          <a:prstGeom prst="rect">
            <a:avLst/>
          </a:prstGeom>
          <a:solidFill>
            <a:srgbClr val="12A566"/>
          </a:solidFill>
          <a:ln/>
        </p:spPr>
      </p:sp>
      <p:sp>
        <p:nvSpPr>
          <p:cNvPr id="22" name="Text 20"/>
          <p:cNvSpPr txBox="1"/>
          <p:nvPr/>
        </p:nvSpPr>
        <p:spPr>
          <a:xfrm>
            <a:off x="4709160"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+$42</a:t>
            </a:r>
            <a:endParaRPr lang="en-US" sz="1300" dirty="0"/>
          </a:p>
        </p:txBody>
      </p:sp>
      <p:sp>
        <p:nvSpPr>
          <p:cNvPr id="23" name="Text 21"/>
          <p:cNvSpPr txBox="1"/>
          <p:nvPr/>
        </p:nvSpPr>
        <p:spPr>
          <a:xfrm>
            <a:off x="658368"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24" name="Shape 22"/>
          <p:cNvSpPr/>
          <p:nvPr/>
        </p:nvSpPr>
        <p:spPr>
          <a:xfrm>
            <a:off x="3813048" y="2830100"/>
            <a:ext cx="328672" cy="105898"/>
          </a:xfrm>
          <a:prstGeom prst="rect">
            <a:avLst/>
          </a:prstGeom>
          <a:solidFill>
            <a:srgbClr val="12A566"/>
          </a:solidFill>
          <a:ln/>
        </p:spPr>
      </p:sp>
      <p:sp>
        <p:nvSpPr>
          <p:cNvPr id="25" name="Text 23"/>
          <p:cNvSpPr txBox="1"/>
          <p:nvPr/>
        </p:nvSpPr>
        <p:spPr>
          <a:xfrm>
            <a:off x="4709160"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+$38</a:t>
            </a:r>
            <a:endParaRPr lang="en-US" sz="1300" dirty="0"/>
          </a:p>
        </p:txBody>
      </p:sp>
      <p:sp>
        <p:nvSpPr>
          <p:cNvPr id="26" name="Text 24"/>
          <p:cNvSpPr txBox="1"/>
          <p:nvPr/>
        </p:nvSpPr>
        <p:spPr>
          <a:xfrm>
            <a:off x="658368"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27" name="Shape 25"/>
          <p:cNvSpPr/>
          <p:nvPr/>
        </p:nvSpPr>
        <p:spPr>
          <a:xfrm>
            <a:off x="3813048" y="3060314"/>
            <a:ext cx="326883" cy="105898"/>
          </a:xfrm>
          <a:prstGeom prst="rect">
            <a:avLst/>
          </a:prstGeom>
          <a:solidFill>
            <a:srgbClr val="12A566"/>
          </a:solidFill>
          <a:ln/>
        </p:spPr>
      </p:sp>
      <p:sp>
        <p:nvSpPr>
          <p:cNvPr id="28" name="Text 26"/>
          <p:cNvSpPr txBox="1"/>
          <p:nvPr/>
        </p:nvSpPr>
        <p:spPr>
          <a:xfrm>
            <a:off x="4709160"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+$38</a:t>
            </a:r>
            <a:endParaRPr lang="en-US" sz="1300" dirty="0"/>
          </a:p>
        </p:txBody>
      </p:sp>
      <p:sp>
        <p:nvSpPr>
          <p:cNvPr id="29" name="Text 27"/>
          <p:cNvSpPr txBox="1"/>
          <p:nvPr/>
        </p:nvSpPr>
        <p:spPr>
          <a:xfrm>
            <a:off x="658368"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30" name="Shape 28"/>
          <p:cNvSpPr/>
          <p:nvPr/>
        </p:nvSpPr>
        <p:spPr>
          <a:xfrm>
            <a:off x="3813048" y="3290528"/>
            <a:ext cx="289830" cy="105898"/>
          </a:xfrm>
          <a:prstGeom prst="rect">
            <a:avLst/>
          </a:prstGeom>
          <a:solidFill>
            <a:srgbClr val="12A566"/>
          </a:solidFill>
          <a:ln/>
        </p:spPr>
      </p:sp>
      <p:sp>
        <p:nvSpPr>
          <p:cNvPr id="31" name="Text 29"/>
          <p:cNvSpPr txBox="1"/>
          <p:nvPr/>
        </p:nvSpPr>
        <p:spPr>
          <a:xfrm>
            <a:off x="4709160" y="3228370"/>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+$34</a:t>
            </a:r>
            <a:endParaRPr lang="en-US" sz="1300" dirty="0"/>
          </a:p>
        </p:txBody>
      </p:sp>
      <p:sp>
        <p:nvSpPr>
          <p:cNvPr id="32" name="Text 30"/>
          <p:cNvSpPr txBox="1"/>
          <p:nvPr/>
        </p:nvSpPr>
        <p:spPr>
          <a:xfrm>
            <a:off x="658368"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33" name="Shape 31"/>
          <p:cNvSpPr/>
          <p:nvPr/>
        </p:nvSpPr>
        <p:spPr>
          <a:xfrm>
            <a:off x="3813048" y="3520741"/>
            <a:ext cx="251538" cy="105898"/>
          </a:xfrm>
          <a:prstGeom prst="rect">
            <a:avLst/>
          </a:prstGeom>
          <a:solidFill>
            <a:srgbClr val="12A566"/>
          </a:solidFill>
          <a:ln/>
        </p:spPr>
      </p:sp>
      <p:sp>
        <p:nvSpPr>
          <p:cNvPr id="34" name="Text 32"/>
          <p:cNvSpPr txBox="1"/>
          <p:nvPr/>
        </p:nvSpPr>
        <p:spPr>
          <a:xfrm>
            <a:off x="4709160" y="345858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+$29</a:t>
            </a:r>
            <a:endParaRPr lang="en-US" sz="1300" dirty="0"/>
          </a:p>
        </p:txBody>
      </p:sp>
      <p:sp>
        <p:nvSpPr>
          <p:cNvPr id="35" name="Text 33"/>
          <p:cNvSpPr txBox="1"/>
          <p:nvPr/>
        </p:nvSpPr>
        <p:spPr>
          <a:xfrm>
            <a:off x="658368"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36" name="Shape 34"/>
          <p:cNvSpPr/>
          <p:nvPr/>
        </p:nvSpPr>
        <p:spPr>
          <a:xfrm>
            <a:off x="3813048" y="3750955"/>
            <a:ext cx="242386" cy="105898"/>
          </a:xfrm>
          <a:prstGeom prst="rect">
            <a:avLst/>
          </a:prstGeom>
          <a:solidFill>
            <a:srgbClr val="12A566"/>
          </a:solidFill>
          <a:ln/>
        </p:spPr>
      </p:sp>
      <p:sp>
        <p:nvSpPr>
          <p:cNvPr id="37" name="Text 35"/>
          <p:cNvSpPr txBox="1"/>
          <p:nvPr/>
        </p:nvSpPr>
        <p:spPr>
          <a:xfrm>
            <a:off x="4709160" y="3688797"/>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+$28</a:t>
            </a:r>
            <a:endParaRPr lang="en-US" sz="1300" dirty="0"/>
          </a:p>
        </p:txBody>
      </p:sp>
      <p:sp>
        <p:nvSpPr>
          <p:cNvPr id="38" name="Text 36"/>
          <p:cNvSpPr txBox="1"/>
          <p:nvPr/>
        </p:nvSpPr>
        <p:spPr>
          <a:xfrm>
            <a:off x="658368"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39" name="Shape 37"/>
          <p:cNvSpPr/>
          <p:nvPr/>
        </p:nvSpPr>
        <p:spPr>
          <a:xfrm>
            <a:off x="3813048" y="3981169"/>
            <a:ext cx="237273" cy="105898"/>
          </a:xfrm>
          <a:prstGeom prst="rect">
            <a:avLst/>
          </a:prstGeom>
          <a:solidFill>
            <a:srgbClr val="12A566"/>
          </a:solidFill>
          <a:ln/>
        </p:spPr>
      </p:sp>
      <p:sp>
        <p:nvSpPr>
          <p:cNvPr id="40" name="Text 38"/>
          <p:cNvSpPr txBox="1"/>
          <p:nvPr/>
        </p:nvSpPr>
        <p:spPr>
          <a:xfrm>
            <a:off x="4709160" y="3919011"/>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+$27</a:t>
            </a:r>
            <a:endParaRPr lang="en-US" sz="1300" dirty="0"/>
          </a:p>
        </p:txBody>
      </p:sp>
      <p:sp>
        <p:nvSpPr>
          <p:cNvPr id="41" name="Text 39"/>
          <p:cNvSpPr txBox="1"/>
          <p:nvPr/>
        </p:nvSpPr>
        <p:spPr>
          <a:xfrm>
            <a:off x="658368"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42" name="Shape 40"/>
          <p:cNvSpPr/>
          <p:nvPr/>
        </p:nvSpPr>
        <p:spPr>
          <a:xfrm>
            <a:off x="3813048" y="4211382"/>
            <a:ext cx="217160" cy="105898"/>
          </a:xfrm>
          <a:prstGeom prst="rect">
            <a:avLst/>
          </a:prstGeom>
          <a:solidFill>
            <a:srgbClr val="12A566"/>
          </a:solidFill>
          <a:ln/>
        </p:spPr>
      </p:sp>
      <p:sp>
        <p:nvSpPr>
          <p:cNvPr id="43" name="Text 41"/>
          <p:cNvSpPr txBox="1"/>
          <p:nvPr/>
        </p:nvSpPr>
        <p:spPr>
          <a:xfrm>
            <a:off x="4709160" y="414922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+$25</a:t>
            </a:r>
            <a:endParaRPr lang="en-US" sz="1300" dirty="0"/>
          </a:p>
        </p:txBody>
      </p:sp>
      <p:sp>
        <p:nvSpPr>
          <p:cNvPr id="44" name="Text 42"/>
          <p:cNvSpPr txBox="1"/>
          <p:nvPr/>
        </p:nvSpPr>
        <p:spPr>
          <a:xfrm>
            <a:off x="658368"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45" name="Shape 43"/>
          <p:cNvSpPr/>
          <p:nvPr/>
        </p:nvSpPr>
        <p:spPr>
          <a:xfrm>
            <a:off x="3813048" y="4441596"/>
            <a:ext cx="216266" cy="105898"/>
          </a:xfrm>
          <a:prstGeom prst="rect">
            <a:avLst/>
          </a:prstGeom>
          <a:solidFill>
            <a:srgbClr val="12A566"/>
          </a:solidFill>
          <a:ln/>
        </p:spPr>
      </p:sp>
      <p:sp>
        <p:nvSpPr>
          <p:cNvPr id="46" name="Text 44"/>
          <p:cNvSpPr txBox="1"/>
          <p:nvPr/>
        </p:nvSpPr>
        <p:spPr>
          <a:xfrm>
            <a:off x="4709160" y="437943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+$25</a:t>
            </a:r>
            <a:endParaRPr lang="en-US" sz="1300" dirty="0"/>
          </a:p>
        </p:txBody>
      </p:sp>
      <p:sp>
        <p:nvSpPr>
          <p:cNvPr id="47" name="Text 45"/>
          <p:cNvSpPr txBox="1"/>
          <p:nvPr/>
        </p:nvSpPr>
        <p:spPr>
          <a:xfrm>
            <a:off x="658368"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48" name="Shape 46"/>
          <p:cNvSpPr/>
          <p:nvPr/>
        </p:nvSpPr>
        <p:spPr>
          <a:xfrm>
            <a:off x="3813048" y="4671809"/>
            <a:ext cx="179579" cy="105898"/>
          </a:xfrm>
          <a:prstGeom prst="rect">
            <a:avLst/>
          </a:prstGeom>
          <a:solidFill>
            <a:srgbClr val="12A566"/>
          </a:solidFill>
          <a:ln/>
        </p:spPr>
      </p:sp>
      <p:sp>
        <p:nvSpPr>
          <p:cNvPr id="49" name="Text 47"/>
          <p:cNvSpPr txBox="1"/>
          <p:nvPr/>
        </p:nvSpPr>
        <p:spPr>
          <a:xfrm>
            <a:off x="4709160" y="460965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+$21</a:t>
            </a:r>
            <a:endParaRPr lang="en-US" sz="1300" dirty="0"/>
          </a:p>
        </p:txBody>
      </p:sp>
      <p:sp>
        <p:nvSpPr>
          <p:cNvPr id="50" name="Text 48"/>
          <p:cNvSpPr txBox="1"/>
          <p:nvPr/>
        </p:nvSpPr>
        <p:spPr>
          <a:xfrm>
            <a:off x="658368"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51" name="Shape 49"/>
          <p:cNvSpPr/>
          <p:nvPr/>
        </p:nvSpPr>
        <p:spPr>
          <a:xfrm>
            <a:off x="3813048" y="4902023"/>
            <a:ext cx="163774" cy="105898"/>
          </a:xfrm>
          <a:prstGeom prst="rect">
            <a:avLst/>
          </a:prstGeom>
          <a:solidFill>
            <a:srgbClr val="12A566"/>
          </a:solidFill>
          <a:ln/>
        </p:spPr>
      </p:sp>
      <p:sp>
        <p:nvSpPr>
          <p:cNvPr id="52" name="Text 50"/>
          <p:cNvSpPr txBox="1"/>
          <p:nvPr/>
        </p:nvSpPr>
        <p:spPr>
          <a:xfrm>
            <a:off x="4709160" y="483986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+$19</a:t>
            </a:r>
            <a:endParaRPr lang="en-US" sz="1300" dirty="0"/>
          </a:p>
        </p:txBody>
      </p:sp>
      <p:sp>
        <p:nvSpPr>
          <p:cNvPr id="53" name="Text 51"/>
          <p:cNvSpPr txBox="1"/>
          <p:nvPr/>
        </p:nvSpPr>
        <p:spPr>
          <a:xfrm>
            <a:off x="658368"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54" name="Shape 52"/>
          <p:cNvSpPr/>
          <p:nvPr/>
        </p:nvSpPr>
        <p:spPr>
          <a:xfrm>
            <a:off x="3813048" y="5132237"/>
            <a:ext cx="124893" cy="105898"/>
          </a:xfrm>
          <a:prstGeom prst="rect">
            <a:avLst/>
          </a:prstGeom>
          <a:solidFill>
            <a:srgbClr val="12A566"/>
          </a:solidFill>
          <a:ln/>
        </p:spPr>
      </p:sp>
      <p:sp>
        <p:nvSpPr>
          <p:cNvPr id="55" name="Text 53"/>
          <p:cNvSpPr txBox="1"/>
          <p:nvPr/>
        </p:nvSpPr>
        <p:spPr>
          <a:xfrm>
            <a:off x="4709160" y="507007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+$14</a:t>
            </a:r>
            <a:endParaRPr lang="en-US" sz="1300" dirty="0"/>
          </a:p>
        </p:txBody>
      </p:sp>
      <p:sp>
        <p:nvSpPr>
          <p:cNvPr id="56" name="Text 54"/>
          <p:cNvSpPr txBox="1"/>
          <p:nvPr/>
        </p:nvSpPr>
        <p:spPr>
          <a:xfrm>
            <a:off x="658368"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57" name="Shape 55"/>
          <p:cNvSpPr/>
          <p:nvPr/>
        </p:nvSpPr>
        <p:spPr>
          <a:xfrm>
            <a:off x="3813048" y="5362450"/>
            <a:ext cx="122390" cy="105898"/>
          </a:xfrm>
          <a:prstGeom prst="rect">
            <a:avLst/>
          </a:prstGeom>
          <a:solidFill>
            <a:srgbClr val="12A566"/>
          </a:solidFill>
          <a:ln/>
        </p:spPr>
      </p:sp>
      <p:sp>
        <p:nvSpPr>
          <p:cNvPr id="58" name="Text 56"/>
          <p:cNvSpPr txBox="1"/>
          <p:nvPr/>
        </p:nvSpPr>
        <p:spPr>
          <a:xfrm>
            <a:off x="4709160" y="530029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+$14</a:t>
            </a:r>
            <a:endParaRPr lang="en-US" sz="1300" dirty="0"/>
          </a:p>
        </p:txBody>
      </p:sp>
      <p:sp>
        <p:nvSpPr>
          <p:cNvPr id="59" name="Text 57"/>
          <p:cNvSpPr txBox="1"/>
          <p:nvPr/>
        </p:nvSpPr>
        <p:spPr>
          <a:xfrm>
            <a:off x="658368" y="553050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60" name="Shape 58"/>
          <p:cNvSpPr/>
          <p:nvPr/>
        </p:nvSpPr>
        <p:spPr>
          <a:xfrm>
            <a:off x="3813048" y="5592664"/>
            <a:ext cx="107609" cy="105898"/>
          </a:xfrm>
          <a:prstGeom prst="rect">
            <a:avLst/>
          </a:prstGeom>
          <a:solidFill>
            <a:srgbClr val="12A566"/>
          </a:solidFill>
          <a:ln/>
        </p:spPr>
      </p:sp>
      <p:sp>
        <p:nvSpPr>
          <p:cNvPr id="61" name="Text 59"/>
          <p:cNvSpPr txBox="1"/>
          <p:nvPr/>
        </p:nvSpPr>
        <p:spPr>
          <a:xfrm>
            <a:off x="4709160" y="553050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+$12</a:t>
            </a:r>
            <a:endParaRPr lang="en-US" sz="1300" dirty="0"/>
          </a:p>
        </p:txBody>
      </p:sp>
      <p:sp>
        <p:nvSpPr>
          <p:cNvPr id="62" name="Text 60"/>
          <p:cNvSpPr txBox="1"/>
          <p:nvPr/>
        </p:nvSpPr>
        <p:spPr>
          <a:xfrm>
            <a:off x="6208776"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63" name="Shape 61"/>
          <p:cNvSpPr/>
          <p:nvPr/>
        </p:nvSpPr>
        <p:spPr>
          <a:xfrm>
            <a:off x="9363456" y="1909246"/>
            <a:ext cx="104823" cy="105898"/>
          </a:xfrm>
          <a:prstGeom prst="rect">
            <a:avLst/>
          </a:prstGeom>
          <a:solidFill>
            <a:srgbClr val="12A566"/>
          </a:solidFill>
          <a:ln/>
        </p:spPr>
      </p:sp>
      <p:sp>
        <p:nvSpPr>
          <p:cNvPr id="64" name="Text 62"/>
          <p:cNvSpPr txBox="1"/>
          <p:nvPr/>
        </p:nvSpPr>
        <p:spPr>
          <a:xfrm>
            <a:off x="10259568"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+$12</a:t>
            </a:r>
            <a:endParaRPr lang="en-US" sz="1300" dirty="0"/>
          </a:p>
        </p:txBody>
      </p:sp>
      <p:sp>
        <p:nvSpPr>
          <p:cNvPr id="65" name="Text 63"/>
          <p:cNvSpPr txBox="1"/>
          <p:nvPr/>
        </p:nvSpPr>
        <p:spPr>
          <a:xfrm>
            <a:off x="6208776"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66" name="Shape 64"/>
          <p:cNvSpPr/>
          <p:nvPr/>
        </p:nvSpPr>
        <p:spPr>
          <a:xfrm>
            <a:off x="9363456" y="2139459"/>
            <a:ext cx="99347" cy="105898"/>
          </a:xfrm>
          <a:prstGeom prst="rect">
            <a:avLst/>
          </a:prstGeom>
          <a:solidFill>
            <a:srgbClr val="12A566"/>
          </a:solidFill>
          <a:ln/>
        </p:spPr>
      </p:sp>
      <p:sp>
        <p:nvSpPr>
          <p:cNvPr id="67" name="Text 65"/>
          <p:cNvSpPr txBox="1"/>
          <p:nvPr/>
        </p:nvSpPr>
        <p:spPr>
          <a:xfrm>
            <a:off x="10259568"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+$11</a:t>
            </a:r>
            <a:endParaRPr lang="en-US" sz="1300" dirty="0"/>
          </a:p>
        </p:txBody>
      </p:sp>
      <p:sp>
        <p:nvSpPr>
          <p:cNvPr id="68" name="Text 66"/>
          <p:cNvSpPr txBox="1"/>
          <p:nvPr/>
        </p:nvSpPr>
        <p:spPr>
          <a:xfrm>
            <a:off x="6208776"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69" name="Shape 67"/>
          <p:cNvSpPr/>
          <p:nvPr/>
        </p:nvSpPr>
        <p:spPr>
          <a:xfrm>
            <a:off x="9363456" y="2369673"/>
            <a:ext cx="95826" cy="105898"/>
          </a:xfrm>
          <a:prstGeom prst="rect">
            <a:avLst/>
          </a:prstGeom>
          <a:solidFill>
            <a:srgbClr val="12A566"/>
          </a:solidFill>
          <a:ln/>
        </p:spPr>
      </p:sp>
      <p:sp>
        <p:nvSpPr>
          <p:cNvPr id="70" name="Text 68"/>
          <p:cNvSpPr txBox="1"/>
          <p:nvPr/>
        </p:nvSpPr>
        <p:spPr>
          <a:xfrm>
            <a:off x="10259568"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+$11</a:t>
            </a:r>
            <a:endParaRPr lang="en-US" sz="1300" dirty="0"/>
          </a:p>
        </p:txBody>
      </p:sp>
      <p:sp>
        <p:nvSpPr>
          <p:cNvPr id="71" name="Text 69"/>
          <p:cNvSpPr txBox="1"/>
          <p:nvPr/>
        </p:nvSpPr>
        <p:spPr>
          <a:xfrm>
            <a:off x="6208776"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72" name="Shape 70"/>
          <p:cNvSpPr/>
          <p:nvPr/>
        </p:nvSpPr>
        <p:spPr>
          <a:xfrm>
            <a:off x="9363456" y="2599887"/>
            <a:ext cx="79130" cy="105898"/>
          </a:xfrm>
          <a:prstGeom prst="rect">
            <a:avLst/>
          </a:prstGeom>
          <a:solidFill>
            <a:srgbClr val="12A566"/>
          </a:solidFill>
          <a:ln/>
        </p:spPr>
      </p:sp>
      <p:sp>
        <p:nvSpPr>
          <p:cNvPr id="73" name="Text 71"/>
          <p:cNvSpPr txBox="1"/>
          <p:nvPr/>
        </p:nvSpPr>
        <p:spPr>
          <a:xfrm>
            <a:off x="10259568"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a:t>
            </a:r>
            <a:endParaRPr lang="en-US" sz="1300" dirty="0"/>
          </a:p>
        </p:txBody>
      </p:sp>
      <p:sp>
        <p:nvSpPr>
          <p:cNvPr id="74" name="Text 72"/>
          <p:cNvSpPr txBox="1"/>
          <p:nvPr/>
        </p:nvSpPr>
        <p:spPr>
          <a:xfrm>
            <a:off x="6208776"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75" name="Shape 73"/>
          <p:cNvSpPr/>
          <p:nvPr/>
        </p:nvSpPr>
        <p:spPr>
          <a:xfrm>
            <a:off x="9363456" y="2830100"/>
            <a:ext cx="72135" cy="105898"/>
          </a:xfrm>
          <a:prstGeom prst="rect">
            <a:avLst/>
          </a:prstGeom>
          <a:solidFill>
            <a:srgbClr val="12A566"/>
          </a:solidFill>
          <a:ln/>
        </p:spPr>
      </p:sp>
      <p:sp>
        <p:nvSpPr>
          <p:cNvPr id="76" name="Text 74"/>
          <p:cNvSpPr txBox="1"/>
          <p:nvPr/>
        </p:nvSpPr>
        <p:spPr>
          <a:xfrm>
            <a:off x="10259568"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a:t>
            </a:r>
            <a:endParaRPr lang="en-US" sz="1300" dirty="0"/>
          </a:p>
        </p:txBody>
      </p:sp>
      <p:sp>
        <p:nvSpPr>
          <p:cNvPr id="77" name="Text 75"/>
          <p:cNvSpPr txBox="1"/>
          <p:nvPr/>
        </p:nvSpPr>
        <p:spPr>
          <a:xfrm>
            <a:off x="6208776"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78" name="Shape 76"/>
          <p:cNvSpPr/>
          <p:nvPr/>
        </p:nvSpPr>
        <p:spPr>
          <a:xfrm>
            <a:off x="9363456" y="3060314"/>
            <a:ext cx="27013" cy="105898"/>
          </a:xfrm>
          <a:prstGeom prst="rect">
            <a:avLst/>
          </a:prstGeom>
          <a:solidFill>
            <a:srgbClr val="12A566"/>
          </a:solidFill>
          <a:ln/>
        </p:spPr>
      </p:sp>
      <p:sp>
        <p:nvSpPr>
          <p:cNvPr id="79" name="Text 77"/>
          <p:cNvSpPr txBox="1"/>
          <p:nvPr/>
        </p:nvSpPr>
        <p:spPr>
          <a:xfrm>
            <a:off x="10259568"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a:t>
            </a:r>
            <a:endParaRPr lang="en-US" sz="1300" dirty="0"/>
          </a:p>
        </p:txBody>
      </p:sp>
      <p:sp>
        <p:nvSpPr>
          <p:cNvPr id="80" name="Text 78"/>
          <p:cNvSpPr txBox="1"/>
          <p:nvPr/>
        </p:nvSpPr>
        <p:spPr>
          <a:xfrm>
            <a:off x="6208776"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81" name="Shape 79"/>
          <p:cNvSpPr/>
          <p:nvPr/>
        </p:nvSpPr>
        <p:spPr>
          <a:xfrm>
            <a:off x="9363456" y="3290528"/>
            <a:ext cx="22491" cy="105898"/>
          </a:xfrm>
          <a:prstGeom prst="rect">
            <a:avLst/>
          </a:prstGeom>
          <a:solidFill>
            <a:srgbClr val="12A566"/>
          </a:solidFill>
          <a:ln/>
        </p:spPr>
      </p:sp>
      <p:sp>
        <p:nvSpPr>
          <p:cNvPr id="82" name="Text 80"/>
          <p:cNvSpPr txBox="1"/>
          <p:nvPr/>
        </p:nvSpPr>
        <p:spPr>
          <a:xfrm>
            <a:off x="10259568" y="3228370"/>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a:t>
            </a:r>
            <a:endParaRPr lang="en-US" sz="1300" dirty="0"/>
          </a:p>
        </p:txBody>
      </p:sp>
      <p:sp>
        <p:nvSpPr>
          <p:cNvPr id="83" name="Text 81"/>
          <p:cNvSpPr txBox="1"/>
          <p:nvPr/>
        </p:nvSpPr>
        <p:spPr>
          <a:xfrm>
            <a:off x="6208776"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84" name="Shape 82"/>
          <p:cNvSpPr/>
          <p:nvPr/>
        </p:nvSpPr>
        <p:spPr>
          <a:xfrm>
            <a:off x="9358459" y="3520741"/>
            <a:ext cx="12802" cy="105898"/>
          </a:xfrm>
          <a:prstGeom prst="rect">
            <a:avLst/>
          </a:prstGeom>
          <a:solidFill>
            <a:srgbClr val="C2352F"/>
          </a:solidFill>
          <a:ln/>
        </p:spPr>
      </p:sp>
      <p:sp>
        <p:nvSpPr>
          <p:cNvPr id="85" name="Text 83"/>
          <p:cNvSpPr txBox="1"/>
          <p:nvPr/>
        </p:nvSpPr>
        <p:spPr>
          <a:xfrm>
            <a:off x="10259568" y="345858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a:t>
            </a:r>
            <a:endParaRPr lang="en-US" sz="1300" dirty="0"/>
          </a:p>
        </p:txBody>
      </p:sp>
      <p:sp>
        <p:nvSpPr>
          <p:cNvPr id="86" name="Text 84"/>
          <p:cNvSpPr txBox="1"/>
          <p:nvPr/>
        </p:nvSpPr>
        <p:spPr>
          <a:xfrm>
            <a:off x="6208776"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87" name="Shape 85"/>
          <p:cNvSpPr/>
          <p:nvPr/>
        </p:nvSpPr>
        <p:spPr>
          <a:xfrm>
            <a:off x="9354218" y="3750955"/>
            <a:ext cx="12802" cy="105898"/>
          </a:xfrm>
          <a:prstGeom prst="rect">
            <a:avLst/>
          </a:prstGeom>
          <a:solidFill>
            <a:srgbClr val="C2352F"/>
          </a:solidFill>
          <a:ln/>
        </p:spPr>
      </p:sp>
      <p:sp>
        <p:nvSpPr>
          <p:cNvPr id="88" name="Text 86"/>
          <p:cNvSpPr txBox="1"/>
          <p:nvPr/>
        </p:nvSpPr>
        <p:spPr>
          <a:xfrm>
            <a:off x="10259568" y="3688797"/>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a:t>
            </a:r>
            <a:endParaRPr lang="en-US" sz="1300" dirty="0"/>
          </a:p>
        </p:txBody>
      </p:sp>
      <p:sp>
        <p:nvSpPr>
          <p:cNvPr id="89" name="Text 87"/>
          <p:cNvSpPr txBox="1"/>
          <p:nvPr/>
        </p:nvSpPr>
        <p:spPr>
          <a:xfrm>
            <a:off x="6208776"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90" name="Shape 88"/>
          <p:cNvSpPr/>
          <p:nvPr/>
        </p:nvSpPr>
        <p:spPr>
          <a:xfrm>
            <a:off x="9344972" y="3981169"/>
            <a:ext cx="18484" cy="105898"/>
          </a:xfrm>
          <a:prstGeom prst="rect">
            <a:avLst/>
          </a:prstGeom>
          <a:solidFill>
            <a:srgbClr val="C2352F"/>
          </a:solidFill>
          <a:ln/>
        </p:spPr>
      </p:sp>
      <p:sp>
        <p:nvSpPr>
          <p:cNvPr id="91" name="Text 89"/>
          <p:cNvSpPr txBox="1"/>
          <p:nvPr/>
        </p:nvSpPr>
        <p:spPr>
          <a:xfrm>
            <a:off x="10259568" y="3919011"/>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a:t>
            </a:r>
            <a:endParaRPr lang="en-US" sz="1300" dirty="0"/>
          </a:p>
        </p:txBody>
      </p:sp>
      <p:sp>
        <p:nvSpPr>
          <p:cNvPr id="92" name="Text 90"/>
          <p:cNvSpPr txBox="1"/>
          <p:nvPr/>
        </p:nvSpPr>
        <p:spPr>
          <a:xfrm>
            <a:off x="6208776"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93" name="Shape 91"/>
          <p:cNvSpPr/>
          <p:nvPr/>
        </p:nvSpPr>
        <p:spPr>
          <a:xfrm>
            <a:off x="9304530" y="4211382"/>
            <a:ext cx="58926" cy="105898"/>
          </a:xfrm>
          <a:prstGeom prst="rect">
            <a:avLst/>
          </a:prstGeom>
          <a:solidFill>
            <a:srgbClr val="C2352F"/>
          </a:solidFill>
          <a:ln/>
        </p:spPr>
      </p:sp>
      <p:sp>
        <p:nvSpPr>
          <p:cNvPr id="94" name="Text 92"/>
          <p:cNvSpPr txBox="1"/>
          <p:nvPr/>
        </p:nvSpPr>
        <p:spPr>
          <a:xfrm>
            <a:off x="10259568" y="414922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a:t>
            </a:r>
            <a:endParaRPr lang="en-US" sz="1300" dirty="0"/>
          </a:p>
        </p:txBody>
      </p:sp>
      <p:sp>
        <p:nvSpPr>
          <p:cNvPr id="95" name="Text 93"/>
          <p:cNvSpPr txBox="1"/>
          <p:nvPr/>
        </p:nvSpPr>
        <p:spPr>
          <a:xfrm>
            <a:off x="6208776"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96" name="Shape 94"/>
          <p:cNvSpPr/>
          <p:nvPr/>
        </p:nvSpPr>
        <p:spPr>
          <a:xfrm>
            <a:off x="9294223" y="4441596"/>
            <a:ext cx="69233" cy="105898"/>
          </a:xfrm>
          <a:prstGeom prst="rect">
            <a:avLst/>
          </a:prstGeom>
          <a:solidFill>
            <a:srgbClr val="C2352F"/>
          </a:solidFill>
          <a:ln/>
        </p:spPr>
      </p:sp>
      <p:sp>
        <p:nvSpPr>
          <p:cNvPr id="97" name="Text 95"/>
          <p:cNvSpPr txBox="1"/>
          <p:nvPr/>
        </p:nvSpPr>
        <p:spPr>
          <a:xfrm>
            <a:off x="10259568" y="4379438"/>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−$8</a:t>
            </a:r>
            <a:endParaRPr lang="en-US" sz="1300" dirty="0"/>
          </a:p>
        </p:txBody>
      </p:sp>
      <p:sp>
        <p:nvSpPr>
          <p:cNvPr id="98" name="Text 96"/>
          <p:cNvSpPr txBox="1"/>
          <p:nvPr/>
        </p:nvSpPr>
        <p:spPr>
          <a:xfrm>
            <a:off x="6208776"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99" name="Shape 97"/>
          <p:cNvSpPr/>
          <p:nvPr/>
        </p:nvSpPr>
        <p:spPr>
          <a:xfrm>
            <a:off x="9275310" y="4671809"/>
            <a:ext cx="88146" cy="105898"/>
          </a:xfrm>
          <a:prstGeom prst="rect">
            <a:avLst/>
          </a:prstGeom>
          <a:solidFill>
            <a:srgbClr val="C2352F"/>
          </a:solidFill>
          <a:ln/>
        </p:spPr>
      </p:sp>
      <p:sp>
        <p:nvSpPr>
          <p:cNvPr id="100" name="Text 98"/>
          <p:cNvSpPr txBox="1"/>
          <p:nvPr/>
        </p:nvSpPr>
        <p:spPr>
          <a:xfrm>
            <a:off x="10259568" y="4609652"/>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−$10</a:t>
            </a:r>
            <a:endParaRPr lang="en-US" sz="1300" dirty="0"/>
          </a:p>
        </p:txBody>
      </p:sp>
      <p:sp>
        <p:nvSpPr>
          <p:cNvPr id="101" name="Text 99"/>
          <p:cNvSpPr txBox="1"/>
          <p:nvPr/>
        </p:nvSpPr>
        <p:spPr>
          <a:xfrm>
            <a:off x="6208776"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102" name="Shape 100"/>
          <p:cNvSpPr/>
          <p:nvPr/>
        </p:nvSpPr>
        <p:spPr>
          <a:xfrm>
            <a:off x="9066642" y="4902023"/>
            <a:ext cx="296814" cy="105898"/>
          </a:xfrm>
          <a:prstGeom prst="rect">
            <a:avLst/>
          </a:prstGeom>
          <a:solidFill>
            <a:srgbClr val="C2352F"/>
          </a:solidFill>
          <a:ln/>
        </p:spPr>
      </p:sp>
      <p:sp>
        <p:nvSpPr>
          <p:cNvPr id="103" name="Text 101"/>
          <p:cNvSpPr txBox="1"/>
          <p:nvPr/>
        </p:nvSpPr>
        <p:spPr>
          <a:xfrm>
            <a:off x="10259568" y="4839865"/>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−$34</a:t>
            </a:r>
            <a:endParaRPr lang="en-US" sz="1300" dirty="0"/>
          </a:p>
        </p:txBody>
      </p:sp>
      <p:sp>
        <p:nvSpPr>
          <p:cNvPr id="104" name="Text 102"/>
          <p:cNvSpPr txBox="1"/>
          <p:nvPr/>
        </p:nvSpPr>
        <p:spPr>
          <a:xfrm>
            <a:off x="6208776"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105" name="Shape 103"/>
          <p:cNvSpPr/>
          <p:nvPr/>
        </p:nvSpPr>
        <p:spPr>
          <a:xfrm>
            <a:off x="8894653" y="5132237"/>
            <a:ext cx="468803" cy="105898"/>
          </a:xfrm>
          <a:prstGeom prst="rect">
            <a:avLst/>
          </a:prstGeom>
          <a:solidFill>
            <a:srgbClr val="C2352F"/>
          </a:solidFill>
          <a:ln/>
        </p:spPr>
      </p:sp>
      <p:sp>
        <p:nvSpPr>
          <p:cNvPr id="106" name="Text 104"/>
          <p:cNvSpPr txBox="1"/>
          <p:nvPr/>
        </p:nvSpPr>
        <p:spPr>
          <a:xfrm>
            <a:off x="10259568" y="5070079"/>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−$54</a:t>
            </a:r>
            <a:endParaRPr lang="en-US" sz="1300" dirty="0"/>
          </a:p>
        </p:txBody>
      </p:sp>
      <p:sp>
        <p:nvSpPr>
          <p:cNvPr id="107" name="Text 105"/>
          <p:cNvSpPr txBox="1"/>
          <p:nvPr/>
        </p:nvSpPr>
        <p:spPr>
          <a:xfrm>
            <a:off x="6208776"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108" name="Shape 106"/>
          <p:cNvSpPr/>
          <p:nvPr/>
        </p:nvSpPr>
        <p:spPr>
          <a:xfrm>
            <a:off x="8824186" y="5362450"/>
            <a:ext cx="539270" cy="105898"/>
          </a:xfrm>
          <a:prstGeom prst="rect">
            <a:avLst/>
          </a:prstGeom>
          <a:solidFill>
            <a:srgbClr val="C2352F"/>
          </a:solidFill>
          <a:ln/>
        </p:spPr>
      </p:sp>
      <p:sp>
        <p:nvSpPr>
          <p:cNvPr id="109" name="Text 107"/>
          <p:cNvSpPr txBox="1"/>
          <p:nvPr/>
        </p:nvSpPr>
        <p:spPr>
          <a:xfrm>
            <a:off x="10259568" y="530029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−$62</a:t>
            </a:r>
            <a:endParaRPr lang="en-US" sz="1300" dirty="0"/>
          </a:p>
        </p:txBody>
      </p:sp>
      <p:sp>
        <p:nvSpPr>
          <p:cNvPr id="110" name="Shape 108"/>
          <p:cNvSpPr/>
          <p:nvPr/>
        </p:nvSpPr>
        <p:spPr>
          <a:xfrm>
            <a:off x="3807562" y="1847088"/>
            <a:ext cx="10973" cy="3913632"/>
          </a:xfrm>
          <a:prstGeom prst="rect">
            <a:avLst/>
          </a:prstGeom>
          <a:solidFill>
            <a:srgbClr val="9AA3AD"/>
          </a:solidFill>
          <a:ln/>
        </p:spPr>
      </p:sp>
      <p:sp>
        <p:nvSpPr>
          <p:cNvPr id="111" name="Shape 109"/>
          <p:cNvSpPr/>
          <p:nvPr/>
        </p:nvSpPr>
        <p:spPr>
          <a:xfrm>
            <a:off x="9357970" y="1847088"/>
            <a:ext cx="10973" cy="3913632"/>
          </a:xfrm>
          <a:prstGeom prst="rect">
            <a:avLst/>
          </a:prstGeom>
          <a:solidFill>
            <a:srgbClr val="9AA3AD"/>
          </a:solidFill>
          <a:ln/>
        </p:spPr>
      </p:sp>
      <p:sp>
        <p:nvSpPr>
          <p:cNvPr id="112" name="Shape 110"/>
          <p:cNvSpPr/>
          <p:nvPr/>
        </p:nvSpPr>
        <p:spPr>
          <a:xfrm>
            <a:off x="457200" y="5961888"/>
            <a:ext cx="11274552" cy="548640"/>
          </a:xfrm>
          <a:prstGeom prst="rect">
            <a:avLst/>
          </a:prstGeom>
          <a:solidFill>
            <a:srgbClr val="E6F6EE"/>
          </a:solidFill>
          <a:ln/>
        </p:spPr>
      </p:sp>
      <p:sp>
        <p:nvSpPr>
          <p:cNvPr id="113" name="Text 111"/>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24 of 33 stores grew CP parts per RO, led by LR HENDERSON at +$95 to $926. 9 declined; LR RENO fell most at −$62.</a:t>
            </a:r>
            <a:endParaRPr lang="en-US" sz="16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Labor Gross Profit %</a:t>
            </a:r>
            <a:endParaRPr lang="en-US" sz="2800" dirty="0"/>
          </a:p>
        </p:txBody>
      </p:sp>
      <p:sp>
        <p:nvSpPr>
          <p:cNvPr id="5" name="Shape 3"/>
          <p:cNvSpPr/>
          <p:nvPr/>
        </p:nvSpPr>
        <p:spPr>
          <a:xfrm>
            <a:off x="457200" y="1207008"/>
            <a:ext cx="11274552" cy="1517904"/>
          </a:xfrm>
          <a:prstGeom prst="rect">
            <a:avLst/>
          </a:prstGeom>
          <a:solidFill>
            <a:srgbClr val="FFFFFF"/>
          </a:solidFill>
          <a:ln/>
        </p:spPr>
      </p:sp>
      <p:sp>
        <p:nvSpPr>
          <p:cNvPr id="6" name="Text 4"/>
          <p:cNvSpPr txBox="1"/>
          <p:nvPr/>
        </p:nvSpPr>
        <p:spPr>
          <a:xfrm>
            <a:off x="685800" y="1316736"/>
            <a:ext cx="10789920" cy="274320"/>
          </a:xfrm>
          <a:prstGeom prst="rect">
            <a:avLst/>
          </a:prstGeom>
          <a:noFill/>
          <a:ln/>
        </p:spPr>
        <p:txBody>
          <a:bodyPr wrap="square" lIns="0" tIns="0" rIns="0" bIns="0" rtlCol="0" anchor="ctr"/>
          <a:lstStyle/>
          <a:p>
            <a:pPr indent="0" marL="0">
              <a:buNone/>
            </a:pPr>
            <a:r>
              <a:rPr lang="en-US" sz="1400" spc="100" kern="0" dirty="0">
                <a:solidFill>
                  <a:srgbClr val="595959"/>
                </a:solidFill>
                <a:latin typeface="Inter" pitchFamily="34" charset="0"/>
                <a:ea typeface="Inter" pitchFamily="34" charset="-122"/>
                <a:cs typeface="Inter" pitchFamily="34" charset="-120"/>
              </a:rPr>
              <a:t>GROUP · JANUARY–SEPTEMBER · SAME-STORE, 33 STORES</a:t>
            </a:r>
            <a:endParaRPr lang="en-US" sz="1400" dirty="0"/>
          </a:p>
        </p:txBody>
      </p:sp>
      <p:sp>
        <p:nvSpPr>
          <p:cNvPr id="7" name="Text 5"/>
          <p:cNvSpPr txBox="1"/>
          <p:nvPr/>
        </p:nvSpPr>
        <p:spPr>
          <a:xfrm>
            <a:off x="68580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a:t>
            </a:r>
            <a:endParaRPr lang="en-US" sz="1400" dirty="0"/>
          </a:p>
        </p:txBody>
      </p:sp>
      <p:sp>
        <p:nvSpPr>
          <p:cNvPr id="8" name="Text 6"/>
          <p:cNvSpPr txBox="1"/>
          <p:nvPr/>
        </p:nvSpPr>
        <p:spPr>
          <a:xfrm>
            <a:off x="68580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80.9%</a:t>
            </a:r>
            <a:endParaRPr lang="en-US" sz="3000" dirty="0"/>
          </a:p>
        </p:txBody>
      </p:sp>
      <p:sp>
        <p:nvSpPr>
          <p:cNvPr id="9" name="Text 7"/>
          <p:cNvSpPr txBox="1"/>
          <p:nvPr/>
        </p:nvSpPr>
        <p:spPr>
          <a:xfrm>
            <a:off x="347472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a:t>
            </a:r>
            <a:endParaRPr lang="en-US" sz="1400" dirty="0"/>
          </a:p>
        </p:txBody>
      </p:sp>
      <p:sp>
        <p:nvSpPr>
          <p:cNvPr id="10" name="Text 8"/>
          <p:cNvSpPr txBox="1"/>
          <p:nvPr/>
        </p:nvSpPr>
        <p:spPr>
          <a:xfrm>
            <a:off x="347472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80.8%</a:t>
            </a:r>
            <a:endParaRPr lang="en-US" sz="3000" dirty="0"/>
          </a:p>
        </p:txBody>
      </p:sp>
      <p:sp>
        <p:nvSpPr>
          <p:cNvPr id="11" name="Text 9"/>
          <p:cNvSpPr txBox="1"/>
          <p:nvPr/>
        </p:nvSpPr>
        <p:spPr>
          <a:xfrm>
            <a:off x="626364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2" name="Text 10"/>
          <p:cNvSpPr txBox="1"/>
          <p:nvPr/>
        </p:nvSpPr>
        <p:spPr>
          <a:xfrm>
            <a:off x="6263640" y="1865376"/>
            <a:ext cx="2697480" cy="603504"/>
          </a:xfrm>
          <a:prstGeom prst="rect">
            <a:avLst/>
          </a:prstGeom>
          <a:noFill/>
          <a:ln/>
        </p:spPr>
        <p:txBody>
          <a:bodyPr wrap="square" lIns="0" tIns="0" rIns="0" bIns="0" rtlCol="0" anchor="ctr"/>
          <a:lstStyle/>
          <a:p>
            <a:pPr indent="0" marL="0">
              <a:buNone/>
            </a:pPr>
            <a:r>
              <a:rPr lang="en-US" sz="3000" b="1" dirty="0">
                <a:solidFill>
                  <a:srgbClr val="A82B26"/>
                </a:solidFill>
                <a:latin typeface="Inter" pitchFamily="34" charset="0"/>
                <a:ea typeface="Inter" pitchFamily="34" charset="-122"/>
                <a:cs typeface="Inter" pitchFamily="34" charset="-120"/>
              </a:rPr>
              <a:t>−0.1 pts</a:t>
            </a:r>
            <a:endParaRPr lang="en-US" sz="3000" dirty="0"/>
          </a:p>
        </p:txBody>
      </p:sp>
      <p:sp>
        <p:nvSpPr>
          <p:cNvPr id="13" name="Text 11"/>
          <p:cNvSpPr txBox="1"/>
          <p:nvPr/>
        </p:nvSpPr>
        <p:spPr>
          <a:xfrm>
            <a:off x="905256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4" name="Text 12"/>
          <p:cNvSpPr txBox="1"/>
          <p:nvPr/>
        </p:nvSpPr>
        <p:spPr>
          <a:xfrm>
            <a:off x="9052560" y="1865376"/>
            <a:ext cx="2697480" cy="603504"/>
          </a:xfrm>
          <a:prstGeom prst="rect">
            <a:avLst/>
          </a:prstGeom>
          <a:noFill/>
          <a:ln/>
        </p:spPr>
        <p:txBody>
          <a:bodyPr wrap="square" lIns="0" tIns="0" rIns="0" bIns="0" rtlCol="0" anchor="ctr"/>
          <a:lstStyle/>
          <a:p>
            <a:pPr indent="0" marL="0">
              <a:buNone/>
            </a:pPr>
            <a:r>
              <a:rPr lang="en-US" sz="3000" b="1" dirty="0">
                <a:solidFill>
                  <a:srgbClr val="A82B26"/>
                </a:solidFill>
                <a:latin typeface="Inter" pitchFamily="34" charset="0"/>
                <a:ea typeface="Inter" pitchFamily="34" charset="-122"/>
                <a:cs typeface="Inter" pitchFamily="34" charset="-120"/>
              </a:rPr>
              <a:t>−0.1%</a:t>
            </a:r>
            <a:endParaRPr lang="en-US" sz="30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57200" y="2816352"/>
          <a:ext cx="11274552" cy="914400"/>
        </p:xfrm>
        <a:graphic>
          <a:graphicData uri="http://schemas.openxmlformats.org/drawingml/2006/table">
            <a:tbl>
              <a:tblPr/>
              <a:tblGrid>
                <a:gridCol w="3118104"/>
                <a:gridCol w="2039112"/>
                <a:gridCol w="2039112"/>
                <a:gridCol w="2039112"/>
                <a:gridCol w="2039112"/>
              </a:tblGrid>
              <a:tr h="274320">
                <a:tc>
                  <a:txBody>
                    <a:bodyPr/>
                    <a:lstStyle/>
                    <a:p>
                      <a:pPr algn="l" indent="0" marL="0">
                        <a:buNone/>
                      </a:pPr>
                      <a:r>
                        <a:rPr lang="en-US" sz="1400" b="1" dirty="0">
                          <a:solidFill>
                            <a:srgbClr val="FFFFFF"/>
                          </a:solidFill>
                          <a:latin typeface="Inter" pitchFamily="34" charset="0"/>
                          <a:ea typeface="Inter" pitchFamily="34" charset="-122"/>
                          <a:cs typeface="Inter" pitchFamily="34" charset="-120"/>
                        </a:rPr>
                        <a:t>MONTH</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VARIANCE</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 %</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JAN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80.7%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80.9%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+0.2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FEB</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80.9%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80.7%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−0.2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−0.3%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80.9%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80.8%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−0.1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−0.2%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APR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80.8%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80.7%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−0.2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−0.2%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MAY</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80.8%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80.7%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−0.1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−0.1%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81.1%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80.8%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−0.4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−0.4%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JUL</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81.0%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80.8%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−0.2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−0.3%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AUG</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80.8%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81.0%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+0.2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SEP</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80.7%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80.7%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+0.0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16" name="Shape 13"/>
          <p:cNvSpPr/>
          <p:nvPr/>
        </p:nvSpPr>
        <p:spPr>
          <a:xfrm>
            <a:off x="457200" y="5961888"/>
            <a:ext cx="11274552" cy="548640"/>
          </a:xfrm>
          <a:prstGeom prst="rect">
            <a:avLst/>
          </a:prstGeom>
          <a:solidFill>
            <a:srgbClr val="FBEBEA"/>
          </a:solidFill>
          <a:ln/>
        </p:spPr>
      </p:sp>
      <p:sp>
        <p:nvSpPr>
          <p:cNvPr id="17" name="Text 14"/>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Down 0.1 pts to 80.8%, behind 2025 in six of nine months. Roundtable target is 78–80%.</a:t>
            </a:r>
            <a:endParaRPr lang="en-US" sz="16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Labor Gross Profit %</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38988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7" name="Shape 5"/>
          <p:cNvSpPr/>
          <p:nvPr/>
        </p:nvSpPr>
        <p:spPr>
          <a:xfrm>
            <a:off x="2971800" y="1453358"/>
            <a:ext cx="1828800" cy="126940"/>
          </a:xfrm>
          <a:prstGeom prst="rect">
            <a:avLst/>
          </a:prstGeom>
          <a:solidFill>
            <a:srgbClr val="12A566"/>
          </a:solidFill>
          <a:ln/>
        </p:spPr>
      </p:sp>
      <p:sp>
        <p:nvSpPr>
          <p:cNvPr id="8" name="Text 6"/>
          <p:cNvSpPr txBox="1"/>
          <p:nvPr/>
        </p:nvSpPr>
        <p:spPr>
          <a:xfrm>
            <a:off x="4855464" y="1389888"/>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88.6%</a:t>
            </a:r>
            <a:endParaRPr lang="en-US" sz="1300" dirty="0"/>
          </a:p>
        </p:txBody>
      </p:sp>
      <p:sp>
        <p:nvSpPr>
          <p:cNvPr id="9" name="Text 7"/>
          <p:cNvSpPr txBox="1"/>
          <p:nvPr/>
        </p:nvSpPr>
        <p:spPr>
          <a:xfrm>
            <a:off x="658368" y="164376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10" name="Shape 8"/>
          <p:cNvSpPr/>
          <p:nvPr/>
        </p:nvSpPr>
        <p:spPr>
          <a:xfrm>
            <a:off x="2971800" y="1707239"/>
            <a:ext cx="1668226" cy="126940"/>
          </a:xfrm>
          <a:prstGeom prst="rect">
            <a:avLst/>
          </a:prstGeom>
          <a:solidFill>
            <a:srgbClr val="12A566"/>
          </a:solidFill>
          <a:ln/>
        </p:spPr>
      </p:sp>
      <p:sp>
        <p:nvSpPr>
          <p:cNvPr id="11" name="Text 9"/>
          <p:cNvSpPr txBox="1"/>
          <p:nvPr/>
        </p:nvSpPr>
        <p:spPr>
          <a:xfrm>
            <a:off x="4855464" y="1643768"/>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86.1%</a:t>
            </a:r>
            <a:endParaRPr lang="en-US" sz="1300" dirty="0"/>
          </a:p>
        </p:txBody>
      </p:sp>
      <p:sp>
        <p:nvSpPr>
          <p:cNvPr id="12" name="Text 10"/>
          <p:cNvSpPr txBox="1"/>
          <p:nvPr/>
        </p:nvSpPr>
        <p:spPr>
          <a:xfrm>
            <a:off x="658368" y="189764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13" name="Shape 11"/>
          <p:cNvSpPr/>
          <p:nvPr/>
        </p:nvSpPr>
        <p:spPr>
          <a:xfrm>
            <a:off x="2971800" y="1961119"/>
            <a:ext cx="1660147" cy="126940"/>
          </a:xfrm>
          <a:prstGeom prst="rect">
            <a:avLst/>
          </a:prstGeom>
          <a:solidFill>
            <a:srgbClr val="12A566"/>
          </a:solidFill>
          <a:ln/>
        </p:spPr>
      </p:sp>
      <p:sp>
        <p:nvSpPr>
          <p:cNvPr id="14" name="Text 12"/>
          <p:cNvSpPr txBox="1"/>
          <p:nvPr/>
        </p:nvSpPr>
        <p:spPr>
          <a:xfrm>
            <a:off x="4855464" y="1897649"/>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86.0%</a:t>
            </a:r>
            <a:endParaRPr lang="en-US" sz="1300" dirty="0"/>
          </a:p>
        </p:txBody>
      </p:sp>
      <p:sp>
        <p:nvSpPr>
          <p:cNvPr id="15" name="Text 13"/>
          <p:cNvSpPr txBox="1"/>
          <p:nvPr/>
        </p:nvSpPr>
        <p:spPr>
          <a:xfrm>
            <a:off x="658368" y="215152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16" name="Shape 14"/>
          <p:cNvSpPr/>
          <p:nvPr/>
        </p:nvSpPr>
        <p:spPr>
          <a:xfrm>
            <a:off x="2971800" y="2215000"/>
            <a:ext cx="1596623" cy="126940"/>
          </a:xfrm>
          <a:prstGeom prst="rect">
            <a:avLst/>
          </a:prstGeom>
          <a:solidFill>
            <a:srgbClr val="12A566"/>
          </a:solidFill>
          <a:ln/>
        </p:spPr>
      </p:sp>
      <p:sp>
        <p:nvSpPr>
          <p:cNvPr id="17" name="Text 15"/>
          <p:cNvSpPr txBox="1"/>
          <p:nvPr/>
        </p:nvSpPr>
        <p:spPr>
          <a:xfrm>
            <a:off x="4855464" y="2151529"/>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85.0%</a:t>
            </a:r>
            <a:endParaRPr lang="en-US" sz="1300" dirty="0"/>
          </a:p>
        </p:txBody>
      </p:sp>
      <p:sp>
        <p:nvSpPr>
          <p:cNvPr id="18" name="Text 16"/>
          <p:cNvSpPr txBox="1"/>
          <p:nvPr/>
        </p:nvSpPr>
        <p:spPr>
          <a:xfrm>
            <a:off x="658368" y="240541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19" name="Shape 17"/>
          <p:cNvSpPr/>
          <p:nvPr/>
        </p:nvSpPr>
        <p:spPr>
          <a:xfrm>
            <a:off x="2971800" y="2468880"/>
            <a:ext cx="1562286" cy="126940"/>
          </a:xfrm>
          <a:prstGeom prst="rect">
            <a:avLst/>
          </a:prstGeom>
          <a:solidFill>
            <a:srgbClr val="12A566"/>
          </a:solidFill>
          <a:ln/>
        </p:spPr>
      </p:sp>
      <p:sp>
        <p:nvSpPr>
          <p:cNvPr id="20" name="Text 18"/>
          <p:cNvSpPr txBox="1"/>
          <p:nvPr/>
        </p:nvSpPr>
        <p:spPr>
          <a:xfrm>
            <a:off x="4855464" y="2405410"/>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84.4%</a:t>
            </a:r>
            <a:endParaRPr lang="en-US" sz="1300" dirty="0"/>
          </a:p>
        </p:txBody>
      </p:sp>
      <p:sp>
        <p:nvSpPr>
          <p:cNvPr id="21" name="Text 19"/>
          <p:cNvSpPr txBox="1"/>
          <p:nvPr/>
        </p:nvSpPr>
        <p:spPr>
          <a:xfrm>
            <a:off x="658368" y="265929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22" name="Shape 20"/>
          <p:cNvSpPr/>
          <p:nvPr/>
        </p:nvSpPr>
        <p:spPr>
          <a:xfrm>
            <a:off x="2971800" y="2722760"/>
            <a:ext cx="1562070" cy="126940"/>
          </a:xfrm>
          <a:prstGeom prst="rect">
            <a:avLst/>
          </a:prstGeom>
          <a:solidFill>
            <a:srgbClr val="12A566"/>
          </a:solidFill>
          <a:ln/>
        </p:spPr>
      </p:sp>
      <p:sp>
        <p:nvSpPr>
          <p:cNvPr id="23" name="Text 21"/>
          <p:cNvSpPr txBox="1"/>
          <p:nvPr/>
        </p:nvSpPr>
        <p:spPr>
          <a:xfrm>
            <a:off x="4855464" y="2659290"/>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84.4%</a:t>
            </a:r>
            <a:endParaRPr lang="en-US" sz="1300" dirty="0"/>
          </a:p>
        </p:txBody>
      </p:sp>
      <p:sp>
        <p:nvSpPr>
          <p:cNvPr id="24" name="Text 22"/>
          <p:cNvSpPr txBox="1"/>
          <p:nvPr/>
        </p:nvSpPr>
        <p:spPr>
          <a:xfrm>
            <a:off x="658368" y="291317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25" name="Shape 23"/>
          <p:cNvSpPr/>
          <p:nvPr/>
        </p:nvSpPr>
        <p:spPr>
          <a:xfrm>
            <a:off x="2971800" y="2976641"/>
            <a:ext cx="1552038" cy="126940"/>
          </a:xfrm>
          <a:prstGeom prst="rect">
            <a:avLst/>
          </a:prstGeom>
          <a:solidFill>
            <a:srgbClr val="12A566"/>
          </a:solidFill>
          <a:ln/>
        </p:spPr>
      </p:sp>
      <p:sp>
        <p:nvSpPr>
          <p:cNvPr id="26" name="Text 24"/>
          <p:cNvSpPr txBox="1"/>
          <p:nvPr/>
        </p:nvSpPr>
        <p:spPr>
          <a:xfrm>
            <a:off x="4855464" y="2913171"/>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84.3%</a:t>
            </a:r>
            <a:endParaRPr lang="en-US" sz="1300" dirty="0"/>
          </a:p>
        </p:txBody>
      </p:sp>
      <p:sp>
        <p:nvSpPr>
          <p:cNvPr id="27" name="Text 25"/>
          <p:cNvSpPr txBox="1"/>
          <p:nvPr/>
        </p:nvSpPr>
        <p:spPr>
          <a:xfrm>
            <a:off x="658368" y="316705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28" name="Shape 26"/>
          <p:cNvSpPr/>
          <p:nvPr/>
        </p:nvSpPr>
        <p:spPr>
          <a:xfrm>
            <a:off x="2971800" y="3230521"/>
            <a:ext cx="1527833" cy="126940"/>
          </a:xfrm>
          <a:prstGeom prst="rect">
            <a:avLst/>
          </a:prstGeom>
          <a:solidFill>
            <a:srgbClr val="12A566"/>
          </a:solidFill>
          <a:ln/>
        </p:spPr>
      </p:sp>
      <p:sp>
        <p:nvSpPr>
          <p:cNvPr id="29" name="Text 27"/>
          <p:cNvSpPr txBox="1"/>
          <p:nvPr/>
        </p:nvSpPr>
        <p:spPr>
          <a:xfrm>
            <a:off x="4855464" y="3167051"/>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83.9%</a:t>
            </a:r>
            <a:endParaRPr lang="en-US" sz="1300" dirty="0"/>
          </a:p>
        </p:txBody>
      </p:sp>
      <p:sp>
        <p:nvSpPr>
          <p:cNvPr id="30" name="Text 28"/>
          <p:cNvSpPr txBox="1"/>
          <p:nvPr/>
        </p:nvSpPr>
        <p:spPr>
          <a:xfrm>
            <a:off x="658368" y="342093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31" name="Shape 29"/>
          <p:cNvSpPr/>
          <p:nvPr/>
        </p:nvSpPr>
        <p:spPr>
          <a:xfrm>
            <a:off x="2971800" y="3484402"/>
            <a:ext cx="1501380" cy="126940"/>
          </a:xfrm>
          <a:prstGeom prst="rect">
            <a:avLst/>
          </a:prstGeom>
          <a:solidFill>
            <a:srgbClr val="12A566"/>
          </a:solidFill>
          <a:ln/>
        </p:spPr>
      </p:sp>
      <p:sp>
        <p:nvSpPr>
          <p:cNvPr id="32" name="Text 30"/>
          <p:cNvSpPr txBox="1"/>
          <p:nvPr/>
        </p:nvSpPr>
        <p:spPr>
          <a:xfrm>
            <a:off x="4855464" y="3420932"/>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83.5%</a:t>
            </a:r>
            <a:endParaRPr lang="en-US" sz="1300" dirty="0"/>
          </a:p>
        </p:txBody>
      </p:sp>
      <p:sp>
        <p:nvSpPr>
          <p:cNvPr id="33" name="Text 31"/>
          <p:cNvSpPr txBox="1"/>
          <p:nvPr/>
        </p:nvSpPr>
        <p:spPr>
          <a:xfrm>
            <a:off x="658368" y="367481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34" name="Shape 32"/>
          <p:cNvSpPr/>
          <p:nvPr/>
        </p:nvSpPr>
        <p:spPr>
          <a:xfrm>
            <a:off x="2971800" y="3738282"/>
            <a:ext cx="1480912" cy="126940"/>
          </a:xfrm>
          <a:prstGeom prst="rect">
            <a:avLst/>
          </a:prstGeom>
          <a:solidFill>
            <a:srgbClr val="12A566"/>
          </a:solidFill>
          <a:ln/>
        </p:spPr>
      </p:sp>
      <p:sp>
        <p:nvSpPr>
          <p:cNvPr id="35" name="Text 33"/>
          <p:cNvSpPr txBox="1"/>
          <p:nvPr/>
        </p:nvSpPr>
        <p:spPr>
          <a:xfrm>
            <a:off x="4855464" y="3674812"/>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83.2%</a:t>
            </a:r>
            <a:endParaRPr lang="en-US" sz="1300" dirty="0"/>
          </a:p>
        </p:txBody>
      </p:sp>
      <p:sp>
        <p:nvSpPr>
          <p:cNvPr id="36" name="Text 34"/>
          <p:cNvSpPr txBox="1"/>
          <p:nvPr/>
        </p:nvSpPr>
        <p:spPr>
          <a:xfrm>
            <a:off x="658368" y="392869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37" name="Shape 35"/>
          <p:cNvSpPr/>
          <p:nvPr/>
        </p:nvSpPr>
        <p:spPr>
          <a:xfrm>
            <a:off x="2971800" y="3992163"/>
            <a:ext cx="1464232" cy="126940"/>
          </a:xfrm>
          <a:prstGeom prst="rect">
            <a:avLst/>
          </a:prstGeom>
          <a:solidFill>
            <a:srgbClr val="12A566"/>
          </a:solidFill>
          <a:ln/>
        </p:spPr>
      </p:sp>
      <p:sp>
        <p:nvSpPr>
          <p:cNvPr id="38" name="Text 36"/>
          <p:cNvSpPr txBox="1"/>
          <p:nvPr/>
        </p:nvSpPr>
        <p:spPr>
          <a:xfrm>
            <a:off x="4855464" y="3928693"/>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82.9%</a:t>
            </a:r>
            <a:endParaRPr lang="en-US" sz="1300" dirty="0"/>
          </a:p>
        </p:txBody>
      </p:sp>
      <p:sp>
        <p:nvSpPr>
          <p:cNvPr id="39" name="Text 37"/>
          <p:cNvSpPr txBox="1"/>
          <p:nvPr/>
        </p:nvSpPr>
        <p:spPr>
          <a:xfrm>
            <a:off x="658368" y="418257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40" name="Shape 38"/>
          <p:cNvSpPr/>
          <p:nvPr/>
        </p:nvSpPr>
        <p:spPr>
          <a:xfrm>
            <a:off x="2971800" y="4246043"/>
            <a:ext cx="1433507" cy="126940"/>
          </a:xfrm>
          <a:prstGeom prst="rect">
            <a:avLst/>
          </a:prstGeom>
          <a:solidFill>
            <a:srgbClr val="12A566"/>
          </a:solidFill>
          <a:ln/>
        </p:spPr>
      </p:sp>
      <p:sp>
        <p:nvSpPr>
          <p:cNvPr id="41" name="Text 39"/>
          <p:cNvSpPr txBox="1"/>
          <p:nvPr/>
        </p:nvSpPr>
        <p:spPr>
          <a:xfrm>
            <a:off x="4855464" y="4182573"/>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82.4%</a:t>
            </a:r>
            <a:endParaRPr lang="en-US" sz="1300" dirty="0"/>
          </a:p>
        </p:txBody>
      </p:sp>
      <p:sp>
        <p:nvSpPr>
          <p:cNvPr id="42" name="Text 40"/>
          <p:cNvSpPr txBox="1"/>
          <p:nvPr/>
        </p:nvSpPr>
        <p:spPr>
          <a:xfrm>
            <a:off x="658368" y="443645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43" name="Shape 41"/>
          <p:cNvSpPr/>
          <p:nvPr/>
        </p:nvSpPr>
        <p:spPr>
          <a:xfrm>
            <a:off x="2971800" y="4499924"/>
            <a:ext cx="1404658" cy="126940"/>
          </a:xfrm>
          <a:prstGeom prst="rect">
            <a:avLst/>
          </a:prstGeom>
          <a:solidFill>
            <a:srgbClr val="12A566"/>
          </a:solidFill>
          <a:ln/>
        </p:spPr>
      </p:sp>
      <p:sp>
        <p:nvSpPr>
          <p:cNvPr id="44" name="Text 42"/>
          <p:cNvSpPr txBox="1"/>
          <p:nvPr/>
        </p:nvSpPr>
        <p:spPr>
          <a:xfrm>
            <a:off x="4855464" y="4436454"/>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82.0%</a:t>
            </a:r>
            <a:endParaRPr lang="en-US" sz="1300" dirty="0"/>
          </a:p>
        </p:txBody>
      </p:sp>
      <p:sp>
        <p:nvSpPr>
          <p:cNvPr id="45" name="Shape 43"/>
          <p:cNvSpPr/>
          <p:nvPr/>
        </p:nvSpPr>
        <p:spPr>
          <a:xfrm>
            <a:off x="585216" y="4685762"/>
            <a:ext cx="5413248" cy="244736"/>
          </a:xfrm>
          <a:prstGeom prst="rect">
            <a:avLst/>
          </a:prstGeom>
          <a:solidFill>
            <a:srgbClr val="EDF4FA"/>
          </a:solidFill>
          <a:ln/>
        </p:spPr>
      </p:sp>
      <p:sp>
        <p:nvSpPr>
          <p:cNvPr id="46" name="Text 44"/>
          <p:cNvSpPr txBox="1"/>
          <p:nvPr/>
        </p:nvSpPr>
        <p:spPr>
          <a:xfrm>
            <a:off x="658368" y="4690334"/>
            <a:ext cx="2240280" cy="253880"/>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GROUP</a:t>
            </a:r>
            <a:endParaRPr lang="en-US" sz="1300" dirty="0"/>
          </a:p>
        </p:txBody>
      </p:sp>
      <p:sp>
        <p:nvSpPr>
          <p:cNvPr id="47" name="Shape 45"/>
          <p:cNvSpPr/>
          <p:nvPr/>
        </p:nvSpPr>
        <p:spPr>
          <a:xfrm>
            <a:off x="2971800" y="4753804"/>
            <a:ext cx="1329545" cy="126940"/>
          </a:xfrm>
          <a:prstGeom prst="rect">
            <a:avLst/>
          </a:prstGeom>
          <a:solidFill>
            <a:srgbClr val="0B2C4A"/>
          </a:solidFill>
          <a:ln/>
        </p:spPr>
      </p:sp>
      <p:sp>
        <p:nvSpPr>
          <p:cNvPr id="48" name="Text 46"/>
          <p:cNvSpPr txBox="1"/>
          <p:nvPr/>
        </p:nvSpPr>
        <p:spPr>
          <a:xfrm>
            <a:off x="4855464" y="4690334"/>
            <a:ext cx="1088136" cy="253880"/>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80.8%</a:t>
            </a:r>
            <a:endParaRPr lang="en-US" sz="1300" dirty="0"/>
          </a:p>
        </p:txBody>
      </p:sp>
      <p:sp>
        <p:nvSpPr>
          <p:cNvPr id="49" name="Text 47"/>
          <p:cNvSpPr txBox="1"/>
          <p:nvPr/>
        </p:nvSpPr>
        <p:spPr>
          <a:xfrm>
            <a:off x="658368" y="494421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50" name="Shape 48"/>
          <p:cNvSpPr/>
          <p:nvPr/>
        </p:nvSpPr>
        <p:spPr>
          <a:xfrm>
            <a:off x="2971800" y="5007685"/>
            <a:ext cx="1267115" cy="126940"/>
          </a:xfrm>
          <a:prstGeom prst="rect">
            <a:avLst/>
          </a:prstGeom>
          <a:solidFill>
            <a:srgbClr val="C2352F"/>
          </a:solidFill>
          <a:ln/>
        </p:spPr>
      </p:sp>
      <p:sp>
        <p:nvSpPr>
          <p:cNvPr id="51" name="Text 49"/>
          <p:cNvSpPr txBox="1"/>
          <p:nvPr/>
        </p:nvSpPr>
        <p:spPr>
          <a:xfrm>
            <a:off x="4855464" y="4944215"/>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79.8%</a:t>
            </a:r>
            <a:endParaRPr lang="en-US" sz="1300" dirty="0"/>
          </a:p>
        </p:txBody>
      </p:sp>
      <p:sp>
        <p:nvSpPr>
          <p:cNvPr id="52" name="Text 50"/>
          <p:cNvSpPr txBox="1"/>
          <p:nvPr/>
        </p:nvSpPr>
        <p:spPr>
          <a:xfrm>
            <a:off x="658368" y="519809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53" name="Shape 51"/>
          <p:cNvSpPr/>
          <p:nvPr/>
        </p:nvSpPr>
        <p:spPr>
          <a:xfrm>
            <a:off x="2971800" y="5261565"/>
            <a:ext cx="1248119" cy="126940"/>
          </a:xfrm>
          <a:prstGeom prst="rect">
            <a:avLst/>
          </a:prstGeom>
          <a:solidFill>
            <a:srgbClr val="C2352F"/>
          </a:solidFill>
          <a:ln/>
        </p:spPr>
      </p:sp>
      <p:sp>
        <p:nvSpPr>
          <p:cNvPr id="54" name="Text 52"/>
          <p:cNvSpPr txBox="1"/>
          <p:nvPr/>
        </p:nvSpPr>
        <p:spPr>
          <a:xfrm>
            <a:off x="4855464" y="5198095"/>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79.5%</a:t>
            </a:r>
            <a:endParaRPr lang="en-US" sz="1300" dirty="0"/>
          </a:p>
        </p:txBody>
      </p:sp>
      <p:sp>
        <p:nvSpPr>
          <p:cNvPr id="55" name="Text 53"/>
          <p:cNvSpPr txBox="1"/>
          <p:nvPr/>
        </p:nvSpPr>
        <p:spPr>
          <a:xfrm>
            <a:off x="658368" y="5451976"/>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56" name="Shape 54"/>
          <p:cNvSpPr/>
          <p:nvPr/>
        </p:nvSpPr>
        <p:spPr>
          <a:xfrm>
            <a:off x="2971800" y="5515446"/>
            <a:ext cx="1245249" cy="126940"/>
          </a:xfrm>
          <a:prstGeom prst="rect">
            <a:avLst/>
          </a:prstGeom>
          <a:solidFill>
            <a:srgbClr val="C2352F"/>
          </a:solidFill>
          <a:ln/>
        </p:spPr>
      </p:sp>
      <p:sp>
        <p:nvSpPr>
          <p:cNvPr id="57" name="Text 55"/>
          <p:cNvSpPr txBox="1"/>
          <p:nvPr/>
        </p:nvSpPr>
        <p:spPr>
          <a:xfrm>
            <a:off x="4855464" y="5451976"/>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79.5%</a:t>
            </a:r>
            <a:endParaRPr lang="en-US" sz="1300" dirty="0"/>
          </a:p>
        </p:txBody>
      </p:sp>
      <p:sp>
        <p:nvSpPr>
          <p:cNvPr id="58" name="Text 56"/>
          <p:cNvSpPr txBox="1"/>
          <p:nvPr/>
        </p:nvSpPr>
        <p:spPr>
          <a:xfrm>
            <a:off x="6208776" y="138988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59" name="Shape 57"/>
          <p:cNvSpPr/>
          <p:nvPr/>
        </p:nvSpPr>
        <p:spPr>
          <a:xfrm>
            <a:off x="8522208" y="1453358"/>
            <a:ext cx="1244055" cy="126940"/>
          </a:xfrm>
          <a:prstGeom prst="rect">
            <a:avLst/>
          </a:prstGeom>
          <a:solidFill>
            <a:srgbClr val="C2352F"/>
          </a:solidFill>
          <a:ln/>
        </p:spPr>
      </p:sp>
      <p:sp>
        <p:nvSpPr>
          <p:cNvPr id="60" name="Text 58"/>
          <p:cNvSpPr txBox="1"/>
          <p:nvPr/>
        </p:nvSpPr>
        <p:spPr>
          <a:xfrm>
            <a:off x="10405872" y="1389888"/>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79.4%</a:t>
            </a:r>
            <a:endParaRPr lang="en-US" sz="1300" dirty="0"/>
          </a:p>
        </p:txBody>
      </p:sp>
      <p:sp>
        <p:nvSpPr>
          <p:cNvPr id="61" name="Text 59"/>
          <p:cNvSpPr txBox="1"/>
          <p:nvPr/>
        </p:nvSpPr>
        <p:spPr>
          <a:xfrm>
            <a:off x="6208776" y="164376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62" name="Shape 60"/>
          <p:cNvSpPr/>
          <p:nvPr/>
        </p:nvSpPr>
        <p:spPr>
          <a:xfrm>
            <a:off x="8522208" y="1707239"/>
            <a:ext cx="1240572" cy="126940"/>
          </a:xfrm>
          <a:prstGeom prst="rect">
            <a:avLst/>
          </a:prstGeom>
          <a:solidFill>
            <a:srgbClr val="C2352F"/>
          </a:solidFill>
          <a:ln/>
        </p:spPr>
      </p:sp>
      <p:sp>
        <p:nvSpPr>
          <p:cNvPr id="63" name="Text 61"/>
          <p:cNvSpPr txBox="1"/>
          <p:nvPr/>
        </p:nvSpPr>
        <p:spPr>
          <a:xfrm>
            <a:off x="10405872" y="1643768"/>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79.4%</a:t>
            </a:r>
            <a:endParaRPr lang="en-US" sz="1300" dirty="0"/>
          </a:p>
        </p:txBody>
      </p:sp>
      <p:sp>
        <p:nvSpPr>
          <p:cNvPr id="64" name="Text 62"/>
          <p:cNvSpPr txBox="1"/>
          <p:nvPr/>
        </p:nvSpPr>
        <p:spPr>
          <a:xfrm>
            <a:off x="6208776" y="189764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65" name="Shape 63"/>
          <p:cNvSpPr/>
          <p:nvPr/>
        </p:nvSpPr>
        <p:spPr>
          <a:xfrm>
            <a:off x="8522208" y="1961119"/>
            <a:ext cx="1240152" cy="126940"/>
          </a:xfrm>
          <a:prstGeom prst="rect">
            <a:avLst/>
          </a:prstGeom>
          <a:solidFill>
            <a:srgbClr val="C2352F"/>
          </a:solidFill>
          <a:ln/>
        </p:spPr>
      </p:sp>
      <p:sp>
        <p:nvSpPr>
          <p:cNvPr id="66" name="Text 64"/>
          <p:cNvSpPr txBox="1"/>
          <p:nvPr/>
        </p:nvSpPr>
        <p:spPr>
          <a:xfrm>
            <a:off x="10405872" y="1897649"/>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79.4%</a:t>
            </a:r>
            <a:endParaRPr lang="en-US" sz="1300" dirty="0"/>
          </a:p>
        </p:txBody>
      </p:sp>
      <p:sp>
        <p:nvSpPr>
          <p:cNvPr id="67" name="Text 65"/>
          <p:cNvSpPr txBox="1"/>
          <p:nvPr/>
        </p:nvSpPr>
        <p:spPr>
          <a:xfrm>
            <a:off x="6208776" y="215152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68" name="Shape 66"/>
          <p:cNvSpPr/>
          <p:nvPr/>
        </p:nvSpPr>
        <p:spPr>
          <a:xfrm>
            <a:off x="8522208" y="2215000"/>
            <a:ext cx="1234968" cy="126940"/>
          </a:xfrm>
          <a:prstGeom prst="rect">
            <a:avLst/>
          </a:prstGeom>
          <a:solidFill>
            <a:srgbClr val="C2352F"/>
          </a:solidFill>
          <a:ln/>
        </p:spPr>
      </p:sp>
      <p:sp>
        <p:nvSpPr>
          <p:cNvPr id="69" name="Text 67"/>
          <p:cNvSpPr txBox="1"/>
          <p:nvPr/>
        </p:nvSpPr>
        <p:spPr>
          <a:xfrm>
            <a:off x="10405872" y="2151529"/>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79.3%</a:t>
            </a:r>
            <a:endParaRPr lang="en-US" sz="1300" dirty="0"/>
          </a:p>
        </p:txBody>
      </p:sp>
      <p:sp>
        <p:nvSpPr>
          <p:cNvPr id="70" name="Text 68"/>
          <p:cNvSpPr txBox="1"/>
          <p:nvPr/>
        </p:nvSpPr>
        <p:spPr>
          <a:xfrm>
            <a:off x="6208776" y="240541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71" name="Shape 69"/>
          <p:cNvSpPr/>
          <p:nvPr/>
        </p:nvSpPr>
        <p:spPr>
          <a:xfrm>
            <a:off x="8522208" y="2468880"/>
            <a:ext cx="1222696" cy="126940"/>
          </a:xfrm>
          <a:prstGeom prst="rect">
            <a:avLst/>
          </a:prstGeom>
          <a:solidFill>
            <a:srgbClr val="C2352F"/>
          </a:solidFill>
          <a:ln/>
        </p:spPr>
      </p:sp>
      <p:sp>
        <p:nvSpPr>
          <p:cNvPr id="72" name="Text 70"/>
          <p:cNvSpPr txBox="1"/>
          <p:nvPr/>
        </p:nvSpPr>
        <p:spPr>
          <a:xfrm>
            <a:off x="10405872" y="2405410"/>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79.1%</a:t>
            </a:r>
            <a:endParaRPr lang="en-US" sz="1300" dirty="0"/>
          </a:p>
        </p:txBody>
      </p:sp>
      <p:sp>
        <p:nvSpPr>
          <p:cNvPr id="73" name="Text 71"/>
          <p:cNvSpPr txBox="1"/>
          <p:nvPr/>
        </p:nvSpPr>
        <p:spPr>
          <a:xfrm>
            <a:off x="6208776" y="265929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74" name="Shape 72"/>
          <p:cNvSpPr/>
          <p:nvPr/>
        </p:nvSpPr>
        <p:spPr>
          <a:xfrm>
            <a:off x="8522208" y="2722760"/>
            <a:ext cx="1200662" cy="126940"/>
          </a:xfrm>
          <a:prstGeom prst="rect">
            <a:avLst/>
          </a:prstGeom>
          <a:solidFill>
            <a:srgbClr val="C2352F"/>
          </a:solidFill>
          <a:ln/>
        </p:spPr>
      </p:sp>
      <p:sp>
        <p:nvSpPr>
          <p:cNvPr id="75" name="Text 73"/>
          <p:cNvSpPr txBox="1"/>
          <p:nvPr/>
        </p:nvSpPr>
        <p:spPr>
          <a:xfrm>
            <a:off x="10405872" y="2659290"/>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78.8%</a:t>
            </a:r>
            <a:endParaRPr lang="en-US" sz="1300" dirty="0"/>
          </a:p>
        </p:txBody>
      </p:sp>
      <p:sp>
        <p:nvSpPr>
          <p:cNvPr id="76" name="Text 74"/>
          <p:cNvSpPr txBox="1"/>
          <p:nvPr/>
        </p:nvSpPr>
        <p:spPr>
          <a:xfrm>
            <a:off x="6208776" y="291317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77" name="Shape 75"/>
          <p:cNvSpPr/>
          <p:nvPr/>
        </p:nvSpPr>
        <p:spPr>
          <a:xfrm>
            <a:off x="8522208" y="2976641"/>
            <a:ext cx="1193445" cy="126940"/>
          </a:xfrm>
          <a:prstGeom prst="rect">
            <a:avLst/>
          </a:prstGeom>
          <a:solidFill>
            <a:srgbClr val="C2352F"/>
          </a:solidFill>
          <a:ln/>
        </p:spPr>
      </p:sp>
      <p:sp>
        <p:nvSpPr>
          <p:cNvPr id="78" name="Text 76"/>
          <p:cNvSpPr txBox="1"/>
          <p:nvPr/>
        </p:nvSpPr>
        <p:spPr>
          <a:xfrm>
            <a:off x="10405872" y="2913171"/>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78.7%</a:t>
            </a:r>
            <a:endParaRPr lang="en-US" sz="1300" dirty="0"/>
          </a:p>
        </p:txBody>
      </p:sp>
      <p:sp>
        <p:nvSpPr>
          <p:cNvPr id="79" name="Text 77"/>
          <p:cNvSpPr txBox="1"/>
          <p:nvPr/>
        </p:nvSpPr>
        <p:spPr>
          <a:xfrm>
            <a:off x="6208776" y="316705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80" name="Shape 78"/>
          <p:cNvSpPr/>
          <p:nvPr/>
        </p:nvSpPr>
        <p:spPr>
          <a:xfrm>
            <a:off x="8522208" y="3230521"/>
            <a:ext cx="1188517" cy="126940"/>
          </a:xfrm>
          <a:prstGeom prst="rect">
            <a:avLst/>
          </a:prstGeom>
          <a:solidFill>
            <a:srgbClr val="C2352F"/>
          </a:solidFill>
          <a:ln/>
        </p:spPr>
      </p:sp>
      <p:sp>
        <p:nvSpPr>
          <p:cNvPr id="81" name="Text 79"/>
          <p:cNvSpPr txBox="1"/>
          <p:nvPr/>
        </p:nvSpPr>
        <p:spPr>
          <a:xfrm>
            <a:off x="10405872" y="3167051"/>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78.6%</a:t>
            </a:r>
            <a:endParaRPr lang="en-US" sz="1300" dirty="0"/>
          </a:p>
        </p:txBody>
      </p:sp>
      <p:sp>
        <p:nvSpPr>
          <p:cNvPr id="82" name="Text 80"/>
          <p:cNvSpPr txBox="1"/>
          <p:nvPr/>
        </p:nvSpPr>
        <p:spPr>
          <a:xfrm>
            <a:off x="6208776" y="342093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83" name="Shape 81"/>
          <p:cNvSpPr/>
          <p:nvPr/>
        </p:nvSpPr>
        <p:spPr>
          <a:xfrm>
            <a:off x="8522208" y="3484402"/>
            <a:ext cx="1186133" cy="126940"/>
          </a:xfrm>
          <a:prstGeom prst="rect">
            <a:avLst/>
          </a:prstGeom>
          <a:solidFill>
            <a:srgbClr val="C2352F"/>
          </a:solidFill>
          <a:ln/>
        </p:spPr>
      </p:sp>
      <p:sp>
        <p:nvSpPr>
          <p:cNvPr id="84" name="Text 82"/>
          <p:cNvSpPr txBox="1"/>
          <p:nvPr/>
        </p:nvSpPr>
        <p:spPr>
          <a:xfrm>
            <a:off x="10405872" y="3420932"/>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78.5%</a:t>
            </a:r>
            <a:endParaRPr lang="en-US" sz="1300" dirty="0"/>
          </a:p>
        </p:txBody>
      </p:sp>
      <p:sp>
        <p:nvSpPr>
          <p:cNvPr id="85" name="Text 83"/>
          <p:cNvSpPr txBox="1"/>
          <p:nvPr/>
        </p:nvSpPr>
        <p:spPr>
          <a:xfrm>
            <a:off x="6208776" y="367481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86" name="Shape 84"/>
          <p:cNvSpPr/>
          <p:nvPr/>
        </p:nvSpPr>
        <p:spPr>
          <a:xfrm>
            <a:off x="8522208" y="3738282"/>
            <a:ext cx="1180793" cy="126940"/>
          </a:xfrm>
          <a:prstGeom prst="rect">
            <a:avLst/>
          </a:prstGeom>
          <a:solidFill>
            <a:srgbClr val="C2352F"/>
          </a:solidFill>
          <a:ln/>
        </p:spPr>
      </p:sp>
      <p:sp>
        <p:nvSpPr>
          <p:cNvPr id="87" name="Text 85"/>
          <p:cNvSpPr txBox="1"/>
          <p:nvPr/>
        </p:nvSpPr>
        <p:spPr>
          <a:xfrm>
            <a:off x="10405872" y="3674812"/>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78.5%</a:t>
            </a:r>
            <a:endParaRPr lang="en-US" sz="1300" dirty="0"/>
          </a:p>
        </p:txBody>
      </p:sp>
      <p:sp>
        <p:nvSpPr>
          <p:cNvPr id="88" name="Text 86"/>
          <p:cNvSpPr txBox="1"/>
          <p:nvPr/>
        </p:nvSpPr>
        <p:spPr>
          <a:xfrm>
            <a:off x="6208776" y="392869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89" name="Shape 87"/>
          <p:cNvSpPr/>
          <p:nvPr/>
        </p:nvSpPr>
        <p:spPr>
          <a:xfrm>
            <a:off x="8522208" y="3992163"/>
            <a:ext cx="1140137" cy="126940"/>
          </a:xfrm>
          <a:prstGeom prst="rect">
            <a:avLst/>
          </a:prstGeom>
          <a:solidFill>
            <a:srgbClr val="C2352F"/>
          </a:solidFill>
          <a:ln/>
        </p:spPr>
      </p:sp>
      <p:sp>
        <p:nvSpPr>
          <p:cNvPr id="90" name="Text 88"/>
          <p:cNvSpPr txBox="1"/>
          <p:nvPr/>
        </p:nvSpPr>
        <p:spPr>
          <a:xfrm>
            <a:off x="10405872" y="3928693"/>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77.8%</a:t>
            </a:r>
            <a:endParaRPr lang="en-US" sz="1300" dirty="0"/>
          </a:p>
        </p:txBody>
      </p:sp>
      <p:sp>
        <p:nvSpPr>
          <p:cNvPr id="91" name="Text 89"/>
          <p:cNvSpPr txBox="1"/>
          <p:nvPr/>
        </p:nvSpPr>
        <p:spPr>
          <a:xfrm>
            <a:off x="6208776" y="418257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92" name="Shape 90"/>
          <p:cNvSpPr/>
          <p:nvPr/>
        </p:nvSpPr>
        <p:spPr>
          <a:xfrm>
            <a:off x="8522208" y="4246043"/>
            <a:ext cx="1104310" cy="126940"/>
          </a:xfrm>
          <a:prstGeom prst="rect">
            <a:avLst/>
          </a:prstGeom>
          <a:solidFill>
            <a:srgbClr val="C2352F"/>
          </a:solidFill>
          <a:ln/>
        </p:spPr>
      </p:sp>
      <p:sp>
        <p:nvSpPr>
          <p:cNvPr id="93" name="Text 91"/>
          <p:cNvSpPr txBox="1"/>
          <p:nvPr/>
        </p:nvSpPr>
        <p:spPr>
          <a:xfrm>
            <a:off x="10405872" y="4182573"/>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77.3%</a:t>
            </a:r>
            <a:endParaRPr lang="en-US" sz="1300" dirty="0"/>
          </a:p>
        </p:txBody>
      </p:sp>
      <p:sp>
        <p:nvSpPr>
          <p:cNvPr id="94" name="Text 92"/>
          <p:cNvSpPr txBox="1"/>
          <p:nvPr/>
        </p:nvSpPr>
        <p:spPr>
          <a:xfrm>
            <a:off x="6208776" y="443645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95" name="Shape 93"/>
          <p:cNvSpPr/>
          <p:nvPr/>
        </p:nvSpPr>
        <p:spPr>
          <a:xfrm>
            <a:off x="8522208" y="4499924"/>
            <a:ext cx="1001122" cy="126940"/>
          </a:xfrm>
          <a:prstGeom prst="rect">
            <a:avLst/>
          </a:prstGeom>
          <a:solidFill>
            <a:srgbClr val="C2352F"/>
          </a:solidFill>
          <a:ln/>
        </p:spPr>
      </p:sp>
      <p:sp>
        <p:nvSpPr>
          <p:cNvPr id="96" name="Text 94"/>
          <p:cNvSpPr txBox="1"/>
          <p:nvPr/>
        </p:nvSpPr>
        <p:spPr>
          <a:xfrm>
            <a:off x="10405872" y="4436454"/>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75.7%</a:t>
            </a:r>
            <a:endParaRPr lang="en-US" sz="1300" dirty="0"/>
          </a:p>
        </p:txBody>
      </p:sp>
      <p:sp>
        <p:nvSpPr>
          <p:cNvPr id="97" name="Text 95"/>
          <p:cNvSpPr txBox="1"/>
          <p:nvPr/>
        </p:nvSpPr>
        <p:spPr>
          <a:xfrm>
            <a:off x="6208776" y="469033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98" name="Shape 96"/>
          <p:cNvSpPr/>
          <p:nvPr/>
        </p:nvSpPr>
        <p:spPr>
          <a:xfrm>
            <a:off x="8522208" y="4753804"/>
            <a:ext cx="904254" cy="126940"/>
          </a:xfrm>
          <a:prstGeom prst="rect">
            <a:avLst/>
          </a:prstGeom>
          <a:solidFill>
            <a:srgbClr val="C2352F"/>
          </a:solidFill>
          <a:ln/>
        </p:spPr>
      </p:sp>
      <p:sp>
        <p:nvSpPr>
          <p:cNvPr id="99" name="Text 97"/>
          <p:cNvSpPr txBox="1"/>
          <p:nvPr/>
        </p:nvSpPr>
        <p:spPr>
          <a:xfrm>
            <a:off x="10405872" y="4690334"/>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74.1%</a:t>
            </a:r>
            <a:endParaRPr lang="en-US" sz="1300" dirty="0"/>
          </a:p>
        </p:txBody>
      </p:sp>
      <p:sp>
        <p:nvSpPr>
          <p:cNvPr id="100" name="Text 98"/>
          <p:cNvSpPr txBox="1"/>
          <p:nvPr/>
        </p:nvSpPr>
        <p:spPr>
          <a:xfrm>
            <a:off x="6208776" y="494421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101" name="Shape 99"/>
          <p:cNvSpPr/>
          <p:nvPr/>
        </p:nvSpPr>
        <p:spPr>
          <a:xfrm>
            <a:off x="8522208" y="5007685"/>
            <a:ext cx="885925" cy="126940"/>
          </a:xfrm>
          <a:prstGeom prst="rect">
            <a:avLst/>
          </a:prstGeom>
          <a:solidFill>
            <a:srgbClr val="C2352F"/>
          </a:solidFill>
          <a:ln/>
        </p:spPr>
      </p:sp>
      <p:sp>
        <p:nvSpPr>
          <p:cNvPr id="102" name="Text 100"/>
          <p:cNvSpPr txBox="1"/>
          <p:nvPr/>
        </p:nvSpPr>
        <p:spPr>
          <a:xfrm>
            <a:off x="10405872" y="4944215"/>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73.9%</a:t>
            </a:r>
            <a:endParaRPr lang="en-US" sz="1300" dirty="0"/>
          </a:p>
        </p:txBody>
      </p:sp>
      <p:sp>
        <p:nvSpPr>
          <p:cNvPr id="103" name="Text 101"/>
          <p:cNvSpPr txBox="1"/>
          <p:nvPr/>
        </p:nvSpPr>
        <p:spPr>
          <a:xfrm>
            <a:off x="6208776" y="519809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104" name="Shape 102"/>
          <p:cNvSpPr/>
          <p:nvPr/>
        </p:nvSpPr>
        <p:spPr>
          <a:xfrm>
            <a:off x="8522208" y="5261565"/>
            <a:ext cx="780768" cy="126940"/>
          </a:xfrm>
          <a:prstGeom prst="rect">
            <a:avLst/>
          </a:prstGeom>
          <a:solidFill>
            <a:srgbClr val="C2352F"/>
          </a:solidFill>
          <a:ln/>
        </p:spPr>
      </p:sp>
      <p:sp>
        <p:nvSpPr>
          <p:cNvPr id="105" name="Text 103"/>
          <p:cNvSpPr txBox="1"/>
          <p:nvPr/>
        </p:nvSpPr>
        <p:spPr>
          <a:xfrm>
            <a:off x="10405872" y="5198095"/>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72.2%</a:t>
            </a:r>
            <a:endParaRPr lang="en-US" sz="1300" dirty="0"/>
          </a:p>
        </p:txBody>
      </p:sp>
      <p:sp>
        <p:nvSpPr>
          <p:cNvPr id="106" name="Text 104"/>
          <p:cNvSpPr txBox="1"/>
          <p:nvPr/>
        </p:nvSpPr>
        <p:spPr>
          <a:xfrm>
            <a:off x="6208776" y="5451976"/>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07" name="Shape 105"/>
          <p:cNvSpPr/>
          <p:nvPr/>
        </p:nvSpPr>
        <p:spPr>
          <a:xfrm>
            <a:off x="8522208" y="5515446"/>
            <a:ext cx="494188" cy="126940"/>
          </a:xfrm>
          <a:prstGeom prst="rect">
            <a:avLst/>
          </a:prstGeom>
          <a:solidFill>
            <a:srgbClr val="C2352F"/>
          </a:solidFill>
          <a:ln/>
        </p:spPr>
      </p:sp>
      <p:sp>
        <p:nvSpPr>
          <p:cNvPr id="108" name="Text 106"/>
          <p:cNvSpPr txBox="1"/>
          <p:nvPr/>
        </p:nvSpPr>
        <p:spPr>
          <a:xfrm>
            <a:off x="10405872" y="5451976"/>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67.7%</a:t>
            </a:r>
            <a:endParaRPr lang="en-US" sz="1300" dirty="0"/>
          </a:p>
        </p:txBody>
      </p:sp>
      <p:sp>
        <p:nvSpPr>
          <p:cNvPr id="109" name="Shape 107"/>
          <p:cNvSpPr/>
          <p:nvPr/>
        </p:nvSpPr>
        <p:spPr>
          <a:xfrm>
            <a:off x="4294030" y="1389888"/>
            <a:ext cx="14630" cy="4315968"/>
          </a:xfrm>
          <a:prstGeom prst="rect">
            <a:avLst/>
          </a:prstGeom>
          <a:solidFill>
            <a:srgbClr val="0B2C4A"/>
          </a:solidFill>
          <a:ln/>
        </p:spPr>
      </p:sp>
      <p:sp>
        <p:nvSpPr>
          <p:cNvPr id="110" name="Shape 108"/>
          <p:cNvSpPr/>
          <p:nvPr/>
        </p:nvSpPr>
        <p:spPr>
          <a:xfrm>
            <a:off x="9844438" y="1389888"/>
            <a:ext cx="14630" cy="4315968"/>
          </a:xfrm>
          <a:prstGeom prst="rect">
            <a:avLst/>
          </a:prstGeom>
          <a:solidFill>
            <a:srgbClr val="0B2C4A"/>
          </a:solidFill>
          <a:ln/>
        </p:spPr>
      </p:sp>
      <p:sp>
        <p:nvSpPr>
          <p:cNvPr id="111" name="Shape 109"/>
          <p:cNvSpPr/>
          <p:nvPr/>
        </p:nvSpPr>
        <p:spPr>
          <a:xfrm>
            <a:off x="457200" y="5961888"/>
            <a:ext cx="11274552" cy="548640"/>
          </a:xfrm>
          <a:prstGeom prst="rect">
            <a:avLst/>
          </a:prstGeom>
          <a:solidFill>
            <a:srgbClr val="EDF4FA"/>
          </a:solidFill>
          <a:ln/>
        </p:spPr>
      </p:sp>
      <p:sp>
        <p:nvSpPr>
          <p:cNvPr id="112" name="Text 110"/>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13 of 33 stores at or above the 80.8% group, led by VOLVO at 88.6%. HYUNDAI PRESCOTT is lowest at 67.7%.</a:t>
            </a:r>
            <a:endParaRPr lang="en-US" sz="16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Labor Gross Profit %</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01168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GROUP</a:t>
            </a:r>
            <a:endParaRPr lang="en-US" sz="1500" dirty="0"/>
          </a:p>
        </p:txBody>
      </p:sp>
      <p:sp>
        <p:nvSpPr>
          <p:cNvPr id="9" name="Text 7"/>
          <p:cNvSpPr txBox="1"/>
          <p:nvPr/>
        </p:nvSpPr>
        <p:spPr>
          <a:xfrm>
            <a:off x="2834640" y="1335024"/>
            <a:ext cx="420624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SAME-STORE, 33 STORES</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−0.1 pts</a:t>
            </a:r>
            <a:endParaRPr lang="en-US" sz="2000" dirty="0"/>
          </a:p>
        </p:txBody>
      </p:sp>
      <p:sp>
        <p:nvSpPr>
          <p:cNvPr id="11" name="Text 9"/>
          <p:cNvSpPr txBox="1"/>
          <p:nvPr/>
        </p:nvSpPr>
        <p:spPr>
          <a:xfrm>
            <a:off x="658368"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12" name="Shape 10"/>
          <p:cNvSpPr/>
          <p:nvPr/>
        </p:nvSpPr>
        <p:spPr>
          <a:xfrm>
            <a:off x="3813048" y="1909246"/>
            <a:ext cx="732396" cy="105898"/>
          </a:xfrm>
          <a:prstGeom prst="rect">
            <a:avLst/>
          </a:prstGeom>
          <a:solidFill>
            <a:srgbClr val="12A566"/>
          </a:solidFill>
          <a:ln/>
        </p:spPr>
      </p:sp>
      <p:sp>
        <p:nvSpPr>
          <p:cNvPr id="13" name="Text 11"/>
          <p:cNvSpPr txBox="1"/>
          <p:nvPr/>
        </p:nvSpPr>
        <p:spPr>
          <a:xfrm>
            <a:off x="4709160"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+4.6 pts</a:t>
            </a:r>
            <a:endParaRPr lang="en-US" sz="1300" dirty="0"/>
          </a:p>
        </p:txBody>
      </p:sp>
      <p:sp>
        <p:nvSpPr>
          <p:cNvPr id="14" name="Text 12"/>
          <p:cNvSpPr txBox="1"/>
          <p:nvPr/>
        </p:nvSpPr>
        <p:spPr>
          <a:xfrm>
            <a:off x="658368"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15" name="Shape 13"/>
          <p:cNvSpPr/>
          <p:nvPr/>
        </p:nvSpPr>
        <p:spPr>
          <a:xfrm>
            <a:off x="3813048" y="2139459"/>
            <a:ext cx="716784" cy="105898"/>
          </a:xfrm>
          <a:prstGeom prst="rect">
            <a:avLst/>
          </a:prstGeom>
          <a:solidFill>
            <a:srgbClr val="12A566"/>
          </a:solidFill>
          <a:ln/>
        </p:spPr>
      </p:sp>
      <p:sp>
        <p:nvSpPr>
          <p:cNvPr id="16" name="Text 14"/>
          <p:cNvSpPr txBox="1"/>
          <p:nvPr/>
        </p:nvSpPr>
        <p:spPr>
          <a:xfrm>
            <a:off x="4709160"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+4.5 pts</a:t>
            </a:r>
            <a:endParaRPr lang="en-US" sz="1300" dirty="0"/>
          </a:p>
        </p:txBody>
      </p:sp>
      <p:sp>
        <p:nvSpPr>
          <p:cNvPr id="17" name="Text 15"/>
          <p:cNvSpPr txBox="1"/>
          <p:nvPr/>
        </p:nvSpPr>
        <p:spPr>
          <a:xfrm>
            <a:off x="658368"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18" name="Shape 16"/>
          <p:cNvSpPr/>
          <p:nvPr/>
        </p:nvSpPr>
        <p:spPr>
          <a:xfrm>
            <a:off x="3813048" y="2369673"/>
            <a:ext cx="467297" cy="105898"/>
          </a:xfrm>
          <a:prstGeom prst="rect">
            <a:avLst/>
          </a:prstGeom>
          <a:solidFill>
            <a:srgbClr val="12A566"/>
          </a:solidFill>
          <a:ln/>
        </p:spPr>
      </p:sp>
      <p:sp>
        <p:nvSpPr>
          <p:cNvPr id="19" name="Text 17"/>
          <p:cNvSpPr txBox="1"/>
          <p:nvPr/>
        </p:nvSpPr>
        <p:spPr>
          <a:xfrm>
            <a:off x="4709160"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+2.9 pts</a:t>
            </a:r>
            <a:endParaRPr lang="en-US" sz="1300" dirty="0"/>
          </a:p>
        </p:txBody>
      </p:sp>
      <p:sp>
        <p:nvSpPr>
          <p:cNvPr id="20" name="Text 18"/>
          <p:cNvSpPr txBox="1"/>
          <p:nvPr/>
        </p:nvSpPr>
        <p:spPr>
          <a:xfrm>
            <a:off x="658368"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21" name="Shape 19"/>
          <p:cNvSpPr/>
          <p:nvPr/>
        </p:nvSpPr>
        <p:spPr>
          <a:xfrm>
            <a:off x="3813048" y="2599887"/>
            <a:ext cx="425302" cy="105898"/>
          </a:xfrm>
          <a:prstGeom prst="rect">
            <a:avLst/>
          </a:prstGeom>
          <a:solidFill>
            <a:srgbClr val="12A566"/>
          </a:solidFill>
          <a:ln/>
        </p:spPr>
      </p:sp>
      <p:sp>
        <p:nvSpPr>
          <p:cNvPr id="22" name="Text 20"/>
          <p:cNvSpPr txBox="1"/>
          <p:nvPr/>
        </p:nvSpPr>
        <p:spPr>
          <a:xfrm>
            <a:off x="4709160"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+2.7 pts</a:t>
            </a:r>
            <a:endParaRPr lang="en-US" sz="1300" dirty="0"/>
          </a:p>
        </p:txBody>
      </p:sp>
      <p:sp>
        <p:nvSpPr>
          <p:cNvPr id="23" name="Text 21"/>
          <p:cNvSpPr txBox="1"/>
          <p:nvPr/>
        </p:nvSpPr>
        <p:spPr>
          <a:xfrm>
            <a:off x="658368"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24" name="Shape 22"/>
          <p:cNvSpPr/>
          <p:nvPr/>
        </p:nvSpPr>
        <p:spPr>
          <a:xfrm>
            <a:off x="3813048" y="2830100"/>
            <a:ext cx="234073" cy="105898"/>
          </a:xfrm>
          <a:prstGeom prst="rect">
            <a:avLst/>
          </a:prstGeom>
          <a:solidFill>
            <a:srgbClr val="12A566"/>
          </a:solidFill>
          <a:ln/>
        </p:spPr>
      </p:sp>
      <p:sp>
        <p:nvSpPr>
          <p:cNvPr id="25" name="Text 23"/>
          <p:cNvSpPr txBox="1"/>
          <p:nvPr/>
        </p:nvSpPr>
        <p:spPr>
          <a:xfrm>
            <a:off x="4709160"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+1.5 pts</a:t>
            </a:r>
            <a:endParaRPr lang="en-US" sz="1300" dirty="0"/>
          </a:p>
        </p:txBody>
      </p:sp>
      <p:sp>
        <p:nvSpPr>
          <p:cNvPr id="26" name="Text 24"/>
          <p:cNvSpPr txBox="1"/>
          <p:nvPr/>
        </p:nvSpPr>
        <p:spPr>
          <a:xfrm>
            <a:off x="658368"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27" name="Shape 25"/>
          <p:cNvSpPr/>
          <p:nvPr/>
        </p:nvSpPr>
        <p:spPr>
          <a:xfrm>
            <a:off x="3813048" y="3060314"/>
            <a:ext cx="228102" cy="105898"/>
          </a:xfrm>
          <a:prstGeom prst="rect">
            <a:avLst/>
          </a:prstGeom>
          <a:solidFill>
            <a:srgbClr val="12A566"/>
          </a:solidFill>
          <a:ln/>
        </p:spPr>
      </p:sp>
      <p:sp>
        <p:nvSpPr>
          <p:cNvPr id="28" name="Text 26"/>
          <p:cNvSpPr txBox="1"/>
          <p:nvPr/>
        </p:nvSpPr>
        <p:spPr>
          <a:xfrm>
            <a:off x="4709160"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+1.4 pts</a:t>
            </a:r>
            <a:endParaRPr lang="en-US" sz="1300" dirty="0"/>
          </a:p>
        </p:txBody>
      </p:sp>
      <p:sp>
        <p:nvSpPr>
          <p:cNvPr id="29" name="Text 27"/>
          <p:cNvSpPr txBox="1"/>
          <p:nvPr/>
        </p:nvSpPr>
        <p:spPr>
          <a:xfrm>
            <a:off x="658368"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30" name="Shape 28"/>
          <p:cNvSpPr/>
          <p:nvPr/>
        </p:nvSpPr>
        <p:spPr>
          <a:xfrm>
            <a:off x="3813048" y="3290528"/>
            <a:ext cx="198308" cy="105898"/>
          </a:xfrm>
          <a:prstGeom prst="rect">
            <a:avLst/>
          </a:prstGeom>
          <a:solidFill>
            <a:srgbClr val="12A566"/>
          </a:solidFill>
          <a:ln/>
        </p:spPr>
      </p:sp>
      <p:sp>
        <p:nvSpPr>
          <p:cNvPr id="31" name="Text 29"/>
          <p:cNvSpPr txBox="1"/>
          <p:nvPr/>
        </p:nvSpPr>
        <p:spPr>
          <a:xfrm>
            <a:off x="4709160" y="3228370"/>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+1.2 pts</a:t>
            </a:r>
            <a:endParaRPr lang="en-US" sz="1300" dirty="0"/>
          </a:p>
        </p:txBody>
      </p:sp>
      <p:sp>
        <p:nvSpPr>
          <p:cNvPr id="32" name="Text 30"/>
          <p:cNvSpPr txBox="1"/>
          <p:nvPr/>
        </p:nvSpPr>
        <p:spPr>
          <a:xfrm>
            <a:off x="658368"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33" name="Shape 31"/>
          <p:cNvSpPr/>
          <p:nvPr/>
        </p:nvSpPr>
        <p:spPr>
          <a:xfrm>
            <a:off x="3813048" y="3520741"/>
            <a:ext cx="191426" cy="105898"/>
          </a:xfrm>
          <a:prstGeom prst="rect">
            <a:avLst/>
          </a:prstGeom>
          <a:solidFill>
            <a:srgbClr val="12A566"/>
          </a:solidFill>
          <a:ln/>
        </p:spPr>
      </p:sp>
      <p:sp>
        <p:nvSpPr>
          <p:cNvPr id="34" name="Text 32"/>
          <p:cNvSpPr txBox="1"/>
          <p:nvPr/>
        </p:nvSpPr>
        <p:spPr>
          <a:xfrm>
            <a:off x="4709160" y="345858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+1.2 pts</a:t>
            </a:r>
            <a:endParaRPr lang="en-US" sz="1300" dirty="0"/>
          </a:p>
        </p:txBody>
      </p:sp>
      <p:sp>
        <p:nvSpPr>
          <p:cNvPr id="35" name="Text 33"/>
          <p:cNvSpPr txBox="1"/>
          <p:nvPr/>
        </p:nvSpPr>
        <p:spPr>
          <a:xfrm>
            <a:off x="658368"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36" name="Shape 34"/>
          <p:cNvSpPr/>
          <p:nvPr/>
        </p:nvSpPr>
        <p:spPr>
          <a:xfrm>
            <a:off x="3813048" y="3750955"/>
            <a:ext cx="162704" cy="105898"/>
          </a:xfrm>
          <a:prstGeom prst="rect">
            <a:avLst/>
          </a:prstGeom>
          <a:solidFill>
            <a:srgbClr val="12A566"/>
          </a:solidFill>
          <a:ln/>
        </p:spPr>
      </p:sp>
      <p:sp>
        <p:nvSpPr>
          <p:cNvPr id="37" name="Text 35"/>
          <p:cNvSpPr txBox="1"/>
          <p:nvPr/>
        </p:nvSpPr>
        <p:spPr>
          <a:xfrm>
            <a:off x="4709160" y="3688797"/>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 pts</a:t>
            </a:r>
            <a:endParaRPr lang="en-US" sz="1300" dirty="0"/>
          </a:p>
        </p:txBody>
      </p:sp>
      <p:sp>
        <p:nvSpPr>
          <p:cNvPr id="38" name="Text 36"/>
          <p:cNvSpPr txBox="1"/>
          <p:nvPr/>
        </p:nvSpPr>
        <p:spPr>
          <a:xfrm>
            <a:off x="658368"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39" name="Shape 37"/>
          <p:cNvSpPr/>
          <p:nvPr/>
        </p:nvSpPr>
        <p:spPr>
          <a:xfrm>
            <a:off x="3813048" y="3981169"/>
            <a:ext cx="151028" cy="105898"/>
          </a:xfrm>
          <a:prstGeom prst="rect">
            <a:avLst/>
          </a:prstGeom>
          <a:solidFill>
            <a:srgbClr val="12A566"/>
          </a:solidFill>
          <a:ln/>
        </p:spPr>
      </p:sp>
      <p:sp>
        <p:nvSpPr>
          <p:cNvPr id="40" name="Text 38"/>
          <p:cNvSpPr txBox="1"/>
          <p:nvPr/>
        </p:nvSpPr>
        <p:spPr>
          <a:xfrm>
            <a:off x="4709160" y="3919011"/>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+0.9 pts</a:t>
            </a:r>
            <a:endParaRPr lang="en-US" sz="1300" dirty="0"/>
          </a:p>
        </p:txBody>
      </p:sp>
      <p:sp>
        <p:nvSpPr>
          <p:cNvPr id="41" name="Text 39"/>
          <p:cNvSpPr txBox="1"/>
          <p:nvPr/>
        </p:nvSpPr>
        <p:spPr>
          <a:xfrm>
            <a:off x="658368"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42" name="Shape 40"/>
          <p:cNvSpPr/>
          <p:nvPr/>
        </p:nvSpPr>
        <p:spPr>
          <a:xfrm>
            <a:off x="3813048" y="4211382"/>
            <a:ext cx="124645" cy="105898"/>
          </a:xfrm>
          <a:prstGeom prst="rect">
            <a:avLst/>
          </a:prstGeom>
          <a:solidFill>
            <a:srgbClr val="12A566"/>
          </a:solidFill>
          <a:ln/>
        </p:spPr>
      </p:sp>
      <p:sp>
        <p:nvSpPr>
          <p:cNvPr id="43" name="Text 41"/>
          <p:cNvSpPr txBox="1"/>
          <p:nvPr/>
        </p:nvSpPr>
        <p:spPr>
          <a:xfrm>
            <a:off x="4709160" y="414922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+0.8 pts</a:t>
            </a:r>
            <a:endParaRPr lang="en-US" sz="1300" dirty="0"/>
          </a:p>
        </p:txBody>
      </p:sp>
      <p:sp>
        <p:nvSpPr>
          <p:cNvPr id="44" name="Text 42"/>
          <p:cNvSpPr txBox="1"/>
          <p:nvPr/>
        </p:nvSpPr>
        <p:spPr>
          <a:xfrm>
            <a:off x="658368"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45" name="Shape 43"/>
          <p:cNvSpPr/>
          <p:nvPr/>
        </p:nvSpPr>
        <p:spPr>
          <a:xfrm>
            <a:off x="3813048" y="4441596"/>
            <a:ext cx="88902" cy="105898"/>
          </a:xfrm>
          <a:prstGeom prst="rect">
            <a:avLst/>
          </a:prstGeom>
          <a:solidFill>
            <a:srgbClr val="12A566"/>
          </a:solidFill>
          <a:ln/>
        </p:spPr>
      </p:sp>
      <p:sp>
        <p:nvSpPr>
          <p:cNvPr id="46" name="Text 44"/>
          <p:cNvSpPr txBox="1"/>
          <p:nvPr/>
        </p:nvSpPr>
        <p:spPr>
          <a:xfrm>
            <a:off x="4709160" y="437943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+0.6 pts</a:t>
            </a:r>
            <a:endParaRPr lang="en-US" sz="1300" dirty="0"/>
          </a:p>
        </p:txBody>
      </p:sp>
      <p:sp>
        <p:nvSpPr>
          <p:cNvPr id="47" name="Text 45"/>
          <p:cNvSpPr txBox="1"/>
          <p:nvPr/>
        </p:nvSpPr>
        <p:spPr>
          <a:xfrm>
            <a:off x="658368"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48" name="Shape 46"/>
          <p:cNvSpPr/>
          <p:nvPr/>
        </p:nvSpPr>
        <p:spPr>
          <a:xfrm>
            <a:off x="3813048" y="4671809"/>
            <a:ext cx="60584" cy="105898"/>
          </a:xfrm>
          <a:prstGeom prst="rect">
            <a:avLst/>
          </a:prstGeom>
          <a:solidFill>
            <a:srgbClr val="12A566"/>
          </a:solidFill>
          <a:ln/>
        </p:spPr>
      </p:sp>
      <p:sp>
        <p:nvSpPr>
          <p:cNvPr id="49" name="Text 47"/>
          <p:cNvSpPr txBox="1"/>
          <p:nvPr/>
        </p:nvSpPr>
        <p:spPr>
          <a:xfrm>
            <a:off x="4709160" y="460965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+0.4 pts</a:t>
            </a:r>
            <a:endParaRPr lang="en-US" sz="1300" dirty="0"/>
          </a:p>
        </p:txBody>
      </p:sp>
      <p:sp>
        <p:nvSpPr>
          <p:cNvPr id="50" name="Text 48"/>
          <p:cNvSpPr txBox="1"/>
          <p:nvPr/>
        </p:nvSpPr>
        <p:spPr>
          <a:xfrm>
            <a:off x="658368"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51" name="Shape 49"/>
          <p:cNvSpPr/>
          <p:nvPr/>
        </p:nvSpPr>
        <p:spPr>
          <a:xfrm>
            <a:off x="3813048" y="4902023"/>
            <a:ext cx="60516" cy="105898"/>
          </a:xfrm>
          <a:prstGeom prst="rect">
            <a:avLst/>
          </a:prstGeom>
          <a:solidFill>
            <a:srgbClr val="12A566"/>
          </a:solidFill>
          <a:ln/>
        </p:spPr>
      </p:sp>
      <p:sp>
        <p:nvSpPr>
          <p:cNvPr id="52" name="Text 50"/>
          <p:cNvSpPr txBox="1"/>
          <p:nvPr/>
        </p:nvSpPr>
        <p:spPr>
          <a:xfrm>
            <a:off x="4709160" y="483986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+0.4 pts</a:t>
            </a:r>
            <a:endParaRPr lang="en-US" sz="1300" dirty="0"/>
          </a:p>
        </p:txBody>
      </p:sp>
      <p:sp>
        <p:nvSpPr>
          <p:cNvPr id="53" name="Text 51"/>
          <p:cNvSpPr txBox="1"/>
          <p:nvPr/>
        </p:nvSpPr>
        <p:spPr>
          <a:xfrm>
            <a:off x="658368"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54" name="Shape 52"/>
          <p:cNvSpPr/>
          <p:nvPr/>
        </p:nvSpPr>
        <p:spPr>
          <a:xfrm>
            <a:off x="3813048" y="5132237"/>
            <a:ext cx="55084" cy="105898"/>
          </a:xfrm>
          <a:prstGeom prst="rect">
            <a:avLst/>
          </a:prstGeom>
          <a:solidFill>
            <a:srgbClr val="12A566"/>
          </a:solidFill>
          <a:ln/>
        </p:spPr>
      </p:sp>
      <p:sp>
        <p:nvSpPr>
          <p:cNvPr id="55" name="Text 53"/>
          <p:cNvSpPr txBox="1"/>
          <p:nvPr/>
        </p:nvSpPr>
        <p:spPr>
          <a:xfrm>
            <a:off x="4709160" y="507007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+0.3 pts</a:t>
            </a:r>
            <a:endParaRPr lang="en-US" sz="1300" dirty="0"/>
          </a:p>
        </p:txBody>
      </p:sp>
      <p:sp>
        <p:nvSpPr>
          <p:cNvPr id="56" name="Text 54"/>
          <p:cNvSpPr txBox="1"/>
          <p:nvPr/>
        </p:nvSpPr>
        <p:spPr>
          <a:xfrm>
            <a:off x="658368"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57" name="Shape 55"/>
          <p:cNvSpPr/>
          <p:nvPr/>
        </p:nvSpPr>
        <p:spPr>
          <a:xfrm>
            <a:off x="3813048" y="5362450"/>
            <a:ext cx="48318" cy="105898"/>
          </a:xfrm>
          <a:prstGeom prst="rect">
            <a:avLst/>
          </a:prstGeom>
          <a:solidFill>
            <a:srgbClr val="12A566"/>
          </a:solidFill>
          <a:ln/>
        </p:spPr>
      </p:sp>
      <p:sp>
        <p:nvSpPr>
          <p:cNvPr id="58" name="Text 56"/>
          <p:cNvSpPr txBox="1"/>
          <p:nvPr/>
        </p:nvSpPr>
        <p:spPr>
          <a:xfrm>
            <a:off x="4709160" y="530029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+0.3 pts</a:t>
            </a:r>
            <a:endParaRPr lang="en-US" sz="1300" dirty="0"/>
          </a:p>
        </p:txBody>
      </p:sp>
      <p:sp>
        <p:nvSpPr>
          <p:cNvPr id="59" name="Text 57"/>
          <p:cNvSpPr txBox="1"/>
          <p:nvPr/>
        </p:nvSpPr>
        <p:spPr>
          <a:xfrm>
            <a:off x="658368" y="553050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60" name="Shape 58"/>
          <p:cNvSpPr/>
          <p:nvPr/>
        </p:nvSpPr>
        <p:spPr>
          <a:xfrm>
            <a:off x="3813048" y="5592664"/>
            <a:ext cx="34874" cy="105898"/>
          </a:xfrm>
          <a:prstGeom prst="rect">
            <a:avLst/>
          </a:prstGeom>
          <a:solidFill>
            <a:srgbClr val="12A566"/>
          </a:solidFill>
          <a:ln/>
        </p:spPr>
      </p:sp>
      <p:sp>
        <p:nvSpPr>
          <p:cNvPr id="61" name="Text 59"/>
          <p:cNvSpPr txBox="1"/>
          <p:nvPr/>
        </p:nvSpPr>
        <p:spPr>
          <a:xfrm>
            <a:off x="4709160" y="553050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+0.2 pts</a:t>
            </a:r>
            <a:endParaRPr lang="en-US" sz="1300" dirty="0"/>
          </a:p>
        </p:txBody>
      </p:sp>
      <p:sp>
        <p:nvSpPr>
          <p:cNvPr id="62" name="Text 60"/>
          <p:cNvSpPr txBox="1"/>
          <p:nvPr/>
        </p:nvSpPr>
        <p:spPr>
          <a:xfrm>
            <a:off x="6208776"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63" name="Shape 61"/>
          <p:cNvSpPr/>
          <p:nvPr/>
        </p:nvSpPr>
        <p:spPr>
          <a:xfrm>
            <a:off x="9363456" y="1909246"/>
            <a:ext cx="30901" cy="105898"/>
          </a:xfrm>
          <a:prstGeom prst="rect">
            <a:avLst/>
          </a:prstGeom>
          <a:solidFill>
            <a:srgbClr val="12A566"/>
          </a:solidFill>
          <a:ln/>
        </p:spPr>
      </p:sp>
      <p:sp>
        <p:nvSpPr>
          <p:cNvPr id="64" name="Text 62"/>
          <p:cNvSpPr txBox="1"/>
          <p:nvPr/>
        </p:nvSpPr>
        <p:spPr>
          <a:xfrm>
            <a:off x="10259568"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+0.2 pts</a:t>
            </a:r>
            <a:endParaRPr lang="en-US" sz="1300" dirty="0"/>
          </a:p>
        </p:txBody>
      </p:sp>
      <p:sp>
        <p:nvSpPr>
          <p:cNvPr id="65" name="Text 63"/>
          <p:cNvSpPr txBox="1"/>
          <p:nvPr/>
        </p:nvSpPr>
        <p:spPr>
          <a:xfrm>
            <a:off x="6208776"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66" name="Shape 64"/>
          <p:cNvSpPr/>
          <p:nvPr/>
        </p:nvSpPr>
        <p:spPr>
          <a:xfrm>
            <a:off x="9363456" y="2139459"/>
            <a:ext cx="30171" cy="105898"/>
          </a:xfrm>
          <a:prstGeom prst="rect">
            <a:avLst/>
          </a:prstGeom>
          <a:solidFill>
            <a:srgbClr val="12A566"/>
          </a:solidFill>
          <a:ln/>
        </p:spPr>
      </p:sp>
      <p:sp>
        <p:nvSpPr>
          <p:cNvPr id="67" name="Text 65"/>
          <p:cNvSpPr txBox="1"/>
          <p:nvPr/>
        </p:nvSpPr>
        <p:spPr>
          <a:xfrm>
            <a:off x="10259568"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+0.2 pts</a:t>
            </a:r>
            <a:endParaRPr lang="en-US" sz="1300" dirty="0"/>
          </a:p>
        </p:txBody>
      </p:sp>
      <p:sp>
        <p:nvSpPr>
          <p:cNvPr id="68" name="Text 66"/>
          <p:cNvSpPr txBox="1"/>
          <p:nvPr/>
        </p:nvSpPr>
        <p:spPr>
          <a:xfrm>
            <a:off x="6208776"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69" name="Shape 67"/>
          <p:cNvSpPr/>
          <p:nvPr/>
        </p:nvSpPr>
        <p:spPr>
          <a:xfrm>
            <a:off x="9363456" y="2369673"/>
            <a:ext cx="18529" cy="105898"/>
          </a:xfrm>
          <a:prstGeom prst="rect">
            <a:avLst/>
          </a:prstGeom>
          <a:solidFill>
            <a:srgbClr val="12A566"/>
          </a:solidFill>
          <a:ln/>
        </p:spPr>
      </p:sp>
      <p:sp>
        <p:nvSpPr>
          <p:cNvPr id="70" name="Text 68"/>
          <p:cNvSpPr txBox="1"/>
          <p:nvPr/>
        </p:nvSpPr>
        <p:spPr>
          <a:xfrm>
            <a:off x="10259568"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+0.1 pts</a:t>
            </a:r>
            <a:endParaRPr lang="en-US" sz="1300" dirty="0"/>
          </a:p>
        </p:txBody>
      </p:sp>
      <p:sp>
        <p:nvSpPr>
          <p:cNvPr id="71" name="Text 69"/>
          <p:cNvSpPr txBox="1"/>
          <p:nvPr/>
        </p:nvSpPr>
        <p:spPr>
          <a:xfrm>
            <a:off x="6208776"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72" name="Shape 70"/>
          <p:cNvSpPr/>
          <p:nvPr/>
        </p:nvSpPr>
        <p:spPr>
          <a:xfrm>
            <a:off x="9323089" y="2599887"/>
            <a:ext cx="40367" cy="105898"/>
          </a:xfrm>
          <a:prstGeom prst="rect">
            <a:avLst/>
          </a:prstGeom>
          <a:solidFill>
            <a:srgbClr val="C2352F"/>
          </a:solidFill>
          <a:ln/>
        </p:spPr>
      </p:sp>
      <p:sp>
        <p:nvSpPr>
          <p:cNvPr id="73" name="Text 71"/>
          <p:cNvSpPr txBox="1"/>
          <p:nvPr/>
        </p:nvSpPr>
        <p:spPr>
          <a:xfrm>
            <a:off x="10259568" y="2537729"/>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−0.3 pts</a:t>
            </a:r>
            <a:endParaRPr lang="en-US" sz="1300" dirty="0"/>
          </a:p>
        </p:txBody>
      </p:sp>
      <p:sp>
        <p:nvSpPr>
          <p:cNvPr id="74" name="Text 72"/>
          <p:cNvSpPr txBox="1"/>
          <p:nvPr/>
        </p:nvSpPr>
        <p:spPr>
          <a:xfrm>
            <a:off x="6208776"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75" name="Shape 73"/>
          <p:cNvSpPr/>
          <p:nvPr/>
        </p:nvSpPr>
        <p:spPr>
          <a:xfrm>
            <a:off x="9308868" y="2830100"/>
            <a:ext cx="54588" cy="105898"/>
          </a:xfrm>
          <a:prstGeom prst="rect">
            <a:avLst/>
          </a:prstGeom>
          <a:solidFill>
            <a:srgbClr val="C2352F"/>
          </a:solidFill>
          <a:ln/>
        </p:spPr>
      </p:sp>
      <p:sp>
        <p:nvSpPr>
          <p:cNvPr id="76" name="Text 74"/>
          <p:cNvSpPr txBox="1"/>
          <p:nvPr/>
        </p:nvSpPr>
        <p:spPr>
          <a:xfrm>
            <a:off x="10259568" y="276794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−0.3 pts</a:t>
            </a:r>
            <a:endParaRPr lang="en-US" sz="1300" dirty="0"/>
          </a:p>
        </p:txBody>
      </p:sp>
      <p:sp>
        <p:nvSpPr>
          <p:cNvPr id="77" name="Text 75"/>
          <p:cNvSpPr txBox="1"/>
          <p:nvPr/>
        </p:nvSpPr>
        <p:spPr>
          <a:xfrm>
            <a:off x="6208776"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78" name="Shape 76"/>
          <p:cNvSpPr/>
          <p:nvPr/>
        </p:nvSpPr>
        <p:spPr>
          <a:xfrm>
            <a:off x="9290146" y="3060314"/>
            <a:ext cx="73310" cy="105898"/>
          </a:xfrm>
          <a:prstGeom prst="rect">
            <a:avLst/>
          </a:prstGeom>
          <a:solidFill>
            <a:srgbClr val="C2352F"/>
          </a:solidFill>
          <a:ln/>
        </p:spPr>
      </p:sp>
      <p:sp>
        <p:nvSpPr>
          <p:cNvPr id="79" name="Text 77"/>
          <p:cNvSpPr txBox="1"/>
          <p:nvPr/>
        </p:nvSpPr>
        <p:spPr>
          <a:xfrm>
            <a:off x="10259568" y="2998156"/>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−0.5 pts</a:t>
            </a:r>
            <a:endParaRPr lang="en-US" sz="1300" dirty="0"/>
          </a:p>
        </p:txBody>
      </p:sp>
      <p:sp>
        <p:nvSpPr>
          <p:cNvPr id="80" name="Text 78"/>
          <p:cNvSpPr txBox="1"/>
          <p:nvPr/>
        </p:nvSpPr>
        <p:spPr>
          <a:xfrm>
            <a:off x="6208776"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81" name="Shape 79"/>
          <p:cNvSpPr/>
          <p:nvPr/>
        </p:nvSpPr>
        <p:spPr>
          <a:xfrm>
            <a:off x="9238791" y="3290528"/>
            <a:ext cx="124665" cy="105898"/>
          </a:xfrm>
          <a:prstGeom prst="rect">
            <a:avLst/>
          </a:prstGeom>
          <a:solidFill>
            <a:srgbClr val="C2352F"/>
          </a:solidFill>
          <a:ln/>
        </p:spPr>
      </p:sp>
      <p:sp>
        <p:nvSpPr>
          <p:cNvPr id="82" name="Text 80"/>
          <p:cNvSpPr txBox="1"/>
          <p:nvPr/>
        </p:nvSpPr>
        <p:spPr>
          <a:xfrm>
            <a:off x="10259568" y="3228370"/>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−0.8 pts</a:t>
            </a:r>
            <a:endParaRPr lang="en-US" sz="1300" dirty="0"/>
          </a:p>
        </p:txBody>
      </p:sp>
      <p:sp>
        <p:nvSpPr>
          <p:cNvPr id="83" name="Text 81"/>
          <p:cNvSpPr txBox="1"/>
          <p:nvPr/>
        </p:nvSpPr>
        <p:spPr>
          <a:xfrm>
            <a:off x="6208776"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84" name="Shape 82"/>
          <p:cNvSpPr/>
          <p:nvPr/>
        </p:nvSpPr>
        <p:spPr>
          <a:xfrm>
            <a:off x="9194680" y="3520741"/>
            <a:ext cx="168776" cy="105898"/>
          </a:xfrm>
          <a:prstGeom prst="rect">
            <a:avLst/>
          </a:prstGeom>
          <a:solidFill>
            <a:srgbClr val="C2352F"/>
          </a:solidFill>
          <a:ln/>
        </p:spPr>
      </p:sp>
      <p:sp>
        <p:nvSpPr>
          <p:cNvPr id="85" name="Text 83"/>
          <p:cNvSpPr txBox="1"/>
          <p:nvPr/>
        </p:nvSpPr>
        <p:spPr>
          <a:xfrm>
            <a:off x="10259568" y="345858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 pts</a:t>
            </a:r>
            <a:endParaRPr lang="en-US" sz="1300" dirty="0"/>
          </a:p>
        </p:txBody>
      </p:sp>
      <p:sp>
        <p:nvSpPr>
          <p:cNvPr id="86" name="Text 84"/>
          <p:cNvSpPr txBox="1"/>
          <p:nvPr/>
        </p:nvSpPr>
        <p:spPr>
          <a:xfrm>
            <a:off x="6208776"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87" name="Shape 85"/>
          <p:cNvSpPr/>
          <p:nvPr/>
        </p:nvSpPr>
        <p:spPr>
          <a:xfrm>
            <a:off x="9139920" y="3750955"/>
            <a:ext cx="223536" cy="105898"/>
          </a:xfrm>
          <a:prstGeom prst="rect">
            <a:avLst/>
          </a:prstGeom>
          <a:solidFill>
            <a:srgbClr val="C2352F"/>
          </a:solidFill>
          <a:ln/>
        </p:spPr>
      </p:sp>
      <p:sp>
        <p:nvSpPr>
          <p:cNvPr id="88" name="Text 86"/>
          <p:cNvSpPr txBox="1"/>
          <p:nvPr/>
        </p:nvSpPr>
        <p:spPr>
          <a:xfrm>
            <a:off x="10259568" y="3688797"/>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 pts</a:t>
            </a:r>
            <a:endParaRPr lang="en-US" sz="1300" dirty="0"/>
          </a:p>
        </p:txBody>
      </p:sp>
      <p:sp>
        <p:nvSpPr>
          <p:cNvPr id="89" name="Text 87"/>
          <p:cNvSpPr txBox="1"/>
          <p:nvPr/>
        </p:nvSpPr>
        <p:spPr>
          <a:xfrm>
            <a:off x="6208776"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90" name="Shape 88"/>
          <p:cNvSpPr/>
          <p:nvPr/>
        </p:nvSpPr>
        <p:spPr>
          <a:xfrm>
            <a:off x="9135094" y="3981169"/>
            <a:ext cx="228362" cy="105898"/>
          </a:xfrm>
          <a:prstGeom prst="rect">
            <a:avLst/>
          </a:prstGeom>
          <a:solidFill>
            <a:srgbClr val="C2352F"/>
          </a:solidFill>
          <a:ln/>
        </p:spPr>
      </p:sp>
      <p:sp>
        <p:nvSpPr>
          <p:cNvPr id="91" name="Text 89"/>
          <p:cNvSpPr txBox="1"/>
          <p:nvPr/>
        </p:nvSpPr>
        <p:spPr>
          <a:xfrm>
            <a:off x="10259568" y="3919011"/>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 pts</a:t>
            </a:r>
            <a:endParaRPr lang="en-US" sz="1300" dirty="0"/>
          </a:p>
        </p:txBody>
      </p:sp>
      <p:sp>
        <p:nvSpPr>
          <p:cNvPr id="92" name="Text 90"/>
          <p:cNvSpPr txBox="1"/>
          <p:nvPr/>
        </p:nvSpPr>
        <p:spPr>
          <a:xfrm>
            <a:off x="6208776"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93" name="Shape 91"/>
          <p:cNvSpPr/>
          <p:nvPr/>
        </p:nvSpPr>
        <p:spPr>
          <a:xfrm>
            <a:off x="9127093" y="4211382"/>
            <a:ext cx="236363" cy="105898"/>
          </a:xfrm>
          <a:prstGeom prst="rect">
            <a:avLst/>
          </a:prstGeom>
          <a:solidFill>
            <a:srgbClr val="C2352F"/>
          </a:solidFill>
          <a:ln/>
        </p:spPr>
      </p:sp>
      <p:sp>
        <p:nvSpPr>
          <p:cNvPr id="94" name="Text 92"/>
          <p:cNvSpPr txBox="1"/>
          <p:nvPr/>
        </p:nvSpPr>
        <p:spPr>
          <a:xfrm>
            <a:off x="10259568" y="414922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−1.5 pts</a:t>
            </a:r>
            <a:endParaRPr lang="en-US" sz="1300" dirty="0"/>
          </a:p>
        </p:txBody>
      </p:sp>
      <p:sp>
        <p:nvSpPr>
          <p:cNvPr id="95" name="Text 93"/>
          <p:cNvSpPr txBox="1"/>
          <p:nvPr/>
        </p:nvSpPr>
        <p:spPr>
          <a:xfrm>
            <a:off x="6208776"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96" name="Shape 94"/>
          <p:cNvSpPr/>
          <p:nvPr/>
        </p:nvSpPr>
        <p:spPr>
          <a:xfrm>
            <a:off x="9046147" y="4441596"/>
            <a:ext cx="317309" cy="105898"/>
          </a:xfrm>
          <a:prstGeom prst="rect">
            <a:avLst/>
          </a:prstGeom>
          <a:solidFill>
            <a:srgbClr val="C2352F"/>
          </a:solidFill>
          <a:ln/>
        </p:spPr>
      </p:sp>
      <p:sp>
        <p:nvSpPr>
          <p:cNvPr id="97" name="Text 95"/>
          <p:cNvSpPr txBox="1"/>
          <p:nvPr/>
        </p:nvSpPr>
        <p:spPr>
          <a:xfrm>
            <a:off x="10259568" y="4379438"/>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−2.0 pts</a:t>
            </a:r>
            <a:endParaRPr lang="en-US" sz="1300" dirty="0"/>
          </a:p>
        </p:txBody>
      </p:sp>
      <p:sp>
        <p:nvSpPr>
          <p:cNvPr id="98" name="Text 96"/>
          <p:cNvSpPr txBox="1"/>
          <p:nvPr/>
        </p:nvSpPr>
        <p:spPr>
          <a:xfrm>
            <a:off x="6208776"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99" name="Shape 97"/>
          <p:cNvSpPr/>
          <p:nvPr/>
        </p:nvSpPr>
        <p:spPr>
          <a:xfrm>
            <a:off x="9043296" y="4671809"/>
            <a:ext cx="320160" cy="105898"/>
          </a:xfrm>
          <a:prstGeom prst="rect">
            <a:avLst/>
          </a:prstGeom>
          <a:solidFill>
            <a:srgbClr val="C2352F"/>
          </a:solidFill>
          <a:ln/>
        </p:spPr>
      </p:sp>
      <p:sp>
        <p:nvSpPr>
          <p:cNvPr id="100" name="Text 98"/>
          <p:cNvSpPr txBox="1"/>
          <p:nvPr/>
        </p:nvSpPr>
        <p:spPr>
          <a:xfrm>
            <a:off x="10259568" y="4609652"/>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−2.0 pts</a:t>
            </a:r>
            <a:endParaRPr lang="en-US" sz="1300" dirty="0"/>
          </a:p>
        </p:txBody>
      </p:sp>
      <p:sp>
        <p:nvSpPr>
          <p:cNvPr id="101" name="Text 99"/>
          <p:cNvSpPr txBox="1"/>
          <p:nvPr/>
        </p:nvSpPr>
        <p:spPr>
          <a:xfrm>
            <a:off x="6208776"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102" name="Shape 100"/>
          <p:cNvSpPr/>
          <p:nvPr/>
        </p:nvSpPr>
        <p:spPr>
          <a:xfrm>
            <a:off x="8898503" y="4902023"/>
            <a:ext cx="464953" cy="105898"/>
          </a:xfrm>
          <a:prstGeom prst="rect">
            <a:avLst/>
          </a:prstGeom>
          <a:solidFill>
            <a:srgbClr val="C2352F"/>
          </a:solidFill>
          <a:ln/>
        </p:spPr>
      </p:sp>
      <p:sp>
        <p:nvSpPr>
          <p:cNvPr id="103" name="Text 101"/>
          <p:cNvSpPr txBox="1"/>
          <p:nvPr/>
        </p:nvSpPr>
        <p:spPr>
          <a:xfrm>
            <a:off x="10259568" y="4839865"/>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−2.9 pts</a:t>
            </a:r>
            <a:endParaRPr lang="en-US" sz="1300" dirty="0"/>
          </a:p>
        </p:txBody>
      </p:sp>
      <p:sp>
        <p:nvSpPr>
          <p:cNvPr id="104" name="Text 102"/>
          <p:cNvSpPr txBox="1"/>
          <p:nvPr/>
        </p:nvSpPr>
        <p:spPr>
          <a:xfrm>
            <a:off x="6208776"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105" name="Shape 103"/>
          <p:cNvSpPr/>
          <p:nvPr/>
        </p:nvSpPr>
        <p:spPr>
          <a:xfrm>
            <a:off x="8620592" y="5132237"/>
            <a:ext cx="742864" cy="105898"/>
          </a:xfrm>
          <a:prstGeom prst="rect">
            <a:avLst/>
          </a:prstGeom>
          <a:solidFill>
            <a:srgbClr val="C2352F"/>
          </a:solidFill>
          <a:ln/>
        </p:spPr>
      </p:sp>
      <p:sp>
        <p:nvSpPr>
          <p:cNvPr id="106" name="Text 104"/>
          <p:cNvSpPr txBox="1"/>
          <p:nvPr/>
        </p:nvSpPr>
        <p:spPr>
          <a:xfrm>
            <a:off x="10259568" y="5070079"/>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−4.7 pts</a:t>
            </a:r>
            <a:endParaRPr lang="en-US" sz="1300" dirty="0"/>
          </a:p>
        </p:txBody>
      </p:sp>
      <p:sp>
        <p:nvSpPr>
          <p:cNvPr id="107" name="Text 105"/>
          <p:cNvSpPr txBox="1"/>
          <p:nvPr/>
        </p:nvSpPr>
        <p:spPr>
          <a:xfrm>
            <a:off x="6208776"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08" name="Shape 106"/>
          <p:cNvSpPr/>
          <p:nvPr/>
        </p:nvSpPr>
        <p:spPr>
          <a:xfrm>
            <a:off x="8540496" y="5362450"/>
            <a:ext cx="822960" cy="105898"/>
          </a:xfrm>
          <a:prstGeom prst="rect">
            <a:avLst/>
          </a:prstGeom>
          <a:solidFill>
            <a:srgbClr val="C2352F"/>
          </a:solidFill>
          <a:ln/>
        </p:spPr>
      </p:sp>
      <p:sp>
        <p:nvSpPr>
          <p:cNvPr id="109" name="Text 107"/>
          <p:cNvSpPr txBox="1"/>
          <p:nvPr/>
        </p:nvSpPr>
        <p:spPr>
          <a:xfrm>
            <a:off x="10259568" y="530029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−5.2 pts</a:t>
            </a:r>
            <a:endParaRPr lang="en-US" sz="1300" dirty="0"/>
          </a:p>
        </p:txBody>
      </p:sp>
      <p:sp>
        <p:nvSpPr>
          <p:cNvPr id="110" name="Shape 108"/>
          <p:cNvSpPr/>
          <p:nvPr/>
        </p:nvSpPr>
        <p:spPr>
          <a:xfrm>
            <a:off x="3807562" y="1847088"/>
            <a:ext cx="10973" cy="3913632"/>
          </a:xfrm>
          <a:prstGeom prst="rect">
            <a:avLst/>
          </a:prstGeom>
          <a:solidFill>
            <a:srgbClr val="9AA3AD"/>
          </a:solidFill>
          <a:ln/>
        </p:spPr>
      </p:sp>
      <p:sp>
        <p:nvSpPr>
          <p:cNvPr id="111" name="Shape 109"/>
          <p:cNvSpPr/>
          <p:nvPr/>
        </p:nvSpPr>
        <p:spPr>
          <a:xfrm>
            <a:off x="9357970" y="1847088"/>
            <a:ext cx="10973" cy="3913632"/>
          </a:xfrm>
          <a:prstGeom prst="rect">
            <a:avLst/>
          </a:prstGeom>
          <a:solidFill>
            <a:srgbClr val="9AA3AD"/>
          </a:solidFill>
          <a:ln/>
        </p:spPr>
      </p:sp>
      <p:sp>
        <p:nvSpPr>
          <p:cNvPr id="112" name="Shape 110"/>
          <p:cNvSpPr/>
          <p:nvPr/>
        </p:nvSpPr>
        <p:spPr>
          <a:xfrm>
            <a:off x="457200" y="5961888"/>
            <a:ext cx="11274552" cy="548640"/>
          </a:xfrm>
          <a:prstGeom prst="rect">
            <a:avLst/>
          </a:prstGeom>
          <a:solidFill>
            <a:srgbClr val="FBEBEA"/>
          </a:solidFill>
          <a:ln/>
        </p:spPr>
      </p:sp>
      <p:sp>
        <p:nvSpPr>
          <p:cNvPr id="113" name="Text 111"/>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20 of 33 stores improved labor margin, led by TOYOTA PRESCOTT at +4.6 pts to 78.5%. 13 declined; HYUNDAI PRESCOTT fell most at −5.2 pts.</a:t>
            </a:r>
            <a:endParaRPr lang="en-US" sz="16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Parts Gross Profit %</a:t>
            </a:r>
            <a:endParaRPr lang="en-US" sz="2800" dirty="0"/>
          </a:p>
        </p:txBody>
      </p:sp>
      <p:sp>
        <p:nvSpPr>
          <p:cNvPr id="5" name="Shape 3"/>
          <p:cNvSpPr/>
          <p:nvPr/>
        </p:nvSpPr>
        <p:spPr>
          <a:xfrm>
            <a:off x="457200" y="1207008"/>
            <a:ext cx="11274552" cy="1517904"/>
          </a:xfrm>
          <a:prstGeom prst="rect">
            <a:avLst/>
          </a:prstGeom>
          <a:solidFill>
            <a:srgbClr val="FFFFFF"/>
          </a:solidFill>
          <a:ln/>
        </p:spPr>
      </p:sp>
      <p:sp>
        <p:nvSpPr>
          <p:cNvPr id="6" name="Text 4"/>
          <p:cNvSpPr txBox="1"/>
          <p:nvPr/>
        </p:nvSpPr>
        <p:spPr>
          <a:xfrm>
            <a:off x="685800" y="1316736"/>
            <a:ext cx="10789920" cy="274320"/>
          </a:xfrm>
          <a:prstGeom prst="rect">
            <a:avLst/>
          </a:prstGeom>
          <a:noFill/>
          <a:ln/>
        </p:spPr>
        <p:txBody>
          <a:bodyPr wrap="square" lIns="0" tIns="0" rIns="0" bIns="0" rtlCol="0" anchor="ctr"/>
          <a:lstStyle/>
          <a:p>
            <a:pPr indent="0" marL="0">
              <a:buNone/>
            </a:pPr>
            <a:r>
              <a:rPr lang="en-US" sz="1400" spc="100" kern="0" dirty="0">
                <a:solidFill>
                  <a:srgbClr val="595959"/>
                </a:solidFill>
                <a:latin typeface="Inter" pitchFamily="34" charset="0"/>
                <a:ea typeface="Inter" pitchFamily="34" charset="-122"/>
                <a:cs typeface="Inter" pitchFamily="34" charset="-120"/>
              </a:rPr>
              <a:t>GROUP · JANUARY–SEPTEMBER · SAME-STORE, 33 STORES</a:t>
            </a:r>
            <a:endParaRPr lang="en-US" sz="1400" dirty="0"/>
          </a:p>
        </p:txBody>
      </p:sp>
      <p:sp>
        <p:nvSpPr>
          <p:cNvPr id="7" name="Text 5"/>
          <p:cNvSpPr txBox="1"/>
          <p:nvPr/>
        </p:nvSpPr>
        <p:spPr>
          <a:xfrm>
            <a:off x="68580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a:t>
            </a:r>
            <a:endParaRPr lang="en-US" sz="1400" dirty="0"/>
          </a:p>
        </p:txBody>
      </p:sp>
      <p:sp>
        <p:nvSpPr>
          <p:cNvPr id="8" name="Text 6"/>
          <p:cNvSpPr txBox="1"/>
          <p:nvPr/>
        </p:nvSpPr>
        <p:spPr>
          <a:xfrm>
            <a:off x="68580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39.4%</a:t>
            </a:r>
            <a:endParaRPr lang="en-US" sz="3000" dirty="0"/>
          </a:p>
        </p:txBody>
      </p:sp>
      <p:sp>
        <p:nvSpPr>
          <p:cNvPr id="9" name="Text 7"/>
          <p:cNvSpPr txBox="1"/>
          <p:nvPr/>
        </p:nvSpPr>
        <p:spPr>
          <a:xfrm>
            <a:off x="347472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a:t>
            </a:r>
            <a:endParaRPr lang="en-US" sz="1400" dirty="0"/>
          </a:p>
        </p:txBody>
      </p:sp>
      <p:sp>
        <p:nvSpPr>
          <p:cNvPr id="10" name="Text 8"/>
          <p:cNvSpPr txBox="1"/>
          <p:nvPr/>
        </p:nvSpPr>
        <p:spPr>
          <a:xfrm>
            <a:off x="347472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40.7%</a:t>
            </a:r>
            <a:endParaRPr lang="en-US" sz="3000" dirty="0"/>
          </a:p>
        </p:txBody>
      </p:sp>
      <p:sp>
        <p:nvSpPr>
          <p:cNvPr id="11" name="Text 9"/>
          <p:cNvSpPr txBox="1"/>
          <p:nvPr/>
        </p:nvSpPr>
        <p:spPr>
          <a:xfrm>
            <a:off x="626364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2" name="Text 10"/>
          <p:cNvSpPr txBox="1"/>
          <p:nvPr/>
        </p:nvSpPr>
        <p:spPr>
          <a:xfrm>
            <a:off x="626364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+1.2 pts</a:t>
            </a:r>
            <a:endParaRPr lang="en-US" sz="3000" dirty="0"/>
          </a:p>
        </p:txBody>
      </p:sp>
      <p:sp>
        <p:nvSpPr>
          <p:cNvPr id="13" name="Text 11"/>
          <p:cNvSpPr txBox="1"/>
          <p:nvPr/>
        </p:nvSpPr>
        <p:spPr>
          <a:xfrm>
            <a:off x="905256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4" name="Text 12"/>
          <p:cNvSpPr txBox="1"/>
          <p:nvPr/>
        </p:nvSpPr>
        <p:spPr>
          <a:xfrm>
            <a:off x="905256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+3.1%</a:t>
            </a:r>
            <a:endParaRPr lang="en-US" sz="30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7200" y="2816352"/>
          <a:ext cx="11274552" cy="914400"/>
        </p:xfrm>
        <a:graphic>
          <a:graphicData uri="http://schemas.openxmlformats.org/drawingml/2006/table">
            <a:tbl>
              <a:tblPr/>
              <a:tblGrid>
                <a:gridCol w="3118104"/>
                <a:gridCol w="2039112"/>
                <a:gridCol w="2039112"/>
                <a:gridCol w="2039112"/>
                <a:gridCol w="2039112"/>
              </a:tblGrid>
              <a:tr h="274320">
                <a:tc>
                  <a:txBody>
                    <a:bodyPr/>
                    <a:lstStyle/>
                    <a:p>
                      <a:pPr algn="l" indent="0" marL="0">
                        <a:buNone/>
                      </a:pPr>
                      <a:r>
                        <a:rPr lang="en-US" sz="1400" b="1" dirty="0">
                          <a:solidFill>
                            <a:srgbClr val="FFFFFF"/>
                          </a:solidFill>
                          <a:latin typeface="Inter" pitchFamily="34" charset="0"/>
                          <a:ea typeface="Inter" pitchFamily="34" charset="-122"/>
                          <a:cs typeface="Inter" pitchFamily="34" charset="-120"/>
                        </a:rPr>
                        <a:t>MONTH</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VARIANCE</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 %</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JAN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39.4%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40.5%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+1.1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FEB</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39.4%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40.3%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+1.0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39.6%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41.0%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+1.4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APR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38.3%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39.6%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+1.3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MAY</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39.9%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41.3%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+1.5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40.3%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41.3%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+1.1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JUL</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39.5%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40.6%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+1.1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AUG</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39.4%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41.1%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+1.7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SEP</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39.2%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40.1%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+0.9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16" name="Shape 13"/>
          <p:cNvSpPr/>
          <p:nvPr/>
        </p:nvSpPr>
        <p:spPr>
          <a:xfrm>
            <a:off x="457200" y="5961888"/>
            <a:ext cx="11274552" cy="548640"/>
          </a:xfrm>
          <a:prstGeom prst="rect">
            <a:avLst/>
          </a:prstGeom>
          <a:solidFill>
            <a:srgbClr val="E6F6EE"/>
          </a:solidFill>
          <a:ln/>
        </p:spPr>
      </p:sp>
      <p:sp>
        <p:nvSpPr>
          <p:cNvPr id="17" name="Text 14"/>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Up 1.2 pts to 40.7%, ahead of 2025 in all nine months.</a:t>
            </a:r>
            <a:endParaRPr lang="en-US" sz="16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Parts Gross Profit %</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38988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7" name="Shape 5"/>
          <p:cNvSpPr/>
          <p:nvPr/>
        </p:nvSpPr>
        <p:spPr>
          <a:xfrm>
            <a:off x="2971800" y="1453358"/>
            <a:ext cx="1828800" cy="126940"/>
          </a:xfrm>
          <a:prstGeom prst="rect">
            <a:avLst/>
          </a:prstGeom>
          <a:solidFill>
            <a:srgbClr val="12A566"/>
          </a:solidFill>
          <a:ln/>
        </p:spPr>
      </p:sp>
      <p:sp>
        <p:nvSpPr>
          <p:cNvPr id="8" name="Text 6"/>
          <p:cNvSpPr txBox="1"/>
          <p:nvPr/>
        </p:nvSpPr>
        <p:spPr>
          <a:xfrm>
            <a:off x="4855464" y="1389888"/>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49.0%</a:t>
            </a:r>
            <a:endParaRPr lang="en-US" sz="1300" dirty="0"/>
          </a:p>
        </p:txBody>
      </p:sp>
      <p:sp>
        <p:nvSpPr>
          <p:cNvPr id="9" name="Text 7"/>
          <p:cNvSpPr txBox="1"/>
          <p:nvPr/>
        </p:nvSpPr>
        <p:spPr>
          <a:xfrm>
            <a:off x="658368" y="164376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10" name="Shape 8"/>
          <p:cNvSpPr/>
          <p:nvPr/>
        </p:nvSpPr>
        <p:spPr>
          <a:xfrm>
            <a:off x="2971800" y="1707239"/>
            <a:ext cx="1671544" cy="126940"/>
          </a:xfrm>
          <a:prstGeom prst="rect">
            <a:avLst/>
          </a:prstGeom>
          <a:solidFill>
            <a:srgbClr val="12A566"/>
          </a:solidFill>
          <a:ln/>
        </p:spPr>
      </p:sp>
      <p:sp>
        <p:nvSpPr>
          <p:cNvPr id="11" name="Text 9"/>
          <p:cNvSpPr txBox="1"/>
          <p:nvPr/>
        </p:nvSpPr>
        <p:spPr>
          <a:xfrm>
            <a:off x="4855464" y="1643768"/>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47.0%</a:t>
            </a:r>
            <a:endParaRPr lang="en-US" sz="1300" dirty="0"/>
          </a:p>
        </p:txBody>
      </p:sp>
      <p:sp>
        <p:nvSpPr>
          <p:cNvPr id="12" name="Text 10"/>
          <p:cNvSpPr txBox="1"/>
          <p:nvPr/>
        </p:nvSpPr>
        <p:spPr>
          <a:xfrm>
            <a:off x="658368" y="189764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13" name="Shape 11"/>
          <p:cNvSpPr/>
          <p:nvPr/>
        </p:nvSpPr>
        <p:spPr>
          <a:xfrm>
            <a:off x="2971800" y="1961119"/>
            <a:ext cx="1530788" cy="126940"/>
          </a:xfrm>
          <a:prstGeom prst="rect">
            <a:avLst/>
          </a:prstGeom>
          <a:solidFill>
            <a:srgbClr val="12A566"/>
          </a:solidFill>
          <a:ln/>
        </p:spPr>
      </p:sp>
      <p:sp>
        <p:nvSpPr>
          <p:cNvPr id="14" name="Text 12"/>
          <p:cNvSpPr txBox="1"/>
          <p:nvPr/>
        </p:nvSpPr>
        <p:spPr>
          <a:xfrm>
            <a:off x="4855464" y="1897649"/>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45.1%</a:t>
            </a:r>
            <a:endParaRPr lang="en-US" sz="1300" dirty="0"/>
          </a:p>
        </p:txBody>
      </p:sp>
      <p:sp>
        <p:nvSpPr>
          <p:cNvPr id="15" name="Text 13"/>
          <p:cNvSpPr txBox="1"/>
          <p:nvPr/>
        </p:nvSpPr>
        <p:spPr>
          <a:xfrm>
            <a:off x="658368" y="215152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16" name="Shape 14"/>
          <p:cNvSpPr/>
          <p:nvPr/>
        </p:nvSpPr>
        <p:spPr>
          <a:xfrm>
            <a:off x="2971800" y="2215000"/>
            <a:ext cx="1511484" cy="126940"/>
          </a:xfrm>
          <a:prstGeom prst="rect">
            <a:avLst/>
          </a:prstGeom>
          <a:solidFill>
            <a:srgbClr val="12A566"/>
          </a:solidFill>
          <a:ln/>
        </p:spPr>
      </p:sp>
      <p:sp>
        <p:nvSpPr>
          <p:cNvPr id="17" name="Text 15"/>
          <p:cNvSpPr txBox="1"/>
          <p:nvPr/>
        </p:nvSpPr>
        <p:spPr>
          <a:xfrm>
            <a:off x="4855464" y="2151529"/>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44.9%</a:t>
            </a:r>
            <a:endParaRPr lang="en-US" sz="1300" dirty="0"/>
          </a:p>
        </p:txBody>
      </p:sp>
      <p:sp>
        <p:nvSpPr>
          <p:cNvPr id="18" name="Text 16"/>
          <p:cNvSpPr txBox="1"/>
          <p:nvPr/>
        </p:nvSpPr>
        <p:spPr>
          <a:xfrm>
            <a:off x="658368" y="240541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19" name="Shape 17"/>
          <p:cNvSpPr/>
          <p:nvPr/>
        </p:nvSpPr>
        <p:spPr>
          <a:xfrm>
            <a:off x="2971800" y="2468880"/>
            <a:ext cx="1492120" cy="126940"/>
          </a:xfrm>
          <a:prstGeom prst="rect">
            <a:avLst/>
          </a:prstGeom>
          <a:solidFill>
            <a:srgbClr val="12A566"/>
          </a:solidFill>
          <a:ln/>
        </p:spPr>
      </p:sp>
      <p:sp>
        <p:nvSpPr>
          <p:cNvPr id="20" name="Text 18"/>
          <p:cNvSpPr txBox="1"/>
          <p:nvPr/>
        </p:nvSpPr>
        <p:spPr>
          <a:xfrm>
            <a:off x="4855464" y="2405410"/>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44.6%</a:t>
            </a:r>
            <a:endParaRPr lang="en-US" sz="1300" dirty="0"/>
          </a:p>
        </p:txBody>
      </p:sp>
      <p:sp>
        <p:nvSpPr>
          <p:cNvPr id="21" name="Text 19"/>
          <p:cNvSpPr txBox="1"/>
          <p:nvPr/>
        </p:nvSpPr>
        <p:spPr>
          <a:xfrm>
            <a:off x="658368" y="265929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22" name="Shape 20"/>
          <p:cNvSpPr/>
          <p:nvPr/>
        </p:nvSpPr>
        <p:spPr>
          <a:xfrm>
            <a:off x="2971800" y="2722760"/>
            <a:ext cx="1480932" cy="126940"/>
          </a:xfrm>
          <a:prstGeom prst="rect">
            <a:avLst/>
          </a:prstGeom>
          <a:solidFill>
            <a:srgbClr val="12A566"/>
          </a:solidFill>
          <a:ln/>
        </p:spPr>
      </p:sp>
      <p:sp>
        <p:nvSpPr>
          <p:cNvPr id="23" name="Text 21"/>
          <p:cNvSpPr txBox="1"/>
          <p:nvPr/>
        </p:nvSpPr>
        <p:spPr>
          <a:xfrm>
            <a:off x="4855464" y="2659290"/>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44.5%</a:t>
            </a:r>
            <a:endParaRPr lang="en-US" sz="1300" dirty="0"/>
          </a:p>
        </p:txBody>
      </p:sp>
      <p:sp>
        <p:nvSpPr>
          <p:cNvPr id="24" name="Text 22"/>
          <p:cNvSpPr txBox="1"/>
          <p:nvPr/>
        </p:nvSpPr>
        <p:spPr>
          <a:xfrm>
            <a:off x="658368" y="291317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25" name="Shape 23"/>
          <p:cNvSpPr/>
          <p:nvPr/>
        </p:nvSpPr>
        <p:spPr>
          <a:xfrm>
            <a:off x="2971800" y="2976641"/>
            <a:ext cx="1413718" cy="126940"/>
          </a:xfrm>
          <a:prstGeom prst="rect">
            <a:avLst/>
          </a:prstGeom>
          <a:solidFill>
            <a:srgbClr val="12A566"/>
          </a:solidFill>
          <a:ln/>
        </p:spPr>
      </p:sp>
      <p:sp>
        <p:nvSpPr>
          <p:cNvPr id="26" name="Text 24"/>
          <p:cNvSpPr txBox="1"/>
          <p:nvPr/>
        </p:nvSpPr>
        <p:spPr>
          <a:xfrm>
            <a:off x="4855464" y="2913171"/>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43.6%</a:t>
            </a:r>
            <a:endParaRPr lang="en-US" sz="1300" dirty="0"/>
          </a:p>
        </p:txBody>
      </p:sp>
      <p:sp>
        <p:nvSpPr>
          <p:cNvPr id="27" name="Text 25"/>
          <p:cNvSpPr txBox="1"/>
          <p:nvPr/>
        </p:nvSpPr>
        <p:spPr>
          <a:xfrm>
            <a:off x="658368" y="316705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28" name="Shape 26"/>
          <p:cNvSpPr/>
          <p:nvPr/>
        </p:nvSpPr>
        <p:spPr>
          <a:xfrm>
            <a:off x="2971800" y="3230521"/>
            <a:ext cx="1403898" cy="126940"/>
          </a:xfrm>
          <a:prstGeom prst="rect">
            <a:avLst/>
          </a:prstGeom>
          <a:solidFill>
            <a:srgbClr val="12A566"/>
          </a:solidFill>
          <a:ln/>
        </p:spPr>
      </p:sp>
      <p:sp>
        <p:nvSpPr>
          <p:cNvPr id="29" name="Text 27"/>
          <p:cNvSpPr txBox="1"/>
          <p:nvPr/>
        </p:nvSpPr>
        <p:spPr>
          <a:xfrm>
            <a:off x="4855464" y="3167051"/>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43.4%</a:t>
            </a:r>
            <a:endParaRPr lang="en-US" sz="1300" dirty="0"/>
          </a:p>
        </p:txBody>
      </p:sp>
      <p:sp>
        <p:nvSpPr>
          <p:cNvPr id="30" name="Text 28"/>
          <p:cNvSpPr txBox="1"/>
          <p:nvPr/>
        </p:nvSpPr>
        <p:spPr>
          <a:xfrm>
            <a:off x="658368" y="342093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31" name="Shape 29"/>
          <p:cNvSpPr/>
          <p:nvPr/>
        </p:nvSpPr>
        <p:spPr>
          <a:xfrm>
            <a:off x="2971800" y="3484402"/>
            <a:ext cx="1399375" cy="126940"/>
          </a:xfrm>
          <a:prstGeom prst="rect">
            <a:avLst/>
          </a:prstGeom>
          <a:solidFill>
            <a:srgbClr val="12A566"/>
          </a:solidFill>
          <a:ln/>
        </p:spPr>
      </p:sp>
      <p:sp>
        <p:nvSpPr>
          <p:cNvPr id="32" name="Text 30"/>
          <p:cNvSpPr txBox="1"/>
          <p:nvPr/>
        </p:nvSpPr>
        <p:spPr>
          <a:xfrm>
            <a:off x="4855464" y="3420932"/>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43.4%</a:t>
            </a:r>
            <a:endParaRPr lang="en-US" sz="1300" dirty="0"/>
          </a:p>
        </p:txBody>
      </p:sp>
      <p:sp>
        <p:nvSpPr>
          <p:cNvPr id="33" name="Text 31"/>
          <p:cNvSpPr txBox="1"/>
          <p:nvPr/>
        </p:nvSpPr>
        <p:spPr>
          <a:xfrm>
            <a:off x="658368" y="367481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34" name="Shape 32"/>
          <p:cNvSpPr/>
          <p:nvPr/>
        </p:nvSpPr>
        <p:spPr>
          <a:xfrm>
            <a:off x="2971800" y="3738282"/>
            <a:ext cx="1374547" cy="126940"/>
          </a:xfrm>
          <a:prstGeom prst="rect">
            <a:avLst/>
          </a:prstGeom>
          <a:solidFill>
            <a:srgbClr val="12A566"/>
          </a:solidFill>
          <a:ln/>
        </p:spPr>
      </p:sp>
      <p:sp>
        <p:nvSpPr>
          <p:cNvPr id="35" name="Text 33"/>
          <p:cNvSpPr txBox="1"/>
          <p:nvPr/>
        </p:nvSpPr>
        <p:spPr>
          <a:xfrm>
            <a:off x="4855464" y="3674812"/>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43.1%</a:t>
            </a:r>
            <a:endParaRPr lang="en-US" sz="1300" dirty="0"/>
          </a:p>
        </p:txBody>
      </p:sp>
      <p:sp>
        <p:nvSpPr>
          <p:cNvPr id="36" name="Text 34"/>
          <p:cNvSpPr txBox="1"/>
          <p:nvPr/>
        </p:nvSpPr>
        <p:spPr>
          <a:xfrm>
            <a:off x="658368" y="392869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37" name="Shape 35"/>
          <p:cNvSpPr/>
          <p:nvPr/>
        </p:nvSpPr>
        <p:spPr>
          <a:xfrm>
            <a:off x="2971800" y="3992163"/>
            <a:ext cx="1353273" cy="126940"/>
          </a:xfrm>
          <a:prstGeom prst="rect">
            <a:avLst/>
          </a:prstGeom>
          <a:solidFill>
            <a:srgbClr val="12A566"/>
          </a:solidFill>
          <a:ln/>
        </p:spPr>
      </p:sp>
      <p:sp>
        <p:nvSpPr>
          <p:cNvPr id="38" name="Text 36"/>
          <p:cNvSpPr txBox="1"/>
          <p:nvPr/>
        </p:nvSpPr>
        <p:spPr>
          <a:xfrm>
            <a:off x="4855464" y="3928693"/>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42.8%</a:t>
            </a:r>
            <a:endParaRPr lang="en-US" sz="1300" dirty="0"/>
          </a:p>
        </p:txBody>
      </p:sp>
      <p:sp>
        <p:nvSpPr>
          <p:cNvPr id="39" name="Text 37"/>
          <p:cNvSpPr txBox="1"/>
          <p:nvPr/>
        </p:nvSpPr>
        <p:spPr>
          <a:xfrm>
            <a:off x="658368" y="418257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40" name="Shape 38"/>
          <p:cNvSpPr/>
          <p:nvPr/>
        </p:nvSpPr>
        <p:spPr>
          <a:xfrm>
            <a:off x="2971800" y="4246043"/>
            <a:ext cx="1346673" cy="126940"/>
          </a:xfrm>
          <a:prstGeom prst="rect">
            <a:avLst/>
          </a:prstGeom>
          <a:solidFill>
            <a:srgbClr val="12A566"/>
          </a:solidFill>
          <a:ln/>
        </p:spPr>
      </p:sp>
      <p:sp>
        <p:nvSpPr>
          <p:cNvPr id="41" name="Text 39"/>
          <p:cNvSpPr txBox="1"/>
          <p:nvPr/>
        </p:nvSpPr>
        <p:spPr>
          <a:xfrm>
            <a:off x="4855464" y="4182573"/>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42.7%</a:t>
            </a:r>
            <a:endParaRPr lang="en-US" sz="1300" dirty="0"/>
          </a:p>
        </p:txBody>
      </p:sp>
      <p:sp>
        <p:nvSpPr>
          <p:cNvPr id="42" name="Text 40"/>
          <p:cNvSpPr txBox="1"/>
          <p:nvPr/>
        </p:nvSpPr>
        <p:spPr>
          <a:xfrm>
            <a:off x="658368" y="443645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43" name="Shape 41"/>
          <p:cNvSpPr/>
          <p:nvPr/>
        </p:nvSpPr>
        <p:spPr>
          <a:xfrm>
            <a:off x="2971800" y="4499924"/>
            <a:ext cx="1333186" cy="126940"/>
          </a:xfrm>
          <a:prstGeom prst="rect">
            <a:avLst/>
          </a:prstGeom>
          <a:solidFill>
            <a:srgbClr val="12A566"/>
          </a:solidFill>
          <a:ln/>
        </p:spPr>
      </p:sp>
      <p:sp>
        <p:nvSpPr>
          <p:cNvPr id="44" name="Text 42"/>
          <p:cNvSpPr txBox="1"/>
          <p:nvPr/>
        </p:nvSpPr>
        <p:spPr>
          <a:xfrm>
            <a:off x="4855464" y="4436454"/>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42.5%</a:t>
            </a:r>
            <a:endParaRPr lang="en-US" sz="1300" dirty="0"/>
          </a:p>
        </p:txBody>
      </p:sp>
      <p:sp>
        <p:nvSpPr>
          <p:cNvPr id="45" name="Text 43"/>
          <p:cNvSpPr txBox="1"/>
          <p:nvPr/>
        </p:nvSpPr>
        <p:spPr>
          <a:xfrm>
            <a:off x="658368" y="469033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46" name="Shape 44"/>
          <p:cNvSpPr/>
          <p:nvPr/>
        </p:nvSpPr>
        <p:spPr>
          <a:xfrm>
            <a:off x="2971800" y="4753804"/>
            <a:ext cx="1332841" cy="126940"/>
          </a:xfrm>
          <a:prstGeom prst="rect">
            <a:avLst/>
          </a:prstGeom>
          <a:solidFill>
            <a:srgbClr val="12A566"/>
          </a:solidFill>
          <a:ln/>
        </p:spPr>
      </p:sp>
      <p:sp>
        <p:nvSpPr>
          <p:cNvPr id="47" name="Text 45"/>
          <p:cNvSpPr txBox="1"/>
          <p:nvPr/>
        </p:nvSpPr>
        <p:spPr>
          <a:xfrm>
            <a:off x="4855464" y="4690334"/>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42.5%</a:t>
            </a:r>
            <a:endParaRPr lang="en-US" sz="1300" dirty="0"/>
          </a:p>
        </p:txBody>
      </p:sp>
      <p:sp>
        <p:nvSpPr>
          <p:cNvPr id="48" name="Text 46"/>
          <p:cNvSpPr txBox="1"/>
          <p:nvPr/>
        </p:nvSpPr>
        <p:spPr>
          <a:xfrm>
            <a:off x="658368" y="494421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49" name="Shape 47"/>
          <p:cNvSpPr/>
          <p:nvPr/>
        </p:nvSpPr>
        <p:spPr>
          <a:xfrm>
            <a:off x="2971800" y="5007685"/>
            <a:ext cx="1300974" cy="126940"/>
          </a:xfrm>
          <a:prstGeom prst="rect">
            <a:avLst/>
          </a:prstGeom>
          <a:solidFill>
            <a:srgbClr val="12A566"/>
          </a:solidFill>
          <a:ln/>
        </p:spPr>
      </p:sp>
      <p:sp>
        <p:nvSpPr>
          <p:cNvPr id="50" name="Text 48"/>
          <p:cNvSpPr txBox="1"/>
          <p:nvPr/>
        </p:nvSpPr>
        <p:spPr>
          <a:xfrm>
            <a:off x="4855464" y="4944215"/>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42.1%</a:t>
            </a:r>
            <a:endParaRPr lang="en-US" sz="1300" dirty="0"/>
          </a:p>
        </p:txBody>
      </p:sp>
      <p:sp>
        <p:nvSpPr>
          <p:cNvPr id="51" name="Text 49"/>
          <p:cNvSpPr txBox="1"/>
          <p:nvPr/>
        </p:nvSpPr>
        <p:spPr>
          <a:xfrm>
            <a:off x="658368" y="519809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52" name="Shape 50"/>
          <p:cNvSpPr/>
          <p:nvPr/>
        </p:nvSpPr>
        <p:spPr>
          <a:xfrm>
            <a:off x="2971800" y="5261565"/>
            <a:ext cx="1285305" cy="126940"/>
          </a:xfrm>
          <a:prstGeom prst="rect">
            <a:avLst/>
          </a:prstGeom>
          <a:solidFill>
            <a:srgbClr val="12A566"/>
          </a:solidFill>
          <a:ln/>
        </p:spPr>
      </p:sp>
      <p:sp>
        <p:nvSpPr>
          <p:cNvPr id="53" name="Text 51"/>
          <p:cNvSpPr txBox="1"/>
          <p:nvPr/>
        </p:nvSpPr>
        <p:spPr>
          <a:xfrm>
            <a:off x="4855464" y="5198095"/>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41.9%</a:t>
            </a:r>
            <a:endParaRPr lang="en-US" sz="1300" dirty="0"/>
          </a:p>
        </p:txBody>
      </p:sp>
      <p:sp>
        <p:nvSpPr>
          <p:cNvPr id="54" name="Text 52"/>
          <p:cNvSpPr txBox="1"/>
          <p:nvPr/>
        </p:nvSpPr>
        <p:spPr>
          <a:xfrm>
            <a:off x="658368" y="5451976"/>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55" name="Shape 53"/>
          <p:cNvSpPr/>
          <p:nvPr/>
        </p:nvSpPr>
        <p:spPr>
          <a:xfrm>
            <a:off x="2971800" y="5515446"/>
            <a:ext cx="1285266" cy="126940"/>
          </a:xfrm>
          <a:prstGeom prst="rect">
            <a:avLst/>
          </a:prstGeom>
          <a:solidFill>
            <a:srgbClr val="12A566"/>
          </a:solidFill>
          <a:ln/>
        </p:spPr>
      </p:sp>
      <p:sp>
        <p:nvSpPr>
          <p:cNvPr id="56" name="Text 54"/>
          <p:cNvSpPr txBox="1"/>
          <p:nvPr/>
        </p:nvSpPr>
        <p:spPr>
          <a:xfrm>
            <a:off x="4855464" y="5451976"/>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41.9%</a:t>
            </a:r>
            <a:endParaRPr lang="en-US" sz="1300" dirty="0"/>
          </a:p>
        </p:txBody>
      </p:sp>
      <p:sp>
        <p:nvSpPr>
          <p:cNvPr id="57" name="Text 55"/>
          <p:cNvSpPr txBox="1"/>
          <p:nvPr/>
        </p:nvSpPr>
        <p:spPr>
          <a:xfrm>
            <a:off x="6208776" y="138988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58" name="Shape 56"/>
          <p:cNvSpPr/>
          <p:nvPr/>
        </p:nvSpPr>
        <p:spPr>
          <a:xfrm>
            <a:off x="8522208" y="1453358"/>
            <a:ext cx="1268711" cy="126940"/>
          </a:xfrm>
          <a:prstGeom prst="rect">
            <a:avLst/>
          </a:prstGeom>
          <a:solidFill>
            <a:srgbClr val="12A566"/>
          </a:solidFill>
          <a:ln/>
        </p:spPr>
      </p:sp>
      <p:sp>
        <p:nvSpPr>
          <p:cNvPr id="59" name="Text 57"/>
          <p:cNvSpPr txBox="1"/>
          <p:nvPr/>
        </p:nvSpPr>
        <p:spPr>
          <a:xfrm>
            <a:off x="10405872" y="1389888"/>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41.7%</a:t>
            </a:r>
            <a:endParaRPr lang="en-US" sz="1300" dirty="0"/>
          </a:p>
        </p:txBody>
      </p:sp>
      <p:sp>
        <p:nvSpPr>
          <p:cNvPr id="60" name="Text 58"/>
          <p:cNvSpPr txBox="1"/>
          <p:nvPr/>
        </p:nvSpPr>
        <p:spPr>
          <a:xfrm>
            <a:off x="6208776" y="164376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61" name="Shape 59"/>
          <p:cNvSpPr/>
          <p:nvPr/>
        </p:nvSpPr>
        <p:spPr>
          <a:xfrm>
            <a:off x="8522208" y="1707239"/>
            <a:ext cx="1219712" cy="126940"/>
          </a:xfrm>
          <a:prstGeom prst="rect">
            <a:avLst/>
          </a:prstGeom>
          <a:solidFill>
            <a:srgbClr val="12A566"/>
          </a:solidFill>
          <a:ln/>
        </p:spPr>
      </p:sp>
      <p:sp>
        <p:nvSpPr>
          <p:cNvPr id="62" name="Text 60"/>
          <p:cNvSpPr txBox="1"/>
          <p:nvPr/>
        </p:nvSpPr>
        <p:spPr>
          <a:xfrm>
            <a:off x="10405872" y="1643768"/>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41.0%</a:t>
            </a:r>
            <a:endParaRPr lang="en-US" sz="1300" dirty="0"/>
          </a:p>
        </p:txBody>
      </p:sp>
      <p:sp>
        <p:nvSpPr>
          <p:cNvPr id="63" name="Shape 61"/>
          <p:cNvSpPr/>
          <p:nvPr/>
        </p:nvSpPr>
        <p:spPr>
          <a:xfrm>
            <a:off x="6135624" y="1893077"/>
            <a:ext cx="5413248" cy="244736"/>
          </a:xfrm>
          <a:prstGeom prst="rect">
            <a:avLst/>
          </a:prstGeom>
          <a:solidFill>
            <a:srgbClr val="EDF4FA"/>
          </a:solidFill>
          <a:ln/>
        </p:spPr>
      </p:sp>
      <p:sp>
        <p:nvSpPr>
          <p:cNvPr id="64" name="Text 62"/>
          <p:cNvSpPr txBox="1"/>
          <p:nvPr/>
        </p:nvSpPr>
        <p:spPr>
          <a:xfrm>
            <a:off x="6208776" y="1897649"/>
            <a:ext cx="2240280" cy="253880"/>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GROUP</a:t>
            </a:r>
            <a:endParaRPr lang="en-US" sz="1300" dirty="0"/>
          </a:p>
        </p:txBody>
      </p:sp>
      <p:sp>
        <p:nvSpPr>
          <p:cNvPr id="65" name="Shape 63"/>
          <p:cNvSpPr/>
          <p:nvPr/>
        </p:nvSpPr>
        <p:spPr>
          <a:xfrm>
            <a:off x="8522208" y="1961119"/>
            <a:ext cx="1192686" cy="126940"/>
          </a:xfrm>
          <a:prstGeom prst="rect">
            <a:avLst/>
          </a:prstGeom>
          <a:solidFill>
            <a:srgbClr val="0B2C4A"/>
          </a:solidFill>
          <a:ln/>
        </p:spPr>
      </p:sp>
      <p:sp>
        <p:nvSpPr>
          <p:cNvPr id="66" name="Text 64"/>
          <p:cNvSpPr txBox="1"/>
          <p:nvPr/>
        </p:nvSpPr>
        <p:spPr>
          <a:xfrm>
            <a:off x="10405872" y="1897649"/>
            <a:ext cx="1088136" cy="253880"/>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40.7%</a:t>
            </a:r>
            <a:endParaRPr lang="en-US" sz="1300" dirty="0"/>
          </a:p>
        </p:txBody>
      </p:sp>
      <p:sp>
        <p:nvSpPr>
          <p:cNvPr id="67" name="Text 65"/>
          <p:cNvSpPr txBox="1"/>
          <p:nvPr/>
        </p:nvSpPr>
        <p:spPr>
          <a:xfrm>
            <a:off x="6208776" y="215152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68" name="Shape 66"/>
          <p:cNvSpPr/>
          <p:nvPr/>
        </p:nvSpPr>
        <p:spPr>
          <a:xfrm>
            <a:off x="8522208" y="2215000"/>
            <a:ext cx="1167110" cy="126940"/>
          </a:xfrm>
          <a:prstGeom prst="rect">
            <a:avLst/>
          </a:prstGeom>
          <a:solidFill>
            <a:srgbClr val="C2352F"/>
          </a:solidFill>
          <a:ln/>
        </p:spPr>
      </p:sp>
      <p:sp>
        <p:nvSpPr>
          <p:cNvPr id="69" name="Text 67"/>
          <p:cNvSpPr txBox="1"/>
          <p:nvPr/>
        </p:nvSpPr>
        <p:spPr>
          <a:xfrm>
            <a:off x="10405872" y="2151529"/>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40.3%</a:t>
            </a:r>
            <a:endParaRPr lang="en-US" sz="1300" dirty="0"/>
          </a:p>
        </p:txBody>
      </p:sp>
      <p:sp>
        <p:nvSpPr>
          <p:cNvPr id="70" name="Text 68"/>
          <p:cNvSpPr txBox="1"/>
          <p:nvPr/>
        </p:nvSpPr>
        <p:spPr>
          <a:xfrm>
            <a:off x="6208776" y="240541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71" name="Shape 69"/>
          <p:cNvSpPr/>
          <p:nvPr/>
        </p:nvSpPr>
        <p:spPr>
          <a:xfrm>
            <a:off x="8522208" y="2468880"/>
            <a:ext cx="1158739" cy="126940"/>
          </a:xfrm>
          <a:prstGeom prst="rect">
            <a:avLst/>
          </a:prstGeom>
          <a:solidFill>
            <a:srgbClr val="C2352F"/>
          </a:solidFill>
          <a:ln/>
        </p:spPr>
      </p:sp>
      <p:sp>
        <p:nvSpPr>
          <p:cNvPr id="72" name="Text 70"/>
          <p:cNvSpPr txBox="1"/>
          <p:nvPr/>
        </p:nvSpPr>
        <p:spPr>
          <a:xfrm>
            <a:off x="10405872" y="2405410"/>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40.2%</a:t>
            </a:r>
            <a:endParaRPr lang="en-US" sz="1300" dirty="0"/>
          </a:p>
        </p:txBody>
      </p:sp>
      <p:sp>
        <p:nvSpPr>
          <p:cNvPr id="73" name="Text 71"/>
          <p:cNvSpPr txBox="1"/>
          <p:nvPr/>
        </p:nvSpPr>
        <p:spPr>
          <a:xfrm>
            <a:off x="6208776" y="265929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74" name="Shape 72"/>
          <p:cNvSpPr/>
          <p:nvPr/>
        </p:nvSpPr>
        <p:spPr>
          <a:xfrm>
            <a:off x="8522208" y="2722760"/>
            <a:ext cx="1154202" cy="126940"/>
          </a:xfrm>
          <a:prstGeom prst="rect">
            <a:avLst/>
          </a:prstGeom>
          <a:solidFill>
            <a:srgbClr val="C2352F"/>
          </a:solidFill>
          <a:ln/>
        </p:spPr>
      </p:sp>
      <p:sp>
        <p:nvSpPr>
          <p:cNvPr id="75" name="Text 73"/>
          <p:cNvSpPr txBox="1"/>
          <p:nvPr/>
        </p:nvSpPr>
        <p:spPr>
          <a:xfrm>
            <a:off x="10405872" y="2659290"/>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40.2%</a:t>
            </a:r>
            <a:endParaRPr lang="en-US" sz="1300" dirty="0"/>
          </a:p>
        </p:txBody>
      </p:sp>
      <p:sp>
        <p:nvSpPr>
          <p:cNvPr id="76" name="Text 74"/>
          <p:cNvSpPr txBox="1"/>
          <p:nvPr/>
        </p:nvSpPr>
        <p:spPr>
          <a:xfrm>
            <a:off x="6208776" y="291317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77" name="Shape 75"/>
          <p:cNvSpPr/>
          <p:nvPr/>
        </p:nvSpPr>
        <p:spPr>
          <a:xfrm>
            <a:off x="8522208" y="2976641"/>
            <a:ext cx="1099419" cy="126940"/>
          </a:xfrm>
          <a:prstGeom prst="rect">
            <a:avLst/>
          </a:prstGeom>
          <a:solidFill>
            <a:srgbClr val="C2352F"/>
          </a:solidFill>
          <a:ln/>
        </p:spPr>
      </p:sp>
      <p:sp>
        <p:nvSpPr>
          <p:cNvPr id="78" name="Text 76"/>
          <p:cNvSpPr txBox="1"/>
          <p:nvPr/>
        </p:nvSpPr>
        <p:spPr>
          <a:xfrm>
            <a:off x="10405872" y="2913171"/>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39.4%</a:t>
            </a:r>
            <a:endParaRPr lang="en-US" sz="1300" dirty="0"/>
          </a:p>
        </p:txBody>
      </p:sp>
      <p:sp>
        <p:nvSpPr>
          <p:cNvPr id="79" name="Text 77"/>
          <p:cNvSpPr txBox="1"/>
          <p:nvPr/>
        </p:nvSpPr>
        <p:spPr>
          <a:xfrm>
            <a:off x="6208776" y="316705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80" name="Shape 78"/>
          <p:cNvSpPr/>
          <p:nvPr/>
        </p:nvSpPr>
        <p:spPr>
          <a:xfrm>
            <a:off x="8522208" y="3230521"/>
            <a:ext cx="1093586" cy="126940"/>
          </a:xfrm>
          <a:prstGeom prst="rect">
            <a:avLst/>
          </a:prstGeom>
          <a:solidFill>
            <a:srgbClr val="C2352F"/>
          </a:solidFill>
          <a:ln/>
        </p:spPr>
      </p:sp>
      <p:sp>
        <p:nvSpPr>
          <p:cNvPr id="81" name="Text 79"/>
          <p:cNvSpPr txBox="1"/>
          <p:nvPr/>
        </p:nvSpPr>
        <p:spPr>
          <a:xfrm>
            <a:off x="10405872" y="3167051"/>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39.4%</a:t>
            </a:r>
            <a:endParaRPr lang="en-US" sz="1300" dirty="0"/>
          </a:p>
        </p:txBody>
      </p:sp>
      <p:sp>
        <p:nvSpPr>
          <p:cNvPr id="82" name="Text 80"/>
          <p:cNvSpPr txBox="1"/>
          <p:nvPr/>
        </p:nvSpPr>
        <p:spPr>
          <a:xfrm>
            <a:off x="6208776" y="342093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83" name="Shape 81"/>
          <p:cNvSpPr/>
          <p:nvPr/>
        </p:nvSpPr>
        <p:spPr>
          <a:xfrm>
            <a:off x="8522208" y="3484402"/>
            <a:ext cx="924954" cy="126940"/>
          </a:xfrm>
          <a:prstGeom prst="rect">
            <a:avLst/>
          </a:prstGeom>
          <a:solidFill>
            <a:srgbClr val="C2352F"/>
          </a:solidFill>
          <a:ln/>
        </p:spPr>
      </p:sp>
      <p:sp>
        <p:nvSpPr>
          <p:cNvPr id="84" name="Text 82"/>
          <p:cNvSpPr txBox="1"/>
          <p:nvPr/>
        </p:nvSpPr>
        <p:spPr>
          <a:xfrm>
            <a:off x="10405872" y="3420932"/>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37.2%</a:t>
            </a:r>
            <a:endParaRPr lang="en-US" sz="1300" dirty="0"/>
          </a:p>
        </p:txBody>
      </p:sp>
      <p:sp>
        <p:nvSpPr>
          <p:cNvPr id="85" name="Text 83"/>
          <p:cNvSpPr txBox="1"/>
          <p:nvPr/>
        </p:nvSpPr>
        <p:spPr>
          <a:xfrm>
            <a:off x="6208776" y="367481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86" name="Shape 84"/>
          <p:cNvSpPr/>
          <p:nvPr/>
        </p:nvSpPr>
        <p:spPr>
          <a:xfrm>
            <a:off x="8522208" y="3738282"/>
            <a:ext cx="913598" cy="126940"/>
          </a:xfrm>
          <a:prstGeom prst="rect">
            <a:avLst/>
          </a:prstGeom>
          <a:solidFill>
            <a:srgbClr val="C2352F"/>
          </a:solidFill>
          <a:ln/>
        </p:spPr>
      </p:sp>
      <p:sp>
        <p:nvSpPr>
          <p:cNvPr id="87" name="Text 85"/>
          <p:cNvSpPr txBox="1"/>
          <p:nvPr/>
        </p:nvSpPr>
        <p:spPr>
          <a:xfrm>
            <a:off x="10405872" y="3674812"/>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37.0%</a:t>
            </a:r>
            <a:endParaRPr lang="en-US" sz="1300" dirty="0"/>
          </a:p>
        </p:txBody>
      </p:sp>
      <p:sp>
        <p:nvSpPr>
          <p:cNvPr id="88" name="Text 86"/>
          <p:cNvSpPr txBox="1"/>
          <p:nvPr/>
        </p:nvSpPr>
        <p:spPr>
          <a:xfrm>
            <a:off x="6208776" y="392869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89" name="Shape 87"/>
          <p:cNvSpPr/>
          <p:nvPr/>
        </p:nvSpPr>
        <p:spPr>
          <a:xfrm>
            <a:off x="8522208" y="3992163"/>
            <a:ext cx="912030" cy="126940"/>
          </a:xfrm>
          <a:prstGeom prst="rect">
            <a:avLst/>
          </a:prstGeom>
          <a:solidFill>
            <a:srgbClr val="C2352F"/>
          </a:solidFill>
          <a:ln/>
        </p:spPr>
      </p:sp>
      <p:sp>
        <p:nvSpPr>
          <p:cNvPr id="90" name="Text 88"/>
          <p:cNvSpPr txBox="1"/>
          <p:nvPr/>
        </p:nvSpPr>
        <p:spPr>
          <a:xfrm>
            <a:off x="10405872" y="3928693"/>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37.0%</a:t>
            </a:r>
            <a:endParaRPr lang="en-US" sz="1300" dirty="0"/>
          </a:p>
        </p:txBody>
      </p:sp>
      <p:sp>
        <p:nvSpPr>
          <p:cNvPr id="91" name="Text 89"/>
          <p:cNvSpPr txBox="1"/>
          <p:nvPr/>
        </p:nvSpPr>
        <p:spPr>
          <a:xfrm>
            <a:off x="6208776" y="418257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92" name="Shape 90"/>
          <p:cNvSpPr/>
          <p:nvPr/>
        </p:nvSpPr>
        <p:spPr>
          <a:xfrm>
            <a:off x="8522208" y="4246043"/>
            <a:ext cx="906447" cy="126940"/>
          </a:xfrm>
          <a:prstGeom prst="rect">
            <a:avLst/>
          </a:prstGeom>
          <a:solidFill>
            <a:srgbClr val="C2352F"/>
          </a:solidFill>
          <a:ln/>
        </p:spPr>
      </p:sp>
      <p:sp>
        <p:nvSpPr>
          <p:cNvPr id="93" name="Text 91"/>
          <p:cNvSpPr txBox="1"/>
          <p:nvPr/>
        </p:nvSpPr>
        <p:spPr>
          <a:xfrm>
            <a:off x="10405872" y="4182573"/>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36.9%</a:t>
            </a:r>
            <a:endParaRPr lang="en-US" sz="1300" dirty="0"/>
          </a:p>
        </p:txBody>
      </p:sp>
      <p:sp>
        <p:nvSpPr>
          <p:cNvPr id="94" name="Text 92"/>
          <p:cNvSpPr txBox="1"/>
          <p:nvPr/>
        </p:nvSpPr>
        <p:spPr>
          <a:xfrm>
            <a:off x="6208776" y="443645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95" name="Shape 93"/>
          <p:cNvSpPr/>
          <p:nvPr/>
        </p:nvSpPr>
        <p:spPr>
          <a:xfrm>
            <a:off x="8522208" y="4499924"/>
            <a:ext cx="905128" cy="126940"/>
          </a:xfrm>
          <a:prstGeom prst="rect">
            <a:avLst/>
          </a:prstGeom>
          <a:solidFill>
            <a:srgbClr val="C2352F"/>
          </a:solidFill>
          <a:ln/>
        </p:spPr>
      </p:sp>
      <p:sp>
        <p:nvSpPr>
          <p:cNvPr id="96" name="Text 94"/>
          <p:cNvSpPr txBox="1"/>
          <p:nvPr/>
        </p:nvSpPr>
        <p:spPr>
          <a:xfrm>
            <a:off x="10405872" y="4436454"/>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36.9%</a:t>
            </a:r>
            <a:endParaRPr lang="en-US" sz="1300" dirty="0"/>
          </a:p>
        </p:txBody>
      </p:sp>
      <p:sp>
        <p:nvSpPr>
          <p:cNvPr id="97" name="Text 95"/>
          <p:cNvSpPr txBox="1"/>
          <p:nvPr/>
        </p:nvSpPr>
        <p:spPr>
          <a:xfrm>
            <a:off x="6208776" y="469033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98" name="Shape 96"/>
          <p:cNvSpPr/>
          <p:nvPr/>
        </p:nvSpPr>
        <p:spPr>
          <a:xfrm>
            <a:off x="8522208" y="4753804"/>
            <a:ext cx="849579" cy="126940"/>
          </a:xfrm>
          <a:prstGeom prst="rect">
            <a:avLst/>
          </a:prstGeom>
          <a:solidFill>
            <a:srgbClr val="C2352F"/>
          </a:solidFill>
          <a:ln/>
        </p:spPr>
      </p:sp>
      <p:sp>
        <p:nvSpPr>
          <p:cNvPr id="99" name="Text 97"/>
          <p:cNvSpPr txBox="1"/>
          <p:nvPr/>
        </p:nvSpPr>
        <p:spPr>
          <a:xfrm>
            <a:off x="10405872" y="4690334"/>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36.2%</a:t>
            </a:r>
            <a:endParaRPr lang="en-US" sz="1300" dirty="0"/>
          </a:p>
        </p:txBody>
      </p:sp>
      <p:sp>
        <p:nvSpPr>
          <p:cNvPr id="100" name="Text 98"/>
          <p:cNvSpPr txBox="1"/>
          <p:nvPr/>
        </p:nvSpPr>
        <p:spPr>
          <a:xfrm>
            <a:off x="6208776" y="494421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101" name="Shape 99"/>
          <p:cNvSpPr/>
          <p:nvPr/>
        </p:nvSpPr>
        <p:spPr>
          <a:xfrm>
            <a:off x="8522208" y="5007685"/>
            <a:ext cx="809862" cy="126940"/>
          </a:xfrm>
          <a:prstGeom prst="rect">
            <a:avLst/>
          </a:prstGeom>
          <a:solidFill>
            <a:srgbClr val="C2352F"/>
          </a:solidFill>
          <a:ln/>
        </p:spPr>
      </p:sp>
      <p:sp>
        <p:nvSpPr>
          <p:cNvPr id="102" name="Text 100"/>
          <p:cNvSpPr txBox="1"/>
          <p:nvPr/>
        </p:nvSpPr>
        <p:spPr>
          <a:xfrm>
            <a:off x="10405872" y="4944215"/>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35.6%</a:t>
            </a:r>
            <a:endParaRPr lang="en-US" sz="1300" dirty="0"/>
          </a:p>
        </p:txBody>
      </p:sp>
      <p:sp>
        <p:nvSpPr>
          <p:cNvPr id="103" name="Text 101"/>
          <p:cNvSpPr txBox="1"/>
          <p:nvPr/>
        </p:nvSpPr>
        <p:spPr>
          <a:xfrm>
            <a:off x="6208776" y="519809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104" name="Shape 102"/>
          <p:cNvSpPr/>
          <p:nvPr/>
        </p:nvSpPr>
        <p:spPr>
          <a:xfrm>
            <a:off x="8522208" y="5261565"/>
            <a:ext cx="742648" cy="126940"/>
          </a:xfrm>
          <a:prstGeom prst="rect">
            <a:avLst/>
          </a:prstGeom>
          <a:solidFill>
            <a:srgbClr val="C2352F"/>
          </a:solidFill>
          <a:ln/>
        </p:spPr>
      </p:sp>
      <p:sp>
        <p:nvSpPr>
          <p:cNvPr id="105" name="Text 103"/>
          <p:cNvSpPr txBox="1"/>
          <p:nvPr/>
        </p:nvSpPr>
        <p:spPr>
          <a:xfrm>
            <a:off x="10405872" y="5198095"/>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34.8%</a:t>
            </a:r>
            <a:endParaRPr lang="en-US" sz="1300" dirty="0"/>
          </a:p>
        </p:txBody>
      </p:sp>
      <p:sp>
        <p:nvSpPr>
          <p:cNvPr id="106" name="Text 104"/>
          <p:cNvSpPr txBox="1"/>
          <p:nvPr/>
        </p:nvSpPr>
        <p:spPr>
          <a:xfrm>
            <a:off x="6208776" y="5451976"/>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107" name="Shape 105"/>
          <p:cNvSpPr/>
          <p:nvPr/>
        </p:nvSpPr>
        <p:spPr>
          <a:xfrm>
            <a:off x="8522208" y="5515446"/>
            <a:ext cx="657803" cy="126940"/>
          </a:xfrm>
          <a:prstGeom prst="rect">
            <a:avLst/>
          </a:prstGeom>
          <a:solidFill>
            <a:srgbClr val="C2352F"/>
          </a:solidFill>
          <a:ln/>
        </p:spPr>
      </p:sp>
      <p:sp>
        <p:nvSpPr>
          <p:cNvPr id="108" name="Text 106"/>
          <p:cNvSpPr txBox="1"/>
          <p:nvPr/>
        </p:nvSpPr>
        <p:spPr>
          <a:xfrm>
            <a:off x="10405872" y="5451976"/>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33.6%</a:t>
            </a:r>
            <a:endParaRPr lang="en-US" sz="1300" dirty="0"/>
          </a:p>
        </p:txBody>
      </p:sp>
      <p:sp>
        <p:nvSpPr>
          <p:cNvPr id="109" name="Shape 107"/>
          <p:cNvSpPr/>
          <p:nvPr/>
        </p:nvSpPr>
        <p:spPr>
          <a:xfrm>
            <a:off x="4157171" y="1389888"/>
            <a:ext cx="14630" cy="4315968"/>
          </a:xfrm>
          <a:prstGeom prst="rect">
            <a:avLst/>
          </a:prstGeom>
          <a:solidFill>
            <a:srgbClr val="0B2C4A"/>
          </a:solidFill>
          <a:ln/>
        </p:spPr>
      </p:sp>
      <p:sp>
        <p:nvSpPr>
          <p:cNvPr id="110" name="Shape 108"/>
          <p:cNvSpPr/>
          <p:nvPr/>
        </p:nvSpPr>
        <p:spPr>
          <a:xfrm>
            <a:off x="9707579" y="1389888"/>
            <a:ext cx="14630" cy="4315968"/>
          </a:xfrm>
          <a:prstGeom prst="rect">
            <a:avLst/>
          </a:prstGeom>
          <a:solidFill>
            <a:srgbClr val="0B2C4A"/>
          </a:solidFill>
          <a:ln/>
        </p:spPr>
      </p:sp>
      <p:sp>
        <p:nvSpPr>
          <p:cNvPr id="111" name="Shape 109"/>
          <p:cNvSpPr/>
          <p:nvPr/>
        </p:nvSpPr>
        <p:spPr>
          <a:xfrm>
            <a:off x="457200" y="5961888"/>
            <a:ext cx="11274552" cy="548640"/>
          </a:xfrm>
          <a:prstGeom prst="rect">
            <a:avLst/>
          </a:prstGeom>
          <a:solidFill>
            <a:srgbClr val="EDF4FA"/>
          </a:solidFill>
          <a:ln/>
        </p:spPr>
      </p:sp>
      <p:sp>
        <p:nvSpPr>
          <p:cNvPr id="112" name="Text 110"/>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19 of 33 stores at or above the 40.7% group, led by LEXUS at 49.0%. AUDI HENDERSON is lowest at 33.6%.</a:t>
            </a:r>
            <a:endParaRPr lang="en-US" sz="16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Parts Gross Profit %</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01168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GROUP</a:t>
            </a:r>
            <a:endParaRPr lang="en-US" sz="1500" dirty="0"/>
          </a:p>
        </p:txBody>
      </p:sp>
      <p:sp>
        <p:nvSpPr>
          <p:cNvPr id="9" name="Text 7"/>
          <p:cNvSpPr txBox="1"/>
          <p:nvPr/>
        </p:nvSpPr>
        <p:spPr>
          <a:xfrm>
            <a:off x="2834640" y="1335024"/>
            <a:ext cx="420624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SAME-STORE, 33 STORES</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+1.2 pts</a:t>
            </a:r>
            <a:endParaRPr lang="en-US" sz="2000" dirty="0"/>
          </a:p>
        </p:txBody>
      </p:sp>
      <p:sp>
        <p:nvSpPr>
          <p:cNvPr id="11" name="Text 9"/>
          <p:cNvSpPr txBox="1"/>
          <p:nvPr/>
        </p:nvSpPr>
        <p:spPr>
          <a:xfrm>
            <a:off x="658368"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12" name="Shape 10"/>
          <p:cNvSpPr/>
          <p:nvPr/>
        </p:nvSpPr>
        <p:spPr>
          <a:xfrm>
            <a:off x="3813048" y="1909246"/>
            <a:ext cx="822960" cy="105898"/>
          </a:xfrm>
          <a:prstGeom prst="rect">
            <a:avLst/>
          </a:prstGeom>
          <a:solidFill>
            <a:srgbClr val="12A566"/>
          </a:solidFill>
          <a:ln/>
        </p:spPr>
      </p:sp>
      <p:sp>
        <p:nvSpPr>
          <p:cNvPr id="13" name="Text 11"/>
          <p:cNvSpPr txBox="1"/>
          <p:nvPr/>
        </p:nvSpPr>
        <p:spPr>
          <a:xfrm>
            <a:off x="4709160"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+6.1 pts</a:t>
            </a:r>
            <a:endParaRPr lang="en-US" sz="1300" dirty="0"/>
          </a:p>
        </p:txBody>
      </p:sp>
      <p:sp>
        <p:nvSpPr>
          <p:cNvPr id="14" name="Text 12"/>
          <p:cNvSpPr txBox="1"/>
          <p:nvPr/>
        </p:nvSpPr>
        <p:spPr>
          <a:xfrm>
            <a:off x="658368"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15" name="Shape 13"/>
          <p:cNvSpPr/>
          <p:nvPr/>
        </p:nvSpPr>
        <p:spPr>
          <a:xfrm>
            <a:off x="3813048" y="2139459"/>
            <a:ext cx="606846" cy="105898"/>
          </a:xfrm>
          <a:prstGeom prst="rect">
            <a:avLst/>
          </a:prstGeom>
          <a:solidFill>
            <a:srgbClr val="12A566"/>
          </a:solidFill>
          <a:ln/>
        </p:spPr>
      </p:sp>
      <p:sp>
        <p:nvSpPr>
          <p:cNvPr id="16" name="Text 14"/>
          <p:cNvSpPr txBox="1"/>
          <p:nvPr/>
        </p:nvSpPr>
        <p:spPr>
          <a:xfrm>
            <a:off x="4709160"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+4.5 pts</a:t>
            </a:r>
            <a:endParaRPr lang="en-US" sz="1300" dirty="0"/>
          </a:p>
        </p:txBody>
      </p:sp>
      <p:sp>
        <p:nvSpPr>
          <p:cNvPr id="17" name="Text 15"/>
          <p:cNvSpPr txBox="1"/>
          <p:nvPr/>
        </p:nvSpPr>
        <p:spPr>
          <a:xfrm>
            <a:off x="658368"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18" name="Shape 16"/>
          <p:cNvSpPr/>
          <p:nvPr/>
        </p:nvSpPr>
        <p:spPr>
          <a:xfrm>
            <a:off x="3813048" y="2369673"/>
            <a:ext cx="512130" cy="105898"/>
          </a:xfrm>
          <a:prstGeom prst="rect">
            <a:avLst/>
          </a:prstGeom>
          <a:solidFill>
            <a:srgbClr val="12A566"/>
          </a:solidFill>
          <a:ln/>
        </p:spPr>
      </p:sp>
      <p:sp>
        <p:nvSpPr>
          <p:cNvPr id="19" name="Text 17"/>
          <p:cNvSpPr txBox="1"/>
          <p:nvPr/>
        </p:nvSpPr>
        <p:spPr>
          <a:xfrm>
            <a:off x="4709160"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+3.8 pts</a:t>
            </a:r>
            <a:endParaRPr lang="en-US" sz="1300" dirty="0"/>
          </a:p>
        </p:txBody>
      </p:sp>
      <p:sp>
        <p:nvSpPr>
          <p:cNvPr id="20" name="Text 18"/>
          <p:cNvSpPr txBox="1"/>
          <p:nvPr/>
        </p:nvSpPr>
        <p:spPr>
          <a:xfrm>
            <a:off x="658368"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21" name="Shape 19"/>
          <p:cNvSpPr/>
          <p:nvPr/>
        </p:nvSpPr>
        <p:spPr>
          <a:xfrm>
            <a:off x="3813048" y="2599887"/>
            <a:ext cx="445458" cy="105898"/>
          </a:xfrm>
          <a:prstGeom prst="rect">
            <a:avLst/>
          </a:prstGeom>
          <a:solidFill>
            <a:srgbClr val="12A566"/>
          </a:solidFill>
          <a:ln/>
        </p:spPr>
      </p:sp>
      <p:sp>
        <p:nvSpPr>
          <p:cNvPr id="22" name="Text 20"/>
          <p:cNvSpPr txBox="1"/>
          <p:nvPr/>
        </p:nvSpPr>
        <p:spPr>
          <a:xfrm>
            <a:off x="4709160"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+3.3 pts</a:t>
            </a:r>
            <a:endParaRPr lang="en-US" sz="1300" dirty="0"/>
          </a:p>
        </p:txBody>
      </p:sp>
      <p:sp>
        <p:nvSpPr>
          <p:cNvPr id="23" name="Text 21"/>
          <p:cNvSpPr txBox="1"/>
          <p:nvPr/>
        </p:nvSpPr>
        <p:spPr>
          <a:xfrm>
            <a:off x="658368"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24" name="Shape 22"/>
          <p:cNvSpPr/>
          <p:nvPr/>
        </p:nvSpPr>
        <p:spPr>
          <a:xfrm>
            <a:off x="3813048" y="2830100"/>
            <a:ext cx="442083" cy="105898"/>
          </a:xfrm>
          <a:prstGeom prst="rect">
            <a:avLst/>
          </a:prstGeom>
          <a:solidFill>
            <a:srgbClr val="12A566"/>
          </a:solidFill>
          <a:ln/>
        </p:spPr>
      </p:sp>
      <p:sp>
        <p:nvSpPr>
          <p:cNvPr id="25" name="Text 23"/>
          <p:cNvSpPr txBox="1"/>
          <p:nvPr/>
        </p:nvSpPr>
        <p:spPr>
          <a:xfrm>
            <a:off x="4709160"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+3.3 pts</a:t>
            </a:r>
            <a:endParaRPr lang="en-US" sz="1300" dirty="0"/>
          </a:p>
        </p:txBody>
      </p:sp>
      <p:sp>
        <p:nvSpPr>
          <p:cNvPr id="26" name="Text 24"/>
          <p:cNvSpPr txBox="1"/>
          <p:nvPr/>
        </p:nvSpPr>
        <p:spPr>
          <a:xfrm>
            <a:off x="658368"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27" name="Shape 25"/>
          <p:cNvSpPr/>
          <p:nvPr/>
        </p:nvSpPr>
        <p:spPr>
          <a:xfrm>
            <a:off x="3813048" y="3060314"/>
            <a:ext cx="419253" cy="105898"/>
          </a:xfrm>
          <a:prstGeom prst="rect">
            <a:avLst/>
          </a:prstGeom>
          <a:solidFill>
            <a:srgbClr val="12A566"/>
          </a:solidFill>
          <a:ln/>
        </p:spPr>
      </p:sp>
      <p:sp>
        <p:nvSpPr>
          <p:cNvPr id="28" name="Text 26"/>
          <p:cNvSpPr txBox="1"/>
          <p:nvPr/>
        </p:nvSpPr>
        <p:spPr>
          <a:xfrm>
            <a:off x="4709160"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+3.1 pts</a:t>
            </a:r>
            <a:endParaRPr lang="en-US" sz="1300" dirty="0"/>
          </a:p>
        </p:txBody>
      </p:sp>
      <p:sp>
        <p:nvSpPr>
          <p:cNvPr id="29" name="Text 27"/>
          <p:cNvSpPr txBox="1"/>
          <p:nvPr/>
        </p:nvSpPr>
        <p:spPr>
          <a:xfrm>
            <a:off x="658368"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30" name="Shape 28"/>
          <p:cNvSpPr/>
          <p:nvPr/>
        </p:nvSpPr>
        <p:spPr>
          <a:xfrm>
            <a:off x="3813048" y="3290528"/>
            <a:ext cx="393657" cy="105898"/>
          </a:xfrm>
          <a:prstGeom prst="rect">
            <a:avLst/>
          </a:prstGeom>
          <a:solidFill>
            <a:srgbClr val="12A566"/>
          </a:solidFill>
          <a:ln/>
        </p:spPr>
      </p:sp>
      <p:sp>
        <p:nvSpPr>
          <p:cNvPr id="31" name="Text 29"/>
          <p:cNvSpPr txBox="1"/>
          <p:nvPr/>
        </p:nvSpPr>
        <p:spPr>
          <a:xfrm>
            <a:off x="4709160" y="3228370"/>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+2.9 pts</a:t>
            </a:r>
            <a:endParaRPr lang="en-US" sz="1300" dirty="0"/>
          </a:p>
        </p:txBody>
      </p:sp>
      <p:sp>
        <p:nvSpPr>
          <p:cNvPr id="32" name="Text 30"/>
          <p:cNvSpPr txBox="1"/>
          <p:nvPr/>
        </p:nvSpPr>
        <p:spPr>
          <a:xfrm>
            <a:off x="658368"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33" name="Shape 31"/>
          <p:cNvSpPr/>
          <p:nvPr/>
        </p:nvSpPr>
        <p:spPr>
          <a:xfrm>
            <a:off x="3813048" y="3520741"/>
            <a:ext cx="374425" cy="105898"/>
          </a:xfrm>
          <a:prstGeom prst="rect">
            <a:avLst/>
          </a:prstGeom>
          <a:solidFill>
            <a:srgbClr val="12A566"/>
          </a:solidFill>
          <a:ln/>
        </p:spPr>
      </p:sp>
      <p:sp>
        <p:nvSpPr>
          <p:cNvPr id="34" name="Text 32"/>
          <p:cNvSpPr txBox="1"/>
          <p:nvPr/>
        </p:nvSpPr>
        <p:spPr>
          <a:xfrm>
            <a:off x="4709160" y="345858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+2.8 pts</a:t>
            </a:r>
            <a:endParaRPr lang="en-US" sz="1300" dirty="0"/>
          </a:p>
        </p:txBody>
      </p:sp>
      <p:sp>
        <p:nvSpPr>
          <p:cNvPr id="35" name="Text 33"/>
          <p:cNvSpPr txBox="1"/>
          <p:nvPr/>
        </p:nvSpPr>
        <p:spPr>
          <a:xfrm>
            <a:off x="658368"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36" name="Shape 34"/>
          <p:cNvSpPr/>
          <p:nvPr/>
        </p:nvSpPr>
        <p:spPr>
          <a:xfrm>
            <a:off x="3813048" y="3750955"/>
            <a:ext cx="331530" cy="105898"/>
          </a:xfrm>
          <a:prstGeom prst="rect">
            <a:avLst/>
          </a:prstGeom>
          <a:solidFill>
            <a:srgbClr val="12A566"/>
          </a:solidFill>
          <a:ln/>
        </p:spPr>
      </p:sp>
      <p:sp>
        <p:nvSpPr>
          <p:cNvPr id="37" name="Text 35"/>
          <p:cNvSpPr txBox="1"/>
          <p:nvPr/>
        </p:nvSpPr>
        <p:spPr>
          <a:xfrm>
            <a:off x="4709160" y="3688797"/>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+2.5 pts</a:t>
            </a:r>
            <a:endParaRPr lang="en-US" sz="1300" dirty="0"/>
          </a:p>
        </p:txBody>
      </p:sp>
      <p:sp>
        <p:nvSpPr>
          <p:cNvPr id="38" name="Text 36"/>
          <p:cNvSpPr txBox="1"/>
          <p:nvPr/>
        </p:nvSpPr>
        <p:spPr>
          <a:xfrm>
            <a:off x="658368"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39" name="Shape 37"/>
          <p:cNvSpPr/>
          <p:nvPr/>
        </p:nvSpPr>
        <p:spPr>
          <a:xfrm>
            <a:off x="3813048" y="3981169"/>
            <a:ext cx="304636" cy="105898"/>
          </a:xfrm>
          <a:prstGeom prst="rect">
            <a:avLst/>
          </a:prstGeom>
          <a:solidFill>
            <a:srgbClr val="12A566"/>
          </a:solidFill>
          <a:ln/>
        </p:spPr>
      </p:sp>
      <p:sp>
        <p:nvSpPr>
          <p:cNvPr id="40" name="Text 38"/>
          <p:cNvSpPr txBox="1"/>
          <p:nvPr/>
        </p:nvSpPr>
        <p:spPr>
          <a:xfrm>
            <a:off x="4709160" y="3919011"/>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+2.3 pts</a:t>
            </a:r>
            <a:endParaRPr lang="en-US" sz="1300" dirty="0"/>
          </a:p>
        </p:txBody>
      </p:sp>
      <p:sp>
        <p:nvSpPr>
          <p:cNvPr id="41" name="Text 39"/>
          <p:cNvSpPr txBox="1"/>
          <p:nvPr/>
        </p:nvSpPr>
        <p:spPr>
          <a:xfrm>
            <a:off x="658368"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42" name="Shape 40"/>
          <p:cNvSpPr/>
          <p:nvPr/>
        </p:nvSpPr>
        <p:spPr>
          <a:xfrm>
            <a:off x="3813048" y="4211382"/>
            <a:ext cx="256848" cy="105898"/>
          </a:xfrm>
          <a:prstGeom prst="rect">
            <a:avLst/>
          </a:prstGeom>
          <a:solidFill>
            <a:srgbClr val="12A566"/>
          </a:solidFill>
          <a:ln/>
        </p:spPr>
      </p:sp>
      <p:sp>
        <p:nvSpPr>
          <p:cNvPr id="43" name="Text 41"/>
          <p:cNvSpPr txBox="1"/>
          <p:nvPr/>
        </p:nvSpPr>
        <p:spPr>
          <a:xfrm>
            <a:off x="4709160" y="414922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+1.9 pts</a:t>
            </a:r>
            <a:endParaRPr lang="en-US" sz="1300" dirty="0"/>
          </a:p>
        </p:txBody>
      </p:sp>
      <p:sp>
        <p:nvSpPr>
          <p:cNvPr id="44" name="Text 42"/>
          <p:cNvSpPr txBox="1"/>
          <p:nvPr/>
        </p:nvSpPr>
        <p:spPr>
          <a:xfrm>
            <a:off x="658368"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45" name="Shape 43"/>
          <p:cNvSpPr/>
          <p:nvPr/>
        </p:nvSpPr>
        <p:spPr>
          <a:xfrm>
            <a:off x="3813048" y="4441596"/>
            <a:ext cx="241127" cy="105898"/>
          </a:xfrm>
          <a:prstGeom prst="rect">
            <a:avLst/>
          </a:prstGeom>
          <a:solidFill>
            <a:srgbClr val="12A566"/>
          </a:solidFill>
          <a:ln/>
        </p:spPr>
      </p:sp>
      <p:sp>
        <p:nvSpPr>
          <p:cNvPr id="46" name="Text 44"/>
          <p:cNvSpPr txBox="1"/>
          <p:nvPr/>
        </p:nvSpPr>
        <p:spPr>
          <a:xfrm>
            <a:off x="4709160" y="437943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+1.8 pts</a:t>
            </a:r>
            <a:endParaRPr lang="en-US" sz="1300" dirty="0"/>
          </a:p>
        </p:txBody>
      </p:sp>
      <p:sp>
        <p:nvSpPr>
          <p:cNvPr id="47" name="Text 45"/>
          <p:cNvSpPr txBox="1"/>
          <p:nvPr/>
        </p:nvSpPr>
        <p:spPr>
          <a:xfrm>
            <a:off x="658368"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48" name="Shape 46"/>
          <p:cNvSpPr/>
          <p:nvPr/>
        </p:nvSpPr>
        <p:spPr>
          <a:xfrm>
            <a:off x="3813048" y="4671809"/>
            <a:ext cx="234526" cy="105898"/>
          </a:xfrm>
          <a:prstGeom prst="rect">
            <a:avLst/>
          </a:prstGeom>
          <a:solidFill>
            <a:srgbClr val="12A566"/>
          </a:solidFill>
          <a:ln/>
        </p:spPr>
      </p:sp>
      <p:sp>
        <p:nvSpPr>
          <p:cNvPr id="49" name="Text 47"/>
          <p:cNvSpPr txBox="1"/>
          <p:nvPr/>
        </p:nvSpPr>
        <p:spPr>
          <a:xfrm>
            <a:off x="4709160" y="460965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+1.7 pts</a:t>
            </a:r>
            <a:endParaRPr lang="en-US" sz="1300" dirty="0"/>
          </a:p>
        </p:txBody>
      </p:sp>
      <p:sp>
        <p:nvSpPr>
          <p:cNvPr id="50" name="Text 48"/>
          <p:cNvSpPr txBox="1"/>
          <p:nvPr/>
        </p:nvSpPr>
        <p:spPr>
          <a:xfrm>
            <a:off x="658368"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51" name="Shape 49"/>
          <p:cNvSpPr/>
          <p:nvPr/>
        </p:nvSpPr>
        <p:spPr>
          <a:xfrm>
            <a:off x="3813048" y="4902023"/>
            <a:ext cx="175135" cy="105898"/>
          </a:xfrm>
          <a:prstGeom prst="rect">
            <a:avLst/>
          </a:prstGeom>
          <a:solidFill>
            <a:srgbClr val="12A566"/>
          </a:solidFill>
          <a:ln/>
        </p:spPr>
      </p:sp>
      <p:sp>
        <p:nvSpPr>
          <p:cNvPr id="52" name="Text 50"/>
          <p:cNvSpPr txBox="1"/>
          <p:nvPr/>
        </p:nvSpPr>
        <p:spPr>
          <a:xfrm>
            <a:off x="4709160" y="483986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+1.3 pts</a:t>
            </a:r>
            <a:endParaRPr lang="en-US" sz="1300" dirty="0"/>
          </a:p>
        </p:txBody>
      </p:sp>
      <p:sp>
        <p:nvSpPr>
          <p:cNvPr id="53" name="Text 51"/>
          <p:cNvSpPr txBox="1"/>
          <p:nvPr/>
        </p:nvSpPr>
        <p:spPr>
          <a:xfrm>
            <a:off x="658368"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54" name="Shape 52"/>
          <p:cNvSpPr/>
          <p:nvPr/>
        </p:nvSpPr>
        <p:spPr>
          <a:xfrm>
            <a:off x="3813048" y="5132237"/>
            <a:ext cx="166551" cy="105898"/>
          </a:xfrm>
          <a:prstGeom prst="rect">
            <a:avLst/>
          </a:prstGeom>
          <a:solidFill>
            <a:srgbClr val="12A566"/>
          </a:solidFill>
          <a:ln/>
        </p:spPr>
      </p:sp>
      <p:sp>
        <p:nvSpPr>
          <p:cNvPr id="55" name="Text 53"/>
          <p:cNvSpPr txBox="1"/>
          <p:nvPr/>
        </p:nvSpPr>
        <p:spPr>
          <a:xfrm>
            <a:off x="4709160" y="507007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+1.2 pts</a:t>
            </a:r>
            <a:endParaRPr lang="en-US" sz="1300" dirty="0"/>
          </a:p>
        </p:txBody>
      </p:sp>
      <p:sp>
        <p:nvSpPr>
          <p:cNvPr id="56" name="Text 54"/>
          <p:cNvSpPr txBox="1"/>
          <p:nvPr/>
        </p:nvSpPr>
        <p:spPr>
          <a:xfrm>
            <a:off x="658368"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57" name="Shape 55"/>
          <p:cNvSpPr/>
          <p:nvPr/>
        </p:nvSpPr>
        <p:spPr>
          <a:xfrm>
            <a:off x="3813048" y="5362450"/>
            <a:ext cx="139761" cy="105898"/>
          </a:xfrm>
          <a:prstGeom prst="rect">
            <a:avLst/>
          </a:prstGeom>
          <a:solidFill>
            <a:srgbClr val="12A566"/>
          </a:solidFill>
          <a:ln/>
        </p:spPr>
      </p:sp>
      <p:sp>
        <p:nvSpPr>
          <p:cNvPr id="58" name="Text 56"/>
          <p:cNvSpPr txBox="1"/>
          <p:nvPr/>
        </p:nvSpPr>
        <p:spPr>
          <a:xfrm>
            <a:off x="4709160" y="530029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 pts</a:t>
            </a:r>
            <a:endParaRPr lang="en-US" sz="1300" dirty="0"/>
          </a:p>
        </p:txBody>
      </p:sp>
      <p:sp>
        <p:nvSpPr>
          <p:cNvPr id="59" name="Text 57"/>
          <p:cNvSpPr txBox="1"/>
          <p:nvPr/>
        </p:nvSpPr>
        <p:spPr>
          <a:xfrm>
            <a:off x="658368" y="553050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60" name="Shape 58"/>
          <p:cNvSpPr/>
          <p:nvPr/>
        </p:nvSpPr>
        <p:spPr>
          <a:xfrm>
            <a:off x="3813048" y="5592664"/>
            <a:ext cx="129705" cy="105898"/>
          </a:xfrm>
          <a:prstGeom prst="rect">
            <a:avLst/>
          </a:prstGeom>
          <a:solidFill>
            <a:srgbClr val="12A566"/>
          </a:solidFill>
          <a:ln/>
        </p:spPr>
      </p:sp>
      <p:sp>
        <p:nvSpPr>
          <p:cNvPr id="61" name="Text 59"/>
          <p:cNvSpPr txBox="1"/>
          <p:nvPr/>
        </p:nvSpPr>
        <p:spPr>
          <a:xfrm>
            <a:off x="4709160" y="553050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 pts</a:t>
            </a:r>
            <a:endParaRPr lang="en-US" sz="1300" dirty="0"/>
          </a:p>
        </p:txBody>
      </p:sp>
      <p:sp>
        <p:nvSpPr>
          <p:cNvPr id="62" name="Text 60"/>
          <p:cNvSpPr txBox="1"/>
          <p:nvPr/>
        </p:nvSpPr>
        <p:spPr>
          <a:xfrm>
            <a:off x="6208776"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63" name="Shape 61"/>
          <p:cNvSpPr/>
          <p:nvPr/>
        </p:nvSpPr>
        <p:spPr>
          <a:xfrm>
            <a:off x="9363456" y="1909246"/>
            <a:ext cx="128467" cy="105898"/>
          </a:xfrm>
          <a:prstGeom prst="rect">
            <a:avLst/>
          </a:prstGeom>
          <a:solidFill>
            <a:srgbClr val="12A566"/>
          </a:solidFill>
          <a:ln/>
        </p:spPr>
      </p:sp>
      <p:sp>
        <p:nvSpPr>
          <p:cNvPr id="64" name="Text 62"/>
          <p:cNvSpPr txBox="1"/>
          <p:nvPr/>
        </p:nvSpPr>
        <p:spPr>
          <a:xfrm>
            <a:off x="10259568"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 pts</a:t>
            </a:r>
            <a:endParaRPr lang="en-US" sz="1300" dirty="0"/>
          </a:p>
        </p:txBody>
      </p:sp>
      <p:sp>
        <p:nvSpPr>
          <p:cNvPr id="65" name="Text 63"/>
          <p:cNvSpPr txBox="1"/>
          <p:nvPr/>
        </p:nvSpPr>
        <p:spPr>
          <a:xfrm>
            <a:off x="6208776"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66" name="Shape 64"/>
          <p:cNvSpPr/>
          <p:nvPr/>
        </p:nvSpPr>
        <p:spPr>
          <a:xfrm>
            <a:off x="9363456" y="2139459"/>
            <a:ext cx="111236" cy="105898"/>
          </a:xfrm>
          <a:prstGeom prst="rect">
            <a:avLst/>
          </a:prstGeom>
          <a:solidFill>
            <a:srgbClr val="12A566"/>
          </a:solidFill>
          <a:ln/>
        </p:spPr>
      </p:sp>
      <p:sp>
        <p:nvSpPr>
          <p:cNvPr id="67" name="Text 65"/>
          <p:cNvSpPr txBox="1"/>
          <p:nvPr/>
        </p:nvSpPr>
        <p:spPr>
          <a:xfrm>
            <a:off x="10259568"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+0.8 pts</a:t>
            </a:r>
            <a:endParaRPr lang="en-US" sz="1300" dirty="0"/>
          </a:p>
        </p:txBody>
      </p:sp>
      <p:sp>
        <p:nvSpPr>
          <p:cNvPr id="68" name="Text 66"/>
          <p:cNvSpPr txBox="1"/>
          <p:nvPr/>
        </p:nvSpPr>
        <p:spPr>
          <a:xfrm>
            <a:off x="6208776"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69" name="Shape 67"/>
          <p:cNvSpPr/>
          <p:nvPr/>
        </p:nvSpPr>
        <p:spPr>
          <a:xfrm>
            <a:off x="9363456" y="2369673"/>
            <a:ext cx="103055" cy="105898"/>
          </a:xfrm>
          <a:prstGeom prst="rect">
            <a:avLst/>
          </a:prstGeom>
          <a:solidFill>
            <a:srgbClr val="12A566"/>
          </a:solidFill>
          <a:ln/>
        </p:spPr>
      </p:sp>
      <p:sp>
        <p:nvSpPr>
          <p:cNvPr id="70" name="Text 68"/>
          <p:cNvSpPr txBox="1"/>
          <p:nvPr/>
        </p:nvSpPr>
        <p:spPr>
          <a:xfrm>
            <a:off x="10259568"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+0.8 pts</a:t>
            </a:r>
            <a:endParaRPr lang="en-US" sz="1300" dirty="0"/>
          </a:p>
        </p:txBody>
      </p:sp>
      <p:sp>
        <p:nvSpPr>
          <p:cNvPr id="71" name="Text 69"/>
          <p:cNvSpPr txBox="1"/>
          <p:nvPr/>
        </p:nvSpPr>
        <p:spPr>
          <a:xfrm>
            <a:off x="6208776"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72" name="Shape 70"/>
          <p:cNvSpPr/>
          <p:nvPr/>
        </p:nvSpPr>
        <p:spPr>
          <a:xfrm>
            <a:off x="9363456" y="2599887"/>
            <a:ext cx="91760" cy="105898"/>
          </a:xfrm>
          <a:prstGeom prst="rect">
            <a:avLst/>
          </a:prstGeom>
          <a:solidFill>
            <a:srgbClr val="12A566"/>
          </a:solidFill>
          <a:ln/>
        </p:spPr>
      </p:sp>
      <p:sp>
        <p:nvSpPr>
          <p:cNvPr id="73" name="Text 71"/>
          <p:cNvSpPr txBox="1"/>
          <p:nvPr/>
        </p:nvSpPr>
        <p:spPr>
          <a:xfrm>
            <a:off x="10259568"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+0.7 pts</a:t>
            </a:r>
            <a:endParaRPr lang="en-US" sz="1300" dirty="0"/>
          </a:p>
        </p:txBody>
      </p:sp>
      <p:sp>
        <p:nvSpPr>
          <p:cNvPr id="74" name="Text 72"/>
          <p:cNvSpPr txBox="1"/>
          <p:nvPr/>
        </p:nvSpPr>
        <p:spPr>
          <a:xfrm>
            <a:off x="6208776"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75" name="Shape 73"/>
          <p:cNvSpPr/>
          <p:nvPr/>
        </p:nvSpPr>
        <p:spPr>
          <a:xfrm>
            <a:off x="9363456" y="2830100"/>
            <a:ext cx="79887" cy="105898"/>
          </a:xfrm>
          <a:prstGeom prst="rect">
            <a:avLst/>
          </a:prstGeom>
          <a:solidFill>
            <a:srgbClr val="12A566"/>
          </a:solidFill>
          <a:ln/>
        </p:spPr>
      </p:sp>
      <p:sp>
        <p:nvSpPr>
          <p:cNvPr id="76" name="Text 74"/>
          <p:cNvSpPr txBox="1"/>
          <p:nvPr/>
        </p:nvSpPr>
        <p:spPr>
          <a:xfrm>
            <a:off x="10259568"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+0.6 pts</a:t>
            </a:r>
            <a:endParaRPr lang="en-US" sz="1300" dirty="0"/>
          </a:p>
        </p:txBody>
      </p:sp>
      <p:sp>
        <p:nvSpPr>
          <p:cNvPr id="77" name="Text 75"/>
          <p:cNvSpPr txBox="1"/>
          <p:nvPr/>
        </p:nvSpPr>
        <p:spPr>
          <a:xfrm>
            <a:off x="6208776"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78" name="Shape 76"/>
          <p:cNvSpPr/>
          <p:nvPr/>
        </p:nvSpPr>
        <p:spPr>
          <a:xfrm>
            <a:off x="9363456" y="3060314"/>
            <a:ext cx="68205" cy="105898"/>
          </a:xfrm>
          <a:prstGeom prst="rect">
            <a:avLst/>
          </a:prstGeom>
          <a:solidFill>
            <a:srgbClr val="12A566"/>
          </a:solidFill>
          <a:ln/>
        </p:spPr>
      </p:sp>
      <p:sp>
        <p:nvSpPr>
          <p:cNvPr id="79" name="Text 77"/>
          <p:cNvSpPr txBox="1"/>
          <p:nvPr/>
        </p:nvSpPr>
        <p:spPr>
          <a:xfrm>
            <a:off x="10259568"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+0.5 pts</a:t>
            </a:r>
            <a:endParaRPr lang="en-US" sz="1300" dirty="0"/>
          </a:p>
        </p:txBody>
      </p:sp>
      <p:sp>
        <p:nvSpPr>
          <p:cNvPr id="80" name="Text 78"/>
          <p:cNvSpPr txBox="1"/>
          <p:nvPr/>
        </p:nvSpPr>
        <p:spPr>
          <a:xfrm>
            <a:off x="6208776"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81" name="Shape 79"/>
          <p:cNvSpPr/>
          <p:nvPr/>
        </p:nvSpPr>
        <p:spPr>
          <a:xfrm>
            <a:off x="9363456" y="3290528"/>
            <a:ext cx="66847" cy="105898"/>
          </a:xfrm>
          <a:prstGeom prst="rect">
            <a:avLst/>
          </a:prstGeom>
          <a:solidFill>
            <a:srgbClr val="12A566"/>
          </a:solidFill>
          <a:ln/>
        </p:spPr>
      </p:sp>
      <p:sp>
        <p:nvSpPr>
          <p:cNvPr id="82" name="Text 80"/>
          <p:cNvSpPr txBox="1"/>
          <p:nvPr/>
        </p:nvSpPr>
        <p:spPr>
          <a:xfrm>
            <a:off x="10259568" y="3228370"/>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+0.5 pts</a:t>
            </a:r>
            <a:endParaRPr lang="en-US" sz="1300" dirty="0"/>
          </a:p>
        </p:txBody>
      </p:sp>
      <p:sp>
        <p:nvSpPr>
          <p:cNvPr id="83" name="Text 81"/>
          <p:cNvSpPr txBox="1"/>
          <p:nvPr/>
        </p:nvSpPr>
        <p:spPr>
          <a:xfrm>
            <a:off x="6208776"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84" name="Shape 82"/>
          <p:cNvSpPr/>
          <p:nvPr/>
        </p:nvSpPr>
        <p:spPr>
          <a:xfrm>
            <a:off x="9363456" y="3520741"/>
            <a:ext cx="34518" cy="105898"/>
          </a:xfrm>
          <a:prstGeom prst="rect">
            <a:avLst/>
          </a:prstGeom>
          <a:solidFill>
            <a:srgbClr val="12A566"/>
          </a:solidFill>
          <a:ln/>
        </p:spPr>
      </p:sp>
      <p:sp>
        <p:nvSpPr>
          <p:cNvPr id="85" name="Text 83"/>
          <p:cNvSpPr txBox="1"/>
          <p:nvPr/>
        </p:nvSpPr>
        <p:spPr>
          <a:xfrm>
            <a:off x="10259568" y="345858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+0.3 pts</a:t>
            </a:r>
            <a:endParaRPr lang="en-US" sz="1300" dirty="0"/>
          </a:p>
        </p:txBody>
      </p:sp>
      <p:sp>
        <p:nvSpPr>
          <p:cNvPr id="86" name="Text 84"/>
          <p:cNvSpPr txBox="1"/>
          <p:nvPr/>
        </p:nvSpPr>
        <p:spPr>
          <a:xfrm>
            <a:off x="6208776"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87" name="Shape 85"/>
          <p:cNvSpPr/>
          <p:nvPr/>
        </p:nvSpPr>
        <p:spPr>
          <a:xfrm>
            <a:off x="9363456" y="3750955"/>
            <a:ext cx="30328" cy="105898"/>
          </a:xfrm>
          <a:prstGeom prst="rect">
            <a:avLst/>
          </a:prstGeom>
          <a:solidFill>
            <a:srgbClr val="12A566"/>
          </a:solidFill>
          <a:ln/>
        </p:spPr>
      </p:sp>
      <p:sp>
        <p:nvSpPr>
          <p:cNvPr id="88" name="Text 86"/>
          <p:cNvSpPr txBox="1"/>
          <p:nvPr/>
        </p:nvSpPr>
        <p:spPr>
          <a:xfrm>
            <a:off x="10259568" y="3688797"/>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+0.2 pts</a:t>
            </a:r>
            <a:endParaRPr lang="en-US" sz="1300" dirty="0"/>
          </a:p>
        </p:txBody>
      </p:sp>
      <p:sp>
        <p:nvSpPr>
          <p:cNvPr id="89" name="Text 87"/>
          <p:cNvSpPr txBox="1"/>
          <p:nvPr/>
        </p:nvSpPr>
        <p:spPr>
          <a:xfrm>
            <a:off x="6208776"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90" name="Shape 88"/>
          <p:cNvSpPr/>
          <p:nvPr/>
        </p:nvSpPr>
        <p:spPr>
          <a:xfrm>
            <a:off x="9363456" y="3981169"/>
            <a:ext cx="28787" cy="105898"/>
          </a:xfrm>
          <a:prstGeom prst="rect">
            <a:avLst/>
          </a:prstGeom>
          <a:solidFill>
            <a:srgbClr val="12A566"/>
          </a:solidFill>
          <a:ln/>
        </p:spPr>
      </p:sp>
      <p:sp>
        <p:nvSpPr>
          <p:cNvPr id="91" name="Text 89"/>
          <p:cNvSpPr txBox="1"/>
          <p:nvPr/>
        </p:nvSpPr>
        <p:spPr>
          <a:xfrm>
            <a:off x="10259568" y="3919011"/>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+0.2 pts</a:t>
            </a:r>
            <a:endParaRPr lang="en-US" sz="1300" dirty="0"/>
          </a:p>
        </p:txBody>
      </p:sp>
      <p:sp>
        <p:nvSpPr>
          <p:cNvPr id="92" name="Text 90"/>
          <p:cNvSpPr txBox="1"/>
          <p:nvPr/>
        </p:nvSpPr>
        <p:spPr>
          <a:xfrm>
            <a:off x="6208776"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93" name="Shape 91"/>
          <p:cNvSpPr/>
          <p:nvPr/>
        </p:nvSpPr>
        <p:spPr>
          <a:xfrm>
            <a:off x="9363456" y="4211382"/>
            <a:ext cx="12802" cy="105898"/>
          </a:xfrm>
          <a:prstGeom prst="rect">
            <a:avLst/>
          </a:prstGeom>
          <a:solidFill>
            <a:srgbClr val="12A566"/>
          </a:solidFill>
          <a:ln/>
        </p:spPr>
      </p:sp>
      <p:sp>
        <p:nvSpPr>
          <p:cNvPr id="94" name="Text 92"/>
          <p:cNvSpPr txBox="1"/>
          <p:nvPr/>
        </p:nvSpPr>
        <p:spPr>
          <a:xfrm>
            <a:off x="10259568" y="414922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+0.1 pts</a:t>
            </a:r>
            <a:endParaRPr lang="en-US" sz="1300" dirty="0"/>
          </a:p>
        </p:txBody>
      </p:sp>
      <p:sp>
        <p:nvSpPr>
          <p:cNvPr id="95" name="Text 93"/>
          <p:cNvSpPr txBox="1"/>
          <p:nvPr/>
        </p:nvSpPr>
        <p:spPr>
          <a:xfrm>
            <a:off x="6208776"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96" name="Shape 94"/>
          <p:cNvSpPr/>
          <p:nvPr/>
        </p:nvSpPr>
        <p:spPr>
          <a:xfrm>
            <a:off x="9354625" y="4441596"/>
            <a:ext cx="12802" cy="105898"/>
          </a:xfrm>
          <a:prstGeom prst="rect">
            <a:avLst/>
          </a:prstGeom>
          <a:solidFill>
            <a:srgbClr val="C2352F"/>
          </a:solidFill>
          <a:ln/>
        </p:spPr>
      </p:sp>
      <p:sp>
        <p:nvSpPr>
          <p:cNvPr id="97" name="Text 95"/>
          <p:cNvSpPr txBox="1"/>
          <p:nvPr/>
        </p:nvSpPr>
        <p:spPr>
          <a:xfrm>
            <a:off x="10259568" y="4379438"/>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−0.1 pts</a:t>
            </a:r>
            <a:endParaRPr lang="en-US" sz="1300" dirty="0"/>
          </a:p>
        </p:txBody>
      </p:sp>
      <p:sp>
        <p:nvSpPr>
          <p:cNvPr id="98" name="Text 96"/>
          <p:cNvSpPr txBox="1"/>
          <p:nvPr/>
        </p:nvSpPr>
        <p:spPr>
          <a:xfrm>
            <a:off x="6208776"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99" name="Shape 97"/>
          <p:cNvSpPr/>
          <p:nvPr/>
        </p:nvSpPr>
        <p:spPr>
          <a:xfrm>
            <a:off x="9300126" y="4671809"/>
            <a:ext cx="63330" cy="105898"/>
          </a:xfrm>
          <a:prstGeom prst="rect">
            <a:avLst/>
          </a:prstGeom>
          <a:solidFill>
            <a:srgbClr val="C2352F"/>
          </a:solidFill>
          <a:ln/>
        </p:spPr>
      </p:sp>
      <p:sp>
        <p:nvSpPr>
          <p:cNvPr id="100" name="Text 98"/>
          <p:cNvSpPr txBox="1"/>
          <p:nvPr/>
        </p:nvSpPr>
        <p:spPr>
          <a:xfrm>
            <a:off x="10259568" y="4609652"/>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−0.5 pts</a:t>
            </a:r>
            <a:endParaRPr lang="en-US" sz="1300" dirty="0"/>
          </a:p>
        </p:txBody>
      </p:sp>
      <p:sp>
        <p:nvSpPr>
          <p:cNvPr id="101" name="Text 99"/>
          <p:cNvSpPr txBox="1"/>
          <p:nvPr/>
        </p:nvSpPr>
        <p:spPr>
          <a:xfrm>
            <a:off x="6208776"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02" name="Shape 100"/>
          <p:cNvSpPr/>
          <p:nvPr/>
        </p:nvSpPr>
        <p:spPr>
          <a:xfrm>
            <a:off x="9295729" y="4902023"/>
            <a:ext cx="67727" cy="105898"/>
          </a:xfrm>
          <a:prstGeom prst="rect">
            <a:avLst/>
          </a:prstGeom>
          <a:solidFill>
            <a:srgbClr val="C2352F"/>
          </a:solidFill>
          <a:ln/>
        </p:spPr>
      </p:sp>
      <p:sp>
        <p:nvSpPr>
          <p:cNvPr id="103" name="Text 101"/>
          <p:cNvSpPr txBox="1"/>
          <p:nvPr/>
        </p:nvSpPr>
        <p:spPr>
          <a:xfrm>
            <a:off x="10259568" y="4839865"/>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−0.5 pts</a:t>
            </a:r>
            <a:endParaRPr lang="en-US" sz="1300" dirty="0"/>
          </a:p>
        </p:txBody>
      </p:sp>
      <p:sp>
        <p:nvSpPr>
          <p:cNvPr id="104" name="Text 102"/>
          <p:cNvSpPr txBox="1"/>
          <p:nvPr/>
        </p:nvSpPr>
        <p:spPr>
          <a:xfrm>
            <a:off x="6208776"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105" name="Shape 103"/>
          <p:cNvSpPr/>
          <p:nvPr/>
        </p:nvSpPr>
        <p:spPr>
          <a:xfrm>
            <a:off x="9244132" y="5132237"/>
            <a:ext cx="119324" cy="105898"/>
          </a:xfrm>
          <a:prstGeom prst="rect">
            <a:avLst/>
          </a:prstGeom>
          <a:solidFill>
            <a:srgbClr val="C2352F"/>
          </a:solidFill>
          <a:ln/>
        </p:spPr>
      </p:sp>
      <p:sp>
        <p:nvSpPr>
          <p:cNvPr id="106" name="Text 104"/>
          <p:cNvSpPr txBox="1"/>
          <p:nvPr/>
        </p:nvSpPr>
        <p:spPr>
          <a:xfrm>
            <a:off x="10259568" y="5070079"/>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−0.9 pts</a:t>
            </a:r>
            <a:endParaRPr lang="en-US" sz="1300" dirty="0"/>
          </a:p>
        </p:txBody>
      </p:sp>
      <p:sp>
        <p:nvSpPr>
          <p:cNvPr id="107" name="Text 105"/>
          <p:cNvSpPr txBox="1"/>
          <p:nvPr/>
        </p:nvSpPr>
        <p:spPr>
          <a:xfrm>
            <a:off x="6208776"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108" name="Shape 106"/>
          <p:cNvSpPr/>
          <p:nvPr/>
        </p:nvSpPr>
        <p:spPr>
          <a:xfrm>
            <a:off x="9076995" y="5362450"/>
            <a:ext cx="286461" cy="105898"/>
          </a:xfrm>
          <a:prstGeom prst="rect">
            <a:avLst/>
          </a:prstGeom>
          <a:solidFill>
            <a:srgbClr val="C2352F"/>
          </a:solidFill>
          <a:ln/>
        </p:spPr>
      </p:sp>
      <p:sp>
        <p:nvSpPr>
          <p:cNvPr id="109" name="Text 107"/>
          <p:cNvSpPr txBox="1"/>
          <p:nvPr/>
        </p:nvSpPr>
        <p:spPr>
          <a:xfrm>
            <a:off x="10259568" y="530029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−2.1 pts</a:t>
            </a:r>
            <a:endParaRPr lang="en-US" sz="1300" dirty="0"/>
          </a:p>
        </p:txBody>
      </p:sp>
      <p:sp>
        <p:nvSpPr>
          <p:cNvPr id="110" name="Shape 108"/>
          <p:cNvSpPr/>
          <p:nvPr/>
        </p:nvSpPr>
        <p:spPr>
          <a:xfrm>
            <a:off x="3807562" y="1847088"/>
            <a:ext cx="10973" cy="3913632"/>
          </a:xfrm>
          <a:prstGeom prst="rect">
            <a:avLst/>
          </a:prstGeom>
          <a:solidFill>
            <a:srgbClr val="9AA3AD"/>
          </a:solidFill>
          <a:ln/>
        </p:spPr>
      </p:sp>
      <p:sp>
        <p:nvSpPr>
          <p:cNvPr id="111" name="Shape 109"/>
          <p:cNvSpPr/>
          <p:nvPr/>
        </p:nvSpPr>
        <p:spPr>
          <a:xfrm>
            <a:off x="9357970" y="1847088"/>
            <a:ext cx="10973" cy="3913632"/>
          </a:xfrm>
          <a:prstGeom prst="rect">
            <a:avLst/>
          </a:prstGeom>
          <a:solidFill>
            <a:srgbClr val="9AA3AD"/>
          </a:solidFill>
          <a:ln/>
        </p:spPr>
      </p:sp>
      <p:sp>
        <p:nvSpPr>
          <p:cNvPr id="112" name="Shape 110"/>
          <p:cNvSpPr/>
          <p:nvPr/>
        </p:nvSpPr>
        <p:spPr>
          <a:xfrm>
            <a:off x="457200" y="5961888"/>
            <a:ext cx="11274552" cy="548640"/>
          </a:xfrm>
          <a:prstGeom prst="rect">
            <a:avLst/>
          </a:prstGeom>
          <a:solidFill>
            <a:srgbClr val="E6F6EE"/>
          </a:solidFill>
          <a:ln/>
        </p:spPr>
      </p:sp>
      <p:sp>
        <p:nvSpPr>
          <p:cNvPr id="113" name="Text 111"/>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28 of 33 stores improved parts margin, led by ACURA at +6.1 pts to 44.9%. 5 declined; AUDI HENDERSON fell most at −2.1 pts.</a:t>
            </a:r>
            <a:endParaRPr lang="en-US" sz="16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13232" y="2377440"/>
            <a:ext cx="9144000" cy="365760"/>
          </a:xfrm>
          <a:prstGeom prst="rect">
            <a:avLst/>
          </a:prstGeom>
          <a:noFill/>
          <a:ln/>
        </p:spPr>
        <p:txBody>
          <a:bodyPr wrap="square" lIns="0" tIns="0" rIns="0" bIns="0" rtlCol="0" anchor="ctr"/>
          <a:lstStyle/>
          <a:p>
            <a:pPr indent="0" marL="0">
              <a:buNone/>
            </a:pPr>
            <a:r>
              <a:rPr lang="en-US" sz="2000" b="1" spc="260" kern="0" dirty="0">
                <a:solidFill>
                  <a:srgbClr val="2587C5"/>
                </a:solidFill>
                <a:latin typeface="Inter" pitchFamily="34" charset="0"/>
                <a:ea typeface="Inter" pitchFamily="34" charset="-122"/>
                <a:cs typeface="Inter" pitchFamily="34" charset="-120"/>
              </a:rPr>
              <a:t>FIXED OPS</a:t>
            </a:r>
            <a:endParaRPr lang="en-US" sz="2000" dirty="0"/>
          </a:p>
        </p:txBody>
      </p:sp>
      <p:sp>
        <p:nvSpPr>
          <p:cNvPr id="3" name="Text 1"/>
          <p:cNvSpPr txBox="1"/>
          <p:nvPr/>
        </p:nvSpPr>
        <p:spPr>
          <a:xfrm>
            <a:off x="667512" y="2743200"/>
            <a:ext cx="10789920" cy="1234440"/>
          </a:xfrm>
          <a:prstGeom prst="rect">
            <a:avLst/>
          </a:prstGeom>
          <a:noFill/>
          <a:ln/>
        </p:spPr>
        <p:txBody>
          <a:bodyPr wrap="square" lIns="0" tIns="0" rIns="0" bIns="0" rtlCol="0" anchor="ctr"/>
          <a:lstStyle/>
          <a:p>
            <a:pPr indent="0" marL="0">
              <a:buNone/>
            </a:pPr>
            <a:r>
              <a:rPr lang="en-US" sz="8200" b="1" dirty="0">
                <a:solidFill>
                  <a:srgbClr val="1A1A1A"/>
                </a:solidFill>
                <a:latin typeface="Inter" pitchFamily="34" charset="0"/>
                <a:ea typeface="Inter" pitchFamily="34" charset="-122"/>
                <a:cs typeface="Inter" pitchFamily="34" charset="-120"/>
              </a:rPr>
              <a:t>Labor Mix</a:t>
            </a:r>
            <a:endParaRPr lang="en-US" sz="8200" dirty="0"/>
          </a:p>
        </p:txBody>
      </p:sp>
      <p:sp>
        <p:nvSpPr>
          <p:cNvPr id="4" name="Text 2"/>
          <p:cNvSpPr txBox="1"/>
          <p:nvPr/>
        </p:nvSpPr>
        <p:spPr>
          <a:xfrm>
            <a:off x="694944" y="4041648"/>
            <a:ext cx="10789920" cy="411480"/>
          </a:xfrm>
          <a:prstGeom prst="rect">
            <a:avLst/>
          </a:prstGeom>
          <a:noFill/>
          <a:ln/>
        </p:spPr>
        <p:txBody>
          <a:bodyPr wrap="square" lIns="0" tIns="0" rIns="0" bIns="0" rtlCol="0" anchor="ctr"/>
          <a:lstStyle/>
          <a:p>
            <a:pPr indent="0" marL="0">
              <a:buNone/>
            </a:pPr>
            <a:r>
              <a:rPr lang="en-US" sz="2200" dirty="0">
                <a:solidFill>
                  <a:srgbClr val="595959"/>
                </a:solidFill>
                <a:latin typeface="Inter" pitchFamily="34" charset="0"/>
                <a:ea typeface="Inter" pitchFamily="34" charset="-122"/>
                <a:cs typeface="Inter" pitchFamily="34" charset="-120"/>
              </a:rPr>
              <a:t>Pay type   ·   Work type   ·   Op code descriptions</a:t>
            </a:r>
            <a:endParaRPr lang="en-US" sz="2200" dirty="0"/>
          </a:p>
        </p:txBody>
      </p:sp>
      <p:sp>
        <p:nvSpPr>
          <p:cNvPr id="5" name="Shape 3"/>
          <p:cNvSpPr/>
          <p:nvPr/>
        </p:nvSpPr>
        <p:spPr>
          <a:xfrm>
            <a:off x="685800" y="5257800"/>
            <a:ext cx="1340249" cy="45720"/>
          </a:xfrm>
          <a:prstGeom prst="rect">
            <a:avLst/>
          </a:prstGeom>
          <a:solidFill>
            <a:srgbClr val="5B9BD5"/>
          </a:solidFill>
          <a:ln/>
        </p:spPr>
      </p:sp>
      <p:sp>
        <p:nvSpPr>
          <p:cNvPr id="6" name="Text 4"/>
          <p:cNvSpPr txBox="1"/>
          <p:nvPr/>
        </p:nvSpPr>
        <p:spPr>
          <a:xfrm>
            <a:off x="685800"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Gross</a:t>
            </a:r>
            <a:endParaRPr lang="en-US" sz="1550" dirty="0"/>
          </a:p>
        </p:txBody>
      </p:sp>
      <p:sp>
        <p:nvSpPr>
          <p:cNvPr id="7" name="Shape 5"/>
          <p:cNvSpPr/>
          <p:nvPr/>
        </p:nvSpPr>
        <p:spPr>
          <a:xfrm>
            <a:off x="2227217" y="5257800"/>
            <a:ext cx="1340249" cy="45720"/>
          </a:xfrm>
          <a:prstGeom prst="rect">
            <a:avLst/>
          </a:prstGeom>
          <a:solidFill>
            <a:srgbClr val="5B9BD5"/>
          </a:solidFill>
          <a:ln/>
        </p:spPr>
      </p:sp>
      <p:sp>
        <p:nvSpPr>
          <p:cNvPr id="8" name="Text 6"/>
          <p:cNvSpPr txBox="1"/>
          <p:nvPr/>
        </p:nvSpPr>
        <p:spPr>
          <a:xfrm>
            <a:off x="2227217"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Profitability</a:t>
            </a:r>
            <a:endParaRPr lang="en-US" sz="1550" dirty="0"/>
          </a:p>
        </p:txBody>
      </p:sp>
      <p:sp>
        <p:nvSpPr>
          <p:cNvPr id="9" name="Shape 7"/>
          <p:cNvSpPr/>
          <p:nvPr/>
        </p:nvSpPr>
        <p:spPr>
          <a:xfrm>
            <a:off x="3768634" y="5257800"/>
            <a:ext cx="1340249" cy="45720"/>
          </a:xfrm>
          <a:prstGeom prst="rect">
            <a:avLst/>
          </a:prstGeom>
          <a:solidFill>
            <a:srgbClr val="5B9BD5"/>
          </a:solidFill>
          <a:ln/>
        </p:spPr>
      </p:sp>
      <p:sp>
        <p:nvSpPr>
          <p:cNvPr id="10" name="Text 8"/>
          <p:cNvSpPr txBox="1"/>
          <p:nvPr/>
        </p:nvSpPr>
        <p:spPr>
          <a:xfrm>
            <a:off x="3768634"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CP Engine</a:t>
            </a:r>
            <a:endParaRPr lang="en-US" sz="1550" dirty="0"/>
          </a:p>
        </p:txBody>
      </p:sp>
      <p:sp>
        <p:nvSpPr>
          <p:cNvPr id="11" name="Shape 9"/>
          <p:cNvSpPr/>
          <p:nvPr/>
        </p:nvSpPr>
        <p:spPr>
          <a:xfrm>
            <a:off x="5310051" y="5257800"/>
            <a:ext cx="1340249" cy="91440"/>
          </a:xfrm>
          <a:prstGeom prst="rect">
            <a:avLst/>
          </a:prstGeom>
          <a:solidFill>
            <a:srgbClr val="2587C5"/>
          </a:solidFill>
          <a:ln/>
        </p:spPr>
      </p:sp>
      <p:sp>
        <p:nvSpPr>
          <p:cNvPr id="12" name="Text 10"/>
          <p:cNvSpPr txBox="1"/>
          <p:nvPr/>
        </p:nvSpPr>
        <p:spPr>
          <a:xfrm>
            <a:off x="5310051" y="5440680"/>
            <a:ext cx="1340249" cy="365760"/>
          </a:xfrm>
          <a:prstGeom prst="rect">
            <a:avLst/>
          </a:prstGeom>
          <a:noFill/>
          <a:ln/>
        </p:spPr>
        <p:txBody>
          <a:bodyPr wrap="square" lIns="0" tIns="0" rIns="0" bIns="0" rtlCol="0" anchor="ctr"/>
          <a:lstStyle/>
          <a:p>
            <a:pPr indent="0" marL="0">
              <a:buNone/>
            </a:pPr>
            <a:r>
              <a:rPr lang="en-US" sz="1550" b="1" dirty="0">
                <a:solidFill>
                  <a:srgbClr val="1A1A1A"/>
                </a:solidFill>
                <a:latin typeface="Inter" pitchFamily="34" charset="0"/>
                <a:ea typeface="Inter" pitchFamily="34" charset="-122"/>
                <a:cs typeface="Inter" pitchFamily="34" charset="-120"/>
              </a:rPr>
              <a:t>Labor Mix</a:t>
            </a:r>
            <a:endParaRPr lang="en-US" sz="1550" dirty="0"/>
          </a:p>
        </p:txBody>
      </p:sp>
      <p:sp>
        <p:nvSpPr>
          <p:cNvPr id="13" name="Shape 11"/>
          <p:cNvSpPr/>
          <p:nvPr/>
        </p:nvSpPr>
        <p:spPr>
          <a:xfrm>
            <a:off x="6851469" y="5257800"/>
            <a:ext cx="1340249" cy="45720"/>
          </a:xfrm>
          <a:prstGeom prst="rect">
            <a:avLst/>
          </a:prstGeom>
          <a:solidFill>
            <a:srgbClr val="D9D9D9"/>
          </a:solidFill>
          <a:ln/>
        </p:spPr>
      </p:sp>
      <p:sp>
        <p:nvSpPr>
          <p:cNvPr id="14" name="Text 12"/>
          <p:cNvSpPr txBox="1"/>
          <p:nvPr/>
        </p:nvSpPr>
        <p:spPr>
          <a:xfrm>
            <a:off x="6851469"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Opcodes</a:t>
            </a:r>
            <a:endParaRPr lang="en-US" sz="1550" dirty="0"/>
          </a:p>
        </p:txBody>
      </p:sp>
      <p:sp>
        <p:nvSpPr>
          <p:cNvPr id="15" name="Shape 13"/>
          <p:cNvSpPr/>
          <p:nvPr/>
        </p:nvSpPr>
        <p:spPr>
          <a:xfrm>
            <a:off x="8392886" y="5257800"/>
            <a:ext cx="1340249" cy="45720"/>
          </a:xfrm>
          <a:prstGeom prst="rect">
            <a:avLst/>
          </a:prstGeom>
          <a:solidFill>
            <a:srgbClr val="D9D9D9"/>
          </a:solidFill>
          <a:ln/>
        </p:spPr>
      </p:sp>
      <p:sp>
        <p:nvSpPr>
          <p:cNvPr id="16" name="Text 14"/>
          <p:cNvSpPr txBox="1"/>
          <p:nvPr/>
        </p:nvSpPr>
        <p:spPr>
          <a:xfrm>
            <a:off x="8392886"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Warranty</a:t>
            </a:r>
            <a:endParaRPr lang="en-US" sz="1550" dirty="0"/>
          </a:p>
        </p:txBody>
      </p:sp>
      <p:sp>
        <p:nvSpPr>
          <p:cNvPr id="17" name="Shape 15"/>
          <p:cNvSpPr/>
          <p:nvPr/>
        </p:nvSpPr>
        <p:spPr>
          <a:xfrm>
            <a:off x="9934303" y="5257800"/>
            <a:ext cx="1340249" cy="45720"/>
          </a:xfrm>
          <a:prstGeom prst="rect">
            <a:avLst/>
          </a:prstGeom>
          <a:solidFill>
            <a:srgbClr val="D9D9D9"/>
          </a:solidFill>
          <a:ln/>
        </p:spPr>
      </p:sp>
      <p:sp>
        <p:nvSpPr>
          <p:cNvPr id="18" name="Text 16"/>
          <p:cNvSpPr txBox="1"/>
          <p:nvPr/>
        </p:nvSpPr>
        <p:spPr>
          <a:xfrm>
            <a:off x="9934303"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Productivity</a:t>
            </a:r>
            <a:endParaRPr lang="en-US" sz="15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LABOR MIX</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Labor Sale by Pay Type</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Shape 4"/>
          <p:cNvSpPr/>
          <p:nvPr/>
        </p:nvSpPr>
        <p:spPr>
          <a:xfrm>
            <a:off x="658368" y="1371600"/>
            <a:ext cx="201168" cy="201168"/>
          </a:xfrm>
          <a:prstGeom prst="rect">
            <a:avLst/>
          </a:prstGeom>
          <a:solidFill>
            <a:srgbClr val="2587C5"/>
          </a:solidFill>
          <a:ln/>
        </p:spPr>
      </p:sp>
      <p:sp>
        <p:nvSpPr>
          <p:cNvPr id="7" name="Text 5"/>
          <p:cNvSpPr txBox="1"/>
          <p:nvPr/>
        </p:nvSpPr>
        <p:spPr>
          <a:xfrm>
            <a:off x="932688" y="1298448"/>
            <a:ext cx="1691640" cy="347472"/>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Customer pay %</a:t>
            </a:r>
            <a:endParaRPr lang="en-US" sz="1400" dirty="0"/>
          </a:p>
        </p:txBody>
      </p:sp>
      <p:sp>
        <p:nvSpPr>
          <p:cNvPr id="8" name="Shape 6"/>
          <p:cNvSpPr/>
          <p:nvPr/>
        </p:nvSpPr>
        <p:spPr>
          <a:xfrm>
            <a:off x="2624328" y="1371600"/>
            <a:ext cx="201168" cy="201168"/>
          </a:xfrm>
          <a:prstGeom prst="rect">
            <a:avLst/>
          </a:prstGeom>
          <a:solidFill>
            <a:srgbClr val="8FBEE6"/>
          </a:solidFill>
          <a:ln/>
        </p:spPr>
      </p:sp>
      <p:sp>
        <p:nvSpPr>
          <p:cNvPr id="9" name="Text 7"/>
          <p:cNvSpPr txBox="1"/>
          <p:nvPr/>
        </p:nvSpPr>
        <p:spPr>
          <a:xfrm>
            <a:off x="2898648" y="1298448"/>
            <a:ext cx="1691640" cy="347472"/>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Warranty %</a:t>
            </a:r>
            <a:endParaRPr lang="en-US" sz="1400" dirty="0"/>
          </a:p>
        </p:txBody>
      </p:sp>
      <p:sp>
        <p:nvSpPr>
          <p:cNvPr id="10" name="Shape 8"/>
          <p:cNvSpPr/>
          <p:nvPr/>
        </p:nvSpPr>
        <p:spPr>
          <a:xfrm>
            <a:off x="4590288" y="1371600"/>
            <a:ext cx="201168" cy="201168"/>
          </a:xfrm>
          <a:prstGeom prst="rect">
            <a:avLst/>
          </a:prstGeom>
          <a:solidFill>
            <a:srgbClr val="D9D9D9"/>
          </a:solidFill>
          <a:ln/>
        </p:spPr>
      </p:sp>
      <p:sp>
        <p:nvSpPr>
          <p:cNvPr id="11" name="Text 9"/>
          <p:cNvSpPr txBox="1"/>
          <p:nvPr/>
        </p:nvSpPr>
        <p:spPr>
          <a:xfrm>
            <a:off x="4864608" y="1298448"/>
            <a:ext cx="1691640" cy="347472"/>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Internal %</a:t>
            </a:r>
            <a:endParaRPr lang="en-US" sz="1400" dirty="0"/>
          </a:p>
        </p:txBody>
      </p:sp>
      <p:sp>
        <p:nvSpPr>
          <p:cNvPr id="12" name="Shape 10"/>
          <p:cNvSpPr/>
          <p:nvPr/>
        </p:nvSpPr>
        <p:spPr>
          <a:xfrm>
            <a:off x="6675120" y="1298448"/>
            <a:ext cx="4855464" cy="384048"/>
          </a:xfrm>
          <a:prstGeom prst="rect">
            <a:avLst/>
          </a:prstGeom>
          <a:solidFill>
            <a:srgbClr val="EDF4FA"/>
          </a:solidFill>
          <a:ln/>
        </p:spPr>
      </p:sp>
      <p:sp>
        <p:nvSpPr>
          <p:cNvPr id="13" name="Text 11"/>
          <p:cNvSpPr txBox="1"/>
          <p:nvPr/>
        </p:nvSpPr>
        <p:spPr>
          <a:xfrm>
            <a:off x="6766560" y="1298448"/>
            <a:ext cx="914400" cy="38404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GROUP</a:t>
            </a:r>
            <a:endParaRPr lang="en-US" sz="1500" dirty="0"/>
          </a:p>
        </p:txBody>
      </p:sp>
      <p:sp>
        <p:nvSpPr>
          <p:cNvPr id="14" name="Shape 12"/>
          <p:cNvSpPr/>
          <p:nvPr/>
        </p:nvSpPr>
        <p:spPr>
          <a:xfrm>
            <a:off x="7726680" y="1344168"/>
            <a:ext cx="1948645" cy="292608"/>
          </a:xfrm>
          <a:prstGeom prst="rect">
            <a:avLst/>
          </a:prstGeom>
          <a:solidFill>
            <a:srgbClr val="2587C5"/>
          </a:solidFill>
          <a:ln w="6350">
            <a:solidFill>
              <a:srgbClr val="FFFFFF"/>
            </a:solidFill>
            <a:prstDash val="solid"/>
          </a:ln>
        </p:spPr>
      </p:sp>
      <p:sp>
        <p:nvSpPr>
          <p:cNvPr id="15" name="Text 13"/>
          <p:cNvSpPr txBox="1"/>
          <p:nvPr/>
        </p:nvSpPr>
        <p:spPr>
          <a:xfrm>
            <a:off x="7726680" y="1344168"/>
            <a:ext cx="1948645" cy="292608"/>
          </a:xfrm>
          <a:prstGeom prst="rect">
            <a:avLst/>
          </a:prstGeom>
          <a:noFill/>
          <a:ln/>
        </p:spPr>
        <p:txBody>
          <a:bodyPr wrap="non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52</a:t>
            </a:r>
            <a:endParaRPr lang="en-US" sz="1400" dirty="0"/>
          </a:p>
        </p:txBody>
      </p:sp>
      <p:sp>
        <p:nvSpPr>
          <p:cNvPr id="16" name="Shape 14"/>
          <p:cNvSpPr/>
          <p:nvPr/>
        </p:nvSpPr>
        <p:spPr>
          <a:xfrm>
            <a:off x="9675325" y="1344168"/>
            <a:ext cx="882937" cy="292608"/>
          </a:xfrm>
          <a:prstGeom prst="rect">
            <a:avLst/>
          </a:prstGeom>
          <a:solidFill>
            <a:srgbClr val="8FBEE6"/>
          </a:solidFill>
          <a:ln w="6350">
            <a:solidFill>
              <a:srgbClr val="FFFFFF"/>
            </a:solidFill>
            <a:prstDash val="solid"/>
          </a:ln>
        </p:spPr>
      </p:sp>
      <p:sp>
        <p:nvSpPr>
          <p:cNvPr id="17" name="Text 15"/>
          <p:cNvSpPr txBox="1"/>
          <p:nvPr/>
        </p:nvSpPr>
        <p:spPr>
          <a:xfrm>
            <a:off x="9675325" y="1344168"/>
            <a:ext cx="882937" cy="292608"/>
          </a:xfrm>
          <a:prstGeom prst="rect">
            <a:avLst/>
          </a:prstGeom>
          <a:noFill/>
          <a:ln/>
        </p:spPr>
        <p:txBody>
          <a:bodyPr wrap="none" lIns="0" tIns="0" rIns="0" bIns="0" rtlCol="0" anchor="ctr"/>
          <a:lstStyle/>
          <a:p>
            <a:pPr algn="ctr" indent="0" marL="0">
              <a:buNone/>
            </a:pPr>
            <a:r>
              <a:rPr lang="en-US" sz="1400" b="1" dirty="0">
                <a:solidFill>
                  <a:srgbClr val="1A1A1A"/>
                </a:solidFill>
                <a:latin typeface="Inter" pitchFamily="34" charset="0"/>
                <a:ea typeface="Inter" pitchFamily="34" charset="-122"/>
                <a:cs typeface="Inter" pitchFamily="34" charset="-120"/>
              </a:rPr>
              <a:t>24</a:t>
            </a:r>
            <a:endParaRPr lang="en-US" sz="1400" dirty="0"/>
          </a:p>
        </p:txBody>
      </p:sp>
      <p:sp>
        <p:nvSpPr>
          <p:cNvPr id="18" name="Shape 16"/>
          <p:cNvSpPr/>
          <p:nvPr/>
        </p:nvSpPr>
        <p:spPr>
          <a:xfrm>
            <a:off x="10558262" y="1344168"/>
            <a:ext cx="880882" cy="292608"/>
          </a:xfrm>
          <a:prstGeom prst="rect">
            <a:avLst/>
          </a:prstGeom>
          <a:solidFill>
            <a:srgbClr val="D9D9D9"/>
          </a:solidFill>
          <a:ln w="6350">
            <a:solidFill>
              <a:srgbClr val="FFFFFF"/>
            </a:solidFill>
            <a:prstDash val="solid"/>
          </a:ln>
        </p:spPr>
      </p:sp>
      <p:sp>
        <p:nvSpPr>
          <p:cNvPr id="19" name="Text 17"/>
          <p:cNvSpPr txBox="1"/>
          <p:nvPr/>
        </p:nvSpPr>
        <p:spPr>
          <a:xfrm>
            <a:off x="10558262" y="1344168"/>
            <a:ext cx="880882" cy="292608"/>
          </a:xfrm>
          <a:prstGeom prst="rect">
            <a:avLst/>
          </a:prstGeom>
          <a:noFill/>
          <a:ln/>
        </p:spPr>
        <p:txBody>
          <a:bodyPr wrap="none" lIns="0" tIns="0" rIns="0" bIns="0" rtlCol="0" anchor="ctr"/>
          <a:lstStyle/>
          <a:p>
            <a:pPr algn="ctr" indent="0" marL="0">
              <a:buNone/>
            </a:pPr>
            <a:r>
              <a:rPr lang="en-US" sz="1400" b="1" dirty="0">
                <a:solidFill>
                  <a:srgbClr val="1A1A1A"/>
                </a:solidFill>
                <a:latin typeface="Inter" pitchFamily="34" charset="0"/>
                <a:ea typeface="Inter" pitchFamily="34" charset="-122"/>
                <a:cs typeface="Inter" pitchFamily="34" charset="-120"/>
              </a:rPr>
              <a:t>24</a:t>
            </a:r>
            <a:endParaRPr lang="en-US" sz="1400" dirty="0"/>
          </a:p>
        </p:txBody>
      </p:sp>
      <p:sp>
        <p:nvSpPr>
          <p:cNvPr id="20" name="Text 18"/>
          <p:cNvSpPr txBox="1"/>
          <p:nvPr/>
        </p:nvSpPr>
        <p:spPr>
          <a:xfrm>
            <a:off x="658368" y="1828800"/>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21" name="Shape 19"/>
          <p:cNvSpPr/>
          <p:nvPr/>
        </p:nvSpPr>
        <p:spPr>
          <a:xfrm>
            <a:off x="2807208" y="1856426"/>
            <a:ext cx="2219218" cy="174962"/>
          </a:xfrm>
          <a:prstGeom prst="rect">
            <a:avLst/>
          </a:prstGeom>
          <a:solidFill>
            <a:srgbClr val="2587C5"/>
          </a:solidFill>
          <a:ln w="6350">
            <a:solidFill>
              <a:srgbClr val="FFFFFF"/>
            </a:solidFill>
            <a:prstDash val="solid"/>
          </a:ln>
        </p:spPr>
      </p:sp>
      <p:sp>
        <p:nvSpPr>
          <p:cNvPr id="22" name="Text 20"/>
          <p:cNvSpPr txBox="1"/>
          <p:nvPr/>
        </p:nvSpPr>
        <p:spPr>
          <a:xfrm>
            <a:off x="2807208" y="1856426"/>
            <a:ext cx="2219218"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70</a:t>
            </a:r>
            <a:endParaRPr lang="en-US" sz="1300" dirty="0"/>
          </a:p>
        </p:txBody>
      </p:sp>
      <p:sp>
        <p:nvSpPr>
          <p:cNvPr id="23" name="Shape 21"/>
          <p:cNvSpPr/>
          <p:nvPr/>
        </p:nvSpPr>
        <p:spPr>
          <a:xfrm>
            <a:off x="5026426" y="1856426"/>
            <a:ext cx="252542" cy="174962"/>
          </a:xfrm>
          <a:prstGeom prst="rect">
            <a:avLst/>
          </a:prstGeom>
          <a:solidFill>
            <a:srgbClr val="8FBEE6"/>
          </a:solidFill>
          <a:ln w="6350">
            <a:solidFill>
              <a:srgbClr val="FFFFFF"/>
            </a:solidFill>
            <a:prstDash val="solid"/>
          </a:ln>
        </p:spPr>
      </p:sp>
      <p:sp>
        <p:nvSpPr>
          <p:cNvPr id="24" name="Text 22"/>
          <p:cNvSpPr txBox="1"/>
          <p:nvPr/>
        </p:nvSpPr>
        <p:spPr>
          <a:xfrm>
            <a:off x="5026426" y="1856426"/>
            <a:ext cx="252542"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8</a:t>
            </a:r>
            <a:endParaRPr lang="en-US" sz="1300" dirty="0"/>
          </a:p>
        </p:txBody>
      </p:sp>
      <p:sp>
        <p:nvSpPr>
          <p:cNvPr id="25" name="Shape 23"/>
          <p:cNvSpPr/>
          <p:nvPr/>
        </p:nvSpPr>
        <p:spPr>
          <a:xfrm>
            <a:off x="5278968" y="1856426"/>
            <a:ext cx="682920" cy="174962"/>
          </a:xfrm>
          <a:prstGeom prst="rect">
            <a:avLst/>
          </a:prstGeom>
          <a:solidFill>
            <a:srgbClr val="D9D9D9"/>
          </a:solidFill>
          <a:ln w="6350">
            <a:solidFill>
              <a:srgbClr val="FFFFFF"/>
            </a:solidFill>
            <a:prstDash val="solid"/>
          </a:ln>
        </p:spPr>
      </p:sp>
      <p:sp>
        <p:nvSpPr>
          <p:cNvPr id="26" name="Text 24"/>
          <p:cNvSpPr txBox="1"/>
          <p:nvPr/>
        </p:nvSpPr>
        <p:spPr>
          <a:xfrm>
            <a:off x="5278968" y="1856426"/>
            <a:ext cx="682920"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22</a:t>
            </a:r>
            <a:endParaRPr lang="en-US" sz="1300" dirty="0"/>
          </a:p>
        </p:txBody>
      </p:sp>
      <p:sp>
        <p:nvSpPr>
          <p:cNvPr id="27" name="Text 25"/>
          <p:cNvSpPr txBox="1"/>
          <p:nvPr/>
        </p:nvSpPr>
        <p:spPr>
          <a:xfrm>
            <a:off x="658368" y="2059014"/>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28" name="Shape 26"/>
          <p:cNvSpPr/>
          <p:nvPr/>
        </p:nvSpPr>
        <p:spPr>
          <a:xfrm>
            <a:off x="2807208" y="2086639"/>
            <a:ext cx="2060840" cy="174962"/>
          </a:xfrm>
          <a:prstGeom prst="rect">
            <a:avLst/>
          </a:prstGeom>
          <a:solidFill>
            <a:srgbClr val="2587C5"/>
          </a:solidFill>
          <a:ln w="6350">
            <a:solidFill>
              <a:srgbClr val="FFFFFF"/>
            </a:solidFill>
            <a:prstDash val="solid"/>
          </a:ln>
        </p:spPr>
      </p:sp>
      <p:sp>
        <p:nvSpPr>
          <p:cNvPr id="29" name="Text 27"/>
          <p:cNvSpPr txBox="1"/>
          <p:nvPr/>
        </p:nvSpPr>
        <p:spPr>
          <a:xfrm>
            <a:off x="2807208" y="2086639"/>
            <a:ext cx="206084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65</a:t>
            </a:r>
            <a:endParaRPr lang="en-US" sz="1300" dirty="0"/>
          </a:p>
        </p:txBody>
      </p:sp>
      <p:sp>
        <p:nvSpPr>
          <p:cNvPr id="30" name="Shape 28"/>
          <p:cNvSpPr/>
          <p:nvPr/>
        </p:nvSpPr>
        <p:spPr>
          <a:xfrm>
            <a:off x="4868048" y="2086639"/>
            <a:ext cx="489573" cy="174962"/>
          </a:xfrm>
          <a:prstGeom prst="rect">
            <a:avLst/>
          </a:prstGeom>
          <a:solidFill>
            <a:srgbClr val="8FBEE6"/>
          </a:solidFill>
          <a:ln w="6350">
            <a:solidFill>
              <a:srgbClr val="FFFFFF"/>
            </a:solidFill>
            <a:prstDash val="solid"/>
          </a:ln>
        </p:spPr>
      </p:sp>
      <p:sp>
        <p:nvSpPr>
          <p:cNvPr id="31" name="Text 29"/>
          <p:cNvSpPr txBox="1"/>
          <p:nvPr/>
        </p:nvSpPr>
        <p:spPr>
          <a:xfrm>
            <a:off x="4868048" y="2086639"/>
            <a:ext cx="489573"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16</a:t>
            </a:r>
            <a:endParaRPr lang="en-US" sz="1300" dirty="0"/>
          </a:p>
        </p:txBody>
      </p:sp>
      <p:sp>
        <p:nvSpPr>
          <p:cNvPr id="32" name="Shape 30"/>
          <p:cNvSpPr/>
          <p:nvPr/>
        </p:nvSpPr>
        <p:spPr>
          <a:xfrm>
            <a:off x="5357621" y="2086639"/>
            <a:ext cx="604267" cy="174962"/>
          </a:xfrm>
          <a:prstGeom prst="rect">
            <a:avLst/>
          </a:prstGeom>
          <a:solidFill>
            <a:srgbClr val="D9D9D9"/>
          </a:solidFill>
          <a:ln w="6350">
            <a:solidFill>
              <a:srgbClr val="FFFFFF"/>
            </a:solidFill>
            <a:prstDash val="solid"/>
          </a:ln>
        </p:spPr>
      </p:sp>
      <p:sp>
        <p:nvSpPr>
          <p:cNvPr id="33" name="Text 31"/>
          <p:cNvSpPr txBox="1"/>
          <p:nvPr/>
        </p:nvSpPr>
        <p:spPr>
          <a:xfrm>
            <a:off x="5357621" y="2086639"/>
            <a:ext cx="604267"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19</a:t>
            </a:r>
            <a:endParaRPr lang="en-US" sz="1300" dirty="0"/>
          </a:p>
        </p:txBody>
      </p:sp>
      <p:sp>
        <p:nvSpPr>
          <p:cNvPr id="34" name="Text 32"/>
          <p:cNvSpPr txBox="1"/>
          <p:nvPr/>
        </p:nvSpPr>
        <p:spPr>
          <a:xfrm>
            <a:off x="658368" y="2289227"/>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35" name="Shape 33"/>
          <p:cNvSpPr/>
          <p:nvPr/>
        </p:nvSpPr>
        <p:spPr>
          <a:xfrm>
            <a:off x="2807208" y="2316853"/>
            <a:ext cx="2054762" cy="174962"/>
          </a:xfrm>
          <a:prstGeom prst="rect">
            <a:avLst/>
          </a:prstGeom>
          <a:solidFill>
            <a:srgbClr val="2587C5"/>
          </a:solidFill>
          <a:ln w="6350">
            <a:solidFill>
              <a:srgbClr val="FFFFFF"/>
            </a:solidFill>
            <a:prstDash val="solid"/>
          </a:ln>
        </p:spPr>
      </p:sp>
      <p:sp>
        <p:nvSpPr>
          <p:cNvPr id="36" name="Text 34"/>
          <p:cNvSpPr txBox="1"/>
          <p:nvPr/>
        </p:nvSpPr>
        <p:spPr>
          <a:xfrm>
            <a:off x="2807208" y="2316853"/>
            <a:ext cx="2054762"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65</a:t>
            </a:r>
            <a:endParaRPr lang="en-US" sz="1300" dirty="0"/>
          </a:p>
        </p:txBody>
      </p:sp>
      <p:sp>
        <p:nvSpPr>
          <p:cNvPr id="37" name="Shape 35"/>
          <p:cNvSpPr/>
          <p:nvPr/>
        </p:nvSpPr>
        <p:spPr>
          <a:xfrm>
            <a:off x="4861970" y="2316853"/>
            <a:ext cx="352121" cy="174962"/>
          </a:xfrm>
          <a:prstGeom prst="rect">
            <a:avLst/>
          </a:prstGeom>
          <a:solidFill>
            <a:srgbClr val="8FBEE6"/>
          </a:solidFill>
          <a:ln w="6350">
            <a:solidFill>
              <a:srgbClr val="FFFFFF"/>
            </a:solidFill>
            <a:prstDash val="solid"/>
          </a:ln>
        </p:spPr>
      </p:sp>
      <p:sp>
        <p:nvSpPr>
          <p:cNvPr id="38" name="Text 36"/>
          <p:cNvSpPr txBox="1"/>
          <p:nvPr/>
        </p:nvSpPr>
        <p:spPr>
          <a:xfrm>
            <a:off x="4861970" y="2316853"/>
            <a:ext cx="352121"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11</a:t>
            </a:r>
            <a:endParaRPr lang="en-US" sz="1300" dirty="0"/>
          </a:p>
        </p:txBody>
      </p:sp>
      <p:sp>
        <p:nvSpPr>
          <p:cNvPr id="39" name="Shape 37"/>
          <p:cNvSpPr/>
          <p:nvPr/>
        </p:nvSpPr>
        <p:spPr>
          <a:xfrm>
            <a:off x="5214091" y="2316853"/>
            <a:ext cx="747797" cy="174962"/>
          </a:xfrm>
          <a:prstGeom prst="rect">
            <a:avLst/>
          </a:prstGeom>
          <a:solidFill>
            <a:srgbClr val="D9D9D9"/>
          </a:solidFill>
          <a:ln w="6350">
            <a:solidFill>
              <a:srgbClr val="FFFFFF"/>
            </a:solidFill>
            <a:prstDash val="solid"/>
          </a:ln>
        </p:spPr>
      </p:sp>
      <p:sp>
        <p:nvSpPr>
          <p:cNvPr id="40" name="Text 38"/>
          <p:cNvSpPr txBox="1"/>
          <p:nvPr/>
        </p:nvSpPr>
        <p:spPr>
          <a:xfrm>
            <a:off x="5214091" y="2316853"/>
            <a:ext cx="747797"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24</a:t>
            </a:r>
            <a:endParaRPr lang="en-US" sz="1300" dirty="0"/>
          </a:p>
        </p:txBody>
      </p:sp>
      <p:sp>
        <p:nvSpPr>
          <p:cNvPr id="41" name="Text 39"/>
          <p:cNvSpPr txBox="1"/>
          <p:nvPr/>
        </p:nvSpPr>
        <p:spPr>
          <a:xfrm>
            <a:off x="658368" y="2519441"/>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42" name="Shape 40"/>
          <p:cNvSpPr/>
          <p:nvPr/>
        </p:nvSpPr>
        <p:spPr>
          <a:xfrm>
            <a:off x="2807208" y="2547067"/>
            <a:ext cx="2053161" cy="174962"/>
          </a:xfrm>
          <a:prstGeom prst="rect">
            <a:avLst/>
          </a:prstGeom>
          <a:solidFill>
            <a:srgbClr val="2587C5"/>
          </a:solidFill>
          <a:ln w="6350">
            <a:solidFill>
              <a:srgbClr val="FFFFFF"/>
            </a:solidFill>
            <a:prstDash val="solid"/>
          </a:ln>
        </p:spPr>
      </p:sp>
      <p:sp>
        <p:nvSpPr>
          <p:cNvPr id="43" name="Text 41"/>
          <p:cNvSpPr txBox="1"/>
          <p:nvPr/>
        </p:nvSpPr>
        <p:spPr>
          <a:xfrm>
            <a:off x="2807208" y="2547067"/>
            <a:ext cx="2053161"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65</a:t>
            </a:r>
            <a:endParaRPr lang="en-US" sz="1300" dirty="0"/>
          </a:p>
        </p:txBody>
      </p:sp>
      <p:sp>
        <p:nvSpPr>
          <p:cNvPr id="44" name="Shape 42"/>
          <p:cNvSpPr/>
          <p:nvPr/>
        </p:nvSpPr>
        <p:spPr>
          <a:xfrm>
            <a:off x="4860369" y="2547067"/>
            <a:ext cx="375876" cy="174962"/>
          </a:xfrm>
          <a:prstGeom prst="rect">
            <a:avLst/>
          </a:prstGeom>
          <a:solidFill>
            <a:srgbClr val="8FBEE6"/>
          </a:solidFill>
          <a:ln w="6350">
            <a:solidFill>
              <a:srgbClr val="FFFFFF"/>
            </a:solidFill>
            <a:prstDash val="solid"/>
          </a:ln>
        </p:spPr>
      </p:sp>
      <p:sp>
        <p:nvSpPr>
          <p:cNvPr id="45" name="Text 43"/>
          <p:cNvSpPr txBox="1"/>
          <p:nvPr/>
        </p:nvSpPr>
        <p:spPr>
          <a:xfrm>
            <a:off x="4860369" y="2547067"/>
            <a:ext cx="375876"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12</a:t>
            </a:r>
            <a:endParaRPr lang="en-US" sz="1300" dirty="0"/>
          </a:p>
        </p:txBody>
      </p:sp>
      <p:sp>
        <p:nvSpPr>
          <p:cNvPr id="46" name="Shape 44"/>
          <p:cNvSpPr/>
          <p:nvPr/>
        </p:nvSpPr>
        <p:spPr>
          <a:xfrm>
            <a:off x="5236245" y="2547067"/>
            <a:ext cx="725643" cy="174962"/>
          </a:xfrm>
          <a:prstGeom prst="rect">
            <a:avLst/>
          </a:prstGeom>
          <a:solidFill>
            <a:srgbClr val="D9D9D9"/>
          </a:solidFill>
          <a:ln w="6350">
            <a:solidFill>
              <a:srgbClr val="FFFFFF"/>
            </a:solidFill>
            <a:prstDash val="solid"/>
          </a:ln>
        </p:spPr>
      </p:sp>
      <p:sp>
        <p:nvSpPr>
          <p:cNvPr id="47" name="Text 45"/>
          <p:cNvSpPr txBox="1"/>
          <p:nvPr/>
        </p:nvSpPr>
        <p:spPr>
          <a:xfrm>
            <a:off x="5236245" y="2547067"/>
            <a:ext cx="725643"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23</a:t>
            </a:r>
            <a:endParaRPr lang="en-US" sz="1300" dirty="0"/>
          </a:p>
        </p:txBody>
      </p:sp>
      <p:sp>
        <p:nvSpPr>
          <p:cNvPr id="48" name="Text 46"/>
          <p:cNvSpPr txBox="1"/>
          <p:nvPr/>
        </p:nvSpPr>
        <p:spPr>
          <a:xfrm>
            <a:off x="658368" y="2749655"/>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49" name="Shape 47"/>
          <p:cNvSpPr/>
          <p:nvPr/>
        </p:nvSpPr>
        <p:spPr>
          <a:xfrm>
            <a:off x="2807208" y="2777280"/>
            <a:ext cx="2046848" cy="174962"/>
          </a:xfrm>
          <a:prstGeom prst="rect">
            <a:avLst/>
          </a:prstGeom>
          <a:solidFill>
            <a:srgbClr val="2587C5"/>
          </a:solidFill>
          <a:ln w="6350">
            <a:solidFill>
              <a:srgbClr val="FFFFFF"/>
            </a:solidFill>
            <a:prstDash val="solid"/>
          </a:ln>
        </p:spPr>
      </p:sp>
      <p:sp>
        <p:nvSpPr>
          <p:cNvPr id="50" name="Text 48"/>
          <p:cNvSpPr txBox="1"/>
          <p:nvPr/>
        </p:nvSpPr>
        <p:spPr>
          <a:xfrm>
            <a:off x="2807208" y="2777280"/>
            <a:ext cx="2046848"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65</a:t>
            </a:r>
            <a:endParaRPr lang="en-US" sz="1300" dirty="0"/>
          </a:p>
        </p:txBody>
      </p:sp>
      <p:sp>
        <p:nvSpPr>
          <p:cNvPr id="51" name="Shape 49"/>
          <p:cNvSpPr/>
          <p:nvPr/>
        </p:nvSpPr>
        <p:spPr>
          <a:xfrm>
            <a:off x="4854056" y="2777280"/>
            <a:ext cx="793865" cy="174962"/>
          </a:xfrm>
          <a:prstGeom prst="rect">
            <a:avLst/>
          </a:prstGeom>
          <a:solidFill>
            <a:srgbClr val="8FBEE6"/>
          </a:solidFill>
          <a:ln w="6350">
            <a:solidFill>
              <a:srgbClr val="FFFFFF"/>
            </a:solidFill>
            <a:prstDash val="solid"/>
          </a:ln>
        </p:spPr>
      </p:sp>
      <p:sp>
        <p:nvSpPr>
          <p:cNvPr id="52" name="Text 50"/>
          <p:cNvSpPr txBox="1"/>
          <p:nvPr/>
        </p:nvSpPr>
        <p:spPr>
          <a:xfrm>
            <a:off x="4854056" y="2777280"/>
            <a:ext cx="793865"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25</a:t>
            </a:r>
            <a:endParaRPr lang="en-US" sz="1300" dirty="0"/>
          </a:p>
        </p:txBody>
      </p:sp>
      <p:sp>
        <p:nvSpPr>
          <p:cNvPr id="53" name="Shape 51"/>
          <p:cNvSpPr/>
          <p:nvPr/>
        </p:nvSpPr>
        <p:spPr>
          <a:xfrm>
            <a:off x="5647921" y="2777280"/>
            <a:ext cx="313967" cy="174962"/>
          </a:xfrm>
          <a:prstGeom prst="rect">
            <a:avLst/>
          </a:prstGeom>
          <a:solidFill>
            <a:srgbClr val="D9D9D9"/>
          </a:solidFill>
          <a:ln w="6350">
            <a:solidFill>
              <a:srgbClr val="FFFFFF"/>
            </a:solidFill>
            <a:prstDash val="solid"/>
          </a:ln>
        </p:spPr>
      </p:sp>
      <p:sp>
        <p:nvSpPr>
          <p:cNvPr id="54" name="Text 52"/>
          <p:cNvSpPr txBox="1"/>
          <p:nvPr/>
        </p:nvSpPr>
        <p:spPr>
          <a:xfrm>
            <a:off x="5647921" y="2777280"/>
            <a:ext cx="313967"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10</a:t>
            </a:r>
            <a:endParaRPr lang="en-US" sz="1300" dirty="0"/>
          </a:p>
        </p:txBody>
      </p:sp>
      <p:sp>
        <p:nvSpPr>
          <p:cNvPr id="55" name="Text 53"/>
          <p:cNvSpPr txBox="1"/>
          <p:nvPr/>
        </p:nvSpPr>
        <p:spPr>
          <a:xfrm>
            <a:off x="658368" y="2979868"/>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56" name="Shape 54"/>
          <p:cNvSpPr/>
          <p:nvPr/>
        </p:nvSpPr>
        <p:spPr>
          <a:xfrm>
            <a:off x="2807208" y="3007494"/>
            <a:ext cx="1985155" cy="174962"/>
          </a:xfrm>
          <a:prstGeom prst="rect">
            <a:avLst/>
          </a:prstGeom>
          <a:solidFill>
            <a:srgbClr val="2587C5"/>
          </a:solidFill>
          <a:ln w="6350">
            <a:solidFill>
              <a:srgbClr val="FFFFFF"/>
            </a:solidFill>
            <a:prstDash val="solid"/>
          </a:ln>
        </p:spPr>
      </p:sp>
      <p:sp>
        <p:nvSpPr>
          <p:cNvPr id="57" name="Text 55"/>
          <p:cNvSpPr txBox="1"/>
          <p:nvPr/>
        </p:nvSpPr>
        <p:spPr>
          <a:xfrm>
            <a:off x="2807208" y="3007494"/>
            <a:ext cx="1985155"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63</a:t>
            </a:r>
            <a:endParaRPr lang="en-US" sz="1300" dirty="0"/>
          </a:p>
        </p:txBody>
      </p:sp>
      <p:sp>
        <p:nvSpPr>
          <p:cNvPr id="58" name="Shape 56"/>
          <p:cNvSpPr/>
          <p:nvPr/>
        </p:nvSpPr>
        <p:spPr>
          <a:xfrm>
            <a:off x="4792363" y="3007494"/>
            <a:ext cx="729180" cy="174962"/>
          </a:xfrm>
          <a:prstGeom prst="rect">
            <a:avLst/>
          </a:prstGeom>
          <a:solidFill>
            <a:srgbClr val="8FBEE6"/>
          </a:solidFill>
          <a:ln w="6350">
            <a:solidFill>
              <a:srgbClr val="FFFFFF"/>
            </a:solidFill>
            <a:prstDash val="solid"/>
          </a:ln>
        </p:spPr>
      </p:sp>
      <p:sp>
        <p:nvSpPr>
          <p:cNvPr id="59" name="Text 57"/>
          <p:cNvSpPr txBox="1"/>
          <p:nvPr/>
        </p:nvSpPr>
        <p:spPr>
          <a:xfrm>
            <a:off x="4792363" y="3007494"/>
            <a:ext cx="729180"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23</a:t>
            </a:r>
            <a:endParaRPr lang="en-US" sz="1300" dirty="0"/>
          </a:p>
        </p:txBody>
      </p:sp>
      <p:sp>
        <p:nvSpPr>
          <p:cNvPr id="60" name="Shape 58"/>
          <p:cNvSpPr/>
          <p:nvPr/>
        </p:nvSpPr>
        <p:spPr>
          <a:xfrm>
            <a:off x="5521542" y="3007494"/>
            <a:ext cx="440346" cy="174962"/>
          </a:xfrm>
          <a:prstGeom prst="rect">
            <a:avLst/>
          </a:prstGeom>
          <a:solidFill>
            <a:srgbClr val="D9D9D9"/>
          </a:solidFill>
          <a:ln w="6350">
            <a:solidFill>
              <a:srgbClr val="FFFFFF"/>
            </a:solidFill>
            <a:prstDash val="solid"/>
          </a:ln>
        </p:spPr>
      </p:sp>
      <p:sp>
        <p:nvSpPr>
          <p:cNvPr id="61" name="Text 59"/>
          <p:cNvSpPr txBox="1"/>
          <p:nvPr/>
        </p:nvSpPr>
        <p:spPr>
          <a:xfrm>
            <a:off x="5521542" y="3007494"/>
            <a:ext cx="440346"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14</a:t>
            </a:r>
            <a:endParaRPr lang="en-US" sz="1300" dirty="0"/>
          </a:p>
        </p:txBody>
      </p:sp>
      <p:sp>
        <p:nvSpPr>
          <p:cNvPr id="62" name="Text 60"/>
          <p:cNvSpPr txBox="1"/>
          <p:nvPr/>
        </p:nvSpPr>
        <p:spPr>
          <a:xfrm>
            <a:off x="658368" y="3210082"/>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63" name="Shape 61"/>
          <p:cNvSpPr/>
          <p:nvPr/>
        </p:nvSpPr>
        <p:spPr>
          <a:xfrm>
            <a:off x="2807208" y="3237708"/>
            <a:ext cx="1940199" cy="174962"/>
          </a:xfrm>
          <a:prstGeom prst="rect">
            <a:avLst/>
          </a:prstGeom>
          <a:solidFill>
            <a:srgbClr val="2587C5"/>
          </a:solidFill>
          <a:ln w="6350">
            <a:solidFill>
              <a:srgbClr val="FFFFFF"/>
            </a:solidFill>
            <a:prstDash val="solid"/>
          </a:ln>
        </p:spPr>
      </p:sp>
      <p:sp>
        <p:nvSpPr>
          <p:cNvPr id="64" name="Text 62"/>
          <p:cNvSpPr txBox="1"/>
          <p:nvPr/>
        </p:nvSpPr>
        <p:spPr>
          <a:xfrm>
            <a:off x="2807208" y="3237708"/>
            <a:ext cx="1940199"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62</a:t>
            </a:r>
            <a:endParaRPr lang="en-US" sz="1300" dirty="0"/>
          </a:p>
        </p:txBody>
      </p:sp>
      <p:sp>
        <p:nvSpPr>
          <p:cNvPr id="65" name="Shape 63"/>
          <p:cNvSpPr/>
          <p:nvPr/>
        </p:nvSpPr>
        <p:spPr>
          <a:xfrm>
            <a:off x="4747407" y="3237708"/>
            <a:ext cx="542990" cy="174962"/>
          </a:xfrm>
          <a:prstGeom prst="rect">
            <a:avLst/>
          </a:prstGeom>
          <a:solidFill>
            <a:srgbClr val="8FBEE6"/>
          </a:solidFill>
          <a:ln w="6350">
            <a:solidFill>
              <a:srgbClr val="FFFFFF"/>
            </a:solidFill>
            <a:prstDash val="solid"/>
          </a:ln>
        </p:spPr>
      </p:sp>
      <p:sp>
        <p:nvSpPr>
          <p:cNvPr id="66" name="Text 64"/>
          <p:cNvSpPr txBox="1"/>
          <p:nvPr/>
        </p:nvSpPr>
        <p:spPr>
          <a:xfrm>
            <a:off x="4747407" y="3237708"/>
            <a:ext cx="542990"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17</a:t>
            </a:r>
            <a:endParaRPr lang="en-US" sz="1300" dirty="0"/>
          </a:p>
        </p:txBody>
      </p:sp>
      <p:sp>
        <p:nvSpPr>
          <p:cNvPr id="67" name="Shape 65"/>
          <p:cNvSpPr/>
          <p:nvPr/>
        </p:nvSpPr>
        <p:spPr>
          <a:xfrm>
            <a:off x="5290397" y="3237708"/>
            <a:ext cx="671491" cy="174962"/>
          </a:xfrm>
          <a:prstGeom prst="rect">
            <a:avLst/>
          </a:prstGeom>
          <a:solidFill>
            <a:srgbClr val="D9D9D9"/>
          </a:solidFill>
          <a:ln w="6350">
            <a:solidFill>
              <a:srgbClr val="FFFFFF"/>
            </a:solidFill>
            <a:prstDash val="solid"/>
          </a:ln>
        </p:spPr>
      </p:sp>
      <p:sp>
        <p:nvSpPr>
          <p:cNvPr id="68" name="Text 66"/>
          <p:cNvSpPr txBox="1"/>
          <p:nvPr/>
        </p:nvSpPr>
        <p:spPr>
          <a:xfrm>
            <a:off x="5290397" y="3237708"/>
            <a:ext cx="671491"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21</a:t>
            </a:r>
            <a:endParaRPr lang="en-US" sz="1300" dirty="0"/>
          </a:p>
        </p:txBody>
      </p:sp>
      <p:sp>
        <p:nvSpPr>
          <p:cNvPr id="69" name="Text 67"/>
          <p:cNvSpPr txBox="1"/>
          <p:nvPr/>
        </p:nvSpPr>
        <p:spPr>
          <a:xfrm>
            <a:off x="658368" y="3440296"/>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70" name="Shape 68"/>
          <p:cNvSpPr/>
          <p:nvPr/>
        </p:nvSpPr>
        <p:spPr>
          <a:xfrm>
            <a:off x="2807208" y="3467921"/>
            <a:ext cx="1907392" cy="174962"/>
          </a:xfrm>
          <a:prstGeom prst="rect">
            <a:avLst/>
          </a:prstGeom>
          <a:solidFill>
            <a:srgbClr val="2587C5"/>
          </a:solidFill>
          <a:ln w="6350">
            <a:solidFill>
              <a:srgbClr val="FFFFFF"/>
            </a:solidFill>
            <a:prstDash val="solid"/>
          </a:ln>
        </p:spPr>
      </p:sp>
      <p:sp>
        <p:nvSpPr>
          <p:cNvPr id="71" name="Text 69"/>
          <p:cNvSpPr txBox="1"/>
          <p:nvPr/>
        </p:nvSpPr>
        <p:spPr>
          <a:xfrm>
            <a:off x="2807208" y="3467921"/>
            <a:ext cx="1907392"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60</a:t>
            </a:r>
            <a:endParaRPr lang="en-US" sz="1300" dirty="0"/>
          </a:p>
        </p:txBody>
      </p:sp>
      <p:sp>
        <p:nvSpPr>
          <p:cNvPr id="72" name="Shape 70"/>
          <p:cNvSpPr/>
          <p:nvPr/>
        </p:nvSpPr>
        <p:spPr>
          <a:xfrm>
            <a:off x="4714600" y="3467921"/>
            <a:ext cx="434501" cy="174962"/>
          </a:xfrm>
          <a:prstGeom prst="rect">
            <a:avLst/>
          </a:prstGeom>
          <a:solidFill>
            <a:srgbClr val="8FBEE6"/>
          </a:solidFill>
          <a:ln w="6350">
            <a:solidFill>
              <a:srgbClr val="FFFFFF"/>
            </a:solidFill>
            <a:prstDash val="solid"/>
          </a:ln>
        </p:spPr>
      </p:sp>
      <p:sp>
        <p:nvSpPr>
          <p:cNvPr id="73" name="Text 71"/>
          <p:cNvSpPr txBox="1"/>
          <p:nvPr/>
        </p:nvSpPr>
        <p:spPr>
          <a:xfrm>
            <a:off x="4714600" y="3467921"/>
            <a:ext cx="434501"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14</a:t>
            </a:r>
            <a:endParaRPr lang="en-US" sz="1300" dirty="0"/>
          </a:p>
        </p:txBody>
      </p:sp>
      <p:sp>
        <p:nvSpPr>
          <p:cNvPr id="74" name="Shape 72"/>
          <p:cNvSpPr/>
          <p:nvPr/>
        </p:nvSpPr>
        <p:spPr>
          <a:xfrm>
            <a:off x="5149102" y="3467921"/>
            <a:ext cx="812786" cy="174962"/>
          </a:xfrm>
          <a:prstGeom prst="rect">
            <a:avLst/>
          </a:prstGeom>
          <a:solidFill>
            <a:srgbClr val="D9D9D9"/>
          </a:solidFill>
          <a:ln w="6350">
            <a:solidFill>
              <a:srgbClr val="FFFFFF"/>
            </a:solidFill>
            <a:prstDash val="solid"/>
          </a:ln>
        </p:spPr>
      </p:sp>
      <p:sp>
        <p:nvSpPr>
          <p:cNvPr id="75" name="Text 73"/>
          <p:cNvSpPr txBox="1"/>
          <p:nvPr/>
        </p:nvSpPr>
        <p:spPr>
          <a:xfrm>
            <a:off x="5149102" y="3467921"/>
            <a:ext cx="812786"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26</a:t>
            </a:r>
            <a:endParaRPr lang="en-US" sz="1300" dirty="0"/>
          </a:p>
        </p:txBody>
      </p:sp>
      <p:sp>
        <p:nvSpPr>
          <p:cNvPr id="76" name="Text 74"/>
          <p:cNvSpPr txBox="1"/>
          <p:nvPr/>
        </p:nvSpPr>
        <p:spPr>
          <a:xfrm>
            <a:off x="658368" y="3670509"/>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77" name="Shape 75"/>
          <p:cNvSpPr/>
          <p:nvPr/>
        </p:nvSpPr>
        <p:spPr>
          <a:xfrm>
            <a:off x="2807208" y="3698135"/>
            <a:ext cx="1883011" cy="174962"/>
          </a:xfrm>
          <a:prstGeom prst="rect">
            <a:avLst/>
          </a:prstGeom>
          <a:solidFill>
            <a:srgbClr val="2587C5"/>
          </a:solidFill>
          <a:ln w="6350">
            <a:solidFill>
              <a:srgbClr val="FFFFFF"/>
            </a:solidFill>
            <a:prstDash val="solid"/>
          </a:ln>
        </p:spPr>
      </p:sp>
      <p:sp>
        <p:nvSpPr>
          <p:cNvPr id="78" name="Text 76"/>
          <p:cNvSpPr txBox="1"/>
          <p:nvPr/>
        </p:nvSpPr>
        <p:spPr>
          <a:xfrm>
            <a:off x="2807208" y="3698135"/>
            <a:ext cx="1883011"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60</a:t>
            </a:r>
            <a:endParaRPr lang="en-US" sz="1300" dirty="0"/>
          </a:p>
        </p:txBody>
      </p:sp>
      <p:sp>
        <p:nvSpPr>
          <p:cNvPr id="79" name="Shape 77"/>
          <p:cNvSpPr/>
          <p:nvPr/>
        </p:nvSpPr>
        <p:spPr>
          <a:xfrm>
            <a:off x="4690219" y="3698135"/>
            <a:ext cx="918142" cy="174962"/>
          </a:xfrm>
          <a:prstGeom prst="rect">
            <a:avLst/>
          </a:prstGeom>
          <a:solidFill>
            <a:srgbClr val="8FBEE6"/>
          </a:solidFill>
          <a:ln w="6350">
            <a:solidFill>
              <a:srgbClr val="FFFFFF"/>
            </a:solidFill>
            <a:prstDash val="solid"/>
          </a:ln>
        </p:spPr>
      </p:sp>
      <p:sp>
        <p:nvSpPr>
          <p:cNvPr id="80" name="Text 78"/>
          <p:cNvSpPr txBox="1"/>
          <p:nvPr/>
        </p:nvSpPr>
        <p:spPr>
          <a:xfrm>
            <a:off x="4690219" y="3698135"/>
            <a:ext cx="918142"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29</a:t>
            </a:r>
            <a:endParaRPr lang="en-US" sz="1300" dirty="0"/>
          </a:p>
        </p:txBody>
      </p:sp>
      <p:sp>
        <p:nvSpPr>
          <p:cNvPr id="81" name="Shape 79"/>
          <p:cNvSpPr/>
          <p:nvPr/>
        </p:nvSpPr>
        <p:spPr>
          <a:xfrm>
            <a:off x="5608361" y="3698135"/>
            <a:ext cx="353527" cy="174962"/>
          </a:xfrm>
          <a:prstGeom prst="rect">
            <a:avLst/>
          </a:prstGeom>
          <a:solidFill>
            <a:srgbClr val="D9D9D9"/>
          </a:solidFill>
          <a:ln w="6350">
            <a:solidFill>
              <a:srgbClr val="FFFFFF"/>
            </a:solidFill>
            <a:prstDash val="solid"/>
          </a:ln>
        </p:spPr>
      </p:sp>
      <p:sp>
        <p:nvSpPr>
          <p:cNvPr id="82" name="Text 80"/>
          <p:cNvSpPr txBox="1"/>
          <p:nvPr/>
        </p:nvSpPr>
        <p:spPr>
          <a:xfrm>
            <a:off x="5608361" y="3698135"/>
            <a:ext cx="353527"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11</a:t>
            </a:r>
            <a:endParaRPr lang="en-US" sz="1300" dirty="0"/>
          </a:p>
        </p:txBody>
      </p:sp>
      <p:sp>
        <p:nvSpPr>
          <p:cNvPr id="83" name="Text 81"/>
          <p:cNvSpPr txBox="1"/>
          <p:nvPr/>
        </p:nvSpPr>
        <p:spPr>
          <a:xfrm>
            <a:off x="658368" y="3900723"/>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84" name="Shape 82"/>
          <p:cNvSpPr/>
          <p:nvPr/>
        </p:nvSpPr>
        <p:spPr>
          <a:xfrm>
            <a:off x="2807208" y="3928348"/>
            <a:ext cx="1876032" cy="174962"/>
          </a:xfrm>
          <a:prstGeom prst="rect">
            <a:avLst/>
          </a:prstGeom>
          <a:solidFill>
            <a:srgbClr val="2587C5"/>
          </a:solidFill>
          <a:ln w="6350">
            <a:solidFill>
              <a:srgbClr val="FFFFFF"/>
            </a:solidFill>
            <a:prstDash val="solid"/>
          </a:ln>
        </p:spPr>
      </p:sp>
      <p:sp>
        <p:nvSpPr>
          <p:cNvPr id="85" name="Text 83"/>
          <p:cNvSpPr txBox="1"/>
          <p:nvPr/>
        </p:nvSpPr>
        <p:spPr>
          <a:xfrm>
            <a:off x="2807208" y="3928348"/>
            <a:ext cx="1876032"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59</a:t>
            </a:r>
            <a:endParaRPr lang="en-US" sz="1300" dirty="0"/>
          </a:p>
        </p:txBody>
      </p:sp>
      <p:sp>
        <p:nvSpPr>
          <p:cNvPr id="86" name="Shape 84"/>
          <p:cNvSpPr/>
          <p:nvPr/>
        </p:nvSpPr>
        <p:spPr>
          <a:xfrm>
            <a:off x="4683240" y="3928348"/>
            <a:ext cx="744656" cy="174962"/>
          </a:xfrm>
          <a:prstGeom prst="rect">
            <a:avLst/>
          </a:prstGeom>
          <a:solidFill>
            <a:srgbClr val="8FBEE6"/>
          </a:solidFill>
          <a:ln w="6350">
            <a:solidFill>
              <a:srgbClr val="FFFFFF"/>
            </a:solidFill>
            <a:prstDash val="solid"/>
          </a:ln>
        </p:spPr>
      </p:sp>
      <p:sp>
        <p:nvSpPr>
          <p:cNvPr id="87" name="Text 85"/>
          <p:cNvSpPr txBox="1"/>
          <p:nvPr/>
        </p:nvSpPr>
        <p:spPr>
          <a:xfrm>
            <a:off x="4683240" y="3928348"/>
            <a:ext cx="744656"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24</a:t>
            </a:r>
            <a:endParaRPr lang="en-US" sz="1300" dirty="0"/>
          </a:p>
        </p:txBody>
      </p:sp>
      <p:sp>
        <p:nvSpPr>
          <p:cNvPr id="88" name="Shape 86"/>
          <p:cNvSpPr/>
          <p:nvPr/>
        </p:nvSpPr>
        <p:spPr>
          <a:xfrm>
            <a:off x="5427896" y="3928348"/>
            <a:ext cx="533992" cy="174962"/>
          </a:xfrm>
          <a:prstGeom prst="rect">
            <a:avLst/>
          </a:prstGeom>
          <a:solidFill>
            <a:srgbClr val="D9D9D9"/>
          </a:solidFill>
          <a:ln w="6350">
            <a:solidFill>
              <a:srgbClr val="FFFFFF"/>
            </a:solidFill>
            <a:prstDash val="solid"/>
          </a:ln>
        </p:spPr>
      </p:sp>
      <p:sp>
        <p:nvSpPr>
          <p:cNvPr id="89" name="Text 87"/>
          <p:cNvSpPr txBox="1"/>
          <p:nvPr/>
        </p:nvSpPr>
        <p:spPr>
          <a:xfrm>
            <a:off x="5427896" y="3928348"/>
            <a:ext cx="533992"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17</a:t>
            </a:r>
            <a:endParaRPr lang="en-US" sz="1300" dirty="0"/>
          </a:p>
        </p:txBody>
      </p:sp>
      <p:sp>
        <p:nvSpPr>
          <p:cNvPr id="90" name="Text 88"/>
          <p:cNvSpPr txBox="1"/>
          <p:nvPr/>
        </p:nvSpPr>
        <p:spPr>
          <a:xfrm>
            <a:off x="658368" y="4130936"/>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91" name="Shape 89"/>
          <p:cNvSpPr/>
          <p:nvPr/>
        </p:nvSpPr>
        <p:spPr>
          <a:xfrm>
            <a:off x="2807208" y="4158562"/>
            <a:ext cx="1874405" cy="174962"/>
          </a:xfrm>
          <a:prstGeom prst="rect">
            <a:avLst/>
          </a:prstGeom>
          <a:solidFill>
            <a:srgbClr val="2587C5"/>
          </a:solidFill>
          <a:ln w="6350">
            <a:solidFill>
              <a:srgbClr val="FFFFFF"/>
            </a:solidFill>
            <a:prstDash val="solid"/>
          </a:ln>
        </p:spPr>
      </p:sp>
      <p:sp>
        <p:nvSpPr>
          <p:cNvPr id="92" name="Text 90"/>
          <p:cNvSpPr txBox="1"/>
          <p:nvPr/>
        </p:nvSpPr>
        <p:spPr>
          <a:xfrm>
            <a:off x="2807208" y="4158562"/>
            <a:ext cx="1874405"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59</a:t>
            </a:r>
            <a:endParaRPr lang="en-US" sz="1300" dirty="0"/>
          </a:p>
        </p:txBody>
      </p:sp>
      <p:sp>
        <p:nvSpPr>
          <p:cNvPr id="93" name="Shape 91"/>
          <p:cNvSpPr/>
          <p:nvPr/>
        </p:nvSpPr>
        <p:spPr>
          <a:xfrm>
            <a:off x="4681613" y="4158562"/>
            <a:ext cx="558160" cy="174962"/>
          </a:xfrm>
          <a:prstGeom prst="rect">
            <a:avLst/>
          </a:prstGeom>
          <a:solidFill>
            <a:srgbClr val="8FBEE6"/>
          </a:solidFill>
          <a:ln w="6350">
            <a:solidFill>
              <a:srgbClr val="FFFFFF"/>
            </a:solidFill>
            <a:prstDash val="solid"/>
          </a:ln>
        </p:spPr>
      </p:sp>
      <p:sp>
        <p:nvSpPr>
          <p:cNvPr id="94" name="Text 92"/>
          <p:cNvSpPr txBox="1"/>
          <p:nvPr/>
        </p:nvSpPr>
        <p:spPr>
          <a:xfrm>
            <a:off x="4681613" y="4158562"/>
            <a:ext cx="558160"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18</a:t>
            </a:r>
            <a:endParaRPr lang="en-US" sz="1300" dirty="0"/>
          </a:p>
        </p:txBody>
      </p:sp>
      <p:sp>
        <p:nvSpPr>
          <p:cNvPr id="95" name="Shape 93"/>
          <p:cNvSpPr/>
          <p:nvPr/>
        </p:nvSpPr>
        <p:spPr>
          <a:xfrm>
            <a:off x="5239773" y="4158562"/>
            <a:ext cx="722115" cy="174962"/>
          </a:xfrm>
          <a:prstGeom prst="rect">
            <a:avLst/>
          </a:prstGeom>
          <a:solidFill>
            <a:srgbClr val="D9D9D9"/>
          </a:solidFill>
          <a:ln w="6350">
            <a:solidFill>
              <a:srgbClr val="FFFFFF"/>
            </a:solidFill>
            <a:prstDash val="solid"/>
          </a:ln>
        </p:spPr>
      </p:sp>
      <p:sp>
        <p:nvSpPr>
          <p:cNvPr id="96" name="Text 94"/>
          <p:cNvSpPr txBox="1"/>
          <p:nvPr/>
        </p:nvSpPr>
        <p:spPr>
          <a:xfrm>
            <a:off x="5239773" y="4158562"/>
            <a:ext cx="722115"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23</a:t>
            </a:r>
            <a:endParaRPr lang="en-US" sz="1300" dirty="0"/>
          </a:p>
        </p:txBody>
      </p:sp>
      <p:sp>
        <p:nvSpPr>
          <p:cNvPr id="97" name="Text 95"/>
          <p:cNvSpPr txBox="1"/>
          <p:nvPr/>
        </p:nvSpPr>
        <p:spPr>
          <a:xfrm>
            <a:off x="658368" y="4361150"/>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98" name="Shape 96"/>
          <p:cNvSpPr/>
          <p:nvPr/>
        </p:nvSpPr>
        <p:spPr>
          <a:xfrm>
            <a:off x="2807208" y="4388776"/>
            <a:ext cx="1862814" cy="174962"/>
          </a:xfrm>
          <a:prstGeom prst="rect">
            <a:avLst/>
          </a:prstGeom>
          <a:solidFill>
            <a:srgbClr val="2587C5"/>
          </a:solidFill>
          <a:ln w="6350">
            <a:solidFill>
              <a:srgbClr val="FFFFFF"/>
            </a:solidFill>
            <a:prstDash val="solid"/>
          </a:ln>
        </p:spPr>
      </p:sp>
      <p:sp>
        <p:nvSpPr>
          <p:cNvPr id="99" name="Text 97"/>
          <p:cNvSpPr txBox="1"/>
          <p:nvPr/>
        </p:nvSpPr>
        <p:spPr>
          <a:xfrm>
            <a:off x="2807208" y="4388776"/>
            <a:ext cx="1862814"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59</a:t>
            </a:r>
            <a:endParaRPr lang="en-US" sz="1300" dirty="0"/>
          </a:p>
        </p:txBody>
      </p:sp>
      <p:sp>
        <p:nvSpPr>
          <p:cNvPr id="100" name="Shape 98"/>
          <p:cNvSpPr/>
          <p:nvPr/>
        </p:nvSpPr>
        <p:spPr>
          <a:xfrm>
            <a:off x="4670022" y="4388776"/>
            <a:ext cx="740644" cy="174962"/>
          </a:xfrm>
          <a:prstGeom prst="rect">
            <a:avLst/>
          </a:prstGeom>
          <a:solidFill>
            <a:srgbClr val="8FBEE6"/>
          </a:solidFill>
          <a:ln w="6350">
            <a:solidFill>
              <a:srgbClr val="FFFFFF"/>
            </a:solidFill>
            <a:prstDash val="solid"/>
          </a:ln>
        </p:spPr>
      </p:sp>
      <p:sp>
        <p:nvSpPr>
          <p:cNvPr id="101" name="Text 99"/>
          <p:cNvSpPr txBox="1"/>
          <p:nvPr/>
        </p:nvSpPr>
        <p:spPr>
          <a:xfrm>
            <a:off x="4670022" y="4388776"/>
            <a:ext cx="740644"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23</a:t>
            </a:r>
            <a:endParaRPr lang="en-US" sz="1300" dirty="0"/>
          </a:p>
        </p:txBody>
      </p:sp>
      <p:sp>
        <p:nvSpPr>
          <p:cNvPr id="102" name="Shape 100"/>
          <p:cNvSpPr/>
          <p:nvPr/>
        </p:nvSpPr>
        <p:spPr>
          <a:xfrm>
            <a:off x="5410666" y="4388776"/>
            <a:ext cx="551222" cy="174962"/>
          </a:xfrm>
          <a:prstGeom prst="rect">
            <a:avLst/>
          </a:prstGeom>
          <a:solidFill>
            <a:srgbClr val="D9D9D9"/>
          </a:solidFill>
          <a:ln w="6350">
            <a:solidFill>
              <a:srgbClr val="FFFFFF"/>
            </a:solidFill>
            <a:prstDash val="solid"/>
          </a:ln>
        </p:spPr>
      </p:sp>
      <p:sp>
        <p:nvSpPr>
          <p:cNvPr id="103" name="Text 101"/>
          <p:cNvSpPr txBox="1"/>
          <p:nvPr/>
        </p:nvSpPr>
        <p:spPr>
          <a:xfrm>
            <a:off x="5410666" y="4388776"/>
            <a:ext cx="551222"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17</a:t>
            </a:r>
            <a:endParaRPr lang="en-US" sz="1300" dirty="0"/>
          </a:p>
        </p:txBody>
      </p:sp>
      <p:sp>
        <p:nvSpPr>
          <p:cNvPr id="104" name="Text 102"/>
          <p:cNvSpPr txBox="1"/>
          <p:nvPr/>
        </p:nvSpPr>
        <p:spPr>
          <a:xfrm>
            <a:off x="658368" y="4591364"/>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105" name="Shape 103"/>
          <p:cNvSpPr/>
          <p:nvPr/>
        </p:nvSpPr>
        <p:spPr>
          <a:xfrm>
            <a:off x="2807208" y="4618989"/>
            <a:ext cx="1831119" cy="174962"/>
          </a:xfrm>
          <a:prstGeom prst="rect">
            <a:avLst/>
          </a:prstGeom>
          <a:solidFill>
            <a:srgbClr val="2587C5"/>
          </a:solidFill>
          <a:ln w="6350">
            <a:solidFill>
              <a:srgbClr val="FFFFFF"/>
            </a:solidFill>
            <a:prstDash val="solid"/>
          </a:ln>
        </p:spPr>
      </p:sp>
      <p:sp>
        <p:nvSpPr>
          <p:cNvPr id="106" name="Text 104"/>
          <p:cNvSpPr txBox="1"/>
          <p:nvPr/>
        </p:nvSpPr>
        <p:spPr>
          <a:xfrm>
            <a:off x="2807208" y="4618989"/>
            <a:ext cx="1831119"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58</a:t>
            </a:r>
            <a:endParaRPr lang="en-US" sz="1300" dirty="0"/>
          </a:p>
        </p:txBody>
      </p:sp>
      <p:sp>
        <p:nvSpPr>
          <p:cNvPr id="107" name="Shape 105"/>
          <p:cNvSpPr/>
          <p:nvPr/>
        </p:nvSpPr>
        <p:spPr>
          <a:xfrm>
            <a:off x="4638327" y="4618989"/>
            <a:ext cx="764127" cy="174962"/>
          </a:xfrm>
          <a:prstGeom prst="rect">
            <a:avLst/>
          </a:prstGeom>
          <a:solidFill>
            <a:srgbClr val="8FBEE6"/>
          </a:solidFill>
          <a:ln w="6350">
            <a:solidFill>
              <a:srgbClr val="FFFFFF"/>
            </a:solidFill>
            <a:prstDash val="solid"/>
          </a:ln>
        </p:spPr>
      </p:sp>
      <p:sp>
        <p:nvSpPr>
          <p:cNvPr id="108" name="Text 106"/>
          <p:cNvSpPr txBox="1"/>
          <p:nvPr/>
        </p:nvSpPr>
        <p:spPr>
          <a:xfrm>
            <a:off x="4638327" y="4618989"/>
            <a:ext cx="764127"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24</a:t>
            </a:r>
            <a:endParaRPr lang="en-US" sz="1300" dirty="0"/>
          </a:p>
        </p:txBody>
      </p:sp>
      <p:sp>
        <p:nvSpPr>
          <p:cNvPr id="109" name="Shape 107"/>
          <p:cNvSpPr/>
          <p:nvPr/>
        </p:nvSpPr>
        <p:spPr>
          <a:xfrm>
            <a:off x="5402455" y="4618989"/>
            <a:ext cx="559433" cy="174962"/>
          </a:xfrm>
          <a:prstGeom prst="rect">
            <a:avLst/>
          </a:prstGeom>
          <a:solidFill>
            <a:srgbClr val="D9D9D9"/>
          </a:solidFill>
          <a:ln w="6350">
            <a:solidFill>
              <a:srgbClr val="FFFFFF"/>
            </a:solidFill>
            <a:prstDash val="solid"/>
          </a:ln>
        </p:spPr>
      </p:sp>
      <p:sp>
        <p:nvSpPr>
          <p:cNvPr id="110" name="Text 108"/>
          <p:cNvSpPr txBox="1"/>
          <p:nvPr/>
        </p:nvSpPr>
        <p:spPr>
          <a:xfrm>
            <a:off x="5402455" y="4618989"/>
            <a:ext cx="559433"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18</a:t>
            </a:r>
            <a:endParaRPr lang="en-US" sz="1300" dirty="0"/>
          </a:p>
        </p:txBody>
      </p:sp>
      <p:sp>
        <p:nvSpPr>
          <p:cNvPr id="111" name="Text 109"/>
          <p:cNvSpPr txBox="1"/>
          <p:nvPr/>
        </p:nvSpPr>
        <p:spPr>
          <a:xfrm>
            <a:off x="658368" y="4821577"/>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112" name="Shape 110"/>
          <p:cNvSpPr/>
          <p:nvPr/>
        </p:nvSpPr>
        <p:spPr>
          <a:xfrm>
            <a:off x="2807208" y="4849203"/>
            <a:ext cx="1825486" cy="174962"/>
          </a:xfrm>
          <a:prstGeom prst="rect">
            <a:avLst/>
          </a:prstGeom>
          <a:solidFill>
            <a:srgbClr val="2587C5"/>
          </a:solidFill>
          <a:ln w="6350">
            <a:solidFill>
              <a:srgbClr val="FFFFFF"/>
            </a:solidFill>
            <a:prstDash val="solid"/>
          </a:ln>
        </p:spPr>
      </p:sp>
      <p:sp>
        <p:nvSpPr>
          <p:cNvPr id="113" name="Text 111"/>
          <p:cNvSpPr txBox="1"/>
          <p:nvPr/>
        </p:nvSpPr>
        <p:spPr>
          <a:xfrm>
            <a:off x="2807208" y="4849203"/>
            <a:ext cx="1825486"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58</a:t>
            </a:r>
            <a:endParaRPr lang="en-US" sz="1300" dirty="0"/>
          </a:p>
        </p:txBody>
      </p:sp>
      <p:sp>
        <p:nvSpPr>
          <p:cNvPr id="114" name="Shape 112"/>
          <p:cNvSpPr/>
          <p:nvPr/>
        </p:nvSpPr>
        <p:spPr>
          <a:xfrm>
            <a:off x="4632694" y="4849203"/>
            <a:ext cx="426634" cy="174962"/>
          </a:xfrm>
          <a:prstGeom prst="rect">
            <a:avLst/>
          </a:prstGeom>
          <a:solidFill>
            <a:srgbClr val="8FBEE6"/>
          </a:solidFill>
          <a:ln w="6350">
            <a:solidFill>
              <a:srgbClr val="FFFFFF"/>
            </a:solidFill>
            <a:prstDash val="solid"/>
          </a:ln>
        </p:spPr>
      </p:sp>
      <p:sp>
        <p:nvSpPr>
          <p:cNvPr id="115" name="Text 113"/>
          <p:cNvSpPr txBox="1"/>
          <p:nvPr/>
        </p:nvSpPr>
        <p:spPr>
          <a:xfrm>
            <a:off x="4632694" y="4849203"/>
            <a:ext cx="426634"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14</a:t>
            </a:r>
            <a:endParaRPr lang="en-US" sz="1300" dirty="0"/>
          </a:p>
        </p:txBody>
      </p:sp>
      <p:sp>
        <p:nvSpPr>
          <p:cNvPr id="116" name="Shape 114"/>
          <p:cNvSpPr/>
          <p:nvPr/>
        </p:nvSpPr>
        <p:spPr>
          <a:xfrm>
            <a:off x="5059328" y="4849203"/>
            <a:ext cx="902560" cy="174962"/>
          </a:xfrm>
          <a:prstGeom prst="rect">
            <a:avLst/>
          </a:prstGeom>
          <a:solidFill>
            <a:srgbClr val="D9D9D9"/>
          </a:solidFill>
          <a:ln w="6350">
            <a:solidFill>
              <a:srgbClr val="FFFFFF"/>
            </a:solidFill>
            <a:prstDash val="solid"/>
          </a:ln>
        </p:spPr>
      </p:sp>
      <p:sp>
        <p:nvSpPr>
          <p:cNvPr id="117" name="Text 115"/>
          <p:cNvSpPr txBox="1"/>
          <p:nvPr/>
        </p:nvSpPr>
        <p:spPr>
          <a:xfrm>
            <a:off x="5059328" y="4849203"/>
            <a:ext cx="902560"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29</a:t>
            </a:r>
            <a:endParaRPr lang="en-US" sz="1300" dirty="0"/>
          </a:p>
        </p:txBody>
      </p:sp>
      <p:sp>
        <p:nvSpPr>
          <p:cNvPr id="118" name="Text 116"/>
          <p:cNvSpPr txBox="1"/>
          <p:nvPr/>
        </p:nvSpPr>
        <p:spPr>
          <a:xfrm>
            <a:off x="658368" y="5051791"/>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119" name="Shape 117"/>
          <p:cNvSpPr/>
          <p:nvPr/>
        </p:nvSpPr>
        <p:spPr>
          <a:xfrm>
            <a:off x="2807208" y="5079417"/>
            <a:ext cx="1807555" cy="174962"/>
          </a:xfrm>
          <a:prstGeom prst="rect">
            <a:avLst/>
          </a:prstGeom>
          <a:solidFill>
            <a:srgbClr val="2587C5"/>
          </a:solidFill>
          <a:ln w="6350">
            <a:solidFill>
              <a:srgbClr val="FFFFFF"/>
            </a:solidFill>
            <a:prstDash val="solid"/>
          </a:ln>
        </p:spPr>
      </p:sp>
      <p:sp>
        <p:nvSpPr>
          <p:cNvPr id="120" name="Text 118"/>
          <p:cNvSpPr txBox="1"/>
          <p:nvPr/>
        </p:nvSpPr>
        <p:spPr>
          <a:xfrm>
            <a:off x="2807208" y="5079417"/>
            <a:ext cx="1807555"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57</a:t>
            </a:r>
            <a:endParaRPr lang="en-US" sz="1300" dirty="0"/>
          </a:p>
        </p:txBody>
      </p:sp>
      <p:sp>
        <p:nvSpPr>
          <p:cNvPr id="121" name="Shape 119"/>
          <p:cNvSpPr/>
          <p:nvPr/>
        </p:nvSpPr>
        <p:spPr>
          <a:xfrm>
            <a:off x="4614763" y="5079417"/>
            <a:ext cx="466810" cy="174962"/>
          </a:xfrm>
          <a:prstGeom prst="rect">
            <a:avLst/>
          </a:prstGeom>
          <a:solidFill>
            <a:srgbClr val="8FBEE6"/>
          </a:solidFill>
          <a:ln w="6350">
            <a:solidFill>
              <a:srgbClr val="FFFFFF"/>
            </a:solidFill>
            <a:prstDash val="solid"/>
          </a:ln>
        </p:spPr>
      </p:sp>
      <p:sp>
        <p:nvSpPr>
          <p:cNvPr id="122" name="Text 120"/>
          <p:cNvSpPr txBox="1"/>
          <p:nvPr/>
        </p:nvSpPr>
        <p:spPr>
          <a:xfrm>
            <a:off x="4614763" y="5079417"/>
            <a:ext cx="466810"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15</a:t>
            </a:r>
            <a:endParaRPr lang="en-US" sz="1300" dirty="0"/>
          </a:p>
        </p:txBody>
      </p:sp>
      <p:sp>
        <p:nvSpPr>
          <p:cNvPr id="123" name="Shape 121"/>
          <p:cNvSpPr/>
          <p:nvPr/>
        </p:nvSpPr>
        <p:spPr>
          <a:xfrm>
            <a:off x="5081573" y="5079417"/>
            <a:ext cx="880315" cy="174962"/>
          </a:xfrm>
          <a:prstGeom prst="rect">
            <a:avLst/>
          </a:prstGeom>
          <a:solidFill>
            <a:srgbClr val="D9D9D9"/>
          </a:solidFill>
          <a:ln w="6350">
            <a:solidFill>
              <a:srgbClr val="FFFFFF"/>
            </a:solidFill>
            <a:prstDash val="solid"/>
          </a:ln>
        </p:spPr>
      </p:sp>
      <p:sp>
        <p:nvSpPr>
          <p:cNvPr id="124" name="Text 122"/>
          <p:cNvSpPr txBox="1"/>
          <p:nvPr/>
        </p:nvSpPr>
        <p:spPr>
          <a:xfrm>
            <a:off x="5081573" y="5079417"/>
            <a:ext cx="880315"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28</a:t>
            </a:r>
            <a:endParaRPr lang="en-US" sz="1300" dirty="0"/>
          </a:p>
        </p:txBody>
      </p:sp>
      <p:sp>
        <p:nvSpPr>
          <p:cNvPr id="125" name="Text 123"/>
          <p:cNvSpPr txBox="1"/>
          <p:nvPr/>
        </p:nvSpPr>
        <p:spPr>
          <a:xfrm>
            <a:off x="658368" y="5282005"/>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126" name="Shape 124"/>
          <p:cNvSpPr/>
          <p:nvPr/>
        </p:nvSpPr>
        <p:spPr>
          <a:xfrm>
            <a:off x="2807208" y="5309630"/>
            <a:ext cx="1784948" cy="174962"/>
          </a:xfrm>
          <a:prstGeom prst="rect">
            <a:avLst/>
          </a:prstGeom>
          <a:solidFill>
            <a:srgbClr val="2587C5"/>
          </a:solidFill>
          <a:ln w="6350">
            <a:solidFill>
              <a:srgbClr val="FFFFFF"/>
            </a:solidFill>
            <a:prstDash val="solid"/>
          </a:ln>
        </p:spPr>
      </p:sp>
      <p:sp>
        <p:nvSpPr>
          <p:cNvPr id="127" name="Text 125"/>
          <p:cNvSpPr txBox="1"/>
          <p:nvPr/>
        </p:nvSpPr>
        <p:spPr>
          <a:xfrm>
            <a:off x="2807208" y="5309630"/>
            <a:ext cx="1784948"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57</a:t>
            </a:r>
            <a:endParaRPr lang="en-US" sz="1300" dirty="0"/>
          </a:p>
        </p:txBody>
      </p:sp>
      <p:sp>
        <p:nvSpPr>
          <p:cNvPr id="128" name="Shape 126"/>
          <p:cNvSpPr/>
          <p:nvPr/>
        </p:nvSpPr>
        <p:spPr>
          <a:xfrm>
            <a:off x="4592156" y="5309630"/>
            <a:ext cx="390376" cy="174962"/>
          </a:xfrm>
          <a:prstGeom prst="rect">
            <a:avLst/>
          </a:prstGeom>
          <a:solidFill>
            <a:srgbClr val="8FBEE6"/>
          </a:solidFill>
          <a:ln w="6350">
            <a:solidFill>
              <a:srgbClr val="FFFFFF"/>
            </a:solidFill>
            <a:prstDash val="solid"/>
          </a:ln>
        </p:spPr>
      </p:sp>
      <p:sp>
        <p:nvSpPr>
          <p:cNvPr id="129" name="Text 127"/>
          <p:cNvSpPr txBox="1"/>
          <p:nvPr/>
        </p:nvSpPr>
        <p:spPr>
          <a:xfrm>
            <a:off x="4592156" y="5309630"/>
            <a:ext cx="390376"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12</a:t>
            </a:r>
            <a:endParaRPr lang="en-US" sz="1300" dirty="0"/>
          </a:p>
        </p:txBody>
      </p:sp>
      <p:sp>
        <p:nvSpPr>
          <p:cNvPr id="130" name="Shape 128"/>
          <p:cNvSpPr/>
          <p:nvPr/>
        </p:nvSpPr>
        <p:spPr>
          <a:xfrm>
            <a:off x="4982532" y="5309630"/>
            <a:ext cx="979356" cy="174962"/>
          </a:xfrm>
          <a:prstGeom prst="rect">
            <a:avLst/>
          </a:prstGeom>
          <a:solidFill>
            <a:srgbClr val="D9D9D9"/>
          </a:solidFill>
          <a:ln w="6350">
            <a:solidFill>
              <a:srgbClr val="FFFFFF"/>
            </a:solidFill>
            <a:prstDash val="solid"/>
          </a:ln>
        </p:spPr>
      </p:sp>
      <p:sp>
        <p:nvSpPr>
          <p:cNvPr id="131" name="Text 129"/>
          <p:cNvSpPr txBox="1"/>
          <p:nvPr/>
        </p:nvSpPr>
        <p:spPr>
          <a:xfrm>
            <a:off x="4982532" y="5309630"/>
            <a:ext cx="979356"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31</a:t>
            </a:r>
            <a:endParaRPr lang="en-US" sz="1300" dirty="0"/>
          </a:p>
        </p:txBody>
      </p:sp>
      <p:sp>
        <p:nvSpPr>
          <p:cNvPr id="132" name="Text 130"/>
          <p:cNvSpPr txBox="1"/>
          <p:nvPr/>
        </p:nvSpPr>
        <p:spPr>
          <a:xfrm>
            <a:off x="658368" y="5512218"/>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133" name="Shape 131"/>
          <p:cNvSpPr/>
          <p:nvPr/>
        </p:nvSpPr>
        <p:spPr>
          <a:xfrm>
            <a:off x="2807208" y="5539844"/>
            <a:ext cx="1784687" cy="174962"/>
          </a:xfrm>
          <a:prstGeom prst="rect">
            <a:avLst/>
          </a:prstGeom>
          <a:solidFill>
            <a:srgbClr val="2587C5"/>
          </a:solidFill>
          <a:ln w="6350">
            <a:solidFill>
              <a:srgbClr val="FFFFFF"/>
            </a:solidFill>
            <a:prstDash val="solid"/>
          </a:ln>
        </p:spPr>
      </p:sp>
      <p:sp>
        <p:nvSpPr>
          <p:cNvPr id="134" name="Text 132"/>
          <p:cNvSpPr txBox="1"/>
          <p:nvPr/>
        </p:nvSpPr>
        <p:spPr>
          <a:xfrm>
            <a:off x="2807208" y="5539844"/>
            <a:ext cx="1784687"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57</a:t>
            </a:r>
            <a:endParaRPr lang="en-US" sz="1300" dirty="0"/>
          </a:p>
        </p:txBody>
      </p:sp>
      <p:sp>
        <p:nvSpPr>
          <p:cNvPr id="135" name="Shape 133"/>
          <p:cNvSpPr/>
          <p:nvPr/>
        </p:nvSpPr>
        <p:spPr>
          <a:xfrm>
            <a:off x="4591895" y="5539844"/>
            <a:ext cx="320373" cy="174962"/>
          </a:xfrm>
          <a:prstGeom prst="rect">
            <a:avLst/>
          </a:prstGeom>
          <a:solidFill>
            <a:srgbClr val="8FBEE6"/>
          </a:solidFill>
          <a:ln w="6350">
            <a:solidFill>
              <a:srgbClr val="FFFFFF"/>
            </a:solidFill>
            <a:prstDash val="solid"/>
          </a:ln>
        </p:spPr>
      </p:sp>
      <p:sp>
        <p:nvSpPr>
          <p:cNvPr id="136" name="Text 134"/>
          <p:cNvSpPr txBox="1"/>
          <p:nvPr/>
        </p:nvSpPr>
        <p:spPr>
          <a:xfrm>
            <a:off x="4591895" y="5539844"/>
            <a:ext cx="320373"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10</a:t>
            </a:r>
            <a:endParaRPr lang="en-US" sz="1300" dirty="0"/>
          </a:p>
        </p:txBody>
      </p:sp>
      <p:sp>
        <p:nvSpPr>
          <p:cNvPr id="137" name="Shape 135"/>
          <p:cNvSpPr/>
          <p:nvPr/>
        </p:nvSpPr>
        <p:spPr>
          <a:xfrm>
            <a:off x="4912268" y="5539844"/>
            <a:ext cx="1049620" cy="174962"/>
          </a:xfrm>
          <a:prstGeom prst="rect">
            <a:avLst/>
          </a:prstGeom>
          <a:solidFill>
            <a:srgbClr val="D9D9D9"/>
          </a:solidFill>
          <a:ln w="6350">
            <a:solidFill>
              <a:srgbClr val="FFFFFF"/>
            </a:solidFill>
            <a:prstDash val="solid"/>
          </a:ln>
        </p:spPr>
      </p:sp>
      <p:sp>
        <p:nvSpPr>
          <p:cNvPr id="138" name="Text 136"/>
          <p:cNvSpPr txBox="1"/>
          <p:nvPr/>
        </p:nvSpPr>
        <p:spPr>
          <a:xfrm>
            <a:off x="4912268" y="5539844"/>
            <a:ext cx="1049620"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33</a:t>
            </a:r>
            <a:endParaRPr lang="en-US" sz="1300" dirty="0"/>
          </a:p>
        </p:txBody>
      </p:sp>
      <p:sp>
        <p:nvSpPr>
          <p:cNvPr id="139" name="Text 137"/>
          <p:cNvSpPr txBox="1"/>
          <p:nvPr/>
        </p:nvSpPr>
        <p:spPr>
          <a:xfrm>
            <a:off x="6208776" y="1828800"/>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140" name="Shape 138"/>
          <p:cNvSpPr/>
          <p:nvPr/>
        </p:nvSpPr>
        <p:spPr>
          <a:xfrm>
            <a:off x="8357616" y="1856426"/>
            <a:ext cx="1759183" cy="174962"/>
          </a:xfrm>
          <a:prstGeom prst="rect">
            <a:avLst/>
          </a:prstGeom>
          <a:solidFill>
            <a:srgbClr val="2587C5"/>
          </a:solidFill>
          <a:ln w="6350">
            <a:solidFill>
              <a:srgbClr val="FFFFFF"/>
            </a:solidFill>
            <a:prstDash val="solid"/>
          </a:ln>
        </p:spPr>
      </p:sp>
      <p:sp>
        <p:nvSpPr>
          <p:cNvPr id="141" name="Text 139"/>
          <p:cNvSpPr txBox="1"/>
          <p:nvPr/>
        </p:nvSpPr>
        <p:spPr>
          <a:xfrm>
            <a:off x="8357616" y="1856426"/>
            <a:ext cx="1759183"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56</a:t>
            </a:r>
            <a:endParaRPr lang="en-US" sz="1300" dirty="0"/>
          </a:p>
        </p:txBody>
      </p:sp>
      <p:sp>
        <p:nvSpPr>
          <p:cNvPr id="142" name="Shape 140"/>
          <p:cNvSpPr/>
          <p:nvPr/>
        </p:nvSpPr>
        <p:spPr>
          <a:xfrm>
            <a:off x="10116799" y="1856426"/>
            <a:ext cx="978643" cy="174962"/>
          </a:xfrm>
          <a:prstGeom prst="rect">
            <a:avLst/>
          </a:prstGeom>
          <a:solidFill>
            <a:srgbClr val="8FBEE6"/>
          </a:solidFill>
          <a:ln w="6350">
            <a:solidFill>
              <a:srgbClr val="FFFFFF"/>
            </a:solidFill>
            <a:prstDash val="solid"/>
          </a:ln>
        </p:spPr>
      </p:sp>
      <p:sp>
        <p:nvSpPr>
          <p:cNvPr id="143" name="Text 141"/>
          <p:cNvSpPr txBox="1"/>
          <p:nvPr/>
        </p:nvSpPr>
        <p:spPr>
          <a:xfrm>
            <a:off x="10116799" y="1856426"/>
            <a:ext cx="978643"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31</a:t>
            </a:r>
            <a:endParaRPr lang="en-US" sz="1300" dirty="0"/>
          </a:p>
        </p:txBody>
      </p:sp>
      <p:sp>
        <p:nvSpPr>
          <p:cNvPr id="144" name="Shape 142"/>
          <p:cNvSpPr/>
          <p:nvPr/>
        </p:nvSpPr>
        <p:spPr>
          <a:xfrm>
            <a:off x="11095442" y="1856426"/>
            <a:ext cx="416854" cy="174962"/>
          </a:xfrm>
          <a:prstGeom prst="rect">
            <a:avLst/>
          </a:prstGeom>
          <a:solidFill>
            <a:srgbClr val="D9D9D9"/>
          </a:solidFill>
          <a:ln w="6350">
            <a:solidFill>
              <a:srgbClr val="FFFFFF"/>
            </a:solidFill>
            <a:prstDash val="solid"/>
          </a:ln>
        </p:spPr>
      </p:sp>
      <p:sp>
        <p:nvSpPr>
          <p:cNvPr id="145" name="Text 143"/>
          <p:cNvSpPr txBox="1"/>
          <p:nvPr/>
        </p:nvSpPr>
        <p:spPr>
          <a:xfrm>
            <a:off x="11095442" y="1856426"/>
            <a:ext cx="416854"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13</a:t>
            </a:r>
            <a:endParaRPr lang="en-US" sz="1300" dirty="0"/>
          </a:p>
        </p:txBody>
      </p:sp>
      <p:sp>
        <p:nvSpPr>
          <p:cNvPr id="146" name="Text 144"/>
          <p:cNvSpPr txBox="1"/>
          <p:nvPr/>
        </p:nvSpPr>
        <p:spPr>
          <a:xfrm>
            <a:off x="6208776" y="2059014"/>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147" name="Shape 145"/>
          <p:cNvSpPr/>
          <p:nvPr/>
        </p:nvSpPr>
        <p:spPr>
          <a:xfrm>
            <a:off x="8357616" y="2086639"/>
            <a:ext cx="1743709" cy="174962"/>
          </a:xfrm>
          <a:prstGeom prst="rect">
            <a:avLst/>
          </a:prstGeom>
          <a:solidFill>
            <a:srgbClr val="2587C5"/>
          </a:solidFill>
          <a:ln w="6350">
            <a:solidFill>
              <a:srgbClr val="FFFFFF"/>
            </a:solidFill>
            <a:prstDash val="solid"/>
          </a:ln>
        </p:spPr>
      </p:sp>
      <p:sp>
        <p:nvSpPr>
          <p:cNvPr id="148" name="Text 146"/>
          <p:cNvSpPr txBox="1"/>
          <p:nvPr/>
        </p:nvSpPr>
        <p:spPr>
          <a:xfrm>
            <a:off x="8357616" y="2086639"/>
            <a:ext cx="1743709"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55</a:t>
            </a:r>
            <a:endParaRPr lang="en-US" sz="1300" dirty="0"/>
          </a:p>
        </p:txBody>
      </p:sp>
      <p:sp>
        <p:nvSpPr>
          <p:cNvPr id="149" name="Shape 147"/>
          <p:cNvSpPr/>
          <p:nvPr/>
        </p:nvSpPr>
        <p:spPr>
          <a:xfrm>
            <a:off x="10101325" y="2086639"/>
            <a:ext cx="638330" cy="174962"/>
          </a:xfrm>
          <a:prstGeom prst="rect">
            <a:avLst/>
          </a:prstGeom>
          <a:solidFill>
            <a:srgbClr val="8FBEE6"/>
          </a:solidFill>
          <a:ln w="6350">
            <a:solidFill>
              <a:srgbClr val="FFFFFF"/>
            </a:solidFill>
            <a:prstDash val="solid"/>
          </a:ln>
        </p:spPr>
      </p:sp>
      <p:sp>
        <p:nvSpPr>
          <p:cNvPr id="150" name="Text 148"/>
          <p:cNvSpPr txBox="1"/>
          <p:nvPr/>
        </p:nvSpPr>
        <p:spPr>
          <a:xfrm>
            <a:off x="10101325" y="2086639"/>
            <a:ext cx="638330"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20</a:t>
            </a:r>
            <a:endParaRPr lang="en-US" sz="1300" dirty="0"/>
          </a:p>
        </p:txBody>
      </p:sp>
      <p:sp>
        <p:nvSpPr>
          <p:cNvPr id="151" name="Shape 149"/>
          <p:cNvSpPr/>
          <p:nvPr/>
        </p:nvSpPr>
        <p:spPr>
          <a:xfrm>
            <a:off x="10739655" y="2086639"/>
            <a:ext cx="772641" cy="174962"/>
          </a:xfrm>
          <a:prstGeom prst="rect">
            <a:avLst/>
          </a:prstGeom>
          <a:solidFill>
            <a:srgbClr val="D9D9D9"/>
          </a:solidFill>
          <a:ln w="6350">
            <a:solidFill>
              <a:srgbClr val="FFFFFF"/>
            </a:solidFill>
            <a:prstDash val="solid"/>
          </a:ln>
        </p:spPr>
      </p:sp>
      <p:sp>
        <p:nvSpPr>
          <p:cNvPr id="152" name="Text 150"/>
          <p:cNvSpPr txBox="1"/>
          <p:nvPr/>
        </p:nvSpPr>
        <p:spPr>
          <a:xfrm>
            <a:off x="10739655" y="2086639"/>
            <a:ext cx="772641"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24</a:t>
            </a:r>
            <a:endParaRPr lang="en-US" sz="1300" dirty="0"/>
          </a:p>
        </p:txBody>
      </p:sp>
      <p:sp>
        <p:nvSpPr>
          <p:cNvPr id="153" name="Text 151"/>
          <p:cNvSpPr txBox="1"/>
          <p:nvPr/>
        </p:nvSpPr>
        <p:spPr>
          <a:xfrm>
            <a:off x="6208776" y="2289227"/>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154" name="Shape 152"/>
          <p:cNvSpPr/>
          <p:nvPr/>
        </p:nvSpPr>
        <p:spPr>
          <a:xfrm>
            <a:off x="8357616" y="2316853"/>
            <a:ext cx="1719908" cy="174962"/>
          </a:xfrm>
          <a:prstGeom prst="rect">
            <a:avLst/>
          </a:prstGeom>
          <a:solidFill>
            <a:srgbClr val="2587C5"/>
          </a:solidFill>
          <a:ln w="6350">
            <a:solidFill>
              <a:srgbClr val="FFFFFF"/>
            </a:solidFill>
            <a:prstDash val="solid"/>
          </a:ln>
        </p:spPr>
      </p:sp>
      <p:sp>
        <p:nvSpPr>
          <p:cNvPr id="155" name="Text 153"/>
          <p:cNvSpPr txBox="1"/>
          <p:nvPr/>
        </p:nvSpPr>
        <p:spPr>
          <a:xfrm>
            <a:off x="8357616" y="2316853"/>
            <a:ext cx="1719908"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55</a:t>
            </a:r>
            <a:endParaRPr lang="en-US" sz="1300" dirty="0"/>
          </a:p>
        </p:txBody>
      </p:sp>
      <p:sp>
        <p:nvSpPr>
          <p:cNvPr id="156" name="Shape 154"/>
          <p:cNvSpPr/>
          <p:nvPr/>
        </p:nvSpPr>
        <p:spPr>
          <a:xfrm>
            <a:off x="10077524" y="2316853"/>
            <a:ext cx="412555" cy="174962"/>
          </a:xfrm>
          <a:prstGeom prst="rect">
            <a:avLst/>
          </a:prstGeom>
          <a:solidFill>
            <a:srgbClr val="8FBEE6"/>
          </a:solidFill>
          <a:ln w="6350">
            <a:solidFill>
              <a:srgbClr val="FFFFFF"/>
            </a:solidFill>
            <a:prstDash val="solid"/>
          </a:ln>
        </p:spPr>
      </p:sp>
      <p:sp>
        <p:nvSpPr>
          <p:cNvPr id="157" name="Text 155"/>
          <p:cNvSpPr txBox="1"/>
          <p:nvPr/>
        </p:nvSpPr>
        <p:spPr>
          <a:xfrm>
            <a:off x="10077524" y="2316853"/>
            <a:ext cx="412555"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13</a:t>
            </a:r>
            <a:endParaRPr lang="en-US" sz="1300" dirty="0"/>
          </a:p>
        </p:txBody>
      </p:sp>
      <p:sp>
        <p:nvSpPr>
          <p:cNvPr id="158" name="Shape 156"/>
          <p:cNvSpPr/>
          <p:nvPr/>
        </p:nvSpPr>
        <p:spPr>
          <a:xfrm>
            <a:off x="10490079" y="2316853"/>
            <a:ext cx="1022217" cy="174962"/>
          </a:xfrm>
          <a:prstGeom prst="rect">
            <a:avLst/>
          </a:prstGeom>
          <a:solidFill>
            <a:srgbClr val="D9D9D9"/>
          </a:solidFill>
          <a:ln w="6350">
            <a:solidFill>
              <a:srgbClr val="FFFFFF"/>
            </a:solidFill>
            <a:prstDash val="solid"/>
          </a:ln>
        </p:spPr>
      </p:sp>
      <p:sp>
        <p:nvSpPr>
          <p:cNvPr id="159" name="Text 157"/>
          <p:cNvSpPr txBox="1"/>
          <p:nvPr/>
        </p:nvSpPr>
        <p:spPr>
          <a:xfrm>
            <a:off x="10490079" y="2316853"/>
            <a:ext cx="1022217"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32</a:t>
            </a:r>
            <a:endParaRPr lang="en-US" sz="1300" dirty="0"/>
          </a:p>
        </p:txBody>
      </p:sp>
      <p:sp>
        <p:nvSpPr>
          <p:cNvPr id="160" name="Text 158"/>
          <p:cNvSpPr txBox="1"/>
          <p:nvPr/>
        </p:nvSpPr>
        <p:spPr>
          <a:xfrm>
            <a:off x="6208776" y="2519441"/>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161" name="Shape 159"/>
          <p:cNvSpPr/>
          <p:nvPr/>
        </p:nvSpPr>
        <p:spPr>
          <a:xfrm>
            <a:off x="8357616" y="2547067"/>
            <a:ext cx="1601041" cy="174962"/>
          </a:xfrm>
          <a:prstGeom prst="rect">
            <a:avLst/>
          </a:prstGeom>
          <a:solidFill>
            <a:srgbClr val="2587C5"/>
          </a:solidFill>
          <a:ln w="6350">
            <a:solidFill>
              <a:srgbClr val="FFFFFF"/>
            </a:solidFill>
            <a:prstDash val="solid"/>
          </a:ln>
        </p:spPr>
      </p:sp>
      <p:sp>
        <p:nvSpPr>
          <p:cNvPr id="162" name="Text 160"/>
          <p:cNvSpPr txBox="1"/>
          <p:nvPr/>
        </p:nvSpPr>
        <p:spPr>
          <a:xfrm>
            <a:off x="8357616" y="2547067"/>
            <a:ext cx="1601041"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51</a:t>
            </a:r>
            <a:endParaRPr lang="en-US" sz="1300" dirty="0"/>
          </a:p>
        </p:txBody>
      </p:sp>
      <p:sp>
        <p:nvSpPr>
          <p:cNvPr id="163" name="Shape 161"/>
          <p:cNvSpPr/>
          <p:nvPr/>
        </p:nvSpPr>
        <p:spPr>
          <a:xfrm>
            <a:off x="9958657" y="2547067"/>
            <a:ext cx="606875" cy="174962"/>
          </a:xfrm>
          <a:prstGeom prst="rect">
            <a:avLst/>
          </a:prstGeom>
          <a:solidFill>
            <a:srgbClr val="8FBEE6"/>
          </a:solidFill>
          <a:ln w="6350">
            <a:solidFill>
              <a:srgbClr val="FFFFFF"/>
            </a:solidFill>
            <a:prstDash val="solid"/>
          </a:ln>
        </p:spPr>
      </p:sp>
      <p:sp>
        <p:nvSpPr>
          <p:cNvPr id="164" name="Text 162"/>
          <p:cNvSpPr txBox="1"/>
          <p:nvPr/>
        </p:nvSpPr>
        <p:spPr>
          <a:xfrm>
            <a:off x="9958657" y="2547067"/>
            <a:ext cx="606875"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19</a:t>
            </a:r>
            <a:endParaRPr lang="en-US" sz="1300" dirty="0"/>
          </a:p>
        </p:txBody>
      </p:sp>
      <p:sp>
        <p:nvSpPr>
          <p:cNvPr id="165" name="Shape 163"/>
          <p:cNvSpPr/>
          <p:nvPr/>
        </p:nvSpPr>
        <p:spPr>
          <a:xfrm>
            <a:off x="10565532" y="2547067"/>
            <a:ext cx="946764" cy="174962"/>
          </a:xfrm>
          <a:prstGeom prst="rect">
            <a:avLst/>
          </a:prstGeom>
          <a:solidFill>
            <a:srgbClr val="D9D9D9"/>
          </a:solidFill>
          <a:ln w="6350">
            <a:solidFill>
              <a:srgbClr val="FFFFFF"/>
            </a:solidFill>
            <a:prstDash val="solid"/>
          </a:ln>
        </p:spPr>
      </p:sp>
      <p:sp>
        <p:nvSpPr>
          <p:cNvPr id="166" name="Text 164"/>
          <p:cNvSpPr txBox="1"/>
          <p:nvPr/>
        </p:nvSpPr>
        <p:spPr>
          <a:xfrm>
            <a:off x="10565532" y="2547067"/>
            <a:ext cx="946764"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30</a:t>
            </a:r>
            <a:endParaRPr lang="en-US" sz="1300" dirty="0"/>
          </a:p>
        </p:txBody>
      </p:sp>
      <p:sp>
        <p:nvSpPr>
          <p:cNvPr id="167" name="Text 165"/>
          <p:cNvSpPr txBox="1"/>
          <p:nvPr/>
        </p:nvSpPr>
        <p:spPr>
          <a:xfrm>
            <a:off x="6208776" y="2749655"/>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168" name="Shape 166"/>
          <p:cNvSpPr/>
          <p:nvPr/>
        </p:nvSpPr>
        <p:spPr>
          <a:xfrm>
            <a:off x="8357616" y="2777280"/>
            <a:ext cx="1536222" cy="174962"/>
          </a:xfrm>
          <a:prstGeom prst="rect">
            <a:avLst/>
          </a:prstGeom>
          <a:solidFill>
            <a:srgbClr val="2587C5"/>
          </a:solidFill>
          <a:ln w="6350">
            <a:solidFill>
              <a:srgbClr val="FFFFFF"/>
            </a:solidFill>
            <a:prstDash val="solid"/>
          </a:ln>
        </p:spPr>
      </p:sp>
      <p:sp>
        <p:nvSpPr>
          <p:cNvPr id="169" name="Text 167"/>
          <p:cNvSpPr txBox="1"/>
          <p:nvPr/>
        </p:nvSpPr>
        <p:spPr>
          <a:xfrm>
            <a:off x="8357616" y="2777280"/>
            <a:ext cx="1536222"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49</a:t>
            </a:r>
            <a:endParaRPr lang="en-US" sz="1300" dirty="0"/>
          </a:p>
        </p:txBody>
      </p:sp>
      <p:sp>
        <p:nvSpPr>
          <p:cNvPr id="170" name="Shape 168"/>
          <p:cNvSpPr/>
          <p:nvPr/>
        </p:nvSpPr>
        <p:spPr>
          <a:xfrm>
            <a:off x="9893838" y="2777280"/>
            <a:ext cx="488153" cy="174962"/>
          </a:xfrm>
          <a:prstGeom prst="rect">
            <a:avLst/>
          </a:prstGeom>
          <a:solidFill>
            <a:srgbClr val="8FBEE6"/>
          </a:solidFill>
          <a:ln w="6350">
            <a:solidFill>
              <a:srgbClr val="FFFFFF"/>
            </a:solidFill>
            <a:prstDash val="solid"/>
          </a:ln>
        </p:spPr>
      </p:sp>
      <p:sp>
        <p:nvSpPr>
          <p:cNvPr id="171" name="Text 169"/>
          <p:cNvSpPr txBox="1"/>
          <p:nvPr/>
        </p:nvSpPr>
        <p:spPr>
          <a:xfrm>
            <a:off x="9893838" y="2777280"/>
            <a:ext cx="488153"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15</a:t>
            </a:r>
            <a:endParaRPr lang="en-US" sz="1300" dirty="0"/>
          </a:p>
        </p:txBody>
      </p:sp>
      <p:sp>
        <p:nvSpPr>
          <p:cNvPr id="172" name="Shape 170"/>
          <p:cNvSpPr/>
          <p:nvPr/>
        </p:nvSpPr>
        <p:spPr>
          <a:xfrm>
            <a:off x="10381990" y="2777280"/>
            <a:ext cx="1130306" cy="174962"/>
          </a:xfrm>
          <a:prstGeom prst="rect">
            <a:avLst/>
          </a:prstGeom>
          <a:solidFill>
            <a:srgbClr val="D9D9D9"/>
          </a:solidFill>
          <a:ln w="6350">
            <a:solidFill>
              <a:srgbClr val="FFFFFF"/>
            </a:solidFill>
            <a:prstDash val="solid"/>
          </a:ln>
        </p:spPr>
      </p:sp>
      <p:sp>
        <p:nvSpPr>
          <p:cNvPr id="173" name="Text 171"/>
          <p:cNvSpPr txBox="1"/>
          <p:nvPr/>
        </p:nvSpPr>
        <p:spPr>
          <a:xfrm>
            <a:off x="10381990" y="2777280"/>
            <a:ext cx="1130306"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36</a:t>
            </a:r>
            <a:endParaRPr lang="en-US" sz="1300" dirty="0"/>
          </a:p>
        </p:txBody>
      </p:sp>
      <p:sp>
        <p:nvSpPr>
          <p:cNvPr id="174" name="Text 172"/>
          <p:cNvSpPr txBox="1"/>
          <p:nvPr/>
        </p:nvSpPr>
        <p:spPr>
          <a:xfrm>
            <a:off x="6208776" y="2979868"/>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175" name="Shape 173"/>
          <p:cNvSpPr/>
          <p:nvPr/>
        </p:nvSpPr>
        <p:spPr>
          <a:xfrm>
            <a:off x="8357616" y="3007494"/>
            <a:ext cx="1513638" cy="174962"/>
          </a:xfrm>
          <a:prstGeom prst="rect">
            <a:avLst/>
          </a:prstGeom>
          <a:solidFill>
            <a:srgbClr val="2587C5"/>
          </a:solidFill>
          <a:ln w="6350">
            <a:solidFill>
              <a:srgbClr val="FFFFFF"/>
            </a:solidFill>
            <a:prstDash val="solid"/>
          </a:ln>
        </p:spPr>
      </p:sp>
      <p:sp>
        <p:nvSpPr>
          <p:cNvPr id="176" name="Text 174"/>
          <p:cNvSpPr txBox="1"/>
          <p:nvPr/>
        </p:nvSpPr>
        <p:spPr>
          <a:xfrm>
            <a:off x="8357616" y="3007494"/>
            <a:ext cx="1513638"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48</a:t>
            </a:r>
            <a:endParaRPr lang="en-US" sz="1300" dirty="0"/>
          </a:p>
        </p:txBody>
      </p:sp>
      <p:sp>
        <p:nvSpPr>
          <p:cNvPr id="177" name="Shape 175"/>
          <p:cNvSpPr/>
          <p:nvPr/>
        </p:nvSpPr>
        <p:spPr>
          <a:xfrm>
            <a:off x="9871254" y="3007494"/>
            <a:ext cx="727538" cy="174962"/>
          </a:xfrm>
          <a:prstGeom prst="rect">
            <a:avLst/>
          </a:prstGeom>
          <a:solidFill>
            <a:srgbClr val="8FBEE6"/>
          </a:solidFill>
          <a:ln w="6350">
            <a:solidFill>
              <a:srgbClr val="FFFFFF"/>
            </a:solidFill>
            <a:prstDash val="solid"/>
          </a:ln>
        </p:spPr>
      </p:sp>
      <p:sp>
        <p:nvSpPr>
          <p:cNvPr id="178" name="Text 176"/>
          <p:cNvSpPr txBox="1"/>
          <p:nvPr/>
        </p:nvSpPr>
        <p:spPr>
          <a:xfrm>
            <a:off x="9871254" y="3007494"/>
            <a:ext cx="727538"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23</a:t>
            </a:r>
            <a:endParaRPr lang="en-US" sz="1300" dirty="0"/>
          </a:p>
        </p:txBody>
      </p:sp>
      <p:sp>
        <p:nvSpPr>
          <p:cNvPr id="179" name="Shape 177"/>
          <p:cNvSpPr/>
          <p:nvPr/>
        </p:nvSpPr>
        <p:spPr>
          <a:xfrm>
            <a:off x="10598793" y="3007494"/>
            <a:ext cx="913503" cy="174962"/>
          </a:xfrm>
          <a:prstGeom prst="rect">
            <a:avLst/>
          </a:prstGeom>
          <a:solidFill>
            <a:srgbClr val="D9D9D9"/>
          </a:solidFill>
          <a:ln w="6350">
            <a:solidFill>
              <a:srgbClr val="FFFFFF"/>
            </a:solidFill>
            <a:prstDash val="solid"/>
          </a:ln>
        </p:spPr>
      </p:sp>
      <p:sp>
        <p:nvSpPr>
          <p:cNvPr id="180" name="Text 178"/>
          <p:cNvSpPr txBox="1"/>
          <p:nvPr/>
        </p:nvSpPr>
        <p:spPr>
          <a:xfrm>
            <a:off x="10598793" y="3007494"/>
            <a:ext cx="913503"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29</a:t>
            </a:r>
            <a:endParaRPr lang="en-US" sz="1300" dirty="0"/>
          </a:p>
        </p:txBody>
      </p:sp>
      <p:sp>
        <p:nvSpPr>
          <p:cNvPr id="181" name="Text 179"/>
          <p:cNvSpPr txBox="1"/>
          <p:nvPr/>
        </p:nvSpPr>
        <p:spPr>
          <a:xfrm>
            <a:off x="6208776" y="3210082"/>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182" name="Shape 180"/>
          <p:cNvSpPr/>
          <p:nvPr/>
        </p:nvSpPr>
        <p:spPr>
          <a:xfrm>
            <a:off x="8357616" y="3237708"/>
            <a:ext cx="1487709" cy="174962"/>
          </a:xfrm>
          <a:prstGeom prst="rect">
            <a:avLst/>
          </a:prstGeom>
          <a:solidFill>
            <a:srgbClr val="2587C5"/>
          </a:solidFill>
          <a:ln w="6350">
            <a:solidFill>
              <a:srgbClr val="FFFFFF"/>
            </a:solidFill>
            <a:prstDash val="solid"/>
          </a:ln>
        </p:spPr>
      </p:sp>
      <p:sp>
        <p:nvSpPr>
          <p:cNvPr id="183" name="Text 181"/>
          <p:cNvSpPr txBox="1"/>
          <p:nvPr/>
        </p:nvSpPr>
        <p:spPr>
          <a:xfrm>
            <a:off x="8357616" y="3237708"/>
            <a:ext cx="1487709"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47</a:t>
            </a:r>
            <a:endParaRPr lang="en-US" sz="1300" dirty="0"/>
          </a:p>
        </p:txBody>
      </p:sp>
      <p:sp>
        <p:nvSpPr>
          <p:cNvPr id="184" name="Shape 182"/>
          <p:cNvSpPr/>
          <p:nvPr/>
        </p:nvSpPr>
        <p:spPr>
          <a:xfrm>
            <a:off x="9845325" y="3237708"/>
            <a:ext cx="1263575" cy="174962"/>
          </a:xfrm>
          <a:prstGeom prst="rect">
            <a:avLst/>
          </a:prstGeom>
          <a:solidFill>
            <a:srgbClr val="8FBEE6"/>
          </a:solidFill>
          <a:ln w="6350">
            <a:solidFill>
              <a:srgbClr val="FFFFFF"/>
            </a:solidFill>
            <a:prstDash val="solid"/>
          </a:ln>
        </p:spPr>
      </p:sp>
      <p:sp>
        <p:nvSpPr>
          <p:cNvPr id="185" name="Text 183"/>
          <p:cNvSpPr txBox="1"/>
          <p:nvPr/>
        </p:nvSpPr>
        <p:spPr>
          <a:xfrm>
            <a:off x="9845325" y="3237708"/>
            <a:ext cx="1263575"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40</a:t>
            </a:r>
            <a:endParaRPr lang="en-US" sz="1300" dirty="0"/>
          </a:p>
        </p:txBody>
      </p:sp>
      <p:sp>
        <p:nvSpPr>
          <p:cNvPr id="186" name="Shape 184"/>
          <p:cNvSpPr/>
          <p:nvPr/>
        </p:nvSpPr>
        <p:spPr>
          <a:xfrm>
            <a:off x="11108900" y="3237708"/>
            <a:ext cx="403396" cy="174962"/>
          </a:xfrm>
          <a:prstGeom prst="rect">
            <a:avLst/>
          </a:prstGeom>
          <a:solidFill>
            <a:srgbClr val="D9D9D9"/>
          </a:solidFill>
          <a:ln w="6350">
            <a:solidFill>
              <a:srgbClr val="FFFFFF"/>
            </a:solidFill>
            <a:prstDash val="solid"/>
          </a:ln>
        </p:spPr>
      </p:sp>
      <p:sp>
        <p:nvSpPr>
          <p:cNvPr id="187" name="Text 185"/>
          <p:cNvSpPr txBox="1"/>
          <p:nvPr/>
        </p:nvSpPr>
        <p:spPr>
          <a:xfrm>
            <a:off x="11108900" y="3237708"/>
            <a:ext cx="403396"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13</a:t>
            </a:r>
            <a:endParaRPr lang="en-US" sz="1300" dirty="0"/>
          </a:p>
        </p:txBody>
      </p:sp>
      <p:sp>
        <p:nvSpPr>
          <p:cNvPr id="188" name="Text 186"/>
          <p:cNvSpPr txBox="1"/>
          <p:nvPr/>
        </p:nvSpPr>
        <p:spPr>
          <a:xfrm>
            <a:off x="6208776" y="3440296"/>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189" name="Shape 187"/>
          <p:cNvSpPr/>
          <p:nvPr/>
        </p:nvSpPr>
        <p:spPr>
          <a:xfrm>
            <a:off x="8357616" y="3467921"/>
            <a:ext cx="1483116" cy="174962"/>
          </a:xfrm>
          <a:prstGeom prst="rect">
            <a:avLst/>
          </a:prstGeom>
          <a:solidFill>
            <a:srgbClr val="2587C5"/>
          </a:solidFill>
          <a:ln w="6350">
            <a:solidFill>
              <a:srgbClr val="FFFFFF"/>
            </a:solidFill>
            <a:prstDash val="solid"/>
          </a:ln>
        </p:spPr>
      </p:sp>
      <p:sp>
        <p:nvSpPr>
          <p:cNvPr id="190" name="Text 188"/>
          <p:cNvSpPr txBox="1"/>
          <p:nvPr/>
        </p:nvSpPr>
        <p:spPr>
          <a:xfrm>
            <a:off x="8357616" y="3467921"/>
            <a:ext cx="1483116"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47</a:t>
            </a:r>
            <a:endParaRPr lang="en-US" sz="1300" dirty="0"/>
          </a:p>
        </p:txBody>
      </p:sp>
      <p:sp>
        <p:nvSpPr>
          <p:cNvPr id="191" name="Shape 189"/>
          <p:cNvSpPr/>
          <p:nvPr/>
        </p:nvSpPr>
        <p:spPr>
          <a:xfrm>
            <a:off x="9840732" y="3467921"/>
            <a:ext cx="885736" cy="174962"/>
          </a:xfrm>
          <a:prstGeom prst="rect">
            <a:avLst/>
          </a:prstGeom>
          <a:solidFill>
            <a:srgbClr val="8FBEE6"/>
          </a:solidFill>
          <a:ln w="6350">
            <a:solidFill>
              <a:srgbClr val="FFFFFF"/>
            </a:solidFill>
            <a:prstDash val="solid"/>
          </a:ln>
        </p:spPr>
      </p:sp>
      <p:sp>
        <p:nvSpPr>
          <p:cNvPr id="192" name="Text 190"/>
          <p:cNvSpPr txBox="1"/>
          <p:nvPr/>
        </p:nvSpPr>
        <p:spPr>
          <a:xfrm>
            <a:off x="9840732" y="3467921"/>
            <a:ext cx="885736"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28</a:t>
            </a:r>
            <a:endParaRPr lang="en-US" sz="1300" dirty="0"/>
          </a:p>
        </p:txBody>
      </p:sp>
      <p:sp>
        <p:nvSpPr>
          <p:cNvPr id="193" name="Shape 191"/>
          <p:cNvSpPr/>
          <p:nvPr/>
        </p:nvSpPr>
        <p:spPr>
          <a:xfrm>
            <a:off x="10726468" y="3467921"/>
            <a:ext cx="785828" cy="174962"/>
          </a:xfrm>
          <a:prstGeom prst="rect">
            <a:avLst/>
          </a:prstGeom>
          <a:solidFill>
            <a:srgbClr val="D9D9D9"/>
          </a:solidFill>
          <a:ln w="6350">
            <a:solidFill>
              <a:srgbClr val="FFFFFF"/>
            </a:solidFill>
            <a:prstDash val="solid"/>
          </a:ln>
        </p:spPr>
      </p:sp>
      <p:sp>
        <p:nvSpPr>
          <p:cNvPr id="194" name="Text 192"/>
          <p:cNvSpPr txBox="1"/>
          <p:nvPr/>
        </p:nvSpPr>
        <p:spPr>
          <a:xfrm>
            <a:off x="10726468" y="3467921"/>
            <a:ext cx="785828"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25</a:t>
            </a:r>
            <a:endParaRPr lang="en-US" sz="1300" dirty="0"/>
          </a:p>
        </p:txBody>
      </p:sp>
      <p:sp>
        <p:nvSpPr>
          <p:cNvPr id="195" name="Text 193"/>
          <p:cNvSpPr txBox="1"/>
          <p:nvPr/>
        </p:nvSpPr>
        <p:spPr>
          <a:xfrm>
            <a:off x="6208776" y="3670509"/>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196" name="Shape 194"/>
          <p:cNvSpPr/>
          <p:nvPr/>
        </p:nvSpPr>
        <p:spPr>
          <a:xfrm>
            <a:off x="8357616" y="3698135"/>
            <a:ext cx="1429900" cy="174962"/>
          </a:xfrm>
          <a:prstGeom prst="rect">
            <a:avLst/>
          </a:prstGeom>
          <a:solidFill>
            <a:srgbClr val="2587C5"/>
          </a:solidFill>
          <a:ln w="6350">
            <a:solidFill>
              <a:srgbClr val="FFFFFF"/>
            </a:solidFill>
            <a:prstDash val="solid"/>
          </a:ln>
        </p:spPr>
      </p:sp>
      <p:sp>
        <p:nvSpPr>
          <p:cNvPr id="197" name="Text 195"/>
          <p:cNvSpPr txBox="1"/>
          <p:nvPr/>
        </p:nvSpPr>
        <p:spPr>
          <a:xfrm>
            <a:off x="8357616" y="3698135"/>
            <a:ext cx="142990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45</a:t>
            </a:r>
            <a:endParaRPr lang="en-US" sz="1300" dirty="0"/>
          </a:p>
        </p:txBody>
      </p:sp>
      <p:sp>
        <p:nvSpPr>
          <p:cNvPr id="198" name="Shape 196"/>
          <p:cNvSpPr/>
          <p:nvPr/>
        </p:nvSpPr>
        <p:spPr>
          <a:xfrm>
            <a:off x="9787516" y="3698135"/>
            <a:ext cx="450296" cy="174962"/>
          </a:xfrm>
          <a:prstGeom prst="rect">
            <a:avLst/>
          </a:prstGeom>
          <a:solidFill>
            <a:srgbClr val="8FBEE6"/>
          </a:solidFill>
          <a:ln w="6350">
            <a:solidFill>
              <a:srgbClr val="FFFFFF"/>
            </a:solidFill>
            <a:prstDash val="solid"/>
          </a:ln>
        </p:spPr>
      </p:sp>
      <p:sp>
        <p:nvSpPr>
          <p:cNvPr id="199" name="Text 197"/>
          <p:cNvSpPr txBox="1"/>
          <p:nvPr/>
        </p:nvSpPr>
        <p:spPr>
          <a:xfrm>
            <a:off x="9787516" y="3698135"/>
            <a:ext cx="450296"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14</a:t>
            </a:r>
            <a:endParaRPr lang="en-US" sz="1300" dirty="0"/>
          </a:p>
        </p:txBody>
      </p:sp>
      <p:sp>
        <p:nvSpPr>
          <p:cNvPr id="200" name="Shape 198"/>
          <p:cNvSpPr/>
          <p:nvPr/>
        </p:nvSpPr>
        <p:spPr>
          <a:xfrm>
            <a:off x="10237812" y="3698135"/>
            <a:ext cx="1274484" cy="174962"/>
          </a:xfrm>
          <a:prstGeom prst="rect">
            <a:avLst/>
          </a:prstGeom>
          <a:solidFill>
            <a:srgbClr val="D9D9D9"/>
          </a:solidFill>
          <a:ln w="6350">
            <a:solidFill>
              <a:srgbClr val="FFFFFF"/>
            </a:solidFill>
            <a:prstDash val="solid"/>
          </a:ln>
        </p:spPr>
      </p:sp>
      <p:sp>
        <p:nvSpPr>
          <p:cNvPr id="201" name="Text 199"/>
          <p:cNvSpPr txBox="1"/>
          <p:nvPr/>
        </p:nvSpPr>
        <p:spPr>
          <a:xfrm>
            <a:off x="10237812" y="3698135"/>
            <a:ext cx="1274484"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40</a:t>
            </a:r>
            <a:endParaRPr lang="en-US" sz="1300" dirty="0"/>
          </a:p>
        </p:txBody>
      </p:sp>
      <p:sp>
        <p:nvSpPr>
          <p:cNvPr id="202" name="Text 200"/>
          <p:cNvSpPr txBox="1"/>
          <p:nvPr/>
        </p:nvSpPr>
        <p:spPr>
          <a:xfrm>
            <a:off x="6208776" y="3900723"/>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203" name="Shape 201"/>
          <p:cNvSpPr/>
          <p:nvPr/>
        </p:nvSpPr>
        <p:spPr>
          <a:xfrm>
            <a:off x="8357616" y="3928348"/>
            <a:ext cx="1407663" cy="174962"/>
          </a:xfrm>
          <a:prstGeom prst="rect">
            <a:avLst/>
          </a:prstGeom>
          <a:solidFill>
            <a:srgbClr val="2587C5"/>
          </a:solidFill>
          <a:ln w="6350">
            <a:solidFill>
              <a:srgbClr val="FFFFFF"/>
            </a:solidFill>
            <a:prstDash val="solid"/>
          </a:ln>
        </p:spPr>
      </p:sp>
      <p:sp>
        <p:nvSpPr>
          <p:cNvPr id="204" name="Text 202"/>
          <p:cNvSpPr txBox="1"/>
          <p:nvPr/>
        </p:nvSpPr>
        <p:spPr>
          <a:xfrm>
            <a:off x="8357616" y="3928348"/>
            <a:ext cx="1407663"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45</a:t>
            </a:r>
            <a:endParaRPr lang="en-US" sz="1300" dirty="0"/>
          </a:p>
        </p:txBody>
      </p:sp>
      <p:sp>
        <p:nvSpPr>
          <p:cNvPr id="205" name="Shape 203"/>
          <p:cNvSpPr/>
          <p:nvPr/>
        </p:nvSpPr>
        <p:spPr>
          <a:xfrm>
            <a:off x="9765279" y="3928348"/>
            <a:ext cx="1184133" cy="174962"/>
          </a:xfrm>
          <a:prstGeom prst="rect">
            <a:avLst/>
          </a:prstGeom>
          <a:solidFill>
            <a:srgbClr val="8FBEE6"/>
          </a:solidFill>
          <a:ln w="6350">
            <a:solidFill>
              <a:srgbClr val="FFFFFF"/>
            </a:solidFill>
            <a:prstDash val="solid"/>
          </a:ln>
        </p:spPr>
      </p:sp>
      <p:sp>
        <p:nvSpPr>
          <p:cNvPr id="206" name="Text 204"/>
          <p:cNvSpPr txBox="1"/>
          <p:nvPr/>
        </p:nvSpPr>
        <p:spPr>
          <a:xfrm>
            <a:off x="9765279" y="3928348"/>
            <a:ext cx="1184133"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38</a:t>
            </a:r>
            <a:endParaRPr lang="en-US" sz="1300" dirty="0"/>
          </a:p>
        </p:txBody>
      </p:sp>
      <p:sp>
        <p:nvSpPr>
          <p:cNvPr id="207" name="Shape 205"/>
          <p:cNvSpPr/>
          <p:nvPr/>
        </p:nvSpPr>
        <p:spPr>
          <a:xfrm>
            <a:off x="10949412" y="3928348"/>
            <a:ext cx="562884" cy="174962"/>
          </a:xfrm>
          <a:prstGeom prst="rect">
            <a:avLst/>
          </a:prstGeom>
          <a:solidFill>
            <a:srgbClr val="D9D9D9"/>
          </a:solidFill>
          <a:ln w="6350">
            <a:solidFill>
              <a:srgbClr val="FFFFFF"/>
            </a:solidFill>
            <a:prstDash val="solid"/>
          </a:ln>
        </p:spPr>
      </p:sp>
      <p:sp>
        <p:nvSpPr>
          <p:cNvPr id="208" name="Text 206"/>
          <p:cNvSpPr txBox="1"/>
          <p:nvPr/>
        </p:nvSpPr>
        <p:spPr>
          <a:xfrm>
            <a:off x="10949412" y="3928348"/>
            <a:ext cx="562884"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18</a:t>
            </a:r>
            <a:endParaRPr lang="en-US" sz="1300" dirty="0"/>
          </a:p>
        </p:txBody>
      </p:sp>
      <p:sp>
        <p:nvSpPr>
          <p:cNvPr id="209" name="Text 207"/>
          <p:cNvSpPr txBox="1"/>
          <p:nvPr/>
        </p:nvSpPr>
        <p:spPr>
          <a:xfrm>
            <a:off x="6208776" y="4130936"/>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210" name="Shape 208"/>
          <p:cNvSpPr/>
          <p:nvPr/>
        </p:nvSpPr>
        <p:spPr>
          <a:xfrm>
            <a:off x="8357616" y="4158562"/>
            <a:ext cx="1272315" cy="174962"/>
          </a:xfrm>
          <a:prstGeom prst="rect">
            <a:avLst/>
          </a:prstGeom>
          <a:solidFill>
            <a:srgbClr val="2587C5"/>
          </a:solidFill>
          <a:ln w="6350">
            <a:solidFill>
              <a:srgbClr val="FFFFFF"/>
            </a:solidFill>
            <a:prstDash val="solid"/>
          </a:ln>
        </p:spPr>
      </p:sp>
      <p:sp>
        <p:nvSpPr>
          <p:cNvPr id="211" name="Text 209"/>
          <p:cNvSpPr txBox="1"/>
          <p:nvPr/>
        </p:nvSpPr>
        <p:spPr>
          <a:xfrm>
            <a:off x="8357616" y="4158562"/>
            <a:ext cx="1272315"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40</a:t>
            </a:r>
            <a:endParaRPr lang="en-US" sz="1300" dirty="0"/>
          </a:p>
        </p:txBody>
      </p:sp>
      <p:sp>
        <p:nvSpPr>
          <p:cNvPr id="212" name="Shape 210"/>
          <p:cNvSpPr/>
          <p:nvPr/>
        </p:nvSpPr>
        <p:spPr>
          <a:xfrm>
            <a:off x="9629931" y="4158562"/>
            <a:ext cx="1101342" cy="174962"/>
          </a:xfrm>
          <a:prstGeom prst="rect">
            <a:avLst/>
          </a:prstGeom>
          <a:solidFill>
            <a:srgbClr val="8FBEE6"/>
          </a:solidFill>
          <a:ln w="6350">
            <a:solidFill>
              <a:srgbClr val="FFFFFF"/>
            </a:solidFill>
            <a:prstDash val="solid"/>
          </a:ln>
        </p:spPr>
      </p:sp>
      <p:sp>
        <p:nvSpPr>
          <p:cNvPr id="213" name="Text 211"/>
          <p:cNvSpPr txBox="1"/>
          <p:nvPr/>
        </p:nvSpPr>
        <p:spPr>
          <a:xfrm>
            <a:off x="9629931" y="4158562"/>
            <a:ext cx="1101342"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35</a:t>
            </a:r>
            <a:endParaRPr lang="en-US" sz="1300" dirty="0"/>
          </a:p>
        </p:txBody>
      </p:sp>
      <p:sp>
        <p:nvSpPr>
          <p:cNvPr id="214" name="Shape 212"/>
          <p:cNvSpPr/>
          <p:nvPr/>
        </p:nvSpPr>
        <p:spPr>
          <a:xfrm>
            <a:off x="10731273" y="4158562"/>
            <a:ext cx="781023" cy="174962"/>
          </a:xfrm>
          <a:prstGeom prst="rect">
            <a:avLst/>
          </a:prstGeom>
          <a:solidFill>
            <a:srgbClr val="D9D9D9"/>
          </a:solidFill>
          <a:ln w="6350">
            <a:solidFill>
              <a:srgbClr val="FFFFFF"/>
            </a:solidFill>
            <a:prstDash val="solid"/>
          </a:ln>
        </p:spPr>
      </p:sp>
      <p:sp>
        <p:nvSpPr>
          <p:cNvPr id="215" name="Text 213"/>
          <p:cNvSpPr txBox="1"/>
          <p:nvPr/>
        </p:nvSpPr>
        <p:spPr>
          <a:xfrm>
            <a:off x="10731273" y="4158562"/>
            <a:ext cx="781023"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25</a:t>
            </a:r>
            <a:endParaRPr lang="en-US" sz="1300" dirty="0"/>
          </a:p>
        </p:txBody>
      </p:sp>
      <p:sp>
        <p:nvSpPr>
          <p:cNvPr id="216" name="Text 214"/>
          <p:cNvSpPr txBox="1"/>
          <p:nvPr/>
        </p:nvSpPr>
        <p:spPr>
          <a:xfrm>
            <a:off x="6208776" y="4361150"/>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217" name="Shape 215"/>
          <p:cNvSpPr/>
          <p:nvPr/>
        </p:nvSpPr>
        <p:spPr>
          <a:xfrm>
            <a:off x="8357616" y="4388776"/>
            <a:ext cx="1260841" cy="174962"/>
          </a:xfrm>
          <a:prstGeom prst="rect">
            <a:avLst/>
          </a:prstGeom>
          <a:solidFill>
            <a:srgbClr val="2587C5"/>
          </a:solidFill>
          <a:ln w="6350">
            <a:solidFill>
              <a:srgbClr val="FFFFFF"/>
            </a:solidFill>
            <a:prstDash val="solid"/>
          </a:ln>
        </p:spPr>
      </p:sp>
      <p:sp>
        <p:nvSpPr>
          <p:cNvPr id="218" name="Text 216"/>
          <p:cNvSpPr txBox="1"/>
          <p:nvPr/>
        </p:nvSpPr>
        <p:spPr>
          <a:xfrm>
            <a:off x="8357616" y="4388776"/>
            <a:ext cx="1260841"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40</a:t>
            </a:r>
            <a:endParaRPr lang="en-US" sz="1300" dirty="0"/>
          </a:p>
        </p:txBody>
      </p:sp>
      <p:sp>
        <p:nvSpPr>
          <p:cNvPr id="219" name="Shape 217"/>
          <p:cNvSpPr/>
          <p:nvPr/>
        </p:nvSpPr>
        <p:spPr>
          <a:xfrm>
            <a:off x="9618457" y="4388776"/>
            <a:ext cx="1210006" cy="174962"/>
          </a:xfrm>
          <a:prstGeom prst="rect">
            <a:avLst/>
          </a:prstGeom>
          <a:solidFill>
            <a:srgbClr val="8FBEE6"/>
          </a:solidFill>
          <a:ln w="6350">
            <a:solidFill>
              <a:srgbClr val="FFFFFF"/>
            </a:solidFill>
            <a:prstDash val="solid"/>
          </a:ln>
        </p:spPr>
      </p:sp>
      <p:sp>
        <p:nvSpPr>
          <p:cNvPr id="220" name="Text 218"/>
          <p:cNvSpPr txBox="1"/>
          <p:nvPr/>
        </p:nvSpPr>
        <p:spPr>
          <a:xfrm>
            <a:off x="9618457" y="4388776"/>
            <a:ext cx="1210006"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38</a:t>
            </a:r>
            <a:endParaRPr lang="en-US" sz="1300" dirty="0"/>
          </a:p>
        </p:txBody>
      </p:sp>
      <p:sp>
        <p:nvSpPr>
          <p:cNvPr id="221" name="Shape 219"/>
          <p:cNvSpPr/>
          <p:nvPr/>
        </p:nvSpPr>
        <p:spPr>
          <a:xfrm>
            <a:off x="10828463" y="4388776"/>
            <a:ext cx="683833" cy="174962"/>
          </a:xfrm>
          <a:prstGeom prst="rect">
            <a:avLst/>
          </a:prstGeom>
          <a:solidFill>
            <a:srgbClr val="D9D9D9"/>
          </a:solidFill>
          <a:ln w="6350">
            <a:solidFill>
              <a:srgbClr val="FFFFFF"/>
            </a:solidFill>
            <a:prstDash val="solid"/>
          </a:ln>
        </p:spPr>
      </p:sp>
      <p:sp>
        <p:nvSpPr>
          <p:cNvPr id="222" name="Text 220"/>
          <p:cNvSpPr txBox="1"/>
          <p:nvPr/>
        </p:nvSpPr>
        <p:spPr>
          <a:xfrm>
            <a:off x="10828463" y="4388776"/>
            <a:ext cx="683833"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22</a:t>
            </a:r>
            <a:endParaRPr lang="en-US" sz="1300" dirty="0"/>
          </a:p>
        </p:txBody>
      </p:sp>
      <p:sp>
        <p:nvSpPr>
          <p:cNvPr id="223" name="Text 221"/>
          <p:cNvSpPr txBox="1"/>
          <p:nvPr/>
        </p:nvSpPr>
        <p:spPr>
          <a:xfrm>
            <a:off x="6208776" y="4591364"/>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224" name="Shape 222"/>
          <p:cNvSpPr/>
          <p:nvPr/>
        </p:nvSpPr>
        <p:spPr>
          <a:xfrm>
            <a:off x="8357616" y="4618989"/>
            <a:ext cx="1237324" cy="174962"/>
          </a:xfrm>
          <a:prstGeom prst="rect">
            <a:avLst/>
          </a:prstGeom>
          <a:solidFill>
            <a:srgbClr val="2587C5"/>
          </a:solidFill>
          <a:ln w="6350">
            <a:solidFill>
              <a:srgbClr val="FFFFFF"/>
            </a:solidFill>
            <a:prstDash val="solid"/>
          </a:ln>
        </p:spPr>
      </p:sp>
      <p:sp>
        <p:nvSpPr>
          <p:cNvPr id="225" name="Text 223"/>
          <p:cNvSpPr txBox="1"/>
          <p:nvPr/>
        </p:nvSpPr>
        <p:spPr>
          <a:xfrm>
            <a:off x="8357616" y="4618989"/>
            <a:ext cx="1237324"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39</a:t>
            </a:r>
            <a:endParaRPr lang="en-US" sz="1300" dirty="0"/>
          </a:p>
        </p:txBody>
      </p:sp>
      <p:sp>
        <p:nvSpPr>
          <p:cNvPr id="226" name="Shape 224"/>
          <p:cNvSpPr/>
          <p:nvPr/>
        </p:nvSpPr>
        <p:spPr>
          <a:xfrm>
            <a:off x="9594940" y="4618989"/>
            <a:ext cx="995080" cy="174962"/>
          </a:xfrm>
          <a:prstGeom prst="rect">
            <a:avLst/>
          </a:prstGeom>
          <a:solidFill>
            <a:srgbClr val="8FBEE6"/>
          </a:solidFill>
          <a:ln w="6350">
            <a:solidFill>
              <a:srgbClr val="FFFFFF"/>
            </a:solidFill>
            <a:prstDash val="solid"/>
          </a:ln>
        </p:spPr>
      </p:sp>
      <p:sp>
        <p:nvSpPr>
          <p:cNvPr id="227" name="Text 225"/>
          <p:cNvSpPr txBox="1"/>
          <p:nvPr/>
        </p:nvSpPr>
        <p:spPr>
          <a:xfrm>
            <a:off x="9594940" y="4618989"/>
            <a:ext cx="995080"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32</a:t>
            </a:r>
            <a:endParaRPr lang="en-US" sz="1300" dirty="0"/>
          </a:p>
        </p:txBody>
      </p:sp>
      <p:sp>
        <p:nvSpPr>
          <p:cNvPr id="228" name="Shape 226"/>
          <p:cNvSpPr/>
          <p:nvPr/>
        </p:nvSpPr>
        <p:spPr>
          <a:xfrm>
            <a:off x="10590020" y="4618989"/>
            <a:ext cx="922276" cy="174962"/>
          </a:xfrm>
          <a:prstGeom prst="rect">
            <a:avLst/>
          </a:prstGeom>
          <a:solidFill>
            <a:srgbClr val="D9D9D9"/>
          </a:solidFill>
          <a:ln w="6350">
            <a:solidFill>
              <a:srgbClr val="FFFFFF"/>
            </a:solidFill>
            <a:prstDash val="solid"/>
          </a:ln>
        </p:spPr>
      </p:sp>
      <p:sp>
        <p:nvSpPr>
          <p:cNvPr id="229" name="Text 227"/>
          <p:cNvSpPr txBox="1"/>
          <p:nvPr/>
        </p:nvSpPr>
        <p:spPr>
          <a:xfrm>
            <a:off x="10590020" y="4618989"/>
            <a:ext cx="922276"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29</a:t>
            </a:r>
            <a:endParaRPr lang="en-US" sz="1300" dirty="0"/>
          </a:p>
        </p:txBody>
      </p:sp>
      <p:sp>
        <p:nvSpPr>
          <p:cNvPr id="230" name="Text 228"/>
          <p:cNvSpPr txBox="1"/>
          <p:nvPr/>
        </p:nvSpPr>
        <p:spPr>
          <a:xfrm>
            <a:off x="6208776" y="4821577"/>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231" name="Shape 229"/>
          <p:cNvSpPr/>
          <p:nvPr/>
        </p:nvSpPr>
        <p:spPr>
          <a:xfrm>
            <a:off x="8357616" y="4849203"/>
            <a:ext cx="1075368" cy="174962"/>
          </a:xfrm>
          <a:prstGeom prst="rect">
            <a:avLst/>
          </a:prstGeom>
          <a:solidFill>
            <a:srgbClr val="2587C5"/>
          </a:solidFill>
          <a:ln w="6350">
            <a:solidFill>
              <a:srgbClr val="FFFFFF"/>
            </a:solidFill>
            <a:prstDash val="solid"/>
          </a:ln>
        </p:spPr>
      </p:sp>
      <p:sp>
        <p:nvSpPr>
          <p:cNvPr id="232" name="Text 230"/>
          <p:cNvSpPr txBox="1"/>
          <p:nvPr/>
        </p:nvSpPr>
        <p:spPr>
          <a:xfrm>
            <a:off x="8357616" y="4849203"/>
            <a:ext cx="1075368"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34</a:t>
            </a:r>
            <a:endParaRPr lang="en-US" sz="1300" dirty="0"/>
          </a:p>
        </p:txBody>
      </p:sp>
      <p:sp>
        <p:nvSpPr>
          <p:cNvPr id="233" name="Shape 231"/>
          <p:cNvSpPr/>
          <p:nvPr/>
        </p:nvSpPr>
        <p:spPr>
          <a:xfrm>
            <a:off x="9432984" y="4849203"/>
            <a:ext cx="1647182" cy="174962"/>
          </a:xfrm>
          <a:prstGeom prst="rect">
            <a:avLst/>
          </a:prstGeom>
          <a:solidFill>
            <a:srgbClr val="8FBEE6"/>
          </a:solidFill>
          <a:ln w="6350">
            <a:solidFill>
              <a:srgbClr val="FFFFFF"/>
            </a:solidFill>
            <a:prstDash val="solid"/>
          </a:ln>
        </p:spPr>
      </p:sp>
      <p:sp>
        <p:nvSpPr>
          <p:cNvPr id="234" name="Text 232"/>
          <p:cNvSpPr txBox="1"/>
          <p:nvPr/>
        </p:nvSpPr>
        <p:spPr>
          <a:xfrm>
            <a:off x="9432984" y="4849203"/>
            <a:ext cx="1647182"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52</a:t>
            </a:r>
            <a:endParaRPr lang="en-US" sz="1300" dirty="0"/>
          </a:p>
        </p:txBody>
      </p:sp>
      <p:sp>
        <p:nvSpPr>
          <p:cNvPr id="235" name="Shape 233"/>
          <p:cNvSpPr/>
          <p:nvPr/>
        </p:nvSpPr>
        <p:spPr>
          <a:xfrm>
            <a:off x="11080165" y="4849203"/>
            <a:ext cx="432131" cy="174962"/>
          </a:xfrm>
          <a:prstGeom prst="rect">
            <a:avLst/>
          </a:prstGeom>
          <a:solidFill>
            <a:srgbClr val="D9D9D9"/>
          </a:solidFill>
          <a:ln w="6350">
            <a:solidFill>
              <a:srgbClr val="FFFFFF"/>
            </a:solidFill>
            <a:prstDash val="solid"/>
          </a:ln>
        </p:spPr>
      </p:sp>
      <p:sp>
        <p:nvSpPr>
          <p:cNvPr id="236" name="Text 234"/>
          <p:cNvSpPr txBox="1"/>
          <p:nvPr/>
        </p:nvSpPr>
        <p:spPr>
          <a:xfrm>
            <a:off x="11080165" y="4849203"/>
            <a:ext cx="432131"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14</a:t>
            </a:r>
            <a:endParaRPr lang="en-US" sz="1300" dirty="0"/>
          </a:p>
        </p:txBody>
      </p:sp>
      <p:sp>
        <p:nvSpPr>
          <p:cNvPr id="237" name="Text 235"/>
          <p:cNvSpPr txBox="1"/>
          <p:nvPr/>
        </p:nvSpPr>
        <p:spPr>
          <a:xfrm>
            <a:off x="6208776" y="5051791"/>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238" name="Shape 236"/>
          <p:cNvSpPr/>
          <p:nvPr/>
        </p:nvSpPr>
        <p:spPr>
          <a:xfrm>
            <a:off x="8357616" y="5079417"/>
            <a:ext cx="898846" cy="174962"/>
          </a:xfrm>
          <a:prstGeom prst="rect">
            <a:avLst/>
          </a:prstGeom>
          <a:solidFill>
            <a:srgbClr val="2587C5"/>
          </a:solidFill>
          <a:ln w="6350">
            <a:solidFill>
              <a:srgbClr val="FFFFFF"/>
            </a:solidFill>
            <a:prstDash val="solid"/>
          </a:ln>
        </p:spPr>
      </p:sp>
      <p:sp>
        <p:nvSpPr>
          <p:cNvPr id="239" name="Text 237"/>
          <p:cNvSpPr txBox="1"/>
          <p:nvPr/>
        </p:nvSpPr>
        <p:spPr>
          <a:xfrm>
            <a:off x="8357616" y="5079417"/>
            <a:ext cx="898846"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28</a:t>
            </a:r>
            <a:endParaRPr lang="en-US" sz="1300" dirty="0"/>
          </a:p>
        </p:txBody>
      </p:sp>
      <p:sp>
        <p:nvSpPr>
          <p:cNvPr id="240" name="Shape 238"/>
          <p:cNvSpPr/>
          <p:nvPr/>
        </p:nvSpPr>
        <p:spPr>
          <a:xfrm>
            <a:off x="9256462" y="5079417"/>
            <a:ext cx="1126586" cy="174962"/>
          </a:xfrm>
          <a:prstGeom prst="rect">
            <a:avLst/>
          </a:prstGeom>
          <a:solidFill>
            <a:srgbClr val="8FBEE6"/>
          </a:solidFill>
          <a:ln w="6350">
            <a:solidFill>
              <a:srgbClr val="FFFFFF"/>
            </a:solidFill>
            <a:prstDash val="solid"/>
          </a:ln>
        </p:spPr>
      </p:sp>
      <p:sp>
        <p:nvSpPr>
          <p:cNvPr id="241" name="Text 239"/>
          <p:cNvSpPr txBox="1"/>
          <p:nvPr/>
        </p:nvSpPr>
        <p:spPr>
          <a:xfrm>
            <a:off x="9256462" y="5079417"/>
            <a:ext cx="1126586"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36</a:t>
            </a:r>
            <a:endParaRPr lang="en-US" sz="1300" dirty="0"/>
          </a:p>
        </p:txBody>
      </p:sp>
      <p:sp>
        <p:nvSpPr>
          <p:cNvPr id="242" name="Shape 240"/>
          <p:cNvSpPr/>
          <p:nvPr/>
        </p:nvSpPr>
        <p:spPr>
          <a:xfrm>
            <a:off x="10383048" y="5079417"/>
            <a:ext cx="1129248" cy="174962"/>
          </a:xfrm>
          <a:prstGeom prst="rect">
            <a:avLst/>
          </a:prstGeom>
          <a:solidFill>
            <a:srgbClr val="D9D9D9"/>
          </a:solidFill>
          <a:ln w="6350">
            <a:solidFill>
              <a:srgbClr val="FFFFFF"/>
            </a:solidFill>
            <a:prstDash val="solid"/>
          </a:ln>
        </p:spPr>
      </p:sp>
      <p:sp>
        <p:nvSpPr>
          <p:cNvPr id="243" name="Text 241"/>
          <p:cNvSpPr txBox="1"/>
          <p:nvPr/>
        </p:nvSpPr>
        <p:spPr>
          <a:xfrm>
            <a:off x="10383048" y="5079417"/>
            <a:ext cx="1129248"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36</a:t>
            </a:r>
            <a:endParaRPr lang="en-US" sz="1300" dirty="0"/>
          </a:p>
        </p:txBody>
      </p:sp>
      <p:sp>
        <p:nvSpPr>
          <p:cNvPr id="244" name="Text 242"/>
          <p:cNvSpPr txBox="1"/>
          <p:nvPr/>
        </p:nvSpPr>
        <p:spPr>
          <a:xfrm>
            <a:off x="6208776" y="5282005"/>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245" name="Shape 243"/>
          <p:cNvSpPr/>
          <p:nvPr/>
        </p:nvSpPr>
        <p:spPr>
          <a:xfrm>
            <a:off x="8357616" y="5309630"/>
            <a:ext cx="880673" cy="174962"/>
          </a:xfrm>
          <a:prstGeom prst="rect">
            <a:avLst/>
          </a:prstGeom>
          <a:solidFill>
            <a:srgbClr val="2587C5"/>
          </a:solidFill>
          <a:ln w="6350">
            <a:solidFill>
              <a:srgbClr val="FFFFFF"/>
            </a:solidFill>
            <a:prstDash val="solid"/>
          </a:ln>
        </p:spPr>
      </p:sp>
      <p:sp>
        <p:nvSpPr>
          <p:cNvPr id="246" name="Text 244"/>
          <p:cNvSpPr txBox="1"/>
          <p:nvPr/>
        </p:nvSpPr>
        <p:spPr>
          <a:xfrm>
            <a:off x="8357616" y="5309630"/>
            <a:ext cx="880673"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28</a:t>
            </a:r>
            <a:endParaRPr lang="en-US" sz="1300" dirty="0"/>
          </a:p>
        </p:txBody>
      </p:sp>
      <p:sp>
        <p:nvSpPr>
          <p:cNvPr id="247" name="Shape 245"/>
          <p:cNvSpPr/>
          <p:nvPr/>
        </p:nvSpPr>
        <p:spPr>
          <a:xfrm>
            <a:off x="9238289" y="5309630"/>
            <a:ext cx="1619914" cy="174962"/>
          </a:xfrm>
          <a:prstGeom prst="rect">
            <a:avLst/>
          </a:prstGeom>
          <a:solidFill>
            <a:srgbClr val="8FBEE6"/>
          </a:solidFill>
          <a:ln w="6350">
            <a:solidFill>
              <a:srgbClr val="FFFFFF"/>
            </a:solidFill>
            <a:prstDash val="solid"/>
          </a:ln>
        </p:spPr>
      </p:sp>
      <p:sp>
        <p:nvSpPr>
          <p:cNvPr id="248" name="Text 246"/>
          <p:cNvSpPr txBox="1"/>
          <p:nvPr/>
        </p:nvSpPr>
        <p:spPr>
          <a:xfrm>
            <a:off x="9238289" y="5309630"/>
            <a:ext cx="1619914"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51</a:t>
            </a:r>
            <a:endParaRPr lang="en-US" sz="1300" dirty="0"/>
          </a:p>
        </p:txBody>
      </p:sp>
      <p:sp>
        <p:nvSpPr>
          <p:cNvPr id="249" name="Shape 247"/>
          <p:cNvSpPr/>
          <p:nvPr/>
        </p:nvSpPr>
        <p:spPr>
          <a:xfrm>
            <a:off x="10858202" y="5309630"/>
            <a:ext cx="654094" cy="174962"/>
          </a:xfrm>
          <a:prstGeom prst="rect">
            <a:avLst/>
          </a:prstGeom>
          <a:solidFill>
            <a:srgbClr val="D9D9D9"/>
          </a:solidFill>
          <a:ln w="6350">
            <a:solidFill>
              <a:srgbClr val="FFFFFF"/>
            </a:solidFill>
            <a:prstDash val="solid"/>
          </a:ln>
        </p:spPr>
      </p:sp>
      <p:sp>
        <p:nvSpPr>
          <p:cNvPr id="250" name="Text 248"/>
          <p:cNvSpPr txBox="1"/>
          <p:nvPr/>
        </p:nvSpPr>
        <p:spPr>
          <a:xfrm>
            <a:off x="10858202" y="5309630"/>
            <a:ext cx="654094"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21</a:t>
            </a:r>
            <a:endParaRPr lang="en-US" sz="1300" dirty="0"/>
          </a:p>
        </p:txBody>
      </p:sp>
      <p:sp>
        <p:nvSpPr>
          <p:cNvPr id="251" name="Shape 249"/>
          <p:cNvSpPr/>
          <p:nvPr/>
        </p:nvSpPr>
        <p:spPr>
          <a:xfrm>
            <a:off x="457200" y="5961888"/>
            <a:ext cx="11274552" cy="548640"/>
          </a:xfrm>
          <a:prstGeom prst="rect">
            <a:avLst/>
          </a:prstGeom>
          <a:solidFill>
            <a:srgbClr val="EDF4FA"/>
          </a:solidFill>
          <a:ln/>
        </p:spPr>
      </p:sp>
      <p:sp>
        <p:nvSpPr>
          <p:cNvPr id="252" name="Text 250"/>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Customer pay is 52.5% of labor sale (52.8% in 2025), warranty 23.8%, internal 23.7%. HONDA SPOKANE is most customer-pay at 70.3%.</a:t>
            </a:r>
            <a:endParaRPr lang="en-US" sz="16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LABOR MIX</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Customer Pay Share of Labor Sale</a:t>
            </a:r>
            <a:endParaRPr lang="en-US" sz="2800" dirty="0"/>
          </a:p>
        </p:txBody>
      </p:sp>
      <p:sp>
        <p:nvSpPr>
          <p:cNvPr id="5" name="Shape 3"/>
          <p:cNvSpPr/>
          <p:nvPr/>
        </p:nvSpPr>
        <p:spPr>
          <a:xfrm>
            <a:off x="457200" y="1207008"/>
            <a:ext cx="11274552" cy="1517904"/>
          </a:xfrm>
          <a:prstGeom prst="rect">
            <a:avLst/>
          </a:prstGeom>
          <a:solidFill>
            <a:srgbClr val="FFFFFF"/>
          </a:solidFill>
          <a:ln/>
        </p:spPr>
      </p:sp>
      <p:sp>
        <p:nvSpPr>
          <p:cNvPr id="6" name="Text 4"/>
          <p:cNvSpPr txBox="1"/>
          <p:nvPr/>
        </p:nvSpPr>
        <p:spPr>
          <a:xfrm>
            <a:off x="685800" y="1316736"/>
            <a:ext cx="10789920" cy="274320"/>
          </a:xfrm>
          <a:prstGeom prst="rect">
            <a:avLst/>
          </a:prstGeom>
          <a:noFill/>
          <a:ln/>
        </p:spPr>
        <p:txBody>
          <a:bodyPr wrap="square" lIns="0" tIns="0" rIns="0" bIns="0" rtlCol="0" anchor="ctr"/>
          <a:lstStyle/>
          <a:p>
            <a:pPr indent="0" marL="0">
              <a:buNone/>
            </a:pPr>
            <a:r>
              <a:rPr lang="en-US" sz="1400" spc="100" kern="0" dirty="0">
                <a:solidFill>
                  <a:srgbClr val="595959"/>
                </a:solidFill>
                <a:latin typeface="Inter" pitchFamily="34" charset="0"/>
                <a:ea typeface="Inter" pitchFamily="34" charset="-122"/>
                <a:cs typeface="Inter" pitchFamily="34" charset="-120"/>
              </a:rPr>
              <a:t>GROUP · JANUARY–SEPTEMBER · SAME-STORE, 33 STORES</a:t>
            </a:r>
            <a:endParaRPr lang="en-US" sz="1400" dirty="0"/>
          </a:p>
        </p:txBody>
      </p:sp>
      <p:sp>
        <p:nvSpPr>
          <p:cNvPr id="7" name="Text 5"/>
          <p:cNvSpPr txBox="1"/>
          <p:nvPr/>
        </p:nvSpPr>
        <p:spPr>
          <a:xfrm>
            <a:off x="68580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a:t>
            </a:r>
            <a:endParaRPr lang="en-US" sz="1400" dirty="0"/>
          </a:p>
        </p:txBody>
      </p:sp>
      <p:sp>
        <p:nvSpPr>
          <p:cNvPr id="8" name="Text 6"/>
          <p:cNvSpPr txBox="1"/>
          <p:nvPr/>
        </p:nvSpPr>
        <p:spPr>
          <a:xfrm>
            <a:off x="68580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52.8%</a:t>
            </a:r>
            <a:endParaRPr lang="en-US" sz="3000" dirty="0"/>
          </a:p>
        </p:txBody>
      </p:sp>
      <p:sp>
        <p:nvSpPr>
          <p:cNvPr id="9" name="Text 7"/>
          <p:cNvSpPr txBox="1"/>
          <p:nvPr/>
        </p:nvSpPr>
        <p:spPr>
          <a:xfrm>
            <a:off x="347472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a:t>
            </a:r>
            <a:endParaRPr lang="en-US" sz="1400" dirty="0"/>
          </a:p>
        </p:txBody>
      </p:sp>
      <p:sp>
        <p:nvSpPr>
          <p:cNvPr id="10" name="Text 8"/>
          <p:cNvSpPr txBox="1"/>
          <p:nvPr/>
        </p:nvSpPr>
        <p:spPr>
          <a:xfrm>
            <a:off x="347472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52.5%</a:t>
            </a:r>
            <a:endParaRPr lang="en-US" sz="3000" dirty="0"/>
          </a:p>
        </p:txBody>
      </p:sp>
      <p:sp>
        <p:nvSpPr>
          <p:cNvPr id="11" name="Text 9"/>
          <p:cNvSpPr txBox="1"/>
          <p:nvPr/>
        </p:nvSpPr>
        <p:spPr>
          <a:xfrm>
            <a:off x="626364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2" name="Text 10"/>
          <p:cNvSpPr txBox="1"/>
          <p:nvPr/>
        </p:nvSpPr>
        <p:spPr>
          <a:xfrm>
            <a:off x="6263640" y="1865376"/>
            <a:ext cx="2697480" cy="603504"/>
          </a:xfrm>
          <a:prstGeom prst="rect">
            <a:avLst/>
          </a:prstGeom>
          <a:noFill/>
          <a:ln/>
        </p:spPr>
        <p:txBody>
          <a:bodyPr wrap="square" lIns="0" tIns="0" rIns="0" bIns="0" rtlCol="0" anchor="ctr"/>
          <a:lstStyle/>
          <a:p>
            <a:pPr indent="0" marL="0">
              <a:buNone/>
            </a:pPr>
            <a:r>
              <a:rPr lang="en-US" sz="3000" b="1" dirty="0">
                <a:solidFill>
                  <a:srgbClr val="A82B26"/>
                </a:solidFill>
                <a:latin typeface="Inter" pitchFamily="34" charset="0"/>
                <a:ea typeface="Inter" pitchFamily="34" charset="-122"/>
                <a:cs typeface="Inter" pitchFamily="34" charset="-120"/>
              </a:rPr>
              <a:t>−0.3 pts</a:t>
            </a:r>
            <a:endParaRPr lang="en-US" sz="3000" dirty="0"/>
          </a:p>
        </p:txBody>
      </p:sp>
      <p:sp>
        <p:nvSpPr>
          <p:cNvPr id="13" name="Text 11"/>
          <p:cNvSpPr txBox="1"/>
          <p:nvPr/>
        </p:nvSpPr>
        <p:spPr>
          <a:xfrm>
            <a:off x="905256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4" name="Text 12"/>
          <p:cNvSpPr txBox="1"/>
          <p:nvPr/>
        </p:nvSpPr>
        <p:spPr>
          <a:xfrm>
            <a:off x="9052560" y="1865376"/>
            <a:ext cx="2697480" cy="603504"/>
          </a:xfrm>
          <a:prstGeom prst="rect">
            <a:avLst/>
          </a:prstGeom>
          <a:noFill/>
          <a:ln/>
        </p:spPr>
        <p:txBody>
          <a:bodyPr wrap="square" lIns="0" tIns="0" rIns="0" bIns="0" rtlCol="0" anchor="ctr"/>
          <a:lstStyle/>
          <a:p>
            <a:pPr indent="0" marL="0">
              <a:buNone/>
            </a:pPr>
            <a:r>
              <a:rPr lang="en-US" sz="3000" b="1" dirty="0">
                <a:solidFill>
                  <a:srgbClr val="A82B26"/>
                </a:solidFill>
                <a:latin typeface="Inter" pitchFamily="34" charset="0"/>
                <a:ea typeface="Inter" pitchFamily="34" charset="-122"/>
                <a:cs typeface="Inter" pitchFamily="34" charset="-120"/>
              </a:rPr>
              <a:t>−0.5%</a:t>
            </a:r>
            <a:endParaRPr lang="en-US" sz="30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7200" y="2816352"/>
          <a:ext cx="11274552" cy="914400"/>
        </p:xfrm>
        <a:graphic>
          <a:graphicData uri="http://schemas.openxmlformats.org/drawingml/2006/table">
            <a:tbl>
              <a:tblPr/>
              <a:tblGrid>
                <a:gridCol w="3118104"/>
                <a:gridCol w="2039112"/>
                <a:gridCol w="2039112"/>
                <a:gridCol w="2039112"/>
                <a:gridCol w="2039112"/>
              </a:tblGrid>
              <a:tr h="274320">
                <a:tc>
                  <a:txBody>
                    <a:bodyPr/>
                    <a:lstStyle/>
                    <a:p>
                      <a:pPr algn="l" indent="0" marL="0">
                        <a:buNone/>
                      </a:pPr>
                      <a:r>
                        <a:rPr lang="en-US" sz="1400" b="1" dirty="0">
                          <a:solidFill>
                            <a:srgbClr val="FFFFFF"/>
                          </a:solidFill>
                          <a:latin typeface="Inter" pitchFamily="34" charset="0"/>
                          <a:ea typeface="Inter" pitchFamily="34" charset="-122"/>
                          <a:cs typeface="Inter" pitchFamily="34" charset="-120"/>
                        </a:rPr>
                        <a:t>MONTH</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VARIANCE</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 %</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JAN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51.3%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52.3%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+1.0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FEB</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51.4%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51.7%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+0.2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52.8%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53.3%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+0.5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APR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52.5%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51.8%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−0.7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−1.3%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MAY</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53.9%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53.6%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−0.3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−0.5%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53.3%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53.4%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+0.0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JUL</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52.8%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52.4%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−0.4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−0.7%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AUG</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53.4%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53.1%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−0.3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−0.5%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SEP</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53.4%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50.7%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−2.7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−5.0%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16" name="Shape 13"/>
          <p:cNvSpPr/>
          <p:nvPr/>
        </p:nvSpPr>
        <p:spPr>
          <a:xfrm>
            <a:off x="457200" y="5961888"/>
            <a:ext cx="11274552" cy="548640"/>
          </a:xfrm>
          <a:prstGeom prst="rect">
            <a:avLst/>
          </a:prstGeom>
          <a:solidFill>
            <a:srgbClr val="FBEBEA"/>
          </a:solidFill>
          <a:ln/>
        </p:spPr>
      </p:sp>
      <p:sp>
        <p:nvSpPr>
          <p:cNvPr id="17" name="Text 14"/>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Down 0.3 pts to 52.5%, behind 2025 in five of nine months. Warranty labor rose 8.8%, internal rose 5.8%.</a:t>
            </a:r>
            <a:endParaRPr lang="en-US" sz="16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LABOR MIX</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Customer Pay Share of Labor Sale</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01168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GROUP</a:t>
            </a:r>
            <a:endParaRPr lang="en-US" sz="1500" dirty="0"/>
          </a:p>
        </p:txBody>
      </p:sp>
      <p:sp>
        <p:nvSpPr>
          <p:cNvPr id="9" name="Text 7"/>
          <p:cNvSpPr txBox="1"/>
          <p:nvPr/>
        </p:nvSpPr>
        <p:spPr>
          <a:xfrm>
            <a:off x="2834640" y="1335024"/>
            <a:ext cx="420624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SAME-STORE, 33 STORES</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−0.3 pts</a:t>
            </a:r>
            <a:endParaRPr lang="en-US" sz="2000" dirty="0"/>
          </a:p>
        </p:txBody>
      </p:sp>
      <p:sp>
        <p:nvSpPr>
          <p:cNvPr id="11" name="Text 9"/>
          <p:cNvSpPr txBox="1"/>
          <p:nvPr/>
        </p:nvSpPr>
        <p:spPr>
          <a:xfrm>
            <a:off x="658368"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12" name="Shape 10"/>
          <p:cNvSpPr/>
          <p:nvPr/>
        </p:nvSpPr>
        <p:spPr>
          <a:xfrm>
            <a:off x="3813048" y="1909246"/>
            <a:ext cx="822960" cy="105898"/>
          </a:xfrm>
          <a:prstGeom prst="rect">
            <a:avLst/>
          </a:prstGeom>
          <a:solidFill>
            <a:srgbClr val="12A566"/>
          </a:solidFill>
          <a:ln/>
        </p:spPr>
      </p:sp>
      <p:sp>
        <p:nvSpPr>
          <p:cNvPr id="13" name="Text 11"/>
          <p:cNvSpPr txBox="1"/>
          <p:nvPr/>
        </p:nvSpPr>
        <p:spPr>
          <a:xfrm>
            <a:off x="4709160"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+10.8 pts</a:t>
            </a:r>
            <a:endParaRPr lang="en-US" sz="1300" dirty="0"/>
          </a:p>
        </p:txBody>
      </p:sp>
      <p:sp>
        <p:nvSpPr>
          <p:cNvPr id="14" name="Text 12"/>
          <p:cNvSpPr txBox="1"/>
          <p:nvPr/>
        </p:nvSpPr>
        <p:spPr>
          <a:xfrm>
            <a:off x="658368"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15" name="Shape 13"/>
          <p:cNvSpPr/>
          <p:nvPr/>
        </p:nvSpPr>
        <p:spPr>
          <a:xfrm>
            <a:off x="3813048" y="2139459"/>
            <a:ext cx="743105" cy="105898"/>
          </a:xfrm>
          <a:prstGeom prst="rect">
            <a:avLst/>
          </a:prstGeom>
          <a:solidFill>
            <a:srgbClr val="12A566"/>
          </a:solidFill>
          <a:ln/>
        </p:spPr>
      </p:sp>
      <p:sp>
        <p:nvSpPr>
          <p:cNvPr id="16" name="Text 14"/>
          <p:cNvSpPr txBox="1"/>
          <p:nvPr/>
        </p:nvSpPr>
        <p:spPr>
          <a:xfrm>
            <a:off x="4709160"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+9.7 pts</a:t>
            </a:r>
            <a:endParaRPr lang="en-US" sz="1300" dirty="0"/>
          </a:p>
        </p:txBody>
      </p:sp>
      <p:sp>
        <p:nvSpPr>
          <p:cNvPr id="17" name="Text 15"/>
          <p:cNvSpPr txBox="1"/>
          <p:nvPr/>
        </p:nvSpPr>
        <p:spPr>
          <a:xfrm>
            <a:off x="658368"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18" name="Shape 16"/>
          <p:cNvSpPr/>
          <p:nvPr/>
        </p:nvSpPr>
        <p:spPr>
          <a:xfrm>
            <a:off x="3813048" y="2369673"/>
            <a:ext cx="727894" cy="105898"/>
          </a:xfrm>
          <a:prstGeom prst="rect">
            <a:avLst/>
          </a:prstGeom>
          <a:solidFill>
            <a:srgbClr val="12A566"/>
          </a:solidFill>
          <a:ln/>
        </p:spPr>
      </p:sp>
      <p:sp>
        <p:nvSpPr>
          <p:cNvPr id="19" name="Text 17"/>
          <p:cNvSpPr txBox="1"/>
          <p:nvPr/>
        </p:nvSpPr>
        <p:spPr>
          <a:xfrm>
            <a:off x="4709160"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+9.5 pts</a:t>
            </a:r>
            <a:endParaRPr lang="en-US" sz="1300" dirty="0"/>
          </a:p>
        </p:txBody>
      </p:sp>
      <p:sp>
        <p:nvSpPr>
          <p:cNvPr id="20" name="Text 18"/>
          <p:cNvSpPr txBox="1"/>
          <p:nvPr/>
        </p:nvSpPr>
        <p:spPr>
          <a:xfrm>
            <a:off x="658368"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21" name="Shape 19"/>
          <p:cNvSpPr/>
          <p:nvPr/>
        </p:nvSpPr>
        <p:spPr>
          <a:xfrm>
            <a:off x="3813048" y="2599887"/>
            <a:ext cx="707067" cy="105898"/>
          </a:xfrm>
          <a:prstGeom prst="rect">
            <a:avLst/>
          </a:prstGeom>
          <a:solidFill>
            <a:srgbClr val="12A566"/>
          </a:solidFill>
          <a:ln/>
        </p:spPr>
      </p:sp>
      <p:sp>
        <p:nvSpPr>
          <p:cNvPr id="22" name="Text 20"/>
          <p:cNvSpPr txBox="1"/>
          <p:nvPr/>
        </p:nvSpPr>
        <p:spPr>
          <a:xfrm>
            <a:off x="4709160"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+9.3 pts</a:t>
            </a:r>
            <a:endParaRPr lang="en-US" sz="1300" dirty="0"/>
          </a:p>
        </p:txBody>
      </p:sp>
      <p:sp>
        <p:nvSpPr>
          <p:cNvPr id="23" name="Text 21"/>
          <p:cNvSpPr txBox="1"/>
          <p:nvPr/>
        </p:nvSpPr>
        <p:spPr>
          <a:xfrm>
            <a:off x="658368"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24" name="Shape 22"/>
          <p:cNvSpPr/>
          <p:nvPr/>
        </p:nvSpPr>
        <p:spPr>
          <a:xfrm>
            <a:off x="3813048" y="2830100"/>
            <a:ext cx="680568" cy="105898"/>
          </a:xfrm>
          <a:prstGeom prst="rect">
            <a:avLst/>
          </a:prstGeom>
          <a:solidFill>
            <a:srgbClr val="12A566"/>
          </a:solidFill>
          <a:ln/>
        </p:spPr>
      </p:sp>
      <p:sp>
        <p:nvSpPr>
          <p:cNvPr id="25" name="Text 23"/>
          <p:cNvSpPr txBox="1"/>
          <p:nvPr/>
        </p:nvSpPr>
        <p:spPr>
          <a:xfrm>
            <a:off x="4709160"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+8.9 pts</a:t>
            </a:r>
            <a:endParaRPr lang="en-US" sz="1300" dirty="0"/>
          </a:p>
        </p:txBody>
      </p:sp>
      <p:sp>
        <p:nvSpPr>
          <p:cNvPr id="26" name="Text 24"/>
          <p:cNvSpPr txBox="1"/>
          <p:nvPr/>
        </p:nvSpPr>
        <p:spPr>
          <a:xfrm>
            <a:off x="658368"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27" name="Shape 25"/>
          <p:cNvSpPr/>
          <p:nvPr/>
        </p:nvSpPr>
        <p:spPr>
          <a:xfrm>
            <a:off x="3813048" y="3060314"/>
            <a:ext cx="484894" cy="105898"/>
          </a:xfrm>
          <a:prstGeom prst="rect">
            <a:avLst/>
          </a:prstGeom>
          <a:solidFill>
            <a:srgbClr val="12A566"/>
          </a:solidFill>
          <a:ln/>
        </p:spPr>
      </p:sp>
      <p:sp>
        <p:nvSpPr>
          <p:cNvPr id="28" name="Text 26"/>
          <p:cNvSpPr txBox="1"/>
          <p:nvPr/>
        </p:nvSpPr>
        <p:spPr>
          <a:xfrm>
            <a:off x="4709160"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+6.4 pts</a:t>
            </a:r>
            <a:endParaRPr lang="en-US" sz="1300" dirty="0"/>
          </a:p>
        </p:txBody>
      </p:sp>
      <p:sp>
        <p:nvSpPr>
          <p:cNvPr id="29" name="Text 27"/>
          <p:cNvSpPr txBox="1"/>
          <p:nvPr/>
        </p:nvSpPr>
        <p:spPr>
          <a:xfrm>
            <a:off x="658368"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30" name="Shape 28"/>
          <p:cNvSpPr/>
          <p:nvPr/>
        </p:nvSpPr>
        <p:spPr>
          <a:xfrm>
            <a:off x="3813048" y="3290528"/>
            <a:ext cx="408598" cy="105898"/>
          </a:xfrm>
          <a:prstGeom prst="rect">
            <a:avLst/>
          </a:prstGeom>
          <a:solidFill>
            <a:srgbClr val="12A566"/>
          </a:solidFill>
          <a:ln/>
        </p:spPr>
      </p:sp>
      <p:sp>
        <p:nvSpPr>
          <p:cNvPr id="31" name="Text 29"/>
          <p:cNvSpPr txBox="1"/>
          <p:nvPr/>
        </p:nvSpPr>
        <p:spPr>
          <a:xfrm>
            <a:off x="4709160" y="3228370"/>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+5.4 pts</a:t>
            </a:r>
            <a:endParaRPr lang="en-US" sz="1300" dirty="0"/>
          </a:p>
        </p:txBody>
      </p:sp>
      <p:sp>
        <p:nvSpPr>
          <p:cNvPr id="32" name="Text 30"/>
          <p:cNvSpPr txBox="1"/>
          <p:nvPr/>
        </p:nvSpPr>
        <p:spPr>
          <a:xfrm>
            <a:off x="658368"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33" name="Shape 31"/>
          <p:cNvSpPr/>
          <p:nvPr/>
        </p:nvSpPr>
        <p:spPr>
          <a:xfrm>
            <a:off x="3813048" y="3520741"/>
            <a:ext cx="330015" cy="105898"/>
          </a:xfrm>
          <a:prstGeom prst="rect">
            <a:avLst/>
          </a:prstGeom>
          <a:solidFill>
            <a:srgbClr val="12A566"/>
          </a:solidFill>
          <a:ln/>
        </p:spPr>
      </p:sp>
      <p:sp>
        <p:nvSpPr>
          <p:cNvPr id="34" name="Text 32"/>
          <p:cNvSpPr txBox="1"/>
          <p:nvPr/>
        </p:nvSpPr>
        <p:spPr>
          <a:xfrm>
            <a:off x="4709160" y="345858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+4.3 pts</a:t>
            </a:r>
            <a:endParaRPr lang="en-US" sz="1300" dirty="0"/>
          </a:p>
        </p:txBody>
      </p:sp>
      <p:sp>
        <p:nvSpPr>
          <p:cNvPr id="35" name="Text 33"/>
          <p:cNvSpPr txBox="1"/>
          <p:nvPr/>
        </p:nvSpPr>
        <p:spPr>
          <a:xfrm>
            <a:off x="658368"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36" name="Shape 34"/>
          <p:cNvSpPr/>
          <p:nvPr/>
        </p:nvSpPr>
        <p:spPr>
          <a:xfrm>
            <a:off x="3813048" y="3750955"/>
            <a:ext cx="323582" cy="105898"/>
          </a:xfrm>
          <a:prstGeom prst="rect">
            <a:avLst/>
          </a:prstGeom>
          <a:solidFill>
            <a:srgbClr val="12A566"/>
          </a:solidFill>
          <a:ln/>
        </p:spPr>
      </p:sp>
      <p:sp>
        <p:nvSpPr>
          <p:cNvPr id="37" name="Text 35"/>
          <p:cNvSpPr txBox="1"/>
          <p:nvPr/>
        </p:nvSpPr>
        <p:spPr>
          <a:xfrm>
            <a:off x="4709160" y="3688797"/>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+4.2 pts</a:t>
            </a:r>
            <a:endParaRPr lang="en-US" sz="1300" dirty="0"/>
          </a:p>
        </p:txBody>
      </p:sp>
      <p:sp>
        <p:nvSpPr>
          <p:cNvPr id="38" name="Text 36"/>
          <p:cNvSpPr txBox="1"/>
          <p:nvPr/>
        </p:nvSpPr>
        <p:spPr>
          <a:xfrm>
            <a:off x="658368"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39" name="Shape 37"/>
          <p:cNvSpPr/>
          <p:nvPr/>
        </p:nvSpPr>
        <p:spPr>
          <a:xfrm>
            <a:off x="3813048" y="3981169"/>
            <a:ext cx="300859" cy="105898"/>
          </a:xfrm>
          <a:prstGeom prst="rect">
            <a:avLst/>
          </a:prstGeom>
          <a:solidFill>
            <a:srgbClr val="12A566"/>
          </a:solidFill>
          <a:ln/>
        </p:spPr>
      </p:sp>
      <p:sp>
        <p:nvSpPr>
          <p:cNvPr id="40" name="Text 38"/>
          <p:cNvSpPr txBox="1"/>
          <p:nvPr/>
        </p:nvSpPr>
        <p:spPr>
          <a:xfrm>
            <a:off x="4709160" y="3919011"/>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+3.9 pts</a:t>
            </a:r>
            <a:endParaRPr lang="en-US" sz="1300" dirty="0"/>
          </a:p>
        </p:txBody>
      </p:sp>
      <p:sp>
        <p:nvSpPr>
          <p:cNvPr id="41" name="Text 39"/>
          <p:cNvSpPr txBox="1"/>
          <p:nvPr/>
        </p:nvSpPr>
        <p:spPr>
          <a:xfrm>
            <a:off x="658368"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42" name="Shape 40"/>
          <p:cNvSpPr/>
          <p:nvPr/>
        </p:nvSpPr>
        <p:spPr>
          <a:xfrm>
            <a:off x="3813048" y="4211382"/>
            <a:ext cx="245187" cy="105898"/>
          </a:xfrm>
          <a:prstGeom prst="rect">
            <a:avLst/>
          </a:prstGeom>
          <a:solidFill>
            <a:srgbClr val="12A566"/>
          </a:solidFill>
          <a:ln/>
        </p:spPr>
      </p:sp>
      <p:sp>
        <p:nvSpPr>
          <p:cNvPr id="43" name="Text 41"/>
          <p:cNvSpPr txBox="1"/>
          <p:nvPr/>
        </p:nvSpPr>
        <p:spPr>
          <a:xfrm>
            <a:off x="4709160" y="414922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+3.2 pts</a:t>
            </a:r>
            <a:endParaRPr lang="en-US" sz="1300" dirty="0"/>
          </a:p>
        </p:txBody>
      </p:sp>
      <p:sp>
        <p:nvSpPr>
          <p:cNvPr id="44" name="Text 42"/>
          <p:cNvSpPr txBox="1"/>
          <p:nvPr/>
        </p:nvSpPr>
        <p:spPr>
          <a:xfrm>
            <a:off x="658368"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45" name="Shape 43"/>
          <p:cNvSpPr/>
          <p:nvPr/>
        </p:nvSpPr>
        <p:spPr>
          <a:xfrm>
            <a:off x="3813048" y="4441596"/>
            <a:ext cx="192673" cy="105898"/>
          </a:xfrm>
          <a:prstGeom prst="rect">
            <a:avLst/>
          </a:prstGeom>
          <a:solidFill>
            <a:srgbClr val="12A566"/>
          </a:solidFill>
          <a:ln/>
        </p:spPr>
      </p:sp>
      <p:sp>
        <p:nvSpPr>
          <p:cNvPr id="46" name="Text 44"/>
          <p:cNvSpPr txBox="1"/>
          <p:nvPr/>
        </p:nvSpPr>
        <p:spPr>
          <a:xfrm>
            <a:off x="4709160" y="437943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+2.5 pts</a:t>
            </a:r>
            <a:endParaRPr lang="en-US" sz="1300" dirty="0"/>
          </a:p>
        </p:txBody>
      </p:sp>
      <p:sp>
        <p:nvSpPr>
          <p:cNvPr id="47" name="Text 45"/>
          <p:cNvSpPr txBox="1"/>
          <p:nvPr/>
        </p:nvSpPr>
        <p:spPr>
          <a:xfrm>
            <a:off x="658368"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48" name="Shape 46"/>
          <p:cNvSpPr/>
          <p:nvPr/>
        </p:nvSpPr>
        <p:spPr>
          <a:xfrm>
            <a:off x="3813048" y="4671809"/>
            <a:ext cx="185671" cy="105898"/>
          </a:xfrm>
          <a:prstGeom prst="rect">
            <a:avLst/>
          </a:prstGeom>
          <a:solidFill>
            <a:srgbClr val="12A566"/>
          </a:solidFill>
          <a:ln/>
        </p:spPr>
      </p:sp>
      <p:sp>
        <p:nvSpPr>
          <p:cNvPr id="49" name="Text 47"/>
          <p:cNvSpPr txBox="1"/>
          <p:nvPr/>
        </p:nvSpPr>
        <p:spPr>
          <a:xfrm>
            <a:off x="4709160" y="460965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+2.4 pts</a:t>
            </a:r>
            <a:endParaRPr lang="en-US" sz="1300" dirty="0"/>
          </a:p>
        </p:txBody>
      </p:sp>
      <p:sp>
        <p:nvSpPr>
          <p:cNvPr id="50" name="Text 48"/>
          <p:cNvSpPr txBox="1"/>
          <p:nvPr/>
        </p:nvSpPr>
        <p:spPr>
          <a:xfrm>
            <a:off x="658368"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51" name="Shape 49"/>
          <p:cNvSpPr/>
          <p:nvPr/>
        </p:nvSpPr>
        <p:spPr>
          <a:xfrm>
            <a:off x="3813048" y="4902023"/>
            <a:ext cx="97498" cy="105898"/>
          </a:xfrm>
          <a:prstGeom prst="rect">
            <a:avLst/>
          </a:prstGeom>
          <a:solidFill>
            <a:srgbClr val="12A566"/>
          </a:solidFill>
          <a:ln/>
        </p:spPr>
      </p:sp>
      <p:sp>
        <p:nvSpPr>
          <p:cNvPr id="52" name="Text 50"/>
          <p:cNvSpPr txBox="1"/>
          <p:nvPr/>
        </p:nvSpPr>
        <p:spPr>
          <a:xfrm>
            <a:off x="4709160" y="483986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+1.3 pts</a:t>
            </a:r>
            <a:endParaRPr lang="en-US" sz="1300" dirty="0"/>
          </a:p>
        </p:txBody>
      </p:sp>
      <p:sp>
        <p:nvSpPr>
          <p:cNvPr id="53" name="Text 51"/>
          <p:cNvSpPr txBox="1"/>
          <p:nvPr/>
        </p:nvSpPr>
        <p:spPr>
          <a:xfrm>
            <a:off x="658368"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54" name="Shape 52"/>
          <p:cNvSpPr/>
          <p:nvPr/>
        </p:nvSpPr>
        <p:spPr>
          <a:xfrm>
            <a:off x="3813048" y="5132237"/>
            <a:ext cx="78434" cy="105898"/>
          </a:xfrm>
          <a:prstGeom prst="rect">
            <a:avLst/>
          </a:prstGeom>
          <a:solidFill>
            <a:srgbClr val="12A566"/>
          </a:solidFill>
          <a:ln/>
        </p:spPr>
      </p:sp>
      <p:sp>
        <p:nvSpPr>
          <p:cNvPr id="55" name="Text 53"/>
          <p:cNvSpPr txBox="1"/>
          <p:nvPr/>
        </p:nvSpPr>
        <p:spPr>
          <a:xfrm>
            <a:off x="4709160" y="507007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 pts</a:t>
            </a:r>
            <a:endParaRPr lang="en-US" sz="1300" dirty="0"/>
          </a:p>
        </p:txBody>
      </p:sp>
      <p:sp>
        <p:nvSpPr>
          <p:cNvPr id="56" name="Text 54"/>
          <p:cNvSpPr txBox="1"/>
          <p:nvPr/>
        </p:nvSpPr>
        <p:spPr>
          <a:xfrm>
            <a:off x="658368"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57" name="Shape 55"/>
          <p:cNvSpPr/>
          <p:nvPr/>
        </p:nvSpPr>
        <p:spPr>
          <a:xfrm>
            <a:off x="3813048" y="5362450"/>
            <a:ext cx="57563" cy="105898"/>
          </a:xfrm>
          <a:prstGeom prst="rect">
            <a:avLst/>
          </a:prstGeom>
          <a:solidFill>
            <a:srgbClr val="12A566"/>
          </a:solidFill>
          <a:ln/>
        </p:spPr>
      </p:sp>
      <p:sp>
        <p:nvSpPr>
          <p:cNvPr id="58" name="Text 56"/>
          <p:cNvSpPr txBox="1"/>
          <p:nvPr/>
        </p:nvSpPr>
        <p:spPr>
          <a:xfrm>
            <a:off x="4709160" y="530029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+0.8 pts</a:t>
            </a:r>
            <a:endParaRPr lang="en-US" sz="1300" dirty="0"/>
          </a:p>
        </p:txBody>
      </p:sp>
      <p:sp>
        <p:nvSpPr>
          <p:cNvPr id="59" name="Text 57"/>
          <p:cNvSpPr txBox="1"/>
          <p:nvPr/>
        </p:nvSpPr>
        <p:spPr>
          <a:xfrm>
            <a:off x="658368" y="553050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60" name="Shape 58"/>
          <p:cNvSpPr/>
          <p:nvPr/>
        </p:nvSpPr>
        <p:spPr>
          <a:xfrm>
            <a:off x="3813048" y="5592664"/>
            <a:ext cx="17603" cy="105898"/>
          </a:xfrm>
          <a:prstGeom prst="rect">
            <a:avLst/>
          </a:prstGeom>
          <a:solidFill>
            <a:srgbClr val="12A566"/>
          </a:solidFill>
          <a:ln/>
        </p:spPr>
      </p:sp>
      <p:sp>
        <p:nvSpPr>
          <p:cNvPr id="61" name="Text 59"/>
          <p:cNvSpPr txBox="1"/>
          <p:nvPr/>
        </p:nvSpPr>
        <p:spPr>
          <a:xfrm>
            <a:off x="4709160" y="553050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+0.2 pts</a:t>
            </a:r>
            <a:endParaRPr lang="en-US" sz="1300" dirty="0"/>
          </a:p>
        </p:txBody>
      </p:sp>
      <p:sp>
        <p:nvSpPr>
          <p:cNvPr id="62" name="Text 60"/>
          <p:cNvSpPr txBox="1"/>
          <p:nvPr/>
        </p:nvSpPr>
        <p:spPr>
          <a:xfrm>
            <a:off x="6208776"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63" name="Shape 61"/>
          <p:cNvSpPr/>
          <p:nvPr/>
        </p:nvSpPr>
        <p:spPr>
          <a:xfrm>
            <a:off x="9363456" y="1909246"/>
            <a:ext cx="12802" cy="105898"/>
          </a:xfrm>
          <a:prstGeom prst="rect">
            <a:avLst/>
          </a:prstGeom>
          <a:solidFill>
            <a:srgbClr val="12A566"/>
          </a:solidFill>
          <a:ln/>
        </p:spPr>
      </p:sp>
      <p:sp>
        <p:nvSpPr>
          <p:cNvPr id="64" name="Text 62"/>
          <p:cNvSpPr txBox="1"/>
          <p:nvPr/>
        </p:nvSpPr>
        <p:spPr>
          <a:xfrm>
            <a:off x="10259568"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+0.1 pts</a:t>
            </a:r>
            <a:endParaRPr lang="en-US" sz="1300" dirty="0"/>
          </a:p>
        </p:txBody>
      </p:sp>
      <p:sp>
        <p:nvSpPr>
          <p:cNvPr id="65" name="Text 63"/>
          <p:cNvSpPr txBox="1"/>
          <p:nvPr/>
        </p:nvSpPr>
        <p:spPr>
          <a:xfrm>
            <a:off x="6208776"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66" name="Shape 64"/>
          <p:cNvSpPr/>
          <p:nvPr/>
        </p:nvSpPr>
        <p:spPr>
          <a:xfrm>
            <a:off x="9363456" y="2139459"/>
            <a:ext cx="12802" cy="105898"/>
          </a:xfrm>
          <a:prstGeom prst="rect">
            <a:avLst/>
          </a:prstGeom>
          <a:solidFill>
            <a:srgbClr val="12A566"/>
          </a:solidFill>
          <a:ln/>
        </p:spPr>
      </p:sp>
      <p:sp>
        <p:nvSpPr>
          <p:cNvPr id="67" name="Text 65"/>
          <p:cNvSpPr txBox="1"/>
          <p:nvPr/>
        </p:nvSpPr>
        <p:spPr>
          <a:xfrm>
            <a:off x="10259568"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+0.1 pts</a:t>
            </a:r>
            <a:endParaRPr lang="en-US" sz="1300" dirty="0"/>
          </a:p>
        </p:txBody>
      </p:sp>
      <p:sp>
        <p:nvSpPr>
          <p:cNvPr id="68" name="Text 66"/>
          <p:cNvSpPr txBox="1"/>
          <p:nvPr/>
        </p:nvSpPr>
        <p:spPr>
          <a:xfrm>
            <a:off x="6208776"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69" name="Shape 67"/>
          <p:cNvSpPr/>
          <p:nvPr/>
        </p:nvSpPr>
        <p:spPr>
          <a:xfrm>
            <a:off x="9358424" y="2369673"/>
            <a:ext cx="12802" cy="105898"/>
          </a:xfrm>
          <a:prstGeom prst="rect">
            <a:avLst/>
          </a:prstGeom>
          <a:solidFill>
            <a:srgbClr val="C2352F"/>
          </a:solidFill>
          <a:ln/>
        </p:spPr>
      </p:sp>
      <p:sp>
        <p:nvSpPr>
          <p:cNvPr id="70" name="Text 68"/>
          <p:cNvSpPr txBox="1"/>
          <p:nvPr/>
        </p:nvSpPr>
        <p:spPr>
          <a:xfrm>
            <a:off x="10259568" y="2307515"/>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−0.1 pts</a:t>
            </a:r>
            <a:endParaRPr lang="en-US" sz="1300" dirty="0"/>
          </a:p>
        </p:txBody>
      </p:sp>
      <p:sp>
        <p:nvSpPr>
          <p:cNvPr id="71" name="Text 69"/>
          <p:cNvSpPr txBox="1"/>
          <p:nvPr/>
        </p:nvSpPr>
        <p:spPr>
          <a:xfrm>
            <a:off x="6208776"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72" name="Shape 70"/>
          <p:cNvSpPr/>
          <p:nvPr/>
        </p:nvSpPr>
        <p:spPr>
          <a:xfrm>
            <a:off x="9344965" y="2599887"/>
            <a:ext cx="18491" cy="105898"/>
          </a:xfrm>
          <a:prstGeom prst="rect">
            <a:avLst/>
          </a:prstGeom>
          <a:solidFill>
            <a:srgbClr val="C2352F"/>
          </a:solidFill>
          <a:ln/>
        </p:spPr>
      </p:sp>
      <p:sp>
        <p:nvSpPr>
          <p:cNvPr id="73" name="Text 71"/>
          <p:cNvSpPr txBox="1"/>
          <p:nvPr/>
        </p:nvSpPr>
        <p:spPr>
          <a:xfrm>
            <a:off x="10259568" y="2537729"/>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−0.2 pts</a:t>
            </a:r>
            <a:endParaRPr lang="en-US" sz="1300" dirty="0"/>
          </a:p>
        </p:txBody>
      </p:sp>
      <p:sp>
        <p:nvSpPr>
          <p:cNvPr id="74" name="Text 72"/>
          <p:cNvSpPr txBox="1"/>
          <p:nvPr/>
        </p:nvSpPr>
        <p:spPr>
          <a:xfrm>
            <a:off x="6208776"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75" name="Shape 73"/>
          <p:cNvSpPr/>
          <p:nvPr/>
        </p:nvSpPr>
        <p:spPr>
          <a:xfrm>
            <a:off x="9338492" y="2830100"/>
            <a:ext cx="24964" cy="105898"/>
          </a:xfrm>
          <a:prstGeom prst="rect">
            <a:avLst/>
          </a:prstGeom>
          <a:solidFill>
            <a:srgbClr val="C2352F"/>
          </a:solidFill>
          <a:ln/>
        </p:spPr>
      </p:sp>
      <p:sp>
        <p:nvSpPr>
          <p:cNvPr id="76" name="Text 74"/>
          <p:cNvSpPr txBox="1"/>
          <p:nvPr/>
        </p:nvSpPr>
        <p:spPr>
          <a:xfrm>
            <a:off x="10259568" y="276794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−0.3 pts</a:t>
            </a:r>
            <a:endParaRPr lang="en-US" sz="1300" dirty="0"/>
          </a:p>
        </p:txBody>
      </p:sp>
      <p:sp>
        <p:nvSpPr>
          <p:cNvPr id="77" name="Text 75"/>
          <p:cNvSpPr txBox="1"/>
          <p:nvPr/>
        </p:nvSpPr>
        <p:spPr>
          <a:xfrm>
            <a:off x="6208776"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78" name="Shape 76"/>
          <p:cNvSpPr/>
          <p:nvPr/>
        </p:nvSpPr>
        <p:spPr>
          <a:xfrm>
            <a:off x="9277829" y="3060314"/>
            <a:ext cx="85627" cy="105898"/>
          </a:xfrm>
          <a:prstGeom prst="rect">
            <a:avLst/>
          </a:prstGeom>
          <a:solidFill>
            <a:srgbClr val="C2352F"/>
          </a:solidFill>
          <a:ln/>
        </p:spPr>
      </p:sp>
      <p:sp>
        <p:nvSpPr>
          <p:cNvPr id="79" name="Text 77"/>
          <p:cNvSpPr txBox="1"/>
          <p:nvPr/>
        </p:nvSpPr>
        <p:spPr>
          <a:xfrm>
            <a:off x="10259568" y="2998156"/>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 pts</a:t>
            </a:r>
            <a:endParaRPr lang="en-US" sz="1300" dirty="0"/>
          </a:p>
        </p:txBody>
      </p:sp>
      <p:sp>
        <p:nvSpPr>
          <p:cNvPr id="80" name="Text 78"/>
          <p:cNvSpPr txBox="1"/>
          <p:nvPr/>
        </p:nvSpPr>
        <p:spPr>
          <a:xfrm>
            <a:off x="6208776"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81" name="Shape 79"/>
          <p:cNvSpPr/>
          <p:nvPr/>
        </p:nvSpPr>
        <p:spPr>
          <a:xfrm>
            <a:off x="9261030" y="3290528"/>
            <a:ext cx="102426" cy="105898"/>
          </a:xfrm>
          <a:prstGeom prst="rect">
            <a:avLst/>
          </a:prstGeom>
          <a:solidFill>
            <a:srgbClr val="C2352F"/>
          </a:solidFill>
          <a:ln/>
        </p:spPr>
      </p:sp>
      <p:sp>
        <p:nvSpPr>
          <p:cNvPr id="82" name="Text 80"/>
          <p:cNvSpPr txBox="1"/>
          <p:nvPr/>
        </p:nvSpPr>
        <p:spPr>
          <a:xfrm>
            <a:off x="10259568" y="3228370"/>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−1.3 pts</a:t>
            </a:r>
            <a:endParaRPr lang="en-US" sz="1300" dirty="0"/>
          </a:p>
        </p:txBody>
      </p:sp>
      <p:sp>
        <p:nvSpPr>
          <p:cNvPr id="83" name="Text 81"/>
          <p:cNvSpPr txBox="1"/>
          <p:nvPr/>
        </p:nvSpPr>
        <p:spPr>
          <a:xfrm>
            <a:off x="6208776"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84" name="Shape 82"/>
          <p:cNvSpPr/>
          <p:nvPr/>
        </p:nvSpPr>
        <p:spPr>
          <a:xfrm>
            <a:off x="9255627" y="3520741"/>
            <a:ext cx="107829" cy="105898"/>
          </a:xfrm>
          <a:prstGeom prst="rect">
            <a:avLst/>
          </a:prstGeom>
          <a:solidFill>
            <a:srgbClr val="C2352F"/>
          </a:solidFill>
          <a:ln/>
        </p:spPr>
      </p:sp>
      <p:sp>
        <p:nvSpPr>
          <p:cNvPr id="85" name="Text 83"/>
          <p:cNvSpPr txBox="1"/>
          <p:nvPr/>
        </p:nvSpPr>
        <p:spPr>
          <a:xfrm>
            <a:off x="10259568" y="345858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 pts</a:t>
            </a:r>
            <a:endParaRPr lang="en-US" sz="1300" dirty="0"/>
          </a:p>
        </p:txBody>
      </p:sp>
      <p:sp>
        <p:nvSpPr>
          <p:cNvPr id="86" name="Text 84"/>
          <p:cNvSpPr txBox="1"/>
          <p:nvPr/>
        </p:nvSpPr>
        <p:spPr>
          <a:xfrm>
            <a:off x="6208776"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87" name="Shape 85"/>
          <p:cNvSpPr/>
          <p:nvPr/>
        </p:nvSpPr>
        <p:spPr>
          <a:xfrm>
            <a:off x="9187462" y="3750955"/>
            <a:ext cx="175994" cy="105898"/>
          </a:xfrm>
          <a:prstGeom prst="rect">
            <a:avLst/>
          </a:prstGeom>
          <a:solidFill>
            <a:srgbClr val="C2352F"/>
          </a:solidFill>
          <a:ln/>
        </p:spPr>
      </p:sp>
      <p:sp>
        <p:nvSpPr>
          <p:cNvPr id="88" name="Text 86"/>
          <p:cNvSpPr txBox="1"/>
          <p:nvPr/>
        </p:nvSpPr>
        <p:spPr>
          <a:xfrm>
            <a:off x="10259568" y="3688797"/>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−2.3 pts</a:t>
            </a:r>
            <a:endParaRPr lang="en-US" sz="1300" dirty="0"/>
          </a:p>
        </p:txBody>
      </p:sp>
      <p:sp>
        <p:nvSpPr>
          <p:cNvPr id="89" name="Text 87"/>
          <p:cNvSpPr txBox="1"/>
          <p:nvPr/>
        </p:nvSpPr>
        <p:spPr>
          <a:xfrm>
            <a:off x="6208776"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90" name="Shape 88"/>
          <p:cNvSpPr/>
          <p:nvPr/>
        </p:nvSpPr>
        <p:spPr>
          <a:xfrm>
            <a:off x="9105500" y="3981169"/>
            <a:ext cx="257956" cy="105898"/>
          </a:xfrm>
          <a:prstGeom prst="rect">
            <a:avLst/>
          </a:prstGeom>
          <a:solidFill>
            <a:srgbClr val="C2352F"/>
          </a:solidFill>
          <a:ln/>
        </p:spPr>
      </p:sp>
      <p:sp>
        <p:nvSpPr>
          <p:cNvPr id="91" name="Text 89"/>
          <p:cNvSpPr txBox="1"/>
          <p:nvPr/>
        </p:nvSpPr>
        <p:spPr>
          <a:xfrm>
            <a:off x="10259568" y="3919011"/>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−3.4 pts</a:t>
            </a:r>
            <a:endParaRPr lang="en-US" sz="1300" dirty="0"/>
          </a:p>
        </p:txBody>
      </p:sp>
      <p:sp>
        <p:nvSpPr>
          <p:cNvPr id="92" name="Text 90"/>
          <p:cNvSpPr txBox="1"/>
          <p:nvPr/>
        </p:nvSpPr>
        <p:spPr>
          <a:xfrm>
            <a:off x="6208776"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93" name="Shape 91"/>
          <p:cNvSpPr/>
          <p:nvPr/>
        </p:nvSpPr>
        <p:spPr>
          <a:xfrm>
            <a:off x="9068378" y="4211382"/>
            <a:ext cx="295078" cy="105898"/>
          </a:xfrm>
          <a:prstGeom prst="rect">
            <a:avLst/>
          </a:prstGeom>
          <a:solidFill>
            <a:srgbClr val="C2352F"/>
          </a:solidFill>
          <a:ln/>
        </p:spPr>
      </p:sp>
      <p:sp>
        <p:nvSpPr>
          <p:cNvPr id="94" name="Text 92"/>
          <p:cNvSpPr txBox="1"/>
          <p:nvPr/>
        </p:nvSpPr>
        <p:spPr>
          <a:xfrm>
            <a:off x="10259568" y="414922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−3.9 pts</a:t>
            </a:r>
            <a:endParaRPr lang="en-US" sz="1300" dirty="0"/>
          </a:p>
        </p:txBody>
      </p:sp>
      <p:sp>
        <p:nvSpPr>
          <p:cNvPr id="95" name="Text 93"/>
          <p:cNvSpPr txBox="1"/>
          <p:nvPr/>
        </p:nvSpPr>
        <p:spPr>
          <a:xfrm>
            <a:off x="6208776"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96" name="Shape 94"/>
          <p:cNvSpPr/>
          <p:nvPr/>
        </p:nvSpPr>
        <p:spPr>
          <a:xfrm>
            <a:off x="9053926" y="4441596"/>
            <a:ext cx="309530" cy="105898"/>
          </a:xfrm>
          <a:prstGeom prst="rect">
            <a:avLst/>
          </a:prstGeom>
          <a:solidFill>
            <a:srgbClr val="C2352F"/>
          </a:solidFill>
          <a:ln/>
        </p:spPr>
      </p:sp>
      <p:sp>
        <p:nvSpPr>
          <p:cNvPr id="97" name="Text 95"/>
          <p:cNvSpPr txBox="1"/>
          <p:nvPr/>
        </p:nvSpPr>
        <p:spPr>
          <a:xfrm>
            <a:off x="10259568" y="4379438"/>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−4.1 pts</a:t>
            </a:r>
            <a:endParaRPr lang="en-US" sz="1300" dirty="0"/>
          </a:p>
        </p:txBody>
      </p:sp>
      <p:sp>
        <p:nvSpPr>
          <p:cNvPr id="98" name="Text 96"/>
          <p:cNvSpPr txBox="1"/>
          <p:nvPr/>
        </p:nvSpPr>
        <p:spPr>
          <a:xfrm>
            <a:off x="6208776"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99" name="Shape 97"/>
          <p:cNvSpPr/>
          <p:nvPr/>
        </p:nvSpPr>
        <p:spPr>
          <a:xfrm>
            <a:off x="8926934" y="4671809"/>
            <a:ext cx="436522" cy="105898"/>
          </a:xfrm>
          <a:prstGeom prst="rect">
            <a:avLst/>
          </a:prstGeom>
          <a:solidFill>
            <a:srgbClr val="C2352F"/>
          </a:solidFill>
          <a:ln/>
        </p:spPr>
      </p:sp>
      <p:sp>
        <p:nvSpPr>
          <p:cNvPr id="100" name="Text 98"/>
          <p:cNvSpPr txBox="1"/>
          <p:nvPr/>
        </p:nvSpPr>
        <p:spPr>
          <a:xfrm>
            <a:off x="10259568" y="4609652"/>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−5.7 pts</a:t>
            </a:r>
            <a:endParaRPr lang="en-US" sz="1300" dirty="0"/>
          </a:p>
        </p:txBody>
      </p:sp>
      <p:sp>
        <p:nvSpPr>
          <p:cNvPr id="101" name="Text 99"/>
          <p:cNvSpPr txBox="1"/>
          <p:nvPr/>
        </p:nvSpPr>
        <p:spPr>
          <a:xfrm>
            <a:off x="6208776"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102" name="Shape 100"/>
          <p:cNvSpPr/>
          <p:nvPr/>
        </p:nvSpPr>
        <p:spPr>
          <a:xfrm>
            <a:off x="8868807" y="4902023"/>
            <a:ext cx="494649" cy="105898"/>
          </a:xfrm>
          <a:prstGeom prst="rect">
            <a:avLst/>
          </a:prstGeom>
          <a:solidFill>
            <a:srgbClr val="C2352F"/>
          </a:solidFill>
          <a:ln/>
        </p:spPr>
      </p:sp>
      <p:sp>
        <p:nvSpPr>
          <p:cNvPr id="103" name="Text 101"/>
          <p:cNvSpPr txBox="1"/>
          <p:nvPr/>
        </p:nvSpPr>
        <p:spPr>
          <a:xfrm>
            <a:off x="10259568" y="4839865"/>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−6.5 pts</a:t>
            </a:r>
            <a:endParaRPr lang="en-US" sz="1300" dirty="0"/>
          </a:p>
        </p:txBody>
      </p:sp>
      <p:sp>
        <p:nvSpPr>
          <p:cNvPr id="104" name="Text 102"/>
          <p:cNvSpPr txBox="1"/>
          <p:nvPr/>
        </p:nvSpPr>
        <p:spPr>
          <a:xfrm>
            <a:off x="6208776"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05" name="Shape 103"/>
          <p:cNvSpPr/>
          <p:nvPr/>
        </p:nvSpPr>
        <p:spPr>
          <a:xfrm>
            <a:off x="8841528" y="5132237"/>
            <a:ext cx="521928" cy="105898"/>
          </a:xfrm>
          <a:prstGeom prst="rect">
            <a:avLst/>
          </a:prstGeom>
          <a:solidFill>
            <a:srgbClr val="C2352F"/>
          </a:solidFill>
          <a:ln/>
        </p:spPr>
      </p:sp>
      <p:sp>
        <p:nvSpPr>
          <p:cNvPr id="106" name="Text 104"/>
          <p:cNvSpPr txBox="1"/>
          <p:nvPr/>
        </p:nvSpPr>
        <p:spPr>
          <a:xfrm>
            <a:off x="10259568" y="5070079"/>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−6.8 pts</a:t>
            </a:r>
            <a:endParaRPr lang="en-US" sz="1300" dirty="0"/>
          </a:p>
        </p:txBody>
      </p:sp>
      <p:sp>
        <p:nvSpPr>
          <p:cNvPr id="107" name="Text 105"/>
          <p:cNvSpPr txBox="1"/>
          <p:nvPr/>
        </p:nvSpPr>
        <p:spPr>
          <a:xfrm>
            <a:off x="6208776"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108" name="Shape 106"/>
          <p:cNvSpPr/>
          <p:nvPr/>
        </p:nvSpPr>
        <p:spPr>
          <a:xfrm>
            <a:off x="8745761" y="5362450"/>
            <a:ext cx="617695" cy="105898"/>
          </a:xfrm>
          <a:prstGeom prst="rect">
            <a:avLst/>
          </a:prstGeom>
          <a:solidFill>
            <a:srgbClr val="C2352F"/>
          </a:solidFill>
          <a:ln/>
        </p:spPr>
      </p:sp>
      <p:sp>
        <p:nvSpPr>
          <p:cNvPr id="109" name="Text 107"/>
          <p:cNvSpPr txBox="1"/>
          <p:nvPr/>
        </p:nvSpPr>
        <p:spPr>
          <a:xfrm>
            <a:off x="10259568" y="530029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−8.1 pts</a:t>
            </a:r>
            <a:endParaRPr lang="en-US" sz="1300" dirty="0"/>
          </a:p>
        </p:txBody>
      </p:sp>
      <p:sp>
        <p:nvSpPr>
          <p:cNvPr id="110" name="Shape 108"/>
          <p:cNvSpPr/>
          <p:nvPr/>
        </p:nvSpPr>
        <p:spPr>
          <a:xfrm>
            <a:off x="3807562" y="1847088"/>
            <a:ext cx="10973" cy="3913632"/>
          </a:xfrm>
          <a:prstGeom prst="rect">
            <a:avLst/>
          </a:prstGeom>
          <a:solidFill>
            <a:srgbClr val="9AA3AD"/>
          </a:solidFill>
          <a:ln/>
        </p:spPr>
      </p:sp>
      <p:sp>
        <p:nvSpPr>
          <p:cNvPr id="111" name="Shape 109"/>
          <p:cNvSpPr/>
          <p:nvPr/>
        </p:nvSpPr>
        <p:spPr>
          <a:xfrm>
            <a:off x="9357970" y="1847088"/>
            <a:ext cx="10973" cy="3913632"/>
          </a:xfrm>
          <a:prstGeom prst="rect">
            <a:avLst/>
          </a:prstGeom>
          <a:solidFill>
            <a:srgbClr val="9AA3AD"/>
          </a:solidFill>
          <a:ln/>
        </p:spPr>
      </p:sp>
      <p:sp>
        <p:nvSpPr>
          <p:cNvPr id="112" name="Shape 110"/>
          <p:cNvSpPr/>
          <p:nvPr/>
        </p:nvSpPr>
        <p:spPr>
          <a:xfrm>
            <a:off x="457200" y="5961888"/>
            <a:ext cx="11274552" cy="548640"/>
          </a:xfrm>
          <a:prstGeom prst="rect">
            <a:avLst/>
          </a:prstGeom>
          <a:solidFill>
            <a:srgbClr val="FBEBEA"/>
          </a:solidFill>
          <a:ln/>
        </p:spPr>
      </p:sp>
      <p:sp>
        <p:nvSpPr>
          <p:cNvPr id="113" name="Text 111"/>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19 of 33 stores raised customer-pay share, led by MAZDA at +10.8 pts to 56.6%. 14 declined; LR RENO fell most at −8.1 pts.</a:t>
            </a:r>
            <a:endParaRPr lang="en-US" sz="16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LABOR MIX</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Customer-Pay Labor by Work Type</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Shape 4"/>
          <p:cNvSpPr/>
          <p:nvPr/>
        </p:nvSpPr>
        <p:spPr>
          <a:xfrm>
            <a:off x="658368" y="1371600"/>
            <a:ext cx="201168" cy="201168"/>
          </a:xfrm>
          <a:prstGeom prst="rect">
            <a:avLst/>
          </a:prstGeom>
          <a:solidFill>
            <a:srgbClr val="2587C5"/>
          </a:solidFill>
          <a:ln/>
        </p:spPr>
      </p:sp>
      <p:sp>
        <p:nvSpPr>
          <p:cNvPr id="7" name="Text 5"/>
          <p:cNvSpPr txBox="1"/>
          <p:nvPr/>
        </p:nvSpPr>
        <p:spPr>
          <a:xfrm>
            <a:off x="932688" y="1298448"/>
            <a:ext cx="1691640" cy="347472"/>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Maintenance %</a:t>
            </a:r>
            <a:endParaRPr lang="en-US" sz="1400" dirty="0"/>
          </a:p>
        </p:txBody>
      </p:sp>
      <p:sp>
        <p:nvSpPr>
          <p:cNvPr id="8" name="Shape 6"/>
          <p:cNvSpPr/>
          <p:nvPr/>
        </p:nvSpPr>
        <p:spPr>
          <a:xfrm>
            <a:off x="2624328" y="1371600"/>
            <a:ext cx="201168" cy="201168"/>
          </a:xfrm>
          <a:prstGeom prst="rect">
            <a:avLst/>
          </a:prstGeom>
          <a:solidFill>
            <a:srgbClr val="0B2C4A"/>
          </a:solidFill>
          <a:ln/>
        </p:spPr>
      </p:sp>
      <p:sp>
        <p:nvSpPr>
          <p:cNvPr id="9" name="Text 7"/>
          <p:cNvSpPr txBox="1"/>
          <p:nvPr/>
        </p:nvSpPr>
        <p:spPr>
          <a:xfrm>
            <a:off x="2898648" y="1298448"/>
            <a:ext cx="1691640" cy="347472"/>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Repair %</a:t>
            </a:r>
            <a:endParaRPr lang="en-US" sz="1400" dirty="0"/>
          </a:p>
        </p:txBody>
      </p:sp>
      <p:sp>
        <p:nvSpPr>
          <p:cNvPr id="10" name="Shape 8"/>
          <p:cNvSpPr/>
          <p:nvPr/>
        </p:nvSpPr>
        <p:spPr>
          <a:xfrm>
            <a:off x="4590288" y="1371600"/>
            <a:ext cx="201168" cy="201168"/>
          </a:xfrm>
          <a:prstGeom prst="rect">
            <a:avLst/>
          </a:prstGeom>
          <a:solidFill>
            <a:srgbClr val="D9D9D9"/>
          </a:solidFill>
          <a:ln/>
        </p:spPr>
      </p:sp>
      <p:sp>
        <p:nvSpPr>
          <p:cNvPr id="11" name="Text 9"/>
          <p:cNvSpPr txBox="1"/>
          <p:nvPr/>
        </p:nvSpPr>
        <p:spPr>
          <a:xfrm>
            <a:off x="4864608" y="1298448"/>
            <a:ext cx="1691640" cy="347472"/>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Unclassified %</a:t>
            </a:r>
            <a:endParaRPr lang="en-US" sz="1400" dirty="0"/>
          </a:p>
        </p:txBody>
      </p:sp>
      <p:sp>
        <p:nvSpPr>
          <p:cNvPr id="12" name="Shape 10"/>
          <p:cNvSpPr/>
          <p:nvPr/>
        </p:nvSpPr>
        <p:spPr>
          <a:xfrm>
            <a:off x="6675120" y="1298448"/>
            <a:ext cx="4855464" cy="384048"/>
          </a:xfrm>
          <a:prstGeom prst="rect">
            <a:avLst/>
          </a:prstGeom>
          <a:solidFill>
            <a:srgbClr val="EDF4FA"/>
          </a:solidFill>
          <a:ln/>
        </p:spPr>
      </p:sp>
      <p:sp>
        <p:nvSpPr>
          <p:cNvPr id="13" name="Text 11"/>
          <p:cNvSpPr txBox="1"/>
          <p:nvPr/>
        </p:nvSpPr>
        <p:spPr>
          <a:xfrm>
            <a:off x="6766560" y="1298448"/>
            <a:ext cx="914400" cy="38404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GROUP</a:t>
            </a:r>
            <a:endParaRPr lang="en-US" sz="1500" dirty="0"/>
          </a:p>
        </p:txBody>
      </p:sp>
      <p:sp>
        <p:nvSpPr>
          <p:cNvPr id="14" name="Shape 12"/>
          <p:cNvSpPr/>
          <p:nvPr/>
        </p:nvSpPr>
        <p:spPr>
          <a:xfrm>
            <a:off x="7726680" y="1344168"/>
            <a:ext cx="2014951" cy="292608"/>
          </a:xfrm>
          <a:prstGeom prst="rect">
            <a:avLst/>
          </a:prstGeom>
          <a:solidFill>
            <a:srgbClr val="2587C5"/>
          </a:solidFill>
          <a:ln w="6350">
            <a:solidFill>
              <a:srgbClr val="FFFFFF"/>
            </a:solidFill>
            <a:prstDash val="solid"/>
          </a:ln>
        </p:spPr>
      </p:sp>
      <p:sp>
        <p:nvSpPr>
          <p:cNvPr id="15" name="Text 13"/>
          <p:cNvSpPr txBox="1"/>
          <p:nvPr/>
        </p:nvSpPr>
        <p:spPr>
          <a:xfrm>
            <a:off x="7726680" y="1344168"/>
            <a:ext cx="2014951" cy="292608"/>
          </a:xfrm>
          <a:prstGeom prst="rect">
            <a:avLst/>
          </a:prstGeom>
          <a:noFill/>
          <a:ln/>
        </p:spPr>
        <p:txBody>
          <a:bodyPr wrap="non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54</a:t>
            </a:r>
            <a:endParaRPr lang="en-US" sz="1400" dirty="0"/>
          </a:p>
        </p:txBody>
      </p:sp>
      <p:sp>
        <p:nvSpPr>
          <p:cNvPr id="16" name="Shape 14"/>
          <p:cNvSpPr/>
          <p:nvPr/>
        </p:nvSpPr>
        <p:spPr>
          <a:xfrm>
            <a:off x="9741631" y="1344168"/>
            <a:ext cx="1133995" cy="292608"/>
          </a:xfrm>
          <a:prstGeom prst="rect">
            <a:avLst/>
          </a:prstGeom>
          <a:solidFill>
            <a:srgbClr val="0B2C4A"/>
          </a:solidFill>
          <a:ln w="6350">
            <a:solidFill>
              <a:srgbClr val="FFFFFF"/>
            </a:solidFill>
            <a:prstDash val="solid"/>
          </a:ln>
        </p:spPr>
      </p:sp>
      <p:sp>
        <p:nvSpPr>
          <p:cNvPr id="17" name="Text 15"/>
          <p:cNvSpPr txBox="1"/>
          <p:nvPr/>
        </p:nvSpPr>
        <p:spPr>
          <a:xfrm>
            <a:off x="9741631" y="1344168"/>
            <a:ext cx="1133995" cy="292608"/>
          </a:xfrm>
          <a:prstGeom prst="rect">
            <a:avLst/>
          </a:prstGeom>
          <a:noFill/>
          <a:ln/>
        </p:spPr>
        <p:txBody>
          <a:bodyPr wrap="non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31</a:t>
            </a:r>
            <a:endParaRPr lang="en-US" sz="1400" dirty="0"/>
          </a:p>
        </p:txBody>
      </p:sp>
      <p:sp>
        <p:nvSpPr>
          <p:cNvPr id="18" name="Shape 16"/>
          <p:cNvSpPr/>
          <p:nvPr/>
        </p:nvSpPr>
        <p:spPr>
          <a:xfrm>
            <a:off x="10875626" y="1344168"/>
            <a:ext cx="563518" cy="292608"/>
          </a:xfrm>
          <a:prstGeom prst="rect">
            <a:avLst/>
          </a:prstGeom>
          <a:solidFill>
            <a:srgbClr val="D9D9D9"/>
          </a:solidFill>
          <a:ln w="6350">
            <a:solidFill>
              <a:srgbClr val="FFFFFF"/>
            </a:solidFill>
            <a:prstDash val="solid"/>
          </a:ln>
        </p:spPr>
      </p:sp>
      <p:sp>
        <p:nvSpPr>
          <p:cNvPr id="19" name="Text 17"/>
          <p:cNvSpPr txBox="1"/>
          <p:nvPr/>
        </p:nvSpPr>
        <p:spPr>
          <a:xfrm>
            <a:off x="10875626" y="1344168"/>
            <a:ext cx="563518" cy="292608"/>
          </a:xfrm>
          <a:prstGeom prst="rect">
            <a:avLst/>
          </a:prstGeom>
          <a:noFill/>
          <a:ln/>
        </p:spPr>
        <p:txBody>
          <a:bodyPr wrap="none" lIns="0" tIns="0" rIns="0" bIns="0" rtlCol="0" anchor="ctr"/>
          <a:lstStyle/>
          <a:p>
            <a:pPr algn="ctr" indent="0" marL="0">
              <a:buNone/>
            </a:pPr>
            <a:r>
              <a:rPr lang="en-US" sz="1400" b="1" dirty="0">
                <a:solidFill>
                  <a:srgbClr val="1A1A1A"/>
                </a:solidFill>
                <a:latin typeface="Inter" pitchFamily="34" charset="0"/>
                <a:ea typeface="Inter" pitchFamily="34" charset="-122"/>
                <a:cs typeface="Inter" pitchFamily="34" charset="-120"/>
              </a:rPr>
              <a:t>15</a:t>
            </a:r>
            <a:endParaRPr lang="en-US" sz="1400" dirty="0"/>
          </a:p>
        </p:txBody>
      </p:sp>
      <p:sp>
        <p:nvSpPr>
          <p:cNvPr id="20" name="Text 18"/>
          <p:cNvSpPr txBox="1"/>
          <p:nvPr/>
        </p:nvSpPr>
        <p:spPr>
          <a:xfrm>
            <a:off x="658368" y="1828800"/>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21" name="Shape 19"/>
          <p:cNvSpPr/>
          <p:nvPr/>
        </p:nvSpPr>
        <p:spPr>
          <a:xfrm>
            <a:off x="2807208" y="1856426"/>
            <a:ext cx="2245237" cy="174962"/>
          </a:xfrm>
          <a:prstGeom prst="rect">
            <a:avLst/>
          </a:prstGeom>
          <a:solidFill>
            <a:srgbClr val="2587C5"/>
          </a:solidFill>
          <a:ln w="6350">
            <a:solidFill>
              <a:srgbClr val="FFFFFF"/>
            </a:solidFill>
            <a:prstDash val="solid"/>
          </a:ln>
        </p:spPr>
      </p:sp>
      <p:sp>
        <p:nvSpPr>
          <p:cNvPr id="22" name="Text 20"/>
          <p:cNvSpPr txBox="1"/>
          <p:nvPr/>
        </p:nvSpPr>
        <p:spPr>
          <a:xfrm>
            <a:off x="2807208" y="1856426"/>
            <a:ext cx="2245237"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71</a:t>
            </a:r>
            <a:endParaRPr lang="en-US" sz="1300" dirty="0"/>
          </a:p>
        </p:txBody>
      </p:sp>
      <p:sp>
        <p:nvSpPr>
          <p:cNvPr id="23" name="Shape 21"/>
          <p:cNvSpPr/>
          <p:nvPr/>
        </p:nvSpPr>
        <p:spPr>
          <a:xfrm>
            <a:off x="5052445" y="1856426"/>
            <a:ext cx="776580" cy="174962"/>
          </a:xfrm>
          <a:prstGeom prst="rect">
            <a:avLst/>
          </a:prstGeom>
          <a:solidFill>
            <a:srgbClr val="0B2C4A"/>
          </a:solidFill>
          <a:ln w="6350">
            <a:solidFill>
              <a:srgbClr val="FFFFFF"/>
            </a:solidFill>
            <a:prstDash val="solid"/>
          </a:ln>
        </p:spPr>
      </p:sp>
      <p:sp>
        <p:nvSpPr>
          <p:cNvPr id="24" name="Text 22"/>
          <p:cNvSpPr txBox="1"/>
          <p:nvPr/>
        </p:nvSpPr>
        <p:spPr>
          <a:xfrm>
            <a:off x="5052445" y="1856426"/>
            <a:ext cx="77658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25</a:t>
            </a:r>
            <a:endParaRPr lang="en-US" sz="1300" dirty="0"/>
          </a:p>
        </p:txBody>
      </p:sp>
      <p:sp>
        <p:nvSpPr>
          <p:cNvPr id="25" name="Shape 23"/>
          <p:cNvSpPr/>
          <p:nvPr/>
        </p:nvSpPr>
        <p:spPr>
          <a:xfrm>
            <a:off x="5829025" y="1856426"/>
            <a:ext cx="132863" cy="174962"/>
          </a:xfrm>
          <a:prstGeom prst="rect">
            <a:avLst/>
          </a:prstGeom>
          <a:solidFill>
            <a:srgbClr val="D9D9D9"/>
          </a:solidFill>
          <a:ln w="6350">
            <a:solidFill>
              <a:srgbClr val="FFFFFF"/>
            </a:solidFill>
            <a:prstDash val="solid"/>
          </a:ln>
        </p:spPr>
      </p:sp>
      <p:sp>
        <p:nvSpPr>
          <p:cNvPr id="26" name="Text 24"/>
          <p:cNvSpPr txBox="1"/>
          <p:nvPr/>
        </p:nvSpPr>
        <p:spPr>
          <a:xfrm>
            <a:off x="658368" y="2059014"/>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27" name="Shape 25"/>
          <p:cNvSpPr/>
          <p:nvPr/>
        </p:nvSpPr>
        <p:spPr>
          <a:xfrm>
            <a:off x="2807208" y="2086639"/>
            <a:ext cx="2188220" cy="174962"/>
          </a:xfrm>
          <a:prstGeom prst="rect">
            <a:avLst/>
          </a:prstGeom>
          <a:solidFill>
            <a:srgbClr val="2587C5"/>
          </a:solidFill>
          <a:ln w="6350">
            <a:solidFill>
              <a:srgbClr val="FFFFFF"/>
            </a:solidFill>
            <a:prstDash val="solid"/>
          </a:ln>
        </p:spPr>
      </p:sp>
      <p:sp>
        <p:nvSpPr>
          <p:cNvPr id="28" name="Text 26"/>
          <p:cNvSpPr txBox="1"/>
          <p:nvPr/>
        </p:nvSpPr>
        <p:spPr>
          <a:xfrm>
            <a:off x="2807208" y="2086639"/>
            <a:ext cx="218822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69</a:t>
            </a:r>
            <a:endParaRPr lang="en-US" sz="1300" dirty="0"/>
          </a:p>
        </p:txBody>
      </p:sp>
      <p:sp>
        <p:nvSpPr>
          <p:cNvPr id="29" name="Shape 27"/>
          <p:cNvSpPr/>
          <p:nvPr/>
        </p:nvSpPr>
        <p:spPr>
          <a:xfrm>
            <a:off x="4995428" y="2086639"/>
            <a:ext cx="790580" cy="174962"/>
          </a:xfrm>
          <a:prstGeom prst="rect">
            <a:avLst/>
          </a:prstGeom>
          <a:solidFill>
            <a:srgbClr val="0B2C4A"/>
          </a:solidFill>
          <a:ln w="6350">
            <a:solidFill>
              <a:srgbClr val="FFFFFF"/>
            </a:solidFill>
            <a:prstDash val="solid"/>
          </a:ln>
        </p:spPr>
      </p:sp>
      <p:sp>
        <p:nvSpPr>
          <p:cNvPr id="30" name="Text 28"/>
          <p:cNvSpPr txBox="1"/>
          <p:nvPr/>
        </p:nvSpPr>
        <p:spPr>
          <a:xfrm>
            <a:off x="4995428" y="2086639"/>
            <a:ext cx="79058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25</a:t>
            </a:r>
            <a:endParaRPr lang="en-US" sz="1300" dirty="0"/>
          </a:p>
        </p:txBody>
      </p:sp>
      <p:sp>
        <p:nvSpPr>
          <p:cNvPr id="31" name="Shape 29"/>
          <p:cNvSpPr/>
          <p:nvPr/>
        </p:nvSpPr>
        <p:spPr>
          <a:xfrm>
            <a:off x="5786008" y="2086639"/>
            <a:ext cx="175880" cy="174962"/>
          </a:xfrm>
          <a:prstGeom prst="rect">
            <a:avLst/>
          </a:prstGeom>
          <a:solidFill>
            <a:srgbClr val="D9D9D9"/>
          </a:solidFill>
          <a:ln w="6350">
            <a:solidFill>
              <a:srgbClr val="FFFFFF"/>
            </a:solidFill>
            <a:prstDash val="solid"/>
          </a:ln>
        </p:spPr>
      </p:sp>
      <p:sp>
        <p:nvSpPr>
          <p:cNvPr id="32" name="Text 30"/>
          <p:cNvSpPr txBox="1"/>
          <p:nvPr/>
        </p:nvSpPr>
        <p:spPr>
          <a:xfrm>
            <a:off x="5786008" y="2086639"/>
            <a:ext cx="175880"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6</a:t>
            </a:r>
            <a:endParaRPr lang="en-US" sz="1300" dirty="0"/>
          </a:p>
        </p:txBody>
      </p:sp>
      <p:sp>
        <p:nvSpPr>
          <p:cNvPr id="33" name="Text 31"/>
          <p:cNvSpPr txBox="1"/>
          <p:nvPr/>
        </p:nvSpPr>
        <p:spPr>
          <a:xfrm>
            <a:off x="658368" y="2289227"/>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34" name="Shape 32"/>
          <p:cNvSpPr/>
          <p:nvPr/>
        </p:nvSpPr>
        <p:spPr>
          <a:xfrm>
            <a:off x="2807208" y="2316853"/>
            <a:ext cx="2144224" cy="174962"/>
          </a:xfrm>
          <a:prstGeom prst="rect">
            <a:avLst/>
          </a:prstGeom>
          <a:solidFill>
            <a:srgbClr val="2587C5"/>
          </a:solidFill>
          <a:ln w="6350">
            <a:solidFill>
              <a:srgbClr val="FFFFFF"/>
            </a:solidFill>
            <a:prstDash val="solid"/>
          </a:ln>
        </p:spPr>
      </p:sp>
      <p:sp>
        <p:nvSpPr>
          <p:cNvPr id="35" name="Text 33"/>
          <p:cNvSpPr txBox="1"/>
          <p:nvPr/>
        </p:nvSpPr>
        <p:spPr>
          <a:xfrm>
            <a:off x="2807208" y="2316853"/>
            <a:ext cx="2144224"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68</a:t>
            </a:r>
            <a:endParaRPr lang="en-US" sz="1300" dirty="0"/>
          </a:p>
        </p:txBody>
      </p:sp>
      <p:sp>
        <p:nvSpPr>
          <p:cNvPr id="36" name="Shape 34"/>
          <p:cNvSpPr/>
          <p:nvPr/>
        </p:nvSpPr>
        <p:spPr>
          <a:xfrm>
            <a:off x="4951432" y="2316853"/>
            <a:ext cx="778558" cy="174962"/>
          </a:xfrm>
          <a:prstGeom prst="rect">
            <a:avLst/>
          </a:prstGeom>
          <a:solidFill>
            <a:srgbClr val="0B2C4A"/>
          </a:solidFill>
          <a:ln w="6350">
            <a:solidFill>
              <a:srgbClr val="FFFFFF"/>
            </a:solidFill>
            <a:prstDash val="solid"/>
          </a:ln>
        </p:spPr>
      </p:sp>
      <p:sp>
        <p:nvSpPr>
          <p:cNvPr id="37" name="Text 35"/>
          <p:cNvSpPr txBox="1"/>
          <p:nvPr/>
        </p:nvSpPr>
        <p:spPr>
          <a:xfrm>
            <a:off x="4951432" y="2316853"/>
            <a:ext cx="778558"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25</a:t>
            </a:r>
            <a:endParaRPr lang="en-US" sz="1300" dirty="0"/>
          </a:p>
        </p:txBody>
      </p:sp>
      <p:sp>
        <p:nvSpPr>
          <p:cNvPr id="38" name="Shape 36"/>
          <p:cNvSpPr/>
          <p:nvPr/>
        </p:nvSpPr>
        <p:spPr>
          <a:xfrm>
            <a:off x="5729990" y="2316853"/>
            <a:ext cx="231898" cy="174962"/>
          </a:xfrm>
          <a:prstGeom prst="rect">
            <a:avLst/>
          </a:prstGeom>
          <a:solidFill>
            <a:srgbClr val="D9D9D9"/>
          </a:solidFill>
          <a:ln w="6350">
            <a:solidFill>
              <a:srgbClr val="FFFFFF"/>
            </a:solidFill>
            <a:prstDash val="solid"/>
          </a:ln>
        </p:spPr>
      </p:sp>
      <p:sp>
        <p:nvSpPr>
          <p:cNvPr id="39" name="Text 37"/>
          <p:cNvSpPr txBox="1"/>
          <p:nvPr/>
        </p:nvSpPr>
        <p:spPr>
          <a:xfrm>
            <a:off x="5729990" y="2316853"/>
            <a:ext cx="231898"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7</a:t>
            </a:r>
            <a:endParaRPr lang="en-US" sz="1300" dirty="0"/>
          </a:p>
        </p:txBody>
      </p:sp>
      <p:sp>
        <p:nvSpPr>
          <p:cNvPr id="40" name="Text 38"/>
          <p:cNvSpPr txBox="1"/>
          <p:nvPr/>
        </p:nvSpPr>
        <p:spPr>
          <a:xfrm>
            <a:off x="658368" y="2519441"/>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41" name="Shape 39"/>
          <p:cNvSpPr/>
          <p:nvPr/>
        </p:nvSpPr>
        <p:spPr>
          <a:xfrm>
            <a:off x="2807208" y="2547067"/>
            <a:ext cx="2115794" cy="174962"/>
          </a:xfrm>
          <a:prstGeom prst="rect">
            <a:avLst/>
          </a:prstGeom>
          <a:solidFill>
            <a:srgbClr val="2587C5"/>
          </a:solidFill>
          <a:ln w="6350">
            <a:solidFill>
              <a:srgbClr val="FFFFFF"/>
            </a:solidFill>
            <a:prstDash val="solid"/>
          </a:ln>
        </p:spPr>
      </p:sp>
      <p:sp>
        <p:nvSpPr>
          <p:cNvPr id="42" name="Text 40"/>
          <p:cNvSpPr txBox="1"/>
          <p:nvPr/>
        </p:nvSpPr>
        <p:spPr>
          <a:xfrm>
            <a:off x="2807208" y="2547067"/>
            <a:ext cx="2115794"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67</a:t>
            </a:r>
            <a:endParaRPr lang="en-US" sz="1300" dirty="0"/>
          </a:p>
        </p:txBody>
      </p:sp>
      <p:sp>
        <p:nvSpPr>
          <p:cNvPr id="43" name="Shape 41"/>
          <p:cNvSpPr/>
          <p:nvPr/>
        </p:nvSpPr>
        <p:spPr>
          <a:xfrm>
            <a:off x="4923002" y="2547067"/>
            <a:ext cx="695501" cy="174962"/>
          </a:xfrm>
          <a:prstGeom prst="rect">
            <a:avLst/>
          </a:prstGeom>
          <a:solidFill>
            <a:srgbClr val="0B2C4A"/>
          </a:solidFill>
          <a:ln w="6350">
            <a:solidFill>
              <a:srgbClr val="FFFFFF"/>
            </a:solidFill>
            <a:prstDash val="solid"/>
          </a:ln>
        </p:spPr>
      </p:sp>
      <p:sp>
        <p:nvSpPr>
          <p:cNvPr id="44" name="Text 42"/>
          <p:cNvSpPr txBox="1"/>
          <p:nvPr/>
        </p:nvSpPr>
        <p:spPr>
          <a:xfrm>
            <a:off x="4923002" y="2547067"/>
            <a:ext cx="695501"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22</a:t>
            </a:r>
            <a:endParaRPr lang="en-US" sz="1300" dirty="0"/>
          </a:p>
        </p:txBody>
      </p:sp>
      <p:sp>
        <p:nvSpPr>
          <p:cNvPr id="45" name="Shape 43"/>
          <p:cNvSpPr/>
          <p:nvPr/>
        </p:nvSpPr>
        <p:spPr>
          <a:xfrm>
            <a:off x="5618503" y="2547067"/>
            <a:ext cx="343385" cy="174962"/>
          </a:xfrm>
          <a:prstGeom prst="rect">
            <a:avLst/>
          </a:prstGeom>
          <a:solidFill>
            <a:srgbClr val="D9D9D9"/>
          </a:solidFill>
          <a:ln w="6350">
            <a:solidFill>
              <a:srgbClr val="FFFFFF"/>
            </a:solidFill>
            <a:prstDash val="solid"/>
          </a:ln>
        </p:spPr>
      </p:sp>
      <p:sp>
        <p:nvSpPr>
          <p:cNvPr id="46" name="Text 44"/>
          <p:cNvSpPr txBox="1"/>
          <p:nvPr/>
        </p:nvSpPr>
        <p:spPr>
          <a:xfrm>
            <a:off x="5618503" y="2547067"/>
            <a:ext cx="343385"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11</a:t>
            </a:r>
            <a:endParaRPr lang="en-US" sz="1300" dirty="0"/>
          </a:p>
        </p:txBody>
      </p:sp>
      <p:sp>
        <p:nvSpPr>
          <p:cNvPr id="47" name="Text 45"/>
          <p:cNvSpPr txBox="1"/>
          <p:nvPr/>
        </p:nvSpPr>
        <p:spPr>
          <a:xfrm>
            <a:off x="658368" y="2749655"/>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48" name="Shape 46"/>
          <p:cNvSpPr/>
          <p:nvPr/>
        </p:nvSpPr>
        <p:spPr>
          <a:xfrm>
            <a:off x="2807208" y="2777280"/>
            <a:ext cx="2095558" cy="174962"/>
          </a:xfrm>
          <a:prstGeom prst="rect">
            <a:avLst/>
          </a:prstGeom>
          <a:solidFill>
            <a:srgbClr val="2587C5"/>
          </a:solidFill>
          <a:ln w="6350">
            <a:solidFill>
              <a:srgbClr val="FFFFFF"/>
            </a:solidFill>
            <a:prstDash val="solid"/>
          </a:ln>
        </p:spPr>
      </p:sp>
      <p:sp>
        <p:nvSpPr>
          <p:cNvPr id="49" name="Text 47"/>
          <p:cNvSpPr txBox="1"/>
          <p:nvPr/>
        </p:nvSpPr>
        <p:spPr>
          <a:xfrm>
            <a:off x="2807208" y="2777280"/>
            <a:ext cx="2095558"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66</a:t>
            </a:r>
            <a:endParaRPr lang="en-US" sz="1300" dirty="0"/>
          </a:p>
        </p:txBody>
      </p:sp>
      <p:sp>
        <p:nvSpPr>
          <p:cNvPr id="50" name="Shape 48"/>
          <p:cNvSpPr/>
          <p:nvPr/>
        </p:nvSpPr>
        <p:spPr>
          <a:xfrm>
            <a:off x="4902766" y="2777280"/>
            <a:ext cx="805348" cy="174962"/>
          </a:xfrm>
          <a:prstGeom prst="rect">
            <a:avLst/>
          </a:prstGeom>
          <a:solidFill>
            <a:srgbClr val="0B2C4A"/>
          </a:solidFill>
          <a:ln w="6350">
            <a:solidFill>
              <a:srgbClr val="FFFFFF"/>
            </a:solidFill>
            <a:prstDash val="solid"/>
          </a:ln>
        </p:spPr>
      </p:sp>
      <p:sp>
        <p:nvSpPr>
          <p:cNvPr id="51" name="Text 49"/>
          <p:cNvSpPr txBox="1"/>
          <p:nvPr/>
        </p:nvSpPr>
        <p:spPr>
          <a:xfrm>
            <a:off x="4902766" y="2777280"/>
            <a:ext cx="805348"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26</a:t>
            </a:r>
            <a:endParaRPr lang="en-US" sz="1300" dirty="0"/>
          </a:p>
        </p:txBody>
      </p:sp>
      <p:sp>
        <p:nvSpPr>
          <p:cNvPr id="52" name="Shape 50"/>
          <p:cNvSpPr/>
          <p:nvPr/>
        </p:nvSpPr>
        <p:spPr>
          <a:xfrm>
            <a:off x="5708115" y="2777280"/>
            <a:ext cx="253773" cy="174962"/>
          </a:xfrm>
          <a:prstGeom prst="rect">
            <a:avLst/>
          </a:prstGeom>
          <a:solidFill>
            <a:srgbClr val="D9D9D9"/>
          </a:solidFill>
          <a:ln w="6350">
            <a:solidFill>
              <a:srgbClr val="FFFFFF"/>
            </a:solidFill>
            <a:prstDash val="solid"/>
          </a:ln>
        </p:spPr>
      </p:sp>
      <p:sp>
        <p:nvSpPr>
          <p:cNvPr id="53" name="Text 51"/>
          <p:cNvSpPr txBox="1"/>
          <p:nvPr/>
        </p:nvSpPr>
        <p:spPr>
          <a:xfrm>
            <a:off x="5708115" y="2777280"/>
            <a:ext cx="253773"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8</a:t>
            </a:r>
            <a:endParaRPr lang="en-US" sz="1300" dirty="0"/>
          </a:p>
        </p:txBody>
      </p:sp>
      <p:sp>
        <p:nvSpPr>
          <p:cNvPr id="54" name="Text 52"/>
          <p:cNvSpPr txBox="1"/>
          <p:nvPr/>
        </p:nvSpPr>
        <p:spPr>
          <a:xfrm>
            <a:off x="658368" y="2979868"/>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55" name="Shape 53"/>
          <p:cNvSpPr/>
          <p:nvPr/>
        </p:nvSpPr>
        <p:spPr>
          <a:xfrm>
            <a:off x="2807208" y="3007494"/>
            <a:ext cx="2079152" cy="174962"/>
          </a:xfrm>
          <a:prstGeom prst="rect">
            <a:avLst/>
          </a:prstGeom>
          <a:solidFill>
            <a:srgbClr val="2587C5"/>
          </a:solidFill>
          <a:ln w="6350">
            <a:solidFill>
              <a:srgbClr val="FFFFFF"/>
            </a:solidFill>
            <a:prstDash val="solid"/>
          </a:ln>
        </p:spPr>
      </p:sp>
      <p:sp>
        <p:nvSpPr>
          <p:cNvPr id="56" name="Text 54"/>
          <p:cNvSpPr txBox="1"/>
          <p:nvPr/>
        </p:nvSpPr>
        <p:spPr>
          <a:xfrm>
            <a:off x="2807208" y="3007494"/>
            <a:ext cx="2079152"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66</a:t>
            </a:r>
            <a:endParaRPr lang="en-US" sz="1300" dirty="0"/>
          </a:p>
        </p:txBody>
      </p:sp>
      <p:sp>
        <p:nvSpPr>
          <p:cNvPr id="57" name="Shape 55"/>
          <p:cNvSpPr/>
          <p:nvPr/>
        </p:nvSpPr>
        <p:spPr>
          <a:xfrm>
            <a:off x="4886360" y="3007494"/>
            <a:ext cx="929407" cy="174962"/>
          </a:xfrm>
          <a:prstGeom prst="rect">
            <a:avLst/>
          </a:prstGeom>
          <a:solidFill>
            <a:srgbClr val="0B2C4A"/>
          </a:solidFill>
          <a:ln w="6350">
            <a:solidFill>
              <a:srgbClr val="FFFFFF"/>
            </a:solidFill>
            <a:prstDash val="solid"/>
          </a:ln>
        </p:spPr>
      </p:sp>
      <p:sp>
        <p:nvSpPr>
          <p:cNvPr id="58" name="Text 56"/>
          <p:cNvSpPr txBox="1"/>
          <p:nvPr/>
        </p:nvSpPr>
        <p:spPr>
          <a:xfrm>
            <a:off x="4886360" y="3007494"/>
            <a:ext cx="929407"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29</a:t>
            </a:r>
            <a:endParaRPr lang="en-US" sz="1300" dirty="0"/>
          </a:p>
        </p:txBody>
      </p:sp>
      <p:sp>
        <p:nvSpPr>
          <p:cNvPr id="59" name="Shape 57"/>
          <p:cNvSpPr/>
          <p:nvPr/>
        </p:nvSpPr>
        <p:spPr>
          <a:xfrm>
            <a:off x="5815767" y="3007494"/>
            <a:ext cx="146121" cy="174962"/>
          </a:xfrm>
          <a:prstGeom prst="rect">
            <a:avLst/>
          </a:prstGeom>
          <a:solidFill>
            <a:srgbClr val="D9D9D9"/>
          </a:solidFill>
          <a:ln w="6350">
            <a:solidFill>
              <a:srgbClr val="FFFFFF"/>
            </a:solidFill>
            <a:prstDash val="solid"/>
          </a:ln>
        </p:spPr>
      </p:sp>
      <p:sp>
        <p:nvSpPr>
          <p:cNvPr id="60" name="Text 58"/>
          <p:cNvSpPr txBox="1"/>
          <p:nvPr/>
        </p:nvSpPr>
        <p:spPr>
          <a:xfrm>
            <a:off x="658368" y="3210082"/>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61" name="Shape 59"/>
          <p:cNvSpPr/>
          <p:nvPr/>
        </p:nvSpPr>
        <p:spPr>
          <a:xfrm>
            <a:off x="2807208" y="3237708"/>
            <a:ext cx="2014935" cy="174962"/>
          </a:xfrm>
          <a:prstGeom prst="rect">
            <a:avLst/>
          </a:prstGeom>
          <a:solidFill>
            <a:srgbClr val="2587C5"/>
          </a:solidFill>
          <a:ln w="6350">
            <a:solidFill>
              <a:srgbClr val="FFFFFF"/>
            </a:solidFill>
            <a:prstDash val="solid"/>
          </a:ln>
        </p:spPr>
      </p:sp>
      <p:sp>
        <p:nvSpPr>
          <p:cNvPr id="62" name="Text 60"/>
          <p:cNvSpPr txBox="1"/>
          <p:nvPr/>
        </p:nvSpPr>
        <p:spPr>
          <a:xfrm>
            <a:off x="2807208" y="3237708"/>
            <a:ext cx="2014935"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64</a:t>
            </a:r>
            <a:endParaRPr lang="en-US" sz="1300" dirty="0"/>
          </a:p>
        </p:txBody>
      </p:sp>
      <p:sp>
        <p:nvSpPr>
          <p:cNvPr id="63" name="Shape 61"/>
          <p:cNvSpPr/>
          <p:nvPr/>
        </p:nvSpPr>
        <p:spPr>
          <a:xfrm>
            <a:off x="4822143" y="3237708"/>
            <a:ext cx="672713" cy="174962"/>
          </a:xfrm>
          <a:prstGeom prst="rect">
            <a:avLst/>
          </a:prstGeom>
          <a:solidFill>
            <a:srgbClr val="0B2C4A"/>
          </a:solidFill>
          <a:ln w="6350">
            <a:solidFill>
              <a:srgbClr val="FFFFFF"/>
            </a:solidFill>
            <a:prstDash val="solid"/>
          </a:ln>
        </p:spPr>
      </p:sp>
      <p:sp>
        <p:nvSpPr>
          <p:cNvPr id="64" name="Text 62"/>
          <p:cNvSpPr txBox="1"/>
          <p:nvPr/>
        </p:nvSpPr>
        <p:spPr>
          <a:xfrm>
            <a:off x="4822143" y="3237708"/>
            <a:ext cx="672713"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21</a:t>
            </a:r>
            <a:endParaRPr lang="en-US" sz="1300" dirty="0"/>
          </a:p>
        </p:txBody>
      </p:sp>
      <p:sp>
        <p:nvSpPr>
          <p:cNvPr id="65" name="Shape 63"/>
          <p:cNvSpPr/>
          <p:nvPr/>
        </p:nvSpPr>
        <p:spPr>
          <a:xfrm>
            <a:off x="5494856" y="3237708"/>
            <a:ext cx="467032" cy="174962"/>
          </a:xfrm>
          <a:prstGeom prst="rect">
            <a:avLst/>
          </a:prstGeom>
          <a:solidFill>
            <a:srgbClr val="D9D9D9"/>
          </a:solidFill>
          <a:ln w="6350">
            <a:solidFill>
              <a:srgbClr val="FFFFFF"/>
            </a:solidFill>
            <a:prstDash val="solid"/>
          </a:ln>
        </p:spPr>
      </p:sp>
      <p:sp>
        <p:nvSpPr>
          <p:cNvPr id="66" name="Text 64"/>
          <p:cNvSpPr txBox="1"/>
          <p:nvPr/>
        </p:nvSpPr>
        <p:spPr>
          <a:xfrm>
            <a:off x="5494856" y="3237708"/>
            <a:ext cx="467032"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15</a:t>
            </a:r>
            <a:endParaRPr lang="en-US" sz="1300" dirty="0"/>
          </a:p>
        </p:txBody>
      </p:sp>
      <p:sp>
        <p:nvSpPr>
          <p:cNvPr id="67" name="Text 65"/>
          <p:cNvSpPr txBox="1"/>
          <p:nvPr/>
        </p:nvSpPr>
        <p:spPr>
          <a:xfrm>
            <a:off x="658368" y="3440296"/>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68" name="Shape 66"/>
          <p:cNvSpPr/>
          <p:nvPr/>
        </p:nvSpPr>
        <p:spPr>
          <a:xfrm>
            <a:off x="2807208" y="3467921"/>
            <a:ext cx="1954587" cy="174962"/>
          </a:xfrm>
          <a:prstGeom prst="rect">
            <a:avLst/>
          </a:prstGeom>
          <a:solidFill>
            <a:srgbClr val="2587C5"/>
          </a:solidFill>
          <a:ln w="6350">
            <a:solidFill>
              <a:srgbClr val="FFFFFF"/>
            </a:solidFill>
            <a:prstDash val="solid"/>
          </a:ln>
        </p:spPr>
      </p:sp>
      <p:sp>
        <p:nvSpPr>
          <p:cNvPr id="69" name="Text 67"/>
          <p:cNvSpPr txBox="1"/>
          <p:nvPr/>
        </p:nvSpPr>
        <p:spPr>
          <a:xfrm>
            <a:off x="2807208" y="3467921"/>
            <a:ext cx="1954587"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62</a:t>
            </a:r>
            <a:endParaRPr lang="en-US" sz="1300" dirty="0"/>
          </a:p>
        </p:txBody>
      </p:sp>
      <p:sp>
        <p:nvSpPr>
          <p:cNvPr id="70" name="Shape 68"/>
          <p:cNvSpPr/>
          <p:nvPr/>
        </p:nvSpPr>
        <p:spPr>
          <a:xfrm>
            <a:off x="4761795" y="3467921"/>
            <a:ext cx="806939" cy="174962"/>
          </a:xfrm>
          <a:prstGeom prst="rect">
            <a:avLst/>
          </a:prstGeom>
          <a:solidFill>
            <a:srgbClr val="0B2C4A"/>
          </a:solidFill>
          <a:ln w="6350">
            <a:solidFill>
              <a:srgbClr val="FFFFFF"/>
            </a:solidFill>
            <a:prstDash val="solid"/>
          </a:ln>
        </p:spPr>
      </p:sp>
      <p:sp>
        <p:nvSpPr>
          <p:cNvPr id="71" name="Text 69"/>
          <p:cNvSpPr txBox="1"/>
          <p:nvPr/>
        </p:nvSpPr>
        <p:spPr>
          <a:xfrm>
            <a:off x="4761795" y="3467921"/>
            <a:ext cx="806939"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26</a:t>
            </a:r>
            <a:endParaRPr lang="en-US" sz="1300" dirty="0"/>
          </a:p>
        </p:txBody>
      </p:sp>
      <p:sp>
        <p:nvSpPr>
          <p:cNvPr id="72" name="Shape 70"/>
          <p:cNvSpPr/>
          <p:nvPr/>
        </p:nvSpPr>
        <p:spPr>
          <a:xfrm>
            <a:off x="5568734" y="3467921"/>
            <a:ext cx="393154" cy="174962"/>
          </a:xfrm>
          <a:prstGeom prst="rect">
            <a:avLst/>
          </a:prstGeom>
          <a:solidFill>
            <a:srgbClr val="D9D9D9"/>
          </a:solidFill>
          <a:ln w="6350">
            <a:solidFill>
              <a:srgbClr val="FFFFFF"/>
            </a:solidFill>
            <a:prstDash val="solid"/>
          </a:ln>
        </p:spPr>
      </p:sp>
      <p:sp>
        <p:nvSpPr>
          <p:cNvPr id="73" name="Text 71"/>
          <p:cNvSpPr txBox="1"/>
          <p:nvPr/>
        </p:nvSpPr>
        <p:spPr>
          <a:xfrm>
            <a:off x="5568734" y="3467921"/>
            <a:ext cx="393154"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12</a:t>
            </a:r>
            <a:endParaRPr lang="en-US" sz="1300" dirty="0"/>
          </a:p>
        </p:txBody>
      </p:sp>
      <p:sp>
        <p:nvSpPr>
          <p:cNvPr id="74" name="Text 72"/>
          <p:cNvSpPr txBox="1"/>
          <p:nvPr/>
        </p:nvSpPr>
        <p:spPr>
          <a:xfrm>
            <a:off x="658368" y="3670509"/>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75" name="Shape 73"/>
          <p:cNvSpPr/>
          <p:nvPr/>
        </p:nvSpPr>
        <p:spPr>
          <a:xfrm>
            <a:off x="2807208" y="3698135"/>
            <a:ext cx="1944038" cy="174962"/>
          </a:xfrm>
          <a:prstGeom prst="rect">
            <a:avLst/>
          </a:prstGeom>
          <a:solidFill>
            <a:srgbClr val="2587C5"/>
          </a:solidFill>
          <a:ln w="6350">
            <a:solidFill>
              <a:srgbClr val="FFFFFF"/>
            </a:solidFill>
            <a:prstDash val="solid"/>
          </a:ln>
        </p:spPr>
      </p:sp>
      <p:sp>
        <p:nvSpPr>
          <p:cNvPr id="76" name="Text 74"/>
          <p:cNvSpPr txBox="1"/>
          <p:nvPr/>
        </p:nvSpPr>
        <p:spPr>
          <a:xfrm>
            <a:off x="2807208" y="3698135"/>
            <a:ext cx="1944038"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62</a:t>
            </a:r>
            <a:endParaRPr lang="en-US" sz="1300" dirty="0"/>
          </a:p>
        </p:txBody>
      </p:sp>
      <p:sp>
        <p:nvSpPr>
          <p:cNvPr id="77" name="Shape 75"/>
          <p:cNvSpPr/>
          <p:nvPr/>
        </p:nvSpPr>
        <p:spPr>
          <a:xfrm>
            <a:off x="4751246" y="3698135"/>
            <a:ext cx="413200" cy="174962"/>
          </a:xfrm>
          <a:prstGeom prst="rect">
            <a:avLst/>
          </a:prstGeom>
          <a:solidFill>
            <a:srgbClr val="0B2C4A"/>
          </a:solidFill>
          <a:ln w="6350">
            <a:solidFill>
              <a:srgbClr val="FFFFFF"/>
            </a:solidFill>
            <a:prstDash val="solid"/>
          </a:ln>
        </p:spPr>
      </p:sp>
      <p:sp>
        <p:nvSpPr>
          <p:cNvPr id="78" name="Text 76"/>
          <p:cNvSpPr txBox="1"/>
          <p:nvPr/>
        </p:nvSpPr>
        <p:spPr>
          <a:xfrm>
            <a:off x="4751246" y="3698135"/>
            <a:ext cx="41320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13</a:t>
            </a:r>
            <a:endParaRPr lang="en-US" sz="1300" dirty="0"/>
          </a:p>
        </p:txBody>
      </p:sp>
      <p:sp>
        <p:nvSpPr>
          <p:cNvPr id="79" name="Shape 77"/>
          <p:cNvSpPr/>
          <p:nvPr/>
        </p:nvSpPr>
        <p:spPr>
          <a:xfrm>
            <a:off x="5164447" y="3698135"/>
            <a:ext cx="797441" cy="174962"/>
          </a:xfrm>
          <a:prstGeom prst="rect">
            <a:avLst/>
          </a:prstGeom>
          <a:solidFill>
            <a:srgbClr val="D9D9D9"/>
          </a:solidFill>
          <a:ln w="6350">
            <a:solidFill>
              <a:srgbClr val="FFFFFF"/>
            </a:solidFill>
            <a:prstDash val="solid"/>
          </a:ln>
        </p:spPr>
      </p:sp>
      <p:sp>
        <p:nvSpPr>
          <p:cNvPr id="80" name="Text 78"/>
          <p:cNvSpPr txBox="1"/>
          <p:nvPr/>
        </p:nvSpPr>
        <p:spPr>
          <a:xfrm>
            <a:off x="5164447" y="3698135"/>
            <a:ext cx="797441"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25</a:t>
            </a:r>
            <a:endParaRPr lang="en-US" sz="1300" dirty="0"/>
          </a:p>
        </p:txBody>
      </p:sp>
      <p:sp>
        <p:nvSpPr>
          <p:cNvPr id="81" name="Text 79"/>
          <p:cNvSpPr txBox="1"/>
          <p:nvPr/>
        </p:nvSpPr>
        <p:spPr>
          <a:xfrm>
            <a:off x="658368" y="3900723"/>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82" name="Shape 80"/>
          <p:cNvSpPr/>
          <p:nvPr/>
        </p:nvSpPr>
        <p:spPr>
          <a:xfrm>
            <a:off x="2807208" y="3928348"/>
            <a:ext cx="1893448" cy="174962"/>
          </a:xfrm>
          <a:prstGeom prst="rect">
            <a:avLst/>
          </a:prstGeom>
          <a:solidFill>
            <a:srgbClr val="2587C5"/>
          </a:solidFill>
          <a:ln w="6350">
            <a:solidFill>
              <a:srgbClr val="FFFFFF"/>
            </a:solidFill>
            <a:prstDash val="solid"/>
          </a:ln>
        </p:spPr>
      </p:sp>
      <p:sp>
        <p:nvSpPr>
          <p:cNvPr id="83" name="Text 81"/>
          <p:cNvSpPr txBox="1"/>
          <p:nvPr/>
        </p:nvSpPr>
        <p:spPr>
          <a:xfrm>
            <a:off x="2807208" y="3928348"/>
            <a:ext cx="1893448"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60</a:t>
            </a:r>
            <a:endParaRPr lang="en-US" sz="1300" dirty="0"/>
          </a:p>
        </p:txBody>
      </p:sp>
      <p:sp>
        <p:nvSpPr>
          <p:cNvPr id="84" name="Shape 82"/>
          <p:cNvSpPr/>
          <p:nvPr/>
        </p:nvSpPr>
        <p:spPr>
          <a:xfrm>
            <a:off x="4700656" y="3928348"/>
            <a:ext cx="834167" cy="174962"/>
          </a:xfrm>
          <a:prstGeom prst="rect">
            <a:avLst/>
          </a:prstGeom>
          <a:solidFill>
            <a:srgbClr val="0B2C4A"/>
          </a:solidFill>
          <a:ln w="6350">
            <a:solidFill>
              <a:srgbClr val="FFFFFF"/>
            </a:solidFill>
            <a:prstDash val="solid"/>
          </a:ln>
        </p:spPr>
      </p:sp>
      <p:sp>
        <p:nvSpPr>
          <p:cNvPr id="85" name="Text 83"/>
          <p:cNvSpPr txBox="1"/>
          <p:nvPr/>
        </p:nvSpPr>
        <p:spPr>
          <a:xfrm>
            <a:off x="4700656" y="3928348"/>
            <a:ext cx="834167"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26</a:t>
            </a:r>
            <a:endParaRPr lang="en-US" sz="1300" dirty="0"/>
          </a:p>
        </p:txBody>
      </p:sp>
      <p:sp>
        <p:nvSpPr>
          <p:cNvPr id="86" name="Shape 84"/>
          <p:cNvSpPr/>
          <p:nvPr/>
        </p:nvSpPr>
        <p:spPr>
          <a:xfrm>
            <a:off x="5534823" y="3928348"/>
            <a:ext cx="427065" cy="174962"/>
          </a:xfrm>
          <a:prstGeom prst="rect">
            <a:avLst/>
          </a:prstGeom>
          <a:solidFill>
            <a:srgbClr val="D9D9D9"/>
          </a:solidFill>
          <a:ln w="6350">
            <a:solidFill>
              <a:srgbClr val="FFFFFF"/>
            </a:solidFill>
            <a:prstDash val="solid"/>
          </a:ln>
        </p:spPr>
      </p:sp>
      <p:sp>
        <p:nvSpPr>
          <p:cNvPr id="87" name="Text 85"/>
          <p:cNvSpPr txBox="1"/>
          <p:nvPr/>
        </p:nvSpPr>
        <p:spPr>
          <a:xfrm>
            <a:off x="5534823" y="3928348"/>
            <a:ext cx="427065"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14</a:t>
            </a:r>
            <a:endParaRPr lang="en-US" sz="1300" dirty="0"/>
          </a:p>
        </p:txBody>
      </p:sp>
      <p:sp>
        <p:nvSpPr>
          <p:cNvPr id="88" name="Text 86"/>
          <p:cNvSpPr txBox="1"/>
          <p:nvPr/>
        </p:nvSpPr>
        <p:spPr>
          <a:xfrm>
            <a:off x="658368" y="4130936"/>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89" name="Shape 87"/>
          <p:cNvSpPr/>
          <p:nvPr/>
        </p:nvSpPr>
        <p:spPr>
          <a:xfrm>
            <a:off x="2807208" y="4158562"/>
            <a:ext cx="1882994" cy="174962"/>
          </a:xfrm>
          <a:prstGeom prst="rect">
            <a:avLst/>
          </a:prstGeom>
          <a:solidFill>
            <a:srgbClr val="2587C5"/>
          </a:solidFill>
          <a:ln w="6350">
            <a:solidFill>
              <a:srgbClr val="FFFFFF"/>
            </a:solidFill>
            <a:prstDash val="solid"/>
          </a:ln>
        </p:spPr>
      </p:sp>
      <p:sp>
        <p:nvSpPr>
          <p:cNvPr id="90" name="Text 88"/>
          <p:cNvSpPr txBox="1"/>
          <p:nvPr/>
        </p:nvSpPr>
        <p:spPr>
          <a:xfrm>
            <a:off x="2807208" y="4158562"/>
            <a:ext cx="1882994"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60</a:t>
            </a:r>
            <a:endParaRPr lang="en-US" sz="1300" dirty="0"/>
          </a:p>
        </p:txBody>
      </p:sp>
      <p:sp>
        <p:nvSpPr>
          <p:cNvPr id="91" name="Shape 89"/>
          <p:cNvSpPr/>
          <p:nvPr/>
        </p:nvSpPr>
        <p:spPr>
          <a:xfrm>
            <a:off x="4690202" y="4158562"/>
            <a:ext cx="981874" cy="174962"/>
          </a:xfrm>
          <a:prstGeom prst="rect">
            <a:avLst/>
          </a:prstGeom>
          <a:solidFill>
            <a:srgbClr val="0B2C4A"/>
          </a:solidFill>
          <a:ln w="6350">
            <a:solidFill>
              <a:srgbClr val="FFFFFF"/>
            </a:solidFill>
            <a:prstDash val="solid"/>
          </a:ln>
        </p:spPr>
      </p:sp>
      <p:sp>
        <p:nvSpPr>
          <p:cNvPr id="92" name="Text 90"/>
          <p:cNvSpPr txBox="1"/>
          <p:nvPr/>
        </p:nvSpPr>
        <p:spPr>
          <a:xfrm>
            <a:off x="4690202" y="4158562"/>
            <a:ext cx="981874"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31</a:t>
            </a:r>
            <a:endParaRPr lang="en-US" sz="1300" dirty="0"/>
          </a:p>
        </p:txBody>
      </p:sp>
      <p:sp>
        <p:nvSpPr>
          <p:cNvPr id="93" name="Shape 91"/>
          <p:cNvSpPr/>
          <p:nvPr/>
        </p:nvSpPr>
        <p:spPr>
          <a:xfrm>
            <a:off x="5672077" y="4158562"/>
            <a:ext cx="289811" cy="174962"/>
          </a:xfrm>
          <a:prstGeom prst="rect">
            <a:avLst/>
          </a:prstGeom>
          <a:solidFill>
            <a:srgbClr val="D9D9D9"/>
          </a:solidFill>
          <a:ln w="6350">
            <a:solidFill>
              <a:srgbClr val="FFFFFF"/>
            </a:solidFill>
            <a:prstDash val="solid"/>
          </a:ln>
        </p:spPr>
      </p:sp>
      <p:sp>
        <p:nvSpPr>
          <p:cNvPr id="94" name="Text 92"/>
          <p:cNvSpPr txBox="1"/>
          <p:nvPr/>
        </p:nvSpPr>
        <p:spPr>
          <a:xfrm>
            <a:off x="5672077" y="4158562"/>
            <a:ext cx="289811"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9</a:t>
            </a:r>
            <a:endParaRPr lang="en-US" sz="1300" dirty="0"/>
          </a:p>
        </p:txBody>
      </p:sp>
      <p:sp>
        <p:nvSpPr>
          <p:cNvPr id="95" name="Text 93"/>
          <p:cNvSpPr txBox="1"/>
          <p:nvPr/>
        </p:nvSpPr>
        <p:spPr>
          <a:xfrm>
            <a:off x="658368" y="4361150"/>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96" name="Shape 94"/>
          <p:cNvSpPr/>
          <p:nvPr/>
        </p:nvSpPr>
        <p:spPr>
          <a:xfrm>
            <a:off x="2807208" y="4388776"/>
            <a:ext cx="1867135" cy="174962"/>
          </a:xfrm>
          <a:prstGeom prst="rect">
            <a:avLst/>
          </a:prstGeom>
          <a:solidFill>
            <a:srgbClr val="2587C5"/>
          </a:solidFill>
          <a:ln w="6350">
            <a:solidFill>
              <a:srgbClr val="FFFFFF"/>
            </a:solidFill>
            <a:prstDash val="solid"/>
          </a:ln>
        </p:spPr>
      </p:sp>
      <p:sp>
        <p:nvSpPr>
          <p:cNvPr id="97" name="Text 95"/>
          <p:cNvSpPr txBox="1"/>
          <p:nvPr/>
        </p:nvSpPr>
        <p:spPr>
          <a:xfrm>
            <a:off x="2807208" y="4388776"/>
            <a:ext cx="1867135"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59</a:t>
            </a:r>
            <a:endParaRPr lang="en-US" sz="1300" dirty="0"/>
          </a:p>
        </p:txBody>
      </p:sp>
      <p:sp>
        <p:nvSpPr>
          <p:cNvPr id="98" name="Shape 96"/>
          <p:cNvSpPr/>
          <p:nvPr/>
        </p:nvSpPr>
        <p:spPr>
          <a:xfrm>
            <a:off x="4674343" y="4388776"/>
            <a:ext cx="47200" cy="174962"/>
          </a:xfrm>
          <a:prstGeom prst="rect">
            <a:avLst/>
          </a:prstGeom>
          <a:solidFill>
            <a:srgbClr val="0B2C4A"/>
          </a:solidFill>
          <a:ln w="6350">
            <a:solidFill>
              <a:srgbClr val="FFFFFF"/>
            </a:solidFill>
            <a:prstDash val="solid"/>
          </a:ln>
        </p:spPr>
      </p:sp>
      <p:sp>
        <p:nvSpPr>
          <p:cNvPr id="99" name="Shape 97"/>
          <p:cNvSpPr/>
          <p:nvPr/>
        </p:nvSpPr>
        <p:spPr>
          <a:xfrm>
            <a:off x="4721543" y="4388776"/>
            <a:ext cx="1240345" cy="174962"/>
          </a:xfrm>
          <a:prstGeom prst="rect">
            <a:avLst/>
          </a:prstGeom>
          <a:solidFill>
            <a:srgbClr val="D9D9D9"/>
          </a:solidFill>
          <a:ln w="6350">
            <a:solidFill>
              <a:srgbClr val="FFFFFF"/>
            </a:solidFill>
            <a:prstDash val="solid"/>
          </a:ln>
        </p:spPr>
      </p:sp>
      <p:sp>
        <p:nvSpPr>
          <p:cNvPr id="100" name="Text 98"/>
          <p:cNvSpPr txBox="1"/>
          <p:nvPr/>
        </p:nvSpPr>
        <p:spPr>
          <a:xfrm>
            <a:off x="4721543" y="4388776"/>
            <a:ext cx="1240345"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39</a:t>
            </a:r>
            <a:endParaRPr lang="en-US" sz="1300" dirty="0"/>
          </a:p>
        </p:txBody>
      </p:sp>
      <p:sp>
        <p:nvSpPr>
          <p:cNvPr id="101" name="Text 99"/>
          <p:cNvSpPr txBox="1"/>
          <p:nvPr/>
        </p:nvSpPr>
        <p:spPr>
          <a:xfrm>
            <a:off x="658368" y="4591364"/>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102" name="Shape 100"/>
          <p:cNvSpPr/>
          <p:nvPr/>
        </p:nvSpPr>
        <p:spPr>
          <a:xfrm>
            <a:off x="2807208" y="4618989"/>
            <a:ext cx="1861915" cy="174962"/>
          </a:xfrm>
          <a:prstGeom prst="rect">
            <a:avLst/>
          </a:prstGeom>
          <a:solidFill>
            <a:srgbClr val="2587C5"/>
          </a:solidFill>
          <a:ln w="6350">
            <a:solidFill>
              <a:srgbClr val="FFFFFF"/>
            </a:solidFill>
            <a:prstDash val="solid"/>
          </a:ln>
        </p:spPr>
      </p:sp>
      <p:sp>
        <p:nvSpPr>
          <p:cNvPr id="103" name="Text 101"/>
          <p:cNvSpPr txBox="1"/>
          <p:nvPr/>
        </p:nvSpPr>
        <p:spPr>
          <a:xfrm>
            <a:off x="2807208" y="4618989"/>
            <a:ext cx="1861915"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59</a:t>
            </a:r>
            <a:endParaRPr lang="en-US" sz="1300" dirty="0"/>
          </a:p>
        </p:txBody>
      </p:sp>
      <p:sp>
        <p:nvSpPr>
          <p:cNvPr id="104" name="Shape 102"/>
          <p:cNvSpPr/>
          <p:nvPr/>
        </p:nvSpPr>
        <p:spPr>
          <a:xfrm>
            <a:off x="4669123" y="4618989"/>
            <a:ext cx="838384" cy="174962"/>
          </a:xfrm>
          <a:prstGeom prst="rect">
            <a:avLst/>
          </a:prstGeom>
          <a:solidFill>
            <a:srgbClr val="0B2C4A"/>
          </a:solidFill>
          <a:ln w="6350">
            <a:solidFill>
              <a:srgbClr val="FFFFFF"/>
            </a:solidFill>
            <a:prstDash val="solid"/>
          </a:ln>
        </p:spPr>
      </p:sp>
      <p:sp>
        <p:nvSpPr>
          <p:cNvPr id="105" name="Text 103"/>
          <p:cNvSpPr txBox="1"/>
          <p:nvPr/>
        </p:nvSpPr>
        <p:spPr>
          <a:xfrm>
            <a:off x="4669123" y="4618989"/>
            <a:ext cx="838384"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27</a:t>
            </a:r>
            <a:endParaRPr lang="en-US" sz="1300" dirty="0"/>
          </a:p>
        </p:txBody>
      </p:sp>
      <p:sp>
        <p:nvSpPr>
          <p:cNvPr id="106" name="Shape 104"/>
          <p:cNvSpPr/>
          <p:nvPr/>
        </p:nvSpPr>
        <p:spPr>
          <a:xfrm>
            <a:off x="5507507" y="4618989"/>
            <a:ext cx="454381" cy="174962"/>
          </a:xfrm>
          <a:prstGeom prst="rect">
            <a:avLst/>
          </a:prstGeom>
          <a:solidFill>
            <a:srgbClr val="D9D9D9"/>
          </a:solidFill>
          <a:ln w="6350">
            <a:solidFill>
              <a:srgbClr val="FFFFFF"/>
            </a:solidFill>
            <a:prstDash val="solid"/>
          </a:ln>
        </p:spPr>
      </p:sp>
      <p:sp>
        <p:nvSpPr>
          <p:cNvPr id="107" name="Text 105"/>
          <p:cNvSpPr txBox="1"/>
          <p:nvPr/>
        </p:nvSpPr>
        <p:spPr>
          <a:xfrm>
            <a:off x="5507507" y="4618989"/>
            <a:ext cx="454381"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14</a:t>
            </a:r>
            <a:endParaRPr lang="en-US" sz="1300" dirty="0"/>
          </a:p>
        </p:txBody>
      </p:sp>
      <p:sp>
        <p:nvSpPr>
          <p:cNvPr id="108" name="Text 106"/>
          <p:cNvSpPr txBox="1"/>
          <p:nvPr/>
        </p:nvSpPr>
        <p:spPr>
          <a:xfrm>
            <a:off x="658368" y="4821577"/>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109" name="Shape 107"/>
          <p:cNvSpPr/>
          <p:nvPr/>
        </p:nvSpPr>
        <p:spPr>
          <a:xfrm>
            <a:off x="2807208" y="4849203"/>
            <a:ext cx="1855141" cy="174962"/>
          </a:xfrm>
          <a:prstGeom prst="rect">
            <a:avLst/>
          </a:prstGeom>
          <a:solidFill>
            <a:srgbClr val="2587C5"/>
          </a:solidFill>
          <a:ln w="6350">
            <a:solidFill>
              <a:srgbClr val="FFFFFF"/>
            </a:solidFill>
            <a:prstDash val="solid"/>
          </a:ln>
        </p:spPr>
      </p:sp>
      <p:sp>
        <p:nvSpPr>
          <p:cNvPr id="110" name="Text 108"/>
          <p:cNvSpPr txBox="1"/>
          <p:nvPr/>
        </p:nvSpPr>
        <p:spPr>
          <a:xfrm>
            <a:off x="2807208" y="4849203"/>
            <a:ext cx="1855141"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59</a:t>
            </a:r>
            <a:endParaRPr lang="en-US" sz="1300" dirty="0"/>
          </a:p>
        </p:txBody>
      </p:sp>
      <p:sp>
        <p:nvSpPr>
          <p:cNvPr id="111" name="Shape 109"/>
          <p:cNvSpPr/>
          <p:nvPr/>
        </p:nvSpPr>
        <p:spPr>
          <a:xfrm>
            <a:off x="4662349" y="4849203"/>
            <a:ext cx="1016459" cy="174962"/>
          </a:xfrm>
          <a:prstGeom prst="rect">
            <a:avLst/>
          </a:prstGeom>
          <a:solidFill>
            <a:srgbClr val="0B2C4A"/>
          </a:solidFill>
          <a:ln w="6350">
            <a:solidFill>
              <a:srgbClr val="FFFFFF"/>
            </a:solidFill>
            <a:prstDash val="solid"/>
          </a:ln>
        </p:spPr>
      </p:sp>
      <p:sp>
        <p:nvSpPr>
          <p:cNvPr id="112" name="Text 110"/>
          <p:cNvSpPr txBox="1"/>
          <p:nvPr/>
        </p:nvSpPr>
        <p:spPr>
          <a:xfrm>
            <a:off x="4662349" y="4849203"/>
            <a:ext cx="1016459"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32</a:t>
            </a:r>
            <a:endParaRPr lang="en-US" sz="1300" dirty="0"/>
          </a:p>
        </p:txBody>
      </p:sp>
      <p:sp>
        <p:nvSpPr>
          <p:cNvPr id="113" name="Shape 111"/>
          <p:cNvSpPr/>
          <p:nvPr/>
        </p:nvSpPr>
        <p:spPr>
          <a:xfrm>
            <a:off x="5678808" y="4849203"/>
            <a:ext cx="283080" cy="174962"/>
          </a:xfrm>
          <a:prstGeom prst="rect">
            <a:avLst/>
          </a:prstGeom>
          <a:solidFill>
            <a:srgbClr val="D9D9D9"/>
          </a:solidFill>
          <a:ln w="6350">
            <a:solidFill>
              <a:srgbClr val="FFFFFF"/>
            </a:solidFill>
            <a:prstDash val="solid"/>
          </a:ln>
        </p:spPr>
      </p:sp>
      <p:sp>
        <p:nvSpPr>
          <p:cNvPr id="114" name="Text 112"/>
          <p:cNvSpPr txBox="1"/>
          <p:nvPr/>
        </p:nvSpPr>
        <p:spPr>
          <a:xfrm>
            <a:off x="5678808" y="4849203"/>
            <a:ext cx="283080"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9</a:t>
            </a:r>
            <a:endParaRPr lang="en-US" sz="1300" dirty="0"/>
          </a:p>
        </p:txBody>
      </p:sp>
      <p:sp>
        <p:nvSpPr>
          <p:cNvPr id="115" name="Text 113"/>
          <p:cNvSpPr txBox="1"/>
          <p:nvPr/>
        </p:nvSpPr>
        <p:spPr>
          <a:xfrm>
            <a:off x="658368" y="5051791"/>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116" name="Shape 114"/>
          <p:cNvSpPr/>
          <p:nvPr/>
        </p:nvSpPr>
        <p:spPr>
          <a:xfrm>
            <a:off x="2807208" y="5079417"/>
            <a:ext cx="1838412" cy="174962"/>
          </a:xfrm>
          <a:prstGeom prst="rect">
            <a:avLst/>
          </a:prstGeom>
          <a:solidFill>
            <a:srgbClr val="2587C5"/>
          </a:solidFill>
          <a:ln w="6350">
            <a:solidFill>
              <a:srgbClr val="FFFFFF"/>
            </a:solidFill>
            <a:prstDash val="solid"/>
          </a:ln>
        </p:spPr>
      </p:sp>
      <p:sp>
        <p:nvSpPr>
          <p:cNvPr id="117" name="Text 115"/>
          <p:cNvSpPr txBox="1"/>
          <p:nvPr/>
        </p:nvSpPr>
        <p:spPr>
          <a:xfrm>
            <a:off x="2807208" y="5079417"/>
            <a:ext cx="1838412"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58</a:t>
            </a:r>
            <a:endParaRPr lang="en-US" sz="1300" dirty="0"/>
          </a:p>
        </p:txBody>
      </p:sp>
      <p:sp>
        <p:nvSpPr>
          <p:cNvPr id="118" name="Shape 116"/>
          <p:cNvSpPr/>
          <p:nvPr/>
        </p:nvSpPr>
        <p:spPr>
          <a:xfrm>
            <a:off x="4645620" y="5079417"/>
            <a:ext cx="572933" cy="174962"/>
          </a:xfrm>
          <a:prstGeom prst="rect">
            <a:avLst/>
          </a:prstGeom>
          <a:solidFill>
            <a:srgbClr val="0B2C4A"/>
          </a:solidFill>
          <a:ln w="6350">
            <a:solidFill>
              <a:srgbClr val="FFFFFF"/>
            </a:solidFill>
            <a:prstDash val="solid"/>
          </a:ln>
        </p:spPr>
      </p:sp>
      <p:sp>
        <p:nvSpPr>
          <p:cNvPr id="119" name="Text 117"/>
          <p:cNvSpPr txBox="1"/>
          <p:nvPr/>
        </p:nvSpPr>
        <p:spPr>
          <a:xfrm>
            <a:off x="4645620" y="5079417"/>
            <a:ext cx="572933"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18</a:t>
            </a:r>
            <a:endParaRPr lang="en-US" sz="1300" dirty="0"/>
          </a:p>
        </p:txBody>
      </p:sp>
      <p:sp>
        <p:nvSpPr>
          <p:cNvPr id="120" name="Shape 118"/>
          <p:cNvSpPr/>
          <p:nvPr/>
        </p:nvSpPr>
        <p:spPr>
          <a:xfrm>
            <a:off x="5218553" y="5079417"/>
            <a:ext cx="743335" cy="174962"/>
          </a:xfrm>
          <a:prstGeom prst="rect">
            <a:avLst/>
          </a:prstGeom>
          <a:solidFill>
            <a:srgbClr val="D9D9D9"/>
          </a:solidFill>
          <a:ln w="6350">
            <a:solidFill>
              <a:srgbClr val="FFFFFF"/>
            </a:solidFill>
            <a:prstDash val="solid"/>
          </a:ln>
        </p:spPr>
      </p:sp>
      <p:sp>
        <p:nvSpPr>
          <p:cNvPr id="121" name="Text 119"/>
          <p:cNvSpPr txBox="1"/>
          <p:nvPr/>
        </p:nvSpPr>
        <p:spPr>
          <a:xfrm>
            <a:off x="5218553" y="5079417"/>
            <a:ext cx="743335"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24</a:t>
            </a:r>
            <a:endParaRPr lang="en-US" sz="1300" dirty="0"/>
          </a:p>
        </p:txBody>
      </p:sp>
      <p:sp>
        <p:nvSpPr>
          <p:cNvPr id="122" name="Text 120"/>
          <p:cNvSpPr txBox="1"/>
          <p:nvPr/>
        </p:nvSpPr>
        <p:spPr>
          <a:xfrm>
            <a:off x="658368" y="5282005"/>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23" name="Shape 121"/>
          <p:cNvSpPr/>
          <p:nvPr/>
        </p:nvSpPr>
        <p:spPr>
          <a:xfrm>
            <a:off x="2807208" y="5309630"/>
            <a:ext cx="1793194" cy="174962"/>
          </a:xfrm>
          <a:prstGeom prst="rect">
            <a:avLst/>
          </a:prstGeom>
          <a:solidFill>
            <a:srgbClr val="2587C5"/>
          </a:solidFill>
          <a:ln w="6350">
            <a:solidFill>
              <a:srgbClr val="FFFFFF"/>
            </a:solidFill>
            <a:prstDash val="solid"/>
          </a:ln>
        </p:spPr>
      </p:sp>
      <p:sp>
        <p:nvSpPr>
          <p:cNvPr id="124" name="Text 122"/>
          <p:cNvSpPr txBox="1"/>
          <p:nvPr/>
        </p:nvSpPr>
        <p:spPr>
          <a:xfrm>
            <a:off x="2807208" y="5309630"/>
            <a:ext cx="1793194"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57</a:t>
            </a:r>
            <a:endParaRPr lang="en-US" sz="1300" dirty="0"/>
          </a:p>
        </p:txBody>
      </p:sp>
      <p:sp>
        <p:nvSpPr>
          <p:cNvPr id="125" name="Shape 123"/>
          <p:cNvSpPr/>
          <p:nvPr/>
        </p:nvSpPr>
        <p:spPr>
          <a:xfrm>
            <a:off x="4600402" y="5309630"/>
            <a:ext cx="753875" cy="174962"/>
          </a:xfrm>
          <a:prstGeom prst="rect">
            <a:avLst/>
          </a:prstGeom>
          <a:solidFill>
            <a:srgbClr val="0B2C4A"/>
          </a:solidFill>
          <a:ln w="6350">
            <a:solidFill>
              <a:srgbClr val="FFFFFF"/>
            </a:solidFill>
            <a:prstDash val="solid"/>
          </a:ln>
        </p:spPr>
      </p:sp>
      <p:sp>
        <p:nvSpPr>
          <p:cNvPr id="126" name="Text 124"/>
          <p:cNvSpPr txBox="1"/>
          <p:nvPr/>
        </p:nvSpPr>
        <p:spPr>
          <a:xfrm>
            <a:off x="4600402" y="5309630"/>
            <a:ext cx="753875"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24</a:t>
            </a:r>
            <a:endParaRPr lang="en-US" sz="1300" dirty="0"/>
          </a:p>
        </p:txBody>
      </p:sp>
      <p:sp>
        <p:nvSpPr>
          <p:cNvPr id="127" name="Shape 125"/>
          <p:cNvSpPr/>
          <p:nvPr/>
        </p:nvSpPr>
        <p:spPr>
          <a:xfrm>
            <a:off x="5354277" y="5309630"/>
            <a:ext cx="607611" cy="174962"/>
          </a:xfrm>
          <a:prstGeom prst="rect">
            <a:avLst/>
          </a:prstGeom>
          <a:solidFill>
            <a:srgbClr val="D9D9D9"/>
          </a:solidFill>
          <a:ln w="6350">
            <a:solidFill>
              <a:srgbClr val="FFFFFF"/>
            </a:solidFill>
            <a:prstDash val="solid"/>
          </a:ln>
        </p:spPr>
      </p:sp>
      <p:sp>
        <p:nvSpPr>
          <p:cNvPr id="128" name="Text 126"/>
          <p:cNvSpPr txBox="1"/>
          <p:nvPr/>
        </p:nvSpPr>
        <p:spPr>
          <a:xfrm>
            <a:off x="5354277" y="5309630"/>
            <a:ext cx="607611"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19</a:t>
            </a:r>
            <a:endParaRPr lang="en-US" sz="1300" dirty="0"/>
          </a:p>
        </p:txBody>
      </p:sp>
      <p:sp>
        <p:nvSpPr>
          <p:cNvPr id="129" name="Text 127"/>
          <p:cNvSpPr txBox="1"/>
          <p:nvPr/>
        </p:nvSpPr>
        <p:spPr>
          <a:xfrm>
            <a:off x="658368" y="5512218"/>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130" name="Shape 128"/>
          <p:cNvSpPr/>
          <p:nvPr/>
        </p:nvSpPr>
        <p:spPr>
          <a:xfrm>
            <a:off x="2807208" y="5539844"/>
            <a:ext cx="1791504" cy="174962"/>
          </a:xfrm>
          <a:prstGeom prst="rect">
            <a:avLst/>
          </a:prstGeom>
          <a:solidFill>
            <a:srgbClr val="2587C5"/>
          </a:solidFill>
          <a:ln w="6350">
            <a:solidFill>
              <a:srgbClr val="FFFFFF"/>
            </a:solidFill>
            <a:prstDash val="solid"/>
          </a:ln>
        </p:spPr>
      </p:sp>
      <p:sp>
        <p:nvSpPr>
          <p:cNvPr id="131" name="Text 129"/>
          <p:cNvSpPr txBox="1"/>
          <p:nvPr/>
        </p:nvSpPr>
        <p:spPr>
          <a:xfrm>
            <a:off x="2807208" y="5539844"/>
            <a:ext cx="1791504"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57</a:t>
            </a:r>
            <a:endParaRPr lang="en-US" sz="1300" dirty="0"/>
          </a:p>
        </p:txBody>
      </p:sp>
      <p:sp>
        <p:nvSpPr>
          <p:cNvPr id="132" name="Shape 130"/>
          <p:cNvSpPr/>
          <p:nvPr/>
        </p:nvSpPr>
        <p:spPr>
          <a:xfrm>
            <a:off x="4598712" y="5539844"/>
            <a:ext cx="753618" cy="174962"/>
          </a:xfrm>
          <a:prstGeom prst="rect">
            <a:avLst/>
          </a:prstGeom>
          <a:solidFill>
            <a:srgbClr val="0B2C4A"/>
          </a:solidFill>
          <a:ln w="6350">
            <a:solidFill>
              <a:srgbClr val="FFFFFF"/>
            </a:solidFill>
            <a:prstDash val="solid"/>
          </a:ln>
        </p:spPr>
      </p:sp>
      <p:sp>
        <p:nvSpPr>
          <p:cNvPr id="133" name="Text 131"/>
          <p:cNvSpPr txBox="1"/>
          <p:nvPr/>
        </p:nvSpPr>
        <p:spPr>
          <a:xfrm>
            <a:off x="4598712" y="5539844"/>
            <a:ext cx="753618"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24</a:t>
            </a:r>
            <a:endParaRPr lang="en-US" sz="1300" dirty="0"/>
          </a:p>
        </p:txBody>
      </p:sp>
      <p:sp>
        <p:nvSpPr>
          <p:cNvPr id="134" name="Shape 132"/>
          <p:cNvSpPr/>
          <p:nvPr/>
        </p:nvSpPr>
        <p:spPr>
          <a:xfrm>
            <a:off x="5352329" y="5539844"/>
            <a:ext cx="609559" cy="174962"/>
          </a:xfrm>
          <a:prstGeom prst="rect">
            <a:avLst/>
          </a:prstGeom>
          <a:solidFill>
            <a:srgbClr val="D9D9D9"/>
          </a:solidFill>
          <a:ln w="6350">
            <a:solidFill>
              <a:srgbClr val="FFFFFF"/>
            </a:solidFill>
            <a:prstDash val="solid"/>
          </a:ln>
        </p:spPr>
      </p:sp>
      <p:sp>
        <p:nvSpPr>
          <p:cNvPr id="135" name="Text 133"/>
          <p:cNvSpPr txBox="1"/>
          <p:nvPr/>
        </p:nvSpPr>
        <p:spPr>
          <a:xfrm>
            <a:off x="5352329" y="5539844"/>
            <a:ext cx="609559"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19</a:t>
            </a:r>
            <a:endParaRPr lang="en-US" sz="1300" dirty="0"/>
          </a:p>
        </p:txBody>
      </p:sp>
      <p:sp>
        <p:nvSpPr>
          <p:cNvPr id="136" name="Text 134"/>
          <p:cNvSpPr txBox="1"/>
          <p:nvPr/>
        </p:nvSpPr>
        <p:spPr>
          <a:xfrm>
            <a:off x="6208776" y="1828800"/>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137" name="Shape 135"/>
          <p:cNvSpPr/>
          <p:nvPr/>
        </p:nvSpPr>
        <p:spPr>
          <a:xfrm>
            <a:off x="8357616" y="1856426"/>
            <a:ext cx="1739659" cy="174962"/>
          </a:xfrm>
          <a:prstGeom prst="rect">
            <a:avLst/>
          </a:prstGeom>
          <a:solidFill>
            <a:srgbClr val="2587C5"/>
          </a:solidFill>
          <a:ln w="6350">
            <a:solidFill>
              <a:srgbClr val="FFFFFF"/>
            </a:solidFill>
            <a:prstDash val="solid"/>
          </a:ln>
        </p:spPr>
      </p:sp>
      <p:sp>
        <p:nvSpPr>
          <p:cNvPr id="138" name="Text 136"/>
          <p:cNvSpPr txBox="1"/>
          <p:nvPr/>
        </p:nvSpPr>
        <p:spPr>
          <a:xfrm>
            <a:off x="8357616" y="1856426"/>
            <a:ext cx="1739659"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55</a:t>
            </a:r>
            <a:endParaRPr lang="en-US" sz="1300" dirty="0"/>
          </a:p>
        </p:txBody>
      </p:sp>
      <p:sp>
        <p:nvSpPr>
          <p:cNvPr id="139" name="Shape 137"/>
          <p:cNvSpPr/>
          <p:nvPr/>
        </p:nvSpPr>
        <p:spPr>
          <a:xfrm>
            <a:off x="10097275" y="1856426"/>
            <a:ext cx="1115781" cy="174962"/>
          </a:xfrm>
          <a:prstGeom prst="rect">
            <a:avLst/>
          </a:prstGeom>
          <a:solidFill>
            <a:srgbClr val="0B2C4A"/>
          </a:solidFill>
          <a:ln w="6350">
            <a:solidFill>
              <a:srgbClr val="FFFFFF"/>
            </a:solidFill>
            <a:prstDash val="solid"/>
          </a:ln>
        </p:spPr>
      </p:sp>
      <p:sp>
        <p:nvSpPr>
          <p:cNvPr id="140" name="Text 138"/>
          <p:cNvSpPr txBox="1"/>
          <p:nvPr/>
        </p:nvSpPr>
        <p:spPr>
          <a:xfrm>
            <a:off x="10097275" y="1856426"/>
            <a:ext cx="1115781"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35</a:t>
            </a:r>
            <a:endParaRPr lang="en-US" sz="1300" dirty="0"/>
          </a:p>
        </p:txBody>
      </p:sp>
      <p:sp>
        <p:nvSpPr>
          <p:cNvPr id="141" name="Shape 139"/>
          <p:cNvSpPr/>
          <p:nvPr/>
        </p:nvSpPr>
        <p:spPr>
          <a:xfrm>
            <a:off x="11213056" y="1856426"/>
            <a:ext cx="299240" cy="174962"/>
          </a:xfrm>
          <a:prstGeom prst="rect">
            <a:avLst/>
          </a:prstGeom>
          <a:solidFill>
            <a:srgbClr val="D9D9D9"/>
          </a:solidFill>
          <a:ln w="6350">
            <a:solidFill>
              <a:srgbClr val="FFFFFF"/>
            </a:solidFill>
            <a:prstDash val="solid"/>
          </a:ln>
        </p:spPr>
      </p:sp>
      <p:sp>
        <p:nvSpPr>
          <p:cNvPr id="142" name="Text 140"/>
          <p:cNvSpPr txBox="1"/>
          <p:nvPr/>
        </p:nvSpPr>
        <p:spPr>
          <a:xfrm>
            <a:off x="11213056" y="1856426"/>
            <a:ext cx="299240"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9</a:t>
            </a:r>
            <a:endParaRPr lang="en-US" sz="1300" dirty="0"/>
          </a:p>
        </p:txBody>
      </p:sp>
      <p:sp>
        <p:nvSpPr>
          <p:cNvPr id="143" name="Text 141"/>
          <p:cNvSpPr txBox="1"/>
          <p:nvPr/>
        </p:nvSpPr>
        <p:spPr>
          <a:xfrm>
            <a:off x="6208776" y="2059014"/>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144" name="Shape 142"/>
          <p:cNvSpPr/>
          <p:nvPr/>
        </p:nvSpPr>
        <p:spPr>
          <a:xfrm>
            <a:off x="8357616" y="2086639"/>
            <a:ext cx="1737636" cy="174962"/>
          </a:xfrm>
          <a:prstGeom prst="rect">
            <a:avLst/>
          </a:prstGeom>
          <a:solidFill>
            <a:srgbClr val="2587C5"/>
          </a:solidFill>
          <a:ln w="6350">
            <a:solidFill>
              <a:srgbClr val="FFFFFF"/>
            </a:solidFill>
            <a:prstDash val="solid"/>
          </a:ln>
        </p:spPr>
      </p:sp>
      <p:sp>
        <p:nvSpPr>
          <p:cNvPr id="145" name="Text 143"/>
          <p:cNvSpPr txBox="1"/>
          <p:nvPr/>
        </p:nvSpPr>
        <p:spPr>
          <a:xfrm>
            <a:off x="8357616" y="2086639"/>
            <a:ext cx="1737636"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55</a:t>
            </a:r>
            <a:endParaRPr lang="en-US" sz="1300" dirty="0"/>
          </a:p>
        </p:txBody>
      </p:sp>
      <p:sp>
        <p:nvSpPr>
          <p:cNvPr id="146" name="Shape 144"/>
          <p:cNvSpPr/>
          <p:nvPr/>
        </p:nvSpPr>
        <p:spPr>
          <a:xfrm>
            <a:off x="10095252" y="2086639"/>
            <a:ext cx="933948" cy="174962"/>
          </a:xfrm>
          <a:prstGeom prst="rect">
            <a:avLst/>
          </a:prstGeom>
          <a:solidFill>
            <a:srgbClr val="0B2C4A"/>
          </a:solidFill>
          <a:ln w="6350">
            <a:solidFill>
              <a:srgbClr val="FFFFFF"/>
            </a:solidFill>
            <a:prstDash val="solid"/>
          </a:ln>
        </p:spPr>
      </p:sp>
      <p:sp>
        <p:nvSpPr>
          <p:cNvPr id="147" name="Text 145"/>
          <p:cNvSpPr txBox="1"/>
          <p:nvPr/>
        </p:nvSpPr>
        <p:spPr>
          <a:xfrm>
            <a:off x="10095252" y="2086639"/>
            <a:ext cx="933948"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30</a:t>
            </a:r>
            <a:endParaRPr lang="en-US" sz="1300" dirty="0"/>
          </a:p>
        </p:txBody>
      </p:sp>
      <p:sp>
        <p:nvSpPr>
          <p:cNvPr id="148" name="Shape 146"/>
          <p:cNvSpPr/>
          <p:nvPr/>
        </p:nvSpPr>
        <p:spPr>
          <a:xfrm>
            <a:off x="11029200" y="2086639"/>
            <a:ext cx="483096" cy="174962"/>
          </a:xfrm>
          <a:prstGeom prst="rect">
            <a:avLst/>
          </a:prstGeom>
          <a:solidFill>
            <a:srgbClr val="D9D9D9"/>
          </a:solidFill>
          <a:ln w="6350">
            <a:solidFill>
              <a:srgbClr val="FFFFFF"/>
            </a:solidFill>
            <a:prstDash val="solid"/>
          </a:ln>
        </p:spPr>
      </p:sp>
      <p:sp>
        <p:nvSpPr>
          <p:cNvPr id="149" name="Text 147"/>
          <p:cNvSpPr txBox="1"/>
          <p:nvPr/>
        </p:nvSpPr>
        <p:spPr>
          <a:xfrm>
            <a:off x="11029200" y="2086639"/>
            <a:ext cx="483096"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15</a:t>
            </a:r>
            <a:endParaRPr lang="en-US" sz="1300" dirty="0"/>
          </a:p>
        </p:txBody>
      </p:sp>
      <p:sp>
        <p:nvSpPr>
          <p:cNvPr id="150" name="Text 148"/>
          <p:cNvSpPr txBox="1"/>
          <p:nvPr/>
        </p:nvSpPr>
        <p:spPr>
          <a:xfrm>
            <a:off x="6208776" y="2289227"/>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151" name="Shape 149"/>
          <p:cNvSpPr/>
          <p:nvPr/>
        </p:nvSpPr>
        <p:spPr>
          <a:xfrm>
            <a:off x="8357616" y="2316853"/>
            <a:ext cx="1534178" cy="174962"/>
          </a:xfrm>
          <a:prstGeom prst="rect">
            <a:avLst/>
          </a:prstGeom>
          <a:solidFill>
            <a:srgbClr val="2587C5"/>
          </a:solidFill>
          <a:ln w="6350">
            <a:solidFill>
              <a:srgbClr val="FFFFFF"/>
            </a:solidFill>
            <a:prstDash val="solid"/>
          </a:ln>
        </p:spPr>
      </p:sp>
      <p:sp>
        <p:nvSpPr>
          <p:cNvPr id="152" name="Text 150"/>
          <p:cNvSpPr txBox="1"/>
          <p:nvPr/>
        </p:nvSpPr>
        <p:spPr>
          <a:xfrm>
            <a:off x="8357616" y="2316853"/>
            <a:ext cx="1534178"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49</a:t>
            </a:r>
            <a:endParaRPr lang="en-US" sz="1300" dirty="0"/>
          </a:p>
        </p:txBody>
      </p:sp>
      <p:sp>
        <p:nvSpPr>
          <p:cNvPr id="153" name="Shape 151"/>
          <p:cNvSpPr/>
          <p:nvPr/>
        </p:nvSpPr>
        <p:spPr>
          <a:xfrm>
            <a:off x="9891794" y="2316853"/>
            <a:ext cx="1305710" cy="174962"/>
          </a:xfrm>
          <a:prstGeom prst="rect">
            <a:avLst/>
          </a:prstGeom>
          <a:solidFill>
            <a:srgbClr val="0B2C4A"/>
          </a:solidFill>
          <a:ln w="6350">
            <a:solidFill>
              <a:srgbClr val="FFFFFF"/>
            </a:solidFill>
            <a:prstDash val="solid"/>
          </a:ln>
        </p:spPr>
      </p:sp>
      <p:sp>
        <p:nvSpPr>
          <p:cNvPr id="154" name="Text 152"/>
          <p:cNvSpPr txBox="1"/>
          <p:nvPr/>
        </p:nvSpPr>
        <p:spPr>
          <a:xfrm>
            <a:off x="9891794" y="2316853"/>
            <a:ext cx="130571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41</a:t>
            </a:r>
            <a:endParaRPr lang="en-US" sz="1300" dirty="0"/>
          </a:p>
        </p:txBody>
      </p:sp>
      <p:sp>
        <p:nvSpPr>
          <p:cNvPr id="155" name="Shape 153"/>
          <p:cNvSpPr/>
          <p:nvPr/>
        </p:nvSpPr>
        <p:spPr>
          <a:xfrm>
            <a:off x="11197503" y="2316853"/>
            <a:ext cx="314793" cy="174962"/>
          </a:xfrm>
          <a:prstGeom prst="rect">
            <a:avLst/>
          </a:prstGeom>
          <a:solidFill>
            <a:srgbClr val="D9D9D9"/>
          </a:solidFill>
          <a:ln w="6350">
            <a:solidFill>
              <a:srgbClr val="FFFFFF"/>
            </a:solidFill>
            <a:prstDash val="solid"/>
          </a:ln>
        </p:spPr>
      </p:sp>
      <p:sp>
        <p:nvSpPr>
          <p:cNvPr id="156" name="Text 154"/>
          <p:cNvSpPr txBox="1"/>
          <p:nvPr/>
        </p:nvSpPr>
        <p:spPr>
          <a:xfrm>
            <a:off x="11197503" y="2316853"/>
            <a:ext cx="314793"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10</a:t>
            </a:r>
            <a:endParaRPr lang="en-US" sz="1300" dirty="0"/>
          </a:p>
        </p:txBody>
      </p:sp>
      <p:sp>
        <p:nvSpPr>
          <p:cNvPr id="157" name="Text 155"/>
          <p:cNvSpPr txBox="1"/>
          <p:nvPr/>
        </p:nvSpPr>
        <p:spPr>
          <a:xfrm>
            <a:off x="6208776" y="2519441"/>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158" name="Shape 156"/>
          <p:cNvSpPr/>
          <p:nvPr/>
        </p:nvSpPr>
        <p:spPr>
          <a:xfrm>
            <a:off x="8357616" y="2547067"/>
            <a:ext cx="1384233" cy="174962"/>
          </a:xfrm>
          <a:prstGeom prst="rect">
            <a:avLst/>
          </a:prstGeom>
          <a:solidFill>
            <a:srgbClr val="2587C5"/>
          </a:solidFill>
          <a:ln w="6350">
            <a:solidFill>
              <a:srgbClr val="FFFFFF"/>
            </a:solidFill>
            <a:prstDash val="solid"/>
          </a:ln>
        </p:spPr>
      </p:sp>
      <p:sp>
        <p:nvSpPr>
          <p:cNvPr id="159" name="Text 157"/>
          <p:cNvSpPr txBox="1"/>
          <p:nvPr/>
        </p:nvSpPr>
        <p:spPr>
          <a:xfrm>
            <a:off x="8357616" y="2547067"/>
            <a:ext cx="1384233"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44</a:t>
            </a:r>
            <a:endParaRPr lang="en-US" sz="1300" dirty="0"/>
          </a:p>
        </p:txBody>
      </p:sp>
      <p:sp>
        <p:nvSpPr>
          <p:cNvPr id="160" name="Shape 158"/>
          <p:cNvSpPr/>
          <p:nvPr/>
        </p:nvSpPr>
        <p:spPr>
          <a:xfrm>
            <a:off x="9741849" y="2547067"/>
            <a:ext cx="1315083" cy="174962"/>
          </a:xfrm>
          <a:prstGeom prst="rect">
            <a:avLst/>
          </a:prstGeom>
          <a:solidFill>
            <a:srgbClr val="0B2C4A"/>
          </a:solidFill>
          <a:ln w="6350">
            <a:solidFill>
              <a:srgbClr val="FFFFFF"/>
            </a:solidFill>
            <a:prstDash val="solid"/>
          </a:ln>
        </p:spPr>
      </p:sp>
      <p:sp>
        <p:nvSpPr>
          <p:cNvPr id="161" name="Text 159"/>
          <p:cNvSpPr txBox="1"/>
          <p:nvPr/>
        </p:nvSpPr>
        <p:spPr>
          <a:xfrm>
            <a:off x="9741849" y="2547067"/>
            <a:ext cx="1315083"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42</a:t>
            </a:r>
            <a:endParaRPr lang="en-US" sz="1300" dirty="0"/>
          </a:p>
        </p:txBody>
      </p:sp>
      <p:sp>
        <p:nvSpPr>
          <p:cNvPr id="162" name="Shape 160"/>
          <p:cNvSpPr/>
          <p:nvPr/>
        </p:nvSpPr>
        <p:spPr>
          <a:xfrm>
            <a:off x="11056933" y="2547067"/>
            <a:ext cx="455363" cy="174962"/>
          </a:xfrm>
          <a:prstGeom prst="rect">
            <a:avLst/>
          </a:prstGeom>
          <a:solidFill>
            <a:srgbClr val="D9D9D9"/>
          </a:solidFill>
          <a:ln w="6350">
            <a:solidFill>
              <a:srgbClr val="FFFFFF"/>
            </a:solidFill>
            <a:prstDash val="solid"/>
          </a:ln>
        </p:spPr>
      </p:sp>
      <p:sp>
        <p:nvSpPr>
          <p:cNvPr id="163" name="Text 161"/>
          <p:cNvSpPr txBox="1"/>
          <p:nvPr/>
        </p:nvSpPr>
        <p:spPr>
          <a:xfrm>
            <a:off x="11056933" y="2547067"/>
            <a:ext cx="455363"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14</a:t>
            </a:r>
            <a:endParaRPr lang="en-US" sz="1300" dirty="0"/>
          </a:p>
        </p:txBody>
      </p:sp>
      <p:sp>
        <p:nvSpPr>
          <p:cNvPr id="164" name="Text 162"/>
          <p:cNvSpPr txBox="1"/>
          <p:nvPr/>
        </p:nvSpPr>
        <p:spPr>
          <a:xfrm>
            <a:off x="6208776" y="2749655"/>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165" name="Shape 163"/>
          <p:cNvSpPr/>
          <p:nvPr/>
        </p:nvSpPr>
        <p:spPr>
          <a:xfrm>
            <a:off x="8357616" y="2777280"/>
            <a:ext cx="1357759" cy="174962"/>
          </a:xfrm>
          <a:prstGeom prst="rect">
            <a:avLst/>
          </a:prstGeom>
          <a:solidFill>
            <a:srgbClr val="2587C5"/>
          </a:solidFill>
          <a:ln w="6350">
            <a:solidFill>
              <a:srgbClr val="FFFFFF"/>
            </a:solidFill>
            <a:prstDash val="solid"/>
          </a:ln>
        </p:spPr>
      </p:sp>
      <p:sp>
        <p:nvSpPr>
          <p:cNvPr id="166" name="Text 164"/>
          <p:cNvSpPr txBox="1"/>
          <p:nvPr/>
        </p:nvSpPr>
        <p:spPr>
          <a:xfrm>
            <a:off x="8357616" y="2777280"/>
            <a:ext cx="1357759"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43</a:t>
            </a:r>
            <a:endParaRPr lang="en-US" sz="1300" dirty="0"/>
          </a:p>
        </p:txBody>
      </p:sp>
      <p:sp>
        <p:nvSpPr>
          <p:cNvPr id="167" name="Shape 165"/>
          <p:cNvSpPr/>
          <p:nvPr/>
        </p:nvSpPr>
        <p:spPr>
          <a:xfrm>
            <a:off x="9715375" y="2777280"/>
            <a:ext cx="945491" cy="174962"/>
          </a:xfrm>
          <a:prstGeom prst="rect">
            <a:avLst/>
          </a:prstGeom>
          <a:solidFill>
            <a:srgbClr val="0B2C4A"/>
          </a:solidFill>
          <a:ln w="6350">
            <a:solidFill>
              <a:srgbClr val="FFFFFF"/>
            </a:solidFill>
            <a:prstDash val="solid"/>
          </a:ln>
        </p:spPr>
      </p:sp>
      <p:sp>
        <p:nvSpPr>
          <p:cNvPr id="168" name="Text 166"/>
          <p:cNvSpPr txBox="1"/>
          <p:nvPr/>
        </p:nvSpPr>
        <p:spPr>
          <a:xfrm>
            <a:off x="9715375" y="2777280"/>
            <a:ext cx="945491"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30</a:t>
            </a:r>
            <a:endParaRPr lang="en-US" sz="1300" dirty="0"/>
          </a:p>
        </p:txBody>
      </p:sp>
      <p:sp>
        <p:nvSpPr>
          <p:cNvPr id="169" name="Shape 167"/>
          <p:cNvSpPr/>
          <p:nvPr/>
        </p:nvSpPr>
        <p:spPr>
          <a:xfrm>
            <a:off x="10660866" y="2777280"/>
            <a:ext cx="851430" cy="174962"/>
          </a:xfrm>
          <a:prstGeom prst="rect">
            <a:avLst/>
          </a:prstGeom>
          <a:solidFill>
            <a:srgbClr val="D9D9D9"/>
          </a:solidFill>
          <a:ln w="6350">
            <a:solidFill>
              <a:srgbClr val="FFFFFF"/>
            </a:solidFill>
            <a:prstDash val="solid"/>
          </a:ln>
        </p:spPr>
      </p:sp>
      <p:sp>
        <p:nvSpPr>
          <p:cNvPr id="170" name="Text 168"/>
          <p:cNvSpPr txBox="1"/>
          <p:nvPr/>
        </p:nvSpPr>
        <p:spPr>
          <a:xfrm>
            <a:off x="10660866" y="2777280"/>
            <a:ext cx="851430"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27</a:t>
            </a:r>
            <a:endParaRPr lang="en-US" sz="1300" dirty="0"/>
          </a:p>
        </p:txBody>
      </p:sp>
      <p:sp>
        <p:nvSpPr>
          <p:cNvPr id="171" name="Text 169"/>
          <p:cNvSpPr txBox="1"/>
          <p:nvPr/>
        </p:nvSpPr>
        <p:spPr>
          <a:xfrm>
            <a:off x="6208776" y="2979868"/>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172" name="Shape 170"/>
          <p:cNvSpPr/>
          <p:nvPr/>
        </p:nvSpPr>
        <p:spPr>
          <a:xfrm>
            <a:off x="8357616" y="3007494"/>
            <a:ext cx="1350116" cy="174962"/>
          </a:xfrm>
          <a:prstGeom prst="rect">
            <a:avLst/>
          </a:prstGeom>
          <a:solidFill>
            <a:srgbClr val="2587C5"/>
          </a:solidFill>
          <a:ln w="6350">
            <a:solidFill>
              <a:srgbClr val="FFFFFF"/>
            </a:solidFill>
            <a:prstDash val="solid"/>
          </a:ln>
        </p:spPr>
      </p:sp>
      <p:sp>
        <p:nvSpPr>
          <p:cNvPr id="173" name="Text 171"/>
          <p:cNvSpPr txBox="1"/>
          <p:nvPr/>
        </p:nvSpPr>
        <p:spPr>
          <a:xfrm>
            <a:off x="8357616" y="3007494"/>
            <a:ext cx="1350116"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43</a:t>
            </a:r>
            <a:endParaRPr lang="en-US" sz="1300" dirty="0"/>
          </a:p>
        </p:txBody>
      </p:sp>
      <p:sp>
        <p:nvSpPr>
          <p:cNvPr id="174" name="Shape 172"/>
          <p:cNvSpPr/>
          <p:nvPr/>
        </p:nvSpPr>
        <p:spPr>
          <a:xfrm>
            <a:off x="9707732" y="3007494"/>
            <a:ext cx="911172" cy="174962"/>
          </a:xfrm>
          <a:prstGeom prst="rect">
            <a:avLst/>
          </a:prstGeom>
          <a:solidFill>
            <a:srgbClr val="0B2C4A"/>
          </a:solidFill>
          <a:ln w="6350">
            <a:solidFill>
              <a:srgbClr val="FFFFFF"/>
            </a:solidFill>
            <a:prstDash val="solid"/>
          </a:ln>
        </p:spPr>
      </p:sp>
      <p:sp>
        <p:nvSpPr>
          <p:cNvPr id="175" name="Text 173"/>
          <p:cNvSpPr txBox="1"/>
          <p:nvPr/>
        </p:nvSpPr>
        <p:spPr>
          <a:xfrm>
            <a:off x="9707732" y="3007494"/>
            <a:ext cx="911172"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29</a:t>
            </a:r>
            <a:endParaRPr lang="en-US" sz="1300" dirty="0"/>
          </a:p>
        </p:txBody>
      </p:sp>
      <p:sp>
        <p:nvSpPr>
          <p:cNvPr id="176" name="Shape 174"/>
          <p:cNvSpPr/>
          <p:nvPr/>
        </p:nvSpPr>
        <p:spPr>
          <a:xfrm>
            <a:off x="10618904" y="3007494"/>
            <a:ext cx="893392" cy="174962"/>
          </a:xfrm>
          <a:prstGeom prst="rect">
            <a:avLst/>
          </a:prstGeom>
          <a:solidFill>
            <a:srgbClr val="D9D9D9"/>
          </a:solidFill>
          <a:ln w="6350">
            <a:solidFill>
              <a:srgbClr val="FFFFFF"/>
            </a:solidFill>
            <a:prstDash val="solid"/>
          </a:ln>
        </p:spPr>
      </p:sp>
      <p:sp>
        <p:nvSpPr>
          <p:cNvPr id="177" name="Text 175"/>
          <p:cNvSpPr txBox="1"/>
          <p:nvPr/>
        </p:nvSpPr>
        <p:spPr>
          <a:xfrm>
            <a:off x="10618904" y="3007494"/>
            <a:ext cx="893392"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28</a:t>
            </a:r>
            <a:endParaRPr lang="en-US" sz="1300" dirty="0"/>
          </a:p>
        </p:txBody>
      </p:sp>
      <p:sp>
        <p:nvSpPr>
          <p:cNvPr id="178" name="Text 176"/>
          <p:cNvSpPr txBox="1"/>
          <p:nvPr/>
        </p:nvSpPr>
        <p:spPr>
          <a:xfrm>
            <a:off x="6208776" y="3210082"/>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179" name="Shape 177"/>
          <p:cNvSpPr/>
          <p:nvPr/>
        </p:nvSpPr>
        <p:spPr>
          <a:xfrm>
            <a:off x="8357616" y="3237708"/>
            <a:ext cx="1294066" cy="174962"/>
          </a:xfrm>
          <a:prstGeom prst="rect">
            <a:avLst/>
          </a:prstGeom>
          <a:solidFill>
            <a:srgbClr val="2587C5"/>
          </a:solidFill>
          <a:ln w="6350">
            <a:solidFill>
              <a:srgbClr val="FFFFFF"/>
            </a:solidFill>
            <a:prstDash val="solid"/>
          </a:ln>
        </p:spPr>
      </p:sp>
      <p:sp>
        <p:nvSpPr>
          <p:cNvPr id="180" name="Text 178"/>
          <p:cNvSpPr txBox="1"/>
          <p:nvPr/>
        </p:nvSpPr>
        <p:spPr>
          <a:xfrm>
            <a:off x="8357616" y="3237708"/>
            <a:ext cx="1294066"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41</a:t>
            </a:r>
            <a:endParaRPr lang="en-US" sz="1300" dirty="0"/>
          </a:p>
        </p:txBody>
      </p:sp>
      <p:sp>
        <p:nvSpPr>
          <p:cNvPr id="181" name="Shape 179"/>
          <p:cNvSpPr/>
          <p:nvPr/>
        </p:nvSpPr>
        <p:spPr>
          <a:xfrm>
            <a:off x="9651682" y="3237708"/>
            <a:ext cx="1618588" cy="174962"/>
          </a:xfrm>
          <a:prstGeom prst="rect">
            <a:avLst/>
          </a:prstGeom>
          <a:solidFill>
            <a:srgbClr val="0B2C4A"/>
          </a:solidFill>
          <a:ln w="6350">
            <a:solidFill>
              <a:srgbClr val="FFFFFF"/>
            </a:solidFill>
            <a:prstDash val="solid"/>
          </a:ln>
        </p:spPr>
      </p:sp>
      <p:sp>
        <p:nvSpPr>
          <p:cNvPr id="182" name="Text 180"/>
          <p:cNvSpPr txBox="1"/>
          <p:nvPr/>
        </p:nvSpPr>
        <p:spPr>
          <a:xfrm>
            <a:off x="9651682" y="3237708"/>
            <a:ext cx="1618588"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51</a:t>
            </a:r>
            <a:endParaRPr lang="en-US" sz="1300" dirty="0"/>
          </a:p>
        </p:txBody>
      </p:sp>
      <p:sp>
        <p:nvSpPr>
          <p:cNvPr id="183" name="Shape 181"/>
          <p:cNvSpPr/>
          <p:nvPr/>
        </p:nvSpPr>
        <p:spPr>
          <a:xfrm>
            <a:off x="11270270" y="3237708"/>
            <a:ext cx="242026" cy="174962"/>
          </a:xfrm>
          <a:prstGeom prst="rect">
            <a:avLst/>
          </a:prstGeom>
          <a:solidFill>
            <a:srgbClr val="D9D9D9"/>
          </a:solidFill>
          <a:ln w="6350">
            <a:solidFill>
              <a:srgbClr val="FFFFFF"/>
            </a:solidFill>
            <a:prstDash val="solid"/>
          </a:ln>
        </p:spPr>
      </p:sp>
      <p:sp>
        <p:nvSpPr>
          <p:cNvPr id="184" name="Text 182"/>
          <p:cNvSpPr txBox="1"/>
          <p:nvPr/>
        </p:nvSpPr>
        <p:spPr>
          <a:xfrm>
            <a:off x="11270270" y="3237708"/>
            <a:ext cx="242026"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8</a:t>
            </a:r>
            <a:endParaRPr lang="en-US" sz="1300" dirty="0"/>
          </a:p>
        </p:txBody>
      </p:sp>
      <p:sp>
        <p:nvSpPr>
          <p:cNvPr id="185" name="Text 183"/>
          <p:cNvSpPr txBox="1"/>
          <p:nvPr/>
        </p:nvSpPr>
        <p:spPr>
          <a:xfrm>
            <a:off x="6208776" y="3440296"/>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186" name="Shape 184"/>
          <p:cNvSpPr/>
          <p:nvPr/>
        </p:nvSpPr>
        <p:spPr>
          <a:xfrm>
            <a:off x="8357616" y="3467921"/>
            <a:ext cx="1279235" cy="174962"/>
          </a:xfrm>
          <a:prstGeom prst="rect">
            <a:avLst/>
          </a:prstGeom>
          <a:solidFill>
            <a:srgbClr val="2587C5"/>
          </a:solidFill>
          <a:ln w="6350">
            <a:solidFill>
              <a:srgbClr val="FFFFFF"/>
            </a:solidFill>
            <a:prstDash val="solid"/>
          </a:ln>
        </p:spPr>
      </p:sp>
      <p:sp>
        <p:nvSpPr>
          <p:cNvPr id="187" name="Text 185"/>
          <p:cNvSpPr txBox="1"/>
          <p:nvPr/>
        </p:nvSpPr>
        <p:spPr>
          <a:xfrm>
            <a:off x="8357616" y="3467921"/>
            <a:ext cx="1279235"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41</a:t>
            </a:r>
            <a:endParaRPr lang="en-US" sz="1300" dirty="0"/>
          </a:p>
        </p:txBody>
      </p:sp>
      <p:sp>
        <p:nvSpPr>
          <p:cNvPr id="188" name="Shape 186"/>
          <p:cNvSpPr/>
          <p:nvPr/>
        </p:nvSpPr>
        <p:spPr>
          <a:xfrm>
            <a:off x="9636851" y="3467921"/>
            <a:ext cx="1523817" cy="174962"/>
          </a:xfrm>
          <a:prstGeom prst="rect">
            <a:avLst/>
          </a:prstGeom>
          <a:solidFill>
            <a:srgbClr val="0B2C4A"/>
          </a:solidFill>
          <a:ln w="6350">
            <a:solidFill>
              <a:srgbClr val="FFFFFF"/>
            </a:solidFill>
            <a:prstDash val="solid"/>
          </a:ln>
        </p:spPr>
      </p:sp>
      <p:sp>
        <p:nvSpPr>
          <p:cNvPr id="189" name="Text 187"/>
          <p:cNvSpPr txBox="1"/>
          <p:nvPr/>
        </p:nvSpPr>
        <p:spPr>
          <a:xfrm>
            <a:off x="9636851" y="3467921"/>
            <a:ext cx="1523817"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48</a:t>
            </a:r>
            <a:endParaRPr lang="en-US" sz="1300" dirty="0"/>
          </a:p>
        </p:txBody>
      </p:sp>
      <p:sp>
        <p:nvSpPr>
          <p:cNvPr id="190" name="Shape 188"/>
          <p:cNvSpPr/>
          <p:nvPr/>
        </p:nvSpPr>
        <p:spPr>
          <a:xfrm>
            <a:off x="11160668" y="3467921"/>
            <a:ext cx="351628" cy="174962"/>
          </a:xfrm>
          <a:prstGeom prst="rect">
            <a:avLst/>
          </a:prstGeom>
          <a:solidFill>
            <a:srgbClr val="D9D9D9"/>
          </a:solidFill>
          <a:ln w="6350">
            <a:solidFill>
              <a:srgbClr val="FFFFFF"/>
            </a:solidFill>
            <a:prstDash val="solid"/>
          </a:ln>
        </p:spPr>
      </p:sp>
      <p:sp>
        <p:nvSpPr>
          <p:cNvPr id="191" name="Text 189"/>
          <p:cNvSpPr txBox="1"/>
          <p:nvPr/>
        </p:nvSpPr>
        <p:spPr>
          <a:xfrm>
            <a:off x="11160668" y="3467921"/>
            <a:ext cx="351628"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11</a:t>
            </a:r>
            <a:endParaRPr lang="en-US" sz="1300" dirty="0"/>
          </a:p>
        </p:txBody>
      </p:sp>
      <p:sp>
        <p:nvSpPr>
          <p:cNvPr id="192" name="Text 190"/>
          <p:cNvSpPr txBox="1"/>
          <p:nvPr/>
        </p:nvSpPr>
        <p:spPr>
          <a:xfrm>
            <a:off x="6208776" y="3670509"/>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193" name="Shape 191"/>
          <p:cNvSpPr/>
          <p:nvPr/>
        </p:nvSpPr>
        <p:spPr>
          <a:xfrm>
            <a:off x="8357616" y="3698135"/>
            <a:ext cx="1267532" cy="174962"/>
          </a:xfrm>
          <a:prstGeom prst="rect">
            <a:avLst/>
          </a:prstGeom>
          <a:solidFill>
            <a:srgbClr val="2587C5"/>
          </a:solidFill>
          <a:ln w="6350">
            <a:solidFill>
              <a:srgbClr val="FFFFFF"/>
            </a:solidFill>
            <a:prstDash val="solid"/>
          </a:ln>
        </p:spPr>
      </p:sp>
      <p:sp>
        <p:nvSpPr>
          <p:cNvPr id="194" name="Text 192"/>
          <p:cNvSpPr txBox="1"/>
          <p:nvPr/>
        </p:nvSpPr>
        <p:spPr>
          <a:xfrm>
            <a:off x="8357616" y="3698135"/>
            <a:ext cx="1267532"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40</a:t>
            </a:r>
            <a:endParaRPr lang="en-US" sz="1300" dirty="0"/>
          </a:p>
        </p:txBody>
      </p:sp>
      <p:sp>
        <p:nvSpPr>
          <p:cNvPr id="195" name="Shape 193"/>
          <p:cNvSpPr/>
          <p:nvPr/>
        </p:nvSpPr>
        <p:spPr>
          <a:xfrm>
            <a:off x="9625148" y="3698135"/>
            <a:ext cx="1322830" cy="174962"/>
          </a:xfrm>
          <a:prstGeom prst="rect">
            <a:avLst/>
          </a:prstGeom>
          <a:solidFill>
            <a:srgbClr val="0B2C4A"/>
          </a:solidFill>
          <a:ln w="6350">
            <a:solidFill>
              <a:srgbClr val="FFFFFF"/>
            </a:solidFill>
            <a:prstDash val="solid"/>
          </a:ln>
        </p:spPr>
      </p:sp>
      <p:sp>
        <p:nvSpPr>
          <p:cNvPr id="196" name="Text 194"/>
          <p:cNvSpPr txBox="1"/>
          <p:nvPr/>
        </p:nvSpPr>
        <p:spPr>
          <a:xfrm>
            <a:off x="9625148" y="3698135"/>
            <a:ext cx="132283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42</a:t>
            </a:r>
            <a:endParaRPr lang="en-US" sz="1300" dirty="0"/>
          </a:p>
        </p:txBody>
      </p:sp>
      <p:sp>
        <p:nvSpPr>
          <p:cNvPr id="197" name="Shape 195"/>
          <p:cNvSpPr/>
          <p:nvPr/>
        </p:nvSpPr>
        <p:spPr>
          <a:xfrm>
            <a:off x="10947978" y="3698135"/>
            <a:ext cx="564318" cy="174962"/>
          </a:xfrm>
          <a:prstGeom prst="rect">
            <a:avLst/>
          </a:prstGeom>
          <a:solidFill>
            <a:srgbClr val="D9D9D9"/>
          </a:solidFill>
          <a:ln w="6350">
            <a:solidFill>
              <a:srgbClr val="FFFFFF"/>
            </a:solidFill>
            <a:prstDash val="solid"/>
          </a:ln>
        </p:spPr>
      </p:sp>
      <p:sp>
        <p:nvSpPr>
          <p:cNvPr id="198" name="Text 196"/>
          <p:cNvSpPr txBox="1"/>
          <p:nvPr/>
        </p:nvSpPr>
        <p:spPr>
          <a:xfrm>
            <a:off x="10947978" y="3698135"/>
            <a:ext cx="564318"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18</a:t>
            </a:r>
            <a:endParaRPr lang="en-US" sz="1300" dirty="0"/>
          </a:p>
        </p:txBody>
      </p:sp>
      <p:sp>
        <p:nvSpPr>
          <p:cNvPr id="199" name="Text 197"/>
          <p:cNvSpPr txBox="1"/>
          <p:nvPr/>
        </p:nvSpPr>
        <p:spPr>
          <a:xfrm>
            <a:off x="6208776" y="3900723"/>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200" name="Shape 198"/>
          <p:cNvSpPr/>
          <p:nvPr/>
        </p:nvSpPr>
        <p:spPr>
          <a:xfrm>
            <a:off x="8357616" y="3928348"/>
            <a:ext cx="1211800" cy="174962"/>
          </a:xfrm>
          <a:prstGeom prst="rect">
            <a:avLst/>
          </a:prstGeom>
          <a:solidFill>
            <a:srgbClr val="2587C5"/>
          </a:solidFill>
          <a:ln w="6350">
            <a:solidFill>
              <a:srgbClr val="FFFFFF"/>
            </a:solidFill>
            <a:prstDash val="solid"/>
          </a:ln>
        </p:spPr>
      </p:sp>
      <p:sp>
        <p:nvSpPr>
          <p:cNvPr id="201" name="Text 199"/>
          <p:cNvSpPr txBox="1"/>
          <p:nvPr/>
        </p:nvSpPr>
        <p:spPr>
          <a:xfrm>
            <a:off x="8357616" y="3928348"/>
            <a:ext cx="121180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38</a:t>
            </a:r>
            <a:endParaRPr lang="en-US" sz="1300" dirty="0"/>
          </a:p>
        </p:txBody>
      </p:sp>
      <p:sp>
        <p:nvSpPr>
          <p:cNvPr id="202" name="Shape 200"/>
          <p:cNvSpPr/>
          <p:nvPr/>
        </p:nvSpPr>
        <p:spPr>
          <a:xfrm>
            <a:off x="9569416" y="3928348"/>
            <a:ext cx="1028046" cy="174962"/>
          </a:xfrm>
          <a:prstGeom prst="rect">
            <a:avLst/>
          </a:prstGeom>
          <a:solidFill>
            <a:srgbClr val="0B2C4A"/>
          </a:solidFill>
          <a:ln w="6350">
            <a:solidFill>
              <a:srgbClr val="FFFFFF"/>
            </a:solidFill>
            <a:prstDash val="solid"/>
          </a:ln>
        </p:spPr>
      </p:sp>
      <p:sp>
        <p:nvSpPr>
          <p:cNvPr id="203" name="Text 201"/>
          <p:cNvSpPr txBox="1"/>
          <p:nvPr/>
        </p:nvSpPr>
        <p:spPr>
          <a:xfrm>
            <a:off x="9569416" y="3928348"/>
            <a:ext cx="1028046"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33</a:t>
            </a:r>
            <a:endParaRPr lang="en-US" sz="1300" dirty="0"/>
          </a:p>
        </p:txBody>
      </p:sp>
      <p:sp>
        <p:nvSpPr>
          <p:cNvPr id="204" name="Shape 202"/>
          <p:cNvSpPr/>
          <p:nvPr/>
        </p:nvSpPr>
        <p:spPr>
          <a:xfrm>
            <a:off x="10597462" y="3928348"/>
            <a:ext cx="914834" cy="174962"/>
          </a:xfrm>
          <a:prstGeom prst="rect">
            <a:avLst/>
          </a:prstGeom>
          <a:solidFill>
            <a:srgbClr val="D9D9D9"/>
          </a:solidFill>
          <a:ln w="6350">
            <a:solidFill>
              <a:srgbClr val="FFFFFF"/>
            </a:solidFill>
            <a:prstDash val="solid"/>
          </a:ln>
        </p:spPr>
      </p:sp>
      <p:sp>
        <p:nvSpPr>
          <p:cNvPr id="205" name="Text 203"/>
          <p:cNvSpPr txBox="1"/>
          <p:nvPr/>
        </p:nvSpPr>
        <p:spPr>
          <a:xfrm>
            <a:off x="10597462" y="3928348"/>
            <a:ext cx="914834"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29</a:t>
            </a:r>
            <a:endParaRPr lang="en-US" sz="1300" dirty="0"/>
          </a:p>
        </p:txBody>
      </p:sp>
      <p:sp>
        <p:nvSpPr>
          <p:cNvPr id="206" name="Text 204"/>
          <p:cNvSpPr txBox="1"/>
          <p:nvPr/>
        </p:nvSpPr>
        <p:spPr>
          <a:xfrm>
            <a:off x="6208776" y="4130936"/>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207" name="Shape 205"/>
          <p:cNvSpPr/>
          <p:nvPr/>
        </p:nvSpPr>
        <p:spPr>
          <a:xfrm>
            <a:off x="8357616" y="4158562"/>
            <a:ext cx="1108292" cy="174962"/>
          </a:xfrm>
          <a:prstGeom prst="rect">
            <a:avLst/>
          </a:prstGeom>
          <a:solidFill>
            <a:srgbClr val="2587C5"/>
          </a:solidFill>
          <a:ln w="6350">
            <a:solidFill>
              <a:srgbClr val="FFFFFF"/>
            </a:solidFill>
            <a:prstDash val="solid"/>
          </a:ln>
        </p:spPr>
      </p:sp>
      <p:sp>
        <p:nvSpPr>
          <p:cNvPr id="208" name="Text 206"/>
          <p:cNvSpPr txBox="1"/>
          <p:nvPr/>
        </p:nvSpPr>
        <p:spPr>
          <a:xfrm>
            <a:off x="8357616" y="4158562"/>
            <a:ext cx="1108292"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35</a:t>
            </a:r>
            <a:endParaRPr lang="en-US" sz="1300" dirty="0"/>
          </a:p>
        </p:txBody>
      </p:sp>
      <p:sp>
        <p:nvSpPr>
          <p:cNvPr id="209" name="Shape 207"/>
          <p:cNvSpPr/>
          <p:nvPr/>
        </p:nvSpPr>
        <p:spPr>
          <a:xfrm>
            <a:off x="9465908" y="4158562"/>
            <a:ext cx="1192265" cy="174962"/>
          </a:xfrm>
          <a:prstGeom prst="rect">
            <a:avLst/>
          </a:prstGeom>
          <a:solidFill>
            <a:srgbClr val="0B2C4A"/>
          </a:solidFill>
          <a:ln w="6350">
            <a:solidFill>
              <a:srgbClr val="FFFFFF"/>
            </a:solidFill>
            <a:prstDash val="solid"/>
          </a:ln>
        </p:spPr>
      </p:sp>
      <p:sp>
        <p:nvSpPr>
          <p:cNvPr id="210" name="Text 208"/>
          <p:cNvSpPr txBox="1"/>
          <p:nvPr/>
        </p:nvSpPr>
        <p:spPr>
          <a:xfrm>
            <a:off x="9465908" y="4158562"/>
            <a:ext cx="1192265"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38</a:t>
            </a:r>
            <a:endParaRPr lang="en-US" sz="1300" dirty="0"/>
          </a:p>
        </p:txBody>
      </p:sp>
      <p:sp>
        <p:nvSpPr>
          <p:cNvPr id="211" name="Shape 209"/>
          <p:cNvSpPr/>
          <p:nvPr/>
        </p:nvSpPr>
        <p:spPr>
          <a:xfrm>
            <a:off x="10658173" y="4158562"/>
            <a:ext cx="854123" cy="174962"/>
          </a:xfrm>
          <a:prstGeom prst="rect">
            <a:avLst/>
          </a:prstGeom>
          <a:solidFill>
            <a:srgbClr val="D9D9D9"/>
          </a:solidFill>
          <a:ln w="6350">
            <a:solidFill>
              <a:srgbClr val="FFFFFF"/>
            </a:solidFill>
            <a:prstDash val="solid"/>
          </a:ln>
        </p:spPr>
      </p:sp>
      <p:sp>
        <p:nvSpPr>
          <p:cNvPr id="212" name="Text 210"/>
          <p:cNvSpPr txBox="1"/>
          <p:nvPr/>
        </p:nvSpPr>
        <p:spPr>
          <a:xfrm>
            <a:off x="10658173" y="4158562"/>
            <a:ext cx="854123"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27</a:t>
            </a:r>
            <a:endParaRPr lang="en-US" sz="1300" dirty="0"/>
          </a:p>
        </p:txBody>
      </p:sp>
      <p:sp>
        <p:nvSpPr>
          <p:cNvPr id="213" name="Text 211"/>
          <p:cNvSpPr txBox="1"/>
          <p:nvPr/>
        </p:nvSpPr>
        <p:spPr>
          <a:xfrm>
            <a:off x="6208776" y="4361150"/>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214" name="Shape 212"/>
          <p:cNvSpPr/>
          <p:nvPr/>
        </p:nvSpPr>
        <p:spPr>
          <a:xfrm>
            <a:off x="8357616" y="4388776"/>
            <a:ext cx="1069967" cy="174962"/>
          </a:xfrm>
          <a:prstGeom prst="rect">
            <a:avLst/>
          </a:prstGeom>
          <a:solidFill>
            <a:srgbClr val="2587C5"/>
          </a:solidFill>
          <a:ln w="6350">
            <a:solidFill>
              <a:srgbClr val="FFFFFF"/>
            </a:solidFill>
            <a:prstDash val="solid"/>
          </a:ln>
        </p:spPr>
      </p:sp>
      <p:sp>
        <p:nvSpPr>
          <p:cNvPr id="215" name="Text 213"/>
          <p:cNvSpPr txBox="1"/>
          <p:nvPr/>
        </p:nvSpPr>
        <p:spPr>
          <a:xfrm>
            <a:off x="8357616" y="4388776"/>
            <a:ext cx="1069967"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34</a:t>
            </a:r>
            <a:endParaRPr lang="en-US" sz="1300" dirty="0"/>
          </a:p>
        </p:txBody>
      </p:sp>
      <p:sp>
        <p:nvSpPr>
          <p:cNvPr id="216" name="Shape 214"/>
          <p:cNvSpPr/>
          <p:nvPr/>
        </p:nvSpPr>
        <p:spPr>
          <a:xfrm>
            <a:off x="9427583" y="4388776"/>
            <a:ext cx="81602" cy="174962"/>
          </a:xfrm>
          <a:prstGeom prst="rect">
            <a:avLst/>
          </a:prstGeom>
          <a:solidFill>
            <a:srgbClr val="0B2C4A"/>
          </a:solidFill>
          <a:ln w="6350">
            <a:solidFill>
              <a:srgbClr val="FFFFFF"/>
            </a:solidFill>
            <a:prstDash val="solid"/>
          </a:ln>
        </p:spPr>
      </p:sp>
      <p:sp>
        <p:nvSpPr>
          <p:cNvPr id="217" name="Shape 215"/>
          <p:cNvSpPr/>
          <p:nvPr/>
        </p:nvSpPr>
        <p:spPr>
          <a:xfrm>
            <a:off x="9509185" y="4388776"/>
            <a:ext cx="2003111" cy="174962"/>
          </a:xfrm>
          <a:prstGeom prst="rect">
            <a:avLst/>
          </a:prstGeom>
          <a:solidFill>
            <a:srgbClr val="D9D9D9"/>
          </a:solidFill>
          <a:ln w="6350">
            <a:solidFill>
              <a:srgbClr val="FFFFFF"/>
            </a:solidFill>
            <a:prstDash val="solid"/>
          </a:ln>
        </p:spPr>
      </p:sp>
      <p:sp>
        <p:nvSpPr>
          <p:cNvPr id="218" name="Text 216"/>
          <p:cNvSpPr txBox="1"/>
          <p:nvPr/>
        </p:nvSpPr>
        <p:spPr>
          <a:xfrm>
            <a:off x="9509185" y="4388776"/>
            <a:ext cx="2003111"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63</a:t>
            </a:r>
            <a:endParaRPr lang="en-US" sz="1300" dirty="0"/>
          </a:p>
        </p:txBody>
      </p:sp>
      <p:sp>
        <p:nvSpPr>
          <p:cNvPr id="219" name="Text 217"/>
          <p:cNvSpPr txBox="1"/>
          <p:nvPr/>
        </p:nvSpPr>
        <p:spPr>
          <a:xfrm>
            <a:off x="6208776" y="4591364"/>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220" name="Shape 218"/>
          <p:cNvSpPr/>
          <p:nvPr/>
        </p:nvSpPr>
        <p:spPr>
          <a:xfrm>
            <a:off x="8357616" y="4618989"/>
            <a:ext cx="1034691" cy="174962"/>
          </a:xfrm>
          <a:prstGeom prst="rect">
            <a:avLst/>
          </a:prstGeom>
          <a:solidFill>
            <a:srgbClr val="2587C5"/>
          </a:solidFill>
          <a:ln w="6350">
            <a:solidFill>
              <a:srgbClr val="FFFFFF"/>
            </a:solidFill>
            <a:prstDash val="solid"/>
          </a:ln>
        </p:spPr>
      </p:sp>
      <p:sp>
        <p:nvSpPr>
          <p:cNvPr id="221" name="Text 219"/>
          <p:cNvSpPr txBox="1"/>
          <p:nvPr/>
        </p:nvSpPr>
        <p:spPr>
          <a:xfrm>
            <a:off x="8357616" y="4618989"/>
            <a:ext cx="1034691"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33</a:t>
            </a:r>
            <a:endParaRPr lang="en-US" sz="1300" dirty="0"/>
          </a:p>
        </p:txBody>
      </p:sp>
      <p:sp>
        <p:nvSpPr>
          <p:cNvPr id="222" name="Shape 220"/>
          <p:cNvSpPr/>
          <p:nvPr/>
        </p:nvSpPr>
        <p:spPr>
          <a:xfrm>
            <a:off x="9392307" y="4618989"/>
            <a:ext cx="1723364" cy="174962"/>
          </a:xfrm>
          <a:prstGeom prst="rect">
            <a:avLst/>
          </a:prstGeom>
          <a:solidFill>
            <a:srgbClr val="0B2C4A"/>
          </a:solidFill>
          <a:ln w="6350">
            <a:solidFill>
              <a:srgbClr val="FFFFFF"/>
            </a:solidFill>
            <a:prstDash val="solid"/>
          </a:ln>
        </p:spPr>
      </p:sp>
      <p:sp>
        <p:nvSpPr>
          <p:cNvPr id="223" name="Text 221"/>
          <p:cNvSpPr txBox="1"/>
          <p:nvPr/>
        </p:nvSpPr>
        <p:spPr>
          <a:xfrm>
            <a:off x="9392307" y="4618989"/>
            <a:ext cx="1723364"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55</a:t>
            </a:r>
            <a:endParaRPr lang="en-US" sz="1300" dirty="0"/>
          </a:p>
        </p:txBody>
      </p:sp>
      <p:sp>
        <p:nvSpPr>
          <p:cNvPr id="224" name="Shape 222"/>
          <p:cNvSpPr/>
          <p:nvPr/>
        </p:nvSpPr>
        <p:spPr>
          <a:xfrm>
            <a:off x="11115671" y="4618989"/>
            <a:ext cx="396625" cy="174962"/>
          </a:xfrm>
          <a:prstGeom prst="rect">
            <a:avLst/>
          </a:prstGeom>
          <a:solidFill>
            <a:srgbClr val="D9D9D9"/>
          </a:solidFill>
          <a:ln w="6350">
            <a:solidFill>
              <a:srgbClr val="FFFFFF"/>
            </a:solidFill>
            <a:prstDash val="solid"/>
          </a:ln>
        </p:spPr>
      </p:sp>
      <p:sp>
        <p:nvSpPr>
          <p:cNvPr id="225" name="Text 223"/>
          <p:cNvSpPr txBox="1"/>
          <p:nvPr/>
        </p:nvSpPr>
        <p:spPr>
          <a:xfrm>
            <a:off x="11115671" y="4618989"/>
            <a:ext cx="396625"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13</a:t>
            </a:r>
            <a:endParaRPr lang="en-US" sz="1300" dirty="0"/>
          </a:p>
        </p:txBody>
      </p:sp>
      <p:sp>
        <p:nvSpPr>
          <p:cNvPr id="226" name="Text 224"/>
          <p:cNvSpPr txBox="1"/>
          <p:nvPr/>
        </p:nvSpPr>
        <p:spPr>
          <a:xfrm>
            <a:off x="6208776" y="4821577"/>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227" name="Shape 225"/>
          <p:cNvSpPr/>
          <p:nvPr/>
        </p:nvSpPr>
        <p:spPr>
          <a:xfrm>
            <a:off x="8357616" y="4849203"/>
            <a:ext cx="1015371" cy="174962"/>
          </a:xfrm>
          <a:prstGeom prst="rect">
            <a:avLst/>
          </a:prstGeom>
          <a:solidFill>
            <a:srgbClr val="2587C5"/>
          </a:solidFill>
          <a:ln w="6350">
            <a:solidFill>
              <a:srgbClr val="FFFFFF"/>
            </a:solidFill>
            <a:prstDash val="solid"/>
          </a:ln>
        </p:spPr>
      </p:sp>
      <p:sp>
        <p:nvSpPr>
          <p:cNvPr id="228" name="Text 226"/>
          <p:cNvSpPr txBox="1"/>
          <p:nvPr/>
        </p:nvSpPr>
        <p:spPr>
          <a:xfrm>
            <a:off x="8357616" y="4849203"/>
            <a:ext cx="1015371"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32</a:t>
            </a:r>
            <a:endParaRPr lang="en-US" sz="1300" dirty="0"/>
          </a:p>
        </p:txBody>
      </p:sp>
      <p:sp>
        <p:nvSpPr>
          <p:cNvPr id="229" name="Shape 227"/>
          <p:cNvSpPr/>
          <p:nvPr/>
        </p:nvSpPr>
        <p:spPr>
          <a:xfrm>
            <a:off x="9372987" y="4849203"/>
            <a:ext cx="938383" cy="174962"/>
          </a:xfrm>
          <a:prstGeom prst="rect">
            <a:avLst/>
          </a:prstGeom>
          <a:solidFill>
            <a:srgbClr val="0B2C4A"/>
          </a:solidFill>
          <a:ln w="6350">
            <a:solidFill>
              <a:srgbClr val="FFFFFF"/>
            </a:solidFill>
            <a:prstDash val="solid"/>
          </a:ln>
        </p:spPr>
      </p:sp>
      <p:sp>
        <p:nvSpPr>
          <p:cNvPr id="230" name="Text 228"/>
          <p:cNvSpPr txBox="1"/>
          <p:nvPr/>
        </p:nvSpPr>
        <p:spPr>
          <a:xfrm>
            <a:off x="9372987" y="4849203"/>
            <a:ext cx="938383"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30</a:t>
            </a:r>
            <a:endParaRPr lang="en-US" sz="1300" dirty="0"/>
          </a:p>
        </p:txBody>
      </p:sp>
      <p:sp>
        <p:nvSpPr>
          <p:cNvPr id="231" name="Shape 229"/>
          <p:cNvSpPr/>
          <p:nvPr/>
        </p:nvSpPr>
        <p:spPr>
          <a:xfrm>
            <a:off x="10311370" y="4849203"/>
            <a:ext cx="1200926" cy="174962"/>
          </a:xfrm>
          <a:prstGeom prst="rect">
            <a:avLst/>
          </a:prstGeom>
          <a:solidFill>
            <a:srgbClr val="D9D9D9"/>
          </a:solidFill>
          <a:ln w="6350">
            <a:solidFill>
              <a:srgbClr val="FFFFFF"/>
            </a:solidFill>
            <a:prstDash val="solid"/>
          </a:ln>
        </p:spPr>
      </p:sp>
      <p:sp>
        <p:nvSpPr>
          <p:cNvPr id="232" name="Text 230"/>
          <p:cNvSpPr txBox="1"/>
          <p:nvPr/>
        </p:nvSpPr>
        <p:spPr>
          <a:xfrm>
            <a:off x="10311370" y="4849203"/>
            <a:ext cx="1200926"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38</a:t>
            </a:r>
            <a:endParaRPr lang="en-US" sz="1300" dirty="0"/>
          </a:p>
        </p:txBody>
      </p:sp>
      <p:sp>
        <p:nvSpPr>
          <p:cNvPr id="233" name="Text 231"/>
          <p:cNvSpPr txBox="1"/>
          <p:nvPr/>
        </p:nvSpPr>
        <p:spPr>
          <a:xfrm>
            <a:off x="6208776" y="5051791"/>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234" name="Shape 232"/>
          <p:cNvSpPr/>
          <p:nvPr/>
        </p:nvSpPr>
        <p:spPr>
          <a:xfrm>
            <a:off x="8357616" y="5079417"/>
            <a:ext cx="867269" cy="174962"/>
          </a:xfrm>
          <a:prstGeom prst="rect">
            <a:avLst/>
          </a:prstGeom>
          <a:solidFill>
            <a:srgbClr val="2587C5"/>
          </a:solidFill>
          <a:ln w="6350">
            <a:solidFill>
              <a:srgbClr val="FFFFFF"/>
            </a:solidFill>
            <a:prstDash val="solid"/>
          </a:ln>
        </p:spPr>
      </p:sp>
      <p:sp>
        <p:nvSpPr>
          <p:cNvPr id="235" name="Text 233"/>
          <p:cNvSpPr txBox="1"/>
          <p:nvPr/>
        </p:nvSpPr>
        <p:spPr>
          <a:xfrm>
            <a:off x="8357616" y="5079417"/>
            <a:ext cx="867269"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27</a:t>
            </a:r>
            <a:endParaRPr lang="en-US" sz="1300" dirty="0"/>
          </a:p>
        </p:txBody>
      </p:sp>
      <p:sp>
        <p:nvSpPr>
          <p:cNvPr id="236" name="Shape 234"/>
          <p:cNvSpPr/>
          <p:nvPr/>
        </p:nvSpPr>
        <p:spPr>
          <a:xfrm>
            <a:off x="9224885" y="5079417"/>
            <a:ext cx="864752" cy="174962"/>
          </a:xfrm>
          <a:prstGeom prst="rect">
            <a:avLst/>
          </a:prstGeom>
          <a:solidFill>
            <a:srgbClr val="0B2C4A"/>
          </a:solidFill>
          <a:ln w="6350">
            <a:solidFill>
              <a:srgbClr val="FFFFFF"/>
            </a:solidFill>
            <a:prstDash val="solid"/>
          </a:ln>
        </p:spPr>
      </p:sp>
      <p:sp>
        <p:nvSpPr>
          <p:cNvPr id="237" name="Text 235"/>
          <p:cNvSpPr txBox="1"/>
          <p:nvPr/>
        </p:nvSpPr>
        <p:spPr>
          <a:xfrm>
            <a:off x="9224885" y="5079417"/>
            <a:ext cx="864752"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27</a:t>
            </a:r>
            <a:endParaRPr lang="en-US" sz="1300" dirty="0"/>
          </a:p>
        </p:txBody>
      </p:sp>
      <p:sp>
        <p:nvSpPr>
          <p:cNvPr id="238" name="Shape 236"/>
          <p:cNvSpPr/>
          <p:nvPr/>
        </p:nvSpPr>
        <p:spPr>
          <a:xfrm>
            <a:off x="10089637" y="5079417"/>
            <a:ext cx="1422659" cy="174962"/>
          </a:xfrm>
          <a:prstGeom prst="rect">
            <a:avLst/>
          </a:prstGeom>
          <a:solidFill>
            <a:srgbClr val="D9D9D9"/>
          </a:solidFill>
          <a:ln w="6350">
            <a:solidFill>
              <a:srgbClr val="FFFFFF"/>
            </a:solidFill>
            <a:prstDash val="solid"/>
          </a:ln>
        </p:spPr>
      </p:sp>
      <p:sp>
        <p:nvSpPr>
          <p:cNvPr id="239" name="Text 237"/>
          <p:cNvSpPr txBox="1"/>
          <p:nvPr/>
        </p:nvSpPr>
        <p:spPr>
          <a:xfrm>
            <a:off x="10089637" y="5079417"/>
            <a:ext cx="1422659"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45</a:t>
            </a:r>
            <a:endParaRPr lang="en-US" sz="1300" dirty="0"/>
          </a:p>
        </p:txBody>
      </p:sp>
      <p:sp>
        <p:nvSpPr>
          <p:cNvPr id="240" name="Text 238"/>
          <p:cNvSpPr txBox="1"/>
          <p:nvPr/>
        </p:nvSpPr>
        <p:spPr>
          <a:xfrm>
            <a:off x="6208776" y="5282005"/>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241" name="Shape 239"/>
          <p:cNvSpPr/>
          <p:nvPr/>
        </p:nvSpPr>
        <p:spPr>
          <a:xfrm>
            <a:off x="8357616" y="5309630"/>
            <a:ext cx="835514" cy="174962"/>
          </a:xfrm>
          <a:prstGeom prst="rect">
            <a:avLst/>
          </a:prstGeom>
          <a:solidFill>
            <a:srgbClr val="2587C5"/>
          </a:solidFill>
          <a:ln w="6350">
            <a:solidFill>
              <a:srgbClr val="FFFFFF"/>
            </a:solidFill>
            <a:prstDash val="solid"/>
          </a:ln>
        </p:spPr>
      </p:sp>
      <p:sp>
        <p:nvSpPr>
          <p:cNvPr id="242" name="Text 240"/>
          <p:cNvSpPr txBox="1"/>
          <p:nvPr/>
        </p:nvSpPr>
        <p:spPr>
          <a:xfrm>
            <a:off x="8357616" y="5309630"/>
            <a:ext cx="835514"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26</a:t>
            </a:r>
            <a:endParaRPr lang="en-US" sz="1300" dirty="0"/>
          </a:p>
        </p:txBody>
      </p:sp>
      <p:sp>
        <p:nvSpPr>
          <p:cNvPr id="243" name="Shape 241"/>
          <p:cNvSpPr/>
          <p:nvPr/>
        </p:nvSpPr>
        <p:spPr>
          <a:xfrm>
            <a:off x="9193130" y="5309630"/>
            <a:ext cx="685335" cy="174962"/>
          </a:xfrm>
          <a:prstGeom prst="rect">
            <a:avLst/>
          </a:prstGeom>
          <a:solidFill>
            <a:srgbClr val="0B2C4A"/>
          </a:solidFill>
          <a:ln w="6350">
            <a:solidFill>
              <a:srgbClr val="FFFFFF"/>
            </a:solidFill>
            <a:prstDash val="solid"/>
          </a:ln>
        </p:spPr>
      </p:sp>
      <p:sp>
        <p:nvSpPr>
          <p:cNvPr id="244" name="Text 242"/>
          <p:cNvSpPr txBox="1"/>
          <p:nvPr/>
        </p:nvSpPr>
        <p:spPr>
          <a:xfrm>
            <a:off x="9193130" y="5309630"/>
            <a:ext cx="685335"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22</a:t>
            </a:r>
            <a:endParaRPr lang="en-US" sz="1300" dirty="0"/>
          </a:p>
        </p:txBody>
      </p:sp>
      <p:sp>
        <p:nvSpPr>
          <p:cNvPr id="245" name="Shape 243"/>
          <p:cNvSpPr/>
          <p:nvPr/>
        </p:nvSpPr>
        <p:spPr>
          <a:xfrm>
            <a:off x="9878465" y="5309630"/>
            <a:ext cx="1633831" cy="174962"/>
          </a:xfrm>
          <a:prstGeom prst="rect">
            <a:avLst/>
          </a:prstGeom>
          <a:solidFill>
            <a:srgbClr val="D9D9D9"/>
          </a:solidFill>
          <a:ln w="6350">
            <a:solidFill>
              <a:srgbClr val="FFFFFF"/>
            </a:solidFill>
            <a:prstDash val="solid"/>
          </a:ln>
        </p:spPr>
      </p:sp>
      <p:sp>
        <p:nvSpPr>
          <p:cNvPr id="246" name="Text 244"/>
          <p:cNvSpPr txBox="1"/>
          <p:nvPr/>
        </p:nvSpPr>
        <p:spPr>
          <a:xfrm>
            <a:off x="9878465" y="5309630"/>
            <a:ext cx="1633831"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52</a:t>
            </a:r>
            <a:endParaRPr lang="en-US" sz="1300" dirty="0"/>
          </a:p>
        </p:txBody>
      </p:sp>
      <p:sp>
        <p:nvSpPr>
          <p:cNvPr id="247" name="Shape 245"/>
          <p:cNvSpPr/>
          <p:nvPr/>
        </p:nvSpPr>
        <p:spPr>
          <a:xfrm>
            <a:off x="457200" y="5961888"/>
            <a:ext cx="11274552" cy="548640"/>
          </a:xfrm>
          <a:prstGeom prst="rect">
            <a:avLst/>
          </a:prstGeom>
          <a:solidFill>
            <a:srgbClr val="EDF4FA"/>
          </a:solidFill>
          <a:ln/>
        </p:spPr>
      </p:sp>
      <p:sp>
        <p:nvSpPr>
          <p:cNvPr id="248" name="Text 246"/>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Maintenance is 54.3% of customer-pay labor, repair 30.5%, and 15.2% cannot be classified from its description (19.0% in 2025).</a:t>
            </a:r>
            <a:endParaRPr lang="en-US" sz="16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LABOR MIX</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Unclassified Customer-Pay Labor</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38988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7" name="Shape 5"/>
          <p:cNvSpPr/>
          <p:nvPr/>
        </p:nvSpPr>
        <p:spPr>
          <a:xfrm>
            <a:off x="2971800" y="1453358"/>
            <a:ext cx="121302" cy="126940"/>
          </a:xfrm>
          <a:prstGeom prst="rect">
            <a:avLst/>
          </a:prstGeom>
          <a:solidFill>
            <a:srgbClr val="12A566"/>
          </a:solidFill>
          <a:ln/>
        </p:spPr>
      </p:sp>
      <p:sp>
        <p:nvSpPr>
          <p:cNvPr id="8" name="Text 6"/>
          <p:cNvSpPr txBox="1"/>
          <p:nvPr/>
        </p:nvSpPr>
        <p:spPr>
          <a:xfrm>
            <a:off x="4855464" y="1389888"/>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4.2%</a:t>
            </a:r>
            <a:endParaRPr lang="en-US" sz="1300" dirty="0"/>
          </a:p>
        </p:txBody>
      </p:sp>
      <p:sp>
        <p:nvSpPr>
          <p:cNvPr id="9" name="Text 7"/>
          <p:cNvSpPr txBox="1"/>
          <p:nvPr/>
        </p:nvSpPr>
        <p:spPr>
          <a:xfrm>
            <a:off x="658368" y="164376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10" name="Shape 8"/>
          <p:cNvSpPr/>
          <p:nvPr/>
        </p:nvSpPr>
        <p:spPr>
          <a:xfrm>
            <a:off x="2971800" y="1707239"/>
            <a:ext cx="133406" cy="126940"/>
          </a:xfrm>
          <a:prstGeom prst="rect">
            <a:avLst/>
          </a:prstGeom>
          <a:solidFill>
            <a:srgbClr val="12A566"/>
          </a:solidFill>
          <a:ln/>
        </p:spPr>
      </p:sp>
      <p:sp>
        <p:nvSpPr>
          <p:cNvPr id="11" name="Text 9"/>
          <p:cNvSpPr txBox="1"/>
          <p:nvPr/>
        </p:nvSpPr>
        <p:spPr>
          <a:xfrm>
            <a:off x="4855464" y="1643768"/>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4.6%</a:t>
            </a:r>
            <a:endParaRPr lang="en-US" sz="1300" dirty="0"/>
          </a:p>
        </p:txBody>
      </p:sp>
      <p:sp>
        <p:nvSpPr>
          <p:cNvPr id="12" name="Text 10"/>
          <p:cNvSpPr txBox="1"/>
          <p:nvPr/>
        </p:nvSpPr>
        <p:spPr>
          <a:xfrm>
            <a:off x="658368" y="189764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13" name="Shape 11"/>
          <p:cNvSpPr/>
          <p:nvPr/>
        </p:nvSpPr>
        <p:spPr>
          <a:xfrm>
            <a:off x="2971800" y="1961119"/>
            <a:ext cx="160575" cy="126940"/>
          </a:xfrm>
          <a:prstGeom prst="rect">
            <a:avLst/>
          </a:prstGeom>
          <a:solidFill>
            <a:srgbClr val="12A566"/>
          </a:solidFill>
          <a:ln/>
        </p:spPr>
      </p:sp>
      <p:sp>
        <p:nvSpPr>
          <p:cNvPr id="14" name="Text 12"/>
          <p:cNvSpPr txBox="1"/>
          <p:nvPr/>
        </p:nvSpPr>
        <p:spPr>
          <a:xfrm>
            <a:off x="4855464" y="1897649"/>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5.6%</a:t>
            </a:r>
            <a:endParaRPr lang="en-US" sz="1300" dirty="0"/>
          </a:p>
        </p:txBody>
      </p:sp>
      <p:sp>
        <p:nvSpPr>
          <p:cNvPr id="15" name="Text 13"/>
          <p:cNvSpPr txBox="1"/>
          <p:nvPr/>
        </p:nvSpPr>
        <p:spPr>
          <a:xfrm>
            <a:off x="658368" y="215152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16" name="Shape 14"/>
          <p:cNvSpPr/>
          <p:nvPr/>
        </p:nvSpPr>
        <p:spPr>
          <a:xfrm>
            <a:off x="2971800" y="2215000"/>
            <a:ext cx="211718" cy="126940"/>
          </a:xfrm>
          <a:prstGeom prst="rect">
            <a:avLst/>
          </a:prstGeom>
          <a:solidFill>
            <a:srgbClr val="12A566"/>
          </a:solidFill>
          <a:ln/>
        </p:spPr>
      </p:sp>
      <p:sp>
        <p:nvSpPr>
          <p:cNvPr id="17" name="Text 15"/>
          <p:cNvSpPr txBox="1"/>
          <p:nvPr/>
        </p:nvSpPr>
        <p:spPr>
          <a:xfrm>
            <a:off x="4855464" y="2151529"/>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7.4%</a:t>
            </a:r>
            <a:endParaRPr lang="en-US" sz="1300" dirty="0"/>
          </a:p>
        </p:txBody>
      </p:sp>
      <p:sp>
        <p:nvSpPr>
          <p:cNvPr id="18" name="Text 16"/>
          <p:cNvSpPr txBox="1"/>
          <p:nvPr/>
        </p:nvSpPr>
        <p:spPr>
          <a:xfrm>
            <a:off x="658368" y="240541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19" name="Shape 17"/>
          <p:cNvSpPr/>
          <p:nvPr/>
        </p:nvSpPr>
        <p:spPr>
          <a:xfrm>
            <a:off x="2971800" y="2468880"/>
            <a:ext cx="220965" cy="126940"/>
          </a:xfrm>
          <a:prstGeom prst="rect">
            <a:avLst/>
          </a:prstGeom>
          <a:solidFill>
            <a:srgbClr val="12A566"/>
          </a:solidFill>
          <a:ln/>
        </p:spPr>
      </p:sp>
      <p:sp>
        <p:nvSpPr>
          <p:cNvPr id="20" name="Text 18"/>
          <p:cNvSpPr txBox="1"/>
          <p:nvPr/>
        </p:nvSpPr>
        <p:spPr>
          <a:xfrm>
            <a:off x="4855464" y="2405410"/>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7.7%</a:t>
            </a:r>
            <a:endParaRPr lang="en-US" sz="1300" dirty="0"/>
          </a:p>
        </p:txBody>
      </p:sp>
      <p:sp>
        <p:nvSpPr>
          <p:cNvPr id="21" name="Text 19"/>
          <p:cNvSpPr txBox="1"/>
          <p:nvPr/>
        </p:nvSpPr>
        <p:spPr>
          <a:xfrm>
            <a:off x="658368" y="265929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22" name="Shape 20"/>
          <p:cNvSpPr/>
          <p:nvPr/>
        </p:nvSpPr>
        <p:spPr>
          <a:xfrm>
            <a:off x="2971800" y="2722760"/>
            <a:ext cx="231690" cy="126940"/>
          </a:xfrm>
          <a:prstGeom prst="rect">
            <a:avLst/>
          </a:prstGeom>
          <a:solidFill>
            <a:srgbClr val="12A566"/>
          </a:solidFill>
          <a:ln/>
        </p:spPr>
      </p:sp>
      <p:sp>
        <p:nvSpPr>
          <p:cNvPr id="23" name="Text 21"/>
          <p:cNvSpPr txBox="1"/>
          <p:nvPr/>
        </p:nvSpPr>
        <p:spPr>
          <a:xfrm>
            <a:off x="4855464" y="2659290"/>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8.0%</a:t>
            </a:r>
            <a:endParaRPr lang="en-US" sz="1300" dirty="0"/>
          </a:p>
        </p:txBody>
      </p:sp>
      <p:sp>
        <p:nvSpPr>
          <p:cNvPr id="24" name="Text 22"/>
          <p:cNvSpPr txBox="1"/>
          <p:nvPr/>
        </p:nvSpPr>
        <p:spPr>
          <a:xfrm>
            <a:off x="658368" y="291317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25" name="Shape 23"/>
          <p:cNvSpPr/>
          <p:nvPr/>
        </p:nvSpPr>
        <p:spPr>
          <a:xfrm>
            <a:off x="2971800" y="2976641"/>
            <a:ext cx="258447" cy="126940"/>
          </a:xfrm>
          <a:prstGeom prst="rect">
            <a:avLst/>
          </a:prstGeom>
          <a:solidFill>
            <a:srgbClr val="12A566"/>
          </a:solidFill>
          <a:ln/>
        </p:spPr>
      </p:sp>
      <p:sp>
        <p:nvSpPr>
          <p:cNvPr id="26" name="Text 24"/>
          <p:cNvSpPr txBox="1"/>
          <p:nvPr/>
        </p:nvSpPr>
        <p:spPr>
          <a:xfrm>
            <a:off x="4855464" y="2913171"/>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9.0%</a:t>
            </a:r>
            <a:endParaRPr lang="en-US" sz="1300" dirty="0"/>
          </a:p>
        </p:txBody>
      </p:sp>
      <p:sp>
        <p:nvSpPr>
          <p:cNvPr id="27" name="Text 25"/>
          <p:cNvSpPr txBox="1"/>
          <p:nvPr/>
        </p:nvSpPr>
        <p:spPr>
          <a:xfrm>
            <a:off x="658368" y="316705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28" name="Shape 26"/>
          <p:cNvSpPr/>
          <p:nvPr/>
        </p:nvSpPr>
        <p:spPr>
          <a:xfrm>
            <a:off x="2971800" y="3230521"/>
            <a:ext cx="264592" cy="126940"/>
          </a:xfrm>
          <a:prstGeom prst="rect">
            <a:avLst/>
          </a:prstGeom>
          <a:solidFill>
            <a:srgbClr val="12A566"/>
          </a:solidFill>
          <a:ln/>
        </p:spPr>
      </p:sp>
      <p:sp>
        <p:nvSpPr>
          <p:cNvPr id="29" name="Text 27"/>
          <p:cNvSpPr txBox="1"/>
          <p:nvPr/>
        </p:nvSpPr>
        <p:spPr>
          <a:xfrm>
            <a:off x="4855464" y="3167051"/>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9.2%</a:t>
            </a:r>
            <a:endParaRPr lang="en-US" sz="1300" dirty="0"/>
          </a:p>
        </p:txBody>
      </p:sp>
      <p:sp>
        <p:nvSpPr>
          <p:cNvPr id="30" name="Text 28"/>
          <p:cNvSpPr txBox="1"/>
          <p:nvPr/>
        </p:nvSpPr>
        <p:spPr>
          <a:xfrm>
            <a:off x="658368" y="342093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31" name="Shape 29"/>
          <p:cNvSpPr/>
          <p:nvPr/>
        </p:nvSpPr>
        <p:spPr>
          <a:xfrm>
            <a:off x="2971800" y="3484402"/>
            <a:ext cx="273200" cy="126940"/>
          </a:xfrm>
          <a:prstGeom prst="rect">
            <a:avLst/>
          </a:prstGeom>
          <a:solidFill>
            <a:srgbClr val="12A566"/>
          </a:solidFill>
          <a:ln/>
        </p:spPr>
      </p:sp>
      <p:sp>
        <p:nvSpPr>
          <p:cNvPr id="32" name="Text 30"/>
          <p:cNvSpPr txBox="1"/>
          <p:nvPr/>
        </p:nvSpPr>
        <p:spPr>
          <a:xfrm>
            <a:off x="4855464" y="3420932"/>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9.5%</a:t>
            </a:r>
            <a:endParaRPr lang="en-US" sz="1300" dirty="0"/>
          </a:p>
        </p:txBody>
      </p:sp>
      <p:sp>
        <p:nvSpPr>
          <p:cNvPr id="33" name="Text 31"/>
          <p:cNvSpPr txBox="1"/>
          <p:nvPr/>
        </p:nvSpPr>
        <p:spPr>
          <a:xfrm>
            <a:off x="658368" y="367481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34" name="Shape 32"/>
          <p:cNvSpPr/>
          <p:nvPr/>
        </p:nvSpPr>
        <p:spPr>
          <a:xfrm>
            <a:off x="2971800" y="3738282"/>
            <a:ext cx="287399" cy="126940"/>
          </a:xfrm>
          <a:prstGeom prst="rect">
            <a:avLst/>
          </a:prstGeom>
          <a:solidFill>
            <a:srgbClr val="12A566"/>
          </a:solidFill>
          <a:ln/>
        </p:spPr>
      </p:sp>
      <p:sp>
        <p:nvSpPr>
          <p:cNvPr id="35" name="Text 33"/>
          <p:cNvSpPr txBox="1"/>
          <p:nvPr/>
        </p:nvSpPr>
        <p:spPr>
          <a:xfrm>
            <a:off x="4855464" y="3674812"/>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10.0%</a:t>
            </a:r>
            <a:endParaRPr lang="en-US" sz="1300" dirty="0"/>
          </a:p>
        </p:txBody>
      </p:sp>
      <p:sp>
        <p:nvSpPr>
          <p:cNvPr id="36" name="Text 34"/>
          <p:cNvSpPr txBox="1"/>
          <p:nvPr/>
        </p:nvSpPr>
        <p:spPr>
          <a:xfrm>
            <a:off x="658368" y="392869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37" name="Shape 35"/>
          <p:cNvSpPr/>
          <p:nvPr/>
        </p:nvSpPr>
        <p:spPr>
          <a:xfrm>
            <a:off x="2971800" y="3992163"/>
            <a:ext cx="313503" cy="126940"/>
          </a:xfrm>
          <a:prstGeom prst="rect">
            <a:avLst/>
          </a:prstGeom>
          <a:solidFill>
            <a:srgbClr val="12A566"/>
          </a:solidFill>
          <a:ln/>
        </p:spPr>
      </p:sp>
      <p:sp>
        <p:nvSpPr>
          <p:cNvPr id="38" name="Text 36"/>
          <p:cNvSpPr txBox="1"/>
          <p:nvPr/>
        </p:nvSpPr>
        <p:spPr>
          <a:xfrm>
            <a:off x="4855464" y="3928693"/>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10.9%</a:t>
            </a:r>
            <a:endParaRPr lang="en-US" sz="1300" dirty="0"/>
          </a:p>
        </p:txBody>
      </p:sp>
      <p:sp>
        <p:nvSpPr>
          <p:cNvPr id="39" name="Text 37"/>
          <p:cNvSpPr txBox="1"/>
          <p:nvPr/>
        </p:nvSpPr>
        <p:spPr>
          <a:xfrm>
            <a:off x="658368" y="418257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40" name="Shape 38"/>
          <p:cNvSpPr/>
          <p:nvPr/>
        </p:nvSpPr>
        <p:spPr>
          <a:xfrm>
            <a:off x="2971800" y="4246043"/>
            <a:ext cx="321029" cy="126940"/>
          </a:xfrm>
          <a:prstGeom prst="rect">
            <a:avLst/>
          </a:prstGeom>
          <a:solidFill>
            <a:srgbClr val="12A566"/>
          </a:solidFill>
          <a:ln/>
        </p:spPr>
      </p:sp>
      <p:sp>
        <p:nvSpPr>
          <p:cNvPr id="41" name="Text 39"/>
          <p:cNvSpPr txBox="1"/>
          <p:nvPr/>
        </p:nvSpPr>
        <p:spPr>
          <a:xfrm>
            <a:off x="4855464" y="4182573"/>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11.1%</a:t>
            </a:r>
            <a:endParaRPr lang="en-US" sz="1300" dirty="0"/>
          </a:p>
        </p:txBody>
      </p:sp>
      <p:sp>
        <p:nvSpPr>
          <p:cNvPr id="42" name="Text 40"/>
          <p:cNvSpPr txBox="1"/>
          <p:nvPr/>
        </p:nvSpPr>
        <p:spPr>
          <a:xfrm>
            <a:off x="658368" y="443645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43" name="Shape 41"/>
          <p:cNvSpPr/>
          <p:nvPr/>
        </p:nvSpPr>
        <p:spPr>
          <a:xfrm>
            <a:off x="2971800" y="4499924"/>
            <a:ext cx="358941" cy="126940"/>
          </a:xfrm>
          <a:prstGeom prst="rect">
            <a:avLst/>
          </a:prstGeom>
          <a:solidFill>
            <a:srgbClr val="12A566"/>
          </a:solidFill>
          <a:ln/>
        </p:spPr>
      </p:sp>
      <p:sp>
        <p:nvSpPr>
          <p:cNvPr id="44" name="Text 42"/>
          <p:cNvSpPr txBox="1"/>
          <p:nvPr/>
        </p:nvSpPr>
        <p:spPr>
          <a:xfrm>
            <a:off x="4855464" y="4436454"/>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12.5%</a:t>
            </a:r>
            <a:endParaRPr lang="en-US" sz="1300" dirty="0"/>
          </a:p>
        </p:txBody>
      </p:sp>
      <p:sp>
        <p:nvSpPr>
          <p:cNvPr id="45" name="Text 43"/>
          <p:cNvSpPr txBox="1"/>
          <p:nvPr/>
        </p:nvSpPr>
        <p:spPr>
          <a:xfrm>
            <a:off x="658368" y="469033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46" name="Shape 44"/>
          <p:cNvSpPr/>
          <p:nvPr/>
        </p:nvSpPr>
        <p:spPr>
          <a:xfrm>
            <a:off x="2971800" y="4753804"/>
            <a:ext cx="362110" cy="126940"/>
          </a:xfrm>
          <a:prstGeom prst="rect">
            <a:avLst/>
          </a:prstGeom>
          <a:solidFill>
            <a:srgbClr val="12A566"/>
          </a:solidFill>
          <a:ln/>
        </p:spPr>
      </p:sp>
      <p:sp>
        <p:nvSpPr>
          <p:cNvPr id="47" name="Text 45"/>
          <p:cNvSpPr txBox="1"/>
          <p:nvPr/>
        </p:nvSpPr>
        <p:spPr>
          <a:xfrm>
            <a:off x="4855464" y="4690334"/>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12.6%</a:t>
            </a:r>
            <a:endParaRPr lang="en-US" sz="1300" dirty="0"/>
          </a:p>
        </p:txBody>
      </p:sp>
      <p:sp>
        <p:nvSpPr>
          <p:cNvPr id="48" name="Text 46"/>
          <p:cNvSpPr txBox="1"/>
          <p:nvPr/>
        </p:nvSpPr>
        <p:spPr>
          <a:xfrm>
            <a:off x="658368" y="494421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49" name="Shape 47"/>
          <p:cNvSpPr/>
          <p:nvPr/>
        </p:nvSpPr>
        <p:spPr>
          <a:xfrm>
            <a:off x="2971800" y="5007685"/>
            <a:ext cx="389902" cy="126940"/>
          </a:xfrm>
          <a:prstGeom prst="rect">
            <a:avLst/>
          </a:prstGeom>
          <a:solidFill>
            <a:srgbClr val="12A566"/>
          </a:solidFill>
          <a:ln/>
        </p:spPr>
      </p:sp>
      <p:sp>
        <p:nvSpPr>
          <p:cNvPr id="50" name="Text 48"/>
          <p:cNvSpPr txBox="1"/>
          <p:nvPr/>
        </p:nvSpPr>
        <p:spPr>
          <a:xfrm>
            <a:off x="4855464" y="4944215"/>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13.5%</a:t>
            </a:r>
            <a:endParaRPr lang="en-US" sz="1300" dirty="0"/>
          </a:p>
        </p:txBody>
      </p:sp>
      <p:sp>
        <p:nvSpPr>
          <p:cNvPr id="51" name="Text 49"/>
          <p:cNvSpPr txBox="1"/>
          <p:nvPr/>
        </p:nvSpPr>
        <p:spPr>
          <a:xfrm>
            <a:off x="658368" y="519809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52" name="Shape 50"/>
          <p:cNvSpPr/>
          <p:nvPr/>
        </p:nvSpPr>
        <p:spPr>
          <a:xfrm>
            <a:off x="2971800" y="5261565"/>
            <a:ext cx="414841" cy="126940"/>
          </a:xfrm>
          <a:prstGeom prst="rect">
            <a:avLst/>
          </a:prstGeom>
          <a:solidFill>
            <a:srgbClr val="12A566"/>
          </a:solidFill>
          <a:ln/>
        </p:spPr>
      </p:sp>
      <p:sp>
        <p:nvSpPr>
          <p:cNvPr id="53" name="Text 51"/>
          <p:cNvSpPr txBox="1"/>
          <p:nvPr/>
        </p:nvSpPr>
        <p:spPr>
          <a:xfrm>
            <a:off x="4855464" y="5198095"/>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14.4%</a:t>
            </a:r>
            <a:endParaRPr lang="en-US" sz="1300" dirty="0"/>
          </a:p>
        </p:txBody>
      </p:sp>
      <p:sp>
        <p:nvSpPr>
          <p:cNvPr id="54" name="Text 52"/>
          <p:cNvSpPr txBox="1"/>
          <p:nvPr/>
        </p:nvSpPr>
        <p:spPr>
          <a:xfrm>
            <a:off x="658368" y="5451976"/>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55" name="Shape 53"/>
          <p:cNvSpPr/>
          <p:nvPr/>
        </p:nvSpPr>
        <p:spPr>
          <a:xfrm>
            <a:off x="2971800" y="5515446"/>
            <a:ext cx="415737" cy="126940"/>
          </a:xfrm>
          <a:prstGeom prst="rect">
            <a:avLst/>
          </a:prstGeom>
          <a:solidFill>
            <a:srgbClr val="12A566"/>
          </a:solidFill>
          <a:ln/>
        </p:spPr>
      </p:sp>
      <p:sp>
        <p:nvSpPr>
          <p:cNvPr id="56" name="Text 54"/>
          <p:cNvSpPr txBox="1"/>
          <p:nvPr/>
        </p:nvSpPr>
        <p:spPr>
          <a:xfrm>
            <a:off x="4855464" y="5451976"/>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14.4%</a:t>
            </a:r>
            <a:endParaRPr lang="en-US" sz="1300" dirty="0"/>
          </a:p>
        </p:txBody>
      </p:sp>
      <p:sp>
        <p:nvSpPr>
          <p:cNvPr id="57" name="Text 55"/>
          <p:cNvSpPr txBox="1"/>
          <p:nvPr/>
        </p:nvSpPr>
        <p:spPr>
          <a:xfrm>
            <a:off x="6208776" y="138988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58" name="Shape 56"/>
          <p:cNvSpPr/>
          <p:nvPr/>
        </p:nvSpPr>
        <p:spPr>
          <a:xfrm>
            <a:off x="8522208" y="1453358"/>
            <a:ext cx="426391" cy="126940"/>
          </a:xfrm>
          <a:prstGeom prst="rect">
            <a:avLst/>
          </a:prstGeom>
          <a:solidFill>
            <a:srgbClr val="12A566"/>
          </a:solidFill>
          <a:ln/>
        </p:spPr>
      </p:sp>
      <p:sp>
        <p:nvSpPr>
          <p:cNvPr id="59" name="Text 57"/>
          <p:cNvSpPr txBox="1"/>
          <p:nvPr/>
        </p:nvSpPr>
        <p:spPr>
          <a:xfrm>
            <a:off x="10405872" y="1389888"/>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14.8%</a:t>
            </a:r>
            <a:endParaRPr lang="en-US" sz="1300" dirty="0"/>
          </a:p>
        </p:txBody>
      </p:sp>
      <p:sp>
        <p:nvSpPr>
          <p:cNvPr id="60" name="Shape 58"/>
          <p:cNvSpPr/>
          <p:nvPr/>
        </p:nvSpPr>
        <p:spPr>
          <a:xfrm>
            <a:off x="6135624" y="1639196"/>
            <a:ext cx="5413248" cy="244736"/>
          </a:xfrm>
          <a:prstGeom prst="rect">
            <a:avLst/>
          </a:prstGeom>
          <a:solidFill>
            <a:srgbClr val="EDF4FA"/>
          </a:solidFill>
          <a:ln/>
        </p:spPr>
      </p:sp>
      <p:sp>
        <p:nvSpPr>
          <p:cNvPr id="61" name="Text 59"/>
          <p:cNvSpPr txBox="1"/>
          <p:nvPr/>
        </p:nvSpPr>
        <p:spPr>
          <a:xfrm>
            <a:off x="6208776" y="1643768"/>
            <a:ext cx="2240280" cy="253880"/>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GROUP</a:t>
            </a:r>
            <a:endParaRPr lang="en-US" sz="1300" dirty="0"/>
          </a:p>
        </p:txBody>
      </p:sp>
      <p:sp>
        <p:nvSpPr>
          <p:cNvPr id="62" name="Shape 60"/>
          <p:cNvSpPr/>
          <p:nvPr/>
        </p:nvSpPr>
        <p:spPr>
          <a:xfrm>
            <a:off x="8522208" y="1707239"/>
            <a:ext cx="437182" cy="126940"/>
          </a:xfrm>
          <a:prstGeom prst="rect">
            <a:avLst/>
          </a:prstGeom>
          <a:solidFill>
            <a:srgbClr val="0B2C4A"/>
          </a:solidFill>
          <a:ln/>
        </p:spPr>
      </p:sp>
      <p:sp>
        <p:nvSpPr>
          <p:cNvPr id="63" name="Text 61"/>
          <p:cNvSpPr txBox="1"/>
          <p:nvPr/>
        </p:nvSpPr>
        <p:spPr>
          <a:xfrm>
            <a:off x="10405872" y="1643768"/>
            <a:ext cx="1088136" cy="253880"/>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15.2%</a:t>
            </a:r>
            <a:endParaRPr lang="en-US" sz="1300" dirty="0"/>
          </a:p>
        </p:txBody>
      </p:sp>
      <p:sp>
        <p:nvSpPr>
          <p:cNvPr id="64" name="Text 62"/>
          <p:cNvSpPr txBox="1"/>
          <p:nvPr/>
        </p:nvSpPr>
        <p:spPr>
          <a:xfrm>
            <a:off x="6208776" y="189764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65" name="Shape 63"/>
          <p:cNvSpPr/>
          <p:nvPr/>
        </p:nvSpPr>
        <p:spPr>
          <a:xfrm>
            <a:off x="8522208" y="1961119"/>
            <a:ext cx="441057" cy="126940"/>
          </a:xfrm>
          <a:prstGeom prst="rect">
            <a:avLst/>
          </a:prstGeom>
          <a:solidFill>
            <a:srgbClr val="C2352F"/>
          </a:solidFill>
          <a:ln/>
        </p:spPr>
      </p:sp>
      <p:sp>
        <p:nvSpPr>
          <p:cNvPr id="66" name="Text 64"/>
          <p:cNvSpPr txBox="1"/>
          <p:nvPr/>
        </p:nvSpPr>
        <p:spPr>
          <a:xfrm>
            <a:off x="10405872" y="1897649"/>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15.3%</a:t>
            </a:r>
            <a:endParaRPr lang="en-US" sz="1300" dirty="0"/>
          </a:p>
        </p:txBody>
      </p:sp>
      <p:sp>
        <p:nvSpPr>
          <p:cNvPr id="67" name="Text 65"/>
          <p:cNvSpPr txBox="1"/>
          <p:nvPr/>
        </p:nvSpPr>
        <p:spPr>
          <a:xfrm>
            <a:off x="6208776" y="215152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68" name="Shape 66"/>
          <p:cNvSpPr/>
          <p:nvPr/>
        </p:nvSpPr>
        <p:spPr>
          <a:xfrm>
            <a:off x="8522208" y="2215000"/>
            <a:ext cx="515211" cy="126940"/>
          </a:xfrm>
          <a:prstGeom prst="rect">
            <a:avLst/>
          </a:prstGeom>
          <a:solidFill>
            <a:srgbClr val="C2352F"/>
          </a:solidFill>
          <a:ln/>
        </p:spPr>
      </p:sp>
      <p:sp>
        <p:nvSpPr>
          <p:cNvPr id="69" name="Text 67"/>
          <p:cNvSpPr txBox="1"/>
          <p:nvPr/>
        </p:nvSpPr>
        <p:spPr>
          <a:xfrm>
            <a:off x="10405872" y="2151529"/>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17.9%</a:t>
            </a:r>
            <a:endParaRPr lang="en-US" sz="1300" dirty="0"/>
          </a:p>
        </p:txBody>
      </p:sp>
      <p:sp>
        <p:nvSpPr>
          <p:cNvPr id="70" name="Text 68"/>
          <p:cNvSpPr txBox="1"/>
          <p:nvPr/>
        </p:nvSpPr>
        <p:spPr>
          <a:xfrm>
            <a:off x="6208776" y="240541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71" name="Shape 69"/>
          <p:cNvSpPr/>
          <p:nvPr/>
        </p:nvSpPr>
        <p:spPr>
          <a:xfrm>
            <a:off x="8522208" y="2468880"/>
            <a:ext cx="554737" cy="126940"/>
          </a:xfrm>
          <a:prstGeom prst="rect">
            <a:avLst/>
          </a:prstGeom>
          <a:solidFill>
            <a:srgbClr val="C2352F"/>
          </a:solidFill>
          <a:ln/>
        </p:spPr>
      </p:sp>
      <p:sp>
        <p:nvSpPr>
          <p:cNvPr id="72" name="Text 70"/>
          <p:cNvSpPr txBox="1"/>
          <p:nvPr/>
        </p:nvSpPr>
        <p:spPr>
          <a:xfrm>
            <a:off x="10405872" y="2405410"/>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19.3%</a:t>
            </a:r>
            <a:endParaRPr lang="en-US" sz="1300" dirty="0"/>
          </a:p>
        </p:txBody>
      </p:sp>
      <p:sp>
        <p:nvSpPr>
          <p:cNvPr id="73" name="Text 71"/>
          <p:cNvSpPr txBox="1"/>
          <p:nvPr/>
        </p:nvSpPr>
        <p:spPr>
          <a:xfrm>
            <a:off x="6208776" y="265929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74" name="Shape 72"/>
          <p:cNvSpPr/>
          <p:nvPr/>
        </p:nvSpPr>
        <p:spPr>
          <a:xfrm>
            <a:off x="8522208" y="2722760"/>
            <a:ext cx="556515" cy="126940"/>
          </a:xfrm>
          <a:prstGeom prst="rect">
            <a:avLst/>
          </a:prstGeom>
          <a:solidFill>
            <a:srgbClr val="C2352F"/>
          </a:solidFill>
          <a:ln/>
        </p:spPr>
      </p:sp>
      <p:sp>
        <p:nvSpPr>
          <p:cNvPr id="75" name="Text 73"/>
          <p:cNvSpPr txBox="1"/>
          <p:nvPr/>
        </p:nvSpPr>
        <p:spPr>
          <a:xfrm>
            <a:off x="10405872" y="2659290"/>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19.3%</a:t>
            </a:r>
            <a:endParaRPr lang="en-US" sz="1300" dirty="0"/>
          </a:p>
        </p:txBody>
      </p:sp>
      <p:sp>
        <p:nvSpPr>
          <p:cNvPr id="76" name="Text 74"/>
          <p:cNvSpPr txBox="1"/>
          <p:nvPr/>
        </p:nvSpPr>
        <p:spPr>
          <a:xfrm>
            <a:off x="6208776" y="291317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77" name="Shape 75"/>
          <p:cNvSpPr/>
          <p:nvPr/>
        </p:nvSpPr>
        <p:spPr>
          <a:xfrm>
            <a:off x="8522208" y="2976641"/>
            <a:ext cx="678650" cy="126940"/>
          </a:xfrm>
          <a:prstGeom prst="rect">
            <a:avLst/>
          </a:prstGeom>
          <a:solidFill>
            <a:srgbClr val="C2352F"/>
          </a:solidFill>
          <a:ln/>
        </p:spPr>
      </p:sp>
      <p:sp>
        <p:nvSpPr>
          <p:cNvPr id="78" name="Text 76"/>
          <p:cNvSpPr txBox="1"/>
          <p:nvPr/>
        </p:nvSpPr>
        <p:spPr>
          <a:xfrm>
            <a:off x="10405872" y="2913171"/>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23.6%</a:t>
            </a:r>
            <a:endParaRPr lang="en-US" sz="1300" dirty="0"/>
          </a:p>
        </p:txBody>
      </p:sp>
      <p:sp>
        <p:nvSpPr>
          <p:cNvPr id="79" name="Text 77"/>
          <p:cNvSpPr txBox="1"/>
          <p:nvPr/>
        </p:nvSpPr>
        <p:spPr>
          <a:xfrm>
            <a:off x="6208776" y="316705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80" name="Shape 78"/>
          <p:cNvSpPr/>
          <p:nvPr/>
        </p:nvSpPr>
        <p:spPr>
          <a:xfrm>
            <a:off x="8522208" y="3230521"/>
            <a:ext cx="728048" cy="126940"/>
          </a:xfrm>
          <a:prstGeom prst="rect">
            <a:avLst/>
          </a:prstGeom>
          <a:solidFill>
            <a:srgbClr val="C2352F"/>
          </a:solidFill>
          <a:ln/>
        </p:spPr>
      </p:sp>
      <p:sp>
        <p:nvSpPr>
          <p:cNvPr id="81" name="Text 79"/>
          <p:cNvSpPr txBox="1"/>
          <p:nvPr/>
        </p:nvSpPr>
        <p:spPr>
          <a:xfrm>
            <a:off x="10405872" y="3167051"/>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25.3%</a:t>
            </a:r>
            <a:endParaRPr lang="en-US" sz="1300" dirty="0"/>
          </a:p>
        </p:txBody>
      </p:sp>
      <p:sp>
        <p:nvSpPr>
          <p:cNvPr id="82" name="Text 80"/>
          <p:cNvSpPr txBox="1"/>
          <p:nvPr/>
        </p:nvSpPr>
        <p:spPr>
          <a:xfrm>
            <a:off x="6208776" y="342093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83" name="Shape 81"/>
          <p:cNvSpPr/>
          <p:nvPr/>
        </p:nvSpPr>
        <p:spPr>
          <a:xfrm>
            <a:off x="8522208" y="3484402"/>
            <a:ext cx="777338" cy="126940"/>
          </a:xfrm>
          <a:prstGeom prst="rect">
            <a:avLst/>
          </a:prstGeom>
          <a:solidFill>
            <a:srgbClr val="C2352F"/>
          </a:solidFill>
          <a:ln/>
        </p:spPr>
      </p:sp>
      <p:sp>
        <p:nvSpPr>
          <p:cNvPr id="84" name="Text 82"/>
          <p:cNvSpPr txBox="1"/>
          <p:nvPr/>
        </p:nvSpPr>
        <p:spPr>
          <a:xfrm>
            <a:off x="10405872" y="3420932"/>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27.0%</a:t>
            </a:r>
            <a:endParaRPr lang="en-US" sz="1300" dirty="0"/>
          </a:p>
        </p:txBody>
      </p:sp>
      <p:sp>
        <p:nvSpPr>
          <p:cNvPr id="85" name="Text 83"/>
          <p:cNvSpPr txBox="1"/>
          <p:nvPr/>
        </p:nvSpPr>
        <p:spPr>
          <a:xfrm>
            <a:off x="6208776" y="367481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86" name="Shape 84"/>
          <p:cNvSpPr/>
          <p:nvPr/>
        </p:nvSpPr>
        <p:spPr>
          <a:xfrm>
            <a:off x="8522208" y="3738282"/>
            <a:ext cx="779797" cy="126940"/>
          </a:xfrm>
          <a:prstGeom prst="rect">
            <a:avLst/>
          </a:prstGeom>
          <a:solidFill>
            <a:srgbClr val="C2352F"/>
          </a:solidFill>
          <a:ln/>
        </p:spPr>
      </p:sp>
      <p:sp>
        <p:nvSpPr>
          <p:cNvPr id="87" name="Text 85"/>
          <p:cNvSpPr txBox="1"/>
          <p:nvPr/>
        </p:nvSpPr>
        <p:spPr>
          <a:xfrm>
            <a:off x="10405872" y="3674812"/>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27.1%</a:t>
            </a:r>
            <a:endParaRPr lang="en-US" sz="1300" dirty="0"/>
          </a:p>
        </p:txBody>
      </p:sp>
      <p:sp>
        <p:nvSpPr>
          <p:cNvPr id="88" name="Text 86"/>
          <p:cNvSpPr txBox="1"/>
          <p:nvPr/>
        </p:nvSpPr>
        <p:spPr>
          <a:xfrm>
            <a:off x="6208776" y="392869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89" name="Shape 87"/>
          <p:cNvSpPr/>
          <p:nvPr/>
        </p:nvSpPr>
        <p:spPr>
          <a:xfrm>
            <a:off x="8522208" y="3992163"/>
            <a:ext cx="815649" cy="126940"/>
          </a:xfrm>
          <a:prstGeom prst="rect">
            <a:avLst/>
          </a:prstGeom>
          <a:solidFill>
            <a:srgbClr val="C2352F"/>
          </a:solidFill>
          <a:ln/>
        </p:spPr>
      </p:sp>
      <p:sp>
        <p:nvSpPr>
          <p:cNvPr id="90" name="Text 88"/>
          <p:cNvSpPr txBox="1"/>
          <p:nvPr/>
        </p:nvSpPr>
        <p:spPr>
          <a:xfrm>
            <a:off x="10405872" y="3928693"/>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28.3%</a:t>
            </a:r>
            <a:endParaRPr lang="en-US" sz="1300" dirty="0"/>
          </a:p>
        </p:txBody>
      </p:sp>
      <p:sp>
        <p:nvSpPr>
          <p:cNvPr id="91" name="Text 89"/>
          <p:cNvSpPr txBox="1"/>
          <p:nvPr/>
        </p:nvSpPr>
        <p:spPr>
          <a:xfrm>
            <a:off x="6208776" y="418257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92" name="Shape 90"/>
          <p:cNvSpPr/>
          <p:nvPr/>
        </p:nvSpPr>
        <p:spPr>
          <a:xfrm>
            <a:off x="8522208" y="4246043"/>
            <a:ext cx="835225" cy="126940"/>
          </a:xfrm>
          <a:prstGeom prst="rect">
            <a:avLst/>
          </a:prstGeom>
          <a:solidFill>
            <a:srgbClr val="C2352F"/>
          </a:solidFill>
          <a:ln/>
        </p:spPr>
      </p:sp>
      <p:sp>
        <p:nvSpPr>
          <p:cNvPr id="93" name="Text 91"/>
          <p:cNvSpPr txBox="1"/>
          <p:nvPr/>
        </p:nvSpPr>
        <p:spPr>
          <a:xfrm>
            <a:off x="10405872" y="4182573"/>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29.0%</a:t>
            </a:r>
            <a:endParaRPr lang="en-US" sz="1300" dirty="0"/>
          </a:p>
        </p:txBody>
      </p:sp>
      <p:sp>
        <p:nvSpPr>
          <p:cNvPr id="94" name="Text 92"/>
          <p:cNvSpPr txBox="1"/>
          <p:nvPr/>
        </p:nvSpPr>
        <p:spPr>
          <a:xfrm>
            <a:off x="6208776" y="443645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95" name="Shape 93"/>
          <p:cNvSpPr/>
          <p:nvPr/>
        </p:nvSpPr>
        <p:spPr>
          <a:xfrm>
            <a:off x="8522208" y="4499924"/>
            <a:ext cx="1096421" cy="126940"/>
          </a:xfrm>
          <a:prstGeom prst="rect">
            <a:avLst/>
          </a:prstGeom>
          <a:solidFill>
            <a:srgbClr val="C2352F"/>
          </a:solidFill>
          <a:ln/>
        </p:spPr>
      </p:sp>
      <p:sp>
        <p:nvSpPr>
          <p:cNvPr id="96" name="Text 94"/>
          <p:cNvSpPr txBox="1"/>
          <p:nvPr/>
        </p:nvSpPr>
        <p:spPr>
          <a:xfrm>
            <a:off x="10405872" y="4436454"/>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38.1%</a:t>
            </a:r>
            <a:endParaRPr lang="en-US" sz="1300" dirty="0"/>
          </a:p>
        </p:txBody>
      </p:sp>
      <p:sp>
        <p:nvSpPr>
          <p:cNvPr id="97" name="Text 95"/>
          <p:cNvSpPr txBox="1"/>
          <p:nvPr/>
        </p:nvSpPr>
        <p:spPr>
          <a:xfrm>
            <a:off x="6208776" y="469033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98" name="Shape 96"/>
          <p:cNvSpPr/>
          <p:nvPr/>
        </p:nvSpPr>
        <p:spPr>
          <a:xfrm>
            <a:off x="8522208" y="4753804"/>
            <a:ext cx="1132410" cy="126940"/>
          </a:xfrm>
          <a:prstGeom prst="rect">
            <a:avLst/>
          </a:prstGeom>
          <a:solidFill>
            <a:srgbClr val="C2352F"/>
          </a:solidFill>
          <a:ln/>
        </p:spPr>
      </p:sp>
      <p:sp>
        <p:nvSpPr>
          <p:cNvPr id="99" name="Text 97"/>
          <p:cNvSpPr txBox="1"/>
          <p:nvPr/>
        </p:nvSpPr>
        <p:spPr>
          <a:xfrm>
            <a:off x="10405872" y="4690334"/>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39.3%</a:t>
            </a:r>
            <a:endParaRPr lang="en-US" sz="1300" dirty="0"/>
          </a:p>
        </p:txBody>
      </p:sp>
      <p:sp>
        <p:nvSpPr>
          <p:cNvPr id="100" name="Text 98"/>
          <p:cNvSpPr txBox="1"/>
          <p:nvPr/>
        </p:nvSpPr>
        <p:spPr>
          <a:xfrm>
            <a:off x="6208776" y="494421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101" name="Shape 99"/>
          <p:cNvSpPr/>
          <p:nvPr/>
        </p:nvSpPr>
        <p:spPr>
          <a:xfrm>
            <a:off x="8522208" y="5007685"/>
            <a:ext cx="1298859" cy="126940"/>
          </a:xfrm>
          <a:prstGeom prst="rect">
            <a:avLst/>
          </a:prstGeom>
          <a:solidFill>
            <a:srgbClr val="C2352F"/>
          </a:solidFill>
          <a:ln/>
        </p:spPr>
      </p:sp>
      <p:sp>
        <p:nvSpPr>
          <p:cNvPr id="102" name="Text 100"/>
          <p:cNvSpPr txBox="1"/>
          <p:nvPr/>
        </p:nvSpPr>
        <p:spPr>
          <a:xfrm>
            <a:off x="10405872" y="4944215"/>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45.1%</a:t>
            </a:r>
            <a:endParaRPr lang="en-US" sz="1300" dirty="0"/>
          </a:p>
        </p:txBody>
      </p:sp>
      <p:sp>
        <p:nvSpPr>
          <p:cNvPr id="103" name="Text 101"/>
          <p:cNvSpPr txBox="1"/>
          <p:nvPr/>
        </p:nvSpPr>
        <p:spPr>
          <a:xfrm>
            <a:off x="6208776" y="519809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104" name="Shape 102"/>
          <p:cNvSpPr/>
          <p:nvPr/>
        </p:nvSpPr>
        <p:spPr>
          <a:xfrm>
            <a:off x="8522208" y="5261565"/>
            <a:ext cx="1491655" cy="126940"/>
          </a:xfrm>
          <a:prstGeom prst="rect">
            <a:avLst/>
          </a:prstGeom>
          <a:solidFill>
            <a:srgbClr val="C2352F"/>
          </a:solidFill>
          <a:ln/>
        </p:spPr>
      </p:sp>
      <p:sp>
        <p:nvSpPr>
          <p:cNvPr id="105" name="Text 103"/>
          <p:cNvSpPr txBox="1"/>
          <p:nvPr/>
        </p:nvSpPr>
        <p:spPr>
          <a:xfrm>
            <a:off x="10405872" y="5198095"/>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51.8%</a:t>
            </a:r>
            <a:endParaRPr lang="en-US" sz="1300" dirty="0"/>
          </a:p>
        </p:txBody>
      </p:sp>
      <p:sp>
        <p:nvSpPr>
          <p:cNvPr id="106" name="Text 104"/>
          <p:cNvSpPr txBox="1"/>
          <p:nvPr/>
        </p:nvSpPr>
        <p:spPr>
          <a:xfrm>
            <a:off x="6208776" y="5451976"/>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107" name="Shape 105"/>
          <p:cNvSpPr/>
          <p:nvPr/>
        </p:nvSpPr>
        <p:spPr>
          <a:xfrm>
            <a:off x="8522208" y="5515446"/>
            <a:ext cx="1828800" cy="126940"/>
          </a:xfrm>
          <a:prstGeom prst="rect">
            <a:avLst/>
          </a:prstGeom>
          <a:solidFill>
            <a:srgbClr val="C2352F"/>
          </a:solidFill>
          <a:ln/>
        </p:spPr>
      </p:sp>
      <p:sp>
        <p:nvSpPr>
          <p:cNvPr id="108" name="Text 106"/>
          <p:cNvSpPr txBox="1"/>
          <p:nvPr/>
        </p:nvSpPr>
        <p:spPr>
          <a:xfrm>
            <a:off x="10405872" y="5451976"/>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63.5%</a:t>
            </a:r>
            <a:endParaRPr lang="en-US" sz="1300" dirty="0"/>
          </a:p>
        </p:txBody>
      </p:sp>
      <p:sp>
        <p:nvSpPr>
          <p:cNvPr id="109" name="Shape 107"/>
          <p:cNvSpPr/>
          <p:nvPr/>
        </p:nvSpPr>
        <p:spPr>
          <a:xfrm>
            <a:off x="3401666" y="1389888"/>
            <a:ext cx="14630" cy="4315968"/>
          </a:xfrm>
          <a:prstGeom prst="rect">
            <a:avLst/>
          </a:prstGeom>
          <a:solidFill>
            <a:srgbClr val="0B2C4A"/>
          </a:solidFill>
          <a:ln/>
        </p:spPr>
      </p:sp>
      <p:sp>
        <p:nvSpPr>
          <p:cNvPr id="110" name="Shape 108"/>
          <p:cNvSpPr/>
          <p:nvPr/>
        </p:nvSpPr>
        <p:spPr>
          <a:xfrm>
            <a:off x="8952074" y="1389888"/>
            <a:ext cx="14630" cy="4315968"/>
          </a:xfrm>
          <a:prstGeom prst="rect">
            <a:avLst/>
          </a:prstGeom>
          <a:solidFill>
            <a:srgbClr val="0B2C4A"/>
          </a:solidFill>
          <a:ln/>
        </p:spPr>
      </p:sp>
      <p:sp>
        <p:nvSpPr>
          <p:cNvPr id="111" name="Shape 109"/>
          <p:cNvSpPr/>
          <p:nvPr/>
        </p:nvSpPr>
        <p:spPr>
          <a:xfrm>
            <a:off x="457200" y="5961888"/>
            <a:ext cx="11274552" cy="548640"/>
          </a:xfrm>
          <a:prstGeom prst="rect">
            <a:avLst/>
          </a:prstGeom>
          <a:solidFill>
            <a:srgbClr val="EDF4FA"/>
          </a:solidFill>
          <a:ln/>
        </p:spPr>
      </p:sp>
      <p:sp>
        <p:nvSpPr>
          <p:cNvPr id="112" name="Text 110"/>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GMC PRESCOTT can't classify 63.5% of its customer-pay labor from the description; HONDA HENDERSON only 4.2%. Vague op code descriptions hide what the shop sells.</a:t>
            </a:r>
            <a:endParaRPr lang="en-US" sz="16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13232" y="2377440"/>
            <a:ext cx="9144000" cy="365760"/>
          </a:xfrm>
          <a:prstGeom prst="rect">
            <a:avLst/>
          </a:prstGeom>
          <a:noFill/>
          <a:ln/>
        </p:spPr>
        <p:txBody>
          <a:bodyPr wrap="square" lIns="0" tIns="0" rIns="0" bIns="0" rtlCol="0" anchor="ctr"/>
          <a:lstStyle/>
          <a:p>
            <a:pPr indent="0" marL="0">
              <a:buNone/>
            </a:pPr>
            <a:r>
              <a:rPr lang="en-US" sz="2000" b="1" spc="260" kern="0" dirty="0">
                <a:solidFill>
                  <a:srgbClr val="2587C5"/>
                </a:solidFill>
                <a:latin typeface="Inter" pitchFamily="34" charset="0"/>
                <a:ea typeface="Inter" pitchFamily="34" charset="-122"/>
                <a:cs typeface="Inter" pitchFamily="34" charset="-120"/>
              </a:rPr>
              <a:t>FIXED OPS</a:t>
            </a:r>
            <a:endParaRPr lang="en-US" sz="2000" dirty="0"/>
          </a:p>
        </p:txBody>
      </p:sp>
      <p:sp>
        <p:nvSpPr>
          <p:cNvPr id="3" name="Text 1"/>
          <p:cNvSpPr txBox="1"/>
          <p:nvPr/>
        </p:nvSpPr>
        <p:spPr>
          <a:xfrm>
            <a:off x="667512" y="2743200"/>
            <a:ext cx="10789920" cy="1234440"/>
          </a:xfrm>
          <a:prstGeom prst="rect">
            <a:avLst/>
          </a:prstGeom>
          <a:noFill/>
          <a:ln/>
        </p:spPr>
        <p:txBody>
          <a:bodyPr wrap="square" lIns="0" tIns="0" rIns="0" bIns="0" rtlCol="0" anchor="ctr"/>
          <a:lstStyle/>
          <a:p>
            <a:pPr indent="0" marL="0">
              <a:buNone/>
            </a:pPr>
            <a:r>
              <a:rPr lang="en-US" sz="8200" b="1" dirty="0">
                <a:solidFill>
                  <a:srgbClr val="1A1A1A"/>
                </a:solidFill>
                <a:latin typeface="Inter" pitchFamily="34" charset="0"/>
                <a:ea typeface="Inter" pitchFamily="34" charset="-122"/>
                <a:cs typeface="Inter" pitchFamily="34" charset="-120"/>
              </a:rPr>
              <a:t>Opcode Benchmarks</a:t>
            </a:r>
            <a:endParaRPr lang="en-US" sz="8200" dirty="0"/>
          </a:p>
        </p:txBody>
      </p:sp>
      <p:sp>
        <p:nvSpPr>
          <p:cNvPr id="4" name="Text 2"/>
          <p:cNvSpPr txBox="1"/>
          <p:nvPr/>
        </p:nvSpPr>
        <p:spPr>
          <a:xfrm>
            <a:off x="694944" y="4041648"/>
            <a:ext cx="10789920" cy="411480"/>
          </a:xfrm>
          <a:prstGeom prst="rect">
            <a:avLst/>
          </a:prstGeom>
          <a:noFill/>
          <a:ln/>
        </p:spPr>
        <p:txBody>
          <a:bodyPr wrap="square" lIns="0" tIns="0" rIns="0" bIns="0" rtlCol="0" anchor="ctr"/>
          <a:lstStyle/>
          <a:p>
            <a:pPr indent="0" marL="0">
              <a:buNone/>
            </a:pPr>
            <a:r>
              <a:rPr lang="en-US" sz="2200" dirty="0">
                <a:solidFill>
                  <a:srgbClr val="595959"/>
                </a:solidFill>
                <a:latin typeface="Inter" pitchFamily="34" charset="0"/>
                <a:ea typeface="Inter" pitchFamily="34" charset="-122"/>
                <a:cs typeface="Inter" pitchFamily="34" charset="-120"/>
              </a:rPr>
              <a:t>Alignment 15%   ·   Balance 15%   ·   Brake fluid 10%   ·   Fuel service 7.5%</a:t>
            </a:r>
            <a:endParaRPr lang="en-US" sz="2200" dirty="0"/>
          </a:p>
        </p:txBody>
      </p:sp>
      <p:sp>
        <p:nvSpPr>
          <p:cNvPr id="5" name="Shape 3"/>
          <p:cNvSpPr/>
          <p:nvPr/>
        </p:nvSpPr>
        <p:spPr>
          <a:xfrm>
            <a:off x="685800" y="5257800"/>
            <a:ext cx="1340249" cy="45720"/>
          </a:xfrm>
          <a:prstGeom prst="rect">
            <a:avLst/>
          </a:prstGeom>
          <a:solidFill>
            <a:srgbClr val="5B9BD5"/>
          </a:solidFill>
          <a:ln/>
        </p:spPr>
      </p:sp>
      <p:sp>
        <p:nvSpPr>
          <p:cNvPr id="6" name="Text 4"/>
          <p:cNvSpPr txBox="1"/>
          <p:nvPr/>
        </p:nvSpPr>
        <p:spPr>
          <a:xfrm>
            <a:off x="685800"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Gross</a:t>
            </a:r>
            <a:endParaRPr lang="en-US" sz="1550" dirty="0"/>
          </a:p>
        </p:txBody>
      </p:sp>
      <p:sp>
        <p:nvSpPr>
          <p:cNvPr id="7" name="Shape 5"/>
          <p:cNvSpPr/>
          <p:nvPr/>
        </p:nvSpPr>
        <p:spPr>
          <a:xfrm>
            <a:off x="2227217" y="5257800"/>
            <a:ext cx="1340249" cy="45720"/>
          </a:xfrm>
          <a:prstGeom prst="rect">
            <a:avLst/>
          </a:prstGeom>
          <a:solidFill>
            <a:srgbClr val="5B9BD5"/>
          </a:solidFill>
          <a:ln/>
        </p:spPr>
      </p:sp>
      <p:sp>
        <p:nvSpPr>
          <p:cNvPr id="8" name="Text 6"/>
          <p:cNvSpPr txBox="1"/>
          <p:nvPr/>
        </p:nvSpPr>
        <p:spPr>
          <a:xfrm>
            <a:off x="2227217"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Profitability</a:t>
            </a:r>
            <a:endParaRPr lang="en-US" sz="1550" dirty="0"/>
          </a:p>
        </p:txBody>
      </p:sp>
      <p:sp>
        <p:nvSpPr>
          <p:cNvPr id="9" name="Shape 7"/>
          <p:cNvSpPr/>
          <p:nvPr/>
        </p:nvSpPr>
        <p:spPr>
          <a:xfrm>
            <a:off x="3768634" y="5257800"/>
            <a:ext cx="1340249" cy="45720"/>
          </a:xfrm>
          <a:prstGeom prst="rect">
            <a:avLst/>
          </a:prstGeom>
          <a:solidFill>
            <a:srgbClr val="5B9BD5"/>
          </a:solidFill>
          <a:ln/>
        </p:spPr>
      </p:sp>
      <p:sp>
        <p:nvSpPr>
          <p:cNvPr id="10" name="Text 8"/>
          <p:cNvSpPr txBox="1"/>
          <p:nvPr/>
        </p:nvSpPr>
        <p:spPr>
          <a:xfrm>
            <a:off x="3768634"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CP Engine</a:t>
            </a:r>
            <a:endParaRPr lang="en-US" sz="1550" dirty="0"/>
          </a:p>
        </p:txBody>
      </p:sp>
      <p:sp>
        <p:nvSpPr>
          <p:cNvPr id="11" name="Shape 9"/>
          <p:cNvSpPr/>
          <p:nvPr/>
        </p:nvSpPr>
        <p:spPr>
          <a:xfrm>
            <a:off x="5310051" y="5257800"/>
            <a:ext cx="1340249" cy="45720"/>
          </a:xfrm>
          <a:prstGeom prst="rect">
            <a:avLst/>
          </a:prstGeom>
          <a:solidFill>
            <a:srgbClr val="5B9BD5"/>
          </a:solidFill>
          <a:ln/>
        </p:spPr>
      </p:sp>
      <p:sp>
        <p:nvSpPr>
          <p:cNvPr id="12" name="Text 10"/>
          <p:cNvSpPr txBox="1"/>
          <p:nvPr/>
        </p:nvSpPr>
        <p:spPr>
          <a:xfrm>
            <a:off x="5310051"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Labor Mix</a:t>
            </a:r>
            <a:endParaRPr lang="en-US" sz="1550" dirty="0"/>
          </a:p>
        </p:txBody>
      </p:sp>
      <p:sp>
        <p:nvSpPr>
          <p:cNvPr id="13" name="Shape 11"/>
          <p:cNvSpPr/>
          <p:nvPr/>
        </p:nvSpPr>
        <p:spPr>
          <a:xfrm>
            <a:off x="6851469" y="5257800"/>
            <a:ext cx="1340249" cy="91440"/>
          </a:xfrm>
          <a:prstGeom prst="rect">
            <a:avLst/>
          </a:prstGeom>
          <a:solidFill>
            <a:srgbClr val="2587C5"/>
          </a:solidFill>
          <a:ln/>
        </p:spPr>
      </p:sp>
      <p:sp>
        <p:nvSpPr>
          <p:cNvPr id="14" name="Text 12"/>
          <p:cNvSpPr txBox="1"/>
          <p:nvPr/>
        </p:nvSpPr>
        <p:spPr>
          <a:xfrm>
            <a:off x="6851469" y="5440680"/>
            <a:ext cx="1340249" cy="365760"/>
          </a:xfrm>
          <a:prstGeom prst="rect">
            <a:avLst/>
          </a:prstGeom>
          <a:noFill/>
          <a:ln/>
        </p:spPr>
        <p:txBody>
          <a:bodyPr wrap="square" lIns="0" tIns="0" rIns="0" bIns="0" rtlCol="0" anchor="ctr"/>
          <a:lstStyle/>
          <a:p>
            <a:pPr indent="0" marL="0">
              <a:buNone/>
            </a:pPr>
            <a:r>
              <a:rPr lang="en-US" sz="1550" b="1" dirty="0">
                <a:solidFill>
                  <a:srgbClr val="1A1A1A"/>
                </a:solidFill>
                <a:latin typeface="Inter" pitchFamily="34" charset="0"/>
                <a:ea typeface="Inter" pitchFamily="34" charset="-122"/>
                <a:cs typeface="Inter" pitchFamily="34" charset="-120"/>
              </a:rPr>
              <a:t>Opcodes</a:t>
            </a:r>
            <a:endParaRPr lang="en-US" sz="1550" dirty="0"/>
          </a:p>
        </p:txBody>
      </p:sp>
      <p:sp>
        <p:nvSpPr>
          <p:cNvPr id="15" name="Shape 13"/>
          <p:cNvSpPr/>
          <p:nvPr/>
        </p:nvSpPr>
        <p:spPr>
          <a:xfrm>
            <a:off x="8392886" y="5257800"/>
            <a:ext cx="1340249" cy="45720"/>
          </a:xfrm>
          <a:prstGeom prst="rect">
            <a:avLst/>
          </a:prstGeom>
          <a:solidFill>
            <a:srgbClr val="D9D9D9"/>
          </a:solidFill>
          <a:ln/>
        </p:spPr>
      </p:sp>
      <p:sp>
        <p:nvSpPr>
          <p:cNvPr id="16" name="Text 14"/>
          <p:cNvSpPr txBox="1"/>
          <p:nvPr/>
        </p:nvSpPr>
        <p:spPr>
          <a:xfrm>
            <a:off x="8392886"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Warranty</a:t>
            </a:r>
            <a:endParaRPr lang="en-US" sz="1550" dirty="0"/>
          </a:p>
        </p:txBody>
      </p:sp>
      <p:sp>
        <p:nvSpPr>
          <p:cNvPr id="17" name="Shape 15"/>
          <p:cNvSpPr/>
          <p:nvPr/>
        </p:nvSpPr>
        <p:spPr>
          <a:xfrm>
            <a:off x="9934303" y="5257800"/>
            <a:ext cx="1340249" cy="45720"/>
          </a:xfrm>
          <a:prstGeom prst="rect">
            <a:avLst/>
          </a:prstGeom>
          <a:solidFill>
            <a:srgbClr val="D9D9D9"/>
          </a:solidFill>
          <a:ln/>
        </p:spPr>
      </p:sp>
      <p:sp>
        <p:nvSpPr>
          <p:cNvPr id="18" name="Text 16"/>
          <p:cNvSpPr txBox="1"/>
          <p:nvPr/>
        </p:nvSpPr>
        <p:spPr>
          <a:xfrm>
            <a:off x="9934303"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Productivity</a:t>
            </a:r>
            <a:endParaRPr lang="en-US" sz="15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 BENCHMARKS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Alignment %</a:t>
            </a:r>
            <a:endParaRPr lang="en-US" sz="2800" dirty="0"/>
          </a:p>
        </p:txBody>
      </p:sp>
      <p:sp>
        <p:nvSpPr>
          <p:cNvPr id="5" name="Shape 3"/>
          <p:cNvSpPr/>
          <p:nvPr/>
        </p:nvSpPr>
        <p:spPr>
          <a:xfrm>
            <a:off x="457200" y="1207008"/>
            <a:ext cx="11274552" cy="1517904"/>
          </a:xfrm>
          <a:prstGeom prst="rect">
            <a:avLst/>
          </a:prstGeom>
          <a:solidFill>
            <a:srgbClr val="FFFFFF"/>
          </a:solidFill>
          <a:ln/>
        </p:spPr>
      </p:sp>
      <p:sp>
        <p:nvSpPr>
          <p:cNvPr id="6" name="Text 4"/>
          <p:cNvSpPr txBox="1"/>
          <p:nvPr/>
        </p:nvSpPr>
        <p:spPr>
          <a:xfrm>
            <a:off x="685800" y="1316736"/>
            <a:ext cx="10789920" cy="274320"/>
          </a:xfrm>
          <a:prstGeom prst="rect">
            <a:avLst/>
          </a:prstGeom>
          <a:noFill/>
          <a:ln/>
        </p:spPr>
        <p:txBody>
          <a:bodyPr wrap="square" lIns="0" tIns="0" rIns="0" bIns="0" rtlCol="0" anchor="ctr"/>
          <a:lstStyle/>
          <a:p>
            <a:pPr indent="0" marL="0">
              <a:buNone/>
            </a:pPr>
            <a:r>
              <a:rPr lang="en-US" sz="1400" spc="100" kern="0" dirty="0">
                <a:solidFill>
                  <a:srgbClr val="595959"/>
                </a:solidFill>
                <a:latin typeface="Inter" pitchFamily="34" charset="0"/>
                <a:ea typeface="Inter" pitchFamily="34" charset="-122"/>
                <a:cs typeface="Inter" pitchFamily="34" charset="-120"/>
              </a:rPr>
              <a:t>GROUP · JANUARY–SEPTEMBER · SAME-STORE, 33 STORES</a:t>
            </a:r>
            <a:endParaRPr lang="en-US" sz="1400" dirty="0"/>
          </a:p>
        </p:txBody>
      </p:sp>
      <p:sp>
        <p:nvSpPr>
          <p:cNvPr id="7" name="Text 5"/>
          <p:cNvSpPr txBox="1"/>
          <p:nvPr/>
        </p:nvSpPr>
        <p:spPr>
          <a:xfrm>
            <a:off x="68580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a:t>
            </a:r>
            <a:endParaRPr lang="en-US" sz="1400" dirty="0"/>
          </a:p>
        </p:txBody>
      </p:sp>
      <p:sp>
        <p:nvSpPr>
          <p:cNvPr id="8" name="Text 6"/>
          <p:cNvSpPr txBox="1"/>
          <p:nvPr/>
        </p:nvSpPr>
        <p:spPr>
          <a:xfrm>
            <a:off x="68580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11.9%</a:t>
            </a:r>
            <a:endParaRPr lang="en-US" sz="3000" dirty="0"/>
          </a:p>
        </p:txBody>
      </p:sp>
      <p:sp>
        <p:nvSpPr>
          <p:cNvPr id="9" name="Text 7"/>
          <p:cNvSpPr txBox="1"/>
          <p:nvPr/>
        </p:nvSpPr>
        <p:spPr>
          <a:xfrm>
            <a:off x="347472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a:t>
            </a:r>
            <a:endParaRPr lang="en-US" sz="1400" dirty="0"/>
          </a:p>
        </p:txBody>
      </p:sp>
      <p:sp>
        <p:nvSpPr>
          <p:cNvPr id="10" name="Text 8"/>
          <p:cNvSpPr txBox="1"/>
          <p:nvPr/>
        </p:nvSpPr>
        <p:spPr>
          <a:xfrm>
            <a:off x="347472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13.2%</a:t>
            </a:r>
            <a:endParaRPr lang="en-US" sz="3000" dirty="0"/>
          </a:p>
        </p:txBody>
      </p:sp>
      <p:sp>
        <p:nvSpPr>
          <p:cNvPr id="11" name="Text 9"/>
          <p:cNvSpPr txBox="1"/>
          <p:nvPr/>
        </p:nvSpPr>
        <p:spPr>
          <a:xfrm>
            <a:off x="626364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2" name="Text 10"/>
          <p:cNvSpPr txBox="1"/>
          <p:nvPr/>
        </p:nvSpPr>
        <p:spPr>
          <a:xfrm>
            <a:off x="626364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+1.4 pts</a:t>
            </a:r>
            <a:endParaRPr lang="en-US" sz="3000" dirty="0"/>
          </a:p>
        </p:txBody>
      </p:sp>
      <p:sp>
        <p:nvSpPr>
          <p:cNvPr id="13" name="Text 11"/>
          <p:cNvSpPr txBox="1"/>
          <p:nvPr/>
        </p:nvSpPr>
        <p:spPr>
          <a:xfrm>
            <a:off x="905256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4" name="Text 12"/>
          <p:cNvSpPr txBox="1"/>
          <p:nvPr/>
        </p:nvSpPr>
        <p:spPr>
          <a:xfrm>
            <a:off x="905256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+11.4%</a:t>
            </a:r>
            <a:endParaRPr lang="en-US" sz="30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457200" y="2816352"/>
          <a:ext cx="11274552" cy="914400"/>
        </p:xfrm>
        <a:graphic>
          <a:graphicData uri="http://schemas.openxmlformats.org/drawingml/2006/table">
            <a:tbl>
              <a:tblPr/>
              <a:tblGrid>
                <a:gridCol w="3118104"/>
                <a:gridCol w="2039112"/>
                <a:gridCol w="2039112"/>
                <a:gridCol w="2039112"/>
                <a:gridCol w="2039112"/>
              </a:tblGrid>
              <a:tr h="274320">
                <a:tc>
                  <a:txBody>
                    <a:bodyPr/>
                    <a:lstStyle/>
                    <a:p>
                      <a:pPr algn="l" indent="0" marL="0">
                        <a:buNone/>
                      </a:pPr>
                      <a:r>
                        <a:rPr lang="en-US" sz="1400" b="1" dirty="0">
                          <a:solidFill>
                            <a:srgbClr val="FFFFFF"/>
                          </a:solidFill>
                          <a:latin typeface="Inter" pitchFamily="34" charset="0"/>
                          <a:ea typeface="Inter" pitchFamily="34" charset="-122"/>
                          <a:cs typeface="Inter" pitchFamily="34" charset="-120"/>
                        </a:rPr>
                        <a:t>MONTH</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VARIANCE</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 %</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JAN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11.1%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12.1%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+1.0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+8.7%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FEB</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12.2%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13.2%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+1.0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+8.1%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12.8%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13.3%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+0.6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APR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14.2%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+1.5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+11.9%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MAY</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12.3%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13.5%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+1.2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+10.1%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11.5%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13.5%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+1.9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+16.8%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JUL</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11.3%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13.2%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+2.0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+17.4%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AUG</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11.5%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12.9%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+1.4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+12.0%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SEP</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11.4%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13.1%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+1.7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+14.4%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16" name="Shape 13"/>
          <p:cNvSpPr/>
          <p:nvPr/>
        </p:nvSpPr>
        <p:spPr>
          <a:xfrm>
            <a:off x="457200" y="5961888"/>
            <a:ext cx="11274552" cy="548640"/>
          </a:xfrm>
          <a:prstGeom prst="rect">
            <a:avLst/>
          </a:prstGeom>
          <a:solidFill>
            <a:srgbClr val="E6F6EE"/>
          </a:solidFill>
          <a:ln/>
        </p:spPr>
      </p:sp>
      <p:sp>
        <p:nvSpPr>
          <p:cNvPr id="17" name="Text 14"/>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Up 1.4 pts to 13.2%, ahead of 2025 in all nine months, but 1.7 pts under the 15% benchmark — 4,821 alignments short.</a:t>
            </a:r>
            <a:endParaRPr lang="en-US" sz="16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 BENCHMARKS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Alignment %</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70078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7" name="Shape 5"/>
          <p:cNvSpPr/>
          <p:nvPr/>
        </p:nvSpPr>
        <p:spPr>
          <a:xfrm>
            <a:off x="2971800" y="1759682"/>
            <a:ext cx="1828800" cy="117796"/>
          </a:xfrm>
          <a:prstGeom prst="rect">
            <a:avLst/>
          </a:prstGeom>
          <a:solidFill>
            <a:srgbClr val="12A566"/>
          </a:solidFill>
          <a:ln/>
        </p:spPr>
      </p:sp>
      <p:sp>
        <p:nvSpPr>
          <p:cNvPr id="8" name="Text 6"/>
          <p:cNvSpPr txBox="1"/>
          <p:nvPr/>
        </p:nvSpPr>
        <p:spPr>
          <a:xfrm>
            <a:off x="4855464" y="1700784"/>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27.5%</a:t>
            </a:r>
            <a:endParaRPr lang="en-US" sz="1300" dirty="0"/>
          </a:p>
        </p:txBody>
      </p:sp>
      <p:sp>
        <p:nvSpPr>
          <p:cNvPr id="9" name="Text 7"/>
          <p:cNvSpPr txBox="1"/>
          <p:nvPr/>
        </p:nvSpPr>
        <p:spPr>
          <a:xfrm>
            <a:off x="658368" y="193637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10" name="Shape 8"/>
          <p:cNvSpPr/>
          <p:nvPr/>
        </p:nvSpPr>
        <p:spPr>
          <a:xfrm>
            <a:off x="2971800" y="1995275"/>
            <a:ext cx="1624010" cy="117796"/>
          </a:xfrm>
          <a:prstGeom prst="rect">
            <a:avLst/>
          </a:prstGeom>
          <a:solidFill>
            <a:srgbClr val="12A566"/>
          </a:solidFill>
          <a:ln/>
        </p:spPr>
      </p:sp>
      <p:sp>
        <p:nvSpPr>
          <p:cNvPr id="11" name="Text 9"/>
          <p:cNvSpPr txBox="1"/>
          <p:nvPr/>
        </p:nvSpPr>
        <p:spPr>
          <a:xfrm>
            <a:off x="4855464" y="1936376"/>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24.4%</a:t>
            </a:r>
            <a:endParaRPr lang="en-US" sz="1300" dirty="0"/>
          </a:p>
        </p:txBody>
      </p:sp>
      <p:sp>
        <p:nvSpPr>
          <p:cNvPr id="12" name="Text 10"/>
          <p:cNvSpPr txBox="1"/>
          <p:nvPr/>
        </p:nvSpPr>
        <p:spPr>
          <a:xfrm>
            <a:off x="658368" y="217196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3" name="Shape 11"/>
          <p:cNvSpPr/>
          <p:nvPr/>
        </p:nvSpPr>
        <p:spPr>
          <a:xfrm>
            <a:off x="2971800" y="2230867"/>
            <a:ext cx="1448064" cy="117796"/>
          </a:xfrm>
          <a:prstGeom prst="rect">
            <a:avLst/>
          </a:prstGeom>
          <a:solidFill>
            <a:srgbClr val="12A566"/>
          </a:solidFill>
          <a:ln/>
        </p:spPr>
      </p:sp>
      <p:sp>
        <p:nvSpPr>
          <p:cNvPr id="14" name="Text 12"/>
          <p:cNvSpPr txBox="1"/>
          <p:nvPr/>
        </p:nvSpPr>
        <p:spPr>
          <a:xfrm>
            <a:off x="4855464" y="2171969"/>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21.7%</a:t>
            </a:r>
            <a:endParaRPr lang="en-US" sz="1300" dirty="0"/>
          </a:p>
        </p:txBody>
      </p:sp>
      <p:sp>
        <p:nvSpPr>
          <p:cNvPr id="15" name="Text 13"/>
          <p:cNvSpPr txBox="1"/>
          <p:nvPr/>
        </p:nvSpPr>
        <p:spPr>
          <a:xfrm>
            <a:off x="658368" y="240756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16" name="Shape 14"/>
          <p:cNvSpPr/>
          <p:nvPr/>
        </p:nvSpPr>
        <p:spPr>
          <a:xfrm>
            <a:off x="2971800" y="2466460"/>
            <a:ext cx="1416244" cy="117796"/>
          </a:xfrm>
          <a:prstGeom prst="rect">
            <a:avLst/>
          </a:prstGeom>
          <a:solidFill>
            <a:srgbClr val="12A566"/>
          </a:solidFill>
          <a:ln/>
        </p:spPr>
      </p:sp>
      <p:sp>
        <p:nvSpPr>
          <p:cNvPr id="17" name="Text 15"/>
          <p:cNvSpPr txBox="1"/>
          <p:nvPr/>
        </p:nvSpPr>
        <p:spPr>
          <a:xfrm>
            <a:off x="4855464" y="2407561"/>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21.3%</a:t>
            </a:r>
            <a:endParaRPr lang="en-US" sz="1300" dirty="0"/>
          </a:p>
        </p:txBody>
      </p:sp>
      <p:sp>
        <p:nvSpPr>
          <p:cNvPr id="18" name="Text 16"/>
          <p:cNvSpPr txBox="1"/>
          <p:nvPr/>
        </p:nvSpPr>
        <p:spPr>
          <a:xfrm>
            <a:off x="658368" y="264315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19" name="Shape 17"/>
          <p:cNvSpPr/>
          <p:nvPr/>
        </p:nvSpPr>
        <p:spPr>
          <a:xfrm>
            <a:off x="2971800" y="2702052"/>
            <a:ext cx="1163955" cy="117796"/>
          </a:xfrm>
          <a:prstGeom prst="rect">
            <a:avLst/>
          </a:prstGeom>
          <a:solidFill>
            <a:srgbClr val="12A566"/>
          </a:solidFill>
          <a:ln/>
        </p:spPr>
      </p:sp>
      <p:sp>
        <p:nvSpPr>
          <p:cNvPr id="20" name="Text 18"/>
          <p:cNvSpPr txBox="1"/>
          <p:nvPr/>
        </p:nvSpPr>
        <p:spPr>
          <a:xfrm>
            <a:off x="4855464" y="2643154"/>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17.5%</a:t>
            </a:r>
            <a:endParaRPr lang="en-US" sz="1300" dirty="0"/>
          </a:p>
        </p:txBody>
      </p:sp>
      <p:sp>
        <p:nvSpPr>
          <p:cNvPr id="21" name="Text 19"/>
          <p:cNvSpPr txBox="1"/>
          <p:nvPr/>
        </p:nvSpPr>
        <p:spPr>
          <a:xfrm>
            <a:off x="658368" y="287874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22" name="Shape 20"/>
          <p:cNvSpPr/>
          <p:nvPr/>
        </p:nvSpPr>
        <p:spPr>
          <a:xfrm>
            <a:off x="2971800" y="2937644"/>
            <a:ext cx="1155692" cy="117796"/>
          </a:xfrm>
          <a:prstGeom prst="rect">
            <a:avLst/>
          </a:prstGeom>
          <a:solidFill>
            <a:srgbClr val="12A566"/>
          </a:solidFill>
          <a:ln/>
        </p:spPr>
      </p:sp>
      <p:sp>
        <p:nvSpPr>
          <p:cNvPr id="23" name="Text 21"/>
          <p:cNvSpPr txBox="1"/>
          <p:nvPr/>
        </p:nvSpPr>
        <p:spPr>
          <a:xfrm>
            <a:off x="4855464" y="2878746"/>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17.3%</a:t>
            </a:r>
            <a:endParaRPr lang="en-US" sz="1300" dirty="0"/>
          </a:p>
        </p:txBody>
      </p:sp>
      <p:sp>
        <p:nvSpPr>
          <p:cNvPr id="24" name="Text 22"/>
          <p:cNvSpPr txBox="1"/>
          <p:nvPr/>
        </p:nvSpPr>
        <p:spPr>
          <a:xfrm>
            <a:off x="658368" y="311433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25" name="Shape 23"/>
          <p:cNvSpPr/>
          <p:nvPr/>
        </p:nvSpPr>
        <p:spPr>
          <a:xfrm>
            <a:off x="2971800" y="3173237"/>
            <a:ext cx="1109675" cy="117796"/>
          </a:xfrm>
          <a:prstGeom prst="rect">
            <a:avLst/>
          </a:prstGeom>
          <a:solidFill>
            <a:srgbClr val="12A566"/>
          </a:solidFill>
          <a:ln/>
        </p:spPr>
      </p:sp>
      <p:sp>
        <p:nvSpPr>
          <p:cNvPr id="26" name="Text 24"/>
          <p:cNvSpPr txBox="1"/>
          <p:nvPr/>
        </p:nvSpPr>
        <p:spPr>
          <a:xfrm>
            <a:off x="4855464" y="3114339"/>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16.6%</a:t>
            </a:r>
            <a:endParaRPr lang="en-US" sz="1300" dirty="0"/>
          </a:p>
        </p:txBody>
      </p:sp>
      <p:sp>
        <p:nvSpPr>
          <p:cNvPr id="27" name="Text 25"/>
          <p:cNvSpPr txBox="1"/>
          <p:nvPr/>
        </p:nvSpPr>
        <p:spPr>
          <a:xfrm>
            <a:off x="658368" y="334993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28" name="Shape 26"/>
          <p:cNvSpPr/>
          <p:nvPr/>
        </p:nvSpPr>
        <p:spPr>
          <a:xfrm>
            <a:off x="2971800" y="3408829"/>
            <a:ext cx="1075742" cy="117796"/>
          </a:xfrm>
          <a:prstGeom prst="rect">
            <a:avLst/>
          </a:prstGeom>
          <a:solidFill>
            <a:srgbClr val="12A566"/>
          </a:solidFill>
          <a:ln/>
        </p:spPr>
      </p:sp>
      <p:sp>
        <p:nvSpPr>
          <p:cNvPr id="29" name="Text 27"/>
          <p:cNvSpPr txBox="1"/>
          <p:nvPr/>
        </p:nvSpPr>
        <p:spPr>
          <a:xfrm>
            <a:off x="4855464" y="3349931"/>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16.1%</a:t>
            </a:r>
            <a:endParaRPr lang="en-US" sz="1300" dirty="0"/>
          </a:p>
        </p:txBody>
      </p:sp>
      <p:sp>
        <p:nvSpPr>
          <p:cNvPr id="30" name="Text 28"/>
          <p:cNvSpPr txBox="1"/>
          <p:nvPr/>
        </p:nvSpPr>
        <p:spPr>
          <a:xfrm>
            <a:off x="658368" y="358552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31" name="Shape 29"/>
          <p:cNvSpPr/>
          <p:nvPr/>
        </p:nvSpPr>
        <p:spPr>
          <a:xfrm>
            <a:off x="2971800" y="3644422"/>
            <a:ext cx="986168" cy="117796"/>
          </a:xfrm>
          <a:prstGeom prst="rect">
            <a:avLst/>
          </a:prstGeom>
          <a:solidFill>
            <a:srgbClr val="C2352F"/>
          </a:solidFill>
          <a:ln/>
        </p:spPr>
      </p:sp>
      <p:sp>
        <p:nvSpPr>
          <p:cNvPr id="32" name="Text 30"/>
          <p:cNvSpPr txBox="1"/>
          <p:nvPr/>
        </p:nvSpPr>
        <p:spPr>
          <a:xfrm>
            <a:off x="4855464" y="358552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14.8%</a:t>
            </a:r>
            <a:endParaRPr lang="en-US" sz="1300" dirty="0"/>
          </a:p>
        </p:txBody>
      </p:sp>
      <p:sp>
        <p:nvSpPr>
          <p:cNvPr id="33" name="Text 31"/>
          <p:cNvSpPr txBox="1"/>
          <p:nvPr/>
        </p:nvSpPr>
        <p:spPr>
          <a:xfrm>
            <a:off x="658368" y="382111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34" name="Shape 32"/>
          <p:cNvSpPr/>
          <p:nvPr/>
        </p:nvSpPr>
        <p:spPr>
          <a:xfrm>
            <a:off x="2971800" y="3880014"/>
            <a:ext cx="967638" cy="117796"/>
          </a:xfrm>
          <a:prstGeom prst="rect">
            <a:avLst/>
          </a:prstGeom>
          <a:solidFill>
            <a:srgbClr val="C2352F"/>
          </a:solidFill>
          <a:ln/>
        </p:spPr>
      </p:sp>
      <p:sp>
        <p:nvSpPr>
          <p:cNvPr id="35" name="Text 33"/>
          <p:cNvSpPr txBox="1"/>
          <p:nvPr/>
        </p:nvSpPr>
        <p:spPr>
          <a:xfrm>
            <a:off x="4855464" y="3821116"/>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14.5%</a:t>
            </a:r>
            <a:endParaRPr lang="en-US" sz="1300" dirty="0"/>
          </a:p>
        </p:txBody>
      </p:sp>
      <p:sp>
        <p:nvSpPr>
          <p:cNvPr id="36" name="Text 34"/>
          <p:cNvSpPr txBox="1"/>
          <p:nvPr/>
        </p:nvSpPr>
        <p:spPr>
          <a:xfrm>
            <a:off x="658368" y="405670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37" name="Shape 35"/>
          <p:cNvSpPr/>
          <p:nvPr/>
        </p:nvSpPr>
        <p:spPr>
          <a:xfrm>
            <a:off x="2971800" y="4115607"/>
            <a:ext cx="966164" cy="117796"/>
          </a:xfrm>
          <a:prstGeom prst="rect">
            <a:avLst/>
          </a:prstGeom>
          <a:solidFill>
            <a:srgbClr val="C2352F"/>
          </a:solidFill>
          <a:ln/>
        </p:spPr>
      </p:sp>
      <p:sp>
        <p:nvSpPr>
          <p:cNvPr id="38" name="Text 36"/>
          <p:cNvSpPr txBox="1"/>
          <p:nvPr/>
        </p:nvSpPr>
        <p:spPr>
          <a:xfrm>
            <a:off x="4855464" y="4056709"/>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14.5%</a:t>
            </a:r>
            <a:endParaRPr lang="en-US" sz="1300" dirty="0"/>
          </a:p>
        </p:txBody>
      </p:sp>
      <p:sp>
        <p:nvSpPr>
          <p:cNvPr id="39" name="Text 37"/>
          <p:cNvSpPr txBox="1"/>
          <p:nvPr/>
        </p:nvSpPr>
        <p:spPr>
          <a:xfrm>
            <a:off x="658368" y="429230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40" name="Shape 38"/>
          <p:cNvSpPr/>
          <p:nvPr/>
        </p:nvSpPr>
        <p:spPr>
          <a:xfrm>
            <a:off x="2971800" y="4351199"/>
            <a:ext cx="922672" cy="117796"/>
          </a:xfrm>
          <a:prstGeom prst="rect">
            <a:avLst/>
          </a:prstGeom>
          <a:solidFill>
            <a:srgbClr val="C2352F"/>
          </a:solidFill>
          <a:ln/>
        </p:spPr>
      </p:sp>
      <p:sp>
        <p:nvSpPr>
          <p:cNvPr id="41" name="Text 39"/>
          <p:cNvSpPr txBox="1"/>
          <p:nvPr/>
        </p:nvSpPr>
        <p:spPr>
          <a:xfrm>
            <a:off x="4855464" y="4292301"/>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13.8%</a:t>
            </a:r>
            <a:endParaRPr lang="en-US" sz="1300" dirty="0"/>
          </a:p>
        </p:txBody>
      </p:sp>
      <p:sp>
        <p:nvSpPr>
          <p:cNvPr id="42" name="Text 40"/>
          <p:cNvSpPr txBox="1"/>
          <p:nvPr/>
        </p:nvSpPr>
        <p:spPr>
          <a:xfrm>
            <a:off x="658368" y="452789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43" name="Shape 41"/>
          <p:cNvSpPr/>
          <p:nvPr/>
        </p:nvSpPr>
        <p:spPr>
          <a:xfrm>
            <a:off x="2971800" y="4586792"/>
            <a:ext cx="921971" cy="117796"/>
          </a:xfrm>
          <a:prstGeom prst="rect">
            <a:avLst/>
          </a:prstGeom>
          <a:solidFill>
            <a:srgbClr val="C2352F"/>
          </a:solidFill>
          <a:ln/>
        </p:spPr>
      </p:sp>
      <p:sp>
        <p:nvSpPr>
          <p:cNvPr id="44" name="Text 42"/>
          <p:cNvSpPr txBox="1"/>
          <p:nvPr/>
        </p:nvSpPr>
        <p:spPr>
          <a:xfrm>
            <a:off x="4855464" y="452789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13.8%</a:t>
            </a:r>
            <a:endParaRPr lang="en-US" sz="1300" dirty="0"/>
          </a:p>
        </p:txBody>
      </p:sp>
      <p:sp>
        <p:nvSpPr>
          <p:cNvPr id="45" name="Text 43"/>
          <p:cNvSpPr txBox="1"/>
          <p:nvPr/>
        </p:nvSpPr>
        <p:spPr>
          <a:xfrm>
            <a:off x="658368" y="476348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46" name="Shape 44"/>
          <p:cNvSpPr/>
          <p:nvPr/>
        </p:nvSpPr>
        <p:spPr>
          <a:xfrm>
            <a:off x="2971800" y="4822384"/>
            <a:ext cx="904112" cy="117796"/>
          </a:xfrm>
          <a:prstGeom prst="rect">
            <a:avLst/>
          </a:prstGeom>
          <a:solidFill>
            <a:srgbClr val="C2352F"/>
          </a:solidFill>
          <a:ln/>
        </p:spPr>
      </p:sp>
      <p:sp>
        <p:nvSpPr>
          <p:cNvPr id="47" name="Text 45"/>
          <p:cNvSpPr txBox="1"/>
          <p:nvPr/>
        </p:nvSpPr>
        <p:spPr>
          <a:xfrm>
            <a:off x="4855464" y="4763486"/>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13.6%</a:t>
            </a:r>
            <a:endParaRPr lang="en-US" sz="1300" dirty="0"/>
          </a:p>
        </p:txBody>
      </p:sp>
      <p:sp>
        <p:nvSpPr>
          <p:cNvPr id="48" name="Shape 46"/>
          <p:cNvSpPr/>
          <p:nvPr/>
        </p:nvSpPr>
        <p:spPr>
          <a:xfrm>
            <a:off x="585216" y="4994507"/>
            <a:ext cx="5413248" cy="226448"/>
          </a:xfrm>
          <a:prstGeom prst="rect">
            <a:avLst/>
          </a:prstGeom>
          <a:solidFill>
            <a:srgbClr val="EDF4FA"/>
          </a:solidFill>
          <a:ln/>
        </p:spPr>
      </p:sp>
      <p:sp>
        <p:nvSpPr>
          <p:cNvPr id="49" name="Text 47"/>
          <p:cNvSpPr txBox="1"/>
          <p:nvPr/>
        </p:nvSpPr>
        <p:spPr>
          <a:xfrm>
            <a:off x="658368" y="4999079"/>
            <a:ext cx="2240280" cy="235592"/>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GROUP</a:t>
            </a:r>
            <a:endParaRPr lang="en-US" sz="1300" dirty="0"/>
          </a:p>
        </p:txBody>
      </p:sp>
      <p:sp>
        <p:nvSpPr>
          <p:cNvPr id="50" name="Shape 48"/>
          <p:cNvSpPr/>
          <p:nvPr/>
        </p:nvSpPr>
        <p:spPr>
          <a:xfrm>
            <a:off x="2971800" y="5057977"/>
            <a:ext cx="882107" cy="117796"/>
          </a:xfrm>
          <a:prstGeom prst="rect">
            <a:avLst/>
          </a:prstGeom>
          <a:solidFill>
            <a:srgbClr val="0B2C4A"/>
          </a:solidFill>
          <a:ln/>
        </p:spPr>
      </p:sp>
      <p:sp>
        <p:nvSpPr>
          <p:cNvPr id="51" name="Text 49"/>
          <p:cNvSpPr txBox="1"/>
          <p:nvPr/>
        </p:nvSpPr>
        <p:spPr>
          <a:xfrm>
            <a:off x="4855464" y="4999079"/>
            <a:ext cx="1088136" cy="23559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13.2%</a:t>
            </a:r>
            <a:endParaRPr lang="en-US" sz="1300" dirty="0"/>
          </a:p>
        </p:txBody>
      </p:sp>
      <p:sp>
        <p:nvSpPr>
          <p:cNvPr id="52" name="Text 50"/>
          <p:cNvSpPr txBox="1"/>
          <p:nvPr/>
        </p:nvSpPr>
        <p:spPr>
          <a:xfrm>
            <a:off x="658368" y="523467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53" name="Shape 51"/>
          <p:cNvSpPr/>
          <p:nvPr/>
        </p:nvSpPr>
        <p:spPr>
          <a:xfrm>
            <a:off x="2971800" y="5293569"/>
            <a:ext cx="855789" cy="117796"/>
          </a:xfrm>
          <a:prstGeom prst="rect">
            <a:avLst/>
          </a:prstGeom>
          <a:solidFill>
            <a:srgbClr val="C2352F"/>
          </a:solidFill>
          <a:ln/>
        </p:spPr>
      </p:sp>
      <p:sp>
        <p:nvSpPr>
          <p:cNvPr id="54" name="Text 52"/>
          <p:cNvSpPr txBox="1"/>
          <p:nvPr/>
        </p:nvSpPr>
        <p:spPr>
          <a:xfrm>
            <a:off x="4855464" y="5234671"/>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12.8%</a:t>
            </a:r>
            <a:endParaRPr lang="en-US" sz="1300" dirty="0"/>
          </a:p>
        </p:txBody>
      </p:sp>
      <p:sp>
        <p:nvSpPr>
          <p:cNvPr id="55" name="Text 53"/>
          <p:cNvSpPr txBox="1"/>
          <p:nvPr/>
        </p:nvSpPr>
        <p:spPr>
          <a:xfrm>
            <a:off x="658368" y="547026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56" name="Shape 54"/>
          <p:cNvSpPr/>
          <p:nvPr/>
        </p:nvSpPr>
        <p:spPr>
          <a:xfrm>
            <a:off x="2971800" y="5529162"/>
            <a:ext cx="854824" cy="117796"/>
          </a:xfrm>
          <a:prstGeom prst="rect">
            <a:avLst/>
          </a:prstGeom>
          <a:solidFill>
            <a:srgbClr val="C2352F"/>
          </a:solidFill>
          <a:ln/>
        </p:spPr>
      </p:sp>
      <p:sp>
        <p:nvSpPr>
          <p:cNvPr id="57" name="Text 55"/>
          <p:cNvSpPr txBox="1"/>
          <p:nvPr/>
        </p:nvSpPr>
        <p:spPr>
          <a:xfrm>
            <a:off x="4855464" y="547026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12.8%</a:t>
            </a:r>
            <a:endParaRPr lang="en-US" sz="1300" dirty="0"/>
          </a:p>
        </p:txBody>
      </p:sp>
      <p:sp>
        <p:nvSpPr>
          <p:cNvPr id="58" name="Text 56"/>
          <p:cNvSpPr txBox="1"/>
          <p:nvPr/>
        </p:nvSpPr>
        <p:spPr>
          <a:xfrm>
            <a:off x="6208776" y="170078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59" name="Shape 57"/>
          <p:cNvSpPr/>
          <p:nvPr/>
        </p:nvSpPr>
        <p:spPr>
          <a:xfrm>
            <a:off x="8522208" y="1759682"/>
            <a:ext cx="835697" cy="117796"/>
          </a:xfrm>
          <a:prstGeom prst="rect">
            <a:avLst/>
          </a:prstGeom>
          <a:solidFill>
            <a:srgbClr val="C2352F"/>
          </a:solidFill>
          <a:ln/>
        </p:spPr>
      </p:sp>
      <p:sp>
        <p:nvSpPr>
          <p:cNvPr id="60" name="Text 58"/>
          <p:cNvSpPr txBox="1"/>
          <p:nvPr/>
        </p:nvSpPr>
        <p:spPr>
          <a:xfrm>
            <a:off x="10405872" y="170078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12.5%</a:t>
            </a:r>
            <a:endParaRPr lang="en-US" sz="1300" dirty="0"/>
          </a:p>
        </p:txBody>
      </p:sp>
      <p:sp>
        <p:nvSpPr>
          <p:cNvPr id="61" name="Text 59"/>
          <p:cNvSpPr txBox="1"/>
          <p:nvPr/>
        </p:nvSpPr>
        <p:spPr>
          <a:xfrm>
            <a:off x="6208776" y="193637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62" name="Shape 60"/>
          <p:cNvSpPr/>
          <p:nvPr/>
        </p:nvSpPr>
        <p:spPr>
          <a:xfrm>
            <a:off x="8522208" y="1995275"/>
            <a:ext cx="832700" cy="117796"/>
          </a:xfrm>
          <a:prstGeom prst="rect">
            <a:avLst/>
          </a:prstGeom>
          <a:solidFill>
            <a:srgbClr val="C2352F"/>
          </a:solidFill>
          <a:ln/>
        </p:spPr>
      </p:sp>
      <p:sp>
        <p:nvSpPr>
          <p:cNvPr id="63" name="Text 61"/>
          <p:cNvSpPr txBox="1"/>
          <p:nvPr/>
        </p:nvSpPr>
        <p:spPr>
          <a:xfrm>
            <a:off x="10405872" y="1936376"/>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12.5%</a:t>
            </a:r>
            <a:endParaRPr lang="en-US" sz="1300" dirty="0"/>
          </a:p>
        </p:txBody>
      </p:sp>
      <p:sp>
        <p:nvSpPr>
          <p:cNvPr id="64" name="Text 62"/>
          <p:cNvSpPr txBox="1"/>
          <p:nvPr/>
        </p:nvSpPr>
        <p:spPr>
          <a:xfrm>
            <a:off x="6208776" y="217196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65" name="Shape 63"/>
          <p:cNvSpPr/>
          <p:nvPr/>
        </p:nvSpPr>
        <p:spPr>
          <a:xfrm>
            <a:off x="8522208" y="2230867"/>
            <a:ext cx="820185" cy="117796"/>
          </a:xfrm>
          <a:prstGeom prst="rect">
            <a:avLst/>
          </a:prstGeom>
          <a:solidFill>
            <a:srgbClr val="C2352F"/>
          </a:solidFill>
          <a:ln/>
        </p:spPr>
      </p:sp>
      <p:sp>
        <p:nvSpPr>
          <p:cNvPr id="66" name="Text 64"/>
          <p:cNvSpPr txBox="1"/>
          <p:nvPr/>
        </p:nvSpPr>
        <p:spPr>
          <a:xfrm>
            <a:off x="10405872" y="2171969"/>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12.3%</a:t>
            </a:r>
            <a:endParaRPr lang="en-US" sz="1300" dirty="0"/>
          </a:p>
        </p:txBody>
      </p:sp>
      <p:sp>
        <p:nvSpPr>
          <p:cNvPr id="67" name="Text 65"/>
          <p:cNvSpPr txBox="1"/>
          <p:nvPr/>
        </p:nvSpPr>
        <p:spPr>
          <a:xfrm>
            <a:off x="6208776" y="240756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68" name="Shape 66"/>
          <p:cNvSpPr/>
          <p:nvPr/>
        </p:nvSpPr>
        <p:spPr>
          <a:xfrm>
            <a:off x="8522208" y="2466460"/>
            <a:ext cx="785018" cy="117796"/>
          </a:xfrm>
          <a:prstGeom prst="rect">
            <a:avLst/>
          </a:prstGeom>
          <a:solidFill>
            <a:srgbClr val="C2352F"/>
          </a:solidFill>
          <a:ln/>
        </p:spPr>
      </p:sp>
      <p:sp>
        <p:nvSpPr>
          <p:cNvPr id="69" name="Text 67"/>
          <p:cNvSpPr txBox="1"/>
          <p:nvPr/>
        </p:nvSpPr>
        <p:spPr>
          <a:xfrm>
            <a:off x="10405872" y="2407561"/>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11.8%</a:t>
            </a:r>
            <a:endParaRPr lang="en-US" sz="1300" dirty="0"/>
          </a:p>
        </p:txBody>
      </p:sp>
      <p:sp>
        <p:nvSpPr>
          <p:cNvPr id="70" name="Text 68"/>
          <p:cNvSpPr txBox="1"/>
          <p:nvPr/>
        </p:nvSpPr>
        <p:spPr>
          <a:xfrm>
            <a:off x="6208776" y="264315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71" name="Shape 69"/>
          <p:cNvSpPr/>
          <p:nvPr/>
        </p:nvSpPr>
        <p:spPr>
          <a:xfrm>
            <a:off x="8522208" y="2702052"/>
            <a:ext cx="780659" cy="117796"/>
          </a:xfrm>
          <a:prstGeom prst="rect">
            <a:avLst/>
          </a:prstGeom>
          <a:solidFill>
            <a:srgbClr val="C2352F"/>
          </a:solidFill>
          <a:ln/>
        </p:spPr>
      </p:sp>
      <p:sp>
        <p:nvSpPr>
          <p:cNvPr id="72" name="Text 70"/>
          <p:cNvSpPr txBox="1"/>
          <p:nvPr/>
        </p:nvSpPr>
        <p:spPr>
          <a:xfrm>
            <a:off x="10405872" y="264315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11.7%</a:t>
            </a:r>
            <a:endParaRPr lang="en-US" sz="1300" dirty="0"/>
          </a:p>
        </p:txBody>
      </p:sp>
      <p:sp>
        <p:nvSpPr>
          <p:cNvPr id="73" name="Text 71"/>
          <p:cNvSpPr txBox="1"/>
          <p:nvPr/>
        </p:nvSpPr>
        <p:spPr>
          <a:xfrm>
            <a:off x="6208776" y="287874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74" name="Shape 72"/>
          <p:cNvSpPr/>
          <p:nvPr/>
        </p:nvSpPr>
        <p:spPr>
          <a:xfrm>
            <a:off x="8522208" y="2937644"/>
            <a:ext cx="755172" cy="117796"/>
          </a:xfrm>
          <a:prstGeom prst="rect">
            <a:avLst/>
          </a:prstGeom>
          <a:solidFill>
            <a:srgbClr val="C2352F"/>
          </a:solidFill>
          <a:ln/>
        </p:spPr>
      </p:sp>
      <p:sp>
        <p:nvSpPr>
          <p:cNvPr id="75" name="Text 73"/>
          <p:cNvSpPr txBox="1"/>
          <p:nvPr/>
        </p:nvSpPr>
        <p:spPr>
          <a:xfrm>
            <a:off x="10405872" y="2878746"/>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11.3%</a:t>
            </a:r>
            <a:endParaRPr lang="en-US" sz="1300" dirty="0"/>
          </a:p>
        </p:txBody>
      </p:sp>
      <p:sp>
        <p:nvSpPr>
          <p:cNvPr id="76" name="Text 74"/>
          <p:cNvSpPr txBox="1"/>
          <p:nvPr/>
        </p:nvSpPr>
        <p:spPr>
          <a:xfrm>
            <a:off x="6208776" y="311433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77" name="Shape 75"/>
          <p:cNvSpPr/>
          <p:nvPr/>
        </p:nvSpPr>
        <p:spPr>
          <a:xfrm>
            <a:off x="8522208" y="3173237"/>
            <a:ext cx="740465" cy="117796"/>
          </a:xfrm>
          <a:prstGeom prst="rect">
            <a:avLst/>
          </a:prstGeom>
          <a:solidFill>
            <a:srgbClr val="C2352F"/>
          </a:solidFill>
          <a:ln/>
        </p:spPr>
      </p:sp>
      <p:sp>
        <p:nvSpPr>
          <p:cNvPr id="78" name="Text 76"/>
          <p:cNvSpPr txBox="1"/>
          <p:nvPr/>
        </p:nvSpPr>
        <p:spPr>
          <a:xfrm>
            <a:off x="10405872" y="3114339"/>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11.1%</a:t>
            </a:r>
            <a:endParaRPr lang="en-US" sz="1300" dirty="0"/>
          </a:p>
        </p:txBody>
      </p:sp>
      <p:sp>
        <p:nvSpPr>
          <p:cNvPr id="79" name="Text 77"/>
          <p:cNvSpPr txBox="1"/>
          <p:nvPr/>
        </p:nvSpPr>
        <p:spPr>
          <a:xfrm>
            <a:off x="6208776" y="334993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80" name="Shape 78"/>
          <p:cNvSpPr/>
          <p:nvPr/>
        </p:nvSpPr>
        <p:spPr>
          <a:xfrm>
            <a:off x="8522208" y="3408829"/>
            <a:ext cx="737076" cy="117796"/>
          </a:xfrm>
          <a:prstGeom prst="rect">
            <a:avLst/>
          </a:prstGeom>
          <a:solidFill>
            <a:srgbClr val="C2352F"/>
          </a:solidFill>
          <a:ln/>
        </p:spPr>
      </p:sp>
      <p:sp>
        <p:nvSpPr>
          <p:cNvPr id="81" name="Text 79"/>
          <p:cNvSpPr txBox="1"/>
          <p:nvPr/>
        </p:nvSpPr>
        <p:spPr>
          <a:xfrm>
            <a:off x="10405872" y="3349931"/>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11.0%</a:t>
            </a:r>
            <a:endParaRPr lang="en-US" sz="1300" dirty="0"/>
          </a:p>
        </p:txBody>
      </p:sp>
      <p:sp>
        <p:nvSpPr>
          <p:cNvPr id="82" name="Text 80"/>
          <p:cNvSpPr txBox="1"/>
          <p:nvPr/>
        </p:nvSpPr>
        <p:spPr>
          <a:xfrm>
            <a:off x="6208776" y="358552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83" name="Shape 81"/>
          <p:cNvSpPr/>
          <p:nvPr/>
        </p:nvSpPr>
        <p:spPr>
          <a:xfrm>
            <a:off x="8522208" y="3644422"/>
            <a:ext cx="735965" cy="117796"/>
          </a:xfrm>
          <a:prstGeom prst="rect">
            <a:avLst/>
          </a:prstGeom>
          <a:solidFill>
            <a:srgbClr val="C2352F"/>
          </a:solidFill>
          <a:ln/>
        </p:spPr>
      </p:sp>
      <p:sp>
        <p:nvSpPr>
          <p:cNvPr id="84" name="Text 82"/>
          <p:cNvSpPr txBox="1"/>
          <p:nvPr/>
        </p:nvSpPr>
        <p:spPr>
          <a:xfrm>
            <a:off x="10405872" y="358552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11.0%</a:t>
            </a:r>
            <a:endParaRPr lang="en-US" sz="1300" dirty="0"/>
          </a:p>
        </p:txBody>
      </p:sp>
      <p:sp>
        <p:nvSpPr>
          <p:cNvPr id="85" name="Text 83"/>
          <p:cNvSpPr txBox="1"/>
          <p:nvPr/>
        </p:nvSpPr>
        <p:spPr>
          <a:xfrm>
            <a:off x="6208776" y="382111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86" name="Shape 84"/>
          <p:cNvSpPr/>
          <p:nvPr/>
        </p:nvSpPr>
        <p:spPr>
          <a:xfrm>
            <a:off x="8522208" y="3880014"/>
            <a:ext cx="648753" cy="117796"/>
          </a:xfrm>
          <a:prstGeom prst="rect">
            <a:avLst/>
          </a:prstGeom>
          <a:solidFill>
            <a:srgbClr val="C2352F"/>
          </a:solidFill>
          <a:ln/>
        </p:spPr>
      </p:sp>
      <p:sp>
        <p:nvSpPr>
          <p:cNvPr id="87" name="Text 85"/>
          <p:cNvSpPr txBox="1"/>
          <p:nvPr/>
        </p:nvSpPr>
        <p:spPr>
          <a:xfrm>
            <a:off x="10405872" y="3821116"/>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9.7%</a:t>
            </a:r>
            <a:endParaRPr lang="en-US" sz="1300" dirty="0"/>
          </a:p>
        </p:txBody>
      </p:sp>
      <p:sp>
        <p:nvSpPr>
          <p:cNvPr id="88" name="Text 86"/>
          <p:cNvSpPr txBox="1"/>
          <p:nvPr/>
        </p:nvSpPr>
        <p:spPr>
          <a:xfrm>
            <a:off x="6208776" y="405670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89" name="Shape 87"/>
          <p:cNvSpPr/>
          <p:nvPr/>
        </p:nvSpPr>
        <p:spPr>
          <a:xfrm>
            <a:off x="8522208" y="4115607"/>
            <a:ext cx="646045" cy="117796"/>
          </a:xfrm>
          <a:prstGeom prst="rect">
            <a:avLst/>
          </a:prstGeom>
          <a:solidFill>
            <a:srgbClr val="C2352F"/>
          </a:solidFill>
          <a:ln/>
        </p:spPr>
      </p:sp>
      <p:sp>
        <p:nvSpPr>
          <p:cNvPr id="90" name="Text 88"/>
          <p:cNvSpPr txBox="1"/>
          <p:nvPr/>
        </p:nvSpPr>
        <p:spPr>
          <a:xfrm>
            <a:off x="10405872" y="4056709"/>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9.7%</a:t>
            </a:r>
            <a:endParaRPr lang="en-US" sz="1300" dirty="0"/>
          </a:p>
        </p:txBody>
      </p:sp>
      <p:sp>
        <p:nvSpPr>
          <p:cNvPr id="91" name="Text 89"/>
          <p:cNvSpPr txBox="1"/>
          <p:nvPr/>
        </p:nvSpPr>
        <p:spPr>
          <a:xfrm>
            <a:off x="6208776" y="429230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92" name="Shape 90"/>
          <p:cNvSpPr/>
          <p:nvPr/>
        </p:nvSpPr>
        <p:spPr>
          <a:xfrm>
            <a:off x="8522208" y="4351199"/>
            <a:ext cx="560928" cy="117796"/>
          </a:xfrm>
          <a:prstGeom prst="rect">
            <a:avLst/>
          </a:prstGeom>
          <a:solidFill>
            <a:srgbClr val="C2352F"/>
          </a:solidFill>
          <a:ln/>
        </p:spPr>
      </p:sp>
      <p:sp>
        <p:nvSpPr>
          <p:cNvPr id="93" name="Text 91"/>
          <p:cNvSpPr txBox="1"/>
          <p:nvPr/>
        </p:nvSpPr>
        <p:spPr>
          <a:xfrm>
            <a:off x="10405872" y="4292301"/>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8.4%</a:t>
            </a:r>
            <a:endParaRPr lang="en-US" sz="1300" dirty="0"/>
          </a:p>
        </p:txBody>
      </p:sp>
      <p:sp>
        <p:nvSpPr>
          <p:cNvPr id="94" name="Text 92"/>
          <p:cNvSpPr txBox="1"/>
          <p:nvPr/>
        </p:nvSpPr>
        <p:spPr>
          <a:xfrm>
            <a:off x="6208776" y="452789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95" name="Shape 93"/>
          <p:cNvSpPr/>
          <p:nvPr/>
        </p:nvSpPr>
        <p:spPr>
          <a:xfrm>
            <a:off x="8522208" y="4586792"/>
            <a:ext cx="531686" cy="117796"/>
          </a:xfrm>
          <a:prstGeom prst="rect">
            <a:avLst/>
          </a:prstGeom>
          <a:solidFill>
            <a:srgbClr val="C2352F"/>
          </a:solidFill>
          <a:ln/>
        </p:spPr>
      </p:sp>
      <p:sp>
        <p:nvSpPr>
          <p:cNvPr id="96" name="Text 94"/>
          <p:cNvSpPr txBox="1"/>
          <p:nvPr/>
        </p:nvSpPr>
        <p:spPr>
          <a:xfrm>
            <a:off x="10405872" y="452789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8.0%</a:t>
            </a:r>
            <a:endParaRPr lang="en-US" sz="1300" dirty="0"/>
          </a:p>
        </p:txBody>
      </p:sp>
      <p:sp>
        <p:nvSpPr>
          <p:cNvPr id="97" name="Text 95"/>
          <p:cNvSpPr txBox="1"/>
          <p:nvPr/>
        </p:nvSpPr>
        <p:spPr>
          <a:xfrm>
            <a:off x="6208776" y="476348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98" name="Shape 96"/>
          <p:cNvSpPr/>
          <p:nvPr/>
        </p:nvSpPr>
        <p:spPr>
          <a:xfrm>
            <a:off x="8522208" y="4822384"/>
            <a:ext cx="496510" cy="117796"/>
          </a:xfrm>
          <a:prstGeom prst="rect">
            <a:avLst/>
          </a:prstGeom>
          <a:solidFill>
            <a:srgbClr val="C2352F"/>
          </a:solidFill>
          <a:ln/>
        </p:spPr>
      </p:sp>
      <p:sp>
        <p:nvSpPr>
          <p:cNvPr id="99" name="Text 97"/>
          <p:cNvSpPr txBox="1"/>
          <p:nvPr/>
        </p:nvSpPr>
        <p:spPr>
          <a:xfrm>
            <a:off x="10405872" y="4763486"/>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7.4%</a:t>
            </a:r>
            <a:endParaRPr lang="en-US" sz="1300" dirty="0"/>
          </a:p>
        </p:txBody>
      </p:sp>
      <p:sp>
        <p:nvSpPr>
          <p:cNvPr id="100" name="Text 98"/>
          <p:cNvSpPr txBox="1"/>
          <p:nvPr/>
        </p:nvSpPr>
        <p:spPr>
          <a:xfrm>
            <a:off x="6208776" y="499907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101" name="Shape 99"/>
          <p:cNvSpPr/>
          <p:nvPr/>
        </p:nvSpPr>
        <p:spPr>
          <a:xfrm>
            <a:off x="8522208" y="5057977"/>
            <a:ext cx="373989" cy="117796"/>
          </a:xfrm>
          <a:prstGeom prst="rect">
            <a:avLst/>
          </a:prstGeom>
          <a:solidFill>
            <a:srgbClr val="C2352F"/>
          </a:solidFill>
          <a:ln/>
        </p:spPr>
      </p:sp>
      <p:sp>
        <p:nvSpPr>
          <p:cNvPr id="102" name="Text 100"/>
          <p:cNvSpPr txBox="1"/>
          <p:nvPr/>
        </p:nvSpPr>
        <p:spPr>
          <a:xfrm>
            <a:off x="10405872" y="4999079"/>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5.6%</a:t>
            </a:r>
            <a:endParaRPr lang="en-US" sz="1300" dirty="0"/>
          </a:p>
        </p:txBody>
      </p:sp>
      <p:sp>
        <p:nvSpPr>
          <p:cNvPr id="103" name="Text 101"/>
          <p:cNvSpPr txBox="1"/>
          <p:nvPr/>
        </p:nvSpPr>
        <p:spPr>
          <a:xfrm>
            <a:off x="6208776" y="523467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104" name="Shape 102"/>
          <p:cNvSpPr/>
          <p:nvPr/>
        </p:nvSpPr>
        <p:spPr>
          <a:xfrm>
            <a:off x="8522208" y="5293569"/>
            <a:ext cx="282621" cy="117796"/>
          </a:xfrm>
          <a:prstGeom prst="rect">
            <a:avLst/>
          </a:prstGeom>
          <a:solidFill>
            <a:srgbClr val="C2352F"/>
          </a:solidFill>
          <a:ln/>
        </p:spPr>
      </p:sp>
      <p:sp>
        <p:nvSpPr>
          <p:cNvPr id="105" name="Text 103"/>
          <p:cNvSpPr txBox="1"/>
          <p:nvPr/>
        </p:nvSpPr>
        <p:spPr>
          <a:xfrm>
            <a:off x="10405872" y="5234671"/>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4.2%</a:t>
            </a:r>
            <a:endParaRPr lang="en-US" sz="1300" dirty="0"/>
          </a:p>
        </p:txBody>
      </p:sp>
      <p:sp>
        <p:nvSpPr>
          <p:cNvPr id="106" name="Text 104"/>
          <p:cNvSpPr txBox="1"/>
          <p:nvPr/>
        </p:nvSpPr>
        <p:spPr>
          <a:xfrm>
            <a:off x="6208776" y="547026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107" name="Shape 105"/>
          <p:cNvSpPr/>
          <p:nvPr/>
        </p:nvSpPr>
        <p:spPr>
          <a:xfrm>
            <a:off x="8522208" y="5529162"/>
            <a:ext cx="280295" cy="117796"/>
          </a:xfrm>
          <a:prstGeom prst="rect">
            <a:avLst/>
          </a:prstGeom>
          <a:solidFill>
            <a:srgbClr val="C2352F"/>
          </a:solidFill>
          <a:ln/>
        </p:spPr>
      </p:sp>
      <p:sp>
        <p:nvSpPr>
          <p:cNvPr id="108" name="Text 106"/>
          <p:cNvSpPr txBox="1"/>
          <p:nvPr/>
        </p:nvSpPr>
        <p:spPr>
          <a:xfrm>
            <a:off x="10405872" y="547026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4.2%</a:t>
            </a:r>
            <a:endParaRPr lang="en-US" sz="1300" dirty="0"/>
          </a:p>
        </p:txBody>
      </p:sp>
      <p:sp>
        <p:nvSpPr>
          <p:cNvPr id="109" name="Shape 107"/>
          <p:cNvSpPr/>
          <p:nvPr/>
        </p:nvSpPr>
        <p:spPr>
          <a:xfrm>
            <a:off x="3961269" y="1700784"/>
            <a:ext cx="14630" cy="4005072"/>
          </a:xfrm>
          <a:prstGeom prst="rect">
            <a:avLst/>
          </a:prstGeom>
          <a:solidFill>
            <a:srgbClr val="0B2C4A"/>
          </a:solidFill>
          <a:ln/>
        </p:spPr>
      </p:sp>
      <p:sp>
        <p:nvSpPr>
          <p:cNvPr id="110" name="Text 108"/>
          <p:cNvSpPr txBox="1"/>
          <p:nvPr/>
        </p:nvSpPr>
        <p:spPr>
          <a:xfrm>
            <a:off x="2596984" y="1316736"/>
            <a:ext cx="2743200" cy="292608"/>
          </a:xfrm>
          <a:prstGeom prst="rect">
            <a:avLst/>
          </a:prstGeom>
          <a:noFill/>
          <a:ln/>
        </p:spPr>
        <p:txBody>
          <a:bodyPr wrap="square" lIns="0" tIns="0" rIns="0" bIns="0" rtlCol="0" anchor="ctr"/>
          <a:lstStyle/>
          <a:p>
            <a:pPr algn="ctr" indent="0" marL="0">
              <a:buNone/>
            </a:pPr>
            <a:r>
              <a:rPr lang="en-US" sz="1400" b="1" spc="90" kern="0" dirty="0">
                <a:solidFill>
                  <a:srgbClr val="0B2C4A"/>
                </a:solidFill>
                <a:latin typeface="Inter" pitchFamily="34" charset="0"/>
                <a:ea typeface="Inter" pitchFamily="34" charset="-122"/>
                <a:cs typeface="Inter" pitchFamily="34" charset="-120"/>
              </a:rPr>
              <a:t>BENCHMARK 15.0%</a:t>
            </a:r>
            <a:endParaRPr lang="en-US" sz="1400" dirty="0"/>
          </a:p>
        </p:txBody>
      </p:sp>
      <p:sp>
        <p:nvSpPr>
          <p:cNvPr id="111" name="Shape 109"/>
          <p:cNvSpPr/>
          <p:nvPr/>
        </p:nvSpPr>
        <p:spPr>
          <a:xfrm>
            <a:off x="9511677" y="1700784"/>
            <a:ext cx="14630" cy="4005072"/>
          </a:xfrm>
          <a:prstGeom prst="rect">
            <a:avLst/>
          </a:prstGeom>
          <a:solidFill>
            <a:srgbClr val="0B2C4A"/>
          </a:solidFill>
          <a:ln/>
        </p:spPr>
      </p:sp>
      <p:sp>
        <p:nvSpPr>
          <p:cNvPr id="112" name="Text 110"/>
          <p:cNvSpPr txBox="1"/>
          <p:nvPr/>
        </p:nvSpPr>
        <p:spPr>
          <a:xfrm>
            <a:off x="8147392" y="1316736"/>
            <a:ext cx="2743200" cy="292608"/>
          </a:xfrm>
          <a:prstGeom prst="rect">
            <a:avLst/>
          </a:prstGeom>
          <a:noFill/>
          <a:ln/>
        </p:spPr>
        <p:txBody>
          <a:bodyPr wrap="square" lIns="0" tIns="0" rIns="0" bIns="0" rtlCol="0" anchor="ctr"/>
          <a:lstStyle/>
          <a:p>
            <a:pPr algn="ctr" indent="0" marL="0">
              <a:buNone/>
            </a:pPr>
            <a:r>
              <a:rPr lang="en-US" sz="1400" b="1" spc="90" kern="0" dirty="0">
                <a:solidFill>
                  <a:srgbClr val="0B2C4A"/>
                </a:solidFill>
                <a:latin typeface="Inter" pitchFamily="34" charset="0"/>
                <a:ea typeface="Inter" pitchFamily="34" charset="-122"/>
                <a:cs typeface="Inter" pitchFamily="34" charset="-120"/>
              </a:rPr>
              <a:t>BENCHMARK 15.0%</a:t>
            </a:r>
            <a:endParaRPr lang="en-US" sz="1400" dirty="0"/>
          </a:p>
        </p:txBody>
      </p:sp>
      <p:sp>
        <p:nvSpPr>
          <p:cNvPr id="113" name="Shape 111"/>
          <p:cNvSpPr/>
          <p:nvPr/>
        </p:nvSpPr>
        <p:spPr>
          <a:xfrm>
            <a:off x="457200" y="5961888"/>
            <a:ext cx="11274552" cy="548640"/>
          </a:xfrm>
          <a:prstGeom prst="rect">
            <a:avLst/>
          </a:prstGeom>
          <a:solidFill>
            <a:srgbClr val="EDF4FA"/>
          </a:solidFill>
          <a:ln/>
        </p:spPr>
      </p:sp>
      <p:sp>
        <p:nvSpPr>
          <p:cNvPr id="114" name="Text 112"/>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8 of 33 stores at or above 15%, led by AUDI HENDERSON at 27.5%. GROUP sits at 13.2%.</a:t>
            </a:r>
            <a:endParaRPr lang="en-US" sz="16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 BENCHMARKS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Balance %</a:t>
            </a:r>
            <a:endParaRPr lang="en-US" sz="2800" dirty="0"/>
          </a:p>
        </p:txBody>
      </p:sp>
      <p:sp>
        <p:nvSpPr>
          <p:cNvPr id="5" name="Shape 3"/>
          <p:cNvSpPr/>
          <p:nvPr/>
        </p:nvSpPr>
        <p:spPr>
          <a:xfrm>
            <a:off x="457200" y="1207008"/>
            <a:ext cx="11274552" cy="1517904"/>
          </a:xfrm>
          <a:prstGeom prst="rect">
            <a:avLst/>
          </a:prstGeom>
          <a:solidFill>
            <a:srgbClr val="FFFFFF"/>
          </a:solidFill>
          <a:ln/>
        </p:spPr>
      </p:sp>
      <p:sp>
        <p:nvSpPr>
          <p:cNvPr id="6" name="Text 4"/>
          <p:cNvSpPr txBox="1"/>
          <p:nvPr/>
        </p:nvSpPr>
        <p:spPr>
          <a:xfrm>
            <a:off x="685800" y="1316736"/>
            <a:ext cx="10789920" cy="274320"/>
          </a:xfrm>
          <a:prstGeom prst="rect">
            <a:avLst/>
          </a:prstGeom>
          <a:noFill/>
          <a:ln/>
        </p:spPr>
        <p:txBody>
          <a:bodyPr wrap="square" lIns="0" tIns="0" rIns="0" bIns="0" rtlCol="0" anchor="ctr"/>
          <a:lstStyle/>
          <a:p>
            <a:pPr indent="0" marL="0">
              <a:buNone/>
            </a:pPr>
            <a:r>
              <a:rPr lang="en-US" sz="1400" spc="100" kern="0" dirty="0">
                <a:solidFill>
                  <a:srgbClr val="595959"/>
                </a:solidFill>
                <a:latin typeface="Inter" pitchFamily="34" charset="0"/>
                <a:ea typeface="Inter" pitchFamily="34" charset="-122"/>
                <a:cs typeface="Inter" pitchFamily="34" charset="-120"/>
              </a:rPr>
              <a:t>GROUP · JANUARY–SEPTEMBER · SAME-STORE, 33 STORES</a:t>
            </a:r>
            <a:endParaRPr lang="en-US" sz="1400" dirty="0"/>
          </a:p>
        </p:txBody>
      </p:sp>
      <p:sp>
        <p:nvSpPr>
          <p:cNvPr id="7" name="Text 5"/>
          <p:cNvSpPr txBox="1"/>
          <p:nvPr/>
        </p:nvSpPr>
        <p:spPr>
          <a:xfrm>
            <a:off x="68580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a:t>
            </a:r>
            <a:endParaRPr lang="en-US" sz="1400" dirty="0"/>
          </a:p>
        </p:txBody>
      </p:sp>
      <p:sp>
        <p:nvSpPr>
          <p:cNvPr id="8" name="Text 6"/>
          <p:cNvSpPr txBox="1"/>
          <p:nvPr/>
        </p:nvSpPr>
        <p:spPr>
          <a:xfrm>
            <a:off x="68580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6.9%</a:t>
            </a:r>
            <a:endParaRPr lang="en-US" sz="3000" dirty="0"/>
          </a:p>
        </p:txBody>
      </p:sp>
      <p:sp>
        <p:nvSpPr>
          <p:cNvPr id="9" name="Text 7"/>
          <p:cNvSpPr txBox="1"/>
          <p:nvPr/>
        </p:nvSpPr>
        <p:spPr>
          <a:xfrm>
            <a:off x="347472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a:t>
            </a:r>
            <a:endParaRPr lang="en-US" sz="1400" dirty="0"/>
          </a:p>
        </p:txBody>
      </p:sp>
      <p:sp>
        <p:nvSpPr>
          <p:cNvPr id="10" name="Text 8"/>
          <p:cNvSpPr txBox="1"/>
          <p:nvPr/>
        </p:nvSpPr>
        <p:spPr>
          <a:xfrm>
            <a:off x="347472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8.3%</a:t>
            </a:r>
            <a:endParaRPr lang="en-US" sz="3000" dirty="0"/>
          </a:p>
        </p:txBody>
      </p:sp>
      <p:sp>
        <p:nvSpPr>
          <p:cNvPr id="11" name="Text 9"/>
          <p:cNvSpPr txBox="1"/>
          <p:nvPr/>
        </p:nvSpPr>
        <p:spPr>
          <a:xfrm>
            <a:off x="626364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2" name="Text 10"/>
          <p:cNvSpPr txBox="1"/>
          <p:nvPr/>
        </p:nvSpPr>
        <p:spPr>
          <a:xfrm>
            <a:off x="626364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+1.4 pts</a:t>
            </a:r>
            <a:endParaRPr lang="en-US" sz="3000" dirty="0"/>
          </a:p>
        </p:txBody>
      </p:sp>
      <p:sp>
        <p:nvSpPr>
          <p:cNvPr id="13" name="Text 11"/>
          <p:cNvSpPr txBox="1"/>
          <p:nvPr/>
        </p:nvSpPr>
        <p:spPr>
          <a:xfrm>
            <a:off x="905256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4" name="Text 12"/>
          <p:cNvSpPr txBox="1"/>
          <p:nvPr/>
        </p:nvSpPr>
        <p:spPr>
          <a:xfrm>
            <a:off x="905256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+20.0%</a:t>
            </a:r>
            <a:endParaRPr lang="en-US" sz="30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457200" y="2816352"/>
          <a:ext cx="11274552" cy="914400"/>
        </p:xfrm>
        <a:graphic>
          <a:graphicData uri="http://schemas.openxmlformats.org/drawingml/2006/table">
            <a:tbl>
              <a:tblPr/>
              <a:tblGrid>
                <a:gridCol w="3118104"/>
                <a:gridCol w="2039112"/>
                <a:gridCol w="2039112"/>
                <a:gridCol w="2039112"/>
                <a:gridCol w="2039112"/>
              </a:tblGrid>
              <a:tr h="274320">
                <a:tc>
                  <a:txBody>
                    <a:bodyPr/>
                    <a:lstStyle/>
                    <a:p>
                      <a:pPr algn="l" indent="0" marL="0">
                        <a:buNone/>
                      </a:pPr>
                      <a:r>
                        <a:rPr lang="en-US" sz="1400" b="1" dirty="0">
                          <a:solidFill>
                            <a:srgbClr val="FFFFFF"/>
                          </a:solidFill>
                          <a:latin typeface="Inter" pitchFamily="34" charset="0"/>
                          <a:ea typeface="Inter" pitchFamily="34" charset="-122"/>
                          <a:cs typeface="Inter" pitchFamily="34" charset="-120"/>
                        </a:rPr>
                        <a:t>MONTH</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VARIANCE</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 %</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JAN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6.3%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+1.2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+19.0%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FEB</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+1.2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+17.5%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+1.1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+14.8%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APR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6.9%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+1.9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+27.1%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MAY</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+1.4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+20.0%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+1.5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+21.6%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JUL</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6.9%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+1.4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+20.3%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AUG</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+1.4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+20.6%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SEP</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6.7%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+1.3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+19.9%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16" name="Shape 13"/>
          <p:cNvSpPr/>
          <p:nvPr/>
        </p:nvSpPr>
        <p:spPr>
          <a:xfrm>
            <a:off x="457200" y="5961888"/>
            <a:ext cx="11274552" cy="548640"/>
          </a:xfrm>
          <a:prstGeom prst="rect">
            <a:avLst/>
          </a:prstGeom>
          <a:solidFill>
            <a:srgbClr val="E6F6EE"/>
          </a:solidFill>
          <a:ln/>
        </p:spPr>
      </p:sp>
      <p:sp>
        <p:nvSpPr>
          <p:cNvPr id="17" name="Text 14"/>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Up 1.4 pts to 8.3%, ahead of 2025 in all nine months, but 6.6 pts under the 15% benchmark — 18,493 balances short.</a:t>
            </a:r>
            <a:endParaRPr lang="en-US" sz="16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 BENCHMARKS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Balance %</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70078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7" name="Shape 5"/>
          <p:cNvSpPr/>
          <p:nvPr/>
        </p:nvSpPr>
        <p:spPr>
          <a:xfrm>
            <a:off x="2971800" y="1759682"/>
            <a:ext cx="1828800" cy="117796"/>
          </a:xfrm>
          <a:prstGeom prst="rect">
            <a:avLst/>
          </a:prstGeom>
          <a:solidFill>
            <a:srgbClr val="12A566"/>
          </a:solidFill>
          <a:ln/>
        </p:spPr>
      </p:sp>
      <p:sp>
        <p:nvSpPr>
          <p:cNvPr id="8" name="Text 6"/>
          <p:cNvSpPr txBox="1"/>
          <p:nvPr/>
        </p:nvSpPr>
        <p:spPr>
          <a:xfrm>
            <a:off x="4855464" y="1700784"/>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27.0%</a:t>
            </a:r>
            <a:endParaRPr lang="en-US" sz="1300" dirty="0"/>
          </a:p>
        </p:txBody>
      </p:sp>
      <p:sp>
        <p:nvSpPr>
          <p:cNvPr id="9" name="Text 7"/>
          <p:cNvSpPr txBox="1"/>
          <p:nvPr/>
        </p:nvSpPr>
        <p:spPr>
          <a:xfrm>
            <a:off x="658368" y="193637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10" name="Shape 8"/>
          <p:cNvSpPr/>
          <p:nvPr/>
        </p:nvSpPr>
        <p:spPr>
          <a:xfrm>
            <a:off x="2971800" y="1995275"/>
            <a:ext cx="1246998" cy="117796"/>
          </a:xfrm>
          <a:prstGeom prst="rect">
            <a:avLst/>
          </a:prstGeom>
          <a:solidFill>
            <a:srgbClr val="12A566"/>
          </a:solidFill>
          <a:ln/>
        </p:spPr>
      </p:sp>
      <p:sp>
        <p:nvSpPr>
          <p:cNvPr id="11" name="Text 9"/>
          <p:cNvSpPr txBox="1"/>
          <p:nvPr/>
        </p:nvSpPr>
        <p:spPr>
          <a:xfrm>
            <a:off x="4855464" y="1936376"/>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18.4%</a:t>
            </a:r>
            <a:endParaRPr lang="en-US" sz="1300" dirty="0"/>
          </a:p>
        </p:txBody>
      </p:sp>
      <p:sp>
        <p:nvSpPr>
          <p:cNvPr id="12" name="Text 10"/>
          <p:cNvSpPr txBox="1"/>
          <p:nvPr/>
        </p:nvSpPr>
        <p:spPr>
          <a:xfrm>
            <a:off x="658368" y="217196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13" name="Shape 11"/>
          <p:cNvSpPr/>
          <p:nvPr/>
        </p:nvSpPr>
        <p:spPr>
          <a:xfrm>
            <a:off x="2971800" y="2230867"/>
            <a:ext cx="1150655" cy="117796"/>
          </a:xfrm>
          <a:prstGeom prst="rect">
            <a:avLst/>
          </a:prstGeom>
          <a:solidFill>
            <a:srgbClr val="12A566"/>
          </a:solidFill>
          <a:ln/>
        </p:spPr>
      </p:sp>
      <p:sp>
        <p:nvSpPr>
          <p:cNvPr id="14" name="Text 12"/>
          <p:cNvSpPr txBox="1"/>
          <p:nvPr/>
        </p:nvSpPr>
        <p:spPr>
          <a:xfrm>
            <a:off x="4855464" y="2171969"/>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16.9%</a:t>
            </a:r>
            <a:endParaRPr lang="en-US" sz="1300" dirty="0"/>
          </a:p>
        </p:txBody>
      </p:sp>
      <p:sp>
        <p:nvSpPr>
          <p:cNvPr id="15" name="Text 13"/>
          <p:cNvSpPr txBox="1"/>
          <p:nvPr/>
        </p:nvSpPr>
        <p:spPr>
          <a:xfrm>
            <a:off x="658368" y="240756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16" name="Shape 14"/>
          <p:cNvSpPr/>
          <p:nvPr/>
        </p:nvSpPr>
        <p:spPr>
          <a:xfrm>
            <a:off x="2971800" y="2466460"/>
            <a:ext cx="1148559" cy="117796"/>
          </a:xfrm>
          <a:prstGeom prst="rect">
            <a:avLst/>
          </a:prstGeom>
          <a:solidFill>
            <a:srgbClr val="12A566"/>
          </a:solidFill>
          <a:ln/>
        </p:spPr>
      </p:sp>
      <p:sp>
        <p:nvSpPr>
          <p:cNvPr id="17" name="Text 15"/>
          <p:cNvSpPr txBox="1"/>
          <p:nvPr/>
        </p:nvSpPr>
        <p:spPr>
          <a:xfrm>
            <a:off x="4855464" y="2407561"/>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16.9%</a:t>
            </a:r>
            <a:endParaRPr lang="en-US" sz="1300" dirty="0"/>
          </a:p>
        </p:txBody>
      </p:sp>
      <p:sp>
        <p:nvSpPr>
          <p:cNvPr id="18" name="Text 16"/>
          <p:cNvSpPr txBox="1"/>
          <p:nvPr/>
        </p:nvSpPr>
        <p:spPr>
          <a:xfrm>
            <a:off x="658368" y="264315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19" name="Shape 17"/>
          <p:cNvSpPr/>
          <p:nvPr/>
        </p:nvSpPr>
        <p:spPr>
          <a:xfrm>
            <a:off x="2971800" y="2702052"/>
            <a:ext cx="1014836" cy="117796"/>
          </a:xfrm>
          <a:prstGeom prst="rect">
            <a:avLst/>
          </a:prstGeom>
          <a:solidFill>
            <a:srgbClr val="C2352F"/>
          </a:solidFill>
          <a:ln/>
        </p:spPr>
      </p:sp>
      <p:sp>
        <p:nvSpPr>
          <p:cNvPr id="20" name="Text 18"/>
          <p:cNvSpPr txBox="1"/>
          <p:nvPr/>
        </p:nvSpPr>
        <p:spPr>
          <a:xfrm>
            <a:off x="4855464" y="264315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14.9%</a:t>
            </a:r>
            <a:endParaRPr lang="en-US" sz="1300" dirty="0"/>
          </a:p>
        </p:txBody>
      </p:sp>
      <p:sp>
        <p:nvSpPr>
          <p:cNvPr id="21" name="Text 19"/>
          <p:cNvSpPr txBox="1"/>
          <p:nvPr/>
        </p:nvSpPr>
        <p:spPr>
          <a:xfrm>
            <a:off x="658368" y="287874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22" name="Shape 20"/>
          <p:cNvSpPr/>
          <p:nvPr/>
        </p:nvSpPr>
        <p:spPr>
          <a:xfrm>
            <a:off x="2971800" y="2937644"/>
            <a:ext cx="955599" cy="117796"/>
          </a:xfrm>
          <a:prstGeom prst="rect">
            <a:avLst/>
          </a:prstGeom>
          <a:solidFill>
            <a:srgbClr val="C2352F"/>
          </a:solidFill>
          <a:ln/>
        </p:spPr>
      </p:sp>
      <p:sp>
        <p:nvSpPr>
          <p:cNvPr id="23" name="Text 21"/>
          <p:cNvSpPr txBox="1"/>
          <p:nvPr/>
        </p:nvSpPr>
        <p:spPr>
          <a:xfrm>
            <a:off x="4855464" y="2878746"/>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14.1%</a:t>
            </a:r>
            <a:endParaRPr lang="en-US" sz="1300" dirty="0"/>
          </a:p>
        </p:txBody>
      </p:sp>
      <p:sp>
        <p:nvSpPr>
          <p:cNvPr id="24" name="Text 22"/>
          <p:cNvSpPr txBox="1"/>
          <p:nvPr/>
        </p:nvSpPr>
        <p:spPr>
          <a:xfrm>
            <a:off x="658368" y="311433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25" name="Shape 23"/>
          <p:cNvSpPr/>
          <p:nvPr/>
        </p:nvSpPr>
        <p:spPr>
          <a:xfrm>
            <a:off x="2971800" y="3173237"/>
            <a:ext cx="916438" cy="117796"/>
          </a:xfrm>
          <a:prstGeom prst="rect">
            <a:avLst/>
          </a:prstGeom>
          <a:solidFill>
            <a:srgbClr val="C2352F"/>
          </a:solidFill>
          <a:ln/>
        </p:spPr>
      </p:sp>
      <p:sp>
        <p:nvSpPr>
          <p:cNvPr id="26" name="Text 24"/>
          <p:cNvSpPr txBox="1"/>
          <p:nvPr/>
        </p:nvSpPr>
        <p:spPr>
          <a:xfrm>
            <a:off x="4855464" y="3114339"/>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13.5%</a:t>
            </a:r>
            <a:endParaRPr lang="en-US" sz="1300" dirty="0"/>
          </a:p>
        </p:txBody>
      </p:sp>
      <p:sp>
        <p:nvSpPr>
          <p:cNvPr id="27" name="Text 25"/>
          <p:cNvSpPr txBox="1"/>
          <p:nvPr/>
        </p:nvSpPr>
        <p:spPr>
          <a:xfrm>
            <a:off x="658368" y="334993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28" name="Shape 26"/>
          <p:cNvSpPr/>
          <p:nvPr/>
        </p:nvSpPr>
        <p:spPr>
          <a:xfrm>
            <a:off x="2971800" y="3408829"/>
            <a:ext cx="893299" cy="117796"/>
          </a:xfrm>
          <a:prstGeom prst="rect">
            <a:avLst/>
          </a:prstGeom>
          <a:solidFill>
            <a:srgbClr val="C2352F"/>
          </a:solidFill>
          <a:ln/>
        </p:spPr>
      </p:sp>
      <p:sp>
        <p:nvSpPr>
          <p:cNvPr id="29" name="Text 27"/>
          <p:cNvSpPr txBox="1"/>
          <p:nvPr/>
        </p:nvSpPr>
        <p:spPr>
          <a:xfrm>
            <a:off x="4855464" y="3349931"/>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13.1%</a:t>
            </a:r>
            <a:endParaRPr lang="en-US" sz="1300" dirty="0"/>
          </a:p>
        </p:txBody>
      </p:sp>
      <p:sp>
        <p:nvSpPr>
          <p:cNvPr id="30" name="Text 28"/>
          <p:cNvSpPr txBox="1"/>
          <p:nvPr/>
        </p:nvSpPr>
        <p:spPr>
          <a:xfrm>
            <a:off x="658368" y="358552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31" name="Shape 29"/>
          <p:cNvSpPr/>
          <p:nvPr/>
        </p:nvSpPr>
        <p:spPr>
          <a:xfrm>
            <a:off x="2971800" y="3644422"/>
            <a:ext cx="813223" cy="117796"/>
          </a:xfrm>
          <a:prstGeom prst="rect">
            <a:avLst/>
          </a:prstGeom>
          <a:solidFill>
            <a:srgbClr val="C2352F"/>
          </a:solidFill>
          <a:ln/>
        </p:spPr>
      </p:sp>
      <p:sp>
        <p:nvSpPr>
          <p:cNvPr id="32" name="Text 30"/>
          <p:cNvSpPr txBox="1"/>
          <p:nvPr/>
        </p:nvSpPr>
        <p:spPr>
          <a:xfrm>
            <a:off x="4855464" y="358552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12.0%</a:t>
            </a:r>
            <a:endParaRPr lang="en-US" sz="1300" dirty="0"/>
          </a:p>
        </p:txBody>
      </p:sp>
      <p:sp>
        <p:nvSpPr>
          <p:cNvPr id="33" name="Text 31"/>
          <p:cNvSpPr txBox="1"/>
          <p:nvPr/>
        </p:nvSpPr>
        <p:spPr>
          <a:xfrm>
            <a:off x="658368" y="382111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34" name="Shape 32"/>
          <p:cNvSpPr/>
          <p:nvPr/>
        </p:nvSpPr>
        <p:spPr>
          <a:xfrm>
            <a:off x="2971800" y="3880014"/>
            <a:ext cx="794271" cy="117796"/>
          </a:xfrm>
          <a:prstGeom prst="rect">
            <a:avLst/>
          </a:prstGeom>
          <a:solidFill>
            <a:srgbClr val="C2352F"/>
          </a:solidFill>
          <a:ln/>
        </p:spPr>
      </p:sp>
      <p:sp>
        <p:nvSpPr>
          <p:cNvPr id="35" name="Text 33"/>
          <p:cNvSpPr txBox="1"/>
          <p:nvPr/>
        </p:nvSpPr>
        <p:spPr>
          <a:xfrm>
            <a:off x="4855464" y="3821116"/>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11.7%</a:t>
            </a:r>
            <a:endParaRPr lang="en-US" sz="1300" dirty="0"/>
          </a:p>
        </p:txBody>
      </p:sp>
      <p:sp>
        <p:nvSpPr>
          <p:cNvPr id="36" name="Text 34"/>
          <p:cNvSpPr txBox="1"/>
          <p:nvPr/>
        </p:nvSpPr>
        <p:spPr>
          <a:xfrm>
            <a:off x="658368" y="405670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37" name="Shape 35"/>
          <p:cNvSpPr/>
          <p:nvPr/>
        </p:nvSpPr>
        <p:spPr>
          <a:xfrm>
            <a:off x="2971800" y="4115607"/>
            <a:ext cx="760221" cy="117796"/>
          </a:xfrm>
          <a:prstGeom prst="rect">
            <a:avLst/>
          </a:prstGeom>
          <a:solidFill>
            <a:srgbClr val="C2352F"/>
          </a:solidFill>
          <a:ln/>
        </p:spPr>
      </p:sp>
      <p:sp>
        <p:nvSpPr>
          <p:cNvPr id="38" name="Text 36"/>
          <p:cNvSpPr txBox="1"/>
          <p:nvPr/>
        </p:nvSpPr>
        <p:spPr>
          <a:xfrm>
            <a:off x="4855464" y="4056709"/>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11.2%</a:t>
            </a:r>
            <a:endParaRPr lang="en-US" sz="1300" dirty="0"/>
          </a:p>
        </p:txBody>
      </p:sp>
      <p:sp>
        <p:nvSpPr>
          <p:cNvPr id="39" name="Text 37"/>
          <p:cNvSpPr txBox="1"/>
          <p:nvPr/>
        </p:nvSpPr>
        <p:spPr>
          <a:xfrm>
            <a:off x="658368" y="429230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40" name="Shape 38"/>
          <p:cNvSpPr/>
          <p:nvPr/>
        </p:nvSpPr>
        <p:spPr>
          <a:xfrm>
            <a:off x="2971800" y="4351199"/>
            <a:ext cx="691953" cy="117796"/>
          </a:xfrm>
          <a:prstGeom prst="rect">
            <a:avLst/>
          </a:prstGeom>
          <a:solidFill>
            <a:srgbClr val="C2352F"/>
          </a:solidFill>
          <a:ln/>
        </p:spPr>
      </p:sp>
      <p:sp>
        <p:nvSpPr>
          <p:cNvPr id="41" name="Text 39"/>
          <p:cNvSpPr txBox="1"/>
          <p:nvPr/>
        </p:nvSpPr>
        <p:spPr>
          <a:xfrm>
            <a:off x="4855464" y="4292301"/>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10.2%</a:t>
            </a:r>
            <a:endParaRPr lang="en-US" sz="1300" dirty="0"/>
          </a:p>
        </p:txBody>
      </p:sp>
      <p:sp>
        <p:nvSpPr>
          <p:cNvPr id="42" name="Text 40"/>
          <p:cNvSpPr txBox="1"/>
          <p:nvPr/>
        </p:nvSpPr>
        <p:spPr>
          <a:xfrm>
            <a:off x="658368" y="452789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43" name="Shape 41"/>
          <p:cNvSpPr/>
          <p:nvPr/>
        </p:nvSpPr>
        <p:spPr>
          <a:xfrm>
            <a:off x="2971800" y="4586792"/>
            <a:ext cx="616143" cy="117796"/>
          </a:xfrm>
          <a:prstGeom prst="rect">
            <a:avLst/>
          </a:prstGeom>
          <a:solidFill>
            <a:srgbClr val="C2352F"/>
          </a:solidFill>
          <a:ln/>
        </p:spPr>
      </p:sp>
      <p:sp>
        <p:nvSpPr>
          <p:cNvPr id="44" name="Text 42"/>
          <p:cNvSpPr txBox="1"/>
          <p:nvPr/>
        </p:nvSpPr>
        <p:spPr>
          <a:xfrm>
            <a:off x="4855464" y="452789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9.0%</a:t>
            </a:r>
            <a:endParaRPr lang="en-US" sz="1300" dirty="0"/>
          </a:p>
        </p:txBody>
      </p:sp>
      <p:sp>
        <p:nvSpPr>
          <p:cNvPr id="45" name="Shape 43"/>
          <p:cNvSpPr/>
          <p:nvPr/>
        </p:nvSpPr>
        <p:spPr>
          <a:xfrm>
            <a:off x="585216" y="4758914"/>
            <a:ext cx="5413248" cy="226448"/>
          </a:xfrm>
          <a:prstGeom prst="rect">
            <a:avLst/>
          </a:prstGeom>
          <a:solidFill>
            <a:srgbClr val="EDF4FA"/>
          </a:solidFill>
          <a:ln/>
        </p:spPr>
      </p:sp>
      <p:sp>
        <p:nvSpPr>
          <p:cNvPr id="46" name="Text 44"/>
          <p:cNvSpPr txBox="1"/>
          <p:nvPr/>
        </p:nvSpPr>
        <p:spPr>
          <a:xfrm>
            <a:off x="658368" y="4763486"/>
            <a:ext cx="2240280" cy="235592"/>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GROUP</a:t>
            </a:r>
            <a:endParaRPr lang="en-US" sz="1300" dirty="0"/>
          </a:p>
        </p:txBody>
      </p:sp>
      <p:sp>
        <p:nvSpPr>
          <p:cNvPr id="47" name="Shape 45"/>
          <p:cNvSpPr/>
          <p:nvPr/>
        </p:nvSpPr>
        <p:spPr>
          <a:xfrm>
            <a:off x="2971800" y="4822384"/>
            <a:ext cx="567518" cy="117796"/>
          </a:xfrm>
          <a:prstGeom prst="rect">
            <a:avLst/>
          </a:prstGeom>
          <a:solidFill>
            <a:srgbClr val="0B2C4A"/>
          </a:solidFill>
          <a:ln/>
        </p:spPr>
      </p:sp>
      <p:sp>
        <p:nvSpPr>
          <p:cNvPr id="48" name="Text 46"/>
          <p:cNvSpPr txBox="1"/>
          <p:nvPr/>
        </p:nvSpPr>
        <p:spPr>
          <a:xfrm>
            <a:off x="4855464" y="4763486"/>
            <a:ext cx="1088136" cy="23559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8.3%</a:t>
            </a:r>
            <a:endParaRPr lang="en-US" sz="1300" dirty="0"/>
          </a:p>
        </p:txBody>
      </p:sp>
      <p:sp>
        <p:nvSpPr>
          <p:cNvPr id="49" name="Text 47"/>
          <p:cNvSpPr txBox="1"/>
          <p:nvPr/>
        </p:nvSpPr>
        <p:spPr>
          <a:xfrm>
            <a:off x="658368" y="499907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50" name="Shape 48"/>
          <p:cNvSpPr/>
          <p:nvPr/>
        </p:nvSpPr>
        <p:spPr>
          <a:xfrm>
            <a:off x="2971800" y="5057977"/>
            <a:ext cx="562047" cy="117796"/>
          </a:xfrm>
          <a:prstGeom prst="rect">
            <a:avLst/>
          </a:prstGeom>
          <a:solidFill>
            <a:srgbClr val="C2352F"/>
          </a:solidFill>
          <a:ln/>
        </p:spPr>
      </p:sp>
      <p:sp>
        <p:nvSpPr>
          <p:cNvPr id="51" name="Text 49"/>
          <p:cNvSpPr txBox="1"/>
          <p:nvPr/>
        </p:nvSpPr>
        <p:spPr>
          <a:xfrm>
            <a:off x="4855464" y="4999079"/>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8.2%</a:t>
            </a:r>
            <a:endParaRPr lang="en-US" sz="1300" dirty="0"/>
          </a:p>
        </p:txBody>
      </p:sp>
      <p:sp>
        <p:nvSpPr>
          <p:cNvPr id="52" name="Text 50"/>
          <p:cNvSpPr txBox="1"/>
          <p:nvPr/>
        </p:nvSpPr>
        <p:spPr>
          <a:xfrm>
            <a:off x="658368" y="523467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53" name="Shape 51"/>
          <p:cNvSpPr/>
          <p:nvPr/>
        </p:nvSpPr>
        <p:spPr>
          <a:xfrm>
            <a:off x="2971800" y="5293569"/>
            <a:ext cx="525298" cy="117796"/>
          </a:xfrm>
          <a:prstGeom prst="rect">
            <a:avLst/>
          </a:prstGeom>
          <a:solidFill>
            <a:srgbClr val="C2352F"/>
          </a:solidFill>
          <a:ln/>
        </p:spPr>
      </p:sp>
      <p:sp>
        <p:nvSpPr>
          <p:cNvPr id="54" name="Text 52"/>
          <p:cNvSpPr txBox="1"/>
          <p:nvPr/>
        </p:nvSpPr>
        <p:spPr>
          <a:xfrm>
            <a:off x="4855464" y="5234671"/>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7.7%</a:t>
            </a:r>
            <a:endParaRPr lang="en-US" sz="1300" dirty="0"/>
          </a:p>
        </p:txBody>
      </p:sp>
      <p:sp>
        <p:nvSpPr>
          <p:cNvPr id="55" name="Text 53"/>
          <p:cNvSpPr txBox="1"/>
          <p:nvPr/>
        </p:nvSpPr>
        <p:spPr>
          <a:xfrm>
            <a:off x="658368" y="547026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56" name="Shape 54"/>
          <p:cNvSpPr/>
          <p:nvPr/>
        </p:nvSpPr>
        <p:spPr>
          <a:xfrm>
            <a:off x="2971800" y="5529162"/>
            <a:ext cx="522803" cy="117796"/>
          </a:xfrm>
          <a:prstGeom prst="rect">
            <a:avLst/>
          </a:prstGeom>
          <a:solidFill>
            <a:srgbClr val="C2352F"/>
          </a:solidFill>
          <a:ln/>
        </p:spPr>
      </p:sp>
      <p:sp>
        <p:nvSpPr>
          <p:cNvPr id="57" name="Text 55"/>
          <p:cNvSpPr txBox="1"/>
          <p:nvPr/>
        </p:nvSpPr>
        <p:spPr>
          <a:xfrm>
            <a:off x="4855464" y="547026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7.7%</a:t>
            </a:r>
            <a:endParaRPr lang="en-US" sz="1300" dirty="0"/>
          </a:p>
        </p:txBody>
      </p:sp>
      <p:sp>
        <p:nvSpPr>
          <p:cNvPr id="58" name="Text 56"/>
          <p:cNvSpPr txBox="1"/>
          <p:nvPr/>
        </p:nvSpPr>
        <p:spPr>
          <a:xfrm>
            <a:off x="6208776" y="170078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59" name="Shape 57"/>
          <p:cNvSpPr/>
          <p:nvPr/>
        </p:nvSpPr>
        <p:spPr>
          <a:xfrm>
            <a:off x="8522208" y="1759682"/>
            <a:ext cx="495079" cy="117796"/>
          </a:xfrm>
          <a:prstGeom prst="rect">
            <a:avLst/>
          </a:prstGeom>
          <a:solidFill>
            <a:srgbClr val="C2352F"/>
          </a:solidFill>
          <a:ln/>
        </p:spPr>
      </p:sp>
      <p:sp>
        <p:nvSpPr>
          <p:cNvPr id="60" name="Text 58"/>
          <p:cNvSpPr txBox="1"/>
          <p:nvPr/>
        </p:nvSpPr>
        <p:spPr>
          <a:xfrm>
            <a:off x="10405872" y="170078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7.3%</a:t>
            </a:r>
            <a:endParaRPr lang="en-US" sz="1300" dirty="0"/>
          </a:p>
        </p:txBody>
      </p:sp>
      <p:sp>
        <p:nvSpPr>
          <p:cNvPr id="61" name="Text 59"/>
          <p:cNvSpPr txBox="1"/>
          <p:nvPr/>
        </p:nvSpPr>
        <p:spPr>
          <a:xfrm>
            <a:off x="6208776" y="193637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62" name="Shape 60"/>
          <p:cNvSpPr/>
          <p:nvPr/>
        </p:nvSpPr>
        <p:spPr>
          <a:xfrm>
            <a:off x="8522208" y="1995275"/>
            <a:ext cx="417176" cy="117796"/>
          </a:xfrm>
          <a:prstGeom prst="rect">
            <a:avLst/>
          </a:prstGeom>
          <a:solidFill>
            <a:srgbClr val="C2352F"/>
          </a:solidFill>
          <a:ln/>
        </p:spPr>
      </p:sp>
      <p:sp>
        <p:nvSpPr>
          <p:cNvPr id="63" name="Text 61"/>
          <p:cNvSpPr txBox="1"/>
          <p:nvPr/>
        </p:nvSpPr>
        <p:spPr>
          <a:xfrm>
            <a:off x="10405872" y="1936376"/>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6.1%</a:t>
            </a:r>
            <a:endParaRPr lang="en-US" sz="1300" dirty="0"/>
          </a:p>
        </p:txBody>
      </p:sp>
      <p:sp>
        <p:nvSpPr>
          <p:cNvPr id="64" name="Text 62"/>
          <p:cNvSpPr txBox="1"/>
          <p:nvPr/>
        </p:nvSpPr>
        <p:spPr>
          <a:xfrm>
            <a:off x="6208776" y="217196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65" name="Shape 63"/>
          <p:cNvSpPr/>
          <p:nvPr/>
        </p:nvSpPr>
        <p:spPr>
          <a:xfrm>
            <a:off x="8522208" y="2230867"/>
            <a:ext cx="404254" cy="117796"/>
          </a:xfrm>
          <a:prstGeom prst="rect">
            <a:avLst/>
          </a:prstGeom>
          <a:solidFill>
            <a:srgbClr val="C2352F"/>
          </a:solidFill>
          <a:ln/>
        </p:spPr>
      </p:sp>
      <p:sp>
        <p:nvSpPr>
          <p:cNvPr id="66" name="Text 64"/>
          <p:cNvSpPr txBox="1"/>
          <p:nvPr/>
        </p:nvSpPr>
        <p:spPr>
          <a:xfrm>
            <a:off x="10405872" y="2171969"/>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5.9%</a:t>
            </a:r>
            <a:endParaRPr lang="en-US" sz="1300" dirty="0"/>
          </a:p>
        </p:txBody>
      </p:sp>
      <p:sp>
        <p:nvSpPr>
          <p:cNvPr id="67" name="Text 65"/>
          <p:cNvSpPr txBox="1"/>
          <p:nvPr/>
        </p:nvSpPr>
        <p:spPr>
          <a:xfrm>
            <a:off x="6208776" y="240756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68" name="Shape 66"/>
          <p:cNvSpPr/>
          <p:nvPr/>
        </p:nvSpPr>
        <p:spPr>
          <a:xfrm>
            <a:off x="8522208" y="2466460"/>
            <a:ext cx="354723" cy="117796"/>
          </a:xfrm>
          <a:prstGeom prst="rect">
            <a:avLst/>
          </a:prstGeom>
          <a:solidFill>
            <a:srgbClr val="C2352F"/>
          </a:solidFill>
          <a:ln/>
        </p:spPr>
      </p:sp>
      <p:sp>
        <p:nvSpPr>
          <p:cNvPr id="69" name="Text 67"/>
          <p:cNvSpPr txBox="1"/>
          <p:nvPr/>
        </p:nvSpPr>
        <p:spPr>
          <a:xfrm>
            <a:off x="10405872" y="2407561"/>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5.2%</a:t>
            </a:r>
            <a:endParaRPr lang="en-US" sz="1300" dirty="0"/>
          </a:p>
        </p:txBody>
      </p:sp>
      <p:sp>
        <p:nvSpPr>
          <p:cNvPr id="70" name="Text 68"/>
          <p:cNvSpPr txBox="1"/>
          <p:nvPr/>
        </p:nvSpPr>
        <p:spPr>
          <a:xfrm>
            <a:off x="6208776" y="264315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71" name="Shape 69"/>
          <p:cNvSpPr/>
          <p:nvPr/>
        </p:nvSpPr>
        <p:spPr>
          <a:xfrm>
            <a:off x="8522208" y="2702052"/>
            <a:ext cx="334563" cy="117796"/>
          </a:xfrm>
          <a:prstGeom prst="rect">
            <a:avLst/>
          </a:prstGeom>
          <a:solidFill>
            <a:srgbClr val="C2352F"/>
          </a:solidFill>
          <a:ln/>
        </p:spPr>
      </p:sp>
      <p:sp>
        <p:nvSpPr>
          <p:cNvPr id="72" name="Text 70"/>
          <p:cNvSpPr txBox="1"/>
          <p:nvPr/>
        </p:nvSpPr>
        <p:spPr>
          <a:xfrm>
            <a:off x="10405872" y="264315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4.9%</a:t>
            </a:r>
            <a:endParaRPr lang="en-US" sz="1300" dirty="0"/>
          </a:p>
        </p:txBody>
      </p:sp>
      <p:sp>
        <p:nvSpPr>
          <p:cNvPr id="73" name="Text 71"/>
          <p:cNvSpPr txBox="1"/>
          <p:nvPr/>
        </p:nvSpPr>
        <p:spPr>
          <a:xfrm>
            <a:off x="6208776" y="287874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74" name="Shape 72"/>
          <p:cNvSpPr/>
          <p:nvPr/>
        </p:nvSpPr>
        <p:spPr>
          <a:xfrm>
            <a:off x="8522208" y="2937644"/>
            <a:ext cx="250009" cy="117796"/>
          </a:xfrm>
          <a:prstGeom prst="rect">
            <a:avLst/>
          </a:prstGeom>
          <a:solidFill>
            <a:srgbClr val="C2352F"/>
          </a:solidFill>
          <a:ln/>
        </p:spPr>
      </p:sp>
      <p:sp>
        <p:nvSpPr>
          <p:cNvPr id="75" name="Text 73"/>
          <p:cNvSpPr txBox="1"/>
          <p:nvPr/>
        </p:nvSpPr>
        <p:spPr>
          <a:xfrm>
            <a:off x="10405872" y="2878746"/>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3.6%</a:t>
            </a:r>
            <a:endParaRPr lang="en-US" sz="1300" dirty="0"/>
          </a:p>
        </p:txBody>
      </p:sp>
      <p:sp>
        <p:nvSpPr>
          <p:cNvPr id="76" name="Text 74"/>
          <p:cNvSpPr txBox="1"/>
          <p:nvPr/>
        </p:nvSpPr>
        <p:spPr>
          <a:xfrm>
            <a:off x="6208776" y="311433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77" name="Shape 75"/>
          <p:cNvSpPr/>
          <p:nvPr/>
        </p:nvSpPr>
        <p:spPr>
          <a:xfrm>
            <a:off x="8522208" y="3173237"/>
            <a:ext cx="147881" cy="117796"/>
          </a:xfrm>
          <a:prstGeom prst="rect">
            <a:avLst/>
          </a:prstGeom>
          <a:solidFill>
            <a:srgbClr val="C2352F"/>
          </a:solidFill>
          <a:ln/>
        </p:spPr>
      </p:sp>
      <p:sp>
        <p:nvSpPr>
          <p:cNvPr id="78" name="Text 76"/>
          <p:cNvSpPr txBox="1"/>
          <p:nvPr/>
        </p:nvSpPr>
        <p:spPr>
          <a:xfrm>
            <a:off x="10405872" y="3114339"/>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2.1%</a:t>
            </a:r>
            <a:endParaRPr lang="en-US" sz="1300" dirty="0"/>
          </a:p>
        </p:txBody>
      </p:sp>
      <p:sp>
        <p:nvSpPr>
          <p:cNvPr id="79" name="Text 77"/>
          <p:cNvSpPr txBox="1"/>
          <p:nvPr/>
        </p:nvSpPr>
        <p:spPr>
          <a:xfrm>
            <a:off x="6208776" y="334993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80" name="Shape 78"/>
          <p:cNvSpPr/>
          <p:nvPr/>
        </p:nvSpPr>
        <p:spPr>
          <a:xfrm>
            <a:off x="8522208" y="3408829"/>
            <a:ext cx="113299" cy="117796"/>
          </a:xfrm>
          <a:prstGeom prst="rect">
            <a:avLst/>
          </a:prstGeom>
          <a:solidFill>
            <a:srgbClr val="C2352F"/>
          </a:solidFill>
          <a:ln/>
        </p:spPr>
      </p:sp>
      <p:sp>
        <p:nvSpPr>
          <p:cNvPr id="81" name="Text 79"/>
          <p:cNvSpPr txBox="1"/>
          <p:nvPr/>
        </p:nvSpPr>
        <p:spPr>
          <a:xfrm>
            <a:off x="10405872" y="3349931"/>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1.6%</a:t>
            </a:r>
            <a:endParaRPr lang="en-US" sz="1300" dirty="0"/>
          </a:p>
        </p:txBody>
      </p:sp>
      <p:sp>
        <p:nvSpPr>
          <p:cNvPr id="82" name="Text 80"/>
          <p:cNvSpPr txBox="1"/>
          <p:nvPr/>
        </p:nvSpPr>
        <p:spPr>
          <a:xfrm>
            <a:off x="6208776" y="358552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83" name="Shape 81"/>
          <p:cNvSpPr/>
          <p:nvPr/>
        </p:nvSpPr>
        <p:spPr>
          <a:xfrm>
            <a:off x="8522208" y="3644422"/>
            <a:ext cx="89064" cy="117796"/>
          </a:xfrm>
          <a:prstGeom prst="rect">
            <a:avLst/>
          </a:prstGeom>
          <a:solidFill>
            <a:srgbClr val="C2352F"/>
          </a:solidFill>
          <a:ln/>
        </p:spPr>
      </p:sp>
      <p:sp>
        <p:nvSpPr>
          <p:cNvPr id="84" name="Text 82"/>
          <p:cNvSpPr txBox="1"/>
          <p:nvPr/>
        </p:nvSpPr>
        <p:spPr>
          <a:xfrm>
            <a:off x="10405872" y="358552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1.3%</a:t>
            </a:r>
            <a:endParaRPr lang="en-US" sz="1300" dirty="0"/>
          </a:p>
        </p:txBody>
      </p:sp>
      <p:sp>
        <p:nvSpPr>
          <p:cNvPr id="85" name="Text 83"/>
          <p:cNvSpPr txBox="1"/>
          <p:nvPr/>
        </p:nvSpPr>
        <p:spPr>
          <a:xfrm>
            <a:off x="6208776" y="382111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86" name="Shape 84"/>
          <p:cNvSpPr/>
          <p:nvPr/>
        </p:nvSpPr>
        <p:spPr>
          <a:xfrm>
            <a:off x="8522208" y="3880014"/>
            <a:ext cx="85948" cy="117796"/>
          </a:xfrm>
          <a:prstGeom prst="rect">
            <a:avLst/>
          </a:prstGeom>
          <a:solidFill>
            <a:srgbClr val="C2352F"/>
          </a:solidFill>
          <a:ln/>
        </p:spPr>
      </p:sp>
      <p:sp>
        <p:nvSpPr>
          <p:cNvPr id="87" name="Text 85"/>
          <p:cNvSpPr txBox="1"/>
          <p:nvPr/>
        </p:nvSpPr>
        <p:spPr>
          <a:xfrm>
            <a:off x="10405872" y="3821116"/>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1.2%</a:t>
            </a:r>
            <a:endParaRPr lang="en-US" sz="1300" dirty="0"/>
          </a:p>
        </p:txBody>
      </p:sp>
      <p:sp>
        <p:nvSpPr>
          <p:cNvPr id="88" name="Text 86"/>
          <p:cNvSpPr txBox="1"/>
          <p:nvPr/>
        </p:nvSpPr>
        <p:spPr>
          <a:xfrm>
            <a:off x="6208776" y="405670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89" name="Shape 87"/>
          <p:cNvSpPr/>
          <p:nvPr/>
        </p:nvSpPr>
        <p:spPr>
          <a:xfrm>
            <a:off x="8522208" y="4115607"/>
            <a:ext cx="82908" cy="117796"/>
          </a:xfrm>
          <a:prstGeom prst="rect">
            <a:avLst/>
          </a:prstGeom>
          <a:solidFill>
            <a:srgbClr val="C2352F"/>
          </a:solidFill>
          <a:ln/>
        </p:spPr>
      </p:sp>
      <p:sp>
        <p:nvSpPr>
          <p:cNvPr id="90" name="Text 88"/>
          <p:cNvSpPr txBox="1"/>
          <p:nvPr/>
        </p:nvSpPr>
        <p:spPr>
          <a:xfrm>
            <a:off x="10405872" y="4056709"/>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1.2%</a:t>
            </a:r>
            <a:endParaRPr lang="en-US" sz="1300" dirty="0"/>
          </a:p>
        </p:txBody>
      </p:sp>
      <p:sp>
        <p:nvSpPr>
          <p:cNvPr id="91" name="Text 89"/>
          <p:cNvSpPr txBox="1"/>
          <p:nvPr/>
        </p:nvSpPr>
        <p:spPr>
          <a:xfrm>
            <a:off x="6208776" y="429230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92" name="Shape 90"/>
          <p:cNvSpPr/>
          <p:nvPr/>
        </p:nvSpPr>
        <p:spPr>
          <a:xfrm>
            <a:off x="8522208" y="4351199"/>
            <a:ext cx="71869" cy="117796"/>
          </a:xfrm>
          <a:prstGeom prst="rect">
            <a:avLst/>
          </a:prstGeom>
          <a:solidFill>
            <a:srgbClr val="C2352F"/>
          </a:solidFill>
          <a:ln/>
        </p:spPr>
      </p:sp>
      <p:sp>
        <p:nvSpPr>
          <p:cNvPr id="93" name="Text 91"/>
          <p:cNvSpPr txBox="1"/>
          <p:nvPr/>
        </p:nvSpPr>
        <p:spPr>
          <a:xfrm>
            <a:off x="10405872" y="4292301"/>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1.0%</a:t>
            </a:r>
            <a:endParaRPr lang="en-US" sz="1300" dirty="0"/>
          </a:p>
        </p:txBody>
      </p:sp>
      <p:sp>
        <p:nvSpPr>
          <p:cNvPr id="94" name="Text 92"/>
          <p:cNvSpPr txBox="1"/>
          <p:nvPr/>
        </p:nvSpPr>
        <p:spPr>
          <a:xfrm>
            <a:off x="6208776" y="452789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95" name="Shape 93"/>
          <p:cNvSpPr/>
          <p:nvPr/>
        </p:nvSpPr>
        <p:spPr>
          <a:xfrm>
            <a:off x="8522208" y="4586792"/>
            <a:ext cx="33518" cy="117796"/>
          </a:xfrm>
          <a:prstGeom prst="rect">
            <a:avLst/>
          </a:prstGeom>
          <a:solidFill>
            <a:srgbClr val="C2352F"/>
          </a:solidFill>
          <a:ln/>
        </p:spPr>
      </p:sp>
      <p:sp>
        <p:nvSpPr>
          <p:cNvPr id="96" name="Text 94"/>
          <p:cNvSpPr txBox="1"/>
          <p:nvPr/>
        </p:nvSpPr>
        <p:spPr>
          <a:xfrm>
            <a:off x="10405872" y="452789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0.4%</a:t>
            </a:r>
            <a:endParaRPr lang="en-US" sz="1300" dirty="0"/>
          </a:p>
        </p:txBody>
      </p:sp>
      <p:sp>
        <p:nvSpPr>
          <p:cNvPr id="97" name="Text 95"/>
          <p:cNvSpPr txBox="1"/>
          <p:nvPr/>
        </p:nvSpPr>
        <p:spPr>
          <a:xfrm>
            <a:off x="6208776" y="476348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98" name="Shape 96"/>
          <p:cNvSpPr/>
          <p:nvPr/>
        </p:nvSpPr>
        <p:spPr>
          <a:xfrm>
            <a:off x="8522208" y="4822384"/>
            <a:ext cx="28232" cy="117796"/>
          </a:xfrm>
          <a:prstGeom prst="rect">
            <a:avLst/>
          </a:prstGeom>
          <a:solidFill>
            <a:srgbClr val="C2352F"/>
          </a:solidFill>
          <a:ln/>
        </p:spPr>
      </p:sp>
      <p:sp>
        <p:nvSpPr>
          <p:cNvPr id="99" name="Text 97"/>
          <p:cNvSpPr txBox="1"/>
          <p:nvPr/>
        </p:nvSpPr>
        <p:spPr>
          <a:xfrm>
            <a:off x="10405872" y="4763486"/>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0.4%</a:t>
            </a:r>
            <a:endParaRPr lang="en-US" sz="1300" dirty="0"/>
          </a:p>
        </p:txBody>
      </p:sp>
      <p:sp>
        <p:nvSpPr>
          <p:cNvPr id="100" name="Text 98"/>
          <p:cNvSpPr txBox="1"/>
          <p:nvPr/>
        </p:nvSpPr>
        <p:spPr>
          <a:xfrm>
            <a:off x="6208776" y="499907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101" name="Shape 99"/>
          <p:cNvSpPr/>
          <p:nvPr/>
        </p:nvSpPr>
        <p:spPr>
          <a:xfrm>
            <a:off x="8522208" y="5057977"/>
            <a:ext cx="18288" cy="117796"/>
          </a:xfrm>
          <a:prstGeom prst="rect">
            <a:avLst/>
          </a:prstGeom>
          <a:solidFill>
            <a:srgbClr val="C2352F"/>
          </a:solidFill>
          <a:ln/>
        </p:spPr>
      </p:sp>
      <p:sp>
        <p:nvSpPr>
          <p:cNvPr id="102" name="Text 100"/>
          <p:cNvSpPr txBox="1"/>
          <p:nvPr/>
        </p:nvSpPr>
        <p:spPr>
          <a:xfrm>
            <a:off x="10405872" y="4999079"/>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0.1%</a:t>
            </a:r>
            <a:endParaRPr lang="en-US" sz="1300" dirty="0"/>
          </a:p>
        </p:txBody>
      </p:sp>
      <p:sp>
        <p:nvSpPr>
          <p:cNvPr id="103" name="Text 101"/>
          <p:cNvSpPr txBox="1"/>
          <p:nvPr/>
        </p:nvSpPr>
        <p:spPr>
          <a:xfrm>
            <a:off x="6208776" y="523467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104" name="Shape 102"/>
          <p:cNvSpPr/>
          <p:nvPr/>
        </p:nvSpPr>
        <p:spPr>
          <a:xfrm>
            <a:off x="8522208" y="5293569"/>
            <a:ext cx="18288" cy="117796"/>
          </a:xfrm>
          <a:prstGeom prst="rect">
            <a:avLst/>
          </a:prstGeom>
          <a:solidFill>
            <a:srgbClr val="C2352F"/>
          </a:solidFill>
          <a:ln/>
        </p:spPr>
      </p:sp>
      <p:sp>
        <p:nvSpPr>
          <p:cNvPr id="105" name="Text 103"/>
          <p:cNvSpPr txBox="1"/>
          <p:nvPr/>
        </p:nvSpPr>
        <p:spPr>
          <a:xfrm>
            <a:off x="10405872" y="5234671"/>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0.0%</a:t>
            </a:r>
            <a:endParaRPr lang="en-US" sz="1300" dirty="0"/>
          </a:p>
        </p:txBody>
      </p:sp>
      <p:sp>
        <p:nvSpPr>
          <p:cNvPr id="106" name="Text 104"/>
          <p:cNvSpPr txBox="1"/>
          <p:nvPr/>
        </p:nvSpPr>
        <p:spPr>
          <a:xfrm>
            <a:off x="6208776" y="547026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107" name="Shape 105"/>
          <p:cNvSpPr/>
          <p:nvPr/>
        </p:nvSpPr>
        <p:spPr>
          <a:xfrm>
            <a:off x="8522208" y="5529162"/>
            <a:ext cx="18288" cy="117796"/>
          </a:xfrm>
          <a:prstGeom prst="rect">
            <a:avLst/>
          </a:prstGeom>
          <a:solidFill>
            <a:srgbClr val="C2352F"/>
          </a:solidFill>
          <a:ln/>
        </p:spPr>
      </p:sp>
      <p:sp>
        <p:nvSpPr>
          <p:cNvPr id="108" name="Text 106"/>
          <p:cNvSpPr txBox="1"/>
          <p:nvPr/>
        </p:nvSpPr>
        <p:spPr>
          <a:xfrm>
            <a:off x="10405872" y="547026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0.0%</a:t>
            </a:r>
            <a:endParaRPr lang="en-US" sz="1300" dirty="0"/>
          </a:p>
        </p:txBody>
      </p:sp>
      <p:sp>
        <p:nvSpPr>
          <p:cNvPr id="109" name="Shape 107"/>
          <p:cNvSpPr/>
          <p:nvPr/>
        </p:nvSpPr>
        <p:spPr>
          <a:xfrm>
            <a:off x="3980316" y="1700784"/>
            <a:ext cx="14630" cy="4005072"/>
          </a:xfrm>
          <a:prstGeom prst="rect">
            <a:avLst/>
          </a:prstGeom>
          <a:solidFill>
            <a:srgbClr val="0B2C4A"/>
          </a:solidFill>
          <a:ln/>
        </p:spPr>
      </p:sp>
      <p:sp>
        <p:nvSpPr>
          <p:cNvPr id="110" name="Text 108"/>
          <p:cNvSpPr txBox="1"/>
          <p:nvPr/>
        </p:nvSpPr>
        <p:spPr>
          <a:xfrm>
            <a:off x="2616031" y="1316736"/>
            <a:ext cx="2743200" cy="292608"/>
          </a:xfrm>
          <a:prstGeom prst="rect">
            <a:avLst/>
          </a:prstGeom>
          <a:noFill/>
          <a:ln/>
        </p:spPr>
        <p:txBody>
          <a:bodyPr wrap="square" lIns="0" tIns="0" rIns="0" bIns="0" rtlCol="0" anchor="ctr"/>
          <a:lstStyle/>
          <a:p>
            <a:pPr algn="ctr" indent="0" marL="0">
              <a:buNone/>
            </a:pPr>
            <a:r>
              <a:rPr lang="en-US" sz="1400" b="1" spc="90" kern="0" dirty="0">
                <a:solidFill>
                  <a:srgbClr val="0B2C4A"/>
                </a:solidFill>
                <a:latin typeface="Inter" pitchFamily="34" charset="0"/>
                <a:ea typeface="Inter" pitchFamily="34" charset="-122"/>
                <a:cs typeface="Inter" pitchFamily="34" charset="-120"/>
              </a:rPr>
              <a:t>BENCHMARK 15.0%</a:t>
            </a:r>
            <a:endParaRPr lang="en-US" sz="1400" dirty="0"/>
          </a:p>
        </p:txBody>
      </p:sp>
      <p:sp>
        <p:nvSpPr>
          <p:cNvPr id="111" name="Shape 109"/>
          <p:cNvSpPr/>
          <p:nvPr/>
        </p:nvSpPr>
        <p:spPr>
          <a:xfrm>
            <a:off x="9530724" y="1700784"/>
            <a:ext cx="14630" cy="4005072"/>
          </a:xfrm>
          <a:prstGeom prst="rect">
            <a:avLst/>
          </a:prstGeom>
          <a:solidFill>
            <a:srgbClr val="0B2C4A"/>
          </a:solidFill>
          <a:ln/>
        </p:spPr>
      </p:sp>
      <p:sp>
        <p:nvSpPr>
          <p:cNvPr id="112" name="Text 110"/>
          <p:cNvSpPr txBox="1"/>
          <p:nvPr/>
        </p:nvSpPr>
        <p:spPr>
          <a:xfrm>
            <a:off x="8166439" y="1316736"/>
            <a:ext cx="2743200" cy="292608"/>
          </a:xfrm>
          <a:prstGeom prst="rect">
            <a:avLst/>
          </a:prstGeom>
          <a:noFill/>
          <a:ln/>
        </p:spPr>
        <p:txBody>
          <a:bodyPr wrap="square" lIns="0" tIns="0" rIns="0" bIns="0" rtlCol="0" anchor="ctr"/>
          <a:lstStyle/>
          <a:p>
            <a:pPr algn="ctr" indent="0" marL="0">
              <a:buNone/>
            </a:pPr>
            <a:r>
              <a:rPr lang="en-US" sz="1400" b="1" spc="90" kern="0" dirty="0">
                <a:solidFill>
                  <a:srgbClr val="0B2C4A"/>
                </a:solidFill>
                <a:latin typeface="Inter" pitchFamily="34" charset="0"/>
                <a:ea typeface="Inter" pitchFamily="34" charset="-122"/>
                <a:cs typeface="Inter" pitchFamily="34" charset="-120"/>
              </a:rPr>
              <a:t>BENCHMARK 15.0%</a:t>
            </a:r>
            <a:endParaRPr lang="en-US" sz="1400" dirty="0"/>
          </a:p>
        </p:txBody>
      </p:sp>
      <p:sp>
        <p:nvSpPr>
          <p:cNvPr id="113" name="Shape 111"/>
          <p:cNvSpPr/>
          <p:nvPr/>
        </p:nvSpPr>
        <p:spPr>
          <a:xfrm>
            <a:off x="457200" y="5961888"/>
            <a:ext cx="11274552" cy="548640"/>
          </a:xfrm>
          <a:prstGeom prst="rect">
            <a:avLst/>
          </a:prstGeom>
          <a:solidFill>
            <a:srgbClr val="EDF4FA"/>
          </a:solidFill>
          <a:ln/>
        </p:spPr>
      </p:sp>
      <p:sp>
        <p:nvSpPr>
          <p:cNvPr id="114" name="Text 112"/>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4 of 33 stores at or above 15%, led by LR HENDERSON at 27.0%. GROUP sits at 8.3%.</a:t>
            </a:r>
            <a:endParaRPr lang="en-US" sz="16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 BENCHMARKS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Brake Fluid %</a:t>
            </a:r>
            <a:endParaRPr lang="en-US" sz="2800" dirty="0"/>
          </a:p>
        </p:txBody>
      </p:sp>
      <p:sp>
        <p:nvSpPr>
          <p:cNvPr id="5" name="Shape 3"/>
          <p:cNvSpPr/>
          <p:nvPr/>
        </p:nvSpPr>
        <p:spPr>
          <a:xfrm>
            <a:off x="457200" y="1207008"/>
            <a:ext cx="11274552" cy="1517904"/>
          </a:xfrm>
          <a:prstGeom prst="rect">
            <a:avLst/>
          </a:prstGeom>
          <a:solidFill>
            <a:srgbClr val="FFFFFF"/>
          </a:solidFill>
          <a:ln/>
        </p:spPr>
      </p:sp>
      <p:sp>
        <p:nvSpPr>
          <p:cNvPr id="6" name="Text 4"/>
          <p:cNvSpPr txBox="1"/>
          <p:nvPr/>
        </p:nvSpPr>
        <p:spPr>
          <a:xfrm>
            <a:off x="685800" y="1316736"/>
            <a:ext cx="10789920" cy="274320"/>
          </a:xfrm>
          <a:prstGeom prst="rect">
            <a:avLst/>
          </a:prstGeom>
          <a:noFill/>
          <a:ln/>
        </p:spPr>
        <p:txBody>
          <a:bodyPr wrap="square" lIns="0" tIns="0" rIns="0" bIns="0" rtlCol="0" anchor="ctr"/>
          <a:lstStyle/>
          <a:p>
            <a:pPr indent="0" marL="0">
              <a:buNone/>
            </a:pPr>
            <a:r>
              <a:rPr lang="en-US" sz="1400" spc="100" kern="0" dirty="0">
                <a:solidFill>
                  <a:srgbClr val="595959"/>
                </a:solidFill>
                <a:latin typeface="Inter" pitchFamily="34" charset="0"/>
                <a:ea typeface="Inter" pitchFamily="34" charset="-122"/>
                <a:cs typeface="Inter" pitchFamily="34" charset="-120"/>
              </a:rPr>
              <a:t>GROUP · JANUARY–SEPTEMBER · SAME-STORE, 33 STORES</a:t>
            </a:r>
            <a:endParaRPr lang="en-US" sz="1400" dirty="0"/>
          </a:p>
        </p:txBody>
      </p:sp>
      <p:sp>
        <p:nvSpPr>
          <p:cNvPr id="7" name="Text 5"/>
          <p:cNvSpPr txBox="1"/>
          <p:nvPr/>
        </p:nvSpPr>
        <p:spPr>
          <a:xfrm>
            <a:off x="68580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a:t>
            </a:r>
            <a:endParaRPr lang="en-US" sz="1400" dirty="0"/>
          </a:p>
        </p:txBody>
      </p:sp>
      <p:sp>
        <p:nvSpPr>
          <p:cNvPr id="8" name="Text 6"/>
          <p:cNvSpPr txBox="1"/>
          <p:nvPr/>
        </p:nvSpPr>
        <p:spPr>
          <a:xfrm>
            <a:off x="68580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7.9%</a:t>
            </a:r>
            <a:endParaRPr lang="en-US" sz="3000" dirty="0"/>
          </a:p>
        </p:txBody>
      </p:sp>
      <p:sp>
        <p:nvSpPr>
          <p:cNvPr id="9" name="Text 7"/>
          <p:cNvSpPr txBox="1"/>
          <p:nvPr/>
        </p:nvSpPr>
        <p:spPr>
          <a:xfrm>
            <a:off x="347472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a:t>
            </a:r>
            <a:endParaRPr lang="en-US" sz="1400" dirty="0"/>
          </a:p>
        </p:txBody>
      </p:sp>
      <p:sp>
        <p:nvSpPr>
          <p:cNvPr id="10" name="Text 8"/>
          <p:cNvSpPr txBox="1"/>
          <p:nvPr/>
        </p:nvSpPr>
        <p:spPr>
          <a:xfrm>
            <a:off x="347472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9.2%</a:t>
            </a:r>
            <a:endParaRPr lang="en-US" sz="3000" dirty="0"/>
          </a:p>
        </p:txBody>
      </p:sp>
      <p:sp>
        <p:nvSpPr>
          <p:cNvPr id="11" name="Text 9"/>
          <p:cNvSpPr txBox="1"/>
          <p:nvPr/>
        </p:nvSpPr>
        <p:spPr>
          <a:xfrm>
            <a:off x="626364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2" name="Text 10"/>
          <p:cNvSpPr txBox="1"/>
          <p:nvPr/>
        </p:nvSpPr>
        <p:spPr>
          <a:xfrm>
            <a:off x="626364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+1.4 pts</a:t>
            </a:r>
            <a:endParaRPr lang="en-US" sz="3000" dirty="0"/>
          </a:p>
        </p:txBody>
      </p:sp>
      <p:sp>
        <p:nvSpPr>
          <p:cNvPr id="13" name="Text 11"/>
          <p:cNvSpPr txBox="1"/>
          <p:nvPr/>
        </p:nvSpPr>
        <p:spPr>
          <a:xfrm>
            <a:off x="905256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4" name="Text 12"/>
          <p:cNvSpPr txBox="1"/>
          <p:nvPr/>
        </p:nvSpPr>
        <p:spPr>
          <a:xfrm>
            <a:off x="905256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+17.5%</a:t>
            </a:r>
            <a:endParaRPr lang="en-US" sz="3000"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457200" y="2816352"/>
          <a:ext cx="11274552" cy="914400"/>
        </p:xfrm>
        <a:graphic>
          <a:graphicData uri="http://schemas.openxmlformats.org/drawingml/2006/table">
            <a:tbl>
              <a:tblPr/>
              <a:tblGrid>
                <a:gridCol w="3118104"/>
                <a:gridCol w="2039112"/>
                <a:gridCol w="2039112"/>
                <a:gridCol w="2039112"/>
                <a:gridCol w="2039112"/>
              </a:tblGrid>
              <a:tr h="274320">
                <a:tc>
                  <a:txBody>
                    <a:bodyPr/>
                    <a:lstStyle/>
                    <a:p>
                      <a:pPr algn="l" indent="0" marL="0">
                        <a:buNone/>
                      </a:pPr>
                      <a:r>
                        <a:rPr lang="en-US" sz="1400" b="1" dirty="0">
                          <a:solidFill>
                            <a:srgbClr val="FFFFFF"/>
                          </a:solidFill>
                          <a:latin typeface="Inter" pitchFamily="34" charset="0"/>
                          <a:ea typeface="Inter" pitchFamily="34" charset="-122"/>
                          <a:cs typeface="Inter" pitchFamily="34" charset="-120"/>
                        </a:rPr>
                        <a:t>MONTH</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VARIANCE</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 %</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JAN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+1.1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+14.9%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FEB</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9.0%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+1.1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+14.2%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9.7%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+1.5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+18.8%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APR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9.8%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+1.8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+21.6%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MAY</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9.7%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+1.6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+19.6%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9.4%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+1.4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+17.3%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JUL</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9.0%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+1.2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+15.7%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AUG</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+0.9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+10.6%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SEP</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9.3%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+1.9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+24.9%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16" name="Shape 13"/>
          <p:cNvSpPr/>
          <p:nvPr/>
        </p:nvSpPr>
        <p:spPr>
          <a:xfrm>
            <a:off x="457200" y="5961888"/>
            <a:ext cx="11274552" cy="548640"/>
          </a:xfrm>
          <a:prstGeom prst="rect">
            <a:avLst/>
          </a:prstGeom>
          <a:solidFill>
            <a:srgbClr val="E6F6EE"/>
          </a:solidFill>
          <a:ln/>
        </p:spPr>
      </p:sp>
      <p:sp>
        <p:nvSpPr>
          <p:cNvPr id="17" name="Text 14"/>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Up 1.4 pts to 9.2%, ahead of 2025 in all nine months, but 0.7 pts under the 10% benchmark — 1,985 brake fluid services short.</a:t>
            </a:r>
            <a:endParaRPr lang="en-US" sz="16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 BENCHMARKS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Brake Fluid %</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70078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7" name="Shape 5"/>
          <p:cNvSpPr/>
          <p:nvPr/>
        </p:nvSpPr>
        <p:spPr>
          <a:xfrm>
            <a:off x="2971800" y="1759682"/>
            <a:ext cx="1828800" cy="117796"/>
          </a:xfrm>
          <a:prstGeom prst="rect">
            <a:avLst/>
          </a:prstGeom>
          <a:solidFill>
            <a:srgbClr val="12A566"/>
          </a:solidFill>
          <a:ln/>
        </p:spPr>
      </p:sp>
      <p:sp>
        <p:nvSpPr>
          <p:cNvPr id="8" name="Text 6"/>
          <p:cNvSpPr txBox="1"/>
          <p:nvPr/>
        </p:nvSpPr>
        <p:spPr>
          <a:xfrm>
            <a:off x="4855464" y="1700784"/>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20.6%</a:t>
            </a:r>
            <a:endParaRPr lang="en-US" sz="1300" dirty="0"/>
          </a:p>
        </p:txBody>
      </p:sp>
      <p:sp>
        <p:nvSpPr>
          <p:cNvPr id="9" name="Text 7"/>
          <p:cNvSpPr txBox="1"/>
          <p:nvPr/>
        </p:nvSpPr>
        <p:spPr>
          <a:xfrm>
            <a:off x="658368" y="193637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10" name="Shape 8"/>
          <p:cNvSpPr/>
          <p:nvPr/>
        </p:nvSpPr>
        <p:spPr>
          <a:xfrm>
            <a:off x="2971800" y="1995275"/>
            <a:ext cx="1380941" cy="117796"/>
          </a:xfrm>
          <a:prstGeom prst="rect">
            <a:avLst/>
          </a:prstGeom>
          <a:solidFill>
            <a:srgbClr val="12A566"/>
          </a:solidFill>
          <a:ln/>
        </p:spPr>
      </p:sp>
      <p:sp>
        <p:nvSpPr>
          <p:cNvPr id="11" name="Text 9"/>
          <p:cNvSpPr txBox="1"/>
          <p:nvPr/>
        </p:nvSpPr>
        <p:spPr>
          <a:xfrm>
            <a:off x="4855464" y="1936376"/>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15.5%</a:t>
            </a:r>
            <a:endParaRPr lang="en-US" sz="1300" dirty="0"/>
          </a:p>
        </p:txBody>
      </p:sp>
      <p:sp>
        <p:nvSpPr>
          <p:cNvPr id="12" name="Text 10"/>
          <p:cNvSpPr txBox="1"/>
          <p:nvPr/>
        </p:nvSpPr>
        <p:spPr>
          <a:xfrm>
            <a:off x="658368" y="217196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13" name="Shape 11"/>
          <p:cNvSpPr/>
          <p:nvPr/>
        </p:nvSpPr>
        <p:spPr>
          <a:xfrm>
            <a:off x="2971800" y="2230867"/>
            <a:ext cx="1266657" cy="117796"/>
          </a:xfrm>
          <a:prstGeom prst="rect">
            <a:avLst/>
          </a:prstGeom>
          <a:solidFill>
            <a:srgbClr val="12A566"/>
          </a:solidFill>
          <a:ln/>
        </p:spPr>
      </p:sp>
      <p:sp>
        <p:nvSpPr>
          <p:cNvPr id="14" name="Text 12"/>
          <p:cNvSpPr txBox="1"/>
          <p:nvPr/>
        </p:nvSpPr>
        <p:spPr>
          <a:xfrm>
            <a:off x="4855464" y="2171969"/>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14.3%</a:t>
            </a:r>
            <a:endParaRPr lang="en-US" sz="1300" dirty="0"/>
          </a:p>
        </p:txBody>
      </p:sp>
      <p:sp>
        <p:nvSpPr>
          <p:cNvPr id="15" name="Text 13"/>
          <p:cNvSpPr txBox="1"/>
          <p:nvPr/>
        </p:nvSpPr>
        <p:spPr>
          <a:xfrm>
            <a:off x="658368" y="240756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16" name="Shape 14"/>
          <p:cNvSpPr/>
          <p:nvPr/>
        </p:nvSpPr>
        <p:spPr>
          <a:xfrm>
            <a:off x="2971800" y="2466460"/>
            <a:ext cx="1126505" cy="117796"/>
          </a:xfrm>
          <a:prstGeom prst="rect">
            <a:avLst/>
          </a:prstGeom>
          <a:solidFill>
            <a:srgbClr val="12A566"/>
          </a:solidFill>
          <a:ln/>
        </p:spPr>
      </p:sp>
      <p:sp>
        <p:nvSpPr>
          <p:cNvPr id="17" name="Text 15"/>
          <p:cNvSpPr txBox="1"/>
          <p:nvPr/>
        </p:nvSpPr>
        <p:spPr>
          <a:xfrm>
            <a:off x="4855464" y="2407561"/>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12.7%</a:t>
            </a:r>
            <a:endParaRPr lang="en-US" sz="1300" dirty="0"/>
          </a:p>
        </p:txBody>
      </p:sp>
      <p:sp>
        <p:nvSpPr>
          <p:cNvPr id="18" name="Text 16"/>
          <p:cNvSpPr txBox="1"/>
          <p:nvPr/>
        </p:nvSpPr>
        <p:spPr>
          <a:xfrm>
            <a:off x="658368" y="264315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19" name="Shape 17"/>
          <p:cNvSpPr/>
          <p:nvPr/>
        </p:nvSpPr>
        <p:spPr>
          <a:xfrm>
            <a:off x="2971800" y="2702052"/>
            <a:ext cx="1071597" cy="117796"/>
          </a:xfrm>
          <a:prstGeom prst="rect">
            <a:avLst/>
          </a:prstGeom>
          <a:solidFill>
            <a:srgbClr val="12A566"/>
          </a:solidFill>
          <a:ln/>
        </p:spPr>
      </p:sp>
      <p:sp>
        <p:nvSpPr>
          <p:cNvPr id="20" name="Text 18"/>
          <p:cNvSpPr txBox="1"/>
          <p:nvPr/>
        </p:nvSpPr>
        <p:spPr>
          <a:xfrm>
            <a:off x="4855464" y="2643154"/>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12.1%</a:t>
            </a:r>
            <a:endParaRPr lang="en-US" sz="1300" dirty="0"/>
          </a:p>
        </p:txBody>
      </p:sp>
      <p:sp>
        <p:nvSpPr>
          <p:cNvPr id="21" name="Text 19"/>
          <p:cNvSpPr txBox="1"/>
          <p:nvPr/>
        </p:nvSpPr>
        <p:spPr>
          <a:xfrm>
            <a:off x="658368" y="287874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22" name="Shape 20"/>
          <p:cNvSpPr/>
          <p:nvPr/>
        </p:nvSpPr>
        <p:spPr>
          <a:xfrm>
            <a:off x="2971800" y="2937644"/>
            <a:ext cx="1054195" cy="117796"/>
          </a:xfrm>
          <a:prstGeom prst="rect">
            <a:avLst/>
          </a:prstGeom>
          <a:solidFill>
            <a:srgbClr val="12A566"/>
          </a:solidFill>
          <a:ln/>
        </p:spPr>
      </p:sp>
      <p:sp>
        <p:nvSpPr>
          <p:cNvPr id="23" name="Text 21"/>
          <p:cNvSpPr txBox="1"/>
          <p:nvPr/>
        </p:nvSpPr>
        <p:spPr>
          <a:xfrm>
            <a:off x="4855464" y="2878746"/>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11.9%</a:t>
            </a:r>
            <a:endParaRPr lang="en-US" sz="1300" dirty="0"/>
          </a:p>
        </p:txBody>
      </p:sp>
      <p:sp>
        <p:nvSpPr>
          <p:cNvPr id="24" name="Text 22"/>
          <p:cNvSpPr txBox="1"/>
          <p:nvPr/>
        </p:nvSpPr>
        <p:spPr>
          <a:xfrm>
            <a:off x="658368" y="311433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25" name="Shape 23"/>
          <p:cNvSpPr/>
          <p:nvPr/>
        </p:nvSpPr>
        <p:spPr>
          <a:xfrm>
            <a:off x="2971800" y="3173237"/>
            <a:ext cx="1031186" cy="117796"/>
          </a:xfrm>
          <a:prstGeom prst="rect">
            <a:avLst/>
          </a:prstGeom>
          <a:solidFill>
            <a:srgbClr val="12A566"/>
          </a:solidFill>
          <a:ln/>
        </p:spPr>
      </p:sp>
      <p:sp>
        <p:nvSpPr>
          <p:cNvPr id="26" name="Text 24"/>
          <p:cNvSpPr txBox="1"/>
          <p:nvPr/>
        </p:nvSpPr>
        <p:spPr>
          <a:xfrm>
            <a:off x="4855464" y="3114339"/>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11.6%</a:t>
            </a:r>
            <a:endParaRPr lang="en-US" sz="1300" dirty="0"/>
          </a:p>
        </p:txBody>
      </p:sp>
      <p:sp>
        <p:nvSpPr>
          <p:cNvPr id="27" name="Text 25"/>
          <p:cNvSpPr txBox="1"/>
          <p:nvPr/>
        </p:nvSpPr>
        <p:spPr>
          <a:xfrm>
            <a:off x="658368" y="334993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28" name="Shape 26"/>
          <p:cNvSpPr/>
          <p:nvPr/>
        </p:nvSpPr>
        <p:spPr>
          <a:xfrm>
            <a:off x="2971800" y="3408829"/>
            <a:ext cx="952022" cy="117796"/>
          </a:xfrm>
          <a:prstGeom prst="rect">
            <a:avLst/>
          </a:prstGeom>
          <a:solidFill>
            <a:srgbClr val="12A566"/>
          </a:solidFill>
          <a:ln/>
        </p:spPr>
      </p:sp>
      <p:sp>
        <p:nvSpPr>
          <p:cNvPr id="29" name="Text 27"/>
          <p:cNvSpPr txBox="1"/>
          <p:nvPr/>
        </p:nvSpPr>
        <p:spPr>
          <a:xfrm>
            <a:off x="4855464" y="3349931"/>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10.7%</a:t>
            </a:r>
            <a:endParaRPr lang="en-US" sz="1300" dirty="0"/>
          </a:p>
        </p:txBody>
      </p:sp>
      <p:sp>
        <p:nvSpPr>
          <p:cNvPr id="30" name="Text 28"/>
          <p:cNvSpPr txBox="1"/>
          <p:nvPr/>
        </p:nvSpPr>
        <p:spPr>
          <a:xfrm>
            <a:off x="658368" y="358552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31" name="Shape 29"/>
          <p:cNvSpPr/>
          <p:nvPr/>
        </p:nvSpPr>
        <p:spPr>
          <a:xfrm>
            <a:off x="2971800" y="3644422"/>
            <a:ext cx="940165" cy="117796"/>
          </a:xfrm>
          <a:prstGeom prst="rect">
            <a:avLst/>
          </a:prstGeom>
          <a:solidFill>
            <a:srgbClr val="12A566"/>
          </a:solidFill>
          <a:ln/>
        </p:spPr>
      </p:sp>
      <p:sp>
        <p:nvSpPr>
          <p:cNvPr id="32" name="Text 30"/>
          <p:cNvSpPr txBox="1"/>
          <p:nvPr/>
        </p:nvSpPr>
        <p:spPr>
          <a:xfrm>
            <a:off x="4855464" y="3585524"/>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10.6%</a:t>
            </a:r>
            <a:endParaRPr lang="en-US" sz="1300" dirty="0"/>
          </a:p>
        </p:txBody>
      </p:sp>
      <p:sp>
        <p:nvSpPr>
          <p:cNvPr id="33" name="Text 31"/>
          <p:cNvSpPr txBox="1"/>
          <p:nvPr/>
        </p:nvSpPr>
        <p:spPr>
          <a:xfrm>
            <a:off x="658368" y="382111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34" name="Shape 32"/>
          <p:cNvSpPr/>
          <p:nvPr/>
        </p:nvSpPr>
        <p:spPr>
          <a:xfrm>
            <a:off x="2971800" y="3880014"/>
            <a:ext cx="915273" cy="117796"/>
          </a:xfrm>
          <a:prstGeom prst="rect">
            <a:avLst/>
          </a:prstGeom>
          <a:solidFill>
            <a:srgbClr val="12A566"/>
          </a:solidFill>
          <a:ln/>
        </p:spPr>
      </p:sp>
      <p:sp>
        <p:nvSpPr>
          <p:cNvPr id="35" name="Text 33"/>
          <p:cNvSpPr txBox="1"/>
          <p:nvPr/>
        </p:nvSpPr>
        <p:spPr>
          <a:xfrm>
            <a:off x="4855464" y="3821116"/>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10.3%</a:t>
            </a:r>
            <a:endParaRPr lang="en-US" sz="1300" dirty="0"/>
          </a:p>
        </p:txBody>
      </p:sp>
      <p:sp>
        <p:nvSpPr>
          <p:cNvPr id="36" name="Text 34"/>
          <p:cNvSpPr txBox="1"/>
          <p:nvPr/>
        </p:nvSpPr>
        <p:spPr>
          <a:xfrm>
            <a:off x="658368" y="405670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37" name="Shape 35"/>
          <p:cNvSpPr/>
          <p:nvPr/>
        </p:nvSpPr>
        <p:spPr>
          <a:xfrm>
            <a:off x="2971800" y="4115607"/>
            <a:ext cx="897953" cy="117796"/>
          </a:xfrm>
          <a:prstGeom prst="rect">
            <a:avLst/>
          </a:prstGeom>
          <a:solidFill>
            <a:srgbClr val="12A566"/>
          </a:solidFill>
          <a:ln/>
        </p:spPr>
      </p:sp>
      <p:sp>
        <p:nvSpPr>
          <p:cNvPr id="38" name="Text 36"/>
          <p:cNvSpPr txBox="1"/>
          <p:nvPr/>
        </p:nvSpPr>
        <p:spPr>
          <a:xfrm>
            <a:off x="4855464" y="4056709"/>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10.1%</a:t>
            </a:r>
            <a:endParaRPr lang="en-US" sz="1300" dirty="0"/>
          </a:p>
        </p:txBody>
      </p:sp>
      <p:sp>
        <p:nvSpPr>
          <p:cNvPr id="39" name="Text 37"/>
          <p:cNvSpPr txBox="1"/>
          <p:nvPr/>
        </p:nvSpPr>
        <p:spPr>
          <a:xfrm>
            <a:off x="658368" y="429230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40" name="Shape 38"/>
          <p:cNvSpPr/>
          <p:nvPr/>
        </p:nvSpPr>
        <p:spPr>
          <a:xfrm>
            <a:off x="2971800" y="4351199"/>
            <a:ext cx="891463" cy="117796"/>
          </a:xfrm>
          <a:prstGeom prst="rect">
            <a:avLst/>
          </a:prstGeom>
          <a:solidFill>
            <a:srgbClr val="12A566"/>
          </a:solidFill>
          <a:ln/>
        </p:spPr>
      </p:sp>
      <p:sp>
        <p:nvSpPr>
          <p:cNvPr id="41" name="Text 39"/>
          <p:cNvSpPr txBox="1"/>
          <p:nvPr/>
        </p:nvSpPr>
        <p:spPr>
          <a:xfrm>
            <a:off x="4855464" y="4292301"/>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10.0%</a:t>
            </a:r>
            <a:endParaRPr lang="en-US" sz="1300" dirty="0"/>
          </a:p>
        </p:txBody>
      </p:sp>
      <p:sp>
        <p:nvSpPr>
          <p:cNvPr id="42" name="Text 40"/>
          <p:cNvSpPr txBox="1"/>
          <p:nvPr/>
        </p:nvSpPr>
        <p:spPr>
          <a:xfrm>
            <a:off x="658368" y="452789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43" name="Shape 41"/>
          <p:cNvSpPr/>
          <p:nvPr/>
        </p:nvSpPr>
        <p:spPr>
          <a:xfrm>
            <a:off x="2971800" y="4586792"/>
            <a:ext cx="854685" cy="117796"/>
          </a:xfrm>
          <a:prstGeom prst="rect">
            <a:avLst/>
          </a:prstGeom>
          <a:solidFill>
            <a:srgbClr val="C2352F"/>
          </a:solidFill>
          <a:ln/>
        </p:spPr>
      </p:sp>
      <p:sp>
        <p:nvSpPr>
          <p:cNvPr id="44" name="Text 42"/>
          <p:cNvSpPr txBox="1"/>
          <p:nvPr/>
        </p:nvSpPr>
        <p:spPr>
          <a:xfrm>
            <a:off x="4855464" y="452789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9.6%</a:t>
            </a:r>
            <a:endParaRPr lang="en-US" sz="1300" dirty="0"/>
          </a:p>
        </p:txBody>
      </p:sp>
      <p:sp>
        <p:nvSpPr>
          <p:cNvPr id="45" name="Text 43"/>
          <p:cNvSpPr txBox="1"/>
          <p:nvPr/>
        </p:nvSpPr>
        <p:spPr>
          <a:xfrm>
            <a:off x="658368" y="476348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46" name="Shape 44"/>
          <p:cNvSpPr/>
          <p:nvPr/>
        </p:nvSpPr>
        <p:spPr>
          <a:xfrm>
            <a:off x="2971800" y="4822384"/>
            <a:ext cx="843356" cy="117796"/>
          </a:xfrm>
          <a:prstGeom prst="rect">
            <a:avLst/>
          </a:prstGeom>
          <a:solidFill>
            <a:srgbClr val="C2352F"/>
          </a:solidFill>
          <a:ln/>
        </p:spPr>
      </p:sp>
      <p:sp>
        <p:nvSpPr>
          <p:cNvPr id="47" name="Text 45"/>
          <p:cNvSpPr txBox="1"/>
          <p:nvPr/>
        </p:nvSpPr>
        <p:spPr>
          <a:xfrm>
            <a:off x="4855464" y="4763486"/>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9.5%</a:t>
            </a:r>
            <a:endParaRPr lang="en-US" sz="1300" dirty="0"/>
          </a:p>
        </p:txBody>
      </p:sp>
      <p:sp>
        <p:nvSpPr>
          <p:cNvPr id="48" name="Shape 46"/>
          <p:cNvSpPr/>
          <p:nvPr/>
        </p:nvSpPr>
        <p:spPr>
          <a:xfrm>
            <a:off x="585216" y="4994507"/>
            <a:ext cx="5413248" cy="226448"/>
          </a:xfrm>
          <a:prstGeom prst="rect">
            <a:avLst/>
          </a:prstGeom>
          <a:solidFill>
            <a:srgbClr val="EDF4FA"/>
          </a:solidFill>
          <a:ln/>
        </p:spPr>
      </p:sp>
      <p:sp>
        <p:nvSpPr>
          <p:cNvPr id="49" name="Text 47"/>
          <p:cNvSpPr txBox="1"/>
          <p:nvPr/>
        </p:nvSpPr>
        <p:spPr>
          <a:xfrm>
            <a:off x="658368" y="4999079"/>
            <a:ext cx="2240280" cy="235592"/>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GROUP</a:t>
            </a:r>
            <a:endParaRPr lang="en-US" sz="1300" dirty="0"/>
          </a:p>
        </p:txBody>
      </p:sp>
      <p:sp>
        <p:nvSpPr>
          <p:cNvPr id="50" name="Shape 48"/>
          <p:cNvSpPr/>
          <p:nvPr/>
        </p:nvSpPr>
        <p:spPr>
          <a:xfrm>
            <a:off x="2971800" y="5057977"/>
            <a:ext cx="822595" cy="117796"/>
          </a:xfrm>
          <a:prstGeom prst="rect">
            <a:avLst/>
          </a:prstGeom>
          <a:solidFill>
            <a:srgbClr val="0B2C4A"/>
          </a:solidFill>
          <a:ln/>
        </p:spPr>
      </p:sp>
      <p:sp>
        <p:nvSpPr>
          <p:cNvPr id="51" name="Text 49"/>
          <p:cNvSpPr txBox="1"/>
          <p:nvPr/>
        </p:nvSpPr>
        <p:spPr>
          <a:xfrm>
            <a:off x="4855464" y="4999079"/>
            <a:ext cx="1088136" cy="23559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9.2%</a:t>
            </a:r>
            <a:endParaRPr lang="en-US" sz="1300" dirty="0"/>
          </a:p>
        </p:txBody>
      </p:sp>
      <p:sp>
        <p:nvSpPr>
          <p:cNvPr id="52" name="Text 50"/>
          <p:cNvSpPr txBox="1"/>
          <p:nvPr/>
        </p:nvSpPr>
        <p:spPr>
          <a:xfrm>
            <a:off x="658368" y="523467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53" name="Shape 51"/>
          <p:cNvSpPr/>
          <p:nvPr/>
        </p:nvSpPr>
        <p:spPr>
          <a:xfrm>
            <a:off x="2971800" y="5293569"/>
            <a:ext cx="751787" cy="117796"/>
          </a:xfrm>
          <a:prstGeom prst="rect">
            <a:avLst/>
          </a:prstGeom>
          <a:solidFill>
            <a:srgbClr val="C2352F"/>
          </a:solidFill>
          <a:ln/>
        </p:spPr>
      </p:sp>
      <p:sp>
        <p:nvSpPr>
          <p:cNvPr id="54" name="Text 52"/>
          <p:cNvSpPr txBox="1"/>
          <p:nvPr/>
        </p:nvSpPr>
        <p:spPr>
          <a:xfrm>
            <a:off x="4855464" y="5234671"/>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8.4%</a:t>
            </a:r>
            <a:endParaRPr lang="en-US" sz="1300" dirty="0"/>
          </a:p>
        </p:txBody>
      </p:sp>
      <p:sp>
        <p:nvSpPr>
          <p:cNvPr id="55" name="Text 53"/>
          <p:cNvSpPr txBox="1"/>
          <p:nvPr/>
        </p:nvSpPr>
        <p:spPr>
          <a:xfrm>
            <a:off x="658368" y="547026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56" name="Shape 54"/>
          <p:cNvSpPr/>
          <p:nvPr/>
        </p:nvSpPr>
        <p:spPr>
          <a:xfrm>
            <a:off x="2971800" y="5529162"/>
            <a:ext cx="744392" cy="117796"/>
          </a:xfrm>
          <a:prstGeom prst="rect">
            <a:avLst/>
          </a:prstGeom>
          <a:solidFill>
            <a:srgbClr val="C2352F"/>
          </a:solidFill>
          <a:ln/>
        </p:spPr>
      </p:sp>
      <p:sp>
        <p:nvSpPr>
          <p:cNvPr id="57" name="Text 55"/>
          <p:cNvSpPr txBox="1"/>
          <p:nvPr/>
        </p:nvSpPr>
        <p:spPr>
          <a:xfrm>
            <a:off x="4855464" y="547026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8.4%</a:t>
            </a:r>
            <a:endParaRPr lang="en-US" sz="1300" dirty="0"/>
          </a:p>
        </p:txBody>
      </p:sp>
      <p:sp>
        <p:nvSpPr>
          <p:cNvPr id="58" name="Text 56"/>
          <p:cNvSpPr txBox="1"/>
          <p:nvPr/>
        </p:nvSpPr>
        <p:spPr>
          <a:xfrm>
            <a:off x="6208776" y="170078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59" name="Shape 57"/>
          <p:cNvSpPr/>
          <p:nvPr/>
        </p:nvSpPr>
        <p:spPr>
          <a:xfrm>
            <a:off x="8522208" y="1759682"/>
            <a:ext cx="742623" cy="117796"/>
          </a:xfrm>
          <a:prstGeom prst="rect">
            <a:avLst/>
          </a:prstGeom>
          <a:solidFill>
            <a:srgbClr val="C2352F"/>
          </a:solidFill>
          <a:ln/>
        </p:spPr>
      </p:sp>
      <p:sp>
        <p:nvSpPr>
          <p:cNvPr id="60" name="Text 58"/>
          <p:cNvSpPr txBox="1"/>
          <p:nvPr/>
        </p:nvSpPr>
        <p:spPr>
          <a:xfrm>
            <a:off x="10405872" y="170078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8.3%</a:t>
            </a:r>
            <a:endParaRPr lang="en-US" sz="1300" dirty="0"/>
          </a:p>
        </p:txBody>
      </p:sp>
      <p:sp>
        <p:nvSpPr>
          <p:cNvPr id="61" name="Text 59"/>
          <p:cNvSpPr txBox="1"/>
          <p:nvPr/>
        </p:nvSpPr>
        <p:spPr>
          <a:xfrm>
            <a:off x="6208776" y="193637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62" name="Shape 60"/>
          <p:cNvSpPr/>
          <p:nvPr/>
        </p:nvSpPr>
        <p:spPr>
          <a:xfrm>
            <a:off x="8522208" y="1995275"/>
            <a:ext cx="732765" cy="117796"/>
          </a:xfrm>
          <a:prstGeom prst="rect">
            <a:avLst/>
          </a:prstGeom>
          <a:solidFill>
            <a:srgbClr val="C2352F"/>
          </a:solidFill>
          <a:ln/>
        </p:spPr>
      </p:sp>
      <p:sp>
        <p:nvSpPr>
          <p:cNvPr id="63" name="Text 61"/>
          <p:cNvSpPr txBox="1"/>
          <p:nvPr/>
        </p:nvSpPr>
        <p:spPr>
          <a:xfrm>
            <a:off x="10405872" y="1936376"/>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8.2%</a:t>
            </a:r>
            <a:endParaRPr lang="en-US" sz="1300" dirty="0"/>
          </a:p>
        </p:txBody>
      </p:sp>
      <p:sp>
        <p:nvSpPr>
          <p:cNvPr id="64" name="Text 62"/>
          <p:cNvSpPr txBox="1"/>
          <p:nvPr/>
        </p:nvSpPr>
        <p:spPr>
          <a:xfrm>
            <a:off x="6208776" y="217196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65" name="Shape 63"/>
          <p:cNvSpPr/>
          <p:nvPr/>
        </p:nvSpPr>
        <p:spPr>
          <a:xfrm>
            <a:off x="8522208" y="2230867"/>
            <a:ext cx="714689" cy="117796"/>
          </a:xfrm>
          <a:prstGeom prst="rect">
            <a:avLst/>
          </a:prstGeom>
          <a:solidFill>
            <a:srgbClr val="C2352F"/>
          </a:solidFill>
          <a:ln/>
        </p:spPr>
      </p:sp>
      <p:sp>
        <p:nvSpPr>
          <p:cNvPr id="66" name="Text 64"/>
          <p:cNvSpPr txBox="1"/>
          <p:nvPr/>
        </p:nvSpPr>
        <p:spPr>
          <a:xfrm>
            <a:off x="10405872" y="2171969"/>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8.0%</a:t>
            </a:r>
            <a:endParaRPr lang="en-US" sz="1300" dirty="0"/>
          </a:p>
        </p:txBody>
      </p:sp>
      <p:sp>
        <p:nvSpPr>
          <p:cNvPr id="67" name="Text 65"/>
          <p:cNvSpPr txBox="1"/>
          <p:nvPr/>
        </p:nvSpPr>
        <p:spPr>
          <a:xfrm>
            <a:off x="6208776" y="240756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68" name="Shape 66"/>
          <p:cNvSpPr/>
          <p:nvPr/>
        </p:nvSpPr>
        <p:spPr>
          <a:xfrm>
            <a:off x="8522208" y="2466460"/>
            <a:ext cx="666668" cy="117796"/>
          </a:xfrm>
          <a:prstGeom prst="rect">
            <a:avLst/>
          </a:prstGeom>
          <a:solidFill>
            <a:srgbClr val="C2352F"/>
          </a:solidFill>
          <a:ln/>
        </p:spPr>
      </p:sp>
      <p:sp>
        <p:nvSpPr>
          <p:cNvPr id="69" name="Text 67"/>
          <p:cNvSpPr txBox="1"/>
          <p:nvPr/>
        </p:nvSpPr>
        <p:spPr>
          <a:xfrm>
            <a:off x="10405872" y="2407561"/>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7.5%</a:t>
            </a:r>
            <a:endParaRPr lang="en-US" sz="1300" dirty="0"/>
          </a:p>
        </p:txBody>
      </p:sp>
      <p:sp>
        <p:nvSpPr>
          <p:cNvPr id="70" name="Text 68"/>
          <p:cNvSpPr txBox="1"/>
          <p:nvPr/>
        </p:nvSpPr>
        <p:spPr>
          <a:xfrm>
            <a:off x="6208776" y="264315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71" name="Shape 69"/>
          <p:cNvSpPr/>
          <p:nvPr/>
        </p:nvSpPr>
        <p:spPr>
          <a:xfrm>
            <a:off x="8522208" y="2702052"/>
            <a:ext cx="641865" cy="117796"/>
          </a:xfrm>
          <a:prstGeom prst="rect">
            <a:avLst/>
          </a:prstGeom>
          <a:solidFill>
            <a:srgbClr val="C2352F"/>
          </a:solidFill>
          <a:ln/>
        </p:spPr>
      </p:sp>
      <p:sp>
        <p:nvSpPr>
          <p:cNvPr id="72" name="Text 70"/>
          <p:cNvSpPr txBox="1"/>
          <p:nvPr/>
        </p:nvSpPr>
        <p:spPr>
          <a:xfrm>
            <a:off x="10405872" y="264315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7.2%</a:t>
            </a:r>
            <a:endParaRPr lang="en-US" sz="1300" dirty="0"/>
          </a:p>
        </p:txBody>
      </p:sp>
      <p:sp>
        <p:nvSpPr>
          <p:cNvPr id="73" name="Text 71"/>
          <p:cNvSpPr txBox="1"/>
          <p:nvPr/>
        </p:nvSpPr>
        <p:spPr>
          <a:xfrm>
            <a:off x="6208776" y="287874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74" name="Shape 72"/>
          <p:cNvSpPr/>
          <p:nvPr/>
        </p:nvSpPr>
        <p:spPr>
          <a:xfrm>
            <a:off x="8522208" y="2937644"/>
            <a:ext cx="627404" cy="117796"/>
          </a:xfrm>
          <a:prstGeom prst="rect">
            <a:avLst/>
          </a:prstGeom>
          <a:solidFill>
            <a:srgbClr val="C2352F"/>
          </a:solidFill>
          <a:ln/>
        </p:spPr>
      </p:sp>
      <p:sp>
        <p:nvSpPr>
          <p:cNvPr id="75" name="Text 73"/>
          <p:cNvSpPr txBox="1"/>
          <p:nvPr/>
        </p:nvSpPr>
        <p:spPr>
          <a:xfrm>
            <a:off x="10405872" y="2878746"/>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7.0%</a:t>
            </a:r>
            <a:endParaRPr lang="en-US" sz="1300" dirty="0"/>
          </a:p>
        </p:txBody>
      </p:sp>
      <p:sp>
        <p:nvSpPr>
          <p:cNvPr id="76" name="Text 74"/>
          <p:cNvSpPr txBox="1"/>
          <p:nvPr/>
        </p:nvSpPr>
        <p:spPr>
          <a:xfrm>
            <a:off x="6208776" y="311433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77" name="Shape 75"/>
          <p:cNvSpPr/>
          <p:nvPr/>
        </p:nvSpPr>
        <p:spPr>
          <a:xfrm>
            <a:off x="8522208" y="3173237"/>
            <a:ext cx="624290" cy="117796"/>
          </a:xfrm>
          <a:prstGeom prst="rect">
            <a:avLst/>
          </a:prstGeom>
          <a:solidFill>
            <a:srgbClr val="C2352F"/>
          </a:solidFill>
          <a:ln/>
        </p:spPr>
      </p:sp>
      <p:sp>
        <p:nvSpPr>
          <p:cNvPr id="78" name="Text 76"/>
          <p:cNvSpPr txBox="1"/>
          <p:nvPr/>
        </p:nvSpPr>
        <p:spPr>
          <a:xfrm>
            <a:off x="10405872" y="3114339"/>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7.0%</a:t>
            </a:r>
            <a:endParaRPr lang="en-US" sz="1300" dirty="0"/>
          </a:p>
        </p:txBody>
      </p:sp>
      <p:sp>
        <p:nvSpPr>
          <p:cNvPr id="79" name="Text 77"/>
          <p:cNvSpPr txBox="1"/>
          <p:nvPr/>
        </p:nvSpPr>
        <p:spPr>
          <a:xfrm>
            <a:off x="6208776" y="334993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80" name="Shape 78"/>
          <p:cNvSpPr/>
          <p:nvPr/>
        </p:nvSpPr>
        <p:spPr>
          <a:xfrm>
            <a:off x="8522208" y="3408829"/>
            <a:ext cx="538668" cy="117796"/>
          </a:xfrm>
          <a:prstGeom prst="rect">
            <a:avLst/>
          </a:prstGeom>
          <a:solidFill>
            <a:srgbClr val="C2352F"/>
          </a:solidFill>
          <a:ln/>
        </p:spPr>
      </p:sp>
      <p:sp>
        <p:nvSpPr>
          <p:cNvPr id="81" name="Text 79"/>
          <p:cNvSpPr txBox="1"/>
          <p:nvPr/>
        </p:nvSpPr>
        <p:spPr>
          <a:xfrm>
            <a:off x="10405872" y="3349931"/>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6.0%</a:t>
            </a:r>
            <a:endParaRPr lang="en-US" sz="1300" dirty="0"/>
          </a:p>
        </p:txBody>
      </p:sp>
      <p:sp>
        <p:nvSpPr>
          <p:cNvPr id="82" name="Text 80"/>
          <p:cNvSpPr txBox="1"/>
          <p:nvPr/>
        </p:nvSpPr>
        <p:spPr>
          <a:xfrm>
            <a:off x="6208776" y="358552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83" name="Shape 81"/>
          <p:cNvSpPr/>
          <p:nvPr/>
        </p:nvSpPr>
        <p:spPr>
          <a:xfrm>
            <a:off x="8522208" y="3644422"/>
            <a:ext cx="527421" cy="117796"/>
          </a:xfrm>
          <a:prstGeom prst="rect">
            <a:avLst/>
          </a:prstGeom>
          <a:solidFill>
            <a:srgbClr val="C2352F"/>
          </a:solidFill>
          <a:ln/>
        </p:spPr>
      </p:sp>
      <p:sp>
        <p:nvSpPr>
          <p:cNvPr id="84" name="Text 82"/>
          <p:cNvSpPr txBox="1"/>
          <p:nvPr/>
        </p:nvSpPr>
        <p:spPr>
          <a:xfrm>
            <a:off x="10405872" y="358552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5.9%</a:t>
            </a:r>
            <a:endParaRPr lang="en-US" sz="1300" dirty="0"/>
          </a:p>
        </p:txBody>
      </p:sp>
      <p:sp>
        <p:nvSpPr>
          <p:cNvPr id="85" name="Text 83"/>
          <p:cNvSpPr txBox="1"/>
          <p:nvPr/>
        </p:nvSpPr>
        <p:spPr>
          <a:xfrm>
            <a:off x="6208776" y="382111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86" name="Shape 84"/>
          <p:cNvSpPr/>
          <p:nvPr/>
        </p:nvSpPr>
        <p:spPr>
          <a:xfrm>
            <a:off x="8522208" y="3880014"/>
            <a:ext cx="513531" cy="117796"/>
          </a:xfrm>
          <a:prstGeom prst="rect">
            <a:avLst/>
          </a:prstGeom>
          <a:solidFill>
            <a:srgbClr val="C2352F"/>
          </a:solidFill>
          <a:ln/>
        </p:spPr>
      </p:sp>
      <p:sp>
        <p:nvSpPr>
          <p:cNvPr id="87" name="Text 85"/>
          <p:cNvSpPr txBox="1"/>
          <p:nvPr/>
        </p:nvSpPr>
        <p:spPr>
          <a:xfrm>
            <a:off x="10405872" y="3821116"/>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5.7%</a:t>
            </a:r>
            <a:endParaRPr lang="en-US" sz="1300" dirty="0"/>
          </a:p>
        </p:txBody>
      </p:sp>
      <p:sp>
        <p:nvSpPr>
          <p:cNvPr id="88" name="Text 86"/>
          <p:cNvSpPr txBox="1"/>
          <p:nvPr/>
        </p:nvSpPr>
        <p:spPr>
          <a:xfrm>
            <a:off x="6208776" y="405670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89" name="Shape 87"/>
          <p:cNvSpPr/>
          <p:nvPr/>
        </p:nvSpPr>
        <p:spPr>
          <a:xfrm>
            <a:off x="8522208" y="4115607"/>
            <a:ext cx="479909" cy="117796"/>
          </a:xfrm>
          <a:prstGeom prst="rect">
            <a:avLst/>
          </a:prstGeom>
          <a:solidFill>
            <a:srgbClr val="C2352F"/>
          </a:solidFill>
          <a:ln/>
        </p:spPr>
      </p:sp>
      <p:sp>
        <p:nvSpPr>
          <p:cNvPr id="90" name="Text 88"/>
          <p:cNvSpPr txBox="1"/>
          <p:nvPr/>
        </p:nvSpPr>
        <p:spPr>
          <a:xfrm>
            <a:off x="10405872" y="4056709"/>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5.4%</a:t>
            </a:r>
            <a:endParaRPr lang="en-US" sz="1300" dirty="0"/>
          </a:p>
        </p:txBody>
      </p:sp>
      <p:sp>
        <p:nvSpPr>
          <p:cNvPr id="91" name="Text 89"/>
          <p:cNvSpPr txBox="1"/>
          <p:nvPr/>
        </p:nvSpPr>
        <p:spPr>
          <a:xfrm>
            <a:off x="6208776" y="429230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92" name="Shape 90"/>
          <p:cNvSpPr/>
          <p:nvPr/>
        </p:nvSpPr>
        <p:spPr>
          <a:xfrm>
            <a:off x="8522208" y="4351199"/>
            <a:ext cx="420419" cy="117796"/>
          </a:xfrm>
          <a:prstGeom prst="rect">
            <a:avLst/>
          </a:prstGeom>
          <a:solidFill>
            <a:srgbClr val="C2352F"/>
          </a:solidFill>
          <a:ln/>
        </p:spPr>
      </p:sp>
      <p:sp>
        <p:nvSpPr>
          <p:cNvPr id="93" name="Text 91"/>
          <p:cNvSpPr txBox="1"/>
          <p:nvPr/>
        </p:nvSpPr>
        <p:spPr>
          <a:xfrm>
            <a:off x="10405872" y="4292301"/>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4.7%</a:t>
            </a:r>
            <a:endParaRPr lang="en-US" sz="1300" dirty="0"/>
          </a:p>
        </p:txBody>
      </p:sp>
      <p:sp>
        <p:nvSpPr>
          <p:cNvPr id="94" name="Text 92"/>
          <p:cNvSpPr txBox="1"/>
          <p:nvPr/>
        </p:nvSpPr>
        <p:spPr>
          <a:xfrm>
            <a:off x="6208776" y="452789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95" name="Shape 93"/>
          <p:cNvSpPr/>
          <p:nvPr/>
        </p:nvSpPr>
        <p:spPr>
          <a:xfrm>
            <a:off x="8522208" y="4586792"/>
            <a:ext cx="414261" cy="117796"/>
          </a:xfrm>
          <a:prstGeom prst="rect">
            <a:avLst/>
          </a:prstGeom>
          <a:solidFill>
            <a:srgbClr val="C2352F"/>
          </a:solidFill>
          <a:ln/>
        </p:spPr>
      </p:sp>
      <p:sp>
        <p:nvSpPr>
          <p:cNvPr id="96" name="Text 94"/>
          <p:cNvSpPr txBox="1"/>
          <p:nvPr/>
        </p:nvSpPr>
        <p:spPr>
          <a:xfrm>
            <a:off x="10405872" y="452789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4.6%</a:t>
            </a:r>
            <a:endParaRPr lang="en-US" sz="1300" dirty="0"/>
          </a:p>
        </p:txBody>
      </p:sp>
      <p:sp>
        <p:nvSpPr>
          <p:cNvPr id="97" name="Text 95"/>
          <p:cNvSpPr txBox="1"/>
          <p:nvPr/>
        </p:nvSpPr>
        <p:spPr>
          <a:xfrm>
            <a:off x="6208776" y="476348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98" name="Shape 96"/>
          <p:cNvSpPr/>
          <p:nvPr/>
        </p:nvSpPr>
        <p:spPr>
          <a:xfrm>
            <a:off x="8522208" y="4822384"/>
            <a:ext cx="375166" cy="117796"/>
          </a:xfrm>
          <a:prstGeom prst="rect">
            <a:avLst/>
          </a:prstGeom>
          <a:solidFill>
            <a:srgbClr val="C2352F"/>
          </a:solidFill>
          <a:ln/>
        </p:spPr>
      </p:sp>
      <p:sp>
        <p:nvSpPr>
          <p:cNvPr id="99" name="Text 97"/>
          <p:cNvSpPr txBox="1"/>
          <p:nvPr/>
        </p:nvSpPr>
        <p:spPr>
          <a:xfrm>
            <a:off x="10405872" y="4763486"/>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4.2%</a:t>
            </a:r>
            <a:endParaRPr lang="en-US" sz="1300" dirty="0"/>
          </a:p>
        </p:txBody>
      </p:sp>
      <p:sp>
        <p:nvSpPr>
          <p:cNvPr id="100" name="Text 98"/>
          <p:cNvSpPr txBox="1"/>
          <p:nvPr/>
        </p:nvSpPr>
        <p:spPr>
          <a:xfrm>
            <a:off x="6208776" y="499907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101" name="Shape 99"/>
          <p:cNvSpPr/>
          <p:nvPr/>
        </p:nvSpPr>
        <p:spPr>
          <a:xfrm>
            <a:off x="8522208" y="5057977"/>
            <a:ext cx="281258" cy="117796"/>
          </a:xfrm>
          <a:prstGeom prst="rect">
            <a:avLst/>
          </a:prstGeom>
          <a:solidFill>
            <a:srgbClr val="C2352F"/>
          </a:solidFill>
          <a:ln/>
        </p:spPr>
      </p:sp>
      <p:sp>
        <p:nvSpPr>
          <p:cNvPr id="102" name="Text 100"/>
          <p:cNvSpPr txBox="1"/>
          <p:nvPr/>
        </p:nvSpPr>
        <p:spPr>
          <a:xfrm>
            <a:off x="10405872" y="4999079"/>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3.1%</a:t>
            </a:r>
            <a:endParaRPr lang="en-US" sz="1300" dirty="0"/>
          </a:p>
        </p:txBody>
      </p:sp>
      <p:sp>
        <p:nvSpPr>
          <p:cNvPr id="103" name="Text 101"/>
          <p:cNvSpPr txBox="1"/>
          <p:nvPr/>
        </p:nvSpPr>
        <p:spPr>
          <a:xfrm>
            <a:off x="6208776" y="523467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104" name="Shape 102"/>
          <p:cNvSpPr/>
          <p:nvPr/>
        </p:nvSpPr>
        <p:spPr>
          <a:xfrm>
            <a:off x="8522208" y="5293569"/>
            <a:ext cx="217925" cy="117796"/>
          </a:xfrm>
          <a:prstGeom prst="rect">
            <a:avLst/>
          </a:prstGeom>
          <a:solidFill>
            <a:srgbClr val="C2352F"/>
          </a:solidFill>
          <a:ln/>
        </p:spPr>
      </p:sp>
      <p:sp>
        <p:nvSpPr>
          <p:cNvPr id="105" name="Text 103"/>
          <p:cNvSpPr txBox="1"/>
          <p:nvPr/>
        </p:nvSpPr>
        <p:spPr>
          <a:xfrm>
            <a:off x="10405872" y="5234671"/>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2.4%</a:t>
            </a:r>
            <a:endParaRPr lang="en-US" sz="1300" dirty="0"/>
          </a:p>
        </p:txBody>
      </p:sp>
      <p:sp>
        <p:nvSpPr>
          <p:cNvPr id="106" name="Text 104"/>
          <p:cNvSpPr txBox="1"/>
          <p:nvPr/>
        </p:nvSpPr>
        <p:spPr>
          <a:xfrm>
            <a:off x="6208776" y="547026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107" name="Shape 105"/>
          <p:cNvSpPr/>
          <p:nvPr/>
        </p:nvSpPr>
        <p:spPr>
          <a:xfrm>
            <a:off x="8522208" y="5529162"/>
            <a:ext cx="171408" cy="117796"/>
          </a:xfrm>
          <a:prstGeom prst="rect">
            <a:avLst/>
          </a:prstGeom>
          <a:solidFill>
            <a:srgbClr val="C2352F"/>
          </a:solidFill>
          <a:ln/>
        </p:spPr>
      </p:sp>
      <p:sp>
        <p:nvSpPr>
          <p:cNvPr id="108" name="Text 106"/>
          <p:cNvSpPr txBox="1"/>
          <p:nvPr/>
        </p:nvSpPr>
        <p:spPr>
          <a:xfrm>
            <a:off x="10405872" y="547026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1.9%</a:t>
            </a:r>
            <a:endParaRPr lang="en-US" sz="1300" dirty="0"/>
          </a:p>
        </p:txBody>
      </p:sp>
      <p:sp>
        <p:nvSpPr>
          <p:cNvPr id="109" name="Shape 107"/>
          <p:cNvSpPr/>
          <p:nvPr/>
        </p:nvSpPr>
        <p:spPr>
          <a:xfrm>
            <a:off x="3850009" y="1700784"/>
            <a:ext cx="14630" cy="4005072"/>
          </a:xfrm>
          <a:prstGeom prst="rect">
            <a:avLst/>
          </a:prstGeom>
          <a:solidFill>
            <a:srgbClr val="0B2C4A"/>
          </a:solidFill>
          <a:ln/>
        </p:spPr>
      </p:sp>
      <p:sp>
        <p:nvSpPr>
          <p:cNvPr id="110" name="Text 108"/>
          <p:cNvSpPr txBox="1"/>
          <p:nvPr/>
        </p:nvSpPr>
        <p:spPr>
          <a:xfrm>
            <a:off x="2485724" y="1316736"/>
            <a:ext cx="2743200" cy="292608"/>
          </a:xfrm>
          <a:prstGeom prst="rect">
            <a:avLst/>
          </a:prstGeom>
          <a:noFill/>
          <a:ln/>
        </p:spPr>
        <p:txBody>
          <a:bodyPr wrap="square" lIns="0" tIns="0" rIns="0" bIns="0" rtlCol="0" anchor="ctr"/>
          <a:lstStyle/>
          <a:p>
            <a:pPr algn="ctr" indent="0" marL="0">
              <a:buNone/>
            </a:pPr>
            <a:r>
              <a:rPr lang="en-US" sz="1400" b="1" spc="90" kern="0" dirty="0">
                <a:solidFill>
                  <a:srgbClr val="0B2C4A"/>
                </a:solidFill>
                <a:latin typeface="Inter" pitchFamily="34" charset="0"/>
                <a:ea typeface="Inter" pitchFamily="34" charset="-122"/>
                <a:cs typeface="Inter" pitchFamily="34" charset="-120"/>
              </a:rPr>
              <a:t>BENCHMARK 10.0%</a:t>
            </a:r>
            <a:endParaRPr lang="en-US" sz="1400" dirty="0"/>
          </a:p>
        </p:txBody>
      </p:sp>
      <p:sp>
        <p:nvSpPr>
          <p:cNvPr id="111" name="Shape 109"/>
          <p:cNvSpPr/>
          <p:nvPr/>
        </p:nvSpPr>
        <p:spPr>
          <a:xfrm>
            <a:off x="9400417" y="1700784"/>
            <a:ext cx="14630" cy="4005072"/>
          </a:xfrm>
          <a:prstGeom prst="rect">
            <a:avLst/>
          </a:prstGeom>
          <a:solidFill>
            <a:srgbClr val="0B2C4A"/>
          </a:solidFill>
          <a:ln/>
        </p:spPr>
      </p:sp>
      <p:sp>
        <p:nvSpPr>
          <p:cNvPr id="112" name="Text 110"/>
          <p:cNvSpPr txBox="1"/>
          <p:nvPr/>
        </p:nvSpPr>
        <p:spPr>
          <a:xfrm>
            <a:off x="8036132" y="1316736"/>
            <a:ext cx="2743200" cy="292608"/>
          </a:xfrm>
          <a:prstGeom prst="rect">
            <a:avLst/>
          </a:prstGeom>
          <a:noFill/>
          <a:ln/>
        </p:spPr>
        <p:txBody>
          <a:bodyPr wrap="square" lIns="0" tIns="0" rIns="0" bIns="0" rtlCol="0" anchor="ctr"/>
          <a:lstStyle/>
          <a:p>
            <a:pPr algn="ctr" indent="0" marL="0">
              <a:buNone/>
            </a:pPr>
            <a:r>
              <a:rPr lang="en-US" sz="1400" b="1" spc="90" kern="0" dirty="0">
                <a:solidFill>
                  <a:srgbClr val="0B2C4A"/>
                </a:solidFill>
                <a:latin typeface="Inter" pitchFamily="34" charset="0"/>
                <a:ea typeface="Inter" pitchFamily="34" charset="-122"/>
                <a:cs typeface="Inter" pitchFamily="34" charset="-120"/>
              </a:rPr>
              <a:t>BENCHMARK 10.0%</a:t>
            </a:r>
            <a:endParaRPr lang="en-US" sz="1400" dirty="0"/>
          </a:p>
        </p:txBody>
      </p:sp>
      <p:sp>
        <p:nvSpPr>
          <p:cNvPr id="113" name="Shape 111"/>
          <p:cNvSpPr/>
          <p:nvPr/>
        </p:nvSpPr>
        <p:spPr>
          <a:xfrm>
            <a:off x="457200" y="5961888"/>
            <a:ext cx="11274552" cy="548640"/>
          </a:xfrm>
          <a:prstGeom prst="rect">
            <a:avLst/>
          </a:prstGeom>
          <a:solidFill>
            <a:srgbClr val="EDF4FA"/>
          </a:solidFill>
          <a:ln/>
        </p:spPr>
      </p:sp>
      <p:sp>
        <p:nvSpPr>
          <p:cNvPr id="114" name="Text 112"/>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12 of 33 stores at or above 10%, led by LR LV at 20.6%. GROUP sits at 9.2%.</a:t>
            </a:r>
            <a:endParaRPr lang="en-US" sz="16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 BENCHMARKS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Fuel Service %</a:t>
            </a:r>
            <a:endParaRPr lang="en-US" sz="2800" dirty="0"/>
          </a:p>
        </p:txBody>
      </p:sp>
      <p:sp>
        <p:nvSpPr>
          <p:cNvPr id="5" name="Shape 3"/>
          <p:cNvSpPr/>
          <p:nvPr/>
        </p:nvSpPr>
        <p:spPr>
          <a:xfrm>
            <a:off x="457200" y="1207008"/>
            <a:ext cx="11274552" cy="1517904"/>
          </a:xfrm>
          <a:prstGeom prst="rect">
            <a:avLst/>
          </a:prstGeom>
          <a:solidFill>
            <a:srgbClr val="FFFFFF"/>
          </a:solidFill>
          <a:ln/>
        </p:spPr>
      </p:sp>
      <p:sp>
        <p:nvSpPr>
          <p:cNvPr id="6" name="Text 4"/>
          <p:cNvSpPr txBox="1"/>
          <p:nvPr/>
        </p:nvSpPr>
        <p:spPr>
          <a:xfrm>
            <a:off x="685800" y="1316736"/>
            <a:ext cx="10789920" cy="274320"/>
          </a:xfrm>
          <a:prstGeom prst="rect">
            <a:avLst/>
          </a:prstGeom>
          <a:noFill/>
          <a:ln/>
        </p:spPr>
        <p:txBody>
          <a:bodyPr wrap="square" lIns="0" tIns="0" rIns="0" bIns="0" rtlCol="0" anchor="ctr"/>
          <a:lstStyle/>
          <a:p>
            <a:pPr indent="0" marL="0">
              <a:buNone/>
            </a:pPr>
            <a:r>
              <a:rPr lang="en-US" sz="1400" spc="100" kern="0" dirty="0">
                <a:solidFill>
                  <a:srgbClr val="595959"/>
                </a:solidFill>
                <a:latin typeface="Inter" pitchFamily="34" charset="0"/>
                <a:ea typeface="Inter" pitchFamily="34" charset="-122"/>
                <a:cs typeface="Inter" pitchFamily="34" charset="-120"/>
              </a:rPr>
              <a:t>GROUP · JANUARY–SEPTEMBER · SAME-STORE, 33 STORES</a:t>
            </a:r>
            <a:endParaRPr lang="en-US" sz="1400" dirty="0"/>
          </a:p>
        </p:txBody>
      </p:sp>
      <p:sp>
        <p:nvSpPr>
          <p:cNvPr id="7" name="Text 5"/>
          <p:cNvSpPr txBox="1"/>
          <p:nvPr/>
        </p:nvSpPr>
        <p:spPr>
          <a:xfrm>
            <a:off x="68580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a:t>
            </a:r>
            <a:endParaRPr lang="en-US" sz="1400" dirty="0"/>
          </a:p>
        </p:txBody>
      </p:sp>
      <p:sp>
        <p:nvSpPr>
          <p:cNvPr id="8" name="Text 6"/>
          <p:cNvSpPr txBox="1"/>
          <p:nvPr/>
        </p:nvSpPr>
        <p:spPr>
          <a:xfrm>
            <a:off x="68580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4.5%</a:t>
            </a:r>
            <a:endParaRPr lang="en-US" sz="3000" dirty="0"/>
          </a:p>
        </p:txBody>
      </p:sp>
      <p:sp>
        <p:nvSpPr>
          <p:cNvPr id="9" name="Text 7"/>
          <p:cNvSpPr txBox="1"/>
          <p:nvPr/>
        </p:nvSpPr>
        <p:spPr>
          <a:xfrm>
            <a:off x="347472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a:t>
            </a:r>
            <a:endParaRPr lang="en-US" sz="1400" dirty="0"/>
          </a:p>
        </p:txBody>
      </p:sp>
      <p:sp>
        <p:nvSpPr>
          <p:cNvPr id="10" name="Text 8"/>
          <p:cNvSpPr txBox="1"/>
          <p:nvPr/>
        </p:nvSpPr>
        <p:spPr>
          <a:xfrm>
            <a:off x="347472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5.8%</a:t>
            </a:r>
            <a:endParaRPr lang="en-US" sz="3000" dirty="0"/>
          </a:p>
        </p:txBody>
      </p:sp>
      <p:sp>
        <p:nvSpPr>
          <p:cNvPr id="11" name="Text 9"/>
          <p:cNvSpPr txBox="1"/>
          <p:nvPr/>
        </p:nvSpPr>
        <p:spPr>
          <a:xfrm>
            <a:off x="626364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2" name="Text 10"/>
          <p:cNvSpPr txBox="1"/>
          <p:nvPr/>
        </p:nvSpPr>
        <p:spPr>
          <a:xfrm>
            <a:off x="626364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+1.2 pts</a:t>
            </a:r>
            <a:endParaRPr lang="en-US" sz="3000" dirty="0"/>
          </a:p>
        </p:txBody>
      </p:sp>
      <p:sp>
        <p:nvSpPr>
          <p:cNvPr id="13" name="Text 11"/>
          <p:cNvSpPr txBox="1"/>
          <p:nvPr/>
        </p:nvSpPr>
        <p:spPr>
          <a:xfrm>
            <a:off x="905256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4" name="Text 12"/>
          <p:cNvSpPr txBox="1"/>
          <p:nvPr/>
        </p:nvSpPr>
        <p:spPr>
          <a:xfrm>
            <a:off x="905256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+27.3%</a:t>
            </a:r>
            <a:endParaRPr lang="en-US" sz="300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457200" y="2816352"/>
          <a:ext cx="11274552" cy="914400"/>
        </p:xfrm>
        <a:graphic>
          <a:graphicData uri="http://schemas.openxmlformats.org/drawingml/2006/table">
            <a:tbl>
              <a:tblPr/>
              <a:tblGrid>
                <a:gridCol w="3118104"/>
                <a:gridCol w="2039112"/>
                <a:gridCol w="2039112"/>
                <a:gridCol w="2039112"/>
                <a:gridCol w="2039112"/>
              </a:tblGrid>
              <a:tr h="274320">
                <a:tc>
                  <a:txBody>
                    <a:bodyPr/>
                    <a:lstStyle/>
                    <a:p>
                      <a:pPr algn="l" indent="0" marL="0">
                        <a:buNone/>
                      </a:pPr>
                      <a:r>
                        <a:rPr lang="en-US" sz="1400" b="1" dirty="0">
                          <a:solidFill>
                            <a:srgbClr val="FFFFFF"/>
                          </a:solidFill>
                          <a:latin typeface="Inter" pitchFamily="34" charset="0"/>
                          <a:ea typeface="Inter" pitchFamily="34" charset="-122"/>
                          <a:cs typeface="Inter" pitchFamily="34" charset="-120"/>
                        </a:rPr>
                        <a:t>MONTH</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VARIANCE</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 %</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JAN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5.4%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+1.6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+41.3%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FEB</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4.5%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5.8%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+1.2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+26.7%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4.8%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6.1%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+1.3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+26.5%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APR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4.8%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6.0%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+1.1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+23.2%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MAY</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4.5%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6.2%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+1.7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+36.7%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4.7%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5.8%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+1.2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+24.3%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JUL</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4.3%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5.5%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+1.2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+29.1%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AUG</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4.7%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5.2%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+0.6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+12.4%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SEP</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4.5%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5.8%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+1.3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+29.8%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16" name="Shape 13"/>
          <p:cNvSpPr/>
          <p:nvPr/>
        </p:nvSpPr>
        <p:spPr>
          <a:xfrm>
            <a:off x="457200" y="5961888"/>
            <a:ext cx="11274552" cy="548640"/>
          </a:xfrm>
          <a:prstGeom prst="rect">
            <a:avLst/>
          </a:prstGeom>
          <a:solidFill>
            <a:srgbClr val="E6F6EE"/>
          </a:solidFill>
          <a:ln/>
        </p:spPr>
      </p:sp>
      <p:sp>
        <p:nvSpPr>
          <p:cNvPr id="17" name="Text 14"/>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Up 1.2 pts to 5.8%, ahead of 2025 in all nine months, but 1.7 pts under the 7.5% benchmark — 4,731 fuel services short.</a:t>
            </a:r>
            <a:endParaRPr lang="en-US" sz="16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 BENCHMARKS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Fuel Service %</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70078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7" name="Shape 5"/>
          <p:cNvSpPr/>
          <p:nvPr/>
        </p:nvSpPr>
        <p:spPr>
          <a:xfrm>
            <a:off x="2971800" y="1759682"/>
            <a:ext cx="1828800" cy="117796"/>
          </a:xfrm>
          <a:prstGeom prst="rect">
            <a:avLst/>
          </a:prstGeom>
          <a:solidFill>
            <a:srgbClr val="12A566"/>
          </a:solidFill>
          <a:ln/>
        </p:spPr>
      </p:sp>
      <p:sp>
        <p:nvSpPr>
          <p:cNvPr id="8" name="Text 6"/>
          <p:cNvSpPr txBox="1"/>
          <p:nvPr/>
        </p:nvSpPr>
        <p:spPr>
          <a:xfrm>
            <a:off x="4855464" y="1700784"/>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13.8%</a:t>
            </a:r>
            <a:endParaRPr lang="en-US" sz="1300" dirty="0"/>
          </a:p>
        </p:txBody>
      </p:sp>
      <p:sp>
        <p:nvSpPr>
          <p:cNvPr id="9" name="Text 7"/>
          <p:cNvSpPr txBox="1"/>
          <p:nvPr/>
        </p:nvSpPr>
        <p:spPr>
          <a:xfrm>
            <a:off x="658368" y="193637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10" name="Shape 8"/>
          <p:cNvSpPr/>
          <p:nvPr/>
        </p:nvSpPr>
        <p:spPr>
          <a:xfrm>
            <a:off x="2971800" y="1995275"/>
            <a:ext cx="1591014" cy="117796"/>
          </a:xfrm>
          <a:prstGeom prst="rect">
            <a:avLst/>
          </a:prstGeom>
          <a:solidFill>
            <a:srgbClr val="12A566"/>
          </a:solidFill>
          <a:ln/>
        </p:spPr>
      </p:sp>
      <p:sp>
        <p:nvSpPr>
          <p:cNvPr id="11" name="Text 9"/>
          <p:cNvSpPr txBox="1"/>
          <p:nvPr/>
        </p:nvSpPr>
        <p:spPr>
          <a:xfrm>
            <a:off x="4855464" y="1936376"/>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12.0%</a:t>
            </a:r>
            <a:endParaRPr lang="en-US" sz="1300" dirty="0"/>
          </a:p>
        </p:txBody>
      </p:sp>
      <p:sp>
        <p:nvSpPr>
          <p:cNvPr id="12" name="Text 10"/>
          <p:cNvSpPr txBox="1"/>
          <p:nvPr/>
        </p:nvSpPr>
        <p:spPr>
          <a:xfrm>
            <a:off x="658368" y="217196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13" name="Shape 11"/>
          <p:cNvSpPr/>
          <p:nvPr/>
        </p:nvSpPr>
        <p:spPr>
          <a:xfrm>
            <a:off x="2971800" y="2230867"/>
            <a:ext cx="1293427" cy="117796"/>
          </a:xfrm>
          <a:prstGeom prst="rect">
            <a:avLst/>
          </a:prstGeom>
          <a:solidFill>
            <a:srgbClr val="12A566"/>
          </a:solidFill>
          <a:ln/>
        </p:spPr>
      </p:sp>
      <p:sp>
        <p:nvSpPr>
          <p:cNvPr id="14" name="Text 12"/>
          <p:cNvSpPr txBox="1"/>
          <p:nvPr/>
        </p:nvSpPr>
        <p:spPr>
          <a:xfrm>
            <a:off x="4855464" y="2171969"/>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9.7%</a:t>
            </a:r>
            <a:endParaRPr lang="en-US" sz="1300" dirty="0"/>
          </a:p>
        </p:txBody>
      </p:sp>
      <p:sp>
        <p:nvSpPr>
          <p:cNvPr id="15" name="Text 13"/>
          <p:cNvSpPr txBox="1"/>
          <p:nvPr/>
        </p:nvSpPr>
        <p:spPr>
          <a:xfrm>
            <a:off x="658368" y="240756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16" name="Shape 14"/>
          <p:cNvSpPr/>
          <p:nvPr/>
        </p:nvSpPr>
        <p:spPr>
          <a:xfrm>
            <a:off x="2971800" y="2466460"/>
            <a:ext cx="1237490" cy="117796"/>
          </a:xfrm>
          <a:prstGeom prst="rect">
            <a:avLst/>
          </a:prstGeom>
          <a:solidFill>
            <a:srgbClr val="12A566"/>
          </a:solidFill>
          <a:ln/>
        </p:spPr>
      </p:sp>
      <p:sp>
        <p:nvSpPr>
          <p:cNvPr id="17" name="Text 15"/>
          <p:cNvSpPr txBox="1"/>
          <p:nvPr/>
        </p:nvSpPr>
        <p:spPr>
          <a:xfrm>
            <a:off x="4855464" y="2407561"/>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9.3%</a:t>
            </a:r>
            <a:endParaRPr lang="en-US" sz="1300" dirty="0"/>
          </a:p>
        </p:txBody>
      </p:sp>
      <p:sp>
        <p:nvSpPr>
          <p:cNvPr id="18" name="Text 16"/>
          <p:cNvSpPr txBox="1"/>
          <p:nvPr/>
        </p:nvSpPr>
        <p:spPr>
          <a:xfrm>
            <a:off x="658368" y="264315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19" name="Shape 17"/>
          <p:cNvSpPr/>
          <p:nvPr/>
        </p:nvSpPr>
        <p:spPr>
          <a:xfrm>
            <a:off x="2971800" y="2702052"/>
            <a:ext cx="1181508" cy="117796"/>
          </a:xfrm>
          <a:prstGeom prst="rect">
            <a:avLst/>
          </a:prstGeom>
          <a:solidFill>
            <a:srgbClr val="12A566"/>
          </a:solidFill>
          <a:ln/>
        </p:spPr>
      </p:sp>
      <p:sp>
        <p:nvSpPr>
          <p:cNvPr id="20" name="Text 18"/>
          <p:cNvSpPr txBox="1"/>
          <p:nvPr/>
        </p:nvSpPr>
        <p:spPr>
          <a:xfrm>
            <a:off x="4855464" y="2643154"/>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8.9%</a:t>
            </a:r>
            <a:endParaRPr lang="en-US" sz="1300" dirty="0"/>
          </a:p>
        </p:txBody>
      </p:sp>
      <p:sp>
        <p:nvSpPr>
          <p:cNvPr id="21" name="Text 19"/>
          <p:cNvSpPr txBox="1"/>
          <p:nvPr/>
        </p:nvSpPr>
        <p:spPr>
          <a:xfrm>
            <a:off x="658368" y="287874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22" name="Shape 20"/>
          <p:cNvSpPr/>
          <p:nvPr/>
        </p:nvSpPr>
        <p:spPr>
          <a:xfrm>
            <a:off x="2971800" y="2937644"/>
            <a:ext cx="1084590" cy="117796"/>
          </a:xfrm>
          <a:prstGeom prst="rect">
            <a:avLst/>
          </a:prstGeom>
          <a:solidFill>
            <a:srgbClr val="12A566"/>
          </a:solidFill>
          <a:ln/>
        </p:spPr>
      </p:sp>
      <p:sp>
        <p:nvSpPr>
          <p:cNvPr id="23" name="Text 21"/>
          <p:cNvSpPr txBox="1"/>
          <p:nvPr/>
        </p:nvSpPr>
        <p:spPr>
          <a:xfrm>
            <a:off x="4855464" y="2878746"/>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8.2%</a:t>
            </a:r>
            <a:endParaRPr lang="en-US" sz="1300" dirty="0"/>
          </a:p>
        </p:txBody>
      </p:sp>
      <p:sp>
        <p:nvSpPr>
          <p:cNvPr id="24" name="Text 22"/>
          <p:cNvSpPr txBox="1"/>
          <p:nvPr/>
        </p:nvSpPr>
        <p:spPr>
          <a:xfrm>
            <a:off x="658368" y="311433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25" name="Shape 23"/>
          <p:cNvSpPr/>
          <p:nvPr/>
        </p:nvSpPr>
        <p:spPr>
          <a:xfrm>
            <a:off x="2971800" y="3173237"/>
            <a:ext cx="1012732" cy="117796"/>
          </a:xfrm>
          <a:prstGeom prst="rect">
            <a:avLst/>
          </a:prstGeom>
          <a:solidFill>
            <a:srgbClr val="12A566"/>
          </a:solidFill>
          <a:ln/>
        </p:spPr>
      </p:sp>
      <p:sp>
        <p:nvSpPr>
          <p:cNvPr id="26" name="Text 24"/>
          <p:cNvSpPr txBox="1"/>
          <p:nvPr/>
        </p:nvSpPr>
        <p:spPr>
          <a:xfrm>
            <a:off x="4855464" y="3114339"/>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7.6%</a:t>
            </a:r>
            <a:endParaRPr lang="en-US" sz="1300" dirty="0"/>
          </a:p>
        </p:txBody>
      </p:sp>
      <p:sp>
        <p:nvSpPr>
          <p:cNvPr id="27" name="Text 25"/>
          <p:cNvSpPr txBox="1"/>
          <p:nvPr/>
        </p:nvSpPr>
        <p:spPr>
          <a:xfrm>
            <a:off x="658368" y="334993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28" name="Shape 26"/>
          <p:cNvSpPr/>
          <p:nvPr/>
        </p:nvSpPr>
        <p:spPr>
          <a:xfrm>
            <a:off x="2971800" y="3408829"/>
            <a:ext cx="972374" cy="117796"/>
          </a:xfrm>
          <a:prstGeom prst="rect">
            <a:avLst/>
          </a:prstGeom>
          <a:solidFill>
            <a:srgbClr val="C2352F"/>
          </a:solidFill>
          <a:ln/>
        </p:spPr>
      </p:sp>
      <p:sp>
        <p:nvSpPr>
          <p:cNvPr id="29" name="Text 27"/>
          <p:cNvSpPr txBox="1"/>
          <p:nvPr/>
        </p:nvSpPr>
        <p:spPr>
          <a:xfrm>
            <a:off x="4855464" y="3349931"/>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7.3%</a:t>
            </a:r>
            <a:endParaRPr lang="en-US" sz="1300" dirty="0"/>
          </a:p>
        </p:txBody>
      </p:sp>
      <p:sp>
        <p:nvSpPr>
          <p:cNvPr id="30" name="Text 28"/>
          <p:cNvSpPr txBox="1"/>
          <p:nvPr/>
        </p:nvSpPr>
        <p:spPr>
          <a:xfrm>
            <a:off x="658368" y="358552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31" name="Shape 29"/>
          <p:cNvSpPr/>
          <p:nvPr/>
        </p:nvSpPr>
        <p:spPr>
          <a:xfrm>
            <a:off x="2971800" y="3644422"/>
            <a:ext cx="935996" cy="117796"/>
          </a:xfrm>
          <a:prstGeom prst="rect">
            <a:avLst/>
          </a:prstGeom>
          <a:solidFill>
            <a:srgbClr val="C2352F"/>
          </a:solidFill>
          <a:ln/>
        </p:spPr>
      </p:sp>
      <p:sp>
        <p:nvSpPr>
          <p:cNvPr id="32" name="Text 30"/>
          <p:cNvSpPr txBox="1"/>
          <p:nvPr/>
        </p:nvSpPr>
        <p:spPr>
          <a:xfrm>
            <a:off x="4855464" y="358552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7.0%</a:t>
            </a:r>
            <a:endParaRPr lang="en-US" sz="1300" dirty="0"/>
          </a:p>
        </p:txBody>
      </p:sp>
      <p:sp>
        <p:nvSpPr>
          <p:cNvPr id="33" name="Text 31"/>
          <p:cNvSpPr txBox="1"/>
          <p:nvPr/>
        </p:nvSpPr>
        <p:spPr>
          <a:xfrm>
            <a:off x="658368" y="382111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34" name="Shape 32"/>
          <p:cNvSpPr/>
          <p:nvPr/>
        </p:nvSpPr>
        <p:spPr>
          <a:xfrm>
            <a:off x="2971800" y="3880014"/>
            <a:ext cx="853635" cy="117796"/>
          </a:xfrm>
          <a:prstGeom prst="rect">
            <a:avLst/>
          </a:prstGeom>
          <a:solidFill>
            <a:srgbClr val="C2352F"/>
          </a:solidFill>
          <a:ln/>
        </p:spPr>
      </p:sp>
      <p:sp>
        <p:nvSpPr>
          <p:cNvPr id="35" name="Text 33"/>
          <p:cNvSpPr txBox="1"/>
          <p:nvPr/>
        </p:nvSpPr>
        <p:spPr>
          <a:xfrm>
            <a:off x="4855464" y="3821116"/>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6.4%</a:t>
            </a:r>
            <a:endParaRPr lang="en-US" sz="1300" dirty="0"/>
          </a:p>
        </p:txBody>
      </p:sp>
      <p:sp>
        <p:nvSpPr>
          <p:cNvPr id="36" name="Text 34"/>
          <p:cNvSpPr txBox="1"/>
          <p:nvPr/>
        </p:nvSpPr>
        <p:spPr>
          <a:xfrm>
            <a:off x="658368" y="405670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37" name="Shape 35"/>
          <p:cNvSpPr/>
          <p:nvPr/>
        </p:nvSpPr>
        <p:spPr>
          <a:xfrm>
            <a:off x="2971800" y="4115607"/>
            <a:ext cx="793338" cy="117796"/>
          </a:xfrm>
          <a:prstGeom prst="rect">
            <a:avLst/>
          </a:prstGeom>
          <a:solidFill>
            <a:srgbClr val="C2352F"/>
          </a:solidFill>
          <a:ln/>
        </p:spPr>
      </p:sp>
      <p:sp>
        <p:nvSpPr>
          <p:cNvPr id="38" name="Text 36"/>
          <p:cNvSpPr txBox="1"/>
          <p:nvPr/>
        </p:nvSpPr>
        <p:spPr>
          <a:xfrm>
            <a:off x="4855464" y="4056709"/>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6.0%</a:t>
            </a:r>
            <a:endParaRPr lang="en-US" sz="1300" dirty="0"/>
          </a:p>
        </p:txBody>
      </p:sp>
      <p:sp>
        <p:nvSpPr>
          <p:cNvPr id="39" name="Text 37"/>
          <p:cNvSpPr txBox="1"/>
          <p:nvPr/>
        </p:nvSpPr>
        <p:spPr>
          <a:xfrm>
            <a:off x="658368" y="429230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40" name="Shape 38"/>
          <p:cNvSpPr/>
          <p:nvPr/>
        </p:nvSpPr>
        <p:spPr>
          <a:xfrm>
            <a:off x="2971800" y="4351199"/>
            <a:ext cx="776817" cy="117796"/>
          </a:xfrm>
          <a:prstGeom prst="rect">
            <a:avLst/>
          </a:prstGeom>
          <a:solidFill>
            <a:srgbClr val="C2352F"/>
          </a:solidFill>
          <a:ln/>
        </p:spPr>
      </p:sp>
      <p:sp>
        <p:nvSpPr>
          <p:cNvPr id="41" name="Text 39"/>
          <p:cNvSpPr txBox="1"/>
          <p:nvPr/>
        </p:nvSpPr>
        <p:spPr>
          <a:xfrm>
            <a:off x="4855464" y="4292301"/>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5.8%</a:t>
            </a:r>
            <a:endParaRPr lang="en-US" sz="1300" dirty="0"/>
          </a:p>
        </p:txBody>
      </p:sp>
      <p:sp>
        <p:nvSpPr>
          <p:cNvPr id="42" name="Text 40"/>
          <p:cNvSpPr txBox="1"/>
          <p:nvPr/>
        </p:nvSpPr>
        <p:spPr>
          <a:xfrm>
            <a:off x="658368" y="452789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43" name="Shape 41"/>
          <p:cNvSpPr/>
          <p:nvPr/>
        </p:nvSpPr>
        <p:spPr>
          <a:xfrm>
            <a:off x="2971800" y="4586792"/>
            <a:ext cx="769887" cy="117796"/>
          </a:xfrm>
          <a:prstGeom prst="rect">
            <a:avLst/>
          </a:prstGeom>
          <a:solidFill>
            <a:srgbClr val="C2352F"/>
          </a:solidFill>
          <a:ln/>
        </p:spPr>
      </p:sp>
      <p:sp>
        <p:nvSpPr>
          <p:cNvPr id="44" name="Text 42"/>
          <p:cNvSpPr txBox="1"/>
          <p:nvPr/>
        </p:nvSpPr>
        <p:spPr>
          <a:xfrm>
            <a:off x="4855464" y="452789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5.8%</a:t>
            </a:r>
            <a:endParaRPr lang="en-US" sz="1300" dirty="0"/>
          </a:p>
        </p:txBody>
      </p:sp>
      <p:sp>
        <p:nvSpPr>
          <p:cNvPr id="45" name="Shape 43"/>
          <p:cNvSpPr/>
          <p:nvPr/>
        </p:nvSpPr>
        <p:spPr>
          <a:xfrm>
            <a:off x="585216" y="4758914"/>
            <a:ext cx="5413248" cy="226448"/>
          </a:xfrm>
          <a:prstGeom prst="rect">
            <a:avLst/>
          </a:prstGeom>
          <a:solidFill>
            <a:srgbClr val="EDF4FA"/>
          </a:solidFill>
          <a:ln/>
        </p:spPr>
      </p:sp>
      <p:sp>
        <p:nvSpPr>
          <p:cNvPr id="46" name="Text 44"/>
          <p:cNvSpPr txBox="1"/>
          <p:nvPr/>
        </p:nvSpPr>
        <p:spPr>
          <a:xfrm>
            <a:off x="658368" y="4763486"/>
            <a:ext cx="2240280" cy="235592"/>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GROUP</a:t>
            </a:r>
            <a:endParaRPr lang="en-US" sz="1300" dirty="0"/>
          </a:p>
        </p:txBody>
      </p:sp>
      <p:sp>
        <p:nvSpPr>
          <p:cNvPr id="47" name="Shape 45"/>
          <p:cNvSpPr/>
          <p:nvPr/>
        </p:nvSpPr>
        <p:spPr>
          <a:xfrm>
            <a:off x="2971800" y="4822384"/>
            <a:ext cx="766773" cy="117796"/>
          </a:xfrm>
          <a:prstGeom prst="rect">
            <a:avLst/>
          </a:prstGeom>
          <a:solidFill>
            <a:srgbClr val="0B2C4A"/>
          </a:solidFill>
          <a:ln/>
        </p:spPr>
      </p:sp>
      <p:sp>
        <p:nvSpPr>
          <p:cNvPr id="48" name="Text 46"/>
          <p:cNvSpPr txBox="1"/>
          <p:nvPr/>
        </p:nvSpPr>
        <p:spPr>
          <a:xfrm>
            <a:off x="4855464" y="4763486"/>
            <a:ext cx="1088136" cy="23559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5.8%</a:t>
            </a:r>
            <a:endParaRPr lang="en-US" sz="1300" dirty="0"/>
          </a:p>
        </p:txBody>
      </p:sp>
      <p:sp>
        <p:nvSpPr>
          <p:cNvPr id="49" name="Text 47"/>
          <p:cNvSpPr txBox="1"/>
          <p:nvPr/>
        </p:nvSpPr>
        <p:spPr>
          <a:xfrm>
            <a:off x="658368" y="499907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50" name="Shape 48"/>
          <p:cNvSpPr/>
          <p:nvPr/>
        </p:nvSpPr>
        <p:spPr>
          <a:xfrm>
            <a:off x="2971800" y="5057977"/>
            <a:ext cx="729043" cy="117796"/>
          </a:xfrm>
          <a:prstGeom prst="rect">
            <a:avLst/>
          </a:prstGeom>
          <a:solidFill>
            <a:srgbClr val="C2352F"/>
          </a:solidFill>
          <a:ln/>
        </p:spPr>
      </p:sp>
      <p:sp>
        <p:nvSpPr>
          <p:cNvPr id="51" name="Text 49"/>
          <p:cNvSpPr txBox="1"/>
          <p:nvPr/>
        </p:nvSpPr>
        <p:spPr>
          <a:xfrm>
            <a:off x="4855464" y="4999079"/>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5.5%</a:t>
            </a:r>
            <a:endParaRPr lang="en-US" sz="1300" dirty="0"/>
          </a:p>
        </p:txBody>
      </p:sp>
      <p:sp>
        <p:nvSpPr>
          <p:cNvPr id="52" name="Text 50"/>
          <p:cNvSpPr txBox="1"/>
          <p:nvPr/>
        </p:nvSpPr>
        <p:spPr>
          <a:xfrm>
            <a:off x="658368" y="523467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53" name="Shape 51"/>
          <p:cNvSpPr/>
          <p:nvPr/>
        </p:nvSpPr>
        <p:spPr>
          <a:xfrm>
            <a:off x="2971800" y="5293569"/>
            <a:ext cx="693444" cy="117796"/>
          </a:xfrm>
          <a:prstGeom prst="rect">
            <a:avLst/>
          </a:prstGeom>
          <a:solidFill>
            <a:srgbClr val="C2352F"/>
          </a:solidFill>
          <a:ln/>
        </p:spPr>
      </p:sp>
      <p:sp>
        <p:nvSpPr>
          <p:cNvPr id="54" name="Text 52"/>
          <p:cNvSpPr txBox="1"/>
          <p:nvPr/>
        </p:nvSpPr>
        <p:spPr>
          <a:xfrm>
            <a:off x="4855464" y="5234671"/>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5.2%</a:t>
            </a:r>
            <a:endParaRPr lang="en-US" sz="1300" dirty="0"/>
          </a:p>
        </p:txBody>
      </p:sp>
      <p:sp>
        <p:nvSpPr>
          <p:cNvPr id="55" name="Text 53"/>
          <p:cNvSpPr txBox="1"/>
          <p:nvPr/>
        </p:nvSpPr>
        <p:spPr>
          <a:xfrm>
            <a:off x="658368" y="547026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56" name="Shape 54"/>
          <p:cNvSpPr/>
          <p:nvPr/>
        </p:nvSpPr>
        <p:spPr>
          <a:xfrm>
            <a:off x="2971800" y="5529162"/>
            <a:ext cx="687975" cy="117796"/>
          </a:xfrm>
          <a:prstGeom prst="rect">
            <a:avLst/>
          </a:prstGeom>
          <a:solidFill>
            <a:srgbClr val="C2352F"/>
          </a:solidFill>
          <a:ln/>
        </p:spPr>
      </p:sp>
      <p:sp>
        <p:nvSpPr>
          <p:cNvPr id="57" name="Text 55"/>
          <p:cNvSpPr txBox="1"/>
          <p:nvPr/>
        </p:nvSpPr>
        <p:spPr>
          <a:xfrm>
            <a:off x="4855464" y="547026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5.2%</a:t>
            </a:r>
            <a:endParaRPr lang="en-US" sz="1300" dirty="0"/>
          </a:p>
        </p:txBody>
      </p:sp>
      <p:sp>
        <p:nvSpPr>
          <p:cNvPr id="58" name="Text 56"/>
          <p:cNvSpPr txBox="1"/>
          <p:nvPr/>
        </p:nvSpPr>
        <p:spPr>
          <a:xfrm>
            <a:off x="6208776" y="170078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59" name="Shape 57"/>
          <p:cNvSpPr/>
          <p:nvPr/>
        </p:nvSpPr>
        <p:spPr>
          <a:xfrm>
            <a:off x="8522208" y="1759682"/>
            <a:ext cx="674627" cy="117796"/>
          </a:xfrm>
          <a:prstGeom prst="rect">
            <a:avLst/>
          </a:prstGeom>
          <a:solidFill>
            <a:srgbClr val="C2352F"/>
          </a:solidFill>
          <a:ln/>
        </p:spPr>
      </p:sp>
      <p:sp>
        <p:nvSpPr>
          <p:cNvPr id="60" name="Text 58"/>
          <p:cNvSpPr txBox="1"/>
          <p:nvPr/>
        </p:nvSpPr>
        <p:spPr>
          <a:xfrm>
            <a:off x="10405872" y="170078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5.1%</a:t>
            </a:r>
            <a:endParaRPr lang="en-US" sz="1300" dirty="0"/>
          </a:p>
        </p:txBody>
      </p:sp>
      <p:sp>
        <p:nvSpPr>
          <p:cNvPr id="61" name="Text 59"/>
          <p:cNvSpPr txBox="1"/>
          <p:nvPr/>
        </p:nvSpPr>
        <p:spPr>
          <a:xfrm>
            <a:off x="6208776" y="193637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62" name="Shape 60"/>
          <p:cNvSpPr/>
          <p:nvPr/>
        </p:nvSpPr>
        <p:spPr>
          <a:xfrm>
            <a:off x="8522208" y="1995275"/>
            <a:ext cx="604069" cy="117796"/>
          </a:xfrm>
          <a:prstGeom prst="rect">
            <a:avLst/>
          </a:prstGeom>
          <a:solidFill>
            <a:srgbClr val="C2352F"/>
          </a:solidFill>
          <a:ln/>
        </p:spPr>
      </p:sp>
      <p:sp>
        <p:nvSpPr>
          <p:cNvPr id="63" name="Text 61"/>
          <p:cNvSpPr txBox="1"/>
          <p:nvPr/>
        </p:nvSpPr>
        <p:spPr>
          <a:xfrm>
            <a:off x="10405872" y="1936376"/>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4.5%</a:t>
            </a:r>
            <a:endParaRPr lang="en-US" sz="1300" dirty="0"/>
          </a:p>
        </p:txBody>
      </p:sp>
      <p:sp>
        <p:nvSpPr>
          <p:cNvPr id="64" name="Text 62"/>
          <p:cNvSpPr txBox="1"/>
          <p:nvPr/>
        </p:nvSpPr>
        <p:spPr>
          <a:xfrm>
            <a:off x="6208776" y="217196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65" name="Shape 63"/>
          <p:cNvSpPr/>
          <p:nvPr/>
        </p:nvSpPr>
        <p:spPr>
          <a:xfrm>
            <a:off x="8522208" y="2230867"/>
            <a:ext cx="566751" cy="117796"/>
          </a:xfrm>
          <a:prstGeom prst="rect">
            <a:avLst/>
          </a:prstGeom>
          <a:solidFill>
            <a:srgbClr val="C2352F"/>
          </a:solidFill>
          <a:ln/>
        </p:spPr>
      </p:sp>
      <p:sp>
        <p:nvSpPr>
          <p:cNvPr id="66" name="Text 64"/>
          <p:cNvSpPr txBox="1"/>
          <p:nvPr/>
        </p:nvSpPr>
        <p:spPr>
          <a:xfrm>
            <a:off x="10405872" y="2171969"/>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4.2%</a:t>
            </a:r>
            <a:endParaRPr lang="en-US" sz="1300" dirty="0"/>
          </a:p>
        </p:txBody>
      </p:sp>
      <p:sp>
        <p:nvSpPr>
          <p:cNvPr id="67" name="Text 65"/>
          <p:cNvSpPr txBox="1"/>
          <p:nvPr/>
        </p:nvSpPr>
        <p:spPr>
          <a:xfrm>
            <a:off x="6208776" y="240756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68" name="Shape 66"/>
          <p:cNvSpPr/>
          <p:nvPr/>
        </p:nvSpPr>
        <p:spPr>
          <a:xfrm>
            <a:off x="8522208" y="2466460"/>
            <a:ext cx="553007" cy="117796"/>
          </a:xfrm>
          <a:prstGeom prst="rect">
            <a:avLst/>
          </a:prstGeom>
          <a:solidFill>
            <a:srgbClr val="C2352F"/>
          </a:solidFill>
          <a:ln/>
        </p:spPr>
      </p:sp>
      <p:sp>
        <p:nvSpPr>
          <p:cNvPr id="69" name="Text 67"/>
          <p:cNvSpPr txBox="1"/>
          <p:nvPr/>
        </p:nvSpPr>
        <p:spPr>
          <a:xfrm>
            <a:off x="10405872" y="2407561"/>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4.1%</a:t>
            </a:r>
            <a:endParaRPr lang="en-US" sz="1300" dirty="0"/>
          </a:p>
        </p:txBody>
      </p:sp>
      <p:sp>
        <p:nvSpPr>
          <p:cNvPr id="70" name="Text 68"/>
          <p:cNvSpPr txBox="1"/>
          <p:nvPr/>
        </p:nvSpPr>
        <p:spPr>
          <a:xfrm>
            <a:off x="6208776" y="264315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71" name="Shape 69"/>
          <p:cNvSpPr/>
          <p:nvPr/>
        </p:nvSpPr>
        <p:spPr>
          <a:xfrm>
            <a:off x="8522208" y="2702052"/>
            <a:ext cx="480291" cy="117796"/>
          </a:xfrm>
          <a:prstGeom prst="rect">
            <a:avLst/>
          </a:prstGeom>
          <a:solidFill>
            <a:srgbClr val="C2352F"/>
          </a:solidFill>
          <a:ln/>
        </p:spPr>
      </p:sp>
      <p:sp>
        <p:nvSpPr>
          <p:cNvPr id="72" name="Text 70"/>
          <p:cNvSpPr txBox="1"/>
          <p:nvPr/>
        </p:nvSpPr>
        <p:spPr>
          <a:xfrm>
            <a:off x="10405872" y="264315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3.6%</a:t>
            </a:r>
            <a:endParaRPr lang="en-US" sz="1300" dirty="0"/>
          </a:p>
        </p:txBody>
      </p:sp>
      <p:sp>
        <p:nvSpPr>
          <p:cNvPr id="73" name="Text 71"/>
          <p:cNvSpPr txBox="1"/>
          <p:nvPr/>
        </p:nvSpPr>
        <p:spPr>
          <a:xfrm>
            <a:off x="6208776" y="287874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74" name="Shape 72"/>
          <p:cNvSpPr/>
          <p:nvPr/>
        </p:nvSpPr>
        <p:spPr>
          <a:xfrm>
            <a:off x="8522208" y="2937644"/>
            <a:ext cx="425901" cy="117796"/>
          </a:xfrm>
          <a:prstGeom prst="rect">
            <a:avLst/>
          </a:prstGeom>
          <a:solidFill>
            <a:srgbClr val="C2352F"/>
          </a:solidFill>
          <a:ln/>
        </p:spPr>
      </p:sp>
      <p:sp>
        <p:nvSpPr>
          <p:cNvPr id="75" name="Text 73"/>
          <p:cNvSpPr txBox="1"/>
          <p:nvPr/>
        </p:nvSpPr>
        <p:spPr>
          <a:xfrm>
            <a:off x="10405872" y="2878746"/>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3.2%</a:t>
            </a:r>
            <a:endParaRPr lang="en-US" sz="1300" dirty="0"/>
          </a:p>
        </p:txBody>
      </p:sp>
      <p:sp>
        <p:nvSpPr>
          <p:cNvPr id="76" name="Text 74"/>
          <p:cNvSpPr txBox="1"/>
          <p:nvPr/>
        </p:nvSpPr>
        <p:spPr>
          <a:xfrm>
            <a:off x="6208776" y="311433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77" name="Shape 75"/>
          <p:cNvSpPr/>
          <p:nvPr/>
        </p:nvSpPr>
        <p:spPr>
          <a:xfrm>
            <a:off x="8522208" y="3173237"/>
            <a:ext cx="425420" cy="117796"/>
          </a:xfrm>
          <a:prstGeom prst="rect">
            <a:avLst/>
          </a:prstGeom>
          <a:solidFill>
            <a:srgbClr val="C2352F"/>
          </a:solidFill>
          <a:ln/>
        </p:spPr>
      </p:sp>
      <p:sp>
        <p:nvSpPr>
          <p:cNvPr id="78" name="Text 76"/>
          <p:cNvSpPr txBox="1"/>
          <p:nvPr/>
        </p:nvSpPr>
        <p:spPr>
          <a:xfrm>
            <a:off x="10405872" y="3114339"/>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3.2%</a:t>
            </a:r>
            <a:endParaRPr lang="en-US" sz="1300" dirty="0"/>
          </a:p>
        </p:txBody>
      </p:sp>
      <p:sp>
        <p:nvSpPr>
          <p:cNvPr id="79" name="Text 77"/>
          <p:cNvSpPr txBox="1"/>
          <p:nvPr/>
        </p:nvSpPr>
        <p:spPr>
          <a:xfrm>
            <a:off x="6208776" y="334993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80" name="Shape 78"/>
          <p:cNvSpPr/>
          <p:nvPr/>
        </p:nvSpPr>
        <p:spPr>
          <a:xfrm>
            <a:off x="8522208" y="3408829"/>
            <a:ext cx="396817" cy="117796"/>
          </a:xfrm>
          <a:prstGeom prst="rect">
            <a:avLst/>
          </a:prstGeom>
          <a:solidFill>
            <a:srgbClr val="C2352F"/>
          </a:solidFill>
          <a:ln/>
        </p:spPr>
      </p:sp>
      <p:sp>
        <p:nvSpPr>
          <p:cNvPr id="81" name="Text 79"/>
          <p:cNvSpPr txBox="1"/>
          <p:nvPr/>
        </p:nvSpPr>
        <p:spPr>
          <a:xfrm>
            <a:off x="10405872" y="3349931"/>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3.0%</a:t>
            </a:r>
            <a:endParaRPr lang="en-US" sz="1300" dirty="0"/>
          </a:p>
        </p:txBody>
      </p:sp>
      <p:sp>
        <p:nvSpPr>
          <p:cNvPr id="82" name="Text 80"/>
          <p:cNvSpPr txBox="1"/>
          <p:nvPr/>
        </p:nvSpPr>
        <p:spPr>
          <a:xfrm>
            <a:off x="6208776" y="358552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83" name="Shape 81"/>
          <p:cNvSpPr/>
          <p:nvPr/>
        </p:nvSpPr>
        <p:spPr>
          <a:xfrm>
            <a:off x="8522208" y="3644422"/>
            <a:ext cx="362121" cy="117796"/>
          </a:xfrm>
          <a:prstGeom prst="rect">
            <a:avLst/>
          </a:prstGeom>
          <a:solidFill>
            <a:srgbClr val="C2352F"/>
          </a:solidFill>
          <a:ln/>
        </p:spPr>
      </p:sp>
      <p:sp>
        <p:nvSpPr>
          <p:cNvPr id="84" name="Text 82"/>
          <p:cNvSpPr txBox="1"/>
          <p:nvPr/>
        </p:nvSpPr>
        <p:spPr>
          <a:xfrm>
            <a:off x="10405872" y="358552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2.7%</a:t>
            </a:r>
            <a:endParaRPr lang="en-US" sz="1300" dirty="0"/>
          </a:p>
        </p:txBody>
      </p:sp>
      <p:sp>
        <p:nvSpPr>
          <p:cNvPr id="85" name="Text 83"/>
          <p:cNvSpPr txBox="1"/>
          <p:nvPr/>
        </p:nvSpPr>
        <p:spPr>
          <a:xfrm>
            <a:off x="6208776" y="382111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86" name="Shape 84"/>
          <p:cNvSpPr/>
          <p:nvPr/>
        </p:nvSpPr>
        <p:spPr>
          <a:xfrm>
            <a:off x="8522208" y="3880014"/>
            <a:ext cx="357846" cy="117796"/>
          </a:xfrm>
          <a:prstGeom prst="rect">
            <a:avLst/>
          </a:prstGeom>
          <a:solidFill>
            <a:srgbClr val="C2352F"/>
          </a:solidFill>
          <a:ln/>
        </p:spPr>
      </p:sp>
      <p:sp>
        <p:nvSpPr>
          <p:cNvPr id="87" name="Text 85"/>
          <p:cNvSpPr txBox="1"/>
          <p:nvPr/>
        </p:nvSpPr>
        <p:spPr>
          <a:xfrm>
            <a:off x="10405872" y="3821116"/>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2.7%</a:t>
            </a:r>
            <a:endParaRPr lang="en-US" sz="1300" dirty="0"/>
          </a:p>
        </p:txBody>
      </p:sp>
      <p:sp>
        <p:nvSpPr>
          <p:cNvPr id="88" name="Text 86"/>
          <p:cNvSpPr txBox="1"/>
          <p:nvPr/>
        </p:nvSpPr>
        <p:spPr>
          <a:xfrm>
            <a:off x="6208776" y="405670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89" name="Shape 87"/>
          <p:cNvSpPr/>
          <p:nvPr/>
        </p:nvSpPr>
        <p:spPr>
          <a:xfrm>
            <a:off x="8522208" y="4115607"/>
            <a:ext cx="338830" cy="117796"/>
          </a:xfrm>
          <a:prstGeom prst="rect">
            <a:avLst/>
          </a:prstGeom>
          <a:solidFill>
            <a:srgbClr val="C2352F"/>
          </a:solidFill>
          <a:ln/>
        </p:spPr>
      </p:sp>
      <p:sp>
        <p:nvSpPr>
          <p:cNvPr id="90" name="Text 88"/>
          <p:cNvSpPr txBox="1"/>
          <p:nvPr/>
        </p:nvSpPr>
        <p:spPr>
          <a:xfrm>
            <a:off x="10405872" y="4056709"/>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2.5%</a:t>
            </a:r>
            <a:endParaRPr lang="en-US" sz="1300" dirty="0"/>
          </a:p>
        </p:txBody>
      </p:sp>
      <p:sp>
        <p:nvSpPr>
          <p:cNvPr id="91" name="Text 89"/>
          <p:cNvSpPr txBox="1"/>
          <p:nvPr/>
        </p:nvSpPr>
        <p:spPr>
          <a:xfrm>
            <a:off x="6208776" y="429230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92" name="Shape 90"/>
          <p:cNvSpPr/>
          <p:nvPr/>
        </p:nvSpPr>
        <p:spPr>
          <a:xfrm>
            <a:off x="8522208" y="4351199"/>
            <a:ext cx="223282" cy="117796"/>
          </a:xfrm>
          <a:prstGeom prst="rect">
            <a:avLst/>
          </a:prstGeom>
          <a:solidFill>
            <a:srgbClr val="C2352F"/>
          </a:solidFill>
          <a:ln/>
        </p:spPr>
      </p:sp>
      <p:sp>
        <p:nvSpPr>
          <p:cNvPr id="93" name="Text 91"/>
          <p:cNvSpPr txBox="1"/>
          <p:nvPr/>
        </p:nvSpPr>
        <p:spPr>
          <a:xfrm>
            <a:off x="10405872" y="4292301"/>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1.6%</a:t>
            </a:r>
            <a:endParaRPr lang="en-US" sz="1300" dirty="0"/>
          </a:p>
        </p:txBody>
      </p:sp>
      <p:sp>
        <p:nvSpPr>
          <p:cNvPr id="94" name="Text 92"/>
          <p:cNvSpPr txBox="1"/>
          <p:nvPr/>
        </p:nvSpPr>
        <p:spPr>
          <a:xfrm>
            <a:off x="6208776" y="452789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95" name="Shape 93"/>
          <p:cNvSpPr/>
          <p:nvPr/>
        </p:nvSpPr>
        <p:spPr>
          <a:xfrm>
            <a:off x="8522208" y="4586792"/>
            <a:ext cx="109015" cy="117796"/>
          </a:xfrm>
          <a:prstGeom prst="rect">
            <a:avLst/>
          </a:prstGeom>
          <a:solidFill>
            <a:srgbClr val="C2352F"/>
          </a:solidFill>
          <a:ln/>
        </p:spPr>
      </p:sp>
      <p:sp>
        <p:nvSpPr>
          <p:cNvPr id="96" name="Text 94"/>
          <p:cNvSpPr txBox="1"/>
          <p:nvPr/>
        </p:nvSpPr>
        <p:spPr>
          <a:xfrm>
            <a:off x="10405872" y="452789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0.8%</a:t>
            </a:r>
            <a:endParaRPr lang="en-US" sz="1300" dirty="0"/>
          </a:p>
        </p:txBody>
      </p:sp>
      <p:sp>
        <p:nvSpPr>
          <p:cNvPr id="97" name="Text 95"/>
          <p:cNvSpPr txBox="1"/>
          <p:nvPr/>
        </p:nvSpPr>
        <p:spPr>
          <a:xfrm>
            <a:off x="6208776" y="476348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98" name="Shape 96"/>
          <p:cNvSpPr/>
          <p:nvPr/>
        </p:nvSpPr>
        <p:spPr>
          <a:xfrm>
            <a:off x="8522208" y="4822384"/>
            <a:ext cx="95030" cy="117796"/>
          </a:xfrm>
          <a:prstGeom prst="rect">
            <a:avLst/>
          </a:prstGeom>
          <a:solidFill>
            <a:srgbClr val="C2352F"/>
          </a:solidFill>
          <a:ln/>
        </p:spPr>
      </p:sp>
      <p:sp>
        <p:nvSpPr>
          <p:cNvPr id="99" name="Text 97"/>
          <p:cNvSpPr txBox="1"/>
          <p:nvPr/>
        </p:nvSpPr>
        <p:spPr>
          <a:xfrm>
            <a:off x="10405872" y="4763486"/>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0.7%</a:t>
            </a:r>
            <a:endParaRPr lang="en-US" sz="1300" dirty="0"/>
          </a:p>
        </p:txBody>
      </p:sp>
      <p:sp>
        <p:nvSpPr>
          <p:cNvPr id="100" name="Text 98"/>
          <p:cNvSpPr txBox="1"/>
          <p:nvPr/>
        </p:nvSpPr>
        <p:spPr>
          <a:xfrm>
            <a:off x="6208776" y="499907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101" name="Shape 99"/>
          <p:cNvSpPr/>
          <p:nvPr/>
        </p:nvSpPr>
        <p:spPr>
          <a:xfrm>
            <a:off x="8522208" y="5057977"/>
            <a:ext cx="18288" cy="117796"/>
          </a:xfrm>
          <a:prstGeom prst="rect">
            <a:avLst/>
          </a:prstGeom>
          <a:solidFill>
            <a:srgbClr val="C2352F"/>
          </a:solidFill>
          <a:ln/>
        </p:spPr>
      </p:sp>
      <p:sp>
        <p:nvSpPr>
          <p:cNvPr id="102" name="Text 100"/>
          <p:cNvSpPr txBox="1"/>
          <p:nvPr/>
        </p:nvSpPr>
        <p:spPr>
          <a:xfrm>
            <a:off x="10405872" y="4999079"/>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0.0%</a:t>
            </a:r>
            <a:endParaRPr lang="en-US" sz="1300" dirty="0"/>
          </a:p>
        </p:txBody>
      </p:sp>
      <p:sp>
        <p:nvSpPr>
          <p:cNvPr id="103" name="Text 101"/>
          <p:cNvSpPr txBox="1"/>
          <p:nvPr/>
        </p:nvSpPr>
        <p:spPr>
          <a:xfrm>
            <a:off x="6208776" y="523467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104" name="Shape 102"/>
          <p:cNvSpPr/>
          <p:nvPr/>
        </p:nvSpPr>
        <p:spPr>
          <a:xfrm>
            <a:off x="8522208" y="5293569"/>
            <a:ext cx="18288" cy="117796"/>
          </a:xfrm>
          <a:prstGeom prst="rect">
            <a:avLst/>
          </a:prstGeom>
          <a:solidFill>
            <a:srgbClr val="C2352F"/>
          </a:solidFill>
          <a:ln/>
        </p:spPr>
      </p:sp>
      <p:sp>
        <p:nvSpPr>
          <p:cNvPr id="105" name="Text 103"/>
          <p:cNvSpPr txBox="1"/>
          <p:nvPr/>
        </p:nvSpPr>
        <p:spPr>
          <a:xfrm>
            <a:off x="10405872" y="5234671"/>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0.0%</a:t>
            </a:r>
            <a:endParaRPr lang="en-US" sz="1300" dirty="0"/>
          </a:p>
        </p:txBody>
      </p:sp>
      <p:sp>
        <p:nvSpPr>
          <p:cNvPr id="106" name="Text 104"/>
          <p:cNvSpPr txBox="1"/>
          <p:nvPr/>
        </p:nvSpPr>
        <p:spPr>
          <a:xfrm>
            <a:off x="6208776" y="547026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107" name="Shape 105"/>
          <p:cNvSpPr/>
          <p:nvPr/>
        </p:nvSpPr>
        <p:spPr>
          <a:xfrm>
            <a:off x="8522208" y="5529162"/>
            <a:ext cx="18288" cy="117796"/>
          </a:xfrm>
          <a:prstGeom prst="rect">
            <a:avLst/>
          </a:prstGeom>
          <a:solidFill>
            <a:srgbClr val="C2352F"/>
          </a:solidFill>
          <a:ln/>
        </p:spPr>
      </p:sp>
      <p:sp>
        <p:nvSpPr>
          <p:cNvPr id="108" name="Text 106"/>
          <p:cNvSpPr txBox="1"/>
          <p:nvPr/>
        </p:nvSpPr>
        <p:spPr>
          <a:xfrm>
            <a:off x="10405872" y="547026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0.0%</a:t>
            </a:r>
            <a:endParaRPr lang="en-US" sz="1300" dirty="0"/>
          </a:p>
        </p:txBody>
      </p:sp>
      <p:sp>
        <p:nvSpPr>
          <p:cNvPr id="109" name="Shape 107"/>
          <p:cNvSpPr/>
          <p:nvPr/>
        </p:nvSpPr>
        <p:spPr>
          <a:xfrm>
            <a:off x="3954926" y="1700784"/>
            <a:ext cx="14630" cy="4005072"/>
          </a:xfrm>
          <a:prstGeom prst="rect">
            <a:avLst/>
          </a:prstGeom>
          <a:solidFill>
            <a:srgbClr val="0B2C4A"/>
          </a:solidFill>
          <a:ln/>
        </p:spPr>
      </p:sp>
      <p:sp>
        <p:nvSpPr>
          <p:cNvPr id="110" name="Text 108"/>
          <p:cNvSpPr txBox="1"/>
          <p:nvPr/>
        </p:nvSpPr>
        <p:spPr>
          <a:xfrm>
            <a:off x="2590641" y="1316736"/>
            <a:ext cx="2743200" cy="292608"/>
          </a:xfrm>
          <a:prstGeom prst="rect">
            <a:avLst/>
          </a:prstGeom>
          <a:noFill/>
          <a:ln/>
        </p:spPr>
        <p:txBody>
          <a:bodyPr wrap="square" lIns="0" tIns="0" rIns="0" bIns="0" rtlCol="0" anchor="ctr"/>
          <a:lstStyle/>
          <a:p>
            <a:pPr algn="ctr" indent="0" marL="0">
              <a:buNone/>
            </a:pPr>
            <a:r>
              <a:rPr lang="en-US" sz="1400" b="1" spc="90" kern="0" dirty="0">
                <a:solidFill>
                  <a:srgbClr val="0B2C4A"/>
                </a:solidFill>
                <a:latin typeface="Inter" pitchFamily="34" charset="0"/>
                <a:ea typeface="Inter" pitchFamily="34" charset="-122"/>
                <a:cs typeface="Inter" pitchFamily="34" charset="-120"/>
              </a:rPr>
              <a:t>BENCHMARK 7.5%</a:t>
            </a:r>
            <a:endParaRPr lang="en-US" sz="1400" dirty="0"/>
          </a:p>
        </p:txBody>
      </p:sp>
      <p:sp>
        <p:nvSpPr>
          <p:cNvPr id="111" name="Shape 109"/>
          <p:cNvSpPr/>
          <p:nvPr/>
        </p:nvSpPr>
        <p:spPr>
          <a:xfrm>
            <a:off x="9505334" y="1700784"/>
            <a:ext cx="14630" cy="4005072"/>
          </a:xfrm>
          <a:prstGeom prst="rect">
            <a:avLst/>
          </a:prstGeom>
          <a:solidFill>
            <a:srgbClr val="0B2C4A"/>
          </a:solidFill>
          <a:ln/>
        </p:spPr>
      </p:sp>
      <p:sp>
        <p:nvSpPr>
          <p:cNvPr id="112" name="Text 110"/>
          <p:cNvSpPr txBox="1"/>
          <p:nvPr/>
        </p:nvSpPr>
        <p:spPr>
          <a:xfrm>
            <a:off x="8141049" y="1316736"/>
            <a:ext cx="2743200" cy="292608"/>
          </a:xfrm>
          <a:prstGeom prst="rect">
            <a:avLst/>
          </a:prstGeom>
          <a:noFill/>
          <a:ln/>
        </p:spPr>
        <p:txBody>
          <a:bodyPr wrap="square" lIns="0" tIns="0" rIns="0" bIns="0" rtlCol="0" anchor="ctr"/>
          <a:lstStyle/>
          <a:p>
            <a:pPr algn="ctr" indent="0" marL="0">
              <a:buNone/>
            </a:pPr>
            <a:r>
              <a:rPr lang="en-US" sz="1400" b="1" spc="90" kern="0" dirty="0">
                <a:solidFill>
                  <a:srgbClr val="0B2C4A"/>
                </a:solidFill>
                <a:latin typeface="Inter" pitchFamily="34" charset="0"/>
                <a:ea typeface="Inter" pitchFamily="34" charset="-122"/>
                <a:cs typeface="Inter" pitchFamily="34" charset="-120"/>
              </a:rPr>
              <a:t>BENCHMARK 7.5%</a:t>
            </a:r>
            <a:endParaRPr lang="en-US" sz="1400" dirty="0"/>
          </a:p>
        </p:txBody>
      </p:sp>
      <p:sp>
        <p:nvSpPr>
          <p:cNvPr id="113" name="Shape 111"/>
          <p:cNvSpPr/>
          <p:nvPr/>
        </p:nvSpPr>
        <p:spPr>
          <a:xfrm>
            <a:off x="457200" y="5961888"/>
            <a:ext cx="11274552" cy="548640"/>
          </a:xfrm>
          <a:prstGeom prst="rect">
            <a:avLst/>
          </a:prstGeom>
          <a:solidFill>
            <a:srgbClr val="EDF4FA"/>
          </a:solidFill>
          <a:ln/>
        </p:spPr>
      </p:sp>
      <p:sp>
        <p:nvSpPr>
          <p:cNvPr id="114" name="Text 112"/>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7 of 33 stores at or above 7.5%, led by SUBARU ST GEORGE at 13.8%. GROUP sits at 5.8%.</a:t>
            </a:r>
            <a:endParaRPr lang="en-US" sz="16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13232" y="2377440"/>
            <a:ext cx="9144000" cy="365760"/>
          </a:xfrm>
          <a:prstGeom prst="rect">
            <a:avLst/>
          </a:prstGeom>
          <a:noFill/>
          <a:ln/>
        </p:spPr>
        <p:txBody>
          <a:bodyPr wrap="square" lIns="0" tIns="0" rIns="0" bIns="0" rtlCol="0" anchor="ctr"/>
          <a:lstStyle/>
          <a:p>
            <a:pPr indent="0" marL="0">
              <a:buNone/>
            </a:pPr>
            <a:r>
              <a:rPr lang="en-US" sz="2000" b="1" spc="260" kern="0" dirty="0">
                <a:solidFill>
                  <a:srgbClr val="2587C5"/>
                </a:solidFill>
                <a:latin typeface="Inter" pitchFamily="34" charset="0"/>
                <a:ea typeface="Inter" pitchFamily="34" charset="-122"/>
                <a:cs typeface="Inter" pitchFamily="34" charset="-120"/>
              </a:rPr>
              <a:t>FIXED OPS</a:t>
            </a:r>
            <a:endParaRPr lang="en-US" sz="2000" dirty="0"/>
          </a:p>
        </p:txBody>
      </p:sp>
      <p:sp>
        <p:nvSpPr>
          <p:cNvPr id="3" name="Text 1"/>
          <p:cNvSpPr txBox="1"/>
          <p:nvPr/>
        </p:nvSpPr>
        <p:spPr>
          <a:xfrm>
            <a:off x="667512" y="2743200"/>
            <a:ext cx="10789920" cy="1234440"/>
          </a:xfrm>
          <a:prstGeom prst="rect">
            <a:avLst/>
          </a:prstGeom>
          <a:noFill/>
          <a:ln/>
        </p:spPr>
        <p:txBody>
          <a:bodyPr wrap="square" lIns="0" tIns="0" rIns="0" bIns="0" rtlCol="0" anchor="ctr"/>
          <a:lstStyle/>
          <a:p>
            <a:pPr indent="0" marL="0">
              <a:buNone/>
            </a:pPr>
            <a:r>
              <a:rPr lang="en-US" sz="8200" b="1" dirty="0">
                <a:solidFill>
                  <a:srgbClr val="1A1A1A"/>
                </a:solidFill>
                <a:latin typeface="Inter" pitchFamily="34" charset="0"/>
                <a:ea typeface="Inter" pitchFamily="34" charset="-122"/>
                <a:cs typeface="Inter" pitchFamily="34" charset="-120"/>
              </a:rPr>
              <a:t>Warranty &amp; Internal</a:t>
            </a:r>
            <a:endParaRPr lang="en-US" sz="8200" dirty="0"/>
          </a:p>
        </p:txBody>
      </p:sp>
      <p:sp>
        <p:nvSpPr>
          <p:cNvPr id="4" name="Text 2"/>
          <p:cNvSpPr txBox="1"/>
          <p:nvPr/>
        </p:nvSpPr>
        <p:spPr>
          <a:xfrm>
            <a:off x="694944" y="4041648"/>
            <a:ext cx="10789920" cy="411480"/>
          </a:xfrm>
          <a:prstGeom prst="rect">
            <a:avLst/>
          </a:prstGeom>
          <a:noFill/>
          <a:ln/>
        </p:spPr>
        <p:txBody>
          <a:bodyPr wrap="square" lIns="0" tIns="0" rIns="0" bIns="0" rtlCol="0" anchor="ctr"/>
          <a:lstStyle/>
          <a:p>
            <a:pPr indent="0" marL="0">
              <a:buNone/>
            </a:pPr>
            <a:r>
              <a:rPr lang="en-US" sz="2200" dirty="0">
                <a:solidFill>
                  <a:srgbClr val="595959"/>
                </a:solidFill>
                <a:latin typeface="Inter" pitchFamily="34" charset="0"/>
                <a:ea typeface="Inter" pitchFamily="34" charset="-122"/>
                <a:cs typeface="Inter" pitchFamily="34" charset="-120"/>
              </a:rPr>
              <a:t>Warranty ROs   ·   Warranty ELR   ·   Internal ELR</a:t>
            </a:r>
            <a:endParaRPr lang="en-US" sz="2200" dirty="0"/>
          </a:p>
        </p:txBody>
      </p:sp>
      <p:sp>
        <p:nvSpPr>
          <p:cNvPr id="5" name="Shape 3"/>
          <p:cNvSpPr/>
          <p:nvPr/>
        </p:nvSpPr>
        <p:spPr>
          <a:xfrm>
            <a:off x="685800" y="5257800"/>
            <a:ext cx="1340249" cy="45720"/>
          </a:xfrm>
          <a:prstGeom prst="rect">
            <a:avLst/>
          </a:prstGeom>
          <a:solidFill>
            <a:srgbClr val="5B9BD5"/>
          </a:solidFill>
          <a:ln/>
        </p:spPr>
      </p:sp>
      <p:sp>
        <p:nvSpPr>
          <p:cNvPr id="6" name="Text 4"/>
          <p:cNvSpPr txBox="1"/>
          <p:nvPr/>
        </p:nvSpPr>
        <p:spPr>
          <a:xfrm>
            <a:off x="685800"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Gross</a:t>
            </a:r>
            <a:endParaRPr lang="en-US" sz="1550" dirty="0"/>
          </a:p>
        </p:txBody>
      </p:sp>
      <p:sp>
        <p:nvSpPr>
          <p:cNvPr id="7" name="Shape 5"/>
          <p:cNvSpPr/>
          <p:nvPr/>
        </p:nvSpPr>
        <p:spPr>
          <a:xfrm>
            <a:off x="2227217" y="5257800"/>
            <a:ext cx="1340249" cy="45720"/>
          </a:xfrm>
          <a:prstGeom prst="rect">
            <a:avLst/>
          </a:prstGeom>
          <a:solidFill>
            <a:srgbClr val="5B9BD5"/>
          </a:solidFill>
          <a:ln/>
        </p:spPr>
      </p:sp>
      <p:sp>
        <p:nvSpPr>
          <p:cNvPr id="8" name="Text 6"/>
          <p:cNvSpPr txBox="1"/>
          <p:nvPr/>
        </p:nvSpPr>
        <p:spPr>
          <a:xfrm>
            <a:off x="2227217"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Profitability</a:t>
            </a:r>
            <a:endParaRPr lang="en-US" sz="1550" dirty="0"/>
          </a:p>
        </p:txBody>
      </p:sp>
      <p:sp>
        <p:nvSpPr>
          <p:cNvPr id="9" name="Shape 7"/>
          <p:cNvSpPr/>
          <p:nvPr/>
        </p:nvSpPr>
        <p:spPr>
          <a:xfrm>
            <a:off x="3768634" y="5257800"/>
            <a:ext cx="1340249" cy="45720"/>
          </a:xfrm>
          <a:prstGeom prst="rect">
            <a:avLst/>
          </a:prstGeom>
          <a:solidFill>
            <a:srgbClr val="5B9BD5"/>
          </a:solidFill>
          <a:ln/>
        </p:spPr>
      </p:sp>
      <p:sp>
        <p:nvSpPr>
          <p:cNvPr id="10" name="Text 8"/>
          <p:cNvSpPr txBox="1"/>
          <p:nvPr/>
        </p:nvSpPr>
        <p:spPr>
          <a:xfrm>
            <a:off x="3768634"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CP Engine</a:t>
            </a:r>
            <a:endParaRPr lang="en-US" sz="1550" dirty="0"/>
          </a:p>
        </p:txBody>
      </p:sp>
      <p:sp>
        <p:nvSpPr>
          <p:cNvPr id="11" name="Shape 9"/>
          <p:cNvSpPr/>
          <p:nvPr/>
        </p:nvSpPr>
        <p:spPr>
          <a:xfrm>
            <a:off x="5310051" y="5257800"/>
            <a:ext cx="1340249" cy="45720"/>
          </a:xfrm>
          <a:prstGeom prst="rect">
            <a:avLst/>
          </a:prstGeom>
          <a:solidFill>
            <a:srgbClr val="5B9BD5"/>
          </a:solidFill>
          <a:ln/>
        </p:spPr>
      </p:sp>
      <p:sp>
        <p:nvSpPr>
          <p:cNvPr id="12" name="Text 10"/>
          <p:cNvSpPr txBox="1"/>
          <p:nvPr/>
        </p:nvSpPr>
        <p:spPr>
          <a:xfrm>
            <a:off x="5310051"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Labor Mix</a:t>
            </a:r>
            <a:endParaRPr lang="en-US" sz="1550" dirty="0"/>
          </a:p>
        </p:txBody>
      </p:sp>
      <p:sp>
        <p:nvSpPr>
          <p:cNvPr id="13" name="Shape 11"/>
          <p:cNvSpPr/>
          <p:nvPr/>
        </p:nvSpPr>
        <p:spPr>
          <a:xfrm>
            <a:off x="6851469" y="5257800"/>
            <a:ext cx="1340249" cy="45720"/>
          </a:xfrm>
          <a:prstGeom prst="rect">
            <a:avLst/>
          </a:prstGeom>
          <a:solidFill>
            <a:srgbClr val="5B9BD5"/>
          </a:solidFill>
          <a:ln/>
        </p:spPr>
      </p:sp>
      <p:sp>
        <p:nvSpPr>
          <p:cNvPr id="14" name="Text 12"/>
          <p:cNvSpPr txBox="1"/>
          <p:nvPr/>
        </p:nvSpPr>
        <p:spPr>
          <a:xfrm>
            <a:off x="6851469"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Opcodes</a:t>
            </a:r>
            <a:endParaRPr lang="en-US" sz="1550" dirty="0"/>
          </a:p>
        </p:txBody>
      </p:sp>
      <p:sp>
        <p:nvSpPr>
          <p:cNvPr id="15" name="Shape 13"/>
          <p:cNvSpPr/>
          <p:nvPr/>
        </p:nvSpPr>
        <p:spPr>
          <a:xfrm>
            <a:off x="8392886" y="5257800"/>
            <a:ext cx="1340249" cy="91440"/>
          </a:xfrm>
          <a:prstGeom prst="rect">
            <a:avLst/>
          </a:prstGeom>
          <a:solidFill>
            <a:srgbClr val="2587C5"/>
          </a:solidFill>
          <a:ln/>
        </p:spPr>
      </p:sp>
      <p:sp>
        <p:nvSpPr>
          <p:cNvPr id="16" name="Text 14"/>
          <p:cNvSpPr txBox="1"/>
          <p:nvPr/>
        </p:nvSpPr>
        <p:spPr>
          <a:xfrm>
            <a:off x="8392886" y="5440680"/>
            <a:ext cx="1340249" cy="365760"/>
          </a:xfrm>
          <a:prstGeom prst="rect">
            <a:avLst/>
          </a:prstGeom>
          <a:noFill/>
          <a:ln/>
        </p:spPr>
        <p:txBody>
          <a:bodyPr wrap="square" lIns="0" tIns="0" rIns="0" bIns="0" rtlCol="0" anchor="ctr"/>
          <a:lstStyle/>
          <a:p>
            <a:pPr indent="0" marL="0">
              <a:buNone/>
            </a:pPr>
            <a:r>
              <a:rPr lang="en-US" sz="1550" b="1" dirty="0">
                <a:solidFill>
                  <a:srgbClr val="1A1A1A"/>
                </a:solidFill>
                <a:latin typeface="Inter" pitchFamily="34" charset="0"/>
                <a:ea typeface="Inter" pitchFamily="34" charset="-122"/>
                <a:cs typeface="Inter" pitchFamily="34" charset="-120"/>
              </a:rPr>
              <a:t>Warranty</a:t>
            </a:r>
            <a:endParaRPr lang="en-US" sz="1550" dirty="0"/>
          </a:p>
        </p:txBody>
      </p:sp>
      <p:sp>
        <p:nvSpPr>
          <p:cNvPr id="17" name="Shape 15"/>
          <p:cNvSpPr/>
          <p:nvPr/>
        </p:nvSpPr>
        <p:spPr>
          <a:xfrm>
            <a:off x="9934303" y="5257800"/>
            <a:ext cx="1340249" cy="45720"/>
          </a:xfrm>
          <a:prstGeom prst="rect">
            <a:avLst/>
          </a:prstGeom>
          <a:solidFill>
            <a:srgbClr val="D9D9D9"/>
          </a:solidFill>
          <a:ln/>
        </p:spPr>
      </p:sp>
      <p:sp>
        <p:nvSpPr>
          <p:cNvPr id="18" name="Text 16"/>
          <p:cNvSpPr txBox="1"/>
          <p:nvPr/>
        </p:nvSpPr>
        <p:spPr>
          <a:xfrm>
            <a:off x="9934303"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Productivity</a:t>
            </a:r>
            <a:endParaRPr lang="en-US" sz="15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WARRANTY &amp; INTERNAL</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Warranty RO Count</a:t>
            </a:r>
            <a:endParaRPr lang="en-US" sz="2800" dirty="0"/>
          </a:p>
        </p:txBody>
      </p:sp>
      <p:sp>
        <p:nvSpPr>
          <p:cNvPr id="5" name="Shape 3"/>
          <p:cNvSpPr/>
          <p:nvPr/>
        </p:nvSpPr>
        <p:spPr>
          <a:xfrm>
            <a:off x="457200" y="1207008"/>
            <a:ext cx="11274552" cy="1517904"/>
          </a:xfrm>
          <a:prstGeom prst="rect">
            <a:avLst/>
          </a:prstGeom>
          <a:solidFill>
            <a:srgbClr val="FFFFFF"/>
          </a:solidFill>
          <a:ln/>
        </p:spPr>
      </p:sp>
      <p:sp>
        <p:nvSpPr>
          <p:cNvPr id="6" name="Text 4"/>
          <p:cNvSpPr txBox="1"/>
          <p:nvPr/>
        </p:nvSpPr>
        <p:spPr>
          <a:xfrm>
            <a:off x="685800" y="1316736"/>
            <a:ext cx="10789920" cy="274320"/>
          </a:xfrm>
          <a:prstGeom prst="rect">
            <a:avLst/>
          </a:prstGeom>
          <a:noFill/>
          <a:ln/>
        </p:spPr>
        <p:txBody>
          <a:bodyPr wrap="square" lIns="0" tIns="0" rIns="0" bIns="0" rtlCol="0" anchor="ctr"/>
          <a:lstStyle/>
          <a:p>
            <a:pPr indent="0" marL="0">
              <a:buNone/>
            </a:pPr>
            <a:r>
              <a:rPr lang="en-US" sz="1400" spc="100" kern="0" dirty="0">
                <a:solidFill>
                  <a:srgbClr val="595959"/>
                </a:solidFill>
                <a:latin typeface="Inter" pitchFamily="34" charset="0"/>
                <a:ea typeface="Inter" pitchFamily="34" charset="-122"/>
                <a:cs typeface="Inter" pitchFamily="34" charset="-120"/>
              </a:rPr>
              <a:t>GROUP · JANUARY–SEPTEMBER · SAME-STORE, 33 STORES</a:t>
            </a:r>
            <a:endParaRPr lang="en-US" sz="1400" dirty="0"/>
          </a:p>
        </p:txBody>
      </p:sp>
      <p:sp>
        <p:nvSpPr>
          <p:cNvPr id="7" name="Text 5"/>
          <p:cNvSpPr txBox="1"/>
          <p:nvPr/>
        </p:nvSpPr>
        <p:spPr>
          <a:xfrm>
            <a:off x="68580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a:t>
            </a:r>
            <a:endParaRPr lang="en-US" sz="1400" dirty="0"/>
          </a:p>
        </p:txBody>
      </p:sp>
      <p:sp>
        <p:nvSpPr>
          <p:cNvPr id="8" name="Text 6"/>
          <p:cNvSpPr txBox="1"/>
          <p:nvPr/>
        </p:nvSpPr>
        <p:spPr>
          <a:xfrm>
            <a:off x="68580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135,764</a:t>
            </a:r>
            <a:endParaRPr lang="en-US" sz="3000" dirty="0"/>
          </a:p>
        </p:txBody>
      </p:sp>
      <p:sp>
        <p:nvSpPr>
          <p:cNvPr id="9" name="Text 7"/>
          <p:cNvSpPr txBox="1"/>
          <p:nvPr/>
        </p:nvSpPr>
        <p:spPr>
          <a:xfrm>
            <a:off x="347472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a:t>
            </a:r>
            <a:endParaRPr lang="en-US" sz="1400" dirty="0"/>
          </a:p>
        </p:txBody>
      </p:sp>
      <p:sp>
        <p:nvSpPr>
          <p:cNvPr id="10" name="Text 8"/>
          <p:cNvSpPr txBox="1"/>
          <p:nvPr/>
        </p:nvSpPr>
        <p:spPr>
          <a:xfrm>
            <a:off x="347472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126,891</a:t>
            </a:r>
            <a:endParaRPr lang="en-US" sz="3000" dirty="0"/>
          </a:p>
        </p:txBody>
      </p:sp>
      <p:sp>
        <p:nvSpPr>
          <p:cNvPr id="11" name="Text 9"/>
          <p:cNvSpPr txBox="1"/>
          <p:nvPr/>
        </p:nvSpPr>
        <p:spPr>
          <a:xfrm>
            <a:off x="626364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2" name="Text 10"/>
          <p:cNvSpPr txBox="1"/>
          <p:nvPr/>
        </p:nvSpPr>
        <p:spPr>
          <a:xfrm>
            <a:off x="6263640" y="1865376"/>
            <a:ext cx="2697480" cy="603504"/>
          </a:xfrm>
          <a:prstGeom prst="rect">
            <a:avLst/>
          </a:prstGeom>
          <a:noFill/>
          <a:ln/>
        </p:spPr>
        <p:txBody>
          <a:bodyPr wrap="square" lIns="0" tIns="0" rIns="0" bIns="0" rtlCol="0" anchor="ctr"/>
          <a:lstStyle/>
          <a:p>
            <a:pPr indent="0" marL="0">
              <a:buNone/>
            </a:pPr>
            <a:r>
              <a:rPr lang="en-US" sz="3000" b="1" dirty="0">
                <a:solidFill>
                  <a:srgbClr val="A82B26"/>
                </a:solidFill>
                <a:latin typeface="Inter" pitchFamily="34" charset="0"/>
                <a:ea typeface="Inter" pitchFamily="34" charset="-122"/>
                <a:cs typeface="Inter" pitchFamily="34" charset="-120"/>
              </a:rPr>
              <a:t>−8,873</a:t>
            </a:r>
            <a:endParaRPr lang="en-US" sz="3000" dirty="0"/>
          </a:p>
        </p:txBody>
      </p:sp>
      <p:sp>
        <p:nvSpPr>
          <p:cNvPr id="13" name="Text 11"/>
          <p:cNvSpPr txBox="1"/>
          <p:nvPr/>
        </p:nvSpPr>
        <p:spPr>
          <a:xfrm>
            <a:off x="905256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4" name="Text 12"/>
          <p:cNvSpPr txBox="1"/>
          <p:nvPr/>
        </p:nvSpPr>
        <p:spPr>
          <a:xfrm>
            <a:off x="9052560" y="1865376"/>
            <a:ext cx="2697480" cy="603504"/>
          </a:xfrm>
          <a:prstGeom prst="rect">
            <a:avLst/>
          </a:prstGeom>
          <a:noFill/>
          <a:ln/>
        </p:spPr>
        <p:txBody>
          <a:bodyPr wrap="square" lIns="0" tIns="0" rIns="0" bIns="0" rtlCol="0" anchor="ctr"/>
          <a:lstStyle/>
          <a:p>
            <a:pPr indent="0" marL="0">
              <a:buNone/>
            </a:pPr>
            <a:r>
              <a:rPr lang="en-US" sz="3000" b="1" dirty="0">
                <a:solidFill>
                  <a:srgbClr val="A82B26"/>
                </a:solidFill>
                <a:latin typeface="Inter" pitchFamily="34" charset="0"/>
                <a:ea typeface="Inter" pitchFamily="34" charset="-122"/>
                <a:cs typeface="Inter" pitchFamily="34" charset="-120"/>
              </a:rPr>
              <a:t>−6.5%</a:t>
            </a:r>
            <a:endParaRPr lang="en-US" sz="3000" dirty="0"/>
          </a:p>
        </p:txBody>
      </p:sp>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457200" y="2816352"/>
          <a:ext cx="11274552" cy="914400"/>
        </p:xfrm>
        <a:graphic>
          <a:graphicData uri="http://schemas.openxmlformats.org/drawingml/2006/table">
            <a:tbl>
              <a:tblPr/>
              <a:tblGrid>
                <a:gridCol w="3118104"/>
                <a:gridCol w="2039112"/>
                <a:gridCol w="2039112"/>
                <a:gridCol w="2039112"/>
                <a:gridCol w="2039112"/>
              </a:tblGrid>
              <a:tr h="274320">
                <a:tc>
                  <a:txBody>
                    <a:bodyPr/>
                    <a:lstStyle/>
                    <a:p>
                      <a:pPr algn="l" indent="0" marL="0">
                        <a:buNone/>
                      </a:pPr>
                      <a:r>
                        <a:rPr lang="en-US" sz="1400" b="1" dirty="0">
                          <a:solidFill>
                            <a:srgbClr val="FFFFFF"/>
                          </a:solidFill>
                          <a:latin typeface="Inter" pitchFamily="34" charset="0"/>
                          <a:ea typeface="Inter" pitchFamily="34" charset="-122"/>
                          <a:cs typeface="Inter" pitchFamily="34" charset="-120"/>
                        </a:rPr>
                        <a:t>MONTH</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VARIANCE</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 %</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JAN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16,565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14,264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−2,301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−13.9%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FEB</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15,707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12,746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−2,961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−18.9%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15,981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13,940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−2,041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−12.8%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APR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14,990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13,710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−1,280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−8.5%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MAY</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14,527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13,121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−1,406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−9.7%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14,882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14,168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−714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−4.8%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JUL</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15,408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14,663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−745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−4.8%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AUG</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14,622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15,204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+582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SEP</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13,082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15,075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+1,993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+15.2%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16" name="Shape 13"/>
          <p:cNvSpPr/>
          <p:nvPr/>
        </p:nvSpPr>
        <p:spPr>
          <a:xfrm>
            <a:off x="457200" y="5961888"/>
            <a:ext cx="11274552" cy="548640"/>
          </a:xfrm>
          <a:prstGeom prst="rect">
            <a:avLst/>
          </a:prstGeom>
          <a:solidFill>
            <a:srgbClr val="FBEBEA"/>
          </a:solidFill>
          <a:ln/>
        </p:spPr>
      </p:sp>
      <p:sp>
        <p:nvSpPr>
          <p:cNvPr id="17" name="Text 14"/>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Down 8,873 to 126,891, behind 2025 in seven of nine months. Warranty volume follows OEM campaigns and recalls as much as store effort.</a:t>
            </a:r>
            <a:endParaRPr lang="en-US" sz="16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WARRANTY &amp; INTERNAL</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Warranty RO Count</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01168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GROUP</a:t>
            </a:r>
            <a:endParaRPr lang="en-US" sz="1500" dirty="0"/>
          </a:p>
        </p:txBody>
      </p:sp>
      <p:sp>
        <p:nvSpPr>
          <p:cNvPr id="9" name="Text 7"/>
          <p:cNvSpPr txBox="1"/>
          <p:nvPr/>
        </p:nvSpPr>
        <p:spPr>
          <a:xfrm>
            <a:off x="2834640" y="1335024"/>
            <a:ext cx="420624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SAME-STORE, 33 STORES</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−6.5%</a:t>
            </a:r>
            <a:endParaRPr lang="en-US" sz="2000" dirty="0"/>
          </a:p>
        </p:txBody>
      </p:sp>
      <p:sp>
        <p:nvSpPr>
          <p:cNvPr id="11" name="Text 9"/>
          <p:cNvSpPr txBox="1"/>
          <p:nvPr/>
        </p:nvSpPr>
        <p:spPr>
          <a:xfrm>
            <a:off x="658368"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2" name="Shape 10"/>
          <p:cNvSpPr/>
          <p:nvPr/>
        </p:nvSpPr>
        <p:spPr>
          <a:xfrm>
            <a:off x="3813048" y="1909246"/>
            <a:ext cx="822960" cy="105898"/>
          </a:xfrm>
          <a:prstGeom prst="rect">
            <a:avLst/>
          </a:prstGeom>
          <a:solidFill>
            <a:srgbClr val="12A566"/>
          </a:solidFill>
          <a:ln/>
        </p:spPr>
      </p:sp>
      <p:sp>
        <p:nvSpPr>
          <p:cNvPr id="13" name="Text 11"/>
          <p:cNvSpPr txBox="1"/>
          <p:nvPr/>
        </p:nvSpPr>
        <p:spPr>
          <a:xfrm>
            <a:off x="4709160"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+47.9%</a:t>
            </a:r>
            <a:endParaRPr lang="en-US" sz="1300" dirty="0"/>
          </a:p>
        </p:txBody>
      </p:sp>
      <p:sp>
        <p:nvSpPr>
          <p:cNvPr id="14" name="Text 12"/>
          <p:cNvSpPr txBox="1"/>
          <p:nvPr/>
        </p:nvSpPr>
        <p:spPr>
          <a:xfrm>
            <a:off x="658368"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15" name="Shape 13"/>
          <p:cNvSpPr/>
          <p:nvPr/>
        </p:nvSpPr>
        <p:spPr>
          <a:xfrm>
            <a:off x="3813048" y="2139459"/>
            <a:ext cx="822439" cy="105898"/>
          </a:xfrm>
          <a:prstGeom prst="rect">
            <a:avLst/>
          </a:prstGeom>
          <a:solidFill>
            <a:srgbClr val="12A566"/>
          </a:solidFill>
          <a:ln/>
        </p:spPr>
      </p:sp>
      <p:sp>
        <p:nvSpPr>
          <p:cNvPr id="16" name="Text 14"/>
          <p:cNvSpPr txBox="1"/>
          <p:nvPr/>
        </p:nvSpPr>
        <p:spPr>
          <a:xfrm>
            <a:off x="4709160"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+47.8%</a:t>
            </a:r>
            <a:endParaRPr lang="en-US" sz="1300" dirty="0"/>
          </a:p>
        </p:txBody>
      </p:sp>
      <p:sp>
        <p:nvSpPr>
          <p:cNvPr id="17" name="Text 15"/>
          <p:cNvSpPr txBox="1"/>
          <p:nvPr/>
        </p:nvSpPr>
        <p:spPr>
          <a:xfrm>
            <a:off x="658368"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18" name="Shape 16"/>
          <p:cNvSpPr/>
          <p:nvPr/>
        </p:nvSpPr>
        <p:spPr>
          <a:xfrm>
            <a:off x="3813048" y="2369673"/>
            <a:ext cx="812600" cy="105898"/>
          </a:xfrm>
          <a:prstGeom prst="rect">
            <a:avLst/>
          </a:prstGeom>
          <a:solidFill>
            <a:srgbClr val="12A566"/>
          </a:solidFill>
          <a:ln/>
        </p:spPr>
      </p:sp>
      <p:sp>
        <p:nvSpPr>
          <p:cNvPr id="19" name="Text 17"/>
          <p:cNvSpPr txBox="1"/>
          <p:nvPr/>
        </p:nvSpPr>
        <p:spPr>
          <a:xfrm>
            <a:off x="4709160"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+47.3%</a:t>
            </a:r>
            <a:endParaRPr lang="en-US" sz="1300" dirty="0"/>
          </a:p>
        </p:txBody>
      </p:sp>
      <p:sp>
        <p:nvSpPr>
          <p:cNvPr id="20" name="Text 18"/>
          <p:cNvSpPr txBox="1"/>
          <p:nvPr/>
        </p:nvSpPr>
        <p:spPr>
          <a:xfrm>
            <a:off x="658368"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21" name="Shape 19"/>
          <p:cNvSpPr/>
          <p:nvPr/>
        </p:nvSpPr>
        <p:spPr>
          <a:xfrm>
            <a:off x="3813048" y="2599887"/>
            <a:ext cx="617544" cy="105898"/>
          </a:xfrm>
          <a:prstGeom prst="rect">
            <a:avLst/>
          </a:prstGeom>
          <a:solidFill>
            <a:srgbClr val="12A566"/>
          </a:solidFill>
          <a:ln/>
        </p:spPr>
      </p:sp>
      <p:sp>
        <p:nvSpPr>
          <p:cNvPr id="22" name="Text 20"/>
          <p:cNvSpPr txBox="1"/>
          <p:nvPr/>
        </p:nvSpPr>
        <p:spPr>
          <a:xfrm>
            <a:off x="4709160"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+35.9%</a:t>
            </a:r>
            <a:endParaRPr lang="en-US" sz="1300" dirty="0"/>
          </a:p>
        </p:txBody>
      </p:sp>
      <p:sp>
        <p:nvSpPr>
          <p:cNvPr id="23" name="Text 21"/>
          <p:cNvSpPr txBox="1"/>
          <p:nvPr/>
        </p:nvSpPr>
        <p:spPr>
          <a:xfrm>
            <a:off x="658368"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24" name="Shape 22"/>
          <p:cNvSpPr/>
          <p:nvPr/>
        </p:nvSpPr>
        <p:spPr>
          <a:xfrm>
            <a:off x="3813048" y="2830100"/>
            <a:ext cx="562081" cy="105898"/>
          </a:xfrm>
          <a:prstGeom prst="rect">
            <a:avLst/>
          </a:prstGeom>
          <a:solidFill>
            <a:srgbClr val="12A566"/>
          </a:solidFill>
          <a:ln/>
        </p:spPr>
      </p:sp>
      <p:sp>
        <p:nvSpPr>
          <p:cNvPr id="25" name="Text 23"/>
          <p:cNvSpPr txBox="1"/>
          <p:nvPr/>
        </p:nvSpPr>
        <p:spPr>
          <a:xfrm>
            <a:off x="4709160"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+32.7%</a:t>
            </a:r>
            <a:endParaRPr lang="en-US" sz="1300" dirty="0"/>
          </a:p>
        </p:txBody>
      </p:sp>
      <p:sp>
        <p:nvSpPr>
          <p:cNvPr id="26" name="Text 24"/>
          <p:cNvSpPr txBox="1"/>
          <p:nvPr/>
        </p:nvSpPr>
        <p:spPr>
          <a:xfrm>
            <a:off x="658368"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27" name="Shape 25"/>
          <p:cNvSpPr/>
          <p:nvPr/>
        </p:nvSpPr>
        <p:spPr>
          <a:xfrm>
            <a:off x="3813048" y="3060314"/>
            <a:ext cx="514218" cy="105898"/>
          </a:xfrm>
          <a:prstGeom prst="rect">
            <a:avLst/>
          </a:prstGeom>
          <a:solidFill>
            <a:srgbClr val="12A566"/>
          </a:solidFill>
          <a:ln/>
        </p:spPr>
      </p:sp>
      <p:sp>
        <p:nvSpPr>
          <p:cNvPr id="28" name="Text 26"/>
          <p:cNvSpPr txBox="1"/>
          <p:nvPr/>
        </p:nvSpPr>
        <p:spPr>
          <a:xfrm>
            <a:off x="4709160"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+29.9%</a:t>
            </a:r>
            <a:endParaRPr lang="en-US" sz="1300" dirty="0"/>
          </a:p>
        </p:txBody>
      </p:sp>
      <p:sp>
        <p:nvSpPr>
          <p:cNvPr id="29" name="Text 27"/>
          <p:cNvSpPr txBox="1"/>
          <p:nvPr/>
        </p:nvSpPr>
        <p:spPr>
          <a:xfrm>
            <a:off x="658368"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30" name="Shape 28"/>
          <p:cNvSpPr/>
          <p:nvPr/>
        </p:nvSpPr>
        <p:spPr>
          <a:xfrm>
            <a:off x="3813048" y="3290528"/>
            <a:ext cx="390119" cy="105898"/>
          </a:xfrm>
          <a:prstGeom prst="rect">
            <a:avLst/>
          </a:prstGeom>
          <a:solidFill>
            <a:srgbClr val="12A566"/>
          </a:solidFill>
          <a:ln/>
        </p:spPr>
      </p:sp>
      <p:sp>
        <p:nvSpPr>
          <p:cNvPr id="31" name="Text 29"/>
          <p:cNvSpPr txBox="1"/>
          <p:nvPr/>
        </p:nvSpPr>
        <p:spPr>
          <a:xfrm>
            <a:off x="4709160" y="3228370"/>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+22.7%</a:t>
            </a:r>
            <a:endParaRPr lang="en-US" sz="1300" dirty="0"/>
          </a:p>
        </p:txBody>
      </p:sp>
      <p:sp>
        <p:nvSpPr>
          <p:cNvPr id="32" name="Text 30"/>
          <p:cNvSpPr txBox="1"/>
          <p:nvPr/>
        </p:nvSpPr>
        <p:spPr>
          <a:xfrm>
            <a:off x="658368"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33" name="Shape 31"/>
          <p:cNvSpPr/>
          <p:nvPr/>
        </p:nvSpPr>
        <p:spPr>
          <a:xfrm>
            <a:off x="3813048" y="3520741"/>
            <a:ext cx="351576" cy="105898"/>
          </a:xfrm>
          <a:prstGeom prst="rect">
            <a:avLst/>
          </a:prstGeom>
          <a:solidFill>
            <a:srgbClr val="12A566"/>
          </a:solidFill>
          <a:ln/>
        </p:spPr>
      </p:sp>
      <p:sp>
        <p:nvSpPr>
          <p:cNvPr id="34" name="Text 32"/>
          <p:cNvSpPr txBox="1"/>
          <p:nvPr/>
        </p:nvSpPr>
        <p:spPr>
          <a:xfrm>
            <a:off x="4709160" y="345858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+20.4%</a:t>
            </a:r>
            <a:endParaRPr lang="en-US" sz="1300" dirty="0"/>
          </a:p>
        </p:txBody>
      </p:sp>
      <p:sp>
        <p:nvSpPr>
          <p:cNvPr id="35" name="Text 33"/>
          <p:cNvSpPr txBox="1"/>
          <p:nvPr/>
        </p:nvSpPr>
        <p:spPr>
          <a:xfrm>
            <a:off x="658368"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36" name="Shape 34"/>
          <p:cNvSpPr/>
          <p:nvPr/>
        </p:nvSpPr>
        <p:spPr>
          <a:xfrm>
            <a:off x="3813048" y="3750955"/>
            <a:ext cx="205423" cy="105898"/>
          </a:xfrm>
          <a:prstGeom prst="rect">
            <a:avLst/>
          </a:prstGeom>
          <a:solidFill>
            <a:srgbClr val="12A566"/>
          </a:solidFill>
          <a:ln/>
        </p:spPr>
      </p:sp>
      <p:sp>
        <p:nvSpPr>
          <p:cNvPr id="37" name="Text 35"/>
          <p:cNvSpPr txBox="1"/>
          <p:nvPr/>
        </p:nvSpPr>
        <p:spPr>
          <a:xfrm>
            <a:off x="4709160" y="3688797"/>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+11.9%</a:t>
            </a:r>
            <a:endParaRPr lang="en-US" sz="1300" dirty="0"/>
          </a:p>
        </p:txBody>
      </p:sp>
      <p:sp>
        <p:nvSpPr>
          <p:cNvPr id="38" name="Text 36"/>
          <p:cNvSpPr txBox="1"/>
          <p:nvPr/>
        </p:nvSpPr>
        <p:spPr>
          <a:xfrm>
            <a:off x="658368"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39" name="Shape 37"/>
          <p:cNvSpPr/>
          <p:nvPr/>
        </p:nvSpPr>
        <p:spPr>
          <a:xfrm>
            <a:off x="3813048" y="3981169"/>
            <a:ext cx="200047" cy="105898"/>
          </a:xfrm>
          <a:prstGeom prst="rect">
            <a:avLst/>
          </a:prstGeom>
          <a:solidFill>
            <a:srgbClr val="12A566"/>
          </a:solidFill>
          <a:ln/>
        </p:spPr>
      </p:sp>
      <p:sp>
        <p:nvSpPr>
          <p:cNvPr id="40" name="Text 38"/>
          <p:cNvSpPr txBox="1"/>
          <p:nvPr/>
        </p:nvSpPr>
        <p:spPr>
          <a:xfrm>
            <a:off x="4709160" y="3919011"/>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+11.6%</a:t>
            </a:r>
            <a:endParaRPr lang="en-US" sz="1300" dirty="0"/>
          </a:p>
        </p:txBody>
      </p:sp>
      <p:sp>
        <p:nvSpPr>
          <p:cNvPr id="41" name="Text 39"/>
          <p:cNvSpPr txBox="1"/>
          <p:nvPr/>
        </p:nvSpPr>
        <p:spPr>
          <a:xfrm>
            <a:off x="658368"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42" name="Shape 40"/>
          <p:cNvSpPr/>
          <p:nvPr/>
        </p:nvSpPr>
        <p:spPr>
          <a:xfrm>
            <a:off x="3813048" y="4211382"/>
            <a:ext cx="174486" cy="105898"/>
          </a:xfrm>
          <a:prstGeom prst="rect">
            <a:avLst/>
          </a:prstGeom>
          <a:solidFill>
            <a:srgbClr val="12A566"/>
          </a:solidFill>
          <a:ln/>
        </p:spPr>
      </p:sp>
      <p:sp>
        <p:nvSpPr>
          <p:cNvPr id="43" name="Text 41"/>
          <p:cNvSpPr txBox="1"/>
          <p:nvPr/>
        </p:nvSpPr>
        <p:spPr>
          <a:xfrm>
            <a:off x="4709160" y="414922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+10.1%</a:t>
            </a:r>
            <a:endParaRPr lang="en-US" sz="1300" dirty="0"/>
          </a:p>
        </p:txBody>
      </p:sp>
      <p:sp>
        <p:nvSpPr>
          <p:cNvPr id="44" name="Text 42"/>
          <p:cNvSpPr txBox="1"/>
          <p:nvPr/>
        </p:nvSpPr>
        <p:spPr>
          <a:xfrm>
            <a:off x="658368"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45" name="Shape 43"/>
          <p:cNvSpPr/>
          <p:nvPr/>
        </p:nvSpPr>
        <p:spPr>
          <a:xfrm>
            <a:off x="3813048" y="4441596"/>
            <a:ext cx="153373" cy="105898"/>
          </a:xfrm>
          <a:prstGeom prst="rect">
            <a:avLst/>
          </a:prstGeom>
          <a:solidFill>
            <a:srgbClr val="12A566"/>
          </a:solidFill>
          <a:ln/>
        </p:spPr>
      </p:sp>
      <p:sp>
        <p:nvSpPr>
          <p:cNvPr id="46" name="Text 44"/>
          <p:cNvSpPr txBox="1"/>
          <p:nvPr/>
        </p:nvSpPr>
        <p:spPr>
          <a:xfrm>
            <a:off x="4709160" y="437943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+8.9%</a:t>
            </a:r>
            <a:endParaRPr lang="en-US" sz="1300" dirty="0"/>
          </a:p>
        </p:txBody>
      </p:sp>
      <p:sp>
        <p:nvSpPr>
          <p:cNvPr id="47" name="Text 45"/>
          <p:cNvSpPr txBox="1"/>
          <p:nvPr/>
        </p:nvSpPr>
        <p:spPr>
          <a:xfrm>
            <a:off x="658368"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48" name="Shape 46"/>
          <p:cNvSpPr/>
          <p:nvPr/>
        </p:nvSpPr>
        <p:spPr>
          <a:xfrm>
            <a:off x="3813048" y="4671809"/>
            <a:ext cx="127721" cy="105898"/>
          </a:xfrm>
          <a:prstGeom prst="rect">
            <a:avLst/>
          </a:prstGeom>
          <a:solidFill>
            <a:srgbClr val="12A566"/>
          </a:solidFill>
          <a:ln/>
        </p:spPr>
      </p:sp>
      <p:sp>
        <p:nvSpPr>
          <p:cNvPr id="49" name="Text 47"/>
          <p:cNvSpPr txBox="1"/>
          <p:nvPr/>
        </p:nvSpPr>
        <p:spPr>
          <a:xfrm>
            <a:off x="4709160" y="460965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+7.4%</a:t>
            </a:r>
            <a:endParaRPr lang="en-US" sz="1300" dirty="0"/>
          </a:p>
        </p:txBody>
      </p:sp>
      <p:sp>
        <p:nvSpPr>
          <p:cNvPr id="50" name="Text 48"/>
          <p:cNvSpPr txBox="1"/>
          <p:nvPr/>
        </p:nvSpPr>
        <p:spPr>
          <a:xfrm>
            <a:off x="658368"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51" name="Shape 49"/>
          <p:cNvSpPr/>
          <p:nvPr/>
        </p:nvSpPr>
        <p:spPr>
          <a:xfrm>
            <a:off x="3813048" y="4902023"/>
            <a:ext cx="117440" cy="105898"/>
          </a:xfrm>
          <a:prstGeom prst="rect">
            <a:avLst/>
          </a:prstGeom>
          <a:solidFill>
            <a:srgbClr val="12A566"/>
          </a:solidFill>
          <a:ln/>
        </p:spPr>
      </p:sp>
      <p:sp>
        <p:nvSpPr>
          <p:cNvPr id="52" name="Text 50"/>
          <p:cNvSpPr txBox="1"/>
          <p:nvPr/>
        </p:nvSpPr>
        <p:spPr>
          <a:xfrm>
            <a:off x="4709160" y="483986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+6.8%</a:t>
            </a:r>
            <a:endParaRPr lang="en-US" sz="1300" dirty="0"/>
          </a:p>
        </p:txBody>
      </p:sp>
      <p:sp>
        <p:nvSpPr>
          <p:cNvPr id="53" name="Text 51"/>
          <p:cNvSpPr txBox="1"/>
          <p:nvPr/>
        </p:nvSpPr>
        <p:spPr>
          <a:xfrm>
            <a:off x="658368"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54" name="Shape 52"/>
          <p:cNvSpPr/>
          <p:nvPr/>
        </p:nvSpPr>
        <p:spPr>
          <a:xfrm>
            <a:off x="3813048" y="5132237"/>
            <a:ext cx="69770" cy="105898"/>
          </a:xfrm>
          <a:prstGeom prst="rect">
            <a:avLst/>
          </a:prstGeom>
          <a:solidFill>
            <a:srgbClr val="12A566"/>
          </a:solidFill>
          <a:ln/>
        </p:spPr>
      </p:sp>
      <p:sp>
        <p:nvSpPr>
          <p:cNvPr id="55" name="Text 53"/>
          <p:cNvSpPr txBox="1"/>
          <p:nvPr/>
        </p:nvSpPr>
        <p:spPr>
          <a:xfrm>
            <a:off x="4709160" y="507007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+4.1%</a:t>
            </a:r>
            <a:endParaRPr lang="en-US" sz="1300" dirty="0"/>
          </a:p>
        </p:txBody>
      </p:sp>
      <p:sp>
        <p:nvSpPr>
          <p:cNvPr id="56" name="Text 54"/>
          <p:cNvSpPr txBox="1"/>
          <p:nvPr/>
        </p:nvSpPr>
        <p:spPr>
          <a:xfrm>
            <a:off x="658368"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57" name="Shape 55"/>
          <p:cNvSpPr/>
          <p:nvPr/>
        </p:nvSpPr>
        <p:spPr>
          <a:xfrm>
            <a:off x="3813048" y="5362450"/>
            <a:ext cx="57479" cy="105898"/>
          </a:xfrm>
          <a:prstGeom prst="rect">
            <a:avLst/>
          </a:prstGeom>
          <a:solidFill>
            <a:srgbClr val="12A566"/>
          </a:solidFill>
          <a:ln/>
        </p:spPr>
      </p:sp>
      <p:sp>
        <p:nvSpPr>
          <p:cNvPr id="58" name="Text 56"/>
          <p:cNvSpPr txBox="1"/>
          <p:nvPr/>
        </p:nvSpPr>
        <p:spPr>
          <a:xfrm>
            <a:off x="4709160" y="530029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+3.3%</a:t>
            </a:r>
            <a:endParaRPr lang="en-US" sz="1300" dirty="0"/>
          </a:p>
        </p:txBody>
      </p:sp>
      <p:sp>
        <p:nvSpPr>
          <p:cNvPr id="59" name="Text 57"/>
          <p:cNvSpPr txBox="1"/>
          <p:nvPr/>
        </p:nvSpPr>
        <p:spPr>
          <a:xfrm>
            <a:off x="658368" y="553050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60" name="Shape 58"/>
          <p:cNvSpPr/>
          <p:nvPr/>
        </p:nvSpPr>
        <p:spPr>
          <a:xfrm>
            <a:off x="3813048" y="5592664"/>
            <a:ext cx="23042" cy="105898"/>
          </a:xfrm>
          <a:prstGeom prst="rect">
            <a:avLst/>
          </a:prstGeom>
          <a:solidFill>
            <a:srgbClr val="12A566"/>
          </a:solidFill>
          <a:ln/>
        </p:spPr>
      </p:sp>
      <p:sp>
        <p:nvSpPr>
          <p:cNvPr id="61" name="Text 59"/>
          <p:cNvSpPr txBox="1"/>
          <p:nvPr/>
        </p:nvSpPr>
        <p:spPr>
          <a:xfrm>
            <a:off x="4709160" y="553050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+1.3%</a:t>
            </a:r>
            <a:endParaRPr lang="en-US" sz="1300" dirty="0"/>
          </a:p>
        </p:txBody>
      </p:sp>
      <p:sp>
        <p:nvSpPr>
          <p:cNvPr id="62" name="Text 60"/>
          <p:cNvSpPr txBox="1"/>
          <p:nvPr/>
        </p:nvSpPr>
        <p:spPr>
          <a:xfrm>
            <a:off x="6208776"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63" name="Shape 61"/>
          <p:cNvSpPr/>
          <p:nvPr/>
        </p:nvSpPr>
        <p:spPr>
          <a:xfrm>
            <a:off x="9290741" y="1909246"/>
            <a:ext cx="72715" cy="105898"/>
          </a:xfrm>
          <a:prstGeom prst="rect">
            <a:avLst/>
          </a:prstGeom>
          <a:solidFill>
            <a:srgbClr val="C2352F"/>
          </a:solidFill>
          <a:ln/>
        </p:spPr>
      </p:sp>
      <p:sp>
        <p:nvSpPr>
          <p:cNvPr id="64" name="Text 62"/>
          <p:cNvSpPr txBox="1"/>
          <p:nvPr/>
        </p:nvSpPr>
        <p:spPr>
          <a:xfrm>
            <a:off x="10259568" y="1847088"/>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−4.2%</a:t>
            </a:r>
            <a:endParaRPr lang="en-US" sz="1300" dirty="0"/>
          </a:p>
        </p:txBody>
      </p:sp>
      <p:sp>
        <p:nvSpPr>
          <p:cNvPr id="65" name="Text 63"/>
          <p:cNvSpPr txBox="1"/>
          <p:nvPr/>
        </p:nvSpPr>
        <p:spPr>
          <a:xfrm>
            <a:off x="6208776"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66" name="Shape 64"/>
          <p:cNvSpPr/>
          <p:nvPr/>
        </p:nvSpPr>
        <p:spPr>
          <a:xfrm>
            <a:off x="9247857" y="2139459"/>
            <a:ext cx="115599" cy="105898"/>
          </a:xfrm>
          <a:prstGeom prst="rect">
            <a:avLst/>
          </a:prstGeom>
          <a:solidFill>
            <a:srgbClr val="C2352F"/>
          </a:solidFill>
          <a:ln/>
        </p:spPr>
      </p:sp>
      <p:sp>
        <p:nvSpPr>
          <p:cNvPr id="67" name="Text 65"/>
          <p:cNvSpPr txBox="1"/>
          <p:nvPr/>
        </p:nvSpPr>
        <p:spPr>
          <a:xfrm>
            <a:off x="10259568" y="2077302"/>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−6.7%</a:t>
            </a:r>
            <a:endParaRPr lang="en-US" sz="1300" dirty="0"/>
          </a:p>
        </p:txBody>
      </p:sp>
      <p:sp>
        <p:nvSpPr>
          <p:cNvPr id="68" name="Text 66"/>
          <p:cNvSpPr txBox="1"/>
          <p:nvPr/>
        </p:nvSpPr>
        <p:spPr>
          <a:xfrm>
            <a:off x="6208776"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69" name="Shape 67"/>
          <p:cNvSpPr/>
          <p:nvPr/>
        </p:nvSpPr>
        <p:spPr>
          <a:xfrm>
            <a:off x="9228998" y="2369673"/>
            <a:ext cx="134458" cy="105898"/>
          </a:xfrm>
          <a:prstGeom prst="rect">
            <a:avLst/>
          </a:prstGeom>
          <a:solidFill>
            <a:srgbClr val="C2352F"/>
          </a:solidFill>
          <a:ln/>
        </p:spPr>
      </p:sp>
      <p:sp>
        <p:nvSpPr>
          <p:cNvPr id="70" name="Text 68"/>
          <p:cNvSpPr txBox="1"/>
          <p:nvPr/>
        </p:nvSpPr>
        <p:spPr>
          <a:xfrm>
            <a:off x="10259568" y="2307515"/>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−7.8%</a:t>
            </a:r>
            <a:endParaRPr lang="en-US" sz="1300" dirty="0"/>
          </a:p>
        </p:txBody>
      </p:sp>
      <p:sp>
        <p:nvSpPr>
          <p:cNvPr id="71" name="Text 69"/>
          <p:cNvSpPr txBox="1"/>
          <p:nvPr/>
        </p:nvSpPr>
        <p:spPr>
          <a:xfrm>
            <a:off x="6208776"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72" name="Shape 70"/>
          <p:cNvSpPr/>
          <p:nvPr/>
        </p:nvSpPr>
        <p:spPr>
          <a:xfrm>
            <a:off x="9174213" y="2599887"/>
            <a:ext cx="189243" cy="105898"/>
          </a:xfrm>
          <a:prstGeom prst="rect">
            <a:avLst/>
          </a:prstGeom>
          <a:solidFill>
            <a:srgbClr val="C2352F"/>
          </a:solidFill>
          <a:ln/>
        </p:spPr>
      </p:sp>
      <p:sp>
        <p:nvSpPr>
          <p:cNvPr id="73" name="Text 71"/>
          <p:cNvSpPr txBox="1"/>
          <p:nvPr/>
        </p:nvSpPr>
        <p:spPr>
          <a:xfrm>
            <a:off x="10259568" y="2537729"/>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−11.0%</a:t>
            </a:r>
            <a:endParaRPr lang="en-US" sz="1300" dirty="0"/>
          </a:p>
        </p:txBody>
      </p:sp>
      <p:sp>
        <p:nvSpPr>
          <p:cNvPr id="74" name="Text 72"/>
          <p:cNvSpPr txBox="1"/>
          <p:nvPr/>
        </p:nvSpPr>
        <p:spPr>
          <a:xfrm>
            <a:off x="6208776"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75" name="Shape 73"/>
          <p:cNvSpPr/>
          <p:nvPr/>
        </p:nvSpPr>
        <p:spPr>
          <a:xfrm>
            <a:off x="9167983" y="2830100"/>
            <a:ext cx="195473" cy="105898"/>
          </a:xfrm>
          <a:prstGeom prst="rect">
            <a:avLst/>
          </a:prstGeom>
          <a:solidFill>
            <a:srgbClr val="C2352F"/>
          </a:solidFill>
          <a:ln/>
        </p:spPr>
      </p:sp>
      <p:sp>
        <p:nvSpPr>
          <p:cNvPr id="76" name="Text 74"/>
          <p:cNvSpPr txBox="1"/>
          <p:nvPr/>
        </p:nvSpPr>
        <p:spPr>
          <a:xfrm>
            <a:off x="10259568" y="276794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−11.4%</a:t>
            </a:r>
            <a:endParaRPr lang="en-US" sz="1300" dirty="0"/>
          </a:p>
        </p:txBody>
      </p:sp>
      <p:sp>
        <p:nvSpPr>
          <p:cNvPr id="77" name="Text 75"/>
          <p:cNvSpPr txBox="1"/>
          <p:nvPr/>
        </p:nvSpPr>
        <p:spPr>
          <a:xfrm>
            <a:off x="6208776"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78" name="Shape 76"/>
          <p:cNvSpPr/>
          <p:nvPr/>
        </p:nvSpPr>
        <p:spPr>
          <a:xfrm>
            <a:off x="9147536" y="3060314"/>
            <a:ext cx="215920" cy="105898"/>
          </a:xfrm>
          <a:prstGeom prst="rect">
            <a:avLst/>
          </a:prstGeom>
          <a:solidFill>
            <a:srgbClr val="C2352F"/>
          </a:solidFill>
          <a:ln/>
        </p:spPr>
      </p:sp>
      <p:sp>
        <p:nvSpPr>
          <p:cNvPr id="79" name="Text 77"/>
          <p:cNvSpPr txBox="1"/>
          <p:nvPr/>
        </p:nvSpPr>
        <p:spPr>
          <a:xfrm>
            <a:off x="10259568" y="2998156"/>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−12.6%</a:t>
            </a:r>
            <a:endParaRPr lang="en-US" sz="1300" dirty="0"/>
          </a:p>
        </p:txBody>
      </p:sp>
      <p:sp>
        <p:nvSpPr>
          <p:cNvPr id="80" name="Text 78"/>
          <p:cNvSpPr txBox="1"/>
          <p:nvPr/>
        </p:nvSpPr>
        <p:spPr>
          <a:xfrm>
            <a:off x="6208776"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81" name="Shape 79"/>
          <p:cNvSpPr/>
          <p:nvPr/>
        </p:nvSpPr>
        <p:spPr>
          <a:xfrm>
            <a:off x="9104040" y="3290528"/>
            <a:ext cx="259416" cy="105898"/>
          </a:xfrm>
          <a:prstGeom prst="rect">
            <a:avLst/>
          </a:prstGeom>
          <a:solidFill>
            <a:srgbClr val="C2352F"/>
          </a:solidFill>
          <a:ln/>
        </p:spPr>
      </p:sp>
      <p:sp>
        <p:nvSpPr>
          <p:cNvPr id="82" name="Text 80"/>
          <p:cNvSpPr txBox="1"/>
          <p:nvPr/>
        </p:nvSpPr>
        <p:spPr>
          <a:xfrm>
            <a:off x="10259568" y="3228370"/>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−15.1%</a:t>
            </a:r>
            <a:endParaRPr lang="en-US" sz="1300" dirty="0"/>
          </a:p>
        </p:txBody>
      </p:sp>
      <p:sp>
        <p:nvSpPr>
          <p:cNvPr id="83" name="Text 81"/>
          <p:cNvSpPr txBox="1"/>
          <p:nvPr/>
        </p:nvSpPr>
        <p:spPr>
          <a:xfrm>
            <a:off x="6208776"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84" name="Shape 82"/>
          <p:cNvSpPr/>
          <p:nvPr/>
        </p:nvSpPr>
        <p:spPr>
          <a:xfrm>
            <a:off x="9023064" y="3520741"/>
            <a:ext cx="340392" cy="105898"/>
          </a:xfrm>
          <a:prstGeom prst="rect">
            <a:avLst/>
          </a:prstGeom>
          <a:solidFill>
            <a:srgbClr val="C2352F"/>
          </a:solidFill>
          <a:ln/>
        </p:spPr>
      </p:sp>
      <p:sp>
        <p:nvSpPr>
          <p:cNvPr id="85" name="Text 83"/>
          <p:cNvSpPr txBox="1"/>
          <p:nvPr/>
        </p:nvSpPr>
        <p:spPr>
          <a:xfrm>
            <a:off x="10259568" y="345858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−19.8%</a:t>
            </a:r>
            <a:endParaRPr lang="en-US" sz="1300" dirty="0"/>
          </a:p>
        </p:txBody>
      </p:sp>
      <p:sp>
        <p:nvSpPr>
          <p:cNvPr id="86" name="Text 84"/>
          <p:cNvSpPr txBox="1"/>
          <p:nvPr/>
        </p:nvSpPr>
        <p:spPr>
          <a:xfrm>
            <a:off x="6208776"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87" name="Shape 85"/>
          <p:cNvSpPr/>
          <p:nvPr/>
        </p:nvSpPr>
        <p:spPr>
          <a:xfrm>
            <a:off x="9014940" y="3750955"/>
            <a:ext cx="348516" cy="105898"/>
          </a:xfrm>
          <a:prstGeom prst="rect">
            <a:avLst/>
          </a:prstGeom>
          <a:solidFill>
            <a:srgbClr val="C2352F"/>
          </a:solidFill>
          <a:ln/>
        </p:spPr>
      </p:sp>
      <p:sp>
        <p:nvSpPr>
          <p:cNvPr id="88" name="Text 86"/>
          <p:cNvSpPr txBox="1"/>
          <p:nvPr/>
        </p:nvSpPr>
        <p:spPr>
          <a:xfrm>
            <a:off x="10259568" y="3688797"/>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−20.3%</a:t>
            </a:r>
            <a:endParaRPr lang="en-US" sz="1300" dirty="0"/>
          </a:p>
        </p:txBody>
      </p:sp>
      <p:sp>
        <p:nvSpPr>
          <p:cNvPr id="89" name="Text 87"/>
          <p:cNvSpPr txBox="1"/>
          <p:nvPr/>
        </p:nvSpPr>
        <p:spPr>
          <a:xfrm>
            <a:off x="6208776"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90" name="Shape 88"/>
          <p:cNvSpPr/>
          <p:nvPr/>
        </p:nvSpPr>
        <p:spPr>
          <a:xfrm>
            <a:off x="8973206" y="3981169"/>
            <a:ext cx="390250" cy="105898"/>
          </a:xfrm>
          <a:prstGeom prst="rect">
            <a:avLst/>
          </a:prstGeom>
          <a:solidFill>
            <a:srgbClr val="C2352F"/>
          </a:solidFill>
          <a:ln/>
        </p:spPr>
      </p:sp>
      <p:sp>
        <p:nvSpPr>
          <p:cNvPr id="91" name="Text 89"/>
          <p:cNvSpPr txBox="1"/>
          <p:nvPr/>
        </p:nvSpPr>
        <p:spPr>
          <a:xfrm>
            <a:off x="10259568" y="3919011"/>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−22.7%</a:t>
            </a:r>
            <a:endParaRPr lang="en-US" sz="1300" dirty="0"/>
          </a:p>
        </p:txBody>
      </p:sp>
      <p:sp>
        <p:nvSpPr>
          <p:cNvPr id="92" name="Text 90"/>
          <p:cNvSpPr txBox="1"/>
          <p:nvPr/>
        </p:nvSpPr>
        <p:spPr>
          <a:xfrm>
            <a:off x="6208776"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93" name="Shape 91"/>
          <p:cNvSpPr/>
          <p:nvPr/>
        </p:nvSpPr>
        <p:spPr>
          <a:xfrm>
            <a:off x="8893454" y="4211382"/>
            <a:ext cx="470002" cy="105898"/>
          </a:xfrm>
          <a:prstGeom prst="rect">
            <a:avLst/>
          </a:prstGeom>
          <a:solidFill>
            <a:srgbClr val="C2352F"/>
          </a:solidFill>
          <a:ln/>
        </p:spPr>
      </p:sp>
      <p:sp>
        <p:nvSpPr>
          <p:cNvPr id="94" name="Text 92"/>
          <p:cNvSpPr txBox="1"/>
          <p:nvPr/>
        </p:nvSpPr>
        <p:spPr>
          <a:xfrm>
            <a:off x="10259568" y="414922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−27.3%</a:t>
            </a:r>
            <a:endParaRPr lang="en-US" sz="1300" dirty="0"/>
          </a:p>
        </p:txBody>
      </p:sp>
      <p:sp>
        <p:nvSpPr>
          <p:cNvPr id="95" name="Text 93"/>
          <p:cNvSpPr txBox="1"/>
          <p:nvPr/>
        </p:nvSpPr>
        <p:spPr>
          <a:xfrm>
            <a:off x="6208776"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96" name="Shape 94"/>
          <p:cNvSpPr/>
          <p:nvPr/>
        </p:nvSpPr>
        <p:spPr>
          <a:xfrm>
            <a:off x="8852622" y="4441596"/>
            <a:ext cx="510834" cy="105898"/>
          </a:xfrm>
          <a:prstGeom prst="rect">
            <a:avLst/>
          </a:prstGeom>
          <a:solidFill>
            <a:srgbClr val="C2352F"/>
          </a:solidFill>
          <a:ln/>
        </p:spPr>
      </p:sp>
      <p:sp>
        <p:nvSpPr>
          <p:cNvPr id="97" name="Text 95"/>
          <p:cNvSpPr txBox="1"/>
          <p:nvPr/>
        </p:nvSpPr>
        <p:spPr>
          <a:xfrm>
            <a:off x="10259568" y="4379438"/>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−29.7%</a:t>
            </a:r>
            <a:endParaRPr lang="en-US" sz="1300" dirty="0"/>
          </a:p>
        </p:txBody>
      </p:sp>
      <p:sp>
        <p:nvSpPr>
          <p:cNvPr id="98" name="Text 96"/>
          <p:cNvSpPr txBox="1"/>
          <p:nvPr/>
        </p:nvSpPr>
        <p:spPr>
          <a:xfrm>
            <a:off x="6208776"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99" name="Shape 97"/>
          <p:cNvSpPr/>
          <p:nvPr/>
        </p:nvSpPr>
        <p:spPr>
          <a:xfrm>
            <a:off x="8755981" y="4671809"/>
            <a:ext cx="607475" cy="105898"/>
          </a:xfrm>
          <a:prstGeom prst="rect">
            <a:avLst/>
          </a:prstGeom>
          <a:solidFill>
            <a:srgbClr val="C2352F"/>
          </a:solidFill>
          <a:ln/>
        </p:spPr>
      </p:sp>
      <p:sp>
        <p:nvSpPr>
          <p:cNvPr id="100" name="Text 98"/>
          <p:cNvSpPr txBox="1"/>
          <p:nvPr/>
        </p:nvSpPr>
        <p:spPr>
          <a:xfrm>
            <a:off x="10259568" y="4609652"/>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−35.3%</a:t>
            </a:r>
            <a:endParaRPr lang="en-US" sz="1300" dirty="0"/>
          </a:p>
        </p:txBody>
      </p:sp>
      <p:sp>
        <p:nvSpPr>
          <p:cNvPr id="101" name="Text 99"/>
          <p:cNvSpPr txBox="1"/>
          <p:nvPr/>
        </p:nvSpPr>
        <p:spPr>
          <a:xfrm>
            <a:off x="6208776"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102" name="Shape 100"/>
          <p:cNvSpPr/>
          <p:nvPr/>
        </p:nvSpPr>
        <p:spPr>
          <a:xfrm>
            <a:off x="8683733" y="4902023"/>
            <a:ext cx="679723" cy="105898"/>
          </a:xfrm>
          <a:prstGeom prst="rect">
            <a:avLst/>
          </a:prstGeom>
          <a:solidFill>
            <a:srgbClr val="C2352F"/>
          </a:solidFill>
          <a:ln/>
        </p:spPr>
      </p:sp>
      <p:sp>
        <p:nvSpPr>
          <p:cNvPr id="103" name="Text 101"/>
          <p:cNvSpPr txBox="1"/>
          <p:nvPr/>
        </p:nvSpPr>
        <p:spPr>
          <a:xfrm>
            <a:off x="10259568" y="4839865"/>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−39.5%</a:t>
            </a:r>
            <a:endParaRPr lang="en-US" sz="1300" dirty="0"/>
          </a:p>
        </p:txBody>
      </p:sp>
      <p:sp>
        <p:nvSpPr>
          <p:cNvPr id="104" name="Text 102"/>
          <p:cNvSpPr txBox="1"/>
          <p:nvPr/>
        </p:nvSpPr>
        <p:spPr>
          <a:xfrm>
            <a:off x="6208776"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105" name="Shape 103"/>
          <p:cNvSpPr/>
          <p:nvPr/>
        </p:nvSpPr>
        <p:spPr>
          <a:xfrm>
            <a:off x="8611932" y="5132237"/>
            <a:ext cx="751524" cy="105898"/>
          </a:xfrm>
          <a:prstGeom prst="rect">
            <a:avLst/>
          </a:prstGeom>
          <a:solidFill>
            <a:srgbClr val="C2352F"/>
          </a:solidFill>
          <a:ln/>
        </p:spPr>
      </p:sp>
      <p:sp>
        <p:nvSpPr>
          <p:cNvPr id="106" name="Text 104"/>
          <p:cNvSpPr txBox="1"/>
          <p:nvPr/>
        </p:nvSpPr>
        <p:spPr>
          <a:xfrm>
            <a:off x="10259568" y="5070079"/>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−43.7%</a:t>
            </a:r>
            <a:endParaRPr lang="en-US" sz="1300" dirty="0"/>
          </a:p>
        </p:txBody>
      </p:sp>
      <p:sp>
        <p:nvSpPr>
          <p:cNvPr id="107" name="Text 105"/>
          <p:cNvSpPr txBox="1"/>
          <p:nvPr/>
        </p:nvSpPr>
        <p:spPr>
          <a:xfrm>
            <a:off x="6208776"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108" name="Shape 106"/>
          <p:cNvSpPr/>
          <p:nvPr/>
        </p:nvSpPr>
        <p:spPr>
          <a:xfrm>
            <a:off x="8566242" y="5362450"/>
            <a:ext cx="797214" cy="105898"/>
          </a:xfrm>
          <a:prstGeom prst="rect">
            <a:avLst/>
          </a:prstGeom>
          <a:solidFill>
            <a:srgbClr val="C2352F"/>
          </a:solidFill>
          <a:ln/>
        </p:spPr>
      </p:sp>
      <p:sp>
        <p:nvSpPr>
          <p:cNvPr id="109" name="Text 107"/>
          <p:cNvSpPr txBox="1"/>
          <p:nvPr/>
        </p:nvSpPr>
        <p:spPr>
          <a:xfrm>
            <a:off x="10259568" y="530029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−46.4%</a:t>
            </a:r>
            <a:endParaRPr lang="en-US" sz="1300" dirty="0"/>
          </a:p>
        </p:txBody>
      </p:sp>
      <p:sp>
        <p:nvSpPr>
          <p:cNvPr id="110" name="Shape 108"/>
          <p:cNvSpPr/>
          <p:nvPr/>
        </p:nvSpPr>
        <p:spPr>
          <a:xfrm>
            <a:off x="3807562" y="1847088"/>
            <a:ext cx="10973" cy="3913632"/>
          </a:xfrm>
          <a:prstGeom prst="rect">
            <a:avLst/>
          </a:prstGeom>
          <a:solidFill>
            <a:srgbClr val="9AA3AD"/>
          </a:solidFill>
          <a:ln/>
        </p:spPr>
      </p:sp>
      <p:sp>
        <p:nvSpPr>
          <p:cNvPr id="111" name="Shape 109"/>
          <p:cNvSpPr/>
          <p:nvPr/>
        </p:nvSpPr>
        <p:spPr>
          <a:xfrm>
            <a:off x="9357970" y="1847088"/>
            <a:ext cx="10973" cy="3913632"/>
          </a:xfrm>
          <a:prstGeom prst="rect">
            <a:avLst/>
          </a:prstGeom>
          <a:solidFill>
            <a:srgbClr val="9AA3AD"/>
          </a:solidFill>
          <a:ln/>
        </p:spPr>
      </p:sp>
      <p:sp>
        <p:nvSpPr>
          <p:cNvPr id="112" name="Shape 110"/>
          <p:cNvSpPr/>
          <p:nvPr/>
        </p:nvSpPr>
        <p:spPr>
          <a:xfrm>
            <a:off x="457200" y="5961888"/>
            <a:ext cx="11274552" cy="548640"/>
          </a:xfrm>
          <a:prstGeom prst="rect">
            <a:avLst/>
          </a:prstGeom>
          <a:solidFill>
            <a:srgbClr val="FBEBEA"/>
          </a:solidFill>
          <a:ln/>
        </p:spPr>
      </p:sp>
      <p:sp>
        <p:nvSpPr>
          <p:cNvPr id="113" name="Text 111"/>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17 of 33 stores grew warranty RO count, led by HYUNDAI PRESCOTT at +47.9% to 2,802. 16 declined; ACURA fell most at −46.4%.</a:t>
            </a:r>
            <a:endParaRPr lang="en-US" sz="16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WARRANTY &amp; INTERNAL</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Warranty ELR</a:t>
            </a:r>
            <a:endParaRPr lang="en-US" sz="2800" dirty="0"/>
          </a:p>
        </p:txBody>
      </p:sp>
      <p:sp>
        <p:nvSpPr>
          <p:cNvPr id="5" name="Shape 3"/>
          <p:cNvSpPr/>
          <p:nvPr/>
        </p:nvSpPr>
        <p:spPr>
          <a:xfrm>
            <a:off x="457200" y="1207008"/>
            <a:ext cx="11274552" cy="1517904"/>
          </a:xfrm>
          <a:prstGeom prst="rect">
            <a:avLst/>
          </a:prstGeom>
          <a:solidFill>
            <a:srgbClr val="FFFFFF"/>
          </a:solidFill>
          <a:ln/>
        </p:spPr>
      </p:sp>
      <p:sp>
        <p:nvSpPr>
          <p:cNvPr id="6" name="Text 4"/>
          <p:cNvSpPr txBox="1"/>
          <p:nvPr/>
        </p:nvSpPr>
        <p:spPr>
          <a:xfrm>
            <a:off x="685800" y="1316736"/>
            <a:ext cx="10789920" cy="274320"/>
          </a:xfrm>
          <a:prstGeom prst="rect">
            <a:avLst/>
          </a:prstGeom>
          <a:noFill/>
          <a:ln/>
        </p:spPr>
        <p:txBody>
          <a:bodyPr wrap="square" lIns="0" tIns="0" rIns="0" bIns="0" rtlCol="0" anchor="ctr"/>
          <a:lstStyle/>
          <a:p>
            <a:pPr indent="0" marL="0">
              <a:buNone/>
            </a:pPr>
            <a:r>
              <a:rPr lang="en-US" sz="1400" spc="100" kern="0" dirty="0">
                <a:solidFill>
                  <a:srgbClr val="595959"/>
                </a:solidFill>
                <a:latin typeface="Inter" pitchFamily="34" charset="0"/>
                <a:ea typeface="Inter" pitchFamily="34" charset="-122"/>
                <a:cs typeface="Inter" pitchFamily="34" charset="-120"/>
              </a:rPr>
              <a:t>GROUP · JANUARY–SEPTEMBER · SAME-STORE, 33 STORES</a:t>
            </a:r>
            <a:endParaRPr lang="en-US" sz="1400" dirty="0"/>
          </a:p>
        </p:txBody>
      </p:sp>
      <p:sp>
        <p:nvSpPr>
          <p:cNvPr id="7" name="Text 5"/>
          <p:cNvSpPr txBox="1"/>
          <p:nvPr/>
        </p:nvSpPr>
        <p:spPr>
          <a:xfrm>
            <a:off x="68580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a:t>
            </a:r>
            <a:endParaRPr lang="en-US" sz="1400" dirty="0"/>
          </a:p>
        </p:txBody>
      </p:sp>
      <p:sp>
        <p:nvSpPr>
          <p:cNvPr id="8" name="Text 6"/>
          <p:cNvSpPr txBox="1"/>
          <p:nvPr/>
        </p:nvSpPr>
        <p:spPr>
          <a:xfrm>
            <a:off x="68580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$180.25</a:t>
            </a:r>
            <a:endParaRPr lang="en-US" sz="3000" dirty="0"/>
          </a:p>
        </p:txBody>
      </p:sp>
      <p:sp>
        <p:nvSpPr>
          <p:cNvPr id="9" name="Text 7"/>
          <p:cNvSpPr txBox="1"/>
          <p:nvPr/>
        </p:nvSpPr>
        <p:spPr>
          <a:xfrm>
            <a:off x="347472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a:t>
            </a:r>
            <a:endParaRPr lang="en-US" sz="1400" dirty="0"/>
          </a:p>
        </p:txBody>
      </p:sp>
      <p:sp>
        <p:nvSpPr>
          <p:cNvPr id="10" name="Text 8"/>
          <p:cNvSpPr txBox="1"/>
          <p:nvPr/>
        </p:nvSpPr>
        <p:spPr>
          <a:xfrm>
            <a:off x="347472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$197.17</a:t>
            </a:r>
            <a:endParaRPr lang="en-US" sz="3000" dirty="0"/>
          </a:p>
        </p:txBody>
      </p:sp>
      <p:sp>
        <p:nvSpPr>
          <p:cNvPr id="11" name="Text 9"/>
          <p:cNvSpPr txBox="1"/>
          <p:nvPr/>
        </p:nvSpPr>
        <p:spPr>
          <a:xfrm>
            <a:off x="626364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2" name="Text 10"/>
          <p:cNvSpPr txBox="1"/>
          <p:nvPr/>
        </p:nvSpPr>
        <p:spPr>
          <a:xfrm>
            <a:off x="626364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+$16.93</a:t>
            </a:r>
            <a:endParaRPr lang="en-US" sz="3000" dirty="0"/>
          </a:p>
        </p:txBody>
      </p:sp>
      <p:sp>
        <p:nvSpPr>
          <p:cNvPr id="13" name="Text 11"/>
          <p:cNvSpPr txBox="1"/>
          <p:nvPr/>
        </p:nvSpPr>
        <p:spPr>
          <a:xfrm>
            <a:off x="905256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4" name="Text 12"/>
          <p:cNvSpPr txBox="1"/>
          <p:nvPr/>
        </p:nvSpPr>
        <p:spPr>
          <a:xfrm>
            <a:off x="905256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+9.4%</a:t>
            </a:r>
            <a:endParaRPr lang="en-US" sz="3000" dirty="0"/>
          </a:p>
        </p:txBody>
      </p:sp>
      <p:graphicFrame>
        <p:nvGraphicFramePr>
          <p:cNvPr id="69" name="Table 0"/>
          <p:cNvGraphicFramePr>
            <a:graphicFrameLocks noGrp="1"/>
          </p:cNvGraphicFramePr>
          <p:nvPr>
            <p:extLst>
              <p:ext uri="{D42A27DB-BD31-4B8C-83A1-F6EECF244321}">
                <p14:modId xmlns:p14="http://schemas.microsoft.com/office/powerpoint/2010/main" val="1579011935"/>
              </p:ext>
            </p:extLst>
          </p:nvPr>
        </p:nvGraphicFramePr>
        <p:xfrm>
          <a:off x="457200" y="2816352"/>
          <a:ext cx="11274552" cy="914400"/>
        </p:xfrm>
        <a:graphic>
          <a:graphicData uri="http://schemas.openxmlformats.org/drawingml/2006/table">
            <a:tbl>
              <a:tblPr/>
              <a:tblGrid>
                <a:gridCol w="3118104"/>
                <a:gridCol w="2039112"/>
                <a:gridCol w="2039112"/>
                <a:gridCol w="2039112"/>
                <a:gridCol w="2039112"/>
              </a:tblGrid>
              <a:tr h="274320">
                <a:tc>
                  <a:txBody>
                    <a:bodyPr/>
                    <a:lstStyle/>
                    <a:p>
                      <a:pPr algn="l" indent="0" marL="0">
                        <a:buNone/>
                      </a:pPr>
                      <a:r>
                        <a:rPr lang="en-US" sz="1400" b="1" dirty="0">
                          <a:solidFill>
                            <a:srgbClr val="FFFFFF"/>
                          </a:solidFill>
                          <a:latin typeface="Inter" pitchFamily="34" charset="0"/>
                          <a:ea typeface="Inter" pitchFamily="34" charset="-122"/>
                          <a:cs typeface="Inter" pitchFamily="34" charset="-120"/>
                        </a:rPr>
                        <a:t>MONTH</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VARIANCE</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 %</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JAN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$175.24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$196.34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+$21.10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+12.0%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FEB</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$174.70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$197.60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+$22.90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+13.1%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$172.93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$196.73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+$23.80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+13.8%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APR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$175.61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$199.07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+$23.46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+13.4%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MAY</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$181.76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$194.28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+$12.52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+6.9%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$185.29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$194.35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+$9.06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JUL</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$186.84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$198.70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+$11.86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+6.3%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AUG</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$186.04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$198.48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+$12.44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+6.7%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SEP</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$186.63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$198.65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+$12.01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+6.4%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16" name="Shape 13"/>
          <p:cNvSpPr/>
          <p:nvPr/>
        </p:nvSpPr>
        <p:spPr>
          <a:xfrm>
            <a:off x="457200" y="5961888"/>
            <a:ext cx="11274552" cy="548640"/>
          </a:xfrm>
          <a:prstGeom prst="rect">
            <a:avLst/>
          </a:prstGeom>
          <a:solidFill>
            <a:srgbClr val="E6F6EE"/>
          </a:solidFill>
          <a:ln/>
        </p:spPr>
      </p:sp>
      <p:sp>
        <p:nvSpPr>
          <p:cNvPr id="17" name="Text 14"/>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Up $16.93 to $197.17, ahead of 2025 in all nine months.</a:t>
            </a:r>
            <a:endParaRPr lang="en-US" sz="16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WARRANTY &amp; INTERNAL</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Warranty ELR</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38988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7" name="Shape 5"/>
          <p:cNvSpPr/>
          <p:nvPr/>
        </p:nvSpPr>
        <p:spPr>
          <a:xfrm>
            <a:off x="2971800" y="1453358"/>
            <a:ext cx="1828800" cy="126940"/>
          </a:xfrm>
          <a:prstGeom prst="rect">
            <a:avLst/>
          </a:prstGeom>
          <a:solidFill>
            <a:srgbClr val="12A566"/>
          </a:solidFill>
          <a:ln/>
        </p:spPr>
      </p:sp>
      <p:sp>
        <p:nvSpPr>
          <p:cNvPr id="8" name="Text 6"/>
          <p:cNvSpPr txBox="1"/>
          <p:nvPr/>
        </p:nvSpPr>
        <p:spPr>
          <a:xfrm>
            <a:off x="4855464" y="1389888"/>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$308.88</a:t>
            </a:r>
            <a:endParaRPr lang="en-US" sz="1300" dirty="0"/>
          </a:p>
        </p:txBody>
      </p:sp>
      <p:sp>
        <p:nvSpPr>
          <p:cNvPr id="9" name="Text 7"/>
          <p:cNvSpPr txBox="1"/>
          <p:nvPr/>
        </p:nvSpPr>
        <p:spPr>
          <a:xfrm>
            <a:off x="658368" y="164376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10" name="Shape 8"/>
          <p:cNvSpPr/>
          <p:nvPr/>
        </p:nvSpPr>
        <p:spPr>
          <a:xfrm>
            <a:off x="2971800" y="1707239"/>
            <a:ext cx="1627721" cy="126940"/>
          </a:xfrm>
          <a:prstGeom prst="rect">
            <a:avLst/>
          </a:prstGeom>
          <a:solidFill>
            <a:srgbClr val="12A566"/>
          </a:solidFill>
          <a:ln/>
        </p:spPr>
      </p:sp>
      <p:sp>
        <p:nvSpPr>
          <p:cNvPr id="11" name="Text 9"/>
          <p:cNvSpPr txBox="1"/>
          <p:nvPr/>
        </p:nvSpPr>
        <p:spPr>
          <a:xfrm>
            <a:off x="4855464" y="1643768"/>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$274.91</a:t>
            </a:r>
            <a:endParaRPr lang="en-US" sz="1300" dirty="0"/>
          </a:p>
        </p:txBody>
      </p:sp>
      <p:sp>
        <p:nvSpPr>
          <p:cNvPr id="12" name="Text 10"/>
          <p:cNvSpPr txBox="1"/>
          <p:nvPr/>
        </p:nvSpPr>
        <p:spPr>
          <a:xfrm>
            <a:off x="658368" y="189764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13" name="Shape 11"/>
          <p:cNvSpPr/>
          <p:nvPr/>
        </p:nvSpPr>
        <p:spPr>
          <a:xfrm>
            <a:off x="2971800" y="1961119"/>
            <a:ext cx="1558331" cy="126940"/>
          </a:xfrm>
          <a:prstGeom prst="rect">
            <a:avLst/>
          </a:prstGeom>
          <a:solidFill>
            <a:srgbClr val="12A566"/>
          </a:solidFill>
          <a:ln/>
        </p:spPr>
      </p:sp>
      <p:sp>
        <p:nvSpPr>
          <p:cNvPr id="14" name="Text 12"/>
          <p:cNvSpPr txBox="1"/>
          <p:nvPr/>
        </p:nvSpPr>
        <p:spPr>
          <a:xfrm>
            <a:off x="4855464" y="1897649"/>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$263.19</a:t>
            </a:r>
            <a:endParaRPr lang="en-US" sz="1300" dirty="0"/>
          </a:p>
        </p:txBody>
      </p:sp>
      <p:sp>
        <p:nvSpPr>
          <p:cNvPr id="15" name="Text 13"/>
          <p:cNvSpPr txBox="1"/>
          <p:nvPr/>
        </p:nvSpPr>
        <p:spPr>
          <a:xfrm>
            <a:off x="658368" y="215152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16" name="Shape 14"/>
          <p:cNvSpPr/>
          <p:nvPr/>
        </p:nvSpPr>
        <p:spPr>
          <a:xfrm>
            <a:off x="2971800" y="2215000"/>
            <a:ext cx="1388496" cy="126940"/>
          </a:xfrm>
          <a:prstGeom prst="rect">
            <a:avLst/>
          </a:prstGeom>
          <a:solidFill>
            <a:srgbClr val="12A566"/>
          </a:solidFill>
          <a:ln/>
        </p:spPr>
      </p:sp>
      <p:sp>
        <p:nvSpPr>
          <p:cNvPr id="17" name="Text 15"/>
          <p:cNvSpPr txBox="1"/>
          <p:nvPr/>
        </p:nvSpPr>
        <p:spPr>
          <a:xfrm>
            <a:off x="4855464" y="2151529"/>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$234.51</a:t>
            </a:r>
            <a:endParaRPr lang="en-US" sz="1300" dirty="0"/>
          </a:p>
        </p:txBody>
      </p:sp>
      <p:sp>
        <p:nvSpPr>
          <p:cNvPr id="18" name="Text 16"/>
          <p:cNvSpPr txBox="1"/>
          <p:nvPr/>
        </p:nvSpPr>
        <p:spPr>
          <a:xfrm>
            <a:off x="658368" y="240541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19" name="Shape 17"/>
          <p:cNvSpPr/>
          <p:nvPr/>
        </p:nvSpPr>
        <p:spPr>
          <a:xfrm>
            <a:off x="2971800" y="2468880"/>
            <a:ext cx="1352279" cy="126940"/>
          </a:xfrm>
          <a:prstGeom prst="rect">
            <a:avLst/>
          </a:prstGeom>
          <a:solidFill>
            <a:srgbClr val="12A566"/>
          </a:solidFill>
          <a:ln/>
        </p:spPr>
      </p:sp>
      <p:sp>
        <p:nvSpPr>
          <p:cNvPr id="20" name="Text 18"/>
          <p:cNvSpPr txBox="1"/>
          <p:nvPr/>
        </p:nvSpPr>
        <p:spPr>
          <a:xfrm>
            <a:off x="4855464" y="2405410"/>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$228.39</a:t>
            </a:r>
            <a:endParaRPr lang="en-US" sz="1300" dirty="0"/>
          </a:p>
        </p:txBody>
      </p:sp>
      <p:sp>
        <p:nvSpPr>
          <p:cNvPr id="21" name="Text 19"/>
          <p:cNvSpPr txBox="1"/>
          <p:nvPr/>
        </p:nvSpPr>
        <p:spPr>
          <a:xfrm>
            <a:off x="658368" y="265929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22" name="Shape 20"/>
          <p:cNvSpPr/>
          <p:nvPr/>
        </p:nvSpPr>
        <p:spPr>
          <a:xfrm>
            <a:off x="2971800" y="2722760"/>
            <a:ext cx="1283922" cy="126940"/>
          </a:xfrm>
          <a:prstGeom prst="rect">
            <a:avLst/>
          </a:prstGeom>
          <a:solidFill>
            <a:srgbClr val="12A566"/>
          </a:solidFill>
          <a:ln/>
        </p:spPr>
      </p:sp>
      <p:sp>
        <p:nvSpPr>
          <p:cNvPr id="23" name="Text 21"/>
          <p:cNvSpPr txBox="1"/>
          <p:nvPr/>
        </p:nvSpPr>
        <p:spPr>
          <a:xfrm>
            <a:off x="4855464" y="2659290"/>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$216.85</a:t>
            </a:r>
            <a:endParaRPr lang="en-US" sz="1300" dirty="0"/>
          </a:p>
        </p:txBody>
      </p:sp>
      <p:sp>
        <p:nvSpPr>
          <p:cNvPr id="24" name="Text 22"/>
          <p:cNvSpPr txBox="1"/>
          <p:nvPr/>
        </p:nvSpPr>
        <p:spPr>
          <a:xfrm>
            <a:off x="658368" y="291317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25" name="Shape 23"/>
          <p:cNvSpPr/>
          <p:nvPr/>
        </p:nvSpPr>
        <p:spPr>
          <a:xfrm>
            <a:off x="2971800" y="2976641"/>
            <a:ext cx="1257538" cy="126940"/>
          </a:xfrm>
          <a:prstGeom prst="rect">
            <a:avLst/>
          </a:prstGeom>
          <a:solidFill>
            <a:srgbClr val="12A566"/>
          </a:solidFill>
          <a:ln/>
        </p:spPr>
      </p:sp>
      <p:sp>
        <p:nvSpPr>
          <p:cNvPr id="26" name="Text 24"/>
          <p:cNvSpPr txBox="1"/>
          <p:nvPr/>
        </p:nvSpPr>
        <p:spPr>
          <a:xfrm>
            <a:off x="4855464" y="2913171"/>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$212.39</a:t>
            </a:r>
            <a:endParaRPr lang="en-US" sz="1300" dirty="0"/>
          </a:p>
        </p:txBody>
      </p:sp>
      <p:sp>
        <p:nvSpPr>
          <p:cNvPr id="27" name="Text 25"/>
          <p:cNvSpPr txBox="1"/>
          <p:nvPr/>
        </p:nvSpPr>
        <p:spPr>
          <a:xfrm>
            <a:off x="658368" y="316705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28" name="Shape 26"/>
          <p:cNvSpPr/>
          <p:nvPr/>
        </p:nvSpPr>
        <p:spPr>
          <a:xfrm>
            <a:off x="2971800" y="3230521"/>
            <a:ext cx="1241428" cy="126940"/>
          </a:xfrm>
          <a:prstGeom prst="rect">
            <a:avLst/>
          </a:prstGeom>
          <a:solidFill>
            <a:srgbClr val="12A566"/>
          </a:solidFill>
          <a:ln/>
        </p:spPr>
      </p:sp>
      <p:sp>
        <p:nvSpPr>
          <p:cNvPr id="29" name="Text 27"/>
          <p:cNvSpPr txBox="1"/>
          <p:nvPr/>
        </p:nvSpPr>
        <p:spPr>
          <a:xfrm>
            <a:off x="4855464" y="3167051"/>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$209.67</a:t>
            </a:r>
            <a:endParaRPr lang="en-US" sz="1300" dirty="0"/>
          </a:p>
        </p:txBody>
      </p:sp>
      <p:sp>
        <p:nvSpPr>
          <p:cNvPr id="30" name="Text 28"/>
          <p:cNvSpPr txBox="1"/>
          <p:nvPr/>
        </p:nvSpPr>
        <p:spPr>
          <a:xfrm>
            <a:off x="658368" y="342093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31" name="Shape 29"/>
          <p:cNvSpPr/>
          <p:nvPr/>
        </p:nvSpPr>
        <p:spPr>
          <a:xfrm>
            <a:off x="2971800" y="3484402"/>
            <a:ext cx="1240270" cy="126940"/>
          </a:xfrm>
          <a:prstGeom prst="rect">
            <a:avLst/>
          </a:prstGeom>
          <a:solidFill>
            <a:srgbClr val="12A566"/>
          </a:solidFill>
          <a:ln/>
        </p:spPr>
      </p:sp>
      <p:sp>
        <p:nvSpPr>
          <p:cNvPr id="32" name="Text 30"/>
          <p:cNvSpPr txBox="1"/>
          <p:nvPr/>
        </p:nvSpPr>
        <p:spPr>
          <a:xfrm>
            <a:off x="4855464" y="3420932"/>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$209.48</a:t>
            </a:r>
            <a:endParaRPr lang="en-US" sz="1300" dirty="0"/>
          </a:p>
        </p:txBody>
      </p:sp>
      <p:sp>
        <p:nvSpPr>
          <p:cNvPr id="33" name="Text 31"/>
          <p:cNvSpPr txBox="1"/>
          <p:nvPr/>
        </p:nvSpPr>
        <p:spPr>
          <a:xfrm>
            <a:off x="658368" y="367481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34" name="Shape 32"/>
          <p:cNvSpPr/>
          <p:nvPr/>
        </p:nvSpPr>
        <p:spPr>
          <a:xfrm>
            <a:off x="2971800" y="3738282"/>
            <a:ext cx="1225368" cy="126940"/>
          </a:xfrm>
          <a:prstGeom prst="rect">
            <a:avLst/>
          </a:prstGeom>
          <a:solidFill>
            <a:srgbClr val="12A566"/>
          </a:solidFill>
          <a:ln/>
        </p:spPr>
      </p:sp>
      <p:sp>
        <p:nvSpPr>
          <p:cNvPr id="35" name="Text 33"/>
          <p:cNvSpPr txBox="1"/>
          <p:nvPr/>
        </p:nvSpPr>
        <p:spPr>
          <a:xfrm>
            <a:off x="4855464" y="3674812"/>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$206.96</a:t>
            </a:r>
            <a:endParaRPr lang="en-US" sz="1300" dirty="0"/>
          </a:p>
        </p:txBody>
      </p:sp>
      <p:sp>
        <p:nvSpPr>
          <p:cNvPr id="36" name="Text 34"/>
          <p:cNvSpPr txBox="1"/>
          <p:nvPr/>
        </p:nvSpPr>
        <p:spPr>
          <a:xfrm>
            <a:off x="658368" y="392869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37" name="Shape 35"/>
          <p:cNvSpPr/>
          <p:nvPr/>
        </p:nvSpPr>
        <p:spPr>
          <a:xfrm>
            <a:off x="2971800" y="3992163"/>
            <a:ext cx="1225312" cy="126940"/>
          </a:xfrm>
          <a:prstGeom prst="rect">
            <a:avLst/>
          </a:prstGeom>
          <a:solidFill>
            <a:srgbClr val="12A566"/>
          </a:solidFill>
          <a:ln/>
        </p:spPr>
      </p:sp>
      <p:sp>
        <p:nvSpPr>
          <p:cNvPr id="38" name="Text 36"/>
          <p:cNvSpPr txBox="1"/>
          <p:nvPr/>
        </p:nvSpPr>
        <p:spPr>
          <a:xfrm>
            <a:off x="4855464" y="3928693"/>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$206.95</a:t>
            </a:r>
            <a:endParaRPr lang="en-US" sz="1300" dirty="0"/>
          </a:p>
        </p:txBody>
      </p:sp>
      <p:sp>
        <p:nvSpPr>
          <p:cNvPr id="39" name="Text 37"/>
          <p:cNvSpPr txBox="1"/>
          <p:nvPr/>
        </p:nvSpPr>
        <p:spPr>
          <a:xfrm>
            <a:off x="658368" y="418257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40" name="Shape 38"/>
          <p:cNvSpPr/>
          <p:nvPr/>
        </p:nvSpPr>
        <p:spPr>
          <a:xfrm>
            <a:off x="2971800" y="4246043"/>
            <a:ext cx="1169889" cy="126940"/>
          </a:xfrm>
          <a:prstGeom prst="rect">
            <a:avLst/>
          </a:prstGeom>
          <a:solidFill>
            <a:srgbClr val="12A566"/>
          </a:solidFill>
          <a:ln/>
        </p:spPr>
      </p:sp>
      <p:sp>
        <p:nvSpPr>
          <p:cNvPr id="41" name="Text 39"/>
          <p:cNvSpPr txBox="1"/>
          <p:nvPr/>
        </p:nvSpPr>
        <p:spPr>
          <a:xfrm>
            <a:off x="4855464" y="4182573"/>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$197.59</a:t>
            </a:r>
            <a:endParaRPr lang="en-US" sz="1300" dirty="0"/>
          </a:p>
        </p:txBody>
      </p:sp>
      <p:sp>
        <p:nvSpPr>
          <p:cNvPr id="42" name="Shape 40"/>
          <p:cNvSpPr/>
          <p:nvPr/>
        </p:nvSpPr>
        <p:spPr>
          <a:xfrm>
            <a:off x="585216" y="4431882"/>
            <a:ext cx="5413248" cy="244736"/>
          </a:xfrm>
          <a:prstGeom prst="rect">
            <a:avLst/>
          </a:prstGeom>
          <a:solidFill>
            <a:srgbClr val="EDF4FA"/>
          </a:solidFill>
          <a:ln/>
        </p:spPr>
      </p:sp>
      <p:sp>
        <p:nvSpPr>
          <p:cNvPr id="43" name="Text 41"/>
          <p:cNvSpPr txBox="1"/>
          <p:nvPr/>
        </p:nvSpPr>
        <p:spPr>
          <a:xfrm>
            <a:off x="658368" y="4436454"/>
            <a:ext cx="2240280" cy="253880"/>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GROUP</a:t>
            </a:r>
            <a:endParaRPr lang="en-US" sz="1300" dirty="0"/>
          </a:p>
        </p:txBody>
      </p:sp>
      <p:sp>
        <p:nvSpPr>
          <p:cNvPr id="44" name="Shape 42"/>
          <p:cNvSpPr/>
          <p:nvPr/>
        </p:nvSpPr>
        <p:spPr>
          <a:xfrm>
            <a:off x="2971800" y="4499924"/>
            <a:ext cx="1167428" cy="126940"/>
          </a:xfrm>
          <a:prstGeom prst="rect">
            <a:avLst/>
          </a:prstGeom>
          <a:solidFill>
            <a:srgbClr val="0B2C4A"/>
          </a:solidFill>
          <a:ln/>
        </p:spPr>
      </p:sp>
      <p:sp>
        <p:nvSpPr>
          <p:cNvPr id="45" name="Text 43"/>
          <p:cNvSpPr txBox="1"/>
          <p:nvPr/>
        </p:nvSpPr>
        <p:spPr>
          <a:xfrm>
            <a:off x="4855464" y="4436454"/>
            <a:ext cx="1088136" cy="253880"/>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$197.17</a:t>
            </a:r>
            <a:endParaRPr lang="en-US" sz="1300" dirty="0"/>
          </a:p>
        </p:txBody>
      </p:sp>
      <p:sp>
        <p:nvSpPr>
          <p:cNvPr id="46" name="Text 44"/>
          <p:cNvSpPr txBox="1"/>
          <p:nvPr/>
        </p:nvSpPr>
        <p:spPr>
          <a:xfrm>
            <a:off x="658368" y="469033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47" name="Shape 45"/>
          <p:cNvSpPr/>
          <p:nvPr/>
        </p:nvSpPr>
        <p:spPr>
          <a:xfrm>
            <a:off x="2971800" y="4753804"/>
            <a:ext cx="1156760" cy="126940"/>
          </a:xfrm>
          <a:prstGeom prst="rect">
            <a:avLst/>
          </a:prstGeom>
          <a:solidFill>
            <a:srgbClr val="C2352F"/>
          </a:solidFill>
          <a:ln/>
        </p:spPr>
      </p:sp>
      <p:sp>
        <p:nvSpPr>
          <p:cNvPr id="48" name="Text 46"/>
          <p:cNvSpPr txBox="1"/>
          <p:nvPr/>
        </p:nvSpPr>
        <p:spPr>
          <a:xfrm>
            <a:off x="4855464" y="4690334"/>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$195.37</a:t>
            </a:r>
            <a:endParaRPr lang="en-US" sz="1300" dirty="0"/>
          </a:p>
        </p:txBody>
      </p:sp>
      <p:sp>
        <p:nvSpPr>
          <p:cNvPr id="49" name="Text 47"/>
          <p:cNvSpPr txBox="1"/>
          <p:nvPr/>
        </p:nvSpPr>
        <p:spPr>
          <a:xfrm>
            <a:off x="658368" y="494421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50" name="Shape 48"/>
          <p:cNvSpPr/>
          <p:nvPr/>
        </p:nvSpPr>
        <p:spPr>
          <a:xfrm>
            <a:off x="2971800" y="5007685"/>
            <a:ext cx="1155534" cy="126940"/>
          </a:xfrm>
          <a:prstGeom prst="rect">
            <a:avLst/>
          </a:prstGeom>
          <a:solidFill>
            <a:srgbClr val="C2352F"/>
          </a:solidFill>
          <a:ln/>
        </p:spPr>
      </p:sp>
      <p:sp>
        <p:nvSpPr>
          <p:cNvPr id="51" name="Text 49"/>
          <p:cNvSpPr txBox="1"/>
          <p:nvPr/>
        </p:nvSpPr>
        <p:spPr>
          <a:xfrm>
            <a:off x="4855464" y="4944215"/>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$195.16</a:t>
            </a:r>
            <a:endParaRPr lang="en-US" sz="1300" dirty="0"/>
          </a:p>
        </p:txBody>
      </p:sp>
      <p:sp>
        <p:nvSpPr>
          <p:cNvPr id="52" name="Text 50"/>
          <p:cNvSpPr txBox="1"/>
          <p:nvPr/>
        </p:nvSpPr>
        <p:spPr>
          <a:xfrm>
            <a:off x="658368" y="519809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53" name="Shape 51"/>
          <p:cNvSpPr/>
          <p:nvPr/>
        </p:nvSpPr>
        <p:spPr>
          <a:xfrm>
            <a:off x="2971800" y="5261565"/>
            <a:ext cx="1101297" cy="126940"/>
          </a:xfrm>
          <a:prstGeom prst="rect">
            <a:avLst/>
          </a:prstGeom>
          <a:solidFill>
            <a:srgbClr val="C2352F"/>
          </a:solidFill>
          <a:ln/>
        </p:spPr>
      </p:sp>
      <p:sp>
        <p:nvSpPr>
          <p:cNvPr id="54" name="Text 52"/>
          <p:cNvSpPr txBox="1"/>
          <p:nvPr/>
        </p:nvSpPr>
        <p:spPr>
          <a:xfrm>
            <a:off x="4855464" y="5198095"/>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$186.00</a:t>
            </a:r>
            <a:endParaRPr lang="en-US" sz="1300" dirty="0"/>
          </a:p>
        </p:txBody>
      </p:sp>
      <p:sp>
        <p:nvSpPr>
          <p:cNvPr id="55" name="Text 53"/>
          <p:cNvSpPr txBox="1"/>
          <p:nvPr/>
        </p:nvSpPr>
        <p:spPr>
          <a:xfrm>
            <a:off x="658368" y="5451976"/>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56" name="Shape 54"/>
          <p:cNvSpPr/>
          <p:nvPr/>
        </p:nvSpPr>
        <p:spPr>
          <a:xfrm>
            <a:off x="2971800" y="5515446"/>
            <a:ext cx="1083295" cy="126940"/>
          </a:xfrm>
          <a:prstGeom prst="rect">
            <a:avLst/>
          </a:prstGeom>
          <a:solidFill>
            <a:srgbClr val="C2352F"/>
          </a:solidFill>
          <a:ln/>
        </p:spPr>
      </p:sp>
      <p:sp>
        <p:nvSpPr>
          <p:cNvPr id="57" name="Text 55"/>
          <p:cNvSpPr txBox="1"/>
          <p:nvPr/>
        </p:nvSpPr>
        <p:spPr>
          <a:xfrm>
            <a:off x="4855464" y="5451976"/>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$182.96</a:t>
            </a:r>
            <a:endParaRPr lang="en-US" sz="1300" dirty="0"/>
          </a:p>
        </p:txBody>
      </p:sp>
      <p:sp>
        <p:nvSpPr>
          <p:cNvPr id="58" name="Text 56"/>
          <p:cNvSpPr txBox="1"/>
          <p:nvPr/>
        </p:nvSpPr>
        <p:spPr>
          <a:xfrm>
            <a:off x="6208776" y="138988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59" name="Shape 57"/>
          <p:cNvSpPr/>
          <p:nvPr/>
        </p:nvSpPr>
        <p:spPr>
          <a:xfrm>
            <a:off x="8522208" y="1453358"/>
            <a:ext cx="1069642" cy="126940"/>
          </a:xfrm>
          <a:prstGeom prst="rect">
            <a:avLst/>
          </a:prstGeom>
          <a:solidFill>
            <a:srgbClr val="C2352F"/>
          </a:solidFill>
          <a:ln/>
        </p:spPr>
      </p:sp>
      <p:sp>
        <p:nvSpPr>
          <p:cNvPr id="60" name="Text 58"/>
          <p:cNvSpPr txBox="1"/>
          <p:nvPr/>
        </p:nvSpPr>
        <p:spPr>
          <a:xfrm>
            <a:off x="10405872" y="1389888"/>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$180.66</a:t>
            </a:r>
            <a:endParaRPr lang="en-US" sz="1300" dirty="0"/>
          </a:p>
        </p:txBody>
      </p:sp>
      <p:sp>
        <p:nvSpPr>
          <p:cNvPr id="61" name="Text 59"/>
          <p:cNvSpPr txBox="1"/>
          <p:nvPr/>
        </p:nvSpPr>
        <p:spPr>
          <a:xfrm>
            <a:off x="6208776" y="164376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62" name="Shape 60"/>
          <p:cNvSpPr/>
          <p:nvPr/>
        </p:nvSpPr>
        <p:spPr>
          <a:xfrm>
            <a:off x="8522208" y="1707239"/>
            <a:ext cx="1069154" cy="126940"/>
          </a:xfrm>
          <a:prstGeom prst="rect">
            <a:avLst/>
          </a:prstGeom>
          <a:solidFill>
            <a:srgbClr val="C2352F"/>
          </a:solidFill>
          <a:ln/>
        </p:spPr>
      </p:sp>
      <p:sp>
        <p:nvSpPr>
          <p:cNvPr id="63" name="Text 61"/>
          <p:cNvSpPr txBox="1"/>
          <p:nvPr/>
        </p:nvSpPr>
        <p:spPr>
          <a:xfrm>
            <a:off x="10405872" y="1643768"/>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$180.57</a:t>
            </a:r>
            <a:endParaRPr lang="en-US" sz="1300" dirty="0"/>
          </a:p>
        </p:txBody>
      </p:sp>
      <p:sp>
        <p:nvSpPr>
          <p:cNvPr id="64" name="Text 62"/>
          <p:cNvSpPr txBox="1"/>
          <p:nvPr/>
        </p:nvSpPr>
        <p:spPr>
          <a:xfrm>
            <a:off x="6208776" y="189764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65" name="Shape 63"/>
          <p:cNvSpPr/>
          <p:nvPr/>
        </p:nvSpPr>
        <p:spPr>
          <a:xfrm>
            <a:off x="8522208" y="1961119"/>
            <a:ext cx="1051573" cy="126940"/>
          </a:xfrm>
          <a:prstGeom prst="rect">
            <a:avLst/>
          </a:prstGeom>
          <a:solidFill>
            <a:srgbClr val="C2352F"/>
          </a:solidFill>
          <a:ln/>
        </p:spPr>
      </p:sp>
      <p:sp>
        <p:nvSpPr>
          <p:cNvPr id="66" name="Text 64"/>
          <p:cNvSpPr txBox="1"/>
          <p:nvPr/>
        </p:nvSpPr>
        <p:spPr>
          <a:xfrm>
            <a:off x="10405872" y="1897649"/>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$177.61</a:t>
            </a:r>
            <a:endParaRPr lang="en-US" sz="1300" dirty="0"/>
          </a:p>
        </p:txBody>
      </p:sp>
      <p:sp>
        <p:nvSpPr>
          <p:cNvPr id="67" name="Text 65"/>
          <p:cNvSpPr txBox="1"/>
          <p:nvPr/>
        </p:nvSpPr>
        <p:spPr>
          <a:xfrm>
            <a:off x="6208776" y="215152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68" name="Shape 66"/>
          <p:cNvSpPr/>
          <p:nvPr/>
        </p:nvSpPr>
        <p:spPr>
          <a:xfrm>
            <a:off x="8522208" y="2215000"/>
            <a:ext cx="1045639" cy="126940"/>
          </a:xfrm>
          <a:prstGeom prst="rect">
            <a:avLst/>
          </a:prstGeom>
          <a:solidFill>
            <a:srgbClr val="C2352F"/>
          </a:solidFill>
          <a:ln/>
        </p:spPr>
      </p:sp>
      <p:sp>
        <p:nvSpPr>
          <p:cNvPr id="69" name="Text 67"/>
          <p:cNvSpPr txBox="1"/>
          <p:nvPr/>
        </p:nvSpPr>
        <p:spPr>
          <a:xfrm>
            <a:off x="10405872" y="2151529"/>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$176.60</a:t>
            </a:r>
            <a:endParaRPr lang="en-US" sz="1300" dirty="0"/>
          </a:p>
        </p:txBody>
      </p:sp>
      <p:sp>
        <p:nvSpPr>
          <p:cNvPr id="70" name="Text 68"/>
          <p:cNvSpPr txBox="1"/>
          <p:nvPr/>
        </p:nvSpPr>
        <p:spPr>
          <a:xfrm>
            <a:off x="6208776" y="240541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71" name="Shape 69"/>
          <p:cNvSpPr/>
          <p:nvPr/>
        </p:nvSpPr>
        <p:spPr>
          <a:xfrm>
            <a:off x="8522208" y="2468880"/>
            <a:ext cx="1027545" cy="126940"/>
          </a:xfrm>
          <a:prstGeom prst="rect">
            <a:avLst/>
          </a:prstGeom>
          <a:solidFill>
            <a:srgbClr val="C2352F"/>
          </a:solidFill>
          <a:ln/>
        </p:spPr>
      </p:sp>
      <p:sp>
        <p:nvSpPr>
          <p:cNvPr id="72" name="Text 70"/>
          <p:cNvSpPr txBox="1"/>
          <p:nvPr/>
        </p:nvSpPr>
        <p:spPr>
          <a:xfrm>
            <a:off x="10405872" y="2405410"/>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$173.55</a:t>
            </a:r>
            <a:endParaRPr lang="en-US" sz="1300" dirty="0"/>
          </a:p>
        </p:txBody>
      </p:sp>
      <p:sp>
        <p:nvSpPr>
          <p:cNvPr id="73" name="Text 71"/>
          <p:cNvSpPr txBox="1"/>
          <p:nvPr/>
        </p:nvSpPr>
        <p:spPr>
          <a:xfrm>
            <a:off x="6208776" y="265929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74" name="Shape 72"/>
          <p:cNvSpPr/>
          <p:nvPr/>
        </p:nvSpPr>
        <p:spPr>
          <a:xfrm>
            <a:off x="8522208" y="2722760"/>
            <a:ext cx="1015119" cy="126940"/>
          </a:xfrm>
          <a:prstGeom prst="rect">
            <a:avLst/>
          </a:prstGeom>
          <a:solidFill>
            <a:srgbClr val="C2352F"/>
          </a:solidFill>
          <a:ln/>
        </p:spPr>
      </p:sp>
      <p:sp>
        <p:nvSpPr>
          <p:cNvPr id="75" name="Text 73"/>
          <p:cNvSpPr txBox="1"/>
          <p:nvPr/>
        </p:nvSpPr>
        <p:spPr>
          <a:xfrm>
            <a:off x="10405872" y="2659290"/>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$171.45</a:t>
            </a:r>
            <a:endParaRPr lang="en-US" sz="1300" dirty="0"/>
          </a:p>
        </p:txBody>
      </p:sp>
      <p:sp>
        <p:nvSpPr>
          <p:cNvPr id="76" name="Text 74"/>
          <p:cNvSpPr txBox="1"/>
          <p:nvPr/>
        </p:nvSpPr>
        <p:spPr>
          <a:xfrm>
            <a:off x="6208776" y="291317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77" name="Shape 75"/>
          <p:cNvSpPr/>
          <p:nvPr/>
        </p:nvSpPr>
        <p:spPr>
          <a:xfrm>
            <a:off x="8522208" y="2976641"/>
            <a:ext cx="1013968" cy="126940"/>
          </a:xfrm>
          <a:prstGeom prst="rect">
            <a:avLst/>
          </a:prstGeom>
          <a:solidFill>
            <a:srgbClr val="C2352F"/>
          </a:solidFill>
          <a:ln/>
        </p:spPr>
      </p:sp>
      <p:sp>
        <p:nvSpPr>
          <p:cNvPr id="78" name="Text 76"/>
          <p:cNvSpPr txBox="1"/>
          <p:nvPr/>
        </p:nvSpPr>
        <p:spPr>
          <a:xfrm>
            <a:off x="10405872" y="2913171"/>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$171.25</a:t>
            </a:r>
            <a:endParaRPr lang="en-US" sz="1300" dirty="0"/>
          </a:p>
        </p:txBody>
      </p:sp>
      <p:sp>
        <p:nvSpPr>
          <p:cNvPr id="79" name="Text 77"/>
          <p:cNvSpPr txBox="1"/>
          <p:nvPr/>
        </p:nvSpPr>
        <p:spPr>
          <a:xfrm>
            <a:off x="6208776" y="316705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80" name="Shape 78"/>
          <p:cNvSpPr/>
          <p:nvPr/>
        </p:nvSpPr>
        <p:spPr>
          <a:xfrm>
            <a:off x="8522208" y="3230521"/>
            <a:ext cx="1012302" cy="126940"/>
          </a:xfrm>
          <a:prstGeom prst="rect">
            <a:avLst/>
          </a:prstGeom>
          <a:solidFill>
            <a:srgbClr val="C2352F"/>
          </a:solidFill>
          <a:ln/>
        </p:spPr>
      </p:sp>
      <p:sp>
        <p:nvSpPr>
          <p:cNvPr id="81" name="Text 79"/>
          <p:cNvSpPr txBox="1"/>
          <p:nvPr/>
        </p:nvSpPr>
        <p:spPr>
          <a:xfrm>
            <a:off x="10405872" y="3167051"/>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$170.97</a:t>
            </a:r>
            <a:endParaRPr lang="en-US" sz="1300" dirty="0"/>
          </a:p>
        </p:txBody>
      </p:sp>
      <p:sp>
        <p:nvSpPr>
          <p:cNvPr id="82" name="Text 80"/>
          <p:cNvSpPr txBox="1"/>
          <p:nvPr/>
        </p:nvSpPr>
        <p:spPr>
          <a:xfrm>
            <a:off x="6208776" y="342093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83" name="Shape 81"/>
          <p:cNvSpPr/>
          <p:nvPr/>
        </p:nvSpPr>
        <p:spPr>
          <a:xfrm>
            <a:off x="8522208" y="3484402"/>
            <a:ext cx="1010417" cy="126940"/>
          </a:xfrm>
          <a:prstGeom prst="rect">
            <a:avLst/>
          </a:prstGeom>
          <a:solidFill>
            <a:srgbClr val="C2352F"/>
          </a:solidFill>
          <a:ln/>
        </p:spPr>
      </p:sp>
      <p:sp>
        <p:nvSpPr>
          <p:cNvPr id="84" name="Text 82"/>
          <p:cNvSpPr txBox="1"/>
          <p:nvPr/>
        </p:nvSpPr>
        <p:spPr>
          <a:xfrm>
            <a:off x="10405872" y="3420932"/>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$170.65</a:t>
            </a:r>
            <a:endParaRPr lang="en-US" sz="1300" dirty="0"/>
          </a:p>
        </p:txBody>
      </p:sp>
      <p:sp>
        <p:nvSpPr>
          <p:cNvPr id="85" name="Text 83"/>
          <p:cNvSpPr txBox="1"/>
          <p:nvPr/>
        </p:nvSpPr>
        <p:spPr>
          <a:xfrm>
            <a:off x="6208776" y="367481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86" name="Shape 84"/>
          <p:cNvSpPr/>
          <p:nvPr/>
        </p:nvSpPr>
        <p:spPr>
          <a:xfrm>
            <a:off x="8522208" y="3738282"/>
            <a:ext cx="971972" cy="126940"/>
          </a:xfrm>
          <a:prstGeom prst="rect">
            <a:avLst/>
          </a:prstGeom>
          <a:solidFill>
            <a:srgbClr val="C2352F"/>
          </a:solidFill>
          <a:ln/>
        </p:spPr>
      </p:sp>
      <p:sp>
        <p:nvSpPr>
          <p:cNvPr id="87" name="Text 85"/>
          <p:cNvSpPr txBox="1"/>
          <p:nvPr/>
        </p:nvSpPr>
        <p:spPr>
          <a:xfrm>
            <a:off x="10405872" y="3674812"/>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$164.16</a:t>
            </a:r>
            <a:endParaRPr lang="en-US" sz="1300" dirty="0"/>
          </a:p>
        </p:txBody>
      </p:sp>
      <p:sp>
        <p:nvSpPr>
          <p:cNvPr id="88" name="Text 86"/>
          <p:cNvSpPr txBox="1"/>
          <p:nvPr/>
        </p:nvSpPr>
        <p:spPr>
          <a:xfrm>
            <a:off x="6208776" y="392869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89" name="Shape 87"/>
          <p:cNvSpPr/>
          <p:nvPr/>
        </p:nvSpPr>
        <p:spPr>
          <a:xfrm>
            <a:off x="8522208" y="3992163"/>
            <a:ext cx="949424" cy="126940"/>
          </a:xfrm>
          <a:prstGeom prst="rect">
            <a:avLst/>
          </a:prstGeom>
          <a:solidFill>
            <a:srgbClr val="C2352F"/>
          </a:solidFill>
          <a:ln/>
        </p:spPr>
      </p:sp>
      <p:sp>
        <p:nvSpPr>
          <p:cNvPr id="90" name="Text 88"/>
          <p:cNvSpPr txBox="1"/>
          <p:nvPr/>
        </p:nvSpPr>
        <p:spPr>
          <a:xfrm>
            <a:off x="10405872" y="3928693"/>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$160.35</a:t>
            </a:r>
            <a:endParaRPr lang="en-US" sz="1300" dirty="0"/>
          </a:p>
        </p:txBody>
      </p:sp>
      <p:sp>
        <p:nvSpPr>
          <p:cNvPr id="91" name="Text 89"/>
          <p:cNvSpPr txBox="1"/>
          <p:nvPr/>
        </p:nvSpPr>
        <p:spPr>
          <a:xfrm>
            <a:off x="6208776" y="418257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92" name="Shape 90"/>
          <p:cNvSpPr/>
          <p:nvPr/>
        </p:nvSpPr>
        <p:spPr>
          <a:xfrm>
            <a:off x="8522208" y="4246043"/>
            <a:ext cx="934359" cy="126940"/>
          </a:xfrm>
          <a:prstGeom prst="rect">
            <a:avLst/>
          </a:prstGeom>
          <a:solidFill>
            <a:srgbClr val="C2352F"/>
          </a:solidFill>
          <a:ln/>
        </p:spPr>
      </p:sp>
      <p:sp>
        <p:nvSpPr>
          <p:cNvPr id="93" name="Text 91"/>
          <p:cNvSpPr txBox="1"/>
          <p:nvPr/>
        </p:nvSpPr>
        <p:spPr>
          <a:xfrm>
            <a:off x="10405872" y="4182573"/>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$157.81</a:t>
            </a:r>
            <a:endParaRPr lang="en-US" sz="1300" dirty="0"/>
          </a:p>
        </p:txBody>
      </p:sp>
      <p:sp>
        <p:nvSpPr>
          <p:cNvPr id="94" name="Text 92"/>
          <p:cNvSpPr txBox="1"/>
          <p:nvPr/>
        </p:nvSpPr>
        <p:spPr>
          <a:xfrm>
            <a:off x="6208776" y="443645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95" name="Shape 93"/>
          <p:cNvSpPr/>
          <p:nvPr/>
        </p:nvSpPr>
        <p:spPr>
          <a:xfrm>
            <a:off x="8522208" y="4499924"/>
            <a:ext cx="922921" cy="126940"/>
          </a:xfrm>
          <a:prstGeom prst="rect">
            <a:avLst/>
          </a:prstGeom>
          <a:solidFill>
            <a:srgbClr val="C2352F"/>
          </a:solidFill>
          <a:ln/>
        </p:spPr>
      </p:sp>
      <p:sp>
        <p:nvSpPr>
          <p:cNvPr id="96" name="Text 94"/>
          <p:cNvSpPr txBox="1"/>
          <p:nvPr/>
        </p:nvSpPr>
        <p:spPr>
          <a:xfrm>
            <a:off x="10405872" y="4436454"/>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$155.88</a:t>
            </a:r>
            <a:endParaRPr lang="en-US" sz="1300" dirty="0"/>
          </a:p>
        </p:txBody>
      </p:sp>
      <p:sp>
        <p:nvSpPr>
          <p:cNvPr id="97" name="Text 95"/>
          <p:cNvSpPr txBox="1"/>
          <p:nvPr/>
        </p:nvSpPr>
        <p:spPr>
          <a:xfrm>
            <a:off x="6208776" y="469033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98" name="Shape 96"/>
          <p:cNvSpPr/>
          <p:nvPr/>
        </p:nvSpPr>
        <p:spPr>
          <a:xfrm>
            <a:off x="8522208" y="4753804"/>
            <a:ext cx="897328" cy="126940"/>
          </a:xfrm>
          <a:prstGeom prst="rect">
            <a:avLst/>
          </a:prstGeom>
          <a:solidFill>
            <a:srgbClr val="C2352F"/>
          </a:solidFill>
          <a:ln/>
        </p:spPr>
      </p:sp>
      <p:sp>
        <p:nvSpPr>
          <p:cNvPr id="99" name="Text 97"/>
          <p:cNvSpPr txBox="1"/>
          <p:nvPr/>
        </p:nvSpPr>
        <p:spPr>
          <a:xfrm>
            <a:off x="10405872" y="4690334"/>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$151.55</a:t>
            </a:r>
            <a:endParaRPr lang="en-US" sz="1300" dirty="0"/>
          </a:p>
        </p:txBody>
      </p:sp>
      <p:sp>
        <p:nvSpPr>
          <p:cNvPr id="100" name="Text 98"/>
          <p:cNvSpPr txBox="1"/>
          <p:nvPr/>
        </p:nvSpPr>
        <p:spPr>
          <a:xfrm>
            <a:off x="6208776" y="494421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101" name="Shape 99"/>
          <p:cNvSpPr/>
          <p:nvPr/>
        </p:nvSpPr>
        <p:spPr>
          <a:xfrm>
            <a:off x="8522208" y="5007685"/>
            <a:ext cx="844838" cy="126940"/>
          </a:xfrm>
          <a:prstGeom prst="rect">
            <a:avLst/>
          </a:prstGeom>
          <a:solidFill>
            <a:srgbClr val="C2352F"/>
          </a:solidFill>
          <a:ln/>
        </p:spPr>
      </p:sp>
      <p:sp>
        <p:nvSpPr>
          <p:cNvPr id="102" name="Text 100"/>
          <p:cNvSpPr txBox="1"/>
          <p:nvPr/>
        </p:nvSpPr>
        <p:spPr>
          <a:xfrm>
            <a:off x="10405872" y="4944215"/>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$142.69</a:t>
            </a:r>
            <a:endParaRPr lang="en-US" sz="1300" dirty="0"/>
          </a:p>
        </p:txBody>
      </p:sp>
      <p:sp>
        <p:nvSpPr>
          <p:cNvPr id="103" name="Text 101"/>
          <p:cNvSpPr txBox="1"/>
          <p:nvPr/>
        </p:nvSpPr>
        <p:spPr>
          <a:xfrm>
            <a:off x="6208776" y="519809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104" name="Shape 102"/>
          <p:cNvSpPr/>
          <p:nvPr/>
        </p:nvSpPr>
        <p:spPr>
          <a:xfrm>
            <a:off x="8522208" y="5261565"/>
            <a:ext cx="772571" cy="126940"/>
          </a:xfrm>
          <a:prstGeom prst="rect">
            <a:avLst/>
          </a:prstGeom>
          <a:solidFill>
            <a:srgbClr val="C2352F"/>
          </a:solidFill>
          <a:ln/>
        </p:spPr>
      </p:sp>
      <p:sp>
        <p:nvSpPr>
          <p:cNvPr id="105" name="Text 103"/>
          <p:cNvSpPr txBox="1"/>
          <p:nvPr/>
        </p:nvSpPr>
        <p:spPr>
          <a:xfrm>
            <a:off x="10405872" y="5198095"/>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$130.48</a:t>
            </a:r>
            <a:endParaRPr lang="en-US" sz="1300" dirty="0"/>
          </a:p>
        </p:txBody>
      </p:sp>
      <p:sp>
        <p:nvSpPr>
          <p:cNvPr id="106" name="Text 104"/>
          <p:cNvSpPr txBox="1"/>
          <p:nvPr/>
        </p:nvSpPr>
        <p:spPr>
          <a:xfrm>
            <a:off x="6208776" y="5451976"/>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107" name="Shape 105"/>
          <p:cNvSpPr/>
          <p:nvPr/>
        </p:nvSpPr>
        <p:spPr>
          <a:xfrm>
            <a:off x="8522208" y="5515446"/>
            <a:ext cx="719352" cy="126940"/>
          </a:xfrm>
          <a:prstGeom prst="rect">
            <a:avLst/>
          </a:prstGeom>
          <a:solidFill>
            <a:srgbClr val="C2352F"/>
          </a:solidFill>
          <a:ln/>
        </p:spPr>
      </p:sp>
      <p:sp>
        <p:nvSpPr>
          <p:cNvPr id="108" name="Text 106"/>
          <p:cNvSpPr txBox="1"/>
          <p:nvPr/>
        </p:nvSpPr>
        <p:spPr>
          <a:xfrm>
            <a:off x="10405872" y="5451976"/>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$121.50</a:t>
            </a:r>
            <a:endParaRPr lang="en-US" sz="1300" dirty="0"/>
          </a:p>
        </p:txBody>
      </p:sp>
      <p:sp>
        <p:nvSpPr>
          <p:cNvPr id="109" name="Shape 107"/>
          <p:cNvSpPr/>
          <p:nvPr/>
        </p:nvSpPr>
        <p:spPr>
          <a:xfrm>
            <a:off x="4131913" y="1389888"/>
            <a:ext cx="14630" cy="4315968"/>
          </a:xfrm>
          <a:prstGeom prst="rect">
            <a:avLst/>
          </a:prstGeom>
          <a:solidFill>
            <a:srgbClr val="0B2C4A"/>
          </a:solidFill>
          <a:ln/>
        </p:spPr>
      </p:sp>
      <p:sp>
        <p:nvSpPr>
          <p:cNvPr id="110" name="Shape 108"/>
          <p:cNvSpPr/>
          <p:nvPr/>
        </p:nvSpPr>
        <p:spPr>
          <a:xfrm>
            <a:off x="9682321" y="1389888"/>
            <a:ext cx="14630" cy="4315968"/>
          </a:xfrm>
          <a:prstGeom prst="rect">
            <a:avLst/>
          </a:prstGeom>
          <a:solidFill>
            <a:srgbClr val="0B2C4A"/>
          </a:solidFill>
          <a:ln/>
        </p:spPr>
      </p:sp>
      <p:sp>
        <p:nvSpPr>
          <p:cNvPr id="111" name="Shape 109"/>
          <p:cNvSpPr/>
          <p:nvPr/>
        </p:nvSpPr>
        <p:spPr>
          <a:xfrm>
            <a:off x="457200" y="5961888"/>
            <a:ext cx="11274552" cy="548640"/>
          </a:xfrm>
          <a:prstGeom prst="rect">
            <a:avLst/>
          </a:prstGeom>
          <a:solidFill>
            <a:srgbClr val="EDF4FA"/>
          </a:solidFill>
          <a:ln/>
        </p:spPr>
      </p:sp>
      <p:sp>
        <p:nvSpPr>
          <p:cNvPr id="112" name="Text 110"/>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12 of 33 stores at or above the $197.17 group, led by AUDI HENDERSON at $308.88. SUBARU PRESCOTT is lowest at $121.50.</a:t>
            </a:r>
            <a:endParaRPr lang="en-US" sz="16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WARRANTY &amp; INTERNAL</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Warranty ELR</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01168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GROUP</a:t>
            </a:r>
            <a:endParaRPr lang="en-US" sz="1500" dirty="0"/>
          </a:p>
        </p:txBody>
      </p:sp>
      <p:sp>
        <p:nvSpPr>
          <p:cNvPr id="9" name="Text 7"/>
          <p:cNvSpPr txBox="1"/>
          <p:nvPr/>
        </p:nvSpPr>
        <p:spPr>
          <a:xfrm>
            <a:off x="2834640" y="1335024"/>
            <a:ext cx="420624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SAME-STORE, 33 STORES</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+$16.93</a:t>
            </a:r>
            <a:endParaRPr lang="en-US" sz="2000" dirty="0"/>
          </a:p>
        </p:txBody>
      </p:sp>
      <p:sp>
        <p:nvSpPr>
          <p:cNvPr id="11" name="Text 9"/>
          <p:cNvSpPr txBox="1"/>
          <p:nvPr/>
        </p:nvSpPr>
        <p:spPr>
          <a:xfrm>
            <a:off x="658368"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12" name="Shape 10"/>
          <p:cNvSpPr/>
          <p:nvPr/>
        </p:nvSpPr>
        <p:spPr>
          <a:xfrm>
            <a:off x="3813048" y="1909246"/>
            <a:ext cx="822960" cy="105898"/>
          </a:xfrm>
          <a:prstGeom prst="rect">
            <a:avLst/>
          </a:prstGeom>
          <a:solidFill>
            <a:srgbClr val="12A566"/>
          </a:solidFill>
          <a:ln/>
        </p:spPr>
      </p:sp>
      <p:sp>
        <p:nvSpPr>
          <p:cNvPr id="13" name="Text 11"/>
          <p:cNvSpPr txBox="1"/>
          <p:nvPr/>
        </p:nvSpPr>
        <p:spPr>
          <a:xfrm>
            <a:off x="4709160"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+$57.74</a:t>
            </a:r>
            <a:endParaRPr lang="en-US" sz="1300" dirty="0"/>
          </a:p>
        </p:txBody>
      </p:sp>
      <p:sp>
        <p:nvSpPr>
          <p:cNvPr id="14" name="Text 12"/>
          <p:cNvSpPr txBox="1"/>
          <p:nvPr/>
        </p:nvSpPr>
        <p:spPr>
          <a:xfrm>
            <a:off x="658368"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15" name="Shape 13"/>
          <p:cNvSpPr/>
          <p:nvPr/>
        </p:nvSpPr>
        <p:spPr>
          <a:xfrm>
            <a:off x="3813048" y="2139459"/>
            <a:ext cx="568009" cy="105898"/>
          </a:xfrm>
          <a:prstGeom prst="rect">
            <a:avLst/>
          </a:prstGeom>
          <a:solidFill>
            <a:srgbClr val="12A566"/>
          </a:solidFill>
          <a:ln/>
        </p:spPr>
      </p:sp>
      <p:sp>
        <p:nvSpPr>
          <p:cNvPr id="16" name="Text 14"/>
          <p:cNvSpPr txBox="1"/>
          <p:nvPr/>
        </p:nvSpPr>
        <p:spPr>
          <a:xfrm>
            <a:off x="4709160"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+$39.85</a:t>
            </a:r>
            <a:endParaRPr lang="en-US" sz="1300" dirty="0"/>
          </a:p>
        </p:txBody>
      </p:sp>
      <p:sp>
        <p:nvSpPr>
          <p:cNvPr id="17" name="Text 15"/>
          <p:cNvSpPr txBox="1"/>
          <p:nvPr/>
        </p:nvSpPr>
        <p:spPr>
          <a:xfrm>
            <a:off x="658368"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18" name="Shape 16"/>
          <p:cNvSpPr/>
          <p:nvPr/>
        </p:nvSpPr>
        <p:spPr>
          <a:xfrm>
            <a:off x="3813048" y="2369673"/>
            <a:ext cx="390077" cy="105898"/>
          </a:xfrm>
          <a:prstGeom prst="rect">
            <a:avLst/>
          </a:prstGeom>
          <a:solidFill>
            <a:srgbClr val="12A566"/>
          </a:solidFill>
          <a:ln/>
        </p:spPr>
      </p:sp>
      <p:sp>
        <p:nvSpPr>
          <p:cNvPr id="19" name="Text 17"/>
          <p:cNvSpPr txBox="1"/>
          <p:nvPr/>
        </p:nvSpPr>
        <p:spPr>
          <a:xfrm>
            <a:off x="4709160"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+$27.37</a:t>
            </a:r>
            <a:endParaRPr lang="en-US" sz="1300" dirty="0"/>
          </a:p>
        </p:txBody>
      </p:sp>
      <p:sp>
        <p:nvSpPr>
          <p:cNvPr id="20" name="Text 18"/>
          <p:cNvSpPr txBox="1"/>
          <p:nvPr/>
        </p:nvSpPr>
        <p:spPr>
          <a:xfrm>
            <a:off x="658368"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21" name="Shape 19"/>
          <p:cNvSpPr/>
          <p:nvPr/>
        </p:nvSpPr>
        <p:spPr>
          <a:xfrm>
            <a:off x="3813048" y="2599887"/>
            <a:ext cx="376028" cy="105898"/>
          </a:xfrm>
          <a:prstGeom prst="rect">
            <a:avLst/>
          </a:prstGeom>
          <a:solidFill>
            <a:srgbClr val="12A566"/>
          </a:solidFill>
          <a:ln/>
        </p:spPr>
      </p:sp>
      <p:sp>
        <p:nvSpPr>
          <p:cNvPr id="22" name="Text 20"/>
          <p:cNvSpPr txBox="1"/>
          <p:nvPr/>
        </p:nvSpPr>
        <p:spPr>
          <a:xfrm>
            <a:off x="4709160"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+$26.38</a:t>
            </a:r>
            <a:endParaRPr lang="en-US" sz="1300" dirty="0"/>
          </a:p>
        </p:txBody>
      </p:sp>
      <p:sp>
        <p:nvSpPr>
          <p:cNvPr id="23" name="Text 21"/>
          <p:cNvSpPr txBox="1"/>
          <p:nvPr/>
        </p:nvSpPr>
        <p:spPr>
          <a:xfrm>
            <a:off x="658368"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24" name="Shape 22"/>
          <p:cNvSpPr/>
          <p:nvPr/>
        </p:nvSpPr>
        <p:spPr>
          <a:xfrm>
            <a:off x="3813048" y="2830100"/>
            <a:ext cx="292874" cy="105898"/>
          </a:xfrm>
          <a:prstGeom prst="rect">
            <a:avLst/>
          </a:prstGeom>
          <a:solidFill>
            <a:srgbClr val="12A566"/>
          </a:solidFill>
          <a:ln/>
        </p:spPr>
      </p:sp>
      <p:sp>
        <p:nvSpPr>
          <p:cNvPr id="25" name="Text 23"/>
          <p:cNvSpPr txBox="1"/>
          <p:nvPr/>
        </p:nvSpPr>
        <p:spPr>
          <a:xfrm>
            <a:off x="4709160"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+$20.55</a:t>
            </a:r>
            <a:endParaRPr lang="en-US" sz="1300" dirty="0"/>
          </a:p>
        </p:txBody>
      </p:sp>
      <p:sp>
        <p:nvSpPr>
          <p:cNvPr id="26" name="Text 24"/>
          <p:cNvSpPr txBox="1"/>
          <p:nvPr/>
        </p:nvSpPr>
        <p:spPr>
          <a:xfrm>
            <a:off x="658368"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27" name="Shape 25"/>
          <p:cNvSpPr/>
          <p:nvPr/>
        </p:nvSpPr>
        <p:spPr>
          <a:xfrm>
            <a:off x="3813048" y="3060314"/>
            <a:ext cx="273736" cy="105898"/>
          </a:xfrm>
          <a:prstGeom prst="rect">
            <a:avLst/>
          </a:prstGeom>
          <a:solidFill>
            <a:srgbClr val="12A566"/>
          </a:solidFill>
          <a:ln/>
        </p:spPr>
      </p:sp>
      <p:sp>
        <p:nvSpPr>
          <p:cNvPr id="28" name="Text 26"/>
          <p:cNvSpPr txBox="1"/>
          <p:nvPr/>
        </p:nvSpPr>
        <p:spPr>
          <a:xfrm>
            <a:off x="4709160"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+$19.21</a:t>
            </a:r>
            <a:endParaRPr lang="en-US" sz="1300" dirty="0"/>
          </a:p>
        </p:txBody>
      </p:sp>
      <p:sp>
        <p:nvSpPr>
          <p:cNvPr id="29" name="Text 27"/>
          <p:cNvSpPr txBox="1"/>
          <p:nvPr/>
        </p:nvSpPr>
        <p:spPr>
          <a:xfrm>
            <a:off x="658368"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30" name="Shape 28"/>
          <p:cNvSpPr/>
          <p:nvPr/>
        </p:nvSpPr>
        <p:spPr>
          <a:xfrm>
            <a:off x="3813048" y="3290528"/>
            <a:ext cx="273006" cy="105898"/>
          </a:xfrm>
          <a:prstGeom prst="rect">
            <a:avLst/>
          </a:prstGeom>
          <a:solidFill>
            <a:srgbClr val="12A566"/>
          </a:solidFill>
          <a:ln/>
        </p:spPr>
      </p:sp>
      <p:sp>
        <p:nvSpPr>
          <p:cNvPr id="31" name="Text 29"/>
          <p:cNvSpPr txBox="1"/>
          <p:nvPr/>
        </p:nvSpPr>
        <p:spPr>
          <a:xfrm>
            <a:off x="4709160" y="3228370"/>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+$19.15</a:t>
            </a:r>
            <a:endParaRPr lang="en-US" sz="1300" dirty="0"/>
          </a:p>
        </p:txBody>
      </p:sp>
      <p:sp>
        <p:nvSpPr>
          <p:cNvPr id="32" name="Text 30"/>
          <p:cNvSpPr txBox="1"/>
          <p:nvPr/>
        </p:nvSpPr>
        <p:spPr>
          <a:xfrm>
            <a:off x="658368"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33" name="Shape 31"/>
          <p:cNvSpPr/>
          <p:nvPr/>
        </p:nvSpPr>
        <p:spPr>
          <a:xfrm>
            <a:off x="3813048" y="3520741"/>
            <a:ext cx="241609" cy="105898"/>
          </a:xfrm>
          <a:prstGeom prst="rect">
            <a:avLst/>
          </a:prstGeom>
          <a:solidFill>
            <a:srgbClr val="12A566"/>
          </a:solidFill>
          <a:ln/>
        </p:spPr>
      </p:sp>
      <p:sp>
        <p:nvSpPr>
          <p:cNvPr id="34" name="Text 32"/>
          <p:cNvSpPr txBox="1"/>
          <p:nvPr/>
        </p:nvSpPr>
        <p:spPr>
          <a:xfrm>
            <a:off x="4709160" y="345858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+$16.95</a:t>
            </a:r>
            <a:endParaRPr lang="en-US" sz="1300" dirty="0"/>
          </a:p>
        </p:txBody>
      </p:sp>
      <p:sp>
        <p:nvSpPr>
          <p:cNvPr id="35" name="Text 33"/>
          <p:cNvSpPr txBox="1"/>
          <p:nvPr/>
        </p:nvSpPr>
        <p:spPr>
          <a:xfrm>
            <a:off x="658368"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36" name="Shape 34"/>
          <p:cNvSpPr/>
          <p:nvPr/>
        </p:nvSpPr>
        <p:spPr>
          <a:xfrm>
            <a:off x="3813048" y="3750955"/>
            <a:ext cx="238998" cy="105898"/>
          </a:xfrm>
          <a:prstGeom prst="rect">
            <a:avLst/>
          </a:prstGeom>
          <a:solidFill>
            <a:srgbClr val="12A566"/>
          </a:solidFill>
          <a:ln/>
        </p:spPr>
      </p:sp>
      <p:sp>
        <p:nvSpPr>
          <p:cNvPr id="37" name="Text 35"/>
          <p:cNvSpPr txBox="1"/>
          <p:nvPr/>
        </p:nvSpPr>
        <p:spPr>
          <a:xfrm>
            <a:off x="4709160" y="3688797"/>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+$16.77</a:t>
            </a:r>
            <a:endParaRPr lang="en-US" sz="1300" dirty="0"/>
          </a:p>
        </p:txBody>
      </p:sp>
      <p:sp>
        <p:nvSpPr>
          <p:cNvPr id="38" name="Text 36"/>
          <p:cNvSpPr txBox="1"/>
          <p:nvPr/>
        </p:nvSpPr>
        <p:spPr>
          <a:xfrm>
            <a:off x="658368"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39" name="Shape 37"/>
          <p:cNvSpPr/>
          <p:nvPr/>
        </p:nvSpPr>
        <p:spPr>
          <a:xfrm>
            <a:off x="3813048" y="3981169"/>
            <a:ext cx="238965" cy="105898"/>
          </a:xfrm>
          <a:prstGeom prst="rect">
            <a:avLst/>
          </a:prstGeom>
          <a:solidFill>
            <a:srgbClr val="12A566"/>
          </a:solidFill>
          <a:ln/>
        </p:spPr>
      </p:sp>
      <p:sp>
        <p:nvSpPr>
          <p:cNvPr id="40" name="Text 38"/>
          <p:cNvSpPr txBox="1"/>
          <p:nvPr/>
        </p:nvSpPr>
        <p:spPr>
          <a:xfrm>
            <a:off x="4709160" y="3919011"/>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+$16.77</a:t>
            </a:r>
            <a:endParaRPr lang="en-US" sz="1300" dirty="0"/>
          </a:p>
        </p:txBody>
      </p:sp>
      <p:sp>
        <p:nvSpPr>
          <p:cNvPr id="41" name="Text 39"/>
          <p:cNvSpPr txBox="1"/>
          <p:nvPr/>
        </p:nvSpPr>
        <p:spPr>
          <a:xfrm>
            <a:off x="658368"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42" name="Shape 40"/>
          <p:cNvSpPr/>
          <p:nvPr/>
        </p:nvSpPr>
        <p:spPr>
          <a:xfrm>
            <a:off x="3813048" y="4211382"/>
            <a:ext cx="228713" cy="105898"/>
          </a:xfrm>
          <a:prstGeom prst="rect">
            <a:avLst/>
          </a:prstGeom>
          <a:solidFill>
            <a:srgbClr val="12A566"/>
          </a:solidFill>
          <a:ln/>
        </p:spPr>
      </p:sp>
      <p:sp>
        <p:nvSpPr>
          <p:cNvPr id="43" name="Text 41"/>
          <p:cNvSpPr txBox="1"/>
          <p:nvPr/>
        </p:nvSpPr>
        <p:spPr>
          <a:xfrm>
            <a:off x="4709160" y="414922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+$16.05</a:t>
            </a:r>
            <a:endParaRPr lang="en-US" sz="1300" dirty="0"/>
          </a:p>
        </p:txBody>
      </p:sp>
      <p:sp>
        <p:nvSpPr>
          <p:cNvPr id="44" name="Text 42"/>
          <p:cNvSpPr txBox="1"/>
          <p:nvPr/>
        </p:nvSpPr>
        <p:spPr>
          <a:xfrm>
            <a:off x="658368"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45" name="Shape 43"/>
          <p:cNvSpPr/>
          <p:nvPr/>
        </p:nvSpPr>
        <p:spPr>
          <a:xfrm>
            <a:off x="3813048" y="4441596"/>
            <a:ext cx="227295" cy="105898"/>
          </a:xfrm>
          <a:prstGeom prst="rect">
            <a:avLst/>
          </a:prstGeom>
          <a:solidFill>
            <a:srgbClr val="12A566"/>
          </a:solidFill>
          <a:ln/>
        </p:spPr>
      </p:sp>
      <p:sp>
        <p:nvSpPr>
          <p:cNvPr id="46" name="Text 44"/>
          <p:cNvSpPr txBox="1"/>
          <p:nvPr/>
        </p:nvSpPr>
        <p:spPr>
          <a:xfrm>
            <a:off x="4709160" y="437943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+$15.95</a:t>
            </a:r>
            <a:endParaRPr lang="en-US" sz="1300" dirty="0"/>
          </a:p>
        </p:txBody>
      </p:sp>
      <p:sp>
        <p:nvSpPr>
          <p:cNvPr id="47" name="Text 45"/>
          <p:cNvSpPr txBox="1"/>
          <p:nvPr/>
        </p:nvSpPr>
        <p:spPr>
          <a:xfrm>
            <a:off x="658368"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48" name="Shape 46"/>
          <p:cNvSpPr/>
          <p:nvPr/>
        </p:nvSpPr>
        <p:spPr>
          <a:xfrm>
            <a:off x="3813048" y="4671809"/>
            <a:ext cx="194357" cy="105898"/>
          </a:xfrm>
          <a:prstGeom prst="rect">
            <a:avLst/>
          </a:prstGeom>
          <a:solidFill>
            <a:srgbClr val="12A566"/>
          </a:solidFill>
          <a:ln/>
        </p:spPr>
      </p:sp>
      <p:sp>
        <p:nvSpPr>
          <p:cNvPr id="49" name="Text 47"/>
          <p:cNvSpPr txBox="1"/>
          <p:nvPr/>
        </p:nvSpPr>
        <p:spPr>
          <a:xfrm>
            <a:off x="4709160" y="460965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+$13.64</a:t>
            </a:r>
            <a:endParaRPr lang="en-US" sz="1300" dirty="0"/>
          </a:p>
        </p:txBody>
      </p:sp>
      <p:sp>
        <p:nvSpPr>
          <p:cNvPr id="50" name="Text 48"/>
          <p:cNvSpPr txBox="1"/>
          <p:nvPr/>
        </p:nvSpPr>
        <p:spPr>
          <a:xfrm>
            <a:off x="658368"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51" name="Shape 49"/>
          <p:cNvSpPr/>
          <p:nvPr/>
        </p:nvSpPr>
        <p:spPr>
          <a:xfrm>
            <a:off x="3813048" y="4902023"/>
            <a:ext cx="183717" cy="105898"/>
          </a:xfrm>
          <a:prstGeom prst="rect">
            <a:avLst/>
          </a:prstGeom>
          <a:solidFill>
            <a:srgbClr val="12A566"/>
          </a:solidFill>
          <a:ln/>
        </p:spPr>
      </p:sp>
      <p:sp>
        <p:nvSpPr>
          <p:cNvPr id="52" name="Text 50"/>
          <p:cNvSpPr txBox="1"/>
          <p:nvPr/>
        </p:nvSpPr>
        <p:spPr>
          <a:xfrm>
            <a:off x="4709160" y="483986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+$12.89</a:t>
            </a:r>
            <a:endParaRPr lang="en-US" sz="1300" dirty="0"/>
          </a:p>
        </p:txBody>
      </p:sp>
      <p:sp>
        <p:nvSpPr>
          <p:cNvPr id="53" name="Text 51"/>
          <p:cNvSpPr txBox="1"/>
          <p:nvPr/>
        </p:nvSpPr>
        <p:spPr>
          <a:xfrm>
            <a:off x="658368"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54" name="Shape 52"/>
          <p:cNvSpPr/>
          <p:nvPr/>
        </p:nvSpPr>
        <p:spPr>
          <a:xfrm>
            <a:off x="3813048" y="5132237"/>
            <a:ext cx="174688" cy="105898"/>
          </a:xfrm>
          <a:prstGeom prst="rect">
            <a:avLst/>
          </a:prstGeom>
          <a:solidFill>
            <a:srgbClr val="12A566"/>
          </a:solidFill>
          <a:ln/>
        </p:spPr>
      </p:sp>
      <p:sp>
        <p:nvSpPr>
          <p:cNvPr id="55" name="Text 53"/>
          <p:cNvSpPr txBox="1"/>
          <p:nvPr/>
        </p:nvSpPr>
        <p:spPr>
          <a:xfrm>
            <a:off x="4709160" y="507007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+$12.26</a:t>
            </a:r>
            <a:endParaRPr lang="en-US" sz="1300" dirty="0"/>
          </a:p>
        </p:txBody>
      </p:sp>
      <p:sp>
        <p:nvSpPr>
          <p:cNvPr id="56" name="Text 54"/>
          <p:cNvSpPr txBox="1"/>
          <p:nvPr/>
        </p:nvSpPr>
        <p:spPr>
          <a:xfrm>
            <a:off x="658368"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57" name="Shape 55"/>
          <p:cNvSpPr/>
          <p:nvPr/>
        </p:nvSpPr>
        <p:spPr>
          <a:xfrm>
            <a:off x="3813048" y="5362450"/>
            <a:ext cx="137667" cy="105898"/>
          </a:xfrm>
          <a:prstGeom prst="rect">
            <a:avLst/>
          </a:prstGeom>
          <a:solidFill>
            <a:srgbClr val="12A566"/>
          </a:solidFill>
          <a:ln/>
        </p:spPr>
      </p:sp>
      <p:sp>
        <p:nvSpPr>
          <p:cNvPr id="58" name="Text 56"/>
          <p:cNvSpPr txBox="1"/>
          <p:nvPr/>
        </p:nvSpPr>
        <p:spPr>
          <a:xfrm>
            <a:off x="4709160" y="530029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+$9.66</a:t>
            </a:r>
            <a:endParaRPr lang="en-US" sz="1300" dirty="0"/>
          </a:p>
        </p:txBody>
      </p:sp>
      <p:sp>
        <p:nvSpPr>
          <p:cNvPr id="59" name="Text 57"/>
          <p:cNvSpPr txBox="1"/>
          <p:nvPr/>
        </p:nvSpPr>
        <p:spPr>
          <a:xfrm>
            <a:off x="658368" y="553050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60" name="Shape 58"/>
          <p:cNvSpPr/>
          <p:nvPr/>
        </p:nvSpPr>
        <p:spPr>
          <a:xfrm>
            <a:off x="3813048" y="5592664"/>
            <a:ext cx="137367" cy="105898"/>
          </a:xfrm>
          <a:prstGeom prst="rect">
            <a:avLst/>
          </a:prstGeom>
          <a:solidFill>
            <a:srgbClr val="12A566"/>
          </a:solidFill>
          <a:ln/>
        </p:spPr>
      </p:sp>
      <p:sp>
        <p:nvSpPr>
          <p:cNvPr id="61" name="Text 59"/>
          <p:cNvSpPr txBox="1"/>
          <p:nvPr/>
        </p:nvSpPr>
        <p:spPr>
          <a:xfrm>
            <a:off x="4709160" y="553050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+$9.64</a:t>
            </a:r>
            <a:endParaRPr lang="en-US" sz="1300" dirty="0"/>
          </a:p>
        </p:txBody>
      </p:sp>
      <p:sp>
        <p:nvSpPr>
          <p:cNvPr id="62" name="Text 60"/>
          <p:cNvSpPr txBox="1"/>
          <p:nvPr/>
        </p:nvSpPr>
        <p:spPr>
          <a:xfrm>
            <a:off x="6208776"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63" name="Shape 61"/>
          <p:cNvSpPr/>
          <p:nvPr/>
        </p:nvSpPr>
        <p:spPr>
          <a:xfrm>
            <a:off x="9363456" y="1909246"/>
            <a:ext cx="131279" cy="105898"/>
          </a:xfrm>
          <a:prstGeom prst="rect">
            <a:avLst/>
          </a:prstGeom>
          <a:solidFill>
            <a:srgbClr val="12A566"/>
          </a:solidFill>
          <a:ln/>
        </p:spPr>
      </p:sp>
      <p:sp>
        <p:nvSpPr>
          <p:cNvPr id="64" name="Text 62"/>
          <p:cNvSpPr txBox="1"/>
          <p:nvPr/>
        </p:nvSpPr>
        <p:spPr>
          <a:xfrm>
            <a:off x="10259568"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+$9.21</a:t>
            </a:r>
            <a:endParaRPr lang="en-US" sz="1300" dirty="0"/>
          </a:p>
        </p:txBody>
      </p:sp>
      <p:sp>
        <p:nvSpPr>
          <p:cNvPr id="65" name="Text 63"/>
          <p:cNvSpPr txBox="1"/>
          <p:nvPr/>
        </p:nvSpPr>
        <p:spPr>
          <a:xfrm>
            <a:off x="6208776"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66" name="Shape 64"/>
          <p:cNvSpPr/>
          <p:nvPr/>
        </p:nvSpPr>
        <p:spPr>
          <a:xfrm>
            <a:off x="9363456" y="2139459"/>
            <a:ext cx="122294" cy="105898"/>
          </a:xfrm>
          <a:prstGeom prst="rect">
            <a:avLst/>
          </a:prstGeom>
          <a:solidFill>
            <a:srgbClr val="12A566"/>
          </a:solidFill>
          <a:ln/>
        </p:spPr>
      </p:sp>
      <p:sp>
        <p:nvSpPr>
          <p:cNvPr id="67" name="Text 65"/>
          <p:cNvSpPr txBox="1"/>
          <p:nvPr/>
        </p:nvSpPr>
        <p:spPr>
          <a:xfrm>
            <a:off x="10259568"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+$8.58</a:t>
            </a:r>
            <a:endParaRPr lang="en-US" sz="1300" dirty="0"/>
          </a:p>
        </p:txBody>
      </p:sp>
      <p:sp>
        <p:nvSpPr>
          <p:cNvPr id="68" name="Text 66"/>
          <p:cNvSpPr txBox="1"/>
          <p:nvPr/>
        </p:nvSpPr>
        <p:spPr>
          <a:xfrm>
            <a:off x="6208776"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69" name="Shape 67"/>
          <p:cNvSpPr/>
          <p:nvPr/>
        </p:nvSpPr>
        <p:spPr>
          <a:xfrm>
            <a:off x="9363456" y="2369673"/>
            <a:ext cx="99097" cy="105898"/>
          </a:xfrm>
          <a:prstGeom prst="rect">
            <a:avLst/>
          </a:prstGeom>
          <a:solidFill>
            <a:srgbClr val="12A566"/>
          </a:solidFill>
          <a:ln/>
        </p:spPr>
      </p:sp>
      <p:sp>
        <p:nvSpPr>
          <p:cNvPr id="70" name="Text 68"/>
          <p:cNvSpPr txBox="1"/>
          <p:nvPr/>
        </p:nvSpPr>
        <p:spPr>
          <a:xfrm>
            <a:off x="10259568"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+$6.95</a:t>
            </a:r>
            <a:endParaRPr lang="en-US" sz="1300" dirty="0"/>
          </a:p>
        </p:txBody>
      </p:sp>
      <p:sp>
        <p:nvSpPr>
          <p:cNvPr id="71" name="Text 69"/>
          <p:cNvSpPr txBox="1"/>
          <p:nvPr/>
        </p:nvSpPr>
        <p:spPr>
          <a:xfrm>
            <a:off x="6208776"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72" name="Shape 70"/>
          <p:cNvSpPr/>
          <p:nvPr/>
        </p:nvSpPr>
        <p:spPr>
          <a:xfrm>
            <a:off x="9363456" y="2599887"/>
            <a:ext cx="96927" cy="105898"/>
          </a:xfrm>
          <a:prstGeom prst="rect">
            <a:avLst/>
          </a:prstGeom>
          <a:solidFill>
            <a:srgbClr val="12A566"/>
          </a:solidFill>
          <a:ln/>
        </p:spPr>
      </p:sp>
      <p:sp>
        <p:nvSpPr>
          <p:cNvPr id="73" name="Text 71"/>
          <p:cNvSpPr txBox="1"/>
          <p:nvPr/>
        </p:nvSpPr>
        <p:spPr>
          <a:xfrm>
            <a:off x="10259568"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+$6.80</a:t>
            </a:r>
            <a:endParaRPr lang="en-US" sz="1300" dirty="0"/>
          </a:p>
        </p:txBody>
      </p:sp>
      <p:sp>
        <p:nvSpPr>
          <p:cNvPr id="74" name="Text 72"/>
          <p:cNvSpPr txBox="1"/>
          <p:nvPr/>
        </p:nvSpPr>
        <p:spPr>
          <a:xfrm>
            <a:off x="6208776"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75" name="Shape 73"/>
          <p:cNvSpPr/>
          <p:nvPr/>
        </p:nvSpPr>
        <p:spPr>
          <a:xfrm>
            <a:off x="9363456" y="2830100"/>
            <a:ext cx="96202" cy="105898"/>
          </a:xfrm>
          <a:prstGeom prst="rect">
            <a:avLst/>
          </a:prstGeom>
          <a:solidFill>
            <a:srgbClr val="12A566"/>
          </a:solidFill>
          <a:ln/>
        </p:spPr>
      </p:sp>
      <p:sp>
        <p:nvSpPr>
          <p:cNvPr id="76" name="Text 74"/>
          <p:cNvSpPr txBox="1"/>
          <p:nvPr/>
        </p:nvSpPr>
        <p:spPr>
          <a:xfrm>
            <a:off x="10259568"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+$6.75</a:t>
            </a:r>
            <a:endParaRPr lang="en-US" sz="1300" dirty="0"/>
          </a:p>
        </p:txBody>
      </p:sp>
      <p:sp>
        <p:nvSpPr>
          <p:cNvPr id="77" name="Text 75"/>
          <p:cNvSpPr txBox="1"/>
          <p:nvPr/>
        </p:nvSpPr>
        <p:spPr>
          <a:xfrm>
            <a:off x="6208776"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78" name="Shape 76"/>
          <p:cNvSpPr/>
          <p:nvPr/>
        </p:nvSpPr>
        <p:spPr>
          <a:xfrm>
            <a:off x="9363456" y="3060314"/>
            <a:ext cx="88635" cy="105898"/>
          </a:xfrm>
          <a:prstGeom prst="rect">
            <a:avLst/>
          </a:prstGeom>
          <a:solidFill>
            <a:srgbClr val="12A566"/>
          </a:solidFill>
          <a:ln/>
        </p:spPr>
      </p:sp>
      <p:sp>
        <p:nvSpPr>
          <p:cNvPr id="79" name="Text 77"/>
          <p:cNvSpPr txBox="1"/>
          <p:nvPr/>
        </p:nvSpPr>
        <p:spPr>
          <a:xfrm>
            <a:off x="10259568"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+$6.22</a:t>
            </a:r>
            <a:endParaRPr lang="en-US" sz="1300" dirty="0"/>
          </a:p>
        </p:txBody>
      </p:sp>
      <p:sp>
        <p:nvSpPr>
          <p:cNvPr id="80" name="Text 78"/>
          <p:cNvSpPr txBox="1"/>
          <p:nvPr/>
        </p:nvSpPr>
        <p:spPr>
          <a:xfrm>
            <a:off x="6208776"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81" name="Shape 79"/>
          <p:cNvSpPr/>
          <p:nvPr/>
        </p:nvSpPr>
        <p:spPr>
          <a:xfrm>
            <a:off x="9363456" y="3290528"/>
            <a:ext cx="75539" cy="105898"/>
          </a:xfrm>
          <a:prstGeom prst="rect">
            <a:avLst/>
          </a:prstGeom>
          <a:solidFill>
            <a:srgbClr val="12A566"/>
          </a:solidFill>
          <a:ln/>
        </p:spPr>
      </p:sp>
      <p:sp>
        <p:nvSpPr>
          <p:cNvPr id="82" name="Text 80"/>
          <p:cNvSpPr txBox="1"/>
          <p:nvPr/>
        </p:nvSpPr>
        <p:spPr>
          <a:xfrm>
            <a:off x="10259568" y="3228370"/>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+$5.30</a:t>
            </a:r>
            <a:endParaRPr lang="en-US" sz="1300" dirty="0"/>
          </a:p>
        </p:txBody>
      </p:sp>
      <p:sp>
        <p:nvSpPr>
          <p:cNvPr id="83" name="Text 81"/>
          <p:cNvSpPr txBox="1"/>
          <p:nvPr/>
        </p:nvSpPr>
        <p:spPr>
          <a:xfrm>
            <a:off x="6208776"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84" name="Shape 82"/>
          <p:cNvSpPr/>
          <p:nvPr/>
        </p:nvSpPr>
        <p:spPr>
          <a:xfrm>
            <a:off x="9363456" y="3520741"/>
            <a:ext cx="64782" cy="105898"/>
          </a:xfrm>
          <a:prstGeom prst="rect">
            <a:avLst/>
          </a:prstGeom>
          <a:solidFill>
            <a:srgbClr val="12A566"/>
          </a:solidFill>
          <a:ln/>
        </p:spPr>
      </p:sp>
      <p:sp>
        <p:nvSpPr>
          <p:cNvPr id="85" name="Text 83"/>
          <p:cNvSpPr txBox="1"/>
          <p:nvPr/>
        </p:nvSpPr>
        <p:spPr>
          <a:xfrm>
            <a:off x="10259568" y="345858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+$4.55</a:t>
            </a:r>
            <a:endParaRPr lang="en-US" sz="1300" dirty="0"/>
          </a:p>
        </p:txBody>
      </p:sp>
      <p:sp>
        <p:nvSpPr>
          <p:cNvPr id="86" name="Text 84"/>
          <p:cNvSpPr txBox="1"/>
          <p:nvPr/>
        </p:nvSpPr>
        <p:spPr>
          <a:xfrm>
            <a:off x="6208776"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87" name="Shape 85"/>
          <p:cNvSpPr/>
          <p:nvPr/>
        </p:nvSpPr>
        <p:spPr>
          <a:xfrm>
            <a:off x="9363456" y="3750955"/>
            <a:ext cx="60867" cy="105898"/>
          </a:xfrm>
          <a:prstGeom prst="rect">
            <a:avLst/>
          </a:prstGeom>
          <a:solidFill>
            <a:srgbClr val="12A566"/>
          </a:solidFill>
          <a:ln/>
        </p:spPr>
      </p:sp>
      <p:sp>
        <p:nvSpPr>
          <p:cNvPr id="88" name="Text 86"/>
          <p:cNvSpPr txBox="1"/>
          <p:nvPr/>
        </p:nvSpPr>
        <p:spPr>
          <a:xfrm>
            <a:off x="10259568" y="3688797"/>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+$4.27</a:t>
            </a:r>
            <a:endParaRPr lang="en-US" sz="1300" dirty="0"/>
          </a:p>
        </p:txBody>
      </p:sp>
      <p:sp>
        <p:nvSpPr>
          <p:cNvPr id="89" name="Text 87"/>
          <p:cNvSpPr txBox="1"/>
          <p:nvPr/>
        </p:nvSpPr>
        <p:spPr>
          <a:xfrm>
            <a:off x="6208776"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90" name="Shape 88"/>
          <p:cNvSpPr/>
          <p:nvPr/>
        </p:nvSpPr>
        <p:spPr>
          <a:xfrm>
            <a:off x="9363456" y="3981169"/>
            <a:ext cx="53011" cy="105898"/>
          </a:xfrm>
          <a:prstGeom prst="rect">
            <a:avLst/>
          </a:prstGeom>
          <a:solidFill>
            <a:srgbClr val="12A566"/>
          </a:solidFill>
          <a:ln/>
        </p:spPr>
      </p:sp>
      <p:sp>
        <p:nvSpPr>
          <p:cNvPr id="91" name="Text 89"/>
          <p:cNvSpPr txBox="1"/>
          <p:nvPr/>
        </p:nvSpPr>
        <p:spPr>
          <a:xfrm>
            <a:off x="10259568" y="3919011"/>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+$3.72</a:t>
            </a:r>
            <a:endParaRPr lang="en-US" sz="1300" dirty="0"/>
          </a:p>
        </p:txBody>
      </p:sp>
      <p:sp>
        <p:nvSpPr>
          <p:cNvPr id="92" name="Text 90"/>
          <p:cNvSpPr txBox="1"/>
          <p:nvPr/>
        </p:nvSpPr>
        <p:spPr>
          <a:xfrm>
            <a:off x="6208776"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93" name="Shape 91"/>
          <p:cNvSpPr/>
          <p:nvPr/>
        </p:nvSpPr>
        <p:spPr>
          <a:xfrm>
            <a:off x="9363456" y="4211382"/>
            <a:ext cx="35138" cy="105898"/>
          </a:xfrm>
          <a:prstGeom prst="rect">
            <a:avLst/>
          </a:prstGeom>
          <a:solidFill>
            <a:srgbClr val="12A566"/>
          </a:solidFill>
          <a:ln/>
        </p:spPr>
      </p:sp>
      <p:sp>
        <p:nvSpPr>
          <p:cNvPr id="94" name="Text 92"/>
          <p:cNvSpPr txBox="1"/>
          <p:nvPr/>
        </p:nvSpPr>
        <p:spPr>
          <a:xfrm>
            <a:off x="10259568" y="414922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+$2.47</a:t>
            </a:r>
            <a:endParaRPr lang="en-US" sz="1300" dirty="0"/>
          </a:p>
        </p:txBody>
      </p:sp>
      <p:sp>
        <p:nvSpPr>
          <p:cNvPr id="95" name="Text 93"/>
          <p:cNvSpPr txBox="1"/>
          <p:nvPr/>
        </p:nvSpPr>
        <p:spPr>
          <a:xfrm>
            <a:off x="6208776"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96" name="Shape 94"/>
          <p:cNvSpPr/>
          <p:nvPr/>
        </p:nvSpPr>
        <p:spPr>
          <a:xfrm>
            <a:off x="9363456" y="4441596"/>
            <a:ext cx="14630" cy="105898"/>
          </a:xfrm>
          <a:prstGeom prst="rect">
            <a:avLst/>
          </a:prstGeom>
          <a:solidFill>
            <a:srgbClr val="12A566"/>
          </a:solidFill>
          <a:ln/>
        </p:spPr>
      </p:sp>
      <p:sp>
        <p:nvSpPr>
          <p:cNvPr id="97" name="Text 95"/>
          <p:cNvSpPr txBox="1"/>
          <p:nvPr/>
        </p:nvSpPr>
        <p:spPr>
          <a:xfrm>
            <a:off x="10259568" y="437943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+$1.03</a:t>
            </a:r>
            <a:endParaRPr lang="en-US" sz="1300" dirty="0"/>
          </a:p>
        </p:txBody>
      </p:sp>
      <p:sp>
        <p:nvSpPr>
          <p:cNvPr id="98" name="Text 96"/>
          <p:cNvSpPr txBox="1"/>
          <p:nvPr/>
        </p:nvSpPr>
        <p:spPr>
          <a:xfrm>
            <a:off x="6208776"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99" name="Shape 97"/>
          <p:cNvSpPr/>
          <p:nvPr/>
        </p:nvSpPr>
        <p:spPr>
          <a:xfrm>
            <a:off x="9363456" y="4671809"/>
            <a:ext cx="13535" cy="105898"/>
          </a:xfrm>
          <a:prstGeom prst="rect">
            <a:avLst/>
          </a:prstGeom>
          <a:solidFill>
            <a:srgbClr val="12A566"/>
          </a:solidFill>
          <a:ln/>
        </p:spPr>
      </p:sp>
      <p:sp>
        <p:nvSpPr>
          <p:cNvPr id="100" name="Text 98"/>
          <p:cNvSpPr txBox="1"/>
          <p:nvPr/>
        </p:nvSpPr>
        <p:spPr>
          <a:xfrm>
            <a:off x="10259568" y="460965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+$0.95</a:t>
            </a:r>
            <a:endParaRPr lang="en-US" sz="1300" dirty="0"/>
          </a:p>
        </p:txBody>
      </p:sp>
      <p:sp>
        <p:nvSpPr>
          <p:cNvPr id="101" name="Text 99"/>
          <p:cNvSpPr txBox="1"/>
          <p:nvPr/>
        </p:nvSpPr>
        <p:spPr>
          <a:xfrm>
            <a:off x="6208776"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102" name="Shape 100"/>
          <p:cNvSpPr/>
          <p:nvPr/>
        </p:nvSpPr>
        <p:spPr>
          <a:xfrm>
            <a:off x="9362517" y="4902023"/>
            <a:ext cx="12802" cy="105898"/>
          </a:xfrm>
          <a:prstGeom prst="rect">
            <a:avLst/>
          </a:prstGeom>
          <a:solidFill>
            <a:srgbClr val="C2352F"/>
          </a:solidFill>
          <a:ln/>
        </p:spPr>
      </p:sp>
      <p:sp>
        <p:nvSpPr>
          <p:cNvPr id="103" name="Text 101"/>
          <p:cNvSpPr txBox="1"/>
          <p:nvPr/>
        </p:nvSpPr>
        <p:spPr>
          <a:xfrm>
            <a:off x="10259568" y="4839865"/>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−$0.07</a:t>
            </a:r>
            <a:endParaRPr lang="en-US" sz="1300" dirty="0"/>
          </a:p>
        </p:txBody>
      </p:sp>
      <p:sp>
        <p:nvSpPr>
          <p:cNvPr id="104" name="Text 102"/>
          <p:cNvSpPr txBox="1"/>
          <p:nvPr/>
        </p:nvSpPr>
        <p:spPr>
          <a:xfrm>
            <a:off x="6208776"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105" name="Shape 103"/>
          <p:cNvSpPr/>
          <p:nvPr/>
        </p:nvSpPr>
        <p:spPr>
          <a:xfrm>
            <a:off x="9340889" y="5132237"/>
            <a:ext cx="22567" cy="105898"/>
          </a:xfrm>
          <a:prstGeom prst="rect">
            <a:avLst/>
          </a:prstGeom>
          <a:solidFill>
            <a:srgbClr val="C2352F"/>
          </a:solidFill>
          <a:ln/>
        </p:spPr>
      </p:sp>
      <p:sp>
        <p:nvSpPr>
          <p:cNvPr id="106" name="Text 104"/>
          <p:cNvSpPr txBox="1"/>
          <p:nvPr/>
        </p:nvSpPr>
        <p:spPr>
          <a:xfrm>
            <a:off x="10259568" y="5070079"/>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−$1.58</a:t>
            </a:r>
            <a:endParaRPr lang="en-US" sz="1300" dirty="0"/>
          </a:p>
        </p:txBody>
      </p:sp>
      <p:sp>
        <p:nvSpPr>
          <p:cNvPr id="107" name="Text 105"/>
          <p:cNvSpPr txBox="1"/>
          <p:nvPr/>
        </p:nvSpPr>
        <p:spPr>
          <a:xfrm>
            <a:off x="6208776"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108" name="Shape 106"/>
          <p:cNvSpPr/>
          <p:nvPr/>
        </p:nvSpPr>
        <p:spPr>
          <a:xfrm>
            <a:off x="9188929" y="5362450"/>
            <a:ext cx="174527" cy="105898"/>
          </a:xfrm>
          <a:prstGeom prst="rect">
            <a:avLst/>
          </a:prstGeom>
          <a:solidFill>
            <a:srgbClr val="C2352F"/>
          </a:solidFill>
          <a:ln/>
        </p:spPr>
      </p:sp>
      <p:sp>
        <p:nvSpPr>
          <p:cNvPr id="109" name="Text 107"/>
          <p:cNvSpPr txBox="1"/>
          <p:nvPr/>
        </p:nvSpPr>
        <p:spPr>
          <a:xfrm>
            <a:off x="10259568" y="530029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−$12.25</a:t>
            </a:r>
            <a:endParaRPr lang="en-US" sz="1300" dirty="0"/>
          </a:p>
        </p:txBody>
      </p:sp>
      <p:sp>
        <p:nvSpPr>
          <p:cNvPr id="110" name="Shape 108"/>
          <p:cNvSpPr/>
          <p:nvPr/>
        </p:nvSpPr>
        <p:spPr>
          <a:xfrm>
            <a:off x="3807562" y="1847088"/>
            <a:ext cx="10973" cy="3913632"/>
          </a:xfrm>
          <a:prstGeom prst="rect">
            <a:avLst/>
          </a:prstGeom>
          <a:solidFill>
            <a:srgbClr val="9AA3AD"/>
          </a:solidFill>
          <a:ln/>
        </p:spPr>
      </p:sp>
      <p:sp>
        <p:nvSpPr>
          <p:cNvPr id="111" name="Shape 109"/>
          <p:cNvSpPr/>
          <p:nvPr/>
        </p:nvSpPr>
        <p:spPr>
          <a:xfrm>
            <a:off x="9357970" y="1847088"/>
            <a:ext cx="10973" cy="3913632"/>
          </a:xfrm>
          <a:prstGeom prst="rect">
            <a:avLst/>
          </a:prstGeom>
          <a:solidFill>
            <a:srgbClr val="9AA3AD"/>
          </a:solidFill>
          <a:ln/>
        </p:spPr>
      </p:sp>
      <p:sp>
        <p:nvSpPr>
          <p:cNvPr id="112" name="Shape 110"/>
          <p:cNvSpPr/>
          <p:nvPr/>
        </p:nvSpPr>
        <p:spPr>
          <a:xfrm>
            <a:off x="457200" y="5961888"/>
            <a:ext cx="11274552" cy="548640"/>
          </a:xfrm>
          <a:prstGeom prst="rect">
            <a:avLst/>
          </a:prstGeom>
          <a:solidFill>
            <a:srgbClr val="E6F6EE"/>
          </a:solidFill>
          <a:ln/>
        </p:spPr>
      </p:sp>
      <p:sp>
        <p:nvSpPr>
          <p:cNvPr id="113" name="Text 111"/>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30 of 33 stores raised warranty ELR, led by LR LV at +$57.74 to $274.91. 3 declined; HONDA NORTH fell most at −$12.25.</a:t>
            </a:r>
            <a:endParaRPr lang="en-US" sz="16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WARRANTY &amp; INTERNAL</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Internal ELR</a:t>
            </a:r>
            <a:endParaRPr lang="en-US" sz="2800" dirty="0"/>
          </a:p>
        </p:txBody>
      </p:sp>
      <p:sp>
        <p:nvSpPr>
          <p:cNvPr id="5" name="Shape 3"/>
          <p:cNvSpPr/>
          <p:nvPr/>
        </p:nvSpPr>
        <p:spPr>
          <a:xfrm>
            <a:off x="457200" y="1207008"/>
            <a:ext cx="11274552" cy="1517904"/>
          </a:xfrm>
          <a:prstGeom prst="rect">
            <a:avLst/>
          </a:prstGeom>
          <a:solidFill>
            <a:srgbClr val="FFFFFF"/>
          </a:solidFill>
          <a:ln/>
        </p:spPr>
      </p:sp>
      <p:sp>
        <p:nvSpPr>
          <p:cNvPr id="6" name="Text 4"/>
          <p:cNvSpPr txBox="1"/>
          <p:nvPr/>
        </p:nvSpPr>
        <p:spPr>
          <a:xfrm>
            <a:off x="685800" y="1316736"/>
            <a:ext cx="10789920" cy="274320"/>
          </a:xfrm>
          <a:prstGeom prst="rect">
            <a:avLst/>
          </a:prstGeom>
          <a:noFill/>
          <a:ln/>
        </p:spPr>
        <p:txBody>
          <a:bodyPr wrap="square" lIns="0" tIns="0" rIns="0" bIns="0" rtlCol="0" anchor="ctr"/>
          <a:lstStyle/>
          <a:p>
            <a:pPr indent="0" marL="0">
              <a:buNone/>
            </a:pPr>
            <a:r>
              <a:rPr lang="en-US" sz="1400" spc="100" kern="0" dirty="0">
                <a:solidFill>
                  <a:srgbClr val="595959"/>
                </a:solidFill>
                <a:latin typeface="Inter" pitchFamily="34" charset="0"/>
                <a:ea typeface="Inter" pitchFamily="34" charset="-122"/>
                <a:cs typeface="Inter" pitchFamily="34" charset="-120"/>
              </a:rPr>
              <a:t>GROUP · JANUARY–SEPTEMBER · SAME-STORE, 33 STORES</a:t>
            </a:r>
            <a:endParaRPr lang="en-US" sz="1400" dirty="0"/>
          </a:p>
        </p:txBody>
      </p:sp>
      <p:sp>
        <p:nvSpPr>
          <p:cNvPr id="7" name="Text 5"/>
          <p:cNvSpPr txBox="1"/>
          <p:nvPr/>
        </p:nvSpPr>
        <p:spPr>
          <a:xfrm>
            <a:off x="68580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a:t>
            </a:r>
            <a:endParaRPr lang="en-US" sz="1400" dirty="0"/>
          </a:p>
        </p:txBody>
      </p:sp>
      <p:sp>
        <p:nvSpPr>
          <p:cNvPr id="8" name="Text 6"/>
          <p:cNvSpPr txBox="1"/>
          <p:nvPr/>
        </p:nvSpPr>
        <p:spPr>
          <a:xfrm>
            <a:off x="68580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$126.09</a:t>
            </a:r>
            <a:endParaRPr lang="en-US" sz="3000" dirty="0"/>
          </a:p>
        </p:txBody>
      </p:sp>
      <p:sp>
        <p:nvSpPr>
          <p:cNvPr id="9" name="Text 7"/>
          <p:cNvSpPr txBox="1"/>
          <p:nvPr/>
        </p:nvSpPr>
        <p:spPr>
          <a:xfrm>
            <a:off x="347472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a:t>
            </a:r>
            <a:endParaRPr lang="en-US" sz="1400" dirty="0"/>
          </a:p>
        </p:txBody>
      </p:sp>
      <p:sp>
        <p:nvSpPr>
          <p:cNvPr id="10" name="Text 8"/>
          <p:cNvSpPr txBox="1"/>
          <p:nvPr/>
        </p:nvSpPr>
        <p:spPr>
          <a:xfrm>
            <a:off x="347472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$129.84</a:t>
            </a:r>
            <a:endParaRPr lang="en-US" sz="3000" dirty="0"/>
          </a:p>
        </p:txBody>
      </p:sp>
      <p:sp>
        <p:nvSpPr>
          <p:cNvPr id="11" name="Text 9"/>
          <p:cNvSpPr txBox="1"/>
          <p:nvPr/>
        </p:nvSpPr>
        <p:spPr>
          <a:xfrm>
            <a:off x="626364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2" name="Text 10"/>
          <p:cNvSpPr txBox="1"/>
          <p:nvPr/>
        </p:nvSpPr>
        <p:spPr>
          <a:xfrm>
            <a:off x="626364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+$3.75</a:t>
            </a:r>
            <a:endParaRPr lang="en-US" sz="3000" dirty="0"/>
          </a:p>
        </p:txBody>
      </p:sp>
      <p:sp>
        <p:nvSpPr>
          <p:cNvPr id="13" name="Text 11"/>
          <p:cNvSpPr txBox="1"/>
          <p:nvPr/>
        </p:nvSpPr>
        <p:spPr>
          <a:xfrm>
            <a:off x="905256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4" name="Text 12"/>
          <p:cNvSpPr txBox="1"/>
          <p:nvPr/>
        </p:nvSpPr>
        <p:spPr>
          <a:xfrm>
            <a:off x="905256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+3.0%</a:t>
            </a:r>
            <a:endParaRPr lang="en-US" sz="3000" dirty="0"/>
          </a:p>
        </p:txBody>
      </p:sp>
      <p:graphicFrame>
        <p:nvGraphicFramePr>
          <p:cNvPr id="72" name="Table 0"/>
          <p:cNvGraphicFramePr>
            <a:graphicFrameLocks noGrp="1"/>
          </p:cNvGraphicFramePr>
          <p:nvPr>
            <p:extLst>
              <p:ext uri="{D42A27DB-BD31-4B8C-83A1-F6EECF244321}">
                <p14:modId xmlns:p14="http://schemas.microsoft.com/office/powerpoint/2010/main" val="1579011935"/>
              </p:ext>
            </p:extLst>
          </p:nvPr>
        </p:nvGraphicFramePr>
        <p:xfrm>
          <a:off x="457200" y="2816352"/>
          <a:ext cx="11274552" cy="914400"/>
        </p:xfrm>
        <a:graphic>
          <a:graphicData uri="http://schemas.openxmlformats.org/drawingml/2006/table">
            <a:tbl>
              <a:tblPr/>
              <a:tblGrid>
                <a:gridCol w="3118104"/>
                <a:gridCol w="2039112"/>
                <a:gridCol w="2039112"/>
                <a:gridCol w="2039112"/>
                <a:gridCol w="2039112"/>
              </a:tblGrid>
              <a:tr h="274320">
                <a:tc>
                  <a:txBody>
                    <a:bodyPr/>
                    <a:lstStyle/>
                    <a:p>
                      <a:pPr algn="l" indent="0" marL="0">
                        <a:buNone/>
                      </a:pPr>
                      <a:r>
                        <a:rPr lang="en-US" sz="1400" b="1" dirty="0">
                          <a:solidFill>
                            <a:srgbClr val="FFFFFF"/>
                          </a:solidFill>
                          <a:latin typeface="Inter" pitchFamily="34" charset="0"/>
                          <a:ea typeface="Inter" pitchFamily="34" charset="-122"/>
                          <a:cs typeface="Inter" pitchFamily="34" charset="-120"/>
                        </a:rPr>
                        <a:t>MONTH</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VARIANCE</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 %</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JAN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$123.77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$125.77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+$2.00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FEB</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$125.41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$124.08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−$1.33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−1.1%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$124.77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$130.61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+$5.85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APR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$125.94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$130.85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+$4.91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MAY</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$130.19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$131.64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+$1.45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$128.94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$128.34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−$0.60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−0.5%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JUL</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$125.78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$132.55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+$6.77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+5.4%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AUG</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$125.81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$129.87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+$4.06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SEP</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$124.46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$133.77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+$9.31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+7.5%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16" name="Shape 13"/>
          <p:cNvSpPr/>
          <p:nvPr/>
        </p:nvSpPr>
        <p:spPr>
          <a:xfrm>
            <a:off x="457200" y="5961888"/>
            <a:ext cx="11274552" cy="548640"/>
          </a:xfrm>
          <a:prstGeom prst="rect">
            <a:avLst/>
          </a:prstGeom>
          <a:solidFill>
            <a:srgbClr val="E6F6EE"/>
          </a:solidFill>
          <a:ln/>
        </p:spPr>
      </p:sp>
      <p:sp>
        <p:nvSpPr>
          <p:cNvPr id="17" name="Text 14"/>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Up $3.75 to $129.84, ahead of 2025 in seven of nine months.</a:t>
            </a:r>
            <a:endParaRPr lang="en-US" sz="16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WARRANTY &amp; INTERNAL</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Internal ELR</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38988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7" name="Shape 5"/>
          <p:cNvSpPr/>
          <p:nvPr/>
        </p:nvSpPr>
        <p:spPr>
          <a:xfrm>
            <a:off x="2971800" y="1453358"/>
            <a:ext cx="1828800" cy="126940"/>
          </a:xfrm>
          <a:prstGeom prst="rect">
            <a:avLst/>
          </a:prstGeom>
          <a:solidFill>
            <a:srgbClr val="12A566"/>
          </a:solidFill>
          <a:ln/>
        </p:spPr>
      </p:sp>
      <p:sp>
        <p:nvSpPr>
          <p:cNvPr id="8" name="Text 6"/>
          <p:cNvSpPr txBox="1"/>
          <p:nvPr/>
        </p:nvSpPr>
        <p:spPr>
          <a:xfrm>
            <a:off x="4855464" y="1389888"/>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$207.05</a:t>
            </a:r>
            <a:endParaRPr lang="en-US" sz="1300" dirty="0"/>
          </a:p>
        </p:txBody>
      </p:sp>
      <p:sp>
        <p:nvSpPr>
          <p:cNvPr id="9" name="Text 7"/>
          <p:cNvSpPr txBox="1"/>
          <p:nvPr/>
        </p:nvSpPr>
        <p:spPr>
          <a:xfrm>
            <a:off x="658368" y="164376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10" name="Shape 8"/>
          <p:cNvSpPr/>
          <p:nvPr/>
        </p:nvSpPr>
        <p:spPr>
          <a:xfrm>
            <a:off x="2971800" y="1707239"/>
            <a:ext cx="1812080" cy="126940"/>
          </a:xfrm>
          <a:prstGeom prst="rect">
            <a:avLst/>
          </a:prstGeom>
          <a:solidFill>
            <a:srgbClr val="12A566"/>
          </a:solidFill>
          <a:ln/>
        </p:spPr>
      </p:sp>
      <p:sp>
        <p:nvSpPr>
          <p:cNvPr id="11" name="Text 9"/>
          <p:cNvSpPr txBox="1"/>
          <p:nvPr/>
        </p:nvSpPr>
        <p:spPr>
          <a:xfrm>
            <a:off x="4855464" y="1643768"/>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$205.15</a:t>
            </a:r>
            <a:endParaRPr lang="en-US" sz="1300" dirty="0"/>
          </a:p>
        </p:txBody>
      </p:sp>
      <p:sp>
        <p:nvSpPr>
          <p:cNvPr id="12" name="Text 10"/>
          <p:cNvSpPr txBox="1"/>
          <p:nvPr/>
        </p:nvSpPr>
        <p:spPr>
          <a:xfrm>
            <a:off x="658368" y="189764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13" name="Shape 11"/>
          <p:cNvSpPr/>
          <p:nvPr/>
        </p:nvSpPr>
        <p:spPr>
          <a:xfrm>
            <a:off x="2971800" y="1961119"/>
            <a:ext cx="1659564" cy="126940"/>
          </a:xfrm>
          <a:prstGeom prst="rect">
            <a:avLst/>
          </a:prstGeom>
          <a:solidFill>
            <a:srgbClr val="12A566"/>
          </a:solidFill>
          <a:ln/>
        </p:spPr>
      </p:sp>
      <p:sp>
        <p:nvSpPr>
          <p:cNvPr id="14" name="Text 12"/>
          <p:cNvSpPr txBox="1"/>
          <p:nvPr/>
        </p:nvSpPr>
        <p:spPr>
          <a:xfrm>
            <a:off x="4855464" y="1897649"/>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$187.89</a:t>
            </a:r>
            <a:endParaRPr lang="en-US" sz="1300" dirty="0"/>
          </a:p>
        </p:txBody>
      </p:sp>
      <p:sp>
        <p:nvSpPr>
          <p:cNvPr id="15" name="Text 13"/>
          <p:cNvSpPr txBox="1"/>
          <p:nvPr/>
        </p:nvSpPr>
        <p:spPr>
          <a:xfrm>
            <a:off x="658368" y="215152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16" name="Shape 14"/>
          <p:cNvSpPr/>
          <p:nvPr/>
        </p:nvSpPr>
        <p:spPr>
          <a:xfrm>
            <a:off x="2971800" y="2215000"/>
            <a:ext cx="1557784" cy="126940"/>
          </a:xfrm>
          <a:prstGeom prst="rect">
            <a:avLst/>
          </a:prstGeom>
          <a:solidFill>
            <a:srgbClr val="12A566"/>
          </a:solidFill>
          <a:ln/>
        </p:spPr>
      </p:sp>
      <p:sp>
        <p:nvSpPr>
          <p:cNvPr id="17" name="Text 15"/>
          <p:cNvSpPr txBox="1"/>
          <p:nvPr/>
        </p:nvSpPr>
        <p:spPr>
          <a:xfrm>
            <a:off x="4855464" y="2151529"/>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$176.36</a:t>
            </a:r>
            <a:endParaRPr lang="en-US" sz="1300" dirty="0"/>
          </a:p>
        </p:txBody>
      </p:sp>
      <p:sp>
        <p:nvSpPr>
          <p:cNvPr id="18" name="Text 16"/>
          <p:cNvSpPr txBox="1"/>
          <p:nvPr/>
        </p:nvSpPr>
        <p:spPr>
          <a:xfrm>
            <a:off x="658368" y="240541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19" name="Shape 17"/>
          <p:cNvSpPr/>
          <p:nvPr/>
        </p:nvSpPr>
        <p:spPr>
          <a:xfrm>
            <a:off x="2971800" y="2468880"/>
            <a:ext cx="1531722" cy="126940"/>
          </a:xfrm>
          <a:prstGeom prst="rect">
            <a:avLst/>
          </a:prstGeom>
          <a:solidFill>
            <a:srgbClr val="12A566"/>
          </a:solidFill>
          <a:ln/>
        </p:spPr>
      </p:sp>
      <p:sp>
        <p:nvSpPr>
          <p:cNvPr id="20" name="Text 18"/>
          <p:cNvSpPr txBox="1"/>
          <p:nvPr/>
        </p:nvSpPr>
        <p:spPr>
          <a:xfrm>
            <a:off x="4855464" y="2405410"/>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$173.41</a:t>
            </a:r>
            <a:endParaRPr lang="en-US" sz="1300" dirty="0"/>
          </a:p>
        </p:txBody>
      </p:sp>
      <p:sp>
        <p:nvSpPr>
          <p:cNvPr id="21" name="Text 19"/>
          <p:cNvSpPr txBox="1"/>
          <p:nvPr/>
        </p:nvSpPr>
        <p:spPr>
          <a:xfrm>
            <a:off x="658368" y="265929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22" name="Shape 20"/>
          <p:cNvSpPr/>
          <p:nvPr/>
        </p:nvSpPr>
        <p:spPr>
          <a:xfrm>
            <a:off x="2971800" y="2722760"/>
            <a:ext cx="1474778" cy="126940"/>
          </a:xfrm>
          <a:prstGeom prst="rect">
            <a:avLst/>
          </a:prstGeom>
          <a:solidFill>
            <a:srgbClr val="12A566"/>
          </a:solidFill>
          <a:ln/>
        </p:spPr>
      </p:sp>
      <p:sp>
        <p:nvSpPr>
          <p:cNvPr id="23" name="Text 21"/>
          <p:cNvSpPr txBox="1"/>
          <p:nvPr/>
        </p:nvSpPr>
        <p:spPr>
          <a:xfrm>
            <a:off x="4855464" y="2659290"/>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$166.97</a:t>
            </a:r>
            <a:endParaRPr lang="en-US" sz="1300" dirty="0"/>
          </a:p>
        </p:txBody>
      </p:sp>
      <p:sp>
        <p:nvSpPr>
          <p:cNvPr id="24" name="Text 22"/>
          <p:cNvSpPr txBox="1"/>
          <p:nvPr/>
        </p:nvSpPr>
        <p:spPr>
          <a:xfrm>
            <a:off x="658368" y="291317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25" name="Shape 23"/>
          <p:cNvSpPr/>
          <p:nvPr/>
        </p:nvSpPr>
        <p:spPr>
          <a:xfrm>
            <a:off x="2971800" y="2976641"/>
            <a:ext cx="1464598" cy="126940"/>
          </a:xfrm>
          <a:prstGeom prst="rect">
            <a:avLst/>
          </a:prstGeom>
          <a:solidFill>
            <a:srgbClr val="12A566"/>
          </a:solidFill>
          <a:ln/>
        </p:spPr>
      </p:sp>
      <p:sp>
        <p:nvSpPr>
          <p:cNvPr id="26" name="Text 24"/>
          <p:cNvSpPr txBox="1"/>
          <p:nvPr/>
        </p:nvSpPr>
        <p:spPr>
          <a:xfrm>
            <a:off x="4855464" y="2913171"/>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$165.81</a:t>
            </a:r>
            <a:endParaRPr lang="en-US" sz="1300" dirty="0"/>
          </a:p>
        </p:txBody>
      </p:sp>
      <p:sp>
        <p:nvSpPr>
          <p:cNvPr id="27" name="Text 25"/>
          <p:cNvSpPr txBox="1"/>
          <p:nvPr/>
        </p:nvSpPr>
        <p:spPr>
          <a:xfrm>
            <a:off x="658368" y="316705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28" name="Shape 26"/>
          <p:cNvSpPr/>
          <p:nvPr/>
        </p:nvSpPr>
        <p:spPr>
          <a:xfrm>
            <a:off x="2971800" y="3230521"/>
            <a:ext cx="1442830" cy="126940"/>
          </a:xfrm>
          <a:prstGeom prst="rect">
            <a:avLst/>
          </a:prstGeom>
          <a:solidFill>
            <a:srgbClr val="12A566"/>
          </a:solidFill>
          <a:ln/>
        </p:spPr>
      </p:sp>
      <p:sp>
        <p:nvSpPr>
          <p:cNvPr id="29" name="Text 27"/>
          <p:cNvSpPr txBox="1"/>
          <p:nvPr/>
        </p:nvSpPr>
        <p:spPr>
          <a:xfrm>
            <a:off x="4855464" y="3167051"/>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$163.35</a:t>
            </a:r>
            <a:endParaRPr lang="en-US" sz="1300" dirty="0"/>
          </a:p>
        </p:txBody>
      </p:sp>
      <p:sp>
        <p:nvSpPr>
          <p:cNvPr id="30" name="Text 28"/>
          <p:cNvSpPr txBox="1"/>
          <p:nvPr/>
        </p:nvSpPr>
        <p:spPr>
          <a:xfrm>
            <a:off x="658368" y="342093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31" name="Shape 29"/>
          <p:cNvSpPr/>
          <p:nvPr/>
        </p:nvSpPr>
        <p:spPr>
          <a:xfrm>
            <a:off x="2971800" y="3484402"/>
            <a:ext cx="1433818" cy="126940"/>
          </a:xfrm>
          <a:prstGeom prst="rect">
            <a:avLst/>
          </a:prstGeom>
          <a:solidFill>
            <a:srgbClr val="12A566"/>
          </a:solidFill>
          <a:ln/>
        </p:spPr>
      </p:sp>
      <p:sp>
        <p:nvSpPr>
          <p:cNvPr id="32" name="Text 30"/>
          <p:cNvSpPr txBox="1"/>
          <p:nvPr/>
        </p:nvSpPr>
        <p:spPr>
          <a:xfrm>
            <a:off x="4855464" y="3420932"/>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$162.33</a:t>
            </a:r>
            <a:endParaRPr lang="en-US" sz="1300" dirty="0"/>
          </a:p>
        </p:txBody>
      </p:sp>
      <p:sp>
        <p:nvSpPr>
          <p:cNvPr id="33" name="Text 31"/>
          <p:cNvSpPr txBox="1"/>
          <p:nvPr/>
        </p:nvSpPr>
        <p:spPr>
          <a:xfrm>
            <a:off x="658368" y="367481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34" name="Shape 32"/>
          <p:cNvSpPr/>
          <p:nvPr/>
        </p:nvSpPr>
        <p:spPr>
          <a:xfrm>
            <a:off x="2971800" y="3738282"/>
            <a:ext cx="1403774" cy="126940"/>
          </a:xfrm>
          <a:prstGeom prst="rect">
            <a:avLst/>
          </a:prstGeom>
          <a:solidFill>
            <a:srgbClr val="12A566"/>
          </a:solidFill>
          <a:ln/>
        </p:spPr>
      </p:sp>
      <p:sp>
        <p:nvSpPr>
          <p:cNvPr id="35" name="Text 33"/>
          <p:cNvSpPr txBox="1"/>
          <p:nvPr/>
        </p:nvSpPr>
        <p:spPr>
          <a:xfrm>
            <a:off x="4855464" y="3674812"/>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$158.93</a:t>
            </a:r>
            <a:endParaRPr lang="en-US" sz="1300" dirty="0"/>
          </a:p>
        </p:txBody>
      </p:sp>
      <p:sp>
        <p:nvSpPr>
          <p:cNvPr id="36" name="Text 34"/>
          <p:cNvSpPr txBox="1"/>
          <p:nvPr/>
        </p:nvSpPr>
        <p:spPr>
          <a:xfrm>
            <a:off x="658368" y="392869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37" name="Shape 35"/>
          <p:cNvSpPr/>
          <p:nvPr/>
        </p:nvSpPr>
        <p:spPr>
          <a:xfrm>
            <a:off x="2971800" y="3992163"/>
            <a:ext cx="1367830" cy="126940"/>
          </a:xfrm>
          <a:prstGeom prst="rect">
            <a:avLst/>
          </a:prstGeom>
          <a:solidFill>
            <a:srgbClr val="12A566"/>
          </a:solidFill>
          <a:ln/>
        </p:spPr>
      </p:sp>
      <p:sp>
        <p:nvSpPr>
          <p:cNvPr id="38" name="Text 36"/>
          <p:cNvSpPr txBox="1"/>
          <p:nvPr/>
        </p:nvSpPr>
        <p:spPr>
          <a:xfrm>
            <a:off x="4855464" y="3928693"/>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$154.86</a:t>
            </a:r>
            <a:endParaRPr lang="en-US" sz="1300" dirty="0"/>
          </a:p>
        </p:txBody>
      </p:sp>
      <p:sp>
        <p:nvSpPr>
          <p:cNvPr id="39" name="Text 37"/>
          <p:cNvSpPr txBox="1"/>
          <p:nvPr/>
        </p:nvSpPr>
        <p:spPr>
          <a:xfrm>
            <a:off x="658368" y="418257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40" name="Shape 38"/>
          <p:cNvSpPr/>
          <p:nvPr/>
        </p:nvSpPr>
        <p:spPr>
          <a:xfrm>
            <a:off x="2971800" y="4246043"/>
            <a:ext cx="1338430" cy="126940"/>
          </a:xfrm>
          <a:prstGeom prst="rect">
            <a:avLst/>
          </a:prstGeom>
          <a:solidFill>
            <a:srgbClr val="12A566"/>
          </a:solidFill>
          <a:ln/>
        </p:spPr>
      </p:sp>
      <p:sp>
        <p:nvSpPr>
          <p:cNvPr id="41" name="Text 39"/>
          <p:cNvSpPr txBox="1"/>
          <p:nvPr/>
        </p:nvSpPr>
        <p:spPr>
          <a:xfrm>
            <a:off x="4855464" y="4182573"/>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$151.53</a:t>
            </a:r>
            <a:endParaRPr lang="en-US" sz="1300" dirty="0"/>
          </a:p>
        </p:txBody>
      </p:sp>
      <p:sp>
        <p:nvSpPr>
          <p:cNvPr id="42" name="Text 40"/>
          <p:cNvSpPr txBox="1"/>
          <p:nvPr/>
        </p:nvSpPr>
        <p:spPr>
          <a:xfrm>
            <a:off x="658368" y="443645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43" name="Shape 41"/>
          <p:cNvSpPr/>
          <p:nvPr/>
        </p:nvSpPr>
        <p:spPr>
          <a:xfrm>
            <a:off x="2971800" y="4499924"/>
            <a:ext cx="1297073" cy="126940"/>
          </a:xfrm>
          <a:prstGeom prst="rect">
            <a:avLst/>
          </a:prstGeom>
          <a:solidFill>
            <a:srgbClr val="12A566"/>
          </a:solidFill>
          <a:ln/>
        </p:spPr>
      </p:sp>
      <p:sp>
        <p:nvSpPr>
          <p:cNvPr id="44" name="Text 42"/>
          <p:cNvSpPr txBox="1"/>
          <p:nvPr/>
        </p:nvSpPr>
        <p:spPr>
          <a:xfrm>
            <a:off x="4855464" y="4436454"/>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$146.85</a:t>
            </a:r>
            <a:endParaRPr lang="en-US" sz="1300" dirty="0"/>
          </a:p>
        </p:txBody>
      </p:sp>
      <p:sp>
        <p:nvSpPr>
          <p:cNvPr id="45" name="Text 43"/>
          <p:cNvSpPr txBox="1"/>
          <p:nvPr/>
        </p:nvSpPr>
        <p:spPr>
          <a:xfrm>
            <a:off x="658368" y="469033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46" name="Shape 44"/>
          <p:cNvSpPr/>
          <p:nvPr/>
        </p:nvSpPr>
        <p:spPr>
          <a:xfrm>
            <a:off x="2971800" y="4753804"/>
            <a:ext cx="1296853" cy="126940"/>
          </a:xfrm>
          <a:prstGeom prst="rect">
            <a:avLst/>
          </a:prstGeom>
          <a:solidFill>
            <a:srgbClr val="12A566"/>
          </a:solidFill>
          <a:ln/>
        </p:spPr>
      </p:sp>
      <p:sp>
        <p:nvSpPr>
          <p:cNvPr id="47" name="Text 45"/>
          <p:cNvSpPr txBox="1"/>
          <p:nvPr/>
        </p:nvSpPr>
        <p:spPr>
          <a:xfrm>
            <a:off x="4855464" y="4690334"/>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$146.82</a:t>
            </a:r>
            <a:endParaRPr lang="en-US" sz="1300" dirty="0"/>
          </a:p>
        </p:txBody>
      </p:sp>
      <p:sp>
        <p:nvSpPr>
          <p:cNvPr id="48" name="Text 46"/>
          <p:cNvSpPr txBox="1"/>
          <p:nvPr/>
        </p:nvSpPr>
        <p:spPr>
          <a:xfrm>
            <a:off x="658368" y="494421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49" name="Shape 47"/>
          <p:cNvSpPr/>
          <p:nvPr/>
        </p:nvSpPr>
        <p:spPr>
          <a:xfrm>
            <a:off x="2971800" y="5007685"/>
            <a:ext cx="1252109" cy="126940"/>
          </a:xfrm>
          <a:prstGeom prst="rect">
            <a:avLst/>
          </a:prstGeom>
          <a:solidFill>
            <a:srgbClr val="12A566"/>
          </a:solidFill>
          <a:ln/>
        </p:spPr>
      </p:sp>
      <p:sp>
        <p:nvSpPr>
          <p:cNvPr id="50" name="Text 48"/>
          <p:cNvSpPr txBox="1"/>
          <p:nvPr/>
        </p:nvSpPr>
        <p:spPr>
          <a:xfrm>
            <a:off x="4855464" y="4944215"/>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$141.76</a:t>
            </a:r>
            <a:endParaRPr lang="en-US" sz="1300" dirty="0"/>
          </a:p>
        </p:txBody>
      </p:sp>
      <p:sp>
        <p:nvSpPr>
          <p:cNvPr id="51" name="Text 49"/>
          <p:cNvSpPr txBox="1"/>
          <p:nvPr/>
        </p:nvSpPr>
        <p:spPr>
          <a:xfrm>
            <a:off x="658368" y="519809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52" name="Shape 50"/>
          <p:cNvSpPr/>
          <p:nvPr/>
        </p:nvSpPr>
        <p:spPr>
          <a:xfrm>
            <a:off x="2971800" y="5261565"/>
            <a:ext cx="1230954" cy="126940"/>
          </a:xfrm>
          <a:prstGeom prst="rect">
            <a:avLst/>
          </a:prstGeom>
          <a:solidFill>
            <a:srgbClr val="12A566"/>
          </a:solidFill>
          <a:ln/>
        </p:spPr>
      </p:sp>
      <p:sp>
        <p:nvSpPr>
          <p:cNvPr id="53" name="Text 51"/>
          <p:cNvSpPr txBox="1"/>
          <p:nvPr/>
        </p:nvSpPr>
        <p:spPr>
          <a:xfrm>
            <a:off x="4855464" y="5198095"/>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$139.36</a:t>
            </a:r>
            <a:endParaRPr lang="en-US" sz="1300" dirty="0"/>
          </a:p>
        </p:txBody>
      </p:sp>
      <p:sp>
        <p:nvSpPr>
          <p:cNvPr id="54" name="Text 52"/>
          <p:cNvSpPr txBox="1"/>
          <p:nvPr/>
        </p:nvSpPr>
        <p:spPr>
          <a:xfrm>
            <a:off x="658368" y="5451976"/>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55" name="Shape 53"/>
          <p:cNvSpPr/>
          <p:nvPr/>
        </p:nvSpPr>
        <p:spPr>
          <a:xfrm>
            <a:off x="2971800" y="5515446"/>
            <a:ext cx="1213635" cy="126940"/>
          </a:xfrm>
          <a:prstGeom prst="rect">
            <a:avLst/>
          </a:prstGeom>
          <a:solidFill>
            <a:srgbClr val="12A566"/>
          </a:solidFill>
          <a:ln/>
        </p:spPr>
      </p:sp>
      <p:sp>
        <p:nvSpPr>
          <p:cNvPr id="56" name="Text 54"/>
          <p:cNvSpPr txBox="1"/>
          <p:nvPr/>
        </p:nvSpPr>
        <p:spPr>
          <a:xfrm>
            <a:off x="4855464" y="5451976"/>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$137.40</a:t>
            </a:r>
            <a:endParaRPr lang="en-US" sz="1300" dirty="0"/>
          </a:p>
        </p:txBody>
      </p:sp>
      <p:sp>
        <p:nvSpPr>
          <p:cNvPr id="57" name="Text 55"/>
          <p:cNvSpPr txBox="1"/>
          <p:nvPr/>
        </p:nvSpPr>
        <p:spPr>
          <a:xfrm>
            <a:off x="6208776" y="138988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58" name="Shape 56"/>
          <p:cNvSpPr/>
          <p:nvPr/>
        </p:nvSpPr>
        <p:spPr>
          <a:xfrm>
            <a:off x="8522208" y="1453358"/>
            <a:ext cx="1211917" cy="126940"/>
          </a:xfrm>
          <a:prstGeom prst="rect">
            <a:avLst/>
          </a:prstGeom>
          <a:solidFill>
            <a:srgbClr val="12A566"/>
          </a:solidFill>
          <a:ln/>
        </p:spPr>
      </p:sp>
      <p:sp>
        <p:nvSpPr>
          <p:cNvPr id="59" name="Text 57"/>
          <p:cNvSpPr txBox="1"/>
          <p:nvPr/>
        </p:nvSpPr>
        <p:spPr>
          <a:xfrm>
            <a:off x="10405872" y="1389888"/>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$137.21</a:t>
            </a:r>
            <a:endParaRPr lang="en-US" sz="1300" dirty="0"/>
          </a:p>
        </p:txBody>
      </p:sp>
      <p:sp>
        <p:nvSpPr>
          <p:cNvPr id="60" name="Text 58"/>
          <p:cNvSpPr txBox="1"/>
          <p:nvPr/>
        </p:nvSpPr>
        <p:spPr>
          <a:xfrm>
            <a:off x="6208776" y="164376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61" name="Shape 59"/>
          <p:cNvSpPr/>
          <p:nvPr/>
        </p:nvSpPr>
        <p:spPr>
          <a:xfrm>
            <a:off x="8522208" y="1707239"/>
            <a:ext cx="1209221" cy="126940"/>
          </a:xfrm>
          <a:prstGeom prst="rect">
            <a:avLst/>
          </a:prstGeom>
          <a:solidFill>
            <a:srgbClr val="12A566"/>
          </a:solidFill>
          <a:ln/>
        </p:spPr>
      </p:sp>
      <p:sp>
        <p:nvSpPr>
          <p:cNvPr id="62" name="Text 60"/>
          <p:cNvSpPr txBox="1"/>
          <p:nvPr/>
        </p:nvSpPr>
        <p:spPr>
          <a:xfrm>
            <a:off x="10405872" y="1643768"/>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$136.90</a:t>
            </a:r>
            <a:endParaRPr lang="en-US" sz="1300" dirty="0"/>
          </a:p>
        </p:txBody>
      </p:sp>
      <p:sp>
        <p:nvSpPr>
          <p:cNvPr id="63" name="Text 61"/>
          <p:cNvSpPr txBox="1"/>
          <p:nvPr/>
        </p:nvSpPr>
        <p:spPr>
          <a:xfrm>
            <a:off x="6208776" y="189764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64" name="Shape 62"/>
          <p:cNvSpPr/>
          <p:nvPr/>
        </p:nvSpPr>
        <p:spPr>
          <a:xfrm>
            <a:off x="8522208" y="1961119"/>
            <a:ext cx="1187913" cy="126940"/>
          </a:xfrm>
          <a:prstGeom prst="rect">
            <a:avLst/>
          </a:prstGeom>
          <a:solidFill>
            <a:srgbClr val="12A566"/>
          </a:solidFill>
          <a:ln/>
        </p:spPr>
      </p:sp>
      <p:sp>
        <p:nvSpPr>
          <p:cNvPr id="65" name="Text 63"/>
          <p:cNvSpPr txBox="1"/>
          <p:nvPr/>
        </p:nvSpPr>
        <p:spPr>
          <a:xfrm>
            <a:off x="10405872" y="1897649"/>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$134.49</a:t>
            </a:r>
            <a:endParaRPr lang="en-US" sz="1300" dirty="0"/>
          </a:p>
        </p:txBody>
      </p:sp>
      <p:sp>
        <p:nvSpPr>
          <p:cNvPr id="66" name="Text 64"/>
          <p:cNvSpPr txBox="1"/>
          <p:nvPr/>
        </p:nvSpPr>
        <p:spPr>
          <a:xfrm>
            <a:off x="6208776" y="215152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67" name="Shape 65"/>
          <p:cNvSpPr/>
          <p:nvPr/>
        </p:nvSpPr>
        <p:spPr>
          <a:xfrm>
            <a:off x="8522208" y="2215000"/>
            <a:ext cx="1187654" cy="126940"/>
          </a:xfrm>
          <a:prstGeom prst="rect">
            <a:avLst/>
          </a:prstGeom>
          <a:solidFill>
            <a:srgbClr val="12A566"/>
          </a:solidFill>
          <a:ln/>
        </p:spPr>
      </p:sp>
      <p:sp>
        <p:nvSpPr>
          <p:cNvPr id="68" name="Text 66"/>
          <p:cNvSpPr txBox="1"/>
          <p:nvPr/>
        </p:nvSpPr>
        <p:spPr>
          <a:xfrm>
            <a:off x="10405872" y="2151529"/>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$134.46</a:t>
            </a:r>
            <a:endParaRPr lang="en-US" sz="1300" dirty="0"/>
          </a:p>
        </p:txBody>
      </p:sp>
      <p:sp>
        <p:nvSpPr>
          <p:cNvPr id="69" name="Shape 67"/>
          <p:cNvSpPr/>
          <p:nvPr/>
        </p:nvSpPr>
        <p:spPr>
          <a:xfrm>
            <a:off x="6135624" y="2400838"/>
            <a:ext cx="5413248" cy="244736"/>
          </a:xfrm>
          <a:prstGeom prst="rect">
            <a:avLst/>
          </a:prstGeom>
          <a:solidFill>
            <a:srgbClr val="EDF4FA"/>
          </a:solidFill>
          <a:ln/>
        </p:spPr>
      </p:sp>
      <p:sp>
        <p:nvSpPr>
          <p:cNvPr id="70" name="Text 68"/>
          <p:cNvSpPr txBox="1"/>
          <p:nvPr/>
        </p:nvSpPr>
        <p:spPr>
          <a:xfrm>
            <a:off x="6208776" y="2405410"/>
            <a:ext cx="2240280" cy="253880"/>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GROUP</a:t>
            </a:r>
            <a:endParaRPr lang="en-US" sz="1300" dirty="0"/>
          </a:p>
        </p:txBody>
      </p:sp>
      <p:sp>
        <p:nvSpPr>
          <p:cNvPr id="71" name="Shape 69"/>
          <p:cNvSpPr/>
          <p:nvPr/>
        </p:nvSpPr>
        <p:spPr>
          <a:xfrm>
            <a:off x="8522208" y="2468880"/>
            <a:ext cx="1146832" cy="126940"/>
          </a:xfrm>
          <a:prstGeom prst="rect">
            <a:avLst/>
          </a:prstGeom>
          <a:solidFill>
            <a:srgbClr val="0B2C4A"/>
          </a:solidFill>
          <a:ln/>
        </p:spPr>
      </p:sp>
      <p:sp>
        <p:nvSpPr>
          <p:cNvPr id="72" name="Text 70"/>
          <p:cNvSpPr txBox="1"/>
          <p:nvPr/>
        </p:nvSpPr>
        <p:spPr>
          <a:xfrm>
            <a:off x="10405872" y="2405410"/>
            <a:ext cx="1088136" cy="253880"/>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$129.84</a:t>
            </a:r>
            <a:endParaRPr lang="en-US" sz="1300" dirty="0"/>
          </a:p>
        </p:txBody>
      </p:sp>
      <p:sp>
        <p:nvSpPr>
          <p:cNvPr id="73" name="Text 71"/>
          <p:cNvSpPr txBox="1"/>
          <p:nvPr/>
        </p:nvSpPr>
        <p:spPr>
          <a:xfrm>
            <a:off x="6208776" y="265929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74" name="Shape 72"/>
          <p:cNvSpPr/>
          <p:nvPr/>
        </p:nvSpPr>
        <p:spPr>
          <a:xfrm>
            <a:off x="8522208" y="2722760"/>
            <a:ext cx="1132497" cy="126940"/>
          </a:xfrm>
          <a:prstGeom prst="rect">
            <a:avLst/>
          </a:prstGeom>
          <a:solidFill>
            <a:srgbClr val="C2352F"/>
          </a:solidFill>
          <a:ln/>
        </p:spPr>
      </p:sp>
      <p:sp>
        <p:nvSpPr>
          <p:cNvPr id="75" name="Text 73"/>
          <p:cNvSpPr txBox="1"/>
          <p:nvPr/>
        </p:nvSpPr>
        <p:spPr>
          <a:xfrm>
            <a:off x="10405872" y="2659290"/>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$128.21</a:t>
            </a:r>
            <a:endParaRPr lang="en-US" sz="1300" dirty="0"/>
          </a:p>
        </p:txBody>
      </p:sp>
      <p:sp>
        <p:nvSpPr>
          <p:cNvPr id="76" name="Text 74"/>
          <p:cNvSpPr txBox="1"/>
          <p:nvPr/>
        </p:nvSpPr>
        <p:spPr>
          <a:xfrm>
            <a:off x="6208776" y="291317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77" name="Shape 75"/>
          <p:cNvSpPr/>
          <p:nvPr/>
        </p:nvSpPr>
        <p:spPr>
          <a:xfrm>
            <a:off x="8522208" y="2976641"/>
            <a:ext cx="1125394" cy="126940"/>
          </a:xfrm>
          <a:prstGeom prst="rect">
            <a:avLst/>
          </a:prstGeom>
          <a:solidFill>
            <a:srgbClr val="C2352F"/>
          </a:solidFill>
          <a:ln/>
        </p:spPr>
      </p:sp>
      <p:sp>
        <p:nvSpPr>
          <p:cNvPr id="78" name="Text 76"/>
          <p:cNvSpPr txBox="1"/>
          <p:nvPr/>
        </p:nvSpPr>
        <p:spPr>
          <a:xfrm>
            <a:off x="10405872" y="2913171"/>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$127.41</a:t>
            </a:r>
            <a:endParaRPr lang="en-US" sz="1300" dirty="0"/>
          </a:p>
        </p:txBody>
      </p:sp>
      <p:sp>
        <p:nvSpPr>
          <p:cNvPr id="79" name="Text 77"/>
          <p:cNvSpPr txBox="1"/>
          <p:nvPr/>
        </p:nvSpPr>
        <p:spPr>
          <a:xfrm>
            <a:off x="6208776" y="316705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80" name="Shape 78"/>
          <p:cNvSpPr/>
          <p:nvPr/>
        </p:nvSpPr>
        <p:spPr>
          <a:xfrm>
            <a:off x="8522208" y="3230521"/>
            <a:ext cx="1099278" cy="126940"/>
          </a:xfrm>
          <a:prstGeom prst="rect">
            <a:avLst/>
          </a:prstGeom>
          <a:solidFill>
            <a:srgbClr val="C2352F"/>
          </a:solidFill>
          <a:ln/>
        </p:spPr>
      </p:sp>
      <p:sp>
        <p:nvSpPr>
          <p:cNvPr id="81" name="Text 79"/>
          <p:cNvSpPr txBox="1"/>
          <p:nvPr/>
        </p:nvSpPr>
        <p:spPr>
          <a:xfrm>
            <a:off x="10405872" y="3167051"/>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$124.45</a:t>
            </a:r>
            <a:endParaRPr lang="en-US" sz="1300" dirty="0"/>
          </a:p>
        </p:txBody>
      </p:sp>
      <p:sp>
        <p:nvSpPr>
          <p:cNvPr id="82" name="Text 80"/>
          <p:cNvSpPr txBox="1"/>
          <p:nvPr/>
        </p:nvSpPr>
        <p:spPr>
          <a:xfrm>
            <a:off x="6208776" y="342093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83" name="Shape 81"/>
          <p:cNvSpPr/>
          <p:nvPr/>
        </p:nvSpPr>
        <p:spPr>
          <a:xfrm>
            <a:off x="8522208" y="3484402"/>
            <a:ext cx="1083588" cy="126940"/>
          </a:xfrm>
          <a:prstGeom prst="rect">
            <a:avLst/>
          </a:prstGeom>
          <a:solidFill>
            <a:srgbClr val="C2352F"/>
          </a:solidFill>
          <a:ln/>
        </p:spPr>
      </p:sp>
      <p:sp>
        <p:nvSpPr>
          <p:cNvPr id="84" name="Text 82"/>
          <p:cNvSpPr txBox="1"/>
          <p:nvPr/>
        </p:nvSpPr>
        <p:spPr>
          <a:xfrm>
            <a:off x="10405872" y="3420932"/>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$122.68</a:t>
            </a:r>
            <a:endParaRPr lang="en-US" sz="1300" dirty="0"/>
          </a:p>
        </p:txBody>
      </p:sp>
      <p:sp>
        <p:nvSpPr>
          <p:cNvPr id="85" name="Text 83"/>
          <p:cNvSpPr txBox="1"/>
          <p:nvPr/>
        </p:nvSpPr>
        <p:spPr>
          <a:xfrm>
            <a:off x="6208776" y="367481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86" name="Shape 84"/>
          <p:cNvSpPr/>
          <p:nvPr/>
        </p:nvSpPr>
        <p:spPr>
          <a:xfrm>
            <a:off x="8522208" y="3738282"/>
            <a:ext cx="1054415" cy="126940"/>
          </a:xfrm>
          <a:prstGeom prst="rect">
            <a:avLst/>
          </a:prstGeom>
          <a:solidFill>
            <a:srgbClr val="C2352F"/>
          </a:solidFill>
          <a:ln/>
        </p:spPr>
      </p:sp>
      <p:sp>
        <p:nvSpPr>
          <p:cNvPr id="87" name="Text 85"/>
          <p:cNvSpPr txBox="1"/>
          <p:nvPr/>
        </p:nvSpPr>
        <p:spPr>
          <a:xfrm>
            <a:off x="10405872" y="3674812"/>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$119.37</a:t>
            </a:r>
            <a:endParaRPr lang="en-US" sz="1300" dirty="0"/>
          </a:p>
        </p:txBody>
      </p:sp>
      <p:sp>
        <p:nvSpPr>
          <p:cNvPr id="88" name="Text 86"/>
          <p:cNvSpPr txBox="1"/>
          <p:nvPr/>
        </p:nvSpPr>
        <p:spPr>
          <a:xfrm>
            <a:off x="6208776" y="392869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89" name="Shape 87"/>
          <p:cNvSpPr/>
          <p:nvPr/>
        </p:nvSpPr>
        <p:spPr>
          <a:xfrm>
            <a:off x="8522208" y="3992163"/>
            <a:ext cx="1035047" cy="126940"/>
          </a:xfrm>
          <a:prstGeom prst="rect">
            <a:avLst/>
          </a:prstGeom>
          <a:solidFill>
            <a:srgbClr val="C2352F"/>
          </a:solidFill>
          <a:ln/>
        </p:spPr>
      </p:sp>
      <p:sp>
        <p:nvSpPr>
          <p:cNvPr id="90" name="Text 88"/>
          <p:cNvSpPr txBox="1"/>
          <p:nvPr/>
        </p:nvSpPr>
        <p:spPr>
          <a:xfrm>
            <a:off x="10405872" y="3928693"/>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$117.18</a:t>
            </a:r>
            <a:endParaRPr lang="en-US" sz="1300" dirty="0"/>
          </a:p>
        </p:txBody>
      </p:sp>
      <p:sp>
        <p:nvSpPr>
          <p:cNvPr id="91" name="Text 89"/>
          <p:cNvSpPr txBox="1"/>
          <p:nvPr/>
        </p:nvSpPr>
        <p:spPr>
          <a:xfrm>
            <a:off x="6208776" y="418257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92" name="Shape 90"/>
          <p:cNvSpPr/>
          <p:nvPr/>
        </p:nvSpPr>
        <p:spPr>
          <a:xfrm>
            <a:off x="8522208" y="4246043"/>
            <a:ext cx="1015470" cy="126940"/>
          </a:xfrm>
          <a:prstGeom prst="rect">
            <a:avLst/>
          </a:prstGeom>
          <a:solidFill>
            <a:srgbClr val="C2352F"/>
          </a:solidFill>
          <a:ln/>
        </p:spPr>
      </p:sp>
      <p:sp>
        <p:nvSpPr>
          <p:cNvPr id="93" name="Text 91"/>
          <p:cNvSpPr txBox="1"/>
          <p:nvPr/>
        </p:nvSpPr>
        <p:spPr>
          <a:xfrm>
            <a:off x="10405872" y="4182573"/>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$114.97</a:t>
            </a:r>
            <a:endParaRPr lang="en-US" sz="1300" dirty="0"/>
          </a:p>
        </p:txBody>
      </p:sp>
      <p:sp>
        <p:nvSpPr>
          <p:cNvPr id="94" name="Text 92"/>
          <p:cNvSpPr txBox="1"/>
          <p:nvPr/>
        </p:nvSpPr>
        <p:spPr>
          <a:xfrm>
            <a:off x="6208776" y="443645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95" name="Shape 93"/>
          <p:cNvSpPr/>
          <p:nvPr/>
        </p:nvSpPr>
        <p:spPr>
          <a:xfrm>
            <a:off x="8522208" y="4499924"/>
            <a:ext cx="964729" cy="126940"/>
          </a:xfrm>
          <a:prstGeom prst="rect">
            <a:avLst/>
          </a:prstGeom>
          <a:solidFill>
            <a:srgbClr val="C2352F"/>
          </a:solidFill>
          <a:ln/>
        </p:spPr>
      </p:sp>
      <p:sp>
        <p:nvSpPr>
          <p:cNvPr id="96" name="Text 94"/>
          <p:cNvSpPr txBox="1"/>
          <p:nvPr/>
        </p:nvSpPr>
        <p:spPr>
          <a:xfrm>
            <a:off x="10405872" y="4436454"/>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$109.22</a:t>
            </a:r>
            <a:endParaRPr lang="en-US" sz="1300" dirty="0"/>
          </a:p>
        </p:txBody>
      </p:sp>
      <p:sp>
        <p:nvSpPr>
          <p:cNvPr id="97" name="Text 95"/>
          <p:cNvSpPr txBox="1"/>
          <p:nvPr/>
        </p:nvSpPr>
        <p:spPr>
          <a:xfrm>
            <a:off x="6208776" y="469033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98" name="Shape 96"/>
          <p:cNvSpPr/>
          <p:nvPr/>
        </p:nvSpPr>
        <p:spPr>
          <a:xfrm>
            <a:off x="8522208" y="4753804"/>
            <a:ext cx="926499" cy="126940"/>
          </a:xfrm>
          <a:prstGeom prst="rect">
            <a:avLst/>
          </a:prstGeom>
          <a:solidFill>
            <a:srgbClr val="C2352F"/>
          </a:solidFill>
          <a:ln/>
        </p:spPr>
      </p:sp>
      <p:sp>
        <p:nvSpPr>
          <p:cNvPr id="99" name="Text 97"/>
          <p:cNvSpPr txBox="1"/>
          <p:nvPr/>
        </p:nvSpPr>
        <p:spPr>
          <a:xfrm>
            <a:off x="10405872" y="4690334"/>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$104.89</a:t>
            </a:r>
            <a:endParaRPr lang="en-US" sz="1300" dirty="0"/>
          </a:p>
        </p:txBody>
      </p:sp>
      <p:sp>
        <p:nvSpPr>
          <p:cNvPr id="100" name="Text 98"/>
          <p:cNvSpPr txBox="1"/>
          <p:nvPr/>
        </p:nvSpPr>
        <p:spPr>
          <a:xfrm>
            <a:off x="6208776" y="494421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101" name="Shape 99"/>
          <p:cNvSpPr/>
          <p:nvPr/>
        </p:nvSpPr>
        <p:spPr>
          <a:xfrm>
            <a:off x="8522208" y="5007685"/>
            <a:ext cx="906678" cy="126940"/>
          </a:xfrm>
          <a:prstGeom prst="rect">
            <a:avLst/>
          </a:prstGeom>
          <a:solidFill>
            <a:srgbClr val="C2352F"/>
          </a:solidFill>
          <a:ln/>
        </p:spPr>
      </p:sp>
      <p:sp>
        <p:nvSpPr>
          <p:cNvPr id="102" name="Text 100"/>
          <p:cNvSpPr txBox="1"/>
          <p:nvPr/>
        </p:nvSpPr>
        <p:spPr>
          <a:xfrm>
            <a:off x="10405872" y="4944215"/>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$102.65</a:t>
            </a:r>
            <a:endParaRPr lang="en-US" sz="1300" dirty="0"/>
          </a:p>
        </p:txBody>
      </p:sp>
      <p:sp>
        <p:nvSpPr>
          <p:cNvPr id="103" name="Text 101"/>
          <p:cNvSpPr txBox="1"/>
          <p:nvPr/>
        </p:nvSpPr>
        <p:spPr>
          <a:xfrm>
            <a:off x="6208776" y="519809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104" name="Shape 102"/>
          <p:cNvSpPr/>
          <p:nvPr/>
        </p:nvSpPr>
        <p:spPr>
          <a:xfrm>
            <a:off x="8522208" y="5261565"/>
            <a:ext cx="881342" cy="126940"/>
          </a:xfrm>
          <a:prstGeom prst="rect">
            <a:avLst/>
          </a:prstGeom>
          <a:solidFill>
            <a:srgbClr val="C2352F"/>
          </a:solidFill>
          <a:ln/>
        </p:spPr>
      </p:sp>
      <p:sp>
        <p:nvSpPr>
          <p:cNvPr id="105" name="Text 103"/>
          <p:cNvSpPr txBox="1"/>
          <p:nvPr/>
        </p:nvSpPr>
        <p:spPr>
          <a:xfrm>
            <a:off x="10405872" y="5198095"/>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$99.78</a:t>
            </a:r>
            <a:endParaRPr lang="en-US" sz="1300" dirty="0"/>
          </a:p>
        </p:txBody>
      </p:sp>
      <p:sp>
        <p:nvSpPr>
          <p:cNvPr id="106" name="Text 104"/>
          <p:cNvSpPr txBox="1"/>
          <p:nvPr/>
        </p:nvSpPr>
        <p:spPr>
          <a:xfrm>
            <a:off x="6208776" y="5451976"/>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107" name="Shape 105"/>
          <p:cNvSpPr/>
          <p:nvPr/>
        </p:nvSpPr>
        <p:spPr>
          <a:xfrm>
            <a:off x="8522208" y="5515446"/>
            <a:ext cx="770301" cy="126940"/>
          </a:xfrm>
          <a:prstGeom prst="rect">
            <a:avLst/>
          </a:prstGeom>
          <a:solidFill>
            <a:srgbClr val="C2352F"/>
          </a:solidFill>
          <a:ln/>
        </p:spPr>
      </p:sp>
      <p:sp>
        <p:nvSpPr>
          <p:cNvPr id="108" name="Text 106"/>
          <p:cNvSpPr txBox="1"/>
          <p:nvPr/>
        </p:nvSpPr>
        <p:spPr>
          <a:xfrm>
            <a:off x="10405872" y="5451976"/>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$87.21</a:t>
            </a:r>
            <a:endParaRPr lang="en-US" sz="1300" dirty="0"/>
          </a:p>
        </p:txBody>
      </p:sp>
      <p:sp>
        <p:nvSpPr>
          <p:cNvPr id="109" name="Shape 107"/>
          <p:cNvSpPr/>
          <p:nvPr/>
        </p:nvSpPr>
        <p:spPr>
          <a:xfrm>
            <a:off x="4111317" y="1389888"/>
            <a:ext cx="14630" cy="4315968"/>
          </a:xfrm>
          <a:prstGeom prst="rect">
            <a:avLst/>
          </a:prstGeom>
          <a:solidFill>
            <a:srgbClr val="0B2C4A"/>
          </a:solidFill>
          <a:ln/>
        </p:spPr>
      </p:sp>
      <p:sp>
        <p:nvSpPr>
          <p:cNvPr id="110" name="Shape 108"/>
          <p:cNvSpPr/>
          <p:nvPr/>
        </p:nvSpPr>
        <p:spPr>
          <a:xfrm>
            <a:off x="9661725" y="1389888"/>
            <a:ext cx="14630" cy="4315968"/>
          </a:xfrm>
          <a:prstGeom prst="rect">
            <a:avLst/>
          </a:prstGeom>
          <a:solidFill>
            <a:srgbClr val="0B2C4A"/>
          </a:solidFill>
          <a:ln/>
        </p:spPr>
      </p:sp>
      <p:sp>
        <p:nvSpPr>
          <p:cNvPr id="111" name="Shape 109"/>
          <p:cNvSpPr/>
          <p:nvPr/>
        </p:nvSpPr>
        <p:spPr>
          <a:xfrm>
            <a:off x="457200" y="5961888"/>
            <a:ext cx="11274552" cy="548640"/>
          </a:xfrm>
          <a:prstGeom prst="rect">
            <a:avLst/>
          </a:prstGeom>
          <a:solidFill>
            <a:srgbClr val="EDF4FA"/>
          </a:solidFill>
          <a:ln/>
        </p:spPr>
      </p:sp>
      <p:sp>
        <p:nvSpPr>
          <p:cNvPr id="112" name="Text 110"/>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21 of 33 stores at or above the $129.84 group, led by LR RENO at $207.05. NISSAN is lowest at $87.21.</a:t>
            </a:r>
            <a:endParaRPr lang="en-US" sz="16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WARRANTY &amp; INTERNAL</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Internal ELR</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01168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GROUP</a:t>
            </a:r>
            <a:endParaRPr lang="en-US" sz="1500" dirty="0"/>
          </a:p>
        </p:txBody>
      </p:sp>
      <p:sp>
        <p:nvSpPr>
          <p:cNvPr id="9" name="Text 7"/>
          <p:cNvSpPr txBox="1"/>
          <p:nvPr/>
        </p:nvSpPr>
        <p:spPr>
          <a:xfrm>
            <a:off x="2834640" y="1335024"/>
            <a:ext cx="420624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SAME-STORE, 33 STORES</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+$3.75</a:t>
            </a:r>
            <a:endParaRPr lang="en-US" sz="2000" dirty="0"/>
          </a:p>
        </p:txBody>
      </p:sp>
      <p:sp>
        <p:nvSpPr>
          <p:cNvPr id="11" name="Text 9"/>
          <p:cNvSpPr txBox="1"/>
          <p:nvPr/>
        </p:nvSpPr>
        <p:spPr>
          <a:xfrm>
            <a:off x="658368"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12" name="Shape 10"/>
          <p:cNvSpPr/>
          <p:nvPr/>
        </p:nvSpPr>
        <p:spPr>
          <a:xfrm>
            <a:off x="3813048" y="1909246"/>
            <a:ext cx="636173" cy="105898"/>
          </a:xfrm>
          <a:prstGeom prst="rect">
            <a:avLst/>
          </a:prstGeom>
          <a:solidFill>
            <a:srgbClr val="12A566"/>
          </a:solidFill>
          <a:ln/>
        </p:spPr>
      </p:sp>
      <p:sp>
        <p:nvSpPr>
          <p:cNvPr id="13" name="Text 11"/>
          <p:cNvSpPr txBox="1"/>
          <p:nvPr/>
        </p:nvSpPr>
        <p:spPr>
          <a:xfrm>
            <a:off x="4709160"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+$46.71</a:t>
            </a:r>
            <a:endParaRPr lang="en-US" sz="1300" dirty="0"/>
          </a:p>
        </p:txBody>
      </p:sp>
      <p:sp>
        <p:nvSpPr>
          <p:cNvPr id="14" name="Text 12"/>
          <p:cNvSpPr txBox="1"/>
          <p:nvPr/>
        </p:nvSpPr>
        <p:spPr>
          <a:xfrm>
            <a:off x="658368"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15" name="Shape 13"/>
          <p:cNvSpPr/>
          <p:nvPr/>
        </p:nvSpPr>
        <p:spPr>
          <a:xfrm>
            <a:off x="3813048" y="2139459"/>
            <a:ext cx="539178" cy="105898"/>
          </a:xfrm>
          <a:prstGeom prst="rect">
            <a:avLst/>
          </a:prstGeom>
          <a:solidFill>
            <a:srgbClr val="12A566"/>
          </a:solidFill>
          <a:ln/>
        </p:spPr>
      </p:sp>
      <p:sp>
        <p:nvSpPr>
          <p:cNvPr id="16" name="Text 14"/>
          <p:cNvSpPr txBox="1"/>
          <p:nvPr/>
        </p:nvSpPr>
        <p:spPr>
          <a:xfrm>
            <a:off x="4709160"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+$39.59</a:t>
            </a:r>
            <a:endParaRPr lang="en-US" sz="1300" dirty="0"/>
          </a:p>
        </p:txBody>
      </p:sp>
      <p:sp>
        <p:nvSpPr>
          <p:cNvPr id="17" name="Text 15"/>
          <p:cNvSpPr txBox="1"/>
          <p:nvPr/>
        </p:nvSpPr>
        <p:spPr>
          <a:xfrm>
            <a:off x="658368"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18" name="Shape 16"/>
          <p:cNvSpPr/>
          <p:nvPr/>
        </p:nvSpPr>
        <p:spPr>
          <a:xfrm>
            <a:off x="3813048" y="2369673"/>
            <a:ext cx="369303" cy="105898"/>
          </a:xfrm>
          <a:prstGeom prst="rect">
            <a:avLst/>
          </a:prstGeom>
          <a:solidFill>
            <a:srgbClr val="12A566"/>
          </a:solidFill>
          <a:ln/>
        </p:spPr>
      </p:sp>
      <p:sp>
        <p:nvSpPr>
          <p:cNvPr id="19" name="Text 17"/>
          <p:cNvSpPr txBox="1"/>
          <p:nvPr/>
        </p:nvSpPr>
        <p:spPr>
          <a:xfrm>
            <a:off x="4709160"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+$27.12</a:t>
            </a:r>
            <a:endParaRPr lang="en-US" sz="1300" dirty="0"/>
          </a:p>
        </p:txBody>
      </p:sp>
      <p:sp>
        <p:nvSpPr>
          <p:cNvPr id="20" name="Text 18"/>
          <p:cNvSpPr txBox="1"/>
          <p:nvPr/>
        </p:nvSpPr>
        <p:spPr>
          <a:xfrm>
            <a:off x="658368"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21" name="Shape 19"/>
          <p:cNvSpPr/>
          <p:nvPr/>
        </p:nvSpPr>
        <p:spPr>
          <a:xfrm>
            <a:off x="3813048" y="2599887"/>
            <a:ext cx="283453" cy="105898"/>
          </a:xfrm>
          <a:prstGeom prst="rect">
            <a:avLst/>
          </a:prstGeom>
          <a:solidFill>
            <a:srgbClr val="12A566"/>
          </a:solidFill>
          <a:ln/>
        </p:spPr>
      </p:sp>
      <p:sp>
        <p:nvSpPr>
          <p:cNvPr id="22" name="Text 20"/>
          <p:cNvSpPr txBox="1"/>
          <p:nvPr/>
        </p:nvSpPr>
        <p:spPr>
          <a:xfrm>
            <a:off x="4709160"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+$20.81</a:t>
            </a:r>
            <a:endParaRPr lang="en-US" sz="1300" dirty="0"/>
          </a:p>
        </p:txBody>
      </p:sp>
      <p:sp>
        <p:nvSpPr>
          <p:cNvPr id="23" name="Text 21"/>
          <p:cNvSpPr txBox="1"/>
          <p:nvPr/>
        </p:nvSpPr>
        <p:spPr>
          <a:xfrm>
            <a:off x="658368"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24" name="Shape 22"/>
          <p:cNvSpPr/>
          <p:nvPr/>
        </p:nvSpPr>
        <p:spPr>
          <a:xfrm>
            <a:off x="3813048" y="2830100"/>
            <a:ext cx="237562" cy="105898"/>
          </a:xfrm>
          <a:prstGeom prst="rect">
            <a:avLst/>
          </a:prstGeom>
          <a:solidFill>
            <a:srgbClr val="12A566"/>
          </a:solidFill>
          <a:ln/>
        </p:spPr>
      </p:sp>
      <p:sp>
        <p:nvSpPr>
          <p:cNvPr id="25" name="Text 23"/>
          <p:cNvSpPr txBox="1"/>
          <p:nvPr/>
        </p:nvSpPr>
        <p:spPr>
          <a:xfrm>
            <a:off x="4709160"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+$17.44</a:t>
            </a:r>
            <a:endParaRPr lang="en-US" sz="1300" dirty="0"/>
          </a:p>
        </p:txBody>
      </p:sp>
      <p:sp>
        <p:nvSpPr>
          <p:cNvPr id="26" name="Text 24"/>
          <p:cNvSpPr txBox="1"/>
          <p:nvPr/>
        </p:nvSpPr>
        <p:spPr>
          <a:xfrm>
            <a:off x="658368"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27" name="Shape 25"/>
          <p:cNvSpPr/>
          <p:nvPr/>
        </p:nvSpPr>
        <p:spPr>
          <a:xfrm>
            <a:off x="3813048" y="3060314"/>
            <a:ext cx="172734" cy="105898"/>
          </a:xfrm>
          <a:prstGeom prst="rect">
            <a:avLst/>
          </a:prstGeom>
          <a:solidFill>
            <a:srgbClr val="12A566"/>
          </a:solidFill>
          <a:ln/>
        </p:spPr>
      </p:sp>
      <p:sp>
        <p:nvSpPr>
          <p:cNvPr id="28" name="Text 26"/>
          <p:cNvSpPr txBox="1"/>
          <p:nvPr/>
        </p:nvSpPr>
        <p:spPr>
          <a:xfrm>
            <a:off x="4709160"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+$12.68</a:t>
            </a:r>
            <a:endParaRPr lang="en-US" sz="1300" dirty="0"/>
          </a:p>
        </p:txBody>
      </p:sp>
      <p:sp>
        <p:nvSpPr>
          <p:cNvPr id="29" name="Text 27"/>
          <p:cNvSpPr txBox="1"/>
          <p:nvPr/>
        </p:nvSpPr>
        <p:spPr>
          <a:xfrm>
            <a:off x="658368"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30" name="Shape 28"/>
          <p:cNvSpPr/>
          <p:nvPr/>
        </p:nvSpPr>
        <p:spPr>
          <a:xfrm>
            <a:off x="3813048" y="3290528"/>
            <a:ext cx="169263" cy="105898"/>
          </a:xfrm>
          <a:prstGeom prst="rect">
            <a:avLst/>
          </a:prstGeom>
          <a:solidFill>
            <a:srgbClr val="12A566"/>
          </a:solidFill>
          <a:ln/>
        </p:spPr>
      </p:sp>
      <p:sp>
        <p:nvSpPr>
          <p:cNvPr id="31" name="Text 29"/>
          <p:cNvSpPr txBox="1"/>
          <p:nvPr/>
        </p:nvSpPr>
        <p:spPr>
          <a:xfrm>
            <a:off x="4709160" y="3228370"/>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+$12.43</a:t>
            </a:r>
            <a:endParaRPr lang="en-US" sz="1300" dirty="0"/>
          </a:p>
        </p:txBody>
      </p:sp>
      <p:sp>
        <p:nvSpPr>
          <p:cNvPr id="32" name="Text 30"/>
          <p:cNvSpPr txBox="1"/>
          <p:nvPr/>
        </p:nvSpPr>
        <p:spPr>
          <a:xfrm>
            <a:off x="658368"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33" name="Shape 31"/>
          <p:cNvSpPr/>
          <p:nvPr/>
        </p:nvSpPr>
        <p:spPr>
          <a:xfrm>
            <a:off x="3813048" y="3520741"/>
            <a:ext cx="163946" cy="105898"/>
          </a:xfrm>
          <a:prstGeom prst="rect">
            <a:avLst/>
          </a:prstGeom>
          <a:solidFill>
            <a:srgbClr val="12A566"/>
          </a:solidFill>
          <a:ln/>
        </p:spPr>
      </p:sp>
      <p:sp>
        <p:nvSpPr>
          <p:cNvPr id="34" name="Text 32"/>
          <p:cNvSpPr txBox="1"/>
          <p:nvPr/>
        </p:nvSpPr>
        <p:spPr>
          <a:xfrm>
            <a:off x="4709160" y="345858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+$12.04</a:t>
            </a:r>
            <a:endParaRPr lang="en-US" sz="1300" dirty="0"/>
          </a:p>
        </p:txBody>
      </p:sp>
      <p:sp>
        <p:nvSpPr>
          <p:cNvPr id="35" name="Text 33"/>
          <p:cNvSpPr txBox="1"/>
          <p:nvPr/>
        </p:nvSpPr>
        <p:spPr>
          <a:xfrm>
            <a:off x="658368"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36" name="Shape 34"/>
          <p:cNvSpPr/>
          <p:nvPr/>
        </p:nvSpPr>
        <p:spPr>
          <a:xfrm>
            <a:off x="3813048" y="3750955"/>
            <a:ext cx="151580" cy="105898"/>
          </a:xfrm>
          <a:prstGeom prst="rect">
            <a:avLst/>
          </a:prstGeom>
          <a:solidFill>
            <a:srgbClr val="12A566"/>
          </a:solidFill>
          <a:ln/>
        </p:spPr>
      </p:sp>
      <p:sp>
        <p:nvSpPr>
          <p:cNvPr id="37" name="Text 35"/>
          <p:cNvSpPr txBox="1"/>
          <p:nvPr/>
        </p:nvSpPr>
        <p:spPr>
          <a:xfrm>
            <a:off x="4709160" y="3688797"/>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+$11.13</a:t>
            </a:r>
            <a:endParaRPr lang="en-US" sz="1300" dirty="0"/>
          </a:p>
        </p:txBody>
      </p:sp>
      <p:sp>
        <p:nvSpPr>
          <p:cNvPr id="38" name="Text 36"/>
          <p:cNvSpPr txBox="1"/>
          <p:nvPr/>
        </p:nvSpPr>
        <p:spPr>
          <a:xfrm>
            <a:off x="658368"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39" name="Shape 37"/>
          <p:cNvSpPr/>
          <p:nvPr/>
        </p:nvSpPr>
        <p:spPr>
          <a:xfrm>
            <a:off x="3813048" y="3981169"/>
            <a:ext cx="87096" cy="105898"/>
          </a:xfrm>
          <a:prstGeom prst="rect">
            <a:avLst/>
          </a:prstGeom>
          <a:solidFill>
            <a:srgbClr val="12A566"/>
          </a:solidFill>
          <a:ln/>
        </p:spPr>
      </p:sp>
      <p:sp>
        <p:nvSpPr>
          <p:cNvPr id="40" name="Text 38"/>
          <p:cNvSpPr txBox="1"/>
          <p:nvPr/>
        </p:nvSpPr>
        <p:spPr>
          <a:xfrm>
            <a:off x="4709160" y="3919011"/>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+$6.39</a:t>
            </a:r>
            <a:endParaRPr lang="en-US" sz="1300" dirty="0"/>
          </a:p>
        </p:txBody>
      </p:sp>
      <p:sp>
        <p:nvSpPr>
          <p:cNvPr id="41" name="Text 39"/>
          <p:cNvSpPr txBox="1"/>
          <p:nvPr/>
        </p:nvSpPr>
        <p:spPr>
          <a:xfrm>
            <a:off x="658368"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42" name="Shape 40"/>
          <p:cNvSpPr/>
          <p:nvPr/>
        </p:nvSpPr>
        <p:spPr>
          <a:xfrm>
            <a:off x="3813048" y="4211382"/>
            <a:ext cx="85514" cy="105898"/>
          </a:xfrm>
          <a:prstGeom prst="rect">
            <a:avLst/>
          </a:prstGeom>
          <a:solidFill>
            <a:srgbClr val="12A566"/>
          </a:solidFill>
          <a:ln/>
        </p:spPr>
      </p:sp>
      <p:sp>
        <p:nvSpPr>
          <p:cNvPr id="43" name="Text 41"/>
          <p:cNvSpPr txBox="1"/>
          <p:nvPr/>
        </p:nvSpPr>
        <p:spPr>
          <a:xfrm>
            <a:off x="4709160" y="414922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+$6.28</a:t>
            </a:r>
            <a:endParaRPr lang="en-US" sz="1300" dirty="0"/>
          </a:p>
        </p:txBody>
      </p:sp>
      <p:sp>
        <p:nvSpPr>
          <p:cNvPr id="44" name="Text 42"/>
          <p:cNvSpPr txBox="1"/>
          <p:nvPr/>
        </p:nvSpPr>
        <p:spPr>
          <a:xfrm>
            <a:off x="658368"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45" name="Shape 43"/>
          <p:cNvSpPr/>
          <p:nvPr/>
        </p:nvSpPr>
        <p:spPr>
          <a:xfrm>
            <a:off x="3813048" y="4441596"/>
            <a:ext cx="77928" cy="105898"/>
          </a:xfrm>
          <a:prstGeom prst="rect">
            <a:avLst/>
          </a:prstGeom>
          <a:solidFill>
            <a:srgbClr val="12A566"/>
          </a:solidFill>
          <a:ln/>
        </p:spPr>
      </p:sp>
      <p:sp>
        <p:nvSpPr>
          <p:cNvPr id="46" name="Text 44"/>
          <p:cNvSpPr txBox="1"/>
          <p:nvPr/>
        </p:nvSpPr>
        <p:spPr>
          <a:xfrm>
            <a:off x="4709160" y="437943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+$5.72</a:t>
            </a:r>
            <a:endParaRPr lang="en-US" sz="1300" dirty="0"/>
          </a:p>
        </p:txBody>
      </p:sp>
      <p:sp>
        <p:nvSpPr>
          <p:cNvPr id="47" name="Text 45"/>
          <p:cNvSpPr txBox="1"/>
          <p:nvPr/>
        </p:nvSpPr>
        <p:spPr>
          <a:xfrm>
            <a:off x="658368"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48" name="Shape 46"/>
          <p:cNvSpPr/>
          <p:nvPr/>
        </p:nvSpPr>
        <p:spPr>
          <a:xfrm>
            <a:off x="3813048" y="4671809"/>
            <a:ext cx="74479" cy="105898"/>
          </a:xfrm>
          <a:prstGeom prst="rect">
            <a:avLst/>
          </a:prstGeom>
          <a:solidFill>
            <a:srgbClr val="12A566"/>
          </a:solidFill>
          <a:ln/>
        </p:spPr>
      </p:sp>
      <p:sp>
        <p:nvSpPr>
          <p:cNvPr id="49" name="Text 47"/>
          <p:cNvSpPr txBox="1"/>
          <p:nvPr/>
        </p:nvSpPr>
        <p:spPr>
          <a:xfrm>
            <a:off x="4709160" y="460965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+$5.47</a:t>
            </a:r>
            <a:endParaRPr lang="en-US" sz="1300" dirty="0"/>
          </a:p>
        </p:txBody>
      </p:sp>
      <p:sp>
        <p:nvSpPr>
          <p:cNvPr id="50" name="Text 48"/>
          <p:cNvSpPr txBox="1"/>
          <p:nvPr/>
        </p:nvSpPr>
        <p:spPr>
          <a:xfrm>
            <a:off x="658368"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51" name="Shape 49"/>
          <p:cNvSpPr/>
          <p:nvPr/>
        </p:nvSpPr>
        <p:spPr>
          <a:xfrm>
            <a:off x="3813048" y="4902023"/>
            <a:ext cx="69998" cy="105898"/>
          </a:xfrm>
          <a:prstGeom prst="rect">
            <a:avLst/>
          </a:prstGeom>
          <a:solidFill>
            <a:srgbClr val="12A566"/>
          </a:solidFill>
          <a:ln/>
        </p:spPr>
      </p:sp>
      <p:sp>
        <p:nvSpPr>
          <p:cNvPr id="52" name="Text 50"/>
          <p:cNvSpPr txBox="1"/>
          <p:nvPr/>
        </p:nvSpPr>
        <p:spPr>
          <a:xfrm>
            <a:off x="4709160" y="483986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+$5.14</a:t>
            </a:r>
            <a:endParaRPr lang="en-US" sz="1300" dirty="0"/>
          </a:p>
        </p:txBody>
      </p:sp>
      <p:sp>
        <p:nvSpPr>
          <p:cNvPr id="53" name="Text 51"/>
          <p:cNvSpPr txBox="1"/>
          <p:nvPr/>
        </p:nvSpPr>
        <p:spPr>
          <a:xfrm>
            <a:off x="658368"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54" name="Shape 52"/>
          <p:cNvSpPr/>
          <p:nvPr/>
        </p:nvSpPr>
        <p:spPr>
          <a:xfrm>
            <a:off x="3813048" y="5132237"/>
            <a:ext cx="61429" cy="105898"/>
          </a:xfrm>
          <a:prstGeom prst="rect">
            <a:avLst/>
          </a:prstGeom>
          <a:solidFill>
            <a:srgbClr val="12A566"/>
          </a:solidFill>
          <a:ln/>
        </p:spPr>
      </p:sp>
      <p:sp>
        <p:nvSpPr>
          <p:cNvPr id="55" name="Text 53"/>
          <p:cNvSpPr txBox="1"/>
          <p:nvPr/>
        </p:nvSpPr>
        <p:spPr>
          <a:xfrm>
            <a:off x="4709160" y="507007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+$4.51</a:t>
            </a:r>
            <a:endParaRPr lang="en-US" sz="1300" dirty="0"/>
          </a:p>
        </p:txBody>
      </p:sp>
      <p:sp>
        <p:nvSpPr>
          <p:cNvPr id="56" name="Text 54"/>
          <p:cNvSpPr txBox="1"/>
          <p:nvPr/>
        </p:nvSpPr>
        <p:spPr>
          <a:xfrm>
            <a:off x="658368"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57" name="Shape 55"/>
          <p:cNvSpPr/>
          <p:nvPr/>
        </p:nvSpPr>
        <p:spPr>
          <a:xfrm>
            <a:off x="3813048" y="5362450"/>
            <a:ext cx="52033" cy="105898"/>
          </a:xfrm>
          <a:prstGeom prst="rect">
            <a:avLst/>
          </a:prstGeom>
          <a:solidFill>
            <a:srgbClr val="12A566"/>
          </a:solidFill>
          <a:ln/>
        </p:spPr>
      </p:sp>
      <p:sp>
        <p:nvSpPr>
          <p:cNvPr id="58" name="Text 56"/>
          <p:cNvSpPr txBox="1"/>
          <p:nvPr/>
        </p:nvSpPr>
        <p:spPr>
          <a:xfrm>
            <a:off x="4709160" y="530029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+$3.82</a:t>
            </a:r>
            <a:endParaRPr lang="en-US" sz="1300" dirty="0"/>
          </a:p>
        </p:txBody>
      </p:sp>
      <p:sp>
        <p:nvSpPr>
          <p:cNvPr id="59" name="Text 57"/>
          <p:cNvSpPr txBox="1"/>
          <p:nvPr/>
        </p:nvSpPr>
        <p:spPr>
          <a:xfrm>
            <a:off x="658368" y="553050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60" name="Shape 58"/>
          <p:cNvSpPr/>
          <p:nvPr/>
        </p:nvSpPr>
        <p:spPr>
          <a:xfrm>
            <a:off x="3813048" y="5592664"/>
            <a:ext cx="51063" cy="105898"/>
          </a:xfrm>
          <a:prstGeom prst="rect">
            <a:avLst/>
          </a:prstGeom>
          <a:solidFill>
            <a:srgbClr val="12A566"/>
          </a:solidFill>
          <a:ln/>
        </p:spPr>
      </p:sp>
      <p:sp>
        <p:nvSpPr>
          <p:cNvPr id="61" name="Text 59"/>
          <p:cNvSpPr txBox="1"/>
          <p:nvPr/>
        </p:nvSpPr>
        <p:spPr>
          <a:xfrm>
            <a:off x="4709160" y="553050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+$3.75</a:t>
            </a:r>
            <a:endParaRPr lang="en-US" sz="1300" dirty="0"/>
          </a:p>
        </p:txBody>
      </p:sp>
      <p:sp>
        <p:nvSpPr>
          <p:cNvPr id="62" name="Text 60"/>
          <p:cNvSpPr txBox="1"/>
          <p:nvPr/>
        </p:nvSpPr>
        <p:spPr>
          <a:xfrm>
            <a:off x="6208776"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63" name="Shape 61"/>
          <p:cNvSpPr/>
          <p:nvPr/>
        </p:nvSpPr>
        <p:spPr>
          <a:xfrm>
            <a:off x="9363456" y="1909246"/>
            <a:ext cx="48720" cy="105898"/>
          </a:xfrm>
          <a:prstGeom prst="rect">
            <a:avLst/>
          </a:prstGeom>
          <a:solidFill>
            <a:srgbClr val="12A566"/>
          </a:solidFill>
          <a:ln/>
        </p:spPr>
      </p:sp>
      <p:sp>
        <p:nvSpPr>
          <p:cNvPr id="64" name="Text 62"/>
          <p:cNvSpPr txBox="1"/>
          <p:nvPr/>
        </p:nvSpPr>
        <p:spPr>
          <a:xfrm>
            <a:off x="10259568"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+$3.58</a:t>
            </a:r>
            <a:endParaRPr lang="en-US" sz="1300" dirty="0"/>
          </a:p>
        </p:txBody>
      </p:sp>
      <p:sp>
        <p:nvSpPr>
          <p:cNvPr id="65" name="Text 63"/>
          <p:cNvSpPr txBox="1"/>
          <p:nvPr/>
        </p:nvSpPr>
        <p:spPr>
          <a:xfrm>
            <a:off x="6208776"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66" name="Shape 64"/>
          <p:cNvSpPr/>
          <p:nvPr/>
        </p:nvSpPr>
        <p:spPr>
          <a:xfrm>
            <a:off x="9363456" y="2139459"/>
            <a:ext cx="26435" cy="105898"/>
          </a:xfrm>
          <a:prstGeom prst="rect">
            <a:avLst/>
          </a:prstGeom>
          <a:solidFill>
            <a:srgbClr val="12A566"/>
          </a:solidFill>
          <a:ln/>
        </p:spPr>
      </p:sp>
      <p:sp>
        <p:nvSpPr>
          <p:cNvPr id="67" name="Text 65"/>
          <p:cNvSpPr txBox="1"/>
          <p:nvPr/>
        </p:nvSpPr>
        <p:spPr>
          <a:xfrm>
            <a:off x="10259568"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+$1.94</a:t>
            </a:r>
            <a:endParaRPr lang="en-US" sz="1300" dirty="0"/>
          </a:p>
        </p:txBody>
      </p:sp>
      <p:sp>
        <p:nvSpPr>
          <p:cNvPr id="68" name="Text 66"/>
          <p:cNvSpPr txBox="1"/>
          <p:nvPr/>
        </p:nvSpPr>
        <p:spPr>
          <a:xfrm>
            <a:off x="6208776"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69" name="Shape 67"/>
          <p:cNvSpPr/>
          <p:nvPr/>
        </p:nvSpPr>
        <p:spPr>
          <a:xfrm>
            <a:off x="9363456" y="2369673"/>
            <a:ext cx="12802" cy="105898"/>
          </a:xfrm>
          <a:prstGeom prst="rect">
            <a:avLst/>
          </a:prstGeom>
          <a:solidFill>
            <a:srgbClr val="12A566"/>
          </a:solidFill>
          <a:ln/>
        </p:spPr>
      </p:sp>
      <p:sp>
        <p:nvSpPr>
          <p:cNvPr id="70" name="Text 68"/>
          <p:cNvSpPr txBox="1"/>
          <p:nvPr/>
        </p:nvSpPr>
        <p:spPr>
          <a:xfrm>
            <a:off x="10259568"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+$0.34</a:t>
            </a:r>
            <a:endParaRPr lang="en-US" sz="1300" dirty="0"/>
          </a:p>
        </p:txBody>
      </p:sp>
      <p:sp>
        <p:nvSpPr>
          <p:cNvPr id="71" name="Text 69"/>
          <p:cNvSpPr txBox="1"/>
          <p:nvPr/>
        </p:nvSpPr>
        <p:spPr>
          <a:xfrm>
            <a:off x="6208776"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72" name="Shape 70"/>
          <p:cNvSpPr/>
          <p:nvPr/>
        </p:nvSpPr>
        <p:spPr>
          <a:xfrm>
            <a:off x="9350745" y="2599887"/>
            <a:ext cx="12802" cy="105898"/>
          </a:xfrm>
          <a:prstGeom prst="rect">
            <a:avLst/>
          </a:prstGeom>
          <a:solidFill>
            <a:srgbClr val="C2352F"/>
          </a:solidFill>
          <a:ln/>
        </p:spPr>
      </p:sp>
      <p:sp>
        <p:nvSpPr>
          <p:cNvPr id="73" name="Text 71"/>
          <p:cNvSpPr txBox="1"/>
          <p:nvPr/>
        </p:nvSpPr>
        <p:spPr>
          <a:xfrm>
            <a:off x="10259568" y="2537729"/>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−$0.93</a:t>
            </a:r>
            <a:endParaRPr lang="en-US" sz="1300" dirty="0"/>
          </a:p>
        </p:txBody>
      </p:sp>
      <p:sp>
        <p:nvSpPr>
          <p:cNvPr id="74" name="Text 72"/>
          <p:cNvSpPr txBox="1"/>
          <p:nvPr/>
        </p:nvSpPr>
        <p:spPr>
          <a:xfrm>
            <a:off x="6208776"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75" name="Shape 73"/>
          <p:cNvSpPr/>
          <p:nvPr/>
        </p:nvSpPr>
        <p:spPr>
          <a:xfrm>
            <a:off x="9343681" y="2830100"/>
            <a:ext cx="19775" cy="105898"/>
          </a:xfrm>
          <a:prstGeom prst="rect">
            <a:avLst/>
          </a:prstGeom>
          <a:solidFill>
            <a:srgbClr val="C2352F"/>
          </a:solidFill>
          <a:ln/>
        </p:spPr>
      </p:sp>
      <p:sp>
        <p:nvSpPr>
          <p:cNvPr id="76" name="Text 74"/>
          <p:cNvSpPr txBox="1"/>
          <p:nvPr/>
        </p:nvSpPr>
        <p:spPr>
          <a:xfrm>
            <a:off x="10259568" y="276794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−$1.45</a:t>
            </a:r>
            <a:endParaRPr lang="en-US" sz="1300" dirty="0"/>
          </a:p>
        </p:txBody>
      </p:sp>
      <p:sp>
        <p:nvSpPr>
          <p:cNvPr id="77" name="Text 75"/>
          <p:cNvSpPr txBox="1"/>
          <p:nvPr/>
        </p:nvSpPr>
        <p:spPr>
          <a:xfrm>
            <a:off x="6208776"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78" name="Shape 76"/>
          <p:cNvSpPr/>
          <p:nvPr/>
        </p:nvSpPr>
        <p:spPr>
          <a:xfrm>
            <a:off x="9339623" y="3060314"/>
            <a:ext cx="23833" cy="105898"/>
          </a:xfrm>
          <a:prstGeom prst="rect">
            <a:avLst/>
          </a:prstGeom>
          <a:solidFill>
            <a:srgbClr val="C2352F"/>
          </a:solidFill>
          <a:ln/>
        </p:spPr>
      </p:sp>
      <p:sp>
        <p:nvSpPr>
          <p:cNvPr id="79" name="Text 77"/>
          <p:cNvSpPr txBox="1"/>
          <p:nvPr/>
        </p:nvSpPr>
        <p:spPr>
          <a:xfrm>
            <a:off x="10259568" y="2998156"/>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−$1.75</a:t>
            </a:r>
            <a:endParaRPr lang="en-US" sz="1300" dirty="0"/>
          </a:p>
        </p:txBody>
      </p:sp>
      <p:sp>
        <p:nvSpPr>
          <p:cNvPr id="80" name="Text 78"/>
          <p:cNvSpPr txBox="1"/>
          <p:nvPr/>
        </p:nvSpPr>
        <p:spPr>
          <a:xfrm>
            <a:off x="6208776"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81" name="Shape 79"/>
          <p:cNvSpPr/>
          <p:nvPr/>
        </p:nvSpPr>
        <p:spPr>
          <a:xfrm>
            <a:off x="9302279" y="3290528"/>
            <a:ext cx="61177" cy="105898"/>
          </a:xfrm>
          <a:prstGeom prst="rect">
            <a:avLst/>
          </a:prstGeom>
          <a:solidFill>
            <a:srgbClr val="C2352F"/>
          </a:solidFill>
          <a:ln/>
        </p:spPr>
      </p:sp>
      <p:sp>
        <p:nvSpPr>
          <p:cNvPr id="82" name="Text 80"/>
          <p:cNvSpPr txBox="1"/>
          <p:nvPr/>
        </p:nvSpPr>
        <p:spPr>
          <a:xfrm>
            <a:off x="10259568" y="3228370"/>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−$4.49</a:t>
            </a:r>
            <a:endParaRPr lang="en-US" sz="1300" dirty="0"/>
          </a:p>
        </p:txBody>
      </p:sp>
      <p:sp>
        <p:nvSpPr>
          <p:cNvPr id="83" name="Text 81"/>
          <p:cNvSpPr txBox="1"/>
          <p:nvPr/>
        </p:nvSpPr>
        <p:spPr>
          <a:xfrm>
            <a:off x="6208776"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84" name="Shape 82"/>
          <p:cNvSpPr/>
          <p:nvPr/>
        </p:nvSpPr>
        <p:spPr>
          <a:xfrm>
            <a:off x="9296885" y="3520741"/>
            <a:ext cx="66571" cy="105898"/>
          </a:xfrm>
          <a:prstGeom prst="rect">
            <a:avLst/>
          </a:prstGeom>
          <a:solidFill>
            <a:srgbClr val="C2352F"/>
          </a:solidFill>
          <a:ln/>
        </p:spPr>
      </p:sp>
      <p:sp>
        <p:nvSpPr>
          <p:cNvPr id="85" name="Text 83"/>
          <p:cNvSpPr txBox="1"/>
          <p:nvPr/>
        </p:nvSpPr>
        <p:spPr>
          <a:xfrm>
            <a:off x="10259568" y="345858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−$4.89</a:t>
            </a:r>
            <a:endParaRPr lang="en-US" sz="1300" dirty="0"/>
          </a:p>
        </p:txBody>
      </p:sp>
      <p:sp>
        <p:nvSpPr>
          <p:cNvPr id="86" name="Text 84"/>
          <p:cNvSpPr txBox="1"/>
          <p:nvPr/>
        </p:nvSpPr>
        <p:spPr>
          <a:xfrm>
            <a:off x="6208776"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87" name="Shape 85"/>
          <p:cNvSpPr/>
          <p:nvPr/>
        </p:nvSpPr>
        <p:spPr>
          <a:xfrm>
            <a:off x="9280675" y="3750955"/>
            <a:ext cx="82781" cy="105898"/>
          </a:xfrm>
          <a:prstGeom prst="rect">
            <a:avLst/>
          </a:prstGeom>
          <a:solidFill>
            <a:srgbClr val="C2352F"/>
          </a:solidFill>
          <a:ln/>
        </p:spPr>
      </p:sp>
      <p:sp>
        <p:nvSpPr>
          <p:cNvPr id="88" name="Text 86"/>
          <p:cNvSpPr txBox="1"/>
          <p:nvPr/>
        </p:nvSpPr>
        <p:spPr>
          <a:xfrm>
            <a:off x="10259568" y="3688797"/>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−$6.08</a:t>
            </a:r>
            <a:endParaRPr lang="en-US" sz="1300" dirty="0"/>
          </a:p>
        </p:txBody>
      </p:sp>
      <p:sp>
        <p:nvSpPr>
          <p:cNvPr id="89" name="Text 87"/>
          <p:cNvSpPr txBox="1"/>
          <p:nvPr/>
        </p:nvSpPr>
        <p:spPr>
          <a:xfrm>
            <a:off x="6208776"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90" name="Shape 88"/>
          <p:cNvSpPr/>
          <p:nvPr/>
        </p:nvSpPr>
        <p:spPr>
          <a:xfrm>
            <a:off x="9276308" y="3981169"/>
            <a:ext cx="87148" cy="105898"/>
          </a:xfrm>
          <a:prstGeom prst="rect">
            <a:avLst/>
          </a:prstGeom>
          <a:solidFill>
            <a:srgbClr val="C2352F"/>
          </a:solidFill>
          <a:ln/>
        </p:spPr>
      </p:sp>
      <p:sp>
        <p:nvSpPr>
          <p:cNvPr id="91" name="Text 89"/>
          <p:cNvSpPr txBox="1"/>
          <p:nvPr/>
        </p:nvSpPr>
        <p:spPr>
          <a:xfrm>
            <a:off x="10259568" y="3919011"/>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−$6.40</a:t>
            </a:r>
            <a:endParaRPr lang="en-US" sz="1300" dirty="0"/>
          </a:p>
        </p:txBody>
      </p:sp>
      <p:sp>
        <p:nvSpPr>
          <p:cNvPr id="92" name="Text 90"/>
          <p:cNvSpPr txBox="1"/>
          <p:nvPr/>
        </p:nvSpPr>
        <p:spPr>
          <a:xfrm>
            <a:off x="6208776"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93" name="Shape 91"/>
          <p:cNvSpPr/>
          <p:nvPr/>
        </p:nvSpPr>
        <p:spPr>
          <a:xfrm>
            <a:off x="9223553" y="4211382"/>
            <a:ext cx="139903" cy="105898"/>
          </a:xfrm>
          <a:prstGeom prst="rect">
            <a:avLst/>
          </a:prstGeom>
          <a:solidFill>
            <a:srgbClr val="C2352F"/>
          </a:solidFill>
          <a:ln/>
        </p:spPr>
      </p:sp>
      <p:sp>
        <p:nvSpPr>
          <p:cNvPr id="94" name="Text 92"/>
          <p:cNvSpPr txBox="1"/>
          <p:nvPr/>
        </p:nvSpPr>
        <p:spPr>
          <a:xfrm>
            <a:off x="10259568" y="414922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−$10.27</a:t>
            </a:r>
            <a:endParaRPr lang="en-US" sz="1300" dirty="0"/>
          </a:p>
        </p:txBody>
      </p:sp>
      <p:sp>
        <p:nvSpPr>
          <p:cNvPr id="95" name="Text 93"/>
          <p:cNvSpPr txBox="1"/>
          <p:nvPr/>
        </p:nvSpPr>
        <p:spPr>
          <a:xfrm>
            <a:off x="6208776"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96" name="Shape 94"/>
          <p:cNvSpPr/>
          <p:nvPr/>
        </p:nvSpPr>
        <p:spPr>
          <a:xfrm>
            <a:off x="9121816" y="4441596"/>
            <a:ext cx="241640" cy="105898"/>
          </a:xfrm>
          <a:prstGeom prst="rect">
            <a:avLst/>
          </a:prstGeom>
          <a:solidFill>
            <a:srgbClr val="C2352F"/>
          </a:solidFill>
          <a:ln/>
        </p:spPr>
      </p:sp>
      <p:sp>
        <p:nvSpPr>
          <p:cNvPr id="97" name="Text 95"/>
          <p:cNvSpPr txBox="1"/>
          <p:nvPr/>
        </p:nvSpPr>
        <p:spPr>
          <a:xfrm>
            <a:off x="10259568" y="4379438"/>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−$17.74</a:t>
            </a:r>
            <a:endParaRPr lang="en-US" sz="1300" dirty="0"/>
          </a:p>
        </p:txBody>
      </p:sp>
      <p:sp>
        <p:nvSpPr>
          <p:cNvPr id="98" name="Text 96"/>
          <p:cNvSpPr txBox="1"/>
          <p:nvPr/>
        </p:nvSpPr>
        <p:spPr>
          <a:xfrm>
            <a:off x="6208776"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99" name="Shape 97"/>
          <p:cNvSpPr/>
          <p:nvPr/>
        </p:nvSpPr>
        <p:spPr>
          <a:xfrm>
            <a:off x="9080799" y="4671809"/>
            <a:ext cx="282657" cy="105898"/>
          </a:xfrm>
          <a:prstGeom prst="rect">
            <a:avLst/>
          </a:prstGeom>
          <a:solidFill>
            <a:srgbClr val="C2352F"/>
          </a:solidFill>
          <a:ln/>
        </p:spPr>
      </p:sp>
      <p:sp>
        <p:nvSpPr>
          <p:cNvPr id="100" name="Text 98"/>
          <p:cNvSpPr txBox="1"/>
          <p:nvPr/>
        </p:nvSpPr>
        <p:spPr>
          <a:xfrm>
            <a:off x="10259568" y="4609652"/>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−$20.75</a:t>
            </a:r>
            <a:endParaRPr lang="en-US" sz="1300" dirty="0"/>
          </a:p>
        </p:txBody>
      </p:sp>
      <p:sp>
        <p:nvSpPr>
          <p:cNvPr id="101" name="Text 99"/>
          <p:cNvSpPr txBox="1"/>
          <p:nvPr/>
        </p:nvSpPr>
        <p:spPr>
          <a:xfrm>
            <a:off x="6208776"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102" name="Shape 100"/>
          <p:cNvSpPr/>
          <p:nvPr/>
        </p:nvSpPr>
        <p:spPr>
          <a:xfrm>
            <a:off x="8919452" y="4902023"/>
            <a:ext cx="444004" cy="105898"/>
          </a:xfrm>
          <a:prstGeom prst="rect">
            <a:avLst/>
          </a:prstGeom>
          <a:solidFill>
            <a:srgbClr val="C2352F"/>
          </a:solidFill>
          <a:ln/>
        </p:spPr>
      </p:sp>
      <p:sp>
        <p:nvSpPr>
          <p:cNvPr id="103" name="Text 101"/>
          <p:cNvSpPr txBox="1"/>
          <p:nvPr/>
        </p:nvSpPr>
        <p:spPr>
          <a:xfrm>
            <a:off x="10259568" y="4839865"/>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−$32.60</a:t>
            </a:r>
            <a:endParaRPr lang="en-US" sz="1300" dirty="0"/>
          </a:p>
        </p:txBody>
      </p:sp>
      <p:sp>
        <p:nvSpPr>
          <p:cNvPr id="104" name="Text 102"/>
          <p:cNvSpPr txBox="1"/>
          <p:nvPr/>
        </p:nvSpPr>
        <p:spPr>
          <a:xfrm>
            <a:off x="6208776"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105" name="Shape 103"/>
          <p:cNvSpPr/>
          <p:nvPr/>
        </p:nvSpPr>
        <p:spPr>
          <a:xfrm>
            <a:off x="8806319" y="5132237"/>
            <a:ext cx="557137" cy="105898"/>
          </a:xfrm>
          <a:prstGeom prst="rect">
            <a:avLst/>
          </a:prstGeom>
          <a:solidFill>
            <a:srgbClr val="C2352F"/>
          </a:solidFill>
          <a:ln/>
        </p:spPr>
      </p:sp>
      <p:sp>
        <p:nvSpPr>
          <p:cNvPr id="106" name="Text 104"/>
          <p:cNvSpPr txBox="1"/>
          <p:nvPr/>
        </p:nvSpPr>
        <p:spPr>
          <a:xfrm>
            <a:off x="10259568" y="5070079"/>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−$40.91</a:t>
            </a:r>
            <a:endParaRPr lang="en-US" sz="1300" dirty="0"/>
          </a:p>
        </p:txBody>
      </p:sp>
      <p:sp>
        <p:nvSpPr>
          <p:cNvPr id="107" name="Text 105"/>
          <p:cNvSpPr txBox="1"/>
          <p:nvPr/>
        </p:nvSpPr>
        <p:spPr>
          <a:xfrm>
            <a:off x="6208776"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108" name="Shape 106"/>
          <p:cNvSpPr/>
          <p:nvPr/>
        </p:nvSpPr>
        <p:spPr>
          <a:xfrm>
            <a:off x="8540496" y="5362450"/>
            <a:ext cx="822960" cy="105898"/>
          </a:xfrm>
          <a:prstGeom prst="rect">
            <a:avLst/>
          </a:prstGeom>
          <a:solidFill>
            <a:srgbClr val="C2352F"/>
          </a:solidFill>
          <a:ln/>
        </p:spPr>
      </p:sp>
      <p:sp>
        <p:nvSpPr>
          <p:cNvPr id="109" name="Text 107"/>
          <p:cNvSpPr txBox="1"/>
          <p:nvPr/>
        </p:nvSpPr>
        <p:spPr>
          <a:xfrm>
            <a:off x="10259568" y="530029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−$60.43</a:t>
            </a:r>
            <a:endParaRPr lang="en-US" sz="1300" dirty="0"/>
          </a:p>
        </p:txBody>
      </p:sp>
      <p:sp>
        <p:nvSpPr>
          <p:cNvPr id="110" name="Shape 108"/>
          <p:cNvSpPr/>
          <p:nvPr/>
        </p:nvSpPr>
        <p:spPr>
          <a:xfrm>
            <a:off x="3807562" y="1847088"/>
            <a:ext cx="10973" cy="3913632"/>
          </a:xfrm>
          <a:prstGeom prst="rect">
            <a:avLst/>
          </a:prstGeom>
          <a:solidFill>
            <a:srgbClr val="9AA3AD"/>
          </a:solidFill>
          <a:ln/>
        </p:spPr>
      </p:sp>
      <p:sp>
        <p:nvSpPr>
          <p:cNvPr id="111" name="Shape 109"/>
          <p:cNvSpPr/>
          <p:nvPr/>
        </p:nvSpPr>
        <p:spPr>
          <a:xfrm>
            <a:off x="9357970" y="1847088"/>
            <a:ext cx="10973" cy="3913632"/>
          </a:xfrm>
          <a:prstGeom prst="rect">
            <a:avLst/>
          </a:prstGeom>
          <a:solidFill>
            <a:srgbClr val="9AA3AD"/>
          </a:solidFill>
          <a:ln/>
        </p:spPr>
      </p:sp>
      <p:sp>
        <p:nvSpPr>
          <p:cNvPr id="112" name="Shape 110"/>
          <p:cNvSpPr/>
          <p:nvPr/>
        </p:nvSpPr>
        <p:spPr>
          <a:xfrm>
            <a:off x="457200" y="5961888"/>
            <a:ext cx="11274552" cy="548640"/>
          </a:xfrm>
          <a:prstGeom prst="rect">
            <a:avLst/>
          </a:prstGeom>
          <a:solidFill>
            <a:srgbClr val="E6F6EE"/>
          </a:solidFill>
          <a:ln/>
        </p:spPr>
      </p:sp>
      <p:sp>
        <p:nvSpPr>
          <p:cNvPr id="113" name="Text 111"/>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20 of 33 stores raised internal ELR, led by HYUNDAI ST GEORGE at +$46.71 to $205.15. 13 declined; KIA LV fell most at −$60.43.</a:t>
            </a:r>
            <a:endParaRPr lang="en-US" sz="1600" dirty="0"/>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13232" y="2377440"/>
            <a:ext cx="9144000" cy="365760"/>
          </a:xfrm>
          <a:prstGeom prst="rect">
            <a:avLst/>
          </a:prstGeom>
          <a:noFill/>
          <a:ln/>
        </p:spPr>
        <p:txBody>
          <a:bodyPr wrap="square" lIns="0" tIns="0" rIns="0" bIns="0" rtlCol="0" anchor="ctr"/>
          <a:lstStyle/>
          <a:p>
            <a:pPr indent="0" marL="0">
              <a:buNone/>
            </a:pPr>
            <a:r>
              <a:rPr lang="en-US" sz="2000" b="1" spc="260" kern="0" dirty="0">
                <a:solidFill>
                  <a:srgbClr val="2587C5"/>
                </a:solidFill>
                <a:latin typeface="Inter" pitchFamily="34" charset="0"/>
                <a:ea typeface="Inter" pitchFamily="34" charset="-122"/>
                <a:cs typeface="Inter" pitchFamily="34" charset="-120"/>
              </a:rPr>
              <a:t>FIXED OPS</a:t>
            </a:r>
            <a:endParaRPr lang="en-US" sz="2000" dirty="0"/>
          </a:p>
        </p:txBody>
      </p:sp>
      <p:sp>
        <p:nvSpPr>
          <p:cNvPr id="3" name="Text 1"/>
          <p:cNvSpPr txBox="1"/>
          <p:nvPr/>
        </p:nvSpPr>
        <p:spPr>
          <a:xfrm>
            <a:off x="667512" y="2743200"/>
            <a:ext cx="10789920" cy="1234440"/>
          </a:xfrm>
          <a:prstGeom prst="rect">
            <a:avLst/>
          </a:prstGeom>
          <a:noFill/>
          <a:ln/>
        </p:spPr>
        <p:txBody>
          <a:bodyPr wrap="none" lIns="0" tIns="0" rIns="0" bIns="0" rtlCol="0" anchor="ctr"/>
          <a:lstStyle/>
          <a:p>
            <a:pPr indent="0" marL="0">
              <a:buNone/>
            </a:pPr>
            <a:r>
              <a:rPr lang="en-US" sz="8200" b="1" dirty="0">
                <a:solidFill>
                  <a:srgbClr val="1A1A1A"/>
                </a:solidFill>
                <a:latin typeface="Inter" pitchFamily="34" charset="0"/>
                <a:ea typeface="Inter" pitchFamily="34" charset="-122"/>
                <a:cs typeface="Inter" pitchFamily="34" charset="-120"/>
              </a:rPr>
              <a:t>Productivity</a:t>
            </a:r>
            <a:endParaRPr lang="en-US" sz="8200" dirty="0"/>
          </a:p>
        </p:txBody>
      </p:sp>
      <p:sp>
        <p:nvSpPr>
          <p:cNvPr id="4" name="Text 2"/>
          <p:cNvSpPr txBox="1"/>
          <p:nvPr/>
        </p:nvSpPr>
        <p:spPr>
          <a:xfrm>
            <a:off x="694944" y="4041648"/>
            <a:ext cx="10789920" cy="411480"/>
          </a:xfrm>
          <a:prstGeom prst="rect">
            <a:avLst/>
          </a:prstGeom>
          <a:noFill/>
          <a:ln/>
        </p:spPr>
        <p:txBody>
          <a:bodyPr wrap="square" lIns="0" tIns="0" rIns="0" bIns="0" rtlCol="0" anchor="ctr"/>
          <a:lstStyle/>
          <a:p>
            <a:pPr indent="0" marL="0">
              <a:buNone/>
            </a:pPr>
            <a:r>
              <a:rPr lang="en-US" sz="2200" dirty="0">
                <a:solidFill>
                  <a:srgbClr val="595959"/>
                </a:solidFill>
                <a:latin typeface="Inter" pitchFamily="34" charset="0"/>
                <a:ea typeface="Inter" pitchFamily="34" charset="-122"/>
                <a:cs typeface="Inter" pitchFamily="34" charset="-120"/>
              </a:rPr>
              <a:t>Gross per employee   ·   ROs per person   ·   Headcount</a:t>
            </a:r>
            <a:endParaRPr lang="en-US" sz="2200" dirty="0"/>
          </a:p>
        </p:txBody>
      </p:sp>
      <p:sp>
        <p:nvSpPr>
          <p:cNvPr id="5" name="Shape 3"/>
          <p:cNvSpPr/>
          <p:nvPr/>
        </p:nvSpPr>
        <p:spPr>
          <a:xfrm>
            <a:off x="685800" y="5257800"/>
            <a:ext cx="1340249" cy="45720"/>
          </a:xfrm>
          <a:prstGeom prst="rect">
            <a:avLst/>
          </a:prstGeom>
          <a:solidFill>
            <a:srgbClr val="5B9BD5"/>
          </a:solidFill>
          <a:ln/>
        </p:spPr>
      </p:sp>
      <p:sp>
        <p:nvSpPr>
          <p:cNvPr id="6" name="Text 4"/>
          <p:cNvSpPr txBox="1"/>
          <p:nvPr/>
        </p:nvSpPr>
        <p:spPr>
          <a:xfrm>
            <a:off x="685800"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Gross</a:t>
            </a:r>
            <a:endParaRPr lang="en-US" sz="1550" dirty="0"/>
          </a:p>
        </p:txBody>
      </p:sp>
      <p:sp>
        <p:nvSpPr>
          <p:cNvPr id="7" name="Shape 5"/>
          <p:cNvSpPr/>
          <p:nvPr/>
        </p:nvSpPr>
        <p:spPr>
          <a:xfrm>
            <a:off x="2227217" y="5257800"/>
            <a:ext cx="1340249" cy="45720"/>
          </a:xfrm>
          <a:prstGeom prst="rect">
            <a:avLst/>
          </a:prstGeom>
          <a:solidFill>
            <a:srgbClr val="5B9BD5"/>
          </a:solidFill>
          <a:ln/>
        </p:spPr>
      </p:sp>
      <p:sp>
        <p:nvSpPr>
          <p:cNvPr id="8" name="Text 6"/>
          <p:cNvSpPr txBox="1"/>
          <p:nvPr/>
        </p:nvSpPr>
        <p:spPr>
          <a:xfrm>
            <a:off x="2227217"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Profitability</a:t>
            </a:r>
            <a:endParaRPr lang="en-US" sz="1550" dirty="0"/>
          </a:p>
        </p:txBody>
      </p:sp>
      <p:sp>
        <p:nvSpPr>
          <p:cNvPr id="9" name="Shape 7"/>
          <p:cNvSpPr/>
          <p:nvPr/>
        </p:nvSpPr>
        <p:spPr>
          <a:xfrm>
            <a:off x="3768634" y="5257800"/>
            <a:ext cx="1340249" cy="45720"/>
          </a:xfrm>
          <a:prstGeom prst="rect">
            <a:avLst/>
          </a:prstGeom>
          <a:solidFill>
            <a:srgbClr val="5B9BD5"/>
          </a:solidFill>
          <a:ln/>
        </p:spPr>
      </p:sp>
      <p:sp>
        <p:nvSpPr>
          <p:cNvPr id="10" name="Text 8"/>
          <p:cNvSpPr txBox="1"/>
          <p:nvPr/>
        </p:nvSpPr>
        <p:spPr>
          <a:xfrm>
            <a:off x="3768634"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CP Engine</a:t>
            </a:r>
            <a:endParaRPr lang="en-US" sz="1550" dirty="0"/>
          </a:p>
        </p:txBody>
      </p:sp>
      <p:sp>
        <p:nvSpPr>
          <p:cNvPr id="11" name="Shape 9"/>
          <p:cNvSpPr/>
          <p:nvPr/>
        </p:nvSpPr>
        <p:spPr>
          <a:xfrm>
            <a:off x="5310051" y="5257800"/>
            <a:ext cx="1340249" cy="45720"/>
          </a:xfrm>
          <a:prstGeom prst="rect">
            <a:avLst/>
          </a:prstGeom>
          <a:solidFill>
            <a:srgbClr val="5B9BD5"/>
          </a:solidFill>
          <a:ln/>
        </p:spPr>
      </p:sp>
      <p:sp>
        <p:nvSpPr>
          <p:cNvPr id="12" name="Text 10"/>
          <p:cNvSpPr txBox="1"/>
          <p:nvPr/>
        </p:nvSpPr>
        <p:spPr>
          <a:xfrm>
            <a:off x="5310051"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Labor Mix</a:t>
            </a:r>
            <a:endParaRPr lang="en-US" sz="1550" dirty="0"/>
          </a:p>
        </p:txBody>
      </p:sp>
      <p:sp>
        <p:nvSpPr>
          <p:cNvPr id="13" name="Shape 11"/>
          <p:cNvSpPr/>
          <p:nvPr/>
        </p:nvSpPr>
        <p:spPr>
          <a:xfrm>
            <a:off x="6851469" y="5257800"/>
            <a:ext cx="1340249" cy="45720"/>
          </a:xfrm>
          <a:prstGeom prst="rect">
            <a:avLst/>
          </a:prstGeom>
          <a:solidFill>
            <a:srgbClr val="5B9BD5"/>
          </a:solidFill>
          <a:ln/>
        </p:spPr>
      </p:sp>
      <p:sp>
        <p:nvSpPr>
          <p:cNvPr id="14" name="Text 12"/>
          <p:cNvSpPr txBox="1"/>
          <p:nvPr/>
        </p:nvSpPr>
        <p:spPr>
          <a:xfrm>
            <a:off x="6851469"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Opcodes</a:t>
            </a:r>
            <a:endParaRPr lang="en-US" sz="1550" dirty="0"/>
          </a:p>
        </p:txBody>
      </p:sp>
      <p:sp>
        <p:nvSpPr>
          <p:cNvPr id="15" name="Shape 13"/>
          <p:cNvSpPr/>
          <p:nvPr/>
        </p:nvSpPr>
        <p:spPr>
          <a:xfrm>
            <a:off x="8392886" y="5257800"/>
            <a:ext cx="1340249" cy="45720"/>
          </a:xfrm>
          <a:prstGeom prst="rect">
            <a:avLst/>
          </a:prstGeom>
          <a:solidFill>
            <a:srgbClr val="5B9BD5"/>
          </a:solidFill>
          <a:ln/>
        </p:spPr>
      </p:sp>
      <p:sp>
        <p:nvSpPr>
          <p:cNvPr id="16" name="Text 14"/>
          <p:cNvSpPr txBox="1"/>
          <p:nvPr/>
        </p:nvSpPr>
        <p:spPr>
          <a:xfrm>
            <a:off x="8392886"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Warranty</a:t>
            </a:r>
            <a:endParaRPr lang="en-US" sz="1550" dirty="0"/>
          </a:p>
        </p:txBody>
      </p:sp>
      <p:sp>
        <p:nvSpPr>
          <p:cNvPr id="17" name="Shape 15"/>
          <p:cNvSpPr/>
          <p:nvPr/>
        </p:nvSpPr>
        <p:spPr>
          <a:xfrm>
            <a:off x="9934303" y="5257800"/>
            <a:ext cx="1340249" cy="91440"/>
          </a:xfrm>
          <a:prstGeom prst="rect">
            <a:avLst/>
          </a:prstGeom>
          <a:solidFill>
            <a:srgbClr val="2587C5"/>
          </a:solidFill>
          <a:ln/>
        </p:spPr>
      </p:sp>
      <p:sp>
        <p:nvSpPr>
          <p:cNvPr id="18" name="Text 16"/>
          <p:cNvSpPr txBox="1"/>
          <p:nvPr/>
        </p:nvSpPr>
        <p:spPr>
          <a:xfrm>
            <a:off x="9934303" y="5440680"/>
            <a:ext cx="1340249" cy="365760"/>
          </a:xfrm>
          <a:prstGeom prst="rect">
            <a:avLst/>
          </a:prstGeom>
          <a:noFill/>
          <a:ln/>
        </p:spPr>
        <p:txBody>
          <a:bodyPr wrap="square" lIns="0" tIns="0" rIns="0" bIns="0" rtlCol="0" anchor="ctr"/>
          <a:lstStyle/>
          <a:p>
            <a:pPr indent="0" marL="0">
              <a:buNone/>
            </a:pPr>
            <a:r>
              <a:rPr lang="en-US" sz="1550" b="1" dirty="0">
                <a:solidFill>
                  <a:srgbClr val="1A1A1A"/>
                </a:solidFill>
                <a:latin typeface="Inter" pitchFamily="34" charset="0"/>
                <a:ea typeface="Inter" pitchFamily="34" charset="-122"/>
                <a:cs typeface="Inter" pitchFamily="34" charset="-120"/>
              </a:rPr>
              <a:t>Productivity</a:t>
            </a:r>
            <a:endParaRPr lang="en-US" sz="1550" dirty="0"/>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Fixed Gross per Fixed Employee</a:t>
            </a:r>
            <a:endParaRPr lang="en-US" sz="2800" dirty="0"/>
          </a:p>
        </p:txBody>
      </p:sp>
      <p:sp>
        <p:nvSpPr>
          <p:cNvPr id="5" name="Shape 3"/>
          <p:cNvSpPr/>
          <p:nvPr/>
        </p:nvSpPr>
        <p:spPr>
          <a:xfrm>
            <a:off x="457200" y="1207008"/>
            <a:ext cx="11274552" cy="1517904"/>
          </a:xfrm>
          <a:prstGeom prst="rect">
            <a:avLst/>
          </a:prstGeom>
          <a:solidFill>
            <a:srgbClr val="FFFFFF"/>
          </a:solidFill>
          <a:ln/>
        </p:spPr>
      </p:sp>
      <p:sp>
        <p:nvSpPr>
          <p:cNvPr id="6" name="Text 4"/>
          <p:cNvSpPr txBox="1"/>
          <p:nvPr/>
        </p:nvSpPr>
        <p:spPr>
          <a:xfrm>
            <a:off x="685800" y="1316736"/>
            <a:ext cx="10789920" cy="274320"/>
          </a:xfrm>
          <a:prstGeom prst="rect">
            <a:avLst/>
          </a:prstGeom>
          <a:noFill/>
          <a:ln/>
        </p:spPr>
        <p:txBody>
          <a:bodyPr wrap="square" lIns="0" tIns="0" rIns="0" bIns="0" rtlCol="0" anchor="ctr"/>
          <a:lstStyle/>
          <a:p>
            <a:pPr indent="0" marL="0">
              <a:buNone/>
            </a:pPr>
            <a:r>
              <a:rPr lang="en-US" sz="1400" spc="100" kern="0" dirty="0">
                <a:solidFill>
                  <a:srgbClr val="595959"/>
                </a:solidFill>
                <a:latin typeface="Inter" pitchFamily="34" charset="0"/>
                <a:ea typeface="Inter" pitchFamily="34" charset="-122"/>
                <a:cs typeface="Inter" pitchFamily="34" charset="-120"/>
              </a:rPr>
              <a:t>GROUP · JANUARY–SEPTEMBER · MONTHLY AVG · SAME-STORE, 33 STORES</a:t>
            </a:r>
            <a:endParaRPr lang="en-US" sz="1400" dirty="0"/>
          </a:p>
        </p:txBody>
      </p:sp>
      <p:sp>
        <p:nvSpPr>
          <p:cNvPr id="7" name="Text 5"/>
          <p:cNvSpPr txBox="1"/>
          <p:nvPr/>
        </p:nvSpPr>
        <p:spPr>
          <a:xfrm>
            <a:off x="68580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a:t>
            </a:r>
            <a:endParaRPr lang="en-US" sz="1400" dirty="0"/>
          </a:p>
        </p:txBody>
      </p:sp>
      <p:sp>
        <p:nvSpPr>
          <p:cNvPr id="8" name="Text 6"/>
          <p:cNvSpPr txBox="1"/>
          <p:nvPr/>
        </p:nvSpPr>
        <p:spPr>
          <a:xfrm>
            <a:off x="68580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$12,410</a:t>
            </a:r>
            <a:endParaRPr lang="en-US" sz="3000" dirty="0"/>
          </a:p>
        </p:txBody>
      </p:sp>
      <p:sp>
        <p:nvSpPr>
          <p:cNvPr id="9" name="Text 7"/>
          <p:cNvSpPr txBox="1"/>
          <p:nvPr/>
        </p:nvSpPr>
        <p:spPr>
          <a:xfrm>
            <a:off x="347472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a:t>
            </a:r>
            <a:endParaRPr lang="en-US" sz="1400" dirty="0"/>
          </a:p>
        </p:txBody>
      </p:sp>
      <p:sp>
        <p:nvSpPr>
          <p:cNvPr id="10" name="Text 8"/>
          <p:cNvSpPr txBox="1"/>
          <p:nvPr/>
        </p:nvSpPr>
        <p:spPr>
          <a:xfrm>
            <a:off x="347472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$13,617</a:t>
            </a:r>
            <a:endParaRPr lang="en-US" sz="3000" dirty="0"/>
          </a:p>
        </p:txBody>
      </p:sp>
      <p:sp>
        <p:nvSpPr>
          <p:cNvPr id="11" name="Text 9"/>
          <p:cNvSpPr txBox="1"/>
          <p:nvPr/>
        </p:nvSpPr>
        <p:spPr>
          <a:xfrm>
            <a:off x="626364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2" name="Text 10"/>
          <p:cNvSpPr txBox="1"/>
          <p:nvPr/>
        </p:nvSpPr>
        <p:spPr>
          <a:xfrm>
            <a:off x="626364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+$1,207</a:t>
            </a:r>
            <a:endParaRPr lang="en-US" sz="3000" dirty="0"/>
          </a:p>
        </p:txBody>
      </p:sp>
      <p:sp>
        <p:nvSpPr>
          <p:cNvPr id="13" name="Text 11"/>
          <p:cNvSpPr txBox="1"/>
          <p:nvPr/>
        </p:nvSpPr>
        <p:spPr>
          <a:xfrm>
            <a:off x="905256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4" name="Text 12"/>
          <p:cNvSpPr txBox="1"/>
          <p:nvPr/>
        </p:nvSpPr>
        <p:spPr>
          <a:xfrm>
            <a:off x="905256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+9.7%</a:t>
            </a:r>
            <a:endParaRPr lang="en-US" sz="3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2816352"/>
          <a:ext cx="11274552" cy="914400"/>
        </p:xfrm>
        <a:graphic>
          <a:graphicData uri="http://schemas.openxmlformats.org/drawingml/2006/table">
            <a:tbl>
              <a:tblPr/>
              <a:tblGrid>
                <a:gridCol w="3118104"/>
                <a:gridCol w="2039112"/>
                <a:gridCol w="2039112"/>
                <a:gridCol w="2039112"/>
                <a:gridCol w="2039112"/>
              </a:tblGrid>
              <a:tr h="274320">
                <a:tc>
                  <a:txBody>
                    <a:bodyPr/>
                    <a:lstStyle/>
                    <a:p>
                      <a:pPr algn="l" indent="0" marL="0">
                        <a:buNone/>
                      </a:pPr>
                      <a:r>
                        <a:rPr lang="en-US" sz="1400" b="1" dirty="0">
                          <a:solidFill>
                            <a:srgbClr val="FFFFFF"/>
                          </a:solidFill>
                          <a:latin typeface="Inter" pitchFamily="34" charset="0"/>
                          <a:ea typeface="Inter" pitchFamily="34" charset="-122"/>
                          <a:cs typeface="Inter" pitchFamily="34" charset="-120"/>
                        </a:rPr>
                        <a:t>MONTH</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VARIANCE</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 %</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JAN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$12,592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$12,996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+$404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FEB</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$11,705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$12,334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+$629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+5.4%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$12,397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$13,714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+$1,317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+10.6%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APR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$12,913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$14,108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+$1,196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+9.3%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MAY</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$12,494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$13,092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+$598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$12,584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$13,919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+$1,335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+10.6%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JUL</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$12,740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$14,673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+$1,933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+15.2%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AUG</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$12,488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$13,972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+$1,483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+11.9%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SEP</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$11,778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$13,721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+$1,944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+16.5%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16" name="Shape 13"/>
          <p:cNvSpPr/>
          <p:nvPr/>
        </p:nvSpPr>
        <p:spPr>
          <a:xfrm>
            <a:off x="457200" y="5961888"/>
            <a:ext cx="11274552" cy="548640"/>
          </a:xfrm>
          <a:prstGeom prst="rect">
            <a:avLst/>
          </a:prstGeom>
          <a:solidFill>
            <a:srgbClr val="E6F6EE"/>
          </a:solidFill>
          <a:ln/>
        </p:spPr>
      </p:sp>
      <p:sp>
        <p:nvSpPr>
          <p:cNvPr id="17" name="Text 14"/>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Up $1,207 to $13,617, ahead of 2025 in all nine months. Gross grew 4.1%; headcount fell 5.1%.</a:t>
            </a:r>
            <a:endParaRPr lang="en-US" sz="1600" dirty="0"/>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Fixed Gross per Fixed Employee</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38988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7" name="Shape 5"/>
          <p:cNvSpPr/>
          <p:nvPr/>
        </p:nvSpPr>
        <p:spPr>
          <a:xfrm>
            <a:off x="2971800" y="1453358"/>
            <a:ext cx="1828800" cy="126940"/>
          </a:xfrm>
          <a:prstGeom prst="rect">
            <a:avLst/>
          </a:prstGeom>
          <a:solidFill>
            <a:srgbClr val="12A566"/>
          </a:solidFill>
          <a:ln/>
        </p:spPr>
      </p:sp>
      <p:sp>
        <p:nvSpPr>
          <p:cNvPr id="8" name="Text 6"/>
          <p:cNvSpPr txBox="1"/>
          <p:nvPr/>
        </p:nvSpPr>
        <p:spPr>
          <a:xfrm>
            <a:off x="4855464" y="1389888"/>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$23,461</a:t>
            </a:r>
            <a:endParaRPr lang="en-US" sz="1300" dirty="0"/>
          </a:p>
        </p:txBody>
      </p:sp>
      <p:sp>
        <p:nvSpPr>
          <p:cNvPr id="9" name="Text 7"/>
          <p:cNvSpPr txBox="1"/>
          <p:nvPr/>
        </p:nvSpPr>
        <p:spPr>
          <a:xfrm>
            <a:off x="658368" y="164376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10" name="Shape 8"/>
          <p:cNvSpPr/>
          <p:nvPr/>
        </p:nvSpPr>
        <p:spPr>
          <a:xfrm>
            <a:off x="2971800" y="1707239"/>
            <a:ext cx="1445900" cy="126940"/>
          </a:xfrm>
          <a:prstGeom prst="rect">
            <a:avLst/>
          </a:prstGeom>
          <a:solidFill>
            <a:srgbClr val="12A566"/>
          </a:solidFill>
          <a:ln/>
        </p:spPr>
      </p:sp>
      <p:sp>
        <p:nvSpPr>
          <p:cNvPr id="11" name="Text 9"/>
          <p:cNvSpPr txBox="1"/>
          <p:nvPr/>
        </p:nvSpPr>
        <p:spPr>
          <a:xfrm>
            <a:off x="4855464" y="1643768"/>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$18,549</a:t>
            </a:r>
            <a:endParaRPr lang="en-US" sz="1300" dirty="0"/>
          </a:p>
        </p:txBody>
      </p:sp>
      <p:sp>
        <p:nvSpPr>
          <p:cNvPr id="12" name="Text 10"/>
          <p:cNvSpPr txBox="1"/>
          <p:nvPr/>
        </p:nvSpPr>
        <p:spPr>
          <a:xfrm>
            <a:off x="658368" y="189764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13" name="Shape 11"/>
          <p:cNvSpPr/>
          <p:nvPr/>
        </p:nvSpPr>
        <p:spPr>
          <a:xfrm>
            <a:off x="2971800" y="1961119"/>
            <a:ext cx="1424044" cy="126940"/>
          </a:xfrm>
          <a:prstGeom prst="rect">
            <a:avLst/>
          </a:prstGeom>
          <a:solidFill>
            <a:srgbClr val="12A566"/>
          </a:solidFill>
          <a:ln/>
        </p:spPr>
      </p:sp>
      <p:sp>
        <p:nvSpPr>
          <p:cNvPr id="14" name="Text 12"/>
          <p:cNvSpPr txBox="1"/>
          <p:nvPr/>
        </p:nvSpPr>
        <p:spPr>
          <a:xfrm>
            <a:off x="4855464" y="1897649"/>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$18,268</a:t>
            </a:r>
            <a:endParaRPr lang="en-US" sz="1300" dirty="0"/>
          </a:p>
        </p:txBody>
      </p:sp>
      <p:sp>
        <p:nvSpPr>
          <p:cNvPr id="15" name="Text 13"/>
          <p:cNvSpPr txBox="1"/>
          <p:nvPr/>
        </p:nvSpPr>
        <p:spPr>
          <a:xfrm>
            <a:off x="658368" y="215152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16" name="Shape 14"/>
          <p:cNvSpPr/>
          <p:nvPr/>
        </p:nvSpPr>
        <p:spPr>
          <a:xfrm>
            <a:off x="2971800" y="2215000"/>
            <a:ext cx="1414711" cy="126940"/>
          </a:xfrm>
          <a:prstGeom prst="rect">
            <a:avLst/>
          </a:prstGeom>
          <a:solidFill>
            <a:srgbClr val="12A566"/>
          </a:solidFill>
          <a:ln/>
        </p:spPr>
      </p:sp>
      <p:sp>
        <p:nvSpPr>
          <p:cNvPr id="17" name="Text 15"/>
          <p:cNvSpPr txBox="1"/>
          <p:nvPr/>
        </p:nvSpPr>
        <p:spPr>
          <a:xfrm>
            <a:off x="4855464" y="2151529"/>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$18,148</a:t>
            </a:r>
            <a:endParaRPr lang="en-US" sz="1300" dirty="0"/>
          </a:p>
        </p:txBody>
      </p:sp>
      <p:sp>
        <p:nvSpPr>
          <p:cNvPr id="18" name="Text 16"/>
          <p:cNvSpPr txBox="1"/>
          <p:nvPr/>
        </p:nvSpPr>
        <p:spPr>
          <a:xfrm>
            <a:off x="658368" y="240541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19" name="Shape 17"/>
          <p:cNvSpPr/>
          <p:nvPr/>
        </p:nvSpPr>
        <p:spPr>
          <a:xfrm>
            <a:off x="2971800" y="2468880"/>
            <a:ext cx="1318885" cy="126940"/>
          </a:xfrm>
          <a:prstGeom prst="rect">
            <a:avLst/>
          </a:prstGeom>
          <a:solidFill>
            <a:srgbClr val="12A566"/>
          </a:solidFill>
          <a:ln/>
        </p:spPr>
      </p:sp>
      <p:sp>
        <p:nvSpPr>
          <p:cNvPr id="20" name="Text 18"/>
          <p:cNvSpPr txBox="1"/>
          <p:nvPr/>
        </p:nvSpPr>
        <p:spPr>
          <a:xfrm>
            <a:off x="4855464" y="2405410"/>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$16,919</a:t>
            </a:r>
            <a:endParaRPr lang="en-US" sz="1300" dirty="0"/>
          </a:p>
        </p:txBody>
      </p:sp>
      <p:sp>
        <p:nvSpPr>
          <p:cNvPr id="21" name="Text 19"/>
          <p:cNvSpPr txBox="1"/>
          <p:nvPr/>
        </p:nvSpPr>
        <p:spPr>
          <a:xfrm>
            <a:off x="658368" y="265929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22" name="Shape 20"/>
          <p:cNvSpPr/>
          <p:nvPr/>
        </p:nvSpPr>
        <p:spPr>
          <a:xfrm>
            <a:off x="2971800" y="2722760"/>
            <a:ext cx="1252010" cy="126940"/>
          </a:xfrm>
          <a:prstGeom prst="rect">
            <a:avLst/>
          </a:prstGeom>
          <a:solidFill>
            <a:srgbClr val="12A566"/>
          </a:solidFill>
          <a:ln/>
        </p:spPr>
      </p:sp>
      <p:sp>
        <p:nvSpPr>
          <p:cNvPr id="23" name="Text 21"/>
          <p:cNvSpPr txBox="1"/>
          <p:nvPr/>
        </p:nvSpPr>
        <p:spPr>
          <a:xfrm>
            <a:off x="4855464" y="2659290"/>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$16,061</a:t>
            </a:r>
            <a:endParaRPr lang="en-US" sz="1300" dirty="0"/>
          </a:p>
        </p:txBody>
      </p:sp>
      <p:sp>
        <p:nvSpPr>
          <p:cNvPr id="24" name="Text 22"/>
          <p:cNvSpPr txBox="1"/>
          <p:nvPr/>
        </p:nvSpPr>
        <p:spPr>
          <a:xfrm>
            <a:off x="658368" y="291317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25" name="Shape 23"/>
          <p:cNvSpPr/>
          <p:nvPr/>
        </p:nvSpPr>
        <p:spPr>
          <a:xfrm>
            <a:off x="2971800" y="2976641"/>
            <a:ext cx="1244606" cy="126940"/>
          </a:xfrm>
          <a:prstGeom prst="rect">
            <a:avLst/>
          </a:prstGeom>
          <a:solidFill>
            <a:srgbClr val="12A566"/>
          </a:solidFill>
          <a:ln/>
        </p:spPr>
      </p:sp>
      <p:sp>
        <p:nvSpPr>
          <p:cNvPr id="26" name="Text 24"/>
          <p:cNvSpPr txBox="1"/>
          <p:nvPr/>
        </p:nvSpPr>
        <p:spPr>
          <a:xfrm>
            <a:off x="4855464" y="2913171"/>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$15,966</a:t>
            </a:r>
            <a:endParaRPr lang="en-US" sz="1300" dirty="0"/>
          </a:p>
        </p:txBody>
      </p:sp>
      <p:sp>
        <p:nvSpPr>
          <p:cNvPr id="27" name="Text 25"/>
          <p:cNvSpPr txBox="1"/>
          <p:nvPr/>
        </p:nvSpPr>
        <p:spPr>
          <a:xfrm>
            <a:off x="658368" y="316705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28" name="Shape 26"/>
          <p:cNvSpPr/>
          <p:nvPr/>
        </p:nvSpPr>
        <p:spPr>
          <a:xfrm>
            <a:off x="2971800" y="3230521"/>
            <a:ext cx="1212598" cy="126940"/>
          </a:xfrm>
          <a:prstGeom prst="rect">
            <a:avLst/>
          </a:prstGeom>
          <a:solidFill>
            <a:srgbClr val="12A566"/>
          </a:solidFill>
          <a:ln/>
        </p:spPr>
      </p:sp>
      <p:sp>
        <p:nvSpPr>
          <p:cNvPr id="29" name="Text 27"/>
          <p:cNvSpPr txBox="1"/>
          <p:nvPr/>
        </p:nvSpPr>
        <p:spPr>
          <a:xfrm>
            <a:off x="4855464" y="3167051"/>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$15,556</a:t>
            </a:r>
            <a:endParaRPr lang="en-US" sz="1300" dirty="0"/>
          </a:p>
        </p:txBody>
      </p:sp>
      <p:sp>
        <p:nvSpPr>
          <p:cNvPr id="30" name="Text 28"/>
          <p:cNvSpPr txBox="1"/>
          <p:nvPr/>
        </p:nvSpPr>
        <p:spPr>
          <a:xfrm>
            <a:off x="658368" y="342093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31" name="Shape 29"/>
          <p:cNvSpPr/>
          <p:nvPr/>
        </p:nvSpPr>
        <p:spPr>
          <a:xfrm>
            <a:off x="2971800" y="3484402"/>
            <a:ext cx="1186920" cy="126940"/>
          </a:xfrm>
          <a:prstGeom prst="rect">
            <a:avLst/>
          </a:prstGeom>
          <a:solidFill>
            <a:srgbClr val="12A566"/>
          </a:solidFill>
          <a:ln/>
        </p:spPr>
      </p:sp>
      <p:sp>
        <p:nvSpPr>
          <p:cNvPr id="32" name="Text 30"/>
          <p:cNvSpPr txBox="1"/>
          <p:nvPr/>
        </p:nvSpPr>
        <p:spPr>
          <a:xfrm>
            <a:off x="4855464" y="3420932"/>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$15,226</a:t>
            </a:r>
            <a:endParaRPr lang="en-US" sz="1300" dirty="0"/>
          </a:p>
        </p:txBody>
      </p:sp>
      <p:sp>
        <p:nvSpPr>
          <p:cNvPr id="33" name="Text 31"/>
          <p:cNvSpPr txBox="1"/>
          <p:nvPr/>
        </p:nvSpPr>
        <p:spPr>
          <a:xfrm>
            <a:off x="658368" y="367481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34" name="Shape 32"/>
          <p:cNvSpPr/>
          <p:nvPr/>
        </p:nvSpPr>
        <p:spPr>
          <a:xfrm>
            <a:off x="2971800" y="3738282"/>
            <a:ext cx="1162721" cy="126940"/>
          </a:xfrm>
          <a:prstGeom prst="rect">
            <a:avLst/>
          </a:prstGeom>
          <a:solidFill>
            <a:srgbClr val="12A566"/>
          </a:solidFill>
          <a:ln/>
        </p:spPr>
      </p:sp>
      <p:sp>
        <p:nvSpPr>
          <p:cNvPr id="35" name="Text 33"/>
          <p:cNvSpPr txBox="1"/>
          <p:nvPr/>
        </p:nvSpPr>
        <p:spPr>
          <a:xfrm>
            <a:off x="4855464" y="3674812"/>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$14,916</a:t>
            </a:r>
            <a:endParaRPr lang="en-US" sz="1300" dirty="0"/>
          </a:p>
        </p:txBody>
      </p:sp>
      <p:sp>
        <p:nvSpPr>
          <p:cNvPr id="36" name="Text 34"/>
          <p:cNvSpPr txBox="1"/>
          <p:nvPr/>
        </p:nvSpPr>
        <p:spPr>
          <a:xfrm>
            <a:off x="658368" y="392869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37" name="Shape 35"/>
          <p:cNvSpPr/>
          <p:nvPr/>
        </p:nvSpPr>
        <p:spPr>
          <a:xfrm>
            <a:off x="2971800" y="3992163"/>
            <a:ext cx="1138415" cy="126940"/>
          </a:xfrm>
          <a:prstGeom prst="rect">
            <a:avLst/>
          </a:prstGeom>
          <a:solidFill>
            <a:srgbClr val="12A566"/>
          </a:solidFill>
          <a:ln/>
        </p:spPr>
      </p:sp>
      <p:sp>
        <p:nvSpPr>
          <p:cNvPr id="38" name="Text 36"/>
          <p:cNvSpPr txBox="1"/>
          <p:nvPr/>
        </p:nvSpPr>
        <p:spPr>
          <a:xfrm>
            <a:off x="4855464" y="3928693"/>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$14,604</a:t>
            </a:r>
            <a:endParaRPr lang="en-US" sz="1300" dirty="0"/>
          </a:p>
        </p:txBody>
      </p:sp>
      <p:sp>
        <p:nvSpPr>
          <p:cNvPr id="39" name="Text 37"/>
          <p:cNvSpPr txBox="1"/>
          <p:nvPr/>
        </p:nvSpPr>
        <p:spPr>
          <a:xfrm>
            <a:off x="658368" y="418257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40" name="Shape 38"/>
          <p:cNvSpPr/>
          <p:nvPr/>
        </p:nvSpPr>
        <p:spPr>
          <a:xfrm>
            <a:off x="2971800" y="4246043"/>
            <a:ext cx="1111597" cy="126940"/>
          </a:xfrm>
          <a:prstGeom prst="rect">
            <a:avLst/>
          </a:prstGeom>
          <a:solidFill>
            <a:srgbClr val="12A566"/>
          </a:solidFill>
          <a:ln/>
        </p:spPr>
      </p:sp>
      <p:sp>
        <p:nvSpPr>
          <p:cNvPr id="41" name="Text 39"/>
          <p:cNvSpPr txBox="1"/>
          <p:nvPr/>
        </p:nvSpPr>
        <p:spPr>
          <a:xfrm>
            <a:off x="4855464" y="4182573"/>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$14,260</a:t>
            </a:r>
            <a:endParaRPr lang="en-US" sz="1300" dirty="0"/>
          </a:p>
        </p:txBody>
      </p:sp>
      <p:sp>
        <p:nvSpPr>
          <p:cNvPr id="42" name="Text 40"/>
          <p:cNvSpPr txBox="1"/>
          <p:nvPr/>
        </p:nvSpPr>
        <p:spPr>
          <a:xfrm>
            <a:off x="658368" y="443645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43" name="Shape 41"/>
          <p:cNvSpPr/>
          <p:nvPr/>
        </p:nvSpPr>
        <p:spPr>
          <a:xfrm>
            <a:off x="2971800" y="4499924"/>
            <a:ext cx="1104894" cy="126940"/>
          </a:xfrm>
          <a:prstGeom prst="rect">
            <a:avLst/>
          </a:prstGeom>
          <a:solidFill>
            <a:srgbClr val="12A566"/>
          </a:solidFill>
          <a:ln/>
        </p:spPr>
      </p:sp>
      <p:sp>
        <p:nvSpPr>
          <p:cNvPr id="44" name="Text 42"/>
          <p:cNvSpPr txBox="1"/>
          <p:nvPr/>
        </p:nvSpPr>
        <p:spPr>
          <a:xfrm>
            <a:off x="4855464" y="4436454"/>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$14,174</a:t>
            </a:r>
            <a:endParaRPr lang="en-US" sz="1300" dirty="0"/>
          </a:p>
        </p:txBody>
      </p:sp>
      <p:sp>
        <p:nvSpPr>
          <p:cNvPr id="45" name="Shape 43"/>
          <p:cNvSpPr/>
          <p:nvPr/>
        </p:nvSpPr>
        <p:spPr>
          <a:xfrm>
            <a:off x="585216" y="4685762"/>
            <a:ext cx="5413248" cy="244736"/>
          </a:xfrm>
          <a:prstGeom prst="rect">
            <a:avLst/>
          </a:prstGeom>
          <a:solidFill>
            <a:srgbClr val="EDF4FA"/>
          </a:solidFill>
          <a:ln/>
        </p:spPr>
      </p:sp>
      <p:sp>
        <p:nvSpPr>
          <p:cNvPr id="46" name="Text 44"/>
          <p:cNvSpPr txBox="1"/>
          <p:nvPr/>
        </p:nvSpPr>
        <p:spPr>
          <a:xfrm>
            <a:off x="658368" y="4690334"/>
            <a:ext cx="2240280" cy="253880"/>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GROUP</a:t>
            </a:r>
            <a:endParaRPr lang="en-US" sz="1300" dirty="0"/>
          </a:p>
        </p:txBody>
      </p:sp>
      <p:sp>
        <p:nvSpPr>
          <p:cNvPr id="47" name="Shape 45"/>
          <p:cNvSpPr/>
          <p:nvPr/>
        </p:nvSpPr>
        <p:spPr>
          <a:xfrm>
            <a:off x="2971800" y="4753804"/>
            <a:ext cx="1061474" cy="126940"/>
          </a:xfrm>
          <a:prstGeom prst="rect">
            <a:avLst/>
          </a:prstGeom>
          <a:solidFill>
            <a:srgbClr val="0B2C4A"/>
          </a:solidFill>
          <a:ln/>
        </p:spPr>
      </p:sp>
      <p:sp>
        <p:nvSpPr>
          <p:cNvPr id="48" name="Text 46"/>
          <p:cNvSpPr txBox="1"/>
          <p:nvPr/>
        </p:nvSpPr>
        <p:spPr>
          <a:xfrm>
            <a:off x="4855464" y="4690334"/>
            <a:ext cx="1088136" cy="253880"/>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$13,617</a:t>
            </a:r>
            <a:endParaRPr lang="en-US" sz="1300" dirty="0"/>
          </a:p>
        </p:txBody>
      </p:sp>
      <p:sp>
        <p:nvSpPr>
          <p:cNvPr id="49" name="Text 47"/>
          <p:cNvSpPr txBox="1"/>
          <p:nvPr/>
        </p:nvSpPr>
        <p:spPr>
          <a:xfrm>
            <a:off x="658368" y="494421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50" name="Shape 48"/>
          <p:cNvSpPr/>
          <p:nvPr/>
        </p:nvSpPr>
        <p:spPr>
          <a:xfrm>
            <a:off x="2971800" y="5007685"/>
            <a:ext cx="1035934" cy="126940"/>
          </a:xfrm>
          <a:prstGeom prst="rect">
            <a:avLst/>
          </a:prstGeom>
          <a:solidFill>
            <a:srgbClr val="C2352F"/>
          </a:solidFill>
          <a:ln/>
        </p:spPr>
      </p:sp>
      <p:sp>
        <p:nvSpPr>
          <p:cNvPr id="51" name="Text 49"/>
          <p:cNvSpPr txBox="1"/>
          <p:nvPr/>
        </p:nvSpPr>
        <p:spPr>
          <a:xfrm>
            <a:off x="4855464" y="4944215"/>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$13,289</a:t>
            </a:r>
            <a:endParaRPr lang="en-US" sz="1300" dirty="0"/>
          </a:p>
        </p:txBody>
      </p:sp>
      <p:sp>
        <p:nvSpPr>
          <p:cNvPr id="52" name="Text 50"/>
          <p:cNvSpPr txBox="1"/>
          <p:nvPr/>
        </p:nvSpPr>
        <p:spPr>
          <a:xfrm>
            <a:off x="658368" y="519809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53" name="Shape 51"/>
          <p:cNvSpPr/>
          <p:nvPr/>
        </p:nvSpPr>
        <p:spPr>
          <a:xfrm>
            <a:off x="2971800" y="5261565"/>
            <a:ext cx="1003560" cy="126940"/>
          </a:xfrm>
          <a:prstGeom prst="rect">
            <a:avLst/>
          </a:prstGeom>
          <a:solidFill>
            <a:srgbClr val="C2352F"/>
          </a:solidFill>
          <a:ln/>
        </p:spPr>
      </p:sp>
      <p:sp>
        <p:nvSpPr>
          <p:cNvPr id="54" name="Text 52"/>
          <p:cNvSpPr txBox="1"/>
          <p:nvPr/>
        </p:nvSpPr>
        <p:spPr>
          <a:xfrm>
            <a:off x="4855464" y="5198095"/>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$12,874</a:t>
            </a:r>
            <a:endParaRPr lang="en-US" sz="1300" dirty="0"/>
          </a:p>
        </p:txBody>
      </p:sp>
      <p:sp>
        <p:nvSpPr>
          <p:cNvPr id="55" name="Text 53"/>
          <p:cNvSpPr txBox="1"/>
          <p:nvPr/>
        </p:nvSpPr>
        <p:spPr>
          <a:xfrm>
            <a:off x="658368" y="5451976"/>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56" name="Shape 54"/>
          <p:cNvSpPr/>
          <p:nvPr/>
        </p:nvSpPr>
        <p:spPr>
          <a:xfrm>
            <a:off x="2971800" y="5515446"/>
            <a:ext cx="1003290" cy="126940"/>
          </a:xfrm>
          <a:prstGeom prst="rect">
            <a:avLst/>
          </a:prstGeom>
          <a:solidFill>
            <a:srgbClr val="C2352F"/>
          </a:solidFill>
          <a:ln/>
        </p:spPr>
      </p:sp>
      <p:sp>
        <p:nvSpPr>
          <p:cNvPr id="57" name="Text 55"/>
          <p:cNvSpPr txBox="1"/>
          <p:nvPr/>
        </p:nvSpPr>
        <p:spPr>
          <a:xfrm>
            <a:off x="4855464" y="5451976"/>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$12,871</a:t>
            </a:r>
            <a:endParaRPr lang="en-US" sz="1300" dirty="0"/>
          </a:p>
        </p:txBody>
      </p:sp>
      <p:sp>
        <p:nvSpPr>
          <p:cNvPr id="58" name="Text 56"/>
          <p:cNvSpPr txBox="1"/>
          <p:nvPr/>
        </p:nvSpPr>
        <p:spPr>
          <a:xfrm>
            <a:off x="6208776" y="138988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59" name="Shape 57"/>
          <p:cNvSpPr/>
          <p:nvPr/>
        </p:nvSpPr>
        <p:spPr>
          <a:xfrm>
            <a:off x="8522208" y="1453358"/>
            <a:ext cx="974487" cy="126940"/>
          </a:xfrm>
          <a:prstGeom prst="rect">
            <a:avLst/>
          </a:prstGeom>
          <a:solidFill>
            <a:srgbClr val="C2352F"/>
          </a:solidFill>
          <a:ln/>
        </p:spPr>
      </p:sp>
      <p:sp>
        <p:nvSpPr>
          <p:cNvPr id="60" name="Text 58"/>
          <p:cNvSpPr txBox="1"/>
          <p:nvPr/>
        </p:nvSpPr>
        <p:spPr>
          <a:xfrm>
            <a:off x="10405872" y="1389888"/>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$12,501</a:t>
            </a:r>
            <a:endParaRPr lang="en-US" sz="1300" dirty="0"/>
          </a:p>
        </p:txBody>
      </p:sp>
      <p:sp>
        <p:nvSpPr>
          <p:cNvPr id="61" name="Text 59"/>
          <p:cNvSpPr txBox="1"/>
          <p:nvPr/>
        </p:nvSpPr>
        <p:spPr>
          <a:xfrm>
            <a:off x="6208776" y="164376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62" name="Shape 60"/>
          <p:cNvSpPr/>
          <p:nvPr/>
        </p:nvSpPr>
        <p:spPr>
          <a:xfrm>
            <a:off x="8522208" y="1707239"/>
            <a:ext cx="963791" cy="126940"/>
          </a:xfrm>
          <a:prstGeom prst="rect">
            <a:avLst/>
          </a:prstGeom>
          <a:solidFill>
            <a:srgbClr val="C2352F"/>
          </a:solidFill>
          <a:ln/>
        </p:spPr>
      </p:sp>
      <p:sp>
        <p:nvSpPr>
          <p:cNvPr id="63" name="Text 61"/>
          <p:cNvSpPr txBox="1"/>
          <p:nvPr/>
        </p:nvSpPr>
        <p:spPr>
          <a:xfrm>
            <a:off x="10405872" y="1643768"/>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$12,364</a:t>
            </a:r>
            <a:endParaRPr lang="en-US" sz="1300" dirty="0"/>
          </a:p>
        </p:txBody>
      </p:sp>
      <p:sp>
        <p:nvSpPr>
          <p:cNvPr id="64" name="Text 62"/>
          <p:cNvSpPr txBox="1"/>
          <p:nvPr/>
        </p:nvSpPr>
        <p:spPr>
          <a:xfrm>
            <a:off x="6208776" y="189764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65" name="Shape 63"/>
          <p:cNvSpPr/>
          <p:nvPr/>
        </p:nvSpPr>
        <p:spPr>
          <a:xfrm>
            <a:off x="8522208" y="1961119"/>
            <a:ext cx="943482" cy="126940"/>
          </a:xfrm>
          <a:prstGeom prst="rect">
            <a:avLst/>
          </a:prstGeom>
          <a:solidFill>
            <a:srgbClr val="C2352F"/>
          </a:solidFill>
          <a:ln/>
        </p:spPr>
      </p:sp>
      <p:sp>
        <p:nvSpPr>
          <p:cNvPr id="66" name="Text 64"/>
          <p:cNvSpPr txBox="1"/>
          <p:nvPr/>
        </p:nvSpPr>
        <p:spPr>
          <a:xfrm>
            <a:off x="10405872" y="1897649"/>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$12,103</a:t>
            </a:r>
            <a:endParaRPr lang="en-US" sz="1300" dirty="0"/>
          </a:p>
        </p:txBody>
      </p:sp>
      <p:sp>
        <p:nvSpPr>
          <p:cNvPr id="67" name="Text 65"/>
          <p:cNvSpPr txBox="1"/>
          <p:nvPr/>
        </p:nvSpPr>
        <p:spPr>
          <a:xfrm>
            <a:off x="6208776" y="215152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68" name="Shape 66"/>
          <p:cNvSpPr/>
          <p:nvPr/>
        </p:nvSpPr>
        <p:spPr>
          <a:xfrm>
            <a:off x="8522208" y="2215000"/>
            <a:ext cx="938663" cy="126940"/>
          </a:xfrm>
          <a:prstGeom prst="rect">
            <a:avLst/>
          </a:prstGeom>
          <a:solidFill>
            <a:srgbClr val="C2352F"/>
          </a:solidFill>
          <a:ln/>
        </p:spPr>
      </p:sp>
      <p:sp>
        <p:nvSpPr>
          <p:cNvPr id="69" name="Text 67"/>
          <p:cNvSpPr txBox="1"/>
          <p:nvPr/>
        </p:nvSpPr>
        <p:spPr>
          <a:xfrm>
            <a:off x="10405872" y="2151529"/>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$12,042</a:t>
            </a:r>
            <a:endParaRPr lang="en-US" sz="1300" dirty="0"/>
          </a:p>
        </p:txBody>
      </p:sp>
      <p:sp>
        <p:nvSpPr>
          <p:cNvPr id="70" name="Text 68"/>
          <p:cNvSpPr txBox="1"/>
          <p:nvPr/>
        </p:nvSpPr>
        <p:spPr>
          <a:xfrm>
            <a:off x="6208776" y="240541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71" name="Shape 69"/>
          <p:cNvSpPr/>
          <p:nvPr/>
        </p:nvSpPr>
        <p:spPr>
          <a:xfrm>
            <a:off x="8522208" y="2468880"/>
            <a:ext cx="935875" cy="126940"/>
          </a:xfrm>
          <a:prstGeom prst="rect">
            <a:avLst/>
          </a:prstGeom>
          <a:solidFill>
            <a:srgbClr val="C2352F"/>
          </a:solidFill>
          <a:ln/>
        </p:spPr>
      </p:sp>
      <p:sp>
        <p:nvSpPr>
          <p:cNvPr id="72" name="Text 70"/>
          <p:cNvSpPr txBox="1"/>
          <p:nvPr/>
        </p:nvSpPr>
        <p:spPr>
          <a:xfrm>
            <a:off x="10405872" y="2405410"/>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$12,006</a:t>
            </a:r>
            <a:endParaRPr lang="en-US" sz="1300" dirty="0"/>
          </a:p>
        </p:txBody>
      </p:sp>
      <p:sp>
        <p:nvSpPr>
          <p:cNvPr id="73" name="Text 71"/>
          <p:cNvSpPr txBox="1"/>
          <p:nvPr/>
        </p:nvSpPr>
        <p:spPr>
          <a:xfrm>
            <a:off x="6208776" y="265929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74" name="Shape 72"/>
          <p:cNvSpPr/>
          <p:nvPr/>
        </p:nvSpPr>
        <p:spPr>
          <a:xfrm>
            <a:off x="8522208" y="2722760"/>
            <a:ext cx="932104" cy="126940"/>
          </a:xfrm>
          <a:prstGeom prst="rect">
            <a:avLst/>
          </a:prstGeom>
          <a:solidFill>
            <a:srgbClr val="C2352F"/>
          </a:solidFill>
          <a:ln/>
        </p:spPr>
      </p:sp>
      <p:sp>
        <p:nvSpPr>
          <p:cNvPr id="75" name="Text 73"/>
          <p:cNvSpPr txBox="1"/>
          <p:nvPr/>
        </p:nvSpPr>
        <p:spPr>
          <a:xfrm>
            <a:off x="10405872" y="2659290"/>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$11,957</a:t>
            </a:r>
            <a:endParaRPr lang="en-US" sz="1300" dirty="0"/>
          </a:p>
        </p:txBody>
      </p:sp>
      <p:sp>
        <p:nvSpPr>
          <p:cNvPr id="76" name="Text 74"/>
          <p:cNvSpPr txBox="1"/>
          <p:nvPr/>
        </p:nvSpPr>
        <p:spPr>
          <a:xfrm>
            <a:off x="6208776" y="291317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77" name="Shape 75"/>
          <p:cNvSpPr/>
          <p:nvPr/>
        </p:nvSpPr>
        <p:spPr>
          <a:xfrm>
            <a:off x="8522208" y="2976641"/>
            <a:ext cx="906649" cy="126940"/>
          </a:xfrm>
          <a:prstGeom prst="rect">
            <a:avLst/>
          </a:prstGeom>
          <a:solidFill>
            <a:srgbClr val="C2352F"/>
          </a:solidFill>
          <a:ln/>
        </p:spPr>
      </p:sp>
      <p:sp>
        <p:nvSpPr>
          <p:cNvPr id="78" name="Text 76"/>
          <p:cNvSpPr txBox="1"/>
          <p:nvPr/>
        </p:nvSpPr>
        <p:spPr>
          <a:xfrm>
            <a:off x="10405872" y="2913171"/>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$11,631</a:t>
            </a:r>
            <a:endParaRPr lang="en-US" sz="1300" dirty="0"/>
          </a:p>
        </p:txBody>
      </p:sp>
      <p:sp>
        <p:nvSpPr>
          <p:cNvPr id="79" name="Text 77"/>
          <p:cNvSpPr txBox="1"/>
          <p:nvPr/>
        </p:nvSpPr>
        <p:spPr>
          <a:xfrm>
            <a:off x="6208776" y="316705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80" name="Shape 78"/>
          <p:cNvSpPr/>
          <p:nvPr/>
        </p:nvSpPr>
        <p:spPr>
          <a:xfrm>
            <a:off x="8522208" y="3230521"/>
            <a:ext cx="899660" cy="126940"/>
          </a:xfrm>
          <a:prstGeom prst="rect">
            <a:avLst/>
          </a:prstGeom>
          <a:solidFill>
            <a:srgbClr val="C2352F"/>
          </a:solidFill>
          <a:ln/>
        </p:spPr>
      </p:sp>
      <p:sp>
        <p:nvSpPr>
          <p:cNvPr id="81" name="Text 79"/>
          <p:cNvSpPr txBox="1"/>
          <p:nvPr/>
        </p:nvSpPr>
        <p:spPr>
          <a:xfrm>
            <a:off x="10405872" y="3167051"/>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$11,541</a:t>
            </a:r>
            <a:endParaRPr lang="en-US" sz="1300" dirty="0"/>
          </a:p>
        </p:txBody>
      </p:sp>
      <p:sp>
        <p:nvSpPr>
          <p:cNvPr id="82" name="Text 80"/>
          <p:cNvSpPr txBox="1"/>
          <p:nvPr/>
        </p:nvSpPr>
        <p:spPr>
          <a:xfrm>
            <a:off x="6208776" y="342093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83" name="Shape 81"/>
          <p:cNvSpPr/>
          <p:nvPr/>
        </p:nvSpPr>
        <p:spPr>
          <a:xfrm>
            <a:off x="8522208" y="3484402"/>
            <a:ext cx="867469" cy="126940"/>
          </a:xfrm>
          <a:prstGeom prst="rect">
            <a:avLst/>
          </a:prstGeom>
          <a:solidFill>
            <a:srgbClr val="C2352F"/>
          </a:solidFill>
          <a:ln/>
        </p:spPr>
      </p:sp>
      <p:sp>
        <p:nvSpPr>
          <p:cNvPr id="84" name="Text 82"/>
          <p:cNvSpPr txBox="1"/>
          <p:nvPr/>
        </p:nvSpPr>
        <p:spPr>
          <a:xfrm>
            <a:off x="10405872" y="3420932"/>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$11,128</a:t>
            </a:r>
            <a:endParaRPr lang="en-US" sz="1300" dirty="0"/>
          </a:p>
        </p:txBody>
      </p:sp>
      <p:sp>
        <p:nvSpPr>
          <p:cNvPr id="85" name="Text 83"/>
          <p:cNvSpPr txBox="1"/>
          <p:nvPr/>
        </p:nvSpPr>
        <p:spPr>
          <a:xfrm>
            <a:off x="6208776" y="367481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86" name="Shape 84"/>
          <p:cNvSpPr/>
          <p:nvPr/>
        </p:nvSpPr>
        <p:spPr>
          <a:xfrm>
            <a:off x="8522208" y="3738282"/>
            <a:ext cx="860908" cy="126940"/>
          </a:xfrm>
          <a:prstGeom prst="rect">
            <a:avLst/>
          </a:prstGeom>
          <a:solidFill>
            <a:srgbClr val="C2352F"/>
          </a:solidFill>
          <a:ln/>
        </p:spPr>
      </p:sp>
      <p:sp>
        <p:nvSpPr>
          <p:cNvPr id="87" name="Text 85"/>
          <p:cNvSpPr txBox="1"/>
          <p:nvPr/>
        </p:nvSpPr>
        <p:spPr>
          <a:xfrm>
            <a:off x="10405872" y="3674812"/>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$11,044</a:t>
            </a:r>
            <a:endParaRPr lang="en-US" sz="1300" dirty="0"/>
          </a:p>
        </p:txBody>
      </p:sp>
      <p:sp>
        <p:nvSpPr>
          <p:cNvPr id="88" name="Text 86"/>
          <p:cNvSpPr txBox="1"/>
          <p:nvPr/>
        </p:nvSpPr>
        <p:spPr>
          <a:xfrm>
            <a:off x="6208776" y="392869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89" name="Shape 87"/>
          <p:cNvSpPr/>
          <p:nvPr/>
        </p:nvSpPr>
        <p:spPr>
          <a:xfrm>
            <a:off x="8522208" y="3992163"/>
            <a:ext cx="854614" cy="126940"/>
          </a:xfrm>
          <a:prstGeom prst="rect">
            <a:avLst/>
          </a:prstGeom>
          <a:solidFill>
            <a:srgbClr val="C2352F"/>
          </a:solidFill>
          <a:ln/>
        </p:spPr>
      </p:sp>
      <p:sp>
        <p:nvSpPr>
          <p:cNvPr id="90" name="Text 88"/>
          <p:cNvSpPr txBox="1"/>
          <p:nvPr/>
        </p:nvSpPr>
        <p:spPr>
          <a:xfrm>
            <a:off x="10405872" y="3928693"/>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$10,963</a:t>
            </a:r>
            <a:endParaRPr lang="en-US" sz="1300" dirty="0"/>
          </a:p>
        </p:txBody>
      </p:sp>
      <p:sp>
        <p:nvSpPr>
          <p:cNvPr id="91" name="Text 89"/>
          <p:cNvSpPr txBox="1"/>
          <p:nvPr/>
        </p:nvSpPr>
        <p:spPr>
          <a:xfrm>
            <a:off x="6208776" y="418257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92" name="Shape 90"/>
          <p:cNvSpPr/>
          <p:nvPr/>
        </p:nvSpPr>
        <p:spPr>
          <a:xfrm>
            <a:off x="8522208" y="4246043"/>
            <a:ext cx="841392" cy="126940"/>
          </a:xfrm>
          <a:prstGeom prst="rect">
            <a:avLst/>
          </a:prstGeom>
          <a:solidFill>
            <a:srgbClr val="C2352F"/>
          </a:solidFill>
          <a:ln/>
        </p:spPr>
      </p:sp>
      <p:sp>
        <p:nvSpPr>
          <p:cNvPr id="93" name="Text 91"/>
          <p:cNvSpPr txBox="1"/>
          <p:nvPr/>
        </p:nvSpPr>
        <p:spPr>
          <a:xfrm>
            <a:off x="10405872" y="4182573"/>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$10,794</a:t>
            </a:r>
            <a:endParaRPr lang="en-US" sz="1300" dirty="0"/>
          </a:p>
        </p:txBody>
      </p:sp>
      <p:sp>
        <p:nvSpPr>
          <p:cNvPr id="94" name="Text 92"/>
          <p:cNvSpPr txBox="1"/>
          <p:nvPr/>
        </p:nvSpPr>
        <p:spPr>
          <a:xfrm>
            <a:off x="6208776" y="443645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95" name="Shape 93"/>
          <p:cNvSpPr/>
          <p:nvPr/>
        </p:nvSpPr>
        <p:spPr>
          <a:xfrm>
            <a:off x="8522208" y="4499924"/>
            <a:ext cx="810008" cy="126940"/>
          </a:xfrm>
          <a:prstGeom prst="rect">
            <a:avLst/>
          </a:prstGeom>
          <a:solidFill>
            <a:srgbClr val="C2352F"/>
          </a:solidFill>
          <a:ln/>
        </p:spPr>
      </p:sp>
      <p:sp>
        <p:nvSpPr>
          <p:cNvPr id="96" name="Text 94"/>
          <p:cNvSpPr txBox="1"/>
          <p:nvPr/>
        </p:nvSpPr>
        <p:spPr>
          <a:xfrm>
            <a:off x="10405872" y="4436454"/>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$10,391</a:t>
            </a:r>
            <a:endParaRPr lang="en-US" sz="1300" dirty="0"/>
          </a:p>
        </p:txBody>
      </p:sp>
      <p:sp>
        <p:nvSpPr>
          <p:cNvPr id="97" name="Text 95"/>
          <p:cNvSpPr txBox="1"/>
          <p:nvPr/>
        </p:nvSpPr>
        <p:spPr>
          <a:xfrm>
            <a:off x="6208776" y="469033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98" name="Shape 96"/>
          <p:cNvSpPr/>
          <p:nvPr/>
        </p:nvSpPr>
        <p:spPr>
          <a:xfrm>
            <a:off x="8522208" y="4753804"/>
            <a:ext cx="775841" cy="126940"/>
          </a:xfrm>
          <a:prstGeom prst="rect">
            <a:avLst/>
          </a:prstGeom>
          <a:solidFill>
            <a:srgbClr val="C2352F"/>
          </a:solidFill>
          <a:ln/>
        </p:spPr>
      </p:sp>
      <p:sp>
        <p:nvSpPr>
          <p:cNvPr id="99" name="Text 97"/>
          <p:cNvSpPr txBox="1"/>
          <p:nvPr/>
        </p:nvSpPr>
        <p:spPr>
          <a:xfrm>
            <a:off x="10405872" y="4690334"/>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$9,953</a:t>
            </a:r>
            <a:endParaRPr lang="en-US" sz="1300" dirty="0"/>
          </a:p>
        </p:txBody>
      </p:sp>
      <p:sp>
        <p:nvSpPr>
          <p:cNvPr id="100" name="Text 98"/>
          <p:cNvSpPr txBox="1"/>
          <p:nvPr/>
        </p:nvSpPr>
        <p:spPr>
          <a:xfrm>
            <a:off x="6208776" y="494421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101" name="Shape 99"/>
          <p:cNvSpPr/>
          <p:nvPr/>
        </p:nvSpPr>
        <p:spPr>
          <a:xfrm>
            <a:off x="8522208" y="5007685"/>
            <a:ext cx="769990" cy="126940"/>
          </a:xfrm>
          <a:prstGeom prst="rect">
            <a:avLst/>
          </a:prstGeom>
          <a:solidFill>
            <a:srgbClr val="C2352F"/>
          </a:solidFill>
          <a:ln/>
        </p:spPr>
      </p:sp>
      <p:sp>
        <p:nvSpPr>
          <p:cNvPr id="102" name="Text 100"/>
          <p:cNvSpPr txBox="1"/>
          <p:nvPr/>
        </p:nvSpPr>
        <p:spPr>
          <a:xfrm>
            <a:off x="10405872" y="4944215"/>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$9,878</a:t>
            </a:r>
            <a:endParaRPr lang="en-US" sz="1300" dirty="0"/>
          </a:p>
        </p:txBody>
      </p:sp>
      <p:sp>
        <p:nvSpPr>
          <p:cNvPr id="103" name="Text 101"/>
          <p:cNvSpPr txBox="1"/>
          <p:nvPr/>
        </p:nvSpPr>
        <p:spPr>
          <a:xfrm>
            <a:off x="6208776" y="519809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104" name="Shape 102"/>
          <p:cNvSpPr/>
          <p:nvPr/>
        </p:nvSpPr>
        <p:spPr>
          <a:xfrm>
            <a:off x="8522208" y="5261565"/>
            <a:ext cx="740383" cy="126940"/>
          </a:xfrm>
          <a:prstGeom prst="rect">
            <a:avLst/>
          </a:prstGeom>
          <a:solidFill>
            <a:srgbClr val="C2352F"/>
          </a:solidFill>
          <a:ln/>
        </p:spPr>
      </p:sp>
      <p:sp>
        <p:nvSpPr>
          <p:cNvPr id="105" name="Text 103"/>
          <p:cNvSpPr txBox="1"/>
          <p:nvPr/>
        </p:nvSpPr>
        <p:spPr>
          <a:xfrm>
            <a:off x="10405872" y="5198095"/>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$9,498</a:t>
            </a:r>
            <a:endParaRPr lang="en-US" sz="1300" dirty="0"/>
          </a:p>
        </p:txBody>
      </p:sp>
      <p:sp>
        <p:nvSpPr>
          <p:cNvPr id="106" name="Text 104"/>
          <p:cNvSpPr txBox="1"/>
          <p:nvPr/>
        </p:nvSpPr>
        <p:spPr>
          <a:xfrm>
            <a:off x="6208776" y="5451976"/>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107" name="Shape 105"/>
          <p:cNvSpPr/>
          <p:nvPr/>
        </p:nvSpPr>
        <p:spPr>
          <a:xfrm>
            <a:off x="8522208" y="5515446"/>
            <a:ext cx="713200" cy="126940"/>
          </a:xfrm>
          <a:prstGeom prst="rect">
            <a:avLst/>
          </a:prstGeom>
          <a:solidFill>
            <a:srgbClr val="C2352F"/>
          </a:solidFill>
          <a:ln/>
        </p:spPr>
      </p:sp>
      <p:sp>
        <p:nvSpPr>
          <p:cNvPr id="108" name="Text 106"/>
          <p:cNvSpPr txBox="1"/>
          <p:nvPr/>
        </p:nvSpPr>
        <p:spPr>
          <a:xfrm>
            <a:off x="10405872" y="5451976"/>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$9,149</a:t>
            </a:r>
            <a:endParaRPr lang="en-US" sz="1300" dirty="0"/>
          </a:p>
        </p:txBody>
      </p:sp>
      <p:sp>
        <p:nvSpPr>
          <p:cNvPr id="109" name="Shape 107"/>
          <p:cNvSpPr/>
          <p:nvPr/>
        </p:nvSpPr>
        <p:spPr>
          <a:xfrm>
            <a:off x="4025958" y="1389888"/>
            <a:ext cx="14630" cy="4315968"/>
          </a:xfrm>
          <a:prstGeom prst="rect">
            <a:avLst/>
          </a:prstGeom>
          <a:solidFill>
            <a:srgbClr val="0B2C4A"/>
          </a:solidFill>
          <a:ln/>
        </p:spPr>
      </p:sp>
      <p:sp>
        <p:nvSpPr>
          <p:cNvPr id="110" name="Shape 108"/>
          <p:cNvSpPr/>
          <p:nvPr/>
        </p:nvSpPr>
        <p:spPr>
          <a:xfrm>
            <a:off x="9576366" y="1389888"/>
            <a:ext cx="14630" cy="4315968"/>
          </a:xfrm>
          <a:prstGeom prst="rect">
            <a:avLst/>
          </a:prstGeom>
          <a:solidFill>
            <a:srgbClr val="0B2C4A"/>
          </a:solidFill>
          <a:ln/>
        </p:spPr>
      </p:sp>
      <p:sp>
        <p:nvSpPr>
          <p:cNvPr id="111" name="Shape 109"/>
          <p:cNvSpPr/>
          <p:nvPr/>
        </p:nvSpPr>
        <p:spPr>
          <a:xfrm>
            <a:off x="457200" y="5961888"/>
            <a:ext cx="11274552" cy="548640"/>
          </a:xfrm>
          <a:prstGeom prst="rect">
            <a:avLst/>
          </a:prstGeom>
          <a:solidFill>
            <a:srgbClr val="EDF4FA"/>
          </a:solidFill>
          <a:ln/>
        </p:spPr>
      </p:sp>
      <p:sp>
        <p:nvSpPr>
          <p:cNvPr id="112" name="Text 110"/>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13 of 33 stores at or above the $13,617 group, led by AUDI HENDERSON at $23,461. HONDA FLAGSTAFF is lowest at $9,149.</a:t>
            </a:r>
            <a:endParaRPr lang="en-US" sz="1600" dirty="0"/>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Fixed Gross per Fixed Employee</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01168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GROUP</a:t>
            </a:r>
            <a:endParaRPr lang="en-US" sz="1500" dirty="0"/>
          </a:p>
        </p:txBody>
      </p:sp>
      <p:sp>
        <p:nvSpPr>
          <p:cNvPr id="9" name="Text 7"/>
          <p:cNvSpPr txBox="1"/>
          <p:nvPr/>
        </p:nvSpPr>
        <p:spPr>
          <a:xfrm>
            <a:off x="2834640" y="1335024"/>
            <a:ext cx="420624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SAME-STORE, 33 STORES</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+$1,207</a:t>
            </a:r>
            <a:endParaRPr lang="en-US" sz="2000" dirty="0"/>
          </a:p>
        </p:txBody>
      </p:sp>
      <p:sp>
        <p:nvSpPr>
          <p:cNvPr id="11" name="Text 9"/>
          <p:cNvSpPr txBox="1"/>
          <p:nvPr/>
        </p:nvSpPr>
        <p:spPr>
          <a:xfrm>
            <a:off x="658368"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12" name="Shape 10"/>
          <p:cNvSpPr/>
          <p:nvPr/>
        </p:nvSpPr>
        <p:spPr>
          <a:xfrm>
            <a:off x="3813048" y="1909246"/>
            <a:ext cx="822960" cy="105898"/>
          </a:xfrm>
          <a:prstGeom prst="rect">
            <a:avLst/>
          </a:prstGeom>
          <a:solidFill>
            <a:srgbClr val="12A566"/>
          </a:solidFill>
          <a:ln/>
        </p:spPr>
      </p:sp>
      <p:sp>
        <p:nvSpPr>
          <p:cNvPr id="13" name="Text 11"/>
          <p:cNvSpPr txBox="1"/>
          <p:nvPr/>
        </p:nvSpPr>
        <p:spPr>
          <a:xfrm>
            <a:off x="4709160"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+$4,158</a:t>
            </a:r>
            <a:endParaRPr lang="en-US" sz="1300" dirty="0"/>
          </a:p>
        </p:txBody>
      </p:sp>
      <p:sp>
        <p:nvSpPr>
          <p:cNvPr id="14" name="Text 12"/>
          <p:cNvSpPr txBox="1"/>
          <p:nvPr/>
        </p:nvSpPr>
        <p:spPr>
          <a:xfrm>
            <a:off x="658368"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5" name="Shape 13"/>
          <p:cNvSpPr/>
          <p:nvPr/>
        </p:nvSpPr>
        <p:spPr>
          <a:xfrm>
            <a:off x="3813048" y="2139459"/>
            <a:ext cx="580415" cy="105898"/>
          </a:xfrm>
          <a:prstGeom prst="rect">
            <a:avLst/>
          </a:prstGeom>
          <a:solidFill>
            <a:srgbClr val="12A566"/>
          </a:solidFill>
          <a:ln/>
        </p:spPr>
      </p:sp>
      <p:sp>
        <p:nvSpPr>
          <p:cNvPr id="16" name="Text 14"/>
          <p:cNvSpPr txBox="1"/>
          <p:nvPr/>
        </p:nvSpPr>
        <p:spPr>
          <a:xfrm>
            <a:off x="4709160"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+$2,933</a:t>
            </a:r>
            <a:endParaRPr lang="en-US" sz="1300" dirty="0"/>
          </a:p>
        </p:txBody>
      </p:sp>
      <p:sp>
        <p:nvSpPr>
          <p:cNvPr id="17" name="Text 15"/>
          <p:cNvSpPr txBox="1"/>
          <p:nvPr/>
        </p:nvSpPr>
        <p:spPr>
          <a:xfrm>
            <a:off x="658368"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18" name="Shape 16"/>
          <p:cNvSpPr/>
          <p:nvPr/>
        </p:nvSpPr>
        <p:spPr>
          <a:xfrm>
            <a:off x="3813048" y="2369673"/>
            <a:ext cx="503640" cy="105898"/>
          </a:xfrm>
          <a:prstGeom prst="rect">
            <a:avLst/>
          </a:prstGeom>
          <a:solidFill>
            <a:srgbClr val="12A566"/>
          </a:solidFill>
          <a:ln/>
        </p:spPr>
      </p:sp>
      <p:sp>
        <p:nvSpPr>
          <p:cNvPr id="19" name="Text 17"/>
          <p:cNvSpPr txBox="1"/>
          <p:nvPr/>
        </p:nvSpPr>
        <p:spPr>
          <a:xfrm>
            <a:off x="4709160"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+$2,545</a:t>
            </a:r>
            <a:endParaRPr lang="en-US" sz="1300" dirty="0"/>
          </a:p>
        </p:txBody>
      </p:sp>
      <p:sp>
        <p:nvSpPr>
          <p:cNvPr id="20" name="Text 18"/>
          <p:cNvSpPr txBox="1"/>
          <p:nvPr/>
        </p:nvSpPr>
        <p:spPr>
          <a:xfrm>
            <a:off x="658368"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21" name="Shape 19"/>
          <p:cNvSpPr/>
          <p:nvPr/>
        </p:nvSpPr>
        <p:spPr>
          <a:xfrm>
            <a:off x="3813048" y="2599887"/>
            <a:ext cx="476707" cy="105898"/>
          </a:xfrm>
          <a:prstGeom prst="rect">
            <a:avLst/>
          </a:prstGeom>
          <a:solidFill>
            <a:srgbClr val="12A566"/>
          </a:solidFill>
          <a:ln/>
        </p:spPr>
      </p:sp>
      <p:sp>
        <p:nvSpPr>
          <p:cNvPr id="22" name="Text 20"/>
          <p:cNvSpPr txBox="1"/>
          <p:nvPr/>
        </p:nvSpPr>
        <p:spPr>
          <a:xfrm>
            <a:off x="4709160"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+$2,409</a:t>
            </a:r>
            <a:endParaRPr lang="en-US" sz="1300" dirty="0"/>
          </a:p>
        </p:txBody>
      </p:sp>
      <p:sp>
        <p:nvSpPr>
          <p:cNvPr id="23" name="Text 21"/>
          <p:cNvSpPr txBox="1"/>
          <p:nvPr/>
        </p:nvSpPr>
        <p:spPr>
          <a:xfrm>
            <a:off x="658368"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24" name="Shape 22"/>
          <p:cNvSpPr/>
          <p:nvPr/>
        </p:nvSpPr>
        <p:spPr>
          <a:xfrm>
            <a:off x="3813048" y="2830100"/>
            <a:ext cx="466821" cy="105898"/>
          </a:xfrm>
          <a:prstGeom prst="rect">
            <a:avLst/>
          </a:prstGeom>
          <a:solidFill>
            <a:srgbClr val="12A566"/>
          </a:solidFill>
          <a:ln/>
        </p:spPr>
      </p:sp>
      <p:sp>
        <p:nvSpPr>
          <p:cNvPr id="25" name="Text 23"/>
          <p:cNvSpPr txBox="1"/>
          <p:nvPr/>
        </p:nvSpPr>
        <p:spPr>
          <a:xfrm>
            <a:off x="4709160"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+$2,359</a:t>
            </a:r>
            <a:endParaRPr lang="en-US" sz="1300" dirty="0"/>
          </a:p>
        </p:txBody>
      </p:sp>
      <p:sp>
        <p:nvSpPr>
          <p:cNvPr id="26" name="Text 24"/>
          <p:cNvSpPr txBox="1"/>
          <p:nvPr/>
        </p:nvSpPr>
        <p:spPr>
          <a:xfrm>
            <a:off x="658368"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27" name="Shape 25"/>
          <p:cNvSpPr/>
          <p:nvPr/>
        </p:nvSpPr>
        <p:spPr>
          <a:xfrm>
            <a:off x="3813048" y="3060314"/>
            <a:ext cx="452685" cy="105898"/>
          </a:xfrm>
          <a:prstGeom prst="rect">
            <a:avLst/>
          </a:prstGeom>
          <a:solidFill>
            <a:srgbClr val="12A566"/>
          </a:solidFill>
          <a:ln/>
        </p:spPr>
      </p:sp>
      <p:sp>
        <p:nvSpPr>
          <p:cNvPr id="28" name="Text 26"/>
          <p:cNvSpPr txBox="1"/>
          <p:nvPr/>
        </p:nvSpPr>
        <p:spPr>
          <a:xfrm>
            <a:off x="4709160"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+$2,287</a:t>
            </a:r>
            <a:endParaRPr lang="en-US" sz="1300" dirty="0"/>
          </a:p>
        </p:txBody>
      </p:sp>
      <p:sp>
        <p:nvSpPr>
          <p:cNvPr id="29" name="Text 27"/>
          <p:cNvSpPr txBox="1"/>
          <p:nvPr/>
        </p:nvSpPr>
        <p:spPr>
          <a:xfrm>
            <a:off x="658368"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30" name="Shape 28"/>
          <p:cNvSpPr/>
          <p:nvPr/>
        </p:nvSpPr>
        <p:spPr>
          <a:xfrm>
            <a:off x="3813048" y="3290528"/>
            <a:ext cx="413958" cy="105898"/>
          </a:xfrm>
          <a:prstGeom prst="rect">
            <a:avLst/>
          </a:prstGeom>
          <a:solidFill>
            <a:srgbClr val="12A566"/>
          </a:solidFill>
          <a:ln/>
        </p:spPr>
      </p:sp>
      <p:sp>
        <p:nvSpPr>
          <p:cNvPr id="31" name="Text 29"/>
          <p:cNvSpPr txBox="1"/>
          <p:nvPr/>
        </p:nvSpPr>
        <p:spPr>
          <a:xfrm>
            <a:off x="4709160" y="3228370"/>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+$2,092</a:t>
            </a:r>
            <a:endParaRPr lang="en-US" sz="1300" dirty="0"/>
          </a:p>
        </p:txBody>
      </p:sp>
      <p:sp>
        <p:nvSpPr>
          <p:cNvPr id="32" name="Text 30"/>
          <p:cNvSpPr txBox="1"/>
          <p:nvPr/>
        </p:nvSpPr>
        <p:spPr>
          <a:xfrm>
            <a:off x="658368"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33" name="Shape 31"/>
          <p:cNvSpPr/>
          <p:nvPr/>
        </p:nvSpPr>
        <p:spPr>
          <a:xfrm>
            <a:off x="3813048" y="3520741"/>
            <a:ext cx="350336" cy="105898"/>
          </a:xfrm>
          <a:prstGeom prst="rect">
            <a:avLst/>
          </a:prstGeom>
          <a:solidFill>
            <a:srgbClr val="12A566"/>
          </a:solidFill>
          <a:ln/>
        </p:spPr>
      </p:sp>
      <p:sp>
        <p:nvSpPr>
          <p:cNvPr id="34" name="Text 32"/>
          <p:cNvSpPr txBox="1"/>
          <p:nvPr/>
        </p:nvSpPr>
        <p:spPr>
          <a:xfrm>
            <a:off x="4709160" y="345858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+$1,770</a:t>
            </a:r>
            <a:endParaRPr lang="en-US" sz="1300" dirty="0"/>
          </a:p>
        </p:txBody>
      </p:sp>
      <p:sp>
        <p:nvSpPr>
          <p:cNvPr id="35" name="Text 33"/>
          <p:cNvSpPr txBox="1"/>
          <p:nvPr/>
        </p:nvSpPr>
        <p:spPr>
          <a:xfrm>
            <a:off x="658368"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36" name="Shape 34"/>
          <p:cNvSpPr/>
          <p:nvPr/>
        </p:nvSpPr>
        <p:spPr>
          <a:xfrm>
            <a:off x="3813048" y="3750955"/>
            <a:ext cx="338242" cy="105898"/>
          </a:xfrm>
          <a:prstGeom prst="rect">
            <a:avLst/>
          </a:prstGeom>
          <a:solidFill>
            <a:srgbClr val="12A566"/>
          </a:solidFill>
          <a:ln/>
        </p:spPr>
      </p:sp>
      <p:sp>
        <p:nvSpPr>
          <p:cNvPr id="37" name="Text 35"/>
          <p:cNvSpPr txBox="1"/>
          <p:nvPr/>
        </p:nvSpPr>
        <p:spPr>
          <a:xfrm>
            <a:off x="4709160" y="3688797"/>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+$1,709</a:t>
            </a:r>
            <a:endParaRPr lang="en-US" sz="1300" dirty="0"/>
          </a:p>
        </p:txBody>
      </p:sp>
      <p:sp>
        <p:nvSpPr>
          <p:cNvPr id="38" name="Text 36"/>
          <p:cNvSpPr txBox="1"/>
          <p:nvPr/>
        </p:nvSpPr>
        <p:spPr>
          <a:xfrm>
            <a:off x="658368"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39" name="Shape 37"/>
          <p:cNvSpPr/>
          <p:nvPr/>
        </p:nvSpPr>
        <p:spPr>
          <a:xfrm>
            <a:off x="3813048" y="3981169"/>
            <a:ext cx="325887" cy="105898"/>
          </a:xfrm>
          <a:prstGeom prst="rect">
            <a:avLst/>
          </a:prstGeom>
          <a:solidFill>
            <a:srgbClr val="12A566"/>
          </a:solidFill>
          <a:ln/>
        </p:spPr>
      </p:sp>
      <p:sp>
        <p:nvSpPr>
          <p:cNvPr id="40" name="Text 38"/>
          <p:cNvSpPr txBox="1"/>
          <p:nvPr/>
        </p:nvSpPr>
        <p:spPr>
          <a:xfrm>
            <a:off x="4709160" y="3919011"/>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+$1,647</a:t>
            </a:r>
            <a:endParaRPr lang="en-US" sz="1300" dirty="0"/>
          </a:p>
        </p:txBody>
      </p:sp>
      <p:sp>
        <p:nvSpPr>
          <p:cNvPr id="41" name="Text 39"/>
          <p:cNvSpPr txBox="1"/>
          <p:nvPr/>
        </p:nvSpPr>
        <p:spPr>
          <a:xfrm>
            <a:off x="658368"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42" name="Shape 40"/>
          <p:cNvSpPr/>
          <p:nvPr/>
        </p:nvSpPr>
        <p:spPr>
          <a:xfrm>
            <a:off x="3813048" y="4211382"/>
            <a:ext cx="317271" cy="105898"/>
          </a:xfrm>
          <a:prstGeom prst="rect">
            <a:avLst/>
          </a:prstGeom>
          <a:solidFill>
            <a:srgbClr val="12A566"/>
          </a:solidFill>
          <a:ln/>
        </p:spPr>
      </p:sp>
      <p:sp>
        <p:nvSpPr>
          <p:cNvPr id="43" name="Text 41"/>
          <p:cNvSpPr txBox="1"/>
          <p:nvPr/>
        </p:nvSpPr>
        <p:spPr>
          <a:xfrm>
            <a:off x="4709160" y="414922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+$1,603</a:t>
            </a:r>
            <a:endParaRPr lang="en-US" sz="1300" dirty="0"/>
          </a:p>
        </p:txBody>
      </p:sp>
      <p:sp>
        <p:nvSpPr>
          <p:cNvPr id="44" name="Text 42"/>
          <p:cNvSpPr txBox="1"/>
          <p:nvPr/>
        </p:nvSpPr>
        <p:spPr>
          <a:xfrm>
            <a:off x="658368"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45" name="Shape 43"/>
          <p:cNvSpPr/>
          <p:nvPr/>
        </p:nvSpPr>
        <p:spPr>
          <a:xfrm>
            <a:off x="3813048" y="4441596"/>
            <a:ext cx="293240" cy="105898"/>
          </a:xfrm>
          <a:prstGeom prst="rect">
            <a:avLst/>
          </a:prstGeom>
          <a:solidFill>
            <a:srgbClr val="12A566"/>
          </a:solidFill>
          <a:ln/>
        </p:spPr>
      </p:sp>
      <p:sp>
        <p:nvSpPr>
          <p:cNvPr id="46" name="Text 44"/>
          <p:cNvSpPr txBox="1"/>
          <p:nvPr/>
        </p:nvSpPr>
        <p:spPr>
          <a:xfrm>
            <a:off x="4709160" y="437943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+$1,482</a:t>
            </a:r>
            <a:endParaRPr lang="en-US" sz="1300" dirty="0"/>
          </a:p>
        </p:txBody>
      </p:sp>
      <p:sp>
        <p:nvSpPr>
          <p:cNvPr id="47" name="Text 45"/>
          <p:cNvSpPr txBox="1"/>
          <p:nvPr/>
        </p:nvSpPr>
        <p:spPr>
          <a:xfrm>
            <a:off x="658368"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48" name="Shape 46"/>
          <p:cNvSpPr/>
          <p:nvPr/>
        </p:nvSpPr>
        <p:spPr>
          <a:xfrm>
            <a:off x="3813048" y="4671809"/>
            <a:ext cx="291137" cy="105898"/>
          </a:xfrm>
          <a:prstGeom prst="rect">
            <a:avLst/>
          </a:prstGeom>
          <a:solidFill>
            <a:srgbClr val="12A566"/>
          </a:solidFill>
          <a:ln/>
        </p:spPr>
      </p:sp>
      <p:sp>
        <p:nvSpPr>
          <p:cNvPr id="49" name="Text 47"/>
          <p:cNvSpPr txBox="1"/>
          <p:nvPr/>
        </p:nvSpPr>
        <p:spPr>
          <a:xfrm>
            <a:off x="4709160" y="460965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+$1,471</a:t>
            </a:r>
            <a:endParaRPr lang="en-US" sz="1300" dirty="0"/>
          </a:p>
        </p:txBody>
      </p:sp>
      <p:sp>
        <p:nvSpPr>
          <p:cNvPr id="50" name="Text 48"/>
          <p:cNvSpPr txBox="1"/>
          <p:nvPr/>
        </p:nvSpPr>
        <p:spPr>
          <a:xfrm>
            <a:off x="658368"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51" name="Shape 49"/>
          <p:cNvSpPr/>
          <p:nvPr/>
        </p:nvSpPr>
        <p:spPr>
          <a:xfrm>
            <a:off x="3813048" y="4902023"/>
            <a:ext cx="250227" cy="105898"/>
          </a:xfrm>
          <a:prstGeom prst="rect">
            <a:avLst/>
          </a:prstGeom>
          <a:solidFill>
            <a:srgbClr val="12A566"/>
          </a:solidFill>
          <a:ln/>
        </p:spPr>
      </p:sp>
      <p:sp>
        <p:nvSpPr>
          <p:cNvPr id="52" name="Text 50"/>
          <p:cNvSpPr txBox="1"/>
          <p:nvPr/>
        </p:nvSpPr>
        <p:spPr>
          <a:xfrm>
            <a:off x="4709160" y="483986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+$1,264</a:t>
            </a:r>
            <a:endParaRPr lang="en-US" sz="1300" dirty="0"/>
          </a:p>
        </p:txBody>
      </p:sp>
      <p:sp>
        <p:nvSpPr>
          <p:cNvPr id="53" name="Text 51"/>
          <p:cNvSpPr txBox="1"/>
          <p:nvPr/>
        </p:nvSpPr>
        <p:spPr>
          <a:xfrm>
            <a:off x="658368"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54" name="Shape 52"/>
          <p:cNvSpPr/>
          <p:nvPr/>
        </p:nvSpPr>
        <p:spPr>
          <a:xfrm>
            <a:off x="3813048" y="5132237"/>
            <a:ext cx="233179" cy="105898"/>
          </a:xfrm>
          <a:prstGeom prst="rect">
            <a:avLst/>
          </a:prstGeom>
          <a:solidFill>
            <a:srgbClr val="12A566"/>
          </a:solidFill>
          <a:ln/>
        </p:spPr>
      </p:sp>
      <p:sp>
        <p:nvSpPr>
          <p:cNvPr id="55" name="Text 53"/>
          <p:cNvSpPr txBox="1"/>
          <p:nvPr/>
        </p:nvSpPr>
        <p:spPr>
          <a:xfrm>
            <a:off x="4709160" y="507007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+$1,178</a:t>
            </a:r>
            <a:endParaRPr lang="en-US" sz="1300" dirty="0"/>
          </a:p>
        </p:txBody>
      </p:sp>
      <p:sp>
        <p:nvSpPr>
          <p:cNvPr id="56" name="Text 54"/>
          <p:cNvSpPr txBox="1"/>
          <p:nvPr/>
        </p:nvSpPr>
        <p:spPr>
          <a:xfrm>
            <a:off x="658368"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57" name="Shape 55"/>
          <p:cNvSpPr/>
          <p:nvPr/>
        </p:nvSpPr>
        <p:spPr>
          <a:xfrm>
            <a:off x="3813048" y="5362450"/>
            <a:ext cx="218007" cy="105898"/>
          </a:xfrm>
          <a:prstGeom prst="rect">
            <a:avLst/>
          </a:prstGeom>
          <a:solidFill>
            <a:srgbClr val="12A566"/>
          </a:solidFill>
          <a:ln/>
        </p:spPr>
      </p:sp>
      <p:sp>
        <p:nvSpPr>
          <p:cNvPr id="58" name="Text 56"/>
          <p:cNvSpPr txBox="1"/>
          <p:nvPr/>
        </p:nvSpPr>
        <p:spPr>
          <a:xfrm>
            <a:off x="4709160" y="530029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+$1,101</a:t>
            </a:r>
            <a:endParaRPr lang="en-US" sz="1300" dirty="0"/>
          </a:p>
        </p:txBody>
      </p:sp>
      <p:sp>
        <p:nvSpPr>
          <p:cNvPr id="59" name="Text 57"/>
          <p:cNvSpPr txBox="1"/>
          <p:nvPr/>
        </p:nvSpPr>
        <p:spPr>
          <a:xfrm>
            <a:off x="658368" y="553050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60" name="Shape 58"/>
          <p:cNvSpPr/>
          <p:nvPr/>
        </p:nvSpPr>
        <p:spPr>
          <a:xfrm>
            <a:off x="3813048" y="5592664"/>
            <a:ext cx="213868" cy="105898"/>
          </a:xfrm>
          <a:prstGeom prst="rect">
            <a:avLst/>
          </a:prstGeom>
          <a:solidFill>
            <a:srgbClr val="12A566"/>
          </a:solidFill>
          <a:ln/>
        </p:spPr>
      </p:sp>
      <p:sp>
        <p:nvSpPr>
          <p:cNvPr id="61" name="Text 59"/>
          <p:cNvSpPr txBox="1"/>
          <p:nvPr/>
        </p:nvSpPr>
        <p:spPr>
          <a:xfrm>
            <a:off x="4709160" y="553050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+$1,081</a:t>
            </a:r>
            <a:endParaRPr lang="en-US" sz="1300" dirty="0"/>
          </a:p>
        </p:txBody>
      </p:sp>
      <p:sp>
        <p:nvSpPr>
          <p:cNvPr id="62" name="Text 60"/>
          <p:cNvSpPr txBox="1"/>
          <p:nvPr/>
        </p:nvSpPr>
        <p:spPr>
          <a:xfrm>
            <a:off x="6208776"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63" name="Shape 61"/>
          <p:cNvSpPr/>
          <p:nvPr/>
        </p:nvSpPr>
        <p:spPr>
          <a:xfrm>
            <a:off x="9363456" y="1909246"/>
            <a:ext cx="209204" cy="105898"/>
          </a:xfrm>
          <a:prstGeom prst="rect">
            <a:avLst/>
          </a:prstGeom>
          <a:solidFill>
            <a:srgbClr val="12A566"/>
          </a:solidFill>
          <a:ln/>
        </p:spPr>
      </p:sp>
      <p:sp>
        <p:nvSpPr>
          <p:cNvPr id="64" name="Text 62"/>
          <p:cNvSpPr txBox="1"/>
          <p:nvPr/>
        </p:nvSpPr>
        <p:spPr>
          <a:xfrm>
            <a:off x="10259568"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+$1,057</a:t>
            </a:r>
            <a:endParaRPr lang="en-US" sz="1300" dirty="0"/>
          </a:p>
        </p:txBody>
      </p:sp>
      <p:sp>
        <p:nvSpPr>
          <p:cNvPr id="65" name="Text 63"/>
          <p:cNvSpPr txBox="1"/>
          <p:nvPr/>
        </p:nvSpPr>
        <p:spPr>
          <a:xfrm>
            <a:off x="6208776"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66" name="Shape 64"/>
          <p:cNvSpPr/>
          <p:nvPr/>
        </p:nvSpPr>
        <p:spPr>
          <a:xfrm>
            <a:off x="9363456" y="2139459"/>
            <a:ext cx="195292" cy="105898"/>
          </a:xfrm>
          <a:prstGeom prst="rect">
            <a:avLst/>
          </a:prstGeom>
          <a:solidFill>
            <a:srgbClr val="12A566"/>
          </a:solidFill>
          <a:ln/>
        </p:spPr>
      </p:sp>
      <p:sp>
        <p:nvSpPr>
          <p:cNvPr id="67" name="Text 65"/>
          <p:cNvSpPr txBox="1"/>
          <p:nvPr/>
        </p:nvSpPr>
        <p:spPr>
          <a:xfrm>
            <a:off x="10259568"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+$987</a:t>
            </a:r>
            <a:endParaRPr lang="en-US" sz="1300" dirty="0"/>
          </a:p>
        </p:txBody>
      </p:sp>
      <p:sp>
        <p:nvSpPr>
          <p:cNvPr id="68" name="Text 66"/>
          <p:cNvSpPr txBox="1"/>
          <p:nvPr/>
        </p:nvSpPr>
        <p:spPr>
          <a:xfrm>
            <a:off x="6208776"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69" name="Shape 67"/>
          <p:cNvSpPr/>
          <p:nvPr/>
        </p:nvSpPr>
        <p:spPr>
          <a:xfrm>
            <a:off x="9363456" y="2369673"/>
            <a:ext cx="183599" cy="105898"/>
          </a:xfrm>
          <a:prstGeom prst="rect">
            <a:avLst/>
          </a:prstGeom>
          <a:solidFill>
            <a:srgbClr val="12A566"/>
          </a:solidFill>
          <a:ln/>
        </p:spPr>
      </p:sp>
      <p:sp>
        <p:nvSpPr>
          <p:cNvPr id="70" name="Text 68"/>
          <p:cNvSpPr txBox="1"/>
          <p:nvPr/>
        </p:nvSpPr>
        <p:spPr>
          <a:xfrm>
            <a:off x="10259568"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+$928</a:t>
            </a:r>
            <a:endParaRPr lang="en-US" sz="1300" dirty="0"/>
          </a:p>
        </p:txBody>
      </p:sp>
      <p:sp>
        <p:nvSpPr>
          <p:cNvPr id="71" name="Text 69"/>
          <p:cNvSpPr txBox="1"/>
          <p:nvPr/>
        </p:nvSpPr>
        <p:spPr>
          <a:xfrm>
            <a:off x="6208776"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72" name="Shape 70"/>
          <p:cNvSpPr/>
          <p:nvPr/>
        </p:nvSpPr>
        <p:spPr>
          <a:xfrm>
            <a:off x="9363456" y="2599887"/>
            <a:ext cx="183173" cy="105898"/>
          </a:xfrm>
          <a:prstGeom prst="rect">
            <a:avLst/>
          </a:prstGeom>
          <a:solidFill>
            <a:srgbClr val="12A566"/>
          </a:solidFill>
          <a:ln/>
        </p:spPr>
      </p:sp>
      <p:sp>
        <p:nvSpPr>
          <p:cNvPr id="73" name="Text 71"/>
          <p:cNvSpPr txBox="1"/>
          <p:nvPr/>
        </p:nvSpPr>
        <p:spPr>
          <a:xfrm>
            <a:off x="10259568"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+$925</a:t>
            </a:r>
            <a:endParaRPr lang="en-US" sz="1300" dirty="0"/>
          </a:p>
        </p:txBody>
      </p:sp>
      <p:sp>
        <p:nvSpPr>
          <p:cNvPr id="74" name="Text 72"/>
          <p:cNvSpPr txBox="1"/>
          <p:nvPr/>
        </p:nvSpPr>
        <p:spPr>
          <a:xfrm>
            <a:off x="6208776"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75" name="Shape 73"/>
          <p:cNvSpPr/>
          <p:nvPr/>
        </p:nvSpPr>
        <p:spPr>
          <a:xfrm>
            <a:off x="9363456" y="2830100"/>
            <a:ext cx="182316" cy="105898"/>
          </a:xfrm>
          <a:prstGeom prst="rect">
            <a:avLst/>
          </a:prstGeom>
          <a:solidFill>
            <a:srgbClr val="12A566"/>
          </a:solidFill>
          <a:ln/>
        </p:spPr>
      </p:sp>
      <p:sp>
        <p:nvSpPr>
          <p:cNvPr id="76" name="Text 74"/>
          <p:cNvSpPr txBox="1"/>
          <p:nvPr/>
        </p:nvSpPr>
        <p:spPr>
          <a:xfrm>
            <a:off x="10259568"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+$921</a:t>
            </a:r>
            <a:endParaRPr lang="en-US" sz="1300" dirty="0"/>
          </a:p>
        </p:txBody>
      </p:sp>
      <p:sp>
        <p:nvSpPr>
          <p:cNvPr id="77" name="Text 75"/>
          <p:cNvSpPr txBox="1"/>
          <p:nvPr/>
        </p:nvSpPr>
        <p:spPr>
          <a:xfrm>
            <a:off x="6208776"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78" name="Shape 76"/>
          <p:cNvSpPr/>
          <p:nvPr/>
        </p:nvSpPr>
        <p:spPr>
          <a:xfrm>
            <a:off x="9363456" y="3060314"/>
            <a:ext cx="174295" cy="105898"/>
          </a:xfrm>
          <a:prstGeom prst="rect">
            <a:avLst/>
          </a:prstGeom>
          <a:solidFill>
            <a:srgbClr val="12A566"/>
          </a:solidFill>
          <a:ln/>
        </p:spPr>
      </p:sp>
      <p:sp>
        <p:nvSpPr>
          <p:cNvPr id="79" name="Text 77"/>
          <p:cNvSpPr txBox="1"/>
          <p:nvPr/>
        </p:nvSpPr>
        <p:spPr>
          <a:xfrm>
            <a:off x="10259568"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+$881</a:t>
            </a:r>
            <a:endParaRPr lang="en-US" sz="1300" dirty="0"/>
          </a:p>
        </p:txBody>
      </p:sp>
      <p:sp>
        <p:nvSpPr>
          <p:cNvPr id="80" name="Text 78"/>
          <p:cNvSpPr txBox="1"/>
          <p:nvPr/>
        </p:nvSpPr>
        <p:spPr>
          <a:xfrm>
            <a:off x="6208776"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81" name="Shape 79"/>
          <p:cNvSpPr/>
          <p:nvPr/>
        </p:nvSpPr>
        <p:spPr>
          <a:xfrm>
            <a:off x="9363456" y="3290528"/>
            <a:ext cx="144173" cy="105898"/>
          </a:xfrm>
          <a:prstGeom prst="rect">
            <a:avLst/>
          </a:prstGeom>
          <a:solidFill>
            <a:srgbClr val="12A566"/>
          </a:solidFill>
          <a:ln/>
        </p:spPr>
      </p:sp>
      <p:sp>
        <p:nvSpPr>
          <p:cNvPr id="82" name="Text 80"/>
          <p:cNvSpPr txBox="1"/>
          <p:nvPr/>
        </p:nvSpPr>
        <p:spPr>
          <a:xfrm>
            <a:off x="10259568" y="3228370"/>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+$728</a:t>
            </a:r>
            <a:endParaRPr lang="en-US" sz="1300" dirty="0"/>
          </a:p>
        </p:txBody>
      </p:sp>
      <p:sp>
        <p:nvSpPr>
          <p:cNvPr id="83" name="Text 81"/>
          <p:cNvSpPr txBox="1"/>
          <p:nvPr/>
        </p:nvSpPr>
        <p:spPr>
          <a:xfrm>
            <a:off x="6208776"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84" name="Shape 82"/>
          <p:cNvSpPr/>
          <p:nvPr/>
        </p:nvSpPr>
        <p:spPr>
          <a:xfrm>
            <a:off x="9363456" y="3520741"/>
            <a:ext cx="134048" cy="105898"/>
          </a:xfrm>
          <a:prstGeom prst="rect">
            <a:avLst/>
          </a:prstGeom>
          <a:solidFill>
            <a:srgbClr val="12A566"/>
          </a:solidFill>
          <a:ln/>
        </p:spPr>
      </p:sp>
      <p:sp>
        <p:nvSpPr>
          <p:cNvPr id="85" name="Text 83"/>
          <p:cNvSpPr txBox="1"/>
          <p:nvPr/>
        </p:nvSpPr>
        <p:spPr>
          <a:xfrm>
            <a:off x="10259568" y="345858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+$677</a:t>
            </a:r>
            <a:endParaRPr lang="en-US" sz="1300" dirty="0"/>
          </a:p>
        </p:txBody>
      </p:sp>
      <p:sp>
        <p:nvSpPr>
          <p:cNvPr id="86" name="Text 84"/>
          <p:cNvSpPr txBox="1"/>
          <p:nvPr/>
        </p:nvSpPr>
        <p:spPr>
          <a:xfrm>
            <a:off x="6208776"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87" name="Shape 85"/>
          <p:cNvSpPr/>
          <p:nvPr/>
        </p:nvSpPr>
        <p:spPr>
          <a:xfrm>
            <a:off x="9363456" y="3750955"/>
            <a:ext cx="82896" cy="105898"/>
          </a:xfrm>
          <a:prstGeom prst="rect">
            <a:avLst/>
          </a:prstGeom>
          <a:solidFill>
            <a:srgbClr val="12A566"/>
          </a:solidFill>
          <a:ln/>
        </p:spPr>
      </p:sp>
      <p:sp>
        <p:nvSpPr>
          <p:cNvPr id="88" name="Text 86"/>
          <p:cNvSpPr txBox="1"/>
          <p:nvPr/>
        </p:nvSpPr>
        <p:spPr>
          <a:xfrm>
            <a:off x="10259568" y="3688797"/>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+$419</a:t>
            </a:r>
            <a:endParaRPr lang="en-US" sz="1300" dirty="0"/>
          </a:p>
        </p:txBody>
      </p:sp>
      <p:sp>
        <p:nvSpPr>
          <p:cNvPr id="89" name="Text 87"/>
          <p:cNvSpPr txBox="1"/>
          <p:nvPr/>
        </p:nvSpPr>
        <p:spPr>
          <a:xfrm>
            <a:off x="6208776"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90" name="Shape 88"/>
          <p:cNvSpPr/>
          <p:nvPr/>
        </p:nvSpPr>
        <p:spPr>
          <a:xfrm>
            <a:off x="9363456" y="3981169"/>
            <a:ext cx="36231" cy="105898"/>
          </a:xfrm>
          <a:prstGeom prst="rect">
            <a:avLst/>
          </a:prstGeom>
          <a:solidFill>
            <a:srgbClr val="12A566"/>
          </a:solidFill>
          <a:ln/>
        </p:spPr>
      </p:sp>
      <p:sp>
        <p:nvSpPr>
          <p:cNvPr id="91" name="Text 89"/>
          <p:cNvSpPr txBox="1"/>
          <p:nvPr/>
        </p:nvSpPr>
        <p:spPr>
          <a:xfrm>
            <a:off x="10259568" y="3919011"/>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+$183</a:t>
            </a:r>
            <a:endParaRPr lang="en-US" sz="1300" dirty="0"/>
          </a:p>
        </p:txBody>
      </p:sp>
      <p:sp>
        <p:nvSpPr>
          <p:cNvPr id="92" name="Text 90"/>
          <p:cNvSpPr txBox="1"/>
          <p:nvPr/>
        </p:nvSpPr>
        <p:spPr>
          <a:xfrm>
            <a:off x="6208776"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93" name="Shape 91"/>
          <p:cNvSpPr/>
          <p:nvPr/>
        </p:nvSpPr>
        <p:spPr>
          <a:xfrm>
            <a:off x="9361199" y="4211382"/>
            <a:ext cx="12802" cy="105898"/>
          </a:xfrm>
          <a:prstGeom prst="rect">
            <a:avLst/>
          </a:prstGeom>
          <a:solidFill>
            <a:srgbClr val="C2352F"/>
          </a:solidFill>
          <a:ln/>
        </p:spPr>
      </p:sp>
      <p:sp>
        <p:nvSpPr>
          <p:cNvPr id="94" name="Text 92"/>
          <p:cNvSpPr txBox="1"/>
          <p:nvPr/>
        </p:nvSpPr>
        <p:spPr>
          <a:xfrm>
            <a:off x="10259568" y="414922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a:t>
            </a:r>
            <a:endParaRPr lang="en-US" sz="1300" dirty="0"/>
          </a:p>
        </p:txBody>
      </p:sp>
      <p:sp>
        <p:nvSpPr>
          <p:cNvPr id="95" name="Text 93"/>
          <p:cNvSpPr txBox="1"/>
          <p:nvPr/>
        </p:nvSpPr>
        <p:spPr>
          <a:xfrm>
            <a:off x="6208776"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96" name="Shape 94"/>
          <p:cNvSpPr/>
          <p:nvPr/>
        </p:nvSpPr>
        <p:spPr>
          <a:xfrm>
            <a:off x="9339416" y="4441596"/>
            <a:ext cx="24040" cy="105898"/>
          </a:xfrm>
          <a:prstGeom prst="rect">
            <a:avLst/>
          </a:prstGeom>
          <a:solidFill>
            <a:srgbClr val="C2352F"/>
          </a:solidFill>
          <a:ln/>
        </p:spPr>
      </p:sp>
      <p:sp>
        <p:nvSpPr>
          <p:cNvPr id="97" name="Text 95"/>
          <p:cNvSpPr txBox="1"/>
          <p:nvPr/>
        </p:nvSpPr>
        <p:spPr>
          <a:xfrm>
            <a:off x="10259568" y="4379438"/>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−$121</a:t>
            </a:r>
            <a:endParaRPr lang="en-US" sz="1300" dirty="0"/>
          </a:p>
        </p:txBody>
      </p:sp>
      <p:sp>
        <p:nvSpPr>
          <p:cNvPr id="98" name="Text 96"/>
          <p:cNvSpPr txBox="1"/>
          <p:nvPr/>
        </p:nvSpPr>
        <p:spPr>
          <a:xfrm>
            <a:off x="6208776"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99" name="Shape 97"/>
          <p:cNvSpPr/>
          <p:nvPr/>
        </p:nvSpPr>
        <p:spPr>
          <a:xfrm>
            <a:off x="9281579" y="4671809"/>
            <a:ext cx="81877" cy="105898"/>
          </a:xfrm>
          <a:prstGeom prst="rect">
            <a:avLst/>
          </a:prstGeom>
          <a:solidFill>
            <a:srgbClr val="C2352F"/>
          </a:solidFill>
          <a:ln/>
        </p:spPr>
      </p:sp>
      <p:sp>
        <p:nvSpPr>
          <p:cNvPr id="100" name="Text 98"/>
          <p:cNvSpPr txBox="1"/>
          <p:nvPr/>
        </p:nvSpPr>
        <p:spPr>
          <a:xfrm>
            <a:off x="10259568" y="4609652"/>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−$414</a:t>
            </a:r>
            <a:endParaRPr lang="en-US" sz="1300" dirty="0"/>
          </a:p>
        </p:txBody>
      </p:sp>
      <p:sp>
        <p:nvSpPr>
          <p:cNvPr id="101" name="Text 99"/>
          <p:cNvSpPr txBox="1"/>
          <p:nvPr/>
        </p:nvSpPr>
        <p:spPr>
          <a:xfrm>
            <a:off x="6208776"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102" name="Shape 100"/>
          <p:cNvSpPr/>
          <p:nvPr/>
        </p:nvSpPr>
        <p:spPr>
          <a:xfrm>
            <a:off x="9263503" y="4902023"/>
            <a:ext cx="99953" cy="105898"/>
          </a:xfrm>
          <a:prstGeom prst="rect">
            <a:avLst/>
          </a:prstGeom>
          <a:solidFill>
            <a:srgbClr val="C2352F"/>
          </a:solidFill>
          <a:ln/>
        </p:spPr>
      </p:sp>
      <p:sp>
        <p:nvSpPr>
          <p:cNvPr id="103" name="Text 101"/>
          <p:cNvSpPr txBox="1"/>
          <p:nvPr/>
        </p:nvSpPr>
        <p:spPr>
          <a:xfrm>
            <a:off x="10259568" y="4839865"/>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−$505</a:t>
            </a:r>
            <a:endParaRPr lang="en-US" sz="1300" dirty="0"/>
          </a:p>
        </p:txBody>
      </p:sp>
      <p:sp>
        <p:nvSpPr>
          <p:cNvPr id="104" name="Text 102"/>
          <p:cNvSpPr txBox="1"/>
          <p:nvPr/>
        </p:nvSpPr>
        <p:spPr>
          <a:xfrm>
            <a:off x="6208776"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105" name="Shape 103"/>
          <p:cNvSpPr/>
          <p:nvPr/>
        </p:nvSpPr>
        <p:spPr>
          <a:xfrm>
            <a:off x="9119966" y="5132237"/>
            <a:ext cx="243490" cy="105898"/>
          </a:xfrm>
          <a:prstGeom prst="rect">
            <a:avLst/>
          </a:prstGeom>
          <a:solidFill>
            <a:srgbClr val="C2352F"/>
          </a:solidFill>
          <a:ln/>
        </p:spPr>
      </p:sp>
      <p:sp>
        <p:nvSpPr>
          <p:cNvPr id="106" name="Text 104"/>
          <p:cNvSpPr txBox="1"/>
          <p:nvPr/>
        </p:nvSpPr>
        <p:spPr>
          <a:xfrm>
            <a:off x="10259568" y="5070079"/>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−$1,230</a:t>
            </a:r>
            <a:endParaRPr lang="en-US" sz="1300" dirty="0"/>
          </a:p>
        </p:txBody>
      </p:sp>
      <p:sp>
        <p:nvSpPr>
          <p:cNvPr id="107" name="Text 105"/>
          <p:cNvSpPr txBox="1"/>
          <p:nvPr/>
        </p:nvSpPr>
        <p:spPr>
          <a:xfrm>
            <a:off x="6208776"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108" name="Shape 106"/>
          <p:cNvSpPr/>
          <p:nvPr/>
        </p:nvSpPr>
        <p:spPr>
          <a:xfrm>
            <a:off x="9102407" y="5362450"/>
            <a:ext cx="261049" cy="105898"/>
          </a:xfrm>
          <a:prstGeom prst="rect">
            <a:avLst/>
          </a:prstGeom>
          <a:solidFill>
            <a:srgbClr val="C2352F"/>
          </a:solidFill>
          <a:ln/>
        </p:spPr>
      </p:sp>
      <p:sp>
        <p:nvSpPr>
          <p:cNvPr id="109" name="Text 107"/>
          <p:cNvSpPr txBox="1"/>
          <p:nvPr/>
        </p:nvSpPr>
        <p:spPr>
          <a:xfrm>
            <a:off x="10259568" y="530029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−$1,319</a:t>
            </a:r>
            <a:endParaRPr lang="en-US" sz="1300" dirty="0"/>
          </a:p>
        </p:txBody>
      </p:sp>
      <p:sp>
        <p:nvSpPr>
          <p:cNvPr id="110" name="Shape 108"/>
          <p:cNvSpPr/>
          <p:nvPr/>
        </p:nvSpPr>
        <p:spPr>
          <a:xfrm>
            <a:off x="3807562" y="1847088"/>
            <a:ext cx="10973" cy="3913632"/>
          </a:xfrm>
          <a:prstGeom prst="rect">
            <a:avLst/>
          </a:prstGeom>
          <a:solidFill>
            <a:srgbClr val="9AA3AD"/>
          </a:solidFill>
          <a:ln/>
        </p:spPr>
      </p:sp>
      <p:sp>
        <p:nvSpPr>
          <p:cNvPr id="111" name="Shape 109"/>
          <p:cNvSpPr/>
          <p:nvPr/>
        </p:nvSpPr>
        <p:spPr>
          <a:xfrm>
            <a:off x="9357970" y="1847088"/>
            <a:ext cx="10973" cy="3913632"/>
          </a:xfrm>
          <a:prstGeom prst="rect">
            <a:avLst/>
          </a:prstGeom>
          <a:solidFill>
            <a:srgbClr val="9AA3AD"/>
          </a:solidFill>
          <a:ln/>
        </p:spPr>
      </p:sp>
      <p:sp>
        <p:nvSpPr>
          <p:cNvPr id="112" name="Shape 110"/>
          <p:cNvSpPr/>
          <p:nvPr/>
        </p:nvSpPr>
        <p:spPr>
          <a:xfrm>
            <a:off x="457200" y="5961888"/>
            <a:ext cx="11274552" cy="548640"/>
          </a:xfrm>
          <a:prstGeom prst="rect">
            <a:avLst/>
          </a:prstGeom>
          <a:solidFill>
            <a:srgbClr val="E6F6EE"/>
          </a:solidFill>
          <a:ln/>
        </p:spPr>
      </p:sp>
      <p:sp>
        <p:nvSpPr>
          <p:cNvPr id="113" name="Text 111"/>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27 of 33 stores raised gross per employee, led by SUBARU ST GEORGE at +$4,158 to $15,556. 6 declined; VW ST GEORGE fell most at −$1,319.</a:t>
            </a:r>
            <a:endParaRPr lang="en-US" sz="1600" dirty="0"/>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&amp; W ROs per Service Advisor</a:t>
            </a:r>
            <a:endParaRPr lang="en-US" sz="2800" dirty="0"/>
          </a:p>
        </p:txBody>
      </p:sp>
      <p:sp>
        <p:nvSpPr>
          <p:cNvPr id="5" name="Shape 3"/>
          <p:cNvSpPr/>
          <p:nvPr/>
        </p:nvSpPr>
        <p:spPr>
          <a:xfrm>
            <a:off x="457200" y="1207008"/>
            <a:ext cx="11274552" cy="1517904"/>
          </a:xfrm>
          <a:prstGeom prst="rect">
            <a:avLst/>
          </a:prstGeom>
          <a:solidFill>
            <a:srgbClr val="FFFFFF"/>
          </a:solidFill>
          <a:ln/>
        </p:spPr>
      </p:sp>
      <p:sp>
        <p:nvSpPr>
          <p:cNvPr id="6" name="Text 4"/>
          <p:cNvSpPr txBox="1"/>
          <p:nvPr/>
        </p:nvSpPr>
        <p:spPr>
          <a:xfrm>
            <a:off x="685800" y="1316736"/>
            <a:ext cx="10789920" cy="274320"/>
          </a:xfrm>
          <a:prstGeom prst="rect">
            <a:avLst/>
          </a:prstGeom>
          <a:noFill/>
          <a:ln/>
        </p:spPr>
        <p:txBody>
          <a:bodyPr wrap="square" lIns="0" tIns="0" rIns="0" bIns="0" rtlCol="0" anchor="ctr"/>
          <a:lstStyle/>
          <a:p>
            <a:pPr indent="0" marL="0">
              <a:buNone/>
            </a:pPr>
            <a:r>
              <a:rPr lang="en-US" sz="1400" spc="100" kern="0" dirty="0">
                <a:solidFill>
                  <a:srgbClr val="595959"/>
                </a:solidFill>
                <a:latin typeface="Inter" pitchFamily="34" charset="0"/>
                <a:ea typeface="Inter" pitchFamily="34" charset="-122"/>
                <a:cs typeface="Inter" pitchFamily="34" charset="-120"/>
              </a:rPr>
              <a:t>GROUP · JANUARY–SEPTEMBER · MONTHLY AVG · SAME-STORE, 33 STORES</a:t>
            </a:r>
            <a:endParaRPr lang="en-US" sz="1400" dirty="0"/>
          </a:p>
        </p:txBody>
      </p:sp>
      <p:sp>
        <p:nvSpPr>
          <p:cNvPr id="7" name="Text 5"/>
          <p:cNvSpPr txBox="1"/>
          <p:nvPr/>
        </p:nvSpPr>
        <p:spPr>
          <a:xfrm>
            <a:off x="68580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a:t>
            </a:r>
            <a:endParaRPr lang="en-US" sz="1400" dirty="0"/>
          </a:p>
        </p:txBody>
      </p:sp>
      <p:sp>
        <p:nvSpPr>
          <p:cNvPr id="8" name="Text 6"/>
          <p:cNvSpPr txBox="1"/>
          <p:nvPr/>
        </p:nvSpPr>
        <p:spPr>
          <a:xfrm>
            <a:off x="68580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173</a:t>
            </a:r>
            <a:endParaRPr lang="en-US" sz="3000" dirty="0"/>
          </a:p>
        </p:txBody>
      </p:sp>
      <p:sp>
        <p:nvSpPr>
          <p:cNvPr id="9" name="Text 7"/>
          <p:cNvSpPr txBox="1"/>
          <p:nvPr/>
        </p:nvSpPr>
        <p:spPr>
          <a:xfrm>
            <a:off x="347472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a:t>
            </a:r>
            <a:endParaRPr lang="en-US" sz="1400" dirty="0"/>
          </a:p>
        </p:txBody>
      </p:sp>
      <p:sp>
        <p:nvSpPr>
          <p:cNvPr id="10" name="Text 8"/>
          <p:cNvSpPr txBox="1"/>
          <p:nvPr/>
        </p:nvSpPr>
        <p:spPr>
          <a:xfrm>
            <a:off x="347472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166</a:t>
            </a:r>
            <a:endParaRPr lang="en-US" sz="3000" dirty="0"/>
          </a:p>
        </p:txBody>
      </p:sp>
      <p:sp>
        <p:nvSpPr>
          <p:cNvPr id="11" name="Text 9"/>
          <p:cNvSpPr txBox="1"/>
          <p:nvPr/>
        </p:nvSpPr>
        <p:spPr>
          <a:xfrm>
            <a:off x="626364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2" name="Text 10"/>
          <p:cNvSpPr txBox="1"/>
          <p:nvPr/>
        </p:nvSpPr>
        <p:spPr>
          <a:xfrm>
            <a:off x="6263640" y="1865376"/>
            <a:ext cx="2697480" cy="603504"/>
          </a:xfrm>
          <a:prstGeom prst="rect">
            <a:avLst/>
          </a:prstGeom>
          <a:noFill/>
          <a:ln/>
        </p:spPr>
        <p:txBody>
          <a:bodyPr wrap="square" lIns="0" tIns="0" rIns="0" bIns="0" rtlCol="0" anchor="ctr"/>
          <a:lstStyle/>
          <a:p>
            <a:pPr indent="0" marL="0">
              <a:buNone/>
            </a:pPr>
            <a:r>
              <a:rPr lang="en-US" sz="3000" b="1" dirty="0">
                <a:solidFill>
                  <a:srgbClr val="A82B26"/>
                </a:solidFill>
                <a:latin typeface="Inter" pitchFamily="34" charset="0"/>
                <a:ea typeface="Inter" pitchFamily="34" charset="-122"/>
                <a:cs typeface="Inter" pitchFamily="34" charset="-120"/>
              </a:rPr>
              <a:t>−7</a:t>
            </a:r>
            <a:endParaRPr lang="en-US" sz="3000" dirty="0"/>
          </a:p>
        </p:txBody>
      </p:sp>
      <p:sp>
        <p:nvSpPr>
          <p:cNvPr id="13" name="Text 11"/>
          <p:cNvSpPr txBox="1"/>
          <p:nvPr/>
        </p:nvSpPr>
        <p:spPr>
          <a:xfrm>
            <a:off x="905256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4" name="Text 12"/>
          <p:cNvSpPr txBox="1"/>
          <p:nvPr/>
        </p:nvSpPr>
        <p:spPr>
          <a:xfrm>
            <a:off x="9052560" y="1865376"/>
            <a:ext cx="2697480" cy="603504"/>
          </a:xfrm>
          <a:prstGeom prst="rect">
            <a:avLst/>
          </a:prstGeom>
          <a:noFill/>
          <a:ln/>
        </p:spPr>
        <p:txBody>
          <a:bodyPr wrap="square" lIns="0" tIns="0" rIns="0" bIns="0" rtlCol="0" anchor="ctr"/>
          <a:lstStyle/>
          <a:p>
            <a:pPr indent="0" marL="0">
              <a:buNone/>
            </a:pPr>
            <a:r>
              <a:rPr lang="en-US" sz="3000" b="1" dirty="0">
                <a:solidFill>
                  <a:srgbClr val="A82B26"/>
                </a:solidFill>
                <a:latin typeface="Inter" pitchFamily="34" charset="0"/>
                <a:ea typeface="Inter" pitchFamily="34" charset="-122"/>
                <a:cs typeface="Inter" pitchFamily="34" charset="-120"/>
              </a:rPr>
              <a:t>−3.8%</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2816352"/>
          <a:ext cx="11274552" cy="914400"/>
        </p:xfrm>
        <a:graphic>
          <a:graphicData uri="http://schemas.openxmlformats.org/drawingml/2006/table">
            <a:tbl>
              <a:tblPr/>
              <a:tblGrid>
                <a:gridCol w="3118104"/>
                <a:gridCol w="2039112"/>
                <a:gridCol w="2039112"/>
                <a:gridCol w="2039112"/>
                <a:gridCol w="2039112"/>
              </a:tblGrid>
              <a:tr h="274320">
                <a:tc>
                  <a:txBody>
                    <a:bodyPr/>
                    <a:lstStyle/>
                    <a:p>
                      <a:pPr algn="l" indent="0" marL="0">
                        <a:buNone/>
                      </a:pPr>
                      <a:r>
                        <a:rPr lang="en-US" sz="1400" b="1" dirty="0">
                          <a:solidFill>
                            <a:srgbClr val="FFFFFF"/>
                          </a:solidFill>
                          <a:latin typeface="Inter" pitchFamily="34" charset="0"/>
                          <a:ea typeface="Inter" pitchFamily="34" charset="-122"/>
                          <a:cs typeface="Inter" pitchFamily="34" charset="-120"/>
                        </a:rPr>
                        <a:t>MONTH</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VARIANCE</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 %</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JAN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182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165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−17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−9.2%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FEB</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167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149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−19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−11.3%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179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165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−13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−7.5%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APR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176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164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−13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−7.1%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MAY</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169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158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−11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−6.7%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171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171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JUL</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178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175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−1.8%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AUG</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171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176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SEP</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161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172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+7.3%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16" name="Shape 13"/>
          <p:cNvSpPr/>
          <p:nvPr/>
        </p:nvSpPr>
        <p:spPr>
          <a:xfrm>
            <a:off x="457200" y="5961888"/>
            <a:ext cx="11274552" cy="548640"/>
          </a:xfrm>
          <a:prstGeom prst="rect">
            <a:avLst/>
          </a:prstGeom>
          <a:solidFill>
            <a:srgbClr val="FBEBEA"/>
          </a:solidFill>
          <a:ln/>
        </p:spPr>
      </p:sp>
      <p:sp>
        <p:nvSpPr>
          <p:cNvPr id="17" name="Text 14"/>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Down 7 to 166, behind 2025 in six of nine months. Advisors grew 1.5%; ROs fell 2.3%.</a:t>
            </a:r>
            <a:endParaRPr lang="en-US" sz="1600" dirty="0"/>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&amp; W ROs per Service Advisor</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316736"/>
            <a:ext cx="3383280" cy="32918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LUXURY · 9 STORES</a:t>
            </a:r>
            <a:endParaRPr lang="en-US" sz="1400" dirty="0"/>
          </a:p>
        </p:txBody>
      </p:sp>
      <p:sp>
        <p:nvSpPr>
          <p:cNvPr id="7" name="Text 5"/>
          <p:cNvSpPr txBox="1"/>
          <p:nvPr/>
        </p:nvSpPr>
        <p:spPr>
          <a:xfrm>
            <a:off x="658368" y="1755648"/>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8" name="Shape 6"/>
          <p:cNvSpPr/>
          <p:nvPr/>
        </p:nvSpPr>
        <p:spPr>
          <a:xfrm>
            <a:off x="2267712" y="1832317"/>
            <a:ext cx="1030941" cy="153338"/>
          </a:xfrm>
          <a:prstGeom prst="rect">
            <a:avLst/>
          </a:prstGeom>
          <a:solidFill>
            <a:srgbClr val="12A566"/>
          </a:solidFill>
          <a:ln/>
        </p:spPr>
      </p:sp>
      <p:sp>
        <p:nvSpPr>
          <p:cNvPr id="9" name="Text 7"/>
          <p:cNvSpPr txBox="1"/>
          <p:nvPr/>
        </p:nvSpPr>
        <p:spPr>
          <a:xfrm>
            <a:off x="3355848" y="1755648"/>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194</a:t>
            </a:r>
            <a:endParaRPr lang="en-US" sz="1300" dirty="0"/>
          </a:p>
        </p:txBody>
      </p:sp>
      <p:sp>
        <p:nvSpPr>
          <p:cNvPr id="10" name="Text 8"/>
          <p:cNvSpPr txBox="1"/>
          <p:nvPr/>
        </p:nvSpPr>
        <p:spPr>
          <a:xfrm>
            <a:off x="658368" y="2062324"/>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11" name="Shape 9"/>
          <p:cNvSpPr/>
          <p:nvPr/>
        </p:nvSpPr>
        <p:spPr>
          <a:xfrm>
            <a:off x="2267712" y="2138993"/>
            <a:ext cx="1017185" cy="153338"/>
          </a:xfrm>
          <a:prstGeom prst="rect">
            <a:avLst/>
          </a:prstGeom>
          <a:solidFill>
            <a:srgbClr val="12A566"/>
          </a:solidFill>
          <a:ln/>
        </p:spPr>
      </p:sp>
      <p:sp>
        <p:nvSpPr>
          <p:cNvPr id="12" name="Text 10"/>
          <p:cNvSpPr txBox="1"/>
          <p:nvPr/>
        </p:nvSpPr>
        <p:spPr>
          <a:xfrm>
            <a:off x="3355848" y="2062324"/>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192</a:t>
            </a:r>
            <a:endParaRPr lang="en-US" sz="1300" dirty="0"/>
          </a:p>
        </p:txBody>
      </p:sp>
      <p:sp>
        <p:nvSpPr>
          <p:cNvPr id="13" name="Text 11"/>
          <p:cNvSpPr txBox="1"/>
          <p:nvPr/>
        </p:nvSpPr>
        <p:spPr>
          <a:xfrm>
            <a:off x="658368" y="2368999"/>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14" name="Shape 12"/>
          <p:cNvSpPr/>
          <p:nvPr/>
        </p:nvSpPr>
        <p:spPr>
          <a:xfrm>
            <a:off x="2267712" y="2445668"/>
            <a:ext cx="853681" cy="153338"/>
          </a:xfrm>
          <a:prstGeom prst="rect">
            <a:avLst/>
          </a:prstGeom>
          <a:solidFill>
            <a:srgbClr val="12A566"/>
          </a:solidFill>
          <a:ln/>
        </p:spPr>
      </p:sp>
      <p:sp>
        <p:nvSpPr>
          <p:cNvPr id="15" name="Text 13"/>
          <p:cNvSpPr txBox="1"/>
          <p:nvPr/>
        </p:nvSpPr>
        <p:spPr>
          <a:xfrm>
            <a:off x="3355848" y="2368999"/>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161</a:t>
            </a:r>
            <a:endParaRPr lang="en-US" sz="1300" dirty="0"/>
          </a:p>
        </p:txBody>
      </p:sp>
      <p:sp>
        <p:nvSpPr>
          <p:cNvPr id="16" name="Text 14"/>
          <p:cNvSpPr txBox="1"/>
          <p:nvPr/>
        </p:nvSpPr>
        <p:spPr>
          <a:xfrm>
            <a:off x="658368" y="2675675"/>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17" name="Shape 15"/>
          <p:cNvSpPr/>
          <p:nvPr/>
        </p:nvSpPr>
        <p:spPr>
          <a:xfrm>
            <a:off x="2267712" y="2752344"/>
            <a:ext cx="706409" cy="153338"/>
          </a:xfrm>
          <a:prstGeom prst="rect">
            <a:avLst/>
          </a:prstGeom>
          <a:solidFill>
            <a:srgbClr val="12A566"/>
          </a:solidFill>
          <a:ln/>
        </p:spPr>
      </p:sp>
      <p:sp>
        <p:nvSpPr>
          <p:cNvPr id="18" name="Text 16"/>
          <p:cNvSpPr txBox="1"/>
          <p:nvPr/>
        </p:nvSpPr>
        <p:spPr>
          <a:xfrm>
            <a:off x="3355848" y="2675675"/>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133</a:t>
            </a:r>
            <a:endParaRPr lang="en-US" sz="1300" dirty="0"/>
          </a:p>
        </p:txBody>
      </p:sp>
      <p:sp>
        <p:nvSpPr>
          <p:cNvPr id="19" name="Text 17"/>
          <p:cNvSpPr txBox="1"/>
          <p:nvPr/>
        </p:nvSpPr>
        <p:spPr>
          <a:xfrm>
            <a:off x="658368" y="2982351"/>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20" name="Shape 18"/>
          <p:cNvSpPr/>
          <p:nvPr/>
        </p:nvSpPr>
        <p:spPr>
          <a:xfrm>
            <a:off x="2267712" y="3059020"/>
            <a:ext cx="660413" cy="153338"/>
          </a:xfrm>
          <a:prstGeom prst="rect">
            <a:avLst/>
          </a:prstGeom>
          <a:solidFill>
            <a:srgbClr val="12A566"/>
          </a:solidFill>
          <a:ln/>
        </p:spPr>
      </p:sp>
      <p:sp>
        <p:nvSpPr>
          <p:cNvPr id="21" name="Text 19"/>
          <p:cNvSpPr txBox="1"/>
          <p:nvPr/>
        </p:nvSpPr>
        <p:spPr>
          <a:xfrm>
            <a:off x="3355848" y="2982351"/>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124</a:t>
            </a:r>
            <a:endParaRPr lang="en-US" sz="1300" dirty="0"/>
          </a:p>
        </p:txBody>
      </p:sp>
      <p:sp>
        <p:nvSpPr>
          <p:cNvPr id="22" name="Shape 20"/>
          <p:cNvSpPr/>
          <p:nvPr/>
        </p:nvSpPr>
        <p:spPr>
          <a:xfrm>
            <a:off x="603504" y="3289026"/>
            <a:ext cx="3566160" cy="297532"/>
          </a:xfrm>
          <a:prstGeom prst="rect">
            <a:avLst/>
          </a:prstGeom>
          <a:solidFill>
            <a:srgbClr val="EDF4FA"/>
          </a:solidFill>
          <a:ln/>
        </p:spPr>
      </p:sp>
      <p:sp>
        <p:nvSpPr>
          <p:cNvPr id="23" name="Text 21"/>
          <p:cNvSpPr txBox="1"/>
          <p:nvPr/>
        </p:nvSpPr>
        <p:spPr>
          <a:xfrm>
            <a:off x="658368" y="3289026"/>
            <a:ext cx="1554480" cy="306676"/>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LUXURY</a:t>
            </a:r>
            <a:endParaRPr lang="en-US" sz="1300" dirty="0"/>
          </a:p>
        </p:txBody>
      </p:sp>
      <p:sp>
        <p:nvSpPr>
          <p:cNvPr id="24" name="Shape 22"/>
          <p:cNvSpPr/>
          <p:nvPr/>
        </p:nvSpPr>
        <p:spPr>
          <a:xfrm>
            <a:off x="2267712" y="3365695"/>
            <a:ext cx="650307" cy="153338"/>
          </a:xfrm>
          <a:prstGeom prst="rect">
            <a:avLst/>
          </a:prstGeom>
          <a:solidFill>
            <a:srgbClr val="0B2C4A"/>
          </a:solidFill>
          <a:ln/>
        </p:spPr>
      </p:sp>
      <p:sp>
        <p:nvSpPr>
          <p:cNvPr id="25" name="Text 23"/>
          <p:cNvSpPr txBox="1"/>
          <p:nvPr/>
        </p:nvSpPr>
        <p:spPr>
          <a:xfrm>
            <a:off x="3355848" y="3289026"/>
            <a:ext cx="777240" cy="306676"/>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123</a:t>
            </a:r>
            <a:endParaRPr lang="en-US" sz="1300" dirty="0"/>
          </a:p>
        </p:txBody>
      </p:sp>
      <p:sp>
        <p:nvSpPr>
          <p:cNvPr id="26" name="Text 24"/>
          <p:cNvSpPr txBox="1"/>
          <p:nvPr/>
        </p:nvSpPr>
        <p:spPr>
          <a:xfrm>
            <a:off x="658368" y="3595702"/>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27" name="Shape 25"/>
          <p:cNvSpPr/>
          <p:nvPr/>
        </p:nvSpPr>
        <p:spPr>
          <a:xfrm>
            <a:off x="2267712" y="3672371"/>
            <a:ext cx="590102" cy="153338"/>
          </a:xfrm>
          <a:prstGeom prst="rect">
            <a:avLst/>
          </a:prstGeom>
          <a:solidFill>
            <a:srgbClr val="C2352F"/>
          </a:solidFill>
          <a:ln/>
        </p:spPr>
      </p:sp>
      <p:sp>
        <p:nvSpPr>
          <p:cNvPr id="28" name="Text 26"/>
          <p:cNvSpPr txBox="1"/>
          <p:nvPr/>
        </p:nvSpPr>
        <p:spPr>
          <a:xfrm>
            <a:off x="3355848" y="3595702"/>
            <a:ext cx="777240"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111</a:t>
            </a:r>
            <a:endParaRPr lang="en-US" sz="1300" dirty="0"/>
          </a:p>
        </p:txBody>
      </p:sp>
      <p:sp>
        <p:nvSpPr>
          <p:cNvPr id="29" name="Text 27"/>
          <p:cNvSpPr txBox="1"/>
          <p:nvPr/>
        </p:nvSpPr>
        <p:spPr>
          <a:xfrm>
            <a:off x="658368" y="3902378"/>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30" name="Shape 28"/>
          <p:cNvSpPr/>
          <p:nvPr/>
        </p:nvSpPr>
        <p:spPr>
          <a:xfrm>
            <a:off x="2267712" y="3979047"/>
            <a:ext cx="473828" cy="153338"/>
          </a:xfrm>
          <a:prstGeom prst="rect">
            <a:avLst/>
          </a:prstGeom>
          <a:solidFill>
            <a:srgbClr val="C2352F"/>
          </a:solidFill>
          <a:ln/>
        </p:spPr>
      </p:sp>
      <p:sp>
        <p:nvSpPr>
          <p:cNvPr id="31" name="Text 29"/>
          <p:cNvSpPr txBox="1"/>
          <p:nvPr/>
        </p:nvSpPr>
        <p:spPr>
          <a:xfrm>
            <a:off x="3355848" y="3902378"/>
            <a:ext cx="777240"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89</a:t>
            </a:r>
            <a:endParaRPr lang="en-US" sz="1300" dirty="0"/>
          </a:p>
        </p:txBody>
      </p:sp>
      <p:sp>
        <p:nvSpPr>
          <p:cNvPr id="32" name="Text 30"/>
          <p:cNvSpPr txBox="1"/>
          <p:nvPr/>
        </p:nvSpPr>
        <p:spPr>
          <a:xfrm>
            <a:off x="658368" y="4209054"/>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33" name="Shape 31"/>
          <p:cNvSpPr/>
          <p:nvPr/>
        </p:nvSpPr>
        <p:spPr>
          <a:xfrm>
            <a:off x="2267712" y="4285722"/>
            <a:ext cx="453135" cy="153338"/>
          </a:xfrm>
          <a:prstGeom prst="rect">
            <a:avLst/>
          </a:prstGeom>
          <a:solidFill>
            <a:srgbClr val="C2352F"/>
          </a:solidFill>
          <a:ln/>
        </p:spPr>
      </p:sp>
      <p:sp>
        <p:nvSpPr>
          <p:cNvPr id="34" name="Text 32"/>
          <p:cNvSpPr txBox="1"/>
          <p:nvPr/>
        </p:nvSpPr>
        <p:spPr>
          <a:xfrm>
            <a:off x="3355848" y="4209054"/>
            <a:ext cx="777240"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85</a:t>
            </a:r>
            <a:endParaRPr lang="en-US" sz="1300" dirty="0"/>
          </a:p>
        </p:txBody>
      </p:sp>
      <p:sp>
        <p:nvSpPr>
          <p:cNvPr id="35" name="Text 33"/>
          <p:cNvSpPr txBox="1"/>
          <p:nvPr/>
        </p:nvSpPr>
        <p:spPr>
          <a:xfrm>
            <a:off x="658368" y="4515729"/>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36" name="Shape 34"/>
          <p:cNvSpPr/>
          <p:nvPr/>
        </p:nvSpPr>
        <p:spPr>
          <a:xfrm>
            <a:off x="2267712" y="4592398"/>
            <a:ext cx="376138" cy="153338"/>
          </a:xfrm>
          <a:prstGeom prst="rect">
            <a:avLst/>
          </a:prstGeom>
          <a:solidFill>
            <a:srgbClr val="C2352F"/>
          </a:solidFill>
          <a:ln/>
        </p:spPr>
      </p:sp>
      <p:sp>
        <p:nvSpPr>
          <p:cNvPr id="37" name="Text 35"/>
          <p:cNvSpPr txBox="1"/>
          <p:nvPr/>
        </p:nvSpPr>
        <p:spPr>
          <a:xfrm>
            <a:off x="3355848" y="4515729"/>
            <a:ext cx="777240"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71</a:t>
            </a:r>
            <a:endParaRPr lang="en-US" sz="1300" dirty="0"/>
          </a:p>
        </p:txBody>
      </p:sp>
      <p:sp>
        <p:nvSpPr>
          <p:cNvPr id="38" name="Text 36"/>
          <p:cNvSpPr txBox="1"/>
          <p:nvPr/>
        </p:nvSpPr>
        <p:spPr>
          <a:xfrm>
            <a:off x="658368" y="4950421"/>
            <a:ext cx="3383280" cy="36576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LUXURY AVG  </a:t>
            </a:r>
            <a:pPr indent="0" marL="0">
              <a:buNone/>
            </a:pPr>
            <a:r>
              <a:rPr lang="en-US" sz="1800" b="1" dirty="0">
                <a:solidFill>
                  <a:srgbClr val="0B2C4A"/>
                </a:solidFill>
                <a:latin typeface="Inter" pitchFamily="34" charset="0"/>
                <a:ea typeface="Inter" pitchFamily="34" charset="-122"/>
                <a:cs typeface="Inter" pitchFamily="34" charset="-120"/>
              </a:rPr>
              <a:t>123  </a:t>
            </a:r>
            <a:pPr indent="0" marL="0">
              <a:buNone/>
            </a:pPr>
            <a:r>
              <a:rPr lang="en-US" sz="1400" b="1" dirty="0">
                <a:solidFill>
                  <a:srgbClr val="A82B26"/>
                </a:solidFill>
                <a:latin typeface="Inter" pitchFamily="34" charset="0"/>
                <a:ea typeface="Inter" pitchFamily="34" charset="-122"/>
                <a:cs typeface="Inter" pitchFamily="34" charset="-120"/>
              </a:rPr>
              <a:t>(−9)</a:t>
            </a:r>
            <a:endParaRPr lang="en-US" sz="1400" dirty="0"/>
          </a:p>
        </p:txBody>
      </p:sp>
      <p:sp>
        <p:nvSpPr>
          <p:cNvPr id="39" name="Text 37"/>
          <p:cNvSpPr txBox="1"/>
          <p:nvPr/>
        </p:nvSpPr>
        <p:spPr>
          <a:xfrm>
            <a:off x="658368" y="5334469"/>
            <a:ext cx="3383280" cy="36576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NON-LUXURY AVG  </a:t>
            </a:r>
            <a:pPr indent="0" marL="0">
              <a:buNone/>
            </a:pPr>
            <a:r>
              <a:rPr lang="en-US" sz="1800" b="1" dirty="0">
                <a:solidFill>
                  <a:srgbClr val="0B2C4A"/>
                </a:solidFill>
                <a:latin typeface="Inter" pitchFamily="34" charset="0"/>
                <a:ea typeface="Inter" pitchFamily="34" charset="-122"/>
                <a:cs typeface="Inter" pitchFamily="34" charset="-120"/>
              </a:rPr>
              <a:t>176  </a:t>
            </a:r>
            <a:pPr indent="0" marL="0">
              <a:buNone/>
            </a:pPr>
            <a:r>
              <a:rPr lang="en-US" sz="1400" b="1" dirty="0">
                <a:solidFill>
                  <a:srgbClr val="A82B26"/>
                </a:solidFill>
                <a:latin typeface="Inter" pitchFamily="34" charset="0"/>
                <a:ea typeface="Inter" pitchFamily="34" charset="-122"/>
                <a:cs typeface="Inter" pitchFamily="34" charset="-120"/>
              </a:rPr>
              <a:t>(−5)</a:t>
            </a:r>
            <a:endParaRPr lang="en-US" sz="1400" dirty="0"/>
          </a:p>
        </p:txBody>
      </p:sp>
      <p:sp>
        <p:nvSpPr>
          <p:cNvPr id="40" name="Text 38"/>
          <p:cNvSpPr txBox="1"/>
          <p:nvPr/>
        </p:nvSpPr>
        <p:spPr>
          <a:xfrm>
            <a:off x="4315968" y="1316736"/>
            <a:ext cx="7132320" cy="32918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NON-LUXURY · 24 STORES</a:t>
            </a:r>
            <a:endParaRPr lang="en-US" sz="1400" dirty="0"/>
          </a:p>
        </p:txBody>
      </p:sp>
      <p:sp>
        <p:nvSpPr>
          <p:cNvPr id="41" name="Text 39"/>
          <p:cNvSpPr txBox="1"/>
          <p:nvPr/>
        </p:nvSpPr>
        <p:spPr>
          <a:xfrm>
            <a:off x="4315968" y="1755648"/>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42" name="Shape 40"/>
          <p:cNvSpPr/>
          <p:nvPr/>
        </p:nvSpPr>
        <p:spPr>
          <a:xfrm>
            <a:off x="6291072" y="1832317"/>
            <a:ext cx="627529" cy="153338"/>
          </a:xfrm>
          <a:prstGeom prst="rect">
            <a:avLst/>
          </a:prstGeom>
          <a:solidFill>
            <a:srgbClr val="12A566"/>
          </a:solidFill>
          <a:ln/>
        </p:spPr>
      </p:sp>
      <p:sp>
        <p:nvSpPr>
          <p:cNvPr id="43" name="Text 41"/>
          <p:cNvSpPr txBox="1"/>
          <p:nvPr/>
        </p:nvSpPr>
        <p:spPr>
          <a:xfrm>
            <a:off x="6967728" y="1755648"/>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253</a:t>
            </a:r>
            <a:endParaRPr lang="en-US" sz="1300" dirty="0"/>
          </a:p>
        </p:txBody>
      </p:sp>
      <p:sp>
        <p:nvSpPr>
          <p:cNvPr id="44" name="Text 42"/>
          <p:cNvSpPr txBox="1"/>
          <p:nvPr/>
        </p:nvSpPr>
        <p:spPr>
          <a:xfrm>
            <a:off x="4315968" y="2062324"/>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45" name="Shape 43"/>
          <p:cNvSpPr/>
          <p:nvPr/>
        </p:nvSpPr>
        <p:spPr>
          <a:xfrm>
            <a:off x="6291072" y="2138993"/>
            <a:ext cx="604201" cy="153338"/>
          </a:xfrm>
          <a:prstGeom prst="rect">
            <a:avLst/>
          </a:prstGeom>
          <a:solidFill>
            <a:srgbClr val="12A566"/>
          </a:solidFill>
          <a:ln/>
        </p:spPr>
      </p:sp>
      <p:sp>
        <p:nvSpPr>
          <p:cNvPr id="46" name="Text 44"/>
          <p:cNvSpPr txBox="1"/>
          <p:nvPr/>
        </p:nvSpPr>
        <p:spPr>
          <a:xfrm>
            <a:off x="6967728" y="2062324"/>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244</a:t>
            </a:r>
            <a:endParaRPr lang="en-US" sz="1300" dirty="0"/>
          </a:p>
        </p:txBody>
      </p:sp>
      <p:sp>
        <p:nvSpPr>
          <p:cNvPr id="47" name="Text 45"/>
          <p:cNvSpPr txBox="1"/>
          <p:nvPr/>
        </p:nvSpPr>
        <p:spPr>
          <a:xfrm>
            <a:off x="4315968" y="2368999"/>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48" name="Shape 46"/>
          <p:cNvSpPr/>
          <p:nvPr/>
        </p:nvSpPr>
        <p:spPr>
          <a:xfrm>
            <a:off x="6291072" y="2445668"/>
            <a:ext cx="573402" cy="153338"/>
          </a:xfrm>
          <a:prstGeom prst="rect">
            <a:avLst/>
          </a:prstGeom>
          <a:solidFill>
            <a:srgbClr val="12A566"/>
          </a:solidFill>
          <a:ln/>
        </p:spPr>
      </p:sp>
      <p:sp>
        <p:nvSpPr>
          <p:cNvPr id="49" name="Text 47"/>
          <p:cNvSpPr txBox="1"/>
          <p:nvPr/>
        </p:nvSpPr>
        <p:spPr>
          <a:xfrm>
            <a:off x="6967728" y="2368999"/>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231</a:t>
            </a:r>
            <a:endParaRPr lang="en-US" sz="1300" dirty="0"/>
          </a:p>
        </p:txBody>
      </p:sp>
      <p:sp>
        <p:nvSpPr>
          <p:cNvPr id="50" name="Text 48"/>
          <p:cNvSpPr txBox="1"/>
          <p:nvPr/>
        </p:nvSpPr>
        <p:spPr>
          <a:xfrm>
            <a:off x="4315968" y="2675675"/>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51" name="Shape 49"/>
          <p:cNvSpPr/>
          <p:nvPr/>
        </p:nvSpPr>
        <p:spPr>
          <a:xfrm>
            <a:off x="6291072" y="2752344"/>
            <a:ext cx="560822" cy="153338"/>
          </a:xfrm>
          <a:prstGeom prst="rect">
            <a:avLst/>
          </a:prstGeom>
          <a:solidFill>
            <a:srgbClr val="12A566"/>
          </a:solidFill>
          <a:ln/>
        </p:spPr>
      </p:sp>
      <p:sp>
        <p:nvSpPr>
          <p:cNvPr id="52" name="Text 50"/>
          <p:cNvSpPr txBox="1"/>
          <p:nvPr/>
        </p:nvSpPr>
        <p:spPr>
          <a:xfrm>
            <a:off x="6967728" y="2675675"/>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226</a:t>
            </a:r>
            <a:endParaRPr lang="en-US" sz="1300" dirty="0"/>
          </a:p>
        </p:txBody>
      </p:sp>
      <p:sp>
        <p:nvSpPr>
          <p:cNvPr id="53" name="Text 51"/>
          <p:cNvSpPr txBox="1"/>
          <p:nvPr/>
        </p:nvSpPr>
        <p:spPr>
          <a:xfrm>
            <a:off x="4315968" y="2982351"/>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54" name="Shape 52"/>
          <p:cNvSpPr/>
          <p:nvPr/>
        </p:nvSpPr>
        <p:spPr>
          <a:xfrm>
            <a:off x="6291072" y="3059020"/>
            <a:ext cx="560053" cy="153338"/>
          </a:xfrm>
          <a:prstGeom prst="rect">
            <a:avLst/>
          </a:prstGeom>
          <a:solidFill>
            <a:srgbClr val="12A566"/>
          </a:solidFill>
          <a:ln/>
        </p:spPr>
      </p:sp>
      <p:sp>
        <p:nvSpPr>
          <p:cNvPr id="55" name="Text 53"/>
          <p:cNvSpPr txBox="1"/>
          <p:nvPr/>
        </p:nvSpPr>
        <p:spPr>
          <a:xfrm>
            <a:off x="6967728" y="2982351"/>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226</a:t>
            </a:r>
            <a:endParaRPr lang="en-US" sz="1300" dirty="0"/>
          </a:p>
        </p:txBody>
      </p:sp>
      <p:sp>
        <p:nvSpPr>
          <p:cNvPr id="56" name="Text 54"/>
          <p:cNvSpPr txBox="1"/>
          <p:nvPr/>
        </p:nvSpPr>
        <p:spPr>
          <a:xfrm>
            <a:off x="4315968" y="3289026"/>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57" name="Shape 55"/>
          <p:cNvSpPr/>
          <p:nvPr/>
        </p:nvSpPr>
        <p:spPr>
          <a:xfrm>
            <a:off x="6291072" y="3365695"/>
            <a:ext cx="556802" cy="153338"/>
          </a:xfrm>
          <a:prstGeom prst="rect">
            <a:avLst/>
          </a:prstGeom>
          <a:solidFill>
            <a:srgbClr val="12A566"/>
          </a:solidFill>
          <a:ln/>
        </p:spPr>
      </p:sp>
      <p:sp>
        <p:nvSpPr>
          <p:cNvPr id="58" name="Text 56"/>
          <p:cNvSpPr txBox="1"/>
          <p:nvPr/>
        </p:nvSpPr>
        <p:spPr>
          <a:xfrm>
            <a:off x="6967728" y="3289026"/>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225</a:t>
            </a:r>
            <a:endParaRPr lang="en-US" sz="1300" dirty="0"/>
          </a:p>
        </p:txBody>
      </p:sp>
      <p:sp>
        <p:nvSpPr>
          <p:cNvPr id="59" name="Text 57"/>
          <p:cNvSpPr txBox="1"/>
          <p:nvPr/>
        </p:nvSpPr>
        <p:spPr>
          <a:xfrm>
            <a:off x="4315968" y="3595702"/>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60" name="Shape 58"/>
          <p:cNvSpPr/>
          <p:nvPr/>
        </p:nvSpPr>
        <p:spPr>
          <a:xfrm>
            <a:off x="6291072" y="3672371"/>
            <a:ext cx="486031" cy="153338"/>
          </a:xfrm>
          <a:prstGeom prst="rect">
            <a:avLst/>
          </a:prstGeom>
          <a:solidFill>
            <a:srgbClr val="12A566"/>
          </a:solidFill>
          <a:ln/>
        </p:spPr>
      </p:sp>
      <p:sp>
        <p:nvSpPr>
          <p:cNvPr id="61" name="Text 59"/>
          <p:cNvSpPr txBox="1"/>
          <p:nvPr/>
        </p:nvSpPr>
        <p:spPr>
          <a:xfrm>
            <a:off x="6967728" y="3595702"/>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196</a:t>
            </a:r>
            <a:endParaRPr lang="en-US" sz="1300" dirty="0"/>
          </a:p>
        </p:txBody>
      </p:sp>
      <p:sp>
        <p:nvSpPr>
          <p:cNvPr id="62" name="Text 60"/>
          <p:cNvSpPr txBox="1"/>
          <p:nvPr/>
        </p:nvSpPr>
        <p:spPr>
          <a:xfrm>
            <a:off x="4315968" y="3902378"/>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63" name="Shape 61"/>
          <p:cNvSpPr/>
          <p:nvPr/>
        </p:nvSpPr>
        <p:spPr>
          <a:xfrm>
            <a:off x="6291072" y="3979047"/>
            <a:ext cx="473501" cy="153338"/>
          </a:xfrm>
          <a:prstGeom prst="rect">
            <a:avLst/>
          </a:prstGeom>
          <a:solidFill>
            <a:srgbClr val="12A566"/>
          </a:solidFill>
          <a:ln/>
        </p:spPr>
      </p:sp>
      <p:sp>
        <p:nvSpPr>
          <p:cNvPr id="64" name="Text 62"/>
          <p:cNvSpPr txBox="1"/>
          <p:nvPr/>
        </p:nvSpPr>
        <p:spPr>
          <a:xfrm>
            <a:off x="6967728" y="3902378"/>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191</a:t>
            </a:r>
            <a:endParaRPr lang="en-US" sz="1300" dirty="0"/>
          </a:p>
        </p:txBody>
      </p:sp>
      <p:sp>
        <p:nvSpPr>
          <p:cNvPr id="65" name="Text 63"/>
          <p:cNvSpPr txBox="1"/>
          <p:nvPr/>
        </p:nvSpPr>
        <p:spPr>
          <a:xfrm>
            <a:off x="4315968" y="4209054"/>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66" name="Shape 64"/>
          <p:cNvSpPr/>
          <p:nvPr/>
        </p:nvSpPr>
        <p:spPr>
          <a:xfrm>
            <a:off x="6291072" y="4285722"/>
            <a:ext cx="457393" cy="153338"/>
          </a:xfrm>
          <a:prstGeom prst="rect">
            <a:avLst/>
          </a:prstGeom>
          <a:solidFill>
            <a:srgbClr val="12A566"/>
          </a:solidFill>
          <a:ln/>
        </p:spPr>
      </p:sp>
      <p:sp>
        <p:nvSpPr>
          <p:cNvPr id="67" name="Text 65"/>
          <p:cNvSpPr txBox="1"/>
          <p:nvPr/>
        </p:nvSpPr>
        <p:spPr>
          <a:xfrm>
            <a:off x="6967728" y="4209054"/>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184</a:t>
            </a:r>
            <a:endParaRPr lang="en-US" sz="1300" dirty="0"/>
          </a:p>
        </p:txBody>
      </p:sp>
      <p:sp>
        <p:nvSpPr>
          <p:cNvPr id="68" name="Text 66"/>
          <p:cNvSpPr txBox="1"/>
          <p:nvPr/>
        </p:nvSpPr>
        <p:spPr>
          <a:xfrm>
            <a:off x="4315968" y="4515729"/>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69" name="Shape 67"/>
          <p:cNvSpPr/>
          <p:nvPr/>
        </p:nvSpPr>
        <p:spPr>
          <a:xfrm>
            <a:off x="6291072" y="4592398"/>
            <a:ext cx="447997" cy="153338"/>
          </a:xfrm>
          <a:prstGeom prst="rect">
            <a:avLst/>
          </a:prstGeom>
          <a:solidFill>
            <a:srgbClr val="12A566"/>
          </a:solidFill>
          <a:ln/>
        </p:spPr>
      </p:sp>
      <p:sp>
        <p:nvSpPr>
          <p:cNvPr id="70" name="Text 68"/>
          <p:cNvSpPr txBox="1"/>
          <p:nvPr/>
        </p:nvSpPr>
        <p:spPr>
          <a:xfrm>
            <a:off x="6967728" y="4515729"/>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181</a:t>
            </a:r>
            <a:endParaRPr lang="en-US" sz="1300" dirty="0"/>
          </a:p>
        </p:txBody>
      </p:sp>
      <p:sp>
        <p:nvSpPr>
          <p:cNvPr id="71" name="Text 69"/>
          <p:cNvSpPr txBox="1"/>
          <p:nvPr/>
        </p:nvSpPr>
        <p:spPr>
          <a:xfrm>
            <a:off x="4315968" y="4822405"/>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72" name="Shape 70"/>
          <p:cNvSpPr/>
          <p:nvPr/>
        </p:nvSpPr>
        <p:spPr>
          <a:xfrm>
            <a:off x="6291072" y="4899074"/>
            <a:ext cx="446678" cy="153338"/>
          </a:xfrm>
          <a:prstGeom prst="rect">
            <a:avLst/>
          </a:prstGeom>
          <a:solidFill>
            <a:srgbClr val="12A566"/>
          </a:solidFill>
          <a:ln/>
        </p:spPr>
      </p:sp>
      <p:sp>
        <p:nvSpPr>
          <p:cNvPr id="73" name="Text 71"/>
          <p:cNvSpPr txBox="1"/>
          <p:nvPr/>
        </p:nvSpPr>
        <p:spPr>
          <a:xfrm>
            <a:off x="6967728" y="4822405"/>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180</a:t>
            </a:r>
            <a:endParaRPr lang="en-US" sz="1300" dirty="0"/>
          </a:p>
        </p:txBody>
      </p:sp>
      <p:sp>
        <p:nvSpPr>
          <p:cNvPr id="74" name="Text 72"/>
          <p:cNvSpPr txBox="1"/>
          <p:nvPr/>
        </p:nvSpPr>
        <p:spPr>
          <a:xfrm>
            <a:off x="4315968" y="5129081"/>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75" name="Shape 73"/>
          <p:cNvSpPr/>
          <p:nvPr/>
        </p:nvSpPr>
        <p:spPr>
          <a:xfrm>
            <a:off x="6291072" y="5205750"/>
            <a:ext cx="441364" cy="153338"/>
          </a:xfrm>
          <a:prstGeom prst="rect">
            <a:avLst/>
          </a:prstGeom>
          <a:solidFill>
            <a:srgbClr val="12A566"/>
          </a:solidFill>
          <a:ln/>
        </p:spPr>
      </p:sp>
      <p:sp>
        <p:nvSpPr>
          <p:cNvPr id="76" name="Text 74"/>
          <p:cNvSpPr txBox="1"/>
          <p:nvPr/>
        </p:nvSpPr>
        <p:spPr>
          <a:xfrm>
            <a:off x="6967728" y="5129081"/>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178</a:t>
            </a:r>
            <a:endParaRPr lang="en-US" sz="1300" dirty="0"/>
          </a:p>
        </p:txBody>
      </p:sp>
      <p:sp>
        <p:nvSpPr>
          <p:cNvPr id="77" name="Shape 75"/>
          <p:cNvSpPr/>
          <p:nvPr/>
        </p:nvSpPr>
        <p:spPr>
          <a:xfrm>
            <a:off x="4261104" y="5435756"/>
            <a:ext cx="3529584" cy="297532"/>
          </a:xfrm>
          <a:prstGeom prst="rect">
            <a:avLst/>
          </a:prstGeom>
          <a:solidFill>
            <a:srgbClr val="EDF4FA"/>
          </a:solidFill>
          <a:ln/>
        </p:spPr>
      </p:sp>
      <p:sp>
        <p:nvSpPr>
          <p:cNvPr id="78" name="Text 76"/>
          <p:cNvSpPr txBox="1"/>
          <p:nvPr/>
        </p:nvSpPr>
        <p:spPr>
          <a:xfrm>
            <a:off x="4315968" y="5435756"/>
            <a:ext cx="1920240" cy="306676"/>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NON-LUXURY</a:t>
            </a:r>
            <a:endParaRPr lang="en-US" sz="1300" dirty="0"/>
          </a:p>
        </p:txBody>
      </p:sp>
      <p:sp>
        <p:nvSpPr>
          <p:cNvPr id="79" name="Shape 77"/>
          <p:cNvSpPr/>
          <p:nvPr/>
        </p:nvSpPr>
        <p:spPr>
          <a:xfrm>
            <a:off x="6291072" y="5512425"/>
            <a:ext cx="436715" cy="153338"/>
          </a:xfrm>
          <a:prstGeom prst="rect">
            <a:avLst/>
          </a:prstGeom>
          <a:solidFill>
            <a:srgbClr val="0B2C4A"/>
          </a:solidFill>
          <a:ln/>
        </p:spPr>
      </p:sp>
      <p:sp>
        <p:nvSpPr>
          <p:cNvPr id="80" name="Text 78"/>
          <p:cNvSpPr txBox="1"/>
          <p:nvPr/>
        </p:nvSpPr>
        <p:spPr>
          <a:xfrm>
            <a:off x="6967728" y="5435756"/>
            <a:ext cx="786384" cy="306676"/>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176</a:t>
            </a:r>
            <a:endParaRPr lang="en-US" sz="1300" dirty="0"/>
          </a:p>
        </p:txBody>
      </p:sp>
      <p:sp>
        <p:nvSpPr>
          <p:cNvPr id="81" name="Text 79"/>
          <p:cNvSpPr txBox="1"/>
          <p:nvPr/>
        </p:nvSpPr>
        <p:spPr>
          <a:xfrm>
            <a:off x="7918704" y="1755648"/>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82" name="Shape 80"/>
          <p:cNvSpPr/>
          <p:nvPr/>
        </p:nvSpPr>
        <p:spPr>
          <a:xfrm>
            <a:off x="9893808" y="1832317"/>
            <a:ext cx="434988" cy="153338"/>
          </a:xfrm>
          <a:prstGeom prst="rect">
            <a:avLst/>
          </a:prstGeom>
          <a:solidFill>
            <a:srgbClr val="C2352F"/>
          </a:solidFill>
          <a:ln/>
        </p:spPr>
      </p:sp>
      <p:sp>
        <p:nvSpPr>
          <p:cNvPr id="83" name="Text 81"/>
          <p:cNvSpPr txBox="1"/>
          <p:nvPr/>
        </p:nvSpPr>
        <p:spPr>
          <a:xfrm>
            <a:off x="10570464" y="1755648"/>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175</a:t>
            </a:r>
            <a:endParaRPr lang="en-US" sz="1300" dirty="0"/>
          </a:p>
        </p:txBody>
      </p:sp>
      <p:sp>
        <p:nvSpPr>
          <p:cNvPr id="84" name="Text 82"/>
          <p:cNvSpPr txBox="1"/>
          <p:nvPr/>
        </p:nvSpPr>
        <p:spPr>
          <a:xfrm>
            <a:off x="7918704" y="2062324"/>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85" name="Shape 83"/>
          <p:cNvSpPr/>
          <p:nvPr/>
        </p:nvSpPr>
        <p:spPr>
          <a:xfrm>
            <a:off x="9893808" y="2138993"/>
            <a:ext cx="426487" cy="153338"/>
          </a:xfrm>
          <a:prstGeom prst="rect">
            <a:avLst/>
          </a:prstGeom>
          <a:solidFill>
            <a:srgbClr val="C2352F"/>
          </a:solidFill>
          <a:ln/>
        </p:spPr>
      </p:sp>
      <p:sp>
        <p:nvSpPr>
          <p:cNvPr id="86" name="Text 84"/>
          <p:cNvSpPr txBox="1"/>
          <p:nvPr/>
        </p:nvSpPr>
        <p:spPr>
          <a:xfrm>
            <a:off x="10570464" y="2062324"/>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172</a:t>
            </a:r>
            <a:endParaRPr lang="en-US" sz="1300" dirty="0"/>
          </a:p>
        </p:txBody>
      </p:sp>
      <p:sp>
        <p:nvSpPr>
          <p:cNvPr id="87" name="Text 85"/>
          <p:cNvSpPr txBox="1"/>
          <p:nvPr/>
        </p:nvSpPr>
        <p:spPr>
          <a:xfrm>
            <a:off x="7918704" y="2368999"/>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88" name="Shape 86"/>
          <p:cNvSpPr/>
          <p:nvPr/>
        </p:nvSpPr>
        <p:spPr>
          <a:xfrm>
            <a:off x="9893808" y="2445668"/>
            <a:ext cx="409834" cy="153338"/>
          </a:xfrm>
          <a:prstGeom prst="rect">
            <a:avLst/>
          </a:prstGeom>
          <a:solidFill>
            <a:srgbClr val="C2352F"/>
          </a:solidFill>
          <a:ln/>
        </p:spPr>
      </p:sp>
      <p:sp>
        <p:nvSpPr>
          <p:cNvPr id="89" name="Text 87"/>
          <p:cNvSpPr txBox="1"/>
          <p:nvPr/>
        </p:nvSpPr>
        <p:spPr>
          <a:xfrm>
            <a:off x="10570464" y="2368999"/>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165</a:t>
            </a:r>
            <a:endParaRPr lang="en-US" sz="1300" dirty="0"/>
          </a:p>
        </p:txBody>
      </p:sp>
      <p:sp>
        <p:nvSpPr>
          <p:cNvPr id="90" name="Text 88"/>
          <p:cNvSpPr txBox="1"/>
          <p:nvPr/>
        </p:nvSpPr>
        <p:spPr>
          <a:xfrm>
            <a:off x="7918704" y="2675675"/>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91" name="Shape 89"/>
          <p:cNvSpPr/>
          <p:nvPr/>
        </p:nvSpPr>
        <p:spPr>
          <a:xfrm>
            <a:off x="9893808" y="2752344"/>
            <a:ext cx="394046" cy="153338"/>
          </a:xfrm>
          <a:prstGeom prst="rect">
            <a:avLst/>
          </a:prstGeom>
          <a:solidFill>
            <a:srgbClr val="C2352F"/>
          </a:solidFill>
          <a:ln/>
        </p:spPr>
      </p:sp>
      <p:sp>
        <p:nvSpPr>
          <p:cNvPr id="92" name="Text 90"/>
          <p:cNvSpPr txBox="1"/>
          <p:nvPr/>
        </p:nvSpPr>
        <p:spPr>
          <a:xfrm>
            <a:off x="10570464" y="2675675"/>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159</a:t>
            </a:r>
            <a:endParaRPr lang="en-US" sz="1300" dirty="0"/>
          </a:p>
        </p:txBody>
      </p:sp>
      <p:sp>
        <p:nvSpPr>
          <p:cNvPr id="93" name="Text 91"/>
          <p:cNvSpPr txBox="1"/>
          <p:nvPr/>
        </p:nvSpPr>
        <p:spPr>
          <a:xfrm>
            <a:off x="7918704" y="2982351"/>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94" name="Shape 92"/>
          <p:cNvSpPr/>
          <p:nvPr/>
        </p:nvSpPr>
        <p:spPr>
          <a:xfrm>
            <a:off x="9893808" y="3059020"/>
            <a:ext cx="380753" cy="153338"/>
          </a:xfrm>
          <a:prstGeom prst="rect">
            <a:avLst/>
          </a:prstGeom>
          <a:solidFill>
            <a:srgbClr val="C2352F"/>
          </a:solidFill>
          <a:ln/>
        </p:spPr>
      </p:sp>
      <p:sp>
        <p:nvSpPr>
          <p:cNvPr id="95" name="Text 93"/>
          <p:cNvSpPr txBox="1"/>
          <p:nvPr/>
        </p:nvSpPr>
        <p:spPr>
          <a:xfrm>
            <a:off x="10570464" y="2982351"/>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154</a:t>
            </a:r>
            <a:endParaRPr lang="en-US" sz="1300" dirty="0"/>
          </a:p>
        </p:txBody>
      </p:sp>
      <p:sp>
        <p:nvSpPr>
          <p:cNvPr id="96" name="Text 94"/>
          <p:cNvSpPr txBox="1"/>
          <p:nvPr/>
        </p:nvSpPr>
        <p:spPr>
          <a:xfrm>
            <a:off x="7918704" y="3289026"/>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97" name="Shape 95"/>
          <p:cNvSpPr/>
          <p:nvPr/>
        </p:nvSpPr>
        <p:spPr>
          <a:xfrm>
            <a:off x="9893808" y="3365695"/>
            <a:ext cx="354368" cy="153338"/>
          </a:xfrm>
          <a:prstGeom prst="rect">
            <a:avLst/>
          </a:prstGeom>
          <a:solidFill>
            <a:srgbClr val="C2352F"/>
          </a:solidFill>
          <a:ln/>
        </p:spPr>
      </p:sp>
      <p:sp>
        <p:nvSpPr>
          <p:cNvPr id="98" name="Text 96"/>
          <p:cNvSpPr txBox="1"/>
          <p:nvPr/>
        </p:nvSpPr>
        <p:spPr>
          <a:xfrm>
            <a:off x="10570464" y="3289026"/>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143</a:t>
            </a:r>
            <a:endParaRPr lang="en-US" sz="1300" dirty="0"/>
          </a:p>
        </p:txBody>
      </p:sp>
      <p:sp>
        <p:nvSpPr>
          <p:cNvPr id="99" name="Text 97"/>
          <p:cNvSpPr txBox="1"/>
          <p:nvPr/>
        </p:nvSpPr>
        <p:spPr>
          <a:xfrm>
            <a:off x="7918704" y="3595702"/>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100" name="Shape 98"/>
          <p:cNvSpPr/>
          <p:nvPr/>
        </p:nvSpPr>
        <p:spPr>
          <a:xfrm>
            <a:off x="9893808" y="3672371"/>
            <a:ext cx="343647" cy="153338"/>
          </a:xfrm>
          <a:prstGeom prst="rect">
            <a:avLst/>
          </a:prstGeom>
          <a:solidFill>
            <a:srgbClr val="C2352F"/>
          </a:solidFill>
          <a:ln/>
        </p:spPr>
      </p:sp>
      <p:sp>
        <p:nvSpPr>
          <p:cNvPr id="101" name="Text 99"/>
          <p:cNvSpPr txBox="1"/>
          <p:nvPr/>
        </p:nvSpPr>
        <p:spPr>
          <a:xfrm>
            <a:off x="10570464" y="3595702"/>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139</a:t>
            </a:r>
            <a:endParaRPr lang="en-US" sz="1300" dirty="0"/>
          </a:p>
        </p:txBody>
      </p:sp>
      <p:sp>
        <p:nvSpPr>
          <p:cNvPr id="102" name="Text 100"/>
          <p:cNvSpPr txBox="1"/>
          <p:nvPr/>
        </p:nvSpPr>
        <p:spPr>
          <a:xfrm>
            <a:off x="7918704" y="3902378"/>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103" name="Shape 101"/>
          <p:cNvSpPr/>
          <p:nvPr/>
        </p:nvSpPr>
        <p:spPr>
          <a:xfrm>
            <a:off x="9893808" y="3979047"/>
            <a:ext cx="317068" cy="153338"/>
          </a:xfrm>
          <a:prstGeom prst="rect">
            <a:avLst/>
          </a:prstGeom>
          <a:solidFill>
            <a:srgbClr val="C2352F"/>
          </a:solidFill>
          <a:ln/>
        </p:spPr>
      </p:sp>
      <p:sp>
        <p:nvSpPr>
          <p:cNvPr id="104" name="Text 102"/>
          <p:cNvSpPr txBox="1"/>
          <p:nvPr/>
        </p:nvSpPr>
        <p:spPr>
          <a:xfrm>
            <a:off x="10570464" y="3902378"/>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128</a:t>
            </a:r>
            <a:endParaRPr lang="en-US" sz="1300" dirty="0"/>
          </a:p>
        </p:txBody>
      </p:sp>
      <p:sp>
        <p:nvSpPr>
          <p:cNvPr id="105" name="Text 103"/>
          <p:cNvSpPr txBox="1"/>
          <p:nvPr/>
        </p:nvSpPr>
        <p:spPr>
          <a:xfrm>
            <a:off x="7918704" y="4209054"/>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106" name="Shape 104"/>
          <p:cNvSpPr/>
          <p:nvPr/>
        </p:nvSpPr>
        <p:spPr>
          <a:xfrm>
            <a:off x="9893808" y="4285722"/>
            <a:ext cx="304634" cy="153338"/>
          </a:xfrm>
          <a:prstGeom prst="rect">
            <a:avLst/>
          </a:prstGeom>
          <a:solidFill>
            <a:srgbClr val="C2352F"/>
          </a:solidFill>
          <a:ln/>
        </p:spPr>
      </p:sp>
      <p:sp>
        <p:nvSpPr>
          <p:cNvPr id="107" name="Text 105"/>
          <p:cNvSpPr txBox="1"/>
          <p:nvPr/>
        </p:nvSpPr>
        <p:spPr>
          <a:xfrm>
            <a:off x="10570464" y="4209054"/>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123</a:t>
            </a:r>
            <a:endParaRPr lang="en-US" sz="1300" dirty="0"/>
          </a:p>
        </p:txBody>
      </p:sp>
      <p:sp>
        <p:nvSpPr>
          <p:cNvPr id="108" name="Text 106"/>
          <p:cNvSpPr txBox="1"/>
          <p:nvPr/>
        </p:nvSpPr>
        <p:spPr>
          <a:xfrm>
            <a:off x="7918704" y="4515729"/>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109" name="Shape 107"/>
          <p:cNvSpPr/>
          <p:nvPr/>
        </p:nvSpPr>
        <p:spPr>
          <a:xfrm>
            <a:off x="9893808" y="4592398"/>
            <a:ext cx="296380" cy="153338"/>
          </a:xfrm>
          <a:prstGeom prst="rect">
            <a:avLst/>
          </a:prstGeom>
          <a:solidFill>
            <a:srgbClr val="C2352F"/>
          </a:solidFill>
          <a:ln/>
        </p:spPr>
      </p:sp>
      <p:sp>
        <p:nvSpPr>
          <p:cNvPr id="110" name="Text 108"/>
          <p:cNvSpPr txBox="1"/>
          <p:nvPr/>
        </p:nvSpPr>
        <p:spPr>
          <a:xfrm>
            <a:off x="10570464" y="4515729"/>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120</a:t>
            </a:r>
            <a:endParaRPr lang="en-US" sz="1300" dirty="0"/>
          </a:p>
        </p:txBody>
      </p:sp>
      <p:sp>
        <p:nvSpPr>
          <p:cNvPr id="111" name="Text 109"/>
          <p:cNvSpPr txBox="1"/>
          <p:nvPr/>
        </p:nvSpPr>
        <p:spPr>
          <a:xfrm>
            <a:off x="7918704" y="4822405"/>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112" name="Shape 110"/>
          <p:cNvSpPr/>
          <p:nvPr/>
        </p:nvSpPr>
        <p:spPr>
          <a:xfrm>
            <a:off x="9893808" y="4899074"/>
            <a:ext cx="293723" cy="153338"/>
          </a:xfrm>
          <a:prstGeom prst="rect">
            <a:avLst/>
          </a:prstGeom>
          <a:solidFill>
            <a:srgbClr val="C2352F"/>
          </a:solidFill>
          <a:ln/>
        </p:spPr>
      </p:sp>
      <p:sp>
        <p:nvSpPr>
          <p:cNvPr id="113" name="Text 111"/>
          <p:cNvSpPr txBox="1"/>
          <p:nvPr/>
        </p:nvSpPr>
        <p:spPr>
          <a:xfrm>
            <a:off x="10570464" y="4822405"/>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118</a:t>
            </a:r>
            <a:endParaRPr lang="en-US" sz="1300" dirty="0"/>
          </a:p>
        </p:txBody>
      </p:sp>
      <p:sp>
        <p:nvSpPr>
          <p:cNvPr id="114" name="Text 112"/>
          <p:cNvSpPr txBox="1"/>
          <p:nvPr/>
        </p:nvSpPr>
        <p:spPr>
          <a:xfrm>
            <a:off x="7918704" y="5129081"/>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115" name="Shape 113"/>
          <p:cNvSpPr/>
          <p:nvPr/>
        </p:nvSpPr>
        <p:spPr>
          <a:xfrm>
            <a:off x="9893808" y="5205750"/>
            <a:ext cx="289048" cy="153338"/>
          </a:xfrm>
          <a:prstGeom prst="rect">
            <a:avLst/>
          </a:prstGeom>
          <a:solidFill>
            <a:srgbClr val="C2352F"/>
          </a:solidFill>
          <a:ln/>
        </p:spPr>
      </p:sp>
      <p:sp>
        <p:nvSpPr>
          <p:cNvPr id="116" name="Text 114"/>
          <p:cNvSpPr txBox="1"/>
          <p:nvPr/>
        </p:nvSpPr>
        <p:spPr>
          <a:xfrm>
            <a:off x="10570464" y="5129081"/>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117</a:t>
            </a:r>
            <a:endParaRPr lang="en-US" sz="1300" dirty="0"/>
          </a:p>
        </p:txBody>
      </p:sp>
      <p:sp>
        <p:nvSpPr>
          <p:cNvPr id="117" name="Shape 115"/>
          <p:cNvSpPr/>
          <p:nvPr/>
        </p:nvSpPr>
        <p:spPr>
          <a:xfrm>
            <a:off x="457200" y="5961888"/>
            <a:ext cx="11274552" cy="548640"/>
          </a:xfrm>
          <a:prstGeom prst="rect">
            <a:avLst/>
          </a:prstGeom>
          <a:solidFill>
            <a:srgbClr val="EDF4FA"/>
          </a:solidFill>
          <a:ln/>
        </p:spPr>
      </p:sp>
      <p:sp>
        <p:nvSpPr>
          <p:cNvPr id="118" name="Text 116"/>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Against their own segment, 5 of 9 luxury stores beat 123 and 12 of 24 others beat 176. TOYOTA FLAGSTAFF leads non-luxury at 253.</a:t>
            </a:r>
            <a:endParaRPr lang="en-US" sz="1600" dirty="0"/>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&amp; W ROs per Service Advisor</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01168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GROUP</a:t>
            </a:r>
            <a:endParaRPr lang="en-US" sz="1500" dirty="0"/>
          </a:p>
        </p:txBody>
      </p:sp>
      <p:sp>
        <p:nvSpPr>
          <p:cNvPr id="9" name="Text 7"/>
          <p:cNvSpPr txBox="1"/>
          <p:nvPr/>
        </p:nvSpPr>
        <p:spPr>
          <a:xfrm>
            <a:off x="2834640" y="1335024"/>
            <a:ext cx="420624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SAME-STORE, 33 STORES</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−7</a:t>
            </a:r>
            <a:endParaRPr lang="en-US" sz="2000" dirty="0"/>
          </a:p>
        </p:txBody>
      </p:sp>
      <p:sp>
        <p:nvSpPr>
          <p:cNvPr id="11" name="Text 9"/>
          <p:cNvSpPr txBox="1"/>
          <p:nvPr/>
        </p:nvSpPr>
        <p:spPr>
          <a:xfrm>
            <a:off x="658368"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12" name="Shape 10"/>
          <p:cNvSpPr/>
          <p:nvPr/>
        </p:nvSpPr>
        <p:spPr>
          <a:xfrm>
            <a:off x="3813048" y="1909246"/>
            <a:ext cx="556138" cy="105898"/>
          </a:xfrm>
          <a:prstGeom prst="rect">
            <a:avLst/>
          </a:prstGeom>
          <a:solidFill>
            <a:srgbClr val="12A566"/>
          </a:solidFill>
          <a:ln/>
        </p:spPr>
      </p:sp>
      <p:sp>
        <p:nvSpPr>
          <p:cNvPr id="13" name="Text 11"/>
          <p:cNvSpPr txBox="1"/>
          <p:nvPr/>
        </p:nvSpPr>
        <p:spPr>
          <a:xfrm>
            <a:off x="4709160"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+40</a:t>
            </a:r>
            <a:endParaRPr lang="en-US" sz="1300" dirty="0"/>
          </a:p>
        </p:txBody>
      </p:sp>
      <p:sp>
        <p:nvSpPr>
          <p:cNvPr id="14" name="Text 12"/>
          <p:cNvSpPr txBox="1"/>
          <p:nvPr/>
        </p:nvSpPr>
        <p:spPr>
          <a:xfrm>
            <a:off x="658368"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5" name="Shape 13"/>
          <p:cNvSpPr/>
          <p:nvPr/>
        </p:nvSpPr>
        <p:spPr>
          <a:xfrm>
            <a:off x="3813048" y="2139459"/>
            <a:ext cx="495025" cy="105898"/>
          </a:xfrm>
          <a:prstGeom prst="rect">
            <a:avLst/>
          </a:prstGeom>
          <a:solidFill>
            <a:srgbClr val="12A566"/>
          </a:solidFill>
          <a:ln/>
        </p:spPr>
      </p:sp>
      <p:sp>
        <p:nvSpPr>
          <p:cNvPr id="16" name="Text 14"/>
          <p:cNvSpPr txBox="1"/>
          <p:nvPr/>
        </p:nvSpPr>
        <p:spPr>
          <a:xfrm>
            <a:off x="4709160"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+35</a:t>
            </a:r>
            <a:endParaRPr lang="en-US" sz="1300" dirty="0"/>
          </a:p>
        </p:txBody>
      </p:sp>
      <p:sp>
        <p:nvSpPr>
          <p:cNvPr id="17" name="Text 15"/>
          <p:cNvSpPr txBox="1"/>
          <p:nvPr/>
        </p:nvSpPr>
        <p:spPr>
          <a:xfrm>
            <a:off x="658368"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18" name="Shape 16"/>
          <p:cNvSpPr/>
          <p:nvPr/>
        </p:nvSpPr>
        <p:spPr>
          <a:xfrm>
            <a:off x="3813048" y="2369673"/>
            <a:ext cx="440067" cy="105898"/>
          </a:xfrm>
          <a:prstGeom prst="rect">
            <a:avLst/>
          </a:prstGeom>
          <a:solidFill>
            <a:srgbClr val="12A566"/>
          </a:solidFill>
          <a:ln/>
        </p:spPr>
      </p:sp>
      <p:sp>
        <p:nvSpPr>
          <p:cNvPr id="19" name="Text 17"/>
          <p:cNvSpPr txBox="1"/>
          <p:nvPr/>
        </p:nvSpPr>
        <p:spPr>
          <a:xfrm>
            <a:off x="4709160"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+31</a:t>
            </a:r>
            <a:endParaRPr lang="en-US" sz="1300" dirty="0"/>
          </a:p>
        </p:txBody>
      </p:sp>
      <p:sp>
        <p:nvSpPr>
          <p:cNvPr id="20" name="Text 18"/>
          <p:cNvSpPr txBox="1"/>
          <p:nvPr/>
        </p:nvSpPr>
        <p:spPr>
          <a:xfrm>
            <a:off x="658368"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21" name="Shape 19"/>
          <p:cNvSpPr/>
          <p:nvPr/>
        </p:nvSpPr>
        <p:spPr>
          <a:xfrm>
            <a:off x="3813048" y="2599887"/>
            <a:ext cx="280794" cy="105898"/>
          </a:xfrm>
          <a:prstGeom prst="rect">
            <a:avLst/>
          </a:prstGeom>
          <a:solidFill>
            <a:srgbClr val="12A566"/>
          </a:solidFill>
          <a:ln/>
        </p:spPr>
      </p:sp>
      <p:sp>
        <p:nvSpPr>
          <p:cNvPr id="22" name="Text 20"/>
          <p:cNvSpPr txBox="1"/>
          <p:nvPr/>
        </p:nvSpPr>
        <p:spPr>
          <a:xfrm>
            <a:off x="4709160"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+20</a:t>
            </a:r>
            <a:endParaRPr lang="en-US" sz="1300" dirty="0"/>
          </a:p>
        </p:txBody>
      </p:sp>
      <p:sp>
        <p:nvSpPr>
          <p:cNvPr id="23" name="Text 21"/>
          <p:cNvSpPr txBox="1"/>
          <p:nvPr/>
        </p:nvSpPr>
        <p:spPr>
          <a:xfrm>
            <a:off x="658368"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24" name="Shape 22"/>
          <p:cNvSpPr/>
          <p:nvPr/>
        </p:nvSpPr>
        <p:spPr>
          <a:xfrm>
            <a:off x="3813048" y="2830100"/>
            <a:ext cx="201757" cy="105898"/>
          </a:xfrm>
          <a:prstGeom prst="rect">
            <a:avLst/>
          </a:prstGeom>
          <a:solidFill>
            <a:srgbClr val="12A566"/>
          </a:solidFill>
          <a:ln/>
        </p:spPr>
      </p:sp>
      <p:sp>
        <p:nvSpPr>
          <p:cNvPr id="25" name="Text 23"/>
          <p:cNvSpPr txBox="1"/>
          <p:nvPr/>
        </p:nvSpPr>
        <p:spPr>
          <a:xfrm>
            <a:off x="4709160"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+14</a:t>
            </a:r>
            <a:endParaRPr lang="en-US" sz="1300" dirty="0"/>
          </a:p>
        </p:txBody>
      </p:sp>
      <p:sp>
        <p:nvSpPr>
          <p:cNvPr id="26" name="Text 24"/>
          <p:cNvSpPr txBox="1"/>
          <p:nvPr/>
        </p:nvSpPr>
        <p:spPr>
          <a:xfrm>
            <a:off x="658368"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27" name="Shape 25"/>
          <p:cNvSpPr/>
          <p:nvPr/>
        </p:nvSpPr>
        <p:spPr>
          <a:xfrm>
            <a:off x="3813048" y="3060314"/>
            <a:ext cx="190091" cy="105898"/>
          </a:xfrm>
          <a:prstGeom prst="rect">
            <a:avLst/>
          </a:prstGeom>
          <a:solidFill>
            <a:srgbClr val="12A566"/>
          </a:solidFill>
          <a:ln/>
        </p:spPr>
      </p:sp>
      <p:sp>
        <p:nvSpPr>
          <p:cNvPr id="28" name="Text 26"/>
          <p:cNvSpPr txBox="1"/>
          <p:nvPr/>
        </p:nvSpPr>
        <p:spPr>
          <a:xfrm>
            <a:off x="4709160"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+14</a:t>
            </a:r>
            <a:endParaRPr lang="en-US" sz="1300" dirty="0"/>
          </a:p>
        </p:txBody>
      </p:sp>
      <p:sp>
        <p:nvSpPr>
          <p:cNvPr id="29" name="Text 27"/>
          <p:cNvSpPr txBox="1"/>
          <p:nvPr/>
        </p:nvSpPr>
        <p:spPr>
          <a:xfrm>
            <a:off x="658368"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30" name="Shape 28"/>
          <p:cNvSpPr/>
          <p:nvPr/>
        </p:nvSpPr>
        <p:spPr>
          <a:xfrm>
            <a:off x="3813048" y="3290528"/>
            <a:ext cx="185192" cy="105898"/>
          </a:xfrm>
          <a:prstGeom prst="rect">
            <a:avLst/>
          </a:prstGeom>
          <a:solidFill>
            <a:srgbClr val="12A566"/>
          </a:solidFill>
          <a:ln/>
        </p:spPr>
      </p:sp>
      <p:sp>
        <p:nvSpPr>
          <p:cNvPr id="31" name="Text 29"/>
          <p:cNvSpPr txBox="1"/>
          <p:nvPr/>
        </p:nvSpPr>
        <p:spPr>
          <a:xfrm>
            <a:off x="4709160" y="3228370"/>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+13</a:t>
            </a:r>
            <a:endParaRPr lang="en-US" sz="1300" dirty="0"/>
          </a:p>
        </p:txBody>
      </p:sp>
      <p:sp>
        <p:nvSpPr>
          <p:cNvPr id="32" name="Text 30"/>
          <p:cNvSpPr txBox="1"/>
          <p:nvPr/>
        </p:nvSpPr>
        <p:spPr>
          <a:xfrm>
            <a:off x="658368"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33" name="Shape 31"/>
          <p:cNvSpPr/>
          <p:nvPr/>
        </p:nvSpPr>
        <p:spPr>
          <a:xfrm>
            <a:off x="3813048" y="3520741"/>
            <a:ext cx="166426" cy="105898"/>
          </a:xfrm>
          <a:prstGeom prst="rect">
            <a:avLst/>
          </a:prstGeom>
          <a:solidFill>
            <a:srgbClr val="12A566"/>
          </a:solidFill>
          <a:ln/>
        </p:spPr>
      </p:sp>
      <p:sp>
        <p:nvSpPr>
          <p:cNvPr id="34" name="Text 32"/>
          <p:cNvSpPr txBox="1"/>
          <p:nvPr/>
        </p:nvSpPr>
        <p:spPr>
          <a:xfrm>
            <a:off x="4709160" y="345858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+12</a:t>
            </a:r>
            <a:endParaRPr lang="en-US" sz="1300" dirty="0"/>
          </a:p>
        </p:txBody>
      </p:sp>
      <p:sp>
        <p:nvSpPr>
          <p:cNvPr id="35" name="Text 33"/>
          <p:cNvSpPr txBox="1"/>
          <p:nvPr/>
        </p:nvSpPr>
        <p:spPr>
          <a:xfrm>
            <a:off x="658368"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36" name="Shape 34"/>
          <p:cNvSpPr/>
          <p:nvPr/>
        </p:nvSpPr>
        <p:spPr>
          <a:xfrm>
            <a:off x="3813048" y="3750955"/>
            <a:ext cx="155434" cy="105898"/>
          </a:xfrm>
          <a:prstGeom prst="rect">
            <a:avLst/>
          </a:prstGeom>
          <a:solidFill>
            <a:srgbClr val="12A566"/>
          </a:solidFill>
          <a:ln/>
        </p:spPr>
      </p:sp>
      <p:sp>
        <p:nvSpPr>
          <p:cNvPr id="37" name="Text 35"/>
          <p:cNvSpPr txBox="1"/>
          <p:nvPr/>
        </p:nvSpPr>
        <p:spPr>
          <a:xfrm>
            <a:off x="4709160" y="3688797"/>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+11</a:t>
            </a:r>
            <a:endParaRPr lang="en-US" sz="1300" dirty="0"/>
          </a:p>
        </p:txBody>
      </p:sp>
      <p:sp>
        <p:nvSpPr>
          <p:cNvPr id="38" name="Text 36"/>
          <p:cNvSpPr txBox="1"/>
          <p:nvPr/>
        </p:nvSpPr>
        <p:spPr>
          <a:xfrm>
            <a:off x="658368"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39" name="Shape 37"/>
          <p:cNvSpPr/>
          <p:nvPr/>
        </p:nvSpPr>
        <p:spPr>
          <a:xfrm>
            <a:off x="3813048" y="3981169"/>
            <a:ext cx="145024" cy="105898"/>
          </a:xfrm>
          <a:prstGeom prst="rect">
            <a:avLst/>
          </a:prstGeom>
          <a:solidFill>
            <a:srgbClr val="12A566"/>
          </a:solidFill>
          <a:ln/>
        </p:spPr>
      </p:sp>
      <p:sp>
        <p:nvSpPr>
          <p:cNvPr id="40" name="Text 38"/>
          <p:cNvSpPr txBox="1"/>
          <p:nvPr/>
        </p:nvSpPr>
        <p:spPr>
          <a:xfrm>
            <a:off x="4709160" y="3919011"/>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a:t>
            </a:r>
            <a:endParaRPr lang="en-US" sz="1300" dirty="0"/>
          </a:p>
        </p:txBody>
      </p:sp>
      <p:sp>
        <p:nvSpPr>
          <p:cNvPr id="41" name="Text 39"/>
          <p:cNvSpPr txBox="1"/>
          <p:nvPr/>
        </p:nvSpPr>
        <p:spPr>
          <a:xfrm>
            <a:off x="658368"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42" name="Shape 40"/>
          <p:cNvSpPr/>
          <p:nvPr/>
        </p:nvSpPr>
        <p:spPr>
          <a:xfrm>
            <a:off x="3813048" y="4211382"/>
            <a:ext cx="81507" cy="105898"/>
          </a:xfrm>
          <a:prstGeom prst="rect">
            <a:avLst/>
          </a:prstGeom>
          <a:solidFill>
            <a:srgbClr val="12A566"/>
          </a:solidFill>
          <a:ln/>
        </p:spPr>
      </p:sp>
      <p:sp>
        <p:nvSpPr>
          <p:cNvPr id="43" name="Text 41"/>
          <p:cNvSpPr txBox="1"/>
          <p:nvPr/>
        </p:nvSpPr>
        <p:spPr>
          <a:xfrm>
            <a:off x="4709160" y="414922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a:t>
            </a:r>
            <a:endParaRPr lang="en-US" sz="1300" dirty="0"/>
          </a:p>
        </p:txBody>
      </p:sp>
      <p:sp>
        <p:nvSpPr>
          <p:cNvPr id="44" name="Text 42"/>
          <p:cNvSpPr txBox="1"/>
          <p:nvPr/>
        </p:nvSpPr>
        <p:spPr>
          <a:xfrm>
            <a:off x="658368"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45" name="Shape 43"/>
          <p:cNvSpPr/>
          <p:nvPr/>
        </p:nvSpPr>
        <p:spPr>
          <a:xfrm>
            <a:off x="3813048" y="4441596"/>
            <a:ext cx="79478" cy="105898"/>
          </a:xfrm>
          <a:prstGeom prst="rect">
            <a:avLst/>
          </a:prstGeom>
          <a:solidFill>
            <a:srgbClr val="12A566"/>
          </a:solidFill>
          <a:ln/>
        </p:spPr>
      </p:sp>
      <p:sp>
        <p:nvSpPr>
          <p:cNvPr id="46" name="Text 44"/>
          <p:cNvSpPr txBox="1"/>
          <p:nvPr/>
        </p:nvSpPr>
        <p:spPr>
          <a:xfrm>
            <a:off x="4709160" y="437943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a:t>
            </a:r>
            <a:endParaRPr lang="en-US" sz="1300" dirty="0"/>
          </a:p>
        </p:txBody>
      </p:sp>
      <p:sp>
        <p:nvSpPr>
          <p:cNvPr id="47" name="Text 45"/>
          <p:cNvSpPr txBox="1"/>
          <p:nvPr/>
        </p:nvSpPr>
        <p:spPr>
          <a:xfrm>
            <a:off x="658368"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48" name="Shape 46"/>
          <p:cNvSpPr/>
          <p:nvPr/>
        </p:nvSpPr>
        <p:spPr>
          <a:xfrm>
            <a:off x="3813048" y="4671809"/>
            <a:ext cx="63868" cy="105898"/>
          </a:xfrm>
          <a:prstGeom prst="rect">
            <a:avLst/>
          </a:prstGeom>
          <a:solidFill>
            <a:srgbClr val="12A566"/>
          </a:solidFill>
          <a:ln/>
        </p:spPr>
      </p:sp>
      <p:sp>
        <p:nvSpPr>
          <p:cNvPr id="49" name="Text 47"/>
          <p:cNvSpPr txBox="1"/>
          <p:nvPr/>
        </p:nvSpPr>
        <p:spPr>
          <a:xfrm>
            <a:off x="4709160" y="460965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a:t>
            </a:r>
            <a:endParaRPr lang="en-US" sz="1300" dirty="0"/>
          </a:p>
        </p:txBody>
      </p:sp>
      <p:sp>
        <p:nvSpPr>
          <p:cNvPr id="50" name="Text 48"/>
          <p:cNvSpPr txBox="1"/>
          <p:nvPr/>
        </p:nvSpPr>
        <p:spPr>
          <a:xfrm>
            <a:off x="658368"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51" name="Shape 49"/>
          <p:cNvSpPr/>
          <p:nvPr/>
        </p:nvSpPr>
        <p:spPr>
          <a:xfrm>
            <a:off x="3813048" y="4902023"/>
            <a:ext cx="37671" cy="105898"/>
          </a:xfrm>
          <a:prstGeom prst="rect">
            <a:avLst/>
          </a:prstGeom>
          <a:solidFill>
            <a:srgbClr val="12A566"/>
          </a:solidFill>
          <a:ln/>
        </p:spPr>
      </p:sp>
      <p:sp>
        <p:nvSpPr>
          <p:cNvPr id="52" name="Text 50"/>
          <p:cNvSpPr txBox="1"/>
          <p:nvPr/>
        </p:nvSpPr>
        <p:spPr>
          <a:xfrm>
            <a:off x="4709160" y="483986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a:t>
            </a:r>
            <a:endParaRPr lang="en-US" sz="1300" dirty="0"/>
          </a:p>
        </p:txBody>
      </p:sp>
      <p:sp>
        <p:nvSpPr>
          <p:cNvPr id="53" name="Text 51"/>
          <p:cNvSpPr txBox="1"/>
          <p:nvPr/>
        </p:nvSpPr>
        <p:spPr>
          <a:xfrm>
            <a:off x="658368"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54" name="Shape 52"/>
          <p:cNvSpPr/>
          <p:nvPr/>
        </p:nvSpPr>
        <p:spPr>
          <a:xfrm>
            <a:off x="3813048" y="5132237"/>
            <a:ext cx="22696" cy="105898"/>
          </a:xfrm>
          <a:prstGeom prst="rect">
            <a:avLst/>
          </a:prstGeom>
          <a:solidFill>
            <a:srgbClr val="12A566"/>
          </a:solidFill>
          <a:ln/>
        </p:spPr>
      </p:sp>
      <p:sp>
        <p:nvSpPr>
          <p:cNvPr id="55" name="Text 53"/>
          <p:cNvSpPr txBox="1"/>
          <p:nvPr/>
        </p:nvSpPr>
        <p:spPr>
          <a:xfrm>
            <a:off x="4709160" y="507007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a:t>
            </a:r>
            <a:endParaRPr lang="en-US" sz="1300" dirty="0"/>
          </a:p>
        </p:txBody>
      </p:sp>
      <p:sp>
        <p:nvSpPr>
          <p:cNvPr id="56" name="Text 54"/>
          <p:cNvSpPr txBox="1"/>
          <p:nvPr/>
        </p:nvSpPr>
        <p:spPr>
          <a:xfrm>
            <a:off x="658368"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57" name="Shape 55"/>
          <p:cNvSpPr/>
          <p:nvPr/>
        </p:nvSpPr>
        <p:spPr>
          <a:xfrm>
            <a:off x="3813048" y="5362450"/>
            <a:ext cx="12802" cy="105898"/>
          </a:xfrm>
          <a:prstGeom prst="rect">
            <a:avLst/>
          </a:prstGeom>
          <a:solidFill>
            <a:srgbClr val="12A566"/>
          </a:solidFill>
          <a:ln/>
        </p:spPr>
      </p:sp>
      <p:sp>
        <p:nvSpPr>
          <p:cNvPr id="58" name="Text 56"/>
          <p:cNvSpPr txBox="1"/>
          <p:nvPr/>
        </p:nvSpPr>
        <p:spPr>
          <a:xfrm>
            <a:off x="4709160" y="530029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a:t>
            </a:r>
            <a:endParaRPr lang="en-US" sz="1300" dirty="0"/>
          </a:p>
        </p:txBody>
      </p:sp>
      <p:sp>
        <p:nvSpPr>
          <p:cNvPr id="59" name="Text 57"/>
          <p:cNvSpPr txBox="1"/>
          <p:nvPr/>
        </p:nvSpPr>
        <p:spPr>
          <a:xfrm>
            <a:off x="658368" y="553050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60" name="Shape 58"/>
          <p:cNvSpPr/>
          <p:nvPr/>
        </p:nvSpPr>
        <p:spPr>
          <a:xfrm>
            <a:off x="3813048" y="5592664"/>
            <a:ext cx="12802" cy="105898"/>
          </a:xfrm>
          <a:prstGeom prst="rect">
            <a:avLst/>
          </a:prstGeom>
          <a:solidFill>
            <a:srgbClr val="12A566"/>
          </a:solidFill>
          <a:ln/>
        </p:spPr>
      </p:sp>
      <p:sp>
        <p:nvSpPr>
          <p:cNvPr id="61" name="Text 59"/>
          <p:cNvSpPr txBox="1"/>
          <p:nvPr/>
        </p:nvSpPr>
        <p:spPr>
          <a:xfrm>
            <a:off x="4709160" y="553050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a:t>
            </a:r>
            <a:endParaRPr lang="en-US" sz="1300" dirty="0"/>
          </a:p>
        </p:txBody>
      </p:sp>
      <p:sp>
        <p:nvSpPr>
          <p:cNvPr id="62" name="Text 60"/>
          <p:cNvSpPr txBox="1"/>
          <p:nvPr/>
        </p:nvSpPr>
        <p:spPr>
          <a:xfrm>
            <a:off x="6208776"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63" name="Shape 61"/>
          <p:cNvSpPr/>
          <p:nvPr/>
        </p:nvSpPr>
        <p:spPr>
          <a:xfrm>
            <a:off x="9332602" y="1909246"/>
            <a:ext cx="30854" cy="105898"/>
          </a:xfrm>
          <a:prstGeom prst="rect">
            <a:avLst/>
          </a:prstGeom>
          <a:solidFill>
            <a:srgbClr val="C2352F"/>
          </a:solidFill>
          <a:ln/>
        </p:spPr>
      </p:sp>
      <p:sp>
        <p:nvSpPr>
          <p:cNvPr id="64" name="Text 62"/>
          <p:cNvSpPr txBox="1"/>
          <p:nvPr/>
        </p:nvSpPr>
        <p:spPr>
          <a:xfrm>
            <a:off x="10259568" y="1847088"/>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a:t>
            </a:r>
            <a:endParaRPr lang="en-US" sz="1300" dirty="0"/>
          </a:p>
        </p:txBody>
      </p:sp>
      <p:sp>
        <p:nvSpPr>
          <p:cNvPr id="65" name="Text 63"/>
          <p:cNvSpPr txBox="1"/>
          <p:nvPr/>
        </p:nvSpPr>
        <p:spPr>
          <a:xfrm>
            <a:off x="6208776"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66" name="Shape 64"/>
          <p:cNvSpPr/>
          <p:nvPr/>
        </p:nvSpPr>
        <p:spPr>
          <a:xfrm>
            <a:off x="9237118" y="2139459"/>
            <a:ext cx="126338" cy="105898"/>
          </a:xfrm>
          <a:prstGeom prst="rect">
            <a:avLst/>
          </a:prstGeom>
          <a:solidFill>
            <a:srgbClr val="C2352F"/>
          </a:solidFill>
          <a:ln/>
        </p:spPr>
      </p:sp>
      <p:sp>
        <p:nvSpPr>
          <p:cNvPr id="67" name="Text 65"/>
          <p:cNvSpPr txBox="1"/>
          <p:nvPr/>
        </p:nvSpPr>
        <p:spPr>
          <a:xfrm>
            <a:off x="10259568" y="2077302"/>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−9</a:t>
            </a:r>
            <a:endParaRPr lang="en-US" sz="1300" dirty="0"/>
          </a:p>
        </p:txBody>
      </p:sp>
      <p:sp>
        <p:nvSpPr>
          <p:cNvPr id="68" name="Text 66"/>
          <p:cNvSpPr txBox="1"/>
          <p:nvPr/>
        </p:nvSpPr>
        <p:spPr>
          <a:xfrm>
            <a:off x="6208776"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69" name="Shape 67"/>
          <p:cNvSpPr/>
          <p:nvPr/>
        </p:nvSpPr>
        <p:spPr>
          <a:xfrm>
            <a:off x="9172532" y="2369673"/>
            <a:ext cx="190924" cy="105898"/>
          </a:xfrm>
          <a:prstGeom prst="rect">
            <a:avLst/>
          </a:prstGeom>
          <a:solidFill>
            <a:srgbClr val="C2352F"/>
          </a:solidFill>
          <a:ln/>
        </p:spPr>
      </p:sp>
      <p:sp>
        <p:nvSpPr>
          <p:cNvPr id="70" name="Text 68"/>
          <p:cNvSpPr txBox="1"/>
          <p:nvPr/>
        </p:nvSpPr>
        <p:spPr>
          <a:xfrm>
            <a:off x="10259568" y="2307515"/>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a:t>
            </a:r>
            <a:endParaRPr lang="en-US" sz="1300" dirty="0"/>
          </a:p>
        </p:txBody>
      </p:sp>
      <p:sp>
        <p:nvSpPr>
          <p:cNvPr id="71" name="Text 69"/>
          <p:cNvSpPr txBox="1"/>
          <p:nvPr/>
        </p:nvSpPr>
        <p:spPr>
          <a:xfrm>
            <a:off x="6208776"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72" name="Shape 70"/>
          <p:cNvSpPr/>
          <p:nvPr/>
        </p:nvSpPr>
        <p:spPr>
          <a:xfrm>
            <a:off x="9161089" y="2599887"/>
            <a:ext cx="202367" cy="105898"/>
          </a:xfrm>
          <a:prstGeom prst="rect">
            <a:avLst/>
          </a:prstGeom>
          <a:solidFill>
            <a:srgbClr val="C2352F"/>
          </a:solidFill>
          <a:ln/>
        </p:spPr>
      </p:sp>
      <p:sp>
        <p:nvSpPr>
          <p:cNvPr id="73" name="Text 71"/>
          <p:cNvSpPr txBox="1"/>
          <p:nvPr/>
        </p:nvSpPr>
        <p:spPr>
          <a:xfrm>
            <a:off x="10259568" y="2537729"/>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a:t>
            </a:r>
            <a:endParaRPr lang="en-US" sz="1300" dirty="0"/>
          </a:p>
        </p:txBody>
      </p:sp>
      <p:sp>
        <p:nvSpPr>
          <p:cNvPr id="74" name="Text 72"/>
          <p:cNvSpPr txBox="1"/>
          <p:nvPr/>
        </p:nvSpPr>
        <p:spPr>
          <a:xfrm>
            <a:off x="6208776"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75" name="Shape 73"/>
          <p:cNvSpPr/>
          <p:nvPr/>
        </p:nvSpPr>
        <p:spPr>
          <a:xfrm>
            <a:off x="9127704" y="2830100"/>
            <a:ext cx="235752" cy="105898"/>
          </a:xfrm>
          <a:prstGeom prst="rect">
            <a:avLst/>
          </a:prstGeom>
          <a:solidFill>
            <a:srgbClr val="C2352F"/>
          </a:solidFill>
          <a:ln/>
        </p:spPr>
      </p:sp>
      <p:sp>
        <p:nvSpPr>
          <p:cNvPr id="76" name="Text 74"/>
          <p:cNvSpPr txBox="1"/>
          <p:nvPr/>
        </p:nvSpPr>
        <p:spPr>
          <a:xfrm>
            <a:off x="10259568" y="276794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−17</a:t>
            </a:r>
            <a:endParaRPr lang="en-US" sz="1300" dirty="0"/>
          </a:p>
        </p:txBody>
      </p:sp>
      <p:sp>
        <p:nvSpPr>
          <p:cNvPr id="77" name="Text 75"/>
          <p:cNvSpPr txBox="1"/>
          <p:nvPr/>
        </p:nvSpPr>
        <p:spPr>
          <a:xfrm>
            <a:off x="6208776"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78" name="Shape 76"/>
          <p:cNvSpPr/>
          <p:nvPr/>
        </p:nvSpPr>
        <p:spPr>
          <a:xfrm>
            <a:off x="9081043" y="3060314"/>
            <a:ext cx="282413" cy="105898"/>
          </a:xfrm>
          <a:prstGeom prst="rect">
            <a:avLst/>
          </a:prstGeom>
          <a:solidFill>
            <a:srgbClr val="C2352F"/>
          </a:solidFill>
          <a:ln/>
        </p:spPr>
      </p:sp>
      <p:sp>
        <p:nvSpPr>
          <p:cNvPr id="79" name="Text 77"/>
          <p:cNvSpPr txBox="1"/>
          <p:nvPr/>
        </p:nvSpPr>
        <p:spPr>
          <a:xfrm>
            <a:off x="10259568" y="2998156"/>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−20</a:t>
            </a:r>
            <a:endParaRPr lang="en-US" sz="1300" dirty="0"/>
          </a:p>
        </p:txBody>
      </p:sp>
      <p:sp>
        <p:nvSpPr>
          <p:cNvPr id="80" name="Text 78"/>
          <p:cNvSpPr txBox="1"/>
          <p:nvPr/>
        </p:nvSpPr>
        <p:spPr>
          <a:xfrm>
            <a:off x="6208776"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81" name="Shape 79"/>
          <p:cNvSpPr/>
          <p:nvPr/>
        </p:nvSpPr>
        <p:spPr>
          <a:xfrm>
            <a:off x="9061678" y="3290528"/>
            <a:ext cx="301778" cy="105898"/>
          </a:xfrm>
          <a:prstGeom prst="rect">
            <a:avLst/>
          </a:prstGeom>
          <a:solidFill>
            <a:srgbClr val="C2352F"/>
          </a:solidFill>
          <a:ln/>
        </p:spPr>
      </p:sp>
      <p:sp>
        <p:nvSpPr>
          <p:cNvPr id="82" name="Text 80"/>
          <p:cNvSpPr txBox="1"/>
          <p:nvPr/>
        </p:nvSpPr>
        <p:spPr>
          <a:xfrm>
            <a:off x="10259568" y="3228370"/>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−22</a:t>
            </a:r>
            <a:endParaRPr lang="en-US" sz="1300" dirty="0"/>
          </a:p>
        </p:txBody>
      </p:sp>
      <p:sp>
        <p:nvSpPr>
          <p:cNvPr id="83" name="Text 81"/>
          <p:cNvSpPr txBox="1"/>
          <p:nvPr/>
        </p:nvSpPr>
        <p:spPr>
          <a:xfrm>
            <a:off x="6208776"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84" name="Shape 82"/>
          <p:cNvSpPr/>
          <p:nvPr/>
        </p:nvSpPr>
        <p:spPr>
          <a:xfrm>
            <a:off x="8969157" y="3520741"/>
            <a:ext cx="394299" cy="105898"/>
          </a:xfrm>
          <a:prstGeom prst="rect">
            <a:avLst/>
          </a:prstGeom>
          <a:solidFill>
            <a:srgbClr val="C2352F"/>
          </a:solidFill>
          <a:ln/>
        </p:spPr>
      </p:sp>
      <p:sp>
        <p:nvSpPr>
          <p:cNvPr id="85" name="Text 83"/>
          <p:cNvSpPr txBox="1"/>
          <p:nvPr/>
        </p:nvSpPr>
        <p:spPr>
          <a:xfrm>
            <a:off x="10259568" y="345858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−28</a:t>
            </a:r>
            <a:endParaRPr lang="en-US" sz="1300" dirty="0"/>
          </a:p>
        </p:txBody>
      </p:sp>
      <p:sp>
        <p:nvSpPr>
          <p:cNvPr id="86" name="Text 84"/>
          <p:cNvSpPr txBox="1"/>
          <p:nvPr/>
        </p:nvSpPr>
        <p:spPr>
          <a:xfrm>
            <a:off x="6208776"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87" name="Shape 85"/>
          <p:cNvSpPr/>
          <p:nvPr/>
        </p:nvSpPr>
        <p:spPr>
          <a:xfrm>
            <a:off x="8952461" y="3750955"/>
            <a:ext cx="410995" cy="105898"/>
          </a:xfrm>
          <a:prstGeom prst="rect">
            <a:avLst/>
          </a:prstGeom>
          <a:solidFill>
            <a:srgbClr val="C2352F"/>
          </a:solidFill>
          <a:ln/>
        </p:spPr>
      </p:sp>
      <p:sp>
        <p:nvSpPr>
          <p:cNvPr id="88" name="Text 86"/>
          <p:cNvSpPr txBox="1"/>
          <p:nvPr/>
        </p:nvSpPr>
        <p:spPr>
          <a:xfrm>
            <a:off x="10259568" y="3688797"/>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−29</a:t>
            </a:r>
            <a:endParaRPr lang="en-US" sz="1300" dirty="0"/>
          </a:p>
        </p:txBody>
      </p:sp>
      <p:sp>
        <p:nvSpPr>
          <p:cNvPr id="89" name="Text 87"/>
          <p:cNvSpPr txBox="1"/>
          <p:nvPr/>
        </p:nvSpPr>
        <p:spPr>
          <a:xfrm>
            <a:off x="6208776"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90" name="Shape 88"/>
          <p:cNvSpPr/>
          <p:nvPr/>
        </p:nvSpPr>
        <p:spPr>
          <a:xfrm>
            <a:off x="8945624" y="3981169"/>
            <a:ext cx="417832" cy="105898"/>
          </a:xfrm>
          <a:prstGeom prst="rect">
            <a:avLst/>
          </a:prstGeom>
          <a:solidFill>
            <a:srgbClr val="C2352F"/>
          </a:solidFill>
          <a:ln/>
        </p:spPr>
      </p:sp>
      <p:sp>
        <p:nvSpPr>
          <p:cNvPr id="91" name="Text 89"/>
          <p:cNvSpPr txBox="1"/>
          <p:nvPr/>
        </p:nvSpPr>
        <p:spPr>
          <a:xfrm>
            <a:off x="10259568" y="3919011"/>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−30</a:t>
            </a:r>
            <a:endParaRPr lang="en-US" sz="1300" dirty="0"/>
          </a:p>
        </p:txBody>
      </p:sp>
      <p:sp>
        <p:nvSpPr>
          <p:cNvPr id="92" name="Text 90"/>
          <p:cNvSpPr txBox="1"/>
          <p:nvPr/>
        </p:nvSpPr>
        <p:spPr>
          <a:xfrm>
            <a:off x="6208776"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93" name="Shape 91"/>
          <p:cNvSpPr/>
          <p:nvPr/>
        </p:nvSpPr>
        <p:spPr>
          <a:xfrm>
            <a:off x="8907240" y="4211382"/>
            <a:ext cx="456216" cy="105898"/>
          </a:xfrm>
          <a:prstGeom prst="rect">
            <a:avLst/>
          </a:prstGeom>
          <a:solidFill>
            <a:srgbClr val="C2352F"/>
          </a:solidFill>
          <a:ln/>
        </p:spPr>
      </p:sp>
      <p:sp>
        <p:nvSpPr>
          <p:cNvPr id="94" name="Text 92"/>
          <p:cNvSpPr txBox="1"/>
          <p:nvPr/>
        </p:nvSpPr>
        <p:spPr>
          <a:xfrm>
            <a:off x="10259568" y="414922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−33</a:t>
            </a:r>
            <a:endParaRPr lang="en-US" sz="1300" dirty="0"/>
          </a:p>
        </p:txBody>
      </p:sp>
      <p:sp>
        <p:nvSpPr>
          <p:cNvPr id="95" name="Text 93"/>
          <p:cNvSpPr txBox="1"/>
          <p:nvPr/>
        </p:nvSpPr>
        <p:spPr>
          <a:xfrm>
            <a:off x="6208776"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96" name="Shape 94"/>
          <p:cNvSpPr/>
          <p:nvPr/>
        </p:nvSpPr>
        <p:spPr>
          <a:xfrm>
            <a:off x="8863574" y="4441596"/>
            <a:ext cx="499882" cy="105898"/>
          </a:xfrm>
          <a:prstGeom prst="rect">
            <a:avLst/>
          </a:prstGeom>
          <a:solidFill>
            <a:srgbClr val="C2352F"/>
          </a:solidFill>
          <a:ln/>
        </p:spPr>
      </p:sp>
      <p:sp>
        <p:nvSpPr>
          <p:cNvPr id="97" name="Text 95"/>
          <p:cNvSpPr txBox="1"/>
          <p:nvPr/>
        </p:nvSpPr>
        <p:spPr>
          <a:xfrm>
            <a:off x="10259568" y="4379438"/>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−36</a:t>
            </a:r>
            <a:endParaRPr lang="en-US" sz="1300" dirty="0"/>
          </a:p>
        </p:txBody>
      </p:sp>
      <p:sp>
        <p:nvSpPr>
          <p:cNvPr id="98" name="Text 96"/>
          <p:cNvSpPr txBox="1"/>
          <p:nvPr/>
        </p:nvSpPr>
        <p:spPr>
          <a:xfrm>
            <a:off x="6208776"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99" name="Shape 97"/>
          <p:cNvSpPr/>
          <p:nvPr/>
        </p:nvSpPr>
        <p:spPr>
          <a:xfrm>
            <a:off x="8794551" y="4671809"/>
            <a:ext cx="568905" cy="105898"/>
          </a:xfrm>
          <a:prstGeom prst="rect">
            <a:avLst/>
          </a:prstGeom>
          <a:solidFill>
            <a:srgbClr val="C2352F"/>
          </a:solidFill>
          <a:ln/>
        </p:spPr>
      </p:sp>
      <p:sp>
        <p:nvSpPr>
          <p:cNvPr id="100" name="Text 98"/>
          <p:cNvSpPr txBox="1"/>
          <p:nvPr/>
        </p:nvSpPr>
        <p:spPr>
          <a:xfrm>
            <a:off x="10259568" y="4609652"/>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−41</a:t>
            </a:r>
            <a:endParaRPr lang="en-US" sz="1300" dirty="0"/>
          </a:p>
        </p:txBody>
      </p:sp>
      <p:sp>
        <p:nvSpPr>
          <p:cNvPr id="101" name="Text 99"/>
          <p:cNvSpPr txBox="1"/>
          <p:nvPr/>
        </p:nvSpPr>
        <p:spPr>
          <a:xfrm>
            <a:off x="6208776"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102" name="Shape 100"/>
          <p:cNvSpPr/>
          <p:nvPr/>
        </p:nvSpPr>
        <p:spPr>
          <a:xfrm>
            <a:off x="8755307" y="4902023"/>
            <a:ext cx="608149" cy="105898"/>
          </a:xfrm>
          <a:prstGeom prst="rect">
            <a:avLst/>
          </a:prstGeom>
          <a:solidFill>
            <a:srgbClr val="C2352F"/>
          </a:solidFill>
          <a:ln/>
        </p:spPr>
      </p:sp>
      <p:sp>
        <p:nvSpPr>
          <p:cNvPr id="103" name="Text 101"/>
          <p:cNvSpPr txBox="1"/>
          <p:nvPr/>
        </p:nvSpPr>
        <p:spPr>
          <a:xfrm>
            <a:off x="10259568" y="4839865"/>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−43</a:t>
            </a:r>
            <a:endParaRPr lang="en-US" sz="1300" dirty="0"/>
          </a:p>
        </p:txBody>
      </p:sp>
      <p:sp>
        <p:nvSpPr>
          <p:cNvPr id="104" name="Text 102"/>
          <p:cNvSpPr txBox="1"/>
          <p:nvPr/>
        </p:nvSpPr>
        <p:spPr>
          <a:xfrm>
            <a:off x="6208776"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105" name="Shape 103"/>
          <p:cNvSpPr/>
          <p:nvPr/>
        </p:nvSpPr>
        <p:spPr>
          <a:xfrm>
            <a:off x="8549178" y="5132237"/>
            <a:ext cx="814278" cy="105898"/>
          </a:xfrm>
          <a:prstGeom prst="rect">
            <a:avLst/>
          </a:prstGeom>
          <a:solidFill>
            <a:srgbClr val="C2352F"/>
          </a:solidFill>
          <a:ln/>
        </p:spPr>
      </p:sp>
      <p:sp>
        <p:nvSpPr>
          <p:cNvPr id="106" name="Text 104"/>
          <p:cNvSpPr txBox="1"/>
          <p:nvPr/>
        </p:nvSpPr>
        <p:spPr>
          <a:xfrm>
            <a:off x="10259568" y="5070079"/>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−58</a:t>
            </a:r>
            <a:endParaRPr lang="en-US" sz="1300" dirty="0"/>
          </a:p>
        </p:txBody>
      </p:sp>
      <p:sp>
        <p:nvSpPr>
          <p:cNvPr id="107" name="Text 105"/>
          <p:cNvSpPr txBox="1"/>
          <p:nvPr/>
        </p:nvSpPr>
        <p:spPr>
          <a:xfrm>
            <a:off x="6208776"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108" name="Shape 106"/>
          <p:cNvSpPr/>
          <p:nvPr/>
        </p:nvSpPr>
        <p:spPr>
          <a:xfrm>
            <a:off x="8540496" y="5362450"/>
            <a:ext cx="822960" cy="105898"/>
          </a:xfrm>
          <a:prstGeom prst="rect">
            <a:avLst/>
          </a:prstGeom>
          <a:solidFill>
            <a:srgbClr val="C2352F"/>
          </a:solidFill>
          <a:ln/>
        </p:spPr>
      </p:sp>
      <p:sp>
        <p:nvSpPr>
          <p:cNvPr id="109" name="Text 107"/>
          <p:cNvSpPr txBox="1"/>
          <p:nvPr/>
        </p:nvSpPr>
        <p:spPr>
          <a:xfrm>
            <a:off x="10259568" y="530029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−59</a:t>
            </a:r>
            <a:endParaRPr lang="en-US" sz="1300" dirty="0"/>
          </a:p>
        </p:txBody>
      </p:sp>
      <p:sp>
        <p:nvSpPr>
          <p:cNvPr id="110" name="Shape 108"/>
          <p:cNvSpPr/>
          <p:nvPr/>
        </p:nvSpPr>
        <p:spPr>
          <a:xfrm>
            <a:off x="3807562" y="1847088"/>
            <a:ext cx="10973" cy="3913632"/>
          </a:xfrm>
          <a:prstGeom prst="rect">
            <a:avLst/>
          </a:prstGeom>
          <a:solidFill>
            <a:srgbClr val="9AA3AD"/>
          </a:solidFill>
          <a:ln/>
        </p:spPr>
      </p:sp>
      <p:sp>
        <p:nvSpPr>
          <p:cNvPr id="111" name="Shape 109"/>
          <p:cNvSpPr/>
          <p:nvPr/>
        </p:nvSpPr>
        <p:spPr>
          <a:xfrm>
            <a:off x="9357970" y="1847088"/>
            <a:ext cx="10973" cy="3913632"/>
          </a:xfrm>
          <a:prstGeom prst="rect">
            <a:avLst/>
          </a:prstGeom>
          <a:solidFill>
            <a:srgbClr val="9AA3AD"/>
          </a:solidFill>
          <a:ln/>
        </p:spPr>
      </p:sp>
      <p:sp>
        <p:nvSpPr>
          <p:cNvPr id="112" name="Shape 110"/>
          <p:cNvSpPr/>
          <p:nvPr/>
        </p:nvSpPr>
        <p:spPr>
          <a:xfrm>
            <a:off x="457200" y="5961888"/>
            <a:ext cx="11274552" cy="548640"/>
          </a:xfrm>
          <a:prstGeom prst="rect">
            <a:avLst/>
          </a:prstGeom>
          <a:solidFill>
            <a:srgbClr val="FBEBEA"/>
          </a:solidFill>
          <a:ln/>
        </p:spPr>
      </p:sp>
      <p:sp>
        <p:nvSpPr>
          <p:cNvPr id="113" name="Text 111"/>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17 of 33 stores raised ROs per advisor, led by HONDA FLAGSTAFF at +40 to 175. 16 declined; TOYOTA SPOKANE fell most at −59.</a:t>
            </a:r>
            <a:endParaRPr lang="en-US" sz="1600" dirty="0"/>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&amp; W ROs per Fixed Employee</a:t>
            </a:r>
            <a:endParaRPr lang="en-US" sz="2800" dirty="0"/>
          </a:p>
        </p:txBody>
      </p:sp>
      <p:sp>
        <p:nvSpPr>
          <p:cNvPr id="5" name="Shape 3"/>
          <p:cNvSpPr/>
          <p:nvPr/>
        </p:nvSpPr>
        <p:spPr>
          <a:xfrm>
            <a:off x="457200" y="1207008"/>
            <a:ext cx="11274552" cy="1517904"/>
          </a:xfrm>
          <a:prstGeom prst="rect">
            <a:avLst/>
          </a:prstGeom>
          <a:solidFill>
            <a:srgbClr val="FFFFFF"/>
          </a:solidFill>
          <a:ln/>
        </p:spPr>
      </p:sp>
      <p:sp>
        <p:nvSpPr>
          <p:cNvPr id="6" name="Text 4"/>
          <p:cNvSpPr txBox="1"/>
          <p:nvPr/>
        </p:nvSpPr>
        <p:spPr>
          <a:xfrm>
            <a:off x="685800" y="1316736"/>
            <a:ext cx="10789920" cy="274320"/>
          </a:xfrm>
          <a:prstGeom prst="rect">
            <a:avLst/>
          </a:prstGeom>
          <a:noFill/>
          <a:ln/>
        </p:spPr>
        <p:txBody>
          <a:bodyPr wrap="square" lIns="0" tIns="0" rIns="0" bIns="0" rtlCol="0" anchor="ctr"/>
          <a:lstStyle/>
          <a:p>
            <a:pPr indent="0" marL="0">
              <a:buNone/>
            </a:pPr>
            <a:r>
              <a:rPr lang="en-US" sz="1400" spc="100" kern="0" dirty="0">
                <a:solidFill>
                  <a:srgbClr val="595959"/>
                </a:solidFill>
                <a:latin typeface="Inter" pitchFamily="34" charset="0"/>
                <a:ea typeface="Inter" pitchFamily="34" charset="-122"/>
                <a:cs typeface="Inter" pitchFamily="34" charset="-120"/>
              </a:rPr>
              <a:t>GROUP · JANUARY–SEPTEMBER · MONTHLY AVG · SAME-STORE, 33 STORES</a:t>
            </a:r>
            <a:endParaRPr lang="en-US" sz="1400" dirty="0"/>
          </a:p>
        </p:txBody>
      </p:sp>
      <p:sp>
        <p:nvSpPr>
          <p:cNvPr id="7" name="Text 5"/>
          <p:cNvSpPr txBox="1"/>
          <p:nvPr/>
        </p:nvSpPr>
        <p:spPr>
          <a:xfrm>
            <a:off x="68580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a:t>
            </a:r>
            <a:endParaRPr lang="en-US" sz="1400" dirty="0"/>
          </a:p>
        </p:txBody>
      </p:sp>
      <p:sp>
        <p:nvSpPr>
          <p:cNvPr id="8" name="Text 6"/>
          <p:cNvSpPr txBox="1"/>
          <p:nvPr/>
        </p:nvSpPr>
        <p:spPr>
          <a:xfrm>
            <a:off x="68580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26.0</a:t>
            </a:r>
            <a:endParaRPr lang="en-US" sz="3000" dirty="0"/>
          </a:p>
        </p:txBody>
      </p:sp>
      <p:sp>
        <p:nvSpPr>
          <p:cNvPr id="9" name="Text 7"/>
          <p:cNvSpPr txBox="1"/>
          <p:nvPr/>
        </p:nvSpPr>
        <p:spPr>
          <a:xfrm>
            <a:off x="347472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a:t>
            </a:r>
            <a:endParaRPr lang="en-US" sz="1400" dirty="0"/>
          </a:p>
        </p:txBody>
      </p:sp>
      <p:sp>
        <p:nvSpPr>
          <p:cNvPr id="10" name="Text 8"/>
          <p:cNvSpPr txBox="1"/>
          <p:nvPr/>
        </p:nvSpPr>
        <p:spPr>
          <a:xfrm>
            <a:off x="347472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26.8</a:t>
            </a:r>
            <a:endParaRPr lang="en-US" sz="3000" dirty="0"/>
          </a:p>
        </p:txBody>
      </p:sp>
      <p:sp>
        <p:nvSpPr>
          <p:cNvPr id="11" name="Text 9"/>
          <p:cNvSpPr txBox="1"/>
          <p:nvPr/>
        </p:nvSpPr>
        <p:spPr>
          <a:xfrm>
            <a:off x="626364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2" name="Text 10"/>
          <p:cNvSpPr txBox="1"/>
          <p:nvPr/>
        </p:nvSpPr>
        <p:spPr>
          <a:xfrm>
            <a:off x="626364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+0.8</a:t>
            </a:r>
            <a:endParaRPr lang="en-US" sz="3000" dirty="0"/>
          </a:p>
        </p:txBody>
      </p:sp>
      <p:sp>
        <p:nvSpPr>
          <p:cNvPr id="13" name="Text 11"/>
          <p:cNvSpPr txBox="1"/>
          <p:nvPr/>
        </p:nvSpPr>
        <p:spPr>
          <a:xfrm>
            <a:off x="905256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4" name="Text 12"/>
          <p:cNvSpPr txBox="1"/>
          <p:nvPr/>
        </p:nvSpPr>
        <p:spPr>
          <a:xfrm>
            <a:off x="905256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+3.0%</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2816352"/>
          <a:ext cx="11274552" cy="914400"/>
        </p:xfrm>
        <a:graphic>
          <a:graphicData uri="http://schemas.openxmlformats.org/drawingml/2006/table">
            <a:tbl>
              <a:tblPr/>
              <a:tblGrid>
                <a:gridCol w="3118104"/>
                <a:gridCol w="2039112"/>
                <a:gridCol w="2039112"/>
                <a:gridCol w="2039112"/>
                <a:gridCol w="2039112"/>
              </a:tblGrid>
              <a:tr h="274320">
                <a:tc>
                  <a:txBody>
                    <a:bodyPr/>
                    <a:lstStyle/>
                    <a:p>
                      <a:pPr algn="l" indent="0" marL="0">
                        <a:buNone/>
                      </a:pPr>
                      <a:r>
                        <a:rPr lang="en-US" sz="1400" b="1" dirty="0">
                          <a:solidFill>
                            <a:srgbClr val="FFFFFF"/>
                          </a:solidFill>
                          <a:latin typeface="Inter" pitchFamily="34" charset="0"/>
                          <a:ea typeface="Inter" pitchFamily="34" charset="-122"/>
                          <a:cs typeface="Inter" pitchFamily="34" charset="-120"/>
                        </a:rPr>
                        <a:t>MONTH</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VARIANCE</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 %</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JAN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26.6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26.8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FEB</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24.3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23.8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−0.5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−2.2%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26.3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27.1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APR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26.4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26.5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MAY</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26.1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26.1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26.2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27.7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+6.0%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JUL</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27.0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28.2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AUG</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26.4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27.8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+5.2%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SEP</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24.7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27.0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+9.4%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16" name="Shape 13"/>
          <p:cNvSpPr/>
          <p:nvPr/>
        </p:nvSpPr>
        <p:spPr>
          <a:xfrm>
            <a:off x="457200" y="5961888"/>
            <a:ext cx="11274552" cy="548640"/>
          </a:xfrm>
          <a:prstGeom prst="rect">
            <a:avLst/>
          </a:prstGeom>
          <a:solidFill>
            <a:srgbClr val="E6F6EE"/>
          </a:solidFill>
          <a:ln/>
        </p:spPr>
      </p:sp>
      <p:sp>
        <p:nvSpPr>
          <p:cNvPr id="17" name="Text 14"/>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Up 0.8 to 26.8, ahead of 2025 in eight of nine months. Headcount fell 5.1%; ROs fell 2.3%.</a:t>
            </a:r>
            <a:endParaRPr lang="en-US" sz="1600" dirty="0"/>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&amp; W ROs per Fixed Employee</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316736"/>
            <a:ext cx="3383280" cy="32918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LUXURY · 9 STORES</a:t>
            </a:r>
            <a:endParaRPr lang="en-US" sz="1400" dirty="0"/>
          </a:p>
        </p:txBody>
      </p:sp>
      <p:sp>
        <p:nvSpPr>
          <p:cNvPr id="7" name="Text 5"/>
          <p:cNvSpPr txBox="1"/>
          <p:nvPr/>
        </p:nvSpPr>
        <p:spPr>
          <a:xfrm>
            <a:off x="658368" y="1755648"/>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8" name="Shape 6"/>
          <p:cNvSpPr/>
          <p:nvPr/>
        </p:nvSpPr>
        <p:spPr>
          <a:xfrm>
            <a:off x="2267712" y="1832317"/>
            <a:ext cx="1030941" cy="153338"/>
          </a:xfrm>
          <a:prstGeom prst="rect">
            <a:avLst/>
          </a:prstGeom>
          <a:solidFill>
            <a:srgbClr val="12A566"/>
          </a:solidFill>
          <a:ln/>
        </p:spPr>
      </p:sp>
      <p:sp>
        <p:nvSpPr>
          <p:cNvPr id="9" name="Text 7"/>
          <p:cNvSpPr txBox="1"/>
          <p:nvPr/>
        </p:nvSpPr>
        <p:spPr>
          <a:xfrm>
            <a:off x="3355848" y="1755648"/>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24.9</a:t>
            </a:r>
            <a:endParaRPr lang="en-US" sz="1300" dirty="0"/>
          </a:p>
        </p:txBody>
      </p:sp>
      <p:sp>
        <p:nvSpPr>
          <p:cNvPr id="10" name="Text 8"/>
          <p:cNvSpPr txBox="1"/>
          <p:nvPr/>
        </p:nvSpPr>
        <p:spPr>
          <a:xfrm>
            <a:off x="658368" y="2062324"/>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11" name="Shape 9"/>
          <p:cNvSpPr/>
          <p:nvPr/>
        </p:nvSpPr>
        <p:spPr>
          <a:xfrm>
            <a:off x="2267712" y="2138993"/>
            <a:ext cx="1013961" cy="153338"/>
          </a:xfrm>
          <a:prstGeom prst="rect">
            <a:avLst/>
          </a:prstGeom>
          <a:solidFill>
            <a:srgbClr val="12A566"/>
          </a:solidFill>
          <a:ln/>
        </p:spPr>
      </p:sp>
      <p:sp>
        <p:nvSpPr>
          <p:cNvPr id="12" name="Text 10"/>
          <p:cNvSpPr txBox="1"/>
          <p:nvPr/>
        </p:nvSpPr>
        <p:spPr>
          <a:xfrm>
            <a:off x="3355848" y="2062324"/>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24.5</a:t>
            </a:r>
            <a:endParaRPr lang="en-US" sz="1300" dirty="0"/>
          </a:p>
        </p:txBody>
      </p:sp>
      <p:sp>
        <p:nvSpPr>
          <p:cNvPr id="13" name="Text 11"/>
          <p:cNvSpPr txBox="1"/>
          <p:nvPr/>
        </p:nvSpPr>
        <p:spPr>
          <a:xfrm>
            <a:off x="658368" y="2368999"/>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14" name="Shape 12"/>
          <p:cNvSpPr/>
          <p:nvPr/>
        </p:nvSpPr>
        <p:spPr>
          <a:xfrm>
            <a:off x="2267712" y="2445668"/>
            <a:ext cx="803240" cy="153338"/>
          </a:xfrm>
          <a:prstGeom prst="rect">
            <a:avLst/>
          </a:prstGeom>
          <a:solidFill>
            <a:srgbClr val="12A566"/>
          </a:solidFill>
          <a:ln/>
        </p:spPr>
      </p:sp>
      <p:sp>
        <p:nvSpPr>
          <p:cNvPr id="15" name="Text 13"/>
          <p:cNvSpPr txBox="1"/>
          <p:nvPr/>
        </p:nvSpPr>
        <p:spPr>
          <a:xfrm>
            <a:off x="3355848" y="2368999"/>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19.4</a:t>
            </a:r>
            <a:endParaRPr lang="en-US" sz="1300" dirty="0"/>
          </a:p>
        </p:txBody>
      </p:sp>
      <p:sp>
        <p:nvSpPr>
          <p:cNvPr id="16" name="Text 14"/>
          <p:cNvSpPr txBox="1"/>
          <p:nvPr/>
        </p:nvSpPr>
        <p:spPr>
          <a:xfrm>
            <a:off x="658368" y="2675675"/>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17" name="Shape 15"/>
          <p:cNvSpPr/>
          <p:nvPr/>
        </p:nvSpPr>
        <p:spPr>
          <a:xfrm>
            <a:off x="2267712" y="2752344"/>
            <a:ext cx="789066" cy="153338"/>
          </a:xfrm>
          <a:prstGeom prst="rect">
            <a:avLst/>
          </a:prstGeom>
          <a:solidFill>
            <a:srgbClr val="12A566"/>
          </a:solidFill>
          <a:ln/>
        </p:spPr>
      </p:sp>
      <p:sp>
        <p:nvSpPr>
          <p:cNvPr id="18" name="Text 16"/>
          <p:cNvSpPr txBox="1"/>
          <p:nvPr/>
        </p:nvSpPr>
        <p:spPr>
          <a:xfrm>
            <a:off x="3355848" y="2675675"/>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19.0</a:t>
            </a:r>
            <a:endParaRPr lang="en-US" sz="1300" dirty="0"/>
          </a:p>
        </p:txBody>
      </p:sp>
      <p:sp>
        <p:nvSpPr>
          <p:cNvPr id="19" name="Shape 17"/>
          <p:cNvSpPr/>
          <p:nvPr/>
        </p:nvSpPr>
        <p:spPr>
          <a:xfrm>
            <a:off x="603504" y="2982351"/>
            <a:ext cx="3566160" cy="297532"/>
          </a:xfrm>
          <a:prstGeom prst="rect">
            <a:avLst/>
          </a:prstGeom>
          <a:solidFill>
            <a:srgbClr val="EDF4FA"/>
          </a:solidFill>
          <a:ln/>
        </p:spPr>
      </p:sp>
      <p:sp>
        <p:nvSpPr>
          <p:cNvPr id="20" name="Text 18"/>
          <p:cNvSpPr txBox="1"/>
          <p:nvPr/>
        </p:nvSpPr>
        <p:spPr>
          <a:xfrm>
            <a:off x="658368" y="2982351"/>
            <a:ext cx="1554480" cy="306676"/>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LUXURY</a:t>
            </a:r>
            <a:endParaRPr lang="en-US" sz="1300" dirty="0"/>
          </a:p>
        </p:txBody>
      </p:sp>
      <p:sp>
        <p:nvSpPr>
          <p:cNvPr id="21" name="Shape 19"/>
          <p:cNvSpPr/>
          <p:nvPr/>
        </p:nvSpPr>
        <p:spPr>
          <a:xfrm>
            <a:off x="2267712" y="3059020"/>
            <a:ext cx="723520" cy="153338"/>
          </a:xfrm>
          <a:prstGeom prst="rect">
            <a:avLst/>
          </a:prstGeom>
          <a:solidFill>
            <a:srgbClr val="0B2C4A"/>
          </a:solidFill>
          <a:ln/>
        </p:spPr>
      </p:sp>
      <p:sp>
        <p:nvSpPr>
          <p:cNvPr id="22" name="Text 20"/>
          <p:cNvSpPr txBox="1"/>
          <p:nvPr/>
        </p:nvSpPr>
        <p:spPr>
          <a:xfrm>
            <a:off x="3355848" y="2982351"/>
            <a:ext cx="777240" cy="306676"/>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17.4</a:t>
            </a:r>
            <a:endParaRPr lang="en-US" sz="1300" dirty="0"/>
          </a:p>
        </p:txBody>
      </p:sp>
      <p:sp>
        <p:nvSpPr>
          <p:cNvPr id="23" name="Text 21"/>
          <p:cNvSpPr txBox="1"/>
          <p:nvPr/>
        </p:nvSpPr>
        <p:spPr>
          <a:xfrm>
            <a:off x="658368" y="3289026"/>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24" name="Shape 22"/>
          <p:cNvSpPr/>
          <p:nvPr/>
        </p:nvSpPr>
        <p:spPr>
          <a:xfrm>
            <a:off x="2267712" y="3365695"/>
            <a:ext cx="696638" cy="153338"/>
          </a:xfrm>
          <a:prstGeom prst="rect">
            <a:avLst/>
          </a:prstGeom>
          <a:solidFill>
            <a:srgbClr val="C2352F"/>
          </a:solidFill>
          <a:ln/>
        </p:spPr>
      </p:sp>
      <p:sp>
        <p:nvSpPr>
          <p:cNvPr id="25" name="Text 23"/>
          <p:cNvSpPr txBox="1"/>
          <p:nvPr/>
        </p:nvSpPr>
        <p:spPr>
          <a:xfrm>
            <a:off x="3355848" y="3289026"/>
            <a:ext cx="777240"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16.8</a:t>
            </a:r>
            <a:endParaRPr lang="en-US" sz="1300" dirty="0"/>
          </a:p>
        </p:txBody>
      </p:sp>
      <p:sp>
        <p:nvSpPr>
          <p:cNvPr id="26" name="Text 24"/>
          <p:cNvSpPr txBox="1"/>
          <p:nvPr/>
        </p:nvSpPr>
        <p:spPr>
          <a:xfrm>
            <a:off x="658368" y="3595702"/>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27" name="Shape 25"/>
          <p:cNvSpPr/>
          <p:nvPr/>
        </p:nvSpPr>
        <p:spPr>
          <a:xfrm>
            <a:off x="2267712" y="3672371"/>
            <a:ext cx="610545" cy="153338"/>
          </a:xfrm>
          <a:prstGeom prst="rect">
            <a:avLst/>
          </a:prstGeom>
          <a:solidFill>
            <a:srgbClr val="C2352F"/>
          </a:solidFill>
          <a:ln/>
        </p:spPr>
      </p:sp>
      <p:sp>
        <p:nvSpPr>
          <p:cNvPr id="28" name="Text 26"/>
          <p:cNvSpPr txBox="1"/>
          <p:nvPr/>
        </p:nvSpPr>
        <p:spPr>
          <a:xfrm>
            <a:off x="3355848" y="3595702"/>
            <a:ext cx="777240"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14.7</a:t>
            </a:r>
            <a:endParaRPr lang="en-US" sz="1300" dirty="0"/>
          </a:p>
        </p:txBody>
      </p:sp>
      <p:sp>
        <p:nvSpPr>
          <p:cNvPr id="29" name="Text 27"/>
          <p:cNvSpPr txBox="1"/>
          <p:nvPr/>
        </p:nvSpPr>
        <p:spPr>
          <a:xfrm>
            <a:off x="658368" y="3902378"/>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30" name="Shape 28"/>
          <p:cNvSpPr/>
          <p:nvPr/>
        </p:nvSpPr>
        <p:spPr>
          <a:xfrm>
            <a:off x="2267712" y="3979047"/>
            <a:ext cx="610365" cy="153338"/>
          </a:xfrm>
          <a:prstGeom prst="rect">
            <a:avLst/>
          </a:prstGeom>
          <a:solidFill>
            <a:srgbClr val="C2352F"/>
          </a:solidFill>
          <a:ln/>
        </p:spPr>
      </p:sp>
      <p:sp>
        <p:nvSpPr>
          <p:cNvPr id="31" name="Text 29"/>
          <p:cNvSpPr txBox="1"/>
          <p:nvPr/>
        </p:nvSpPr>
        <p:spPr>
          <a:xfrm>
            <a:off x="3355848" y="3902378"/>
            <a:ext cx="777240"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14.7</a:t>
            </a:r>
            <a:endParaRPr lang="en-US" sz="1300" dirty="0"/>
          </a:p>
        </p:txBody>
      </p:sp>
      <p:sp>
        <p:nvSpPr>
          <p:cNvPr id="32" name="Text 30"/>
          <p:cNvSpPr txBox="1"/>
          <p:nvPr/>
        </p:nvSpPr>
        <p:spPr>
          <a:xfrm>
            <a:off x="658368" y="4209054"/>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33" name="Shape 31"/>
          <p:cNvSpPr/>
          <p:nvPr/>
        </p:nvSpPr>
        <p:spPr>
          <a:xfrm>
            <a:off x="2267712" y="4285722"/>
            <a:ext cx="609846" cy="153338"/>
          </a:xfrm>
          <a:prstGeom prst="rect">
            <a:avLst/>
          </a:prstGeom>
          <a:solidFill>
            <a:srgbClr val="C2352F"/>
          </a:solidFill>
          <a:ln/>
        </p:spPr>
      </p:sp>
      <p:sp>
        <p:nvSpPr>
          <p:cNvPr id="34" name="Text 32"/>
          <p:cNvSpPr txBox="1"/>
          <p:nvPr/>
        </p:nvSpPr>
        <p:spPr>
          <a:xfrm>
            <a:off x="3355848" y="4209054"/>
            <a:ext cx="777240"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14.7</a:t>
            </a:r>
            <a:endParaRPr lang="en-US" sz="1300" dirty="0"/>
          </a:p>
        </p:txBody>
      </p:sp>
      <p:sp>
        <p:nvSpPr>
          <p:cNvPr id="35" name="Text 33"/>
          <p:cNvSpPr txBox="1"/>
          <p:nvPr/>
        </p:nvSpPr>
        <p:spPr>
          <a:xfrm>
            <a:off x="658368" y="4515729"/>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36" name="Shape 34"/>
          <p:cNvSpPr/>
          <p:nvPr/>
        </p:nvSpPr>
        <p:spPr>
          <a:xfrm>
            <a:off x="2267712" y="4592398"/>
            <a:ext cx="565884" cy="153338"/>
          </a:xfrm>
          <a:prstGeom prst="rect">
            <a:avLst/>
          </a:prstGeom>
          <a:solidFill>
            <a:srgbClr val="C2352F"/>
          </a:solidFill>
          <a:ln/>
        </p:spPr>
      </p:sp>
      <p:sp>
        <p:nvSpPr>
          <p:cNvPr id="37" name="Text 35"/>
          <p:cNvSpPr txBox="1"/>
          <p:nvPr/>
        </p:nvSpPr>
        <p:spPr>
          <a:xfrm>
            <a:off x="3355848" y="4515729"/>
            <a:ext cx="777240"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13.6</a:t>
            </a:r>
            <a:endParaRPr lang="en-US" sz="1300" dirty="0"/>
          </a:p>
        </p:txBody>
      </p:sp>
      <p:sp>
        <p:nvSpPr>
          <p:cNvPr id="38" name="Text 36"/>
          <p:cNvSpPr txBox="1"/>
          <p:nvPr/>
        </p:nvSpPr>
        <p:spPr>
          <a:xfrm>
            <a:off x="658368" y="4950421"/>
            <a:ext cx="3383280" cy="36576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LUXURY AVG  </a:t>
            </a:r>
            <a:pPr indent="0" marL="0">
              <a:buNone/>
            </a:pPr>
            <a:r>
              <a:rPr lang="en-US" sz="1800" b="1" dirty="0">
                <a:solidFill>
                  <a:srgbClr val="0B2C4A"/>
                </a:solidFill>
                <a:latin typeface="Inter" pitchFamily="34" charset="0"/>
                <a:ea typeface="Inter" pitchFamily="34" charset="-122"/>
                <a:cs typeface="Inter" pitchFamily="34" charset="-120"/>
              </a:rPr>
              <a:t>17.4  </a:t>
            </a:r>
            <a:pPr indent="0" marL="0">
              <a:buNone/>
            </a:pPr>
            <a:r>
              <a:rPr lang="en-US" sz="1400" b="1" dirty="0">
                <a:solidFill>
                  <a:srgbClr val="0B7A4A"/>
                </a:solidFill>
                <a:latin typeface="Inter" pitchFamily="34" charset="0"/>
                <a:ea typeface="Inter" pitchFamily="34" charset="-122"/>
                <a:cs typeface="Inter" pitchFamily="34" charset="-120"/>
              </a:rPr>
              <a:t>(+0.1)</a:t>
            </a:r>
            <a:endParaRPr lang="en-US" sz="1400" dirty="0"/>
          </a:p>
        </p:txBody>
      </p:sp>
      <p:sp>
        <p:nvSpPr>
          <p:cNvPr id="39" name="Text 37"/>
          <p:cNvSpPr txBox="1"/>
          <p:nvPr/>
        </p:nvSpPr>
        <p:spPr>
          <a:xfrm>
            <a:off x="658368" y="5334469"/>
            <a:ext cx="3383280" cy="36576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NON-LUXURY AVG  </a:t>
            </a:r>
            <a:pPr indent="0" marL="0">
              <a:buNone/>
            </a:pPr>
            <a:r>
              <a:rPr lang="en-US" sz="1800" b="1" dirty="0">
                <a:solidFill>
                  <a:srgbClr val="0B2C4A"/>
                </a:solidFill>
                <a:latin typeface="Inter" pitchFamily="34" charset="0"/>
                <a:ea typeface="Inter" pitchFamily="34" charset="-122"/>
                <a:cs typeface="Inter" pitchFamily="34" charset="-120"/>
              </a:rPr>
              <a:t>29.3  </a:t>
            </a:r>
            <a:pPr indent="0" marL="0">
              <a:buNone/>
            </a:pPr>
            <a:r>
              <a:rPr lang="en-US" sz="1400" b="1" dirty="0">
                <a:solidFill>
                  <a:srgbClr val="0B7A4A"/>
                </a:solidFill>
                <a:latin typeface="Inter" pitchFamily="34" charset="0"/>
                <a:ea typeface="Inter" pitchFamily="34" charset="-122"/>
                <a:cs typeface="Inter" pitchFamily="34" charset="-120"/>
              </a:rPr>
              <a:t>(+1.1)</a:t>
            </a:r>
            <a:endParaRPr lang="en-US" sz="1400" dirty="0"/>
          </a:p>
        </p:txBody>
      </p:sp>
      <p:sp>
        <p:nvSpPr>
          <p:cNvPr id="40" name="Text 38"/>
          <p:cNvSpPr txBox="1"/>
          <p:nvPr/>
        </p:nvSpPr>
        <p:spPr>
          <a:xfrm>
            <a:off x="4315968" y="1316736"/>
            <a:ext cx="7132320" cy="32918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NON-LUXURY · 24 STORES</a:t>
            </a:r>
            <a:endParaRPr lang="en-US" sz="1400" dirty="0"/>
          </a:p>
        </p:txBody>
      </p:sp>
      <p:sp>
        <p:nvSpPr>
          <p:cNvPr id="41" name="Text 39"/>
          <p:cNvSpPr txBox="1"/>
          <p:nvPr/>
        </p:nvSpPr>
        <p:spPr>
          <a:xfrm>
            <a:off x="4315968" y="1755648"/>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42" name="Shape 40"/>
          <p:cNvSpPr/>
          <p:nvPr/>
        </p:nvSpPr>
        <p:spPr>
          <a:xfrm>
            <a:off x="6291072" y="1832317"/>
            <a:ext cx="627529" cy="153338"/>
          </a:xfrm>
          <a:prstGeom prst="rect">
            <a:avLst/>
          </a:prstGeom>
          <a:solidFill>
            <a:srgbClr val="12A566"/>
          </a:solidFill>
          <a:ln/>
        </p:spPr>
      </p:sp>
      <p:sp>
        <p:nvSpPr>
          <p:cNvPr id="43" name="Text 41"/>
          <p:cNvSpPr txBox="1"/>
          <p:nvPr/>
        </p:nvSpPr>
        <p:spPr>
          <a:xfrm>
            <a:off x="6967728" y="1755648"/>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39.8</a:t>
            </a:r>
            <a:endParaRPr lang="en-US" sz="1300" dirty="0"/>
          </a:p>
        </p:txBody>
      </p:sp>
      <p:sp>
        <p:nvSpPr>
          <p:cNvPr id="44" name="Text 42"/>
          <p:cNvSpPr txBox="1"/>
          <p:nvPr/>
        </p:nvSpPr>
        <p:spPr>
          <a:xfrm>
            <a:off x="4315968" y="2062324"/>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45" name="Shape 43"/>
          <p:cNvSpPr/>
          <p:nvPr/>
        </p:nvSpPr>
        <p:spPr>
          <a:xfrm>
            <a:off x="6291072" y="2138993"/>
            <a:ext cx="606544" cy="153338"/>
          </a:xfrm>
          <a:prstGeom prst="rect">
            <a:avLst/>
          </a:prstGeom>
          <a:solidFill>
            <a:srgbClr val="12A566"/>
          </a:solidFill>
          <a:ln/>
        </p:spPr>
      </p:sp>
      <p:sp>
        <p:nvSpPr>
          <p:cNvPr id="46" name="Text 44"/>
          <p:cNvSpPr txBox="1"/>
          <p:nvPr/>
        </p:nvSpPr>
        <p:spPr>
          <a:xfrm>
            <a:off x="6967728" y="2062324"/>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38.5</a:t>
            </a:r>
            <a:endParaRPr lang="en-US" sz="1300" dirty="0"/>
          </a:p>
        </p:txBody>
      </p:sp>
      <p:sp>
        <p:nvSpPr>
          <p:cNvPr id="47" name="Text 45"/>
          <p:cNvSpPr txBox="1"/>
          <p:nvPr/>
        </p:nvSpPr>
        <p:spPr>
          <a:xfrm>
            <a:off x="4315968" y="2368999"/>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48" name="Shape 46"/>
          <p:cNvSpPr/>
          <p:nvPr/>
        </p:nvSpPr>
        <p:spPr>
          <a:xfrm>
            <a:off x="6291072" y="2445668"/>
            <a:ext cx="589437" cy="153338"/>
          </a:xfrm>
          <a:prstGeom prst="rect">
            <a:avLst/>
          </a:prstGeom>
          <a:solidFill>
            <a:srgbClr val="12A566"/>
          </a:solidFill>
          <a:ln/>
        </p:spPr>
      </p:sp>
      <p:sp>
        <p:nvSpPr>
          <p:cNvPr id="49" name="Text 47"/>
          <p:cNvSpPr txBox="1"/>
          <p:nvPr/>
        </p:nvSpPr>
        <p:spPr>
          <a:xfrm>
            <a:off x="6967728" y="2368999"/>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37.4</a:t>
            </a:r>
            <a:endParaRPr lang="en-US" sz="1300" dirty="0"/>
          </a:p>
        </p:txBody>
      </p:sp>
      <p:sp>
        <p:nvSpPr>
          <p:cNvPr id="50" name="Text 48"/>
          <p:cNvSpPr txBox="1"/>
          <p:nvPr/>
        </p:nvSpPr>
        <p:spPr>
          <a:xfrm>
            <a:off x="4315968" y="2675675"/>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51" name="Shape 49"/>
          <p:cNvSpPr/>
          <p:nvPr/>
        </p:nvSpPr>
        <p:spPr>
          <a:xfrm>
            <a:off x="6291072" y="2752344"/>
            <a:ext cx="580151" cy="153338"/>
          </a:xfrm>
          <a:prstGeom prst="rect">
            <a:avLst/>
          </a:prstGeom>
          <a:solidFill>
            <a:srgbClr val="12A566"/>
          </a:solidFill>
          <a:ln/>
        </p:spPr>
      </p:sp>
      <p:sp>
        <p:nvSpPr>
          <p:cNvPr id="52" name="Text 50"/>
          <p:cNvSpPr txBox="1"/>
          <p:nvPr/>
        </p:nvSpPr>
        <p:spPr>
          <a:xfrm>
            <a:off x="6967728" y="2675675"/>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36.8</a:t>
            </a:r>
            <a:endParaRPr lang="en-US" sz="1300" dirty="0"/>
          </a:p>
        </p:txBody>
      </p:sp>
      <p:sp>
        <p:nvSpPr>
          <p:cNvPr id="53" name="Text 51"/>
          <p:cNvSpPr txBox="1"/>
          <p:nvPr/>
        </p:nvSpPr>
        <p:spPr>
          <a:xfrm>
            <a:off x="4315968" y="2982351"/>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54" name="Shape 52"/>
          <p:cNvSpPr/>
          <p:nvPr/>
        </p:nvSpPr>
        <p:spPr>
          <a:xfrm>
            <a:off x="6291072" y="3059020"/>
            <a:ext cx="575467" cy="153338"/>
          </a:xfrm>
          <a:prstGeom prst="rect">
            <a:avLst/>
          </a:prstGeom>
          <a:solidFill>
            <a:srgbClr val="12A566"/>
          </a:solidFill>
          <a:ln/>
        </p:spPr>
      </p:sp>
      <p:sp>
        <p:nvSpPr>
          <p:cNvPr id="55" name="Text 53"/>
          <p:cNvSpPr txBox="1"/>
          <p:nvPr/>
        </p:nvSpPr>
        <p:spPr>
          <a:xfrm>
            <a:off x="6967728" y="2982351"/>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36.5</a:t>
            </a:r>
            <a:endParaRPr lang="en-US" sz="1300" dirty="0"/>
          </a:p>
        </p:txBody>
      </p:sp>
      <p:sp>
        <p:nvSpPr>
          <p:cNvPr id="56" name="Text 54"/>
          <p:cNvSpPr txBox="1"/>
          <p:nvPr/>
        </p:nvSpPr>
        <p:spPr>
          <a:xfrm>
            <a:off x="4315968" y="3289026"/>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57" name="Shape 55"/>
          <p:cNvSpPr/>
          <p:nvPr/>
        </p:nvSpPr>
        <p:spPr>
          <a:xfrm>
            <a:off x="6291072" y="3365695"/>
            <a:ext cx="551497" cy="153338"/>
          </a:xfrm>
          <a:prstGeom prst="rect">
            <a:avLst/>
          </a:prstGeom>
          <a:solidFill>
            <a:srgbClr val="12A566"/>
          </a:solidFill>
          <a:ln/>
        </p:spPr>
      </p:sp>
      <p:sp>
        <p:nvSpPr>
          <p:cNvPr id="58" name="Text 56"/>
          <p:cNvSpPr txBox="1"/>
          <p:nvPr/>
        </p:nvSpPr>
        <p:spPr>
          <a:xfrm>
            <a:off x="6967728" y="3289026"/>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35.0</a:t>
            </a:r>
            <a:endParaRPr lang="en-US" sz="1300" dirty="0"/>
          </a:p>
        </p:txBody>
      </p:sp>
      <p:sp>
        <p:nvSpPr>
          <p:cNvPr id="59" name="Text 57"/>
          <p:cNvSpPr txBox="1"/>
          <p:nvPr/>
        </p:nvSpPr>
        <p:spPr>
          <a:xfrm>
            <a:off x="4315968" y="3595702"/>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60" name="Shape 58"/>
          <p:cNvSpPr/>
          <p:nvPr/>
        </p:nvSpPr>
        <p:spPr>
          <a:xfrm>
            <a:off x="6291072" y="3672371"/>
            <a:ext cx="547212" cy="153338"/>
          </a:xfrm>
          <a:prstGeom prst="rect">
            <a:avLst/>
          </a:prstGeom>
          <a:solidFill>
            <a:srgbClr val="12A566"/>
          </a:solidFill>
          <a:ln/>
        </p:spPr>
      </p:sp>
      <p:sp>
        <p:nvSpPr>
          <p:cNvPr id="61" name="Text 59"/>
          <p:cNvSpPr txBox="1"/>
          <p:nvPr/>
        </p:nvSpPr>
        <p:spPr>
          <a:xfrm>
            <a:off x="6967728" y="3595702"/>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34.7</a:t>
            </a:r>
            <a:endParaRPr lang="en-US" sz="1300" dirty="0"/>
          </a:p>
        </p:txBody>
      </p:sp>
      <p:sp>
        <p:nvSpPr>
          <p:cNvPr id="62" name="Text 60"/>
          <p:cNvSpPr txBox="1"/>
          <p:nvPr/>
        </p:nvSpPr>
        <p:spPr>
          <a:xfrm>
            <a:off x="4315968" y="3902378"/>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63" name="Shape 61"/>
          <p:cNvSpPr/>
          <p:nvPr/>
        </p:nvSpPr>
        <p:spPr>
          <a:xfrm>
            <a:off x="6291072" y="3979047"/>
            <a:ext cx="511058" cy="153338"/>
          </a:xfrm>
          <a:prstGeom prst="rect">
            <a:avLst/>
          </a:prstGeom>
          <a:solidFill>
            <a:srgbClr val="12A566"/>
          </a:solidFill>
          <a:ln/>
        </p:spPr>
      </p:sp>
      <p:sp>
        <p:nvSpPr>
          <p:cNvPr id="64" name="Text 62"/>
          <p:cNvSpPr txBox="1"/>
          <p:nvPr/>
        </p:nvSpPr>
        <p:spPr>
          <a:xfrm>
            <a:off x="6967728" y="3902378"/>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32.4</a:t>
            </a:r>
            <a:endParaRPr lang="en-US" sz="1300" dirty="0"/>
          </a:p>
        </p:txBody>
      </p:sp>
      <p:sp>
        <p:nvSpPr>
          <p:cNvPr id="65" name="Text 63"/>
          <p:cNvSpPr txBox="1"/>
          <p:nvPr/>
        </p:nvSpPr>
        <p:spPr>
          <a:xfrm>
            <a:off x="4315968" y="4209054"/>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66" name="Shape 64"/>
          <p:cNvSpPr/>
          <p:nvPr/>
        </p:nvSpPr>
        <p:spPr>
          <a:xfrm>
            <a:off x="6291072" y="4285722"/>
            <a:ext cx="495037" cy="153338"/>
          </a:xfrm>
          <a:prstGeom prst="rect">
            <a:avLst/>
          </a:prstGeom>
          <a:solidFill>
            <a:srgbClr val="12A566"/>
          </a:solidFill>
          <a:ln/>
        </p:spPr>
      </p:sp>
      <p:sp>
        <p:nvSpPr>
          <p:cNvPr id="67" name="Text 65"/>
          <p:cNvSpPr txBox="1"/>
          <p:nvPr/>
        </p:nvSpPr>
        <p:spPr>
          <a:xfrm>
            <a:off x="6967728" y="4209054"/>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31.4</a:t>
            </a:r>
            <a:endParaRPr lang="en-US" sz="1300" dirty="0"/>
          </a:p>
        </p:txBody>
      </p:sp>
      <p:sp>
        <p:nvSpPr>
          <p:cNvPr id="68" name="Text 66"/>
          <p:cNvSpPr txBox="1"/>
          <p:nvPr/>
        </p:nvSpPr>
        <p:spPr>
          <a:xfrm>
            <a:off x="4315968" y="4515729"/>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69" name="Shape 67"/>
          <p:cNvSpPr/>
          <p:nvPr/>
        </p:nvSpPr>
        <p:spPr>
          <a:xfrm>
            <a:off x="6291072" y="4592398"/>
            <a:ext cx="494875" cy="153338"/>
          </a:xfrm>
          <a:prstGeom prst="rect">
            <a:avLst/>
          </a:prstGeom>
          <a:solidFill>
            <a:srgbClr val="12A566"/>
          </a:solidFill>
          <a:ln/>
        </p:spPr>
      </p:sp>
      <p:sp>
        <p:nvSpPr>
          <p:cNvPr id="70" name="Text 68"/>
          <p:cNvSpPr txBox="1"/>
          <p:nvPr/>
        </p:nvSpPr>
        <p:spPr>
          <a:xfrm>
            <a:off x="6967728" y="4515729"/>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31.4</a:t>
            </a:r>
            <a:endParaRPr lang="en-US" sz="1300" dirty="0"/>
          </a:p>
        </p:txBody>
      </p:sp>
      <p:sp>
        <p:nvSpPr>
          <p:cNvPr id="71" name="Text 69"/>
          <p:cNvSpPr txBox="1"/>
          <p:nvPr/>
        </p:nvSpPr>
        <p:spPr>
          <a:xfrm>
            <a:off x="4315968" y="4822405"/>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72" name="Shape 70"/>
          <p:cNvSpPr/>
          <p:nvPr/>
        </p:nvSpPr>
        <p:spPr>
          <a:xfrm>
            <a:off x="6291072" y="4899074"/>
            <a:ext cx="494676" cy="153338"/>
          </a:xfrm>
          <a:prstGeom prst="rect">
            <a:avLst/>
          </a:prstGeom>
          <a:solidFill>
            <a:srgbClr val="12A566"/>
          </a:solidFill>
          <a:ln/>
        </p:spPr>
      </p:sp>
      <p:sp>
        <p:nvSpPr>
          <p:cNvPr id="73" name="Text 71"/>
          <p:cNvSpPr txBox="1"/>
          <p:nvPr/>
        </p:nvSpPr>
        <p:spPr>
          <a:xfrm>
            <a:off x="6967728" y="4822405"/>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31.4</a:t>
            </a:r>
            <a:endParaRPr lang="en-US" sz="1300" dirty="0"/>
          </a:p>
        </p:txBody>
      </p:sp>
      <p:sp>
        <p:nvSpPr>
          <p:cNvPr id="74" name="Text 72"/>
          <p:cNvSpPr txBox="1"/>
          <p:nvPr/>
        </p:nvSpPr>
        <p:spPr>
          <a:xfrm>
            <a:off x="4315968" y="5129081"/>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75" name="Shape 73"/>
          <p:cNvSpPr/>
          <p:nvPr/>
        </p:nvSpPr>
        <p:spPr>
          <a:xfrm>
            <a:off x="6291072" y="5205750"/>
            <a:ext cx="492545" cy="153338"/>
          </a:xfrm>
          <a:prstGeom prst="rect">
            <a:avLst/>
          </a:prstGeom>
          <a:solidFill>
            <a:srgbClr val="12A566"/>
          </a:solidFill>
          <a:ln/>
        </p:spPr>
      </p:sp>
      <p:sp>
        <p:nvSpPr>
          <p:cNvPr id="76" name="Text 74"/>
          <p:cNvSpPr txBox="1"/>
          <p:nvPr/>
        </p:nvSpPr>
        <p:spPr>
          <a:xfrm>
            <a:off x="6967728" y="5129081"/>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31.3</a:t>
            </a:r>
            <a:endParaRPr lang="en-US" sz="1300" dirty="0"/>
          </a:p>
        </p:txBody>
      </p:sp>
      <p:sp>
        <p:nvSpPr>
          <p:cNvPr id="77" name="Text 75"/>
          <p:cNvSpPr txBox="1"/>
          <p:nvPr/>
        </p:nvSpPr>
        <p:spPr>
          <a:xfrm>
            <a:off x="4315968" y="5435756"/>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78" name="Shape 76"/>
          <p:cNvSpPr/>
          <p:nvPr/>
        </p:nvSpPr>
        <p:spPr>
          <a:xfrm>
            <a:off x="6291072" y="5512425"/>
            <a:ext cx="490000" cy="153338"/>
          </a:xfrm>
          <a:prstGeom prst="rect">
            <a:avLst/>
          </a:prstGeom>
          <a:solidFill>
            <a:srgbClr val="12A566"/>
          </a:solidFill>
          <a:ln/>
        </p:spPr>
      </p:sp>
      <p:sp>
        <p:nvSpPr>
          <p:cNvPr id="79" name="Text 77"/>
          <p:cNvSpPr txBox="1"/>
          <p:nvPr/>
        </p:nvSpPr>
        <p:spPr>
          <a:xfrm>
            <a:off x="6967728" y="5435756"/>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31.1</a:t>
            </a:r>
            <a:endParaRPr lang="en-US" sz="1300" dirty="0"/>
          </a:p>
        </p:txBody>
      </p:sp>
      <p:sp>
        <p:nvSpPr>
          <p:cNvPr id="80" name="Text 78"/>
          <p:cNvSpPr txBox="1"/>
          <p:nvPr/>
        </p:nvSpPr>
        <p:spPr>
          <a:xfrm>
            <a:off x="7918704" y="1755648"/>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81" name="Shape 79"/>
          <p:cNvSpPr/>
          <p:nvPr/>
        </p:nvSpPr>
        <p:spPr>
          <a:xfrm>
            <a:off x="9893808" y="1832317"/>
            <a:ext cx="481392" cy="153338"/>
          </a:xfrm>
          <a:prstGeom prst="rect">
            <a:avLst/>
          </a:prstGeom>
          <a:solidFill>
            <a:srgbClr val="12A566"/>
          </a:solidFill>
          <a:ln/>
        </p:spPr>
      </p:sp>
      <p:sp>
        <p:nvSpPr>
          <p:cNvPr id="82" name="Text 80"/>
          <p:cNvSpPr txBox="1"/>
          <p:nvPr/>
        </p:nvSpPr>
        <p:spPr>
          <a:xfrm>
            <a:off x="10570464" y="1755648"/>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30.6</a:t>
            </a:r>
            <a:endParaRPr lang="en-US" sz="1300" dirty="0"/>
          </a:p>
        </p:txBody>
      </p:sp>
      <p:sp>
        <p:nvSpPr>
          <p:cNvPr id="83" name="Shape 81"/>
          <p:cNvSpPr/>
          <p:nvPr/>
        </p:nvSpPr>
        <p:spPr>
          <a:xfrm>
            <a:off x="7863840" y="2062324"/>
            <a:ext cx="3529584" cy="297532"/>
          </a:xfrm>
          <a:prstGeom prst="rect">
            <a:avLst/>
          </a:prstGeom>
          <a:solidFill>
            <a:srgbClr val="EDF4FA"/>
          </a:solidFill>
          <a:ln/>
        </p:spPr>
      </p:sp>
      <p:sp>
        <p:nvSpPr>
          <p:cNvPr id="84" name="Text 82"/>
          <p:cNvSpPr txBox="1"/>
          <p:nvPr/>
        </p:nvSpPr>
        <p:spPr>
          <a:xfrm>
            <a:off x="7918704" y="2062324"/>
            <a:ext cx="1920240" cy="306676"/>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NON-LUXURY</a:t>
            </a:r>
            <a:endParaRPr lang="en-US" sz="1300" dirty="0"/>
          </a:p>
        </p:txBody>
      </p:sp>
      <p:sp>
        <p:nvSpPr>
          <p:cNvPr id="85" name="Shape 83"/>
          <p:cNvSpPr/>
          <p:nvPr/>
        </p:nvSpPr>
        <p:spPr>
          <a:xfrm>
            <a:off x="9893808" y="2138993"/>
            <a:ext cx="460833" cy="153338"/>
          </a:xfrm>
          <a:prstGeom prst="rect">
            <a:avLst/>
          </a:prstGeom>
          <a:solidFill>
            <a:srgbClr val="0B2C4A"/>
          </a:solidFill>
          <a:ln/>
        </p:spPr>
      </p:sp>
      <p:sp>
        <p:nvSpPr>
          <p:cNvPr id="86" name="Text 84"/>
          <p:cNvSpPr txBox="1"/>
          <p:nvPr/>
        </p:nvSpPr>
        <p:spPr>
          <a:xfrm>
            <a:off x="10570464" y="2062324"/>
            <a:ext cx="786384" cy="306676"/>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29.3</a:t>
            </a:r>
            <a:endParaRPr lang="en-US" sz="1300" dirty="0"/>
          </a:p>
        </p:txBody>
      </p:sp>
      <p:sp>
        <p:nvSpPr>
          <p:cNvPr id="87" name="Text 85"/>
          <p:cNvSpPr txBox="1"/>
          <p:nvPr/>
        </p:nvSpPr>
        <p:spPr>
          <a:xfrm>
            <a:off x="7918704" y="2368999"/>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88" name="Shape 86"/>
          <p:cNvSpPr/>
          <p:nvPr/>
        </p:nvSpPr>
        <p:spPr>
          <a:xfrm>
            <a:off x="9893808" y="2445668"/>
            <a:ext cx="454080" cy="153338"/>
          </a:xfrm>
          <a:prstGeom prst="rect">
            <a:avLst/>
          </a:prstGeom>
          <a:solidFill>
            <a:srgbClr val="C2352F"/>
          </a:solidFill>
          <a:ln/>
        </p:spPr>
      </p:sp>
      <p:sp>
        <p:nvSpPr>
          <p:cNvPr id="89" name="Text 87"/>
          <p:cNvSpPr txBox="1"/>
          <p:nvPr/>
        </p:nvSpPr>
        <p:spPr>
          <a:xfrm>
            <a:off x="10570464" y="2368999"/>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28.8</a:t>
            </a:r>
            <a:endParaRPr lang="en-US" sz="1300" dirty="0"/>
          </a:p>
        </p:txBody>
      </p:sp>
      <p:sp>
        <p:nvSpPr>
          <p:cNvPr id="90" name="Text 88"/>
          <p:cNvSpPr txBox="1"/>
          <p:nvPr/>
        </p:nvSpPr>
        <p:spPr>
          <a:xfrm>
            <a:off x="7918704" y="2675675"/>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91" name="Shape 89"/>
          <p:cNvSpPr/>
          <p:nvPr/>
        </p:nvSpPr>
        <p:spPr>
          <a:xfrm>
            <a:off x="9893808" y="2752344"/>
            <a:ext cx="444605" cy="153338"/>
          </a:xfrm>
          <a:prstGeom prst="rect">
            <a:avLst/>
          </a:prstGeom>
          <a:solidFill>
            <a:srgbClr val="C2352F"/>
          </a:solidFill>
          <a:ln/>
        </p:spPr>
      </p:sp>
      <p:sp>
        <p:nvSpPr>
          <p:cNvPr id="92" name="Text 90"/>
          <p:cNvSpPr txBox="1"/>
          <p:nvPr/>
        </p:nvSpPr>
        <p:spPr>
          <a:xfrm>
            <a:off x="10570464" y="2675675"/>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28.2</a:t>
            </a:r>
            <a:endParaRPr lang="en-US" sz="1300" dirty="0"/>
          </a:p>
        </p:txBody>
      </p:sp>
      <p:sp>
        <p:nvSpPr>
          <p:cNvPr id="93" name="Text 91"/>
          <p:cNvSpPr txBox="1"/>
          <p:nvPr/>
        </p:nvSpPr>
        <p:spPr>
          <a:xfrm>
            <a:off x="7918704" y="2982351"/>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94" name="Shape 92"/>
          <p:cNvSpPr/>
          <p:nvPr/>
        </p:nvSpPr>
        <p:spPr>
          <a:xfrm>
            <a:off x="9893808" y="3059020"/>
            <a:ext cx="401239" cy="153338"/>
          </a:xfrm>
          <a:prstGeom prst="rect">
            <a:avLst/>
          </a:prstGeom>
          <a:solidFill>
            <a:srgbClr val="C2352F"/>
          </a:solidFill>
          <a:ln/>
        </p:spPr>
      </p:sp>
      <p:sp>
        <p:nvSpPr>
          <p:cNvPr id="95" name="Text 93"/>
          <p:cNvSpPr txBox="1"/>
          <p:nvPr/>
        </p:nvSpPr>
        <p:spPr>
          <a:xfrm>
            <a:off x="10570464" y="2982351"/>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25.5</a:t>
            </a:r>
            <a:endParaRPr lang="en-US" sz="1300" dirty="0"/>
          </a:p>
        </p:txBody>
      </p:sp>
      <p:sp>
        <p:nvSpPr>
          <p:cNvPr id="96" name="Text 94"/>
          <p:cNvSpPr txBox="1"/>
          <p:nvPr/>
        </p:nvSpPr>
        <p:spPr>
          <a:xfrm>
            <a:off x="7918704" y="3289026"/>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97" name="Shape 95"/>
          <p:cNvSpPr/>
          <p:nvPr/>
        </p:nvSpPr>
        <p:spPr>
          <a:xfrm>
            <a:off x="9893808" y="3365695"/>
            <a:ext cx="372474" cy="153338"/>
          </a:xfrm>
          <a:prstGeom prst="rect">
            <a:avLst/>
          </a:prstGeom>
          <a:solidFill>
            <a:srgbClr val="C2352F"/>
          </a:solidFill>
          <a:ln/>
        </p:spPr>
      </p:sp>
      <p:sp>
        <p:nvSpPr>
          <p:cNvPr id="98" name="Text 96"/>
          <p:cNvSpPr txBox="1"/>
          <p:nvPr/>
        </p:nvSpPr>
        <p:spPr>
          <a:xfrm>
            <a:off x="10570464" y="3289026"/>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23.6</a:t>
            </a:r>
            <a:endParaRPr lang="en-US" sz="1300" dirty="0"/>
          </a:p>
        </p:txBody>
      </p:sp>
      <p:sp>
        <p:nvSpPr>
          <p:cNvPr id="99" name="Text 97"/>
          <p:cNvSpPr txBox="1"/>
          <p:nvPr/>
        </p:nvSpPr>
        <p:spPr>
          <a:xfrm>
            <a:off x="7918704" y="3595702"/>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100" name="Shape 98"/>
          <p:cNvSpPr/>
          <p:nvPr/>
        </p:nvSpPr>
        <p:spPr>
          <a:xfrm>
            <a:off x="9893808" y="3672371"/>
            <a:ext cx="356634" cy="153338"/>
          </a:xfrm>
          <a:prstGeom prst="rect">
            <a:avLst/>
          </a:prstGeom>
          <a:solidFill>
            <a:srgbClr val="C2352F"/>
          </a:solidFill>
          <a:ln/>
        </p:spPr>
      </p:sp>
      <p:sp>
        <p:nvSpPr>
          <p:cNvPr id="101" name="Text 99"/>
          <p:cNvSpPr txBox="1"/>
          <p:nvPr/>
        </p:nvSpPr>
        <p:spPr>
          <a:xfrm>
            <a:off x="10570464" y="3595702"/>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22.6</a:t>
            </a:r>
            <a:endParaRPr lang="en-US" sz="1300" dirty="0"/>
          </a:p>
        </p:txBody>
      </p:sp>
      <p:sp>
        <p:nvSpPr>
          <p:cNvPr id="102" name="Text 100"/>
          <p:cNvSpPr txBox="1"/>
          <p:nvPr/>
        </p:nvSpPr>
        <p:spPr>
          <a:xfrm>
            <a:off x="7918704" y="3902378"/>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103" name="Shape 101"/>
          <p:cNvSpPr/>
          <p:nvPr/>
        </p:nvSpPr>
        <p:spPr>
          <a:xfrm>
            <a:off x="9893808" y="3979047"/>
            <a:ext cx="348422" cy="153338"/>
          </a:xfrm>
          <a:prstGeom prst="rect">
            <a:avLst/>
          </a:prstGeom>
          <a:solidFill>
            <a:srgbClr val="C2352F"/>
          </a:solidFill>
          <a:ln/>
        </p:spPr>
      </p:sp>
      <p:sp>
        <p:nvSpPr>
          <p:cNvPr id="104" name="Text 102"/>
          <p:cNvSpPr txBox="1"/>
          <p:nvPr/>
        </p:nvSpPr>
        <p:spPr>
          <a:xfrm>
            <a:off x="10570464" y="3902378"/>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22.1</a:t>
            </a:r>
            <a:endParaRPr lang="en-US" sz="1300" dirty="0"/>
          </a:p>
        </p:txBody>
      </p:sp>
      <p:sp>
        <p:nvSpPr>
          <p:cNvPr id="105" name="Text 103"/>
          <p:cNvSpPr txBox="1"/>
          <p:nvPr/>
        </p:nvSpPr>
        <p:spPr>
          <a:xfrm>
            <a:off x="7918704" y="4209054"/>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106" name="Shape 104"/>
          <p:cNvSpPr/>
          <p:nvPr/>
        </p:nvSpPr>
        <p:spPr>
          <a:xfrm>
            <a:off x="9893808" y="4285722"/>
            <a:ext cx="329527" cy="153338"/>
          </a:xfrm>
          <a:prstGeom prst="rect">
            <a:avLst/>
          </a:prstGeom>
          <a:solidFill>
            <a:srgbClr val="C2352F"/>
          </a:solidFill>
          <a:ln/>
        </p:spPr>
      </p:sp>
      <p:sp>
        <p:nvSpPr>
          <p:cNvPr id="107" name="Text 105"/>
          <p:cNvSpPr txBox="1"/>
          <p:nvPr/>
        </p:nvSpPr>
        <p:spPr>
          <a:xfrm>
            <a:off x="10570464" y="4209054"/>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20.9</a:t>
            </a:r>
            <a:endParaRPr lang="en-US" sz="1300" dirty="0"/>
          </a:p>
        </p:txBody>
      </p:sp>
      <p:sp>
        <p:nvSpPr>
          <p:cNvPr id="108" name="Text 106"/>
          <p:cNvSpPr txBox="1"/>
          <p:nvPr/>
        </p:nvSpPr>
        <p:spPr>
          <a:xfrm>
            <a:off x="7918704" y="4515729"/>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109" name="Shape 107"/>
          <p:cNvSpPr/>
          <p:nvPr/>
        </p:nvSpPr>
        <p:spPr>
          <a:xfrm>
            <a:off x="9893808" y="4592398"/>
            <a:ext cx="320181" cy="153338"/>
          </a:xfrm>
          <a:prstGeom prst="rect">
            <a:avLst/>
          </a:prstGeom>
          <a:solidFill>
            <a:srgbClr val="C2352F"/>
          </a:solidFill>
          <a:ln/>
        </p:spPr>
      </p:sp>
      <p:sp>
        <p:nvSpPr>
          <p:cNvPr id="110" name="Text 108"/>
          <p:cNvSpPr txBox="1"/>
          <p:nvPr/>
        </p:nvSpPr>
        <p:spPr>
          <a:xfrm>
            <a:off x="10570464" y="4515729"/>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20.3</a:t>
            </a:r>
            <a:endParaRPr lang="en-US" sz="1300" dirty="0"/>
          </a:p>
        </p:txBody>
      </p:sp>
      <p:sp>
        <p:nvSpPr>
          <p:cNvPr id="111" name="Text 109"/>
          <p:cNvSpPr txBox="1"/>
          <p:nvPr/>
        </p:nvSpPr>
        <p:spPr>
          <a:xfrm>
            <a:off x="7918704" y="4822405"/>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112" name="Shape 110"/>
          <p:cNvSpPr/>
          <p:nvPr/>
        </p:nvSpPr>
        <p:spPr>
          <a:xfrm>
            <a:off x="9893808" y="4899074"/>
            <a:ext cx="302237" cy="153338"/>
          </a:xfrm>
          <a:prstGeom prst="rect">
            <a:avLst/>
          </a:prstGeom>
          <a:solidFill>
            <a:srgbClr val="C2352F"/>
          </a:solidFill>
          <a:ln/>
        </p:spPr>
      </p:sp>
      <p:sp>
        <p:nvSpPr>
          <p:cNvPr id="113" name="Text 111"/>
          <p:cNvSpPr txBox="1"/>
          <p:nvPr/>
        </p:nvSpPr>
        <p:spPr>
          <a:xfrm>
            <a:off x="10570464" y="4822405"/>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19.2</a:t>
            </a:r>
            <a:endParaRPr lang="en-US" sz="1300" dirty="0"/>
          </a:p>
        </p:txBody>
      </p:sp>
      <p:sp>
        <p:nvSpPr>
          <p:cNvPr id="114" name="Text 112"/>
          <p:cNvSpPr txBox="1"/>
          <p:nvPr/>
        </p:nvSpPr>
        <p:spPr>
          <a:xfrm>
            <a:off x="7918704" y="5129081"/>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115" name="Shape 113"/>
          <p:cNvSpPr/>
          <p:nvPr/>
        </p:nvSpPr>
        <p:spPr>
          <a:xfrm>
            <a:off x="9893808" y="5205750"/>
            <a:ext cx="273210" cy="153338"/>
          </a:xfrm>
          <a:prstGeom prst="rect">
            <a:avLst/>
          </a:prstGeom>
          <a:solidFill>
            <a:srgbClr val="C2352F"/>
          </a:solidFill>
          <a:ln/>
        </p:spPr>
      </p:sp>
      <p:sp>
        <p:nvSpPr>
          <p:cNvPr id="116" name="Text 114"/>
          <p:cNvSpPr txBox="1"/>
          <p:nvPr/>
        </p:nvSpPr>
        <p:spPr>
          <a:xfrm>
            <a:off x="10570464" y="5129081"/>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17.3</a:t>
            </a:r>
            <a:endParaRPr lang="en-US" sz="1300" dirty="0"/>
          </a:p>
        </p:txBody>
      </p:sp>
      <p:sp>
        <p:nvSpPr>
          <p:cNvPr id="117" name="Shape 115"/>
          <p:cNvSpPr/>
          <p:nvPr/>
        </p:nvSpPr>
        <p:spPr>
          <a:xfrm>
            <a:off x="457200" y="5961888"/>
            <a:ext cx="11274552" cy="548640"/>
          </a:xfrm>
          <a:prstGeom prst="rect">
            <a:avLst/>
          </a:prstGeom>
          <a:solidFill>
            <a:srgbClr val="EDF4FA"/>
          </a:solidFill>
          <a:ln/>
        </p:spPr>
      </p:sp>
      <p:sp>
        <p:nvSpPr>
          <p:cNvPr id="118" name="Text 116"/>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Against their own segment, 4 of 9 luxury stores beat 17.4 and 14 of 24 others beat 29.3. KIA ST GEORGE leads non-luxury at 39.8.</a:t>
            </a:r>
            <a:endParaRPr lang="en-US" sz="1600" dirty="0"/>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&amp; W ROs per Fixed Employee</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01168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GROUP</a:t>
            </a:r>
            <a:endParaRPr lang="en-US" sz="1500" dirty="0"/>
          </a:p>
        </p:txBody>
      </p:sp>
      <p:sp>
        <p:nvSpPr>
          <p:cNvPr id="9" name="Text 7"/>
          <p:cNvSpPr txBox="1"/>
          <p:nvPr/>
        </p:nvSpPr>
        <p:spPr>
          <a:xfrm>
            <a:off x="2834640" y="1335024"/>
            <a:ext cx="420624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SAME-STORE, 33 STORES</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+0.8</a:t>
            </a:r>
            <a:endParaRPr lang="en-US" sz="2000" dirty="0"/>
          </a:p>
        </p:txBody>
      </p:sp>
      <p:sp>
        <p:nvSpPr>
          <p:cNvPr id="11" name="Text 9"/>
          <p:cNvSpPr txBox="1"/>
          <p:nvPr/>
        </p:nvSpPr>
        <p:spPr>
          <a:xfrm>
            <a:off x="658368"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2" name="Shape 10"/>
          <p:cNvSpPr/>
          <p:nvPr/>
        </p:nvSpPr>
        <p:spPr>
          <a:xfrm>
            <a:off x="3813048" y="1909246"/>
            <a:ext cx="822960" cy="105898"/>
          </a:xfrm>
          <a:prstGeom prst="rect">
            <a:avLst/>
          </a:prstGeom>
          <a:solidFill>
            <a:srgbClr val="12A566"/>
          </a:solidFill>
          <a:ln/>
        </p:spPr>
      </p:sp>
      <p:sp>
        <p:nvSpPr>
          <p:cNvPr id="13" name="Text 11"/>
          <p:cNvSpPr txBox="1"/>
          <p:nvPr/>
        </p:nvSpPr>
        <p:spPr>
          <a:xfrm>
            <a:off x="4709160"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+6.9</a:t>
            </a:r>
            <a:endParaRPr lang="en-US" sz="1300" dirty="0"/>
          </a:p>
        </p:txBody>
      </p:sp>
      <p:sp>
        <p:nvSpPr>
          <p:cNvPr id="14" name="Text 12"/>
          <p:cNvSpPr txBox="1"/>
          <p:nvPr/>
        </p:nvSpPr>
        <p:spPr>
          <a:xfrm>
            <a:off x="658368"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15" name="Shape 13"/>
          <p:cNvSpPr/>
          <p:nvPr/>
        </p:nvSpPr>
        <p:spPr>
          <a:xfrm>
            <a:off x="3813048" y="2139459"/>
            <a:ext cx="576989" cy="105898"/>
          </a:xfrm>
          <a:prstGeom prst="rect">
            <a:avLst/>
          </a:prstGeom>
          <a:solidFill>
            <a:srgbClr val="12A566"/>
          </a:solidFill>
          <a:ln/>
        </p:spPr>
      </p:sp>
      <p:sp>
        <p:nvSpPr>
          <p:cNvPr id="16" name="Text 14"/>
          <p:cNvSpPr txBox="1"/>
          <p:nvPr/>
        </p:nvSpPr>
        <p:spPr>
          <a:xfrm>
            <a:off x="4709160"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+4.8</a:t>
            </a:r>
            <a:endParaRPr lang="en-US" sz="1300" dirty="0"/>
          </a:p>
        </p:txBody>
      </p:sp>
      <p:sp>
        <p:nvSpPr>
          <p:cNvPr id="17" name="Text 15"/>
          <p:cNvSpPr txBox="1"/>
          <p:nvPr/>
        </p:nvSpPr>
        <p:spPr>
          <a:xfrm>
            <a:off x="658368"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18" name="Shape 16"/>
          <p:cNvSpPr/>
          <p:nvPr/>
        </p:nvSpPr>
        <p:spPr>
          <a:xfrm>
            <a:off x="3813048" y="2369673"/>
            <a:ext cx="455342" cy="105898"/>
          </a:xfrm>
          <a:prstGeom prst="rect">
            <a:avLst/>
          </a:prstGeom>
          <a:solidFill>
            <a:srgbClr val="12A566"/>
          </a:solidFill>
          <a:ln/>
        </p:spPr>
      </p:sp>
      <p:sp>
        <p:nvSpPr>
          <p:cNvPr id="19" name="Text 17"/>
          <p:cNvSpPr txBox="1"/>
          <p:nvPr/>
        </p:nvSpPr>
        <p:spPr>
          <a:xfrm>
            <a:off x="4709160"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+3.8</a:t>
            </a:r>
            <a:endParaRPr lang="en-US" sz="1300" dirty="0"/>
          </a:p>
        </p:txBody>
      </p:sp>
      <p:sp>
        <p:nvSpPr>
          <p:cNvPr id="20" name="Text 18"/>
          <p:cNvSpPr txBox="1"/>
          <p:nvPr/>
        </p:nvSpPr>
        <p:spPr>
          <a:xfrm>
            <a:off x="658368"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21" name="Shape 19"/>
          <p:cNvSpPr/>
          <p:nvPr/>
        </p:nvSpPr>
        <p:spPr>
          <a:xfrm>
            <a:off x="3813048" y="2599887"/>
            <a:ext cx="436629" cy="105898"/>
          </a:xfrm>
          <a:prstGeom prst="rect">
            <a:avLst/>
          </a:prstGeom>
          <a:solidFill>
            <a:srgbClr val="12A566"/>
          </a:solidFill>
          <a:ln/>
        </p:spPr>
      </p:sp>
      <p:sp>
        <p:nvSpPr>
          <p:cNvPr id="22" name="Text 20"/>
          <p:cNvSpPr txBox="1"/>
          <p:nvPr/>
        </p:nvSpPr>
        <p:spPr>
          <a:xfrm>
            <a:off x="4709160"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+3.6</a:t>
            </a:r>
            <a:endParaRPr lang="en-US" sz="1300" dirty="0"/>
          </a:p>
        </p:txBody>
      </p:sp>
      <p:sp>
        <p:nvSpPr>
          <p:cNvPr id="23" name="Text 21"/>
          <p:cNvSpPr txBox="1"/>
          <p:nvPr/>
        </p:nvSpPr>
        <p:spPr>
          <a:xfrm>
            <a:off x="658368"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24" name="Shape 22"/>
          <p:cNvSpPr/>
          <p:nvPr/>
        </p:nvSpPr>
        <p:spPr>
          <a:xfrm>
            <a:off x="3813048" y="2830100"/>
            <a:ext cx="390417" cy="105898"/>
          </a:xfrm>
          <a:prstGeom prst="rect">
            <a:avLst/>
          </a:prstGeom>
          <a:solidFill>
            <a:srgbClr val="12A566"/>
          </a:solidFill>
          <a:ln/>
        </p:spPr>
      </p:sp>
      <p:sp>
        <p:nvSpPr>
          <p:cNvPr id="25" name="Text 23"/>
          <p:cNvSpPr txBox="1"/>
          <p:nvPr/>
        </p:nvSpPr>
        <p:spPr>
          <a:xfrm>
            <a:off x="4709160"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+3.3</a:t>
            </a:r>
            <a:endParaRPr lang="en-US" sz="1300" dirty="0"/>
          </a:p>
        </p:txBody>
      </p:sp>
      <p:sp>
        <p:nvSpPr>
          <p:cNvPr id="26" name="Text 24"/>
          <p:cNvSpPr txBox="1"/>
          <p:nvPr/>
        </p:nvSpPr>
        <p:spPr>
          <a:xfrm>
            <a:off x="658368"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27" name="Shape 25"/>
          <p:cNvSpPr/>
          <p:nvPr/>
        </p:nvSpPr>
        <p:spPr>
          <a:xfrm>
            <a:off x="3813048" y="3060314"/>
            <a:ext cx="332450" cy="105898"/>
          </a:xfrm>
          <a:prstGeom prst="rect">
            <a:avLst/>
          </a:prstGeom>
          <a:solidFill>
            <a:srgbClr val="12A566"/>
          </a:solidFill>
          <a:ln/>
        </p:spPr>
      </p:sp>
      <p:sp>
        <p:nvSpPr>
          <p:cNvPr id="28" name="Text 26"/>
          <p:cNvSpPr txBox="1"/>
          <p:nvPr/>
        </p:nvSpPr>
        <p:spPr>
          <a:xfrm>
            <a:off x="4709160"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+2.8</a:t>
            </a:r>
            <a:endParaRPr lang="en-US" sz="1300" dirty="0"/>
          </a:p>
        </p:txBody>
      </p:sp>
      <p:sp>
        <p:nvSpPr>
          <p:cNvPr id="29" name="Text 27"/>
          <p:cNvSpPr txBox="1"/>
          <p:nvPr/>
        </p:nvSpPr>
        <p:spPr>
          <a:xfrm>
            <a:off x="658368"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30" name="Shape 28"/>
          <p:cNvSpPr/>
          <p:nvPr/>
        </p:nvSpPr>
        <p:spPr>
          <a:xfrm>
            <a:off x="3813048" y="3290528"/>
            <a:ext cx="260650" cy="105898"/>
          </a:xfrm>
          <a:prstGeom prst="rect">
            <a:avLst/>
          </a:prstGeom>
          <a:solidFill>
            <a:srgbClr val="12A566"/>
          </a:solidFill>
          <a:ln/>
        </p:spPr>
      </p:sp>
      <p:sp>
        <p:nvSpPr>
          <p:cNvPr id="31" name="Text 29"/>
          <p:cNvSpPr txBox="1"/>
          <p:nvPr/>
        </p:nvSpPr>
        <p:spPr>
          <a:xfrm>
            <a:off x="4709160" y="3228370"/>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+2.2</a:t>
            </a:r>
            <a:endParaRPr lang="en-US" sz="1300" dirty="0"/>
          </a:p>
        </p:txBody>
      </p:sp>
      <p:sp>
        <p:nvSpPr>
          <p:cNvPr id="32" name="Text 30"/>
          <p:cNvSpPr txBox="1"/>
          <p:nvPr/>
        </p:nvSpPr>
        <p:spPr>
          <a:xfrm>
            <a:off x="658368"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33" name="Shape 31"/>
          <p:cNvSpPr/>
          <p:nvPr/>
        </p:nvSpPr>
        <p:spPr>
          <a:xfrm>
            <a:off x="3813048" y="3520741"/>
            <a:ext cx="257553" cy="105898"/>
          </a:xfrm>
          <a:prstGeom prst="rect">
            <a:avLst/>
          </a:prstGeom>
          <a:solidFill>
            <a:srgbClr val="12A566"/>
          </a:solidFill>
          <a:ln/>
        </p:spPr>
      </p:sp>
      <p:sp>
        <p:nvSpPr>
          <p:cNvPr id="34" name="Text 32"/>
          <p:cNvSpPr txBox="1"/>
          <p:nvPr/>
        </p:nvSpPr>
        <p:spPr>
          <a:xfrm>
            <a:off x="4709160" y="345858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+2.2</a:t>
            </a:r>
            <a:endParaRPr lang="en-US" sz="1300" dirty="0"/>
          </a:p>
        </p:txBody>
      </p:sp>
      <p:sp>
        <p:nvSpPr>
          <p:cNvPr id="35" name="Text 33"/>
          <p:cNvSpPr txBox="1"/>
          <p:nvPr/>
        </p:nvSpPr>
        <p:spPr>
          <a:xfrm>
            <a:off x="658368"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36" name="Shape 34"/>
          <p:cNvSpPr/>
          <p:nvPr/>
        </p:nvSpPr>
        <p:spPr>
          <a:xfrm>
            <a:off x="3813048" y="3750955"/>
            <a:ext cx="213951" cy="105898"/>
          </a:xfrm>
          <a:prstGeom prst="rect">
            <a:avLst/>
          </a:prstGeom>
          <a:solidFill>
            <a:srgbClr val="12A566"/>
          </a:solidFill>
          <a:ln/>
        </p:spPr>
      </p:sp>
      <p:sp>
        <p:nvSpPr>
          <p:cNvPr id="37" name="Text 35"/>
          <p:cNvSpPr txBox="1"/>
          <p:nvPr/>
        </p:nvSpPr>
        <p:spPr>
          <a:xfrm>
            <a:off x="4709160" y="3688797"/>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+1.8</a:t>
            </a:r>
            <a:endParaRPr lang="en-US" sz="1300" dirty="0"/>
          </a:p>
        </p:txBody>
      </p:sp>
      <p:sp>
        <p:nvSpPr>
          <p:cNvPr id="38" name="Text 36"/>
          <p:cNvSpPr txBox="1"/>
          <p:nvPr/>
        </p:nvSpPr>
        <p:spPr>
          <a:xfrm>
            <a:off x="658368"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39" name="Shape 37"/>
          <p:cNvSpPr/>
          <p:nvPr/>
        </p:nvSpPr>
        <p:spPr>
          <a:xfrm>
            <a:off x="3813048" y="3981169"/>
            <a:ext cx="189020" cy="105898"/>
          </a:xfrm>
          <a:prstGeom prst="rect">
            <a:avLst/>
          </a:prstGeom>
          <a:solidFill>
            <a:srgbClr val="12A566"/>
          </a:solidFill>
          <a:ln/>
        </p:spPr>
      </p:sp>
      <p:sp>
        <p:nvSpPr>
          <p:cNvPr id="40" name="Text 38"/>
          <p:cNvSpPr txBox="1"/>
          <p:nvPr/>
        </p:nvSpPr>
        <p:spPr>
          <a:xfrm>
            <a:off x="4709160" y="3919011"/>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+1.6</a:t>
            </a:r>
            <a:endParaRPr lang="en-US" sz="1300" dirty="0"/>
          </a:p>
        </p:txBody>
      </p:sp>
      <p:sp>
        <p:nvSpPr>
          <p:cNvPr id="41" name="Text 39"/>
          <p:cNvSpPr txBox="1"/>
          <p:nvPr/>
        </p:nvSpPr>
        <p:spPr>
          <a:xfrm>
            <a:off x="658368"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42" name="Shape 40"/>
          <p:cNvSpPr/>
          <p:nvPr/>
        </p:nvSpPr>
        <p:spPr>
          <a:xfrm>
            <a:off x="3813048" y="4211382"/>
            <a:ext cx="180989" cy="105898"/>
          </a:xfrm>
          <a:prstGeom prst="rect">
            <a:avLst/>
          </a:prstGeom>
          <a:solidFill>
            <a:srgbClr val="12A566"/>
          </a:solidFill>
          <a:ln/>
        </p:spPr>
      </p:sp>
      <p:sp>
        <p:nvSpPr>
          <p:cNvPr id="43" name="Text 41"/>
          <p:cNvSpPr txBox="1"/>
          <p:nvPr/>
        </p:nvSpPr>
        <p:spPr>
          <a:xfrm>
            <a:off x="4709160" y="414922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+1.5</a:t>
            </a:r>
            <a:endParaRPr lang="en-US" sz="1300" dirty="0"/>
          </a:p>
        </p:txBody>
      </p:sp>
      <p:sp>
        <p:nvSpPr>
          <p:cNvPr id="44" name="Text 42"/>
          <p:cNvSpPr txBox="1"/>
          <p:nvPr/>
        </p:nvSpPr>
        <p:spPr>
          <a:xfrm>
            <a:off x="658368"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45" name="Shape 43"/>
          <p:cNvSpPr/>
          <p:nvPr/>
        </p:nvSpPr>
        <p:spPr>
          <a:xfrm>
            <a:off x="3813048" y="4441596"/>
            <a:ext cx="123014" cy="105898"/>
          </a:xfrm>
          <a:prstGeom prst="rect">
            <a:avLst/>
          </a:prstGeom>
          <a:solidFill>
            <a:srgbClr val="12A566"/>
          </a:solidFill>
          <a:ln/>
        </p:spPr>
      </p:sp>
      <p:sp>
        <p:nvSpPr>
          <p:cNvPr id="46" name="Text 44"/>
          <p:cNvSpPr txBox="1"/>
          <p:nvPr/>
        </p:nvSpPr>
        <p:spPr>
          <a:xfrm>
            <a:off x="4709160" y="437943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a:t>
            </a:r>
            <a:endParaRPr lang="en-US" sz="1300" dirty="0"/>
          </a:p>
        </p:txBody>
      </p:sp>
      <p:sp>
        <p:nvSpPr>
          <p:cNvPr id="47" name="Text 45"/>
          <p:cNvSpPr txBox="1"/>
          <p:nvPr/>
        </p:nvSpPr>
        <p:spPr>
          <a:xfrm>
            <a:off x="658368"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48" name="Shape 46"/>
          <p:cNvSpPr/>
          <p:nvPr/>
        </p:nvSpPr>
        <p:spPr>
          <a:xfrm>
            <a:off x="3813048" y="4671809"/>
            <a:ext cx="115685" cy="105898"/>
          </a:xfrm>
          <a:prstGeom prst="rect">
            <a:avLst/>
          </a:prstGeom>
          <a:solidFill>
            <a:srgbClr val="12A566"/>
          </a:solidFill>
          <a:ln/>
        </p:spPr>
      </p:sp>
      <p:sp>
        <p:nvSpPr>
          <p:cNvPr id="49" name="Text 47"/>
          <p:cNvSpPr txBox="1"/>
          <p:nvPr/>
        </p:nvSpPr>
        <p:spPr>
          <a:xfrm>
            <a:off x="4709160" y="460965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a:t>
            </a:r>
            <a:endParaRPr lang="en-US" sz="1300" dirty="0"/>
          </a:p>
        </p:txBody>
      </p:sp>
      <p:sp>
        <p:nvSpPr>
          <p:cNvPr id="50" name="Text 48"/>
          <p:cNvSpPr txBox="1"/>
          <p:nvPr/>
        </p:nvSpPr>
        <p:spPr>
          <a:xfrm>
            <a:off x="658368"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51" name="Shape 49"/>
          <p:cNvSpPr/>
          <p:nvPr/>
        </p:nvSpPr>
        <p:spPr>
          <a:xfrm>
            <a:off x="3813048" y="4902023"/>
            <a:ext cx="105774" cy="105898"/>
          </a:xfrm>
          <a:prstGeom prst="rect">
            <a:avLst/>
          </a:prstGeom>
          <a:solidFill>
            <a:srgbClr val="12A566"/>
          </a:solidFill>
          <a:ln/>
        </p:spPr>
      </p:sp>
      <p:sp>
        <p:nvSpPr>
          <p:cNvPr id="52" name="Text 50"/>
          <p:cNvSpPr txBox="1"/>
          <p:nvPr/>
        </p:nvSpPr>
        <p:spPr>
          <a:xfrm>
            <a:off x="4709160" y="483986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+0.9</a:t>
            </a:r>
            <a:endParaRPr lang="en-US" sz="1300" dirty="0"/>
          </a:p>
        </p:txBody>
      </p:sp>
      <p:sp>
        <p:nvSpPr>
          <p:cNvPr id="53" name="Text 51"/>
          <p:cNvSpPr txBox="1"/>
          <p:nvPr/>
        </p:nvSpPr>
        <p:spPr>
          <a:xfrm>
            <a:off x="658368"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54" name="Shape 52"/>
          <p:cNvSpPr/>
          <p:nvPr/>
        </p:nvSpPr>
        <p:spPr>
          <a:xfrm>
            <a:off x="3813048" y="5132237"/>
            <a:ext cx="95064" cy="105898"/>
          </a:xfrm>
          <a:prstGeom prst="rect">
            <a:avLst/>
          </a:prstGeom>
          <a:solidFill>
            <a:srgbClr val="12A566"/>
          </a:solidFill>
          <a:ln/>
        </p:spPr>
      </p:sp>
      <p:sp>
        <p:nvSpPr>
          <p:cNvPr id="55" name="Text 53"/>
          <p:cNvSpPr txBox="1"/>
          <p:nvPr/>
        </p:nvSpPr>
        <p:spPr>
          <a:xfrm>
            <a:off x="4709160" y="507007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+0.8</a:t>
            </a:r>
            <a:endParaRPr lang="en-US" sz="1300" dirty="0"/>
          </a:p>
        </p:txBody>
      </p:sp>
      <p:sp>
        <p:nvSpPr>
          <p:cNvPr id="56" name="Text 54"/>
          <p:cNvSpPr txBox="1"/>
          <p:nvPr/>
        </p:nvSpPr>
        <p:spPr>
          <a:xfrm>
            <a:off x="658368"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57" name="Shape 55"/>
          <p:cNvSpPr/>
          <p:nvPr/>
        </p:nvSpPr>
        <p:spPr>
          <a:xfrm>
            <a:off x="3813048" y="5362450"/>
            <a:ext cx="86093" cy="105898"/>
          </a:xfrm>
          <a:prstGeom prst="rect">
            <a:avLst/>
          </a:prstGeom>
          <a:solidFill>
            <a:srgbClr val="12A566"/>
          </a:solidFill>
          <a:ln/>
        </p:spPr>
      </p:sp>
      <p:sp>
        <p:nvSpPr>
          <p:cNvPr id="58" name="Text 56"/>
          <p:cNvSpPr txBox="1"/>
          <p:nvPr/>
        </p:nvSpPr>
        <p:spPr>
          <a:xfrm>
            <a:off x="4709160" y="530029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+0.7</a:t>
            </a:r>
            <a:endParaRPr lang="en-US" sz="1300" dirty="0"/>
          </a:p>
        </p:txBody>
      </p:sp>
      <p:sp>
        <p:nvSpPr>
          <p:cNvPr id="59" name="Text 57"/>
          <p:cNvSpPr txBox="1"/>
          <p:nvPr/>
        </p:nvSpPr>
        <p:spPr>
          <a:xfrm>
            <a:off x="658368" y="553050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60" name="Shape 58"/>
          <p:cNvSpPr/>
          <p:nvPr/>
        </p:nvSpPr>
        <p:spPr>
          <a:xfrm>
            <a:off x="3813048" y="5592664"/>
            <a:ext cx="77785" cy="105898"/>
          </a:xfrm>
          <a:prstGeom prst="rect">
            <a:avLst/>
          </a:prstGeom>
          <a:solidFill>
            <a:srgbClr val="12A566"/>
          </a:solidFill>
          <a:ln/>
        </p:spPr>
      </p:sp>
      <p:sp>
        <p:nvSpPr>
          <p:cNvPr id="61" name="Text 59"/>
          <p:cNvSpPr txBox="1"/>
          <p:nvPr/>
        </p:nvSpPr>
        <p:spPr>
          <a:xfrm>
            <a:off x="4709160" y="553050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+0.6</a:t>
            </a:r>
            <a:endParaRPr lang="en-US" sz="1300" dirty="0"/>
          </a:p>
        </p:txBody>
      </p:sp>
      <p:sp>
        <p:nvSpPr>
          <p:cNvPr id="62" name="Text 60"/>
          <p:cNvSpPr txBox="1"/>
          <p:nvPr/>
        </p:nvSpPr>
        <p:spPr>
          <a:xfrm>
            <a:off x="6208776"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63" name="Shape 61"/>
          <p:cNvSpPr/>
          <p:nvPr/>
        </p:nvSpPr>
        <p:spPr>
          <a:xfrm>
            <a:off x="9363456" y="1909246"/>
            <a:ext cx="65160" cy="105898"/>
          </a:xfrm>
          <a:prstGeom prst="rect">
            <a:avLst/>
          </a:prstGeom>
          <a:solidFill>
            <a:srgbClr val="12A566"/>
          </a:solidFill>
          <a:ln/>
        </p:spPr>
      </p:sp>
      <p:sp>
        <p:nvSpPr>
          <p:cNvPr id="64" name="Text 62"/>
          <p:cNvSpPr txBox="1"/>
          <p:nvPr/>
        </p:nvSpPr>
        <p:spPr>
          <a:xfrm>
            <a:off x="10259568"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+0.5</a:t>
            </a:r>
            <a:endParaRPr lang="en-US" sz="1300" dirty="0"/>
          </a:p>
        </p:txBody>
      </p:sp>
      <p:sp>
        <p:nvSpPr>
          <p:cNvPr id="65" name="Text 63"/>
          <p:cNvSpPr txBox="1"/>
          <p:nvPr/>
        </p:nvSpPr>
        <p:spPr>
          <a:xfrm>
            <a:off x="6208776"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66" name="Shape 64"/>
          <p:cNvSpPr/>
          <p:nvPr/>
        </p:nvSpPr>
        <p:spPr>
          <a:xfrm>
            <a:off x="9363456" y="2139459"/>
            <a:ext cx="58737" cy="105898"/>
          </a:xfrm>
          <a:prstGeom prst="rect">
            <a:avLst/>
          </a:prstGeom>
          <a:solidFill>
            <a:srgbClr val="12A566"/>
          </a:solidFill>
          <a:ln/>
        </p:spPr>
      </p:sp>
      <p:sp>
        <p:nvSpPr>
          <p:cNvPr id="67" name="Text 65"/>
          <p:cNvSpPr txBox="1"/>
          <p:nvPr/>
        </p:nvSpPr>
        <p:spPr>
          <a:xfrm>
            <a:off x="10259568"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+0.5</a:t>
            </a:r>
            <a:endParaRPr lang="en-US" sz="1300" dirty="0"/>
          </a:p>
        </p:txBody>
      </p:sp>
      <p:sp>
        <p:nvSpPr>
          <p:cNvPr id="68" name="Text 66"/>
          <p:cNvSpPr txBox="1"/>
          <p:nvPr/>
        </p:nvSpPr>
        <p:spPr>
          <a:xfrm>
            <a:off x="6208776"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69" name="Shape 67"/>
          <p:cNvSpPr/>
          <p:nvPr/>
        </p:nvSpPr>
        <p:spPr>
          <a:xfrm>
            <a:off x="9363456" y="2369673"/>
            <a:ext cx="48420" cy="105898"/>
          </a:xfrm>
          <a:prstGeom prst="rect">
            <a:avLst/>
          </a:prstGeom>
          <a:solidFill>
            <a:srgbClr val="12A566"/>
          </a:solidFill>
          <a:ln/>
        </p:spPr>
      </p:sp>
      <p:sp>
        <p:nvSpPr>
          <p:cNvPr id="70" name="Text 68"/>
          <p:cNvSpPr txBox="1"/>
          <p:nvPr/>
        </p:nvSpPr>
        <p:spPr>
          <a:xfrm>
            <a:off x="10259568"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+0.4</a:t>
            </a:r>
            <a:endParaRPr lang="en-US" sz="1300" dirty="0"/>
          </a:p>
        </p:txBody>
      </p:sp>
      <p:sp>
        <p:nvSpPr>
          <p:cNvPr id="71" name="Text 69"/>
          <p:cNvSpPr txBox="1"/>
          <p:nvPr/>
        </p:nvSpPr>
        <p:spPr>
          <a:xfrm>
            <a:off x="6208776"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72" name="Shape 70"/>
          <p:cNvSpPr/>
          <p:nvPr/>
        </p:nvSpPr>
        <p:spPr>
          <a:xfrm>
            <a:off x="9363456" y="2599887"/>
            <a:ext cx="35237" cy="105898"/>
          </a:xfrm>
          <a:prstGeom prst="rect">
            <a:avLst/>
          </a:prstGeom>
          <a:solidFill>
            <a:srgbClr val="12A566"/>
          </a:solidFill>
          <a:ln/>
        </p:spPr>
      </p:sp>
      <p:sp>
        <p:nvSpPr>
          <p:cNvPr id="73" name="Text 71"/>
          <p:cNvSpPr txBox="1"/>
          <p:nvPr/>
        </p:nvSpPr>
        <p:spPr>
          <a:xfrm>
            <a:off x="10259568"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+0.3</a:t>
            </a:r>
            <a:endParaRPr lang="en-US" sz="1300" dirty="0"/>
          </a:p>
        </p:txBody>
      </p:sp>
      <p:sp>
        <p:nvSpPr>
          <p:cNvPr id="74" name="Text 72"/>
          <p:cNvSpPr txBox="1"/>
          <p:nvPr/>
        </p:nvSpPr>
        <p:spPr>
          <a:xfrm>
            <a:off x="6208776"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75" name="Shape 73"/>
          <p:cNvSpPr/>
          <p:nvPr/>
        </p:nvSpPr>
        <p:spPr>
          <a:xfrm>
            <a:off x="9363456" y="2830100"/>
            <a:ext cx="29984" cy="105898"/>
          </a:xfrm>
          <a:prstGeom prst="rect">
            <a:avLst/>
          </a:prstGeom>
          <a:solidFill>
            <a:srgbClr val="12A566"/>
          </a:solidFill>
          <a:ln/>
        </p:spPr>
      </p:sp>
      <p:sp>
        <p:nvSpPr>
          <p:cNvPr id="76" name="Text 74"/>
          <p:cNvSpPr txBox="1"/>
          <p:nvPr/>
        </p:nvSpPr>
        <p:spPr>
          <a:xfrm>
            <a:off x="10259568"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+0.3</a:t>
            </a:r>
            <a:endParaRPr lang="en-US" sz="1300" dirty="0"/>
          </a:p>
        </p:txBody>
      </p:sp>
      <p:sp>
        <p:nvSpPr>
          <p:cNvPr id="77" name="Text 75"/>
          <p:cNvSpPr txBox="1"/>
          <p:nvPr/>
        </p:nvSpPr>
        <p:spPr>
          <a:xfrm>
            <a:off x="6208776"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78" name="Shape 76"/>
          <p:cNvSpPr/>
          <p:nvPr/>
        </p:nvSpPr>
        <p:spPr>
          <a:xfrm>
            <a:off x="9358796" y="3060314"/>
            <a:ext cx="12802" cy="105898"/>
          </a:xfrm>
          <a:prstGeom prst="rect">
            <a:avLst/>
          </a:prstGeom>
          <a:solidFill>
            <a:srgbClr val="C2352F"/>
          </a:solidFill>
          <a:ln/>
        </p:spPr>
      </p:sp>
      <p:sp>
        <p:nvSpPr>
          <p:cNvPr id="79" name="Text 77"/>
          <p:cNvSpPr txBox="1"/>
          <p:nvPr/>
        </p:nvSpPr>
        <p:spPr>
          <a:xfrm>
            <a:off x="10259568" y="2998156"/>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−0.0</a:t>
            </a:r>
            <a:endParaRPr lang="en-US" sz="1300" dirty="0"/>
          </a:p>
        </p:txBody>
      </p:sp>
      <p:sp>
        <p:nvSpPr>
          <p:cNvPr id="80" name="Text 78"/>
          <p:cNvSpPr txBox="1"/>
          <p:nvPr/>
        </p:nvSpPr>
        <p:spPr>
          <a:xfrm>
            <a:off x="6208776"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81" name="Shape 79"/>
          <p:cNvSpPr/>
          <p:nvPr/>
        </p:nvSpPr>
        <p:spPr>
          <a:xfrm>
            <a:off x="9346705" y="3290528"/>
            <a:ext cx="16751" cy="105898"/>
          </a:xfrm>
          <a:prstGeom prst="rect">
            <a:avLst/>
          </a:prstGeom>
          <a:solidFill>
            <a:srgbClr val="C2352F"/>
          </a:solidFill>
          <a:ln/>
        </p:spPr>
      </p:sp>
      <p:sp>
        <p:nvSpPr>
          <p:cNvPr id="82" name="Text 80"/>
          <p:cNvSpPr txBox="1"/>
          <p:nvPr/>
        </p:nvSpPr>
        <p:spPr>
          <a:xfrm>
            <a:off x="10259568" y="3228370"/>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−0.1</a:t>
            </a:r>
            <a:endParaRPr lang="en-US" sz="1300" dirty="0"/>
          </a:p>
        </p:txBody>
      </p:sp>
      <p:sp>
        <p:nvSpPr>
          <p:cNvPr id="83" name="Text 81"/>
          <p:cNvSpPr txBox="1"/>
          <p:nvPr/>
        </p:nvSpPr>
        <p:spPr>
          <a:xfrm>
            <a:off x="6208776"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84" name="Shape 82"/>
          <p:cNvSpPr/>
          <p:nvPr/>
        </p:nvSpPr>
        <p:spPr>
          <a:xfrm>
            <a:off x="9342586" y="3520741"/>
            <a:ext cx="20870" cy="105898"/>
          </a:xfrm>
          <a:prstGeom prst="rect">
            <a:avLst/>
          </a:prstGeom>
          <a:solidFill>
            <a:srgbClr val="C2352F"/>
          </a:solidFill>
          <a:ln/>
        </p:spPr>
      </p:sp>
      <p:sp>
        <p:nvSpPr>
          <p:cNvPr id="85" name="Text 83"/>
          <p:cNvSpPr txBox="1"/>
          <p:nvPr/>
        </p:nvSpPr>
        <p:spPr>
          <a:xfrm>
            <a:off x="10259568" y="345858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−0.2</a:t>
            </a:r>
            <a:endParaRPr lang="en-US" sz="1300" dirty="0"/>
          </a:p>
        </p:txBody>
      </p:sp>
      <p:sp>
        <p:nvSpPr>
          <p:cNvPr id="86" name="Text 84"/>
          <p:cNvSpPr txBox="1"/>
          <p:nvPr/>
        </p:nvSpPr>
        <p:spPr>
          <a:xfrm>
            <a:off x="6208776"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87" name="Shape 85"/>
          <p:cNvSpPr/>
          <p:nvPr/>
        </p:nvSpPr>
        <p:spPr>
          <a:xfrm>
            <a:off x="9242382" y="3750955"/>
            <a:ext cx="121074" cy="105898"/>
          </a:xfrm>
          <a:prstGeom prst="rect">
            <a:avLst/>
          </a:prstGeom>
          <a:solidFill>
            <a:srgbClr val="C2352F"/>
          </a:solidFill>
          <a:ln/>
        </p:spPr>
      </p:sp>
      <p:sp>
        <p:nvSpPr>
          <p:cNvPr id="88" name="Text 86"/>
          <p:cNvSpPr txBox="1"/>
          <p:nvPr/>
        </p:nvSpPr>
        <p:spPr>
          <a:xfrm>
            <a:off x="10259568" y="3688797"/>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−1.0</a:t>
            </a:r>
            <a:endParaRPr lang="en-US" sz="1300" dirty="0"/>
          </a:p>
        </p:txBody>
      </p:sp>
      <p:sp>
        <p:nvSpPr>
          <p:cNvPr id="89" name="Text 87"/>
          <p:cNvSpPr txBox="1"/>
          <p:nvPr/>
        </p:nvSpPr>
        <p:spPr>
          <a:xfrm>
            <a:off x="6208776"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90" name="Shape 88"/>
          <p:cNvSpPr/>
          <p:nvPr/>
        </p:nvSpPr>
        <p:spPr>
          <a:xfrm>
            <a:off x="9232891" y="3981169"/>
            <a:ext cx="130565" cy="105898"/>
          </a:xfrm>
          <a:prstGeom prst="rect">
            <a:avLst/>
          </a:prstGeom>
          <a:solidFill>
            <a:srgbClr val="C2352F"/>
          </a:solidFill>
          <a:ln/>
        </p:spPr>
      </p:sp>
      <p:sp>
        <p:nvSpPr>
          <p:cNvPr id="91" name="Text 89"/>
          <p:cNvSpPr txBox="1"/>
          <p:nvPr/>
        </p:nvSpPr>
        <p:spPr>
          <a:xfrm>
            <a:off x="10259568" y="3919011"/>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a:t>
            </a:r>
            <a:endParaRPr lang="en-US" sz="1300" dirty="0"/>
          </a:p>
        </p:txBody>
      </p:sp>
      <p:sp>
        <p:nvSpPr>
          <p:cNvPr id="92" name="Text 90"/>
          <p:cNvSpPr txBox="1"/>
          <p:nvPr/>
        </p:nvSpPr>
        <p:spPr>
          <a:xfrm>
            <a:off x="6208776"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93" name="Shape 91"/>
          <p:cNvSpPr/>
          <p:nvPr/>
        </p:nvSpPr>
        <p:spPr>
          <a:xfrm>
            <a:off x="9220494" y="4211382"/>
            <a:ext cx="142962" cy="105898"/>
          </a:xfrm>
          <a:prstGeom prst="rect">
            <a:avLst/>
          </a:prstGeom>
          <a:solidFill>
            <a:srgbClr val="C2352F"/>
          </a:solidFill>
          <a:ln/>
        </p:spPr>
      </p:sp>
      <p:sp>
        <p:nvSpPr>
          <p:cNvPr id="94" name="Text 92"/>
          <p:cNvSpPr txBox="1"/>
          <p:nvPr/>
        </p:nvSpPr>
        <p:spPr>
          <a:xfrm>
            <a:off x="10259568" y="414922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−1.2</a:t>
            </a:r>
            <a:endParaRPr lang="en-US" sz="1300" dirty="0"/>
          </a:p>
        </p:txBody>
      </p:sp>
      <p:sp>
        <p:nvSpPr>
          <p:cNvPr id="95" name="Text 93"/>
          <p:cNvSpPr txBox="1"/>
          <p:nvPr/>
        </p:nvSpPr>
        <p:spPr>
          <a:xfrm>
            <a:off x="6208776"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96" name="Shape 94"/>
          <p:cNvSpPr/>
          <p:nvPr/>
        </p:nvSpPr>
        <p:spPr>
          <a:xfrm>
            <a:off x="9199237" y="4441596"/>
            <a:ext cx="164219" cy="105898"/>
          </a:xfrm>
          <a:prstGeom prst="rect">
            <a:avLst/>
          </a:prstGeom>
          <a:solidFill>
            <a:srgbClr val="C2352F"/>
          </a:solidFill>
          <a:ln/>
        </p:spPr>
      </p:sp>
      <p:sp>
        <p:nvSpPr>
          <p:cNvPr id="97" name="Text 95"/>
          <p:cNvSpPr txBox="1"/>
          <p:nvPr/>
        </p:nvSpPr>
        <p:spPr>
          <a:xfrm>
            <a:off x="10259568" y="4379438"/>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a:t>
            </a:r>
            <a:endParaRPr lang="en-US" sz="1300" dirty="0"/>
          </a:p>
        </p:txBody>
      </p:sp>
      <p:sp>
        <p:nvSpPr>
          <p:cNvPr id="98" name="Text 96"/>
          <p:cNvSpPr txBox="1"/>
          <p:nvPr/>
        </p:nvSpPr>
        <p:spPr>
          <a:xfrm>
            <a:off x="6208776"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99" name="Shape 97"/>
          <p:cNvSpPr/>
          <p:nvPr/>
        </p:nvSpPr>
        <p:spPr>
          <a:xfrm>
            <a:off x="9020319" y="4671809"/>
            <a:ext cx="343137" cy="105898"/>
          </a:xfrm>
          <a:prstGeom prst="rect">
            <a:avLst/>
          </a:prstGeom>
          <a:solidFill>
            <a:srgbClr val="C2352F"/>
          </a:solidFill>
          <a:ln/>
        </p:spPr>
      </p:sp>
      <p:sp>
        <p:nvSpPr>
          <p:cNvPr id="100" name="Text 98"/>
          <p:cNvSpPr txBox="1"/>
          <p:nvPr/>
        </p:nvSpPr>
        <p:spPr>
          <a:xfrm>
            <a:off x="10259568" y="4609652"/>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−2.9</a:t>
            </a:r>
            <a:endParaRPr lang="en-US" sz="1300" dirty="0"/>
          </a:p>
        </p:txBody>
      </p:sp>
      <p:sp>
        <p:nvSpPr>
          <p:cNvPr id="101" name="Text 99"/>
          <p:cNvSpPr txBox="1"/>
          <p:nvPr/>
        </p:nvSpPr>
        <p:spPr>
          <a:xfrm>
            <a:off x="6208776"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102" name="Shape 100"/>
          <p:cNvSpPr/>
          <p:nvPr/>
        </p:nvSpPr>
        <p:spPr>
          <a:xfrm>
            <a:off x="8888295" y="4902023"/>
            <a:ext cx="475161" cy="105898"/>
          </a:xfrm>
          <a:prstGeom prst="rect">
            <a:avLst/>
          </a:prstGeom>
          <a:solidFill>
            <a:srgbClr val="C2352F"/>
          </a:solidFill>
          <a:ln/>
        </p:spPr>
      </p:sp>
      <p:sp>
        <p:nvSpPr>
          <p:cNvPr id="103" name="Text 101"/>
          <p:cNvSpPr txBox="1"/>
          <p:nvPr/>
        </p:nvSpPr>
        <p:spPr>
          <a:xfrm>
            <a:off x="10259568" y="4839865"/>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−4.0</a:t>
            </a:r>
            <a:endParaRPr lang="en-US" sz="1300" dirty="0"/>
          </a:p>
        </p:txBody>
      </p:sp>
      <p:sp>
        <p:nvSpPr>
          <p:cNvPr id="104" name="Text 102"/>
          <p:cNvSpPr txBox="1"/>
          <p:nvPr/>
        </p:nvSpPr>
        <p:spPr>
          <a:xfrm>
            <a:off x="6208776"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105" name="Shape 103"/>
          <p:cNvSpPr/>
          <p:nvPr/>
        </p:nvSpPr>
        <p:spPr>
          <a:xfrm>
            <a:off x="8672581" y="5132237"/>
            <a:ext cx="690875" cy="105898"/>
          </a:xfrm>
          <a:prstGeom prst="rect">
            <a:avLst/>
          </a:prstGeom>
          <a:solidFill>
            <a:srgbClr val="C2352F"/>
          </a:solidFill>
          <a:ln/>
        </p:spPr>
      </p:sp>
      <p:sp>
        <p:nvSpPr>
          <p:cNvPr id="106" name="Text 104"/>
          <p:cNvSpPr txBox="1"/>
          <p:nvPr/>
        </p:nvSpPr>
        <p:spPr>
          <a:xfrm>
            <a:off x="10259568" y="5070079"/>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−5.8</a:t>
            </a:r>
            <a:endParaRPr lang="en-US" sz="1300" dirty="0"/>
          </a:p>
        </p:txBody>
      </p:sp>
      <p:sp>
        <p:nvSpPr>
          <p:cNvPr id="107" name="Text 105"/>
          <p:cNvSpPr txBox="1"/>
          <p:nvPr/>
        </p:nvSpPr>
        <p:spPr>
          <a:xfrm>
            <a:off x="6208776"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108" name="Shape 106"/>
          <p:cNvSpPr/>
          <p:nvPr/>
        </p:nvSpPr>
        <p:spPr>
          <a:xfrm>
            <a:off x="8578701" y="5362450"/>
            <a:ext cx="784755" cy="105898"/>
          </a:xfrm>
          <a:prstGeom prst="rect">
            <a:avLst/>
          </a:prstGeom>
          <a:solidFill>
            <a:srgbClr val="C2352F"/>
          </a:solidFill>
          <a:ln/>
        </p:spPr>
      </p:sp>
      <p:sp>
        <p:nvSpPr>
          <p:cNvPr id="109" name="Text 107"/>
          <p:cNvSpPr txBox="1"/>
          <p:nvPr/>
        </p:nvSpPr>
        <p:spPr>
          <a:xfrm>
            <a:off x="10259568" y="530029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−6.6</a:t>
            </a:r>
            <a:endParaRPr lang="en-US" sz="1300" dirty="0"/>
          </a:p>
        </p:txBody>
      </p:sp>
      <p:sp>
        <p:nvSpPr>
          <p:cNvPr id="110" name="Shape 108"/>
          <p:cNvSpPr/>
          <p:nvPr/>
        </p:nvSpPr>
        <p:spPr>
          <a:xfrm>
            <a:off x="3807562" y="1847088"/>
            <a:ext cx="10973" cy="3913632"/>
          </a:xfrm>
          <a:prstGeom prst="rect">
            <a:avLst/>
          </a:prstGeom>
          <a:solidFill>
            <a:srgbClr val="9AA3AD"/>
          </a:solidFill>
          <a:ln/>
        </p:spPr>
      </p:sp>
      <p:sp>
        <p:nvSpPr>
          <p:cNvPr id="111" name="Shape 109"/>
          <p:cNvSpPr/>
          <p:nvPr/>
        </p:nvSpPr>
        <p:spPr>
          <a:xfrm>
            <a:off x="9357970" y="1847088"/>
            <a:ext cx="10973" cy="3913632"/>
          </a:xfrm>
          <a:prstGeom prst="rect">
            <a:avLst/>
          </a:prstGeom>
          <a:solidFill>
            <a:srgbClr val="9AA3AD"/>
          </a:solidFill>
          <a:ln/>
        </p:spPr>
      </p:sp>
      <p:sp>
        <p:nvSpPr>
          <p:cNvPr id="112" name="Shape 110"/>
          <p:cNvSpPr/>
          <p:nvPr/>
        </p:nvSpPr>
        <p:spPr>
          <a:xfrm>
            <a:off x="457200" y="5961888"/>
            <a:ext cx="11274552" cy="548640"/>
          </a:xfrm>
          <a:prstGeom prst="rect">
            <a:avLst/>
          </a:prstGeom>
          <a:solidFill>
            <a:srgbClr val="E6F6EE"/>
          </a:solidFill>
          <a:ln/>
        </p:spPr>
      </p:sp>
      <p:sp>
        <p:nvSpPr>
          <p:cNvPr id="113" name="Text 111"/>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22 of 33 stores raised ROs per fixed employee, led by HYUNDAI PRESCOTT at +6.9 to 31.4. 11 declined; KIA ST GEORGE fell most at −6.6.</a:t>
            </a:r>
            <a:endParaRPr lang="en-US" sz="1600" dirty="0"/>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&amp; W ROs per Fixed Manager</a:t>
            </a:r>
            <a:endParaRPr lang="en-US" sz="2800" dirty="0"/>
          </a:p>
        </p:txBody>
      </p:sp>
      <p:sp>
        <p:nvSpPr>
          <p:cNvPr id="5" name="Shape 3"/>
          <p:cNvSpPr/>
          <p:nvPr/>
        </p:nvSpPr>
        <p:spPr>
          <a:xfrm>
            <a:off x="457200" y="1207008"/>
            <a:ext cx="11274552" cy="1517904"/>
          </a:xfrm>
          <a:prstGeom prst="rect">
            <a:avLst/>
          </a:prstGeom>
          <a:solidFill>
            <a:srgbClr val="FFFFFF"/>
          </a:solidFill>
          <a:ln/>
        </p:spPr>
      </p:sp>
      <p:sp>
        <p:nvSpPr>
          <p:cNvPr id="6" name="Text 4"/>
          <p:cNvSpPr txBox="1"/>
          <p:nvPr/>
        </p:nvSpPr>
        <p:spPr>
          <a:xfrm>
            <a:off x="685800" y="1316736"/>
            <a:ext cx="10789920" cy="274320"/>
          </a:xfrm>
          <a:prstGeom prst="rect">
            <a:avLst/>
          </a:prstGeom>
          <a:noFill/>
          <a:ln/>
        </p:spPr>
        <p:txBody>
          <a:bodyPr wrap="square" lIns="0" tIns="0" rIns="0" bIns="0" rtlCol="0" anchor="ctr"/>
          <a:lstStyle/>
          <a:p>
            <a:pPr indent="0" marL="0">
              <a:buNone/>
            </a:pPr>
            <a:r>
              <a:rPr lang="en-US" sz="1400" spc="100" kern="0" dirty="0">
                <a:solidFill>
                  <a:srgbClr val="595959"/>
                </a:solidFill>
                <a:latin typeface="Inter" pitchFamily="34" charset="0"/>
                <a:ea typeface="Inter" pitchFamily="34" charset="-122"/>
                <a:cs typeface="Inter" pitchFamily="34" charset="-120"/>
              </a:rPr>
              <a:t>GROUP · JANUARY–SEPTEMBER · MONTHLY AVG · SAME-STORE, 33 STORES</a:t>
            </a:r>
            <a:endParaRPr lang="en-US" sz="1400" dirty="0"/>
          </a:p>
        </p:txBody>
      </p:sp>
      <p:sp>
        <p:nvSpPr>
          <p:cNvPr id="7" name="Text 5"/>
          <p:cNvSpPr txBox="1"/>
          <p:nvPr/>
        </p:nvSpPr>
        <p:spPr>
          <a:xfrm>
            <a:off x="68580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a:t>
            </a:r>
            <a:endParaRPr lang="en-US" sz="1400" dirty="0"/>
          </a:p>
        </p:txBody>
      </p:sp>
      <p:sp>
        <p:nvSpPr>
          <p:cNvPr id="8" name="Text 6"/>
          <p:cNvSpPr txBox="1"/>
          <p:nvPr/>
        </p:nvSpPr>
        <p:spPr>
          <a:xfrm>
            <a:off x="68580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377</a:t>
            </a:r>
            <a:endParaRPr lang="en-US" sz="3000" dirty="0"/>
          </a:p>
        </p:txBody>
      </p:sp>
      <p:sp>
        <p:nvSpPr>
          <p:cNvPr id="9" name="Text 7"/>
          <p:cNvSpPr txBox="1"/>
          <p:nvPr/>
        </p:nvSpPr>
        <p:spPr>
          <a:xfrm>
            <a:off x="347472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a:t>
            </a:r>
            <a:endParaRPr lang="en-US" sz="1400" dirty="0"/>
          </a:p>
        </p:txBody>
      </p:sp>
      <p:sp>
        <p:nvSpPr>
          <p:cNvPr id="10" name="Text 8"/>
          <p:cNvSpPr txBox="1"/>
          <p:nvPr/>
        </p:nvSpPr>
        <p:spPr>
          <a:xfrm>
            <a:off x="347472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390</a:t>
            </a:r>
            <a:endParaRPr lang="en-US" sz="3000" dirty="0"/>
          </a:p>
        </p:txBody>
      </p:sp>
      <p:sp>
        <p:nvSpPr>
          <p:cNvPr id="11" name="Text 9"/>
          <p:cNvSpPr txBox="1"/>
          <p:nvPr/>
        </p:nvSpPr>
        <p:spPr>
          <a:xfrm>
            <a:off x="626364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2" name="Text 10"/>
          <p:cNvSpPr txBox="1"/>
          <p:nvPr/>
        </p:nvSpPr>
        <p:spPr>
          <a:xfrm>
            <a:off x="626364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+13</a:t>
            </a:r>
            <a:endParaRPr lang="en-US" sz="3000" dirty="0"/>
          </a:p>
        </p:txBody>
      </p:sp>
      <p:sp>
        <p:nvSpPr>
          <p:cNvPr id="13" name="Text 11"/>
          <p:cNvSpPr txBox="1"/>
          <p:nvPr/>
        </p:nvSpPr>
        <p:spPr>
          <a:xfrm>
            <a:off x="905256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4" name="Text 12"/>
          <p:cNvSpPr txBox="1"/>
          <p:nvPr/>
        </p:nvSpPr>
        <p:spPr>
          <a:xfrm>
            <a:off x="905256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+3.5%</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2816352"/>
          <a:ext cx="11274552" cy="914400"/>
        </p:xfrm>
        <a:graphic>
          <a:graphicData uri="http://schemas.openxmlformats.org/drawingml/2006/table">
            <a:tbl>
              <a:tblPr/>
              <a:tblGrid>
                <a:gridCol w="3118104"/>
                <a:gridCol w="2039112"/>
                <a:gridCol w="2039112"/>
                <a:gridCol w="2039112"/>
                <a:gridCol w="2039112"/>
              </a:tblGrid>
              <a:tr h="274320">
                <a:tc>
                  <a:txBody>
                    <a:bodyPr/>
                    <a:lstStyle/>
                    <a:p>
                      <a:pPr algn="l" indent="0" marL="0">
                        <a:buNone/>
                      </a:pPr>
                      <a:r>
                        <a:rPr lang="en-US" sz="1400" b="1" dirty="0">
                          <a:solidFill>
                            <a:srgbClr val="FFFFFF"/>
                          </a:solidFill>
                          <a:latin typeface="Inter" pitchFamily="34" charset="0"/>
                          <a:ea typeface="Inter" pitchFamily="34" charset="-122"/>
                          <a:cs typeface="Inter" pitchFamily="34" charset="-120"/>
                        </a:rPr>
                        <a:t>MONTH</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VARIANCE</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 %</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JAN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370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386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FEB</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342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337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−1.5%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370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389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+5.3%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APR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385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386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MAY</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381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382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388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408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+5.3%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JUL</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399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412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AUG</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391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414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+5.9%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SEP</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373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400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+7.2%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16" name="Shape 13"/>
          <p:cNvSpPr/>
          <p:nvPr/>
        </p:nvSpPr>
        <p:spPr>
          <a:xfrm>
            <a:off x="457200" y="5961888"/>
            <a:ext cx="11274552" cy="548640"/>
          </a:xfrm>
          <a:prstGeom prst="rect">
            <a:avLst/>
          </a:prstGeom>
          <a:solidFill>
            <a:srgbClr val="E6F6EE"/>
          </a:solidFill>
          <a:ln/>
        </p:spPr>
      </p:sp>
      <p:sp>
        <p:nvSpPr>
          <p:cNvPr id="17" name="Text 14"/>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Up 13 to 390, ahead of 2025 in eight of nine months. Managers fell 5.6%.</a:t>
            </a:r>
            <a:endParaRPr lang="en-US" sz="1600" dirty="0"/>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&amp; W ROs per Fixed Manager</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316736"/>
            <a:ext cx="3383280" cy="32918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LUXURY · 9 STORES</a:t>
            </a:r>
            <a:endParaRPr lang="en-US" sz="1400" dirty="0"/>
          </a:p>
        </p:txBody>
      </p:sp>
      <p:sp>
        <p:nvSpPr>
          <p:cNvPr id="7" name="Text 5"/>
          <p:cNvSpPr txBox="1"/>
          <p:nvPr/>
        </p:nvSpPr>
        <p:spPr>
          <a:xfrm>
            <a:off x="658368" y="1755648"/>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8" name="Shape 6"/>
          <p:cNvSpPr/>
          <p:nvPr/>
        </p:nvSpPr>
        <p:spPr>
          <a:xfrm>
            <a:off x="2267712" y="1832317"/>
            <a:ext cx="1030941" cy="153338"/>
          </a:xfrm>
          <a:prstGeom prst="rect">
            <a:avLst/>
          </a:prstGeom>
          <a:solidFill>
            <a:srgbClr val="12A566"/>
          </a:solidFill>
          <a:ln/>
        </p:spPr>
      </p:sp>
      <p:sp>
        <p:nvSpPr>
          <p:cNvPr id="9" name="Text 7"/>
          <p:cNvSpPr txBox="1"/>
          <p:nvPr/>
        </p:nvSpPr>
        <p:spPr>
          <a:xfrm>
            <a:off x="3355848" y="1755648"/>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491</a:t>
            </a:r>
            <a:endParaRPr lang="en-US" sz="1300" dirty="0"/>
          </a:p>
        </p:txBody>
      </p:sp>
      <p:sp>
        <p:nvSpPr>
          <p:cNvPr id="10" name="Text 8"/>
          <p:cNvSpPr txBox="1"/>
          <p:nvPr/>
        </p:nvSpPr>
        <p:spPr>
          <a:xfrm>
            <a:off x="658368" y="2062324"/>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11" name="Shape 9"/>
          <p:cNvSpPr/>
          <p:nvPr/>
        </p:nvSpPr>
        <p:spPr>
          <a:xfrm>
            <a:off x="2267712" y="2138993"/>
            <a:ext cx="769813" cy="153338"/>
          </a:xfrm>
          <a:prstGeom prst="rect">
            <a:avLst/>
          </a:prstGeom>
          <a:solidFill>
            <a:srgbClr val="12A566"/>
          </a:solidFill>
          <a:ln/>
        </p:spPr>
      </p:sp>
      <p:sp>
        <p:nvSpPr>
          <p:cNvPr id="12" name="Text 10"/>
          <p:cNvSpPr txBox="1"/>
          <p:nvPr/>
        </p:nvSpPr>
        <p:spPr>
          <a:xfrm>
            <a:off x="3355848" y="2062324"/>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367</a:t>
            </a:r>
            <a:endParaRPr lang="en-US" sz="1300" dirty="0"/>
          </a:p>
        </p:txBody>
      </p:sp>
      <p:sp>
        <p:nvSpPr>
          <p:cNvPr id="13" name="Text 11"/>
          <p:cNvSpPr txBox="1"/>
          <p:nvPr/>
        </p:nvSpPr>
        <p:spPr>
          <a:xfrm>
            <a:off x="658368" y="2368999"/>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14" name="Shape 12"/>
          <p:cNvSpPr/>
          <p:nvPr/>
        </p:nvSpPr>
        <p:spPr>
          <a:xfrm>
            <a:off x="2267712" y="2445668"/>
            <a:ext cx="698921" cy="153338"/>
          </a:xfrm>
          <a:prstGeom prst="rect">
            <a:avLst/>
          </a:prstGeom>
          <a:solidFill>
            <a:srgbClr val="12A566"/>
          </a:solidFill>
          <a:ln/>
        </p:spPr>
      </p:sp>
      <p:sp>
        <p:nvSpPr>
          <p:cNvPr id="15" name="Text 13"/>
          <p:cNvSpPr txBox="1"/>
          <p:nvPr/>
        </p:nvSpPr>
        <p:spPr>
          <a:xfrm>
            <a:off x="3355848" y="2368999"/>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333</a:t>
            </a:r>
            <a:endParaRPr lang="en-US" sz="1300" dirty="0"/>
          </a:p>
        </p:txBody>
      </p:sp>
      <p:sp>
        <p:nvSpPr>
          <p:cNvPr id="16" name="Text 14"/>
          <p:cNvSpPr txBox="1"/>
          <p:nvPr/>
        </p:nvSpPr>
        <p:spPr>
          <a:xfrm>
            <a:off x="658368" y="2675675"/>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17" name="Shape 15"/>
          <p:cNvSpPr/>
          <p:nvPr/>
        </p:nvSpPr>
        <p:spPr>
          <a:xfrm>
            <a:off x="2267712" y="2752344"/>
            <a:ext cx="612008" cy="153338"/>
          </a:xfrm>
          <a:prstGeom prst="rect">
            <a:avLst/>
          </a:prstGeom>
          <a:solidFill>
            <a:srgbClr val="12A566"/>
          </a:solidFill>
          <a:ln/>
        </p:spPr>
      </p:sp>
      <p:sp>
        <p:nvSpPr>
          <p:cNvPr id="18" name="Text 16"/>
          <p:cNvSpPr txBox="1"/>
          <p:nvPr/>
        </p:nvSpPr>
        <p:spPr>
          <a:xfrm>
            <a:off x="3355848" y="2675675"/>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291</a:t>
            </a:r>
            <a:endParaRPr lang="en-US" sz="1300" dirty="0"/>
          </a:p>
        </p:txBody>
      </p:sp>
      <p:sp>
        <p:nvSpPr>
          <p:cNvPr id="19" name="Text 17"/>
          <p:cNvSpPr txBox="1"/>
          <p:nvPr/>
        </p:nvSpPr>
        <p:spPr>
          <a:xfrm>
            <a:off x="658368" y="2982351"/>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20" name="Shape 18"/>
          <p:cNvSpPr/>
          <p:nvPr/>
        </p:nvSpPr>
        <p:spPr>
          <a:xfrm>
            <a:off x="2267712" y="3059020"/>
            <a:ext cx="603842" cy="153338"/>
          </a:xfrm>
          <a:prstGeom prst="rect">
            <a:avLst/>
          </a:prstGeom>
          <a:solidFill>
            <a:srgbClr val="12A566"/>
          </a:solidFill>
          <a:ln/>
        </p:spPr>
      </p:sp>
      <p:sp>
        <p:nvSpPr>
          <p:cNvPr id="21" name="Text 19"/>
          <p:cNvSpPr txBox="1"/>
          <p:nvPr/>
        </p:nvSpPr>
        <p:spPr>
          <a:xfrm>
            <a:off x="3355848" y="2982351"/>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288</a:t>
            </a:r>
            <a:endParaRPr lang="en-US" sz="1300" dirty="0"/>
          </a:p>
        </p:txBody>
      </p:sp>
      <p:sp>
        <p:nvSpPr>
          <p:cNvPr id="22" name="Shape 20"/>
          <p:cNvSpPr/>
          <p:nvPr/>
        </p:nvSpPr>
        <p:spPr>
          <a:xfrm>
            <a:off x="603504" y="3289026"/>
            <a:ext cx="3566160" cy="297532"/>
          </a:xfrm>
          <a:prstGeom prst="rect">
            <a:avLst/>
          </a:prstGeom>
          <a:solidFill>
            <a:srgbClr val="EDF4FA"/>
          </a:solidFill>
          <a:ln/>
        </p:spPr>
      </p:sp>
      <p:sp>
        <p:nvSpPr>
          <p:cNvPr id="23" name="Text 21"/>
          <p:cNvSpPr txBox="1"/>
          <p:nvPr/>
        </p:nvSpPr>
        <p:spPr>
          <a:xfrm>
            <a:off x="658368" y="3289026"/>
            <a:ext cx="1554480" cy="306676"/>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LUXURY</a:t>
            </a:r>
            <a:endParaRPr lang="en-US" sz="1300" dirty="0"/>
          </a:p>
        </p:txBody>
      </p:sp>
      <p:sp>
        <p:nvSpPr>
          <p:cNvPr id="24" name="Shape 22"/>
          <p:cNvSpPr/>
          <p:nvPr/>
        </p:nvSpPr>
        <p:spPr>
          <a:xfrm>
            <a:off x="2267712" y="3365695"/>
            <a:ext cx="578725" cy="153338"/>
          </a:xfrm>
          <a:prstGeom prst="rect">
            <a:avLst/>
          </a:prstGeom>
          <a:solidFill>
            <a:srgbClr val="0B2C4A"/>
          </a:solidFill>
          <a:ln/>
        </p:spPr>
      </p:sp>
      <p:sp>
        <p:nvSpPr>
          <p:cNvPr id="25" name="Text 23"/>
          <p:cNvSpPr txBox="1"/>
          <p:nvPr/>
        </p:nvSpPr>
        <p:spPr>
          <a:xfrm>
            <a:off x="3355848" y="3289026"/>
            <a:ext cx="777240" cy="306676"/>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276</a:t>
            </a:r>
            <a:endParaRPr lang="en-US" sz="1300" dirty="0"/>
          </a:p>
        </p:txBody>
      </p:sp>
      <p:sp>
        <p:nvSpPr>
          <p:cNvPr id="26" name="Text 24"/>
          <p:cNvSpPr txBox="1"/>
          <p:nvPr/>
        </p:nvSpPr>
        <p:spPr>
          <a:xfrm>
            <a:off x="658368" y="3595702"/>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27" name="Shape 25"/>
          <p:cNvSpPr/>
          <p:nvPr/>
        </p:nvSpPr>
        <p:spPr>
          <a:xfrm>
            <a:off x="2267712" y="3672371"/>
            <a:ext cx="528813" cy="153338"/>
          </a:xfrm>
          <a:prstGeom prst="rect">
            <a:avLst/>
          </a:prstGeom>
          <a:solidFill>
            <a:srgbClr val="C2352F"/>
          </a:solidFill>
          <a:ln/>
        </p:spPr>
      </p:sp>
      <p:sp>
        <p:nvSpPr>
          <p:cNvPr id="28" name="Text 26"/>
          <p:cNvSpPr txBox="1"/>
          <p:nvPr/>
        </p:nvSpPr>
        <p:spPr>
          <a:xfrm>
            <a:off x="3355848" y="3595702"/>
            <a:ext cx="777240"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252</a:t>
            </a:r>
            <a:endParaRPr lang="en-US" sz="1300" dirty="0"/>
          </a:p>
        </p:txBody>
      </p:sp>
      <p:sp>
        <p:nvSpPr>
          <p:cNvPr id="29" name="Text 27"/>
          <p:cNvSpPr txBox="1"/>
          <p:nvPr/>
        </p:nvSpPr>
        <p:spPr>
          <a:xfrm>
            <a:off x="658368" y="3902378"/>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30" name="Shape 28"/>
          <p:cNvSpPr/>
          <p:nvPr/>
        </p:nvSpPr>
        <p:spPr>
          <a:xfrm>
            <a:off x="2267712" y="3979047"/>
            <a:ext cx="416716" cy="153338"/>
          </a:xfrm>
          <a:prstGeom prst="rect">
            <a:avLst/>
          </a:prstGeom>
          <a:solidFill>
            <a:srgbClr val="C2352F"/>
          </a:solidFill>
          <a:ln/>
        </p:spPr>
      </p:sp>
      <p:sp>
        <p:nvSpPr>
          <p:cNvPr id="31" name="Text 29"/>
          <p:cNvSpPr txBox="1"/>
          <p:nvPr/>
        </p:nvSpPr>
        <p:spPr>
          <a:xfrm>
            <a:off x="3355848" y="3902378"/>
            <a:ext cx="777240"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198</a:t>
            </a:r>
            <a:endParaRPr lang="en-US" sz="1300" dirty="0"/>
          </a:p>
        </p:txBody>
      </p:sp>
      <p:sp>
        <p:nvSpPr>
          <p:cNvPr id="32" name="Text 30"/>
          <p:cNvSpPr txBox="1"/>
          <p:nvPr/>
        </p:nvSpPr>
        <p:spPr>
          <a:xfrm>
            <a:off x="658368" y="4209054"/>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33" name="Shape 31"/>
          <p:cNvSpPr/>
          <p:nvPr/>
        </p:nvSpPr>
        <p:spPr>
          <a:xfrm>
            <a:off x="2267712" y="4285722"/>
            <a:ext cx="297721" cy="153338"/>
          </a:xfrm>
          <a:prstGeom prst="rect">
            <a:avLst/>
          </a:prstGeom>
          <a:solidFill>
            <a:srgbClr val="C2352F"/>
          </a:solidFill>
          <a:ln/>
        </p:spPr>
      </p:sp>
      <p:sp>
        <p:nvSpPr>
          <p:cNvPr id="34" name="Text 32"/>
          <p:cNvSpPr txBox="1"/>
          <p:nvPr/>
        </p:nvSpPr>
        <p:spPr>
          <a:xfrm>
            <a:off x="3355848" y="4209054"/>
            <a:ext cx="777240"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142</a:t>
            </a:r>
            <a:endParaRPr lang="en-US" sz="1300" dirty="0"/>
          </a:p>
        </p:txBody>
      </p:sp>
      <p:sp>
        <p:nvSpPr>
          <p:cNvPr id="35" name="Text 33"/>
          <p:cNvSpPr txBox="1"/>
          <p:nvPr/>
        </p:nvSpPr>
        <p:spPr>
          <a:xfrm>
            <a:off x="658368" y="4515729"/>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36" name="Shape 34"/>
          <p:cNvSpPr/>
          <p:nvPr/>
        </p:nvSpPr>
        <p:spPr>
          <a:xfrm>
            <a:off x="2267712" y="4592398"/>
            <a:ext cx="249073" cy="153338"/>
          </a:xfrm>
          <a:prstGeom prst="rect">
            <a:avLst/>
          </a:prstGeom>
          <a:solidFill>
            <a:srgbClr val="C2352F"/>
          </a:solidFill>
          <a:ln/>
        </p:spPr>
      </p:sp>
      <p:sp>
        <p:nvSpPr>
          <p:cNvPr id="37" name="Text 35"/>
          <p:cNvSpPr txBox="1"/>
          <p:nvPr/>
        </p:nvSpPr>
        <p:spPr>
          <a:xfrm>
            <a:off x="3355848" y="4515729"/>
            <a:ext cx="777240"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119</a:t>
            </a:r>
            <a:endParaRPr lang="en-US" sz="1300" dirty="0"/>
          </a:p>
        </p:txBody>
      </p:sp>
      <p:sp>
        <p:nvSpPr>
          <p:cNvPr id="38" name="Text 36"/>
          <p:cNvSpPr txBox="1"/>
          <p:nvPr/>
        </p:nvSpPr>
        <p:spPr>
          <a:xfrm>
            <a:off x="658368" y="4950421"/>
            <a:ext cx="3383280" cy="36576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LUXURY AVG  </a:t>
            </a:r>
            <a:pPr indent="0" marL="0">
              <a:buNone/>
            </a:pPr>
            <a:r>
              <a:rPr lang="en-US" sz="1800" b="1" dirty="0">
                <a:solidFill>
                  <a:srgbClr val="0B2C4A"/>
                </a:solidFill>
                <a:latin typeface="Inter" pitchFamily="34" charset="0"/>
                <a:ea typeface="Inter" pitchFamily="34" charset="-122"/>
                <a:cs typeface="Inter" pitchFamily="34" charset="-120"/>
              </a:rPr>
              <a:t>276  </a:t>
            </a:r>
            <a:pPr indent="0" marL="0">
              <a:buNone/>
            </a:pPr>
            <a:r>
              <a:rPr lang="en-US" sz="1400" b="1" dirty="0">
                <a:solidFill>
                  <a:srgbClr val="0B7A4A"/>
                </a:solidFill>
                <a:latin typeface="Inter" pitchFamily="34" charset="0"/>
                <a:ea typeface="Inter" pitchFamily="34" charset="-122"/>
                <a:cs typeface="Inter" pitchFamily="34" charset="-120"/>
              </a:rPr>
              <a:t>(+3)</a:t>
            </a:r>
            <a:endParaRPr lang="en-US" sz="1400" dirty="0"/>
          </a:p>
        </p:txBody>
      </p:sp>
      <p:sp>
        <p:nvSpPr>
          <p:cNvPr id="39" name="Text 37"/>
          <p:cNvSpPr txBox="1"/>
          <p:nvPr/>
        </p:nvSpPr>
        <p:spPr>
          <a:xfrm>
            <a:off x="658368" y="5334469"/>
            <a:ext cx="3383280" cy="36576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NON-LUXURY AVG  </a:t>
            </a:r>
            <a:pPr indent="0" marL="0">
              <a:buNone/>
            </a:pPr>
            <a:r>
              <a:rPr lang="en-US" sz="1800" b="1" dirty="0">
                <a:solidFill>
                  <a:srgbClr val="0B2C4A"/>
                </a:solidFill>
                <a:latin typeface="Inter" pitchFamily="34" charset="0"/>
                <a:ea typeface="Inter" pitchFamily="34" charset="-122"/>
                <a:cs typeface="Inter" pitchFamily="34" charset="-120"/>
              </a:rPr>
              <a:t>418  </a:t>
            </a:r>
            <a:pPr indent="0" marL="0">
              <a:buNone/>
            </a:pPr>
            <a:r>
              <a:rPr lang="en-US" sz="1400" b="1" dirty="0">
                <a:solidFill>
                  <a:srgbClr val="0B7A4A"/>
                </a:solidFill>
                <a:latin typeface="Inter" pitchFamily="34" charset="0"/>
                <a:ea typeface="Inter" pitchFamily="34" charset="-122"/>
                <a:cs typeface="Inter" pitchFamily="34" charset="-120"/>
              </a:rPr>
              <a:t>(+17)</a:t>
            </a:r>
            <a:endParaRPr lang="en-US" sz="1400" dirty="0"/>
          </a:p>
        </p:txBody>
      </p:sp>
      <p:sp>
        <p:nvSpPr>
          <p:cNvPr id="40" name="Text 38"/>
          <p:cNvSpPr txBox="1"/>
          <p:nvPr/>
        </p:nvSpPr>
        <p:spPr>
          <a:xfrm>
            <a:off x="4315968" y="1316736"/>
            <a:ext cx="7132320" cy="32918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NON-LUXURY · 24 STORES</a:t>
            </a:r>
            <a:endParaRPr lang="en-US" sz="1400" dirty="0"/>
          </a:p>
        </p:txBody>
      </p:sp>
      <p:sp>
        <p:nvSpPr>
          <p:cNvPr id="41" name="Text 39"/>
          <p:cNvSpPr txBox="1"/>
          <p:nvPr/>
        </p:nvSpPr>
        <p:spPr>
          <a:xfrm>
            <a:off x="4315968" y="1755648"/>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42" name="Shape 40"/>
          <p:cNvSpPr/>
          <p:nvPr/>
        </p:nvSpPr>
        <p:spPr>
          <a:xfrm>
            <a:off x="6291072" y="1832317"/>
            <a:ext cx="627529" cy="153338"/>
          </a:xfrm>
          <a:prstGeom prst="rect">
            <a:avLst/>
          </a:prstGeom>
          <a:solidFill>
            <a:srgbClr val="12A566"/>
          </a:solidFill>
          <a:ln/>
        </p:spPr>
      </p:sp>
      <p:sp>
        <p:nvSpPr>
          <p:cNvPr id="43" name="Text 41"/>
          <p:cNvSpPr txBox="1"/>
          <p:nvPr/>
        </p:nvSpPr>
        <p:spPr>
          <a:xfrm>
            <a:off x="6967728" y="1755648"/>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1,022</a:t>
            </a:r>
            <a:endParaRPr lang="en-US" sz="1300" dirty="0"/>
          </a:p>
        </p:txBody>
      </p:sp>
      <p:sp>
        <p:nvSpPr>
          <p:cNvPr id="44" name="Text 42"/>
          <p:cNvSpPr txBox="1"/>
          <p:nvPr/>
        </p:nvSpPr>
        <p:spPr>
          <a:xfrm>
            <a:off x="4315968" y="2062324"/>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45" name="Shape 43"/>
          <p:cNvSpPr/>
          <p:nvPr/>
        </p:nvSpPr>
        <p:spPr>
          <a:xfrm>
            <a:off x="6291072" y="2138993"/>
            <a:ext cx="469928" cy="153338"/>
          </a:xfrm>
          <a:prstGeom prst="rect">
            <a:avLst/>
          </a:prstGeom>
          <a:solidFill>
            <a:srgbClr val="12A566"/>
          </a:solidFill>
          <a:ln/>
        </p:spPr>
      </p:sp>
      <p:sp>
        <p:nvSpPr>
          <p:cNvPr id="46" name="Text 44"/>
          <p:cNvSpPr txBox="1"/>
          <p:nvPr/>
        </p:nvSpPr>
        <p:spPr>
          <a:xfrm>
            <a:off x="6967728" y="2062324"/>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765</a:t>
            </a:r>
            <a:endParaRPr lang="en-US" sz="1300" dirty="0"/>
          </a:p>
        </p:txBody>
      </p:sp>
      <p:sp>
        <p:nvSpPr>
          <p:cNvPr id="47" name="Text 45"/>
          <p:cNvSpPr txBox="1"/>
          <p:nvPr/>
        </p:nvSpPr>
        <p:spPr>
          <a:xfrm>
            <a:off x="4315968" y="2368999"/>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48" name="Shape 46"/>
          <p:cNvSpPr/>
          <p:nvPr/>
        </p:nvSpPr>
        <p:spPr>
          <a:xfrm>
            <a:off x="6291072" y="2445668"/>
            <a:ext cx="421230" cy="153338"/>
          </a:xfrm>
          <a:prstGeom prst="rect">
            <a:avLst/>
          </a:prstGeom>
          <a:solidFill>
            <a:srgbClr val="12A566"/>
          </a:solidFill>
          <a:ln/>
        </p:spPr>
      </p:sp>
      <p:sp>
        <p:nvSpPr>
          <p:cNvPr id="49" name="Text 47"/>
          <p:cNvSpPr txBox="1"/>
          <p:nvPr/>
        </p:nvSpPr>
        <p:spPr>
          <a:xfrm>
            <a:off x="6967728" y="2368999"/>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686</a:t>
            </a:r>
            <a:endParaRPr lang="en-US" sz="1300" dirty="0"/>
          </a:p>
        </p:txBody>
      </p:sp>
      <p:sp>
        <p:nvSpPr>
          <p:cNvPr id="50" name="Text 48"/>
          <p:cNvSpPr txBox="1"/>
          <p:nvPr/>
        </p:nvSpPr>
        <p:spPr>
          <a:xfrm>
            <a:off x="4315968" y="2675675"/>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51" name="Shape 49"/>
          <p:cNvSpPr/>
          <p:nvPr/>
        </p:nvSpPr>
        <p:spPr>
          <a:xfrm>
            <a:off x="6291072" y="2752344"/>
            <a:ext cx="403488" cy="153338"/>
          </a:xfrm>
          <a:prstGeom prst="rect">
            <a:avLst/>
          </a:prstGeom>
          <a:solidFill>
            <a:srgbClr val="12A566"/>
          </a:solidFill>
          <a:ln/>
        </p:spPr>
      </p:sp>
      <p:sp>
        <p:nvSpPr>
          <p:cNvPr id="52" name="Text 50"/>
          <p:cNvSpPr txBox="1"/>
          <p:nvPr/>
        </p:nvSpPr>
        <p:spPr>
          <a:xfrm>
            <a:off x="6967728" y="2675675"/>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657</a:t>
            </a:r>
            <a:endParaRPr lang="en-US" sz="1300" dirty="0"/>
          </a:p>
        </p:txBody>
      </p:sp>
      <p:sp>
        <p:nvSpPr>
          <p:cNvPr id="53" name="Text 51"/>
          <p:cNvSpPr txBox="1"/>
          <p:nvPr/>
        </p:nvSpPr>
        <p:spPr>
          <a:xfrm>
            <a:off x="4315968" y="2982351"/>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54" name="Shape 52"/>
          <p:cNvSpPr/>
          <p:nvPr/>
        </p:nvSpPr>
        <p:spPr>
          <a:xfrm>
            <a:off x="6291072" y="3059020"/>
            <a:ext cx="362659" cy="153338"/>
          </a:xfrm>
          <a:prstGeom prst="rect">
            <a:avLst/>
          </a:prstGeom>
          <a:solidFill>
            <a:srgbClr val="12A566"/>
          </a:solidFill>
          <a:ln/>
        </p:spPr>
      </p:sp>
      <p:sp>
        <p:nvSpPr>
          <p:cNvPr id="55" name="Text 53"/>
          <p:cNvSpPr txBox="1"/>
          <p:nvPr/>
        </p:nvSpPr>
        <p:spPr>
          <a:xfrm>
            <a:off x="6967728" y="2982351"/>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591</a:t>
            </a:r>
            <a:endParaRPr lang="en-US" sz="1300" dirty="0"/>
          </a:p>
        </p:txBody>
      </p:sp>
      <p:sp>
        <p:nvSpPr>
          <p:cNvPr id="56" name="Text 54"/>
          <p:cNvSpPr txBox="1"/>
          <p:nvPr/>
        </p:nvSpPr>
        <p:spPr>
          <a:xfrm>
            <a:off x="4315968" y="3289026"/>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57" name="Shape 55"/>
          <p:cNvSpPr/>
          <p:nvPr/>
        </p:nvSpPr>
        <p:spPr>
          <a:xfrm>
            <a:off x="6291072" y="3365695"/>
            <a:ext cx="343763" cy="153338"/>
          </a:xfrm>
          <a:prstGeom prst="rect">
            <a:avLst/>
          </a:prstGeom>
          <a:solidFill>
            <a:srgbClr val="12A566"/>
          </a:solidFill>
          <a:ln/>
        </p:spPr>
      </p:sp>
      <p:sp>
        <p:nvSpPr>
          <p:cNvPr id="58" name="Text 56"/>
          <p:cNvSpPr txBox="1"/>
          <p:nvPr/>
        </p:nvSpPr>
        <p:spPr>
          <a:xfrm>
            <a:off x="6967728" y="3289026"/>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560</a:t>
            </a:r>
            <a:endParaRPr lang="en-US" sz="1300" dirty="0"/>
          </a:p>
        </p:txBody>
      </p:sp>
      <p:sp>
        <p:nvSpPr>
          <p:cNvPr id="59" name="Text 57"/>
          <p:cNvSpPr txBox="1"/>
          <p:nvPr/>
        </p:nvSpPr>
        <p:spPr>
          <a:xfrm>
            <a:off x="4315968" y="3595702"/>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60" name="Shape 58"/>
          <p:cNvSpPr/>
          <p:nvPr/>
        </p:nvSpPr>
        <p:spPr>
          <a:xfrm>
            <a:off x="6291072" y="3672371"/>
            <a:ext cx="262373" cy="153338"/>
          </a:xfrm>
          <a:prstGeom prst="rect">
            <a:avLst/>
          </a:prstGeom>
          <a:solidFill>
            <a:srgbClr val="12A566"/>
          </a:solidFill>
          <a:ln/>
        </p:spPr>
      </p:sp>
      <p:sp>
        <p:nvSpPr>
          <p:cNvPr id="61" name="Text 59"/>
          <p:cNvSpPr txBox="1"/>
          <p:nvPr/>
        </p:nvSpPr>
        <p:spPr>
          <a:xfrm>
            <a:off x="6967728" y="3595702"/>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427</a:t>
            </a:r>
            <a:endParaRPr lang="en-US" sz="1300" dirty="0"/>
          </a:p>
        </p:txBody>
      </p:sp>
      <p:sp>
        <p:nvSpPr>
          <p:cNvPr id="62" name="Shape 60"/>
          <p:cNvSpPr/>
          <p:nvPr/>
        </p:nvSpPr>
        <p:spPr>
          <a:xfrm>
            <a:off x="4261104" y="3902378"/>
            <a:ext cx="3529584" cy="297532"/>
          </a:xfrm>
          <a:prstGeom prst="rect">
            <a:avLst/>
          </a:prstGeom>
          <a:solidFill>
            <a:srgbClr val="EDF4FA"/>
          </a:solidFill>
          <a:ln/>
        </p:spPr>
      </p:sp>
      <p:sp>
        <p:nvSpPr>
          <p:cNvPr id="63" name="Text 61"/>
          <p:cNvSpPr txBox="1"/>
          <p:nvPr/>
        </p:nvSpPr>
        <p:spPr>
          <a:xfrm>
            <a:off x="4315968" y="3902378"/>
            <a:ext cx="1920240" cy="306676"/>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NON-LUXURY</a:t>
            </a:r>
            <a:endParaRPr lang="en-US" sz="1300" dirty="0"/>
          </a:p>
        </p:txBody>
      </p:sp>
      <p:sp>
        <p:nvSpPr>
          <p:cNvPr id="64" name="Shape 62"/>
          <p:cNvSpPr/>
          <p:nvPr/>
        </p:nvSpPr>
        <p:spPr>
          <a:xfrm>
            <a:off x="6291072" y="3979047"/>
            <a:ext cx="256715" cy="153338"/>
          </a:xfrm>
          <a:prstGeom prst="rect">
            <a:avLst/>
          </a:prstGeom>
          <a:solidFill>
            <a:srgbClr val="0B2C4A"/>
          </a:solidFill>
          <a:ln/>
        </p:spPr>
      </p:sp>
      <p:sp>
        <p:nvSpPr>
          <p:cNvPr id="65" name="Text 63"/>
          <p:cNvSpPr txBox="1"/>
          <p:nvPr/>
        </p:nvSpPr>
        <p:spPr>
          <a:xfrm>
            <a:off x="6967728" y="3902378"/>
            <a:ext cx="786384" cy="306676"/>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418</a:t>
            </a:r>
            <a:endParaRPr lang="en-US" sz="1300" dirty="0"/>
          </a:p>
        </p:txBody>
      </p:sp>
      <p:sp>
        <p:nvSpPr>
          <p:cNvPr id="66" name="Text 64"/>
          <p:cNvSpPr txBox="1"/>
          <p:nvPr/>
        </p:nvSpPr>
        <p:spPr>
          <a:xfrm>
            <a:off x="4315968" y="4209054"/>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67" name="Shape 65"/>
          <p:cNvSpPr/>
          <p:nvPr/>
        </p:nvSpPr>
        <p:spPr>
          <a:xfrm>
            <a:off x="6291072" y="4285722"/>
            <a:ext cx="245067" cy="153338"/>
          </a:xfrm>
          <a:prstGeom prst="rect">
            <a:avLst/>
          </a:prstGeom>
          <a:solidFill>
            <a:srgbClr val="C2352F"/>
          </a:solidFill>
          <a:ln/>
        </p:spPr>
      </p:sp>
      <p:sp>
        <p:nvSpPr>
          <p:cNvPr id="68" name="Text 66"/>
          <p:cNvSpPr txBox="1"/>
          <p:nvPr/>
        </p:nvSpPr>
        <p:spPr>
          <a:xfrm>
            <a:off x="6967728" y="4209054"/>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399</a:t>
            </a:r>
            <a:endParaRPr lang="en-US" sz="1300" dirty="0"/>
          </a:p>
        </p:txBody>
      </p:sp>
      <p:sp>
        <p:nvSpPr>
          <p:cNvPr id="69" name="Text 67"/>
          <p:cNvSpPr txBox="1"/>
          <p:nvPr/>
        </p:nvSpPr>
        <p:spPr>
          <a:xfrm>
            <a:off x="4315968" y="4515729"/>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70" name="Shape 68"/>
          <p:cNvSpPr/>
          <p:nvPr/>
        </p:nvSpPr>
        <p:spPr>
          <a:xfrm>
            <a:off x="6291072" y="4592398"/>
            <a:ext cx="240759" cy="153338"/>
          </a:xfrm>
          <a:prstGeom prst="rect">
            <a:avLst/>
          </a:prstGeom>
          <a:solidFill>
            <a:srgbClr val="C2352F"/>
          </a:solidFill>
          <a:ln/>
        </p:spPr>
      </p:sp>
      <p:sp>
        <p:nvSpPr>
          <p:cNvPr id="71" name="Text 69"/>
          <p:cNvSpPr txBox="1"/>
          <p:nvPr/>
        </p:nvSpPr>
        <p:spPr>
          <a:xfrm>
            <a:off x="6967728" y="4515729"/>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392</a:t>
            </a:r>
            <a:endParaRPr lang="en-US" sz="1300" dirty="0"/>
          </a:p>
        </p:txBody>
      </p:sp>
      <p:sp>
        <p:nvSpPr>
          <p:cNvPr id="72" name="Text 70"/>
          <p:cNvSpPr txBox="1"/>
          <p:nvPr/>
        </p:nvSpPr>
        <p:spPr>
          <a:xfrm>
            <a:off x="4315968" y="4822405"/>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73" name="Shape 71"/>
          <p:cNvSpPr/>
          <p:nvPr/>
        </p:nvSpPr>
        <p:spPr>
          <a:xfrm>
            <a:off x="6291072" y="4899074"/>
            <a:ext cx="231188" cy="153338"/>
          </a:xfrm>
          <a:prstGeom prst="rect">
            <a:avLst/>
          </a:prstGeom>
          <a:solidFill>
            <a:srgbClr val="C2352F"/>
          </a:solidFill>
          <a:ln/>
        </p:spPr>
      </p:sp>
      <p:sp>
        <p:nvSpPr>
          <p:cNvPr id="74" name="Text 72"/>
          <p:cNvSpPr txBox="1"/>
          <p:nvPr/>
        </p:nvSpPr>
        <p:spPr>
          <a:xfrm>
            <a:off x="6967728" y="4822405"/>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376</a:t>
            </a:r>
            <a:endParaRPr lang="en-US" sz="1300" dirty="0"/>
          </a:p>
        </p:txBody>
      </p:sp>
      <p:sp>
        <p:nvSpPr>
          <p:cNvPr id="75" name="Text 73"/>
          <p:cNvSpPr txBox="1"/>
          <p:nvPr/>
        </p:nvSpPr>
        <p:spPr>
          <a:xfrm>
            <a:off x="4315968" y="5129081"/>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76" name="Shape 74"/>
          <p:cNvSpPr/>
          <p:nvPr/>
        </p:nvSpPr>
        <p:spPr>
          <a:xfrm>
            <a:off x="6291072" y="5205750"/>
            <a:ext cx="226867" cy="153338"/>
          </a:xfrm>
          <a:prstGeom prst="rect">
            <a:avLst/>
          </a:prstGeom>
          <a:solidFill>
            <a:srgbClr val="C2352F"/>
          </a:solidFill>
          <a:ln/>
        </p:spPr>
      </p:sp>
      <p:sp>
        <p:nvSpPr>
          <p:cNvPr id="77" name="Text 75"/>
          <p:cNvSpPr txBox="1"/>
          <p:nvPr/>
        </p:nvSpPr>
        <p:spPr>
          <a:xfrm>
            <a:off x="6967728" y="5129081"/>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369</a:t>
            </a:r>
            <a:endParaRPr lang="en-US" sz="1300" dirty="0"/>
          </a:p>
        </p:txBody>
      </p:sp>
      <p:sp>
        <p:nvSpPr>
          <p:cNvPr id="78" name="Text 76"/>
          <p:cNvSpPr txBox="1"/>
          <p:nvPr/>
        </p:nvSpPr>
        <p:spPr>
          <a:xfrm>
            <a:off x="4315968" y="5435756"/>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79" name="Shape 77"/>
          <p:cNvSpPr/>
          <p:nvPr/>
        </p:nvSpPr>
        <p:spPr>
          <a:xfrm>
            <a:off x="6291072" y="5512425"/>
            <a:ext cx="218633" cy="153338"/>
          </a:xfrm>
          <a:prstGeom prst="rect">
            <a:avLst/>
          </a:prstGeom>
          <a:solidFill>
            <a:srgbClr val="C2352F"/>
          </a:solidFill>
          <a:ln/>
        </p:spPr>
      </p:sp>
      <p:sp>
        <p:nvSpPr>
          <p:cNvPr id="80" name="Text 78"/>
          <p:cNvSpPr txBox="1"/>
          <p:nvPr/>
        </p:nvSpPr>
        <p:spPr>
          <a:xfrm>
            <a:off x="6967728" y="5435756"/>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356</a:t>
            </a:r>
            <a:endParaRPr lang="en-US" sz="1300" dirty="0"/>
          </a:p>
        </p:txBody>
      </p:sp>
      <p:sp>
        <p:nvSpPr>
          <p:cNvPr id="81" name="Text 79"/>
          <p:cNvSpPr txBox="1"/>
          <p:nvPr/>
        </p:nvSpPr>
        <p:spPr>
          <a:xfrm>
            <a:off x="7918704" y="1755648"/>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82" name="Shape 80"/>
          <p:cNvSpPr/>
          <p:nvPr/>
        </p:nvSpPr>
        <p:spPr>
          <a:xfrm>
            <a:off x="9893808" y="1832317"/>
            <a:ext cx="215740" cy="153338"/>
          </a:xfrm>
          <a:prstGeom prst="rect">
            <a:avLst/>
          </a:prstGeom>
          <a:solidFill>
            <a:srgbClr val="C2352F"/>
          </a:solidFill>
          <a:ln/>
        </p:spPr>
      </p:sp>
      <p:sp>
        <p:nvSpPr>
          <p:cNvPr id="83" name="Text 81"/>
          <p:cNvSpPr txBox="1"/>
          <p:nvPr/>
        </p:nvSpPr>
        <p:spPr>
          <a:xfrm>
            <a:off x="10570464" y="1755648"/>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351</a:t>
            </a:r>
            <a:endParaRPr lang="en-US" sz="1300" dirty="0"/>
          </a:p>
        </p:txBody>
      </p:sp>
      <p:sp>
        <p:nvSpPr>
          <p:cNvPr id="84" name="Text 82"/>
          <p:cNvSpPr txBox="1"/>
          <p:nvPr/>
        </p:nvSpPr>
        <p:spPr>
          <a:xfrm>
            <a:off x="7918704" y="2062324"/>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85" name="Shape 83"/>
          <p:cNvSpPr/>
          <p:nvPr/>
        </p:nvSpPr>
        <p:spPr>
          <a:xfrm>
            <a:off x="9893808" y="2138993"/>
            <a:ext cx="200777" cy="153338"/>
          </a:xfrm>
          <a:prstGeom prst="rect">
            <a:avLst/>
          </a:prstGeom>
          <a:solidFill>
            <a:srgbClr val="C2352F"/>
          </a:solidFill>
          <a:ln/>
        </p:spPr>
      </p:sp>
      <p:sp>
        <p:nvSpPr>
          <p:cNvPr id="86" name="Text 84"/>
          <p:cNvSpPr txBox="1"/>
          <p:nvPr/>
        </p:nvSpPr>
        <p:spPr>
          <a:xfrm>
            <a:off x="10570464" y="2062324"/>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327</a:t>
            </a:r>
            <a:endParaRPr lang="en-US" sz="1300" dirty="0"/>
          </a:p>
        </p:txBody>
      </p:sp>
      <p:sp>
        <p:nvSpPr>
          <p:cNvPr id="87" name="Text 85"/>
          <p:cNvSpPr txBox="1"/>
          <p:nvPr/>
        </p:nvSpPr>
        <p:spPr>
          <a:xfrm>
            <a:off x="7918704" y="2368999"/>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88" name="Shape 86"/>
          <p:cNvSpPr/>
          <p:nvPr/>
        </p:nvSpPr>
        <p:spPr>
          <a:xfrm>
            <a:off x="9893808" y="2445668"/>
            <a:ext cx="189359" cy="153338"/>
          </a:xfrm>
          <a:prstGeom prst="rect">
            <a:avLst/>
          </a:prstGeom>
          <a:solidFill>
            <a:srgbClr val="C2352F"/>
          </a:solidFill>
          <a:ln/>
        </p:spPr>
      </p:sp>
      <p:sp>
        <p:nvSpPr>
          <p:cNvPr id="89" name="Text 87"/>
          <p:cNvSpPr txBox="1"/>
          <p:nvPr/>
        </p:nvSpPr>
        <p:spPr>
          <a:xfrm>
            <a:off x="10570464" y="2368999"/>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308</a:t>
            </a:r>
            <a:endParaRPr lang="en-US" sz="1300" dirty="0"/>
          </a:p>
        </p:txBody>
      </p:sp>
      <p:sp>
        <p:nvSpPr>
          <p:cNvPr id="90" name="Text 88"/>
          <p:cNvSpPr txBox="1"/>
          <p:nvPr/>
        </p:nvSpPr>
        <p:spPr>
          <a:xfrm>
            <a:off x="7918704" y="2675675"/>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91" name="Shape 89"/>
          <p:cNvSpPr/>
          <p:nvPr/>
        </p:nvSpPr>
        <p:spPr>
          <a:xfrm>
            <a:off x="9893808" y="2752344"/>
            <a:ext cx="183877" cy="153338"/>
          </a:xfrm>
          <a:prstGeom prst="rect">
            <a:avLst/>
          </a:prstGeom>
          <a:solidFill>
            <a:srgbClr val="C2352F"/>
          </a:solidFill>
          <a:ln/>
        </p:spPr>
      </p:sp>
      <p:sp>
        <p:nvSpPr>
          <p:cNvPr id="92" name="Text 90"/>
          <p:cNvSpPr txBox="1"/>
          <p:nvPr/>
        </p:nvSpPr>
        <p:spPr>
          <a:xfrm>
            <a:off x="10570464" y="2675675"/>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299</a:t>
            </a:r>
            <a:endParaRPr lang="en-US" sz="1300" dirty="0"/>
          </a:p>
        </p:txBody>
      </p:sp>
      <p:sp>
        <p:nvSpPr>
          <p:cNvPr id="93" name="Text 91"/>
          <p:cNvSpPr txBox="1"/>
          <p:nvPr/>
        </p:nvSpPr>
        <p:spPr>
          <a:xfrm>
            <a:off x="7918704" y="2982351"/>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94" name="Shape 92"/>
          <p:cNvSpPr/>
          <p:nvPr/>
        </p:nvSpPr>
        <p:spPr>
          <a:xfrm>
            <a:off x="9893808" y="3059020"/>
            <a:ext cx="167591" cy="153338"/>
          </a:xfrm>
          <a:prstGeom prst="rect">
            <a:avLst/>
          </a:prstGeom>
          <a:solidFill>
            <a:srgbClr val="C2352F"/>
          </a:solidFill>
          <a:ln/>
        </p:spPr>
      </p:sp>
      <p:sp>
        <p:nvSpPr>
          <p:cNvPr id="95" name="Text 93"/>
          <p:cNvSpPr txBox="1"/>
          <p:nvPr/>
        </p:nvSpPr>
        <p:spPr>
          <a:xfrm>
            <a:off x="10570464" y="2982351"/>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273</a:t>
            </a:r>
            <a:endParaRPr lang="en-US" sz="1300" dirty="0"/>
          </a:p>
        </p:txBody>
      </p:sp>
      <p:sp>
        <p:nvSpPr>
          <p:cNvPr id="96" name="Text 94"/>
          <p:cNvSpPr txBox="1"/>
          <p:nvPr/>
        </p:nvSpPr>
        <p:spPr>
          <a:xfrm>
            <a:off x="7918704" y="3289026"/>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97" name="Shape 95"/>
          <p:cNvSpPr/>
          <p:nvPr/>
        </p:nvSpPr>
        <p:spPr>
          <a:xfrm>
            <a:off x="9893808" y="3365695"/>
            <a:ext cx="167045" cy="153338"/>
          </a:xfrm>
          <a:prstGeom prst="rect">
            <a:avLst/>
          </a:prstGeom>
          <a:solidFill>
            <a:srgbClr val="C2352F"/>
          </a:solidFill>
          <a:ln/>
        </p:spPr>
      </p:sp>
      <p:sp>
        <p:nvSpPr>
          <p:cNvPr id="98" name="Text 96"/>
          <p:cNvSpPr txBox="1"/>
          <p:nvPr/>
        </p:nvSpPr>
        <p:spPr>
          <a:xfrm>
            <a:off x="10570464" y="3289026"/>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272</a:t>
            </a:r>
            <a:endParaRPr lang="en-US" sz="1300" dirty="0"/>
          </a:p>
        </p:txBody>
      </p:sp>
      <p:sp>
        <p:nvSpPr>
          <p:cNvPr id="99" name="Text 97"/>
          <p:cNvSpPr txBox="1"/>
          <p:nvPr/>
        </p:nvSpPr>
        <p:spPr>
          <a:xfrm>
            <a:off x="7918704" y="3595702"/>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100" name="Shape 98"/>
          <p:cNvSpPr/>
          <p:nvPr/>
        </p:nvSpPr>
        <p:spPr>
          <a:xfrm>
            <a:off x="9893808" y="3672371"/>
            <a:ext cx="142736" cy="153338"/>
          </a:xfrm>
          <a:prstGeom prst="rect">
            <a:avLst/>
          </a:prstGeom>
          <a:solidFill>
            <a:srgbClr val="C2352F"/>
          </a:solidFill>
          <a:ln/>
        </p:spPr>
      </p:sp>
      <p:sp>
        <p:nvSpPr>
          <p:cNvPr id="101" name="Text 99"/>
          <p:cNvSpPr txBox="1"/>
          <p:nvPr/>
        </p:nvSpPr>
        <p:spPr>
          <a:xfrm>
            <a:off x="10570464" y="3595702"/>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232</a:t>
            </a:r>
            <a:endParaRPr lang="en-US" sz="1300" dirty="0"/>
          </a:p>
        </p:txBody>
      </p:sp>
      <p:sp>
        <p:nvSpPr>
          <p:cNvPr id="102" name="Text 100"/>
          <p:cNvSpPr txBox="1"/>
          <p:nvPr/>
        </p:nvSpPr>
        <p:spPr>
          <a:xfrm>
            <a:off x="7918704" y="3902378"/>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03" name="Shape 101"/>
          <p:cNvSpPr/>
          <p:nvPr/>
        </p:nvSpPr>
        <p:spPr>
          <a:xfrm>
            <a:off x="9893808" y="3979047"/>
            <a:ext cx="141456" cy="153338"/>
          </a:xfrm>
          <a:prstGeom prst="rect">
            <a:avLst/>
          </a:prstGeom>
          <a:solidFill>
            <a:srgbClr val="C2352F"/>
          </a:solidFill>
          <a:ln/>
        </p:spPr>
      </p:sp>
      <p:sp>
        <p:nvSpPr>
          <p:cNvPr id="104" name="Text 102"/>
          <p:cNvSpPr txBox="1"/>
          <p:nvPr/>
        </p:nvSpPr>
        <p:spPr>
          <a:xfrm>
            <a:off x="10570464" y="3902378"/>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230</a:t>
            </a:r>
            <a:endParaRPr lang="en-US" sz="1300" dirty="0"/>
          </a:p>
        </p:txBody>
      </p:sp>
      <p:sp>
        <p:nvSpPr>
          <p:cNvPr id="105" name="Text 103"/>
          <p:cNvSpPr txBox="1"/>
          <p:nvPr/>
        </p:nvSpPr>
        <p:spPr>
          <a:xfrm>
            <a:off x="7918704" y="4209054"/>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106" name="Shape 104"/>
          <p:cNvSpPr/>
          <p:nvPr/>
        </p:nvSpPr>
        <p:spPr>
          <a:xfrm>
            <a:off x="9893808" y="4285722"/>
            <a:ext cx="135110" cy="153338"/>
          </a:xfrm>
          <a:prstGeom prst="rect">
            <a:avLst/>
          </a:prstGeom>
          <a:solidFill>
            <a:srgbClr val="C2352F"/>
          </a:solidFill>
          <a:ln/>
        </p:spPr>
      </p:sp>
      <p:sp>
        <p:nvSpPr>
          <p:cNvPr id="107" name="Text 105"/>
          <p:cNvSpPr txBox="1"/>
          <p:nvPr/>
        </p:nvSpPr>
        <p:spPr>
          <a:xfrm>
            <a:off x="10570464" y="4209054"/>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220</a:t>
            </a:r>
            <a:endParaRPr lang="en-US" sz="1300" dirty="0"/>
          </a:p>
        </p:txBody>
      </p:sp>
      <p:sp>
        <p:nvSpPr>
          <p:cNvPr id="108" name="Text 106"/>
          <p:cNvSpPr txBox="1"/>
          <p:nvPr/>
        </p:nvSpPr>
        <p:spPr>
          <a:xfrm>
            <a:off x="7918704" y="4515729"/>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109" name="Shape 107"/>
          <p:cNvSpPr/>
          <p:nvPr/>
        </p:nvSpPr>
        <p:spPr>
          <a:xfrm>
            <a:off x="9893808" y="4592398"/>
            <a:ext cx="124834" cy="153338"/>
          </a:xfrm>
          <a:prstGeom prst="rect">
            <a:avLst/>
          </a:prstGeom>
          <a:solidFill>
            <a:srgbClr val="C2352F"/>
          </a:solidFill>
          <a:ln/>
        </p:spPr>
      </p:sp>
      <p:sp>
        <p:nvSpPr>
          <p:cNvPr id="110" name="Text 108"/>
          <p:cNvSpPr txBox="1"/>
          <p:nvPr/>
        </p:nvSpPr>
        <p:spPr>
          <a:xfrm>
            <a:off x="10570464" y="4515729"/>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203</a:t>
            </a:r>
            <a:endParaRPr lang="en-US" sz="1300" dirty="0"/>
          </a:p>
        </p:txBody>
      </p:sp>
      <p:sp>
        <p:nvSpPr>
          <p:cNvPr id="111" name="Text 109"/>
          <p:cNvSpPr txBox="1"/>
          <p:nvPr/>
        </p:nvSpPr>
        <p:spPr>
          <a:xfrm>
            <a:off x="7918704" y="4822405"/>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112" name="Shape 110"/>
          <p:cNvSpPr/>
          <p:nvPr/>
        </p:nvSpPr>
        <p:spPr>
          <a:xfrm>
            <a:off x="9893808" y="4899074"/>
            <a:ext cx="118207" cy="153338"/>
          </a:xfrm>
          <a:prstGeom prst="rect">
            <a:avLst/>
          </a:prstGeom>
          <a:solidFill>
            <a:srgbClr val="C2352F"/>
          </a:solidFill>
          <a:ln/>
        </p:spPr>
      </p:sp>
      <p:sp>
        <p:nvSpPr>
          <p:cNvPr id="113" name="Text 111"/>
          <p:cNvSpPr txBox="1"/>
          <p:nvPr/>
        </p:nvSpPr>
        <p:spPr>
          <a:xfrm>
            <a:off x="10570464" y="4822405"/>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192</a:t>
            </a:r>
            <a:endParaRPr lang="en-US" sz="1300" dirty="0"/>
          </a:p>
        </p:txBody>
      </p:sp>
      <p:sp>
        <p:nvSpPr>
          <p:cNvPr id="114" name="Text 112"/>
          <p:cNvSpPr txBox="1"/>
          <p:nvPr/>
        </p:nvSpPr>
        <p:spPr>
          <a:xfrm>
            <a:off x="7918704" y="5129081"/>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115" name="Shape 113"/>
          <p:cNvSpPr/>
          <p:nvPr/>
        </p:nvSpPr>
        <p:spPr>
          <a:xfrm>
            <a:off x="9893808" y="5205750"/>
            <a:ext cx="94304" cy="153338"/>
          </a:xfrm>
          <a:prstGeom prst="rect">
            <a:avLst/>
          </a:prstGeom>
          <a:solidFill>
            <a:srgbClr val="C2352F"/>
          </a:solidFill>
          <a:ln/>
        </p:spPr>
      </p:sp>
      <p:sp>
        <p:nvSpPr>
          <p:cNvPr id="116" name="Text 114"/>
          <p:cNvSpPr txBox="1"/>
          <p:nvPr/>
        </p:nvSpPr>
        <p:spPr>
          <a:xfrm>
            <a:off x="10570464" y="5129081"/>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154</a:t>
            </a:r>
            <a:endParaRPr lang="en-US" sz="1300" dirty="0"/>
          </a:p>
        </p:txBody>
      </p:sp>
      <p:sp>
        <p:nvSpPr>
          <p:cNvPr id="117" name="Shape 115"/>
          <p:cNvSpPr/>
          <p:nvPr/>
        </p:nvSpPr>
        <p:spPr>
          <a:xfrm>
            <a:off x="457200" y="5961888"/>
            <a:ext cx="11274552" cy="548640"/>
          </a:xfrm>
          <a:prstGeom prst="rect">
            <a:avLst/>
          </a:prstGeom>
          <a:solidFill>
            <a:srgbClr val="EDF4FA"/>
          </a:solidFill>
          <a:ln/>
        </p:spPr>
      </p:sp>
      <p:sp>
        <p:nvSpPr>
          <p:cNvPr id="118" name="Text 116"/>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Against their own segment, 5 of 9 luxury stores beat 276 and 7 of 24 others beat 418. TOYOTA HENDERSON leads non-luxury at 1,022.</a:t>
            </a:r>
            <a:endParaRPr lang="en-US" sz="1600" dirty="0"/>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&amp; W ROs per Fixed Manager</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01168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GROUP</a:t>
            </a:r>
            <a:endParaRPr lang="en-US" sz="1500" dirty="0"/>
          </a:p>
        </p:txBody>
      </p:sp>
      <p:sp>
        <p:nvSpPr>
          <p:cNvPr id="9" name="Text 7"/>
          <p:cNvSpPr txBox="1"/>
          <p:nvPr/>
        </p:nvSpPr>
        <p:spPr>
          <a:xfrm>
            <a:off x="2834640" y="1335024"/>
            <a:ext cx="420624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SAME-STORE, 33 STORES</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+13</a:t>
            </a:r>
            <a:endParaRPr lang="en-US" sz="2000" dirty="0"/>
          </a:p>
        </p:txBody>
      </p:sp>
      <p:sp>
        <p:nvSpPr>
          <p:cNvPr id="11" name="Text 9"/>
          <p:cNvSpPr txBox="1"/>
          <p:nvPr/>
        </p:nvSpPr>
        <p:spPr>
          <a:xfrm>
            <a:off x="658368"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12" name="Shape 10"/>
          <p:cNvSpPr/>
          <p:nvPr/>
        </p:nvSpPr>
        <p:spPr>
          <a:xfrm>
            <a:off x="3813048" y="1909246"/>
            <a:ext cx="532790" cy="105898"/>
          </a:xfrm>
          <a:prstGeom prst="rect">
            <a:avLst/>
          </a:prstGeom>
          <a:solidFill>
            <a:srgbClr val="12A566"/>
          </a:solidFill>
          <a:ln/>
        </p:spPr>
      </p:sp>
      <p:sp>
        <p:nvSpPr>
          <p:cNvPr id="13" name="Text 11"/>
          <p:cNvSpPr txBox="1"/>
          <p:nvPr/>
        </p:nvSpPr>
        <p:spPr>
          <a:xfrm>
            <a:off x="4709160"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+182</a:t>
            </a:r>
            <a:endParaRPr lang="en-US" sz="1300" dirty="0"/>
          </a:p>
        </p:txBody>
      </p:sp>
      <p:sp>
        <p:nvSpPr>
          <p:cNvPr id="14" name="Text 12"/>
          <p:cNvSpPr txBox="1"/>
          <p:nvPr/>
        </p:nvSpPr>
        <p:spPr>
          <a:xfrm>
            <a:off x="658368"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15" name="Shape 13"/>
          <p:cNvSpPr/>
          <p:nvPr/>
        </p:nvSpPr>
        <p:spPr>
          <a:xfrm>
            <a:off x="3813048" y="2139459"/>
            <a:ext cx="497243" cy="105898"/>
          </a:xfrm>
          <a:prstGeom prst="rect">
            <a:avLst/>
          </a:prstGeom>
          <a:solidFill>
            <a:srgbClr val="12A566"/>
          </a:solidFill>
          <a:ln/>
        </p:spPr>
      </p:sp>
      <p:sp>
        <p:nvSpPr>
          <p:cNvPr id="16" name="Text 14"/>
          <p:cNvSpPr txBox="1"/>
          <p:nvPr/>
        </p:nvSpPr>
        <p:spPr>
          <a:xfrm>
            <a:off x="4709160"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+170</a:t>
            </a:r>
            <a:endParaRPr lang="en-US" sz="1300" dirty="0"/>
          </a:p>
        </p:txBody>
      </p:sp>
      <p:sp>
        <p:nvSpPr>
          <p:cNvPr id="17" name="Text 15"/>
          <p:cNvSpPr txBox="1"/>
          <p:nvPr/>
        </p:nvSpPr>
        <p:spPr>
          <a:xfrm>
            <a:off x="658368"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18" name="Shape 16"/>
          <p:cNvSpPr/>
          <p:nvPr/>
        </p:nvSpPr>
        <p:spPr>
          <a:xfrm>
            <a:off x="3813048" y="2369673"/>
            <a:ext cx="355312" cy="105898"/>
          </a:xfrm>
          <a:prstGeom prst="rect">
            <a:avLst/>
          </a:prstGeom>
          <a:solidFill>
            <a:srgbClr val="12A566"/>
          </a:solidFill>
          <a:ln/>
        </p:spPr>
      </p:sp>
      <p:sp>
        <p:nvSpPr>
          <p:cNvPr id="19" name="Text 17"/>
          <p:cNvSpPr txBox="1"/>
          <p:nvPr/>
        </p:nvSpPr>
        <p:spPr>
          <a:xfrm>
            <a:off x="4709160"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+121</a:t>
            </a:r>
            <a:endParaRPr lang="en-US" sz="1300" dirty="0"/>
          </a:p>
        </p:txBody>
      </p:sp>
      <p:sp>
        <p:nvSpPr>
          <p:cNvPr id="20" name="Text 18"/>
          <p:cNvSpPr txBox="1"/>
          <p:nvPr/>
        </p:nvSpPr>
        <p:spPr>
          <a:xfrm>
            <a:off x="658368"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21" name="Shape 19"/>
          <p:cNvSpPr/>
          <p:nvPr/>
        </p:nvSpPr>
        <p:spPr>
          <a:xfrm>
            <a:off x="3813048" y="2599887"/>
            <a:ext cx="350272" cy="105898"/>
          </a:xfrm>
          <a:prstGeom prst="rect">
            <a:avLst/>
          </a:prstGeom>
          <a:solidFill>
            <a:srgbClr val="12A566"/>
          </a:solidFill>
          <a:ln/>
        </p:spPr>
      </p:sp>
      <p:sp>
        <p:nvSpPr>
          <p:cNvPr id="22" name="Text 20"/>
          <p:cNvSpPr txBox="1"/>
          <p:nvPr/>
        </p:nvSpPr>
        <p:spPr>
          <a:xfrm>
            <a:off x="4709160"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+120</a:t>
            </a:r>
            <a:endParaRPr lang="en-US" sz="1300" dirty="0"/>
          </a:p>
        </p:txBody>
      </p:sp>
      <p:sp>
        <p:nvSpPr>
          <p:cNvPr id="23" name="Text 21"/>
          <p:cNvSpPr txBox="1"/>
          <p:nvPr/>
        </p:nvSpPr>
        <p:spPr>
          <a:xfrm>
            <a:off x="658368"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24" name="Shape 22"/>
          <p:cNvSpPr/>
          <p:nvPr/>
        </p:nvSpPr>
        <p:spPr>
          <a:xfrm>
            <a:off x="3813048" y="2830100"/>
            <a:ext cx="341073" cy="105898"/>
          </a:xfrm>
          <a:prstGeom prst="rect">
            <a:avLst/>
          </a:prstGeom>
          <a:solidFill>
            <a:srgbClr val="12A566"/>
          </a:solidFill>
          <a:ln/>
        </p:spPr>
      </p:sp>
      <p:sp>
        <p:nvSpPr>
          <p:cNvPr id="25" name="Text 23"/>
          <p:cNvSpPr txBox="1"/>
          <p:nvPr/>
        </p:nvSpPr>
        <p:spPr>
          <a:xfrm>
            <a:off x="4709160"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+116</a:t>
            </a:r>
            <a:endParaRPr lang="en-US" sz="1300" dirty="0"/>
          </a:p>
        </p:txBody>
      </p:sp>
      <p:sp>
        <p:nvSpPr>
          <p:cNvPr id="26" name="Text 24"/>
          <p:cNvSpPr txBox="1"/>
          <p:nvPr/>
        </p:nvSpPr>
        <p:spPr>
          <a:xfrm>
            <a:off x="658368"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27" name="Shape 25"/>
          <p:cNvSpPr/>
          <p:nvPr/>
        </p:nvSpPr>
        <p:spPr>
          <a:xfrm>
            <a:off x="3813048" y="3060314"/>
            <a:ext cx="155530" cy="105898"/>
          </a:xfrm>
          <a:prstGeom prst="rect">
            <a:avLst/>
          </a:prstGeom>
          <a:solidFill>
            <a:srgbClr val="12A566"/>
          </a:solidFill>
          <a:ln/>
        </p:spPr>
      </p:sp>
      <p:sp>
        <p:nvSpPr>
          <p:cNvPr id="28" name="Text 26"/>
          <p:cNvSpPr txBox="1"/>
          <p:nvPr/>
        </p:nvSpPr>
        <p:spPr>
          <a:xfrm>
            <a:off x="4709160"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+53</a:t>
            </a:r>
            <a:endParaRPr lang="en-US" sz="1300" dirty="0"/>
          </a:p>
        </p:txBody>
      </p:sp>
      <p:sp>
        <p:nvSpPr>
          <p:cNvPr id="29" name="Text 27"/>
          <p:cNvSpPr txBox="1"/>
          <p:nvPr/>
        </p:nvSpPr>
        <p:spPr>
          <a:xfrm>
            <a:off x="658368"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30" name="Shape 28"/>
          <p:cNvSpPr/>
          <p:nvPr/>
        </p:nvSpPr>
        <p:spPr>
          <a:xfrm>
            <a:off x="3813048" y="3290528"/>
            <a:ext cx="139901" cy="105898"/>
          </a:xfrm>
          <a:prstGeom prst="rect">
            <a:avLst/>
          </a:prstGeom>
          <a:solidFill>
            <a:srgbClr val="12A566"/>
          </a:solidFill>
          <a:ln/>
        </p:spPr>
      </p:sp>
      <p:sp>
        <p:nvSpPr>
          <p:cNvPr id="31" name="Text 29"/>
          <p:cNvSpPr txBox="1"/>
          <p:nvPr/>
        </p:nvSpPr>
        <p:spPr>
          <a:xfrm>
            <a:off x="4709160" y="3228370"/>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+48</a:t>
            </a:r>
            <a:endParaRPr lang="en-US" sz="1300" dirty="0"/>
          </a:p>
        </p:txBody>
      </p:sp>
      <p:sp>
        <p:nvSpPr>
          <p:cNvPr id="32" name="Text 30"/>
          <p:cNvSpPr txBox="1"/>
          <p:nvPr/>
        </p:nvSpPr>
        <p:spPr>
          <a:xfrm>
            <a:off x="658368"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33" name="Shape 31"/>
          <p:cNvSpPr/>
          <p:nvPr/>
        </p:nvSpPr>
        <p:spPr>
          <a:xfrm>
            <a:off x="3813048" y="3520741"/>
            <a:ext cx="136968" cy="105898"/>
          </a:xfrm>
          <a:prstGeom prst="rect">
            <a:avLst/>
          </a:prstGeom>
          <a:solidFill>
            <a:srgbClr val="12A566"/>
          </a:solidFill>
          <a:ln/>
        </p:spPr>
      </p:sp>
      <p:sp>
        <p:nvSpPr>
          <p:cNvPr id="34" name="Text 32"/>
          <p:cNvSpPr txBox="1"/>
          <p:nvPr/>
        </p:nvSpPr>
        <p:spPr>
          <a:xfrm>
            <a:off x="4709160" y="345858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+47</a:t>
            </a:r>
            <a:endParaRPr lang="en-US" sz="1300" dirty="0"/>
          </a:p>
        </p:txBody>
      </p:sp>
      <p:sp>
        <p:nvSpPr>
          <p:cNvPr id="35" name="Text 33"/>
          <p:cNvSpPr txBox="1"/>
          <p:nvPr/>
        </p:nvSpPr>
        <p:spPr>
          <a:xfrm>
            <a:off x="658368"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36" name="Shape 34"/>
          <p:cNvSpPr/>
          <p:nvPr/>
        </p:nvSpPr>
        <p:spPr>
          <a:xfrm>
            <a:off x="3813048" y="3750955"/>
            <a:ext cx="129611" cy="105898"/>
          </a:xfrm>
          <a:prstGeom prst="rect">
            <a:avLst/>
          </a:prstGeom>
          <a:solidFill>
            <a:srgbClr val="12A566"/>
          </a:solidFill>
          <a:ln/>
        </p:spPr>
      </p:sp>
      <p:sp>
        <p:nvSpPr>
          <p:cNvPr id="37" name="Text 35"/>
          <p:cNvSpPr txBox="1"/>
          <p:nvPr/>
        </p:nvSpPr>
        <p:spPr>
          <a:xfrm>
            <a:off x="4709160" y="3688797"/>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+44</a:t>
            </a:r>
            <a:endParaRPr lang="en-US" sz="1300" dirty="0"/>
          </a:p>
        </p:txBody>
      </p:sp>
      <p:sp>
        <p:nvSpPr>
          <p:cNvPr id="38" name="Text 36"/>
          <p:cNvSpPr txBox="1"/>
          <p:nvPr/>
        </p:nvSpPr>
        <p:spPr>
          <a:xfrm>
            <a:off x="658368"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39" name="Shape 37"/>
          <p:cNvSpPr/>
          <p:nvPr/>
        </p:nvSpPr>
        <p:spPr>
          <a:xfrm>
            <a:off x="3813048" y="3981169"/>
            <a:ext cx="112185" cy="105898"/>
          </a:xfrm>
          <a:prstGeom prst="rect">
            <a:avLst/>
          </a:prstGeom>
          <a:solidFill>
            <a:srgbClr val="12A566"/>
          </a:solidFill>
          <a:ln/>
        </p:spPr>
      </p:sp>
      <p:sp>
        <p:nvSpPr>
          <p:cNvPr id="40" name="Text 38"/>
          <p:cNvSpPr txBox="1"/>
          <p:nvPr/>
        </p:nvSpPr>
        <p:spPr>
          <a:xfrm>
            <a:off x="4709160" y="3919011"/>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+38</a:t>
            </a:r>
            <a:endParaRPr lang="en-US" sz="1300" dirty="0"/>
          </a:p>
        </p:txBody>
      </p:sp>
      <p:sp>
        <p:nvSpPr>
          <p:cNvPr id="41" name="Text 39"/>
          <p:cNvSpPr txBox="1"/>
          <p:nvPr/>
        </p:nvSpPr>
        <p:spPr>
          <a:xfrm>
            <a:off x="658368"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42" name="Shape 40"/>
          <p:cNvSpPr/>
          <p:nvPr/>
        </p:nvSpPr>
        <p:spPr>
          <a:xfrm>
            <a:off x="3813048" y="4211382"/>
            <a:ext cx="67190" cy="105898"/>
          </a:xfrm>
          <a:prstGeom prst="rect">
            <a:avLst/>
          </a:prstGeom>
          <a:solidFill>
            <a:srgbClr val="12A566"/>
          </a:solidFill>
          <a:ln/>
        </p:spPr>
      </p:sp>
      <p:sp>
        <p:nvSpPr>
          <p:cNvPr id="43" name="Text 41"/>
          <p:cNvSpPr txBox="1"/>
          <p:nvPr/>
        </p:nvSpPr>
        <p:spPr>
          <a:xfrm>
            <a:off x="4709160" y="414922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+23</a:t>
            </a:r>
            <a:endParaRPr lang="en-US" sz="1300" dirty="0"/>
          </a:p>
        </p:txBody>
      </p:sp>
      <p:sp>
        <p:nvSpPr>
          <p:cNvPr id="44" name="Text 42"/>
          <p:cNvSpPr txBox="1"/>
          <p:nvPr/>
        </p:nvSpPr>
        <p:spPr>
          <a:xfrm>
            <a:off x="658368"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45" name="Shape 43"/>
          <p:cNvSpPr/>
          <p:nvPr/>
        </p:nvSpPr>
        <p:spPr>
          <a:xfrm>
            <a:off x="3813048" y="4441596"/>
            <a:ext cx="50922" cy="105898"/>
          </a:xfrm>
          <a:prstGeom prst="rect">
            <a:avLst/>
          </a:prstGeom>
          <a:solidFill>
            <a:srgbClr val="12A566"/>
          </a:solidFill>
          <a:ln/>
        </p:spPr>
      </p:sp>
      <p:sp>
        <p:nvSpPr>
          <p:cNvPr id="46" name="Text 44"/>
          <p:cNvSpPr txBox="1"/>
          <p:nvPr/>
        </p:nvSpPr>
        <p:spPr>
          <a:xfrm>
            <a:off x="4709160" y="437943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+17</a:t>
            </a:r>
            <a:endParaRPr lang="en-US" sz="1300" dirty="0"/>
          </a:p>
        </p:txBody>
      </p:sp>
      <p:sp>
        <p:nvSpPr>
          <p:cNvPr id="47" name="Text 45"/>
          <p:cNvSpPr txBox="1"/>
          <p:nvPr/>
        </p:nvSpPr>
        <p:spPr>
          <a:xfrm>
            <a:off x="658368"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48" name="Shape 46"/>
          <p:cNvSpPr/>
          <p:nvPr/>
        </p:nvSpPr>
        <p:spPr>
          <a:xfrm>
            <a:off x="3813048" y="4671809"/>
            <a:ext cx="42136" cy="105898"/>
          </a:xfrm>
          <a:prstGeom prst="rect">
            <a:avLst/>
          </a:prstGeom>
          <a:solidFill>
            <a:srgbClr val="12A566"/>
          </a:solidFill>
          <a:ln/>
        </p:spPr>
      </p:sp>
      <p:sp>
        <p:nvSpPr>
          <p:cNvPr id="49" name="Text 47"/>
          <p:cNvSpPr txBox="1"/>
          <p:nvPr/>
        </p:nvSpPr>
        <p:spPr>
          <a:xfrm>
            <a:off x="4709160" y="460965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+14</a:t>
            </a:r>
            <a:endParaRPr lang="en-US" sz="1300" dirty="0"/>
          </a:p>
        </p:txBody>
      </p:sp>
      <p:sp>
        <p:nvSpPr>
          <p:cNvPr id="50" name="Text 48"/>
          <p:cNvSpPr txBox="1"/>
          <p:nvPr/>
        </p:nvSpPr>
        <p:spPr>
          <a:xfrm>
            <a:off x="658368"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51" name="Shape 49"/>
          <p:cNvSpPr/>
          <p:nvPr/>
        </p:nvSpPr>
        <p:spPr>
          <a:xfrm>
            <a:off x="3813048" y="4902023"/>
            <a:ext cx="30748" cy="105898"/>
          </a:xfrm>
          <a:prstGeom prst="rect">
            <a:avLst/>
          </a:prstGeom>
          <a:solidFill>
            <a:srgbClr val="12A566"/>
          </a:solidFill>
          <a:ln/>
        </p:spPr>
      </p:sp>
      <p:sp>
        <p:nvSpPr>
          <p:cNvPr id="52" name="Text 50"/>
          <p:cNvSpPr txBox="1"/>
          <p:nvPr/>
        </p:nvSpPr>
        <p:spPr>
          <a:xfrm>
            <a:off x="4709160" y="483986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+11</a:t>
            </a:r>
            <a:endParaRPr lang="en-US" sz="1300" dirty="0"/>
          </a:p>
        </p:txBody>
      </p:sp>
      <p:sp>
        <p:nvSpPr>
          <p:cNvPr id="53" name="Text 51"/>
          <p:cNvSpPr txBox="1"/>
          <p:nvPr/>
        </p:nvSpPr>
        <p:spPr>
          <a:xfrm>
            <a:off x="658368"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54" name="Shape 52"/>
          <p:cNvSpPr/>
          <p:nvPr/>
        </p:nvSpPr>
        <p:spPr>
          <a:xfrm>
            <a:off x="3813048" y="5132237"/>
            <a:ext cx="30152" cy="105898"/>
          </a:xfrm>
          <a:prstGeom prst="rect">
            <a:avLst/>
          </a:prstGeom>
          <a:solidFill>
            <a:srgbClr val="12A566"/>
          </a:solidFill>
          <a:ln/>
        </p:spPr>
      </p:sp>
      <p:sp>
        <p:nvSpPr>
          <p:cNvPr id="55" name="Text 53"/>
          <p:cNvSpPr txBox="1"/>
          <p:nvPr/>
        </p:nvSpPr>
        <p:spPr>
          <a:xfrm>
            <a:off x="4709160" y="507007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a:t>
            </a:r>
            <a:endParaRPr lang="en-US" sz="1300" dirty="0"/>
          </a:p>
        </p:txBody>
      </p:sp>
      <p:sp>
        <p:nvSpPr>
          <p:cNvPr id="56" name="Text 54"/>
          <p:cNvSpPr txBox="1"/>
          <p:nvPr/>
        </p:nvSpPr>
        <p:spPr>
          <a:xfrm>
            <a:off x="658368"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57" name="Shape 55"/>
          <p:cNvSpPr/>
          <p:nvPr/>
        </p:nvSpPr>
        <p:spPr>
          <a:xfrm>
            <a:off x="3813048" y="5362450"/>
            <a:ext cx="15781" cy="105898"/>
          </a:xfrm>
          <a:prstGeom prst="rect">
            <a:avLst/>
          </a:prstGeom>
          <a:solidFill>
            <a:srgbClr val="12A566"/>
          </a:solidFill>
          <a:ln/>
        </p:spPr>
      </p:sp>
      <p:sp>
        <p:nvSpPr>
          <p:cNvPr id="58" name="Text 56"/>
          <p:cNvSpPr txBox="1"/>
          <p:nvPr/>
        </p:nvSpPr>
        <p:spPr>
          <a:xfrm>
            <a:off x="4709160" y="530029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a:t>
            </a:r>
            <a:endParaRPr lang="en-US" sz="1300" dirty="0"/>
          </a:p>
        </p:txBody>
      </p:sp>
      <p:sp>
        <p:nvSpPr>
          <p:cNvPr id="59" name="Text 57"/>
          <p:cNvSpPr txBox="1"/>
          <p:nvPr/>
        </p:nvSpPr>
        <p:spPr>
          <a:xfrm>
            <a:off x="658368" y="553050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60" name="Shape 58"/>
          <p:cNvSpPr/>
          <p:nvPr/>
        </p:nvSpPr>
        <p:spPr>
          <a:xfrm>
            <a:off x="3813048" y="5592664"/>
            <a:ext cx="13284" cy="105898"/>
          </a:xfrm>
          <a:prstGeom prst="rect">
            <a:avLst/>
          </a:prstGeom>
          <a:solidFill>
            <a:srgbClr val="12A566"/>
          </a:solidFill>
          <a:ln/>
        </p:spPr>
      </p:sp>
      <p:sp>
        <p:nvSpPr>
          <p:cNvPr id="61" name="Text 59"/>
          <p:cNvSpPr txBox="1"/>
          <p:nvPr/>
        </p:nvSpPr>
        <p:spPr>
          <a:xfrm>
            <a:off x="4709160" y="553050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a:t>
            </a:r>
            <a:endParaRPr lang="en-US" sz="1300" dirty="0"/>
          </a:p>
        </p:txBody>
      </p:sp>
      <p:sp>
        <p:nvSpPr>
          <p:cNvPr id="62" name="Text 60"/>
          <p:cNvSpPr txBox="1"/>
          <p:nvPr/>
        </p:nvSpPr>
        <p:spPr>
          <a:xfrm>
            <a:off x="6208776"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63" name="Shape 61"/>
          <p:cNvSpPr/>
          <p:nvPr/>
        </p:nvSpPr>
        <p:spPr>
          <a:xfrm>
            <a:off x="9363456" y="1909246"/>
            <a:ext cx="12802" cy="105898"/>
          </a:xfrm>
          <a:prstGeom prst="rect">
            <a:avLst/>
          </a:prstGeom>
          <a:solidFill>
            <a:srgbClr val="12A566"/>
          </a:solidFill>
          <a:ln/>
        </p:spPr>
      </p:sp>
      <p:sp>
        <p:nvSpPr>
          <p:cNvPr id="64" name="Text 62"/>
          <p:cNvSpPr txBox="1"/>
          <p:nvPr/>
        </p:nvSpPr>
        <p:spPr>
          <a:xfrm>
            <a:off x="10259568"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a:t>
            </a:r>
            <a:endParaRPr lang="en-US" sz="1300" dirty="0"/>
          </a:p>
        </p:txBody>
      </p:sp>
      <p:sp>
        <p:nvSpPr>
          <p:cNvPr id="65" name="Text 63"/>
          <p:cNvSpPr txBox="1"/>
          <p:nvPr/>
        </p:nvSpPr>
        <p:spPr>
          <a:xfrm>
            <a:off x="6208776"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66" name="Shape 64"/>
          <p:cNvSpPr/>
          <p:nvPr/>
        </p:nvSpPr>
        <p:spPr>
          <a:xfrm>
            <a:off x="9363456" y="2139459"/>
            <a:ext cx="12802" cy="105898"/>
          </a:xfrm>
          <a:prstGeom prst="rect">
            <a:avLst/>
          </a:prstGeom>
          <a:solidFill>
            <a:srgbClr val="12A566"/>
          </a:solidFill>
          <a:ln/>
        </p:spPr>
      </p:sp>
      <p:sp>
        <p:nvSpPr>
          <p:cNvPr id="67" name="Text 65"/>
          <p:cNvSpPr txBox="1"/>
          <p:nvPr/>
        </p:nvSpPr>
        <p:spPr>
          <a:xfrm>
            <a:off x="10259568"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a:t>
            </a:r>
            <a:endParaRPr lang="en-US" sz="1300" dirty="0"/>
          </a:p>
        </p:txBody>
      </p:sp>
      <p:sp>
        <p:nvSpPr>
          <p:cNvPr id="68" name="Text 66"/>
          <p:cNvSpPr txBox="1"/>
          <p:nvPr/>
        </p:nvSpPr>
        <p:spPr>
          <a:xfrm>
            <a:off x="6208776"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69" name="Shape 67"/>
          <p:cNvSpPr/>
          <p:nvPr/>
        </p:nvSpPr>
        <p:spPr>
          <a:xfrm>
            <a:off x="9363456" y="2369673"/>
            <a:ext cx="12802" cy="105898"/>
          </a:xfrm>
          <a:prstGeom prst="rect">
            <a:avLst/>
          </a:prstGeom>
          <a:solidFill>
            <a:srgbClr val="12A566"/>
          </a:solidFill>
          <a:ln/>
        </p:spPr>
      </p:sp>
      <p:sp>
        <p:nvSpPr>
          <p:cNvPr id="70" name="Text 68"/>
          <p:cNvSpPr txBox="1"/>
          <p:nvPr/>
        </p:nvSpPr>
        <p:spPr>
          <a:xfrm>
            <a:off x="10259568"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a:t>
            </a:r>
            <a:endParaRPr lang="en-US" sz="1300" dirty="0"/>
          </a:p>
        </p:txBody>
      </p:sp>
      <p:sp>
        <p:nvSpPr>
          <p:cNvPr id="71" name="Text 69"/>
          <p:cNvSpPr txBox="1"/>
          <p:nvPr/>
        </p:nvSpPr>
        <p:spPr>
          <a:xfrm>
            <a:off x="6208776"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72" name="Shape 70"/>
          <p:cNvSpPr/>
          <p:nvPr/>
        </p:nvSpPr>
        <p:spPr>
          <a:xfrm>
            <a:off x="9363456" y="2599887"/>
            <a:ext cx="12802" cy="105898"/>
          </a:xfrm>
          <a:prstGeom prst="rect">
            <a:avLst/>
          </a:prstGeom>
          <a:solidFill>
            <a:srgbClr val="12A566"/>
          </a:solidFill>
          <a:ln/>
        </p:spPr>
      </p:sp>
      <p:sp>
        <p:nvSpPr>
          <p:cNvPr id="73" name="Text 71"/>
          <p:cNvSpPr txBox="1"/>
          <p:nvPr/>
        </p:nvSpPr>
        <p:spPr>
          <a:xfrm>
            <a:off x="10259568"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a:t>
            </a:r>
            <a:endParaRPr lang="en-US" sz="1300" dirty="0"/>
          </a:p>
        </p:txBody>
      </p:sp>
      <p:sp>
        <p:nvSpPr>
          <p:cNvPr id="74" name="Text 72"/>
          <p:cNvSpPr txBox="1"/>
          <p:nvPr/>
        </p:nvSpPr>
        <p:spPr>
          <a:xfrm>
            <a:off x="6208776"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75" name="Shape 73"/>
          <p:cNvSpPr/>
          <p:nvPr/>
        </p:nvSpPr>
        <p:spPr>
          <a:xfrm>
            <a:off x="9363456" y="2830100"/>
            <a:ext cx="12802" cy="105898"/>
          </a:xfrm>
          <a:prstGeom prst="rect">
            <a:avLst/>
          </a:prstGeom>
          <a:solidFill>
            <a:srgbClr val="12A566"/>
          </a:solidFill>
          <a:ln/>
        </p:spPr>
      </p:sp>
      <p:sp>
        <p:nvSpPr>
          <p:cNvPr id="76" name="Text 74"/>
          <p:cNvSpPr txBox="1"/>
          <p:nvPr/>
        </p:nvSpPr>
        <p:spPr>
          <a:xfrm>
            <a:off x="10259568"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a:t>
            </a:r>
            <a:endParaRPr lang="en-US" sz="1300" dirty="0"/>
          </a:p>
        </p:txBody>
      </p:sp>
      <p:sp>
        <p:nvSpPr>
          <p:cNvPr id="77" name="Text 75"/>
          <p:cNvSpPr txBox="1"/>
          <p:nvPr/>
        </p:nvSpPr>
        <p:spPr>
          <a:xfrm>
            <a:off x="6208776"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78" name="Shape 76"/>
          <p:cNvSpPr/>
          <p:nvPr/>
        </p:nvSpPr>
        <p:spPr>
          <a:xfrm>
            <a:off x="9348389" y="3060314"/>
            <a:ext cx="15067" cy="105898"/>
          </a:xfrm>
          <a:prstGeom prst="rect">
            <a:avLst/>
          </a:prstGeom>
          <a:solidFill>
            <a:srgbClr val="C2352F"/>
          </a:solidFill>
          <a:ln/>
        </p:spPr>
      </p:sp>
      <p:sp>
        <p:nvSpPr>
          <p:cNvPr id="79" name="Text 77"/>
          <p:cNvSpPr txBox="1"/>
          <p:nvPr/>
        </p:nvSpPr>
        <p:spPr>
          <a:xfrm>
            <a:off x="10259568" y="2998156"/>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a:t>
            </a:r>
            <a:endParaRPr lang="en-US" sz="1300" dirty="0"/>
          </a:p>
        </p:txBody>
      </p:sp>
      <p:sp>
        <p:nvSpPr>
          <p:cNvPr id="80" name="Text 78"/>
          <p:cNvSpPr txBox="1"/>
          <p:nvPr/>
        </p:nvSpPr>
        <p:spPr>
          <a:xfrm>
            <a:off x="6208776"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81" name="Shape 79"/>
          <p:cNvSpPr/>
          <p:nvPr/>
        </p:nvSpPr>
        <p:spPr>
          <a:xfrm>
            <a:off x="9283274" y="3290528"/>
            <a:ext cx="80182" cy="105898"/>
          </a:xfrm>
          <a:prstGeom prst="rect">
            <a:avLst/>
          </a:prstGeom>
          <a:solidFill>
            <a:srgbClr val="C2352F"/>
          </a:solidFill>
          <a:ln/>
        </p:spPr>
      </p:sp>
      <p:sp>
        <p:nvSpPr>
          <p:cNvPr id="82" name="Text 80"/>
          <p:cNvSpPr txBox="1"/>
          <p:nvPr/>
        </p:nvSpPr>
        <p:spPr>
          <a:xfrm>
            <a:off x="10259568" y="3228370"/>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−27</a:t>
            </a:r>
            <a:endParaRPr lang="en-US" sz="1300" dirty="0"/>
          </a:p>
        </p:txBody>
      </p:sp>
      <p:sp>
        <p:nvSpPr>
          <p:cNvPr id="83" name="Text 81"/>
          <p:cNvSpPr txBox="1"/>
          <p:nvPr/>
        </p:nvSpPr>
        <p:spPr>
          <a:xfrm>
            <a:off x="6208776"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84" name="Shape 82"/>
          <p:cNvSpPr/>
          <p:nvPr/>
        </p:nvSpPr>
        <p:spPr>
          <a:xfrm>
            <a:off x="9281624" y="3520741"/>
            <a:ext cx="81832" cy="105898"/>
          </a:xfrm>
          <a:prstGeom prst="rect">
            <a:avLst/>
          </a:prstGeom>
          <a:solidFill>
            <a:srgbClr val="C2352F"/>
          </a:solidFill>
          <a:ln/>
        </p:spPr>
      </p:sp>
      <p:sp>
        <p:nvSpPr>
          <p:cNvPr id="85" name="Text 83"/>
          <p:cNvSpPr txBox="1"/>
          <p:nvPr/>
        </p:nvSpPr>
        <p:spPr>
          <a:xfrm>
            <a:off x="10259568" y="345858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−28</a:t>
            </a:r>
            <a:endParaRPr lang="en-US" sz="1300" dirty="0"/>
          </a:p>
        </p:txBody>
      </p:sp>
      <p:sp>
        <p:nvSpPr>
          <p:cNvPr id="86" name="Text 84"/>
          <p:cNvSpPr txBox="1"/>
          <p:nvPr/>
        </p:nvSpPr>
        <p:spPr>
          <a:xfrm>
            <a:off x="6208776"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87" name="Shape 85"/>
          <p:cNvSpPr/>
          <p:nvPr/>
        </p:nvSpPr>
        <p:spPr>
          <a:xfrm>
            <a:off x="9279834" y="3750955"/>
            <a:ext cx="83622" cy="105898"/>
          </a:xfrm>
          <a:prstGeom prst="rect">
            <a:avLst/>
          </a:prstGeom>
          <a:solidFill>
            <a:srgbClr val="C2352F"/>
          </a:solidFill>
          <a:ln/>
        </p:spPr>
      </p:sp>
      <p:sp>
        <p:nvSpPr>
          <p:cNvPr id="88" name="Text 86"/>
          <p:cNvSpPr txBox="1"/>
          <p:nvPr/>
        </p:nvSpPr>
        <p:spPr>
          <a:xfrm>
            <a:off x="10259568" y="3688797"/>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−29</a:t>
            </a:r>
            <a:endParaRPr lang="en-US" sz="1300" dirty="0"/>
          </a:p>
        </p:txBody>
      </p:sp>
      <p:sp>
        <p:nvSpPr>
          <p:cNvPr id="89" name="Text 87"/>
          <p:cNvSpPr txBox="1"/>
          <p:nvPr/>
        </p:nvSpPr>
        <p:spPr>
          <a:xfrm>
            <a:off x="6208776"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90" name="Shape 88"/>
          <p:cNvSpPr/>
          <p:nvPr/>
        </p:nvSpPr>
        <p:spPr>
          <a:xfrm>
            <a:off x="9269105" y="3981169"/>
            <a:ext cx="94351" cy="105898"/>
          </a:xfrm>
          <a:prstGeom prst="rect">
            <a:avLst/>
          </a:prstGeom>
          <a:solidFill>
            <a:srgbClr val="C2352F"/>
          </a:solidFill>
          <a:ln/>
        </p:spPr>
      </p:sp>
      <p:sp>
        <p:nvSpPr>
          <p:cNvPr id="91" name="Text 89"/>
          <p:cNvSpPr txBox="1"/>
          <p:nvPr/>
        </p:nvSpPr>
        <p:spPr>
          <a:xfrm>
            <a:off x="10259568" y="3919011"/>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−32</a:t>
            </a:r>
            <a:endParaRPr lang="en-US" sz="1300" dirty="0"/>
          </a:p>
        </p:txBody>
      </p:sp>
      <p:sp>
        <p:nvSpPr>
          <p:cNvPr id="92" name="Text 90"/>
          <p:cNvSpPr txBox="1"/>
          <p:nvPr/>
        </p:nvSpPr>
        <p:spPr>
          <a:xfrm>
            <a:off x="6208776"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93" name="Shape 91"/>
          <p:cNvSpPr/>
          <p:nvPr/>
        </p:nvSpPr>
        <p:spPr>
          <a:xfrm>
            <a:off x="9260420" y="4211382"/>
            <a:ext cx="103036" cy="105898"/>
          </a:xfrm>
          <a:prstGeom prst="rect">
            <a:avLst/>
          </a:prstGeom>
          <a:solidFill>
            <a:srgbClr val="C2352F"/>
          </a:solidFill>
          <a:ln/>
        </p:spPr>
      </p:sp>
      <p:sp>
        <p:nvSpPr>
          <p:cNvPr id="94" name="Text 92"/>
          <p:cNvSpPr txBox="1"/>
          <p:nvPr/>
        </p:nvSpPr>
        <p:spPr>
          <a:xfrm>
            <a:off x="10259568" y="414922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−35</a:t>
            </a:r>
            <a:endParaRPr lang="en-US" sz="1300" dirty="0"/>
          </a:p>
        </p:txBody>
      </p:sp>
      <p:sp>
        <p:nvSpPr>
          <p:cNvPr id="95" name="Text 93"/>
          <p:cNvSpPr txBox="1"/>
          <p:nvPr/>
        </p:nvSpPr>
        <p:spPr>
          <a:xfrm>
            <a:off x="6208776"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96" name="Shape 94"/>
          <p:cNvSpPr/>
          <p:nvPr/>
        </p:nvSpPr>
        <p:spPr>
          <a:xfrm>
            <a:off x="9211584" y="4441596"/>
            <a:ext cx="151872" cy="105898"/>
          </a:xfrm>
          <a:prstGeom prst="rect">
            <a:avLst/>
          </a:prstGeom>
          <a:solidFill>
            <a:srgbClr val="C2352F"/>
          </a:solidFill>
          <a:ln/>
        </p:spPr>
      </p:sp>
      <p:sp>
        <p:nvSpPr>
          <p:cNvPr id="97" name="Text 95"/>
          <p:cNvSpPr txBox="1"/>
          <p:nvPr/>
        </p:nvSpPr>
        <p:spPr>
          <a:xfrm>
            <a:off x="10259568" y="4379438"/>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−52</a:t>
            </a:r>
            <a:endParaRPr lang="en-US" sz="1300" dirty="0"/>
          </a:p>
        </p:txBody>
      </p:sp>
      <p:sp>
        <p:nvSpPr>
          <p:cNvPr id="98" name="Text 96"/>
          <p:cNvSpPr txBox="1"/>
          <p:nvPr/>
        </p:nvSpPr>
        <p:spPr>
          <a:xfrm>
            <a:off x="6208776"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99" name="Shape 97"/>
          <p:cNvSpPr/>
          <p:nvPr/>
        </p:nvSpPr>
        <p:spPr>
          <a:xfrm>
            <a:off x="9200239" y="4671809"/>
            <a:ext cx="163217" cy="105898"/>
          </a:xfrm>
          <a:prstGeom prst="rect">
            <a:avLst/>
          </a:prstGeom>
          <a:solidFill>
            <a:srgbClr val="C2352F"/>
          </a:solidFill>
          <a:ln/>
        </p:spPr>
      </p:sp>
      <p:sp>
        <p:nvSpPr>
          <p:cNvPr id="100" name="Text 98"/>
          <p:cNvSpPr txBox="1"/>
          <p:nvPr/>
        </p:nvSpPr>
        <p:spPr>
          <a:xfrm>
            <a:off x="10259568" y="4609652"/>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−56</a:t>
            </a:r>
            <a:endParaRPr lang="en-US" sz="1300" dirty="0"/>
          </a:p>
        </p:txBody>
      </p:sp>
      <p:sp>
        <p:nvSpPr>
          <p:cNvPr id="101" name="Text 99"/>
          <p:cNvSpPr txBox="1"/>
          <p:nvPr/>
        </p:nvSpPr>
        <p:spPr>
          <a:xfrm>
            <a:off x="6208776"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102" name="Shape 100"/>
          <p:cNvSpPr/>
          <p:nvPr/>
        </p:nvSpPr>
        <p:spPr>
          <a:xfrm>
            <a:off x="9153575" y="4902023"/>
            <a:ext cx="209881" cy="105898"/>
          </a:xfrm>
          <a:prstGeom prst="rect">
            <a:avLst/>
          </a:prstGeom>
          <a:solidFill>
            <a:srgbClr val="C2352F"/>
          </a:solidFill>
          <a:ln/>
        </p:spPr>
      </p:sp>
      <p:sp>
        <p:nvSpPr>
          <p:cNvPr id="103" name="Text 101"/>
          <p:cNvSpPr txBox="1"/>
          <p:nvPr/>
        </p:nvSpPr>
        <p:spPr>
          <a:xfrm>
            <a:off x="10259568" y="4839865"/>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−72</a:t>
            </a:r>
            <a:endParaRPr lang="en-US" sz="1300" dirty="0"/>
          </a:p>
        </p:txBody>
      </p:sp>
      <p:sp>
        <p:nvSpPr>
          <p:cNvPr id="104" name="Text 102"/>
          <p:cNvSpPr txBox="1"/>
          <p:nvPr/>
        </p:nvSpPr>
        <p:spPr>
          <a:xfrm>
            <a:off x="6208776"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105" name="Shape 103"/>
          <p:cNvSpPr/>
          <p:nvPr/>
        </p:nvSpPr>
        <p:spPr>
          <a:xfrm>
            <a:off x="9086767" y="5132237"/>
            <a:ext cx="276689" cy="105898"/>
          </a:xfrm>
          <a:prstGeom prst="rect">
            <a:avLst/>
          </a:prstGeom>
          <a:solidFill>
            <a:srgbClr val="C2352F"/>
          </a:solidFill>
          <a:ln/>
        </p:spPr>
      </p:sp>
      <p:sp>
        <p:nvSpPr>
          <p:cNvPr id="106" name="Text 104"/>
          <p:cNvSpPr txBox="1"/>
          <p:nvPr/>
        </p:nvSpPr>
        <p:spPr>
          <a:xfrm>
            <a:off x="10259568" y="5070079"/>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−94</a:t>
            </a:r>
            <a:endParaRPr lang="en-US" sz="1300" dirty="0"/>
          </a:p>
        </p:txBody>
      </p:sp>
      <p:sp>
        <p:nvSpPr>
          <p:cNvPr id="107" name="Text 105"/>
          <p:cNvSpPr txBox="1"/>
          <p:nvPr/>
        </p:nvSpPr>
        <p:spPr>
          <a:xfrm>
            <a:off x="6208776"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108" name="Shape 106"/>
          <p:cNvSpPr/>
          <p:nvPr/>
        </p:nvSpPr>
        <p:spPr>
          <a:xfrm>
            <a:off x="8540496" y="5362450"/>
            <a:ext cx="822960" cy="105898"/>
          </a:xfrm>
          <a:prstGeom prst="rect">
            <a:avLst/>
          </a:prstGeom>
          <a:solidFill>
            <a:srgbClr val="C2352F"/>
          </a:solidFill>
          <a:ln/>
        </p:spPr>
      </p:sp>
      <p:sp>
        <p:nvSpPr>
          <p:cNvPr id="109" name="Text 107"/>
          <p:cNvSpPr txBox="1"/>
          <p:nvPr/>
        </p:nvSpPr>
        <p:spPr>
          <a:xfrm>
            <a:off x="10259568" y="530029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−281</a:t>
            </a:r>
            <a:endParaRPr lang="en-US" sz="1300" dirty="0"/>
          </a:p>
        </p:txBody>
      </p:sp>
      <p:sp>
        <p:nvSpPr>
          <p:cNvPr id="110" name="Shape 108"/>
          <p:cNvSpPr/>
          <p:nvPr/>
        </p:nvSpPr>
        <p:spPr>
          <a:xfrm>
            <a:off x="3807562" y="1847088"/>
            <a:ext cx="10973" cy="3913632"/>
          </a:xfrm>
          <a:prstGeom prst="rect">
            <a:avLst/>
          </a:prstGeom>
          <a:solidFill>
            <a:srgbClr val="9AA3AD"/>
          </a:solidFill>
          <a:ln/>
        </p:spPr>
      </p:sp>
      <p:sp>
        <p:nvSpPr>
          <p:cNvPr id="111" name="Shape 109"/>
          <p:cNvSpPr/>
          <p:nvPr/>
        </p:nvSpPr>
        <p:spPr>
          <a:xfrm>
            <a:off x="9357970" y="1847088"/>
            <a:ext cx="10973" cy="3913632"/>
          </a:xfrm>
          <a:prstGeom prst="rect">
            <a:avLst/>
          </a:prstGeom>
          <a:solidFill>
            <a:srgbClr val="9AA3AD"/>
          </a:solidFill>
          <a:ln/>
        </p:spPr>
      </p:sp>
      <p:sp>
        <p:nvSpPr>
          <p:cNvPr id="112" name="Shape 110"/>
          <p:cNvSpPr/>
          <p:nvPr/>
        </p:nvSpPr>
        <p:spPr>
          <a:xfrm>
            <a:off x="457200" y="5961888"/>
            <a:ext cx="11274552" cy="548640"/>
          </a:xfrm>
          <a:prstGeom prst="rect">
            <a:avLst/>
          </a:prstGeom>
          <a:solidFill>
            <a:srgbClr val="E6F6EE"/>
          </a:solidFill>
          <a:ln/>
        </p:spPr>
      </p:sp>
      <p:sp>
        <p:nvSpPr>
          <p:cNvPr id="113" name="Text 111"/>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22 of 33 stores raised ROs per manager, led by TOYOTA HENDERSON at +182 to 1,022. 11 declined; MAZDA fell most at −281.</a:t>
            </a:r>
            <a:endParaRPr lang="en-US" sz="1600" dirty="0"/>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Fixed Ops Headcount</a:t>
            </a:r>
            <a:endParaRPr lang="en-US" sz="2800" dirty="0"/>
          </a:p>
        </p:txBody>
      </p:sp>
      <p:sp>
        <p:nvSpPr>
          <p:cNvPr id="5" name="Shape 3"/>
          <p:cNvSpPr/>
          <p:nvPr/>
        </p:nvSpPr>
        <p:spPr>
          <a:xfrm>
            <a:off x="457200" y="1207008"/>
            <a:ext cx="7589520" cy="4617720"/>
          </a:xfrm>
          <a:prstGeom prst="rect">
            <a:avLst/>
          </a:prstGeom>
          <a:solidFill>
            <a:srgbClr val="FFFFFF"/>
          </a:solidFill>
          <a:ln/>
        </p:spPr>
      </p:sp>
      <p:sp>
        <p:nvSpPr>
          <p:cNvPr id="6" name="Text 4"/>
          <p:cNvSpPr txBox="1"/>
          <p:nvPr/>
        </p:nvSpPr>
        <p:spPr>
          <a:xfrm>
            <a:off x="685800" y="1344168"/>
            <a:ext cx="7132320"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Fixed employees, trailing 12 months</a:t>
            </a:r>
            <a:endParaRPr lang="en-US" sz="1500" dirty="0"/>
          </a:p>
        </p:txBody>
      </p:sp>
      <p:sp>
        <p:nvSpPr>
          <p:cNvPr id="7" name="Shape 5"/>
          <p:cNvSpPr/>
          <p:nvPr/>
        </p:nvSpPr>
        <p:spPr>
          <a:xfrm>
            <a:off x="685800" y="1691640"/>
            <a:ext cx="7132320" cy="10973"/>
          </a:xfrm>
          <a:prstGeom prst="rect">
            <a:avLst/>
          </a:prstGeom>
          <a:solidFill>
            <a:srgbClr val="1A1A1A"/>
          </a:solidFill>
          <a:ln/>
        </p:spPr>
      </p:sp>
      <p:graphicFrame>
        <p:nvGraphicFramePr>
          <p:cNvPr id="8" name="Chart 0" descr=""/>
          <p:cNvGraphicFramePr/>
          <p:nvPr/>
        </p:nvGraphicFramePr>
        <p:xfrm>
          <a:off x="621792" y="1810512"/>
          <a:ext cx="6858000" cy="3858768"/>
        </p:xfrm>
        <a:graphic>
          <a:graphicData uri="http://schemas.openxmlformats.org/drawingml/2006/chart">
            <c:chart xmlns:c="http://schemas.openxmlformats.org/drawingml/2006/chart" r:id="rId2"/>
          </a:graphicData>
        </a:graphic>
      </p:graphicFrame>
      <p:sp>
        <p:nvSpPr>
          <p:cNvPr id="9" name="Shape 6"/>
          <p:cNvSpPr/>
          <p:nvPr/>
        </p:nvSpPr>
        <p:spPr>
          <a:xfrm>
            <a:off x="8229600" y="1207008"/>
            <a:ext cx="3502152" cy="4617720"/>
          </a:xfrm>
          <a:prstGeom prst="rect">
            <a:avLst/>
          </a:prstGeom>
          <a:solidFill>
            <a:srgbClr val="FFFFFF"/>
          </a:solidFill>
          <a:ln/>
        </p:spPr>
      </p:sp>
      <p:sp>
        <p:nvSpPr>
          <p:cNvPr id="10" name="Text 7"/>
          <p:cNvSpPr txBox="1"/>
          <p:nvPr/>
        </p:nvSpPr>
        <p:spPr>
          <a:xfrm>
            <a:off x="8458200" y="1344168"/>
            <a:ext cx="30449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What it says</a:t>
            </a:r>
            <a:endParaRPr lang="en-US" sz="1500" dirty="0"/>
          </a:p>
        </p:txBody>
      </p:sp>
      <p:sp>
        <p:nvSpPr>
          <p:cNvPr id="11" name="Shape 8"/>
          <p:cNvSpPr/>
          <p:nvPr/>
        </p:nvSpPr>
        <p:spPr>
          <a:xfrm>
            <a:off x="8458200" y="1691640"/>
            <a:ext cx="3044952" cy="10973"/>
          </a:xfrm>
          <a:prstGeom prst="rect">
            <a:avLst/>
          </a:prstGeom>
          <a:solidFill>
            <a:srgbClr val="1A1A1A"/>
          </a:solidFill>
          <a:ln/>
        </p:spPr>
      </p:sp>
      <p:sp>
        <p:nvSpPr>
          <p:cNvPr id="12" name="Shape 9"/>
          <p:cNvSpPr/>
          <p:nvPr/>
        </p:nvSpPr>
        <p:spPr>
          <a:xfrm>
            <a:off x="8458200" y="1938528"/>
            <a:ext cx="100584" cy="100584"/>
          </a:xfrm>
          <a:prstGeom prst="ellipse">
            <a:avLst/>
          </a:prstGeom>
          <a:solidFill>
            <a:srgbClr val="2587C5"/>
          </a:solidFill>
          <a:ln/>
        </p:spPr>
      </p:sp>
      <p:sp>
        <p:nvSpPr>
          <p:cNvPr id="13" name="Text 10"/>
          <p:cNvSpPr txBox="1"/>
          <p:nvPr/>
        </p:nvSpPr>
        <p:spPr>
          <a:xfrm>
            <a:off x="8705088" y="1810512"/>
            <a:ext cx="2834640" cy="1051560"/>
          </a:xfrm>
          <a:prstGeom prst="rect">
            <a:avLst/>
          </a:prstGeom>
          <a:noFill/>
          <a:ln/>
        </p:spPr>
        <p:txBody>
          <a:bodyPr wrap="square" lIns="0" tIns="0" rIns="0" bIns="0" rtlCol="0" anchor="t"/>
          <a:lstStyle/>
          <a:p>
            <a:pPr indent="0" marL="0">
              <a:buNone/>
            </a:pPr>
            <a:r>
              <a:rPr lang="en-US" sz="1500" b="1" dirty="0">
                <a:solidFill>
                  <a:srgbClr val="2587C5"/>
                </a:solidFill>
                <a:latin typeface="Inter" pitchFamily="34" charset="0"/>
                <a:ea typeface="Inter" pitchFamily="34" charset="-122"/>
                <a:cs typeface="Inter" pitchFamily="34" charset="-120"/>
              </a:rPr>
              <a:t>−76 fixed staff, Sep to Sep, to 1,540.</a:t>
            </a:r>
            <a:endParaRPr lang="en-US" sz="1500" dirty="0"/>
          </a:p>
        </p:txBody>
      </p:sp>
      <p:sp>
        <p:nvSpPr>
          <p:cNvPr id="14" name="Shape 11"/>
          <p:cNvSpPr/>
          <p:nvPr/>
        </p:nvSpPr>
        <p:spPr>
          <a:xfrm>
            <a:off x="8458200" y="3072384"/>
            <a:ext cx="100584" cy="100584"/>
          </a:xfrm>
          <a:prstGeom prst="ellipse">
            <a:avLst/>
          </a:prstGeom>
          <a:solidFill>
            <a:srgbClr val="1A1A1A"/>
          </a:solidFill>
          <a:ln/>
        </p:spPr>
      </p:sp>
      <p:sp>
        <p:nvSpPr>
          <p:cNvPr id="15" name="Text 12"/>
          <p:cNvSpPr txBox="1"/>
          <p:nvPr/>
        </p:nvSpPr>
        <p:spPr>
          <a:xfrm>
            <a:off x="8705088" y="2944368"/>
            <a:ext cx="2834640" cy="1051560"/>
          </a:xfrm>
          <a:prstGeom prst="rect">
            <a:avLst/>
          </a:prstGeom>
          <a:noFill/>
          <a:ln/>
        </p:spPr>
        <p:txBody>
          <a:bodyPr wrap="square" lIns="0" tIns="0" rIns="0" bIns="0" rtlCol="0" anchor="t"/>
          <a:lstStyle/>
          <a:p>
            <a:pPr indent="0" marL="0">
              <a:buNone/>
            </a:pPr>
            <a:r>
              <a:rPr lang="en-US" sz="1500" dirty="0">
                <a:solidFill>
                  <a:srgbClr val="1A1A1A"/>
                </a:solidFill>
                <a:latin typeface="Inter" pitchFamily="34" charset="0"/>
                <a:ea typeface="Inter" pitchFamily="34" charset="-122"/>
                <a:cs typeface="Inter" pitchFamily="34" charset="-120"/>
              </a:rPr>
              <a:t>Technicians −17, advisors −7, managers −3.</a:t>
            </a:r>
            <a:endParaRPr lang="en-US" sz="1500" dirty="0"/>
          </a:p>
        </p:txBody>
      </p:sp>
      <p:sp>
        <p:nvSpPr>
          <p:cNvPr id="16" name="Shape 13"/>
          <p:cNvSpPr/>
          <p:nvPr/>
        </p:nvSpPr>
        <p:spPr>
          <a:xfrm>
            <a:off x="8458200" y="4206240"/>
            <a:ext cx="100584" cy="100584"/>
          </a:xfrm>
          <a:prstGeom prst="ellipse">
            <a:avLst/>
          </a:prstGeom>
          <a:solidFill>
            <a:srgbClr val="1A1A1A"/>
          </a:solidFill>
          <a:ln/>
        </p:spPr>
      </p:sp>
      <p:sp>
        <p:nvSpPr>
          <p:cNvPr id="17" name="Text 14"/>
          <p:cNvSpPr txBox="1"/>
          <p:nvPr/>
        </p:nvSpPr>
        <p:spPr>
          <a:xfrm>
            <a:off x="8705088" y="4078224"/>
            <a:ext cx="2834640" cy="1051560"/>
          </a:xfrm>
          <a:prstGeom prst="rect">
            <a:avLst/>
          </a:prstGeom>
          <a:noFill/>
          <a:ln/>
        </p:spPr>
        <p:txBody>
          <a:bodyPr wrap="square" lIns="0" tIns="0" rIns="0" bIns="0" rtlCol="0" anchor="t"/>
          <a:lstStyle/>
          <a:p>
            <a:pPr indent="0" marL="0">
              <a:buNone/>
            </a:pPr>
            <a:r>
              <a:rPr lang="en-US" sz="1500" dirty="0">
                <a:solidFill>
                  <a:srgbClr val="1A1A1A"/>
                </a:solidFill>
                <a:latin typeface="Inter" pitchFamily="34" charset="0"/>
                <a:ea typeface="Inter" pitchFamily="34" charset="-122"/>
                <a:cs typeface="Inter" pitchFamily="34" charset="-120"/>
              </a:rPr>
              <a:t>Low of 1,530 in Jan 26; up 10 since.</a:t>
            </a:r>
            <a:endParaRPr lang="en-US" sz="1500" dirty="0"/>
          </a:p>
        </p:txBody>
      </p:sp>
      <p:sp>
        <p:nvSpPr>
          <p:cNvPr id="18" name="Shape 15"/>
          <p:cNvSpPr/>
          <p:nvPr/>
        </p:nvSpPr>
        <p:spPr>
          <a:xfrm>
            <a:off x="457200" y="5961888"/>
            <a:ext cx="11274552" cy="548640"/>
          </a:xfrm>
          <a:prstGeom prst="rect">
            <a:avLst/>
          </a:prstGeom>
          <a:solidFill>
            <a:srgbClr val="EDF4FA"/>
          </a:solidFill>
          <a:ln/>
        </p:spPr>
      </p:sp>
      <p:sp>
        <p:nvSpPr>
          <p:cNvPr id="19" name="Text 16"/>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Fixed ops headcount fell 76 to 1,540 (−4.7%), Sep to Sep; CP &amp; W ROs fell 2.3% year to date.</a:t>
            </a:r>
            <a:endParaRPr lang="en-US" sz="1600" dirty="0"/>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Fixed Ops Headcount</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01168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GROUP</a:t>
            </a:r>
            <a:endParaRPr lang="en-US" sz="1500" dirty="0"/>
          </a:p>
        </p:txBody>
      </p:sp>
      <p:sp>
        <p:nvSpPr>
          <p:cNvPr id="9" name="Text 7"/>
          <p:cNvSpPr txBox="1"/>
          <p:nvPr/>
        </p:nvSpPr>
        <p:spPr>
          <a:xfrm>
            <a:off x="2834640" y="1335024"/>
            <a:ext cx="420624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SEP 2026 VS SEP 2025</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−76</a:t>
            </a:r>
            <a:endParaRPr lang="en-US" sz="2000" dirty="0"/>
          </a:p>
        </p:txBody>
      </p:sp>
      <p:sp>
        <p:nvSpPr>
          <p:cNvPr id="11" name="Text 9"/>
          <p:cNvSpPr txBox="1"/>
          <p:nvPr/>
        </p:nvSpPr>
        <p:spPr>
          <a:xfrm>
            <a:off x="658368"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12" name="Shape 10"/>
          <p:cNvSpPr/>
          <p:nvPr/>
        </p:nvSpPr>
        <p:spPr>
          <a:xfrm>
            <a:off x="3813048" y="1909246"/>
            <a:ext cx="195943" cy="105898"/>
          </a:xfrm>
          <a:prstGeom prst="rect">
            <a:avLst/>
          </a:prstGeom>
          <a:solidFill>
            <a:srgbClr val="2587C5"/>
          </a:solidFill>
          <a:ln/>
        </p:spPr>
      </p:sp>
      <p:sp>
        <p:nvSpPr>
          <p:cNvPr id="13" name="Text 11"/>
          <p:cNvSpPr txBox="1"/>
          <p:nvPr/>
        </p:nvSpPr>
        <p:spPr>
          <a:xfrm>
            <a:off x="4709160" y="1847088"/>
            <a:ext cx="1271016" cy="230214"/>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+5</a:t>
            </a:r>
            <a:endParaRPr lang="en-US" sz="1300" dirty="0"/>
          </a:p>
        </p:txBody>
      </p:sp>
      <p:sp>
        <p:nvSpPr>
          <p:cNvPr id="14" name="Text 12"/>
          <p:cNvSpPr txBox="1"/>
          <p:nvPr/>
        </p:nvSpPr>
        <p:spPr>
          <a:xfrm>
            <a:off x="658368"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15" name="Shape 13"/>
          <p:cNvSpPr/>
          <p:nvPr/>
        </p:nvSpPr>
        <p:spPr>
          <a:xfrm>
            <a:off x="3813048" y="2139459"/>
            <a:ext cx="156754" cy="105898"/>
          </a:xfrm>
          <a:prstGeom prst="rect">
            <a:avLst/>
          </a:prstGeom>
          <a:solidFill>
            <a:srgbClr val="2587C5"/>
          </a:solidFill>
          <a:ln/>
        </p:spPr>
      </p:sp>
      <p:sp>
        <p:nvSpPr>
          <p:cNvPr id="16" name="Text 14"/>
          <p:cNvSpPr txBox="1"/>
          <p:nvPr/>
        </p:nvSpPr>
        <p:spPr>
          <a:xfrm>
            <a:off x="4709160" y="2077302"/>
            <a:ext cx="1271016" cy="230214"/>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+4</a:t>
            </a:r>
            <a:endParaRPr lang="en-US" sz="1300" dirty="0"/>
          </a:p>
        </p:txBody>
      </p:sp>
      <p:sp>
        <p:nvSpPr>
          <p:cNvPr id="17" name="Text 15"/>
          <p:cNvSpPr txBox="1"/>
          <p:nvPr/>
        </p:nvSpPr>
        <p:spPr>
          <a:xfrm>
            <a:off x="658368"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18" name="Shape 16"/>
          <p:cNvSpPr/>
          <p:nvPr/>
        </p:nvSpPr>
        <p:spPr>
          <a:xfrm>
            <a:off x="3813048" y="2369673"/>
            <a:ext cx="156754" cy="105898"/>
          </a:xfrm>
          <a:prstGeom prst="rect">
            <a:avLst/>
          </a:prstGeom>
          <a:solidFill>
            <a:srgbClr val="2587C5"/>
          </a:solidFill>
          <a:ln/>
        </p:spPr>
      </p:sp>
      <p:sp>
        <p:nvSpPr>
          <p:cNvPr id="19" name="Text 17"/>
          <p:cNvSpPr txBox="1"/>
          <p:nvPr/>
        </p:nvSpPr>
        <p:spPr>
          <a:xfrm>
            <a:off x="4709160" y="2307515"/>
            <a:ext cx="1271016" cy="230214"/>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+4</a:t>
            </a:r>
            <a:endParaRPr lang="en-US" sz="1300" dirty="0"/>
          </a:p>
        </p:txBody>
      </p:sp>
      <p:sp>
        <p:nvSpPr>
          <p:cNvPr id="20" name="Text 18"/>
          <p:cNvSpPr txBox="1"/>
          <p:nvPr/>
        </p:nvSpPr>
        <p:spPr>
          <a:xfrm>
            <a:off x="658368"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21" name="Shape 19"/>
          <p:cNvSpPr/>
          <p:nvPr/>
        </p:nvSpPr>
        <p:spPr>
          <a:xfrm>
            <a:off x="3813048" y="2599887"/>
            <a:ext cx="117566" cy="105898"/>
          </a:xfrm>
          <a:prstGeom prst="rect">
            <a:avLst/>
          </a:prstGeom>
          <a:solidFill>
            <a:srgbClr val="2587C5"/>
          </a:solidFill>
          <a:ln/>
        </p:spPr>
      </p:sp>
      <p:sp>
        <p:nvSpPr>
          <p:cNvPr id="22" name="Text 20"/>
          <p:cNvSpPr txBox="1"/>
          <p:nvPr/>
        </p:nvSpPr>
        <p:spPr>
          <a:xfrm>
            <a:off x="4709160" y="2537729"/>
            <a:ext cx="1271016" cy="230214"/>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+3</a:t>
            </a:r>
            <a:endParaRPr lang="en-US" sz="1300" dirty="0"/>
          </a:p>
        </p:txBody>
      </p:sp>
      <p:sp>
        <p:nvSpPr>
          <p:cNvPr id="23" name="Text 21"/>
          <p:cNvSpPr txBox="1"/>
          <p:nvPr/>
        </p:nvSpPr>
        <p:spPr>
          <a:xfrm>
            <a:off x="658368"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24" name="Shape 22"/>
          <p:cNvSpPr/>
          <p:nvPr/>
        </p:nvSpPr>
        <p:spPr>
          <a:xfrm>
            <a:off x="3813048" y="2830100"/>
            <a:ext cx="117566" cy="105898"/>
          </a:xfrm>
          <a:prstGeom prst="rect">
            <a:avLst/>
          </a:prstGeom>
          <a:solidFill>
            <a:srgbClr val="2587C5"/>
          </a:solidFill>
          <a:ln/>
        </p:spPr>
      </p:sp>
      <p:sp>
        <p:nvSpPr>
          <p:cNvPr id="25" name="Text 23"/>
          <p:cNvSpPr txBox="1"/>
          <p:nvPr/>
        </p:nvSpPr>
        <p:spPr>
          <a:xfrm>
            <a:off x="4709160" y="2767943"/>
            <a:ext cx="1271016" cy="230214"/>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+3</a:t>
            </a:r>
            <a:endParaRPr lang="en-US" sz="1300" dirty="0"/>
          </a:p>
        </p:txBody>
      </p:sp>
      <p:sp>
        <p:nvSpPr>
          <p:cNvPr id="26" name="Text 24"/>
          <p:cNvSpPr txBox="1"/>
          <p:nvPr/>
        </p:nvSpPr>
        <p:spPr>
          <a:xfrm>
            <a:off x="658368"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27" name="Shape 25"/>
          <p:cNvSpPr/>
          <p:nvPr/>
        </p:nvSpPr>
        <p:spPr>
          <a:xfrm>
            <a:off x="3813048" y="3060314"/>
            <a:ext cx="78377" cy="105898"/>
          </a:xfrm>
          <a:prstGeom prst="rect">
            <a:avLst/>
          </a:prstGeom>
          <a:solidFill>
            <a:srgbClr val="2587C5"/>
          </a:solidFill>
          <a:ln/>
        </p:spPr>
      </p:sp>
      <p:sp>
        <p:nvSpPr>
          <p:cNvPr id="28" name="Text 26"/>
          <p:cNvSpPr txBox="1"/>
          <p:nvPr/>
        </p:nvSpPr>
        <p:spPr>
          <a:xfrm>
            <a:off x="4709160" y="2998156"/>
            <a:ext cx="1271016" cy="230214"/>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a:t>
            </a:r>
            <a:endParaRPr lang="en-US" sz="1300" dirty="0"/>
          </a:p>
        </p:txBody>
      </p:sp>
      <p:sp>
        <p:nvSpPr>
          <p:cNvPr id="29" name="Text 27"/>
          <p:cNvSpPr txBox="1"/>
          <p:nvPr/>
        </p:nvSpPr>
        <p:spPr>
          <a:xfrm>
            <a:off x="658368"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30" name="Shape 28"/>
          <p:cNvSpPr/>
          <p:nvPr/>
        </p:nvSpPr>
        <p:spPr>
          <a:xfrm>
            <a:off x="3813048" y="3290528"/>
            <a:ext cx="39189" cy="105898"/>
          </a:xfrm>
          <a:prstGeom prst="rect">
            <a:avLst/>
          </a:prstGeom>
          <a:solidFill>
            <a:srgbClr val="2587C5"/>
          </a:solidFill>
          <a:ln/>
        </p:spPr>
      </p:sp>
      <p:sp>
        <p:nvSpPr>
          <p:cNvPr id="31" name="Text 29"/>
          <p:cNvSpPr txBox="1"/>
          <p:nvPr/>
        </p:nvSpPr>
        <p:spPr>
          <a:xfrm>
            <a:off x="4709160" y="3228370"/>
            <a:ext cx="1271016" cy="230214"/>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a:t>
            </a:r>
            <a:endParaRPr lang="en-US" sz="1300" dirty="0"/>
          </a:p>
        </p:txBody>
      </p:sp>
      <p:sp>
        <p:nvSpPr>
          <p:cNvPr id="32" name="Text 30"/>
          <p:cNvSpPr txBox="1"/>
          <p:nvPr/>
        </p:nvSpPr>
        <p:spPr>
          <a:xfrm>
            <a:off x="658368"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33" name="Shape 31"/>
          <p:cNvSpPr/>
          <p:nvPr/>
        </p:nvSpPr>
        <p:spPr>
          <a:xfrm>
            <a:off x="3813048" y="3520741"/>
            <a:ext cx="39189" cy="105898"/>
          </a:xfrm>
          <a:prstGeom prst="rect">
            <a:avLst/>
          </a:prstGeom>
          <a:solidFill>
            <a:srgbClr val="2587C5"/>
          </a:solidFill>
          <a:ln/>
        </p:spPr>
      </p:sp>
      <p:sp>
        <p:nvSpPr>
          <p:cNvPr id="34" name="Text 32"/>
          <p:cNvSpPr txBox="1"/>
          <p:nvPr/>
        </p:nvSpPr>
        <p:spPr>
          <a:xfrm>
            <a:off x="4709160" y="3458584"/>
            <a:ext cx="1271016" cy="230214"/>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a:t>
            </a:r>
            <a:endParaRPr lang="en-US" sz="1300" dirty="0"/>
          </a:p>
        </p:txBody>
      </p:sp>
      <p:sp>
        <p:nvSpPr>
          <p:cNvPr id="35" name="Text 33"/>
          <p:cNvSpPr txBox="1"/>
          <p:nvPr/>
        </p:nvSpPr>
        <p:spPr>
          <a:xfrm>
            <a:off x="658368"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36" name="Shape 34"/>
          <p:cNvSpPr/>
          <p:nvPr/>
        </p:nvSpPr>
        <p:spPr>
          <a:xfrm>
            <a:off x="3813048" y="3750955"/>
            <a:ext cx="39189" cy="105898"/>
          </a:xfrm>
          <a:prstGeom prst="rect">
            <a:avLst/>
          </a:prstGeom>
          <a:solidFill>
            <a:srgbClr val="2587C5"/>
          </a:solidFill>
          <a:ln/>
        </p:spPr>
      </p:sp>
      <p:sp>
        <p:nvSpPr>
          <p:cNvPr id="37" name="Text 35"/>
          <p:cNvSpPr txBox="1"/>
          <p:nvPr/>
        </p:nvSpPr>
        <p:spPr>
          <a:xfrm>
            <a:off x="4709160" y="3688797"/>
            <a:ext cx="1271016" cy="230214"/>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a:t>
            </a:r>
            <a:endParaRPr lang="en-US" sz="1300" dirty="0"/>
          </a:p>
        </p:txBody>
      </p:sp>
      <p:sp>
        <p:nvSpPr>
          <p:cNvPr id="38" name="Text 36"/>
          <p:cNvSpPr txBox="1"/>
          <p:nvPr/>
        </p:nvSpPr>
        <p:spPr>
          <a:xfrm>
            <a:off x="658368"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39" name="Shape 37"/>
          <p:cNvSpPr/>
          <p:nvPr/>
        </p:nvSpPr>
        <p:spPr>
          <a:xfrm>
            <a:off x="3813048" y="3981169"/>
            <a:ext cx="39189" cy="105898"/>
          </a:xfrm>
          <a:prstGeom prst="rect">
            <a:avLst/>
          </a:prstGeom>
          <a:solidFill>
            <a:srgbClr val="2587C5"/>
          </a:solidFill>
          <a:ln/>
        </p:spPr>
      </p:sp>
      <p:sp>
        <p:nvSpPr>
          <p:cNvPr id="40" name="Text 38"/>
          <p:cNvSpPr txBox="1"/>
          <p:nvPr/>
        </p:nvSpPr>
        <p:spPr>
          <a:xfrm>
            <a:off x="4709160" y="3919011"/>
            <a:ext cx="1271016" cy="230214"/>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a:t>
            </a:r>
            <a:endParaRPr lang="en-US" sz="1300" dirty="0"/>
          </a:p>
        </p:txBody>
      </p:sp>
      <p:sp>
        <p:nvSpPr>
          <p:cNvPr id="41" name="Text 39"/>
          <p:cNvSpPr txBox="1"/>
          <p:nvPr/>
        </p:nvSpPr>
        <p:spPr>
          <a:xfrm>
            <a:off x="658368"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42" name="Shape 40"/>
          <p:cNvSpPr/>
          <p:nvPr/>
        </p:nvSpPr>
        <p:spPr>
          <a:xfrm>
            <a:off x="3773859" y="4211382"/>
            <a:ext cx="39189" cy="105898"/>
          </a:xfrm>
          <a:prstGeom prst="rect">
            <a:avLst/>
          </a:prstGeom>
          <a:solidFill>
            <a:srgbClr val="2587C5"/>
          </a:solidFill>
          <a:ln/>
        </p:spPr>
      </p:sp>
      <p:sp>
        <p:nvSpPr>
          <p:cNvPr id="43" name="Text 41"/>
          <p:cNvSpPr txBox="1"/>
          <p:nvPr/>
        </p:nvSpPr>
        <p:spPr>
          <a:xfrm>
            <a:off x="4709160" y="4149224"/>
            <a:ext cx="1271016" cy="230214"/>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a:t>
            </a:r>
            <a:endParaRPr lang="en-US" sz="1300" dirty="0"/>
          </a:p>
        </p:txBody>
      </p:sp>
      <p:sp>
        <p:nvSpPr>
          <p:cNvPr id="44" name="Text 42"/>
          <p:cNvSpPr txBox="1"/>
          <p:nvPr/>
        </p:nvSpPr>
        <p:spPr>
          <a:xfrm>
            <a:off x="658368"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45" name="Shape 43"/>
          <p:cNvSpPr/>
          <p:nvPr/>
        </p:nvSpPr>
        <p:spPr>
          <a:xfrm>
            <a:off x="3773859" y="4441596"/>
            <a:ext cx="39189" cy="105898"/>
          </a:xfrm>
          <a:prstGeom prst="rect">
            <a:avLst/>
          </a:prstGeom>
          <a:solidFill>
            <a:srgbClr val="2587C5"/>
          </a:solidFill>
          <a:ln/>
        </p:spPr>
      </p:sp>
      <p:sp>
        <p:nvSpPr>
          <p:cNvPr id="46" name="Text 44"/>
          <p:cNvSpPr txBox="1"/>
          <p:nvPr/>
        </p:nvSpPr>
        <p:spPr>
          <a:xfrm>
            <a:off x="4709160" y="4379438"/>
            <a:ext cx="1271016" cy="230214"/>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a:t>
            </a:r>
            <a:endParaRPr lang="en-US" sz="1300" dirty="0"/>
          </a:p>
        </p:txBody>
      </p:sp>
      <p:sp>
        <p:nvSpPr>
          <p:cNvPr id="47" name="Text 45"/>
          <p:cNvSpPr txBox="1"/>
          <p:nvPr/>
        </p:nvSpPr>
        <p:spPr>
          <a:xfrm>
            <a:off x="658368"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48" name="Shape 46"/>
          <p:cNvSpPr/>
          <p:nvPr/>
        </p:nvSpPr>
        <p:spPr>
          <a:xfrm>
            <a:off x="3773859" y="4671809"/>
            <a:ext cx="39189" cy="105898"/>
          </a:xfrm>
          <a:prstGeom prst="rect">
            <a:avLst/>
          </a:prstGeom>
          <a:solidFill>
            <a:srgbClr val="2587C5"/>
          </a:solidFill>
          <a:ln/>
        </p:spPr>
      </p:sp>
      <p:sp>
        <p:nvSpPr>
          <p:cNvPr id="49" name="Text 47"/>
          <p:cNvSpPr txBox="1"/>
          <p:nvPr/>
        </p:nvSpPr>
        <p:spPr>
          <a:xfrm>
            <a:off x="4709160" y="4609652"/>
            <a:ext cx="1271016" cy="230214"/>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a:t>
            </a:r>
            <a:endParaRPr lang="en-US" sz="1300" dirty="0"/>
          </a:p>
        </p:txBody>
      </p:sp>
      <p:sp>
        <p:nvSpPr>
          <p:cNvPr id="50" name="Text 48"/>
          <p:cNvSpPr txBox="1"/>
          <p:nvPr/>
        </p:nvSpPr>
        <p:spPr>
          <a:xfrm>
            <a:off x="658368"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51" name="Shape 49"/>
          <p:cNvSpPr/>
          <p:nvPr/>
        </p:nvSpPr>
        <p:spPr>
          <a:xfrm>
            <a:off x="3773859" y="4902023"/>
            <a:ext cx="39189" cy="105898"/>
          </a:xfrm>
          <a:prstGeom prst="rect">
            <a:avLst/>
          </a:prstGeom>
          <a:solidFill>
            <a:srgbClr val="2587C5"/>
          </a:solidFill>
          <a:ln/>
        </p:spPr>
      </p:sp>
      <p:sp>
        <p:nvSpPr>
          <p:cNvPr id="52" name="Text 50"/>
          <p:cNvSpPr txBox="1"/>
          <p:nvPr/>
        </p:nvSpPr>
        <p:spPr>
          <a:xfrm>
            <a:off x="4709160" y="4839865"/>
            <a:ext cx="1271016" cy="230214"/>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a:t>
            </a:r>
            <a:endParaRPr lang="en-US" sz="1300" dirty="0"/>
          </a:p>
        </p:txBody>
      </p:sp>
      <p:sp>
        <p:nvSpPr>
          <p:cNvPr id="53" name="Text 51"/>
          <p:cNvSpPr txBox="1"/>
          <p:nvPr/>
        </p:nvSpPr>
        <p:spPr>
          <a:xfrm>
            <a:off x="658368"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54" name="Shape 52"/>
          <p:cNvSpPr/>
          <p:nvPr/>
        </p:nvSpPr>
        <p:spPr>
          <a:xfrm>
            <a:off x="3773859" y="5132237"/>
            <a:ext cx="39189" cy="105898"/>
          </a:xfrm>
          <a:prstGeom prst="rect">
            <a:avLst/>
          </a:prstGeom>
          <a:solidFill>
            <a:srgbClr val="2587C5"/>
          </a:solidFill>
          <a:ln/>
        </p:spPr>
      </p:sp>
      <p:sp>
        <p:nvSpPr>
          <p:cNvPr id="55" name="Text 53"/>
          <p:cNvSpPr txBox="1"/>
          <p:nvPr/>
        </p:nvSpPr>
        <p:spPr>
          <a:xfrm>
            <a:off x="4709160" y="5070079"/>
            <a:ext cx="1271016" cy="230214"/>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a:t>
            </a:r>
            <a:endParaRPr lang="en-US" sz="1300" dirty="0"/>
          </a:p>
        </p:txBody>
      </p:sp>
      <p:sp>
        <p:nvSpPr>
          <p:cNvPr id="56" name="Text 54"/>
          <p:cNvSpPr txBox="1"/>
          <p:nvPr/>
        </p:nvSpPr>
        <p:spPr>
          <a:xfrm>
            <a:off x="658368"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57" name="Shape 55"/>
          <p:cNvSpPr/>
          <p:nvPr/>
        </p:nvSpPr>
        <p:spPr>
          <a:xfrm>
            <a:off x="3773859" y="5362450"/>
            <a:ext cx="39189" cy="105898"/>
          </a:xfrm>
          <a:prstGeom prst="rect">
            <a:avLst/>
          </a:prstGeom>
          <a:solidFill>
            <a:srgbClr val="2587C5"/>
          </a:solidFill>
          <a:ln/>
        </p:spPr>
      </p:sp>
      <p:sp>
        <p:nvSpPr>
          <p:cNvPr id="58" name="Text 56"/>
          <p:cNvSpPr txBox="1"/>
          <p:nvPr/>
        </p:nvSpPr>
        <p:spPr>
          <a:xfrm>
            <a:off x="4709160" y="5300293"/>
            <a:ext cx="1271016" cy="230214"/>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a:t>
            </a:r>
            <a:endParaRPr lang="en-US" sz="1300" dirty="0"/>
          </a:p>
        </p:txBody>
      </p:sp>
      <p:sp>
        <p:nvSpPr>
          <p:cNvPr id="59" name="Text 57"/>
          <p:cNvSpPr txBox="1"/>
          <p:nvPr/>
        </p:nvSpPr>
        <p:spPr>
          <a:xfrm>
            <a:off x="658368" y="553050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60" name="Shape 58"/>
          <p:cNvSpPr/>
          <p:nvPr/>
        </p:nvSpPr>
        <p:spPr>
          <a:xfrm>
            <a:off x="3773859" y="5592664"/>
            <a:ext cx="39189" cy="105898"/>
          </a:xfrm>
          <a:prstGeom prst="rect">
            <a:avLst/>
          </a:prstGeom>
          <a:solidFill>
            <a:srgbClr val="2587C5"/>
          </a:solidFill>
          <a:ln/>
        </p:spPr>
      </p:sp>
      <p:sp>
        <p:nvSpPr>
          <p:cNvPr id="61" name="Text 59"/>
          <p:cNvSpPr txBox="1"/>
          <p:nvPr/>
        </p:nvSpPr>
        <p:spPr>
          <a:xfrm>
            <a:off x="4709160" y="5530506"/>
            <a:ext cx="1271016" cy="230214"/>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a:t>
            </a:r>
            <a:endParaRPr lang="en-US" sz="1300" dirty="0"/>
          </a:p>
        </p:txBody>
      </p:sp>
      <p:sp>
        <p:nvSpPr>
          <p:cNvPr id="62" name="Text 60"/>
          <p:cNvSpPr txBox="1"/>
          <p:nvPr/>
        </p:nvSpPr>
        <p:spPr>
          <a:xfrm>
            <a:off x="6208776"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63" name="Shape 61"/>
          <p:cNvSpPr/>
          <p:nvPr/>
        </p:nvSpPr>
        <p:spPr>
          <a:xfrm>
            <a:off x="9324267" y="1909246"/>
            <a:ext cx="39189" cy="105898"/>
          </a:xfrm>
          <a:prstGeom prst="rect">
            <a:avLst/>
          </a:prstGeom>
          <a:solidFill>
            <a:srgbClr val="2587C5"/>
          </a:solidFill>
          <a:ln/>
        </p:spPr>
      </p:sp>
      <p:sp>
        <p:nvSpPr>
          <p:cNvPr id="64" name="Text 62"/>
          <p:cNvSpPr txBox="1"/>
          <p:nvPr/>
        </p:nvSpPr>
        <p:spPr>
          <a:xfrm>
            <a:off x="10259568" y="1847088"/>
            <a:ext cx="1271016" cy="230214"/>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a:t>
            </a:r>
            <a:endParaRPr lang="en-US" sz="1300" dirty="0"/>
          </a:p>
        </p:txBody>
      </p:sp>
      <p:sp>
        <p:nvSpPr>
          <p:cNvPr id="65" name="Text 63"/>
          <p:cNvSpPr txBox="1"/>
          <p:nvPr/>
        </p:nvSpPr>
        <p:spPr>
          <a:xfrm>
            <a:off x="6208776"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66" name="Shape 64"/>
          <p:cNvSpPr/>
          <p:nvPr/>
        </p:nvSpPr>
        <p:spPr>
          <a:xfrm>
            <a:off x="9324267" y="2139459"/>
            <a:ext cx="39189" cy="105898"/>
          </a:xfrm>
          <a:prstGeom prst="rect">
            <a:avLst/>
          </a:prstGeom>
          <a:solidFill>
            <a:srgbClr val="2587C5"/>
          </a:solidFill>
          <a:ln/>
        </p:spPr>
      </p:sp>
      <p:sp>
        <p:nvSpPr>
          <p:cNvPr id="67" name="Text 65"/>
          <p:cNvSpPr txBox="1"/>
          <p:nvPr/>
        </p:nvSpPr>
        <p:spPr>
          <a:xfrm>
            <a:off x="10259568" y="2077302"/>
            <a:ext cx="1271016" cy="230214"/>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a:t>
            </a:r>
            <a:endParaRPr lang="en-US" sz="1300" dirty="0"/>
          </a:p>
        </p:txBody>
      </p:sp>
      <p:sp>
        <p:nvSpPr>
          <p:cNvPr id="68" name="Text 66"/>
          <p:cNvSpPr txBox="1"/>
          <p:nvPr/>
        </p:nvSpPr>
        <p:spPr>
          <a:xfrm>
            <a:off x="6208776"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69" name="Shape 67"/>
          <p:cNvSpPr/>
          <p:nvPr/>
        </p:nvSpPr>
        <p:spPr>
          <a:xfrm>
            <a:off x="9285079" y="2369673"/>
            <a:ext cx="78377" cy="105898"/>
          </a:xfrm>
          <a:prstGeom prst="rect">
            <a:avLst/>
          </a:prstGeom>
          <a:solidFill>
            <a:srgbClr val="2587C5"/>
          </a:solidFill>
          <a:ln/>
        </p:spPr>
      </p:sp>
      <p:sp>
        <p:nvSpPr>
          <p:cNvPr id="70" name="Text 68"/>
          <p:cNvSpPr txBox="1"/>
          <p:nvPr/>
        </p:nvSpPr>
        <p:spPr>
          <a:xfrm>
            <a:off x="10259568" y="2307515"/>
            <a:ext cx="1271016" cy="230214"/>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a:t>
            </a:r>
            <a:endParaRPr lang="en-US" sz="1300" dirty="0"/>
          </a:p>
        </p:txBody>
      </p:sp>
      <p:sp>
        <p:nvSpPr>
          <p:cNvPr id="71" name="Text 69"/>
          <p:cNvSpPr txBox="1"/>
          <p:nvPr/>
        </p:nvSpPr>
        <p:spPr>
          <a:xfrm>
            <a:off x="6208776"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72" name="Shape 70"/>
          <p:cNvSpPr/>
          <p:nvPr/>
        </p:nvSpPr>
        <p:spPr>
          <a:xfrm>
            <a:off x="9285079" y="2599887"/>
            <a:ext cx="78377" cy="105898"/>
          </a:xfrm>
          <a:prstGeom prst="rect">
            <a:avLst/>
          </a:prstGeom>
          <a:solidFill>
            <a:srgbClr val="2587C5"/>
          </a:solidFill>
          <a:ln/>
        </p:spPr>
      </p:sp>
      <p:sp>
        <p:nvSpPr>
          <p:cNvPr id="73" name="Text 71"/>
          <p:cNvSpPr txBox="1"/>
          <p:nvPr/>
        </p:nvSpPr>
        <p:spPr>
          <a:xfrm>
            <a:off x="10259568" y="2537729"/>
            <a:ext cx="1271016" cy="230214"/>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a:t>
            </a:r>
            <a:endParaRPr lang="en-US" sz="1300" dirty="0"/>
          </a:p>
        </p:txBody>
      </p:sp>
      <p:sp>
        <p:nvSpPr>
          <p:cNvPr id="74" name="Text 72"/>
          <p:cNvSpPr txBox="1"/>
          <p:nvPr/>
        </p:nvSpPr>
        <p:spPr>
          <a:xfrm>
            <a:off x="6208776"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75" name="Shape 73"/>
          <p:cNvSpPr/>
          <p:nvPr/>
        </p:nvSpPr>
        <p:spPr>
          <a:xfrm>
            <a:off x="9245890" y="2830100"/>
            <a:ext cx="117566" cy="105898"/>
          </a:xfrm>
          <a:prstGeom prst="rect">
            <a:avLst/>
          </a:prstGeom>
          <a:solidFill>
            <a:srgbClr val="2587C5"/>
          </a:solidFill>
          <a:ln/>
        </p:spPr>
      </p:sp>
      <p:sp>
        <p:nvSpPr>
          <p:cNvPr id="76" name="Text 74"/>
          <p:cNvSpPr txBox="1"/>
          <p:nvPr/>
        </p:nvSpPr>
        <p:spPr>
          <a:xfrm>
            <a:off x="10259568" y="2767943"/>
            <a:ext cx="1271016" cy="230214"/>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−3</a:t>
            </a:r>
            <a:endParaRPr lang="en-US" sz="1300" dirty="0"/>
          </a:p>
        </p:txBody>
      </p:sp>
      <p:sp>
        <p:nvSpPr>
          <p:cNvPr id="77" name="Text 75"/>
          <p:cNvSpPr txBox="1"/>
          <p:nvPr/>
        </p:nvSpPr>
        <p:spPr>
          <a:xfrm>
            <a:off x="6208776"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78" name="Shape 76"/>
          <p:cNvSpPr/>
          <p:nvPr/>
        </p:nvSpPr>
        <p:spPr>
          <a:xfrm>
            <a:off x="9245890" y="3060314"/>
            <a:ext cx="117566" cy="105898"/>
          </a:xfrm>
          <a:prstGeom prst="rect">
            <a:avLst/>
          </a:prstGeom>
          <a:solidFill>
            <a:srgbClr val="2587C5"/>
          </a:solidFill>
          <a:ln/>
        </p:spPr>
      </p:sp>
      <p:sp>
        <p:nvSpPr>
          <p:cNvPr id="79" name="Text 77"/>
          <p:cNvSpPr txBox="1"/>
          <p:nvPr/>
        </p:nvSpPr>
        <p:spPr>
          <a:xfrm>
            <a:off x="10259568" y="2998156"/>
            <a:ext cx="1271016" cy="230214"/>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−3</a:t>
            </a:r>
            <a:endParaRPr lang="en-US" sz="1300" dirty="0"/>
          </a:p>
        </p:txBody>
      </p:sp>
      <p:sp>
        <p:nvSpPr>
          <p:cNvPr id="80" name="Text 78"/>
          <p:cNvSpPr txBox="1"/>
          <p:nvPr/>
        </p:nvSpPr>
        <p:spPr>
          <a:xfrm>
            <a:off x="6208776"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81" name="Shape 79"/>
          <p:cNvSpPr/>
          <p:nvPr/>
        </p:nvSpPr>
        <p:spPr>
          <a:xfrm>
            <a:off x="9245890" y="3290528"/>
            <a:ext cx="117566" cy="105898"/>
          </a:xfrm>
          <a:prstGeom prst="rect">
            <a:avLst/>
          </a:prstGeom>
          <a:solidFill>
            <a:srgbClr val="2587C5"/>
          </a:solidFill>
          <a:ln/>
        </p:spPr>
      </p:sp>
      <p:sp>
        <p:nvSpPr>
          <p:cNvPr id="82" name="Text 80"/>
          <p:cNvSpPr txBox="1"/>
          <p:nvPr/>
        </p:nvSpPr>
        <p:spPr>
          <a:xfrm>
            <a:off x="10259568" y="3228370"/>
            <a:ext cx="1271016" cy="230214"/>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−3</a:t>
            </a:r>
            <a:endParaRPr lang="en-US" sz="1300" dirty="0"/>
          </a:p>
        </p:txBody>
      </p:sp>
      <p:sp>
        <p:nvSpPr>
          <p:cNvPr id="83" name="Text 81"/>
          <p:cNvSpPr txBox="1"/>
          <p:nvPr/>
        </p:nvSpPr>
        <p:spPr>
          <a:xfrm>
            <a:off x="6208776"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84" name="Shape 82"/>
          <p:cNvSpPr/>
          <p:nvPr/>
        </p:nvSpPr>
        <p:spPr>
          <a:xfrm>
            <a:off x="9206702" y="3520741"/>
            <a:ext cx="156754" cy="105898"/>
          </a:xfrm>
          <a:prstGeom prst="rect">
            <a:avLst/>
          </a:prstGeom>
          <a:solidFill>
            <a:srgbClr val="2587C5"/>
          </a:solidFill>
          <a:ln/>
        </p:spPr>
      </p:sp>
      <p:sp>
        <p:nvSpPr>
          <p:cNvPr id="85" name="Text 83"/>
          <p:cNvSpPr txBox="1"/>
          <p:nvPr/>
        </p:nvSpPr>
        <p:spPr>
          <a:xfrm>
            <a:off x="10259568" y="3458584"/>
            <a:ext cx="1271016" cy="230214"/>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−4</a:t>
            </a:r>
            <a:endParaRPr lang="en-US" sz="1300" dirty="0"/>
          </a:p>
        </p:txBody>
      </p:sp>
      <p:sp>
        <p:nvSpPr>
          <p:cNvPr id="86" name="Text 84"/>
          <p:cNvSpPr txBox="1"/>
          <p:nvPr/>
        </p:nvSpPr>
        <p:spPr>
          <a:xfrm>
            <a:off x="6208776"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87" name="Shape 85"/>
          <p:cNvSpPr/>
          <p:nvPr/>
        </p:nvSpPr>
        <p:spPr>
          <a:xfrm>
            <a:off x="9206702" y="3750955"/>
            <a:ext cx="156754" cy="105898"/>
          </a:xfrm>
          <a:prstGeom prst="rect">
            <a:avLst/>
          </a:prstGeom>
          <a:solidFill>
            <a:srgbClr val="2587C5"/>
          </a:solidFill>
          <a:ln/>
        </p:spPr>
      </p:sp>
      <p:sp>
        <p:nvSpPr>
          <p:cNvPr id="88" name="Text 86"/>
          <p:cNvSpPr txBox="1"/>
          <p:nvPr/>
        </p:nvSpPr>
        <p:spPr>
          <a:xfrm>
            <a:off x="10259568" y="3688797"/>
            <a:ext cx="1271016" cy="230214"/>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−4</a:t>
            </a:r>
            <a:endParaRPr lang="en-US" sz="1300" dirty="0"/>
          </a:p>
        </p:txBody>
      </p:sp>
      <p:sp>
        <p:nvSpPr>
          <p:cNvPr id="89" name="Text 87"/>
          <p:cNvSpPr txBox="1"/>
          <p:nvPr/>
        </p:nvSpPr>
        <p:spPr>
          <a:xfrm>
            <a:off x="6208776"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90" name="Shape 88"/>
          <p:cNvSpPr/>
          <p:nvPr/>
        </p:nvSpPr>
        <p:spPr>
          <a:xfrm>
            <a:off x="9128325" y="3981169"/>
            <a:ext cx="235131" cy="105898"/>
          </a:xfrm>
          <a:prstGeom prst="rect">
            <a:avLst/>
          </a:prstGeom>
          <a:solidFill>
            <a:srgbClr val="2587C5"/>
          </a:solidFill>
          <a:ln/>
        </p:spPr>
      </p:sp>
      <p:sp>
        <p:nvSpPr>
          <p:cNvPr id="91" name="Text 89"/>
          <p:cNvSpPr txBox="1"/>
          <p:nvPr/>
        </p:nvSpPr>
        <p:spPr>
          <a:xfrm>
            <a:off x="10259568" y="3919011"/>
            <a:ext cx="1271016" cy="230214"/>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−6</a:t>
            </a:r>
            <a:endParaRPr lang="en-US" sz="1300" dirty="0"/>
          </a:p>
        </p:txBody>
      </p:sp>
      <p:sp>
        <p:nvSpPr>
          <p:cNvPr id="92" name="Text 90"/>
          <p:cNvSpPr txBox="1"/>
          <p:nvPr/>
        </p:nvSpPr>
        <p:spPr>
          <a:xfrm>
            <a:off x="6208776"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93" name="Shape 91"/>
          <p:cNvSpPr/>
          <p:nvPr/>
        </p:nvSpPr>
        <p:spPr>
          <a:xfrm>
            <a:off x="9089136" y="4211382"/>
            <a:ext cx="274320" cy="105898"/>
          </a:xfrm>
          <a:prstGeom prst="rect">
            <a:avLst/>
          </a:prstGeom>
          <a:solidFill>
            <a:srgbClr val="2587C5"/>
          </a:solidFill>
          <a:ln/>
        </p:spPr>
      </p:sp>
      <p:sp>
        <p:nvSpPr>
          <p:cNvPr id="94" name="Text 92"/>
          <p:cNvSpPr txBox="1"/>
          <p:nvPr/>
        </p:nvSpPr>
        <p:spPr>
          <a:xfrm>
            <a:off x="10259568" y="4149224"/>
            <a:ext cx="1271016" cy="230214"/>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−7</a:t>
            </a:r>
            <a:endParaRPr lang="en-US" sz="1300" dirty="0"/>
          </a:p>
        </p:txBody>
      </p:sp>
      <p:sp>
        <p:nvSpPr>
          <p:cNvPr id="95" name="Text 93"/>
          <p:cNvSpPr txBox="1"/>
          <p:nvPr/>
        </p:nvSpPr>
        <p:spPr>
          <a:xfrm>
            <a:off x="6208776"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96" name="Shape 94"/>
          <p:cNvSpPr/>
          <p:nvPr/>
        </p:nvSpPr>
        <p:spPr>
          <a:xfrm>
            <a:off x="9049947" y="4441596"/>
            <a:ext cx="313509" cy="105898"/>
          </a:xfrm>
          <a:prstGeom prst="rect">
            <a:avLst/>
          </a:prstGeom>
          <a:solidFill>
            <a:srgbClr val="2587C5"/>
          </a:solidFill>
          <a:ln/>
        </p:spPr>
      </p:sp>
      <p:sp>
        <p:nvSpPr>
          <p:cNvPr id="97" name="Text 95"/>
          <p:cNvSpPr txBox="1"/>
          <p:nvPr/>
        </p:nvSpPr>
        <p:spPr>
          <a:xfrm>
            <a:off x="10259568" y="4379438"/>
            <a:ext cx="1271016" cy="230214"/>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−8</a:t>
            </a:r>
            <a:endParaRPr lang="en-US" sz="1300" dirty="0"/>
          </a:p>
        </p:txBody>
      </p:sp>
      <p:sp>
        <p:nvSpPr>
          <p:cNvPr id="98" name="Text 96"/>
          <p:cNvSpPr txBox="1"/>
          <p:nvPr/>
        </p:nvSpPr>
        <p:spPr>
          <a:xfrm>
            <a:off x="6208776"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99" name="Shape 97"/>
          <p:cNvSpPr/>
          <p:nvPr/>
        </p:nvSpPr>
        <p:spPr>
          <a:xfrm>
            <a:off x="9049947" y="4671809"/>
            <a:ext cx="313509" cy="105898"/>
          </a:xfrm>
          <a:prstGeom prst="rect">
            <a:avLst/>
          </a:prstGeom>
          <a:solidFill>
            <a:srgbClr val="2587C5"/>
          </a:solidFill>
          <a:ln/>
        </p:spPr>
      </p:sp>
      <p:sp>
        <p:nvSpPr>
          <p:cNvPr id="100" name="Text 98"/>
          <p:cNvSpPr txBox="1"/>
          <p:nvPr/>
        </p:nvSpPr>
        <p:spPr>
          <a:xfrm>
            <a:off x="10259568" y="4609652"/>
            <a:ext cx="1271016" cy="230214"/>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−8</a:t>
            </a:r>
            <a:endParaRPr lang="en-US" sz="1300" dirty="0"/>
          </a:p>
        </p:txBody>
      </p:sp>
      <p:sp>
        <p:nvSpPr>
          <p:cNvPr id="101" name="Text 99"/>
          <p:cNvSpPr txBox="1"/>
          <p:nvPr/>
        </p:nvSpPr>
        <p:spPr>
          <a:xfrm>
            <a:off x="6208776"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102" name="Shape 100"/>
          <p:cNvSpPr/>
          <p:nvPr/>
        </p:nvSpPr>
        <p:spPr>
          <a:xfrm>
            <a:off x="9010759" y="4902023"/>
            <a:ext cx="352697" cy="105898"/>
          </a:xfrm>
          <a:prstGeom prst="rect">
            <a:avLst/>
          </a:prstGeom>
          <a:solidFill>
            <a:srgbClr val="2587C5"/>
          </a:solidFill>
          <a:ln/>
        </p:spPr>
      </p:sp>
      <p:sp>
        <p:nvSpPr>
          <p:cNvPr id="103" name="Text 101"/>
          <p:cNvSpPr txBox="1"/>
          <p:nvPr/>
        </p:nvSpPr>
        <p:spPr>
          <a:xfrm>
            <a:off x="10259568" y="4839865"/>
            <a:ext cx="1271016" cy="230214"/>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−9</a:t>
            </a:r>
            <a:endParaRPr lang="en-US" sz="1300" dirty="0"/>
          </a:p>
        </p:txBody>
      </p:sp>
      <p:sp>
        <p:nvSpPr>
          <p:cNvPr id="104" name="Text 102"/>
          <p:cNvSpPr txBox="1"/>
          <p:nvPr/>
        </p:nvSpPr>
        <p:spPr>
          <a:xfrm>
            <a:off x="6208776"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105" name="Shape 103"/>
          <p:cNvSpPr/>
          <p:nvPr/>
        </p:nvSpPr>
        <p:spPr>
          <a:xfrm>
            <a:off x="8893193" y="5132237"/>
            <a:ext cx="470263" cy="105898"/>
          </a:xfrm>
          <a:prstGeom prst="rect">
            <a:avLst/>
          </a:prstGeom>
          <a:solidFill>
            <a:srgbClr val="2587C5"/>
          </a:solidFill>
          <a:ln/>
        </p:spPr>
      </p:sp>
      <p:sp>
        <p:nvSpPr>
          <p:cNvPr id="106" name="Text 104"/>
          <p:cNvSpPr txBox="1"/>
          <p:nvPr/>
        </p:nvSpPr>
        <p:spPr>
          <a:xfrm>
            <a:off x="10259568" y="5070079"/>
            <a:ext cx="1271016" cy="230214"/>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−12</a:t>
            </a:r>
            <a:endParaRPr lang="en-US" sz="1300" dirty="0"/>
          </a:p>
        </p:txBody>
      </p:sp>
      <p:sp>
        <p:nvSpPr>
          <p:cNvPr id="107" name="Text 105"/>
          <p:cNvSpPr txBox="1"/>
          <p:nvPr/>
        </p:nvSpPr>
        <p:spPr>
          <a:xfrm>
            <a:off x="6208776"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108" name="Shape 106"/>
          <p:cNvSpPr/>
          <p:nvPr/>
        </p:nvSpPr>
        <p:spPr>
          <a:xfrm>
            <a:off x="8540496" y="5362450"/>
            <a:ext cx="822960" cy="105898"/>
          </a:xfrm>
          <a:prstGeom prst="rect">
            <a:avLst/>
          </a:prstGeom>
          <a:solidFill>
            <a:srgbClr val="2587C5"/>
          </a:solidFill>
          <a:ln/>
        </p:spPr>
      </p:sp>
      <p:sp>
        <p:nvSpPr>
          <p:cNvPr id="109" name="Text 107"/>
          <p:cNvSpPr txBox="1"/>
          <p:nvPr/>
        </p:nvSpPr>
        <p:spPr>
          <a:xfrm>
            <a:off x="10259568" y="5300293"/>
            <a:ext cx="1271016" cy="230214"/>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a:t>
            </a:r>
            <a:endParaRPr lang="en-US" sz="1300" dirty="0"/>
          </a:p>
        </p:txBody>
      </p:sp>
      <p:sp>
        <p:nvSpPr>
          <p:cNvPr id="110" name="Shape 108"/>
          <p:cNvSpPr/>
          <p:nvPr/>
        </p:nvSpPr>
        <p:spPr>
          <a:xfrm>
            <a:off x="3807562" y="1847088"/>
            <a:ext cx="10973" cy="3913632"/>
          </a:xfrm>
          <a:prstGeom prst="rect">
            <a:avLst/>
          </a:prstGeom>
          <a:solidFill>
            <a:srgbClr val="9AA3AD"/>
          </a:solidFill>
          <a:ln/>
        </p:spPr>
      </p:sp>
      <p:sp>
        <p:nvSpPr>
          <p:cNvPr id="111" name="Shape 109"/>
          <p:cNvSpPr/>
          <p:nvPr/>
        </p:nvSpPr>
        <p:spPr>
          <a:xfrm>
            <a:off x="9357970" y="1847088"/>
            <a:ext cx="10973" cy="3913632"/>
          </a:xfrm>
          <a:prstGeom prst="rect">
            <a:avLst/>
          </a:prstGeom>
          <a:solidFill>
            <a:srgbClr val="9AA3AD"/>
          </a:solidFill>
          <a:ln/>
        </p:spPr>
      </p:sp>
      <p:sp>
        <p:nvSpPr>
          <p:cNvPr id="112" name="Shape 110"/>
          <p:cNvSpPr/>
          <p:nvPr/>
        </p:nvSpPr>
        <p:spPr>
          <a:xfrm>
            <a:off x="457200" y="5961888"/>
            <a:ext cx="11274552" cy="548640"/>
          </a:xfrm>
          <a:prstGeom prst="rect">
            <a:avLst/>
          </a:prstGeom>
          <a:solidFill>
            <a:srgbClr val="EDF4FA"/>
          </a:solidFill>
          <a:ln/>
        </p:spPr>
      </p:sp>
      <p:sp>
        <p:nvSpPr>
          <p:cNvPr id="113" name="Text 111"/>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10 stores added fixed staff, led by MAZDA (+5); 23 reduced, led by CHEVY LV (−21).</a:t>
            </a:r>
            <a:endParaRPr lang="en-US" sz="1600" dirty="0"/>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Why We Are Here</a:t>
            </a:r>
            <a:endParaRPr lang="en-US" sz="2800" dirty="0"/>
          </a:p>
        </p:txBody>
      </p:sp>
      <p:sp>
        <p:nvSpPr>
          <p:cNvPr id="5" name="Shape 3"/>
          <p:cNvSpPr/>
          <p:nvPr/>
        </p:nvSpPr>
        <p:spPr>
          <a:xfrm>
            <a:off x="457200" y="1207008"/>
            <a:ext cx="6400800" cy="4645152"/>
          </a:xfrm>
          <a:prstGeom prst="rect">
            <a:avLst/>
          </a:prstGeom>
          <a:solidFill>
            <a:srgbClr val="FFFFFF"/>
          </a:solidFill>
          <a:ln/>
        </p:spPr>
      </p:sp>
      <p:sp>
        <p:nvSpPr>
          <p:cNvPr id="6" name="Shape 4"/>
          <p:cNvSpPr/>
          <p:nvPr/>
        </p:nvSpPr>
        <p:spPr>
          <a:xfrm>
            <a:off x="7022592" y="1207008"/>
            <a:ext cx="4709160" cy="4645152"/>
          </a:xfrm>
          <a:prstGeom prst="rect">
            <a:avLst/>
          </a:prstGeom>
          <a:solidFill>
            <a:srgbClr val="FFFFFF"/>
          </a:solidFill>
          <a:ln/>
        </p:spPr>
      </p:sp>
      <p:sp>
        <p:nvSpPr>
          <p:cNvPr id="7" name="Text 5"/>
          <p:cNvSpPr txBox="1"/>
          <p:nvPr/>
        </p:nvSpPr>
        <p:spPr>
          <a:xfrm>
            <a:off x="713232" y="1371600"/>
            <a:ext cx="5943600" cy="310896"/>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WE SAID · ROUNDTABLE 2024</a:t>
            </a:r>
            <a:endParaRPr lang="en-US" sz="1400" dirty="0"/>
          </a:p>
        </p:txBody>
      </p:sp>
      <p:sp>
        <p:nvSpPr>
          <p:cNvPr id="8" name="Text 6"/>
          <p:cNvSpPr txBox="1"/>
          <p:nvPr/>
        </p:nvSpPr>
        <p:spPr>
          <a:xfrm>
            <a:off x="7269480" y="1371600"/>
            <a:ext cx="4297680" cy="310896"/>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WHERE WE ARE · JAN–SEP 2026</a:t>
            </a:r>
            <a:endParaRPr lang="en-US" sz="1400" dirty="0"/>
          </a:p>
        </p:txBody>
      </p:sp>
      <p:sp>
        <p:nvSpPr>
          <p:cNvPr id="9" name="Shape 7"/>
          <p:cNvSpPr/>
          <p:nvPr/>
        </p:nvSpPr>
        <p:spPr>
          <a:xfrm>
            <a:off x="713232" y="1737360"/>
            <a:ext cx="5897880" cy="10973"/>
          </a:xfrm>
          <a:prstGeom prst="rect">
            <a:avLst/>
          </a:prstGeom>
          <a:solidFill>
            <a:srgbClr val="D9D9D9"/>
          </a:solidFill>
          <a:ln/>
        </p:spPr>
      </p:sp>
      <p:sp>
        <p:nvSpPr>
          <p:cNvPr id="10" name="Shape 8"/>
          <p:cNvSpPr/>
          <p:nvPr/>
        </p:nvSpPr>
        <p:spPr>
          <a:xfrm>
            <a:off x="7269480" y="1737360"/>
            <a:ext cx="4224528" cy="10973"/>
          </a:xfrm>
          <a:prstGeom prst="rect">
            <a:avLst/>
          </a:prstGeom>
          <a:solidFill>
            <a:srgbClr val="D9D9D9"/>
          </a:solidFill>
          <a:ln/>
        </p:spPr>
      </p:sp>
      <p:sp>
        <p:nvSpPr>
          <p:cNvPr id="11" name="Text 9"/>
          <p:cNvSpPr txBox="1"/>
          <p:nvPr/>
        </p:nvSpPr>
        <p:spPr>
          <a:xfrm>
            <a:off x="713232" y="1874520"/>
            <a:ext cx="5897880" cy="384048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Foster collaboration, introduce ideas that drive operational excellence, and set a clear path to exceptional service performance</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No risk of judgement: your success is our success</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Customer first, company second, team third</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You get what you tolerate</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Leverage the power in this room: collaboration</a:t>
            </a:r>
            <a:endParaRPr lang="en-US" sz="1800" dirty="0"/>
          </a:p>
        </p:txBody>
      </p:sp>
      <p:sp>
        <p:nvSpPr>
          <p:cNvPr id="12" name="Shape 10"/>
          <p:cNvSpPr/>
          <p:nvPr/>
        </p:nvSpPr>
        <p:spPr>
          <a:xfrm>
            <a:off x="7269480" y="1920240"/>
            <a:ext cx="54864" cy="1066800"/>
          </a:xfrm>
          <a:prstGeom prst="rect">
            <a:avLst/>
          </a:prstGeom>
          <a:solidFill>
            <a:srgbClr val="12A566"/>
          </a:solidFill>
          <a:ln/>
        </p:spPr>
      </p:sp>
      <p:sp>
        <p:nvSpPr>
          <p:cNvPr id="13" name="Text 11"/>
          <p:cNvSpPr txBox="1"/>
          <p:nvPr/>
        </p:nvSpPr>
        <p:spPr>
          <a:xfrm>
            <a:off x="7452360" y="187452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7A4A"/>
                </a:solidFill>
                <a:latin typeface="Inter" pitchFamily="34" charset="0"/>
                <a:ea typeface="Inter" pitchFamily="34" charset="-122"/>
                <a:cs typeface="Inter" pitchFamily="34" charset="-120"/>
              </a:rPr>
              <a:t>+$7,468,567</a:t>
            </a:r>
            <a:endParaRPr lang="en-US" sz="3000" dirty="0"/>
          </a:p>
        </p:txBody>
      </p:sp>
      <p:sp>
        <p:nvSpPr>
          <p:cNvPr id="14" name="Text 12"/>
          <p:cNvSpPr txBox="1"/>
          <p:nvPr/>
        </p:nvSpPr>
        <p:spPr>
          <a:xfrm>
            <a:off x="7452360" y="2441448"/>
            <a:ext cx="4023360" cy="56388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Fixed ops gross, up 4.1% year to date. 25 of 33 stores grew.</a:t>
            </a:r>
            <a:endParaRPr lang="en-US" sz="1400" dirty="0"/>
          </a:p>
        </p:txBody>
      </p:sp>
      <p:sp>
        <p:nvSpPr>
          <p:cNvPr id="15" name="Shape 13"/>
          <p:cNvSpPr/>
          <p:nvPr/>
        </p:nvSpPr>
        <p:spPr>
          <a:xfrm>
            <a:off x="7269480" y="3215640"/>
            <a:ext cx="54864" cy="1066800"/>
          </a:xfrm>
          <a:prstGeom prst="rect">
            <a:avLst/>
          </a:prstGeom>
          <a:solidFill>
            <a:srgbClr val="12A566"/>
          </a:solidFill>
          <a:ln/>
        </p:spPr>
      </p:sp>
      <p:sp>
        <p:nvSpPr>
          <p:cNvPr id="16" name="Text 14"/>
          <p:cNvSpPr txBox="1"/>
          <p:nvPr/>
        </p:nvSpPr>
        <p:spPr>
          <a:xfrm>
            <a:off x="7452360" y="316992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7A4A"/>
                </a:solidFill>
                <a:latin typeface="Inter" pitchFamily="34" charset="0"/>
                <a:ea typeface="Inter" pitchFamily="34" charset="-122"/>
                <a:cs typeface="Inter" pitchFamily="34" charset="-120"/>
              </a:rPr>
              <a:t>78.1%</a:t>
            </a:r>
            <a:endParaRPr lang="en-US" sz="3000" dirty="0"/>
          </a:p>
        </p:txBody>
      </p:sp>
      <p:sp>
        <p:nvSpPr>
          <p:cNvPr id="17" name="Text 15"/>
          <p:cNvSpPr txBox="1"/>
          <p:nvPr/>
        </p:nvSpPr>
        <p:spPr>
          <a:xfrm>
            <a:off x="7452360" y="3736848"/>
            <a:ext cx="4023360" cy="56388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Fixed ops absorption, up 2.1 pts. Fixed gross grew 4.1%, fixed expenses 1.3%.</a:t>
            </a:r>
            <a:endParaRPr lang="en-US" sz="1400" dirty="0"/>
          </a:p>
        </p:txBody>
      </p:sp>
      <p:sp>
        <p:nvSpPr>
          <p:cNvPr id="18" name="Shape 16"/>
          <p:cNvSpPr/>
          <p:nvPr/>
        </p:nvSpPr>
        <p:spPr>
          <a:xfrm>
            <a:off x="7269480" y="4511040"/>
            <a:ext cx="54864" cy="1066800"/>
          </a:xfrm>
          <a:prstGeom prst="rect">
            <a:avLst/>
          </a:prstGeom>
          <a:solidFill>
            <a:srgbClr val="12A566"/>
          </a:solidFill>
          <a:ln/>
        </p:spPr>
      </p:sp>
      <p:sp>
        <p:nvSpPr>
          <p:cNvPr id="19" name="Text 17"/>
          <p:cNvSpPr txBox="1"/>
          <p:nvPr/>
        </p:nvSpPr>
        <p:spPr>
          <a:xfrm>
            <a:off x="7452360" y="446532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7A4A"/>
                </a:solidFill>
                <a:latin typeface="Inter" pitchFamily="34" charset="0"/>
                <a:ea typeface="Inter" pitchFamily="34" charset="-122"/>
                <a:cs typeface="Inter" pitchFamily="34" charset="-120"/>
              </a:rPr>
              <a:t>21.8%</a:t>
            </a:r>
            <a:endParaRPr lang="en-US" sz="3000" dirty="0"/>
          </a:p>
        </p:txBody>
      </p:sp>
      <p:sp>
        <p:nvSpPr>
          <p:cNvPr id="20" name="Text 18"/>
          <p:cNvSpPr txBox="1"/>
          <p:nvPr/>
        </p:nvSpPr>
        <p:spPr>
          <a:xfrm>
            <a:off x="7452360" y="5032248"/>
            <a:ext cx="4023360" cy="56388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Service net to gross, up 2.9 pts and ahead of 2025 in all nine months.</a:t>
            </a:r>
            <a:endParaRPr lang="en-US" sz="1400" dirty="0"/>
          </a:p>
        </p:txBody>
      </p:sp>
      <p:sp>
        <p:nvSpPr>
          <p:cNvPr id="21" name="Shape 19"/>
          <p:cNvSpPr/>
          <p:nvPr/>
        </p:nvSpPr>
        <p:spPr>
          <a:xfrm>
            <a:off x="457200" y="5961888"/>
            <a:ext cx="11274552" cy="548640"/>
          </a:xfrm>
          <a:prstGeom prst="rect">
            <a:avLst/>
          </a:prstGeom>
          <a:solidFill>
            <a:srgbClr val="E6F6EE"/>
          </a:solidFill>
          <a:ln/>
        </p:spPr>
      </p:sp>
      <p:sp>
        <p:nvSpPr>
          <p:cNvPr id="22" name="Text 20"/>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The ask: leave today with one or two things you will put in place before year end, and tell the room what they are.</a:t>
            </a:r>
            <a:endParaRPr lang="en-US" sz="1600" dirty="0"/>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Service Is Sales 2.0</a:t>
            </a:r>
            <a:endParaRPr lang="en-US" sz="2800" dirty="0"/>
          </a:p>
        </p:txBody>
      </p:sp>
      <p:sp>
        <p:nvSpPr>
          <p:cNvPr id="5" name="Shape 3"/>
          <p:cNvSpPr/>
          <p:nvPr/>
        </p:nvSpPr>
        <p:spPr>
          <a:xfrm>
            <a:off x="457200" y="1207008"/>
            <a:ext cx="6400800" cy="4645152"/>
          </a:xfrm>
          <a:prstGeom prst="rect">
            <a:avLst/>
          </a:prstGeom>
          <a:solidFill>
            <a:srgbClr val="FFFFFF"/>
          </a:solidFill>
          <a:ln/>
        </p:spPr>
      </p:sp>
      <p:sp>
        <p:nvSpPr>
          <p:cNvPr id="6" name="Shape 4"/>
          <p:cNvSpPr/>
          <p:nvPr/>
        </p:nvSpPr>
        <p:spPr>
          <a:xfrm>
            <a:off x="7022592" y="1207008"/>
            <a:ext cx="4709160" cy="4645152"/>
          </a:xfrm>
          <a:prstGeom prst="rect">
            <a:avLst/>
          </a:prstGeom>
          <a:solidFill>
            <a:srgbClr val="FFFFFF"/>
          </a:solidFill>
          <a:ln/>
        </p:spPr>
      </p:sp>
      <p:sp>
        <p:nvSpPr>
          <p:cNvPr id="7" name="Text 5"/>
          <p:cNvSpPr txBox="1"/>
          <p:nvPr/>
        </p:nvSpPr>
        <p:spPr>
          <a:xfrm>
            <a:off x="713232" y="1371600"/>
            <a:ext cx="5943600" cy="310896"/>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WE SAID · ROUNDTABLE &amp; GM MEETINGS</a:t>
            </a:r>
            <a:endParaRPr lang="en-US" sz="1400" dirty="0"/>
          </a:p>
        </p:txBody>
      </p:sp>
      <p:sp>
        <p:nvSpPr>
          <p:cNvPr id="8" name="Text 6"/>
          <p:cNvSpPr txBox="1"/>
          <p:nvPr/>
        </p:nvSpPr>
        <p:spPr>
          <a:xfrm>
            <a:off x="7269480" y="1371600"/>
            <a:ext cx="4297680" cy="310896"/>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WHERE WE ARE · JAN–SEP 2026</a:t>
            </a:r>
            <a:endParaRPr lang="en-US" sz="1400" dirty="0"/>
          </a:p>
        </p:txBody>
      </p:sp>
      <p:sp>
        <p:nvSpPr>
          <p:cNvPr id="9" name="Shape 7"/>
          <p:cNvSpPr/>
          <p:nvPr/>
        </p:nvSpPr>
        <p:spPr>
          <a:xfrm>
            <a:off x="713232" y="1737360"/>
            <a:ext cx="5897880" cy="10973"/>
          </a:xfrm>
          <a:prstGeom prst="rect">
            <a:avLst/>
          </a:prstGeom>
          <a:solidFill>
            <a:srgbClr val="D9D9D9"/>
          </a:solidFill>
          <a:ln/>
        </p:spPr>
      </p:sp>
      <p:sp>
        <p:nvSpPr>
          <p:cNvPr id="10" name="Shape 8"/>
          <p:cNvSpPr/>
          <p:nvPr/>
        </p:nvSpPr>
        <p:spPr>
          <a:xfrm>
            <a:off x="7269480" y="1737360"/>
            <a:ext cx="4224528" cy="10973"/>
          </a:xfrm>
          <a:prstGeom prst="rect">
            <a:avLst/>
          </a:prstGeom>
          <a:solidFill>
            <a:srgbClr val="D9D9D9"/>
          </a:solidFill>
          <a:ln/>
        </p:spPr>
      </p:sp>
      <p:sp>
        <p:nvSpPr>
          <p:cNvPr id="11" name="Text 9"/>
          <p:cNvSpPr txBox="1"/>
          <p:nvPr/>
        </p:nvSpPr>
        <p:spPr>
          <a:xfrm>
            <a:off x="713232" y="1874520"/>
            <a:ext cx="5897880" cy="384048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Sell hours, build value, sell peace of mind</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Drive visits: don't say no to dollars</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Generate throughput: max out hours</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Drive retention and sell cars</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Sales sells the first car. Service sells the next six.</a:t>
            </a:r>
            <a:endParaRPr lang="en-US" sz="1800" dirty="0"/>
          </a:p>
        </p:txBody>
      </p:sp>
      <p:sp>
        <p:nvSpPr>
          <p:cNvPr id="12" name="Shape 10"/>
          <p:cNvSpPr/>
          <p:nvPr/>
        </p:nvSpPr>
        <p:spPr>
          <a:xfrm>
            <a:off x="7269480" y="1920240"/>
            <a:ext cx="54864" cy="1066800"/>
          </a:xfrm>
          <a:prstGeom prst="rect">
            <a:avLst/>
          </a:prstGeom>
          <a:solidFill>
            <a:srgbClr val="12A566"/>
          </a:solidFill>
          <a:ln/>
        </p:spPr>
      </p:sp>
      <p:sp>
        <p:nvSpPr>
          <p:cNvPr id="13" name="Text 11"/>
          <p:cNvSpPr txBox="1"/>
          <p:nvPr/>
        </p:nvSpPr>
        <p:spPr>
          <a:xfrm>
            <a:off x="7452360" y="187452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7A4A"/>
                </a:solidFill>
                <a:latin typeface="Inter" pitchFamily="34" charset="0"/>
                <a:ea typeface="Inter" pitchFamily="34" charset="-122"/>
                <a:cs typeface="Inter" pitchFamily="34" charset="-120"/>
              </a:rPr>
              <a:t>+$6,297,386</a:t>
            </a:r>
            <a:endParaRPr lang="en-US" sz="3000" dirty="0"/>
          </a:p>
        </p:txBody>
      </p:sp>
      <p:sp>
        <p:nvSpPr>
          <p:cNvPr id="14" name="Text 12"/>
          <p:cNvSpPr txBox="1"/>
          <p:nvPr/>
        </p:nvSpPr>
        <p:spPr>
          <a:xfrm>
            <a:off x="7452360" y="2441448"/>
            <a:ext cx="4023360" cy="56388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Service gross, up 5.2%, ahead of 2025 in all nine months.</a:t>
            </a:r>
            <a:endParaRPr lang="en-US" sz="1400" dirty="0"/>
          </a:p>
        </p:txBody>
      </p:sp>
      <p:sp>
        <p:nvSpPr>
          <p:cNvPr id="15" name="Shape 13"/>
          <p:cNvSpPr/>
          <p:nvPr/>
        </p:nvSpPr>
        <p:spPr>
          <a:xfrm>
            <a:off x="7269480" y="3215640"/>
            <a:ext cx="54864" cy="1066800"/>
          </a:xfrm>
          <a:prstGeom prst="rect">
            <a:avLst/>
          </a:prstGeom>
          <a:solidFill>
            <a:srgbClr val="2587C5"/>
          </a:solidFill>
          <a:ln/>
        </p:spPr>
      </p:sp>
      <p:sp>
        <p:nvSpPr>
          <p:cNvPr id="16" name="Text 14"/>
          <p:cNvSpPr txBox="1"/>
          <p:nvPr/>
        </p:nvSpPr>
        <p:spPr>
          <a:xfrm>
            <a:off x="7452360" y="316992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2C4A"/>
                </a:solidFill>
                <a:latin typeface="Inter" pitchFamily="34" charset="0"/>
                <a:ea typeface="Inter" pitchFamily="34" charset="-122"/>
                <a:cs typeface="Inter" pitchFamily="34" charset="-120"/>
              </a:rPr>
              <a:t>+$1,171,181</a:t>
            </a:r>
            <a:endParaRPr lang="en-US" sz="3000" dirty="0"/>
          </a:p>
        </p:txBody>
      </p:sp>
      <p:sp>
        <p:nvSpPr>
          <p:cNvPr id="17" name="Text 15"/>
          <p:cNvSpPr txBox="1"/>
          <p:nvPr/>
        </p:nvSpPr>
        <p:spPr>
          <a:xfrm>
            <a:off x="7452360" y="3736848"/>
            <a:ext cx="4023360" cy="56388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Parts gross, up 1.9%, but parts net to gross slipped 0.4 pts to 36.7%.</a:t>
            </a:r>
            <a:endParaRPr lang="en-US" sz="1400" dirty="0"/>
          </a:p>
        </p:txBody>
      </p:sp>
      <p:sp>
        <p:nvSpPr>
          <p:cNvPr id="18" name="Shape 16"/>
          <p:cNvSpPr/>
          <p:nvPr/>
        </p:nvSpPr>
        <p:spPr>
          <a:xfrm>
            <a:off x="7269480" y="4511040"/>
            <a:ext cx="54864" cy="1066800"/>
          </a:xfrm>
          <a:prstGeom prst="rect">
            <a:avLst/>
          </a:prstGeom>
          <a:solidFill>
            <a:srgbClr val="12A566"/>
          </a:solidFill>
          <a:ln/>
        </p:spPr>
      </p:sp>
      <p:sp>
        <p:nvSpPr>
          <p:cNvPr id="19" name="Text 17"/>
          <p:cNvSpPr txBox="1"/>
          <p:nvPr/>
        </p:nvSpPr>
        <p:spPr>
          <a:xfrm>
            <a:off x="7452360" y="446532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7A4A"/>
                </a:solidFill>
                <a:latin typeface="Inter" pitchFamily="34" charset="0"/>
                <a:ea typeface="Inter" pitchFamily="34" charset="-122"/>
                <a:cs typeface="Inter" pitchFamily="34" charset="-120"/>
              </a:rPr>
              <a:t>$20.59M</a:t>
            </a:r>
            <a:endParaRPr lang="en-US" sz="3000" dirty="0"/>
          </a:p>
        </p:txBody>
      </p:sp>
      <p:sp>
        <p:nvSpPr>
          <p:cNvPr id="20" name="Text 18"/>
          <p:cNvSpPr txBox="1"/>
          <p:nvPr/>
        </p:nvSpPr>
        <p:spPr>
          <a:xfrm>
            <a:off x="7452360" y="5032248"/>
            <a:ext cx="4023360" cy="56388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Fixed ops gross a month over the last twelve months.</a:t>
            </a:r>
            <a:endParaRPr lang="en-US" sz="1400" dirty="0"/>
          </a:p>
        </p:txBody>
      </p:sp>
      <p:sp>
        <p:nvSpPr>
          <p:cNvPr id="21" name="Shape 19"/>
          <p:cNvSpPr/>
          <p:nvPr/>
        </p:nvSpPr>
        <p:spPr>
          <a:xfrm>
            <a:off x="457200" y="5961888"/>
            <a:ext cx="11274552" cy="548640"/>
          </a:xfrm>
          <a:prstGeom prst="rect">
            <a:avLst/>
          </a:prstGeom>
          <a:solidFill>
            <a:srgbClr val="EDF4FA"/>
          </a:solidFill>
          <a:ln/>
        </p:spPr>
      </p:sp>
      <p:sp>
        <p:nvSpPr>
          <p:cNvPr id="22" name="Text 20"/>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The ask: run service like a sales department: every visit is a chance to sell the next hour and the next car.</a:t>
            </a:r>
            <a:endParaRPr lang="en-US" sz="1600" dirty="0"/>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What Is Absorption?</a:t>
            </a:r>
            <a:endParaRPr lang="en-US" sz="2800" dirty="0"/>
          </a:p>
        </p:txBody>
      </p:sp>
      <p:sp>
        <p:nvSpPr>
          <p:cNvPr id="5" name="Shape 3"/>
          <p:cNvSpPr/>
          <p:nvPr/>
        </p:nvSpPr>
        <p:spPr>
          <a:xfrm>
            <a:off x="457200" y="1207008"/>
            <a:ext cx="11274552" cy="1024128"/>
          </a:xfrm>
          <a:prstGeom prst="rect">
            <a:avLst/>
          </a:prstGeom>
          <a:solidFill>
            <a:srgbClr val="EDF4FA"/>
          </a:solidFill>
          <a:ln/>
        </p:spPr>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400" b="1" dirty="0">
                <a:solidFill>
                  <a:srgbClr val="0B2C4A"/>
                </a:solidFill>
                <a:latin typeface="Inter" pitchFamily="34" charset="0"/>
                <a:ea typeface="Inter" pitchFamily="34" charset="-122"/>
                <a:cs typeface="Inter" pitchFamily="34" charset="-120"/>
              </a:rPr>
              <a:t>Fixed ops absorption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fixed ops gross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fixed expenses</a:t>
            </a:r>
            <a:endParaRPr lang="en-US" sz="24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500" dirty="0">
                <a:solidFill>
                  <a:srgbClr val="595959"/>
                </a:solidFill>
                <a:latin typeface="Inter" pitchFamily="34" charset="0"/>
                <a:ea typeface="Inter" pitchFamily="34" charset="-122"/>
                <a:cs typeface="Inter" pitchFamily="34" charset="-120"/>
              </a:rPr>
              <a:t>How much of the store's fixed expenses service and parts gross pays for. P&amp;L line 254 divided by line 258.</a:t>
            </a:r>
            <a:endParaRPr lang="en-US" sz="1500" dirty="0"/>
          </a:p>
        </p:txBody>
      </p:sp>
      <p:sp>
        <p:nvSpPr>
          <p:cNvPr id="8" name="Text 6"/>
          <p:cNvSpPr txBox="1"/>
          <p:nvPr/>
        </p:nvSpPr>
        <p:spPr>
          <a:xfrm>
            <a:off x="457200" y="2340864"/>
            <a:ext cx="1828800" cy="457200"/>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READING IT</a:t>
            </a:r>
            <a:endParaRPr lang="en-US" sz="1400" dirty="0"/>
          </a:p>
        </p:txBody>
      </p:sp>
      <p:sp>
        <p:nvSpPr>
          <p:cNvPr id="9" name="Shape 7"/>
          <p:cNvSpPr/>
          <p:nvPr/>
        </p:nvSpPr>
        <p:spPr>
          <a:xfrm>
            <a:off x="2286000" y="2340864"/>
            <a:ext cx="4668012" cy="457200"/>
          </a:xfrm>
          <a:prstGeom prst="rect">
            <a:avLst/>
          </a:prstGeom>
          <a:solidFill>
            <a:srgbClr val="FFFFFF"/>
          </a:solidFill>
          <a:ln w="9525">
            <a:solidFill>
              <a:srgbClr val="D9D9D9"/>
            </a:solidFill>
            <a:prstDash val="solid"/>
          </a:ln>
        </p:spPr>
      </p:sp>
      <p:sp>
        <p:nvSpPr>
          <p:cNvPr id="10" name="Text 8"/>
          <p:cNvSpPr txBox="1"/>
          <p:nvPr/>
        </p:nvSpPr>
        <p:spPr>
          <a:xfrm>
            <a:off x="2359152" y="2340864"/>
            <a:ext cx="452170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At 100%  </a:t>
            </a:r>
            <a:pPr algn="ctr" indent="0" marL="0">
              <a:buNone/>
            </a:pPr>
            <a:r>
              <a:rPr lang="en-US" sz="1400" b="1" dirty="0">
                <a:solidFill>
                  <a:srgbClr val="0B2C4A"/>
                </a:solidFill>
                <a:latin typeface="Inter" pitchFamily="34" charset="0"/>
                <a:ea typeface="Inter" pitchFamily="34" charset="-122"/>
                <a:cs typeface="Inter" pitchFamily="34" charset="-120"/>
              </a:rPr>
              <a:t>fixed ops covers every fixed expense</a:t>
            </a:r>
            <a:endParaRPr lang="en-US" sz="1400" dirty="0"/>
          </a:p>
        </p:txBody>
      </p:sp>
      <p:sp>
        <p:nvSpPr>
          <p:cNvPr id="11" name="Shape 9"/>
          <p:cNvSpPr/>
          <p:nvPr/>
        </p:nvSpPr>
        <p:spPr>
          <a:xfrm>
            <a:off x="7063740" y="2340864"/>
            <a:ext cx="4668012" cy="457200"/>
          </a:xfrm>
          <a:prstGeom prst="rect">
            <a:avLst/>
          </a:prstGeom>
          <a:solidFill>
            <a:srgbClr val="FFFFFF"/>
          </a:solidFill>
          <a:ln w="9525">
            <a:solidFill>
              <a:srgbClr val="D9D9D9"/>
            </a:solidFill>
            <a:prstDash val="solid"/>
          </a:ln>
        </p:spPr>
      </p:sp>
      <p:sp>
        <p:nvSpPr>
          <p:cNvPr id="12" name="Text 10"/>
          <p:cNvSpPr txBox="1"/>
          <p:nvPr/>
        </p:nvSpPr>
        <p:spPr>
          <a:xfrm>
            <a:off x="7136892" y="2340864"/>
            <a:ext cx="452170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Group today  </a:t>
            </a:r>
            <a:pPr algn="ctr" indent="0" marL="0">
              <a:buNone/>
            </a:pPr>
            <a:r>
              <a:rPr lang="en-US" sz="1400" b="1" dirty="0">
                <a:solidFill>
                  <a:srgbClr val="0B2C4A"/>
                </a:solidFill>
                <a:latin typeface="Inter" pitchFamily="34" charset="0"/>
                <a:ea typeface="Inter" pitchFamily="34" charset="-122"/>
                <a:cs typeface="Inter" pitchFamily="34" charset="-120"/>
              </a:rPr>
              <a:t>78.1%</a:t>
            </a:r>
            <a:endParaRPr lang="en-US" sz="1400" dirty="0"/>
          </a:p>
        </p:txBody>
      </p:sp>
      <p:sp>
        <p:nvSpPr>
          <p:cNvPr id="13" name="Shape 11"/>
          <p:cNvSpPr/>
          <p:nvPr/>
        </p:nvSpPr>
        <p:spPr>
          <a:xfrm>
            <a:off x="457200" y="2907792"/>
            <a:ext cx="4343400" cy="2944368"/>
          </a:xfrm>
          <a:prstGeom prst="rect">
            <a:avLst/>
          </a:prstGeom>
          <a:solidFill>
            <a:srgbClr val="FFFFFF"/>
          </a:solidFill>
          <a:ln/>
        </p:spPr>
      </p:sp>
      <p:sp>
        <p:nvSpPr>
          <p:cNvPr id="14" name="Shape 12"/>
          <p:cNvSpPr/>
          <p:nvPr/>
        </p:nvSpPr>
        <p:spPr>
          <a:xfrm>
            <a:off x="4937760" y="2907792"/>
            <a:ext cx="6793992" cy="2944368"/>
          </a:xfrm>
          <a:prstGeom prst="rect">
            <a:avLst/>
          </a:prstGeom>
          <a:solidFill>
            <a:srgbClr val="FFFFFF"/>
          </a:solidFill>
          <a:ln/>
        </p:spPr>
      </p:sp>
      <p:sp>
        <p:nvSpPr>
          <p:cNvPr id="15" name="Text 13"/>
          <p:cNvSpPr txBox="1"/>
          <p:nvPr/>
        </p:nvSpPr>
        <p:spPr>
          <a:xfrm>
            <a:off x="658368" y="3035808"/>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WHY IT MATTERS</a:t>
            </a:r>
            <a:endParaRPr lang="en-US" sz="1400" dirty="0"/>
          </a:p>
        </p:txBody>
      </p:sp>
      <p:sp>
        <p:nvSpPr>
          <p:cNvPr id="16" name="Text 14"/>
          <p:cNvSpPr txBox="1"/>
          <p:nvPr/>
        </p:nvSpPr>
        <p:spPr>
          <a:xfrm>
            <a:off x="5138928" y="3035808"/>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MOVES IT</a:t>
            </a:r>
            <a:endParaRPr lang="en-US" sz="1400" dirty="0"/>
          </a:p>
        </p:txBody>
      </p:sp>
      <p:sp>
        <p:nvSpPr>
          <p:cNvPr id="17" name="Text 15"/>
          <p:cNvSpPr txBox="1"/>
          <p:nvPr/>
        </p:nvSpPr>
        <p:spPr>
          <a:xfrm>
            <a:off x="658368" y="3410712"/>
            <a:ext cx="3977640" cy="2304288"/>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At 100%, the store covers its fixed costs before it sells a car.</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It protects the store when car sales slow.</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It is the clearest measure of fixed ops' value to the dealership.</a:t>
            </a:r>
            <a:endParaRPr lang="en-US" sz="1500" dirty="0"/>
          </a:p>
        </p:txBody>
      </p:sp>
      <p:sp>
        <p:nvSpPr>
          <p:cNvPr id="18" name="Shape 16"/>
          <p:cNvSpPr/>
          <p:nvPr/>
        </p:nvSpPr>
        <p:spPr>
          <a:xfrm>
            <a:off x="5138928" y="3410712"/>
            <a:ext cx="45720" cy="1065276"/>
          </a:xfrm>
          <a:prstGeom prst="rect">
            <a:avLst/>
          </a:prstGeom>
          <a:solidFill>
            <a:srgbClr val="2587C5"/>
          </a:solidFill>
          <a:ln/>
        </p:spPr>
      </p:sp>
      <p:sp>
        <p:nvSpPr>
          <p:cNvPr id="19" name="Text 17"/>
          <p:cNvSpPr txBox="1"/>
          <p:nvPr/>
        </p:nvSpPr>
        <p:spPr>
          <a:xfrm>
            <a:off x="5266944" y="3410712"/>
            <a:ext cx="2962656" cy="106527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Fixed ops gross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Everything on the CP engine slides: ROs, hours, ELR, margin</a:t>
            </a:r>
            <a:endParaRPr lang="en-US" sz="1400" dirty="0"/>
          </a:p>
        </p:txBody>
      </p:sp>
      <p:sp>
        <p:nvSpPr>
          <p:cNvPr id="20" name="Shape 18"/>
          <p:cNvSpPr/>
          <p:nvPr/>
        </p:nvSpPr>
        <p:spPr>
          <a:xfrm>
            <a:off x="8394192" y="3410712"/>
            <a:ext cx="45720" cy="1065276"/>
          </a:xfrm>
          <a:prstGeom prst="rect">
            <a:avLst/>
          </a:prstGeom>
          <a:solidFill>
            <a:srgbClr val="2587C5"/>
          </a:solidFill>
          <a:ln/>
        </p:spPr>
      </p:sp>
      <p:sp>
        <p:nvSpPr>
          <p:cNvPr id="21" name="Text 19"/>
          <p:cNvSpPr txBox="1"/>
          <p:nvPr/>
        </p:nvSpPr>
        <p:spPr>
          <a:xfrm>
            <a:off x="8522208" y="3410712"/>
            <a:ext cx="2962656" cy="106527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Fixed expenses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Rent, facility and the other fixed costs on the P&amp;L</a:t>
            </a:r>
            <a:endParaRPr lang="en-US" sz="1400" dirty="0"/>
          </a:p>
        </p:txBody>
      </p:sp>
      <p:sp>
        <p:nvSpPr>
          <p:cNvPr id="22" name="Shape 20"/>
          <p:cNvSpPr/>
          <p:nvPr/>
        </p:nvSpPr>
        <p:spPr>
          <a:xfrm>
            <a:off x="5138928" y="4585716"/>
            <a:ext cx="45720" cy="1065276"/>
          </a:xfrm>
          <a:prstGeom prst="rect">
            <a:avLst/>
          </a:prstGeom>
          <a:solidFill>
            <a:srgbClr val="2587C5"/>
          </a:solidFill>
          <a:ln/>
        </p:spPr>
      </p:sp>
      <p:sp>
        <p:nvSpPr>
          <p:cNvPr id="23" name="Text 21"/>
          <p:cNvSpPr txBox="1"/>
          <p:nvPr/>
        </p:nvSpPr>
        <p:spPr>
          <a:xfrm>
            <a:off x="5266944" y="4585716"/>
            <a:ext cx="2962656" cy="106527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Warranty and internal</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Gross from warranty and reconditioning counts too</a:t>
            </a:r>
            <a:endParaRPr lang="en-US" sz="1400" dirty="0"/>
          </a:p>
        </p:txBody>
      </p:sp>
      <p:sp>
        <p:nvSpPr>
          <p:cNvPr id="24" name="Shape 22"/>
          <p:cNvSpPr/>
          <p:nvPr/>
        </p:nvSpPr>
        <p:spPr>
          <a:xfrm>
            <a:off x="8394192" y="4585716"/>
            <a:ext cx="45720" cy="1065276"/>
          </a:xfrm>
          <a:prstGeom prst="rect">
            <a:avLst/>
          </a:prstGeom>
          <a:solidFill>
            <a:srgbClr val="2587C5"/>
          </a:solidFill>
          <a:ln/>
        </p:spPr>
      </p:sp>
      <p:sp>
        <p:nvSpPr>
          <p:cNvPr id="25" name="Text 23"/>
          <p:cNvSpPr txBox="1"/>
          <p:nvPr/>
        </p:nvSpPr>
        <p:spPr>
          <a:xfrm>
            <a:off x="8522208" y="4585716"/>
            <a:ext cx="2962656" cy="106527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Parts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Counter and wholesale parts gross counts as well</a:t>
            </a:r>
            <a:endParaRPr lang="en-US" sz="1400" dirty="0"/>
          </a:p>
        </p:txBody>
      </p:sp>
      <p:sp>
        <p:nvSpPr>
          <p:cNvPr id="26" name="Shape 24"/>
          <p:cNvSpPr/>
          <p:nvPr/>
        </p:nvSpPr>
        <p:spPr>
          <a:xfrm>
            <a:off x="457200" y="5961888"/>
            <a:ext cx="11274552" cy="548640"/>
          </a:xfrm>
          <a:prstGeom prst="rect">
            <a:avLst/>
          </a:prstGeom>
          <a:solidFill>
            <a:srgbClr val="E6F6EE"/>
          </a:solidFill>
          <a:ln/>
        </p:spPr>
      </p:sp>
      <p:sp>
        <p:nvSpPr>
          <p:cNvPr id="27" name="Text 25"/>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Group: 78.1% absorption, up 2.1 pts. Fixed gross grew 4.1%; fixed expenses 1.3%.</a:t>
            </a:r>
            <a:endParaRPr lang="en-US" sz="1600" dirty="0"/>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What Is Net to Gross?</a:t>
            </a:r>
            <a:endParaRPr lang="en-US" sz="2800" dirty="0"/>
          </a:p>
        </p:txBody>
      </p:sp>
      <p:sp>
        <p:nvSpPr>
          <p:cNvPr id="5" name="Shape 3"/>
          <p:cNvSpPr/>
          <p:nvPr/>
        </p:nvSpPr>
        <p:spPr>
          <a:xfrm>
            <a:off x="457200" y="1207008"/>
            <a:ext cx="11274552" cy="1024128"/>
          </a:xfrm>
          <a:prstGeom prst="rect">
            <a:avLst/>
          </a:prstGeom>
          <a:solidFill>
            <a:srgbClr val="EDF4FA"/>
          </a:solidFill>
          <a:ln/>
        </p:spPr>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400" b="1" dirty="0">
                <a:solidFill>
                  <a:srgbClr val="0B2C4A"/>
                </a:solidFill>
                <a:latin typeface="Inter" pitchFamily="34" charset="0"/>
                <a:ea typeface="Inter" pitchFamily="34" charset="-122"/>
                <a:cs typeface="Inter" pitchFamily="34" charset="-120"/>
              </a:rPr>
              <a:t>Net to gross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department profit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department gross</a:t>
            </a:r>
            <a:endParaRPr lang="en-US" sz="24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500" dirty="0">
                <a:solidFill>
                  <a:srgbClr val="595959"/>
                </a:solidFill>
                <a:latin typeface="Inter" pitchFamily="34" charset="0"/>
                <a:ea typeface="Inter" pitchFamily="34" charset="-122"/>
                <a:cs typeface="Inter" pitchFamily="34" charset="-120"/>
              </a:rPr>
              <a:t>How much of each gross dollar the department keeps after its own expenses. Shown for service and parts.</a:t>
            </a:r>
            <a:endParaRPr lang="en-US" sz="1500" dirty="0"/>
          </a:p>
        </p:txBody>
      </p:sp>
      <p:sp>
        <p:nvSpPr>
          <p:cNvPr id="8" name="Shape 6"/>
          <p:cNvSpPr/>
          <p:nvPr/>
        </p:nvSpPr>
        <p:spPr>
          <a:xfrm>
            <a:off x="457200" y="2340864"/>
            <a:ext cx="4343400" cy="3511296"/>
          </a:xfrm>
          <a:prstGeom prst="rect">
            <a:avLst/>
          </a:prstGeom>
          <a:solidFill>
            <a:srgbClr val="FFFFFF"/>
          </a:solidFill>
          <a:ln/>
        </p:spPr>
      </p:sp>
      <p:sp>
        <p:nvSpPr>
          <p:cNvPr id="9" name="Shape 7"/>
          <p:cNvSpPr/>
          <p:nvPr/>
        </p:nvSpPr>
        <p:spPr>
          <a:xfrm>
            <a:off x="4937760" y="2340864"/>
            <a:ext cx="6793992" cy="3511296"/>
          </a:xfrm>
          <a:prstGeom prst="rect">
            <a:avLst/>
          </a:prstGeom>
          <a:solidFill>
            <a:srgbClr val="FFFFFF"/>
          </a:solidFill>
          <a:ln/>
        </p:spPr>
      </p:sp>
      <p:sp>
        <p:nvSpPr>
          <p:cNvPr id="10" name="Text 8"/>
          <p:cNvSpPr txBox="1"/>
          <p:nvPr/>
        </p:nvSpPr>
        <p:spPr>
          <a:xfrm>
            <a:off x="658368" y="2468880"/>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WHY IT MATTERS</a:t>
            </a:r>
            <a:endParaRPr lang="en-US" sz="1400" dirty="0"/>
          </a:p>
        </p:txBody>
      </p:sp>
      <p:sp>
        <p:nvSpPr>
          <p:cNvPr id="11" name="Text 9"/>
          <p:cNvSpPr txBox="1"/>
          <p:nvPr/>
        </p:nvSpPr>
        <p:spPr>
          <a:xfrm>
            <a:off x="5138928" y="2468880"/>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MOVES IT</a:t>
            </a:r>
            <a:endParaRPr lang="en-US" sz="1400" dirty="0"/>
          </a:p>
        </p:txBody>
      </p:sp>
      <p:sp>
        <p:nvSpPr>
          <p:cNvPr id="12" name="Text 10"/>
          <p:cNvSpPr txBox="1"/>
          <p:nvPr/>
        </p:nvSpPr>
        <p:spPr>
          <a:xfrm>
            <a:off x="658368" y="2843784"/>
            <a:ext cx="3977640" cy="2871216"/>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Gross is what we make; net is what we keep.</a:t>
            </a:r>
            <a:endParaRPr lang="en-US" sz="1600" dirty="0"/>
          </a:p>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Gross can grow while net falls if expenses grow faster.</a:t>
            </a:r>
            <a:endParaRPr lang="en-US" sz="1600" dirty="0"/>
          </a:p>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It ties staffing and pay plans to results.</a:t>
            </a:r>
            <a:endParaRPr lang="en-US" sz="1600" dirty="0"/>
          </a:p>
        </p:txBody>
      </p:sp>
      <p:sp>
        <p:nvSpPr>
          <p:cNvPr id="13" name="Shape 11"/>
          <p:cNvSpPr/>
          <p:nvPr/>
        </p:nvSpPr>
        <p:spPr>
          <a:xfrm>
            <a:off x="5138928" y="2843784"/>
            <a:ext cx="45720" cy="1348740"/>
          </a:xfrm>
          <a:prstGeom prst="rect">
            <a:avLst/>
          </a:prstGeom>
          <a:solidFill>
            <a:srgbClr val="2587C5"/>
          </a:solidFill>
          <a:ln/>
        </p:spPr>
      </p:sp>
      <p:sp>
        <p:nvSpPr>
          <p:cNvPr id="14" name="Text 12"/>
          <p:cNvSpPr txBox="1"/>
          <p:nvPr/>
        </p:nvSpPr>
        <p:spPr>
          <a:xfrm>
            <a:off x="5266944" y="2843784"/>
            <a:ext cx="2962656" cy="1348740"/>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Personnel expense</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Headcount and pay plans: the biggest line</a:t>
            </a:r>
            <a:endParaRPr lang="en-US" sz="1400" dirty="0"/>
          </a:p>
        </p:txBody>
      </p:sp>
      <p:sp>
        <p:nvSpPr>
          <p:cNvPr id="15" name="Shape 13"/>
          <p:cNvSpPr/>
          <p:nvPr/>
        </p:nvSpPr>
        <p:spPr>
          <a:xfrm>
            <a:off x="8394192" y="2843784"/>
            <a:ext cx="45720" cy="1348740"/>
          </a:xfrm>
          <a:prstGeom prst="rect">
            <a:avLst/>
          </a:prstGeom>
          <a:solidFill>
            <a:srgbClr val="2587C5"/>
          </a:solidFill>
          <a:ln/>
        </p:spPr>
      </p:sp>
      <p:sp>
        <p:nvSpPr>
          <p:cNvPr id="16" name="Text 14"/>
          <p:cNvSpPr txBox="1"/>
          <p:nvPr/>
        </p:nvSpPr>
        <p:spPr>
          <a:xfrm>
            <a:off x="8522208" y="2843784"/>
            <a:ext cx="2962656" cy="1348740"/>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Semi-fixed expenses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Supplies, policy, training, equipment</a:t>
            </a:r>
            <a:endParaRPr lang="en-US" sz="1400" dirty="0"/>
          </a:p>
        </p:txBody>
      </p:sp>
      <p:sp>
        <p:nvSpPr>
          <p:cNvPr id="17" name="Shape 15"/>
          <p:cNvSpPr/>
          <p:nvPr/>
        </p:nvSpPr>
        <p:spPr>
          <a:xfrm>
            <a:off x="5138928" y="4302252"/>
            <a:ext cx="45720" cy="1348740"/>
          </a:xfrm>
          <a:prstGeom prst="rect">
            <a:avLst/>
          </a:prstGeom>
          <a:solidFill>
            <a:srgbClr val="2587C5"/>
          </a:solidFill>
          <a:ln/>
        </p:spPr>
      </p:sp>
      <p:sp>
        <p:nvSpPr>
          <p:cNvPr id="18" name="Text 16"/>
          <p:cNvSpPr txBox="1"/>
          <p:nvPr/>
        </p:nvSpPr>
        <p:spPr>
          <a:xfrm>
            <a:off x="5266944" y="4302252"/>
            <a:ext cx="2962656" cy="1348740"/>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Policy and adjustments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Goodwill and comebacks charged to the department</a:t>
            </a:r>
            <a:endParaRPr lang="en-US" sz="1400" dirty="0"/>
          </a:p>
        </p:txBody>
      </p:sp>
      <p:sp>
        <p:nvSpPr>
          <p:cNvPr id="19" name="Shape 17"/>
          <p:cNvSpPr/>
          <p:nvPr/>
        </p:nvSpPr>
        <p:spPr>
          <a:xfrm>
            <a:off x="8394192" y="4302252"/>
            <a:ext cx="45720" cy="1348740"/>
          </a:xfrm>
          <a:prstGeom prst="rect">
            <a:avLst/>
          </a:prstGeom>
          <a:solidFill>
            <a:srgbClr val="2587C5"/>
          </a:solidFill>
          <a:ln/>
        </p:spPr>
      </p:sp>
      <p:sp>
        <p:nvSpPr>
          <p:cNvPr id="20" name="Text 18"/>
          <p:cNvSpPr txBox="1"/>
          <p:nvPr/>
        </p:nvSpPr>
        <p:spPr>
          <a:xfrm>
            <a:off x="8522208" y="4302252"/>
            <a:ext cx="2962656" cy="1348740"/>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Gross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Grow gross faster than expense</a:t>
            </a:r>
            <a:endParaRPr lang="en-US" sz="1400" dirty="0"/>
          </a:p>
        </p:txBody>
      </p:sp>
      <p:sp>
        <p:nvSpPr>
          <p:cNvPr id="21" name="Shape 19"/>
          <p:cNvSpPr/>
          <p:nvPr/>
        </p:nvSpPr>
        <p:spPr>
          <a:xfrm>
            <a:off x="457200" y="5961888"/>
            <a:ext cx="11274552" cy="548640"/>
          </a:xfrm>
          <a:prstGeom prst="rect">
            <a:avLst/>
          </a:prstGeom>
          <a:solidFill>
            <a:srgbClr val="EDF4FA"/>
          </a:solidFill>
          <a:ln/>
        </p:spPr>
      </p:sp>
      <p:sp>
        <p:nvSpPr>
          <p:cNvPr id="22" name="Text 20"/>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Group: service 21.8%, up 2.9 pts; parts 36.7%, down 0.4 pts.</a:t>
            </a:r>
            <a:endParaRPr lang="en-US" sz="1600" dirty="0"/>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What Can You Control?</a:t>
            </a:r>
            <a:endParaRPr lang="en-US" sz="2800" dirty="0"/>
          </a:p>
        </p:txBody>
      </p:sp>
      <p:sp>
        <p:nvSpPr>
          <p:cNvPr id="5" name="Shape 3"/>
          <p:cNvSpPr/>
          <p:nvPr/>
        </p:nvSpPr>
        <p:spPr>
          <a:xfrm>
            <a:off x="457200" y="1207008"/>
            <a:ext cx="6400800" cy="4645152"/>
          </a:xfrm>
          <a:prstGeom prst="rect">
            <a:avLst/>
          </a:prstGeom>
          <a:solidFill>
            <a:srgbClr val="FFFFFF"/>
          </a:solidFill>
          <a:ln/>
        </p:spPr>
      </p:sp>
      <p:sp>
        <p:nvSpPr>
          <p:cNvPr id="6" name="Shape 4"/>
          <p:cNvSpPr/>
          <p:nvPr/>
        </p:nvSpPr>
        <p:spPr>
          <a:xfrm>
            <a:off x="7022592" y="1207008"/>
            <a:ext cx="4709160" cy="4645152"/>
          </a:xfrm>
          <a:prstGeom prst="rect">
            <a:avLst/>
          </a:prstGeom>
          <a:solidFill>
            <a:srgbClr val="FFFFFF"/>
          </a:solidFill>
          <a:ln/>
        </p:spPr>
      </p:sp>
      <p:sp>
        <p:nvSpPr>
          <p:cNvPr id="7" name="Text 5"/>
          <p:cNvSpPr txBox="1"/>
          <p:nvPr/>
        </p:nvSpPr>
        <p:spPr>
          <a:xfrm>
            <a:off x="713232" y="1371600"/>
            <a:ext cx="5943600" cy="310896"/>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WE SAID · ROUNDTABLE 2024</a:t>
            </a:r>
            <a:endParaRPr lang="en-US" sz="1400" dirty="0"/>
          </a:p>
        </p:txBody>
      </p:sp>
      <p:sp>
        <p:nvSpPr>
          <p:cNvPr id="8" name="Text 6"/>
          <p:cNvSpPr txBox="1"/>
          <p:nvPr/>
        </p:nvSpPr>
        <p:spPr>
          <a:xfrm>
            <a:off x="7269480" y="1371600"/>
            <a:ext cx="4297680" cy="310896"/>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WHERE WE ARE · JAN–SEP 2026</a:t>
            </a:r>
            <a:endParaRPr lang="en-US" sz="1400" dirty="0"/>
          </a:p>
        </p:txBody>
      </p:sp>
      <p:sp>
        <p:nvSpPr>
          <p:cNvPr id="9" name="Shape 7"/>
          <p:cNvSpPr/>
          <p:nvPr/>
        </p:nvSpPr>
        <p:spPr>
          <a:xfrm>
            <a:off x="713232" y="1737360"/>
            <a:ext cx="5897880" cy="10973"/>
          </a:xfrm>
          <a:prstGeom prst="rect">
            <a:avLst/>
          </a:prstGeom>
          <a:solidFill>
            <a:srgbClr val="D9D9D9"/>
          </a:solidFill>
          <a:ln/>
        </p:spPr>
      </p:sp>
      <p:sp>
        <p:nvSpPr>
          <p:cNvPr id="10" name="Shape 8"/>
          <p:cNvSpPr/>
          <p:nvPr/>
        </p:nvSpPr>
        <p:spPr>
          <a:xfrm>
            <a:off x="7269480" y="1737360"/>
            <a:ext cx="4224528" cy="10973"/>
          </a:xfrm>
          <a:prstGeom prst="rect">
            <a:avLst/>
          </a:prstGeom>
          <a:solidFill>
            <a:srgbClr val="D9D9D9"/>
          </a:solidFill>
          <a:ln/>
        </p:spPr>
      </p:sp>
      <p:sp>
        <p:nvSpPr>
          <p:cNvPr id="11" name="Text 9"/>
          <p:cNvSpPr txBox="1"/>
          <p:nvPr/>
        </p:nvSpPr>
        <p:spPr>
          <a:xfrm>
            <a:off x="713232" y="1874520"/>
            <a:ext cx="5897880" cy="384048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ROs &gt; Hours per RO &gt; ELR &gt; Mix &gt; GP%</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CP labor $ per RO represents how well you execute, store and individual</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ELR plus hours per RO cannot be manipulated: true performance</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Total money in beats ELR, gross %, hours, anything else. It's what we sell.</a:t>
            </a:r>
            <a:endParaRPr lang="en-US" sz="1800" dirty="0"/>
          </a:p>
        </p:txBody>
      </p:sp>
      <p:sp>
        <p:nvSpPr>
          <p:cNvPr id="12" name="Shape 10"/>
          <p:cNvSpPr/>
          <p:nvPr/>
        </p:nvSpPr>
        <p:spPr>
          <a:xfrm>
            <a:off x="7269480" y="1920240"/>
            <a:ext cx="54864" cy="1066800"/>
          </a:xfrm>
          <a:prstGeom prst="rect">
            <a:avLst/>
          </a:prstGeom>
          <a:solidFill>
            <a:srgbClr val="2587C5"/>
          </a:solidFill>
          <a:ln/>
        </p:spPr>
      </p:sp>
      <p:sp>
        <p:nvSpPr>
          <p:cNvPr id="13" name="Text 11"/>
          <p:cNvSpPr txBox="1"/>
          <p:nvPr/>
        </p:nvSpPr>
        <p:spPr>
          <a:xfrm>
            <a:off x="7452360" y="187452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2C4A"/>
                </a:solidFill>
                <a:latin typeface="Inter" pitchFamily="34" charset="0"/>
                <a:ea typeface="Inter" pitchFamily="34" charset="-122"/>
                <a:cs typeface="Inter" pitchFamily="34" charset="-120"/>
              </a:rPr>
              <a:t>279,756 ROs</a:t>
            </a:r>
            <a:endParaRPr lang="en-US" sz="3000" dirty="0"/>
          </a:p>
        </p:txBody>
      </p:sp>
      <p:sp>
        <p:nvSpPr>
          <p:cNvPr id="14" name="Text 12"/>
          <p:cNvSpPr txBox="1"/>
          <p:nvPr/>
        </p:nvSpPr>
        <p:spPr>
          <a:xfrm>
            <a:off x="7452360" y="2441448"/>
            <a:ext cx="4023360" cy="56388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Customer-pay RO count, up only 456. Volume is flat.</a:t>
            </a:r>
            <a:endParaRPr lang="en-US" sz="1400" dirty="0"/>
          </a:p>
        </p:txBody>
      </p:sp>
      <p:sp>
        <p:nvSpPr>
          <p:cNvPr id="15" name="Shape 13"/>
          <p:cNvSpPr/>
          <p:nvPr/>
        </p:nvSpPr>
        <p:spPr>
          <a:xfrm>
            <a:off x="7269480" y="3215640"/>
            <a:ext cx="54864" cy="1066800"/>
          </a:xfrm>
          <a:prstGeom prst="rect">
            <a:avLst/>
          </a:prstGeom>
          <a:solidFill>
            <a:srgbClr val="12A566"/>
          </a:solidFill>
          <a:ln/>
        </p:spPr>
      </p:sp>
      <p:sp>
        <p:nvSpPr>
          <p:cNvPr id="16" name="Text 14"/>
          <p:cNvSpPr txBox="1"/>
          <p:nvPr/>
        </p:nvSpPr>
        <p:spPr>
          <a:xfrm>
            <a:off x="7452360" y="316992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7A4A"/>
                </a:solidFill>
                <a:latin typeface="Inter" pitchFamily="34" charset="0"/>
                <a:ea typeface="Inter" pitchFamily="34" charset="-122"/>
                <a:cs typeface="Inter" pitchFamily="34" charset="-120"/>
              </a:rPr>
              <a:t>1.87 hrs per RO</a:t>
            </a:r>
            <a:endParaRPr lang="en-US" sz="3000" dirty="0"/>
          </a:p>
        </p:txBody>
      </p:sp>
      <p:sp>
        <p:nvSpPr>
          <p:cNvPr id="17" name="Text 15"/>
          <p:cNvSpPr txBox="1"/>
          <p:nvPr/>
        </p:nvSpPr>
        <p:spPr>
          <a:xfrm>
            <a:off x="7452360" y="3736848"/>
            <a:ext cx="4023360" cy="56388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Up 0.07, ahead in all nine months. Every 0.1 hour per RO is worth $4,543,691 of labor.</a:t>
            </a:r>
            <a:endParaRPr lang="en-US" sz="1400" dirty="0"/>
          </a:p>
        </p:txBody>
      </p:sp>
      <p:sp>
        <p:nvSpPr>
          <p:cNvPr id="18" name="Shape 16"/>
          <p:cNvSpPr/>
          <p:nvPr/>
        </p:nvSpPr>
        <p:spPr>
          <a:xfrm>
            <a:off x="7269480" y="4511040"/>
            <a:ext cx="54864" cy="1066800"/>
          </a:xfrm>
          <a:prstGeom prst="rect">
            <a:avLst/>
          </a:prstGeom>
          <a:solidFill>
            <a:srgbClr val="12A566"/>
          </a:solidFill>
          <a:ln/>
        </p:spPr>
      </p:sp>
      <p:sp>
        <p:nvSpPr>
          <p:cNvPr id="19" name="Text 17"/>
          <p:cNvSpPr txBox="1"/>
          <p:nvPr/>
        </p:nvSpPr>
        <p:spPr>
          <a:xfrm>
            <a:off x="7452360" y="446532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7A4A"/>
                </a:solidFill>
                <a:latin typeface="Inter" pitchFamily="34" charset="0"/>
                <a:ea typeface="Inter" pitchFamily="34" charset="-122"/>
                <a:cs typeface="Inter" pitchFamily="34" charset="-120"/>
              </a:rPr>
              <a:t>$304 per RO</a:t>
            </a:r>
            <a:endParaRPr lang="en-US" sz="3000" dirty="0"/>
          </a:p>
        </p:txBody>
      </p:sp>
      <p:sp>
        <p:nvSpPr>
          <p:cNvPr id="20" name="Text 18"/>
          <p:cNvSpPr txBox="1"/>
          <p:nvPr/>
        </p:nvSpPr>
        <p:spPr>
          <a:xfrm>
            <a:off x="7452360" y="5032248"/>
            <a:ext cx="4023360" cy="56388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CP labor per RO, up $17. The $4,899,376 labor gain came from selling more per visit.</a:t>
            </a:r>
            <a:endParaRPr lang="en-US" sz="1400" dirty="0"/>
          </a:p>
        </p:txBody>
      </p:sp>
      <p:sp>
        <p:nvSpPr>
          <p:cNvPr id="21" name="Shape 19"/>
          <p:cNvSpPr/>
          <p:nvPr/>
        </p:nvSpPr>
        <p:spPr>
          <a:xfrm>
            <a:off x="457200" y="5961888"/>
            <a:ext cx="11274552" cy="548640"/>
          </a:xfrm>
          <a:prstGeom prst="rect">
            <a:avLst/>
          </a:prstGeom>
          <a:solidFill>
            <a:srgbClr val="E6F6EE"/>
          </a:solidFill>
          <a:ln/>
        </p:spPr>
      </p:sp>
      <p:sp>
        <p:nvSpPr>
          <p:cNvPr id="22" name="Text 20"/>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The ask: with car count flat, the growth is in hours per RO. Sell the next tenth of an hour on every RO.</a:t>
            </a:r>
            <a:endParaRPr lang="en-US" sz="1600" dirty="0"/>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The Front Door</a:t>
            </a:r>
            <a:endParaRPr lang="en-US" sz="2800" dirty="0"/>
          </a:p>
        </p:txBody>
      </p:sp>
      <p:sp>
        <p:nvSpPr>
          <p:cNvPr id="5" name="Shape 3"/>
          <p:cNvSpPr/>
          <p:nvPr/>
        </p:nvSpPr>
        <p:spPr>
          <a:xfrm>
            <a:off x="457200" y="1207008"/>
            <a:ext cx="6400800" cy="4645152"/>
          </a:xfrm>
          <a:prstGeom prst="rect">
            <a:avLst/>
          </a:prstGeom>
          <a:solidFill>
            <a:srgbClr val="FFFFFF"/>
          </a:solidFill>
          <a:ln/>
        </p:spPr>
      </p:sp>
      <p:sp>
        <p:nvSpPr>
          <p:cNvPr id="6" name="Shape 4"/>
          <p:cNvSpPr/>
          <p:nvPr/>
        </p:nvSpPr>
        <p:spPr>
          <a:xfrm>
            <a:off x="7022592" y="1207008"/>
            <a:ext cx="4709160" cy="4645152"/>
          </a:xfrm>
          <a:prstGeom prst="rect">
            <a:avLst/>
          </a:prstGeom>
          <a:solidFill>
            <a:srgbClr val="FFFFFF"/>
          </a:solidFill>
          <a:ln/>
        </p:spPr>
      </p:sp>
      <p:sp>
        <p:nvSpPr>
          <p:cNvPr id="7" name="Text 5"/>
          <p:cNvSpPr txBox="1"/>
          <p:nvPr/>
        </p:nvSpPr>
        <p:spPr>
          <a:xfrm>
            <a:off x="713232" y="1371600"/>
            <a:ext cx="5943600" cy="310896"/>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WE SAID · GM MEETINGS JAN &amp; MAY 2026</a:t>
            </a:r>
            <a:endParaRPr lang="en-US" sz="1400" dirty="0"/>
          </a:p>
        </p:txBody>
      </p:sp>
      <p:sp>
        <p:nvSpPr>
          <p:cNvPr id="8" name="Text 6"/>
          <p:cNvSpPr txBox="1"/>
          <p:nvPr/>
        </p:nvSpPr>
        <p:spPr>
          <a:xfrm>
            <a:off x="7269480" y="1371600"/>
            <a:ext cx="4297680" cy="310896"/>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WHERE WE ARE · JAN–SEP 2026</a:t>
            </a:r>
            <a:endParaRPr lang="en-US" sz="1400" dirty="0"/>
          </a:p>
        </p:txBody>
      </p:sp>
      <p:sp>
        <p:nvSpPr>
          <p:cNvPr id="9" name="Shape 7"/>
          <p:cNvSpPr/>
          <p:nvPr/>
        </p:nvSpPr>
        <p:spPr>
          <a:xfrm>
            <a:off x="713232" y="1737360"/>
            <a:ext cx="5897880" cy="10973"/>
          </a:xfrm>
          <a:prstGeom prst="rect">
            <a:avLst/>
          </a:prstGeom>
          <a:solidFill>
            <a:srgbClr val="D9D9D9"/>
          </a:solidFill>
          <a:ln/>
        </p:spPr>
      </p:sp>
      <p:sp>
        <p:nvSpPr>
          <p:cNvPr id="10" name="Shape 8"/>
          <p:cNvSpPr/>
          <p:nvPr/>
        </p:nvSpPr>
        <p:spPr>
          <a:xfrm>
            <a:off x="7269480" y="1737360"/>
            <a:ext cx="4224528" cy="10973"/>
          </a:xfrm>
          <a:prstGeom prst="rect">
            <a:avLst/>
          </a:prstGeom>
          <a:solidFill>
            <a:srgbClr val="D9D9D9"/>
          </a:solidFill>
          <a:ln/>
        </p:spPr>
      </p:sp>
      <p:sp>
        <p:nvSpPr>
          <p:cNvPr id="11" name="Text 9"/>
          <p:cNvSpPr txBox="1"/>
          <p:nvPr/>
        </p:nvSpPr>
        <p:spPr>
          <a:xfrm>
            <a:off x="713232" y="1874520"/>
            <a:ext cx="5897880" cy="384048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Open and available scheduler: same-day or next-day appointments, quick online scheduling</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75% of visits are basic services. Saturdays are what you choose to make them.</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Every call is a sales opportunity. Mishandled calls cost millions.</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Where do calls go after hours and Sundays?</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No-show process; first appointment at time of sale; next appointment before the customer leaves</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Active retention tracking: work the Viz 'Close to Losing' and 'Unretained' lists</a:t>
            </a:r>
            <a:endParaRPr lang="en-US" sz="1800" dirty="0"/>
          </a:p>
        </p:txBody>
      </p:sp>
      <p:sp>
        <p:nvSpPr>
          <p:cNvPr id="12" name="Shape 10"/>
          <p:cNvSpPr/>
          <p:nvPr/>
        </p:nvSpPr>
        <p:spPr>
          <a:xfrm>
            <a:off x="7269480" y="1920240"/>
            <a:ext cx="54864" cy="1714500"/>
          </a:xfrm>
          <a:prstGeom prst="rect">
            <a:avLst/>
          </a:prstGeom>
          <a:solidFill>
            <a:srgbClr val="2587C5"/>
          </a:solidFill>
          <a:ln/>
        </p:spPr>
      </p:sp>
      <p:sp>
        <p:nvSpPr>
          <p:cNvPr id="13" name="Text 11"/>
          <p:cNvSpPr txBox="1"/>
          <p:nvPr/>
        </p:nvSpPr>
        <p:spPr>
          <a:xfrm>
            <a:off x="7452360" y="187452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2C4A"/>
                </a:solidFill>
                <a:latin typeface="Inter" pitchFamily="34" charset="0"/>
                <a:ea typeface="Inter" pitchFamily="34" charset="-122"/>
                <a:cs typeface="Inter" pitchFamily="34" charset="-120"/>
              </a:rPr>
              <a:t>+0.2%</a:t>
            </a:r>
            <a:endParaRPr lang="en-US" sz="3000" dirty="0"/>
          </a:p>
        </p:txBody>
      </p:sp>
      <p:sp>
        <p:nvSpPr>
          <p:cNvPr id="14" name="Text 12"/>
          <p:cNvSpPr txBox="1"/>
          <p:nvPr/>
        </p:nvSpPr>
        <p:spPr>
          <a:xfrm>
            <a:off x="7452360" y="2441448"/>
            <a:ext cx="4023360" cy="121158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Customer-pay RO count. 13 of 33 stores had fewer CP ROs than last year.</a:t>
            </a:r>
            <a:endParaRPr lang="en-US" sz="1400" dirty="0"/>
          </a:p>
        </p:txBody>
      </p:sp>
      <p:sp>
        <p:nvSpPr>
          <p:cNvPr id="15" name="Shape 13"/>
          <p:cNvSpPr/>
          <p:nvPr/>
        </p:nvSpPr>
        <p:spPr>
          <a:xfrm>
            <a:off x="7269480" y="3863340"/>
            <a:ext cx="54864" cy="1714500"/>
          </a:xfrm>
          <a:prstGeom prst="rect">
            <a:avLst/>
          </a:prstGeom>
          <a:solidFill>
            <a:srgbClr val="C2352F"/>
          </a:solidFill>
          <a:ln/>
        </p:spPr>
      </p:sp>
      <p:sp>
        <p:nvSpPr>
          <p:cNvPr id="16" name="Text 14"/>
          <p:cNvSpPr txBox="1"/>
          <p:nvPr/>
        </p:nvSpPr>
        <p:spPr>
          <a:xfrm>
            <a:off x="7452360" y="3817620"/>
            <a:ext cx="4023360" cy="566928"/>
          </a:xfrm>
          <a:prstGeom prst="rect">
            <a:avLst/>
          </a:prstGeom>
          <a:noFill/>
          <a:ln/>
        </p:spPr>
        <p:txBody>
          <a:bodyPr wrap="square" lIns="0" tIns="0" rIns="0" bIns="0" rtlCol="0" anchor="ctr">
            <a:normAutofit/>
          </a:bodyPr>
          <a:lstStyle/>
          <a:p>
            <a:pPr indent="0" marL="0">
              <a:buNone/>
            </a:pPr>
            <a:r>
              <a:rPr lang="en-US" sz="3000" b="1" dirty="0">
                <a:solidFill>
                  <a:srgbClr val="A82B26"/>
                </a:solidFill>
                <a:latin typeface="Inter" pitchFamily="34" charset="0"/>
                <a:ea typeface="Inter" pitchFamily="34" charset="-122"/>
                <a:cs typeface="Inter" pitchFamily="34" charset="-120"/>
              </a:rPr>
              <a:t>166 ROs per advisor</a:t>
            </a:r>
            <a:endParaRPr lang="en-US" sz="3000" dirty="0"/>
          </a:p>
        </p:txBody>
      </p:sp>
      <p:sp>
        <p:nvSpPr>
          <p:cNvPr id="17" name="Text 15"/>
          <p:cNvSpPr txBox="1"/>
          <p:nvPr/>
        </p:nvSpPr>
        <p:spPr>
          <a:xfrm>
            <a:off x="7452360" y="4384548"/>
            <a:ext cx="4023360" cy="121158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CP &amp; W ROs per service advisor a month, down 7. Advisors grew 1.5%; ROs fell 2.3%.</a:t>
            </a:r>
            <a:endParaRPr lang="en-US" sz="1400" dirty="0"/>
          </a:p>
        </p:txBody>
      </p:sp>
      <p:sp>
        <p:nvSpPr>
          <p:cNvPr id="18" name="Shape 16"/>
          <p:cNvSpPr/>
          <p:nvPr/>
        </p:nvSpPr>
        <p:spPr>
          <a:xfrm>
            <a:off x="457200" y="5961888"/>
            <a:ext cx="11274552" cy="548640"/>
          </a:xfrm>
          <a:prstGeom prst="rect">
            <a:avLst/>
          </a:prstGeom>
          <a:solidFill>
            <a:srgbClr val="EDF4FA"/>
          </a:solidFill>
          <a:ln/>
        </p:spPr>
      </p:sp>
      <p:sp>
        <p:nvSpPr>
          <p:cNvPr id="19" name="Text 17"/>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The ask: every customer leaves with the next appointment booked, and every call reaches someone who asks for it.</a:t>
            </a:r>
            <a:endParaRPr lang="en-US" sz="1600" dirty="0"/>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What Is CP RO Count?</a:t>
            </a:r>
            <a:endParaRPr lang="en-US" sz="2800" dirty="0"/>
          </a:p>
        </p:txBody>
      </p:sp>
      <p:sp>
        <p:nvSpPr>
          <p:cNvPr id="5" name="Shape 3"/>
          <p:cNvSpPr/>
          <p:nvPr/>
        </p:nvSpPr>
        <p:spPr>
          <a:xfrm>
            <a:off x="457200" y="1207008"/>
            <a:ext cx="11274552" cy="1024128"/>
          </a:xfrm>
          <a:prstGeom prst="rect">
            <a:avLst/>
          </a:prstGeom>
          <a:solidFill>
            <a:srgbClr val="EDF4FA"/>
          </a:solidFill>
          <a:ln/>
        </p:spPr>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200" b="1" dirty="0">
                <a:solidFill>
                  <a:srgbClr val="0B2C4A"/>
                </a:solidFill>
                <a:latin typeface="Inter" pitchFamily="34" charset="0"/>
                <a:ea typeface="Inter" pitchFamily="34" charset="-122"/>
                <a:cs typeface="Inter" pitchFamily="34" charset="-120"/>
              </a:rPr>
              <a:t>CP RO count  </a:t>
            </a:r>
            <a:pPr indent="0" marL="0">
              <a:buNone/>
            </a:pPr>
            <a:r>
              <a:rPr lang="en-US" sz="2200" b="1" dirty="0">
                <a:solidFill>
                  <a:srgbClr val="2587C5"/>
                </a:solidFill>
                <a:latin typeface="Inter" pitchFamily="34" charset="0"/>
                <a:ea typeface="Inter" pitchFamily="34" charset="-122"/>
                <a:cs typeface="Inter" pitchFamily="34" charset="-120"/>
              </a:rPr>
              <a:t>=  </a:t>
            </a:r>
            <a:pPr indent="0" marL="0">
              <a:buNone/>
            </a:pPr>
            <a:r>
              <a:rPr lang="en-US" sz="2200" b="1" dirty="0">
                <a:solidFill>
                  <a:srgbClr val="0B2C4A"/>
                </a:solidFill>
                <a:latin typeface="Inter" pitchFamily="34" charset="0"/>
                <a:ea typeface="Inter" pitchFamily="34" charset="-122"/>
                <a:cs typeface="Inter" pitchFamily="34" charset="-120"/>
              </a:rPr>
              <a:t>customer-pay repair orders closed in the period</a:t>
            </a:r>
            <a:endParaRPr lang="en-US" sz="22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Every RO with a customer-pay line, whether or not labor was charged on it. One RO counts once, however many lines it has.</a:t>
            </a:r>
            <a:endParaRPr lang="en-US" sz="1400" dirty="0"/>
          </a:p>
        </p:txBody>
      </p:sp>
      <p:sp>
        <p:nvSpPr>
          <p:cNvPr id="8" name="Shape 6"/>
          <p:cNvSpPr/>
          <p:nvPr/>
        </p:nvSpPr>
        <p:spPr>
          <a:xfrm>
            <a:off x="457200" y="2340864"/>
            <a:ext cx="4343400" cy="3511296"/>
          </a:xfrm>
          <a:prstGeom prst="rect">
            <a:avLst/>
          </a:prstGeom>
          <a:solidFill>
            <a:srgbClr val="FFFFFF"/>
          </a:solidFill>
          <a:ln/>
        </p:spPr>
      </p:sp>
      <p:sp>
        <p:nvSpPr>
          <p:cNvPr id="9" name="Shape 7"/>
          <p:cNvSpPr/>
          <p:nvPr/>
        </p:nvSpPr>
        <p:spPr>
          <a:xfrm>
            <a:off x="4937760" y="2340864"/>
            <a:ext cx="6793992" cy="3511296"/>
          </a:xfrm>
          <a:prstGeom prst="rect">
            <a:avLst/>
          </a:prstGeom>
          <a:solidFill>
            <a:srgbClr val="FFFFFF"/>
          </a:solidFill>
          <a:ln/>
        </p:spPr>
      </p:sp>
      <p:sp>
        <p:nvSpPr>
          <p:cNvPr id="10" name="Text 8"/>
          <p:cNvSpPr txBox="1"/>
          <p:nvPr/>
        </p:nvSpPr>
        <p:spPr>
          <a:xfrm>
            <a:off x="658368" y="2468880"/>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WHY IT MATTERS</a:t>
            </a:r>
            <a:endParaRPr lang="en-US" sz="1400" dirty="0"/>
          </a:p>
        </p:txBody>
      </p:sp>
      <p:sp>
        <p:nvSpPr>
          <p:cNvPr id="11" name="Text 9"/>
          <p:cNvSpPr txBox="1"/>
          <p:nvPr/>
        </p:nvSpPr>
        <p:spPr>
          <a:xfrm>
            <a:off x="5138928" y="2468880"/>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MOVES IT</a:t>
            </a:r>
            <a:endParaRPr lang="en-US" sz="1400" dirty="0"/>
          </a:p>
        </p:txBody>
      </p:sp>
      <p:sp>
        <p:nvSpPr>
          <p:cNvPr id="12" name="Text 10"/>
          <p:cNvSpPr txBox="1"/>
          <p:nvPr/>
        </p:nvSpPr>
        <p:spPr>
          <a:xfrm>
            <a:off x="658368" y="2843784"/>
            <a:ext cx="3977640" cy="2871216"/>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It is the top of the engine. Hours, ELR and $ per RO all multiply off it.</a:t>
            </a:r>
            <a:endParaRPr lang="en-US" sz="1600" dirty="0"/>
          </a:p>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It is the clearest read on retention and on whether the front door is open.</a:t>
            </a:r>
            <a:endParaRPr lang="en-US" sz="1600" dirty="0"/>
          </a:p>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Flat car count means growth has to come from selling more on each visit.</a:t>
            </a:r>
            <a:endParaRPr lang="en-US" sz="1600" dirty="0"/>
          </a:p>
        </p:txBody>
      </p:sp>
      <p:sp>
        <p:nvSpPr>
          <p:cNvPr id="13" name="Shape 11"/>
          <p:cNvSpPr/>
          <p:nvPr/>
        </p:nvSpPr>
        <p:spPr>
          <a:xfrm>
            <a:off x="5138928" y="2843784"/>
            <a:ext cx="45720" cy="862584"/>
          </a:xfrm>
          <a:prstGeom prst="rect">
            <a:avLst/>
          </a:prstGeom>
          <a:solidFill>
            <a:srgbClr val="2587C5"/>
          </a:solidFill>
          <a:ln/>
        </p:spPr>
      </p:sp>
      <p:sp>
        <p:nvSpPr>
          <p:cNvPr id="14" name="Text 12"/>
          <p:cNvSpPr txBox="1"/>
          <p:nvPr/>
        </p:nvSpPr>
        <p:spPr>
          <a:xfrm>
            <a:off x="5266944" y="2843784"/>
            <a:ext cx="2962656" cy="862584"/>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Appointment availability</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Same-day and next-day slots; an easy online scheduler</a:t>
            </a:r>
            <a:endParaRPr lang="en-US" sz="1400" dirty="0"/>
          </a:p>
        </p:txBody>
      </p:sp>
      <p:sp>
        <p:nvSpPr>
          <p:cNvPr id="15" name="Shape 13"/>
          <p:cNvSpPr/>
          <p:nvPr/>
        </p:nvSpPr>
        <p:spPr>
          <a:xfrm>
            <a:off x="8394192" y="2843784"/>
            <a:ext cx="45720" cy="862584"/>
          </a:xfrm>
          <a:prstGeom prst="rect">
            <a:avLst/>
          </a:prstGeom>
          <a:solidFill>
            <a:srgbClr val="2587C5"/>
          </a:solidFill>
          <a:ln/>
        </p:spPr>
      </p:sp>
      <p:sp>
        <p:nvSpPr>
          <p:cNvPr id="16" name="Text 14"/>
          <p:cNvSpPr txBox="1"/>
          <p:nvPr/>
        </p:nvSpPr>
        <p:spPr>
          <a:xfrm>
            <a:off x="8522208" y="2843784"/>
            <a:ext cx="2962656" cy="862584"/>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Phone handling</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Every call answered, and every caller asked for the appointment</a:t>
            </a:r>
            <a:endParaRPr lang="en-US" sz="1400" dirty="0"/>
          </a:p>
        </p:txBody>
      </p:sp>
      <p:sp>
        <p:nvSpPr>
          <p:cNvPr id="17" name="Shape 15"/>
          <p:cNvSpPr/>
          <p:nvPr/>
        </p:nvSpPr>
        <p:spPr>
          <a:xfrm>
            <a:off x="5138928" y="3816096"/>
            <a:ext cx="45720" cy="862584"/>
          </a:xfrm>
          <a:prstGeom prst="rect">
            <a:avLst/>
          </a:prstGeom>
          <a:solidFill>
            <a:srgbClr val="2587C5"/>
          </a:solidFill>
          <a:ln/>
        </p:spPr>
      </p:sp>
      <p:sp>
        <p:nvSpPr>
          <p:cNvPr id="18" name="Text 16"/>
          <p:cNvSpPr txBox="1"/>
          <p:nvPr/>
        </p:nvSpPr>
        <p:spPr>
          <a:xfrm>
            <a:off x="5266944" y="3816096"/>
            <a:ext cx="2962656" cy="862584"/>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Retention</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Work the Close to Losing and Unretained lists; sold-not-serviced vehicles</a:t>
            </a:r>
            <a:endParaRPr lang="en-US" sz="1400" dirty="0"/>
          </a:p>
        </p:txBody>
      </p:sp>
      <p:sp>
        <p:nvSpPr>
          <p:cNvPr id="19" name="Shape 17"/>
          <p:cNvSpPr/>
          <p:nvPr/>
        </p:nvSpPr>
        <p:spPr>
          <a:xfrm>
            <a:off x="8394192" y="3816096"/>
            <a:ext cx="45720" cy="862584"/>
          </a:xfrm>
          <a:prstGeom prst="rect">
            <a:avLst/>
          </a:prstGeom>
          <a:solidFill>
            <a:srgbClr val="2587C5"/>
          </a:solidFill>
          <a:ln/>
        </p:spPr>
      </p:sp>
      <p:sp>
        <p:nvSpPr>
          <p:cNvPr id="20" name="Text 18"/>
          <p:cNvSpPr txBox="1"/>
          <p:nvPr/>
        </p:nvSpPr>
        <p:spPr>
          <a:xfrm>
            <a:off x="8522208" y="3816096"/>
            <a:ext cx="2962656" cy="862584"/>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Next visit booked</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First appointment at the sale; next one before the customer leaves</a:t>
            </a:r>
            <a:endParaRPr lang="en-US" sz="1400" dirty="0"/>
          </a:p>
        </p:txBody>
      </p:sp>
      <p:sp>
        <p:nvSpPr>
          <p:cNvPr id="21" name="Shape 19"/>
          <p:cNvSpPr/>
          <p:nvPr/>
        </p:nvSpPr>
        <p:spPr>
          <a:xfrm>
            <a:off x="5138928" y="4788408"/>
            <a:ext cx="45720" cy="862584"/>
          </a:xfrm>
          <a:prstGeom prst="rect">
            <a:avLst/>
          </a:prstGeom>
          <a:solidFill>
            <a:srgbClr val="2587C5"/>
          </a:solidFill>
          <a:ln/>
        </p:spPr>
      </p:sp>
      <p:sp>
        <p:nvSpPr>
          <p:cNvPr id="22" name="Text 20"/>
          <p:cNvSpPr txBox="1"/>
          <p:nvPr/>
        </p:nvSpPr>
        <p:spPr>
          <a:xfrm>
            <a:off x="5266944" y="4788408"/>
            <a:ext cx="2962656" cy="862584"/>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Express service</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Fast, easy maintenance keeps customers coming back</a:t>
            </a:r>
            <a:endParaRPr lang="en-US" sz="1400" dirty="0"/>
          </a:p>
        </p:txBody>
      </p:sp>
      <p:sp>
        <p:nvSpPr>
          <p:cNvPr id="23" name="Shape 21"/>
          <p:cNvSpPr/>
          <p:nvPr/>
        </p:nvSpPr>
        <p:spPr>
          <a:xfrm>
            <a:off x="8394192" y="4788408"/>
            <a:ext cx="45720" cy="862584"/>
          </a:xfrm>
          <a:prstGeom prst="rect">
            <a:avLst/>
          </a:prstGeom>
          <a:solidFill>
            <a:srgbClr val="2587C5"/>
          </a:solidFill>
          <a:ln/>
        </p:spPr>
      </p:sp>
      <p:sp>
        <p:nvSpPr>
          <p:cNvPr id="24" name="Text 22"/>
          <p:cNvSpPr txBox="1"/>
          <p:nvPr/>
        </p:nvSpPr>
        <p:spPr>
          <a:xfrm>
            <a:off x="8522208" y="4788408"/>
            <a:ext cx="2962656" cy="862584"/>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Marketing</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Fixed ops budget, keyword search, OEM and third-party reminders</a:t>
            </a:r>
            <a:endParaRPr lang="en-US" sz="1400" dirty="0"/>
          </a:p>
        </p:txBody>
      </p:sp>
      <p:sp>
        <p:nvSpPr>
          <p:cNvPr id="25" name="Shape 23"/>
          <p:cNvSpPr/>
          <p:nvPr/>
        </p:nvSpPr>
        <p:spPr>
          <a:xfrm>
            <a:off x="457200" y="5961888"/>
            <a:ext cx="11274552" cy="548640"/>
          </a:xfrm>
          <a:prstGeom prst="rect">
            <a:avLst/>
          </a:prstGeom>
          <a:solidFill>
            <a:srgbClr val="EDF4FA"/>
          </a:solidFill>
          <a:ln/>
        </p:spPr>
      </p:sp>
      <p:sp>
        <p:nvSpPr>
          <p:cNvPr id="26" name="Text 24"/>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Group: 279,756 CP ROs, up 456 from 2025. Volume is flat.</a:t>
            </a:r>
            <a:endParaRPr lang="en-US" sz="1600" dirty="0"/>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 · WHO'S MOVING NOW</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Who's Moving Now: CP ROs per Month</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713232" y="1298448"/>
            <a:ext cx="10762488" cy="310896"/>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Q1 → Q3 2026. Group 29,846 → 32,085, +7.5%: that is the season. 17 of 33 stores beat it.</a:t>
            </a:r>
            <a:endParaRPr lang="en-US" sz="1400" dirty="0"/>
          </a:p>
        </p:txBody>
      </p:sp>
      <p:sp>
        <p:nvSpPr>
          <p:cNvPr id="7" name="Text 5"/>
          <p:cNvSpPr txBox="1"/>
          <p:nvPr/>
        </p:nvSpPr>
        <p:spPr>
          <a:xfrm>
            <a:off x="3657600" y="1682496"/>
            <a:ext cx="1554480" cy="274320"/>
          </a:xfrm>
          <a:prstGeom prst="rect">
            <a:avLst/>
          </a:prstGeom>
          <a:noFill/>
          <a:ln/>
        </p:spPr>
        <p:txBody>
          <a:bodyPr wrap="square" lIns="0" tIns="0" rIns="0" bIns="0" rtlCol="0" anchor="ctr"/>
          <a:lstStyle/>
          <a:p>
            <a:pPr algn="l" indent="0" marL="0">
              <a:buNone/>
            </a:pPr>
            <a:r>
              <a:rPr lang="en-US" sz="1400" b="1" dirty="0">
                <a:solidFill>
                  <a:srgbClr val="595959"/>
                </a:solidFill>
                <a:latin typeface="Inter" pitchFamily="34" charset="0"/>
                <a:ea typeface="Inter" pitchFamily="34" charset="-122"/>
                <a:cs typeface="Inter" pitchFamily="34" charset="-120"/>
              </a:rPr>
              <a:t>Q1 → Q3</a:t>
            </a:r>
            <a:endParaRPr lang="en-US" sz="1400" dirty="0"/>
          </a:p>
        </p:txBody>
      </p:sp>
      <p:sp>
        <p:nvSpPr>
          <p:cNvPr id="8" name="Text 6"/>
          <p:cNvSpPr txBox="1"/>
          <p:nvPr/>
        </p:nvSpPr>
        <p:spPr>
          <a:xfrm>
            <a:off x="5349240" y="1682496"/>
            <a:ext cx="2651760" cy="274320"/>
          </a:xfrm>
          <a:prstGeom prst="rect">
            <a:avLst/>
          </a:prstGeom>
          <a:noFill/>
          <a:ln/>
        </p:spPr>
        <p:txBody>
          <a:bodyPr wrap="square" lIns="0" tIns="0" rIns="0" bIns="0" rtlCol="0" anchor="ctr"/>
          <a:lstStyle/>
          <a:p>
            <a:pPr algn="l" indent="0" marL="0">
              <a:buNone/>
            </a:pPr>
            <a:r>
              <a:rPr lang="en-US" sz="1400" b="1" dirty="0">
                <a:solidFill>
                  <a:srgbClr val="595959"/>
                </a:solidFill>
                <a:latin typeface="Inter" pitchFamily="34" charset="0"/>
                <a:ea typeface="Inter" pitchFamily="34" charset="-122"/>
                <a:cs typeface="Inter" pitchFamily="34" charset="-120"/>
              </a:rPr>
              <a:t>Jan – Sep 2026, by month</a:t>
            </a:r>
            <a:endParaRPr lang="en-US" sz="1400" dirty="0"/>
          </a:p>
        </p:txBody>
      </p:sp>
      <p:sp>
        <p:nvSpPr>
          <p:cNvPr id="9" name="Text 7"/>
          <p:cNvSpPr txBox="1"/>
          <p:nvPr/>
        </p:nvSpPr>
        <p:spPr>
          <a:xfrm>
            <a:off x="8183880" y="1682496"/>
            <a:ext cx="1737360" cy="274320"/>
          </a:xfrm>
          <a:prstGeom prst="rect">
            <a:avLst/>
          </a:prstGeom>
          <a:noFill/>
          <a:ln/>
        </p:spPr>
        <p:txBody>
          <a:bodyPr wrap="square" lIns="0" tIns="0" rIns="0" bIns="0" rtlCol="0" anchor="ctr"/>
          <a:lstStyle/>
          <a:p>
            <a:pPr algn="l" indent="0" marL="0">
              <a:buNone/>
            </a:pPr>
            <a:r>
              <a:rPr lang="en-US" sz="1400" b="1" dirty="0">
                <a:solidFill>
                  <a:srgbClr val="595959"/>
                </a:solidFill>
                <a:latin typeface="Inter" pitchFamily="34" charset="0"/>
                <a:ea typeface="Inter" pitchFamily="34" charset="-122"/>
                <a:cs typeface="Inter" pitchFamily="34" charset="-120"/>
              </a:rPr>
              <a:t>Stepped up in</a:t>
            </a:r>
            <a:endParaRPr lang="en-US" sz="1400" dirty="0"/>
          </a:p>
        </p:txBody>
      </p:sp>
      <p:sp>
        <p:nvSpPr>
          <p:cNvPr id="10" name="Text 8"/>
          <p:cNvSpPr txBox="1"/>
          <p:nvPr/>
        </p:nvSpPr>
        <p:spPr>
          <a:xfrm>
            <a:off x="10195560" y="1682496"/>
            <a:ext cx="1371600" cy="274320"/>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Q1 → Q3</a:t>
            </a:r>
            <a:endParaRPr lang="en-US" sz="1400" dirty="0"/>
          </a:p>
        </p:txBody>
      </p:sp>
      <p:sp>
        <p:nvSpPr>
          <p:cNvPr id="11" name="Shape 9"/>
          <p:cNvSpPr/>
          <p:nvPr/>
        </p:nvSpPr>
        <p:spPr>
          <a:xfrm>
            <a:off x="621792" y="1993392"/>
            <a:ext cx="10945368" cy="382219"/>
          </a:xfrm>
          <a:prstGeom prst="rect">
            <a:avLst/>
          </a:prstGeom>
          <a:solidFill>
            <a:srgbClr val="F7F7F7"/>
          </a:solidFill>
          <a:ln/>
        </p:spPr>
      </p:sp>
      <p:sp>
        <p:nvSpPr>
          <p:cNvPr id="12" name="Text 10"/>
          <p:cNvSpPr txBox="1"/>
          <p:nvPr/>
        </p:nvSpPr>
        <p:spPr>
          <a:xfrm>
            <a:off x="749808" y="1993392"/>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3" name="Text 11"/>
          <p:cNvSpPr txBox="1"/>
          <p:nvPr/>
        </p:nvSpPr>
        <p:spPr>
          <a:xfrm>
            <a:off x="1097280" y="1993392"/>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LEXUS</a:t>
            </a:r>
            <a:endParaRPr lang="en-US" sz="1400" dirty="0"/>
          </a:p>
        </p:txBody>
      </p:sp>
      <p:sp>
        <p:nvSpPr>
          <p:cNvPr id="14" name="Text 12"/>
          <p:cNvSpPr txBox="1"/>
          <p:nvPr/>
        </p:nvSpPr>
        <p:spPr>
          <a:xfrm>
            <a:off x="3657600" y="1993392"/>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425 → 570</a:t>
            </a:r>
            <a:endParaRPr lang="en-US" sz="1400" dirty="0"/>
          </a:p>
        </p:txBody>
      </p:sp>
      <p:graphicFrame>
        <p:nvGraphicFramePr>
          <p:cNvPr id="15" name="Chart 0" descr=""/>
          <p:cNvGraphicFramePr/>
          <p:nvPr/>
        </p:nvGraphicFramePr>
        <p:xfrm>
          <a:off x="5276088" y="2011680"/>
          <a:ext cx="2697480" cy="345643"/>
        </p:xfrm>
        <a:graphic>
          <a:graphicData uri="http://schemas.openxmlformats.org/drawingml/2006/chart">
            <c:chart xmlns:c="http://schemas.openxmlformats.org/drawingml/2006/chart" r:id="rId2"/>
          </a:graphicData>
        </a:graphic>
      </p:graphicFrame>
      <p:sp>
        <p:nvSpPr>
          <p:cNvPr id="16" name="Text 13"/>
          <p:cNvSpPr txBox="1"/>
          <p:nvPr/>
        </p:nvSpPr>
        <p:spPr>
          <a:xfrm>
            <a:off x="8183880" y="1993392"/>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April</a:t>
            </a:r>
            <a:endParaRPr lang="en-US" sz="1400" dirty="0"/>
          </a:p>
        </p:txBody>
      </p:sp>
      <p:sp>
        <p:nvSpPr>
          <p:cNvPr id="17" name="Text 14"/>
          <p:cNvSpPr txBox="1"/>
          <p:nvPr/>
        </p:nvSpPr>
        <p:spPr>
          <a:xfrm>
            <a:off x="10195560" y="1993392"/>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+34.0%</a:t>
            </a:r>
            <a:endParaRPr lang="en-US" sz="1600" dirty="0"/>
          </a:p>
        </p:txBody>
      </p:sp>
      <p:sp>
        <p:nvSpPr>
          <p:cNvPr id="18" name="Text 15"/>
          <p:cNvSpPr txBox="1"/>
          <p:nvPr/>
        </p:nvSpPr>
        <p:spPr>
          <a:xfrm>
            <a:off x="749808" y="2375611"/>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9" name="Text 16"/>
          <p:cNvSpPr txBox="1"/>
          <p:nvPr/>
        </p:nvSpPr>
        <p:spPr>
          <a:xfrm>
            <a:off x="1097280" y="2375611"/>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CDJR POST FALLS</a:t>
            </a:r>
            <a:endParaRPr lang="en-US" sz="1400" dirty="0"/>
          </a:p>
        </p:txBody>
      </p:sp>
      <p:sp>
        <p:nvSpPr>
          <p:cNvPr id="20" name="Text 17"/>
          <p:cNvSpPr txBox="1"/>
          <p:nvPr/>
        </p:nvSpPr>
        <p:spPr>
          <a:xfrm>
            <a:off x="3657600" y="2375611"/>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543 → 667</a:t>
            </a:r>
            <a:endParaRPr lang="en-US" sz="1400" dirty="0"/>
          </a:p>
        </p:txBody>
      </p:sp>
      <p:graphicFrame>
        <p:nvGraphicFramePr>
          <p:cNvPr id="21" name="Chart 1" descr=""/>
          <p:cNvGraphicFramePr/>
          <p:nvPr/>
        </p:nvGraphicFramePr>
        <p:xfrm>
          <a:off x="5276088" y="2393899"/>
          <a:ext cx="2697480" cy="345643"/>
        </p:xfrm>
        <a:graphic>
          <a:graphicData uri="http://schemas.openxmlformats.org/drawingml/2006/chart">
            <c:chart xmlns:c="http://schemas.openxmlformats.org/drawingml/2006/chart" r:id="rId3"/>
          </a:graphicData>
        </a:graphic>
      </p:graphicFrame>
      <p:sp>
        <p:nvSpPr>
          <p:cNvPr id="22" name="Text 18"/>
          <p:cNvSpPr txBox="1"/>
          <p:nvPr/>
        </p:nvSpPr>
        <p:spPr>
          <a:xfrm>
            <a:off x="8183880" y="2375611"/>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June</a:t>
            </a:r>
            <a:endParaRPr lang="en-US" sz="1400" dirty="0"/>
          </a:p>
        </p:txBody>
      </p:sp>
      <p:sp>
        <p:nvSpPr>
          <p:cNvPr id="23" name="Text 19"/>
          <p:cNvSpPr txBox="1"/>
          <p:nvPr/>
        </p:nvSpPr>
        <p:spPr>
          <a:xfrm>
            <a:off x="10195560" y="2375611"/>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+22.8%</a:t>
            </a:r>
            <a:endParaRPr lang="en-US" sz="1600" dirty="0"/>
          </a:p>
        </p:txBody>
      </p:sp>
      <p:sp>
        <p:nvSpPr>
          <p:cNvPr id="24" name="Shape 20"/>
          <p:cNvSpPr/>
          <p:nvPr/>
        </p:nvSpPr>
        <p:spPr>
          <a:xfrm>
            <a:off x="621792" y="2757830"/>
            <a:ext cx="10945368" cy="382219"/>
          </a:xfrm>
          <a:prstGeom prst="rect">
            <a:avLst/>
          </a:prstGeom>
          <a:solidFill>
            <a:srgbClr val="F7F7F7"/>
          </a:solidFill>
          <a:ln/>
        </p:spPr>
      </p:sp>
      <p:sp>
        <p:nvSpPr>
          <p:cNvPr id="25" name="Text 21"/>
          <p:cNvSpPr txBox="1"/>
          <p:nvPr/>
        </p:nvSpPr>
        <p:spPr>
          <a:xfrm>
            <a:off x="749808" y="2757830"/>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6" name="Text 22"/>
          <p:cNvSpPr txBox="1"/>
          <p:nvPr/>
        </p:nvSpPr>
        <p:spPr>
          <a:xfrm>
            <a:off x="1097280" y="2757830"/>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LR LV</a:t>
            </a:r>
            <a:endParaRPr lang="en-US" sz="1400" dirty="0"/>
          </a:p>
        </p:txBody>
      </p:sp>
      <p:sp>
        <p:nvSpPr>
          <p:cNvPr id="27" name="Text 23"/>
          <p:cNvSpPr txBox="1"/>
          <p:nvPr/>
        </p:nvSpPr>
        <p:spPr>
          <a:xfrm>
            <a:off x="3657600" y="2757830"/>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350 → 415</a:t>
            </a:r>
            <a:endParaRPr lang="en-US" sz="1400" dirty="0"/>
          </a:p>
        </p:txBody>
      </p:sp>
      <p:graphicFrame>
        <p:nvGraphicFramePr>
          <p:cNvPr id="28" name="Chart 2" descr=""/>
          <p:cNvGraphicFramePr/>
          <p:nvPr/>
        </p:nvGraphicFramePr>
        <p:xfrm>
          <a:off x="5276088" y="2776118"/>
          <a:ext cx="2697480" cy="345643"/>
        </p:xfrm>
        <a:graphic>
          <a:graphicData uri="http://schemas.openxmlformats.org/drawingml/2006/chart">
            <c:chart xmlns:c="http://schemas.openxmlformats.org/drawingml/2006/chart" r:id="rId4"/>
          </a:graphicData>
        </a:graphic>
      </p:graphicFrame>
      <p:sp>
        <p:nvSpPr>
          <p:cNvPr id="29" name="Text 24"/>
          <p:cNvSpPr txBox="1"/>
          <p:nvPr/>
        </p:nvSpPr>
        <p:spPr>
          <a:xfrm>
            <a:off x="8183880" y="2757830"/>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June</a:t>
            </a:r>
            <a:endParaRPr lang="en-US" sz="1400" dirty="0"/>
          </a:p>
        </p:txBody>
      </p:sp>
      <p:sp>
        <p:nvSpPr>
          <p:cNvPr id="30" name="Text 25"/>
          <p:cNvSpPr txBox="1"/>
          <p:nvPr/>
        </p:nvSpPr>
        <p:spPr>
          <a:xfrm>
            <a:off x="10195560" y="2757830"/>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+18.6%</a:t>
            </a:r>
            <a:endParaRPr lang="en-US" sz="1600" dirty="0"/>
          </a:p>
        </p:txBody>
      </p:sp>
      <p:sp>
        <p:nvSpPr>
          <p:cNvPr id="31" name="Text 26"/>
          <p:cNvSpPr txBox="1"/>
          <p:nvPr/>
        </p:nvSpPr>
        <p:spPr>
          <a:xfrm>
            <a:off x="749808" y="3140050"/>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32" name="Text 27"/>
          <p:cNvSpPr txBox="1"/>
          <p:nvPr/>
        </p:nvSpPr>
        <p:spPr>
          <a:xfrm>
            <a:off x="1097280" y="3140050"/>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MAZDA</a:t>
            </a:r>
            <a:endParaRPr lang="en-US" sz="1400" dirty="0"/>
          </a:p>
        </p:txBody>
      </p:sp>
      <p:sp>
        <p:nvSpPr>
          <p:cNvPr id="33" name="Text 28"/>
          <p:cNvSpPr txBox="1"/>
          <p:nvPr/>
        </p:nvSpPr>
        <p:spPr>
          <a:xfrm>
            <a:off x="3657600" y="3140050"/>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578 → 669</a:t>
            </a:r>
            <a:endParaRPr lang="en-US" sz="1400" dirty="0"/>
          </a:p>
        </p:txBody>
      </p:sp>
      <p:graphicFrame>
        <p:nvGraphicFramePr>
          <p:cNvPr id="34" name="Chart 3" descr=""/>
          <p:cNvGraphicFramePr/>
          <p:nvPr/>
        </p:nvGraphicFramePr>
        <p:xfrm>
          <a:off x="5276088" y="3158338"/>
          <a:ext cx="2697480" cy="345643"/>
        </p:xfrm>
        <a:graphic>
          <a:graphicData uri="http://schemas.openxmlformats.org/drawingml/2006/chart">
            <c:chart xmlns:c="http://schemas.openxmlformats.org/drawingml/2006/chart" r:id="rId5"/>
          </a:graphicData>
        </a:graphic>
      </p:graphicFrame>
      <p:sp>
        <p:nvSpPr>
          <p:cNvPr id="35" name="Text 29"/>
          <p:cNvSpPr txBox="1"/>
          <p:nvPr/>
        </p:nvSpPr>
        <p:spPr>
          <a:xfrm>
            <a:off x="8183880" y="3140050"/>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April</a:t>
            </a:r>
            <a:endParaRPr lang="en-US" sz="1400" dirty="0"/>
          </a:p>
        </p:txBody>
      </p:sp>
      <p:sp>
        <p:nvSpPr>
          <p:cNvPr id="36" name="Text 30"/>
          <p:cNvSpPr txBox="1"/>
          <p:nvPr/>
        </p:nvSpPr>
        <p:spPr>
          <a:xfrm>
            <a:off x="10195560" y="3140050"/>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+15.8%</a:t>
            </a:r>
            <a:endParaRPr lang="en-US" sz="1600" dirty="0"/>
          </a:p>
        </p:txBody>
      </p:sp>
      <p:sp>
        <p:nvSpPr>
          <p:cNvPr id="37" name="Shape 31"/>
          <p:cNvSpPr/>
          <p:nvPr/>
        </p:nvSpPr>
        <p:spPr>
          <a:xfrm>
            <a:off x="621792" y="3522269"/>
            <a:ext cx="10945368" cy="382219"/>
          </a:xfrm>
          <a:prstGeom prst="rect">
            <a:avLst/>
          </a:prstGeom>
          <a:solidFill>
            <a:srgbClr val="F7F7F7"/>
          </a:solidFill>
          <a:ln/>
        </p:spPr>
      </p:sp>
      <p:sp>
        <p:nvSpPr>
          <p:cNvPr id="38" name="Text 32"/>
          <p:cNvSpPr txBox="1"/>
          <p:nvPr/>
        </p:nvSpPr>
        <p:spPr>
          <a:xfrm>
            <a:off x="749808" y="3522269"/>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39" name="Text 33"/>
          <p:cNvSpPr txBox="1"/>
          <p:nvPr/>
        </p:nvSpPr>
        <p:spPr>
          <a:xfrm>
            <a:off x="1097280" y="3522269"/>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HONDA FLAGSTAFF</a:t>
            </a:r>
            <a:endParaRPr lang="en-US" sz="1400" dirty="0"/>
          </a:p>
        </p:txBody>
      </p:sp>
      <p:sp>
        <p:nvSpPr>
          <p:cNvPr id="40" name="Text 34"/>
          <p:cNvSpPr txBox="1"/>
          <p:nvPr/>
        </p:nvSpPr>
        <p:spPr>
          <a:xfrm>
            <a:off x="3657600" y="3522269"/>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397 → 459</a:t>
            </a:r>
            <a:endParaRPr lang="en-US" sz="1400" dirty="0"/>
          </a:p>
        </p:txBody>
      </p:sp>
      <p:graphicFrame>
        <p:nvGraphicFramePr>
          <p:cNvPr id="41" name="Chart 4" descr=""/>
          <p:cNvGraphicFramePr/>
          <p:nvPr/>
        </p:nvGraphicFramePr>
        <p:xfrm>
          <a:off x="5276088" y="3540557"/>
          <a:ext cx="2697480" cy="345643"/>
        </p:xfrm>
        <a:graphic>
          <a:graphicData uri="http://schemas.openxmlformats.org/drawingml/2006/chart">
            <c:chart xmlns:c="http://schemas.openxmlformats.org/drawingml/2006/chart" r:id="rId6"/>
          </a:graphicData>
        </a:graphic>
      </p:graphicFrame>
      <p:sp>
        <p:nvSpPr>
          <p:cNvPr id="42" name="Text 35"/>
          <p:cNvSpPr txBox="1"/>
          <p:nvPr/>
        </p:nvSpPr>
        <p:spPr>
          <a:xfrm>
            <a:off x="8183880" y="3522269"/>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April</a:t>
            </a:r>
            <a:endParaRPr lang="en-US" sz="1400" dirty="0"/>
          </a:p>
        </p:txBody>
      </p:sp>
      <p:sp>
        <p:nvSpPr>
          <p:cNvPr id="43" name="Text 36"/>
          <p:cNvSpPr txBox="1"/>
          <p:nvPr/>
        </p:nvSpPr>
        <p:spPr>
          <a:xfrm>
            <a:off x="10195560" y="3522269"/>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+15.5%</a:t>
            </a:r>
            <a:endParaRPr lang="en-US" sz="1600" dirty="0"/>
          </a:p>
        </p:txBody>
      </p:sp>
      <p:sp>
        <p:nvSpPr>
          <p:cNvPr id="44" name="Text 37"/>
          <p:cNvSpPr txBox="1"/>
          <p:nvPr/>
        </p:nvSpPr>
        <p:spPr>
          <a:xfrm>
            <a:off x="749808" y="3904488"/>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6</a:t>
            </a:r>
            <a:endParaRPr lang="en-US" sz="1500" dirty="0"/>
          </a:p>
        </p:txBody>
      </p:sp>
      <p:sp>
        <p:nvSpPr>
          <p:cNvPr id="45" name="Text 38"/>
          <p:cNvSpPr txBox="1"/>
          <p:nvPr/>
        </p:nvSpPr>
        <p:spPr>
          <a:xfrm>
            <a:off x="1097280" y="3904488"/>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VW HENDERSON</a:t>
            </a:r>
            <a:endParaRPr lang="en-US" sz="1400" dirty="0"/>
          </a:p>
        </p:txBody>
      </p:sp>
      <p:sp>
        <p:nvSpPr>
          <p:cNvPr id="46" name="Text 39"/>
          <p:cNvSpPr txBox="1"/>
          <p:nvPr/>
        </p:nvSpPr>
        <p:spPr>
          <a:xfrm>
            <a:off x="3657600" y="3904488"/>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545 → 617</a:t>
            </a:r>
            <a:endParaRPr lang="en-US" sz="1400" dirty="0"/>
          </a:p>
        </p:txBody>
      </p:sp>
      <p:graphicFrame>
        <p:nvGraphicFramePr>
          <p:cNvPr id="47" name="Chart 5" descr=""/>
          <p:cNvGraphicFramePr/>
          <p:nvPr/>
        </p:nvGraphicFramePr>
        <p:xfrm>
          <a:off x="5276088" y="3922776"/>
          <a:ext cx="2697480" cy="345643"/>
        </p:xfrm>
        <a:graphic>
          <a:graphicData uri="http://schemas.openxmlformats.org/drawingml/2006/chart">
            <c:chart xmlns:c="http://schemas.openxmlformats.org/drawingml/2006/chart" r:id="rId7"/>
          </a:graphicData>
        </a:graphic>
      </p:graphicFrame>
      <p:sp>
        <p:nvSpPr>
          <p:cNvPr id="48" name="Text 40"/>
          <p:cNvSpPr txBox="1"/>
          <p:nvPr/>
        </p:nvSpPr>
        <p:spPr>
          <a:xfrm>
            <a:off x="8183880" y="3904488"/>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June</a:t>
            </a:r>
            <a:endParaRPr lang="en-US" sz="1400" dirty="0"/>
          </a:p>
        </p:txBody>
      </p:sp>
      <p:sp>
        <p:nvSpPr>
          <p:cNvPr id="49" name="Text 41"/>
          <p:cNvSpPr txBox="1"/>
          <p:nvPr/>
        </p:nvSpPr>
        <p:spPr>
          <a:xfrm>
            <a:off x="10195560" y="3904488"/>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+13.0%</a:t>
            </a:r>
            <a:endParaRPr lang="en-US" sz="1600" dirty="0"/>
          </a:p>
        </p:txBody>
      </p:sp>
      <p:sp>
        <p:nvSpPr>
          <p:cNvPr id="50" name="Shape 42"/>
          <p:cNvSpPr/>
          <p:nvPr/>
        </p:nvSpPr>
        <p:spPr>
          <a:xfrm>
            <a:off x="621792" y="4286707"/>
            <a:ext cx="10945368" cy="382219"/>
          </a:xfrm>
          <a:prstGeom prst="rect">
            <a:avLst/>
          </a:prstGeom>
          <a:solidFill>
            <a:srgbClr val="F7F7F7"/>
          </a:solidFill>
          <a:ln/>
        </p:spPr>
      </p:sp>
      <p:sp>
        <p:nvSpPr>
          <p:cNvPr id="51" name="Text 43"/>
          <p:cNvSpPr txBox="1"/>
          <p:nvPr/>
        </p:nvSpPr>
        <p:spPr>
          <a:xfrm>
            <a:off x="749808" y="4286707"/>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7</a:t>
            </a:r>
            <a:endParaRPr lang="en-US" sz="1500" dirty="0"/>
          </a:p>
        </p:txBody>
      </p:sp>
      <p:sp>
        <p:nvSpPr>
          <p:cNvPr id="52" name="Text 44"/>
          <p:cNvSpPr txBox="1"/>
          <p:nvPr/>
        </p:nvSpPr>
        <p:spPr>
          <a:xfrm>
            <a:off x="1097280" y="4286707"/>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HONDA NORTH</a:t>
            </a:r>
            <a:endParaRPr lang="en-US" sz="1400" dirty="0"/>
          </a:p>
        </p:txBody>
      </p:sp>
      <p:sp>
        <p:nvSpPr>
          <p:cNvPr id="53" name="Text 45"/>
          <p:cNvSpPr txBox="1"/>
          <p:nvPr/>
        </p:nvSpPr>
        <p:spPr>
          <a:xfrm>
            <a:off x="3657600" y="4286707"/>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1,561 → 1,759</a:t>
            </a:r>
            <a:endParaRPr lang="en-US" sz="1400" dirty="0"/>
          </a:p>
        </p:txBody>
      </p:sp>
      <p:graphicFrame>
        <p:nvGraphicFramePr>
          <p:cNvPr id="54" name="Chart 6" descr=""/>
          <p:cNvGraphicFramePr/>
          <p:nvPr/>
        </p:nvGraphicFramePr>
        <p:xfrm>
          <a:off x="5276088" y="4304995"/>
          <a:ext cx="2697480" cy="345643"/>
        </p:xfrm>
        <a:graphic>
          <a:graphicData uri="http://schemas.openxmlformats.org/drawingml/2006/chart">
            <c:chart xmlns:c="http://schemas.openxmlformats.org/drawingml/2006/chart" r:id="rId8"/>
          </a:graphicData>
        </a:graphic>
      </p:graphicFrame>
      <p:sp>
        <p:nvSpPr>
          <p:cNvPr id="55" name="Text 46"/>
          <p:cNvSpPr txBox="1"/>
          <p:nvPr/>
        </p:nvSpPr>
        <p:spPr>
          <a:xfrm>
            <a:off x="8183880" y="4286707"/>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May</a:t>
            </a:r>
            <a:endParaRPr lang="en-US" sz="1400" dirty="0"/>
          </a:p>
        </p:txBody>
      </p:sp>
      <p:sp>
        <p:nvSpPr>
          <p:cNvPr id="56" name="Text 47"/>
          <p:cNvSpPr txBox="1"/>
          <p:nvPr/>
        </p:nvSpPr>
        <p:spPr>
          <a:xfrm>
            <a:off x="10195560" y="4286707"/>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+12.6%</a:t>
            </a:r>
            <a:endParaRPr lang="en-US" sz="1600" dirty="0"/>
          </a:p>
        </p:txBody>
      </p:sp>
      <p:sp>
        <p:nvSpPr>
          <p:cNvPr id="57" name="Text 48"/>
          <p:cNvSpPr txBox="1"/>
          <p:nvPr/>
        </p:nvSpPr>
        <p:spPr>
          <a:xfrm>
            <a:off x="749808" y="4668926"/>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8</a:t>
            </a:r>
            <a:endParaRPr lang="en-US" sz="1500" dirty="0"/>
          </a:p>
        </p:txBody>
      </p:sp>
      <p:sp>
        <p:nvSpPr>
          <p:cNvPr id="58" name="Text 49"/>
          <p:cNvSpPr txBox="1"/>
          <p:nvPr/>
        </p:nvSpPr>
        <p:spPr>
          <a:xfrm>
            <a:off x="1097280" y="4668926"/>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GMC PRESCOTT</a:t>
            </a:r>
            <a:endParaRPr lang="en-US" sz="1400" dirty="0"/>
          </a:p>
        </p:txBody>
      </p:sp>
      <p:sp>
        <p:nvSpPr>
          <p:cNvPr id="59" name="Text 50"/>
          <p:cNvSpPr txBox="1"/>
          <p:nvPr/>
        </p:nvSpPr>
        <p:spPr>
          <a:xfrm>
            <a:off x="3657600" y="4668926"/>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330 → 370</a:t>
            </a:r>
            <a:endParaRPr lang="en-US" sz="1400" dirty="0"/>
          </a:p>
        </p:txBody>
      </p:sp>
      <p:graphicFrame>
        <p:nvGraphicFramePr>
          <p:cNvPr id="60" name="Chart 7" descr=""/>
          <p:cNvGraphicFramePr/>
          <p:nvPr/>
        </p:nvGraphicFramePr>
        <p:xfrm>
          <a:off x="5276088" y="4687214"/>
          <a:ext cx="2697480" cy="345643"/>
        </p:xfrm>
        <a:graphic>
          <a:graphicData uri="http://schemas.openxmlformats.org/drawingml/2006/chart">
            <c:chart xmlns:c="http://schemas.openxmlformats.org/drawingml/2006/chart" r:id="rId9"/>
          </a:graphicData>
        </a:graphic>
      </p:graphicFrame>
      <p:sp>
        <p:nvSpPr>
          <p:cNvPr id="61" name="Text 51"/>
          <p:cNvSpPr txBox="1"/>
          <p:nvPr/>
        </p:nvSpPr>
        <p:spPr>
          <a:xfrm>
            <a:off x="8183880" y="4668926"/>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June</a:t>
            </a:r>
            <a:endParaRPr lang="en-US" sz="1400" dirty="0"/>
          </a:p>
        </p:txBody>
      </p:sp>
      <p:sp>
        <p:nvSpPr>
          <p:cNvPr id="62" name="Text 52"/>
          <p:cNvSpPr txBox="1"/>
          <p:nvPr/>
        </p:nvSpPr>
        <p:spPr>
          <a:xfrm>
            <a:off x="10195560" y="4668926"/>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+11.9%</a:t>
            </a:r>
            <a:endParaRPr lang="en-US" sz="1600" dirty="0"/>
          </a:p>
        </p:txBody>
      </p:sp>
      <p:sp>
        <p:nvSpPr>
          <p:cNvPr id="63" name="Shape 53"/>
          <p:cNvSpPr/>
          <p:nvPr/>
        </p:nvSpPr>
        <p:spPr>
          <a:xfrm>
            <a:off x="621792" y="5051146"/>
            <a:ext cx="10945368" cy="382219"/>
          </a:xfrm>
          <a:prstGeom prst="rect">
            <a:avLst/>
          </a:prstGeom>
          <a:solidFill>
            <a:srgbClr val="F7F7F7"/>
          </a:solidFill>
          <a:ln/>
        </p:spPr>
      </p:sp>
      <p:sp>
        <p:nvSpPr>
          <p:cNvPr id="64" name="Text 54"/>
          <p:cNvSpPr txBox="1"/>
          <p:nvPr/>
        </p:nvSpPr>
        <p:spPr>
          <a:xfrm>
            <a:off x="749808" y="5051146"/>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9</a:t>
            </a:r>
            <a:endParaRPr lang="en-US" sz="1500" dirty="0"/>
          </a:p>
        </p:txBody>
      </p:sp>
      <p:sp>
        <p:nvSpPr>
          <p:cNvPr id="65" name="Text 55"/>
          <p:cNvSpPr txBox="1"/>
          <p:nvPr/>
        </p:nvSpPr>
        <p:spPr>
          <a:xfrm>
            <a:off x="1097280" y="5051146"/>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TOYOTA SPOKANE</a:t>
            </a:r>
            <a:endParaRPr lang="en-US" sz="1400" dirty="0"/>
          </a:p>
        </p:txBody>
      </p:sp>
      <p:sp>
        <p:nvSpPr>
          <p:cNvPr id="66" name="Text 56"/>
          <p:cNvSpPr txBox="1"/>
          <p:nvPr/>
        </p:nvSpPr>
        <p:spPr>
          <a:xfrm>
            <a:off x="3657600" y="5051146"/>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1,788 → 1,992</a:t>
            </a:r>
            <a:endParaRPr lang="en-US" sz="1400" dirty="0"/>
          </a:p>
        </p:txBody>
      </p:sp>
      <p:graphicFrame>
        <p:nvGraphicFramePr>
          <p:cNvPr id="67" name="Chart 8" descr=""/>
          <p:cNvGraphicFramePr/>
          <p:nvPr/>
        </p:nvGraphicFramePr>
        <p:xfrm>
          <a:off x="5276088" y="5069434"/>
          <a:ext cx="2697480" cy="345643"/>
        </p:xfrm>
        <a:graphic>
          <a:graphicData uri="http://schemas.openxmlformats.org/drawingml/2006/chart">
            <c:chart xmlns:c="http://schemas.openxmlformats.org/drawingml/2006/chart" r:id="rId10"/>
          </a:graphicData>
        </a:graphic>
      </p:graphicFrame>
      <p:sp>
        <p:nvSpPr>
          <p:cNvPr id="68" name="Text 57"/>
          <p:cNvSpPr txBox="1"/>
          <p:nvPr/>
        </p:nvSpPr>
        <p:spPr>
          <a:xfrm>
            <a:off x="8183880" y="5051146"/>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April</a:t>
            </a:r>
            <a:endParaRPr lang="en-US" sz="1400" dirty="0"/>
          </a:p>
        </p:txBody>
      </p:sp>
      <p:sp>
        <p:nvSpPr>
          <p:cNvPr id="69" name="Text 58"/>
          <p:cNvSpPr txBox="1"/>
          <p:nvPr/>
        </p:nvSpPr>
        <p:spPr>
          <a:xfrm>
            <a:off x="10195560" y="5051146"/>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+11.3%</a:t>
            </a:r>
            <a:endParaRPr lang="en-US" sz="1600" dirty="0"/>
          </a:p>
        </p:txBody>
      </p:sp>
      <p:sp>
        <p:nvSpPr>
          <p:cNvPr id="70" name="Text 59"/>
          <p:cNvSpPr txBox="1"/>
          <p:nvPr/>
        </p:nvSpPr>
        <p:spPr>
          <a:xfrm>
            <a:off x="749808" y="5433365"/>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10</a:t>
            </a:r>
            <a:endParaRPr lang="en-US" sz="1500" dirty="0"/>
          </a:p>
        </p:txBody>
      </p:sp>
      <p:sp>
        <p:nvSpPr>
          <p:cNvPr id="71" name="Text 60"/>
          <p:cNvSpPr txBox="1"/>
          <p:nvPr/>
        </p:nvSpPr>
        <p:spPr>
          <a:xfrm>
            <a:off x="1097280" y="5433365"/>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SUBARU ST GEORGE</a:t>
            </a:r>
            <a:endParaRPr lang="en-US" sz="1400" dirty="0"/>
          </a:p>
        </p:txBody>
      </p:sp>
      <p:sp>
        <p:nvSpPr>
          <p:cNvPr id="72" name="Text 61"/>
          <p:cNvSpPr txBox="1"/>
          <p:nvPr/>
        </p:nvSpPr>
        <p:spPr>
          <a:xfrm>
            <a:off x="3657600" y="5433365"/>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582 → 641</a:t>
            </a:r>
            <a:endParaRPr lang="en-US" sz="1400" dirty="0"/>
          </a:p>
        </p:txBody>
      </p:sp>
      <p:graphicFrame>
        <p:nvGraphicFramePr>
          <p:cNvPr id="73" name="Chart 9" descr=""/>
          <p:cNvGraphicFramePr/>
          <p:nvPr/>
        </p:nvGraphicFramePr>
        <p:xfrm>
          <a:off x="5276088" y="5451653"/>
          <a:ext cx="2697480" cy="345643"/>
        </p:xfrm>
        <a:graphic>
          <a:graphicData uri="http://schemas.openxmlformats.org/drawingml/2006/chart">
            <c:chart xmlns:c="http://schemas.openxmlformats.org/drawingml/2006/chart" r:id="rId11"/>
          </a:graphicData>
        </a:graphic>
      </p:graphicFrame>
      <p:sp>
        <p:nvSpPr>
          <p:cNvPr id="74" name="Text 62"/>
          <p:cNvSpPr txBox="1"/>
          <p:nvPr/>
        </p:nvSpPr>
        <p:spPr>
          <a:xfrm>
            <a:off x="8183880" y="5433365"/>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April</a:t>
            </a:r>
            <a:endParaRPr lang="en-US" sz="1400" dirty="0"/>
          </a:p>
        </p:txBody>
      </p:sp>
      <p:sp>
        <p:nvSpPr>
          <p:cNvPr id="75" name="Text 63"/>
          <p:cNvSpPr txBox="1"/>
          <p:nvPr/>
        </p:nvSpPr>
        <p:spPr>
          <a:xfrm>
            <a:off x="10195560" y="5433365"/>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+10.1%</a:t>
            </a:r>
            <a:endParaRPr lang="en-US" sz="1600" dirty="0"/>
          </a:p>
        </p:txBody>
      </p:sp>
      <p:sp>
        <p:nvSpPr>
          <p:cNvPr id="76" name="Shape 64"/>
          <p:cNvSpPr/>
          <p:nvPr/>
        </p:nvSpPr>
        <p:spPr>
          <a:xfrm>
            <a:off x="457200" y="5961888"/>
            <a:ext cx="11274552" cy="548640"/>
          </a:xfrm>
          <a:prstGeom prst="rect">
            <a:avLst/>
          </a:prstGeom>
          <a:solidFill>
            <a:srgbClr val="E6F6EE"/>
          </a:solidFill>
          <a:ln/>
        </p:spPr>
      </p:sp>
      <p:sp>
        <p:nvSpPr>
          <p:cNvPr id="77" name="Text 65"/>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LEXUS went 425 to 570, stepping up in April. Ask what changed that month.</a:t>
            </a:r>
            <a:endParaRPr lang="en-US" sz="1600" dirty="0"/>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One More CP RO a Day</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3456432" y="1316736"/>
            <a:ext cx="896112"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Gross/yr</a:t>
            </a:r>
            <a:endParaRPr lang="en-US" sz="1400" dirty="0"/>
          </a:p>
        </p:txBody>
      </p:sp>
      <p:sp>
        <p:nvSpPr>
          <p:cNvPr id="7" name="Text 5"/>
          <p:cNvSpPr txBox="1"/>
          <p:nvPr/>
        </p:nvSpPr>
        <p:spPr>
          <a:xfrm>
            <a:off x="4352544" y="1316736"/>
            <a:ext cx="786384"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ROs/day</a:t>
            </a:r>
            <a:endParaRPr lang="en-US" sz="1400" dirty="0"/>
          </a:p>
        </p:txBody>
      </p:sp>
      <p:sp>
        <p:nvSpPr>
          <p:cNvPr id="8" name="Text 6"/>
          <p:cNvSpPr txBox="1"/>
          <p:nvPr/>
        </p:nvSpPr>
        <p:spPr>
          <a:xfrm>
            <a:off x="5138928" y="1316736"/>
            <a:ext cx="73152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Per RO</a:t>
            </a:r>
            <a:endParaRPr lang="en-US" sz="1400" dirty="0"/>
          </a:p>
        </p:txBody>
      </p:sp>
      <p:sp>
        <p:nvSpPr>
          <p:cNvPr id="9" name="Text 7"/>
          <p:cNvSpPr txBox="1"/>
          <p:nvPr/>
        </p:nvSpPr>
        <p:spPr>
          <a:xfrm>
            <a:off x="9006840" y="1316736"/>
            <a:ext cx="896112"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Gross/yr</a:t>
            </a:r>
            <a:endParaRPr lang="en-US" sz="1400" dirty="0"/>
          </a:p>
        </p:txBody>
      </p:sp>
      <p:sp>
        <p:nvSpPr>
          <p:cNvPr id="10" name="Text 8"/>
          <p:cNvSpPr txBox="1"/>
          <p:nvPr/>
        </p:nvSpPr>
        <p:spPr>
          <a:xfrm>
            <a:off x="9902952" y="1316736"/>
            <a:ext cx="786384"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ROs/day</a:t>
            </a:r>
            <a:endParaRPr lang="en-US" sz="1400" dirty="0"/>
          </a:p>
        </p:txBody>
      </p:sp>
      <p:sp>
        <p:nvSpPr>
          <p:cNvPr id="11" name="Text 9"/>
          <p:cNvSpPr txBox="1"/>
          <p:nvPr/>
        </p:nvSpPr>
        <p:spPr>
          <a:xfrm>
            <a:off x="10689336" y="1316736"/>
            <a:ext cx="73152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Per RO</a:t>
            </a:r>
            <a:endParaRPr lang="en-US" sz="1400" dirty="0"/>
          </a:p>
        </p:txBody>
      </p:sp>
      <p:sp>
        <p:nvSpPr>
          <p:cNvPr id="12" name="Text 10"/>
          <p:cNvSpPr txBox="1"/>
          <p:nvPr/>
        </p:nvSpPr>
        <p:spPr>
          <a:xfrm>
            <a:off x="658368" y="1700784"/>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13" name="Shape 11"/>
          <p:cNvSpPr/>
          <p:nvPr/>
        </p:nvSpPr>
        <p:spPr>
          <a:xfrm>
            <a:off x="2670048" y="1754034"/>
            <a:ext cx="731520" cy="130168"/>
          </a:xfrm>
          <a:prstGeom prst="rect">
            <a:avLst/>
          </a:prstGeom>
          <a:solidFill>
            <a:srgbClr val="2587C5"/>
          </a:solidFill>
          <a:ln/>
        </p:spPr>
      </p:sp>
      <p:sp>
        <p:nvSpPr>
          <p:cNvPr id="14" name="Text 12"/>
          <p:cNvSpPr txBox="1"/>
          <p:nvPr/>
        </p:nvSpPr>
        <p:spPr>
          <a:xfrm>
            <a:off x="3456432" y="1700784"/>
            <a:ext cx="896112"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$358,484</a:t>
            </a:r>
            <a:endParaRPr lang="en-US" sz="1300" dirty="0"/>
          </a:p>
        </p:txBody>
      </p:sp>
      <p:sp>
        <p:nvSpPr>
          <p:cNvPr id="15" name="Text 13"/>
          <p:cNvSpPr txBox="1"/>
          <p:nvPr/>
        </p:nvSpPr>
        <p:spPr>
          <a:xfrm>
            <a:off x="4352544" y="1700784"/>
            <a:ext cx="786384"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a:t>
            </a:r>
            <a:endParaRPr lang="en-US" sz="1300" dirty="0"/>
          </a:p>
        </p:txBody>
      </p:sp>
      <p:sp>
        <p:nvSpPr>
          <p:cNvPr id="16" name="Text 14"/>
          <p:cNvSpPr txBox="1"/>
          <p:nvPr/>
        </p:nvSpPr>
        <p:spPr>
          <a:xfrm>
            <a:off x="5138928" y="1700784"/>
            <a:ext cx="73152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$1,168</a:t>
            </a:r>
            <a:endParaRPr lang="en-US" sz="1300" dirty="0"/>
          </a:p>
        </p:txBody>
      </p:sp>
      <p:sp>
        <p:nvSpPr>
          <p:cNvPr id="17" name="Text 15"/>
          <p:cNvSpPr txBox="1"/>
          <p:nvPr/>
        </p:nvSpPr>
        <p:spPr>
          <a:xfrm>
            <a:off x="658368" y="1937452"/>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18" name="Shape 16"/>
          <p:cNvSpPr/>
          <p:nvPr/>
        </p:nvSpPr>
        <p:spPr>
          <a:xfrm>
            <a:off x="2670048" y="1990703"/>
            <a:ext cx="715403" cy="130168"/>
          </a:xfrm>
          <a:prstGeom prst="rect">
            <a:avLst/>
          </a:prstGeom>
          <a:solidFill>
            <a:srgbClr val="2587C5"/>
          </a:solidFill>
          <a:ln/>
        </p:spPr>
      </p:sp>
      <p:sp>
        <p:nvSpPr>
          <p:cNvPr id="19" name="Text 17"/>
          <p:cNvSpPr txBox="1"/>
          <p:nvPr/>
        </p:nvSpPr>
        <p:spPr>
          <a:xfrm>
            <a:off x="3456432" y="1937452"/>
            <a:ext cx="896112"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$350,585</a:t>
            </a:r>
            <a:endParaRPr lang="en-US" sz="1300" dirty="0"/>
          </a:p>
        </p:txBody>
      </p:sp>
      <p:sp>
        <p:nvSpPr>
          <p:cNvPr id="20" name="Text 18"/>
          <p:cNvSpPr txBox="1"/>
          <p:nvPr/>
        </p:nvSpPr>
        <p:spPr>
          <a:xfrm>
            <a:off x="4352544" y="1937452"/>
            <a:ext cx="786384"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a:t>
            </a:r>
            <a:endParaRPr lang="en-US" sz="1300" dirty="0"/>
          </a:p>
        </p:txBody>
      </p:sp>
      <p:sp>
        <p:nvSpPr>
          <p:cNvPr id="21" name="Text 19"/>
          <p:cNvSpPr txBox="1"/>
          <p:nvPr/>
        </p:nvSpPr>
        <p:spPr>
          <a:xfrm>
            <a:off x="5138928" y="1937452"/>
            <a:ext cx="73152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$1,142</a:t>
            </a:r>
            <a:endParaRPr lang="en-US" sz="1300" dirty="0"/>
          </a:p>
        </p:txBody>
      </p:sp>
      <p:sp>
        <p:nvSpPr>
          <p:cNvPr id="22" name="Text 20"/>
          <p:cNvSpPr txBox="1"/>
          <p:nvPr/>
        </p:nvSpPr>
        <p:spPr>
          <a:xfrm>
            <a:off x="658368" y="2174120"/>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23" name="Shape 21"/>
          <p:cNvSpPr/>
          <p:nvPr/>
        </p:nvSpPr>
        <p:spPr>
          <a:xfrm>
            <a:off x="2670048" y="2227371"/>
            <a:ext cx="659351" cy="130168"/>
          </a:xfrm>
          <a:prstGeom prst="rect">
            <a:avLst/>
          </a:prstGeom>
          <a:solidFill>
            <a:srgbClr val="2587C5"/>
          </a:solidFill>
          <a:ln/>
        </p:spPr>
      </p:sp>
      <p:sp>
        <p:nvSpPr>
          <p:cNvPr id="24" name="Text 22"/>
          <p:cNvSpPr txBox="1"/>
          <p:nvPr/>
        </p:nvSpPr>
        <p:spPr>
          <a:xfrm>
            <a:off x="3456432" y="2174120"/>
            <a:ext cx="896112"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$323,117</a:t>
            </a:r>
            <a:endParaRPr lang="en-US" sz="1300" dirty="0"/>
          </a:p>
        </p:txBody>
      </p:sp>
      <p:sp>
        <p:nvSpPr>
          <p:cNvPr id="25" name="Text 23"/>
          <p:cNvSpPr txBox="1"/>
          <p:nvPr/>
        </p:nvSpPr>
        <p:spPr>
          <a:xfrm>
            <a:off x="4352544" y="2174120"/>
            <a:ext cx="786384"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a:t>
            </a:r>
            <a:endParaRPr lang="en-US" sz="1300" dirty="0"/>
          </a:p>
        </p:txBody>
      </p:sp>
      <p:sp>
        <p:nvSpPr>
          <p:cNvPr id="26" name="Text 24"/>
          <p:cNvSpPr txBox="1"/>
          <p:nvPr/>
        </p:nvSpPr>
        <p:spPr>
          <a:xfrm>
            <a:off x="5138928" y="2174120"/>
            <a:ext cx="73152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$1,052</a:t>
            </a:r>
            <a:endParaRPr lang="en-US" sz="1300" dirty="0"/>
          </a:p>
        </p:txBody>
      </p:sp>
      <p:sp>
        <p:nvSpPr>
          <p:cNvPr id="27" name="Text 25"/>
          <p:cNvSpPr txBox="1"/>
          <p:nvPr/>
        </p:nvSpPr>
        <p:spPr>
          <a:xfrm>
            <a:off x="658368" y="2410789"/>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28" name="Shape 26"/>
          <p:cNvSpPr/>
          <p:nvPr/>
        </p:nvSpPr>
        <p:spPr>
          <a:xfrm>
            <a:off x="2670048" y="2464039"/>
            <a:ext cx="645107" cy="130168"/>
          </a:xfrm>
          <a:prstGeom prst="rect">
            <a:avLst/>
          </a:prstGeom>
          <a:solidFill>
            <a:srgbClr val="2587C5"/>
          </a:solidFill>
          <a:ln/>
        </p:spPr>
      </p:sp>
      <p:sp>
        <p:nvSpPr>
          <p:cNvPr id="29" name="Text 27"/>
          <p:cNvSpPr txBox="1"/>
          <p:nvPr/>
        </p:nvSpPr>
        <p:spPr>
          <a:xfrm>
            <a:off x="3456432" y="2410789"/>
            <a:ext cx="896112"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$316,136</a:t>
            </a:r>
            <a:endParaRPr lang="en-US" sz="1300" dirty="0"/>
          </a:p>
        </p:txBody>
      </p:sp>
      <p:sp>
        <p:nvSpPr>
          <p:cNvPr id="30" name="Text 28"/>
          <p:cNvSpPr txBox="1"/>
          <p:nvPr/>
        </p:nvSpPr>
        <p:spPr>
          <a:xfrm>
            <a:off x="4352544" y="2410789"/>
            <a:ext cx="786384"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a:t>
            </a:r>
            <a:endParaRPr lang="en-US" sz="1300" dirty="0"/>
          </a:p>
        </p:txBody>
      </p:sp>
      <p:sp>
        <p:nvSpPr>
          <p:cNvPr id="31" name="Text 29"/>
          <p:cNvSpPr txBox="1"/>
          <p:nvPr/>
        </p:nvSpPr>
        <p:spPr>
          <a:xfrm>
            <a:off x="5138928" y="2410789"/>
            <a:ext cx="73152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$1,030</a:t>
            </a:r>
            <a:endParaRPr lang="en-US" sz="1300" dirty="0"/>
          </a:p>
        </p:txBody>
      </p:sp>
      <p:sp>
        <p:nvSpPr>
          <p:cNvPr id="32" name="Text 30"/>
          <p:cNvSpPr txBox="1"/>
          <p:nvPr/>
        </p:nvSpPr>
        <p:spPr>
          <a:xfrm>
            <a:off x="658368" y="2647457"/>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33" name="Shape 31"/>
          <p:cNvSpPr/>
          <p:nvPr/>
        </p:nvSpPr>
        <p:spPr>
          <a:xfrm>
            <a:off x="2670048" y="2700707"/>
            <a:ext cx="463821" cy="130168"/>
          </a:xfrm>
          <a:prstGeom prst="rect">
            <a:avLst/>
          </a:prstGeom>
          <a:solidFill>
            <a:srgbClr val="2587C5"/>
          </a:solidFill>
          <a:ln/>
        </p:spPr>
      </p:sp>
      <p:sp>
        <p:nvSpPr>
          <p:cNvPr id="34" name="Text 32"/>
          <p:cNvSpPr txBox="1"/>
          <p:nvPr/>
        </p:nvSpPr>
        <p:spPr>
          <a:xfrm>
            <a:off x="3456432" y="2647457"/>
            <a:ext cx="896112"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$227,297</a:t>
            </a:r>
            <a:endParaRPr lang="en-US" sz="1300" dirty="0"/>
          </a:p>
        </p:txBody>
      </p:sp>
      <p:sp>
        <p:nvSpPr>
          <p:cNvPr id="35" name="Text 33"/>
          <p:cNvSpPr txBox="1"/>
          <p:nvPr/>
        </p:nvSpPr>
        <p:spPr>
          <a:xfrm>
            <a:off x="4352544" y="2647457"/>
            <a:ext cx="786384"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17</a:t>
            </a:r>
            <a:endParaRPr lang="en-US" sz="1300" dirty="0"/>
          </a:p>
        </p:txBody>
      </p:sp>
      <p:sp>
        <p:nvSpPr>
          <p:cNvPr id="36" name="Text 34"/>
          <p:cNvSpPr txBox="1"/>
          <p:nvPr/>
        </p:nvSpPr>
        <p:spPr>
          <a:xfrm>
            <a:off x="5138928" y="2647457"/>
            <a:ext cx="73152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$740</a:t>
            </a:r>
            <a:endParaRPr lang="en-US" sz="1300" dirty="0"/>
          </a:p>
        </p:txBody>
      </p:sp>
      <p:sp>
        <p:nvSpPr>
          <p:cNvPr id="37" name="Text 35"/>
          <p:cNvSpPr txBox="1"/>
          <p:nvPr/>
        </p:nvSpPr>
        <p:spPr>
          <a:xfrm>
            <a:off x="658368" y="2884125"/>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38" name="Shape 36"/>
          <p:cNvSpPr/>
          <p:nvPr/>
        </p:nvSpPr>
        <p:spPr>
          <a:xfrm>
            <a:off x="2670048" y="2937376"/>
            <a:ext cx="414980" cy="130168"/>
          </a:xfrm>
          <a:prstGeom prst="rect">
            <a:avLst/>
          </a:prstGeom>
          <a:solidFill>
            <a:srgbClr val="2587C5"/>
          </a:solidFill>
          <a:ln/>
        </p:spPr>
      </p:sp>
      <p:sp>
        <p:nvSpPr>
          <p:cNvPr id="39" name="Text 37"/>
          <p:cNvSpPr txBox="1"/>
          <p:nvPr/>
        </p:nvSpPr>
        <p:spPr>
          <a:xfrm>
            <a:off x="3456432" y="2884125"/>
            <a:ext cx="896112"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$203,362</a:t>
            </a:r>
            <a:endParaRPr lang="en-US" sz="1300" dirty="0"/>
          </a:p>
        </p:txBody>
      </p:sp>
      <p:sp>
        <p:nvSpPr>
          <p:cNvPr id="40" name="Text 38"/>
          <p:cNvSpPr txBox="1"/>
          <p:nvPr/>
        </p:nvSpPr>
        <p:spPr>
          <a:xfrm>
            <a:off x="4352544" y="2884125"/>
            <a:ext cx="786384"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a:t>
            </a:r>
            <a:endParaRPr lang="en-US" sz="1300" dirty="0"/>
          </a:p>
        </p:txBody>
      </p:sp>
      <p:sp>
        <p:nvSpPr>
          <p:cNvPr id="41" name="Text 39"/>
          <p:cNvSpPr txBox="1"/>
          <p:nvPr/>
        </p:nvSpPr>
        <p:spPr>
          <a:xfrm>
            <a:off x="5138928" y="2884125"/>
            <a:ext cx="73152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$662</a:t>
            </a:r>
            <a:endParaRPr lang="en-US" sz="1300" dirty="0"/>
          </a:p>
        </p:txBody>
      </p:sp>
      <p:sp>
        <p:nvSpPr>
          <p:cNvPr id="42" name="Text 40"/>
          <p:cNvSpPr txBox="1"/>
          <p:nvPr/>
        </p:nvSpPr>
        <p:spPr>
          <a:xfrm>
            <a:off x="658368" y="3120793"/>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43" name="Shape 41"/>
          <p:cNvSpPr/>
          <p:nvPr/>
        </p:nvSpPr>
        <p:spPr>
          <a:xfrm>
            <a:off x="2670048" y="3174044"/>
            <a:ext cx="318618" cy="130168"/>
          </a:xfrm>
          <a:prstGeom prst="rect">
            <a:avLst/>
          </a:prstGeom>
          <a:solidFill>
            <a:srgbClr val="2587C5"/>
          </a:solidFill>
          <a:ln/>
        </p:spPr>
      </p:sp>
      <p:sp>
        <p:nvSpPr>
          <p:cNvPr id="44" name="Text 42"/>
          <p:cNvSpPr txBox="1"/>
          <p:nvPr/>
        </p:nvSpPr>
        <p:spPr>
          <a:xfrm>
            <a:off x="3456432" y="3120793"/>
            <a:ext cx="896112"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$156,140</a:t>
            </a:r>
            <a:endParaRPr lang="en-US" sz="1300" dirty="0"/>
          </a:p>
        </p:txBody>
      </p:sp>
      <p:sp>
        <p:nvSpPr>
          <p:cNvPr id="45" name="Text 43"/>
          <p:cNvSpPr txBox="1"/>
          <p:nvPr/>
        </p:nvSpPr>
        <p:spPr>
          <a:xfrm>
            <a:off x="4352544" y="3120793"/>
            <a:ext cx="786384"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a:t>
            </a:r>
            <a:endParaRPr lang="en-US" sz="1300" dirty="0"/>
          </a:p>
        </p:txBody>
      </p:sp>
      <p:sp>
        <p:nvSpPr>
          <p:cNvPr id="46" name="Text 44"/>
          <p:cNvSpPr txBox="1"/>
          <p:nvPr/>
        </p:nvSpPr>
        <p:spPr>
          <a:xfrm>
            <a:off x="5138928" y="3120793"/>
            <a:ext cx="73152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$509</a:t>
            </a:r>
            <a:endParaRPr lang="en-US" sz="1300" dirty="0"/>
          </a:p>
        </p:txBody>
      </p:sp>
      <p:sp>
        <p:nvSpPr>
          <p:cNvPr id="47" name="Text 45"/>
          <p:cNvSpPr txBox="1"/>
          <p:nvPr/>
        </p:nvSpPr>
        <p:spPr>
          <a:xfrm>
            <a:off x="658368" y="3357462"/>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48" name="Shape 46"/>
          <p:cNvSpPr/>
          <p:nvPr/>
        </p:nvSpPr>
        <p:spPr>
          <a:xfrm>
            <a:off x="2670048" y="3410712"/>
            <a:ext cx="301001" cy="130168"/>
          </a:xfrm>
          <a:prstGeom prst="rect">
            <a:avLst/>
          </a:prstGeom>
          <a:solidFill>
            <a:srgbClr val="2587C5"/>
          </a:solidFill>
          <a:ln/>
        </p:spPr>
      </p:sp>
      <p:sp>
        <p:nvSpPr>
          <p:cNvPr id="49" name="Text 47"/>
          <p:cNvSpPr txBox="1"/>
          <p:nvPr/>
        </p:nvSpPr>
        <p:spPr>
          <a:xfrm>
            <a:off x="3456432" y="3357462"/>
            <a:ext cx="896112"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$147,507</a:t>
            </a:r>
            <a:endParaRPr lang="en-US" sz="1300" dirty="0"/>
          </a:p>
        </p:txBody>
      </p:sp>
      <p:sp>
        <p:nvSpPr>
          <p:cNvPr id="50" name="Text 48"/>
          <p:cNvSpPr txBox="1"/>
          <p:nvPr/>
        </p:nvSpPr>
        <p:spPr>
          <a:xfrm>
            <a:off x="4352544" y="3357462"/>
            <a:ext cx="786384"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a:t>
            </a:r>
            <a:endParaRPr lang="en-US" sz="1300" dirty="0"/>
          </a:p>
        </p:txBody>
      </p:sp>
      <p:sp>
        <p:nvSpPr>
          <p:cNvPr id="51" name="Text 49"/>
          <p:cNvSpPr txBox="1"/>
          <p:nvPr/>
        </p:nvSpPr>
        <p:spPr>
          <a:xfrm>
            <a:off x="5138928" y="3357462"/>
            <a:ext cx="73152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$480</a:t>
            </a:r>
            <a:endParaRPr lang="en-US" sz="1300" dirty="0"/>
          </a:p>
        </p:txBody>
      </p:sp>
      <p:sp>
        <p:nvSpPr>
          <p:cNvPr id="52" name="Text 50"/>
          <p:cNvSpPr txBox="1"/>
          <p:nvPr/>
        </p:nvSpPr>
        <p:spPr>
          <a:xfrm>
            <a:off x="658368" y="3594130"/>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53" name="Shape 51"/>
          <p:cNvSpPr/>
          <p:nvPr/>
        </p:nvSpPr>
        <p:spPr>
          <a:xfrm>
            <a:off x="2670048" y="3647380"/>
            <a:ext cx="288095" cy="130168"/>
          </a:xfrm>
          <a:prstGeom prst="rect">
            <a:avLst/>
          </a:prstGeom>
          <a:solidFill>
            <a:srgbClr val="2587C5"/>
          </a:solidFill>
          <a:ln/>
        </p:spPr>
      </p:sp>
      <p:sp>
        <p:nvSpPr>
          <p:cNvPr id="54" name="Text 52"/>
          <p:cNvSpPr txBox="1"/>
          <p:nvPr/>
        </p:nvSpPr>
        <p:spPr>
          <a:xfrm>
            <a:off x="3456432" y="3594130"/>
            <a:ext cx="896112"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$141,182</a:t>
            </a:r>
            <a:endParaRPr lang="en-US" sz="1300" dirty="0"/>
          </a:p>
        </p:txBody>
      </p:sp>
      <p:sp>
        <p:nvSpPr>
          <p:cNvPr id="55" name="Text 53"/>
          <p:cNvSpPr txBox="1"/>
          <p:nvPr/>
        </p:nvSpPr>
        <p:spPr>
          <a:xfrm>
            <a:off x="4352544" y="3594130"/>
            <a:ext cx="786384"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20</a:t>
            </a:r>
            <a:endParaRPr lang="en-US" sz="1300" dirty="0"/>
          </a:p>
        </p:txBody>
      </p:sp>
      <p:sp>
        <p:nvSpPr>
          <p:cNvPr id="56" name="Text 54"/>
          <p:cNvSpPr txBox="1"/>
          <p:nvPr/>
        </p:nvSpPr>
        <p:spPr>
          <a:xfrm>
            <a:off x="5138928" y="3594130"/>
            <a:ext cx="73152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$460</a:t>
            </a:r>
            <a:endParaRPr lang="en-US" sz="1300" dirty="0"/>
          </a:p>
        </p:txBody>
      </p:sp>
      <p:sp>
        <p:nvSpPr>
          <p:cNvPr id="57" name="Text 55"/>
          <p:cNvSpPr txBox="1"/>
          <p:nvPr/>
        </p:nvSpPr>
        <p:spPr>
          <a:xfrm>
            <a:off x="658368" y="3830798"/>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58" name="Shape 56"/>
          <p:cNvSpPr/>
          <p:nvPr/>
        </p:nvSpPr>
        <p:spPr>
          <a:xfrm>
            <a:off x="2670048" y="3884048"/>
            <a:ext cx="268462" cy="130168"/>
          </a:xfrm>
          <a:prstGeom prst="rect">
            <a:avLst/>
          </a:prstGeom>
          <a:solidFill>
            <a:srgbClr val="2587C5"/>
          </a:solidFill>
          <a:ln/>
        </p:spPr>
      </p:sp>
      <p:sp>
        <p:nvSpPr>
          <p:cNvPr id="59" name="Text 57"/>
          <p:cNvSpPr txBox="1"/>
          <p:nvPr/>
        </p:nvSpPr>
        <p:spPr>
          <a:xfrm>
            <a:off x="3456432" y="3830798"/>
            <a:ext cx="896112"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$131,560</a:t>
            </a:r>
            <a:endParaRPr lang="en-US" sz="1300" dirty="0"/>
          </a:p>
        </p:txBody>
      </p:sp>
      <p:sp>
        <p:nvSpPr>
          <p:cNvPr id="60" name="Text 58"/>
          <p:cNvSpPr txBox="1"/>
          <p:nvPr/>
        </p:nvSpPr>
        <p:spPr>
          <a:xfrm>
            <a:off x="4352544" y="3830798"/>
            <a:ext cx="786384"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a:t>
            </a:r>
            <a:endParaRPr lang="en-US" sz="1300" dirty="0"/>
          </a:p>
        </p:txBody>
      </p:sp>
      <p:sp>
        <p:nvSpPr>
          <p:cNvPr id="61" name="Text 59"/>
          <p:cNvSpPr txBox="1"/>
          <p:nvPr/>
        </p:nvSpPr>
        <p:spPr>
          <a:xfrm>
            <a:off x="5138928" y="3830798"/>
            <a:ext cx="73152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$429</a:t>
            </a:r>
            <a:endParaRPr lang="en-US" sz="1300" dirty="0"/>
          </a:p>
        </p:txBody>
      </p:sp>
      <p:sp>
        <p:nvSpPr>
          <p:cNvPr id="62" name="Text 60"/>
          <p:cNvSpPr txBox="1"/>
          <p:nvPr/>
        </p:nvSpPr>
        <p:spPr>
          <a:xfrm>
            <a:off x="658368" y="4067466"/>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63" name="Shape 61"/>
          <p:cNvSpPr/>
          <p:nvPr/>
        </p:nvSpPr>
        <p:spPr>
          <a:xfrm>
            <a:off x="2670048" y="4120717"/>
            <a:ext cx="254519" cy="130168"/>
          </a:xfrm>
          <a:prstGeom prst="rect">
            <a:avLst/>
          </a:prstGeom>
          <a:solidFill>
            <a:srgbClr val="2587C5"/>
          </a:solidFill>
          <a:ln/>
        </p:spPr>
      </p:sp>
      <p:sp>
        <p:nvSpPr>
          <p:cNvPr id="64" name="Text 62"/>
          <p:cNvSpPr txBox="1"/>
          <p:nvPr/>
        </p:nvSpPr>
        <p:spPr>
          <a:xfrm>
            <a:off x="3456432" y="4067466"/>
            <a:ext cx="896112"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$124,728</a:t>
            </a:r>
            <a:endParaRPr lang="en-US" sz="1300" dirty="0"/>
          </a:p>
        </p:txBody>
      </p:sp>
      <p:sp>
        <p:nvSpPr>
          <p:cNvPr id="65" name="Text 63"/>
          <p:cNvSpPr txBox="1"/>
          <p:nvPr/>
        </p:nvSpPr>
        <p:spPr>
          <a:xfrm>
            <a:off x="4352544" y="4067466"/>
            <a:ext cx="786384"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30</a:t>
            </a:r>
            <a:endParaRPr lang="en-US" sz="1300" dirty="0"/>
          </a:p>
        </p:txBody>
      </p:sp>
      <p:sp>
        <p:nvSpPr>
          <p:cNvPr id="66" name="Text 64"/>
          <p:cNvSpPr txBox="1"/>
          <p:nvPr/>
        </p:nvSpPr>
        <p:spPr>
          <a:xfrm>
            <a:off x="5138928" y="4067466"/>
            <a:ext cx="73152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$406</a:t>
            </a:r>
            <a:endParaRPr lang="en-US" sz="1300" dirty="0"/>
          </a:p>
        </p:txBody>
      </p:sp>
      <p:sp>
        <p:nvSpPr>
          <p:cNvPr id="67" name="Text 65"/>
          <p:cNvSpPr txBox="1"/>
          <p:nvPr/>
        </p:nvSpPr>
        <p:spPr>
          <a:xfrm>
            <a:off x="658368" y="4304135"/>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68" name="Shape 66"/>
          <p:cNvSpPr/>
          <p:nvPr/>
        </p:nvSpPr>
        <p:spPr>
          <a:xfrm>
            <a:off x="2670048" y="4357385"/>
            <a:ext cx="250231" cy="130168"/>
          </a:xfrm>
          <a:prstGeom prst="rect">
            <a:avLst/>
          </a:prstGeom>
          <a:solidFill>
            <a:srgbClr val="2587C5"/>
          </a:solidFill>
          <a:ln/>
        </p:spPr>
      </p:sp>
      <p:sp>
        <p:nvSpPr>
          <p:cNvPr id="69" name="Text 67"/>
          <p:cNvSpPr txBox="1"/>
          <p:nvPr/>
        </p:nvSpPr>
        <p:spPr>
          <a:xfrm>
            <a:off x="3456432" y="4304135"/>
            <a:ext cx="896112"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$122,626</a:t>
            </a:r>
            <a:endParaRPr lang="en-US" sz="1300" dirty="0"/>
          </a:p>
        </p:txBody>
      </p:sp>
      <p:sp>
        <p:nvSpPr>
          <p:cNvPr id="70" name="Text 68"/>
          <p:cNvSpPr txBox="1"/>
          <p:nvPr/>
        </p:nvSpPr>
        <p:spPr>
          <a:xfrm>
            <a:off x="4352544" y="4304135"/>
            <a:ext cx="786384"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a:t>
            </a:r>
            <a:endParaRPr lang="en-US" sz="1300" dirty="0"/>
          </a:p>
        </p:txBody>
      </p:sp>
      <p:sp>
        <p:nvSpPr>
          <p:cNvPr id="71" name="Text 69"/>
          <p:cNvSpPr txBox="1"/>
          <p:nvPr/>
        </p:nvSpPr>
        <p:spPr>
          <a:xfrm>
            <a:off x="5138928" y="4304135"/>
            <a:ext cx="73152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$399</a:t>
            </a:r>
            <a:endParaRPr lang="en-US" sz="1300" dirty="0"/>
          </a:p>
        </p:txBody>
      </p:sp>
      <p:sp>
        <p:nvSpPr>
          <p:cNvPr id="72" name="Text 70"/>
          <p:cNvSpPr txBox="1"/>
          <p:nvPr/>
        </p:nvSpPr>
        <p:spPr>
          <a:xfrm>
            <a:off x="658368" y="4540803"/>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73" name="Shape 71"/>
          <p:cNvSpPr/>
          <p:nvPr/>
        </p:nvSpPr>
        <p:spPr>
          <a:xfrm>
            <a:off x="2670048" y="4594053"/>
            <a:ext cx="227064" cy="130168"/>
          </a:xfrm>
          <a:prstGeom prst="rect">
            <a:avLst/>
          </a:prstGeom>
          <a:solidFill>
            <a:srgbClr val="2587C5"/>
          </a:solidFill>
          <a:ln/>
        </p:spPr>
      </p:sp>
      <p:sp>
        <p:nvSpPr>
          <p:cNvPr id="74" name="Text 72"/>
          <p:cNvSpPr txBox="1"/>
          <p:nvPr/>
        </p:nvSpPr>
        <p:spPr>
          <a:xfrm>
            <a:off x="3456432" y="4540803"/>
            <a:ext cx="896112"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$111,273</a:t>
            </a:r>
            <a:endParaRPr lang="en-US" sz="1300" dirty="0"/>
          </a:p>
        </p:txBody>
      </p:sp>
      <p:sp>
        <p:nvSpPr>
          <p:cNvPr id="75" name="Text 73"/>
          <p:cNvSpPr txBox="1"/>
          <p:nvPr/>
        </p:nvSpPr>
        <p:spPr>
          <a:xfrm>
            <a:off x="4352544" y="4540803"/>
            <a:ext cx="786384"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85</a:t>
            </a:r>
            <a:endParaRPr lang="en-US" sz="1300" dirty="0"/>
          </a:p>
        </p:txBody>
      </p:sp>
      <p:sp>
        <p:nvSpPr>
          <p:cNvPr id="76" name="Text 74"/>
          <p:cNvSpPr txBox="1"/>
          <p:nvPr/>
        </p:nvSpPr>
        <p:spPr>
          <a:xfrm>
            <a:off x="5138928" y="4540803"/>
            <a:ext cx="73152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$362</a:t>
            </a:r>
            <a:endParaRPr lang="en-US" sz="1300" dirty="0"/>
          </a:p>
        </p:txBody>
      </p:sp>
      <p:sp>
        <p:nvSpPr>
          <p:cNvPr id="77" name="Text 75"/>
          <p:cNvSpPr txBox="1"/>
          <p:nvPr/>
        </p:nvSpPr>
        <p:spPr>
          <a:xfrm>
            <a:off x="658368" y="4777471"/>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78" name="Shape 76"/>
          <p:cNvSpPr/>
          <p:nvPr/>
        </p:nvSpPr>
        <p:spPr>
          <a:xfrm>
            <a:off x="2670048" y="4830721"/>
            <a:ext cx="223838" cy="130168"/>
          </a:xfrm>
          <a:prstGeom prst="rect">
            <a:avLst/>
          </a:prstGeom>
          <a:solidFill>
            <a:srgbClr val="2587C5"/>
          </a:solidFill>
          <a:ln/>
        </p:spPr>
      </p:sp>
      <p:sp>
        <p:nvSpPr>
          <p:cNvPr id="79" name="Text 77"/>
          <p:cNvSpPr txBox="1"/>
          <p:nvPr/>
        </p:nvSpPr>
        <p:spPr>
          <a:xfrm>
            <a:off x="3456432" y="4777471"/>
            <a:ext cx="896112"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$109,693</a:t>
            </a:r>
            <a:endParaRPr lang="en-US" sz="1300" dirty="0"/>
          </a:p>
        </p:txBody>
      </p:sp>
      <p:sp>
        <p:nvSpPr>
          <p:cNvPr id="80" name="Text 78"/>
          <p:cNvSpPr txBox="1"/>
          <p:nvPr/>
        </p:nvSpPr>
        <p:spPr>
          <a:xfrm>
            <a:off x="4352544" y="4777471"/>
            <a:ext cx="786384"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a:t>
            </a:r>
            <a:endParaRPr lang="en-US" sz="1300" dirty="0"/>
          </a:p>
        </p:txBody>
      </p:sp>
      <p:sp>
        <p:nvSpPr>
          <p:cNvPr id="81" name="Text 79"/>
          <p:cNvSpPr txBox="1"/>
          <p:nvPr/>
        </p:nvSpPr>
        <p:spPr>
          <a:xfrm>
            <a:off x="5138928" y="4777471"/>
            <a:ext cx="73152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$357</a:t>
            </a:r>
            <a:endParaRPr lang="en-US" sz="1300" dirty="0"/>
          </a:p>
        </p:txBody>
      </p:sp>
      <p:sp>
        <p:nvSpPr>
          <p:cNvPr id="82" name="Text 80"/>
          <p:cNvSpPr txBox="1"/>
          <p:nvPr/>
        </p:nvSpPr>
        <p:spPr>
          <a:xfrm>
            <a:off x="658368" y="5014139"/>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83" name="Shape 81"/>
          <p:cNvSpPr/>
          <p:nvPr/>
        </p:nvSpPr>
        <p:spPr>
          <a:xfrm>
            <a:off x="2670048" y="5067390"/>
            <a:ext cx="222732" cy="130168"/>
          </a:xfrm>
          <a:prstGeom prst="rect">
            <a:avLst/>
          </a:prstGeom>
          <a:solidFill>
            <a:srgbClr val="2587C5"/>
          </a:solidFill>
          <a:ln/>
        </p:spPr>
      </p:sp>
      <p:sp>
        <p:nvSpPr>
          <p:cNvPr id="84" name="Text 82"/>
          <p:cNvSpPr txBox="1"/>
          <p:nvPr/>
        </p:nvSpPr>
        <p:spPr>
          <a:xfrm>
            <a:off x="3456432" y="5014139"/>
            <a:ext cx="896112"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$109,151</a:t>
            </a:r>
            <a:endParaRPr lang="en-US" sz="1300" dirty="0"/>
          </a:p>
        </p:txBody>
      </p:sp>
      <p:sp>
        <p:nvSpPr>
          <p:cNvPr id="85" name="Text 83"/>
          <p:cNvSpPr txBox="1"/>
          <p:nvPr/>
        </p:nvSpPr>
        <p:spPr>
          <a:xfrm>
            <a:off x="4352544" y="5014139"/>
            <a:ext cx="786384"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a:t>
            </a:r>
            <a:endParaRPr lang="en-US" sz="1300" dirty="0"/>
          </a:p>
        </p:txBody>
      </p:sp>
      <p:sp>
        <p:nvSpPr>
          <p:cNvPr id="86" name="Text 84"/>
          <p:cNvSpPr txBox="1"/>
          <p:nvPr/>
        </p:nvSpPr>
        <p:spPr>
          <a:xfrm>
            <a:off x="5138928" y="5014139"/>
            <a:ext cx="73152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$356</a:t>
            </a:r>
            <a:endParaRPr lang="en-US" sz="1300" dirty="0"/>
          </a:p>
        </p:txBody>
      </p:sp>
      <p:sp>
        <p:nvSpPr>
          <p:cNvPr id="87" name="Text 85"/>
          <p:cNvSpPr txBox="1"/>
          <p:nvPr/>
        </p:nvSpPr>
        <p:spPr>
          <a:xfrm>
            <a:off x="658368" y="5250808"/>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88" name="Shape 86"/>
          <p:cNvSpPr/>
          <p:nvPr/>
        </p:nvSpPr>
        <p:spPr>
          <a:xfrm>
            <a:off x="2670048" y="5304058"/>
            <a:ext cx="221786" cy="130168"/>
          </a:xfrm>
          <a:prstGeom prst="rect">
            <a:avLst/>
          </a:prstGeom>
          <a:solidFill>
            <a:srgbClr val="2587C5"/>
          </a:solidFill>
          <a:ln/>
        </p:spPr>
      </p:sp>
      <p:sp>
        <p:nvSpPr>
          <p:cNvPr id="89" name="Text 87"/>
          <p:cNvSpPr txBox="1"/>
          <p:nvPr/>
        </p:nvSpPr>
        <p:spPr>
          <a:xfrm>
            <a:off x="3456432" y="5250808"/>
            <a:ext cx="896112"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$108,687</a:t>
            </a:r>
            <a:endParaRPr lang="en-US" sz="1300" dirty="0"/>
          </a:p>
        </p:txBody>
      </p:sp>
      <p:sp>
        <p:nvSpPr>
          <p:cNvPr id="90" name="Text 88"/>
          <p:cNvSpPr txBox="1"/>
          <p:nvPr/>
        </p:nvSpPr>
        <p:spPr>
          <a:xfrm>
            <a:off x="4352544" y="5250808"/>
            <a:ext cx="786384"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62</a:t>
            </a:r>
            <a:endParaRPr lang="en-US" sz="1300" dirty="0"/>
          </a:p>
        </p:txBody>
      </p:sp>
      <p:sp>
        <p:nvSpPr>
          <p:cNvPr id="91" name="Text 89"/>
          <p:cNvSpPr txBox="1"/>
          <p:nvPr/>
        </p:nvSpPr>
        <p:spPr>
          <a:xfrm>
            <a:off x="5138928" y="5250808"/>
            <a:ext cx="73152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$354</a:t>
            </a:r>
            <a:endParaRPr lang="en-US" sz="1300" dirty="0"/>
          </a:p>
        </p:txBody>
      </p:sp>
      <p:sp>
        <p:nvSpPr>
          <p:cNvPr id="92" name="Text 90"/>
          <p:cNvSpPr txBox="1"/>
          <p:nvPr/>
        </p:nvSpPr>
        <p:spPr>
          <a:xfrm>
            <a:off x="658368" y="5487476"/>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93" name="Shape 91"/>
          <p:cNvSpPr/>
          <p:nvPr/>
        </p:nvSpPr>
        <p:spPr>
          <a:xfrm>
            <a:off x="2670048" y="5540726"/>
            <a:ext cx="211558" cy="130168"/>
          </a:xfrm>
          <a:prstGeom prst="rect">
            <a:avLst/>
          </a:prstGeom>
          <a:solidFill>
            <a:srgbClr val="2587C5"/>
          </a:solidFill>
          <a:ln/>
        </p:spPr>
      </p:sp>
      <p:sp>
        <p:nvSpPr>
          <p:cNvPr id="94" name="Text 92"/>
          <p:cNvSpPr txBox="1"/>
          <p:nvPr/>
        </p:nvSpPr>
        <p:spPr>
          <a:xfrm>
            <a:off x="3456432" y="5487476"/>
            <a:ext cx="896112"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$103,675</a:t>
            </a:r>
            <a:endParaRPr lang="en-US" sz="1300" dirty="0"/>
          </a:p>
        </p:txBody>
      </p:sp>
      <p:sp>
        <p:nvSpPr>
          <p:cNvPr id="95" name="Text 93"/>
          <p:cNvSpPr txBox="1"/>
          <p:nvPr/>
        </p:nvSpPr>
        <p:spPr>
          <a:xfrm>
            <a:off x="4352544" y="5487476"/>
            <a:ext cx="786384"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65</a:t>
            </a:r>
            <a:endParaRPr lang="en-US" sz="1300" dirty="0"/>
          </a:p>
        </p:txBody>
      </p:sp>
      <p:sp>
        <p:nvSpPr>
          <p:cNvPr id="96" name="Text 94"/>
          <p:cNvSpPr txBox="1"/>
          <p:nvPr/>
        </p:nvSpPr>
        <p:spPr>
          <a:xfrm>
            <a:off x="5138928" y="5487476"/>
            <a:ext cx="73152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$338</a:t>
            </a:r>
            <a:endParaRPr lang="en-US" sz="1300" dirty="0"/>
          </a:p>
        </p:txBody>
      </p:sp>
      <p:sp>
        <p:nvSpPr>
          <p:cNvPr id="97" name="Text 95"/>
          <p:cNvSpPr txBox="1"/>
          <p:nvPr/>
        </p:nvSpPr>
        <p:spPr>
          <a:xfrm>
            <a:off x="6208776" y="1700784"/>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98" name="Shape 96"/>
          <p:cNvSpPr/>
          <p:nvPr/>
        </p:nvSpPr>
        <p:spPr>
          <a:xfrm>
            <a:off x="8220456" y="1754034"/>
            <a:ext cx="210961" cy="130168"/>
          </a:xfrm>
          <a:prstGeom prst="rect">
            <a:avLst/>
          </a:prstGeom>
          <a:solidFill>
            <a:srgbClr val="2587C5"/>
          </a:solidFill>
          <a:ln/>
        </p:spPr>
      </p:sp>
      <p:sp>
        <p:nvSpPr>
          <p:cNvPr id="99" name="Text 97"/>
          <p:cNvSpPr txBox="1"/>
          <p:nvPr/>
        </p:nvSpPr>
        <p:spPr>
          <a:xfrm>
            <a:off x="9006840" y="1700784"/>
            <a:ext cx="896112"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$103,382</a:t>
            </a:r>
            <a:endParaRPr lang="en-US" sz="1300" dirty="0"/>
          </a:p>
        </p:txBody>
      </p:sp>
      <p:sp>
        <p:nvSpPr>
          <p:cNvPr id="100" name="Text 98"/>
          <p:cNvSpPr txBox="1"/>
          <p:nvPr/>
        </p:nvSpPr>
        <p:spPr>
          <a:xfrm>
            <a:off x="9902952" y="1700784"/>
            <a:ext cx="786384"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98</a:t>
            </a:r>
            <a:endParaRPr lang="en-US" sz="1300" dirty="0"/>
          </a:p>
        </p:txBody>
      </p:sp>
      <p:sp>
        <p:nvSpPr>
          <p:cNvPr id="101" name="Text 99"/>
          <p:cNvSpPr txBox="1"/>
          <p:nvPr/>
        </p:nvSpPr>
        <p:spPr>
          <a:xfrm>
            <a:off x="10689336" y="1700784"/>
            <a:ext cx="73152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$337</a:t>
            </a:r>
            <a:endParaRPr lang="en-US" sz="1300" dirty="0"/>
          </a:p>
        </p:txBody>
      </p:sp>
      <p:sp>
        <p:nvSpPr>
          <p:cNvPr id="102" name="Text 100"/>
          <p:cNvSpPr txBox="1"/>
          <p:nvPr/>
        </p:nvSpPr>
        <p:spPr>
          <a:xfrm>
            <a:off x="6208776" y="1937452"/>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103" name="Shape 101"/>
          <p:cNvSpPr/>
          <p:nvPr/>
        </p:nvSpPr>
        <p:spPr>
          <a:xfrm>
            <a:off x="8220456" y="1990703"/>
            <a:ext cx="207153" cy="130168"/>
          </a:xfrm>
          <a:prstGeom prst="rect">
            <a:avLst/>
          </a:prstGeom>
          <a:solidFill>
            <a:srgbClr val="2587C5"/>
          </a:solidFill>
          <a:ln/>
        </p:spPr>
      </p:sp>
      <p:sp>
        <p:nvSpPr>
          <p:cNvPr id="104" name="Text 102"/>
          <p:cNvSpPr txBox="1"/>
          <p:nvPr/>
        </p:nvSpPr>
        <p:spPr>
          <a:xfrm>
            <a:off x="9006840" y="1937452"/>
            <a:ext cx="896112"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$101,516</a:t>
            </a:r>
            <a:endParaRPr lang="en-US" sz="1300" dirty="0"/>
          </a:p>
        </p:txBody>
      </p:sp>
      <p:sp>
        <p:nvSpPr>
          <p:cNvPr id="105" name="Text 103"/>
          <p:cNvSpPr txBox="1"/>
          <p:nvPr/>
        </p:nvSpPr>
        <p:spPr>
          <a:xfrm>
            <a:off x="9902952" y="1937452"/>
            <a:ext cx="786384"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39</a:t>
            </a:r>
            <a:endParaRPr lang="en-US" sz="1300" dirty="0"/>
          </a:p>
        </p:txBody>
      </p:sp>
      <p:sp>
        <p:nvSpPr>
          <p:cNvPr id="106" name="Text 104"/>
          <p:cNvSpPr txBox="1"/>
          <p:nvPr/>
        </p:nvSpPr>
        <p:spPr>
          <a:xfrm>
            <a:off x="10689336" y="1937452"/>
            <a:ext cx="73152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$331</a:t>
            </a:r>
            <a:endParaRPr lang="en-US" sz="1300" dirty="0"/>
          </a:p>
        </p:txBody>
      </p:sp>
      <p:sp>
        <p:nvSpPr>
          <p:cNvPr id="107" name="Text 105"/>
          <p:cNvSpPr txBox="1"/>
          <p:nvPr/>
        </p:nvSpPr>
        <p:spPr>
          <a:xfrm>
            <a:off x="6208776" y="2174120"/>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108" name="Shape 106"/>
          <p:cNvSpPr/>
          <p:nvPr/>
        </p:nvSpPr>
        <p:spPr>
          <a:xfrm>
            <a:off x="8220456" y="2227371"/>
            <a:ext cx="197009" cy="130168"/>
          </a:xfrm>
          <a:prstGeom prst="rect">
            <a:avLst/>
          </a:prstGeom>
          <a:solidFill>
            <a:srgbClr val="2587C5"/>
          </a:solidFill>
          <a:ln/>
        </p:spPr>
      </p:sp>
      <p:sp>
        <p:nvSpPr>
          <p:cNvPr id="109" name="Text 107"/>
          <p:cNvSpPr txBox="1"/>
          <p:nvPr/>
        </p:nvSpPr>
        <p:spPr>
          <a:xfrm>
            <a:off x="9006840" y="2174120"/>
            <a:ext cx="896112"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$96,545</a:t>
            </a:r>
            <a:endParaRPr lang="en-US" sz="1300" dirty="0"/>
          </a:p>
        </p:txBody>
      </p:sp>
      <p:sp>
        <p:nvSpPr>
          <p:cNvPr id="110" name="Text 108"/>
          <p:cNvSpPr txBox="1"/>
          <p:nvPr/>
        </p:nvSpPr>
        <p:spPr>
          <a:xfrm>
            <a:off x="9902952" y="2174120"/>
            <a:ext cx="786384"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27</a:t>
            </a:r>
            <a:endParaRPr lang="en-US" sz="1300" dirty="0"/>
          </a:p>
        </p:txBody>
      </p:sp>
      <p:sp>
        <p:nvSpPr>
          <p:cNvPr id="111" name="Text 109"/>
          <p:cNvSpPr txBox="1"/>
          <p:nvPr/>
        </p:nvSpPr>
        <p:spPr>
          <a:xfrm>
            <a:off x="10689336" y="2174120"/>
            <a:ext cx="73152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$314</a:t>
            </a:r>
            <a:endParaRPr lang="en-US" sz="1300" dirty="0"/>
          </a:p>
        </p:txBody>
      </p:sp>
      <p:sp>
        <p:nvSpPr>
          <p:cNvPr id="112" name="Text 110"/>
          <p:cNvSpPr txBox="1"/>
          <p:nvPr/>
        </p:nvSpPr>
        <p:spPr>
          <a:xfrm>
            <a:off x="6208776" y="2410789"/>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113" name="Shape 111"/>
          <p:cNvSpPr/>
          <p:nvPr/>
        </p:nvSpPr>
        <p:spPr>
          <a:xfrm>
            <a:off x="8220456" y="2464039"/>
            <a:ext cx="193959" cy="130168"/>
          </a:xfrm>
          <a:prstGeom prst="rect">
            <a:avLst/>
          </a:prstGeom>
          <a:solidFill>
            <a:srgbClr val="2587C5"/>
          </a:solidFill>
          <a:ln/>
        </p:spPr>
      </p:sp>
      <p:sp>
        <p:nvSpPr>
          <p:cNvPr id="114" name="Text 112"/>
          <p:cNvSpPr txBox="1"/>
          <p:nvPr/>
        </p:nvSpPr>
        <p:spPr>
          <a:xfrm>
            <a:off x="9006840" y="2410789"/>
            <a:ext cx="896112"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$95,050</a:t>
            </a:r>
            <a:endParaRPr lang="en-US" sz="1300" dirty="0"/>
          </a:p>
        </p:txBody>
      </p:sp>
      <p:sp>
        <p:nvSpPr>
          <p:cNvPr id="115" name="Text 113"/>
          <p:cNvSpPr txBox="1"/>
          <p:nvPr/>
        </p:nvSpPr>
        <p:spPr>
          <a:xfrm>
            <a:off x="9902952" y="2410789"/>
            <a:ext cx="786384"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a:t>
            </a:r>
            <a:endParaRPr lang="en-US" sz="1300" dirty="0"/>
          </a:p>
        </p:txBody>
      </p:sp>
      <p:sp>
        <p:nvSpPr>
          <p:cNvPr id="116" name="Text 114"/>
          <p:cNvSpPr txBox="1"/>
          <p:nvPr/>
        </p:nvSpPr>
        <p:spPr>
          <a:xfrm>
            <a:off x="10689336" y="2410789"/>
            <a:ext cx="73152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$310</a:t>
            </a:r>
            <a:endParaRPr lang="en-US" sz="1300" dirty="0"/>
          </a:p>
        </p:txBody>
      </p:sp>
      <p:sp>
        <p:nvSpPr>
          <p:cNvPr id="117" name="Text 115"/>
          <p:cNvSpPr txBox="1"/>
          <p:nvPr/>
        </p:nvSpPr>
        <p:spPr>
          <a:xfrm>
            <a:off x="6208776" y="2647457"/>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118" name="Shape 116"/>
          <p:cNvSpPr/>
          <p:nvPr/>
        </p:nvSpPr>
        <p:spPr>
          <a:xfrm>
            <a:off x="8220456" y="2700707"/>
            <a:ext cx="192175" cy="130168"/>
          </a:xfrm>
          <a:prstGeom prst="rect">
            <a:avLst/>
          </a:prstGeom>
          <a:solidFill>
            <a:srgbClr val="2587C5"/>
          </a:solidFill>
          <a:ln/>
        </p:spPr>
      </p:sp>
      <p:sp>
        <p:nvSpPr>
          <p:cNvPr id="119" name="Text 117"/>
          <p:cNvSpPr txBox="1"/>
          <p:nvPr/>
        </p:nvSpPr>
        <p:spPr>
          <a:xfrm>
            <a:off x="9006840" y="2647457"/>
            <a:ext cx="896112"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$94,176</a:t>
            </a:r>
            <a:endParaRPr lang="en-US" sz="1300" dirty="0"/>
          </a:p>
        </p:txBody>
      </p:sp>
      <p:sp>
        <p:nvSpPr>
          <p:cNvPr id="120" name="Text 118"/>
          <p:cNvSpPr txBox="1"/>
          <p:nvPr/>
        </p:nvSpPr>
        <p:spPr>
          <a:xfrm>
            <a:off x="9902952" y="2647457"/>
            <a:ext cx="786384"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a:t>
            </a:r>
            <a:endParaRPr lang="en-US" sz="1300" dirty="0"/>
          </a:p>
        </p:txBody>
      </p:sp>
      <p:sp>
        <p:nvSpPr>
          <p:cNvPr id="121" name="Text 119"/>
          <p:cNvSpPr txBox="1"/>
          <p:nvPr/>
        </p:nvSpPr>
        <p:spPr>
          <a:xfrm>
            <a:off x="10689336" y="2647457"/>
            <a:ext cx="73152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$307</a:t>
            </a:r>
            <a:endParaRPr lang="en-US" sz="1300" dirty="0"/>
          </a:p>
        </p:txBody>
      </p:sp>
      <p:sp>
        <p:nvSpPr>
          <p:cNvPr id="122" name="Text 120"/>
          <p:cNvSpPr txBox="1"/>
          <p:nvPr/>
        </p:nvSpPr>
        <p:spPr>
          <a:xfrm>
            <a:off x="6208776" y="2884125"/>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123" name="Shape 121"/>
          <p:cNvSpPr/>
          <p:nvPr/>
        </p:nvSpPr>
        <p:spPr>
          <a:xfrm>
            <a:off x="8220456" y="2937376"/>
            <a:ext cx="182910" cy="130168"/>
          </a:xfrm>
          <a:prstGeom prst="rect">
            <a:avLst/>
          </a:prstGeom>
          <a:solidFill>
            <a:srgbClr val="2587C5"/>
          </a:solidFill>
          <a:ln/>
        </p:spPr>
      </p:sp>
      <p:sp>
        <p:nvSpPr>
          <p:cNvPr id="124" name="Text 122"/>
          <p:cNvSpPr txBox="1"/>
          <p:nvPr/>
        </p:nvSpPr>
        <p:spPr>
          <a:xfrm>
            <a:off x="9006840" y="2884125"/>
            <a:ext cx="896112"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$89,636</a:t>
            </a:r>
            <a:endParaRPr lang="en-US" sz="1300" dirty="0"/>
          </a:p>
        </p:txBody>
      </p:sp>
      <p:sp>
        <p:nvSpPr>
          <p:cNvPr id="125" name="Text 123"/>
          <p:cNvSpPr txBox="1"/>
          <p:nvPr/>
        </p:nvSpPr>
        <p:spPr>
          <a:xfrm>
            <a:off x="9902952" y="2884125"/>
            <a:ext cx="786384"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a:t>
            </a:r>
            <a:endParaRPr lang="en-US" sz="1300" dirty="0"/>
          </a:p>
        </p:txBody>
      </p:sp>
      <p:sp>
        <p:nvSpPr>
          <p:cNvPr id="126" name="Text 124"/>
          <p:cNvSpPr txBox="1"/>
          <p:nvPr/>
        </p:nvSpPr>
        <p:spPr>
          <a:xfrm>
            <a:off x="10689336" y="2884125"/>
            <a:ext cx="73152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$292</a:t>
            </a:r>
            <a:endParaRPr lang="en-US" sz="1300" dirty="0"/>
          </a:p>
        </p:txBody>
      </p:sp>
      <p:sp>
        <p:nvSpPr>
          <p:cNvPr id="127" name="Text 125"/>
          <p:cNvSpPr txBox="1"/>
          <p:nvPr/>
        </p:nvSpPr>
        <p:spPr>
          <a:xfrm>
            <a:off x="6208776" y="3120793"/>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128" name="Shape 126"/>
          <p:cNvSpPr/>
          <p:nvPr/>
        </p:nvSpPr>
        <p:spPr>
          <a:xfrm>
            <a:off x="8220456" y="3174044"/>
            <a:ext cx="177501" cy="130168"/>
          </a:xfrm>
          <a:prstGeom prst="rect">
            <a:avLst/>
          </a:prstGeom>
          <a:solidFill>
            <a:srgbClr val="2587C5"/>
          </a:solidFill>
          <a:ln/>
        </p:spPr>
      </p:sp>
      <p:sp>
        <p:nvSpPr>
          <p:cNvPr id="129" name="Text 127"/>
          <p:cNvSpPr txBox="1"/>
          <p:nvPr/>
        </p:nvSpPr>
        <p:spPr>
          <a:xfrm>
            <a:off x="9006840" y="3120793"/>
            <a:ext cx="896112"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$86,985</a:t>
            </a:r>
            <a:endParaRPr lang="en-US" sz="1300" dirty="0"/>
          </a:p>
        </p:txBody>
      </p:sp>
      <p:sp>
        <p:nvSpPr>
          <p:cNvPr id="130" name="Text 128"/>
          <p:cNvSpPr txBox="1"/>
          <p:nvPr/>
        </p:nvSpPr>
        <p:spPr>
          <a:xfrm>
            <a:off x="9902952" y="3120793"/>
            <a:ext cx="786384"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a:t>
            </a:r>
            <a:endParaRPr lang="en-US" sz="1300" dirty="0"/>
          </a:p>
        </p:txBody>
      </p:sp>
      <p:sp>
        <p:nvSpPr>
          <p:cNvPr id="131" name="Text 129"/>
          <p:cNvSpPr txBox="1"/>
          <p:nvPr/>
        </p:nvSpPr>
        <p:spPr>
          <a:xfrm>
            <a:off x="10689336" y="3120793"/>
            <a:ext cx="73152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$283</a:t>
            </a:r>
            <a:endParaRPr lang="en-US" sz="1300" dirty="0"/>
          </a:p>
        </p:txBody>
      </p:sp>
      <p:sp>
        <p:nvSpPr>
          <p:cNvPr id="132" name="Text 130"/>
          <p:cNvSpPr txBox="1"/>
          <p:nvPr/>
        </p:nvSpPr>
        <p:spPr>
          <a:xfrm>
            <a:off x="6208776" y="3357462"/>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133" name="Shape 131"/>
          <p:cNvSpPr/>
          <p:nvPr/>
        </p:nvSpPr>
        <p:spPr>
          <a:xfrm>
            <a:off x="8220456" y="3410712"/>
            <a:ext cx="175512" cy="130168"/>
          </a:xfrm>
          <a:prstGeom prst="rect">
            <a:avLst/>
          </a:prstGeom>
          <a:solidFill>
            <a:srgbClr val="2587C5"/>
          </a:solidFill>
          <a:ln/>
        </p:spPr>
      </p:sp>
      <p:sp>
        <p:nvSpPr>
          <p:cNvPr id="134" name="Text 132"/>
          <p:cNvSpPr txBox="1"/>
          <p:nvPr/>
        </p:nvSpPr>
        <p:spPr>
          <a:xfrm>
            <a:off x="9006840" y="3357462"/>
            <a:ext cx="896112"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$86,010</a:t>
            </a:r>
            <a:endParaRPr lang="en-US" sz="1300" dirty="0"/>
          </a:p>
        </p:txBody>
      </p:sp>
      <p:sp>
        <p:nvSpPr>
          <p:cNvPr id="135" name="Text 133"/>
          <p:cNvSpPr txBox="1"/>
          <p:nvPr/>
        </p:nvSpPr>
        <p:spPr>
          <a:xfrm>
            <a:off x="9902952" y="3357462"/>
            <a:ext cx="786384"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25</a:t>
            </a:r>
            <a:endParaRPr lang="en-US" sz="1300" dirty="0"/>
          </a:p>
        </p:txBody>
      </p:sp>
      <p:sp>
        <p:nvSpPr>
          <p:cNvPr id="136" name="Text 134"/>
          <p:cNvSpPr txBox="1"/>
          <p:nvPr/>
        </p:nvSpPr>
        <p:spPr>
          <a:xfrm>
            <a:off x="10689336" y="3357462"/>
            <a:ext cx="73152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$280</a:t>
            </a:r>
            <a:endParaRPr lang="en-US" sz="1300" dirty="0"/>
          </a:p>
        </p:txBody>
      </p:sp>
      <p:sp>
        <p:nvSpPr>
          <p:cNvPr id="137" name="Text 135"/>
          <p:cNvSpPr txBox="1"/>
          <p:nvPr/>
        </p:nvSpPr>
        <p:spPr>
          <a:xfrm>
            <a:off x="6208776" y="3594130"/>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138" name="Shape 136"/>
          <p:cNvSpPr/>
          <p:nvPr/>
        </p:nvSpPr>
        <p:spPr>
          <a:xfrm>
            <a:off x="8220456" y="3647380"/>
            <a:ext cx="167969" cy="130168"/>
          </a:xfrm>
          <a:prstGeom prst="rect">
            <a:avLst/>
          </a:prstGeom>
          <a:solidFill>
            <a:srgbClr val="2587C5"/>
          </a:solidFill>
          <a:ln/>
        </p:spPr>
      </p:sp>
      <p:sp>
        <p:nvSpPr>
          <p:cNvPr id="139" name="Text 137"/>
          <p:cNvSpPr txBox="1"/>
          <p:nvPr/>
        </p:nvSpPr>
        <p:spPr>
          <a:xfrm>
            <a:off x="9006840" y="3594130"/>
            <a:ext cx="896112"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$82,314</a:t>
            </a:r>
            <a:endParaRPr lang="en-US" sz="1300" dirty="0"/>
          </a:p>
        </p:txBody>
      </p:sp>
      <p:sp>
        <p:nvSpPr>
          <p:cNvPr id="140" name="Text 138"/>
          <p:cNvSpPr txBox="1"/>
          <p:nvPr/>
        </p:nvSpPr>
        <p:spPr>
          <a:xfrm>
            <a:off x="9902952" y="3594130"/>
            <a:ext cx="786384"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35</a:t>
            </a:r>
            <a:endParaRPr lang="en-US" sz="1300" dirty="0"/>
          </a:p>
        </p:txBody>
      </p:sp>
      <p:sp>
        <p:nvSpPr>
          <p:cNvPr id="141" name="Text 139"/>
          <p:cNvSpPr txBox="1"/>
          <p:nvPr/>
        </p:nvSpPr>
        <p:spPr>
          <a:xfrm>
            <a:off x="10689336" y="3594130"/>
            <a:ext cx="73152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$268</a:t>
            </a:r>
            <a:endParaRPr lang="en-US" sz="1300" dirty="0"/>
          </a:p>
        </p:txBody>
      </p:sp>
      <p:sp>
        <p:nvSpPr>
          <p:cNvPr id="142" name="Text 140"/>
          <p:cNvSpPr txBox="1"/>
          <p:nvPr/>
        </p:nvSpPr>
        <p:spPr>
          <a:xfrm>
            <a:off x="6208776" y="3830798"/>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143" name="Shape 141"/>
          <p:cNvSpPr/>
          <p:nvPr/>
        </p:nvSpPr>
        <p:spPr>
          <a:xfrm>
            <a:off x="8220456" y="3884048"/>
            <a:ext cx="151665" cy="130168"/>
          </a:xfrm>
          <a:prstGeom prst="rect">
            <a:avLst/>
          </a:prstGeom>
          <a:solidFill>
            <a:srgbClr val="2587C5"/>
          </a:solidFill>
          <a:ln/>
        </p:spPr>
      </p:sp>
      <p:sp>
        <p:nvSpPr>
          <p:cNvPr id="144" name="Text 142"/>
          <p:cNvSpPr txBox="1"/>
          <p:nvPr/>
        </p:nvSpPr>
        <p:spPr>
          <a:xfrm>
            <a:off x="9006840" y="3830798"/>
            <a:ext cx="896112"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$74,324</a:t>
            </a:r>
            <a:endParaRPr lang="en-US" sz="1300" dirty="0"/>
          </a:p>
        </p:txBody>
      </p:sp>
      <p:sp>
        <p:nvSpPr>
          <p:cNvPr id="145" name="Text 143"/>
          <p:cNvSpPr txBox="1"/>
          <p:nvPr/>
        </p:nvSpPr>
        <p:spPr>
          <a:xfrm>
            <a:off x="9902952" y="3830798"/>
            <a:ext cx="786384"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231</a:t>
            </a:r>
            <a:endParaRPr lang="en-US" sz="1300" dirty="0"/>
          </a:p>
        </p:txBody>
      </p:sp>
      <p:sp>
        <p:nvSpPr>
          <p:cNvPr id="146" name="Text 144"/>
          <p:cNvSpPr txBox="1"/>
          <p:nvPr/>
        </p:nvSpPr>
        <p:spPr>
          <a:xfrm>
            <a:off x="10689336" y="3830798"/>
            <a:ext cx="73152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$242</a:t>
            </a:r>
            <a:endParaRPr lang="en-US" sz="1300" dirty="0"/>
          </a:p>
        </p:txBody>
      </p:sp>
      <p:sp>
        <p:nvSpPr>
          <p:cNvPr id="147" name="Text 145"/>
          <p:cNvSpPr txBox="1"/>
          <p:nvPr/>
        </p:nvSpPr>
        <p:spPr>
          <a:xfrm>
            <a:off x="6208776" y="4067466"/>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48" name="Shape 146"/>
          <p:cNvSpPr/>
          <p:nvPr/>
        </p:nvSpPr>
        <p:spPr>
          <a:xfrm>
            <a:off x="8220456" y="4120717"/>
            <a:ext cx="148544" cy="130168"/>
          </a:xfrm>
          <a:prstGeom prst="rect">
            <a:avLst/>
          </a:prstGeom>
          <a:solidFill>
            <a:srgbClr val="2587C5"/>
          </a:solidFill>
          <a:ln/>
        </p:spPr>
      </p:sp>
      <p:sp>
        <p:nvSpPr>
          <p:cNvPr id="149" name="Text 147"/>
          <p:cNvSpPr txBox="1"/>
          <p:nvPr/>
        </p:nvSpPr>
        <p:spPr>
          <a:xfrm>
            <a:off x="9006840" y="4067466"/>
            <a:ext cx="896112"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$72,795</a:t>
            </a:r>
            <a:endParaRPr lang="en-US" sz="1300" dirty="0"/>
          </a:p>
        </p:txBody>
      </p:sp>
      <p:sp>
        <p:nvSpPr>
          <p:cNvPr id="150" name="Text 148"/>
          <p:cNvSpPr txBox="1"/>
          <p:nvPr/>
        </p:nvSpPr>
        <p:spPr>
          <a:xfrm>
            <a:off x="9902952" y="4067466"/>
            <a:ext cx="786384"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a:t>
            </a:r>
            <a:endParaRPr lang="en-US" sz="1300" dirty="0"/>
          </a:p>
        </p:txBody>
      </p:sp>
      <p:sp>
        <p:nvSpPr>
          <p:cNvPr id="151" name="Text 149"/>
          <p:cNvSpPr txBox="1"/>
          <p:nvPr/>
        </p:nvSpPr>
        <p:spPr>
          <a:xfrm>
            <a:off x="10689336" y="4067466"/>
            <a:ext cx="73152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$237</a:t>
            </a:r>
            <a:endParaRPr lang="en-US" sz="1300" dirty="0"/>
          </a:p>
        </p:txBody>
      </p:sp>
      <p:sp>
        <p:nvSpPr>
          <p:cNvPr id="152" name="Text 150"/>
          <p:cNvSpPr txBox="1"/>
          <p:nvPr/>
        </p:nvSpPr>
        <p:spPr>
          <a:xfrm>
            <a:off x="6208776" y="4304135"/>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153" name="Shape 151"/>
          <p:cNvSpPr/>
          <p:nvPr/>
        </p:nvSpPr>
        <p:spPr>
          <a:xfrm>
            <a:off x="8220456" y="4357385"/>
            <a:ext cx="148506" cy="130168"/>
          </a:xfrm>
          <a:prstGeom prst="rect">
            <a:avLst/>
          </a:prstGeom>
          <a:solidFill>
            <a:srgbClr val="2587C5"/>
          </a:solidFill>
          <a:ln/>
        </p:spPr>
      </p:sp>
      <p:sp>
        <p:nvSpPr>
          <p:cNvPr id="154" name="Text 152"/>
          <p:cNvSpPr txBox="1"/>
          <p:nvPr/>
        </p:nvSpPr>
        <p:spPr>
          <a:xfrm>
            <a:off x="9006840" y="4304135"/>
            <a:ext cx="896112"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$72,776</a:t>
            </a:r>
            <a:endParaRPr lang="en-US" sz="1300" dirty="0"/>
          </a:p>
        </p:txBody>
      </p:sp>
      <p:sp>
        <p:nvSpPr>
          <p:cNvPr id="155" name="Text 153"/>
          <p:cNvSpPr txBox="1"/>
          <p:nvPr/>
        </p:nvSpPr>
        <p:spPr>
          <a:xfrm>
            <a:off x="9902952" y="4304135"/>
            <a:ext cx="786384"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a:t>
            </a:r>
            <a:endParaRPr lang="en-US" sz="1300" dirty="0"/>
          </a:p>
        </p:txBody>
      </p:sp>
      <p:sp>
        <p:nvSpPr>
          <p:cNvPr id="156" name="Text 154"/>
          <p:cNvSpPr txBox="1"/>
          <p:nvPr/>
        </p:nvSpPr>
        <p:spPr>
          <a:xfrm>
            <a:off x="10689336" y="4304135"/>
            <a:ext cx="73152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$237</a:t>
            </a:r>
            <a:endParaRPr lang="en-US" sz="1300" dirty="0"/>
          </a:p>
        </p:txBody>
      </p:sp>
      <p:sp>
        <p:nvSpPr>
          <p:cNvPr id="157" name="Text 155"/>
          <p:cNvSpPr txBox="1"/>
          <p:nvPr/>
        </p:nvSpPr>
        <p:spPr>
          <a:xfrm>
            <a:off x="6208776" y="4540803"/>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158" name="Shape 156"/>
          <p:cNvSpPr/>
          <p:nvPr/>
        </p:nvSpPr>
        <p:spPr>
          <a:xfrm>
            <a:off x="8220456" y="4594053"/>
            <a:ext cx="148438" cy="130168"/>
          </a:xfrm>
          <a:prstGeom prst="rect">
            <a:avLst/>
          </a:prstGeom>
          <a:solidFill>
            <a:srgbClr val="2587C5"/>
          </a:solidFill>
          <a:ln/>
        </p:spPr>
      </p:sp>
      <p:sp>
        <p:nvSpPr>
          <p:cNvPr id="159" name="Text 157"/>
          <p:cNvSpPr txBox="1"/>
          <p:nvPr/>
        </p:nvSpPr>
        <p:spPr>
          <a:xfrm>
            <a:off x="9006840" y="4540803"/>
            <a:ext cx="896112"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$72,743</a:t>
            </a:r>
            <a:endParaRPr lang="en-US" sz="1300" dirty="0"/>
          </a:p>
        </p:txBody>
      </p:sp>
      <p:sp>
        <p:nvSpPr>
          <p:cNvPr id="160" name="Text 158"/>
          <p:cNvSpPr txBox="1"/>
          <p:nvPr/>
        </p:nvSpPr>
        <p:spPr>
          <a:xfrm>
            <a:off x="9902952" y="4540803"/>
            <a:ext cx="786384"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59</a:t>
            </a:r>
            <a:endParaRPr lang="en-US" sz="1300" dirty="0"/>
          </a:p>
        </p:txBody>
      </p:sp>
      <p:sp>
        <p:nvSpPr>
          <p:cNvPr id="161" name="Text 159"/>
          <p:cNvSpPr txBox="1"/>
          <p:nvPr/>
        </p:nvSpPr>
        <p:spPr>
          <a:xfrm>
            <a:off x="10689336" y="4540803"/>
            <a:ext cx="73152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$237</a:t>
            </a:r>
            <a:endParaRPr lang="en-US" sz="1300" dirty="0"/>
          </a:p>
        </p:txBody>
      </p:sp>
      <p:sp>
        <p:nvSpPr>
          <p:cNvPr id="162" name="Text 160"/>
          <p:cNvSpPr txBox="1"/>
          <p:nvPr/>
        </p:nvSpPr>
        <p:spPr>
          <a:xfrm>
            <a:off x="6208776" y="4777471"/>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163" name="Shape 161"/>
          <p:cNvSpPr/>
          <p:nvPr/>
        </p:nvSpPr>
        <p:spPr>
          <a:xfrm>
            <a:off x="8220456" y="4830721"/>
            <a:ext cx="137973" cy="130168"/>
          </a:xfrm>
          <a:prstGeom prst="rect">
            <a:avLst/>
          </a:prstGeom>
          <a:solidFill>
            <a:srgbClr val="2587C5"/>
          </a:solidFill>
          <a:ln/>
        </p:spPr>
      </p:sp>
      <p:sp>
        <p:nvSpPr>
          <p:cNvPr id="164" name="Text 162"/>
          <p:cNvSpPr txBox="1"/>
          <p:nvPr/>
        </p:nvSpPr>
        <p:spPr>
          <a:xfrm>
            <a:off x="9006840" y="4777471"/>
            <a:ext cx="896112"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$67,614</a:t>
            </a:r>
            <a:endParaRPr lang="en-US" sz="1300" dirty="0"/>
          </a:p>
        </p:txBody>
      </p:sp>
      <p:sp>
        <p:nvSpPr>
          <p:cNvPr id="165" name="Text 163"/>
          <p:cNvSpPr txBox="1"/>
          <p:nvPr/>
        </p:nvSpPr>
        <p:spPr>
          <a:xfrm>
            <a:off x="9902952" y="4777471"/>
            <a:ext cx="786384"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17</a:t>
            </a:r>
            <a:endParaRPr lang="en-US" sz="1300" dirty="0"/>
          </a:p>
        </p:txBody>
      </p:sp>
      <p:sp>
        <p:nvSpPr>
          <p:cNvPr id="166" name="Text 164"/>
          <p:cNvSpPr txBox="1"/>
          <p:nvPr/>
        </p:nvSpPr>
        <p:spPr>
          <a:xfrm>
            <a:off x="10689336" y="4777471"/>
            <a:ext cx="73152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$220</a:t>
            </a:r>
            <a:endParaRPr lang="en-US" sz="1300" dirty="0"/>
          </a:p>
        </p:txBody>
      </p:sp>
      <p:sp>
        <p:nvSpPr>
          <p:cNvPr id="167" name="Text 165"/>
          <p:cNvSpPr txBox="1"/>
          <p:nvPr/>
        </p:nvSpPr>
        <p:spPr>
          <a:xfrm>
            <a:off x="6208776" y="5014139"/>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168" name="Shape 166"/>
          <p:cNvSpPr/>
          <p:nvPr/>
        </p:nvSpPr>
        <p:spPr>
          <a:xfrm>
            <a:off x="8220456" y="5067390"/>
            <a:ext cx="135948" cy="130168"/>
          </a:xfrm>
          <a:prstGeom prst="rect">
            <a:avLst/>
          </a:prstGeom>
          <a:solidFill>
            <a:srgbClr val="2587C5"/>
          </a:solidFill>
          <a:ln/>
        </p:spPr>
      </p:sp>
      <p:sp>
        <p:nvSpPr>
          <p:cNvPr id="169" name="Text 167"/>
          <p:cNvSpPr txBox="1"/>
          <p:nvPr/>
        </p:nvSpPr>
        <p:spPr>
          <a:xfrm>
            <a:off x="9006840" y="5014139"/>
            <a:ext cx="896112"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$66,622</a:t>
            </a:r>
            <a:endParaRPr lang="en-US" sz="1300" dirty="0"/>
          </a:p>
        </p:txBody>
      </p:sp>
      <p:sp>
        <p:nvSpPr>
          <p:cNvPr id="170" name="Text 168"/>
          <p:cNvSpPr txBox="1"/>
          <p:nvPr/>
        </p:nvSpPr>
        <p:spPr>
          <a:xfrm>
            <a:off x="9902952" y="5014139"/>
            <a:ext cx="786384"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75</a:t>
            </a:r>
            <a:endParaRPr lang="en-US" sz="1300" dirty="0"/>
          </a:p>
        </p:txBody>
      </p:sp>
      <p:sp>
        <p:nvSpPr>
          <p:cNvPr id="171" name="Text 169"/>
          <p:cNvSpPr txBox="1"/>
          <p:nvPr/>
        </p:nvSpPr>
        <p:spPr>
          <a:xfrm>
            <a:off x="10689336" y="5014139"/>
            <a:ext cx="73152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$217</a:t>
            </a:r>
            <a:endParaRPr lang="en-US" sz="1300" dirty="0"/>
          </a:p>
        </p:txBody>
      </p:sp>
      <p:sp>
        <p:nvSpPr>
          <p:cNvPr id="172" name="Text 170"/>
          <p:cNvSpPr txBox="1"/>
          <p:nvPr/>
        </p:nvSpPr>
        <p:spPr>
          <a:xfrm>
            <a:off x="6208776" y="5250808"/>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173" name="Shape 171"/>
          <p:cNvSpPr/>
          <p:nvPr/>
        </p:nvSpPr>
        <p:spPr>
          <a:xfrm>
            <a:off x="8220456" y="5304058"/>
            <a:ext cx="133856" cy="130168"/>
          </a:xfrm>
          <a:prstGeom prst="rect">
            <a:avLst/>
          </a:prstGeom>
          <a:solidFill>
            <a:srgbClr val="2587C5"/>
          </a:solidFill>
          <a:ln/>
        </p:spPr>
      </p:sp>
      <p:sp>
        <p:nvSpPr>
          <p:cNvPr id="174" name="Text 172"/>
          <p:cNvSpPr txBox="1"/>
          <p:nvPr/>
        </p:nvSpPr>
        <p:spPr>
          <a:xfrm>
            <a:off x="9006840" y="5250808"/>
            <a:ext cx="896112"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$65,596</a:t>
            </a:r>
            <a:endParaRPr lang="en-US" sz="1300" dirty="0"/>
          </a:p>
        </p:txBody>
      </p:sp>
      <p:sp>
        <p:nvSpPr>
          <p:cNvPr id="175" name="Text 173"/>
          <p:cNvSpPr txBox="1"/>
          <p:nvPr/>
        </p:nvSpPr>
        <p:spPr>
          <a:xfrm>
            <a:off x="9902952" y="5250808"/>
            <a:ext cx="786384"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66</a:t>
            </a:r>
            <a:endParaRPr lang="en-US" sz="1300" dirty="0"/>
          </a:p>
        </p:txBody>
      </p:sp>
      <p:sp>
        <p:nvSpPr>
          <p:cNvPr id="176" name="Text 174"/>
          <p:cNvSpPr txBox="1"/>
          <p:nvPr/>
        </p:nvSpPr>
        <p:spPr>
          <a:xfrm>
            <a:off x="10689336" y="5250808"/>
            <a:ext cx="73152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$214</a:t>
            </a:r>
            <a:endParaRPr lang="en-US" sz="1300" dirty="0"/>
          </a:p>
        </p:txBody>
      </p:sp>
      <p:sp>
        <p:nvSpPr>
          <p:cNvPr id="177" name="Shape 175"/>
          <p:cNvSpPr/>
          <p:nvPr/>
        </p:nvSpPr>
        <p:spPr>
          <a:xfrm>
            <a:off x="457200" y="5961888"/>
            <a:ext cx="11274552" cy="548640"/>
          </a:xfrm>
          <a:prstGeom prst="rect">
            <a:avLst/>
          </a:prstGeom>
          <a:solidFill>
            <a:srgbClr val="E6F6EE"/>
          </a:solidFill>
          <a:ln/>
        </p:spPr>
      </p:sp>
      <p:sp>
        <p:nvSpPr>
          <p:cNvPr id="178" name="Text 176"/>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One more customer-pay RO a day at every store is worth $4,473,284 a year in labor and parts gross. Each RO averages $342.</a:t>
            </a:r>
            <a:endParaRPr lang="en-US" sz="1600" dirty="0"/>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Customer Pay Hours Sold</a:t>
            </a:r>
            <a:endParaRPr lang="en-US" sz="2800" dirty="0"/>
          </a:p>
        </p:txBody>
      </p:sp>
      <p:sp>
        <p:nvSpPr>
          <p:cNvPr id="5" name="Shape 3"/>
          <p:cNvSpPr/>
          <p:nvPr/>
        </p:nvSpPr>
        <p:spPr>
          <a:xfrm>
            <a:off x="457200" y="1207008"/>
            <a:ext cx="11274552" cy="1517904"/>
          </a:xfrm>
          <a:prstGeom prst="rect">
            <a:avLst/>
          </a:prstGeom>
          <a:solidFill>
            <a:srgbClr val="FFFFFF"/>
          </a:solidFill>
          <a:ln/>
        </p:spPr>
      </p:sp>
      <p:sp>
        <p:nvSpPr>
          <p:cNvPr id="6" name="Text 4"/>
          <p:cNvSpPr txBox="1"/>
          <p:nvPr/>
        </p:nvSpPr>
        <p:spPr>
          <a:xfrm>
            <a:off x="685800" y="1316736"/>
            <a:ext cx="10789920" cy="274320"/>
          </a:xfrm>
          <a:prstGeom prst="rect">
            <a:avLst/>
          </a:prstGeom>
          <a:noFill/>
          <a:ln/>
        </p:spPr>
        <p:txBody>
          <a:bodyPr wrap="square" lIns="0" tIns="0" rIns="0" bIns="0" rtlCol="0" anchor="ctr"/>
          <a:lstStyle/>
          <a:p>
            <a:pPr indent="0" marL="0">
              <a:buNone/>
            </a:pPr>
            <a:r>
              <a:rPr lang="en-US" sz="1400" spc="100" kern="0" dirty="0">
                <a:solidFill>
                  <a:srgbClr val="595959"/>
                </a:solidFill>
                <a:latin typeface="Inter" pitchFamily="34" charset="0"/>
                <a:ea typeface="Inter" pitchFamily="34" charset="-122"/>
                <a:cs typeface="Inter" pitchFamily="34" charset="-120"/>
              </a:rPr>
              <a:t>GROUP · JANUARY–SEPTEMBER · SAME-STORE, 33 STORES</a:t>
            </a:r>
            <a:endParaRPr lang="en-US" sz="1400" dirty="0"/>
          </a:p>
        </p:txBody>
      </p:sp>
      <p:sp>
        <p:nvSpPr>
          <p:cNvPr id="7" name="Text 5"/>
          <p:cNvSpPr txBox="1"/>
          <p:nvPr/>
        </p:nvSpPr>
        <p:spPr>
          <a:xfrm>
            <a:off x="68580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a:t>
            </a:r>
            <a:endParaRPr lang="en-US" sz="1400" dirty="0"/>
          </a:p>
        </p:txBody>
      </p:sp>
      <p:sp>
        <p:nvSpPr>
          <p:cNvPr id="8" name="Text 6"/>
          <p:cNvSpPr txBox="1"/>
          <p:nvPr/>
        </p:nvSpPr>
        <p:spPr>
          <a:xfrm>
            <a:off x="68580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504,019</a:t>
            </a:r>
            <a:endParaRPr lang="en-US" sz="3000" dirty="0"/>
          </a:p>
        </p:txBody>
      </p:sp>
      <p:sp>
        <p:nvSpPr>
          <p:cNvPr id="9" name="Text 7"/>
          <p:cNvSpPr txBox="1"/>
          <p:nvPr/>
        </p:nvSpPr>
        <p:spPr>
          <a:xfrm>
            <a:off x="347472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a:t>
            </a:r>
            <a:endParaRPr lang="en-US" sz="1400" dirty="0"/>
          </a:p>
        </p:txBody>
      </p:sp>
      <p:sp>
        <p:nvSpPr>
          <p:cNvPr id="10" name="Text 8"/>
          <p:cNvSpPr txBox="1"/>
          <p:nvPr/>
        </p:nvSpPr>
        <p:spPr>
          <a:xfrm>
            <a:off x="347472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523,142</a:t>
            </a:r>
            <a:endParaRPr lang="en-US" sz="3000" dirty="0"/>
          </a:p>
        </p:txBody>
      </p:sp>
      <p:sp>
        <p:nvSpPr>
          <p:cNvPr id="11" name="Text 9"/>
          <p:cNvSpPr txBox="1"/>
          <p:nvPr/>
        </p:nvSpPr>
        <p:spPr>
          <a:xfrm>
            <a:off x="626364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2" name="Text 10"/>
          <p:cNvSpPr txBox="1"/>
          <p:nvPr/>
        </p:nvSpPr>
        <p:spPr>
          <a:xfrm>
            <a:off x="626364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+19,123</a:t>
            </a:r>
            <a:endParaRPr lang="en-US" sz="3000" dirty="0"/>
          </a:p>
        </p:txBody>
      </p:sp>
      <p:sp>
        <p:nvSpPr>
          <p:cNvPr id="13" name="Text 11"/>
          <p:cNvSpPr txBox="1"/>
          <p:nvPr/>
        </p:nvSpPr>
        <p:spPr>
          <a:xfrm>
            <a:off x="905256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4" name="Text 12"/>
          <p:cNvSpPr txBox="1"/>
          <p:nvPr/>
        </p:nvSpPr>
        <p:spPr>
          <a:xfrm>
            <a:off x="905256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+3.8%</a:t>
            </a:r>
            <a:endParaRPr lang="en-US" sz="30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57200" y="2816352"/>
          <a:ext cx="11274552" cy="914400"/>
        </p:xfrm>
        <a:graphic>
          <a:graphicData uri="http://schemas.openxmlformats.org/drawingml/2006/table">
            <a:tbl>
              <a:tblPr/>
              <a:tblGrid>
                <a:gridCol w="3118104"/>
                <a:gridCol w="2039112"/>
                <a:gridCol w="2039112"/>
                <a:gridCol w="2039112"/>
                <a:gridCol w="2039112"/>
              </a:tblGrid>
              <a:tr h="274320">
                <a:tc>
                  <a:txBody>
                    <a:bodyPr/>
                    <a:lstStyle/>
                    <a:p>
                      <a:pPr algn="l" indent="0" marL="0">
                        <a:buNone/>
                      </a:pPr>
                      <a:r>
                        <a:rPr lang="en-US" sz="1400" b="1" dirty="0">
                          <a:solidFill>
                            <a:srgbClr val="FFFFFF"/>
                          </a:solidFill>
                          <a:latin typeface="Inter" pitchFamily="34" charset="0"/>
                          <a:ea typeface="Inter" pitchFamily="34" charset="-122"/>
                          <a:cs typeface="Inter" pitchFamily="34" charset="-120"/>
                        </a:rPr>
                        <a:t>MONTH</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VARIANCE</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 %</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JAN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55,121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55,578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+458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FEB</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51,212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52,001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+789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57,206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60,176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+2,970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+5.2%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APR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58,170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59,746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+1,576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MAY</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57,794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57,789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−0.0%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56,468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60,917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+4,448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+7.9%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JUL</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57,717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61,861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+4,143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+7.2%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AUG</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57,021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59,619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+2,597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SEP</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53,309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55,456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+2,147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16" name="Shape 13"/>
          <p:cNvSpPr/>
          <p:nvPr/>
        </p:nvSpPr>
        <p:spPr>
          <a:xfrm>
            <a:off x="457200" y="5961888"/>
            <a:ext cx="11274552" cy="548640"/>
          </a:xfrm>
          <a:prstGeom prst="rect">
            <a:avLst/>
          </a:prstGeom>
          <a:solidFill>
            <a:srgbClr val="E6F6EE"/>
          </a:solidFill>
          <a:ln/>
        </p:spPr>
      </p:sp>
      <p:sp>
        <p:nvSpPr>
          <p:cNvPr id="17" name="Text 14"/>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Up 19,123 to 523,142, ahead of 2025 in eight of nine months. CP RO count rose only 0.2%, so the extra hours came from selling more on each visit.</a:t>
            </a:r>
            <a:endParaRPr lang="en-US" sz="1600" dirty="0"/>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Customer Pay Hours Sold</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01168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GROUP</a:t>
            </a:r>
            <a:endParaRPr lang="en-US" sz="1500" dirty="0"/>
          </a:p>
        </p:txBody>
      </p:sp>
      <p:sp>
        <p:nvSpPr>
          <p:cNvPr id="9" name="Text 7"/>
          <p:cNvSpPr txBox="1"/>
          <p:nvPr/>
        </p:nvSpPr>
        <p:spPr>
          <a:xfrm>
            <a:off x="2834640" y="1335024"/>
            <a:ext cx="420624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SAME-STORE, 33 STORES</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+3.8%</a:t>
            </a:r>
            <a:endParaRPr lang="en-US" sz="2000" dirty="0"/>
          </a:p>
        </p:txBody>
      </p:sp>
      <p:sp>
        <p:nvSpPr>
          <p:cNvPr id="11" name="Text 9"/>
          <p:cNvSpPr txBox="1"/>
          <p:nvPr/>
        </p:nvSpPr>
        <p:spPr>
          <a:xfrm>
            <a:off x="658368"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12" name="Shape 10"/>
          <p:cNvSpPr/>
          <p:nvPr/>
        </p:nvSpPr>
        <p:spPr>
          <a:xfrm>
            <a:off x="3813048" y="1909246"/>
            <a:ext cx="822960" cy="105898"/>
          </a:xfrm>
          <a:prstGeom prst="rect">
            <a:avLst/>
          </a:prstGeom>
          <a:solidFill>
            <a:srgbClr val="12A566"/>
          </a:solidFill>
          <a:ln/>
        </p:spPr>
      </p:sp>
      <p:sp>
        <p:nvSpPr>
          <p:cNvPr id="13" name="Text 11"/>
          <p:cNvSpPr txBox="1"/>
          <p:nvPr/>
        </p:nvSpPr>
        <p:spPr>
          <a:xfrm>
            <a:off x="4709160"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+44.6%</a:t>
            </a:r>
            <a:endParaRPr lang="en-US" sz="1300" dirty="0"/>
          </a:p>
        </p:txBody>
      </p:sp>
      <p:sp>
        <p:nvSpPr>
          <p:cNvPr id="14" name="Text 12"/>
          <p:cNvSpPr txBox="1"/>
          <p:nvPr/>
        </p:nvSpPr>
        <p:spPr>
          <a:xfrm>
            <a:off x="658368"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15" name="Shape 13"/>
          <p:cNvSpPr/>
          <p:nvPr/>
        </p:nvSpPr>
        <p:spPr>
          <a:xfrm>
            <a:off x="3813048" y="2139459"/>
            <a:ext cx="644558" cy="105898"/>
          </a:xfrm>
          <a:prstGeom prst="rect">
            <a:avLst/>
          </a:prstGeom>
          <a:solidFill>
            <a:srgbClr val="12A566"/>
          </a:solidFill>
          <a:ln/>
        </p:spPr>
      </p:sp>
      <p:sp>
        <p:nvSpPr>
          <p:cNvPr id="16" name="Text 14"/>
          <p:cNvSpPr txBox="1"/>
          <p:nvPr/>
        </p:nvSpPr>
        <p:spPr>
          <a:xfrm>
            <a:off x="4709160"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+35.0%</a:t>
            </a:r>
            <a:endParaRPr lang="en-US" sz="1300" dirty="0"/>
          </a:p>
        </p:txBody>
      </p:sp>
      <p:sp>
        <p:nvSpPr>
          <p:cNvPr id="17" name="Text 15"/>
          <p:cNvSpPr txBox="1"/>
          <p:nvPr/>
        </p:nvSpPr>
        <p:spPr>
          <a:xfrm>
            <a:off x="658368"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18" name="Shape 16"/>
          <p:cNvSpPr/>
          <p:nvPr/>
        </p:nvSpPr>
        <p:spPr>
          <a:xfrm>
            <a:off x="3813048" y="2369673"/>
            <a:ext cx="624563" cy="105898"/>
          </a:xfrm>
          <a:prstGeom prst="rect">
            <a:avLst/>
          </a:prstGeom>
          <a:solidFill>
            <a:srgbClr val="12A566"/>
          </a:solidFill>
          <a:ln/>
        </p:spPr>
      </p:sp>
      <p:sp>
        <p:nvSpPr>
          <p:cNvPr id="19" name="Text 17"/>
          <p:cNvSpPr txBox="1"/>
          <p:nvPr/>
        </p:nvSpPr>
        <p:spPr>
          <a:xfrm>
            <a:off x="4709160"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+33.9%</a:t>
            </a:r>
            <a:endParaRPr lang="en-US" sz="1300" dirty="0"/>
          </a:p>
        </p:txBody>
      </p:sp>
      <p:sp>
        <p:nvSpPr>
          <p:cNvPr id="20" name="Text 18"/>
          <p:cNvSpPr txBox="1"/>
          <p:nvPr/>
        </p:nvSpPr>
        <p:spPr>
          <a:xfrm>
            <a:off x="658368"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21" name="Shape 19"/>
          <p:cNvSpPr/>
          <p:nvPr/>
        </p:nvSpPr>
        <p:spPr>
          <a:xfrm>
            <a:off x="3813048" y="2599887"/>
            <a:ext cx="532173" cy="105898"/>
          </a:xfrm>
          <a:prstGeom prst="rect">
            <a:avLst/>
          </a:prstGeom>
          <a:solidFill>
            <a:srgbClr val="12A566"/>
          </a:solidFill>
          <a:ln/>
        </p:spPr>
      </p:sp>
      <p:sp>
        <p:nvSpPr>
          <p:cNvPr id="22" name="Text 20"/>
          <p:cNvSpPr txBox="1"/>
          <p:nvPr/>
        </p:nvSpPr>
        <p:spPr>
          <a:xfrm>
            <a:off x="4709160"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+28.9%</a:t>
            </a:r>
            <a:endParaRPr lang="en-US" sz="1300" dirty="0"/>
          </a:p>
        </p:txBody>
      </p:sp>
      <p:sp>
        <p:nvSpPr>
          <p:cNvPr id="23" name="Text 21"/>
          <p:cNvSpPr txBox="1"/>
          <p:nvPr/>
        </p:nvSpPr>
        <p:spPr>
          <a:xfrm>
            <a:off x="658368"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24" name="Shape 22"/>
          <p:cNvSpPr/>
          <p:nvPr/>
        </p:nvSpPr>
        <p:spPr>
          <a:xfrm>
            <a:off x="3813048" y="2830100"/>
            <a:ext cx="518316" cy="105898"/>
          </a:xfrm>
          <a:prstGeom prst="rect">
            <a:avLst/>
          </a:prstGeom>
          <a:solidFill>
            <a:srgbClr val="12A566"/>
          </a:solidFill>
          <a:ln/>
        </p:spPr>
      </p:sp>
      <p:sp>
        <p:nvSpPr>
          <p:cNvPr id="25" name="Text 23"/>
          <p:cNvSpPr txBox="1"/>
          <p:nvPr/>
        </p:nvSpPr>
        <p:spPr>
          <a:xfrm>
            <a:off x="4709160"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+28.1%</a:t>
            </a:r>
            <a:endParaRPr lang="en-US" sz="1300" dirty="0"/>
          </a:p>
        </p:txBody>
      </p:sp>
      <p:sp>
        <p:nvSpPr>
          <p:cNvPr id="26" name="Text 24"/>
          <p:cNvSpPr txBox="1"/>
          <p:nvPr/>
        </p:nvSpPr>
        <p:spPr>
          <a:xfrm>
            <a:off x="658368"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27" name="Shape 25"/>
          <p:cNvSpPr/>
          <p:nvPr/>
        </p:nvSpPr>
        <p:spPr>
          <a:xfrm>
            <a:off x="3813048" y="3060314"/>
            <a:ext cx="503881" cy="105898"/>
          </a:xfrm>
          <a:prstGeom prst="rect">
            <a:avLst/>
          </a:prstGeom>
          <a:solidFill>
            <a:srgbClr val="12A566"/>
          </a:solidFill>
          <a:ln/>
        </p:spPr>
      </p:sp>
      <p:sp>
        <p:nvSpPr>
          <p:cNvPr id="28" name="Text 26"/>
          <p:cNvSpPr txBox="1"/>
          <p:nvPr/>
        </p:nvSpPr>
        <p:spPr>
          <a:xfrm>
            <a:off x="4709160"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+27.3%</a:t>
            </a:r>
            <a:endParaRPr lang="en-US" sz="1300" dirty="0"/>
          </a:p>
        </p:txBody>
      </p:sp>
      <p:sp>
        <p:nvSpPr>
          <p:cNvPr id="29" name="Text 27"/>
          <p:cNvSpPr txBox="1"/>
          <p:nvPr/>
        </p:nvSpPr>
        <p:spPr>
          <a:xfrm>
            <a:off x="658368"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30" name="Shape 28"/>
          <p:cNvSpPr/>
          <p:nvPr/>
        </p:nvSpPr>
        <p:spPr>
          <a:xfrm>
            <a:off x="3813048" y="3290528"/>
            <a:ext cx="427123" cy="105898"/>
          </a:xfrm>
          <a:prstGeom prst="rect">
            <a:avLst/>
          </a:prstGeom>
          <a:solidFill>
            <a:srgbClr val="12A566"/>
          </a:solidFill>
          <a:ln/>
        </p:spPr>
      </p:sp>
      <p:sp>
        <p:nvSpPr>
          <p:cNvPr id="31" name="Text 29"/>
          <p:cNvSpPr txBox="1"/>
          <p:nvPr/>
        </p:nvSpPr>
        <p:spPr>
          <a:xfrm>
            <a:off x="4709160" y="3228370"/>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+23.2%</a:t>
            </a:r>
            <a:endParaRPr lang="en-US" sz="1300" dirty="0"/>
          </a:p>
        </p:txBody>
      </p:sp>
      <p:sp>
        <p:nvSpPr>
          <p:cNvPr id="32" name="Text 30"/>
          <p:cNvSpPr txBox="1"/>
          <p:nvPr/>
        </p:nvSpPr>
        <p:spPr>
          <a:xfrm>
            <a:off x="658368"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33" name="Shape 31"/>
          <p:cNvSpPr/>
          <p:nvPr/>
        </p:nvSpPr>
        <p:spPr>
          <a:xfrm>
            <a:off x="3813048" y="3520741"/>
            <a:ext cx="338839" cy="105898"/>
          </a:xfrm>
          <a:prstGeom prst="rect">
            <a:avLst/>
          </a:prstGeom>
          <a:solidFill>
            <a:srgbClr val="12A566"/>
          </a:solidFill>
          <a:ln/>
        </p:spPr>
      </p:sp>
      <p:sp>
        <p:nvSpPr>
          <p:cNvPr id="34" name="Text 32"/>
          <p:cNvSpPr txBox="1"/>
          <p:nvPr/>
        </p:nvSpPr>
        <p:spPr>
          <a:xfrm>
            <a:off x="4709160" y="345858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+18.4%</a:t>
            </a:r>
            <a:endParaRPr lang="en-US" sz="1300" dirty="0"/>
          </a:p>
        </p:txBody>
      </p:sp>
      <p:sp>
        <p:nvSpPr>
          <p:cNvPr id="35" name="Text 33"/>
          <p:cNvSpPr txBox="1"/>
          <p:nvPr/>
        </p:nvSpPr>
        <p:spPr>
          <a:xfrm>
            <a:off x="658368"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36" name="Shape 34"/>
          <p:cNvSpPr/>
          <p:nvPr/>
        </p:nvSpPr>
        <p:spPr>
          <a:xfrm>
            <a:off x="3813048" y="3750955"/>
            <a:ext cx="338614" cy="105898"/>
          </a:xfrm>
          <a:prstGeom prst="rect">
            <a:avLst/>
          </a:prstGeom>
          <a:solidFill>
            <a:srgbClr val="12A566"/>
          </a:solidFill>
          <a:ln/>
        </p:spPr>
      </p:sp>
      <p:sp>
        <p:nvSpPr>
          <p:cNvPr id="37" name="Text 35"/>
          <p:cNvSpPr txBox="1"/>
          <p:nvPr/>
        </p:nvSpPr>
        <p:spPr>
          <a:xfrm>
            <a:off x="4709160" y="3688797"/>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+18.4%</a:t>
            </a:r>
            <a:endParaRPr lang="en-US" sz="1300" dirty="0"/>
          </a:p>
        </p:txBody>
      </p:sp>
      <p:sp>
        <p:nvSpPr>
          <p:cNvPr id="38" name="Text 36"/>
          <p:cNvSpPr txBox="1"/>
          <p:nvPr/>
        </p:nvSpPr>
        <p:spPr>
          <a:xfrm>
            <a:off x="658368"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39" name="Shape 37"/>
          <p:cNvSpPr/>
          <p:nvPr/>
        </p:nvSpPr>
        <p:spPr>
          <a:xfrm>
            <a:off x="3813048" y="3981169"/>
            <a:ext cx="322708" cy="105898"/>
          </a:xfrm>
          <a:prstGeom prst="rect">
            <a:avLst/>
          </a:prstGeom>
          <a:solidFill>
            <a:srgbClr val="12A566"/>
          </a:solidFill>
          <a:ln/>
        </p:spPr>
      </p:sp>
      <p:sp>
        <p:nvSpPr>
          <p:cNvPr id="40" name="Text 38"/>
          <p:cNvSpPr txBox="1"/>
          <p:nvPr/>
        </p:nvSpPr>
        <p:spPr>
          <a:xfrm>
            <a:off x="4709160" y="3919011"/>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+17.5%</a:t>
            </a:r>
            <a:endParaRPr lang="en-US" sz="1300" dirty="0"/>
          </a:p>
        </p:txBody>
      </p:sp>
      <p:sp>
        <p:nvSpPr>
          <p:cNvPr id="41" name="Text 39"/>
          <p:cNvSpPr txBox="1"/>
          <p:nvPr/>
        </p:nvSpPr>
        <p:spPr>
          <a:xfrm>
            <a:off x="658368"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42" name="Shape 40"/>
          <p:cNvSpPr/>
          <p:nvPr/>
        </p:nvSpPr>
        <p:spPr>
          <a:xfrm>
            <a:off x="3813048" y="4211382"/>
            <a:ext cx="227633" cy="105898"/>
          </a:xfrm>
          <a:prstGeom prst="rect">
            <a:avLst/>
          </a:prstGeom>
          <a:solidFill>
            <a:srgbClr val="12A566"/>
          </a:solidFill>
          <a:ln/>
        </p:spPr>
      </p:sp>
      <p:sp>
        <p:nvSpPr>
          <p:cNvPr id="43" name="Text 41"/>
          <p:cNvSpPr txBox="1"/>
          <p:nvPr/>
        </p:nvSpPr>
        <p:spPr>
          <a:xfrm>
            <a:off x="4709160" y="414922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+12.3%</a:t>
            </a:r>
            <a:endParaRPr lang="en-US" sz="1300" dirty="0"/>
          </a:p>
        </p:txBody>
      </p:sp>
      <p:sp>
        <p:nvSpPr>
          <p:cNvPr id="44" name="Text 42"/>
          <p:cNvSpPr txBox="1"/>
          <p:nvPr/>
        </p:nvSpPr>
        <p:spPr>
          <a:xfrm>
            <a:off x="658368"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45" name="Shape 43"/>
          <p:cNvSpPr/>
          <p:nvPr/>
        </p:nvSpPr>
        <p:spPr>
          <a:xfrm>
            <a:off x="3813048" y="4441596"/>
            <a:ext cx="219404" cy="105898"/>
          </a:xfrm>
          <a:prstGeom prst="rect">
            <a:avLst/>
          </a:prstGeom>
          <a:solidFill>
            <a:srgbClr val="12A566"/>
          </a:solidFill>
          <a:ln/>
        </p:spPr>
      </p:sp>
      <p:sp>
        <p:nvSpPr>
          <p:cNvPr id="46" name="Text 44"/>
          <p:cNvSpPr txBox="1"/>
          <p:nvPr/>
        </p:nvSpPr>
        <p:spPr>
          <a:xfrm>
            <a:off x="4709160" y="437943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+11.9%</a:t>
            </a:r>
            <a:endParaRPr lang="en-US" sz="1300" dirty="0"/>
          </a:p>
        </p:txBody>
      </p:sp>
      <p:sp>
        <p:nvSpPr>
          <p:cNvPr id="47" name="Text 45"/>
          <p:cNvSpPr txBox="1"/>
          <p:nvPr/>
        </p:nvSpPr>
        <p:spPr>
          <a:xfrm>
            <a:off x="658368"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48" name="Shape 46"/>
          <p:cNvSpPr/>
          <p:nvPr/>
        </p:nvSpPr>
        <p:spPr>
          <a:xfrm>
            <a:off x="3813048" y="4671809"/>
            <a:ext cx="198168" cy="105898"/>
          </a:xfrm>
          <a:prstGeom prst="rect">
            <a:avLst/>
          </a:prstGeom>
          <a:solidFill>
            <a:srgbClr val="12A566"/>
          </a:solidFill>
          <a:ln/>
        </p:spPr>
      </p:sp>
      <p:sp>
        <p:nvSpPr>
          <p:cNvPr id="49" name="Text 47"/>
          <p:cNvSpPr txBox="1"/>
          <p:nvPr/>
        </p:nvSpPr>
        <p:spPr>
          <a:xfrm>
            <a:off x="4709160" y="460965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+10.7%</a:t>
            </a:r>
            <a:endParaRPr lang="en-US" sz="1300" dirty="0"/>
          </a:p>
        </p:txBody>
      </p:sp>
      <p:sp>
        <p:nvSpPr>
          <p:cNvPr id="50" name="Text 48"/>
          <p:cNvSpPr txBox="1"/>
          <p:nvPr/>
        </p:nvSpPr>
        <p:spPr>
          <a:xfrm>
            <a:off x="658368"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51" name="Shape 49"/>
          <p:cNvSpPr/>
          <p:nvPr/>
        </p:nvSpPr>
        <p:spPr>
          <a:xfrm>
            <a:off x="3813048" y="4902023"/>
            <a:ext cx="182255" cy="105898"/>
          </a:xfrm>
          <a:prstGeom prst="rect">
            <a:avLst/>
          </a:prstGeom>
          <a:solidFill>
            <a:srgbClr val="12A566"/>
          </a:solidFill>
          <a:ln/>
        </p:spPr>
      </p:sp>
      <p:sp>
        <p:nvSpPr>
          <p:cNvPr id="52" name="Text 50"/>
          <p:cNvSpPr txBox="1"/>
          <p:nvPr/>
        </p:nvSpPr>
        <p:spPr>
          <a:xfrm>
            <a:off x="4709160" y="483986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+9.9%</a:t>
            </a:r>
            <a:endParaRPr lang="en-US" sz="1300" dirty="0"/>
          </a:p>
        </p:txBody>
      </p:sp>
      <p:sp>
        <p:nvSpPr>
          <p:cNvPr id="53" name="Text 51"/>
          <p:cNvSpPr txBox="1"/>
          <p:nvPr/>
        </p:nvSpPr>
        <p:spPr>
          <a:xfrm>
            <a:off x="658368"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54" name="Shape 52"/>
          <p:cNvSpPr/>
          <p:nvPr/>
        </p:nvSpPr>
        <p:spPr>
          <a:xfrm>
            <a:off x="3813048" y="5132237"/>
            <a:ext cx="123611" cy="105898"/>
          </a:xfrm>
          <a:prstGeom prst="rect">
            <a:avLst/>
          </a:prstGeom>
          <a:solidFill>
            <a:srgbClr val="12A566"/>
          </a:solidFill>
          <a:ln/>
        </p:spPr>
      </p:sp>
      <p:sp>
        <p:nvSpPr>
          <p:cNvPr id="55" name="Text 53"/>
          <p:cNvSpPr txBox="1"/>
          <p:nvPr/>
        </p:nvSpPr>
        <p:spPr>
          <a:xfrm>
            <a:off x="4709160" y="507007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+6.7%</a:t>
            </a:r>
            <a:endParaRPr lang="en-US" sz="1300" dirty="0"/>
          </a:p>
        </p:txBody>
      </p:sp>
      <p:sp>
        <p:nvSpPr>
          <p:cNvPr id="56" name="Text 54"/>
          <p:cNvSpPr txBox="1"/>
          <p:nvPr/>
        </p:nvSpPr>
        <p:spPr>
          <a:xfrm>
            <a:off x="658368"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57" name="Shape 55"/>
          <p:cNvSpPr/>
          <p:nvPr/>
        </p:nvSpPr>
        <p:spPr>
          <a:xfrm>
            <a:off x="3813048" y="5362450"/>
            <a:ext cx="123546" cy="105898"/>
          </a:xfrm>
          <a:prstGeom prst="rect">
            <a:avLst/>
          </a:prstGeom>
          <a:solidFill>
            <a:srgbClr val="12A566"/>
          </a:solidFill>
          <a:ln/>
        </p:spPr>
      </p:sp>
      <p:sp>
        <p:nvSpPr>
          <p:cNvPr id="58" name="Text 56"/>
          <p:cNvSpPr txBox="1"/>
          <p:nvPr/>
        </p:nvSpPr>
        <p:spPr>
          <a:xfrm>
            <a:off x="4709160" y="530029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+6.7%</a:t>
            </a:r>
            <a:endParaRPr lang="en-US" sz="1300" dirty="0"/>
          </a:p>
        </p:txBody>
      </p:sp>
      <p:sp>
        <p:nvSpPr>
          <p:cNvPr id="59" name="Text 57"/>
          <p:cNvSpPr txBox="1"/>
          <p:nvPr/>
        </p:nvSpPr>
        <p:spPr>
          <a:xfrm>
            <a:off x="658368" y="553050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60" name="Shape 58"/>
          <p:cNvSpPr/>
          <p:nvPr/>
        </p:nvSpPr>
        <p:spPr>
          <a:xfrm>
            <a:off x="3813048" y="5592664"/>
            <a:ext cx="123265" cy="105898"/>
          </a:xfrm>
          <a:prstGeom prst="rect">
            <a:avLst/>
          </a:prstGeom>
          <a:solidFill>
            <a:srgbClr val="12A566"/>
          </a:solidFill>
          <a:ln/>
        </p:spPr>
      </p:sp>
      <p:sp>
        <p:nvSpPr>
          <p:cNvPr id="61" name="Text 59"/>
          <p:cNvSpPr txBox="1"/>
          <p:nvPr/>
        </p:nvSpPr>
        <p:spPr>
          <a:xfrm>
            <a:off x="4709160" y="553050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+6.7%</a:t>
            </a:r>
            <a:endParaRPr lang="en-US" sz="1300" dirty="0"/>
          </a:p>
        </p:txBody>
      </p:sp>
      <p:sp>
        <p:nvSpPr>
          <p:cNvPr id="62" name="Text 60"/>
          <p:cNvSpPr txBox="1"/>
          <p:nvPr/>
        </p:nvSpPr>
        <p:spPr>
          <a:xfrm>
            <a:off x="6208776"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63" name="Shape 61"/>
          <p:cNvSpPr/>
          <p:nvPr/>
        </p:nvSpPr>
        <p:spPr>
          <a:xfrm>
            <a:off x="9363456" y="1909246"/>
            <a:ext cx="112595" cy="105898"/>
          </a:xfrm>
          <a:prstGeom prst="rect">
            <a:avLst/>
          </a:prstGeom>
          <a:solidFill>
            <a:srgbClr val="12A566"/>
          </a:solidFill>
          <a:ln/>
        </p:spPr>
      </p:sp>
      <p:sp>
        <p:nvSpPr>
          <p:cNvPr id="64" name="Text 62"/>
          <p:cNvSpPr txBox="1"/>
          <p:nvPr/>
        </p:nvSpPr>
        <p:spPr>
          <a:xfrm>
            <a:off x="10259568"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+6.1%</a:t>
            </a:r>
            <a:endParaRPr lang="en-US" sz="1300" dirty="0"/>
          </a:p>
        </p:txBody>
      </p:sp>
      <p:sp>
        <p:nvSpPr>
          <p:cNvPr id="65" name="Text 63"/>
          <p:cNvSpPr txBox="1"/>
          <p:nvPr/>
        </p:nvSpPr>
        <p:spPr>
          <a:xfrm>
            <a:off x="6208776"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66" name="Shape 64"/>
          <p:cNvSpPr/>
          <p:nvPr/>
        </p:nvSpPr>
        <p:spPr>
          <a:xfrm>
            <a:off x="9363456" y="2139459"/>
            <a:ext cx="105864" cy="105898"/>
          </a:xfrm>
          <a:prstGeom prst="rect">
            <a:avLst/>
          </a:prstGeom>
          <a:solidFill>
            <a:srgbClr val="12A566"/>
          </a:solidFill>
          <a:ln/>
        </p:spPr>
      </p:sp>
      <p:sp>
        <p:nvSpPr>
          <p:cNvPr id="67" name="Text 65"/>
          <p:cNvSpPr txBox="1"/>
          <p:nvPr/>
        </p:nvSpPr>
        <p:spPr>
          <a:xfrm>
            <a:off x="10259568"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+5.7%</a:t>
            </a:r>
            <a:endParaRPr lang="en-US" sz="1300" dirty="0"/>
          </a:p>
        </p:txBody>
      </p:sp>
      <p:sp>
        <p:nvSpPr>
          <p:cNvPr id="68" name="Text 66"/>
          <p:cNvSpPr txBox="1"/>
          <p:nvPr/>
        </p:nvSpPr>
        <p:spPr>
          <a:xfrm>
            <a:off x="6208776"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69" name="Shape 67"/>
          <p:cNvSpPr/>
          <p:nvPr/>
        </p:nvSpPr>
        <p:spPr>
          <a:xfrm>
            <a:off x="9363456" y="2369673"/>
            <a:ext cx="94283" cy="105898"/>
          </a:xfrm>
          <a:prstGeom prst="rect">
            <a:avLst/>
          </a:prstGeom>
          <a:solidFill>
            <a:srgbClr val="12A566"/>
          </a:solidFill>
          <a:ln/>
        </p:spPr>
      </p:sp>
      <p:sp>
        <p:nvSpPr>
          <p:cNvPr id="70" name="Text 68"/>
          <p:cNvSpPr txBox="1"/>
          <p:nvPr/>
        </p:nvSpPr>
        <p:spPr>
          <a:xfrm>
            <a:off x="10259568"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+5.1%</a:t>
            </a:r>
            <a:endParaRPr lang="en-US" sz="1300" dirty="0"/>
          </a:p>
        </p:txBody>
      </p:sp>
      <p:sp>
        <p:nvSpPr>
          <p:cNvPr id="71" name="Text 69"/>
          <p:cNvSpPr txBox="1"/>
          <p:nvPr/>
        </p:nvSpPr>
        <p:spPr>
          <a:xfrm>
            <a:off x="6208776"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72" name="Shape 70"/>
          <p:cNvSpPr/>
          <p:nvPr/>
        </p:nvSpPr>
        <p:spPr>
          <a:xfrm>
            <a:off x="9363456" y="2599887"/>
            <a:ext cx="94030" cy="105898"/>
          </a:xfrm>
          <a:prstGeom prst="rect">
            <a:avLst/>
          </a:prstGeom>
          <a:solidFill>
            <a:srgbClr val="12A566"/>
          </a:solidFill>
          <a:ln/>
        </p:spPr>
      </p:sp>
      <p:sp>
        <p:nvSpPr>
          <p:cNvPr id="73" name="Text 71"/>
          <p:cNvSpPr txBox="1"/>
          <p:nvPr/>
        </p:nvSpPr>
        <p:spPr>
          <a:xfrm>
            <a:off x="10259568"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+5.1%</a:t>
            </a:r>
            <a:endParaRPr lang="en-US" sz="1300" dirty="0"/>
          </a:p>
        </p:txBody>
      </p:sp>
      <p:sp>
        <p:nvSpPr>
          <p:cNvPr id="74" name="Text 72"/>
          <p:cNvSpPr txBox="1"/>
          <p:nvPr/>
        </p:nvSpPr>
        <p:spPr>
          <a:xfrm>
            <a:off x="6208776"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75" name="Shape 73"/>
          <p:cNvSpPr/>
          <p:nvPr/>
        </p:nvSpPr>
        <p:spPr>
          <a:xfrm>
            <a:off x="9363456" y="2830100"/>
            <a:ext cx="12802" cy="105898"/>
          </a:xfrm>
          <a:prstGeom prst="rect">
            <a:avLst/>
          </a:prstGeom>
          <a:solidFill>
            <a:srgbClr val="12A566"/>
          </a:solidFill>
          <a:ln/>
        </p:spPr>
      </p:sp>
      <p:sp>
        <p:nvSpPr>
          <p:cNvPr id="76" name="Text 74"/>
          <p:cNvSpPr txBox="1"/>
          <p:nvPr/>
        </p:nvSpPr>
        <p:spPr>
          <a:xfrm>
            <a:off x="10259568"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+0.4%</a:t>
            </a:r>
            <a:endParaRPr lang="en-US" sz="1300" dirty="0"/>
          </a:p>
        </p:txBody>
      </p:sp>
      <p:sp>
        <p:nvSpPr>
          <p:cNvPr id="77" name="Text 75"/>
          <p:cNvSpPr txBox="1"/>
          <p:nvPr/>
        </p:nvSpPr>
        <p:spPr>
          <a:xfrm>
            <a:off x="6208776"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78" name="Shape 76"/>
          <p:cNvSpPr/>
          <p:nvPr/>
        </p:nvSpPr>
        <p:spPr>
          <a:xfrm>
            <a:off x="9363456" y="3060314"/>
            <a:ext cx="12802" cy="105898"/>
          </a:xfrm>
          <a:prstGeom prst="rect">
            <a:avLst/>
          </a:prstGeom>
          <a:solidFill>
            <a:srgbClr val="12A566"/>
          </a:solidFill>
          <a:ln/>
        </p:spPr>
      </p:sp>
      <p:sp>
        <p:nvSpPr>
          <p:cNvPr id="79" name="Text 77"/>
          <p:cNvSpPr txBox="1"/>
          <p:nvPr/>
        </p:nvSpPr>
        <p:spPr>
          <a:xfrm>
            <a:off x="10259568"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+0.4%</a:t>
            </a:r>
            <a:endParaRPr lang="en-US" sz="1300" dirty="0"/>
          </a:p>
        </p:txBody>
      </p:sp>
      <p:sp>
        <p:nvSpPr>
          <p:cNvPr id="80" name="Text 78"/>
          <p:cNvSpPr txBox="1"/>
          <p:nvPr/>
        </p:nvSpPr>
        <p:spPr>
          <a:xfrm>
            <a:off x="6208776"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81" name="Shape 79"/>
          <p:cNvSpPr/>
          <p:nvPr/>
        </p:nvSpPr>
        <p:spPr>
          <a:xfrm>
            <a:off x="9331916" y="3290528"/>
            <a:ext cx="31540" cy="105898"/>
          </a:xfrm>
          <a:prstGeom prst="rect">
            <a:avLst/>
          </a:prstGeom>
          <a:solidFill>
            <a:srgbClr val="C2352F"/>
          </a:solidFill>
          <a:ln/>
        </p:spPr>
      </p:sp>
      <p:sp>
        <p:nvSpPr>
          <p:cNvPr id="82" name="Text 80"/>
          <p:cNvSpPr txBox="1"/>
          <p:nvPr/>
        </p:nvSpPr>
        <p:spPr>
          <a:xfrm>
            <a:off x="10259568" y="3228370"/>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−1.7%</a:t>
            </a:r>
            <a:endParaRPr lang="en-US" sz="1300" dirty="0"/>
          </a:p>
        </p:txBody>
      </p:sp>
      <p:sp>
        <p:nvSpPr>
          <p:cNvPr id="83" name="Text 81"/>
          <p:cNvSpPr txBox="1"/>
          <p:nvPr/>
        </p:nvSpPr>
        <p:spPr>
          <a:xfrm>
            <a:off x="6208776"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84" name="Shape 82"/>
          <p:cNvSpPr/>
          <p:nvPr/>
        </p:nvSpPr>
        <p:spPr>
          <a:xfrm>
            <a:off x="9316209" y="3520741"/>
            <a:ext cx="47247" cy="105898"/>
          </a:xfrm>
          <a:prstGeom prst="rect">
            <a:avLst/>
          </a:prstGeom>
          <a:solidFill>
            <a:srgbClr val="C2352F"/>
          </a:solidFill>
          <a:ln/>
        </p:spPr>
      </p:sp>
      <p:sp>
        <p:nvSpPr>
          <p:cNvPr id="85" name="Text 83"/>
          <p:cNvSpPr txBox="1"/>
          <p:nvPr/>
        </p:nvSpPr>
        <p:spPr>
          <a:xfrm>
            <a:off x="10259568" y="345858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−2.6%</a:t>
            </a:r>
            <a:endParaRPr lang="en-US" sz="1300" dirty="0"/>
          </a:p>
        </p:txBody>
      </p:sp>
      <p:sp>
        <p:nvSpPr>
          <p:cNvPr id="86" name="Text 84"/>
          <p:cNvSpPr txBox="1"/>
          <p:nvPr/>
        </p:nvSpPr>
        <p:spPr>
          <a:xfrm>
            <a:off x="6208776"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87" name="Shape 85"/>
          <p:cNvSpPr/>
          <p:nvPr/>
        </p:nvSpPr>
        <p:spPr>
          <a:xfrm>
            <a:off x="9309777" y="3750955"/>
            <a:ext cx="53679" cy="105898"/>
          </a:xfrm>
          <a:prstGeom prst="rect">
            <a:avLst/>
          </a:prstGeom>
          <a:solidFill>
            <a:srgbClr val="C2352F"/>
          </a:solidFill>
          <a:ln/>
        </p:spPr>
      </p:sp>
      <p:sp>
        <p:nvSpPr>
          <p:cNvPr id="88" name="Text 86"/>
          <p:cNvSpPr txBox="1"/>
          <p:nvPr/>
        </p:nvSpPr>
        <p:spPr>
          <a:xfrm>
            <a:off x="10259568" y="3688797"/>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−2.9%</a:t>
            </a:r>
            <a:endParaRPr lang="en-US" sz="1300" dirty="0"/>
          </a:p>
        </p:txBody>
      </p:sp>
      <p:sp>
        <p:nvSpPr>
          <p:cNvPr id="89" name="Text 87"/>
          <p:cNvSpPr txBox="1"/>
          <p:nvPr/>
        </p:nvSpPr>
        <p:spPr>
          <a:xfrm>
            <a:off x="6208776"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90" name="Shape 88"/>
          <p:cNvSpPr/>
          <p:nvPr/>
        </p:nvSpPr>
        <p:spPr>
          <a:xfrm>
            <a:off x="9299359" y="3981169"/>
            <a:ext cx="64097" cy="105898"/>
          </a:xfrm>
          <a:prstGeom prst="rect">
            <a:avLst/>
          </a:prstGeom>
          <a:solidFill>
            <a:srgbClr val="C2352F"/>
          </a:solidFill>
          <a:ln/>
        </p:spPr>
      </p:sp>
      <p:sp>
        <p:nvSpPr>
          <p:cNvPr id="91" name="Text 89"/>
          <p:cNvSpPr txBox="1"/>
          <p:nvPr/>
        </p:nvSpPr>
        <p:spPr>
          <a:xfrm>
            <a:off x="10259568" y="3919011"/>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−3.5%</a:t>
            </a:r>
            <a:endParaRPr lang="en-US" sz="1300" dirty="0"/>
          </a:p>
        </p:txBody>
      </p:sp>
      <p:sp>
        <p:nvSpPr>
          <p:cNvPr id="92" name="Text 90"/>
          <p:cNvSpPr txBox="1"/>
          <p:nvPr/>
        </p:nvSpPr>
        <p:spPr>
          <a:xfrm>
            <a:off x="6208776"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93" name="Shape 91"/>
          <p:cNvSpPr/>
          <p:nvPr/>
        </p:nvSpPr>
        <p:spPr>
          <a:xfrm>
            <a:off x="9254764" y="4211382"/>
            <a:ext cx="108692" cy="105898"/>
          </a:xfrm>
          <a:prstGeom prst="rect">
            <a:avLst/>
          </a:prstGeom>
          <a:solidFill>
            <a:srgbClr val="C2352F"/>
          </a:solidFill>
          <a:ln/>
        </p:spPr>
      </p:sp>
      <p:sp>
        <p:nvSpPr>
          <p:cNvPr id="94" name="Text 92"/>
          <p:cNvSpPr txBox="1"/>
          <p:nvPr/>
        </p:nvSpPr>
        <p:spPr>
          <a:xfrm>
            <a:off x="10259568" y="414922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−5.9%</a:t>
            </a:r>
            <a:endParaRPr lang="en-US" sz="1300" dirty="0"/>
          </a:p>
        </p:txBody>
      </p:sp>
      <p:sp>
        <p:nvSpPr>
          <p:cNvPr id="95" name="Text 93"/>
          <p:cNvSpPr txBox="1"/>
          <p:nvPr/>
        </p:nvSpPr>
        <p:spPr>
          <a:xfrm>
            <a:off x="6208776"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96" name="Shape 94"/>
          <p:cNvSpPr/>
          <p:nvPr/>
        </p:nvSpPr>
        <p:spPr>
          <a:xfrm>
            <a:off x="9226414" y="4441596"/>
            <a:ext cx="137042" cy="105898"/>
          </a:xfrm>
          <a:prstGeom prst="rect">
            <a:avLst/>
          </a:prstGeom>
          <a:solidFill>
            <a:srgbClr val="C2352F"/>
          </a:solidFill>
          <a:ln/>
        </p:spPr>
      </p:sp>
      <p:sp>
        <p:nvSpPr>
          <p:cNvPr id="97" name="Text 95"/>
          <p:cNvSpPr txBox="1"/>
          <p:nvPr/>
        </p:nvSpPr>
        <p:spPr>
          <a:xfrm>
            <a:off x="10259568" y="4379438"/>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−7.4%</a:t>
            </a:r>
            <a:endParaRPr lang="en-US" sz="1300" dirty="0"/>
          </a:p>
        </p:txBody>
      </p:sp>
      <p:sp>
        <p:nvSpPr>
          <p:cNvPr id="98" name="Text 96"/>
          <p:cNvSpPr txBox="1"/>
          <p:nvPr/>
        </p:nvSpPr>
        <p:spPr>
          <a:xfrm>
            <a:off x="6208776"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99" name="Shape 97"/>
          <p:cNvSpPr/>
          <p:nvPr/>
        </p:nvSpPr>
        <p:spPr>
          <a:xfrm>
            <a:off x="9212884" y="4671809"/>
            <a:ext cx="150572" cy="105898"/>
          </a:xfrm>
          <a:prstGeom prst="rect">
            <a:avLst/>
          </a:prstGeom>
          <a:solidFill>
            <a:srgbClr val="C2352F"/>
          </a:solidFill>
          <a:ln/>
        </p:spPr>
      </p:sp>
      <p:sp>
        <p:nvSpPr>
          <p:cNvPr id="100" name="Text 98"/>
          <p:cNvSpPr txBox="1"/>
          <p:nvPr/>
        </p:nvSpPr>
        <p:spPr>
          <a:xfrm>
            <a:off x="10259568" y="4609652"/>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−8.2%</a:t>
            </a:r>
            <a:endParaRPr lang="en-US" sz="1300" dirty="0"/>
          </a:p>
        </p:txBody>
      </p:sp>
      <p:sp>
        <p:nvSpPr>
          <p:cNvPr id="101" name="Text 99"/>
          <p:cNvSpPr txBox="1"/>
          <p:nvPr/>
        </p:nvSpPr>
        <p:spPr>
          <a:xfrm>
            <a:off x="6208776"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102" name="Shape 100"/>
          <p:cNvSpPr/>
          <p:nvPr/>
        </p:nvSpPr>
        <p:spPr>
          <a:xfrm>
            <a:off x="9169702" y="4902023"/>
            <a:ext cx="193754" cy="105898"/>
          </a:xfrm>
          <a:prstGeom prst="rect">
            <a:avLst/>
          </a:prstGeom>
          <a:solidFill>
            <a:srgbClr val="C2352F"/>
          </a:solidFill>
          <a:ln/>
        </p:spPr>
      </p:sp>
      <p:sp>
        <p:nvSpPr>
          <p:cNvPr id="103" name="Text 101"/>
          <p:cNvSpPr txBox="1"/>
          <p:nvPr/>
        </p:nvSpPr>
        <p:spPr>
          <a:xfrm>
            <a:off x="10259568" y="4839865"/>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−10.5%</a:t>
            </a:r>
            <a:endParaRPr lang="en-US" sz="1300" dirty="0"/>
          </a:p>
        </p:txBody>
      </p:sp>
      <p:sp>
        <p:nvSpPr>
          <p:cNvPr id="104" name="Text 102"/>
          <p:cNvSpPr txBox="1"/>
          <p:nvPr/>
        </p:nvSpPr>
        <p:spPr>
          <a:xfrm>
            <a:off x="6208776"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105" name="Shape 103"/>
          <p:cNvSpPr/>
          <p:nvPr/>
        </p:nvSpPr>
        <p:spPr>
          <a:xfrm>
            <a:off x="9081623" y="5132237"/>
            <a:ext cx="281833" cy="105898"/>
          </a:xfrm>
          <a:prstGeom prst="rect">
            <a:avLst/>
          </a:prstGeom>
          <a:solidFill>
            <a:srgbClr val="C2352F"/>
          </a:solidFill>
          <a:ln/>
        </p:spPr>
      </p:sp>
      <p:sp>
        <p:nvSpPr>
          <p:cNvPr id="106" name="Text 104"/>
          <p:cNvSpPr txBox="1"/>
          <p:nvPr/>
        </p:nvSpPr>
        <p:spPr>
          <a:xfrm>
            <a:off x="10259568" y="5070079"/>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−15.3%</a:t>
            </a:r>
            <a:endParaRPr lang="en-US" sz="1300" dirty="0"/>
          </a:p>
        </p:txBody>
      </p:sp>
      <p:sp>
        <p:nvSpPr>
          <p:cNvPr id="107" name="Text 105"/>
          <p:cNvSpPr txBox="1"/>
          <p:nvPr/>
        </p:nvSpPr>
        <p:spPr>
          <a:xfrm>
            <a:off x="6208776"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108" name="Shape 106"/>
          <p:cNvSpPr/>
          <p:nvPr/>
        </p:nvSpPr>
        <p:spPr>
          <a:xfrm>
            <a:off x="8894269" y="5362450"/>
            <a:ext cx="469187" cy="105898"/>
          </a:xfrm>
          <a:prstGeom prst="rect">
            <a:avLst/>
          </a:prstGeom>
          <a:solidFill>
            <a:srgbClr val="C2352F"/>
          </a:solidFill>
          <a:ln/>
        </p:spPr>
      </p:sp>
      <p:sp>
        <p:nvSpPr>
          <p:cNvPr id="109" name="Text 107"/>
          <p:cNvSpPr txBox="1"/>
          <p:nvPr/>
        </p:nvSpPr>
        <p:spPr>
          <a:xfrm>
            <a:off x="10259568" y="530029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−25.4%</a:t>
            </a:r>
            <a:endParaRPr lang="en-US" sz="1300" dirty="0"/>
          </a:p>
        </p:txBody>
      </p:sp>
      <p:sp>
        <p:nvSpPr>
          <p:cNvPr id="110" name="Shape 108"/>
          <p:cNvSpPr/>
          <p:nvPr/>
        </p:nvSpPr>
        <p:spPr>
          <a:xfrm>
            <a:off x="3807562" y="1847088"/>
            <a:ext cx="10973" cy="3913632"/>
          </a:xfrm>
          <a:prstGeom prst="rect">
            <a:avLst/>
          </a:prstGeom>
          <a:solidFill>
            <a:srgbClr val="9AA3AD"/>
          </a:solidFill>
          <a:ln/>
        </p:spPr>
      </p:sp>
      <p:sp>
        <p:nvSpPr>
          <p:cNvPr id="111" name="Shape 109"/>
          <p:cNvSpPr/>
          <p:nvPr/>
        </p:nvSpPr>
        <p:spPr>
          <a:xfrm>
            <a:off x="9357970" y="1847088"/>
            <a:ext cx="10973" cy="3913632"/>
          </a:xfrm>
          <a:prstGeom prst="rect">
            <a:avLst/>
          </a:prstGeom>
          <a:solidFill>
            <a:srgbClr val="9AA3AD"/>
          </a:solidFill>
          <a:ln/>
        </p:spPr>
      </p:sp>
      <p:sp>
        <p:nvSpPr>
          <p:cNvPr id="112" name="Shape 110"/>
          <p:cNvSpPr/>
          <p:nvPr/>
        </p:nvSpPr>
        <p:spPr>
          <a:xfrm>
            <a:off x="457200" y="5961888"/>
            <a:ext cx="11274552" cy="548640"/>
          </a:xfrm>
          <a:prstGeom prst="rect">
            <a:avLst/>
          </a:prstGeom>
          <a:solidFill>
            <a:srgbClr val="E6F6EE"/>
          </a:solidFill>
          <a:ln/>
        </p:spPr>
      </p:sp>
      <p:sp>
        <p:nvSpPr>
          <p:cNvPr id="113" name="Text 111"/>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23 of 33 stores sold more CP hours, led by SUBARU ST GEORGE at +44.6% to 12,766. 10 declined; VW ST GEORGE fell most at −25.4%.</a:t>
            </a:r>
            <a:endParaRPr lang="en-US" sz="1600" dirty="0"/>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What Is Hours per RO?</a:t>
            </a:r>
            <a:endParaRPr lang="en-US" sz="2800" dirty="0"/>
          </a:p>
        </p:txBody>
      </p:sp>
      <p:sp>
        <p:nvSpPr>
          <p:cNvPr id="5" name="Shape 3"/>
          <p:cNvSpPr/>
          <p:nvPr/>
        </p:nvSpPr>
        <p:spPr>
          <a:xfrm>
            <a:off x="457200" y="1207008"/>
            <a:ext cx="11274552" cy="1024128"/>
          </a:xfrm>
          <a:prstGeom prst="rect">
            <a:avLst/>
          </a:prstGeom>
          <a:solidFill>
            <a:srgbClr val="EDF4FA"/>
          </a:solidFill>
          <a:ln/>
        </p:spPr>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400" b="1" dirty="0">
                <a:solidFill>
                  <a:srgbClr val="0B2C4A"/>
                </a:solidFill>
                <a:latin typeface="Inter" pitchFamily="34" charset="0"/>
                <a:ea typeface="Inter" pitchFamily="34" charset="-122"/>
                <a:cs typeface="Inter" pitchFamily="34" charset="-120"/>
              </a:rPr>
              <a:t>Hours per RO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CP hours sold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CP RO count</a:t>
            </a:r>
            <a:endParaRPr lang="en-US" sz="24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500" dirty="0">
                <a:solidFill>
                  <a:srgbClr val="595959"/>
                </a:solidFill>
                <a:latin typeface="Inter" pitchFamily="34" charset="0"/>
                <a:ea typeface="Inter" pitchFamily="34" charset="-122"/>
                <a:cs typeface="Inter" pitchFamily="34" charset="-120"/>
              </a:rPr>
              <a:t>How much labor time we sell on the average customer-pay visit.</a:t>
            </a:r>
            <a:endParaRPr lang="en-US" sz="1500" dirty="0"/>
          </a:p>
        </p:txBody>
      </p:sp>
      <p:sp>
        <p:nvSpPr>
          <p:cNvPr id="8" name="Text 6"/>
          <p:cNvSpPr txBox="1"/>
          <p:nvPr/>
        </p:nvSpPr>
        <p:spPr>
          <a:xfrm>
            <a:off x="457200" y="2340864"/>
            <a:ext cx="1828800" cy="457200"/>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0.1 HOUR</a:t>
            </a:r>
            <a:endParaRPr lang="en-US" sz="1400" dirty="0"/>
          </a:p>
        </p:txBody>
      </p:sp>
      <p:sp>
        <p:nvSpPr>
          <p:cNvPr id="9" name="Shape 7"/>
          <p:cNvSpPr/>
          <p:nvPr/>
        </p:nvSpPr>
        <p:spPr>
          <a:xfrm>
            <a:off x="2286000" y="2340864"/>
            <a:ext cx="4668012" cy="457200"/>
          </a:xfrm>
          <a:prstGeom prst="rect">
            <a:avLst/>
          </a:prstGeom>
          <a:solidFill>
            <a:srgbClr val="FFFFFF"/>
          </a:solidFill>
          <a:ln w="9525">
            <a:solidFill>
              <a:srgbClr val="D9D9D9"/>
            </a:solidFill>
            <a:prstDash val="solid"/>
          </a:ln>
        </p:spPr>
      </p:sp>
      <p:sp>
        <p:nvSpPr>
          <p:cNvPr id="10" name="Text 8"/>
          <p:cNvSpPr txBox="1"/>
          <p:nvPr/>
        </p:nvSpPr>
        <p:spPr>
          <a:xfrm>
            <a:off x="2359152" y="2340864"/>
            <a:ext cx="452170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0.1 hour more per RO  </a:t>
            </a:r>
            <a:pPr algn="ctr" indent="0" marL="0">
              <a:buNone/>
            </a:pPr>
            <a:r>
              <a:rPr lang="en-US" sz="1400" b="1" dirty="0">
                <a:solidFill>
                  <a:srgbClr val="0B2C4A"/>
                </a:solidFill>
                <a:latin typeface="Inter" pitchFamily="34" charset="0"/>
                <a:ea typeface="Inter" pitchFamily="34" charset="-122"/>
                <a:cs typeface="Inter" pitchFamily="34" charset="-120"/>
              </a:rPr>
              <a:t>= $4,543,691 of labor</a:t>
            </a:r>
            <a:endParaRPr lang="en-US" sz="1400" dirty="0"/>
          </a:p>
        </p:txBody>
      </p:sp>
      <p:sp>
        <p:nvSpPr>
          <p:cNvPr id="11" name="Shape 9"/>
          <p:cNvSpPr/>
          <p:nvPr/>
        </p:nvSpPr>
        <p:spPr>
          <a:xfrm>
            <a:off x="7063740" y="2340864"/>
            <a:ext cx="4668012" cy="457200"/>
          </a:xfrm>
          <a:prstGeom prst="rect">
            <a:avLst/>
          </a:prstGeom>
          <a:solidFill>
            <a:srgbClr val="FFFFFF"/>
          </a:solidFill>
          <a:ln w="9525">
            <a:solidFill>
              <a:srgbClr val="D9D9D9"/>
            </a:solidFill>
            <a:prstDash val="solid"/>
          </a:ln>
        </p:spPr>
      </p:sp>
      <p:sp>
        <p:nvSpPr>
          <p:cNvPr id="12" name="Text 10"/>
          <p:cNvSpPr txBox="1"/>
          <p:nvPr/>
        </p:nvSpPr>
        <p:spPr>
          <a:xfrm>
            <a:off x="7136892" y="2340864"/>
            <a:ext cx="452170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at a $162.42 ELR on  </a:t>
            </a:r>
            <a:pPr algn="ctr" indent="0" marL="0">
              <a:buNone/>
            </a:pPr>
            <a:r>
              <a:rPr lang="en-US" sz="1400" b="1" dirty="0">
                <a:solidFill>
                  <a:srgbClr val="0B2C4A"/>
                </a:solidFill>
                <a:latin typeface="Inter" pitchFamily="34" charset="0"/>
                <a:ea typeface="Inter" pitchFamily="34" charset="-122"/>
                <a:cs typeface="Inter" pitchFamily="34" charset="-120"/>
              </a:rPr>
              <a:t>279,756 ROs</a:t>
            </a:r>
            <a:endParaRPr lang="en-US" sz="1400" dirty="0"/>
          </a:p>
        </p:txBody>
      </p:sp>
      <p:sp>
        <p:nvSpPr>
          <p:cNvPr id="13" name="Shape 11"/>
          <p:cNvSpPr/>
          <p:nvPr/>
        </p:nvSpPr>
        <p:spPr>
          <a:xfrm>
            <a:off x="457200" y="2907792"/>
            <a:ext cx="4343400" cy="2944368"/>
          </a:xfrm>
          <a:prstGeom prst="rect">
            <a:avLst/>
          </a:prstGeom>
          <a:solidFill>
            <a:srgbClr val="FFFFFF"/>
          </a:solidFill>
          <a:ln/>
        </p:spPr>
      </p:sp>
      <p:sp>
        <p:nvSpPr>
          <p:cNvPr id="14" name="Shape 12"/>
          <p:cNvSpPr/>
          <p:nvPr/>
        </p:nvSpPr>
        <p:spPr>
          <a:xfrm>
            <a:off x="4937760" y="2907792"/>
            <a:ext cx="6793992" cy="2944368"/>
          </a:xfrm>
          <a:prstGeom prst="rect">
            <a:avLst/>
          </a:prstGeom>
          <a:solidFill>
            <a:srgbClr val="FFFFFF"/>
          </a:solidFill>
          <a:ln/>
        </p:spPr>
      </p:sp>
      <p:sp>
        <p:nvSpPr>
          <p:cNvPr id="15" name="Text 13"/>
          <p:cNvSpPr txBox="1"/>
          <p:nvPr/>
        </p:nvSpPr>
        <p:spPr>
          <a:xfrm>
            <a:off x="658368" y="3035808"/>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WHY IT MATTERS</a:t>
            </a:r>
            <a:endParaRPr lang="en-US" sz="1400" dirty="0"/>
          </a:p>
        </p:txBody>
      </p:sp>
      <p:sp>
        <p:nvSpPr>
          <p:cNvPr id="16" name="Text 14"/>
          <p:cNvSpPr txBox="1"/>
          <p:nvPr/>
        </p:nvSpPr>
        <p:spPr>
          <a:xfrm>
            <a:off x="5138928" y="3035808"/>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MOVES IT</a:t>
            </a:r>
            <a:endParaRPr lang="en-US" sz="1400" dirty="0"/>
          </a:p>
        </p:txBody>
      </p:sp>
      <p:sp>
        <p:nvSpPr>
          <p:cNvPr id="17" name="Text 15"/>
          <p:cNvSpPr txBox="1"/>
          <p:nvPr/>
        </p:nvSpPr>
        <p:spPr>
          <a:xfrm>
            <a:off x="658368" y="3410712"/>
            <a:ext cx="3977640" cy="2304288"/>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It cannot be manipulated: it is work the customer agreed to.</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It is the main lever while car count is flat.</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Selling more hours also sells parts.</a:t>
            </a:r>
            <a:endParaRPr lang="en-US" sz="1500" dirty="0"/>
          </a:p>
        </p:txBody>
      </p:sp>
      <p:sp>
        <p:nvSpPr>
          <p:cNvPr id="18" name="Shape 16"/>
          <p:cNvSpPr/>
          <p:nvPr/>
        </p:nvSpPr>
        <p:spPr>
          <a:xfrm>
            <a:off x="5138928" y="3410712"/>
            <a:ext cx="45720" cy="1065276"/>
          </a:xfrm>
          <a:prstGeom prst="rect">
            <a:avLst/>
          </a:prstGeom>
          <a:solidFill>
            <a:srgbClr val="2587C5"/>
          </a:solidFill>
          <a:ln/>
        </p:spPr>
      </p:sp>
      <p:sp>
        <p:nvSpPr>
          <p:cNvPr id="19" name="Text 17"/>
          <p:cNvSpPr txBox="1"/>
          <p:nvPr/>
        </p:nvSpPr>
        <p:spPr>
          <a:xfrm>
            <a:off x="5266944" y="3410712"/>
            <a:ext cx="1877568" cy="106527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MPI on every car</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Every car inspected, with photos and video sent to the customer</a:t>
            </a:r>
            <a:endParaRPr lang="en-US" sz="1400" dirty="0"/>
          </a:p>
        </p:txBody>
      </p:sp>
      <p:sp>
        <p:nvSpPr>
          <p:cNvPr id="20" name="Shape 18"/>
          <p:cNvSpPr/>
          <p:nvPr/>
        </p:nvSpPr>
        <p:spPr>
          <a:xfrm>
            <a:off x="7309104" y="3410712"/>
            <a:ext cx="45720" cy="1065276"/>
          </a:xfrm>
          <a:prstGeom prst="rect">
            <a:avLst/>
          </a:prstGeom>
          <a:solidFill>
            <a:srgbClr val="2587C5"/>
          </a:solidFill>
          <a:ln/>
        </p:spPr>
      </p:sp>
      <p:sp>
        <p:nvSpPr>
          <p:cNvPr id="21" name="Text 19"/>
          <p:cNvSpPr txBox="1"/>
          <p:nvPr/>
        </p:nvSpPr>
        <p:spPr>
          <a:xfrm>
            <a:off x="7437120" y="3410712"/>
            <a:ext cx="1877568" cy="106527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Road to the Sale</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Walk-around at the vehicle: hood, tires and wipers</a:t>
            </a:r>
            <a:endParaRPr lang="en-US" sz="1400" dirty="0"/>
          </a:p>
        </p:txBody>
      </p:sp>
      <p:sp>
        <p:nvSpPr>
          <p:cNvPr id="22" name="Shape 20"/>
          <p:cNvSpPr/>
          <p:nvPr/>
        </p:nvSpPr>
        <p:spPr>
          <a:xfrm>
            <a:off x="9479280" y="3410712"/>
            <a:ext cx="45720" cy="1065276"/>
          </a:xfrm>
          <a:prstGeom prst="rect">
            <a:avLst/>
          </a:prstGeom>
          <a:solidFill>
            <a:srgbClr val="2587C5"/>
          </a:solidFill>
          <a:ln/>
        </p:spPr>
      </p:sp>
      <p:sp>
        <p:nvSpPr>
          <p:cNvPr id="23" name="Text 21"/>
          <p:cNvSpPr txBox="1"/>
          <p:nvPr/>
        </p:nvSpPr>
        <p:spPr>
          <a:xfrm>
            <a:off x="9607296" y="3410712"/>
            <a:ext cx="1877568" cy="106527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Menu presentation</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Time and mileage recommendations, every customer, every time</a:t>
            </a:r>
            <a:endParaRPr lang="en-US" sz="1400" dirty="0"/>
          </a:p>
        </p:txBody>
      </p:sp>
      <p:sp>
        <p:nvSpPr>
          <p:cNvPr id="24" name="Shape 22"/>
          <p:cNvSpPr/>
          <p:nvPr/>
        </p:nvSpPr>
        <p:spPr>
          <a:xfrm>
            <a:off x="5138928" y="4585716"/>
            <a:ext cx="45720" cy="1065276"/>
          </a:xfrm>
          <a:prstGeom prst="rect">
            <a:avLst/>
          </a:prstGeom>
          <a:solidFill>
            <a:srgbClr val="2587C5"/>
          </a:solidFill>
          <a:ln/>
        </p:spPr>
      </p:sp>
      <p:sp>
        <p:nvSpPr>
          <p:cNvPr id="25" name="Text 23"/>
          <p:cNvSpPr txBox="1"/>
          <p:nvPr/>
        </p:nvSpPr>
        <p:spPr>
          <a:xfrm>
            <a:off x="5266944" y="4585716"/>
            <a:ext cx="1877568" cy="106527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Declined work follow-up</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A defined process and a champion to bring it back</a:t>
            </a:r>
            <a:endParaRPr lang="en-US" sz="1400" dirty="0"/>
          </a:p>
        </p:txBody>
      </p:sp>
      <p:sp>
        <p:nvSpPr>
          <p:cNvPr id="26" name="Shape 24"/>
          <p:cNvSpPr/>
          <p:nvPr/>
        </p:nvSpPr>
        <p:spPr>
          <a:xfrm>
            <a:off x="7309104" y="4585716"/>
            <a:ext cx="45720" cy="1065276"/>
          </a:xfrm>
          <a:prstGeom prst="rect">
            <a:avLst/>
          </a:prstGeom>
          <a:solidFill>
            <a:srgbClr val="2587C5"/>
          </a:solidFill>
          <a:ln/>
        </p:spPr>
      </p:sp>
      <p:sp>
        <p:nvSpPr>
          <p:cNvPr id="27" name="Text 25"/>
          <p:cNvSpPr txBox="1"/>
          <p:nvPr/>
        </p:nvSpPr>
        <p:spPr>
          <a:xfrm>
            <a:off x="7437120" y="4585716"/>
            <a:ext cx="1877568" cy="106527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Op code times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Sell the hours the job pays; don't give time away</a:t>
            </a:r>
            <a:endParaRPr lang="en-US" sz="1400" dirty="0"/>
          </a:p>
        </p:txBody>
      </p:sp>
      <p:sp>
        <p:nvSpPr>
          <p:cNvPr id="28" name="Shape 26"/>
          <p:cNvSpPr/>
          <p:nvPr/>
        </p:nvSpPr>
        <p:spPr>
          <a:xfrm>
            <a:off x="9479280" y="4585716"/>
            <a:ext cx="45720" cy="1065276"/>
          </a:xfrm>
          <a:prstGeom prst="rect">
            <a:avLst/>
          </a:prstGeom>
          <a:solidFill>
            <a:srgbClr val="2587C5"/>
          </a:solidFill>
          <a:ln/>
        </p:spPr>
      </p:sp>
      <p:sp>
        <p:nvSpPr>
          <p:cNvPr id="29" name="Text 27"/>
          <p:cNvSpPr txBox="1"/>
          <p:nvPr/>
        </p:nvSpPr>
        <p:spPr>
          <a:xfrm>
            <a:off x="9607296" y="4585716"/>
            <a:ext cx="1877568" cy="106527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Right tech, right car</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High-mileage and repair work to the techs who find it</a:t>
            </a:r>
            <a:endParaRPr lang="en-US" sz="1400" dirty="0"/>
          </a:p>
        </p:txBody>
      </p:sp>
      <p:sp>
        <p:nvSpPr>
          <p:cNvPr id="30" name="Shape 28"/>
          <p:cNvSpPr/>
          <p:nvPr/>
        </p:nvSpPr>
        <p:spPr>
          <a:xfrm>
            <a:off x="457200" y="5961888"/>
            <a:ext cx="11274552" cy="548640"/>
          </a:xfrm>
          <a:prstGeom prst="rect">
            <a:avLst/>
          </a:prstGeom>
          <a:solidFill>
            <a:srgbClr val="E6F6EE"/>
          </a:solidFill>
          <a:ln/>
        </p:spPr>
      </p:sp>
      <p:sp>
        <p:nvSpPr>
          <p:cNvPr id="31" name="Text 29"/>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Group: 1.87 CP hours per RO, up 0.07 and ahead of 2025 in all nine months.</a:t>
            </a:r>
            <a:endParaRPr lang="en-US" sz="1600" dirty="0"/>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 · WHO'S MOVING NOW</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Who's Moving Now: CP Hours per RO</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713232" y="1298448"/>
            <a:ext cx="10762488" cy="310896"/>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Q1 → Q3 2026. Group 1.87 → 1.84, −1.8%: that is the season. 22 of 33 stores beat it.</a:t>
            </a:r>
            <a:endParaRPr lang="en-US" sz="1400" dirty="0"/>
          </a:p>
        </p:txBody>
      </p:sp>
      <p:sp>
        <p:nvSpPr>
          <p:cNvPr id="7" name="Text 5"/>
          <p:cNvSpPr txBox="1"/>
          <p:nvPr/>
        </p:nvSpPr>
        <p:spPr>
          <a:xfrm>
            <a:off x="3657600" y="1682496"/>
            <a:ext cx="1554480" cy="274320"/>
          </a:xfrm>
          <a:prstGeom prst="rect">
            <a:avLst/>
          </a:prstGeom>
          <a:noFill/>
          <a:ln/>
        </p:spPr>
        <p:txBody>
          <a:bodyPr wrap="square" lIns="0" tIns="0" rIns="0" bIns="0" rtlCol="0" anchor="ctr"/>
          <a:lstStyle/>
          <a:p>
            <a:pPr algn="l" indent="0" marL="0">
              <a:buNone/>
            </a:pPr>
            <a:r>
              <a:rPr lang="en-US" sz="1400" b="1" dirty="0">
                <a:solidFill>
                  <a:srgbClr val="595959"/>
                </a:solidFill>
                <a:latin typeface="Inter" pitchFamily="34" charset="0"/>
                <a:ea typeface="Inter" pitchFamily="34" charset="-122"/>
                <a:cs typeface="Inter" pitchFamily="34" charset="-120"/>
              </a:rPr>
              <a:t>Q1 → Q3</a:t>
            </a:r>
            <a:endParaRPr lang="en-US" sz="1400" dirty="0"/>
          </a:p>
        </p:txBody>
      </p:sp>
      <p:sp>
        <p:nvSpPr>
          <p:cNvPr id="8" name="Text 6"/>
          <p:cNvSpPr txBox="1"/>
          <p:nvPr/>
        </p:nvSpPr>
        <p:spPr>
          <a:xfrm>
            <a:off x="5349240" y="1682496"/>
            <a:ext cx="2651760" cy="274320"/>
          </a:xfrm>
          <a:prstGeom prst="rect">
            <a:avLst/>
          </a:prstGeom>
          <a:noFill/>
          <a:ln/>
        </p:spPr>
        <p:txBody>
          <a:bodyPr wrap="square" lIns="0" tIns="0" rIns="0" bIns="0" rtlCol="0" anchor="ctr"/>
          <a:lstStyle/>
          <a:p>
            <a:pPr algn="l" indent="0" marL="0">
              <a:buNone/>
            </a:pPr>
            <a:r>
              <a:rPr lang="en-US" sz="1400" b="1" dirty="0">
                <a:solidFill>
                  <a:srgbClr val="595959"/>
                </a:solidFill>
                <a:latin typeface="Inter" pitchFamily="34" charset="0"/>
                <a:ea typeface="Inter" pitchFamily="34" charset="-122"/>
                <a:cs typeface="Inter" pitchFamily="34" charset="-120"/>
              </a:rPr>
              <a:t>Jan – Sep 2026, by month</a:t>
            </a:r>
            <a:endParaRPr lang="en-US" sz="1400" dirty="0"/>
          </a:p>
        </p:txBody>
      </p:sp>
      <p:sp>
        <p:nvSpPr>
          <p:cNvPr id="9" name="Text 7"/>
          <p:cNvSpPr txBox="1"/>
          <p:nvPr/>
        </p:nvSpPr>
        <p:spPr>
          <a:xfrm>
            <a:off x="8183880" y="1682496"/>
            <a:ext cx="1737360" cy="274320"/>
          </a:xfrm>
          <a:prstGeom prst="rect">
            <a:avLst/>
          </a:prstGeom>
          <a:noFill/>
          <a:ln/>
        </p:spPr>
        <p:txBody>
          <a:bodyPr wrap="square" lIns="0" tIns="0" rIns="0" bIns="0" rtlCol="0" anchor="ctr"/>
          <a:lstStyle/>
          <a:p>
            <a:pPr algn="l" indent="0" marL="0">
              <a:buNone/>
            </a:pPr>
            <a:r>
              <a:rPr lang="en-US" sz="1400" b="1" dirty="0">
                <a:solidFill>
                  <a:srgbClr val="595959"/>
                </a:solidFill>
                <a:latin typeface="Inter" pitchFamily="34" charset="0"/>
                <a:ea typeface="Inter" pitchFamily="34" charset="-122"/>
                <a:cs typeface="Inter" pitchFamily="34" charset="-120"/>
              </a:rPr>
              <a:t>Stepped up in</a:t>
            </a:r>
            <a:endParaRPr lang="en-US" sz="1400" dirty="0"/>
          </a:p>
        </p:txBody>
      </p:sp>
      <p:sp>
        <p:nvSpPr>
          <p:cNvPr id="10" name="Text 8"/>
          <p:cNvSpPr txBox="1"/>
          <p:nvPr/>
        </p:nvSpPr>
        <p:spPr>
          <a:xfrm>
            <a:off x="10195560" y="1682496"/>
            <a:ext cx="1371600" cy="274320"/>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Q1 → Q3</a:t>
            </a:r>
            <a:endParaRPr lang="en-US" sz="1400" dirty="0"/>
          </a:p>
        </p:txBody>
      </p:sp>
      <p:sp>
        <p:nvSpPr>
          <p:cNvPr id="11" name="Shape 9"/>
          <p:cNvSpPr/>
          <p:nvPr/>
        </p:nvSpPr>
        <p:spPr>
          <a:xfrm>
            <a:off x="621792" y="1993392"/>
            <a:ext cx="10945368" cy="382219"/>
          </a:xfrm>
          <a:prstGeom prst="rect">
            <a:avLst/>
          </a:prstGeom>
          <a:solidFill>
            <a:srgbClr val="F7F7F7"/>
          </a:solidFill>
          <a:ln/>
        </p:spPr>
      </p:sp>
      <p:sp>
        <p:nvSpPr>
          <p:cNvPr id="12" name="Text 10"/>
          <p:cNvSpPr txBox="1"/>
          <p:nvPr/>
        </p:nvSpPr>
        <p:spPr>
          <a:xfrm>
            <a:off x="749808" y="1993392"/>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3" name="Text 11"/>
          <p:cNvSpPr txBox="1"/>
          <p:nvPr/>
        </p:nvSpPr>
        <p:spPr>
          <a:xfrm>
            <a:off x="1097280" y="1993392"/>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MAZDA</a:t>
            </a:r>
            <a:endParaRPr lang="en-US" sz="1400" dirty="0"/>
          </a:p>
        </p:txBody>
      </p:sp>
      <p:sp>
        <p:nvSpPr>
          <p:cNvPr id="14" name="Text 12"/>
          <p:cNvSpPr txBox="1"/>
          <p:nvPr/>
        </p:nvSpPr>
        <p:spPr>
          <a:xfrm>
            <a:off x="3657600" y="1993392"/>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1.35 → 1.65</a:t>
            </a:r>
            <a:endParaRPr lang="en-US" sz="1400" dirty="0"/>
          </a:p>
        </p:txBody>
      </p:sp>
      <p:graphicFrame>
        <p:nvGraphicFramePr>
          <p:cNvPr id="15" name="Chart 0" descr=""/>
          <p:cNvGraphicFramePr/>
          <p:nvPr/>
        </p:nvGraphicFramePr>
        <p:xfrm>
          <a:off x="5276088" y="2011680"/>
          <a:ext cx="2697480" cy="345643"/>
        </p:xfrm>
        <a:graphic>
          <a:graphicData uri="http://schemas.openxmlformats.org/drawingml/2006/chart">
            <c:chart xmlns:c="http://schemas.openxmlformats.org/drawingml/2006/chart" r:id="rId2"/>
          </a:graphicData>
        </a:graphic>
      </p:graphicFrame>
      <p:sp>
        <p:nvSpPr>
          <p:cNvPr id="16" name="Text 13"/>
          <p:cNvSpPr txBox="1"/>
          <p:nvPr/>
        </p:nvSpPr>
        <p:spPr>
          <a:xfrm>
            <a:off x="8183880" y="1993392"/>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August</a:t>
            </a:r>
            <a:endParaRPr lang="en-US" sz="1400" dirty="0"/>
          </a:p>
        </p:txBody>
      </p:sp>
      <p:sp>
        <p:nvSpPr>
          <p:cNvPr id="17" name="Text 14"/>
          <p:cNvSpPr txBox="1"/>
          <p:nvPr/>
        </p:nvSpPr>
        <p:spPr>
          <a:xfrm>
            <a:off x="10195560" y="1993392"/>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+22.1%</a:t>
            </a:r>
            <a:endParaRPr lang="en-US" sz="1600" dirty="0"/>
          </a:p>
        </p:txBody>
      </p:sp>
      <p:sp>
        <p:nvSpPr>
          <p:cNvPr id="18" name="Text 15"/>
          <p:cNvSpPr txBox="1"/>
          <p:nvPr/>
        </p:nvSpPr>
        <p:spPr>
          <a:xfrm>
            <a:off x="749808" y="2375611"/>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9" name="Text 16"/>
          <p:cNvSpPr txBox="1"/>
          <p:nvPr/>
        </p:nvSpPr>
        <p:spPr>
          <a:xfrm>
            <a:off x="1097280" y="2375611"/>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p:txBody>
      </p:sp>
      <p:sp>
        <p:nvSpPr>
          <p:cNvPr id="20" name="Text 17"/>
          <p:cNvSpPr txBox="1"/>
          <p:nvPr/>
        </p:nvSpPr>
        <p:spPr>
          <a:xfrm>
            <a:off x="3657600" y="2375611"/>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1.56 → 1.76</a:t>
            </a:r>
            <a:endParaRPr lang="en-US" sz="1400" dirty="0"/>
          </a:p>
        </p:txBody>
      </p:sp>
      <p:graphicFrame>
        <p:nvGraphicFramePr>
          <p:cNvPr id="21" name="Chart 1" descr=""/>
          <p:cNvGraphicFramePr/>
          <p:nvPr/>
        </p:nvGraphicFramePr>
        <p:xfrm>
          <a:off x="5276088" y="2393899"/>
          <a:ext cx="2697480" cy="345643"/>
        </p:xfrm>
        <a:graphic>
          <a:graphicData uri="http://schemas.openxmlformats.org/drawingml/2006/chart">
            <c:chart xmlns:c="http://schemas.openxmlformats.org/drawingml/2006/chart" r:id="rId3"/>
          </a:graphicData>
        </a:graphic>
      </p:graphicFrame>
      <p:sp>
        <p:nvSpPr>
          <p:cNvPr id="22" name="Text 18"/>
          <p:cNvSpPr txBox="1"/>
          <p:nvPr/>
        </p:nvSpPr>
        <p:spPr>
          <a:xfrm>
            <a:off x="8183880" y="2375611"/>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July</a:t>
            </a:r>
            <a:endParaRPr lang="en-US" sz="1400" dirty="0"/>
          </a:p>
        </p:txBody>
      </p:sp>
      <p:sp>
        <p:nvSpPr>
          <p:cNvPr id="23" name="Text 19"/>
          <p:cNvSpPr txBox="1"/>
          <p:nvPr/>
        </p:nvSpPr>
        <p:spPr>
          <a:xfrm>
            <a:off x="10195560" y="2375611"/>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+13.1%</a:t>
            </a:r>
            <a:endParaRPr lang="en-US" sz="1600" dirty="0"/>
          </a:p>
        </p:txBody>
      </p:sp>
      <p:sp>
        <p:nvSpPr>
          <p:cNvPr id="24" name="Shape 20"/>
          <p:cNvSpPr/>
          <p:nvPr/>
        </p:nvSpPr>
        <p:spPr>
          <a:xfrm>
            <a:off x="621792" y="2757830"/>
            <a:ext cx="10945368" cy="382219"/>
          </a:xfrm>
          <a:prstGeom prst="rect">
            <a:avLst/>
          </a:prstGeom>
          <a:solidFill>
            <a:srgbClr val="F7F7F7"/>
          </a:solidFill>
          <a:ln/>
        </p:spPr>
      </p:sp>
      <p:sp>
        <p:nvSpPr>
          <p:cNvPr id="25" name="Text 21"/>
          <p:cNvSpPr txBox="1"/>
          <p:nvPr/>
        </p:nvSpPr>
        <p:spPr>
          <a:xfrm>
            <a:off x="749808" y="2757830"/>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6" name="Text 22"/>
          <p:cNvSpPr txBox="1"/>
          <p:nvPr/>
        </p:nvSpPr>
        <p:spPr>
          <a:xfrm>
            <a:off x="1097280" y="2757830"/>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p:txBody>
      </p:sp>
      <p:sp>
        <p:nvSpPr>
          <p:cNvPr id="27" name="Text 23"/>
          <p:cNvSpPr txBox="1"/>
          <p:nvPr/>
        </p:nvSpPr>
        <p:spPr>
          <a:xfrm>
            <a:off x="3657600" y="2757830"/>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1.37 → 1.54</a:t>
            </a:r>
            <a:endParaRPr lang="en-US" sz="1400" dirty="0"/>
          </a:p>
        </p:txBody>
      </p:sp>
      <p:graphicFrame>
        <p:nvGraphicFramePr>
          <p:cNvPr id="28" name="Chart 2" descr=""/>
          <p:cNvGraphicFramePr/>
          <p:nvPr/>
        </p:nvGraphicFramePr>
        <p:xfrm>
          <a:off x="5276088" y="2776118"/>
          <a:ext cx="2697480" cy="345643"/>
        </p:xfrm>
        <a:graphic>
          <a:graphicData uri="http://schemas.openxmlformats.org/drawingml/2006/chart">
            <c:chart xmlns:c="http://schemas.openxmlformats.org/drawingml/2006/chart" r:id="rId4"/>
          </a:graphicData>
        </a:graphic>
      </p:graphicFrame>
      <p:sp>
        <p:nvSpPr>
          <p:cNvPr id="29" name="Text 24"/>
          <p:cNvSpPr txBox="1"/>
          <p:nvPr/>
        </p:nvSpPr>
        <p:spPr>
          <a:xfrm>
            <a:off x="8183880" y="2757830"/>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June</a:t>
            </a:r>
            <a:endParaRPr lang="en-US" sz="1400" dirty="0"/>
          </a:p>
        </p:txBody>
      </p:sp>
      <p:sp>
        <p:nvSpPr>
          <p:cNvPr id="30" name="Text 25"/>
          <p:cNvSpPr txBox="1"/>
          <p:nvPr/>
        </p:nvSpPr>
        <p:spPr>
          <a:xfrm>
            <a:off x="10195560" y="2757830"/>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+12.2%</a:t>
            </a:r>
            <a:endParaRPr lang="en-US" sz="1600" dirty="0"/>
          </a:p>
        </p:txBody>
      </p:sp>
      <p:sp>
        <p:nvSpPr>
          <p:cNvPr id="31" name="Text 26"/>
          <p:cNvSpPr txBox="1"/>
          <p:nvPr/>
        </p:nvSpPr>
        <p:spPr>
          <a:xfrm>
            <a:off x="749808" y="3140050"/>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32" name="Text 27"/>
          <p:cNvSpPr txBox="1"/>
          <p:nvPr/>
        </p:nvSpPr>
        <p:spPr>
          <a:xfrm>
            <a:off x="1097280" y="3140050"/>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p:txBody>
      </p:sp>
      <p:sp>
        <p:nvSpPr>
          <p:cNvPr id="33" name="Text 28"/>
          <p:cNvSpPr txBox="1"/>
          <p:nvPr/>
        </p:nvSpPr>
        <p:spPr>
          <a:xfrm>
            <a:off x="3657600" y="3140050"/>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1.23 → 1.38</a:t>
            </a:r>
            <a:endParaRPr lang="en-US" sz="1400" dirty="0"/>
          </a:p>
        </p:txBody>
      </p:sp>
      <p:graphicFrame>
        <p:nvGraphicFramePr>
          <p:cNvPr id="34" name="Chart 3" descr=""/>
          <p:cNvGraphicFramePr/>
          <p:nvPr/>
        </p:nvGraphicFramePr>
        <p:xfrm>
          <a:off x="5276088" y="3158338"/>
          <a:ext cx="2697480" cy="345643"/>
        </p:xfrm>
        <a:graphic>
          <a:graphicData uri="http://schemas.openxmlformats.org/drawingml/2006/chart">
            <c:chart xmlns:c="http://schemas.openxmlformats.org/drawingml/2006/chart" r:id="rId5"/>
          </a:graphicData>
        </a:graphic>
      </p:graphicFrame>
      <p:sp>
        <p:nvSpPr>
          <p:cNvPr id="35" name="Text 29"/>
          <p:cNvSpPr txBox="1"/>
          <p:nvPr/>
        </p:nvSpPr>
        <p:spPr>
          <a:xfrm>
            <a:off x="8183880" y="3140050"/>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July</a:t>
            </a:r>
            <a:endParaRPr lang="en-US" sz="1400" dirty="0"/>
          </a:p>
        </p:txBody>
      </p:sp>
      <p:sp>
        <p:nvSpPr>
          <p:cNvPr id="36" name="Text 30"/>
          <p:cNvSpPr txBox="1"/>
          <p:nvPr/>
        </p:nvSpPr>
        <p:spPr>
          <a:xfrm>
            <a:off x="10195560" y="3140050"/>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+11.7%</a:t>
            </a:r>
            <a:endParaRPr lang="en-US" sz="1600" dirty="0"/>
          </a:p>
        </p:txBody>
      </p:sp>
      <p:sp>
        <p:nvSpPr>
          <p:cNvPr id="37" name="Shape 31"/>
          <p:cNvSpPr/>
          <p:nvPr/>
        </p:nvSpPr>
        <p:spPr>
          <a:xfrm>
            <a:off x="621792" y="3522269"/>
            <a:ext cx="10945368" cy="382219"/>
          </a:xfrm>
          <a:prstGeom prst="rect">
            <a:avLst/>
          </a:prstGeom>
          <a:solidFill>
            <a:srgbClr val="F7F7F7"/>
          </a:solidFill>
          <a:ln/>
        </p:spPr>
      </p:sp>
      <p:sp>
        <p:nvSpPr>
          <p:cNvPr id="38" name="Text 32"/>
          <p:cNvSpPr txBox="1"/>
          <p:nvPr/>
        </p:nvSpPr>
        <p:spPr>
          <a:xfrm>
            <a:off x="749808" y="3522269"/>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39" name="Text 33"/>
          <p:cNvSpPr txBox="1"/>
          <p:nvPr/>
        </p:nvSpPr>
        <p:spPr>
          <a:xfrm>
            <a:off x="1097280" y="3522269"/>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CHEVY GMC BULLHEAD</a:t>
            </a:r>
            <a:endParaRPr lang="en-US" sz="1400" dirty="0"/>
          </a:p>
        </p:txBody>
      </p:sp>
      <p:sp>
        <p:nvSpPr>
          <p:cNvPr id="40" name="Text 34"/>
          <p:cNvSpPr txBox="1"/>
          <p:nvPr/>
        </p:nvSpPr>
        <p:spPr>
          <a:xfrm>
            <a:off x="3657600" y="3522269"/>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1.65 → 1.79</a:t>
            </a:r>
            <a:endParaRPr lang="en-US" sz="1400" dirty="0"/>
          </a:p>
        </p:txBody>
      </p:sp>
      <p:graphicFrame>
        <p:nvGraphicFramePr>
          <p:cNvPr id="41" name="Chart 4" descr=""/>
          <p:cNvGraphicFramePr/>
          <p:nvPr/>
        </p:nvGraphicFramePr>
        <p:xfrm>
          <a:off x="5276088" y="3540557"/>
          <a:ext cx="2697480" cy="345643"/>
        </p:xfrm>
        <a:graphic>
          <a:graphicData uri="http://schemas.openxmlformats.org/drawingml/2006/chart">
            <c:chart xmlns:c="http://schemas.openxmlformats.org/drawingml/2006/chart" r:id="rId6"/>
          </a:graphicData>
        </a:graphic>
      </p:graphicFrame>
      <p:sp>
        <p:nvSpPr>
          <p:cNvPr id="42" name="Text 35"/>
          <p:cNvSpPr txBox="1"/>
          <p:nvPr/>
        </p:nvSpPr>
        <p:spPr>
          <a:xfrm>
            <a:off x="8183880" y="3522269"/>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April</a:t>
            </a:r>
            <a:endParaRPr lang="en-US" sz="1400" dirty="0"/>
          </a:p>
        </p:txBody>
      </p:sp>
      <p:sp>
        <p:nvSpPr>
          <p:cNvPr id="43" name="Text 36"/>
          <p:cNvSpPr txBox="1"/>
          <p:nvPr/>
        </p:nvSpPr>
        <p:spPr>
          <a:xfrm>
            <a:off x="10195560" y="3522269"/>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+8.6%</a:t>
            </a:r>
            <a:endParaRPr lang="en-US" sz="1600" dirty="0"/>
          </a:p>
        </p:txBody>
      </p:sp>
      <p:sp>
        <p:nvSpPr>
          <p:cNvPr id="44" name="Text 37"/>
          <p:cNvSpPr txBox="1"/>
          <p:nvPr/>
        </p:nvSpPr>
        <p:spPr>
          <a:xfrm>
            <a:off x="749808" y="3904488"/>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6</a:t>
            </a:r>
            <a:endParaRPr lang="en-US" sz="1500" dirty="0"/>
          </a:p>
        </p:txBody>
      </p:sp>
      <p:sp>
        <p:nvSpPr>
          <p:cNvPr id="45" name="Text 38"/>
          <p:cNvSpPr txBox="1"/>
          <p:nvPr/>
        </p:nvSpPr>
        <p:spPr>
          <a:xfrm>
            <a:off x="1097280" y="3904488"/>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TOYOTA PRESCOTT</a:t>
            </a:r>
            <a:endParaRPr lang="en-US" sz="1400" dirty="0"/>
          </a:p>
        </p:txBody>
      </p:sp>
      <p:sp>
        <p:nvSpPr>
          <p:cNvPr id="46" name="Text 39"/>
          <p:cNvSpPr txBox="1"/>
          <p:nvPr/>
        </p:nvSpPr>
        <p:spPr>
          <a:xfrm>
            <a:off x="3657600" y="3904488"/>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1.29 → 1.40</a:t>
            </a:r>
            <a:endParaRPr lang="en-US" sz="1400" dirty="0"/>
          </a:p>
        </p:txBody>
      </p:sp>
      <p:graphicFrame>
        <p:nvGraphicFramePr>
          <p:cNvPr id="47" name="Chart 5" descr=""/>
          <p:cNvGraphicFramePr/>
          <p:nvPr/>
        </p:nvGraphicFramePr>
        <p:xfrm>
          <a:off x="5276088" y="3922776"/>
          <a:ext cx="2697480" cy="345643"/>
        </p:xfrm>
        <a:graphic>
          <a:graphicData uri="http://schemas.openxmlformats.org/drawingml/2006/chart">
            <c:chart xmlns:c="http://schemas.openxmlformats.org/drawingml/2006/chart" r:id="rId7"/>
          </a:graphicData>
        </a:graphic>
      </p:graphicFrame>
      <p:sp>
        <p:nvSpPr>
          <p:cNvPr id="48" name="Text 40"/>
          <p:cNvSpPr txBox="1"/>
          <p:nvPr/>
        </p:nvSpPr>
        <p:spPr>
          <a:xfrm>
            <a:off x="8183880" y="3904488"/>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April</a:t>
            </a:r>
            <a:endParaRPr lang="en-US" sz="1400" dirty="0"/>
          </a:p>
        </p:txBody>
      </p:sp>
      <p:sp>
        <p:nvSpPr>
          <p:cNvPr id="49" name="Text 41"/>
          <p:cNvSpPr txBox="1"/>
          <p:nvPr/>
        </p:nvSpPr>
        <p:spPr>
          <a:xfrm>
            <a:off x="10195560" y="3904488"/>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+8.2%</a:t>
            </a:r>
            <a:endParaRPr lang="en-US" sz="1600" dirty="0"/>
          </a:p>
        </p:txBody>
      </p:sp>
      <p:sp>
        <p:nvSpPr>
          <p:cNvPr id="50" name="Shape 42"/>
          <p:cNvSpPr/>
          <p:nvPr/>
        </p:nvSpPr>
        <p:spPr>
          <a:xfrm>
            <a:off x="621792" y="4286707"/>
            <a:ext cx="10945368" cy="382219"/>
          </a:xfrm>
          <a:prstGeom prst="rect">
            <a:avLst/>
          </a:prstGeom>
          <a:solidFill>
            <a:srgbClr val="F7F7F7"/>
          </a:solidFill>
          <a:ln/>
        </p:spPr>
      </p:sp>
      <p:sp>
        <p:nvSpPr>
          <p:cNvPr id="51" name="Text 43"/>
          <p:cNvSpPr txBox="1"/>
          <p:nvPr/>
        </p:nvSpPr>
        <p:spPr>
          <a:xfrm>
            <a:off x="749808" y="4286707"/>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7</a:t>
            </a:r>
            <a:endParaRPr lang="en-US" sz="1500" dirty="0"/>
          </a:p>
        </p:txBody>
      </p:sp>
      <p:sp>
        <p:nvSpPr>
          <p:cNvPr id="52" name="Text 44"/>
          <p:cNvSpPr txBox="1"/>
          <p:nvPr/>
        </p:nvSpPr>
        <p:spPr>
          <a:xfrm>
            <a:off x="1097280" y="4286707"/>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ACURA</a:t>
            </a:r>
            <a:endParaRPr lang="en-US" sz="1400" dirty="0"/>
          </a:p>
        </p:txBody>
      </p:sp>
      <p:sp>
        <p:nvSpPr>
          <p:cNvPr id="53" name="Text 45"/>
          <p:cNvSpPr txBox="1"/>
          <p:nvPr/>
        </p:nvSpPr>
        <p:spPr>
          <a:xfrm>
            <a:off x="3657600" y="4286707"/>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1.33 → 1.40</a:t>
            </a:r>
            <a:endParaRPr lang="en-US" sz="1400" dirty="0"/>
          </a:p>
        </p:txBody>
      </p:sp>
      <p:graphicFrame>
        <p:nvGraphicFramePr>
          <p:cNvPr id="54" name="Chart 6" descr=""/>
          <p:cNvGraphicFramePr/>
          <p:nvPr/>
        </p:nvGraphicFramePr>
        <p:xfrm>
          <a:off x="5276088" y="4304995"/>
          <a:ext cx="2697480" cy="345643"/>
        </p:xfrm>
        <a:graphic>
          <a:graphicData uri="http://schemas.openxmlformats.org/drawingml/2006/chart">
            <c:chart xmlns:c="http://schemas.openxmlformats.org/drawingml/2006/chart" r:id="rId8"/>
          </a:graphicData>
        </a:graphic>
      </p:graphicFrame>
      <p:sp>
        <p:nvSpPr>
          <p:cNvPr id="55" name="Text 46"/>
          <p:cNvSpPr txBox="1"/>
          <p:nvPr/>
        </p:nvSpPr>
        <p:spPr>
          <a:xfrm>
            <a:off x="8183880" y="4286707"/>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May</a:t>
            </a:r>
            <a:endParaRPr lang="en-US" sz="1400" dirty="0"/>
          </a:p>
        </p:txBody>
      </p:sp>
      <p:sp>
        <p:nvSpPr>
          <p:cNvPr id="56" name="Text 47"/>
          <p:cNvSpPr txBox="1"/>
          <p:nvPr/>
        </p:nvSpPr>
        <p:spPr>
          <a:xfrm>
            <a:off x="10195560" y="4286707"/>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+5.2%</a:t>
            </a:r>
            <a:endParaRPr lang="en-US" sz="1600" dirty="0"/>
          </a:p>
        </p:txBody>
      </p:sp>
      <p:sp>
        <p:nvSpPr>
          <p:cNvPr id="57" name="Text 48"/>
          <p:cNvSpPr txBox="1"/>
          <p:nvPr/>
        </p:nvSpPr>
        <p:spPr>
          <a:xfrm>
            <a:off x="749808" y="4668926"/>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8</a:t>
            </a:r>
            <a:endParaRPr lang="en-US" sz="1500" dirty="0"/>
          </a:p>
        </p:txBody>
      </p:sp>
      <p:sp>
        <p:nvSpPr>
          <p:cNvPr id="58" name="Text 49"/>
          <p:cNvSpPr txBox="1"/>
          <p:nvPr/>
        </p:nvSpPr>
        <p:spPr>
          <a:xfrm>
            <a:off x="1097280" y="4668926"/>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CDJR POST FALLS</a:t>
            </a:r>
            <a:endParaRPr lang="en-US" sz="1400" dirty="0"/>
          </a:p>
        </p:txBody>
      </p:sp>
      <p:sp>
        <p:nvSpPr>
          <p:cNvPr id="59" name="Text 50"/>
          <p:cNvSpPr txBox="1"/>
          <p:nvPr/>
        </p:nvSpPr>
        <p:spPr>
          <a:xfrm>
            <a:off x="3657600" y="4668926"/>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2.19 → 2.30</a:t>
            </a:r>
            <a:endParaRPr lang="en-US" sz="1400" dirty="0"/>
          </a:p>
        </p:txBody>
      </p:sp>
      <p:graphicFrame>
        <p:nvGraphicFramePr>
          <p:cNvPr id="60" name="Chart 7" descr=""/>
          <p:cNvGraphicFramePr/>
          <p:nvPr/>
        </p:nvGraphicFramePr>
        <p:xfrm>
          <a:off x="5276088" y="4687214"/>
          <a:ext cx="2697480" cy="345643"/>
        </p:xfrm>
        <a:graphic>
          <a:graphicData uri="http://schemas.openxmlformats.org/drawingml/2006/chart">
            <c:chart xmlns:c="http://schemas.openxmlformats.org/drawingml/2006/chart" r:id="rId9"/>
          </a:graphicData>
        </a:graphic>
      </p:graphicFrame>
      <p:sp>
        <p:nvSpPr>
          <p:cNvPr id="61" name="Text 51"/>
          <p:cNvSpPr txBox="1"/>
          <p:nvPr/>
        </p:nvSpPr>
        <p:spPr>
          <a:xfrm>
            <a:off x="8183880" y="4668926"/>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August</a:t>
            </a:r>
            <a:endParaRPr lang="en-US" sz="1400" dirty="0"/>
          </a:p>
        </p:txBody>
      </p:sp>
      <p:sp>
        <p:nvSpPr>
          <p:cNvPr id="62" name="Text 52"/>
          <p:cNvSpPr txBox="1"/>
          <p:nvPr/>
        </p:nvSpPr>
        <p:spPr>
          <a:xfrm>
            <a:off x="10195560" y="4668926"/>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+4.9%</a:t>
            </a:r>
            <a:endParaRPr lang="en-US" sz="1600" dirty="0"/>
          </a:p>
        </p:txBody>
      </p:sp>
      <p:sp>
        <p:nvSpPr>
          <p:cNvPr id="63" name="Shape 53"/>
          <p:cNvSpPr/>
          <p:nvPr/>
        </p:nvSpPr>
        <p:spPr>
          <a:xfrm>
            <a:off x="621792" y="5051146"/>
            <a:ext cx="10945368" cy="382219"/>
          </a:xfrm>
          <a:prstGeom prst="rect">
            <a:avLst/>
          </a:prstGeom>
          <a:solidFill>
            <a:srgbClr val="F7F7F7"/>
          </a:solidFill>
          <a:ln/>
        </p:spPr>
      </p:sp>
      <p:sp>
        <p:nvSpPr>
          <p:cNvPr id="64" name="Text 54"/>
          <p:cNvSpPr txBox="1"/>
          <p:nvPr/>
        </p:nvSpPr>
        <p:spPr>
          <a:xfrm>
            <a:off x="749808" y="5051146"/>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9</a:t>
            </a:r>
            <a:endParaRPr lang="en-US" sz="1500" dirty="0"/>
          </a:p>
        </p:txBody>
      </p:sp>
      <p:sp>
        <p:nvSpPr>
          <p:cNvPr id="65" name="Text 55"/>
          <p:cNvSpPr txBox="1"/>
          <p:nvPr/>
        </p:nvSpPr>
        <p:spPr>
          <a:xfrm>
            <a:off x="1097280" y="5051146"/>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AUDI RENO</a:t>
            </a:r>
            <a:endParaRPr lang="en-US" sz="1400" dirty="0"/>
          </a:p>
        </p:txBody>
      </p:sp>
      <p:sp>
        <p:nvSpPr>
          <p:cNvPr id="66" name="Text 56"/>
          <p:cNvSpPr txBox="1"/>
          <p:nvPr/>
        </p:nvSpPr>
        <p:spPr>
          <a:xfrm>
            <a:off x="3657600" y="5051146"/>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2.60 → 2.73</a:t>
            </a:r>
            <a:endParaRPr lang="en-US" sz="1400" dirty="0"/>
          </a:p>
        </p:txBody>
      </p:sp>
      <p:graphicFrame>
        <p:nvGraphicFramePr>
          <p:cNvPr id="67" name="Chart 8" descr=""/>
          <p:cNvGraphicFramePr/>
          <p:nvPr/>
        </p:nvGraphicFramePr>
        <p:xfrm>
          <a:off x="5276088" y="5069434"/>
          <a:ext cx="2697480" cy="345643"/>
        </p:xfrm>
        <a:graphic>
          <a:graphicData uri="http://schemas.openxmlformats.org/drawingml/2006/chart">
            <c:chart xmlns:c="http://schemas.openxmlformats.org/drawingml/2006/chart" r:id="rId10"/>
          </a:graphicData>
        </a:graphic>
      </p:graphicFrame>
      <p:sp>
        <p:nvSpPr>
          <p:cNvPr id="68" name="Text 57"/>
          <p:cNvSpPr txBox="1"/>
          <p:nvPr/>
        </p:nvSpPr>
        <p:spPr>
          <a:xfrm>
            <a:off x="8183880" y="5051146"/>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June</a:t>
            </a:r>
            <a:endParaRPr lang="en-US" sz="1400" dirty="0"/>
          </a:p>
        </p:txBody>
      </p:sp>
      <p:sp>
        <p:nvSpPr>
          <p:cNvPr id="69" name="Text 58"/>
          <p:cNvSpPr txBox="1"/>
          <p:nvPr/>
        </p:nvSpPr>
        <p:spPr>
          <a:xfrm>
            <a:off x="10195560" y="5051146"/>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+4.8%</a:t>
            </a:r>
            <a:endParaRPr lang="en-US" sz="1600" dirty="0"/>
          </a:p>
        </p:txBody>
      </p:sp>
      <p:sp>
        <p:nvSpPr>
          <p:cNvPr id="70" name="Text 59"/>
          <p:cNvSpPr txBox="1"/>
          <p:nvPr/>
        </p:nvSpPr>
        <p:spPr>
          <a:xfrm>
            <a:off x="749808" y="5433365"/>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10</a:t>
            </a:r>
            <a:endParaRPr lang="en-US" sz="1500" dirty="0"/>
          </a:p>
        </p:txBody>
      </p:sp>
      <p:sp>
        <p:nvSpPr>
          <p:cNvPr id="71" name="Text 60"/>
          <p:cNvSpPr txBox="1"/>
          <p:nvPr/>
        </p:nvSpPr>
        <p:spPr>
          <a:xfrm>
            <a:off x="1097280" y="5433365"/>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LR RENO</a:t>
            </a:r>
            <a:endParaRPr lang="en-US" sz="1400" dirty="0"/>
          </a:p>
        </p:txBody>
      </p:sp>
      <p:sp>
        <p:nvSpPr>
          <p:cNvPr id="72" name="Text 61"/>
          <p:cNvSpPr txBox="1"/>
          <p:nvPr/>
        </p:nvSpPr>
        <p:spPr>
          <a:xfrm>
            <a:off x="3657600" y="5433365"/>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3.25 → 3.41</a:t>
            </a:r>
            <a:endParaRPr lang="en-US" sz="1400" dirty="0"/>
          </a:p>
        </p:txBody>
      </p:sp>
      <p:graphicFrame>
        <p:nvGraphicFramePr>
          <p:cNvPr id="73" name="Chart 9" descr=""/>
          <p:cNvGraphicFramePr/>
          <p:nvPr/>
        </p:nvGraphicFramePr>
        <p:xfrm>
          <a:off x="5276088" y="5451653"/>
          <a:ext cx="2697480" cy="345643"/>
        </p:xfrm>
        <a:graphic>
          <a:graphicData uri="http://schemas.openxmlformats.org/drawingml/2006/chart">
            <c:chart xmlns:c="http://schemas.openxmlformats.org/drawingml/2006/chart" r:id="rId11"/>
          </a:graphicData>
        </a:graphic>
      </p:graphicFrame>
      <p:sp>
        <p:nvSpPr>
          <p:cNvPr id="74" name="Text 62"/>
          <p:cNvSpPr txBox="1"/>
          <p:nvPr/>
        </p:nvSpPr>
        <p:spPr>
          <a:xfrm>
            <a:off x="8183880" y="5433365"/>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April</a:t>
            </a:r>
            <a:endParaRPr lang="en-US" sz="1400" dirty="0"/>
          </a:p>
        </p:txBody>
      </p:sp>
      <p:sp>
        <p:nvSpPr>
          <p:cNvPr id="75" name="Text 63"/>
          <p:cNvSpPr txBox="1"/>
          <p:nvPr/>
        </p:nvSpPr>
        <p:spPr>
          <a:xfrm>
            <a:off x="10195560" y="5433365"/>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+4.6%</a:t>
            </a:r>
            <a:endParaRPr lang="en-US" sz="1600" dirty="0"/>
          </a:p>
        </p:txBody>
      </p:sp>
      <p:sp>
        <p:nvSpPr>
          <p:cNvPr id="76" name="Shape 64"/>
          <p:cNvSpPr/>
          <p:nvPr/>
        </p:nvSpPr>
        <p:spPr>
          <a:xfrm>
            <a:off x="457200" y="5961888"/>
            <a:ext cx="11274552" cy="548640"/>
          </a:xfrm>
          <a:prstGeom prst="rect">
            <a:avLst/>
          </a:prstGeom>
          <a:solidFill>
            <a:srgbClr val="E6F6EE"/>
          </a:solidFill>
          <a:ln/>
        </p:spPr>
      </p:sp>
      <p:sp>
        <p:nvSpPr>
          <p:cNvPr id="77" name="Text 65"/>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MAZDA went 1.35 to 1.65, stepping up in August. Ask what changed that month.</a:t>
            </a:r>
            <a:endParaRPr lang="en-US" sz="1600" dirty="0"/>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What 0.1 Hour per RO Is Worth</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3108960" y="1316736"/>
            <a:ext cx="102412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Gross/yr</a:t>
            </a:r>
            <a:endParaRPr lang="en-US" sz="1400" dirty="0"/>
          </a:p>
        </p:txBody>
      </p:sp>
      <p:sp>
        <p:nvSpPr>
          <p:cNvPr id="7" name="Text 5"/>
          <p:cNvSpPr txBox="1"/>
          <p:nvPr/>
        </p:nvSpPr>
        <p:spPr>
          <a:xfrm>
            <a:off x="4133088" y="1316736"/>
            <a:ext cx="896112"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Labor</a:t>
            </a:r>
            <a:endParaRPr lang="en-US" sz="1400" dirty="0"/>
          </a:p>
        </p:txBody>
      </p:sp>
      <p:sp>
        <p:nvSpPr>
          <p:cNvPr id="8" name="Text 6"/>
          <p:cNvSpPr txBox="1"/>
          <p:nvPr/>
        </p:nvSpPr>
        <p:spPr>
          <a:xfrm>
            <a:off x="5029200" y="1316736"/>
            <a:ext cx="84124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Parts</a:t>
            </a:r>
            <a:endParaRPr lang="en-US" sz="1400" dirty="0"/>
          </a:p>
        </p:txBody>
      </p:sp>
      <p:sp>
        <p:nvSpPr>
          <p:cNvPr id="9" name="Text 7"/>
          <p:cNvSpPr txBox="1"/>
          <p:nvPr/>
        </p:nvSpPr>
        <p:spPr>
          <a:xfrm>
            <a:off x="8659368" y="1316736"/>
            <a:ext cx="102412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Gross/yr</a:t>
            </a:r>
            <a:endParaRPr lang="en-US" sz="1400" dirty="0"/>
          </a:p>
        </p:txBody>
      </p:sp>
      <p:sp>
        <p:nvSpPr>
          <p:cNvPr id="10" name="Text 8"/>
          <p:cNvSpPr txBox="1"/>
          <p:nvPr/>
        </p:nvSpPr>
        <p:spPr>
          <a:xfrm>
            <a:off x="9683496" y="1316736"/>
            <a:ext cx="896112"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Labor</a:t>
            </a:r>
            <a:endParaRPr lang="en-US" sz="1400" dirty="0"/>
          </a:p>
        </p:txBody>
      </p:sp>
      <p:sp>
        <p:nvSpPr>
          <p:cNvPr id="11" name="Text 9"/>
          <p:cNvSpPr txBox="1"/>
          <p:nvPr/>
        </p:nvSpPr>
        <p:spPr>
          <a:xfrm>
            <a:off x="10579608" y="1316736"/>
            <a:ext cx="84124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Parts</a:t>
            </a:r>
            <a:endParaRPr lang="en-US" sz="1400" dirty="0"/>
          </a:p>
        </p:txBody>
      </p:sp>
      <p:sp>
        <p:nvSpPr>
          <p:cNvPr id="12" name="Text 10"/>
          <p:cNvSpPr txBox="1"/>
          <p:nvPr/>
        </p:nvSpPr>
        <p:spPr>
          <a:xfrm>
            <a:off x="658368" y="1700784"/>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13" name="Shape 11"/>
          <p:cNvSpPr/>
          <p:nvPr/>
        </p:nvSpPr>
        <p:spPr>
          <a:xfrm>
            <a:off x="2670048" y="1754034"/>
            <a:ext cx="384048" cy="130168"/>
          </a:xfrm>
          <a:prstGeom prst="rect">
            <a:avLst/>
          </a:prstGeom>
          <a:solidFill>
            <a:srgbClr val="2587C5"/>
          </a:solidFill>
          <a:ln/>
        </p:spPr>
      </p:sp>
      <p:sp>
        <p:nvSpPr>
          <p:cNvPr id="14" name="Text 12"/>
          <p:cNvSpPr txBox="1"/>
          <p:nvPr/>
        </p:nvSpPr>
        <p:spPr>
          <a:xfrm>
            <a:off x="3108960" y="1700784"/>
            <a:ext cx="1024128"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$1,164,334</a:t>
            </a:r>
            <a:endParaRPr lang="en-US" sz="1300" dirty="0"/>
          </a:p>
        </p:txBody>
      </p:sp>
      <p:sp>
        <p:nvSpPr>
          <p:cNvPr id="15" name="Text 13"/>
          <p:cNvSpPr txBox="1"/>
          <p:nvPr/>
        </p:nvSpPr>
        <p:spPr>
          <a:xfrm>
            <a:off x="4133088" y="1700784"/>
            <a:ext cx="896112"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$868,256</a:t>
            </a:r>
            <a:endParaRPr lang="en-US" sz="1300" dirty="0"/>
          </a:p>
        </p:txBody>
      </p:sp>
      <p:sp>
        <p:nvSpPr>
          <p:cNvPr id="16" name="Text 14"/>
          <p:cNvSpPr txBox="1"/>
          <p:nvPr/>
        </p:nvSpPr>
        <p:spPr>
          <a:xfrm>
            <a:off x="5029200" y="1700784"/>
            <a:ext cx="84124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$296,078</a:t>
            </a:r>
            <a:endParaRPr lang="en-US" sz="1300" dirty="0"/>
          </a:p>
        </p:txBody>
      </p:sp>
      <p:sp>
        <p:nvSpPr>
          <p:cNvPr id="17" name="Text 15"/>
          <p:cNvSpPr txBox="1"/>
          <p:nvPr/>
        </p:nvSpPr>
        <p:spPr>
          <a:xfrm>
            <a:off x="658368" y="1937452"/>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18" name="Shape 16"/>
          <p:cNvSpPr/>
          <p:nvPr/>
        </p:nvSpPr>
        <p:spPr>
          <a:xfrm>
            <a:off x="2670048" y="1990703"/>
            <a:ext cx="169491" cy="130168"/>
          </a:xfrm>
          <a:prstGeom prst="rect">
            <a:avLst/>
          </a:prstGeom>
          <a:solidFill>
            <a:srgbClr val="2587C5"/>
          </a:solidFill>
          <a:ln/>
        </p:spPr>
      </p:sp>
      <p:sp>
        <p:nvSpPr>
          <p:cNvPr id="19" name="Text 17"/>
          <p:cNvSpPr txBox="1"/>
          <p:nvPr/>
        </p:nvSpPr>
        <p:spPr>
          <a:xfrm>
            <a:off x="3108960" y="1937452"/>
            <a:ext cx="1024128"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$513,852</a:t>
            </a:r>
            <a:endParaRPr lang="en-US" sz="1300" dirty="0"/>
          </a:p>
        </p:txBody>
      </p:sp>
      <p:sp>
        <p:nvSpPr>
          <p:cNvPr id="20" name="Text 18"/>
          <p:cNvSpPr txBox="1"/>
          <p:nvPr/>
        </p:nvSpPr>
        <p:spPr>
          <a:xfrm>
            <a:off x="4133088" y="1937452"/>
            <a:ext cx="896112"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$396,326</a:t>
            </a:r>
            <a:endParaRPr lang="en-US" sz="1300" dirty="0"/>
          </a:p>
        </p:txBody>
      </p:sp>
      <p:sp>
        <p:nvSpPr>
          <p:cNvPr id="21" name="Text 19"/>
          <p:cNvSpPr txBox="1"/>
          <p:nvPr/>
        </p:nvSpPr>
        <p:spPr>
          <a:xfrm>
            <a:off x="5029200" y="1937452"/>
            <a:ext cx="84124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$117,527</a:t>
            </a:r>
            <a:endParaRPr lang="en-US" sz="1300" dirty="0"/>
          </a:p>
        </p:txBody>
      </p:sp>
      <p:sp>
        <p:nvSpPr>
          <p:cNvPr id="22" name="Text 20"/>
          <p:cNvSpPr txBox="1"/>
          <p:nvPr/>
        </p:nvSpPr>
        <p:spPr>
          <a:xfrm>
            <a:off x="658368" y="2174120"/>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23" name="Shape 21"/>
          <p:cNvSpPr/>
          <p:nvPr/>
        </p:nvSpPr>
        <p:spPr>
          <a:xfrm>
            <a:off x="2670048" y="2227371"/>
            <a:ext cx="135326" cy="130168"/>
          </a:xfrm>
          <a:prstGeom prst="rect">
            <a:avLst/>
          </a:prstGeom>
          <a:solidFill>
            <a:srgbClr val="2587C5"/>
          </a:solidFill>
          <a:ln/>
        </p:spPr>
      </p:sp>
      <p:sp>
        <p:nvSpPr>
          <p:cNvPr id="24" name="Text 22"/>
          <p:cNvSpPr txBox="1"/>
          <p:nvPr/>
        </p:nvSpPr>
        <p:spPr>
          <a:xfrm>
            <a:off x="3108960" y="2174120"/>
            <a:ext cx="1024128"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$410,273</a:t>
            </a:r>
            <a:endParaRPr lang="en-US" sz="1300" dirty="0"/>
          </a:p>
        </p:txBody>
      </p:sp>
      <p:sp>
        <p:nvSpPr>
          <p:cNvPr id="25" name="Text 23"/>
          <p:cNvSpPr txBox="1"/>
          <p:nvPr/>
        </p:nvSpPr>
        <p:spPr>
          <a:xfrm>
            <a:off x="4133088" y="2174120"/>
            <a:ext cx="896112"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$295,521</a:t>
            </a:r>
            <a:endParaRPr lang="en-US" sz="1300" dirty="0"/>
          </a:p>
        </p:txBody>
      </p:sp>
      <p:sp>
        <p:nvSpPr>
          <p:cNvPr id="26" name="Text 24"/>
          <p:cNvSpPr txBox="1"/>
          <p:nvPr/>
        </p:nvSpPr>
        <p:spPr>
          <a:xfrm>
            <a:off x="5029200" y="2174120"/>
            <a:ext cx="84124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$114,751</a:t>
            </a:r>
            <a:endParaRPr lang="en-US" sz="1300" dirty="0"/>
          </a:p>
        </p:txBody>
      </p:sp>
      <p:sp>
        <p:nvSpPr>
          <p:cNvPr id="27" name="Text 25"/>
          <p:cNvSpPr txBox="1"/>
          <p:nvPr/>
        </p:nvSpPr>
        <p:spPr>
          <a:xfrm>
            <a:off x="658368" y="2410789"/>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28" name="Shape 26"/>
          <p:cNvSpPr/>
          <p:nvPr/>
        </p:nvSpPr>
        <p:spPr>
          <a:xfrm>
            <a:off x="2670048" y="2464039"/>
            <a:ext cx="113951" cy="130168"/>
          </a:xfrm>
          <a:prstGeom prst="rect">
            <a:avLst/>
          </a:prstGeom>
          <a:solidFill>
            <a:srgbClr val="2587C5"/>
          </a:solidFill>
          <a:ln/>
        </p:spPr>
      </p:sp>
      <p:sp>
        <p:nvSpPr>
          <p:cNvPr id="29" name="Text 27"/>
          <p:cNvSpPr txBox="1"/>
          <p:nvPr/>
        </p:nvSpPr>
        <p:spPr>
          <a:xfrm>
            <a:off x="3108960" y="2410789"/>
            <a:ext cx="1024128"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$345,471</a:t>
            </a:r>
            <a:endParaRPr lang="en-US" sz="1300" dirty="0"/>
          </a:p>
        </p:txBody>
      </p:sp>
      <p:sp>
        <p:nvSpPr>
          <p:cNvPr id="30" name="Text 28"/>
          <p:cNvSpPr txBox="1"/>
          <p:nvPr/>
        </p:nvSpPr>
        <p:spPr>
          <a:xfrm>
            <a:off x="4133088" y="2410789"/>
            <a:ext cx="896112"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$260,598</a:t>
            </a:r>
            <a:endParaRPr lang="en-US" sz="1300" dirty="0"/>
          </a:p>
        </p:txBody>
      </p:sp>
      <p:sp>
        <p:nvSpPr>
          <p:cNvPr id="31" name="Text 29"/>
          <p:cNvSpPr txBox="1"/>
          <p:nvPr/>
        </p:nvSpPr>
        <p:spPr>
          <a:xfrm>
            <a:off x="5029200" y="2410789"/>
            <a:ext cx="84124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$84,873</a:t>
            </a:r>
            <a:endParaRPr lang="en-US" sz="1300" dirty="0"/>
          </a:p>
        </p:txBody>
      </p:sp>
      <p:sp>
        <p:nvSpPr>
          <p:cNvPr id="32" name="Text 30"/>
          <p:cNvSpPr txBox="1"/>
          <p:nvPr/>
        </p:nvSpPr>
        <p:spPr>
          <a:xfrm>
            <a:off x="658368" y="2647457"/>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33" name="Shape 31"/>
          <p:cNvSpPr/>
          <p:nvPr/>
        </p:nvSpPr>
        <p:spPr>
          <a:xfrm>
            <a:off x="2670048" y="2700707"/>
            <a:ext cx="111909" cy="130168"/>
          </a:xfrm>
          <a:prstGeom prst="rect">
            <a:avLst/>
          </a:prstGeom>
          <a:solidFill>
            <a:srgbClr val="2587C5"/>
          </a:solidFill>
          <a:ln/>
        </p:spPr>
      </p:sp>
      <p:sp>
        <p:nvSpPr>
          <p:cNvPr id="34" name="Text 32"/>
          <p:cNvSpPr txBox="1"/>
          <p:nvPr/>
        </p:nvSpPr>
        <p:spPr>
          <a:xfrm>
            <a:off x="3108960" y="2647457"/>
            <a:ext cx="1024128"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$339,280</a:t>
            </a:r>
            <a:endParaRPr lang="en-US" sz="1300" dirty="0"/>
          </a:p>
        </p:txBody>
      </p:sp>
      <p:sp>
        <p:nvSpPr>
          <p:cNvPr id="35" name="Text 33"/>
          <p:cNvSpPr txBox="1"/>
          <p:nvPr/>
        </p:nvSpPr>
        <p:spPr>
          <a:xfrm>
            <a:off x="4133088" y="2647457"/>
            <a:ext cx="896112"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$220,993</a:t>
            </a:r>
            <a:endParaRPr lang="en-US" sz="1300" dirty="0"/>
          </a:p>
        </p:txBody>
      </p:sp>
      <p:sp>
        <p:nvSpPr>
          <p:cNvPr id="36" name="Text 34"/>
          <p:cNvSpPr txBox="1"/>
          <p:nvPr/>
        </p:nvSpPr>
        <p:spPr>
          <a:xfrm>
            <a:off x="5029200" y="2647457"/>
            <a:ext cx="84124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$118,287</a:t>
            </a:r>
            <a:endParaRPr lang="en-US" sz="1300" dirty="0"/>
          </a:p>
        </p:txBody>
      </p:sp>
      <p:sp>
        <p:nvSpPr>
          <p:cNvPr id="37" name="Text 35"/>
          <p:cNvSpPr txBox="1"/>
          <p:nvPr/>
        </p:nvSpPr>
        <p:spPr>
          <a:xfrm>
            <a:off x="658368" y="2884125"/>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38" name="Shape 36"/>
          <p:cNvSpPr/>
          <p:nvPr/>
        </p:nvSpPr>
        <p:spPr>
          <a:xfrm>
            <a:off x="2670048" y="2937376"/>
            <a:ext cx="110625" cy="130168"/>
          </a:xfrm>
          <a:prstGeom prst="rect">
            <a:avLst/>
          </a:prstGeom>
          <a:solidFill>
            <a:srgbClr val="2587C5"/>
          </a:solidFill>
          <a:ln/>
        </p:spPr>
      </p:sp>
      <p:sp>
        <p:nvSpPr>
          <p:cNvPr id="39" name="Text 37"/>
          <p:cNvSpPr txBox="1"/>
          <p:nvPr/>
        </p:nvSpPr>
        <p:spPr>
          <a:xfrm>
            <a:off x="3108960" y="2884125"/>
            <a:ext cx="1024128"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$335,387</a:t>
            </a:r>
            <a:endParaRPr lang="en-US" sz="1300" dirty="0"/>
          </a:p>
        </p:txBody>
      </p:sp>
      <p:sp>
        <p:nvSpPr>
          <p:cNvPr id="40" name="Text 38"/>
          <p:cNvSpPr txBox="1"/>
          <p:nvPr/>
        </p:nvSpPr>
        <p:spPr>
          <a:xfrm>
            <a:off x="4133088" y="2884125"/>
            <a:ext cx="896112"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$243,757</a:t>
            </a:r>
            <a:endParaRPr lang="en-US" sz="1300" dirty="0"/>
          </a:p>
        </p:txBody>
      </p:sp>
      <p:sp>
        <p:nvSpPr>
          <p:cNvPr id="41" name="Text 39"/>
          <p:cNvSpPr txBox="1"/>
          <p:nvPr/>
        </p:nvSpPr>
        <p:spPr>
          <a:xfrm>
            <a:off x="5029200" y="2884125"/>
            <a:ext cx="84124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$91,630</a:t>
            </a:r>
            <a:endParaRPr lang="en-US" sz="1300" dirty="0"/>
          </a:p>
        </p:txBody>
      </p:sp>
      <p:sp>
        <p:nvSpPr>
          <p:cNvPr id="42" name="Text 40"/>
          <p:cNvSpPr txBox="1"/>
          <p:nvPr/>
        </p:nvSpPr>
        <p:spPr>
          <a:xfrm>
            <a:off x="658368" y="3120793"/>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43" name="Shape 41"/>
          <p:cNvSpPr/>
          <p:nvPr/>
        </p:nvSpPr>
        <p:spPr>
          <a:xfrm>
            <a:off x="2670048" y="3174044"/>
            <a:ext cx="101643" cy="130168"/>
          </a:xfrm>
          <a:prstGeom prst="rect">
            <a:avLst/>
          </a:prstGeom>
          <a:solidFill>
            <a:srgbClr val="2587C5"/>
          </a:solidFill>
          <a:ln/>
        </p:spPr>
      </p:sp>
      <p:sp>
        <p:nvSpPr>
          <p:cNvPr id="44" name="Text 42"/>
          <p:cNvSpPr txBox="1"/>
          <p:nvPr/>
        </p:nvSpPr>
        <p:spPr>
          <a:xfrm>
            <a:off x="3108960" y="3120793"/>
            <a:ext cx="1024128"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$308,157</a:t>
            </a:r>
            <a:endParaRPr lang="en-US" sz="1300" dirty="0"/>
          </a:p>
        </p:txBody>
      </p:sp>
      <p:sp>
        <p:nvSpPr>
          <p:cNvPr id="45" name="Text 43"/>
          <p:cNvSpPr txBox="1"/>
          <p:nvPr/>
        </p:nvSpPr>
        <p:spPr>
          <a:xfrm>
            <a:off x="4133088" y="3120793"/>
            <a:ext cx="896112"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$224,917</a:t>
            </a:r>
            <a:endParaRPr lang="en-US" sz="1300" dirty="0"/>
          </a:p>
        </p:txBody>
      </p:sp>
      <p:sp>
        <p:nvSpPr>
          <p:cNvPr id="46" name="Text 44"/>
          <p:cNvSpPr txBox="1"/>
          <p:nvPr/>
        </p:nvSpPr>
        <p:spPr>
          <a:xfrm>
            <a:off x="5029200" y="3120793"/>
            <a:ext cx="84124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$83,240</a:t>
            </a:r>
            <a:endParaRPr lang="en-US" sz="1300" dirty="0"/>
          </a:p>
        </p:txBody>
      </p:sp>
      <p:sp>
        <p:nvSpPr>
          <p:cNvPr id="47" name="Text 45"/>
          <p:cNvSpPr txBox="1"/>
          <p:nvPr/>
        </p:nvSpPr>
        <p:spPr>
          <a:xfrm>
            <a:off x="658368" y="3357462"/>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48" name="Shape 46"/>
          <p:cNvSpPr/>
          <p:nvPr/>
        </p:nvSpPr>
        <p:spPr>
          <a:xfrm>
            <a:off x="2670048" y="3410712"/>
            <a:ext cx="101252" cy="130168"/>
          </a:xfrm>
          <a:prstGeom prst="rect">
            <a:avLst/>
          </a:prstGeom>
          <a:solidFill>
            <a:srgbClr val="2587C5"/>
          </a:solidFill>
          <a:ln/>
        </p:spPr>
      </p:sp>
      <p:sp>
        <p:nvSpPr>
          <p:cNvPr id="49" name="Text 47"/>
          <p:cNvSpPr txBox="1"/>
          <p:nvPr/>
        </p:nvSpPr>
        <p:spPr>
          <a:xfrm>
            <a:off x="3108960" y="3357462"/>
            <a:ext cx="1024128"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$306,971</a:t>
            </a:r>
            <a:endParaRPr lang="en-US" sz="1300" dirty="0"/>
          </a:p>
        </p:txBody>
      </p:sp>
      <p:sp>
        <p:nvSpPr>
          <p:cNvPr id="50" name="Text 48"/>
          <p:cNvSpPr txBox="1"/>
          <p:nvPr/>
        </p:nvSpPr>
        <p:spPr>
          <a:xfrm>
            <a:off x="4133088" y="3357462"/>
            <a:ext cx="896112"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$228,073</a:t>
            </a:r>
            <a:endParaRPr lang="en-US" sz="1300" dirty="0"/>
          </a:p>
        </p:txBody>
      </p:sp>
      <p:sp>
        <p:nvSpPr>
          <p:cNvPr id="51" name="Text 49"/>
          <p:cNvSpPr txBox="1"/>
          <p:nvPr/>
        </p:nvSpPr>
        <p:spPr>
          <a:xfrm>
            <a:off x="5029200" y="3357462"/>
            <a:ext cx="84124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$78,899</a:t>
            </a:r>
            <a:endParaRPr lang="en-US" sz="1300" dirty="0"/>
          </a:p>
        </p:txBody>
      </p:sp>
      <p:sp>
        <p:nvSpPr>
          <p:cNvPr id="52" name="Text 50"/>
          <p:cNvSpPr txBox="1"/>
          <p:nvPr/>
        </p:nvSpPr>
        <p:spPr>
          <a:xfrm>
            <a:off x="658368" y="3594130"/>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53" name="Shape 51"/>
          <p:cNvSpPr/>
          <p:nvPr/>
        </p:nvSpPr>
        <p:spPr>
          <a:xfrm>
            <a:off x="2670048" y="3647380"/>
            <a:ext cx="64695" cy="130168"/>
          </a:xfrm>
          <a:prstGeom prst="rect">
            <a:avLst/>
          </a:prstGeom>
          <a:solidFill>
            <a:srgbClr val="2587C5"/>
          </a:solidFill>
          <a:ln/>
        </p:spPr>
      </p:sp>
      <p:sp>
        <p:nvSpPr>
          <p:cNvPr id="54" name="Text 52"/>
          <p:cNvSpPr txBox="1"/>
          <p:nvPr/>
        </p:nvSpPr>
        <p:spPr>
          <a:xfrm>
            <a:off x="3108960" y="3594130"/>
            <a:ext cx="1024128"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$196,138</a:t>
            </a:r>
            <a:endParaRPr lang="en-US" sz="1300" dirty="0"/>
          </a:p>
        </p:txBody>
      </p:sp>
      <p:sp>
        <p:nvSpPr>
          <p:cNvPr id="55" name="Text 53"/>
          <p:cNvSpPr txBox="1"/>
          <p:nvPr/>
        </p:nvSpPr>
        <p:spPr>
          <a:xfrm>
            <a:off x="4133088" y="3594130"/>
            <a:ext cx="896112"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$136,735</a:t>
            </a:r>
            <a:endParaRPr lang="en-US" sz="1300" dirty="0"/>
          </a:p>
        </p:txBody>
      </p:sp>
      <p:sp>
        <p:nvSpPr>
          <p:cNvPr id="56" name="Text 54"/>
          <p:cNvSpPr txBox="1"/>
          <p:nvPr/>
        </p:nvSpPr>
        <p:spPr>
          <a:xfrm>
            <a:off x="5029200" y="3594130"/>
            <a:ext cx="84124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$59,403</a:t>
            </a:r>
            <a:endParaRPr lang="en-US" sz="1300" dirty="0"/>
          </a:p>
        </p:txBody>
      </p:sp>
      <p:sp>
        <p:nvSpPr>
          <p:cNvPr id="57" name="Text 55"/>
          <p:cNvSpPr txBox="1"/>
          <p:nvPr/>
        </p:nvSpPr>
        <p:spPr>
          <a:xfrm>
            <a:off x="658368" y="3830798"/>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58" name="Shape 56"/>
          <p:cNvSpPr/>
          <p:nvPr/>
        </p:nvSpPr>
        <p:spPr>
          <a:xfrm>
            <a:off x="2670048" y="3884048"/>
            <a:ext cx="61139" cy="130168"/>
          </a:xfrm>
          <a:prstGeom prst="rect">
            <a:avLst/>
          </a:prstGeom>
          <a:solidFill>
            <a:srgbClr val="2587C5"/>
          </a:solidFill>
          <a:ln/>
        </p:spPr>
      </p:sp>
      <p:sp>
        <p:nvSpPr>
          <p:cNvPr id="59" name="Text 57"/>
          <p:cNvSpPr txBox="1"/>
          <p:nvPr/>
        </p:nvSpPr>
        <p:spPr>
          <a:xfrm>
            <a:off x="3108960" y="3830798"/>
            <a:ext cx="1024128"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$185,357</a:t>
            </a:r>
            <a:endParaRPr lang="en-US" sz="1300" dirty="0"/>
          </a:p>
        </p:txBody>
      </p:sp>
      <p:sp>
        <p:nvSpPr>
          <p:cNvPr id="60" name="Text 58"/>
          <p:cNvSpPr txBox="1"/>
          <p:nvPr/>
        </p:nvSpPr>
        <p:spPr>
          <a:xfrm>
            <a:off x="4133088" y="3830798"/>
            <a:ext cx="896112"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$128,599</a:t>
            </a:r>
            <a:endParaRPr lang="en-US" sz="1300" dirty="0"/>
          </a:p>
        </p:txBody>
      </p:sp>
      <p:sp>
        <p:nvSpPr>
          <p:cNvPr id="61" name="Text 59"/>
          <p:cNvSpPr txBox="1"/>
          <p:nvPr/>
        </p:nvSpPr>
        <p:spPr>
          <a:xfrm>
            <a:off x="5029200" y="3830798"/>
            <a:ext cx="84124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$56,758</a:t>
            </a:r>
            <a:endParaRPr lang="en-US" sz="1300" dirty="0"/>
          </a:p>
        </p:txBody>
      </p:sp>
      <p:sp>
        <p:nvSpPr>
          <p:cNvPr id="62" name="Text 60"/>
          <p:cNvSpPr txBox="1"/>
          <p:nvPr/>
        </p:nvSpPr>
        <p:spPr>
          <a:xfrm>
            <a:off x="658368" y="4067466"/>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63" name="Shape 61"/>
          <p:cNvSpPr/>
          <p:nvPr/>
        </p:nvSpPr>
        <p:spPr>
          <a:xfrm>
            <a:off x="2670048" y="4120717"/>
            <a:ext cx="59038" cy="130168"/>
          </a:xfrm>
          <a:prstGeom prst="rect">
            <a:avLst/>
          </a:prstGeom>
          <a:solidFill>
            <a:srgbClr val="2587C5"/>
          </a:solidFill>
          <a:ln/>
        </p:spPr>
      </p:sp>
      <p:sp>
        <p:nvSpPr>
          <p:cNvPr id="64" name="Text 62"/>
          <p:cNvSpPr txBox="1"/>
          <p:nvPr/>
        </p:nvSpPr>
        <p:spPr>
          <a:xfrm>
            <a:off x="3108960" y="4067466"/>
            <a:ext cx="1024128"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$178,988</a:t>
            </a:r>
            <a:endParaRPr lang="en-US" sz="1300" dirty="0"/>
          </a:p>
        </p:txBody>
      </p:sp>
      <p:sp>
        <p:nvSpPr>
          <p:cNvPr id="65" name="Text 63"/>
          <p:cNvSpPr txBox="1"/>
          <p:nvPr/>
        </p:nvSpPr>
        <p:spPr>
          <a:xfrm>
            <a:off x="4133088" y="4067466"/>
            <a:ext cx="896112"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$128,448</a:t>
            </a:r>
            <a:endParaRPr lang="en-US" sz="1300" dirty="0"/>
          </a:p>
        </p:txBody>
      </p:sp>
      <p:sp>
        <p:nvSpPr>
          <p:cNvPr id="66" name="Text 64"/>
          <p:cNvSpPr txBox="1"/>
          <p:nvPr/>
        </p:nvSpPr>
        <p:spPr>
          <a:xfrm>
            <a:off x="5029200" y="4067466"/>
            <a:ext cx="84124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$50,540</a:t>
            </a:r>
            <a:endParaRPr lang="en-US" sz="1300" dirty="0"/>
          </a:p>
        </p:txBody>
      </p:sp>
      <p:sp>
        <p:nvSpPr>
          <p:cNvPr id="67" name="Text 65"/>
          <p:cNvSpPr txBox="1"/>
          <p:nvPr/>
        </p:nvSpPr>
        <p:spPr>
          <a:xfrm>
            <a:off x="658368" y="4304135"/>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68" name="Shape 66"/>
          <p:cNvSpPr/>
          <p:nvPr/>
        </p:nvSpPr>
        <p:spPr>
          <a:xfrm>
            <a:off x="2670048" y="4357385"/>
            <a:ext cx="50079" cy="130168"/>
          </a:xfrm>
          <a:prstGeom prst="rect">
            <a:avLst/>
          </a:prstGeom>
          <a:solidFill>
            <a:srgbClr val="2587C5"/>
          </a:solidFill>
          <a:ln/>
        </p:spPr>
      </p:sp>
      <p:sp>
        <p:nvSpPr>
          <p:cNvPr id="69" name="Text 67"/>
          <p:cNvSpPr txBox="1"/>
          <p:nvPr/>
        </p:nvSpPr>
        <p:spPr>
          <a:xfrm>
            <a:off x="3108960" y="4304135"/>
            <a:ext cx="1024128"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$151,825</a:t>
            </a:r>
            <a:endParaRPr lang="en-US" sz="1300" dirty="0"/>
          </a:p>
        </p:txBody>
      </p:sp>
      <p:sp>
        <p:nvSpPr>
          <p:cNvPr id="70" name="Text 68"/>
          <p:cNvSpPr txBox="1"/>
          <p:nvPr/>
        </p:nvSpPr>
        <p:spPr>
          <a:xfrm>
            <a:off x="4133088" y="4304135"/>
            <a:ext cx="896112"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$102,262</a:t>
            </a:r>
            <a:endParaRPr lang="en-US" sz="1300" dirty="0"/>
          </a:p>
        </p:txBody>
      </p:sp>
      <p:sp>
        <p:nvSpPr>
          <p:cNvPr id="71" name="Text 69"/>
          <p:cNvSpPr txBox="1"/>
          <p:nvPr/>
        </p:nvSpPr>
        <p:spPr>
          <a:xfrm>
            <a:off x="5029200" y="4304135"/>
            <a:ext cx="84124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$49,564</a:t>
            </a:r>
            <a:endParaRPr lang="en-US" sz="1300" dirty="0"/>
          </a:p>
        </p:txBody>
      </p:sp>
      <p:sp>
        <p:nvSpPr>
          <p:cNvPr id="72" name="Text 70"/>
          <p:cNvSpPr txBox="1"/>
          <p:nvPr/>
        </p:nvSpPr>
        <p:spPr>
          <a:xfrm>
            <a:off x="658368" y="4540803"/>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73" name="Shape 71"/>
          <p:cNvSpPr/>
          <p:nvPr/>
        </p:nvSpPr>
        <p:spPr>
          <a:xfrm>
            <a:off x="2670048" y="4594053"/>
            <a:ext cx="49123" cy="130168"/>
          </a:xfrm>
          <a:prstGeom prst="rect">
            <a:avLst/>
          </a:prstGeom>
          <a:solidFill>
            <a:srgbClr val="2587C5"/>
          </a:solidFill>
          <a:ln/>
        </p:spPr>
      </p:sp>
      <p:sp>
        <p:nvSpPr>
          <p:cNvPr id="74" name="Text 72"/>
          <p:cNvSpPr txBox="1"/>
          <p:nvPr/>
        </p:nvSpPr>
        <p:spPr>
          <a:xfrm>
            <a:off x="3108960" y="4540803"/>
            <a:ext cx="1024128"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$148,928</a:t>
            </a:r>
            <a:endParaRPr lang="en-US" sz="1300" dirty="0"/>
          </a:p>
        </p:txBody>
      </p:sp>
      <p:sp>
        <p:nvSpPr>
          <p:cNvPr id="75" name="Text 73"/>
          <p:cNvSpPr txBox="1"/>
          <p:nvPr/>
        </p:nvSpPr>
        <p:spPr>
          <a:xfrm>
            <a:off x="4133088" y="4540803"/>
            <a:ext cx="896112"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$113,075</a:t>
            </a:r>
            <a:endParaRPr lang="en-US" sz="1300" dirty="0"/>
          </a:p>
        </p:txBody>
      </p:sp>
      <p:sp>
        <p:nvSpPr>
          <p:cNvPr id="76" name="Text 74"/>
          <p:cNvSpPr txBox="1"/>
          <p:nvPr/>
        </p:nvSpPr>
        <p:spPr>
          <a:xfrm>
            <a:off x="5029200" y="4540803"/>
            <a:ext cx="84124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$35,853</a:t>
            </a:r>
            <a:endParaRPr lang="en-US" sz="1300" dirty="0"/>
          </a:p>
        </p:txBody>
      </p:sp>
      <p:sp>
        <p:nvSpPr>
          <p:cNvPr id="77" name="Text 75"/>
          <p:cNvSpPr txBox="1"/>
          <p:nvPr/>
        </p:nvSpPr>
        <p:spPr>
          <a:xfrm>
            <a:off x="658368" y="4777471"/>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78" name="Shape 76"/>
          <p:cNvSpPr/>
          <p:nvPr/>
        </p:nvSpPr>
        <p:spPr>
          <a:xfrm>
            <a:off x="2670048" y="4830721"/>
            <a:ext cx="48257" cy="130168"/>
          </a:xfrm>
          <a:prstGeom prst="rect">
            <a:avLst/>
          </a:prstGeom>
          <a:solidFill>
            <a:srgbClr val="2587C5"/>
          </a:solidFill>
          <a:ln/>
        </p:spPr>
      </p:sp>
      <p:sp>
        <p:nvSpPr>
          <p:cNvPr id="79" name="Text 77"/>
          <p:cNvSpPr txBox="1"/>
          <p:nvPr/>
        </p:nvSpPr>
        <p:spPr>
          <a:xfrm>
            <a:off x="3108960" y="4777471"/>
            <a:ext cx="1024128"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$146,304</a:t>
            </a:r>
            <a:endParaRPr lang="en-US" sz="1300" dirty="0"/>
          </a:p>
        </p:txBody>
      </p:sp>
      <p:sp>
        <p:nvSpPr>
          <p:cNvPr id="80" name="Text 78"/>
          <p:cNvSpPr txBox="1"/>
          <p:nvPr/>
        </p:nvSpPr>
        <p:spPr>
          <a:xfrm>
            <a:off x="4133088" y="4777471"/>
            <a:ext cx="896112"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$105,012</a:t>
            </a:r>
            <a:endParaRPr lang="en-US" sz="1300" dirty="0"/>
          </a:p>
        </p:txBody>
      </p:sp>
      <p:sp>
        <p:nvSpPr>
          <p:cNvPr id="81" name="Text 79"/>
          <p:cNvSpPr txBox="1"/>
          <p:nvPr/>
        </p:nvSpPr>
        <p:spPr>
          <a:xfrm>
            <a:off x="5029200" y="4777471"/>
            <a:ext cx="84124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$41,292</a:t>
            </a:r>
            <a:endParaRPr lang="en-US" sz="1300" dirty="0"/>
          </a:p>
        </p:txBody>
      </p:sp>
      <p:sp>
        <p:nvSpPr>
          <p:cNvPr id="82" name="Text 80"/>
          <p:cNvSpPr txBox="1"/>
          <p:nvPr/>
        </p:nvSpPr>
        <p:spPr>
          <a:xfrm>
            <a:off x="658368" y="5014139"/>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83" name="Shape 81"/>
          <p:cNvSpPr/>
          <p:nvPr/>
        </p:nvSpPr>
        <p:spPr>
          <a:xfrm>
            <a:off x="2670048" y="5067390"/>
            <a:ext cx="46762" cy="130168"/>
          </a:xfrm>
          <a:prstGeom prst="rect">
            <a:avLst/>
          </a:prstGeom>
          <a:solidFill>
            <a:srgbClr val="2587C5"/>
          </a:solidFill>
          <a:ln/>
        </p:spPr>
      </p:sp>
      <p:sp>
        <p:nvSpPr>
          <p:cNvPr id="84" name="Text 82"/>
          <p:cNvSpPr txBox="1"/>
          <p:nvPr/>
        </p:nvSpPr>
        <p:spPr>
          <a:xfrm>
            <a:off x="3108960" y="5014139"/>
            <a:ext cx="1024128"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$141,770</a:t>
            </a:r>
            <a:endParaRPr lang="en-US" sz="1300" dirty="0"/>
          </a:p>
        </p:txBody>
      </p:sp>
      <p:sp>
        <p:nvSpPr>
          <p:cNvPr id="85" name="Text 83"/>
          <p:cNvSpPr txBox="1"/>
          <p:nvPr/>
        </p:nvSpPr>
        <p:spPr>
          <a:xfrm>
            <a:off x="4133088" y="5014139"/>
            <a:ext cx="896112"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$96,704</a:t>
            </a:r>
            <a:endParaRPr lang="en-US" sz="1300" dirty="0"/>
          </a:p>
        </p:txBody>
      </p:sp>
      <p:sp>
        <p:nvSpPr>
          <p:cNvPr id="86" name="Text 84"/>
          <p:cNvSpPr txBox="1"/>
          <p:nvPr/>
        </p:nvSpPr>
        <p:spPr>
          <a:xfrm>
            <a:off x="5029200" y="5014139"/>
            <a:ext cx="84124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$45,066</a:t>
            </a:r>
            <a:endParaRPr lang="en-US" sz="1300" dirty="0"/>
          </a:p>
        </p:txBody>
      </p:sp>
      <p:sp>
        <p:nvSpPr>
          <p:cNvPr id="87" name="Text 85"/>
          <p:cNvSpPr txBox="1"/>
          <p:nvPr/>
        </p:nvSpPr>
        <p:spPr>
          <a:xfrm>
            <a:off x="658368" y="5250808"/>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88" name="Shape 86"/>
          <p:cNvSpPr/>
          <p:nvPr/>
        </p:nvSpPr>
        <p:spPr>
          <a:xfrm>
            <a:off x="2670048" y="5304058"/>
            <a:ext cx="44339" cy="130168"/>
          </a:xfrm>
          <a:prstGeom prst="rect">
            <a:avLst/>
          </a:prstGeom>
          <a:solidFill>
            <a:srgbClr val="2587C5"/>
          </a:solidFill>
          <a:ln/>
        </p:spPr>
      </p:sp>
      <p:sp>
        <p:nvSpPr>
          <p:cNvPr id="89" name="Text 87"/>
          <p:cNvSpPr txBox="1"/>
          <p:nvPr/>
        </p:nvSpPr>
        <p:spPr>
          <a:xfrm>
            <a:off x="3108960" y="5250808"/>
            <a:ext cx="1024128"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$134,424</a:t>
            </a:r>
            <a:endParaRPr lang="en-US" sz="1300" dirty="0"/>
          </a:p>
        </p:txBody>
      </p:sp>
      <p:sp>
        <p:nvSpPr>
          <p:cNvPr id="90" name="Text 88"/>
          <p:cNvSpPr txBox="1"/>
          <p:nvPr/>
        </p:nvSpPr>
        <p:spPr>
          <a:xfrm>
            <a:off x="4133088" y="5250808"/>
            <a:ext cx="896112"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$99,999</a:t>
            </a:r>
            <a:endParaRPr lang="en-US" sz="1300" dirty="0"/>
          </a:p>
        </p:txBody>
      </p:sp>
      <p:sp>
        <p:nvSpPr>
          <p:cNvPr id="91" name="Text 89"/>
          <p:cNvSpPr txBox="1"/>
          <p:nvPr/>
        </p:nvSpPr>
        <p:spPr>
          <a:xfrm>
            <a:off x="5029200" y="5250808"/>
            <a:ext cx="84124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$34,425</a:t>
            </a:r>
            <a:endParaRPr lang="en-US" sz="1300" dirty="0"/>
          </a:p>
        </p:txBody>
      </p:sp>
      <p:sp>
        <p:nvSpPr>
          <p:cNvPr id="92" name="Text 90"/>
          <p:cNvSpPr txBox="1"/>
          <p:nvPr/>
        </p:nvSpPr>
        <p:spPr>
          <a:xfrm>
            <a:off x="658368" y="5487476"/>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93" name="Shape 91"/>
          <p:cNvSpPr/>
          <p:nvPr/>
        </p:nvSpPr>
        <p:spPr>
          <a:xfrm>
            <a:off x="2670048" y="5540726"/>
            <a:ext cx="44034" cy="130168"/>
          </a:xfrm>
          <a:prstGeom prst="rect">
            <a:avLst/>
          </a:prstGeom>
          <a:solidFill>
            <a:srgbClr val="2587C5"/>
          </a:solidFill>
          <a:ln/>
        </p:spPr>
      </p:sp>
      <p:sp>
        <p:nvSpPr>
          <p:cNvPr id="94" name="Text 92"/>
          <p:cNvSpPr txBox="1"/>
          <p:nvPr/>
        </p:nvSpPr>
        <p:spPr>
          <a:xfrm>
            <a:off x="3108960" y="5487476"/>
            <a:ext cx="1024128"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$133,501</a:t>
            </a:r>
            <a:endParaRPr lang="en-US" sz="1300" dirty="0"/>
          </a:p>
        </p:txBody>
      </p:sp>
      <p:sp>
        <p:nvSpPr>
          <p:cNvPr id="95" name="Text 93"/>
          <p:cNvSpPr txBox="1"/>
          <p:nvPr/>
        </p:nvSpPr>
        <p:spPr>
          <a:xfrm>
            <a:off x="4133088" y="5487476"/>
            <a:ext cx="896112"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$91,287</a:t>
            </a:r>
            <a:endParaRPr lang="en-US" sz="1300" dirty="0"/>
          </a:p>
        </p:txBody>
      </p:sp>
      <p:sp>
        <p:nvSpPr>
          <p:cNvPr id="96" name="Text 94"/>
          <p:cNvSpPr txBox="1"/>
          <p:nvPr/>
        </p:nvSpPr>
        <p:spPr>
          <a:xfrm>
            <a:off x="5029200" y="5487476"/>
            <a:ext cx="84124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$42,215</a:t>
            </a:r>
            <a:endParaRPr lang="en-US" sz="1300" dirty="0"/>
          </a:p>
        </p:txBody>
      </p:sp>
      <p:sp>
        <p:nvSpPr>
          <p:cNvPr id="97" name="Text 95"/>
          <p:cNvSpPr txBox="1"/>
          <p:nvPr/>
        </p:nvSpPr>
        <p:spPr>
          <a:xfrm>
            <a:off x="6208776" y="1700784"/>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98" name="Shape 96"/>
          <p:cNvSpPr/>
          <p:nvPr/>
        </p:nvSpPr>
        <p:spPr>
          <a:xfrm>
            <a:off x="8220456" y="1754034"/>
            <a:ext cx="43777" cy="130168"/>
          </a:xfrm>
          <a:prstGeom prst="rect">
            <a:avLst/>
          </a:prstGeom>
          <a:solidFill>
            <a:srgbClr val="2587C5"/>
          </a:solidFill>
          <a:ln/>
        </p:spPr>
      </p:sp>
      <p:sp>
        <p:nvSpPr>
          <p:cNvPr id="99" name="Text 97"/>
          <p:cNvSpPr txBox="1"/>
          <p:nvPr/>
        </p:nvSpPr>
        <p:spPr>
          <a:xfrm>
            <a:off x="8659368" y="1700784"/>
            <a:ext cx="1024128"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$132,722</a:t>
            </a:r>
            <a:endParaRPr lang="en-US" sz="1300" dirty="0"/>
          </a:p>
        </p:txBody>
      </p:sp>
      <p:sp>
        <p:nvSpPr>
          <p:cNvPr id="100" name="Text 98"/>
          <p:cNvSpPr txBox="1"/>
          <p:nvPr/>
        </p:nvSpPr>
        <p:spPr>
          <a:xfrm>
            <a:off x="9683496" y="1700784"/>
            <a:ext cx="896112"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$95,285</a:t>
            </a:r>
            <a:endParaRPr lang="en-US" sz="1300" dirty="0"/>
          </a:p>
        </p:txBody>
      </p:sp>
      <p:sp>
        <p:nvSpPr>
          <p:cNvPr id="101" name="Text 99"/>
          <p:cNvSpPr txBox="1"/>
          <p:nvPr/>
        </p:nvSpPr>
        <p:spPr>
          <a:xfrm>
            <a:off x="10579608" y="1700784"/>
            <a:ext cx="84124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$37,436</a:t>
            </a:r>
            <a:endParaRPr lang="en-US" sz="1300" dirty="0"/>
          </a:p>
        </p:txBody>
      </p:sp>
      <p:sp>
        <p:nvSpPr>
          <p:cNvPr id="102" name="Text 100"/>
          <p:cNvSpPr txBox="1"/>
          <p:nvPr/>
        </p:nvSpPr>
        <p:spPr>
          <a:xfrm>
            <a:off x="6208776" y="1937452"/>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103" name="Shape 101"/>
          <p:cNvSpPr/>
          <p:nvPr/>
        </p:nvSpPr>
        <p:spPr>
          <a:xfrm>
            <a:off x="8220456" y="1990703"/>
            <a:ext cx="43509" cy="130168"/>
          </a:xfrm>
          <a:prstGeom prst="rect">
            <a:avLst/>
          </a:prstGeom>
          <a:solidFill>
            <a:srgbClr val="2587C5"/>
          </a:solidFill>
          <a:ln/>
        </p:spPr>
      </p:sp>
      <p:sp>
        <p:nvSpPr>
          <p:cNvPr id="104" name="Text 102"/>
          <p:cNvSpPr txBox="1"/>
          <p:nvPr/>
        </p:nvSpPr>
        <p:spPr>
          <a:xfrm>
            <a:off x="8659368" y="1937452"/>
            <a:ext cx="1024128"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$131,908</a:t>
            </a:r>
            <a:endParaRPr lang="en-US" sz="1300" dirty="0"/>
          </a:p>
        </p:txBody>
      </p:sp>
      <p:sp>
        <p:nvSpPr>
          <p:cNvPr id="105" name="Text 103"/>
          <p:cNvSpPr txBox="1"/>
          <p:nvPr/>
        </p:nvSpPr>
        <p:spPr>
          <a:xfrm>
            <a:off x="9683496" y="1937452"/>
            <a:ext cx="896112"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$89,257</a:t>
            </a:r>
            <a:endParaRPr lang="en-US" sz="1300" dirty="0"/>
          </a:p>
        </p:txBody>
      </p:sp>
      <p:sp>
        <p:nvSpPr>
          <p:cNvPr id="106" name="Text 104"/>
          <p:cNvSpPr txBox="1"/>
          <p:nvPr/>
        </p:nvSpPr>
        <p:spPr>
          <a:xfrm>
            <a:off x="10579608" y="1937452"/>
            <a:ext cx="84124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$42,652</a:t>
            </a:r>
            <a:endParaRPr lang="en-US" sz="1300" dirty="0"/>
          </a:p>
        </p:txBody>
      </p:sp>
      <p:sp>
        <p:nvSpPr>
          <p:cNvPr id="107" name="Text 105"/>
          <p:cNvSpPr txBox="1"/>
          <p:nvPr/>
        </p:nvSpPr>
        <p:spPr>
          <a:xfrm>
            <a:off x="6208776" y="2174120"/>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108" name="Shape 106"/>
          <p:cNvSpPr/>
          <p:nvPr/>
        </p:nvSpPr>
        <p:spPr>
          <a:xfrm>
            <a:off x="8220456" y="2227371"/>
            <a:ext cx="42758" cy="130168"/>
          </a:xfrm>
          <a:prstGeom prst="rect">
            <a:avLst/>
          </a:prstGeom>
          <a:solidFill>
            <a:srgbClr val="2587C5"/>
          </a:solidFill>
          <a:ln/>
        </p:spPr>
      </p:sp>
      <p:sp>
        <p:nvSpPr>
          <p:cNvPr id="109" name="Text 107"/>
          <p:cNvSpPr txBox="1"/>
          <p:nvPr/>
        </p:nvSpPr>
        <p:spPr>
          <a:xfrm>
            <a:off x="8659368" y="2174120"/>
            <a:ext cx="1024128"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$129,631</a:t>
            </a:r>
            <a:endParaRPr lang="en-US" sz="1300" dirty="0"/>
          </a:p>
        </p:txBody>
      </p:sp>
      <p:sp>
        <p:nvSpPr>
          <p:cNvPr id="110" name="Text 108"/>
          <p:cNvSpPr txBox="1"/>
          <p:nvPr/>
        </p:nvSpPr>
        <p:spPr>
          <a:xfrm>
            <a:off x="9683496" y="2174120"/>
            <a:ext cx="896112"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$91,262</a:t>
            </a:r>
            <a:endParaRPr lang="en-US" sz="1300" dirty="0"/>
          </a:p>
        </p:txBody>
      </p:sp>
      <p:sp>
        <p:nvSpPr>
          <p:cNvPr id="111" name="Text 109"/>
          <p:cNvSpPr txBox="1"/>
          <p:nvPr/>
        </p:nvSpPr>
        <p:spPr>
          <a:xfrm>
            <a:off x="10579608" y="2174120"/>
            <a:ext cx="84124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$38,370</a:t>
            </a:r>
            <a:endParaRPr lang="en-US" sz="1300" dirty="0"/>
          </a:p>
        </p:txBody>
      </p:sp>
      <p:sp>
        <p:nvSpPr>
          <p:cNvPr id="112" name="Text 110"/>
          <p:cNvSpPr txBox="1"/>
          <p:nvPr/>
        </p:nvSpPr>
        <p:spPr>
          <a:xfrm>
            <a:off x="6208776" y="2410789"/>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113" name="Shape 111"/>
          <p:cNvSpPr/>
          <p:nvPr/>
        </p:nvSpPr>
        <p:spPr>
          <a:xfrm>
            <a:off x="8220456" y="2464039"/>
            <a:ext cx="40422" cy="130168"/>
          </a:xfrm>
          <a:prstGeom prst="rect">
            <a:avLst/>
          </a:prstGeom>
          <a:solidFill>
            <a:srgbClr val="2587C5"/>
          </a:solidFill>
          <a:ln/>
        </p:spPr>
      </p:sp>
      <p:sp>
        <p:nvSpPr>
          <p:cNvPr id="114" name="Text 112"/>
          <p:cNvSpPr txBox="1"/>
          <p:nvPr/>
        </p:nvSpPr>
        <p:spPr>
          <a:xfrm>
            <a:off x="8659368" y="2410789"/>
            <a:ext cx="1024128"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$122,550</a:t>
            </a:r>
            <a:endParaRPr lang="en-US" sz="1300" dirty="0"/>
          </a:p>
        </p:txBody>
      </p:sp>
      <p:sp>
        <p:nvSpPr>
          <p:cNvPr id="115" name="Text 113"/>
          <p:cNvSpPr txBox="1"/>
          <p:nvPr/>
        </p:nvSpPr>
        <p:spPr>
          <a:xfrm>
            <a:off x="9683496" y="2410789"/>
            <a:ext cx="896112"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$81,713</a:t>
            </a:r>
            <a:endParaRPr lang="en-US" sz="1300" dirty="0"/>
          </a:p>
        </p:txBody>
      </p:sp>
      <p:sp>
        <p:nvSpPr>
          <p:cNvPr id="116" name="Text 114"/>
          <p:cNvSpPr txBox="1"/>
          <p:nvPr/>
        </p:nvSpPr>
        <p:spPr>
          <a:xfrm>
            <a:off x="10579608" y="2410789"/>
            <a:ext cx="84124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$40,837</a:t>
            </a:r>
            <a:endParaRPr lang="en-US" sz="1300" dirty="0"/>
          </a:p>
        </p:txBody>
      </p:sp>
      <p:sp>
        <p:nvSpPr>
          <p:cNvPr id="117" name="Text 115"/>
          <p:cNvSpPr txBox="1"/>
          <p:nvPr/>
        </p:nvSpPr>
        <p:spPr>
          <a:xfrm>
            <a:off x="6208776" y="2647457"/>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118" name="Shape 116"/>
          <p:cNvSpPr/>
          <p:nvPr/>
        </p:nvSpPr>
        <p:spPr>
          <a:xfrm>
            <a:off x="8220456" y="2700707"/>
            <a:ext cx="38930" cy="130168"/>
          </a:xfrm>
          <a:prstGeom prst="rect">
            <a:avLst/>
          </a:prstGeom>
          <a:solidFill>
            <a:srgbClr val="2587C5"/>
          </a:solidFill>
          <a:ln/>
        </p:spPr>
      </p:sp>
      <p:sp>
        <p:nvSpPr>
          <p:cNvPr id="119" name="Text 117"/>
          <p:cNvSpPr txBox="1"/>
          <p:nvPr/>
        </p:nvSpPr>
        <p:spPr>
          <a:xfrm>
            <a:off x="8659368" y="2647457"/>
            <a:ext cx="1024128"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$118,025</a:t>
            </a:r>
            <a:endParaRPr lang="en-US" sz="1300" dirty="0"/>
          </a:p>
        </p:txBody>
      </p:sp>
      <p:sp>
        <p:nvSpPr>
          <p:cNvPr id="120" name="Text 118"/>
          <p:cNvSpPr txBox="1"/>
          <p:nvPr/>
        </p:nvSpPr>
        <p:spPr>
          <a:xfrm>
            <a:off x="9683496" y="2647457"/>
            <a:ext cx="896112"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$89,434</a:t>
            </a:r>
            <a:endParaRPr lang="en-US" sz="1300" dirty="0"/>
          </a:p>
        </p:txBody>
      </p:sp>
      <p:sp>
        <p:nvSpPr>
          <p:cNvPr id="121" name="Text 119"/>
          <p:cNvSpPr txBox="1"/>
          <p:nvPr/>
        </p:nvSpPr>
        <p:spPr>
          <a:xfrm>
            <a:off x="10579608" y="2647457"/>
            <a:ext cx="84124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$28,590</a:t>
            </a:r>
            <a:endParaRPr lang="en-US" sz="1300" dirty="0"/>
          </a:p>
        </p:txBody>
      </p:sp>
      <p:sp>
        <p:nvSpPr>
          <p:cNvPr id="122" name="Text 120"/>
          <p:cNvSpPr txBox="1"/>
          <p:nvPr/>
        </p:nvSpPr>
        <p:spPr>
          <a:xfrm>
            <a:off x="6208776" y="2884125"/>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123" name="Shape 121"/>
          <p:cNvSpPr/>
          <p:nvPr/>
        </p:nvSpPr>
        <p:spPr>
          <a:xfrm>
            <a:off x="8220456" y="2937376"/>
            <a:ext cx="37956" cy="130168"/>
          </a:xfrm>
          <a:prstGeom prst="rect">
            <a:avLst/>
          </a:prstGeom>
          <a:solidFill>
            <a:srgbClr val="2587C5"/>
          </a:solidFill>
          <a:ln/>
        </p:spPr>
      </p:sp>
      <p:sp>
        <p:nvSpPr>
          <p:cNvPr id="124" name="Text 122"/>
          <p:cNvSpPr txBox="1"/>
          <p:nvPr/>
        </p:nvSpPr>
        <p:spPr>
          <a:xfrm>
            <a:off x="8659368" y="2884125"/>
            <a:ext cx="1024128"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$115,073</a:t>
            </a:r>
            <a:endParaRPr lang="en-US" sz="1300" dirty="0"/>
          </a:p>
        </p:txBody>
      </p:sp>
      <p:sp>
        <p:nvSpPr>
          <p:cNvPr id="125" name="Text 123"/>
          <p:cNvSpPr txBox="1"/>
          <p:nvPr/>
        </p:nvSpPr>
        <p:spPr>
          <a:xfrm>
            <a:off x="9683496" y="2884125"/>
            <a:ext cx="896112"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$75,721</a:t>
            </a:r>
            <a:endParaRPr lang="en-US" sz="1300" dirty="0"/>
          </a:p>
        </p:txBody>
      </p:sp>
      <p:sp>
        <p:nvSpPr>
          <p:cNvPr id="126" name="Text 124"/>
          <p:cNvSpPr txBox="1"/>
          <p:nvPr/>
        </p:nvSpPr>
        <p:spPr>
          <a:xfrm>
            <a:off x="10579608" y="2884125"/>
            <a:ext cx="84124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$39,353</a:t>
            </a:r>
            <a:endParaRPr lang="en-US" sz="1300" dirty="0"/>
          </a:p>
        </p:txBody>
      </p:sp>
      <p:sp>
        <p:nvSpPr>
          <p:cNvPr id="127" name="Text 125"/>
          <p:cNvSpPr txBox="1"/>
          <p:nvPr/>
        </p:nvSpPr>
        <p:spPr>
          <a:xfrm>
            <a:off x="6208776" y="3120793"/>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128" name="Shape 126"/>
          <p:cNvSpPr/>
          <p:nvPr/>
        </p:nvSpPr>
        <p:spPr>
          <a:xfrm>
            <a:off x="8220456" y="3174044"/>
            <a:ext cx="33319" cy="130168"/>
          </a:xfrm>
          <a:prstGeom prst="rect">
            <a:avLst/>
          </a:prstGeom>
          <a:solidFill>
            <a:srgbClr val="2587C5"/>
          </a:solidFill>
          <a:ln/>
        </p:spPr>
      </p:sp>
      <p:sp>
        <p:nvSpPr>
          <p:cNvPr id="129" name="Text 127"/>
          <p:cNvSpPr txBox="1"/>
          <p:nvPr/>
        </p:nvSpPr>
        <p:spPr>
          <a:xfrm>
            <a:off x="8659368" y="3120793"/>
            <a:ext cx="1024128"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$101,015</a:t>
            </a:r>
            <a:endParaRPr lang="en-US" sz="1300" dirty="0"/>
          </a:p>
        </p:txBody>
      </p:sp>
      <p:sp>
        <p:nvSpPr>
          <p:cNvPr id="130" name="Text 128"/>
          <p:cNvSpPr txBox="1"/>
          <p:nvPr/>
        </p:nvSpPr>
        <p:spPr>
          <a:xfrm>
            <a:off x="9683496" y="3120793"/>
            <a:ext cx="896112"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$70,208</a:t>
            </a:r>
            <a:endParaRPr lang="en-US" sz="1300" dirty="0"/>
          </a:p>
        </p:txBody>
      </p:sp>
      <p:sp>
        <p:nvSpPr>
          <p:cNvPr id="131" name="Text 129"/>
          <p:cNvSpPr txBox="1"/>
          <p:nvPr/>
        </p:nvSpPr>
        <p:spPr>
          <a:xfrm>
            <a:off x="10579608" y="3120793"/>
            <a:ext cx="84124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$30,807</a:t>
            </a:r>
            <a:endParaRPr lang="en-US" sz="1300" dirty="0"/>
          </a:p>
        </p:txBody>
      </p:sp>
      <p:sp>
        <p:nvSpPr>
          <p:cNvPr id="132" name="Text 130"/>
          <p:cNvSpPr txBox="1"/>
          <p:nvPr/>
        </p:nvSpPr>
        <p:spPr>
          <a:xfrm>
            <a:off x="6208776" y="3357462"/>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133" name="Shape 131"/>
          <p:cNvSpPr/>
          <p:nvPr/>
        </p:nvSpPr>
        <p:spPr>
          <a:xfrm>
            <a:off x="8220456" y="3410712"/>
            <a:ext cx="32649" cy="130168"/>
          </a:xfrm>
          <a:prstGeom prst="rect">
            <a:avLst/>
          </a:prstGeom>
          <a:solidFill>
            <a:srgbClr val="2587C5"/>
          </a:solidFill>
          <a:ln/>
        </p:spPr>
      </p:sp>
      <p:sp>
        <p:nvSpPr>
          <p:cNvPr id="134" name="Text 132"/>
          <p:cNvSpPr txBox="1"/>
          <p:nvPr/>
        </p:nvSpPr>
        <p:spPr>
          <a:xfrm>
            <a:off x="8659368" y="3357462"/>
            <a:ext cx="1024128"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$98,985</a:t>
            </a:r>
            <a:endParaRPr lang="en-US" sz="1300" dirty="0"/>
          </a:p>
        </p:txBody>
      </p:sp>
      <p:sp>
        <p:nvSpPr>
          <p:cNvPr id="135" name="Text 133"/>
          <p:cNvSpPr txBox="1"/>
          <p:nvPr/>
        </p:nvSpPr>
        <p:spPr>
          <a:xfrm>
            <a:off x="9683496" y="3357462"/>
            <a:ext cx="896112"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$68,101</a:t>
            </a:r>
            <a:endParaRPr lang="en-US" sz="1300" dirty="0"/>
          </a:p>
        </p:txBody>
      </p:sp>
      <p:sp>
        <p:nvSpPr>
          <p:cNvPr id="136" name="Text 134"/>
          <p:cNvSpPr txBox="1"/>
          <p:nvPr/>
        </p:nvSpPr>
        <p:spPr>
          <a:xfrm>
            <a:off x="10579608" y="3357462"/>
            <a:ext cx="84124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$30,883</a:t>
            </a:r>
            <a:endParaRPr lang="en-US" sz="1300" dirty="0"/>
          </a:p>
        </p:txBody>
      </p:sp>
      <p:sp>
        <p:nvSpPr>
          <p:cNvPr id="137" name="Text 135"/>
          <p:cNvSpPr txBox="1"/>
          <p:nvPr/>
        </p:nvSpPr>
        <p:spPr>
          <a:xfrm>
            <a:off x="6208776" y="3594130"/>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138" name="Shape 136"/>
          <p:cNvSpPr/>
          <p:nvPr/>
        </p:nvSpPr>
        <p:spPr>
          <a:xfrm>
            <a:off x="8220456" y="3647380"/>
            <a:ext cx="29384" cy="130168"/>
          </a:xfrm>
          <a:prstGeom prst="rect">
            <a:avLst/>
          </a:prstGeom>
          <a:solidFill>
            <a:srgbClr val="2587C5"/>
          </a:solidFill>
          <a:ln/>
        </p:spPr>
      </p:sp>
      <p:sp>
        <p:nvSpPr>
          <p:cNvPr id="139" name="Text 137"/>
          <p:cNvSpPr txBox="1"/>
          <p:nvPr/>
        </p:nvSpPr>
        <p:spPr>
          <a:xfrm>
            <a:off x="8659368" y="3594130"/>
            <a:ext cx="1024128"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$89,084</a:t>
            </a:r>
            <a:endParaRPr lang="en-US" sz="1300" dirty="0"/>
          </a:p>
        </p:txBody>
      </p:sp>
      <p:sp>
        <p:nvSpPr>
          <p:cNvPr id="140" name="Text 138"/>
          <p:cNvSpPr txBox="1"/>
          <p:nvPr/>
        </p:nvSpPr>
        <p:spPr>
          <a:xfrm>
            <a:off x="9683496" y="3594130"/>
            <a:ext cx="896112"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$58,429</a:t>
            </a:r>
            <a:endParaRPr lang="en-US" sz="1300" dirty="0"/>
          </a:p>
        </p:txBody>
      </p:sp>
      <p:sp>
        <p:nvSpPr>
          <p:cNvPr id="141" name="Text 139"/>
          <p:cNvSpPr txBox="1"/>
          <p:nvPr/>
        </p:nvSpPr>
        <p:spPr>
          <a:xfrm>
            <a:off x="10579608" y="3594130"/>
            <a:ext cx="84124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$30,655</a:t>
            </a:r>
            <a:endParaRPr lang="en-US" sz="1300" dirty="0"/>
          </a:p>
        </p:txBody>
      </p:sp>
      <p:sp>
        <p:nvSpPr>
          <p:cNvPr id="142" name="Text 140"/>
          <p:cNvSpPr txBox="1"/>
          <p:nvPr/>
        </p:nvSpPr>
        <p:spPr>
          <a:xfrm>
            <a:off x="6208776" y="3830798"/>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143" name="Shape 141"/>
          <p:cNvSpPr/>
          <p:nvPr/>
        </p:nvSpPr>
        <p:spPr>
          <a:xfrm>
            <a:off x="8220456" y="3884048"/>
            <a:ext cx="29214" cy="130168"/>
          </a:xfrm>
          <a:prstGeom prst="rect">
            <a:avLst/>
          </a:prstGeom>
          <a:solidFill>
            <a:srgbClr val="2587C5"/>
          </a:solidFill>
          <a:ln/>
        </p:spPr>
      </p:sp>
      <p:sp>
        <p:nvSpPr>
          <p:cNvPr id="144" name="Text 142"/>
          <p:cNvSpPr txBox="1"/>
          <p:nvPr/>
        </p:nvSpPr>
        <p:spPr>
          <a:xfrm>
            <a:off x="8659368" y="3830798"/>
            <a:ext cx="1024128"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$88,568</a:t>
            </a:r>
            <a:endParaRPr lang="en-US" sz="1300" dirty="0"/>
          </a:p>
        </p:txBody>
      </p:sp>
      <p:sp>
        <p:nvSpPr>
          <p:cNvPr id="145" name="Text 143"/>
          <p:cNvSpPr txBox="1"/>
          <p:nvPr/>
        </p:nvSpPr>
        <p:spPr>
          <a:xfrm>
            <a:off x="9683496" y="3830798"/>
            <a:ext cx="896112"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$61,607</a:t>
            </a:r>
            <a:endParaRPr lang="en-US" sz="1300" dirty="0"/>
          </a:p>
        </p:txBody>
      </p:sp>
      <p:sp>
        <p:nvSpPr>
          <p:cNvPr id="146" name="Text 144"/>
          <p:cNvSpPr txBox="1"/>
          <p:nvPr/>
        </p:nvSpPr>
        <p:spPr>
          <a:xfrm>
            <a:off x="10579608" y="3830798"/>
            <a:ext cx="84124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$26,961</a:t>
            </a:r>
            <a:endParaRPr lang="en-US" sz="1300" dirty="0"/>
          </a:p>
        </p:txBody>
      </p:sp>
      <p:sp>
        <p:nvSpPr>
          <p:cNvPr id="147" name="Text 145"/>
          <p:cNvSpPr txBox="1"/>
          <p:nvPr/>
        </p:nvSpPr>
        <p:spPr>
          <a:xfrm>
            <a:off x="6208776" y="4067466"/>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148" name="Shape 146"/>
          <p:cNvSpPr/>
          <p:nvPr/>
        </p:nvSpPr>
        <p:spPr>
          <a:xfrm>
            <a:off x="8220456" y="4120717"/>
            <a:ext cx="22369" cy="130168"/>
          </a:xfrm>
          <a:prstGeom prst="rect">
            <a:avLst/>
          </a:prstGeom>
          <a:solidFill>
            <a:srgbClr val="2587C5"/>
          </a:solidFill>
          <a:ln/>
        </p:spPr>
      </p:sp>
      <p:sp>
        <p:nvSpPr>
          <p:cNvPr id="149" name="Text 147"/>
          <p:cNvSpPr txBox="1"/>
          <p:nvPr/>
        </p:nvSpPr>
        <p:spPr>
          <a:xfrm>
            <a:off x="8659368" y="4067466"/>
            <a:ext cx="1024128"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$67,817</a:t>
            </a:r>
            <a:endParaRPr lang="en-US" sz="1300" dirty="0"/>
          </a:p>
        </p:txBody>
      </p:sp>
      <p:sp>
        <p:nvSpPr>
          <p:cNvPr id="150" name="Text 148"/>
          <p:cNvSpPr txBox="1"/>
          <p:nvPr/>
        </p:nvSpPr>
        <p:spPr>
          <a:xfrm>
            <a:off x="9683496" y="4067466"/>
            <a:ext cx="896112"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$48,880</a:t>
            </a:r>
            <a:endParaRPr lang="en-US" sz="1300" dirty="0"/>
          </a:p>
        </p:txBody>
      </p:sp>
      <p:sp>
        <p:nvSpPr>
          <p:cNvPr id="151" name="Text 149"/>
          <p:cNvSpPr txBox="1"/>
          <p:nvPr/>
        </p:nvSpPr>
        <p:spPr>
          <a:xfrm>
            <a:off x="10579608" y="4067466"/>
            <a:ext cx="84124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$18,937</a:t>
            </a:r>
            <a:endParaRPr lang="en-US" sz="1300" dirty="0"/>
          </a:p>
        </p:txBody>
      </p:sp>
      <p:sp>
        <p:nvSpPr>
          <p:cNvPr id="152" name="Text 150"/>
          <p:cNvSpPr txBox="1"/>
          <p:nvPr/>
        </p:nvSpPr>
        <p:spPr>
          <a:xfrm>
            <a:off x="6208776" y="4304135"/>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153" name="Shape 151"/>
          <p:cNvSpPr/>
          <p:nvPr/>
        </p:nvSpPr>
        <p:spPr>
          <a:xfrm>
            <a:off x="8220456" y="4357385"/>
            <a:ext cx="21616" cy="130168"/>
          </a:xfrm>
          <a:prstGeom prst="rect">
            <a:avLst/>
          </a:prstGeom>
          <a:solidFill>
            <a:srgbClr val="2587C5"/>
          </a:solidFill>
          <a:ln/>
        </p:spPr>
      </p:sp>
      <p:sp>
        <p:nvSpPr>
          <p:cNvPr id="154" name="Text 152"/>
          <p:cNvSpPr txBox="1"/>
          <p:nvPr/>
        </p:nvSpPr>
        <p:spPr>
          <a:xfrm>
            <a:off x="8659368" y="4304135"/>
            <a:ext cx="1024128"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$65,535</a:t>
            </a:r>
            <a:endParaRPr lang="en-US" sz="1300" dirty="0"/>
          </a:p>
        </p:txBody>
      </p:sp>
      <p:sp>
        <p:nvSpPr>
          <p:cNvPr id="155" name="Text 153"/>
          <p:cNvSpPr txBox="1"/>
          <p:nvPr/>
        </p:nvSpPr>
        <p:spPr>
          <a:xfrm>
            <a:off x="9683496" y="4304135"/>
            <a:ext cx="896112"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$42,792</a:t>
            </a:r>
            <a:endParaRPr lang="en-US" sz="1300" dirty="0"/>
          </a:p>
        </p:txBody>
      </p:sp>
      <p:sp>
        <p:nvSpPr>
          <p:cNvPr id="156" name="Text 154"/>
          <p:cNvSpPr txBox="1"/>
          <p:nvPr/>
        </p:nvSpPr>
        <p:spPr>
          <a:xfrm>
            <a:off x="10579608" y="4304135"/>
            <a:ext cx="84124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$22,743</a:t>
            </a:r>
            <a:endParaRPr lang="en-US" sz="1300" dirty="0"/>
          </a:p>
        </p:txBody>
      </p:sp>
      <p:sp>
        <p:nvSpPr>
          <p:cNvPr id="157" name="Text 155"/>
          <p:cNvSpPr txBox="1"/>
          <p:nvPr/>
        </p:nvSpPr>
        <p:spPr>
          <a:xfrm>
            <a:off x="6208776" y="4540803"/>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158" name="Shape 156"/>
          <p:cNvSpPr/>
          <p:nvPr/>
        </p:nvSpPr>
        <p:spPr>
          <a:xfrm>
            <a:off x="8220456" y="4594053"/>
            <a:ext cx="20062" cy="130168"/>
          </a:xfrm>
          <a:prstGeom prst="rect">
            <a:avLst/>
          </a:prstGeom>
          <a:solidFill>
            <a:srgbClr val="2587C5"/>
          </a:solidFill>
          <a:ln/>
        </p:spPr>
      </p:sp>
      <p:sp>
        <p:nvSpPr>
          <p:cNvPr id="159" name="Text 157"/>
          <p:cNvSpPr txBox="1"/>
          <p:nvPr/>
        </p:nvSpPr>
        <p:spPr>
          <a:xfrm>
            <a:off x="8659368" y="4540803"/>
            <a:ext cx="1024128"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$60,821</a:t>
            </a:r>
            <a:endParaRPr lang="en-US" sz="1300" dirty="0"/>
          </a:p>
        </p:txBody>
      </p:sp>
      <p:sp>
        <p:nvSpPr>
          <p:cNvPr id="160" name="Text 158"/>
          <p:cNvSpPr txBox="1"/>
          <p:nvPr/>
        </p:nvSpPr>
        <p:spPr>
          <a:xfrm>
            <a:off x="9683496" y="4540803"/>
            <a:ext cx="896112"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$40,050</a:t>
            </a:r>
            <a:endParaRPr lang="en-US" sz="1300" dirty="0"/>
          </a:p>
        </p:txBody>
      </p:sp>
      <p:sp>
        <p:nvSpPr>
          <p:cNvPr id="161" name="Text 159"/>
          <p:cNvSpPr txBox="1"/>
          <p:nvPr/>
        </p:nvSpPr>
        <p:spPr>
          <a:xfrm>
            <a:off x="10579608" y="4540803"/>
            <a:ext cx="84124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$20,772</a:t>
            </a:r>
            <a:endParaRPr lang="en-US" sz="1300" dirty="0"/>
          </a:p>
        </p:txBody>
      </p:sp>
      <p:sp>
        <p:nvSpPr>
          <p:cNvPr id="162" name="Text 160"/>
          <p:cNvSpPr txBox="1"/>
          <p:nvPr/>
        </p:nvSpPr>
        <p:spPr>
          <a:xfrm>
            <a:off x="6208776" y="4777471"/>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163" name="Shape 161"/>
          <p:cNvSpPr/>
          <p:nvPr/>
        </p:nvSpPr>
        <p:spPr>
          <a:xfrm>
            <a:off x="8220456" y="4830721"/>
            <a:ext cx="18885" cy="130168"/>
          </a:xfrm>
          <a:prstGeom prst="rect">
            <a:avLst/>
          </a:prstGeom>
          <a:solidFill>
            <a:srgbClr val="2587C5"/>
          </a:solidFill>
          <a:ln/>
        </p:spPr>
      </p:sp>
      <p:sp>
        <p:nvSpPr>
          <p:cNvPr id="164" name="Text 162"/>
          <p:cNvSpPr txBox="1"/>
          <p:nvPr/>
        </p:nvSpPr>
        <p:spPr>
          <a:xfrm>
            <a:off x="8659368" y="4777471"/>
            <a:ext cx="1024128"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$57,255</a:t>
            </a:r>
            <a:endParaRPr lang="en-US" sz="1300" dirty="0"/>
          </a:p>
        </p:txBody>
      </p:sp>
      <p:sp>
        <p:nvSpPr>
          <p:cNvPr id="165" name="Text 163"/>
          <p:cNvSpPr txBox="1"/>
          <p:nvPr/>
        </p:nvSpPr>
        <p:spPr>
          <a:xfrm>
            <a:off x="9683496" y="4777471"/>
            <a:ext cx="896112"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$37,516</a:t>
            </a:r>
            <a:endParaRPr lang="en-US" sz="1300" dirty="0"/>
          </a:p>
        </p:txBody>
      </p:sp>
      <p:sp>
        <p:nvSpPr>
          <p:cNvPr id="166" name="Text 164"/>
          <p:cNvSpPr txBox="1"/>
          <p:nvPr/>
        </p:nvSpPr>
        <p:spPr>
          <a:xfrm>
            <a:off x="10579608" y="4777471"/>
            <a:ext cx="84124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$19,739</a:t>
            </a:r>
            <a:endParaRPr lang="en-US" sz="1300" dirty="0"/>
          </a:p>
        </p:txBody>
      </p:sp>
      <p:sp>
        <p:nvSpPr>
          <p:cNvPr id="167" name="Text 165"/>
          <p:cNvSpPr txBox="1"/>
          <p:nvPr/>
        </p:nvSpPr>
        <p:spPr>
          <a:xfrm>
            <a:off x="6208776" y="5014139"/>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168" name="Shape 166"/>
          <p:cNvSpPr/>
          <p:nvPr/>
        </p:nvSpPr>
        <p:spPr>
          <a:xfrm>
            <a:off x="8220456" y="5067390"/>
            <a:ext cx="18288" cy="130168"/>
          </a:xfrm>
          <a:prstGeom prst="rect">
            <a:avLst/>
          </a:prstGeom>
          <a:solidFill>
            <a:srgbClr val="2587C5"/>
          </a:solidFill>
          <a:ln/>
        </p:spPr>
      </p:sp>
      <p:sp>
        <p:nvSpPr>
          <p:cNvPr id="169" name="Text 167"/>
          <p:cNvSpPr txBox="1"/>
          <p:nvPr/>
        </p:nvSpPr>
        <p:spPr>
          <a:xfrm>
            <a:off x="8659368" y="5014139"/>
            <a:ext cx="1024128"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$43,756</a:t>
            </a:r>
            <a:endParaRPr lang="en-US" sz="1300" dirty="0"/>
          </a:p>
        </p:txBody>
      </p:sp>
      <p:sp>
        <p:nvSpPr>
          <p:cNvPr id="170" name="Text 168"/>
          <p:cNvSpPr txBox="1"/>
          <p:nvPr/>
        </p:nvSpPr>
        <p:spPr>
          <a:xfrm>
            <a:off x="9683496" y="5014139"/>
            <a:ext cx="896112"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$27,475</a:t>
            </a:r>
            <a:endParaRPr lang="en-US" sz="1300" dirty="0"/>
          </a:p>
        </p:txBody>
      </p:sp>
      <p:sp>
        <p:nvSpPr>
          <p:cNvPr id="171" name="Text 169"/>
          <p:cNvSpPr txBox="1"/>
          <p:nvPr/>
        </p:nvSpPr>
        <p:spPr>
          <a:xfrm>
            <a:off x="10579608" y="5014139"/>
            <a:ext cx="84124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$16,281</a:t>
            </a:r>
            <a:endParaRPr lang="en-US" sz="1300" dirty="0"/>
          </a:p>
        </p:txBody>
      </p:sp>
      <p:sp>
        <p:nvSpPr>
          <p:cNvPr id="172" name="Text 170"/>
          <p:cNvSpPr txBox="1"/>
          <p:nvPr/>
        </p:nvSpPr>
        <p:spPr>
          <a:xfrm>
            <a:off x="6208776" y="5250808"/>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73" name="Shape 171"/>
          <p:cNvSpPr/>
          <p:nvPr/>
        </p:nvSpPr>
        <p:spPr>
          <a:xfrm>
            <a:off x="8220456" y="5304058"/>
            <a:ext cx="18288" cy="130168"/>
          </a:xfrm>
          <a:prstGeom prst="rect">
            <a:avLst/>
          </a:prstGeom>
          <a:solidFill>
            <a:srgbClr val="2587C5"/>
          </a:solidFill>
          <a:ln/>
        </p:spPr>
      </p:sp>
      <p:sp>
        <p:nvSpPr>
          <p:cNvPr id="174" name="Text 172"/>
          <p:cNvSpPr txBox="1"/>
          <p:nvPr/>
        </p:nvSpPr>
        <p:spPr>
          <a:xfrm>
            <a:off x="8659368" y="5250808"/>
            <a:ext cx="1024128"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$38,856</a:t>
            </a:r>
            <a:endParaRPr lang="en-US" sz="1300" dirty="0"/>
          </a:p>
        </p:txBody>
      </p:sp>
      <p:sp>
        <p:nvSpPr>
          <p:cNvPr id="175" name="Text 173"/>
          <p:cNvSpPr txBox="1"/>
          <p:nvPr/>
        </p:nvSpPr>
        <p:spPr>
          <a:xfrm>
            <a:off x="9683496" y="5250808"/>
            <a:ext cx="896112"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$23,679</a:t>
            </a:r>
            <a:endParaRPr lang="en-US" sz="1300" dirty="0"/>
          </a:p>
        </p:txBody>
      </p:sp>
      <p:sp>
        <p:nvSpPr>
          <p:cNvPr id="176" name="Text 174"/>
          <p:cNvSpPr txBox="1"/>
          <p:nvPr/>
        </p:nvSpPr>
        <p:spPr>
          <a:xfrm>
            <a:off x="10579608" y="5250808"/>
            <a:ext cx="84124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$15,178</a:t>
            </a:r>
            <a:endParaRPr lang="en-US" sz="1300" dirty="0"/>
          </a:p>
        </p:txBody>
      </p:sp>
      <p:sp>
        <p:nvSpPr>
          <p:cNvPr id="177" name="Shape 175"/>
          <p:cNvSpPr/>
          <p:nvPr/>
        </p:nvSpPr>
        <p:spPr>
          <a:xfrm>
            <a:off x="457200" y="5961888"/>
            <a:ext cx="11274552" cy="548640"/>
          </a:xfrm>
          <a:prstGeom prst="rect">
            <a:avLst/>
          </a:prstGeom>
          <a:solidFill>
            <a:srgbClr val="E6F6EE"/>
          </a:solidFill>
          <a:ln/>
        </p:spPr>
      </p:sp>
      <p:sp>
        <p:nvSpPr>
          <p:cNvPr id="178" name="Text 176"/>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0.1 hour more on every CP RO is worth $6,602,564 a year in gross: $4,741,969 labor and $1,860,595 parts. TOYOTA HENDERSON leads at $1,164,334.</a:t>
            </a:r>
            <a:endParaRPr lang="en-US" sz="1600" dirty="0"/>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Pricing Strategy</a:t>
            </a:r>
            <a:endParaRPr lang="en-US" sz="2800" dirty="0"/>
          </a:p>
        </p:txBody>
      </p:sp>
      <p:sp>
        <p:nvSpPr>
          <p:cNvPr id="5" name="Shape 3"/>
          <p:cNvSpPr/>
          <p:nvPr/>
        </p:nvSpPr>
        <p:spPr>
          <a:xfrm>
            <a:off x="457200" y="1207008"/>
            <a:ext cx="6400800" cy="4645152"/>
          </a:xfrm>
          <a:prstGeom prst="rect">
            <a:avLst/>
          </a:prstGeom>
          <a:solidFill>
            <a:srgbClr val="FFFFFF"/>
          </a:solidFill>
          <a:ln/>
        </p:spPr>
      </p:sp>
      <p:sp>
        <p:nvSpPr>
          <p:cNvPr id="6" name="Shape 4"/>
          <p:cNvSpPr/>
          <p:nvPr/>
        </p:nvSpPr>
        <p:spPr>
          <a:xfrm>
            <a:off x="7022592" y="1207008"/>
            <a:ext cx="4709160" cy="4645152"/>
          </a:xfrm>
          <a:prstGeom prst="rect">
            <a:avLst/>
          </a:prstGeom>
          <a:solidFill>
            <a:srgbClr val="FFFFFF"/>
          </a:solidFill>
          <a:ln/>
        </p:spPr>
      </p:sp>
      <p:sp>
        <p:nvSpPr>
          <p:cNvPr id="7" name="Text 5"/>
          <p:cNvSpPr txBox="1"/>
          <p:nvPr/>
        </p:nvSpPr>
        <p:spPr>
          <a:xfrm>
            <a:off x="713232" y="1371600"/>
            <a:ext cx="5943600" cy="310896"/>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WE SAID · ROUNDTABLE &amp; GM MEETINGS</a:t>
            </a:r>
            <a:endParaRPr lang="en-US" sz="1400" dirty="0"/>
          </a:p>
        </p:txBody>
      </p:sp>
      <p:sp>
        <p:nvSpPr>
          <p:cNvPr id="8" name="Text 6"/>
          <p:cNvSpPr txBox="1"/>
          <p:nvPr/>
        </p:nvSpPr>
        <p:spPr>
          <a:xfrm>
            <a:off x="7269480" y="1371600"/>
            <a:ext cx="4297680" cy="310896"/>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WHERE WE ARE · JAN–SEP 2026</a:t>
            </a:r>
            <a:endParaRPr lang="en-US" sz="1400" dirty="0"/>
          </a:p>
        </p:txBody>
      </p:sp>
      <p:sp>
        <p:nvSpPr>
          <p:cNvPr id="9" name="Shape 7"/>
          <p:cNvSpPr/>
          <p:nvPr/>
        </p:nvSpPr>
        <p:spPr>
          <a:xfrm>
            <a:off x="713232" y="1737360"/>
            <a:ext cx="5897880" cy="10973"/>
          </a:xfrm>
          <a:prstGeom prst="rect">
            <a:avLst/>
          </a:prstGeom>
          <a:solidFill>
            <a:srgbClr val="D9D9D9"/>
          </a:solidFill>
          <a:ln/>
        </p:spPr>
      </p:sp>
      <p:sp>
        <p:nvSpPr>
          <p:cNvPr id="10" name="Shape 8"/>
          <p:cNvSpPr/>
          <p:nvPr/>
        </p:nvSpPr>
        <p:spPr>
          <a:xfrm>
            <a:off x="7269480" y="1737360"/>
            <a:ext cx="4224528" cy="10973"/>
          </a:xfrm>
          <a:prstGeom prst="rect">
            <a:avLst/>
          </a:prstGeom>
          <a:solidFill>
            <a:srgbClr val="D9D9D9"/>
          </a:solidFill>
          <a:ln/>
        </p:spPr>
      </p:sp>
      <p:sp>
        <p:nvSpPr>
          <p:cNvPr id="11" name="Text 9"/>
          <p:cNvSpPr txBox="1"/>
          <p:nvPr/>
        </p:nvSpPr>
        <p:spPr>
          <a:xfrm>
            <a:off x="713232" y="1874520"/>
            <a:ext cx="5897880" cy="384048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Do a comprehensive market labor study</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Calculate your ELR on every maintenance item; target ELR by work type</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Know your loss leader, and what the competition is charging</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No direct price changes to parts or labor: use ADC-controlled discounting for every discount</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Benchmark: CP ELR at least 70% of door rate</a:t>
            </a:r>
            <a:endParaRPr lang="en-US" sz="1800" dirty="0"/>
          </a:p>
        </p:txBody>
      </p:sp>
      <p:sp>
        <p:nvSpPr>
          <p:cNvPr id="12" name="Shape 10"/>
          <p:cNvSpPr/>
          <p:nvPr/>
        </p:nvSpPr>
        <p:spPr>
          <a:xfrm>
            <a:off x="7269480" y="1920240"/>
            <a:ext cx="54864" cy="1066800"/>
          </a:xfrm>
          <a:prstGeom prst="rect">
            <a:avLst/>
          </a:prstGeom>
          <a:solidFill>
            <a:srgbClr val="12A566"/>
          </a:solidFill>
          <a:ln/>
        </p:spPr>
      </p:sp>
      <p:sp>
        <p:nvSpPr>
          <p:cNvPr id="13" name="Text 11"/>
          <p:cNvSpPr txBox="1"/>
          <p:nvPr/>
        </p:nvSpPr>
        <p:spPr>
          <a:xfrm>
            <a:off x="7452360" y="187452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7A4A"/>
                </a:solidFill>
                <a:latin typeface="Inter" pitchFamily="34" charset="0"/>
                <a:ea typeface="Inter" pitchFamily="34" charset="-122"/>
                <a:cs typeface="Inter" pitchFamily="34" charset="-120"/>
              </a:rPr>
              <a:t>$162.42</a:t>
            </a:r>
            <a:endParaRPr lang="en-US" sz="3000" dirty="0"/>
          </a:p>
        </p:txBody>
      </p:sp>
      <p:sp>
        <p:nvSpPr>
          <p:cNvPr id="14" name="Text 12"/>
          <p:cNvSpPr txBox="1"/>
          <p:nvPr/>
        </p:nvSpPr>
        <p:spPr>
          <a:xfrm>
            <a:off x="7452360" y="2441448"/>
            <a:ext cx="4023360" cy="56388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CP effective labor rate, up $3.56 and ahead in all nine months.</a:t>
            </a:r>
            <a:endParaRPr lang="en-US" sz="1400" dirty="0"/>
          </a:p>
        </p:txBody>
      </p:sp>
      <p:sp>
        <p:nvSpPr>
          <p:cNvPr id="15" name="Shape 13"/>
          <p:cNvSpPr/>
          <p:nvPr/>
        </p:nvSpPr>
        <p:spPr>
          <a:xfrm>
            <a:off x="7269480" y="3215640"/>
            <a:ext cx="54864" cy="1066800"/>
          </a:xfrm>
          <a:prstGeom prst="rect">
            <a:avLst/>
          </a:prstGeom>
          <a:solidFill>
            <a:srgbClr val="12A566"/>
          </a:solidFill>
          <a:ln/>
        </p:spPr>
      </p:sp>
      <p:sp>
        <p:nvSpPr>
          <p:cNvPr id="16" name="Text 14"/>
          <p:cNvSpPr txBox="1"/>
          <p:nvPr/>
        </p:nvSpPr>
        <p:spPr>
          <a:xfrm>
            <a:off x="7452360" y="316992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7A4A"/>
                </a:solidFill>
                <a:latin typeface="Inter" pitchFamily="34" charset="0"/>
                <a:ea typeface="Inter" pitchFamily="34" charset="-122"/>
                <a:cs typeface="Inter" pitchFamily="34" charset="-120"/>
              </a:rPr>
              <a:t>74.7%</a:t>
            </a:r>
            <a:endParaRPr lang="en-US" sz="3000" dirty="0"/>
          </a:p>
        </p:txBody>
      </p:sp>
      <p:sp>
        <p:nvSpPr>
          <p:cNvPr id="17" name="Text 15"/>
          <p:cNvSpPr txBox="1"/>
          <p:nvPr/>
        </p:nvSpPr>
        <p:spPr>
          <a:xfrm>
            <a:off x="7452360" y="3736848"/>
            <a:ext cx="4023360" cy="56388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CP ELR as a share of door rate, Jul-Sep. 25 of 33 stores at or above 70%.</a:t>
            </a:r>
            <a:endParaRPr lang="en-US" sz="1400" dirty="0"/>
          </a:p>
        </p:txBody>
      </p:sp>
      <p:sp>
        <p:nvSpPr>
          <p:cNvPr id="18" name="Shape 16"/>
          <p:cNvSpPr/>
          <p:nvPr/>
        </p:nvSpPr>
        <p:spPr>
          <a:xfrm>
            <a:off x="7269480" y="4511040"/>
            <a:ext cx="54864" cy="1066800"/>
          </a:xfrm>
          <a:prstGeom prst="rect">
            <a:avLst/>
          </a:prstGeom>
          <a:solidFill>
            <a:srgbClr val="C2352F"/>
          </a:solidFill>
          <a:ln/>
        </p:spPr>
      </p:sp>
      <p:sp>
        <p:nvSpPr>
          <p:cNvPr id="19" name="Text 17"/>
          <p:cNvSpPr txBox="1"/>
          <p:nvPr/>
        </p:nvSpPr>
        <p:spPr>
          <a:xfrm>
            <a:off x="7452360" y="4465320"/>
            <a:ext cx="4023360" cy="566928"/>
          </a:xfrm>
          <a:prstGeom prst="rect">
            <a:avLst/>
          </a:prstGeom>
          <a:noFill/>
          <a:ln/>
        </p:spPr>
        <p:txBody>
          <a:bodyPr wrap="square" lIns="0" tIns="0" rIns="0" bIns="0" rtlCol="0" anchor="ctr">
            <a:normAutofit/>
          </a:bodyPr>
          <a:lstStyle/>
          <a:p>
            <a:pPr indent="0" marL="0">
              <a:buNone/>
            </a:pPr>
            <a:r>
              <a:rPr lang="en-US" sz="3000" b="1" dirty="0">
                <a:solidFill>
                  <a:srgbClr val="A82B26"/>
                </a:solidFill>
                <a:latin typeface="Inter" pitchFamily="34" charset="0"/>
                <a:ea typeface="Inter" pitchFamily="34" charset="-122"/>
                <a:cs typeface="Inter" pitchFamily="34" charset="-120"/>
              </a:rPr>
              <a:t>73.9% vs 76.4%</a:t>
            </a:r>
            <a:endParaRPr lang="en-US" sz="3000" dirty="0"/>
          </a:p>
        </p:txBody>
      </p:sp>
      <p:sp>
        <p:nvSpPr>
          <p:cNvPr id="20" name="Text 18"/>
          <p:cNvSpPr txBox="1"/>
          <p:nvPr/>
        </p:nvSpPr>
        <p:spPr>
          <a:xfrm>
            <a:off x="7452360" y="5032248"/>
            <a:ext cx="4023360" cy="56388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Grid stores realize less of their door rate than flat-rate stores, Jul-Sep.</a:t>
            </a:r>
            <a:endParaRPr lang="en-US" sz="1400" dirty="0"/>
          </a:p>
        </p:txBody>
      </p:sp>
      <p:sp>
        <p:nvSpPr>
          <p:cNvPr id="21" name="Shape 19"/>
          <p:cNvSpPr/>
          <p:nvPr/>
        </p:nvSpPr>
        <p:spPr>
          <a:xfrm>
            <a:off x="457200" y="5961888"/>
            <a:ext cx="11274552" cy="548640"/>
          </a:xfrm>
          <a:prstGeom prst="rect">
            <a:avLst/>
          </a:prstGeom>
          <a:solidFill>
            <a:srgbClr val="EDF4FA"/>
          </a:solidFill>
          <a:ln/>
        </p:spPr>
      </p:sp>
      <p:sp>
        <p:nvSpPr>
          <p:cNvPr id="22" name="Text 20"/>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The ask: know what you collect on every op code, and run every discount through ADC so we can see it.</a:t>
            </a:r>
            <a:endParaRPr lang="en-US" sz="1600" dirty="0"/>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What Is Effective Labor Rate?</a:t>
            </a:r>
            <a:endParaRPr lang="en-US" sz="2800" dirty="0"/>
          </a:p>
        </p:txBody>
      </p:sp>
      <p:sp>
        <p:nvSpPr>
          <p:cNvPr id="5" name="Shape 3"/>
          <p:cNvSpPr/>
          <p:nvPr/>
        </p:nvSpPr>
        <p:spPr>
          <a:xfrm>
            <a:off x="457200" y="1207008"/>
            <a:ext cx="11274552" cy="1024128"/>
          </a:xfrm>
          <a:prstGeom prst="rect">
            <a:avLst/>
          </a:prstGeom>
          <a:solidFill>
            <a:srgbClr val="EDF4FA"/>
          </a:solidFill>
          <a:ln/>
        </p:spPr>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400" b="1" dirty="0">
                <a:solidFill>
                  <a:srgbClr val="0B2C4A"/>
                </a:solidFill>
                <a:latin typeface="Inter" pitchFamily="34" charset="0"/>
                <a:ea typeface="Inter" pitchFamily="34" charset="-122"/>
                <a:cs typeface="Inter" pitchFamily="34" charset="-120"/>
              </a:rPr>
              <a:t>Effective labor rate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CP labor sale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CP hours sold</a:t>
            </a:r>
            <a:endParaRPr lang="en-US" sz="24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500" dirty="0">
                <a:solidFill>
                  <a:srgbClr val="595959"/>
                </a:solidFill>
                <a:latin typeface="Inter" pitchFamily="34" charset="0"/>
                <a:ea typeface="Inter" pitchFamily="34" charset="-122"/>
                <a:cs typeface="Inter" pitchFamily="34" charset="-120"/>
              </a:rPr>
              <a:t>What we collect for each customer-pay labor hour after menus, discounts and mix. Door rate is what we post.</a:t>
            </a:r>
            <a:endParaRPr lang="en-US" sz="1500" dirty="0"/>
          </a:p>
        </p:txBody>
      </p:sp>
      <p:sp>
        <p:nvSpPr>
          <p:cNvPr id="8" name="Text 6"/>
          <p:cNvSpPr txBox="1"/>
          <p:nvPr/>
        </p:nvSpPr>
        <p:spPr>
          <a:xfrm>
            <a:off x="457200" y="2340864"/>
            <a:ext cx="1828800" cy="457200"/>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Roundtable example</a:t>
            </a:r>
            <a:endParaRPr lang="en-US" sz="1400" dirty="0"/>
          </a:p>
        </p:txBody>
      </p:sp>
      <p:sp>
        <p:nvSpPr>
          <p:cNvPr id="9" name="Shape 7"/>
          <p:cNvSpPr/>
          <p:nvPr/>
        </p:nvSpPr>
        <p:spPr>
          <a:xfrm>
            <a:off x="2286000" y="2340864"/>
            <a:ext cx="1801368" cy="457200"/>
          </a:xfrm>
          <a:prstGeom prst="rect">
            <a:avLst/>
          </a:prstGeom>
          <a:solidFill>
            <a:srgbClr val="FFFFFF"/>
          </a:solidFill>
          <a:ln w="9525">
            <a:solidFill>
              <a:srgbClr val="D9D9D9"/>
            </a:solidFill>
            <a:prstDash val="solid"/>
          </a:ln>
        </p:spPr>
      </p:sp>
      <p:sp>
        <p:nvSpPr>
          <p:cNvPr id="10" name="Text 8"/>
          <p:cNvSpPr txBox="1"/>
          <p:nvPr/>
        </p:nvSpPr>
        <p:spPr>
          <a:xfrm>
            <a:off x="2359152" y="2340864"/>
            <a:ext cx="1655064"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Tire rotation  </a:t>
            </a:r>
            <a:pPr algn="ctr" indent="0" marL="0">
              <a:buNone/>
            </a:pPr>
            <a:r>
              <a:rPr lang="en-US" sz="1400" b="1" dirty="0">
                <a:solidFill>
                  <a:srgbClr val="0B2C4A"/>
                </a:solidFill>
                <a:latin typeface="Inter" pitchFamily="34" charset="0"/>
                <a:ea typeface="Inter" pitchFamily="34" charset="-122"/>
                <a:cs typeface="Inter" pitchFamily="34" charset="-120"/>
              </a:rPr>
              <a:t>$67/hr</a:t>
            </a:r>
            <a:endParaRPr lang="en-US" sz="1400" dirty="0"/>
          </a:p>
        </p:txBody>
      </p:sp>
      <p:sp>
        <p:nvSpPr>
          <p:cNvPr id="11" name="Shape 9"/>
          <p:cNvSpPr/>
          <p:nvPr/>
        </p:nvSpPr>
        <p:spPr>
          <a:xfrm>
            <a:off x="4197096" y="2340864"/>
            <a:ext cx="1801368" cy="457200"/>
          </a:xfrm>
          <a:prstGeom prst="rect">
            <a:avLst/>
          </a:prstGeom>
          <a:solidFill>
            <a:srgbClr val="FFFFFF"/>
          </a:solidFill>
          <a:ln w="9525">
            <a:solidFill>
              <a:srgbClr val="D9D9D9"/>
            </a:solidFill>
            <a:prstDash val="solid"/>
          </a:ln>
        </p:spPr>
      </p:sp>
      <p:sp>
        <p:nvSpPr>
          <p:cNvPr id="12" name="Text 10"/>
          <p:cNvSpPr txBox="1"/>
          <p:nvPr/>
        </p:nvSpPr>
        <p:spPr>
          <a:xfrm>
            <a:off x="4270248" y="2340864"/>
            <a:ext cx="1655064"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Oil change  </a:t>
            </a:r>
            <a:pPr algn="ctr" indent="0" marL="0">
              <a:buNone/>
            </a:pPr>
            <a:r>
              <a:rPr lang="en-US" sz="1400" b="1" dirty="0">
                <a:solidFill>
                  <a:srgbClr val="0B2C4A"/>
                </a:solidFill>
                <a:latin typeface="Inter" pitchFamily="34" charset="0"/>
                <a:ea typeface="Inter" pitchFamily="34" charset="-122"/>
                <a:cs typeface="Inter" pitchFamily="34" charset="-120"/>
              </a:rPr>
              <a:t>$80/hr</a:t>
            </a:r>
            <a:endParaRPr lang="en-US" sz="1400" dirty="0"/>
          </a:p>
        </p:txBody>
      </p:sp>
      <p:sp>
        <p:nvSpPr>
          <p:cNvPr id="13" name="Shape 11"/>
          <p:cNvSpPr/>
          <p:nvPr/>
        </p:nvSpPr>
        <p:spPr>
          <a:xfrm>
            <a:off x="6108192" y="2340864"/>
            <a:ext cx="1801368" cy="457200"/>
          </a:xfrm>
          <a:prstGeom prst="rect">
            <a:avLst/>
          </a:prstGeom>
          <a:solidFill>
            <a:srgbClr val="FFFFFF"/>
          </a:solidFill>
          <a:ln w="9525">
            <a:solidFill>
              <a:srgbClr val="D9D9D9"/>
            </a:solidFill>
            <a:prstDash val="solid"/>
          </a:ln>
        </p:spPr>
      </p:sp>
      <p:sp>
        <p:nvSpPr>
          <p:cNvPr id="14" name="Text 12"/>
          <p:cNvSpPr txBox="1"/>
          <p:nvPr/>
        </p:nvSpPr>
        <p:spPr>
          <a:xfrm>
            <a:off x="6181344" y="2340864"/>
            <a:ext cx="1655064"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Alignment  </a:t>
            </a:r>
            <a:pPr algn="ctr" indent="0" marL="0">
              <a:buNone/>
            </a:pPr>
            <a:r>
              <a:rPr lang="en-US" sz="1400" b="1" dirty="0">
                <a:solidFill>
                  <a:srgbClr val="0B2C4A"/>
                </a:solidFill>
                <a:latin typeface="Inter" pitchFamily="34" charset="0"/>
                <a:ea typeface="Inter" pitchFamily="34" charset="-122"/>
                <a:cs typeface="Inter" pitchFamily="34" charset="-120"/>
              </a:rPr>
              <a:t>$117/hr</a:t>
            </a:r>
            <a:endParaRPr lang="en-US" sz="1400" dirty="0"/>
          </a:p>
        </p:txBody>
      </p:sp>
      <p:sp>
        <p:nvSpPr>
          <p:cNvPr id="15" name="Shape 13"/>
          <p:cNvSpPr/>
          <p:nvPr/>
        </p:nvSpPr>
        <p:spPr>
          <a:xfrm>
            <a:off x="8019288" y="2340864"/>
            <a:ext cx="1801368" cy="457200"/>
          </a:xfrm>
          <a:prstGeom prst="rect">
            <a:avLst/>
          </a:prstGeom>
          <a:solidFill>
            <a:srgbClr val="FFFFFF"/>
          </a:solidFill>
          <a:ln w="9525">
            <a:solidFill>
              <a:srgbClr val="D9D9D9"/>
            </a:solidFill>
            <a:prstDash val="solid"/>
          </a:ln>
        </p:spPr>
      </p:sp>
      <p:sp>
        <p:nvSpPr>
          <p:cNvPr id="16" name="Text 14"/>
          <p:cNvSpPr txBox="1"/>
          <p:nvPr/>
        </p:nvSpPr>
        <p:spPr>
          <a:xfrm>
            <a:off x="8092440" y="2340864"/>
            <a:ext cx="1655064"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Steering rack  </a:t>
            </a:r>
            <a:pPr algn="ctr" indent="0" marL="0">
              <a:buNone/>
            </a:pPr>
            <a:r>
              <a:rPr lang="en-US" sz="1400" b="1" dirty="0">
                <a:solidFill>
                  <a:srgbClr val="0B2C4A"/>
                </a:solidFill>
                <a:latin typeface="Inter" pitchFamily="34" charset="0"/>
                <a:ea typeface="Inter" pitchFamily="34" charset="-122"/>
                <a:cs typeface="Inter" pitchFamily="34" charset="-120"/>
              </a:rPr>
              <a:t>$160/hr</a:t>
            </a:r>
            <a:endParaRPr lang="en-US" sz="1400" dirty="0"/>
          </a:p>
        </p:txBody>
      </p:sp>
      <p:sp>
        <p:nvSpPr>
          <p:cNvPr id="17" name="Shape 15"/>
          <p:cNvSpPr/>
          <p:nvPr/>
        </p:nvSpPr>
        <p:spPr>
          <a:xfrm>
            <a:off x="9930384" y="2340864"/>
            <a:ext cx="1801368" cy="457200"/>
          </a:xfrm>
          <a:prstGeom prst="rect">
            <a:avLst/>
          </a:prstGeom>
          <a:solidFill>
            <a:srgbClr val="FFFFFF"/>
          </a:solidFill>
          <a:ln w="9525">
            <a:solidFill>
              <a:srgbClr val="D9D9D9"/>
            </a:solidFill>
            <a:prstDash val="solid"/>
          </a:ln>
        </p:spPr>
      </p:sp>
      <p:sp>
        <p:nvSpPr>
          <p:cNvPr id="18" name="Text 16"/>
          <p:cNvSpPr txBox="1"/>
          <p:nvPr/>
        </p:nvSpPr>
        <p:spPr>
          <a:xfrm>
            <a:off x="10003536" y="2340864"/>
            <a:ext cx="1655064"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All 7 jobs  </a:t>
            </a:r>
            <a:pPr algn="ctr" indent="0" marL="0">
              <a:buNone/>
            </a:pPr>
            <a:r>
              <a:rPr lang="en-US" sz="1400" b="1" dirty="0">
                <a:solidFill>
                  <a:srgbClr val="0B2C4A"/>
                </a:solidFill>
                <a:latin typeface="Inter" pitchFamily="34" charset="0"/>
                <a:ea typeface="Inter" pitchFamily="34" charset="-122"/>
                <a:cs typeface="Inter" pitchFamily="34" charset="-120"/>
              </a:rPr>
              <a:t>$130/hr</a:t>
            </a:r>
            <a:endParaRPr lang="en-US" sz="1400" dirty="0"/>
          </a:p>
        </p:txBody>
      </p:sp>
      <p:sp>
        <p:nvSpPr>
          <p:cNvPr id="19" name="Shape 17"/>
          <p:cNvSpPr/>
          <p:nvPr/>
        </p:nvSpPr>
        <p:spPr>
          <a:xfrm>
            <a:off x="457200" y="2907792"/>
            <a:ext cx="4343400" cy="2944368"/>
          </a:xfrm>
          <a:prstGeom prst="rect">
            <a:avLst/>
          </a:prstGeom>
          <a:solidFill>
            <a:srgbClr val="FFFFFF"/>
          </a:solidFill>
          <a:ln/>
        </p:spPr>
      </p:sp>
      <p:sp>
        <p:nvSpPr>
          <p:cNvPr id="20" name="Shape 18"/>
          <p:cNvSpPr/>
          <p:nvPr/>
        </p:nvSpPr>
        <p:spPr>
          <a:xfrm>
            <a:off x="4937760" y="2907792"/>
            <a:ext cx="6793992" cy="2944368"/>
          </a:xfrm>
          <a:prstGeom prst="rect">
            <a:avLst/>
          </a:prstGeom>
          <a:solidFill>
            <a:srgbClr val="FFFFFF"/>
          </a:solidFill>
          <a:ln/>
        </p:spPr>
      </p:sp>
      <p:sp>
        <p:nvSpPr>
          <p:cNvPr id="21" name="Text 19"/>
          <p:cNvSpPr txBox="1"/>
          <p:nvPr/>
        </p:nvSpPr>
        <p:spPr>
          <a:xfrm>
            <a:off x="658368" y="3035808"/>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WHY IT MATTERS</a:t>
            </a:r>
            <a:endParaRPr lang="en-US" sz="1400" dirty="0"/>
          </a:p>
        </p:txBody>
      </p:sp>
      <p:sp>
        <p:nvSpPr>
          <p:cNvPr id="22" name="Text 20"/>
          <p:cNvSpPr txBox="1"/>
          <p:nvPr/>
        </p:nvSpPr>
        <p:spPr>
          <a:xfrm>
            <a:off x="5138928" y="3035808"/>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MOVES IT</a:t>
            </a:r>
            <a:endParaRPr lang="en-US" sz="1400" dirty="0"/>
          </a:p>
        </p:txBody>
      </p:sp>
      <p:sp>
        <p:nvSpPr>
          <p:cNvPr id="23" name="Text 21"/>
          <p:cNvSpPr txBox="1"/>
          <p:nvPr/>
        </p:nvSpPr>
        <p:spPr>
          <a:xfrm>
            <a:off x="658368" y="3410712"/>
            <a:ext cx="3977640" cy="2304288"/>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Every hour sold is worth the ELR, so it sets the value of the whole shop.</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The gap to door rate is money given away. Our benchmark: CP ELR at least 70% of door rate.</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It shows whether pricing, discounting and mix are under control.</a:t>
            </a:r>
            <a:endParaRPr lang="en-US" sz="1500" dirty="0"/>
          </a:p>
        </p:txBody>
      </p:sp>
      <p:sp>
        <p:nvSpPr>
          <p:cNvPr id="24" name="Shape 22"/>
          <p:cNvSpPr/>
          <p:nvPr/>
        </p:nvSpPr>
        <p:spPr>
          <a:xfrm>
            <a:off x="5138928" y="3410712"/>
            <a:ext cx="45720" cy="1065276"/>
          </a:xfrm>
          <a:prstGeom prst="rect">
            <a:avLst/>
          </a:prstGeom>
          <a:solidFill>
            <a:srgbClr val="2587C5"/>
          </a:solidFill>
          <a:ln/>
        </p:spPr>
      </p:sp>
      <p:sp>
        <p:nvSpPr>
          <p:cNvPr id="25" name="Text 23"/>
          <p:cNvSpPr txBox="1"/>
          <p:nvPr/>
        </p:nvSpPr>
        <p:spPr>
          <a:xfrm>
            <a:off x="5266944" y="3410712"/>
            <a:ext cx="1877568" cy="106527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Door rate</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The posted rate, set from a market labor study</a:t>
            </a:r>
            <a:endParaRPr lang="en-US" sz="1400" dirty="0"/>
          </a:p>
        </p:txBody>
      </p:sp>
      <p:sp>
        <p:nvSpPr>
          <p:cNvPr id="26" name="Shape 24"/>
          <p:cNvSpPr/>
          <p:nvPr/>
        </p:nvSpPr>
        <p:spPr>
          <a:xfrm>
            <a:off x="7309104" y="3410712"/>
            <a:ext cx="45720" cy="1065276"/>
          </a:xfrm>
          <a:prstGeom prst="rect">
            <a:avLst/>
          </a:prstGeom>
          <a:solidFill>
            <a:srgbClr val="2587C5"/>
          </a:solidFill>
          <a:ln/>
        </p:spPr>
      </p:sp>
      <p:sp>
        <p:nvSpPr>
          <p:cNvPr id="27" name="Text 25"/>
          <p:cNvSpPr txBox="1"/>
          <p:nvPr/>
        </p:nvSpPr>
        <p:spPr>
          <a:xfrm>
            <a:off x="7437120" y="3410712"/>
            <a:ext cx="1877568" cy="106527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Maintenance pricing</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Menus and loss leaders below door rate pull ELR down</a:t>
            </a:r>
            <a:endParaRPr lang="en-US" sz="1400" dirty="0"/>
          </a:p>
        </p:txBody>
      </p:sp>
      <p:sp>
        <p:nvSpPr>
          <p:cNvPr id="28" name="Shape 26"/>
          <p:cNvSpPr/>
          <p:nvPr/>
        </p:nvSpPr>
        <p:spPr>
          <a:xfrm>
            <a:off x="9479280" y="3410712"/>
            <a:ext cx="45720" cy="1065276"/>
          </a:xfrm>
          <a:prstGeom prst="rect">
            <a:avLst/>
          </a:prstGeom>
          <a:solidFill>
            <a:srgbClr val="2587C5"/>
          </a:solidFill>
          <a:ln/>
        </p:spPr>
      </p:sp>
      <p:sp>
        <p:nvSpPr>
          <p:cNvPr id="29" name="Text 27"/>
          <p:cNvSpPr txBox="1"/>
          <p:nvPr/>
        </p:nvSpPr>
        <p:spPr>
          <a:xfrm>
            <a:off x="9607296" y="3410712"/>
            <a:ext cx="1877568" cy="106527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Work mix</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Repair work raises ELR; quick maintenance lowers it</a:t>
            </a:r>
            <a:endParaRPr lang="en-US" sz="1400" dirty="0"/>
          </a:p>
        </p:txBody>
      </p:sp>
      <p:sp>
        <p:nvSpPr>
          <p:cNvPr id="30" name="Shape 28"/>
          <p:cNvSpPr/>
          <p:nvPr/>
        </p:nvSpPr>
        <p:spPr>
          <a:xfrm>
            <a:off x="5138928" y="4585716"/>
            <a:ext cx="45720" cy="1065276"/>
          </a:xfrm>
          <a:prstGeom prst="rect">
            <a:avLst/>
          </a:prstGeom>
          <a:solidFill>
            <a:srgbClr val="2587C5"/>
          </a:solidFill>
          <a:ln/>
        </p:spPr>
      </p:sp>
      <p:sp>
        <p:nvSpPr>
          <p:cNvPr id="31" name="Text 29"/>
          <p:cNvSpPr txBox="1"/>
          <p:nvPr/>
        </p:nvSpPr>
        <p:spPr>
          <a:xfrm>
            <a:off x="5266944" y="4585716"/>
            <a:ext cx="1877568" cy="106527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Discounts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Every discount lowers ELR. Run them through ADC so we can see them.</a:t>
            </a:r>
            <a:endParaRPr lang="en-US" sz="1400" dirty="0"/>
          </a:p>
        </p:txBody>
      </p:sp>
      <p:sp>
        <p:nvSpPr>
          <p:cNvPr id="32" name="Shape 30"/>
          <p:cNvSpPr/>
          <p:nvPr/>
        </p:nvSpPr>
        <p:spPr>
          <a:xfrm>
            <a:off x="7309104" y="4585716"/>
            <a:ext cx="45720" cy="1065276"/>
          </a:xfrm>
          <a:prstGeom prst="rect">
            <a:avLst/>
          </a:prstGeom>
          <a:solidFill>
            <a:srgbClr val="2587C5"/>
          </a:solidFill>
          <a:ln/>
        </p:spPr>
      </p:sp>
      <p:sp>
        <p:nvSpPr>
          <p:cNvPr id="33" name="Text 31"/>
          <p:cNvSpPr txBox="1"/>
          <p:nvPr/>
        </p:nvSpPr>
        <p:spPr>
          <a:xfrm>
            <a:off x="7437120" y="4585716"/>
            <a:ext cx="1877568" cy="106527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Labor grid</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Prices longer jobs differently; should lift ELR on repair work</a:t>
            </a:r>
            <a:endParaRPr lang="en-US" sz="1400" dirty="0"/>
          </a:p>
        </p:txBody>
      </p:sp>
      <p:sp>
        <p:nvSpPr>
          <p:cNvPr id="34" name="Shape 32"/>
          <p:cNvSpPr/>
          <p:nvPr/>
        </p:nvSpPr>
        <p:spPr>
          <a:xfrm>
            <a:off x="9479280" y="4585716"/>
            <a:ext cx="45720" cy="1065276"/>
          </a:xfrm>
          <a:prstGeom prst="rect">
            <a:avLst/>
          </a:prstGeom>
          <a:solidFill>
            <a:srgbClr val="2587C5"/>
          </a:solidFill>
          <a:ln/>
        </p:spPr>
      </p:sp>
      <p:sp>
        <p:nvSpPr>
          <p:cNvPr id="35" name="Text 33"/>
          <p:cNvSpPr txBox="1"/>
          <p:nvPr/>
        </p:nvSpPr>
        <p:spPr>
          <a:xfrm>
            <a:off x="9607296" y="4585716"/>
            <a:ext cx="1877568" cy="106527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Hours charged vs sold</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Charging less time than the job pays the tech</a:t>
            </a:r>
            <a:endParaRPr lang="en-US" sz="1400" dirty="0"/>
          </a:p>
        </p:txBody>
      </p:sp>
      <p:sp>
        <p:nvSpPr>
          <p:cNvPr id="36" name="Shape 34"/>
          <p:cNvSpPr/>
          <p:nvPr/>
        </p:nvSpPr>
        <p:spPr>
          <a:xfrm>
            <a:off x="457200" y="5961888"/>
            <a:ext cx="11274552" cy="548640"/>
          </a:xfrm>
          <a:prstGeom prst="rect">
            <a:avLst/>
          </a:prstGeom>
          <a:solidFill>
            <a:srgbClr val="E6F6EE"/>
          </a:solidFill>
          <a:ln/>
        </p:spPr>
      </p:sp>
      <p:sp>
        <p:nvSpPr>
          <p:cNvPr id="37" name="Text 35"/>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Group: $162.42 CP ELR, up $3.56. Jul-Sep it ran 74.7% of door rate; 25 of 33 stores at or above 70%.</a:t>
            </a:r>
            <a:endParaRPr lang="en-US" sz="1600" dirty="0"/>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 · WHO'S MOVING NOW</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Who's Moving Now: CP ELR</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713232" y="1298448"/>
            <a:ext cx="10762488" cy="310896"/>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Q1 → Q3 2026. Group $161.81 → $163.67, +1.1%: that is the season. 15 of 33 stores beat it.</a:t>
            </a:r>
            <a:endParaRPr lang="en-US" sz="1400" dirty="0"/>
          </a:p>
        </p:txBody>
      </p:sp>
      <p:sp>
        <p:nvSpPr>
          <p:cNvPr id="7" name="Text 5"/>
          <p:cNvSpPr txBox="1"/>
          <p:nvPr/>
        </p:nvSpPr>
        <p:spPr>
          <a:xfrm>
            <a:off x="3657600" y="1682496"/>
            <a:ext cx="1554480" cy="274320"/>
          </a:xfrm>
          <a:prstGeom prst="rect">
            <a:avLst/>
          </a:prstGeom>
          <a:noFill/>
          <a:ln/>
        </p:spPr>
        <p:txBody>
          <a:bodyPr wrap="square" lIns="0" tIns="0" rIns="0" bIns="0" rtlCol="0" anchor="ctr"/>
          <a:lstStyle/>
          <a:p>
            <a:pPr algn="l" indent="0" marL="0">
              <a:buNone/>
            </a:pPr>
            <a:r>
              <a:rPr lang="en-US" sz="1400" b="1" dirty="0">
                <a:solidFill>
                  <a:srgbClr val="595959"/>
                </a:solidFill>
                <a:latin typeface="Inter" pitchFamily="34" charset="0"/>
                <a:ea typeface="Inter" pitchFamily="34" charset="-122"/>
                <a:cs typeface="Inter" pitchFamily="34" charset="-120"/>
              </a:rPr>
              <a:t>Q1 → Q3</a:t>
            </a:r>
            <a:endParaRPr lang="en-US" sz="1400" dirty="0"/>
          </a:p>
        </p:txBody>
      </p:sp>
      <p:sp>
        <p:nvSpPr>
          <p:cNvPr id="8" name="Text 6"/>
          <p:cNvSpPr txBox="1"/>
          <p:nvPr/>
        </p:nvSpPr>
        <p:spPr>
          <a:xfrm>
            <a:off x="5349240" y="1682496"/>
            <a:ext cx="2651760" cy="274320"/>
          </a:xfrm>
          <a:prstGeom prst="rect">
            <a:avLst/>
          </a:prstGeom>
          <a:noFill/>
          <a:ln/>
        </p:spPr>
        <p:txBody>
          <a:bodyPr wrap="square" lIns="0" tIns="0" rIns="0" bIns="0" rtlCol="0" anchor="ctr"/>
          <a:lstStyle/>
          <a:p>
            <a:pPr algn="l" indent="0" marL="0">
              <a:buNone/>
            </a:pPr>
            <a:r>
              <a:rPr lang="en-US" sz="1400" b="1" dirty="0">
                <a:solidFill>
                  <a:srgbClr val="595959"/>
                </a:solidFill>
                <a:latin typeface="Inter" pitchFamily="34" charset="0"/>
                <a:ea typeface="Inter" pitchFamily="34" charset="-122"/>
                <a:cs typeface="Inter" pitchFamily="34" charset="-120"/>
              </a:rPr>
              <a:t>Jan – Sep 2026, by month</a:t>
            </a:r>
            <a:endParaRPr lang="en-US" sz="1400" dirty="0"/>
          </a:p>
        </p:txBody>
      </p:sp>
      <p:sp>
        <p:nvSpPr>
          <p:cNvPr id="9" name="Text 7"/>
          <p:cNvSpPr txBox="1"/>
          <p:nvPr/>
        </p:nvSpPr>
        <p:spPr>
          <a:xfrm>
            <a:off x="8183880" y="1682496"/>
            <a:ext cx="1737360" cy="274320"/>
          </a:xfrm>
          <a:prstGeom prst="rect">
            <a:avLst/>
          </a:prstGeom>
          <a:noFill/>
          <a:ln/>
        </p:spPr>
        <p:txBody>
          <a:bodyPr wrap="square" lIns="0" tIns="0" rIns="0" bIns="0" rtlCol="0" anchor="ctr"/>
          <a:lstStyle/>
          <a:p>
            <a:pPr algn="l" indent="0" marL="0">
              <a:buNone/>
            </a:pPr>
            <a:r>
              <a:rPr lang="en-US" sz="1400" b="1" dirty="0">
                <a:solidFill>
                  <a:srgbClr val="595959"/>
                </a:solidFill>
                <a:latin typeface="Inter" pitchFamily="34" charset="0"/>
                <a:ea typeface="Inter" pitchFamily="34" charset="-122"/>
                <a:cs typeface="Inter" pitchFamily="34" charset="-120"/>
              </a:rPr>
              <a:t>Stepped up in</a:t>
            </a:r>
            <a:endParaRPr lang="en-US" sz="1400" dirty="0"/>
          </a:p>
        </p:txBody>
      </p:sp>
      <p:sp>
        <p:nvSpPr>
          <p:cNvPr id="10" name="Text 8"/>
          <p:cNvSpPr txBox="1"/>
          <p:nvPr/>
        </p:nvSpPr>
        <p:spPr>
          <a:xfrm>
            <a:off x="10195560" y="1682496"/>
            <a:ext cx="1371600" cy="274320"/>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Q1 → Q3</a:t>
            </a:r>
            <a:endParaRPr lang="en-US" sz="1400" dirty="0"/>
          </a:p>
        </p:txBody>
      </p:sp>
      <p:sp>
        <p:nvSpPr>
          <p:cNvPr id="11" name="Shape 9"/>
          <p:cNvSpPr/>
          <p:nvPr/>
        </p:nvSpPr>
        <p:spPr>
          <a:xfrm>
            <a:off x="621792" y="1993392"/>
            <a:ext cx="10945368" cy="382219"/>
          </a:xfrm>
          <a:prstGeom prst="rect">
            <a:avLst/>
          </a:prstGeom>
          <a:solidFill>
            <a:srgbClr val="F7F7F7"/>
          </a:solidFill>
          <a:ln/>
        </p:spPr>
      </p:sp>
      <p:sp>
        <p:nvSpPr>
          <p:cNvPr id="12" name="Text 10"/>
          <p:cNvSpPr txBox="1"/>
          <p:nvPr/>
        </p:nvSpPr>
        <p:spPr>
          <a:xfrm>
            <a:off x="749808" y="1993392"/>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3" name="Text 11"/>
          <p:cNvSpPr txBox="1"/>
          <p:nvPr/>
        </p:nvSpPr>
        <p:spPr>
          <a:xfrm>
            <a:off x="1097280" y="1993392"/>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p:txBody>
      </p:sp>
      <p:sp>
        <p:nvSpPr>
          <p:cNvPr id="14" name="Text 12"/>
          <p:cNvSpPr txBox="1"/>
          <p:nvPr/>
        </p:nvSpPr>
        <p:spPr>
          <a:xfrm>
            <a:off x="3657600" y="1993392"/>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$128.27 → $141.89</a:t>
            </a:r>
            <a:endParaRPr lang="en-US" sz="1400" dirty="0"/>
          </a:p>
        </p:txBody>
      </p:sp>
      <p:graphicFrame>
        <p:nvGraphicFramePr>
          <p:cNvPr id="15" name="Chart 0" descr=""/>
          <p:cNvGraphicFramePr/>
          <p:nvPr/>
        </p:nvGraphicFramePr>
        <p:xfrm>
          <a:off x="5276088" y="2011680"/>
          <a:ext cx="2697480" cy="345643"/>
        </p:xfrm>
        <a:graphic>
          <a:graphicData uri="http://schemas.openxmlformats.org/drawingml/2006/chart">
            <c:chart xmlns:c="http://schemas.openxmlformats.org/drawingml/2006/chart" r:id="rId2"/>
          </a:graphicData>
        </a:graphic>
      </p:graphicFrame>
      <p:sp>
        <p:nvSpPr>
          <p:cNvPr id="16" name="Text 13"/>
          <p:cNvSpPr txBox="1"/>
          <p:nvPr/>
        </p:nvSpPr>
        <p:spPr>
          <a:xfrm>
            <a:off x="8183880" y="1993392"/>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June</a:t>
            </a:r>
            <a:endParaRPr lang="en-US" sz="1400" dirty="0"/>
          </a:p>
        </p:txBody>
      </p:sp>
      <p:sp>
        <p:nvSpPr>
          <p:cNvPr id="17" name="Text 14"/>
          <p:cNvSpPr txBox="1"/>
          <p:nvPr/>
        </p:nvSpPr>
        <p:spPr>
          <a:xfrm>
            <a:off x="10195560" y="1993392"/>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+10.6%</a:t>
            </a:r>
            <a:endParaRPr lang="en-US" sz="1600" dirty="0"/>
          </a:p>
        </p:txBody>
      </p:sp>
      <p:sp>
        <p:nvSpPr>
          <p:cNvPr id="18" name="Text 15"/>
          <p:cNvSpPr txBox="1"/>
          <p:nvPr/>
        </p:nvSpPr>
        <p:spPr>
          <a:xfrm>
            <a:off x="749808" y="2375611"/>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9" name="Text 16"/>
          <p:cNvSpPr txBox="1"/>
          <p:nvPr/>
        </p:nvSpPr>
        <p:spPr>
          <a:xfrm>
            <a:off x="1097280" y="2375611"/>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AUDI RENO</a:t>
            </a:r>
            <a:endParaRPr lang="en-US" sz="1400" dirty="0"/>
          </a:p>
        </p:txBody>
      </p:sp>
      <p:sp>
        <p:nvSpPr>
          <p:cNvPr id="20" name="Text 17"/>
          <p:cNvSpPr txBox="1"/>
          <p:nvPr/>
        </p:nvSpPr>
        <p:spPr>
          <a:xfrm>
            <a:off x="3657600" y="2375611"/>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$227.34 → $244.12</a:t>
            </a:r>
            <a:endParaRPr lang="en-US" sz="1400" dirty="0"/>
          </a:p>
        </p:txBody>
      </p:sp>
      <p:graphicFrame>
        <p:nvGraphicFramePr>
          <p:cNvPr id="21" name="Chart 1" descr=""/>
          <p:cNvGraphicFramePr/>
          <p:nvPr/>
        </p:nvGraphicFramePr>
        <p:xfrm>
          <a:off x="5276088" y="2393899"/>
          <a:ext cx="2697480" cy="345643"/>
        </p:xfrm>
        <a:graphic>
          <a:graphicData uri="http://schemas.openxmlformats.org/drawingml/2006/chart">
            <c:chart xmlns:c="http://schemas.openxmlformats.org/drawingml/2006/chart" r:id="rId3"/>
          </a:graphicData>
        </a:graphic>
      </p:graphicFrame>
      <p:sp>
        <p:nvSpPr>
          <p:cNvPr id="22" name="Text 18"/>
          <p:cNvSpPr txBox="1"/>
          <p:nvPr/>
        </p:nvSpPr>
        <p:spPr>
          <a:xfrm>
            <a:off x="8183880" y="2375611"/>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June</a:t>
            </a:r>
            <a:endParaRPr lang="en-US" sz="1400" dirty="0"/>
          </a:p>
        </p:txBody>
      </p:sp>
      <p:sp>
        <p:nvSpPr>
          <p:cNvPr id="23" name="Text 19"/>
          <p:cNvSpPr txBox="1"/>
          <p:nvPr/>
        </p:nvSpPr>
        <p:spPr>
          <a:xfrm>
            <a:off x="10195560" y="2375611"/>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+7.3%</a:t>
            </a:r>
            <a:endParaRPr lang="en-US" sz="1600" dirty="0"/>
          </a:p>
        </p:txBody>
      </p:sp>
      <p:sp>
        <p:nvSpPr>
          <p:cNvPr id="24" name="Shape 20"/>
          <p:cNvSpPr/>
          <p:nvPr/>
        </p:nvSpPr>
        <p:spPr>
          <a:xfrm>
            <a:off x="621792" y="2757830"/>
            <a:ext cx="10945368" cy="382219"/>
          </a:xfrm>
          <a:prstGeom prst="rect">
            <a:avLst/>
          </a:prstGeom>
          <a:solidFill>
            <a:srgbClr val="F7F7F7"/>
          </a:solidFill>
          <a:ln/>
        </p:spPr>
      </p:sp>
      <p:sp>
        <p:nvSpPr>
          <p:cNvPr id="25" name="Text 21"/>
          <p:cNvSpPr txBox="1"/>
          <p:nvPr/>
        </p:nvSpPr>
        <p:spPr>
          <a:xfrm>
            <a:off x="749808" y="2757830"/>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6" name="Text 22"/>
          <p:cNvSpPr txBox="1"/>
          <p:nvPr/>
        </p:nvSpPr>
        <p:spPr>
          <a:xfrm>
            <a:off x="1097280" y="2757830"/>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HONDA SPOKANE</a:t>
            </a:r>
            <a:endParaRPr lang="en-US" sz="1400" dirty="0"/>
          </a:p>
        </p:txBody>
      </p:sp>
      <p:sp>
        <p:nvSpPr>
          <p:cNvPr id="27" name="Text 23"/>
          <p:cNvSpPr txBox="1"/>
          <p:nvPr/>
        </p:nvSpPr>
        <p:spPr>
          <a:xfrm>
            <a:off x="3657600" y="2757830"/>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$139.40 → $147.93</a:t>
            </a:r>
            <a:endParaRPr lang="en-US" sz="1400" dirty="0"/>
          </a:p>
        </p:txBody>
      </p:sp>
      <p:graphicFrame>
        <p:nvGraphicFramePr>
          <p:cNvPr id="28" name="Chart 2" descr=""/>
          <p:cNvGraphicFramePr/>
          <p:nvPr/>
        </p:nvGraphicFramePr>
        <p:xfrm>
          <a:off x="5276088" y="2776118"/>
          <a:ext cx="2697480" cy="345643"/>
        </p:xfrm>
        <a:graphic>
          <a:graphicData uri="http://schemas.openxmlformats.org/drawingml/2006/chart">
            <c:chart xmlns:c="http://schemas.openxmlformats.org/drawingml/2006/chart" r:id="rId4"/>
          </a:graphicData>
        </a:graphic>
      </p:graphicFrame>
      <p:sp>
        <p:nvSpPr>
          <p:cNvPr id="29" name="Text 24"/>
          <p:cNvSpPr txBox="1"/>
          <p:nvPr/>
        </p:nvSpPr>
        <p:spPr>
          <a:xfrm>
            <a:off x="8183880" y="2757830"/>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April</a:t>
            </a:r>
            <a:endParaRPr lang="en-US" sz="1400" dirty="0"/>
          </a:p>
        </p:txBody>
      </p:sp>
      <p:sp>
        <p:nvSpPr>
          <p:cNvPr id="30" name="Text 25"/>
          <p:cNvSpPr txBox="1"/>
          <p:nvPr/>
        </p:nvSpPr>
        <p:spPr>
          <a:xfrm>
            <a:off x="10195560" y="2757830"/>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+6.1%</a:t>
            </a:r>
            <a:endParaRPr lang="en-US" sz="1600" dirty="0"/>
          </a:p>
        </p:txBody>
      </p:sp>
      <p:sp>
        <p:nvSpPr>
          <p:cNvPr id="31" name="Text 26"/>
          <p:cNvSpPr txBox="1"/>
          <p:nvPr/>
        </p:nvSpPr>
        <p:spPr>
          <a:xfrm>
            <a:off x="749808" y="3140050"/>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32" name="Text 27"/>
          <p:cNvSpPr txBox="1"/>
          <p:nvPr/>
        </p:nvSpPr>
        <p:spPr>
          <a:xfrm>
            <a:off x="1097280" y="3140050"/>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KIA LV</a:t>
            </a:r>
            <a:endParaRPr lang="en-US" sz="1400" dirty="0"/>
          </a:p>
        </p:txBody>
      </p:sp>
      <p:sp>
        <p:nvSpPr>
          <p:cNvPr id="33" name="Text 28"/>
          <p:cNvSpPr txBox="1"/>
          <p:nvPr/>
        </p:nvSpPr>
        <p:spPr>
          <a:xfrm>
            <a:off x="3657600" y="3140050"/>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$142.56 → $150.72</a:t>
            </a:r>
            <a:endParaRPr lang="en-US" sz="1400" dirty="0"/>
          </a:p>
        </p:txBody>
      </p:sp>
      <p:graphicFrame>
        <p:nvGraphicFramePr>
          <p:cNvPr id="34" name="Chart 3" descr=""/>
          <p:cNvGraphicFramePr/>
          <p:nvPr/>
        </p:nvGraphicFramePr>
        <p:xfrm>
          <a:off x="5276088" y="3158338"/>
          <a:ext cx="2697480" cy="345643"/>
        </p:xfrm>
        <a:graphic>
          <a:graphicData uri="http://schemas.openxmlformats.org/drawingml/2006/chart">
            <c:chart xmlns:c="http://schemas.openxmlformats.org/drawingml/2006/chart" r:id="rId5"/>
          </a:graphicData>
        </a:graphic>
      </p:graphicFrame>
      <p:sp>
        <p:nvSpPr>
          <p:cNvPr id="35" name="Text 29"/>
          <p:cNvSpPr txBox="1"/>
          <p:nvPr/>
        </p:nvSpPr>
        <p:spPr>
          <a:xfrm>
            <a:off x="8183880" y="3140050"/>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April</a:t>
            </a:r>
            <a:endParaRPr lang="en-US" sz="1400" dirty="0"/>
          </a:p>
        </p:txBody>
      </p:sp>
      <p:sp>
        <p:nvSpPr>
          <p:cNvPr id="36" name="Text 30"/>
          <p:cNvSpPr txBox="1"/>
          <p:nvPr/>
        </p:nvSpPr>
        <p:spPr>
          <a:xfrm>
            <a:off x="10195560" y="3140050"/>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+5.7%</a:t>
            </a:r>
            <a:endParaRPr lang="en-US" sz="1600" dirty="0"/>
          </a:p>
        </p:txBody>
      </p:sp>
      <p:sp>
        <p:nvSpPr>
          <p:cNvPr id="37" name="Shape 31"/>
          <p:cNvSpPr/>
          <p:nvPr/>
        </p:nvSpPr>
        <p:spPr>
          <a:xfrm>
            <a:off x="621792" y="3522269"/>
            <a:ext cx="10945368" cy="382219"/>
          </a:xfrm>
          <a:prstGeom prst="rect">
            <a:avLst/>
          </a:prstGeom>
          <a:solidFill>
            <a:srgbClr val="F7F7F7"/>
          </a:solidFill>
          <a:ln/>
        </p:spPr>
      </p:sp>
      <p:sp>
        <p:nvSpPr>
          <p:cNvPr id="38" name="Text 32"/>
          <p:cNvSpPr txBox="1"/>
          <p:nvPr/>
        </p:nvSpPr>
        <p:spPr>
          <a:xfrm>
            <a:off x="749808" y="3522269"/>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39" name="Text 33"/>
          <p:cNvSpPr txBox="1"/>
          <p:nvPr/>
        </p:nvSpPr>
        <p:spPr>
          <a:xfrm>
            <a:off x="1097280" y="3522269"/>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p:txBody>
      </p:sp>
      <p:sp>
        <p:nvSpPr>
          <p:cNvPr id="40" name="Text 34"/>
          <p:cNvSpPr txBox="1"/>
          <p:nvPr/>
        </p:nvSpPr>
        <p:spPr>
          <a:xfrm>
            <a:off x="3657600" y="3522269"/>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$139.09 → $146.04</a:t>
            </a:r>
            <a:endParaRPr lang="en-US" sz="1400" dirty="0"/>
          </a:p>
        </p:txBody>
      </p:sp>
      <p:graphicFrame>
        <p:nvGraphicFramePr>
          <p:cNvPr id="41" name="Chart 4" descr=""/>
          <p:cNvGraphicFramePr/>
          <p:nvPr/>
        </p:nvGraphicFramePr>
        <p:xfrm>
          <a:off x="5276088" y="3540557"/>
          <a:ext cx="2697480" cy="345643"/>
        </p:xfrm>
        <a:graphic>
          <a:graphicData uri="http://schemas.openxmlformats.org/drawingml/2006/chart">
            <c:chart xmlns:c="http://schemas.openxmlformats.org/drawingml/2006/chart" r:id="rId6"/>
          </a:graphicData>
        </a:graphic>
      </p:graphicFrame>
      <p:sp>
        <p:nvSpPr>
          <p:cNvPr id="42" name="Text 35"/>
          <p:cNvSpPr txBox="1"/>
          <p:nvPr/>
        </p:nvSpPr>
        <p:spPr>
          <a:xfrm>
            <a:off x="8183880" y="3522269"/>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July</a:t>
            </a:r>
            <a:endParaRPr lang="en-US" sz="1400" dirty="0"/>
          </a:p>
        </p:txBody>
      </p:sp>
      <p:sp>
        <p:nvSpPr>
          <p:cNvPr id="43" name="Text 36"/>
          <p:cNvSpPr txBox="1"/>
          <p:nvPr/>
        </p:nvSpPr>
        <p:spPr>
          <a:xfrm>
            <a:off x="10195560" y="3522269"/>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+5.0%</a:t>
            </a:r>
            <a:endParaRPr lang="en-US" sz="1600" dirty="0"/>
          </a:p>
        </p:txBody>
      </p:sp>
      <p:sp>
        <p:nvSpPr>
          <p:cNvPr id="44" name="Text 37"/>
          <p:cNvSpPr txBox="1"/>
          <p:nvPr/>
        </p:nvSpPr>
        <p:spPr>
          <a:xfrm>
            <a:off x="749808" y="3904488"/>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6</a:t>
            </a:r>
            <a:endParaRPr lang="en-US" sz="1500" dirty="0"/>
          </a:p>
        </p:txBody>
      </p:sp>
      <p:sp>
        <p:nvSpPr>
          <p:cNvPr id="45" name="Text 38"/>
          <p:cNvSpPr txBox="1"/>
          <p:nvPr/>
        </p:nvSpPr>
        <p:spPr>
          <a:xfrm>
            <a:off x="1097280" y="3904488"/>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NISSAN</a:t>
            </a:r>
            <a:endParaRPr lang="en-US" sz="1400" dirty="0"/>
          </a:p>
        </p:txBody>
      </p:sp>
      <p:sp>
        <p:nvSpPr>
          <p:cNvPr id="46" name="Text 39"/>
          <p:cNvSpPr txBox="1"/>
          <p:nvPr/>
        </p:nvSpPr>
        <p:spPr>
          <a:xfrm>
            <a:off x="3657600" y="3904488"/>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$172.35 → $180.14</a:t>
            </a:r>
            <a:endParaRPr lang="en-US" sz="1400" dirty="0"/>
          </a:p>
        </p:txBody>
      </p:sp>
      <p:graphicFrame>
        <p:nvGraphicFramePr>
          <p:cNvPr id="47" name="Chart 5" descr=""/>
          <p:cNvGraphicFramePr/>
          <p:nvPr/>
        </p:nvGraphicFramePr>
        <p:xfrm>
          <a:off x="5276088" y="3922776"/>
          <a:ext cx="2697480" cy="345643"/>
        </p:xfrm>
        <a:graphic>
          <a:graphicData uri="http://schemas.openxmlformats.org/drawingml/2006/chart">
            <c:chart xmlns:c="http://schemas.openxmlformats.org/drawingml/2006/chart" r:id="rId7"/>
          </a:graphicData>
        </a:graphic>
      </p:graphicFrame>
      <p:sp>
        <p:nvSpPr>
          <p:cNvPr id="48" name="Text 40"/>
          <p:cNvSpPr txBox="1"/>
          <p:nvPr/>
        </p:nvSpPr>
        <p:spPr>
          <a:xfrm>
            <a:off x="8183880" y="3904488"/>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May</a:t>
            </a:r>
            <a:endParaRPr lang="en-US" sz="1400" dirty="0"/>
          </a:p>
        </p:txBody>
      </p:sp>
      <p:sp>
        <p:nvSpPr>
          <p:cNvPr id="49" name="Text 41"/>
          <p:cNvSpPr txBox="1"/>
          <p:nvPr/>
        </p:nvSpPr>
        <p:spPr>
          <a:xfrm>
            <a:off x="10195560" y="3904488"/>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+4.5%</a:t>
            </a:r>
            <a:endParaRPr lang="en-US" sz="1600" dirty="0"/>
          </a:p>
        </p:txBody>
      </p:sp>
      <p:sp>
        <p:nvSpPr>
          <p:cNvPr id="50" name="Shape 42"/>
          <p:cNvSpPr/>
          <p:nvPr/>
        </p:nvSpPr>
        <p:spPr>
          <a:xfrm>
            <a:off x="621792" y="4286707"/>
            <a:ext cx="10945368" cy="382219"/>
          </a:xfrm>
          <a:prstGeom prst="rect">
            <a:avLst/>
          </a:prstGeom>
          <a:solidFill>
            <a:srgbClr val="F7F7F7"/>
          </a:solidFill>
          <a:ln/>
        </p:spPr>
      </p:sp>
      <p:sp>
        <p:nvSpPr>
          <p:cNvPr id="51" name="Text 43"/>
          <p:cNvSpPr txBox="1"/>
          <p:nvPr/>
        </p:nvSpPr>
        <p:spPr>
          <a:xfrm>
            <a:off x="749808" y="4286707"/>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7</a:t>
            </a:r>
            <a:endParaRPr lang="en-US" sz="1500" dirty="0"/>
          </a:p>
        </p:txBody>
      </p:sp>
      <p:sp>
        <p:nvSpPr>
          <p:cNvPr id="52" name="Text 44"/>
          <p:cNvSpPr txBox="1"/>
          <p:nvPr/>
        </p:nvSpPr>
        <p:spPr>
          <a:xfrm>
            <a:off x="1097280" y="4286707"/>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GMC PRESCOTT</a:t>
            </a:r>
            <a:endParaRPr lang="en-US" sz="1400" dirty="0"/>
          </a:p>
        </p:txBody>
      </p:sp>
      <p:sp>
        <p:nvSpPr>
          <p:cNvPr id="53" name="Text 45"/>
          <p:cNvSpPr txBox="1"/>
          <p:nvPr/>
        </p:nvSpPr>
        <p:spPr>
          <a:xfrm>
            <a:off x="3657600" y="4286707"/>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$140.89 → $146.92</a:t>
            </a:r>
            <a:endParaRPr lang="en-US" sz="1400" dirty="0"/>
          </a:p>
        </p:txBody>
      </p:sp>
      <p:graphicFrame>
        <p:nvGraphicFramePr>
          <p:cNvPr id="54" name="Chart 6" descr=""/>
          <p:cNvGraphicFramePr/>
          <p:nvPr/>
        </p:nvGraphicFramePr>
        <p:xfrm>
          <a:off x="5276088" y="4304995"/>
          <a:ext cx="2697480" cy="345643"/>
        </p:xfrm>
        <a:graphic>
          <a:graphicData uri="http://schemas.openxmlformats.org/drawingml/2006/chart">
            <c:chart xmlns:c="http://schemas.openxmlformats.org/drawingml/2006/chart" r:id="rId8"/>
          </a:graphicData>
        </a:graphic>
      </p:graphicFrame>
      <p:sp>
        <p:nvSpPr>
          <p:cNvPr id="55" name="Text 46"/>
          <p:cNvSpPr txBox="1"/>
          <p:nvPr/>
        </p:nvSpPr>
        <p:spPr>
          <a:xfrm>
            <a:off x="8183880" y="4286707"/>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August</a:t>
            </a:r>
            <a:endParaRPr lang="en-US" sz="1400" dirty="0"/>
          </a:p>
        </p:txBody>
      </p:sp>
      <p:sp>
        <p:nvSpPr>
          <p:cNvPr id="56" name="Text 47"/>
          <p:cNvSpPr txBox="1"/>
          <p:nvPr/>
        </p:nvSpPr>
        <p:spPr>
          <a:xfrm>
            <a:off x="10195560" y="4286707"/>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+4.2%</a:t>
            </a:r>
            <a:endParaRPr lang="en-US" sz="1600" dirty="0"/>
          </a:p>
        </p:txBody>
      </p:sp>
      <p:sp>
        <p:nvSpPr>
          <p:cNvPr id="57" name="Text 48"/>
          <p:cNvSpPr txBox="1"/>
          <p:nvPr/>
        </p:nvSpPr>
        <p:spPr>
          <a:xfrm>
            <a:off x="749808" y="4668926"/>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8</a:t>
            </a:r>
            <a:endParaRPr lang="en-US" sz="1500" dirty="0"/>
          </a:p>
        </p:txBody>
      </p:sp>
      <p:sp>
        <p:nvSpPr>
          <p:cNvPr id="58" name="Text 49"/>
          <p:cNvSpPr txBox="1"/>
          <p:nvPr/>
        </p:nvSpPr>
        <p:spPr>
          <a:xfrm>
            <a:off x="1097280" y="4668926"/>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VOLVO</a:t>
            </a:r>
            <a:endParaRPr lang="en-US" sz="1400" dirty="0"/>
          </a:p>
        </p:txBody>
      </p:sp>
      <p:sp>
        <p:nvSpPr>
          <p:cNvPr id="59" name="Text 50"/>
          <p:cNvSpPr txBox="1"/>
          <p:nvPr/>
        </p:nvSpPr>
        <p:spPr>
          <a:xfrm>
            <a:off x="3657600" y="4668926"/>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$216.72 → $225.50</a:t>
            </a:r>
            <a:endParaRPr lang="en-US" sz="1400" dirty="0"/>
          </a:p>
        </p:txBody>
      </p:sp>
      <p:graphicFrame>
        <p:nvGraphicFramePr>
          <p:cNvPr id="60" name="Chart 7" descr=""/>
          <p:cNvGraphicFramePr/>
          <p:nvPr/>
        </p:nvGraphicFramePr>
        <p:xfrm>
          <a:off x="5276088" y="4687214"/>
          <a:ext cx="2697480" cy="345643"/>
        </p:xfrm>
        <a:graphic>
          <a:graphicData uri="http://schemas.openxmlformats.org/drawingml/2006/chart">
            <c:chart xmlns:c="http://schemas.openxmlformats.org/drawingml/2006/chart" r:id="rId9"/>
          </a:graphicData>
        </a:graphic>
      </p:graphicFrame>
      <p:sp>
        <p:nvSpPr>
          <p:cNvPr id="61" name="Text 51"/>
          <p:cNvSpPr txBox="1"/>
          <p:nvPr/>
        </p:nvSpPr>
        <p:spPr>
          <a:xfrm>
            <a:off x="8183880" y="4668926"/>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April</a:t>
            </a:r>
            <a:endParaRPr lang="en-US" sz="1400" dirty="0"/>
          </a:p>
        </p:txBody>
      </p:sp>
      <p:sp>
        <p:nvSpPr>
          <p:cNvPr id="62" name="Text 52"/>
          <p:cNvSpPr txBox="1"/>
          <p:nvPr/>
        </p:nvSpPr>
        <p:spPr>
          <a:xfrm>
            <a:off x="10195560" y="4668926"/>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+4.0%</a:t>
            </a:r>
            <a:endParaRPr lang="en-US" sz="1600" dirty="0"/>
          </a:p>
        </p:txBody>
      </p:sp>
      <p:sp>
        <p:nvSpPr>
          <p:cNvPr id="63" name="Shape 53"/>
          <p:cNvSpPr/>
          <p:nvPr/>
        </p:nvSpPr>
        <p:spPr>
          <a:xfrm>
            <a:off x="621792" y="5051146"/>
            <a:ext cx="10945368" cy="382219"/>
          </a:xfrm>
          <a:prstGeom prst="rect">
            <a:avLst/>
          </a:prstGeom>
          <a:solidFill>
            <a:srgbClr val="F7F7F7"/>
          </a:solidFill>
          <a:ln/>
        </p:spPr>
      </p:sp>
      <p:sp>
        <p:nvSpPr>
          <p:cNvPr id="64" name="Text 54"/>
          <p:cNvSpPr txBox="1"/>
          <p:nvPr/>
        </p:nvSpPr>
        <p:spPr>
          <a:xfrm>
            <a:off x="749808" y="5051146"/>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9</a:t>
            </a:r>
            <a:endParaRPr lang="en-US" sz="1500" dirty="0"/>
          </a:p>
        </p:txBody>
      </p:sp>
      <p:sp>
        <p:nvSpPr>
          <p:cNvPr id="65" name="Text 55"/>
          <p:cNvSpPr txBox="1"/>
          <p:nvPr/>
        </p:nvSpPr>
        <p:spPr>
          <a:xfrm>
            <a:off x="1097280" y="5051146"/>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CHEVY GMC BULLHEAD</a:t>
            </a:r>
            <a:endParaRPr lang="en-US" sz="1400" dirty="0"/>
          </a:p>
        </p:txBody>
      </p:sp>
      <p:sp>
        <p:nvSpPr>
          <p:cNvPr id="66" name="Text 56"/>
          <p:cNvSpPr txBox="1"/>
          <p:nvPr/>
        </p:nvSpPr>
        <p:spPr>
          <a:xfrm>
            <a:off x="3657600" y="5051146"/>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$155.72 → $161.80</a:t>
            </a:r>
            <a:endParaRPr lang="en-US" sz="1400" dirty="0"/>
          </a:p>
        </p:txBody>
      </p:sp>
      <p:graphicFrame>
        <p:nvGraphicFramePr>
          <p:cNvPr id="67" name="Chart 8" descr=""/>
          <p:cNvGraphicFramePr/>
          <p:nvPr/>
        </p:nvGraphicFramePr>
        <p:xfrm>
          <a:off x="5276088" y="5069434"/>
          <a:ext cx="2697480" cy="345643"/>
        </p:xfrm>
        <a:graphic>
          <a:graphicData uri="http://schemas.openxmlformats.org/drawingml/2006/chart">
            <c:chart xmlns:c="http://schemas.openxmlformats.org/drawingml/2006/chart" r:id="rId10"/>
          </a:graphicData>
        </a:graphic>
      </p:graphicFrame>
      <p:sp>
        <p:nvSpPr>
          <p:cNvPr id="68" name="Text 57"/>
          <p:cNvSpPr txBox="1"/>
          <p:nvPr/>
        </p:nvSpPr>
        <p:spPr>
          <a:xfrm>
            <a:off x="8183880" y="5051146"/>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August</a:t>
            </a:r>
            <a:endParaRPr lang="en-US" sz="1400" dirty="0"/>
          </a:p>
        </p:txBody>
      </p:sp>
      <p:sp>
        <p:nvSpPr>
          <p:cNvPr id="69" name="Text 58"/>
          <p:cNvSpPr txBox="1"/>
          <p:nvPr/>
        </p:nvSpPr>
        <p:spPr>
          <a:xfrm>
            <a:off x="10195560" y="5051146"/>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+3.9%</a:t>
            </a:r>
            <a:endParaRPr lang="en-US" sz="1600" dirty="0"/>
          </a:p>
        </p:txBody>
      </p:sp>
      <p:sp>
        <p:nvSpPr>
          <p:cNvPr id="70" name="Text 59"/>
          <p:cNvSpPr txBox="1"/>
          <p:nvPr/>
        </p:nvSpPr>
        <p:spPr>
          <a:xfrm>
            <a:off x="749808" y="5433365"/>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10</a:t>
            </a:r>
            <a:endParaRPr lang="en-US" sz="1500" dirty="0"/>
          </a:p>
        </p:txBody>
      </p:sp>
      <p:sp>
        <p:nvSpPr>
          <p:cNvPr id="71" name="Text 60"/>
          <p:cNvSpPr txBox="1"/>
          <p:nvPr/>
        </p:nvSpPr>
        <p:spPr>
          <a:xfrm>
            <a:off x="1097280" y="5433365"/>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CADILLAC</a:t>
            </a:r>
            <a:endParaRPr lang="en-US" sz="1400" dirty="0"/>
          </a:p>
        </p:txBody>
      </p:sp>
      <p:sp>
        <p:nvSpPr>
          <p:cNvPr id="72" name="Text 61"/>
          <p:cNvSpPr txBox="1"/>
          <p:nvPr/>
        </p:nvSpPr>
        <p:spPr>
          <a:xfrm>
            <a:off x="3657600" y="5433365"/>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$169.51 → $175.47</a:t>
            </a:r>
            <a:endParaRPr lang="en-US" sz="1400" dirty="0"/>
          </a:p>
        </p:txBody>
      </p:sp>
      <p:graphicFrame>
        <p:nvGraphicFramePr>
          <p:cNvPr id="73" name="Chart 9" descr=""/>
          <p:cNvGraphicFramePr/>
          <p:nvPr/>
        </p:nvGraphicFramePr>
        <p:xfrm>
          <a:off x="5276088" y="5451653"/>
          <a:ext cx="2697480" cy="345643"/>
        </p:xfrm>
        <a:graphic>
          <a:graphicData uri="http://schemas.openxmlformats.org/drawingml/2006/chart">
            <c:chart xmlns:c="http://schemas.openxmlformats.org/drawingml/2006/chart" r:id="rId11"/>
          </a:graphicData>
        </a:graphic>
      </p:graphicFrame>
      <p:sp>
        <p:nvSpPr>
          <p:cNvPr id="74" name="Text 62"/>
          <p:cNvSpPr txBox="1"/>
          <p:nvPr/>
        </p:nvSpPr>
        <p:spPr>
          <a:xfrm>
            <a:off x="8183880" y="5433365"/>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July</a:t>
            </a:r>
            <a:endParaRPr lang="en-US" sz="1400" dirty="0"/>
          </a:p>
        </p:txBody>
      </p:sp>
      <p:sp>
        <p:nvSpPr>
          <p:cNvPr id="75" name="Text 63"/>
          <p:cNvSpPr txBox="1"/>
          <p:nvPr/>
        </p:nvSpPr>
        <p:spPr>
          <a:xfrm>
            <a:off x="10195560" y="5433365"/>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+3.5%</a:t>
            </a:r>
            <a:endParaRPr lang="en-US" sz="1600" dirty="0"/>
          </a:p>
        </p:txBody>
      </p:sp>
      <p:sp>
        <p:nvSpPr>
          <p:cNvPr id="76" name="Shape 64"/>
          <p:cNvSpPr/>
          <p:nvPr/>
        </p:nvSpPr>
        <p:spPr>
          <a:xfrm>
            <a:off x="457200" y="5961888"/>
            <a:ext cx="11274552" cy="548640"/>
          </a:xfrm>
          <a:prstGeom prst="rect">
            <a:avLst/>
          </a:prstGeom>
          <a:solidFill>
            <a:srgbClr val="E6F6EE"/>
          </a:solidFill>
          <a:ln/>
        </p:spPr>
      </p:sp>
      <p:sp>
        <p:nvSpPr>
          <p:cNvPr id="77" name="Text 65"/>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VW ST GEORGE went $128.27 to $141.89, stepping up in June. Ask what changed that month.</a:t>
            </a:r>
            <a:endParaRPr lang="en-US" sz="1600" dirty="0"/>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What Is CP Labor $ per RO?</a:t>
            </a:r>
            <a:endParaRPr lang="en-US" sz="2800" dirty="0"/>
          </a:p>
        </p:txBody>
      </p:sp>
      <p:sp>
        <p:nvSpPr>
          <p:cNvPr id="5" name="Shape 3"/>
          <p:cNvSpPr/>
          <p:nvPr/>
        </p:nvSpPr>
        <p:spPr>
          <a:xfrm>
            <a:off x="457200" y="1207008"/>
            <a:ext cx="11274552" cy="1024128"/>
          </a:xfrm>
          <a:prstGeom prst="rect">
            <a:avLst/>
          </a:prstGeom>
          <a:solidFill>
            <a:srgbClr val="EDF4FA"/>
          </a:solidFill>
          <a:ln/>
        </p:spPr>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400" b="1" dirty="0">
                <a:solidFill>
                  <a:srgbClr val="0B2C4A"/>
                </a:solidFill>
                <a:latin typeface="Inter" pitchFamily="34" charset="0"/>
                <a:ea typeface="Inter" pitchFamily="34" charset="-122"/>
                <a:cs typeface="Inter" pitchFamily="34" charset="-120"/>
              </a:rPr>
              <a:t>CP labor $ per RO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hours per RO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ELR</a:t>
            </a:r>
            <a:endParaRPr lang="en-US" sz="24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500" dirty="0">
                <a:solidFill>
                  <a:srgbClr val="595959"/>
                </a:solidFill>
                <a:latin typeface="Inter" pitchFamily="34" charset="0"/>
                <a:ea typeface="Inter" pitchFamily="34" charset="-122"/>
                <a:cs typeface="Inter" pitchFamily="34" charset="-120"/>
              </a:rPr>
              <a:t>Customer-pay labor sale divided by CP RO count. It combines how much we sell with what we collect for it.</a:t>
            </a:r>
            <a:endParaRPr lang="en-US" sz="1500" dirty="0"/>
          </a:p>
        </p:txBody>
      </p:sp>
      <p:sp>
        <p:nvSpPr>
          <p:cNvPr id="8" name="Text 6"/>
          <p:cNvSpPr txBox="1"/>
          <p:nvPr/>
        </p:nvSpPr>
        <p:spPr>
          <a:xfrm>
            <a:off x="457200" y="2340864"/>
            <a:ext cx="1828800" cy="457200"/>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OUR NUMBERS</a:t>
            </a:r>
            <a:endParaRPr lang="en-US" sz="1400" dirty="0"/>
          </a:p>
        </p:txBody>
      </p:sp>
      <p:sp>
        <p:nvSpPr>
          <p:cNvPr id="9" name="Shape 7"/>
          <p:cNvSpPr/>
          <p:nvPr/>
        </p:nvSpPr>
        <p:spPr>
          <a:xfrm>
            <a:off x="2286000" y="2340864"/>
            <a:ext cx="4668012" cy="457200"/>
          </a:xfrm>
          <a:prstGeom prst="rect">
            <a:avLst/>
          </a:prstGeom>
          <a:solidFill>
            <a:srgbClr val="FFFFFF"/>
          </a:solidFill>
          <a:ln w="9525">
            <a:solidFill>
              <a:srgbClr val="D9D9D9"/>
            </a:solidFill>
            <a:prstDash val="solid"/>
          </a:ln>
        </p:spPr>
      </p:sp>
      <p:sp>
        <p:nvSpPr>
          <p:cNvPr id="10" name="Text 8"/>
          <p:cNvSpPr txBox="1"/>
          <p:nvPr/>
        </p:nvSpPr>
        <p:spPr>
          <a:xfrm>
            <a:off x="2359152" y="2340864"/>
            <a:ext cx="452170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1.87 hours per RO  </a:t>
            </a:r>
            <a:pPr algn="ctr" indent="0" marL="0">
              <a:buNone/>
            </a:pPr>
            <a:r>
              <a:rPr lang="en-US" sz="1400" b="1" dirty="0">
                <a:solidFill>
                  <a:srgbClr val="0B2C4A"/>
                </a:solidFill>
                <a:latin typeface="Inter" pitchFamily="34" charset="0"/>
                <a:ea typeface="Inter" pitchFamily="34" charset="-122"/>
                <a:cs typeface="Inter" pitchFamily="34" charset="-120"/>
              </a:rPr>
              <a:t>× $162.42</a:t>
            </a:r>
            <a:endParaRPr lang="en-US" sz="1400" dirty="0"/>
          </a:p>
        </p:txBody>
      </p:sp>
      <p:sp>
        <p:nvSpPr>
          <p:cNvPr id="11" name="Shape 9"/>
          <p:cNvSpPr/>
          <p:nvPr/>
        </p:nvSpPr>
        <p:spPr>
          <a:xfrm>
            <a:off x="7063740" y="2340864"/>
            <a:ext cx="4668012" cy="457200"/>
          </a:xfrm>
          <a:prstGeom prst="rect">
            <a:avLst/>
          </a:prstGeom>
          <a:solidFill>
            <a:srgbClr val="FFFFFF"/>
          </a:solidFill>
          <a:ln w="9525">
            <a:solidFill>
              <a:srgbClr val="D9D9D9"/>
            </a:solidFill>
            <a:prstDash val="solid"/>
          </a:ln>
        </p:spPr>
      </p:sp>
      <p:sp>
        <p:nvSpPr>
          <p:cNvPr id="12" name="Text 10"/>
          <p:cNvSpPr txBox="1"/>
          <p:nvPr/>
        </p:nvSpPr>
        <p:spPr>
          <a:xfrm>
            <a:off x="7136892" y="2340864"/>
            <a:ext cx="452170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 CP labor per RO  </a:t>
            </a:r>
            <a:pPr algn="ctr" indent="0" marL="0">
              <a:buNone/>
            </a:pPr>
            <a:r>
              <a:rPr lang="en-US" sz="1400" b="1" dirty="0">
                <a:solidFill>
                  <a:srgbClr val="0B2C4A"/>
                </a:solidFill>
                <a:latin typeface="Inter" pitchFamily="34" charset="0"/>
                <a:ea typeface="Inter" pitchFamily="34" charset="-122"/>
                <a:cs typeface="Inter" pitchFamily="34" charset="-120"/>
              </a:rPr>
              <a:t>$304</a:t>
            </a:r>
            <a:endParaRPr lang="en-US" sz="1400" dirty="0"/>
          </a:p>
        </p:txBody>
      </p:sp>
      <p:sp>
        <p:nvSpPr>
          <p:cNvPr id="13" name="Shape 11"/>
          <p:cNvSpPr/>
          <p:nvPr/>
        </p:nvSpPr>
        <p:spPr>
          <a:xfrm>
            <a:off x="457200" y="2907792"/>
            <a:ext cx="4343400" cy="2944368"/>
          </a:xfrm>
          <a:prstGeom prst="rect">
            <a:avLst/>
          </a:prstGeom>
          <a:solidFill>
            <a:srgbClr val="FFFFFF"/>
          </a:solidFill>
          <a:ln/>
        </p:spPr>
      </p:sp>
      <p:sp>
        <p:nvSpPr>
          <p:cNvPr id="14" name="Shape 12"/>
          <p:cNvSpPr/>
          <p:nvPr/>
        </p:nvSpPr>
        <p:spPr>
          <a:xfrm>
            <a:off x="4937760" y="2907792"/>
            <a:ext cx="6793992" cy="2944368"/>
          </a:xfrm>
          <a:prstGeom prst="rect">
            <a:avLst/>
          </a:prstGeom>
          <a:solidFill>
            <a:srgbClr val="FFFFFF"/>
          </a:solidFill>
          <a:ln/>
        </p:spPr>
      </p:sp>
      <p:sp>
        <p:nvSpPr>
          <p:cNvPr id="15" name="Text 13"/>
          <p:cNvSpPr txBox="1"/>
          <p:nvPr/>
        </p:nvSpPr>
        <p:spPr>
          <a:xfrm>
            <a:off x="658368" y="3035808"/>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WHY IT MATTERS</a:t>
            </a:r>
            <a:endParaRPr lang="en-US" sz="1400" dirty="0"/>
          </a:p>
        </p:txBody>
      </p:sp>
      <p:sp>
        <p:nvSpPr>
          <p:cNvPr id="16" name="Text 14"/>
          <p:cNvSpPr txBox="1"/>
          <p:nvPr/>
        </p:nvSpPr>
        <p:spPr>
          <a:xfrm>
            <a:off x="5138928" y="3035808"/>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MOVES IT</a:t>
            </a:r>
            <a:endParaRPr lang="en-US" sz="1400" dirty="0"/>
          </a:p>
        </p:txBody>
      </p:sp>
      <p:sp>
        <p:nvSpPr>
          <p:cNvPr id="17" name="Text 15"/>
          <p:cNvSpPr txBox="1"/>
          <p:nvPr/>
        </p:nvSpPr>
        <p:spPr>
          <a:xfrm>
            <a:off x="658368" y="3410712"/>
            <a:ext cx="3977640" cy="2304288"/>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"Total money in beats ELR, gross %, hours, anything else. It's what we sell." (Roundtable)</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It measures execution for the store and for each advisor.</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It is the best number to build advisor pay on.</a:t>
            </a:r>
            <a:endParaRPr lang="en-US" sz="1500" dirty="0"/>
          </a:p>
        </p:txBody>
      </p:sp>
      <p:sp>
        <p:nvSpPr>
          <p:cNvPr id="18" name="Shape 16"/>
          <p:cNvSpPr/>
          <p:nvPr/>
        </p:nvSpPr>
        <p:spPr>
          <a:xfrm>
            <a:off x="5138928" y="3410712"/>
            <a:ext cx="45720" cy="1065276"/>
          </a:xfrm>
          <a:prstGeom prst="rect">
            <a:avLst/>
          </a:prstGeom>
          <a:solidFill>
            <a:srgbClr val="2587C5"/>
          </a:solidFill>
          <a:ln/>
        </p:spPr>
      </p:sp>
      <p:sp>
        <p:nvSpPr>
          <p:cNvPr id="19" name="Text 17"/>
          <p:cNvSpPr txBox="1"/>
          <p:nvPr/>
        </p:nvSpPr>
        <p:spPr>
          <a:xfrm>
            <a:off x="5266944" y="3410712"/>
            <a:ext cx="2962656" cy="106527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Hours per RO</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Every lever on the hours slide: MPI, menu, Road to the Sale</a:t>
            </a:r>
            <a:endParaRPr lang="en-US" sz="1400" dirty="0"/>
          </a:p>
        </p:txBody>
      </p:sp>
      <p:sp>
        <p:nvSpPr>
          <p:cNvPr id="20" name="Shape 18"/>
          <p:cNvSpPr/>
          <p:nvPr/>
        </p:nvSpPr>
        <p:spPr>
          <a:xfrm>
            <a:off x="8394192" y="3410712"/>
            <a:ext cx="45720" cy="1065276"/>
          </a:xfrm>
          <a:prstGeom prst="rect">
            <a:avLst/>
          </a:prstGeom>
          <a:solidFill>
            <a:srgbClr val="2587C5"/>
          </a:solidFill>
          <a:ln/>
        </p:spPr>
      </p:sp>
      <p:sp>
        <p:nvSpPr>
          <p:cNvPr id="21" name="Text 19"/>
          <p:cNvSpPr txBox="1"/>
          <p:nvPr/>
        </p:nvSpPr>
        <p:spPr>
          <a:xfrm>
            <a:off x="8522208" y="3410712"/>
            <a:ext cx="2962656" cy="106527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Effective labor rate</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Pricing, discounts and mix</a:t>
            </a:r>
            <a:endParaRPr lang="en-US" sz="1400" dirty="0"/>
          </a:p>
        </p:txBody>
      </p:sp>
      <p:sp>
        <p:nvSpPr>
          <p:cNvPr id="22" name="Shape 20"/>
          <p:cNvSpPr/>
          <p:nvPr/>
        </p:nvSpPr>
        <p:spPr>
          <a:xfrm>
            <a:off x="5138928" y="4585716"/>
            <a:ext cx="45720" cy="1065276"/>
          </a:xfrm>
          <a:prstGeom prst="rect">
            <a:avLst/>
          </a:prstGeom>
          <a:solidFill>
            <a:srgbClr val="2587C5"/>
          </a:solidFill>
          <a:ln/>
        </p:spPr>
      </p:sp>
      <p:sp>
        <p:nvSpPr>
          <p:cNvPr id="23" name="Text 21"/>
          <p:cNvSpPr txBox="1"/>
          <p:nvPr/>
        </p:nvSpPr>
        <p:spPr>
          <a:xfrm>
            <a:off x="5266944" y="4585716"/>
            <a:ext cx="2962656" cy="106527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Advisor presentation</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Every customer, every time, from an accurate menu</a:t>
            </a:r>
            <a:endParaRPr lang="en-US" sz="1400" dirty="0"/>
          </a:p>
        </p:txBody>
      </p:sp>
      <p:sp>
        <p:nvSpPr>
          <p:cNvPr id="24" name="Shape 22"/>
          <p:cNvSpPr/>
          <p:nvPr/>
        </p:nvSpPr>
        <p:spPr>
          <a:xfrm>
            <a:off x="8394192" y="4585716"/>
            <a:ext cx="45720" cy="1065276"/>
          </a:xfrm>
          <a:prstGeom prst="rect">
            <a:avLst/>
          </a:prstGeom>
          <a:solidFill>
            <a:srgbClr val="2587C5"/>
          </a:solidFill>
          <a:ln/>
        </p:spPr>
      </p:sp>
      <p:sp>
        <p:nvSpPr>
          <p:cNvPr id="25" name="Text 23"/>
          <p:cNvSpPr txBox="1"/>
          <p:nvPr/>
        </p:nvSpPr>
        <p:spPr>
          <a:xfrm>
            <a:off x="8522208" y="4585716"/>
            <a:ext cx="2962656" cy="106527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Pay plans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Pay advisors on CP labor or gross per RO</a:t>
            </a:r>
            <a:endParaRPr lang="en-US" sz="1400" dirty="0"/>
          </a:p>
        </p:txBody>
      </p:sp>
      <p:sp>
        <p:nvSpPr>
          <p:cNvPr id="26" name="Shape 24"/>
          <p:cNvSpPr/>
          <p:nvPr/>
        </p:nvSpPr>
        <p:spPr>
          <a:xfrm>
            <a:off x="457200" y="5961888"/>
            <a:ext cx="11274552" cy="548640"/>
          </a:xfrm>
          <a:prstGeom prst="rect">
            <a:avLst/>
          </a:prstGeom>
          <a:solidFill>
            <a:srgbClr val="E6F6EE"/>
          </a:solidFill>
          <a:ln/>
        </p:spPr>
      </p:sp>
      <p:sp>
        <p:nvSpPr>
          <p:cNvPr id="27" name="Text 25"/>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Group: $304 CP labor per RO, up $17. With ROs flat, the $4,899,376 labor gain came from selling more per visit.</a:t>
            </a:r>
            <a:endParaRPr lang="en-US" sz="1600" dirty="0"/>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What Is CP Parts $ per RO?</a:t>
            </a:r>
            <a:endParaRPr lang="en-US" sz="2800" dirty="0"/>
          </a:p>
        </p:txBody>
      </p:sp>
      <p:sp>
        <p:nvSpPr>
          <p:cNvPr id="5" name="Shape 3"/>
          <p:cNvSpPr/>
          <p:nvPr/>
        </p:nvSpPr>
        <p:spPr>
          <a:xfrm>
            <a:off x="457200" y="1207008"/>
            <a:ext cx="11274552" cy="1024128"/>
          </a:xfrm>
          <a:prstGeom prst="rect">
            <a:avLst/>
          </a:prstGeom>
          <a:solidFill>
            <a:srgbClr val="EDF4FA"/>
          </a:solidFill>
          <a:ln/>
        </p:spPr>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400" b="1" dirty="0">
                <a:solidFill>
                  <a:srgbClr val="0B2C4A"/>
                </a:solidFill>
                <a:latin typeface="Inter" pitchFamily="34" charset="0"/>
                <a:ea typeface="Inter" pitchFamily="34" charset="-122"/>
                <a:cs typeface="Inter" pitchFamily="34" charset="-120"/>
              </a:rPr>
              <a:t>CP parts $ per RO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CP parts sale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CP RO count</a:t>
            </a:r>
            <a:endParaRPr lang="en-US" sz="24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500" dirty="0">
                <a:solidFill>
                  <a:srgbClr val="595959"/>
                </a:solidFill>
                <a:latin typeface="Inter" pitchFamily="34" charset="0"/>
                <a:ea typeface="Inter" pitchFamily="34" charset="-122"/>
                <a:cs typeface="Inter" pitchFamily="34" charset="-120"/>
              </a:rPr>
              <a:t>Customer-pay parts sold through the service drive, per visit.</a:t>
            </a:r>
            <a:endParaRPr lang="en-US" sz="1500" dirty="0"/>
          </a:p>
        </p:txBody>
      </p:sp>
      <p:sp>
        <p:nvSpPr>
          <p:cNvPr id="8" name="Shape 6"/>
          <p:cNvSpPr/>
          <p:nvPr/>
        </p:nvSpPr>
        <p:spPr>
          <a:xfrm>
            <a:off x="457200" y="2340864"/>
            <a:ext cx="4343400" cy="3511296"/>
          </a:xfrm>
          <a:prstGeom prst="rect">
            <a:avLst/>
          </a:prstGeom>
          <a:solidFill>
            <a:srgbClr val="FFFFFF"/>
          </a:solidFill>
          <a:ln/>
        </p:spPr>
      </p:sp>
      <p:sp>
        <p:nvSpPr>
          <p:cNvPr id="9" name="Shape 7"/>
          <p:cNvSpPr/>
          <p:nvPr/>
        </p:nvSpPr>
        <p:spPr>
          <a:xfrm>
            <a:off x="4937760" y="2340864"/>
            <a:ext cx="6793992" cy="3511296"/>
          </a:xfrm>
          <a:prstGeom prst="rect">
            <a:avLst/>
          </a:prstGeom>
          <a:solidFill>
            <a:srgbClr val="FFFFFF"/>
          </a:solidFill>
          <a:ln/>
        </p:spPr>
      </p:sp>
      <p:sp>
        <p:nvSpPr>
          <p:cNvPr id="10" name="Text 8"/>
          <p:cNvSpPr txBox="1"/>
          <p:nvPr/>
        </p:nvSpPr>
        <p:spPr>
          <a:xfrm>
            <a:off x="658368" y="2468880"/>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WHY IT MATTERS</a:t>
            </a:r>
            <a:endParaRPr lang="en-US" sz="1400" dirty="0"/>
          </a:p>
        </p:txBody>
      </p:sp>
      <p:sp>
        <p:nvSpPr>
          <p:cNvPr id="11" name="Text 9"/>
          <p:cNvSpPr txBox="1"/>
          <p:nvPr/>
        </p:nvSpPr>
        <p:spPr>
          <a:xfrm>
            <a:off x="5138928" y="2468880"/>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MOVES IT</a:t>
            </a:r>
            <a:endParaRPr lang="en-US" sz="1400" dirty="0"/>
          </a:p>
        </p:txBody>
      </p:sp>
      <p:sp>
        <p:nvSpPr>
          <p:cNvPr id="12" name="Text 10"/>
          <p:cNvSpPr txBox="1"/>
          <p:nvPr/>
        </p:nvSpPr>
        <p:spPr>
          <a:xfrm>
            <a:off x="658368" y="2843784"/>
            <a:ext cx="3977640" cy="2871216"/>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Parts follow labor: sell the hour and the parts come with it.</a:t>
            </a:r>
            <a:endParaRPr lang="en-US" sz="1600" dirty="0"/>
          </a:p>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It adds parts gross on the same car count.</a:t>
            </a:r>
            <a:endParaRPr lang="en-US" sz="1600" dirty="0"/>
          </a:p>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Luxury stores run more than twice the rest, so compare a store with its own segment.</a:t>
            </a:r>
            <a:endParaRPr lang="en-US" sz="1600" dirty="0"/>
          </a:p>
        </p:txBody>
      </p:sp>
      <p:sp>
        <p:nvSpPr>
          <p:cNvPr id="13" name="Shape 11"/>
          <p:cNvSpPr/>
          <p:nvPr/>
        </p:nvSpPr>
        <p:spPr>
          <a:xfrm>
            <a:off x="5138928" y="2843784"/>
            <a:ext cx="45720" cy="1348740"/>
          </a:xfrm>
          <a:prstGeom prst="rect">
            <a:avLst/>
          </a:prstGeom>
          <a:solidFill>
            <a:srgbClr val="2587C5"/>
          </a:solidFill>
          <a:ln/>
        </p:spPr>
      </p:sp>
      <p:sp>
        <p:nvSpPr>
          <p:cNvPr id="14" name="Text 12"/>
          <p:cNvSpPr txBox="1"/>
          <p:nvPr/>
        </p:nvSpPr>
        <p:spPr>
          <a:xfrm>
            <a:off x="5266944" y="2843784"/>
            <a:ext cx="2962656" cy="1348740"/>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Hours per RO</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More repair and maintenance hours carry more parts</a:t>
            </a:r>
            <a:endParaRPr lang="en-US" sz="1400" dirty="0"/>
          </a:p>
        </p:txBody>
      </p:sp>
      <p:sp>
        <p:nvSpPr>
          <p:cNvPr id="15" name="Shape 13"/>
          <p:cNvSpPr/>
          <p:nvPr/>
        </p:nvSpPr>
        <p:spPr>
          <a:xfrm>
            <a:off x="8394192" y="2843784"/>
            <a:ext cx="45720" cy="1348740"/>
          </a:xfrm>
          <a:prstGeom prst="rect">
            <a:avLst/>
          </a:prstGeom>
          <a:solidFill>
            <a:srgbClr val="2587C5"/>
          </a:solidFill>
          <a:ln/>
        </p:spPr>
      </p:sp>
      <p:sp>
        <p:nvSpPr>
          <p:cNvPr id="16" name="Text 14"/>
          <p:cNvSpPr txBox="1"/>
          <p:nvPr/>
        </p:nvSpPr>
        <p:spPr>
          <a:xfrm>
            <a:off x="8522208" y="2843784"/>
            <a:ext cx="2962656" cy="1348740"/>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Menu bundles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Group-priced maintenance parts for dealer and customer</a:t>
            </a:r>
            <a:endParaRPr lang="en-US" sz="1400" dirty="0"/>
          </a:p>
        </p:txBody>
      </p:sp>
      <p:sp>
        <p:nvSpPr>
          <p:cNvPr id="17" name="Shape 15"/>
          <p:cNvSpPr/>
          <p:nvPr/>
        </p:nvSpPr>
        <p:spPr>
          <a:xfrm>
            <a:off x="5138928" y="4302252"/>
            <a:ext cx="45720" cy="1348740"/>
          </a:xfrm>
          <a:prstGeom prst="rect">
            <a:avLst/>
          </a:prstGeom>
          <a:solidFill>
            <a:srgbClr val="2587C5"/>
          </a:solidFill>
          <a:ln/>
        </p:spPr>
      </p:sp>
      <p:sp>
        <p:nvSpPr>
          <p:cNvPr id="18" name="Text 16"/>
          <p:cNvSpPr txBox="1"/>
          <p:nvPr/>
        </p:nvSpPr>
        <p:spPr>
          <a:xfrm>
            <a:off x="5266944" y="4302252"/>
            <a:ext cx="2962656" cy="1348740"/>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Parts pricing matrix</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What we charge relative to cost</a:t>
            </a:r>
            <a:endParaRPr lang="en-US" sz="1400" dirty="0"/>
          </a:p>
        </p:txBody>
      </p:sp>
      <p:sp>
        <p:nvSpPr>
          <p:cNvPr id="19" name="Shape 17"/>
          <p:cNvSpPr/>
          <p:nvPr/>
        </p:nvSpPr>
        <p:spPr>
          <a:xfrm>
            <a:off x="8394192" y="4302252"/>
            <a:ext cx="45720" cy="1348740"/>
          </a:xfrm>
          <a:prstGeom prst="rect">
            <a:avLst/>
          </a:prstGeom>
          <a:solidFill>
            <a:srgbClr val="2587C5"/>
          </a:solidFill>
          <a:ln/>
        </p:spPr>
      </p:sp>
      <p:sp>
        <p:nvSpPr>
          <p:cNvPr id="20" name="Text 18"/>
          <p:cNvSpPr txBox="1"/>
          <p:nvPr/>
        </p:nvSpPr>
        <p:spPr>
          <a:xfrm>
            <a:off x="8522208" y="4302252"/>
            <a:ext cx="2962656" cy="1348740"/>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Staging and special orders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Parts ready at the bay; special orders followed up</a:t>
            </a:r>
            <a:endParaRPr lang="en-US" sz="1400" dirty="0"/>
          </a:p>
        </p:txBody>
      </p:sp>
      <p:sp>
        <p:nvSpPr>
          <p:cNvPr id="21" name="Shape 19"/>
          <p:cNvSpPr/>
          <p:nvPr/>
        </p:nvSpPr>
        <p:spPr>
          <a:xfrm>
            <a:off x="457200" y="5961888"/>
            <a:ext cx="11274552" cy="548640"/>
          </a:xfrm>
          <a:prstGeom prst="rect">
            <a:avLst/>
          </a:prstGeom>
          <a:solidFill>
            <a:srgbClr val="E6F6EE"/>
          </a:solidFill>
          <a:ln/>
        </p:spPr>
      </p:sp>
      <p:sp>
        <p:nvSpPr>
          <p:cNvPr id="22" name="Text 20"/>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Group: $238 CP parts per RO, up $9 and ahead of 2025 in all nine months.</a:t>
            </a:r>
            <a:endParaRPr lang="en-US" sz="1600" dirty="0"/>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 · WHO'S MOVING NOW</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Who's Moving Now: CP Parts $ per RO</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713232" y="1298448"/>
            <a:ext cx="10762488" cy="310896"/>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Q1 → Q3 2026. Group $230 → $242, +5.1%: that is the season. 19 of 33 stores beat it.</a:t>
            </a:r>
            <a:endParaRPr lang="en-US" sz="1400" dirty="0"/>
          </a:p>
        </p:txBody>
      </p:sp>
      <p:sp>
        <p:nvSpPr>
          <p:cNvPr id="7" name="Text 5"/>
          <p:cNvSpPr txBox="1"/>
          <p:nvPr/>
        </p:nvSpPr>
        <p:spPr>
          <a:xfrm>
            <a:off x="3657600" y="1682496"/>
            <a:ext cx="1554480" cy="274320"/>
          </a:xfrm>
          <a:prstGeom prst="rect">
            <a:avLst/>
          </a:prstGeom>
          <a:noFill/>
          <a:ln/>
        </p:spPr>
        <p:txBody>
          <a:bodyPr wrap="square" lIns="0" tIns="0" rIns="0" bIns="0" rtlCol="0" anchor="ctr"/>
          <a:lstStyle/>
          <a:p>
            <a:pPr algn="l" indent="0" marL="0">
              <a:buNone/>
            </a:pPr>
            <a:r>
              <a:rPr lang="en-US" sz="1400" b="1" dirty="0">
                <a:solidFill>
                  <a:srgbClr val="595959"/>
                </a:solidFill>
                <a:latin typeface="Inter" pitchFamily="34" charset="0"/>
                <a:ea typeface="Inter" pitchFamily="34" charset="-122"/>
                <a:cs typeface="Inter" pitchFamily="34" charset="-120"/>
              </a:rPr>
              <a:t>Q1 → Q3</a:t>
            </a:r>
            <a:endParaRPr lang="en-US" sz="1400" dirty="0"/>
          </a:p>
        </p:txBody>
      </p:sp>
      <p:sp>
        <p:nvSpPr>
          <p:cNvPr id="8" name="Text 6"/>
          <p:cNvSpPr txBox="1"/>
          <p:nvPr/>
        </p:nvSpPr>
        <p:spPr>
          <a:xfrm>
            <a:off x="5349240" y="1682496"/>
            <a:ext cx="2651760" cy="274320"/>
          </a:xfrm>
          <a:prstGeom prst="rect">
            <a:avLst/>
          </a:prstGeom>
          <a:noFill/>
          <a:ln/>
        </p:spPr>
        <p:txBody>
          <a:bodyPr wrap="square" lIns="0" tIns="0" rIns="0" bIns="0" rtlCol="0" anchor="ctr"/>
          <a:lstStyle/>
          <a:p>
            <a:pPr algn="l" indent="0" marL="0">
              <a:buNone/>
            </a:pPr>
            <a:r>
              <a:rPr lang="en-US" sz="1400" b="1" dirty="0">
                <a:solidFill>
                  <a:srgbClr val="595959"/>
                </a:solidFill>
                <a:latin typeface="Inter" pitchFamily="34" charset="0"/>
                <a:ea typeface="Inter" pitchFamily="34" charset="-122"/>
                <a:cs typeface="Inter" pitchFamily="34" charset="-120"/>
              </a:rPr>
              <a:t>Jan – Sep 2026, by month</a:t>
            </a:r>
            <a:endParaRPr lang="en-US" sz="1400" dirty="0"/>
          </a:p>
        </p:txBody>
      </p:sp>
      <p:sp>
        <p:nvSpPr>
          <p:cNvPr id="9" name="Text 7"/>
          <p:cNvSpPr txBox="1"/>
          <p:nvPr/>
        </p:nvSpPr>
        <p:spPr>
          <a:xfrm>
            <a:off x="8183880" y="1682496"/>
            <a:ext cx="1737360" cy="274320"/>
          </a:xfrm>
          <a:prstGeom prst="rect">
            <a:avLst/>
          </a:prstGeom>
          <a:noFill/>
          <a:ln/>
        </p:spPr>
        <p:txBody>
          <a:bodyPr wrap="square" lIns="0" tIns="0" rIns="0" bIns="0" rtlCol="0" anchor="ctr"/>
          <a:lstStyle/>
          <a:p>
            <a:pPr algn="l" indent="0" marL="0">
              <a:buNone/>
            </a:pPr>
            <a:r>
              <a:rPr lang="en-US" sz="1400" b="1" dirty="0">
                <a:solidFill>
                  <a:srgbClr val="595959"/>
                </a:solidFill>
                <a:latin typeface="Inter" pitchFamily="34" charset="0"/>
                <a:ea typeface="Inter" pitchFamily="34" charset="-122"/>
                <a:cs typeface="Inter" pitchFamily="34" charset="-120"/>
              </a:rPr>
              <a:t>Stepped up in</a:t>
            </a:r>
            <a:endParaRPr lang="en-US" sz="1400" dirty="0"/>
          </a:p>
        </p:txBody>
      </p:sp>
      <p:sp>
        <p:nvSpPr>
          <p:cNvPr id="10" name="Text 8"/>
          <p:cNvSpPr txBox="1"/>
          <p:nvPr/>
        </p:nvSpPr>
        <p:spPr>
          <a:xfrm>
            <a:off x="10195560" y="1682496"/>
            <a:ext cx="1371600" cy="274320"/>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Q1 → Q3</a:t>
            </a:r>
            <a:endParaRPr lang="en-US" sz="1400" dirty="0"/>
          </a:p>
        </p:txBody>
      </p:sp>
      <p:sp>
        <p:nvSpPr>
          <p:cNvPr id="11" name="Shape 9"/>
          <p:cNvSpPr/>
          <p:nvPr/>
        </p:nvSpPr>
        <p:spPr>
          <a:xfrm>
            <a:off x="621792" y="1993392"/>
            <a:ext cx="10945368" cy="382219"/>
          </a:xfrm>
          <a:prstGeom prst="rect">
            <a:avLst/>
          </a:prstGeom>
          <a:solidFill>
            <a:srgbClr val="F7F7F7"/>
          </a:solidFill>
          <a:ln/>
        </p:spPr>
      </p:sp>
      <p:sp>
        <p:nvSpPr>
          <p:cNvPr id="12" name="Text 10"/>
          <p:cNvSpPr txBox="1"/>
          <p:nvPr/>
        </p:nvSpPr>
        <p:spPr>
          <a:xfrm>
            <a:off x="749808" y="1993392"/>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3" name="Text 11"/>
          <p:cNvSpPr txBox="1"/>
          <p:nvPr/>
        </p:nvSpPr>
        <p:spPr>
          <a:xfrm>
            <a:off x="1097280" y="1993392"/>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p:txBody>
      </p:sp>
      <p:sp>
        <p:nvSpPr>
          <p:cNvPr id="14" name="Text 12"/>
          <p:cNvSpPr txBox="1"/>
          <p:nvPr/>
        </p:nvSpPr>
        <p:spPr>
          <a:xfrm>
            <a:off x="3657600" y="1993392"/>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$224 → $298</a:t>
            </a:r>
            <a:endParaRPr lang="en-US" sz="1400" dirty="0"/>
          </a:p>
        </p:txBody>
      </p:sp>
      <p:graphicFrame>
        <p:nvGraphicFramePr>
          <p:cNvPr id="15" name="Chart 0" descr=""/>
          <p:cNvGraphicFramePr/>
          <p:nvPr/>
        </p:nvGraphicFramePr>
        <p:xfrm>
          <a:off x="5276088" y="2011680"/>
          <a:ext cx="2697480" cy="345643"/>
        </p:xfrm>
        <a:graphic>
          <a:graphicData uri="http://schemas.openxmlformats.org/drawingml/2006/chart">
            <c:chart xmlns:c="http://schemas.openxmlformats.org/drawingml/2006/chart" r:id="rId2"/>
          </a:graphicData>
        </a:graphic>
      </p:graphicFrame>
      <p:sp>
        <p:nvSpPr>
          <p:cNvPr id="16" name="Text 13"/>
          <p:cNvSpPr txBox="1"/>
          <p:nvPr/>
        </p:nvSpPr>
        <p:spPr>
          <a:xfrm>
            <a:off x="8183880" y="1993392"/>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June</a:t>
            </a:r>
            <a:endParaRPr lang="en-US" sz="1400" dirty="0"/>
          </a:p>
        </p:txBody>
      </p:sp>
      <p:sp>
        <p:nvSpPr>
          <p:cNvPr id="17" name="Text 14"/>
          <p:cNvSpPr txBox="1"/>
          <p:nvPr/>
        </p:nvSpPr>
        <p:spPr>
          <a:xfrm>
            <a:off x="10195560" y="1993392"/>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+32.9%</a:t>
            </a:r>
            <a:endParaRPr lang="en-US" sz="1600" dirty="0"/>
          </a:p>
        </p:txBody>
      </p:sp>
      <p:sp>
        <p:nvSpPr>
          <p:cNvPr id="18" name="Text 15"/>
          <p:cNvSpPr txBox="1"/>
          <p:nvPr/>
        </p:nvSpPr>
        <p:spPr>
          <a:xfrm>
            <a:off x="749808" y="2375611"/>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9" name="Text 16"/>
          <p:cNvSpPr txBox="1"/>
          <p:nvPr/>
        </p:nvSpPr>
        <p:spPr>
          <a:xfrm>
            <a:off x="1097280" y="2375611"/>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LR RENO</a:t>
            </a:r>
            <a:endParaRPr lang="en-US" sz="1400" dirty="0"/>
          </a:p>
        </p:txBody>
      </p:sp>
      <p:sp>
        <p:nvSpPr>
          <p:cNvPr id="20" name="Text 17"/>
          <p:cNvSpPr txBox="1"/>
          <p:nvPr/>
        </p:nvSpPr>
        <p:spPr>
          <a:xfrm>
            <a:off x="3657600" y="2375611"/>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$692 → $877</a:t>
            </a:r>
            <a:endParaRPr lang="en-US" sz="1400" dirty="0"/>
          </a:p>
        </p:txBody>
      </p:sp>
      <p:graphicFrame>
        <p:nvGraphicFramePr>
          <p:cNvPr id="21" name="Chart 1" descr=""/>
          <p:cNvGraphicFramePr/>
          <p:nvPr/>
        </p:nvGraphicFramePr>
        <p:xfrm>
          <a:off x="5276088" y="2393899"/>
          <a:ext cx="2697480" cy="345643"/>
        </p:xfrm>
        <a:graphic>
          <a:graphicData uri="http://schemas.openxmlformats.org/drawingml/2006/chart">
            <c:chart xmlns:c="http://schemas.openxmlformats.org/drawingml/2006/chart" r:id="rId3"/>
          </a:graphicData>
        </a:graphic>
      </p:graphicFrame>
      <p:sp>
        <p:nvSpPr>
          <p:cNvPr id="22" name="Text 18"/>
          <p:cNvSpPr txBox="1"/>
          <p:nvPr/>
        </p:nvSpPr>
        <p:spPr>
          <a:xfrm>
            <a:off x="8183880" y="2375611"/>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April</a:t>
            </a:r>
            <a:endParaRPr lang="en-US" sz="1400" dirty="0"/>
          </a:p>
        </p:txBody>
      </p:sp>
      <p:sp>
        <p:nvSpPr>
          <p:cNvPr id="23" name="Text 19"/>
          <p:cNvSpPr txBox="1"/>
          <p:nvPr/>
        </p:nvSpPr>
        <p:spPr>
          <a:xfrm>
            <a:off x="10195560" y="2375611"/>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+26.6%</a:t>
            </a:r>
            <a:endParaRPr lang="en-US" sz="1600" dirty="0"/>
          </a:p>
        </p:txBody>
      </p:sp>
      <p:sp>
        <p:nvSpPr>
          <p:cNvPr id="24" name="Shape 20"/>
          <p:cNvSpPr/>
          <p:nvPr/>
        </p:nvSpPr>
        <p:spPr>
          <a:xfrm>
            <a:off x="621792" y="2757830"/>
            <a:ext cx="10945368" cy="382219"/>
          </a:xfrm>
          <a:prstGeom prst="rect">
            <a:avLst/>
          </a:prstGeom>
          <a:solidFill>
            <a:srgbClr val="F7F7F7"/>
          </a:solidFill>
          <a:ln/>
        </p:spPr>
      </p:sp>
      <p:sp>
        <p:nvSpPr>
          <p:cNvPr id="25" name="Text 21"/>
          <p:cNvSpPr txBox="1"/>
          <p:nvPr/>
        </p:nvSpPr>
        <p:spPr>
          <a:xfrm>
            <a:off x="749808" y="2757830"/>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6" name="Text 22"/>
          <p:cNvSpPr txBox="1"/>
          <p:nvPr/>
        </p:nvSpPr>
        <p:spPr>
          <a:xfrm>
            <a:off x="1097280" y="2757830"/>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ACURA</a:t>
            </a:r>
            <a:endParaRPr lang="en-US" sz="1400" dirty="0"/>
          </a:p>
        </p:txBody>
      </p:sp>
      <p:sp>
        <p:nvSpPr>
          <p:cNvPr id="27" name="Text 23"/>
          <p:cNvSpPr txBox="1"/>
          <p:nvPr/>
        </p:nvSpPr>
        <p:spPr>
          <a:xfrm>
            <a:off x="3657600" y="2757830"/>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$229 → $282</a:t>
            </a:r>
            <a:endParaRPr lang="en-US" sz="1400" dirty="0"/>
          </a:p>
        </p:txBody>
      </p:sp>
      <p:graphicFrame>
        <p:nvGraphicFramePr>
          <p:cNvPr id="28" name="Chart 2" descr=""/>
          <p:cNvGraphicFramePr/>
          <p:nvPr/>
        </p:nvGraphicFramePr>
        <p:xfrm>
          <a:off x="5276088" y="2776118"/>
          <a:ext cx="2697480" cy="345643"/>
        </p:xfrm>
        <a:graphic>
          <a:graphicData uri="http://schemas.openxmlformats.org/drawingml/2006/chart">
            <c:chart xmlns:c="http://schemas.openxmlformats.org/drawingml/2006/chart" r:id="rId4"/>
          </a:graphicData>
        </a:graphic>
      </p:graphicFrame>
      <p:sp>
        <p:nvSpPr>
          <p:cNvPr id="29" name="Text 24"/>
          <p:cNvSpPr txBox="1"/>
          <p:nvPr/>
        </p:nvSpPr>
        <p:spPr>
          <a:xfrm>
            <a:off x="8183880" y="2757830"/>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May</a:t>
            </a:r>
            <a:endParaRPr lang="en-US" sz="1400" dirty="0"/>
          </a:p>
        </p:txBody>
      </p:sp>
      <p:sp>
        <p:nvSpPr>
          <p:cNvPr id="30" name="Text 25"/>
          <p:cNvSpPr txBox="1"/>
          <p:nvPr/>
        </p:nvSpPr>
        <p:spPr>
          <a:xfrm>
            <a:off x="10195560" y="2757830"/>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+22.9%</a:t>
            </a:r>
            <a:endParaRPr lang="en-US" sz="1600" dirty="0"/>
          </a:p>
        </p:txBody>
      </p:sp>
      <p:sp>
        <p:nvSpPr>
          <p:cNvPr id="31" name="Text 26"/>
          <p:cNvSpPr txBox="1"/>
          <p:nvPr/>
        </p:nvSpPr>
        <p:spPr>
          <a:xfrm>
            <a:off x="749808" y="3140050"/>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32" name="Text 27"/>
          <p:cNvSpPr txBox="1"/>
          <p:nvPr/>
        </p:nvSpPr>
        <p:spPr>
          <a:xfrm>
            <a:off x="1097280" y="3140050"/>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HONDA FLAGSTAFF</a:t>
            </a:r>
            <a:endParaRPr lang="en-US" sz="1400" dirty="0"/>
          </a:p>
        </p:txBody>
      </p:sp>
      <p:sp>
        <p:nvSpPr>
          <p:cNvPr id="33" name="Text 28"/>
          <p:cNvSpPr txBox="1"/>
          <p:nvPr/>
        </p:nvSpPr>
        <p:spPr>
          <a:xfrm>
            <a:off x="3657600" y="3140050"/>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$200 → $234</a:t>
            </a:r>
            <a:endParaRPr lang="en-US" sz="1400" dirty="0"/>
          </a:p>
        </p:txBody>
      </p:sp>
      <p:graphicFrame>
        <p:nvGraphicFramePr>
          <p:cNvPr id="34" name="Chart 3" descr=""/>
          <p:cNvGraphicFramePr/>
          <p:nvPr/>
        </p:nvGraphicFramePr>
        <p:xfrm>
          <a:off x="5276088" y="3158338"/>
          <a:ext cx="2697480" cy="345643"/>
        </p:xfrm>
        <a:graphic>
          <a:graphicData uri="http://schemas.openxmlformats.org/drawingml/2006/chart">
            <c:chart xmlns:c="http://schemas.openxmlformats.org/drawingml/2006/chart" r:id="rId5"/>
          </a:graphicData>
        </a:graphic>
      </p:graphicFrame>
      <p:sp>
        <p:nvSpPr>
          <p:cNvPr id="35" name="Text 29"/>
          <p:cNvSpPr txBox="1"/>
          <p:nvPr/>
        </p:nvSpPr>
        <p:spPr>
          <a:xfrm>
            <a:off x="8183880" y="3140050"/>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July</a:t>
            </a:r>
            <a:endParaRPr lang="en-US" sz="1400" dirty="0"/>
          </a:p>
        </p:txBody>
      </p:sp>
      <p:sp>
        <p:nvSpPr>
          <p:cNvPr id="36" name="Text 30"/>
          <p:cNvSpPr txBox="1"/>
          <p:nvPr/>
        </p:nvSpPr>
        <p:spPr>
          <a:xfrm>
            <a:off x="10195560" y="3140050"/>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+16.9%</a:t>
            </a:r>
            <a:endParaRPr lang="en-US" sz="1600" dirty="0"/>
          </a:p>
        </p:txBody>
      </p:sp>
      <p:sp>
        <p:nvSpPr>
          <p:cNvPr id="37" name="Shape 31"/>
          <p:cNvSpPr/>
          <p:nvPr/>
        </p:nvSpPr>
        <p:spPr>
          <a:xfrm>
            <a:off x="621792" y="3522269"/>
            <a:ext cx="10945368" cy="382219"/>
          </a:xfrm>
          <a:prstGeom prst="rect">
            <a:avLst/>
          </a:prstGeom>
          <a:solidFill>
            <a:srgbClr val="F7F7F7"/>
          </a:solidFill>
          <a:ln/>
        </p:spPr>
      </p:sp>
      <p:sp>
        <p:nvSpPr>
          <p:cNvPr id="38" name="Text 32"/>
          <p:cNvSpPr txBox="1"/>
          <p:nvPr/>
        </p:nvSpPr>
        <p:spPr>
          <a:xfrm>
            <a:off x="749808" y="3522269"/>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39" name="Text 33"/>
          <p:cNvSpPr txBox="1"/>
          <p:nvPr/>
        </p:nvSpPr>
        <p:spPr>
          <a:xfrm>
            <a:off x="1097280" y="3522269"/>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p:txBody>
      </p:sp>
      <p:sp>
        <p:nvSpPr>
          <p:cNvPr id="40" name="Text 34"/>
          <p:cNvSpPr txBox="1"/>
          <p:nvPr/>
        </p:nvSpPr>
        <p:spPr>
          <a:xfrm>
            <a:off x="3657600" y="3522269"/>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$204 → $234</a:t>
            </a:r>
            <a:endParaRPr lang="en-US" sz="1400" dirty="0"/>
          </a:p>
        </p:txBody>
      </p:sp>
      <p:graphicFrame>
        <p:nvGraphicFramePr>
          <p:cNvPr id="41" name="Chart 4" descr=""/>
          <p:cNvGraphicFramePr/>
          <p:nvPr/>
        </p:nvGraphicFramePr>
        <p:xfrm>
          <a:off x="5276088" y="3540557"/>
          <a:ext cx="2697480" cy="345643"/>
        </p:xfrm>
        <a:graphic>
          <a:graphicData uri="http://schemas.openxmlformats.org/drawingml/2006/chart">
            <c:chart xmlns:c="http://schemas.openxmlformats.org/drawingml/2006/chart" r:id="rId6"/>
          </a:graphicData>
        </a:graphic>
      </p:graphicFrame>
      <p:sp>
        <p:nvSpPr>
          <p:cNvPr id="42" name="Text 35"/>
          <p:cNvSpPr txBox="1"/>
          <p:nvPr/>
        </p:nvSpPr>
        <p:spPr>
          <a:xfrm>
            <a:off x="8183880" y="3522269"/>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August</a:t>
            </a:r>
            <a:endParaRPr lang="en-US" sz="1400" dirty="0"/>
          </a:p>
        </p:txBody>
      </p:sp>
      <p:sp>
        <p:nvSpPr>
          <p:cNvPr id="43" name="Text 36"/>
          <p:cNvSpPr txBox="1"/>
          <p:nvPr/>
        </p:nvSpPr>
        <p:spPr>
          <a:xfrm>
            <a:off x="10195560" y="3522269"/>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+15.0%</a:t>
            </a:r>
            <a:endParaRPr lang="en-US" sz="1600" dirty="0"/>
          </a:p>
        </p:txBody>
      </p:sp>
      <p:sp>
        <p:nvSpPr>
          <p:cNvPr id="44" name="Text 37"/>
          <p:cNvSpPr txBox="1"/>
          <p:nvPr/>
        </p:nvSpPr>
        <p:spPr>
          <a:xfrm>
            <a:off x="749808" y="3904488"/>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6</a:t>
            </a:r>
            <a:endParaRPr lang="en-US" sz="1500" dirty="0"/>
          </a:p>
        </p:txBody>
      </p:sp>
      <p:sp>
        <p:nvSpPr>
          <p:cNvPr id="45" name="Text 38"/>
          <p:cNvSpPr txBox="1"/>
          <p:nvPr/>
        </p:nvSpPr>
        <p:spPr>
          <a:xfrm>
            <a:off x="1097280" y="3904488"/>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TOYOTA PRESCOTT</a:t>
            </a:r>
            <a:endParaRPr lang="en-US" sz="1400" dirty="0"/>
          </a:p>
        </p:txBody>
      </p:sp>
      <p:sp>
        <p:nvSpPr>
          <p:cNvPr id="46" name="Text 39"/>
          <p:cNvSpPr txBox="1"/>
          <p:nvPr/>
        </p:nvSpPr>
        <p:spPr>
          <a:xfrm>
            <a:off x="3657600" y="3904488"/>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$136 → $156</a:t>
            </a:r>
            <a:endParaRPr lang="en-US" sz="1400" dirty="0"/>
          </a:p>
        </p:txBody>
      </p:sp>
      <p:graphicFrame>
        <p:nvGraphicFramePr>
          <p:cNvPr id="47" name="Chart 5" descr=""/>
          <p:cNvGraphicFramePr/>
          <p:nvPr/>
        </p:nvGraphicFramePr>
        <p:xfrm>
          <a:off x="5276088" y="3922776"/>
          <a:ext cx="2697480" cy="345643"/>
        </p:xfrm>
        <a:graphic>
          <a:graphicData uri="http://schemas.openxmlformats.org/drawingml/2006/chart">
            <c:chart xmlns:c="http://schemas.openxmlformats.org/drawingml/2006/chart" r:id="rId7"/>
          </a:graphicData>
        </a:graphic>
      </p:graphicFrame>
      <p:sp>
        <p:nvSpPr>
          <p:cNvPr id="48" name="Text 40"/>
          <p:cNvSpPr txBox="1"/>
          <p:nvPr/>
        </p:nvSpPr>
        <p:spPr>
          <a:xfrm>
            <a:off x="8183880" y="3904488"/>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April</a:t>
            </a:r>
            <a:endParaRPr lang="en-US" sz="1400" dirty="0"/>
          </a:p>
        </p:txBody>
      </p:sp>
      <p:sp>
        <p:nvSpPr>
          <p:cNvPr id="49" name="Text 41"/>
          <p:cNvSpPr txBox="1"/>
          <p:nvPr/>
        </p:nvSpPr>
        <p:spPr>
          <a:xfrm>
            <a:off x="10195560" y="3904488"/>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+14.6%</a:t>
            </a:r>
            <a:endParaRPr lang="en-US" sz="1600" dirty="0"/>
          </a:p>
        </p:txBody>
      </p:sp>
      <p:sp>
        <p:nvSpPr>
          <p:cNvPr id="50" name="Shape 42"/>
          <p:cNvSpPr/>
          <p:nvPr/>
        </p:nvSpPr>
        <p:spPr>
          <a:xfrm>
            <a:off x="621792" y="4286707"/>
            <a:ext cx="10945368" cy="382219"/>
          </a:xfrm>
          <a:prstGeom prst="rect">
            <a:avLst/>
          </a:prstGeom>
          <a:solidFill>
            <a:srgbClr val="F7F7F7"/>
          </a:solidFill>
          <a:ln/>
        </p:spPr>
      </p:sp>
      <p:sp>
        <p:nvSpPr>
          <p:cNvPr id="51" name="Text 43"/>
          <p:cNvSpPr txBox="1"/>
          <p:nvPr/>
        </p:nvSpPr>
        <p:spPr>
          <a:xfrm>
            <a:off x="749808" y="4286707"/>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7</a:t>
            </a:r>
            <a:endParaRPr lang="en-US" sz="1500" dirty="0"/>
          </a:p>
        </p:txBody>
      </p:sp>
      <p:sp>
        <p:nvSpPr>
          <p:cNvPr id="52" name="Text 44"/>
          <p:cNvSpPr txBox="1"/>
          <p:nvPr/>
        </p:nvSpPr>
        <p:spPr>
          <a:xfrm>
            <a:off x="1097280" y="4286707"/>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CHEVY GMC BULLHEAD</a:t>
            </a:r>
            <a:endParaRPr lang="en-US" sz="1400" dirty="0"/>
          </a:p>
        </p:txBody>
      </p:sp>
      <p:sp>
        <p:nvSpPr>
          <p:cNvPr id="53" name="Text 45"/>
          <p:cNvSpPr txBox="1"/>
          <p:nvPr/>
        </p:nvSpPr>
        <p:spPr>
          <a:xfrm>
            <a:off x="3657600" y="4286707"/>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$257 → $292</a:t>
            </a:r>
            <a:endParaRPr lang="en-US" sz="1400" dirty="0"/>
          </a:p>
        </p:txBody>
      </p:sp>
      <p:graphicFrame>
        <p:nvGraphicFramePr>
          <p:cNvPr id="54" name="Chart 6" descr=""/>
          <p:cNvGraphicFramePr/>
          <p:nvPr/>
        </p:nvGraphicFramePr>
        <p:xfrm>
          <a:off x="5276088" y="4304995"/>
          <a:ext cx="2697480" cy="345643"/>
        </p:xfrm>
        <a:graphic>
          <a:graphicData uri="http://schemas.openxmlformats.org/drawingml/2006/chart">
            <c:chart xmlns:c="http://schemas.openxmlformats.org/drawingml/2006/chart" r:id="rId8"/>
          </a:graphicData>
        </a:graphic>
      </p:graphicFrame>
      <p:sp>
        <p:nvSpPr>
          <p:cNvPr id="55" name="Text 46"/>
          <p:cNvSpPr txBox="1"/>
          <p:nvPr/>
        </p:nvSpPr>
        <p:spPr>
          <a:xfrm>
            <a:off x="8183880" y="4286707"/>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April</a:t>
            </a:r>
            <a:endParaRPr lang="en-US" sz="1400" dirty="0"/>
          </a:p>
        </p:txBody>
      </p:sp>
      <p:sp>
        <p:nvSpPr>
          <p:cNvPr id="56" name="Text 47"/>
          <p:cNvSpPr txBox="1"/>
          <p:nvPr/>
        </p:nvSpPr>
        <p:spPr>
          <a:xfrm>
            <a:off x="10195560" y="4286707"/>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+13.8%</a:t>
            </a:r>
            <a:endParaRPr lang="en-US" sz="1600" dirty="0"/>
          </a:p>
        </p:txBody>
      </p:sp>
      <p:sp>
        <p:nvSpPr>
          <p:cNvPr id="57" name="Text 48"/>
          <p:cNvSpPr txBox="1"/>
          <p:nvPr/>
        </p:nvSpPr>
        <p:spPr>
          <a:xfrm>
            <a:off x="749808" y="4668926"/>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8</a:t>
            </a:r>
            <a:endParaRPr lang="en-US" sz="1500" dirty="0"/>
          </a:p>
        </p:txBody>
      </p:sp>
      <p:sp>
        <p:nvSpPr>
          <p:cNvPr id="58" name="Text 49"/>
          <p:cNvSpPr txBox="1"/>
          <p:nvPr/>
        </p:nvSpPr>
        <p:spPr>
          <a:xfrm>
            <a:off x="1097280" y="4668926"/>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AUDI HENDERSON</a:t>
            </a:r>
            <a:endParaRPr lang="en-US" sz="1400" dirty="0"/>
          </a:p>
        </p:txBody>
      </p:sp>
      <p:sp>
        <p:nvSpPr>
          <p:cNvPr id="59" name="Text 50"/>
          <p:cNvSpPr txBox="1"/>
          <p:nvPr/>
        </p:nvSpPr>
        <p:spPr>
          <a:xfrm>
            <a:off x="3657600" y="4668926"/>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$728 → $811</a:t>
            </a:r>
            <a:endParaRPr lang="en-US" sz="1400" dirty="0"/>
          </a:p>
        </p:txBody>
      </p:sp>
      <p:graphicFrame>
        <p:nvGraphicFramePr>
          <p:cNvPr id="60" name="Chart 7" descr=""/>
          <p:cNvGraphicFramePr/>
          <p:nvPr/>
        </p:nvGraphicFramePr>
        <p:xfrm>
          <a:off x="5276088" y="4687214"/>
          <a:ext cx="2697480" cy="345643"/>
        </p:xfrm>
        <a:graphic>
          <a:graphicData uri="http://schemas.openxmlformats.org/drawingml/2006/chart">
            <c:chart xmlns:c="http://schemas.openxmlformats.org/drawingml/2006/chart" r:id="rId9"/>
          </a:graphicData>
        </a:graphic>
      </p:graphicFrame>
      <p:sp>
        <p:nvSpPr>
          <p:cNvPr id="61" name="Text 51"/>
          <p:cNvSpPr txBox="1"/>
          <p:nvPr/>
        </p:nvSpPr>
        <p:spPr>
          <a:xfrm>
            <a:off x="8183880" y="4668926"/>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August</a:t>
            </a:r>
            <a:endParaRPr lang="en-US" sz="1400" dirty="0"/>
          </a:p>
        </p:txBody>
      </p:sp>
      <p:sp>
        <p:nvSpPr>
          <p:cNvPr id="62" name="Text 52"/>
          <p:cNvSpPr txBox="1"/>
          <p:nvPr/>
        </p:nvSpPr>
        <p:spPr>
          <a:xfrm>
            <a:off x="10195560" y="4668926"/>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+11.4%</a:t>
            </a:r>
            <a:endParaRPr lang="en-US" sz="1600" dirty="0"/>
          </a:p>
        </p:txBody>
      </p:sp>
      <p:sp>
        <p:nvSpPr>
          <p:cNvPr id="63" name="Shape 53"/>
          <p:cNvSpPr/>
          <p:nvPr/>
        </p:nvSpPr>
        <p:spPr>
          <a:xfrm>
            <a:off x="621792" y="5051146"/>
            <a:ext cx="10945368" cy="382219"/>
          </a:xfrm>
          <a:prstGeom prst="rect">
            <a:avLst/>
          </a:prstGeom>
          <a:solidFill>
            <a:srgbClr val="F7F7F7"/>
          </a:solidFill>
          <a:ln/>
        </p:spPr>
      </p:sp>
      <p:sp>
        <p:nvSpPr>
          <p:cNvPr id="64" name="Text 54"/>
          <p:cNvSpPr txBox="1"/>
          <p:nvPr/>
        </p:nvSpPr>
        <p:spPr>
          <a:xfrm>
            <a:off x="749808" y="5051146"/>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9</a:t>
            </a:r>
            <a:endParaRPr lang="en-US" sz="1500" dirty="0"/>
          </a:p>
        </p:txBody>
      </p:sp>
      <p:sp>
        <p:nvSpPr>
          <p:cNvPr id="65" name="Text 55"/>
          <p:cNvSpPr txBox="1"/>
          <p:nvPr/>
        </p:nvSpPr>
        <p:spPr>
          <a:xfrm>
            <a:off x="1097280" y="5051146"/>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LR HENDERSON</a:t>
            </a:r>
            <a:endParaRPr lang="en-US" sz="1400" dirty="0"/>
          </a:p>
        </p:txBody>
      </p:sp>
      <p:sp>
        <p:nvSpPr>
          <p:cNvPr id="66" name="Text 56"/>
          <p:cNvSpPr txBox="1"/>
          <p:nvPr/>
        </p:nvSpPr>
        <p:spPr>
          <a:xfrm>
            <a:off x="3657600" y="5051146"/>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$897 → $988</a:t>
            </a:r>
            <a:endParaRPr lang="en-US" sz="1400" dirty="0"/>
          </a:p>
        </p:txBody>
      </p:sp>
      <p:graphicFrame>
        <p:nvGraphicFramePr>
          <p:cNvPr id="67" name="Chart 8" descr=""/>
          <p:cNvGraphicFramePr/>
          <p:nvPr/>
        </p:nvGraphicFramePr>
        <p:xfrm>
          <a:off x="5276088" y="5069434"/>
          <a:ext cx="2697480" cy="345643"/>
        </p:xfrm>
        <a:graphic>
          <a:graphicData uri="http://schemas.openxmlformats.org/drawingml/2006/chart">
            <c:chart xmlns:c="http://schemas.openxmlformats.org/drawingml/2006/chart" r:id="rId10"/>
          </a:graphicData>
        </a:graphic>
      </p:graphicFrame>
      <p:sp>
        <p:nvSpPr>
          <p:cNvPr id="68" name="Text 57"/>
          <p:cNvSpPr txBox="1"/>
          <p:nvPr/>
        </p:nvSpPr>
        <p:spPr>
          <a:xfrm>
            <a:off x="8183880" y="5051146"/>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July</a:t>
            </a:r>
            <a:endParaRPr lang="en-US" sz="1400" dirty="0"/>
          </a:p>
        </p:txBody>
      </p:sp>
      <p:sp>
        <p:nvSpPr>
          <p:cNvPr id="69" name="Text 58"/>
          <p:cNvSpPr txBox="1"/>
          <p:nvPr/>
        </p:nvSpPr>
        <p:spPr>
          <a:xfrm>
            <a:off x="10195560" y="5051146"/>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+10.1%</a:t>
            </a:r>
            <a:endParaRPr lang="en-US" sz="1600" dirty="0"/>
          </a:p>
        </p:txBody>
      </p:sp>
      <p:sp>
        <p:nvSpPr>
          <p:cNvPr id="70" name="Text 59"/>
          <p:cNvSpPr txBox="1"/>
          <p:nvPr/>
        </p:nvSpPr>
        <p:spPr>
          <a:xfrm>
            <a:off x="749808" y="5433365"/>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10</a:t>
            </a:r>
            <a:endParaRPr lang="en-US" sz="1500" dirty="0"/>
          </a:p>
        </p:txBody>
      </p:sp>
      <p:sp>
        <p:nvSpPr>
          <p:cNvPr id="71" name="Text 60"/>
          <p:cNvSpPr txBox="1"/>
          <p:nvPr/>
        </p:nvSpPr>
        <p:spPr>
          <a:xfrm>
            <a:off x="1097280" y="5433365"/>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p:txBody>
      </p:sp>
      <p:sp>
        <p:nvSpPr>
          <p:cNvPr id="72" name="Text 61"/>
          <p:cNvSpPr txBox="1"/>
          <p:nvPr/>
        </p:nvSpPr>
        <p:spPr>
          <a:xfrm>
            <a:off x="3657600" y="5433365"/>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$235 → $258</a:t>
            </a:r>
            <a:endParaRPr lang="en-US" sz="1400" dirty="0"/>
          </a:p>
        </p:txBody>
      </p:sp>
      <p:graphicFrame>
        <p:nvGraphicFramePr>
          <p:cNvPr id="73" name="Chart 9" descr=""/>
          <p:cNvGraphicFramePr/>
          <p:nvPr/>
        </p:nvGraphicFramePr>
        <p:xfrm>
          <a:off x="5276088" y="5451653"/>
          <a:ext cx="2697480" cy="345643"/>
        </p:xfrm>
        <a:graphic>
          <a:graphicData uri="http://schemas.openxmlformats.org/drawingml/2006/chart">
            <c:chart xmlns:c="http://schemas.openxmlformats.org/drawingml/2006/chart" r:id="rId11"/>
          </a:graphicData>
        </a:graphic>
      </p:graphicFrame>
      <p:sp>
        <p:nvSpPr>
          <p:cNvPr id="74" name="Text 62"/>
          <p:cNvSpPr txBox="1"/>
          <p:nvPr/>
        </p:nvSpPr>
        <p:spPr>
          <a:xfrm>
            <a:off x="8183880" y="5433365"/>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July</a:t>
            </a:r>
            <a:endParaRPr lang="en-US" sz="1400" dirty="0"/>
          </a:p>
        </p:txBody>
      </p:sp>
      <p:sp>
        <p:nvSpPr>
          <p:cNvPr id="75" name="Text 63"/>
          <p:cNvSpPr txBox="1"/>
          <p:nvPr/>
        </p:nvSpPr>
        <p:spPr>
          <a:xfrm>
            <a:off x="10195560" y="5433365"/>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+9.8%</a:t>
            </a:r>
            <a:endParaRPr lang="en-US" sz="1600" dirty="0"/>
          </a:p>
        </p:txBody>
      </p:sp>
      <p:sp>
        <p:nvSpPr>
          <p:cNvPr id="76" name="Shape 64"/>
          <p:cNvSpPr/>
          <p:nvPr/>
        </p:nvSpPr>
        <p:spPr>
          <a:xfrm>
            <a:off x="457200" y="5961888"/>
            <a:ext cx="11274552" cy="548640"/>
          </a:xfrm>
          <a:prstGeom prst="rect">
            <a:avLst/>
          </a:prstGeom>
          <a:solidFill>
            <a:srgbClr val="E6F6EE"/>
          </a:solidFill>
          <a:ln/>
        </p:spPr>
      </p:sp>
      <p:sp>
        <p:nvSpPr>
          <p:cNvPr id="77" name="Text 65"/>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VW ST GEORGE went $224 to $298, stepping up in June. Ask what changed that month.</a:t>
            </a:r>
            <a:endParaRPr lang="en-US" sz="1600" dirty="0"/>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The Goldilocks Margin</a:t>
            </a:r>
            <a:endParaRPr lang="en-US" sz="2800" dirty="0"/>
          </a:p>
        </p:txBody>
      </p:sp>
      <p:sp>
        <p:nvSpPr>
          <p:cNvPr id="5" name="Shape 3"/>
          <p:cNvSpPr/>
          <p:nvPr/>
        </p:nvSpPr>
        <p:spPr>
          <a:xfrm>
            <a:off x="457200" y="1207008"/>
            <a:ext cx="6400800" cy="4645152"/>
          </a:xfrm>
          <a:prstGeom prst="rect">
            <a:avLst/>
          </a:prstGeom>
          <a:solidFill>
            <a:srgbClr val="FFFFFF"/>
          </a:solidFill>
          <a:ln/>
        </p:spPr>
      </p:sp>
      <p:sp>
        <p:nvSpPr>
          <p:cNvPr id="6" name="Shape 4"/>
          <p:cNvSpPr/>
          <p:nvPr/>
        </p:nvSpPr>
        <p:spPr>
          <a:xfrm>
            <a:off x="7022592" y="1207008"/>
            <a:ext cx="4709160" cy="4645152"/>
          </a:xfrm>
          <a:prstGeom prst="rect">
            <a:avLst/>
          </a:prstGeom>
          <a:solidFill>
            <a:srgbClr val="FFFFFF"/>
          </a:solidFill>
          <a:ln/>
        </p:spPr>
      </p:sp>
      <p:sp>
        <p:nvSpPr>
          <p:cNvPr id="7" name="Text 5"/>
          <p:cNvSpPr txBox="1"/>
          <p:nvPr/>
        </p:nvSpPr>
        <p:spPr>
          <a:xfrm>
            <a:off x="713232" y="1371600"/>
            <a:ext cx="5943600" cy="310896"/>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WE SAID · ROUNDTABLE 2024</a:t>
            </a:r>
            <a:endParaRPr lang="en-US" sz="1400" dirty="0"/>
          </a:p>
        </p:txBody>
      </p:sp>
      <p:sp>
        <p:nvSpPr>
          <p:cNvPr id="8" name="Text 6"/>
          <p:cNvSpPr txBox="1"/>
          <p:nvPr/>
        </p:nvSpPr>
        <p:spPr>
          <a:xfrm>
            <a:off x="7269480" y="1371600"/>
            <a:ext cx="4297680" cy="310896"/>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WHERE WE ARE · JAN–SEP 2026</a:t>
            </a:r>
            <a:endParaRPr lang="en-US" sz="1400" dirty="0"/>
          </a:p>
        </p:txBody>
      </p:sp>
      <p:sp>
        <p:nvSpPr>
          <p:cNvPr id="9" name="Shape 7"/>
          <p:cNvSpPr/>
          <p:nvPr/>
        </p:nvSpPr>
        <p:spPr>
          <a:xfrm>
            <a:off x="713232" y="1737360"/>
            <a:ext cx="5897880" cy="10973"/>
          </a:xfrm>
          <a:prstGeom prst="rect">
            <a:avLst/>
          </a:prstGeom>
          <a:solidFill>
            <a:srgbClr val="D9D9D9"/>
          </a:solidFill>
          <a:ln/>
        </p:spPr>
      </p:sp>
      <p:sp>
        <p:nvSpPr>
          <p:cNvPr id="10" name="Shape 8"/>
          <p:cNvSpPr/>
          <p:nvPr/>
        </p:nvSpPr>
        <p:spPr>
          <a:xfrm>
            <a:off x="7269480" y="1737360"/>
            <a:ext cx="4224528" cy="10973"/>
          </a:xfrm>
          <a:prstGeom prst="rect">
            <a:avLst/>
          </a:prstGeom>
          <a:solidFill>
            <a:srgbClr val="D9D9D9"/>
          </a:solidFill>
          <a:ln/>
        </p:spPr>
      </p:sp>
      <p:sp>
        <p:nvSpPr>
          <p:cNvPr id="11" name="Text 9"/>
          <p:cNvSpPr txBox="1"/>
          <p:nvPr/>
        </p:nvSpPr>
        <p:spPr>
          <a:xfrm>
            <a:off x="713232" y="1874520"/>
            <a:ext cx="5897880" cy="384048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Gross profit % is the share of labor you keep after paying the tech</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Not too high, not too low: 78% to 80%</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Skill code costing: a hybrid of traditional and percentage</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Right tech, right job</a:t>
            </a:r>
            <a:endParaRPr lang="en-US" sz="1800" dirty="0"/>
          </a:p>
        </p:txBody>
      </p:sp>
      <p:sp>
        <p:nvSpPr>
          <p:cNvPr id="12" name="Shape 10"/>
          <p:cNvSpPr/>
          <p:nvPr/>
        </p:nvSpPr>
        <p:spPr>
          <a:xfrm>
            <a:off x="7269480" y="1920240"/>
            <a:ext cx="54864" cy="1714500"/>
          </a:xfrm>
          <a:prstGeom prst="rect">
            <a:avLst/>
          </a:prstGeom>
          <a:solidFill>
            <a:srgbClr val="2587C5"/>
          </a:solidFill>
          <a:ln/>
        </p:spPr>
      </p:sp>
      <p:sp>
        <p:nvSpPr>
          <p:cNvPr id="13" name="Text 11"/>
          <p:cNvSpPr txBox="1"/>
          <p:nvPr/>
        </p:nvSpPr>
        <p:spPr>
          <a:xfrm>
            <a:off x="7452360" y="187452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2C4A"/>
                </a:solidFill>
                <a:latin typeface="Inter" pitchFamily="34" charset="0"/>
                <a:ea typeface="Inter" pitchFamily="34" charset="-122"/>
                <a:cs typeface="Inter" pitchFamily="34" charset="-120"/>
              </a:rPr>
              <a:t>80.8%</a:t>
            </a:r>
            <a:endParaRPr lang="en-US" sz="3000" dirty="0"/>
          </a:p>
        </p:txBody>
      </p:sp>
      <p:sp>
        <p:nvSpPr>
          <p:cNvPr id="14" name="Text 12"/>
          <p:cNvSpPr txBox="1"/>
          <p:nvPr/>
        </p:nvSpPr>
        <p:spPr>
          <a:xfrm>
            <a:off x="7452360" y="2441448"/>
            <a:ext cx="4023360" cy="121158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CP labor gross profit, down 0.1 pts. Just above the 78-80% target.</a:t>
            </a:r>
            <a:endParaRPr lang="en-US" sz="1400" dirty="0"/>
          </a:p>
        </p:txBody>
      </p:sp>
      <p:sp>
        <p:nvSpPr>
          <p:cNvPr id="15" name="Shape 13"/>
          <p:cNvSpPr/>
          <p:nvPr/>
        </p:nvSpPr>
        <p:spPr>
          <a:xfrm>
            <a:off x="7269480" y="3863340"/>
            <a:ext cx="54864" cy="1714500"/>
          </a:xfrm>
          <a:prstGeom prst="rect">
            <a:avLst/>
          </a:prstGeom>
          <a:solidFill>
            <a:srgbClr val="12A566"/>
          </a:solidFill>
          <a:ln/>
        </p:spPr>
      </p:sp>
      <p:sp>
        <p:nvSpPr>
          <p:cNvPr id="16" name="Text 14"/>
          <p:cNvSpPr txBox="1"/>
          <p:nvPr/>
        </p:nvSpPr>
        <p:spPr>
          <a:xfrm>
            <a:off x="7452360" y="381762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7A4A"/>
                </a:solidFill>
                <a:latin typeface="Inter" pitchFamily="34" charset="0"/>
                <a:ea typeface="Inter" pitchFamily="34" charset="-122"/>
                <a:cs typeface="Inter" pitchFamily="34" charset="-120"/>
              </a:rPr>
              <a:t>40.7%</a:t>
            </a:r>
            <a:endParaRPr lang="en-US" sz="3000" dirty="0"/>
          </a:p>
        </p:txBody>
      </p:sp>
      <p:sp>
        <p:nvSpPr>
          <p:cNvPr id="17" name="Text 15"/>
          <p:cNvSpPr txBox="1"/>
          <p:nvPr/>
        </p:nvSpPr>
        <p:spPr>
          <a:xfrm>
            <a:off x="7452360" y="4384548"/>
            <a:ext cx="4023360" cy="121158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CP parts gross profit, up 1.2 pts and ahead in all nine months.</a:t>
            </a:r>
            <a:endParaRPr lang="en-US" sz="1400" dirty="0"/>
          </a:p>
        </p:txBody>
      </p:sp>
      <p:sp>
        <p:nvSpPr>
          <p:cNvPr id="18" name="Shape 16"/>
          <p:cNvSpPr/>
          <p:nvPr/>
        </p:nvSpPr>
        <p:spPr>
          <a:xfrm>
            <a:off x="457200" y="5961888"/>
            <a:ext cx="11274552" cy="548640"/>
          </a:xfrm>
          <a:prstGeom prst="rect">
            <a:avLst/>
          </a:prstGeom>
          <a:solidFill>
            <a:srgbClr val="EDF4FA"/>
          </a:solidFill>
          <a:ln/>
        </p:spPr>
      </p:sp>
      <p:sp>
        <p:nvSpPr>
          <p:cNvPr id="19" name="Text 17"/>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The ask: hold labor margin in the 78-80% band by matching the tech to the job, not by squeezing tech pay.</a:t>
            </a:r>
            <a:endParaRPr lang="en-US" sz="1600" dirty="0"/>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What Is Labor Gross Profit %?</a:t>
            </a:r>
            <a:endParaRPr lang="en-US" sz="2800" dirty="0"/>
          </a:p>
        </p:txBody>
      </p:sp>
      <p:sp>
        <p:nvSpPr>
          <p:cNvPr id="5" name="Shape 3"/>
          <p:cNvSpPr/>
          <p:nvPr/>
        </p:nvSpPr>
        <p:spPr>
          <a:xfrm>
            <a:off x="457200" y="1207008"/>
            <a:ext cx="11274552" cy="1024128"/>
          </a:xfrm>
          <a:prstGeom prst="rect">
            <a:avLst/>
          </a:prstGeom>
          <a:solidFill>
            <a:srgbClr val="EDF4FA"/>
          </a:solidFill>
          <a:ln/>
        </p:spPr>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400" b="1" dirty="0">
                <a:solidFill>
                  <a:srgbClr val="0B2C4A"/>
                </a:solidFill>
                <a:latin typeface="Inter" pitchFamily="34" charset="0"/>
                <a:ea typeface="Inter" pitchFamily="34" charset="-122"/>
                <a:cs typeface="Inter" pitchFamily="34" charset="-120"/>
              </a:rPr>
              <a:t>Labor GP %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(CP labor sale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tech cost)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CP labor sale</a:t>
            </a:r>
            <a:endParaRPr lang="en-US" sz="24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500" dirty="0">
                <a:solidFill>
                  <a:srgbClr val="595959"/>
                </a:solidFill>
                <a:latin typeface="Inter" pitchFamily="34" charset="0"/>
                <a:ea typeface="Inter" pitchFamily="34" charset="-122"/>
                <a:cs typeface="Inter" pitchFamily="34" charset="-120"/>
              </a:rPr>
              <a:t>The share of each labor dollar we keep after paying the technician. The Roundtable target is 78% to 80%.</a:t>
            </a:r>
            <a:endParaRPr lang="en-US" sz="1500" dirty="0"/>
          </a:p>
        </p:txBody>
      </p:sp>
      <p:sp>
        <p:nvSpPr>
          <p:cNvPr id="8" name="Text 6"/>
          <p:cNvSpPr txBox="1"/>
          <p:nvPr/>
        </p:nvSpPr>
        <p:spPr>
          <a:xfrm>
            <a:off x="457200" y="2340864"/>
            <a:ext cx="1828800" cy="457200"/>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Roundtable example</a:t>
            </a:r>
            <a:endParaRPr lang="en-US" sz="1400" dirty="0"/>
          </a:p>
        </p:txBody>
      </p:sp>
      <p:sp>
        <p:nvSpPr>
          <p:cNvPr id="9" name="Shape 7"/>
          <p:cNvSpPr/>
          <p:nvPr/>
        </p:nvSpPr>
        <p:spPr>
          <a:xfrm>
            <a:off x="2286000" y="2340864"/>
            <a:ext cx="1801368" cy="457200"/>
          </a:xfrm>
          <a:prstGeom prst="rect">
            <a:avLst/>
          </a:prstGeom>
          <a:solidFill>
            <a:srgbClr val="FFFFFF"/>
          </a:solidFill>
          <a:ln w="9525">
            <a:solidFill>
              <a:srgbClr val="D9D9D9"/>
            </a:solidFill>
            <a:prstDash val="solid"/>
          </a:ln>
        </p:spPr>
      </p:sp>
      <p:sp>
        <p:nvSpPr>
          <p:cNvPr id="10" name="Text 8"/>
          <p:cNvSpPr txBox="1"/>
          <p:nvPr/>
        </p:nvSpPr>
        <p:spPr>
          <a:xfrm>
            <a:off x="2359152" y="2340864"/>
            <a:ext cx="1655064"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Tire rotation  </a:t>
            </a:r>
            <a:pPr algn="ctr" indent="0" marL="0">
              <a:buNone/>
            </a:pPr>
            <a:r>
              <a:rPr lang="en-US" sz="1400" b="1" dirty="0">
                <a:solidFill>
                  <a:srgbClr val="0B2C4A"/>
                </a:solidFill>
                <a:latin typeface="Inter" pitchFamily="34" charset="0"/>
                <a:ea typeface="Inter" pitchFamily="34" charset="-122"/>
                <a:cs typeface="Inter" pitchFamily="34" charset="-120"/>
              </a:rPr>
              <a:t>62.4%</a:t>
            </a:r>
            <a:endParaRPr lang="en-US" sz="1400" dirty="0"/>
          </a:p>
        </p:txBody>
      </p:sp>
      <p:sp>
        <p:nvSpPr>
          <p:cNvPr id="11" name="Shape 9"/>
          <p:cNvSpPr/>
          <p:nvPr/>
        </p:nvSpPr>
        <p:spPr>
          <a:xfrm>
            <a:off x="4197096" y="2340864"/>
            <a:ext cx="1801368" cy="457200"/>
          </a:xfrm>
          <a:prstGeom prst="rect">
            <a:avLst/>
          </a:prstGeom>
          <a:solidFill>
            <a:srgbClr val="FFFFFF"/>
          </a:solidFill>
          <a:ln w="9525">
            <a:solidFill>
              <a:srgbClr val="D9D9D9"/>
            </a:solidFill>
            <a:prstDash val="solid"/>
          </a:ln>
        </p:spPr>
      </p:sp>
      <p:sp>
        <p:nvSpPr>
          <p:cNvPr id="12" name="Text 10"/>
          <p:cNvSpPr txBox="1"/>
          <p:nvPr/>
        </p:nvSpPr>
        <p:spPr>
          <a:xfrm>
            <a:off x="4270248" y="2340864"/>
            <a:ext cx="1655064"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Oil change  </a:t>
            </a:r>
            <a:pPr algn="ctr" indent="0" marL="0">
              <a:buNone/>
            </a:pPr>
            <a:r>
              <a:rPr lang="en-US" sz="1400" b="1" dirty="0">
                <a:solidFill>
                  <a:srgbClr val="0B2C4A"/>
                </a:solidFill>
                <a:latin typeface="Inter" pitchFamily="34" charset="0"/>
                <a:ea typeface="Inter" pitchFamily="34" charset="-122"/>
                <a:cs typeface="Inter" pitchFamily="34" charset="-120"/>
              </a:rPr>
              <a:t>68.8%</a:t>
            </a:r>
            <a:endParaRPr lang="en-US" sz="1400" dirty="0"/>
          </a:p>
        </p:txBody>
      </p:sp>
      <p:sp>
        <p:nvSpPr>
          <p:cNvPr id="13" name="Shape 11"/>
          <p:cNvSpPr/>
          <p:nvPr/>
        </p:nvSpPr>
        <p:spPr>
          <a:xfrm>
            <a:off x="6108192" y="2340864"/>
            <a:ext cx="1801368" cy="457200"/>
          </a:xfrm>
          <a:prstGeom prst="rect">
            <a:avLst/>
          </a:prstGeom>
          <a:solidFill>
            <a:srgbClr val="FFFFFF"/>
          </a:solidFill>
          <a:ln w="9525">
            <a:solidFill>
              <a:srgbClr val="D9D9D9"/>
            </a:solidFill>
            <a:prstDash val="solid"/>
          </a:ln>
        </p:spPr>
      </p:sp>
      <p:sp>
        <p:nvSpPr>
          <p:cNvPr id="14" name="Text 12"/>
          <p:cNvSpPr txBox="1"/>
          <p:nvPr/>
        </p:nvSpPr>
        <p:spPr>
          <a:xfrm>
            <a:off x="6181344" y="2340864"/>
            <a:ext cx="1655064"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Alignment  </a:t>
            </a:r>
            <a:pPr algn="ctr" indent="0" marL="0">
              <a:buNone/>
            </a:pPr>
            <a:r>
              <a:rPr lang="en-US" sz="1400" b="1" dirty="0">
                <a:solidFill>
                  <a:srgbClr val="0B2C4A"/>
                </a:solidFill>
                <a:latin typeface="Inter" pitchFamily="34" charset="0"/>
                <a:ea typeface="Inter" pitchFamily="34" charset="-122"/>
                <a:cs typeface="Inter" pitchFamily="34" charset="-120"/>
              </a:rPr>
              <a:t>78.7%</a:t>
            </a:r>
            <a:endParaRPr lang="en-US" sz="1400" dirty="0"/>
          </a:p>
        </p:txBody>
      </p:sp>
      <p:sp>
        <p:nvSpPr>
          <p:cNvPr id="15" name="Shape 13"/>
          <p:cNvSpPr/>
          <p:nvPr/>
        </p:nvSpPr>
        <p:spPr>
          <a:xfrm>
            <a:off x="8019288" y="2340864"/>
            <a:ext cx="1801368" cy="457200"/>
          </a:xfrm>
          <a:prstGeom prst="rect">
            <a:avLst/>
          </a:prstGeom>
          <a:solidFill>
            <a:srgbClr val="FFFFFF"/>
          </a:solidFill>
          <a:ln w="9525">
            <a:solidFill>
              <a:srgbClr val="D9D9D9"/>
            </a:solidFill>
            <a:prstDash val="solid"/>
          </a:ln>
        </p:spPr>
      </p:sp>
      <p:sp>
        <p:nvSpPr>
          <p:cNvPr id="16" name="Text 14"/>
          <p:cNvSpPr txBox="1"/>
          <p:nvPr/>
        </p:nvSpPr>
        <p:spPr>
          <a:xfrm>
            <a:off x="8092440" y="2340864"/>
            <a:ext cx="1655064"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Steering rack  </a:t>
            </a:r>
            <a:pPr algn="ctr" indent="0" marL="0">
              <a:buNone/>
            </a:pPr>
            <a:r>
              <a:rPr lang="en-US" sz="1400" b="1" dirty="0">
                <a:solidFill>
                  <a:srgbClr val="0B2C4A"/>
                </a:solidFill>
                <a:latin typeface="Inter" pitchFamily="34" charset="0"/>
                <a:ea typeface="Inter" pitchFamily="34" charset="-122"/>
                <a:cs typeface="Inter" pitchFamily="34" charset="-120"/>
              </a:rPr>
              <a:t>84.4%</a:t>
            </a:r>
            <a:endParaRPr lang="en-US" sz="1400" dirty="0"/>
          </a:p>
        </p:txBody>
      </p:sp>
      <p:sp>
        <p:nvSpPr>
          <p:cNvPr id="17" name="Shape 15"/>
          <p:cNvSpPr/>
          <p:nvPr/>
        </p:nvSpPr>
        <p:spPr>
          <a:xfrm>
            <a:off x="9930384" y="2340864"/>
            <a:ext cx="1801368" cy="457200"/>
          </a:xfrm>
          <a:prstGeom prst="rect">
            <a:avLst/>
          </a:prstGeom>
          <a:solidFill>
            <a:srgbClr val="FFFFFF"/>
          </a:solidFill>
          <a:ln w="9525">
            <a:solidFill>
              <a:srgbClr val="D9D9D9"/>
            </a:solidFill>
            <a:prstDash val="solid"/>
          </a:ln>
        </p:spPr>
      </p:sp>
      <p:sp>
        <p:nvSpPr>
          <p:cNvPr id="18" name="Text 16"/>
          <p:cNvSpPr txBox="1"/>
          <p:nvPr/>
        </p:nvSpPr>
        <p:spPr>
          <a:xfrm>
            <a:off x="10003536" y="2340864"/>
            <a:ext cx="1655064"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All 7 jobs  </a:t>
            </a:r>
            <a:pPr algn="ctr" indent="0" marL="0">
              <a:buNone/>
            </a:pPr>
            <a:r>
              <a:rPr lang="en-US" sz="1400" b="1" dirty="0">
                <a:solidFill>
                  <a:srgbClr val="0B2C4A"/>
                </a:solidFill>
                <a:latin typeface="Inter" pitchFamily="34" charset="0"/>
                <a:ea typeface="Inter" pitchFamily="34" charset="-122"/>
                <a:cs typeface="Inter" pitchFamily="34" charset="-120"/>
              </a:rPr>
              <a:t>80.8%</a:t>
            </a:r>
            <a:endParaRPr lang="en-US" sz="1400" dirty="0"/>
          </a:p>
        </p:txBody>
      </p:sp>
      <p:sp>
        <p:nvSpPr>
          <p:cNvPr id="19" name="Shape 17"/>
          <p:cNvSpPr/>
          <p:nvPr/>
        </p:nvSpPr>
        <p:spPr>
          <a:xfrm>
            <a:off x="457200" y="2907792"/>
            <a:ext cx="4343400" cy="2944368"/>
          </a:xfrm>
          <a:prstGeom prst="rect">
            <a:avLst/>
          </a:prstGeom>
          <a:solidFill>
            <a:srgbClr val="FFFFFF"/>
          </a:solidFill>
          <a:ln/>
        </p:spPr>
      </p:sp>
      <p:sp>
        <p:nvSpPr>
          <p:cNvPr id="20" name="Shape 18"/>
          <p:cNvSpPr/>
          <p:nvPr/>
        </p:nvSpPr>
        <p:spPr>
          <a:xfrm>
            <a:off x="4937760" y="2907792"/>
            <a:ext cx="6793992" cy="2944368"/>
          </a:xfrm>
          <a:prstGeom prst="rect">
            <a:avLst/>
          </a:prstGeom>
          <a:solidFill>
            <a:srgbClr val="FFFFFF"/>
          </a:solidFill>
          <a:ln/>
        </p:spPr>
      </p:sp>
      <p:sp>
        <p:nvSpPr>
          <p:cNvPr id="21" name="Text 19"/>
          <p:cNvSpPr txBox="1"/>
          <p:nvPr/>
        </p:nvSpPr>
        <p:spPr>
          <a:xfrm>
            <a:off x="658368" y="3035808"/>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WHY IT MATTERS</a:t>
            </a:r>
            <a:endParaRPr lang="en-US" sz="1400" dirty="0"/>
          </a:p>
        </p:txBody>
      </p:sp>
      <p:sp>
        <p:nvSpPr>
          <p:cNvPr id="22" name="Text 20"/>
          <p:cNvSpPr txBox="1"/>
          <p:nvPr/>
        </p:nvSpPr>
        <p:spPr>
          <a:xfrm>
            <a:off x="5138928" y="3035808"/>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MOVES IT</a:t>
            </a:r>
            <a:endParaRPr lang="en-US" sz="1400" dirty="0"/>
          </a:p>
        </p:txBody>
      </p:sp>
      <p:sp>
        <p:nvSpPr>
          <p:cNvPr id="23" name="Text 21"/>
          <p:cNvSpPr txBox="1"/>
          <p:nvPr/>
        </p:nvSpPr>
        <p:spPr>
          <a:xfrm>
            <a:off x="658368" y="3410712"/>
            <a:ext cx="3977640" cy="2304288"/>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Goldilocks: not too high, not too low.</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Too low means tech cost is out of line with what the job sells for.</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Too high can mean techs are underpaid on the work they do, which costs us techs.</a:t>
            </a:r>
            <a:endParaRPr lang="en-US" sz="1500" dirty="0"/>
          </a:p>
        </p:txBody>
      </p:sp>
      <p:sp>
        <p:nvSpPr>
          <p:cNvPr id="24" name="Shape 22"/>
          <p:cNvSpPr/>
          <p:nvPr/>
        </p:nvSpPr>
        <p:spPr>
          <a:xfrm>
            <a:off x="5138928" y="3410712"/>
            <a:ext cx="45720" cy="1065276"/>
          </a:xfrm>
          <a:prstGeom prst="rect">
            <a:avLst/>
          </a:prstGeom>
          <a:solidFill>
            <a:srgbClr val="2587C5"/>
          </a:solidFill>
          <a:ln/>
        </p:spPr>
      </p:sp>
      <p:sp>
        <p:nvSpPr>
          <p:cNvPr id="25" name="Text 23"/>
          <p:cNvSpPr txBox="1"/>
          <p:nvPr/>
        </p:nvSpPr>
        <p:spPr>
          <a:xfrm>
            <a:off x="5266944" y="3410712"/>
            <a:ext cx="1877568" cy="106527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Effective labor rate</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Same tech cost, higher ELR = higher margin</a:t>
            </a:r>
            <a:endParaRPr lang="en-US" sz="1400" dirty="0"/>
          </a:p>
        </p:txBody>
      </p:sp>
      <p:sp>
        <p:nvSpPr>
          <p:cNvPr id="26" name="Shape 24"/>
          <p:cNvSpPr/>
          <p:nvPr/>
        </p:nvSpPr>
        <p:spPr>
          <a:xfrm>
            <a:off x="7309104" y="3410712"/>
            <a:ext cx="45720" cy="1065276"/>
          </a:xfrm>
          <a:prstGeom prst="rect">
            <a:avLst/>
          </a:prstGeom>
          <a:solidFill>
            <a:srgbClr val="2587C5"/>
          </a:solidFill>
          <a:ln/>
        </p:spPr>
      </p:sp>
      <p:sp>
        <p:nvSpPr>
          <p:cNvPr id="27" name="Text 25"/>
          <p:cNvSpPr txBox="1"/>
          <p:nvPr/>
        </p:nvSpPr>
        <p:spPr>
          <a:xfrm>
            <a:off x="7437120" y="3410712"/>
            <a:ext cx="1877568" cy="106527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Tech pay rate</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Flat-rate pay per hour against the rate we sell</a:t>
            </a:r>
            <a:endParaRPr lang="en-US" sz="1400" dirty="0"/>
          </a:p>
        </p:txBody>
      </p:sp>
      <p:sp>
        <p:nvSpPr>
          <p:cNvPr id="28" name="Shape 26"/>
          <p:cNvSpPr/>
          <p:nvPr/>
        </p:nvSpPr>
        <p:spPr>
          <a:xfrm>
            <a:off x="9479280" y="3410712"/>
            <a:ext cx="45720" cy="1065276"/>
          </a:xfrm>
          <a:prstGeom prst="rect">
            <a:avLst/>
          </a:prstGeom>
          <a:solidFill>
            <a:srgbClr val="2587C5"/>
          </a:solidFill>
          <a:ln/>
        </p:spPr>
      </p:sp>
      <p:sp>
        <p:nvSpPr>
          <p:cNvPr id="29" name="Text 27"/>
          <p:cNvSpPr txBox="1"/>
          <p:nvPr/>
        </p:nvSpPr>
        <p:spPr>
          <a:xfrm>
            <a:off x="9607296" y="3410712"/>
            <a:ext cx="1877568" cy="106527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Right tech, right job</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Skill-code costing: don't pay a master-tech rate on an oil change</a:t>
            </a:r>
            <a:endParaRPr lang="en-US" sz="1400" dirty="0"/>
          </a:p>
        </p:txBody>
      </p:sp>
      <p:sp>
        <p:nvSpPr>
          <p:cNvPr id="30" name="Shape 28"/>
          <p:cNvSpPr/>
          <p:nvPr/>
        </p:nvSpPr>
        <p:spPr>
          <a:xfrm>
            <a:off x="5138928" y="4585716"/>
            <a:ext cx="45720" cy="1065276"/>
          </a:xfrm>
          <a:prstGeom prst="rect">
            <a:avLst/>
          </a:prstGeom>
          <a:solidFill>
            <a:srgbClr val="2587C5"/>
          </a:solidFill>
          <a:ln/>
        </p:spPr>
      </p:sp>
      <p:sp>
        <p:nvSpPr>
          <p:cNvPr id="31" name="Text 29"/>
          <p:cNvSpPr txBox="1"/>
          <p:nvPr/>
        </p:nvSpPr>
        <p:spPr>
          <a:xfrm>
            <a:off x="5266944" y="4585716"/>
            <a:ext cx="1877568" cy="106527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Work mix</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Quick maintenance runs lower margin than repair</a:t>
            </a:r>
            <a:endParaRPr lang="en-US" sz="1400" dirty="0"/>
          </a:p>
        </p:txBody>
      </p:sp>
      <p:sp>
        <p:nvSpPr>
          <p:cNvPr id="32" name="Shape 30"/>
          <p:cNvSpPr/>
          <p:nvPr/>
        </p:nvSpPr>
        <p:spPr>
          <a:xfrm>
            <a:off x="7309104" y="4585716"/>
            <a:ext cx="45720" cy="1065276"/>
          </a:xfrm>
          <a:prstGeom prst="rect">
            <a:avLst/>
          </a:prstGeom>
          <a:solidFill>
            <a:srgbClr val="2587C5"/>
          </a:solidFill>
          <a:ln/>
        </p:spPr>
      </p:sp>
      <p:sp>
        <p:nvSpPr>
          <p:cNvPr id="33" name="Text 31"/>
          <p:cNvSpPr txBox="1"/>
          <p:nvPr/>
        </p:nvSpPr>
        <p:spPr>
          <a:xfrm>
            <a:off x="7437120" y="4585716"/>
            <a:ext cx="1877568" cy="106527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Comebacks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Paying twice for the same job</a:t>
            </a:r>
            <a:endParaRPr lang="en-US" sz="1400" dirty="0"/>
          </a:p>
        </p:txBody>
      </p:sp>
      <p:sp>
        <p:nvSpPr>
          <p:cNvPr id="34" name="Shape 32"/>
          <p:cNvSpPr/>
          <p:nvPr/>
        </p:nvSpPr>
        <p:spPr>
          <a:xfrm>
            <a:off x="457200" y="5961888"/>
            <a:ext cx="11274552" cy="548640"/>
          </a:xfrm>
          <a:prstGeom prst="rect">
            <a:avLst/>
          </a:prstGeom>
          <a:solidFill>
            <a:srgbClr val="EDF4FA"/>
          </a:solidFill>
          <a:ln/>
        </p:spPr>
      </p:sp>
      <p:sp>
        <p:nvSpPr>
          <p:cNvPr id="35" name="Text 33"/>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Group: 80.8% CP labor gross profit, down 0.1 pts and just above the 78-80% target.</a:t>
            </a:r>
            <a:endParaRPr lang="en-US" sz="1600" dirty="0"/>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What Is Parts Gross Profit %?</a:t>
            </a:r>
            <a:endParaRPr lang="en-US" sz="2800" dirty="0"/>
          </a:p>
        </p:txBody>
      </p:sp>
      <p:sp>
        <p:nvSpPr>
          <p:cNvPr id="5" name="Shape 3"/>
          <p:cNvSpPr/>
          <p:nvPr/>
        </p:nvSpPr>
        <p:spPr>
          <a:xfrm>
            <a:off x="457200" y="1207008"/>
            <a:ext cx="11274552" cy="1024128"/>
          </a:xfrm>
          <a:prstGeom prst="rect">
            <a:avLst/>
          </a:prstGeom>
          <a:solidFill>
            <a:srgbClr val="EDF4FA"/>
          </a:solidFill>
          <a:ln/>
        </p:spPr>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400" b="1" dirty="0">
                <a:solidFill>
                  <a:srgbClr val="0B2C4A"/>
                </a:solidFill>
                <a:latin typeface="Inter" pitchFamily="34" charset="0"/>
                <a:ea typeface="Inter" pitchFamily="34" charset="-122"/>
                <a:cs typeface="Inter" pitchFamily="34" charset="-120"/>
              </a:rPr>
              <a:t>Parts GP %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(CP parts sale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parts cost)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CP parts sale</a:t>
            </a:r>
            <a:endParaRPr lang="en-US" sz="24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500" dirty="0">
                <a:solidFill>
                  <a:srgbClr val="595959"/>
                </a:solidFill>
                <a:latin typeface="Inter" pitchFamily="34" charset="0"/>
                <a:ea typeface="Inter" pitchFamily="34" charset="-122"/>
                <a:cs typeface="Inter" pitchFamily="34" charset="-120"/>
              </a:rPr>
              <a:t>The share of each customer-pay parts dollar we keep after the cost of the part.</a:t>
            </a:r>
            <a:endParaRPr lang="en-US" sz="1500" dirty="0"/>
          </a:p>
        </p:txBody>
      </p:sp>
      <p:sp>
        <p:nvSpPr>
          <p:cNvPr id="8" name="Shape 6"/>
          <p:cNvSpPr/>
          <p:nvPr/>
        </p:nvSpPr>
        <p:spPr>
          <a:xfrm>
            <a:off x="457200" y="2340864"/>
            <a:ext cx="4343400" cy="3511296"/>
          </a:xfrm>
          <a:prstGeom prst="rect">
            <a:avLst/>
          </a:prstGeom>
          <a:solidFill>
            <a:srgbClr val="FFFFFF"/>
          </a:solidFill>
          <a:ln/>
        </p:spPr>
      </p:sp>
      <p:sp>
        <p:nvSpPr>
          <p:cNvPr id="9" name="Shape 7"/>
          <p:cNvSpPr/>
          <p:nvPr/>
        </p:nvSpPr>
        <p:spPr>
          <a:xfrm>
            <a:off x="4937760" y="2340864"/>
            <a:ext cx="6793992" cy="3511296"/>
          </a:xfrm>
          <a:prstGeom prst="rect">
            <a:avLst/>
          </a:prstGeom>
          <a:solidFill>
            <a:srgbClr val="FFFFFF"/>
          </a:solidFill>
          <a:ln/>
        </p:spPr>
      </p:sp>
      <p:sp>
        <p:nvSpPr>
          <p:cNvPr id="10" name="Text 8"/>
          <p:cNvSpPr txBox="1"/>
          <p:nvPr/>
        </p:nvSpPr>
        <p:spPr>
          <a:xfrm>
            <a:off x="658368" y="2468880"/>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WHY IT MATTERS</a:t>
            </a:r>
            <a:endParaRPr lang="en-US" sz="1400" dirty="0"/>
          </a:p>
        </p:txBody>
      </p:sp>
      <p:sp>
        <p:nvSpPr>
          <p:cNvPr id="11" name="Text 9"/>
          <p:cNvSpPr txBox="1"/>
          <p:nvPr/>
        </p:nvSpPr>
        <p:spPr>
          <a:xfrm>
            <a:off x="5138928" y="2468880"/>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MOVES IT</a:t>
            </a:r>
            <a:endParaRPr lang="en-US" sz="1400" dirty="0"/>
          </a:p>
        </p:txBody>
      </p:sp>
      <p:sp>
        <p:nvSpPr>
          <p:cNvPr id="12" name="Text 10"/>
          <p:cNvSpPr txBox="1"/>
          <p:nvPr/>
        </p:nvSpPr>
        <p:spPr>
          <a:xfrm>
            <a:off x="658368" y="2843784"/>
            <a:ext cx="3977640" cy="2871216"/>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It is the other half of the gross on every RO.</a:t>
            </a:r>
            <a:endParaRPr lang="en-US" sz="1600" dirty="0"/>
          </a:p>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Small changes add up across every RO in the group.</a:t>
            </a:r>
            <a:endParaRPr lang="en-US" sz="1600" dirty="0"/>
          </a:p>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It shows whether pricing and discounting are under control.</a:t>
            </a:r>
            <a:endParaRPr lang="en-US" sz="1600" dirty="0"/>
          </a:p>
        </p:txBody>
      </p:sp>
      <p:sp>
        <p:nvSpPr>
          <p:cNvPr id="13" name="Shape 11"/>
          <p:cNvSpPr/>
          <p:nvPr/>
        </p:nvSpPr>
        <p:spPr>
          <a:xfrm>
            <a:off x="5138928" y="2843784"/>
            <a:ext cx="45720" cy="1348740"/>
          </a:xfrm>
          <a:prstGeom prst="rect">
            <a:avLst/>
          </a:prstGeom>
          <a:solidFill>
            <a:srgbClr val="2587C5"/>
          </a:solidFill>
          <a:ln/>
        </p:spPr>
      </p:sp>
      <p:sp>
        <p:nvSpPr>
          <p:cNvPr id="14" name="Text 12"/>
          <p:cNvSpPr txBox="1"/>
          <p:nvPr/>
        </p:nvSpPr>
        <p:spPr>
          <a:xfrm>
            <a:off x="5266944" y="2843784"/>
            <a:ext cx="2962656" cy="1348740"/>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Parts pricing matrix</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Markup by cost band; set and reviewed</a:t>
            </a:r>
            <a:endParaRPr lang="en-US" sz="1400" dirty="0"/>
          </a:p>
        </p:txBody>
      </p:sp>
      <p:sp>
        <p:nvSpPr>
          <p:cNvPr id="15" name="Shape 13"/>
          <p:cNvSpPr/>
          <p:nvPr/>
        </p:nvSpPr>
        <p:spPr>
          <a:xfrm>
            <a:off x="8394192" y="2843784"/>
            <a:ext cx="45720" cy="1348740"/>
          </a:xfrm>
          <a:prstGeom prst="rect">
            <a:avLst/>
          </a:prstGeom>
          <a:solidFill>
            <a:srgbClr val="2587C5"/>
          </a:solidFill>
          <a:ln/>
        </p:spPr>
      </p:sp>
      <p:sp>
        <p:nvSpPr>
          <p:cNvPr id="16" name="Text 14"/>
          <p:cNvSpPr txBox="1"/>
          <p:nvPr/>
        </p:nvSpPr>
        <p:spPr>
          <a:xfrm>
            <a:off x="8522208" y="2843784"/>
            <a:ext cx="2962656" cy="1348740"/>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Discounts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No direct price changes. ADC-controlled discounting only.</a:t>
            </a:r>
            <a:endParaRPr lang="en-US" sz="1400" dirty="0"/>
          </a:p>
        </p:txBody>
      </p:sp>
      <p:sp>
        <p:nvSpPr>
          <p:cNvPr id="17" name="Shape 15"/>
          <p:cNvSpPr/>
          <p:nvPr/>
        </p:nvSpPr>
        <p:spPr>
          <a:xfrm>
            <a:off x="5138928" y="4302252"/>
            <a:ext cx="45720" cy="1348740"/>
          </a:xfrm>
          <a:prstGeom prst="rect">
            <a:avLst/>
          </a:prstGeom>
          <a:solidFill>
            <a:srgbClr val="2587C5"/>
          </a:solidFill>
          <a:ln/>
        </p:spPr>
      </p:sp>
      <p:sp>
        <p:nvSpPr>
          <p:cNvPr id="18" name="Text 16"/>
          <p:cNvSpPr txBox="1"/>
          <p:nvPr/>
        </p:nvSpPr>
        <p:spPr>
          <a:xfrm>
            <a:off x="5266944" y="4302252"/>
            <a:ext cx="2962656" cy="1348740"/>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Mix</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Tires and competitive items carry thinner margins</a:t>
            </a:r>
            <a:endParaRPr lang="en-US" sz="1400" dirty="0"/>
          </a:p>
        </p:txBody>
      </p:sp>
      <p:sp>
        <p:nvSpPr>
          <p:cNvPr id="19" name="Shape 17"/>
          <p:cNvSpPr/>
          <p:nvPr/>
        </p:nvSpPr>
        <p:spPr>
          <a:xfrm>
            <a:off x="8394192" y="4302252"/>
            <a:ext cx="45720" cy="1348740"/>
          </a:xfrm>
          <a:prstGeom prst="rect">
            <a:avLst/>
          </a:prstGeom>
          <a:solidFill>
            <a:srgbClr val="2587C5"/>
          </a:solidFill>
          <a:ln/>
        </p:spPr>
      </p:sp>
      <p:sp>
        <p:nvSpPr>
          <p:cNvPr id="20" name="Text 18"/>
          <p:cNvSpPr txBox="1"/>
          <p:nvPr/>
        </p:nvSpPr>
        <p:spPr>
          <a:xfrm>
            <a:off x="8522208" y="4302252"/>
            <a:ext cx="2962656" cy="1348740"/>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Menu pricing</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Bundled maintenance parts priced to protect margin</a:t>
            </a:r>
            <a:endParaRPr lang="en-US" sz="1400" dirty="0"/>
          </a:p>
        </p:txBody>
      </p:sp>
      <p:sp>
        <p:nvSpPr>
          <p:cNvPr id="21" name="Shape 19"/>
          <p:cNvSpPr/>
          <p:nvPr/>
        </p:nvSpPr>
        <p:spPr>
          <a:xfrm>
            <a:off x="457200" y="5961888"/>
            <a:ext cx="11274552" cy="548640"/>
          </a:xfrm>
          <a:prstGeom prst="rect">
            <a:avLst/>
          </a:prstGeom>
          <a:solidFill>
            <a:srgbClr val="E6F6EE"/>
          </a:solidFill>
          <a:ln/>
        </p:spPr>
      </p:sp>
      <p:sp>
        <p:nvSpPr>
          <p:cNvPr id="22" name="Text 20"/>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Group: 40.7% CP parts gross profit, up 1.2 pts and ahead of 2025 in all nine months.</a:t>
            </a:r>
            <a:endParaRPr lang="en-US" sz="1600" dirty="0"/>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 · WHO'S MOVING NOW</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Who's Moving Now: CP Parts GP %</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713232" y="1298448"/>
            <a:ext cx="10762488" cy="310896"/>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Q1 → Q3 2026. Group 40.6% → 40.6%, 0.0 pts: that is the season. 18 of 33 stores beat it.</a:t>
            </a:r>
            <a:endParaRPr lang="en-US" sz="1400" dirty="0"/>
          </a:p>
        </p:txBody>
      </p:sp>
      <p:sp>
        <p:nvSpPr>
          <p:cNvPr id="7" name="Text 5"/>
          <p:cNvSpPr txBox="1"/>
          <p:nvPr/>
        </p:nvSpPr>
        <p:spPr>
          <a:xfrm>
            <a:off x="3657600" y="1682496"/>
            <a:ext cx="1554480" cy="274320"/>
          </a:xfrm>
          <a:prstGeom prst="rect">
            <a:avLst/>
          </a:prstGeom>
          <a:noFill/>
          <a:ln/>
        </p:spPr>
        <p:txBody>
          <a:bodyPr wrap="square" lIns="0" tIns="0" rIns="0" bIns="0" rtlCol="0" anchor="ctr"/>
          <a:lstStyle/>
          <a:p>
            <a:pPr algn="l" indent="0" marL="0">
              <a:buNone/>
            </a:pPr>
            <a:r>
              <a:rPr lang="en-US" sz="1400" b="1" dirty="0">
                <a:solidFill>
                  <a:srgbClr val="595959"/>
                </a:solidFill>
                <a:latin typeface="Inter" pitchFamily="34" charset="0"/>
                <a:ea typeface="Inter" pitchFamily="34" charset="-122"/>
                <a:cs typeface="Inter" pitchFamily="34" charset="-120"/>
              </a:rPr>
              <a:t>Q1 → Q3</a:t>
            </a:r>
            <a:endParaRPr lang="en-US" sz="1400" dirty="0"/>
          </a:p>
        </p:txBody>
      </p:sp>
      <p:sp>
        <p:nvSpPr>
          <p:cNvPr id="8" name="Text 6"/>
          <p:cNvSpPr txBox="1"/>
          <p:nvPr/>
        </p:nvSpPr>
        <p:spPr>
          <a:xfrm>
            <a:off x="5349240" y="1682496"/>
            <a:ext cx="2651760" cy="274320"/>
          </a:xfrm>
          <a:prstGeom prst="rect">
            <a:avLst/>
          </a:prstGeom>
          <a:noFill/>
          <a:ln/>
        </p:spPr>
        <p:txBody>
          <a:bodyPr wrap="square" lIns="0" tIns="0" rIns="0" bIns="0" rtlCol="0" anchor="ctr"/>
          <a:lstStyle/>
          <a:p>
            <a:pPr algn="l" indent="0" marL="0">
              <a:buNone/>
            </a:pPr>
            <a:r>
              <a:rPr lang="en-US" sz="1400" b="1" dirty="0">
                <a:solidFill>
                  <a:srgbClr val="595959"/>
                </a:solidFill>
                <a:latin typeface="Inter" pitchFamily="34" charset="0"/>
                <a:ea typeface="Inter" pitchFamily="34" charset="-122"/>
                <a:cs typeface="Inter" pitchFamily="34" charset="-120"/>
              </a:rPr>
              <a:t>Jan – Sep 2026, by month</a:t>
            </a:r>
            <a:endParaRPr lang="en-US" sz="1400" dirty="0"/>
          </a:p>
        </p:txBody>
      </p:sp>
      <p:sp>
        <p:nvSpPr>
          <p:cNvPr id="9" name="Text 7"/>
          <p:cNvSpPr txBox="1"/>
          <p:nvPr/>
        </p:nvSpPr>
        <p:spPr>
          <a:xfrm>
            <a:off x="8183880" y="1682496"/>
            <a:ext cx="1737360" cy="274320"/>
          </a:xfrm>
          <a:prstGeom prst="rect">
            <a:avLst/>
          </a:prstGeom>
          <a:noFill/>
          <a:ln/>
        </p:spPr>
        <p:txBody>
          <a:bodyPr wrap="square" lIns="0" tIns="0" rIns="0" bIns="0" rtlCol="0" anchor="ctr"/>
          <a:lstStyle/>
          <a:p>
            <a:pPr algn="l" indent="0" marL="0">
              <a:buNone/>
            </a:pPr>
            <a:r>
              <a:rPr lang="en-US" sz="1400" b="1" dirty="0">
                <a:solidFill>
                  <a:srgbClr val="595959"/>
                </a:solidFill>
                <a:latin typeface="Inter" pitchFamily="34" charset="0"/>
                <a:ea typeface="Inter" pitchFamily="34" charset="-122"/>
                <a:cs typeface="Inter" pitchFamily="34" charset="-120"/>
              </a:rPr>
              <a:t>Stepped up in</a:t>
            </a:r>
            <a:endParaRPr lang="en-US" sz="1400" dirty="0"/>
          </a:p>
        </p:txBody>
      </p:sp>
      <p:sp>
        <p:nvSpPr>
          <p:cNvPr id="10" name="Text 8"/>
          <p:cNvSpPr txBox="1"/>
          <p:nvPr/>
        </p:nvSpPr>
        <p:spPr>
          <a:xfrm>
            <a:off x="10195560" y="1682496"/>
            <a:ext cx="1371600" cy="274320"/>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Q1 → Q3</a:t>
            </a:r>
            <a:endParaRPr lang="en-US" sz="1400" dirty="0"/>
          </a:p>
        </p:txBody>
      </p:sp>
      <p:sp>
        <p:nvSpPr>
          <p:cNvPr id="11" name="Shape 9"/>
          <p:cNvSpPr/>
          <p:nvPr/>
        </p:nvSpPr>
        <p:spPr>
          <a:xfrm>
            <a:off x="621792" y="1993392"/>
            <a:ext cx="10945368" cy="382219"/>
          </a:xfrm>
          <a:prstGeom prst="rect">
            <a:avLst/>
          </a:prstGeom>
          <a:solidFill>
            <a:srgbClr val="F7F7F7"/>
          </a:solidFill>
          <a:ln/>
        </p:spPr>
      </p:sp>
      <p:sp>
        <p:nvSpPr>
          <p:cNvPr id="12" name="Text 10"/>
          <p:cNvSpPr txBox="1"/>
          <p:nvPr/>
        </p:nvSpPr>
        <p:spPr>
          <a:xfrm>
            <a:off x="749808" y="1993392"/>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3" name="Text 11"/>
          <p:cNvSpPr txBox="1"/>
          <p:nvPr/>
        </p:nvSpPr>
        <p:spPr>
          <a:xfrm>
            <a:off x="1097280" y="1993392"/>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ACURA</a:t>
            </a:r>
            <a:endParaRPr lang="en-US" sz="1400" dirty="0"/>
          </a:p>
        </p:txBody>
      </p:sp>
      <p:sp>
        <p:nvSpPr>
          <p:cNvPr id="14" name="Text 12"/>
          <p:cNvSpPr txBox="1"/>
          <p:nvPr/>
        </p:nvSpPr>
        <p:spPr>
          <a:xfrm>
            <a:off x="3657600" y="1993392"/>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39.4% → 46.6%</a:t>
            </a:r>
            <a:endParaRPr lang="en-US" sz="1400" dirty="0"/>
          </a:p>
        </p:txBody>
      </p:sp>
      <p:graphicFrame>
        <p:nvGraphicFramePr>
          <p:cNvPr id="15" name="Chart 0" descr=""/>
          <p:cNvGraphicFramePr/>
          <p:nvPr/>
        </p:nvGraphicFramePr>
        <p:xfrm>
          <a:off x="5276088" y="2011680"/>
          <a:ext cx="2697480" cy="345643"/>
        </p:xfrm>
        <a:graphic>
          <a:graphicData uri="http://schemas.openxmlformats.org/drawingml/2006/chart">
            <c:chart xmlns:c="http://schemas.openxmlformats.org/drawingml/2006/chart" r:id="rId2"/>
          </a:graphicData>
        </a:graphic>
      </p:graphicFrame>
      <p:sp>
        <p:nvSpPr>
          <p:cNvPr id="16" name="Text 13"/>
          <p:cNvSpPr txBox="1"/>
          <p:nvPr/>
        </p:nvSpPr>
        <p:spPr>
          <a:xfrm>
            <a:off x="8183880" y="1993392"/>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April</a:t>
            </a:r>
            <a:endParaRPr lang="en-US" sz="1400" dirty="0"/>
          </a:p>
        </p:txBody>
      </p:sp>
      <p:sp>
        <p:nvSpPr>
          <p:cNvPr id="17" name="Text 14"/>
          <p:cNvSpPr txBox="1"/>
          <p:nvPr/>
        </p:nvSpPr>
        <p:spPr>
          <a:xfrm>
            <a:off x="10195560" y="1993392"/>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+7.2 pts</a:t>
            </a:r>
            <a:endParaRPr lang="en-US" sz="1600" dirty="0"/>
          </a:p>
        </p:txBody>
      </p:sp>
      <p:sp>
        <p:nvSpPr>
          <p:cNvPr id="18" name="Text 15"/>
          <p:cNvSpPr txBox="1"/>
          <p:nvPr/>
        </p:nvSpPr>
        <p:spPr>
          <a:xfrm>
            <a:off x="749808" y="2375611"/>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9" name="Text 16"/>
          <p:cNvSpPr txBox="1"/>
          <p:nvPr/>
        </p:nvSpPr>
        <p:spPr>
          <a:xfrm>
            <a:off x="1097280" y="2375611"/>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p:txBody>
      </p:sp>
      <p:sp>
        <p:nvSpPr>
          <p:cNvPr id="20" name="Text 17"/>
          <p:cNvSpPr txBox="1"/>
          <p:nvPr/>
        </p:nvSpPr>
        <p:spPr>
          <a:xfrm>
            <a:off x="3657600" y="2375611"/>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39.1% → 43.8%</a:t>
            </a:r>
            <a:endParaRPr lang="en-US" sz="1400" dirty="0"/>
          </a:p>
        </p:txBody>
      </p:sp>
      <p:graphicFrame>
        <p:nvGraphicFramePr>
          <p:cNvPr id="21" name="Chart 1" descr=""/>
          <p:cNvGraphicFramePr/>
          <p:nvPr/>
        </p:nvGraphicFramePr>
        <p:xfrm>
          <a:off x="5276088" y="2393899"/>
          <a:ext cx="2697480" cy="345643"/>
        </p:xfrm>
        <a:graphic>
          <a:graphicData uri="http://schemas.openxmlformats.org/drawingml/2006/chart">
            <c:chart xmlns:c="http://schemas.openxmlformats.org/drawingml/2006/chart" r:id="rId3"/>
          </a:graphicData>
        </a:graphic>
      </p:graphicFrame>
      <p:sp>
        <p:nvSpPr>
          <p:cNvPr id="22" name="Text 18"/>
          <p:cNvSpPr txBox="1"/>
          <p:nvPr/>
        </p:nvSpPr>
        <p:spPr>
          <a:xfrm>
            <a:off x="8183880" y="2375611"/>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April</a:t>
            </a:r>
            <a:endParaRPr lang="en-US" sz="1400" dirty="0"/>
          </a:p>
        </p:txBody>
      </p:sp>
      <p:sp>
        <p:nvSpPr>
          <p:cNvPr id="23" name="Text 19"/>
          <p:cNvSpPr txBox="1"/>
          <p:nvPr/>
        </p:nvSpPr>
        <p:spPr>
          <a:xfrm>
            <a:off x="10195560" y="2375611"/>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+4.6 pts</a:t>
            </a:r>
            <a:endParaRPr lang="en-US" sz="1600" dirty="0"/>
          </a:p>
        </p:txBody>
      </p:sp>
      <p:sp>
        <p:nvSpPr>
          <p:cNvPr id="24" name="Shape 20"/>
          <p:cNvSpPr/>
          <p:nvPr/>
        </p:nvSpPr>
        <p:spPr>
          <a:xfrm>
            <a:off x="621792" y="2757830"/>
            <a:ext cx="10945368" cy="382219"/>
          </a:xfrm>
          <a:prstGeom prst="rect">
            <a:avLst/>
          </a:prstGeom>
          <a:solidFill>
            <a:srgbClr val="F7F7F7"/>
          </a:solidFill>
          <a:ln/>
        </p:spPr>
      </p:sp>
      <p:sp>
        <p:nvSpPr>
          <p:cNvPr id="25" name="Text 21"/>
          <p:cNvSpPr txBox="1"/>
          <p:nvPr/>
        </p:nvSpPr>
        <p:spPr>
          <a:xfrm>
            <a:off x="749808" y="2757830"/>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6" name="Text 22"/>
          <p:cNvSpPr txBox="1"/>
          <p:nvPr/>
        </p:nvSpPr>
        <p:spPr>
          <a:xfrm>
            <a:off x="1097280" y="2757830"/>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GMC PRESCOTT</a:t>
            </a:r>
            <a:endParaRPr lang="en-US" sz="1400" dirty="0"/>
          </a:p>
        </p:txBody>
      </p:sp>
      <p:sp>
        <p:nvSpPr>
          <p:cNvPr id="27" name="Text 23"/>
          <p:cNvSpPr txBox="1"/>
          <p:nvPr/>
        </p:nvSpPr>
        <p:spPr>
          <a:xfrm>
            <a:off x="3657600" y="2757830"/>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35.3% → 39.2%</a:t>
            </a:r>
            <a:endParaRPr lang="en-US" sz="1400" dirty="0"/>
          </a:p>
        </p:txBody>
      </p:sp>
      <p:graphicFrame>
        <p:nvGraphicFramePr>
          <p:cNvPr id="28" name="Chart 2" descr=""/>
          <p:cNvGraphicFramePr/>
          <p:nvPr/>
        </p:nvGraphicFramePr>
        <p:xfrm>
          <a:off x="5276088" y="2776118"/>
          <a:ext cx="2697480" cy="345643"/>
        </p:xfrm>
        <a:graphic>
          <a:graphicData uri="http://schemas.openxmlformats.org/drawingml/2006/chart">
            <c:chart xmlns:c="http://schemas.openxmlformats.org/drawingml/2006/chart" r:id="rId4"/>
          </a:graphicData>
        </a:graphic>
      </p:graphicFrame>
      <p:sp>
        <p:nvSpPr>
          <p:cNvPr id="29" name="Text 24"/>
          <p:cNvSpPr txBox="1"/>
          <p:nvPr/>
        </p:nvSpPr>
        <p:spPr>
          <a:xfrm>
            <a:off x="8183880" y="2757830"/>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August</a:t>
            </a:r>
            <a:endParaRPr lang="en-US" sz="1400" dirty="0"/>
          </a:p>
        </p:txBody>
      </p:sp>
      <p:sp>
        <p:nvSpPr>
          <p:cNvPr id="30" name="Text 25"/>
          <p:cNvSpPr txBox="1"/>
          <p:nvPr/>
        </p:nvSpPr>
        <p:spPr>
          <a:xfrm>
            <a:off x="10195560" y="2757830"/>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+3.9 pts</a:t>
            </a:r>
            <a:endParaRPr lang="en-US" sz="1600" dirty="0"/>
          </a:p>
        </p:txBody>
      </p:sp>
      <p:sp>
        <p:nvSpPr>
          <p:cNvPr id="31" name="Text 26"/>
          <p:cNvSpPr txBox="1"/>
          <p:nvPr/>
        </p:nvSpPr>
        <p:spPr>
          <a:xfrm>
            <a:off x="749808" y="3140050"/>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32" name="Text 27"/>
          <p:cNvSpPr txBox="1"/>
          <p:nvPr/>
        </p:nvSpPr>
        <p:spPr>
          <a:xfrm>
            <a:off x="1097280" y="3140050"/>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AUDI RENO</a:t>
            </a:r>
            <a:endParaRPr lang="en-US" sz="1400" dirty="0"/>
          </a:p>
        </p:txBody>
      </p:sp>
      <p:sp>
        <p:nvSpPr>
          <p:cNvPr id="33" name="Text 28"/>
          <p:cNvSpPr txBox="1"/>
          <p:nvPr/>
        </p:nvSpPr>
        <p:spPr>
          <a:xfrm>
            <a:off x="3657600" y="3140050"/>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41.1% → 44.0%</a:t>
            </a:r>
            <a:endParaRPr lang="en-US" sz="1400" dirty="0"/>
          </a:p>
        </p:txBody>
      </p:sp>
      <p:graphicFrame>
        <p:nvGraphicFramePr>
          <p:cNvPr id="34" name="Chart 3" descr=""/>
          <p:cNvGraphicFramePr/>
          <p:nvPr/>
        </p:nvGraphicFramePr>
        <p:xfrm>
          <a:off x="5276088" y="3158338"/>
          <a:ext cx="2697480" cy="345643"/>
        </p:xfrm>
        <a:graphic>
          <a:graphicData uri="http://schemas.openxmlformats.org/drawingml/2006/chart">
            <c:chart xmlns:c="http://schemas.openxmlformats.org/drawingml/2006/chart" r:id="rId5"/>
          </a:graphicData>
        </a:graphic>
      </p:graphicFrame>
      <p:sp>
        <p:nvSpPr>
          <p:cNvPr id="35" name="Text 29"/>
          <p:cNvSpPr txBox="1"/>
          <p:nvPr/>
        </p:nvSpPr>
        <p:spPr>
          <a:xfrm>
            <a:off x="8183880" y="3140050"/>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May</a:t>
            </a:r>
            <a:endParaRPr lang="en-US" sz="1400" dirty="0"/>
          </a:p>
        </p:txBody>
      </p:sp>
      <p:sp>
        <p:nvSpPr>
          <p:cNvPr id="36" name="Text 30"/>
          <p:cNvSpPr txBox="1"/>
          <p:nvPr/>
        </p:nvSpPr>
        <p:spPr>
          <a:xfrm>
            <a:off x="10195560" y="3140050"/>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+2.9 pts</a:t>
            </a:r>
            <a:endParaRPr lang="en-US" sz="1600" dirty="0"/>
          </a:p>
        </p:txBody>
      </p:sp>
      <p:sp>
        <p:nvSpPr>
          <p:cNvPr id="37" name="Shape 31"/>
          <p:cNvSpPr/>
          <p:nvPr/>
        </p:nvSpPr>
        <p:spPr>
          <a:xfrm>
            <a:off x="621792" y="3522269"/>
            <a:ext cx="10945368" cy="382219"/>
          </a:xfrm>
          <a:prstGeom prst="rect">
            <a:avLst/>
          </a:prstGeom>
          <a:solidFill>
            <a:srgbClr val="F7F7F7"/>
          </a:solidFill>
          <a:ln/>
        </p:spPr>
      </p:sp>
      <p:sp>
        <p:nvSpPr>
          <p:cNvPr id="38" name="Text 32"/>
          <p:cNvSpPr txBox="1"/>
          <p:nvPr/>
        </p:nvSpPr>
        <p:spPr>
          <a:xfrm>
            <a:off x="749808" y="3522269"/>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39" name="Text 33"/>
          <p:cNvSpPr txBox="1"/>
          <p:nvPr/>
        </p:nvSpPr>
        <p:spPr>
          <a:xfrm>
            <a:off x="1097280" y="3522269"/>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TOYOTA HENDERSON</a:t>
            </a:r>
            <a:endParaRPr lang="en-US" sz="1400" dirty="0"/>
          </a:p>
        </p:txBody>
      </p:sp>
      <p:sp>
        <p:nvSpPr>
          <p:cNvPr id="40" name="Text 34"/>
          <p:cNvSpPr txBox="1"/>
          <p:nvPr/>
        </p:nvSpPr>
        <p:spPr>
          <a:xfrm>
            <a:off x="3657600" y="3522269"/>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39.4% → 41.7%</a:t>
            </a:r>
            <a:endParaRPr lang="en-US" sz="1400" dirty="0"/>
          </a:p>
        </p:txBody>
      </p:sp>
      <p:graphicFrame>
        <p:nvGraphicFramePr>
          <p:cNvPr id="41" name="Chart 4" descr=""/>
          <p:cNvGraphicFramePr/>
          <p:nvPr/>
        </p:nvGraphicFramePr>
        <p:xfrm>
          <a:off x="5276088" y="3540557"/>
          <a:ext cx="2697480" cy="345643"/>
        </p:xfrm>
        <a:graphic>
          <a:graphicData uri="http://schemas.openxmlformats.org/drawingml/2006/chart">
            <c:chart xmlns:c="http://schemas.openxmlformats.org/drawingml/2006/chart" r:id="rId6"/>
          </a:graphicData>
        </a:graphic>
      </p:graphicFrame>
      <p:sp>
        <p:nvSpPr>
          <p:cNvPr id="42" name="Text 35"/>
          <p:cNvSpPr txBox="1"/>
          <p:nvPr/>
        </p:nvSpPr>
        <p:spPr>
          <a:xfrm>
            <a:off x="8183880" y="3522269"/>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May</a:t>
            </a:r>
            <a:endParaRPr lang="en-US" sz="1400" dirty="0"/>
          </a:p>
        </p:txBody>
      </p:sp>
      <p:sp>
        <p:nvSpPr>
          <p:cNvPr id="43" name="Text 36"/>
          <p:cNvSpPr txBox="1"/>
          <p:nvPr/>
        </p:nvSpPr>
        <p:spPr>
          <a:xfrm>
            <a:off x="10195560" y="3522269"/>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+2.2 pts</a:t>
            </a:r>
            <a:endParaRPr lang="en-US" sz="1600" dirty="0"/>
          </a:p>
        </p:txBody>
      </p:sp>
      <p:sp>
        <p:nvSpPr>
          <p:cNvPr id="44" name="Text 37"/>
          <p:cNvSpPr txBox="1"/>
          <p:nvPr/>
        </p:nvSpPr>
        <p:spPr>
          <a:xfrm>
            <a:off x="749808" y="3904488"/>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6</a:t>
            </a:r>
            <a:endParaRPr lang="en-US" sz="1500" dirty="0"/>
          </a:p>
        </p:txBody>
      </p:sp>
      <p:sp>
        <p:nvSpPr>
          <p:cNvPr id="45" name="Text 38"/>
          <p:cNvSpPr txBox="1"/>
          <p:nvPr/>
        </p:nvSpPr>
        <p:spPr>
          <a:xfrm>
            <a:off x="1097280" y="3904488"/>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p:txBody>
      </p:sp>
      <p:sp>
        <p:nvSpPr>
          <p:cNvPr id="46" name="Text 39"/>
          <p:cNvSpPr txBox="1"/>
          <p:nvPr/>
        </p:nvSpPr>
        <p:spPr>
          <a:xfrm>
            <a:off x="3657600" y="3904488"/>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40.1% → 42.4%</a:t>
            </a:r>
            <a:endParaRPr lang="en-US" sz="1400" dirty="0"/>
          </a:p>
        </p:txBody>
      </p:sp>
      <p:graphicFrame>
        <p:nvGraphicFramePr>
          <p:cNvPr id="47" name="Chart 5" descr=""/>
          <p:cNvGraphicFramePr/>
          <p:nvPr/>
        </p:nvGraphicFramePr>
        <p:xfrm>
          <a:off x="5276088" y="3922776"/>
          <a:ext cx="2697480" cy="345643"/>
        </p:xfrm>
        <a:graphic>
          <a:graphicData uri="http://schemas.openxmlformats.org/drawingml/2006/chart">
            <c:chart xmlns:c="http://schemas.openxmlformats.org/drawingml/2006/chart" r:id="rId7"/>
          </a:graphicData>
        </a:graphic>
      </p:graphicFrame>
      <p:sp>
        <p:nvSpPr>
          <p:cNvPr id="48" name="Text 40"/>
          <p:cNvSpPr txBox="1"/>
          <p:nvPr/>
        </p:nvSpPr>
        <p:spPr>
          <a:xfrm>
            <a:off x="8183880" y="3904488"/>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April</a:t>
            </a:r>
            <a:endParaRPr lang="en-US" sz="1400" dirty="0"/>
          </a:p>
        </p:txBody>
      </p:sp>
      <p:sp>
        <p:nvSpPr>
          <p:cNvPr id="49" name="Text 41"/>
          <p:cNvSpPr txBox="1"/>
          <p:nvPr/>
        </p:nvSpPr>
        <p:spPr>
          <a:xfrm>
            <a:off x="10195560" y="3904488"/>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+2.2 pts</a:t>
            </a:r>
            <a:endParaRPr lang="en-US" sz="1600" dirty="0"/>
          </a:p>
        </p:txBody>
      </p:sp>
      <p:sp>
        <p:nvSpPr>
          <p:cNvPr id="50" name="Shape 42"/>
          <p:cNvSpPr/>
          <p:nvPr/>
        </p:nvSpPr>
        <p:spPr>
          <a:xfrm>
            <a:off x="621792" y="4286707"/>
            <a:ext cx="10945368" cy="382219"/>
          </a:xfrm>
          <a:prstGeom prst="rect">
            <a:avLst/>
          </a:prstGeom>
          <a:solidFill>
            <a:srgbClr val="F7F7F7"/>
          </a:solidFill>
          <a:ln/>
        </p:spPr>
      </p:sp>
      <p:sp>
        <p:nvSpPr>
          <p:cNvPr id="51" name="Text 43"/>
          <p:cNvSpPr txBox="1"/>
          <p:nvPr/>
        </p:nvSpPr>
        <p:spPr>
          <a:xfrm>
            <a:off x="749808" y="4286707"/>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7</a:t>
            </a:r>
            <a:endParaRPr lang="en-US" sz="1500" dirty="0"/>
          </a:p>
        </p:txBody>
      </p:sp>
      <p:sp>
        <p:nvSpPr>
          <p:cNvPr id="52" name="Text 44"/>
          <p:cNvSpPr txBox="1"/>
          <p:nvPr/>
        </p:nvSpPr>
        <p:spPr>
          <a:xfrm>
            <a:off x="1097280" y="4286707"/>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CDJR POST FALLS</a:t>
            </a:r>
            <a:endParaRPr lang="en-US" sz="1400" dirty="0"/>
          </a:p>
        </p:txBody>
      </p:sp>
      <p:sp>
        <p:nvSpPr>
          <p:cNvPr id="53" name="Text 45"/>
          <p:cNvSpPr txBox="1"/>
          <p:nvPr/>
        </p:nvSpPr>
        <p:spPr>
          <a:xfrm>
            <a:off x="3657600" y="4286707"/>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34.4% → 36.3%</a:t>
            </a:r>
            <a:endParaRPr lang="en-US" sz="1400" dirty="0"/>
          </a:p>
        </p:txBody>
      </p:sp>
      <p:graphicFrame>
        <p:nvGraphicFramePr>
          <p:cNvPr id="54" name="Chart 6" descr=""/>
          <p:cNvGraphicFramePr/>
          <p:nvPr/>
        </p:nvGraphicFramePr>
        <p:xfrm>
          <a:off x="5276088" y="4304995"/>
          <a:ext cx="2697480" cy="345643"/>
        </p:xfrm>
        <a:graphic>
          <a:graphicData uri="http://schemas.openxmlformats.org/drawingml/2006/chart">
            <c:chart xmlns:c="http://schemas.openxmlformats.org/drawingml/2006/chart" r:id="rId8"/>
          </a:graphicData>
        </a:graphic>
      </p:graphicFrame>
      <p:sp>
        <p:nvSpPr>
          <p:cNvPr id="55" name="Text 46"/>
          <p:cNvSpPr txBox="1"/>
          <p:nvPr/>
        </p:nvSpPr>
        <p:spPr>
          <a:xfrm>
            <a:off x="8183880" y="4286707"/>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May</a:t>
            </a:r>
            <a:endParaRPr lang="en-US" sz="1400" dirty="0"/>
          </a:p>
        </p:txBody>
      </p:sp>
      <p:sp>
        <p:nvSpPr>
          <p:cNvPr id="56" name="Text 47"/>
          <p:cNvSpPr txBox="1"/>
          <p:nvPr/>
        </p:nvSpPr>
        <p:spPr>
          <a:xfrm>
            <a:off x="10195560" y="4286707"/>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+1.8 pts</a:t>
            </a:r>
            <a:endParaRPr lang="en-US" sz="1600" dirty="0"/>
          </a:p>
        </p:txBody>
      </p:sp>
      <p:sp>
        <p:nvSpPr>
          <p:cNvPr id="57" name="Text 48"/>
          <p:cNvSpPr txBox="1"/>
          <p:nvPr/>
        </p:nvSpPr>
        <p:spPr>
          <a:xfrm>
            <a:off x="749808" y="4668926"/>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8</a:t>
            </a:r>
            <a:endParaRPr lang="en-US" sz="1500" dirty="0"/>
          </a:p>
        </p:txBody>
      </p:sp>
      <p:sp>
        <p:nvSpPr>
          <p:cNvPr id="58" name="Text 49"/>
          <p:cNvSpPr txBox="1"/>
          <p:nvPr/>
        </p:nvSpPr>
        <p:spPr>
          <a:xfrm>
            <a:off x="1097280" y="4668926"/>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TOYOTA PRESCOTT</a:t>
            </a:r>
            <a:endParaRPr lang="en-US" sz="1400" dirty="0"/>
          </a:p>
        </p:txBody>
      </p:sp>
      <p:sp>
        <p:nvSpPr>
          <p:cNvPr id="59" name="Text 50"/>
          <p:cNvSpPr txBox="1"/>
          <p:nvPr/>
        </p:nvSpPr>
        <p:spPr>
          <a:xfrm>
            <a:off x="3657600" y="4668926"/>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40.9% → 42.2%</a:t>
            </a:r>
            <a:endParaRPr lang="en-US" sz="1400" dirty="0"/>
          </a:p>
        </p:txBody>
      </p:sp>
      <p:graphicFrame>
        <p:nvGraphicFramePr>
          <p:cNvPr id="60" name="Chart 7" descr=""/>
          <p:cNvGraphicFramePr/>
          <p:nvPr/>
        </p:nvGraphicFramePr>
        <p:xfrm>
          <a:off x="5276088" y="4687214"/>
          <a:ext cx="2697480" cy="345643"/>
        </p:xfrm>
        <a:graphic>
          <a:graphicData uri="http://schemas.openxmlformats.org/drawingml/2006/chart">
            <c:chart xmlns:c="http://schemas.openxmlformats.org/drawingml/2006/chart" r:id="rId9"/>
          </a:graphicData>
        </a:graphic>
      </p:graphicFrame>
      <p:sp>
        <p:nvSpPr>
          <p:cNvPr id="61" name="Text 51"/>
          <p:cNvSpPr txBox="1"/>
          <p:nvPr/>
        </p:nvSpPr>
        <p:spPr>
          <a:xfrm>
            <a:off x="8183880" y="4668926"/>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May</a:t>
            </a:r>
            <a:endParaRPr lang="en-US" sz="1400" dirty="0"/>
          </a:p>
        </p:txBody>
      </p:sp>
      <p:sp>
        <p:nvSpPr>
          <p:cNvPr id="62" name="Text 52"/>
          <p:cNvSpPr txBox="1"/>
          <p:nvPr/>
        </p:nvSpPr>
        <p:spPr>
          <a:xfrm>
            <a:off x="10195560" y="4668926"/>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+1.3 pts</a:t>
            </a:r>
            <a:endParaRPr lang="en-US" sz="1600" dirty="0"/>
          </a:p>
        </p:txBody>
      </p:sp>
      <p:sp>
        <p:nvSpPr>
          <p:cNvPr id="63" name="Shape 53"/>
          <p:cNvSpPr/>
          <p:nvPr/>
        </p:nvSpPr>
        <p:spPr>
          <a:xfrm>
            <a:off x="621792" y="5051146"/>
            <a:ext cx="10945368" cy="382219"/>
          </a:xfrm>
          <a:prstGeom prst="rect">
            <a:avLst/>
          </a:prstGeom>
          <a:solidFill>
            <a:srgbClr val="F7F7F7"/>
          </a:solidFill>
          <a:ln/>
        </p:spPr>
      </p:sp>
      <p:sp>
        <p:nvSpPr>
          <p:cNvPr id="64" name="Text 54"/>
          <p:cNvSpPr txBox="1"/>
          <p:nvPr/>
        </p:nvSpPr>
        <p:spPr>
          <a:xfrm>
            <a:off x="749808" y="5051146"/>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9</a:t>
            </a:r>
            <a:endParaRPr lang="en-US" sz="1500" dirty="0"/>
          </a:p>
        </p:txBody>
      </p:sp>
      <p:sp>
        <p:nvSpPr>
          <p:cNvPr id="65" name="Text 55"/>
          <p:cNvSpPr txBox="1"/>
          <p:nvPr/>
        </p:nvSpPr>
        <p:spPr>
          <a:xfrm>
            <a:off x="1097280" y="5051146"/>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LR RENO</a:t>
            </a:r>
            <a:endParaRPr lang="en-US" sz="1400" dirty="0"/>
          </a:p>
        </p:txBody>
      </p:sp>
      <p:sp>
        <p:nvSpPr>
          <p:cNvPr id="66" name="Text 56"/>
          <p:cNvSpPr txBox="1"/>
          <p:nvPr/>
        </p:nvSpPr>
        <p:spPr>
          <a:xfrm>
            <a:off x="3657600" y="5051146"/>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44.4% → 45.7%</a:t>
            </a:r>
            <a:endParaRPr lang="en-US" sz="1400" dirty="0"/>
          </a:p>
        </p:txBody>
      </p:sp>
      <p:graphicFrame>
        <p:nvGraphicFramePr>
          <p:cNvPr id="67" name="Chart 8" descr=""/>
          <p:cNvGraphicFramePr/>
          <p:nvPr/>
        </p:nvGraphicFramePr>
        <p:xfrm>
          <a:off x="5276088" y="5069434"/>
          <a:ext cx="2697480" cy="345643"/>
        </p:xfrm>
        <a:graphic>
          <a:graphicData uri="http://schemas.openxmlformats.org/drawingml/2006/chart">
            <c:chart xmlns:c="http://schemas.openxmlformats.org/drawingml/2006/chart" r:id="rId10"/>
          </a:graphicData>
        </a:graphic>
      </p:graphicFrame>
      <p:sp>
        <p:nvSpPr>
          <p:cNvPr id="68" name="Text 57"/>
          <p:cNvSpPr txBox="1"/>
          <p:nvPr/>
        </p:nvSpPr>
        <p:spPr>
          <a:xfrm>
            <a:off x="8183880" y="5051146"/>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May</a:t>
            </a:r>
            <a:endParaRPr lang="en-US" sz="1400" dirty="0"/>
          </a:p>
        </p:txBody>
      </p:sp>
      <p:sp>
        <p:nvSpPr>
          <p:cNvPr id="69" name="Text 58"/>
          <p:cNvSpPr txBox="1"/>
          <p:nvPr/>
        </p:nvSpPr>
        <p:spPr>
          <a:xfrm>
            <a:off x="10195560" y="5051146"/>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+1.2 pts</a:t>
            </a:r>
            <a:endParaRPr lang="en-US" sz="1600" dirty="0"/>
          </a:p>
        </p:txBody>
      </p:sp>
      <p:sp>
        <p:nvSpPr>
          <p:cNvPr id="70" name="Text 59"/>
          <p:cNvSpPr txBox="1"/>
          <p:nvPr/>
        </p:nvSpPr>
        <p:spPr>
          <a:xfrm>
            <a:off x="749808" y="5433365"/>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10</a:t>
            </a:r>
            <a:endParaRPr lang="en-US" sz="1500" dirty="0"/>
          </a:p>
        </p:txBody>
      </p:sp>
      <p:sp>
        <p:nvSpPr>
          <p:cNvPr id="71" name="Text 60"/>
          <p:cNvSpPr txBox="1"/>
          <p:nvPr/>
        </p:nvSpPr>
        <p:spPr>
          <a:xfrm>
            <a:off x="1097280" y="5433365"/>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CHEVY GMC BULLHEAD</a:t>
            </a:r>
            <a:endParaRPr lang="en-US" sz="1400" dirty="0"/>
          </a:p>
        </p:txBody>
      </p:sp>
      <p:sp>
        <p:nvSpPr>
          <p:cNvPr id="72" name="Text 61"/>
          <p:cNvSpPr txBox="1"/>
          <p:nvPr/>
        </p:nvSpPr>
        <p:spPr>
          <a:xfrm>
            <a:off x="3657600" y="5433365"/>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36.8% → 37.9%</a:t>
            </a:r>
            <a:endParaRPr lang="en-US" sz="1400" dirty="0"/>
          </a:p>
        </p:txBody>
      </p:sp>
      <p:graphicFrame>
        <p:nvGraphicFramePr>
          <p:cNvPr id="73" name="Chart 9" descr=""/>
          <p:cNvGraphicFramePr/>
          <p:nvPr/>
        </p:nvGraphicFramePr>
        <p:xfrm>
          <a:off x="5276088" y="5451653"/>
          <a:ext cx="2697480" cy="345643"/>
        </p:xfrm>
        <a:graphic>
          <a:graphicData uri="http://schemas.openxmlformats.org/drawingml/2006/chart">
            <c:chart xmlns:c="http://schemas.openxmlformats.org/drawingml/2006/chart" r:id="rId11"/>
          </a:graphicData>
        </a:graphic>
      </p:graphicFrame>
      <p:sp>
        <p:nvSpPr>
          <p:cNvPr id="74" name="Text 62"/>
          <p:cNvSpPr txBox="1"/>
          <p:nvPr/>
        </p:nvSpPr>
        <p:spPr>
          <a:xfrm>
            <a:off x="8183880" y="5433365"/>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August</a:t>
            </a:r>
            <a:endParaRPr lang="en-US" sz="1400" dirty="0"/>
          </a:p>
        </p:txBody>
      </p:sp>
      <p:sp>
        <p:nvSpPr>
          <p:cNvPr id="75" name="Text 63"/>
          <p:cNvSpPr txBox="1"/>
          <p:nvPr/>
        </p:nvSpPr>
        <p:spPr>
          <a:xfrm>
            <a:off x="10195560" y="5433365"/>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+1.1 pts</a:t>
            </a:r>
            <a:endParaRPr lang="en-US" sz="1600" dirty="0"/>
          </a:p>
        </p:txBody>
      </p:sp>
      <p:sp>
        <p:nvSpPr>
          <p:cNvPr id="76" name="Shape 64"/>
          <p:cNvSpPr/>
          <p:nvPr/>
        </p:nvSpPr>
        <p:spPr>
          <a:xfrm>
            <a:off x="457200" y="5961888"/>
            <a:ext cx="11274552" cy="548640"/>
          </a:xfrm>
          <a:prstGeom prst="rect">
            <a:avLst/>
          </a:prstGeom>
          <a:solidFill>
            <a:srgbClr val="E6F6EE"/>
          </a:solidFill>
          <a:ln/>
        </p:spPr>
      </p:sp>
      <p:sp>
        <p:nvSpPr>
          <p:cNvPr id="77" name="Text 65"/>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ACURA went 39.4% to 46.6%, stepping up in April. Ask what changed that month.</a:t>
            </a:r>
            <a:endParaRPr lang="en-US" sz="1600" dirty="0"/>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 · WHO'S MOVING NOW</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Who's Moving Now: CP Gross per Month</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713232" y="1298448"/>
            <a:ext cx="10762488" cy="310896"/>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Q1 → Q3 2026. Group $10.10M → $10.96M, +8.4%: that is the season. 21 of 33 stores beat it.</a:t>
            </a:r>
            <a:endParaRPr lang="en-US" sz="1400" dirty="0"/>
          </a:p>
        </p:txBody>
      </p:sp>
      <p:sp>
        <p:nvSpPr>
          <p:cNvPr id="7" name="Text 5"/>
          <p:cNvSpPr txBox="1"/>
          <p:nvPr/>
        </p:nvSpPr>
        <p:spPr>
          <a:xfrm>
            <a:off x="3657600" y="1682496"/>
            <a:ext cx="1554480" cy="274320"/>
          </a:xfrm>
          <a:prstGeom prst="rect">
            <a:avLst/>
          </a:prstGeom>
          <a:noFill/>
          <a:ln/>
        </p:spPr>
        <p:txBody>
          <a:bodyPr wrap="square" lIns="0" tIns="0" rIns="0" bIns="0" rtlCol="0" anchor="ctr"/>
          <a:lstStyle/>
          <a:p>
            <a:pPr algn="l" indent="0" marL="0">
              <a:buNone/>
            </a:pPr>
            <a:r>
              <a:rPr lang="en-US" sz="1400" b="1" dirty="0">
                <a:solidFill>
                  <a:srgbClr val="595959"/>
                </a:solidFill>
                <a:latin typeface="Inter" pitchFamily="34" charset="0"/>
                <a:ea typeface="Inter" pitchFamily="34" charset="-122"/>
                <a:cs typeface="Inter" pitchFamily="34" charset="-120"/>
              </a:rPr>
              <a:t>Q1 → Q3</a:t>
            </a:r>
            <a:endParaRPr lang="en-US" sz="1400" dirty="0"/>
          </a:p>
        </p:txBody>
      </p:sp>
      <p:sp>
        <p:nvSpPr>
          <p:cNvPr id="8" name="Text 6"/>
          <p:cNvSpPr txBox="1"/>
          <p:nvPr/>
        </p:nvSpPr>
        <p:spPr>
          <a:xfrm>
            <a:off x="5349240" y="1682496"/>
            <a:ext cx="2651760" cy="274320"/>
          </a:xfrm>
          <a:prstGeom prst="rect">
            <a:avLst/>
          </a:prstGeom>
          <a:noFill/>
          <a:ln/>
        </p:spPr>
        <p:txBody>
          <a:bodyPr wrap="square" lIns="0" tIns="0" rIns="0" bIns="0" rtlCol="0" anchor="ctr"/>
          <a:lstStyle/>
          <a:p>
            <a:pPr algn="l" indent="0" marL="0">
              <a:buNone/>
            </a:pPr>
            <a:r>
              <a:rPr lang="en-US" sz="1400" b="1" dirty="0">
                <a:solidFill>
                  <a:srgbClr val="595959"/>
                </a:solidFill>
                <a:latin typeface="Inter" pitchFamily="34" charset="0"/>
                <a:ea typeface="Inter" pitchFamily="34" charset="-122"/>
                <a:cs typeface="Inter" pitchFamily="34" charset="-120"/>
              </a:rPr>
              <a:t>Jan – Sep 2026, by month</a:t>
            </a:r>
            <a:endParaRPr lang="en-US" sz="1400" dirty="0"/>
          </a:p>
        </p:txBody>
      </p:sp>
      <p:sp>
        <p:nvSpPr>
          <p:cNvPr id="9" name="Text 7"/>
          <p:cNvSpPr txBox="1"/>
          <p:nvPr/>
        </p:nvSpPr>
        <p:spPr>
          <a:xfrm>
            <a:off x="8183880" y="1682496"/>
            <a:ext cx="1737360" cy="274320"/>
          </a:xfrm>
          <a:prstGeom prst="rect">
            <a:avLst/>
          </a:prstGeom>
          <a:noFill/>
          <a:ln/>
        </p:spPr>
        <p:txBody>
          <a:bodyPr wrap="square" lIns="0" tIns="0" rIns="0" bIns="0" rtlCol="0" anchor="ctr"/>
          <a:lstStyle/>
          <a:p>
            <a:pPr algn="l" indent="0" marL="0">
              <a:buNone/>
            </a:pPr>
            <a:r>
              <a:rPr lang="en-US" sz="1400" b="1" dirty="0">
                <a:solidFill>
                  <a:srgbClr val="595959"/>
                </a:solidFill>
                <a:latin typeface="Inter" pitchFamily="34" charset="0"/>
                <a:ea typeface="Inter" pitchFamily="34" charset="-122"/>
                <a:cs typeface="Inter" pitchFamily="34" charset="-120"/>
              </a:rPr>
              <a:t>Stepped up in</a:t>
            </a:r>
            <a:endParaRPr lang="en-US" sz="1400" dirty="0"/>
          </a:p>
        </p:txBody>
      </p:sp>
      <p:sp>
        <p:nvSpPr>
          <p:cNvPr id="10" name="Text 8"/>
          <p:cNvSpPr txBox="1"/>
          <p:nvPr/>
        </p:nvSpPr>
        <p:spPr>
          <a:xfrm>
            <a:off x="10195560" y="1682496"/>
            <a:ext cx="1371600" cy="274320"/>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Q1 → Q3</a:t>
            </a:r>
            <a:endParaRPr lang="en-US" sz="1400" dirty="0"/>
          </a:p>
        </p:txBody>
      </p:sp>
      <p:sp>
        <p:nvSpPr>
          <p:cNvPr id="11" name="Shape 9"/>
          <p:cNvSpPr/>
          <p:nvPr/>
        </p:nvSpPr>
        <p:spPr>
          <a:xfrm>
            <a:off x="621792" y="1993392"/>
            <a:ext cx="10945368" cy="382219"/>
          </a:xfrm>
          <a:prstGeom prst="rect">
            <a:avLst/>
          </a:prstGeom>
          <a:solidFill>
            <a:srgbClr val="F7F7F7"/>
          </a:solidFill>
          <a:ln/>
        </p:spPr>
      </p:sp>
      <p:sp>
        <p:nvSpPr>
          <p:cNvPr id="12" name="Text 10"/>
          <p:cNvSpPr txBox="1"/>
          <p:nvPr/>
        </p:nvSpPr>
        <p:spPr>
          <a:xfrm>
            <a:off x="749808" y="1993392"/>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3" name="Text 11"/>
          <p:cNvSpPr txBox="1"/>
          <p:nvPr/>
        </p:nvSpPr>
        <p:spPr>
          <a:xfrm>
            <a:off x="1097280" y="1993392"/>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MAZDA</a:t>
            </a:r>
            <a:endParaRPr lang="en-US" sz="1400" dirty="0"/>
          </a:p>
        </p:txBody>
      </p:sp>
      <p:sp>
        <p:nvSpPr>
          <p:cNvPr id="14" name="Text 12"/>
          <p:cNvSpPr txBox="1"/>
          <p:nvPr/>
        </p:nvSpPr>
        <p:spPr>
          <a:xfrm>
            <a:off x="3657600" y="1993392"/>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$155K → $209K</a:t>
            </a:r>
            <a:endParaRPr lang="en-US" sz="1400" dirty="0"/>
          </a:p>
        </p:txBody>
      </p:sp>
      <p:graphicFrame>
        <p:nvGraphicFramePr>
          <p:cNvPr id="15" name="Chart 0" descr=""/>
          <p:cNvGraphicFramePr/>
          <p:nvPr/>
        </p:nvGraphicFramePr>
        <p:xfrm>
          <a:off x="5276088" y="2011680"/>
          <a:ext cx="2697480" cy="345643"/>
        </p:xfrm>
        <a:graphic>
          <a:graphicData uri="http://schemas.openxmlformats.org/drawingml/2006/chart">
            <c:chart xmlns:c="http://schemas.openxmlformats.org/drawingml/2006/chart" r:id="rId2"/>
          </a:graphicData>
        </a:graphic>
      </p:graphicFrame>
      <p:sp>
        <p:nvSpPr>
          <p:cNvPr id="16" name="Text 13"/>
          <p:cNvSpPr txBox="1"/>
          <p:nvPr/>
        </p:nvSpPr>
        <p:spPr>
          <a:xfrm>
            <a:off x="8183880" y="1993392"/>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August</a:t>
            </a:r>
            <a:endParaRPr lang="en-US" sz="1400" dirty="0"/>
          </a:p>
        </p:txBody>
      </p:sp>
      <p:sp>
        <p:nvSpPr>
          <p:cNvPr id="17" name="Text 14"/>
          <p:cNvSpPr txBox="1"/>
          <p:nvPr/>
        </p:nvSpPr>
        <p:spPr>
          <a:xfrm>
            <a:off x="10195560" y="1993392"/>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+34.6%</a:t>
            </a:r>
            <a:endParaRPr lang="en-US" sz="1600" dirty="0"/>
          </a:p>
        </p:txBody>
      </p:sp>
      <p:sp>
        <p:nvSpPr>
          <p:cNvPr id="18" name="Text 15"/>
          <p:cNvSpPr txBox="1"/>
          <p:nvPr/>
        </p:nvSpPr>
        <p:spPr>
          <a:xfrm>
            <a:off x="749808" y="2375611"/>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9" name="Text 16"/>
          <p:cNvSpPr txBox="1"/>
          <p:nvPr/>
        </p:nvSpPr>
        <p:spPr>
          <a:xfrm>
            <a:off x="1097280" y="2375611"/>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p:txBody>
      </p:sp>
      <p:sp>
        <p:nvSpPr>
          <p:cNvPr id="20" name="Text 17"/>
          <p:cNvSpPr txBox="1"/>
          <p:nvPr/>
        </p:nvSpPr>
        <p:spPr>
          <a:xfrm>
            <a:off x="3657600" y="2375611"/>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$85K → $112K</a:t>
            </a:r>
            <a:endParaRPr lang="en-US" sz="1400" dirty="0"/>
          </a:p>
        </p:txBody>
      </p:sp>
      <p:graphicFrame>
        <p:nvGraphicFramePr>
          <p:cNvPr id="21" name="Chart 1" descr=""/>
          <p:cNvGraphicFramePr/>
          <p:nvPr/>
        </p:nvGraphicFramePr>
        <p:xfrm>
          <a:off x="5276088" y="2393899"/>
          <a:ext cx="2697480" cy="345643"/>
        </p:xfrm>
        <a:graphic>
          <a:graphicData uri="http://schemas.openxmlformats.org/drawingml/2006/chart">
            <c:chart xmlns:c="http://schemas.openxmlformats.org/drawingml/2006/chart" r:id="rId3"/>
          </a:graphicData>
        </a:graphic>
      </p:graphicFrame>
      <p:sp>
        <p:nvSpPr>
          <p:cNvPr id="22" name="Text 18"/>
          <p:cNvSpPr txBox="1"/>
          <p:nvPr/>
        </p:nvSpPr>
        <p:spPr>
          <a:xfrm>
            <a:off x="8183880" y="2375611"/>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July</a:t>
            </a:r>
            <a:endParaRPr lang="en-US" sz="1400" dirty="0"/>
          </a:p>
        </p:txBody>
      </p:sp>
      <p:sp>
        <p:nvSpPr>
          <p:cNvPr id="23" name="Text 19"/>
          <p:cNvSpPr txBox="1"/>
          <p:nvPr/>
        </p:nvSpPr>
        <p:spPr>
          <a:xfrm>
            <a:off x="10195560" y="2375611"/>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+31.3%</a:t>
            </a:r>
            <a:endParaRPr lang="en-US" sz="1600" dirty="0"/>
          </a:p>
        </p:txBody>
      </p:sp>
      <p:sp>
        <p:nvSpPr>
          <p:cNvPr id="24" name="Shape 20"/>
          <p:cNvSpPr/>
          <p:nvPr/>
        </p:nvSpPr>
        <p:spPr>
          <a:xfrm>
            <a:off x="621792" y="2757830"/>
            <a:ext cx="10945368" cy="382219"/>
          </a:xfrm>
          <a:prstGeom prst="rect">
            <a:avLst/>
          </a:prstGeom>
          <a:solidFill>
            <a:srgbClr val="F7F7F7"/>
          </a:solidFill>
          <a:ln/>
        </p:spPr>
      </p:sp>
      <p:sp>
        <p:nvSpPr>
          <p:cNvPr id="25" name="Text 21"/>
          <p:cNvSpPr txBox="1"/>
          <p:nvPr/>
        </p:nvSpPr>
        <p:spPr>
          <a:xfrm>
            <a:off x="749808" y="2757830"/>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6" name="Text 22"/>
          <p:cNvSpPr txBox="1"/>
          <p:nvPr/>
        </p:nvSpPr>
        <p:spPr>
          <a:xfrm>
            <a:off x="1097280" y="2757830"/>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CDJR POST FALLS</a:t>
            </a:r>
            <a:endParaRPr lang="en-US" sz="1400" dirty="0"/>
          </a:p>
        </p:txBody>
      </p:sp>
      <p:sp>
        <p:nvSpPr>
          <p:cNvPr id="27" name="Text 23"/>
          <p:cNvSpPr txBox="1"/>
          <p:nvPr/>
        </p:nvSpPr>
        <p:spPr>
          <a:xfrm>
            <a:off x="3657600" y="2757830"/>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$218K → $279K</a:t>
            </a:r>
            <a:endParaRPr lang="en-US" sz="1400" dirty="0"/>
          </a:p>
        </p:txBody>
      </p:sp>
      <p:graphicFrame>
        <p:nvGraphicFramePr>
          <p:cNvPr id="28" name="Chart 2" descr=""/>
          <p:cNvGraphicFramePr/>
          <p:nvPr/>
        </p:nvGraphicFramePr>
        <p:xfrm>
          <a:off x="5276088" y="2776118"/>
          <a:ext cx="2697480" cy="345643"/>
        </p:xfrm>
        <a:graphic>
          <a:graphicData uri="http://schemas.openxmlformats.org/drawingml/2006/chart">
            <c:chart xmlns:c="http://schemas.openxmlformats.org/drawingml/2006/chart" r:id="rId4"/>
          </a:graphicData>
        </a:graphic>
      </p:graphicFrame>
      <p:sp>
        <p:nvSpPr>
          <p:cNvPr id="29" name="Text 24"/>
          <p:cNvSpPr txBox="1"/>
          <p:nvPr/>
        </p:nvSpPr>
        <p:spPr>
          <a:xfrm>
            <a:off x="8183880" y="2757830"/>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July</a:t>
            </a:r>
            <a:endParaRPr lang="en-US" sz="1400" dirty="0"/>
          </a:p>
        </p:txBody>
      </p:sp>
      <p:sp>
        <p:nvSpPr>
          <p:cNvPr id="30" name="Text 25"/>
          <p:cNvSpPr txBox="1"/>
          <p:nvPr/>
        </p:nvSpPr>
        <p:spPr>
          <a:xfrm>
            <a:off x="10195560" y="2757830"/>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+27.8%</a:t>
            </a:r>
            <a:endParaRPr lang="en-US" sz="1600" dirty="0"/>
          </a:p>
        </p:txBody>
      </p:sp>
      <p:sp>
        <p:nvSpPr>
          <p:cNvPr id="31" name="Text 26"/>
          <p:cNvSpPr txBox="1"/>
          <p:nvPr/>
        </p:nvSpPr>
        <p:spPr>
          <a:xfrm>
            <a:off x="749808" y="3140050"/>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32" name="Text 27"/>
          <p:cNvSpPr txBox="1"/>
          <p:nvPr/>
        </p:nvSpPr>
        <p:spPr>
          <a:xfrm>
            <a:off x="1097280" y="3140050"/>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p:txBody>
      </p:sp>
      <p:sp>
        <p:nvSpPr>
          <p:cNvPr id="33" name="Text 28"/>
          <p:cNvSpPr txBox="1"/>
          <p:nvPr/>
        </p:nvSpPr>
        <p:spPr>
          <a:xfrm>
            <a:off x="3657600" y="3140050"/>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$54K → $66K</a:t>
            </a:r>
            <a:endParaRPr lang="en-US" sz="1400" dirty="0"/>
          </a:p>
        </p:txBody>
      </p:sp>
      <p:graphicFrame>
        <p:nvGraphicFramePr>
          <p:cNvPr id="34" name="Chart 3" descr=""/>
          <p:cNvGraphicFramePr/>
          <p:nvPr/>
        </p:nvGraphicFramePr>
        <p:xfrm>
          <a:off x="5276088" y="3158338"/>
          <a:ext cx="2697480" cy="345643"/>
        </p:xfrm>
        <a:graphic>
          <a:graphicData uri="http://schemas.openxmlformats.org/drawingml/2006/chart">
            <c:chart xmlns:c="http://schemas.openxmlformats.org/drawingml/2006/chart" r:id="rId5"/>
          </a:graphicData>
        </a:graphic>
      </p:graphicFrame>
      <p:sp>
        <p:nvSpPr>
          <p:cNvPr id="35" name="Text 29"/>
          <p:cNvSpPr txBox="1"/>
          <p:nvPr/>
        </p:nvSpPr>
        <p:spPr>
          <a:xfrm>
            <a:off x="8183880" y="3140050"/>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June</a:t>
            </a:r>
            <a:endParaRPr lang="en-US" sz="1400" dirty="0"/>
          </a:p>
        </p:txBody>
      </p:sp>
      <p:sp>
        <p:nvSpPr>
          <p:cNvPr id="36" name="Text 30"/>
          <p:cNvSpPr txBox="1"/>
          <p:nvPr/>
        </p:nvSpPr>
        <p:spPr>
          <a:xfrm>
            <a:off x="10195560" y="3140050"/>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+23.2%</a:t>
            </a:r>
            <a:endParaRPr lang="en-US" sz="1600" dirty="0"/>
          </a:p>
        </p:txBody>
      </p:sp>
      <p:sp>
        <p:nvSpPr>
          <p:cNvPr id="37" name="Shape 31"/>
          <p:cNvSpPr/>
          <p:nvPr/>
        </p:nvSpPr>
        <p:spPr>
          <a:xfrm>
            <a:off x="621792" y="3522269"/>
            <a:ext cx="10945368" cy="382219"/>
          </a:xfrm>
          <a:prstGeom prst="rect">
            <a:avLst/>
          </a:prstGeom>
          <a:solidFill>
            <a:srgbClr val="F7F7F7"/>
          </a:solidFill>
          <a:ln/>
        </p:spPr>
      </p:sp>
      <p:sp>
        <p:nvSpPr>
          <p:cNvPr id="38" name="Text 32"/>
          <p:cNvSpPr txBox="1"/>
          <p:nvPr/>
        </p:nvSpPr>
        <p:spPr>
          <a:xfrm>
            <a:off x="749808" y="3522269"/>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39" name="Text 33"/>
          <p:cNvSpPr txBox="1"/>
          <p:nvPr/>
        </p:nvSpPr>
        <p:spPr>
          <a:xfrm>
            <a:off x="1097280" y="3522269"/>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p:txBody>
      </p:sp>
      <p:sp>
        <p:nvSpPr>
          <p:cNvPr id="40" name="Text 34"/>
          <p:cNvSpPr txBox="1"/>
          <p:nvPr/>
        </p:nvSpPr>
        <p:spPr>
          <a:xfrm>
            <a:off x="3657600" y="3522269"/>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$49K → $60K</a:t>
            </a:r>
            <a:endParaRPr lang="en-US" sz="1400" dirty="0"/>
          </a:p>
        </p:txBody>
      </p:sp>
      <p:graphicFrame>
        <p:nvGraphicFramePr>
          <p:cNvPr id="41" name="Chart 4" descr=""/>
          <p:cNvGraphicFramePr/>
          <p:nvPr/>
        </p:nvGraphicFramePr>
        <p:xfrm>
          <a:off x="5276088" y="3540557"/>
          <a:ext cx="2697480" cy="345643"/>
        </p:xfrm>
        <a:graphic>
          <a:graphicData uri="http://schemas.openxmlformats.org/drawingml/2006/chart">
            <c:chart xmlns:c="http://schemas.openxmlformats.org/drawingml/2006/chart" r:id="rId6"/>
          </a:graphicData>
        </a:graphic>
      </p:graphicFrame>
      <p:sp>
        <p:nvSpPr>
          <p:cNvPr id="42" name="Text 35"/>
          <p:cNvSpPr txBox="1"/>
          <p:nvPr/>
        </p:nvSpPr>
        <p:spPr>
          <a:xfrm>
            <a:off x="8183880" y="3522269"/>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July</a:t>
            </a:r>
            <a:endParaRPr lang="en-US" sz="1400" dirty="0"/>
          </a:p>
        </p:txBody>
      </p:sp>
      <p:sp>
        <p:nvSpPr>
          <p:cNvPr id="43" name="Text 36"/>
          <p:cNvSpPr txBox="1"/>
          <p:nvPr/>
        </p:nvSpPr>
        <p:spPr>
          <a:xfrm>
            <a:off x="10195560" y="3522269"/>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+22.0%</a:t>
            </a:r>
            <a:endParaRPr lang="en-US" sz="1600" dirty="0"/>
          </a:p>
        </p:txBody>
      </p:sp>
      <p:sp>
        <p:nvSpPr>
          <p:cNvPr id="44" name="Text 37"/>
          <p:cNvSpPr txBox="1"/>
          <p:nvPr/>
        </p:nvSpPr>
        <p:spPr>
          <a:xfrm>
            <a:off x="749808" y="3904488"/>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6</a:t>
            </a:r>
            <a:endParaRPr lang="en-US" sz="1500" dirty="0"/>
          </a:p>
        </p:txBody>
      </p:sp>
      <p:sp>
        <p:nvSpPr>
          <p:cNvPr id="45" name="Text 38"/>
          <p:cNvSpPr txBox="1"/>
          <p:nvPr/>
        </p:nvSpPr>
        <p:spPr>
          <a:xfrm>
            <a:off x="1097280" y="3904488"/>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LEXUS</a:t>
            </a:r>
            <a:endParaRPr lang="en-US" sz="1400" dirty="0"/>
          </a:p>
        </p:txBody>
      </p:sp>
      <p:sp>
        <p:nvSpPr>
          <p:cNvPr id="46" name="Text 39"/>
          <p:cNvSpPr txBox="1"/>
          <p:nvPr/>
        </p:nvSpPr>
        <p:spPr>
          <a:xfrm>
            <a:off x="3657600" y="3904488"/>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$202K → $246K</a:t>
            </a:r>
            <a:endParaRPr lang="en-US" sz="1400" dirty="0"/>
          </a:p>
        </p:txBody>
      </p:sp>
      <p:graphicFrame>
        <p:nvGraphicFramePr>
          <p:cNvPr id="47" name="Chart 5" descr=""/>
          <p:cNvGraphicFramePr/>
          <p:nvPr/>
        </p:nvGraphicFramePr>
        <p:xfrm>
          <a:off x="5276088" y="3922776"/>
          <a:ext cx="2697480" cy="345643"/>
        </p:xfrm>
        <a:graphic>
          <a:graphicData uri="http://schemas.openxmlformats.org/drawingml/2006/chart">
            <c:chart xmlns:c="http://schemas.openxmlformats.org/drawingml/2006/chart" r:id="rId7"/>
          </a:graphicData>
        </a:graphic>
      </p:graphicFrame>
      <p:sp>
        <p:nvSpPr>
          <p:cNvPr id="48" name="Text 40"/>
          <p:cNvSpPr txBox="1"/>
          <p:nvPr/>
        </p:nvSpPr>
        <p:spPr>
          <a:xfrm>
            <a:off x="8183880" y="3904488"/>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April</a:t>
            </a:r>
            <a:endParaRPr lang="en-US" sz="1400" dirty="0"/>
          </a:p>
        </p:txBody>
      </p:sp>
      <p:sp>
        <p:nvSpPr>
          <p:cNvPr id="49" name="Text 41"/>
          <p:cNvSpPr txBox="1"/>
          <p:nvPr/>
        </p:nvSpPr>
        <p:spPr>
          <a:xfrm>
            <a:off x="10195560" y="3904488"/>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+21.9%</a:t>
            </a:r>
            <a:endParaRPr lang="en-US" sz="1600" dirty="0"/>
          </a:p>
        </p:txBody>
      </p:sp>
      <p:sp>
        <p:nvSpPr>
          <p:cNvPr id="50" name="Shape 42"/>
          <p:cNvSpPr/>
          <p:nvPr/>
        </p:nvSpPr>
        <p:spPr>
          <a:xfrm>
            <a:off x="621792" y="4286707"/>
            <a:ext cx="10945368" cy="382219"/>
          </a:xfrm>
          <a:prstGeom prst="rect">
            <a:avLst/>
          </a:prstGeom>
          <a:solidFill>
            <a:srgbClr val="F7F7F7"/>
          </a:solidFill>
          <a:ln/>
        </p:spPr>
      </p:sp>
      <p:sp>
        <p:nvSpPr>
          <p:cNvPr id="51" name="Text 43"/>
          <p:cNvSpPr txBox="1"/>
          <p:nvPr/>
        </p:nvSpPr>
        <p:spPr>
          <a:xfrm>
            <a:off x="749808" y="4286707"/>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7</a:t>
            </a:r>
            <a:endParaRPr lang="en-US" sz="1500" dirty="0"/>
          </a:p>
        </p:txBody>
      </p:sp>
      <p:sp>
        <p:nvSpPr>
          <p:cNvPr id="52" name="Text 44"/>
          <p:cNvSpPr txBox="1"/>
          <p:nvPr/>
        </p:nvSpPr>
        <p:spPr>
          <a:xfrm>
            <a:off x="1097280" y="4286707"/>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TOYOTA PRESCOTT</a:t>
            </a:r>
            <a:endParaRPr lang="en-US" sz="1400" dirty="0"/>
          </a:p>
        </p:txBody>
      </p:sp>
      <p:sp>
        <p:nvSpPr>
          <p:cNvPr id="53" name="Text 45"/>
          <p:cNvSpPr txBox="1"/>
          <p:nvPr/>
        </p:nvSpPr>
        <p:spPr>
          <a:xfrm>
            <a:off x="3657600" y="4286707"/>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$311K → $375K</a:t>
            </a:r>
            <a:endParaRPr lang="en-US" sz="1400" dirty="0"/>
          </a:p>
        </p:txBody>
      </p:sp>
      <p:graphicFrame>
        <p:nvGraphicFramePr>
          <p:cNvPr id="54" name="Chart 6" descr=""/>
          <p:cNvGraphicFramePr/>
          <p:nvPr/>
        </p:nvGraphicFramePr>
        <p:xfrm>
          <a:off x="5276088" y="4304995"/>
          <a:ext cx="2697480" cy="345643"/>
        </p:xfrm>
        <a:graphic>
          <a:graphicData uri="http://schemas.openxmlformats.org/drawingml/2006/chart">
            <c:chart xmlns:c="http://schemas.openxmlformats.org/drawingml/2006/chart" r:id="rId8"/>
          </a:graphicData>
        </a:graphic>
      </p:graphicFrame>
      <p:sp>
        <p:nvSpPr>
          <p:cNvPr id="55" name="Text 46"/>
          <p:cNvSpPr txBox="1"/>
          <p:nvPr/>
        </p:nvSpPr>
        <p:spPr>
          <a:xfrm>
            <a:off x="8183880" y="4286707"/>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April</a:t>
            </a:r>
            <a:endParaRPr lang="en-US" sz="1400" dirty="0"/>
          </a:p>
        </p:txBody>
      </p:sp>
      <p:sp>
        <p:nvSpPr>
          <p:cNvPr id="56" name="Text 47"/>
          <p:cNvSpPr txBox="1"/>
          <p:nvPr/>
        </p:nvSpPr>
        <p:spPr>
          <a:xfrm>
            <a:off x="10195560" y="4286707"/>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+20.4%</a:t>
            </a:r>
            <a:endParaRPr lang="en-US" sz="1600" dirty="0"/>
          </a:p>
        </p:txBody>
      </p:sp>
      <p:sp>
        <p:nvSpPr>
          <p:cNvPr id="57" name="Text 48"/>
          <p:cNvSpPr txBox="1"/>
          <p:nvPr/>
        </p:nvSpPr>
        <p:spPr>
          <a:xfrm>
            <a:off x="749808" y="4668926"/>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8</a:t>
            </a:r>
            <a:endParaRPr lang="en-US" sz="1500" dirty="0"/>
          </a:p>
        </p:txBody>
      </p:sp>
      <p:sp>
        <p:nvSpPr>
          <p:cNvPr id="58" name="Text 49"/>
          <p:cNvSpPr txBox="1"/>
          <p:nvPr/>
        </p:nvSpPr>
        <p:spPr>
          <a:xfrm>
            <a:off x="1097280" y="4668926"/>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LR RENO</a:t>
            </a:r>
            <a:endParaRPr lang="en-US" sz="1400" dirty="0"/>
          </a:p>
        </p:txBody>
      </p:sp>
      <p:sp>
        <p:nvSpPr>
          <p:cNvPr id="59" name="Text 50"/>
          <p:cNvSpPr txBox="1"/>
          <p:nvPr/>
        </p:nvSpPr>
        <p:spPr>
          <a:xfrm>
            <a:off x="3657600" y="4668926"/>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$148K → $177K</a:t>
            </a:r>
            <a:endParaRPr lang="en-US" sz="1400" dirty="0"/>
          </a:p>
        </p:txBody>
      </p:sp>
      <p:graphicFrame>
        <p:nvGraphicFramePr>
          <p:cNvPr id="60" name="Chart 7" descr=""/>
          <p:cNvGraphicFramePr/>
          <p:nvPr/>
        </p:nvGraphicFramePr>
        <p:xfrm>
          <a:off x="5276088" y="4687214"/>
          <a:ext cx="2697480" cy="345643"/>
        </p:xfrm>
        <a:graphic>
          <a:graphicData uri="http://schemas.openxmlformats.org/drawingml/2006/chart">
            <c:chart xmlns:c="http://schemas.openxmlformats.org/drawingml/2006/chart" r:id="rId9"/>
          </a:graphicData>
        </a:graphic>
      </p:graphicFrame>
      <p:sp>
        <p:nvSpPr>
          <p:cNvPr id="61" name="Text 51"/>
          <p:cNvSpPr txBox="1"/>
          <p:nvPr/>
        </p:nvSpPr>
        <p:spPr>
          <a:xfrm>
            <a:off x="8183880" y="4668926"/>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April</a:t>
            </a:r>
            <a:endParaRPr lang="en-US" sz="1400" dirty="0"/>
          </a:p>
        </p:txBody>
      </p:sp>
      <p:sp>
        <p:nvSpPr>
          <p:cNvPr id="62" name="Text 52"/>
          <p:cNvSpPr txBox="1"/>
          <p:nvPr/>
        </p:nvSpPr>
        <p:spPr>
          <a:xfrm>
            <a:off x="10195560" y="4668926"/>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+19.1%</a:t>
            </a:r>
            <a:endParaRPr lang="en-US" sz="1600" dirty="0"/>
          </a:p>
        </p:txBody>
      </p:sp>
      <p:sp>
        <p:nvSpPr>
          <p:cNvPr id="63" name="Shape 53"/>
          <p:cNvSpPr/>
          <p:nvPr/>
        </p:nvSpPr>
        <p:spPr>
          <a:xfrm>
            <a:off x="621792" y="5051146"/>
            <a:ext cx="10945368" cy="382219"/>
          </a:xfrm>
          <a:prstGeom prst="rect">
            <a:avLst/>
          </a:prstGeom>
          <a:solidFill>
            <a:srgbClr val="F7F7F7"/>
          </a:solidFill>
          <a:ln/>
        </p:spPr>
      </p:sp>
      <p:sp>
        <p:nvSpPr>
          <p:cNvPr id="64" name="Text 54"/>
          <p:cNvSpPr txBox="1"/>
          <p:nvPr/>
        </p:nvSpPr>
        <p:spPr>
          <a:xfrm>
            <a:off x="749808" y="5051146"/>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9</a:t>
            </a:r>
            <a:endParaRPr lang="en-US" sz="1500" dirty="0"/>
          </a:p>
        </p:txBody>
      </p:sp>
      <p:sp>
        <p:nvSpPr>
          <p:cNvPr id="65" name="Text 55"/>
          <p:cNvSpPr txBox="1"/>
          <p:nvPr/>
        </p:nvSpPr>
        <p:spPr>
          <a:xfrm>
            <a:off x="1097280" y="5051146"/>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GMC PRESCOTT</a:t>
            </a:r>
            <a:endParaRPr lang="en-US" sz="1400" dirty="0"/>
          </a:p>
        </p:txBody>
      </p:sp>
      <p:sp>
        <p:nvSpPr>
          <p:cNvPr id="66" name="Text 56"/>
          <p:cNvSpPr txBox="1"/>
          <p:nvPr/>
        </p:nvSpPr>
        <p:spPr>
          <a:xfrm>
            <a:off x="3657600" y="5051146"/>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$100K → $119K</a:t>
            </a:r>
            <a:endParaRPr lang="en-US" sz="1400" dirty="0"/>
          </a:p>
        </p:txBody>
      </p:sp>
      <p:graphicFrame>
        <p:nvGraphicFramePr>
          <p:cNvPr id="67" name="Chart 8" descr=""/>
          <p:cNvGraphicFramePr/>
          <p:nvPr/>
        </p:nvGraphicFramePr>
        <p:xfrm>
          <a:off x="5276088" y="5069434"/>
          <a:ext cx="2697480" cy="345643"/>
        </p:xfrm>
        <a:graphic>
          <a:graphicData uri="http://schemas.openxmlformats.org/drawingml/2006/chart">
            <c:chart xmlns:c="http://schemas.openxmlformats.org/drawingml/2006/chart" r:id="rId10"/>
          </a:graphicData>
        </a:graphic>
      </p:graphicFrame>
      <p:sp>
        <p:nvSpPr>
          <p:cNvPr id="68" name="Text 57"/>
          <p:cNvSpPr txBox="1"/>
          <p:nvPr/>
        </p:nvSpPr>
        <p:spPr>
          <a:xfrm>
            <a:off x="8183880" y="5051146"/>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July</a:t>
            </a:r>
            <a:endParaRPr lang="en-US" sz="1400" dirty="0"/>
          </a:p>
        </p:txBody>
      </p:sp>
      <p:sp>
        <p:nvSpPr>
          <p:cNvPr id="69" name="Text 58"/>
          <p:cNvSpPr txBox="1"/>
          <p:nvPr/>
        </p:nvSpPr>
        <p:spPr>
          <a:xfrm>
            <a:off x="10195560" y="5051146"/>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+18.8%</a:t>
            </a:r>
            <a:endParaRPr lang="en-US" sz="1600" dirty="0"/>
          </a:p>
        </p:txBody>
      </p:sp>
      <p:sp>
        <p:nvSpPr>
          <p:cNvPr id="70" name="Text 59"/>
          <p:cNvSpPr txBox="1"/>
          <p:nvPr/>
        </p:nvSpPr>
        <p:spPr>
          <a:xfrm>
            <a:off x="749808" y="5433365"/>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10</a:t>
            </a:r>
            <a:endParaRPr lang="en-US" sz="1500" dirty="0"/>
          </a:p>
        </p:txBody>
      </p:sp>
      <p:sp>
        <p:nvSpPr>
          <p:cNvPr id="71" name="Text 60"/>
          <p:cNvSpPr txBox="1"/>
          <p:nvPr/>
        </p:nvSpPr>
        <p:spPr>
          <a:xfrm>
            <a:off x="1097280" y="5433365"/>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HONDA SPOKANE</a:t>
            </a:r>
            <a:endParaRPr lang="en-US" sz="1400" dirty="0"/>
          </a:p>
        </p:txBody>
      </p:sp>
      <p:sp>
        <p:nvSpPr>
          <p:cNvPr id="72" name="Text 61"/>
          <p:cNvSpPr txBox="1"/>
          <p:nvPr/>
        </p:nvSpPr>
        <p:spPr>
          <a:xfrm>
            <a:off x="3657600" y="5433365"/>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$294K → $345K</a:t>
            </a:r>
            <a:endParaRPr lang="en-US" sz="1400" dirty="0"/>
          </a:p>
        </p:txBody>
      </p:sp>
      <p:graphicFrame>
        <p:nvGraphicFramePr>
          <p:cNvPr id="73" name="Chart 9" descr=""/>
          <p:cNvGraphicFramePr/>
          <p:nvPr/>
        </p:nvGraphicFramePr>
        <p:xfrm>
          <a:off x="5276088" y="5451653"/>
          <a:ext cx="2697480" cy="345643"/>
        </p:xfrm>
        <a:graphic>
          <a:graphicData uri="http://schemas.openxmlformats.org/drawingml/2006/chart">
            <c:chart xmlns:c="http://schemas.openxmlformats.org/drawingml/2006/chart" r:id="rId11"/>
          </a:graphicData>
        </a:graphic>
      </p:graphicFrame>
      <p:sp>
        <p:nvSpPr>
          <p:cNvPr id="74" name="Text 62"/>
          <p:cNvSpPr txBox="1"/>
          <p:nvPr/>
        </p:nvSpPr>
        <p:spPr>
          <a:xfrm>
            <a:off x="8183880" y="5433365"/>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April</a:t>
            </a:r>
            <a:endParaRPr lang="en-US" sz="1400" dirty="0"/>
          </a:p>
        </p:txBody>
      </p:sp>
      <p:sp>
        <p:nvSpPr>
          <p:cNvPr id="75" name="Text 63"/>
          <p:cNvSpPr txBox="1"/>
          <p:nvPr/>
        </p:nvSpPr>
        <p:spPr>
          <a:xfrm>
            <a:off x="10195560" y="5433365"/>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+17.3%</a:t>
            </a:r>
            <a:endParaRPr lang="en-US" sz="1600" dirty="0"/>
          </a:p>
        </p:txBody>
      </p:sp>
      <p:sp>
        <p:nvSpPr>
          <p:cNvPr id="76" name="Shape 64"/>
          <p:cNvSpPr/>
          <p:nvPr/>
        </p:nvSpPr>
        <p:spPr>
          <a:xfrm>
            <a:off x="457200" y="5961888"/>
            <a:ext cx="11274552" cy="548640"/>
          </a:xfrm>
          <a:prstGeom prst="rect">
            <a:avLst/>
          </a:prstGeom>
          <a:solidFill>
            <a:srgbClr val="E6F6EE"/>
          </a:solidFill>
          <a:ln/>
        </p:spPr>
      </p:sp>
      <p:sp>
        <p:nvSpPr>
          <p:cNvPr id="77" name="Text 65"/>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MAZDA went $155K to $209K, stepping up in August. Ask what changed that month.</a:t>
            </a:r>
            <a:endParaRPr lang="en-US" sz="1600" dirty="0"/>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LABOR MIX</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Express Service</a:t>
            </a:r>
            <a:endParaRPr lang="en-US" sz="2800" dirty="0"/>
          </a:p>
        </p:txBody>
      </p:sp>
      <p:sp>
        <p:nvSpPr>
          <p:cNvPr id="5" name="Shape 3"/>
          <p:cNvSpPr/>
          <p:nvPr/>
        </p:nvSpPr>
        <p:spPr>
          <a:xfrm>
            <a:off x="457200" y="1207008"/>
            <a:ext cx="6400800" cy="4645152"/>
          </a:xfrm>
          <a:prstGeom prst="rect">
            <a:avLst/>
          </a:prstGeom>
          <a:solidFill>
            <a:srgbClr val="FFFFFF"/>
          </a:solidFill>
          <a:ln/>
        </p:spPr>
      </p:sp>
      <p:sp>
        <p:nvSpPr>
          <p:cNvPr id="6" name="Shape 4"/>
          <p:cNvSpPr/>
          <p:nvPr/>
        </p:nvSpPr>
        <p:spPr>
          <a:xfrm>
            <a:off x="7022592" y="1207008"/>
            <a:ext cx="4709160" cy="4645152"/>
          </a:xfrm>
          <a:prstGeom prst="rect">
            <a:avLst/>
          </a:prstGeom>
          <a:solidFill>
            <a:srgbClr val="FFFFFF"/>
          </a:solidFill>
          <a:ln/>
        </p:spPr>
      </p:sp>
      <p:sp>
        <p:nvSpPr>
          <p:cNvPr id="7" name="Text 5"/>
          <p:cNvSpPr txBox="1"/>
          <p:nvPr/>
        </p:nvSpPr>
        <p:spPr>
          <a:xfrm>
            <a:off x="713232" y="1371600"/>
            <a:ext cx="5943600" cy="310896"/>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WE SAID · GM MEETINGS JAN &amp; MAY 2026</a:t>
            </a:r>
            <a:endParaRPr lang="en-US" sz="1400" dirty="0"/>
          </a:p>
        </p:txBody>
      </p:sp>
      <p:sp>
        <p:nvSpPr>
          <p:cNvPr id="8" name="Text 6"/>
          <p:cNvSpPr txBox="1"/>
          <p:nvPr/>
        </p:nvSpPr>
        <p:spPr>
          <a:xfrm>
            <a:off x="7269480" y="1371600"/>
            <a:ext cx="4297680" cy="310896"/>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WHERE WE ARE · JAN–SEP 2026</a:t>
            </a:r>
            <a:endParaRPr lang="en-US" sz="1400" dirty="0"/>
          </a:p>
        </p:txBody>
      </p:sp>
      <p:sp>
        <p:nvSpPr>
          <p:cNvPr id="9" name="Shape 7"/>
          <p:cNvSpPr/>
          <p:nvPr/>
        </p:nvSpPr>
        <p:spPr>
          <a:xfrm>
            <a:off x="713232" y="1737360"/>
            <a:ext cx="5897880" cy="10973"/>
          </a:xfrm>
          <a:prstGeom prst="rect">
            <a:avLst/>
          </a:prstGeom>
          <a:solidFill>
            <a:srgbClr val="D9D9D9"/>
          </a:solidFill>
          <a:ln/>
        </p:spPr>
      </p:sp>
      <p:sp>
        <p:nvSpPr>
          <p:cNvPr id="10" name="Shape 8"/>
          <p:cNvSpPr/>
          <p:nvPr/>
        </p:nvSpPr>
        <p:spPr>
          <a:xfrm>
            <a:off x="7269480" y="1737360"/>
            <a:ext cx="4224528" cy="10973"/>
          </a:xfrm>
          <a:prstGeom prst="rect">
            <a:avLst/>
          </a:prstGeom>
          <a:solidFill>
            <a:srgbClr val="D9D9D9"/>
          </a:solidFill>
          <a:ln/>
        </p:spPr>
      </p:sp>
      <p:sp>
        <p:nvSpPr>
          <p:cNvPr id="11" name="Text 9"/>
          <p:cNvSpPr txBox="1"/>
          <p:nvPr/>
        </p:nvSpPr>
        <p:spPr>
          <a:xfrm>
            <a:off x="713232" y="1874520"/>
            <a:ext cx="5897880" cy="384048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Express service is the #1 retention driver and business builder</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75% of your business includes some type of maintenance work</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Express bays are simply MPI bays. Unknown dollars are worth 2.5 times the known.</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Minimize labor costs for lower-skilled work</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If you don't help them, someone else will</a:t>
            </a:r>
            <a:endParaRPr lang="en-US" sz="1800" dirty="0"/>
          </a:p>
        </p:txBody>
      </p:sp>
      <p:sp>
        <p:nvSpPr>
          <p:cNvPr id="12" name="Shape 10"/>
          <p:cNvSpPr/>
          <p:nvPr/>
        </p:nvSpPr>
        <p:spPr>
          <a:xfrm>
            <a:off x="7269480" y="1920240"/>
            <a:ext cx="54864" cy="1714500"/>
          </a:xfrm>
          <a:prstGeom prst="rect">
            <a:avLst/>
          </a:prstGeom>
          <a:solidFill>
            <a:srgbClr val="2587C5"/>
          </a:solidFill>
          <a:ln/>
        </p:spPr>
      </p:sp>
      <p:sp>
        <p:nvSpPr>
          <p:cNvPr id="13" name="Text 11"/>
          <p:cNvSpPr txBox="1"/>
          <p:nvPr/>
        </p:nvSpPr>
        <p:spPr>
          <a:xfrm>
            <a:off x="7452360" y="187452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2C4A"/>
                </a:solidFill>
                <a:latin typeface="Inter" pitchFamily="34" charset="0"/>
                <a:ea typeface="Inter" pitchFamily="34" charset="-122"/>
                <a:cs typeface="Inter" pitchFamily="34" charset="-120"/>
              </a:rPr>
              <a:t>54.3%</a:t>
            </a:r>
            <a:endParaRPr lang="en-US" sz="3000" dirty="0"/>
          </a:p>
        </p:txBody>
      </p:sp>
      <p:sp>
        <p:nvSpPr>
          <p:cNvPr id="14" name="Text 12"/>
          <p:cNvSpPr txBox="1"/>
          <p:nvPr/>
        </p:nvSpPr>
        <p:spPr>
          <a:xfrm>
            <a:off x="7452360" y="2441448"/>
            <a:ext cx="4023360" cy="121158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Maintenance share of customer-pay labor; repair 30.5%.</a:t>
            </a:r>
            <a:endParaRPr lang="en-US" sz="1400" dirty="0"/>
          </a:p>
        </p:txBody>
      </p:sp>
      <p:sp>
        <p:nvSpPr>
          <p:cNvPr id="15" name="Shape 13"/>
          <p:cNvSpPr/>
          <p:nvPr/>
        </p:nvSpPr>
        <p:spPr>
          <a:xfrm>
            <a:off x="7269480" y="3863340"/>
            <a:ext cx="54864" cy="1714500"/>
          </a:xfrm>
          <a:prstGeom prst="rect">
            <a:avLst/>
          </a:prstGeom>
          <a:solidFill>
            <a:srgbClr val="2587C5"/>
          </a:solidFill>
          <a:ln/>
        </p:spPr>
      </p:sp>
      <p:sp>
        <p:nvSpPr>
          <p:cNvPr id="16" name="Text 14"/>
          <p:cNvSpPr txBox="1"/>
          <p:nvPr/>
        </p:nvSpPr>
        <p:spPr>
          <a:xfrm>
            <a:off x="7452360" y="381762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2C4A"/>
                </a:solidFill>
                <a:latin typeface="Inter" pitchFamily="34" charset="0"/>
                <a:ea typeface="Inter" pitchFamily="34" charset="-122"/>
                <a:cs typeface="Inter" pitchFamily="34" charset="-120"/>
              </a:rPr>
              <a:t>52.5%</a:t>
            </a:r>
            <a:endParaRPr lang="en-US" sz="3000" dirty="0"/>
          </a:p>
        </p:txBody>
      </p:sp>
      <p:sp>
        <p:nvSpPr>
          <p:cNvPr id="17" name="Text 15"/>
          <p:cNvSpPr txBox="1"/>
          <p:nvPr/>
        </p:nvSpPr>
        <p:spPr>
          <a:xfrm>
            <a:off x="7452360" y="4384548"/>
            <a:ext cx="4023360" cy="121158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Customer pay as a share of labor sale, down 0.3 pts. Warranty labor rose 8.8%, internal 5.8%.</a:t>
            </a:r>
            <a:endParaRPr lang="en-US" sz="1400" dirty="0"/>
          </a:p>
        </p:txBody>
      </p:sp>
      <p:sp>
        <p:nvSpPr>
          <p:cNvPr id="18" name="Shape 16"/>
          <p:cNvSpPr/>
          <p:nvPr/>
        </p:nvSpPr>
        <p:spPr>
          <a:xfrm>
            <a:off x="457200" y="5961888"/>
            <a:ext cx="11274552" cy="548640"/>
          </a:xfrm>
          <a:prstGeom prst="rect">
            <a:avLst/>
          </a:prstGeom>
          <a:solidFill>
            <a:srgbClr val="EDF4FA"/>
          </a:solidFill>
          <a:ln/>
        </p:spPr>
      </p:sp>
      <p:sp>
        <p:nvSpPr>
          <p:cNvPr id="19" name="Text 17"/>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The ask: treat every express visit as an inspection: fast in, inspected, and sold the next service.</a:t>
            </a:r>
            <a:endParaRPr lang="en-US" sz="1600" dirty="0"/>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LABOR MIX</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Tracking &amp; Accountability</a:t>
            </a:r>
            <a:endParaRPr lang="en-US" sz="2800" dirty="0"/>
          </a:p>
        </p:txBody>
      </p:sp>
      <p:sp>
        <p:nvSpPr>
          <p:cNvPr id="5" name="Shape 3"/>
          <p:cNvSpPr/>
          <p:nvPr/>
        </p:nvSpPr>
        <p:spPr>
          <a:xfrm>
            <a:off x="457200" y="1207008"/>
            <a:ext cx="6400800" cy="4645152"/>
          </a:xfrm>
          <a:prstGeom prst="rect">
            <a:avLst/>
          </a:prstGeom>
          <a:solidFill>
            <a:srgbClr val="FFFFFF"/>
          </a:solidFill>
          <a:ln/>
        </p:spPr>
      </p:sp>
      <p:sp>
        <p:nvSpPr>
          <p:cNvPr id="6" name="Shape 4"/>
          <p:cNvSpPr/>
          <p:nvPr/>
        </p:nvSpPr>
        <p:spPr>
          <a:xfrm>
            <a:off x="7022592" y="1207008"/>
            <a:ext cx="4709160" cy="4645152"/>
          </a:xfrm>
          <a:prstGeom prst="rect">
            <a:avLst/>
          </a:prstGeom>
          <a:solidFill>
            <a:srgbClr val="FFFFFF"/>
          </a:solidFill>
          <a:ln/>
        </p:spPr>
      </p:sp>
      <p:sp>
        <p:nvSpPr>
          <p:cNvPr id="7" name="Text 5"/>
          <p:cNvSpPr txBox="1"/>
          <p:nvPr/>
        </p:nvSpPr>
        <p:spPr>
          <a:xfrm>
            <a:off x="713232" y="1371600"/>
            <a:ext cx="5943600" cy="310896"/>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WE SAID · ROUNDTABLE &amp; GM MEETINGS</a:t>
            </a:r>
            <a:endParaRPr lang="en-US" sz="1400" dirty="0"/>
          </a:p>
        </p:txBody>
      </p:sp>
      <p:sp>
        <p:nvSpPr>
          <p:cNvPr id="8" name="Text 6"/>
          <p:cNvSpPr txBox="1"/>
          <p:nvPr/>
        </p:nvSpPr>
        <p:spPr>
          <a:xfrm>
            <a:off x="7269480" y="1371600"/>
            <a:ext cx="4297680" cy="310896"/>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WHERE WE ARE · JAN–SEP 2026</a:t>
            </a:r>
            <a:endParaRPr lang="en-US" sz="1400" dirty="0"/>
          </a:p>
        </p:txBody>
      </p:sp>
      <p:sp>
        <p:nvSpPr>
          <p:cNvPr id="9" name="Shape 7"/>
          <p:cNvSpPr/>
          <p:nvPr/>
        </p:nvSpPr>
        <p:spPr>
          <a:xfrm>
            <a:off x="713232" y="1737360"/>
            <a:ext cx="5897880" cy="10973"/>
          </a:xfrm>
          <a:prstGeom prst="rect">
            <a:avLst/>
          </a:prstGeom>
          <a:solidFill>
            <a:srgbClr val="D9D9D9"/>
          </a:solidFill>
          <a:ln/>
        </p:spPr>
      </p:sp>
      <p:sp>
        <p:nvSpPr>
          <p:cNvPr id="10" name="Shape 8"/>
          <p:cNvSpPr/>
          <p:nvPr/>
        </p:nvSpPr>
        <p:spPr>
          <a:xfrm>
            <a:off x="7269480" y="1737360"/>
            <a:ext cx="4224528" cy="10973"/>
          </a:xfrm>
          <a:prstGeom prst="rect">
            <a:avLst/>
          </a:prstGeom>
          <a:solidFill>
            <a:srgbClr val="D9D9D9"/>
          </a:solidFill>
          <a:ln/>
        </p:spPr>
      </p:sp>
      <p:sp>
        <p:nvSpPr>
          <p:cNvPr id="11" name="Text 9"/>
          <p:cNvSpPr txBox="1"/>
          <p:nvPr/>
        </p:nvSpPr>
        <p:spPr>
          <a:xfrm>
            <a:off x="713232" y="1874520"/>
            <a:ext cx="5897880" cy="384048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Daily review of the Viz 'Op Code' and 'Performance Report'</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Give feedback quickly and often. Trends start early: don't wait until the 15th.</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Tracked metrics improve performance; we are responsible for the knowing</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Scoreboard techs and advisors: CP $ per RO, ELR, MPI completion, closing %, key op codes</a:t>
            </a:r>
            <a:endParaRPr lang="en-US" sz="1800" dirty="0"/>
          </a:p>
        </p:txBody>
      </p:sp>
      <p:sp>
        <p:nvSpPr>
          <p:cNvPr id="12" name="Shape 10"/>
          <p:cNvSpPr/>
          <p:nvPr/>
        </p:nvSpPr>
        <p:spPr>
          <a:xfrm>
            <a:off x="7269480" y="1920240"/>
            <a:ext cx="54864" cy="1714500"/>
          </a:xfrm>
          <a:prstGeom prst="rect">
            <a:avLst/>
          </a:prstGeom>
          <a:solidFill>
            <a:srgbClr val="12A566"/>
          </a:solidFill>
          <a:ln/>
        </p:spPr>
      </p:sp>
      <p:sp>
        <p:nvSpPr>
          <p:cNvPr id="13" name="Text 11"/>
          <p:cNvSpPr txBox="1"/>
          <p:nvPr/>
        </p:nvSpPr>
        <p:spPr>
          <a:xfrm>
            <a:off x="7452360" y="187452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7A4A"/>
                </a:solidFill>
                <a:latin typeface="Inter" pitchFamily="34" charset="0"/>
                <a:ea typeface="Inter" pitchFamily="34" charset="-122"/>
                <a:cs typeface="Inter" pitchFamily="34" charset="-120"/>
              </a:rPr>
              <a:t>15.2%</a:t>
            </a:r>
            <a:endParaRPr lang="en-US" sz="3000" dirty="0"/>
          </a:p>
        </p:txBody>
      </p:sp>
      <p:sp>
        <p:nvSpPr>
          <p:cNvPr id="14" name="Text 12"/>
          <p:cNvSpPr txBox="1"/>
          <p:nvPr/>
        </p:nvSpPr>
        <p:spPr>
          <a:xfrm>
            <a:off x="7452360" y="2441448"/>
            <a:ext cx="4023360" cy="121158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Customer-pay labor whose op code description can't be classified, down from 19.0%.</a:t>
            </a:r>
            <a:endParaRPr lang="en-US" sz="1400" dirty="0"/>
          </a:p>
        </p:txBody>
      </p:sp>
      <p:sp>
        <p:nvSpPr>
          <p:cNvPr id="15" name="Shape 13"/>
          <p:cNvSpPr/>
          <p:nvPr/>
        </p:nvSpPr>
        <p:spPr>
          <a:xfrm>
            <a:off x="7269480" y="3863340"/>
            <a:ext cx="54864" cy="1714500"/>
          </a:xfrm>
          <a:prstGeom prst="rect">
            <a:avLst/>
          </a:prstGeom>
          <a:solidFill>
            <a:srgbClr val="C2352F"/>
          </a:solidFill>
          <a:ln/>
        </p:spPr>
      </p:sp>
      <p:sp>
        <p:nvSpPr>
          <p:cNvPr id="16" name="Text 14"/>
          <p:cNvSpPr txBox="1"/>
          <p:nvPr/>
        </p:nvSpPr>
        <p:spPr>
          <a:xfrm>
            <a:off x="7452360" y="3817620"/>
            <a:ext cx="4023360" cy="566928"/>
          </a:xfrm>
          <a:prstGeom prst="rect">
            <a:avLst/>
          </a:prstGeom>
          <a:noFill/>
          <a:ln/>
        </p:spPr>
        <p:txBody>
          <a:bodyPr wrap="square" lIns="0" tIns="0" rIns="0" bIns="0" rtlCol="0" anchor="ctr">
            <a:normAutofit/>
          </a:bodyPr>
          <a:lstStyle/>
          <a:p>
            <a:pPr indent="0" marL="0">
              <a:buNone/>
            </a:pPr>
            <a:r>
              <a:rPr lang="en-US" sz="3000" b="1" dirty="0">
                <a:solidFill>
                  <a:srgbClr val="A82B26"/>
                </a:solidFill>
                <a:latin typeface="Inter" pitchFamily="34" charset="0"/>
                <a:ea typeface="Inter" pitchFamily="34" charset="-122"/>
                <a:cs typeface="Inter" pitchFamily="34" charset="-120"/>
              </a:rPr>
              <a:t>4.2% to 63.5%</a:t>
            </a:r>
            <a:endParaRPr lang="en-US" sz="3000" dirty="0"/>
          </a:p>
        </p:txBody>
      </p:sp>
      <p:sp>
        <p:nvSpPr>
          <p:cNvPr id="17" name="Text 15"/>
          <p:cNvSpPr txBox="1"/>
          <p:nvPr/>
        </p:nvSpPr>
        <p:spPr>
          <a:xfrm>
            <a:off x="7452360" y="4384548"/>
            <a:ext cx="4023360" cy="121158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The range across stores. Vague descriptions hide what the shop sells.</a:t>
            </a:r>
            <a:endParaRPr lang="en-US" sz="1400" dirty="0"/>
          </a:p>
        </p:txBody>
      </p:sp>
      <p:sp>
        <p:nvSpPr>
          <p:cNvPr id="18" name="Shape 16"/>
          <p:cNvSpPr/>
          <p:nvPr/>
        </p:nvSpPr>
        <p:spPr>
          <a:xfrm>
            <a:off x="457200" y="5961888"/>
            <a:ext cx="11274552" cy="548640"/>
          </a:xfrm>
          <a:prstGeom prst="rect">
            <a:avLst/>
          </a:prstGeom>
          <a:solidFill>
            <a:srgbClr val="EDF4FA"/>
          </a:solidFill>
          <a:ln/>
        </p:spPr>
      </p:sp>
      <p:sp>
        <p:nvSpPr>
          <p:cNvPr id="19" name="Text 17"/>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The ask: if it isn't described, it can't be tracked. Clean up op code descriptions so the reports show what you sell.</a:t>
            </a:r>
            <a:endParaRPr lang="en-US" sz="1600" dirty="0"/>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Road To The Sale</a:t>
            </a:r>
            <a:endParaRPr lang="en-US" sz="2800" dirty="0"/>
          </a:p>
        </p:txBody>
      </p:sp>
      <p:sp>
        <p:nvSpPr>
          <p:cNvPr id="5" name="Shape 3"/>
          <p:cNvSpPr/>
          <p:nvPr/>
        </p:nvSpPr>
        <p:spPr>
          <a:xfrm>
            <a:off x="457200" y="1207008"/>
            <a:ext cx="6400800" cy="4645152"/>
          </a:xfrm>
          <a:prstGeom prst="rect">
            <a:avLst/>
          </a:prstGeom>
          <a:solidFill>
            <a:srgbClr val="FFFFFF"/>
          </a:solidFill>
          <a:ln/>
        </p:spPr>
      </p:sp>
      <p:sp>
        <p:nvSpPr>
          <p:cNvPr id="6" name="Shape 4"/>
          <p:cNvSpPr/>
          <p:nvPr/>
        </p:nvSpPr>
        <p:spPr>
          <a:xfrm>
            <a:off x="7022592" y="1207008"/>
            <a:ext cx="4709160" cy="4645152"/>
          </a:xfrm>
          <a:prstGeom prst="rect">
            <a:avLst/>
          </a:prstGeom>
          <a:solidFill>
            <a:srgbClr val="FFFFFF"/>
          </a:solidFill>
          <a:ln/>
        </p:spPr>
      </p:sp>
      <p:sp>
        <p:nvSpPr>
          <p:cNvPr id="7" name="Text 5"/>
          <p:cNvSpPr txBox="1"/>
          <p:nvPr/>
        </p:nvSpPr>
        <p:spPr>
          <a:xfrm>
            <a:off x="713232" y="1371600"/>
            <a:ext cx="5943600" cy="310896"/>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WE SAID · ROUNDTABLE &amp; GM MEETINGS</a:t>
            </a:r>
            <a:endParaRPr lang="en-US" sz="1400" dirty="0"/>
          </a:p>
        </p:txBody>
      </p:sp>
      <p:sp>
        <p:nvSpPr>
          <p:cNvPr id="8" name="Text 6"/>
          <p:cNvSpPr txBox="1"/>
          <p:nvPr/>
        </p:nvSpPr>
        <p:spPr>
          <a:xfrm>
            <a:off x="7269480" y="1371600"/>
            <a:ext cx="4297680" cy="310896"/>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WHERE WE ARE · JAN–SEP 2026</a:t>
            </a:r>
            <a:endParaRPr lang="en-US" sz="1400" dirty="0"/>
          </a:p>
        </p:txBody>
      </p:sp>
      <p:sp>
        <p:nvSpPr>
          <p:cNvPr id="9" name="Shape 7"/>
          <p:cNvSpPr/>
          <p:nvPr/>
        </p:nvSpPr>
        <p:spPr>
          <a:xfrm>
            <a:off x="713232" y="1737360"/>
            <a:ext cx="5897880" cy="10973"/>
          </a:xfrm>
          <a:prstGeom prst="rect">
            <a:avLst/>
          </a:prstGeom>
          <a:solidFill>
            <a:srgbClr val="D9D9D9"/>
          </a:solidFill>
          <a:ln/>
        </p:spPr>
      </p:sp>
      <p:sp>
        <p:nvSpPr>
          <p:cNvPr id="10" name="Shape 8"/>
          <p:cNvSpPr/>
          <p:nvPr/>
        </p:nvSpPr>
        <p:spPr>
          <a:xfrm>
            <a:off x="7269480" y="1737360"/>
            <a:ext cx="4224528" cy="10973"/>
          </a:xfrm>
          <a:prstGeom prst="rect">
            <a:avLst/>
          </a:prstGeom>
          <a:solidFill>
            <a:srgbClr val="D9D9D9"/>
          </a:solidFill>
          <a:ln/>
        </p:spPr>
      </p:sp>
      <p:sp>
        <p:nvSpPr>
          <p:cNvPr id="11" name="Text 9"/>
          <p:cNvSpPr txBox="1"/>
          <p:nvPr/>
        </p:nvSpPr>
        <p:spPr>
          <a:xfrm>
            <a:off x="713232" y="1874520"/>
            <a:ext cx="5897880" cy="384048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Every advisor, every customer: timely meet and greet at the vehicle</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Walk-around with the customer: hood, tires and wipers</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Review history and previously declined items</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Time and mileage recommendations from an accurate, available menu</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MPI mandate: every car, every time</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Consistency is key: trained, documented and actively managed</a:t>
            </a:r>
            <a:endParaRPr lang="en-US" sz="1800" dirty="0"/>
          </a:p>
        </p:txBody>
      </p:sp>
      <p:sp>
        <p:nvSpPr>
          <p:cNvPr id="12" name="Shape 10"/>
          <p:cNvSpPr/>
          <p:nvPr/>
        </p:nvSpPr>
        <p:spPr>
          <a:xfrm>
            <a:off x="7269480" y="1920240"/>
            <a:ext cx="54864" cy="1066800"/>
          </a:xfrm>
          <a:prstGeom prst="rect">
            <a:avLst/>
          </a:prstGeom>
          <a:solidFill>
            <a:srgbClr val="12A566"/>
          </a:solidFill>
          <a:ln/>
        </p:spPr>
      </p:sp>
      <p:sp>
        <p:nvSpPr>
          <p:cNvPr id="13" name="Text 11"/>
          <p:cNvSpPr txBox="1"/>
          <p:nvPr/>
        </p:nvSpPr>
        <p:spPr>
          <a:xfrm>
            <a:off x="7452360" y="187452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7A4A"/>
                </a:solidFill>
                <a:latin typeface="Inter" pitchFamily="34" charset="0"/>
                <a:ea typeface="Inter" pitchFamily="34" charset="-122"/>
                <a:cs typeface="Inter" pitchFamily="34" charset="-120"/>
              </a:rPr>
              <a:t>Up in all four</a:t>
            </a:r>
            <a:endParaRPr lang="en-US" sz="3000" dirty="0"/>
          </a:p>
        </p:txBody>
      </p:sp>
      <p:sp>
        <p:nvSpPr>
          <p:cNvPr id="14" name="Text 12"/>
          <p:cNvSpPr txBox="1"/>
          <p:nvPr/>
        </p:nvSpPr>
        <p:spPr>
          <a:xfrm>
            <a:off x="7452360" y="2441448"/>
            <a:ext cx="4023360" cy="56388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Alignment, balance, brake fluid and fuel service each rose 1.2-1.4 pts and beat 2025 every month.</a:t>
            </a:r>
            <a:endParaRPr lang="en-US" sz="1400" dirty="0"/>
          </a:p>
        </p:txBody>
      </p:sp>
      <p:sp>
        <p:nvSpPr>
          <p:cNvPr id="15" name="Shape 13"/>
          <p:cNvSpPr/>
          <p:nvPr/>
        </p:nvSpPr>
        <p:spPr>
          <a:xfrm>
            <a:off x="7269480" y="3215640"/>
            <a:ext cx="54864" cy="1066800"/>
          </a:xfrm>
          <a:prstGeom prst="rect">
            <a:avLst/>
          </a:prstGeom>
          <a:solidFill>
            <a:srgbClr val="C2352F"/>
          </a:solidFill>
          <a:ln/>
        </p:spPr>
      </p:sp>
      <p:sp>
        <p:nvSpPr>
          <p:cNvPr id="16" name="Text 14"/>
          <p:cNvSpPr txBox="1"/>
          <p:nvPr/>
        </p:nvSpPr>
        <p:spPr>
          <a:xfrm>
            <a:off x="7452360" y="3169920"/>
            <a:ext cx="4023360" cy="566928"/>
          </a:xfrm>
          <a:prstGeom prst="rect">
            <a:avLst/>
          </a:prstGeom>
          <a:noFill/>
          <a:ln/>
        </p:spPr>
        <p:txBody>
          <a:bodyPr wrap="square" lIns="0" tIns="0" rIns="0" bIns="0" rtlCol="0" anchor="ctr">
            <a:normAutofit/>
          </a:bodyPr>
          <a:lstStyle/>
          <a:p>
            <a:pPr indent="0" marL="0">
              <a:buNone/>
            </a:pPr>
            <a:r>
              <a:rPr lang="en-US" sz="3000" b="1" dirty="0">
                <a:solidFill>
                  <a:srgbClr val="A82B26"/>
                </a:solidFill>
                <a:latin typeface="Inter" pitchFamily="34" charset="0"/>
                <a:ea typeface="Inter" pitchFamily="34" charset="-122"/>
                <a:cs typeface="Inter" pitchFamily="34" charset="-120"/>
              </a:rPr>
              <a:t>18,493</a:t>
            </a:r>
            <a:endParaRPr lang="en-US" sz="3000" dirty="0"/>
          </a:p>
        </p:txBody>
      </p:sp>
      <p:sp>
        <p:nvSpPr>
          <p:cNvPr id="17" name="Text 15"/>
          <p:cNvSpPr txBox="1"/>
          <p:nvPr/>
        </p:nvSpPr>
        <p:spPr>
          <a:xfrm>
            <a:off x="7452360" y="3736848"/>
            <a:ext cx="4023360" cy="56388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Balances short of the 15% benchmark. The group is at 8.3%.</a:t>
            </a:r>
            <a:endParaRPr lang="en-US" sz="1400" dirty="0"/>
          </a:p>
        </p:txBody>
      </p:sp>
      <p:sp>
        <p:nvSpPr>
          <p:cNvPr id="18" name="Shape 16"/>
          <p:cNvSpPr/>
          <p:nvPr/>
        </p:nvSpPr>
        <p:spPr>
          <a:xfrm>
            <a:off x="7269480" y="4511040"/>
            <a:ext cx="54864" cy="1066800"/>
          </a:xfrm>
          <a:prstGeom prst="rect">
            <a:avLst/>
          </a:prstGeom>
          <a:solidFill>
            <a:srgbClr val="C2352F"/>
          </a:solidFill>
          <a:ln/>
        </p:spPr>
      </p:sp>
      <p:sp>
        <p:nvSpPr>
          <p:cNvPr id="19" name="Text 17"/>
          <p:cNvSpPr txBox="1"/>
          <p:nvPr/>
        </p:nvSpPr>
        <p:spPr>
          <a:xfrm>
            <a:off x="7452360" y="4465320"/>
            <a:ext cx="4023360" cy="566928"/>
          </a:xfrm>
          <a:prstGeom prst="rect">
            <a:avLst/>
          </a:prstGeom>
          <a:noFill/>
          <a:ln/>
        </p:spPr>
        <p:txBody>
          <a:bodyPr wrap="square" lIns="0" tIns="0" rIns="0" bIns="0" rtlCol="0" anchor="ctr">
            <a:normAutofit/>
          </a:bodyPr>
          <a:lstStyle/>
          <a:p>
            <a:pPr indent="0" marL="0">
              <a:buNone/>
            </a:pPr>
            <a:r>
              <a:rPr lang="en-US" sz="3000" b="1" dirty="0">
                <a:solidFill>
                  <a:srgbClr val="A82B26"/>
                </a:solidFill>
                <a:latin typeface="Inter" pitchFamily="34" charset="0"/>
                <a:ea typeface="Inter" pitchFamily="34" charset="-122"/>
                <a:cs typeface="Inter" pitchFamily="34" charset="-120"/>
              </a:rPr>
              <a:t>4,821</a:t>
            </a:r>
            <a:endParaRPr lang="en-US" sz="3000" dirty="0"/>
          </a:p>
        </p:txBody>
      </p:sp>
      <p:sp>
        <p:nvSpPr>
          <p:cNvPr id="20" name="Text 18"/>
          <p:cNvSpPr txBox="1"/>
          <p:nvPr/>
        </p:nvSpPr>
        <p:spPr>
          <a:xfrm>
            <a:off x="7452360" y="5032248"/>
            <a:ext cx="4023360" cy="56388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Alignments short of 15%; the group is at 13.2%. Brake fluid is 0.7 pts from its 10%.</a:t>
            </a:r>
            <a:endParaRPr lang="en-US" sz="1400" dirty="0"/>
          </a:p>
        </p:txBody>
      </p:sp>
      <p:sp>
        <p:nvSpPr>
          <p:cNvPr id="21" name="Shape 19"/>
          <p:cNvSpPr/>
          <p:nvPr/>
        </p:nvSpPr>
        <p:spPr>
          <a:xfrm>
            <a:off x="457200" y="5961888"/>
            <a:ext cx="11274552" cy="548640"/>
          </a:xfrm>
          <a:prstGeom prst="rect">
            <a:avLst/>
          </a:prstGeom>
          <a:solidFill>
            <a:srgbClr val="EDF4FA"/>
          </a:solidFill>
          <a:ln/>
        </p:spPr>
      </p:sp>
      <p:sp>
        <p:nvSpPr>
          <p:cNvPr id="22" name="Text 20"/>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The ask: every car gets the walk-around and the menu. The benchmarks are where that process lands.</a:t>
            </a:r>
            <a:endParaRPr lang="en-US" sz="1600" dirty="0"/>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What Is an Op Code Closing %?</a:t>
            </a:r>
            <a:endParaRPr lang="en-US" sz="2800" dirty="0"/>
          </a:p>
        </p:txBody>
      </p:sp>
      <p:sp>
        <p:nvSpPr>
          <p:cNvPr id="5" name="Shape 3"/>
          <p:cNvSpPr/>
          <p:nvPr/>
        </p:nvSpPr>
        <p:spPr>
          <a:xfrm>
            <a:off x="457200" y="1207008"/>
            <a:ext cx="11274552" cy="1024128"/>
          </a:xfrm>
          <a:prstGeom prst="rect">
            <a:avLst/>
          </a:prstGeom>
          <a:solidFill>
            <a:srgbClr val="EDF4FA"/>
          </a:solidFill>
          <a:ln/>
        </p:spPr>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400" b="1" dirty="0">
                <a:solidFill>
                  <a:srgbClr val="0B2C4A"/>
                </a:solidFill>
                <a:latin typeface="Inter" pitchFamily="34" charset="0"/>
                <a:ea typeface="Inter" pitchFamily="34" charset="-122"/>
                <a:cs typeface="Inter" pitchFamily="34" charset="-120"/>
              </a:rPr>
              <a:t>Closing %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CP ROs with the service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all CP ROs</a:t>
            </a:r>
            <a:endParaRPr lang="en-US" sz="24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500" dirty="0">
                <a:solidFill>
                  <a:srgbClr val="595959"/>
                </a:solidFill>
                <a:latin typeface="Inter" pitchFamily="34" charset="0"/>
                <a:ea typeface="Inter" pitchFamily="34" charset="-122"/>
                <a:cs typeface="Inter" pitchFamily="34" charset="-120"/>
              </a:rPr>
              <a:t>How often a customer-pay visit includes the service.</a:t>
            </a:r>
            <a:endParaRPr lang="en-US" sz="1500" dirty="0"/>
          </a:p>
        </p:txBody>
      </p:sp>
      <p:sp>
        <p:nvSpPr>
          <p:cNvPr id="8" name="Text 6"/>
          <p:cNvSpPr txBox="1"/>
          <p:nvPr/>
        </p:nvSpPr>
        <p:spPr>
          <a:xfrm>
            <a:off x="457200" y="2340864"/>
            <a:ext cx="1828800" cy="457200"/>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BENCHMARKS</a:t>
            </a:r>
            <a:endParaRPr lang="en-US" sz="1400" dirty="0"/>
          </a:p>
        </p:txBody>
      </p:sp>
      <p:sp>
        <p:nvSpPr>
          <p:cNvPr id="9" name="Shape 7"/>
          <p:cNvSpPr/>
          <p:nvPr/>
        </p:nvSpPr>
        <p:spPr>
          <a:xfrm>
            <a:off x="2286000" y="2340864"/>
            <a:ext cx="2279142" cy="457200"/>
          </a:xfrm>
          <a:prstGeom prst="rect">
            <a:avLst/>
          </a:prstGeom>
          <a:solidFill>
            <a:srgbClr val="FFFFFF"/>
          </a:solidFill>
          <a:ln w="9525">
            <a:solidFill>
              <a:srgbClr val="D9D9D9"/>
            </a:solidFill>
            <a:prstDash val="solid"/>
          </a:ln>
        </p:spPr>
      </p:sp>
      <p:sp>
        <p:nvSpPr>
          <p:cNvPr id="10" name="Text 8"/>
          <p:cNvSpPr txBox="1"/>
          <p:nvPr/>
        </p:nvSpPr>
        <p:spPr>
          <a:xfrm>
            <a:off x="2359152" y="2340864"/>
            <a:ext cx="213283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Alignment  </a:t>
            </a:r>
            <a:pPr algn="ctr" indent="0" marL="0">
              <a:buNone/>
            </a:pPr>
            <a:r>
              <a:rPr lang="en-US" sz="1400" b="1" dirty="0">
                <a:solidFill>
                  <a:srgbClr val="0B2C4A"/>
                </a:solidFill>
                <a:latin typeface="Inter" pitchFamily="34" charset="0"/>
                <a:ea typeface="Inter" pitchFamily="34" charset="-122"/>
                <a:cs typeface="Inter" pitchFamily="34" charset="-120"/>
              </a:rPr>
              <a:t>15%</a:t>
            </a:r>
            <a:endParaRPr lang="en-US" sz="1400" dirty="0"/>
          </a:p>
        </p:txBody>
      </p:sp>
      <p:sp>
        <p:nvSpPr>
          <p:cNvPr id="11" name="Shape 9"/>
          <p:cNvSpPr/>
          <p:nvPr/>
        </p:nvSpPr>
        <p:spPr>
          <a:xfrm>
            <a:off x="4674870" y="2340864"/>
            <a:ext cx="2279142" cy="457200"/>
          </a:xfrm>
          <a:prstGeom prst="rect">
            <a:avLst/>
          </a:prstGeom>
          <a:solidFill>
            <a:srgbClr val="FFFFFF"/>
          </a:solidFill>
          <a:ln w="9525">
            <a:solidFill>
              <a:srgbClr val="D9D9D9"/>
            </a:solidFill>
            <a:prstDash val="solid"/>
          </a:ln>
        </p:spPr>
      </p:sp>
      <p:sp>
        <p:nvSpPr>
          <p:cNvPr id="12" name="Text 10"/>
          <p:cNvSpPr txBox="1"/>
          <p:nvPr/>
        </p:nvSpPr>
        <p:spPr>
          <a:xfrm>
            <a:off x="4748022" y="2340864"/>
            <a:ext cx="213283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Tire balance  </a:t>
            </a:r>
            <a:pPr algn="ctr" indent="0" marL="0">
              <a:buNone/>
            </a:pPr>
            <a:r>
              <a:rPr lang="en-US" sz="1400" b="1" dirty="0">
                <a:solidFill>
                  <a:srgbClr val="0B2C4A"/>
                </a:solidFill>
                <a:latin typeface="Inter" pitchFamily="34" charset="0"/>
                <a:ea typeface="Inter" pitchFamily="34" charset="-122"/>
                <a:cs typeface="Inter" pitchFamily="34" charset="-120"/>
              </a:rPr>
              <a:t>15%</a:t>
            </a:r>
            <a:endParaRPr lang="en-US" sz="1400" dirty="0"/>
          </a:p>
        </p:txBody>
      </p:sp>
      <p:sp>
        <p:nvSpPr>
          <p:cNvPr id="13" name="Shape 11"/>
          <p:cNvSpPr/>
          <p:nvPr/>
        </p:nvSpPr>
        <p:spPr>
          <a:xfrm>
            <a:off x="7063740" y="2340864"/>
            <a:ext cx="2279142" cy="457200"/>
          </a:xfrm>
          <a:prstGeom prst="rect">
            <a:avLst/>
          </a:prstGeom>
          <a:solidFill>
            <a:srgbClr val="FFFFFF"/>
          </a:solidFill>
          <a:ln w="9525">
            <a:solidFill>
              <a:srgbClr val="D9D9D9"/>
            </a:solidFill>
            <a:prstDash val="solid"/>
          </a:ln>
        </p:spPr>
      </p:sp>
      <p:sp>
        <p:nvSpPr>
          <p:cNvPr id="14" name="Text 12"/>
          <p:cNvSpPr txBox="1"/>
          <p:nvPr/>
        </p:nvSpPr>
        <p:spPr>
          <a:xfrm>
            <a:off x="7136892" y="2340864"/>
            <a:ext cx="213283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Brake fluid  </a:t>
            </a:r>
            <a:pPr algn="ctr" indent="0" marL="0">
              <a:buNone/>
            </a:pPr>
            <a:r>
              <a:rPr lang="en-US" sz="1400" b="1" dirty="0">
                <a:solidFill>
                  <a:srgbClr val="0B2C4A"/>
                </a:solidFill>
                <a:latin typeface="Inter" pitchFamily="34" charset="0"/>
                <a:ea typeface="Inter" pitchFamily="34" charset="-122"/>
                <a:cs typeface="Inter" pitchFamily="34" charset="-120"/>
              </a:rPr>
              <a:t>10%</a:t>
            </a:r>
            <a:endParaRPr lang="en-US" sz="1400" dirty="0"/>
          </a:p>
        </p:txBody>
      </p:sp>
      <p:sp>
        <p:nvSpPr>
          <p:cNvPr id="15" name="Shape 13"/>
          <p:cNvSpPr/>
          <p:nvPr/>
        </p:nvSpPr>
        <p:spPr>
          <a:xfrm>
            <a:off x="9452610" y="2340864"/>
            <a:ext cx="2279142" cy="457200"/>
          </a:xfrm>
          <a:prstGeom prst="rect">
            <a:avLst/>
          </a:prstGeom>
          <a:solidFill>
            <a:srgbClr val="FFFFFF"/>
          </a:solidFill>
          <a:ln w="9525">
            <a:solidFill>
              <a:srgbClr val="D9D9D9"/>
            </a:solidFill>
            <a:prstDash val="solid"/>
          </a:ln>
        </p:spPr>
      </p:sp>
      <p:sp>
        <p:nvSpPr>
          <p:cNvPr id="16" name="Text 14"/>
          <p:cNvSpPr txBox="1"/>
          <p:nvPr/>
        </p:nvSpPr>
        <p:spPr>
          <a:xfrm>
            <a:off x="9525762" y="2340864"/>
            <a:ext cx="213283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Fuel service  </a:t>
            </a:r>
            <a:pPr algn="ctr" indent="0" marL="0">
              <a:buNone/>
            </a:pPr>
            <a:r>
              <a:rPr lang="en-US" sz="1400" b="1" dirty="0">
                <a:solidFill>
                  <a:srgbClr val="0B2C4A"/>
                </a:solidFill>
                <a:latin typeface="Inter" pitchFamily="34" charset="0"/>
                <a:ea typeface="Inter" pitchFamily="34" charset="-122"/>
                <a:cs typeface="Inter" pitchFamily="34" charset="-120"/>
              </a:rPr>
              <a:t>7.5%</a:t>
            </a:r>
            <a:endParaRPr lang="en-US" sz="1400" dirty="0"/>
          </a:p>
        </p:txBody>
      </p:sp>
      <p:sp>
        <p:nvSpPr>
          <p:cNvPr id="17" name="Shape 15"/>
          <p:cNvSpPr/>
          <p:nvPr/>
        </p:nvSpPr>
        <p:spPr>
          <a:xfrm>
            <a:off x="457200" y="2907792"/>
            <a:ext cx="4343400" cy="2944368"/>
          </a:xfrm>
          <a:prstGeom prst="rect">
            <a:avLst/>
          </a:prstGeom>
          <a:solidFill>
            <a:srgbClr val="FFFFFF"/>
          </a:solidFill>
          <a:ln/>
        </p:spPr>
      </p:sp>
      <p:sp>
        <p:nvSpPr>
          <p:cNvPr id="18" name="Shape 16"/>
          <p:cNvSpPr/>
          <p:nvPr/>
        </p:nvSpPr>
        <p:spPr>
          <a:xfrm>
            <a:off x="4937760" y="2907792"/>
            <a:ext cx="6793992" cy="2944368"/>
          </a:xfrm>
          <a:prstGeom prst="rect">
            <a:avLst/>
          </a:prstGeom>
          <a:solidFill>
            <a:srgbClr val="FFFFFF"/>
          </a:solidFill>
          <a:ln/>
        </p:spPr>
      </p:sp>
      <p:sp>
        <p:nvSpPr>
          <p:cNvPr id="19" name="Text 17"/>
          <p:cNvSpPr txBox="1"/>
          <p:nvPr/>
        </p:nvSpPr>
        <p:spPr>
          <a:xfrm>
            <a:off x="658368" y="3035808"/>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WHY IT MATTERS</a:t>
            </a:r>
            <a:endParaRPr lang="en-US" sz="1400" dirty="0"/>
          </a:p>
        </p:txBody>
      </p:sp>
      <p:sp>
        <p:nvSpPr>
          <p:cNvPr id="20" name="Text 18"/>
          <p:cNvSpPr txBox="1"/>
          <p:nvPr/>
        </p:nvSpPr>
        <p:spPr>
          <a:xfrm>
            <a:off x="5138928" y="3035808"/>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MOVES IT</a:t>
            </a:r>
            <a:endParaRPr lang="en-US" sz="1400" dirty="0"/>
          </a:p>
        </p:txBody>
      </p:sp>
      <p:sp>
        <p:nvSpPr>
          <p:cNvPr id="21" name="Text 19"/>
          <p:cNvSpPr txBox="1"/>
          <p:nvPr/>
        </p:nvSpPr>
        <p:spPr>
          <a:xfrm>
            <a:off x="658368" y="3410712"/>
            <a:ext cx="3977640" cy="2304288"/>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These are the services every car eventually needs.</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The rate shows whether the inspection and the menu are happening on every car.</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Each point is worth thousands of jobs across the group.</a:t>
            </a:r>
            <a:endParaRPr lang="en-US" sz="1500" dirty="0"/>
          </a:p>
        </p:txBody>
      </p:sp>
      <p:sp>
        <p:nvSpPr>
          <p:cNvPr id="22" name="Shape 20"/>
          <p:cNvSpPr/>
          <p:nvPr/>
        </p:nvSpPr>
        <p:spPr>
          <a:xfrm>
            <a:off x="5138928" y="3410712"/>
            <a:ext cx="45720" cy="1065276"/>
          </a:xfrm>
          <a:prstGeom prst="rect">
            <a:avLst/>
          </a:prstGeom>
          <a:solidFill>
            <a:srgbClr val="2587C5"/>
          </a:solidFill>
          <a:ln/>
        </p:spPr>
      </p:sp>
      <p:sp>
        <p:nvSpPr>
          <p:cNvPr id="23" name="Text 21"/>
          <p:cNvSpPr txBox="1"/>
          <p:nvPr/>
        </p:nvSpPr>
        <p:spPr>
          <a:xfrm>
            <a:off x="5266944" y="3410712"/>
            <a:ext cx="2962656" cy="106527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MPI on every car</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Find the need and show the customer</a:t>
            </a:r>
            <a:endParaRPr lang="en-US" sz="1400" dirty="0"/>
          </a:p>
        </p:txBody>
      </p:sp>
      <p:sp>
        <p:nvSpPr>
          <p:cNvPr id="24" name="Shape 22"/>
          <p:cNvSpPr/>
          <p:nvPr/>
        </p:nvSpPr>
        <p:spPr>
          <a:xfrm>
            <a:off x="8394192" y="3410712"/>
            <a:ext cx="45720" cy="1065276"/>
          </a:xfrm>
          <a:prstGeom prst="rect">
            <a:avLst/>
          </a:prstGeom>
          <a:solidFill>
            <a:srgbClr val="2587C5"/>
          </a:solidFill>
          <a:ln/>
        </p:spPr>
      </p:sp>
      <p:sp>
        <p:nvSpPr>
          <p:cNvPr id="25" name="Text 23"/>
          <p:cNvSpPr txBox="1"/>
          <p:nvPr/>
        </p:nvSpPr>
        <p:spPr>
          <a:xfrm>
            <a:off x="8522208" y="3410712"/>
            <a:ext cx="2962656" cy="106527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Menu at write-up</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Time and mileage recommendations, every customer</a:t>
            </a:r>
            <a:endParaRPr lang="en-US" sz="1400" dirty="0"/>
          </a:p>
        </p:txBody>
      </p:sp>
      <p:sp>
        <p:nvSpPr>
          <p:cNvPr id="26" name="Shape 24"/>
          <p:cNvSpPr/>
          <p:nvPr/>
        </p:nvSpPr>
        <p:spPr>
          <a:xfrm>
            <a:off x="5138928" y="4585716"/>
            <a:ext cx="45720" cy="1065276"/>
          </a:xfrm>
          <a:prstGeom prst="rect">
            <a:avLst/>
          </a:prstGeom>
          <a:solidFill>
            <a:srgbClr val="2587C5"/>
          </a:solidFill>
          <a:ln/>
        </p:spPr>
      </p:sp>
      <p:sp>
        <p:nvSpPr>
          <p:cNvPr id="27" name="Text 25"/>
          <p:cNvSpPr txBox="1"/>
          <p:nvPr/>
        </p:nvSpPr>
        <p:spPr>
          <a:xfrm>
            <a:off x="5266944" y="4585716"/>
            <a:ext cx="2962656" cy="106527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Advisor presentation</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Present it, price it, ask for it</a:t>
            </a:r>
            <a:endParaRPr lang="en-US" sz="1400" dirty="0"/>
          </a:p>
        </p:txBody>
      </p:sp>
      <p:sp>
        <p:nvSpPr>
          <p:cNvPr id="28" name="Shape 26"/>
          <p:cNvSpPr/>
          <p:nvPr/>
        </p:nvSpPr>
        <p:spPr>
          <a:xfrm>
            <a:off x="8394192" y="4585716"/>
            <a:ext cx="45720" cy="1065276"/>
          </a:xfrm>
          <a:prstGeom prst="rect">
            <a:avLst/>
          </a:prstGeom>
          <a:solidFill>
            <a:srgbClr val="2587C5"/>
          </a:solidFill>
          <a:ln/>
        </p:spPr>
      </p:sp>
      <p:sp>
        <p:nvSpPr>
          <p:cNvPr id="29" name="Text 27"/>
          <p:cNvSpPr txBox="1"/>
          <p:nvPr/>
        </p:nvSpPr>
        <p:spPr>
          <a:xfrm>
            <a:off x="8522208" y="4585716"/>
            <a:ext cx="2962656" cy="106527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Tracking</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Daily Viz Op Code report; feedback before the 15th</a:t>
            </a:r>
            <a:endParaRPr lang="en-US" sz="1400" dirty="0"/>
          </a:p>
        </p:txBody>
      </p:sp>
      <p:sp>
        <p:nvSpPr>
          <p:cNvPr id="30" name="Shape 28"/>
          <p:cNvSpPr/>
          <p:nvPr/>
        </p:nvSpPr>
        <p:spPr>
          <a:xfrm>
            <a:off x="457200" y="5961888"/>
            <a:ext cx="11274552" cy="548640"/>
          </a:xfrm>
          <a:prstGeom prst="rect">
            <a:avLst/>
          </a:prstGeom>
          <a:solidFill>
            <a:srgbClr val="EDF4FA"/>
          </a:solidFill>
          <a:ln/>
        </p:spPr>
      </p:sp>
      <p:sp>
        <p:nvSpPr>
          <p:cNvPr id="31" name="Text 29"/>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All four rose 1.2-1.4 pts and beat 2025 every month. Balance is furthest off, at 8.3%: 18,493 short of 15%.</a:t>
            </a:r>
            <a:endParaRPr lang="en-US" sz="1600" dirty="0"/>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OPCODES · WHO'S MOVING NOW</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Who's Moving Now: Alignment %</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713232" y="1298448"/>
            <a:ext cx="10762488" cy="310896"/>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Q1 → Q3 2026. Group 12.9% → 13.1%, +0.1 pts: that is the season. 15 of 33 stores beat it.</a:t>
            </a:r>
            <a:endParaRPr lang="en-US" sz="1400" dirty="0"/>
          </a:p>
        </p:txBody>
      </p:sp>
      <p:sp>
        <p:nvSpPr>
          <p:cNvPr id="7" name="Text 5"/>
          <p:cNvSpPr txBox="1"/>
          <p:nvPr/>
        </p:nvSpPr>
        <p:spPr>
          <a:xfrm>
            <a:off x="3657600" y="1682496"/>
            <a:ext cx="1554480" cy="274320"/>
          </a:xfrm>
          <a:prstGeom prst="rect">
            <a:avLst/>
          </a:prstGeom>
          <a:noFill/>
          <a:ln/>
        </p:spPr>
        <p:txBody>
          <a:bodyPr wrap="square" lIns="0" tIns="0" rIns="0" bIns="0" rtlCol="0" anchor="ctr"/>
          <a:lstStyle/>
          <a:p>
            <a:pPr algn="l" indent="0" marL="0">
              <a:buNone/>
            </a:pPr>
            <a:r>
              <a:rPr lang="en-US" sz="1400" b="1" dirty="0">
                <a:solidFill>
                  <a:srgbClr val="595959"/>
                </a:solidFill>
                <a:latin typeface="Inter" pitchFamily="34" charset="0"/>
                <a:ea typeface="Inter" pitchFamily="34" charset="-122"/>
                <a:cs typeface="Inter" pitchFamily="34" charset="-120"/>
              </a:rPr>
              <a:t>Q1 → Q3</a:t>
            </a:r>
            <a:endParaRPr lang="en-US" sz="1400" dirty="0"/>
          </a:p>
        </p:txBody>
      </p:sp>
      <p:sp>
        <p:nvSpPr>
          <p:cNvPr id="8" name="Text 6"/>
          <p:cNvSpPr txBox="1"/>
          <p:nvPr/>
        </p:nvSpPr>
        <p:spPr>
          <a:xfrm>
            <a:off x="5349240" y="1682496"/>
            <a:ext cx="2651760" cy="274320"/>
          </a:xfrm>
          <a:prstGeom prst="rect">
            <a:avLst/>
          </a:prstGeom>
          <a:noFill/>
          <a:ln/>
        </p:spPr>
        <p:txBody>
          <a:bodyPr wrap="square" lIns="0" tIns="0" rIns="0" bIns="0" rtlCol="0" anchor="ctr"/>
          <a:lstStyle/>
          <a:p>
            <a:pPr algn="l" indent="0" marL="0">
              <a:buNone/>
            </a:pPr>
            <a:r>
              <a:rPr lang="en-US" sz="1400" b="1" dirty="0">
                <a:solidFill>
                  <a:srgbClr val="595959"/>
                </a:solidFill>
                <a:latin typeface="Inter" pitchFamily="34" charset="0"/>
                <a:ea typeface="Inter" pitchFamily="34" charset="-122"/>
                <a:cs typeface="Inter" pitchFamily="34" charset="-120"/>
              </a:rPr>
              <a:t>Jan – Sep 2026, by month</a:t>
            </a:r>
            <a:endParaRPr lang="en-US" sz="1400" dirty="0"/>
          </a:p>
        </p:txBody>
      </p:sp>
      <p:sp>
        <p:nvSpPr>
          <p:cNvPr id="9" name="Text 7"/>
          <p:cNvSpPr txBox="1"/>
          <p:nvPr/>
        </p:nvSpPr>
        <p:spPr>
          <a:xfrm>
            <a:off x="8183880" y="1682496"/>
            <a:ext cx="1737360" cy="274320"/>
          </a:xfrm>
          <a:prstGeom prst="rect">
            <a:avLst/>
          </a:prstGeom>
          <a:noFill/>
          <a:ln/>
        </p:spPr>
        <p:txBody>
          <a:bodyPr wrap="square" lIns="0" tIns="0" rIns="0" bIns="0" rtlCol="0" anchor="ctr"/>
          <a:lstStyle/>
          <a:p>
            <a:pPr algn="l" indent="0" marL="0">
              <a:buNone/>
            </a:pPr>
            <a:r>
              <a:rPr lang="en-US" sz="1400" b="1" dirty="0">
                <a:solidFill>
                  <a:srgbClr val="595959"/>
                </a:solidFill>
                <a:latin typeface="Inter" pitchFamily="34" charset="0"/>
                <a:ea typeface="Inter" pitchFamily="34" charset="-122"/>
                <a:cs typeface="Inter" pitchFamily="34" charset="-120"/>
              </a:rPr>
              <a:t>Stepped up in</a:t>
            </a:r>
            <a:endParaRPr lang="en-US" sz="1400" dirty="0"/>
          </a:p>
        </p:txBody>
      </p:sp>
      <p:sp>
        <p:nvSpPr>
          <p:cNvPr id="10" name="Text 8"/>
          <p:cNvSpPr txBox="1"/>
          <p:nvPr/>
        </p:nvSpPr>
        <p:spPr>
          <a:xfrm>
            <a:off x="10195560" y="1682496"/>
            <a:ext cx="1371600" cy="274320"/>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Q1 → Q3</a:t>
            </a:r>
            <a:endParaRPr lang="en-US" sz="1400" dirty="0"/>
          </a:p>
        </p:txBody>
      </p:sp>
      <p:sp>
        <p:nvSpPr>
          <p:cNvPr id="11" name="Shape 9"/>
          <p:cNvSpPr/>
          <p:nvPr/>
        </p:nvSpPr>
        <p:spPr>
          <a:xfrm>
            <a:off x="621792" y="1993392"/>
            <a:ext cx="10945368" cy="382219"/>
          </a:xfrm>
          <a:prstGeom prst="rect">
            <a:avLst/>
          </a:prstGeom>
          <a:solidFill>
            <a:srgbClr val="F7F7F7"/>
          </a:solidFill>
          <a:ln/>
        </p:spPr>
      </p:sp>
      <p:sp>
        <p:nvSpPr>
          <p:cNvPr id="12" name="Text 10"/>
          <p:cNvSpPr txBox="1"/>
          <p:nvPr/>
        </p:nvSpPr>
        <p:spPr>
          <a:xfrm>
            <a:off x="749808" y="1993392"/>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3" name="Text 11"/>
          <p:cNvSpPr txBox="1"/>
          <p:nvPr/>
        </p:nvSpPr>
        <p:spPr>
          <a:xfrm>
            <a:off x="1097280" y="1993392"/>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AUDI HENDERSON</a:t>
            </a:r>
            <a:endParaRPr lang="en-US" sz="1400" dirty="0"/>
          </a:p>
        </p:txBody>
      </p:sp>
      <p:sp>
        <p:nvSpPr>
          <p:cNvPr id="14" name="Text 12"/>
          <p:cNvSpPr txBox="1"/>
          <p:nvPr/>
        </p:nvSpPr>
        <p:spPr>
          <a:xfrm>
            <a:off x="3657600" y="1993392"/>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21.1% → 31.7%</a:t>
            </a:r>
            <a:endParaRPr lang="en-US" sz="1400" dirty="0"/>
          </a:p>
        </p:txBody>
      </p:sp>
      <p:graphicFrame>
        <p:nvGraphicFramePr>
          <p:cNvPr id="15" name="Chart 0" descr=""/>
          <p:cNvGraphicFramePr/>
          <p:nvPr/>
        </p:nvGraphicFramePr>
        <p:xfrm>
          <a:off x="5276088" y="2011680"/>
          <a:ext cx="2697480" cy="345643"/>
        </p:xfrm>
        <a:graphic>
          <a:graphicData uri="http://schemas.openxmlformats.org/drawingml/2006/chart">
            <c:chart xmlns:c="http://schemas.openxmlformats.org/drawingml/2006/chart" r:id="rId2"/>
          </a:graphicData>
        </a:graphic>
      </p:graphicFrame>
      <p:sp>
        <p:nvSpPr>
          <p:cNvPr id="16" name="Text 13"/>
          <p:cNvSpPr txBox="1"/>
          <p:nvPr/>
        </p:nvSpPr>
        <p:spPr>
          <a:xfrm>
            <a:off x="8183880" y="1993392"/>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May</a:t>
            </a:r>
            <a:endParaRPr lang="en-US" sz="1400" dirty="0"/>
          </a:p>
        </p:txBody>
      </p:sp>
      <p:sp>
        <p:nvSpPr>
          <p:cNvPr id="17" name="Text 14"/>
          <p:cNvSpPr txBox="1"/>
          <p:nvPr/>
        </p:nvSpPr>
        <p:spPr>
          <a:xfrm>
            <a:off x="10195560" y="1993392"/>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+10.6 pts</a:t>
            </a:r>
            <a:endParaRPr lang="en-US" sz="1600" dirty="0"/>
          </a:p>
        </p:txBody>
      </p:sp>
      <p:sp>
        <p:nvSpPr>
          <p:cNvPr id="18" name="Text 15"/>
          <p:cNvSpPr txBox="1"/>
          <p:nvPr/>
        </p:nvSpPr>
        <p:spPr>
          <a:xfrm>
            <a:off x="749808" y="2375611"/>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9" name="Text 16"/>
          <p:cNvSpPr txBox="1"/>
          <p:nvPr/>
        </p:nvSpPr>
        <p:spPr>
          <a:xfrm>
            <a:off x="1097280" y="2375611"/>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MAZDA</a:t>
            </a:r>
            <a:endParaRPr lang="en-US" sz="1400" dirty="0"/>
          </a:p>
        </p:txBody>
      </p:sp>
      <p:sp>
        <p:nvSpPr>
          <p:cNvPr id="20" name="Text 17"/>
          <p:cNvSpPr txBox="1"/>
          <p:nvPr/>
        </p:nvSpPr>
        <p:spPr>
          <a:xfrm>
            <a:off x="3657600" y="2375611"/>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12.6% → 22.8%</a:t>
            </a:r>
            <a:endParaRPr lang="en-US" sz="1400" dirty="0"/>
          </a:p>
        </p:txBody>
      </p:sp>
      <p:graphicFrame>
        <p:nvGraphicFramePr>
          <p:cNvPr id="21" name="Chart 1" descr=""/>
          <p:cNvGraphicFramePr/>
          <p:nvPr/>
        </p:nvGraphicFramePr>
        <p:xfrm>
          <a:off x="5276088" y="2393899"/>
          <a:ext cx="2697480" cy="345643"/>
        </p:xfrm>
        <a:graphic>
          <a:graphicData uri="http://schemas.openxmlformats.org/drawingml/2006/chart">
            <c:chart xmlns:c="http://schemas.openxmlformats.org/drawingml/2006/chart" r:id="rId3"/>
          </a:graphicData>
        </a:graphic>
      </p:graphicFrame>
      <p:sp>
        <p:nvSpPr>
          <p:cNvPr id="22" name="Text 18"/>
          <p:cNvSpPr txBox="1"/>
          <p:nvPr/>
        </p:nvSpPr>
        <p:spPr>
          <a:xfrm>
            <a:off x="8183880" y="2375611"/>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August</a:t>
            </a:r>
            <a:endParaRPr lang="en-US" sz="1400" dirty="0"/>
          </a:p>
        </p:txBody>
      </p:sp>
      <p:sp>
        <p:nvSpPr>
          <p:cNvPr id="23" name="Text 19"/>
          <p:cNvSpPr txBox="1"/>
          <p:nvPr/>
        </p:nvSpPr>
        <p:spPr>
          <a:xfrm>
            <a:off x="10195560" y="2375611"/>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+10.1 pts</a:t>
            </a:r>
            <a:endParaRPr lang="en-US" sz="1600" dirty="0"/>
          </a:p>
        </p:txBody>
      </p:sp>
      <p:sp>
        <p:nvSpPr>
          <p:cNvPr id="24" name="Shape 20"/>
          <p:cNvSpPr/>
          <p:nvPr/>
        </p:nvSpPr>
        <p:spPr>
          <a:xfrm>
            <a:off x="621792" y="2757830"/>
            <a:ext cx="10945368" cy="382219"/>
          </a:xfrm>
          <a:prstGeom prst="rect">
            <a:avLst/>
          </a:prstGeom>
          <a:solidFill>
            <a:srgbClr val="F7F7F7"/>
          </a:solidFill>
          <a:ln/>
        </p:spPr>
      </p:sp>
      <p:sp>
        <p:nvSpPr>
          <p:cNvPr id="25" name="Text 21"/>
          <p:cNvSpPr txBox="1"/>
          <p:nvPr/>
        </p:nvSpPr>
        <p:spPr>
          <a:xfrm>
            <a:off x="749808" y="2757830"/>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6" name="Text 22"/>
          <p:cNvSpPr txBox="1"/>
          <p:nvPr/>
        </p:nvSpPr>
        <p:spPr>
          <a:xfrm>
            <a:off x="1097280" y="2757830"/>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p:txBody>
      </p:sp>
      <p:sp>
        <p:nvSpPr>
          <p:cNvPr id="27" name="Text 23"/>
          <p:cNvSpPr txBox="1"/>
          <p:nvPr/>
        </p:nvSpPr>
        <p:spPr>
          <a:xfrm>
            <a:off x="3657600" y="2757830"/>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4.1% → 11.8%</a:t>
            </a:r>
            <a:endParaRPr lang="en-US" sz="1400" dirty="0"/>
          </a:p>
        </p:txBody>
      </p:sp>
      <p:graphicFrame>
        <p:nvGraphicFramePr>
          <p:cNvPr id="28" name="Chart 2" descr=""/>
          <p:cNvGraphicFramePr/>
          <p:nvPr/>
        </p:nvGraphicFramePr>
        <p:xfrm>
          <a:off x="5276088" y="2776118"/>
          <a:ext cx="2697480" cy="345643"/>
        </p:xfrm>
        <a:graphic>
          <a:graphicData uri="http://schemas.openxmlformats.org/drawingml/2006/chart">
            <c:chart xmlns:c="http://schemas.openxmlformats.org/drawingml/2006/chart" r:id="rId4"/>
          </a:graphicData>
        </a:graphic>
      </p:graphicFrame>
      <p:sp>
        <p:nvSpPr>
          <p:cNvPr id="29" name="Text 24"/>
          <p:cNvSpPr txBox="1"/>
          <p:nvPr/>
        </p:nvSpPr>
        <p:spPr>
          <a:xfrm>
            <a:off x="8183880" y="2757830"/>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July</a:t>
            </a:r>
            <a:endParaRPr lang="en-US" sz="1400" dirty="0"/>
          </a:p>
        </p:txBody>
      </p:sp>
      <p:sp>
        <p:nvSpPr>
          <p:cNvPr id="30" name="Text 25"/>
          <p:cNvSpPr txBox="1"/>
          <p:nvPr/>
        </p:nvSpPr>
        <p:spPr>
          <a:xfrm>
            <a:off x="10195560" y="2757830"/>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+7.7 pts</a:t>
            </a:r>
            <a:endParaRPr lang="en-US" sz="1600" dirty="0"/>
          </a:p>
        </p:txBody>
      </p:sp>
      <p:sp>
        <p:nvSpPr>
          <p:cNvPr id="31" name="Text 26"/>
          <p:cNvSpPr txBox="1"/>
          <p:nvPr/>
        </p:nvSpPr>
        <p:spPr>
          <a:xfrm>
            <a:off x="749808" y="3140050"/>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32" name="Text 27"/>
          <p:cNvSpPr txBox="1"/>
          <p:nvPr/>
        </p:nvSpPr>
        <p:spPr>
          <a:xfrm>
            <a:off x="1097280" y="3140050"/>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p:txBody>
      </p:sp>
      <p:sp>
        <p:nvSpPr>
          <p:cNvPr id="33" name="Text 28"/>
          <p:cNvSpPr txBox="1"/>
          <p:nvPr/>
        </p:nvSpPr>
        <p:spPr>
          <a:xfrm>
            <a:off x="3657600" y="3140050"/>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18.3% → 25.7%</a:t>
            </a:r>
            <a:endParaRPr lang="en-US" sz="1400" dirty="0"/>
          </a:p>
        </p:txBody>
      </p:sp>
      <p:graphicFrame>
        <p:nvGraphicFramePr>
          <p:cNvPr id="34" name="Chart 3" descr=""/>
          <p:cNvGraphicFramePr/>
          <p:nvPr/>
        </p:nvGraphicFramePr>
        <p:xfrm>
          <a:off x="5276088" y="3158338"/>
          <a:ext cx="2697480" cy="345643"/>
        </p:xfrm>
        <a:graphic>
          <a:graphicData uri="http://schemas.openxmlformats.org/drawingml/2006/chart">
            <c:chart xmlns:c="http://schemas.openxmlformats.org/drawingml/2006/chart" r:id="rId5"/>
          </a:graphicData>
        </a:graphic>
      </p:graphicFrame>
      <p:sp>
        <p:nvSpPr>
          <p:cNvPr id="35" name="Text 29"/>
          <p:cNvSpPr txBox="1"/>
          <p:nvPr/>
        </p:nvSpPr>
        <p:spPr>
          <a:xfrm>
            <a:off x="8183880" y="3140050"/>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July</a:t>
            </a:r>
            <a:endParaRPr lang="en-US" sz="1400" dirty="0"/>
          </a:p>
        </p:txBody>
      </p:sp>
      <p:sp>
        <p:nvSpPr>
          <p:cNvPr id="36" name="Text 30"/>
          <p:cNvSpPr txBox="1"/>
          <p:nvPr/>
        </p:nvSpPr>
        <p:spPr>
          <a:xfrm>
            <a:off x="10195560" y="3140050"/>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+7.3 pts</a:t>
            </a:r>
            <a:endParaRPr lang="en-US" sz="1600" dirty="0"/>
          </a:p>
        </p:txBody>
      </p:sp>
      <p:sp>
        <p:nvSpPr>
          <p:cNvPr id="37" name="Shape 31"/>
          <p:cNvSpPr/>
          <p:nvPr/>
        </p:nvSpPr>
        <p:spPr>
          <a:xfrm>
            <a:off x="621792" y="3522269"/>
            <a:ext cx="10945368" cy="382219"/>
          </a:xfrm>
          <a:prstGeom prst="rect">
            <a:avLst/>
          </a:prstGeom>
          <a:solidFill>
            <a:srgbClr val="F7F7F7"/>
          </a:solidFill>
          <a:ln/>
        </p:spPr>
      </p:sp>
      <p:sp>
        <p:nvSpPr>
          <p:cNvPr id="38" name="Text 32"/>
          <p:cNvSpPr txBox="1"/>
          <p:nvPr/>
        </p:nvSpPr>
        <p:spPr>
          <a:xfrm>
            <a:off x="749808" y="3522269"/>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39" name="Text 33"/>
          <p:cNvSpPr txBox="1"/>
          <p:nvPr/>
        </p:nvSpPr>
        <p:spPr>
          <a:xfrm>
            <a:off x="1097280" y="3522269"/>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p:txBody>
      </p:sp>
      <p:sp>
        <p:nvSpPr>
          <p:cNvPr id="40" name="Text 34"/>
          <p:cNvSpPr txBox="1"/>
          <p:nvPr/>
        </p:nvSpPr>
        <p:spPr>
          <a:xfrm>
            <a:off x="3657600" y="3522269"/>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12.8% → 19.4%</a:t>
            </a:r>
            <a:endParaRPr lang="en-US" sz="1400" dirty="0"/>
          </a:p>
        </p:txBody>
      </p:sp>
      <p:graphicFrame>
        <p:nvGraphicFramePr>
          <p:cNvPr id="41" name="Chart 4" descr=""/>
          <p:cNvGraphicFramePr/>
          <p:nvPr/>
        </p:nvGraphicFramePr>
        <p:xfrm>
          <a:off x="5276088" y="3540557"/>
          <a:ext cx="2697480" cy="345643"/>
        </p:xfrm>
        <a:graphic>
          <a:graphicData uri="http://schemas.openxmlformats.org/drawingml/2006/chart">
            <c:chart xmlns:c="http://schemas.openxmlformats.org/drawingml/2006/chart" r:id="rId6"/>
          </a:graphicData>
        </a:graphic>
      </p:graphicFrame>
      <p:sp>
        <p:nvSpPr>
          <p:cNvPr id="42" name="Text 35"/>
          <p:cNvSpPr txBox="1"/>
          <p:nvPr/>
        </p:nvSpPr>
        <p:spPr>
          <a:xfrm>
            <a:off x="8183880" y="3522269"/>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July</a:t>
            </a:r>
            <a:endParaRPr lang="en-US" sz="1400" dirty="0"/>
          </a:p>
        </p:txBody>
      </p:sp>
      <p:sp>
        <p:nvSpPr>
          <p:cNvPr id="43" name="Text 36"/>
          <p:cNvSpPr txBox="1"/>
          <p:nvPr/>
        </p:nvSpPr>
        <p:spPr>
          <a:xfrm>
            <a:off x="10195560" y="3522269"/>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+6.5 pts</a:t>
            </a:r>
            <a:endParaRPr lang="en-US" sz="1600" dirty="0"/>
          </a:p>
        </p:txBody>
      </p:sp>
      <p:sp>
        <p:nvSpPr>
          <p:cNvPr id="44" name="Text 37"/>
          <p:cNvSpPr txBox="1"/>
          <p:nvPr/>
        </p:nvSpPr>
        <p:spPr>
          <a:xfrm>
            <a:off x="749808" y="3904488"/>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6</a:t>
            </a:r>
            <a:endParaRPr lang="en-US" sz="1500" dirty="0"/>
          </a:p>
        </p:txBody>
      </p:sp>
      <p:sp>
        <p:nvSpPr>
          <p:cNvPr id="45" name="Text 38"/>
          <p:cNvSpPr txBox="1"/>
          <p:nvPr/>
        </p:nvSpPr>
        <p:spPr>
          <a:xfrm>
            <a:off x="1097280" y="3904488"/>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KIA LV</a:t>
            </a:r>
            <a:endParaRPr lang="en-US" sz="1400" dirty="0"/>
          </a:p>
        </p:txBody>
      </p:sp>
      <p:sp>
        <p:nvSpPr>
          <p:cNvPr id="46" name="Text 39"/>
          <p:cNvSpPr txBox="1"/>
          <p:nvPr/>
        </p:nvSpPr>
        <p:spPr>
          <a:xfrm>
            <a:off x="3657600" y="3904488"/>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6.8% → 13.3%</a:t>
            </a:r>
            <a:endParaRPr lang="en-US" sz="1400" dirty="0"/>
          </a:p>
        </p:txBody>
      </p:sp>
      <p:graphicFrame>
        <p:nvGraphicFramePr>
          <p:cNvPr id="47" name="Chart 5" descr=""/>
          <p:cNvGraphicFramePr/>
          <p:nvPr/>
        </p:nvGraphicFramePr>
        <p:xfrm>
          <a:off x="5276088" y="3922776"/>
          <a:ext cx="2697480" cy="345643"/>
        </p:xfrm>
        <a:graphic>
          <a:graphicData uri="http://schemas.openxmlformats.org/drawingml/2006/chart">
            <c:chart xmlns:c="http://schemas.openxmlformats.org/drawingml/2006/chart" r:id="rId7"/>
          </a:graphicData>
        </a:graphic>
      </p:graphicFrame>
      <p:sp>
        <p:nvSpPr>
          <p:cNvPr id="48" name="Text 40"/>
          <p:cNvSpPr txBox="1"/>
          <p:nvPr/>
        </p:nvSpPr>
        <p:spPr>
          <a:xfrm>
            <a:off x="8183880" y="3904488"/>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June</a:t>
            </a:r>
            <a:endParaRPr lang="en-US" sz="1400" dirty="0"/>
          </a:p>
        </p:txBody>
      </p:sp>
      <p:sp>
        <p:nvSpPr>
          <p:cNvPr id="49" name="Text 41"/>
          <p:cNvSpPr txBox="1"/>
          <p:nvPr/>
        </p:nvSpPr>
        <p:spPr>
          <a:xfrm>
            <a:off x="10195560" y="3904488"/>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+6.4 pts</a:t>
            </a:r>
            <a:endParaRPr lang="en-US" sz="1600" dirty="0"/>
          </a:p>
        </p:txBody>
      </p:sp>
      <p:sp>
        <p:nvSpPr>
          <p:cNvPr id="50" name="Shape 42"/>
          <p:cNvSpPr/>
          <p:nvPr/>
        </p:nvSpPr>
        <p:spPr>
          <a:xfrm>
            <a:off x="621792" y="4286707"/>
            <a:ext cx="10945368" cy="382219"/>
          </a:xfrm>
          <a:prstGeom prst="rect">
            <a:avLst/>
          </a:prstGeom>
          <a:solidFill>
            <a:srgbClr val="F7F7F7"/>
          </a:solidFill>
          <a:ln/>
        </p:spPr>
      </p:sp>
      <p:sp>
        <p:nvSpPr>
          <p:cNvPr id="51" name="Text 43"/>
          <p:cNvSpPr txBox="1"/>
          <p:nvPr/>
        </p:nvSpPr>
        <p:spPr>
          <a:xfrm>
            <a:off x="749808" y="4286707"/>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7</a:t>
            </a:r>
            <a:endParaRPr lang="en-US" sz="1500" dirty="0"/>
          </a:p>
        </p:txBody>
      </p:sp>
      <p:sp>
        <p:nvSpPr>
          <p:cNvPr id="52" name="Text 44"/>
          <p:cNvSpPr txBox="1"/>
          <p:nvPr/>
        </p:nvSpPr>
        <p:spPr>
          <a:xfrm>
            <a:off x="1097280" y="4286707"/>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HONDA FLAGSTAFF</a:t>
            </a:r>
            <a:endParaRPr lang="en-US" sz="1400" dirty="0"/>
          </a:p>
        </p:txBody>
      </p:sp>
      <p:sp>
        <p:nvSpPr>
          <p:cNvPr id="53" name="Text 45"/>
          <p:cNvSpPr txBox="1"/>
          <p:nvPr/>
        </p:nvSpPr>
        <p:spPr>
          <a:xfrm>
            <a:off x="3657600" y="4286707"/>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7.8% → 11.5%</a:t>
            </a:r>
            <a:endParaRPr lang="en-US" sz="1400" dirty="0"/>
          </a:p>
        </p:txBody>
      </p:sp>
      <p:graphicFrame>
        <p:nvGraphicFramePr>
          <p:cNvPr id="54" name="Chart 6" descr=""/>
          <p:cNvGraphicFramePr/>
          <p:nvPr/>
        </p:nvGraphicFramePr>
        <p:xfrm>
          <a:off x="5276088" y="4304995"/>
          <a:ext cx="2697480" cy="345643"/>
        </p:xfrm>
        <a:graphic>
          <a:graphicData uri="http://schemas.openxmlformats.org/drawingml/2006/chart">
            <c:chart xmlns:c="http://schemas.openxmlformats.org/drawingml/2006/chart" r:id="rId8"/>
          </a:graphicData>
        </a:graphic>
      </p:graphicFrame>
      <p:sp>
        <p:nvSpPr>
          <p:cNvPr id="55" name="Text 46"/>
          <p:cNvSpPr txBox="1"/>
          <p:nvPr/>
        </p:nvSpPr>
        <p:spPr>
          <a:xfrm>
            <a:off x="8183880" y="4286707"/>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April</a:t>
            </a:r>
            <a:endParaRPr lang="en-US" sz="1400" dirty="0"/>
          </a:p>
        </p:txBody>
      </p:sp>
      <p:sp>
        <p:nvSpPr>
          <p:cNvPr id="56" name="Text 47"/>
          <p:cNvSpPr txBox="1"/>
          <p:nvPr/>
        </p:nvSpPr>
        <p:spPr>
          <a:xfrm>
            <a:off x="10195560" y="4286707"/>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+3.6 pts</a:t>
            </a:r>
            <a:endParaRPr lang="en-US" sz="1600" dirty="0"/>
          </a:p>
        </p:txBody>
      </p:sp>
      <p:sp>
        <p:nvSpPr>
          <p:cNvPr id="57" name="Text 48"/>
          <p:cNvSpPr txBox="1"/>
          <p:nvPr/>
        </p:nvSpPr>
        <p:spPr>
          <a:xfrm>
            <a:off x="749808" y="4668926"/>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8</a:t>
            </a:r>
            <a:endParaRPr lang="en-US" sz="1500" dirty="0"/>
          </a:p>
        </p:txBody>
      </p:sp>
      <p:sp>
        <p:nvSpPr>
          <p:cNvPr id="58" name="Text 49"/>
          <p:cNvSpPr txBox="1"/>
          <p:nvPr/>
        </p:nvSpPr>
        <p:spPr>
          <a:xfrm>
            <a:off x="1097280" y="4668926"/>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LR HENDERSON</a:t>
            </a:r>
            <a:endParaRPr lang="en-US" sz="1400" dirty="0"/>
          </a:p>
        </p:txBody>
      </p:sp>
      <p:sp>
        <p:nvSpPr>
          <p:cNvPr id="59" name="Text 50"/>
          <p:cNvSpPr txBox="1"/>
          <p:nvPr/>
        </p:nvSpPr>
        <p:spPr>
          <a:xfrm>
            <a:off x="3657600" y="4668926"/>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23.0% → 25.4%</a:t>
            </a:r>
            <a:endParaRPr lang="en-US" sz="1400" dirty="0"/>
          </a:p>
        </p:txBody>
      </p:sp>
      <p:graphicFrame>
        <p:nvGraphicFramePr>
          <p:cNvPr id="60" name="Chart 7" descr=""/>
          <p:cNvGraphicFramePr/>
          <p:nvPr/>
        </p:nvGraphicFramePr>
        <p:xfrm>
          <a:off x="5276088" y="4687214"/>
          <a:ext cx="2697480" cy="345643"/>
        </p:xfrm>
        <a:graphic>
          <a:graphicData uri="http://schemas.openxmlformats.org/drawingml/2006/chart">
            <c:chart xmlns:c="http://schemas.openxmlformats.org/drawingml/2006/chart" r:id="rId9"/>
          </a:graphicData>
        </a:graphic>
      </p:graphicFrame>
      <p:sp>
        <p:nvSpPr>
          <p:cNvPr id="61" name="Text 51"/>
          <p:cNvSpPr txBox="1"/>
          <p:nvPr/>
        </p:nvSpPr>
        <p:spPr>
          <a:xfrm>
            <a:off x="8183880" y="4668926"/>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May</a:t>
            </a:r>
            <a:endParaRPr lang="en-US" sz="1400" dirty="0"/>
          </a:p>
        </p:txBody>
      </p:sp>
      <p:sp>
        <p:nvSpPr>
          <p:cNvPr id="62" name="Text 52"/>
          <p:cNvSpPr txBox="1"/>
          <p:nvPr/>
        </p:nvSpPr>
        <p:spPr>
          <a:xfrm>
            <a:off x="10195560" y="4668926"/>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+2.4 pts</a:t>
            </a:r>
            <a:endParaRPr lang="en-US" sz="1600" dirty="0"/>
          </a:p>
        </p:txBody>
      </p:sp>
      <p:sp>
        <p:nvSpPr>
          <p:cNvPr id="63" name="Shape 53"/>
          <p:cNvSpPr/>
          <p:nvPr/>
        </p:nvSpPr>
        <p:spPr>
          <a:xfrm>
            <a:off x="621792" y="5051146"/>
            <a:ext cx="10945368" cy="382219"/>
          </a:xfrm>
          <a:prstGeom prst="rect">
            <a:avLst/>
          </a:prstGeom>
          <a:solidFill>
            <a:srgbClr val="F7F7F7"/>
          </a:solidFill>
          <a:ln/>
        </p:spPr>
      </p:sp>
      <p:sp>
        <p:nvSpPr>
          <p:cNvPr id="64" name="Text 54"/>
          <p:cNvSpPr txBox="1"/>
          <p:nvPr/>
        </p:nvSpPr>
        <p:spPr>
          <a:xfrm>
            <a:off x="749808" y="5051146"/>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9</a:t>
            </a:r>
            <a:endParaRPr lang="en-US" sz="1500" dirty="0"/>
          </a:p>
        </p:txBody>
      </p:sp>
      <p:sp>
        <p:nvSpPr>
          <p:cNvPr id="65" name="Text 55"/>
          <p:cNvSpPr txBox="1"/>
          <p:nvPr/>
        </p:nvSpPr>
        <p:spPr>
          <a:xfrm>
            <a:off x="1097280" y="5051146"/>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HONDA NORTH</a:t>
            </a:r>
            <a:endParaRPr lang="en-US" sz="1400" dirty="0"/>
          </a:p>
        </p:txBody>
      </p:sp>
      <p:sp>
        <p:nvSpPr>
          <p:cNvPr id="66" name="Text 56"/>
          <p:cNvSpPr txBox="1"/>
          <p:nvPr/>
        </p:nvSpPr>
        <p:spPr>
          <a:xfrm>
            <a:off x="3657600" y="5051146"/>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14.1% → 16.2%</a:t>
            </a:r>
            <a:endParaRPr lang="en-US" sz="1400" dirty="0"/>
          </a:p>
        </p:txBody>
      </p:sp>
      <p:graphicFrame>
        <p:nvGraphicFramePr>
          <p:cNvPr id="67" name="Chart 8" descr=""/>
          <p:cNvGraphicFramePr/>
          <p:nvPr/>
        </p:nvGraphicFramePr>
        <p:xfrm>
          <a:off x="5276088" y="5069434"/>
          <a:ext cx="2697480" cy="345643"/>
        </p:xfrm>
        <a:graphic>
          <a:graphicData uri="http://schemas.openxmlformats.org/drawingml/2006/chart">
            <c:chart xmlns:c="http://schemas.openxmlformats.org/drawingml/2006/chart" r:id="rId10"/>
          </a:graphicData>
        </a:graphic>
      </p:graphicFrame>
      <p:sp>
        <p:nvSpPr>
          <p:cNvPr id="68" name="Text 57"/>
          <p:cNvSpPr txBox="1"/>
          <p:nvPr/>
        </p:nvSpPr>
        <p:spPr>
          <a:xfrm>
            <a:off x="8183880" y="5051146"/>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April</a:t>
            </a:r>
            <a:endParaRPr lang="en-US" sz="1400" dirty="0"/>
          </a:p>
        </p:txBody>
      </p:sp>
      <p:sp>
        <p:nvSpPr>
          <p:cNvPr id="69" name="Text 58"/>
          <p:cNvSpPr txBox="1"/>
          <p:nvPr/>
        </p:nvSpPr>
        <p:spPr>
          <a:xfrm>
            <a:off x="10195560" y="5051146"/>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+2.0 pts</a:t>
            </a:r>
            <a:endParaRPr lang="en-US" sz="1600" dirty="0"/>
          </a:p>
        </p:txBody>
      </p:sp>
      <p:sp>
        <p:nvSpPr>
          <p:cNvPr id="70" name="Text 59"/>
          <p:cNvSpPr txBox="1"/>
          <p:nvPr/>
        </p:nvSpPr>
        <p:spPr>
          <a:xfrm>
            <a:off x="749808" y="5433365"/>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10</a:t>
            </a:r>
            <a:endParaRPr lang="en-US" sz="1500" dirty="0"/>
          </a:p>
        </p:txBody>
      </p:sp>
      <p:sp>
        <p:nvSpPr>
          <p:cNvPr id="71" name="Text 60"/>
          <p:cNvSpPr txBox="1"/>
          <p:nvPr/>
        </p:nvSpPr>
        <p:spPr>
          <a:xfrm>
            <a:off x="1097280" y="5433365"/>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CHEVY LV</a:t>
            </a:r>
            <a:endParaRPr lang="en-US" sz="1400" dirty="0"/>
          </a:p>
        </p:txBody>
      </p:sp>
      <p:sp>
        <p:nvSpPr>
          <p:cNvPr id="72" name="Text 61"/>
          <p:cNvSpPr txBox="1"/>
          <p:nvPr/>
        </p:nvSpPr>
        <p:spPr>
          <a:xfrm>
            <a:off x="3657600" y="5433365"/>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11.4% → 12.9%</a:t>
            </a:r>
            <a:endParaRPr lang="en-US" sz="1400" dirty="0"/>
          </a:p>
        </p:txBody>
      </p:sp>
      <p:graphicFrame>
        <p:nvGraphicFramePr>
          <p:cNvPr id="73" name="Chart 9" descr=""/>
          <p:cNvGraphicFramePr/>
          <p:nvPr/>
        </p:nvGraphicFramePr>
        <p:xfrm>
          <a:off x="5276088" y="5451653"/>
          <a:ext cx="2697480" cy="345643"/>
        </p:xfrm>
        <a:graphic>
          <a:graphicData uri="http://schemas.openxmlformats.org/drawingml/2006/chart">
            <c:chart xmlns:c="http://schemas.openxmlformats.org/drawingml/2006/chart" r:id="rId11"/>
          </a:graphicData>
        </a:graphic>
      </p:graphicFrame>
      <p:sp>
        <p:nvSpPr>
          <p:cNvPr id="74" name="Text 62"/>
          <p:cNvSpPr txBox="1"/>
          <p:nvPr/>
        </p:nvSpPr>
        <p:spPr>
          <a:xfrm>
            <a:off x="8183880" y="5433365"/>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April</a:t>
            </a:r>
            <a:endParaRPr lang="en-US" sz="1400" dirty="0"/>
          </a:p>
        </p:txBody>
      </p:sp>
      <p:sp>
        <p:nvSpPr>
          <p:cNvPr id="75" name="Text 63"/>
          <p:cNvSpPr txBox="1"/>
          <p:nvPr/>
        </p:nvSpPr>
        <p:spPr>
          <a:xfrm>
            <a:off x="10195560" y="5433365"/>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+1.4 pts</a:t>
            </a:r>
            <a:endParaRPr lang="en-US" sz="1600" dirty="0"/>
          </a:p>
        </p:txBody>
      </p:sp>
      <p:sp>
        <p:nvSpPr>
          <p:cNvPr id="76" name="Shape 64"/>
          <p:cNvSpPr/>
          <p:nvPr/>
        </p:nvSpPr>
        <p:spPr>
          <a:xfrm>
            <a:off x="457200" y="5961888"/>
            <a:ext cx="11274552" cy="548640"/>
          </a:xfrm>
          <a:prstGeom prst="rect">
            <a:avLst/>
          </a:prstGeom>
          <a:solidFill>
            <a:srgbClr val="E6F6EE"/>
          </a:solidFill>
          <a:ln/>
        </p:spPr>
      </p:sp>
      <p:sp>
        <p:nvSpPr>
          <p:cNvPr id="77" name="Text 65"/>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AUDI HENDERSON went 21.1% to 31.7%, stepping up in May. Ask what changed that month.</a:t>
            </a:r>
            <a:endParaRPr lang="en-US" sz="1600" dirty="0"/>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OPCODES · WHO'S MOVING NOW</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Who's Moving Now: Balance %</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713232" y="1298448"/>
            <a:ext cx="10762488" cy="310896"/>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Q1 → Q3 2026. Group 8.2% → 8.3%, 0.0 pts: that is the season. 15 of 33 stores beat it.</a:t>
            </a:r>
            <a:endParaRPr lang="en-US" sz="1400" dirty="0"/>
          </a:p>
        </p:txBody>
      </p:sp>
      <p:sp>
        <p:nvSpPr>
          <p:cNvPr id="7" name="Text 5"/>
          <p:cNvSpPr txBox="1"/>
          <p:nvPr/>
        </p:nvSpPr>
        <p:spPr>
          <a:xfrm>
            <a:off x="3657600" y="1682496"/>
            <a:ext cx="1554480" cy="274320"/>
          </a:xfrm>
          <a:prstGeom prst="rect">
            <a:avLst/>
          </a:prstGeom>
          <a:noFill/>
          <a:ln/>
        </p:spPr>
        <p:txBody>
          <a:bodyPr wrap="square" lIns="0" tIns="0" rIns="0" bIns="0" rtlCol="0" anchor="ctr"/>
          <a:lstStyle/>
          <a:p>
            <a:pPr algn="l" indent="0" marL="0">
              <a:buNone/>
            </a:pPr>
            <a:r>
              <a:rPr lang="en-US" sz="1400" b="1" dirty="0">
                <a:solidFill>
                  <a:srgbClr val="595959"/>
                </a:solidFill>
                <a:latin typeface="Inter" pitchFamily="34" charset="0"/>
                <a:ea typeface="Inter" pitchFamily="34" charset="-122"/>
                <a:cs typeface="Inter" pitchFamily="34" charset="-120"/>
              </a:rPr>
              <a:t>Q1 → Q3</a:t>
            </a:r>
            <a:endParaRPr lang="en-US" sz="1400" dirty="0"/>
          </a:p>
        </p:txBody>
      </p:sp>
      <p:sp>
        <p:nvSpPr>
          <p:cNvPr id="8" name="Text 6"/>
          <p:cNvSpPr txBox="1"/>
          <p:nvPr/>
        </p:nvSpPr>
        <p:spPr>
          <a:xfrm>
            <a:off x="5349240" y="1682496"/>
            <a:ext cx="2651760" cy="274320"/>
          </a:xfrm>
          <a:prstGeom prst="rect">
            <a:avLst/>
          </a:prstGeom>
          <a:noFill/>
          <a:ln/>
        </p:spPr>
        <p:txBody>
          <a:bodyPr wrap="square" lIns="0" tIns="0" rIns="0" bIns="0" rtlCol="0" anchor="ctr"/>
          <a:lstStyle/>
          <a:p>
            <a:pPr algn="l" indent="0" marL="0">
              <a:buNone/>
            </a:pPr>
            <a:r>
              <a:rPr lang="en-US" sz="1400" b="1" dirty="0">
                <a:solidFill>
                  <a:srgbClr val="595959"/>
                </a:solidFill>
                <a:latin typeface="Inter" pitchFamily="34" charset="0"/>
                <a:ea typeface="Inter" pitchFamily="34" charset="-122"/>
                <a:cs typeface="Inter" pitchFamily="34" charset="-120"/>
              </a:rPr>
              <a:t>Jan – Sep 2026, by month</a:t>
            </a:r>
            <a:endParaRPr lang="en-US" sz="1400" dirty="0"/>
          </a:p>
        </p:txBody>
      </p:sp>
      <p:sp>
        <p:nvSpPr>
          <p:cNvPr id="9" name="Text 7"/>
          <p:cNvSpPr txBox="1"/>
          <p:nvPr/>
        </p:nvSpPr>
        <p:spPr>
          <a:xfrm>
            <a:off x="8183880" y="1682496"/>
            <a:ext cx="1737360" cy="274320"/>
          </a:xfrm>
          <a:prstGeom prst="rect">
            <a:avLst/>
          </a:prstGeom>
          <a:noFill/>
          <a:ln/>
        </p:spPr>
        <p:txBody>
          <a:bodyPr wrap="square" lIns="0" tIns="0" rIns="0" bIns="0" rtlCol="0" anchor="ctr"/>
          <a:lstStyle/>
          <a:p>
            <a:pPr algn="l" indent="0" marL="0">
              <a:buNone/>
            </a:pPr>
            <a:r>
              <a:rPr lang="en-US" sz="1400" b="1" dirty="0">
                <a:solidFill>
                  <a:srgbClr val="595959"/>
                </a:solidFill>
                <a:latin typeface="Inter" pitchFamily="34" charset="0"/>
                <a:ea typeface="Inter" pitchFamily="34" charset="-122"/>
                <a:cs typeface="Inter" pitchFamily="34" charset="-120"/>
              </a:rPr>
              <a:t>Stepped up in</a:t>
            </a:r>
            <a:endParaRPr lang="en-US" sz="1400" dirty="0"/>
          </a:p>
        </p:txBody>
      </p:sp>
      <p:sp>
        <p:nvSpPr>
          <p:cNvPr id="10" name="Text 8"/>
          <p:cNvSpPr txBox="1"/>
          <p:nvPr/>
        </p:nvSpPr>
        <p:spPr>
          <a:xfrm>
            <a:off x="10195560" y="1682496"/>
            <a:ext cx="1371600" cy="274320"/>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Q1 → Q3</a:t>
            </a:r>
            <a:endParaRPr lang="en-US" sz="1400" dirty="0"/>
          </a:p>
        </p:txBody>
      </p:sp>
      <p:sp>
        <p:nvSpPr>
          <p:cNvPr id="11" name="Shape 9"/>
          <p:cNvSpPr/>
          <p:nvPr/>
        </p:nvSpPr>
        <p:spPr>
          <a:xfrm>
            <a:off x="621792" y="1993392"/>
            <a:ext cx="10945368" cy="382219"/>
          </a:xfrm>
          <a:prstGeom prst="rect">
            <a:avLst/>
          </a:prstGeom>
          <a:solidFill>
            <a:srgbClr val="F7F7F7"/>
          </a:solidFill>
          <a:ln/>
        </p:spPr>
      </p:sp>
      <p:sp>
        <p:nvSpPr>
          <p:cNvPr id="12" name="Text 10"/>
          <p:cNvSpPr txBox="1"/>
          <p:nvPr/>
        </p:nvSpPr>
        <p:spPr>
          <a:xfrm>
            <a:off x="749808" y="1993392"/>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3" name="Text 11"/>
          <p:cNvSpPr txBox="1"/>
          <p:nvPr/>
        </p:nvSpPr>
        <p:spPr>
          <a:xfrm>
            <a:off x="1097280" y="1993392"/>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MAZDA</a:t>
            </a:r>
            <a:endParaRPr lang="en-US" sz="1400" dirty="0"/>
          </a:p>
        </p:txBody>
      </p:sp>
      <p:sp>
        <p:nvSpPr>
          <p:cNvPr id="14" name="Text 12"/>
          <p:cNvSpPr txBox="1"/>
          <p:nvPr/>
        </p:nvSpPr>
        <p:spPr>
          <a:xfrm>
            <a:off x="3657600" y="1993392"/>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10.1% → 19.3%</a:t>
            </a:r>
            <a:endParaRPr lang="en-US" sz="1400" dirty="0"/>
          </a:p>
        </p:txBody>
      </p:sp>
      <p:graphicFrame>
        <p:nvGraphicFramePr>
          <p:cNvPr id="15" name="Chart 0" descr=""/>
          <p:cNvGraphicFramePr/>
          <p:nvPr/>
        </p:nvGraphicFramePr>
        <p:xfrm>
          <a:off x="5276088" y="2011680"/>
          <a:ext cx="2697480" cy="345643"/>
        </p:xfrm>
        <a:graphic>
          <a:graphicData uri="http://schemas.openxmlformats.org/drawingml/2006/chart">
            <c:chart xmlns:c="http://schemas.openxmlformats.org/drawingml/2006/chart" r:id="rId2"/>
          </a:graphicData>
        </a:graphic>
      </p:graphicFrame>
      <p:sp>
        <p:nvSpPr>
          <p:cNvPr id="16" name="Text 13"/>
          <p:cNvSpPr txBox="1"/>
          <p:nvPr/>
        </p:nvSpPr>
        <p:spPr>
          <a:xfrm>
            <a:off x="8183880" y="1993392"/>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August</a:t>
            </a:r>
            <a:endParaRPr lang="en-US" sz="1400" dirty="0"/>
          </a:p>
        </p:txBody>
      </p:sp>
      <p:sp>
        <p:nvSpPr>
          <p:cNvPr id="17" name="Text 14"/>
          <p:cNvSpPr txBox="1"/>
          <p:nvPr/>
        </p:nvSpPr>
        <p:spPr>
          <a:xfrm>
            <a:off x="10195560" y="1993392"/>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+9.1 pts</a:t>
            </a:r>
            <a:endParaRPr lang="en-US" sz="1600" dirty="0"/>
          </a:p>
        </p:txBody>
      </p:sp>
      <p:sp>
        <p:nvSpPr>
          <p:cNvPr id="18" name="Text 15"/>
          <p:cNvSpPr txBox="1"/>
          <p:nvPr/>
        </p:nvSpPr>
        <p:spPr>
          <a:xfrm>
            <a:off x="749808" y="2375611"/>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9" name="Text 16"/>
          <p:cNvSpPr txBox="1"/>
          <p:nvPr/>
        </p:nvSpPr>
        <p:spPr>
          <a:xfrm>
            <a:off x="1097280" y="2375611"/>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p:txBody>
      </p:sp>
      <p:sp>
        <p:nvSpPr>
          <p:cNvPr id="20" name="Text 17"/>
          <p:cNvSpPr txBox="1"/>
          <p:nvPr/>
        </p:nvSpPr>
        <p:spPr>
          <a:xfrm>
            <a:off x="3657600" y="2375611"/>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10.8% → 16.1%</a:t>
            </a:r>
            <a:endParaRPr lang="en-US" sz="1400" dirty="0"/>
          </a:p>
        </p:txBody>
      </p:sp>
      <p:graphicFrame>
        <p:nvGraphicFramePr>
          <p:cNvPr id="21" name="Chart 1" descr=""/>
          <p:cNvGraphicFramePr/>
          <p:nvPr/>
        </p:nvGraphicFramePr>
        <p:xfrm>
          <a:off x="5276088" y="2393899"/>
          <a:ext cx="2697480" cy="345643"/>
        </p:xfrm>
        <a:graphic>
          <a:graphicData uri="http://schemas.openxmlformats.org/drawingml/2006/chart">
            <c:chart xmlns:c="http://schemas.openxmlformats.org/drawingml/2006/chart" r:id="rId3"/>
          </a:graphicData>
        </a:graphic>
      </p:graphicFrame>
      <p:sp>
        <p:nvSpPr>
          <p:cNvPr id="22" name="Text 18"/>
          <p:cNvSpPr txBox="1"/>
          <p:nvPr/>
        </p:nvSpPr>
        <p:spPr>
          <a:xfrm>
            <a:off x="8183880" y="2375611"/>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August</a:t>
            </a:r>
            <a:endParaRPr lang="en-US" sz="1400" dirty="0"/>
          </a:p>
        </p:txBody>
      </p:sp>
      <p:sp>
        <p:nvSpPr>
          <p:cNvPr id="23" name="Text 19"/>
          <p:cNvSpPr txBox="1"/>
          <p:nvPr/>
        </p:nvSpPr>
        <p:spPr>
          <a:xfrm>
            <a:off x="10195560" y="2375611"/>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+5.2 pts</a:t>
            </a:r>
            <a:endParaRPr lang="en-US" sz="1600" dirty="0"/>
          </a:p>
        </p:txBody>
      </p:sp>
      <p:sp>
        <p:nvSpPr>
          <p:cNvPr id="24" name="Shape 20"/>
          <p:cNvSpPr/>
          <p:nvPr/>
        </p:nvSpPr>
        <p:spPr>
          <a:xfrm>
            <a:off x="621792" y="2757830"/>
            <a:ext cx="10945368" cy="382219"/>
          </a:xfrm>
          <a:prstGeom prst="rect">
            <a:avLst/>
          </a:prstGeom>
          <a:solidFill>
            <a:srgbClr val="F7F7F7"/>
          </a:solidFill>
          <a:ln/>
        </p:spPr>
      </p:sp>
      <p:sp>
        <p:nvSpPr>
          <p:cNvPr id="25" name="Text 21"/>
          <p:cNvSpPr txBox="1"/>
          <p:nvPr/>
        </p:nvSpPr>
        <p:spPr>
          <a:xfrm>
            <a:off x="749808" y="2757830"/>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6" name="Text 22"/>
          <p:cNvSpPr txBox="1"/>
          <p:nvPr/>
        </p:nvSpPr>
        <p:spPr>
          <a:xfrm>
            <a:off x="1097280" y="2757830"/>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HONDA SPOKANE</a:t>
            </a:r>
            <a:endParaRPr lang="en-US" sz="1400" dirty="0"/>
          </a:p>
        </p:txBody>
      </p:sp>
      <p:sp>
        <p:nvSpPr>
          <p:cNvPr id="27" name="Text 23"/>
          <p:cNvSpPr txBox="1"/>
          <p:nvPr/>
        </p:nvSpPr>
        <p:spPr>
          <a:xfrm>
            <a:off x="3657600" y="2757830"/>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0.7% → 4.0%</a:t>
            </a:r>
            <a:endParaRPr lang="en-US" sz="1400" dirty="0"/>
          </a:p>
        </p:txBody>
      </p:sp>
      <p:graphicFrame>
        <p:nvGraphicFramePr>
          <p:cNvPr id="28" name="Chart 2" descr=""/>
          <p:cNvGraphicFramePr/>
          <p:nvPr/>
        </p:nvGraphicFramePr>
        <p:xfrm>
          <a:off x="5276088" y="2776118"/>
          <a:ext cx="2697480" cy="345643"/>
        </p:xfrm>
        <a:graphic>
          <a:graphicData uri="http://schemas.openxmlformats.org/drawingml/2006/chart">
            <c:chart xmlns:c="http://schemas.openxmlformats.org/drawingml/2006/chart" r:id="rId4"/>
          </a:graphicData>
        </a:graphic>
      </p:graphicFrame>
      <p:sp>
        <p:nvSpPr>
          <p:cNvPr id="29" name="Text 24"/>
          <p:cNvSpPr txBox="1"/>
          <p:nvPr/>
        </p:nvSpPr>
        <p:spPr>
          <a:xfrm>
            <a:off x="8183880" y="2757830"/>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June</a:t>
            </a:r>
            <a:endParaRPr lang="en-US" sz="1400" dirty="0"/>
          </a:p>
        </p:txBody>
      </p:sp>
      <p:sp>
        <p:nvSpPr>
          <p:cNvPr id="30" name="Text 25"/>
          <p:cNvSpPr txBox="1"/>
          <p:nvPr/>
        </p:nvSpPr>
        <p:spPr>
          <a:xfrm>
            <a:off x="10195560" y="2757830"/>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+3.2 pts</a:t>
            </a:r>
            <a:endParaRPr lang="en-US" sz="1600" dirty="0"/>
          </a:p>
        </p:txBody>
      </p:sp>
      <p:sp>
        <p:nvSpPr>
          <p:cNvPr id="31" name="Text 26"/>
          <p:cNvSpPr txBox="1"/>
          <p:nvPr/>
        </p:nvSpPr>
        <p:spPr>
          <a:xfrm>
            <a:off x="749808" y="3140050"/>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32" name="Text 27"/>
          <p:cNvSpPr txBox="1"/>
          <p:nvPr/>
        </p:nvSpPr>
        <p:spPr>
          <a:xfrm>
            <a:off x="1097280" y="3140050"/>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p:txBody>
      </p:sp>
      <p:sp>
        <p:nvSpPr>
          <p:cNvPr id="33" name="Text 28"/>
          <p:cNvSpPr txBox="1"/>
          <p:nvPr/>
        </p:nvSpPr>
        <p:spPr>
          <a:xfrm>
            <a:off x="3657600" y="3140050"/>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5.3% → 8.5%</a:t>
            </a:r>
            <a:endParaRPr lang="en-US" sz="1400" dirty="0"/>
          </a:p>
        </p:txBody>
      </p:sp>
      <p:graphicFrame>
        <p:nvGraphicFramePr>
          <p:cNvPr id="34" name="Chart 3" descr=""/>
          <p:cNvGraphicFramePr/>
          <p:nvPr/>
        </p:nvGraphicFramePr>
        <p:xfrm>
          <a:off x="5276088" y="3158338"/>
          <a:ext cx="2697480" cy="345643"/>
        </p:xfrm>
        <a:graphic>
          <a:graphicData uri="http://schemas.openxmlformats.org/drawingml/2006/chart">
            <c:chart xmlns:c="http://schemas.openxmlformats.org/drawingml/2006/chart" r:id="rId5"/>
          </a:graphicData>
        </a:graphic>
      </p:graphicFrame>
      <p:sp>
        <p:nvSpPr>
          <p:cNvPr id="35" name="Text 29"/>
          <p:cNvSpPr txBox="1"/>
          <p:nvPr/>
        </p:nvSpPr>
        <p:spPr>
          <a:xfrm>
            <a:off x="8183880" y="3140050"/>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April</a:t>
            </a:r>
            <a:endParaRPr lang="en-US" sz="1400" dirty="0"/>
          </a:p>
        </p:txBody>
      </p:sp>
      <p:sp>
        <p:nvSpPr>
          <p:cNvPr id="36" name="Text 30"/>
          <p:cNvSpPr txBox="1"/>
          <p:nvPr/>
        </p:nvSpPr>
        <p:spPr>
          <a:xfrm>
            <a:off x="10195560" y="3140050"/>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+3.1 pts</a:t>
            </a:r>
            <a:endParaRPr lang="en-US" sz="1600" dirty="0"/>
          </a:p>
        </p:txBody>
      </p:sp>
      <p:sp>
        <p:nvSpPr>
          <p:cNvPr id="37" name="Shape 31"/>
          <p:cNvSpPr/>
          <p:nvPr/>
        </p:nvSpPr>
        <p:spPr>
          <a:xfrm>
            <a:off x="621792" y="3522269"/>
            <a:ext cx="10945368" cy="382219"/>
          </a:xfrm>
          <a:prstGeom prst="rect">
            <a:avLst/>
          </a:prstGeom>
          <a:solidFill>
            <a:srgbClr val="F7F7F7"/>
          </a:solidFill>
          <a:ln/>
        </p:spPr>
      </p:sp>
      <p:sp>
        <p:nvSpPr>
          <p:cNvPr id="38" name="Text 32"/>
          <p:cNvSpPr txBox="1"/>
          <p:nvPr/>
        </p:nvSpPr>
        <p:spPr>
          <a:xfrm>
            <a:off x="749808" y="3522269"/>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39" name="Text 33"/>
          <p:cNvSpPr txBox="1"/>
          <p:nvPr/>
        </p:nvSpPr>
        <p:spPr>
          <a:xfrm>
            <a:off x="1097280" y="3522269"/>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HONDA NORTH</a:t>
            </a:r>
            <a:endParaRPr lang="en-US" sz="1400" dirty="0"/>
          </a:p>
        </p:txBody>
      </p:sp>
      <p:sp>
        <p:nvSpPr>
          <p:cNvPr id="40" name="Text 34"/>
          <p:cNvSpPr txBox="1"/>
          <p:nvPr/>
        </p:nvSpPr>
        <p:spPr>
          <a:xfrm>
            <a:off x="3657600" y="3522269"/>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9.7% → 12.2%</a:t>
            </a:r>
            <a:endParaRPr lang="en-US" sz="1400" dirty="0"/>
          </a:p>
        </p:txBody>
      </p:sp>
      <p:graphicFrame>
        <p:nvGraphicFramePr>
          <p:cNvPr id="41" name="Chart 4" descr=""/>
          <p:cNvGraphicFramePr/>
          <p:nvPr/>
        </p:nvGraphicFramePr>
        <p:xfrm>
          <a:off x="5276088" y="3540557"/>
          <a:ext cx="2697480" cy="345643"/>
        </p:xfrm>
        <a:graphic>
          <a:graphicData uri="http://schemas.openxmlformats.org/drawingml/2006/chart">
            <c:chart xmlns:c="http://schemas.openxmlformats.org/drawingml/2006/chart" r:id="rId6"/>
          </a:graphicData>
        </a:graphic>
      </p:graphicFrame>
      <p:sp>
        <p:nvSpPr>
          <p:cNvPr id="42" name="Text 35"/>
          <p:cNvSpPr txBox="1"/>
          <p:nvPr/>
        </p:nvSpPr>
        <p:spPr>
          <a:xfrm>
            <a:off x="8183880" y="3522269"/>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April</a:t>
            </a:r>
            <a:endParaRPr lang="en-US" sz="1400" dirty="0"/>
          </a:p>
        </p:txBody>
      </p:sp>
      <p:sp>
        <p:nvSpPr>
          <p:cNvPr id="43" name="Text 36"/>
          <p:cNvSpPr txBox="1"/>
          <p:nvPr/>
        </p:nvSpPr>
        <p:spPr>
          <a:xfrm>
            <a:off x="10195560" y="3522269"/>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+2.5 pts</a:t>
            </a:r>
            <a:endParaRPr lang="en-US" sz="1600" dirty="0"/>
          </a:p>
        </p:txBody>
      </p:sp>
      <p:sp>
        <p:nvSpPr>
          <p:cNvPr id="44" name="Text 37"/>
          <p:cNvSpPr txBox="1"/>
          <p:nvPr/>
        </p:nvSpPr>
        <p:spPr>
          <a:xfrm>
            <a:off x="749808" y="3904488"/>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6</a:t>
            </a:r>
            <a:endParaRPr lang="en-US" sz="1500" dirty="0"/>
          </a:p>
        </p:txBody>
      </p:sp>
      <p:sp>
        <p:nvSpPr>
          <p:cNvPr id="45" name="Text 38"/>
          <p:cNvSpPr txBox="1"/>
          <p:nvPr/>
        </p:nvSpPr>
        <p:spPr>
          <a:xfrm>
            <a:off x="1097280" y="3904488"/>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SUBARU PRESCOTT</a:t>
            </a:r>
            <a:endParaRPr lang="en-US" sz="1400" dirty="0"/>
          </a:p>
        </p:txBody>
      </p:sp>
      <p:sp>
        <p:nvSpPr>
          <p:cNvPr id="46" name="Text 39"/>
          <p:cNvSpPr txBox="1"/>
          <p:nvPr/>
        </p:nvSpPr>
        <p:spPr>
          <a:xfrm>
            <a:off x="3657600" y="3904488"/>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13.6% → 15.6%</a:t>
            </a:r>
            <a:endParaRPr lang="en-US" sz="1400" dirty="0"/>
          </a:p>
        </p:txBody>
      </p:sp>
      <p:graphicFrame>
        <p:nvGraphicFramePr>
          <p:cNvPr id="47" name="Chart 5" descr=""/>
          <p:cNvGraphicFramePr/>
          <p:nvPr/>
        </p:nvGraphicFramePr>
        <p:xfrm>
          <a:off x="5276088" y="3922776"/>
          <a:ext cx="2697480" cy="345643"/>
        </p:xfrm>
        <a:graphic>
          <a:graphicData uri="http://schemas.openxmlformats.org/drawingml/2006/chart">
            <c:chart xmlns:c="http://schemas.openxmlformats.org/drawingml/2006/chart" r:id="rId7"/>
          </a:graphicData>
        </a:graphic>
      </p:graphicFrame>
      <p:sp>
        <p:nvSpPr>
          <p:cNvPr id="48" name="Text 40"/>
          <p:cNvSpPr txBox="1"/>
          <p:nvPr/>
        </p:nvSpPr>
        <p:spPr>
          <a:xfrm>
            <a:off x="8183880" y="3904488"/>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April</a:t>
            </a:r>
            <a:endParaRPr lang="en-US" sz="1400" dirty="0"/>
          </a:p>
        </p:txBody>
      </p:sp>
      <p:sp>
        <p:nvSpPr>
          <p:cNvPr id="49" name="Text 41"/>
          <p:cNvSpPr txBox="1"/>
          <p:nvPr/>
        </p:nvSpPr>
        <p:spPr>
          <a:xfrm>
            <a:off x="10195560" y="3904488"/>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+1.9 pts</a:t>
            </a:r>
            <a:endParaRPr lang="en-US" sz="1600" dirty="0"/>
          </a:p>
        </p:txBody>
      </p:sp>
      <p:sp>
        <p:nvSpPr>
          <p:cNvPr id="50" name="Shape 42"/>
          <p:cNvSpPr/>
          <p:nvPr/>
        </p:nvSpPr>
        <p:spPr>
          <a:xfrm>
            <a:off x="621792" y="4286707"/>
            <a:ext cx="10945368" cy="382219"/>
          </a:xfrm>
          <a:prstGeom prst="rect">
            <a:avLst/>
          </a:prstGeom>
          <a:solidFill>
            <a:srgbClr val="F7F7F7"/>
          </a:solidFill>
          <a:ln/>
        </p:spPr>
      </p:sp>
      <p:sp>
        <p:nvSpPr>
          <p:cNvPr id="51" name="Text 43"/>
          <p:cNvSpPr txBox="1"/>
          <p:nvPr/>
        </p:nvSpPr>
        <p:spPr>
          <a:xfrm>
            <a:off x="749808" y="4286707"/>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7</a:t>
            </a:r>
            <a:endParaRPr lang="en-US" sz="1500" dirty="0"/>
          </a:p>
        </p:txBody>
      </p:sp>
      <p:sp>
        <p:nvSpPr>
          <p:cNvPr id="52" name="Text 44"/>
          <p:cNvSpPr txBox="1"/>
          <p:nvPr/>
        </p:nvSpPr>
        <p:spPr>
          <a:xfrm>
            <a:off x="1097280" y="4286707"/>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CHEVY LV</a:t>
            </a:r>
            <a:endParaRPr lang="en-US" sz="1400" dirty="0"/>
          </a:p>
        </p:txBody>
      </p:sp>
      <p:sp>
        <p:nvSpPr>
          <p:cNvPr id="53" name="Text 45"/>
          <p:cNvSpPr txBox="1"/>
          <p:nvPr/>
        </p:nvSpPr>
        <p:spPr>
          <a:xfrm>
            <a:off x="3657600" y="4286707"/>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5.9% → 7.7%</a:t>
            </a:r>
            <a:endParaRPr lang="en-US" sz="1400" dirty="0"/>
          </a:p>
        </p:txBody>
      </p:sp>
      <p:graphicFrame>
        <p:nvGraphicFramePr>
          <p:cNvPr id="54" name="Chart 6" descr=""/>
          <p:cNvGraphicFramePr/>
          <p:nvPr/>
        </p:nvGraphicFramePr>
        <p:xfrm>
          <a:off x="5276088" y="4304995"/>
          <a:ext cx="2697480" cy="345643"/>
        </p:xfrm>
        <a:graphic>
          <a:graphicData uri="http://schemas.openxmlformats.org/drawingml/2006/chart">
            <c:chart xmlns:c="http://schemas.openxmlformats.org/drawingml/2006/chart" r:id="rId8"/>
          </a:graphicData>
        </a:graphic>
      </p:graphicFrame>
      <p:sp>
        <p:nvSpPr>
          <p:cNvPr id="55" name="Text 46"/>
          <p:cNvSpPr txBox="1"/>
          <p:nvPr/>
        </p:nvSpPr>
        <p:spPr>
          <a:xfrm>
            <a:off x="8183880" y="4286707"/>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April</a:t>
            </a:r>
            <a:endParaRPr lang="en-US" sz="1400" dirty="0"/>
          </a:p>
        </p:txBody>
      </p:sp>
      <p:sp>
        <p:nvSpPr>
          <p:cNvPr id="56" name="Text 47"/>
          <p:cNvSpPr txBox="1"/>
          <p:nvPr/>
        </p:nvSpPr>
        <p:spPr>
          <a:xfrm>
            <a:off x="10195560" y="4286707"/>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+1.8 pts</a:t>
            </a:r>
            <a:endParaRPr lang="en-US" sz="1600" dirty="0"/>
          </a:p>
        </p:txBody>
      </p:sp>
      <p:sp>
        <p:nvSpPr>
          <p:cNvPr id="57" name="Text 48"/>
          <p:cNvSpPr txBox="1"/>
          <p:nvPr/>
        </p:nvSpPr>
        <p:spPr>
          <a:xfrm>
            <a:off x="749808" y="4668926"/>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8</a:t>
            </a:r>
            <a:endParaRPr lang="en-US" sz="1500" dirty="0"/>
          </a:p>
        </p:txBody>
      </p:sp>
      <p:sp>
        <p:nvSpPr>
          <p:cNvPr id="58" name="Text 49"/>
          <p:cNvSpPr txBox="1"/>
          <p:nvPr/>
        </p:nvSpPr>
        <p:spPr>
          <a:xfrm>
            <a:off x="1097280" y="4668926"/>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GMC PRESCOTT</a:t>
            </a:r>
            <a:endParaRPr lang="en-US" sz="1400" dirty="0"/>
          </a:p>
        </p:txBody>
      </p:sp>
      <p:sp>
        <p:nvSpPr>
          <p:cNvPr id="59" name="Text 50"/>
          <p:cNvSpPr txBox="1"/>
          <p:nvPr/>
        </p:nvSpPr>
        <p:spPr>
          <a:xfrm>
            <a:off x="3657600" y="4668926"/>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7.2% → 8.9%</a:t>
            </a:r>
            <a:endParaRPr lang="en-US" sz="1400" dirty="0"/>
          </a:p>
        </p:txBody>
      </p:sp>
      <p:graphicFrame>
        <p:nvGraphicFramePr>
          <p:cNvPr id="60" name="Chart 7" descr=""/>
          <p:cNvGraphicFramePr/>
          <p:nvPr/>
        </p:nvGraphicFramePr>
        <p:xfrm>
          <a:off x="5276088" y="4687214"/>
          <a:ext cx="2697480" cy="345643"/>
        </p:xfrm>
        <a:graphic>
          <a:graphicData uri="http://schemas.openxmlformats.org/drawingml/2006/chart">
            <c:chart xmlns:c="http://schemas.openxmlformats.org/drawingml/2006/chart" r:id="rId9"/>
          </a:graphicData>
        </a:graphic>
      </p:graphicFrame>
      <p:sp>
        <p:nvSpPr>
          <p:cNvPr id="61" name="Text 51"/>
          <p:cNvSpPr txBox="1"/>
          <p:nvPr/>
        </p:nvSpPr>
        <p:spPr>
          <a:xfrm>
            <a:off x="8183880" y="4668926"/>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August</a:t>
            </a:r>
            <a:endParaRPr lang="en-US" sz="1400" dirty="0"/>
          </a:p>
        </p:txBody>
      </p:sp>
      <p:sp>
        <p:nvSpPr>
          <p:cNvPr id="62" name="Text 52"/>
          <p:cNvSpPr txBox="1"/>
          <p:nvPr/>
        </p:nvSpPr>
        <p:spPr>
          <a:xfrm>
            <a:off x="10195560" y="4668926"/>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+1.7 pts</a:t>
            </a:r>
            <a:endParaRPr lang="en-US" sz="1600" dirty="0"/>
          </a:p>
        </p:txBody>
      </p:sp>
      <p:sp>
        <p:nvSpPr>
          <p:cNvPr id="63" name="Shape 53"/>
          <p:cNvSpPr/>
          <p:nvPr/>
        </p:nvSpPr>
        <p:spPr>
          <a:xfrm>
            <a:off x="621792" y="5051146"/>
            <a:ext cx="10945368" cy="382219"/>
          </a:xfrm>
          <a:prstGeom prst="rect">
            <a:avLst/>
          </a:prstGeom>
          <a:solidFill>
            <a:srgbClr val="F7F7F7"/>
          </a:solidFill>
          <a:ln/>
        </p:spPr>
      </p:sp>
      <p:sp>
        <p:nvSpPr>
          <p:cNvPr id="64" name="Text 54"/>
          <p:cNvSpPr txBox="1"/>
          <p:nvPr/>
        </p:nvSpPr>
        <p:spPr>
          <a:xfrm>
            <a:off x="749808" y="5051146"/>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9</a:t>
            </a:r>
            <a:endParaRPr lang="en-US" sz="1500" dirty="0"/>
          </a:p>
        </p:txBody>
      </p:sp>
      <p:sp>
        <p:nvSpPr>
          <p:cNvPr id="65" name="Text 55"/>
          <p:cNvSpPr txBox="1"/>
          <p:nvPr/>
        </p:nvSpPr>
        <p:spPr>
          <a:xfrm>
            <a:off x="1097280" y="5051146"/>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SUBARU LV</a:t>
            </a:r>
            <a:endParaRPr lang="en-US" sz="1400" dirty="0"/>
          </a:p>
        </p:txBody>
      </p:sp>
      <p:sp>
        <p:nvSpPr>
          <p:cNvPr id="66" name="Text 56"/>
          <p:cNvSpPr txBox="1"/>
          <p:nvPr/>
        </p:nvSpPr>
        <p:spPr>
          <a:xfrm>
            <a:off x="3657600" y="5051146"/>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10.3% → 11.0%</a:t>
            </a:r>
            <a:endParaRPr lang="en-US" sz="1400" dirty="0"/>
          </a:p>
        </p:txBody>
      </p:sp>
      <p:graphicFrame>
        <p:nvGraphicFramePr>
          <p:cNvPr id="67" name="Chart 8" descr=""/>
          <p:cNvGraphicFramePr/>
          <p:nvPr/>
        </p:nvGraphicFramePr>
        <p:xfrm>
          <a:off x="5276088" y="5069434"/>
          <a:ext cx="2697480" cy="345643"/>
        </p:xfrm>
        <a:graphic>
          <a:graphicData uri="http://schemas.openxmlformats.org/drawingml/2006/chart">
            <c:chart xmlns:c="http://schemas.openxmlformats.org/drawingml/2006/chart" r:id="rId10"/>
          </a:graphicData>
        </a:graphic>
      </p:graphicFrame>
      <p:sp>
        <p:nvSpPr>
          <p:cNvPr id="68" name="Text 57"/>
          <p:cNvSpPr txBox="1"/>
          <p:nvPr/>
        </p:nvSpPr>
        <p:spPr>
          <a:xfrm>
            <a:off x="8183880" y="5051146"/>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July</a:t>
            </a:r>
            <a:endParaRPr lang="en-US" sz="1400" dirty="0"/>
          </a:p>
        </p:txBody>
      </p:sp>
      <p:sp>
        <p:nvSpPr>
          <p:cNvPr id="69" name="Text 58"/>
          <p:cNvSpPr txBox="1"/>
          <p:nvPr/>
        </p:nvSpPr>
        <p:spPr>
          <a:xfrm>
            <a:off x="10195560" y="5051146"/>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+0.6 pts</a:t>
            </a:r>
            <a:endParaRPr lang="en-US" sz="1600" dirty="0"/>
          </a:p>
        </p:txBody>
      </p:sp>
      <p:sp>
        <p:nvSpPr>
          <p:cNvPr id="70" name="Text 59"/>
          <p:cNvSpPr txBox="1"/>
          <p:nvPr/>
        </p:nvSpPr>
        <p:spPr>
          <a:xfrm>
            <a:off x="749808" y="5433365"/>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10</a:t>
            </a:r>
            <a:endParaRPr lang="en-US" sz="1500" dirty="0"/>
          </a:p>
        </p:txBody>
      </p:sp>
      <p:sp>
        <p:nvSpPr>
          <p:cNvPr id="71" name="Text 60"/>
          <p:cNvSpPr txBox="1"/>
          <p:nvPr/>
        </p:nvSpPr>
        <p:spPr>
          <a:xfrm>
            <a:off x="1097280" y="5433365"/>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TOYOTA PRESCOTT</a:t>
            </a:r>
            <a:endParaRPr lang="en-US" sz="1400" dirty="0"/>
          </a:p>
        </p:txBody>
      </p:sp>
      <p:sp>
        <p:nvSpPr>
          <p:cNvPr id="72" name="Text 61"/>
          <p:cNvSpPr txBox="1"/>
          <p:nvPr/>
        </p:nvSpPr>
        <p:spPr>
          <a:xfrm>
            <a:off x="3657600" y="5433365"/>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5.4% → 5.8%</a:t>
            </a:r>
            <a:endParaRPr lang="en-US" sz="1400" dirty="0"/>
          </a:p>
        </p:txBody>
      </p:sp>
      <p:graphicFrame>
        <p:nvGraphicFramePr>
          <p:cNvPr id="73" name="Chart 9" descr=""/>
          <p:cNvGraphicFramePr/>
          <p:nvPr/>
        </p:nvGraphicFramePr>
        <p:xfrm>
          <a:off x="5276088" y="5451653"/>
          <a:ext cx="2697480" cy="345643"/>
        </p:xfrm>
        <a:graphic>
          <a:graphicData uri="http://schemas.openxmlformats.org/drawingml/2006/chart">
            <c:chart xmlns:c="http://schemas.openxmlformats.org/drawingml/2006/chart" r:id="rId11"/>
          </a:graphicData>
        </a:graphic>
      </p:graphicFrame>
      <p:sp>
        <p:nvSpPr>
          <p:cNvPr id="74" name="Text 62"/>
          <p:cNvSpPr txBox="1"/>
          <p:nvPr/>
        </p:nvSpPr>
        <p:spPr>
          <a:xfrm>
            <a:off x="8183880" y="5433365"/>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April</a:t>
            </a:r>
            <a:endParaRPr lang="en-US" sz="1400" dirty="0"/>
          </a:p>
        </p:txBody>
      </p:sp>
      <p:sp>
        <p:nvSpPr>
          <p:cNvPr id="75" name="Text 63"/>
          <p:cNvSpPr txBox="1"/>
          <p:nvPr/>
        </p:nvSpPr>
        <p:spPr>
          <a:xfrm>
            <a:off x="10195560" y="5433365"/>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+0.4 pts</a:t>
            </a:r>
            <a:endParaRPr lang="en-US" sz="1600" dirty="0"/>
          </a:p>
        </p:txBody>
      </p:sp>
      <p:sp>
        <p:nvSpPr>
          <p:cNvPr id="76" name="Shape 64"/>
          <p:cNvSpPr/>
          <p:nvPr/>
        </p:nvSpPr>
        <p:spPr>
          <a:xfrm>
            <a:off x="457200" y="5961888"/>
            <a:ext cx="11274552" cy="548640"/>
          </a:xfrm>
          <a:prstGeom prst="rect">
            <a:avLst/>
          </a:prstGeom>
          <a:solidFill>
            <a:srgbClr val="E6F6EE"/>
          </a:solidFill>
          <a:ln/>
        </p:spPr>
      </p:sp>
      <p:sp>
        <p:nvSpPr>
          <p:cNvPr id="77" name="Text 65"/>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MAZDA went 10.1% to 19.3%, stepping up in August. Ask what changed that month.</a:t>
            </a:r>
            <a:endParaRPr lang="en-US" sz="1600" dirty="0"/>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OPCODES · WHO'S MOVING NOW</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Who's Moving Now: Brake Fluid %</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713232" y="1298448"/>
            <a:ext cx="10762488" cy="310896"/>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Q1 → Q3 2026. Group 9.1% → 9.1%, 0.0 pts: that is the season. 15 of 33 stores beat it.</a:t>
            </a:r>
            <a:endParaRPr lang="en-US" sz="1400" dirty="0"/>
          </a:p>
        </p:txBody>
      </p:sp>
      <p:sp>
        <p:nvSpPr>
          <p:cNvPr id="7" name="Text 5"/>
          <p:cNvSpPr txBox="1"/>
          <p:nvPr/>
        </p:nvSpPr>
        <p:spPr>
          <a:xfrm>
            <a:off x="3657600" y="1682496"/>
            <a:ext cx="1554480" cy="274320"/>
          </a:xfrm>
          <a:prstGeom prst="rect">
            <a:avLst/>
          </a:prstGeom>
          <a:noFill/>
          <a:ln/>
        </p:spPr>
        <p:txBody>
          <a:bodyPr wrap="square" lIns="0" tIns="0" rIns="0" bIns="0" rtlCol="0" anchor="ctr"/>
          <a:lstStyle/>
          <a:p>
            <a:pPr algn="l" indent="0" marL="0">
              <a:buNone/>
            </a:pPr>
            <a:r>
              <a:rPr lang="en-US" sz="1400" b="1" dirty="0">
                <a:solidFill>
                  <a:srgbClr val="595959"/>
                </a:solidFill>
                <a:latin typeface="Inter" pitchFamily="34" charset="0"/>
                <a:ea typeface="Inter" pitchFamily="34" charset="-122"/>
                <a:cs typeface="Inter" pitchFamily="34" charset="-120"/>
              </a:rPr>
              <a:t>Q1 → Q3</a:t>
            </a:r>
            <a:endParaRPr lang="en-US" sz="1400" dirty="0"/>
          </a:p>
        </p:txBody>
      </p:sp>
      <p:sp>
        <p:nvSpPr>
          <p:cNvPr id="8" name="Text 6"/>
          <p:cNvSpPr txBox="1"/>
          <p:nvPr/>
        </p:nvSpPr>
        <p:spPr>
          <a:xfrm>
            <a:off x="5349240" y="1682496"/>
            <a:ext cx="2651760" cy="274320"/>
          </a:xfrm>
          <a:prstGeom prst="rect">
            <a:avLst/>
          </a:prstGeom>
          <a:noFill/>
          <a:ln/>
        </p:spPr>
        <p:txBody>
          <a:bodyPr wrap="square" lIns="0" tIns="0" rIns="0" bIns="0" rtlCol="0" anchor="ctr"/>
          <a:lstStyle/>
          <a:p>
            <a:pPr algn="l" indent="0" marL="0">
              <a:buNone/>
            </a:pPr>
            <a:r>
              <a:rPr lang="en-US" sz="1400" b="1" dirty="0">
                <a:solidFill>
                  <a:srgbClr val="595959"/>
                </a:solidFill>
                <a:latin typeface="Inter" pitchFamily="34" charset="0"/>
                <a:ea typeface="Inter" pitchFamily="34" charset="-122"/>
                <a:cs typeface="Inter" pitchFamily="34" charset="-120"/>
              </a:rPr>
              <a:t>Jan – Sep 2026, by month</a:t>
            </a:r>
            <a:endParaRPr lang="en-US" sz="1400" dirty="0"/>
          </a:p>
        </p:txBody>
      </p:sp>
      <p:sp>
        <p:nvSpPr>
          <p:cNvPr id="9" name="Text 7"/>
          <p:cNvSpPr txBox="1"/>
          <p:nvPr/>
        </p:nvSpPr>
        <p:spPr>
          <a:xfrm>
            <a:off x="8183880" y="1682496"/>
            <a:ext cx="1737360" cy="274320"/>
          </a:xfrm>
          <a:prstGeom prst="rect">
            <a:avLst/>
          </a:prstGeom>
          <a:noFill/>
          <a:ln/>
        </p:spPr>
        <p:txBody>
          <a:bodyPr wrap="square" lIns="0" tIns="0" rIns="0" bIns="0" rtlCol="0" anchor="ctr"/>
          <a:lstStyle/>
          <a:p>
            <a:pPr algn="l" indent="0" marL="0">
              <a:buNone/>
            </a:pPr>
            <a:r>
              <a:rPr lang="en-US" sz="1400" b="1" dirty="0">
                <a:solidFill>
                  <a:srgbClr val="595959"/>
                </a:solidFill>
                <a:latin typeface="Inter" pitchFamily="34" charset="0"/>
                <a:ea typeface="Inter" pitchFamily="34" charset="-122"/>
                <a:cs typeface="Inter" pitchFamily="34" charset="-120"/>
              </a:rPr>
              <a:t>Stepped up in</a:t>
            </a:r>
            <a:endParaRPr lang="en-US" sz="1400" dirty="0"/>
          </a:p>
        </p:txBody>
      </p:sp>
      <p:sp>
        <p:nvSpPr>
          <p:cNvPr id="10" name="Text 8"/>
          <p:cNvSpPr txBox="1"/>
          <p:nvPr/>
        </p:nvSpPr>
        <p:spPr>
          <a:xfrm>
            <a:off x="10195560" y="1682496"/>
            <a:ext cx="1371600" cy="274320"/>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Q1 → Q3</a:t>
            </a:r>
            <a:endParaRPr lang="en-US" sz="1400" dirty="0"/>
          </a:p>
        </p:txBody>
      </p:sp>
      <p:sp>
        <p:nvSpPr>
          <p:cNvPr id="11" name="Shape 9"/>
          <p:cNvSpPr/>
          <p:nvPr/>
        </p:nvSpPr>
        <p:spPr>
          <a:xfrm>
            <a:off x="621792" y="1993392"/>
            <a:ext cx="10945368" cy="382219"/>
          </a:xfrm>
          <a:prstGeom prst="rect">
            <a:avLst/>
          </a:prstGeom>
          <a:solidFill>
            <a:srgbClr val="F7F7F7"/>
          </a:solidFill>
          <a:ln/>
        </p:spPr>
      </p:sp>
      <p:sp>
        <p:nvSpPr>
          <p:cNvPr id="12" name="Text 10"/>
          <p:cNvSpPr txBox="1"/>
          <p:nvPr/>
        </p:nvSpPr>
        <p:spPr>
          <a:xfrm>
            <a:off x="749808" y="1993392"/>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3" name="Text 11"/>
          <p:cNvSpPr txBox="1"/>
          <p:nvPr/>
        </p:nvSpPr>
        <p:spPr>
          <a:xfrm>
            <a:off x="1097280" y="1993392"/>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MAZDA</a:t>
            </a:r>
            <a:endParaRPr lang="en-US" sz="1400" dirty="0"/>
          </a:p>
        </p:txBody>
      </p:sp>
      <p:sp>
        <p:nvSpPr>
          <p:cNvPr id="14" name="Text 12"/>
          <p:cNvSpPr txBox="1"/>
          <p:nvPr/>
        </p:nvSpPr>
        <p:spPr>
          <a:xfrm>
            <a:off x="3657600" y="1993392"/>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5.2% → 14.1%</a:t>
            </a:r>
            <a:endParaRPr lang="en-US" sz="1400" dirty="0"/>
          </a:p>
        </p:txBody>
      </p:sp>
      <p:graphicFrame>
        <p:nvGraphicFramePr>
          <p:cNvPr id="15" name="Chart 0" descr=""/>
          <p:cNvGraphicFramePr/>
          <p:nvPr/>
        </p:nvGraphicFramePr>
        <p:xfrm>
          <a:off x="5276088" y="2011680"/>
          <a:ext cx="2697480" cy="345643"/>
        </p:xfrm>
        <a:graphic>
          <a:graphicData uri="http://schemas.openxmlformats.org/drawingml/2006/chart">
            <c:chart xmlns:c="http://schemas.openxmlformats.org/drawingml/2006/chart" r:id="rId2"/>
          </a:graphicData>
        </a:graphic>
      </p:graphicFrame>
      <p:sp>
        <p:nvSpPr>
          <p:cNvPr id="16" name="Text 13"/>
          <p:cNvSpPr txBox="1"/>
          <p:nvPr/>
        </p:nvSpPr>
        <p:spPr>
          <a:xfrm>
            <a:off x="8183880" y="1993392"/>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August</a:t>
            </a:r>
            <a:endParaRPr lang="en-US" sz="1400" dirty="0"/>
          </a:p>
        </p:txBody>
      </p:sp>
      <p:sp>
        <p:nvSpPr>
          <p:cNvPr id="17" name="Text 14"/>
          <p:cNvSpPr txBox="1"/>
          <p:nvPr/>
        </p:nvSpPr>
        <p:spPr>
          <a:xfrm>
            <a:off x="10195560" y="1993392"/>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+8.9 pts</a:t>
            </a:r>
            <a:endParaRPr lang="en-US" sz="1600" dirty="0"/>
          </a:p>
        </p:txBody>
      </p:sp>
      <p:sp>
        <p:nvSpPr>
          <p:cNvPr id="18" name="Text 15"/>
          <p:cNvSpPr txBox="1"/>
          <p:nvPr/>
        </p:nvSpPr>
        <p:spPr>
          <a:xfrm>
            <a:off x="749808" y="2375611"/>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9" name="Text 16"/>
          <p:cNvSpPr txBox="1"/>
          <p:nvPr/>
        </p:nvSpPr>
        <p:spPr>
          <a:xfrm>
            <a:off x="1097280" y="2375611"/>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AUDI RENO</a:t>
            </a:r>
            <a:endParaRPr lang="en-US" sz="1400" dirty="0"/>
          </a:p>
        </p:txBody>
      </p:sp>
      <p:sp>
        <p:nvSpPr>
          <p:cNvPr id="20" name="Text 17"/>
          <p:cNvSpPr txBox="1"/>
          <p:nvPr/>
        </p:nvSpPr>
        <p:spPr>
          <a:xfrm>
            <a:off x="3657600" y="2375611"/>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0.5% → 5.3%</a:t>
            </a:r>
            <a:endParaRPr lang="en-US" sz="1400" dirty="0"/>
          </a:p>
        </p:txBody>
      </p:sp>
      <p:graphicFrame>
        <p:nvGraphicFramePr>
          <p:cNvPr id="21" name="Chart 1" descr=""/>
          <p:cNvGraphicFramePr/>
          <p:nvPr/>
        </p:nvGraphicFramePr>
        <p:xfrm>
          <a:off x="5276088" y="2393899"/>
          <a:ext cx="2697480" cy="345643"/>
        </p:xfrm>
        <a:graphic>
          <a:graphicData uri="http://schemas.openxmlformats.org/drawingml/2006/chart">
            <c:chart xmlns:c="http://schemas.openxmlformats.org/drawingml/2006/chart" r:id="rId3"/>
          </a:graphicData>
        </a:graphic>
      </p:graphicFrame>
      <p:sp>
        <p:nvSpPr>
          <p:cNvPr id="22" name="Text 18"/>
          <p:cNvSpPr txBox="1"/>
          <p:nvPr/>
        </p:nvSpPr>
        <p:spPr>
          <a:xfrm>
            <a:off x="8183880" y="2375611"/>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August</a:t>
            </a:r>
            <a:endParaRPr lang="en-US" sz="1400" dirty="0"/>
          </a:p>
        </p:txBody>
      </p:sp>
      <p:sp>
        <p:nvSpPr>
          <p:cNvPr id="23" name="Text 19"/>
          <p:cNvSpPr txBox="1"/>
          <p:nvPr/>
        </p:nvSpPr>
        <p:spPr>
          <a:xfrm>
            <a:off x="10195560" y="2375611"/>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+4.8 pts</a:t>
            </a:r>
            <a:endParaRPr lang="en-US" sz="1600" dirty="0"/>
          </a:p>
        </p:txBody>
      </p:sp>
      <p:sp>
        <p:nvSpPr>
          <p:cNvPr id="24" name="Shape 20"/>
          <p:cNvSpPr/>
          <p:nvPr/>
        </p:nvSpPr>
        <p:spPr>
          <a:xfrm>
            <a:off x="621792" y="2757830"/>
            <a:ext cx="10945368" cy="382219"/>
          </a:xfrm>
          <a:prstGeom prst="rect">
            <a:avLst/>
          </a:prstGeom>
          <a:solidFill>
            <a:srgbClr val="F7F7F7"/>
          </a:solidFill>
          <a:ln/>
        </p:spPr>
      </p:sp>
      <p:sp>
        <p:nvSpPr>
          <p:cNvPr id="25" name="Text 21"/>
          <p:cNvSpPr txBox="1"/>
          <p:nvPr/>
        </p:nvSpPr>
        <p:spPr>
          <a:xfrm>
            <a:off x="749808" y="2757830"/>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6" name="Text 22"/>
          <p:cNvSpPr txBox="1"/>
          <p:nvPr/>
        </p:nvSpPr>
        <p:spPr>
          <a:xfrm>
            <a:off x="1097280" y="2757830"/>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p:txBody>
      </p:sp>
      <p:sp>
        <p:nvSpPr>
          <p:cNvPr id="27" name="Text 23"/>
          <p:cNvSpPr txBox="1"/>
          <p:nvPr/>
        </p:nvSpPr>
        <p:spPr>
          <a:xfrm>
            <a:off x="3657600" y="2757830"/>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3.9% → 7.9%</a:t>
            </a:r>
            <a:endParaRPr lang="en-US" sz="1400" dirty="0"/>
          </a:p>
        </p:txBody>
      </p:sp>
      <p:graphicFrame>
        <p:nvGraphicFramePr>
          <p:cNvPr id="28" name="Chart 2" descr=""/>
          <p:cNvGraphicFramePr/>
          <p:nvPr/>
        </p:nvGraphicFramePr>
        <p:xfrm>
          <a:off x="5276088" y="2776118"/>
          <a:ext cx="2697480" cy="345643"/>
        </p:xfrm>
        <a:graphic>
          <a:graphicData uri="http://schemas.openxmlformats.org/drawingml/2006/chart">
            <c:chart xmlns:c="http://schemas.openxmlformats.org/drawingml/2006/chart" r:id="rId4"/>
          </a:graphicData>
        </a:graphic>
      </p:graphicFrame>
      <p:sp>
        <p:nvSpPr>
          <p:cNvPr id="29" name="Text 24"/>
          <p:cNvSpPr txBox="1"/>
          <p:nvPr/>
        </p:nvSpPr>
        <p:spPr>
          <a:xfrm>
            <a:off x="8183880" y="2757830"/>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August</a:t>
            </a:r>
            <a:endParaRPr lang="en-US" sz="1400" dirty="0"/>
          </a:p>
        </p:txBody>
      </p:sp>
      <p:sp>
        <p:nvSpPr>
          <p:cNvPr id="30" name="Text 25"/>
          <p:cNvSpPr txBox="1"/>
          <p:nvPr/>
        </p:nvSpPr>
        <p:spPr>
          <a:xfrm>
            <a:off x="10195560" y="2757830"/>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+3.9 pts</a:t>
            </a:r>
            <a:endParaRPr lang="en-US" sz="1600" dirty="0"/>
          </a:p>
        </p:txBody>
      </p:sp>
      <p:sp>
        <p:nvSpPr>
          <p:cNvPr id="31" name="Text 26"/>
          <p:cNvSpPr txBox="1"/>
          <p:nvPr/>
        </p:nvSpPr>
        <p:spPr>
          <a:xfrm>
            <a:off x="749808" y="3140050"/>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32" name="Text 27"/>
          <p:cNvSpPr txBox="1"/>
          <p:nvPr/>
        </p:nvSpPr>
        <p:spPr>
          <a:xfrm>
            <a:off x="1097280" y="3140050"/>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p:txBody>
      </p:sp>
      <p:sp>
        <p:nvSpPr>
          <p:cNvPr id="33" name="Text 28"/>
          <p:cNvSpPr txBox="1"/>
          <p:nvPr/>
        </p:nvSpPr>
        <p:spPr>
          <a:xfrm>
            <a:off x="3657600" y="3140050"/>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8.3% → 11.7%</a:t>
            </a:r>
            <a:endParaRPr lang="en-US" sz="1400" dirty="0"/>
          </a:p>
        </p:txBody>
      </p:sp>
      <p:graphicFrame>
        <p:nvGraphicFramePr>
          <p:cNvPr id="34" name="Chart 3" descr=""/>
          <p:cNvGraphicFramePr/>
          <p:nvPr/>
        </p:nvGraphicFramePr>
        <p:xfrm>
          <a:off x="5276088" y="3158338"/>
          <a:ext cx="2697480" cy="345643"/>
        </p:xfrm>
        <a:graphic>
          <a:graphicData uri="http://schemas.openxmlformats.org/drawingml/2006/chart">
            <c:chart xmlns:c="http://schemas.openxmlformats.org/drawingml/2006/chart" r:id="rId5"/>
          </a:graphicData>
        </a:graphic>
      </p:graphicFrame>
      <p:sp>
        <p:nvSpPr>
          <p:cNvPr id="35" name="Text 29"/>
          <p:cNvSpPr txBox="1"/>
          <p:nvPr/>
        </p:nvSpPr>
        <p:spPr>
          <a:xfrm>
            <a:off x="8183880" y="3140050"/>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August</a:t>
            </a:r>
            <a:endParaRPr lang="en-US" sz="1400" dirty="0"/>
          </a:p>
        </p:txBody>
      </p:sp>
      <p:sp>
        <p:nvSpPr>
          <p:cNvPr id="36" name="Text 30"/>
          <p:cNvSpPr txBox="1"/>
          <p:nvPr/>
        </p:nvSpPr>
        <p:spPr>
          <a:xfrm>
            <a:off x="10195560" y="3140050"/>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+3.4 pts</a:t>
            </a:r>
            <a:endParaRPr lang="en-US" sz="1600" dirty="0"/>
          </a:p>
        </p:txBody>
      </p:sp>
      <p:sp>
        <p:nvSpPr>
          <p:cNvPr id="37" name="Shape 31"/>
          <p:cNvSpPr/>
          <p:nvPr/>
        </p:nvSpPr>
        <p:spPr>
          <a:xfrm>
            <a:off x="621792" y="3522269"/>
            <a:ext cx="10945368" cy="382219"/>
          </a:xfrm>
          <a:prstGeom prst="rect">
            <a:avLst/>
          </a:prstGeom>
          <a:solidFill>
            <a:srgbClr val="F7F7F7"/>
          </a:solidFill>
          <a:ln/>
        </p:spPr>
      </p:sp>
      <p:sp>
        <p:nvSpPr>
          <p:cNvPr id="38" name="Text 32"/>
          <p:cNvSpPr txBox="1"/>
          <p:nvPr/>
        </p:nvSpPr>
        <p:spPr>
          <a:xfrm>
            <a:off x="749808" y="3522269"/>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39" name="Text 33"/>
          <p:cNvSpPr txBox="1"/>
          <p:nvPr/>
        </p:nvSpPr>
        <p:spPr>
          <a:xfrm>
            <a:off x="1097280" y="3522269"/>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KIA LV</a:t>
            </a:r>
            <a:endParaRPr lang="en-US" sz="1400" dirty="0"/>
          </a:p>
        </p:txBody>
      </p:sp>
      <p:sp>
        <p:nvSpPr>
          <p:cNvPr id="40" name="Text 34"/>
          <p:cNvSpPr txBox="1"/>
          <p:nvPr/>
        </p:nvSpPr>
        <p:spPr>
          <a:xfrm>
            <a:off x="3657600" y="3522269"/>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8.1% → 10.3%</a:t>
            </a:r>
            <a:endParaRPr lang="en-US" sz="1400" dirty="0"/>
          </a:p>
        </p:txBody>
      </p:sp>
      <p:graphicFrame>
        <p:nvGraphicFramePr>
          <p:cNvPr id="41" name="Chart 4" descr=""/>
          <p:cNvGraphicFramePr/>
          <p:nvPr/>
        </p:nvGraphicFramePr>
        <p:xfrm>
          <a:off x="5276088" y="3540557"/>
          <a:ext cx="2697480" cy="345643"/>
        </p:xfrm>
        <a:graphic>
          <a:graphicData uri="http://schemas.openxmlformats.org/drawingml/2006/chart">
            <c:chart xmlns:c="http://schemas.openxmlformats.org/drawingml/2006/chart" r:id="rId6"/>
          </a:graphicData>
        </a:graphic>
      </p:graphicFrame>
      <p:sp>
        <p:nvSpPr>
          <p:cNvPr id="42" name="Text 35"/>
          <p:cNvSpPr txBox="1"/>
          <p:nvPr/>
        </p:nvSpPr>
        <p:spPr>
          <a:xfrm>
            <a:off x="8183880" y="3522269"/>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July</a:t>
            </a:r>
            <a:endParaRPr lang="en-US" sz="1400" dirty="0"/>
          </a:p>
        </p:txBody>
      </p:sp>
      <p:sp>
        <p:nvSpPr>
          <p:cNvPr id="43" name="Text 36"/>
          <p:cNvSpPr txBox="1"/>
          <p:nvPr/>
        </p:nvSpPr>
        <p:spPr>
          <a:xfrm>
            <a:off x="10195560" y="3522269"/>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+2.1 pts</a:t>
            </a:r>
            <a:endParaRPr lang="en-US" sz="1600" dirty="0"/>
          </a:p>
        </p:txBody>
      </p:sp>
      <p:sp>
        <p:nvSpPr>
          <p:cNvPr id="44" name="Text 37"/>
          <p:cNvSpPr txBox="1"/>
          <p:nvPr/>
        </p:nvSpPr>
        <p:spPr>
          <a:xfrm>
            <a:off x="749808" y="3904488"/>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6</a:t>
            </a:r>
            <a:endParaRPr lang="en-US" sz="1500" dirty="0"/>
          </a:p>
        </p:txBody>
      </p:sp>
      <p:sp>
        <p:nvSpPr>
          <p:cNvPr id="45" name="Text 38"/>
          <p:cNvSpPr txBox="1"/>
          <p:nvPr/>
        </p:nvSpPr>
        <p:spPr>
          <a:xfrm>
            <a:off x="1097280" y="3904488"/>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LR HENDERSON</a:t>
            </a:r>
            <a:endParaRPr lang="en-US" sz="1400" dirty="0"/>
          </a:p>
        </p:txBody>
      </p:sp>
      <p:sp>
        <p:nvSpPr>
          <p:cNvPr id="46" name="Text 39"/>
          <p:cNvSpPr txBox="1"/>
          <p:nvPr/>
        </p:nvSpPr>
        <p:spPr>
          <a:xfrm>
            <a:off x="3657600" y="3904488"/>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13.3% → 15.5%</a:t>
            </a:r>
            <a:endParaRPr lang="en-US" sz="1400" dirty="0"/>
          </a:p>
        </p:txBody>
      </p:sp>
      <p:graphicFrame>
        <p:nvGraphicFramePr>
          <p:cNvPr id="47" name="Chart 5" descr=""/>
          <p:cNvGraphicFramePr/>
          <p:nvPr/>
        </p:nvGraphicFramePr>
        <p:xfrm>
          <a:off x="5276088" y="3922776"/>
          <a:ext cx="2697480" cy="345643"/>
        </p:xfrm>
        <a:graphic>
          <a:graphicData uri="http://schemas.openxmlformats.org/drawingml/2006/chart">
            <c:chart xmlns:c="http://schemas.openxmlformats.org/drawingml/2006/chart" r:id="rId7"/>
          </a:graphicData>
        </a:graphic>
      </p:graphicFrame>
      <p:sp>
        <p:nvSpPr>
          <p:cNvPr id="48" name="Text 40"/>
          <p:cNvSpPr txBox="1"/>
          <p:nvPr/>
        </p:nvSpPr>
        <p:spPr>
          <a:xfrm>
            <a:off x="8183880" y="3904488"/>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August</a:t>
            </a:r>
            <a:endParaRPr lang="en-US" sz="1400" dirty="0"/>
          </a:p>
        </p:txBody>
      </p:sp>
      <p:sp>
        <p:nvSpPr>
          <p:cNvPr id="49" name="Text 41"/>
          <p:cNvSpPr txBox="1"/>
          <p:nvPr/>
        </p:nvSpPr>
        <p:spPr>
          <a:xfrm>
            <a:off x="10195560" y="3904488"/>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+2.1 pts</a:t>
            </a:r>
            <a:endParaRPr lang="en-US" sz="1600" dirty="0"/>
          </a:p>
        </p:txBody>
      </p:sp>
      <p:sp>
        <p:nvSpPr>
          <p:cNvPr id="50" name="Shape 42"/>
          <p:cNvSpPr/>
          <p:nvPr/>
        </p:nvSpPr>
        <p:spPr>
          <a:xfrm>
            <a:off x="621792" y="4286707"/>
            <a:ext cx="10945368" cy="382219"/>
          </a:xfrm>
          <a:prstGeom prst="rect">
            <a:avLst/>
          </a:prstGeom>
          <a:solidFill>
            <a:srgbClr val="F7F7F7"/>
          </a:solidFill>
          <a:ln/>
        </p:spPr>
      </p:sp>
      <p:sp>
        <p:nvSpPr>
          <p:cNvPr id="51" name="Text 43"/>
          <p:cNvSpPr txBox="1"/>
          <p:nvPr/>
        </p:nvSpPr>
        <p:spPr>
          <a:xfrm>
            <a:off x="749808" y="4286707"/>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7</a:t>
            </a:r>
            <a:endParaRPr lang="en-US" sz="1500" dirty="0"/>
          </a:p>
        </p:txBody>
      </p:sp>
      <p:sp>
        <p:nvSpPr>
          <p:cNvPr id="52" name="Text 44"/>
          <p:cNvSpPr txBox="1"/>
          <p:nvPr/>
        </p:nvSpPr>
        <p:spPr>
          <a:xfrm>
            <a:off x="1097280" y="4286707"/>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GMC PRESCOTT</a:t>
            </a:r>
            <a:endParaRPr lang="en-US" sz="1400" dirty="0"/>
          </a:p>
        </p:txBody>
      </p:sp>
      <p:sp>
        <p:nvSpPr>
          <p:cNvPr id="53" name="Text 45"/>
          <p:cNvSpPr txBox="1"/>
          <p:nvPr/>
        </p:nvSpPr>
        <p:spPr>
          <a:xfrm>
            <a:off x="3657600" y="4286707"/>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4.6% → 6.1%</a:t>
            </a:r>
            <a:endParaRPr lang="en-US" sz="1400" dirty="0"/>
          </a:p>
        </p:txBody>
      </p:sp>
      <p:graphicFrame>
        <p:nvGraphicFramePr>
          <p:cNvPr id="54" name="Chart 6" descr=""/>
          <p:cNvGraphicFramePr/>
          <p:nvPr/>
        </p:nvGraphicFramePr>
        <p:xfrm>
          <a:off x="5276088" y="4304995"/>
          <a:ext cx="2697480" cy="345643"/>
        </p:xfrm>
        <a:graphic>
          <a:graphicData uri="http://schemas.openxmlformats.org/drawingml/2006/chart">
            <c:chart xmlns:c="http://schemas.openxmlformats.org/drawingml/2006/chart" r:id="rId8"/>
          </a:graphicData>
        </a:graphic>
      </p:graphicFrame>
      <p:sp>
        <p:nvSpPr>
          <p:cNvPr id="55" name="Text 46"/>
          <p:cNvSpPr txBox="1"/>
          <p:nvPr/>
        </p:nvSpPr>
        <p:spPr>
          <a:xfrm>
            <a:off x="8183880" y="4286707"/>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April</a:t>
            </a:r>
            <a:endParaRPr lang="en-US" sz="1400" dirty="0"/>
          </a:p>
        </p:txBody>
      </p:sp>
      <p:sp>
        <p:nvSpPr>
          <p:cNvPr id="56" name="Text 47"/>
          <p:cNvSpPr txBox="1"/>
          <p:nvPr/>
        </p:nvSpPr>
        <p:spPr>
          <a:xfrm>
            <a:off x="10195560" y="4286707"/>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+1.4 pts</a:t>
            </a:r>
            <a:endParaRPr lang="en-US" sz="1600" dirty="0"/>
          </a:p>
        </p:txBody>
      </p:sp>
      <p:sp>
        <p:nvSpPr>
          <p:cNvPr id="57" name="Text 48"/>
          <p:cNvSpPr txBox="1"/>
          <p:nvPr/>
        </p:nvSpPr>
        <p:spPr>
          <a:xfrm>
            <a:off x="749808" y="4668926"/>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8</a:t>
            </a:r>
            <a:endParaRPr lang="en-US" sz="1500" dirty="0"/>
          </a:p>
        </p:txBody>
      </p:sp>
      <p:sp>
        <p:nvSpPr>
          <p:cNvPr id="58" name="Text 49"/>
          <p:cNvSpPr txBox="1"/>
          <p:nvPr/>
        </p:nvSpPr>
        <p:spPr>
          <a:xfrm>
            <a:off x="1097280" y="4668926"/>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HONDA FLAGSTAFF</a:t>
            </a:r>
            <a:endParaRPr lang="en-US" sz="1400" dirty="0"/>
          </a:p>
        </p:txBody>
      </p:sp>
      <p:sp>
        <p:nvSpPr>
          <p:cNvPr id="59" name="Text 50"/>
          <p:cNvSpPr txBox="1"/>
          <p:nvPr/>
        </p:nvSpPr>
        <p:spPr>
          <a:xfrm>
            <a:off x="3657600" y="4668926"/>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2.4% → 3.9%</a:t>
            </a:r>
            <a:endParaRPr lang="en-US" sz="1400" dirty="0"/>
          </a:p>
        </p:txBody>
      </p:sp>
      <p:graphicFrame>
        <p:nvGraphicFramePr>
          <p:cNvPr id="60" name="Chart 7" descr=""/>
          <p:cNvGraphicFramePr/>
          <p:nvPr/>
        </p:nvGraphicFramePr>
        <p:xfrm>
          <a:off x="5276088" y="4687214"/>
          <a:ext cx="2697480" cy="345643"/>
        </p:xfrm>
        <a:graphic>
          <a:graphicData uri="http://schemas.openxmlformats.org/drawingml/2006/chart">
            <c:chart xmlns:c="http://schemas.openxmlformats.org/drawingml/2006/chart" r:id="rId9"/>
          </a:graphicData>
        </a:graphic>
      </p:graphicFrame>
      <p:sp>
        <p:nvSpPr>
          <p:cNvPr id="61" name="Text 51"/>
          <p:cNvSpPr txBox="1"/>
          <p:nvPr/>
        </p:nvSpPr>
        <p:spPr>
          <a:xfrm>
            <a:off x="8183880" y="4668926"/>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May</a:t>
            </a:r>
            <a:endParaRPr lang="en-US" sz="1400" dirty="0"/>
          </a:p>
        </p:txBody>
      </p:sp>
      <p:sp>
        <p:nvSpPr>
          <p:cNvPr id="62" name="Text 52"/>
          <p:cNvSpPr txBox="1"/>
          <p:nvPr/>
        </p:nvSpPr>
        <p:spPr>
          <a:xfrm>
            <a:off x="10195560" y="4668926"/>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+1.4 pts</a:t>
            </a:r>
            <a:endParaRPr lang="en-US" sz="1600" dirty="0"/>
          </a:p>
        </p:txBody>
      </p:sp>
      <p:sp>
        <p:nvSpPr>
          <p:cNvPr id="63" name="Shape 53"/>
          <p:cNvSpPr/>
          <p:nvPr/>
        </p:nvSpPr>
        <p:spPr>
          <a:xfrm>
            <a:off x="621792" y="5051146"/>
            <a:ext cx="10945368" cy="382219"/>
          </a:xfrm>
          <a:prstGeom prst="rect">
            <a:avLst/>
          </a:prstGeom>
          <a:solidFill>
            <a:srgbClr val="F7F7F7"/>
          </a:solidFill>
          <a:ln/>
        </p:spPr>
      </p:sp>
      <p:sp>
        <p:nvSpPr>
          <p:cNvPr id="64" name="Text 54"/>
          <p:cNvSpPr txBox="1"/>
          <p:nvPr/>
        </p:nvSpPr>
        <p:spPr>
          <a:xfrm>
            <a:off x="749808" y="5051146"/>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9</a:t>
            </a:r>
            <a:endParaRPr lang="en-US" sz="1500" dirty="0"/>
          </a:p>
        </p:txBody>
      </p:sp>
      <p:sp>
        <p:nvSpPr>
          <p:cNvPr id="65" name="Text 55"/>
          <p:cNvSpPr txBox="1"/>
          <p:nvPr/>
        </p:nvSpPr>
        <p:spPr>
          <a:xfrm>
            <a:off x="1097280" y="5051146"/>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LEXUS</a:t>
            </a:r>
            <a:endParaRPr lang="en-US" sz="1400" dirty="0"/>
          </a:p>
        </p:txBody>
      </p:sp>
      <p:sp>
        <p:nvSpPr>
          <p:cNvPr id="66" name="Text 56"/>
          <p:cNvSpPr txBox="1"/>
          <p:nvPr/>
        </p:nvSpPr>
        <p:spPr>
          <a:xfrm>
            <a:off x="3657600" y="5051146"/>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7.7% → 8.9%</a:t>
            </a:r>
            <a:endParaRPr lang="en-US" sz="1400" dirty="0"/>
          </a:p>
        </p:txBody>
      </p:sp>
      <p:graphicFrame>
        <p:nvGraphicFramePr>
          <p:cNvPr id="67" name="Chart 8" descr=""/>
          <p:cNvGraphicFramePr/>
          <p:nvPr/>
        </p:nvGraphicFramePr>
        <p:xfrm>
          <a:off x="5276088" y="5069434"/>
          <a:ext cx="2697480" cy="345643"/>
        </p:xfrm>
        <a:graphic>
          <a:graphicData uri="http://schemas.openxmlformats.org/drawingml/2006/chart">
            <c:chart xmlns:c="http://schemas.openxmlformats.org/drawingml/2006/chart" r:id="rId10"/>
          </a:graphicData>
        </a:graphic>
      </p:graphicFrame>
      <p:sp>
        <p:nvSpPr>
          <p:cNvPr id="68" name="Text 57"/>
          <p:cNvSpPr txBox="1"/>
          <p:nvPr/>
        </p:nvSpPr>
        <p:spPr>
          <a:xfrm>
            <a:off x="8183880" y="5051146"/>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June</a:t>
            </a:r>
            <a:endParaRPr lang="en-US" sz="1400" dirty="0"/>
          </a:p>
        </p:txBody>
      </p:sp>
      <p:sp>
        <p:nvSpPr>
          <p:cNvPr id="69" name="Text 58"/>
          <p:cNvSpPr txBox="1"/>
          <p:nvPr/>
        </p:nvSpPr>
        <p:spPr>
          <a:xfrm>
            <a:off x="10195560" y="5051146"/>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+1.2 pts</a:t>
            </a:r>
            <a:endParaRPr lang="en-US" sz="1600" dirty="0"/>
          </a:p>
        </p:txBody>
      </p:sp>
      <p:sp>
        <p:nvSpPr>
          <p:cNvPr id="70" name="Text 59"/>
          <p:cNvSpPr txBox="1"/>
          <p:nvPr/>
        </p:nvSpPr>
        <p:spPr>
          <a:xfrm>
            <a:off x="749808" y="5433365"/>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10</a:t>
            </a:r>
            <a:endParaRPr lang="en-US" sz="1500" dirty="0"/>
          </a:p>
        </p:txBody>
      </p:sp>
      <p:sp>
        <p:nvSpPr>
          <p:cNvPr id="71" name="Text 60"/>
          <p:cNvSpPr txBox="1"/>
          <p:nvPr/>
        </p:nvSpPr>
        <p:spPr>
          <a:xfrm>
            <a:off x="1097280" y="5433365"/>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CHEVY LV</a:t>
            </a:r>
            <a:endParaRPr lang="en-US" sz="1400" dirty="0"/>
          </a:p>
        </p:txBody>
      </p:sp>
      <p:sp>
        <p:nvSpPr>
          <p:cNvPr id="72" name="Text 61"/>
          <p:cNvSpPr txBox="1"/>
          <p:nvPr/>
        </p:nvSpPr>
        <p:spPr>
          <a:xfrm>
            <a:off x="3657600" y="5433365"/>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4.8% → 6.0%</a:t>
            </a:r>
            <a:endParaRPr lang="en-US" sz="1400" dirty="0"/>
          </a:p>
        </p:txBody>
      </p:sp>
      <p:graphicFrame>
        <p:nvGraphicFramePr>
          <p:cNvPr id="73" name="Chart 9" descr=""/>
          <p:cNvGraphicFramePr/>
          <p:nvPr/>
        </p:nvGraphicFramePr>
        <p:xfrm>
          <a:off x="5276088" y="5451653"/>
          <a:ext cx="2697480" cy="345643"/>
        </p:xfrm>
        <a:graphic>
          <a:graphicData uri="http://schemas.openxmlformats.org/drawingml/2006/chart">
            <c:chart xmlns:c="http://schemas.openxmlformats.org/drawingml/2006/chart" r:id="rId11"/>
          </a:graphicData>
        </a:graphic>
      </p:graphicFrame>
      <p:sp>
        <p:nvSpPr>
          <p:cNvPr id="74" name="Text 62"/>
          <p:cNvSpPr txBox="1"/>
          <p:nvPr/>
        </p:nvSpPr>
        <p:spPr>
          <a:xfrm>
            <a:off x="8183880" y="5433365"/>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April</a:t>
            </a:r>
            <a:endParaRPr lang="en-US" sz="1400" dirty="0"/>
          </a:p>
        </p:txBody>
      </p:sp>
      <p:sp>
        <p:nvSpPr>
          <p:cNvPr id="75" name="Text 63"/>
          <p:cNvSpPr txBox="1"/>
          <p:nvPr/>
        </p:nvSpPr>
        <p:spPr>
          <a:xfrm>
            <a:off x="10195560" y="5433365"/>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+1.1 pts</a:t>
            </a:r>
            <a:endParaRPr lang="en-US" sz="1600" dirty="0"/>
          </a:p>
        </p:txBody>
      </p:sp>
      <p:sp>
        <p:nvSpPr>
          <p:cNvPr id="76" name="Shape 64"/>
          <p:cNvSpPr/>
          <p:nvPr/>
        </p:nvSpPr>
        <p:spPr>
          <a:xfrm>
            <a:off x="457200" y="5961888"/>
            <a:ext cx="11274552" cy="548640"/>
          </a:xfrm>
          <a:prstGeom prst="rect">
            <a:avLst/>
          </a:prstGeom>
          <a:solidFill>
            <a:srgbClr val="E6F6EE"/>
          </a:solidFill>
          <a:ln/>
        </p:spPr>
      </p:sp>
      <p:sp>
        <p:nvSpPr>
          <p:cNvPr id="77" name="Text 65"/>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MAZDA went 5.2% to 14.1%, stepping up in August. Ask what changed that month.</a:t>
            </a:r>
            <a:endParaRPr lang="en-US" sz="1600" dirty="0"/>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OPCODES · WHO'S MOVING NOW</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Who's Moving Now: Fuel Service %</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713232" y="1298448"/>
            <a:ext cx="10762488" cy="310896"/>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Q1 → Q3 2026. Group 5.8% → 5.6%, −0.2 pts: that is the season. 19 of 33 stores beat it.</a:t>
            </a:r>
            <a:endParaRPr lang="en-US" sz="1400" dirty="0"/>
          </a:p>
        </p:txBody>
      </p:sp>
      <p:sp>
        <p:nvSpPr>
          <p:cNvPr id="7" name="Text 5"/>
          <p:cNvSpPr txBox="1"/>
          <p:nvPr/>
        </p:nvSpPr>
        <p:spPr>
          <a:xfrm>
            <a:off x="3657600" y="1682496"/>
            <a:ext cx="1554480" cy="274320"/>
          </a:xfrm>
          <a:prstGeom prst="rect">
            <a:avLst/>
          </a:prstGeom>
          <a:noFill/>
          <a:ln/>
        </p:spPr>
        <p:txBody>
          <a:bodyPr wrap="square" lIns="0" tIns="0" rIns="0" bIns="0" rtlCol="0" anchor="ctr"/>
          <a:lstStyle/>
          <a:p>
            <a:pPr algn="l" indent="0" marL="0">
              <a:buNone/>
            </a:pPr>
            <a:r>
              <a:rPr lang="en-US" sz="1400" b="1" dirty="0">
                <a:solidFill>
                  <a:srgbClr val="595959"/>
                </a:solidFill>
                <a:latin typeface="Inter" pitchFamily="34" charset="0"/>
                <a:ea typeface="Inter" pitchFamily="34" charset="-122"/>
                <a:cs typeface="Inter" pitchFamily="34" charset="-120"/>
              </a:rPr>
              <a:t>Q1 → Q3</a:t>
            </a:r>
            <a:endParaRPr lang="en-US" sz="1400" dirty="0"/>
          </a:p>
        </p:txBody>
      </p:sp>
      <p:sp>
        <p:nvSpPr>
          <p:cNvPr id="8" name="Text 6"/>
          <p:cNvSpPr txBox="1"/>
          <p:nvPr/>
        </p:nvSpPr>
        <p:spPr>
          <a:xfrm>
            <a:off x="5349240" y="1682496"/>
            <a:ext cx="2651760" cy="274320"/>
          </a:xfrm>
          <a:prstGeom prst="rect">
            <a:avLst/>
          </a:prstGeom>
          <a:noFill/>
          <a:ln/>
        </p:spPr>
        <p:txBody>
          <a:bodyPr wrap="square" lIns="0" tIns="0" rIns="0" bIns="0" rtlCol="0" anchor="ctr"/>
          <a:lstStyle/>
          <a:p>
            <a:pPr algn="l" indent="0" marL="0">
              <a:buNone/>
            </a:pPr>
            <a:r>
              <a:rPr lang="en-US" sz="1400" b="1" dirty="0">
                <a:solidFill>
                  <a:srgbClr val="595959"/>
                </a:solidFill>
                <a:latin typeface="Inter" pitchFamily="34" charset="0"/>
                <a:ea typeface="Inter" pitchFamily="34" charset="-122"/>
                <a:cs typeface="Inter" pitchFamily="34" charset="-120"/>
              </a:rPr>
              <a:t>Jan – Sep 2026, by month</a:t>
            </a:r>
            <a:endParaRPr lang="en-US" sz="1400" dirty="0"/>
          </a:p>
        </p:txBody>
      </p:sp>
      <p:sp>
        <p:nvSpPr>
          <p:cNvPr id="9" name="Text 7"/>
          <p:cNvSpPr txBox="1"/>
          <p:nvPr/>
        </p:nvSpPr>
        <p:spPr>
          <a:xfrm>
            <a:off x="8183880" y="1682496"/>
            <a:ext cx="1737360" cy="274320"/>
          </a:xfrm>
          <a:prstGeom prst="rect">
            <a:avLst/>
          </a:prstGeom>
          <a:noFill/>
          <a:ln/>
        </p:spPr>
        <p:txBody>
          <a:bodyPr wrap="square" lIns="0" tIns="0" rIns="0" bIns="0" rtlCol="0" anchor="ctr"/>
          <a:lstStyle/>
          <a:p>
            <a:pPr algn="l" indent="0" marL="0">
              <a:buNone/>
            </a:pPr>
            <a:r>
              <a:rPr lang="en-US" sz="1400" b="1" dirty="0">
                <a:solidFill>
                  <a:srgbClr val="595959"/>
                </a:solidFill>
                <a:latin typeface="Inter" pitchFamily="34" charset="0"/>
                <a:ea typeface="Inter" pitchFamily="34" charset="-122"/>
                <a:cs typeface="Inter" pitchFamily="34" charset="-120"/>
              </a:rPr>
              <a:t>Stepped up in</a:t>
            </a:r>
            <a:endParaRPr lang="en-US" sz="1400" dirty="0"/>
          </a:p>
        </p:txBody>
      </p:sp>
      <p:sp>
        <p:nvSpPr>
          <p:cNvPr id="10" name="Text 8"/>
          <p:cNvSpPr txBox="1"/>
          <p:nvPr/>
        </p:nvSpPr>
        <p:spPr>
          <a:xfrm>
            <a:off x="10195560" y="1682496"/>
            <a:ext cx="1371600" cy="274320"/>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Q1 → Q3</a:t>
            </a:r>
            <a:endParaRPr lang="en-US" sz="1400" dirty="0"/>
          </a:p>
        </p:txBody>
      </p:sp>
      <p:sp>
        <p:nvSpPr>
          <p:cNvPr id="11" name="Shape 9"/>
          <p:cNvSpPr/>
          <p:nvPr/>
        </p:nvSpPr>
        <p:spPr>
          <a:xfrm>
            <a:off x="621792" y="1993392"/>
            <a:ext cx="10945368" cy="382219"/>
          </a:xfrm>
          <a:prstGeom prst="rect">
            <a:avLst/>
          </a:prstGeom>
          <a:solidFill>
            <a:srgbClr val="F7F7F7"/>
          </a:solidFill>
          <a:ln/>
        </p:spPr>
      </p:sp>
      <p:sp>
        <p:nvSpPr>
          <p:cNvPr id="12" name="Text 10"/>
          <p:cNvSpPr txBox="1"/>
          <p:nvPr/>
        </p:nvSpPr>
        <p:spPr>
          <a:xfrm>
            <a:off x="749808" y="1993392"/>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3" name="Text 11"/>
          <p:cNvSpPr txBox="1"/>
          <p:nvPr/>
        </p:nvSpPr>
        <p:spPr>
          <a:xfrm>
            <a:off x="1097280" y="1993392"/>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MAZDA</a:t>
            </a:r>
            <a:endParaRPr lang="en-US" sz="1400" dirty="0"/>
          </a:p>
        </p:txBody>
      </p:sp>
      <p:sp>
        <p:nvSpPr>
          <p:cNvPr id="14" name="Text 12"/>
          <p:cNvSpPr txBox="1"/>
          <p:nvPr/>
        </p:nvSpPr>
        <p:spPr>
          <a:xfrm>
            <a:off x="3657600" y="1993392"/>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2.5% → 10.7%</a:t>
            </a:r>
            <a:endParaRPr lang="en-US" sz="1400" dirty="0"/>
          </a:p>
        </p:txBody>
      </p:sp>
      <p:graphicFrame>
        <p:nvGraphicFramePr>
          <p:cNvPr id="15" name="Chart 0" descr=""/>
          <p:cNvGraphicFramePr/>
          <p:nvPr/>
        </p:nvGraphicFramePr>
        <p:xfrm>
          <a:off x="5276088" y="2011680"/>
          <a:ext cx="2697480" cy="345643"/>
        </p:xfrm>
        <a:graphic>
          <a:graphicData uri="http://schemas.openxmlformats.org/drawingml/2006/chart">
            <c:chart xmlns:c="http://schemas.openxmlformats.org/drawingml/2006/chart" r:id="rId2"/>
          </a:graphicData>
        </a:graphic>
      </p:graphicFrame>
      <p:sp>
        <p:nvSpPr>
          <p:cNvPr id="16" name="Text 13"/>
          <p:cNvSpPr txBox="1"/>
          <p:nvPr/>
        </p:nvSpPr>
        <p:spPr>
          <a:xfrm>
            <a:off x="8183880" y="1993392"/>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August</a:t>
            </a:r>
            <a:endParaRPr lang="en-US" sz="1400" dirty="0"/>
          </a:p>
        </p:txBody>
      </p:sp>
      <p:sp>
        <p:nvSpPr>
          <p:cNvPr id="17" name="Text 14"/>
          <p:cNvSpPr txBox="1"/>
          <p:nvPr/>
        </p:nvSpPr>
        <p:spPr>
          <a:xfrm>
            <a:off x="10195560" y="1993392"/>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+8.1 pts</a:t>
            </a:r>
            <a:endParaRPr lang="en-US" sz="1600" dirty="0"/>
          </a:p>
        </p:txBody>
      </p:sp>
      <p:sp>
        <p:nvSpPr>
          <p:cNvPr id="18" name="Text 15"/>
          <p:cNvSpPr txBox="1"/>
          <p:nvPr/>
        </p:nvSpPr>
        <p:spPr>
          <a:xfrm>
            <a:off x="749808" y="2375611"/>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9" name="Text 16"/>
          <p:cNvSpPr txBox="1"/>
          <p:nvPr/>
        </p:nvSpPr>
        <p:spPr>
          <a:xfrm>
            <a:off x="1097280" y="2375611"/>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p:txBody>
      </p:sp>
      <p:sp>
        <p:nvSpPr>
          <p:cNvPr id="20" name="Text 17"/>
          <p:cNvSpPr txBox="1"/>
          <p:nvPr/>
        </p:nvSpPr>
        <p:spPr>
          <a:xfrm>
            <a:off x="3657600" y="2375611"/>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4.2% → 8.1%</a:t>
            </a:r>
            <a:endParaRPr lang="en-US" sz="1400" dirty="0"/>
          </a:p>
        </p:txBody>
      </p:sp>
      <p:graphicFrame>
        <p:nvGraphicFramePr>
          <p:cNvPr id="21" name="Chart 1" descr=""/>
          <p:cNvGraphicFramePr/>
          <p:nvPr/>
        </p:nvGraphicFramePr>
        <p:xfrm>
          <a:off x="5276088" y="2393899"/>
          <a:ext cx="2697480" cy="345643"/>
        </p:xfrm>
        <a:graphic>
          <a:graphicData uri="http://schemas.openxmlformats.org/drawingml/2006/chart">
            <c:chart xmlns:c="http://schemas.openxmlformats.org/drawingml/2006/chart" r:id="rId3"/>
          </a:graphicData>
        </a:graphic>
      </p:graphicFrame>
      <p:sp>
        <p:nvSpPr>
          <p:cNvPr id="22" name="Text 18"/>
          <p:cNvSpPr txBox="1"/>
          <p:nvPr/>
        </p:nvSpPr>
        <p:spPr>
          <a:xfrm>
            <a:off x="8183880" y="2375611"/>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August</a:t>
            </a:r>
            <a:endParaRPr lang="en-US" sz="1400" dirty="0"/>
          </a:p>
        </p:txBody>
      </p:sp>
      <p:sp>
        <p:nvSpPr>
          <p:cNvPr id="23" name="Text 19"/>
          <p:cNvSpPr txBox="1"/>
          <p:nvPr/>
        </p:nvSpPr>
        <p:spPr>
          <a:xfrm>
            <a:off x="10195560" y="2375611"/>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+3.9 pts</a:t>
            </a:r>
            <a:endParaRPr lang="en-US" sz="1600" dirty="0"/>
          </a:p>
        </p:txBody>
      </p:sp>
      <p:sp>
        <p:nvSpPr>
          <p:cNvPr id="24" name="Shape 20"/>
          <p:cNvSpPr/>
          <p:nvPr/>
        </p:nvSpPr>
        <p:spPr>
          <a:xfrm>
            <a:off x="621792" y="2757830"/>
            <a:ext cx="10945368" cy="382219"/>
          </a:xfrm>
          <a:prstGeom prst="rect">
            <a:avLst/>
          </a:prstGeom>
          <a:solidFill>
            <a:srgbClr val="F7F7F7"/>
          </a:solidFill>
          <a:ln/>
        </p:spPr>
      </p:sp>
      <p:sp>
        <p:nvSpPr>
          <p:cNvPr id="25" name="Text 21"/>
          <p:cNvSpPr txBox="1"/>
          <p:nvPr/>
        </p:nvSpPr>
        <p:spPr>
          <a:xfrm>
            <a:off x="749808" y="2757830"/>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6" name="Text 22"/>
          <p:cNvSpPr txBox="1"/>
          <p:nvPr/>
        </p:nvSpPr>
        <p:spPr>
          <a:xfrm>
            <a:off x="1097280" y="2757830"/>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HONDA SPOKANE</a:t>
            </a:r>
            <a:endParaRPr lang="en-US" sz="1400" dirty="0"/>
          </a:p>
        </p:txBody>
      </p:sp>
      <p:sp>
        <p:nvSpPr>
          <p:cNvPr id="27" name="Text 23"/>
          <p:cNvSpPr txBox="1"/>
          <p:nvPr/>
        </p:nvSpPr>
        <p:spPr>
          <a:xfrm>
            <a:off x="3657600" y="2757830"/>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1.2% → 4.9%</a:t>
            </a:r>
            <a:endParaRPr lang="en-US" sz="1400" dirty="0"/>
          </a:p>
        </p:txBody>
      </p:sp>
      <p:graphicFrame>
        <p:nvGraphicFramePr>
          <p:cNvPr id="28" name="Chart 2" descr=""/>
          <p:cNvGraphicFramePr/>
          <p:nvPr/>
        </p:nvGraphicFramePr>
        <p:xfrm>
          <a:off x="5276088" y="2776118"/>
          <a:ext cx="2697480" cy="345643"/>
        </p:xfrm>
        <a:graphic>
          <a:graphicData uri="http://schemas.openxmlformats.org/drawingml/2006/chart">
            <c:chart xmlns:c="http://schemas.openxmlformats.org/drawingml/2006/chart" r:id="rId4"/>
          </a:graphicData>
        </a:graphic>
      </p:graphicFrame>
      <p:sp>
        <p:nvSpPr>
          <p:cNvPr id="29" name="Text 24"/>
          <p:cNvSpPr txBox="1"/>
          <p:nvPr/>
        </p:nvSpPr>
        <p:spPr>
          <a:xfrm>
            <a:off x="8183880" y="2757830"/>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April</a:t>
            </a:r>
            <a:endParaRPr lang="en-US" sz="1400" dirty="0"/>
          </a:p>
        </p:txBody>
      </p:sp>
      <p:sp>
        <p:nvSpPr>
          <p:cNvPr id="30" name="Text 25"/>
          <p:cNvSpPr txBox="1"/>
          <p:nvPr/>
        </p:nvSpPr>
        <p:spPr>
          <a:xfrm>
            <a:off x="10195560" y="2757830"/>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+3.6 pts</a:t>
            </a:r>
            <a:endParaRPr lang="en-US" sz="1600" dirty="0"/>
          </a:p>
        </p:txBody>
      </p:sp>
      <p:sp>
        <p:nvSpPr>
          <p:cNvPr id="31" name="Text 26"/>
          <p:cNvSpPr txBox="1"/>
          <p:nvPr/>
        </p:nvSpPr>
        <p:spPr>
          <a:xfrm>
            <a:off x="749808" y="3140050"/>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32" name="Text 27"/>
          <p:cNvSpPr txBox="1"/>
          <p:nvPr/>
        </p:nvSpPr>
        <p:spPr>
          <a:xfrm>
            <a:off x="1097280" y="3140050"/>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LINCOLN</a:t>
            </a:r>
            <a:endParaRPr lang="en-US" sz="1400" dirty="0"/>
          </a:p>
        </p:txBody>
      </p:sp>
      <p:sp>
        <p:nvSpPr>
          <p:cNvPr id="33" name="Text 28"/>
          <p:cNvSpPr txBox="1"/>
          <p:nvPr/>
        </p:nvSpPr>
        <p:spPr>
          <a:xfrm>
            <a:off x="3657600" y="3140050"/>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6.7% → 10.1%</a:t>
            </a:r>
            <a:endParaRPr lang="en-US" sz="1400" dirty="0"/>
          </a:p>
        </p:txBody>
      </p:sp>
      <p:graphicFrame>
        <p:nvGraphicFramePr>
          <p:cNvPr id="34" name="Chart 3" descr=""/>
          <p:cNvGraphicFramePr/>
          <p:nvPr/>
        </p:nvGraphicFramePr>
        <p:xfrm>
          <a:off x="5276088" y="3158338"/>
          <a:ext cx="2697480" cy="345643"/>
        </p:xfrm>
        <a:graphic>
          <a:graphicData uri="http://schemas.openxmlformats.org/drawingml/2006/chart">
            <c:chart xmlns:c="http://schemas.openxmlformats.org/drawingml/2006/chart" r:id="rId5"/>
          </a:graphicData>
        </a:graphic>
      </p:graphicFrame>
      <p:sp>
        <p:nvSpPr>
          <p:cNvPr id="35" name="Text 29"/>
          <p:cNvSpPr txBox="1"/>
          <p:nvPr/>
        </p:nvSpPr>
        <p:spPr>
          <a:xfrm>
            <a:off x="8183880" y="3140050"/>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June</a:t>
            </a:r>
            <a:endParaRPr lang="en-US" sz="1400" dirty="0"/>
          </a:p>
        </p:txBody>
      </p:sp>
      <p:sp>
        <p:nvSpPr>
          <p:cNvPr id="36" name="Text 30"/>
          <p:cNvSpPr txBox="1"/>
          <p:nvPr/>
        </p:nvSpPr>
        <p:spPr>
          <a:xfrm>
            <a:off x="10195560" y="3140050"/>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+3.3 pts</a:t>
            </a:r>
            <a:endParaRPr lang="en-US" sz="1600" dirty="0"/>
          </a:p>
        </p:txBody>
      </p:sp>
      <p:sp>
        <p:nvSpPr>
          <p:cNvPr id="37" name="Shape 31"/>
          <p:cNvSpPr/>
          <p:nvPr/>
        </p:nvSpPr>
        <p:spPr>
          <a:xfrm>
            <a:off x="621792" y="3522269"/>
            <a:ext cx="10945368" cy="382219"/>
          </a:xfrm>
          <a:prstGeom prst="rect">
            <a:avLst/>
          </a:prstGeom>
          <a:solidFill>
            <a:srgbClr val="F7F7F7"/>
          </a:solidFill>
          <a:ln/>
        </p:spPr>
      </p:sp>
      <p:sp>
        <p:nvSpPr>
          <p:cNvPr id="38" name="Text 32"/>
          <p:cNvSpPr txBox="1"/>
          <p:nvPr/>
        </p:nvSpPr>
        <p:spPr>
          <a:xfrm>
            <a:off x="749808" y="3522269"/>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39" name="Text 33"/>
          <p:cNvSpPr txBox="1"/>
          <p:nvPr/>
        </p:nvSpPr>
        <p:spPr>
          <a:xfrm>
            <a:off x="1097280" y="3522269"/>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AUDI RENO</a:t>
            </a:r>
            <a:endParaRPr lang="en-US" sz="1400" dirty="0"/>
          </a:p>
        </p:txBody>
      </p:sp>
      <p:sp>
        <p:nvSpPr>
          <p:cNvPr id="40" name="Text 34"/>
          <p:cNvSpPr txBox="1"/>
          <p:nvPr/>
        </p:nvSpPr>
        <p:spPr>
          <a:xfrm>
            <a:off x="3657600" y="3522269"/>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0.0% → 2.5%</a:t>
            </a:r>
            <a:endParaRPr lang="en-US" sz="1400" dirty="0"/>
          </a:p>
        </p:txBody>
      </p:sp>
      <p:graphicFrame>
        <p:nvGraphicFramePr>
          <p:cNvPr id="41" name="Chart 4" descr=""/>
          <p:cNvGraphicFramePr/>
          <p:nvPr/>
        </p:nvGraphicFramePr>
        <p:xfrm>
          <a:off x="5276088" y="3540557"/>
          <a:ext cx="2697480" cy="345643"/>
        </p:xfrm>
        <a:graphic>
          <a:graphicData uri="http://schemas.openxmlformats.org/drawingml/2006/chart">
            <c:chart xmlns:c="http://schemas.openxmlformats.org/drawingml/2006/chart" r:id="rId6"/>
          </a:graphicData>
        </a:graphic>
      </p:graphicFrame>
      <p:sp>
        <p:nvSpPr>
          <p:cNvPr id="42" name="Text 35"/>
          <p:cNvSpPr txBox="1"/>
          <p:nvPr/>
        </p:nvSpPr>
        <p:spPr>
          <a:xfrm>
            <a:off x="8183880" y="3522269"/>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August</a:t>
            </a:r>
            <a:endParaRPr lang="en-US" sz="1400" dirty="0"/>
          </a:p>
        </p:txBody>
      </p:sp>
      <p:sp>
        <p:nvSpPr>
          <p:cNvPr id="43" name="Text 36"/>
          <p:cNvSpPr txBox="1"/>
          <p:nvPr/>
        </p:nvSpPr>
        <p:spPr>
          <a:xfrm>
            <a:off x="10195560" y="3522269"/>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+2.4 pts</a:t>
            </a:r>
            <a:endParaRPr lang="en-US" sz="1600" dirty="0"/>
          </a:p>
        </p:txBody>
      </p:sp>
      <p:sp>
        <p:nvSpPr>
          <p:cNvPr id="44" name="Text 37"/>
          <p:cNvSpPr txBox="1"/>
          <p:nvPr/>
        </p:nvSpPr>
        <p:spPr>
          <a:xfrm>
            <a:off x="749808" y="3904488"/>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6</a:t>
            </a:r>
            <a:endParaRPr lang="en-US" sz="1500" dirty="0"/>
          </a:p>
        </p:txBody>
      </p:sp>
      <p:sp>
        <p:nvSpPr>
          <p:cNvPr id="45" name="Text 38"/>
          <p:cNvSpPr txBox="1"/>
          <p:nvPr/>
        </p:nvSpPr>
        <p:spPr>
          <a:xfrm>
            <a:off x="1097280" y="3904488"/>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p:txBody>
      </p:sp>
      <p:sp>
        <p:nvSpPr>
          <p:cNvPr id="46" name="Text 39"/>
          <p:cNvSpPr txBox="1"/>
          <p:nvPr/>
        </p:nvSpPr>
        <p:spPr>
          <a:xfrm>
            <a:off x="3657600" y="3904488"/>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6.4% → 8.9%</a:t>
            </a:r>
            <a:endParaRPr lang="en-US" sz="1400" dirty="0"/>
          </a:p>
        </p:txBody>
      </p:sp>
      <p:graphicFrame>
        <p:nvGraphicFramePr>
          <p:cNvPr id="47" name="Chart 5" descr=""/>
          <p:cNvGraphicFramePr/>
          <p:nvPr/>
        </p:nvGraphicFramePr>
        <p:xfrm>
          <a:off x="5276088" y="3922776"/>
          <a:ext cx="2697480" cy="345643"/>
        </p:xfrm>
        <a:graphic>
          <a:graphicData uri="http://schemas.openxmlformats.org/drawingml/2006/chart">
            <c:chart xmlns:c="http://schemas.openxmlformats.org/drawingml/2006/chart" r:id="rId7"/>
          </a:graphicData>
        </a:graphic>
      </p:graphicFrame>
      <p:sp>
        <p:nvSpPr>
          <p:cNvPr id="48" name="Text 40"/>
          <p:cNvSpPr txBox="1"/>
          <p:nvPr/>
        </p:nvSpPr>
        <p:spPr>
          <a:xfrm>
            <a:off x="8183880" y="3904488"/>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August</a:t>
            </a:r>
            <a:endParaRPr lang="en-US" sz="1400" dirty="0"/>
          </a:p>
        </p:txBody>
      </p:sp>
      <p:sp>
        <p:nvSpPr>
          <p:cNvPr id="49" name="Text 41"/>
          <p:cNvSpPr txBox="1"/>
          <p:nvPr/>
        </p:nvSpPr>
        <p:spPr>
          <a:xfrm>
            <a:off x="10195560" y="3904488"/>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+2.4 pts</a:t>
            </a:r>
            <a:endParaRPr lang="en-US" sz="1600" dirty="0"/>
          </a:p>
        </p:txBody>
      </p:sp>
      <p:sp>
        <p:nvSpPr>
          <p:cNvPr id="50" name="Shape 42"/>
          <p:cNvSpPr/>
          <p:nvPr/>
        </p:nvSpPr>
        <p:spPr>
          <a:xfrm>
            <a:off x="621792" y="4286707"/>
            <a:ext cx="10945368" cy="382219"/>
          </a:xfrm>
          <a:prstGeom prst="rect">
            <a:avLst/>
          </a:prstGeom>
          <a:solidFill>
            <a:srgbClr val="F7F7F7"/>
          </a:solidFill>
          <a:ln/>
        </p:spPr>
      </p:sp>
      <p:sp>
        <p:nvSpPr>
          <p:cNvPr id="51" name="Text 43"/>
          <p:cNvSpPr txBox="1"/>
          <p:nvPr/>
        </p:nvSpPr>
        <p:spPr>
          <a:xfrm>
            <a:off x="749808" y="4286707"/>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7</a:t>
            </a:r>
            <a:endParaRPr lang="en-US" sz="1500" dirty="0"/>
          </a:p>
        </p:txBody>
      </p:sp>
      <p:sp>
        <p:nvSpPr>
          <p:cNvPr id="52" name="Text 44"/>
          <p:cNvSpPr txBox="1"/>
          <p:nvPr/>
        </p:nvSpPr>
        <p:spPr>
          <a:xfrm>
            <a:off x="1097280" y="4286707"/>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ACURA</a:t>
            </a:r>
            <a:endParaRPr lang="en-US" sz="1400" dirty="0"/>
          </a:p>
        </p:txBody>
      </p:sp>
      <p:sp>
        <p:nvSpPr>
          <p:cNvPr id="53" name="Text 45"/>
          <p:cNvSpPr txBox="1"/>
          <p:nvPr/>
        </p:nvSpPr>
        <p:spPr>
          <a:xfrm>
            <a:off x="3657600" y="4286707"/>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8.8% → 10.2%</a:t>
            </a:r>
            <a:endParaRPr lang="en-US" sz="1400" dirty="0"/>
          </a:p>
        </p:txBody>
      </p:sp>
      <p:graphicFrame>
        <p:nvGraphicFramePr>
          <p:cNvPr id="54" name="Chart 6" descr=""/>
          <p:cNvGraphicFramePr/>
          <p:nvPr/>
        </p:nvGraphicFramePr>
        <p:xfrm>
          <a:off x="5276088" y="4304995"/>
          <a:ext cx="2697480" cy="345643"/>
        </p:xfrm>
        <a:graphic>
          <a:graphicData uri="http://schemas.openxmlformats.org/drawingml/2006/chart">
            <c:chart xmlns:c="http://schemas.openxmlformats.org/drawingml/2006/chart" r:id="rId8"/>
          </a:graphicData>
        </a:graphic>
      </p:graphicFrame>
      <p:sp>
        <p:nvSpPr>
          <p:cNvPr id="55" name="Text 46"/>
          <p:cNvSpPr txBox="1"/>
          <p:nvPr/>
        </p:nvSpPr>
        <p:spPr>
          <a:xfrm>
            <a:off x="8183880" y="4286707"/>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May</a:t>
            </a:r>
            <a:endParaRPr lang="en-US" sz="1400" dirty="0"/>
          </a:p>
        </p:txBody>
      </p:sp>
      <p:sp>
        <p:nvSpPr>
          <p:cNvPr id="56" name="Text 47"/>
          <p:cNvSpPr txBox="1"/>
          <p:nvPr/>
        </p:nvSpPr>
        <p:spPr>
          <a:xfrm>
            <a:off x="10195560" y="4286707"/>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+1.3 pts</a:t>
            </a:r>
            <a:endParaRPr lang="en-US" sz="1600" dirty="0"/>
          </a:p>
        </p:txBody>
      </p:sp>
      <p:sp>
        <p:nvSpPr>
          <p:cNvPr id="57" name="Text 48"/>
          <p:cNvSpPr txBox="1"/>
          <p:nvPr/>
        </p:nvSpPr>
        <p:spPr>
          <a:xfrm>
            <a:off x="749808" y="4668926"/>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8</a:t>
            </a:r>
            <a:endParaRPr lang="en-US" sz="1500" dirty="0"/>
          </a:p>
        </p:txBody>
      </p:sp>
      <p:sp>
        <p:nvSpPr>
          <p:cNvPr id="58" name="Text 49"/>
          <p:cNvSpPr txBox="1"/>
          <p:nvPr/>
        </p:nvSpPr>
        <p:spPr>
          <a:xfrm>
            <a:off x="1097280" y="4668926"/>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HONDA FLAGSTAFF</a:t>
            </a:r>
            <a:endParaRPr lang="en-US" sz="1400" dirty="0"/>
          </a:p>
        </p:txBody>
      </p:sp>
      <p:sp>
        <p:nvSpPr>
          <p:cNvPr id="59" name="Text 50"/>
          <p:cNvSpPr txBox="1"/>
          <p:nvPr/>
        </p:nvSpPr>
        <p:spPr>
          <a:xfrm>
            <a:off x="3657600" y="4668926"/>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0.3% → 1.5%</a:t>
            </a:r>
            <a:endParaRPr lang="en-US" sz="1400" dirty="0"/>
          </a:p>
        </p:txBody>
      </p:sp>
      <p:graphicFrame>
        <p:nvGraphicFramePr>
          <p:cNvPr id="60" name="Chart 7" descr=""/>
          <p:cNvGraphicFramePr/>
          <p:nvPr/>
        </p:nvGraphicFramePr>
        <p:xfrm>
          <a:off x="5276088" y="4687214"/>
          <a:ext cx="2697480" cy="345643"/>
        </p:xfrm>
        <a:graphic>
          <a:graphicData uri="http://schemas.openxmlformats.org/drawingml/2006/chart">
            <c:chart xmlns:c="http://schemas.openxmlformats.org/drawingml/2006/chart" r:id="rId9"/>
          </a:graphicData>
        </a:graphic>
      </p:graphicFrame>
      <p:sp>
        <p:nvSpPr>
          <p:cNvPr id="61" name="Text 51"/>
          <p:cNvSpPr txBox="1"/>
          <p:nvPr/>
        </p:nvSpPr>
        <p:spPr>
          <a:xfrm>
            <a:off x="8183880" y="4668926"/>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June</a:t>
            </a:r>
            <a:endParaRPr lang="en-US" sz="1400" dirty="0"/>
          </a:p>
        </p:txBody>
      </p:sp>
      <p:sp>
        <p:nvSpPr>
          <p:cNvPr id="62" name="Text 52"/>
          <p:cNvSpPr txBox="1"/>
          <p:nvPr/>
        </p:nvSpPr>
        <p:spPr>
          <a:xfrm>
            <a:off x="10195560" y="4668926"/>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+1.1 pts</a:t>
            </a:r>
            <a:endParaRPr lang="en-US" sz="1600" dirty="0"/>
          </a:p>
        </p:txBody>
      </p:sp>
      <p:sp>
        <p:nvSpPr>
          <p:cNvPr id="63" name="Shape 53"/>
          <p:cNvSpPr/>
          <p:nvPr/>
        </p:nvSpPr>
        <p:spPr>
          <a:xfrm>
            <a:off x="621792" y="5051146"/>
            <a:ext cx="10945368" cy="382219"/>
          </a:xfrm>
          <a:prstGeom prst="rect">
            <a:avLst/>
          </a:prstGeom>
          <a:solidFill>
            <a:srgbClr val="F7F7F7"/>
          </a:solidFill>
          <a:ln/>
        </p:spPr>
      </p:sp>
      <p:sp>
        <p:nvSpPr>
          <p:cNvPr id="64" name="Text 54"/>
          <p:cNvSpPr txBox="1"/>
          <p:nvPr/>
        </p:nvSpPr>
        <p:spPr>
          <a:xfrm>
            <a:off x="749808" y="5051146"/>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9</a:t>
            </a:r>
            <a:endParaRPr lang="en-US" sz="1500" dirty="0"/>
          </a:p>
        </p:txBody>
      </p:sp>
      <p:sp>
        <p:nvSpPr>
          <p:cNvPr id="65" name="Text 55"/>
          <p:cNvSpPr txBox="1"/>
          <p:nvPr/>
        </p:nvSpPr>
        <p:spPr>
          <a:xfrm>
            <a:off x="1097280" y="5051146"/>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p:txBody>
      </p:sp>
      <p:sp>
        <p:nvSpPr>
          <p:cNvPr id="66" name="Text 56"/>
          <p:cNvSpPr txBox="1"/>
          <p:nvPr/>
        </p:nvSpPr>
        <p:spPr>
          <a:xfrm>
            <a:off x="3657600" y="5051146"/>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8.0% → 9.0%</a:t>
            </a:r>
            <a:endParaRPr lang="en-US" sz="1400" dirty="0"/>
          </a:p>
        </p:txBody>
      </p:sp>
      <p:graphicFrame>
        <p:nvGraphicFramePr>
          <p:cNvPr id="67" name="Chart 8" descr=""/>
          <p:cNvGraphicFramePr/>
          <p:nvPr/>
        </p:nvGraphicFramePr>
        <p:xfrm>
          <a:off x="5276088" y="5069434"/>
          <a:ext cx="2697480" cy="345643"/>
        </p:xfrm>
        <a:graphic>
          <a:graphicData uri="http://schemas.openxmlformats.org/drawingml/2006/chart">
            <c:chart xmlns:c="http://schemas.openxmlformats.org/drawingml/2006/chart" r:id="rId10"/>
          </a:graphicData>
        </a:graphic>
      </p:graphicFrame>
      <p:sp>
        <p:nvSpPr>
          <p:cNvPr id="68" name="Text 57"/>
          <p:cNvSpPr txBox="1"/>
          <p:nvPr/>
        </p:nvSpPr>
        <p:spPr>
          <a:xfrm>
            <a:off x="8183880" y="5051146"/>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April</a:t>
            </a:r>
            <a:endParaRPr lang="en-US" sz="1400" dirty="0"/>
          </a:p>
        </p:txBody>
      </p:sp>
      <p:sp>
        <p:nvSpPr>
          <p:cNvPr id="69" name="Text 58"/>
          <p:cNvSpPr txBox="1"/>
          <p:nvPr/>
        </p:nvSpPr>
        <p:spPr>
          <a:xfrm>
            <a:off x="10195560" y="5051146"/>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+1.0 pts</a:t>
            </a:r>
            <a:endParaRPr lang="en-US" sz="1600" dirty="0"/>
          </a:p>
        </p:txBody>
      </p:sp>
      <p:sp>
        <p:nvSpPr>
          <p:cNvPr id="70" name="Text 59"/>
          <p:cNvSpPr txBox="1"/>
          <p:nvPr/>
        </p:nvSpPr>
        <p:spPr>
          <a:xfrm>
            <a:off x="749808" y="5433365"/>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10</a:t>
            </a:r>
            <a:endParaRPr lang="en-US" sz="1500" dirty="0"/>
          </a:p>
        </p:txBody>
      </p:sp>
      <p:sp>
        <p:nvSpPr>
          <p:cNvPr id="71" name="Text 60"/>
          <p:cNvSpPr txBox="1"/>
          <p:nvPr/>
        </p:nvSpPr>
        <p:spPr>
          <a:xfrm>
            <a:off x="1097280" y="5433365"/>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GMC PRESCOTT</a:t>
            </a:r>
            <a:endParaRPr lang="en-US" sz="1400" dirty="0"/>
          </a:p>
        </p:txBody>
      </p:sp>
      <p:sp>
        <p:nvSpPr>
          <p:cNvPr id="72" name="Text 61"/>
          <p:cNvSpPr txBox="1"/>
          <p:nvPr/>
        </p:nvSpPr>
        <p:spPr>
          <a:xfrm>
            <a:off x="3657600" y="5433365"/>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3.0% → 3.9%</a:t>
            </a:r>
            <a:endParaRPr lang="en-US" sz="1400" dirty="0"/>
          </a:p>
        </p:txBody>
      </p:sp>
      <p:graphicFrame>
        <p:nvGraphicFramePr>
          <p:cNvPr id="73" name="Chart 9" descr=""/>
          <p:cNvGraphicFramePr/>
          <p:nvPr/>
        </p:nvGraphicFramePr>
        <p:xfrm>
          <a:off x="5276088" y="5451653"/>
          <a:ext cx="2697480" cy="345643"/>
        </p:xfrm>
        <a:graphic>
          <a:graphicData uri="http://schemas.openxmlformats.org/drawingml/2006/chart">
            <c:chart xmlns:c="http://schemas.openxmlformats.org/drawingml/2006/chart" r:id="rId11"/>
          </a:graphicData>
        </a:graphic>
      </p:graphicFrame>
      <p:sp>
        <p:nvSpPr>
          <p:cNvPr id="74" name="Text 62"/>
          <p:cNvSpPr txBox="1"/>
          <p:nvPr/>
        </p:nvSpPr>
        <p:spPr>
          <a:xfrm>
            <a:off x="8183880" y="5433365"/>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April</a:t>
            </a:r>
            <a:endParaRPr lang="en-US" sz="1400" dirty="0"/>
          </a:p>
        </p:txBody>
      </p:sp>
      <p:sp>
        <p:nvSpPr>
          <p:cNvPr id="75" name="Text 63"/>
          <p:cNvSpPr txBox="1"/>
          <p:nvPr/>
        </p:nvSpPr>
        <p:spPr>
          <a:xfrm>
            <a:off x="10195560" y="5433365"/>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+0.8 pts</a:t>
            </a:r>
            <a:endParaRPr lang="en-US" sz="1600" dirty="0"/>
          </a:p>
        </p:txBody>
      </p:sp>
      <p:sp>
        <p:nvSpPr>
          <p:cNvPr id="76" name="Shape 64"/>
          <p:cNvSpPr/>
          <p:nvPr/>
        </p:nvSpPr>
        <p:spPr>
          <a:xfrm>
            <a:off x="457200" y="5961888"/>
            <a:ext cx="11274552" cy="548640"/>
          </a:xfrm>
          <a:prstGeom prst="rect">
            <a:avLst/>
          </a:prstGeom>
          <a:solidFill>
            <a:srgbClr val="E6F6EE"/>
          </a:solidFill>
          <a:ln/>
        </p:spPr>
      </p:sp>
      <p:sp>
        <p:nvSpPr>
          <p:cNvPr id="77" name="Text 65"/>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MAZDA went 2.5% to 10.7%, stepping up in August. Ask what changed that month.</a:t>
            </a:r>
            <a:endParaRPr lang="en-US" sz="1600" dirty="0"/>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Alignment Missed Opportunity</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3529584" y="1316736"/>
            <a:ext cx="896112"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Gross/yr</a:t>
            </a:r>
            <a:endParaRPr lang="en-US" sz="1400" dirty="0"/>
          </a:p>
        </p:txBody>
      </p:sp>
      <p:sp>
        <p:nvSpPr>
          <p:cNvPr id="7" name="Text 5"/>
          <p:cNvSpPr txBox="1"/>
          <p:nvPr/>
        </p:nvSpPr>
        <p:spPr>
          <a:xfrm>
            <a:off x="4425696" y="1316736"/>
            <a:ext cx="56692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Rate</a:t>
            </a:r>
            <a:endParaRPr lang="en-US" sz="1400" dirty="0"/>
          </a:p>
        </p:txBody>
      </p:sp>
      <p:sp>
        <p:nvSpPr>
          <p:cNvPr id="8" name="Text 6"/>
          <p:cNvSpPr txBox="1"/>
          <p:nvPr/>
        </p:nvSpPr>
        <p:spPr>
          <a:xfrm>
            <a:off x="4992624" y="1316736"/>
            <a:ext cx="877824"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Services</a:t>
            </a:r>
            <a:endParaRPr lang="en-US" sz="1400" dirty="0"/>
          </a:p>
        </p:txBody>
      </p:sp>
      <p:sp>
        <p:nvSpPr>
          <p:cNvPr id="9" name="Text 7"/>
          <p:cNvSpPr txBox="1"/>
          <p:nvPr/>
        </p:nvSpPr>
        <p:spPr>
          <a:xfrm>
            <a:off x="9079992" y="1316736"/>
            <a:ext cx="896112"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Gross/yr</a:t>
            </a:r>
            <a:endParaRPr lang="en-US" sz="1400" dirty="0"/>
          </a:p>
        </p:txBody>
      </p:sp>
      <p:sp>
        <p:nvSpPr>
          <p:cNvPr id="10" name="Text 8"/>
          <p:cNvSpPr txBox="1"/>
          <p:nvPr/>
        </p:nvSpPr>
        <p:spPr>
          <a:xfrm>
            <a:off x="9976104" y="1316736"/>
            <a:ext cx="56692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Rate</a:t>
            </a:r>
            <a:endParaRPr lang="en-US" sz="1400" dirty="0"/>
          </a:p>
        </p:txBody>
      </p:sp>
      <p:sp>
        <p:nvSpPr>
          <p:cNvPr id="11" name="Text 9"/>
          <p:cNvSpPr txBox="1"/>
          <p:nvPr/>
        </p:nvSpPr>
        <p:spPr>
          <a:xfrm>
            <a:off x="10543032" y="1316736"/>
            <a:ext cx="877824"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Services</a:t>
            </a:r>
            <a:endParaRPr lang="en-US" sz="1400" dirty="0"/>
          </a:p>
        </p:txBody>
      </p:sp>
      <p:sp>
        <p:nvSpPr>
          <p:cNvPr id="12" name="Text 10"/>
          <p:cNvSpPr txBox="1"/>
          <p:nvPr/>
        </p:nvSpPr>
        <p:spPr>
          <a:xfrm>
            <a:off x="658368" y="1700784"/>
            <a:ext cx="1938528" cy="30948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13" name="Shape 11"/>
          <p:cNvSpPr/>
          <p:nvPr/>
        </p:nvSpPr>
        <p:spPr>
          <a:xfrm>
            <a:off x="2670048" y="1770419"/>
            <a:ext cx="804672" cy="170219"/>
          </a:xfrm>
          <a:prstGeom prst="rect">
            <a:avLst/>
          </a:prstGeom>
          <a:solidFill>
            <a:srgbClr val="C2352F"/>
          </a:solidFill>
          <a:ln/>
        </p:spPr>
      </p:sp>
      <p:sp>
        <p:nvSpPr>
          <p:cNvPr id="14" name="Text 12"/>
          <p:cNvSpPr txBox="1"/>
          <p:nvPr/>
        </p:nvSpPr>
        <p:spPr>
          <a:xfrm>
            <a:off x="3529584" y="1700784"/>
            <a:ext cx="896112" cy="30948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$225,288</a:t>
            </a:r>
            <a:endParaRPr lang="en-US" sz="1300" dirty="0"/>
          </a:p>
        </p:txBody>
      </p:sp>
      <p:sp>
        <p:nvSpPr>
          <p:cNvPr id="15" name="Text 13"/>
          <p:cNvSpPr txBox="1"/>
          <p:nvPr/>
        </p:nvSpPr>
        <p:spPr>
          <a:xfrm>
            <a:off x="4425696" y="1700784"/>
            <a:ext cx="566928"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4.2%</a:t>
            </a:r>
            <a:endParaRPr lang="en-US" sz="1300" dirty="0"/>
          </a:p>
        </p:txBody>
      </p:sp>
      <p:sp>
        <p:nvSpPr>
          <p:cNvPr id="16" name="Text 14"/>
          <p:cNvSpPr txBox="1"/>
          <p:nvPr/>
        </p:nvSpPr>
        <p:spPr>
          <a:xfrm>
            <a:off x="4992624" y="1700784"/>
            <a:ext cx="877824"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2,490</a:t>
            </a:r>
            <a:endParaRPr lang="en-US" sz="1300" dirty="0"/>
          </a:p>
        </p:txBody>
      </p:sp>
      <p:sp>
        <p:nvSpPr>
          <p:cNvPr id="17" name="Text 15"/>
          <p:cNvSpPr txBox="1"/>
          <p:nvPr/>
        </p:nvSpPr>
        <p:spPr>
          <a:xfrm>
            <a:off x="658368" y="2010273"/>
            <a:ext cx="1938528" cy="30948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18" name="Shape 16"/>
          <p:cNvSpPr/>
          <p:nvPr/>
        </p:nvSpPr>
        <p:spPr>
          <a:xfrm>
            <a:off x="2670048" y="2079908"/>
            <a:ext cx="321286" cy="170219"/>
          </a:xfrm>
          <a:prstGeom prst="rect">
            <a:avLst/>
          </a:prstGeom>
          <a:solidFill>
            <a:srgbClr val="C2352F"/>
          </a:solidFill>
          <a:ln/>
        </p:spPr>
      </p:sp>
      <p:sp>
        <p:nvSpPr>
          <p:cNvPr id="19" name="Text 17"/>
          <p:cNvSpPr txBox="1"/>
          <p:nvPr/>
        </p:nvSpPr>
        <p:spPr>
          <a:xfrm>
            <a:off x="3529584" y="2010273"/>
            <a:ext cx="896112" cy="30948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$89,952</a:t>
            </a:r>
            <a:endParaRPr lang="en-US" sz="1300" dirty="0"/>
          </a:p>
        </p:txBody>
      </p:sp>
      <p:sp>
        <p:nvSpPr>
          <p:cNvPr id="20" name="Text 18"/>
          <p:cNvSpPr txBox="1"/>
          <p:nvPr/>
        </p:nvSpPr>
        <p:spPr>
          <a:xfrm>
            <a:off x="4425696" y="2010273"/>
            <a:ext cx="566928"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9.7%</a:t>
            </a:r>
            <a:endParaRPr lang="en-US" sz="1300" dirty="0"/>
          </a:p>
        </p:txBody>
      </p:sp>
      <p:sp>
        <p:nvSpPr>
          <p:cNvPr id="21" name="Text 19"/>
          <p:cNvSpPr txBox="1"/>
          <p:nvPr/>
        </p:nvSpPr>
        <p:spPr>
          <a:xfrm>
            <a:off x="4992624" y="2010273"/>
            <a:ext cx="877824"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1,066</a:t>
            </a:r>
            <a:endParaRPr lang="en-US" sz="1300" dirty="0"/>
          </a:p>
        </p:txBody>
      </p:sp>
      <p:sp>
        <p:nvSpPr>
          <p:cNvPr id="22" name="Text 20"/>
          <p:cNvSpPr txBox="1"/>
          <p:nvPr/>
        </p:nvSpPr>
        <p:spPr>
          <a:xfrm>
            <a:off x="658368" y="2319762"/>
            <a:ext cx="1938528" cy="30948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23" name="Shape 21"/>
          <p:cNvSpPr/>
          <p:nvPr/>
        </p:nvSpPr>
        <p:spPr>
          <a:xfrm>
            <a:off x="2670048" y="2389398"/>
            <a:ext cx="296891" cy="170219"/>
          </a:xfrm>
          <a:prstGeom prst="rect">
            <a:avLst/>
          </a:prstGeom>
          <a:solidFill>
            <a:srgbClr val="C2352F"/>
          </a:solidFill>
          <a:ln/>
        </p:spPr>
      </p:sp>
      <p:sp>
        <p:nvSpPr>
          <p:cNvPr id="24" name="Text 22"/>
          <p:cNvSpPr txBox="1"/>
          <p:nvPr/>
        </p:nvSpPr>
        <p:spPr>
          <a:xfrm>
            <a:off x="3529584" y="2319762"/>
            <a:ext cx="896112" cy="30948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$83,122</a:t>
            </a:r>
            <a:endParaRPr lang="en-US" sz="1300" dirty="0"/>
          </a:p>
        </p:txBody>
      </p:sp>
      <p:sp>
        <p:nvSpPr>
          <p:cNvPr id="25" name="Text 23"/>
          <p:cNvSpPr txBox="1"/>
          <p:nvPr/>
        </p:nvSpPr>
        <p:spPr>
          <a:xfrm>
            <a:off x="4425696" y="2319762"/>
            <a:ext cx="566928"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7.4%</a:t>
            </a:r>
            <a:endParaRPr lang="en-US" sz="1300" dirty="0"/>
          </a:p>
        </p:txBody>
      </p:sp>
      <p:sp>
        <p:nvSpPr>
          <p:cNvPr id="26" name="Text 24"/>
          <p:cNvSpPr txBox="1"/>
          <p:nvPr/>
        </p:nvSpPr>
        <p:spPr>
          <a:xfrm>
            <a:off x="4992624" y="2319762"/>
            <a:ext cx="877824"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700</a:t>
            </a:r>
            <a:endParaRPr lang="en-US" sz="1300" dirty="0"/>
          </a:p>
        </p:txBody>
      </p:sp>
      <p:sp>
        <p:nvSpPr>
          <p:cNvPr id="27" name="Text 25"/>
          <p:cNvSpPr txBox="1"/>
          <p:nvPr/>
        </p:nvSpPr>
        <p:spPr>
          <a:xfrm>
            <a:off x="658368" y="2629252"/>
            <a:ext cx="1938528" cy="30948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28" name="Shape 26"/>
          <p:cNvSpPr/>
          <p:nvPr/>
        </p:nvSpPr>
        <p:spPr>
          <a:xfrm>
            <a:off x="2670048" y="2698887"/>
            <a:ext cx="274266" cy="170219"/>
          </a:xfrm>
          <a:prstGeom prst="rect">
            <a:avLst/>
          </a:prstGeom>
          <a:solidFill>
            <a:srgbClr val="C2352F"/>
          </a:solidFill>
          <a:ln/>
        </p:spPr>
      </p:sp>
      <p:sp>
        <p:nvSpPr>
          <p:cNvPr id="29" name="Text 27"/>
          <p:cNvSpPr txBox="1"/>
          <p:nvPr/>
        </p:nvSpPr>
        <p:spPr>
          <a:xfrm>
            <a:off x="3529584" y="2629252"/>
            <a:ext cx="896112" cy="30948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$76,788</a:t>
            </a:r>
            <a:endParaRPr lang="en-US" sz="1300" dirty="0"/>
          </a:p>
        </p:txBody>
      </p:sp>
      <p:sp>
        <p:nvSpPr>
          <p:cNvPr id="30" name="Text 28"/>
          <p:cNvSpPr txBox="1"/>
          <p:nvPr/>
        </p:nvSpPr>
        <p:spPr>
          <a:xfrm>
            <a:off x="4425696" y="2629252"/>
            <a:ext cx="566928"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9.7%</a:t>
            </a:r>
            <a:endParaRPr lang="en-US" sz="1300" dirty="0"/>
          </a:p>
        </p:txBody>
      </p:sp>
      <p:sp>
        <p:nvSpPr>
          <p:cNvPr id="31" name="Text 29"/>
          <p:cNvSpPr txBox="1"/>
          <p:nvPr/>
        </p:nvSpPr>
        <p:spPr>
          <a:xfrm>
            <a:off x="4992624" y="2629252"/>
            <a:ext cx="877824"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568</a:t>
            </a:r>
            <a:endParaRPr lang="en-US" sz="1300" dirty="0"/>
          </a:p>
        </p:txBody>
      </p:sp>
      <p:sp>
        <p:nvSpPr>
          <p:cNvPr id="32" name="Text 30"/>
          <p:cNvSpPr txBox="1"/>
          <p:nvPr/>
        </p:nvSpPr>
        <p:spPr>
          <a:xfrm>
            <a:off x="658368" y="2938741"/>
            <a:ext cx="1938528" cy="30948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33" name="Shape 31"/>
          <p:cNvSpPr/>
          <p:nvPr/>
        </p:nvSpPr>
        <p:spPr>
          <a:xfrm>
            <a:off x="2670048" y="3008376"/>
            <a:ext cx="269526" cy="170219"/>
          </a:xfrm>
          <a:prstGeom prst="rect">
            <a:avLst/>
          </a:prstGeom>
          <a:solidFill>
            <a:srgbClr val="C2352F"/>
          </a:solidFill>
          <a:ln/>
        </p:spPr>
      </p:sp>
      <p:sp>
        <p:nvSpPr>
          <p:cNvPr id="34" name="Text 32"/>
          <p:cNvSpPr txBox="1"/>
          <p:nvPr/>
        </p:nvSpPr>
        <p:spPr>
          <a:xfrm>
            <a:off x="3529584" y="2938741"/>
            <a:ext cx="896112" cy="30948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$75,460</a:t>
            </a:r>
            <a:endParaRPr lang="en-US" sz="1300" dirty="0"/>
          </a:p>
        </p:txBody>
      </p:sp>
      <p:sp>
        <p:nvSpPr>
          <p:cNvPr id="35" name="Text 33"/>
          <p:cNvSpPr txBox="1"/>
          <p:nvPr/>
        </p:nvSpPr>
        <p:spPr>
          <a:xfrm>
            <a:off x="4425696" y="2938741"/>
            <a:ext cx="566928"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12.8%</a:t>
            </a:r>
            <a:endParaRPr lang="en-US" sz="1300" dirty="0"/>
          </a:p>
        </p:txBody>
      </p:sp>
      <p:sp>
        <p:nvSpPr>
          <p:cNvPr id="36" name="Text 34"/>
          <p:cNvSpPr txBox="1"/>
          <p:nvPr/>
        </p:nvSpPr>
        <p:spPr>
          <a:xfrm>
            <a:off x="4992624" y="2938741"/>
            <a:ext cx="877824"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556</a:t>
            </a:r>
            <a:endParaRPr lang="en-US" sz="1300" dirty="0"/>
          </a:p>
        </p:txBody>
      </p:sp>
      <p:sp>
        <p:nvSpPr>
          <p:cNvPr id="37" name="Text 35"/>
          <p:cNvSpPr txBox="1"/>
          <p:nvPr/>
        </p:nvSpPr>
        <p:spPr>
          <a:xfrm>
            <a:off x="658368" y="3248230"/>
            <a:ext cx="1938528" cy="30948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38" name="Shape 36"/>
          <p:cNvSpPr/>
          <p:nvPr/>
        </p:nvSpPr>
        <p:spPr>
          <a:xfrm>
            <a:off x="2670048" y="3317865"/>
            <a:ext cx="204151" cy="170219"/>
          </a:xfrm>
          <a:prstGeom prst="rect">
            <a:avLst/>
          </a:prstGeom>
          <a:solidFill>
            <a:srgbClr val="C2352F"/>
          </a:solidFill>
          <a:ln/>
        </p:spPr>
      </p:sp>
      <p:sp>
        <p:nvSpPr>
          <p:cNvPr id="39" name="Text 37"/>
          <p:cNvSpPr txBox="1"/>
          <p:nvPr/>
        </p:nvSpPr>
        <p:spPr>
          <a:xfrm>
            <a:off x="3529584" y="3248230"/>
            <a:ext cx="896112" cy="30948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$57,157</a:t>
            </a:r>
            <a:endParaRPr lang="en-US" sz="1300" dirty="0"/>
          </a:p>
        </p:txBody>
      </p:sp>
      <p:sp>
        <p:nvSpPr>
          <p:cNvPr id="40" name="Text 38"/>
          <p:cNvSpPr txBox="1"/>
          <p:nvPr/>
        </p:nvSpPr>
        <p:spPr>
          <a:xfrm>
            <a:off x="4425696" y="3248230"/>
            <a:ext cx="566928"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4.2%</a:t>
            </a:r>
            <a:endParaRPr lang="en-US" sz="1300" dirty="0"/>
          </a:p>
        </p:txBody>
      </p:sp>
      <p:sp>
        <p:nvSpPr>
          <p:cNvPr id="41" name="Text 39"/>
          <p:cNvSpPr txBox="1"/>
          <p:nvPr/>
        </p:nvSpPr>
        <p:spPr>
          <a:xfrm>
            <a:off x="4992624" y="3248230"/>
            <a:ext cx="877824"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770</a:t>
            </a:r>
            <a:endParaRPr lang="en-US" sz="1300" dirty="0"/>
          </a:p>
        </p:txBody>
      </p:sp>
      <p:sp>
        <p:nvSpPr>
          <p:cNvPr id="42" name="Text 40"/>
          <p:cNvSpPr txBox="1"/>
          <p:nvPr/>
        </p:nvSpPr>
        <p:spPr>
          <a:xfrm>
            <a:off x="658368" y="3557719"/>
            <a:ext cx="1938528" cy="30948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43" name="Shape 41"/>
          <p:cNvSpPr/>
          <p:nvPr/>
        </p:nvSpPr>
        <p:spPr>
          <a:xfrm>
            <a:off x="2670048" y="3627354"/>
            <a:ext cx="176388" cy="170219"/>
          </a:xfrm>
          <a:prstGeom prst="rect">
            <a:avLst/>
          </a:prstGeom>
          <a:solidFill>
            <a:srgbClr val="C2352F"/>
          </a:solidFill>
          <a:ln/>
        </p:spPr>
      </p:sp>
      <p:sp>
        <p:nvSpPr>
          <p:cNvPr id="44" name="Text 42"/>
          <p:cNvSpPr txBox="1"/>
          <p:nvPr/>
        </p:nvSpPr>
        <p:spPr>
          <a:xfrm>
            <a:off x="3529584" y="3557719"/>
            <a:ext cx="896112" cy="30948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$49,384</a:t>
            </a:r>
            <a:endParaRPr lang="en-US" sz="1300" dirty="0"/>
          </a:p>
        </p:txBody>
      </p:sp>
      <p:sp>
        <p:nvSpPr>
          <p:cNvPr id="45" name="Text 43"/>
          <p:cNvSpPr txBox="1"/>
          <p:nvPr/>
        </p:nvSpPr>
        <p:spPr>
          <a:xfrm>
            <a:off x="4425696" y="3557719"/>
            <a:ext cx="566928"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12.3%</a:t>
            </a:r>
            <a:endParaRPr lang="en-US" sz="1300" dirty="0"/>
          </a:p>
        </p:txBody>
      </p:sp>
      <p:sp>
        <p:nvSpPr>
          <p:cNvPr id="46" name="Text 44"/>
          <p:cNvSpPr txBox="1"/>
          <p:nvPr/>
        </p:nvSpPr>
        <p:spPr>
          <a:xfrm>
            <a:off x="4992624" y="3557719"/>
            <a:ext cx="877824"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478</a:t>
            </a:r>
            <a:endParaRPr lang="en-US" sz="1300" dirty="0"/>
          </a:p>
        </p:txBody>
      </p:sp>
      <p:sp>
        <p:nvSpPr>
          <p:cNvPr id="47" name="Text 45"/>
          <p:cNvSpPr txBox="1"/>
          <p:nvPr/>
        </p:nvSpPr>
        <p:spPr>
          <a:xfrm>
            <a:off x="658368" y="3867209"/>
            <a:ext cx="1938528" cy="30948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48" name="Shape 46"/>
          <p:cNvSpPr/>
          <p:nvPr/>
        </p:nvSpPr>
        <p:spPr>
          <a:xfrm>
            <a:off x="2670048" y="3936844"/>
            <a:ext cx="136485" cy="170219"/>
          </a:xfrm>
          <a:prstGeom prst="rect">
            <a:avLst/>
          </a:prstGeom>
          <a:solidFill>
            <a:srgbClr val="C2352F"/>
          </a:solidFill>
          <a:ln/>
        </p:spPr>
      </p:sp>
      <p:sp>
        <p:nvSpPr>
          <p:cNvPr id="49" name="Text 47"/>
          <p:cNvSpPr txBox="1"/>
          <p:nvPr/>
        </p:nvSpPr>
        <p:spPr>
          <a:xfrm>
            <a:off x="3529584" y="3867209"/>
            <a:ext cx="896112" cy="30948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$38,212</a:t>
            </a:r>
            <a:endParaRPr lang="en-US" sz="1300" dirty="0"/>
          </a:p>
        </p:txBody>
      </p:sp>
      <p:sp>
        <p:nvSpPr>
          <p:cNvPr id="50" name="Text 48"/>
          <p:cNvSpPr txBox="1"/>
          <p:nvPr/>
        </p:nvSpPr>
        <p:spPr>
          <a:xfrm>
            <a:off x="4425696" y="3867209"/>
            <a:ext cx="566928"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8.0%</a:t>
            </a:r>
            <a:endParaRPr lang="en-US" sz="1300" dirty="0"/>
          </a:p>
        </p:txBody>
      </p:sp>
      <p:sp>
        <p:nvSpPr>
          <p:cNvPr id="51" name="Text 49"/>
          <p:cNvSpPr txBox="1"/>
          <p:nvPr/>
        </p:nvSpPr>
        <p:spPr>
          <a:xfrm>
            <a:off x="4992624" y="3867209"/>
            <a:ext cx="877824"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365</a:t>
            </a:r>
            <a:endParaRPr lang="en-US" sz="1300" dirty="0"/>
          </a:p>
        </p:txBody>
      </p:sp>
      <p:sp>
        <p:nvSpPr>
          <p:cNvPr id="52" name="Text 50"/>
          <p:cNvSpPr txBox="1"/>
          <p:nvPr/>
        </p:nvSpPr>
        <p:spPr>
          <a:xfrm>
            <a:off x="658368" y="4176698"/>
            <a:ext cx="1938528" cy="30948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53" name="Shape 51"/>
          <p:cNvSpPr/>
          <p:nvPr/>
        </p:nvSpPr>
        <p:spPr>
          <a:xfrm>
            <a:off x="2670048" y="4246333"/>
            <a:ext cx="129744" cy="170219"/>
          </a:xfrm>
          <a:prstGeom prst="rect">
            <a:avLst/>
          </a:prstGeom>
          <a:solidFill>
            <a:srgbClr val="C2352F"/>
          </a:solidFill>
          <a:ln/>
        </p:spPr>
      </p:sp>
      <p:sp>
        <p:nvSpPr>
          <p:cNvPr id="54" name="Text 52"/>
          <p:cNvSpPr txBox="1"/>
          <p:nvPr/>
        </p:nvSpPr>
        <p:spPr>
          <a:xfrm>
            <a:off x="3529584" y="4176698"/>
            <a:ext cx="896112" cy="30948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$36,325</a:t>
            </a:r>
            <a:endParaRPr lang="en-US" sz="1300" dirty="0"/>
          </a:p>
        </p:txBody>
      </p:sp>
      <p:sp>
        <p:nvSpPr>
          <p:cNvPr id="55" name="Text 53"/>
          <p:cNvSpPr txBox="1"/>
          <p:nvPr/>
        </p:nvSpPr>
        <p:spPr>
          <a:xfrm>
            <a:off x="4425696" y="4176698"/>
            <a:ext cx="566928"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12.5%</a:t>
            </a:r>
            <a:endParaRPr lang="en-US" sz="1300" dirty="0"/>
          </a:p>
        </p:txBody>
      </p:sp>
      <p:sp>
        <p:nvSpPr>
          <p:cNvPr id="56" name="Text 54"/>
          <p:cNvSpPr txBox="1"/>
          <p:nvPr/>
        </p:nvSpPr>
        <p:spPr>
          <a:xfrm>
            <a:off x="4992624" y="4176698"/>
            <a:ext cx="877824"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294</a:t>
            </a:r>
            <a:endParaRPr lang="en-US" sz="1300" dirty="0"/>
          </a:p>
        </p:txBody>
      </p:sp>
      <p:sp>
        <p:nvSpPr>
          <p:cNvPr id="57" name="Text 55"/>
          <p:cNvSpPr txBox="1"/>
          <p:nvPr/>
        </p:nvSpPr>
        <p:spPr>
          <a:xfrm>
            <a:off x="658368" y="4486187"/>
            <a:ext cx="1938528" cy="30948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58" name="Shape 56"/>
          <p:cNvSpPr/>
          <p:nvPr/>
        </p:nvSpPr>
        <p:spPr>
          <a:xfrm>
            <a:off x="2670048" y="4555822"/>
            <a:ext cx="122649" cy="170219"/>
          </a:xfrm>
          <a:prstGeom prst="rect">
            <a:avLst/>
          </a:prstGeom>
          <a:solidFill>
            <a:srgbClr val="C2352F"/>
          </a:solidFill>
          <a:ln/>
        </p:spPr>
      </p:sp>
      <p:sp>
        <p:nvSpPr>
          <p:cNvPr id="59" name="Text 57"/>
          <p:cNvSpPr txBox="1"/>
          <p:nvPr/>
        </p:nvSpPr>
        <p:spPr>
          <a:xfrm>
            <a:off x="3529584" y="4486187"/>
            <a:ext cx="896112" cy="30948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$34,339</a:t>
            </a:r>
            <a:endParaRPr lang="en-US" sz="1300" dirty="0"/>
          </a:p>
        </p:txBody>
      </p:sp>
      <p:sp>
        <p:nvSpPr>
          <p:cNvPr id="60" name="Text 58"/>
          <p:cNvSpPr txBox="1"/>
          <p:nvPr/>
        </p:nvSpPr>
        <p:spPr>
          <a:xfrm>
            <a:off x="4425696" y="4486187"/>
            <a:ext cx="566928"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11.8%</a:t>
            </a:r>
            <a:endParaRPr lang="en-US" sz="1300" dirty="0"/>
          </a:p>
        </p:txBody>
      </p:sp>
      <p:sp>
        <p:nvSpPr>
          <p:cNvPr id="61" name="Text 59"/>
          <p:cNvSpPr txBox="1"/>
          <p:nvPr/>
        </p:nvSpPr>
        <p:spPr>
          <a:xfrm>
            <a:off x="4992624" y="4486187"/>
            <a:ext cx="877824"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149</a:t>
            </a:r>
            <a:endParaRPr lang="en-US" sz="1300" dirty="0"/>
          </a:p>
        </p:txBody>
      </p:sp>
      <p:sp>
        <p:nvSpPr>
          <p:cNvPr id="62" name="Text 60"/>
          <p:cNvSpPr txBox="1"/>
          <p:nvPr/>
        </p:nvSpPr>
        <p:spPr>
          <a:xfrm>
            <a:off x="658368" y="4795676"/>
            <a:ext cx="1938528" cy="30948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63" name="Shape 61"/>
          <p:cNvSpPr/>
          <p:nvPr/>
        </p:nvSpPr>
        <p:spPr>
          <a:xfrm>
            <a:off x="2670048" y="4865311"/>
            <a:ext cx="118396" cy="170219"/>
          </a:xfrm>
          <a:prstGeom prst="rect">
            <a:avLst/>
          </a:prstGeom>
          <a:solidFill>
            <a:srgbClr val="C2352F"/>
          </a:solidFill>
          <a:ln/>
        </p:spPr>
      </p:sp>
      <p:sp>
        <p:nvSpPr>
          <p:cNvPr id="64" name="Text 62"/>
          <p:cNvSpPr txBox="1"/>
          <p:nvPr/>
        </p:nvSpPr>
        <p:spPr>
          <a:xfrm>
            <a:off x="3529584" y="4795676"/>
            <a:ext cx="896112" cy="30948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$33,148</a:t>
            </a:r>
            <a:endParaRPr lang="en-US" sz="1300" dirty="0"/>
          </a:p>
        </p:txBody>
      </p:sp>
      <p:sp>
        <p:nvSpPr>
          <p:cNvPr id="65" name="Text 63"/>
          <p:cNvSpPr txBox="1"/>
          <p:nvPr/>
        </p:nvSpPr>
        <p:spPr>
          <a:xfrm>
            <a:off x="4425696" y="4795676"/>
            <a:ext cx="566928"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14.5%</a:t>
            </a:r>
            <a:endParaRPr lang="en-US" sz="1300" dirty="0"/>
          </a:p>
        </p:txBody>
      </p:sp>
      <p:sp>
        <p:nvSpPr>
          <p:cNvPr id="66" name="Text 64"/>
          <p:cNvSpPr txBox="1"/>
          <p:nvPr/>
        </p:nvSpPr>
        <p:spPr>
          <a:xfrm>
            <a:off x="4992624" y="4795676"/>
            <a:ext cx="877824"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326</a:t>
            </a:r>
            <a:endParaRPr lang="en-US" sz="1300" dirty="0"/>
          </a:p>
        </p:txBody>
      </p:sp>
      <p:sp>
        <p:nvSpPr>
          <p:cNvPr id="67" name="Text 65"/>
          <p:cNvSpPr txBox="1"/>
          <p:nvPr/>
        </p:nvSpPr>
        <p:spPr>
          <a:xfrm>
            <a:off x="658368" y="5105166"/>
            <a:ext cx="1938528" cy="30948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68" name="Shape 66"/>
          <p:cNvSpPr/>
          <p:nvPr/>
        </p:nvSpPr>
        <p:spPr>
          <a:xfrm>
            <a:off x="2670048" y="5174801"/>
            <a:ext cx="116594" cy="170219"/>
          </a:xfrm>
          <a:prstGeom prst="rect">
            <a:avLst/>
          </a:prstGeom>
          <a:solidFill>
            <a:srgbClr val="C2352F"/>
          </a:solidFill>
          <a:ln/>
        </p:spPr>
      </p:sp>
      <p:sp>
        <p:nvSpPr>
          <p:cNvPr id="69" name="Text 67"/>
          <p:cNvSpPr txBox="1"/>
          <p:nvPr/>
        </p:nvSpPr>
        <p:spPr>
          <a:xfrm>
            <a:off x="3529584" y="5105166"/>
            <a:ext cx="896112" cy="30948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$32,644</a:t>
            </a:r>
            <a:endParaRPr lang="en-US" sz="1300" dirty="0"/>
          </a:p>
        </p:txBody>
      </p:sp>
      <p:sp>
        <p:nvSpPr>
          <p:cNvPr id="70" name="Text 68"/>
          <p:cNvSpPr txBox="1"/>
          <p:nvPr/>
        </p:nvSpPr>
        <p:spPr>
          <a:xfrm>
            <a:off x="4425696" y="5105166"/>
            <a:ext cx="566928"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11.3%</a:t>
            </a:r>
            <a:endParaRPr lang="en-US" sz="1300" dirty="0"/>
          </a:p>
        </p:txBody>
      </p:sp>
      <p:sp>
        <p:nvSpPr>
          <p:cNvPr id="71" name="Text 69"/>
          <p:cNvSpPr txBox="1"/>
          <p:nvPr/>
        </p:nvSpPr>
        <p:spPr>
          <a:xfrm>
            <a:off x="4992624" y="5105166"/>
            <a:ext cx="877824"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221</a:t>
            </a:r>
            <a:endParaRPr lang="en-US" sz="1300" dirty="0"/>
          </a:p>
        </p:txBody>
      </p:sp>
      <p:sp>
        <p:nvSpPr>
          <p:cNvPr id="72" name="Text 70"/>
          <p:cNvSpPr txBox="1"/>
          <p:nvPr/>
        </p:nvSpPr>
        <p:spPr>
          <a:xfrm>
            <a:off x="658368" y="5414655"/>
            <a:ext cx="1938528" cy="30948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73" name="Shape 71"/>
          <p:cNvSpPr/>
          <p:nvPr/>
        </p:nvSpPr>
        <p:spPr>
          <a:xfrm>
            <a:off x="2670048" y="5484290"/>
            <a:ext cx="93943" cy="170219"/>
          </a:xfrm>
          <a:prstGeom prst="rect">
            <a:avLst/>
          </a:prstGeom>
          <a:solidFill>
            <a:srgbClr val="C2352F"/>
          </a:solidFill>
          <a:ln/>
        </p:spPr>
      </p:sp>
      <p:sp>
        <p:nvSpPr>
          <p:cNvPr id="74" name="Text 72"/>
          <p:cNvSpPr txBox="1"/>
          <p:nvPr/>
        </p:nvSpPr>
        <p:spPr>
          <a:xfrm>
            <a:off x="3529584" y="5414655"/>
            <a:ext cx="896112" cy="30948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$26,302</a:t>
            </a:r>
            <a:endParaRPr lang="en-US" sz="1300" dirty="0"/>
          </a:p>
        </p:txBody>
      </p:sp>
      <p:sp>
        <p:nvSpPr>
          <p:cNvPr id="75" name="Text 73"/>
          <p:cNvSpPr txBox="1"/>
          <p:nvPr/>
        </p:nvSpPr>
        <p:spPr>
          <a:xfrm>
            <a:off x="4425696" y="5414655"/>
            <a:ext cx="566928"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8.4%</a:t>
            </a:r>
            <a:endParaRPr lang="en-US" sz="1300" dirty="0"/>
          </a:p>
        </p:txBody>
      </p:sp>
      <p:sp>
        <p:nvSpPr>
          <p:cNvPr id="76" name="Text 74"/>
          <p:cNvSpPr txBox="1"/>
          <p:nvPr/>
        </p:nvSpPr>
        <p:spPr>
          <a:xfrm>
            <a:off x="4992624" y="5414655"/>
            <a:ext cx="877824"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230</a:t>
            </a:r>
            <a:endParaRPr lang="en-US" sz="1300" dirty="0"/>
          </a:p>
        </p:txBody>
      </p:sp>
      <p:sp>
        <p:nvSpPr>
          <p:cNvPr id="77" name="Text 75"/>
          <p:cNvSpPr txBox="1"/>
          <p:nvPr/>
        </p:nvSpPr>
        <p:spPr>
          <a:xfrm>
            <a:off x="6208776" y="1700784"/>
            <a:ext cx="1938528" cy="30948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78" name="Shape 76"/>
          <p:cNvSpPr/>
          <p:nvPr/>
        </p:nvSpPr>
        <p:spPr>
          <a:xfrm>
            <a:off x="8220456" y="1770419"/>
            <a:ext cx="90559" cy="170219"/>
          </a:xfrm>
          <a:prstGeom prst="rect">
            <a:avLst/>
          </a:prstGeom>
          <a:solidFill>
            <a:srgbClr val="C2352F"/>
          </a:solidFill>
          <a:ln/>
        </p:spPr>
      </p:sp>
      <p:sp>
        <p:nvSpPr>
          <p:cNvPr id="79" name="Text 77"/>
          <p:cNvSpPr txBox="1"/>
          <p:nvPr/>
        </p:nvSpPr>
        <p:spPr>
          <a:xfrm>
            <a:off x="9079992" y="1700784"/>
            <a:ext cx="896112" cy="30948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$25,354</a:t>
            </a:r>
            <a:endParaRPr lang="en-US" sz="1300" dirty="0"/>
          </a:p>
        </p:txBody>
      </p:sp>
      <p:sp>
        <p:nvSpPr>
          <p:cNvPr id="80" name="Text 78"/>
          <p:cNvSpPr txBox="1"/>
          <p:nvPr/>
        </p:nvSpPr>
        <p:spPr>
          <a:xfrm>
            <a:off x="9976104" y="1700784"/>
            <a:ext cx="566928"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11.1%</a:t>
            </a:r>
            <a:endParaRPr lang="en-US" sz="1300" dirty="0"/>
          </a:p>
        </p:txBody>
      </p:sp>
      <p:sp>
        <p:nvSpPr>
          <p:cNvPr id="81" name="Text 79"/>
          <p:cNvSpPr txBox="1"/>
          <p:nvPr/>
        </p:nvSpPr>
        <p:spPr>
          <a:xfrm>
            <a:off x="10543032" y="1700784"/>
            <a:ext cx="877824"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324</a:t>
            </a:r>
            <a:endParaRPr lang="en-US" sz="1300" dirty="0"/>
          </a:p>
        </p:txBody>
      </p:sp>
      <p:sp>
        <p:nvSpPr>
          <p:cNvPr id="82" name="Text 80"/>
          <p:cNvSpPr txBox="1"/>
          <p:nvPr/>
        </p:nvSpPr>
        <p:spPr>
          <a:xfrm>
            <a:off x="6208776" y="2010273"/>
            <a:ext cx="1938528" cy="30948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83" name="Shape 81"/>
          <p:cNvSpPr/>
          <p:nvPr/>
        </p:nvSpPr>
        <p:spPr>
          <a:xfrm>
            <a:off x="8220456" y="2079908"/>
            <a:ext cx="83744" cy="170219"/>
          </a:xfrm>
          <a:prstGeom prst="rect">
            <a:avLst/>
          </a:prstGeom>
          <a:solidFill>
            <a:srgbClr val="C2352F"/>
          </a:solidFill>
          <a:ln/>
        </p:spPr>
      </p:sp>
      <p:sp>
        <p:nvSpPr>
          <p:cNvPr id="84" name="Text 82"/>
          <p:cNvSpPr txBox="1"/>
          <p:nvPr/>
        </p:nvSpPr>
        <p:spPr>
          <a:xfrm>
            <a:off x="9079992" y="2010273"/>
            <a:ext cx="896112" cy="30948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$23,446</a:t>
            </a:r>
            <a:endParaRPr lang="en-US" sz="1300" dirty="0"/>
          </a:p>
        </p:txBody>
      </p:sp>
      <p:sp>
        <p:nvSpPr>
          <p:cNvPr id="85" name="Text 83"/>
          <p:cNvSpPr txBox="1"/>
          <p:nvPr/>
        </p:nvSpPr>
        <p:spPr>
          <a:xfrm>
            <a:off x="9976104" y="2010273"/>
            <a:ext cx="566928"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13.6%</a:t>
            </a:r>
            <a:endParaRPr lang="en-US" sz="1300" dirty="0"/>
          </a:p>
        </p:txBody>
      </p:sp>
      <p:sp>
        <p:nvSpPr>
          <p:cNvPr id="86" name="Text 84"/>
          <p:cNvSpPr txBox="1"/>
          <p:nvPr/>
        </p:nvSpPr>
        <p:spPr>
          <a:xfrm>
            <a:off x="10543032" y="2010273"/>
            <a:ext cx="877824"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96</a:t>
            </a:r>
            <a:endParaRPr lang="en-US" sz="1300" dirty="0"/>
          </a:p>
        </p:txBody>
      </p:sp>
      <p:sp>
        <p:nvSpPr>
          <p:cNvPr id="87" name="Text 85"/>
          <p:cNvSpPr txBox="1"/>
          <p:nvPr/>
        </p:nvSpPr>
        <p:spPr>
          <a:xfrm>
            <a:off x="6208776" y="2319762"/>
            <a:ext cx="1938528" cy="30948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88" name="Shape 86"/>
          <p:cNvSpPr/>
          <p:nvPr/>
        </p:nvSpPr>
        <p:spPr>
          <a:xfrm>
            <a:off x="8220456" y="2389398"/>
            <a:ext cx="80843" cy="170219"/>
          </a:xfrm>
          <a:prstGeom prst="rect">
            <a:avLst/>
          </a:prstGeom>
          <a:solidFill>
            <a:srgbClr val="C2352F"/>
          </a:solidFill>
          <a:ln/>
        </p:spPr>
      </p:sp>
      <p:sp>
        <p:nvSpPr>
          <p:cNvPr id="89" name="Text 87"/>
          <p:cNvSpPr txBox="1"/>
          <p:nvPr/>
        </p:nvSpPr>
        <p:spPr>
          <a:xfrm>
            <a:off x="9079992" y="2319762"/>
            <a:ext cx="896112" cy="30948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$22,634</a:t>
            </a:r>
            <a:endParaRPr lang="en-US" sz="1300" dirty="0"/>
          </a:p>
        </p:txBody>
      </p:sp>
      <p:sp>
        <p:nvSpPr>
          <p:cNvPr id="90" name="Text 88"/>
          <p:cNvSpPr txBox="1"/>
          <p:nvPr/>
        </p:nvSpPr>
        <p:spPr>
          <a:xfrm>
            <a:off x="9976104" y="2319762"/>
            <a:ext cx="566928"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11.0%</a:t>
            </a:r>
            <a:endParaRPr lang="en-US" sz="1300" dirty="0"/>
          </a:p>
        </p:txBody>
      </p:sp>
      <p:sp>
        <p:nvSpPr>
          <p:cNvPr id="91" name="Text 89"/>
          <p:cNvSpPr txBox="1"/>
          <p:nvPr/>
        </p:nvSpPr>
        <p:spPr>
          <a:xfrm>
            <a:off x="10543032" y="2319762"/>
            <a:ext cx="877824"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291</a:t>
            </a:r>
            <a:endParaRPr lang="en-US" sz="1300" dirty="0"/>
          </a:p>
        </p:txBody>
      </p:sp>
      <p:sp>
        <p:nvSpPr>
          <p:cNvPr id="92" name="Text 90"/>
          <p:cNvSpPr txBox="1"/>
          <p:nvPr/>
        </p:nvSpPr>
        <p:spPr>
          <a:xfrm>
            <a:off x="6208776" y="2629252"/>
            <a:ext cx="1938528" cy="30948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93" name="Shape 91"/>
          <p:cNvSpPr/>
          <p:nvPr/>
        </p:nvSpPr>
        <p:spPr>
          <a:xfrm>
            <a:off x="8220456" y="2698887"/>
            <a:ext cx="74808" cy="170219"/>
          </a:xfrm>
          <a:prstGeom prst="rect">
            <a:avLst/>
          </a:prstGeom>
          <a:solidFill>
            <a:srgbClr val="C2352F"/>
          </a:solidFill>
          <a:ln/>
        </p:spPr>
      </p:sp>
      <p:sp>
        <p:nvSpPr>
          <p:cNvPr id="94" name="Text 92"/>
          <p:cNvSpPr txBox="1"/>
          <p:nvPr/>
        </p:nvSpPr>
        <p:spPr>
          <a:xfrm>
            <a:off x="9079992" y="2629252"/>
            <a:ext cx="896112" cy="30948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$20,944</a:t>
            </a:r>
            <a:endParaRPr lang="en-US" sz="1300" dirty="0"/>
          </a:p>
        </p:txBody>
      </p:sp>
      <p:sp>
        <p:nvSpPr>
          <p:cNvPr id="95" name="Text 93"/>
          <p:cNvSpPr txBox="1"/>
          <p:nvPr/>
        </p:nvSpPr>
        <p:spPr>
          <a:xfrm>
            <a:off x="9976104" y="2629252"/>
            <a:ext cx="566928"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11.0%</a:t>
            </a:r>
            <a:endParaRPr lang="en-US" sz="1300" dirty="0"/>
          </a:p>
        </p:txBody>
      </p:sp>
      <p:sp>
        <p:nvSpPr>
          <p:cNvPr id="96" name="Text 94"/>
          <p:cNvSpPr txBox="1"/>
          <p:nvPr/>
        </p:nvSpPr>
        <p:spPr>
          <a:xfrm>
            <a:off x="10543032" y="2629252"/>
            <a:ext cx="877824"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210</a:t>
            </a:r>
            <a:endParaRPr lang="en-US" sz="1300" dirty="0"/>
          </a:p>
        </p:txBody>
      </p:sp>
      <p:sp>
        <p:nvSpPr>
          <p:cNvPr id="97" name="Text 95"/>
          <p:cNvSpPr txBox="1"/>
          <p:nvPr/>
        </p:nvSpPr>
        <p:spPr>
          <a:xfrm>
            <a:off x="6208776" y="2938741"/>
            <a:ext cx="1938528" cy="30948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98" name="Shape 96"/>
          <p:cNvSpPr/>
          <p:nvPr/>
        </p:nvSpPr>
        <p:spPr>
          <a:xfrm>
            <a:off x="8220456" y="3008376"/>
            <a:ext cx="63460" cy="170219"/>
          </a:xfrm>
          <a:prstGeom prst="rect">
            <a:avLst/>
          </a:prstGeom>
          <a:solidFill>
            <a:srgbClr val="C2352F"/>
          </a:solidFill>
          <a:ln/>
        </p:spPr>
      </p:sp>
      <p:sp>
        <p:nvSpPr>
          <p:cNvPr id="99" name="Text 97"/>
          <p:cNvSpPr txBox="1"/>
          <p:nvPr/>
        </p:nvSpPr>
        <p:spPr>
          <a:xfrm>
            <a:off x="9079992" y="2938741"/>
            <a:ext cx="896112" cy="30948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$17,767</a:t>
            </a:r>
            <a:endParaRPr lang="en-US" sz="1300" dirty="0"/>
          </a:p>
        </p:txBody>
      </p:sp>
      <p:sp>
        <p:nvSpPr>
          <p:cNvPr id="100" name="Text 98"/>
          <p:cNvSpPr txBox="1"/>
          <p:nvPr/>
        </p:nvSpPr>
        <p:spPr>
          <a:xfrm>
            <a:off x="9976104" y="2938741"/>
            <a:ext cx="566928"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5.6%</a:t>
            </a:r>
            <a:endParaRPr lang="en-US" sz="1300" dirty="0"/>
          </a:p>
        </p:txBody>
      </p:sp>
      <p:sp>
        <p:nvSpPr>
          <p:cNvPr id="101" name="Text 99"/>
          <p:cNvSpPr txBox="1"/>
          <p:nvPr/>
        </p:nvSpPr>
        <p:spPr>
          <a:xfrm>
            <a:off x="10543032" y="2938741"/>
            <a:ext cx="877824"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240</a:t>
            </a:r>
            <a:endParaRPr lang="en-US" sz="1300" dirty="0"/>
          </a:p>
        </p:txBody>
      </p:sp>
      <p:sp>
        <p:nvSpPr>
          <p:cNvPr id="102" name="Text 100"/>
          <p:cNvSpPr txBox="1"/>
          <p:nvPr/>
        </p:nvSpPr>
        <p:spPr>
          <a:xfrm>
            <a:off x="6208776" y="3248230"/>
            <a:ext cx="1938528" cy="30948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103" name="Shape 101"/>
          <p:cNvSpPr/>
          <p:nvPr/>
        </p:nvSpPr>
        <p:spPr>
          <a:xfrm>
            <a:off x="8220456" y="3317865"/>
            <a:ext cx="43158" cy="170219"/>
          </a:xfrm>
          <a:prstGeom prst="rect">
            <a:avLst/>
          </a:prstGeom>
          <a:solidFill>
            <a:srgbClr val="C2352F"/>
          </a:solidFill>
          <a:ln/>
        </p:spPr>
      </p:sp>
      <p:sp>
        <p:nvSpPr>
          <p:cNvPr id="104" name="Text 102"/>
          <p:cNvSpPr txBox="1"/>
          <p:nvPr/>
        </p:nvSpPr>
        <p:spPr>
          <a:xfrm>
            <a:off x="9079992" y="3248230"/>
            <a:ext cx="896112" cy="30948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$12,083</a:t>
            </a:r>
            <a:endParaRPr lang="en-US" sz="1300" dirty="0"/>
          </a:p>
        </p:txBody>
      </p:sp>
      <p:sp>
        <p:nvSpPr>
          <p:cNvPr id="105" name="Text 103"/>
          <p:cNvSpPr txBox="1"/>
          <p:nvPr/>
        </p:nvSpPr>
        <p:spPr>
          <a:xfrm>
            <a:off x="9976104" y="3248230"/>
            <a:ext cx="566928"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12.5%</a:t>
            </a:r>
            <a:endParaRPr lang="en-US" sz="1300" dirty="0"/>
          </a:p>
        </p:txBody>
      </p:sp>
      <p:sp>
        <p:nvSpPr>
          <p:cNvPr id="106" name="Text 104"/>
          <p:cNvSpPr txBox="1"/>
          <p:nvPr/>
        </p:nvSpPr>
        <p:spPr>
          <a:xfrm>
            <a:off x="10543032" y="3248230"/>
            <a:ext cx="877824"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165</a:t>
            </a:r>
            <a:endParaRPr lang="en-US" sz="1300" dirty="0"/>
          </a:p>
        </p:txBody>
      </p:sp>
      <p:sp>
        <p:nvSpPr>
          <p:cNvPr id="107" name="Text 105"/>
          <p:cNvSpPr txBox="1"/>
          <p:nvPr/>
        </p:nvSpPr>
        <p:spPr>
          <a:xfrm>
            <a:off x="6208776" y="3557719"/>
            <a:ext cx="1938528" cy="30948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108" name="Shape 106"/>
          <p:cNvSpPr/>
          <p:nvPr/>
        </p:nvSpPr>
        <p:spPr>
          <a:xfrm>
            <a:off x="8220456" y="3627354"/>
            <a:ext cx="41054" cy="170219"/>
          </a:xfrm>
          <a:prstGeom prst="rect">
            <a:avLst/>
          </a:prstGeom>
          <a:solidFill>
            <a:srgbClr val="C2352F"/>
          </a:solidFill>
          <a:ln/>
        </p:spPr>
      </p:sp>
      <p:sp>
        <p:nvSpPr>
          <p:cNvPr id="109" name="Text 107"/>
          <p:cNvSpPr txBox="1"/>
          <p:nvPr/>
        </p:nvSpPr>
        <p:spPr>
          <a:xfrm>
            <a:off x="9079992" y="3557719"/>
            <a:ext cx="896112" cy="30948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$11,494</a:t>
            </a:r>
            <a:endParaRPr lang="en-US" sz="1300" dirty="0"/>
          </a:p>
        </p:txBody>
      </p:sp>
      <p:sp>
        <p:nvSpPr>
          <p:cNvPr id="110" name="Text 108"/>
          <p:cNvSpPr txBox="1"/>
          <p:nvPr/>
        </p:nvSpPr>
        <p:spPr>
          <a:xfrm>
            <a:off x="9976104" y="3557719"/>
            <a:ext cx="566928"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11.7%</a:t>
            </a:r>
            <a:endParaRPr lang="en-US" sz="1300" dirty="0"/>
          </a:p>
        </p:txBody>
      </p:sp>
      <p:sp>
        <p:nvSpPr>
          <p:cNvPr id="111" name="Text 109"/>
          <p:cNvSpPr txBox="1"/>
          <p:nvPr/>
        </p:nvSpPr>
        <p:spPr>
          <a:xfrm>
            <a:off x="10543032" y="3557719"/>
            <a:ext cx="877824"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135</a:t>
            </a:r>
            <a:endParaRPr lang="en-US" sz="1300" dirty="0"/>
          </a:p>
        </p:txBody>
      </p:sp>
      <p:sp>
        <p:nvSpPr>
          <p:cNvPr id="112" name="Text 110"/>
          <p:cNvSpPr txBox="1"/>
          <p:nvPr/>
        </p:nvSpPr>
        <p:spPr>
          <a:xfrm>
            <a:off x="6208776" y="3867209"/>
            <a:ext cx="1938528" cy="30948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113" name="Shape 111"/>
          <p:cNvSpPr/>
          <p:nvPr/>
        </p:nvSpPr>
        <p:spPr>
          <a:xfrm>
            <a:off x="8220456" y="3936844"/>
            <a:ext cx="37178" cy="170219"/>
          </a:xfrm>
          <a:prstGeom prst="rect">
            <a:avLst/>
          </a:prstGeom>
          <a:solidFill>
            <a:srgbClr val="C2352F"/>
          </a:solidFill>
          <a:ln/>
        </p:spPr>
      </p:sp>
      <p:sp>
        <p:nvSpPr>
          <p:cNvPr id="114" name="Text 112"/>
          <p:cNvSpPr txBox="1"/>
          <p:nvPr/>
        </p:nvSpPr>
        <p:spPr>
          <a:xfrm>
            <a:off x="9079992" y="3867209"/>
            <a:ext cx="896112" cy="30948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$10,409</a:t>
            </a:r>
            <a:endParaRPr lang="en-US" sz="1300" dirty="0"/>
          </a:p>
        </p:txBody>
      </p:sp>
      <p:sp>
        <p:nvSpPr>
          <p:cNvPr id="115" name="Text 113"/>
          <p:cNvSpPr txBox="1"/>
          <p:nvPr/>
        </p:nvSpPr>
        <p:spPr>
          <a:xfrm>
            <a:off x="9976104" y="3867209"/>
            <a:ext cx="566928"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12.8%</a:t>
            </a:r>
            <a:endParaRPr lang="en-US" sz="1300" dirty="0"/>
          </a:p>
        </p:txBody>
      </p:sp>
      <p:sp>
        <p:nvSpPr>
          <p:cNvPr id="116" name="Text 114"/>
          <p:cNvSpPr txBox="1"/>
          <p:nvPr/>
        </p:nvSpPr>
        <p:spPr>
          <a:xfrm>
            <a:off x="10543032" y="3867209"/>
            <a:ext cx="877824"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40</a:t>
            </a:r>
            <a:endParaRPr lang="en-US" sz="1300" dirty="0"/>
          </a:p>
        </p:txBody>
      </p:sp>
      <p:sp>
        <p:nvSpPr>
          <p:cNvPr id="117" name="Text 115"/>
          <p:cNvSpPr txBox="1"/>
          <p:nvPr/>
        </p:nvSpPr>
        <p:spPr>
          <a:xfrm>
            <a:off x="6208776" y="4176698"/>
            <a:ext cx="1938528" cy="30948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118" name="Shape 116"/>
          <p:cNvSpPr/>
          <p:nvPr/>
        </p:nvSpPr>
        <p:spPr>
          <a:xfrm>
            <a:off x="8220456" y="4246333"/>
            <a:ext cx="34892" cy="170219"/>
          </a:xfrm>
          <a:prstGeom prst="rect">
            <a:avLst/>
          </a:prstGeom>
          <a:solidFill>
            <a:srgbClr val="C2352F"/>
          </a:solidFill>
          <a:ln/>
        </p:spPr>
      </p:sp>
      <p:sp>
        <p:nvSpPr>
          <p:cNvPr id="119" name="Text 117"/>
          <p:cNvSpPr txBox="1"/>
          <p:nvPr/>
        </p:nvSpPr>
        <p:spPr>
          <a:xfrm>
            <a:off x="9079992" y="4176698"/>
            <a:ext cx="896112" cy="30948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$9,769</a:t>
            </a:r>
            <a:endParaRPr lang="en-US" sz="1300" dirty="0"/>
          </a:p>
        </p:txBody>
      </p:sp>
      <p:sp>
        <p:nvSpPr>
          <p:cNvPr id="120" name="Text 118"/>
          <p:cNvSpPr txBox="1"/>
          <p:nvPr/>
        </p:nvSpPr>
        <p:spPr>
          <a:xfrm>
            <a:off x="9976104" y="4176698"/>
            <a:ext cx="566928"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14.5%</a:t>
            </a:r>
            <a:endParaRPr lang="en-US" sz="1300" dirty="0"/>
          </a:p>
        </p:txBody>
      </p:sp>
      <p:sp>
        <p:nvSpPr>
          <p:cNvPr id="121" name="Text 119"/>
          <p:cNvSpPr txBox="1"/>
          <p:nvPr/>
        </p:nvSpPr>
        <p:spPr>
          <a:xfrm>
            <a:off x="10543032" y="4176698"/>
            <a:ext cx="877824"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83</a:t>
            </a:r>
            <a:endParaRPr lang="en-US" sz="1300" dirty="0"/>
          </a:p>
        </p:txBody>
      </p:sp>
      <p:sp>
        <p:nvSpPr>
          <p:cNvPr id="122" name="Text 120"/>
          <p:cNvSpPr txBox="1"/>
          <p:nvPr/>
        </p:nvSpPr>
        <p:spPr>
          <a:xfrm>
            <a:off x="6208776" y="4486187"/>
            <a:ext cx="1938528" cy="30948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123" name="Shape 121"/>
          <p:cNvSpPr/>
          <p:nvPr/>
        </p:nvSpPr>
        <p:spPr>
          <a:xfrm>
            <a:off x="8220456" y="4555822"/>
            <a:ext cx="32614" cy="170219"/>
          </a:xfrm>
          <a:prstGeom prst="rect">
            <a:avLst/>
          </a:prstGeom>
          <a:solidFill>
            <a:srgbClr val="C2352F"/>
          </a:solidFill>
          <a:ln/>
        </p:spPr>
      </p:sp>
      <p:sp>
        <p:nvSpPr>
          <p:cNvPr id="124" name="Text 122"/>
          <p:cNvSpPr txBox="1"/>
          <p:nvPr/>
        </p:nvSpPr>
        <p:spPr>
          <a:xfrm>
            <a:off x="9079992" y="4486187"/>
            <a:ext cx="896112" cy="30948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$9,131</a:t>
            </a:r>
            <a:endParaRPr lang="en-US" sz="1300" dirty="0"/>
          </a:p>
        </p:txBody>
      </p:sp>
      <p:sp>
        <p:nvSpPr>
          <p:cNvPr id="125" name="Text 123"/>
          <p:cNvSpPr txBox="1"/>
          <p:nvPr/>
        </p:nvSpPr>
        <p:spPr>
          <a:xfrm>
            <a:off x="9976104" y="4486187"/>
            <a:ext cx="566928"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13.8%</a:t>
            </a:r>
            <a:endParaRPr lang="en-US" sz="1300" dirty="0"/>
          </a:p>
        </p:txBody>
      </p:sp>
      <p:sp>
        <p:nvSpPr>
          <p:cNvPr id="126" name="Text 124"/>
          <p:cNvSpPr txBox="1"/>
          <p:nvPr/>
        </p:nvSpPr>
        <p:spPr>
          <a:xfrm>
            <a:off x="10543032" y="4486187"/>
            <a:ext cx="877824"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79</a:t>
            </a:r>
            <a:endParaRPr lang="en-US" sz="1300" dirty="0"/>
          </a:p>
        </p:txBody>
      </p:sp>
      <p:sp>
        <p:nvSpPr>
          <p:cNvPr id="127" name="Text 125"/>
          <p:cNvSpPr txBox="1"/>
          <p:nvPr/>
        </p:nvSpPr>
        <p:spPr>
          <a:xfrm>
            <a:off x="6208776" y="4795676"/>
            <a:ext cx="1938528" cy="30948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128" name="Shape 126"/>
          <p:cNvSpPr/>
          <p:nvPr/>
        </p:nvSpPr>
        <p:spPr>
          <a:xfrm>
            <a:off x="8220456" y="4865311"/>
            <a:ext cx="25924" cy="170219"/>
          </a:xfrm>
          <a:prstGeom prst="rect">
            <a:avLst/>
          </a:prstGeom>
          <a:solidFill>
            <a:srgbClr val="C2352F"/>
          </a:solidFill>
          <a:ln/>
        </p:spPr>
      </p:sp>
      <p:sp>
        <p:nvSpPr>
          <p:cNvPr id="129" name="Text 127"/>
          <p:cNvSpPr txBox="1"/>
          <p:nvPr/>
        </p:nvSpPr>
        <p:spPr>
          <a:xfrm>
            <a:off x="9079992" y="4795676"/>
            <a:ext cx="896112" cy="30948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$7,258</a:t>
            </a:r>
            <a:endParaRPr lang="en-US" sz="1300" dirty="0"/>
          </a:p>
        </p:txBody>
      </p:sp>
      <p:sp>
        <p:nvSpPr>
          <p:cNvPr id="130" name="Text 128"/>
          <p:cNvSpPr txBox="1"/>
          <p:nvPr/>
        </p:nvSpPr>
        <p:spPr>
          <a:xfrm>
            <a:off x="9976104" y="4795676"/>
            <a:ext cx="566928"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13.8%</a:t>
            </a:r>
            <a:endParaRPr lang="en-US" sz="1300" dirty="0"/>
          </a:p>
        </p:txBody>
      </p:sp>
      <p:sp>
        <p:nvSpPr>
          <p:cNvPr id="131" name="Text 129"/>
          <p:cNvSpPr txBox="1"/>
          <p:nvPr/>
        </p:nvSpPr>
        <p:spPr>
          <a:xfrm>
            <a:off x="10543032" y="4795676"/>
            <a:ext cx="877824"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51</a:t>
            </a:r>
            <a:endParaRPr lang="en-US" sz="1300" dirty="0"/>
          </a:p>
        </p:txBody>
      </p:sp>
      <p:sp>
        <p:nvSpPr>
          <p:cNvPr id="132" name="Text 130"/>
          <p:cNvSpPr txBox="1"/>
          <p:nvPr/>
        </p:nvSpPr>
        <p:spPr>
          <a:xfrm>
            <a:off x="6208776" y="5105166"/>
            <a:ext cx="1938528" cy="30948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133" name="Shape 131"/>
          <p:cNvSpPr/>
          <p:nvPr/>
        </p:nvSpPr>
        <p:spPr>
          <a:xfrm>
            <a:off x="8220456" y="5174801"/>
            <a:ext cx="18288" cy="170219"/>
          </a:xfrm>
          <a:prstGeom prst="rect">
            <a:avLst/>
          </a:prstGeom>
          <a:solidFill>
            <a:srgbClr val="C2352F"/>
          </a:solidFill>
          <a:ln/>
        </p:spPr>
      </p:sp>
      <p:sp>
        <p:nvSpPr>
          <p:cNvPr id="134" name="Text 132"/>
          <p:cNvSpPr txBox="1"/>
          <p:nvPr/>
        </p:nvSpPr>
        <p:spPr>
          <a:xfrm>
            <a:off x="9079992" y="5105166"/>
            <a:ext cx="896112" cy="30948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$865</a:t>
            </a:r>
            <a:endParaRPr lang="en-US" sz="1300" dirty="0"/>
          </a:p>
        </p:txBody>
      </p:sp>
      <p:sp>
        <p:nvSpPr>
          <p:cNvPr id="135" name="Text 133"/>
          <p:cNvSpPr txBox="1"/>
          <p:nvPr/>
        </p:nvSpPr>
        <p:spPr>
          <a:xfrm>
            <a:off x="9976104" y="5105166"/>
            <a:ext cx="566928"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14.8%</a:t>
            </a:r>
            <a:endParaRPr lang="en-US" sz="1300" dirty="0"/>
          </a:p>
        </p:txBody>
      </p:sp>
      <p:sp>
        <p:nvSpPr>
          <p:cNvPr id="136" name="Text 134"/>
          <p:cNvSpPr txBox="1"/>
          <p:nvPr/>
        </p:nvSpPr>
        <p:spPr>
          <a:xfrm>
            <a:off x="10543032" y="5105166"/>
            <a:ext cx="877824"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a:t>
            </a:r>
            <a:endParaRPr lang="en-US" sz="1300" dirty="0"/>
          </a:p>
        </p:txBody>
      </p:sp>
      <p:sp>
        <p:nvSpPr>
          <p:cNvPr id="137" name="Shape 135"/>
          <p:cNvSpPr/>
          <p:nvPr/>
        </p:nvSpPr>
        <p:spPr>
          <a:xfrm>
            <a:off x="457200" y="5961888"/>
            <a:ext cx="11274552" cy="548640"/>
          </a:xfrm>
          <a:prstGeom prst="rect">
            <a:avLst/>
          </a:prstGeom>
          <a:solidFill>
            <a:srgbClr val="FBEBEA"/>
          </a:solidFill>
          <a:ln/>
        </p:spPr>
      </p:sp>
      <p:sp>
        <p:nvSpPr>
          <p:cNvPr id="138" name="Text 136"/>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25 stores under 15% leave $1,029,276 a year: 9,935 services. TOYOTA SPOKANE has the most at $225,288.</a:t>
            </a:r>
            <a:endParaRPr lang="en-US" sz="1600" dirty="0"/>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Tire Balance Missed Opportunity</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3529584" y="1316736"/>
            <a:ext cx="896112"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Gross/yr</a:t>
            </a:r>
            <a:endParaRPr lang="en-US" sz="1400" dirty="0"/>
          </a:p>
        </p:txBody>
      </p:sp>
      <p:sp>
        <p:nvSpPr>
          <p:cNvPr id="7" name="Text 5"/>
          <p:cNvSpPr txBox="1"/>
          <p:nvPr/>
        </p:nvSpPr>
        <p:spPr>
          <a:xfrm>
            <a:off x="4425696" y="1316736"/>
            <a:ext cx="56692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Rate</a:t>
            </a:r>
            <a:endParaRPr lang="en-US" sz="1400" dirty="0"/>
          </a:p>
        </p:txBody>
      </p:sp>
      <p:sp>
        <p:nvSpPr>
          <p:cNvPr id="8" name="Text 6"/>
          <p:cNvSpPr txBox="1"/>
          <p:nvPr/>
        </p:nvSpPr>
        <p:spPr>
          <a:xfrm>
            <a:off x="4992624" y="1316736"/>
            <a:ext cx="877824"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Services</a:t>
            </a:r>
            <a:endParaRPr lang="en-US" sz="1400" dirty="0"/>
          </a:p>
        </p:txBody>
      </p:sp>
      <p:sp>
        <p:nvSpPr>
          <p:cNvPr id="9" name="Text 7"/>
          <p:cNvSpPr txBox="1"/>
          <p:nvPr/>
        </p:nvSpPr>
        <p:spPr>
          <a:xfrm>
            <a:off x="9079992" y="1316736"/>
            <a:ext cx="896112"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Gross/yr</a:t>
            </a:r>
            <a:endParaRPr lang="en-US" sz="1400" dirty="0"/>
          </a:p>
        </p:txBody>
      </p:sp>
      <p:sp>
        <p:nvSpPr>
          <p:cNvPr id="10" name="Text 8"/>
          <p:cNvSpPr txBox="1"/>
          <p:nvPr/>
        </p:nvSpPr>
        <p:spPr>
          <a:xfrm>
            <a:off x="9976104" y="1316736"/>
            <a:ext cx="56692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Rate</a:t>
            </a:r>
            <a:endParaRPr lang="en-US" sz="1400" dirty="0"/>
          </a:p>
        </p:txBody>
      </p:sp>
      <p:sp>
        <p:nvSpPr>
          <p:cNvPr id="11" name="Text 9"/>
          <p:cNvSpPr txBox="1"/>
          <p:nvPr/>
        </p:nvSpPr>
        <p:spPr>
          <a:xfrm>
            <a:off x="10543032" y="1316736"/>
            <a:ext cx="877824"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Services</a:t>
            </a:r>
            <a:endParaRPr lang="en-US" sz="1400" dirty="0"/>
          </a:p>
        </p:txBody>
      </p:sp>
      <p:sp>
        <p:nvSpPr>
          <p:cNvPr id="12" name="Text 10"/>
          <p:cNvSpPr txBox="1"/>
          <p:nvPr/>
        </p:nvSpPr>
        <p:spPr>
          <a:xfrm>
            <a:off x="658368" y="1700784"/>
            <a:ext cx="1938528" cy="26822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13" name="Shape 11"/>
          <p:cNvSpPr/>
          <p:nvPr/>
        </p:nvSpPr>
        <p:spPr>
          <a:xfrm>
            <a:off x="2670048" y="1761134"/>
            <a:ext cx="804672" cy="147523"/>
          </a:xfrm>
          <a:prstGeom prst="rect">
            <a:avLst/>
          </a:prstGeom>
          <a:solidFill>
            <a:srgbClr val="C2352F"/>
          </a:solidFill>
          <a:ln/>
        </p:spPr>
      </p:sp>
      <p:sp>
        <p:nvSpPr>
          <p:cNvPr id="14" name="Text 12"/>
          <p:cNvSpPr txBox="1"/>
          <p:nvPr/>
        </p:nvSpPr>
        <p:spPr>
          <a:xfrm>
            <a:off x="3529584" y="1700784"/>
            <a:ext cx="896112" cy="268224"/>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$179,701</a:t>
            </a:r>
            <a:endParaRPr lang="en-US" sz="1300" dirty="0"/>
          </a:p>
        </p:txBody>
      </p:sp>
      <p:sp>
        <p:nvSpPr>
          <p:cNvPr id="15" name="Text 13"/>
          <p:cNvSpPr txBox="1"/>
          <p:nvPr/>
        </p:nvSpPr>
        <p:spPr>
          <a:xfrm>
            <a:off x="4425696" y="1700784"/>
            <a:ext cx="566928" cy="26822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0.4%</a:t>
            </a:r>
            <a:endParaRPr lang="en-US" sz="1300" dirty="0"/>
          </a:p>
        </p:txBody>
      </p:sp>
      <p:sp>
        <p:nvSpPr>
          <p:cNvPr id="16" name="Text 14"/>
          <p:cNvSpPr txBox="1"/>
          <p:nvPr/>
        </p:nvSpPr>
        <p:spPr>
          <a:xfrm>
            <a:off x="4992624" y="1700784"/>
            <a:ext cx="877824" cy="26822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3,361</a:t>
            </a:r>
            <a:endParaRPr lang="en-US" sz="1300" dirty="0"/>
          </a:p>
        </p:txBody>
      </p:sp>
      <p:sp>
        <p:nvSpPr>
          <p:cNvPr id="17" name="Text 15"/>
          <p:cNvSpPr txBox="1"/>
          <p:nvPr/>
        </p:nvSpPr>
        <p:spPr>
          <a:xfrm>
            <a:off x="658368" y="1969008"/>
            <a:ext cx="1938528" cy="26822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18" name="Shape 16"/>
          <p:cNvSpPr/>
          <p:nvPr/>
        </p:nvSpPr>
        <p:spPr>
          <a:xfrm>
            <a:off x="2670048" y="2029358"/>
            <a:ext cx="659813" cy="147523"/>
          </a:xfrm>
          <a:prstGeom prst="rect">
            <a:avLst/>
          </a:prstGeom>
          <a:solidFill>
            <a:srgbClr val="C2352F"/>
          </a:solidFill>
          <a:ln/>
        </p:spPr>
      </p:sp>
      <p:sp>
        <p:nvSpPr>
          <p:cNvPr id="19" name="Text 17"/>
          <p:cNvSpPr txBox="1"/>
          <p:nvPr/>
        </p:nvSpPr>
        <p:spPr>
          <a:xfrm>
            <a:off x="3529584" y="1969008"/>
            <a:ext cx="896112" cy="268224"/>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$147,351</a:t>
            </a:r>
            <a:endParaRPr lang="en-US" sz="1300" dirty="0"/>
          </a:p>
        </p:txBody>
      </p:sp>
      <p:sp>
        <p:nvSpPr>
          <p:cNvPr id="20" name="Text 18"/>
          <p:cNvSpPr txBox="1"/>
          <p:nvPr/>
        </p:nvSpPr>
        <p:spPr>
          <a:xfrm>
            <a:off x="4425696" y="1969008"/>
            <a:ext cx="566928" cy="26822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11.2%</a:t>
            </a:r>
            <a:endParaRPr lang="en-US" sz="1300" dirty="0"/>
          </a:p>
        </p:txBody>
      </p:sp>
      <p:sp>
        <p:nvSpPr>
          <p:cNvPr id="21" name="Text 19"/>
          <p:cNvSpPr txBox="1"/>
          <p:nvPr/>
        </p:nvSpPr>
        <p:spPr>
          <a:xfrm>
            <a:off x="4992624" y="1969008"/>
            <a:ext cx="877824" cy="26822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2,671</a:t>
            </a:r>
            <a:endParaRPr lang="en-US" sz="1300" dirty="0"/>
          </a:p>
        </p:txBody>
      </p:sp>
      <p:sp>
        <p:nvSpPr>
          <p:cNvPr id="22" name="Text 20"/>
          <p:cNvSpPr txBox="1"/>
          <p:nvPr/>
        </p:nvSpPr>
        <p:spPr>
          <a:xfrm>
            <a:off x="658368" y="2237232"/>
            <a:ext cx="1938528" cy="26822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23" name="Shape 21"/>
          <p:cNvSpPr/>
          <p:nvPr/>
        </p:nvSpPr>
        <p:spPr>
          <a:xfrm>
            <a:off x="2670048" y="2297582"/>
            <a:ext cx="592487" cy="147523"/>
          </a:xfrm>
          <a:prstGeom prst="rect">
            <a:avLst/>
          </a:prstGeom>
          <a:solidFill>
            <a:srgbClr val="C2352F"/>
          </a:solidFill>
          <a:ln/>
        </p:spPr>
      </p:sp>
      <p:sp>
        <p:nvSpPr>
          <p:cNvPr id="24" name="Text 22"/>
          <p:cNvSpPr txBox="1"/>
          <p:nvPr/>
        </p:nvSpPr>
        <p:spPr>
          <a:xfrm>
            <a:off x="3529584" y="2237232"/>
            <a:ext cx="896112" cy="268224"/>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$132,315</a:t>
            </a:r>
            <a:endParaRPr lang="en-US" sz="1300" dirty="0"/>
          </a:p>
        </p:txBody>
      </p:sp>
      <p:sp>
        <p:nvSpPr>
          <p:cNvPr id="25" name="Text 23"/>
          <p:cNvSpPr txBox="1"/>
          <p:nvPr/>
        </p:nvSpPr>
        <p:spPr>
          <a:xfrm>
            <a:off x="4425696" y="2237232"/>
            <a:ext cx="566928" cy="26822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6.1%</a:t>
            </a:r>
            <a:endParaRPr lang="en-US" sz="1300" dirty="0"/>
          </a:p>
        </p:txBody>
      </p:sp>
      <p:sp>
        <p:nvSpPr>
          <p:cNvPr id="26" name="Text 24"/>
          <p:cNvSpPr txBox="1"/>
          <p:nvPr/>
        </p:nvSpPr>
        <p:spPr>
          <a:xfrm>
            <a:off x="4992624" y="2237232"/>
            <a:ext cx="877824" cy="26822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1,590</a:t>
            </a:r>
            <a:endParaRPr lang="en-US" sz="1300" dirty="0"/>
          </a:p>
        </p:txBody>
      </p:sp>
      <p:sp>
        <p:nvSpPr>
          <p:cNvPr id="27" name="Text 25"/>
          <p:cNvSpPr txBox="1"/>
          <p:nvPr/>
        </p:nvSpPr>
        <p:spPr>
          <a:xfrm>
            <a:off x="658368" y="2505456"/>
            <a:ext cx="1938528" cy="26822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28" name="Shape 26"/>
          <p:cNvSpPr/>
          <p:nvPr/>
        </p:nvSpPr>
        <p:spPr>
          <a:xfrm>
            <a:off x="2670048" y="2565806"/>
            <a:ext cx="559295" cy="147523"/>
          </a:xfrm>
          <a:prstGeom prst="rect">
            <a:avLst/>
          </a:prstGeom>
          <a:solidFill>
            <a:srgbClr val="C2352F"/>
          </a:solidFill>
          <a:ln/>
        </p:spPr>
      </p:sp>
      <p:sp>
        <p:nvSpPr>
          <p:cNvPr id="29" name="Text 27"/>
          <p:cNvSpPr txBox="1"/>
          <p:nvPr/>
        </p:nvSpPr>
        <p:spPr>
          <a:xfrm>
            <a:off x="3529584" y="2505456"/>
            <a:ext cx="896112" cy="268224"/>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$124,903</a:t>
            </a:r>
            <a:endParaRPr lang="en-US" sz="1300" dirty="0"/>
          </a:p>
        </p:txBody>
      </p:sp>
      <p:sp>
        <p:nvSpPr>
          <p:cNvPr id="30" name="Text 28"/>
          <p:cNvSpPr txBox="1"/>
          <p:nvPr/>
        </p:nvSpPr>
        <p:spPr>
          <a:xfrm>
            <a:off x="4425696" y="2505456"/>
            <a:ext cx="566928" cy="26822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3.6%</a:t>
            </a:r>
            <a:endParaRPr lang="en-US" sz="1300" dirty="0"/>
          </a:p>
        </p:txBody>
      </p:sp>
      <p:sp>
        <p:nvSpPr>
          <p:cNvPr id="31" name="Text 29"/>
          <p:cNvSpPr txBox="1"/>
          <p:nvPr/>
        </p:nvSpPr>
        <p:spPr>
          <a:xfrm>
            <a:off x="4992624" y="2505456"/>
            <a:ext cx="877824" cy="26822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837</a:t>
            </a:r>
            <a:endParaRPr lang="en-US" sz="1300" dirty="0"/>
          </a:p>
        </p:txBody>
      </p:sp>
      <p:sp>
        <p:nvSpPr>
          <p:cNvPr id="32" name="Text 30"/>
          <p:cNvSpPr txBox="1"/>
          <p:nvPr/>
        </p:nvSpPr>
        <p:spPr>
          <a:xfrm>
            <a:off x="658368" y="2773680"/>
            <a:ext cx="1938528" cy="26822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33" name="Shape 31"/>
          <p:cNvSpPr/>
          <p:nvPr/>
        </p:nvSpPr>
        <p:spPr>
          <a:xfrm>
            <a:off x="2670048" y="2834030"/>
            <a:ext cx="488325" cy="147523"/>
          </a:xfrm>
          <a:prstGeom prst="rect">
            <a:avLst/>
          </a:prstGeom>
          <a:solidFill>
            <a:srgbClr val="C2352F"/>
          </a:solidFill>
          <a:ln/>
        </p:spPr>
      </p:sp>
      <p:sp>
        <p:nvSpPr>
          <p:cNvPr id="34" name="Text 32"/>
          <p:cNvSpPr txBox="1"/>
          <p:nvPr/>
        </p:nvSpPr>
        <p:spPr>
          <a:xfrm>
            <a:off x="3529584" y="2773680"/>
            <a:ext cx="896112" cy="268224"/>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$109,054</a:t>
            </a:r>
            <a:endParaRPr lang="en-US" sz="1300" dirty="0"/>
          </a:p>
        </p:txBody>
      </p:sp>
      <p:sp>
        <p:nvSpPr>
          <p:cNvPr id="35" name="Text 33"/>
          <p:cNvSpPr txBox="1"/>
          <p:nvPr/>
        </p:nvSpPr>
        <p:spPr>
          <a:xfrm>
            <a:off x="4425696" y="2773680"/>
            <a:ext cx="566928" cy="26822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4.9%</a:t>
            </a:r>
            <a:endParaRPr lang="en-US" sz="1300" dirty="0"/>
          </a:p>
        </p:txBody>
      </p:sp>
      <p:sp>
        <p:nvSpPr>
          <p:cNvPr id="36" name="Text 34"/>
          <p:cNvSpPr txBox="1"/>
          <p:nvPr/>
        </p:nvSpPr>
        <p:spPr>
          <a:xfrm>
            <a:off x="4992624" y="2773680"/>
            <a:ext cx="877824" cy="26822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2,031</a:t>
            </a:r>
            <a:endParaRPr lang="en-US" sz="1300" dirty="0"/>
          </a:p>
        </p:txBody>
      </p:sp>
      <p:sp>
        <p:nvSpPr>
          <p:cNvPr id="37" name="Text 35"/>
          <p:cNvSpPr txBox="1"/>
          <p:nvPr/>
        </p:nvSpPr>
        <p:spPr>
          <a:xfrm>
            <a:off x="658368" y="3041904"/>
            <a:ext cx="1938528" cy="26822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38" name="Shape 36"/>
          <p:cNvSpPr/>
          <p:nvPr/>
        </p:nvSpPr>
        <p:spPr>
          <a:xfrm>
            <a:off x="2670048" y="3102254"/>
            <a:ext cx="475963" cy="147523"/>
          </a:xfrm>
          <a:prstGeom prst="rect">
            <a:avLst/>
          </a:prstGeom>
          <a:solidFill>
            <a:srgbClr val="C2352F"/>
          </a:solidFill>
          <a:ln/>
        </p:spPr>
      </p:sp>
      <p:sp>
        <p:nvSpPr>
          <p:cNvPr id="39" name="Text 37"/>
          <p:cNvSpPr txBox="1"/>
          <p:nvPr/>
        </p:nvSpPr>
        <p:spPr>
          <a:xfrm>
            <a:off x="3529584" y="3041904"/>
            <a:ext cx="896112" cy="268224"/>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$106,293</a:t>
            </a:r>
            <a:endParaRPr lang="en-US" sz="1300" dirty="0"/>
          </a:p>
        </p:txBody>
      </p:sp>
      <p:sp>
        <p:nvSpPr>
          <p:cNvPr id="40" name="Text 38"/>
          <p:cNvSpPr txBox="1"/>
          <p:nvPr/>
        </p:nvSpPr>
        <p:spPr>
          <a:xfrm>
            <a:off x="4425696" y="3041904"/>
            <a:ext cx="566928" cy="26822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7.3%</a:t>
            </a:r>
            <a:endParaRPr lang="en-US" sz="1300" dirty="0"/>
          </a:p>
        </p:txBody>
      </p:sp>
      <p:sp>
        <p:nvSpPr>
          <p:cNvPr id="41" name="Text 39"/>
          <p:cNvSpPr txBox="1"/>
          <p:nvPr/>
        </p:nvSpPr>
        <p:spPr>
          <a:xfrm>
            <a:off x="4992624" y="3041904"/>
            <a:ext cx="877824" cy="26822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2,001</a:t>
            </a:r>
            <a:endParaRPr lang="en-US" sz="1300" dirty="0"/>
          </a:p>
        </p:txBody>
      </p:sp>
      <p:sp>
        <p:nvSpPr>
          <p:cNvPr id="42" name="Text 40"/>
          <p:cNvSpPr txBox="1"/>
          <p:nvPr/>
        </p:nvSpPr>
        <p:spPr>
          <a:xfrm>
            <a:off x="658368" y="3310128"/>
            <a:ext cx="1938528" cy="26822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43" name="Shape 41"/>
          <p:cNvSpPr/>
          <p:nvPr/>
        </p:nvSpPr>
        <p:spPr>
          <a:xfrm>
            <a:off x="2670048" y="3370478"/>
            <a:ext cx="358495" cy="147523"/>
          </a:xfrm>
          <a:prstGeom prst="rect">
            <a:avLst/>
          </a:prstGeom>
          <a:solidFill>
            <a:srgbClr val="C2352F"/>
          </a:solidFill>
          <a:ln/>
        </p:spPr>
      </p:sp>
      <p:sp>
        <p:nvSpPr>
          <p:cNvPr id="44" name="Text 42"/>
          <p:cNvSpPr txBox="1"/>
          <p:nvPr/>
        </p:nvSpPr>
        <p:spPr>
          <a:xfrm>
            <a:off x="3529584" y="3310128"/>
            <a:ext cx="896112" cy="268224"/>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$80,060</a:t>
            </a:r>
            <a:endParaRPr lang="en-US" sz="1300" dirty="0"/>
          </a:p>
        </p:txBody>
      </p:sp>
      <p:sp>
        <p:nvSpPr>
          <p:cNvPr id="45" name="Text 43"/>
          <p:cNvSpPr txBox="1"/>
          <p:nvPr/>
        </p:nvSpPr>
        <p:spPr>
          <a:xfrm>
            <a:off x="4425696" y="3310128"/>
            <a:ext cx="566928" cy="26822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a:t>
            </a:r>
            <a:endParaRPr lang="en-US" sz="1300" dirty="0"/>
          </a:p>
        </p:txBody>
      </p:sp>
      <p:sp>
        <p:nvSpPr>
          <p:cNvPr id="46" name="Text 44"/>
          <p:cNvSpPr txBox="1"/>
          <p:nvPr/>
        </p:nvSpPr>
        <p:spPr>
          <a:xfrm>
            <a:off x="4992624" y="3310128"/>
            <a:ext cx="877824" cy="26822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1,526</a:t>
            </a:r>
            <a:endParaRPr lang="en-US" sz="1300" dirty="0"/>
          </a:p>
        </p:txBody>
      </p:sp>
      <p:sp>
        <p:nvSpPr>
          <p:cNvPr id="47" name="Text 45"/>
          <p:cNvSpPr txBox="1"/>
          <p:nvPr/>
        </p:nvSpPr>
        <p:spPr>
          <a:xfrm>
            <a:off x="658368" y="3578352"/>
            <a:ext cx="1938528" cy="26822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48" name="Shape 46"/>
          <p:cNvSpPr/>
          <p:nvPr/>
        </p:nvSpPr>
        <p:spPr>
          <a:xfrm>
            <a:off x="2670048" y="3638702"/>
            <a:ext cx="343305" cy="147523"/>
          </a:xfrm>
          <a:prstGeom prst="rect">
            <a:avLst/>
          </a:prstGeom>
          <a:solidFill>
            <a:srgbClr val="C2352F"/>
          </a:solidFill>
          <a:ln/>
        </p:spPr>
      </p:sp>
      <p:sp>
        <p:nvSpPr>
          <p:cNvPr id="49" name="Text 47"/>
          <p:cNvSpPr txBox="1"/>
          <p:nvPr/>
        </p:nvSpPr>
        <p:spPr>
          <a:xfrm>
            <a:off x="3529584" y="3578352"/>
            <a:ext cx="896112" cy="268224"/>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$76,668</a:t>
            </a:r>
            <a:endParaRPr lang="en-US" sz="1300" dirty="0"/>
          </a:p>
        </p:txBody>
      </p:sp>
      <p:sp>
        <p:nvSpPr>
          <p:cNvPr id="50" name="Text 48"/>
          <p:cNvSpPr txBox="1"/>
          <p:nvPr/>
        </p:nvSpPr>
        <p:spPr>
          <a:xfrm>
            <a:off x="4425696" y="3578352"/>
            <a:ext cx="566928" cy="26822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a:t>
            </a:r>
            <a:endParaRPr lang="en-US" sz="1300" dirty="0"/>
          </a:p>
        </p:txBody>
      </p:sp>
      <p:sp>
        <p:nvSpPr>
          <p:cNvPr id="51" name="Text 49"/>
          <p:cNvSpPr txBox="1"/>
          <p:nvPr/>
        </p:nvSpPr>
        <p:spPr>
          <a:xfrm>
            <a:off x="4992624" y="3578352"/>
            <a:ext cx="877824" cy="26822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1,296</a:t>
            </a:r>
            <a:endParaRPr lang="en-US" sz="1300" dirty="0"/>
          </a:p>
        </p:txBody>
      </p:sp>
      <p:sp>
        <p:nvSpPr>
          <p:cNvPr id="52" name="Text 50"/>
          <p:cNvSpPr txBox="1"/>
          <p:nvPr/>
        </p:nvSpPr>
        <p:spPr>
          <a:xfrm>
            <a:off x="658368" y="3846576"/>
            <a:ext cx="1938528" cy="26822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53" name="Shape 51"/>
          <p:cNvSpPr/>
          <p:nvPr/>
        </p:nvSpPr>
        <p:spPr>
          <a:xfrm>
            <a:off x="2670048" y="3906926"/>
            <a:ext cx="328186" cy="147523"/>
          </a:xfrm>
          <a:prstGeom prst="rect">
            <a:avLst/>
          </a:prstGeom>
          <a:solidFill>
            <a:srgbClr val="C2352F"/>
          </a:solidFill>
          <a:ln/>
        </p:spPr>
      </p:sp>
      <p:sp>
        <p:nvSpPr>
          <p:cNvPr id="54" name="Text 52"/>
          <p:cNvSpPr txBox="1"/>
          <p:nvPr/>
        </p:nvSpPr>
        <p:spPr>
          <a:xfrm>
            <a:off x="3529584" y="3846576"/>
            <a:ext cx="896112" cy="268224"/>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$73,291</a:t>
            </a:r>
            <a:endParaRPr lang="en-US" sz="1300" dirty="0"/>
          </a:p>
        </p:txBody>
      </p:sp>
      <p:sp>
        <p:nvSpPr>
          <p:cNvPr id="55" name="Text 53"/>
          <p:cNvSpPr txBox="1"/>
          <p:nvPr/>
        </p:nvSpPr>
        <p:spPr>
          <a:xfrm>
            <a:off x="4425696" y="3846576"/>
            <a:ext cx="566928" cy="26822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a:t>
            </a:r>
            <a:endParaRPr lang="en-US" sz="1300" dirty="0"/>
          </a:p>
        </p:txBody>
      </p:sp>
      <p:sp>
        <p:nvSpPr>
          <p:cNvPr id="56" name="Text 54"/>
          <p:cNvSpPr txBox="1"/>
          <p:nvPr/>
        </p:nvSpPr>
        <p:spPr>
          <a:xfrm>
            <a:off x="4992624" y="3846576"/>
            <a:ext cx="877824" cy="26822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981</a:t>
            </a:r>
            <a:endParaRPr lang="en-US" sz="1300" dirty="0"/>
          </a:p>
        </p:txBody>
      </p:sp>
      <p:sp>
        <p:nvSpPr>
          <p:cNvPr id="57" name="Text 55"/>
          <p:cNvSpPr txBox="1"/>
          <p:nvPr/>
        </p:nvSpPr>
        <p:spPr>
          <a:xfrm>
            <a:off x="658368" y="4114800"/>
            <a:ext cx="1938528" cy="26822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58" name="Shape 56"/>
          <p:cNvSpPr/>
          <p:nvPr/>
        </p:nvSpPr>
        <p:spPr>
          <a:xfrm>
            <a:off x="2670048" y="4175150"/>
            <a:ext cx="321360" cy="147523"/>
          </a:xfrm>
          <a:prstGeom prst="rect">
            <a:avLst/>
          </a:prstGeom>
          <a:solidFill>
            <a:srgbClr val="C2352F"/>
          </a:solidFill>
          <a:ln/>
        </p:spPr>
      </p:sp>
      <p:sp>
        <p:nvSpPr>
          <p:cNvPr id="59" name="Text 57"/>
          <p:cNvSpPr txBox="1"/>
          <p:nvPr/>
        </p:nvSpPr>
        <p:spPr>
          <a:xfrm>
            <a:off x="3529584" y="4114800"/>
            <a:ext cx="896112" cy="268224"/>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$71,767</a:t>
            </a:r>
            <a:endParaRPr lang="en-US" sz="1300" dirty="0"/>
          </a:p>
        </p:txBody>
      </p:sp>
      <p:sp>
        <p:nvSpPr>
          <p:cNvPr id="60" name="Text 58"/>
          <p:cNvSpPr txBox="1"/>
          <p:nvPr/>
        </p:nvSpPr>
        <p:spPr>
          <a:xfrm>
            <a:off x="4425696" y="4114800"/>
            <a:ext cx="566928" cy="26822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5.2%</a:t>
            </a:r>
            <a:endParaRPr lang="en-US" sz="1300" dirty="0"/>
          </a:p>
        </p:txBody>
      </p:sp>
      <p:sp>
        <p:nvSpPr>
          <p:cNvPr id="61" name="Text 59"/>
          <p:cNvSpPr txBox="1"/>
          <p:nvPr/>
        </p:nvSpPr>
        <p:spPr>
          <a:xfrm>
            <a:off x="4992624" y="4114800"/>
            <a:ext cx="877824" cy="26822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1,059</a:t>
            </a:r>
            <a:endParaRPr lang="en-US" sz="1300" dirty="0"/>
          </a:p>
        </p:txBody>
      </p:sp>
      <p:sp>
        <p:nvSpPr>
          <p:cNvPr id="62" name="Text 60"/>
          <p:cNvSpPr txBox="1"/>
          <p:nvPr/>
        </p:nvSpPr>
        <p:spPr>
          <a:xfrm>
            <a:off x="658368" y="4383024"/>
            <a:ext cx="1938528" cy="26822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63" name="Shape 61"/>
          <p:cNvSpPr/>
          <p:nvPr/>
        </p:nvSpPr>
        <p:spPr>
          <a:xfrm>
            <a:off x="2670048" y="4443374"/>
            <a:ext cx="303740" cy="147523"/>
          </a:xfrm>
          <a:prstGeom prst="rect">
            <a:avLst/>
          </a:prstGeom>
          <a:solidFill>
            <a:srgbClr val="C2352F"/>
          </a:solidFill>
          <a:ln/>
        </p:spPr>
      </p:sp>
      <p:sp>
        <p:nvSpPr>
          <p:cNvPr id="64" name="Text 62"/>
          <p:cNvSpPr txBox="1"/>
          <p:nvPr/>
        </p:nvSpPr>
        <p:spPr>
          <a:xfrm>
            <a:off x="3529584" y="4383024"/>
            <a:ext cx="896112" cy="268224"/>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$67,832</a:t>
            </a:r>
            <a:endParaRPr lang="en-US" sz="1300" dirty="0"/>
          </a:p>
        </p:txBody>
      </p:sp>
      <p:sp>
        <p:nvSpPr>
          <p:cNvPr id="65" name="Text 63"/>
          <p:cNvSpPr txBox="1"/>
          <p:nvPr/>
        </p:nvSpPr>
        <p:spPr>
          <a:xfrm>
            <a:off x="4425696" y="4383024"/>
            <a:ext cx="566928" cy="26822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0.0%</a:t>
            </a:r>
            <a:endParaRPr lang="en-US" sz="1300" dirty="0"/>
          </a:p>
        </p:txBody>
      </p:sp>
      <p:sp>
        <p:nvSpPr>
          <p:cNvPr id="66" name="Text 64"/>
          <p:cNvSpPr txBox="1"/>
          <p:nvPr/>
        </p:nvSpPr>
        <p:spPr>
          <a:xfrm>
            <a:off x="4992624" y="4383024"/>
            <a:ext cx="877824" cy="26822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909</a:t>
            </a:r>
            <a:endParaRPr lang="en-US" sz="1300" dirty="0"/>
          </a:p>
        </p:txBody>
      </p:sp>
      <p:sp>
        <p:nvSpPr>
          <p:cNvPr id="67" name="Text 65"/>
          <p:cNvSpPr txBox="1"/>
          <p:nvPr/>
        </p:nvSpPr>
        <p:spPr>
          <a:xfrm>
            <a:off x="658368" y="4651248"/>
            <a:ext cx="1938528" cy="26822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68" name="Shape 66"/>
          <p:cNvSpPr/>
          <p:nvPr/>
        </p:nvSpPr>
        <p:spPr>
          <a:xfrm>
            <a:off x="2670048" y="4711598"/>
            <a:ext cx="303633" cy="147523"/>
          </a:xfrm>
          <a:prstGeom prst="rect">
            <a:avLst/>
          </a:prstGeom>
          <a:solidFill>
            <a:srgbClr val="C2352F"/>
          </a:solidFill>
          <a:ln/>
        </p:spPr>
      </p:sp>
      <p:sp>
        <p:nvSpPr>
          <p:cNvPr id="69" name="Text 67"/>
          <p:cNvSpPr txBox="1"/>
          <p:nvPr/>
        </p:nvSpPr>
        <p:spPr>
          <a:xfrm>
            <a:off x="3529584" y="4651248"/>
            <a:ext cx="896112" cy="268224"/>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$67,808</a:t>
            </a:r>
            <a:endParaRPr lang="en-US" sz="1300" dirty="0"/>
          </a:p>
        </p:txBody>
      </p:sp>
      <p:sp>
        <p:nvSpPr>
          <p:cNvPr id="70" name="Text 68"/>
          <p:cNvSpPr txBox="1"/>
          <p:nvPr/>
        </p:nvSpPr>
        <p:spPr>
          <a:xfrm>
            <a:off x="4425696" y="4651248"/>
            <a:ext cx="566928" cy="26822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10.2%</a:t>
            </a:r>
            <a:endParaRPr lang="en-US" sz="1300" dirty="0"/>
          </a:p>
        </p:txBody>
      </p:sp>
      <p:sp>
        <p:nvSpPr>
          <p:cNvPr id="71" name="Text 69"/>
          <p:cNvSpPr txBox="1"/>
          <p:nvPr/>
        </p:nvSpPr>
        <p:spPr>
          <a:xfrm>
            <a:off x="4992624" y="4651248"/>
            <a:ext cx="877824" cy="26822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909</a:t>
            </a:r>
            <a:endParaRPr lang="en-US" sz="1300" dirty="0"/>
          </a:p>
        </p:txBody>
      </p:sp>
      <p:sp>
        <p:nvSpPr>
          <p:cNvPr id="72" name="Text 70"/>
          <p:cNvSpPr txBox="1"/>
          <p:nvPr/>
        </p:nvSpPr>
        <p:spPr>
          <a:xfrm>
            <a:off x="658368" y="4919472"/>
            <a:ext cx="1938528" cy="26822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73" name="Shape 71"/>
          <p:cNvSpPr/>
          <p:nvPr/>
        </p:nvSpPr>
        <p:spPr>
          <a:xfrm>
            <a:off x="2670048" y="4979822"/>
            <a:ext cx="251992" cy="147523"/>
          </a:xfrm>
          <a:prstGeom prst="rect">
            <a:avLst/>
          </a:prstGeom>
          <a:solidFill>
            <a:srgbClr val="C2352F"/>
          </a:solidFill>
          <a:ln/>
        </p:spPr>
      </p:sp>
      <p:sp>
        <p:nvSpPr>
          <p:cNvPr id="74" name="Text 72"/>
          <p:cNvSpPr txBox="1"/>
          <p:nvPr/>
        </p:nvSpPr>
        <p:spPr>
          <a:xfrm>
            <a:off x="3529584" y="4919472"/>
            <a:ext cx="896112" cy="268224"/>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$56,275</a:t>
            </a:r>
            <a:endParaRPr lang="en-US" sz="1300" dirty="0"/>
          </a:p>
        </p:txBody>
      </p:sp>
      <p:sp>
        <p:nvSpPr>
          <p:cNvPr id="75" name="Text 73"/>
          <p:cNvSpPr txBox="1"/>
          <p:nvPr/>
        </p:nvSpPr>
        <p:spPr>
          <a:xfrm>
            <a:off x="4425696" y="4919472"/>
            <a:ext cx="566928" cy="26822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0.0%</a:t>
            </a:r>
            <a:endParaRPr lang="en-US" sz="1300" dirty="0"/>
          </a:p>
        </p:txBody>
      </p:sp>
      <p:sp>
        <p:nvSpPr>
          <p:cNvPr id="76" name="Text 74"/>
          <p:cNvSpPr txBox="1"/>
          <p:nvPr/>
        </p:nvSpPr>
        <p:spPr>
          <a:xfrm>
            <a:off x="4992624" y="4919472"/>
            <a:ext cx="877824" cy="26822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754</a:t>
            </a:r>
            <a:endParaRPr lang="en-US" sz="1300" dirty="0"/>
          </a:p>
        </p:txBody>
      </p:sp>
      <p:sp>
        <p:nvSpPr>
          <p:cNvPr id="77" name="Text 75"/>
          <p:cNvSpPr txBox="1"/>
          <p:nvPr/>
        </p:nvSpPr>
        <p:spPr>
          <a:xfrm>
            <a:off x="658368" y="5187696"/>
            <a:ext cx="1938528" cy="26822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78" name="Shape 76"/>
          <p:cNvSpPr/>
          <p:nvPr/>
        </p:nvSpPr>
        <p:spPr>
          <a:xfrm>
            <a:off x="2670048" y="5248046"/>
            <a:ext cx="232442" cy="147523"/>
          </a:xfrm>
          <a:prstGeom prst="rect">
            <a:avLst/>
          </a:prstGeom>
          <a:solidFill>
            <a:srgbClr val="C2352F"/>
          </a:solidFill>
          <a:ln/>
        </p:spPr>
      </p:sp>
      <p:sp>
        <p:nvSpPr>
          <p:cNvPr id="79" name="Text 77"/>
          <p:cNvSpPr txBox="1"/>
          <p:nvPr/>
        </p:nvSpPr>
        <p:spPr>
          <a:xfrm>
            <a:off x="3529584" y="5187696"/>
            <a:ext cx="896112" cy="268224"/>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$51,909</a:t>
            </a:r>
            <a:endParaRPr lang="en-US" sz="1300" dirty="0"/>
          </a:p>
        </p:txBody>
      </p:sp>
      <p:sp>
        <p:nvSpPr>
          <p:cNvPr id="80" name="Text 78"/>
          <p:cNvSpPr txBox="1"/>
          <p:nvPr/>
        </p:nvSpPr>
        <p:spPr>
          <a:xfrm>
            <a:off x="4425696" y="5187696"/>
            <a:ext cx="566928" cy="26822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0.1%</a:t>
            </a:r>
            <a:endParaRPr lang="en-US" sz="1300" dirty="0"/>
          </a:p>
        </p:txBody>
      </p:sp>
      <p:sp>
        <p:nvSpPr>
          <p:cNvPr id="81" name="Text 79"/>
          <p:cNvSpPr txBox="1"/>
          <p:nvPr/>
        </p:nvSpPr>
        <p:spPr>
          <a:xfrm>
            <a:off x="4992624" y="5187696"/>
            <a:ext cx="877824" cy="26822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696</a:t>
            </a:r>
            <a:endParaRPr lang="en-US" sz="1300" dirty="0"/>
          </a:p>
        </p:txBody>
      </p:sp>
      <p:sp>
        <p:nvSpPr>
          <p:cNvPr id="82" name="Text 80"/>
          <p:cNvSpPr txBox="1"/>
          <p:nvPr/>
        </p:nvSpPr>
        <p:spPr>
          <a:xfrm>
            <a:off x="658368" y="5455920"/>
            <a:ext cx="1938528" cy="26822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83" name="Shape 81"/>
          <p:cNvSpPr/>
          <p:nvPr/>
        </p:nvSpPr>
        <p:spPr>
          <a:xfrm>
            <a:off x="2670048" y="5516270"/>
            <a:ext cx="231742" cy="147523"/>
          </a:xfrm>
          <a:prstGeom prst="rect">
            <a:avLst/>
          </a:prstGeom>
          <a:solidFill>
            <a:srgbClr val="C2352F"/>
          </a:solidFill>
          <a:ln/>
        </p:spPr>
      </p:sp>
      <p:sp>
        <p:nvSpPr>
          <p:cNvPr id="84" name="Text 82"/>
          <p:cNvSpPr txBox="1"/>
          <p:nvPr/>
        </p:nvSpPr>
        <p:spPr>
          <a:xfrm>
            <a:off x="3529584" y="5455920"/>
            <a:ext cx="896112" cy="268224"/>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$51,753</a:t>
            </a:r>
            <a:endParaRPr lang="en-US" sz="1300" dirty="0"/>
          </a:p>
        </p:txBody>
      </p:sp>
      <p:sp>
        <p:nvSpPr>
          <p:cNvPr id="85" name="Text 83"/>
          <p:cNvSpPr txBox="1"/>
          <p:nvPr/>
        </p:nvSpPr>
        <p:spPr>
          <a:xfrm>
            <a:off x="4425696" y="5455920"/>
            <a:ext cx="566928" cy="26822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a:t>
            </a:r>
            <a:endParaRPr lang="en-US" sz="1300" dirty="0"/>
          </a:p>
        </p:txBody>
      </p:sp>
      <p:sp>
        <p:nvSpPr>
          <p:cNvPr id="86" name="Text 84"/>
          <p:cNvSpPr txBox="1"/>
          <p:nvPr/>
        </p:nvSpPr>
        <p:spPr>
          <a:xfrm>
            <a:off x="4992624" y="5455920"/>
            <a:ext cx="877824" cy="26822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735</a:t>
            </a:r>
            <a:endParaRPr lang="en-US" sz="1300" dirty="0"/>
          </a:p>
        </p:txBody>
      </p:sp>
      <p:sp>
        <p:nvSpPr>
          <p:cNvPr id="87" name="Text 85"/>
          <p:cNvSpPr txBox="1"/>
          <p:nvPr/>
        </p:nvSpPr>
        <p:spPr>
          <a:xfrm>
            <a:off x="6208776" y="1700784"/>
            <a:ext cx="1938528" cy="26822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88" name="Shape 86"/>
          <p:cNvSpPr/>
          <p:nvPr/>
        </p:nvSpPr>
        <p:spPr>
          <a:xfrm>
            <a:off x="8220456" y="1761134"/>
            <a:ext cx="171351" cy="147523"/>
          </a:xfrm>
          <a:prstGeom prst="rect">
            <a:avLst/>
          </a:prstGeom>
          <a:solidFill>
            <a:srgbClr val="C2352F"/>
          </a:solidFill>
          <a:ln/>
        </p:spPr>
      </p:sp>
      <p:sp>
        <p:nvSpPr>
          <p:cNvPr id="89" name="Text 87"/>
          <p:cNvSpPr txBox="1"/>
          <p:nvPr/>
        </p:nvSpPr>
        <p:spPr>
          <a:xfrm>
            <a:off x="9079992" y="1700784"/>
            <a:ext cx="896112" cy="268224"/>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$38,266</a:t>
            </a:r>
            <a:endParaRPr lang="en-US" sz="1300" dirty="0"/>
          </a:p>
        </p:txBody>
      </p:sp>
      <p:sp>
        <p:nvSpPr>
          <p:cNvPr id="90" name="Text 88"/>
          <p:cNvSpPr txBox="1"/>
          <p:nvPr/>
        </p:nvSpPr>
        <p:spPr>
          <a:xfrm>
            <a:off x="9976104" y="1700784"/>
            <a:ext cx="566928" cy="26822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12.0%</a:t>
            </a:r>
            <a:endParaRPr lang="en-US" sz="1300" dirty="0"/>
          </a:p>
        </p:txBody>
      </p:sp>
      <p:sp>
        <p:nvSpPr>
          <p:cNvPr id="91" name="Text 89"/>
          <p:cNvSpPr txBox="1"/>
          <p:nvPr/>
        </p:nvSpPr>
        <p:spPr>
          <a:xfrm>
            <a:off x="10543032" y="1700784"/>
            <a:ext cx="877824" cy="26822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600</a:t>
            </a:r>
            <a:endParaRPr lang="en-US" sz="1300" dirty="0"/>
          </a:p>
        </p:txBody>
      </p:sp>
      <p:sp>
        <p:nvSpPr>
          <p:cNvPr id="92" name="Text 90"/>
          <p:cNvSpPr txBox="1"/>
          <p:nvPr/>
        </p:nvSpPr>
        <p:spPr>
          <a:xfrm>
            <a:off x="6208776" y="1969008"/>
            <a:ext cx="1938528" cy="26822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93" name="Shape 91"/>
          <p:cNvSpPr/>
          <p:nvPr/>
        </p:nvSpPr>
        <p:spPr>
          <a:xfrm>
            <a:off x="8220456" y="2029358"/>
            <a:ext cx="159786" cy="147523"/>
          </a:xfrm>
          <a:prstGeom prst="rect">
            <a:avLst/>
          </a:prstGeom>
          <a:solidFill>
            <a:srgbClr val="C2352F"/>
          </a:solidFill>
          <a:ln/>
        </p:spPr>
      </p:sp>
      <p:sp>
        <p:nvSpPr>
          <p:cNvPr id="94" name="Text 92"/>
          <p:cNvSpPr txBox="1"/>
          <p:nvPr/>
        </p:nvSpPr>
        <p:spPr>
          <a:xfrm>
            <a:off x="9079992" y="1969008"/>
            <a:ext cx="896112" cy="268224"/>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$35,684</a:t>
            </a:r>
            <a:endParaRPr lang="en-US" sz="1300" dirty="0"/>
          </a:p>
        </p:txBody>
      </p:sp>
      <p:sp>
        <p:nvSpPr>
          <p:cNvPr id="95" name="Text 93"/>
          <p:cNvSpPr txBox="1"/>
          <p:nvPr/>
        </p:nvSpPr>
        <p:spPr>
          <a:xfrm>
            <a:off x="9976104" y="1969008"/>
            <a:ext cx="566928" cy="26822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a:t>
            </a:r>
            <a:endParaRPr lang="en-US" sz="1300" dirty="0"/>
          </a:p>
        </p:txBody>
      </p:sp>
      <p:sp>
        <p:nvSpPr>
          <p:cNvPr id="96" name="Text 94"/>
          <p:cNvSpPr txBox="1"/>
          <p:nvPr/>
        </p:nvSpPr>
        <p:spPr>
          <a:xfrm>
            <a:off x="10543032" y="1969008"/>
            <a:ext cx="877824" cy="26822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615</a:t>
            </a:r>
            <a:endParaRPr lang="en-US" sz="1300" dirty="0"/>
          </a:p>
        </p:txBody>
      </p:sp>
      <p:sp>
        <p:nvSpPr>
          <p:cNvPr id="97" name="Text 95"/>
          <p:cNvSpPr txBox="1"/>
          <p:nvPr/>
        </p:nvSpPr>
        <p:spPr>
          <a:xfrm>
            <a:off x="6208776" y="2237232"/>
            <a:ext cx="1938528" cy="26822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98" name="Shape 96"/>
          <p:cNvSpPr/>
          <p:nvPr/>
        </p:nvSpPr>
        <p:spPr>
          <a:xfrm>
            <a:off x="8220456" y="2297582"/>
            <a:ext cx="138080" cy="147523"/>
          </a:xfrm>
          <a:prstGeom prst="rect">
            <a:avLst/>
          </a:prstGeom>
          <a:solidFill>
            <a:srgbClr val="C2352F"/>
          </a:solidFill>
          <a:ln/>
        </p:spPr>
      </p:sp>
      <p:sp>
        <p:nvSpPr>
          <p:cNvPr id="99" name="Text 97"/>
          <p:cNvSpPr txBox="1"/>
          <p:nvPr/>
        </p:nvSpPr>
        <p:spPr>
          <a:xfrm>
            <a:off x="9079992" y="2237232"/>
            <a:ext cx="896112" cy="268224"/>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$30,836</a:t>
            </a:r>
            <a:endParaRPr lang="en-US" sz="1300" dirty="0"/>
          </a:p>
        </p:txBody>
      </p:sp>
      <p:sp>
        <p:nvSpPr>
          <p:cNvPr id="100" name="Text 98"/>
          <p:cNvSpPr txBox="1"/>
          <p:nvPr/>
        </p:nvSpPr>
        <p:spPr>
          <a:xfrm>
            <a:off x="9976104" y="2237232"/>
            <a:ext cx="566928" cy="26822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a:t>
            </a:r>
            <a:endParaRPr lang="en-US" sz="1300" dirty="0"/>
          </a:p>
        </p:txBody>
      </p:sp>
      <p:sp>
        <p:nvSpPr>
          <p:cNvPr id="101" name="Text 99"/>
          <p:cNvSpPr txBox="1"/>
          <p:nvPr/>
        </p:nvSpPr>
        <p:spPr>
          <a:xfrm>
            <a:off x="10543032" y="2237232"/>
            <a:ext cx="877824" cy="26822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467</a:t>
            </a:r>
            <a:endParaRPr lang="en-US" sz="1300" dirty="0"/>
          </a:p>
        </p:txBody>
      </p:sp>
      <p:sp>
        <p:nvSpPr>
          <p:cNvPr id="102" name="Text 100"/>
          <p:cNvSpPr txBox="1"/>
          <p:nvPr/>
        </p:nvSpPr>
        <p:spPr>
          <a:xfrm>
            <a:off x="6208776" y="2505456"/>
            <a:ext cx="1938528" cy="26822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103" name="Shape 101"/>
          <p:cNvSpPr/>
          <p:nvPr/>
        </p:nvSpPr>
        <p:spPr>
          <a:xfrm>
            <a:off x="8220456" y="2565806"/>
            <a:ext cx="124627" cy="147523"/>
          </a:xfrm>
          <a:prstGeom prst="rect">
            <a:avLst/>
          </a:prstGeom>
          <a:solidFill>
            <a:srgbClr val="C2352F"/>
          </a:solidFill>
          <a:ln/>
        </p:spPr>
      </p:sp>
      <p:sp>
        <p:nvSpPr>
          <p:cNvPr id="104" name="Text 102"/>
          <p:cNvSpPr txBox="1"/>
          <p:nvPr/>
        </p:nvSpPr>
        <p:spPr>
          <a:xfrm>
            <a:off x="9079992" y="2505456"/>
            <a:ext cx="896112" cy="268224"/>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$27,832</a:t>
            </a:r>
            <a:endParaRPr lang="en-US" sz="1300" dirty="0"/>
          </a:p>
        </p:txBody>
      </p:sp>
      <p:sp>
        <p:nvSpPr>
          <p:cNvPr id="105" name="Text 103"/>
          <p:cNvSpPr txBox="1"/>
          <p:nvPr/>
        </p:nvSpPr>
        <p:spPr>
          <a:xfrm>
            <a:off x="9976104" y="2505456"/>
            <a:ext cx="566928" cy="26822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0.4%</a:t>
            </a:r>
            <a:endParaRPr lang="en-US" sz="1300" dirty="0"/>
          </a:p>
        </p:txBody>
      </p:sp>
      <p:sp>
        <p:nvSpPr>
          <p:cNvPr id="106" name="Text 104"/>
          <p:cNvSpPr txBox="1"/>
          <p:nvPr/>
        </p:nvSpPr>
        <p:spPr>
          <a:xfrm>
            <a:off x="10543032" y="2505456"/>
            <a:ext cx="877824" cy="26822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373</a:t>
            </a:r>
            <a:endParaRPr lang="en-US" sz="1300" dirty="0"/>
          </a:p>
        </p:txBody>
      </p:sp>
      <p:sp>
        <p:nvSpPr>
          <p:cNvPr id="107" name="Text 105"/>
          <p:cNvSpPr txBox="1"/>
          <p:nvPr/>
        </p:nvSpPr>
        <p:spPr>
          <a:xfrm>
            <a:off x="6208776" y="2773680"/>
            <a:ext cx="1938528" cy="26822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108" name="Shape 106"/>
          <p:cNvSpPr/>
          <p:nvPr/>
        </p:nvSpPr>
        <p:spPr>
          <a:xfrm>
            <a:off x="8220456" y="2834030"/>
            <a:ext cx="122580" cy="147523"/>
          </a:xfrm>
          <a:prstGeom prst="rect">
            <a:avLst/>
          </a:prstGeom>
          <a:solidFill>
            <a:srgbClr val="C2352F"/>
          </a:solidFill>
          <a:ln/>
        </p:spPr>
      </p:sp>
      <p:sp>
        <p:nvSpPr>
          <p:cNvPr id="109" name="Text 107"/>
          <p:cNvSpPr txBox="1"/>
          <p:nvPr/>
        </p:nvSpPr>
        <p:spPr>
          <a:xfrm>
            <a:off x="9079992" y="2773680"/>
            <a:ext cx="896112" cy="268224"/>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$27,375</a:t>
            </a:r>
            <a:endParaRPr lang="en-US" sz="1300" dirty="0"/>
          </a:p>
        </p:txBody>
      </p:sp>
      <p:sp>
        <p:nvSpPr>
          <p:cNvPr id="110" name="Text 108"/>
          <p:cNvSpPr txBox="1"/>
          <p:nvPr/>
        </p:nvSpPr>
        <p:spPr>
          <a:xfrm>
            <a:off x="9976104" y="2773680"/>
            <a:ext cx="566928" cy="26822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8.2%</a:t>
            </a:r>
            <a:endParaRPr lang="en-US" sz="1300" dirty="0"/>
          </a:p>
        </p:txBody>
      </p:sp>
      <p:sp>
        <p:nvSpPr>
          <p:cNvPr id="111" name="Text 109"/>
          <p:cNvSpPr txBox="1"/>
          <p:nvPr/>
        </p:nvSpPr>
        <p:spPr>
          <a:xfrm>
            <a:off x="10543032" y="2773680"/>
            <a:ext cx="877824" cy="26822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460</a:t>
            </a:r>
            <a:endParaRPr lang="en-US" sz="1300" dirty="0"/>
          </a:p>
        </p:txBody>
      </p:sp>
      <p:sp>
        <p:nvSpPr>
          <p:cNvPr id="112" name="Text 110"/>
          <p:cNvSpPr txBox="1"/>
          <p:nvPr/>
        </p:nvSpPr>
        <p:spPr>
          <a:xfrm>
            <a:off x="6208776" y="3041904"/>
            <a:ext cx="1938528" cy="26822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113" name="Shape 111"/>
          <p:cNvSpPr/>
          <p:nvPr/>
        </p:nvSpPr>
        <p:spPr>
          <a:xfrm>
            <a:off x="8220456" y="3102254"/>
            <a:ext cx="120258" cy="147523"/>
          </a:xfrm>
          <a:prstGeom prst="rect">
            <a:avLst/>
          </a:prstGeom>
          <a:solidFill>
            <a:srgbClr val="C2352F"/>
          </a:solidFill>
          <a:ln/>
        </p:spPr>
      </p:sp>
      <p:sp>
        <p:nvSpPr>
          <p:cNvPr id="114" name="Text 112"/>
          <p:cNvSpPr txBox="1"/>
          <p:nvPr/>
        </p:nvSpPr>
        <p:spPr>
          <a:xfrm>
            <a:off x="9079992" y="3041904"/>
            <a:ext cx="896112" cy="268224"/>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$26,856</a:t>
            </a:r>
            <a:endParaRPr lang="en-US" sz="1300" dirty="0"/>
          </a:p>
        </p:txBody>
      </p:sp>
      <p:sp>
        <p:nvSpPr>
          <p:cNvPr id="115" name="Text 113"/>
          <p:cNvSpPr txBox="1"/>
          <p:nvPr/>
        </p:nvSpPr>
        <p:spPr>
          <a:xfrm>
            <a:off x="9976104" y="3041904"/>
            <a:ext cx="566928" cy="26822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7.7%</a:t>
            </a:r>
            <a:endParaRPr lang="en-US" sz="1300" dirty="0"/>
          </a:p>
        </p:txBody>
      </p:sp>
      <p:sp>
        <p:nvSpPr>
          <p:cNvPr id="116" name="Text 114"/>
          <p:cNvSpPr txBox="1"/>
          <p:nvPr/>
        </p:nvSpPr>
        <p:spPr>
          <a:xfrm>
            <a:off x="10543032" y="3041904"/>
            <a:ext cx="877824" cy="26822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300</a:t>
            </a:r>
            <a:endParaRPr lang="en-US" sz="1300" dirty="0"/>
          </a:p>
        </p:txBody>
      </p:sp>
      <p:sp>
        <p:nvSpPr>
          <p:cNvPr id="117" name="Text 115"/>
          <p:cNvSpPr txBox="1"/>
          <p:nvPr/>
        </p:nvSpPr>
        <p:spPr>
          <a:xfrm>
            <a:off x="6208776" y="3310128"/>
            <a:ext cx="1938528" cy="26822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118" name="Shape 116"/>
          <p:cNvSpPr/>
          <p:nvPr/>
        </p:nvSpPr>
        <p:spPr>
          <a:xfrm>
            <a:off x="8220456" y="3370478"/>
            <a:ext cx="93422" cy="147523"/>
          </a:xfrm>
          <a:prstGeom prst="rect">
            <a:avLst/>
          </a:prstGeom>
          <a:solidFill>
            <a:srgbClr val="C2352F"/>
          </a:solidFill>
          <a:ln/>
        </p:spPr>
      </p:sp>
      <p:sp>
        <p:nvSpPr>
          <p:cNvPr id="119" name="Text 117"/>
          <p:cNvSpPr txBox="1"/>
          <p:nvPr/>
        </p:nvSpPr>
        <p:spPr>
          <a:xfrm>
            <a:off x="9079992" y="3310128"/>
            <a:ext cx="896112" cy="268224"/>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$20,863</a:t>
            </a:r>
            <a:endParaRPr lang="en-US" sz="1300" dirty="0"/>
          </a:p>
        </p:txBody>
      </p:sp>
      <p:sp>
        <p:nvSpPr>
          <p:cNvPr id="120" name="Text 118"/>
          <p:cNvSpPr txBox="1"/>
          <p:nvPr/>
        </p:nvSpPr>
        <p:spPr>
          <a:xfrm>
            <a:off x="9976104" y="3310128"/>
            <a:ext cx="566928" cy="26822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9.0%</a:t>
            </a:r>
            <a:endParaRPr lang="en-US" sz="1300" dirty="0"/>
          </a:p>
        </p:txBody>
      </p:sp>
      <p:sp>
        <p:nvSpPr>
          <p:cNvPr id="121" name="Text 119"/>
          <p:cNvSpPr txBox="1"/>
          <p:nvPr/>
        </p:nvSpPr>
        <p:spPr>
          <a:xfrm>
            <a:off x="10543032" y="3310128"/>
            <a:ext cx="877824" cy="26822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496</a:t>
            </a:r>
            <a:endParaRPr lang="en-US" sz="1300" dirty="0"/>
          </a:p>
        </p:txBody>
      </p:sp>
      <p:sp>
        <p:nvSpPr>
          <p:cNvPr id="122" name="Text 120"/>
          <p:cNvSpPr txBox="1"/>
          <p:nvPr/>
        </p:nvSpPr>
        <p:spPr>
          <a:xfrm>
            <a:off x="6208776" y="3578352"/>
            <a:ext cx="1938528" cy="26822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123" name="Shape 121"/>
          <p:cNvSpPr/>
          <p:nvPr/>
        </p:nvSpPr>
        <p:spPr>
          <a:xfrm>
            <a:off x="8220456" y="3638702"/>
            <a:ext cx="82255" cy="147523"/>
          </a:xfrm>
          <a:prstGeom prst="rect">
            <a:avLst/>
          </a:prstGeom>
          <a:solidFill>
            <a:srgbClr val="C2352F"/>
          </a:solidFill>
          <a:ln/>
        </p:spPr>
      </p:sp>
      <p:sp>
        <p:nvSpPr>
          <p:cNvPr id="124" name="Text 122"/>
          <p:cNvSpPr txBox="1"/>
          <p:nvPr/>
        </p:nvSpPr>
        <p:spPr>
          <a:xfrm>
            <a:off x="9079992" y="3578352"/>
            <a:ext cx="896112" cy="268224"/>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$18,369</a:t>
            </a:r>
            <a:endParaRPr lang="en-US" sz="1300" dirty="0"/>
          </a:p>
        </p:txBody>
      </p:sp>
      <p:sp>
        <p:nvSpPr>
          <p:cNvPr id="125" name="Text 123"/>
          <p:cNvSpPr txBox="1"/>
          <p:nvPr/>
        </p:nvSpPr>
        <p:spPr>
          <a:xfrm>
            <a:off x="9976104" y="3578352"/>
            <a:ext cx="566928" cy="26822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7.7%</a:t>
            </a:r>
            <a:endParaRPr lang="en-US" sz="1300" dirty="0"/>
          </a:p>
        </p:txBody>
      </p:sp>
      <p:sp>
        <p:nvSpPr>
          <p:cNvPr id="126" name="Text 124"/>
          <p:cNvSpPr txBox="1"/>
          <p:nvPr/>
        </p:nvSpPr>
        <p:spPr>
          <a:xfrm>
            <a:off x="10543032" y="3578352"/>
            <a:ext cx="877824" cy="26822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380</a:t>
            </a:r>
            <a:endParaRPr lang="en-US" sz="1300" dirty="0"/>
          </a:p>
        </p:txBody>
      </p:sp>
      <p:sp>
        <p:nvSpPr>
          <p:cNvPr id="127" name="Text 125"/>
          <p:cNvSpPr txBox="1"/>
          <p:nvPr/>
        </p:nvSpPr>
        <p:spPr>
          <a:xfrm>
            <a:off x="6208776" y="3846576"/>
            <a:ext cx="1938528" cy="26822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128" name="Shape 126"/>
          <p:cNvSpPr/>
          <p:nvPr/>
        </p:nvSpPr>
        <p:spPr>
          <a:xfrm>
            <a:off x="8220456" y="3906926"/>
            <a:ext cx="63920" cy="147523"/>
          </a:xfrm>
          <a:prstGeom prst="rect">
            <a:avLst/>
          </a:prstGeom>
          <a:solidFill>
            <a:srgbClr val="C2352F"/>
          </a:solidFill>
          <a:ln/>
        </p:spPr>
      </p:sp>
      <p:sp>
        <p:nvSpPr>
          <p:cNvPr id="129" name="Text 127"/>
          <p:cNvSpPr txBox="1"/>
          <p:nvPr/>
        </p:nvSpPr>
        <p:spPr>
          <a:xfrm>
            <a:off x="9079992" y="3846576"/>
            <a:ext cx="896112" cy="268224"/>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$14,275</a:t>
            </a:r>
            <a:endParaRPr lang="en-US" sz="1300" dirty="0"/>
          </a:p>
        </p:txBody>
      </p:sp>
      <p:sp>
        <p:nvSpPr>
          <p:cNvPr id="130" name="Text 128"/>
          <p:cNvSpPr txBox="1"/>
          <p:nvPr/>
        </p:nvSpPr>
        <p:spPr>
          <a:xfrm>
            <a:off x="9976104" y="3846576"/>
            <a:ext cx="566928" cy="26822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5.9%</a:t>
            </a:r>
            <a:endParaRPr lang="en-US" sz="1300" dirty="0"/>
          </a:p>
        </p:txBody>
      </p:sp>
      <p:sp>
        <p:nvSpPr>
          <p:cNvPr id="131" name="Text 129"/>
          <p:cNvSpPr txBox="1"/>
          <p:nvPr/>
        </p:nvSpPr>
        <p:spPr>
          <a:xfrm>
            <a:off x="10543032" y="3846576"/>
            <a:ext cx="877824" cy="26822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643</a:t>
            </a:r>
            <a:endParaRPr lang="en-US" sz="1300" dirty="0"/>
          </a:p>
        </p:txBody>
      </p:sp>
      <p:sp>
        <p:nvSpPr>
          <p:cNvPr id="132" name="Text 130"/>
          <p:cNvSpPr txBox="1"/>
          <p:nvPr/>
        </p:nvSpPr>
        <p:spPr>
          <a:xfrm>
            <a:off x="6208776" y="4114800"/>
            <a:ext cx="1938528" cy="26822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133" name="Shape 131"/>
          <p:cNvSpPr/>
          <p:nvPr/>
        </p:nvSpPr>
        <p:spPr>
          <a:xfrm>
            <a:off x="8220456" y="4175150"/>
            <a:ext cx="48675" cy="147523"/>
          </a:xfrm>
          <a:prstGeom prst="rect">
            <a:avLst/>
          </a:prstGeom>
          <a:solidFill>
            <a:srgbClr val="C2352F"/>
          </a:solidFill>
          <a:ln/>
        </p:spPr>
      </p:sp>
      <p:sp>
        <p:nvSpPr>
          <p:cNvPr id="134" name="Text 132"/>
          <p:cNvSpPr txBox="1"/>
          <p:nvPr/>
        </p:nvSpPr>
        <p:spPr>
          <a:xfrm>
            <a:off x="9079992" y="4114800"/>
            <a:ext cx="896112" cy="268224"/>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$10,870</a:t>
            </a:r>
            <a:endParaRPr lang="en-US" sz="1300" dirty="0"/>
          </a:p>
        </p:txBody>
      </p:sp>
      <p:sp>
        <p:nvSpPr>
          <p:cNvPr id="135" name="Text 133"/>
          <p:cNvSpPr txBox="1"/>
          <p:nvPr/>
        </p:nvSpPr>
        <p:spPr>
          <a:xfrm>
            <a:off x="9976104" y="4114800"/>
            <a:ext cx="566928" cy="26822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13.1%</a:t>
            </a:r>
            <a:endParaRPr lang="en-US" sz="1300" dirty="0"/>
          </a:p>
        </p:txBody>
      </p:sp>
      <p:sp>
        <p:nvSpPr>
          <p:cNvPr id="136" name="Text 134"/>
          <p:cNvSpPr txBox="1"/>
          <p:nvPr/>
        </p:nvSpPr>
        <p:spPr>
          <a:xfrm>
            <a:off x="10543032" y="4114800"/>
            <a:ext cx="877824" cy="26822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138</a:t>
            </a:r>
            <a:endParaRPr lang="en-US" sz="1300" dirty="0"/>
          </a:p>
        </p:txBody>
      </p:sp>
      <p:sp>
        <p:nvSpPr>
          <p:cNvPr id="137" name="Text 135"/>
          <p:cNvSpPr txBox="1"/>
          <p:nvPr/>
        </p:nvSpPr>
        <p:spPr>
          <a:xfrm>
            <a:off x="6208776" y="4383024"/>
            <a:ext cx="1938528" cy="26822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138" name="Shape 136"/>
          <p:cNvSpPr/>
          <p:nvPr/>
        </p:nvSpPr>
        <p:spPr>
          <a:xfrm>
            <a:off x="8220456" y="4443374"/>
            <a:ext cx="33634" cy="147523"/>
          </a:xfrm>
          <a:prstGeom prst="rect">
            <a:avLst/>
          </a:prstGeom>
          <a:solidFill>
            <a:srgbClr val="C2352F"/>
          </a:solidFill>
          <a:ln/>
        </p:spPr>
      </p:sp>
      <p:sp>
        <p:nvSpPr>
          <p:cNvPr id="139" name="Text 137"/>
          <p:cNvSpPr txBox="1"/>
          <p:nvPr/>
        </p:nvSpPr>
        <p:spPr>
          <a:xfrm>
            <a:off x="9079992" y="4383024"/>
            <a:ext cx="896112" cy="268224"/>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$7,511</a:t>
            </a:r>
            <a:endParaRPr lang="en-US" sz="1300" dirty="0"/>
          </a:p>
        </p:txBody>
      </p:sp>
      <p:sp>
        <p:nvSpPr>
          <p:cNvPr id="140" name="Text 138"/>
          <p:cNvSpPr txBox="1"/>
          <p:nvPr/>
        </p:nvSpPr>
        <p:spPr>
          <a:xfrm>
            <a:off x="9976104" y="4383024"/>
            <a:ext cx="566928" cy="26822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11.7%</a:t>
            </a:r>
            <a:endParaRPr lang="en-US" sz="1300" dirty="0"/>
          </a:p>
        </p:txBody>
      </p:sp>
      <p:sp>
        <p:nvSpPr>
          <p:cNvPr id="141" name="Text 139"/>
          <p:cNvSpPr txBox="1"/>
          <p:nvPr/>
        </p:nvSpPr>
        <p:spPr>
          <a:xfrm>
            <a:off x="10543032" y="4383024"/>
            <a:ext cx="877824" cy="26822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148</a:t>
            </a:r>
            <a:endParaRPr lang="en-US" sz="1300" dirty="0"/>
          </a:p>
        </p:txBody>
      </p:sp>
      <p:sp>
        <p:nvSpPr>
          <p:cNvPr id="142" name="Text 140"/>
          <p:cNvSpPr txBox="1"/>
          <p:nvPr/>
        </p:nvSpPr>
        <p:spPr>
          <a:xfrm>
            <a:off x="6208776" y="4651248"/>
            <a:ext cx="1938528" cy="26822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43" name="Shape 141"/>
          <p:cNvSpPr/>
          <p:nvPr/>
        </p:nvSpPr>
        <p:spPr>
          <a:xfrm>
            <a:off x="8220456" y="4711598"/>
            <a:ext cx="26275" cy="147523"/>
          </a:xfrm>
          <a:prstGeom prst="rect">
            <a:avLst/>
          </a:prstGeom>
          <a:solidFill>
            <a:srgbClr val="C2352F"/>
          </a:solidFill>
          <a:ln/>
        </p:spPr>
      </p:sp>
      <p:sp>
        <p:nvSpPr>
          <p:cNvPr id="144" name="Text 142"/>
          <p:cNvSpPr txBox="1"/>
          <p:nvPr/>
        </p:nvSpPr>
        <p:spPr>
          <a:xfrm>
            <a:off x="9079992" y="4651248"/>
            <a:ext cx="896112" cy="268224"/>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$5,868</a:t>
            </a:r>
            <a:endParaRPr lang="en-US" sz="1300" dirty="0"/>
          </a:p>
        </p:txBody>
      </p:sp>
      <p:sp>
        <p:nvSpPr>
          <p:cNvPr id="145" name="Text 143"/>
          <p:cNvSpPr txBox="1"/>
          <p:nvPr/>
        </p:nvSpPr>
        <p:spPr>
          <a:xfrm>
            <a:off x="9976104" y="4651248"/>
            <a:ext cx="566928" cy="26822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13.5%</a:t>
            </a:r>
            <a:endParaRPr lang="en-US" sz="1300" dirty="0"/>
          </a:p>
        </p:txBody>
      </p:sp>
      <p:sp>
        <p:nvSpPr>
          <p:cNvPr id="146" name="Text 144"/>
          <p:cNvSpPr txBox="1"/>
          <p:nvPr/>
        </p:nvSpPr>
        <p:spPr>
          <a:xfrm>
            <a:off x="10543032" y="4651248"/>
            <a:ext cx="877824" cy="26822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39</a:t>
            </a:r>
            <a:endParaRPr lang="en-US" sz="1300" dirty="0"/>
          </a:p>
        </p:txBody>
      </p:sp>
      <p:sp>
        <p:nvSpPr>
          <p:cNvPr id="147" name="Text 145"/>
          <p:cNvSpPr txBox="1"/>
          <p:nvPr/>
        </p:nvSpPr>
        <p:spPr>
          <a:xfrm>
            <a:off x="6208776" y="4919472"/>
            <a:ext cx="1938528" cy="26822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148" name="Shape 146"/>
          <p:cNvSpPr/>
          <p:nvPr/>
        </p:nvSpPr>
        <p:spPr>
          <a:xfrm>
            <a:off x="8220456" y="4979822"/>
            <a:ext cx="18288" cy="147523"/>
          </a:xfrm>
          <a:prstGeom prst="rect">
            <a:avLst/>
          </a:prstGeom>
          <a:solidFill>
            <a:srgbClr val="C2352F"/>
          </a:solidFill>
          <a:ln/>
        </p:spPr>
      </p:sp>
      <p:sp>
        <p:nvSpPr>
          <p:cNvPr id="149" name="Text 147"/>
          <p:cNvSpPr txBox="1"/>
          <p:nvPr/>
        </p:nvSpPr>
        <p:spPr>
          <a:xfrm>
            <a:off x="9079992" y="4919472"/>
            <a:ext cx="896112" cy="268224"/>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$2,765</a:t>
            </a:r>
            <a:endParaRPr lang="en-US" sz="1300" dirty="0"/>
          </a:p>
        </p:txBody>
      </p:sp>
      <p:sp>
        <p:nvSpPr>
          <p:cNvPr id="150" name="Text 148"/>
          <p:cNvSpPr txBox="1"/>
          <p:nvPr/>
        </p:nvSpPr>
        <p:spPr>
          <a:xfrm>
            <a:off x="9976104" y="4919472"/>
            <a:ext cx="566928" cy="26822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14.1%</a:t>
            </a:r>
            <a:endParaRPr lang="en-US" sz="1300" dirty="0"/>
          </a:p>
        </p:txBody>
      </p:sp>
      <p:sp>
        <p:nvSpPr>
          <p:cNvPr id="151" name="Text 149"/>
          <p:cNvSpPr txBox="1"/>
          <p:nvPr/>
        </p:nvSpPr>
        <p:spPr>
          <a:xfrm>
            <a:off x="10543032" y="4919472"/>
            <a:ext cx="877824" cy="26822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44</a:t>
            </a:r>
            <a:endParaRPr lang="en-US" sz="1300" dirty="0"/>
          </a:p>
        </p:txBody>
      </p:sp>
      <p:sp>
        <p:nvSpPr>
          <p:cNvPr id="152" name="Text 150"/>
          <p:cNvSpPr txBox="1"/>
          <p:nvPr/>
        </p:nvSpPr>
        <p:spPr>
          <a:xfrm>
            <a:off x="6208776" y="5187696"/>
            <a:ext cx="1938528" cy="26822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153" name="Shape 151"/>
          <p:cNvSpPr/>
          <p:nvPr/>
        </p:nvSpPr>
        <p:spPr>
          <a:xfrm>
            <a:off x="8220456" y="5248046"/>
            <a:ext cx="18288" cy="147523"/>
          </a:xfrm>
          <a:prstGeom prst="rect">
            <a:avLst/>
          </a:prstGeom>
          <a:solidFill>
            <a:srgbClr val="C2352F"/>
          </a:solidFill>
          <a:ln/>
        </p:spPr>
      </p:sp>
      <p:sp>
        <p:nvSpPr>
          <p:cNvPr id="154" name="Text 152"/>
          <p:cNvSpPr txBox="1"/>
          <p:nvPr/>
        </p:nvSpPr>
        <p:spPr>
          <a:xfrm>
            <a:off x="9079992" y="5187696"/>
            <a:ext cx="896112" cy="268224"/>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$34</a:t>
            </a:r>
            <a:endParaRPr lang="en-US" sz="1300" dirty="0"/>
          </a:p>
        </p:txBody>
      </p:sp>
      <p:sp>
        <p:nvSpPr>
          <p:cNvPr id="155" name="Text 153"/>
          <p:cNvSpPr txBox="1"/>
          <p:nvPr/>
        </p:nvSpPr>
        <p:spPr>
          <a:xfrm>
            <a:off x="9976104" y="5187696"/>
            <a:ext cx="566928" cy="26822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14.9%</a:t>
            </a:r>
            <a:endParaRPr lang="en-US" sz="1300" dirty="0"/>
          </a:p>
        </p:txBody>
      </p:sp>
      <p:sp>
        <p:nvSpPr>
          <p:cNvPr id="156" name="Text 154"/>
          <p:cNvSpPr txBox="1"/>
          <p:nvPr/>
        </p:nvSpPr>
        <p:spPr>
          <a:xfrm>
            <a:off x="10543032" y="5187696"/>
            <a:ext cx="877824" cy="26822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a:t>
            </a:r>
            <a:endParaRPr lang="en-US" sz="1300" dirty="0"/>
          </a:p>
        </p:txBody>
      </p:sp>
      <p:sp>
        <p:nvSpPr>
          <p:cNvPr id="157" name="Shape 155"/>
          <p:cNvSpPr/>
          <p:nvPr/>
        </p:nvSpPr>
        <p:spPr>
          <a:xfrm>
            <a:off x="457200" y="5961888"/>
            <a:ext cx="11274552" cy="548640"/>
          </a:xfrm>
          <a:prstGeom prst="rect">
            <a:avLst/>
          </a:prstGeom>
          <a:solidFill>
            <a:srgbClr val="FBEBEA"/>
          </a:solidFill>
          <a:ln/>
        </p:spPr>
      </p:sp>
      <p:sp>
        <p:nvSpPr>
          <p:cNvPr id="158" name="Text 156"/>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29 stores under 15% leave $1,664,385 a year: 26,062 services. TOYOTA SPOKANE has the most at $179,701.</a:t>
            </a:r>
            <a:endParaRPr lang="en-US" sz="1600" dirty="0"/>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Brake Fluid Missed Opportunity</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3529584" y="1316736"/>
            <a:ext cx="896112"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Gross/yr</a:t>
            </a:r>
            <a:endParaRPr lang="en-US" sz="1400" dirty="0"/>
          </a:p>
        </p:txBody>
      </p:sp>
      <p:sp>
        <p:nvSpPr>
          <p:cNvPr id="7" name="Text 5"/>
          <p:cNvSpPr txBox="1"/>
          <p:nvPr/>
        </p:nvSpPr>
        <p:spPr>
          <a:xfrm>
            <a:off x="4425696" y="1316736"/>
            <a:ext cx="56692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Rate</a:t>
            </a:r>
            <a:endParaRPr lang="en-US" sz="1400" dirty="0"/>
          </a:p>
        </p:txBody>
      </p:sp>
      <p:sp>
        <p:nvSpPr>
          <p:cNvPr id="8" name="Text 6"/>
          <p:cNvSpPr txBox="1"/>
          <p:nvPr/>
        </p:nvSpPr>
        <p:spPr>
          <a:xfrm>
            <a:off x="4992624" y="1316736"/>
            <a:ext cx="877824"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Services</a:t>
            </a:r>
            <a:endParaRPr lang="en-US" sz="1400" dirty="0"/>
          </a:p>
        </p:txBody>
      </p:sp>
      <p:sp>
        <p:nvSpPr>
          <p:cNvPr id="9" name="Text 7"/>
          <p:cNvSpPr txBox="1"/>
          <p:nvPr/>
        </p:nvSpPr>
        <p:spPr>
          <a:xfrm>
            <a:off x="9079992" y="1316736"/>
            <a:ext cx="896112"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Gross/yr</a:t>
            </a:r>
            <a:endParaRPr lang="en-US" sz="1400" dirty="0"/>
          </a:p>
        </p:txBody>
      </p:sp>
      <p:sp>
        <p:nvSpPr>
          <p:cNvPr id="10" name="Text 8"/>
          <p:cNvSpPr txBox="1"/>
          <p:nvPr/>
        </p:nvSpPr>
        <p:spPr>
          <a:xfrm>
            <a:off x="9976104" y="1316736"/>
            <a:ext cx="56692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Rate</a:t>
            </a:r>
            <a:endParaRPr lang="en-US" sz="1400" dirty="0"/>
          </a:p>
        </p:txBody>
      </p:sp>
      <p:sp>
        <p:nvSpPr>
          <p:cNvPr id="11" name="Text 9"/>
          <p:cNvSpPr txBox="1"/>
          <p:nvPr/>
        </p:nvSpPr>
        <p:spPr>
          <a:xfrm>
            <a:off x="10543032" y="1316736"/>
            <a:ext cx="877824"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Services</a:t>
            </a:r>
            <a:endParaRPr lang="en-US" sz="1400" dirty="0"/>
          </a:p>
        </p:txBody>
      </p:sp>
      <p:sp>
        <p:nvSpPr>
          <p:cNvPr id="12" name="Text 10"/>
          <p:cNvSpPr txBox="1"/>
          <p:nvPr/>
        </p:nvSpPr>
        <p:spPr>
          <a:xfrm>
            <a:off x="658368" y="1700784"/>
            <a:ext cx="1938528" cy="36576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13" name="Shape 11"/>
          <p:cNvSpPr/>
          <p:nvPr/>
        </p:nvSpPr>
        <p:spPr>
          <a:xfrm>
            <a:off x="2670048" y="1783080"/>
            <a:ext cx="804672" cy="201168"/>
          </a:xfrm>
          <a:prstGeom prst="rect">
            <a:avLst/>
          </a:prstGeom>
          <a:solidFill>
            <a:srgbClr val="C2352F"/>
          </a:solidFill>
          <a:ln/>
        </p:spPr>
      </p:sp>
      <p:sp>
        <p:nvSpPr>
          <p:cNvPr id="14" name="Text 12"/>
          <p:cNvSpPr txBox="1"/>
          <p:nvPr/>
        </p:nvSpPr>
        <p:spPr>
          <a:xfrm>
            <a:off x="3529584" y="1700784"/>
            <a:ext cx="896112" cy="36576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$150,836</a:t>
            </a:r>
            <a:endParaRPr lang="en-US" sz="1300" dirty="0"/>
          </a:p>
        </p:txBody>
      </p:sp>
      <p:sp>
        <p:nvSpPr>
          <p:cNvPr id="15" name="Text 13"/>
          <p:cNvSpPr txBox="1"/>
          <p:nvPr/>
        </p:nvSpPr>
        <p:spPr>
          <a:xfrm>
            <a:off x="4425696" y="1700784"/>
            <a:ext cx="566928"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5.7%</a:t>
            </a:r>
            <a:endParaRPr lang="en-US" sz="1300" dirty="0"/>
          </a:p>
        </p:txBody>
      </p:sp>
      <p:sp>
        <p:nvSpPr>
          <p:cNvPr id="16" name="Text 14"/>
          <p:cNvSpPr txBox="1"/>
          <p:nvPr/>
        </p:nvSpPr>
        <p:spPr>
          <a:xfrm>
            <a:off x="4992624" y="1700784"/>
            <a:ext cx="877824"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1,093</a:t>
            </a:r>
            <a:endParaRPr lang="en-US" sz="1300" dirty="0"/>
          </a:p>
        </p:txBody>
      </p:sp>
      <p:sp>
        <p:nvSpPr>
          <p:cNvPr id="17" name="Text 15"/>
          <p:cNvSpPr txBox="1"/>
          <p:nvPr/>
        </p:nvSpPr>
        <p:spPr>
          <a:xfrm>
            <a:off x="658368" y="2066544"/>
            <a:ext cx="1938528" cy="36576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18" name="Shape 16"/>
          <p:cNvSpPr/>
          <p:nvPr/>
        </p:nvSpPr>
        <p:spPr>
          <a:xfrm>
            <a:off x="2670048" y="2148840"/>
            <a:ext cx="426590" cy="201168"/>
          </a:xfrm>
          <a:prstGeom prst="rect">
            <a:avLst/>
          </a:prstGeom>
          <a:solidFill>
            <a:srgbClr val="C2352F"/>
          </a:solidFill>
          <a:ln/>
        </p:spPr>
      </p:sp>
      <p:sp>
        <p:nvSpPr>
          <p:cNvPr id="19" name="Text 17"/>
          <p:cNvSpPr txBox="1"/>
          <p:nvPr/>
        </p:nvSpPr>
        <p:spPr>
          <a:xfrm>
            <a:off x="3529584" y="2066544"/>
            <a:ext cx="896112" cy="36576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$79,964</a:t>
            </a:r>
            <a:endParaRPr lang="en-US" sz="1300" dirty="0"/>
          </a:p>
        </p:txBody>
      </p:sp>
      <p:sp>
        <p:nvSpPr>
          <p:cNvPr id="20" name="Text 18"/>
          <p:cNvSpPr txBox="1"/>
          <p:nvPr/>
        </p:nvSpPr>
        <p:spPr>
          <a:xfrm>
            <a:off x="4425696" y="2066544"/>
            <a:ext cx="566928"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7.0%</a:t>
            </a:r>
            <a:endParaRPr lang="en-US" sz="1300" dirty="0"/>
          </a:p>
        </p:txBody>
      </p:sp>
      <p:sp>
        <p:nvSpPr>
          <p:cNvPr id="21" name="Text 19"/>
          <p:cNvSpPr txBox="1"/>
          <p:nvPr/>
        </p:nvSpPr>
        <p:spPr>
          <a:xfrm>
            <a:off x="4992624" y="2066544"/>
            <a:ext cx="877824"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683</a:t>
            </a:r>
            <a:endParaRPr lang="en-US" sz="1300" dirty="0"/>
          </a:p>
        </p:txBody>
      </p:sp>
      <p:sp>
        <p:nvSpPr>
          <p:cNvPr id="22" name="Text 20"/>
          <p:cNvSpPr txBox="1"/>
          <p:nvPr/>
        </p:nvSpPr>
        <p:spPr>
          <a:xfrm>
            <a:off x="658368" y="2432304"/>
            <a:ext cx="1938528" cy="36576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23" name="Shape 21"/>
          <p:cNvSpPr/>
          <p:nvPr/>
        </p:nvSpPr>
        <p:spPr>
          <a:xfrm>
            <a:off x="2670048" y="2514600"/>
            <a:ext cx="415637" cy="201168"/>
          </a:xfrm>
          <a:prstGeom prst="rect">
            <a:avLst/>
          </a:prstGeom>
          <a:solidFill>
            <a:srgbClr val="C2352F"/>
          </a:solidFill>
          <a:ln/>
        </p:spPr>
      </p:sp>
      <p:sp>
        <p:nvSpPr>
          <p:cNvPr id="24" name="Text 22"/>
          <p:cNvSpPr txBox="1"/>
          <p:nvPr/>
        </p:nvSpPr>
        <p:spPr>
          <a:xfrm>
            <a:off x="3529584" y="2432304"/>
            <a:ext cx="896112" cy="36576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$77,911</a:t>
            </a:r>
            <a:endParaRPr lang="en-US" sz="1300" dirty="0"/>
          </a:p>
        </p:txBody>
      </p:sp>
      <p:sp>
        <p:nvSpPr>
          <p:cNvPr id="25" name="Text 23"/>
          <p:cNvSpPr txBox="1"/>
          <p:nvPr/>
        </p:nvSpPr>
        <p:spPr>
          <a:xfrm>
            <a:off x="4425696" y="2432304"/>
            <a:ext cx="566928"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a:t>
            </a:r>
            <a:endParaRPr lang="en-US" sz="1300" dirty="0"/>
          </a:p>
        </p:txBody>
      </p:sp>
      <p:sp>
        <p:nvSpPr>
          <p:cNvPr id="26" name="Text 24"/>
          <p:cNvSpPr txBox="1"/>
          <p:nvPr/>
        </p:nvSpPr>
        <p:spPr>
          <a:xfrm>
            <a:off x="4992624" y="2432304"/>
            <a:ext cx="877824"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378</a:t>
            </a:r>
            <a:endParaRPr lang="en-US" sz="1300" dirty="0"/>
          </a:p>
        </p:txBody>
      </p:sp>
      <p:sp>
        <p:nvSpPr>
          <p:cNvPr id="27" name="Text 25"/>
          <p:cNvSpPr txBox="1"/>
          <p:nvPr/>
        </p:nvSpPr>
        <p:spPr>
          <a:xfrm>
            <a:off x="658368" y="2798064"/>
            <a:ext cx="1938528" cy="36576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28" name="Shape 26"/>
          <p:cNvSpPr/>
          <p:nvPr/>
        </p:nvSpPr>
        <p:spPr>
          <a:xfrm>
            <a:off x="2670048" y="2880360"/>
            <a:ext cx="397090" cy="201168"/>
          </a:xfrm>
          <a:prstGeom prst="rect">
            <a:avLst/>
          </a:prstGeom>
          <a:solidFill>
            <a:srgbClr val="C2352F"/>
          </a:solidFill>
          <a:ln/>
        </p:spPr>
      </p:sp>
      <p:sp>
        <p:nvSpPr>
          <p:cNvPr id="29" name="Text 27"/>
          <p:cNvSpPr txBox="1"/>
          <p:nvPr/>
        </p:nvSpPr>
        <p:spPr>
          <a:xfrm>
            <a:off x="3529584" y="2798064"/>
            <a:ext cx="896112" cy="36576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$74,435</a:t>
            </a:r>
            <a:endParaRPr lang="en-US" sz="1300" dirty="0"/>
          </a:p>
        </p:txBody>
      </p:sp>
      <p:sp>
        <p:nvSpPr>
          <p:cNvPr id="30" name="Text 28"/>
          <p:cNvSpPr txBox="1"/>
          <p:nvPr/>
        </p:nvSpPr>
        <p:spPr>
          <a:xfrm>
            <a:off x="4425696" y="2798064"/>
            <a:ext cx="566928"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a:t>
            </a:r>
            <a:endParaRPr lang="en-US" sz="1300" dirty="0"/>
          </a:p>
        </p:txBody>
      </p:sp>
      <p:sp>
        <p:nvSpPr>
          <p:cNvPr id="31" name="Text 29"/>
          <p:cNvSpPr txBox="1"/>
          <p:nvPr/>
        </p:nvSpPr>
        <p:spPr>
          <a:xfrm>
            <a:off x="4992624" y="2798064"/>
            <a:ext cx="877824"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380</a:t>
            </a:r>
            <a:endParaRPr lang="en-US" sz="1300" dirty="0"/>
          </a:p>
        </p:txBody>
      </p:sp>
      <p:sp>
        <p:nvSpPr>
          <p:cNvPr id="32" name="Text 30"/>
          <p:cNvSpPr txBox="1"/>
          <p:nvPr/>
        </p:nvSpPr>
        <p:spPr>
          <a:xfrm>
            <a:off x="658368" y="3163824"/>
            <a:ext cx="1938528" cy="36576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33" name="Shape 31"/>
          <p:cNvSpPr/>
          <p:nvPr/>
        </p:nvSpPr>
        <p:spPr>
          <a:xfrm>
            <a:off x="2670048" y="3246120"/>
            <a:ext cx="359248" cy="201168"/>
          </a:xfrm>
          <a:prstGeom prst="rect">
            <a:avLst/>
          </a:prstGeom>
          <a:solidFill>
            <a:srgbClr val="C2352F"/>
          </a:solidFill>
          <a:ln/>
        </p:spPr>
      </p:sp>
      <p:sp>
        <p:nvSpPr>
          <p:cNvPr id="34" name="Text 32"/>
          <p:cNvSpPr txBox="1"/>
          <p:nvPr/>
        </p:nvSpPr>
        <p:spPr>
          <a:xfrm>
            <a:off x="3529584" y="3163824"/>
            <a:ext cx="896112" cy="36576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$67,341</a:t>
            </a:r>
            <a:endParaRPr lang="en-US" sz="1300" dirty="0"/>
          </a:p>
        </p:txBody>
      </p:sp>
      <p:sp>
        <p:nvSpPr>
          <p:cNvPr id="35" name="Text 33"/>
          <p:cNvSpPr txBox="1"/>
          <p:nvPr/>
        </p:nvSpPr>
        <p:spPr>
          <a:xfrm>
            <a:off x="4425696" y="3163824"/>
            <a:ext cx="566928"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3.1%</a:t>
            </a:r>
            <a:endParaRPr lang="en-US" sz="1300" dirty="0"/>
          </a:p>
        </p:txBody>
      </p:sp>
      <p:sp>
        <p:nvSpPr>
          <p:cNvPr id="36" name="Text 34"/>
          <p:cNvSpPr txBox="1"/>
          <p:nvPr/>
        </p:nvSpPr>
        <p:spPr>
          <a:xfrm>
            <a:off x="4992624" y="3163824"/>
            <a:ext cx="877824"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367</a:t>
            </a:r>
            <a:endParaRPr lang="en-US" sz="1300" dirty="0"/>
          </a:p>
        </p:txBody>
      </p:sp>
      <p:sp>
        <p:nvSpPr>
          <p:cNvPr id="37" name="Text 35"/>
          <p:cNvSpPr txBox="1"/>
          <p:nvPr/>
        </p:nvSpPr>
        <p:spPr>
          <a:xfrm>
            <a:off x="658368" y="3529584"/>
            <a:ext cx="1938528" cy="36576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38" name="Shape 36"/>
          <p:cNvSpPr/>
          <p:nvPr/>
        </p:nvSpPr>
        <p:spPr>
          <a:xfrm>
            <a:off x="2670048" y="3611880"/>
            <a:ext cx="302564" cy="201168"/>
          </a:xfrm>
          <a:prstGeom prst="rect">
            <a:avLst/>
          </a:prstGeom>
          <a:solidFill>
            <a:srgbClr val="C2352F"/>
          </a:solidFill>
          <a:ln/>
        </p:spPr>
      </p:sp>
      <p:sp>
        <p:nvSpPr>
          <p:cNvPr id="39" name="Text 37"/>
          <p:cNvSpPr txBox="1"/>
          <p:nvPr/>
        </p:nvSpPr>
        <p:spPr>
          <a:xfrm>
            <a:off x="3529584" y="3529584"/>
            <a:ext cx="896112" cy="36576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$56,716</a:t>
            </a:r>
            <a:endParaRPr lang="en-US" sz="1300" dirty="0"/>
          </a:p>
        </p:txBody>
      </p:sp>
      <p:sp>
        <p:nvSpPr>
          <p:cNvPr id="40" name="Text 38"/>
          <p:cNvSpPr txBox="1"/>
          <p:nvPr/>
        </p:nvSpPr>
        <p:spPr>
          <a:xfrm>
            <a:off x="4425696" y="3529584"/>
            <a:ext cx="566928"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4.6%</a:t>
            </a:r>
            <a:endParaRPr lang="en-US" sz="1300" dirty="0"/>
          </a:p>
        </p:txBody>
      </p:sp>
      <p:sp>
        <p:nvSpPr>
          <p:cNvPr id="41" name="Text 39"/>
          <p:cNvSpPr txBox="1"/>
          <p:nvPr/>
        </p:nvSpPr>
        <p:spPr>
          <a:xfrm>
            <a:off x="4992624" y="3529584"/>
            <a:ext cx="877824"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379</a:t>
            </a:r>
            <a:endParaRPr lang="en-US" sz="1300" dirty="0"/>
          </a:p>
        </p:txBody>
      </p:sp>
      <p:sp>
        <p:nvSpPr>
          <p:cNvPr id="42" name="Text 40"/>
          <p:cNvSpPr txBox="1"/>
          <p:nvPr/>
        </p:nvSpPr>
        <p:spPr>
          <a:xfrm>
            <a:off x="658368" y="3895344"/>
            <a:ext cx="1938528" cy="36576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43" name="Shape 41"/>
          <p:cNvSpPr/>
          <p:nvPr/>
        </p:nvSpPr>
        <p:spPr>
          <a:xfrm>
            <a:off x="2670048" y="3977640"/>
            <a:ext cx="280206" cy="201168"/>
          </a:xfrm>
          <a:prstGeom prst="rect">
            <a:avLst/>
          </a:prstGeom>
          <a:solidFill>
            <a:srgbClr val="C2352F"/>
          </a:solidFill>
          <a:ln/>
        </p:spPr>
      </p:sp>
      <p:sp>
        <p:nvSpPr>
          <p:cNvPr id="44" name="Text 42"/>
          <p:cNvSpPr txBox="1"/>
          <p:nvPr/>
        </p:nvSpPr>
        <p:spPr>
          <a:xfrm>
            <a:off x="3529584" y="3895344"/>
            <a:ext cx="896112" cy="36576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$52,525</a:t>
            </a:r>
            <a:endParaRPr lang="en-US" sz="1300" dirty="0"/>
          </a:p>
        </p:txBody>
      </p:sp>
      <p:sp>
        <p:nvSpPr>
          <p:cNvPr id="45" name="Text 43"/>
          <p:cNvSpPr txBox="1"/>
          <p:nvPr/>
        </p:nvSpPr>
        <p:spPr>
          <a:xfrm>
            <a:off x="4425696" y="3895344"/>
            <a:ext cx="566928"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4.2%</a:t>
            </a:r>
            <a:endParaRPr lang="en-US" sz="1300" dirty="0"/>
          </a:p>
        </p:txBody>
      </p:sp>
      <p:sp>
        <p:nvSpPr>
          <p:cNvPr id="46" name="Text 44"/>
          <p:cNvSpPr txBox="1"/>
          <p:nvPr/>
        </p:nvSpPr>
        <p:spPr>
          <a:xfrm>
            <a:off x="4992624" y="3895344"/>
            <a:ext cx="877824"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412</a:t>
            </a:r>
            <a:endParaRPr lang="en-US" sz="1300" dirty="0"/>
          </a:p>
        </p:txBody>
      </p:sp>
      <p:sp>
        <p:nvSpPr>
          <p:cNvPr id="47" name="Text 45"/>
          <p:cNvSpPr txBox="1"/>
          <p:nvPr/>
        </p:nvSpPr>
        <p:spPr>
          <a:xfrm>
            <a:off x="658368" y="4261104"/>
            <a:ext cx="1938528" cy="36576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48" name="Shape 46"/>
          <p:cNvSpPr/>
          <p:nvPr/>
        </p:nvSpPr>
        <p:spPr>
          <a:xfrm>
            <a:off x="2670048" y="4343400"/>
            <a:ext cx="254835" cy="201168"/>
          </a:xfrm>
          <a:prstGeom prst="rect">
            <a:avLst/>
          </a:prstGeom>
          <a:solidFill>
            <a:srgbClr val="C2352F"/>
          </a:solidFill>
          <a:ln/>
        </p:spPr>
      </p:sp>
      <p:sp>
        <p:nvSpPr>
          <p:cNvPr id="49" name="Text 47"/>
          <p:cNvSpPr txBox="1"/>
          <p:nvPr/>
        </p:nvSpPr>
        <p:spPr>
          <a:xfrm>
            <a:off x="3529584" y="4261104"/>
            <a:ext cx="896112" cy="36576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$47,769</a:t>
            </a:r>
            <a:endParaRPr lang="en-US" sz="1300" dirty="0"/>
          </a:p>
        </p:txBody>
      </p:sp>
      <p:sp>
        <p:nvSpPr>
          <p:cNvPr id="50" name="Text 48"/>
          <p:cNvSpPr txBox="1"/>
          <p:nvPr/>
        </p:nvSpPr>
        <p:spPr>
          <a:xfrm>
            <a:off x="4425696" y="4261104"/>
            <a:ext cx="566928"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8.0%</a:t>
            </a:r>
            <a:endParaRPr lang="en-US" sz="1300" dirty="0"/>
          </a:p>
        </p:txBody>
      </p:sp>
      <p:sp>
        <p:nvSpPr>
          <p:cNvPr id="51" name="Text 49"/>
          <p:cNvSpPr txBox="1"/>
          <p:nvPr/>
        </p:nvSpPr>
        <p:spPr>
          <a:xfrm>
            <a:off x="4992624" y="4261104"/>
            <a:ext cx="877824"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389</a:t>
            </a:r>
            <a:endParaRPr lang="en-US" sz="1300" dirty="0"/>
          </a:p>
        </p:txBody>
      </p:sp>
      <p:sp>
        <p:nvSpPr>
          <p:cNvPr id="52" name="Text 50"/>
          <p:cNvSpPr txBox="1"/>
          <p:nvPr/>
        </p:nvSpPr>
        <p:spPr>
          <a:xfrm>
            <a:off x="658368" y="4626864"/>
            <a:ext cx="1938528" cy="36576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53" name="Shape 51"/>
          <p:cNvSpPr/>
          <p:nvPr/>
        </p:nvSpPr>
        <p:spPr>
          <a:xfrm>
            <a:off x="2670048" y="4709160"/>
            <a:ext cx="171431" cy="201168"/>
          </a:xfrm>
          <a:prstGeom prst="rect">
            <a:avLst/>
          </a:prstGeom>
          <a:solidFill>
            <a:srgbClr val="C2352F"/>
          </a:solidFill>
          <a:ln/>
        </p:spPr>
      </p:sp>
      <p:sp>
        <p:nvSpPr>
          <p:cNvPr id="54" name="Text 52"/>
          <p:cNvSpPr txBox="1"/>
          <p:nvPr/>
        </p:nvSpPr>
        <p:spPr>
          <a:xfrm>
            <a:off x="3529584" y="4626864"/>
            <a:ext cx="896112" cy="36576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$32,135</a:t>
            </a:r>
            <a:endParaRPr lang="en-US" sz="1300" dirty="0"/>
          </a:p>
        </p:txBody>
      </p:sp>
      <p:sp>
        <p:nvSpPr>
          <p:cNvPr id="55" name="Text 53"/>
          <p:cNvSpPr txBox="1"/>
          <p:nvPr/>
        </p:nvSpPr>
        <p:spPr>
          <a:xfrm>
            <a:off x="4425696" y="4626864"/>
            <a:ext cx="566928"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8.4%</a:t>
            </a:r>
            <a:endParaRPr lang="en-US" sz="1300" dirty="0"/>
          </a:p>
        </p:txBody>
      </p:sp>
      <p:sp>
        <p:nvSpPr>
          <p:cNvPr id="56" name="Text 54"/>
          <p:cNvSpPr txBox="1"/>
          <p:nvPr/>
        </p:nvSpPr>
        <p:spPr>
          <a:xfrm>
            <a:off x="4992624" y="4626864"/>
            <a:ext cx="877824"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287</a:t>
            </a:r>
            <a:endParaRPr lang="en-US" sz="1300" dirty="0"/>
          </a:p>
        </p:txBody>
      </p:sp>
      <p:sp>
        <p:nvSpPr>
          <p:cNvPr id="57" name="Text 55"/>
          <p:cNvSpPr txBox="1"/>
          <p:nvPr/>
        </p:nvSpPr>
        <p:spPr>
          <a:xfrm>
            <a:off x="658368" y="4992624"/>
            <a:ext cx="1938528" cy="36576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58" name="Shape 56"/>
          <p:cNvSpPr/>
          <p:nvPr/>
        </p:nvSpPr>
        <p:spPr>
          <a:xfrm>
            <a:off x="2670048" y="5074920"/>
            <a:ext cx="168143" cy="201168"/>
          </a:xfrm>
          <a:prstGeom prst="rect">
            <a:avLst/>
          </a:prstGeom>
          <a:solidFill>
            <a:srgbClr val="C2352F"/>
          </a:solidFill>
          <a:ln/>
        </p:spPr>
      </p:sp>
      <p:sp>
        <p:nvSpPr>
          <p:cNvPr id="59" name="Text 57"/>
          <p:cNvSpPr txBox="1"/>
          <p:nvPr/>
        </p:nvSpPr>
        <p:spPr>
          <a:xfrm>
            <a:off x="3529584" y="4992624"/>
            <a:ext cx="896112" cy="36576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$31,519</a:t>
            </a:r>
            <a:endParaRPr lang="en-US" sz="1300" dirty="0"/>
          </a:p>
        </p:txBody>
      </p:sp>
      <p:sp>
        <p:nvSpPr>
          <p:cNvPr id="60" name="Text 58"/>
          <p:cNvSpPr txBox="1"/>
          <p:nvPr/>
        </p:nvSpPr>
        <p:spPr>
          <a:xfrm>
            <a:off x="4425696" y="4992624"/>
            <a:ext cx="566928"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4.7%</a:t>
            </a:r>
            <a:endParaRPr lang="en-US" sz="1300" dirty="0"/>
          </a:p>
        </p:txBody>
      </p:sp>
      <p:sp>
        <p:nvSpPr>
          <p:cNvPr id="61" name="Text 59"/>
          <p:cNvSpPr txBox="1"/>
          <p:nvPr/>
        </p:nvSpPr>
        <p:spPr>
          <a:xfrm>
            <a:off x="4992624" y="4992624"/>
            <a:ext cx="877824"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235</a:t>
            </a:r>
            <a:endParaRPr lang="en-US" sz="1300" dirty="0"/>
          </a:p>
        </p:txBody>
      </p:sp>
      <p:sp>
        <p:nvSpPr>
          <p:cNvPr id="62" name="Text 60"/>
          <p:cNvSpPr txBox="1"/>
          <p:nvPr/>
        </p:nvSpPr>
        <p:spPr>
          <a:xfrm>
            <a:off x="658368" y="5358384"/>
            <a:ext cx="1938528" cy="36576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63" name="Shape 61"/>
          <p:cNvSpPr/>
          <p:nvPr/>
        </p:nvSpPr>
        <p:spPr>
          <a:xfrm>
            <a:off x="2670048" y="5440680"/>
            <a:ext cx="133568" cy="201168"/>
          </a:xfrm>
          <a:prstGeom prst="rect">
            <a:avLst/>
          </a:prstGeom>
          <a:solidFill>
            <a:srgbClr val="C2352F"/>
          </a:solidFill>
          <a:ln/>
        </p:spPr>
      </p:sp>
      <p:sp>
        <p:nvSpPr>
          <p:cNvPr id="64" name="Text 62"/>
          <p:cNvSpPr txBox="1"/>
          <p:nvPr/>
        </p:nvSpPr>
        <p:spPr>
          <a:xfrm>
            <a:off x="3529584" y="5358384"/>
            <a:ext cx="896112" cy="36576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$25,037</a:t>
            </a:r>
            <a:endParaRPr lang="en-US" sz="1300" dirty="0"/>
          </a:p>
        </p:txBody>
      </p:sp>
      <p:sp>
        <p:nvSpPr>
          <p:cNvPr id="65" name="Text 63"/>
          <p:cNvSpPr txBox="1"/>
          <p:nvPr/>
        </p:nvSpPr>
        <p:spPr>
          <a:xfrm>
            <a:off x="4425696" y="5358384"/>
            <a:ext cx="566928"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5.9%</a:t>
            </a:r>
            <a:endParaRPr lang="en-US" sz="1300" dirty="0"/>
          </a:p>
        </p:txBody>
      </p:sp>
      <p:sp>
        <p:nvSpPr>
          <p:cNvPr id="66" name="Text 64"/>
          <p:cNvSpPr txBox="1"/>
          <p:nvPr/>
        </p:nvSpPr>
        <p:spPr>
          <a:xfrm>
            <a:off x="4992624" y="5358384"/>
            <a:ext cx="877824"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211</a:t>
            </a:r>
            <a:endParaRPr lang="en-US" sz="1300" dirty="0"/>
          </a:p>
        </p:txBody>
      </p:sp>
      <p:sp>
        <p:nvSpPr>
          <p:cNvPr id="67" name="Text 65"/>
          <p:cNvSpPr txBox="1"/>
          <p:nvPr/>
        </p:nvSpPr>
        <p:spPr>
          <a:xfrm>
            <a:off x="6208776" y="1700784"/>
            <a:ext cx="1938528" cy="36576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68" name="Shape 66"/>
          <p:cNvSpPr/>
          <p:nvPr/>
        </p:nvSpPr>
        <p:spPr>
          <a:xfrm>
            <a:off x="8220456" y="1783080"/>
            <a:ext cx="119552" cy="201168"/>
          </a:xfrm>
          <a:prstGeom prst="rect">
            <a:avLst/>
          </a:prstGeom>
          <a:solidFill>
            <a:srgbClr val="C2352F"/>
          </a:solidFill>
          <a:ln/>
        </p:spPr>
      </p:sp>
      <p:sp>
        <p:nvSpPr>
          <p:cNvPr id="69" name="Text 67"/>
          <p:cNvSpPr txBox="1"/>
          <p:nvPr/>
        </p:nvSpPr>
        <p:spPr>
          <a:xfrm>
            <a:off x="9079992" y="1700784"/>
            <a:ext cx="896112" cy="36576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$22,410</a:t>
            </a:r>
            <a:endParaRPr lang="en-US" sz="1300" dirty="0"/>
          </a:p>
        </p:txBody>
      </p:sp>
      <p:sp>
        <p:nvSpPr>
          <p:cNvPr id="70" name="Text 68"/>
          <p:cNvSpPr txBox="1"/>
          <p:nvPr/>
        </p:nvSpPr>
        <p:spPr>
          <a:xfrm>
            <a:off x="9976104" y="1700784"/>
            <a:ext cx="566928"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8.2%</a:t>
            </a:r>
            <a:endParaRPr lang="en-US" sz="1300" dirty="0"/>
          </a:p>
        </p:txBody>
      </p:sp>
      <p:sp>
        <p:nvSpPr>
          <p:cNvPr id="71" name="Text 69"/>
          <p:cNvSpPr txBox="1"/>
          <p:nvPr/>
        </p:nvSpPr>
        <p:spPr>
          <a:xfrm>
            <a:off x="10543032" y="1700784"/>
            <a:ext cx="877824"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187</a:t>
            </a:r>
            <a:endParaRPr lang="en-US" sz="1300" dirty="0"/>
          </a:p>
        </p:txBody>
      </p:sp>
      <p:sp>
        <p:nvSpPr>
          <p:cNvPr id="72" name="Text 70"/>
          <p:cNvSpPr txBox="1"/>
          <p:nvPr/>
        </p:nvSpPr>
        <p:spPr>
          <a:xfrm>
            <a:off x="6208776" y="2066544"/>
            <a:ext cx="1938528" cy="36576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73" name="Shape 71"/>
          <p:cNvSpPr/>
          <p:nvPr/>
        </p:nvSpPr>
        <p:spPr>
          <a:xfrm>
            <a:off x="8220456" y="2148840"/>
            <a:ext cx="113707" cy="201168"/>
          </a:xfrm>
          <a:prstGeom prst="rect">
            <a:avLst/>
          </a:prstGeom>
          <a:solidFill>
            <a:srgbClr val="C2352F"/>
          </a:solidFill>
          <a:ln/>
        </p:spPr>
      </p:sp>
      <p:sp>
        <p:nvSpPr>
          <p:cNvPr id="74" name="Text 72"/>
          <p:cNvSpPr txBox="1"/>
          <p:nvPr/>
        </p:nvSpPr>
        <p:spPr>
          <a:xfrm>
            <a:off x="9079992" y="2066544"/>
            <a:ext cx="896112" cy="36576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$21,314</a:t>
            </a:r>
            <a:endParaRPr lang="en-US" sz="1300" dirty="0"/>
          </a:p>
        </p:txBody>
      </p:sp>
      <p:sp>
        <p:nvSpPr>
          <p:cNvPr id="75" name="Text 73"/>
          <p:cNvSpPr txBox="1"/>
          <p:nvPr/>
        </p:nvSpPr>
        <p:spPr>
          <a:xfrm>
            <a:off x="9976104" y="2066544"/>
            <a:ext cx="566928"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7.0%</a:t>
            </a:r>
            <a:endParaRPr lang="en-US" sz="1300" dirty="0"/>
          </a:p>
        </p:txBody>
      </p:sp>
      <p:sp>
        <p:nvSpPr>
          <p:cNvPr id="76" name="Text 74"/>
          <p:cNvSpPr txBox="1"/>
          <p:nvPr/>
        </p:nvSpPr>
        <p:spPr>
          <a:xfrm>
            <a:off x="10543032" y="2066544"/>
            <a:ext cx="877824"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245</a:t>
            </a:r>
            <a:endParaRPr lang="en-US" sz="1300" dirty="0"/>
          </a:p>
        </p:txBody>
      </p:sp>
      <p:sp>
        <p:nvSpPr>
          <p:cNvPr id="77" name="Text 75"/>
          <p:cNvSpPr txBox="1"/>
          <p:nvPr/>
        </p:nvSpPr>
        <p:spPr>
          <a:xfrm>
            <a:off x="6208776" y="2432304"/>
            <a:ext cx="1938528" cy="36576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78" name="Shape 76"/>
          <p:cNvSpPr/>
          <p:nvPr/>
        </p:nvSpPr>
        <p:spPr>
          <a:xfrm>
            <a:off x="8220456" y="2514600"/>
            <a:ext cx="109990" cy="201168"/>
          </a:xfrm>
          <a:prstGeom prst="rect">
            <a:avLst/>
          </a:prstGeom>
          <a:solidFill>
            <a:srgbClr val="C2352F"/>
          </a:solidFill>
          <a:ln/>
        </p:spPr>
      </p:sp>
      <p:sp>
        <p:nvSpPr>
          <p:cNvPr id="79" name="Text 77"/>
          <p:cNvSpPr txBox="1"/>
          <p:nvPr/>
        </p:nvSpPr>
        <p:spPr>
          <a:xfrm>
            <a:off x="9079992" y="2432304"/>
            <a:ext cx="896112" cy="36576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$20,618</a:t>
            </a:r>
            <a:endParaRPr lang="en-US" sz="1300" dirty="0"/>
          </a:p>
        </p:txBody>
      </p:sp>
      <p:sp>
        <p:nvSpPr>
          <p:cNvPr id="80" name="Text 78"/>
          <p:cNvSpPr txBox="1"/>
          <p:nvPr/>
        </p:nvSpPr>
        <p:spPr>
          <a:xfrm>
            <a:off x="9976104" y="2432304"/>
            <a:ext cx="566928"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6.0%</a:t>
            </a:r>
            <a:endParaRPr lang="en-US" sz="1300" dirty="0"/>
          </a:p>
        </p:txBody>
      </p:sp>
      <p:sp>
        <p:nvSpPr>
          <p:cNvPr id="81" name="Text 79"/>
          <p:cNvSpPr txBox="1"/>
          <p:nvPr/>
        </p:nvSpPr>
        <p:spPr>
          <a:xfrm>
            <a:off x="10543032" y="2432304"/>
            <a:ext cx="877824"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162</a:t>
            </a:r>
            <a:endParaRPr lang="en-US" sz="1300" dirty="0"/>
          </a:p>
        </p:txBody>
      </p:sp>
      <p:sp>
        <p:nvSpPr>
          <p:cNvPr id="82" name="Text 80"/>
          <p:cNvSpPr txBox="1"/>
          <p:nvPr/>
        </p:nvSpPr>
        <p:spPr>
          <a:xfrm>
            <a:off x="6208776" y="2798064"/>
            <a:ext cx="1938528" cy="36576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83" name="Shape 81"/>
          <p:cNvSpPr/>
          <p:nvPr/>
        </p:nvSpPr>
        <p:spPr>
          <a:xfrm>
            <a:off x="8220456" y="2880360"/>
            <a:ext cx="104971" cy="201168"/>
          </a:xfrm>
          <a:prstGeom prst="rect">
            <a:avLst/>
          </a:prstGeom>
          <a:solidFill>
            <a:srgbClr val="C2352F"/>
          </a:solidFill>
          <a:ln/>
        </p:spPr>
      </p:sp>
      <p:sp>
        <p:nvSpPr>
          <p:cNvPr id="84" name="Text 82"/>
          <p:cNvSpPr txBox="1"/>
          <p:nvPr/>
        </p:nvSpPr>
        <p:spPr>
          <a:xfrm>
            <a:off x="9079992" y="2798064"/>
            <a:ext cx="896112" cy="36576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$19,677</a:t>
            </a:r>
            <a:endParaRPr lang="en-US" sz="1300" dirty="0"/>
          </a:p>
        </p:txBody>
      </p:sp>
      <p:sp>
        <p:nvSpPr>
          <p:cNvPr id="85" name="Text 83"/>
          <p:cNvSpPr txBox="1"/>
          <p:nvPr/>
        </p:nvSpPr>
        <p:spPr>
          <a:xfrm>
            <a:off x="9976104" y="2798064"/>
            <a:ext cx="566928"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7.2%</a:t>
            </a:r>
            <a:endParaRPr lang="en-US" sz="1300" dirty="0"/>
          </a:p>
        </p:txBody>
      </p:sp>
      <p:sp>
        <p:nvSpPr>
          <p:cNvPr id="86" name="Text 84"/>
          <p:cNvSpPr txBox="1"/>
          <p:nvPr/>
        </p:nvSpPr>
        <p:spPr>
          <a:xfrm>
            <a:off x="10543032" y="2798064"/>
            <a:ext cx="877824"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52</a:t>
            </a:r>
            <a:endParaRPr lang="en-US" sz="1300" dirty="0"/>
          </a:p>
        </p:txBody>
      </p:sp>
      <p:sp>
        <p:nvSpPr>
          <p:cNvPr id="87" name="Text 85"/>
          <p:cNvSpPr txBox="1"/>
          <p:nvPr/>
        </p:nvSpPr>
        <p:spPr>
          <a:xfrm>
            <a:off x="6208776" y="3163824"/>
            <a:ext cx="1938528" cy="36576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88" name="Shape 86"/>
          <p:cNvSpPr/>
          <p:nvPr/>
        </p:nvSpPr>
        <p:spPr>
          <a:xfrm>
            <a:off x="8220456" y="3246120"/>
            <a:ext cx="94348" cy="201168"/>
          </a:xfrm>
          <a:prstGeom prst="rect">
            <a:avLst/>
          </a:prstGeom>
          <a:solidFill>
            <a:srgbClr val="C2352F"/>
          </a:solidFill>
          <a:ln/>
        </p:spPr>
      </p:sp>
      <p:sp>
        <p:nvSpPr>
          <p:cNvPr id="89" name="Text 87"/>
          <p:cNvSpPr txBox="1"/>
          <p:nvPr/>
        </p:nvSpPr>
        <p:spPr>
          <a:xfrm>
            <a:off x="9079992" y="3163824"/>
            <a:ext cx="896112" cy="36576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$17,686</a:t>
            </a:r>
            <a:endParaRPr lang="en-US" sz="1300" dirty="0"/>
          </a:p>
        </p:txBody>
      </p:sp>
      <p:sp>
        <p:nvSpPr>
          <p:cNvPr id="90" name="Text 88"/>
          <p:cNvSpPr txBox="1"/>
          <p:nvPr/>
        </p:nvSpPr>
        <p:spPr>
          <a:xfrm>
            <a:off x="9976104" y="3163824"/>
            <a:ext cx="566928"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8.4%</a:t>
            </a:r>
            <a:endParaRPr lang="en-US" sz="1300" dirty="0"/>
          </a:p>
        </p:txBody>
      </p:sp>
      <p:sp>
        <p:nvSpPr>
          <p:cNvPr id="91" name="Text 89"/>
          <p:cNvSpPr txBox="1"/>
          <p:nvPr/>
        </p:nvSpPr>
        <p:spPr>
          <a:xfrm>
            <a:off x="10543032" y="3163824"/>
            <a:ext cx="877824"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115</a:t>
            </a:r>
            <a:endParaRPr lang="en-US" sz="1300" dirty="0"/>
          </a:p>
        </p:txBody>
      </p:sp>
      <p:sp>
        <p:nvSpPr>
          <p:cNvPr id="92" name="Text 90"/>
          <p:cNvSpPr txBox="1"/>
          <p:nvPr/>
        </p:nvSpPr>
        <p:spPr>
          <a:xfrm>
            <a:off x="6208776" y="3529584"/>
            <a:ext cx="1938528" cy="36576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93" name="Shape 91"/>
          <p:cNvSpPr/>
          <p:nvPr/>
        </p:nvSpPr>
        <p:spPr>
          <a:xfrm>
            <a:off x="8220456" y="3611880"/>
            <a:ext cx="80639" cy="201168"/>
          </a:xfrm>
          <a:prstGeom prst="rect">
            <a:avLst/>
          </a:prstGeom>
          <a:solidFill>
            <a:srgbClr val="C2352F"/>
          </a:solidFill>
          <a:ln/>
        </p:spPr>
      </p:sp>
      <p:sp>
        <p:nvSpPr>
          <p:cNvPr id="94" name="Text 92"/>
          <p:cNvSpPr txBox="1"/>
          <p:nvPr/>
        </p:nvSpPr>
        <p:spPr>
          <a:xfrm>
            <a:off x="9079992" y="3529584"/>
            <a:ext cx="896112" cy="36576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$15,116</a:t>
            </a:r>
            <a:endParaRPr lang="en-US" sz="1300" dirty="0"/>
          </a:p>
        </p:txBody>
      </p:sp>
      <p:sp>
        <p:nvSpPr>
          <p:cNvPr id="95" name="Text 93"/>
          <p:cNvSpPr txBox="1"/>
          <p:nvPr/>
        </p:nvSpPr>
        <p:spPr>
          <a:xfrm>
            <a:off x="9976104" y="3529584"/>
            <a:ext cx="566928"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8.3%</a:t>
            </a:r>
            <a:endParaRPr lang="en-US" sz="1300" dirty="0"/>
          </a:p>
        </p:txBody>
      </p:sp>
      <p:sp>
        <p:nvSpPr>
          <p:cNvPr id="96" name="Text 94"/>
          <p:cNvSpPr txBox="1"/>
          <p:nvPr/>
        </p:nvSpPr>
        <p:spPr>
          <a:xfrm>
            <a:off x="10543032" y="3529584"/>
            <a:ext cx="877824"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98</a:t>
            </a:r>
            <a:endParaRPr lang="en-US" sz="1300" dirty="0"/>
          </a:p>
        </p:txBody>
      </p:sp>
      <p:sp>
        <p:nvSpPr>
          <p:cNvPr id="97" name="Text 95"/>
          <p:cNvSpPr txBox="1"/>
          <p:nvPr/>
        </p:nvSpPr>
        <p:spPr>
          <a:xfrm>
            <a:off x="6208776" y="3895344"/>
            <a:ext cx="1938528" cy="36576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98" name="Shape 96"/>
          <p:cNvSpPr/>
          <p:nvPr/>
        </p:nvSpPr>
        <p:spPr>
          <a:xfrm>
            <a:off x="8220456" y="3977640"/>
            <a:ext cx="69613" cy="201168"/>
          </a:xfrm>
          <a:prstGeom prst="rect">
            <a:avLst/>
          </a:prstGeom>
          <a:solidFill>
            <a:srgbClr val="C2352F"/>
          </a:solidFill>
          <a:ln/>
        </p:spPr>
      </p:sp>
      <p:sp>
        <p:nvSpPr>
          <p:cNvPr id="99" name="Text 97"/>
          <p:cNvSpPr txBox="1"/>
          <p:nvPr/>
        </p:nvSpPr>
        <p:spPr>
          <a:xfrm>
            <a:off x="9079992" y="3895344"/>
            <a:ext cx="896112" cy="36576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$13,049</a:t>
            </a:r>
            <a:endParaRPr lang="en-US" sz="1300" dirty="0"/>
          </a:p>
        </p:txBody>
      </p:sp>
      <p:sp>
        <p:nvSpPr>
          <p:cNvPr id="100" name="Text 98"/>
          <p:cNvSpPr txBox="1"/>
          <p:nvPr/>
        </p:nvSpPr>
        <p:spPr>
          <a:xfrm>
            <a:off x="9976104" y="3895344"/>
            <a:ext cx="566928"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5.4%</a:t>
            </a:r>
            <a:endParaRPr lang="en-US" sz="1300" dirty="0"/>
          </a:p>
        </p:txBody>
      </p:sp>
      <p:sp>
        <p:nvSpPr>
          <p:cNvPr id="101" name="Text 99"/>
          <p:cNvSpPr txBox="1"/>
          <p:nvPr/>
        </p:nvSpPr>
        <p:spPr>
          <a:xfrm>
            <a:off x="10543032" y="3895344"/>
            <a:ext cx="877824"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117</a:t>
            </a:r>
            <a:endParaRPr lang="en-US" sz="1300" dirty="0"/>
          </a:p>
        </p:txBody>
      </p:sp>
      <p:sp>
        <p:nvSpPr>
          <p:cNvPr id="102" name="Text 100"/>
          <p:cNvSpPr txBox="1"/>
          <p:nvPr/>
        </p:nvSpPr>
        <p:spPr>
          <a:xfrm>
            <a:off x="6208776" y="4261104"/>
            <a:ext cx="1938528" cy="36576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103" name="Shape 101"/>
          <p:cNvSpPr/>
          <p:nvPr/>
        </p:nvSpPr>
        <p:spPr>
          <a:xfrm>
            <a:off x="8220456" y="4343400"/>
            <a:ext cx="58212" cy="201168"/>
          </a:xfrm>
          <a:prstGeom prst="rect">
            <a:avLst/>
          </a:prstGeom>
          <a:solidFill>
            <a:srgbClr val="C2352F"/>
          </a:solidFill>
          <a:ln/>
        </p:spPr>
      </p:sp>
      <p:sp>
        <p:nvSpPr>
          <p:cNvPr id="104" name="Text 102"/>
          <p:cNvSpPr txBox="1"/>
          <p:nvPr/>
        </p:nvSpPr>
        <p:spPr>
          <a:xfrm>
            <a:off x="9079992" y="4261104"/>
            <a:ext cx="896112" cy="36576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$10,912</a:t>
            </a:r>
            <a:endParaRPr lang="en-US" sz="1300" dirty="0"/>
          </a:p>
        </p:txBody>
      </p:sp>
      <p:sp>
        <p:nvSpPr>
          <p:cNvPr id="105" name="Text 103"/>
          <p:cNvSpPr txBox="1"/>
          <p:nvPr/>
        </p:nvSpPr>
        <p:spPr>
          <a:xfrm>
            <a:off x="9976104" y="4261104"/>
            <a:ext cx="566928"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7.5%</a:t>
            </a:r>
            <a:endParaRPr lang="en-US" sz="1300" dirty="0"/>
          </a:p>
        </p:txBody>
      </p:sp>
      <p:sp>
        <p:nvSpPr>
          <p:cNvPr id="106" name="Text 104"/>
          <p:cNvSpPr txBox="1"/>
          <p:nvPr/>
        </p:nvSpPr>
        <p:spPr>
          <a:xfrm>
            <a:off x="10543032" y="4261104"/>
            <a:ext cx="877824"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87</a:t>
            </a:r>
            <a:endParaRPr lang="en-US" sz="1300" dirty="0"/>
          </a:p>
        </p:txBody>
      </p:sp>
      <p:sp>
        <p:nvSpPr>
          <p:cNvPr id="107" name="Text 105"/>
          <p:cNvSpPr txBox="1"/>
          <p:nvPr/>
        </p:nvSpPr>
        <p:spPr>
          <a:xfrm>
            <a:off x="6208776" y="4626864"/>
            <a:ext cx="1938528" cy="36576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108" name="Shape 106"/>
          <p:cNvSpPr/>
          <p:nvPr/>
        </p:nvSpPr>
        <p:spPr>
          <a:xfrm>
            <a:off x="8220456" y="4709160"/>
            <a:ext cx="23377" cy="201168"/>
          </a:xfrm>
          <a:prstGeom prst="rect">
            <a:avLst/>
          </a:prstGeom>
          <a:solidFill>
            <a:srgbClr val="C2352F"/>
          </a:solidFill>
          <a:ln/>
        </p:spPr>
      </p:sp>
      <p:sp>
        <p:nvSpPr>
          <p:cNvPr id="109" name="Text 107"/>
          <p:cNvSpPr txBox="1"/>
          <p:nvPr/>
        </p:nvSpPr>
        <p:spPr>
          <a:xfrm>
            <a:off x="9079992" y="4626864"/>
            <a:ext cx="896112" cy="36576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$4,382</a:t>
            </a:r>
            <a:endParaRPr lang="en-US" sz="1300" dirty="0"/>
          </a:p>
        </p:txBody>
      </p:sp>
      <p:sp>
        <p:nvSpPr>
          <p:cNvPr id="110" name="Text 108"/>
          <p:cNvSpPr txBox="1"/>
          <p:nvPr/>
        </p:nvSpPr>
        <p:spPr>
          <a:xfrm>
            <a:off x="9976104" y="4626864"/>
            <a:ext cx="566928"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9.5%</a:t>
            </a:r>
            <a:endParaRPr lang="en-US" sz="1300" dirty="0"/>
          </a:p>
        </p:txBody>
      </p:sp>
      <p:sp>
        <p:nvSpPr>
          <p:cNvPr id="111" name="Text 109"/>
          <p:cNvSpPr txBox="1"/>
          <p:nvPr/>
        </p:nvSpPr>
        <p:spPr>
          <a:xfrm>
            <a:off x="10543032" y="4626864"/>
            <a:ext cx="877824"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33</a:t>
            </a:r>
            <a:endParaRPr lang="en-US" sz="1300" dirty="0"/>
          </a:p>
        </p:txBody>
      </p:sp>
      <p:sp>
        <p:nvSpPr>
          <p:cNvPr id="112" name="Text 110"/>
          <p:cNvSpPr txBox="1"/>
          <p:nvPr/>
        </p:nvSpPr>
        <p:spPr>
          <a:xfrm>
            <a:off x="6208776" y="4992624"/>
            <a:ext cx="1938528" cy="36576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13" name="Shape 111"/>
          <p:cNvSpPr/>
          <p:nvPr/>
        </p:nvSpPr>
        <p:spPr>
          <a:xfrm>
            <a:off x="8220456" y="5074920"/>
            <a:ext cx="18288" cy="201168"/>
          </a:xfrm>
          <a:prstGeom prst="rect">
            <a:avLst/>
          </a:prstGeom>
          <a:solidFill>
            <a:srgbClr val="C2352F"/>
          </a:solidFill>
          <a:ln/>
        </p:spPr>
      </p:sp>
      <p:sp>
        <p:nvSpPr>
          <p:cNvPr id="114" name="Text 112"/>
          <p:cNvSpPr txBox="1"/>
          <p:nvPr/>
        </p:nvSpPr>
        <p:spPr>
          <a:xfrm>
            <a:off x="9079992" y="4992624"/>
            <a:ext cx="896112" cy="36576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$3,306</a:t>
            </a:r>
            <a:endParaRPr lang="en-US" sz="1300" dirty="0"/>
          </a:p>
        </p:txBody>
      </p:sp>
      <p:sp>
        <p:nvSpPr>
          <p:cNvPr id="115" name="Text 113"/>
          <p:cNvSpPr txBox="1"/>
          <p:nvPr/>
        </p:nvSpPr>
        <p:spPr>
          <a:xfrm>
            <a:off x="9976104" y="4992624"/>
            <a:ext cx="566928"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9.6%</a:t>
            </a:r>
            <a:endParaRPr lang="en-US" sz="1300" dirty="0"/>
          </a:p>
        </p:txBody>
      </p:sp>
      <p:sp>
        <p:nvSpPr>
          <p:cNvPr id="116" name="Text 114"/>
          <p:cNvSpPr txBox="1"/>
          <p:nvPr/>
        </p:nvSpPr>
        <p:spPr>
          <a:xfrm>
            <a:off x="10543032" y="4992624"/>
            <a:ext cx="877824"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a:t>
            </a:r>
            <a:endParaRPr lang="en-US" sz="1300" dirty="0"/>
          </a:p>
        </p:txBody>
      </p:sp>
      <p:sp>
        <p:nvSpPr>
          <p:cNvPr id="117" name="Shape 115"/>
          <p:cNvSpPr/>
          <p:nvPr/>
        </p:nvSpPr>
        <p:spPr>
          <a:xfrm>
            <a:off x="457200" y="5961888"/>
            <a:ext cx="11274552" cy="548640"/>
          </a:xfrm>
          <a:prstGeom prst="rect">
            <a:avLst/>
          </a:prstGeom>
          <a:solidFill>
            <a:srgbClr val="FBEBEA"/>
          </a:solidFill>
          <a:ln/>
        </p:spPr>
      </p:sp>
      <p:sp>
        <p:nvSpPr>
          <p:cNvPr id="118" name="Text 116"/>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21 stores under 10% leave $844,657 a year: 5,919 services. CHEVY LV has the most at $150,836.</a:t>
            </a:r>
            <a:endParaRPr lang="en-US" sz="1600" dirty="0"/>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Fuel System Service Missed Opportunity</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3529584" y="1316736"/>
            <a:ext cx="896112"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Gross/yr</a:t>
            </a:r>
            <a:endParaRPr lang="en-US" sz="1400" dirty="0"/>
          </a:p>
        </p:txBody>
      </p:sp>
      <p:sp>
        <p:nvSpPr>
          <p:cNvPr id="7" name="Text 5"/>
          <p:cNvSpPr txBox="1"/>
          <p:nvPr/>
        </p:nvSpPr>
        <p:spPr>
          <a:xfrm>
            <a:off x="4425696" y="1316736"/>
            <a:ext cx="56692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Rate</a:t>
            </a:r>
            <a:endParaRPr lang="en-US" sz="1400" dirty="0"/>
          </a:p>
        </p:txBody>
      </p:sp>
      <p:sp>
        <p:nvSpPr>
          <p:cNvPr id="8" name="Text 6"/>
          <p:cNvSpPr txBox="1"/>
          <p:nvPr/>
        </p:nvSpPr>
        <p:spPr>
          <a:xfrm>
            <a:off x="4992624" y="1316736"/>
            <a:ext cx="877824"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Services</a:t>
            </a:r>
            <a:endParaRPr lang="en-US" sz="1400" dirty="0"/>
          </a:p>
        </p:txBody>
      </p:sp>
      <p:sp>
        <p:nvSpPr>
          <p:cNvPr id="9" name="Text 7"/>
          <p:cNvSpPr txBox="1"/>
          <p:nvPr/>
        </p:nvSpPr>
        <p:spPr>
          <a:xfrm>
            <a:off x="9079992" y="1316736"/>
            <a:ext cx="896112"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Gross/yr</a:t>
            </a:r>
            <a:endParaRPr lang="en-US" sz="1400" dirty="0"/>
          </a:p>
        </p:txBody>
      </p:sp>
      <p:sp>
        <p:nvSpPr>
          <p:cNvPr id="10" name="Text 8"/>
          <p:cNvSpPr txBox="1"/>
          <p:nvPr/>
        </p:nvSpPr>
        <p:spPr>
          <a:xfrm>
            <a:off x="9976104" y="1316736"/>
            <a:ext cx="56692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Rate</a:t>
            </a:r>
            <a:endParaRPr lang="en-US" sz="1400" dirty="0"/>
          </a:p>
        </p:txBody>
      </p:sp>
      <p:sp>
        <p:nvSpPr>
          <p:cNvPr id="11" name="Text 9"/>
          <p:cNvSpPr txBox="1"/>
          <p:nvPr/>
        </p:nvSpPr>
        <p:spPr>
          <a:xfrm>
            <a:off x="10543032" y="1316736"/>
            <a:ext cx="877824"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Services</a:t>
            </a:r>
            <a:endParaRPr lang="en-US" sz="1400" dirty="0"/>
          </a:p>
        </p:txBody>
      </p:sp>
      <p:sp>
        <p:nvSpPr>
          <p:cNvPr id="12" name="Text 10"/>
          <p:cNvSpPr txBox="1"/>
          <p:nvPr/>
        </p:nvSpPr>
        <p:spPr>
          <a:xfrm>
            <a:off x="658368" y="1700784"/>
            <a:ext cx="1938528" cy="30948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13" name="Shape 11"/>
          <p:cNvSpPr/>
          <p:nvPr/>
        </p:nvSpPr>
        <p:spPr>
          <a:xfrm>
            <a:off x="2670048" y="1770419"/>
            <a:ext cx="804672" cy="170219"/>
          </a:xfrm>
          <a:prstGeom prst="rect">
            <a:avLst/>
          </a:prstGeom>
          <a:solidFill>
            <a:srgbClr val="C2352F"/>
          </a:solidFill>
          <a:ln/>
        </p:spPr>
      </p:sp>
      <p:sp>
        <p:nvSpPr>
          <p:cNvPr id="14" name="Text 12"/>
          <p:cNvSpPr txBox="1"/>
          <p:nvPr/>
        </p:nvSpPr>
        <p:spPr>
          <a:xfrm>
            <a:off x="3529584" y="1700784"/>
            <a:ext cx="896112" cy="30948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$142,290</a:t>
            </a:r>
            <a:endParaRPr lang="en-US" sz="1300" dirty="0"/>
          </a:p>
        </p:txBody>
      </p:sp>
      <p:sp>
        <p:nvSpPr>
          <p:cNvPr id="15" name="Text 13"/>
          <p:cNvSpPr txBox="1"/>
          <p:nvPr/>
        </p:nvSpPr>
        <p:spPr>
          <a:xfrm>
            <a:off x="4425696" y="1700784"/>
            <a:ext cx="566928"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5.2%</a:t>
            </a:r>
            <a:endParaRPr lang="en-US" sz="1300" dirty="0"/>
          </a:p>
        </p:txBody>
      </p:sp>
      <p:sp>
        <p:nvSpPr>
          <p:cNvPr id="16" name="Text 14"/>
          <p:cNvSpPr txBox="1"/>
          <p:nvPr/>
        </p:nvSpPr>
        <p:spPr>
          <a:xfrm>
            <a:off x="4992624" y="1700784"/>
            <a:ext cx="877824"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585</a:t>
            </a:r>
            <a:endParaRPr lang="en-US" sz="1300" dirty="0"/>
          </a:p>
        </p:txBody>
      </p:sp>
      <p:sp>
        <p:nvSpPr>
          <p:cNvPr id="17" name="Text 15"/>
          <p:cNvSpPr txBox="1"/>
          <p:nvPr/>
        </p:nvSpPr>
        <p:spPr>
          <a:xfrm>
            <a:off x="658368" y="2010273"/>
            <a:ext cx="1938528" cy="30948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18" name="Shape 16"/>
          <p:cNvSpPr/>
          <p:nvPr/>
        </p:nvSpPr>
        <p:spPr>
          <a:xfrm>
            <a:off x="2670048" y="2079908"/>
            <a:ext cx="727080" cy="170219"/>
          </a:xfrm>
          <a:prstGeom prst="rect">
            <a:avLst/>
          </a:prstGeom>
          <a:solidFill>
            <a:srgbClr val="C2352F"/>
          </a:solidFill>
          <a:ln/>
        </p:spPr>
      </p:sp>
      <p:sp>
        <p:nvSpPr>
          <p:cNvPr id="19" name="Text 17"/>
          <p:cNvSpPr txBox="1"/>
          <p:nvPr/>
        </p:nvSpPr>
        <p:spPr>
          <a:xfrm>
            <a:off x="3529584" y="2010273"/>
            <a:ext cx="896112" cy="30948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$128,570</a:t>
            </a:r>
            <a:endParaRPr lang="en-US" sz="1300" dirty="0"/>
          </a:p>
        </p:txBody>
      </p:sp>
      <p:sp>
        <p:nvSpPr>
          <p:cNvPr id="20" name="Text 18"/>
          <p:cNvSpPr txBox="1"/>
          <p:nvPr/>
        </p:nvSpPr>
        <p:spPr>
          <a:xfrm>
            <a:off x="4425696" y="2010273"/>
            <a:ext cx="566928"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6.0%</a:t>
            </a:r>
            <a:endParaRPr lang="en-US" sz="1300" dirty="0"/>
          </a:p>
        </p:txBody>
      </p:sp>
      <p:sp>
        <p:nvSpPr>
          <p:cNvPr id="21" name="Text 19"/>
          <p:cNvSpPr txBox="1"/>
          <p:nvPr/>
        </p:nvSpPr>
        <p:spPr>
          <a:xfrm>
            <a:off x="4992624" y="2010273"/>
            <a:ext cx="877824"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1,056</a:t>
            </a:r>
            <a:endParaRPr lang="en-US" sz="1300" dirty="0"/>
          </a:p>
        </p:txBody>
      </p:sp>
      <p:sp>
        <p:nvSpPr>
          <p:cNvPr id="22" name="Text 20"/>
          <p:cNvSpPr txBox="1"/>
          <p:nvPr/>
        </p:nvSpPr>
        <p:spPr>
          <a:xfrm>
            <a:off x="658368" y="2319762"/>
            <a:ext cx="1938528" cy="30948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23" name="Shape 21"/>
          <p:cNvSpPr/>
          <p:nvPr/>
        </p:nvSpPr>
        <p:spPr>
          <a:xfrm>
            <a:off x="2670048" y="2389398"/>
            <a:ext cx="615724" cy="170219"/>
          </a:xfrm>
          <a:prstGeom prst="rect">
            <a:avLst/>
          </a:prstGeom>
          <a:solidFill>
            <a:srgbClr val="C2352F"/>
          </a:solidFill>
          <a:ln/>
        </p:spPr>
      </p:sp>
      <p:sp>
        <p:nvSpPr>
          <p:cNvPr id="24" name="Text 22"/>
          <p:cNvSpPr txBox="1"/>
          <p:nvPr/>
        </p:nvSpPr>
        <p:spPr>
          <a:xfrm>
            <a:off x="3529584" y="2319762"/>
            <a:ext cx="896112" cy="30948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$108,879</a:t>
            </a:r>
            <a:endParaRPr lang="en-US" sz="1300" dirty="0"/>
          </a:p>
        </p:txBody>
      </p:sp>
      <p:sp>
        <p:nvSpPr>
          <p:cNvPr id="25" name="Text 23"/>
          <p:cNvSpPr txBox="1"/>
          <p:nvPr/>
        </p:nvSpPr>
        <p:spPr>
          <a:xfrm>
            <a:off x="4425696" y="2319762"/>
            <a:ext cx="566928"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a:t>
            </a:r>
            <a:endParaRPr lang="en-US" sz="1300" dirty="0"/>
          </a:p>
        </p:txBody>
      </p:sp>
      <p:sp>
        <p:nvSpPr>
          <p:cNvPr id="26" name="Text 24"/>
          <p:cNvSpPr txBox="1"/>
          <p:nvPr/>
        </p:nvSpPr>
        <p:spPr>
          <a:xfrm>
            <a:off x="4992624" y="2319762"/>
            <a:ext cx="877824"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1,173</a:t>
            </a:r>
            <a:endParaRPr lang="en-US" sz="1300" dirty="0"/>
          </a:p>
        </p:txBody>
      </p:sp>
      <p:sp>
        <p:nvSpPr>
          <p:cNvPr id="27" name="Text 25"/>
          <p:cNvSpPr txBox="1"/>
          <p:nvPr/>
        </p:nvSpPr>
        <p:spPr>
          <a:xfrm>
            <a:off x="658368" y="2629252"/>
            <a:ext cx="1938528" cy="30948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28" name="Shape 26"/>
          <p:cNvSpPr/>
          <p:nvPr/>
        </p:nvSpPr>
        <p:spPr>
          <a:xfrm>
            <a:off x="2670048" y="2698887"/>
            <a:ext cx="478631" cy="170219"/>
          </a:xfrm>
          <a:prstGeom prst="rect">
            <a:avLst/>
          </a:prstGeom>
          <a:solidFill>
            <a:srgbClr val="C2352F"/>
          </a:solidFill>
          <a:ln/>
        </p:spPr>
      </p:sp>
      <p:sp>
        <p:nvSpPr>
          <p:cNvPr id="29" name="Text 27"/>
          <p:cNvSpPr txBox="1"/>
          <p:nvPr/>
        </p:nvSpPr>
        <p:spPr>
          <a:xfrm>
            <a:off x="3529584" y="2629252"/>
            <a:ext cx="896112" cy="30948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$84,636</a:t>
            </a:r>
            <a:endParaRPr lang="en-US" sz="1300" dirty="0"/>
          </a:p>
        </p:txBody>
      </p:sp>
      <p:sp>
        <p:nvSpPr>
          <p:cNvPr id="30" name="Text 28"/>
          <p:cNvSpPr txBox="1"/>
          <p:nvPr/>
        </p:nvSpPr>
        <p:spPr>
          <a:xfrm>
            <a:off x="4425696" y="2629252"/>
            <a:ext cx="566928"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0.0%</a:t>
            </a:r>
            <a:endParaRPr lang="en-US" sz="1300" dirty="0"/>
          </a:p>
        </p:txBody>
      </p:sp>
      <p:sp>
        <p:nvSpPr>
          <p:cNvPr id="31" name="Text 29"/>
          <p:cNvSpPr txBox="1"/>
          <p:nvPr/>
        </p:nvSpPr>
        <p:spPr>
          <a:xfrm>
            <a:off x="4992624" y="2629252"/>
            <a:ext cx="877824"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515</a:t>
            </a:r>
            <a:endParaRPr lang="en-US" sz="1300" dirty="0"/>
          </a:p>
        </p:txBody>
      </p:sp>
      <p:sp>
        <p:nvSpPr>
          <p:cNvPr id="32" name="Text 30"/>
          <p:cNvSpPr txBox="1"/>
          <p:nvPr/>
        </p:nvSpPr>
        <p:spPr>
          <a:xfrm>
            <a:off x="658368" y="2938741"/>
            <a:ext cx="1938528" cy="30948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33" name="Shape 31"/>
          <p:cNvSpPr/>
          <p:nvPr/>
        </p:nvSpPr>
        <p:spPr>
          <a:xfrm>
            <a:off x="2670048" y="3008376"/>
            <a:ext cx="427501" cy="170219"/>
          </a:xfrm>
          <a:prstGeom prst="rect">
            <a:avLst/>
          </a:prstGeom>
          <a:solidFill>
            <a:srgbClr val="C2352F"/>
          </a:solidFill>
          <a:ln/>
        </p:spPr>
      </p:sp>
      <p:sp>
        <p:nvSpPr>
          <p:cNvPr id="34" name="Text 32"/>
          <p:cNvSpPr txBox="1"/>
          <p:nvPr/>
        </p:nvSpPr>
        <p:spPr>
          <a:xfrm>
            <a:off x="3529584" y="2938741"/>
            <a:ext cx="896112" cy="30948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$75,595</a:t>
            </a:r>
            <a:endParaRPr lang="en-US" sz="1300" dirty="0"/>
          </a:p>
        </p:txBody>
      </p:sp>
      <p:sp>
        <p:nvSpPr>
          <p:cNvPr id="35" name="Text 33"/>
          <p:cNvSpPr txBox="1"/>
          <p:nvPr/>
        </p:nvSpPr>
        <p:spPr>
          <a:xfrm>
            <a:off x="4425696" y="2938741"/>
            <a:ext cx="566928"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3.2%</a:t>
            </a:r>
            <a:endParaRPr lang="en-US" sz="1300" dirty="0"/>
          </a:p>
        </p:txBody>
      </p:sp>
      <p:sp>
        <p:nvSpPr>
          <p:cNvPr id="36" name="Text 34"/>
          <p:cNvSpPr txBox="1"/>
          <p:nvPr/>
        </p:nvSpPr>
        <p:spPr>
          <a:xfrm>
            <a:off x="4992624" y="2938741"/>
            <a:ext cx="877824"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464</a:t>
            </a:r>
            <a:endParaRPr lang="en-US" sz="1300" dirty="0"/>
          </a:p>
        </p:txBody>
      </p:sp>
      <p:sp>
        <p:nvSpPr>
          <p:cNvPr id="37" name="Text 35"/>
          <p:cNvSpPr txBox="1"/>
          <p:nvPr/>
        </p:nvSpPr>
        <p:spPr>
          <a:xfrm>
            <a:off x="658368" y="3248230"/>
            <a:ext cx="1938528" cy="30948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38" name="Shape 36"/>
          <p:cNvSpPr/>
          <p:nvPr/>
        </p:nvSpPr>
        <p:spPr>
          <a:xfrm>
            <a:off x="2670048" y="3317865"/>
            <a:ext cx="424538" cy="170219"/>
          </a:xfrm>
          <a:prstGeom prst="rect">
            <a:avLst/>
          </a:prstGeom>
          <a:solidFill>
            <a:srgbClr val="C2352F"/>
          </a:solidFill>
          <a:ln/>
        </p:spPr>
      </p:sp>
      <p:sp>
        <p:nvSpPr>
          <p:cNvPr id="39" name="Text 37"/>
          <p:cNvSpPr txBox="1"/>
          <p:nvPr/>
        </p:nvSpPr>
        <p:spPr>
          <a:xfrm>
            <a:off x="3529584" y="3248230"/>
            <a:ext cx="896112" cy="30948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$75,071</a:t>
            </a:r>
            <a:endParaRPr lang="en-US" sz="1300" dirty="0"/>
          </a:p>
        </p:txBody>
      </p:sp>
      <p:sp>
        <p:nvSpPr>
          <p:cNvPr id="40" name="Text 38"/>
          <p:cNvSpPr txBox="1"/>
          <p:nvPr/>
        </p:nvSpPr>
        <p:spPr>
          <a:xfrm>
            <a:off x="4425696" y="3248230"/>
            <a:ext cx="566928"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3.2%</a:t>
            </a:r>
            <a:endParaRPr lang="en-US" sz="1300" dirty="0"/>
          </a:p>
        </p:txBody>
      </p:sp>
      <p:sp>
        <p:nvSpPr>
          <p:cNvPr id="41" name="Text 39"/>
          <p:cNvSpPr txBox="1"/>
          <p:nvPr/>
        </p:nvSpPr>
        <p:spPr>
          <a:xfrm>
            <a:off x="4992624" y="3248230"/>
            <a:ext cx="877824"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509</a:t>
            </a:r>
            <a:endParaRPr lang="en-US" sz="1300" dirty="0"/>
          </a:p>
        </p:txBody>
      </p:sp>
      <p:sp>
        <p:nvSpPr>
          <p:cNvPr id="42" name="Text 40"/>
          <p:cNvSpPr txBox="1"/>
          <p:nvPr/>
        </p:nvSpPr>
        <p:spPr>
          <a:xfrm>
            <a:off x="658368" y="3557719"/>
            <a:ext cx="1938528" cy="30948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43" name="Shape 41"/>
          <p:cNvSpPr/>
          <p:nvPr/>
        </p:nvSpPr>
        <p:spPr>
          <a:xfrm>
            <a:off x="2670048" y="3627354"/>
            <a:ext cx="368655" cy="170219"/>
          </a:xfrm>
          <a:prstGeom prst="rect">
            <a:avLst/>
          </a:prstGeom>
          <a:solidFill>
            <a:srgbClr val="C2352F"/>
          </a:solidFill>
          <a:ln/>
        </p:spPr>
      </p:sp>
      <p:sp>
        <p:nvSpPr>
          <p:cNvPr id="44" name="Text 42"/>
          <p:cNvSpPr txBox="1"/>
          <p:nvPr/>
        </p:nvSpPr>
        <p:spPr>
          <a:xfrm>
            <a:off x="3529584" y="3557719"/>
            <a:ext cx="896112" cy="30948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$65,189</a:t>
            </a:r>
            <a:endParaRPr lang="en-US" sz="1300" dirty="0"/>
          </a:p>
        </p:txBody>
      </p:sp>
      <p:sp>
        <p:nvSpPr>
          <p:cNvPr id="45" name="Text 43"/>
          <p:cNvSpPr txBox="1"/>
          <p:nvPr/>
        </p:nvSpPr>
        <p:spPr>
          <a:xfrm>
            <a:off x="4425696" y="3557719"/>
            <a:ext cx="566928"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2.7%</a:t>
            </a:r>
            <a:endParaRPr lang="en-US" sz="1300" dirty="0"/>
          </a:p>
        </p:txBody>
      </p:sp>
      <p:sp>
        <p:nvSpPr>
          <p:cNvPr id="46" name="Text 44"/>
          <p:cNvSpPr txBox="1"/>
          <p:nvPr/>
        </p:nvSpPr>
        <p:spPr>
          <a:xfrm>
            <a:off x="4992624" y="3557719"/>
            <a:ext cx="877824"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400</a:t>
            </a:r>
            <a:endParaRPr lang="en-US" sz="1300" dirty="0"/>
          </a:p>
        </p:txBody>
      </p:sp>
      <p:sp>
        <p:nvSpPr>
          <p:cNvPr id="47" name="Text 45"/>
          <p:cNvSpPr txBox="1"/>
          <p:nvPr/>
        </p:nvSpPr>
        <p:spPr>
          <a:xfrm>
            <a:off x="658368" y="3867209"/>
            <a:ext cx="1938528" cy="30948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48" name="Shape 46"/>
          <p:cNvSpPr/>
          <p:nvPr/>
        </p:nvSpPr>
        <p:spPr>
          <a:xfrm>
            <a:off x="2670048" y="3936844"/>
            <a:ext cx="359513" cy="170219"/>
          </a:xfrm>
          <a:prstGeom prst="rect">
            <a:avLst/>
          </a:prstGeom>
          <a:solidFill>
            <a:srgbClr val="C2352F"/>
          </a:solidFill>
          <a:ln/>
        </p:spPr>
      </p:sp>
      <p:sp>
        <p:nvSpPr>
          <p:cNvPr id="49" name="Text 47"/>
          <p:cNvSpPr txBox="1"/>
          <p:nvPr/>
        </p:nvSpPr>
        <p:spPr>
          <a:xfrm>
            <a:off x="3529584" y="3867209"/>
            <a:ext cx="896112" cy="30948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$63,573</a:t>
            </a:r>
            <a:endParaRPr lang="en-US" sz="1300" dirty="0"/>
          </a:p>
        </p:txBody>
      </p:sp>
      <p:sp>
        <p:nvSpPr>
          <p:cNvPr id="50" name="Text 48"/>
          <p:cNvSpPr txBox="1"/>
          <p:nvPr/>
        </p:nvSpPr>
        <p:spPr>
          <a:xfrm>
            <a:off x="4425696" y="3867209"/>
            <a:ext cx="566928"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4.1%</a:t>
            </a:r>
            <a:endParaRPr lang="en-US" sz="1300" dirty="0"/>
          </a:p>
        </p:txBody>
      </p:sp>
      <p:sp>
        <p:nvSpPr>
          <p:cNvPr id="51" name="Text 49"/>
          <p:cNvSpPr txBox="1"/>
          <p:nvPr/>
        </p:nvSpPr>
        <p:spPr>
          <a:xfrm>
            <a:off x="4992624" y="3867209"/>
            <a:ext cx="877824"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308</a:t>
            </a:r>
            <a:endParaRPr lang="en-US" sz="1300" dirty="0"/>
          </a:p>
        </p:txBody>
      </p:sp>
      <p:sp>
        <p:nvSpPr>
          <p:cNvPr id="52" name="Text 50"/>
          <p:cNvSpPr txBox="1"/>
          <p:nvPr/>
        </p:nvSpPr>
        <p:spPr>
          <a:xfrm>
            <a:off x="658368" y="4176698"/>
            <a:ext cx="1938528" cy="30948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53" name="Shape 51"/>
          <p:cNvSpPr/>
          <p:nvPr/>
        </p:nvSpPr>
        <p:spPr>
          <a:xfrm>
            <a:off x="2670048" y="4246333"/>
            <a:ext cx="351554" cy="170219"/>
          </a:xfrm>
          <a:prstGeom prst="rect">
            <a:avLst/>
          </a:prstGeom>
          <a:solidFill>
            <a:srgbClr val="C2352F"/>
          </a:solidFill>
          <a:ln/>
        </p:spPr>
      </p:sp>
      <p:sp>
        <p:nvSpPr>
          <p:cNvPr id="54" name="Text 52"/>
          <p:cNvSpPr txBox="1"/>
          <p:nvPr/>
        </p:nvSpPr>
        <p:spPr>
          <a:xfrm>
            <a:off x="3529584" y="4176698"/>
            <a:ext cx="896112" cy="30948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$62,165</a:t>
            </a:r>
            <a:endParaRPr lang="en-US" sz="1300" dirty="0"/>
          </a:p>
        </p:txBody>
      </p:sp>
      <p:sp>
        <p:nvSpPr>
          <p:cNvPr id="55" name="Text 53"/>
          <p:cNvSpPr txBox="1"/>
          <p:nvPr/>
        </p:nvSpPr>
        <p:spPr>
          <a:xfrm>
            <a:off x="4425696" y="4176698"/>
            <a:ext cx="566928"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0.0%</a:t>
            </a:r>
            <a:endParaRPr lang="en-US" sz="1300" dirty="0"/>
          </a:p>
        </p:txBody>
      </p:sp>
      <p:sp>
        <p:nvSpPr>
          <p:cNvPr id="56" name="Text 54"/>
          <p:cNvSpPr txBox="1"/>
          <p:nvPr/>
        </p:nvSpPr>
        <p:spPr>
          <a:xfrm>
            <a:off x="4992624" y="4176698"/>
            <a:ext cx="877824"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378</a:t>
            </a:r>
            <a:endParaRPr lang="en-US" sz="1300" dirty="0"/>
          </a:p>
        </p:txBody>
      </p:sp>
      <p:sp>
        <p:nvSpPr>
          <p:cNvPr id="57" name="Text 55"/>
          <p:cNvSpPr txBox="1"/>
          <p:nvPr/>
        </p:nvSpPr>
        <p:spPr>
          <a:xfrm>
            <a:off x="658368" y="4486187"/>
            <a:ext cx="1938528" cy="30948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58" name="Shape 56"/>
          <p:cNvSpPr/>
          <p:nvPr/>
        </p:nvSpPr>
        <p:spPr>
          <a:xfrm>
            <a:off x="2670048" y="4555822"/>
            <a:ext cx="349253" cy="170219"/>
          </a:xfrm>
          <a:prstGeom prst="rect">
            <a:avLst/>
          </a:prstGeom>
          <a:solidFill>
            <a:srgbClr val="C2352F"/>
          </a:solidFill>
          <a:ln/>
        </p:spPr>
      </p:sp>
      <p:sp>
        <p:nvSpPr>
          <p:cNvPr id="59" name="Text 57"/>
          <p:cNvSpPr txBox="1"/>
          <p:nvPr/>
        </p:nvSpPr>
        <p:spPr>
          <a:xfrm>
            <a:off x="3529584" y="4486187"/>
            <a:ext cx="896112" cy="30948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$61,758</a:t>
            </a:r>
            <a:endParaRPr lang="en-US" sz="1300" dirty="0"/>
          </a:p>
        </p:txBody>
      </p:sp>
      <p:sp>
        <p:nvSpPr>
          <p:cNvPr id="60" name="Text 58"/>
          <p:cNvSpPr txBox="1"/>
          <p:nvPr/>
        </p:nvSpPr>
        <p:spPr>
          <a:xfrm>
            <a:off x="4425696" y="4486187"/>
            <a:ext cx="566928"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3.0%</a:t>
            </a:r>
            <a:endParaRPr lang="en-US" sz="1300" dirty="0"/>
          </a:p>
        </p:txBody>
      </p:sp>
      <p:sp>
        <p:nvSpPr>
          <p:cNvPr id="61" name="Text 59"/>
          <p:cNvSpPr txBox="1"/>
          <p:nvPr/>
        </p:nvSpPr>
        <p:spPr>
          <a:xfrm>
            <a:off x="4992624" y="4486187"/>
            <a:ext cx="877824"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321</a:t>
            </a:r>
            <a:endParaRPr lang="en-US" sz="1300" dirty="0"/>
          </a:p>
        </p:txBody>
      </p:sp>
      <p:sp>
        <p:nvSpPr>
          <p:cNvPr id="62" name="Text 60"/>
          <p:cNvSpPr txBox="1"/>
          <p:nvPr/>
        </p:nvSpPr>
        <p:spPr>
          <a:xfrm>
            <a:off x="658368" y="4795676"/>
            <a:ext cx="1938528" cy="30948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63" name="Shape 61"/>
          <p:cNvSpPr/>
          <p:nvPr/>
        </p:nvSpPr>
        <p:spPr>
          <a:xfrm>
            <a:off x="2670048" y="4865311"/>
            <a:ext cx="338933" cy="170219"/>
          </a:xfrm>
          <a:prstGeom prst="rect">
            <a:avLst/>
          </a:prstGeom>
          <a:solidFill>
            <a:srgbClr val="C2352F"/>
          </a:solidFill>
          <a:ln/>
        </p:spPr>
      </p:sp>
      <p:sp>
        <p:nvSpPr>
          <p:cNvPr id="64" name="Text 62"/>
          <p:cNvSpPr txBox="1"/>
          <p:nvPr/>
        </p:nvSpPr>
        <p:spPr>
          <a:xfrm>
            <a:off x="3529584" y="4795676"/>
            <a:ext cx="896112" cy="30948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$59,934</a:t>
            </a:r>
            <a:endParaRPr lang="en-US" sz="1300" dirty="0"/>
          </a:p>
        </p:txBody>
      </p:sp>
      <p:sp>
        <p:nvSpPr>
          <p:cNvPr id="65" name="Text 63"/>
          <p:cNvSpPr txBox="1"/>
          <p:nvPr/>
        </p:nvSpPr>
        <p:spPr>
          <a:xfrm>
            <a:off x="4425696" y="4795676"/>
            <a:ext cx="566928"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0.7%</a:t>
            </a:r>
            <a:endParaRPr lang="en-US" sz="1300" dirty="0"/>
          </a:p>
        </p:txBody>
      </p:sp>
      <p:sp>
        <p:nvSpPr>
          <p:cNvPr id="66" name="Text 64"/>
          <p:cNvSpPr txBox="1"/>
          <p:nvPr/>
        </p:nvSpPr>
        <p:spPr>
          <a:xfrm>
            <a:off x="4992624" y="4795676"/>
            <a:ext cx="877824"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364</a:t>
            </a:r>
            <a:endParaRPr lang="en-US" sz="1300" dirty="0"/>
          </a:p>
        </p:txBody>
      </p:sp>
      <p:sp>
        <p:nvSpPr>
          <p:cNvPr id="67" name="Text 65"/>
          <p:cNvSpPr txBox="1"/>
          <p:nvPr/>
        </p:nvSpPr>
        <p:spPr>
          <a:xfrm>
            <a:off x="658368" y="5105166"/>
            <a:ext cx="1938528" cy="30948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68" name="Shape 66"/>
          <p:cNvSpPr/>
          <p:nvPr/>
        </p:nvSpPr>
        <p:spPr>
          <a:xfrm>
            <a:off x="2670048" y="5174801"/>
            <a:ext cx="317170" cy="170219"/>
          </a:xfrm>
          <a:prstGeom prst="rect">
            <a:avLst/>
          </a:prstGeom>
          <a:solidFill>
            <a:srgbClr val="C2352F"/>
          </a:solidFill>
          <a:ln/>
        </p:spPr>
      </p:sp>
      <p:sp>
        <p:nvSpPr>
          <p:cNvPr id="69" name="Text 67"/>
          <p:cNvSpPr txBox="1"/>
          <p:nvPr/>
        </p:nvSpPr>
        <p:spPr>
          <a:xfrm>
            <a:off x="3529584" y="5105166"/>
            <a:ext cx="896112" cy="30948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$56,085</a:t>
            </a:r>
            <a:endParaRPr lang="en-US" sz="1300" dirty="0"/>
          </a:p>
        </p:txBody>
      </p:sp>
      <p:sp>
        <p:nvSpPr>
          <p:cNvPr id="70" name="Text 68"/>
          <p:cNvSpPr txBox="1"/>
          <p:nvPr/>
        </p:nvSpPr>
        <p:spPr>
          <a:xfrm>
            <a:off x="4425696" y="5105166"/>
            <a:ext cx="566928"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5.8%</a:t>
            </a:r>
            <a:endParaRPr lang="en-US" sz="1300" dirty="0"/>
          </a:p>
        </p:txBody>
      </p:sp>
      <p:sp>
        <p:nvSpPr>
          <p:cNvPr id="71" name="Text 69"/>
          <p:cNvSpPr txBox="1"/>
          <p:nvPr/>
        </p:nvSpPr>
        <p:spPr>
          <a:xfrm>
            <a:off x="4992624" y="5105166"/>
            <a:ext cx="877824"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387</a:t>
            </a:r>
            <a:endParaRPr lang="en-US" sz="1300" dirty="0"/>
          </a:p>
        </p:txBody>
      </p:sp>
      <p:sp>
        <p:nvSpPr>
          <p:cNvPr id="72" name="Text 70"/>
          <p:cNvSpPr txBox="1"/>
          <p:nvPr/>
        </p:nvSpPr>
        <p:spPr>
          <a:xfrm>
            <a:off x="658368" y="5414655"/>
            <a:ext cx="1938528" cy="30948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73" name="Shape 71"/>
          <p:cNvSpPr/>
          <p:nvPr/>
        </p:nvSpPr>
        <p:spPr>
          <a:xfrm>
            <a:off x="2670048" y="5484290"/>
            <a:ext cx="316483" cy="170219"/>
          </a:xfrm>
          <a:prstGeom prst="rect">
            <a:avLst/>
          </a:prstGeom>
          <a:solidFill>
            <a:srgbClr val="C2352F"/>
          </a:solidFill>
          <a:ln/>
        </p:spPr>
      </p:sp>
      <p:sp>
        <p:nvSpPr>
          <p:cNvPr id="74" name="Text 72"/>
          <p:cNvSpPr txBox="1"/>
          <p:nvPr/>
        </p:nvSpPr>
        <p:spPr>
          <a:xfrm>
            <a:off x="3529584" y="5414655"/>
            <a:ext cx="896112" cy="30948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$55,964</a:t>
            </a:r>
            <a:endParaRPr lang="en-US" sz="1300" dirty="0"/>
          </a:p>
        </p:txBody>
      </p:sp>
      <p:sp>
        <p:nvSpPr>
          <p:cNvPr id="75" name="Text 73"/>
          <p:cNvSpPr txBox="1"/>
          <p:nvPr/>
        </p:nvSpPr>
        <p:spPr>
          <a:xfrm>
            <a:off x="4425696" y="5414655"/>
            <a:ext cx="566928"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0.0%</a:t>
            </a:r>
            <a:endParaRPr lang="en-US" sz="1300" dirty="0"/>
          </a:p>
        </p:txBody>
      </p:sp>
      <p:sp>
        <p:nvSpPr>
          <p:cNvPr id="76" name="Text 74"/>
          <p:cNvSpPr txBox="1"/>
          <p:nvPr/>
        </p:nvSpPr>
        <p:spPr>
          <a:xfrm>
            <a:off x="4992624" y="5414655"/>
            <a:ext cx="877824"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340</a:t>
            </a:r>
            <a:endParaRPr lang="en-US" sz="1300" dirty="0"/>
          </a:p>
        </p:txBody>
      </p:sp>
      <p:sp>
        <p:nvSpPr>
          <p:cNvPr id="77" name="Text 75"/>
          <p:cNvSpPr txBox="1"/>
          <p:nvPr/>
        </p:nvSpPr>
        <p:spPr>
          <a:xfrm>
            <a:off x="6208776" y="1700784"/>
            <a:ext cx="1938528" cy="30948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78" name="Shape 76"/>
          <p:cNvSpPr/>
          <p:nvPr/>
        </p:nvSpPr>
        <p:spPr>
          <a:xfrm>
            <a:off x="8220456" y="1770419"/>
            <a:ext cx="290838" cy="170219"/>
          </a:xfrm>
          <a:prstGeom prst="rect">
            <a:avLst/>
          </a:prstGeom>
          <a:solidFill>
            <a:srgbClr val="C2352F"/>
          </a:solidFill>
          <a:ln/>
        </p:spPr>
      </p:sp>
      <p:sp>
        <p:nvSpPr>
          <p:cNvPr id="79" name="Text 77"/>
          <p:cNvSpPr txBox="1"/>
          <p:nvPr/>
        </p:nvSpPr>
        <p:spPr>
          <a:xfrm>
            <a:off x="9079992" y="1700784"/>
            <a:ext cx="896112" cy="30948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$51,429</a:t>
            </a:r>
            <a:endParaRPr lang="en-US" sz="1300" dirty="0"/>
          </a:p>
        </p:txBody>
      </p:sp>
      <p:sp>
        <p:nvSpPr>
          <p:cNvPr id="80" name="Text 78"/>
          <p:cNvSpPr txBox="1"/>
          <p:nvPr/>
        </p:nvSpPr>
        <p:spPr>
          <a:xfrm>
            <a:off x="9976104" y="1700784"/>
            <a:ext cx="566928"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0.8%</a:t>
            </a:r>
            <a:endParaRPr lang="en-US" sz="1300" dirty="0"/>
          </a:p>
        </p:txBody>
      </p:sp>
      <p:sp>
        <p:nvSpPr>
          <p:cNvPr id="81" name="Text 79"/>
          <p:cNvSpPr txBox="1"/>
          <p:nvPr/>
        </p:nvSpPr>
        <p:spPr>
          <a:xfrm>
            <a:off x="10543032" y="1700784"/>
            <a:ext cx="877824"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313</a:t>
            </a:r>
            <a:endParaRPr lang="en-US" sz="1300" dirty="0"/>
          </a:p>
        </p:txBody>
      </p:sp>
      <p:sp>
        <p:nvSpPr>
          <p:cNvPr id="82" name="Text 80"/>
          <p:cNvSpPr txBox="1"/>
          <p:nvPr/>
        </p:nvSpPr>
        <p:spPr>
          <a:xfrm>
            <a:off x="6208776" y="2010273"/>
            <a:ext cx="1938528" cy="30948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83" name="Shape 81"/>
          <p:cNvSpPr/>
          <p:nvPr/>
        </p:nvSpPr>
        <p:spPr>
          <a:xfrm>
            <a:off x="8220456" y="2079908"/>
            <a:ext cx="259149" cy="170219"/>
          </a:xfrm>
          <a:prstGeom prst="rect">
            <a:avLst/>
          </a:prstGeom>
          <a:solidFill>
            <a:srgbClr val="C2352F"/>
          </a:solidFill>
          <a:ln/>
        </p:spPr>
      </p:sp>
      <p:sp>
        <p:nvSpPr>
          <p:cNvPr id="84" name="Text 82"/>
          <p:cNvSpPr txBox="1"/>
          <p:nvPr/>
        </p:nvSpPr>
        <p:spPr>
          <a:xfrm>
            <a:off x="9079992" y="2010273"/>
            <a:ext cx="896112" cy="30948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$45,825</a:t>
            </a:r>
            <a:endParaRPr lang="en-US" sz="1300" dirty="0"/>
          </a:p>
        </p:txBody>
      </p:sp>
      <p:sp>
        <p:nvSpPr>
          <p:cNvPr id="85" name="Text 83"/>
          <p:cNvSpPr txBox="1"/>
          <p:nvPr/>
        </p:nvSpPr>
        <p:spPr>
          <a:xfrm>
            <a:off x="9976104" y="2010273"/>
            <a:ext cx="566928"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5.1%</a:t>
            </a:r>
            <a:endParaRPr lang="en-US" sz="1300" dirty="0"/>
          </a:p>
        </p:txBody>
      </p:sp>
      <p:sp>
        <p:nvSpPr>
          <p:cNvPr id="86" name="Text 84"/>
          <p:cNvSpPr txBox="1"/>
          <p:nvPr/>
        </p:nvSpPr>
        <p:spPr>
          <a:xfrm>
            <a:off x="10543032" y="2010273"/>
            <a:ext cx="877824"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170</a:t>
            </a:r>
            <a:endParaRPr lang="en-US" sz="1300" dirty="0"/>
          </a:p>
        </p:txBody>
      </p:sp>
      <p:sp>
        <p:nvSpPr>
          <p:cNvPr id="87" name="Text 85"/>
          <p:cNvSpPr txBox="1"/>
          <p:nvPr/>
        </p:nvSpPr>
        <p:spPr>
          <a:xfrm>
            <a:off x="6208776" y="2319762"/>
            <a:ext cx="1938528" cy="30948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88" name="Shape 86"/>
          <p:cNvSpPr/>
          <p:nvPr/>
        </p:nvSpPr>
        <p:spPr>
          <a:xfrm>
            <a:off x="8220456" y="2389398"/>
            <a:ext cx="190832" cy="170219"/>
          </a:xfrm>
          <a:prstGeom prst="rect">
            <a:avLst/>
          </a:prstGeom>
          <a:solidFill>
            <a:srgbClr val="C2352F"/>
          </a:solidFill>
          <a:ln/>
        </p:spPr>
      </p:sp>
      <p:sp>
        <p:nvSpPr>
          <p:cNvPr id="89" name="Text 87"/>
          <p:cNvSpPr txBox="1"/>
          <p:nvPr/>
        </p:nvSpPr>
        <p:spPr>
          <a:xfrm>
            <a:off x="9079992" y="2319762"/>
            <a:ext cx="896112" cy="30948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$33,745</a:t>
            </a:r>
            <a:endParaRPr lang="en-US" sz="1300" dirty="0"/>
          </a:p>
        </p:txBody>
      </p:sp>
      <p:sp>
        <p:nvSpPr>
          <p:cNvPr id="90" name="Text 88"/>
          <p:cNvSpPr txBox="1"/>
          <p:nvPr/>
        </p:nvSpPr>
        <p:spPr>
          <a:xfrm>
            <a:off x="9976104" y="2319762"/>
            <a:ext cx="566928"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2.5%</a:t>
            </a:r>
            <a:endParaRPr lang="en-US" sz="1300" dirty="0"/>
          </a:p>
        </p:txBody>
      </p:sp>
      <p:sp>
        <p:nvSpPr>
          <p:cNvPr id="91" name="Text 89"/>
          <p:cNvSpPr txBox="1"/>
          <p:nvPr/>
        </p:nvSpPr>
        <p:spPr>
          <a:xfrm>
            <a:off x="10543032" y="2319762"/>
            <a:ext cx="877824"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103</a:t>
            </a:r>
            <a:endParaRPr lang="en-US" sz="1300" dirty="0"/>
          </a:p>
        </p:txBody>
      </p:sp>
      <p:sp>
        <p:nvSpPr>
          <p:cNvPr id="92" name="Text 90"/>
          <p:cNvSpPr txBox="1"/>
          <p:nvPr/>
        </p:nvSpPr>
        <p:spPr>
          <a:xfrm>
            <a:off x="6208776" y="2629252"/>
            <a:ext cx="1938528" cy="30948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93" name="Shape 91"/>
          <p:cNvSpPr/>
          <p:nvPr/>
        </p:nvSpPr>
        <p:spPr>
          <a:xfrm>
            <a:off x="8220456" y="2698887"/>
            <a:ext cx="163264" cy="170219"/>
          </a:xfrm>
          <a:prstGeom prst="rect">
            <a:avLst/>
          </a:prstGeom>
          <a:solidFill>
            <a:srgbClr val="C2352F"/>
          </a:solidFill>
          <a:ln/>
        </p:spPr>
      </p:sp>
      <p:sp>
        <p:nvSpPr>
          <p:cNvPr id="94" name="Text 92"/>
          <p:cNvSpPr txBox="1"/>
          <p:nvPr/>
        </p:nvSpPr>
        <p:spPr>
          <a:xfrm>
            <a:off x="9079992" y="2629252"/>
            <a:ext cx="896112" cy="30948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$28,870</a:t>
            </a:r>
            <a:endParaRPr lang="en-US" sz="1300" dirty="0"/>
          </a:p>
        </p:txBody>
      </p:sp>
      <p:sp>
        <p:nvSpPr>
          <p:cNvPr id="95" name="Text 93"/>
          <p:cNvSpPr txBox="1"/>
          <p:nvPr/>
        </p:nvSpPr>
        <p:spPr>
          <a:xfrm>
            <a:off x="9976104" y="2629252"/>
            <a:ext cx="566928"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2.7%</a:t>
            </a:r>
            <a:endParaRPr lang="en-US" sz="1300" dirty="0"/>
          </a:p>
        </p:txBody>
      </p:sp>
      <p:sp>
        <p:nvSpPr>
          <p:cNvPr id="96" name="Text 94"/>
          <p:cNvSpPr txBox="1"/>
          <p:nvPr/>
        </p:nvSpPr>
        <p:spPr>
          <a:xfrm>
            <a:off x="10543032" y="2629252"/>
            <a:ext cx="877824"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123</a:t>
            </a:r>
            <a:endParaRPr lang="en-US" sz="1300" dirty="0"/>
          </a:p>
        </p:txBody>
      </p:sp>
      <p:sp>
        <p:nvSpPr>
          <p:cNvPr id="97" name="Text 95"/>
          <p:cNvSpPr txBox="1"/>
          <p:nvPr/>
        </p:nvSpPr>
        <p:spPr>
          <a:xfrm>
            <a:off x="6208776" y="2938741"/>
            <a:ext cx="1938528" cy="30948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98" name="Shape 96"/>
          <p:cNvSpPr/>
          <p:nvPr/>
        </p:nvSpPr>
        <p:spPr>
          <a:xfrm>
            <a:off x="8220456" y="3008376"/>
            <a:ext cx="147423" cy="170219"/>
          </a:xfrm>
          <a:prstGeom prst="rect">
            <a:avLst/>
          </a:prstGeom>
          <a:solidFill>
            <a:srgbClr val="C2352F"/>
          </a:solidFill>
          <a:ln/>
        </p:spPr>
      </p:sp>
      <p:sp>
        <p:nvSpPr>
          <p:cNvPr id="99" name="Text 97"/>
          <p:cNvSpPr txBox="1"/>
          <p:nvPr/>
        </p:nvSpPr>
        <p:spPr>
          <a:xfrm>
            <a:off x="9079992" y="2938741"/>
            <a:ext cx="896112" cy="30948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$26,069</a:t>
            </a:r>
            <a:endParaRPr lang="en-US" sz="1300" dirty="0"/>
          </a:p>
        </p:txBody>
      </p:sp>
      <p:sp>
        <p:nvSpPr>
          <p:cNvPr id="100" name="Text 98"/>
          <p:cNvSpPr txBox="1"/>
          <p:nvPr/>
        </p:nvSpPr>
        <p:spPr>
          <a:xfrm>
            <a:off x="9976104" y="2938741"/>
            <a:ext cx="566928"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5.2%</a:t>
            </a:r>
            <a:endParaRPr lang="en-US" sz="1300" dirty="0"/>
          </a:p>
        </p:txBody>
      </p:sp>
      <p:sp>
        <p:nvSpPr>
          <p:cNvPr id="101" name="Text 99"/>
          <p:cNvSpPr txBox="1"/>
          <p:nvPr/>
        </p:nvSpPr>
        <p:spPr>
          <a:xfrm>
            <a:off x="10543032" y="2938741"/>
            <a:ext cx="877824"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174</a:t>
            </a:r>
            <a:endParaRPr lang="en-US" sz="1300" dirty="0"/>
          </a:p>
        </p:txBody>
      </p:sp>
      <p:sp>
        <p:nvSpPr>
          <p:cNvPr id="102" name="Text 100"/>
          <p:cNvSpPr txBox="1"/>
          <p:nvPr/>
        </p:nvSpPr>
        <p:spPr>
          <a:xfrm>
            <a:off x="6208776" y="3248230"/>
            <a:ext cx="1938528" cy="30948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103" name="Shape 101"/>
          <p:cNvSpPr/>
          <p:nvPr/>
        </p:nvSpPr>
        <p:spPr>
          <a:xfrm>
            <a:off x="8220456" y="3317865"/>
            <a:ext cx="140924" cy="170219"/>
          </a:xfrm>
          <a:prstGeom prst="rect">
            <a:avLst/>
          </a:prstGeom>
          <a:solidFill>
            <a:srgbClr val="C2352F"/>
          </a:solidFill>
          <a:ln/>
        </p:spPr>
      </p:sp>
      <p:sp>
        <p:nvSpPr>
          <p:cNvPr id="104" name="Text 102"/>
          <p:cNvSpPr txBox="1"/>
          <p:nvPr/>
        </p:nvSpPr>
        <p:spPr>
          <a:xfrm>
            <a:off x="9079992" y="3248230"/>
            <a:ext cx="896112" cy="30948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$24,920</a:t>
            </a:r>
            <a:endParaRPr lang="en-US" sz="1300" dirty="0"/>
          </a:p>
        </p:txBody>
      </p:sp>
      <p:sp>
        <p:nvSpPr>
          <p:cNvPr id="105" name="Text 103"/>
          <p:cNvSpPr txBox="1"/>
          <p:nvPr/>
        </p:nvSpPr>
        <p:spPr>
          <a:xfrm>
            <a:off x="9976104" y="3248230"/>
            <a:ext cx="566928"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4.2%</a:t>
            </a:r>
            <a:endParaRPr lang="en-US" sz="1300" dirty="0"/>
          </a:p>
        </p:txBody>
      </p:sp>
      <p:sp>
        <p:nvSpPr>
          <p:cNvPr id="106" name="Text 104"/>
          <p:cNvSpPr txBox="1"/>
          <p:nvPr/>
        </p:nvSpPr>
        <p:spPr>
          <a:xfrm>
            <a:off x="10543032" y="3248230"/>
            <a:ext cx="877824"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195</a:t>
            </a:r>
            <a:endParaRPr lang="en-US" sz="1300" dirty="0"/>
          </a:p>
        </p:txBody>
      </p:sp>
      <p:sp>
        <p:nvSpPr>
          <p:cNvPr id="107" name="Text 105"/>
          <p:cNvSpPr txBox="1"/>
          <p:nvPr/>
        </p:nvSpPr>
        <p:spPr>
          <a:xfrm>
            <a:off x="6208776" y="3557719"/>
            <a:ext cx="1938528" cy="30948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108" name="Shape 106"/>
          <p:cNvSpPr/>
          <p:nvPr/>
        </p:nvSpPr>
        <p:spPr>
          <a:xfrm>
            <a:off x="8220456" y="3627354"/>
            <a:ext cx="134775" cy="170219"/>
          </a:xfrm>
          <a:prstGeom prst="rect">
            <a:avLst/>
          </a:prstGeom>
          <a:solidFill>
            <a:srgbClr val="C2352F"/>
          </a:solidFill>
          <a:ln/>
        </p:spPr>
      </p:sp>
      <p:sp>
        <p:nvSpPr>
          <p:cNvPr id="109" name="Text 107"/>
          <p:cNvSpPr txBox="1"/>
          <p:nvPr/>
        </p:nvSpPr>
        <p:spPr>
          <a:xfrm>
            <a:off x="9079992" y="3557719"/>
            <a:ext cx="896112" cy="30948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$23,832</a:t>
            </a:r>
            <a:endParaRPr lang="en-US" sz="1300" dirty="0"/>
          </a:p>
        </p:txBody>
      </p:sp>
      <p:sp>
        <p:nvSpPr>
          <p:cNvPr id="110" name="Text 108"/>
          <p:cNvSpPr txBox="1"/>
          <p:nvPr/>
        </p:nvSpPr>
        <p:spPr>
          <a:xfrm>
            <a:off x="9976104" y="3557719"/>
            <a:ext cx="566928"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5.5%</a:t>
            </a:r>
            <a:endParaRPr lang="en-US" sz="1300" dirty="0"/>
          </a:p>
        </p:txBody>
      </p:sp>
      <p:sp>
        <p:nvSpPr>
          <p:cNvPr id="111" name="Text 109"/>
          <p:cNvSpPr txBox="1"/>
          <p:nvPr/>
        </p:nvSpPr>
        <p:spPr>
          <a:xfrm>
            <a:off x="10543032" y="3557719"/>
            <a:ext cx="877824"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92</a:t>
            </a:r>
            <a:endParaRPr lang="en-US" sz="1300" dirty="0"/>
          </a:p>
        </p:txBody>
      </p:sp>
      <p:sp>
        <p:nvSpPr>
          <p:cNvPr id="112" name="Text 110"/>
          <p:cNvSpPr txBox="1"/>
          <p:nvPr/>
        </p:nvSpPr>
        <p:spPr>
          <a:xfrm>
            <a:off x="6208776" y="3867209"/>
            <a:ext cx="1938528" cy="30948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113" name="Shape 111"/>
          <p:cNvSpPr/>
          <p:nvPr/>
        </p:nvSpPr>
        <p:spPr>
          <a:xfrm>
            <a:off x="8220456" y="3936844"/>
            <a:ext cx="120016" cy="170219"/>
          </a:xfrm>
          <a:prstGeom prst="rect">
            <a:avLst/>
          </a:prstGeom>
          <a:solidFill>
            <a:srgbClr val="C2352F"/>
          </a:solidFill>
          <a:ln/>
        </p:spPr>
      </p:sp>
      <p:sp>
        <p:nvSpPr>
          <p:cNvPr id="114" name="Text 112"/>
          <p:cNvSpPr txBox="1"/>
          <p:nvPr/>
        </p:nvSpPr>
        <p:spPr>
          <a:xfrm>
            <a:off x="9079992" y="3867209"/>
            <a:ext cx="896112" cy="30948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$21,222</a:t>
            </a:r>
            <a:endParaRPr lang="en-US" sz="1300" dirty="0"/>
          </a:p>
        </p:txBody>
      </p:sp>
      <p:sp>
        <p:nvSpPr>
          <p:cNvPr id="115" name="Text 113"/>
          <p:cNvSpPr txBox="1"/>
          <p:nvPr/>
        </p:nvSpPr>
        <p:spPr>
          <a:xfrm>
            <a:off x="9976104" y="3867209"/>
            <a:ext cx="566928"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3.6%</a:t>
            </a:r>
            <a:endParaRPr lang="en-US" sz="1300" dirty="0"/>
          </a:p>
        </p:txBody>
      </p:sp>
      <p:sp>
        <p:nvSpPr>
          <p:cNvPr id="116" name="Text 114"/>
          <p:cNvSpPr txBox="1"/>
          <p:nvPr/>
        </p:nvSpPr>
        <p:spPr>
          <a:xfrm>
            <a:off x="10543032" y="3867209"/>
            <a:ext cx="877824"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160</a:t>
            </a:r>
            <a:endParaRPr lang="en-US" sz="1300" dirty="0"/>
          </a:p>
        </p:txBody>
      </p:sp>
      <p:sp>
        <p:nvSpPr>
          <p:cNvPr id="117" name="Text 115"/>
          <p:cNvSpPr txBox="1"/>
          <p:nvPr/>
        </p:nvSpPr>
        <p:spPr>
          <a:xfrm>
            <a:off x="6208776" y="4176698"/>
            <a:ext cx="1938528" cy="30948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118" name="Shape 116"/>
          <p:cNvSpPr/>
          <p:nvPr/>
        </p:nvSpPr>
        <p:spPr>
          <a:xfrm>
            <a:off x="8220456" y="4246333"/>
            <a:ext cx="106781" cy="170219"/>
          </a:xfrm>
          <a:prstGeom prst="rect">
            <a:avLst/>
          </a:prstGeom>
          <a:solidFill>
            <a:srgbClr val="C2352F"/>
          </a:solidFill>
          <a:ln/>
        </p:spPr>
      </p:sp>
      <p:sp>
        <p:nvSpPr>
          <p:cNvPr id="119" name="Text 117"/>
          <p:cNvSpPr txBox="1"/>
          <p:nvPr/>
        </p:nvSpPr>
        <p:spPr>
          <a:xfrm>
            <a:off x="9079992" y="4176698"/>
            <a:ext cx="896112" cy="30948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$18,882</a:t>
            </a:r>
            <a:endParaRPr lang="en-US" sz="1300" dirty="0"/>
          </a:p>
        </p:txBody>
      </p:sp>
      <p:sp>
        <p:nvSpPr>
          <p:cNvPr id="120" name="Text 118"/>
          <p:cNvSpPr txBox="1"/>
          <p:nvPr/>
        </p:nvSpPr>
        <p:spPr>
          <a:xfrm>
            <a:off x="9976104" y="4176698"/>
            <a:ext cx="566928"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6.4%</a:t>
            </a:r>
            <a:endParaRPr lang="en-US" sz="1300" dirty="0"/>
          </a:p>
        </p:txBody>
      </p:sp>
      <p:sp>
        <p:nvSpPr>
          <p:cNvPr id="121" name="Text 119"/>
          <p:cNvSpPr txBox="1"/>
          <p:nvPr/>
        </p:nvSpPr>
        <p:spPr>
          <a:xfrm>
            <a:off x="10543032" y="4176698"/>
            <a:ext cx="877824"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186</a:t>
            </a:r>
            <a:endParaRPr lang="en-US" sz="1300" dirty="0"/>
          </a:p>
        </p:txBody>
      </p:sp>
      <p:sp>
        <p:nvSpPr>
          <p:cNvPr id="122" name="Text 120"/>
          <p:cNvSpPr txBox="1"/>
          <p:nvPr/>
        </p:nvSpPr>
        <p:spPr>
          <a:xfrm>
            <a:off x="6208776" y="4486187"/>
            <a:ext cx="1938528" cy="30948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123" name="Shape 121"/>
          <p:cNvSpPr/>
          <p:nvPr/>
        </p:nvSpPr>
        <p:spPr>
          <a:xfrm>
            <a:off x="8220456" y="4555822"/>
            <a:ext cx="103137" cy="170219"/>
          </a:xfrm>
          <a:prstGeom prst="rect">
            <a:avLst/>
          </a:prstGeom>
          <a:solidFill>
            <a:srgbClr val="C2352F"/>
          </a:solidFill>
          <a:ln/>
        </p:spPr>
      </p:sp>
      <p:sp>
        <p:nvSpPr>
          <p:cNvPr id="124" name="Text 122"/>
          <p:cNvSpPr txBox="1"/>
          <p:nvPr/>
        </p:nvSpPr>
        <p:spPr>
          <a:xfrm>
            <a:off x="9079992" y="4486187"/>
            <a:ext cx="896112" cy="30948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$18,238</a:t>
            </a:r>
            <a:endParaRPr lang="en-US" sz="1300" dirty="0"/>
          </a:p>
        </p:txBody>
      </p:sp>
      <p:sp>
        <p:nvSpPr>
          <p:cNvPr id="125" name="Text 123"/>
          <p:cNvSpPr txBox="1"/>
          <p:nvPr/>
        </p:nvSpPr>
        <p:spPr>
          <a:xfrm>
            <a:off x="9976104" y="4486187"/>
            <a:ext cx="566928"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4.5%</a:t>
            </a:r>
            <a:endParaRPr lang="en-US" sz="1300" dirty="0"/>
          </a:p>
        </p:txBody>
      </p:sp>
      <p:sp>
        <p:nvSpPr>
          <p:cNvPr id="126" name="Text 124"/>
          <p:cNvSpPr txBox="1"/>
          <p:nvPr/>
        </p:nvSpPr>
        <p:spPr>
          <a:xfrm>
            <a:off x="10543032" y="4486187"/>
            <a:ext cx="877824"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55</a:t>
            </a:r>
            <a:endParaRPr lang="en-US" sz="1300" dirty="0"/>
          </a:p>
        </p:txBody>
      </p:sp>
      <p:sp>
        <p:nvSpPr>
          <p:cNvPr id="127" name="Text 125"/>
          <p:cNvSpPr txBox="1"/>
          <p:nvPr/>
        </p:nvSpPr>
        <p:spPr>
          <a:xfrm>
            <a:off x="6208776" y="4795676"/>
            <a:ext cx="1938528" cy="30948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128" name="Shape 126"/>
          <p:cNvSpPr/>
          <p:nvPr/>
        </p:nvSpPr>
        <p:spPr>
          <a:xfrm>
            <a:off x="8220456" y="4865311"/>
            <a:ext cx="71967" cy="170219"/>
          </a:xfrm>
          <a:prstGeom prst="rect">
            <a:avLst/>
          </a:prstGeom>
          <a:solidFill>
            <a:srgbClr val="C2352F"/>
          </a:solidFill>
          <a:ln/>
        </p:spPr>
      </p:sp>
      <p:sp>
        <p:nvSpPr>
          <p:cNvPr id="129" name="Text 127"/>
          <p:cNvSpPr txBox="1"/>
          <p:nvPr/>
        </p:nvSpPr>
        <p:spPr>
          <a:xfrm>
            <a:off x="9079992" y="4795676"/>
            <a:ext cx="896112" cy="30948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$12,726</a:t>
            </a:r>
            <a:endParaRPr lang="en-US" sz="1300" dirty="0"/>
          </a:p>
        </p:txBody>
      </p:sp>
      <p:sp>
        <p:nvSpPr>
          <p:cNvPr id="130" name="Text 128"/>
          <p:cNvSpPr txBox="1"/>
          <p:nvPr/>
        </p:nvSpPr>
        <p:spPr>
          <a:xfrm>
            <a:off x="9976104" y="4795676"/>
            <a:ext cx="566928"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5.8%</a:t>
            </a:r>
            <a:endParaRPr lang="en-US" sz="1300" dirty="0"/>
          </a:p>
        </p:txBody>
      </p:sp>
      <p:sp>
        <p:nvSpPr>
          <p:cNvPr id="131" name="Text 129"/>
          <p:cNvSpPr txBox="1"/>
          <p:nvPr/>
        </p:nvSpPr>
        <p:spPr>
          <a:xfrm>
            <a:off x="10543032" y="4795676"/>
            <a:ext cx="877824"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72</a:t>
            </a:r>
            <a:endParaRPr lang="en-US" sz="1300" dirty="0"/>
          </a:p>
        </p:txBody>
      </p:sp>
      <p:sp>
        <p:nvSpPr>
          <p:cNvPr id="132" name="Text 130"/>
          <p:cNvSpPr txBox="1"/>
          <p:nvPr/>
        </p:nvSpPr>
        <p:spPr>
          <a:xfrm>
            <a:off x="6208776" y="5105166"/>
            <a:ext cx="1938528" cy="30948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133" name="Shape 131"/>
          <p:cNvSpPr/>
          <p:nvPr/>
        </p:nvSpPr>
        <p:spPr>
          <a:xfrm>
            <a:off x="8220456" y="5174801"/>
            <a:ext cx="57713" cy="170219"/>
          </a:xfrm>
          <a:prstGeom prst="rect">
            <a:avLst/>
          </a:prstGeom>
          <a:solidFill>
            <a:srgbClr val="C2352F"/>
          </a:solidFill>
          <a:ln/>
        </p:spPr>
      </p:sp>
      <p:sp>
        <p:nvSpPr>
          <p:cNvPr id="134" name="Text 132"/>
          <p:cNvSpPr txBox="1"/>
          <p:nvPr/>
        </p:nvSpPr>
        <p:spPr>
          <a:xfrm>
            <a:off x="9079992" y="5105166"/>
            <a:ext cx="896112" cy="30948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$10,205</a:t>
            </a:r>
            <a:endParaRPr lang="en-US" sz="1300" dirty="0"/>
          </a:p>
        </p:txBody>
      </p:sp>
      <p:sp>
        <p:nvSpPr>
          <p:cNvPr id="135" name="Text 133"/>
          <p:cNvSpPr txBox="1"/>
          <p:nvPr/>
        </p:nvSpPr>
        <p:spPr>
          <a:xfrm>
            <a:off x="9976104" y="5105166"/>
            <a:ext cx="566928"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7.0%</a:t>
            </a:r>
            <a:endParaRPr lang="en-US" sz="1300" dirty="0"/>
          </a:p>
        </p:txBody>
      </p:sp>
      <p:sp>
        <p:nvSpPr>
          <p:cNvPr id="136" name="Text 134"/>
          <p:cNvSpPr txBox="1"/>
          <p:nvPr/>
        </p:nvSpPr>
        <p:spPr>
          <a:xfrm>
            <a:off x="10543032" y="5105166"/>
            <a:ext cx="877824"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78</a:t>
            </a:r>
            <a:endParaRPr lang="en-US" sz="1300" dirty="0"/>
          </a:p>
        </p:txBody>
      </p:sp>
      <p:sp>
        <p:nvSpPr>
          <p:cNvPr id="137" name="Text 135"/>
          <p:cNvSpPr txBox="1"/>
          <p:nvPr/>
        </p:nvSpPr>
        <p:spPr>
          <a:xfrm>
            <a:off x="6208776" y="5414655"/>
            <a:ext cx="1938528" cy="30948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38" name="Shape 136"/>
          <p:cNvSpPr/>
          <p:nvPr/>
        </p:nvSpPr>
        <p:spPr>
          <a:xfrm>
            <a:off x="8220456" y="5484290"/>
            <a:ext cx="18288" cy="170219"/>
          </a:xfrm>
          <a:prstGeom prst="rect">
            <a:avLst/>
          </a:prstGeom>
          <a:solidFill>
            <a:srgbClr val="C2352F"/>
          </a:solidFill>
          <a:ln/>
        </p:spPr>
      </p:sp>
      <p:sp>
        <p:nvSpPr>
          <p:cNvPr id="139" name="Text 137"/>
          <p:cNvSpPr txBox="1"/>
          <p:nvPr/>
        </p:nvSpPr>
        <p:spPr>
          <a:xfrm>
            <a:off x="9079992" y="5414655"/>
            <a:ext cx="896112" cy="30948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$1,206</a:t>
            </a:r>
            <a:endParaRPr lang="en-US" sz="1300" dirty="0"/>
          </a:p>
        </p:txBody>
      </p:sp>
      <p:sp>
        <p:nvSpPr>
          <p:cNvPr id="140" name="Text 138"/>
          <p:cNvSpPr txBox="1"/>
          <p:nvPr/>
        </p:nvSpPr>
        <p:spPr>
          <a:xfrm>
            <a:off x="9976104" y="5414655"/>
            <a:ext cx="566928"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7.3%</a:t>
            </a:r>
            <a:endParaRPr lang="en-US" sz="1300" dirty="0"/>
          </a:p>
        </p:txBody>
      </p:sp>
      <p:sp>
        <p:nvSpPr>
          <p:cNvPr id="141" name="Text 139"/>
          <p:cNvSpPr txBox="1"/>
          <p:nvPr/>
        </p:nvSpPr>
        <p:spPr>
          <a:xfrm>
            <a:off x="10543032" y="5414655"/>
            <a:ext cx="877824" cy="309489"/>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a:t>
            </a:r>
            <a:endParaRPr lang="en-US" sz="1300" dirty="0"/>
          </a:p>
        </p:txBody>
      </p:sp>
      <p:sp>
        <p:nvSpPr>
          <p:cNvPr id="142" name="Shape 140"/>
          <p:cNvSpPr/>
          <p:nvPr/>
        </p:nvSpPr>
        <p:spPr>
          <a:xfrm>
            <a:off x="457200" y="5961888"/>
            <a:ext cx="11274552" cy="548640"/>
          </a:xfrm>
          <a:prstGeom prst="rect">
            <a:avLst/>
          </a:prstGeom>
          <a:solidFill>
            <a:srgbClr val="FBEBEA"/>
          </a:solidFill>
          <a:ln/>
        </p:spPr>
      </p:sp>
      <p:sp>
        <p:nvSpPr>
          <p:cNvPr id="143" name="Text 141"/>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26 stores under 7.5% leave $1,356,881 a year: 8,527 services. CHEVY LV has the most at $142,290.</a:t>
            </a:r>
            <a:endParaRPr lang="en-US" sz="1600" dirty="0"/>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Total Missed Opportunity by Store</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3529584" y="1316736"/>
            <a:ext cx="896112"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Gross/yr</a:t>
            </a:r>
            <a:endParaRPr lang="en-US" sz="1400" dirty="0"/>
          </a:p>
        </p:txBody>
      </p:sp>
      <p:sp>
        <p:nvSpPr>
          <p:cNvPr id="7" name="Text 5"/>
          <p:cNvSpPr txBox="1"/>
          <p:nvPr/>
        </p:nvSpPr>
        <p:spPr>
          <a:xfrm>
            <a:off x="4425696" y="1316736"/>
            <a:ext cx="603504"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Below</a:t>
            </a:r>
            <a:endParaRPr lang="en-US" sz="1400" dirty="0"/>
          </a:p>
        </p:txBody>
      </p:sp>
      <p:sp>
        <p:nvSpPr>
          <p:cNvPr id="8" name="Text 6"/>
          <p:cNvSpPr txBox="1"/>
          <p:nvPr/>
        </p:nvSpPr>
        <p:spPr>
          <a:xfrm>
            <a:off x="5029200" y="1316736"/>
            <a:ext cx="84124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Services</a:t>
            </a:r>
            <a:endParaRPr lang="en-US" sz="1400" dirty="0"/>
          </a:p>
        </p:txBody>
      </p:sp>
      <p:sp>
        <p:nvSpPr>
          <p:cNvPr id="9" name="Text 7"/>
          <p:cNvSpPr txBox="1"/>
          <p:nvPr/>
        </p:nvSpPr>
        <p:spPr>
          <a:xfrm>
            <a:off x="9079992" y="1316736"/>
            <a:ext cx="896112"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Gross/yr</a:t>
            </a:r>
            <a:endParaRPr lang="en-US" sz="1400" dirty="0"/>
          </a:p>
        </p:txBody>
      </p:sp>
      <p:sp>
        <p:nvSpPr>
          <p:cNvPr id="10" name="Text 8"/>
          <p:cNvSpPr txBox="1"/>
          <p:nvPr/>
        </p:nvSpPr>
        <p:spPr>
          <a:xfrm>
            <a:off x="9976104" y="1316736"/>
            <a:ext cx="603504"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Below</a:t>
            </a:r>
            <a:endParaRPr lang="en-US" sz="1400" dirty="0"/>
          </a:p>
        </p:txBody>
      </p:sp>
      <p:sp>
        <p:nvSpPr>
          <p:cNvPr id="11" name="Text 9"/>
          <p:cNvSpPr txBox="1"/>
          <p:nvPr/>
        </p:nvSpPr>
        <p:spPr>
          <a:xfrm>
            <a:off x="10579608" y="1316736"/>
            <a:ext cx="84124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Services</a:t>
            </a:r>
            <a:endParaRPr lang="en-US" sz="1400" dirty="0"/>
          </a:p>
        </p:txBody>
      </p:sp>
      <p:sp>
        <p:nvSpPr>
          <p:cNvPr id="12" name="Text 10"/>
          <p:cNvSpPr txBox="1"/>
          <p:nvPr/>
        </p:nvSpPr>
        <p:spPr>
          <a:xfrm>
            <a:off x="658368" y="1700784"/>
            <a:ext cx="1938528" cy="25146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13" name="Shape 11"/>
          <p:cNvSpPr/>
          <p:nvPr/>
        </p:nvSpPr>
        <p:spPr>
          <a:xfrm>
            <a:off x="2670048" y="1757363"/>
            <a:ext cx="804672" cy="138303"/>
          </a:xfrm>
          <a:prstGeom prst="rect">
            <a:avLst/>
          </a:prstGeom>
          <a:solidFill>
            <a:srgbClr val="C2352F"/>
          </a:solidFill>
          <a:ln/>
        </p:spPr>
      </p:sp>
      <p:sp>
        <p:nvSpPr>
          <p:cNvPr id="14" name="Text 12"/>
          <p:cNvSpPr txBox="1"/>
          <p:nvPr/>
        </p:nvSpPr>
        <p:spPr>
          <a:xfrm>
            <a:off x="3529584" y="1700784"/>
            <a:ext cx="896112" cy="25146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$541,039</a:t>
            </a:r>
            <a:endParaRPr lang="en-US" sz="1300" dirty="0"/>
          </a:p>
        </p:txBody>
      </p:sp>
      <p:sp>
        <p:nvSpPr>
          <p:cNvPr id="15" name="Text 13"/>
          <p:cNvSpPr txBox="1"/>
          <p:nvPr/>
        </p:nvSpPr>
        <p:spPr>
          <a:xfrm>
            <a:off x="4425696" y="1700784"/>
            <a:ext cx="603504" cy="2514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 of 4</a:t>
            </a:r>
            <a:endParaRPr lang="en-US" sz="1300" dirty="0"/>
          </a:p>
        </p:txBody>
      </p:sp>
      <p:sp>
        <p:nvSpPr>
          <p:cNvPr id="16" name="Text 14"/>
          <p:cNvSpPr txBox="1"/>
          <p:nvPr/>
        </p:nvSpPr>
        <p:spPr>
          <a:xfrm>
            <a:off x="5029200" y="1700784"/>
            <a:ext cx="841248" cy="2514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6,921</a:t>
            </a:r>
            <a:endParaRPr lang="en-US" sz="1300" dirty="0"/>
          </a:p>
        </p:txBody>
      </p:sp>
      <p:sp>
        <p:nvSpPr>
          <p:cNvPr id="17" name="Text 15"/>
          <p:cNvSpPr txBox="1"/>
          <p:nvPr/>
        </p:nvSpPr>
        <p:spPr>
          <a:xfrm>
            <a:off x="658368" y="1952244"/>
            <a:ext cx="1938528" cy="25146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18" name="Shape 16"/>
          <p:cNvSpPr/>
          <p:nvPr/>
        </p:nvSpPr>
        <p:spPr>
          <a:xfrm>
            <a:off x="2670048" y="2008823"/>
            <a:ext cx="706276" cy="138303"/>
          </a:xfrm>
          <a:prstGeom prst="rect">
            <a:avLst/>
          </a:prstGeom>
          <a:solidFill>
            <a:srgbClr val="C2352F"/>
          </a:solidFill>
          <a:ln/>
        </p:spPr>
      </p:sp>
      <p:sp>
        <p:nvSpPr>
          <p:cNvPr id="19" name="Text 17"/>
          <p:cNvSpPr txBox="1"/>
          <p:nvPr/>
        </p:nvSpPr>
        <p:spPr>
          <a:xfrm>
            <a:off x="3529584" y="1952244"/>
            <a:ext cx="896112" cy="25146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$474,880</a:t>
            </a:r>
            <a:endParaRPr lang="en-US" sz="1300" dirty="0"/>
          </a:p>
        </p:txBody>
      </p:sp>
      <p:sp>
        <p:nvSpPr>
          <p:cNvPr id="20" name="Text 18"/>
          <p:cNvSpPr txBox="1"/>
          <p:nvPr/>
        </p:nvSpPr>
        <p:spPr>
          <a:xfrm>
            <a:off x="4425696" y="1952244"/>
            <a:ext cx="603504" cy="2514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 of 4</a:t>
            </a:r>
            <a:endParaRPr lang="en-US" sz="1300" dirty="0"/>
          </a:p>
        </p:txBody>
      </p:sp>
      <p:sp>
        <p:nvSpPr>
          <p:cNvPr id="21" name="Text 19"/>
          <p:cNvSpPr txBox="1"/>
          <p:nvPr/>
        </p:nvSpPr>
        <p:spPr>
          <a:xfrm>
            <a:off x="5029200" y="1952244"/>
            <a:ext cx="841248" cy="2514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4,236</a:t>
            </a:r>
            <a:endParaRPr lang="en-US" sz="1300" dirty="0"/>
          </a:p>
        </p:txBody>
      </p:sp>
      <p:sp>
        <p:nvSpPr>
          <p:cNvPr id="22" name="Text 20"/>
          <p:cNvSpPr txBox="1"/>
          <p:nvPr/>
        </p:nvSpPr>
        <p:spPr>
          <a:xfrm>
            <a:off x="658368" y="2203704"/>
            <a:ext cx="1938528" cy="25146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23" name="Shape 21"/>
          <p:cNvSpPr/>
          <p:nvPr/>
        </p:nvSpPr>
        <p:spPr>
          <a:xfrm>
            <a:off x="2670048" y="2260283"/>
            <a:ext cx="528954" cy="138303"/>
          </a:xfrm>
          <a:prstGeom prst="rect">
            <a:avLst/>
          </a:prstGeom>
          <a:solidFill>
            <a:srgbClr val="C2352F"/>
          </a:solidFill>
          <a:ln/>
        </p:spPr>
      </p:sp>
      <p:sp>
        <p:nvSpPr>
          <p:cNvPr id="24" name="Text 22"/>
          <p:cNvSpPr txBox="1"/>
          <p:nvPr/>
        </p:nvSpPr>
        <p:spPr>
          <a:xfrm>
            <a:off x="3529584" y="2203704"/>
            <a:ext cx="896112" cy="25146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$355,653</a:t>
            </a:r>
            <a:endParaRPr lang="en-US" sz="1300" dirty="0"/>
          </a:p>
        </p:txBody>
      </p:sp>
      <p:sp>
        <p:nvSpPr>
          <p:cNvPr id="25" name="Text 23"/>
          <p:cNvSpPr txBox="1"/>
          <p:nvPr/>
        </p:nvSpPr>
        <p:spPr>
          <a:xfrm>
            <a:off x="4425696" y="2203704"/>
            <a:ext cx="603504" cy="2514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 of 4</a:t>
            </a:r>
            <a:endParaRPr lang="en-US" sz="1300" dirty="0"/>
          </a:p>
        </p:txBody>
      </p:sp>
      <p:sp>
        <p:nvSpPr>
          <p:cNvPr id="26" name="Text 24"/>
          <p:cNvSpPr txBox="1"/>
          <p:nvPr/>
        </p:nvSpPr>
        <p:spPr>
          <a:xfrm>
            <a:off x="5029200" y="2203704"/>
            <a:ext cx="841248" cy="2514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4,659</a:t>
            </a:r>
            <a:endParaRPr lang="en-US" sz="1300" dirty="0"/>
          </a:p>
        </p:txBody>
      </p:sp>
      <p:sp>
        <p:nvSpPr>
          <p:cNvPr id="27" name="Text 25"/>
          <p:cNvSpPr txBox="1"/>
          <p:nvPr/>
        </p:nvSpPr>
        <p:spPr>
          <a:xfrm>
            <a:off x="658368" y="2455164"/>
            <a:ext cx="1938528" cy="25146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28" name="Shape 26"/>
          <p:cNvSpPr/>
          <p:nvPr/>
        </p:nvSpPr>
        <p:spPr>
          <a:xfrm>
            <a:off x="2670048" y="2511743"/>
            <a:ext cx="459669" cy="138303"/>
          </a:xfrm>
          <a:prstGeom prst="rect">
            <a:avLst/>
          </a:prstGeom>
          <a:solidFill>
            <a:srgbClr val="C2352F"/>
          </a:solidFill>
          <a:ln/>
        </p:spPr>
      </p:sp>
      <p:sp>
        <p:nvSpPr>
          <p:cNvPr id="29" name="Text 27"/>
          <p:cNvSpPr txBox="1"/>
          <p:nvPr/>
        </p:nvSpPr>
        <p:spPr>
          <a:xfrm>
            <a:off x="3529584" y="2455164"/>
            <a:ext cx="896112" cy="25146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$309,068</a:t>
            </a:r>
            <a:endParaRPr lang="en-US" sz="1300" dirty="0"/>
          </a:p>
        </p:txBody>
      </p:sp>
      <p:sp>
        <p:nvSpPr>
          <p:cNvPr id="30" name="Text 28"/>
          <p:cNvSpPr txBox="1"/>
          <p:nvPr/>
        </p:nvSpPr>
        <p:spPr>
          <a:xfrm>
            <a:off x="4425696" y="2455164"/>
            <a:ext cx="603504" cy="2514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 of 4</a:t>
            </a:r>
            <a:endParaRPr lang="en-US" sz="1300" dirty="0"/>
          </a:p>
        </p:txBody>
      </p:sp>
      <p:sp>
        <p:nvSpPr>
          <p:cNvPr id="31" name="Text 29"/>
          <p:cNvSpPr txBox="1"/>
          <p:nvPr/>
        </p:nvSpPr>
        <p:spPr>
          <a:xfrm>
            <a:off x="5029200" y="2455164"/>
            <a:ext cx="841248" cy="2514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4,054</a:t>
            </a:r>
            <a:endParaRPr lang="en-US" sz="1300" dirty="0"/>
          </a:p>
        </p:txBody>
      </p:sp>
      <p:sp>
        <p:nvSpPr>
          <p:cNvPr id="32" name="Text 30"/>
          <p:cNvSpPr txBox="1"/>
          <p:nvPr/>
        </p:nvSpPr>
        <p:spPr>
          <a:xfrm>
            <a:off x="658368" y="2706624"/>
            <a:ext cx="1938528" cy="25146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33" name="Shape 31"/>
          <p:cNvSpPr/>
          <p:nvPr/>
        </p:nvSpPr>
        <p:spPr>
          <a:xfrm>
            <a:off x="2670048" y="2763203"/>
            <a:ext cx="366701" cy="138303"/>
          </a:xfrm>
          <a:prstGeom prst="rect">
            <a:avLst/>
          </a:prstGeom>
          <a:solidFill>
            <a:srgbClr val="C2352F"/>
          </a:solidFill>
          <a:ln/>
        </p:spPr>
      </p:sp>
      <p:sp>
        <p:nvSpPr>
          <p:cNvPr id="34" name="Text 32"/>
          <p:cNvSpPr txBox="1"/>
          <p:nvPr/>
        </p:nvSpPr>
        <p:spPr>
          <a:xfrm>
            <a:off x="3529584" y="2706624"/>
            <a:ext cx="896112" cy="25146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$246,559</a:t>
            </a:r>
            <a:endParaRPr lang="en-US" sz="1300" dirty="0"/>
          </a:p>
        </p:txBody>
      </p:sp>
      <p:sp>
        <p:nvSpPr>
          <p:cNvPr id="35" name="Text 33"/>
          <p:cNvSpPr txBox="1"/>
          <p:nvPr/>
        </p:nvSpPr>
        <p:spPr>
          <a:xfrm>
            <a:off x="4425696" y="2706624"/>
            <a:ext cx="603504" cy="2514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 of 4</a:t>
            </a:r>
            <a:endParaRPr lang="en-US" sz="1300" dirty="0"/>
          </a:p>
        </p:txBody>
      </p:sp>
      <p:sp>
        <p:nvSpPr>
          <p:cNvPr id="36" name="Text 34"/>
          <p:cNvSpPr txBox="1"/>
          <p:nvPr/>
        </p:nvSpPr>
        <p:spPr>
          <a:xfrm>
            <a:off x="5029200" y="2706624"/>
            <a:ext cx="841248" cy="2514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2,278</a:t>
            </a:r>
            <a:endParaRPr lang="en-US" sz="1300" dirty="0"/>
          </a:p>
        </p:txBody>
      </p:sp>
      <p:sp>
        <p:nvSpPr>
          <p:cNvPr id="37" name="Text 35"/>
          <p:cNvSpPr txBox="1"/>
          <p:nvPr/>
        </p:nvSpPr>
        <p:spPr>
          <a:xfrm>
            <a:off x="658368" y="2958084"/>
            <a:ext cx="1938528" cy="25146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38" name="Shape 36"/>
          <p:cNvSpPr/>
          <p:nvPr/>
        </p:nvSpPr>
        <p:spPr>
          <a:xfrm>
            <a:off x="2670048" y="3014663"/>
            <a:ext cx="363983" cy="138303"/>
          </a:xfrm>
          <a:prstGeom prst="rect">
            <a:avLst/>
          </a:prstGeom>
          <a:solidFill>
            <a:srgbClr val="C2352F"/>
          </a:solidFill>
          <a:ln/>
        </p:spPr>
      </p:sp>
      <p:sp>
        <p:nvSpPr>
          <p:cNvPr id="39" name="Text 37"/>
          <p:cNvSpPr txBox="1"/>
          <p:nvPr/>
        </p:nvSpPr>
        <p:spPr>
          <a:xfrm>
            <a:off x="3529584" y="2958084"/>
            <a:ext cx="896112" cy="25146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$244,731</a:t>
            </a:r>
            <a:endParaRPr lang="en-US" sz="1300" dirty="0"/>
          </a:p>
        </p:txBody>
      </p:sp>
      <p:sp>
        <p:nvSpPr>
          <p:cNvPr id="40" name="Text 38"/>
          <p:cNvSpPr txBox="1"/>
          <p:nvPr/>
        </p:nvSpPr>
        <p:spPr>
          <a:xfrm>
            <a:off x="4425696" y="2958084"/>
            <a:ext cx="603504" cy="2514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 of 4</a:t>
            </a:r>
            <a:endParaRPr lang="en-US" sz="1300" dirty="0"/>
          </a:p>
        </p:txBody>
      </p:sp>
      <p:sp>
        <p:nvSpPr>
          <p:cNvPr id="41" name="Text 39"/>
          <p:cNvSpPr txBox="1"/>
          <p:nvPr/>
        </p:nvSpPr>
        <p:spPr>
          <a:xfrm>
            <a:off x="5029200" y="2958084"/>
            <a:ext cx="841248" cy="2514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2,484</a:t>
            </a:r>
            <a:endParaRPr lang="en-US" sz="1300" dirty="0"/>
          </a:p>
        </p:txBody>
      </p:sp>
      <p:sp>
        <p:nvSpPr>
          <p:cNvPr id="42" name="Text 40"/>
          <p:cNvSpPr txBox="1"/>
          <p:nvPr/>
        </p:nvSpPr>
        <p:spPr>
          <a:xfrm>
            <a:off x="658368" y="3209544"/>
            <a:ext cx="1938528" cy="25146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43" name="Shape 41"/>
          <p:cNvSpPr/>
          <p:nvPr/>
        </p:nvSpPr>
        <p:spPr>
          <a:xfrm>
            <a:off x="2670048" y="3266123"/>
            <a:ext cx="346113" cy="138303"/>
          </a:xfrm>
          <a:prstGeom prst="rect">
            <a:avLst/>
          </a:prstGeom>
          <a:solidFill>
            <a:srgbClr val="C2352F"/>
          </a:solidFill>
          <a:ln/>
        </p:spPr>
      </p:sp>
      <p:sp>
        <p:nvSpPr>
          <p:cNvPr id="44" name="Text 42"/>
          <p:cNvSpPr txBox="1"/>
          <p:nvPr/>
        </p:nvSpPr>
        <p:spPr>
          <a:xfrm>
            <a:off x="3529584" y="3209544"/>
            <a:ext cx="896112" cy="25146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$232,717</a:t>
            </a:r>
            <a:endParaRPr lang="en-US" sz="1300" dirty="0"/>
          </a:p>
        </p:txBody>
      </p:sp>
      <p:sp>
        <p:nvSpPr>
          <p:cNvPr id="45" name="Text 43"/>
          <p:cNvSpPr txBox="1"/>
          <p:nvPr/>
        </p:nvSpPr>
        <p:spPr>
          <a:xfrm>
            <a:off x="4425696" y="3209544"/>
            <a:ext cx="603504" cy="2514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 of 4</a:t>
            </a:r>
            <a:endParaRPr lang="en-US" sz="1300" dirty="0"/>
          </a:p>
        </p:txBody>
      </p:sp>
      <p:sp>
        <p:nvSpPr>
          <p:cNvPr id="46" name="Text 44"/>
          <p:cNvSpPr txBox="1"/>
          <p:nvPr/>
        </p:nvSpPr>
        <p:spPr>
          <a:xfrm>
            <a:off x="5029200" y="3209544"/>
            <a:ext cx="841248" cy="2514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2,541</a:t>
            </a:r>
            <a:endParaRPr lang="en-US" sz="1300" dirty="0"/>
          </a:p>
        </p:txBody>
      </p:sp>
      <p:sp>
        <p:nvSpPr>
          <p:cNvPr id="47" name="Text 45"/>
          <p:cNvSpPr txBox="1"/>
          <p:nvPr/>
        </p:nvSpPr>
        <p:spPr>
          <a:xfrm>
            <a:off x="658368" y="3461004"/>
            <a:ext cx="1938528" cy="25146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48" name="Shape 46"/>
          <p:cNvSpPr/>
          <p:nvPr/>
        </p:nvSpPr>
        <p:spPr>
          <a:xfrm>
            <a:off x="2670048" y="3517583"/>
            <a:ext cx="332201" cy="138303"/>
          </a:xfrm>
          <a:prstGeom prst="rect">
            <a:avLst/>
          </a:prstGeom>
          <a:solidFill>
            <a:srgbClr val="C2352F"/>
          </a:solidFill>
          <a:ln/>
        </p:spPr>
      </p:sp>
      <p:sp>
        <p:nvSpPr>
          <p:cNvPr id="49" name="Text 47"/>
          <p:cNvSpPr txBox="1"/>
          <p:nvPr/>
        </p:nvSpPr>
        <p:spPr>
          <a:xfrm>
            <a:off x="3529584" y="3461004"/>
            <a:ext cx="896112" cy="25146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$223,362</a:t>
            </a:r>
            <a:endParaRPr lang="en-US" sz="1300" dirty="0"/>
          </a:p>
        </p:txBody>
      </p:sp>
      <p:sp>
        <p:nvSpPr>
          <p:cNvPr id="50" name="Text 48"/>
          <p:cNvSpPr txBox="1"/>
          <p:nvPr/>
        </p:nvSpPr>
        <p:spPr>
          <a:xfrm>
            <a:off x="4425696" y="3461004"/>
            <a:ext cx="603504" cy="2514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 of 4</a:t>
            </a:r>
            <a:endParaRPr lang="en-US" sz="1300" dirty="0"/>
          </a:p>
        </p:txBody>
      </p:sp>
      <p:sp>
        <p:nvSpPr>
          <p:cNvPr id="51" name="Text 49"/>
          <p:cNvSpPr txBox="1"/>
          <p:nvPr/>
        </p:nvSpPr>
        <p:spPr>
          <a:xfrm>
            <a:off x="5029200" y="3461004"/>
            <a:ext cx="841248" cy="2514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2,304</a:t>
            </a:r>
            <a:endParaRPr lang="en-US" sz="1300" dirty="0"/>
          </a:p>
        </p:txBody>
      </p:sp>
      <p:sp>
        <p:nvSpPr>
          <p:cNvPr id="52" name="Text 50"/>
          <p:cNvSpPr txBox="1"/>
          <p:nvPr/>
        </p:nvSpPr>
        <p:spPr>
          <a:xfrm>
            <a:off x="658368" y="3712464"/>
            <a:ext cx="1938528" cy="25146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53" name="Shape 51"/>
          <p:cNvSpPr/>
          <p:nvPr/>
        </p:nvSpPr>
        <p:spPr>
          <a:xfrm>
            <a:off x="2670048" y="3769042"/>
            <a:ext cx="320639" cy="138303"/>
          </a:xfrm>
          <a:prstGeom prst="rect">
            <a:avLst/>
          </a:prstGeom>
          <a:solidFill>
            <a:srgbClr val="C2352F"/>
          </a:solidFill>
          <a:ln/>
        </p:spPr>
      </p:sp>
      <p:sp>
        <p:nvSpPr>
          <p:cNvPr id="54" name="Text 52"/>
          <p:cNvSpPr txBox="1"/>
          <p:nvPr/>
        </p:nvSpPr>
        <p:spPr>
          <a:xfrm>
            <a:off x="3529584" y="3712464"/>
            <a:ext cx="896112" cy="25146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$215,588</a:t>
            </a:r>
            <a:endParaRPr lang="en-US" sz="1300" dirty="0"/>
          </a:p>
        </p:txBody>
      </p:sp>
      <p:sp>
        <p:nvSpPr>
          <p:cNvPr id="55" name="Text 53"/>
          <p:cNvSpPr txBox="1"/>
          <p:nvPr/>
        </p:nvSpPr>
        <p:spPr>
          <a:xfrm>
            <a:off x="4425696" y="3712464"/>
            <a:ext cx="603504" cy="2514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 of 4</a:t>
            </a:r>
            <a:endParaRPr lang="en-US" sz="1300" dirty="0"/>
          </a:p>
        </p:txBody>
      </p:sp>
      <p:sp>
        <p:nvSpPr>
          <p:cNvPr id="56" name="Text 54"/>
          <p:cNvSpPr txBox="1"/>
          <p:nvPr/>
        </p:nvSpPr>
        <p:spPr>
          <a:xfrm>
            <a:off x="5029200" y="3712464"/>
            <a:ext cx="841248" cy="2514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1,536</a:t>
            </a:r>
            <a:endParaRPr lang="en-US" sz="1300" dirty="0"/>
          </a:p>
        </p:txBody>
      </p:sp>
      <p:sp>
        <p:nvSpPr>
          <p:cNvPr id="57" name="Text 55"/>
          <p:cNvSpPr txBox="1"/>
          <p:nvPr/>
        </p:nvSpPr>
        <p:spPr>
          <a:xfrm>
            <a:off x="658368" y="3963924"/>
            <a:ext cx="1938528" cy="25146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58" name="Shape 56"/>
          <p:cNvSpPr/>
          <p:nvPr/>
        </p:nvSpPr>
        <p:spPr>
          <a:xfrm>
            <a:off x="2670048" y="4020502"/>
            <a:ext cx="297413" cy="138303"/>
          </a:xfrm>
          <a:prstGeom prst="rect">
            <a:avLst/>
          </a:prstGeom>
          <a:solidFill>
            <a:srgbClr val="C2352F"/>
          </a:solidFill>
          <a:ln/>
        </p:spPr>
      </p:sp>
      <p:sp>
        <p:nvSpPr>
          <p:cNvPr id="59" name="Text 57"/>
          <p:cNvSpPr txBox="1"/>
          <p:nvPr/>
        </p:nvSpPr>
        <p:spPr>
          <a:xfrm>
            <a:off x="3529584" y="3963924"/>
            <a:ext cx="896112" cy="25146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$199,972</a:t>
            </a:r>
            <a:endParaRPr lang="en-US" sz="1300" dirty="0"/>
          </a:p>
        </p:txBody>
      </p:sp>
      <p:sp>
        <p:nvSpPr>
          <p:cNvPr id="60" name="Text 58"/>
          <p:cNvSpPr txBox="1"/>
          <p:nvPr/>
        </p:nvSpPr>
        <p:spPr>
          <a:xfrm>
            <a:off x="4425696" y="3963924"/>
            <a:ext cx="603504" cy="2514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 of 4</a:t>
            </a:r>
            <a:endParaRPr lang="en-US" sz="1300" dirty="0"/>
          </a:p>
        </p:txBody>
      </p:sp>
      <p:sp>
        <p:nvSpPr>
          <p:cNvPr id="61" name="Text 59"/>
          <p:cNvSpPr txBox="1"/>
          <p:nvPr/>
        </p:nvSpPr>
        <p:spPr>
          <a:xfrm>
            <a:off x="5029200" y="3963924"/>
            <a:ext cx="841248" cy="2514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1,676</a:t>
            </a:r>
            <a:endParaRPr lang="en-US" sz="1300" dirty="0"/>
          </a:p>
        </p:txBody>
      </p:sp>
      <p:sp>
        <p:nvSpPr>
          <p:cNvPr id="62" name="Text 60"/>
          <p:cNvSpPr txBox="1"/>
          <p:nvPr/>
        </p:nvSpPr>
        <p:spPr>
          <a:xfrm>
            <a:off x="658368" y="4215384"/>
            <a:ext cx="1938528" cy="25146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63" name="Shape 61"/>
          <p:cNvSpPr/>
          <p:nvPr/>
        </p:nvSpPr>
        <p:spPr>
          <a:xfrm>
            <a:off x="2670048" y="4271962"/>
            <a:ext cx="286859" cy="138303"/>
          </a:xfrm>
          <a:prstGeom prst="rect">
            <a:avLst/>
          </a:prstGeom>
          <a:solidFill>
            <a:srgbClr val="C2352F"/>
          </a:solidFill>
          <a:ln/>
        </p:spPr>
      </p:sp>
      <p:sp>
        <p:nvSpPr>
          <p:cNvPr id="64" name="Text 62"/>
          <p:cNvSpPr txBox="1"/>
          <p:nvPr/>
        </p:nvSpPr>
        <p:spPr>
          <a:xfrm>
            <a:off x="3529584" y="4215384"/>
            <a:ext cx="896112" cy="25146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$192,876</a:t>
            </a:r>
            <a:endParaRPr lang="en-US" sz="1300" dirty="0"/>
          </a:p>
        </p:txBody>
      </p:sp>
      <p:sp>
        <p:nvSpPr>
          <p:cNvPr id="65" name="Text 63"/>
          <p:cNvSpPr txBox="1"/>
          <p:nvPr/>
        </p:nvSpPr>
        <p:spPr>
          <a:xfrm>
            <a:off x="4425696" y="4215384"/>
            <a:ext cx="603504" cy="2514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 of 4</a:t>
            </a:r>
            <a:endParaRPr lang="en-US" sz="1300" dirty="0"/>
          </a:p>
        </p:txBody>
      </p:sp>
      <p:sp>
        <p:nvSpPr>
          <p:cNvPr id="66" name="Text 64"/>
          <p:cNvSpPr txBox="1"/>
          <p:nvPr/>
        </p:nvSpPr>
        <p:spPr>
          <a:xfrm>
            <a:off x="5029200" y="4215384"/>
            <a:ext cx="841248" cy="2514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1,512</a:t>
            </a:r>
            <a:endParaRPr lang="en-US" sz="1300" dirty="0"/>
          </a:p>
        </p:txBody>
      </p:sp>
      <p:sp>
        <p:nvSpPr>
          <p:cNvPr id="67" name="Text 65"/>
          <p:cNvSpPr txBox="1"/>
          <p:nvPr/>
        </p:nvSpPr>
        <p:spPr>
          <a:xfrm>
            <a:off x="658368" y="4466844"/>
            <a:ext cx="1938528" cy="25146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68" name="Shape 66"/>
          <p:cNvSpPr/>
          <p:nvPr/>
        </p:nvSpPr>
        <p:spPr>
          <a:xfrm>
            <a:off x="2670048" y="4523422"/>
            <a:ext cx="284748" cy="138303"/>
          </a:xfrm>
          <a:prstGeom prst="rect">
            <a:avLst/>
          </a:prstGeom>
          <a:solidFill>
            <a:srgbClr val="C2352F"/>
          </a:solidFill>
          <a:ln/>
        </p:spPr>
      </p:sp>
      <p:sp>
        <p:nvSpPr>
          <p:cNvPr id="69" name="Text 67"/>
          <p:cNvSpPr txBox="1"/>
          <p:nvPr/>
        </p:nvSpPr>
        <p:spPr>
          <a:xfrm>
            <a:off x="3529584" y="4466844"/>
            <a:ext cx="896112" cy="25146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$191,456</a:t>
            </a:r>
            <a:endParaRPr lang="en-US" sz="1300" dirty="0"/>
          </a:p>
        </p:txBody>
      </p:sp>
      <p:sp>
        <p:nvSpPr>
          <p:cNvPr id="70" name="Text 68"/>
          <p:cNvSpPr txBox="1"/>
          <p:nvPr/>
        </p:nvSpPr>
        <p:spPr>
          <a:xfrm>
            <a:off x="4425696" y="4466844"/>
            <a:ext cx="603504" cy="2514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 of 4</a:t>
            </a:r>
            <a:endParaRPr lang="en-US" sz="1300" dirty="0"/>
          </a:p>
        </p:txBody>
      </p:sp>
      <p:sp>
        <p:nvSpPr>
          <p:cNvPr id="71" name="Text 69"/>
          <p:cNvSpPr txBox="1"/>
          <p:nvPr/>
        </p:nvSpPr>
        <p:spPr>
          <a:xfrm>
            <a:off x="5029200" y="4466844"/>
            <a:ext cx="841248" cy="2514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2,329</a:t>
            </a:r>
            <a:endParaRPr lang="en-US" sz="1300" dirty="0"/>
          </a:p>
        </p:txBody>
      </p:sp>
      <p:sp>
        <p:nvSpPr>
          <p:cNvPr id="72" name="Text 70"/>
          <p:cNvSpPr txBox="1"/>
          <p:nvPr/>
        </p:nvSpPr>
        <p:spPr>
          <a:xfrm>
            <a:off x="658368" y="4718304"/>
            <a:ext cx="1938528" cy="25146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73" name="Shape 71"/>
          <p:cNvSpPr/>
          <p:nvPr/>
        </p:nvSpPr>
        <p:spPr>
          <a:xfrm>
            <a:off x="2670048" y="4774883"/>
            <a:ext cx="219428" cy="138303"/>
          </a:xfrm>
          <a:prstGeom prst="rect">
            <a:avLst/>
          </a:prstGeom>
          <a:solidFill>
            <a:srgbClr val="C2352F"/>
          </a:solidFill>
          <a:ln/>
        </p:spPr>
      </p:sp>
      <p:sp>
        <p:nvSpPr>
          <p:cNvPr id="74" name="Text 72"/>
          <p:cNvSpPr txBox="1"/>
          <p:nvPr/>
        </p:nvSpPr>
        <p:spPr>
          <a:xfrm>
            <a:off x="3529584" y="4718304"/>
            <a:ext cx="896112" cy="25146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$147,537</a:t>
            </a:r>
            <a:endParaRPr lang="en-US" sz="1300" dirty="0"/>
          </a:p>
        </p:txBody>
      </p:sp>
      <p:sp>
        <p:nvSpPr>
          <p:cNvPr id="75" name="Text 73"/>
          <p:cNvSpPr txBox="1"/>
          <p:nvPr/>
        </p:nvSpPr>
        <p:spPr>
          <a:xfrm>
            <a:off x="4425696" y="4718304"/>
            <a:ext cx="603504" cy="2514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 of 4</a:t>
            </a:r>
            <a:endParaRPr lang="en-US" sz="1300" dirty="0"/>
          </a:p>
        </p:txBody>
      </p:sp>
      <p:sp>
        <p:nvSpPr>
          <p:cNvPr id="76" name="Text 74"/>
          <p:cNvSpPr txBox="1"/>
          <p:nvPr/>
        </p:nvSpPr>
        <p:spPr>
          <a:xfrm>
            <a:off x="5029200" y="4718304"/>
            <a:ext cx="841248" cy="2514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1,128</a:t>
            </a:r>
            <a:endParaRPr lang="en-US" sz="1300" dirty="0"/>
          </a:p>
        </p:txBody>
      </p:sp>
      <p:sp>
        <p:nvSpPr>
          <p:cNvPr id="77" name="Text 75"/>
          <p:cNvSpPr txBox="1"/>
          <p:nvPr/>
        </p:nvSpPr>
        <p:spPr>
          <a:xfrm>
            <a:off x="658368" y="4969764"/>
            <a:ext cx="1938528" cy="25146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78" name="Shape 76"/>
          <p:cNvSpPr/>
          <p:nvPr/>
        </p:nvSpPr>
        <p:spPr>
          <a:xfrm>
            <a:off x="2670048" y="5026342"/>
            <a:ext cx="208978" cy="138303"/>
          </a:xfrm>
          <a:prstGeom prst="rect">
            <a:avLst/>
          </a:prstGeom>
          <a:solidFill>
            <a:srgbClr val="C2352F"/>
          </a:solidFill>
          <a:ln/>
        </p:spPr>
      </p:sp>
      <p:sp>
        <p:nvSpPr>
          <p:cNvPr id="79" name="Text 77"/>
          <p:cNvSpPr txBox="1"/>
          <p:nvPr/>
        </p:nvSpPr>
        <p:spPr>
          <a:xfrm>
            <a:off x="3529584" y="4969764"/>
            <a:ext cx="896112" cy="25146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$140,511</a:t>
            </a:r>
            <a:endParaRPr lang="en-US" sz="1300" dirty="0"/>
          </a:p>
        </p:txBody>
      </p:sp>
      <p:sp>
        <p:nvSpPr>
          <p:cNvPr id="80" name="Text 78"/>
          <p:cNvSpPr txBox="1"/>
          <p:nvPr/>
        </p:nvSpPr>
        <p:spPr>
          <a:xfrm>
            <a:off x="4425696" y="4969764"/>
            <a:ext cx="603504" cy="2514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 of 4</a:t>
            </a:r>
            <a:endParaRPr lang="en-US" sz="1300" dirty="0"/>
          </a:p>
        </p:txBody>
      </p:sp>
      <p:sp>
        <p:nvSpPr>
          <p:cNvPr id="81" name="Text 79"/>
          <p:cNvSpPr txBox="1"/>
          <p:nvPr/>
        </p:nvSpPr>
        <p:spPr>
          <a:xfrm>
            <a:off x="5029200" y="4969764"/>
            <a:ext cx="841248" cy="2514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1,424</a:t>
            </a:r>
            <a:endParaRPr lang="en-US" sz="1300" dirty="0"/>
          </a:p>
        </p:txBody>
      </p:sp>
      <p:sp>
        <p:nvSpPr>
          <p:cNvPr id="82" name="Text 80"/>
          <p:cNvSpPr txBox="1"/>
          <p:nvPr/>
        </p:nvSpPr>
        <p:spPr>
          <a:xfrm>
            <a:off x="658368" y="5221224"/>
            <a:ext cx="1938528" cy="25146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83" name="Shape 81"/>
          <p:cNvSpPr/>
          <p:nvPr/>
        </p:nvSpPr>
        <p:spPr>
          <a:xfrm>
            <a:off x="2670048" y="5277803"/>
            <a:ext cx="207980" cy="138303"/>
          </a:xfrm>
          <a:prstGeom prst="rect">
            <a:avLst/>
          </a:prstGeom>
          <a:solidFill>
            <a:srgbClr val="C2352F"/>
          </a:solidFill>
          <a:ln/>
        </p:spPr>
      </p:sp>
      <p:sp>
        <p:nvSpPr>
          <p:cNvPr id="84" name="Text 82"/>
          <p:cNvSpPr txBox="1"/>
          <p:nvPr/>
        </p:nvSpPr>
        <p:spPr>
          <a:xfrm>
            <a:off x="3529584" y="5221224"/>
            <a:ext cx="896112" cy="25146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$139,840</a:t>
            </a:r>
            <a:endParaRPr lang="en-US" sz="1300" dirty="0"/>
          </a:p>
        </p:txBody>
      </p:sp>
      <p:sp>
        <p:nvSpPr>
          <p:cNvPr id="85" name="Text 83"/>
          <p:cNvSpPr txBox="1"/>
          <p:nvPr/>
        </p:nvSpPr>
        <p:spPr>
          <a:xfrm>
            <a:off x="4425696" y="5221224"/>
            <a:ext cx="603504" cy="2514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 of 4</a:t>
            </a:r>
            <a:endParaRPr lang="en-US" sz="1300" dirty="0"/>
          </a:p>
        </p:txBody>
      </p:sp>
      <p:sp>
        <p:nvSpPr>
          <p:cNvPr id="86" name="Text 84"/>
          <p:cNvSpPr txBox="1"/>
          <p:nvPr/>
        </p:nvSpPr>
        <p:spPr>
          <a:xfrm>
            <a:off x="5029200" y="5221224"/>
            <a:ext cx="841248" cy="2514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1,103</a:t>
            </a:r>
            <a:endParaRPr lang="en-US" sz="1300" dirty="0"/>
          </a:p>
        </p:txBody>
      </p:sp>
      <p:sp>
        <p:nvSpPr>
          <p:cNvPr id="87" name="Text 85"/>
          <p:cNvSpPr txBox="1"/>
          <p:nvPr/>
        </p:nvSpPr>
        <p:spPr>
          <a:xfrm>
            <a:off x="658368" y="5472684"/>
            <a:ext cx="1938528" cy="25146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88" name="Shape 86"/>
          <p:cNvSpPr/>
          <p:nvPr/>
        </p:nvSpPr>
        <p:spPr>
          <a:xfrm>
            <a:off x="2670048" y="5529262"/>
            <a:ext cx="197393" cy="138303"/>
          </a:xfrm>
          <a:prstGeom prst="rect">
            <a:avLst/>
          </a:prstGeom>
          <a:solidFill>
            <a:srgbClr val="C2352F"/>
          </a:solidFill>
          <a:ln/>
        </p:spPr>
      </p:sp>
      <p:sp>
        <p:nvSpPr>
          <p:cNvPr id="89" name="Text 87"/>
          <p:cNvSpPr txBox="1"/>
          <p:nvPr/>
        </p:nvSpPr>
        <p:spPr>
          <a:xfrm>
            <a:off x="3529584" y="5472684"/>
            <a:ext cx="896112" cy="25146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$132,721</a:t>
            </a:r>
            <a:endParaRPr lang="en-US" sz="1300" dirty="0"/>
          </a:p>
        </p:txBody>
      </p:sp>
      <p:sp>
        <p:nvSpPr>
          <p:cNvPr id="90" name="Text 88"/>
          <p:cNvSpPr txBox="1"/>
          <p:nvPr/>
        </p:nvSpPr>
        <p:spPr>
          <a:xfrm>
            <a:off x="4425696" y="5472684"/>
            <a:ext cx="603504" cy="2514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 of 4</a:t>
            </a:r>
            <a:endParaRPr lang="en-US" sz="1300" dirty="0"/>
          </a:p>
        </p:txBody>
      </p:sp>
      <p:sp>
        <p:nvSpPr>
          <p:cNvPr id="91" name="Text 89"/>
          <p:cNvSpPr txBox="1"/>
          <p:nvPr/>
        </p:nvSpPr>
        <p:spPr>
          <a:xfrm>
            <a:off x="5029200" y="5472684"/>
            <a:ext cx="841248" cy="2514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1,466</a:t>
            </a:r>
            <a:endParaRPr lang="en-US" sz="1300" dirty="0"/>
          </a:p>
        </p:txBody>
      </p:sp>
      <p:sp>
        <p:nvSpPr>
          <p:cNvPr id="92" name="Text 90"/>
          <p:cNvSpPr txBox="1"/>
          <p:nvPr/>
        </p:nvSpPr>
        <p:spPr>
          <a:xfrm>
            <a:off x="6208776" y="1700784"/>
            <a:ext cx="1938528" cy="25146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93" name="Shape 91"/>
          <p:cNvSpPr/>
          <p:nvPr/>
        </p:nvSpPr>
        <p:spPr>
          <a:xfrm>
            <a:off x="8220456" y="1757363"/>
            <a:ext cx="187318" cy="138303"/>
          </a:xfrm>
          <a:prstGeom prst="rect">
            <a:avLst/>
          </a:prstGeom>
          <a:solidFill>
            <a:srgbClr val="C2352F"/>
          </a:solidFill>
          <a:ln/>
        </p:spPr>
      </p:sp>
      <p:sp>
        <p:nvSpPr>
          <p:cNvPr id="94" name="Text 92"/>
          <p:cNvSpPr txBox="1"/>
          <p:nvPr/>
        </p:nvSpPr>
        <p:spPr>
          <a:xfrm>
            <a:off x="9079992" y="1700784"/>
            <a:ext cx="896112" cy="25146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$125,947</a:t>
            </a:r>
            <a:endParaRPr lang="en-US" sz="1300" dirty="0"/>
          </a:p>
        </p:txBody>
      </p:sp>
      <p:sp>
        <p:nvSpPr>
          <p:cNvPr id="95" name="Text 93"/>
          <p:cNvSpPr txBox="1"/>
          <p:nvPr/>
        </p:nvSpPr>
        <p:spPr>
          <a:xfrm>
            <a:off x="9976104" y="1700784"/>
            <a:ext cx="603504" cy="2514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 of 4</a:t>
            </a:r>
            <a:endParaRPr lang="en-US" sz="1300" dirty="0"/>
          </a:p>
        </p:txBody>
      </p:sp>
      <p:sp>
        <p:nvSpPr>
          <p:cNvPr id="96" name="Text 94"/>
          <p:cNvSpPr txBox="1"/>
          <p:nvPr/>
        </p:nvSpPr>
        <p:spPr>
          <a:xfrm>
            <a:off x="10579608" y="1700784"/>
            <a:ext cx="841248" cy="2514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1,273</a:t>
            </a:r>
            <a:endParaRPr lang="en-US" sz="1300" dirty="0"/>
          </a:p>
        </p:txBody>
      </p:sp>
      <p:sp>
        <p:nvSpPr>
          <p:cNvPr id="97" name="Text 95"/>
          <p:cNvSpPr txBox="1"/>
          <p:nvPr/>
        </p:nvSpPr>
        <p:spPr>
          <a:xfrm>
            <a:off x="6208776" y="1952244"/>
            <a:ext cx="1938528" cy="25146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98" name="Shape 96"/>
          <p:cNvSpPr/>
          <p:nvPr/>
        </p:nvSpPr>
        <p:spPr>
          <a:xfrm>
            <a:off x="8220456" y="2008823"/>
            <a:ext cx="130556" cy="138303"/>
          </a:xfrm>
          <a:prstGeom prst="rect">
            <a:avLst/>
          </a:prstGeom>
          <a:solidFill>
            <a:srgbClr val="C2352F"/>
          </a:solidFill>
          <a:ln/>
        </p:spPr>
      </p:sp>
      <p:sp>
        <p:nvSpPr>
          <p:cNvPr id="99" name="Text 97"/>
          <p:cNvSpPr txBox="1"/>
          <p:nvPr/>
        </p:nvSpPr>
        <p:spPr>
          <a:xfrm>
            <a:off x="9079992" y="1952244"/>
            <a:ext cx="896112" cy="25146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$87,782</a:t>
            </a:r>
            <a:endParaRPr lang="en-US" sz="1300" dirty="0"/>
          </a:p>
        </p:txBody>
      </p:sp>
      <p:sp>
        <p:nvSpPr>
          <p:cNvPr id="100" name="Text 98"/>
          <p:cNvSpPr txBox="1"/>
          <p:nvPr/>
        </p:nvSpPr>
        <p:spPr>
          <a:xfrm>
            <a:off x="9976104" y="1952244"/>
            <a:ext cx="603504" cy="2514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 of 4</a:t>
            </a:r>
            <a:endParaRPr lang="en-US" sz="1300" dirty="0"/>
          </a:p>
        </p:txBody>
      </p:sp>
      <p:sp>
        <p:nvSpPr>
          <p:cNvPr id="101" name="Text 99"/>
          <p:cNvSpPr txBox="1"/>
          <p:nvPr/>
        </p:nvSpPr>
        <p:spPr>
          <a:xfrm>
            <a:off x="10579608" y="1952244"/>
            <a:ext cx="841248" cy="2514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1,070</a:t>
            </a:r>
            <a:endParaRPr lang="en-US" sz="1300" dirty="0"/>
          </a:p>
        </p:txBody>
      </p:sp>
      <p:sp>
        <p:nvSpPr>
          <p:cNvPr id="102" name="Text 100"/>
          <p:cNvSpPr txBox="1"/>
          <p:nvPr/>
        </p:nvSpPr>
        <p:spPr>
          <a:xfrm>
            <a:off x="6208776" y="2203704"/>
            <a:ext cx="1938528" cy="25146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103" name="Shape 101"/>
          <p:cNvSpPr/>
          <p:nvPr/>
        </p:nvSpPr>
        <p:spPr>
          <a:xfrm>
            <a:off x="8220456" y="2260283"/>
            <a:ext cx="130163" cy="138303"/>
          </a:xfrm>
          <a:prstGeom prst="rect">
            <a:avLst/>
          </a:prstGeom>
          <a:solidFill>
            <a:srgbClr val="C2352F"/>
          </a:solidFill>
          <a:ln/>
        </p:spPr>
      </p:sp>
      <p:sp>
        <p:nvSpPr>
          <p:cNvPr id="104" name="Text 102"/>
          <p:cNvSpPr txBox="1"/>
          <p:nvPr/>
        </p:nvSpPr>
        <p:spPr>
          <a:xfrm>
            <a:off x="9079992" y="2203704"/>
            <a:ext cx="896112" cy="25146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$87,518</a:t>
            </a:r>
            <a:endParaRPr lang="en-US" sz="1300" dirty="0"/>
          </a:p>
        </p:txBody>
      </p:sp>
      <p:sp>
        <p:nvSpPr>
          <p:cNvPr id="105" name="Text 103"/>
          <p:cNvSpPr txBox="1"/>
          <p:nvPr/>
        </p:nvSpPr>
        <p:spPr>
          <a:xfrm>
            <a:off x="9976104" y="2203704"/>
            <a:ext cx="603504" cy="2514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 of 4</a:t>
            </a:r>
            <a:endParaRPr lang="en-US" sz="1300" dirty="0"/>
          </a:p>
        </p:txBody>
      </p:sp>
      <p:sp>
        <p:nvSpPr>
          <p:cNvPr id="106" name="Text 104"/>
          <p:cNvSpPr txBox="1"/>
          <p:nvPr/>
        </p:nvSpPr>
        <p:spPr>
          <a:xfrm>
            <a:off x="10579608" y="2203704"/>
            <a:ext cx="841248" cy="2514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853</a:t>
            </a:r>
            <a:endParaRPr lang="en-US" sz="1300" dirty="0"/>
          </a:p>
        </p:txBody>
      </p:sp>
      <p:sp>
        <p:nvSpPr>
          <p:cNvPr id="107" name="Text 105"/>
          <p:cNvSpPr txBox="1"/>
          <p:nvPr/>
        </p:nvSpPr>
        <p:spPr>
          <a:xfrm>
            <a:off x="6208776" y="2455164"/>
            <a:ext cx="1938528" cy="25146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108" name="Shape 106"/>
          <p:cNvSpPr/>
          <p:nvPr/>
        </p:nvSpPr>
        <p:spPr>
          <a:xfrm>
            <a:off x="8220456" y="2511743"/>
            <a:ext cx="121390" cy="138303"/>
          </a:xfrm>
          <a:prstGeom prst="rect">
            <a:avLst/>
          </a:prstGeom>
          <a:solidFill>
            <a:srgbClr val="C2352F"/>
          </a:solidFill>
          <a:ln/>
        </p:spPr>
      </p:sp>
      <p:sp>
        <p:nvSpPr>
          <p:cNvPr id="109" name="Text 107"/>
          <p:cNvSpPr txBox="1"/>
          <p:nvPr/>
        </p:nvSpPr>
        <p:spPr>
          <a:xfrm>
            <a:off x="9079992" y="2455164"/>
            <a:ext cx="896112" cy="25146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$81,619</a:t>
            </a:r>
            <a:endParaRPr lang="en-US" sz="1300" dirty="0"/>
          </a:p>
        </p:txBody>
      </p:sp>
      <p:sp>
        <p:nvSpPr>
          <p:cNvPr id="110" name="Text 108"/>
          <p:cNvSpPr txBox="1"/>
          <p:nvPr/>
        </p:nvSpPr>
        <p:spPr>
          <a:xfrm>
            <a:off x="9976104" y="2455164"/>
            <a:ext cx="603504" cy="2514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 of 4</a:t>
            </a:r>
            <a:endParaRPr lang="en-US" sz="1300" dirty="0"/>
          </a:p>
        </p:txBody>
      </p:sp>
      <p:sp>
        <p:nvSpPr>
          <p:cNvPr id="111" name="Text 109"/>
          <p:cNvSpPr txBox="1"/>
          <p:nvPr/>
        </p:nvSpPr>
        <p:spPr>
          <a:xfrm>
            <a:off x="10579608" y="2455164"/>
            <a:ext cx="841248" cy="2514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956</a:t>
            </a:r>
            <a:endParaRPr lang="en-US" sz="1300" dirty="0"/>
          </a:p>
        </p:txBody>
      </p:sp>
      <p:sp>
        <p:nvSpPr>
          <p:cNvPr id="112" name="Text 110"/>
          <p:cNvSpPr txBox="1"/>
          <p:nvPr/>
        </p:nvSpPr>
        <p:spPr>
          <a:xfrm>
            <a:off x="6208776" y="2706624"/>
            <a:ext cx="1938528" cy="25146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113" name="Shape 111"/>
          <p:cNvSpPr/>
          <p:nvPr/>
        </p:nvSpPr>
        <p:spPr>
          <a:xfrm>
            <a:off x="8220456" y="2763203"/>
            <a:ext cx="120162" cy="138303"/>
          </a:xfrm>
          <a:prstGeom prst="rect">
            <a:avLst/>
          </a:prstGeom>
          <a:solidFill>
            <a:srgbClr val="C2352F"/>
          </a:solidFill>
          <a:ln/>
        </p:spPr>
      </p:sp>
      <p:sp>
        <p:nvSpPr>
          <p:cNvPr id="114" name="Text 112"/>
          <p:cNvSpPr txBox="1"/>
          <p:nvPr/>
        </p:nvSpPr>
        <p:spPr>
          <a:xfrm>
            <a:off x="9079992" y="2706624"/>
            <a:ext cx="896112" cy="25146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$80,793</a:t>
            </a:r>
            <a:endParaRPr lang="en-US" sz="1300" dirty="0"/>
          </a:p>
        </p:txBody>
      </p:sp>
      <p:sp>
        <p:nvSpPr>
          <p:cNvPr id="115" name="Text 113"/>
          <p:cNvSpPr txBox="1"/>
          <p:nvPr/>
        </p:nvSpPr>
        <p:spPr>
          <a:xfrm>
            <a:off x="9976104" y="2706624"/>
            <a:ext cx="603504" cy="2514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 of 4</a:t>
            </a:r>
            <a:endParaRPr lang="en-US" sz="1300" dirty="0"/>
          </a:p>
        </p:txBody>
      </p:sp>
      <p:sp>
        <p:nvSpPr>
          <p:cNvPr id="116" name="Text 114"/>
          <p:cNvSpPr txBox="1"/>
          <p:nvPr/>
        </p:nvSpPr>
        <p:spPr>
          <a:xfrm>
            <a:off x="10579608" y="2706624"/>
            <a:ext cx="841248" cy="2514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929</a:t>
            </a:r>
            <a:endParaRPr lang="en-US" sz="1300" dirty="0"/>
          </a:p>
        </p:txBody>
      </p:sp>
      <p:sp>
        <p:nvSpPr>
          <p:cNvPr id="117" name="Text 115"/>
          <p:cNvSpPr txBox="1"/>
          <p:nvPr/>
        </p:nvSpPr>
        <p:spPr>
          <a:xfrm>
            <a:off x="6208776" y="2958084"/>
            <a:ext cx="1938528" cy="25146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118" name="Shape 116"/>
          <p:cNvSpPr/>
          <p:nvPr/>
        </p:nvSpPr>
        <p:spPr>
          <a:xfrm>
            <a:off x="8220456" y="3014663"/>
            <a:ext cx="119265" cy="138303"/>
          </a:xfrm>
          <a:prstGeom prst="rect">
            <a:avLst/>
          </a:prstGeom>
          <a:solidFill>
            <a:srgbClr val="C2352F"/>
          </a:solidFill>
          <a:ln/>
        </p:spPr>
      </p:sp>
      <p:sp>
        <p:nvSpPr>
          <p:cNvPr id="119" name="Text 117"/>
          <p:cNvSpPr txBox="1"/>
          <p:nvPr/>
        </p:nvSpPr>
        <p:spPr>
          <a:xfrm>
            <a:off x="9079992" y="2958084"/>
            <a:ext cx="896112" cy="25146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$80,190</a:t>
            </a:r>
            <a:endParaRPr lang="en-US" sz="1300" dirty="0"/>
          </a:p>
        </p:txBody>
      </p:sp>
      <p:sp>
        <p:nvSpPr>
          <p:cNvPr id="120" name="Text 118"/>
          <p:cNvSpPr txBox="1"/>
          <p:nvPr/>
        </p:nvSpPr>
        <p:spPr>
          <a:xfrm>
            <a:off x="9976104" y="2958084"/>
            <a:ext cx="603504" cy="2514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 of 4</a:t>
            </a:r>
            <a:endParaRPr lang="en-US" sz="1300" dirty="0"/>
          </a:p>
        </p:txBody>
      </p:sp>
      <p:sp>
        <p:nvSpPr>
          <p:cNvPr id="121" name="Text 119"/>
          <p:cNvSpPr txBox="1"/>
          <p:nvPr/>
        </p:nvSpPr>
        <p:spPr>
          <a:xfrm>
            <a:off x="10579608" y="2958084"/>
            <a:ext cx="841248" cy="2514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757</a:t>
            </a:r>
            <a:endParaRPr lang="en-US" sz="1300" dirty="0"/>
          </a:p>
        </p:txBody>
      </p:sp>
      <p:sp>
        <p:nvSpPr>
          <p:cNvPr id="122" name="Text 120"/>
          <p:cNvSpPr txBox="1"/>
          <p:nvPr/>
        </p:nvSpPr>
        <p:spPr>
          <a:xfrm>
            <a:off x="6208776" y="3209544"/>
            <a:ext cx="1938528" cy="25146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123" name="Shape 121"/>
          <p:cNvSpPr/>
          <p:nvPr/>
        </p:nvSpPr>
        <p:spPr>
          <a:xfrm>
            <a:off x="8220456" y="3266123"/>
            <a:ext cx="105199" cy="138303"/>
          </a:xfrm>
          <a:prstGeom prst="rect">
            <a:avLst/>
          </a:prstGeom>
          <a:solidFill>
            <a:srgbClr val="C2352F"/>
          </a:solidFill>
          <a:ln/>
        </p:spPr>
      </p:sp>
      <p:sp>
        <p:nvSpPr>
          <p:cNvPr id="124" name="Text 122"/>
          <p:cNvSpPr txBox="1"/>
          <p:nvPr/>
        </p:nvSpPr>
        <p:spPr>
          <a:xfrm>
            <a:off x="9079992" y="3209544"/>
            <a:ext cx="896112" cy="25146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$70,733</a:t>
            </a:r>
            <a:endParaRPr lang="en-US" sz="1300" dirty="0"/>
          </a:p>
        </p:txBody>
      </p:sp>
      <p:sp>
        <p:nvSpPr>
          <p:cNvPr id="125" name="Text 123"/>
          <p:cNvSpPr txBox="1"/>
          <p:nvPr/>
        </p:nvSpPr>
        <p:spPr>
          <a:xfrm>
            <a:off x="9976104" y="3209544"/>
            <a:ext cx="603504" cy="2514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 of 4</a:t>
            </a:r>
            <a:endParaRPr lang="en-US" sz="1300" dirty="0"/>
          </a:p>
        </p:txBody>
      </p:sp>
      <p:sp>
        <p:nvSpPr>
          <p:cNvPr id="126" name="Text 124"/>
          <p:cNvSpPr txBox="1"/>
          <p:nvPr/>
        </p:nvSpPr>
        <p:spPr>
          <a:xfrm>
            <a:off x="10579608" y="3209544"/>
            <a:ext cx="841248" cy="2514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540</a:t>
            </a:r>
            <a:endParaRPr lang="en-US" sz="1300" dirty="0"/>
          </a:p>
        </p:txBody>
      </p:sp>
      <p:sp>
        <p:nvSpPr>
          <p:cNvPr id="127" name="Text 125"/>
          <p:cNvSpPr txBox="1"/>
          <p:nvPr/>
        </p:nvSpPr>
        <p:spPr>
          <a:xfrm>
            <a:off x="6208776" y="3461004"/>
            <a:ext cx="1938528" cy="25146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128" name="Shape 126"/>
          <p:cNvSpPr/>
          <p:nvPr/>
        </p:nvSpPr>
        <p:spPr>
          <a:xfrm>
            <a:off x="8220456" y="3517583"/>
            <a:ext cx="101209" cy="138303"/>
          </a:xfrm>
          <a:prstGeom prst="rect">
            <a:avLst/>
          </a:prstGeom>
          <a:solidFill>
            <a:srgbClr val="C2352F"/>
          </a:solidFill>
          <a:ln/>
        </p:spPr>
      </p:sp>
      <p:sp>
        <p:nvSpPr>
          <p:cNvPr id="129" name="Text 127"/>
          <p:cNvSpPr txBox="1"/>
          <p:nvPr/>
        </p:nvSpPr>
        <p:spPr>
          <a:xfrm>
            <a:off x="9079992" y="3461004"/>
            <a:ext cx="896112" cy="25146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$68,050</a:t>
            </a:r>
            <a:endParaRPr lang="en-US" sz="1300" dirty="0"/>
          </a:p>
        </p:txBody>
      </p:sp>
      <p:sp>
        <p:nvSpPr>
          <p:cNvPr id="130" name="Text 128"/>
          <p:cNvSpPr txBox="1"/>
          <p:nvPr/>
        </p:nvSpPr>
        <p:spPr>
          <a:xfrm>
            <a:off x="9976104" y="3461004"/>
            <a:ext cx="603504" cy="2514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 of 4</a:t>
            </a:r>
            <a:endParaRPr lang="en-US" sz="1300" dirty="0"/>
          </a:p>
        </p:txBody>
      </p:sp>
      <p:sp>
        <p:nvSpPr>
          <p:cNvPr id="131" name="Text 129"/>
          <p:cNvSpPr txBox="1"/>
          <p:nvPr/>
        </p:nvSpPr>
        <p:spPr>
          <a:xfrm>
            <a:off x="10579608" y="3461004"/>
            <a:ext cx="841248" cy="2514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784</a:t>
            </a:r>
            <a:endParaRPr lang="en-US" sz="1300" dirty="0"/>
          </a:p>
        </p:txBody>
      </p:sp>
      <p:sp>
        <p:nvSpPr>
          <p:cNvPr id="132" name="Text 130"/>
          <p:cNvSpPr txBox="1"/>
          <p:nvPr/>
        </p:nvSpPr>
        <p:spPr>
          <a:xfrm>
            <a:off x="6208776" y="3712464"/>
            <a:ext cx="1938528" cy="25146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133" name="Shape 131"/>
          <p:cNvSpPr/>
          <p:nvPr/>
        </p:nvSpPr>
        <p:spPr>
          <a:xfrm>
            <a:off x="8220456" y="3769042"/>
            <a:ext cx="81242" cy="138303"/>
          </a:xfrm>
          <a:prstGeom prst="rect">
            <a:avLst/>
          </a:prstGeom>
          <a:solidFill>
            <a:srgbClr val="C2352F"/>
          </a:solidFill>
          <a:ln/>
        </p:spPr>
      </p:sp>
      <p:sp>
        <p:nvSpPr>
          <p:cNvPr id="134" name="Text 132"/>
          <p:cNvSpPr txBox="1"/>
          <p:nvPr/>
        </p:nvSpPr>
        <p:spPr>
          <a:xfrm>
            <a:off x="9079992" y="3712464"/>
            <a:ext cx="896112" cy="25146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$54,625</a:t>
            </a:r>
            <a:endParaRPr lang="en-US" sz="1300" dirty="0"/>
          </a:p>
        </p:txBody>
      </p:sp>
      <p:sp>
        <p:nvSpPr>
          <p:cNvPr id="135" name="Text 133"/>
          <p:cNvSpPr txBox="1"/>
          <p:nvPr/>
        </p:nvSpPr>
        <p:spPr>
          <a:xfrm>
            <a:off x="9976104" y="3712464"/>
            <a:ext cx="603504" cy="2514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 of 4</a:t>
            </a:r>
            <a:endParaRPr lang="en-US" sz="1300" dirty="0"/>
          </a:p>
        </p:txBody>
      </p:sp>
      <p:sp>
        <p:nvSpPr>
          <p:cNvPr id="136" name="Text 134"/>
          <p:cNvSpPr txBox="1"/>
          <p:nvPr/>
        </p:nvSpPr>
        <p:spPr>
          <a:xfrm>
            <a:off x="10579608" y="3712464"/>
            <a:ext cx="841248" cy="2514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426</a:t>
            </a:r>
            <a:endParaRPr lang="en-US" sz="1300" dirty="0"/>
          </a:p>
        </p:txBody>
      </p:sp>
      <p:sp>
        <p:nvSpPr>
          <p:cNvPr id="137" name="Text 135"/>
          <p:cNvSpPr txBox="1"/>
          <p:nvPr/>
        </p:nvSpPr>
        <p:spPr>
          <a:xfrm>
            <a:off x="6208776" y="3963924"/>
            <a:ext cx="1938528" cy="25146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138" name="Shape 136"/>
          <p:cNvSpPr/>
          <p:nvPr/>
        </p:nvSpPr>
        <p:spPr>
          <a:xfrm>
            <a:off x="8220456" y="4020502"/>
            <a:ext cx="71870" cy="138303"/>
          </a:xfrm>
          <a:prstGeom prst="rect">
            <a:avLst/>
          </a:prstGeom>
          <a:solidFill>
            <a:srgbClr val="C2352F"/>
          </a:solidFill>
          <a:ln/>
        </p:spPr>
      </p:sp>
      <p:sp>
        <p:nvSpPr>
          <p:cNvPr id="139" name="Text 137"/>
          <p:cNvSpPr txBox="1"/>
          <p:nvPr/>
        </p:nvSpPr>
        <p:spPr>
          <a:xfrm>
            <a:off x="9079992" y="3963924"/>
            <a:ext cx="896112" cy="25146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$48,324</a:t>
            </a:r>
            <a:endParaRPr lang="en-US" sz="1300" dirty="0"/>
          </a:p>
        </p:txBody>
      </p:sp>
      <p:sp>
        <p:nvSpPr>
          <p:cNvPr id="140" name="Text 138"/>
          <p:cNvSpPr txBox="1"/>
          <p:nvPr/>
        </p:nvSpPr>
        <p:spPr>
          <a:xfrm>
            <a:off x="9976104" y="3963924"/>
            <a:ext cx="603504" cy="2514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 of 4</a:t>
            </a:r>
            <a:endParaRPr lang="en-US" sz="1300" dirty="0"/>
          </a:p>
        </p:txBody>
      </p:sp>
      <p:sp>
        <p:nvSpPr>
          <p:cNvPr id="141" name="Text 139"/>
          <p:cNvSpPr txBox="1"/>
          <p:nvPr/>
        </p:nvSpPr>
        <p:spPr>
          <a:xfrm>
            <a:off x="10579608" y="3963924"/>
            <a:ext cx="841248" cy="2514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148</a:t>
            </a:r>
            <a:endParaRPr lang="en-US" sz="1300" dirty="0"/>
          </a:p>
        </p:txBody>
      </p:sp>
      <p:sp>
        <p:nvSpPr>
          <p:cNvPr id="142" name="Text 140"/>
          <p:cNvSpPr txBox="1"/>
          <p:nvPr/>
        </p:nvSpPr>
        <p:spPr>
          <a:xfrm>
            <a:off x="6208776" y="4215384"/>
            <a:ext cx="1938528" cy="25146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143" name="Shape 141"/>
          <p:cNvSpPr/>
          <p:nvPr/>
        </p:nvSpPr>
        <p:spPr>
          <a:xfrm>
            <a:off x="8220456" y="4271962"/>
            <a:ext cx="56913" cy="138303"/>
          </a:xfrm>
          <a:prstGeom prst="rect">
            <a:avLst/>
          </a:prstGeom>
          <a:solidFill>
            <a:srgbClr val="C2352F"/>
          </a:solidFill>
          <a:ln/>
        </p:spPr>
      </p:sp>
      <p:sp>
        <p:nvSpPr>
          <p:cNvPr id="144" name="Text 142"/>
          <p:cNvSpPr txBox="1"/>
          <p:nvPr/>
        </p:nvSpPr>
        <p:spPr>
          <a:xfrm>
            <a:off x="9079992" y="4215384"/>
            <a:ext cx="896112" cy="25146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$38,266</a:t>
            </a:r>
            <a:endParaRPr lang="en-US" sz="1300" dirty="0"/>
          </a:p>
        </p:txBody>
      </p:sp>
      <p:sp>
        <p:nvSpPr>
          <p:cNvPr id="145" name="Text 143"/>
          <p:cNvSpPr txBox="1"/>
          <p:nvPr/>
        </p:nvSpPr>
        <p:spPr>
          <a:xfrm>
            <a:off x="9976104" y="4215384"/>
            <a:ext cx="603504" cy="2514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 of 4</a:t>
            </a:r>
            <a:endParaRPr lang="en-US" sz="1300" dirty="0"/>
          </a:p>
        </p:txBody>
      </p:sp>
      <p:sp>
        <p:nvSpPr>
          <p:cNvPr id="146" name="Text 144"/>
          <p:cNvSpPr txBox="1"/>
          <p:nvPr/>
        </p:nvSpPr>
        <p:spPr>
          <a:xfrm>
            <a:off x="10579608" y="4215384"/>
            <a:ext cx="841248" cy="2514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600</a:t>
            </a:r>
            <a:endParaRPr lang="en-US" sz="1300" dirty="0"/>
          </a:p>
        </p:txBody>
      </p:sp>
      <p:sp>
        <p:nvSpPr>
          <p:cNvPr id="147" name="Text 145"/>
          <p:cNvSpPr txBox="1"/>
          <p:nvPr/>
        </p:nvSpPr>
        <p:spPr>
          <a:xfrm>
            <a:off x="6208776" y="4466844"/>
            <a:ext cx="1938528" cy="25146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148" name="Shape 146"/>
          <p:cNvSpPr/>
          <p:nvPr/>
        </p:nvSpPr>
        <p:spPr>
          <a:xfrm>
            <a:off x="8220456" y="4523422"/>
            <a:ext cx="50188" cy="138303"/>
          </a:xfrm>
          <a:prstGeom prst="rect">
            <a:avLst/>
          </a:prstGeom>
          <a:solidFill>
            <a:srgbClr val="C2352F"/>
          </a:solidFill>
          <a:ln/>
        </p:spPr>
      </p:sp>
      <p:sp>
        <p:nvSpPr>
          <p:cNvPr id="149" name="Text 147"/>
          <p:cNvSpPr txBox="1"/>
          <p:nvPr/>
        </p:nvSpPr>
        <p:spPr>
          <a:xfrm>
            <a:off x="9079992" y="4466844"/>
            <a:ext cx="896112" cy="25146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$33,745</a:t>
            </a:r>
            <a:endParaRPr lang="en-US" sz="1300" dirty="0"/>
          </a:p>
        </p:txBody>
      </p:sp>
      <p:sp>
        <p:nvSpPr>
          <p:cNvPr id="150" name="Text 148"/>
          <p:cNvSpPr txBox="1"/>
          <p:nvPr/>
        </p:nvSpPr>
        <p:spPr>
          <a:xfrm>
            <a:off x="9976104" y="4466844"/>
            <a:ext cx="603504" cy="2514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 of 4</a:t>
            </a:r>
            <a:endParaRPr lang="en-US" sz="1300" dirty="0"/>
          </a:p>
        </p:txBody>
      </p:sp>
      <p:sp>
        <p:nvSpPr>
          <p:cNvPr id="151" name="Text 149"/>
          <p:cNvSpPr txBox="1"/>
          <p:nvPr/>
        </p:nvSpPr>
        <p:spPr>
          <a:xfrm>
            <a:off x="10579608" y="4466844"/>
            <a:ext cx="841248" cy="2514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103</a:t>
            </a:r>
            <a:endParaRPr lang="en-US" sz="1300" dirty="0"/>
          </a:p>
        </p:txBody>
      </p:sp>
      <p:sp>
        <p:nvSpPr>
          <p:cNvPr id="152" name="Text 150"/>
          <p:cNvSpPr txBox="1"/>
          <p:nvPr/>
        </p:nvSpPr>
        <p:spPr>
          <a:xfrm>
            <a:off x="6208776" y="4718304"/>
            <a:ext cx="1938528" cy="25146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153" name="Shape 151"/>
          <p:cNvSpPr/>
          <p:nvPr/>
        </p:nvSpPr>
        <p:spPr>
          <a:xfrm>
            <a:off x="8220456" y="4774883"/>
            <a:ext cx="35445" cy="138303"/>
          </a:xfrm>
          <a:prstGeom prst="rect">
            <a:avLst/>
          </a:prstGeom>
          <a:solidFill>
            <a:srgbClr val="C2352F"/>
          </a:solidFill>
          <a:ln/>
        </p:spPr>
      </p:sp>
      <p:sp>
        <p:nvSpPr>
          <p:cNvPr id="154" name="Text 152"/>
          <p:cNvSpPr txBox="1"/>
          <p:nvPr/>
        </p:nvSpPr>
        <p:spPr>
          <a:xfrm>
            <a:off x="9079992" y="4718304"/>
            <a:ext cx="896112" cy="25146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$23,832</a:t>
            </a:r>
            <a:endParaRPr lang="en-US" sz="1300" dirty="0"/>
          </a:p>
        </p:txBody>
      </p:sp>
      <p:sp>
        <p:nvSpPr>
          <p:cNvPr id="155" name="Text 153"/>
          <p:cNvSpPr txBox="1"/>
          <p:nvPr/>
        </p:nvSpPr>
        <p:spPr>
          <a:xfrm>
            <a:off x="9976104" y="4718304"/>
            <a:ext cx="603504" cy="2514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 of 4</a:t>
            </a:r>
            <a:endParaRPr lang="en-US" sz="1300" dirty="0"/>
          </a:p>
        </p:txBody>
      </p:sp>
      <p:sp>
        <p:nvSpPr>
          <p:cNvPr id="156" name="Text 154"/>
          <p:cNvSpPr txBox="1"/>
          <p:nvPr/>
        </p:nvSpPr>
        <p:spPr>
          <a:xfrm>
            <a:off x="10579608" y="4718304"/>
            <a:ext cx="841248" cy="2514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92</a:t>
            </a:r>
            <a:endParaRPr lang="en-US" sz="1300" dirty="0"/>
          </a:p>
        </p:txBody>
      </p:sp>
      <p:sp>
        <p:nvSpPr>
          <p:cNvPr id="157" name="Text 155"/>
          <p:cNvSpPr txBox="1"/>
          <p:nvPr/>
        </p:nvSpPr>
        <p:spPr>
          <a:xfrm>
            <a:off x="6208776" y="4969764"/>
            <a:ext cx="1938528" cy="25146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158" name="Shape 156"/>
          <p:cNvSpPr/>
          <p:nvPr/>
        </p:nvSpPr>
        <p:spPr>
          <a:xfrm>
            <a:off x="8220456" y="5026342"/>
            <a:ext cx="18288" cy="138303"/>
          </a:xfrm>
          <a:prstGeom prst="rect">
            <a:avLst/>
          </a:prstGeom>
          <a:solidFill>
            <a:srgbClr val="C2352F"/>
          </a:solidFill>
          <a:ln/>
        </p:spPr>
      </p:sp>
      <p:sp>
        <p:nvSpPr>
          <p:cNvPr id="159" name="Text 157"/>
          <p:cNvSpPr txBox="1"/>
          <p:nvPr/>
        </p:nvSpPr>
        <p:spPr>
          <a:xfrm>
            <a:off x="9079992" y="4969764"/>
            <a:ext cx="896112" cy="25146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$12,118</a:t>
            </a:r>
            <a:endParaRPr lang="en-US" sz="1300" dirty="0"/>
          </a:p>
        </p:txBody>
      </p:sp>
      <p:sp>
        <p:nvSpPr>
          <p:cNvPr id="160" name="Text 158"/>
          <p:cNvSpPr txBox="1"/>
          <p:nvPr/>
        </p:nvSpPr>
        <p:spPr>
          <a:xfrm>
            <a:off x="9976104" y="4969764"/>
            <a:ext cx="603504" cy="2514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 of 4</a:t>
            </a:r>
            <a:endParaRPr lang="en-US" sz="1300" dirty="0"/>
          </a:p>
        </p:txBody>
      </p:sp>
      <p:sp>
        <p:nvSpPr>
          <p:cNvPr id="161" name="Text 159"/>
          <p:cNvSpPr txBox="1"/>
          <p:nvPr/>
        </p:nvSpPr>
        <p:spPr>
          <a:xfrm>
            <a:off x="10579608" y="4969764"/>
            <a:ext cx="841248" cy="2514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166</a:t>
            </a:r>
            <a:endParaRPr lang="en-US" sz="1300" dirty="0"/>
          </a:p>
        </p:txBody>
      </p:sp>
      <p:sp>
        <p:nvSpPr>
          <p:cNvPr id="162" name="Text 160"/>
          <p:cNvSpPr txBox="1"/>
          <p:nvPr/>
        </p:nvSpPr>
        <p:spPr>
          <a:xfrm>
            <a:off x="6208776" y="5221224"/>
            <a:ext cx="1938528" cy="25146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63" name="Shape 161"/>
          <p:cNvSpPr/>
          <p:nvPr/>
        </p:nvSpPr>
        <p:spPr>
          <a:xfrm>
            <a:off x="8220456" y="5277803"/>
            <a:ext cx="18288" cy="138303"/>
          </a:xfrm>
          <a:prstGeom prst="rect">
            <a:avLst/>
          </a:prstGeom>
          <a:solidFill>
            <a:srgbClr val="C2352F"/>
          </a:solidFill>
          <a:ln/>
        </p:spPr>
      </p:sp>
      <p:sp>
        <p:nvSpPr>
          <p:cNvPr id="164" name="Text 162"/>
          <p:cNvSpPr txBox="1"/>
          <p:nvPr/>
        </p:nvSpPr>
        <p:spPr>
          <a:xfrm>
            <a:off x="9079992" y="5221224"/>
            <a:ext cx="896112" cy="25146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$10,380</a:t>
            </a:r>
            <a:endParaRPr lang="en-US" sz="1300" dirty="0"/>
          </a:p>
        </p:txBody>
      </p:sp>
      <p:sp>
        <p:nvSpPr>
          <p:cNvPr id="165" name="Text 163"/>
          <p:cNvSpPr txBox="1"/>
          <p:nvPr/>
        </p:nvSpPr>
        <p:spPr>
          <a:xfrm>
            <a:off x="9976104" y="5221224"/>
            <a:ext cx="603504" cy="2514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 of 4</a:t>
            </a:r>
            <a:endParaRPr lang="en-US" sz="1300" dirty="0"/>
          </a:p>
        </p:txBody>
      </p:sp>
      <p:sp>
        <p:nvSpPr>
          <p:cNvPr id="166" name="Text 164"/>
          <p:cNvSpPr txBox="1"/>
          <p:nvPr/>
        </p:nvSpPr>
        <p:spPr>
          <a:xfrm>
            <a:off x="10579608" y="5221224"/>
            <a:ext cx="841248" cy="2514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52</a:t>
            </a:r>
            <a:endParaRPr lang="en-US" sz="1300" dirty="0"/>
          </a:p>
        </p:txBody>
      </p:sp>
      <p:sp>
        <p:nvSpPr>
          <p:cNvPr id="167" name="Text 165"/>
          <p:cNvSpPr txBox="1"/>
          <p:nvPr/>
        </p:nvSpPr>
        <p:spPr>
          <a:xfrm>
            <a:off x="6208776" y="5472684"/>
            <a:ext cx="1938528" cy="25146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168" name="Shape 166"/>
          <p:cNvSpPr/>
          <p:nvPr/>
        </p:nvSpPr>
        <p:spPr>
          <a:xfrm>
            <a:off x="8220456" y="5529262"/>
            <a:ext cx="18288" cy="138303"/>
          </a:xfrm>
          <a:prstGeom prst="rect">
            <a:avLst/>
          </a:prstGeom>
          <a:solidFill>
            <a:srgbClr val="C2352F"/>
          </a:solidFill>
          <a:ln/>
        </p:spPr>
      </p:sp>
      <p:sp>
        <p:nvSpPr>
          <p:cNvPr id="169" name="Text 167"/>
          <p:cNvSpPr txBox="1"/>
          <p:nvPr/>
        </p:nvSpPr>
        <p:spPr>
          <a:xfrm>
            <a:off x="9079992" y="5472684"/>
            <a:ext cx="896112" cy="25146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$2,765</a:t>
            </a:r>
            <a:endParaRPr lang="en-US" sz="1300" dirty="0"/>
          </a:p>
        </p:txBody>
      </p:sp>
      <p:sp>
        <p:nvSpPr>
          <p:cNvPr id="170" name="Text 168"/>
          <p:cNvSpPr txBox="1"/>
          <p:nvPr/>
        </p:nvSpPr>
        <p:spPr>
          <a:xfrm>
            <a:off x="9976104" y="5472684"/>
            <a:ext cx="603504" cy="2514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 of 4</a:t>
            </a:r>
            <a:endParaRPr lang="en-US" sz="1300" dirty="0"/>
          </a:p>
        </p:txBody>
      </p:sp>
      <p:sp>
        <p:nvSpPr>
          <p:cNvPr id="171" name="Text 169"/>
          <p:cNvSpPr txBox="1"/>
          <p:nvPr/>
        </p:nvSpPr>
        <p:spPr>
          <a:xfrm>
            <a:off x="10579608" y="5472684"/>
            <a:ext cx="841248" cy="2514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44</a:t>
            </a:r>
            <a:endParaRPr lang="en-US" sz="1300" dirty="0"/>
          </a:p>
        </p:txBody>
      </p:sp>
      <p:sp>
        <p:nvSpPr>
          <p:cNvPr id="172" name="Shape 170"/>
          <p:cNvSpPr/>
          <p:nvPr/>
        </p:nvSpPr>
        <p:spPr>
          <a:xfrm>
            <a:off x="457200" y="5961888"/>
            <a:ext cx="11274552" cy="548640"/>
          </a:xfrm>
          <a:prstGeom prst="rect">
            <a:avLst/>
          </a:prstGeom>
          <a:solidFill>
            <a:srgbClr val="FBEBEA"/>
          </a:solidFill>
          <a:ln/>
        </p:spPr>
      </p:sp>
      <p:sp>
        <p:nvSpPr>
          <p:cNvPr id="173" name="Text 171"/>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TOYOTA SPOKANE leaves the most at $541,039 a year. 15 stores are under all four benchmarks.</a:t>
            </a:r>
            <a:endParaRPr lang="en-US" sz="1600" dirty="0"/>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Every Store at Benchmark</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731520" y="1481328"/>
            <a:ext cx="10725912" cy="329184"/>
          </a:xfrm>
          <a:prstGeom prst="rect">
            <a:avLst/>
          </a:prstGeom>
          <a:noFill/>
          <a:ln/>
        </p:spPr>
        <p:txBody>
          <a:bodyPr wrap="square" lIns="0" tIns="0" rIns="0" bIns="0" rtlCol="0" anchor="ctr"/>
          <a:lstStyle/>
          <a:p>
            <a:pPr algn="ctr" indent="0" marL="0">
              <a:buNone/>
            </a:pPr>
            <a:r>
              <a:rPr lang="en-US" sz="1600" b="1" spc="140" kern="0" dirty="0">
                <a:solidFill>
                  <a:srgbClr val="0B2C4A"/>
                </a:solidFill>
                <a:latin typeface="Inter" pitchFamily="34" charset="0"/>
                <a:ea typeface="Inter" pitchFamily="34" charset="-122"/>
                <a:cs typeface="Inter" pitchFamily="34" charset="-120"/>
              </a:rPr>
              <a:t>IF EVERY STORE REACHED ALL FOUR BENCHMARKS</a:t>
            </a:r>
            <a:endParaRPr lang="en-US" sz="1600" dirty="0"/>
          </a:p>
        </p:txBody>
      </p:sp>
      <p:sp>
        <p:nvSpPr>
          <p:cNvPr id="7" name="Text 5"/>
          <p:cNvSpPr txBox="1"/>
          <p:nvPr/>
        </p:nvSpPr>
        <p:spPr>
          <a:xfrm>
            <a:off x="731520" y="1874520"/>
            <a:ext cx="10725912" cy="1234440"/>
          </a:xfrm>
          <a:prstGeom prst="rect">
            <a:avLst/>
          </a:prstGeom>
          <a:noFill/>
          <a:ln/>
        </p:spPr>
        <p:txBody>
          <a:bodyPr wrap="square" lIns="0" tIns="0" rIns="0" bIns="0" rtlCol="0" anchor="ctr"/>
          <a:lstStyle/>
          <a:p>
            <a:pPr algn="ctr" indent="0" marL="0">
              <a:buNone/>
            </a:pPr>
            <a:r>
              <a:rPr lang="en-US" sz="8000" b="1" dirty="0">
                <a:solidFill>
                  <a:srgbClr val="0B7A4A"/>
                </a:solidFill>
                <a:latin typeface="Inter" pitchFamily="34" charset="0"/>
                <a:ea typeface="Inter" pitchFamily="34" charset="-122"/>
                <a:cs typeface="Inter" pitchFamily="34" charset="-120"/>
              </a:rPr>
              <a:t>$4,895,199</a:t>
            </a:r>
            <a:endParaRPr lang="en-US" sz="8000" dirty="0"/>
          </a:p>
        </p:txBody>
      </p:sp>
      <p:sp>
        <p:nvSpPr>
          <p:cNvPr id="8" name="Text 6"/>
          <p:cNvSpPr txBox="1"/>
          <p:nvPr/>
        </p:nvSpPr>
        <p:spPr>
          <a:xfrm>
            <a:off x="731520" y="3090672"/>
            <a:ext cx="10725912" cy="411480"/>
          </a:xfrm>
          <a:prstGeom prst="rect">
            <a:avLst/>
          </a:prstGeom>
          <a:noFill/>
          <a:ln/>
        </p:spPr>
        <p:txBody>
          <a:bodyPr wrap="square" lIns="0" tIns="0" rIns="0" bIns="0" rtlCol="0" anchor="ctr"/>
          <a:lstStyle/>
          <a:p>
            <a:pPr algn="ctr" indent="0" marL="0">
              <a:buNone/>
            </a:pPr>
            <a:r>
              <a:rPr lang="en-US" sz="2000" dirty="0">
                <a:solidFill>
                  <a:srgbClr val="595959"/>
                </a:solidFill>
                <a:latin typeface="Inter" pitchFamily="34" charset="0"/>
                <a:ea typeface="Inter" pitchFamily="34" charset="-122"/>
                <a:cs typeface="Inter" pitchFamily="34" charset="-120"/>
              </a:rPr>
              <a:t>a year in labor and parts gross · about $407,933 a month</a:t>
            </a:r>
            <a:endParaRPr lang="en-US" sz="2000" dirty="0"/>
          </a:p>
        </p:txBody>
      </p:sp>
      <p:sp>
        <p:nvSpPr>
          <p:cNvPr id="9" name="Shape 7"/>
          <p:cNvSpPr/>
          <p:nvPr/>
        </p:nvSpPr>
        <p:spPr>
          <a:xfrm>
            <a:off x="736092" y="3794760"/>
            <a:ext cx="2542032" cy="1691640"/>
          </a:xfrm>
          <a:prstGeom prst="rect">
            <a:avLst/>
          </a:prstGeom>
          <a:solidFill>
            <a:srgbClr val="F7F7F7"/>
          </a:solidFill>
          <a:ln/>
        </p:spPr>
      </p:sp>
      <p:sp>
        <p:nvSpPr>
          <p:cNvPr id="10" name="Shape 8"/>
          <p:cNvSpPr/>
          <p:nvPr/>
        </p:nvSpPr>
        <p:spPr>
          <a:xfrm>
            <a:off x="736092" y="3794760"/>
            <a:ext cx="2542032" cy="64008"/>
          </a:xfrm>
          <a:prstGeom prst="rect">
            <a:avLst/>
          </a:prstGeom>
          <a:solidFill>
            <a:srgbClr val="12A566"/>
          </a:solidFill>
          <a:ln/>
        </p:spPr>
      </p:sp>
      <p:sp>
        <p:nvSpPr>
          <p:cNvPr id="11" name="Text 9"/>
          <p:cNvSpPr txBox="1"/>
          <p:nvPr/>
        </p:nvSpPr>
        <p:spPr>
          <a:xfrm>
            <a:off x="827532" y="3950208"/>
            <a:ext cx="2359152" cy="329184"/>
          </a:xfrm>
          <a:prstGeom prst="rect">
            <a:avLst/>
          </a:prstGeom>
          <a:noFill/>
          <a:ln/>
        </p:spPr>
        <p:txBody>
          <a:bodyPr wrap="square" lIns="0" tIns="0" rIns="0" bIns="0" rtlCol="0" anchor="ctr"/>
          <a:lstStyle/>
          <a:p>
            <a:pPr algn="ctr" indent="0" marL="0">
              <a:buNone/>
            </a:pPr>
            <a:r>
              <a:rPr lang="en-US" sz="1400" b="1" spc="60" kern="0" dirty="0">
                <a:solidFill>
                  <a:srgbClr val="595959"/>
                </a:solidFill>
                <a:latin typeface="Inter" pitchFamily="34" charset="0"/>
                <a:ea typeface="Inter" pitchFamily="34" charset="-122"/>
                <a:cs typeface="Inter" pitchFamily="34" charset="-120"/>
              </a:rPr>
              <a:t>ALIGNMENT · 15%</a:t>
            </a:r>
            <a:endParaRPr lang="en-US" sz="1400" dirty="0"/>
          </a:p>
        </p:txBody>
      </p:sp>
      <p:sp>
        <p:nvSpPr>
          <p:cNvPr id="12" name="Text 10"/>
          <p:cNvSpPr txBox="1"/>
          <p:nvPr/>
        </p:nvSpPr>
        <p:spPr>
          <a:xfrm>
            <a:off x="827532" y="4315968"/>
            <a:ext cx="2359152" cy="548640"/>
          </a:xfrm>
          <a:prstGeom prst="rect">
            <a:avLst/>
          </a:prstGeom>
          <a:noFill/>
          <a:ln/>
        </p:spPr>
        <p:txBody>
          <a:bodyPr wrap="square" lIns="0" tIns="0" rIns="0" bIns="0" rtlCol="0" anchor="ctr"/>
          <a:lstStyle/>
          <a:p>
            <a:pPr algn="ctr" indent="0" marL="0">
              <a:buNone/>
            </a:pPr>
            <a:r>
              <a:rPr lang="en-US" sz="2600" b="1" dirty="0">
                <a:solidFill>
                  <a:srgbClr val="0B2C4A"/>
                </a:solidFill>
                <a:latin typeface="Inter" pitchFamily="34" charset="0"/>
                <a:ea typeface="Inter" pitchFamily="34" charset="-122"/>
                <a:cs typeface="Inter" pitchFamily="34" charset="-120"/>
              </a:rPr>
              <a:t>$1,029,276</a:t>
            </a:r>
            <a:endParaRPr lang="en-US" sz="2600" dirty="0"/>
          </a:p>
        </p:txBody>
      </p:sp>
      <p:sp>
        <p:nvSpPr>
          <p:cNvPr id="13" name="Text 11"/>
          <p:cNvSpPr txBox="1"/>
          <p:nvPr/>
        </p:nvSpPr>
        <p:spPr>
          <a:xfrm>
            <a:off x="827532" y="4892040"/>
            <a:ext cx="2359152" cy="365760"/>
          </a:xfrm>
          <a:prstGeom prst="rect">
            <a:avLst/>
          </a:prstGeom>
          <a:noFill/>
          <a:ln/>
        </p:spPr>
        <p:txBody>
          <a:bodyPr wrap="square" lIns="0" tIns="0" rIns="0" bIns="0" rtlCol="0" anchor="ctr"/>
          <a:lstStyle/>
          <a:p>
            <a:pPr algn="ctr" indent="0" marL="0">
              <a:buNone/>
            </a:pPr>
            <a:r>
              <a:rPr lang="en-US" sz="1400" dirty="0">
                <a:solidFill>
                  <a:srgbClr val="1A1A1A"/>
                </a:solidFill>
                <a:latin typeface="Inter" pitchFamily="34" charset="0"/>
                <a:ea typeface="Inter" pitchFamily="34" charset="-122"/>
                <a:cs typeface="Inter" pitchFamily="34" charset="-120"/>
              </a:rPr>
              <a:t>9,935 more services a year</a:t>
            </a:r>
            <a:endParaRPr lang="en-US" sz="1400" dirty="0"/>
          </a:p>
        </p:txBody>
      </p:sp>
      <p:sp>
        <p:nvSpPr>
          <p:cNvPr id="14" name="Shape 12"/>
          <p:cNvSpPr/>
          <p:nvPr/>
        </p:nvSpPr>
        <p:spPr>
          <a:xfrm>
            <a:off x="3461004" y="3794760"/>
            <a:ext cx="2542032" cy="1691640"/>
          </a:xfrm>
          <a:prstGeom prst="rect">
            <a:avLst/>
          </a:prstGeom>
          <a:solidFill>
            <a:srgbClr val="F7F7F7"/>
          </a:solidFill>
          <a:ln/>
        </p:spPr>
      </p:sp>
      <p:sp>
        <p:nvSpPr>
          <p:cNvPr id="15" name="Shape 13"/>
          <p:cNvSpPr/>
          <p:nvPr/>
        </p:nvSpPr>
        <p:spPr>
          <a:xfrm>
            <a:off x="3461004" y="3794760"/>
            <a:ext cx="2542032" cy="64008"/>
          </a:xfrm>
          <a:prstGeom prst="rect">
            <a:avLst/>
          </a:prstGeom>
          <a:solidFill>
            <a:srgbClr val="12A566"/>
          </a:solidFill>
          <a:ln/>
        </p:spPr>
      </p:sp>
      <p:sp>
        <p:nvSpPr>
          <p:cNvPr id="16" name="Text 14"/>
          <p:cNvSpPr txBox="1"/>
          <p:nvPr/>
        </p:nvSpPr>
        <p:spPr>
          <a:xfrm>
            <a:off x="3552444" y="3950208"/>
            <a:ext cx="2359152" cy="329184"/>
          </a:xfrm>
          <a:prstGeom prst="rect">
            <a:avLst/>
          </a:prstGeom>
          <a:noFill/>
          <a:ln/>
        </p:spPr>
        <p:txBody>
          <a:bodyPr wrap="square" lIns="0" tIns="0" rIns="0" bIns="0" rtlCol="0" anchor="ctr"/>
          <a:lstStyle/>
          <a:p>
            <a:pPr algn="ctr" indent="0" marL="0">
              <a:buNone/>
            </a:pPr>
            <a:r>
              <a:rPr lang="en-US" sz="1400" b="1" spc="60" kern="0" dirty="0">
                <a:solidFill>
                  <a:srgbClr val="595959"/>
                </a:solidFill>
                <a:latin typeface="Inter" pitchFamily="34" charset="0"/>
                <a:ea typeface="Inter" pitchFamily="34" charset="-122"/>
                <a:cs typeface="Inter" pitchFamily="34" charset="-120"/>
              </a:rPr>
              <a:t>TIRE BALANCE · 15%</a:t>
            </a:r>
            <a:endParaRPr lang="en-US" sz="1400" dirty="0"/>
          </a:p>
        </p:txBody>
      </p:sp>
      <p:sp>
        <p:nvSpPr>
          <p:cNvPr id="17" name="Text 15"/>
          <p:cNvSpPr txBox="1"/>
          <p:nvPr/>
        </p:nvSpPr>
        <p:spPr>
          <a:xfrm>
            <a:off x="3552444" y="4315968"/>
            <a:ext cx="2359152" cy="548640"/>
          </a:xfrm>
          <a:prstGeom prst="rect">
            <a:avLst/>
          </a:prstGeom>
          <a:noFill/>
          <a:ln/>
        </p:spPr>
        <p:txBody>
          <a:bodyPr wrap="square" lIns="0" tIns="0" rIns="0" bIns="0" rtlCol="0" anchor="ctr"/>
          <a:lstStyle/>
          <a:p>
            <a:pPr algn="ctr" indent="0" marL="0">
              <a:buNone/>
            </a:pPr>
            <a:r>
              <a:rPr lang="en-US" sz="2600" b="1" dirty="0">
                <a:solidFill>
                  <a:srgbClr val="0B2C4A"/>
                </a:solidFill>
                <a:latin typeface="Inter" pitchFamily="34" charset="0"/>
                <a:ea typeface="Inter" pitchFamily="34" charset="-122"/>
                <a:cs typeface="Inter" pitchFamily="34" charset="-120"/>
              </a:rPr>
              <a:t>$1,664,385</a:t>
            </a:r>
            <a:endParaRPr lang="en-US" sz="2600" dirty="0"/>
          </a:p>
        </p:txBody>
      </p:sp>
      <p:sp>
        <p:nvSpPr>
          <p:cNvPr id="18" name="Text 16"/>
          <p:cNvSpPr txBox="1"/>
          <p:nvPr/>
        </p:nvSpPr>
        <p:spPr>
          <a:xfrm>
            <a:off x="3552444" y="4892040"/>
            <a:ext cx="2359152" cy="365760"/>
          </a:xfrm>
          <a:prstGeom prst="rect">
            <a:avLst/>
          </a:prstGeom>
          <a:noFill/>
          <a:ln/>
        </p:spPr>
        <p:txBody>
          <a:bodyPr wrap="square" lIns="0" tIns="0" rIns="0" bIns="0" rtlCol="0" anchor="ctr"/>
          <a:lstStyle/>
          <a:p>
            <a:pPr algn="ctr" indent="0" marL="0">
              <a:buNone/>
            </a:pPr>
            <a:r>
              <a:rPr lang="en-US" sz="1400" dirty="0">
                <a:solidFill>
                  <a:srgbClr val="1A1A1A"/>
                </a:solidFill>
                <a:latin typeface="Inter" pitchFamily="34" charset="0"/>
                <a:ea typeface="Inter" pitchFamily="34" charset="-122"/>
                <a:cs typeface="Inter" pitchFamily="34" charset="-120"/>
              </a:rPr>
              <a:t>26,062 more services a year</a:t>
            </a:r>
            <a:endParaRPr lang="en-US" sz="1400" dirty="0"/>
          </a:p>
        </p:txBody>
      </p:sp>
      <p:sp>
        <p:nvSpPr>
          <p:cNvPr id="19" name="Shape 17"/>
          <p:cNvSpPr/>
          <p:nvPr/>
        </p:nvSpPr>
        <p:spPr>
          <a:xfrm>
            <a:off x="6185916" y="3794760"/>
            <a:ext cx="2542032" cy="1691640"/>
          </a:xfrm>
          <a:prstGeom prst="rect">
            <a:avLst/>
          </a:prstGeom>
          <a:solidFill>
            <a:srgbClr val="F7F7F7"/>
          </a:solidFill>
          <a:ln/>
        </p:spPr>
      </p:sp>
      <p:sp>
        <p:nvSpPr>
          <p:cNvPr id="20" name="Shape 18"/>
          <p:cNvSpPr/>
          <p:nvPr/>
        </p:nvSpPr>
        <p:spPr>
          <a:xfrm>
            <a:off x="6185916" y="3794760"/>
            <a:ext cx="2542032" cy="64008"/>
          </a:xfrm>
          <a:prstGeom prst="rect">
            <a:avLst/>
          </a:prstGeom>
          <a:solidFill>
            <a:srgbClr val="12A566"/>
          </a:solidFill>
          <a:ln/>
        </p:spPr>
      </p:sp>
      <p:sp>
        <p:nvSpPr>
          <p:cNvPr id="21" name="Text 19"/>
          <p:cNvSpPr txBox="1"/>
          <p:nvPr/>
        </p:nvSpPr>
        <p:spPr>
          <a:xfrm>
            <a:off x="6277356" y="3950208"/>
            <a:ext cx="2359152" cy="329184"/>
          </a:xfrm>
          <a:prstGeom prst="rect">
            <a:avLst/>
          </a:prstGeom>
          <a:noFill/>
          <a:ln/>
        </p:spPr>
        <p:txBody>
          <a:bodyPr wrap="square" lIns="0" tIns="0" rIns="0" bIns="0" rtlCol="0" anchor="ctr"/>
          <a:lstStyle/>
          <a:p>
            <a:pPr algn="ctr" indent="0" marL="0">
              <a:buNone/>
            </a:pPr>
            <a:r>
              <a:rPr lang="en-US" sz="1400" b="1" spc="60" kern="0" dirty="0">
                <a:solidFill>
                  <a:srgbClr val="595959"/>
                </a:solidFill>
                <a:latin typeface="Inter" pitchFamily="34" charset="0"/>
                <a:ea typeface="Inter" pitchFamily="34" charset="-122"/>
                <a:cs typeface="Inter" pitchFamily="34" charset="-120"/>
              </a:rPr>
              <a:t>BRAKE FLUID · 10%</a:t>
            </a:r>
            <a:endParaRPr lang="en-US" sz="1400" dirty="0"/>
          </a:p>
        </p:txBody>
      </p:sp>
      <p:sp>
        <p:nvSpPr>
          <p:cNvPr id="22" name="Text 20"/>
          <p:cNvSpPr txBox="1"/>
          <p:nvPr/>
        </p:nvSpPr>
        <p:spPr>
          <a:xfrm>
            <a:off x="6277356" y="4315968"/>
            <a:ext cx="2359152" cy="548640"/>
          </a:xfrm>
          <a:prstGeom prst="rect">
            <a:avLst/>
          </a:prstGeom>
          <a:noFill/>
          <a:ln/>
        </p:spPr>
        <p:txBody>
          <a:bodyPr wrap="square" lIns="0" tIns="0" rIns="0" bIns="0" rtlCol="0" anchor="ctr"/>
          <a:lstStyle/>
          <a:p>
            <a:pPr algn="ctr" indent="0" marL="0">
              <a:buNone/>
            </a:pPr>
            <a:r>
              <a:rPr lang="en-US" sz="2600" b="1" dirty="0">
                <a:solidFill>
                  <a:srgbClr val="0B2C4A"/>
                </a:solidFill>
                <a:latin typeface="Inter" pitchFamily="34" charset="0"/>
                <a:ea typeface="Inter" pitchFamily="34" charset="-122"/>
                <a:cs typeface="Inter" pitchFamily="34" charset="-120"/>
              </a:rPr>
              <a:t>$844,657</a:t>
            </a:r>
            <a:endParaRPr lang="en-US" sz="2600" dirty="0"/>
          </a:p>
        </p:txBody>
      </p:sp>
      <p:sp>
        <p:nvSpPr>
          <p:cNvPr id="23" name="Text 21"/>
          <p:cNvSpPr txBox="1"/>
          <p:nvPr/>
        </p:nvSpPr>
        <p:spPr>
          <a:xfrm>
            <a:off x="6277356" y="4892040"/>
            <a:ext cx="2359152" cy="365760"/>
          </a:xfrm>
          <a:prstGeom prst="rect">
            <a:avLst/>
          </a:prstGeom>
          <a:noFill/>
          <a:ln/>
        </p:spPr>
        <p:txBody>
          <a:bodyPr wrap="square" lIns="0" tIns="0" rIns="0" bIns="0" rtlCol="0" anchor="ctr"/>
          <a:lstStyle/>
          <a:p>
            <a:pPr algn="ctr" indent="0" marL="0">
              <a:buNone/>
            </a:pPr>
            <a:r>
              <a:rPr lang="en-US" sz="1400" dirty="0">
                <a:solidFill>
                  <a:srgbClr val="1A1A1A"/>
                </a:solidFill>
                <a:latin typeface="Inter" pitchFamily="34" charset="0"/>
                <a:ea typeface="Inter" pitchFamily="34" charset="-122"/>
                <a:cs typeface="Inter" pitchFamily="34" charset="-120"/>
              </a:rPr>
              <a:t>5,919 more services a year</a:t>
            </a:r>
            <a:endParaRPr lang="en-US" sz="1400" dirty="0"/>
          </a:p>
        </p:txBody>
      </p:sp>
      <p:sp>
        <p:nvSpPr>
          <p:cNvPr id="24" name="Shape 22"/>
          <p:cNvSpPr/>
          <p:nvPr/>
        </p:nvSpPr>
        <p:spPr>
          <a:xfrm>
            <a:off x="8910828" y="3794760"/>
            <a:ext cx="2542032" cy="1691640"/>
          </a:xfrm>
          <a:prstGeom prst="rect">
            <a:avLst/>
          </a:prstGeom>
          <a:solidFill>
            <a:srgbClr val="F7F7F7"/>
          </a:solidFill>
          <a:ln/>
        </p:spPr>
      </p:sp>
      <p:sp>
        <p:nvSpPr>
          <p:cNvPr id="25" name="Shape 23"/>
          <p:cNvSpPr/>
          <p:nvPr/>
        </p:nvSpPr>
        <p:spPr>
          <a:xfrm>
            <a:off x="8910828" y="3794760"/>
            <a:ext cx="2542032" cy="64008"/>
          </a:xfrm>
          <a:prstGeom prst="rect">
            <a:avLst/>
          </a:prstGeom>
          <a:solidFill>
            <a:srgbClr val="12A566"/>
          </a:solidFill>
          <a:ln/>
        </p:spPr>
      </p:sp>
      <p:sp>
        <p:nvSpPr>
          <p:cNvPr id="26" name="Text 24"/>
          <p:cNvSpPr txBox="1"/>
          <p:nvPr/>
        </p:nvSpPr>
        <p:spPr>
          <a:xfrm>
            <a:off x="9002268" y="3950208"/>
            <a:ext cx="2359152" cy="329184"/>
          </a:xfrm>
          <a:prstGeom prst="rect">
            <a:avLst/>
          </a:prstGeom>
          <a:noFill/>
          <a:ln/>
        </p:spPr>
        <p:txBody>
          <a:bodyPr wrap="square" lIns="0" tIns="0" rIns="0" bIns="0" rtlCol="0" anchor="ctr"/>
          <a:lstStyle/>
          <a:p>
            <a:pPr algn="ctr" indent="0" marL="0">
              <a:buNone/>
            </a:pPr>
            <a:r>
              <a:rPr lang="en-US" sz="1400" b="1" spc="60" kern="0" dirty="0">
                <a:solidFill>
                  <a:srgbClr val="595959"/>
                </a:solidFill>
                <a:latin typeface="Inter" pitchFamily="34" charset="0"/>
                <a:ea typeface="Inter" pitchFamily="34" charset="-122"/>
                <a:cs typeface="Inter" pitchFamily="34" charset="-120"/>
              </a:rPr>
              <a:t>FUEL SERVICE · 7.5%</a:t>
            </a:r>
            <a:endParaRPr lang="en-US" sz="1400" dirty="0"/>
          </a:p>
        </p:txBody>
      </p:sp>
      <p:sp>
        <p:nvSpPr>
          <p:cNvPr id="27" name="Text 25"/>
          <p:cNvSpPr txBox="1"/>
          <p:nvPr/>
        </p:nvSpPr>
        <p:spPr>
          <a:xfrm>
            <a:off x="9002268" y="4315968"/>
            <a:ext cx="2359152" cy="548640"/>
          </a:xfrm>
          <a:prstGeom prst="rect">
            <a:avLst/>
          </a:prstGeom>
          <a:noFill/>
          <a:ln/>
        </p:spPr>
        <p:txBody>
          <a:bodyPr wrap="square" lIns="0" tIns="0" rIns="0" bIns="0" rtlCol="0" anchor="ctr"/>
          <a:lstStyle/>
          <a:p>
            <a:pPr algn="ctr" indent="0" marL="0">
              <a:buNone/>
            </a:pPr>
            <a:r>
              <a:rPr lang="en-US" sz="2600" b="1" dirty="0">
                <a:solidFill>
                  <a:srgbClr val="0B2C4A"/>
                </a:solidFill>
                <a:latin typeface="Inter" pitchFamily="34" charset="0"/>
                <a:ea typeface="Inter" pitchFamily="34" charset="-122"/>
                <a:cs typeface="Inter" pitchFamily="34" charset="-120"/>
              </a:rPr>
              <a:t>$1,356,881</a:t>
            </a:r>
            <a:endParaRPr lang="en-US" sz="2600" dirty="0"/>
          </a:p>
        </p:txBody>
      </p:sp>
      <p:sp>
        <p:nvSpPr>
          <p:cNvPr id="28" name="Text 26"/>
          <p:cNvSpPr txBox="1"/>
          <p:nvPr/>
        </p:nvSpPr>
        <p:spPr>
          <a:xfrm>
            <a:off x="9002268" y="4892040"/>
            <a:ext cx="2359152" cy="365760"/>
          </a:xfrm>
          <a:prstGeom prst="rect">
            <a:avLst/>
          </a:prstGeom>
          <a:noFill/>
          <a:ln/>
        </p:spPr>
        <p:txBody>
          <a:bodyPr wrap="square" lIns="0" tIns="0" rIns="0" bIns="0" rtlCol="0" anchor="ctr"/>
          <a:lstStyle/>
          <a:p>
            <a:pPr algn="ctr" indent="0" marL="0">
              <a:buNone/>
            </a:pPr>
            <a:r>
              <a:rPr lang="en-US" sz="1400" dirty="0">
                <a:solidFill>
                  <a:srgbClr val="1A1A1A"/>
                </a:solidFill>
                <a:latin typeface="Inter" pitchFamily="34" charset="0"/>
                <a:ea typeface="Inter" pitchFamily="34" charset="-122"/>
                <a:cs typeface="Inter" pitchFamily="34" charset="-120"/>
              </a:rPr>
              <a:t>8,527 more services a year</a:t>
            </a:r>
            <a:endParaRPr lang="en-US" sz="1400" dirty="0"/>
          </a:p>
        </p:txBody>
      </p:sp>
      <p:sp>
        <p:nvSpPr>
          <p:cNvPr id="29" name="Shape 27"/>
          <p:cNvSpPr/>
          <p:nvPr/>
        </p:nvSpPr>
        <p:spPr>
          <a:xfrm>
            <a:off x="457200" y="5961888"/>
            <a:ext cx="11274552" cy="548640"/>
          </a:xfrm>
          <a:prstGeom prst="rect">
            <a:avLst/>
          </a:prstGeom>
          <a:solidFill>
            <a:srgbClr val="E6F6EE"/>
          </a:solidFill>
          <a:ln/>
        </p:spPr>
      </p:sp>
      <p:sp>
        <p:nvSpPr>
          <p:cNvPr id="30" name="Text 28"/>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50,442 more services a year on cars already in our drives. No new customers needed.</a:t>
            </a:r>
            <a:endParaRPr lang="en-US" sz="1600" dirty="0"/>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WARRANTY &amp; INTERNAL</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Warranty Compliance</a:t>
            </a:r>
            <a:endParaRPr lang="en-US" sz="2800" dirty="0"/>
          </a:p>
        </p:txBody>
      </p:sp>
      <p:sp>
        <p:nvSpPr>
          <p:cNvPr id="5" name="Shape 3"/>
          <p:cNvSpPr/>
          <p:nvPr/>
        </p:nvSpPr>
        <p:spPr>
          <a:xfrm>
            <a:off x="457200" y="1207008"/>
            <a:ext cx="6400800" cy="4645152"/>
          </a:xfrm>
          <a:prstGeom prst="rect">
            <a:avLst/>
          </a:prstGeom>
          <a:solidFill>
            <a:srgbClr val="FFFFFF"/>
          </a:solidFill>
          <a:ln/>
        </p:spPr>
      </p:sp>
      <p:sp>
        <p:nvSpPr>
          <p:cNvPr id="6" name="Shape 4"/>
          <p:cNvSpPr/>
          <p:nvPr/>
        </p:nvSpPr>
        <p:spPr>
          <a:xfrm>
            <a:off x="7022592" y="1207008"/>
            <a:ext cx="4709160" cy="4645152"/>
          </a:xfrm>
          <a:prstGeom prst="rect">
            <a:avLst/>
          </a:prstGeom>
          <a:solidFill>
            <a:srgbClr val="FFFFFF"/>
          </a:solidFill>
          <a:ln/>
        </p:spPr>
      </p:sp>
      <p:sp>
        <p:nvSpPr>
          <p:cNvPr id="7" name="Text 5"/>
          <p:cNvSpPr txBox="1"/>
          <p:nvPr/>
        </p:nvSpPr>
        <p:spPr>
          <a:xfrm>
            <a:off x="713232" y="1371600"/>
            <a:ext cx="5943600" cy="310896"/>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WE SAID · GM MEETING JAN 2026</a:t>
            </a:r>
            <a:endParaRPr lang="en-US" sz="1400" dirty="0"/>
          </a:p>
        </p:txBody>
      </p:sp>
      <p:sp>
        <p:nvSpPr>
          <p:cNvPr id="8" name="Text 6"/>
          <p:cNvSpPr txBox="1"/>
          <p:nvPr/>
        </p:nvSpPr>
        <p:spPr>
          <a:xfrm>
            <a:off x="7269480" y="1371600"/>
            <a:ext cx="4297680" cy="310896"/>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WHERE WE ARE · JAN–SEP 2026</a:t>
            </a:r>
            <a:endParaRPr lang="en-US" sz="1400" dirty="0"/>
          </a:p>
        </p:txBody>
      </p:sp>
      <p:sp>
        <p:nvSpPr>
          <p:cNvPr id="9" name="Shape 7"/>
          <p:cNvSpPr/>
          <p:nvPr/>
        </p:nvSpPr>
        <p:spPr>
          <a:xfrm>
            <a:off x="713232" y="1737360"/>
            <a:ext cx="5897880" cy="10973"/>
          </a:xfrm>
          <a:prstGeom prst="rect">
            <a:avLst/>
          </a:prstGeom>
          <a:solidFill>
            <a:srgbClr val="D9D9D9"/>
          </a:solidFill>
          <a:ln/>
        </p:spPr>
      </p:sp>
      <p:sp>
        <p:nvSpPr>
          <p:cNvPr id="10" name="Shape 8"/>
          <p:cNvSpPr/>
          <p:nvPr/>
        </p:nvSpPr>
        <p:spPr>
          <a:xfrm>
            <a:off x="7269480" y="1737360"/>
            <a:ext cx="4224528" cy="10973"/>
          </a:xfrm>
          <a:prstGeom prst="rect">
            <a:avLst/>
          </a:prstGeom>
          <a:solidFill>
            <a:srgbClr val="D9D9D9"/>
          </a:solidFill>
          <a:ln/>
        </p:spPr>
      </p:sp>
      <p:sp>
        <p:nvSpPr>
          <p:cNvPr id="11" name="Text 9"/>
          <p:cNvSpPr txBox="1"/>
          <p:nvPr/>
        </p:nvSpPr>
        <p:spPr>
          <a:xfrm>
            <a:off x="713232" y="1874520"/>
            <a:ext cx="5897880" cy="384048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Higher labor rates and tariffs are driving up OEM scrutiny</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Six audits cost $400,000</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Primary causes: written documentation, manager signatures on add-ons and in-stock units, out mileage, punch times, manufacturer authorization</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The general manager is responsible for warranty policy being followed</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Spot-check repair orders and self-audit</a:t>
            </a:r>
            <a:endParaRPr lang="en-US" sz="1800" dirty="0"/>
          </a:p>
        </p:txBody>
      </p:sp>
      <p:sp>
        <p:nvSpPr>
          <p:cNvPr id="12" name="Shape 10"/>
          <p:cNvSpPr/>
          <p:nvPr/>
        </p:nvSpPr>
        <p:spPr>
          <a:xfrm>
            <a:off x="7269480" y="1920240"/>
            <a:ext cx="54864" cy="1714500"/>
          </a:xfrm>
          <a:prstGeom prst="rect">
            <a:avLst/>
          </a:prstGeom>
          <a:solidFill>
            <a:srgbClr val="12A566"/>
          </a:solidFill>
          <a:ln/>
        </p:spPr>
      </p:sp>
      <p:sp>
        <p:nvSpPr>
          <p:cNvPr id="13" name="Text 11"/>
          <p:cNvSpPr txBox="1"/>
          <p:nvPr/>
        </p:nvSpPr>
        <p:spPr>
          <a:xfrm>
            <a:off x="7452360" y="187452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7A4A"/>
                </a:solidFill>
                <a:latin typeface="Inter" pitchFamily="34" charset="0"/>
                <a:ea typeface="Inter" pitchFamily="34" charset="-122"/>
                <a:cs typeface="Inter" pitchFamily="34" charset="-120"/>
              </a:rPr>
              <a:t>$197.17</a:t>
            </a:r>
            <a:endParaRPr lang="en-US" sz="3000" dirty="0"/>
          </a:p>
        </p:txBody>
      </p:sp>
      <p:sp>
        <p:nvSpPr>
          <p:cNvPr id="14" name="Text 12"/>
          <p:cNvSpPr txBox="1"/>
          <p:nvPr/>
        </p:nvSpPr>
        <p:spPr>
          <a:xfrm>
            <a:off x="7452360" y="2441448"/>
            <a:ext cx="4023360" cy="121158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Warranty ELR, up $16.93; 30 of 33 stores raised it.</a:t>
            </a:r>
            <a:endParaRPr lang="en-US" sz="1400" dirty="0"/>
          </a:p>
        </p:txBody>
      </p:sp>
      <p:sp>
        <p:nvSpPr>
          <p:cNvPr id="15" name="Shape 13"/>
          <p:cNvSpPr/>
          <p:nvPr/>
        </p:nvSpPr>
        <p:spPr>
          <a:xfrm>
            <a:off x="7269480" y="3863340"/>
            <a:ext cx="54864" cy="1714500"/>
          </a:xfrm>
          <a:prstGeom prst="rect">
            <a:avLst/>
          </a:prstGeom>
          <a:solidFill>
            <a:srgbClr val="2587C5"/>
          </a:solidFill>
          <a:ln/>
        </p:spPr>
      </p:sp>
      <p:sp>
        <p:nvSpPr>
          <p:cNvPr id="16" name="Text 14"/>
          <p:cNvSpPr txBox="1"/>
          <p:nvPr/>
        </p:nvSpPr>
        <p:spPr>
          <a:xfrm>
            <a:off x="7452360" y="381762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2C4A"/>
                </a:solidFill>
                <a:latin typeface="Inter" pitchFamily="34" charset="0"/>
                <a:ea typeface="Inter" pitchFamily="34" charset="-122"/>
                <a:cs typeface="Inter" pitchFamily="34" charset="-120"/>
              </a:rPr>
              <a:t>−8,873</a:t>
            </a:r>
            <a:endParaRPr lang="en-US" sz="3000" dirty="0"/>
          </a:p>
        </p:txBody>
      </p:sp>
      <p:sp>
        <p:nvSpPr>
          <p:cNvPr id="17" name="Text 15"/>
          <p:cNvSpPr txBox="1"/>
          <p:nvPr/>
        </p:nvSpPr>
        <p:spPr>
          <a:xfrm>
            <a:off x="7452360" y="4384548"/>
            <a:ext cx="4023360" cy="121158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Warranty ROs, down to 126,891. Volume follows OEM campaigns and recalls.</a:t>
            </a:r>
            <a:endParaRPr lang="en-US" sz="1400" dirty="0"/>
          </a:p>
        </p:txBody>
      </p:sp>
      <p:sp>
        <p:nvSpPr>
          <p:cNvPr id="18" name="Shape 16"/>
          <p:cNvSpPr/>
          <p:nvPr/>
        </p:nvSpPr>
        <p:spPr>
          <a:xfrm>
            <a:off x="457200" y="5961888"/>
            <a:ext cx="11274552" cy="548640"/>
          </a:xfrm>
          <a:prstGeom prst="rect">
            <a:avLst/>
          </a:prstGeom>
          <a:solidFill>
            <a:srgbClr val="EDF4FA"/>
          </a:solidFill>
          <a:ln/>
        </p:spPr>
      </p:sp>
      <p:sp>
        <p:nvSpPr>
          <p:cNvPr id="19" name="Text 17"/>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The ask: a higher warranty rate brings more scrutiny. Self-audit before the factory does.</a:t>
            </a:r>
            <a:endParaRPr lang="en-US" sz="1600" dirty="0"/>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People</a:t>
            </a:r>
            <a:endParaRPr lang="en-US" sz="2800" dirty="0"/>
          </a:p>
        </p:txBody>
      </p:sp>
      <p:sp>
        <p:nvSpPr>
          <p:cNvPr id="5" name="Shape 3"/>
          <p:cNvSpPr/>
          <p:nvPr/>
        </p:nvSpPr>
        <p:spPr>
          <a:xfrm>
            <a:off x="457200" y="1207008"/>
            <a:ext cx="6400800" cy="4645152"/>
          </a:xfrm>
          <a:prstGeom prst="rect">
            <a:avLst/>
          </a:prstGeom>
          <a:solidFill>
            <a:srgbClr val="FFFFFF"/>
          </a:solidFill>
          <a:ln/>
        </p:spPr>
      </p:sp>
      <p:sp>
        <p:nvSpPr>
          <p:cNvPr id="6" name="Shape 4"/>
          <p:cNvSpPr/>
          <p:nvPr/>
        </p:nvSpPr>
        <p:spPr>
          <a:xfrm>
            <a:off x="7022592" y="1207008"/>
            <a:ext cx="4709160" cy="4645152"/>
          </a:xfrm>
          <a:prstGeom prst="rect">
            <a:avLst/>
          </a:prstGeom>
          <a:solidFill>
            <a:srgbClr val="FFFFFF"/>
          </a:solidFill>
          <a:ln/>
        </p:spPr>
      </p:sp>
      <p:sp>
        <p:nvSpPr>
          <p:cNvPr id="7" name="Text 5"/>
          <p:cNvSpPr txBox="1"/>
          <p:nvPr/>
        </p:nvSpPr>
        <p:spPr>
          <a:xfrm>
            <a:off x="713232" y="1371600"/>
            <a:ext cx="5943600" cy="310896"/>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WE SAID · ROUNDTABLE &amp; GM MEETINGS</a:t>
            </a:r>
            <a:endParaRPr lang="en-US" sz="1400" dirty="0"/>
          </a:p>
        </p:txBody>
      </p:sp>
      <p:sp>
        <p:nvSpPr>
          <p:cNvPr id="8" name="Text 6"/>
          <p:cNvSpPr txBox="1"/>
          <p:nvPr/>
        </p:nvSpPr>
        <p:spPr>
          <a:xfrm>
            <a:off x="7269480" y="1371600"/>
            <a:ext cx="4297680" cy="310896"/>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WHERE WE ARE · JAN–SEP 2026</a:t>
            </a:r>
            <a:endParaRPr lang="en-US" sz="1400" dirty="0"/>
          </a:p>
        </p:txBody>
      </p:sp>
      <p:sp>
        <p:nvSpPr>
          <p:cNvPr id="9" name="Shape 7"/>
          <p:cNvSpPr/>
          <p:nvPr/>
        </p:nvSpPr>
        <p:spPr>
          <a:xfrm>
            <a:off x="713232" y="1737360"/>
            <a:ext cx="5897880" cy="10973"/>
          </a:xfrm>
          <a:prstGeom prst="rect">
            <a:avLst/>
          </a:prstGeom>
          <a:solidFill>
            <a:srgbClr val="D9D9D9"/>
          </a:solidFill>
          <a:ln/>
        </p:spPr>
      </p:sp>
      <p:sp>
        <p:nvSpPr>
          <p:cNvPr id="10" name="Shape 8"/>
          <p:cNvSpPr/>
          <p:nvPr/>
        </p:nvSpPr>
        <p:spPr>
          <a:xfrm>
            <a:off x="7269480" y="1737360"/>
            <a:ext cx="4224528" cy="10973"/>
          </a:xfrm>
          <a:prstGeom prst="rect">
            <a:avLst/>
          </a:prstGeom>
          <a:solidFill>
            <a:srgbClr val="D9D9D9"/>
          </a:solidFill>
          <a:ln/>
        </p:spPr>
      </p:sp>
      <p:sp>
        <p:nvSpPr>
          <p:cNvPr id="11" name="Text 9"/>
          <p:cNvSpPr txBox="1"/>
          <p:nvPr/>
        </p:nvSpPr>
        <p:spPr>
          <a:xfrm>
            <a:off x="713232" y="1874520"/>
            <a:ext cx="5897880" cy="384048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Our most valuable asset: this is what separates us</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Invest in training and a defined career path. Be the best place to work.</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Grow your own: apprentice programs</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What does being short-handed cost? Limited scheduling, lost opportunities, missed MPIs</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Clear pay plans, job descriptions and expectations</a:t>
            </a:r>
            <a:endParaRPr lang="en-US" sz="1800" dirty="0"/>
          </a:p>
        </p:txBody>
      </p:sp>
      <p:sp>
        <p:nvSpPr>
          <p:cNvPr id="12" name="Shape 10"/>
          <p:cNvSpPr/>
          <p:nvPr/>
        </p:nvSpPr>
        <p:spPr>
          <a:xfrm>
            <a:off x="7269480" y="1920240"/>
            <a:ext cx="54864" cy="1066800"/>
          </a:xfrm>
          <a:prstGeom prst="rect">
            <a:avLst/>
          </a:prstGeom>
          <a:solidFill>
            <a:srgbClr val="2587C5"/>
          </a:solidFill>
          <a:ln/>
        </p:spPr>
      </p:sp>
      <p:sp>
        <p:nvSpPr>
          <p:cNvPr id="13" name="Text 11"/>
          <p:cNvSpPr txBox="1"/>
          <p:nvPr/>
        </p:nvSpPr>
        <p:spPr>
          <a:xfrm>
            <a:off x="7452360" y="187452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2C4A"/>
                </a:solidFill>
                <a:latin typeface="Inter" pitchFamily="34" charset="0"/>
                <a:ea typeface="Inter" pitchFamily="34" charset="-122"/>
                <a:cs typeface="Inter" pitchFamily="34" charset="-120"/>
              </a:rPr>
              <a:t>−76</a:t>
            </a:r>
            <a:endParaRPr lang="en-US" sz="3000" dirty="0"/>
          </a:p>
        </p:txBody>
      </p:sp>
      <p:sp>
        <p:nvSpPr>
          <p:cNvPr id="14" name="Text 12"/>
          <p:cNvSpPr txBox="1"/>
          <p:nvPr/>
        </p:nvSpPr>
        <p:spPr>
          <a:xfrm>
            <a:off x="7452360" y="2441448"/>
            <a:ext cx="4023360" cy="56388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Fixed ops staff, Sep to Sep, to 1,540 (−4.7%): technicians −17, advisors −7, managers −3.</a:t>
            </a:r>
            <a:endParaRPr lang="en-US" sz="1400" dirty="0"/>
          </a:p>
        </p:txBody>
      </p:sp>
      <p:sp>
        <p:nvSpPr>
          <p:cNvPr id="15" name="Shape 13"/>
          <p:cNvSpPr/>
          <p:nvPr/>
        </p:nvSpPr>
        <p:spPr>
          <a:xfrm>
            <a:off x="7269480" y="3215640"/>
            <a:ext cx="54864" cy="1066800"/>
          </a:xfrm>
          <a:prstGeom prst="rect">
            <a:avLst/>
          </a:prstGeom>
          <a:solidFill>
            <a:srgbClr val="12A566"/>
          </a:solidFill>
          <a:ln/>
        </p:spPr>
      </p:sp>
      <p:sp>
        <p:nvSpPr>
          <p:cNvPr id="16" name="Text 14"/>
          <p:cNvSpPr txBox="1"/>
          <p:nvPr/>
        </p:nvSpPr>
        <p:spPr>
          <a:xfrm>
            <a:off x="7452360" y="316992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7A4A"/>
                </a:solidFill>
                <a:latin typeface="Inter" pitchFamily="34" charset="0"/>
                <a:ea typeface="Inter" pitchFamily="34" charset="-122"/>
                <a:cs typeface="Inter" pitchFamily="34" charset="-120"/>
              </a:rPr>
              <a:t>$13,617</a:t>
            </a:r>
            <a:endParaRPr lang="en-US" sz="3000" dirty="0"/>
          </a:p>
        </p:txBody>
      </p:sp>
      <p:sp>
        <p:nvSpPr>
          <p:cNvPr id="17" name="Text 15"/>
          <p:cNvSpPr txBox="1"/>
          <p:nvPr/>
        </p:nvSpPr>
        <p:spPr>
          <a:xfrm>
            <a:off x="7452360" y="3736848"/>
            <a:ext cx="4023360" cy="56388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Fixed gross per fixed employee a month, up $1,207. Gross grew 4.1% with 5.1% fewer people.</a:t>
            </a:r>
            <a:endParaRPr lang="en-US" sz="1400" dirty="0"/>
          </a:p>
        </p:txBody>
      </p:sp>
      <p:sp>
        <p:nvSpPr>
          <p:cNvPr id="18" name="Shape 16"/>
          <p:cNvSpPr/>
          <p:nvPr/>
        </p:nvSpPr>
        <p:spPr>
          <a:xfrm>
            <a:off x="7269480" y="4511040"/>
            <a:ext cx="54864" cy="1066800"/>
          </a:xfrm>
          <a:prstGeom prst="rect">
            <a:avLst/>
          </a:prstGeom>
          <a:solidFill>
            <a:srgbClr val="C2352F"/>
          </a:solidFill>
          <a:ln/>
        </p:spPr>
      </p:sp>
      <p:sp>
        <p:nvSpPr>
          <p:cNvPr id="19" name="Text 17"/>
          <p:cNvSpPr txBox="1"/>
          <p:nvPr/>
        </p:nvSpPr>
        <p:spPr>
          <a:xfrm>
            <a:off x="7452360" y="4465320"/>
            <a:ext cx="4023360" cy="566928"/>
          </a:xfrm>
          <a:prstGeom prst="rect">
            <a:avLst/>
          </a:prstGeom>
          <a:noFill/>
          <a:ln/>
        </p:spPr>
        <p:txBody>
          <a:bodyPr wrap="square" lIns="0" tIns="0" rIns="0" bIns="0" rtlCol="0" anchor="ctr">
            <a:normAutofit/>
          </a:bodyPr>
          <a:lstStyle/>
          <a:p>
            <a:pPr indent="0" marL="0">
              <a:buNone/>
            </a:pPr>
            <a:r>
              <a:rPr lang="en-US" sz="3000" b="1" dirty="0">
                <a:solidFill>
                  <a:srgbClr val="A82B26"/>
                </a:solidFill>
                <a:latin typeface="Inter" pitchFamily="34" charset="0"/>
                <a:ea typeface="Inter" pitchFamily="34" charset="-122"/>
                <a:cs typeface="Inter" pitchFamily="34" charset="-120"/>
              </a:rPr>
              <a:t>−2.3%</a:t>
            </a:r>
            <a:endParaRPr lang="en-US" sz="3000" dirty="0"/>
          </a:p>
        </p:txBody>
      </p:sp>
      <p:sp>
        <p:nvSpPr>
          <p:cNvPr id="20" name="Text 18"/>
          <p:cNvSpPr txBox="1"/>
          <p:nvPr/>
        </p:nvSpPr>
        <p:spPr>
          <a:xfrm>
            <a:off x="7452360" y="5032248"/>
            <a:ext cx="4023360" cy="56388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CP &amp; W ROs year to date. Fewer people and fewer cars: the next gain has to come from car count.</a:t>
            </a:r>
            <a:endParaRPr lang="en-US" sz="1400" dirty="0"/>
          </a:p>
        </p:txBody>
      </p:sp>
      <p:sp>
        <p:nvSpPr>
          <p:cNvPr id="21" name="Shape 19"/>
          <p:cNvSpPr/>
          <p:nvPr/>
        </p:nvSpPr>
        <p:spPr>
          <a:xfrm>
            <a:off x="457200" y="5961888"/>
            <a:ext cx="11274552" cy="548640"/>
          </a:xfrm>
          <a:prstGeom prst="rect">
            <a:avLst/>
          </a:prstGeom>
          <a:solidFill>
            <a:srgbClr val="EDF4FA"/>
          </a:solidFill>
          <a:ln/>
        </p:spPr>
      </p:sp>
      <p:sp>
        <p:nvSpPr>
          <p:cNvPr id="22" name="Text 20"/>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The ask: keep every seat filled with someone who adds hours. Being short-handed costs appointments, MPIs and sold hours.</a:t>
            </a:r>
            <a:endParaRPr lang="en-US" sz="1600" dirty="0"/>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Pay Plans Are Work Instructions</a:t>
            </a:r>
            <a:endParaRPr lang="en-US" sz="2800" dirty="0"/>
          </a:p>
        </p:txBody>
      </p:sp>
      <p:sp>
        <p:nvSpPr>
          <p:cNvPr id="5" name="Shape 3"/>
          <p:cNvSpPr/>
          <p:nvPr/>
        </p:nvSpPr>
        <p:spPr>
          <a:xfrm>
            <a:off x="457200" y="1207008"/>
            <a:ext cx="6400800" cy="4645152"/>
          </a:xfrm>
          <a:prstGeom prst="rect">
            <a:avLst/>
          </a:prstGeom>
          <a:solidFill>
            <a:srgbClr val="FFFFFF"/>
          </a:solidFill>
          <a:ln/>
        </p:spPr>
      </p:sp>
      <p:sp>
        <p:nvSpPr>
          <p:cNvPr id="6" name="Shape 4"/>
          <p:cNvSpPr/>
          <p:nvPr/>
        </p:nvSpPr>
        <p:spPr>
          <a:xfrm>
            <a:off x="7022592" y="1207008"/>
            <a:ext cx="4709160" cy="4645152"/>
          </a:xfrm>
          <a:prstGeom prst="rect">
            <a:avLst/>
          </a:prstGeom>
          <a:solidFill>
            <a:srgbClr val="FFFFFF"/>
          </a:solidFill>
          <a:ln/>
        </p:spPr>
      </p:sp>
      <p:sp>
        <p:nvSpPr>
          <p:cNvPr id="7" name="Text 5"/>
          <p:cNvSpPr txBox="1"/>
          <p:nvPr/>
        </p:nvSpPr>
        <p:spPr>
          <a:xfrm>
            <a:off x="713232" y="1371600"/>
            <a:ext cx="5943600" cy="310896"/>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WE SAID · GM MEETINGS JAN &amp; MAY 2026</a:t>
            </a:r>
            <a:endParaRPr lang="en-US" sz="1400" dirty="0"/>
          </a:p>
        </p:txBody>
      </p:sp>
      <p:sp>
        <p:nvSpPr>
          <p:cNvPr id="8" name="Text 6"/>
          <p:cNvSpPr txBox="1"/>
          <p:nvPr/>
        </p:nvSpPr>
        <p:spPr>
          <a:xfrm>
            <a:off x="7269480" y="1371600"/>
            <a:ext cx="4297680" cy="310896"/>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WHERE WE ARE · JAN–SEP 2026</a:t>
            </a:r>
            <a:endParaRPr lang="en-US" sz="1400" dirty="0"/>
          </a:p>
        </p:txBody>
      </p:sp>
      <p:sp>
        <p:nvSpPr>
          <p:cNvPr id="9" name="Shape 7"/>
          <p:cNvSpPr/>
          <p:nvPr/>
        </p:nvSpPr>
        <p:spPr>
          <a:xfrm>
            <a:off x="713232" y="1737360"/>
            <a:ext cx="5897880" cy="10973"/>
          </a:xfrm>
          <a:prstGeom prst="rect">
            <a:avLst/>
          </a:prstGeom>
          <a:solidFill>
            <a:srgbClr val="D9D9D9"/>
          </a:solidFill>
          <a:ln/>
        </p:spPr>
      </p:sp>
      <p:sp>
        <p:nvSpPr>
          <p:cNvPr id="10" name="Shape 8"/>
          <p:cNvSpPr/>
          <p:nvPr/>
        </p:nvSpPr>
        <p:spPr>
          <a:xfrm>
            <a:off x="7269480" y="1737360"/>
            <a:ext cx="4224528" cy="10973"/>
          </a:xfrm>
          <a:prstGeom prst="rect">
            <a:avLst/>
          </a:prstGeom>
          <a:solidFill>
            <a:srgbClr val="D9D9D9"/>
          </a:solidFill>
          <a:ln/>
        </p:spPr>
      </p:sp>
      <p:sp>
        <p:nvSpPr>
          <p:cNvPr id="11" name="Text 9"/>
          <p:cNvSpPr txBox="1"/>
          <p:nvPr/>
        </p:nvSpPr>
        <p:spPr>
          <a:xfrm>
            <a:off x="713232" y="1874520"/>
            <a:ext cx="5897880" cy="384048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Clear and easily understood</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Based on customer-pay performance: CP labor or gross per RO, maintenance penetration, total sales or gross</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Drive the results you are looking for</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Base versus bonus: a 50/50 ratio</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Every system is perfectly designed to get the results it gets</a:t>
            </a:r>
            <a:endParaRPr lang="en-US" sz="1800" dirty="0"/>
          </a:p>
        </p:txBody>
      </p:sp>
      <p:sp>
        <p:nvSpPr>
          <p:cNvPr id="12" name="Shape 10"/>
          <p:cNvSpPr/>
          <p:nvPr/>
        </p:nvSpPr>
        <p:spPr>
          <a:xfrm>
            <a:off x="7269480" y="1920240"/>
            <a:ext cx="54864" cy="1714500"/>
          </a:xfrm>
          <a:prstGeom prst="rect">
            <a:avLst/>
          </a:prstGeom>
          <a:solidFill>
            <a:srgbClr val="12A566"/>
          </a:solidFill>
          <a:ln/>
        </p:spPr>
      </p:sp>
      <p:sp>
        <p:nvSpPr>
          <p:cNvPr id="13" name="Text 11"/>
          <p:cNvSpPr txBox="1"/>
          <p:nvPr/>
        </p:nvSpPr>
        <p:spPr>
          <a:xfrm>
            <a:off x="7452360" y="187452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7A4A"/>
                </a:solidFill>
                <a:latin typeface="Inter" pitchFamily="34" charset="0"/>
                <a:ea typeface="Inter" pitchFamily="34" charset="-122"/>
                <a:cs typeface="Inter" pitchFamily="34" charset="-120"/>
              </a:rPr>
              <a:t>$304</a:t>
            </a:r>
            <a:endParaRPr lang="en-US" sz="3000" dirty="0"/>
          </a:p>
        </p:txBody>
      </p:sp>
      <p:sp>
        <p:nvSpPr>
          <p:cNvPr id="14" name="Text 12"/>
          <p:cNvSpPr txBox="1"/>
          <p:nvPr/>
        </p:nvSpPr>
        <p:spPr>
          <a:xfrm>
            <a:off x="7452360" y="2441448"/>
            <a:ext cx="4023360" cy="121158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CP labor per RO, the number the plans should pay on. Up $17.</a:t>
            </a:r>
            <a:endParaRPr lang="en-US" sz="1400" dirty="0"/>
          </a:p>
        </p:txBody>
      </p:sp>
      <p:sp>
        <p:nvSpPr>
          <p:cNvPr id="15" name="Shape 13"/>
          <p:cNvSpPr/>
          <p:nvPr/>
        </p:nvSpPr>
        <p:spPr>
          <a:xfrm>
            <a:off x="7269480" y="3863340"/>
            <a:ext cx="54864" cy="1714500"/>
          </a:xfrm>
          <a:prstGeom prst="rect">
            <a:avLst/>
          </a:prstGeom>
          <a:solidFill>
            <a:srgbClr val="C2352F"/>
          </a:solidFill>
          <a:ln/>
        </p:spPr>
      </p:sp>
      <p:sp>
        <p:nvSpPr>
          <p:cNvPr id="16" name="Text 14"/>
          <p:cNvSpPr txBox="1"/>
          <p:nvPr/>
        </p:nvSpPr>
        <p:spPr>
          <a:xfrm>
            <a:off x="7452360" y="3817620"/>
            <a:ext cx="4023360" cy="566928"/>
          </a:xfrm>
          <a:prstGeom prst="rect">
            <a:avLst/>
          </a:prstGeom>
          <a:noFill/>
          <a:ln/>
        </p:spPr>
        <p:txBody>
          <a:bodyPr wrap="square" lIns="0" tIns="0" rIns="0" bIns="0" rtlCol="0" anchor="ctr">
            <a:normAutofit/>
          </a:bodyPr>
          <a:lstStyle/>
          <a:p>
            <a:pPr indent="0" marL="0">
              <a:buNone/>
            </a:pPr>
            <a:r>
              <a:rPr lang="en-US" sz="3000" b="1" dirty="0">
                <a:solidFill>
                  <a:srgbClr val="A82B26"/>
                </a:solidFill>
                <a:latin typeface="Inter" pitchFamily="34" charset="0"/>
                <a:ea typeface="Inter" pitchFamily="34" charset="-122"/>
                <a:cs typeface="Inter" pitchFamily="34" charset="-120"/>
              </a:rPr>
              <a:t>166</a:t>
            </a:r>
            <a:endParaRPr lang="en-US" sz="3000" dirty="0"/>
          </a:p>
        </p:txBody>
      </p:sp>
      <p:sp>
        <p:nvSpPr>
          <p:cNvPr id="17" name="Text 15"/>
          <p:cNvSpPr txBox="1"/>
          <p:nvPr/>
        </p:nvSpPr>
        <p:spPr>
          <a:xfrm>
            <a:off x="7452360" y="4384548"/>
            <a:ext cx="4023360" cy="121158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CP &amp; W ROs per advisor a month, down 7. Advisors grew 1.5%; ROs fell 2.3%.</a:t>
            </a:r>
            <a:endParaRPr lang="en-US" sz="1400" dirty="0"/>
          </a:p>
        </p:txBody>
      </p:sp>
      <p:sp>
        <p:nvSpPr>
          <p:cNvPr id="18" name="Shape 16"/>
          <p:cNvSpPr/>
          <p:nvPr/>
        </p:nvSpPr>
        <p:spPr>
          <a:xfrm>
            <a:off x="457200" y="5961888"/>
            <a:ext cx="11274552" cy="548640"/>
          </a:xfrm>
          <a:prstGeom prst="rect">
            <a:avLst/>
          </a:prstGeom>
          <a:solidFill>
            <a:srgbClr val="EDF4FA"/>
          </a:solidFill>
          <a:ln/>
        </p:spPr>
      </p:sp>
      <p:sp>
        <p:nvSpPr>
          <p:cNvPr id="19" name="Text 17"/>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The ask: check that every advisor and tech pay plan pays for the numbers on these slides.</a:t>
            </a:r>
            <a:endParaRPr lang="en-US" sz="1600" dirty="0"/>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Fixed Gross per Fixed Employee</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3310128" y="1316736"/>
            <a:ext cx="102412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Gross/yr</a:t>
            </a:r>
            <a:endParaRPr lang="en-US" sz="1400" dirty="0"/>
          </a:p>
        </p:txBody>
      </p:sp>
      <p:sp>
        <p:nvSpPr>
          <p:cNvPr id="7" name="Text 5"/>
          <p:cNvSpPr txBox="1"/>
          <p:nvPr/>
        </p:nvSpPr>
        <p:spPr>
          <a:xfrm>
            <a:off x="4334256" y="1316736"/>
            <a:ext cx="768096"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Per emp</a:t>
            </a:r>
            <a:endParaRPr lang="en-US" sz="1400" dirty="0"/>
          </a:p>
        </p:txBody>
      </p:sp>
      <p:sp>
        <p:nvSpPr>
          <p:cNvPr id="8" name="Text 6"/>
          <p:cNvSpPr txBox="1"/>
          <p:nvPr/>
        </p:nvSpPr>
        <p:spPr>
          <a:xfrm>
            <a:off x="5102352" y="1316736"/>
            <a:ext cx="768096"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Seg avg</a:t>
            </a:r>
            <a:endParaRPr lang="en-US" sz="1400" dirty="0"/>
          </a:p>
        </p:txBody>
      </p:sp>
      <p:sp>
        <p:nvSpPr>
          <p:cNvPr id="9" name="Text 7"/>
          <p:cNvSpPr txBox="1"/>
          <p:nvPr/>
        </p:nvSpPr>
        <p:spPr>
          <a:xfrm>
            <a:off x="8860536" y="1316736"/>
            <a:ext cx="102412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Gross/yr</a:t>
            </a:r>
            <a:endParaRPr lang="en-US" sz="1400" dirty="0"/>
          </a:p>
        </p:txBody>
      </p:sp>
      <p:sp>
        <p:nvSpPr>
          <p:cNvPr id="10" name="Text 8"/>
          <p:cNvSpPr txBox="1"/>
          <p:nvPr/>
        </p:nvSpPr>
        <p:spPr>
          <a:xfrm>
            <a:off x="9884664" y="1316736"/>
            <a:ext cx="768096"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Per emp</a:t>
            </a:r>
            <a:endParaRPr lang="en-US" sz="1400" dirty="0"/>
          </a:p>
        </p:txBody>
      </p:sp>
      <p:sp>
        <p:nvSpPr>
          <p:cNvPr id="11" name="Text 9"/>
          <p:cNvSpPr txBox="1"/>
          <p:nvPr/>
        </p:nvSpPr>
        <p:spPr>
          <a:xfrm>
            <a:off x="10652760" y="1316736"/>
            <a:ext cx="768096"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Seg avg</a:t>
            </a:r>
            <a:endParaRPr lang="en-US" sz="1400" dirty="0"/>
          </a:p>
        </p:txBody>
      </p:sp>
      <p:sp>
        <p:nvSpPr>
          <p:cNvPr id="12" name="Text 10"/>
          <p:cNvSpPr txBox="1"/>
          <p:nvPr/>
        </p:nvSpPr>
        <p:spPr>
          <a:xfrm>
            <a:off x="658368" y="1700784"/>
            <a:ext cx="1938528" cy="36576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13" name="Shape 11"/>
          <p:cNvSpPr/>
          <p:nvPr/>
        </p:nvSpPr>
        <p:spPr>
          <a:xfrm>
            <a:off x="2670048" y="1783080"/>
            <a:ext cx="585216" cy="201168"/>
          </a:xfrm>
          <a:prstGeom prst="rect">
            <a:avLst/>
          </a:prstGeom>
          <a:solidFill>
            <a:srgbClr val="C2352F"/>
          </a:solidFill>
          <a:ln/>
        </p:spPr>
      </p:sp>
      <p:sp>
        <p:nvSpPr>
          <p:cNvPr id="14" name="Text 12"/>
          <p:cNvSpPr txBox="1"/>
          <p:nvPr/>
        </p:nvSpPr>
        <p:spPr>
          <a:xfrm>
            <a:off x="3310128" y="1700784"/>
            <a:ext cx="1024128" cy="36576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$2,456,862</a:t>
            </a:r>
            <a:endParaRPr lang="en-US" sz="1300" dirty="0"/>
          </a:p>
        </p:txBody>
      </p:sp>
      <p:sp>
        <p:nvSpPr>
          <p:cNvPr id="15" name="Text 13"/>
          <p:cNvSpPr txBox="1"/>
          <p:nvPr/>
        </p:nvSpPr>
        <p:spPr>
          <a:xfrm>
            <a:off x="4334256" y="1700784"/>
            <a:ext cx="768096"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$14,260</a:t>
            </a:r>
            <a:endParaRPr lang="en-US" sz="1300" dirty="0"/>
          </a:p>
        </p:txBody>
      </p:sp>
      <p:sp>
        <p:nvSpPr>
          <p:cNvPr id="16" name="Text 14"/>
          <p:cNvSpPr txBox="1"/>
          <p:nvPr/>
        </p:nvSpPr>
        <p:spPr>
          <a:xfrm>
            <a:off x="5102352" y="1700784"/>
            <a:ext cx="768096"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$16,998</a:t>
            </a:r>
            <a:endParaRPr lang="en-US" sz="1300" dirty="0"/>
          </a:p>
        </p:txBody>
      </p:sp>
      <p:sp>
        <p:nvSpPr>
          <p:cNvPr id="17" name="Text 15"/>
          <p:cNvSpPr txBox="1"/>
          <p:nvPr/>
        </p:nvSpPr>
        <p:spPr>
          <a:xfrm>
            <a:off x="658368" y="2066544"/>
            <a:ext cx="1938528" cy="36576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18" name="Shape 16"/>
          <p:cNvSpPr/>
          <p:nvPr/>
        </p:nvSpPr>
        <p:spPr>
          <a:xfrm>
            <a:off x="2670048" y="2148840"/>
            <a:ext cx="521308" cy="201168"/>
          </a:xfrm>
          <a:prstGeom prst="rect">
            <a:avLst/>
          </a:prstGeom>
          <a:solidFill>
            <a:srgbClr val="C2352F"/>
          </a:solidFill>
          <a:ln/>
        </p:spPr>
      </p:sp>
      <p:sp>
        <p:nvSpPr>
          <p:cNvPr id="19" name="Text 17"/>
          <p:cNvSpPr txBox="1"/>
          <p:nvPr/>
        </p:nvSpPr>
        <p:spPr>
          <a:xfrm>
            <a:off x="3310128" y="2066544"/>
            <a:ext cx="1024128" cy="36576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$2,188,561</a:t>
            </a:r>
            <a:endParaRPr lang="en-US" sz="1300" dirty="0"/>
          </a:p>
        </p:txBody>
      </p:sp>
      <p:sp>
        <p:nvSpPr>
          <p:cNvPr id="20" name="Text 18"/>
          <p:cNvSpPr txBox="1"/>
          <p:nvPr/>
        </p:nvSpPr>
        <p:spPr>
          <a:xfrm>
            <a:off x="4334256" y="2066544"/>
            <a:ext cx="768096"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$10,963</a:t>
            </a:r>
            <a:endParaRPr lang="en-US" sz="1300" dirty="0"/>
          </a:p>
        </p:txBody>
      </p:sp>
      <p:sp>
        <p:nvSpPr>
          <p:cNvPr id="21" name="Text 19"/>
          <p:cNvSpPr txBox="1"/>
          <p:nvPr/>
        </p:nvSpPr>
        <p:spPr>
          <a:xfrm>
            <a:off x="5102352" y="2066544"/>
            <a:ext cx="768096"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$16,998</a:t>
            </a:r>
            <a:endParaRPr lang="en-US" sz="1300" dirty="0"/>
          </a:p>
        </p:txBody>
      </p:sp>
      <p:sp>
        <p:nvSpPr>
          <p:cNvPr id="22" name="Text 20"/>
          <p:cNvSpPr txBox="1"/>
          <p:nvPr/>
        </p:nvSpPr>
        <p:spPr>
          <a:xfrm>
            <a:off x="658368" y="2432304"/>
            <a:ext cx="1938528" cy="36576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23" name="Shape 21"/>
          <p:cNvSpPr/>
          <p:nvPr/>
        </p:nvSpPr>
        <p:spPr>
          <a:xfrm>
            <a:off x="2670048" y="2514600"/>
            <a:ext cx="321685" cy="201168"/>
          </a:xfrm>
          <a:prstGeom prst="rect">
            <a:avLst/>
          </a:prstGeom>
          <a:solidFill>
            <a:srgbClr val="C2352F"/>
          </a:solidFill>
          <a:ln/>
        </p:spPr>
      </p:sp>
      <p:sp>
        <p:nvSpPr>
          <p:cNvPr id="24" name="Text 22"/>
          <p:cNvSpPr txBox="1"/>
          <p:nvPr/>
        </p:nvSpPr>
        <p:spPr>
          <a:xfrm>
            <a:off x="3310128" y="2432304"/>
            <a:ext cx="1024128" cy="36576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$1,350,504</a:t>
            </a:r>
            <a:endParaRPr lang="en-US" sz="1300" dirty="0"/>
          </a:p>
        </p:txBody>
      </p:sp>
      <p:sp>
        <p:nvSpPr>
          <p:cNvPr id="25" name="Text 23"/>
          <p:cNvSpPr txBox="1"/>
          <p:nvPr/>
        </p:nvSpPr>
        <p:spPr>
          <a:xfrm>
            <a:off x="4334256" y="2432304"/>
            <a:ext cx="768096"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$10,391</a:t>
            </a:r>
            <a:endParaRPr lang="en-US" sz="1300" dirty="0"/>
          </a:p>
        </p:txBody>
      </p:sp>
      <p:sp>
        <p:nvSpPr>
          <p:cNvPr id="26" name="Text 24"/>
          <p:cNvSpPr txBox="1"/>
          <p:nvPr/>
        </p:nvSpPr>
        <p:spPr>
          <a:xfrm>
            <a:off x="5102352" y="2432304"/>
            <a:ext cx="768096"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$12,714</a:t>
            </a:r>
            <a:endParaRPr lang="en-US" sz="1300" dirty="0"/>
          </a:p>
        </p:txBody>
      </p:sp>
      <p:sp>
        <p:nvSpPr>
          <p:cNvPr id="27" name="Text 25"/>
          <p:cNvSpPr txBox="1"/>
          <p:nvPr/>
        </p:nvSpPr>
        <p:spPr>
          <a:xfrm>
            <a:off x="658368" y="2798064"/>
            <a:ext cx="1938528" cy="36576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28" name="Shape 26"/>
          <p:cNvSpPr/>
          <p:nvPr/>
        </p:nvSpPr>
        <p:spPr>
          <a:xfrm>
            <a:off x="2670048" y="2880360"/>
            <a:ext cx="313094" cy="201168"/>
          </a:xfrm>
          <a:prstGeom prst="rect">
            <a:avLst/>
          </a:prstGeom>
          <a:solidFill>
            <a:srgbClr val="C2352F"/>
          </a:solidFill>
          <a:ln/>
        </p:spPr>
      </p:sp>
      <p:sp>
        <p:nvSpPr>
          <p:cNvPr id="29" name="Text 27"/>
          <p:cNvSpPr txBox="1"/>
          <p:nvPr/>
        </p:nvSpPr>
        <p:spPr>
          <a:xfrm>
            <a:off x="3310128" y="2798064"/>
            <a:ext cx="1024128" cy="36576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$1,314,435</a:t>
            </a:r>
            <a:endParaRPr lang="en-US" sz="1300" dirty="0"/>
          </a:p>
        </p:txBody>
      </p:sp>
      <p:sp>
        <p:nvSpPr>
          <p:cNvPr id="30" name="Text 28"/>
          <p:cNvSpPr txBox="1"/>
          <p:nvPr/>
        </p:nvSpPr>
        <p:spPr>
          <a:xfrm>
            <a:off x="4334256" y="2798064"/>
            <a:ext cx="768096"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$9,953</a:t>
            </a:r>
            <a:endParaRPr lang="en-US" sz="1300" dirty="0"/>
          </a:p>
        </p:txBody>
      </p:sp>
      <p:sp>
        <p:nvSpPr>
          <p:cNvPr id="31" name="Text 29"/>
          <p:cNvSpPr txBox="1"/>
          <p:nvPr/>
        </p:nvSpPr>
        <p:spPr>
          <a:xfrm>
            <a:off x="5102352" y="2798064"/>
            <a:ext cx="768096"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$12,714</a:t>
            </a:r>
            <a:endParaRPr lang="en-US" sz="1300" dirty="0"/>
          </a:p>
        </p:txBody>
      </p:sp>
      <p:sp>
        <p:nvSpPr>
          <p:cNvPr id="32" name="Text 30"/>
          <p:cNvSpPr txBox="1"/>
          <p:nvPr/>
        </p:nvSpPr>
        <p:spPr>
          <a:xfrm>
            <a:off x="658368" y="3163824"/>
            <a:ext cx="1938528" cy="36576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33" name="Shape 31"/>
          <p:cNvSpPr/>
          <p:nvPr/>
        </p:nvSpPr>
        <p:spPr>
          <a:xfrm>
            <a:off x="2670048" y="3246120"/>
            <a:ext cx="293540" cy="201168"/>
          </a:xfrm>
          <a:prstGeom prst="rect">
            <a:avLst/>
          </a:prstGeom>
          <a:solidFill>
            <a:srgbClr val="C2352F"/>
          </a:solidFill>
          <a:ln/>
        </p:spPr>
      </p:sp>
      <p:sp>
        <p:nvSpPr>
          <p:cNvPr id="34" name="Text 32"/>
          <p:cNvSpPr txBox="1"/>
          <p:nvPr/>
        </p:nvSpPr>
        <p:spPr>
          <a:xfrm>
            <a:off x="3310128" y="3163824"/>
            <a:ext cx="1024128" cy="36576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$1,232,343</a:t>
            </a:r>
            <a:endParaRPr lang="en-US" sz="1300" dirty="0"/>
          </a:p>
        </p:txBody>
      </p:sp>
      <p:sp>
        <p:nvSpPr>
          <p:cNvPr id="35" name="Text 33"/>
          <p:cNvSpPr txBox="1"/>
          <p:nvPr/>
        </p:nvSpPr>
        <p:spPr>
          <a:xfrm>
            <a:off x="4334256" y="3163824"/>
            <a:ext cx="768096"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$12,042</a:t>
            </a:r>
            <a:endParaRPr lang="en-US" sz="1300" dirty="0"/>
          </a:p>
        </p:txBody>
      </p:sp>
      <p:sp>
        <p:nvSpPr>
          <p:cNvPr id="36" name="Text 34"/>
          <p:cNvSpPr txBox="1"/>
          <p:nvPr/>
        </p:nvSpPr>
        <p:spPr>
          <a:xfrm>
            <a:off x="5102352" y="3163824"/>
            <a:ext cx="768096"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$12,714</a:t>
            </a:r>
            <a:endParaRPr lang="en-US" sz="1300" dirty="0"/>
          </a:p>
        </p:txBody>
      </p:sp>
      <p:sp>
        <p:nvSpPr>
          <p:cNvPr id="37" name="Text 35"/>
          <p:cNvSpPr txBox="1"/>
          <p:nvPr/>
        </p:nvSpPr>
        <p:spPr>
          <a:xfrm>
            <a:off x="658368" y="3529584"/>
            <a:ext cx="1938528" cy="36576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38" name="Shape 36"/>
          <p:cNvSpPr/>
          <p:nvPr/>
        </p:nvSpPr>
        <p:spPr>
          <a:xfrm>
            <a:off x="2670048" y="3611880"/>
            <a:ext cx="268472" cy="201168"/>
          </a:xfrm>
          <a:prstGeom prst="rect">
            <a:avLst/>
          </a:prstGeom>
          <a:solidFill>
            <a:srgbClr val="C2352F"/>
          </a:solidFill>
          <a:ln/>
        </p:spPr>
      </p:sp>
      <p:sp>
        <p:nvSpPr>
          <p:cNvPr id="39" name="Text 37"/>
          <p:cNvSpPr txBox="1"/>
          <p:nvPr/>
        </p:nvSpPr>
        <p:spPr>
          <a:xfrm>
            <a:off x="3310128" y="3529584"/>
            <a:ext cx="1024128" cy="36576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$1,127,104</a:t>
            </a:r>
            <a:endParaRPr lang="en-US" sz="1300" dirty="0"/>
          </a:p>
        </p:txBody>
      </p:sp>
      <p:sp>
        <p:nvSpPr>
          <p:cNvPr id="40" name="Text 38"/>
          <p:cNvSpPr txBox="1"/>
          <p:nvPr/>
        </p:nvSpPr>
        <p:spPr>
          <a:xfrm>
            <a:off x="4334256" y="3529584"/>
            <a:ext cx="768096"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$11,128</a:t>
            </a:r>
            <a:endParaRPr lang="en-US" sz="1300" dirty="0"/>
          </a:p>
        </p:txBody>
      </p:sp>
      <p:sp>
        <p:nvSpPr>
          <p:cNvPr id="41" name="Text 39"/>
          <p:cNvSpPr txBox="1"/>
          <p:nvPr/>
        </p:nvSpPr>
        <p:spPr>
          <a:xfrm>
            <a:off x="5102352" y="3529584"/>
            <a:ext cx="768096"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$12,714</a:t>
            </a:r>
            <a:endParaRPr lang="en-US" sz="1300" dirty="0"/>
          </a:p>
        </p:txBody>
      </p:sp>
      <p:sp>
        <p:nvSpPr>
          <p:cNvPr id="42" name="Text 40"/>
          <p:cNvSpPr txBox="1"/>
          <p:nvPr/>
        </p:nvSpPr>
        <p:spPr>
          <a:xfrm>
            <a:off x="658368" y="3895344"/>
            <a:ext cx="1938528" cy="36576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43" name="Shape 41"/>
          <p:cNvSpPr/>
          <p:nvPr/>
        </p:nvSpPr>
        <p:spPr>
          <a:xfrm>
            <a:off x="2670048" y="3977640"/>
            <a:ext cx="252516" cy="201168"/>
          </a:xfrm>
          <a:prstGeom prst="rect">
            <a:avLst/>
          </a:prstGeom>
          <a:solidFill>
            <a:srgbClr val="C2352F"/>
          </a:solidFill>
          <a:ln/>
        </p:spPr>
      </p:sp>
      <p:sp>
        <p:nvSpPr>
          <p:cNvPr id="44" name="Text 42"/>
          <p:cNvSpPr txBox="1"/>
          <p:nvPr/>
        </p:nvSpPr>
        <p:spPr>
          <a:xfrm>
            <a:off x="3310128" y="3895344"/>
            <a:ext cx="1024128" cy="36576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$1,060,118</a:t>
            </a:r>
            <a:endParaRPr lang="en-US" sz="1300" dirty="0"/>
          </a:p>
        </p:txBody>
      </p:sp>
      <p:sp>
        <p:nvSpPr>
          <p:cNvPr id="45" name="Text 43"/>
          <p:cNvSpPr txBox="1"/>
          <p:nvPr/>
        </p:nvSpPr>
        <p:spPr>
          <a:xfrm>
            <a:off x="4334256" y="3895344"/>
            <a:ext cx="768096"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$10,794</a:t>
            </a:r>
            <a:endParaRPr lang="en-US" sz="1300" dirty="0"/>
          </a:p>
        </p:txBody>
      </p:sp>
      <p:sp>
        <p:nvSpPr>
          <p:cNvPr id="46" name="Text 44"/>
          <p:cNvSpPr txBox="1"/>
          <p:nvPr/>
        </p:nvSpPr>
        <p:spPr>
          <a:xfrm>
            <a:off x="5102352" y="3895344"/>
            <a:ext cx="768096"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$12,714</a:t>
            </a:r>
            <a:endParaRPr lang="en-US" sz="1300" dirty="0"/>
          </a:p>
        </p:txBody>
      </p:sp>
      <p:sp>
        <p:nvSpPr>
          <p:cNvPr id="47" name="Text 45"/>
          <p:cNvSpPr txBox="1"/>
          <p:nvPr/>
        </p:nvSpPr>
        <p:spPr>
          <a:xfrm>
            <a:off x="658368" y="4261104"/>
            <a:ext cx="1938528" cy="36576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48" name="Shape 46"/>
          <p:cNvSpPr/>
          <p:nvPr/>
        </p:nvSpPr>
        <p:spPr>
          <a:xfrm>
            <a:off x="2670048" y="4343400"/>
            <a:ext cx="244133" cy="201168"/>
          </a:xfrm>
          <a:prstGeom prst="rect">
            <a:avLst/>
          </a:prstGeom>
          <a:solidFill>
            <a:srgbClr val="C2352F"/>
          </a:solidFill>
          <a:ln/>
        </p:spPr>
      </p:sp>
      <p:sp>
        <p:nvSpPr>
          <p:cNvPr id="49" name="Text 47"/>
          <p:cNvSpPr txBox="1"/>
          <p:nvPr/>
        </p:nvSpPr>
        <p:spPr>
          <a:xfrm>
            <a:off x="3310128" y="4261104"/>
            <a:ext cx="1024128" cy="36576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$1,024,925</a:t>
            </a:r>
            <a:endParaRPr lang="en-US" sz="1300" dirty="0"/>
          </a:p>
        </p:txBody>
      </p:sp>
      <p:sp>
        <p:nvSpPr>
          <p:cNvPr id="50" name="Text 48"/>
          <p:cNvSpPr txBox="1"/>
          <p:nvPr/>
        </p:nvSpPr>
        <p:spPr>
          <a:xfrm>
            <a:off x="4334256" y="4261104"/>
            <a:ext cx="768096"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$9,498</a:t>
            </a:r>
            <a:endParaRPr lang="en-US" sz="1300" dirty="0"/>
          </a:p>
        </p:txBody>
      </p:sp>
      <p:sp>
        <p:nvSpPr>
          <p:cNvPr id="51" name="Text 49"/>
          <p:cNvSpPr txBox="1"/>
          <p:nvPr/>
        </p:nvSpPr>
        <p:spPr>
          <a:xfrm>
            <a:off x="5102352" y="4261104"/>
            <a:ext cx="768096"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$12,714</a:t>
            </a:r>
            <a:endParaRPr lang="en-US" sz="1300" dirty="0"/>
          </a:p>
        </p:txBody>
      </p:sp>
      <p:sp>
        <p:nvSpPr>
          <p:cNvPr id="52" name="Text 50"/>
          <p:cNvSpPr txBox="1"/>
          <p:nvPr/>
        </p:nvSpPr>
        <p:spPr>
          <a:xfrm>
            <a:off x="658368" y="4626864"/>
            <a:ext cx="1938528" cy="36576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53" name="Shape 51"/>
          <p:cNvSpPr/>
          <p:nvPr/>
        </p:nvSpPr>
        <p:spPr>
          <a:xfrm>
            <a:off x="2670048" y="4709160"/>
            <a:ext cx="243998" cy="201168"/>
          </a:xfrm>
          <a:prstGeom prst="rect">
            <a:avLst/>
          </a:prstGeom>
          <a:solidFill>
            <a:srgbClr val="C2352F"/>
          </a:solidFill>
          <a:ln/>
        </p:spPr>
      </p:sp>
      <p:sp>
        <p:nvSpPr>
          <p:cNvPr id="54" name="Text 52"/>
          <p:cNvSpPr txBox="1"/>
          <p:nvPr/>
        </p:nvSpPr>
        <p:spPr>
          <a:xfrm>
            <a:off x="3310128" y="4626864"/>
            <a:ext cx="1024128" cy="36576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$1,024,357</a:t>
            </a:r>
            <a:endParaRPr lang="en-US" sz="1300" dirty="0"/>
          </a:p>
        </p:txBody>
      </p:sp>
      <p:sp>
        <p:nvSpPr>
          <p:cNvPr id="55" name="Text 53"/>
          <p:cNvSpPr txBox="1"/>
          <p:nvPr/>
        </p:nvSpPr>
        <p:spPr>
          <a:xfrm>
            <a:off x="4334256" y="4626864"/>
            <a:ext cx="768096"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$11,044</a:t>
            </a:r>
            <a:endParaRPr lang="en-US" sz="1300" dirty="0"/>
          </a:p>
        </p:txBody>
      </p:sp>
      <p:sp>
        <p:nvSpPr>
          <p:cNvPr id="56" name="Text 54"/>
          <p:cNvSpPr txBox="1"/>
          <p:nvPr/>
        </p:nvSpPr>
        <p:spPr>
          <a:xfrm>
            <a:off x="5102352" y="4626864"/>
            <a:ext cx="768096"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$12,714</a:t>
            </a:r>
            <a:endParaRPr lang="en-US" sz="1300" dirty="0"/>
          </a:p>
        </p:txBody>
      </p:sp>
      <p:sp>
        <p:nvSpPr>
          <p:cNvPr id="57" name="Text 55"/>
          <p:cNvSpPr txBox="1"/>
          <p:nvPr/>
        </p:nvSpPr>
        <p:spPr>
          <a:xfrm>
            <a:off x="658368" y="4992624"/>
            <a:ext cx="1938528" cy="36576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58" name="Shape 56"/>
          <p:cNvSpPr/>
          <p:nvPr/>
        </p:nvSpPr>
        <p:spPr>
          <a:xfrm>
            <a:off x="2670048" y="5074920"/>
            <a:ext cx="197721" cy="201168"/>
          </a:xfrm>
          <a:prstGeom prst="rect">
            <a:avLst/>
          </a:prstGeom>
          <a:solidFill>
            <a:srgbClr val="C2352F"/>
          </a:solidFill>
          <a:ln/>
        </p:spPr>
      </p:sp>
      <p:sp>
        <p:nvSpPr>
          <p:cNvPr id="59" name="Text 57"/>
          <p:cNvSpPr txBox="1"/>
          <p:nvPr/>
        </p:nvSpPr>
        <p:spPr>
          <a:xfrm>
            <a:off x="3310128" y="4992624"/>
            <a:ext cx="1024128" cy="36576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$830,073</a:t>
            </a:r>
            <a:endParaRPr lang="en-US" sz="1300" dirty="0"/>
          </a:p>
        </p:txBody>
      </p:sp>
      <p:sp>
        <p:nvSpPr>
          <p:cNvPr id="60" name="Text 58"/>
          <p:cNvSpPr txBox="1"/>
          <p:nvPr/>
        </p:nvSpPr>
        <p:spPr>
          <a:xfrm>
            <a:off x="4334256" y="4992624"/>
            <a:ext cx="768096"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$14,916</a:t>
            </a:r>
            <a:endParaRPr lang="en-US" sz="1300" dirty="0"/>
          </a:p>
        </p:txBody>
      </p:sp>
      <p:sp>
        <p:nvSpPr>
          <p:cNvPr id="61" name="Text 59"/>
          <p:cNvSpPr txBox="1"/>
          <p:nvPr/>
        </p:nvSpPr>
        <p:spPr>
          <a:xfrm>
            <a:off x="5102352" y="4992624"/>
            <a:ext cx="768096"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$16,998</a:t>
            </a:r>
            <a:endParaRPr lang="en-US" sz="1300" dirty="0"/>
          </a:p>
        </p:txBody>
      </p:sp>
      <p:sp>
        <p:nvSpPr>
          <p:cNvPr id="62" name="Text 60"/>
          <p:cNvSpPr txBox="1"/>
          <p:nvPr/>
        </p:nvSpPr>
        <p:spPr>
          <a:xfrm>
            <a:off x="658368" y="5358384"/>
            <a:ext cx="1938528" cy="36576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63" name="Shape 61"/>
          <p:cNvSpPr/>
          <p:nvPr/>
        </p:nvSpPr>
        <p:spPr>
          <a:xfrm>
            <a:off x="2670048" y="5440680"/>
            <a:ext cx="197008" cy="201168"/>
          </a:xfrm>
          <a:prstGeom prst="rect">
            <a:avLst/>
          </a:prstGeom>
          <a:solidFill>
            <a:srgbClr val="C2352F"/>
          </a:solidFill>
          <a:ln/>
        </p:spPr>
      </p:sp>
      <p:sp>
        <p:nvSpPr>
          <p:cNvPr id="64" name="Text 62"/>
          <p:cNvSpPr txBox="1"/>
          <p:nvPr/>
        </p:nvSpPr>
        <p:spPr>
          <a:xfrm>
            <a:off x="3310128" y="5358384"/>
            <a:ext cx="1024128" cy="36576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$827,082</a:t>
            </a:r>
            <a:endParaRPr lang="en-US" sz="1300" dirty="0"/>
          </a:p>
        </p:txBody>
      </p:sp>
      <p:sp>
        <p:nvSpPr>
          <p:cNvPr id="65" name="Text 63"/>
          <p:cNvSpPr txBox="1"/>
          <p:nvPr/>
        </p:nvSpPr>
        <p:spPr>
          <a:xfrm>
            <a:off x="4334256" y="5358384"/>
            <a:ext cx="768096"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$9,149</a:t>
            </a:r>
            <a:endParaRPr lang="en-US" sz="1300" dirty="0"/>
          </a:p>
        </p:txBody>
      </p:sp>
      <p:sp>
        <p:nvSpPr>
          <p:cNvPr id="66" name="Text 64"/>
          <p:cNvSpPr txBox="1"/>
          <p:nvPr/>
        </p:nvSpPr>
        <p:spPr>
          <a:xfrm>
            <a:off x="5102352" y="5358384"/>
            <a:ext cx="768096"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$12,714</a:t>
            </a:r>
            <a:endParaRPr lang="en-US" sz="1300" dirty="0"/>
          </a:p>
        </p:txBody>
      </p:sp>
      <p:sp>
        <p:nvSpPr>
          <p:cNvPr id="67" name="Text 65"/>
          <p:cNvSpPr txBox="1"/>
          <p:nvPr/>
        </p:nvSpPr>
        <p:spPr>
          <a:xfrm>
            <a:off x="6208776" y="1700784"/>
            <a:ext cx="1938528" cy="36576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68" name="Shape 66"/>
          <p:cNvSpPr/>
          <p:nvPr/>
        </p:nvSpPr>
        <p:spPr>
          <a:xfrm>
            <a:off x="8220456" y="1783080"/>
            <a:ext cx="96145" cy="201168"/>
          </a:xfrm>
          <a:prstGeom prst="rect">
            <a:avLst/>
          </a:prstGeom>
          <a:solidFill>
            <a:srgbClr val="C2352F"/>
          </a:solidFill>
          <a:ln/>
        </p:spPr>
      </p:sp>
      <p:sp>
        <p:nvSpPr>
          <p:cNvPr id="69" name="Text 67"/>
          <p:cNvSpPr txBox="1"/>
          <p:nvPr/>
        </p:nvSpPr>
        <p:spPr>
          <a:xfrm>
            <a:off x="8860536" y="1700784"/>
            <a:ext cx="1024128" cy="36576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$403,638</a:t>
            </a:r>
            <a:endParaRPr lang="en-US" sz="1300" dirty="0"/>
          </a:p>
        </p:txBody>
      </p:sp>
      <p:sp>
        <p:nvSpPr>
          <p:cNvPr id="70" name="Text 68"/>
          <p:cNvSpPr txBox="1"/>
          <p:nvPr/>
        </p:nvSpPr>
        <p:spPr>
          <a:xfrm>
            <a:off x="9884664" y="1700784"/>
            <a:ext cx="768096"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$11,957</a:t>
            </a:r>
            <a:endParaRPr lang="en-US" sz="1300" dirty="0"/>
          </a:p>
        </p:txBody>
      </p:sp>
      <p:sp>
        <p:nvSpPr>
          <p:cNvPr id="71" name="Text 69"/>
          <p:cNvSpPr txBox="1"/>
          <p:nvPr/>
        </p:nvSpPr>
        <p:spPr>
          <a:xfrm>
            <a:off x="10652760" y="1700784"/>
            <a:ext cx="768096"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$12,714</a:t>
            </a:r>
            <a:endParaRPr lang="en-US" sz="1300" dirty="0"/>
          </a:p>
        </p:txBody>
      </p:sp>
      <p:sp>
        <p:nvSpPr>
          <p:cNvPr id="72" name="Text 70"/>
          <p:cNvSpPr txBox="1"/>
          <p:nvPr/>
        </p:nvSpPr>
        <p:spPr>
          <a:xfrm>
            <a:off x="6208776" y="2066544"/>
            <a:ext cx="1938528" cy="36576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73" name="Shape 71"/>
          <p:cNvSpPr/>
          <p:nvPr/>
        </p:nvSpPr>
        <p:spPr>
          <a:xfrm>
            <a:off x="8220456" y="2148840"/>
            <a:ext cx="89775" cy="201168"/>
          </a:xfrm>
          <a:prstGeom prst="rect">
            <a:avLst/>
          </a:prstGeom>
          <a:solidFill>
            <a:srgbClr val="C2352F"/>
          </a:solidFill>
          <a:ln/>
        </p:spPr>
      </p:sp>
      <p:sp>
        <p:nvSpPr>
          <p:cNvPr id="74" name="Text 72"/>
          <p:cNvSpPr txBox="1"/>
          <p:nvPr/>
        </p:nvSpPr>
        <p:spPr>
          <a:xfrm>
            <a:off x="8860536" y="2066544"/>
            <a:ext cx="1024128" cy="36576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$376,895</a:t>
            </a:r>
            <a:endParaRPr lang="en-US" sz="1300" dirty="0"/>
          </a:p>
        </p:txBody>
      </p:sp>
      <p:sp>
        <p:nvSpPr>
          <p:cNvPr id="75" name="Text 73"/>
          <p:cNvSpPr txBox="1"/>
          <p:nvPr/>
        </p:nvSpPr>
        <p:spPr>
          <a:xfrm>
            <a:off x="9884664" y="2066544"/>
            <a:ext cx="768096"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$12,006</a:t>
            </a:r>
            <a:endParaRPr lang="en-US" sz="1300" dirty="0"/>
          </a:p>
        </p:txBody>
      </p:sp>
      <p:sp>
        <p:nvSpPr>
          <p:cNvPr id="76" name="Text 74"/>
          <p:cNvSpPr txBox="1"/>
          <p:nvPr/>
        </p:nvSpPr>
        <p:spPr>
          <a:xfrm>
            <a:off x="10652760" y="2066544"/>
            <a:ext cx="768096"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$12,714</a:t>
            </a:r>
            <a:endParaRPr lang="en-US" sz="1300" dirty="0"/>
          </a:p>
        </p:txBody>
      </p:sp>
      <p:sp>
        <p:nvSpPr>
          <p:cNvPr id="77" name="Text 75"/>
          <p:cNvSpPr txBox="1"/>
          <p:nvPr/>
        </p:nvSpPr>
        <p:spPr>
          <a:xfrm>
            <a:off x="6208776" y="2432304"/>
            <a:ext cx="1938528" cy="36576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78" name="Shape 76"/>
          <p:cNvSpPr/>
          <p:nvPr/>
        </p:nvSpPr>
        <p:spPr>
          <a:xfrm>
            <a:off x="8220456" y="2514600"/>
            <a:ext cx="88284" cy="201168"/>
          </a:xfrm>
          <a:prstGeom prst="rect">
            <a:avLst/>
          </a:prstGeom>
          <a:solidFill>
            <a:srgbClr val="C2352F"/>
          </a:solidFill>
          <a:ln/>
        </p:spPr>
      </p:sp>
      <p:sp>
        <p:nvSpPr>
          <p:cNvPr id="79" name="Text 77"/>
          <p:cNvSpPr txBox="1"/>
          <p:nvPr/>
        </p:nvSpPr>
        <p:spPr>
          <a:xfrm>
            <a:off x="8860536" y="2432304"/>
            <a:ext cx="1024128" cy="36576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$370,634</a:t>
            </a:r>
            <a:endParaRPr lang="en-US" sz="1300" dirty="0"/>
          </a:p>
        </p:txBody>
      </p:sp>
      <p:sp>
        <p:nvSpPr>
          <p:cNvPr id="80" name="Text 78"/>
          <p:cNvSpPr txBox="1"/>
          <p:nvPr/>
        </p:nvSpPr>
        <p:spPr>
          <a:xfrm>
            <a:off x="9884664" y="2432304"/>
            <a:ext cx="768096"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$9,878</a:t>
            </a:r>
            <a:endParaRPr lang="en-US" sz="1300" dirty="0"/>
          </a:p>
        </p:txBody>
      </p:sp>
      <p:sp>
        <p:nvSpPr>
          <p:cNvPr id="81" name="Text 79"/>
          <p:cNvSpPr txBox="1"/>
          <p:nvPr/>
        </p:nvSpPr>
        <p:spPr>
          <a:xfrm>
            <a:off x="10652760" y="2432304"/>
            <a:ext cx="768096"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$12,714</a:t>
            </a:r>
            <a:endParaRPr lang="en-US" sz="1300" dirty="0"/>
          </a:p>
        </p:txBody>
      </p:sp>
      <p:sp>
        <p:nvSpPr>
          <p:cNvPr id="82" name="Text 80"/>
          <p:cNvSpPr txBox="1"/>
          <p:nvPr/>
        </p:nvSpPr>
        <p:spPr>
          <a:xfrm>
            <a:off x="6208776" y="2798064"/>
            <a:ext cx="1938528" cy="36576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83" name="Shape 81"/>
          <p:cNvSpPr/>
          <p:nvPr/>
        </p:nvSpPr>
        <p:spPr>
          <a:xfrm>
            <a:off x="8220456" y="2880360"/>
            <a:ext cx="81589" cy="201168"/>
          </a:xfrm>
          <a:prstGeom prst="rect">
            <a:avLst/>
          </a:prstGeom>
          <a:solidFill>
            <a:srgbClr val="C2352F"/>
          </a:solidFill>
          <a:ln/>
        </p:spPr>
      </p:sp>
      <p:sp>
        <p:nvSpPr>
          <p:cNvPr id="84" name="Text 82"/>
          <p:cNvSpPr txBox="1"/>
          <p:nvPr/>
        </p:nvSpPr>
        <p:spPr>
          <a:xfrm>
            <a:off x="8860536" y="2798064"/>
            <a:ext cx="1024128" cy="36576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$342,526</a:t>
            </a:r>
            <a:endParaRPr lang="en-US" sz="1300" dirty="0"/>
          </a:p>
        </p:txBody>
      </p:sp>
      <p:sp>
        <p:nvSpPr>
          <p:cNvPr id="85" name="Text 83"/>
          <p:cNvSpPr txBox="1"/>
          <p:nvPr/>
        </p:nvSpPr>
        <p:spPr>
          <a:xfrm>
            <a:off x="9884664" y="2798064"/>
            <a:ext cx="768096"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$15,226</a:t>
            </a:r>
            <a:endParaRPr lang="en-US" sz="1300" dirty="0"/>
          </a:p>
        </p:txBody>
      </p:sp>
      <p:sp>
        <p:nvSpPr>
          <p:cNvPr id="86" name="Text 84"/>
          <p:cNvSpPr txBox="1"/>
          <p:nvPr/>
        </p:nvSpPr>
        <p:spPr>
          <a:xfrm>
            <a:off x="10652760" y="2798064"/>
            <a:ext cx="768096"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$16,998</a:t>
            </a:r>
            <a:endParaRPr lang="en-US" sz="1300" dirty="0"/>
          </a:p>
        </p:txBody>
      </p:sp>
      <p:sp>
        <p:nvSpPr>
          <p:cNvPr id="87" name="Text 85"/>
          <p:cNvSpPr txBox="1"/>
          <p:nvPr/>
        </p:nvSpPr>
        <p:spPr>
          <a:xfrm>
            <a:off x="6208776" y="3163824"/>
            <a:ext cx="1938528" cy="36576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88" name="Shape 86"/>
          <p:cNvSpPr/>
          <p:nvPr/>
        </p:nvSpPr>
        <p:spPr>
          <a:xfrm>
            <a:off x="8220456" y="3246120"/>
            <a:ext cx="73764" cy="201168"/>
          </a:xfrm>
          <a:prstGeom prst="rect">
            <a:avLst/>
          </a:prstGeom>
          <a:solidFill>
            <a:srgbClr val="C2352F"/>
          </a:solidFill>
          <a:ln/>
        </p:spPr>
      </p:sp>
      <p:sp>
        <p:nvSpPr>
          <p:cNvPr id="89" name="Text 87"/>
          <p:cNvSpPr txBox="1"/>
          <p:nvPr/>
        </p:nvSpPr>
        <p:spPr>
          <a:xfrm>
            <a:off x="8860536" y="3163824"/>
            <a:ext cx="1024128" cy="36576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$309,678</a:t>
            </a:r>
            <a:endParaRPr lang="en-US" sz="1300" dirty="0"/>
          </a:p>
        </p:txBody>
      </p:sp>
      <p:sp>
        <p:nvSpPr>
          <p:cNvPr id="90" name="Text 88"/>
          <p:cNvSpPr txBox="1"/>
          <p:nvPr/>
        </p:nvSpPr>
        <p:spPr>
          <a:xfrm>
            <a:off x="9884664" y="3163824"/>
            <a:ext cx="768096"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$11,541</a:t>
            </a:r>
            <a:endParaRPr lang="en-US" sz="1300" dirty="0"/>
          </a:p>
        </p:txBody>
      </p:sp>
      <p:sp>
        <p:nvSpPr>
          <p:cNvPr id="91" name="Text 89"/>
          <p:cNvSpPr txBox="1"/>
          <p:nvPr/>
        </p:nvSpPr>
        <p:spPr>
          <a:xfrm>
            <a:off x="10652760" y="3163824"/>
            <a:ext cx="768096"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$12,714</a:t>
            </a:r>
            <a:endParaRPr lang="en-US" sz="1300" dirty="0"/>
          </a:p>
        </p:txBody>
      </p:sp>
      <p:sp>
        <p:nvSpPr>
          <p:cNvPr id="92" name="Text 90"/>
          <p:cNvSpPr txBox="1"/>
          <p:nvPr/>
        </p:nvSpPr>
        <p:spPr>
          <a:xfrm>
            <a:off x="6208776" y="3529584"/>
            <a:ext cx="1938528" cy="36576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93" name="Shape 91"/>
          <p:cNvSpPr/>
          <p:nvPr/>
        </p:nvSpPr>
        <p:spPr>
          <a:xfrm>
            <a:off x="8220456" y="3611880"/>
            <a:ext cx="45418" cy="201168"/>
          </a:xfrm>
          <a:prstGeom prst="rect">
            <a:avLst/>
          </a:prstGeom>
          <a:solidFill>
            <a:srgbClr val="C2352F"/>
          </a:solidFill>
          <a:ln/>
        </p:spPr>
      </p:sp>
      <p:sp>
        <p:nvSpPr>
          <p:cNvPr id="94" name="Text 92"/>
          <p:cNvSpPr txBox="1"/>
          <p:nvPr/>
        </p:nvSpPr>
        <p:spPr>
          <a:xfrm>
            <a:off x="8860536" y="3529584"/>
            <a:ext cx="1024128" cy="36576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$190,674</a:t>
            </a:r>
            <a:endParaRPr lang="en-US" sz="1300" dirty="0"/>
          </a:p>
        </p:txBody>
      </p:sp>
      <p:sp>
        <p:nvSpPr>
          <p:cNvPr id="95" name="Text 93"/>
          <p:cNvSpPr txBox="1"/>
          <p:nvPr/>
        </p:nvSpPr>
        <p:spPr>
          <a:xfrm>
            <a:off x="9884664" y="3529584"/>
            <a:ext cx="768096"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$11,631</a:t>
            </a:r>
            <a:endParaRPr lang="en-US" sz="1300" dirty="0"/>
          </a:p>
        </p:txBody>
      </p:sp>
      <p:sp>
        <p:nvSpPr>
          <p:cNvPr id="96" name="Text 94"/>
          <p:cNvSpPr txBox="1"/>
          <p:nvPr/>
        </p:nvSpPr>
        <p:spPr>
          <a:xfrm>
            <a:off x="10652760" y="3529584"/>
            <a:ext cx="768096"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$12,714</a:t>
            </a:r>
            <a:endParaRPr lang="en-US" sz="1300" dirty="0"/>
          </a:p>
        </p:txBody>
      </p:sp>
      <p:sp>
        <p:nvSpPr>
          <p:cNvPr id="97" name="Text 95"/>
          <p:cNvSpPr txBox="1"/>
          <p:nvPr/>
        </p:nvSpPr>
        <p:spPr>
          <a:xfrm>
            <a:off x="6208776" y="3895344"/>
            <a:ext cx="1938528" cy="36576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98" name="Shape 96"/>
          <p:cNvSpPr/>
          <p:nvPr/>
        </p:nvSpPr>
        <p:spPr>
          <a:xfrm>
            <a:off x="8220456" y="3977640"/>
            <a:ext cx="37443" cy="201168"/>
          </a:xfrm>
          <a:prstGeom prst="rect">
            <a:avLst/>
          </a:prstGeom>
          <a:solidFill>
            <a:srgbClr val="C2352F"/>
          </a:solidFill>
          <a:ln/>
        </p:spPr>
      </p:sp>
      <p:sp>
        <p:nvSpPr>
          <p:cNvPr id="99" name="Text 97"/>
          <p:cNvSpPr txBox="1"/>
          <p:nvPr/>
        </p:nvSpPr>
        <p:spPr>
          <a:xfrm>
            <a:off x="8860536" y="3895344"/>
            <a:ext cx="1024128" cy="36576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$157,193</a:t>
            </a:r>
            <a:endParaRPr lang="en-US" sz="1300" dirty="0"/>
          </a:p>
        </p:txBody>
      </p:sp>
      <p:sp>
        <p:nvSpPr>
          <p:cNvPr id="100" name="Text 98"/>
          <p:cNvSpPr txBox="1"/>
          <p:nvPr/>
        </p:nvSpPr>
        <p:spPr>
          <a:xfrm>
            <a:off x="9884664" y="3895344"/>
            <a:ext cx="768096"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$12,103</a:t>
            </a:r>
            <a:endParaRPr lang="en-US" sz="1300" dirty="0"/>
          </a:p>
        </p:txBody>
      </p:sp>
      <p:sp>
        <p:nvSpPr>
          <p:cNvPr id="101" name="Text 99"/>
          <p:cNvSpPr txBox="1"/>
          <p:nvPr/>
        </p:nvSpPr>
        <p:spPr>
          <a:xfrm>
            <a:off x="10652760" y="3895344"/>
            <a:ext cx="768096"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$12,714</a:t>
            </a:r>
            <a:endParaRPr lang="en-US" sz="1300" dirty="0"/>
          </a:p>
        </p:txBody>
      </p:sp>
      <p:sp>
        <p:nvSpPr>
          <p:cNvPr id="102" name="Text 100"/>
          <p:cNvSpPr txBox="1"/>
          <p:nvPr/>
        </p:nvSpPr>
        <p:spPr>
          <a:xfrm>
            <a:off x="6208776" y="4261104"/>
            <a:ext cx="1938528" cy="36576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103" name="Shape 101"/>
          <p:cNvSpPr/>
          <p:nvPr/>
        </p:nvSpPr>
        <p:spPr>
          <a:xfrm>
            <a:off x="8220456" y="4343400"/>
            <a:ext cx="26036" cy="201168"/>
          </a:xfrm>
          <a:prstGeom prst="rect">
            <a:avLst/>
          </a:prstGeom>
          <a:solidFill>
            <a:srgbClr val="C2352F"/>
          </a:solidFill>
          <a:ln/>
        </p:spPr>
      </p:sp>
      <p:sp>
        <p:nvSpPr>
          <p:cNvPr id="104" name="Text 102"/>
          <p:cNvSpPr txBox="1"/>
          <p:nvPr/>
        </p:nvSpPr>
        <p:spPr>
          <a:xfrm>
            <a:off x="8860536" y="4261104"/>
            <a:ext cx="1024128" cy="36576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$109,303</a:t>
            </a:r>
            <a:endParaRPr lang="en-US" sz="1300" dirty="0"/>
          </a:p>
        </p:txBody>
      </p:sp>
      <p:sp>
        <p:nvSpPr>
          <p:cNvPr id="105" name="Text 103"/>
          <p:cNvSpPr txBox="1"/>
          <p:nvPr/>
        </p:nvSpPr>
        <p:spPr>
          <a:xfrm>
            <a:off x="9884664" y="4261104"/>
            <a:ext cx="768096"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$12,364</a:t>
            </a:r>
            <a:endParaRPr lang="en-US" sz="1300" dirty="0"/>
          </a:p>
        </p:txBody>
      </p:sp>
      <p:sp>
        <p:nvSpPr>
          <p:cNvPr id="106" name="Text 104"/>
          <p:cNvSpPr txBox="1"/>
          <p:nvPr/>
        </p:nvSpPr>
        <p:spPr>
          <a:xfrm>
            <a:off x="10652760" y="4261104"/>
            <a:ext cx="768096"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$12,714</a:t>
            </a:r>
            <a:endParaRPr lang="en-US" sz="1300" dirty="0"/>
          </a:p>
        </p:txBody>
      </p:sp>
      <p:sp>
        <p:nvSpPr>
          <p:cNvPr id="107" name="Text 105"/>
          <p:cNvSpPr txBox="1"/>
          <p:nvPr/>
        </p:nvSpPr>
        <p:spPr>
          <a:xfrm>
            <a:off x="6208776" y="4626864"/>
            <a:ext cx="1938528" cy="36576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108" name="Shape 106"/>
          <p:cNvSpPr/>
          <p:nvPr/>
        </p:nvSpPr>
        <p:spPr>
          <a:xfrm>
            <a:off x="8220456" y="4709160"/>
            <a:ext cx="18288" cy="201168"/>
          </a:xfrm>
          <a:prstGeom prst="rect">
            <a:avLst/>
          </a:prstGeom>
          <a:solidFill>
            <a:srgbClr val="C2352F"/>
          </a:solidFill>
          <a:ln/>
        </p:spPr>
      </p:sp>
      <p:sp>
        <p:nvSpPr>
          <p:cNvPr id="109" name="Text 107"/>
          <p:cNvSpPr txBox="1"/>
          <p:nvPr/>
        </p:nvSpPr>
        <p:spPr>
          <a:xfrm>
            <a:off x="8860536" y="4626864"/>
            <a:ext cx="1024128" cy="36576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$61,379</a:t>
            </a:r>
            <a:endParaRPr lang="en-US" sz="1300" dirty="0"/>
          </a:p>
        </p:txBody>
      </p:sp>
      <p:sp>
        <p:nvSpPr>
          <p:cNvPr id="110" name="Text 108"/>
          <p:cNvSpPr txBox="1"/>
          <p:nvPr/>
        </p:nvSpPr>
        <p:spPr>
          <a:xfrm>
            <a:off x="9884664" y="4626864"/>
            <a:ext cx="768096"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$12,501</a:t>
            </a:r>
            <a:endParaRPr lang="en-US" sz="1300" dirty="0"/>
          </a:p>
        </p:txBody>
      </p:sp>
      <p:sp>
        <p:nvSpPr>
          <p:cNvPr id="111" name="Text 109"/>
          <p:cNvSpPr txBox="1"/>
          <p:nvPr/>
        </p:nvSpPr>
        <p:spPr>
          <a:xfrm>
            <a:off x="10652760" y="4626864"/>
            <a:ext cx="768096"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$12,714</a:t>
            </a:r>
            <a:endParaRPr lang="en-US" sz="1300" dirty="0"/>
          </a:p>
        </p:txBody>
      </p:sp>
      <p:sp>
        <p:nvSpPr>
          <p:cNvPr id="112" name="Text 110"/>
          <p:cNvSpPr txBox="1"/>
          <p:nvPr/>
        </p:nvSpPr>
        <p:spPr>
          <a:xfrm>
            <a:off x="6208776" y="4992624"/>
            <a:ext cx="1938528" cy="36576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113" name="Shape 111"/>
          <p:cNvSpPr/>
          <p:nvPr/>
        </p:nvSpPr>
        <p:spPr>
          <a:xfrm>
            <a:off x="8220456" y="5074920"/>
            <a:ext cx="18288" cy="201168"/>
          </a:xfrm>
          <a:prstGeom prst="rect">
            <a:avLst/>
          </a:prstGeom>
          <a:solidFill>
            <a:srgbClr val="C2352F"/>
          </a:solidFill>
          <a:ln/>
        </p:spPr>
      </p:sp>
      <p:sp>
        <p:nvSpPr>
          <p:cNvPr id="114" name="Text 112"/>
          <p:cNvSpPr txBox="1"/>
          <p:nvPr/>
        </p:nvSpPr>
        <p:spPr>
          <a:xfrm>
            <a:off x="8860536" y="4992624"/>
            <a:ext cx="1024128" cy="36576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$25,739</a:t>
            </a:r>
            <a:endParaRPr lang="en-US" sz="1300" dirty="0"/>
          </a:p>
        </p:txBody>
      </p:sp>
      <p:sp>
        <p:nvSpPr>
          <p:cNvPr id="115" name="Text 113"/>
          <p:cNvSpPr txBox="1"/>
          <p:nvPr/>
        </p:nvSpPr>
        <p:spPr>
          <a:xfrm>
            <a:off x="9884664" y="4992624"/>
            <a:ext cx="768096"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$16,919</a:t>
            </a:r>
            <a:endParaRPr lang="en-US" sz="1300" dirty="0"/>
          </a:p>
        </p:txBody>
      </p:sp>
      <p:sp>
        <p:nvSpPr>
          <p:cNvPr id="116" name="Text 114"/>
          <p:cNvSpPr txBox="1"/>
          <p:nvPr/>
        </p:nvSpPr>
        <p:spPr>
          <a:xfrm>
            <a:off x="10652760" y="4992624"/>
            <a:ext cx="768096" cy="36576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$16,998</a:t>
            </a:r>
            <a:endParaRPr lang="en-US" sz="1300" dirty="0"/>
          </a:p>
        </p:txBody>
      </p:sp>
      <p:sp>
        <p:nvSpPr>
          <p:cNvPr id="117" name="Shape 115"/>
          <p:cNvSpPr/>
          <p:nvPr/>
        </p:nvSpPr>
        <p:spPr>
          <a:xfrm>
            <a:off x="457200" y="5961888"/>
            <a:ext cx="11274552" cy="548640"/>
          </a:xfrm>
          <a:prstGeom prst="rect">
            <a:avLst/>
          </a:prstGeom>
          <a:solidFill>
            <a:srgbClr val="FBEBEA"/>
          </a:solidFill>
          <a:ln/>
        </p:spPr>
      </p:sp>
      <p:sp>
        <p:nvSpPr>
          <p:cNvPr id="118" name="Text 116"/>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Luxury stores are compared with $16,998 a month, non-luxury with $12,714. 21 stores below their average leave $16,784,025 a year with the same staff.</a:t>
            </a:r>
            <a:endParaRPr lang="en-US" sz="1600" dirty="0"/>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What 5% More per Employee Is Worth</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3419856" y="1316736"/>
            <a:ext cx="950976"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Gross/yr</a:t>
            </a:r>
            <a:endParaRPr lang="en-US" sz="1400" dirty="0"/>
          </a:p>
        </p:txBody>
      </p:sp>
      <p:sp>
        <p:nvSpPr>
          <p:cNvPr id="7" name="Text 5"/>
          <p:cNvSpPr txBox="1"/>
          <p:nvPr/>
        </p:nvSpPr>
        <p:spPr>
          <a:xfrm>
            <a:off x="4370832" y="1316736"/>
            <a:ext cx="74980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Today</a:t>
            </a:r>
            <a:endParaRPr lang="en-US" sz="1400" dirty="0"/>
          </a:p>
        </p:txBody>
      </p:sp>
      <p:sp>
        <p:nvSpPr>
          <p:cNvPr id="8" name="Text 6"/>
          <p:cNvSpPr txBox="1"/>
          <p:nvPr/>
        </p:nvSpPr>
        <p:spPr>
          <a:xfrm>
            <a:off x="5120640" y="1316736"/>
            <a:ext cx="74980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Target</a:t>
            </a:r>
            <a:endParaRPr lang="en-US" sz="1400" dirty="0"/>
          </a:p>
        </p:txBody>
      </p:sp>
      <p:sp>
        <p:nvSpPr>
          <p:cNvPr id="9" name="Text 7"/>
          <p:cNvSpPr txBox="1"/>
          <p:nvPr/>
        </p:nvSpPr>
        <p:spPr>
          <a:xfrm>
            <a:off x="8970264" y="1316736"/>
            <a:ext cx="950976"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Gross/yr</a:t>
            </a:r>
            <a:endParaRPr lang="en-US" sz="1400" dirty="0"/>
          </a:p>
        </p:txBody>
      </p:sp>
      <p:sp>
        <p:nvSpPr>
          <p:cNvPr id="10" name="Text 8"/>
          <p:cNvSpPr txBox="1"/>
          <p:nvPr/>
        </p:nvSpPr>
        <p:spPr>
          <a:xfrm>
            <a:off x="9921240" y="1316736"/>
            <a:ext cx="74980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Today</a:t>
            </a:r>
            <a:endParaRPr lang="en-US" sz="1400" dirty="0"/>
          </a:p>
        </p:txBody>
      </p:sp>
      <p:sp>
        <p:nvSpPr>
          <p:cNvPr id="11" name="Text 9"/>
          <p:cNvSpPr txBox="1"/>
          <p:nvPr/>
        </p:nvSpPr>
        <p:spPr>
          <a:xfrm>
            <a:off x="10671048" y="1316736"/>
            <a:ext cx="74980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Target</a:t>
            </a:r>
            <a:endParaRPr lang="en-US" sz="1400" dirty="0"/>
          </a:p>
        </p:txBody>
      </p:sp>
      <p:sp>
        <p:nvSpPr>
          <p:cNvPr id="12" name="Text 10"/>
          <p:cNvSpPr txBox="1"/>
          <p:nvPr/>
        </p:nvSpPr>
        <p:spPr>
          <a:xfrm>
            <a:off x="658368" y="1700784"/>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13" name="Shape 11"/>
          <p:cNvSpPr/>
          <p:nvPr/>
        </p:nvSpPr>
        <p:spPr>
          <a:xfrm>
            <a:off x="2670048" y="1754034"/>
            <a:ext cx="694944" cy="130168"/>
          </a:xfrm>
          <a:prstGeom prst="rect">
            <a:avLst/>
          </a:prstGeom>
          <a:solidFill>
            <a:srgbClr val="2587C5"/>
          </a:solidFill>
          <a:ln/>
        </p:spPr>
      </p:sp>
      <p:sp>
        <p:nvSpPr>
          <p:cNvPr id="14" name="Text 12"/>
          <p:cNvSpPr txBox="1"/>
          <p:nvPr/>
        </p:nvSpPr>
        <p:spPr>
          <a:xfrm>
            <a:off x="3419856" y="1700784"/>
            <a:ext cx="950976"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$1,506,225</a:t>
            </a:r>
            <a:endParaRPr lang="en-US" sz="1300" dirty="0"/>
          </a:p>
        </p:txBody>
      </p:sp>
      <p:sp>
        <p:nvSpPr>
          <p:cNvPr id="15" name="Text 13"/>
          <p:cNvSpPr txBox="1"/>
          <p:nvPr/>
        </p:nvSpPr>
        <p:spPr>
          <a:xfrm>
            <a:off x="4370832" y="1700784"/>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$14,174</a:t>
            </a:r>
            <a:endParaRPr lang="en-US" sz="1300" dirty="0"/>
          </a:p>
        </p:txBody>
      </p:sp>
      <p:sp>
        <p:nvSpPr>
          <p:cNvPr id="16" name="Text 14"/>
          <p:cNvSpPr txBox="1"/>
          <p:nvPr/>
        </p:nvSpPr>
        <p:spPr>
          <a:xfrm>
            <a:off x="5120640" y="1700784"/>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$14,883</a:t>
            </a:r>
            <a:endParaRPr lang="en-US" sz="1300" dirty="0"/>
          </a:p>
        </p:txBody>
      </p:sp>
      <p:sp>
        <p:nvSpPr>
          <p:cNvPr id="17" name="Text 15"/>
          <p:cNvSpPr txBox="1"/>
          <p:nvPr/>
        </p:nvSpPr>
        <p:spPr>
          <a:xfrm>
            <a:off x="658368" y="1937452"/>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18" name="Shape 16"/>
          <p:cNvSpPr/>
          <p:nvPr/>
        </p:nvSpPr>
        <p:spPr>
          <a:xfrm>
            <a:off x="2670048" y="1990703"/>
            <a:ext cx="508906" cy="130168"/>
          </a:xfrm>
          <a:prstGeom prst="rect">
            <a:avLst/>
          </a:prstGeom>
          <a:solidFill>
            <a:srgbClr val="2587C5"/>
          </a:solidFill>
          <a:ln/>
        </p:spPr>
      </p:sp>
      <p:sp>
        <p:nvSpPr>
          <p:cNvPr id="19" name="Text 17"/>
          <p:cNvSpPr txBox="1"/>
          <p:nvPr/>
        </p:nvSpPr>
        <p:spPr>
          <a:xfrm>
            <a:off x="3419856" y="1937452"/>
            <a:ext cx="950976"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$1,103,005</a:t>
            </a:r>
            <a:endParaRPr lang="en-US" sz="1300" dirty="0"/>
          </a:p>
        </p:txBody>
      </p:sp>
      <p:sp>
        <p:nvSpPr>
          <p:cNvPr id="20" name="Text 18"/>
          <p:cNvSpPr txBox="1"/>
          <p:nvPr/>
        </p:nvSpPr>
        <p:spPr>
          <a:xfrm>
            <a:off x="4370832" y="1937452"/>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$12,042</a:t>
            </a:r>
            <a:endParaRPr lang="en-US" sz="1300" dirty="0"/>
          </a:p>
        </p:txBody>
      </p:sp>
      <p:sp>
        <p:nvSpPr>
          <p:cNvPr id="21" name="Text 19"/>
          <p:cNvSpPr txBox="1"/>
          <p:nvPr/>
        </p:nvSpPr>
        <p:spPr>
          <a:xfrm>
            <a:off x="5120640" y="1937452"/>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$12,644</a:t>
            </a:r>
            <a:endParaRPr lang="en-US" sz="1300" dirty="0"/>
          </a:p>
        </p:txBody>
      </p:sp>
      <p:sp>
        <p:nvSpPr>
          <p:cNvPr id="22" name="Text 20"/>
          <p:cNvSpPr txBox="1"/>
          <p:nvPr/>
        </p:nvSpPr>
        <p:spPr>
          <a:xfrm>
            <a:off x="658368" y="2174120"/>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23" name="Shape 21"/>
          <p:cNvSpPr/>
          <p:nvPr/>
        </p:nvSpPr>
        <p:spPr>
          <a:xfrm>
            <a:off x="2670048" y="2227371"/>
            <a:ext cx="443634" cy="130168"/>
          </a:xfrm>
          <a:prstGeom prst="rect">
            <a:avLst/>
          </a:prstGeom>
          <a:solidFill>
            <a:srgbClr val="2587C5"/>
          </a:solidFill>
          <a:ln/>
        </p:spPr>
      </p:sp>
      <p:sp>
        <p:nvSpPr>
          <p:cNvPr id="24" name="Text 22"/>
          <p:cNvSpPr txBox="1"/>
          <p:nvPr/>
        </p:nvSpPr>
        <p:spPr>
          <a:xfrm>
            <a:off x="3419856" y="2174120"/>
            <a:ext cx="950976"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$961,535</a:t>
            </a:r>
            <a:endParaRPr lang="en-US" sz="1300" dirty="0"/>
          </a:p>
        </p:txBody>
      </p:sp>
      <p:sp>
        <p:nvSpPr>
          <p:cNvPr id="25" name="Text 23"/>
          <p:cNvSpPr txBox="1"/>
          <p:nvPr/>
        </p:nvSpPr>
        <p:spPr>
          <a:xfrm>
            <a:off x="4370832" y="2174120"/>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$16,061</a:t>
            </a:r>
            <a:endParaRPr lang="en-US" sz="1300" dirty="0"/>
          </a:p>
        </p:txBody>
      </p:sp>
      <p:sp>
        <p:nvSpPr>
          <p:cNvPr id="26" name="Text 24"/>
          <p:cNvSpPr txBox="1"/>
          <p:nvPr/>
        </p:nvSpPr>
        <p:spPr>
          <a:xfrm>
            <a:off x="5120640" y="2174120"/>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$16,864</a:t>
            </a:r>
            <a:endParaRPr lang="en-US" sz="1300" dirty="0"/>
          </a:p>
        </p:txBody>
      </p:sp>
      <p:sp>
        <p:nvSpPr>
          <p:cNvPr id="27" name="Text 25"/>
          <p:cNvSpPr txBox="1"/>
          <p:nvPr/>
        </p:nvSpPr>
        <p:spPr>
          <a:xfrm>
            <a:off x="658368" y="2410789"/>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28" name="Shape 26"/>
          <p:cNvSpPr/>
          <p:nvPr/>
        </p:nvSpPr>
        <p:spPr>
          <a:xfrm>
            <a:off x="2670048" y="2464039"/>
            <a:ext cx="379571" cy="130168"/>
          </a:xfrm>
          <a:prstGeom prst="rect">
            <a:avLst/>
          </a:prstGeom>
          <a:solidFill>
            <a:srgbClr val="2587C5"/>
          </a:solidFill>
          <a:ln/>
        </p:spPr>
      </p:sp>
      <p:sp>
        <p:nvSpPr>
          <p:cNvPr id="29" name="Text 27"/>
          <p:cNvSpPr txBox="1"/>
          <p:nvPr/>
        </p:nvSpPr>
        <p:spPr>
          <a:xfrm>
            <a:off x="3419856" y="2410789"/>
            <a:ext cx="950976"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$822,684</a:t>
            </a:r>
            <a:endParaRPr lang="en-US" sz="1300" dirty="0"/>
          </a:p>
        </p:txBody>
      </p:sp>
      <p:sp>
        <p:nvSpPr>
          <p:cNvPr id="30" name="Text 28"/>
          <p:cNvSpPr txBox="1"/>
          <p:nvPr/>
        </p:nvSpPr>
        <p:spPr>
          <a:xfrm>
            <a:off x="4370832" y="2410789"/>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$23,461</a:t>
            </a:r>
            <a:endParaRPr lang="en-US" sz="1300" dirty="0"/>
          </a:p>
        </p:txBody>
      </p:sp>
      <p:sp>
        <p:nvSpPr>
          <p:cNvPr id="31" name="Text 29"/>
          <p:cNvSpPr txBox="1"/>
          <p:nvPr/>
        </p:nvSpPr>
        <p:spPr>
          <a:xfrm>
            <a:off x="5120640" y="2410789"/>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$24,634</a:t>
            </a:r>
            <a:endParaRPr lang="en-US" sz="1300" dirty="0"/>
          </a:p>
        </p:txBody>
      </p:sp>
      <p:sp>
        <p:nvSpPr>
          <p:cNvPr id="32" name="Text 30"/>
          <p:cNvSpPr txBox="1"/>
          <p:nvPr/>
        </p:nvSpPr>
        <p:spPr>
          <a:xfrm>
            <a:off x="658368" y="2647457"/>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33" name="Shape 31"/>
          <p:cNvSpPr/>
          <p:nvPr/>
        </p:nvSpPr>
        <p:spPr>
          <a:xfrm>
            <a:off x="2670048" y="2700707"/>
            <a:ext cx="310060" cy="130168"/>
          </a:xfrm>
          <a:prstGeom prst="rect">
            <a:avLst/>
          </a:prstGeom>
          <a:solidFill>
            <a:srgbClr val="2587C5"/>
          </a:solidFill>
          <a:ln/>
        </p:spPr>
      </p:sp>
      <p:sp>
        <p:nvSpPr>
          <p:cNvPr id="34" name="Text 32"/>
          <p:cNvSpPr txBox="1"/>
          <p:nvPr/>
        </p:nvSpPr>
        <p:spPr>
          <a:xfrm>
            <a:off x="3419856" y="2647457"/>
            <a:ext cx="950976"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$672,026</a:t>
            </a:r>
            <a:endParaRPr lang="en-US" sz="1300" dirty="0"/>
          </a:p>
        </p:txBody>
      </p:sp>
      <p:sp>
        <p:nvSpPr>
          <p:cNvPr id="35" name="Text 33"/>
          <p:cNvSpPr txBox="1"/>
          <p:nvPr/>
        </p:nvSpPr>
        <p:spPr>
          <a:xfrm>
            <a:off x="4370832" y="2647457"/>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$12,874</a:t>
            </a:r>
            <a:endParaRPr lang="en-US" sz="1300" dirty="0"/>
          </a:p>
        </p:txBody>
      </p:sp>
      <p:sp>
        <p:nvSpPr>
          <p:cNvPr id="36" name="Text 34"/>
          <p:cNvSpPr txBox="1"/>
          <p:nvPr/>
        </p:nvSpPr>
        <p:spPr>
          <a:xfrm>
            <a:off x="5120640" y="2647457"/>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$13,518</a:t>
            </a:r>
            <a:endParaRPr lang="en-US" sz="1300" dirty="0"/>
          </a:p>
        </p:txBody>
      </p:sp>
      <p:sp>
        <p:nvSpPr>
          <p:cNvPr id="37" name="Text 35"/>
          <p:cNvSpPr txBox="1"/>
          <p:nvPr/>
        </p:nvSpPr>
        <p:spPr>
          <a:xfrm>
            <a:off x="658368" y="2884125"/>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38" name="Shape 36"/>
          <p:cNvSpPr/>
          <p:nvPr/>
        </p:nvSpPr>
        <p:spPr>
          <a:xfrm>
            <a:off x="2670048" y="2937376"/>
            <a:ext cx="295191" cy="130168"/>
          </a:xfrm>
          <a:prstGeom prst="rect">
            <a:avLst/>
          </a:prstGeom>
          <a:solidFill>
            <a:srgbClr val="2587C5"/>
          </a:solidFill>
          <a:ln/>
        </p:spPr>
      </p:sp>
      <p:sp>
        <p:nvSpPr>
          <p:cNvPr id="39" name="Text 37"/>
          <p:cNvSpPr txBox="1"/>
          <p:nvPr/>
        </p:nvSpPr>
        <p:spPr>
          <a:xfrm>
            <a:off x="3419856" y="2884125"/>
            <a:ext cx="950976"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$639,799</a:t>
            </a:r>
            <a:endParaRPr lang="en-US" sz="1300" dirty="0"/>
          </a:p>
        </p:txBody>
      </p:sp>
      <p:sp>
        <p:nvSpPr>
          <p:cNvPr id="40" name="Text 38"/>
          <p:cNvSpPr txBox="1"/>
          <p:nvPr/>
        </p:nvSpPr>
        <p:spPr>
          <a:xfrm>
            <a:off x="4370832" y="2884125"/>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$14,260</a:t>
            </a:r>
            <a:endParaRPr lang="en-US" sz="1300" dirty="0"/>
          </a:p>
        </p:txBody>
      </p:sp>
      <p:sp>
        <p:nvSpPr>
          <p:cNvPr id="41" name="Text 39"/>
          <p:cNvSpPr txBox="1"/>
          <p:nvPr/>
        </p:nvSpPr>
        <p:spPr>
          <a:xfrm>
            <a:off x="5120640" y="2884125"/>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$14,973</a:t>
            </a:r>
            <a:endParaRPr lang="en-US" sz="1300" dirty="0"/>
          </a:p>
        </p:txBody>
      </p:sp>
      <p:sp>
        <p:nvSpPr>
          <p:cNvPr id="42" name="Text 40"/>
          <p:cNvSpPr txBox="1"/>
          <p:nvPr/>
        </p:nvSpPr>
        <p:spPr>
          <a:xfrm>
            <a:off x="658368" y="3120793"/>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43" name="Shape 41"/>
          <p:cNvSpPr/>
          <p:nvPr/>
        </p:nvSpPr>
        <p:spPr>
          <a:xfrm>
            <a:off x="2670048" y="3174044"/>
            <a:ext cx="265029" cy="130168"/>
          </a:xfrm>
          <a:prstGeom prst="rect">
            <a:avLst/>
          </a:prstGeom>
          <a:solidFill>
            <a:srgbClr val="2587C5"/>
          </a:solidFill>
          <a:ln/>
        </p:spPr>
      </p:sp>
      <p:sp>
        <p:nvSpPr>
          <p:cNvPr id="44" name="Text 42"/>
          <p:cNvSpPr txBox="1"/>
          <p:nvPr/>
        </p:nvSpPr>
        <p:spPr>
          <a:xfrm>
            <a:off x="3419856" y="3120793"/>
            <a:ext cx="950976"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$574,425</a:t>
            </a:r>
            <a:endParaRPr lang="en-US" sz="1300" dirty="0"/>
          </a:p>
        </p:txBody>
      </p:sp>
      <p:sp>
        <p:nvSpPr>
          <p:cNvPr id="45" name="Text 43"/>
          <p:cNvSpPr txBox="1"/>
          <p:nvPr/>
        </p:nvSpPr>
        <p:spPr>
          <a:xfrm>
            <a:off x="4370832" y="3120793"/>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$14,604</a:t>
            </a:r>
            <a:endParaRPr lang="en-US" sz="1300" dirty="0"/>
          </a:p>
        </p:txBody>
      </p:sp>
      <p:sp>
        <p:nvSpPr>
          <p:cNvPr id="46" name="Text 44"/>
          <p:cNvSpPr txBox="1"/>
          <p:nvPr/>
        </p:nvSpPr>
        <p:spPr>
          <a:xfrm>
            <a:off x="5120640" y="3120793"/>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$15,334</a:t>
            </a:r>
            <a:endParaRPr lang="en-US" sz="1300" dirty="0"/>
          </a:p>
        </p:txBody>
      </p:sp>
      <p:sp>
        <p:nvSpPr>
          <p:cNvPr id="47" name="Text 45"/>
          <p:cNvSpPr txBox="1"/>
          <p:nvPr/>
        </p:nvSpPr>
        <p:spPr>
          <a:xfrm>
            <a:off x="658368" y="3357462"/>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48" name="Shape 46"/>
          <p:cNvSpPr/>
          <p:nvPr/>
        </p:nvSpPr>
        <p:spPr>
          <a:xfrm>
            <a:off x="2670048" y="3410712"/>
            <a:ext cx="203194" cy="130168"/>
          </a:xfrm>
          <a:prstGeom prst="rect">
            <a:avLst/>
          </a:prstGeom>
          <a:solidFill>
            <a:srgbClr val="2587C5"/>
          </a:solidFill>
          <a:ln/>
        </p:spPr>
      </p:sp>
      <p:sp>
        <p:nvSpPr>
          <p:cNvPr id="49" name="Text 47"/>
          <p:cNvSpPr txBox="1"/>
          <p:nvPr/>
        </p:nvSpPr>
        <p:spPr>
          <a:xfrm>
            <a:off x="3419856" y="3357462"/>
            <a:ext cx="950976"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$440,403</a:t>
            </a:r>
            <a:endParaRPr lang="en-US" sz="1300" dirty="0"/>
          </a:p>
        </p:txBody>
      </p:sp>
      <p:sp>
        <p:nvSpPr>
          <p:cNvPr id="50" name="Text 48"/>
          <p:cNvSpPr txBox="1"/>
          <p:nvPr/>
        </p:nvSpPr>
        <p:spPr>
          <a:xfrm>
            <a:off x="4370832" y="3357462"/>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$18,148</a:t>
            </a:r>
            <a:endParaRPr lang="en-US" sz="1300" dirty="0"/>
          </a:p>
        </p:txBody>
      </p:sp>
      <p:sp>
        <p:nvSpPr>
          <p:cNvPr id="51" name="Text 49"/>
          <p:cNvSpPr txBox="1"/>
          <p:nvPr/>
        </p:nvSpPr>
        <p:spPr>
          <a:xfrm>
            <a:off x="5120640" y="3357462"/>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$19,056</a:t>
            </a:r>
            <a:endParaRPr lang="en-US" sz="1300" dirty="0"/>
          </a:p>
        </p:txBody>
      </p:sp>
      <p:sp>
        <p:nvSpPr>
          <p:cNvPr id="52" name="Text 50"/>
          <p:cNvSpPr txBox="1"/>
          <p:nvPr/>
        </p:nvSpPr>
        <p:spPr>
          <a:xfrm>
            <a:off x="658368" y="3594130"/>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53" name="Shape 51"/>
          <p:cNvSpPr/>
          <p:nvPr/>
        </p:nvSpPr>
        <p:spPr>
          <a:xfrm>
            <a:off x="2670048" y="3647380"/>
            <a:ext cx="189258" cy="130168"/>
          </a:xfrm>
          <a:prstGeom prst="rect">
            <a:avLst/>
          </a:prstGeom>
          <a:solidFill>
            <a:srgbClr val="2587C5"/>
          </a:solidFill>
          <a:ln/>
        </p:spPr>
      </p:sp>
      <p:sp>
        <p:nvSpPr>
          <p:cNvPr id="54" name="Text 52"/>
          <p:cNvSpPr txBox="1"/>
          <p:nvPr/>
        </p:nvSpPr>
        <p:spPr>
          <a:xfrm>
            <a:off x="3419856" y="3594130"/>
            <a:ext cx="950976"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$410,199</a:t>
            </a:r>
            <a:endParaRPr lang="en-US" sz="1300" dirty="0"/>
          </a:p>
        </p:txBody>
      </p:sp>
      <p:sp>
        <p:nvSpPr>
          <p:cNvPr id="55" name="Text 53"/>
          <p:cNvSpPr txBox="1"/>
          <p:nvPr/>
        </p:nvSpPr>
        <p:spPr>
          <a:xfrm>
            <a:off x="4370832" y="3594130"/>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$13,289</a:t>
            </a:r>
            <a:endParaRPr lang="en-US" sz="1300" dirty="0"/>
          </a:p>
        </p:txBody>
      </p:sp>
      <p:sp>
        <p:nvSpPr>
          <p:cNvPr id="56" name="Text 54"/>
          <p:cNvSpPr txBox="1"/>
          <p:nvPr/>
        </p:nvSpPr>
        <p:spPr>
          <a:xfrm>
            <a:off x="5120640" y="3594130"/>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$13,954</a:t>
            </a:r>
            <a:endParaRPr lang="en-US" sz="1300" dirty="0"/>
          </a:p>
        </p:txBody>
      </p:sp>
      <p:sp>
        <p:nvSpPr>
          <p:cNvPr id="57" name="Text 55"/>
          <p:cNvSpPr txBox="1"/>
          <p:nvPr/>
        </p:nvSpPr>
        <p:spPr>
          <a:xfrm>
            <a:off x="658368" y="3830798"/>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58" name="Shape 56"/>
          <p:cNvSpPr/>
          <p:nvPr/>
        </p:nvSpPr>
        <p:spPr>
          <a:xfrm>
            <a:off x="2670048" y="3884048"/>
            <a:ext cx="182441" cy="130168"/>
          </a:xfrm>
          <a:prstGeom prst="rect">
            <a:avLst/>
          </a:prstGeom>
          <a:solidFill>
            <a:srgbClr val="2587C5"/>
          </a:solidFill>
          <a:ln/>
        </p:spPr>
      </p:sp>
      <p:sp>
        <p:nvSpPr>
          <p:cNvPr id="59" name="Text 57"/>
          <p:cNvSpPr txBox="1"/>
          <p:nvPr/>
        </p:nvSpPr>
        <p:spPr>
          <a:xfrm>
            <a:off x="3419856" y="3830798"/>
            <a:ext cx="950976"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$395,423</a:t>
            </a:r>
            <a:endParaRPr lang="en-US" sz="1300" dirty="0"/>
          </a:p>
        </p:txBody>
      </p:sp>
      <p:sp>
        <p:nvSpPr>
          <p:cNvPr id="60" name="Text 58"/>
          <p:cNvSpPr txBox="1"/>
          <p:nvPr/>
        </p:nvSpPr>
        <p:spPr>
          <a:xfrm>
            <a:off x="4370832" y="3830798"/>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$11,128</a:t>
            </a:r>
            <a:endParaRPr lang="en-US" sz="1300" dirty="0"/>
          </a:p>
        </p:txBody>
      </p:sp>
      <p:sp>
        <p:nvSpPr>
          <p:cNvPr id="61" name="Text 59"/>
          <p:cNvSpPr txBox="1"/>
          <p:nvPr/>
        </p:nvSpPr>
        <p:spPr>
          <a:xfrm>
            <a:off x="5120640" y="3830798"/>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$11,685</a:t>
            </a:r>
            <a:endParaRPr lang="en-US" sz="1300" dirty="0"/>
          </a:p>
        </p:txBody>
      </p:sp>
      <p:sp>
        <p:nvSpPr>
          <p:cNvPr id="62" name="Text 60"/>
          <p:cNvSpPr txBox="1"/>
          <p:nvPr/>
        </p:nvSpPr>
        <p:spPr>
          <a:xfrm>
            <a:off x="658368" y="4067466"/>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63" name="Shape 61"/>
          <p:cNvSpPr/>
          <p:nvPr/>
        </p:nvSpPr>
        <p:spPr>
          <a:xfrm>
            <a:off x="2670048" y="4120717"/>
            <a:ext cx="156263" cy="130168"/>
          </a:xfrm>
          <a:prstGeom prst="rect">
            <a:avLst/>
          </a:prstGeom>
          <a:solidFill>
            <a:srgbClr val="2587C5"/>
          </a:solidFill>
          <a:ln/>
        </p:spPr>
      </p:sp>
      <p:sp>
        <p:nvSpPr>
          <p:cNvPr id="64" name="Text 62"/>
          <p:cNvSpPr txBox="1"/>
          <p:nvPr/>
        </p:nvSpPr>
        <p:spPr>
          <a:xfrm>
            <a:off x="3419856" y="4067466"/>
            <a:ext cx="950976"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$338,685</a:t>
            </a:r>
            <a:endParaRPr lang="en-US" sz="1300" dirty="0"/>
          </a:p>
        </p:txBody>
      </p:sp>
      <p:sp>
        <p:nvSpPr>
          <p:cNvPr id="65" name="Text 63"/>
          <p:cNvSpPr txBox="1"/>
          <p:nvPr/>
        </p:nvSpPr>
        <p:spPr>
          <a:xfrm>
            <a:off x="4370832" y="4067466"/>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$11,044</a:t>
            </a:r>
            <a:endParaRPr lang="en-US" sz="1300" dirty="0"/>
          </a:p>
        </p:txBody>
      </p:sp>
      <p:sp>
        <p:nvSpPr>
          <p:cNvPr id="66" name="Text 64"/>
          <p:cNvSpPr txBox="1"/>
          <p:nvPr/>
        </p:nvSpPr>
        <p:spPr>
          <a:xfrm>
            <a:off x="5120640" y="4067466"/>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$11,596</a:t>
            </a:r>
            <a:endParaRPr lang="en-US" sz="1300" dirty="0"/>
          </a:p>
        </p:txBody>
      </p:sp>
      <p:sp>
        <p:nvSpPr>
          <p:cNvPr id="67" name="Text 65"/>
          <p:cNvSpPr txBox="1"/>
          <p:nvPr/>
        </p:nvSpPr>
        <p:spPr>
          <a:xfrm>
            <a:off x="658368" y="4304135"/>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68" name="Shape 66"/>
          <p:cNvSpPr/>
          <p:nvPr/>
        </p:nvSpPr>
        <p:spPr>
          <a:xfrm>
            <a:off x="2670048" y="4357385"/>
            <a:ext cx="147344" cy="130168"/>
          </a:xfrm>
          <a:prstGeom prst="rect">
            <a:avLst/>
          </a:prstGeom>
          <a:solidFill>
            <a:srgbClr val="2587C5"/>
          </a:solidFill>
          <a:ln/>
        </p:spPr>
      </p:sp>
      <p:sp>
        <p:nvSpPr>
          <p:cNvPr id="69" name="Text 67"/>
          <p:cNvSpPr txBox="1"/>
          <p:nvPr/>
        </p:nvSpPr>
        <p:spPr>
          <a:xfrm>
            <a:off x="3419856" y="4304135"/>
            <a:ext cx="950976"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$319,353</a:t>
            </a:r>
            <a:endParaRPr lang="en-US" sz="1300" dirty="0"/>
          </a:p>
        </p:txBody>
      </p:sp>
      <p:sp>
        <p:nvSpPr>
          <p:cNvPr id="70" name="Text 68"/>
          <p:cNvSpPr txBox="1"/>
          <p:nvPr/>
        </p:nvSpPr>
        <p:spPr>
          <a:xfrm>
            <a:off x="4370832" y="4304135"/>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$12,006</a:t>
            </a:r>
            <a:endParaRPr lang="en-US" sz="1300" dirty="0"/>
          </a:p>
        </p:txBody>
      </p:sp>
      <p:sp>
        <p:nvSpPr>
          <p:cNvPr id="71" name="Text 69"/>
          <p:cNvSpPr txBox="1"/>
          <p:nvPr/>
        </p:nvSpPr>
        <p:spPr>
          <a:xfrm>
            <a:off x="5120640" y="4304135"/>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$12,606</a:t>
            </a:r>
            <a:endParaRPr lang="en-US" sz="1300" dirty="0"/>
          </a:p>
        </p:txBody>
      </p:sp>
      <p:sp>
        <p:nvSpPr>
          <p:cNvPr id="72" name="Text 70"/>
          <p:cNvSpPr txBox="1"/>
          <p:nvPr/>
        </p:nvSpPr>
        <p:spPr>
          <a:xfrm>
            <a:off x="658368" y="4540803"/>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73" name="Shape 71"/>
          <p:cNvSpPr/>
          <p:nvPr/>
        </p:nvSpPr>
        <p:spPr>
          <a:xfrm>
            <a:off x="2670048" y="4594053"/>
            <a:ext cx="147118" cy="130168"/>
          </a:xfrm>
          <a:prstGeom prst="rect">
            <a:avLst/>
          </a:prstGeom>
          <a:solidFill>
            <a:srgbClr val="2587C5"/>
          </a:solidFill>
          <a:ln/>
        </p:spPr>
      </p:sp>
      <p:sp>
        <p:nvSpPr>
          <p:cNvPr id="74" name="Text 72"/>
          <p:cNvSpPr txBox="1"/>
          <p:nvPr/>
        </p:nvSpPr>
        <p:spPr>
          <a:xfrm>
            <a:off x="3419856" y="4540803"/>
            <a:ext cx="950976"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$318,864</a:t>
            </a:r>
            <a:endParaRPr lang="en-US" sz="1300" dirty="0"/>
          </a:p>
        </p:txBody>
      </p:sp>
      <p:sp>
        <p:nvSpPr>
          <p:cNvPr id="75" name="Text 73"/>
          <p:cNvSpPr txBox="1"/>
          <p:nvPr/>
        </p:nvSpPr>
        <p:spPr>
          <a:xfrm>
            <a:off x="4370832" y="4540803"/>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$11,957</a:t>
            </a:r>
            <a:endParaRPr lang="en-US" sz="1300" dirty="0"/>
          </a:p>
        </p:txBody>
      </p:sp>
      <p:sp>
        <p:nvSpPr>
          <p:cNvPr id="76" name="Text 74"/>
          <p:cNvSpPr txBox="1"/>
          <p:nvPr/>
        </p:nvSpPr>
        <p:spPr>
          <a:xfrm>
            <a:off x="5120640" y="4540803"/>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$12,555</a:t>
            </a:r>
            <a:endParaRPr lang="en-US" sz="1300" dirty="0"/>
          </a:p>
        </p:txBody>
      </p:sp>
      <p:sp>
        <p:nvSpPr>
          <p:cNvPr id="77" name="Text 75"/>
          <p:cNvSpPr txBox="1"/>
          <p:nvPr/>
        </p:nvSpPr>
        <p:spPr>
          <a:xfrm>
            <a:off x="658368" y="4777471"/>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78" name="Shape 76"/>
          <p:cNvSpPr/>
          <p:nvPr/>
        </p:nvSpPr>
        <p:spPr>
          <a:xfrm>
            <a:off x="2670048" y="4830721"/>
            <a:ext cx="139353" cy="130168"/>
          </a:xfrm>
          <a:prstGeom prst="rect">
            <a:avLst/>
          </a:prstGeom>
          <a:solidFill>
            <a:srgbClr val="2587C5"/>
          </a:solidFill>
          <a:ln/>
        </p:spPr>
      </p:sp>
      <p:sp>
        <p:nvSpPr>
          <p:cNvPr id="79" name="Text 77"/>
          <p:cNvSpPr txBox="1"/>
          <p:nvPr/>
        </p:nvSpPr>
        <p:spPr>
          <a:xfrm>
            <a:off x="3419856" y="4777471"/>
            <a:ext cx="950976"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$302,035</a:t>
            </a:r>
            <a:endParaRPr lang="en-US" sz="1300" dirty="0"/>
          </a:p>
        </p:txBody>
      </p:sp>
      <p:sp>
        <p:nvSpPr>
          <p:cNvPr id="80" name="Text 78"/>
          <p:cNvSpPr txBox="1"/>
          <p:nvPr/>
        </p:nvSpPr>
        <p:spPr>
          <a:xfrm>
            <a:off x="4370832" y="4777471"/>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$10,391</a:t>
            </a:r>
            <a:endParaRPr lang="en-US" sz="1300" dirty="0"/>
          </a:p>
        </p:txBody>
      </p:sp>
      <p:sp>
        <p:nvSpPr>
          <p:cNvPr id="81" name="Text 79"/>
          <p:cNvSpPr txBox="1"/>
          <p:nvPr/>
        </p:nvSpPr>
        <p:spPr>
          <a:xfrm>
            <a:off x="5120640" y="4777471"/>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$10,911</a:t>
            </a:r>
            <a:endParaRPr lang="en-US" sz="1300" dirty="0"/>
          </a:p>
        </p:txBody>
      </p:sp>
      <p:sp>
        <p:nvSpPr>
          <p:cNvPr id="82" name="Text 80"/>
          <p:cNvSpPr txBox="1"/>
          <p:nvPr/>
        </p:nvSpPr>
        <p:spPr>
          <a:xfrm>
            <a:off x="658368" y="5014139"/>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83" name="Shape 81"/>
          <p:cNvSpPr/>
          <p:nvPr/>
        </p:nvSpPr>
        <p:spPr>
          <a:xfrm>
            <a:off x="2670048" y="5067390"/>
            <a:ext cx="137448" cy="130168"/>
          </a:xfrm>
          <a:prstGeom prst="rect">
            <a:avLst/>
          </a:prstGeom>
          <a:solidFill>
            <a:srgbClr val="2587C5"/>
          </a:solidFill>
          <a:ln/>
        </p:spPr>
      </p:sp>
      <p:sp>
        <p:nvSpPr>
          <p:cNvPr id="84" name="Text 82"/>
          <p:cNvSpPr txBox="1"/>
          <p:nvPr/>
        </p:nvSpPr>
        <p:spPr>
          <a:xfrm>
            <a:off x="3419856" y="5014139"/>
            <a:ext cx="950976"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$297,906</a:t>
            </a:r>
            <a:endParaRPr lang="en-US" sz="1300" dirty="0"/>
          </a:p>
        </p:txBody>
      </p:sp>
      <p:sp>
        <p:nvSpPr>
          <p:cNvPr id="85" name="Text 83"/>
          <p:cNvSpPr txBox="1"/>
          <p:nvPr/>
        </p:nvSpPr>
        <p:spPr>
          <a:xfrm>
            <a:off x="4370832" y="5014139"/>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$10,794</a:t>
            </a:r>
            <a:endParaRPr lang="en-US" sz="1300" dirty="0"/>
          </a:p>
        </p:txBody>
      </p:sp>
      <p:sp>
        <p:nvSpPr>
          <p:cNvPr id="86" name="Text 84"/>
          <p:cNvSpPr txBox="1"/>
          <p:nvPr/>
        </p:nvSpPr>
        <p:spPr>
          <a:xfrm>
            <a:off x="5120640" y="5014139"/>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$11,333</a:t>
            </a:r>
            <a:endParaRPr lang="en-US" sz="1300" dirty="0"/>
          </a:p>
        </p:txBody>
      </p:sp>
      <p:sp>
        <p:nvSpPr>
          <p:cNvPr id="87" name="Text 85"/>
          <p:cNvSpPr txBox="1"/>
          <p:nvPr/>
        </p:nvSpPr>
        <p:spPr>
          <a:xfrm>
            <a:off x="658368" y="5250808"/>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88" name="Shape 86"/>
          <p:cNvSpPr/>
          <p:nvPr/>
        </p:nvSpPr>
        <p:spPr>
          <a:xfrm>
            <a:off x="2670048" y="5304058"/>
            <a:ext cx="137179" cy="130168"/>
          </a:xfrm>
          <a:prstGeom prst="rect">
            <a:avLst/>
          </a:prstGeom>
          <a:solidFill>
            <a:srgbClr val="2587C5"/>
          </a:solidFill>
          <a:ln/>
        </p:spPr>
      </p:sp>
      <p:sp>
        <p:nvSpPr>
          <p:cNvPr id="89" name="Text 87"/>
          <p:cNvSpPr txBox="1"/>
          <p:nvPr/>
        </p:nvSpPr>
        <p:spPr>
          <a:xfrm>
            <a:off x="3419856" y="5250808"/>
            <a:ext cx="950976"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$297,322</a:t>
            </a:r>
            <a:endParaRPr lang="en-US" sz="1300" dirty="0"/>
          </a:p>
        </p:txBody>
      </p:sp>
      <p:sp>
        <p:nvSpPr>
          <p:cNvPr id="90" name="Text 88"/>
          <p:cNvSpPr txBox="1"/>
          <p:nvPr/>
        </p:nvSpPr>
        <p:spPr>
          <a:xfrm>
            <a:off x="4370832" y="5250808"/>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$14,916</a:t>
            </a:r>
            <a:endParaRPr lang="en-US" sz="1300" dirty="0"/>
          </a:p>
        </p:txBody>
      </p:sp>
      <p:sp>
        <p:nvSpPr>
          <p:cNvPr id="91" name="Text 89"/>
          <p:cNvSpPr txBox="1"/>
          <p:nvPr/>
        </p:nvSpPr>
        <p:spPr>
          <a:xfrm>
            <a:off x="5120640" y="5250808"/>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$15,662</a:t>
            </a:r>
            <a:endParaRPr lang="en-US" sz="1300" dirty="0"/>
          </a:p>
        </p:txBody>
      </p:sp>
      <p:sp>
        <p:nvSpPr>
          <p:cNvPr id="92" name="Text 90"/>
          <p:cNvSpPr txBox="1"/>
          <p:nvPr/>
        </p:nvSpPr>
        <p:spPr>
          <a:xfrm>
            <a:off x="658368" y="5487476"/>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93" name="Shape 91"/>
          <p:cNvSpPr/>
          <p:nvPr/>
        </p:nvSpPr>
        <p:spPr>
          <a:xfrm>
            <a:off x="2670048" y="5540726"/>
            <a:ext cx="128662" cy="130168"/>
          </a:xfrm>
          <a:prstGeom prst="rect">
            <a:avLst/>
          </a:prstGeom>
          <a:solidFill>
            <a:srgbClr val="2587C5"/>
          </a:solidFill>
          <a:ln/>
        </p:spPr>
      </p:sp>
      <p:sp>
        <p:nvSpPr>
          <p:cNvPr id="94" name="Text 92"/>
          <p:cNvSpPr txBox="1"/>
          <p:nvPr/>
        </p:nvSpPr>
        <p:spPr>
          <a:xfrm>
            <a:off x="3419856" y="5487476"/>
            <a:ext cx="950976"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$278,863</a:t>
            </a:r>
            <a:endParaRPr lang="en-US" sz="1300" dirty="0"/>
          </a:p>
        </p:txBody>
      </p:sp>
      <p:sp>
        <p:nvSpPr>
          <p:cNvPr id="95" name="Text 93"/>
          <p:cNvSpPr txBox="1"/>
          <p:nvPr/>
        </p:nvSpPr>
        <p:spPr>
          <a:xfrm>
            <a:off x="4370832" y="5487476"/>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$12,871</a:t>
            </a:r>
            <a:endParaRPr lang="en-US" sz="1300" dirty="0"/>
          </a:p>
        </p:txBody>
      </p:sp>
      <p:sp>
        <p:nvSpPr>
          <p:cNvPr id="96" name="Text 94"/>
          <p:cNvSpPr txBox="1"/>
          <p:nvPr/>
        </p:nvSpPr>
        <p:spPr>
          <a:xfrm>
            <a:off x="5120640" y="5487476"/>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$13,514</a:t>
            </a:r>
            <a:endParaRPr lang="en-US" sz="1300" dirty="0"/>
          </a:p>
        </p:txBody>
      </p:sp>
      <p:sp>
        <p:nvSpPr>
          <p:cNvPr id="97" name="Text 95"/>
          <p:cNvSpPr txBox="1"/>
          <p:nvPr/>
        </p:nvSpPr>
        <p:spPr>
          <a:xfrm>
            <a:off x="6208776" y="1700784"/>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98" name="Shape 96"/>
          <p:cNvSpPr/>
          <p:nvPr/>
        </p:nvSpPr>
        <p:spPr>
          <a:xfrm>
            <a:off x="8220456" y="1754034"/>
            <a:ext cx="127501" cy="130168"/>
          </a:xfrm>
          <a:prstGeom prst="rect">
            <a:avLst/>
          </a:prstGeom>
          <a:solidFill>
            <a:srgbClr val="2587C5"/>
          </a:solidFill>
          <a:ln/>
        </p:spPr>
      </p:sp>
      <p:sp>
        <p:nvSpPr>
          <p:cNvPr id="99" name="Text 97"/>
          <p:cNvSpPr txBox="1"/>
          <p:nvPr/>
        </p:nvSpPr>
        <p:spPr>
          <a:xfrm>
            <a:off x="8970264" y="1700784"/>
            <a:ext cx="950976"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$276,346</a:t>
            </a:r>
            <a:endParaRPr lang="en-US" sz="1300" dirty="0"/>
          </a:p>
        </p:txBody>
      </p:sp>
      <p:sp>
        <p:nvSpPr>
          <p:cNvPr id="100" name="Text 98"/>
          <p:cNvSpPr txBox="1"/>
          <p:nvPr/>
        </p:nvSpPr>
        <p:spPr>
          <a:xfrm>
            <a:off x="9921240" y="1700784"/>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$16,919</a:t>
            </a:r>
            <a:endParaRPr lang="en-US" sz="1300" dirty="0"/>
          </a:p>
        </p:txBody>
      </p:sp>
      <p:sp>
        <p:nvSpPr>
          <p:cNvPr id="101" name="Text 99"/>
          <p:cNvSpPr txBox="1"/>
          <p:nvPr/>
        </p:nvSpPr>
        <p:spPr>
          <a:xfrm>
            <a:off x="10671048" y="1700784"/>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$17,765</a:t>
            </a:r>
            <a:endParaRPr lang="en-US" sz="1300" dirty="0"/>
          </a:p>
        </p:txBody>
      </p:sp>
      <p:sp>
        <p:nvSpPr>
          <p:cNvPr id="102" name="Text 100"/>
          <p:cNvSpPr txBox="1"/>
          <p:nvPr/>
        </p:nvSpPr>
        <p:spPr>
          <a:xfrm>
            <a:off x="6208776" y="1937452"/>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103" name="Shape 101"/>
          <p:cNvSpPr/>
          <p:nvPr/>
        </p:nvSpPr>
        <p:spPr>
          <a:xfrm>
            <a:off x="8220456" y="1990703"/>
            <a:ext cx="120382" cy="130168"/>
          </a:xfrm>
          <a:prstGeom prst="rect">
            <a:avLst/>
          </a:prstGeom>
          <a:solidFill>
            <a:srgbClr val="2587C5"/>
          </a:solidFill>
          <a:ln/>
        </p:spPr>
      </p:sp>
      <p:sp>
        <p:nvSpPr>
          <p:cNvPr id="104" name="Text 102"/>
          <p:cNvSpPr txBox="1"/>
          <p:nvPr/>
        </p:nvSpPr>
        <p:spPr>
          <a:xfrm>
            <a:off x="8970264" y="1937452"/>
            <a:ext cx="950976"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$260,917</a:t>
            </a:r>
            <a:endParaRPr lang="en-US" sz="1300" dirty="0"/>
          </a:p>
        </p:txBody>
      </p:sp>
      <p:sp>
        <p:nvSpPr>
          <p:cNvPr id="105" name="Text 103"/>
          <p:cNvSpPr txBox="1"/>
          <p:nvPr/>
        </p:nvSpPr>
        <p:spPr>
          <a:xfrm>
            <a:off x="9921240" y="1937452"/>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$18,549</a:t>
            </a:r>
            <a:endParaRPr lang="en-US" sz="1300" dirty="0"/>
          </a:p>
        </p:txBody>
      </p:sp>
      <p:sp>
        <p:nvSpPr>
          <p:cNvPr id="106" name="Text 104"/>
          <p:cNvSpPr txBox="1"/>
          <p:nvPr/>
        </p:nvSpPr>
        <p:spPr>
          <a:xfrm>
            <a:off x="10671048" y="1937452"/>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$19,476</a:t>
            </a:r>
            <a:endParaRPr lang="en-US" sz="1300" dirty="0"/>
          </a:p>
        </p:txBody>
      </p:sp>
      <p:sp>
        <p:nvSpPr>
          <p:cNvPr id="107" name="Text 105"/>
          <p:cNvSpPr txBox="1"/>
          <p:nvPr/>
        </p:nvSpPr>
        <p:spPr>
          <a:xfrm>
            <a:off x="6208776" y="2174120"/>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108" name="Shape 106"/>
          <p:cNvSpPr/>
          <p:nvPr/>
        </p:nvSpPr>
        <p:spPr>
          <a:xfrm>
            <a:off x="8220456" y="2227371"/>
            <a:ext cx="109290" cy="130168"/>
          </a:xfrm>
          <a:prstGeom prst="rect">
            <a:avLst/>
          </a:prstGeom>
          <a:solidFill>
            <a:srgbClr val="2587C5"/>
          </a:solidFill>
          <a:ln/>
        </p:spPr>
      </p:sp>
      <p:sp>
        <p:nvSpPr>
          <p:cNvPr id="109" name="Text 107"/>
          <p:cNvSpPr txBox="1"/>
          <p:nvPr/>
        </p:nvSpPr>
        <p:spPr>
          <a:xfrm>
            <a:off x="8970264" y="2174120"/>
            <a:ext cx="950976"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$236,877</a:t>
            </a:r>
            <a:endParaRPr lang="en-US" sz="1300" dirty="0"/>
          </a:p>
        </p:txBody>
      </p:sp>
      <p:sp>
        <p:nvSpPr>
          <p:cNvPr id="110" name="Text 108"/>
          <p:cNvSpPr txBox="1"/>
          <p:nvPr/>
        </p:nvSpPr>
        <p:spPr>
          <a:xfrm>
            <a:off x="9921240" y="2174120"/>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$9,953</a:t>
            </a:r>
            <a:endParaRPr lang="en-US" sz="1300" dirty="0"/>
          </a:p>
        </p:txBody>
      </p:sp>
      <p:sp>
        <p:nvSpPr>
          <p:cNvPr id="111" name="Text 109"/>
          <p:cNvSpPr txBox="1"/>
          <p:nvPr/>
        </p:nvSpPr>
        <p:spPr>
          <a:xfrm>
            <a:off x="10671048" y="2174120"/>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$10,450</a:t>
            </a:r>
            <a:endParaRPr lang="en-US" sz="1300" dirty="0"/>
          </a:p>
        </p:txBody>
      </p:sp>
      <p:sp>
        <p:nvSpPr>
          <p:cNvPr id="112" name="Text 110"/>
          <p:cNvSpPr txBox="1"/>
          <p:nvPr/>
        </p:nvSpPr>
        <p:spPr>
          <a:xfrm>
            <a:off x="6208776" y="2410789"/>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113" name="Shape 111"/>
          <p:cNvSpPr/>
          <p:nvPr/>
        </p:nvSpPr>
        <p:spPr>
          <a:xfrm>
            <a:off x="8220456" y="2464039"/>
            <a:ext cx="108135" cy="130168"/>
          </a:xfrm>
          <a:prstGeom prst="rect">
            <a:avLst/>
          </a:prstGeom>
          <a:solidFill>
            <a:srgbClr val="2587C5"/>
          </a:solidFill>
          <a:ln/>
        </p:spPr>
      </p:sp>
      <p:sp>
        <p:nvSpPr>
          <p:cNvPr id="114" name="Text 112"/>
          <p:cNvSpPr txBox="1"/>
          <p:nvPr/>
        </p:nvSpPr>
        <p:spPr>
          <a:xfrm>
            <a:off x="8970264" y="2410789"/>
            <a:ext cx="950976"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$234,372</a:t>
            </a:r>
            <a:endParaRPr lang="en-US" sz="1300" dirty="0"/>
          </a:p>
        </p:txBody>
      </p:sp>
      <p:sp>
        <p:nvSpPr>
          <p:cNvPr id="115" name="Text 113"/>
          <p:cNvSpPr txBox="1"/>
          <p:nvPr/>
        </p:nvSpPr>
        <p:spPr>
          <a:xfrm>
            <a:off x="9921240" y="2410789"/>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$15,556</a:t>
            </a:r>
            <a:endParaRPr lang="en-US" sz="1300" dirty="0"/>
          </a:p>
        </p:txBody>
      </p:sp>
      <p:sp>
        <p:nvSpPr>
          <p:cNvPr id="116" name="Text 114"/>
          <p:cNvSpPr txBox="1"/>
          <p:nvPr/>
        </p:nvSpPr>
        <p:spPr>
          <a:xfrm>
            <a:off x="10671048" y="2410789"/>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$16,333</a:t>
            </a:r>
            <a:endParaRPr lang="en-US" sz="1300" dirty="0"/>
          </a:p>
        </p:txBody>
      </p:sp>
      <p:sp>
        <p:nvSpPr>
          <p:cNvPr id="117" name="Text 115"/>
          <p:cNvSpPr txBox="1"/>
          <p:nvPr/>
        </p:nvSpPr>
        <p:spPr>
          <a:xfrm>
            <a:off x="6208776" y="2647457"/>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118" name="Shape 116"/>
          <p:cNvSpPr/>
          <p:nvPr/>
        </p:nvSpPr>
        <p:spPr>
          <a:xfrm>
            <a:off x="8220456" y="2700707"/>
            <a:ext cx="105077" cy="130168"/>
          </a:xfrm>
          <a:prstGeom prst="rect">
            <a:avLst/>
          </a:prstGeom>
          <a:solidFill>
            <a:srgbClr val="2587C5"/>
          </a:solidFill>
          <a:ln/>
        </p:spPr>
      </p:sp>
      <p:sp>
        <p:nvSpPr>
          <p:cNvPr id="119" name="Text 117"/>
          <p:cNvSpPr txBox="1"/>
          <p:nvPr/>
        </p:nvSpPr>
        <p:spPr>
          <a:xfrm>
            <a:off x="8970264" y="2647457"/>
            <a:ext cx="950976"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$227,743</a:t>
            </a:r>
            <a:endParaRPr lang="en-US" sz="1300" dirty="0"/>
          </a:p>
        </p:txBody>
      </p:sp>
      <p:sp>
        <p:nvSpPr>
          <p:cNvPr id="120" name="Text 118"/>
          <p:cNvSpPr txBox="1"/>
          <p:nvPr/>
        </p:nvSpPr>
        <p:spPr>
          <a:xfrm>
            <a:off x="9921240" y="2647457"/>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$18,268</a:t>
            </a:r>
            <a:endParaRPr lang="en-US" sz="1300" dirty="0"/>
          </a:p>
        </p:txBody>
      </p:sp>
      <p:sp>
        <p:nvSpPr>
          <p:cNvPr id="121" name="Text 119"/>
          <p:cNvSpPr txBox="1"/>
          <p:nvPr/>
        </p:nvSpPr>
        <p:spPr>
          <a:xfrm>
            <a:off x="10671048" y="2647457"/>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$19,182</a:t>
            </a:r>
            <a:endParaRPr lang="en-US" sz="1300" dirty="0"/>
          </a:p>
        </p:txBody>
      </p:sp>
      <p:sp>
        <p:nvSpPr>
          <p:cNvPr id="122" name="Text 120"/>
          <p:cNvSpPr txBox="1"/>
          <p:nvPr/>
        </p:nvSpPr>
        <p:spPr>
          <a:xfrm>
            <a:off x="6208776" y="2884125"/>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123" name="Shape 121"/>
          <p:cNvSpPr/>
          <p:nvPr/>
        </p:nvSpPr>
        <p:spPr>
          <a:xfrm>
            <a:off x="8220456" y="2937376"/>
            <a:ext cx="101658" cy="130168"/>
          </a:xfrm>
          <a:prstGeom prst="rect">
            <a:avLst/>
          </a:prstGeom>
          <a:solidFill>
            <a:srgbClr val="2587C5"/>
          </a:solidFill>
          <a:ln/>
        </p:spPr>
      </p:sp>
      <p:sp>
        <p:nvSpPr>
          <p:cNvPr id="124" name="Text 122"/>
          <p:cNvSpPr txBox="1"/>
          <p:nvPr/>
        </p:nvSpPr>
        <p:spPr>
          <a:xfrm>
            <a:off x="8970264" y="2884125"/>
            <a:ext cx="950976"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$220,335</a:t>
            </a:r>
            <a:endParaRPr lang="en-US" sz="1300" dirty="0"/>
          </a:p>
        </p:txBody>
      </p:sp>
      <p:sp>
        <p:nvSpPr>
          <p:cNvPr id="125" name="Text 123"/>
          <p:cNvSpPr txBox="1"/>
          <p:nvPr/>
        </p:nvSpPr>
        <p:spPr>
          <a:xfrm>
            <a:off x="9921240" y="2884125"/>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$15,966</a:t>
            </a:r>
            <a:endParaRPr lang="en-US" sz="1300" dirty="0"/>
          </a:p>
        </p:txBody>
      </p:sp>
      <p:sp>
        <p:nvSpPr>
          <p:cNvPr id="126" name="Text 124"/>
          <p:cNvSpPr txBox="1"/>
          <p:nvPr/>
        </p:nvSpPr>
        <p:spPr>
          <a:xfrm>
            <a:off x="10671048" y="2884125"/>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$16,765</a:t>
            </a:r>
            <a:endParaRPr lang="en-US" sz="1300" dirty="0"/>
          </a:p>
        </p:txBody>
      </p:sp>
      <p:sp>
        <p:nvSpPr>
          <p:cNvPr id="127" name="Text 125"/>
          <p:cNvSpPr txBox="1"/>
          <p:nvPr/>
        </p:nvSpPr>
        <p:spPr>
          <a:xfrm>
            <a:off x="6208776" y="3120793"/>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128" name="Shape 126"/>
          <p:cNvSpPr/>
          <p:nvPr/>
        </p:nvSpPr>
        <p:spPr>
          <a:xfrm>
            <a:off x="8220456" y="3174044"/>
            <a:ext cx="91723" cy="130168"/>
          </a:xfrm>
          <a:prstGeom prst="rect">
            <a:avLst/>
          </a:prstGeom>
          <a:solidFill>
            <a:srgbClr val="2587C5"/>
          </a:solidFill>
          <a:ln/>
        </p:spPr>
      </p:sp>
      <p:sp>
        <p:nvSpPr>
          <p:cNvPr id="129" name="Text 127"/>
          <p:cNvSpPr txBox="1"/>
          <p:nvPr/>
        </p:nvSpPr>
        <p:spPr>
          <a:xfrm>
            <a:off x="8970264" y="3120793"/>
            <a:ext cx="950976"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$198,802</a:t>
            </a:r>
            <a:endParaRPr lang="en-US" sz="1300" dirty="0"/>
          </a:p>
        </p:txBody>
      </p:sp>
      <p:sp>
        <p:nvSpPr>
          <p:cNvPr id="130" name="Text 128"/>
          <p:cNvSpPr txBox="1"/>
          <p:nvPr/>
        </p:nvSpPr>
        <p:spPr>
          <a:xfrm>
            <a:off x="9921240" y="3120793"/>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$10,963</a:t>
            </a:r>
            <a:endParaRPr lang="en-US" sz="1300" dirty="0"/>
          </a:p>
        </p:txBody>
      </p:sp>
      <p:sp>
        <p:nvSpPr>
          <p:cNvPr id="131" name="Text 129"/>
          <p:cNvSpPr txBox="1"/>
          <p:nvPr/>
        </p:nvSpPr>
        <p:spPr>
          <a:xfrm>
            <a:off x="10671048" y="3120793"/>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$11,511</a:t>
            </a:r>
            <a:endParaRPr lang="en-US" sz="1300" dirty="0"/>
          </a:p>
        </p:txBody>
      </p:sp>
      <p:sp>
        <p:nvSpPr>
          <p:cNvPr id="132" name="Text 130"/>
          <p:cNvSpPr txBox="1"/>
          <p:nvPr/>
        </p:nvSpPr>
        <p:spPr>
          <a:xfrm>
            <a:off x="6208776" y="3357462"/>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133" name="Shape 131"/>
          <p:cNvSpPr/>
          <p:nvPr/>
        </p:nvSpPr>
        <p:spPr>
          <a:xfrm>
            <a:off x="8220456" y="3410712"/>
            <a:ext cx="88990" cy="130168"/>
          </a:xfrm>
          <a:prstGeom prst="rect">
            <a:avLst/>
          </a:prstGeom>
          <a:solidFill>
            <a:srgbClr val="2587C5"/>
          </a:solidFill>
          <a:ln/>
        </p:spPr>
      </p:sp>
      <p:sp>
        <p:nvSpPr>
          <p:cNvPr id="134" name="Text 132"/>
          <p:cNvSpPr txBox="1"/>
          <p:nvPr/>
        </p:nvSpPr>
        <p:spPr>
          <a:xfrm>
            <a:off x="8970264" y="3357462"/>
            <a:ext cx="950976"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$192,877</a:t>
            </a:r>
            <a:endParaRPr lang="en-US" sz="1300" dirty="0"/>
          </a:p>
        </p:txBody>
      </p:sp>
      <p:sp>
        <p:nvSpPr>
          <p:cNvPr id="135" name="Text 133"/>
          <p:cNvSpPr txBox="1"/>
          <p:nvPr/>
        </p:nvSpPr>
        <p:spPr>
          <a:xfrm>
            <a:off x="9921240" y="3357462"/>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$12,364</a:t>
            </a:r>
            <a:endParaRPr lang="en-US" sz="1300" dirty="0"/>
          </a:p>
        </p:txBody>
      </p:sp>
      <p:sp>
        <p:nvSpPr>
          <p:cNvPr id="136" name="Text 134"/>
          <p:cNvSpPr txBox="1"/>
          <p:nvPr/>
        </p:nvSpPr>
        <p:spPr>
          <a:xfrm>
            <a:off x="10671048" y="3357462"/>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$12,982</a:t>
            </a:r>
            <a:endParaRPr lang="en-US" sz="1300" dirty="0"/>
          </a:p>
        </p:txBody>
      </p:sp>
      <p:sp>
        <p:nvSpPr>
          <p:cNvPr id="137" name="Text 135"/>
          <p:cNvSpPr txBox="1"/>
          <p:nvPr/>
        </p:nvSpPr>
        <p:spPr>
          <a:xfrm>
            <a:off x="6208776" y="3594130"/>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138" name="Shape 136"/>
          <p:cNvSpPr/>
          <p:nvPr/>
        </p:nvSpPr>
        <p:spPr>
          <a:xfrm>
            <a:off x="8220456" y="3647380"/>
            <a:ext cx="83056" cy="130168"/>
          </a:xfrm>
          <a:prstGeom prst="rect">
            <a:avLst/>
          </a:prstGeom>
          <a:solidFill>
            <a:srgbClr val="2587C5"/>
          </a:solidFill>
          <a:ln/>
        </p:spPr>
      </p:sp>
      <p:sp>
        <p:nvSpPr>
          <p:cNvPr id="139" name="Text 137"/>
          <p:cNvSpPr txBox="1"/>
          <p:nvPr/>
        </p:nvSpPr>
        <p:spPr>
          <a:xfrm>
            <a:off x="8970264" y="3594130"/>
            <a:ext cx="950976"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$180,016</a:t>
            </a:r>
            <a:endParaRPr lang="en-US" sz="1300" dirty="0"/>
          </a:p>
        </p:txBody>
      </p:sp>
      <p:sp>
        <p:nvSpPr>
          <p:cNvPr id="140" name="Text 138"/>
          <p:cNvSpPr txBox="1"/>
          <p:nvPr/>
        </p:nvSpPr>
        <p:spPr>
          <a:xfrm>
            <a:off x="9921240" y="3594130"/>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$12,501</a:t>
            </a:r>
            <a:endParaRPr lang="en-US" sz="1300" dirty="0"/>
          </a:p>
        </p:txBody>
      </p:sp>
      <p:sp>
        <p:nvSpPr>
          <p:cNvPr id="141" name="Text 139"/>
          <p:cNvSpPr txBox="1"/>
          <p:nvPr/>
        </p:nvSpPr>
        <p:spPr>
          <a:xfrm>
            <a:off x="10671048" y="3594130"/>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$13,126</a:t>
            </a:r>
            <a:endParaRPr lang="en-US" sz="1300" dirty="0"/>
          </a:p>
        </p:txBody>
      </p:sp>
      <p:sp>
        <p:nvSpPr>
          <p:cNvPr id="142" name="Text 140"/>
          <p:cNvSpPr txBox="1"/>
          <p:nvPr/>
        </p:nvSpPr>
        <p:spPr>
          <a:xfrm>
            <a:off x="6208776" y="3830798"/>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143" name="Shape 141"/>
          <p:cNvSpPr/>
          <p:nvPr/>
        </p:nvSpPr>
        <p:spPr>
          <a:xfrm>
            <a:off x="8220456" y="3884048"/>
            <a:ext cx="71851" cy="130168"/>
          </a:xfrm>
          <a:prstGeom prst="rect">
            <a:avLst/>
          </a:prstGeom>
          <a:solidFill>
            <a:srgbClr val="2587C5"/>
          </a:solidFill>
          <a:ln/>
        </p:spPr>
      </p:sp>
      <p:sp>
        <p:nvSpPr>
          <p:cNvPr id="144" name="Text 142"/>
          <p:cNvSpPr txBox="1"/>
          <p:nvPr/>
        </p:nvSpPr>
        <p:spPr>
          <a:xfrm>
            <a:off x="8970264" y="3830798"/>
            <a:ext cx="950976"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$155,730</a:t>
            </a:r>
            <a:endParaRPr lang="en-US" sz="1300" dirty="0"/>
          </a:p>
        </p:txBody>
      </p:sp>
      <p:sp>
        <p:nvSpPr>
          <p:cNvPr id="145" name="Text 143"/>
          <p:cNvSpPr txBox="1"/>
          <p:nvPr/>
        </p:nvSpPr>
        <p:spPr>
          <a:xfrm>
            <a:off x="9921240" y="3830798"/>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$12,103</a:t>
            </a:r>
            <a:endParaRPr lang="en-US" sz="1300" dirty="0"/>
          </a:p>
        </p:txBody>
      </p:sp>
      <p:sp>
        <p:nvSpPr>
          <p:cNvPr id="146" name="Text 144"/>
          <p:cNvSpPr txBox="1"/>
          <p:nvPr/>
        </p:nvSpPr>
        <p:spPr>
          <a:xfrm>
            <a:off x="10671048" y="3830798"/>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$12,709</a:t>
            </a:r>
            <a:endParaRPr lang="en-US" sz="1300" dirty="0"/>
          </a:p>
        </p:txBody>
      </p:sp>
      <p:sp>
        <p:nvSpPr>
          <p:cNvPr id="147" name="Text 145"/>
          <p:cNvSpPr txBox="1"/>
          <p:nvPr/>
        </p:nvSpPr>
        <p:spPr>
          <a:xfrm>
            <a:off x="6208776" y="4067466"/>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148" name="Shape 146"/>
          <p:cNvSpPr/>
          <p:nvPr/>
        </p:nvSpPr>
        <p:spPr>
          <a:xfrm>
            <a:off x="8220456" y="4120717"/>
            <a:ext cx="70289" cy="130168"/>
          </a:xfrm>
          <a:prstGeom prst="rect">
            <a:avLst/>
          </a:prstGeom>
          <a:solidFill>
            <a:srgbClr val="2587C5"/>
          </a:solidFill>
          <a:ln/>
        </p:spPr>
      </p:sp>
      <p:sp>
        <p:nvSpPr>
          <p:cNvPr id="149" name="Text 147"/>
          <p:cNvSpPr txBox="1"/>
          <p:nvPr/>
        </p:nvSpPr>
        <p:spPr>
          <a:xfrm>
            <a:off x="8970264" y="4067466"/>
            <a:ext cx="950976"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$152,344</a:t>
            </a:r>
            <a:endParaRPr lang="en-US" sz="1300" dirty="0"/>
          </a:p>
        </p:txBody>
      </p:sp>
      <p:sp>
        <p:nvSpPr>
          <p:cNvPr id="150" name="Text 148"/>
          <p:cNvSpPr txBox="1"/>
          <p:nvPr/>
        </p:nvSpPr>
        <p:spPr>
          <a:xfrm>
            <a:off x="9921240" y="4067466"/>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$11,541</a:t>
            </a:r>
            <a:endParaRPr lang="en-US" sz="1300" dirty="0"/>
          </a:p>
        </p:txBody>
      </p:sp>
      <p:sp>
        <p:nvSpPr>
          <p:cNvPr id="151" name="Text 149"/>
          <p:cNvSpPr txBox="1"/>
          <p:nvPr/>
        </p:nvSpPr>
        <p:spPr>
          <a:xfrm>
            <a:off x="10671048" y="4067466"/>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$12,118</a:t>
            </a:r>
            <a:endParaRPr lang="en-US" sz="1300" dirty="0"/>
          </a:p>
        </p:txBody>
      </p:sp>
      <p:sp>
        <p:nvSpPr>
          <p:cNvPr id="152" name="Text 150"/>
          <p:cNvSpPr txBox="1"/>
          <p:nvPr/>
        </p:nvSpPr>
        <p:spPr>
          <a:xfrm>
            <a:off x="6208776" y="4304135"/>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153" name="Shape 151"/>
          <p:cNvSpPr/>
          <p:nvPr/>
        </p:nvSpPr>
        <p:spPr>
          <a:xfrm>
            <a:off x="8220456" y="4357385"/>
            <a:ext cx="69822" cy="130168"/>
          </a:xfrm>
          <a:prstGeom prst="rect">
            <a:avLst/>
          </a:prstGeom>
          <a:solidFill>
            <a:srgbClr val="2587C5"/>
          </a:solidFill>
          <a:ln/>
        </p:spPr>
      </p:sp>
      <p:sp>
        <p:nvSpPr>
          <p:cNvPr id="154" name="Text 152"/>
          <p:cNvSpPr txBox="1"/>
          <p:nvPr/>
        </p:nvSpPr>
        <p:spPr>
          <a:xfrm>
            <a:off x="8970264" y="4304135"/>
            <a:ext cx="950976"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$151,334</a:t>
            </a:r>
            <a:endParaRPr lang="en-US" sz="1300" dirty="0"/>
          </a:p>
        </p:txBody>
      </p:sp>
      <p:sp>
        <p:nvSpPr>
          <p:cNvPr id="155" name="Text 153"/>
          <p:cNvSpPr txBox="1"/>
          <p:nvPr/>
        </p:nvSpPr>
        <p:spPr>
          <a:xfrm>
            <a:off x="9921240" y="4304135"/>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$9,498</a:t>
            </a:r>
            <a:endParaRPr lang="en-US" sz="1300" dirty="0"/>
          </a:p>
        </p:txBody>
      </p:sp>
      <p:sp>
        <p:nvSpPr>
          <p:cNvPr id="156" name="Text 154"/>
          <p:cNvSpPr txBox="1"/>
          <p:nvPr/>
        </p:nvSpPr>
        <p:spPr>
          <a:xfrm>
            <a:off x="10671048" y="4304135"/>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$9,973</a:t>
            </a:r>
            <a:endParaRPr lang="en-US" sz="1300" dirty="0"/>
          </a:p>
        </p:txBody>
      </p:sp>
      <p:sp>
        <p:nvSpPr>
          <p:cNvPr id="157" name="Text 155"/>
          <p:cNvSpPr txBox="1"/>
          <p:nvPr/>
        </p:nvSpPr>
        <p:spPr>
          <a:xfrm>
            <a:off x="6208776" y="4540803"/>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158" name="Shape 156"/>
          <p:cNvSpPr/>
          <p:nvPr/>
        </p:nvSpPr>
        <p:spPr>
          <a:xfrm>
            <a:off x="8220456" y="4594053"/>
            <a:ext cx="67909" cy="130168"/>
          </a:xfrm>
          <a:prstGeom prst="rect">
            <a:avLst/>
          </a:prstGeom>
          <a:solidFill>
            <a:srgbClr val="2587C5"/>
          </a:solidFill>
          <a:ln/>
        </p:spPr>
      </p:sp>
      <p:sp>
        <p:nvSpPr>
          <p:cNvPr id="159" name="Text 157"/>
          <p:cNvSpPr txBox="1"/>
          <p:nvPr/>
        </p:nvSpPr>
        <p:spPr>
          <a:xfrm>
            <a:off x="8970264" y="4540803"/>
            <a:ext cx="950976"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$147,187</a:t>
            </a:r>
            <a:endParaRPr lang="en-US" sz="1300" dirty="0"/>
          </a:p>
        </p:txBody>
      </p:sp>
      <p:sp>
        <p:nvSpPr>
          <p:cNvPr id="160" name="Text 158"/>
          <p:cNvSpPr txBox="1"/>
          <p:nvPr/>
        </p:nvSpPr>
        <p:spPr>
          <a:xfrm>
            <a:off x="9921240" y="4540803"/>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$15,226</a:t>
            </a:r>
            <a:endParaRPr lang="en-US" sz="1300" dirty="0"/>
          </a:p>
        </p:txBody>
      </p:sp>
      <p:sp>
        <p:nvSpPr>
          <p:cNvPr id="161" name="Text 159"/>
          <p:cNvSpPr txBox="1"/>
          <p:nvPr/>
        </p:nvSpPr>
        <p:spPr>
          <a:xfrm>
            <a:off x="10671048" y="4540803"/>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$15,988</a:t>
            </a:r>
            <a:endParaRPr lang="en-US" sz="1300" dirty="0"/>
          </a:p>
        </p:txBody>
      </p:sp>
      <p:sp>
        <p:nvSpPr>
          <p:cNvPr id="162" name="Text 160"/>
          <p:cNvSpPr txBox="1"/>
          <p:nvPr/>
        </p:nvSpPr>
        <p:spPr>
          <a:xfrm>
            <a:off x="6208776" y="4777471"/>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163" name="Shape 161"/>
          <p:cNvSpPr/>
          <p:nvPr/>
        </p:nvSpPr>
        <p:spPr>
          <a:xfrm>
            <a:off x="8220456" y="4830721"/>
            <a:ext cx="48967" cy="130168"/>
          </a:xfrm>
          <a:prstGeom prst="rect">
            <a:avLst/>
          </a:prstGeom>
          <a:solidFill>
            <a:srgbClr val="2587C5"/>
          </a:solidFill>
          <a:ln/>
        </p:spPr>
      </p:sp>
      <p:sp>
        <p:nvSpPr>
          <p:cNvPr id="164" name="Text 162"/>
          <p:cNvSpPr txBox="1"/>
          <p:nvPr/>
        </p:nvSpPr>
        <p:spPr>
          <a:xfrm>
            <a:off x="8970264" y="4777471"/>
            <a:ext cx="950976"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$106,131</a:t>
            </a:r>
            <a:endParaRPr lang="en-US" sz="1300" dirty="0"/>
          </a:p>
        </p:txBody>
      </p:sp>
      <p:sp>
        <p:nvSpPr>
          <p:cNvPr id="165" name="Text 163"/>
          <p:cNvSpPr txBox="1"/>
          <p:nvPr/>
        </p:nvSpPr>
        <p:spPr>
          <a:xfrm>
            <a:off x="9921240" y="4777471"/>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$9,149</a:t>
            </a:r>
            <a:endParaRPr lang="en-US" sz="1300" dirty="0"/>
          </a:p>
        </p:txBody>
      </p:sp>
      <p:sp>
        <p:nvSpPr>
          <p:cNvPr id="166" name="Text 164"/>
          <p:cNvSpPr txBox="1"/>
          <p:nvPr/>
        </p:nvSpPr>
        <p:spPr>
          <a:xfrm>
            <a:off x="10671048" y="4777471"/>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$9,607</a:t>
            </a:r>
            <a:endParaRPr lang="en-US" sz="1300" dirty="0"/>
          </a:p>
        </p:txBody>
      </p:sp>
      <p:sp>
        <p:nvSpPr>
          <p:cNvPr id="167" name="Text 165"/>
          <p:cNvSpPr txBox="1"/>
          <p:nvPr/>
        </p:nvSpPr>
        <p:spPr>
          <a:xfrm>
            <a:off x="6208776" y="5014139"/>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68" name="Shape 166"/>
          <p:cNvSpPr/>
          <p:nvPr/>
        </p:nvSpPr>
        <p:spPr>
          <a:xfrm>
            <a:off x="8220456" y="5067390"/>
            <a:ext cx="47223" cy="130168"/>
          </a:xfrm>
          <a:prstGeom prst="rect">
            <a:avLst/>
          </a:prstGeom>
          <a:solidFill>
            <a:srgbClr val="2587C5"/>
          </a:solidFill>
          <a:ln/>
        </p:spPr>
      </p:sp>
      <p:sp>
        <p:nvSpPr>
          <p:cNvPr id="169" name="Text 167"/>
          <p:cNvSpPr txBox="1"/>
          <p:nvPr/>
        </p:nvSpPr>
        <p:spPr>
          <a:xfrm>
            <a:off x="8970264" y="5014139"/>
            <a:ext cx="950976"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$102,351</a:t>
            </a:r>
            <a:endParaRPr lang="en-US" sz="1300" dirty="0"/>
          </a:p>
        </p:txBody>
      </p:sp>
      <p:sp>
        <p:nvSpPr>
          <p:cNvPr id="170" name="Text 168"/>
          <p:cNvSpPr txBox="1"/>
          <p:nvPr/>
        </p:nvSpPr>
        <p:spPr>
          <a:xfrm>
            <a:off x="9921240" y="5014139"/>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$11,631</a:t>
            </a:r>
            <a:endParaRPr lang="en-US" sz="1300" dirty="0"/>
          </a:p>
        </p:txBody>
      </p:sp>
      <p:sp>
        <p:nvSpPr>
          <p:cNvPr id="171" name="Text 169"/>
          <p:cNvSpPr txBox="1"/>
          <p:nvPr/>
        </p:nvSpPr>
        <p:spPr>
          <a:xfrm>
            <a:off x="10671048" y="5014139"/>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$12,212</a:t>
            </a:r>
            <a:endParaRPr lang="en-US" sz="1300" dirty="0"/>
          </a:p>
        </p:txBody>
      </p:sp>
      <p:sp>
        <p:nvSpPr>
          <p:cNvPr id="172" name="Text 170"/>
          <p:cNvSpPr txBox="1"/>
          <p:nvPr/>
        </p:nvSpPr>
        <p:spPr>
          <a:xfrm>
            <a:off x="6208776" y="5250808"/>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173" name="Shape 171"/>
          <p:cNvSpPr/>
          <p:nvPr/>
        </p:nvSpPr>
        <p:spPr>
          <a:xfrm>
            <a:off x="8220456" y="5304058"/>
            <a:ext cx="29775" cy="130168"/>
          </a:xfrm>
          <a:prstGeom prst="rect">
            <a:avLst/>
          </a:prstGeom>
          <a:solidFill>
            <a:srgbClr val="2587C5"/>
          </a:solidFill>
          <a:ln/>
        </p:spPr>
      </p:sp>
      <p:sp>
        <p:nvSpPr>
          <p:cNvPr id="174" name="Text 172"/>
          <p:cNvSpPr txBox="1"/>
          <p:nvPr/>
        </p:nvSpPr>
        <p:spPr>
          <a:xfrm>
            <a:off x="8970264" y="5250808"/>
            <a:ext cx="950976"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$64,535</a:t>
            </a:r>
            <a:endParaRPr lang="en-US" sz="1300" dirty="0"/>
          </a:p>
        </p:txBody>
      </p:sp>
      <p:sp>
        <p:nvSpPr>
          <p:cNvPr id="175" name="Text 173"/>
          <p:cNvSpPr txBox="1"/>
          <p:nvPr/>
        </p:nvSpPr>
        <p:spPr>
          <a:xfrm>
            <a:off x="9921240" y="5250808"/>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$9,878</a:t>
            </a:r>
            <a:endParaRPr lang="en-US" sz="1300" dirty="0"/>
          </a:p>
        </p:txBody>
      </p:sp>
      <p:sp>
        <p:nvSpPr>
          <p:cNvPr id="176" name="Text 174"/>
          <p:cNvSpPr txBox="1"/>
          <p:nvPr/>
        </p:nvSpPr>
        <p:spPr>
          <a:xfrm>
            <a:off x="10671048" y="5250808"/>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$10,372</a:t>
            </a:r>
            <a:endParaRPr lang="en-US" sz="1300" dirty="0"/>
          </a:p>
        </p:txBody>
      </p:sp>
      <p:sp>
        <p:nvSpPr>
          <p:cNvPr id="177" name="Shape 175"/>
          <p:cNvSpPr/>
          <p:nvPr/>
        </p:nvSpPr>
        <p:spPr>
          <a:xfrm>
            <a:off x="457200" y="5961888"/>
            <a:ext cx="11274552" cy="548640"/>
          </a:xfrm>
          <a:prstGeom prst="rect">
            <a:avLst/>
          </a:prstGeom>
          <a:solidFill>
            <a:srgbClr val="E6F6EE"/>
          </a:solidFill>
          <a:ln/>
        </p:spPr>
      </p:sp>
      <p:sp>
        <p:nvSpPr>
          <p:cNvPr id="178" name="Text 176"/>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5% more gross from the people already on staff is worth $12,586,648 a year. For the average employee that is $681 more a month, about $27 a working day.</a:t>
            </a:r>
            <a:endParaRPr lang="en-US" sz="1600" dirty="0"/>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TECHNICIAN PROFICIENCY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Technicians &amp; Stalls</a:t>
            </a:r>
            <a:endParaRPr lang="en-US" sz="2800" dirty="0"/>
          </a:p>
        </p:txBody>
      </p:sp>
      <p:sp>
        <p:nvSpPr>
          <p:cNvPr id="5" name="Shape 3"/>
          <p:cNvSpPr/>
          <p:nvPr/>
        </p:nvSpPr>
        <p:spPr>
          <a:xfrm>
            <a:off x="457200" y="1207008"/>
            <a:ext cx="6400800" cy="4645152"/>
          </a:xfrm>
          <a:prstGeom prst="rect">
            <a:avLst/>
          </a:prstGeom>
          <a:solidFill>
            <a:srgbClr val="FFFFFF"/>
          </a:solidFill>
          <a:ln/>
        </p:spPr>
      </p:sp>
      <p:sp>
        <p:nvSpPr>
          <p:cNvPr id="6" name="Shape 4"/>
          <p:cNvSpPr/>
          <p:nvPr/>
        </p:nvSpPr>
        <p:spPr>
          <a:xfrm>
            <a:off x="7022592" y="1207008"/>
            <a:ext cx="4709160" cy="4645152"/>
          </a:xfrm>
          <a:prstGeom prst="rect">
            <a:avLst/>
          </a:prstGeom>
          <a:solidFill>
            <a:srgbClr val="FFFFFF"/>
          </a:solidFill>
          <a:ln/>
        </p:spPr>
      </p:sp>
      <p:sp>
        <p:nvSpPr>
          <p:cNvPr id="7" name="Text 5"/>
          <p:cNvSpPr txBox="1"/>
          <p:nvPr/>
        </p:nvSpPr>
        <p:spPr>
          <a:xfrm>
            <a:off x="713232" y="1371600"/>
            <a:ext cx="5943600" cy="310896"/>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WE SAID · ROUNDTABLE &amp; GM MEETINGS</a:t>
            </a:r>
            <a:endParaRPr lang="en-US" sz="1400" dirty="0"/>
          </a:p>
        </p:txBody>
      </p:sp>
      <p:sp>
        <p:nvSpPr>
          <p:cNvPr id="8" name="Text 6"/>
          <p:cNvSpPr txBox="1"/>
          <p:nvPr/>
        </p:nvSpPr>
        <p:spPr>
          <a:xfrm>
            <a:off x="7269480" y="1371600"/>
            <a:ext cx="4297680" cy="310896"/>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WHERE WE ARE · JAN–SEP 2026</a:t>
            </a:r>
            <a:endParaRPr lang="en-US" sz="1400" dirty="0"/>
          </a:p>
        </p:txBody>
      </p:sp>
      <p:sp>
        <p:nvSpPr>
          <p:cNvPr id="9" name="Shape 7"/>
          <p:cNvSpPr/>
          <p:nvPr/>
        </p:nvSpPr>
        <p:spPr>
          <a:xfrm>
            <a:off x="713232" y="1737360"/>
            <a:ext cx="5897880" cy="10973"/>
          </a:xfrm>
          <a:prstGeom prst="rect">
            <a:avLst/>
          </a:prstGeom>
          <a:solidFill>
            <a:srgbClr val="D9D9D9"/>
          </a:solidFill>
          <a:ln/>
        </p:spPr>
      </p:sp>
      <p:sp>
        <p:nvSpPr>
          <p:cNvPr id="10" name="Shape 8"/>
          <p:cNvSpPr/>
          <p:nvPr/>
        </p:nvSpPr>
        <p:spPr>
          <a:xfrm>
            <a:off x="7269480" y="1737360"/>
            <a:ext cx="4224528" cy="10973"/>
          </a:xfrm>
          <a:prstGeom prst="rect">
            <a:avLst/>
          </a:prstGeom>
          <a:solidFill>
            <a:srgbClr val="D9D9D9"/>
          </a:solidFill>
          <a:ln/>
        </p:spPr>
      </p:sp>
      <p:sp>
        <p:nvSpPr>
          <p:cNvPr id="11" name="Text 9"/>
          <p:cNvSpPr txBox="1"/>
          <p:nvPr/>
        </p:nvSpPr>
        <p:spPr>
          <a:xfrm>
            <a:off x="713232" y="1874520"/>
            <a:ext cx="5897880" cy="384048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1:1 tech to stall unless you run on-demand appointments</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Tech level in line with job skill: right tech, right job</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5/6 of staff on schedule at all times, Saturdays included</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90%+ MPI completion; track and report technician efficiency</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Use scoreboarding and Teams to show techs where they stand</a:t>
            </a:r>
            <a:endParaRPr lang="en-US" sz="1800" dirty="0"/>
          </a:p>
        </p:txBody>
      </p:sp>
      <p:sp>
        <p:nvSpPr>
          <p:cNvPr id="12" name="Shape 10"/>
          <p:cNvSpPr/>
          <p:nvPr/>
        </p:nvSpPr>
        <p:spPr>
          <a:xfrm>
            <a:off x="7269480" y="1920240"/>
            <a:ext cx="54864" cy="1066800"/>
          </a:xfrm>
          <a:prstGeom prst="rect">
            <a:avLst/>
          </a:prstGeom>
          <a:solidFill>
            <a:srgbClr val="12A566"/>
          </a:solidFill>
          <a:ln/>
        </p:spPr>
      </p:sp>
      <p:sp>
        <p:nvSpPr>
          <p:cNvPr id="13" name="Text 11"/>
          <p:cNvSpPr txBox="1"/>
          <p:nvPr/>
        </p:nvSpPr>
        <p:spPr>
          <a:xfrm>
            <a:off x="7452360" y="187452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7A4A"/>
                </a:solidFill>
                <a:latin typeface="Inter" pitchFamily="34" charset="0"/>
                <a:ea typeface="Inter" pitchFamily="34" charset="-122"/>
                <a:cs typeface="Inter" pitchFamily="34" charset="-120"/>
              </a:rPr>
              <a:t>94.7%</a:t>
            </a:r>
            <a:endParaRPr lang="en-US" sz="3000" dirty="0"/>
          </a:p>
        </p:txBody>
      </p:sp>
      <p:sp>
        <p:nvSpPr>
          <p:cNvPr id="14" name="Text 12"/>
          <p:cNvSpPr txBox="1"/>
          <p:nvPr/>
        </p:nvSpPr>
        <p:spPr>
          <a:xfrm>
            <a:off x="7452360" y="2441448"/>
            <a:ext cx="4023360" cy="56388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Group technician proficiency (sold hours / paid hours). 20 of 33 stores at or above 85%.</a:t>
            </a:r>
            <a:endParaRPr lang="en-US" sz="1400" dirty="0"/>
          </a:p>
        </p:txBody>
      </p:sp>
      <p:sp>
        <p:nvSpPr>
          <p:cNvPr id="15" name="Shape 13"/>
          <p:cNvSpPr/>
          <p:nvPr/>
        </p:nvSpPr>
        <p:spPr>
          <a:xfrm>
            <a:off x="7269480" y="3215640"/>
            <a:ext cx="54864" cy="1066800"/>
          </a:xfrm>
          <a:prstGeom prst="rect">
            <a:avLst/>
          </a:prstGeom>
          <a:solidFill>
            <a:srgbClr val="C2352F"/>
          </a:solidFill>
          <a:ln/>
        </p:spPr>
      </p:sp>
      <p:sp>
        <p:nvSpPr>
          <p:cNvPr id="16" name="Text 14"/>
          <p:cNvSpPr txBox="1"/>
          <p:nvPr/>
        </p:nvSpPr>
        <p:spPr>
          <a:xfrm>
            <a:off x="7452360" y="3169920"/>
            <a:ext cx="4023360" cy="566928"/>
          </a:xfrm>
          <a:prstGeom prst="rect">
            <a:avLst/>
          </a:prstGeom>
          <a:noFill/>
          <a:ln/>
        </p:spPr>
        <p:txBody>
          <a:bodyPr wrap="square" lIns="0" tIns="0" rIns="0" bIns="0" rtlCol="0" anchor="ctr">
            <a:normAutofit/>
          </a:bodyPr>
          <a:lstStyle/>
          <a:p>
            <a:pPr indent="0" marL="0">
              <a:buNone/>
            </a:pPr>
            <a:r>
              <a:rPr lang="en-US" sz="3000" b="1" dirty="0">
                <a:solidFill>
                  <a:srgbClr val="A82B26"/>
                </a:solidFill>
                <a:latin typeface="Inter" pitchFamily="34" charset="0"/>
                <a:ea typeface="Inter" pitchFamily="34" charset="-122"/>
                <a:cs typeface="Inter" pitchFamily="34" charset="-120"/>
              </a:rPr>
              <a:t>262 of 583</a:t>
            </a:r>
            <a:endParaRPr lang="en-US" sz="3000" dirty="0"/>
          </a:p>
        </p:txBody>
      </p:sp>
      <p:sp>
        <p:nvSpPr>
          <p:cNvPr id="17" name="Text 15"/>
          <p:cNvSpPr txBox="1"/>
          <p:nvPr/>
        </p:nvSpPr>
        <p:spPr>
          <a:xfrm>
            <a:off x="7452360" y="3736848"/>
            <a:ext cx="4023360" cy="56388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Counted technicians under 85%. Every store has at least one.</a:t>
            </a:r>
            <a:endParaRPr lang="en-US" sz="1400" dirty="0"/>
          </a:p>
        </p:txBody>
      </p:sp>
      <p:sp>
        <p:nvSpPr>
          <p:cNvPr id="18" name="Shape 16"/>
          <p:cNvSpPr/>
          <p:nvPr/>
        </p:nvSpPr>
        <p:spPr>
          <a:xfrm>
            <a:off x="7269480" y="4511040"/>
            <a:ext cx="54864" cy="1066800"/>
          </a:xfrm>
          <a:prstGeom prst="rect">
            <a:avLst/>
          </a:prstGeom>
          <a:solidFill>
            <a:srgbClr val="C2352F"/>
          </a:solidFill>
          <a:ln/>
        </p:spPr>
      </p:sp>
      <p:sp>
        <p:nvSpPr>
          <p:cNvPr id="19" name="Text 17"/>
          <p:cNvSpPr txBox="1"/>
          <p:nvPr/>
        </p:nvSpPr>
        <p:spPr>
          <a:xfrm>
            <a:off x="7452360" y="4465320"/>
            <a:ext cx="4023360" cy="566928"/>
          </a:xfrm>
          <a:prstGeom prst="rect">
            <a:avLst/>
          </a:prstGeom>
          <a:noFill/>
          <a:ln/>
        </p:spPr>
        <p:txBody>
          <a:bodyPr wrap="square" lIns="0" tIns="0" rIns="0" bIns="0" rtlCol="0" anchor="ctr">
            <a:normAutofit/>
          </a:bodyPr>
          <a:lstStyle/>
          <a:p>
            <a:pPr indent="0" marL="0">
              <a:buNone/>
            </a:pPr>
            <a:r>
              <a:rPr lang="en-US" sz="3000" b="1" dirty="0">
                <a:solidFill>
                  <a:srgbClr val="A82B26"/>
                </a:solidFill>
                <a:latin typeface="Inter" pitchFamily="34" charset="0"/>
                <a:ea typeface="Inter" pitchFamily="34" charset="-122"/>
                <a:cs typeface="Inter" pitchFamily="34" charset="-120"/>
              </a:rPr>
              <a:t>$1.65M a month</a:t>
            </a:r>
            <a:endParaRPr lang="en-US" sz="3000" dirty="0"/>
          </a:p>
        </p:txBody>
      </p:sp>
      <p:sp>
        <p:nvSpPr>
          <p:cNvPr id="20" name="Text 18"/>
          <p:cNvSpPr txBox="1"/>
          <p:nvPr/>
        </p:nvSpPr>
        <p:spPr>
          <a:xfrm>
            <a:off x="7452360" y="5032248"/>
            <a:ext cx="4023360" cy="56388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Gross missed if each of them reached 85%: no extra hours, techs or bays.</a:t>
            </a:r>
            <a:endParaRPr lang="en-US" sz="1400" dirty="0"/>
          </a:p>
        </p:txBody>
      </p:sp>
      <p:sp>
        <p:nvSpPr>
          <p:cNvPr id="21" name="Shape 19"/>
          <p:cNvSpPr/>
          <p:nvPr/>
        </p:nvSpPr>
        <p:spPr>
          <a:xfrm>
            <a:off x="457200" y="5961888"/>
            <a:ext cx="11274552" cy="548640"/>
          </a:xfrm>
          <a:prstGeom prst="rect">
            <a:avLst/>
          </a:prstGeom>
          <a:solidFill>
            <a:srgbClr val="EDF4FA"/>
          </a:solidFill>
          <a:ln/>
        </p:spPr>
      </p:sp>
      <p:sp>
        <p:nvSpPr>
          <p:cNvPr id="22" name="Text 20"/>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The ask: show every tech their own proficiency every week. The best techs in each store already prove 85% is possible.</a:t>
            </a:r>
            <a:endParaRPr lang="en-US" sz="1600" dirty="0"/>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TECHNICIAN PROFICIENCY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What Is Technician Proficiency?</a:t>
            </a:r>
            <a:endParaRPr lang="en-US" sz="2800" dirty="0"/>
          </a:p>
        </p:txBody>
      </p:sp>
      <p:sp>
        <p:nvSpPr>
          <p:cNvPr id="5" name="Shape 3"/>
          <p:cNvSpPr/>
          <p:nvPr/>
        </p:nvSpPr>
        <p:spPr>
          <a:xfrm>
            <a:off x="457200" y="1207008"/>
            <a:ext cx="11274552" cy="1024128"/>
          </a:xfrm>
          <a:prstGeom prst="rect">
            <a:avLst/>
          </a:prstGeom>
          <a:solidFill>
            <a:srgbClr val="EDF4FA"/>
          </a:solidFill>
          <a:ln/>
        </p:spPr>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400" b="1" dirty="0">
                <a:solidFill>
                  <a:srgbClr val="0B2C4A"/>
                </a:solidFill>
                <a:latin typeface="Inter" pitchFamily="34" charset="0"/>
                <a:ea typeface="Inter" pitchFamily="34" charset="-122"/>
                <a:cs typeface="Inter" pitchFamily="34" charset="-120"/>
              </a:rPr>
              <a:t>Proficiency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hours sold (flagged)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hours paid (clocked)</a:t>
            </a:r>
            <a:endParaRPr lang="en-US" sz="24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500" dirty="0">
                <a:solidFill>
                  <a:srgbClr val="595959"/>
                </a:solidFill>
                <a:latin typeface="Inter" pitchFamily="34" charset="0"/>
                <a:ea typeface="Inter" pitchFamily="34" charset="-122"/>
                <a:cs typeface="Inter" pitchFamily="34" charset="-120"/>
              </a:rPr>
              <a:t>How many hours a technician produces for every hour they are on the clock. 85% is on target; 100% or more is above.</a:t>
            </a:r>
            <a:endParaRPr lang="en-US" sz="1500" dirty="0"/>
          </a:p>
        </p:txBody>
      </p:sp>
      <p:sp>
        <p:nvSpPr>
          <p:cNvPr id="8" name="Text 6"/>
          <p:cNvSpPr txBox="1"/>
          <p:nvPr/>
        </p:nvSpPr>
        <p:spPr>
          <a:xfrm>
            <a:off x="457200" y="2340864"/>
            <a:ext cx="1828800" cy="457200"/>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A 40-HOUR WEEK</a:t>
            </a:r>
            <a:endParaRPr lang="en-US" sz="1400" dirty="0"/>
          </a:p>
        </p:txBody>
      </p:sp>
      <p:sp>
        <p:nvSpPr>
          <p:cNvPr id="9" name="Shape 7"/>
          <p:cNvSpPr/>
          <p:nvPr/>
        </p:nvSpPr>
        <p:spPr>
          <a:xfrm>
            <a:off x="2286000" y="2340864"/>
            <a:ext cx="3075432" cy="457200"/>
          </a:xfrm>
          <a:prstGeom prst="rect">
            <a:avLst/>
          </a:prstGeom>
          <a:solidFill>
            <a:srgbClr val="FFFFFF"/>
          </a:solidFill>
          <a:ln w="9525">
            <a:solidFill>
              <a:srgbClr val="D9D9D9"/>
            </a:solidFill>
            <a:prstDash val="solid"/>
          </a:ln>
        </p:spPr>
      </p:sp>
      <p:sp>
        <p:nvSpPr>
          <p:cNvPr id="10" name="Text 8"/>
          <p:cNvSpPr txBox="1"/>
          <p:nvPr/>
        </p:nvSpPr>
        <p:spPr>
          <a:xfrm>
            <a:off x="2359152" y="2340864"/>
            <a:ext cx="292912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Paid 40 hours  </a:t>
            </a:r>
            <a:pPr algn="ctr" indent="0" marL="0">
              <a:buNone/>
            </a:pPr>
            <a:r>
              <a:rPr lang="en-US" sz="1400" b="1" dirty="0">
                <a:solidFill>
                  <a:srgbClr val="0B2C4A"/>
                </a:solidFill>
                <a:latin typeface="Inter" pitchFamily="34" charset="0"/>
                <a:ea typeface="Inter" pitchFamily="34" charset="-122"/>
                <a:cs typeface="Inter" pitchFamily="34" charset="-120"/>
              </a:rPr>
              <a:t>sells 34</a:t>
            </a:r>
            <a:endParaRPr lang="en-US" sz="1400" dirty="0"/>
          </a:p>
        </p:txBody>
      </p:sp>
      <p:sp>
        <p:nvSpPr>
          <p:cNvPr id="11" name="Shape 9"/>
          <p:cNvSpPr/>
          <p:nvPr/>
        </p:nvSpPr>
        <p:spPr>
          <a:xfrm>
            <a:off x="5471160" y="2340864"/>
            <a:ext cx="3075432" cy="457200"/>
          </a:xfrm>
          <a:prstGeom prst="rect">
            <a:avLst/>
          </a:prstGeom>
          <a:solidFill>
            <a:srgbClr val="FFFFFF"/>
          </a:solidFill>
          <a:ln w="9525">
            <a:solidFill>
              <a:srgbClr val="D9D9D9"/>
            </a:solidFill>
            <a:prstDash val="solid"/>
          </a:ln>
        </p:spPr>
      </p:sp>
      <p:sp>
        <p:nvSpPr>
          <p:cNvPr id="12" name="Text 10"/>
          <p:cNvSpPr txBox="1"/>
          <p:nvPr/>
        </p:nvSpPr>
        <p:spPr>
          <a:xfrm>
            <a:off x="5544312" y="2340864"/>
            <a:ext cx="292912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Proficiency  </a:t>
            </a:r>
            <a:pPr algn="ctr" indent="0" marL="0">
              <a:buNone/>
            </a:pPr>
            <a:r>
              <a:rPr lang="en-US" sz="1400" b="1" dirty="0">
                <a:solidFill>
                  <a:srgbClr val="0B2C4A"/>
                </a:solidFill>
                <a:latin typeface="Inter" pitchFamily="34" charset="0"/>
                <a:ea typeface="Inter" pitchFamily="34" charset="-122"/>
                <a:cs typeface="Inter" pitchFamily="34" charset="-120"/>
              </a:rPr>
              <a:t>85%</a:t>
            </a:r>
            <a:endParaRPr lang="en-US" sz="1400" dirty="0"/>
          </a:p>
        </p:txBody>
      </p:sp>
      <p:sp>
        <p:nvSpPr>
          <p:cNvPr id="13" name="Shape 11"/>
          <p:cNvSpPr/>
          <p:nvPr/>
        </p:nvSpPr>
        <p:spPr>
          <a:xfrm>
            <a:off x="8656320" y="2340864"/>
            <a:ext cx="3075432" cy="457200"/>
          </a:xfrm>
          <a:prstGeom prst="rect">
            <a:avLst/>
          </a:prstGeom>
          <a:solidFill>
            <a:srgbClr val="FFFFFF"/>
          </a:solidFill>
          <a:ln w="9525">
            <a:solidFill>
              <a:srgbClr val="D9D9D9"/>
            </a:solidFill>
            <a:prstDash val="solid"/>
          </a:ln>
        </p:spPr>
      </p:sp>
      <p:sp>
        <p:nvSpPr>
          <p:cNvPr id="14" name="Text 12"/>
          <p:cNvSpPr txBox="1"/>
          <p:nvPr/>
        </p:nvSpPr>
        <p:spPr>
          <a:xfrm>
            <a:off x="8729472" y="2340864"/>
            <a:ext cx="292912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Sells 40  </a:t>
            </a:r>
            <a:pPr algn="ctr" indent="0" marL="0">
              <a:buNone/>
            </a:pPr>
            <a:r>
              <a:rPr lang="en-US" sz="1400" b="1" dirty="0">
                <a:solidFill>
                  <a:srgbClr val="0B2C4A"/>
                </a:solidFill>
                <a:latin typeface="Inter" pitchFamily="34" charset="0"/>
                <a:ea typeface="Inter" pitchFamily="34" charset="-122"/>
                <a:cs typeface="Inter" pitchFamily="34" charset="-120"/>
              </a:rPr>
              <a:t>100%</a:t>
            </a:r>
            <a:endParaRPr lang="en-US" sz="1400" dirty="0"/>
          </a:p>
        </p:txBody>
      </p:sp>
      <p:sp>
        <p:nvSpPr>
          <p:cNvPr id="15" name="Shape 13"/>
          <p:cNvSpPr/>
          <p:nvPr/>
        </p:nvSpPr>
        <p:spPr>
          <a:xfrm>
            <a:off x="457200" y="2907792"/>
            <a:ext cx="4343400" cy="2944368"/>
          </a:xfrm>
          <a:prstGeom prst="rect">
            <a:avLst/>
          </a:prstGeom>
          <a:solidFill>
            <a:srgbClr val="FFFFFF"/>
          </a:solidFill>
          <a:ln/>
        </p:spPr>
      </p:sp>
      <p:sp>
        <p:nvSpPr>
          <p:cNvPr id="16" name="Shape 14"/>
          <p:cNvSpPr/>
          <p:nvPr/>
        </p:nvSpPr>
        <p:spPr>
          <a:xfrm>
            <a:off x="4937760" y="2907792"/>
            <a:ext cx="6793992" cy="2944368"/>
          </a:xfrm>
          <a:prstGeom prst="rect">
            <a:avLst/>
          </a:prstGeom>
          <a:solidFill>
            <a:srgbClr val="FFFFFF"/>
          </a:solidFill>
          <a:ln/>
        </p:spPr>
      </p:sp>
      <p:sp>
        <p:nvSpPr>
          <p:cNvPr id="17" name="Text 15"/>
          <p:cNvSpPr txBox="1"/>
          <p:nvPr/>
        </p:nvSpPr>
        <p:spPr>
          <a:xfrm>
            <a:off x="658368" y="3035808"/>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WHY IT MATTERS</a:t>
            </a:r>
            <a:endParaRPr lang="en-US" sz="1400" dirty="0"/>
          </a:p>
        </p:txBody>
      </p:sp>
      <p:sp>
        <p:nvSpPr>
          <p:cNvPr id="18" name="Text 16"/>
          <p:cNvSpPr txBox="1"/>
          <p:nvPr/>
        </p:nvSpPr>
        <p:spPr>
          <a:xfrm>
            <a:off x="5138928" y="3035808"/>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MOVES IT</a:t>
            </a:r>
            <a:endParaRPr lang="en-US" sz="1400" dirty="0"/>
          </a:p>
        </p:txBody>
      </p:sp>
      <p:sp>
        <p:nvSpPr>
          <p:cNvPr id="19" name="Text 17"/>
          <p:cNvSpPr txBox="1"/>
          <p:nvPr/>
        </p:nvSpPr>
        <p:spPr>
          <a:xfrm>
            <a:off x="658368" y="3410712"/>
            <a:ext cx="3977640" cy="2304288"/>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The tech, bay and lift are already here; an unflagged hour can't be sold tomorrow.</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Flat-rate techs earn more as they produce more.</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It shows where workflow, not effort, is the problem.</a:t>
            </a:r>
            <a:endParaRPr lang="en-US" sz="1500" dirty="0"/>
          </a:p>
        </p:txBody>
      </p:sp>
      <p:sp>
        <p:nvSpPr>
          <p:cNvPr id="20" name="Shape 18"/>
          <p:cNvSpPr/>
          <p:nvPr/>
        </p:nvSpPr>
        <p:spPr>
          <a:xfrm>
            <a:off x="5138928" y="3410712"/>
            <a:ext cx="45720" cy="1065276"/>
          </a:xfrm>
          <a:prstGeom prst="rect">
            <a:avLst/>
          </a:prstGeom>
          <a:solidFill>
            <a:srgbClr val="2587C5"/>
          </a:solidFill>
          <a:ln/>
        </p:spPr>
      </p:sp>
      <p:sp>
        <p:nvSpPr>
          <p:cNvPr id="21" name="Text 19"/>
          <p:cNvSpPr txBox="1"/>
          <p:nvPr/>
        </p:nvSpPr>
        <p:spPr>
          <a:xfrm>
            <a:off x="5266944" y="3410712"/>
            <a:ext cx="1877568" cy="106527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Dispatch</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Work waiting at the bay; the right job to the right tech</a:t>
            </a:r>
            <a:endParaRPr lang="en-US" sz="1400" dirty="0"/>
          </a:p>
        </p:txBody>
      </p:sp>
      <p:sp>
        <p:nvSpPr>
          <p:cNvPr id="22" name="Shape 20"/>
          <p:cNvSpPr/>
          <p:nvPr/>
        </p:nvSpPr>
        <p:spPr>
          <a:xfrm>
            <a:off x="7309104" y="3410712"/>
            <a:ext cx="45720" cy="1065276"/>
          </a:xfrm>
          <a:prstGeom prst="rect">
            <a:avLst/>
          </a:prstGeom>
          <a:solidFill>
            <a:srgbClr val="2587C5"/>
          </a:solidFill>
          <a:ln/>
        </p:spPr>
      </p:sp>
      <p:sp>
        <p:nvSpPr>
          <p:cNvPr id="23" name="Text 21"/>
          <p:cNvSpPr txBox="1"/>
          <p:nvPr/>
        </p:nvSpPr>
        <p:spPr>
          <a:xfrm>
            <a:off x="7437120" y="3410712"/>
            <a:ext cx="1877568" cy="106527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Car count</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Not enough work leaves techs waiting</a:t>
            </a:r>
            <a:endParaRPr lang="en-US" sz="1400" dirty="0"/>
          </a:p>
        </p:txBody>
      </p:sp>
      <p:sp>
        <p:nvSpPr>
          <p:cNvPr id="24" name="Shape 22"/>
          <p:cNvSpPr/>
          <p:nvPr/>
        </p:nvSpPr>
        <p:spPr>
          <a:xfrm>
            <a:off x="9479280" y="3410712"/>
            <a:ext cx="45720" cy="1065276"/>
          </a:xfrm>
          <a:prstGeom prst="rect">
            <a:avLst/>
          </a:prstGeom>
          <a:solidFill>
            <a:srgbClr val="2587C5"/>
          </a:solidFill>
          <a:ln/>
        </p:spPr>
      </p:sp>
      <p:sp>
        <p:nvSpPr>
          <p:cNvPr id="25" name="Text 23"/>
          <p:cNvSpPr txBox="1"/>
          <p:nvPr/>
        </p:nvSpPr>
        <p:spPr>
          <a:xfrm>
            <a:off x="9607296" y="3410712"/>
            <a:ext cx="1877568" cy="106527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Parts staging</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Parts at the bay before the tech needs them</a:t>
            </a:r>
            <a:endParaRPr lang="en-US" sz="1400" dirty="0"/>
          </a:p>
        </p:txBody>
      </p:sp>
      <p:sp>
        <p:nvSpPr>
          <p:cNvPr id="26" name="Shape 24"/>
          <p:cNvSpPr/>
          <p:nvPr/>
        </p:nvSpPr>
        <p:spPr>
          <a:xfrm>
            <a:off x="5138928" y="4585716"/>
            <a:ext cx="45720" cy="1065276"/>
          </a:xfrm>
          <a:prstGeom prst="rect">
            <a:avLst/>
          </a:prstGeom>
          <a:solidFill>
            <a:srgbClr val="2587C5"/>
          </a:solidFill>
          <a:ln/>
        </p:spPr>
      </p:sp>
      <p:sp>
        <p:nvSpPr>
          <p:cNvPr id="27" name="Text 25"/>
          <p:cNvSpPr txBox="1"/>
          <p:nvPr/>
        </p:nvSpPr>
        <p:spPr>
          <a:xfrm>
            <a:off x="5266944" y="4585716"/>
            <a:ext cx="1877568" cy="106527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Approvals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Fast customer approval on the inspection</a:t>
            </a:r>
            <a:endParaRPr lang="en-US" sz="1400" dirty="0"/>
          </a:p>
        </p:txBody>
      </p:sp>
      <p:sp>
        <p:nvSpPr>
          <p:cNvPr id="28" name="Shape 26"/>
          <p:cNvSpPr/>
          <p:nvPr/>
        </p:nvSpPr>
        <p:spPr>
          <a:xfrm>
            <a:off x="7309104" y="4585716"/>
            <a:ext cx="45720" cy="1065276"/>
          </a:xfrm>
          <a:prstGeom prst="rect">
            <a:avLst/>
          </a:prstGeom>
          <a:solidFill>
            <a:srgbClr val="2587C5"/>
          </a:solidFill>
          <a:ln/>
        </p:spPr>
      </p:sp>
      <p:sp>
        <p:nvSpPr>
          <p:cNvPr id="29" name="Text 27"/>
          <p:cNvSpPr txBox="1"/>
          <p:nvPr/>
        </p:nvSpPr>
        <p:spPr>
          <a:xfrm>
            <a:off x="7437120" y="4585716"/>
            <a:ext cx="1877568" cy="106527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Skill and training</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Tech level in line with job skill</a:t>
            </a:r>
            <a:endParaRPr lang="en-US" sz="1400" dirty="0"/>
          </a:p>
        </p:txBody>
      </p:sp>
      <p:sp>
        <p:nvSpPr>
          <p:cNvPr id="30" name="Shape 28"/>
          <p:cNvSpPr/>
          <p:nvPr/>
        </p:nvSpPr>
        <p:spPr>
          <a:xfrm>
            <a:off x="9479280" y="4585716"/>
            <a:ext cx="45720" cy="1065276"/>
          </a:xfrm>
          <a:prstGeom prst="rect">
            <a:avLst/>
          </a:prstGeom>
          <a:solidFill>
            <a:srgbClr val="2587C5"/>
          </a:solidFill>
          <a:ln/>
        </p:spPr>
      </p:sp>
      <p:sp>
        <p:nvSpPr>
          <p:cNvPr id="31" name="Text 29"/>
          <p:cNvSpPr txBox="1"/>
          <p:nvPr/>
        </p:nvSpPr>
        <p:spPr>
          <a:xfrm>
            <a:off x="9607296" y="4585716"/>
            <a:ext cx="1877568" cy="106527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Proficiency vs efficiency</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Efficiency divides by time clocked on ROs, not all paid time</a:t>
            </a:r>
            <a:endParaRPr lang="en-US" sz="1400" dirty="0"/>
          </a:p>
        </p:txBody>
      </p:sp>
      <p:sp>
        <p:nvSpPr>
          <p:cNvPr id="32" name="Shape 30"/>
          <p:cNvSpPr/>
          <p:nvPr/>
        </p:nvSpPr>
        <p:spPr>
          <a:xfrm>
            <a:off x="457200" y="5961888"/>
            <a:ext cx="11274552" cy="548640"/>
          </a:xfrm>
          <a:prstGeom prst="rect">
            <a:avLst/>
          </a:prstGeom>
          <a:solidFill>
            <a:srgbClr val="EDF4FA"/>
          </a:solidFill>
          <a:ln/>
        </p:spPr>
      </p:sp>
      <p:sp>
        <p:nvSpPr>
          <p:cNvPr id="33" name="Text 31"/>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Group: 94.7%. 20 of 33 stores at or above 85%; 262 of 583 counted techs below it.</a:t>
            </a:r>
            <a:endParaRPr lang="en-US" sz="1600" dirty="0"/>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TECHNICIAN PROFICIENCY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How We Measured It</a:t>
            </a:r>
            <a:endParaRPr lang="en-US" sz="2800" dirty="0"/>
          </a:p>
        </p:txBody>
      </p:sp>
      <p:sp>
        <p:nvSpPr>
          <p:cNvPr id="5" name="Shape 3"/>
          <p:cNvSpPr/>
          <p:nvPr/>
        </p:nvSpPr>
        <p:spPr>
          <a:xfrm>
            <a:off x="457200" y="1207008"/>
            <a:ext cx="11274552" cy="1024128"/>
          </a:xfrm>
          <a:prstGeom prst="rect">
            <a:avLst/>
          </a:prstGeom>
          <a:solidFill>
            <a:srgbClr val="EDF4FA"/>
          </a:solidFill>
          <a:ln/>
        </p:spPr>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200" b="1" dirty="0">
                <a:solidFill>
                  <a:srgbClr val="0B2C4A"/>
                </a:solidFill>
                <a:latin typeface="Inter" pitchFamily="34" charset="0"/>
                <a:ea typeface="Inter" pitchFamily="34" charset="-122"/>
                <a:cs typeface="Inter" pitchFamily="34" charset="-120"/>
              </a:rPr>
              <a:t>Sold hours (Qlik)  </a:t>
            </a:r>
            <a:pPr indent="0" marL="0">
              <a:buNone/>
            </a:pPr>
            <a:r>
              <a:rPr lang="en-US" sz="2200" b="1" dirty="0">
                <a:solidFill>
                  <a:srgbClr val="2587C5"/>
                </a:solidFill>
                <a:latin typeface="Inter" pitchFamily="34" charset="0"/>
                <a:ea typeface="Inter" pitchFamily="34" charset="-122"/>
                <a:cs typeface="Inter" pitchFamily="34" charset="-120"/>
              </a:rPr>
              <a:t>÷  </a:t>
            </a:r>
            <a:pPr indent="0" marL="0">
              <a:buNone/>
            </a:pPr>
            <a:r>
              <a:rPr lang="en-US" sz="2200" b="1" dirty="0">
                <a:solidFill>
                  <a:srgbClr val="0B2C4A"/>
                </a:solidFill>
                <a:latin typeface="Inter" pitchFamily="34" charset="0"/>
                <a:ea typeface="Inter" pitchFamily="34" charset="-122"/>
                <a:cs typeface="Inter" pitchFamily="34" charset="-120"/>
              </a:rPr>
              <a:t>paid hours (ADP, regular + overtime)</a:t>
            </a:r>
            <a:endParaRPr lang="en-US" sz="22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500" dirty="0">
                <a:solidFill>
                  <a:srgbClr val="595959"/>
                </a:solidFill>
                <a:latin typeface="Inter" pitchFamily="34" charset="0"/>
                <a:ea typeface="Inter" pitchFamily="34" charset="-122"/>
                <a:cs typeface="Inter" pitchFamily="34" charset="-120"/>
              </a:rPr>
              <a:t>Matched by tech number, all pay types, Dec 25, 2025 to Oct 9, 2026. Store = total sold hours / total paid hours.</a:t>
            </a:r>
            <a:endParaRPr lang="en-US" sz="1500" dirty="0"/>
          </a:p>
        </p:txBody>
      </p:sp>
      <p:sp>
        <p:nvSpPr>
          <p:cNvPr id="8" name="Shape 6"/>
          <p:cNvSpPr/>
          <p:nvPr/>
        </p:nvSpPr>
        <p:spPr>
          <a:xfrm>
            <a:off x="457200" y="2340864"/>
            <a:ext cx="4343400" cy="3511296"/>
          </a:xfrm>
          <a:prstGeom prst="rect">
            <a:avLst/>
          </a:prstGeom>
          <a:solidFill>
            <a:srgbClr val="FFFFFF"/>
          </a:solidFill>
          <a:ln/>
        </p:spPr>
      </p:sp>
      <p:sp>
        <p:nvSpPr>
          <p:cNvPr id="9" name="Shape 7"/>
          <p:cNvSpPr/>
          <p:nvPr/>
        </p:nvSpPr>
        <p:spPr>
          <a:xfrm>
            <a:off x="4937760" y="2340864"/>
            <a:ext cx="6793992" cy="3511296"/>
          </a:xfrm>
          <a:prstGeom prst="rect">
            <a:avLst/>
          </a:prstGeom>
          <a:solidFill>
            <a:srgbClr val="FFFFFF"/>
          </a:solidFill>
          <a:ln/>
        </p:spPr>
      </p:sp>
      <p:sp>
        <p:nvSpPr>
          <p:cNvPr id="10" name="Text 8"/>
          <p:cNvSpPr txBox="1"/>
          <p:nvPr/>
        </p:nvSpPr>
        <p:spPr>
          <a:xfrm>
            <a:off x="658368" y="2468880"/>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WHO COUNTS</a:t>
            </a:r>
            <a:endParaRPr lang="en-US" sz="1400" dirty="0"/>
          </a:p>
        </p:txBody>
      </p:sp>
      <p:sp>
        <p:nvSpPr>
          <p:cNvPr id="11" name="Text 9"/>
          <p:cNvSpPr txBox="1"/>
          <p:nvPr/>
        </p:nvSpPr>
        <p:spPr>
          <a:xfrm>
            <a:off x="5138928" y="2468880"/>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THE RULES</a:t>
            </a:r>
            <a:endParaRPr lang="en-US" sz="1400" dirty="0"/>
          </a:p>
        </p:txBody>
      </p:sp>
      <p:sp>
        <p:nvSpPr>
          <p:cNvPr id="12" name="Text 10"/>
          <p:cNvSpPr txBox="1"/>
          <p:nvPr/>
        </p:nvSpPr>
        <p:spPr>
          <a:xfrm>
            <a:off x="658368" y="2843784"/>
            <a:ext cx="3977640" cy="2871216"/>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Service techs, express techs, team leaders and shop foremen</a:t>
            </a:r>
            <a:endParaRPr lang="en-US" sz="1600" dirty="0"/>
          </a:p>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Not counted: body shop, detail and tint</a:t>
            </a:r>
            <a:endParaRPr lang="en-US" sz="1600" dirty="0"/>
          </a:p>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Same-store: INEOS excluded</a:t>
            </a:r>
            <a:endParaRPr lang="en-US" sz="1600" dirty="0"/>
          </a:p>
        </p:txBody>
      </p:sp>
      <p:sp>
        <p:nvSpPr>
          <p:cNvPr id="13" name="Shape 11"/>
          <p:cNvSpPr/>
          <p:nvPr/>
        </p:nvSpPr>
        <p:spPr>
          <a:xfrm>
            <a:off x="5138928" y="2843784"/>
            <a:ext cx="45720" cy="862584"/>
          </a:xfrm>
          <a:prstGeom prst="rect">
            <a:avLst/>
          </a:prstGeom>
          <a:solidFill>
            <a:srgbClr val="2587C5"/>
          </a:solidFill>
          <a:ln/>
        </p:spPr>
      </p:sp>
      <p:sp>
        <p:nvSpPr>
          <p:cNvPr id="14" name="Text 12"/>
          <p:cNvSpPr txBox="1"/>
          <p:nvPr/>
        </p:nvSpPr>
        <p:spPr>
          <a:xfrm>
            <a:off x="5266944" y="2843784"/>
            <a:ext cx="2962656" cy="862584"/>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Shop foremen above 30%</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Below that, a foreman is mainly dispatching</a:t>
            </a:r>
            <a:endParaRPr lang="en-US" sz="1400" dirty="0"/>
          </a:p>
        </p:txBody>
      </p:sp>
      <p:sp>
        <p:nvSpPr>
          <p:cNvPr id="15" name="Shape 13"/>
          <p:cNvSpPr/>
          <p:nvPr/>
        </p:nvSpPr>
        <p:spPr>
          <a:xfrm>
            <a:off x="8394192" y="2843784"/>
            <a:ext cx="45720" cy="862584"/>
          </a:xfrm>
          <a:prstGeom prst="rect">
            <a:avLst/>
          </a:prstGeom>
          <a:solidFill>
            <a:srgbClr val="2587C5"/>
          </a:solidFill>
          <a:ln/>
        </p:spPr>
      </p:sp>
      <p:sp>
        <p:nvSpPr>
          <p:cNvPr id="16" name="Text 14"/>
          <p:cNvSpPr txBox="1"/>
          <p:nvPr/>
        </p:nvSpPr>
        <p:spPr>
          <a:xfrm>
            <a:off x="8522208" y="2843784"/>
            <a:ext cx="2962656" cy="862584"/>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Techs above 10%</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Below that, they are not working as a line tech</a:t>
            </a:r>
            <a:endParaRPr lang="en-US" sz="1400" dirty="0"/>
          </a:p>
        </p:txBody>
      </p:sp>
      <p:sp>
        <p:nvSpPr>
          <p:cNvPr id="17" name="Shape 15"/>
          <p:cNvSpPr/>
          <p:nvPr/>
        </p:nvSpPr>
        <p:spPr>
          <a:xfrm>
            <a:off x="5138928" y="3816096"/>
            <a:ext cx="45720" cy="862584"/>
          </a:xfrm>
          <a:prstGeom prst="rect">
            <a:avLst/>
          </a:prstGeom>
          <a:solidFill>
            <a:srgbClr val="2587C5"/>
          </a:solidFill>
          <a:ln/>
        </p:spPr>
      </p:sp>
      <p:sp>
        <p:nvSpPr>
          <p:cNvPr id="18" name="Text 16"/>
          <p:cNvSpPr txBox="1"/>
          <p:nvPr/>
        </p:nvSpPr>
        <p:spPr>
          <a:xfrm>
            <a:off x="5266944" y="3816096"/>
            <a:ext cx="2962656" cy="862584"/>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Role changes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Paid hours trimmed to the months a tech actually flagged</a:t>
            </a:r>
            <a:endParaRPr lang="en-US" sz="1400" dirty="0"/>
          </a:p>
        </p:txBody>
      </p:sp>
      <p:sp>
        <p:nvSpPr>
          <p:cNvPr id="19" name="Shape 17"/>
          <p:cNvSpPr/>
          <p:nvPr/>
        </p:nvSpPr>
        <p:spPr>
          <a:xfrm>
            <a:off x="8394192" y="3816096"/>
            <a:ext cx="45720" cy="862584"/>
          </a:xfrm>
          <a:prstGeom prst="rect">
            <a:avLst/>
          </a:prstGeom>
          <a:solidFill>
            <a:srgbClr val="2587C5"/>
          </a:solidFill>
          <a:ln/>
        </p:spPr>
      </p:sp>
      <p:sp>
        <p:nvSpPr>
          <p:cNvPr id="20" name="Text 18"/>
          <p:cNvSpPr txBox="1"/>
          <p:nvPr/>
        </p:nvSpPr>
        <p:spPr>
          <a:xfrm>
            <a:off x="8522208" y="3816096"/>
            <a:ext cx="2962656" cy="862584"/>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Keying errors removed</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45 lines, such as 940 hours keyed on one $0 line</a:t>
            </a:r>
            <a:endParaRPr lang="en-US" sz="1400" dirty="0"/>
          </a:p>
        </p:txBody>
      </p:sp>
      <p:sp>
        <p:nvSpPr>
          <p:cNvPr id="21" name="Shape 19"/>
          <p:cNvSpPr/>
          <p:nvPr/>
        </p:nvSpPr>
        <p:spPr>
          <a:xfrm>
            <a:off x="5138928" y="4788408"/>
            <a:ext cx="45720" cy="862584"/>
          </a:xfrm>
          <a:prstGeom prst="rect">
            <a:avLst/>
          </a:prstGeom>
          <a:solidFill>
            <a:srgbClr val="2587C5"/>
          </a:solidFill>
          <a:ln/>
        </p:spPr>
      </p:sp>
      <p:sp>
        <p:nvSpPr>
          <p:cNvPr id="22" name="Text 20"/>
          <p:cNvSpPr txBox="1"/>
          <p:nvPr/>
        </p:nvSpPr>
        <p:spPr>
          <a:xfrm>
            <a:off x="5266944" y="4788408"/>
            <a:ext cx="2962656" cy="862584"/>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Shared codes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Pooled codes (MULT, 999, 77777) aren't credited to anyone</a:t>
            </a:r>
            <a:endParaRPr lang="en-US" sz="1400" dirty="0"/>
          </a:p>
        </p:txBody>
      </p:sp>
      <p:sp>
        <p:nvSpPr>
          <p:cNvPr id="23" name="Shape 21"/>
          <p:cNvSpPr/>
          <p:nvPr/>
        </p:nvSpPr>
        <p:spPr>
          <a:xfrm>
            <a:off x="8394192" y="4788408"/>
            <a:ext cx="45720" cy="862584"/>
          </a:xfrm>
          <a:prstGeom prst="rect">
            <a:avLst/>
          </a:prstGeom>
          <a:solidFill>
            <a:srgbClr val="2587C5"/>
          </a:solidFill>
          <a:ln/>
        </p:spPr>
      </p:sp>
      <p:sp>
        <p:nvSpPr>
          <p:cNvPr id="24" name="Text 22"/>
          <p:cNvSpPr txBox="1"/>
          <p:nvPr/>
        </p:nvSpPr>
        <p:spPr>
          <a:xfrm>
            <a:off x="8522208" y="4788408"/>
            <a:ext cx="2962656" cy="862584"/>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Opportunity</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Each tech under 85% raised to 85% of their own paid hours</a:t>
            </a:r>
            <a:endParaRPr lang="en-US" sz="1400" dirty="0"/>
          </a:p>
        </p:txBody>
      </p:sp>
      <p:sp>
        <p:nvSpPr>
          <p:cNvPr id="25" name="Shape 23"/>
          <p:cNvSpPr/>
          <p:nvPr/>
        </p:nvSpPr>
        <p:spPr>
          <a:xfrm>
            <a:off x="457200" y="5961888"/>
            <a:ext cx="11274552" cy="548640"/>
          </a:xfrm>
          <a:prstGeom prst="rect">
            <a:avLst/>
          </a:prstGeom>
          <a:solidFill>
            <a:srgbClr val="EDF4FA"/>
          </a:solidFill>
          <a:ln/>
        </p:spPr>
      </p:sp>
      <p:sp>
        <p:nvSpPr>
          <p:cNvPr id="26" name="Text 24"/>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The rules keep non-tech time and data errors out of the numbers, and every store is measured the same way.</a:t>
            </a:r>
            <a:endParaRPr lang="en-US" sz="1600" dirty="0"/>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Technician Proficiency</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70078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7" name="Shape 5"/>
          <p:cNvSpPr/>
          <p:nvPr/>
        </p:nvSpPr>
        <p:spPr>
          <a:xfrm>
            <a:off x="2971800" y="1759682"/>
            <a:ext cx="1828800" cy="117796"/>
          </a:xfrm>
          <a:prstGeom prst="rect">
            <a:avLst/>
          </a:prstGeom>
          <a:solidFill>
            <a:srgbClr val="12A566"/>
          </a:solidFill>
          <a:ln/>
        </p:spPr>
      </p:sp>
      <p:sp>
        <p:nvSpPr>
          <p:cNvPr id="8" name="Text 6"/>
          <p:cNvSpPr txBox="1"/>
          <p:nvPr/>
        </p:nvSpPr>
        <p:spPr>
          <a:xfrm>
            <a:off x="4855464" y="1700784"/>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118.5%</a:t>
            </a:r>
            <a:endParaRPr lang="en-US" sz="1300" dirty="0"/>
          </a:p>
        </p:txBody>
      </p:sp>
      <p:sp>
        <p:nvSpPr>
          <p:cNvPr id="9" name="Text 7"/>
          <p:cNvSpPr txBox="1"/>
          <p:nvPr/>
        </p:nvSpPr>
        <p:spPr>
          <a:xfrm>
            <a:off x="658368" y="193637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10" name="Shape 8"/>
          <p:cNvSpPr/>
          <p:nvPr/>
        </p:nvSpPr>
        <p:spPr>
          <a:xfrm>
            <a:off x="2971800" y="1995275"/>
            <a:ext cx="1797871" cy="117796"/>
          </a:xfrm>
          <a:prstGeom prst="rect">
            <a:avLst/>
          </a:prstGeom>
          <a:solidFill>
            <a:srgbClr val="12A566"/>
          </a:solidFill>
          <a:ln/>
        </p:spPr>
      </p:sp>
      <p:sp>
        <p:nvSpPr>
          <p:cNvPr id="11" name="Text 9"/>
          <p:cNvSpPr txBox="1"/>
          <p:nvPr/>
        </p:nvSpPr>
        <p:spPr>
          <a:xfrm>
            <a:off x="4855464" y="1936376"/>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117.1%</a:t>
            </a:r>
            <a:endParaRPr lang="en-US" sz="1300" dirty="0"/>
          </a:p>
        </p:txBody>
      </p:sp>
      <p:sp>
        <p:nvSpPr>
          <p:cNvPr id="12" name="Text 10"/>
          <p:cNvSpPr txBox="1"/>
          <p:nvPr/>
        </p:nvSpPr>
        <p:spPr>
          <a:xfrm>
            <a:off x="658368" y="217196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13" name="Shape 11"/>
          <p:cNvSpPr/>
          <p:nvPr/>
        </p:nvSpPr>
        <p:spPr>
          <a:xfrm>
            <a:off x="2971800" y="2230867"/>
            <a:ext cx="1625615" cy="117796"/>
          </a:xfrm>
          <a:prstGeom prst="rect">
            <a:avLst/>
          </a:prstGeom>
          <a:solidFill>
            <a:srgbClr val="12A566"/>
          </a:solidFill>
          <a:ln/>
        </p:spPr>
      </p:sp>
      <p:sp>
        <p:nvSpPr>
          <p:cNvPr id="14" name="Text 12"/>
          <p:cNvSpPr txBox="1"/>
          <p:nvPr/>
        </p:nvSpPr>
        <p:spPr>
          <a:xfrm>
            <a:off x="4855464" y="2171969"/>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109.7%</a:t>
            </a:r>
            <a:endParaRPr lang="en-US" sz="1300" dirty="0"/>
          </a:p>
        </p:txBody>
      </p:sp>
      <p:sp>
        <p:nvSpPr>
          <p:cNvPr id="15" name="Text 13"/>
          <p:cNvSpPr txBox="1"/>
          <p:nvPr/>
        </p:nvSpPr>
        <p:spPr>
          <a:xfrm>
            <a:off x="658368" y="240756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16" name="Shape 14"/>
          <p:cNvSpPr/>
          <p:nvPr/>
        </p:nvSpPr>
        <p:spPr>
          <a:xfrm>
            <a:off x="2971800" y="2466460"/>
            <a:ext cx="1614416" cy="117796"/>
          </a:xfrm>
          <a:prstGeom prst="rect">
            <a:avLst/>
          </a:prstGeom>
          <a:solidFill>
            <a:srgbClr val="12A566"/>
          </a:solidFill>
          <a:ln/>
        </p:spPr>
      </p:sp>
      <p:sp>
        <p:nvSpPr>
          <p:cNvPr id="17" name="Text 15"/>
          <p:cNvSpPr txBox="1"/>
          <p:nvPr/>
        </p:nvSpPr>
        <p:spPr>
          <a:xfrm>
            <a:off x="4855464" y="2407561"/>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109.3%</a:t>
            </a:r>
            <a:endParaRPr lang="en-US" sz="1300" dirty="0"/>
          </a:p>
        </p:txBody>
      </p:sp>
      <p:sp>
        <p:nvSpPr>
          <p:cNvPr id="18" name="Text 16"/>
          <p:cNvSpPr txBox="1"/>
          <p:nvPr/>
        </p:nvSpPr>
        <p:spPr>
          <a:xfrm>
            <a:off x="658368" y="264315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19" name="Shape 17"/>
          <p:cNvSpPr/>
          <p:nvPr/>
        </p:nvSpPr>
        <p:spPr>
          <a:xfrm>
            <a:off x="2971800" y="2702052"/>
            <a:ext cx="1609244" cy="117796"/>
          </a:xfrm>
          <a:prstGeom prst="rect">
            <a:avLst/>
          </a:prstGeom>
          <a:solidFill>
            <a:srgbClr val="12A566"/>
          </a:solidFill>
          <a:ln/>
        </p:spPr>
      </p:sp>
      <p:sp>
        <p:nvSpPr>
          <p:cNvPr id="20" name="Text 18"/>
          <p:cNvSpPr txBox="1"/>
          <p:nvPr/>
        </p:nvSpPr>
        <p:spPr>
          <a:xfrm>
            <a:off x="4855464" y="2643154"/>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109.0%</a:t>
            </a:r>
            <a:endParaRPr lang="en-US" sz="1300" dirty="0"/>
          </a:p>
        </p:txBody>
      </p:sp>
      <p:sp>
        <p:nvSpPr>
          <p:cNvPr id="21" name="Text 19"/>
          <p:cNvSpPr txBox="1"/>
          <p:nvPr/>
        </p:nvSpPr>
        <p:spPr>
          <a:xfrm>
            <a:off x="658368" y="287874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22" name="Shape 20"/>
          <p:cNvSpPr/>
          <p:nvPr/>
        </p:nvSpPr>
        <p:spPr>
          <a:xfrm>
            <a:off x="2971800" y="2937644"/>
            <a:ext cx="1584654" cy="117796"/>
          </a:xfrm>
          <a:prstGeom prst="rect">
            <a:avLst/>
          </a:prstGeom>
          <a:solidFill>
            <a:srgbClr val="12A566"/>
          </a:solidFill>
          <a:ln/>
        </p:spPr>
      </p:sp>
      <p:sp>
        <p:nvSpPr>
          <p:cNvPr id="23" name="Text 21"/>
          <p:cNvSpPr txBox="1"/>
          <p:nvPr/>
        </p:nvSpPr>
        <p:spPr>
          <a:xfrm>
            <a:off x="4855464" y="2878746"/>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108.0%</a:t>
            </a:r>
            <a:endParaRPr lang="en-US" sz="1300" dirty="0"/>
          </a:p>
        </p:txBody>
      </p:sp>
      <p:sp>
        <p:nvSpPr>
          <p:cNvPr id="24" name="Text 22"/>
          <p:cNvSpPr txBox="1"/>
          <p:nvPr/>
        </p:nvSpPr>
        <p:spPr>
          <a:xfrm>
            <a:off x="658368" y="311433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25" name="Shape 23"/>
          <p:cNvSpPr/>
          <p:nvPr/>
        </p:nvSpPr>
        <p:spPr>
          <a:xfrm>
            <a:off x="2971800" y="3173237"/>
            <a:ext cx="1539229" cy="117796"/>
          </a:xfrm>
          <a:prstGeom prst="rect">
            <a:avLst/>
          </a:prstGeom>
          <a:solidFill>
            <a:srgbClr val="12A566"/>
          </a:solidFill>
          <a:ln/>
        </p:spPr>
      </p:sp>
      <p:sp>
        <p:nvSpPr>
          <p:cNvPr id="26" name="Text 24"/>
          <p:cNvSpPr txBox="1"/>
          <p:nvPr/>
        </p:nvSpPr>
        <p:spPr>
          <a:xfrm>
            <a:off x="4855464" y="3114339"/>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106.0%</a:t>
            </a:r>
            <a:endParaRPr lang="en-US" sz="1300" dirty="0"/>
          </a:p>
        </p:txBody>
      </p:sp>
      <p:sp>
        <p:nvSpPr>
          <p:cNvPr id="27" name="Text 25"/>
          <p:cNvSpPr txBox="1"/>
          <p:nvPr/>
        </p:nvSpPr>
        <p:spPr>
          <a:xfrm>
            <a:off x="658368" y="334993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28" name="Shape 26"/>
          <p:cNvSpPr/>
          <p:nvPr/>
        </p:nvSpPr>
        <p:spPr>
          <a:xfrm>
            <a:off x="2971800" y="3408829"/>
            <a:ext cx="1507665" cy="117796"/>
          </a:xfrm>
          <a:prstGeom prst="rect">
            <a:avLst/>
          </a:prstGeom>
          <a:solidFill>
            <a:srgbClr val="12A566"/>
          </a:solidFill>
          <a:ln/>
        </p:spPr>
      </p:sp>
      <p:sp>
        <p:nvSpPr>
          <p:cNvPr id="29" name="Text 27"/>
          <p:cNvSpPr txBox="1"/>
          <p:nvPr/>
        </p:nvSpPr>
        <p:spPr>
          <a:xfrm>
            <a:off x="4855464" y="3349931"/>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104.7%</a:t>
            </a:r>
            <a:endParaRPr lang="en-US" sz="1300" dirty="0"/>
          </a:p>
        </p:txBody>
      </p:sp>
      <p:sp>
        <p:nvSpPr>
          <p:cNvPr id="30" name="Text 28"/>
          <p:cNvSpPr txBox="1"/>
          <p:nvPr/>
        </p:nvSpPr>
        <p:spPr>
          <a:xfrm>
            <a:off x="658368" y="358552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31" name="Shape 29"/>
          <p:cNvSpPr/>
          <p:nvPr/>
        </p:nvSpPr>
        <p:spPr>
          <a:xfrm>
            <a:off x="2971800" y="3644422"/>
            <a:ext cx="1499606" cy="117796"/>
          </a:xfrm>
          <a:prstGeom prst="rect">
            <a:avLst/>
          </a:prstGeom>
          <a:solidFill>
            <a:srgbClr val="12A566"/>
          </a:solidFill>
          <a:ln/>
        </p:spPr>
      </p:sp>
      <p:sp>
        <p:nvSpPr>
          <p:cNvPr id="32" name="Text 30"/>
          <p:cNvSpPr txBox="1"/>
          <p:nvPr/>
        </p:nvSpPr>
        <p:spPr>
          <a:xfrm>
            <a:off x="4855464" y="3585524"/>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104.3%</a:t>
            </a:r>
            <a:endParaRPr lang="en-US" sz="1300" dirty="0"/>
          </a:p>
        </p:txBody>
      </p:sp>
      <p:sp>
        <p:nvSpPr>
          <p:cNvPr id="33" name="Text 31"/>
          <p:cNvSpPr txBox="1"/>
          <p:nvPr/>
        </p:nvSpPr>
        <p:spPr>
          <a:xfrm>
            <a:off x="658368" y="382111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34" name="Shape 32"/>
          <p:cNvSpPr/>
          <p:nvPr/>
        </p:nvSpPr>
        <p:spPr>
          <a:xfrm>
            <a:off x="2971800" y="3880014"/>
            <a:ext cx="1476940" cy="117796"/>
          </a:xfrm>
          <a:prstGeom prst="rect">
            <a:avLst/>
          </a:prstGeom>
          <a:solidFill>
            <a:srgbClr val="12A566"/>
          </a:solidFill>
          <a:ln/>
        </p:spPr>
      </p:sp>
      <p:sp>
        <p:nvSpPr>
          <p:cNvPr id="35" name="Text 33"/>
          <p:cNvSpPr txBox="1"/>
          <p:nvPr/>
        </p:nvSpPr>
        <p:spPr>
          <a:xfrm>
            <a:off x="4855464" y="3821116"/>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103.4%</a:t>
            </a:r>
            <a:endParaRPr lang="en-US" sz="1300" dirty="0"/>
          </a:p>
        </p:txBody>
      </p:sp>
      <p:sp>
        <p:nvSpPr>
          <p:cNvPr id="36" name="Text 34"/>
          <p:cNvSpPr txBox="1"/>
          <p:nvPr/>
        </p:nvSpPr>
        <p:spPr>
          <a:xfrm>
            <a:off x="658368" y="405670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37" name="Shape 35"/>
          <p:cNvSpPr/>
          <p:nvPr/>
        </p:nvSpPr>
        <p:spPr>
          <a:xfrm>
            <a:off x="2971800" y="4115607"/>
            <a:ext cx="1454419" cy="117796"/>
          </a:xfrm>
          <a:prstGeom prst="rect">
            <a:avLst/>
          </a:prstGeom>
          <a:solidFill>
            <a:srgbClr val="12A566"/>
          </a:solidFill>
          <a:ln/>
        </p:spPr>
      </p:sp>
      <p:sp>
        <p:nvSpPr>
          <p:cNvPr id="38" name="Text 36"/>
          <p:cNvSpPr txBox="1"/>
          <p:nvPr/>
        </p:nvSpPr>
        <p:spPr>
          <a:xfrm>
            <a:off x="4855464" y="4056709"/>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102.4%</a:t>
            </a:r>
            <a:endParaRPr lang="en-US" sz="1300" dirty="0"/>
          </a:p>
        </p:txBody>
      </p:sp>
      <p:sp>
        <p:nvSpPr>
          <p:cNvPr id="39" name="Text 37"/>
          <p:cNvSpPr txBox="1"/>
          <p:nvPr/>
        </p:nvSpPr>
        <p:spPr>
          <a:xfrm>
            <a:off x="658368" y="429230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40" name="Shape 38"/>
          <p:cNvSpPr/>
          <p:nvPr/>
        </p:nvSpPr>
        <p:spPr>
          <a:xfrm>
            <a:off x="2971800" y="4351199"/>
            <a:ext cx="1436290" cy="117796"/>
          </a:xfrm>
          <a:prstGeom prst="rect">
            <a:avLst/>
          </a:prstGeom>
          <a:solidFill>
            <a:srgbClr val="12A566"/>
          </a:solidFill>
          <a:ln/>
        </p:spPr>
      </p:sp>
      <p:sp>
        <p:nvSpPr>
          <p:cNvPr id="41" name="Text 39"/>
          <p:cNvSpPr txBox="1"/>
          <p:nvPr/>
        </p:nvSpPr>
        <p:spPr>
          <a:xfrm>
            <a:off x="4855464" y="4292301"/>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101.6%</a:t>
            </a:r>
            <a:endParaRPr lang="en-US" sz="1300" dirty="0"/>
          </a:p>
        </p:txBody>
      </p:sp>
      <p:sp>
        <p:nvSpPr>
          <p:cNvPr id="42" name="Text 40"/>
          <p:cNvSpPr txBox="1"/>
          <p:nvPr/>
        </p:nvSpPr>
        <p:spPr>
          <a:xfrm>
            <a:off x="658368" y="452789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43" name="Shape 41"/>
          <p:cNvSpPr/>
          <p:nvPr/>
        </p:nvSpPr>
        <p:spPr>
          <a:xfrm>
            <a:off x="2971800" y="4586792"/>
            <a:ext cx="1361834" cy="117796"/>
          </a:xfrm>
          <a:prstGeom prst="rect">
            <a:avLst/>
          </a:prstGeom>
          <a:solidFill>
            <a:srgbClr val="12A566"/>
          </a:solidFill>
          <a:ln/>
        </p:spPr>
      </p:sp>
      <p:sp>
        <p:nvSpPr>
          <p:cNvPr id="44" name="Text 42"/>
          <p:cNvSpPr txBox="1"/>
          <p:nvPr/>
        </p:nvSpPr>
        <p:spPr>
          <a:xfrm>
            <a:off x="4855464" y="4527894"/>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98.4%</a:t>
            </a:r>
            <a:endParaRPr lang="en-US" sz="1300" dirty="0"/>
          </a:p>
        </p:txBody>
      </p:sp>
      <p:sp>
        <p:nvSpPr>
          <p:cNvPr id="45" name="Text 43"/>
          <p:cNvSpPr txBox="1"/>
          <p:nvPr/>
        </p:nvSpPr>
        <p:spPr>
          <a:xfrm>
            <a:off x="658368" y="476348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46" name="Shape 44"/>
          <p:cNvSpPr/>
          <p:nvPr/>
        </p:nvSpPr>
        <p:spPr>
          <a:xfrm>
            <a:off x="2971800" y="4822384"/>
            <a:ext cx="1327031" cy="117796"/>
          </a:xfrm>
          <a:prstGeom prst="rect">
            <a:avLst/>
          </a:prstGeom>
          <a:solidFill>
            <a:srgbClr val="12A566"/>
          </a:solidFill>
          <a:ln/>
        </p:spPr>
      </p:sp>
      <p:sp>
        <p:nvSpPr>
          <p:cNvPr id="47" name="Text 45"/>
          <p:cNvSpPr txBox="1"/>
          <p:nvPr/>
        </p:nvSpPr>
        <p:spPr>
          <a:xfrm>
            <a:off x="4855464" y="4763486"/>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96.9%</a:t>
            </a:r>
            <a:endParaRPr lang="en-US" sz="1300" dirty="0"/>
          </a:p>
        </p:txBody>
      </p:sp>
      <p:sp>
        <p:nvSpPr>
          <p:cNvPr id="48" name="Text 46"/>
          <p:cNvSpPr txBox="1"/>
          <p:nvPr/>
        </p:nvSpPr>
        <p:spPr>
          <a:xfrm>
            <a:off x="658368" y="499907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49" name="Shape 47"/>
          <p:cNvSpPr/>
          <p:nvPr/>
        </p:nvSpPr>
        <p:spPr>
          <a:xfrm>
            <a:off x="2971800" y="5057977"/>
            <a:ext cx="1279509" cy="117796"/>
          </a:xfrm>
          <a:prstGeom prst="rect">
            <a:avLst/>
          </a:prstGeom>
          <a:solidFill>
            <a:srgbClr val="12A566"/>
          </a:solidFill>
          <a:ln/>
        </p:spPr>
      </p:sp>
      <p:sp>
        <p:nvSpPr>
          <p:cNvPr id="50" name="Text 48"/>
          <p:cNvSpPr txBox="1"/>
          <p:nvPr/>
        </p:nvSpPr>
        <p:spPr>
          <a:xfrm>
            <a:off x="4855464" y="4999079"/>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94.9%</a:t>
            </a:r>
            <a:endParaRPr lang="en-US" sz="1300" dirty="0"/>
          </a:p>
        </p:txBody>
      </p:sp>
      <p:sp>
        <p:nvSpPr>
          <p:cNvPr id="51" name="Shape 49"/>
          <p:cNvSpPr/>
          <p:nvPr/>
        </p:nvSpPr>
        <p:spPr>
          <a:xfrm>
            <a:off x="585216" y="5230099"/>
            <a:ext cx="5413248" cy="226448"/>
          </a:xfrm>
          <a:prstGeom prst="rect">
            <a:avLst/>
          </a:prstGeom>
          <a:solidFill>
            <a:srgbClr val="EDF4FA"/>
          </a:solidFill>
          <a:ln/>
        </p:spPr>
      </p:sp>
      <p:sp>
        <p:nvSpPr>
          <p:cNvPr id="52" name="Text 50"/>
          <p:cNvSpPr txBox="1"/>
          <p:nvPr/>
        </p:nvSpPr>
        <p:spPr>
          <a:xfrm>
            <a:off x="658368" y="5234671"/>
            <a:ext cx="2240280" cy="235592"/>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GROUP</a:t>
            </a:r>
            <a:endParaRPr lang="en-US" sz="1300" dirty="0"/>
          </a:p>
        </p:txBody>
      </p:sp>
      <p:sp>
        <p:nvSpPr>
          <p:cNvPr id="53" name="Shape 51"/>
          <p:cNvSpPr/>
          <p:nvPr/>
        </p:nvSpPr>
        <p:spPr>
          <a:xfrm>
            <a:off x="2971800" y="5293569"/>
            <a:ext cx="1276058" cy="117796"/>
          </a:xfrm>
          <a:prstGeom prst="rect">
            <a:avLst/>
          </a:prstGeom>
          <a:solidFill>
            <a:srgbClr val="0B2C4A"/>
          </a:solidFill>
          <a:ln/>
        </p:spPr>
      </p:sp>
      <p:sp>
        <p:nvSpPr>
          <p:cNvPr id="54" name="Text 52"/>
          <p:cNvSpPr txBox="1"/>
          <p:nvPr/>
        </p:nvSpPr>
        <p:spPr>
          <a:xfrm>
            <a:off x="4855464" y="5234671"/>
            <a:ext cx="1088136" cy="23559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94.7%</a:t>
            </a:r>
            <a:endParaRPr lang="en-US" sz="1300" dirty="0"/>
          </a:p>
        </p:txBody>
      </p:sp>
      <p:sp>
        <p:nvSpPr>
          <p:cNvPr id="55" name="Text 53"/>
          <p:cNvSpPr txBox="1"/>
          <p:nvPr/>
        </p:nvSpPr>
        <p:spPr>
          <a:xfrm>
            <a:off x="658368" y="547026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56" name="Shape 54"/>
          <p:cNvSpPr/>
          <p:nvPr/>
        </p:nvSpPr>
        <p:spPr>
          <a:xfrm>
            <a:off x="2971800" y="5529162"/>
            <a:ext cx="1217123" cy="117796"/>
          </a:xfrm>
          <a:prstGeom prst="rect">
            <a:avLst/>
          </a:prstGeom>
          <a:solidFill>
            <a:srgbClr val="12A566"/>
          </a:solidFill>
          <a:ln/>
        </p:spPr>
      </p:sp>
      <p:sp>
        <p:nvSpPr>
          <p:cNvPr id="57" name="Text 55"/>
          <p:cNvSpPr txBox="1"/>
          <p:nvPr/>
        </p:nvSpPr>
        <p:spPr>
          <a:xfrm>
            <a:off x="4855464" y="5470264"/>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92.2%</a:t>
            </a:r>
            <a:endParaRPr lang="en-US" sz="1300" dirty="0"/>
          </a:p>
        </p:txBody>
      </p:sp>
      <p:sp>
        <p:nvSpPr>
          <p:cNvPr id="58" name="Text 56"/>
          <p:cNvSpPr txBox="1"/>
          <p:nvPr/>
        </p:nvSpPr>
        <p:spPr>
          <a:xfrm>
            <a:off x="6208776" y="170078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59" name="Shape 57"/>
          <p:cNvSpPr/>
          <p:nvPr/>
        </p:nvSpPr>
        <p:spPr>
          <a:xfrm>
            <a:off x="8522208" y="1759682"/>
            <a:ext cx="1192698" cy="117796"/>
          </a:xfrm>
          <a:prstGeom prst="rect">
            <a:avLst/>
          </a:prstGeom>
          <a:solidFill>
            <a:srgbClr val="12A566"/>
          </a:solidFill>
          <a:ln/>
        </p:spPr>
      </p:sp>
      <p:sp>
        <p:nvSpPr>
          <p:cNvPr id="60" name="Text 58"/>
          <p:cNvSpPr txBox="1"/>
          <p:nvPr/>
        </p:nvSpPr>
        <p:spPr>
          <a:xfrm>
            <a:off x="10405872" y="1700784"/>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91.2%</a:t>
            </a:r>
            <a:endParaRPr lang="en-US" sz="1300" dirty="0"/>
          </a:p>
        </p:txBody>
      </p:sp>
      <p:sp>
        <p:nvSpPr>
          <p:cNvPr id="61" name="Text 59"/>
          <p:cNvSpPr txBox="1"/>
          <p:nvPr/>
        </p:nvSpPr>
        <p:spPr>
          <a:xfrm>
            <a:off x="6208776" y="193637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62" name="Shape 60"/>
          <p:cNvSpPr/>
          <p:nvPr/>
        </p:nvSpPr>
        <p:spPr>
          <a:xfrm>
            <a:off x="8522208" y="1995275"/>
            <a:ext cx="1191628" cy="117796"/>
          </a:xfrm>
          <a:prstGeom prst="rect">
            <a:avLst/>
          </a:prstGeom>
          <a:solidFill>
            <a:srgbClr val="12A566"/>
          </a:solidFill>
          <a:ln/>
        </p:spPr>
      </p:sp>
      <p:sp>
        <p:nvSpPr>
          <p:cNvPr id="63" name="Text 61"/>
          <p:cNvSpPr txBox="1"/>
          <p:nvPr/>
        </p:nvSpPr>
        <p:spPr>
          <a:xfrm>
            <a:off x="10405872" y="1936376"/>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91.1%</a:t>
            </a:r>
            <a:endParaRPr lang="en-US" sz="1300" dirty="0"/>
          </a:p>
        </p:txBody>
      </p:sp>
      <p:sp>
        <p:nvSpPr>
          <p:cNvPr id="64" name="Text 62"/>
          <p:cNvSpPr txBox="1"/>
          <p:nvPr/>
        </p:nvSpPr>
        <p:spPr>
          <a:xfrm>
            <a:off x="6208776" y="217196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65" name="Shape 63"/>
          <p:cNvSpPr/>
          <p:nvPr/>
        </p:nvSpPr>
        <p:spPr>
          <a:xfrm>
            <a:off x="8522208" y="2230867"/>
            <a:ext cx="1189441" cy="117796"/>
          </a:xfrm>
          <a:prstGeom prst="rect">
            <a:avLst/>
          </a:prstGeom>
          <a:solidFill>
            <a:srgbClr val="12A566"/>
          </a:solidFill>
          <a:ln/>
        </p:spPr>
      </p:sp>
      <p:sp>
        <p:nvSpPr>
          <p:cNvPr id="66" name="Text 64"/>
          <p:cNvSpPr txBox="1"/>
          <p:nvPr/>
        </p:nvSpPr>
        <p:spPr>
          <a:xfrm>
            <a:off x="10405872" y="2171969"/>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91.0%</a:t>
            </a:r>
            <a:endParaRPr lang="en-US" sz="1300" dirty="0"/>
          </a:p>
        </p:txBody>
      </p:sp>
      <p:sp>
        <p:nvSpPr>
          <p:cNvPr id="67" name="Text 65"/>
          <p:cNvSpPr txBox="1"/>
          <p:nvPr/>
        </p:nvSpPr>
        <p:spPr>
          <a:xfrm>
            <a:off x="6208776" y="240756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68" name="Shape 66"/>
          <p:cNvSpPr/>
          <p:nvPr/>
        </p:nvSpPr>
        <p:spPr>
          <a:xfrm>
            <a:off x="8522208" y="2466460"/>
            <a:ext cx="1111986" cy="117796"/>
          </a:xfrm>
          <a:prstGeom prst="rect">
            <a:avLst/>
          </a:prstGeom>
          <a:solidFill>
            <a:srgbClr val="12A566"/>
          </a:solidFill>
          <a:ln/>
        </p:spPr>
      </p:sp>
      <p:sp>
        <p:nvSpPr>
          <p:cNvPr id="69" name="Text 67"/>
          <p:cNvSpPr txBox="1"/>
          <p:nvPr/>
        </p:nvSpPr>
        <p:spPr>
          <a:xfrm>
            <a:off x="10405872" y="2407561"/>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87.7%</a:t>
            </a:r>
            <a:endParaRPr lang="en-US" sz="1300" dirty="0"/>
          </a:p>
        </p:txBody>
      </p:sp>
      <p:sp>
        <p:nvSpPr>
          <p:cNvPr id="70" name="Text 68"/>
          <p:cNvSpPr txBox="1"/>
          <p:nvPr/>
        </p:nvSpPr>
        <p:spPr>
          <a:xfrm>
            <a:off x="6208776" y="264315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71" name="Shape 69"/>
          <p:cNvSpPr/>
          <p:nvPr/>
        </p:nvSpPr>
        <p:spPr>
          <a:xfrm>
            <a:off x="8522208" y="2702052"/>
            <a:ext cx="1016416" cy="117796"/>
          </a:xfrm>
          <a:prstGeom prst="rect">
            <a:avLst/>
          </a:prstGeom>
          <a:solidFill>
            <a:srgbClr val="C2352F"/>
          </a:solidFill>
          <a:ln/>
        </p:spPr>
      </p:sp>
      <p:sp>
        <p:nvSpPr>
          <p:cNvPr id="72" name="Text 70"/>
          <p:cNvSpPr txBox="1"/>
          <p:nvPr/>
        </p:nvSpPr>
        <p:spPr>
          <a:xfrm>
            <a:off x="10405872" y="264315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83.6%</a:t>
            </a:r>
            <a:endParaRPr lang="en-US" sz="1300" dirty="0"/>
          </a:p>
        </p:txBody>
      </p:sp>
      <p:sp>
        <p:nvSpPr>
          <p:cNvPr id="73" name="Text 71"/>
          <p:cNvSpPr txBox="1"/>
          <p:nvPr/>
        </p:nvSpPr>
        <p:spPr>
          <a:xfrm>
            <a:off x="6208776" y="287874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74" name="Shape 72"/>
          <p:cNvSpPr/>
          <p:nvPr/>
        </p:nvSpPr>
        <p:spPr>
          <a:xfrm>
            <a:off x="8522208" y="2937644"/>
            <a:ext cx="964940" cy="117796"/>
          </a:xfrm>
          <a:prstGeom prst="rect">
            <a:avLst/>
          </a:prstGeom>
          <a:solidFill>
            <a:srgbClr val="C2352F"/>
          </a:solidFill>
          <a:ln/>
        </p:spPr>
      </p:sp>
      <p:sp>
        <p:nvSpPr>
          <p:cNvPr id="75" name="Text 73"/>
          <p:cNvSpPr txBox="1"/>
          <p:nvPr/>
        </p:nvSpPr>
        <p:spPr>
          <a:xfrm>
            <a:off x="10405872" y="2878746"/>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81.4%</a:t>
            </a:r>
            <a:endParaRPr lang="en-US" sz="1300" dirty="0"/>
          </a:p>
        </p:txBody>
      </p:sp>
      <p:sp>
        <p:nvSpPr>
          <p:cNvPr id="76" name="Text 74"/>
          <p:cNvSpPr txBox="1"/>
          <p:nvPr/>
        </p:nvSpPr>
        <p:spPr>
          <a:xfrm>
            <a:off x="6208776" y="311433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77" name="Shape 75"/>
          <p:cNvSpPr/>
          <p:nvPr/>
        </p:nvSpPr>
        <p:spPr>
          <a:xfrm>
            <a:off x="8522208" y="3173237"/>
            <a:ext cx="904378" cy="117796"/>
          </a:xfrm>
          <a:prstGeom prst="rect">
            <a:avLst/>
          </a:prstGeom>
          <a:solidFill>
            <a:srgbClr val="C2352F"/>
          </a:solidFill>
          <a:ln/>
        </p:spPr>
      </p:sp>
      <p:sp>
        <p:nvSpPr>
          <p:cNvPr id="78" name="Text 76"/>
          <p:cNvSpPr txBox="1"/>
          <p:nvPr/>
        </p:nvSpPr>
        <p:spPr>
          <a:xfrm>
            <a:off x="10405872" y="3114339"/>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78.8%</a:t>
            </a:r>
            <a:endParaRPr lang="en-US" sz="1300" dirty="0"/>
          </a:p>
        </p:txBody>
      </p:sp>
      <p:sp>
        <p:nvSpPr>
          <p:cNvPr id="79" name="Text 77"/>
          <p:cNvSpPr txBox="1"/>
          <p:nvPr/>
        </p:nvSpPr>
        <p:spPr>
          <a:xfrm>
            <a:off x="6208776" y="334993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80" name="Shape 78"/>
          <p:cNvSpPr/>
          <p:nvPr/>
        </p:nvSpPr>
        <p:spPr>
          <a:xfrm>
            <a:off x="8522208" y="3408829"/>
            <a:ext cx="897944" cy="117796"/>
          </a:xfrm>
          <a:prstGeom prst="rect">
            <a:avLst/>
          </a:prstGeom>
          <a:solidFill>
            <a:srgbClr val="C2352F"/>
          </a:solidFill>
          <a:ln/>
        </p:spPr>
      </p:sp>
      <p:sp>
        <p:nvSpPr>
          <p:cNvPr id="81" name="Text 79"/>
          <p:cNvSpPr txBox="1"/>
          <p:nvPr/>
        </p:nvSpPr>
        <p:spPr>
          <a:xfrm>
            <a:off x="10405872" y="3349931"/>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78.5%</a:t>
            </a:r>
            <a:endParaRPr lang="en-US" sz="1300" dirty="0"/>
          </a:p>
        </p:txBody>
      </p:sp>
      <p:sp>
        <p:nvSpPr>
          <p:cNvPr id="82" name="Text 80"/>
          <p:cNvSpPr txBox="1"/>
          <p:nvPr/>
        </p:nvSpPr>
        <p:spPr>
          <a:xfrm>
            <a:off x="6208776" y="358552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83" name="Shape 81"/>
          <p:cNvSpPr/>
          <p:nvPr/>
        </p:nvSpPr>
        <p:spPr>
          <a:xfrm>
            <a:off x="8522208" y="3644422"/>
            <a:ext cx="858574" cy="117796"/>
          </a:xfrm>
          <a:prstGeom prst="rect">
            <a:avLst/>
          </a:prstGeom>
          <a:solidFill>
            <a:srgbClr val="C2352F"/>
          </a:solidFill>
          <a:ln/>
        </p:spPr>
      </p:sp>
      <p:sp>
        <p:nvSpPr>
          <p:cNvPr id="84" name="Text 82"/>
          <p:cNvSpPr txBox="1"/>
          <p:nvPr/>
        </p:nvSpPr>
        <p:spPr>
          <a:xfrm>
            <a:off x="10405872" y="358552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76.8%</a:t>
            </a:r>
            <a:endParaRPr lang="en-US" sz="1300" dirty="0"/>
          </a:p>
        </p:txBody>
      </p:sp>
      <p:sp>
        <p:nvSpPr>
          <p:cNvPr id="85" name="Text 83"/>
          <p:cNvSpPr txBox="1"/>
          <p:nvPr/>
        </p:nvSpPr>
        <p:spPr>
          <a:xfrm>
            <a:off x="6208776" y="382111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86" name="Shape 84"/>
          <p:cNvSpPr/>
          <p:nvPr/>
        </p:nvSpPr>
        <p:spPr>
          <a:xfrm>
            <a:off x="8522208" y="3880014"/>
            <a:ext cx="782805" cy="117796"/>
          </a:xfrm>
          <a:prstGeom prst="rect">
            <a:avLst/>
          </a:prstGeom>
          <a:solidFill>
            <a:srgbClr val="C2352F"/>
          </a:solidFill>
          <a:ln/>
        </p:spPr>
      </p:sp>
      <p:sp>
        <p:nvSpPr>
          <p:cNvPr id="87" name="Text 85"/>
          <p:cNvSpPr txBox="1"/>
          <p:nvPr/>
        </p:nvSpPr>
        <p:spPr>
          <a:xfrm>
            <a:off x="10405872" y="3821116"/>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73.6%</a:t>
            </a:r>
            <a:endParaRPr lang="en-US" sz="1300" dirty="0"/>
          </a:p>
        </p:txBody>
      </p:sp>
      <p:sp>
        <p:nvSpPr>
          <p:cNvPr id="88" name="Text 86"/>
          <p:cNvSpPr txBox="1"/>
          <p:nvPr/>
        </p:nvSpPr>
        <p:spPr>
          <a:xfrm>
            <a:off x="6208776" y="405670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89" name="Shape 87"/>
          <p:cNvSpPr/>
          <p:nvPr/>
        </p:nvSpPr>
        <p:spPr>
          <a:xfrm>
            <a:off x="8522208" y="4115607"/>
            <a:ext cx="754495" cy="117796"/>
          </a:xfrm>
          <a:prstGeom prst="rect">
            <a:avLst/>
          </a:prstGeom>
          <a:solidFill>
            <a:srgbClr val="C2352F"/>
          </a:solidFill>
          <a:ln/>
        </p:spPr>
      </p:sp>
      <p:sp>
        <p:nvSpPr>
          <p:cNvPr id="90" name="Text 88"/>
          <p:cNvSpPr txBox="1"/>
          <p:nvPr/>
        </p:nvSpPr>
        <p:spPr>
          <a:xfrm>
            <a:off x="10405872" y="4056709"/>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72.3%</a:t>
            </a:r>
            <a:endParaRPr lang="en-US" sz="1300" dirty="0"/>
          </a:p>
        </p:txBody>
      </p:sp>
      <p:sp>
        <p:nvSpPr>
          <p:cNvPr id="91" name="Text 89"/>
          <p:cNvSpPr txBox="1"/>
          <p:nvPr/>
        </p:nvSpPr>
        <p:spPr>
          <a:xfrm>
            <a:off x="6208776" y="429230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92" name="Shape 90"/>
          <p:cNvSpPr/>
          <p:nvPr/>
        </p:nvSpPr>
        <p:spPr>
          <a:xfrm>
            <a:off x="8522208" y="4351199"/>
            <a:ext cx="726763" cy="117796"/>
          </a:xfrm>
          <a:prstGeom prst="rect">
            <a:avLst/>
          </a:prstGeom>
          <a:solidFill>
            <a:srgbClr val="C2352F"/>
          </a:solidFill>
          <a:ln/>
        </p:spPr>
      </p:sp>
      <p:sp>
        <p:nvSpPr>
          <p:cNvPr id="93" name="Text 91"/>
          <p:cNvSpPr txBox="1"/>
          <p:nvPr/>
        </p:nvSpPr>
        <p:spPr>
          <a:xfrm>
            <a:off x="10405872" y="4292301"/>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71.2%</a:t>
            </a:r>
            <a:endParaRPr lang="en-US" sz="1300" dirty="0"/>
          </a:p>
        </p:txBody>
      </p:sp>
      <p:sp>
        <p:nvSpPr>
          <p:cNvPr id="94" name="Text 92"/>
          <p:cNvSpPr txBox="1"/>
          <p:nvPr/>
        </p:nvSpPr>
        <p:spPr>
          <a:xfrm>
            <a:off x="6208776" y="452789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95" name="Shape 93"/>
          <p:cNvSpPr/>
          <p:nvPr/>
        </p:nvSpPr>
        <p:spPr>
          <a:xfrm>
            <a:off x="8522208" y="4586792"/>
            <a:ext cx="699520" cy="117796"/>
          </a:xfrm>
          <a:prstGeom prst="rect">
            <a:avLst/>
          </a:prstGeom>
          <a:solidFill>
            <a:srgbClr val="C2352F"/>
          </a:solidFill>
          <a:ln/>
        </p:spPr>
      </p:sp>
      <p:sp>
        <p:nvSpPr>
          <p:cNvPr id="96" name="Text 94"/>
          <p:cNvSpPr txBox="1"/>
          <p:nvPr/>
        </p:nvSpPr>
        <p:spPr>
          <a:xfrm>
            <a:off x="10405872" y="452789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70.0%</a:t>
            </a:r>
            <a:endParaRPr lang="en-US" sz="1300" dirty="0"/>
          </a:p>
        </p:txBody>
      </p:sp>
      <p:sp>
        <p:nvSpPr>
          <p:cNvPr id="97" name="Text 95"/>
          <p:cNvSpPr txBox="1"/>
          <p:nvPr/>
        </p:nvSpPr>
        <p:spPr>
          <a:xfrm>
            <a:off x="6208776" y="476348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98" name="Shape 96"/>
          <p:cNvSpPr/>
          <p:nvPr/>
        </p:nvSpPr>
        <p:spPr>
          <a:xfrm>
            <a:off x="8522208" y="4822384"/>
            <a:ext cx="676048" cy="117796"/>
          </a:xfrm>
          <a:prstGeom prst="rect">
            <a:avLst/>
          </a:prstGeom>
          <a:solidFill>
            <a:srgbClr val="C2352F"/>
          </a:solidFill>
          <a:ln/>
        </p:spPr>
      </p:sp>
      <p:sp>
        <p:nvSpPr>
          <p:cNvPr id="99" name="Text 97"/>
          <p:cNvSpPr txBox="1"/>
          <p:nvPr/>
        </p:nvSpPr>
        <p:spPr>
          <a:xfrm>
            <a:off x="10405872" y="4763486"/>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69.0%</a:t>
            </a:r>
            <a:endParaRPr lang="en-US" sz="1300" dirty="0"/>
          </a:p>
        </p:txBody>
      </p:sp>
      <p:sp>
        <p:nvSpPr>
          <p:cNvPr id="100" name="Text 98"/>
          <p:cNvSpPr txBox="1"/>
          <p:nvPr/>
        </p:nvSpPr>
        <p:spPr>
          <a:xfrm>
            <a:off x="6208776" y="499907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101" name="Shape 99"/>
          <p:cNvSpPr/>
          <p:nvPr/>
        </p:nvSpPr>
        <p:spPr>
          <a:xfrm>
            <a:off x="8522208" y="5057977"/>
            <a:ext cx="661897" cy="117796"/>
          </a:xfrm>
          <a:prstGeom prst="rect">
            <a:avLst/>
          </a:prstGeom>
          <a:solidFill>
            <a:srgbClr val="C2352F"/>
          </a:solidFill>
          <a:ln/>
        </p:spPr>
      </p:sp>
      <p:sp>
        <p:nvSpPr>
          <p:cNvPr id="102" name="Text 100"/>
          <p:cNvSpPr txBox="1"/>
          <p:nvPr/>
        </p:nvSpPr>
        <p:spPr>
          <a:xfrm>
            <a:off x="10405872" y="4999079"/>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68.4%</a:t>
            </a:r>
            <a:endParaRPr lang="en-US" sz="1300" dirty="0"/>
          </a:p>
        </p:txBody>
      </p:sp>
      <p:sp>
        <p:nvSpPr>
          <p:cNvPr id="103" name="Text 101"/>
          <p:cNvSpPr txBox="1"/>
          <p:nvPr/>
        </p:nvSpPr>
        <p:spPr>
          <a:xfrm>
            <a:off x="6208776" y="523467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104" name="Shape 102"/>
          <p:cNvSpPr/>
          <p:nvPr/>
        </p:nvSpPr>
        <p:spPr>
          <a:xfrm>
            <a:off x="8522208" y="5293569"/>
            <a:ext cx="640868" cy="117796"/>
          </a:xfrm>
          <a:prstGeom prst="rect">
            <a:avLst/>
          </a:prstGeom>
          <a:solidFill>
            <a:srgbClr val="C2352F"/>
          </a:solidFill>
          <a:ln/>
        </p:spPr>
      </p:sp>
      <p:sp>
        <p:nvSpPr>
          <p:cNvPr id="105" name="Text 103"/>
          <p:cNvSpPr txBox="1"/>
          <p:nvPr/>
        </p:nvSpPr>
        <p:spPr>
          <a:xfrm>
            <a:off x="10405872" y="5234671"/>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67.5%</a:t>
            </a:r>
            <a:endParaRPr lang="en-US" sz="1300" dirty="0"/>
          </a:p>
        </p:txBody>
      </p:sp>
      <p:sp>
        <p:nvSpPr>
          <p:cNvPr id="106" name="Text 104"/>
          <p:cNvSpPr txBox="1"/>
          <p:nvPr/>
        </p:nvSpPr>
        <p:spPr>
          <a:xfrm>
            <a:off x="6208776" y="547026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107" name="Shape 105"/>
          <p:cNvSpPr/>
          <p:nvPr/>
        </p:nvSpPr>
        <p:spPr>
          <a:xfrm>
            <a:off x="8522208" y="5529162"/>
            <a:ext cx="638949" cy="117796"/>
          </a:xfrm>
          <a:prstGeom prst="rect">
            <a:avLst/>
          </a:prstGeom>
          <a:solidFill>
            <a:srgbClr val="C2352F"/>
          </a:solidFill>
          <a:ln/>
        </p:spPr>
      </p:sp>
      <p:sp>
        <p:nvSpPr>
          <p:cNvPr id="108" name="Text 106"/>
          <p:cNvSpPr txBox="1"/>
          <p:nvPr/>
        </p:nvSpPr>
        <p:spPr>
          <a:xfrm>
            <a:off x="10405872" y="547026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67.4%</a:t>
            </a:r>
            <a:endParaRPr lang="en-US" sz="1300" dirty="0"/>
          </a:p>
        </p:txBody>
      </p:sp>
      <p:sp>
        <p:nvSpPr>
          <p:cNvPr id="109" name="Shape 107"/>
          <p:cNvSpPr/>
          <p:nvPr/>
        </p:nvSpPr>
        <p:spPr>
          <a:xfrm>
            <a:off x="4012657" y="1700784"/>
            <a:ext cx="14630" cy="4005072"/>
          </a:xfrm>
          <a:prstGeom prst="rect">
            <a:avLst/>
          </a:prstGeom>
          <a:solidFill>
            <a:srgbClr val="0B2C4A"/>
          </a:solidFill>
          <a:ln/>
        </p:spPr>
      </p:sp>
      <p:sp>
        <p:nvSpPr>
          <p:cNvPr id="110" name="Text 108"/>
          <p:cNvSpPr txBox="1"/>
          <p:nvPr/>
        </p:nvSpPr>
        <p:spPr>
          <a:xfrm>
            <a:off x="2648372" y="1316736"/>
            <a:ext cx="2743200" cy="292608"/>
          </a:xfrm>
          <a:prstGeom prst="rect">
            <a:avLst/>
          </a:prstGeom>
          <a:noFill/>
          <a:ln/>
        </p:spPr>
        <p:txBody>
          <a:bodyPr wrap="square" lIns="0" tIns="0" rIns="0" bIns="0" rtlCol="0" anchor="ctr"/>
          <a:lstStyle/>
          <a:p>
            <a:pPr algn="ctr" indent="0" marL="0">
              <a:buNone/>
            </a:pPr>
            <a:r>
              <a:rPr lang="en-US" sz="1400" b="1" spc="90" kern="0" dirty="0">
                <a:solidFill>
                  <a:srgbClr val="0B2C4A"/>
                </a:solidFill>
                <a:latin typeface="Inter" pitchFamily="34" charset="0"/>
                <a:ea typeface="Inter" pitchFamily="34" charset="-122"/>
                <a:cs typeface="Inter" pitchFamily="34" charset="-120"/>
              </a:rPr>
              <a:t>BENCHMARK 85.0%</a:t>
            </a:r>
            <a:endParaRPr lang="en-US" sz="1400" dirty="0"/>
          </a:p>
        </p:txBody>
      </p:sp>
      <p:sp>
        <p:nvSpPr>
          <p:cNvPr id="111" name="Shape 109"/>
          <p:cNvSpPr/>
          <p:nvPr/>
        </p:nvSpPr>
        <p:spPr>
          <a:xfrm>
            <a:off x="9563065" y="1700784"/>
            <a:ext cx="14630" cy="4005072"/>
          </a:xfrm>
          <a:prstGeom prst="rect">
            <a:avLst/>
          </a:prstGeom>
          <a:solidFill>
            <a:srgbClr val="0B2C4A"/>
          </a:solidFill>
          <a:ln/>
        </p:spPr>
      </p:sp>
      <p:sp>
        <p:nvSpPr>
          <p:cNvPr id="112" name="Text 110"/>
          <p:cNvSpPr txBox="1"/>
          <p:nvPr/>
        </p:nvSpPr>
        <p:spPr>
          <a:xfrm>
            <a:off x="8198780" y="1316736"/>
            <a:ext cx="2743200" cy="292608"/>
          </a:xfrm>
          <a:prstGeom prst="rect">
            <a:avLst/>
          </a:prstGeom>
          <a:noFill/>
          <a:ln/>
        </p:spPr>
        <p:txBody>
          <a:bodyPr wrap="square" lIns="0" tIns="0" rIns="0" bIns="0" rtlCol="0" anchor="ctr"/>
          <a:lstStyle/>
          <a:p>
            <a:pPr algn="ctr" indent="0" marL="0">
              <a:buNone/>
            </a:pPr>
            <a:r>
              <a:rPr lang="en-US" sz="1400" b="1" spc="90" kern="0" dirty="0">
                <a:solidFill>
                  <a:srgbClr val="0B2C4A"/>
                </a:solidFill>
                <a:latin typeface="Inter" pitchFamily="34" charset="0"/>
                <a:ea typeface="Inter" pitchFamily="34" charset="-122"/>
                <a:cs typeface="Inter" pitchFamily="34" charset="-120"/>
              </a:rPr>
              <a:t>BENCHMARK 85.0%</a:t>
            </a:r>
            <a:endParaRPr lang="en-US" sz="1400" dirty="0"/>
          </a:p>
        </p:txBody>
      </p:sp>
      <p:sp>
        <p:nvSpPr>
          <p:cNvPr id="113" name="Shape 111"/>
          <p:cNvSpPr/>
          <p:nvPr/>
        </p:nvSpPr>
        <p:spPr>
          <a:xfrm>
            <a:off x="457200" y="5961888"/>
            <a:ext cx="11274552" cy="548640"/>
          </a:xfrm>
          <a:prstGeom prst="rect">
            <a:avLst/>
          </a:prstGeom>
          <a:solidFill>
            <a:srgbClr val="EDF4FA"/>
          </a:solidFill>
          <a:ln/>
        </p:spPr>
      </p:sp>
      <p:sp>
        <p:nvSpPr>
          <p:cNvPr id="114" name="Text 112"/>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20 of 33 stores at or above the 85% target and 12 above 100%. Group 94.7%, led by HONDA HENDERSON at 118.5%; ACURA lowest at 67.4%.</a:t>
            </a:r>
            <a:endParaRPr lang="en-US" sz="1600" dirty="0"/>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Technician Proficiency Status</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Shape 4"/>
          <p:cNvSpPr/>
          <p:nvPr/>
        </p:nvSpPr>
        <p:spPr>
          <a:xfrm>
            <a:off x="658368" y="1371600"/>
            <a:ext cx="201168" cy="201168"/>
          </a:xfrm>
          <a:prstGeom prst="rect">
            <a:avLst/>
          </a:prstGeom>
          <a:solidFill>
            <a:srgbClr val="12A566"/>
          </a:solidFill>
          <a:ln/>
        </p:spPr>
      </p:sp>
      <p:sp>
        <p:nvSpPr>
          <p:cNvPr id="7" name="Text 5"/>
          <p:cNvSpPr txBox="1"/>
          <p:nvPr/>
        </p:nvSpPr>
        <p:spPr>
          <a:xfrm>
            <a:off x="932688" y="1298448"/>
            <a:ext cx="1691640" cy="347472"/>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Above 100 %</a:t>
            </a:r>
            <a:endParaRPr lang="en-US" sz="1400" dirty="0"/>
          </a:p>
        </p:txBody>
      </p:sp>
      <p:sp>
        <p:nvSpPr>
          <p:cNvPr id="8" name="Shape 6"/>
          <p:cNvSpPr/>
          <p:nvPr/>
        </p:nvSpPr>
        <p:spPr>
          <a:xfrm>
            <a:off x="2624328" y="1371600"/>
            <a:ext cx="201168" cy="201168"/>
          </a:xfrm>
          <a:prstGeom prst="rect">
            <a:avLst/>
          </a:prstGeom>
          <a:solidFill>
            <a:srgbClr val="5B9BD5"/>
          </a:solidFill>
          <a:ln/>
        </p:spPr>
      </p:sp>
      <p:sp>
        <p:nvSpPr>
          <p:cNvPr id="9" name="Text 7"/>
          <p:cNvSpPr txBox="1"/>
          <p:nvPr/>
        </p:nvSpPr>
        <p:spPr>
          <a:xfrm>
            <a:off x="2898648" y="1298448"/>
            <a:ext cx="1691640" cy="347472"/>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85 to 99.9 %</a:t>
            </a:r>
            <a:endParaRPr lang="en-US" sz="1400" dirty="0"/>
          </a:p>
        </p:txBody>
      </p:sp>
      <p:sp>
        <p:nvSpPr>
          <p:cNvPr id="10" name="Shape 8"/>
          <p:cNvSpPr/>
          <p:nvPr/>
        </p:nvSpPr>
        <p:spPr>
          <a:xfrm>
            <a:off x="4590288" y="1371600"/>
            <a:ext cx="201168" cy="201168"/>
          </a:xfrm>
          <a:prstGeom prst="rect">
            <a:avLst/>
          </a:prstGeom>
          <a:solidFill>
            <a:srgbClr val="C2352F"/>
          </a:solidFill>
          <a:ln/>
        </p:spPr>
      </p:sp>
      <p:sp>
        <p:nvSpPr>
          <p:cNvPr id="11" name="Text 9"/>
          <p:cNvSpPr txBox="1"/>
          <p:nvPr/>
        </p:nvSpPr>
        <p:spPr>
          <a:xfrm>
            <a:off x="4864608" y="1298448"/>
            <a:ext cx="1691640" cy="347472"/>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Under 85 %</a:t>
            </a:r>
            <a:endParaRPr lang="en-US" sz="1400" dirty="0"/>
          </a:p>
        </p:txBody>
      </p:sp>
      <p:sp>
        <p:nvSpPr>
          <p:cNvPr id="12" name="Shape 10"/>
          <p:cNvSpPr/>
          <p:nvPr/>
        </p:nvSpPr>
        <p:spPr>
          <a:xfrm>
            <a:off x="6675120" y="1298448"/>
            <a:ext cx="4855464" cy="384048"/>
          </a:xfrm>
          <a:prstGeom prst="rect">
            <a:avLst/>
          </a:prstGeom>
          <a:solidFill>
            <a:srgbClr val="EDF4FA"/>
          </a:solidFill>
          <a:ln/>
        </p:spPr>
      </p:sp>
      <p:sp>
        <p:nvSpPr>
          <p:cNvPr id="13" name="Text 11"/>
          <p:cNvSpPr txBox="1"/>
          <p:nvPr/>
        </p:nvSpPr>
        <p:spPr>
          <a:xfrm>
            <a:off x="6766560" y="1298448"/>
            <a:ext cx="914400" cy="38404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GROUP</a:t>
            </a:r>
            <a:endParaRPr lang="en-US" sz="1500" dirty="0"/>
          </a:p>
        </p:txBody>
      </p:sp>
      <p:sp>
        <p:nvSpPr>
          <p:cNvPr id="14" name="Shape 12"/>
          <p:cNvSpPr/>
          <p:nvPr/>
        </p:nvSpPr>
        <p:spPr>
          <a:xfrm>
            <a:off x="7726680" y="1344168"/>
            <a:ext cx="1260837" cy="292608"/>
          </a:xfrm>
          <a:prstGeom prst="rect">
            <a:avLst/>
          </a:prstGeom>
          <a:solidFill>
            <a:srgbClr val="12A566"/>
          </a:solidFill>
          <a:ln w="6350">
            <a:solidFill>
              <a:srgbClr val="FFFFFF"/>
            </a:solidFill>
            <a:prstDash val="solid"/>
          </a:ln>
        </p:spPr>
      </p:sp>
      <p:sp>
        <p:nvSpPr>
          <p:cNvPr id="15" name="Text 13"/>
          <p:cNvSpPr txBox="1"/>
          <p:nvPr/>
        </p:nvSpPr>
        <p:spPr>
          <a:xfrm>
            <a:off x="7726680" y="1344168"/>
            <a:ext cx="1260837" cy="292608"/>
          </a:xfrm>
          <a:prstGeom prst="rect">
            <a:avLst/>
          </a:prstGeom>
          <a:noFill/>
          <a:ln/>
        </p:spPr>
        <p:txBody>
          <a:bodyPr wrap="non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34</a:t>
            </a:r>
            <a:endParaRPr lang="en-US" sz="1400" dirty="0"/>
          </a:p>
        </p:txBody>
      </p:sp>
      <p:sp>
        <p:nvSpPr>
          <p:cNvPr id="16" name="Shape 14"/>
          <p:cNvSpPr/>
          <p:nvPr/>
        </p:nvSpPr>
        <p:spPr>
          <a:xfrm>
            <a:off x="8987517" y="1344168"/>
            <a:ext cx="783247" cy="292608"/>
          </a:xfrm>
          <a:prstGeom prst="rect">
            <a:avLst/>
          </a:prstGeom>
          <a:solidFill>
            <a:srgbClr val="5B9BD5"/>
          </a:solidFill>
          <a:ln w="6350">
            <a:solidFill>
              <a:srgbClr val="FFFFFF"/>
            </a:solidFill>
            <a:prstDash val="solid"/>
          </a:ln>
        </p:spPr>
      </p:sp>
      <p:sp>
        <p:nvSpPr>
          <p:cNvPr id="17" name="Text 15"/>
          <p:cNvSpPr txBox="1"/>
          <p:nvPr/>
        </p:nvSpPr>
        <p:spPr>
          <a:xfrm>
            <a:off x="8987517" y="1344168"/>
            <a:ext cx="783247" cy="292608"/>
          </a:xfrm>
          <a:prstGeom prst="rect">
            <a:avLst/>
          </a:prstGeom>
          <a:noFill/>
          <a:ln/>
        </p:spPr>
        <p:txBody>
          <a:bodyPr wrap="non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21</a:t>
            </a:r>
            <a:endParaRPr lang="en-US" sz="1400" dirty="0"/>
          </a:p>
        </p:txBody>
      </p:sp>
      <p:sp>
        <p:nvSpPr>
          <p:cNvPr id="18" name="Shape 16"/>
          <p:cNvSpPr/>
          <p:nvPr/>
        </p:nvSpPr>
        <p:spPr>
          <a:xfrm>
            <a:off x="9770764" y="1344168"/>
            <a:ext cx="1668380" cy="292608"/>
          </a:xfrm>
          <a:prstGeom prst="rect">
            <a:avLst/>
          </a:prstGeom>
          <a:solidFill>
            <a:srgbClr val="C2352F"/>
          </a:solidFill>
          <a:ln w="6350">
            <a:solidFill>
              <a:srgbClr val="FFFFFF"/>
            </a:solidFill>
            <a:prstDash val="solid"/>
          </a:ln>
        </p:spPr>
      </p:sp>
      <p:sp>
        <p:nvSpPr>
          <p:cNvPr id="19" name="Text 17"/>
          <p:cNvSpPr txBox="1"/>
          <p:nvPr/>
        </p:nvSpPr>
        <p:spPr>
          <a:xfrm>
            <a:off x="9770764" y="1344168"/>
            <a:ext cx="1668380" cy="292608"/>
          </a:xfrm>
          <a:prstGeom prst="rect">
            <a:avLst/>
          </a:prstGeom>
          <a:noFill/>
          <a:ln/>
        </p:spPr>
        <p:txBody>
          <a:bodyPr wrap="non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45</a:t>
            </a:r>
            <a:endParaRPr lang="en-US" sz="1400" dirty="0"/>
          </a:p>
        </p:txBody>
      </p:sp>
      <p:sp>
        <p:nvSpPr>
          <p:cNvPr id="20" name="Text 18"/>
          <p:cNvSpPr txBox="1"/>
          <p:nvPr/>
        </p:nvSpPr>
        <p:spPr>
          <a:xfrm>
            <a:off x="658368" y="1828800"/>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21" name="Shape 19"/>
          <p:cNvSpPr/>
          <p:nvPr/>
        </p:nvSpPr>
        <p:spPr>
          <a:xfrm>
            <a:off x="2807208" y="1856426"/>
            <a:ext cx="2366010" cy="174962"/>
          </a:xfrm>
          <a:prstGeom prst="rect">
            <a:avLst/>
          </a:prstGeom>
          <a:solidFill>
            <a:srgbClr val="12A566"/>
          </a:solidFill>
          <a:ln w="6350">
            <a:solidFill>
              <a:srgbClr val="FFFFFF"/>
            </a:solidFill>
            <a:prstDash val="solid"/>
          </a:ln>
        </p:spPr>
      </p:sp>
      <p:sp>
        <p:nvSpPr>
          <p:cNvPr id="22" name="Text 20"/>
          <p:cNvSpPr txBox="1"/>
          <p:nvPr/>
        </p:nvSpPr>
        <p:spPr>
          <a:xfrm>
            <a:off x="2807208" y="1856426"/>
            <a:ext cx="236601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75</a:t>
            </a:r>
            <a:endParaRPr lang="en-US" sz="1300" dirty="0"/>
          </a:p>
        </p:txBody>
      </p:sp>
      <p:sp>
        <p:nvSpPr>
          <p:cNvPr id="23" name="Shape 21"/>
          <p:cNvSpPr/>
          <p:nvPr/>
        </p:nvSpPr>
        <p:spPr>
          <a:xfrm>
            <a:off x="5173218" y="1856426"/>
            <a:ext cx="914" cy="174962"/>
          </a:xfrm>
          <a:prstGeom prst="rect">
            <a:avLst/>
          </a:prstGeom>
          <a:solidFill>
            <a:srgbClr val="5B9BD5"/>
          </a:solidFill>
          <a:ln w="6350">
            <a:solidFill>
              <a:srgbClr val="FFFFFF"/>
            </a:solidFill>
            <a:prstDash val="solid"/>
          </a:ln>
        </p:spPr>
      </p:sp>
      <p:sp>
        <p:nvSpPr>
          <p:cNvPr id="24" name="Shape 22"/>
          <p:cNvSpPr/>
          <p:nvPr/>
        </p:nvSpPr>
        <p:spPr>
          <a:xfrm>
            <a:off x="5173218" y="1856426"/>
            <a:ext cx="788670" cy="174962"/>
          </a:xfrm>
          <a:prstGeom prst="rect">
            <a:avLst/>
          </a:prstGeom>
          <a:solidFill>
            <a:srgbClr val="C2352F"/>
          </a:solidFill>
          <a:ln w="6350">
            <a:solidFill>
              <a:srgbClr val="FFFFFF"/>
            </a:solidFill>
            <a:prstDash val="solid"/>
          </a:ln>
        </p:spPr>
      </p:sp>
      <p:sp>
        <p:nvSpPr>
          <p:cNvPr id="25" name="Text 23"/>
          <p:cNvSpPr txBox="1"/>
          <p:nvPr/>
        </p:nvSpPr>
        <p:spPr>
          <a:xfrm>
            <a:off x="5173218" y="1856426"/>
            <a:ext cx="78867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25</a:t>
            </a:r>
            <a:endParaRPr lang="en-US" sz="1300" dirty="0"/>
          </a:p>
        </p:txBody>
      </p:sp>
      <p:sp>
        <p:nvSpPr>
          <p:cNvPr id="26" name="Text 24"/>
          <p:cNvSpPr txBox="1"/>
          <p:nvPr/>
        </p:nvSpPr>
        <p:spPr>
          <a:xfrm>
            <a:off x="658368" y="2059014"/>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27" name="Shape 25"/>
          <p:cNvSpPr/>
          <p:nvPr/>
        </p:nvSpPr>
        <p:spPr>
          <a:xfrm>
            <a:off x="2807208" y="2086639"/>
            <a:ext cx="2103120" cy="174962"/>
          </a:xfrm>
          <a:prstGeom prst="rect">
            <a:avLst/>
          </a:prstGeom>
          <a:solidFill>
            <a:srgbClr val="12A566"/>
          </a:solidFill>
          <a:ln w="6350">
            <a:solidFill>
              <a:srgbClr val="FFFFFF"/>
            </a:solidFill>
            <a:prstDash val="solid"/>
          </a:ln>
        </p:spPr>
      </p:sp>
      <p:sp>
        <p:nvSpPr>
          <p:cNvPr id="28" name="Text 26"/>
          <p:cNvSpPr txBox="1"/>
          <p:nvPr/>
        </p:nvSpPr>
        <p:spPr>
          <a:xfrm>
            <a:off x="2807208" y="2086639"/>
            <a:ext cx="210312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67</a:t>
            </a:r>
            <a:endParaRPr lang="en-US" sz="1300" dirty="0"/>
          </a:p>
        </p:txBody>
      </p:sp>
      <p:sp>
        <p:nvSpPr>
          <p:cNvPr id="29" name="Shape 27"/>
          <p:cNvSpPr/>
          <p:nvPr/>
        </p:nvSpPr>
        <p:spPr>
          <a:xfrm>
            <a:off x="4910328" y="2086639"/>
            <a:ext cx="630936" cy="174962"/>
          </a:xfrm>
          <a:prstGeom prst="rect">
            <a:avLst/>
          </a:prstGeom>
          <a:solidFill>
            <a:srgbClr val="5B9BD5"/>
          </a:solidFill>
          <a:ln w="6350">
            <a:solidFill>
              <a:srgbClr val="FFFFFF"/>
            </a:solidFill>
            <a:prstDash val="solid"/>
          </a:ln>
        </p:spPr>
      </p:sp>
      <p:sp>
        <p:nvSpPr>
          <p:cNvPr id="30" name="Text 28"/>
          <p:cNvSpPr txBox="1"/>
          <p:nvPr/>
        </p:nvSpPr>
        <p:spPr>
          <a:xfrm>
            <a:off x="4910328" y="2086639"/>
            <a:ext cx="630936"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20</a:t>
            </a:r>
            <a:endParaRPr lang="en-US" sz="1300" dirty="0"/>
          </a:p>
        </p:txBody>
      </p:sp>
      <p:sp>
        <p:nvSpPr>
          <p:cNvPr id="31" name="Shape 29"/>
          <p:cNvSpPr/>
          <p:nvPr/>
        </p:nvSpPr>
        <p:spPr>
          <a:xfrm>
            <a:off x="5541264" y="2086639"/>
            <a:ext cx="420624" cy="174962"/>
          </a:xfrm>
          <a:prstGeom prst="rect">
            <a:avLst/>
          </a:prstGeom>
          <a:solidFill>
            <a:srgbClr val="C2352F"/>
          </a:solidFill>
          <a:ln w="6350">
            <a:solidFill>
              <a:srgbClr val="FFFFFF"/>
            </a:solidFill>
            <a:prstDash val="solid"/>
          </a:ln>
        </p:spPr>
      </p:sp>
      <p:sp>
        <p:nvSpPr>
          <p:cNvPr id="32" name="Text 30"/>
          <p:cNvSpPr txBox="1"/>
          <p:nvPr/>
        </p:nvSpPr>
        <p:spPr>
          <a:xfrm>
            <a:off x="5541264" y="2086639"/>
            <a:ext cx="420624"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13</a:t>
            </a:r>
            <a:endParaRPr lang="en-US" sz="1300" dirty="0"/>
          </a:p>
        </p:txBody>
      </p:sp>
      <p:sp>
        <p:nvSpPr>
          <p:cNvPr id="33" name="Text 31"/>
          <p:cNvSpPr txBox="1"/>
          <p:nvPr/>
        </p:nvSpPr>
        <p:spPr>
          <a:xfrm>
            <a:off x="658368" y="2289227"/>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34" name="Shape 32"/>
          <p:cNvSpPr/>
          <p:nvPr/>
        </p:nvSpPr>
        <p:spPr>
          <a:xfrm>
            <a:off x="2807208" y="2316853"/>
            <a:ext cx="1892808" cy="174962"/>
          </a:xfrm>
          <a:prstGeom prst="rect">
            <a:avLst/>
          </a:prstGeom>
          <a:solidFill>
            <a:srgbClr val="12A566"/>
          </a:solidFill>
          <a:ln w="6350">
            <a:solidFill>
              <a:srgbClr val="FFFFFF"/>
            </a:solidFill>
            <a:prstDash val="solid"/>
          </a:ln>
        </p:spPr>
      </p:sp>
      <p:sp>
        <p:nvSpPr>
          <p:cNvPr id="35" name="Text 33"/>
          <p:cNvSpPr txBox="1"/>
          <p:nvPr/>
        </p:nvSpPr>
        <p:spPr>
          <a:xfrm>
            <a:off x="2807208" y="2316853"/>
            <a:ext cx="1892808"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60</a:t>
            </a:r>
            <a:endParaRPr lang="en-US" sz="1300" dirty="0"/>
          </a:p>
        </p:txBody>
      </p:sp>
      <p:sp>
        <p:nvSpPr>
          <p:cNvPr id="36" name="Shape 34"/>
          <p:cNvSpPr/>
          <p:nvPr/>
        </p:nvSpPr>
        <p:spPr>
          <a:xfrm>
            <a:off x="4700016" y="2316853"/>
            <a:ext cx="914" cy="174962"/>
          </a:xfrm>
          <a:prstGeom prst="rect">
            <a:avLst/>
          </a:prstGeom>
          <a:solidFill>
            <a:srgbClr val="5B9BD5"/>
          </a:solidFill>
          <a:ln w="6350">
            <a:solidFill>
              <a:srgbClr val="FFFFFF"/>
            </a:solidFill>
            <a:prstDash val="solid"/>
          </a:ln>
        </p:spPr>
      </p:sp>
      <p:sp>
        <p:nvSpPr>
          <p:cNvPr id="37" name="Shape 35"/>
          <p:cNvSpPr/>
          <p:nvPr/>
        </p:nvSpPr>
        <p:spPr>
          <a:xfrm>
            <a:off x="4700016" y="2316853"/>
            <a:ext cx="1261872" cy="174962"/>
          </a:xfrm>
          <a:prstGeom prst="rect">
            <a:avLst/>
          </a:prstGeom>
          <a:solidFill>
            <a:srgbClr val="C2352F"/>
          </a:solidFill>
          <a:ln w="6350">
            <a:solidFill>
              <a:srgbClr val="FFFFFF"/>
            </a:solidFill>
            <a:prstDash val="solid"/>
          </a:ln>
        </p:spPr>
      </p:sp>
      <p:sp>
        <p:nvSpPr>
          <p:cNvPr id="38" name="Text 36"/>
          <p:cNvSpPr txBox="1"/>
          <p:nvPr/>
        </p:nvSpPr>
        <p:spPr>
          <a:xfrm>
            <a:off x="4700016" y="2316853"/>
            <a:ext cx="1261872"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40</a:t>
            </a:r>
            <a:endParaRPr lang="en-US" sz="1300" dirty="0"/>
          </a:p>
        </p:txBody>
      </p:sp>
      <p:sp>
        <p:nvSpPr>
          <p:cNvPr id="39" name="Text 37"/>
          <p:cNvSpPr txBox="1"/>
          <p:nvPr/>
        </p:nvSpPr>
        <p:spPr>
          <a:xfrm>
            <a:off x="658368" y="2519441"/>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40" name="Shape 38"/>
          <p:cNvSpPr/>
          <p:nvPr/>
        </p:nvSpPr>
        <p:spPr>
          <a:xfrm>
            <a:off x="2807208" y="2547067"/>
            <a:ext cx="1802674" cy="174962"/>
          </a:xfrm>
          <a:prstGeom prst="rect">
            <a:avLst/>
          </a:prstGeom>
          <a:solidFill>
            <a:srgbClr val="12A566"/>
          </a:solidFill>
          <a:ln w="6350">
            <a:solidFill>
              <a:srgbClr val="FFFFFF"/>
            </a:solidFill>
            <a:prstDash val="solid"/>
          </a:ln>
        </p:spPr>
      </p:sp>
      <p:sp>
        <p:nvSpPr>
          <p:cNvPr id="41" name="Text 39"/>
          <p:cNvSpPr txBox="1"/>
          <p:nvPr/>
        </p:nvSpPr>
        <p:spPr>
          <a:xfrm>
            <a:off x="2807208" y="2547067"/>
            <a:ext cx="1802674"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57</a:t>
            </a:r>
            <a:endParaRPr lang="en-US" sz="1300" dirty="0"/>
          </a:p>
        </p:txBody>
      </p:sp>
      <p:sp>
        <p:nvSpPr>
          <p:cNvPr id="42" name="Shape 40"/>
          <p:cNvSpPr/>
          <p:nvPr/>
        </p:nvSpPr>
        <p:spPr>
          <a:xfrm>
            <a:off x="4609882" y="2547067"/>
            <a:ext cx="788670" cy="174962"/>
          </a:xfrm>
          <a:prstGeom prst="rect">
            <a:avLst/>
          </a:prstGeom>
          <a:solidFill>
            <a:srgbClr val="5B9BD5"/>
          </a:solidFill>
          <a:ln w="6350">
            <a:solidFill>
              <a:srgbClr val="FFFFFF"/>
            </a:solidFill>
            <a:prstDash val="solid"/>
          </a:ln>
        </p:spPr>
      </p:sp>
      <p:sp>
        <p:nvSpPr>
          <p:cNvPr id="43" name="Text 41"/>
          <p:cNvSpPr txBox="1"/>
          <p:nvPr/>
        </p:nvSpPr>
        <p:spPr>
          <a:xfrm>
            <a:off x="4609882" y="2547067"/>
            <a:ext cx="78867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25</a:t>
            </a:r>
            <a:endParaRPr lang="en-US" sz="1300" dirty="0"/>
          </a:p>
        </p:txBody>
      </p:sp>
      <p:sp>
        <p:nvSpPr>
          <p:cNvPr id="44" name="Shape 42"/>
          <p:cNvSpPr/>
          <p:nvPr/>
        </p:nvSpPr>
        <p:spPr>
          <a:xfrm>
            <a:off x="5398552" y="2547067"/>
            <a:ext cx="563336" cy="174962"/>
          </a:xfrm>
          <a:prstGeom prst="rect">
            <a:avLst/>
          </a:prstGeom>
          <a:solidFill>
            <a:srgbClr val="C2352F"/>
          </a:solidFill>
          <a:ln w="6350">
            <a:solidFill>
              <a:srgbClr val="FFFFFF"/>
            </a:solidFill>
            <a:prstDash val="solid"/>
          </a:ln>
        </p:spPr>
      </p:sp>
      <p:sp>
        <p:nvSpPr>
          <p:cNvPr id="45" name="Text 43"/>
          <p:cNvSpPr txBox="1"/>
          <p:nvPr/>
        </p:nvSpPr>
        <p:spPr>
          <a:xfrm>
            <a:off x="5398552" y="2547067"/>
            <a:ext cx="563336"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18</a:t>
            </a:r>
            <a:endParaRPr lang="en-US" sz="1300" dirty="0"/>
          </a:p>
        </p:txBody>
      </p:sp>
      <p:sp>
        <p:nvSpPr>
          <p:cNvPr id="46" name="Text 44"/>
          <p:cNvSpPr txBox="1"/>
          <p:nvPr/>
        </p:nvSpPr>
        <p:spPr>
          <a:xfrm>
            <a:off x="658368" y="2749655"/>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47" name="Shape 45"/>
          <p:cNvSpPr/>
          <p:nvPr/>
        </p:nvSpPr>
        <p:spPr>
          <a:xfrm>
            <a:off x="2807208" y="2777280"/>
            <a:ext cx="1690007" cy="174962"/>
          </a:xfrm>
          <a:prstGeom prst="rect">
            <a:avLst/>
          </a:prstGeom>
          <a:solidFill>
            <a:srgbClr val="12A566"/>
          </a:solidFill>
          <a:ln w="6350">
            <a:solidFill>
              <a:srgbClr val="FFFFFF"/>
            </a:solidFill>
            <a:prstDash val="solid"/>
          </a:ln>
        </p:spPr>
      </p:sp>
      <p:sp>
        <p:nvSpPr>
          <p:cNvPr id="48" name="Text 46"/>
          <p:cNvSpPr txBox="1"/>
          <p:nvPr/>
        </p:nvSpPr>
        <p:spPr>
          <a:xfrm>
            <a:off x="2807208" y="2777280"/>
            <a:ext cx="1690007"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54</a:t>
            </a:r>
            <a:endParaRPr lang="en-US" sz="1300" dirty="0"/>
          </a:p>
        </p:txBody>
      </p:sp>
      <p:sp>
        <p:nvSpPr>
          <p:cNvPr id="49" name="Shape 47"/>
          <p:cNvSpPr/>
          <p:nvPr/>
        </p:nvSpPr>
        <p:spPr>
          <a:xfrm>
            <a:off x="4497215" y="2777280"/>
            <a:ext cx="1014004" cy="174962"/>
          </a:xfrm>
          <a:prstGeom prst="rect">
            <a:avLst/>
          </a:prstGeom>
          <a:solidFill>
            <a:srgbClr val="5B9BD5"/>
          </a:solidFill>
          <a:ln w="6350">
            <a:solidFill>
              <a:srgbClr val="FFFFFF"/>
            </a:solidFill>
            <a:prstDash val="solid"/>
          </a:ln>
        </p:spPr>
      </p:sp>
      <p:sp>
        <p:nvSpPr>
          <p:cNvPr id="50" name="Text 48"/>
          <p:cNvSpPr txBox="1"/>
          <p:nvPr/>
        </p:nvSpPr>
        <p:spPr>
          <a:xfrm>
            <a:off x="4497215" y="2777280"/>
            <a:ext cx="1014004"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32</a:t>
            </a:r>
            <a:endParaRPr lang="en-US" sz="1300" dirty="0"/>
          </a:p>
        </p:txBody>
      </p:sp>
      <p:sp>
        <p:nvSpPr>
          <p:cNvPr id="51" name="Shape 49"/>
          <p:cNvSpPr/>
          <p:nvPr/>
        </p:nvSpPr>
        <p:spPr>
          <a:xfrm>
            <a:off x="5511219" y="2777280"/>
            <a:ext cx="450669" cy="174962"/>
          </a:xfrm>
          <a:prstGeom prst="rect">
            <a:avLst/>
          </a:prstGeom>
          <a:solidFill>
            <a:srgbClr val="C2352F"/>
          </a:solidFill>
          <a:ln w="6350">
            <a:solidFill>
              <a:srgbClr val="FFFFFF"/>
            </a:solidFill>
            <a:prstDash val="solid"/>
          </a:ln>
        </p:spPr>
      </p:sp>
      <p:sp>
        <p:nvSpPr>
          <p:cNvPr id="52" name="Text 50"/>
          <p:cNvSpPr txBox="1"/>
          <p:nvPr/>
        </p:nvSpPr>
        <p:spPr>
          <a:xfrm>
            <a:off x="5511219" y="2777280"/>
            <a:ext cx="450669"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14</a:t>
            </a:r>
            <a:endParaRPr lang="en-US" sz="1300" dirty="0"/>
          </a:p>
        </p:txBody>
      </p:sp>
      <p:sp>
        <p:nvSpPr>
          <p:cNvPr id="53" name="Text 51"/>
          <p:cNvSpPr txBox="1"/>
          <p:nvPr/>
        </p:nvSpPr>
        <p:spPr>
          <a:xfrm>
            <a:off x="658368" y="2979868"/>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54" name="Shape 52"/>
          <p:cNvSpPr/>
          <p:nvPr/>
        </p:nvSpPr>
        <p:spPr>
          <a:xfrm>
            <a:off x="2807208" y="3007494"/>
            <a:ext cx="1577340" cy="174962"/>
          </a:xfrm>
          <a:prstGeom prst="rect">
            <a:avLst/>
          </a:prstGeom>
          <a:solidFill>
            <a:srgbClr val="12A566"/>
          </a:solidFill>
          <a:ln w="6350">
            <a:solidFill>
              <a:srgbClr val="FFFFFF"/>
            </a:solidFill>
            <a:prstDash val="solid"/>
          </a:ln>
        </p:spPr>
      </p:sp>
      <p:sp>
        <p:nvSpPr>
          <p:cNvPr id="55" name="Text 53"/>
          <p:cNvSpPr txBox="1"/>
          <p:nvPr/>
        </p:nvSpPr>
        <p:spPr>
          <a:xfrm>
            <a:off x="2807208" y="3007494"/>
            <a:ext cx="157734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50</a:t>
            </a:r>
            <a:endParaRPr lang="en-US" sz="1300" dirty="0"/>
          </a:p>
        </p:txBody>
      </p:sp>
      <p:sp>
        <p:nvSpPr>
          <p:cNvPr id="56" name="Shape 54"/>
          <p:cNvSpPr/>
          <p:nvPr/>
        </p:nvSpPr>
        <p:spPr>
          <a:xfrm>
            <a:off x="4384548" y="3007494"/>
            <a:ext cx="914" cy="174962"/>
          </a:xfrm>
          <a:prstGeom prst="rect">
            <a:avLst/>
          </a:prstGeom>
          <a:solidFill>
            <a:srgbClr val="5B9BD5"/>
          </a:solidFill>
          <a:ln w="6350">
            <a:solidFill>
              <a:srgbClr val="FFFFFF"/>
            </a:solidFill>
            <a:prstDash val="solid"/>
          </a:ln>
        </p:spPr>
      </p:sp>
      <p:sp>
        <p:nvSpPr>
          <p:cNvPr id="57" name="Shape 55"/>
          <p:cNvSpPr/>
          <p:nvPr/>
        </p:nvSpPr>
        <p:spPr>
          <a:xfrm>
            <a:off x="4384548" y="3007494"/>
            <a:ext cx="1577340" cy="174962"/>
          </a:xfrm>
          <a:prstGeom prst="rect">
            <a:avLst/>
          </a:prstGeom>
          <a:solidFill>
            <a:srgbClr val="C2352F"/>
          </a:solidFill>
          <a:ln w="6350">
            <a:solidFill>
              <a:srgbClr val="FFFFFF"/>
            </a:solidFill>
            <a:prstDash val="solid"/>
          </a:ln>
        </p:spPr>
      </p:sp>
      <p:sp>
        <p:nvSpPr>
          <p:cNvPr id="58" name="Text 56"/>
          <p:cNvSpPr txBox="1"/>
          <p:nvPr/>
        </p:nvSpPr>
        <p:spPr>
          <a:xfrm>
            <a:off x="4384548" y="3007494"/>
            <a:ext cx="157734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50</a:t>
            </a:r>
            <a:endParaRPr lang="en-US" sz="1300" dirty="0"/>
          </a:p>
        </p:txBody>
      </p:sp>
      <p:sp>
        <p:nvSpPr>
          <p:cNvPr id="59" name="Text 57"/>
          <p:cNvSpPr txBox="1"/>
          <p:nvPr/>
        </p:nvSpPr>
        <p:spPr>
          <a:xfrm>
            <a:off x="658368" y="3210082"/>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60" name="Shape 58"/>
          <p:cNvSpPr/>
          <p:nvPr/>
        </p:nvSpPr>
        <p:spPr>
          <a:xfrm>
            <a:off x="2807208" y="3237708"/>
            <a:ext cx="1433945" cy="174962"/>
          </a:xfrm>
          <a:prstGeom prst="rect">
            <a:avLst/>
          </a:prstGeom>
          <a:solidFill>
            <a:srgbClr val="12A566"/>
          </a:solidFill>
          <a:ln w="6350">
            <a:solidFill>
              <a:srgbClr val="FFFFFF"/>
            </a:solidFill>
            <a:prstDash val="solid"/>
          </a:ln>
        </p:spPr>
      </p:sp>
      <p:sp>
        <p:nvSpPr>
          <p:cNvPr id="61" name="Text 59"/>
          <p:cNvSpPr txBox="1"/>
          <p:nvPr/>
        </p:nvSpPr>
        <p:spPr>
          <a:xfrm>
            <a:off x="2807208" y="3237708"/>
            <a:ext cx="1433945"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45</a:t>
            </a:r>
            <a:endParaRPr lang="en-US" sz="1300" dirty="0"/>
          </a:p>
        </p:txBody>
      </p:sp>
      <p:sp>
        <p:nvSpPr>
          <p:cNvPr id="62" name="Shape 60"/>
          <p:cNvSpPr/>
          <p:nvPr/>
        </p:nvSpPr>
        <p:spPr>
          <a:xfrm>
            <a:off x="4241153" y="3237708"/>
            <a:ext cx="1147156" cy="174962"/>
          </a:xfrm>
          <a:prstGeom prst="rect">
            <a:avLst/>
          </a:prstGeom>
          <a:solidFill>
            <a:srgbClr val="5B9BD5"/>
          </a:solidFill>
          <a:ln w="6350">
            <a:solidFill>
              <a:srgbClr val="FFFFFF"/>
            </a:solidFill>
            <a:prstDash val="solid"/>
          </a:ln>
        </p:spPr>
      </p:sp>
      <p:sp>
        <p:nvSpPr>
          <p:cNvPr id="63" name="Text 61"/>
          <p:cNvSpPr txBox="1"/>
          <p:nvPr/>
        </p:nvSpPr>
        <p:spPr>
          <a:xfrm>
            <a:off x="4241153" y="3237708"/>
            <a:ext cx="1147156"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36</a:t>
            </a:r>
            <a:endParaRPr lang="en-US" sz="1300" dirty="0"/>
          </a:p>
        </p:txBody>
      </p:sp>
      <p:sp>
        <p:nvSpPr>
          <p:cNvPr id="64" name="Shape 62"/>
          <p:cNvSpPr/>
          <p:nvPr/>
        </p:nvSpPr>
        <p:spPr>
          <a:xfrm>
            <a:off x="5388310" y="3237708"/>
            <a:ext cx="573578" cy="174962"/>
          </a:xfrm>
          <a:prstGeom prst="rect">
            <a:avLst/>
          </a:prstGeom>
          <a:solidFill>
            <a:srgbClr val="C2352F"/>
          </a:solidFill>
          <a:ln w="6350">
            <a:solidFill>
              <a:srgbClr val="FFFFFF"/>
            </a:solidFill>
            <a:prstDash val="solid"/>
          </a:ln>
        </p:spPr>
      </p:sp>
      <p:sp>
        <p:nvSpPr>
          <p:cNvPr id="65" name="Text 63"/>
          <p:cNvSpPr txBox="1"/>
          <p:nvPr/>
        </p:nvSpPr>
        <p:spPr>
          <a:xfrm>
            <a:off x="5388310" y="3237708"/>
            <a:ext cx="573578"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18</a:t>
            </a:r>
            <a:endParaRPr lang="en-US" sz="1300" dirty="0"/>
          </a:p>
        </p:txBody>
      </p:sp>
      <p:sp>
        <p:nvSpPr>
          <p:cNvPr id="66" name="Text 64"/>
          <p:cNvSpPr txBox="1"/>
          <p:nvPr/>
        </p:nvSpPr>
        <p:spPr>
          <a:xfrm>
            <a:off x="658368" y="3440296"/>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67" name="Shape 65"/>
          <p:cNvSpPr/>
          <p:nvPr/>
        </p:nvSpPr>
        <p:spPr>
          <a:xfrm>
            <a:off x="2807208" y="3467921"/>
            <a:ext cx="1433945" cy="174962"/>
          </a:xfrm>
          <a:prstGeom prst="rect">
            <a:avLst/>
          </a:prstGeom>
          <a:solidFill>
            <a:srgbClr val="12A566"/>
          </a:solidFill>
          <a:ln w="6350">
            <a:solidFill>
              <a:srgbClr val="FFFFFF"/>
            </a:solidFill>
            <a:prstDash val="solid"/>
          </a:ln>
        </p:spPr>
      </p:sp>
      <p:sp>
        <p:nvSpPr>
          <p:cNvPr id="68" name="Text 66"/>
          <p:cNvSpPr txBox="1"/>
          <p:nvPr/>
        </p:nvSpPr>
        <p:spPr>
          <a:xfrm>
            <a:off x="2807208" y="3467921"/>
            <a:ext cx="1433945"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45</a:t>
            </a:r>
            <a:endParaRPr lang="en-US" sz="1300" dirty="0"/>
          </a:p>
        </p:txBody>
      </p:sp>
      <p:sp>
        <p:nvSpPr>
          <p:cNvPr id="69" name="Shape 67"/>
          <p:cNvSpPr/>
          <p:nvPr/>
        </p:nvSpPr>
        <p:spPr>
          <a:xfrm>
            <a:off x="4241153" y="3467921"/>
            <a:ext cx="573578" cy="174962"/>
          </a:xfrm>
          <a:prstGeom prst="rect">
            <a:avLst/>
          </a:prstGeom>
          <a:solidFill>
            <a:srgbClr val="5B9BD5"/>
          </a:solidFill>
          <a:ln w="6350">
            <a:solidFill>
              <a:srgbClr val="FFFFFF"/>
            </a:solidFill>
            <a:prstDash val="solid"/>
          </a:ln>
        </p:spPr>
      </p:sp>
      <p:sp>
        <p:nvSpPr>
          <p:cNvPr id="70" name="Text 68"/>
          <p:cNvSpPr txBox="1"/>
          <p:nvPr/>
        </p:nvSpPr>
        <p:spPr>
          <a:xfrm>
            <a:off x="4241153" y="3467921"/>
            <a:ext cx="573578"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18</a:t>
            </a:r>
            <a:endParaRPr lang="en-US" sz="1300" dirty="0"/>
          </a:p>
        </p:txBody>
      </p:sp>
      <p:sp>
        <p:nvSpPr>
          <p:cNvPr id="71" name="Shape 69"/>
          <p:cNvSpPr/>
          <p:nvPr/>
        </p:nvSpPr>
        <p:spPr>
          <a:xfrm>
            <a:off x="4814732" y="3467921"/>
            <a:ext cx="1147156" cy="174962"/>
          </a:xfrm>
          <a:prstGeom prst="rect">
            <a:avLst/>
          </a:prstGeom>
          <a:solidFill>
            <a:srgbClr val="C2352F"/>
          </a:solidFill>
          <a:ln w="6350">
            <a:solidFill>
              <a:srgbClr val="FFFFFF"/>
            </a:solidFill>
            <a:prstDash val="solid"/>
          </a:ln>
        </p:spPr>
      </p:sp>
      <p:sp>
        <p:nvSpPr>
          <p:cNvPr id="72" name="Text 70"/>
          <p:cNvSpPr txBox="1"/>
          <p:nvPr/>
        </p:nvSpPr>
        <p:spPr>
          <a:xfrm>
            <a:off x="4814732" y="3467921"/>
            <a:ext cx="1147156"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36</a:t>
            </a:r>
            <a:endParaRPr lang="en-US" sz="1300" dirty="0"/>
          </a:p>
        </p:txBody>
      </p:sp>
      <p:sp>
        <p:nvSpPr>
          <p:cNvPr id="73" name="Text 71"/>
          <p:cNvSpPr txBox="1"/>
          <p:nvPr/>
        </p:nvSpPr>
        <p:spPr>
          <a:xfrm>
            <a:off x="658368" y="3670509"/>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74" name="Shape 72"/>
          <p:cNvSpPr/>
          <p:nvPr/>
        </p:nvSpPr>
        <p:spPr>
          <a:xfrm>
            <a:off x="2807208" y="3698135"/>
            <a:ext cx="1352006" cy="174962"/>
          </a:xfrm>
          <a:prstGeom prst="rect">
            <a:avLst/>
          </a:prstGeom>
          <a:solidFill>
            <a:srgbClr val="12A566"/>
          </a:solidFill>
          <a:ln w="6350">
            <a:solidFill>
              <a:srgbClr val="FFFFFF"/>
            </a:solidFill>
            <a:prstDash val="solid"/>
          </a:ln>
        </p:spPr>
      </p:sp>
      <p:sp>
        <p:nvSpPr>
          <p:cNvPr id="75" name="Text 73"/>
          <p:cNvSpPr txBox="1"/>
          <p:nvPr/>
        </p:nvSpPr>
        <p:spPr>
          <a:xfrm>
            <a:off x="2807208" y="3698135"/>
            <a:ext cx="1352006"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43</a:t>
            </a:r>
            <a:endParaRPr lang="en-US" sz="1300" dirty="0"/>
          </a:p>
        </p:txBody>
      </p:sp>
      <p:sp>
        <p:nvSpPr>
          <p:cNvPr id="76" name="Shape 74"/>
          <p:cNvSpPr/>
          <p:nvPr/>
        </p:nvSpPr>
        <p:spPr>
          <a:xfrm>
            <a:off x="4159214" y="3698135"/>
            <a:ext cx="450669" cy="174962"/>
          </a:xfrm>
          <a:prstGeom prst="rect">
            <a:avLst/>
          </a:prstGeom>
          <a:solidFill>
            <a:srgbClr val="5B9BD5"/>
          </a:solidFill>
          <a:ln w="6350">
            <a:solidFill>
              <a:srgbClr val="FFFFFF"/>
            </a:solidFill>
            <a:prstDash val="solid"/>
          </a:ln>
        </p:spPr>
      </p:sp>
      <p:sp>
        <p:nvSpPr>
          <p:cNvPr id="77" name="Text 75"/>
          <p:cNvSpPr txBox="1"/>
          <p:nvPr/>
        </p:nvSpPr>
        <p:spPr>
          <a:xfrm>
            <a:off x="4159214" y="3698135"/>
            <a:ext cx="450669"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14</a:t>
            </a:r>
            <a:endParaRPr lang="en-US" sz="1300" dirty="0"/>
          </a:p>
        </p:txBody>
      </p:sp>
      <p:sp>
        <p:nvSpPr>
          <p:cNvPr id="78" name="Shape 76"/>
          <p:cNvSpPr/>
          <p:nvPr/>
        </p:nvSpPr>
        <p:spPr>
          <a:xfrm>
            <a:off x="4609882" y="3698135"/>
            <a:ext cx="1352006" cy="174962"/>
          </a:xfrm>
          <a:prstGeom prst="rect">
            <a:avLst/>
          </a:prstGeom>
          <a:solidFill>
            <a:srgbClr val="C2352F"/>
          </a:solidFill>
          <a:ln w="6350">
            <a:solidFill>
              <a:srgbClr val="FFFFFF"/>
            </a:solidFill>
            <a:prstDash val="solid"/>
          </a:ln>
        </p:spPr>
      </p:sp>
      <p:sp>
        <p:nvSpPr>
          <p:cNvPr id="79" name="Text 77"/>
          <p:cNvSpPr txBox="1"/>
          <p:nvPr/>
        </p:nvSpPr>
        <p:spPr>
          <a:xfrm>
            <a:off x="4609882" y="3698135"/>
            <a:ext cx="1352006"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43</a:t>
            </a:r>
            <a:endParaRPr lang="en-US" sz="1300" dirty="0"/>
          </a:p>
        </p:txBody>
      </p:sp>
      <p:sp>
        <p:nvSpPr>
          <p:cNvPr id="80" name="Text 78"/>
          <p:cNvSpPr txBox="1"/>
          <p:nvPr/>
        </p:nvSpPr>
        <p:spPr>
          <a:xfrm>
            <a:off x="658368" y="3900723"/>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81" name="Shape 79"/>
          <p:cNvSpPr/>
          <p:nvPr/>
        </p:nvSpPr>
        <p:spPr>
          <a:xfrm>
            <a:off x="2807208" y="3928348"/>
            <a:ext cx="1298986" cy="174962"/>
          </a:xfrm>
          <a:prstGeom prst="rect">
            <a:avLst/>
          </a:prstGeom>
          <a:solidFill>
            <a:srgbClr val="12A566"/>
          </a:solidFill>
          <a:ln w="6350">
            <a:solidFill>
              <a:srgbClr val="FFFFFF"/>
            </a:solidFill>
            <a:prstDash val="solid"/>
          </a:ln>
        </p:spPr>
      </p:sp>
      <p:sp>
        <p:nvSpPr>
          <p:cNvPr id="82" name="Text 80"/>
          <p:cNvSpPr txBox="1"/>
          <p:nvPr/>
        </p:nvSpPr>
        <p:spPr>
          <a:xfrm>
            <a:off x="2807208" y="3928348"/>
            <a:ext cx="1298986"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41</a:t>
            </a:r>
            <a:endParaRPr lang="en-US" sz="1300" dirty="0"/>
          </a:p>
        </p:txBody>
      </p:sp>
      <p:sp>
        <p:nvSpPr>
          <p:cNvPr id="83" name="Shape 81"/>
          <p:cNvSpPr/>
          <p:nvPr/>
        </p:nvSpPr>
        <p:spPr>
          <a:xfrm>
            <a:off x="4106194" y="3928348"/>
            <a:ext cx="865991" cy="174962"/>
          </a:xfrm>
          <a:prstGeom prst="rect">
            <a:avLst/>
          </a:prstGeom>
          <a:solidFill>
            <a:srgbClr val="5B9BD5"/>
          </a:solidFill>
          <a:ln w="6350">
            <a:solidFill>
              <a:srgbClr val="FFFFFF"/>
            </a:solidFill>
            <a:prstDash val="solid"/>
          </a:ln>
        </p:spPr>
      </p:sp>
      <p:sp>
        <p:nvSpPr>
          <p:cNvPr id="84" name="Text 82"/>
          <p:cNvSpPr txBox="1"/>
          <p:nvPr/>
        </p:nvSpPr>
        <p:spPr>
          <a:xfrm>
            <a:off x="4106194" y="3928348"/>
            <a:ext cx="865991"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27</a:t>
            </a:r>
            <a:endParaRPr lang="en-US" sz="1300" dirty="0"/>
          </a:p>
        </p:txBody>
      </p:sp>
      <p:sp>
        <p:nvSpPr>
          <p:cNvPr id="85" name="Shape 83"/>
          <p:cNvSpPr/>
          <p:nvPr/>
        </p:nvSpPr>
        <p:spPr>
          <a:xfrm>
            <a:off x="4972184" y="3928348"/>
            <a:ext cx="989704" cy="174962"/>
          </a:xfrm>
          <a:prstGeom prst="rect">
            <a:avLst/>
          </a:prstGeom>
          <a:solidFill>
            <a:srgbClr val="C2352F"/>
          </a:solidFill>
          <a:ln w="6350">
            <a:solidFill>
              <a:srgbClr val="FFFFFF"/>
            </a:solidFill>
            <a:prstDash val="solid"/>
          </a:ln>
        </p:spPr>
      </p:sp>
      <p:sp>
        <p:nvSpPr>
          <p:cNvPr id="86" name="Text 84"/>
          <p:cNvSpPr txBox="1"/>
          <p:nvPr/>
        </p:nvSpPr>
        <p:spPr>
          <a:xfrm>
            <a:off x="4972184" y="3928348"/>
            <a:ext cx="989704"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31</a:t>
            </a:r>
            <a:endParaRPr lang="en-US" sz="1300" dirty="0"/>
          </a:p>
        </p:txBody>
      </p:sp>
      <p:sp>
        <p:nvSpPr>
          <p:cNvPr id="87" name="Text 85"/>
          <p:cNvSpPr txBox="1"/>
          <p:nvPr/>
        </p:nvSpPr>
        <p:spPr>
          <a:xfrm>
            <a:off x="658368" y="4130936"/>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88" name="Shape 86"/>
          <p:cNvSpPr/>
          <p:nvPr/>
        </p:nvSpPr>
        <p:spPr>
          <a:xfrm>
            <a:off x="2807208" y="4158562"/>
            <a:ext cx="1226820" cy="174962"/>
          </a:xfrm>
          <a:prstGeom prst="rect">
            <a:avLst/>
          </a:prstGeom>
          <a:solidFill>
            <a:srgbClr val="12A566"/>
          </a:solidFill>
          <a:ln w="6350">
            <a:solidFill>
              <a:srgbClr val="FFFFFF"/>
            </a:solidFill>
            <a:prstDash val="solid"/>
          </a:ln>
        </p:spPr>
      </p:sp>
      <p:sp>
        <p:nvSpPr>
          <p:cNvPr id="89" name="Text 87"/>
          <p:cNvSpPr txBox="1"/>
          <p:nvPr/>
        </p:nvSpPr>
        <p:spPr>
          <a:xfrm>
            <a:off x="2807208" y="4158562"/>
            <a:ext cx="122682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39</a:t>
            </a:r>
            <a:endParaRPr lang="en-US" sz="1300" dirty="0"/>
          </a:p>
        </p:txBody>
      </p:sp>
      <p:sp>
        <p:nvSpPr>
          <p:cNvPr id="90" name="Shape 88"/>
          <p:cNvSpPr/>
          <p:nvPr/>
        </p:nvSpPr>
        <p:spPr>
          <a:xfrm>
            <a:off x="4034028" y="4158562"/>
            <a:ext cx="876300" cy="174962"/>
          </a:xfrm>
          <a:prstGeom prst="rect">
            <a:avLst/>
          </a:prstGeom>
          <a:solidFill>
            <a:srgbClr val="5B9BD5"/>
          </a:solidFill>
          <a:ln w="6350">
            <a:solidFill>
              <a:srgbClr val="FFFFFF"/>
            </a:solidFill>
            <a:prstDash val="solid"/>
          </a:ln>
        </p:spPr>
      </p:sp>
      <p:sp>
        <p:nvSpPr>
          <p:cNvPr id="91" name="Text 89"/>
          <p:cNvSpPr txBox="1"/>
          <p:nvPr/>
        </p:nvSpPr>
        <p:spPr>
          <a:xfrm>
            <a:off x="4034028" y="4158562"/>
            <a:ext cx="87630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28</a:t>
            </a:r>
            <a:endParaRPr lang="en-US" sz="1300" dirty="0"/>
          </a:p>
        </p:txBody>
      </p:sp>
      <p:sp>
        <p:nvSpPr>
          <p:cNvPr id="92" name="Shape 90"/>
          <p:cNvSpPr/>
          <p:nvPr/>
        </p:nvSpPr>
        <p:spPr>
          <a:xfrm>
            <a:off x="4910328" y="4158562"/>
            <a:ext cx="1051560" cy="174962"/>
          </a:xfrm>
          <a:prstGeom prst="rect">
            <a:avLst/>
          </a:prstGeom>
          <a:solidFill>
            <a:srgbClr val="C2352F"/>
          </a:solidFill>
          <a:ln w="6350">
            <a:solidFill>
              <a:srgbClr val="FFFFFF"/>
            </a:solidFill>
            <a:prstDash val="solid"/>
          </a:ln>
        </p:spPr>
      </p:sp>
      <p:sp>
        <p:nvSpPr>
          <p:cNvPr id="93" name="Text 91"/>
          <p:cNvSpPr txBox="1"/>
          <p:nvPr/>
        </p:nvSpPr>
        <p:spPr>
          <a:xfrm>
            <a:off x="4910328" y="4158562"/>
            <a:ext cx="105156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33</a:t>
            </a:r>
            <a:endParaRPr lang="en-US" sz="1300" dirty="0"/>
          </a:p>
        </p:txBody>
      </p:sp>
      <p:sp>
        <p:nvSpPr>
          <p:cNvPr id="94" name="Text 92"/>
          <p:cNvSpPr txBox="1"/>
          <p:nvPr/>
        </p:nvSpPr>
        <p:spPr>
          <a:xfrm>
            <a:off x="658368" y="4361150"/>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95" name="Shape 93"/>
          <p:cNvSpPr/>
          <p:nvPr/>
        </p:nvSpPr>
        <p:spPr>
          <a:xfrm>
            <a:off x="2807208" y="4388776"/>
            <a:ext cx="1176321" cy="174962"/>
          </a:xfrm>
          <a:prstGeom prst="rect">
            <a:avLst/>
          </a:prstGeom>
          <a:solidFill>
            <a:srgbClr val="12A566"/>
          </a:solidFill>
          <a:ln w="6350">
            <a:solidFill>
              <a:srgbClr val="FFFFFF"/>
            </a:solidFill>
            <a:prstDash val="solid"/>
          </a:ln>
        </p:spPr>
      </p:sp>
      <p:sp>
        <p:nvSpPr>
          <p:cNvPr id="96" name="Text 94"/>
          <p:cNvSpPr txBox="1"/>
          <p:nvPr/>
        </p:nvSpPr>
        <p:spPr>
          <a:xfrm>
            <a:off x="2807208" y="4388776"/>
            <a:ext cx="1176321"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37</a:t>
            </a:r>
            <a:endParaRPr lang="en-US" sz="1300" dirty="0"/>
          </a:p>
        </p:txBody>
      </p:sp>
      <p:sp>
        <p:nvSpPr>
          <p:cNvPr id="97" name="Shape 95"/>
          <p:cNvSpPr/>
          <p:nvPr/>
        </p:nvSpPr>
        <p:spPr>
          <a:xfrm>
            <a:off x="3983529" y="4388776"/>
            <a:ext cx="908976" cy="174962"/>
          </a:xfrm>
          <a:prstGeom prst="rect">
            <a:avLst/>
          </a:prstGeom>
          <a:solidFill>
            <a:srgbClr val="5B9BD5"/>
          </a:solidFill>
          <a:ln w="6350">
            <a:solidFill>
              <a:srgbClr val="FFFFFF"/>
            </a:solidFill>
            <a:prstDash val="solid"/>
          </a:ln>
        </p:spPr>
      </p:sp>
      <p:sp>
        <p:nvSpPr>
          <p:cNvPr id="98" name="Text 96"/>
          <p:cNvSpPr txBox="1"/>
          <p:nvPr/>
        </p:nvSpPr>
        <p:spPr>
          <a:xfrm>
            <a:off x="3983529" y="4388776"/>
            <a:ext cx="908976"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29</a:t>
            </a:r>
            <a:endParaRPr lang="en-US" sz="1300" dirty="0"/>
          </a:p>
        </p:txBody>
      </p:sp>
      <p:sp>
        <p:nvSpPr>
          <p:cNvPr id="99" name="Shape 97"/>
          <p:cNvSpPr/>
          <p:nvPr/>
        </p:nvSpPr>
        <p:spPr>
          <a:xfrm>
            <a:off x="4892505" y="4388776"/>
            <a:ext cx="1069383" cy="174962"/>
          </a:xfrm>
          <a:prstGeom prst="rect">
            <a:avLst/>
          </a:prstGeom>
          <a:solidFill>
            <a:srgbClr val="C2352F"/>
          </a:solidFill>
          <a:ln w="6350">
            <a:solidFill>
              <a:srgbClr val="FFFFFF"/>
            </a:solidFill>
            <a:prstDash val="solid"/>
          </a:ln>
        </p:spPr>
      </p:sp>
      <p:sp>
        <p:nvSpPr>
          <p:cNvPr id="100" name="Text 98"/>
          <p:cNvSpPr txBox="1"/>
          <p:nvPr/>
        </p:nvSpPr>
        <p:spPr>
          <a:xfrm>
            <a:off x="4892505" y="4388776"/>
            <a:ext cx="1069383"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34</a:t>
            </a:r>
            <a:endParaRPr lang="en-US" sz="1300" dirty="0"/>
          </a:p>
        </p:txBody>
      </p:sp>
      <p:sp>
        <p:nvSpPr>
          <p:cNvPr id="101" name="Text 99"/>
          <p:cNvSpPr txBox="1"/>
          <p:nvPr/>
        </p:nvSpPr>
        <p:spPr>
          <a:xfrm>
            <a:off x="658368" y="4591364"/>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102" name="Shape 100"/>
          <p:cNvSpPr/>
          <p:nvPr/>
        </p:nvSpPr>
        <p:spPr>
          <a:xfrm>
            <a:off x="2807208" y="4618989"/>
            <a:ext cx="1147156" cy="174962"/>
          </a:xfrm>
          <a:prstGeom prst="rect">
            <a:avLst/>
          </a:prstGeom>
          <a:solidFill>
            <a:srgbClr val="12A566"/>
          </a:solidFill>
          <a:ln w="6350">
            <a:solidFill>
              <a:srgbClr val="FFFFFF"/>
            </a:solidFill>
            <a:prstDash val="solid"/>
          </a:ln>
        </p:spPr>
      </p:sp>
      <p:sp>
        <p:nvSpPr>
          <p:cNvPr id="103" name="Text 101"/>
          <p:cNvSpPr txBox="1"/>
          <p:nvPr/>
        </p:nvSpPr>
        <p:spPr>
          <a:xfrm>
            <a:off x="2807208" y="4618989"/>
            <a:ext cx="1147156"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36</a:t>
            </a:r>
            <a:endParaRPr lang="en-US" sz="1300" dirty="0"/>
          </a:p>
        </p:txBody>
      </p:sp>
      <p:sp>
        <p:nvSpPr>
          <p:cNvPr id="104" name="Shape 102"/>
          <p:cNvSpPr/>
          <p:nvPr/>
        </p:nvSpPr>
        <p:spPr>
          <a:xfrm>
            <a:off x="3954364" y="4618989"/>
            <a:ext cx="286789" cy="174962"/>
          </a:xfrm>
          <a:prstGeom prst="rect">
            <a:avLst/>
          </a:prstGeom>
          <a:solidFill>
            <a:srgbClr val="5B9BD5"/>
          </a:solidFill>
          <a:ln w="6350">
            <a:solidFill>
              <a:srgbClr val="FFFFFF"/>
            </a:solidFill>
            <a:prstDash val="solid"/>
          </a:ln>
        </p:spPr>
      </p:sp>
      <p:sp>
        <p:nvSpPr>
          <p:cNvPr id="105" name="Text 103"/>
          <p:cNvSpPr txBox="1"/>
          <p:nvPr/>
        </p:nvSpPr>
        <p:spPr>
          <a:xfrm>
            <a:off x="3954364" y="4618989"/>
            <a:ext cx="286789"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9</a:t>
            </a:r>
            <a:endParaRPr lang="en-US" sz="1300" dirty="0"/>
          </a:p>
        </p:txBody>
      </p:sp>
      <p:sp>
        <p:nvSpPr>
          <p:cNvPr id="106" name="Shape 104"/>
          <p:cNvSpPr/>
          <p:nvPr/>
        </p:nvSpPr>
        <p:spPr>
          <a:xfrm>
            <a:off x="4241153" y="4618989"/>
            <a:ext cx="1720735" cy="174962"/>
          </a:xfrm>
          <a:prstGeom prst="rect">
            <a:avLst/>
          </a:prstGeom>
          <a:solidFill>
            <a:srgbClr val="C2352F"/>
          </a:solidFill>
          <a:ln w="6350">
            <a:solidFill>
              <a:srgbClr val="FFFFFF"/>
            </a:solidFill>
            <a:prstDash val="solid"/>
          </a:ln>
        </p:spPr>
      </p:sp>
      <p:sp>
        <p:nvSpPr>
          <p:cNvPr id="107" name="Text 105"/>
          <p:cNvSpPr txBox="1"/>
          <p:nvPr/>
        </p:nvSpPr>
        <p:spPr>
          <a:xfrm>
            <a:off x="4241153" y="4618989"/>
            <a:ext cx="1720735"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55</a:t>
            </a:r>
            <a:endParaRPr lang="en-US" sz="1300" dirty="0"/>
          </a:p>
        </p:txBody>
      </p:sp>
      <p:sp>
        <p:nvSpPr>
          <p:cNvPr id="108" name="Text 106"/>
          <p:cNvSpPr txBox="1"/>
          <p:nvPr/>
        </p:nvSpPr>
        <p:spPr>
          <a:xfrm>
            <a:off x="658368" y="4821577"/>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109" name="Shape 107"/>
          <p:cNvSpPr/>
          <p:nvPr/>
        </p:nvSpPr>
        <p:spPr>
          <a:xfrm>
            <a:off x="2807208" y="4849203"/>
            <a:ext cx="1147156" cy="174962"/>
          </a:xfrm>
          <a:prstGeom prst="rect">
            <a:avLst/>
          </a:prstGeom>
          <a:solidFill>
            <a:srgbClr val="12A566"/>
          </a:solidFill>
          <a:ln w="6350">
            <a:solidFill>
              <a:srgbClr val="FFFFFF"/>
            </a:solidFill>
            <a:prstDash val="solid"/>
          </a:ln>
        </p:spPr>
      </p:sp>
      <p:sp>
        <p:nvSpPr>
          <p:cNvPr id="110" name="Text 108"/>
          <p:cNvSpPr txBox="1"/>
          <p:nvPr/>
        </p:nvSpPr>
        <p:spPr>
          <a:xfrm>
            <a:off x="2807208" y="4849203"/>
            <a:ext cx="1147156"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36</a:t>
            </a:r>
            <a:endParaRPr lang="en-US" sz="1300" dirty="0"/>
          </a:p>
        </p:txBody>
      </p:sp>
      <p:sp>
        <p:nvSpPr>
          <p:cNvPr id="111" name="Shape 109"/>
          <p:cNvSpPr/>
          <p:nvPr/>
        </p:nvSpPr>
        <p:spPr>
          <a:xfrm>
            <a:off x="3954364" y="4849203"/>
            <a:ext cx="573578" cy="174962"/>
          </a:xfrm>
          <a:prstGeom prst="rect">
            <a:avLst/>
          </a:prstGeom>
          <a:solidFill>
            <a:srgbClr val="5B9BD5"/>
          </a:solidFill>
          <a:ln w="6350">
            <a:solidFill>
              <a:srgbClr val="FFFFFF"/>
            </a:solidFill>
            <a:prstDash val="solid"/>
          </a:ln>
        </p:spPr>
      </p:sp>
      <p:sp>
        <p:nvSpPr>
          <p:cNvPr id="112" name="Text 110"/>
          <p:cNvSpPr txBox="1"/>
          <p:nvPr/>
        </p:nvSpPr>
        <p:spPr>
          <a:xfrm>
            <a:off x="3954364" y="4849203"/>
            <a:ext cx="573578"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18</a:t>
            </a:r>
            <a:endParaRPr lang="en-US" sz="1300" dirty="0"/>
          </a:p>
        </p:txBody>
      </p:sp>
      <p:sp>
        <p:nvSpPr>
          <p:cNvPr id="113" name="Shape 111"/>
          <p:cNvSpPr/>
          <p:nvPr/>
        </p:nvSpPr>
        <p:spPr>
          <a:xfrm>
            <a:off x="4527943" y="4849203"/>
            <a:ext cx="1433945" cy="174962"/>
          </a:xfrm>
          <a:prstGeom prst="rect">
            <a:avLst/>
          </a:prstGeom>
          <a:solidFill>
            <a:srgbClr val="C2352F"/>
          </a:solidFill>
          <a:ln w="6350">
            <a:solidFill>
              <a:srgbClr val="FFFFFF"/>
            </a:solidFill>
            <a:prstDash val="solid"/>
          </a:ln>
        </p:spPr>
      </p:sp>
      <p:sp>
        <p:nvSpPr>
          <p:cNvPr id="114" name="Text 112"/>
          <p:cNvSpPr txBox="1"/>
          <p:nvPr/>
        </p:nvSpPr>
        <p:spPr>
          <a:xfrm>
            <a:off x="4527943" y="4849203"/>
            <a:ext cx="1433945"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45</a:t>
            </a:r>
            <a:endParaRPr lang="en-US" sz="1300" dirty="0"/>
          </a:p>
        </p:txBody>
      </p:sp>
      <p:sp>
        <p:nvSpPr>
          <p:cNvPr id="115" name="Text 113"/>
          <p:cNvSpPr txBox="1"/>
          <p:nvPr/>
        </p:nvSpPr>
        <p:spPr>
          <a:xfrm>
            <a:off x="658368" y="5051791"/>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116" name="Shape 114"/>
          <p:cNvSpPr/>
          <p:nvPr/>
        </p:nvSpPr>
        <p:spPr>
          <a:xfrm>
            <a:off x="2807208" y="5079417"/>
            <a:ext cx="1051560" cy="174962"/>
          </a:xfrm>
          <a:prstGeom prst="rect">
            <a:avLst/>
          </a:prstGeom>
          <a:solidFill>
            <a:srgbClr val="12A566"/>
          </a:solidFill>
          <a:ln w="6350">
            <a:solidFill>
              <a:srgbClr val="FFFFFF"/>
            </a:solidFill>
            <a:prstDash val="solid"/>
          </a:ln>
        </p:spPr>
      </p:sp>
      <p:sp>
        <p:nvSpPr>
          <p:cNvPr id="117" name="Text 115"/>
          <p:cNvSpPr txBox="1"/>
          <p:nvPr/>
        </p:nvSpPr>
        <p:spPr>
          <a:xfrm>
            <a:off x="2807208" y="5079417"/>
            <a:ext cx="105156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33</a:t>
            </a:r>
            <a:endParaRPr lang="en-US" sz="1300" dirty="0"/>
          </a:p>
        </p:txBody>
      </p:sp>
      <p:sp>
        <p:nvSpPr>
          <p:cNvPr id="118" name="Shape 116"/>
          <p:cNvSpPr/>
          <p:nvPr/>
        </p:nvSpPr>
        <p:spPr>
          <a:xfrm>
            <a:off x="3858768" y="5079417"/>
            <a:ext cx="914" cy="174962"/>
          </a:xfrm>
          <a:prstGeom prst="rect">
            <a:avLst/>
          </a:prstGeom>
          <a:solidFill>
            <a:srgbClr val="5B9BD5"/>
          </a:solidFill>
          <a:ln w="6350">
            <a:solidFill>
              <a:srgbClr val="FFFFFF"/>
            </a:solidFill>
            <a:prstDash val="solid"/>
          </a:ln>
        </p:spPr>
      </p:sp>
      <p:sp>
        <p:nvSpPr>
          <p:cNvPr id="119" name="Shape 117"/>
          <p:cNvSpPr/>
          <p:nvPr/>
        </p:nvSpPr>
        <p:spPr>
          <a:xfrm>
            <a:off x="3858768" y="5079417"/>
            <a:ext cx="2103120" cy="174962"/>
          </a:xfrm>
          <a:prstGeom prst="rect">
            <a:avLst/>
          </a:prstGeom>
          <a:solidFill>
            <a:srgbClr val="C2352F"/>
          </a:solidFill>
          <a:ln w="6350">
            <a:solidFill>
              <a:srgbClr val="FFFFFF"/>
            </a:solidFill>
            <a:prstDash val="solid"/>
          </a:ln>
        </p:spPr>
      </p:sp>
      <p:sp>
        <p:nvSpPr>
          <p:cNvPr id="120" name="Text 118"/>
          <p:cNvSpPr txBox="1"/>
          <p:nvPr/>
        </p:nvSpPr>
        <p:spPr>
          <a:xfrm>
            <a:off x="3858768" y="5079417"/>
            <a:ext cx="210312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67</a:t>
            </a:r>
            <a:endParaRPr lang="en-US" sz="1300" dirty="0"/>
          </a:p>
        </p:txBody>
      </p:sp>
      <p:sp>
        <p:nvSpPr>
          <p:cNvPr id="121" name="Text 119"/>
          <p:cNvSpPr txBox="1"/>
          <p:nvPr/>
        </p:nvSpPr>
        <p:spPr>
          <a:xfrm>
            <a:off x="658368" y="5282005"/>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122" name="Shape 120"/>
          <p:cNvSpPr/>
          <p:nvPr/>
        </p:nvSpPr>
        <p:spPr>
          <a:xfrm>
            <a:off x="2807208" y="5309630"/>
            <a:ext cx="1051560" cy="174962"/>
          </a:xfrm>
          <a:prstGeom prst="rect">
            <a:avLst/>
          </a:prstGeom>
          <a:solidFill>
            <a:srgbClr val="12A566"/>
          </a:solidFill>
          <a:ln w="6350">
            <a:solidFill>
              <a:srgbClr val="FFFFFF"/>
            </a:solidFill>
            <a:prstDash val="solid"/>
          </a:ln>
        </p:spPr>
      </p:sp>
      <p:sp>
        <p:nvSpPr>
          <p:cNvPr id="123" name="Text 121"/>
          <p:cNvSpPr txBox="1"/>
          <p:nvPr/>
        </p:nvSpPr>
        <p:spPr>
          <a:xfrm>
            <a:off x="2807208" y="5309630"/>
            <a:ext cx="105156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33</a:t>
            </a:r>
            <a:endParaRPr lang="en-US" sz="1300" dirty="0"/>
          </a:p>
        </p:txBody>
      </p:sp>
      <p:sp>
        <p:nvSpPr>
          <p:cNvPr id="124" name="Shape 122"/>
          <p:cNvSpPr/>
          <p:nvPr/>
        </p:nvSpPr>
        <p:spPr>
          <a:xfrm>
            <a:off x="3858768" y="5309630"/>
            <a:ext cx="817880" cy="174962"/>
          </a:xfrm>
          <a:prstGeom prst="rect">
            <a:avLst/>
          </a:prstGeom>
          <a:solidFill>
            <a:srgbClr val="5B9BD5"/>
          </a:solidFill>
          <a:ln w="6350">
            <a:solidFill>
              <a:srgbClr val="FFFFFF"/>
            </a:solidFill>
            <a:prstDash val="solid"/>
          </a:ln>
        </p:spPr>
      </p:sp>
      <p:sp>
        <p:nvSpPr>
          <p:cNvPr id="125" name="Text 123"/>
          <p:cNvSpPr txBox="1"/>
          <p:nvPr/>
        </p:nvSpPr>
        <p:spPr>
          <a:xfrm>
            <a:off x="3858768" y="5309630"/>
            <a:ext cx="81788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26</a:t>
            </a:r>
            <a:endParaRPr lang="en-US" sz="1300" dirty="0"/>
          </a:p>
        </p:txBody>
      </p:sp>
      <p:sp>
        <p:nvSpPr>
          <p:cNvPr id="126" name="Shape 124"/>
          <p:cNvSpPr/>
          <p:nvPr/>
        </p:nvSpPr>
        <p:spPr>
          <a:xfrm>
            <a:off x="4676648" y="5309630"/>
            <a:ext cx="1285240" cy="174962"/>
          </a:xfrm>
          <a:prstGeom prst="rect">
            <a:avLst/>
          </a:prstGeom>
          <a:solidFill>
            <a:srgbClr val="C2352F"/>
          </a:solidFill>
          <a:ln w="6350">
            <a:solidFill>
              <a:srgbClr val="FFFFFF"/>
            </a:solidFill>
            <a:prstDash val="solid"/>
          </a:ln>
        </p:spPr>
      </p:sp>
      <p:sp>
        <p:nvSpPr>
          <p:cNvPr id="127" name="Text 125"/>
          <p:cNvSpPr txBox="1"/>
          <p:nvPr/>
        </p:nvSpPr>
        <p:spPr>
          <a:xfrm>
            <a:off x="4676648" y="5309630"/>
            <a:ext cx="128524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41</a:t>
            </a:r>
            <a:endParaRPr lang="en-US" sz="1300" dirty="0"/>
          </a:p>
        </p:txBody>
      </p:sp>
      <p:sp>
        <p:nvSpPr>
          <p:cNvPr id="128" name="Text 126"/>
          <p:cNvSpPr txBox="1"/>
          <p:nvPr/>
        </p:nvSpPr>
        <p:spPr>
          <a:xfrm>
            <a:off x="658368" y="5512218"/>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129" name="Shape 127"/>
          <p:cNvSpPr/>
          <p:nvPr/>
        </p:nvSpPr>
        <p:spPr>
          <a:xfrm>
            <a:off x="2807208" y="5539844"/>
            <a:ext cx="996215" cy="174962"/>
          </a:xfrm>
          <a:prstGeom prst="rect">
            <a:avLst/>
          </a:prstGeom>
          <a:solidFill>
            <a:srgbClr val="12A566"/>
          </a:solidFill>
          <a:ln w="6350">
            <a:solidFill>
              <a:srgbClr val="FFFFFF"/>
            </a:solidFill>
            <a:prstDash val="solid"/>
          </a:ln>
        </p:spPr>
      </p:sp>
      <p:sp>
        <p:nvSpPr>
          <p:cNvPr id="130" name="Text 128"/>
          <p:cNvSpPr txBox="1"/>
          <p:nvPr/>
        </p:nvSpPr>
        <p:spPr>
          <a:xfrm>
            <a:off x="2807208" y="5539844"/>
            <a:ext cx="996215"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32</a:t>
            </a:r>
            <a:endParaRPr lang="en-US" sz="1300" dirty="0"/>
          </a:p>
        </p:txBody>
      </p:sp>
      <p:sp>
        <p:nvSpPr>
          <p:cNvPr id="131" name="Shape 129"/>
          <p:cNvSpPr/>
          <p:nvPr/>
        </p:nvSpPr>
        <p:spPr>
          <a:xfrm>
            <a:off x="3803423" y="5539844"/>
            <a:ext cx="1162251" cy="174962"/>
          </a:xfrm>
          <a:prstGeom prst="rect">
            <a:avLst/>
          </a:prstGeom>
          <a:solidFill>
            <a:srgbClr val="5B9BD5"/>
          </a:solidFill>
          <a:ln w="6350">
            <a:solidFill>
              <a:srgbClr val="FFFFFF"/>
            </a:solidFill>
            <a:prstDash val="solid"/>
          </a:ln>
        </p:spPr>
      </p:sp>
      <p:sp>
        <p:nvSpPr>
          <p:cNvPr id="132" name="Text 130"/>
          <p:cNvSpPr txBox="1"/>
          <p:nvPr/>
        </p:nvSpPr>
        <p:spPr>
          <a:xfrm>
            <a:off x="3803423" y="5539844"/>
            <a:ext cx="1162251"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37</a:t>
            </a:r>
            <a:endParaRPr lang="en-US" sz="1300" dirty="0"/>
          </a:p>
        </p:txBody>
      </p:sp>
      <p:sp>
        <p:nvSpPr>
          <p:cNvPr id="133" name="Shape 131"/>
          <p:cNvSpPr/>
          <p:nvPr/>
        </p:nvSpPr>
        <p:spPr>
          <a:xfrm>
            <a:off x="4965673" y="5539844"/>
            <a:ext cx="996215" cy="174962"/>
          </a:xfrm>
          <a:prstGeom prst="rect">
            <a:avLst/>
          </a:prstGeom>
          <a:solidFill>
            <a:srgbClr val="C2352F"/>
          </a:solidFill>
          <a:ln w="6350">
            <a:solidFill>
              <a:srgbClr val="FFFFFF"/>
            </a:solidFill>
            <a:prstDash val="solid"/>
          </a:ln>
        </p:spPr>
      </p:sp>
      <p:sp>
        <p:nvSpPr>
          <p:cNvPr id="134" name="Text 132"/>
          <p:cNvSpPr txBox="1"/>
          <p:nvPr/>
        </p:nvSpPr>
        <p:spPr>
          <a:xfrm>
            <a:off x="4965673" y="5539844"/>
            <a:ext cx="996215"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32</a:t>
            </a:r>
            <a:endParaRPr lang="en-US" sz="1300" dirty="0"/>
          </a:p>
        </p:txBody>
      </p:sp>
      <p:sp>
        <p:nvSpPr>
          <p:cNvPr id="135" name="Text 133"/>
          <p:cNvSpPr txBox="1"/>
          <p:nvPr/>
        </p:nvSpPr>
        <p:spPr>
          <a:xfrm>
            <a:off x="6208776" y="1828800"/>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136" name="Shape 134"/>
          <p:cNvSpPr/>
          <p:nvPr/>
        </p:nvSpPr>
        <p:spPr>
          <a:xfrm>
            <a:off x="8357616" y="1856426"/>
            <a:ext cx="985838" cy="174962"/>
          </a:xfrm>
          <a:prstGeom prst="rect">
            <a:avLst/>
          </a:prstGeom>
          <a:solidFill>
            <a:srgbClr val="12A566"/>
          </a:solidFill>
          <a:ln w="6350">
            <a:solidFill>
              <a:srgbClr val="FFFFFF"/>
            </a:solidFill>
            <a:prstDash val="solid"/>
          </a:ln>
        </p:spPr>
      </p:sp>
      <p:sp>
        <p:nvSpPr>
          <p:cNvPr id="137" name="Text 135"/>
          <p:cNvSpPr txBox="1"/>
          <p:nvPr/>
        </p:nvSpPr>
        <p:spPr>
          <a:xfrm>
            <a:off x="8357616" y="1856426"/>
            <a:ext cx="985838"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31</a:t>
            </a:r>
            <a:endParaRPr lang="en-US" sz="1300" dirty="0"/>
          </a:p>
        </p:txBody>
      </p:sp>
      <p:sp>
        <p:nvSpPr>
          <p:cNvPr id="138" name="Shape 136"/>
          <p:cNvSpPr/>
          <p:nvPr/>
        </p:nvSpPr>
        <p:spPr>
          <a:xfrm>
            <a:off x="9343454" y="1856426"/>
            <a:ext cx="591503" cy="174962"/>
          </a:xfrm>
          <a:prstGeom prst="rect">
            <a:avLst/>
          </a:prstGeom>
          <a:solidFill>
            <a:srgbClr val="5B9BD5"/>
          </a:solidFill>
          <a:ln w="6350">
            <a:solidFill>
              <a:srgbClr val="FFFFFF"/>
            </a:solidFill>
            <a:prstDash val="solid"/>
          </a:ln>
        </p:spPr>
      </p:sp>
      <p:sp>
        <p:nvSpPr>
          <p:cNvPr id="139" name="Text 137"/>
          <p:cNvSpPr txBox="1"/>
          <p:nvPr/>
        </p:nvSpPr>
        <p:spPr>
          <a:xfrm>
            <a:off x="9343454" y="1856426"/>
            <a:ext cx="591503"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19</a:t>
            </a:r>
            <a:endParaRPr lang="en-US" sz="1300" dirty="0"/>
          </a:p>
        </p:txBody>
      </p:sp>
      <p:sp>
        <p:nvSpPr>
          <p:cNvPr id="140" name="Shape 138"/>
          <p:cNvSpPr/>
          <p:nvPr/>
        </p:nvSpPr>
        <p:spPr>
          <a:xfrm>
            <a:off x="9934956" y="1856426"/>
            <a:ext cx="1577340" cy="174962"/>
          </a:xfrm>
          <a:prstGeom prst="rect">
            <a:avLst/>
          </a:prstGeom>
          <a:solidFill>
            <a:srgbClr val="C2352F"/>
          </a:solidFill>
          <a:ln w="6350">
            <a:solidFill>
              <a:srgbClr val="FFFFFF"/>
            </a:solidFill>
            <a:prstDash val="solid"/>
          </a:ln>
        </p:spPr>
      </p:sp>
      <p:sp>
        <p:nvSpPr>
          <p:cNvPr id="141" name="Text 139"/>
          <p:cNvSpPr txBox="1"/>
          <p:nvPr/>
        </p:nvSpPr>
        <p:spPr>
          <a:xfrm>
            <a:off x="9934956" y="1856426"/>
            <a:ext cx="157734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50</a:t>
            </a:r>
            <a:endParaRPr lang="en-US" sz="1300" dirty="0"/>
          </a:p>
        </p:txBody>
      </p:sp>
      <p:sp>
        <p:nvSpPr>
          <p:cNvPr id="142" name="Text 140"/>
          <p:cNvSpPr txBox="1"/>
          <p:nvPr/>
        </p:nvSpPr>
        <p:spPr>
          <a:xfrm>
            <a:off x="6208776" y="2059014"/>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143" name="Shape 141"/>
          <p:cNvSpPr/>
          <p:nvPr/>
        </p:nvSpPr>
        <p:spPr>
          <a:xfrm>
            <a:off x="8357616" y="2086639"/>
            <a:ext cx="901337" cy="174962"/>
          </a:xfrm>
          <a:prstGeom prst="rect">
            <a:avLst/>
          </a:prstGeom>
          <a:solidFill>
            <a:srgbClr val="12A566"/>
          </a:solidFill>
          <a:ln w="6350">
            <a:solidFill>
              <a:srgbClr val="FFFFFF"/>
            </a:solidFill>
            <a:prstDash val="solid"/>
          </a:ln>
        </p:spPr>
      </p:sp>
      <p:sp>
        <p:nvSpPr>
          <p:cNvPr id="144" name="Text 142"/>
          <p:cNvSpPr txBox="1"/>
          <p:nvPr/>
        </p:nvSpPr>
        <p:spPr>
          <a:xfrm>
            <a:off x="8357616" y="2086639"/>
            <a:ext cx="901337"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29</a:t>
            </a:r>
            <a:endParaRPr lang="en-US" sz="1300" dirty="0"/>
          </a:p>
        </p:txBody>
      </p:sp>
      <p:sp>
        <p:nvSpPr>
          <p:cNvPr id="145" name="Shape 143"/>
          <p:cNvSpPr/>
          <p:nvPr/>
        </p:nvSpPr>
        <p:spPr>
          <a:xfrm>
            <a:off x="9258953" y="2086639"/>
            <a:ext cx="225334" cy="174962"/>
          </a:xfrm>
          <a:prstGeom prst="rect">
            <a:avLst/>
          </a:prstGeom>
          <a:solidFill>
            <a:srgbClr val="5B9BD5"/>
          </a:solidFill>
          <a:ln w="6350">
            <a:solidFill>
              <a:srgbClr val="FFFFFF"/>
            </a:solidFill>
            <a:prstDash val="solid"/>
          </a:ln>
        </p:spPr>
      </p:sp>
      <p:sp>
        <p:nvSpPr>
          <p:cNvPr id="146" name="Text 144"/>
          <p:cNvSpPr txBox="1"/>
          <p:nvPr/>
        </p:nvSpPr>
        <p:spPr>
          <a:xfrm>
            <a:off x="9258953" y="2086639"/>
            <a:ext cx="225334"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7</a:t>
            </a:r>
            <a:endParaRPr lang="en-US" sz="1300" dirty="0"/>
          </a:p>
        </p:txBody>
      </p:sp>
      <p:sp>
        <p:nvSpPr>
          <p:cNvPr id="147" name="Shape 145"/>
          <p:cNvSpPr/>
          <p:nvPr/>
        </p:nvSpPr>
        <p:spPr>
          <a:xfrm>
            <a:off x="9484287" y="2086639"/>
            <a:ext cx="2028009" cy="174962"/>
          </a:xfrm>
          <a:prstGeom prst="rect">
            <a:avLst/>
          </a:prstGeom>
          <a:solidFill>
            <a:srgbClr val="C2352F"/>
          </a:solidFill>
          <a:ln w="6350">
            <a:solidFill>
              <a:srgbClr val="FFFFFF"/>
            </a:solidFill>
            <a:prstDash val="solid"/>
          </a:ln>
        </p:spPr>
      </p:sp>
      <p:sp>
        <p:nvSpPr>
          <p:cNvPr id="148" name="Text 146"/>
          <p:cNvSpPr txBox="1"/>
          <p:nvPr/>
        </p:nvSpPr>
        <p:spPr>
          <a:xfrm>
            <a:off x="9484287" y="2086639"/>
            <a:ext cx="2028009"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64</a:t>
            </a:r>
            <a:endParaRPr lang="en-US" sz="1300" dirty="0"/>
          </a:p>
        </p:txBody>
      </p:sp>
      <p:sp>
        <p:nvSpPr>
          <p:cNvPr id="149" name="Text 147"/>
          <p:cNvSpPr txBox="1"/>
          <p:nvPr/>
        </p:nvSpPr>
        <p:spPr>
          <a:xfrm>
            <a:off x="6208776" y="2289227"/>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150" name="Shape 148"/>
          <p:cNvSpPr/>
          <p:nvPr/>
        </p:nvSpPr>
        <p:spPr>
          <a:xfrm>
            <a:off x="8357616" y="2316853"/>
            <a:ext cx="870257" cy="174962"/>
          </a:xfrm>
          <a:prstGeom prst="rect">
            <a:avLst/>
          </a:prstGeom>
          <a:solidFill>
            <a:srgbClr val="12A566"/>
          </a:solidFill>
          <a:ln w="6350">
            <a:solidFill>
              <a:srgbClr val="FFFFFF"/>
            </a:solidFill>
            <a:prstDash val="solid"/>
          </a:ln>
        </p:spPr>
      </p:sp>
      <p:sp>
        <p:nvSpPr>
          <p:cNvPr id="151" name="Text 149"/>
          <p:cNvSpPr txBox="1"/>
          <p:nvPr/>
        </p:nvSpPr>
        <p:spPr>
          <a:xfrm>
            <a:off x="8357616" y="2316853"/>
            <a:ext cx="870257"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28</a:t>
            </a:r>
            <a:endParaRPr lang="en-US" sz="1300" dirty="0"/>
          </a:p>
        </p:txBody>
      </p:sp>
      <p:sp>
        <p:nvSpPr>
          <p:cNvPr id="152" name="Shape 150"/>
          <p:cNvSpPr/>
          <p:nvPr/>
        </p:nvSpPr>
        <p:spPr>
          <a:xfrm>
            <a:off x="9227873" y="2316853"/>
            <a:ext cx="543910" cy="174962"/>
          </a:xfrm>
          <a:prstGeom prst="rect">
            <a:avLst/>
          </a:prstGeom>
          <a:solidFill>
            <a:srgbClr val="5B9BD5"/>
          </a:solidFill>
          <a:ln w="6350">
            <a:solidFill>
              <a:srgbClr val="FFFFFF"/>
            </a:solidFill>
            <a:prstDash val="solid"/>
          </a:ln>
        </p:spPr>
      </p:sp>
      <p:sp>
        <p:nvSpPr>
          <p:cNvPr id="153" name="Text 151"/>
          <p:cNvSpPr txBox="1"/>
          <p:nvPr/>
        </p:nvSpPr>
        <p:spPr>
          <a:xfrm>
            <a:off x="9227873" y="2316853"/>
            <a:ext cx="54391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17</a:t>
            </a:r>
            <a:endParaRPr lang="en-US" sz="1300" dirty="0"/>
          </a:p>
        </p:txBody>
      </p:sp>
      <p:sp>
        <p:nvSpPr>
          <p:cNvPr id="154" name="Shape 152"/>
          <p:cNvSpPr/>
          <p:nvPr/>
        </p:nvSpPr>
        <p:spPr>
          <a:xfrm>
            <a:off x="9771783" y="2316853"/>
            <a:ext cx="1740513" cy="174962"/>
          </a:xfrm>
          <a:prstGeom prst="rect">
            <a:avLst/>
          </a:prstGeom>
          <a:solidFill>
            <a:srgbClr val="C2352F"/>
          </a:solidFill>
          <a:ln w="6350">
            <a:solidFill>
              <a:srgbClr val="FFFFFF"/>
            </a:solidFill>
            <a:prstDash val="solid"/>
          </a:ln>
        </p:spPr>
      </p:sp>
      <p:sp>
        <p:nvSpPr>
          <p:cNvPr id="155" name="Text 153"/>
          <p:cNvSpPr txBox="1"/>
          <p:nvPr/>
        </p:nvSpPr>
        <p:spPr>
          <a:xfrm>
            <a:off x="9771783" y="2316853"/>
            <a:ext cx="1740513"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55</a:t>
            </a:r>
            <a:endParaRPr lang="en-US" sz="1300" dirty="0"/>
          </a:p>
        </p:txBody>
      </p:sp>
      <p:sp>
        <p:nvSpPr>
          <p:cNvPr id="156" name="Text 154"/>
          <p:cNvSpPr txBox="1"/>
          <p:nvPr/>
        </p:nvSpPr>
        <p:spPr>
          <a:xfrm>
            <a:off x="6208776" y="2519441"/>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157" name="Shape 155"/>
          <p:cNvSpPr/>
          <p:nvPr/>
        </p:nvSpPr>
        <p:spPr>
          <a:xfrm>
            <a:off x="8357616" y="2547067"/>
            <a:ext cx="860367" cy="174962"/>
          </a:xfrm>
          <a:prstGeom prst="rect">
            <a:avLst/>
          </a:prstGeom>
          <a:solidFill>
            <a:srgbClr val="12A566"/>
          </a:solidFill>
          <a:ln w="6350">
            <a:solidFill>
              <a:srgbClr val="FFFFFF"/>
            </a:solidFill>
            <a:prstDash val="solid"/>
          </a:ln>
        </p:spPr>
      </p:sp>
      <p:sp>
        <p:nvSpPr>
          <p:cNvPr id="158" name="Text 156"/>
          <p:cNvSpPr txBox="1"/>
          <p:nvPr/>
        </p:nvSpPr>
        <p:spPr>
          <a:xfrm>
            <a:off x="8357616" y="2547067"/>
            <a:ext cx="860367"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27</a:t>
            </a:r>
            <a:endParaRPr lang="en-US" sz="1300" dirty="0"/>
          </a:p>
        </p:txBody>
      </p:sp>
      <p:sp>
        <p:nvSpPr>
          <p:cNvPr id="159" name="Shape 157"/>
          <p:cNvSpPr/>
          <p:nvPr/>
        </p:nvSpPr>
        <p:spPr>
          <a:xfrm>
            <a:off x="9217983" y="2547067"/>
            <a:ext cx="914" cy="174962"/>
          </a:xfrm>
          <a:prstGeom prst="rect">
            <a:avLst/>
          </a:prstGeom>
          <a:solidFill>
            <a:srgbClr val="5B9BD5"/>
          </a:solidFill>
          <a:ln w="6350">
            <a:solidFill>
              <a:srgbClr val="FFFFFF"/>
            </a:solidFill>
            <a:prstDash val="solid"/>
          </a:ln>
        </p:spPr>
      </p:sp>
      <p:sp>
        <p:nvSpPr>
          <p:cNvPr id="160" name="Shape 158"/>
          <p:cNvSpPr/>
          <p:nvPr/>
        </p:nvSpPr>
        <p:spPr>
          <a:xfrm>
            <a:off x="9217983" y="2547067"/>
            <a:ext cx="2294313" cy="174962"/>
          </a:xfrm>
          <a:prstGeom prst="rect">
            <a:avLst/>
          </a:prstGeom>
          <a:solidFill>
            <a:srgbClr val="C2352F"/>
          </a:solidFill>
          <a:ln w="6350">
            <a:solidFill>
              <a:srgbClr val="FFFFFF"/>
            </a:solidFill>
            <a:prstDash val="solid"/>
          </a:ln>
        </p:spPr>
      </p:sp>
      <p:sp>
        <p:nvSpPr>
          <p:cNvPr id="161" name="Text 159"/>
          <p:cNvSpPr txBox="1"/>
          <p:nvPr/>
        </p:nvSpPr>
        <p:spPr>
          <a:xfrm>
            <a:off x="9217983" y="2547067"/>
            <a:ext cx="2294313"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73</a:t>
            </a:r>
            <a:endParaRPr lang="en-US" sz="1300" dirty="0"/>
          </a:p>
        </p:txBody>
      </p:sp>
      <p:sp>
        <p:nvSpPr>
          <p:cNvPr id="162" name="Text 160"/>
          <p:cNvSpPr txBox="1"/>
          <p:nvPr/>
        </p:nvSpPr>
        <p:spPr>
          <a:xfrm>
            <a:off x="6208776" y="2749655"/>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163" name="Shape 161"/>
          <p:cNvSpPr/>
          <p:nvPr/>
        </p:nvSpPr>
        <p:spPr>
          <a:xfrm>
            <a:off x="8357616" y="2777280"/>
            <a:ext cx="860367" cy="174962"/>
          </a:xfrm>
          <a:prstGeom prst="rect">
            <a:avLst/>
          </a:prstGeom>
          <a:solidFill>
            <a:srgbClr val="12A566"/>
          </a:solidFill>
          <a:ln w="6350">
            <a:solidFill>
              <a:srgbClr val="FFFFFF"/>
            </a:solidFill>
            <a:prstDash val="solid"/>
          </a:ln>
        </p:spPr>
      </p:sp>
      <p:sp>
        <p:nvSpPr>
          <p:cNvPr id="164" name="Text 162"/>
          <p:cNvSpPr txBox="1"/>
          <p:nvPr/>
        </p:nvSpPr>
        <p:spPr>
          <a:xfrm>
            <a:off x="8357616" y="2777280"/>
            <a:ext cx="860367"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27</a:t>
            </a:r>
            <a:endParaRPr lang="en-US" sz="1300" dirty="0"/>
          </a:p>
        </p:txBody>
      </p:sp>
      <p:sp>
        <p:nvSpPr>
          <p:cNvPr id="165" name="Shape 163"/>
          <p:cNvSpPr/>
          <p:nvPr/>
        </p:nvSpPr>
        <p:spPr>
          <a:xfrm>
            <a:off x="9217983" y="2777280"/>
            <a:ext cx="716973" cy="174962"/>
          </a:xfrm>
          <a:prstGeom prst="rect">
            <a:avLst/>
          </a:prstGeom>
          <a:solidFill>
            <a:srgbClr val="5B9BD5"/>
          </a:solidFill>
          <a:ln w="6350">
            <a:solidFill>
              <a:srgbClr val="FFFFFF"/>
            </a:solidFill>
            <a:prstDash val="solid"/>
          </a:ln>
        </p:spPr>
      </p:sp>
      <p:sp>
        <p:nvSpPr>
          <p:cNvPr id="166" name="Text 164"/>
          <p:cNvSpPr txBox="1"/>
          <p:nvPr/>
        </p:nvSpPr>
        <p:spPr>
          <a:xfrm>
            <a:off x="9217983" y="2777280"/>
            <a:ext cx="716973"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23</a:t>
            </a:r>
            <a:endParaRPr lang="en-US" sz="1300" dirty="0"/>
          </a:p>
        </p:txBody>
      </p:sp>
      <p:sp>
        <p:nvSpPr>
          <p:cNvPr id="167" name="Shape 165"/>
          <p:cNvSpPr/>
          <p:nvPr/>
        </p:nvSpPr>
        <p:spPr>
          <a:xfrm>
            <a:off x="9934956" y="2777280"/>
            <a:ext cx="1577340" cy="174962"/>
          </a:xfrm>
          <a:prstGeom prst="rect">
            <a:avLst/>
          </a:prstGeom>
          <a:solidFill>
            <a:srgbClr val="C2352F"/>
          </a:solidFill>
          <a:ln w="6350">
            <a:solidFill>
              <a:srgbClr val="FFFFFF"/>
            </a:solidFill>
            <a:prstDash val="solid"/>
          </a:ln>
        </p:spPr>
      </p:sp>
      <p:sp>
        <p:nvSpPr>
          <p:cNvPr id="168" name="Text 166"/>
          <p:cNvSpPr txBox="1"/>
          <p:nvPr/>
        </p:nvSpPr>
        <p:spPr>
          <a:xfrm>
            <a:off x="9934956" y="2777280"/>
            <a:ext cx="157734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50</a:t>
            </a:r>
            <a:endParaRPr lang="en-US" sz="1300" dirty="0"/>
          </a:p>
        </p:txBody>
      </p:sp>
      <p:sp>
        <p:nvSpPr>
          <p:cNvPr id="169" name="Text 167"/>
          <p:cNvSpPr txBox="1"/>
          <p:nvPr/>
        </p:nvSpPr>
        <p:spPr>
          <a:xfrm>
            <a:off x="6208776" y="2979868"/>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170" name="Shape 168"/>
          <p:cNvSpPr/>
          <p:nvPr/>
        </p:nvSpPr>
        <p:spPr>
          <a:xfrm>
            <a:off x="8357616" y="3007494"/>
            <a:ext cx="822960" cy="174962"/>
          </a:xfrm>
          <a:prstGeom prst="rect">
            <a:avLst/>
          </a:prstGeom>
          <a:solidFill>
            <a:srgbClr val="12A566"/>
          </a:solidFill>
          <a:ln w="6350">
            <a:solidFill>
              <a:srgbClr val="FFFFFF"/>
            </a:solidFill>
            <a:prstDash val="solid"/>
          </a:ln>
        </p:spPr>
      </p:sp>
      <p:sp>
        <p:nvSpPr>
          <p:cNvPr id="171" name="Text 169"/>
          <p:cNvSpPr txBox="1"/>
          <p:nvPr/>
        </p:nvSpPr>
        <p:spPr>
          <a:xfrm>
            <a:off x="8357616" y="3007494"/>
            <a:ext cx="82296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26</a:t>
            </a:r>
            <a:endParaRPr lang="en-US" sz="1300" dirty="0"/>
          </a:p>
        </p:txBody>
      </p:sp>
      <p:sp>
        <p:nvSpPr>
          <p:cNvPr id="172" name="Shape 170"/>
          <p:cNvSpPr/>
          <p:nvPr/>
        </p:nvSpPr>
        <p:spPr>
          <a:xfrm>
            <a:off x="9180576" y="3007494"/>
            <a:ext cx="548640" cy="174962"/>
          </a:xfrm>
          <a:prstGeom prst="rect">
            <a:avLst/>
          </a:prstGeom>
          <a:solidFill>
            <a:srgbClr val="5B9BD5"/>
          </a:solidFill>
          <a:ln w="6350">
            <a:solidFill>
              <a:srgbClr val="FFFFFF"/>
            </a:solidFill>
            <a:prstDash val="solid"/>
          </a:ln>
        </p:spPr>
      </p:sp>
      <p:sp>
        <p:nvSpPr>
          <p:cNvPr id="173" name="Text 171"/>
          <p:cNvSpPr txBox="1"/>
          <p:nvPr/>
        </p:nvSpPr>
        <p:spPr>
          <a:xfrm>
            <a:off x="9180576" y="3007494"/>
            <a:ext cx="54864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17</a:t>
            </a:r>
            <a:endParaRPr lang="en-US" sz="1300" dirty="0"/>
          </a:p>
        </p:txBody>
      </p:sp>
      <p:sp>
        <p:nvSpPr>
          <p:cNvPr id="174" name="Shape 172"/>
          <p:cNvSpPr/>
          <p:nvPr/>
        </p:nvSpPr>
        <p:spPr>
          <a:xfrm>
            <a:off x="9729216" y="3007494"/>
            <a:ext cx="1783080" cy="174962"/>
          </a:xfrm>
          <a:prstGeom prst="rect">
            <a:avLst/>
          </a:prstGeom>
          <a:solidFill>
            <a:srgbClr val="C2352F"/>
          </a:solidFill>
          <a:ln w="6350">
            <a:solidFill>
              <a:srgbClr val="FFFFFF"/>
            </a:solidFill>
            <a:prstDash val="solid"/>
          </a:ln>
        </p:spPr>
      </p:sp>
      <p:sp>
        <p:nvSpPr>
          <p:cNvPr id="175" name="Text 173"/>
          <p:cNvSpPr txBox="1"/>
          <p:nvPr/>
        </p:nvSpPr>
        <p:spPr>
          <a:xfrm>
            <a:off x="9729216" y="3007494"/>
            <a:ext cx="178308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57</a:t>
            </a:r>
            <a:endParaRPr lang="en-US" sz="1300" dirty="0"/>
          </a:p>
        </p:txBody>
      </p:sp>
      <p:sp>
        <p:nvSpPr>
          <p:cNvPr id="176" name="Text 174"/>
          <p:cNvSpPr txBox="1"/>
          <p:nvPr/>
        </p:nvSpPr>
        <p:spPr>
          <a:xfrm>
            <a:off x="6208776" y="3210082"/>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177" name="Shape 175"/>
          <p:cNvSpPr/>
          <p:nvPr/>
        </p:nvSpPr>
        <p:spPr>
          <a:xfrm>
            <a:off x="8357616" y="3237708"/>
            <a:ext cx="556708" cy="174962"/>
          </a:xfrm>
          <a:prstGeom prst="rect">
            <a:avLst/>
          </a:prstGeom>
          <a:solidFill>
            <a:srgbClr val="12A566"/>
          </a:solidFill>
          <a:ln w="6350">
            <a:solidFill>
              <a:srgbClr val="FFFFFF"/>
            </a:solidFill>
            <a:prstDash val="solid"/>
          </a:ln>
        </p:spPr>
      </p:sp>
      <p:sp>
        <p:nvSpPr>
          <p:cNvPr id="178" name="Text 176"/>
          <p:cNvSpPr txBox="1"/>
          <p:nvPr/>
        </p:nvSpPr>
        <p:spPr>
          <a:xfrm>
            <a:off x="8357616" y="3237708"/>
            <a:ext cx="556708"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18</a:t>
            </a:r>
            <a:endParaRPr lang="en-US" sz="1300" dirty="0"/>
          </a:p>
        </p:txBody>
      </p:sp>
      <p:sp>
        <p:nvSpPr>
          <p:cNvPr id="179" name="Shape 177"/>
          <p:cNvSpPr/>
          <p:nvPr/>
        </p:nvSpPr>
        <p:spPr>
          <a:xfrm>
            <a:off x="8914324" y="3237708"/>
            <a:ext cx="1113416" cy="174962"/>
          </a:xfrm>
          <a:prstGeom prst="rect">
            <a:avLst/>
          </a:prstGeom>
          <a:solidFill>
            <a:srgbClr val="5B9BD5"/>
          </a:solidFill>
          <a:ln w="6350">
            <a:solidFill>
              <a:srgbClr val="FFFFFF"/>
            </a:solidFill>
            <a:prstDash val="solid"/>
          </a:ln>
        </p:spPr>
      </p:sp>
      <p:sp>
        <p:nvSpPr>
          <p:cNvPr id="180" name="Text 178"/>
          <p:cNvSpPr txBox="1"/>
          <p:nvPr/>
        </p:nvSpPr>
        <p:spPr>
          <a:xfrm>
            <a:off x="8914324" y="3237708"/>
            <a:ext cx="1113416"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35</a:t>
            </a:r>
            <a:endParaRPr lang="en-US" sz="1300" dirty="0"/>
          </a:p>
        </p:txBody>
      </p:sp>
      <p:sp>
        <p:nvSpPr>
          <p:cNvPr id="181" name="Shape 179"/>
          <p:cNvSpPr/>
          <p:nvPr/>
        </p:nvSpPr>
        <p:spPr>
          <a:xfrm>
            <a:off x="10027741" y="3237708"/>
            <a:ext cx="1484555" cy="174962"/>
          </a:xfrm>
          <a:prstGeom prst="rect">
            <a:avLst/>
          </a:prstGeom>
          <a:solidFill>
            <a:srgbClr val="C2352F"/>
          </a:solidFill>
          <a:ln w="6350">
            <a:solidFill>
              <a:srgbClr val="FFFFFF"/>
            </a:solidFill>
            <a:prstDash val="solid"/>
          </a:ln>
        </p:spPr>
      </p:sp>
      <p:sp>
        <p:nvSpPr>
          <p:cNvPr id="182" name="Text 180"/>
          <p:cNvSpPr txBox="1"/>
          <p:nvPr/>
        </p:nvSpPr>
        <p:spPr>
          <a:xfrm>
            <a:off x="10027741" y="3237708"/>
            <a:ext cx="1484555"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47</a:t>
            </a:r>
            <a:endParaRPr lang="en-US" sz="1300" dirty="0"/>
          </a:p>
        </p:txBody>
      </p:sp>
      <p:sp>
        <p:nvSpPr>
          <p:cNvPr id="183" name="Text 181"/>
          <p:cNvSpPr txBox="1"/>
          <p:nvPr/>
        </p:nvSpPr>
        <p:spPr>
          <a:xfrm>
            <a:off x="6208776" y="3440296"/>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184" name="Shape 182"/>
          <p:cNvSpPr/>
          <p:nvPr/>
        </p:nvSpPr>
        <p:spPr>
          <a:xfrm>
            <a:off x="8357616" y="3467921"/>
            <a:ext cx="525780" cy="174962"/>
          </a:xfrm>
          <a:prstGeom prst="rect">
            <a:avLst/>
          </a:prstGeom>
          <a:solidFill>
            <a:srgbClr val="12A566"/>
          </a:solidFill>
          <a:ln w="6350">
            <a:solidFill>
              <a:srgbClr val="FFFFFF"/>
            </a:solidFill>
            <a:prstDash val="solid"/>
          </a:ln>
        </p:spPr>
      </p:sp>
      <p:sp>
        <p:nvSpPr>
          <p:cNvPr id="185" name="Text 183"/>
          <p:cNvSpPr txBox="1"/>
          <p:nvPr/>
        </p:nvSpPr>
        <p:spPr>
          <a:xfrm>
            <a:off x="8357616" y="3467921"/>
            <a:ext cx="52578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17</a:t>
            </a:r>
            <a:endParaRPr lang="en-US" sz="1300" dirty="0"/>
          </a:p>
        </p:txBody>
      </p:sp>
      <p:sp>
        <p:nvSpPr>
          <p:cNvPr id="186" name="Shape 184"/>
          <p:cNvSpPr/>
          <p:nvPr/>
        </p:nvSpPr>
        <p:spPr>
          <a:xfrm>
            <a:off x="8883396" y="3467921"/>
            <a:ext cx="1577340" cy="174962"/>
          </a:xfrm>
          <a:prstGeom prst="rect">
            <a:avLst/>
          </a:prstGeom>
          <a:solidFill>
            <a:srgbClr val="5B9BD5"/>
          </a:solidFill>
          <a:ln w="6350">
            <a:solidFill>
              <a:srgbClr val="FFFFFF"/>
            </a:solidFill>
            <a:prstDash val="solid"/>
          </a:ln>
        </p:spPr>
      </p:sp>
      <p:sp>
        <p:nvSpPr>
          <p:cNvPr id="187" name="Text 185"/>
          <p:cNvSpPr txBox="1"/>
          <p:nvPr/>
        </p:nvSpPr>
        <p:spPr>
          <a:xfrm>
            <a:off x="8883396" y="3467921"/>
            <a:ext cx="157734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50</a:t>
            </a:r>
            <a:endParaRPr lang="en-US" sz="1300" dirty="0"/>
          </a:p>
        </p:txBody>
      </p:sp>
      <p:sp>
        <p:nvSpPr>
          <p:cNvPr id="188" name="Shape 186"/>
          <p:cNvSpPr/>
          <p:nvPr/>
        </p:nvSpPr>
        <p:spPr>
          <a:xfrm>
            <a:off x="10460736" y="3467921"/>
            <a:ext cx="1051560" cy="174962"/>
          </a:xfrm>
          <a:prstGeom prst="rect">
            <a:avLst/>
          </a:prstGeom>
          <a:solidFill>
            <a:srgbClr val="C2352F"/>
          </a:solidFill>
          <a:ln w="6350">
            <a:solidFill>
              <a:srgbClr val="FFFFFF"/>
            </a:solidFill>
            <a:prstDash val="solid"/>
          </a:ln>
        </p:spPr>
      </p:sp>
      <p:sp>
        <p:nvSpPr>
          <p:cNvPr id="189" name="Text 187"/>
          <p:cNvSpPr txBox="1"/>
          <p:nvPr/>
        </p:nvSpPr>
        <p:spPr>
          <a:xfrm>
            <a:off x="10460736" y="3467921"/>
            <a:ext cx="105156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33</a:t>
            </a:r>
            <a:endParaRPr lang="en-US" sz="1300" dirty="0"/>
          </a:p>
        </p:txBody>
      </p:sp>
      <p:sp>
        <p:nvSpPr>
          <p:cNvPr id="190" name="Text 188"/>
          <p:cNvSpPr txBox="1"/>
          <p:nvPr/>
        </p:nvSpPr>
        <p:spPr>
          <a:xfrm>
            <a:off x="6208776" y="3670509"/>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91" name="Shape 189"/>
          <p:cNvSpPr/>
          <p:nvPr/>
        </p:nvSpPr>
        <p:spPr>
          <a:xfrm>
            <a:off x="8357616" y="3698135"/>
            <a:ext cx="350520" cy="174962"/>
          </a:xfrm>
          <a:prstGeom prst="rect">
            <a:avLst/>
          </a:prstGeom>
          <a:solidFill>
            <a:srgbClr val="12A566"/>
          </a:solidFill>
          <a:ln w="6350">
            <a:solidFill>
              <a:srgbClr val="FFFFFF"/>
            </a:solidFill>
            <a:prstDash val="solid"/>
          </a:ln>
        </p:spPr>
      </p:sp>
      <p:sp>
        <p:nvSpPr>
          <p:cNvPr id="192" name="Text 190"/>
          <p:cNvSpPr txBox="1"/>
          <p:nvPr/>
        </p:nvSpPr>
        <p:spPr>
          <a:xfrm>
            <a:off x="8357616" y="3698135"/>
            <a:ext cx="35052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11</a:t>
            </a:r>
            <a:endParaRPr lang="en-US" sz="1300" dirty="0"/>
          </a:p>
        </p:txBody>
      </p:sp>
      <p:sp>
        <p:nvSpPr>
          <p:cNvPr id="193" name="Shape 191"/>
          <p:cNvSpPr/>
          <p:nvPr/>
        </p:nvSpPr>
        <p:spPr>
          <a:xfrm>
            <a:off x="8708136" y="3698135"/>
            <a:ext cx="701040" cy="174962"/>
          </a:xfrm>
          <a:prstGeom prst="rect">
            <a:avLst/>
          </a:prstGeom>
          <a:solidFill>
            <a:srgbClr val="5B9BD5"/>
          </a:solidFill>
          <a:ln w="6350">
            <a:solidFill>
              <a:srgbClr val="FFFFFF"/>
            </a:solidFill>
            <a:prstDash val="solid"/>
          </a:ln>
        </p:spPr>
      </p:sp>
      <p:sp>
        <p:nvSpPr>
          <p:cNvPr id="194" name="Text 192"/>
          <p:cNvSpPr txBox="1"/>
          <p:nvPr/>
        </p:nvSpPr>
        <p:spPr>
          <a:xfrm>
            <a:off x="8708136" y="3698135"/>
            <a:ext cx="70104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22</a:t>
            </a:r>
            <a:endParaRPr lang="en-US" sz="1300" dirty="0"/>
          </a:p>
        </p:txBody>
      </p:sp>
      <p:sp>
        <p:nvSpPr>
          <p:cNvPr id="195" name="Shape 193"/>
          <p:cNvSpPr/>
          <p:nvPr/>
        </p:nvSpPr>
        <p:spPr>
          <a:xfrm>
            <a:off x="9409176" y="3698135"/>
            <a:ext cx="2103120" cy="174962"/>
          </a:xfrm>
          <a:prstGeom prst="rect">
            <a:avLst/>
          </a:prstGeom>
          <a:solidFill>
            <a:srgbClr val="C2352F"/>
          </a:solidFill>
          <a:ln w="6350">
            <a:solidFill>
              <a:srgbClr val="FFFFFF"/>
            </a:solidFill>
            <a:prstDash val="solid"/>
          </a:ln>
        </p:spPr>
      </p:sp>
      <p:sp>
        <p:nvSpPr>
          <p:cNvPr id="196" name="Text 194"/>
          <p:cNvSpPr txBox="1"/>
          <p:nvPr/>
        </p:nvSpPr>
        <p:spPr>
          <a:xfrm>
            <a:off x="9409176" y="3698135"/>
            <a:ext cx="210312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67</a:t>
            </a:r>
            <a:endParaRPr lang="en-US" sz="1300" dirty="0"/>
          </a:p>
        </p:txBody>
      </p:sp>
      <p:sp>
        <p:nvSpPr>
          <p:cNvPr id="197" name="Text 195"/>
          <p:cNvSpPr txBox="1"/>
          <p:nvPr/>
        </p:nvSpPr>
        <p:spPr>
          <a:xfrm>
            <a:off x="6208776" y="3900723"/>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198" name="Shape 196"/>
          <p:cNvSpPr/>
          <p:nvPr/>
        </p:nvSpPr>
        <p:spPr>
          <a:xfrm>
            <a:off x="8357616" y="3928348"/>
            <a:ext cx="315468" cy="174962"/>
          </a:xfrm>
          <a:prstGeom prst="rect">
            <a:avLst/>
          </a:prstGeom>
          <a:solidFill>
            <a:srgbClr val="12A566"/>
          </a:solidFill>
          <a:ln w="6350">
            <a:solidFill>
              <a:srgbClr val="FFFFFF"/>
            </a:solidFill>
            <a:prstDash val="solid"/>
          </a:ln>
        </p:spPr>
      </p:sp>
      <p:sp>
        <p:nvSpPr>
          <p:cNvPr id="199" name="Text 197"/>
          <p:cNvSpPr txBox="1"/>
          <p:nvPr/>
        </p:nvSpPr>
        <p:spPr>
          <a:xfrm>
            <a:off x="8357616" y="3928348"/>
            <a:ext cx="315468"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10</a:t>
            </a:r>
            <a:endParaRPr lang="en-US" sz="1300" dirty="0"/>
          </a:p>
        </p:txBody>
      </p:sp>
      <p:sp>
        <p:nvSpPr>
          <p:cNvPr id="200" name="Shape 198"/>
          <p:cNvSpPr/>
          <p:nvPr/>
        </p:nvSpPr>
        <p:spPr>
          <a:xfrm>
            <a:off x="8673084" y="3928348"/>
            <a:ext cx="315468" cy="174962"/>
          </a:xfrm>
          <a:prstGeom prst="rect">
            <a:avLst/>
          </a:prstGeom>
          <a:solidFill>
            <a:srgbClr val="5B9BD5"/>
          </a:solidFill>
          <a:ln w="6350">
            <a:solidFill>
              <a:srgbClr val="FFFFFF"/>
            </a:solidFill>
            <a:prstDash val="solid"/>
          </a:ln>
        </p:spPr>
      </p:sp>
      <p:sp>
        <p:nvSpPr>
          <p:cNvPr id="201" name="Text 199"/>
          <p:cNvSpPr txBox="1"/>
          <p:nvPr/>
        </p:nvSpPr>
        <p:spPr>
          <a:xfrm>
            <a:off x="8673084" y="3928348"/>
            <a:ext cx="315468"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10</a:t>
            </a:r>
            <a:endParaRPr lang="en-US" sz="1300" dirty="0"/>
          </a:p>
        </p:txBody>
      </p:sp>
      <p:sp>
        <p:nvSpPr>
          <p:cNvPr id="202" name="Shape 200"/>
          <p:cNvSpPr/>
          <p:nvPr/>
        </p:nvSpPr>
        <p:spPr>
          <a:xfrm>
            <a:off x="8988552" y="3928348"/>
            <a:ext cx="2523744" cy="174962"/>
          </a:xfrm>
          <a:prstGeom prst="rect">
            <a:avLst/>
          </a:prstGeom>
          <a:solidFill>
            <a:srgbClr val="C2352F"/>
          </a:solidFill>
          <a:ln w="6350">
            <a:solidFill>
              <a:srgbClr val="FFFFFF"/>
            </a:solidFill>
            <a:prstDash val="solid"/>
          </a:ln>
        </p:spPr>
      </p:sp>
      <p:sp>
        <p:nvSpPr>
          <p:cNvPr id="203" name="Text 201"/>
          <p:cNvSpPr txBox="1"/>
          <p:nvPr/>
        </p:nvSpPr>
        <p:spPr>
          <a:xfrm>
            <a:off x="8988552" y="3928348"/>
            <a:ext cx="2523744"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80</a:t>
            </a:r>
            <a:endParaRPr lang="en-US" sz="1300" dirty="0"/>
          </a:p>
        </p:txBody>
      </p:sp>
      <p:sp>
        <p:nvSpPr>
          <p:cNvPr id="204" name="Text 202"/>
          <p:cNvSpPr txBox="1"/>
          <p:nvPr/>
        </p:nvSpPr>
        <p:spPr>
          <a:xfrm>
            <a:off x="6208776" y="4130936"/>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205" name="Shape 203"/>
          <p:cNvSpPr/>
          <p:nvPr/>
        </p:nvSpPr>
        <p:spPr>
          <a:xfrm>
            <a:off x="8357616" y="4158562"/>
            <a:ext cx="315468" cy="174962"/>
          </a:xfrm>
          <a:prstGeom prst="rect">
            <a:avLst/>
          </a:prstGeom>
          <a:solidFill>
            <a:srgbClr val="12A566"/>
          </a:solidFill>
          <a:ln w="6350">
            <a:solidFill>
              <a:srgbClr val="FFFFFF"/>
            </a:solidFill>
            <a:prstDash val="solid"/>
          </a:ln>
        </p:spPr>
      </p:sp>
      <p:sp>
        <p:nvSpPr>
          <p:cNvPr id="206" name="Text 204"/>
          <p:cNvSpPr txBox="1"/>
          <p:nvPr/>
        </p:nvSpPr>
        <p:spPr>
          <a:xfrm>
            <a:off x="8357616" y="4158562"/>
            <a:ext cx="315468"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10</a:t>
            </a:r>
            <a:endParaRPr lang="en-US" sz="1300" dirty="0"/>
          </a:p>
        </p:txBody>
      </p:sp>
      <p:sp>
        <p:nvSpPr>
          <p:cNvPr id="207" name="Shape 205"/>
          <p:cNvSpPr/>
          <p:nvPr/>
        </p:nvSpPr>
        <p:spPr>
          <a:xfrm>
            <a:off x="8673084" y="4158562"/>
            <a:ext cx="315468" cy="174962"/>
          </a:xfrm>
          <a:prstGeom prst="rect">
            <a:avLst/>
          </a:prstGeom>
          <a:solidFill>
            <a:srgbClr val="5B9BD5"/>
          </a:solidFill>
          <a:ln w="6350">
            <a:solidFill>
              <a:srgbClr val="FFFFFF"/>
            </a:solidFill>
            <a:prstDash val="solid"/>
          </a:ln>
        </p:spPr>
      </p:sp>
      <p:sp>
        <p:nvSpPr>
          <p:cNvPr id="208" name="Text 206"/>
          <p:cNvSpPr txBox="1"/>
          <p:nvPr/>
        </p:nvSpPr>
        <p:spPr>
          <a:xfrm>
            <a:off x="8673084" y="4158562"/>
            <a:ext cx="315468"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10</a:t>
            </a:r>
            <a:endParaRPr lang="en-US" sz="1300" dirty="0"/>
          </a:p>
        </p:txBody>
      </p:sp>
      <p:sp>
        <p:nvSpPr>
          <p:cNvPr id="209" name="Shape 207"/>
          <p:cNvSpPr/>
          <p:nvPr/>
        </p:nvSpPr>
        <p:spPr>
          <a:xfrm>
            <a:off x="8988552" y="4158562"/>
            <a:ext cx="2523744" cy="174962"/>
          </a:xfrm>
          <a:prstGeom prst="rect">
            <a:avLst/>
          </a:prstGeom>
          <a:solidFill>
            <a:srgbClr val="C2352F"/>
          </a:solidFill>
          <a:ln w="6350">
            <a:solidFill>
              <a:srgbClr val="FFFFFF"/>
            </a:solidFill>
            <a:prstDash val="solid"/>
          </a:ln>
        </p:spPr>
      </p:sp>
      <p:sp>
        <p:nvSpPr>
          <p:cNvPr id="210" name="Text 208"/>
          <p:cNvSpPr txBox="1"/>
          <p:nvPr/>
        </p:nvSpPr>
        <p:spPr>
          <a:xfrm>
            <a:off x="8988552" y="4158562"/>
            <a:ext cx="2523744"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80</a:t>
            </a:r>
            <a:endParaRPr lang="en-US" sz="1300" dirty="0"/>
          </a:p>
        </p:txBody>
      </p:sp>
      <p:sp>
        <p:nvSpPr>
          <p:cNvPr id="211" name="Text 209"/>
          <p:cNvSpPr txBox="1"/>
          <p:nvPr/>
        </p:nvSpPr>
        <p:spPr>
          <a:xfrm>
            <a:off x="6208776" y="4361150"/>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212" name="Shape 210"/>
          <p:cNvSpPr/>
          <p:nvPr/>
        </p:nvSpPr>
        <p:spPr>
          <a:xfrm>
            <a:off x="8357616" y="4388776"/>
            <a:ext cx="262890" cy="174962"/>
          </a:xfrm>
          <a:prstGeom prst="rect">
            <a:avLst/>
          </a:prstGeom>
          <a:solidFill>
            <a:srgbClr val="12A566"/>
          </a:solidFill>
          <a:ln w="6350">
            <a:solidFill>
              <a:srgbClr val="FFFFFF"/>
            </a:solidFill>
            <a:prstDash val="solid"/>
          </a:ln>
        </p:spPr>
      </p:sp>
      <p:sp>
        <p:nvSpPr>
          <p:cNvPr id="213" name="Text 211"/>
          <p:cNvSpPr txBox="1"/>
          <p:nvPr/>
        </p:nvSpPr>
        <p:spPr>
          <a:xfrm>
            <a:off x="8357616" y="4388776"/>
            <a:ext cx="26289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8</a:t>
            </a:r>
            <a:endParaRPr lang="en-US" sz="1300" dirty="0"/>
          </a:p>
        </p:txBody>
      </p:sp>
      <p:sp>
        <p:nvSpPr>
          <p:cNvPr id="214" name="Shape 212"/>
          <p:cNvSpPr/>
          <p:nvPr/>
        </p:nvSpPr>
        <p:spPr>
          <a:xfrm>
            <a:off x="8620506" y="4388776"/>
            <a:ext cx="1051560" cy="174962"/>
          </a:xfrm>
          <a:prstGeom prst="rect">
            <a:avLst/>
          </a:prstGeom>
          <a:solidFill>
            <a:srgbClr val="5B9BD5"/>
          </a:solidFill>
          <a:ln w="6350">
            <a:solidFill>
              <a:srgbClr val="FFFFFF"/>
            </a:solidFill>
            <a:prstDash val="solid"/>
          </a:ln>
        </p:spPr>
      </p:sp>
      <p:sp>
        <p:nvSpPr>
          <p:cNvPr id="215" name="Text 213"/>
          <p:cNvSpPr txBox="1"/>
          <p:nvPr/>
        </p:nvSpPr>
        <p:spPr>
          <a:xfrm>
            <a:off x="8620506" y="4388776"/>
            <a:ext cx="105156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33</a:t>
            </a:r>
            <a:endParaRPr lang="en-US" sz="1300" dirty="0"/>
          </a:p>
        </p:txBody>
      </p:sp>
      <p:sp>
        <p:nvSpPr>
          <p:cNvPr id="216" name="Shape 214"/>
          <p:cNvSpPr/>
          <p:nvPr/>
        </p:nvSpPr>
        <p:spPr>
          <a:xfrm>
            <a:off x="9672066" y="4388776"/>
            <a:ext cx="1840230" cy="174962"/>
          </a:xfrm>
          <a:prstGeom prst="rect">
            <a:avLst/>
          </a:prstGeom>
          <a:solidFill>
            <a:srgbClr val="C2352F"/>
          </a:solidFill>
          <a:ln w="6350">
            <a:solidFill>
              <a:srgbClr val="FFFFFF"/>
            </a:solidFill>
            <a:prstDash val="solid"/>
          </a:ln>
        </p:spPr>
      </p:sp>
      <p:sp>
        <p:nvSpPr>
          <p:cNvPr id="217" name="Text 215"/>
          <p:cNvSpPr txBox="1"/>
          <p:nvPr/>
        </p:nvSpPr>
        <p:spPr>
          <a:xfrm>
            <a:off x="9672066" y="4388776"/>
            <a:ext cx="184023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58</a:t>
            </a:r>
            <a:endParaRPr lang="en-US" sz="1300" dirty="0"/>
          </a:p>
        </p:txBody>
      </p:sp>
      <p:sp>
        <p:nvSpPr>
          <p:cNvPr id="218" name="Text 216"/>
          <p:cNvSpPr txBox="1"/>
          <p:nvPr/>
        </p:nvSpPr>
        <p:spPr>
          <a:xfrm>
            <a:off x="6208776" y="4591364"/>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219" name="Shape 217"/>
          <p:cNvSpPr/>
          <p:nvPr/>
        </p:nvSpPr>
        <p:spPr>
          <a:xfrm>
            <a:off x="8357616" y="4618989"/>
            <a:ext cx="262890" cy="174962"/>
          </a:xfrm>
          <a:prstGeom prst="rect">
            <a:avLst/>
          </a:prstGeom>
          <a:solidFill>
            <a:srgbClr val="12A566"/>
          </a:solidFill>
          <a:ln w="6350">
            <a:solidFill>
              <a:srgbClr val="FFFFFF"/>
            </a:solidFill>
            <a:prstDash val="solid"/>
          </a:ln>
        </p:spPr>
      </p:sp>
      <p:sp>
        <p:nvSpPr>
          <p:cNvPr id="220" name="Text 218"/>
          <p:cNvSpPr txBox="1"/>
          <p:nvPr/>
        </p:nvSpPr>
        <p:spPr>
          <a:xfrm>
            <a:off x="8357616" y="4618989"/>
            <a:ext cx="26289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8</a:t>
            </a:r>
            <a:endParaRPr lang="en-US" sz="1300" dirty="0"/>
          </a:p>
        </p:txBody>
      </p:sp>
      <p:sp>
        <p:nvSpPr>
          <p:cNvPr id="221" name="Shape 219"/>
          <p:cNvSpPr/>
          <p:nvPr/>
        </p:nvSpPr>
        <p:spPr>
          <a:xfrm>
            <a:off x="8620506" y="4618989"/>
            <a:ext cx="525780" cy="174962"/>
          </a:xfrm>
          <a:prstGeom prst="rect">
            <a:avLst/>
          </a:prstGeom>
          <a:solidFill>
            <a:srgbClr val="5B9BD5"/>
          </a:solidFill>
          <a:ln w="6350">
            <a:solidFill>
              <a:srgbClr val="FFFFFF"/>
            </a:solidFill>
            <a:prstDash val="solid"/>
          </a:ln>
        </p:spPr>
      </p:sp>
      <p:sp>
        <p:nvSpPr>
          <p:cNvPr id="222" name="Text 220"/>
          <p:cNvSpPr txBox="1"/>
          <p:nvPr/>
        </p:nvSpPr>
        <p:spPr>
          <a:xfrm>
            <a:off x="8620506" y="4618989"/>
            <a:ext cx="52578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17</a:t>
            </a:r>
            <a:endParaRPr lang="en-US" sz="1300" dirty="0"/>
          </a:p>
        </p:txBody>
      </p:sp>
      <p:sp>
        <p:nvSpPr>
          <p:cNvPr id="223" name="Shape 221"/>
          <p:cNvSpPr/>
          <p:nvPr/>
        </p:nvSpPr>
        <p:spPr>
          <a:xfrm>
            <a:off x="9146286" y="4618989"/>
            <a:ext cx="2366010" cy="174962"/>
          </a:xfrm>
          <a:prstGeom prst="rect">
            <a:avLst/>
          </a:prstGeom>
          <a:solidFill>
            <a:srgbClr val="C2352F"/>
          </a:solidFill>
          <a:ln w="6350">
            <a:solidFill>
              <a:srgbClr val="FFFFFF"/>
            </a:solidFill>
            <a:prstDash val="solid"/>
          </a:ln>
        </p:spPr>
      </p:sp>
      <p:sp>
        <p:nvSpPr>
          <p:cNvPr id="224" name="Text 222"/>
          <p:cNvSpPr txBox="1"/>
          <p:nvPr/>
        </p:nvSpPr>
        <p:spPr>
          <a:xfrm>
            <a:off x="9146286" y="4618989"/>
            <a:ext cx="236601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75</a:t>
            </a:r>
            <a:endParaRPr lang="en-US" sz="1300" dirty="0"/>
          </a:p>
        </p:txBody>
      </p:sp>
      <p:sp>
        <p:nvSpPr>
          <p:cNvPr id="225" name="Text 223"/>
          <p:cNvSpPr txBox="1"/>
          <p:nvPr/>
        </p:nvSpPr>
        <p:spPr>
          <a:xfrm>
            <a:off x="6208776" y="4821577"/>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226" name="Shape 224"/>
          <p:cNvSpPr/>
          <p:nvPr/>
        </p:nvSpPr>
        <p:spPr>
          <a:xfrm>
            <a:off x="8357616" y="4849203"/>
            <a:ext cx="914" cy="174962"/>
          </a:xfrm>
          <a:prstGeom prst="rect">
            <a:avLst/>
          </a:prstGeom>
          <a:solidFill>
            <a:srgbClr val="12A566"/>
          </a:solidFill>
          <a:ln w="6350">
            <a:solidFill>
              <a:srgbClr val="FFFFFF"/>
            </a:solidFill>
            <a:prstDash val="solid"/>
          </a:ln>
        </p:spPr>
      </p:sp>
      <p:sp>
        <p:nvSpPr>
          <p:cNvPr id="227" name="Shape 225"/>
          <p:cNvSpPr/>
          <p:nvPr/>
        </p:nvSpPr>
        <p:spPr>
          <a:xfrm>
            <a:off x="8357616" y="4849203"/>
            <a:ext cx="914" cy="174962"/>
          </a:xfrm>
          <a:prstGeom prst="rect">
            <a:avLst/>
          </a:prstGeom>
          <a:solidFill>
            <a:srgbClr val="5B9BD5"/>
          </a:solidFill>
          <a:ln w="6350">
            <a:solidFill>
              <a:srgbClr val="FFFFFF"/>
            </a:solidFill>
            <a:prstDash val="solid"/>
          </a:ln>
        </p:spPr>
      </p:sp>
      <p:sp>
        <p:nvSpPr>
          <p:cNvPr id="228" name="Shape 226"/>
          <p:cNvSpPr/>
          <p:nvPr/>
        </p:nvSpPr>
        <p:spPr>
          <a:xfrm>
            <a:off x="8357616" y="4849203"/>
            <a:ext cx="3154680" cy="174962"/>
          </a:xfrm>
          <a:prstGeom prst="rect">
            <a:avLst/>
          </a:prstGeom>
          <a:solidFill>
            <a:srgbClr val="C2352F"/>
          </a:solidFill>
          <a:ln w="6350">
            <a:solidFill>
              <a:srgbClr val="FFFFFF"/>
            </a:solidFill>
            <a:prstDash val="solid"/>
          </a:ln>
        </p:spPr>
      </p:sp>
      <p:sp>
        <p:nvSpPr>
          <p:cNvPr id="229" name="Text 227"/>
          <p:cNvSpPr txBox="1"/>
          <p:nvPr/>
        </p:nvSpPr>
        <p:spPr>
          <a:xfrm>
            <a:off x="8357616" y="4849203"/>
            <a:ext cx="315468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100</a:t>
            </a:r>
            <a:endParaRPr lang="en-US" sz="1300" dirty="0"/>
          </a:p>
        </p:txBody>
      </p:sp>
      <p:sp>
        <p:nvSpPr>
          <p:cNvPr id="230" name="Text 228"/>
          <p:cNvSpPr txBox="1"/>
          <p:nvPr/>
        </p:nvSpPr>
        <p:spPr>
          <a:xfrm>
            <a:off x="6208776" y="5051791"/>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231" name="Shape 229"/>
          <p:cNvSpPr/>
          <p:nvPr/>
        </p:nvSpPr>
        <p:spPr>
          <a:xfrm>
            <a:off x="8357616" y="5079417"/>
            <a:ext cx="914" cy="174962"/>
          </a:xfrm>
          <a:prstGeom prst="rect">
            <a:avLst/>
          </a:prstGeom>
          <a:solidFill>
            <a:srgbClr val="12A566"/>
          </a:solidFill>
          <a:ln w="6350">
            <a:solidFill>
              <a:srgbClr val="FFFFFF"/>
            </a:solidFill>
            <a:prstDash val="solid"/>
          </a:ln>
        </p:spPr>
      </p:sp>
      <p:sp>
        <p:nvSpPr>
          <p:cNvPr id="232" name="Shape 230"/>
          <p:cNvSpPr/>
          <p:nvPr/>
        </p:nvSpPr>
        <p:spPr>
          <a:xfrm>
            <a:off x="8357616" y="5079417"/>
            <a:ext cx="350520" cy="174962"/>
          </a:xfrm>
          <a:prstGeom prst="rect">
            <a:avLst/>
          </a:prstGeom>
          <a:solidFill>
            <a:srgbClr val="5B9BD5"/>
          </a:solidFill>
          <a:ln w="6350">
            <a:solidFill>
              <a:srgbClr val="FFFFFF"/>
            </a:solidFill>
            <a:prstDash val="solid"/>
          </a:ln>
        </p:spPr>
      </p:sp>
      <p:sp>
        <p:nvSpPr>
          <p:cNvPr id="233" name="Text 231"/>
          <p:cNvSpPr txBox="1"/>
          <p:nvPr/>
        </p:nvSpPr>
        <p:spPr>
          <a:xfrm>
            <a:off x="8357616" y="5079417"/>
            <a:ext cx="35052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11</a:t>
            </a:r>
            <a:endParaRPr lang="en-US" sz="1300" dirty="0"/>
          </a:p>
        </p:txBody>
      </p:sp>
      <p:sp>
        <p:nvSpPr>
          <p:cNvPr id="234" name="Shape 232"/>
          <p:cNvSpPr/>
          <p:nvPr/>
        </p:nvSpPr>
        <p:spPr>
          <a:xfrm>
            <a:off x="8708136" y="5079417"/>
            <a:ext cx="2804160" cy="174962"/>
          </a:xfrm>
          <a:prstGeom prst="rect">
            <a:avLst/>
          </a:prstGeom>
          <a:solidFill>
            <a:srgbClr val="C2352F"/>
          </a:solidFill>
          <a:ln w="6350">
            <a:solidFill>
              <a:srgbClr val="FFFFFF"/>
            </a:solidFill>
            <a:prstDash val="solid"/>
          </a:ln>
        </p:spPr>
      </p:sp>
      <p:sp>
        <p:nvSpPr>
          <p:cNvPr id="235" name="Text 233"/>
          <p:cNvSpPr txBox="1"/>
          <p:nvPr/>
        </p:nvSpPr>
        <p:spPr>
          <a:xfrm>
            <a:off x="8708136" y="5079417"/>
            <a:ext cx="280416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89</a:t>
            </a:r>
            <a:endParaRPr lang="en-US" sz="1300" dirty="0"/>
          </a:p>
        </p:txBody>
      </p:sp>
      <p:sp>
        <p:nvSpPr>
          <p:cNvPr id="236" name="Text 234"/>
          <p:cNvSpPr txBox="1"/>
          <p:nvPr/>
        </p:nvSpPr>
        <p:spPr>
          <a:xfrm>
            <a:off x="6208776" y="5282005"/>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237" name="Shape 235"/>
          <p:cNvSpPr/>
          <p:nvPr/>
        </p:nvSpPr>
        <p:spPr>
          <a:xfrm>
            <a:off x="8357616" y="5309630"/>
            <a:ext cx="914" cy="174962"/>
          </a:xfrm>
          <a:prstGeom prst="rect">
            <a:avLst/>
          </a:prstGeom>
          <a:solidFill>
            <a:srgbClr val="12A566"/>
          </a:solidFill>
          <a:ln w="6350">
            <a:solidFill>
              <a:srgbClr val="FFFFFF"/>
            </a:solidFill>
            <a:prstDash val="solid"/>
          </a:ln>
        </p:spPr>
      </p:sp>
      <p:sp>
        <p:nvSpPr>
          <p:cNvPr id="238" name="Shape 236"/>
          <p:cNvSpPr/>
          <p:nvPr/>
        </p:nvSpPr>
        <p:spPr>
          <a:xfrm>
            <a:off x="8357616" y="5309630"/>
            <a:ext cx="914" cy="174962"/>
          </a:xfrm>
          <a:prstGeom prst="rect">
            <a:avLst/>
          </a:prstGeom>
          <a:solidFill>
            <a:srgbClr val="5B9BD5"/>
          </a:solidFill>
          <a:ln w="6350">
            <a:solidFill>
              <a:srgbClr val="FFFFFF"/>
            </a:solidFill>
            <a:prstDash val="solid"/>
          </a:ln>
        </p:spPr>
      </p:sp>
      <p:sp>
        <p:nvSpPr>
          <p:cNvPr id="239" name="Shape 237"/>
          <p:cNvSpPr/>
          <p:nvPr/>
        </p:nvSpPr>
        <p:spPr>
          <a:xfrm>
            <a:off x="8357616" y="5309630"/>
            <a:ext cx="3154680" cy="174962"/>
          </a:xfrm>
          <a:prstGeom prst="rect">
            <a:avLst/>
          </a:prstGeom>
          <a:solidFill>
            <a:srgbClr val="C2352F"/>
          </a:solidFill>
          <a:ln w="6350">
            <a:solidFill>
              <a:srgbClr val="FFFFFF"/>
            </a:solidFill>
            <a:prstDash val="solid"/>
          </a:ln>
        </p:spPr>
      </p:sp>
      <p:sp>
        <p:nvSpPr>
          <p:cNvPr id="240" name="Text 238"/>
          <p:cNvSpPr txBox="1"/>
          <p:nvPr/>
        </p:nvSpPr>
        <p:spPr>
          <a:xfrm>
            <a:off x="8357616" y="5309630"/>
            <a:ext cx="315468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100</a:t>
            </a:r>
            <a:endParaRPr lang="en-US" sz="1300" dirty="0"/>
          </a:p>
        </p:txBody>
      </p:sp>
      <p:sp>
        <p:nvSpPr>
          <p:cNvPr id="241" name="Shape 239"/>
          <p:cNvSpPr/>
          <p:nvPr/>
        </p:nvSpPr>
        <p:spPr>
          <a:xfrm>
            <a:off x="457200" y="5961888"/>
            <a:ext cx="11274552" cy="548640"/>
          </a:xfrm>
          <a:prstGeom prst="rect">
            <a:avLst/>
          </a:prstGeom>
          <a:solidFill>
            <a:srgbClr val="EDF4FA"/>
          </a:solidFill>
          <a:ln/>
        </p:spPr>
      </p:sp>
      <p:sp>
        <p:nvSpPr>
          <p:cNvPr id="242" name="Text 240"/>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Of 583 technicians, 198 are above 100% and 262 (45%) are under 85%. 14 stores have more than half their technicians under target.</a:t>
            </a:r>
            <a:endParaRPr lang="en-US" sz="1600" dirty="0"/>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The Proficiency Opportunity</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Shape 4"/>
          <p:cNvSpPr/>
          <p:nvPr/>
        </p:nvSpPr>
        <p:spPr>
          <a:xfrm>
            <a:off x="713232" y="1481328"/>
            <a:ext cx="2539746" cy="3017520"/>
          </a:xfrm>
          <a:prstGeom prst="rect">
            <a:avLst/>
          </a:prstGeom>
          <a:solidFill>
            <a:srgbClr val="F7F7F7"/>
          </a:solidFill>
          <a:ln/>
        </p:spPr>
      </p:sp>
      <p:sp>
        <p:nvSpPr>
          <p:cNvPr id="7" name="Shape 5"/>
          <p:cNvSpPr/>
          <p:nvPr/>
        </p:nvSpPr>
        <p:spPr>
          <a:xfrm>
            <a:off x="713232" y="1481328"/>
            <a:ext cx="2539746" cy="64008"/>
          </a:xfrm>
          <a:prstGeom prst="rect">
            <a:avLst/>
          </a:prstGeom>
          <a:solidFill>
            <a:srgbClr val="C2352F"/>
          </a:solidFill>
          <a:ln/>
        </p:spPr>
      </p:sp>
      <p:sp>
        <p:nvSpPr>
          <p:cNvPr id="8" name="Text 6"/>
          <p:cNvSpPr txBox="1"/>
          <p:nvPr/>
        </p:nvSpPr>
        <p:spPr>
          <a:xfrm>
            <a:off x="896112" y="1691640"/>
            <a:ext cx="2173986" cy="566928"/>
          </a:xfrm>
          <a:prstGeom prst="rect">
            <a:avLst/>
          </a:prstGeom>
          <a:noFill/>
          <a:ln/>
        </p:spPr>
        <p:txBody>
          <a:bodyPr wrap="square" lIns="0" tIns="0" rIns="0" bIns="0" rtlCol="0" anchor="t"/>
          <a:lstStyle/>
          <a:p>
            <a:pPr indent="0" marL="0">
              <a:buNone/>
            </a:pPr>
            <a:r>
              <a:rPr lang="en-US" sz="1400" b="1" spc="80" kern="0" dirty="0">
                <a:solidFill>
                  <a:srgbClr val="595959"/>
                </a:solidFill>
                <a:latin typeface="Inter" pitchFamily="34" charset="0"/>
                <a:ea typeface="Inter" pitchFamily="34" charset="-122"/>
                <a:cs typeface="Inter" pitchFamily="34" charset="-120"/>
              </a:rPr>
              <a:t>GROSS MISSED A MONTH</a:t>
            </a:r>
            <a:endParaRPr lang="en-US" sz="1400" dirty="0"/>
          </a:p>
        </p:txBody>
      </p:sp>
      <p:sp>
        <p:nvSpPr>
          <p:cNvPr id="9" name="Text 7"/>
          <p:cNvSpPr txBox="1"/>
          <p:nvPr/>
        </p:nvSpPr>
        <p:spPr>
          <a:xfrm>
            <a:off x="896112" y="2286000"/>
            <a:ext cx="2173986" cy="868680"/>
          </a:xfrm>
          <a:prstGeom prst="rect">
            <a:avLst/>
          </a:prstGeom>
          <a:noFill/>
          <a:ln/>
        </p:spPr>
        <p:txBody>
          <a:bodyPr wrap="square" lIns="0" tIns="0" rIns="0" bIns="0" rtlCol="0" anchor="ctr">
            <a:normAutofit/>
          </a:bodyPr>
          <a:lstStyle/>
          <a:p>
            <a:pPr indent="0" marL="0">
              <a:buNone/>
            </a:pPr>
            <a:r>
              <a:rPr lang="en-US" sz="4000" b="1" dirty="0">
                <a:solidFill>
                  <a:srgbClr val="A82B26"/>
                </a:solidFill>
                <a:latin typeface="Inter" pitchFamily="34" charset="0"/>
                <a:ea typeface="Inter" pitchFamily="34" charset="-122"/>
                <a:cs typeface="Inter" pitchFamily="34" charset="-120"/>
              </a:rPr>
              <a:t>$1.65M</a:t>
            </a:r>
            <a:endParaRPr lang="en-US" sz="4000" dirty="0"/>
          </a:p>
        </p:txBody>
      </p:sp>
      <p:sp>
        <p:nvSpPr>
          <p:cNvPr id="10" name="Text 8"/>
          <p:cNvSpPr txBox="1"/>
          <p:nvPr/>
        </p:nvSpPr>
        <p:spPr>
          <a:xfrm>
            <a:off x="896112" y="3200400"/>
            <a:ext cx="2173986" cy="1188720"/>
          </a:xfrm>
          <a:prstGeom prst="rect">
            <a:avLst/>
          </a:prstGeom>
          <a:noFill/>
          <a:ln/>
        </p:spPr>
        <p:txBody>
          <a:bodyPr wrap="square" lIns="0" tIns="0" rIns="0" bIns="0" rtlCol="0" anchor="t"/>
          <a:lstStyle/>
          <a:p>
            <a:pPr indent="0" marL="0">
              <a:buNone/>
            </a:pPr>
            <a:r>
              <a:rPr lang="en-US" sz="1500" dirty="0">
                <a:solidFill>
                  <a:srgbClr val="1A1A1A"/>
                </a:solidFill>
                <a:latin typeface="Inter" pitchFamily="34" charset="0"/>
                <a:ea typeface="Inter" pitchFamily="34" charset="-122"/>
                <a:cs typeface="Inter" pitchFamily="34" charset="-120"/>
              </a:rPr>
              <a:t>Labor $1.13M + parts $514K: 8.1% of the $20.44M a month our ROs generate.</a:t>
            </a:r>
            <a:endParaRPr lang="en-US" sz="1500" dirty="0"/>
          </a:p>
        </p:txBody>
      </p:sp>
      <p:sp>
        <p:nvSpPr>
          <p:cNvPr id="11" name="Shape 9"/>
          <p:cNvSpPr/>
          <p:nvPr/>
        </p:nvSpPr>
        <p:spPr>
          <a:xfrm>
            <a:off x="3454146" y="1481328"/>
            <a:ext cx="2539746" cy="3017520"/>
          </a:xfrm>
          <a:prstGeom prst="rect">
            <a:avLst/>
          </a:prstGeom>
          <a:solidFill>
            <a:srgbClr val="F7F7F7"/>
          </a:solidFill>
          <a:ln/>
        </p:spPr>
      </p:sp>
      <p:sp>
        <p:nvSpPr>
          <p:cNvPr id="12" name="Shape 10"/>
          <p:cNvSpPr/>
          <p:nvPr/>
        </p:nvSpPr>
        <p:spPr>
          <a:xfrm>
            <a:off x="3454146" y="1481328"/>
            <a:ext cx="2539746" cy="64008"/>
          </a:xfrm>
          <a:prstGeom prst="rect">
            <a:avLst/>
          </a:prstGeom>
          <a:solidFill>
            <a:srgbClr val="C2352F"/>
          </a:solidFill>
          <a:ln/>
        </p:spPr>
      </p:sp>
      <p:sp>
        <p:nvSpPr>
          <p:cNvPr id="13" name="Text 11"/>
          <p:cNvSpPr txBox="1"/>
          <p:nvPr/>
        </p:nvSpPr>
        <p:spPr>
          <a:xfrm>
            <a:off x="3637026" y="1691640"/>
            <a:ext cx="2173986" cy="566928"/>
          </a:xfrm>
          <a:prstGeom prst="rect">
            <a:avLst/>
          </a:prstGeom>
          <a:noFill/>
          <a:ln/>
        </p:spPr>
        <p:txBody>
          <a:bodyPr wrap="square" lIns="0" tIns="0" rIns="0" bIns="0" rtlCol="0" anchor="t"/>
          <a:lstStyle/>
          <a:p>
            <a:pPr indent="0" marL="0">
              <a:buNone/>
            </a:pPr>
            <a:r>
              <a:rPr lang="en-US" sz="1400" b="1" spc="80" kern="0" dirty="0">
                <a:solidFill>
                  <a:srgbClr val="595959"/>
                </a:solidFill>
                <a:latin typeface="Inter" pitchFamily="34" charset="0"/>
                <a:ea typeface="Inter" pitchFamily="34" charset="-122"/>
                <a:cs typeface="Inter" pitchFamily="34" charset="-120"/>
              </a:rPr>
              <a:t>TECH PAY MISSED A MONTH</a:t>
            </a:r>
            <a:endParaRPr lang="en-US" sz="1400" dirty="0"/>
          </a:p>
        </p:txBody>
      </p:sp>
      <p:sp>
        <p:nvSpPr>
          <p:cNvPr id="14" name="Text 12"/>
          <p:cNvSpPr txBox="1"/>
          <p:nvPr/>
        </p:nvSpPr>
        <p:spPr>
          <a:xfrm>
            <a:off x="3637026" y="2286000"/>
            <a:ext cx="2173986" cy="868680"/>
          </a:xfrm>
          <a:prstGeom prst="rect">
            <a:avLst/>
          </a:prstGeom>
          <a:noFill/>
          <a:ln/>
        </p:spPr>
        <p:txBody>
          <a:bodyPr wrap="square" lIns="0" tIns="0" rIns="0" bIns="0" rtlCol="0" anchor="ctr">
            <a:normAutofit/>
          </a:bodyPr>
          <a:lstStyle/>
          <a:p>
            <a:pPr indent="0" marL="0">
              <a:buNone/>
            </a:pPr>
            <a:r>
              <a:rPr lang="en-US" sz="4000" b="1" dirty="0">
                <a:solidFill>
                  <a:srgbClr val="A82B26"/>
                </a:solidFill>
                <a:latin typeface="Inter" pitchFamily="34" charset="0"/>
                <a:ea typeface="Inter" pitchFamily="34" charset="-122"/>
                <a:cs typeface="Inter" pitchFamily="34" charset="-120"/>
              </a:rPr>
              <a:t>$282K</a:t>
            </a:r>
            <a:endParaRPr lang="en-US" sz="4000" dirty="0"/>
          </a:p>
        </p:txBody>
      </p:sp>
      <p:sp>
        <p:nvSpPr>
          <p:cNvPr id="15" name="Text 13"/>
          <p:cNvSpPr txBox="1"/>
          <p:nvPr/>
        </p:nvSpPr>
        <p:spPr>
          <a:xfrm>
            <a:off x="3637026" y="3200400"/>
            <a:ext cx="2173986" cy="1188720"/>
          </a:xfrm>
          <a:prstGeom prst="rect">
            <a:avLst/>
          </a:prstGeom>
          <a:noFill/>
          <a:ln/>
        </p:spPr>
        <p:txBody>
          <a:bodyPr wrap="square" lIns="0" tIns="0" rIns="0" bIns="0" rtlCol="0" anchor="t"/>
          <a:lstStyle/>
          <a:p>
            <a:pPr indent="0" marL="0">
              <a:buNone/>
            </a:pPr>
            <a:r>
              <a:rPr lang="en-US" sz="1500" dirty="0">
                <a:solidFill>
                  <a:srgbClr val="1A1A1A"/>
                </a:solidFill>
                <a:latin typeface="Inter" pitchFamily="34" charset="0"/>
                <a:ea typeface="Inter" pitchFamily="34" charset="-122"/>
                <a:cs typeface="Inter" pitchFamily="34" charset="-120"/>
              </a:rPr>
              <a:t>About $1,080 a month for each tech under 85%. Same hours, bigger checks.</a:t>
            </a:r>
            <a:endParaRPr lang="en-US" sz="1500" dirty="0"/>
          </a:p>
        </p:txBody>
      </p:sp>
      <p:sp>
        <p:nvSpPr>
          <p:cNvPr id="16" name="Shape 14"/>
          <p:cNvSpPr/>
          <p:nvPr/>
        </p:nvSpPr>
        <p:spPr>
          <a:xfrm>
            <a:off x="6195060" y="1481328"/>
            <a:ext cx="2539746" cy="3017520"/>
          </a:xfrm>
          <a:prstGeom prst="rect">
            <a:avLst/>
          </a:prstGeom>
          <a:solidFill>
            <a:srgbClr val="F7F7F7"/>
          </a:solidFill>
          <a:ln/>
        </p:spPr>
      </p:sp>
      <p:sp>
        <p:nvSpPr>
          <p:cNvPr id="17" name="Shape 15"/>
          <p:cNvSpPr/>
          <p:nvPr/>
        </p:nvSpPr>
        <p:spPr>
          <a:xfrm>
            <a:off x="6195060" y="1481328"/>
            <a:ext cx="2539746" cy="64008"/>
          </a:xfrm>
          <a:prstGeom prst="rect">
            <a:avLst/>
          </a:prstGeom>
          <a:solidFill>
            <a:srgbClr val="C2352F"/>
          </a:solidFill>
          <a:ln/>
        </p:spPr>
      </p:sp>
      <p:sp>
        <p:nvSpPr>
          <p:cNvPr id="18" name="Text 16"/>
          <p:cNvSpPr txBox="1"/>
          <p:nvPr/>
        </p:nvSpPr>
        <p:spPr>
          <a:xfrm>
            <a:off x="6377940" y="1691640"/>
            <a:ext cx="2173986" cy="566928"/>
          </a:xfrm>
          <a:prstGeom prst="rect">
            <a:avLst/>
          </a:prstGeom>
          <a:noFill/>
          <a:ln/>
        </p:spPr>
        <p:txBody>
          <a:bodyPr wrap="square" lIns="0" tIns="0" rIns="0" bIns="0" rtlCol="0" anchor="t"/>
          <a:lstStyle/>
          <a:p>
            <a:pPr indent="0" marL="0">
              <a:buNone/>
            </a:pPr>
            <a:r>
              <a:rPr lang="en-US" sz="1400" b="1" spc="80" kern="0" dirty="0">
                <a:solidFill>
                  <a:srgbClr val="595959"/>
                </a:solidFill>
                <a:latin typeface="Inter" pitchFamily="34" charset="0"/>
                <a:ea typeface="Inter" pitchFamily="34" charset="-122"/>
                <a:cs typeface="Inter" pitchFamily="34" charset="-120"/>
              </a:rPr>
              <a:t>HOURS NOT PRODUCED, YEAR TO DATE</a:t>
            </a:r>
            <a:endParaRPr lang="en-US" sz="1400" dirty="0"/>
          </a:p>
        </p:txBody>
      </p:sp>
      <p:sp>
        <p:nvSpPr>
          <p:cNvPr id="19" name="Text 17"/>
          <p:cNvSpPr txBox="1"/>
          <p:nvPr/>
        </p:nvSpPr>
        <p:spPr>
          <a:xfrm>
            <a:off x="6377940" y="2286000"/>
            <a:ext cx="2173986" cy="868680"/>
          </a:xfrm>
          <a:prstGeom prst="rect">
            <a:avLst/>
          </a:prstGeom>
          <a:noFill/>
          <a:ln/>
        </p:spPr>
        <p:txBody>
          <a:bodyPr wrap="square" lIns="0" tIns="0" rIns="0" bIns="0" rtlCol="0" anchor="ctr">
            <a:normAutofit/>
          </a:bodyPr>
          <a:lstStyle/>
          <a:p>
            <a:pPr indent="0" marL="0">
              <a:buNone/>
            </a:pPr>
            <a:r>
              <a:rPr lang="en-US" sz="4000" b="1" dirty="0">
                <a:solidFill>
                  <a:srgbClr val="A82B26"/>
                </a:solidFill>
                <a:latin typeface="Inter" pitchFamily="34" charset="0"/>
                <a:ea typeface="Inter" pitchFamily="34" charset="-122"/>
                <a:cs typeface="Inter" pitchFamily="34" charset="-120"/>
              </a:rPr>
              <a:t>79K YTD</a:t>
            </a:r>
            <a:endParaRPr lang="en-US" sz="4000" dirty="0"/>
          </a:p>
        </p:txBody>
      </p:sp>
      <p:sp>
        <p:nvSpPr>
          <p:cNvPr id="20" name="Text 18"/>
          <p:cNvSpPr txBox="1"/>
          <p:nvPr/>
        </p:nvSpPr>
        <p:spPr>
          <a:xfrm>
            <a:off x="6377940" y="3200400"/>
            <a:ext cx="2173986" cy="1188720"/>
          </a:xfrm>
          <a:prstGeom prst="rect">
            <a:avLst/>
          </a:prstGeom>
          <a:noFill/>
          <a:ln/>
        </p:spPr>
        <p:txBody>
          <a:bodyPr wrap="square" lIns="0" tIns="0" rIns="0" bIns="0" rtlCol="0" anchor="t"/>
          <a:lstStyle/>
          <a:p>
            <a:pPr indent="0" marL="0">
              <a:buNone/>
            </a:pPr>
            <a:r>
              <a:rPr lang="en-US" sz="1500" dirty="0">
                <a:solidFill>
                  <a:srgbClr val="1A1A1A"/>
                </a:solidFill>
                <a:latin typeface="Inter" pitchFamily="34" charset="0"/>
                <a:ea typeface="Inter" pitchFamily="34" charset="-122"/>
                <a:cs typeface="Inter" pitchFamily="34" charset="-120"/>
              </a:rPr>
              <a:t>About 8.3K hours a month on the clock and not flagged, below the 85% line alone. 48 full-time techs of capacity.</a:t>
            </a:r>
            <a:endParaRPr lang="en-US" sz="1500" dirty="0"/>
          </a:p>
        </p:txBody>
      </p:sp>
      <p:sp>
        <p:nvSpPr>
          <p:cNvPr id="21" name="Shape 19"/>
          <p:cNvSpPr/>
          <p:nvPr/>
        </p:nvSpPr>
        <p:spPr>
          <a:xfrm>
            <a:off x="8935974" y="1481328"/>
            <a:ext cx="2539746" cy="3017520"/>
          </a:xfrm>
          <a:prstGeom prst="rect">
            <a:avLst/>
          </a:prstGeom>
          <a:solidFill>
            <a:srgbClr val="F7F7F7"/>
          </a:solidFill>
          <a:ln/>
        </p:spPr>
      </p:sp>
      <p:sp>
        <p:nvSpPr>
          <p:cNvPr id="22" name="Shape 20"/>
          <p:cNvSpPr/>
          <p:nvPr/>
        </p:nvSpPr>
        <p:spPr>
          <a:xfrm>
            <a:off x="8935974" y="1481328"/>
            <a:ext cx="2539746" cy="64008"/>
          </a:xfrm>
          <a:prstGeom prst="rect">
            <a:avLst/>
          </a:prstGeom>
          <a:solidFill>
            <a:srgbClr val="2587C5"/>
          </a:solidFill>
          <a:ln/>
        </p:spPr>
      </p:sp>
      <p:sp>
        <p:nvSpPr>
          <p:cNvPr id="23" name="Text 21"/>
          <p:cNvSpPr txBox="1"/>
          <p:nvPr/>
        </p:nvSpPr>
        <p:spPr>
          <a:xfrm>
            <a:off x="9118854" y="1691640"/>
            <a:ext cx="2173986" cy="566928"/>
          </a:xfrm>
          <a:prstGeom prst="rect">
            <a:avLst/>
          </a:prstGeom>
          <a:noFill/>
          <a:ln/>
        </p:spPr>
        <p:txBody>
          <a:bodyPr wrap="square" lIns="0" tIns="0" rIns="0" bIns="0" rtlCol="0" anchor="t"/>
          <a:lstStyle/>
          <a:p>
            <a:pPr indent="0" marL="0">
              <a:buNone/>
            </a:pPr>
            <a:r>
              <a:rPr lang="en-US" sz="1400" b="1" spc="80" kern="0" dirty="0">
                <a:solidFill>
                  <a:srgbClr val="595959"/>
                </a:solidFill>
                <a:latin typeface="Inter" pitchFamily="34" charset="0"/>
                <a:ea typeface="Inter" pitchFamily="34" charset="-122"/>
                <a:cs typeface="Inter" pitchFamily="34" charset="-120"/>
              </a:rPr>
              <a:t>TECHS UNDER 85%</a:t>
            </a:r>
            <a:endParaRPr lang="en-US" sz="1400" dirty="0"/>
          </a:p>
        </p:txBody>
      </p:sp>
      <p:sp>
        <p:nvSpPr>
          <p:cNvPr id="24" name="Text 22"/>
          <p:cNvSpPr txBox="1"/>
          <p:nvPr/>
        </p:nvSpPr>
        <p:spPr>
          <a:xfrm>
            <a:off x="9118854" y="2286000"/>
            <a:ext cx="2173986" cy="868680"/>
          </a:xfrm>
          <a:prstGeom prst="rect">
            <a:avLst/>
          </a:prstGeom>
          <a:noFill/>
          <a:ln/>
        </p:spPr>
        <p:txBody>
          <a:bodyPr wrap="square" lIns="0" tIns="0" rIns="0" bIns="0" rtlCol="0" anchor="ctr">
            <a:normAutofit/>
          </a:bodyPr>
          <a:lstStyle/>
          <a:p>
            <a:pPr indent="0" marL="0">
              <a:buNone/>
            </a:pPr>
            <a:r>
              <a:rPr lang="en-US" sz="4000" b="1" dirty="0">
                <a:solidFill>
                  <a:srgbClr val="0B2C4A"/>
                </a:solidFill>
                <a:latin typeface="Inter" pitchFamily="34" charset="0"/>
                <a:ea typeface="Inter" pitchFamily="34" charset="-122"/>
                <a:cs typeface="Inter" pitchFamily="34" charset="-120"/>
              </a:rPr>
              <a:t>262 of 583</a:t>
            </a:r>
            <a:endParaRPr lang="en-US" sz="4000" dirty="0"/>
          </a:p>
        </p:txBody>
      </p:sp>
      <p:sp>
        <p:nvSpPr>
          <p:cNvPr id="25" name="Text 23"/>
          <p:cNvSpPr txBox="1"/>
          <p:nvPr/>
        </p:nvSpPr>
        <p:spPr>
          <a:xfrm>
            <a:off x="9118854" y="3200400"/>
            <a:ext cx="2173986" cy="1188720"/>
          </a:xfrm>
          <a:prstGeom prst="rect">
            <a:avLst/>
          </a:prstGeom>
          <a:noFill/>
          <a:ln/>
        </p:spPr>
        <p:txBody>
          <a:bodyPr wrap="square" lIns="0" tIns="0" rIns="0" bIns="0" rtlCol="0" anchor="t"/>
          <a:lstStyle/>
          <a:p>
            <a:pPr indent="0" marL="0">
              <a:buNone/>
            </a:pPr>
            <a:r>
              <a:rPr lang="en-US" sz="1500" dirty="0">
                <a:solidFill>
                  <a:srgbClr val="1A1A1A"/>
                </a:solidFill>
                <a:latin typeface="Inter" pitchFamily="34" charset="0"/>
                <a:ea typeface="Inter" pitchFamily="34" charset="-122"/>
                <a:cs typeface="Inter" pitchFamily="34" charset="-120"/>
              </a:rPr>
              <a:t>45% of technicians. Every store has at least one.</a:t>
            </a:r>
            <a:endParaRPr lang="en-US" sz="1500" dirty="0"/>
          </a:p>
        </p:txBody>
      </p:sp>
      <p:sp>
        <p:nvSpPr>
          <p:cNvPr id="26" name="Text 24"/>
          <p:cNvSpPr txBox="1"/>
          <p:nvPr/>
        </p:nvSpPr>
        <p:spPr>
          <a:xfrm>
            <a:off x="713232" y="4709160"/>
            <a:ext cx="10762488" cy="914400"/>
          </a:xfrm>
          <a:prstGeom prst="rect">
            <a:avLst/>
          </a:prstGeom>
          <a:noFill/>
          <a:ln/>
        </p:spPr>
        <p:txBody>
          <a:bodyPr wrap="square" lIns="0" tIns="0" rIns="0" bIns="0" rtlCol="0" anchor="ctr"/>
          <a:lstStyle/>
          <a:p>
            <a:pPr indent="0" marL="0">
              <a:buNone/>
            </a:pPr>
            <a:r>
              <a:rPr lang="en-US" sz="1700" dirty="0">
                <a:solidFill>
                  <a:srgbClr val="1A1A1A"/>
                </a:solidFill>
                <a:latin typeface="Inter" pitchFamily="34" charset="0"/>
                <a:ea typeface="Inter" pitchFamily="34" charset="-122"/>
                <a:cs typeface="Inter" pitchFamily="34" charset="-120"/>
              </a:rPr>
              <a:t>No extra hours, no extra techs, no extra bays. The techs, bays and lifts are already here; the hour is spent whether it is flagged or not. An hour not produced today cannot be sold tomorrow.</a:t>
            </a:r>
            <a:endParaRPr lang="en-US" sz="1700" dirty="0"/>
          </a:p>
        </p:txBody>
      </p:sp>
      <p:sp>
        <p:nvSpPr>
          <p:cNvPr id="27" name="Shape 25"/>
          <p:cNvSpPr/>
          <p:nvPr/>
        </p:nvSpPr>
        <p:spPr>
          <a:xfrm>
            <a:off x="457200" y="5961888"/>
            <a:ext cx="11274552" cy="548640"/>
          </a:xfrm>
          <a:prstGeom prst="rect">
            <a:avLst/>
          </a:prstGeom>
          <a:solidFill>
            <a:srgbClr val="FBEBEA"/>
          </a:solidFill>
          <a:ln/>
        </p:spPr>
      </p:sp>
      <p:sp>
        <p:nvSpPr>
          <p:cNvPr id="28" name="Text 26"/>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Lifting each tech under 85% to 85% is worth $1.65M a month in gross and $282K a month in tech pay.</a:t>
            </a:r>
            <a:endParaRPr lang="en-US" sz="1600" dirty="0"/>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Proficiency Opportunity by Store</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3474720" y="1316736"/>
            <a:ext cx="786384"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Per mo</a:t>
            </a:r>
            <a:endParaRPr lang="en-US" sz="1400" dirty="0"/>
          </a:p>
        </p:txBody>
      </p:sp>
      <p:sp>
        <p:nvSpPr>
          <p:cNvPr id="7" name="Text 5"/>
          <p:cNvSpPr txBox="1"/>
          <p:nvPr/>
        </p:nvSpPr>
        <p:spPr>
          <a:xfrm>
            <a:off x="4261104" y="1316736"/>
            <a:ext cx="93268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Under 85%</a:t>
            </a:r>
            <a:endParaRPr lang="en-US" sz="1400" dirty="0"/>
          </a:p>
        </p:txBody>
      </p:sp>
      <p:sp>
        <p:nvSpPr>
          <p:cNvPr id="8" name="Text 6"/>
          <p:cNvSpPr txBox="1"/>
          <p:nvPr/>
        </p:nvSpPr>
        <p:spPr>
          <a:xfrm>
            <a:off x="5193792" y="1316736"/>
            <a:ext cx="676656"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Store</a:t>
            </a:r>
            <a:endParaRPr lang="en-US" sz="1400" dirty="0"/>
          </a:p>
        </p:txBody>
      </p:sp>
      <p:sp>
        <p:nvSpPr>
          <p:cNvPr id="9" name="Text 7"/>
          <p:cNvSpPr txBox="1"/>
          <p:nvPr/>
        </p:nvSpPr>
        <p:spPr>
          <a:xfrm>
            <a:off x="9025128" y="1316736"/>
            <a:ext cx="786384"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Per mo</a:t>
            </a:r>
            <a:endParaRPr lang="en-US" sz="1400" dirty="0"/>
          </a:p>
        </p:txBody>
      </p:sp>
      <p:sp>
        <p:nvSpPr>
          <p:cNvPr id="10" name="Text 8"/>
          <p:cNvSpPr txBox="1"/>
          <p:nvPr/>
        </p:nvSpPr>
        <p:spPr>
          <a:xfrm>
            <a:off x="9811512" y="1316736"/>
            <a:ext cx="93268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Under 85%</a:t>
            </a:r>
            <a:endParaRPr lang="en-US" sz="1400" dirty="0"/>
          </a:p>
        </p:txBody>
      </p:sp>
      <p:sp>
        <p:nvSpPr>
          <p:cNvPr id="11" name="Text 9"/>
          <p:cNvSpPr txBox="1"/>
          <p:nvPr/>
        </p:nvSpPr>
        <p:spPr>
          <a:xfrm>
            <a:off x="10744200" y="1316736"/>
            <a:ext cx="676656"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Store</a:t>
            </a:r>
            <a:endParaRPr lang="en-US" sz="1400" dirty="0"/>
          </a:p>
        </p:txBody>
      </p:sp>
      <p:sp>
        <p:nvSpPr>
          <p:cNvPr id="12" name="Text 10"/>
          <p:cNvSpPr txBox="1"/>
          <p:nvPr/>
        </p:nvSpPr>
        <p:spPr>
          <a:xfrm>
            <a:off x="658368" y="1700784"/>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13" name="Shape 11"/>
          <p:cNvSpPr/>
          <p:nvPr/>
        </p:nvSpPr>
        <p:spPr>
          <a:xfrm>
            <a:off x="2670048" y="1754034"/>
            <a:ext cx="749808" cy="130168"/>
          </a:xfrm>
          <a:prstGeom prst="rect">
            <a:avLst/>
          </a:prstGeom>
          <a:solidFill>
            <a:srgbClr val="C2352F"/>
          </a:solidFill>
          <a:ln/>
        </p:spPr>
      </p:sp>
      <p:sp>
        <p:nvSpPr>
          <p:cNvPr id="14" name="Text 12"/>
          <p:cNvSpPr txBox="1"/>
          <p:nvPr/>
        </p:nvSpPr>
        <p:spPr>
          <a:xfrm>
            <a:off x="3474720" y="1700784"/>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$158K</a:t>
            </a:r>
            <a:endParaRPr lang="en-US" sz="1300" dirty="0"/>
          </a:p>
        </p:txBody>
      </p:sp>
      <p:sp>
        <p:nvSpPr>
          <p:cNvPr id="15" name="Text 13"/>
          <p:cNvSpPr txBox="1"/>
          <p:nvPr/>
        </p:nvSpPr>
        <p:spPr>
          <a:xfrm>
            <a:off x="4261104" y="1700784"/>
            <a:ext cx="93268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 of 29</a:t>
            </a:r>
            <a:endParaRPr lang="en-US" sz="1300" dirty="0"/>
          </a:p>
        </p:txBody>
      </p:sp>
      <p:sp>
        <p:nvSpPr>
          <p:cNvPr id="16" name="Text 14"/>
          <p:cNvSpPr txBox="1"/>
          <p:nvPr/>
        </p:nvSpPr>
        <p:spPr>
          <a:xfrm>
            <a:off x="5193792" y="1700784"/>
            <a:ext cx="676656"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87.7%</a:t>
            </a:r>
            <a:endParaRPr lang="en-US" sz="1300" dirty="0"/>
          </a:p>
        </p:txBody>
      </p:sp>
      <p:sp>
        <p:nvSpPr>
          <p:cNvPr id="17" name="Text 15"/>
          <p:cNvSpPr txBox="1"/>
          <p:nvPr/>
        </p:nvSpPr>
        <p:spPr>
          <a:xfrm>
            <a:off x="658368" y="1937452"/>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18" name="Shape 16"/>
          <p:cNvSpPr/>
          <p:nvPr/>
        </p:nvSpPr>
        <p:spPr>
          <a:xfrm>
            <a:off x="2670048" y="1990703"/>
            <a:ext cx="533948" cy="130168"/>
          </a:xfrm>
          <a:prstGeom prst="rect">
            <a:avLst/>
          </a:prstGeom>
          <a:solidFill>
            <a:srgbClr val="C2352F"/>
          </a:solidFill>
          <a:ln/>
        </p:spPr>
      </p:sp>
      <p:sp>
        <p:nvSpPr>
          <p:cNvPr id="19" name="Text 17"/>
          <p:cNvSpPr txBox="1"/>
          <p:nvPr/>
        </p:nvSpPr>
        <p:spPr>
          <a:xfrm>
            <a:off x="3474720" y="1937452"/>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$112K</a:t>
            </a:r>
            <a:endParaRPr lang="en-US" sz="1300" dirty="0"/>
          </a:p>
        </p:txBody>
      </p:sp>
      <p:sp>
        <p:nvSpPr>
          <p:cNvPr id="20" name="Text 18"/>
          <p:cNvSpPr txBox="1"/>
          <p:nvPr/>
        </p:nvSpPr>
        <p:spPr>
          <a:xfrm>
            <a:off x="4261104" y="1937452"/>
            <a:ext cx="93268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 of 20</a:t>
            </a:r>
            <a:endParaRPr lang="en-US" sz="1300" dirty="0"/>
          </a:p>
        </p:txBody>
      </p:sp>
      <p:sp>
        <p:nvSpPr>
          <p:cNvPr id="21" name="Text 19"/>
          <p:cNvSpPr txBox="1"/>
          <p:nvPr/>
        </p:nvSpPr>
        <p:spPr>
          <a:xfrm>
            <a:off x="5193792" y="1937452"/>
            <a:ext cx="676656"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68.4%</a:t>
            </a:r>
            <a:endParaRPr lang="en-US" sz="1300" dirty="0"/>
          </a:p>
        </p:txBody>
      </p:sp>
      <p:sp>
        <p:nvSpPr>
          <p:cNvPr id="22" name="Text 20"/>
          <p:cNvSpPr txBox="1"/>
          <p:nvPr/>
        </p:nvSpPr>
        <p:spPr>
          <a:xfrm>
            <a:off x="658368" y="2174120"/>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23" name="Shape 21"/>
          <p:cNvSpPr/>
          <p:nvPr/>
        </p:nvSpPr>
        <p:spPr>
          <a:xfrm>
            <a:off x="2670048" y="2227371"/>
            <a:ext cx="483297" cy="130168"/>
          </a:xfrm>
          <a:prstGeom prst="rect">
            <a:avLst/>
          </a:prstGeom>
          <a:solidFill>
            <a:srgbClr val="C2352F"/>
          </a:solidFill>
          <a:ln/>
        </p:spPr>
      </p:sp>
      <p:sp>
        <p:nvSpPr>
          <p:cNvPr id="24" name="Text 22"/>
          <p:cNvSpPr txBox="1"/>
          <p:nvPr/>
        </p:nvSpPr>
        <p:spPr>
          <a:xfrm>
            <a:off x="3474720" y="2174120"/>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$102K</a:t>
            </a:r>
            <a:endParaRPr lang="en-US" sz="1300" dirty="0"/>
          </a:p>
        </p:txBody>
      </p:sp>
      <p:sp>
        <p:nvSpPr>
          <p:cNvPr id="25" name="Text 23"/>
          <p:cNvSpPr txBox="1"/>
          <p:nvPr/>
        </p:nvSpPr>
        <p:spPr>
          <a:xfrm>
            <a:off x="4261104" y="2174120"/>
            <a:ext cx="93268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 of 23</a:t>
            </a:r>
            <a:endParaRPr lang="en-US" sz="1300" dirty="0"/>
          </a:p>
        </p:txBody>
      </p:sp>
      <p:sp>
        <p:nvSpPr>
          <p:cNvPr id="26" name="Text 24"/>
          <p:cNvSpPr txBox="1"/>
          <p:nvPr/>
        </p:nvSpPr>
        <p:spPr>
          <a:xfrm>
            <a:off x="5193792" y="2174120"/>
            <a:ext cx="676656"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91.0%</a:t>
            </a:r>
            <a:endParaRPr lang="en-US" sz="1300" dirty="0"/>
          </a:p>
        </p:txBody>
      </p:sp>
      <p:sp>
        <p:nvSpPr>
          <p:cNvPr id="27" name="Text 25"/>
          <p:cNvSpPr txBox="1"/>
          <p:nvPr/>
        </p:nvSpPr>
        <p:spPr>
          <a:xfrm>
            <a:off x="658368" y="2410789"/>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28" name="Shape 26"/>
          <p:cNvSpPr/>
          <p:nvPr/>
        </p:nvSpPr>
        <p:spPr>
          <a:xfrm>
            <a:off x="2670048" y="2464039"/>
            <a:ext cx="476411" cy="130168"/>
          </a:xfrm>
          <a:prstGeom prst="rect">
            <a:avLst/>
          </a:prstGeom>
          <a:solidFill>
            <a:srgbClr val="C2352F"/>
          </a:solidFill>
          <a:ln/>
        </p:spPr>
      </p:sp>
      <p:sp>
        <p:nvSpPr>
          <p:cNvPr id="29" name="Text 27"/>
          <p:cNvSpPr txBox="1"/>
          <p:nvPr/>
        </p:nvSpPr>
        <p:spPr>
          <a:xfrm>
            <a:off x="3474720" y="2410789"/>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$100K</a:t>
            </a:r>
            <a:endParaRPr lang="en-US" sz="1300" dirty="0"/>
          </a:p>
        </p:txBody>
      </p:sp>
      <p:sp>
        <p:nvSpPr>
          <p:cNvPr id="30" name="Text 28"/>
          <p:cNvSpPr txBox="1"/>
          <p:nvPr/>
        </p:nvSpPr>
        <p:spPr>
          <a:xfrm>
            <a:off x="4261104" y="2410789"/>
            <a:ext cx="93268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 of 14</a:t>
            </a:r>
            <a:endParaRPr lang="en-US" sz="1300" dirty="0"/>
          </a:p>
        </p:txBody>
      </p:sp>
      <p:sp>
        <p:nvSpPr>
          <p:cNvPr id="31" name="Text 29"/>
          <p:cNvSpPr txBox="1"/>
          <p:nvPr/>
        </p:nvSpPr>
        <p:spPr>
          <a:xfrm>
            <a:off x="5193792" y="2410789"/>
            <a:ext cx="676656"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71.2%</a:t>
            </a:r>
            <a:endParaRPr lang="en-US" sz="1300" dirty="0"/>
          </a:p>
        </p:txBody>
      </p:sp>
      <p:sp>
        <p:nvSpPr>
          <p:cNvPr id="32" name="Text 30"/>
          <p:cNvSpPr txBox="1"/>
          <p:nvPr/>
        </p:nvSpPr>
        <p:spPr>
          <a:xfrm>
            <a:off x="658368" y="2647457"/>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33" name="Shape 31"/>
          <p:cNvSpPr/>
          <p:nvPr/>
        </p:nvSpPr>
        <p:spPr>
          <a:xfrm>
            <a:off x="2670048" y="2700707"/>
            <a:ext cx="419972" cy="130168"/>
          </a:xfrm>
          <a:prstGeom prst="rect">
            <a:avLst/>
          </a:prstGeom>
          <a:solidFill>
            <a:srgbClr val="C2352F"/>
          </a:solidFill>
          <a:ln/>
        </p:spPr>
      </p:sp>
      <p:sp>
        <p:nvSpPr>
          <p:cNvPr id="34" name="Text 32"/>
          <p:cNvSpPr txBox="1"/>
          <p:nvPr/>
        </p:nvSpPr>
        <p:spPr>
          <a:xfrm>
            <a:off x="3474720" y="2647457"/>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$88K</a:t>
            </a:r>
            <a:endParaRPr lang="en-US" sz="1300" dirty="0"/>
          </a:p>
        </p:txBody>
      </p:sp>
      <p:sp>
        <p:nvSpPr>
          <p:cNvPr id="35" name="Text 33"/>
          <p:cNvSpPr txBox="1"/>
          <p:nvPr/>
        </p:nvSpPr>
        <p:spPr>
          <a:xfrm>
            <a:off x="4261104" y="2647457"/>
            <a:ext cx="93268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 of 11</a:t>
            </a:r>
            <a:endParaRPr lang="en-US" sz="1300" dirty="0"/>
          </a:p>
        </p:txBody>
      </p:sp>
      <p:sp>
        <p:nvSpPr>
          <p:cNvPr id="36" name="Text 34"/>
          <p:cNvSpPr txBox="1"/>
          <p:nvPr/>
        </p:nvSpPr>
        <p:spPr>
          <a:xfrm>
            <a:off x="5193792" y="2647457"/>
            <a:ext cx="676656"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69.0%</a:t>
            </a:r>
            <a:endParaRPr lang="en-US" sz="1300" dirty="0"/>
          </a:p>
        </p:txBody>
      </p:sp>
      <p:sp>
        <p:nvSpPr>
          <p:cNvPr id="37" name="Text 35"/>
          <p:cNvSpPr txBox="1"/>
          <p:nvPr/>
        </p:nvSpPr>
        <p:spPr>
          <a:xfrm>
            <a:off x="658368" y="2884125"/>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38" name="Shape 36"/>
          <p:cNvSpPr/>
          <p:nvPr/>
        </p:nvSpPr>
        <p:spPr>
          <a:xfrm>
            <a:off x="2670048" y="2937376"/>
            <a:ext cx="415094" cy="130168"/>
          </a:xfrm>
          <a:prstGeom prst="rect">
            <a:avLst/>
          </a:prstGeom>
          <a:solidFill>
            <a:srgbClr val="C2352F"/>
          </a:solidFill>
          <a:ln/>
        </p:spPr>
      </p:sp>
      <p:sp>
        <p:nvSpPr>
          <p:cNvPr id="39" name="Text 37"/>
          <p:cNvSpPr txBox="1"/>
          <p:nvPr/>
        </p:nvSpPr>
        <p:spPr>
          <a:xfrm>
            <a:off x="3474720" y="2884125"/>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$87K</a:t>
            </a:r>
            <a:endParaRPr lang="en-US" sz="1300" dirty="0"/>
          </a:p>
        </p:txBody>
      </p:sp>
      <p:sp>
        <p:nvSpPr>
          <p:cNvPr id="40" name="Text 38"/>
          <p:cNvSpPr txBox="1"/>
          <p:nvPr/>
        </p:nvSpPr>
        <p:spPr>
          <a:xfrm>
            <a:off x="4261104" y="2884125"/>
            <a:ext cx="93268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 of 51</a:t>
            </a:r>
            <a:endParaRPr lang="en-US" sz="1300" dirty="0"/>
          </a:p>
        </p:txBody>
      </p:sp>
      <p:sp>
        <p:nvSpPr>
          <p:cNvPr id="41" name="Text 39"/>
          <p:cNvSpPr txBox="1"/>
          <p:nvPr/>
        </p:nvSpPr>
        <p:spPr>
          <a:xfrm>
            <a:off x="5193792" y="2884125"/>
            <a:ext cx="676656"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103.4%</a:t>
            </a:r>
            <a:endParaRPr lang="en-US" sz="1300" dirty="0"/>
          </a:p>
        </p:txBody>
      </p:sp>
      <p:sp>
        <p:nvSpPr>
          <p:cNvPr id="42" name="Text 40"/>
          <p:cNvSpPr txBox="1"/>
          <p:nvPr/>
        </p:nvSpPr>
        <p:spPr>
          <a:xfrm>
            <a:off x="658368" y="3120793"/>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43" name="Shape 41"/>
          <p:cNvSpPr/>
          <p:nvPr/>
        </p:nvSpPr>
        <p:spPr>
          <a:xfrm>
            <a:off x="2670048" y="3174044"/>
            <a:ext cx="367707" cy="130168"/>
          </a:xfrm>
          <a:prstGeom prst="rect">
            <a:avLst/>
          </a:prstGeom>
          <a:solidFill>
            <a:srgbClr val="C2352F"/>
          </a:solidFill>
          <a:ln/>
        </p:spPr>
      </p:sp>
      <p:sp>
        <p:nvSpPr>
          <p:cNvPr id="44" name="Text 42"/>
          <p:cNvSpPr txBox="1"/>
          <p:nvPr/>
        </p:nvSpPr>
        <p:spPr>
          <a:xfrm>
            <a:off x="3474720" y="3120793"/>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$77K</a:t>
            </a:r>
            <a:endParaRPr lang="en-US" sz="1300" dirty="0"/>
          </a:p>
        </p:txBody>
      </p:sp>
      <p:sp>
        <p:nvSpPr>
          <p:cNvPr id="45" name="Text 43"/>
          <p:cNvSpPr txBox="1"/>
          <p:nvPr/>
        </p:nvSpPr>
        <p:spPr>
          <a:xfrm>
            <a:off x="4261104" y="3120793"/>
            <a:ext cx="93268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 of 22</a:t>
            </a:r>
            <a:endParaRPr lang="en-US" sz="1300" dirty="0"/>
          </a:p>
        </p:txBody>
      </p:sp>
      <p:sp>
        <p:nvSpPr>
          <p:cNvPr id="46" name="Text 44"/>
          <p:cNvSpPr txBox="1"/>
          <p:nvPr/>
        </p:nvSpPr>
        <p:spPr>
          <a:xfrm>
            <a:off x="5193792" y="3120793"/>
            <a:ext cx="676656"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83.6%</a:t>
            </a:r>
            <a:endParaRPr lang="en-US" sz="1300" dirty="0"/>
          </a:p>
        </p:txBody>
      </p:sp>
      <p:sp>
        <p:nvSpPr>
          <p:cNvPr id="47" name="Text 45"/>
          <p:cNvSpPr txBox="1"/>
          <p:nvPr/>
        </p:nvSpPr>
        <p:spPr>
          <a:xfrm>
            <a:off x="658368" y="3357462"/>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48" name="Shape 46"/>
          <p:cNvSpPr/>
          <p:nvPr/>
        </p:nvSpPr>
        <p:spPr>
          <a:xfrm>
            <a:off x="2670048" y="3410712"/>
            <a:ext cx="364470" cy="130168"/>
          </a:xfrm>
          <a:prstGeom prst="rect">
            <a:avLst/>
          </a:prstGeom>
          <a:solidFill>
            <a:srgbClr val="C2352F"/>
          </a:solidFill>
          <a:ln/>
        </p:spPr>
      </p:sp>
      <p:sp>
        <p:nvSpPr>
          <p:cNvPr id="49" name="Text 47"/>
          <p:cNvSpPr txBox="1"/>
          <p:nvPr/>
        </p:nvSpPr>
        <p:spPr>
          <a:xfrm>
            <a:off x="3474720" y="3357462"/>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$77K</a:t>
            </a:r>
            <a:endParaRPr lang="en-US" sz="1300" dirty="0"/>
          </a:p>
        </p:txBody>
      </p:sp>
      <p:sp>
        <p:nvSpPr>
          <p:cNvPr id="50" name="Text 48"/>
          <p:cNvSpPr txBox="1"/>
          <p:nvPr/>
        </p:nvSpPr>
        <p:spPr>
          <a:xfrm>
            <a:off x="4261104" y="3357462"/>
            <a:ext cx="93268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 of 12</a:t>
            </a:r>
            <a:endParaRPr lang="en-US" sz="1300" dirty="0"/>
          </a:p>
        </p:txBody>
      </p:sp>
      <p:sp>
        <p:nvSpPr>
          <p:cNvPr id="51" name="Text 49"/>
          <p:cNvSpPr txBox="1"/>
          <p:nvPr/>
        </p:nvSpPr>
        <p:spPr>
          <a:xfrm>
            <a:off x="5193792" y="3357462"/>
            <a:ext cx="676656"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67.5%</a:t>
            </a:r>
            <a:endParaRPr lang="en-US" sz="1300" dirty="0"/>
          </a:p>
        </p:txBody>
      </p:sp>
      <p:sp>
        <p:nvSpPr>
          <p:cNvPr id="52" name="Text 50"/>
          <p:cNvSpPr txBox="1"/>
          <p:nvPr/>
        </p:nvSpPr>
        <p:spPr>
          <a:xfrm>
            <a:off x="658368" y="3594130"/>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53" name="Shape 51"/>
          <p:cNvSpPr/>
          <p:nvPr/>
        </p:nvSpPr>
        <p:spPr>
          <a:xfrm>
            <a:off x="2670048" y="3647380"/>
            <a:ext cx="361005" cy="130168"/>
          </a:xfrm>
          <a:prstGeom prst="rect">
            <a:avLst/>
          </a:prstGeom>
          <a:solidFill>
            <a:srgbClr val="C2352F"/>
          </a:solidFill>
          <a:ln/>
        </p:spPr>
      </p:sp>
      <p:sp>
        <p:nvSpPr>
          <p:cNvPr id="54" name="Text 52"/>
          <p:cNvSpPr txBox="1"/>
          <p:nvPr/>
        </p:nvSpPr>
        <p:spPr>
          <a:xfrm>
            <a:off x="3474720" y="3594130"/>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$76K</a:t>
            </a:r>
            <a:endParaRPr lang="en-US" sz="1300" dirty="0"/>
          </a:p>
        </p:txBody>
      </p:sp>
      <p:sp>
        <p:nvSpPr>
          <p:cNvPr id="55" name="Text 53"/>
          <p:cNvSpPr txBox="1"/>
          <p:nvPr/>
        </p:nvSpPr>
        <p:spPr>
          <a:xfrm>
            <a:off x="4261104" y="3594130"/>
            <a:ext cx="93268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 of 11</a:t>
            </a:r>
            <a:endParaRPr lang="en-US" sz="1300" dirty="0"/>
          </a:p>
        </p:txBody>
      </p:sp>
      <p:sp>
        <p:nvSpPr>
          <p:cNvPr id="56" name="Text 54"/>
          <p:cNvSpPr txBox="1"/>
          <p:nvPr/>
        </p:nvSpPr>
        <p:spPr>
          <a:xfrm>
            <a:off x="5193792" y="3594130"/>
            <a:ext cx="676656"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67.4%</a:t>
            </a:r>
            <a:endParaRPr lang="en-US" sz="1300" dirty="0"/>
          </a:p>
        </p:txBody>
      </p:sp>
      <p:sp>
        <p:nvSpPr>
          <p:cNvPr id="57" name="Text 55"/>
          <p:cNvSpPr txBox="1"/>
          <p:nvPr/>
        </p:nvSpPr>
        <p:spPr>
          <a:xfrm>
            <a:off x="658368" y="3830798"/>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58" name="Shape 56"/>
          <p:cNvSpPr/>
          <p:nvPr/>
        </p:nvSpPr>
        <p:spPr>
          <a:xfrm>
            <a:off x="2670048" y="3884048"/>
            <a:ext cx="353265" cy="130168"/>
          </a:xfrm>
          <a:prstGeom prst="rect">
            <a:avLst/>
          </a:prstGeom>
          <a:solidFill>
            <a:srgbClr val="C2352F"/>
          </a:solidFill>
          <a:ln/>
        </p:spPr>
      </p:sp>
      <p:sp>
        <p:nvSpPr>
          <p:cNvPr id="59" name="Text 57"/>
          <p:cNvSpPr txBox="1"/>
          <p:nvPr/>
        </p:nvSpPr>
        <p:spPr>
          <a:xfrm>
            <a:off x="3474720" y="3830798"/>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$74K</a:t>
            </a:r>
            <a:endParaRPr lang="en-US" sz="1300" dirty="0"/>
          </a:p>
        </p:txBody>
      </p:sp>
      <p:sp>
        <p:nvSpPr>
          <p:cNvPr id="60" name="Text 58"/>
          <p:cNvSpPr txBox="1"/>
          <p:nvPr/>
        </p:nvSpPr>
        <p:spPr>
          <a:xfrm>
            <a:off x="4261104" y="3830798"/>
            <a:ext cx="93268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 of 20</a:t>
            </a:r>
            <a:endParaRPr lang="en-US" sz="1300" dirty="0"/>
          </a:p>
        </p:txBody>
      </p:sp>
      <p:sp>
        <p:nvSpPr>
          <p:cNvPr id="61" name="Text 59"/>
          <p:cNvSpPr txBox="1"/>
          <p:nvPr/>
        </p:nvSpPr>
        <p:spPr>
          <a:xfrm>
            <a:off x="5193792" y="3830798"/>
            <a:ext cx="676656"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76.8%</a:t>
            </a:r>
            <a:endParaRPr lang="en-US" sz="1300" dirty="0"/>
          </a:p>
        </p:txBody>
      </p:sp>
      <p:sp>
        <p:nvSpPr>
          <p:cNvPr id="62" name="Text 60"/>
          <p:cNvSpPr txBox="1"/>
          <p:nvPr/>
        </p:nvSpPr>
        <p:spPr>
          <a:xfrm>
            <a:off x="658368" y="4067466"/>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63" name="Shape 61"/>
          <p:cNvSpPr/>
          <p:nvPr/>
        </p:nvSpPr>
        <p:spPr>
          <a:xfrm>
            <a:off x="2670048" y="4120717"/>
            <a:ext cx="333730" cy="130168"/>
          </a:xfrm>
          <a:prstGeom prst="rect">
            <a:avLst/>
          </a:prstGeom>
          <a:solidFill>
            <a:srgbClr val="C2352F"/>
          </a:solidFill>
          <a:ln/>
        </p:spPr>
      </p:sp>
      <p:sp>
        <p:nvSpPr>
          <p:cNvPr id="64" name="Text 62"/>
          <p:cNvSpPr txBox="1"/>
          <p:nvPr/>
        </p:nvSpPr>
        <p:spPr>
          <a:xfrm>
            <a:off x="3474720" y="4067466"/>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$70K</a:t>
            </a:r>
            <a:endParaRPr lang="en-US" sz="1300" dirty="0"/>
          </a:p>
        </p:txBody>
      </p:sp>
      <p:sp>
        <p:nvSpPr>
          <p:cNvPr id="65" name="Text 63"/>
          <p:cNvSpPr txBox="1"/>
          <p:nvPr/>
        </p:nvSpPr>
        <p:spPr>
          <a:xfrm>
            <a:off x="4261104" y="4067466"/>
            <a:ext cx="93268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20 of 59</a:t>
            </a:r>
            <a:endParaRPr lang="en-US" sz="1300" dirty="0"/>
          </a:p>
        </p:txBody>
      </p:sp>
      <p:sp>
        <p:nvSpPr>
          <p:cNvPr id="66" name="Text 64"/>
          <p:cNvSpPr txBox="1"/>
          <p:nvPr/>
        </p:nvSpPr>
        <p:spPr>
          <a:xfrm>
            <a:off x="5193792" y="4067466"/>
            <a:ext cx="676656"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104.3%</a:t>
            </a:r>
            <a:endParaRPr lang="en-US" sz="1300" dirty="0"/>
          </a:p>
        </p:txBody>
      </p:sp>
      <p:sp>
        <p:nvSpPr>
          <p:cNvPr id="67" name="Text 65"/>
          <p:cNvSpPr txBox="1"/>
          <p:nvPr/>
        </p:nvSpPr>
        <p:spPr>
          <a:xfrm>
            <a:off x="658368" y="4304135"/>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68" name="Shape 66"/>
          <p:cNvSpPr/>
          <p:nvPr/>
        </p:nvSpPr>
        <p:spPr>
          <a:xfrm>
            <a:off x="2670048" y="4357385"/>
            <a:ext cx="300431" cy="130168"/>
          </a:xfrm>
          <a:prstGeom prst="rect">
            <a:avLst/>
          </a:prstGeom>
          <a:solidFill>
            <a:srgbClr val="C2352F"/>
          </a:solidFill>
          <a:ln/>
        </p:spPr>
      </p:sp>
      <p:sp>
        <p:nvSpPr>
          <p:cNvPr id="69" name="Text 67"/>
          <p:cNvSpPr txBox="1"/>
          <p:nvPr/>
        </p:nvSpPr>
        <p:spPr>
          <a:xfrm>
            <a:off x="3474720" y="4304135"/>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$63K</a:t>
            </a:r>
            <a:endParaRPr lang="en-US" sz="1300" dirty="0"/>
          </a:p>
        </p:txBody>
      </p:sp>
      <p:sp>
        <p:nvSpPr>
          <p:cNvPr id="70" name="Text 68"/>
          <p:cNvSpPr txBox="1"/>
          <p:nvPr/>
        </p:nvSpPr>
        <p:spPr>
          <a:xfrm>
            <a:off x="4261104" y="4304135"/>
            <a:ext cx="93268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 of 16</a:t>
            </a:r>
            <a:endParaRPr lang="en-US" sz="1300" dirty="0"/>
          </a:p>
        </p:txBody>
      </p:sp>
      <p:sp>
        <p:nvSpPr>
          <p:cNvPr id="71" name="Text 69"/>
          <p:cNvSpPr txBox="1"/>
          <p:nvPr/>
        </p:nvSpPr>
        <p:spPr>
          <a:xfrm>
            <a:off x="5193792" y="4304135"/>
            <a:ext cx="676656"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91.2%</a:t>
            </a:r>
            <a:endParaRPr lang="en-US" sz="1300" dirty="0"/>
          </a:p>
        </p:txBody>
      </p:sp>
      <p:sp>
        <p:nvSpPr>
          <p:cNvPr id="72" name="Text 70"/>
          <p:cNvSpPr txBox="1"/>
          <p:nvPr/>
        </p:nvSpPr>
        <p:spPr>
          <a:xfrm>
            <a:off x="658368" y="4540803"/>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73" name="Shape 71"/>
          <p:cNvSpPr/>
          <p:nvPr/>
        </p:nvSpPr>
        <p:spPr>
          <a:xfrm>
            <a:off x="2670048" y="4594053"/>
            <a:ext cx="294453" cy="130168"/>
          </a:xfrm>
          <a:prstGeom prst="rect">
            <a:avLst/>
          </a:prstGeom>
          <a:solidFill>
            <a:srgbClr val="C2352F"/>
          </a:solidFill>
          <a:ln/>
        </p:spPr>
      </p:sp>
      <p:sp>
        <p:nvSpPr>
          <p:cNvPr id="74" name="Text 72"/>
          <p:cNvSpPr txBox="1"/>
          <p:nvPr/>
        </p:nvSpPr>
        <p:spPr>
          <a:xfrm>
            <a:off x="3474720" y="4540803"/>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$62K</a:t>
            </a:r>
            <a:endParaRPr lang="en-US" sz="1300" dirty="0"/>
          </a:p>
        </p:txBody>
      </p:sp>
      <p:sp>
        <p:nvSpPr>
          <p:cNvPr id="75" name="Text 73"/>
          <p:cNvSpPr txBox="1"/>
          <p:nvPr/>
        </p:nvSpPr>
        <p:spPr>
          <a:xfrm>
            <a:off x="4261104" y="4540803"/>
            <a:ext cx="93268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 of 9</a:t>
            </a:r>
            <a:endParaRPr lang="en-US" sz="1300" dirty="0"/>
          </a:p>
        </p:txBody>
      </p:sp>
      <p:sp>
        <p:nvSpPr>
          <p:cNvPr id="76" name="Text 74"/>
          <p:cNvSpPr txBox="1"/>
          <p:nvPr/>
        </p:nvSpPr>
        <p:spPr>
          <a:xfrm>
            <a:off x="5193792" y="4540803"/>
            <a:ext cx="676656"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72.3%</a:t>
            </a:r>
            <a:endParaRPr lang="en-US" sz="1300" dirty="0"/>
          </a:p>
        </p:txBody>
      </p:sp>
      <p:sp>
        <p:nvSpPr>
          <p:cNvPr id="77" name="Text 75"/>
          <p:cNvSpPr txBox="1"/>
          <p:nvPr/>
        </p:nvSpPr>
        <p:spPr>
          <a:xfrm>
            <a:off x="658368" y="4777471"/>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78" name="Shape 76"/>
          <p:cNvSpPr/>
          <p:nvPr/>
        </p:nvSpPr>
        <p:spPr>
          <a:xfrm>
            <a:off x="2670048" y="4830721"/>
            <a:ext cx="273826" cy="130168"/>
          </a:xfrm>
          <a:prstGeom prst="rect">
            <a:avLst/>
          </a:prstGeom>
          <a:solidFill>
            <a:srgbClr val="C2352F"/>
          </a:solidFill>
          <a:ln/>
        </p:spPr>
      </p:sp>
      <p:sp>
        <p:nvSpPr>
          <p:cNvPr id="79" name="Text 77"/>
          <p:cNvSpPr txBox="1"/>
          <p:nvPr/>
        </p:nvSpPr>
        <p:spPr>
          <a:xfrm>
            <a:off x="3474720" y="4777471"/>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$58K</a:t>
            </a:r>
            <a:endParaRPr lang="en-US" sz="1300" dirty="0"/>
          </a:p>
        </p:txBody>
      </p:sp>
      <p:sp>
        <p:nvSpPr>
          <p:cNvPr id="80" name="Text 78"/>
          <p:cNvSpPr txBox="1"/>
          <p:nvPr/>
        </p:nvSpPr>
        <p:spPr>
          <a:xfrm>
            <a:off x="4261104" y="4777471"/>
            <a:ext cx="93268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 of 12</a:t>
            </a:r>
            <a:endParaRPr lang="en-US" sz="1300" dirty="0"/>
          </a:p>
        </p:txBody>
      </p:sp>
      <p:sp>
        <p:nvSpPr>
          <p:cNvPr id="81" name="Text 79"/>
          <p:cNvSpPr txBox="1"/>
          <p:nvPr/>
        </p:nvSpPr>
        <p:spPr>
          <a:xfrm>
            <a:off x="5193792" y="4777471"/>
            <a:ext cx="676656"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98.4%</a:t>
            </a:r>
            <a:endParaRPr lang="en-US" sz="1300" dirty="0"/>
          </a:p>
        </p:txBody>
      </p:sp>
      <p:sp>
        <p:nvSpPr>
          <p:cNvPr id="82" name="Text 80"/>
          <p:cNvSpPr txBox="1"/>
          <p:nvPr/>
        </p:nvSpPr>
        <p:spPr>
          <a:xfrm>
            <a:off x="658368" y="5014139"/>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83" name="Shape 81"/>
          <p:cNvSpPr/>
          <p:nvPr/>
        </p:nvSpPr>
        <p:spPr>
          <a:xfrm>
            <a:off x="2670048" y="5067390"/>
            <a:ext cx="227614" cy="130168"/>
          </a:xfrm>
          <a:prstGeom prst="rect">
            <a:avLst/>
          </a:prstGeom>
          <a:solidFill>
            <a:srgbClr val="C2352F"/>
          </a:solidFill>
          <a:ln/>
        </p:spPr>
      </p:sp>
      <p:sp>
        <p:nvSpPr>
          <p:cNvPr id="84" name="Text 82"/>
          <p:cNvSpPr txBox="1"/>
          <p:nvPr/>
        </p:nvSpPr>
        <p:spPr>
          <a:xfrm>
            <a:off x="3474720" y="5014139"/>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$48K</a:t>
            </a:r>
            <a:endParaRPr lang="en-US" sz="1300" dirty="0"/>
          </a:p>
        </p:txBody>
      </p:sp>
      <p:sp>
        <p:nvSpPr>
          <p:cNvPr id="85" name="Text 83"/>
          <p:cNvSpPr txBox="1"/>
          <p:nvPr/>
        </p:nvSpPr>
        <p:spPr>
          <a:xfrm>
            <a:off x="4261104" y="5014139"/>
            <a:ext cx="93268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 of 12</a:t>
            </a:r>
            <a:endParaRPr lang="en-US" sz="1300" dirty="0"/>
          </a:p>
        </p:txBody>
      </p:sp>
      <p:sp>
        <p:nvSpPr>
          <p:cNvPr id="86" name="Text 84"/>
          <p:cNvSpPr txBox="1"/>
          <p:nvPr/>
        </p:nvSpPr>
        <p:spPr>
          <a:xfrm>
            <a:off x="5193792" y="5014139"/>
            <a:ext cx="676656"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73.6%</a:t>
            </a:r>
            <a:endParaRPr lang="en-US" sz="1300" dirty="0"/>
          </a:p>
        </p:txBody>
      </p:sp>
      <p:sp>
        <p:nvSpPr>
          <p:cNvPr id="87" name="Text 85"/>
          <p:cNvSpPr txBox="1"/>
          <p:nvPr/>
        </p:nvSpPr>
        <p:spPr>
          <a:xfrm>
            <a:off x="658368" y="5250808"/>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88" name="Shape 86"/>
          <p:cNvSpPr/>
          <p:nvPr/>
        </p:nvSpPr>
        <p:spPr>
          <a:xfrm>
            <a:off x="2670048" y="5304058"/>
            <a:ext cx="207650" cy="130168"/>
          </a:xfrm>
          <a:prstGeom prst="rect">
            <a:avLst/>
          </a:prstGeom>
          <a:solidFill>
            <a:srgbClr val="C2352F"/>
          </a:solidFill>
          <a:ln/>
        </p:spPr>
      </p:sp>
      <p:sp>
        <p:nvSpPr>
          <p:cNvPr id="89" name="Text 87"/>
          <p:cNvSpPr txBox="1"/>
          <p:nvPr/>
        </p:nvSpPr>
        <p:spPr>
          <a:xfrm>
            <a:off x="3474720" y="5250808"/>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$44K</a:t>
            </a:r>
            <a:endParaRPr lang="en-US" sz="1300" dirty="0"/>
          </a:p>
        </p:txBody>
      </p:sp>
      <p:sp>
        <p:nvSpPr>
          <p:cNvPr id="90" name="Text 88"/>
          <p:cNvSpPr txBox="1"/>
          <p:nvPr/>
        </p:nvSpPr>
        <p:spPr>
          <a:xfrm>
            <a:off x="4261104" y="5250808"/>
            <a:ext cx="93268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 of 27</a:t>
            </a:r>
            <a:endParaRPr lang="en-US" sz="1300" dirty="0"/>
          </a:p>
        </p:txBody>
      </p:sp>
      <p:sp>
        <p:nvSpPr>
          <p:cNvPr id="91" name="Text 89"/>
          <p:cNvSpPr txBox="1"/>
          <p:nvPr/>
        </p:nvSpPr>
        <p:spPr>
          <a:xfrm>
            <a:off x="5193792" y="5250808"/>
            <a:ext cx="676656"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96.9%</a:t>
            </a:r>
            <a:endParaRPr lang="en-US" sz="1300" dirty="0"/>
          </a:p>
        </p:txBody>
      </p:sp>
      <p:sp>
        <p:nvSpPr>
          <p:cNvPr id="92" name="Text 90"/>
          <p:cNvSpPr txBox="1"/>
          <p:nvPr/>
        </p:nvSpPr>
        <p:spPr>
          <a:xfrm>
            <a:off x="658368" y="5487476"/>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93" name="Shape 91"/>
          <p:cNvSpPr/>
          <p:nvPr/>
        </p:nvSpPr>
        <p:spPr>
          <a:xfrm>
            <a:off x="2670048" y="5540726"/>
            <a:ext cx="201603" cy="130168"/>
          </a:xfrm>
          <a:prstGeom prst="rect">
            <a:avLst/>
          </a:prstGeom>
          <a:solidFill>
            <a:srgbClr val="C2352F"/>
          </a:solidFill>
          <a:ln/>
        </p:spPr>
      </p:sp>
      <p:sp>
        <p:nvSpPr>
          <p:cNvPr id="94" name="Text 92"/>
          <p:cNvSpPr txBox="1"/>
          <p:nvPr/>
        </p:nvSpPr>
        <p:spPr>
          <a:xfrm>
            <a:off x="3474720" y="5487476"/>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$42K</a:t>
            </a:r>
            <a:endParaRPr lang="en-US" sz="1300" dirty="0"/>
          </a:p>
        </p:txBody>
      </p:sp>
      <p:sp>
        <p:nvSpPr>
          <p:cNvPr id="95" name="Text 93"/>
          <p:cNvSpPr txBox="1"/>
          <p:nvPr/>
        </p:nvSpPr>
        <p:spPr>
          <a:xfrm>
            <a:off x="4261104" y="5487476"/>
            <a:ext cx="93268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 of 17</a:t>
            </a:r>
            <a:endParaRPr lang="en-US" sz="1300" dirty="0"/>
          </a:p>
        </p:txBody>
      </p:sp>
      <p:sp>
        <p:nvSpPr>
          <p:cNvPr id="96" name="Text 94"/>
          <p:cNvSpPr txBox="1"/>
          <p:nvPr/>
        </p:nvSpPr>
        <p:spPr>
          <a:xfrm>
            <a:off x="5193792" y="5487476"/>
            <a:ext cx="676656"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91.1%</a:t>
            </a:r>
            <a:endParaRPr lang="en-US" sz="1300" dirty="0"/>
          </a:p>
        </p:txBody>
      </p:sp>
      <p:sp>
        <p:nvSpPr>
          <p:cNvPr id="97" name="Text 95"/>
          <p:cNvSpPr txBox="1"/>
          <p:nvPr/>
        </p:nvSpPr>
        <p:spPr>
          <a:xfrm>
            <a:off x="6208776" y="1700784"/>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98" name="Shape 96"/>
          <p:cNvSpPr/>
          <p:nvPr/>
        </p:nvSpPr>
        <p:spPr>
          <a:xfrm>
            <a:off x="8220456" y="1754034"/>
            <a:ext cx="187634" cy="130168"/>
          </a:xfrm>
          <a:prstGeom prst="rect">
            <a:avLst/>
          </a:prstGeom>
          <a:solidFill>
            <a:srgbClr val="C2352F"/>
          </a:solidFill>
          <a:ln/>
        </p:spPr>
      </p:sp>
      <p:sp>
        <p:nvSpPr>
          <p:cNvPr id="99" name="Text 97"/>
          <p:cNvSpPr txBox="1"/>
          <p:nvPr/>
        </p:nvSpPr>
        <p:spPr>
          <a:xfrm>
            <a:off x="9025128" y="1700784"/>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$39K</a:t>
            </a:r>
            <a:endParaRPr lang="en-US" sz="1300" dirty="0"/>
          </a:p>
        </p:txBody>
      </p:sp>
      <p:sp>
        <p:nvSpPr>
          <p:cNvPr id="100" name="Text 98"/>
          <p:cNvSpPr txBox="1"/>
          <p:nvPr/>
        </p:nvSpPr>
        <p:spPr>
          <a:xfrm>
            <a:off x="9811512" y="1700784"/>
            <a:ext cx="93268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 of 6</a:t>
            </a:r>
            <a:endParaRPr lang="en-US" sz="1300" dirty="0"/>
          </a:p>
        </p:txBody>
      </p:sp>
      <p:sp>
        <p:nvSpPr>
          <p:cNvPr id="101" name="Text 99"/>
          <p:cNvSpPr txBox="1"/>
          <p:nvPr/>
        </p:nvSpPr>
        <p:spPr>
          <a:xfrm>
            <a:off x="10744200" y="1700784"/>
            <a:ext cx="676656"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78.5%</a:t>
            </a:r>
            <a:endParaRPr lang="en-US" sz="1300" dirty="0"/>
          </a:p>
        </p:txBody>
      </p:sp>
      <p:sp>
        <p:nvSpPr>
          <p:cNvPr id="102" name="Text 100"/>
          <p:cNvSpPr txBox="1"/>
          <p:nvPr/>
        </p:nvSpPr>
        <p:spPr>
          <a:xfrm>
            <a:off x="6208776" y="1937452"/>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03" name="Shape 101"/>
          <p:cNvSpPr/>
          <p:nvPr/>
        </p:nvSpPr>
        <p:spPr>
          <a:xfrm>
            <a:off x="8220456" y="1990703"/>
            <a:ext cx="163154" cy="130168"/>
          </a:xfrm>
          <a:prstGeom prst="rect">
            <a:avLst/>
          </a:prstGeom>
          <a:solidFill>
            <a:srgbClr val="C2352F"/>
          </a:solidFill>
          <a:ln/>
        </p:spPr>
      </p:sp>
      <p:sp>
        <p:nvSpPr>
          <p:cNvPr id="104" name="Text 102"/>
          <p:cNvSpPr txBox="1"/>
          <p:nvPr/>
        </p:nvSpPr>
        <p:spPr>
          <a:xfrm>
            <a:off x="9025128" y="1937452"/>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$34K</a:t>
            </a:r>
            <a:endParaRPr lang="en-US" sz="1300" dirty="0"/>
          </a:p>
        </p:txBody>
      </p:sp>
      <p:sp>
        <p:nvSpPr>
          <p:cNvPr id="105" name="Text 103"/>
          <p:cNvSpPr txBox="1"/>
          <p:nvPr/>
        </p:nvSpPr>
        <p:spPr>
          <a:xfrm>
            <a:off x="9811512" y="1937452"/>
            <a:ext cx="93268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 of 9</a:t>
            </a:r>
            <a:endParaRPr lang="en-US" sz="1300" dirty="0"/>
          </a:p>
        </p:txBody>
      </p:sp>
      <p:sp>
        <p:nvSpPr>
          <p:cNvPr id="106" name="Text 104"/>
          <p:cNvSpPr txBox="1"/>
          <p:nvPr/>
        </p:nvSpPr>
        <p:spPr>
          <a:xfrm>
            <a:off x="10744200" y="1937452"/>
            <a:ext cx="676656"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78.8%</a:t>
            </a:r>
            <a:endParaRPr lang="en-US" sz="1300" dirty="0"/>
          </a:p>
        </p:txBody>
      </p:sp>
      <p:sp>
        <p:nvSpPr>
          <p:cNvPr id="107" name="Text 105"/>
          <p:cNvSpPr txBox="1"/>
          <p:nvPr/>
        </p:nvSpPr>
        <p:spPr>
          <a:xfrm>
            <a:off x="6208776" y="2174120"/>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108" name="Shape 106"/>
          <p:cNvSpPr/>
          <p:nvPr/>
        </p:nvSpPr>
        <p:spPr>
          <a:xfrm>
            <a:off x="8220456" y="2227371"/>
            <a:ext cx="150261" cy="130168"/>
          </a:xfrm>
          <a:prstGeom prst="rect">
            <a:avLst/>
          </a:prstGeom>
          <a:solidFill>
            <a:srgbClr val="C2352F"/>
          </a:solidFill>
          <a:ln/>
        </p:spPr>
      </p:sp>
      <p:sp>
        <p:nvSpPr>
          <p:cNvPr id="109" name="Text 107"/>
          <p:cNvSpPr txBox="1"/>
          <p:nvPr/>
        </p:nvSpPr>
        <p:spPr>
          <a:xfrm>
            <a:off x="9025128" y="2174120"/>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$32K</a:t>
            </a:r>
            <a:endParaRPr lang="en-US" sz="1300" dirty="0"/>
          </a:p>
        </p:txBody>
      </p:sp>
      <p:sp>
        <p:nvSpPr>
          <p:cNvPr id="110" name="Text 108"/>
          <p:cNvSpPr txBox="1"/>
          <p:nvPr/>
        </p:nvSpPr>
        <p:spPr>
          <a:xfrm>
            <a:off x="9811512" y="2174120"/>
            <a:ext cx="93268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 of 11</a:t>
            </a:r>
            <a:endParaRPr lang="en-US" sz="1300" dirty="0"/>
          </a:p>
        </p:txBody>
      </p:sp>
      <p:sp>
        <p:nvSpPr>
          <p:cNvPr id="111" name="Text 109"/>
          <p:cNvSpPr txBox="1"/>
          <p:nvPr/>
        </p:nvSpPr>
        <p:spPr>
          <a:xfrm>
            <a:off x="10744200" y="2174120"/>
            <a:ext cx="676656"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104.7%</a:t>
            </a:r>
            <a:endParaRPr lang="en-US" sz="1300" dirty="0"/>
          </a:p>
        </p:txBody>
      </p:sp>
      <p:sp>
        <p:nvSpPr>
          <p:cNvPr id="112" name="Text 110"/>
          <p:cNvSpPr txBox="1"/>
          <p:nvPr/>
        </p:nvSpPr>
        <p:spPr>
          <a:xfrm>
            <a:off x="6208776" y="2410789"/>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113" name="Shape 111"/>
          <p:cNvSpPr/>
          <p:nvPr/>
        </p:nvSpPr>
        <p:spPr>
          <a:xfrm>
            <a:off x="8220456" y="2464039"/>
            <a:ext cx="116946" cy="130168"/>
          </a:xfrm>
          <a:prstGeom prst="rect">
            <a:avLst/>
          </a:prstGeom>
          <a:solidFill>
            <a:srgbClr val="C2352F"/>
          </a:solidFill>
          <a:ln/>
        </p:spPr>
      </p:sp>
      <p:sp>
        <p:nvSpPr>
          <p:cNvPr id="114" name="Text 112"/>
          <p:cNvSpPr txBox="1"/>
          <p:nvPr/>
        </p:nvSpPr>
        <p:spPr>
          <a:xfrm>
            <a:off x="9025128" y="2410789"/>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$25K</a:t>
            </a:r>
            <a:endParaRPr lang="en-US" sz="1300" dirty="0"/>
          </a:p>
        </p:txBody>
      </p:sp>
      <p:sp>
        <p:nvSpPr>
          <p:cNvPr id="115" name="Text 113"/>
          <p:cNvSpPr txBox="1"/>
          <p:nvPr/>
        </p:nvSpPr>
        <p:spPr>
          <a:xfrm>
            <a:off x="9811512" y="2410789"/>
            <a:ext cx="93268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 of 19</a:t>
            </a:r>
            <a:endParaRPr lang="en-US" sz="1300" dirty="0"/>
          </a:p>
        </p:txBody>
      </p:sp>
      <p:sp>
        <p:nvSpPr>
          <p:cNvPr id="116" name="Text 114"/>
          <p:cNvSpPr txBox="1"/>
          <p:nvPr/>
        </p:nvSpPr>
        <p:spPr>
          <a:xfrm>
            <a:off x="10744200" y="2410789"/>
            <a:ext cx="676656"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92.2%</a:t>
            </a:r>
            <a:endParaRPr lang="en-US" sz="1300" dirty="0"/>
          </a:p>
        </p:txBody>
      </p:sp>
      <p:sp>
        <p:nvSpPr>
          <p:cNvPr id="117" name="Text 115"/>
          <p:cNvSpPr txBox="1"/>
          <p:nvPr/>
        </p:nvSpPr>
        <p:spPr>
          <a:xfrm>
            <a:off x="6208776" y="2647457"/>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118" name="Shape 116"/>
          <p:cNvSpPr/>
          <p:nvPr/>
        </p:nvSpPr>
        <p:spPr>
          <a:xfrm>
            <a:off x="8220456" y="2700707"/>
            <a:ext cx="112759" cy="130168"/>
          </a:xfrm>
          <a:prstGeom prst="rect">
            <a:avLst/>
          </a:prstGeom>
          <a:solidFill>
            <a:srgbClr val="C2352F"/>
          </a:solidFill>
          <a:ln/>
        </p:spPr>
      </p:sp>
      <p:sp>
        <p:nvSpPr>
          <p:cNvPr id="119" name="Text 117"/>
          <p:cNvSpPr txBox="1"/>
          <p:nvPr/>
        </p:nvSpPr>
        <p:spPr>
          <a:xfrm>
            <a:off x="9025128" y="2647457"/>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$24K</a:t>
            </a:r>
            <a:endParaRPr lang="en-US" sz="1300" dirty="0"/>
          </a:p>
        </p:txBody>
      </p:sp>
      <p:sp>
        <p:nvSpPr>
          <p:cNvPr id="120" name="Text 118"/>
          <p:cNvSpPr txBox="1"/>
          <p:nvPr/>
        </p:nvSpPr>
        <p:spPr>
          <a:xfrm>
            <a:off x="9811512" y="2647457"/>
            <a:ext cx="93268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 of 11</a:t>
            </a:r>
            <a:endParaRPr lang="en-US" sz="1300" dirty="0"/>
          </a:p>
        </p:txBody>
      </p:sp>
      <p:sp>
        <p:nvSpPr>
          <p:cNvPr id="121" name="Text 119"/>
          <p:cNvSpPr txBox="1"/>
          <p:nvPr/>
        </p:nvSpPr>
        <p:spPr>
          <a:xfrm>
            <a:off x="10744200" y="2647457"/>
            <a:ext cx="676656"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94.9%</a:t>
            </a:r>
            <a:endParaRPr lang="en-US" sz="1300" dirty="0"/>
          </a:p>
        </p:txBody>
      </p:sp>
      <p:sp>
        <p:nvSpPr>
          <p:cNvPr id="122" name="Text 120"/>
          <p:cNvSpPr txBox="1"/>
          <p:nvPr/>
        </p:nvSpPr>
        <p:spPr>
          <a:xfrm>
            <a:off x="6208776" y="2884125"/>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123" name="Shape 121"/>
          <p:cNvSpPr/>
          <p:nvPr/>
        </p:nvSpPr>
        <p:spPr>
          <a:xfrm>
            <a:off x="8220456" y="2937376"/>
            <a:ext cx="105168" cy="130168"/>
          </a:xfrm>
          <a:prstGeom prst="rect">
            <a:avLst/>
          </a:prstGeom>
          <a:solidFill>
            <a:srgbClr val="C2352F"/>
          </a:solidFill>
          <a:ln/>
        </p:spPr>
      </p:sp>
      <p:sp>
        <p:nvSpPr>
          <p:cNvPr id="124" name="Text 122"/>
          <p:cNvSpPr txBox="1"/>
          <p:nvPr/>
        </p:nvSpPr>
        <p:spPr>
          <a:xfrm>
            <a:off x="9025128" y="2884125"/>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$22K</a:t>
            </a:r>
            <a:endParaRPr lang="en-US" sz="1300" dirty="0"/>
          </a:p>
        </p:txBody>
      </p:sp>
      <p:sp>
        <p:nvSpPr>
          <p:cNvPr id="125" name="Text 123"/>
          <p:cNvSpPr txBox="1"/>
          <p:nvPr/>
        </p:nvSpPr>
        <p:spPr>
          <a:xfrm>
            <a:off x="9811512" y="2884125"/>
            <a:ext cx="93268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 of 12</a:t>
            </a:r>
            <a:endParaRPr lang="en-US" sz="1300" dirty="0"/>
          </a:p>
        </p:txBody>
      </p:sp>
      <p:sp>
        <p:nvSpPr>
          <p:cNvPr id="126" name="Text 124"/>
          <p:cNvSpPr txBox="1"/>
          <p:nvPr/>
        </p:nvSpPr>
        <p:spPr>
          <a:xfrm>
            <a:off x="10744200" y="2884125"/>
            <a:ext cx="676656"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109.7%</a:t>
            </a:r>
            <a:endParaRPr lang="en-US" sz="1300" dirty="0"/>
          </a:p>
        </p:txBody>
      </p:sp>
      <p:sp>
        <p:nvSpPr>
          <p:cNvPr id="127" name="Text 125"/>
          <p:cNvSpPr txBox="1"/>
          <p:nvPr/>
        </p:nvSpPr>
        <p:spPr>
          <a:xfrm>
            <a:off x="6208776" y="3120793"/>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128" name="Shape 126"/>
          <p:cNvSpPr/>
          <p:nvPr/>
        </p:nvSpPr>
        <p:spPr>
          <a:xfrm>
            <a:off x="8220456" y="3174044"/>
            <a:ext cx="98507" cy="130168"/>
          </a:xfrm>
          <a:prstGeom prst="rect">
            <a:avLst/>
          </a:prstGeom>
          <a:solidFill>
            <a:srgbClr val="C2352F"/>
          </a:solidFill>
          <a:ln/>
        </p:spPr>
      </p:sp>
      <p:sp>
        <p:nvSpPr>
          <p:cNvPr id="129" name="Text 127"/>
          <p:cNvSpPr txBox="1"/>
          <p:nvPr/>
        </p:nvSpPr>
        <p:spPr>
          <a:xfrm>
            <a:off x="9025128" y="3120793"/>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$21K</a:t>
            </a:r>
            <a:endParaRPr lang="en-US" sz="1300" dirty="0"/>
          </a:p>
        </p:txBody>
      </p:sp>
      <p:sp>
        <p:nvSpPr>
          <p:cNvPr id="130" name="Text 128"/>
          <p:cNvSpPr txBox="1"/>
          <p:nvPr/>
        </p:nvSpPr>
        <p:spPr>
          <a:xfrm>
            <a:off x="9811512" y="3120793"/>
            <a:ext cx="93268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 of 5</a:t>
            </a:r>
            <a:endParaRPr lang="en-US" sz="1300" dirty="0"/>
          </a:p>
        </p:txBody>
      </p:sp>
      <p:sp>
        <p:nvSpPr>
          <p:cNvPr id="131" name="Text 129"/>
          <p:cNvSpPr txBox="1"/>
          <p:nvPr/>
        </p:nvSpPr>
        <p:spPr>
          <a:xfrm>
            <a:off x="10744200" y="3120793"/>
            <a:ext cx="676656"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70.0%</a:t>
            </a:r>
            <a:endParaRPr lang="en-US" sz="1300" dirty="0"/>
          </a:p>
        </p:txBody>
      </p:sp>
      <p:sp>
        <p:nvSpPr>
          <p:cNvPr id="132" name="Text 130"/>
          <p:cNvSpPr txBox="1"/>
          <p:nvPr/>
        </p:nvSpPr>
        <p:spPr>
          <a:xfrm>
            <a:off x="6208776" y="3357462"/>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133" name="Shape 131"/>
          <p:cNvSpPr/>
          <p:nvPr/>
        </p:nvSpPr>
        <p:spPr>
          <a:xfrm>
            <a:off x="8220456" y="3410712"/>
            <a:ext cx="97766" cy="130168"/>
          </a:xfrm>
          <a:prstGeom prst="rect">
            <a:avLst/>
          </a:prstGeom>
          <a:solidFill>
            <a:srgbClr val="C2352F"/>
          </a:solidFill>
          <a:ln/>
        </p:spPr>
      </p:sp>
      <p:sp>
        <p:nvSpPr>
          <p:cNvPr id="134" name="Text 132"/>
          <p:cNvSpPr txBox="1"/>
          <p:nvPr/>
        </p:nvSpPr>
        <p:spPr>
          <a:xfrm>
            <a:off x="9025128" y="3357462"/>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$21K</a:t>
            </a:r>
            <a:endParaRPr lang="en-US" sz="1300" dirty="0"/>
          </a:p>
        </p:txBody>
      </p:sp>
      <p:sp>
        <p:nvSpPr>
          <p:cNvPr id="135" name="Text 133"/>
          <p:cNvSpPr txBox="1"/>
          <p:nvPr/>
        </p:nvSpPr>
        <p:spPr>
          <a:xfrm>
            <a:off x="9811512" y="3357462"/>
            <a:ext cx="93268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 of 6</a:t>
            </a:r>
            <a:endParaRPr lang="en-US" sz="1300" dirty="0"/>
          </a:p>
        </p:txBody>
      </p:sp>
      <p:sp>
        <p:nvSpPr>
          <p:cNvPr id="136" name="Text 134"/>
          <p:cNvSpPr txBox="1"/>
          <p:nvPr/>
        </p:nvSpPr>
        <p:spPr>
          <a:xfrm>
            <a:off x="10744200" y="3357462"/>
            <a:ext cx="676656"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81.4%</a:t>
            </a:r>
            <a:endParaRPr lang="en-US" sz="1300" dirty="0"/>
          </a:p>
        </p:txBody>
      </p:sp>
      <p:sp>
        <p:nvSpPr>
          <p:cNvPr id="137" name="Text 135"/>
          <p:cNvSpPr txBox="1"/>
          <p:nvPr/>
        </p:nvSpPr>
        <p:spPr>
          <a:xfrm>
            <a:off x="6208776" y="3594130"/>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138" name="Shape 136"/>
          <p:cNvSpPr/>
          <p:nvPr/>
        </p:nvSpPr>
        <p:spPr>
          <a:xfrm>
            <a:off x="8220456" y="3647380"/>
            <a:ext cx="95452" cy="130168"/>
          </a:xfrm>
          <a:prstGeom prst="rect">
            <a:avLst/>
          </a:prstGeom>
          <a:solidFill>
            <a:srgbClr val="C2352F"/>
          </a:solidFill>
          <a:ln/>
        </p:spPr>
      </p:sp>
      <p:sp>
        <p:nvSpPr>
          <p:cNvPr id="139" name="Text 137"/>
          <p:cNvSpPr txBox="1"/>
          <p:nvPr/>
        </p:nvSpPr>
        <p:spPr>
          <a:xfrm>
            <a:off x="9025128" y="3594130"/>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$20K</a:t>
            </a:r>
            <a:endParaRPr lang="en-US" sz="1300" dirty="0"/>
          </a:p>
        </p:txBody>
      </p:sp>
      <p:sp>
        <p:nvSpPr>
          <p:cNvPr id="140" name="Text 138"/>
          <p:cNvSpPr txBox="1"/>
          <p:nvPr/>
        </p:nvSpPr>
        <p:spPr>
          <a:xfrm>
            <a:off x="9811512" y="3594130"/>
            <a:ext cx="93268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 of 10</a:t>
            </a:r>
            <a:endParaRPr lang="en-US" sz="1300" dirty="0"/>
          </a:p>
        </p:txBody>
      </p:sp>
      <p:sp>
        <p:nvSpPr>
          <p:cNvPr id="141" name="Text 139"/>
          <p:cNvSpPr txBox="1"/>
          <p:nvPr/>
        </p:nvSpPr>
        <p:spPr>
          <a:xfrm>
            <a:off x="10744200" y="3594130"/>
            <a:ext cx="676656"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117.1%</a:t>
            </a:r>
            <a:endParaRPr lang="en-US" sz="1300" dirty="0"/>
          </a:p>
        </p:txBody>
      </p:sp>
      <p:sp>
        <p:nvSpPr>
          <p:cNvPr id="142" name="Text 140"/>
          <p:cNvSpPr txBox="1"/>
          <p:nvPr/>
        </p:nvSpPr>
        <p:spPr>
          <a:xfrm>
            <a:off x="6208776" y="3830798"/>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143" name="Shape 141"/>
          <p:cNvSpPr/>
          <p:nvPr/>
        </p:nvSpPr>
        <p:spPr>
          <a:xfrm>
            <a:off x="8220456" y="3884048"/>
            <a:ext cx="71097" cy="130168"/>
          </a:xfrm>
          <a:prstGeom prst="rect">
            <a:avLst/>
          </a:prstGeom>
          <a:solidFill>
            <a:srgbClr val="C2352F"/>
          </a:solidFill>
          <a:ln/>
        </p:spPr>
      </p:sp>
      <p:sp>
        <p:nvSpPr>
          <p:cNvPr id="144" name="Text 142"/>
          <p:cNvSpPr txBox="1"/>
          <p:nvPr/>
        </p:nvSpPr>
        <p:spPr>
          <a:xfrm>
            <a:off x="9025128" y="3830798"/>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$15K</a:t>
            </a:r>
            <a:endParaRPr lang="en-US" sz="1300" dirty="0"/>
          </a:p>
        </p:txBody>
      </p:sp>
      <p:sp>
        <p:nvSpPr>
          <p:cNvPr id="145" name="Text 143"/>
          <p:cNvSpPr txBox="1"/>
          <p:nvPr/>
        </p:nvSpPr>
        <p:spPr>
          <a:xfrm>
            <a:off x="9811512" y="3830798"/>
            <a:ext cx="93268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 of 7</a:t>
            </a:r>
            <a:endParaRPr lang="en-US" sz="1300" dirty="0"/>
          </a:p>
        </p:txBody>
      </p:sp>
      <p:sp>
        <p:nvSpPr>
          <p:cNvPr id="146" name="Text 144"/>
          <p:cNvSpPr txBox="1"/>
          <p:nvPr/>
        </p:nvSpPr>
        <p:spPr>
          <a:xfrm>
            <a:off x="10744200" y="3830798"/>
            <a:ext cx="676656"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106.0%</a:t>
            </a:r>
            <a:endParaRPr lang="en-US" sz="1300" dirty="0"/>
          </a:p>
        </p:txBody>
      </p:sp>
      <p:sp>
        <p:nvSpPr>
          <p:cNvPr id="147" name="Text 145"/>
          <p:cNvSpPr txBox="1"/>
          <p:nvPr/>
        </p:nvSpPr>
        <p:spPr>
          <a:xfrm>
            <a:off x="6208776" y="4067466"/>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148" name="Shape 146"/>
          <p:cNvSpPr/>
          <p:nvPr/>
        </p:nvSpPr>
        <p:spPr>
          <a:xfrm>
            <a:off x="8220456" y="4120717"/>
            <a:ext cx="61565" cy="130168"/>
          </a:xfrm>
          <a:prstGeom prst="rect">
            <a:avLst/>
          </a:prstGeom>
          <a:solidFill>
            <a:srgbClr val="C2352F"/>
          </a:solidFill>
          <a:ln/>
        </p:spPr>
      </p:sp>
      <p:sp>
        <p:nvSpPr>
          <p:cNvPr id="149" name="Text 147"/>
          <p:cNvSpPr txBox="1"/>
          <p:nvPr/>
        </p:nvSpPr>
        <p:spPr>
          <a:xfrm>
            <a:off x="9025128" y="4067466"/>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$13K</a:t>
            </a:r>
            <a:endParaRPr lang="en-US" sz="1300" dirty="0"/>
          </a:p>
        </p:txBody>
      </p:sp>
      <p:sp>
        <p:nvSpPr>
          <p:cNvPr id="150" name="Text 148"/>
          <p:cNvSpPr txBox="1"/>
          <p:nvPr/>
        </p:nvSpPr>
        <p:spPr>
          <a:xfrm>
            <a:off x="9811512" y="4067466"/>
            <a:ext cx="93268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 of 28</a:t>
            </a:r>
            <a:endParaRPr lang="en-US" sz="1300" dirty="0"/>
          </a:p>
        </p:txBody>
      </p:sp>
      <p:sp>
        <p:nvSpPr>
          <p:cNvPr id="151" name="Text 149"/>
          <p:cNvSpPr txBox="1"/>
          <p:nvPr/>
        </p:nvSpPr>
        <p:spPr>
          <a:xfrm>
            <a:off x="10744200" y="4067466"/>
            <a:ext cx="676656"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118.5%</a:t>
            </a:r>
            <a:endParaRPr lang="en-US" sz="1300" dirty="0"/>
          </a:p>
        </p:txBody>
      </p:sp>
      <p:sp>
        <p:nvSpPr>
          <p:cNvPr id="152" name="Text 150"/>
          <p:cNvSpPr txBox="1"/>
          <p:nvPr/>
        </p:nvSpPr>
        <p:spPr>
          <a:xfrm>
            <a:off x="6208776" y="4304135"/>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153" name="Shape 151"/>
          <p:cNvSpPr/>
          <p:nvPr/>
        </p:nvSpPr>
        <p:spPr>
          <a:xfrm>
            <a:off x="8220456" y="4357385"/>
            <a:ext cx="61457" cy="130168"/>
          </a:xfrm>
          <a:prstGeom prst="rect">
            <a:avLst/>
          </a:prstGeom>
          <a:solidFill>
            <a:srgbClr val="C2352F"/>
          </a:solidFill>
          <a:ln/>
        </p:spPr>
      </p:sp>
      <p:sp>
        <p:nvSpPr>
          <p:cNvPr id="154" name="Text 152"/>
          <p:cNvSpPr txBox="1"/>
          <p:nvPr/>
        </p:nvSpPr>
        <p:spPr>
          <a:xfrm>
            <a:off x="9025128" y="4304135"/>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$13K</a:t>
            </a:r>
            <a:endParaRPr lang="en-US" sz="1300" dirty="0"/>
          </a:p>
        </p:txBody>
      </p:sp>
      <p:sp>
        <p:nvSpPr>
          <p:cNvPr id="155" name="Text 153"/>
          <p:cNvSpPr txBox="1"/>
          <p:nvPr/>
        </p:nvSpPr>
        <p:spPr>
          <a:xfrm>
            <a:off x="9811512" y="4304135"/>
            <a:ext cx="93268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 of 22</a:t>
            </a:r>
            <a:endParaRPr lang="en-US" sz="1300" dirty="0"/>
          </a:p>
        </p:txBody>
      </p:sp>
      <p:sp>
        <p:nvSpPr>
          <p:cNvPr id="156" name="Text 154"/>
          <p:cNvSpPr txBox="1"/>
          <p:nvPr/>
        </p:nvSpPr>
        <p:spPr>
          <a:xfrm>
            <a:off x="10744200" y="4304135"/>
            <a:ext cx="676656"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109.3%</a:t>
            </a:r>
            <a:endParaRPr lang="en-US" sz="1300" dirty="0"/>
          </a:p>
        </p:txBody>
      </p:sp>
      <p:sp>
        <p:nvSpPr>
          <p:cNvPr id="157" name="Text 155"/>
          <p:cNvSpPr txBox="1"/>
          <p:nvPr/>
        </p:nvSpPr>
        <p:spPr>
          <a:xfrm>
            <a:off x="6208776" y="4540803"/>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158" name="Shape 156"/>
          <p:cNvSpPr/>
          <p:nvPr/>
        </p:nvSpPr>
        <p:spPr>
          <a:xfrm>
            <a:off x="8220456" y="4594053"/>
            <a:ext cx="54038" cy="130168"/>
          </a:xfrm>
          <a:prstGeom prst="rect">
            <a:avLst/>
          </a:prstGeom>
          <a:solidFill>
            <a:srgbClr val="C2352F"/>
          </a:solidFill>
          <a:ln/>
        </p:spPr>
      </p:sp>
      <p:sp>
        <p:nvSpPr>
          <p:cNvPr id="159" name="Text 157"/>
          <p:cNvSpPr txBox="1"/>
          <p:nvPr/>
        </p:nvSpPr>
        <p:spPr>
          <a:xfrm>
            <a:off x="9025128" y="4540803"/>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$11K</a:t>
            </a:r>
            <a:endParaRPr lang="en-US" sz="1300" dirty="0"/>
          </a:p>
        </p:txBody>
      </p:sp>
      <p:sp>
        <p:nvSpPr>
          <p:cNvPr id="160" name="Text 158"/>
          <p:cNvSpPr txBox="1"/>
          <p:nvPr/>
        </p:nvSpPr>
        <p:spPr>
          <a:xfrm>
            <a:off x="9811512" y="4540803"/>
            <a:ext cx="93268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 of 28</a:t>
            </a:r>
            <a:endParaRPr lang="en-US" sz="1300" dirty="0"/>
          </a:p>
        </p:txBody>
      </p:sp>
      <p:sp>
        <p:nvSpPr>
          <p:cNvPr id="161" name="Text 159"/>
          <p:cNvSpPr txBox="1"/>
          <p:nvPr/>
        </p:nvSpPr>
        <p:spPr>
          <a:xfrm>
            <a:off x="10744200" y="4540803"/>
            <a:ext cx="676656"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108.0%</a:t>
            </a:r>
            <a:endParaRPr lang="en-US" sz="1300" dirty="0"/>
          </a:p>
        </p:txBody>
      </p:sp>
      <p:sp>
        <p:nvSpPr>
          <p:cNvPr id="162" name="Text 160"/>
          <p:cNvSpPr txBox="1"/>
          <p:nvPr/>
        </p:nvSpPr>
        <p:spPr>
          <a:xfrm>
            <a:off x="6208776" y="4777471"/>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163" name="Shape 161"/>
          <p:cNvSpPr/>
          <p:nvPr/>
        </p:nvSpPr>
        <p:spPr>
          <a:xfrm>
            <a:off x="8220456" y="4830721"/>
            <a:ext cx="49766" cy="130168"/>
          </a:xfrm>
          <a:prstGeom prst="rect">
            <a:avLst/>
          </a:prstGeom>
          <a:solidFill>
            <a:srgbClr val="C2352F"/>
          </a:solidFill>
          <a:ln/>
        </p:spPr>
      </p:sp>
      <p:sp>
        <p:nvSpPr>
          <p:cNvPr id="164" name="Text 162"/>
          <p:cNvSpPr txBox="1"/>
          <p:nvPr/>
        </p:nvSpPr>
        <p:spPr>
          <a:xfrm>
            <a:off x="9025128" y="4777471"/>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$10K</a:t>
            </a:r>
            <a:endParaRPr lang="en-US" sz="1300" dirty="0"/>
          </a:p>
        </p:txBody>
      </p:sp>
      <p:sp>
        <p:nvSpPr>
          <p:cNvPr id="165" name="Text 163"/>
          <p:cNvSpPr txBox="1"/>
          <p:nvPr/>
        </p:nvSpPr>
        <p:spPr>
          <a:xfrm>
            <a:off x="9811512" y="4777471"/>
            <a:ext cx="93268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 of 18</a:t>
            </a:r>
            <a:endParaRPr lang="en-US" sz="1300" dirty="0"/>
          </a:p>
        </p:txBody>
      </p:sp>
      <p:sp>
        <p:nvSpPr>
          <p:cNvPr id="166" name="Text 164"/>
          <p:cNvSpPr txBox="1"/>
          <p:nvPr/>
        </p:nvSpPr>
        <p:spPr>
          <a:xfrm>
            <a:off x="10744200" y="4777471"/>
            <a:ext cx="676656"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102.4%</a:t>
            </a:r>
            <a:endParaRPr lang="en-US" sz="1300" dirty="0"/>
          </a:p>
        </p:txBody>
      </p:sp>
      <p:sp>
        <p:nvSpPr>
          <p:cNvPr id="167" name="Text 165"/>
          <p:cNvSpPr txBox="1"/>
          <p:nvPr/>
        </p:nvSpPr>
        <p:spPr>
          <a:xfrm>
            <a:off x="6208776" y="5014139"/>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168" name="Shape 166"/>
          <p:cNvSpPr/>
          <p:nvPr/>
        </p:nvSpPr>
        <p:spPr>
          <a:xfrm>
            <a:off x="8220456" y="5067390"/>
            <a:ext cx="40736" cy="130168"/>
          </a:xfrm>
          <a:prstGeom prst="rect">
            <a:avLst/>
          </a:prstGeom>
          <a:solidFill>
            <a:srgbClr val="C2352F"/>
          </a:solidFill>
          <a:ln/>
        </p:spPr>
      </p:sp>
      <p:sp>
        <p:nvSpPr>
          <p:cNvPr id="169" name="Text 167"/>
          <p:cNvSpPr txBox="1"/>
          <p:nvPr/>
        </p:nvSpPr>
        <p:spPr>
          <a:xfrm>
            <a:off x="9025128" y="5014139"/>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$9K</a:t>
            </a:r>
            <a:endParaRPr lang="en-US" sz="1300" dirty="0"/>
          </a:p>
        </p:txBody>
      </p:sp>
      <p:sp>
        <p:nvSpPr>
          <p:cNvPr id="170" name="Text 168"/>
          <p:cNvSpPr txBox="1"/>
          <p:nvPr/>
        </p:nvSpPr>
        <p:spPr>
          <a:xfrm>
            <a:off x="9811512" y="5014139"/>
            <a:ext cx="93268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 of 11</a:t>
            </a:r>
            <a:endParaRPr lang="en-US" sz="1300" dirty="0"/>
          </a:p>
        </p:txBody>
      </p:sp>
      <p:sp>
        <p:nvSpPr>
          <p:cNvPr id="171" name="Text 169"/>
          <p:cNvSpPr txBox="1"/>
          <p:nvPr/>
        </p:nvSpPr>
        <p:spPr>
          <a:xfrm>
            <a:off x="10744200" y="5014139"/>
            <a:ext cx="676656"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101.6%</a:t>
            </a:r>
            <a:endParaRPr lang="en-US" sz="1300" dirty="0"/>
          </a:p>
        </p:txBody>
      </p:sp>
      <p:sp>
        <p:nvSpPr>
          <p:cNvPr id="172" name="Text 170"/>
          <p:cNvSpPr txBox="1"/>
          <p:nvPr/>
        </p:nvSpPr>
        <p:spPr>
          <a:xfrm>
            <a:off x="6208776" y="5250808"/>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173" name="Shape 171"/>
          <p:cNvSpPr/>
          <p:nvPr/>
        </p:nvSpPr>
        <p:spPr>
          <a:xfrm>
            <a:off x="8220456" y="5304058"/>
            <a:ext cx="18288" cy="130168"/>
          </a:xfrm>
          <a:prstGeom prst="rect">
            <a:avLst/>
          </a:prstGeom>
          <a:solidFill>
            <a:srgbClr val="C2352F"/>
          </a:solidFill>
          <a:ln/>
        </p:spPr>
      </p:sp>
      <p:sp>
        <p:nvSpPr>
          <p:cNvPr id="174" name="Text 172"/>
          <p:cNvSpPr txBox="1"/>
          <p:nvPr/>
        </p:nvSpPr>
        <p:spPr>
          <a:xfrm>
            <a:off x="9025128" y="5250808"/>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$1K</a:t>
            </a:r>
            <a:endParaRPr lang="en-US" sz="1300" dirty="0"/>
          </a:p>
        </p:txBody>
      </p:sp>
      <p:sp>
        <p:nvSpPr>
          <p:cNvPr id="175" name="Text 173"/>
          <p:cNvSpPr txBox="1"/>
          <p:nvPr/>
        </p:nvSpPr>
        <p:spPr>
          <a:xfrm>
            <a:off x="9811512" y="5250808"/>
            <a:ext cx="93268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 of 15</a:t>
            </a:r>
            <a:endParaRPr lang="en-US" sz="1300" dirty="0"/>
          </a:p>
        </p:txBody>
      </p:sp>
      <p:sp>
        <p:nvSpPr>
          <p:cNvPr id="176" name="Text 174"/>
          <p:cNvSpPr txBox="1"/>
          <p:nvPr/>
        </p:nvSpPr>
        <p:spPr>
          <a:xfrm>
            <a:off x="10744200" y="5250808"/>
            <a:ext cx="676656"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109.0%</a:t>
            </a:r>
            <a:endParaRPr lang="en-US" sz="1300" dirty="0"/>
          </a:p>
        </p:txBody>
      </p:sp>
      <p:sp>
        <p:nvSpPr>
          <p:cNvPr id="177" name="Shape 175"/>
          <p:cNvSpPr/>
          <p:nvPr/>
        </p:nvSpPr>
        <p:spPr>
          <a:xfrm>
            <a:off x="457200" y="5961888"/>
            <a:ext cx="11274552" cy="548640"/>
          </a:xfrm>
          <a:prstGeom prst="rect">
            <a:avLst/>
          </a:prstGeom>
          <a:solidFill>
            <a:srgbClr val="FBEBEA"/>
          </a:solidFill>
          <a:ln/>
        </p:spPr>
      </p:sp>
      <p:sp>
        <p:nvSpPr>
          <p:cNvPr id="178" name="Text 176"/>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Six stores hold $647K a month, led by CADILLAC at $158K. 6 stores at or above 85% still leave $537K a month.</a:t>
            </a:r>
            <a:endParaRPr lang="en-US" sz="1600" dirty="0"/>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Opportunity as a Share of Gross</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3346704" y="1316736"/>
            <a:ext cx="786384"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Share</a:t>
            </a:r>
            <a:endParaRPr lang="en-US" sz="1400" dirty="0"/>
          </a:p>
        </p:txBody>
      </p:sp>
      <p:sp>
        <p:nvSpPr>
          <p:cNvPr id="7" name="Text 5"/>
          <p:cNvSpPr txBox="1"/>
          <p:nvPr/>
        </p:nvSpPr>
        <p:spPr>
          <a:xfrm>
            <a:off x="4133088" y="1316736"/>
            <a:ext cx="8686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Missed</a:t>
            </a:r>
            <a:endParaRPr lang="en-US" sz="1400" dirty="0"/>
          </a:p>
        </p:txBody>
      </p:sp>
      <p:sp>
        <p:nvSpPr>
          <p:cNvPr id="8" name="Text 6"/>
          <p:cNvSpPr txBox="1"/>
          <p:nvPr/>
        </p:nvSpPr>
        <p:spPr>
          <a:xfrm>
            <a:off x="5001768" y="1316736"/>
            <a:ext cx="8686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Gross</a:t>
            </a:r>
            <a:endParaRPr lang="en-US" sz="1400" dirty="0"/>
          </a:p>
        </p:txBody>
      </p:sp>
      <p:sp>
        <p:nvSpPr>
          <p:cNvPr id="9" name="Text 7"/>
          <p:cNvSpPr txBox="1"/>
          <p:nvPr/>
        </p:nvSpPr>
        <p:spPr>
          <a:xfrm>
            <a:off x="8897112" y="1316736"/>
            <a:ext cx="786384"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Share</a:t>
            </a:r>
            <a:endParaRPr lang="en-US" sz="1400" dirty="0"/>
          </a:p>
        </p:txBody>
      </p:sp>
      <p:sp>
        <p:nvSpPr>
          <p:cNvPr id="10" name="Text 8"/>
          <p:cNvSpPr txBox="1"/>
          <p:nvPr/>
        </p:nvSpPr>
        <p:spPr>
          <a:xfrm>
            <a:off x="9683496" y="1316736"/>
            <a:ext cx="8686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Missed</a:t>
            </a:r>
            <a:endParaRPr lang="en-US" sz="1400" dirty="0"/>
          </a:p>
        </p:txBody>
      </p:sp>
      <p:sp>
        <p:nvSpPr>
          <p:cNvPr id="11" name="Text 9"/>
          <p:cNvSpPr txBox="1"/>
          <p:nvPr/>
        </p:nvSpPr>
        <p:spPr>
          <a:xfrm>
            <a:off x="10552176" y="1316736"/>
            <a:ext cx="8686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Gross</a:t>
            </a:r>
            <a:endParaRPr lang="en-US" sz="1400" dirty="0"/>
          </a:p>
        </p:txBody>
      </p:sp>
      <p:sp>
        <p:nvSpPr>
          <p:cNvPr id="12" name="Text 10"/>
          <p:cNvSpPr txBox="1"/>
          <p:nvPr/>
        </p:nvSpPr>
        <p:spPr>
          <a:xfrm>
            <a:off x="658368" y="1700784"/>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13" name="Shape 11"/>
          <p:cNvSpPr/>
          <p:nvPr/>
        </p:nvSpPr>
        <p:spPr>
          <a:xfrm>
            <a:off x="2670048" y="1754034"/>
            <a:ext cx="621792" cy="130168"/>
          </a:xfrm>
          <a:prstGeom prst="rect">
            <a:avLst/>
          </a:prstGeom>
          <a:solidFill>
            <a:srgbClr val="C2352F"/>
          </a:solidFill>
          <a:ln/>
        </p:spPr>
      </p:sp>
      <p:sp>
        <p:nvSpPr>
          <p:cNvPr id="14" name="Text 12"/>
          <p:cNvSpPr txBox="1"/>
          <p:nvPr/>
        </p:nvSpPr>
        <p:spPr>
          <a:xfrm>
            <a:off x="3346704" y="1700784"/>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31.9%</a:t>
            </a:r>
            <a:endParaRPr lang="en-US" sz="1300" dirty="0"/>
          </a:p>
        </p:txBody>
      </p:sp>
      <p:sp>
        <p:nvSpPr>
          <p:cNvPr id="15" name="Text 13"/>
          <p:cNvSpPr txBox="1"/>
          <p:nvPr/>
        </p:nvSpPr>
        <p:spPr>
          <a:xfrm>
            <a:off x="4133088" y="1700784"/>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$88K</a:t>
            </a:r>
            <a:endParaRPr lang="en-US" sz="1300" dirty="0"/>
          </a:p>
        </p:txBody>
      </p:sp>
      <p:sp>
        <p:nvSpPr>
          <p:cNvPr id="16" name="Text 14"/>
          <p:cNvSpPr txBox="1"/>
          <p:nvPr/>
        </p:nvSpPr>
        <p:spPr>
          <a:xfrm>
            <a:off x="5001768" y="1700784"/>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$277K</a:t>
            </a:r>
            <a:endParaRPr lang="en-US" sz="1300" dirty="0"/>
          </a:p>
        </p:txBody>
      </p:sp>
      <p:sp>
        <p:nvSpPr>
          <p:cNvPr id="17" name="Text 15"/>
          <p:cNvSpPr txBox="1"/>
          <p:nvPr/>
        </p:nvSpPr>
        <p:spPr>
          <a:xfrm>
            <a:off x="658368" y="1937452"/>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18" name="Shape 16"/>
          <p:cNvSpPr/>
          <p:nvPr/>
        </p:nvSpPr>
        <p:spPr>
          <a:xfrm>
            <a:off x="2670048" y="1990703"/>
            <a:ext cx="580151" cy="130168"/>
          </a:xfrm>
          <a:prstGeom prst="rect">
            <a:avLst/>
          </a:prstGeom>
          <a:solidFill>
            <a:srgbClr val="C2352F"/>
          </a:solidFill>
          <a:ln/>
        </p:spPr>
      </p:sp>
      <p:sp>
        <p:nvSpPr>
          <p:cNvPr id="19" name="Text 17"/>
          <p:cNvSpPr txBox="1"/>
          <p:nvPr/>
        </p:nvSpPr>
        <p:spPr>
          <a:xfrm>
            <a:off x="3346704" y="1937452"/>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29.7%</a:t>
            </a:r>
            <a:endParaRPr lang="en-US" sz="1300" dirty="0"/>
          </a:p>
        </p:txBody>
      </p:sp>
      <p:sp>
        <p:nvSpPr>
          <p:cNvPr id="20" name="Text 18"/>
          <p:cNvSpPr txBox="1"/>
          <p:nvPr/>
        </p:nvSpPr>
        <p:spPr>
          <a:xfrm>
            <a:off x="4133088" y="1937452"/>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$77K</a:t>
            </a:r>
            <a:endParaRPr lang="en-US" sz="1300" dirty="0"/>
          </a:p>
        </p:txBody>
      </p:sp>
      <p:sp>
        <p:nvSpPr>
          <p:cNvPr id="21" name="Text 19"/>
          <p:cNvSpPr txBox="1"/>
          <p:nvPr/>
        </p:nvSpPr>
        <p:spPr>
          <a:xfrm>
            <a:off x="5001768" y="1937452"/>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$258K</a:t>
            </a:r>
            <a:endParaRPr lang="en-US" sz="1300" dirty="0"/>
          </a:p>
        </p:txBody>
      </p:sp>
      <p:sp>
        <p:nvSpPr>
          <p:cNvPr id="22" name="Text 20"/>
          <p:cNvSpPr txBox="1"/>
          <p:nvPr/>
        </p:nvSpPr>
        <p:spPr>
          <a:xfrm>
            <a:off x="658368" y="2174120"/>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23" name="Shape 21"/>
          <p:cNvSpPr/>
          <p:nvPr/>
        </p:nvSpPr>
        <p:spPr>
          <a:xfrm>
            <a:off x="2670048" y="2227371"/>
            <a:ext cx="495930" cy="130168"/>
          </a:xfrm>
          <a:prstGeom prst="rect">
            <a:avLst/>
          </a:prstGeom>
          <a:solidFill>
            <a:srgbClr val="C2352F"/>
          </a:solidFill>
          <a:ln/>
        </p:spPr>
      </p:sp>
      <p:sp>
        <p:nvSpPr>
          <p:cNvPr id="24" name="Text 22"/>
          <p:cNvSpPr txBox="1"/>
          <p:nvPr/>
        </p:nvSpPr>
        <p:spPr>
          <a:xfrm>
            <a:off x="3346704" y="2174120"/>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25.4%</a:t>
            </a:r>
            <a:endParaRPr lang="en-US" sz="1300" dirty="0"/>
          </a:p>
        </p:txBody>
      </p:sp>
      <p:sp>
        <p:nvSpPr>
          <p:cNvPr id="25" name="Text 23"/>
          <p:cNvSpPr txBox="1"/>
          <p:nvPr/>
        </p:nvSpPr>
        <p:spPr>
          <a:xfrm>
            <a:off x="4133088" y="2174120"/>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$76K</a:t>
            </a:r>
            <a:endParaRPr lang="en-US" sz="1300" dirty="0"/>
          </a:p>
        </p:txBody>
      </p:sp>
      <p:sp>
        <p:nvSpPr>
          <p:cNvPr id="26" name="Text 24"/>
          <p:cNvSpPr txBox="1"/>
          <p:nvPr/>
        </p:nvSpPr>
        <p:spPr>
          <a:xfrm>
            <a:off x="5001768" y="2174120"/>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$299K</a:t>
            </a:r>
            <a:endParaRPr lang="en-US" sz="1300" dirty="0"/>
          </a:p>
        </p:txBody>
      </p:sp>
      <p:sp>
        <p:nvSpPr>
          <p:cNvPr id="27" name="Text 25"/>
          <p:cNvSpPr txBox="1"/>
          <p:nvPr/>
        </p:nvSpPr>
        <p:spPr>
          <a:xfrm>
            <a:off x="658368" y="2410789"/>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28" name="Shape 26"/>
          <p:cNvSpPr/>
          <p:nvPr/>
        </p:nvSpPr>
        <p:spPr>
          <a:xfrm>
            <a:off x="2670048" y="2464039"/>
            <a:ext cx="479181" cy="130168"/>
          </a:xfrm>
          <a:prstGeom prst="rect">
            <a:avLst/>
          </a:prstGeom>
          <a:solidFill>
            <a:srgbClr val="C2352F"/>
          </a:solidFill>
          <a:ln/>
        </p:spPr>
      </p:sp>
      <p:sp>
        <p:nvSpPr>
          <p:cNvPr id="29" name="Text 27"/>
          <p:cNvSpPr txBox="1"/>
          <p:nvPr/>
        </p:nvSpPr>
        <p:spPr>
          <a:xfrm>
            <a:off x="3346704" y="2410789"/>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24.6%</a:t>
            </a:r>
            <a:endParaRPr lang="en-US" sz="1300" dirty="0"/>
          </a:p>
        </p:txBody>
      </p:sp>
      <p:sp>
        <p:nvSpPr>
          <p:cNvPr id="30" name="Text 28"/>
          <p:cNvSpPr txBox="1"/>
          <p:nvPr/>
        </p:nvSpPr>
        <p:spPr>
          <a:xfrm>
            <a:off x="4133088" y="2410789"/>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$100K</a:t>
            </a:r>
            <a:endParaRPr lang="en-US" sz="1300" dirty="0"/>
          </a:p>
        </p:txBody>
      </p:sp>
      <p:sp>
        <p:nvSpPr>
          <p:cNvPr id="31" name="Text 29"/>
          <p:cNvSpPr txBox="1"/>
          <p:nvPr/>
        </p:nvSpPr>
        <p:spPr>
          <a:xfrm>
            <a:off x="5001768" y="2410789"/>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$408K</a:t>
            </a:r>
            <a:endParaRPr lang="en-US" sz="1300" dirty="0"/>
          </a:p>
        </p:txBody>
      </p:sp>
      <p:sp>
        <p:nvSpPr>
          <p:cNvPr id="32" name="Text 30"/>
          <p:cNvSpPr txBox="1"/>
          <p:nvPr/>
        </p:nvSpPr>
        <p:spPr>
          <a:xfrm>
            <a:off x="658368" y="2647457"/>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33" name="Shape 31"/>
          <p:cNvSpPr/>
          <p:nvPr/>
        </p:nvSpPr>
        <p:spPr>
          <a:xfrm>
            <a:off x="2670048" y="2700707"/>
            <a:ext cx="453006" cy="130168"/>
          </a:xfrm>
          <a:prstGeom prst="rect">
            <a:avLst/>
          </a:prstGeom>
          <a:solidFill>
            <a:srgbClr val="C2352F"/>
          </a:solidFill>
          <a:ln/>
        </p:spPr>
      </p:sp>
      <p:sp>
        <p:nvSpPr>
          <p:cNvPr id="34" name="Text 32"/>
          <p:cNvSpPr txBox="1"/>
          <p:nvPr/>
        </p:nvSpPr>
        <p:spPr>
          <a:xfrm>
            <a:off x="3346704" y="2647457"/>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23.2%</a:t>
            </a:r>
            <a:endParaRPr lang="en-US" sz="1300" dirty="0"/>
          </a:p>
        </p:txBody>
      </p:sp>
      <p:sp>
        <p:nvSpPr>
          <p:cNvPr id="35" name="Text 33"/>
          <p:cNvSpPr txBox="1"/>
          <p:nvPr/>
        </p:nvSpPr>
        <p:spPr>
          <a:xfrm>
            <a:off x="4133088" y="2647457"/>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$112K</a:t>
            </a:r>
            <a:endParaRPr lang="en-US" sz="1300" dirty="0"/>
          </a:p>
        </p:txBody>
      </p:sp>
      <p:sp>
        <p:nvSpPr>
          <p:cNvPr id="36" name="Text 34"/>
          <p:cNvSpPr txBox="1"/>
          <p:nvPr/>
        </p:nvSpPr>
        <p:spPr>
          <a:xfrm>
            <a:off x="5001768" y="2647457"/>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$483K</a:t>
            </a:r>
            <a:endParaRPr lang="en-US" sz="1300" dirty="0"/>
          </a:p>
        </p:txBody>
      </p:sp>
      <p:sp>
        <p:nvSpPr>
          <p:cNvPr id="37" name="Text 35"/>
          <p:cNvSpPr txBox="1"/>
          <p:nvPr/>
        </p:nvSpPr>
        <p:spPr>
          <a:xfrm>
            <a:off x="658368" y="2884125"/>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38" name="Shape 36"/>
          <p:cNvSpPr/>
          <p:nvPr/>
        </p:nvSpPr>
        <p:spPr>
          <a:xfrm>
            <a:off x="2670048" y="2937376"/>
            <a:ext cx="389713" cy="130168"/>
          </a:xfrm>
          <a:prstGeom prst="rect">
            <a:avLst/>
          </a:prstGeom>
          <a:solidFill>
            <a:srgbClr val="C2352F"/>
          </a:solidFill>
          <a:ln/>
        </p:spPr>
      </p:sp>
      <p:sp>
        <p:nvSpPr>
          <p:cNvPr id="39" name="Text 37"/>
          <p:cNvSpPr txBox="1"/>
          <p:nvPr/>
        </p:nvSpPr>
        <p:spPr>
          <a:xfrm>
            <a:off x="3346704" y="2884125"/>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20.0%</a:t>
            </a:r>
            <a:endParaRPr lang="en-US" sz="1300" dirty="0"/>
          </a:p>
        </p:txBody>
      </p:sp>
      <p:sp>
        <p:nvSpPr>
          <p:cNvPr id="40" name="Text 38"/>
          <p:cNvSpPr txBox="1"/>
          <p:nvPr/>
        </p:nvSpPr>
        <p:spPr>
          <a:xfrm>
            <a:off x="4133088" y="2884125"/>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$58K</a:t>
            </a:r>
            <a:endParaRPr lang="en-US" sz="1300" dirty="0"/>
          </a:p>
        </p:txBody>
      </p:sp>
      <p:sp>
        <p:nvSpPr>
          <p:cNvPr id="41" name="Text 39"/>
          <p:cNvSpPr txBox="1"/>
          <p:nvPr/>
        </p:nvSpPr>
        <p:spPr>
          <a:xfrm>
            <a:off x="5001768" y="2884125"/>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$288K</a:t>
            </a:r>
            <a:endParaRPr lang="en-US" sz="1300" dirty="0"/>
          </a:p>
        </p:txBody>
      </p:sp>
      <p:sp>
        <p:nvSpPr>
          <p:cNvPr id="42" name="Text 40"/>
          <p:cNvSpPr txBox="1"/>
          <p:nvPr/>
        </p:nvSpPr>
        <p:spPr>
          <a:xfrm>
            <a:off x="658368" y="3120793"/>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43" name="Shape 41"/>
          <p:cNvSpPr/>
          <p:nvPr/>
        </p:nvSpPr>
        <p:spPr>
          <a:xfrm>
            <a:off x="2670048" y="3174044"/>
            <a:ext cx="381884" cy="130168"/>
          </a:xfrm>
          <a:prstGeom prst="rect">
            <a:avLst/>
          </a:prstGeom>
          <a:solidFill>
            <a:srgbClr val="C2352F"/>
          </a:solidFill>
          <a:ln/>
        </p:spPr>
      </p:sp>
      <p:sp>
        <p:nvSpPr>
          <p:cNvPr id="44" name="Text 42"/>
          <p:cNvSpPr txBox="1"/>
          <p:nvPr/>
        </p:nvSpPr>
        <p:spPr>
          <a:xfrm>
            <a:off x="3346704" y="3120793"/>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19.6%</a:t>
            </a:r>
            <a:endParaRPr lang="en-US" sz="1300" dirty="0"/>
          </a:p>
        </p:txBody>
      </p:sp>
      <p:sp>
        <p:nvSpPr>
          <p:cNvPr id="45" name="Text 43"/>
          <p:cNvSpPr txBox="1"/>
          <p:nvPr/>
        </p:nvSpPr>
        <p:spPr>
          <a:xfrm>
            <a:off x="4133088" y="3120793"/>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$39K</a:t>
            </a:r>
            <a:endParaRPr lang="en-US" sz="1300" dirty="0"/>
          </a:p>
        </p:txBody>
      </p:sp>
      <p:sp>
        <p:nvSpPr>
          <p:cNvPr id="46" name="Text 44"/>
          <p:cNvSpPr txBox="1"/>
          <p:nvPr/>
        </p:nvSpPr>
        <p:spPr>
          <a:xfrm>
            <a:off x="5001768" y="3120793"/>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$202K</a:t>
            </a:r>
            <a:endParaRPr lang="en-US" sz="1300" dirty="0"/>
          </a:p>
        </p:txBody>
      </p:sp>
      <p:sp>
        <p:nvSpPr>
          <p:cNvPr id="47" name="Text 45"/>
          <p:cNvSpPr txBox="1"/>
          <p:nvPr/>
        </p:nvSpPr>
        <p:spPr>
          <a:xfrm>
            <a:off x="658368" y="3357462"/>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48" name="Shape 46"/>
          <p:cNvSpPr/>
          <p:nvPr/>
        </p:nvSpPr>
        <p:spPr>
          <a:xfrm>
            <a:off x="2670048" y="3410712"/>
            <a:ext cx="370032" cy="130168"/>
          </a:xfrm>
          <a:prstGeom prst="rect">
            <a:avLst/>
          </a:prstGeom>
          <a:solidFill>
            <a:srgbClr val="C2352F"/>
          </a:solidFill>
          <a:ln/>
        </p:spPr>
      </p:sp>
      <p:sp>
        <p:nvSpPr>
          <p:cNvPr id="49" name="Text 47"/>
          <p:cNvSpPr txBox="1"/>
          <p:nvPr/>
        </p:nvSpPr>
        <p:spPr>
          <a:xfrm>
            <a:off x="3346704" y="3357462"/>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19.0%</a:t>
            </a:r>
            <a:endParaRPr lang="en-US" sz="1300" dirty="0"/>
          </a:p>
        </p:txBody>
      </p:sp>
      <p:sp>
        <p:nvSpPr>
          <p:cNvPr id="50" name="Text 48"/>
          <p:cNvSpPr txBox="1"/>
          <p:nvPr/>
        </p:nvSpPr>
        <p:spPr>
          <a:xfrm>
            <a:off x="4133088" y="3357462"/>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$21K</a:t>
            </a:r>
            <a:endParaRPr lang="en-US" sz="1300" dirty="0"/>
          </a:p>
        </p:txBody>
      </p:sp>
      <p:sp>
        <p:nvSpPr>
          <p:cNvPr id="51" name="Text 49"/>
          <p:cNvSpPr txBox="1"/>
          <p:nvPr/>
        </p:nvSpPr>
        <p:spPr>
          <a:xfrm>
            <a:off x="5001768" y="3357462"/>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$109K</a:t>
            </a:r>
            <a:endParaRPr lang="en-US" sz="1300" dirty="0"/>
          </a:p>
        </p:txBody>
      </p:sp>
      <p:sp>
        <p:nvSpPr>
          <p:cNvPr id="52" name="Text 50"/>
          <p:cNvSpPr txBox="1"/>
          <p:nvPr/>
        </p:nvSpPr>
        <p:spPr>
          <a:xfrm>
            <a:off x="658368" y="3594130"/>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53" name="Shape 51"/>
          <p:cNvSpPr/>
          <p:nvPr/>
        </p:nvSpPr>
        <p:spPr>
          <a:xfrm>
            <a:off x="2670048" y="3647380"/>
            <a:ext cx="361163" cy="130168"/>
          </a:xfrm>
          <a:prstGeom prst="rect">
            <a:avLst/>
          </a:prstGeom>
          <a:solidFill>
            <a:srgbClr val="C2352F"/>
          </a:solidFill>
          <a:ln/>
        </p:spPr>
      </p:sp>
      <p:sp>
        <p:nvSpPr>
          <p:cNvPr id="54" name="Text 52"/>
          <p:cNvSpPr txBox="1"/>
          <p:nvPr/>
        </p:nvSpPr>
        <p:spPr>
          <a:xfrm>
            <a:off x="3346704" y="3594130"/>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18.5%</a:t>
            </a:r>
            <a:endParaRPr lang="en-US" sz="1300" dirty="0"/>
          </a:p>
        </p:txBody>
      </p:sp>
      <p:sp>
        <p:nvSpPr>
          <p:cNvPr id="55" name="Text 53"/>
          <p:cNvSpPr txBox="1"/>
          <p:nvPr/>
        </p:nvSpPr>
        <p:spPr>
          <a:xfrm>
            <a:off x="4133088" y="3594130"/>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$34K</a:t>
            </a:r>
            <a:endParaRPr lang="en-US" sz="1300" dirty="0"/>
          </a:p>
        </p:txBody>
      </p:sp>
      <p:sp>
        <p:nvSpPr>
          <p:cNvPr id="56" name="Text 54"/>
          <p:cNvSpPr txBox="1"/>
          <p:nvPr/>
        </p:nvSpPr>
        <p:spPr>
          <a:xfrm>
            <a:off x="5001768" y="3594130"/>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$185K</a:t>
            </a:r>
            <a:endParaRPr lang="en-US" sz="1300" dirty="0"/>
          </a:p>
        </p:txBody>
      </p:sp>
      <p:sp>
        <p:nvSpPr>
          <p:cNvPr id="57" name="Text 55"/>
          <p:cNvSpPr txBox="1"/>
          <p:nvPr/>
        </p:nvSpPr>
        <p:spPr>
          <a:xfrm>
            <a:off x="658368" y="3830798"/>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58" name="Shape 56"/>
          <p:cNvSpPr/>
          <p:nvPr/>
        </p:nvSpPr>
        <p:spPr>
          <a:xfrm>
            <a:off x="2670048" y="3884048"/>
            <a:ext cx="289514" cy="130168"/>
          </a:xfrm>
          <a:prstGeom prst="rect">
            <a:avLst/>
          </a:prstGeom>
          <a:solidFill>
            <a:srgbClr val="C2352F"/>
          </a:solidFill>
          <a:ln/>
        </p:spPr>
      </p:sp>
      <p:sp>
        <p:nvSpPr>
          <p:cNvPr id="59" name="Text 57"/>
          <p:cNvSpPr txBox="1"/>
          <p:nvPr/>
        </p:nvSpPr>
        <p:spPr>
          <a:xfrm>
            <a:off x="3346704" y="3830798"/>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14.8%</a:t>
            </a:r>
            <a:endParaRPr lang="en-US" sz="1300" dirty="0"/>
          </a:p>
        </p:txBody>
      </p:sp>
      <p:sp>
        <p:nvSpPr>
          <p:cNvPr id="60" name="Text 58"/>
          <p:cNvSpPr txBox="1"/>
          <p:nvPr/>
        </p:nvSpPr>
        <p:spPr>
          <a:xfrm>
            <a:off x="4133088" y="3830798"/>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$62K</a:t>
            </a:r>
            <a:endParaRPr lang="en-US" sz="1300" dirty="0"/>
          </a:p>
        </p:txBody>
      </p:sp>
      <p:sp>
        <p:nvSpPr>
          <p:cNvPr id="61" name="Text 59"/>
          <p:cNvSpPr txBox="1"/>
          <p:nvPr/>
        </p:nvSpPr>
        <p:spPr>
          <a:xfrm>
            <a:off x="5001768" y="3830798"/>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$417K</a:t>
            </a:r>
            <a:endParaRPr lang="en-US" sz="1300" dirty="0"/>
          </a:p>
        </p:txBody>
      </p:sp>
      <p:sp>
        <p:nvSpPr>
          <p:cNvPr id="62" name="Text 60"/>
          <p:cNvSpPr txBox="1"/>
          <p:nvPr/>
        </p:nvSpPr>
        <p:spPr>
          <a:xfrm>
            <a:off x="658368" y="4067466"/>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63" name="Shape 61"/>
          <p:cNvSpPr/>
          <p:nvPr/>
        </p:nvSpPr>
        <p:spPr>
          <a:xfrm>
            <a:off x="2670048" y="4120717"/>
            <a:ext cx="280378" cy="130168"/>
          </a:xfrm>
          <a:prstGeom prst="rect">
            <a:avLst/>
          </a:prstGeom>
          <a:solidFill>
            <a:srgbClr val="C2352F"/>
          </a:solidFill>
          <a:ln/>
        </p:spPr>
      </p:sp>
      <p:sp>
        <p:nvSpPr>
          <p:cNvPr id="64" name="Text 62"/>
          <p:cNvSpPr txBox="1"/>
          <p:nvPr/>
        </p:nvSpPr>
        <p:spPr>
          <a:xfrm>
            <a:off x="3346704" y="4067466"/>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14.4%</a:t>
            </a:r>
            <a:endParaRPr lang="en-US" sz="1300" dirty="0"/>
          </a:p>
        </p:txBody>
      </p:sp>
      <p:sp>
        <p:nvSpPr>
          <p:cNvPr id="65" name="Text 63"/>
          <p:cNvSpPr txBox="1"/>
          <p:nvPr/>
        </p:nvSpPr>
        <p:spPr>
          <a:xfrm>
            <a:off x="4133088" y="4067466"/>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$48K</a:t>
            </a:r>
            <a:endParaRPr lang="en-US" sz="1300" dirty="0"/>
          </a:p>
        </p:txBody>
      </p:sp>
      <p:sp>
        <p:nvSpPr>
          <p:cNvPr id="66" name="Text 64"/>
          <p:cNvSpPr txBox="1"/>
          <p:nvPr/>
        </p:nvSpPr>
        <p:spPr>
          <a:xfrm>
            <a:off x="5001768" y="4067466"/>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$333K</a:t>
            </a:r>
            <a:endParaRPr lang="en-US" sz="1300" dirty="0"/>
          </a:p>
        </p:txBody>
      </p:sp>
      <p:sp>
        <p:nvSpPr>
          <p:cNvPr id="67" name="Text 65"/>
          <p:cNvSpPr txBox="1"/>
          <p:nvPr/>
        </p:nvSpPr>
        <p:spPr>
          <a:xfrm>
            <a:off x="658368" y="4304135"/>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68" name="Shape 66"/>
          <p:cNvSpPr/>
          <p:nvPr/>
        </p:nvSpPr>
        <p:spPr>
          <a:xfrm>
            <a:off x="2670048" y="4357385"/>
            <a:ext cx="265831" cy="130168"/>
          </a:xfrm>
          <a:prstGeom prst="rect">
            <a:avLst/>
          </a:prstGeom>
          <a:solidFill>
            <a:srgbClr val="C2352F"/>
          </a:solidFill>
          <a:ln/>
        </p:spPr>
      </p:sp>
      <p:sp>
        <p:nvSpPr>
          <p:cNvPr id="69" name="Text 67"/>
          <p:cNvSpPr txBox="1"/>
          <p:nvPr/>
        </p:nvSpPr>
        <p:spPr>
          <a:xfrm>
            <a:off x="3346704" y="4304135"/>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13.6%</a:t>
            </a:r>
            <a:endParaRPr lang="en-US" sz="1300" dirty="0"/>
          </a:p>
        </p:txBody>
      </p:sp>
      <p:sp>
        <p:nvSpPr>
          <p:cNvPr id="70" name="Text 68"/>
          <p:cNvSpPr txBox="1"/>
          <p:nvPr/>
        </p:nvSpPr>
        <p:spPr>
          <a:xfrm>
            <a:off x="4133088" y="4304135"/>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$158K</a:t>
            </a:r>
            <a:endParaRPr lang="en-US" sz="1300" dirty="0"/>
          </a:p>
        </p:txBody>
      </p:sp>
      <p:sp>
        <p:nvSpPr>
          <p:cNvPr id="71" name="Text 69"/>
          <p:cNvSpPr txBox="1"/>
          <p:nvPr/>
        </p:nvSpPr>
        <p:spPr>
          <a:xfrm>
            <a:off x="5001768" y="4304135"/>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$1.16M</a:t>
            </a:r>
            <a:endParaRPr lang="en-US" sz="1300" dirty="0"/>
          </a:p>
        </p:txBody>
      </p:sp>
      <p:sp>
        <p:nvSpPr>
          <p:cNvPr id="72" name="Text 70"/>
          <p:cNvSpPr txBox="1"/>
          <p:nvPr/>
        </p:nvSpPr>
        <p:spPr>
          <a:xfrm>
            <a:off x="658368" y="4540803"/>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73" name="Shape 71"/>
          <p:cNvSpPr/>
          <p:nvPr/>
        </p:nvSpPr>
        <p:spPr>
          <a:xfrm>
            <a:off x="2670048" y="4594053"/>
            <a:ext cx="263180" cy="130168"/>
          </a:xfrm>
          <a:prstGeom prst="rect">
            <a:avLst/>
          </a:prstGeom>
          <a:solidFill>
            <a:srgbClr val="C2352F"/>
          </a:solidFill>
          <a:ln/>
        </p:spPr>
      </p:sp>
      <p:sp>
        <p:nvSpPr>
          <p:cNvPr id="74" name="Text 72"/>
          <p:cNvSpPr txBox="1"/>
          <p:nvPr/>
        </p:nvSpPr>
        <p:spPr>
          <a:xfrm>
            <a:off x="3346704" y="4540803"/>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13.5%</a:t>
            </a:r>
            <a:endParaRPr lang="en-US" sz="1300" dirty="0"/>
          </a:p>
        </p:txBody>
      </p:sp>
      <p:sp>
        <p:nvSpPr>
          <p:cNvPr id="75" name="Text 73"/>
          <p:cNvSpPr txBox="1"/>
          <p:nvPr/>
        </p:nvSpPr>
        <p:spPr>
          <a:xfrm>
            <a:off x="4133088" y="4540803"/>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$77K</a:t>
            </a:r>
            <a:endParaRPr lang="en-US" sz="1300" dirty="0"/>
          </a:p>
        </p:txBody>
      </p:sp>
      <p:sp>
        <p:nvSpPr>
          <p:cNvPr id="76" name="Text 74"/>
          <p:cNvSpPr txBox="1"/>
          <p:nvPr/>
        </p:nvSpPr>
        <p:spPr>
          <a:xfrm>
            <a:off x="5001768" y="4540803"/>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$573K</a:t>
            </a:r>
            <a:endParaRPr lang="en-US" sz="1300" dirty="0"/>
          </a:p>
        </p:txBody>
      </p:sp>
      <p:sp>
        <p:nvSpPr>
          <p:cNvPr id="77" name="Text 75"/>
          <p:cNvSpPr txBox="1"/>
          <p:nvPr/>
        </p:nvSpPr>
        <p:spPr>
          <a:xfrm>
            <a:off x="658368" y="4777471"/>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78" name="Shape 76"/>
          <p:cNvSpPr/>
          <p:nvPr/>
        </p:nvSpPr>
        <p:spPr>
          <a:xfrm>
            <a:off x="2670048" y="4830721"/>
            <a:ext cx="225366" cy="130168"/>
          </a:xfrm>
          <a:prstGeom prst="rect">
            <a:avLst/>
          </a:prstGeom>
          <a:solidFill>
            <a:srgbClr val="C2352F"/>
          </a:solidFill>
          <a:ln/>
        </p:spPr>
      </p:sp>
      <p:sp>
        <p:nvSpPr>
          <p:cNvPr id="79" name="Text 77"/>
          <p:cNvSpPr txBox="1"/>
          <p:nvPr/>
        </p:nvSpPr>
        <p:spPr>
          <a:xfrm>
            <a:off x="3346704" y="4777471"/>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11.6%</a:t>
            </a:r>
            <a:endParaRPr lang="en-US" sz="1300" dirty="0"/>
          </a:p>
        </p:txBody>
      </p:sp>
      <p:sp>
        <p:nvSpPr>
          <p:cNvPr id="80" name="Text 78"/>
          <p:cNvSpPr txBox="1"/>
          <p:nvPr/>
        </p:nvSpPr>
        <p:spPr>
          <a:xfrm>
            <a:off x="4133088" y="4777471"/>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$74K</a:t>
            </a:r>
            <a:endParaRPr lang="en-US" sz="1300" dirty="0"/>
          </a:p>
        </p:txBody>
      </p:sp>
      <p:sp>
        <p:nvSpPr>
          <p:cNvPr id="81" name="Text 79"/>
          <p:cNvSpPr txBox="1"/>
          <p:nvPr/>
        </p:nvSpPr>
        <p:spPr>
          <a:xfrm>
            <a:off x="5001768" y="4777471"/>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$643K</a:t>
            </a:r>
            <a:endParaRPr lang="en-US" sz="1300" dirty="0"/>
          </a:p>
        </p:txBody>
      </p:sp>
      <p:sp>
        <p:nvSpPr>
          <p:cNvPr id="82" name="Text 80"/>
          <p:cNvSpPr txBox="1"/>
          <p:nvPr/>
        </p:nvSpPr>
        <p:spPr>
          <a:xfrm>
            <a:off x="658368" y="5014139"/>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83" name="Shape 81"/>
          <p:cNvSpPr/>
          <p:nvPr/>
        </p:nvSpPr>
        <p:spPr>
          <a:xfrm>
            <a:off x="2670048" y="5067390"/>
            <a:ext cx="175448" cy="130168"/>
          </a:xfrm>
          <a:prstGeom prst="rect">
            <a:avLst/>
          </a:prstGeom>
          <a:solidFill>
            <a:srgbClr val="C2352F"/>
          </a:solidFill>
          <a:ln/>
        </p:spPr>
      </p:sp>
      <p:sp>
        <p:nvSpPr>
          <p:cNvPr id="84" name="Text 82"/>
          <p:cNvSpPr txBox="1"/>
          <p:nvPr/>
        </p:nvSpPr>
        <p:spPr>
          <a:xfrm>
            <a:off x="3346704" y="5014139"/>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9.0%</a:t>
            </a:r>
            <a:endParaRPr lang="en-US" sz="1300" dirty="0"/>
          </a:p>
        </p:txBody>
      </p:sp>
      <p:sp>
        <p:nvSpPr>
          <p:cNvPr id="85" name="Text 83"/>
          <p:cNvSpPr txBox="1"/>
          <p:nvPr/>
        </p:nvSpPr>
        <p:spPr>
          <a:xfrm>
            <a:off x="4133088" y="5014139"/>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$63K</a:t>
            </a:r>
            <a:endParaRPr lang="en-US" sz="1300" dirty="0"/>
          </a:p>
        </p:txBody>
      </p:sp>
      <p:sp>
        <p:nvSpPr>
          <p:cNvPr id="86" name="Text 84"/>
          <p:cNvSpPr txBox="1"/>
          <p:nvPr/>
        </p:nvSpPr>
        <p:spPr>
          <a:xfrm>
            <a:off x="5001768" y="5014139"/>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$702K</a:t>
            </a:r>
            <a:endParaRPr lang="en-US" sz="1300" dirty="0"/>
          </a:p>
        </p:txBody>
      </p:sp>
      <p:sp>
        <p:nvSpPr>
          <p:cNvPr id="87" name="Text 85"/>
          <p:cNvSpPr txBox="1"/>
          <p:nvPr/>
        </p:nvSpPr>
        <p:spPr>
          <a:xfrm>
            <a:off x="658368" y="5250808"/>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88" name="Shape 86"/>
          <p:cNvSpPr/>
          <p:nvPr/>
        </p:nvSpPr>
        <p:spPr>
          <a:xfrm>
            <a:off x="2670048" y="5304058"/>
            <a:ext cx="161118" cy="130168"/>
          </a:xfrm>
          <a:prstGeom prst="rect">
            <a:avLst/>
          </a:prstGeom>
          <a:solidFill>
            <a:srgbClr val="C2352F"/>
          </a:solidFill>
          <a:ln/>
        </p:spPr>
      </p:sp>
      <p:sp>
        <p:nvSpPr>
          <p:cNvPr id="89" name="Text 87"/>
          <p:cNvSpPr txBox="1"/>
          <p:nvPr/>
        </p:nvSpPr>
        <p:spPr>
          <a:xfrm>
            <a:off x="3346704" y="5250808"/>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8.3%</a:t>
            </a:r>
            <a:endParaRPr lang="en-US" sz="1300" dirty="0"/>
          </a:p>
        </p:txBody>
      </p:sp>
      <p:sp>
        <p:nvSpPr>
          <p:cNvPr id="90" name="Text 88"/>
          <p:cNvSpPr txBox="1"/>
          <p:nvPr/>
        </p:nvSpPr>
        <p:spPr>
          <a:xfrm>
            <a:off x="4133088" y="5250808"/>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$102K</a:t>
            </a:r>
            <a:endParaRPr lang="en-US" sz="1300" dirty="0"/>
          </a:p>
        </p:txBody>
      </p:sp>
      <p:sp>
        <p:nvSpPr>
          <p:cNvPr id="91" name="Text 89"/>
          <p:cNvSpPr txBox="1"/>
          <p:nvPr/>
        </p:nvSpPr>
        <p:spPr>
          <a:xfrm>
            <a:off x="5001768" y="5250808"/>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$1.23M</a:t>
            </a:r>
            <a:endParaRPr lang="en-US" sz="1300" dirty="0"/>
          </a:p>
        </p:txBody>
      </p:sp>
      <p:sp>
        <p:nvSpPr>
          <p:cNvPr id="92" name="Text 90"/>
          <p:cNvSpPr txBox="1"/>
          <p:nvPr/>
        </p:nvSpPr>
        <p:spPr>
          <a:xfrm>
            <a:off x="658368" y="5487476"/>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93" name="Shape 91"/>
          <p:cNvSpPr/>
          <p:nvPr/>
        </p:nvSpPr>
        <p:spPr>
          <a:xfrm>
            <a:off x="2670048" y="5540726"/>
            <a:ext cx="155810" cy="130168"/>
          </a:xfrm>
          <a:prstGeom prst="rect">
            <a:avLst/>
          </a:prstGeom>
          <a:solidFill>
            <a:srgbClr val="C2352F"/>
          </a:solidFill>
          <a:ln/>
        </p:spPr>
      </p:sp>
      <p:sp>
        <p:nvSpPr>
          <p:cNvPr id="94" name="Text 92"/>
          <p:cNvSpPr txBox="1"/>
          <p:nvPr/>
        </p:nvSpPr>
        <p:spPr>
          <a:xfrm>
            <a:off x="3346704" y="5487476"/>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8.0%</a:t>
            </a:r>
            <a:endParaRPr lang="en-US" sz="1300" dirty="0"/>
          </a:p>
        </p:txBody>
      </p:sp>
      <p:sp>
        <p:nvSpPr>
          <p:cNvPr id="95" name="Text 93"/>
          <p:cNvSpPr txBox="1"/>
          <p:nvPr/>
        </p:nvSpPr>
        <p:spPr>
          <a:xfrm>
            <a:off x="4133088" y="5487476"/>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$21K</a:t>
            </a:r>
            <a:endParaRPr lang="en-US" sz="1300" dirty="0"/>
          </a:p>
        </p:txBody>
      </p:sp>
      <p:sp>
        <p:nvSpPr>
          <p:cNvPr id="96" name="Text 94"/>
          <p:cNvSpPr txBox="1"/>
          <p:nvPr/>
        </p:nvSpPr>
        <p:spPr>
          <a:xfrm>
            <a:off x="5001768" y="5487476"/>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$257K</a:t>
            </a:r>
            <a:endParaRPr lang="en-US" sz="1300" dirty="0"/>
          </a:p>
        </p:txBody>
      </p:sp>
      <p:sp>
        <p:nvSpPr>
          <p:cNvPr id="97" name="Text 95"/>
          <p:cNvSpPr txBox="1"/>
          <p:nvPr/>
        </p:nvSpPr>
        <p:spPr>
          <a:xfrm>
            <a:off x="6208776" y="1700784"/>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98" name="Shape 96"/>
          <p:cNvSpPr/>
          <p:nvPr/>
        </p:nvSpPr>
        <p:spPr>
          <a:xfrm>
            <a:off x="8220456" y="1754034"/>
            <a:ext cx="155313" cy="130168"/>
          </a:xfrm>
          <a:prstGeom prst="rect">
            <a:avLst/>
          </a:prstGeom>
          <a:solidFill>
            <a:srgbClr val="C2352F"/>
          </a:solidFill>
          <a:ln/>
        </p:spPr>
      </p:sp>
      <p:sp>
        <p:nvSpPr>
          <p:cNvPr id="99" name="Text 97"/>
          <p:cNvSpPr txBox="1"/>
          <p:nvPr/>
        </p:nvSpPr>
        <p:spPr>
          <a:xfrm>
            <a:off x="8897112" y="1700784"/>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8.0%</a:t>
            </a:r>
            <a:endParaRPr lang="en-US" sz="1300" dirty="0"/>
          </a:p>
        </p:txBody>
      </p:sp>
      <p:sp>
        <p:nvSpPr>
          <p:cNvPr id="100" name="Text 98"/>
          <p:cNvSpPr txBox="1"/>
          <p:nvPr/>
        </p:nvSpPr>
        <p:spPr>
          <a:xfrm>
            <a:off x="9683496" y="1700784"/>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$42K</a:t>
            </a:r>
            <a:endParaRPr lang="en-US" sz="1300" dirty="0"/>
          </a:p>
        </p:txBody>
      </p:sp>
      <p:sp>
        <p:nvSpPr>
          <p:cNvPr id="101" name="Text 99"/>
          <p:cNvSpPr txBox="1"/>
          <p:nvPr/>
        </p:nvSpPr>
        <p:spPr>
          <a:xfrm>
            <a:off x="10552176" y="1700784"/>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$532K</a:t>
            </a:r>
            <a:endParaRPr lang="en-US" sz="1300" dirty="0"/>
          </a:p>
        </p:txBody>
      </p:sp>
      <p:sp>
        <p:nvSpPr>
          <p:cNvPr id="102" name="Text 100"/>
          <p:cNvSpPr txBox="1"/>
          <p:nvPr/>
        </p:nvSpPr>
        <p:spPr>
          <a:xfrm>
            <a:off x="6208776" y="1937452"/>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103" name="Shape 101"/>
          <p:cNvSpPr/>
          <p:nvPr/>
        </p:nvSpPr>
        <p:spPr>
          <a:xfrm>
            <a:off x="8220456" y="1990703"/>
            <a:ext cx="154055" cy="130168"/>
          </a:xfrm>
          <a:prstGeom prst="rect">
            <a:avLst/>
          </a:prstGeom>
          <a:solidFill>
            <a:srgbClr val="C2352F"/>
          </a:solidFill>
          <a:ln/>
        </p:spPr>
      </p:sp>
      <p:sp>
        <p:nvSpPr>
          <p:cNvPr id="104" name="Text 102"/>
          <p:cNvSpPr txBox="1"/>
          <p:nvPr/>
        </p:nvSpPr>
        <p:spPr>
          <a:xfrm>
            <a:off x="8897112" y="1937452"/>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7.9%</a:t>
            </a:r>
            <a:endParaRPr lang="en-US" sz="1300" dirty="0"/>
          </a:p>
        </p:txBody>
      </p:sp>
      <p:sp>
        <p:nvSpPr>
          <p:cNvPr id="105" name="Text 103"/>
          <p:cNvSpPr txBox="1"/>
          <p:nvPr/>
        </p:nvSpPr>
        <p:spPr>
          <a:xfrm>
            <a:off x="9683496" y="1937452"/>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$32K</a:t>
            </a:r>
            <a:endParaRPr lang="en-US" sz="1300" dirty="0"/>
          </a:p>
        </p:txBody>
      </p:sp>
      <p:sp>
        <p:nvSpPr>
          <p:cNvPr id="106" name="Text 104"/>
          <p:cNvSpPr txBox="1"/>
          <p:nvPr/>
        </p:nvSpPr>
        <p:spPr>
          <a:xfrm>
            <a:off x="10552176" y="1937452"/>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$400K</a:t>
            </a:r>
            <a:endParaRPr lang="en-US" sz="1300" dirty="0"/>
          </a:p>
        </p:txBody>
      </p:sp>
      <p:sp>
        <p:nvSpPr>
          <p:cNvPr id="107" name="Text 105"/>
          <p:cNvSpPr txBox="1"/>
          <p:nvPr/>
        </p:nvSpPr>
        <p:spPr>
          <a:xfrm>
            <a:off x="6208776" y="2174120"/>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108" name="Shape 106"/>
          <p:cNvSpPr/>
          <p:nvPr/>
        </p:nvSpPr>
        <p:spPr>
          <a:xfrm>
            <a:off x="8220456" y="2227371"/>
            <a:ext cx="148215" cy="130168"/>
          </a:xfrm>
          <a:prstGeom prst="rect">
            <a:avLst/>
          </a:prstGeom>
          <a:solidFill>
            <a:srgbClr val="C2352F"/>
          </a:solidFill>
          <a:ln/>
        </p:spPr>
      </p:sp>
      <p:sp>
        <p:nvSpPr>
          <p:cNvPr id="109" name="Text 107"/>
          <p:cNvSpPr txBox="1"/>
          <p:nvPr/>
        </p:nvSpPr>
        <p:spPr>
          <a:xfrm>
            <a:off x="8897112" y="2174120"/>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7.6%</a:t>
            </a:r>
            <a:endParaRPr lang="en-US" sz="1300" dirty="0"/>
          </a:p>
        </p:txBody>
      </p:sp>
      <p:sp>
        <p:nvSpPr>
          <p:cNvPr id="110" name="Text 108"/>
          <p:cNvSpPr txBox="1"/>
          <p:nvPr/>
        </p:nvSpPr>
        <p:spPr>
          <a:xfrm>
            <a:off x="9683496" y="2174120"/>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$24K</a:t>
            </a:r>
            <a:endParaRPr lang="en-US" sz="1300" dirty="0"/>
          </a:p>
        </p:txBody>
      </p:sp>
      <p:sp>
        <p:nvSpPr>
          <p:cNvPr id="111" name="Text 109"/>
          <p:cNvSpPr txBox="1"/>
          <p:nvPr/>
        </p:nvSpPr>
        <p:spPr>
          <a:xfrm>
            <a:off x="10552176" y="2174120"/>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$312K</a:t>
            </a:r>
            <a:endParaRPr lang="en-US" sz="1300" dirty="0"/>
          </a:p>
        </p:txBody>
      </p:sp>
      <p:sp>
        <p:nvSpPr>
          <p:cNvPr id="112" name="Text 110"/>
          <p:cNvSpPr txBox="1"/>
          <p:nvPr/>
        </p:nvSpPr>
        <p:spPr>
          <a:xfrm>
            <a:off x="6208776" y="2410789"/>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113" name="Shape 111"/>
          <p:cNvSpPr/>
          <p:nvPr/>
        </p:nvSpPr>
        <p:spPr>
          <a:xfrm>
            <a:off x="8220456" y="2464039"/>
            <a:ext cx="113006" cy="130168"/>
          </a:xfrm>
          <a:prstGeom prst="rect">
            <a:avLst/>
          </a:prstGeom>
          <a:solidFill>
            <a:srgbClr val="C2352F"/>
          </a:solidFill>
          <a:ln/>
        </p:spPr>
      </p:sp>
      <p:sp>
        <p:nvSpPr>
          <p:cNvPr id="114" name="Text 112"/>
          <p:cNvSpPr txBox="1"/>
          <p:nvPr/>
        </p:nvSpPr>
        <p:spPr>
          <a:xfrm>
            <a:off x="8897112" y="2410789"/>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5.8%</a:t>
            </a:r>
            <a:endParaRPr lang="en-US" sz="1300" dirty="0"/>
          </a:p>
        </p:txBody>
      </p:sp>
      <p:sp>
        <p:nvSpPr>
          <p:cNvPr id="115" name="Text 113"/>
          <p:cNvSpPr txBox="1"/>
          <p:nvPr/>
        </p:nvSpPr>
        <p:spPr>
          <a:xfrm>
            <a:off x="9683496" y="2410789"/>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$22K</a:t>
            </a:r>
            <a:endParaRPr lang="en-US" sz="1300" dirty="0"/>
          </a:p>
        </p:txBody>
      </p:sp>
      <p:sp>
        <p:nvSpPr>
          <p:cNvPr id="116" name="Text 114"/>
          <p:cNvSpPr txBox="1"/>
          <p:nvPr/>
        </p:nvSpPr>
        <p:spPr>
          <a:xfrm>
            <a:off x="10552176" y="2410789"/>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$382K</a:t>
            </a:r>
            <a:endParaRPr lang="en-US" sz="1300" dirty="0"/>
          </a:p>
        </p:txBody>
      </p:sp>
      <p:sp>
        <p:nvSpPr>
          <p:cNvPr id="117" name="Text 115"/>
          <p:cNvSpPr txBox="1"/>
          <p:nvPr/>
        </p:nvSpPr>
        <p:spPr>
          <a:xfrm>
            <a:off x="6208776" y="2647457"/>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118" name="Shape 116"/>
          <p:cNvSpPr/>
          <p:nvPr/>
        </p:nvSpPr>
        <p:spPr>
          <a:xfrm>
            <a:off x="8220456" y="2700707"/>
            <a:ext cx="100935" cy="130168"/>
          </a:xfrm>
          <a:prstGeom prst="rect">
            <a:avLst/>
          </a:prstGeom>
          <a:solidFill>
            <a:srgbClr val="C2352F"/>
          </a:solidFill>
          <a:ln/>
        </p:spPr>
      </p:sp>
      <p:sp>
        <p:nvSpPr>
          <p:cNvPr id="119" name="Text 117"/>
          <p:cNvSpPr txBox="1"/>
          <p:nvPr/>
        </p:nvSpPr>
        <p:spPr>
          <a:xfrm>
            <a:off x="8897112" y="2647457"/>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5.2%</a:t>
            </a:r>
            <a:endParaRPr lang="en-US" sz="1300" dirty="0"/>
          </a:p>
        </p:txBody>
      </p:sp>
      <p:sp>
        <p:nvSpPr>
          <p:cNvPr id="120" name="Text 118"/>
          <p:cNvSpPr txBox="1"/>
          <p:nvPr/>
        </p:nvSpPr>
        <p:spPr>
          <a:xfrm>
            <a:off x="9683496" y="2647457"/>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$87K</a:t>
            </a:r>
            <a:endParaRPr lang="en-US" sz="1300" dirty="0"/>
          </a:p>
        </p:txBody>
      </p:sp>
      <p:sp>
        <p:nvSpPr>
          <p:cNvPr id="121" name="Text 119"/>
          <p:cNvSpPr txBox="1"/>
          <p:nvPr/>
        </p:nvSpPr>
        <p:spPr>
          <a:xfrm>
            <a:off x="10552176" y="2647457"/>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$1.69M</a:t>
            </a:r>
            <a:endParaRPr lang="en-US" sz="1300" dirty="0"/>
          </a:p>
        </p:txBody>
      </p:sp>
      <p:sp>
        <p:nvSpPr>
          <p:cNvPr id="122" name="Text 120"/>
          <p:cNvSpPr txBox="1"/>
          <p:nvPr/>
        </p:nvSpPr>
        <p:spPr>
          <a:xfrm>
            <a:off x="6208776" y="2884125"/>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123" name="Shape 121"/>
          <p:cNvSpPr/>
          <p:nvPr/>
        </p:nvSpPr>
        <p:spPr>
          <a:xfrm>
            <a:off x="8220456" y="2937376"/>
            <a:ext cx="93000" cy="130168"/>
          </a:xfrm>
          <a:prstGeom prst="rect">
            <a:avLst/>
          </a:prstGeom>
          <a:solidFill>
            <a:srgbClr val="C2352F"/>
          </a:solidFill>
          <a:ln/>
        </p:spPr>
      </p:sp>
      <p:sp>
        <p:nvSpPr>
          <p:cNvPr id="124" name="Text 122"/>
          <p:cNvSpPr txBox="1"/>
          <p:nvPr/>
        </p:nvSpPr>
        <p:spPr>
          <a:xfrm>
            <a:off x="8897112" y="2884125"/>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4.8%</a:t>
            </a:r>
            <a:endParaRPr lang="en-US" sz="1300" dirty="0"/>
          </a:p>
        </p:txBody>
      </p:sp>
      <p:sp>
        <p:nvSpPr>
          <p:cNvPr id="125" name="Text 123"/>
          <p:cNvSpPr txBox="1"/>
          <p:nvPr/>
        </p:nvSpPr>
        <p:spPr>
          <a:xfrm>
            <a:off x="9683496" y="2884125"/>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$25K</a:t>
            </a:r>
            <a:endParaRPr lang="en-US" sz="1300" dirty="0"/>
          </a:p>
        </p:txBody>
      </p:sp>
      <p:sp>
        <p:nvSpPr>
          <p:cNvPr id="126" name="Text 124"/>
          <p:cNvSpPr txBox="1"/>
          <p:nvPr/>
        </p:nvSpPr>
        <p:spPr>
          <a:xfrm>
            <a:off x="10552176" y="2884125"/>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$516K</a:t>
            </a:r>
            <a:endParaRPr lang="en-US" sz="1300" dirty="0"/>
          </a:p>
        </p:txBody>
      </p:sp>
      <p:sp>
        <p:nvSpPr>
          <p:cNvPr id="127" name="Text 125"/>
          <p:cNvSpPr txBox="1"/>
          <p:nvPr/>
        </p:nvSpPr>
        <p:spPr>
          <a:xfrm>
            <a:off x="6208776" y="3120793"/>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128" name="Shape 126"/>
          <p:cNvSpPr/>
          <p:nvPr/>
        </p:nvSpPr>
        <p:spPr>
          <a:xfrm>
            <a:off x="8220456" y="3174044"/>
            <a:ext cx="81778" cy="130168"/>
          </a:xfrm>
          <a:prstGeom prst="rect">
            <a:avLst/>
          </a:prstGeom>
          <a:solidFill>
            <a:srgbClr val="C2352F"/>
          </a:solidFill>
          <a:ln/>
        </p:spPr>
      </p:sp>
      <p:sp>
        <p:nvSpPr>
          <p:cNvPr id="129" name="Text 127"/>
          <p:cNvSpPr txBox="1"/>
          <p:nvPr/>
        </p:nvSpPr>
        <p:spPr>
          <a:xfrm>
            <a:off x="8897112" y="3120793"/>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4.2%</a:t>
            </a:r>
            <a:endParaRPr lang="en-US" sz="1300" dirty="0"/>
          </a:p>
        </p:txBody>
      </p:sp>
      <p:sp>
        <p:nvSpPr>
          <p:cNvPr id="130" name="Text 128"/>
          <p:cNvSpPr txBox="1"/>
          <p:nvPr/>
        </p:nvSpPr>
        <p:spPr>
          <a:xfrm>
            <a:off x="9683496" y="3120793"/>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$15K</a:t>
            </a:r>
            <a:endParaRPr lang="en-US" sz="1300" dirty="0"/>
          </a:p>
        </p:txBody>
      </p:sp>
      <p:sp>
        <p:nvSpPr>
          <p:cNvPr id="131" name="Text 129"/>
          <p:cNvSpPr txBox="1"/>
          <p:nvPr/>
        </p:nvSpPr>
        <p:spPr>
          <a:xfrm>
            <a:off x="10552176" y="3120793"/>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$357K</a:t>
            </a:r>
            <a:endParaRPr lang="en-US" sz="1300" dirty="0"/>
          </a:p>
        </p:txBody>
      </p:sp>
      <p:sp>
        <p:nvSpPr>
          <p:cNvPr id="132" name="Text 130"/>
          <p:cNvSpPr txBox="1"/>
          <p:nvPr/>
        </p:nvSpPr>
        <p:spPr>
          <a:xfrm>
            <a:off x="6208776" y="3357462"/>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133" name="Shape 131"/>
          <p:cNvSpPr/>
          <p:nvPr/>
        </p:nvSpPr>
        <p:spPr>
          <a:xfrm>
            <a:off x="8220456" y="3410712"/>
            <a:ext cx="79315" cy="130168"/>
          </a:xfrm>
          <a:prstGeom prst="rect">
            <a:avLst/>
          </a:prstGeom>
          <a:solidFill>
            <a:srgbClr val="C2352F"/>
          </a:solidFill>
          <a:ln/>
        </p:spPr>
      </p:sp>
      <p:sp>
        <p:nvSpPr>
          <p:cNvPr id="134" name="Text 132"/>
          <p:cNvSpPr txBox="1"/>
          <p:nvPr/>
        </p:nvSpPr>
        <p:spPr>
          <a:xfrm>
            <a:off x="8897112" y="3357462"/>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4.1%</a:t>
            </a:r>
            <a:endParaRPr lang="en-US" sz="1300" dirty="0"/>
          </a:p>
        </p:txBody>
      </p:sp>
      <p:sp>
        <p:nvSpPr>
          <p:cNvPr id="135" name="Text 133"/>
          <p:cNvSpPr txBox="1"/>
          <p:nvPr/>
        </p:nvSpPr>
        <p:spPr>
          <a:xfrm>
            <a:off x="9683496" y="3357462"/>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$44K</a:t>
            </a:r>
            <a:endParaRPr lang="en-US" sz="1300" dirty="0"/>
          </a:p>
        </p:txBody>
      </p:sp>
      <p:sp>
        <p:nvSpPr>
          <p:cNvPr id="136" name="Text 134"/>
          <p:cNvSpPr txBox="1"/>
          <p:nvPr/>
        </p:nvSpPr>
        <p:spPr>
          <a:xfrm>
            <a:off x="10552176" y="3357462"/>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$1.07M</a:t>
            </a:r>
            <a:endParaRPr lang="en-US" sz="1300" dirty="0"/>
          </a:p>
        </p:txBody>
      </p:sp>
      <p:sp>
        <p:nvSpPr>
          <p:cNvPr id="137" name="Text 135"/>
          <p:cNvSpPr txBox="1"/>
          <p:nvPr/>
        </p:nvSpPr>
        <p:spPr>
          <a:xfrm>
            <a:off x="6208776" y="3594130"/>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138" name="Shape 136"/>
          <p:cNvSpPr/>
          <p:nvPr/>
        </p:nvSpPr>
        <p:spPr>
          <a:xfrm>
            <a:off x="8220456" y="3647380"/>
            <a:ext cx="77721" cy="130168"/>
          </a:xfrm>
          <a:prstGeom prst="rect">
            <a:avLst/>
          </a:prstGeom>
          <a:solidFill>
            <a:srgbClr val="C2352F"/>
          </a:solidFill>
          <a:ln/>
        </p:spPr>
      </p:sp>
      <p:sp>
        <p:nvSpPr>
          <p:cNvPr id="139" name="Text 137"/>
          <p:cNvSpPr txBox="1"/>
          <p:nvPr/>
        </p:nvSpPr>
        <p:spPr>
          <a:xfrm>
            <a:off x="8897112" y="3594130"/>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4.0%</a:t>
            </a:r>
            <a:endParaRPr lang="en-US" sz="1300" dirty="0"/>
          </a:p>
        </p:txBody>
      </p:sp>
      <p:sp>
        <p:nvSpPr>
          <p:cNvPr id="140" name="Text 138"/>
          <p:cNvSpPr txBox="1"/>
          <p:nvPr/>
        </p:nvSpPr>
        <p:spPr>
          <a:xfrm>
            <a:off x="9683496" y="3594130"/>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$20K</a:t>
            </a:r>
            <a:endParaRPr lang="en-US" sz="1300" dirty="0"/>
          </a:p>
        </p:txBody>
      </p:sp>
      <p:sp>
        <p:nvSpPr>
          <p:cNvPr id="141" name="Text 139"/>
          <p:cNvSpPr txBox="1"/>
          <p:nvPr/>
        </p:nvSpPr>
        <p:spPr>
          <a:xfrm>
            <a:off x="10552176" y="3594130"/>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$504K</a:t>
            </a:r>
            <a:endParaRPr lang="en-US" sz="1300" dirty="0"/>
          </a:p>
        </p:txBody>
      </p:sp>
      <p:sp>
        <p:nvSpPr>
          <p:cNvPr id="142" name="Text 140"/>
          <p:cNvSpPr txBox="1"/>
          <p:nvPr/>
        </p:nvSpPr>
        <p:spPr>
          <a:xfrm>
            <a:off x="6208776" y="3830798"/>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143" name="Shape 141"/>
          <p:cNvSpPr/>
          <p:nvPr/>
        </p:nvSpPr>
        <p:spPr>
          <a:xfrm>
            <a:off x="8220456" y="3884048"/>
            <a:ext cx="56042" cy="130168"/>
          </a:xfrm>
          <a:prstGeom prst="rect">
            <a:avLst/>
          </a:prstGeom>
          <a:solidFill>
            <a:srgbClr val="C2352F"/>
          </a:solidFill>
          <a:ln/>
        </p:spPr>
      </p:sp>
      <p:sp>
        <p:nvSpPr>
          <p:cNvPr id="144" name="Text 142"/>
          <p:cNvSpPr txBox="1"/>
          <p:nvPr/>
        </p:nvSpPr>
        <p:spPr>
          <a:xfrm>
            <a:off x="8897112" y="3830798"/>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2.9%</a:t>
            </a:r>
            <a:endParaRPr lang="en-US" sz="1300" dirty="0"/>
          </a:p>
        </p:txBody>
      </p:sp>
      <p:sp>
        <p:nvSpPr>
          <p:cNvPr id="145" name="Text 143"/>
          <p:cNvSpPr txBox="1"/>
          <p:nvPr/>
        </p:nvSpPr>
        <p:spPr>
          <a:xfrm>
            <a:off x="9683496" y="3830798"/>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$70K</a:t>
            </a:r>
            <a:endParaRPr lang="en-US" sz="1300" dirty="0"/>
          </a:p>
        </p:txBody>
      </p:sp>
      <p:sp>
        <p:nvSpPr>
          <p:cNvPr id="146" name="Text 144"/>
          <p:cNvSpPr txBox="1"/>
          <p:nvPr/>
        </p:nvSpPr>
        <p:spPr>
          <a:xfrm>
            <a:off x="10552176" y="3830798"/>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$2.44M</a:t>
            </a:r>
            <a:endParaRPr lang="en-US" sz="1300" dirty="0"/>
          </a:p>
        </p:txBody>
      </p:sp>
      <p:sp>
        <p:nvSpPr>
          <p:cNvPr id="147" name="Text 145"/>
          <p:cNvSpPr txBox="1"/>
          <p:nvPr/>
        </p:nvSpPr>
        <p:spPr>
          <a:xfrm>
            <a:off x="6208776" y="4067466"/>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148" name="Shape 146"/>
          <p:cNvSpPr/>
          <p:nvPr/>
        </p:nvSpPr>
        <p:spPr>
          <a:xfrm>
            <a:off x="8220456" y="4120717"/>
            <a:ext cx="51888" cy="130168"/>
          </a:xfrm>
          <a:prstGeom prst="rect">
            <a:avLst/>
          </a:prstGeom>
          <a:solidFill>
            <a:srgbClr val="C2352F"/>
          </a:solidFill>
          <a:ln/>
        </p:spPr>
      </p:sp>
      <p:sp>
        <p:nvSpPr>
          <p:cNvPr id="149" name="Text 147"/>
          <p:cNvSpPr txBox="1"/>
          <p:nvPr/>
        </p:nvSpPr>
        <p:spPr>
          <a:xfrm>
            <a:off x="8897112" y="4067466"/>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2.7%</a:t>
            </a:r>
            <a:endParaRPr lang="en-US" sz="1300" dirty="0"/>
          </a:p>
        </p:txBody>
      </p:sp>
      <p:sp>
        <p:nvSpPr>
          <p:cNvPr id="150" name="Text 148"/>
          <p:cNvSpPr txBox="1"/>
          <p:nvPr/>
        </p:nvSpPr>
        <p:spPr>
          <a:xfrm>
            <a:off x="9683496" y="4067466"/>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$9K</a:t>
            </a:r>
            <a:endParaRPr lang="en-US" sz="1300" dirty="0"/>
          </a:p>
        </p:txBody>
      </p:sp>
      <p:sp>
        <p:nvSpPr>
          <p:cNvPr id="151" name="Text 149"/>
          <p:cNvSpPr txBox="1"/>
          <p:nvPr/>
        </p:nvSpPr>
        <p:spPr>
          <a:xfrm>
            <a:off x="10552176" y="4067466"/>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$322K</a:t>
            </a:r>
            <a:endParaRPr lang="en-US" sz="1300" dirty="0"/>
          </a:p>
        </p:txBody>
      </p:sp>
      <p:sp>
        <p:nvSpPr>
          <p:cNvPr id="152" name="Text 150"/>
          <p:cNvSpPr txBox="1"/>
          <p:nvPr/>
        </p:nvSpPr>
        <p:spPr>
          <a:xfrm>
            <a:off x="6208776" y="4304135"/>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153" name="Shape 151"/>
          <p:cNvSpPr/>
          <p:nvPr/>
        </p:nvSpPr>
        <p:spPr>
          <a:xfrm>
            <a:off x="8220456" y="4357385"/>
            <a:ext cx="37656" cy="130168"/>
          </a:xfrm>
          <a:prstGeom prst="rect">
            <a:avLst/>
          </a:prstGeom>
          <a:solidFill>
            <a:srgbClr val="C2352F"/>
          </a:solidFill>
          <a:ln/>
        </p:spPr>
      </p:sp>
      <p:sp>
        <p:nvSpPr>
          <p:cNvPr id="154" name="Text 152"/>
          <p:cNvSpPr txBox="1"/>
          <p:nvPr/>
        </p:nvSpPr>
        <p:spPr>
          <a:xfrm>
            <a:off x="8897112" y="4304135"/>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1.9%</a:t>
            </a:r>
            <a:endParaRPr lang="en-US" sz="1300" dirty="0"/>
          </a:p>
        </p:txBody>
      </p:sp>
      <p:sp>
        <p:nvSpPr>
          <p:cNvPr id="155" name="Text 153"/>
          <p:cNvSpPr txBox="1"/>
          <p:nvPr/>
        </p:nvSpPr>
        <p:spPr>
          <a:xfrm>
            <a:off x="9683496" y="4304135"/>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$10K</a:t>
            </a:r>
            <a:endParaRPr lang="en-US" sz="1300" dirty="0"/>
          </a:p>
        </p:txBody>
      </p:sp>
      <p:sp>
        <p:nvSpPr>
          <p:cNvPr id="156" name="Text 154"/>
          <p:cNvSpPr txBox="1"/>
          <p:nvPr/>
        </p:nvSpPr>
        <p:spPr>
          <a:xfrm>
            <a:off x="10552176" y="4304135"/>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$542K</a:t>
            </a:r>
            <a:endParaRPr lang="en-US" sz="1300" dirty="0"/>
          </a:p>
        </p:txBody>
      </p:sp>
      <p:sp>
        <p:nvSpPr>
          <p:cNvPr id="157" name="Text 155"/>
          <p:cNvSpPr txBox="1"/>
          <p:nvPr/>
        </p:nvSpPr>
        <p:spPr>
          <a:xfrm>
            <a:off x="6208776" y="4540803"/>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158" name="Shape 156"/>
          <p:cNvSpPr/>
          <p:nvPr/>
        </p:nvSpPr>
        <p:spPr>
          <a:xfrm>
            <a:off x="8220456" y="4594053"/>
            <a:ext cx="36383" cy="130168"/>
          </a:xfrm>
          <a:prstGeom prst="rect">
            <a:avLst/>
          </a:prstGeom>
          <a:solidFill>
            <a:srgbClr val="C2352F"/>
          </a:solidFill>
          <a:ln/>
        </p:spPr>
      </p:sp>
      <p:sp>
        <p:nvSpPr>
          <p:cNvPr id="159" name="Text 157"/>
          <p:cNvSpPr txBox="1"/>
          <p:nvPr/>
        </p:nvSpPr>
        <p:spPr>
          <a:xfrm>
            <a:off x="8897112" y="4540803"/>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1.9%</a:t>
            </a:r>
            <a:endParaRPr lang="en-US" sz="1300" dirty="0"/>
          </a:p>
        </p:txBody>
      </p:sp>
      <p:sp>
        <p:nvSpPr>
          <p:cNvPr id="160" name="Text 158"/>
          <p:cNvSpPr txBox="1"/>
          <p:nvPr/>
        </p:nvSpPr>
        <p:spPr>
          <a:xfrm>
            <a:off x="9683496" y="4540803"/>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$11K</a:t>
            </a:r>
            <a:endParaRPr lang="en-US" sz="1300" dirty="0"/>
          </a:p>
        </p:txBody>
      </p:sp>
      <p:sp>
        <p:nvSpPr>
          <p:cNvPr id="161" name="Text 159"/>
          <p:cNvSpPr txBox="1"/>
          <p:nvPr/>
        </p:nvSpPr>
        <p:spPr>
          <a:xfrm>
            <a:off x="10552176" y="4540803"/>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$609K</a:t>
            </a:r>
            <a:endParaRPr lang="en-US" sz="1300" dirty="0"/>
          </a:p>
        </p:txBody>
      </p:sp>
      <p:sp>
        <p:nvSpPr>
          <p:cNvPr id="162" name="Text 160"/>
          <p:cNvSpPr txBox="1"/>
          <p:nvPr/>
        </p:nvSpPr>
        <p:spPr>
          <a:xfrm>
            <a:off x="6208776" y="4777471"/>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163" name="Shape 161"/>
          <p:cNvSpPr/>
          <p:nvPr/>
        </p:nvSpPr>
        <p:spPr>
          <a:xfrm>
            <a:off x="8220456" y="4830721"/>
            <a:ext cx="26547" cy="130168"/>
          </a:xfrm>
          <a:prstGeom prst="rect">
            <a:avLst/>
          </a:prstGeom>
          <a:solidFill>
            <a:srgbClr val="C2352F"/>
          </a:solidFill>
          <a:ln/>
        </p:spPr>
      </p:sp>
      <p:sp>
        <p:nvSpPr>
          <p:cNvPr id="164" name="Text 162"/>
          <p:cNvSpPr txBox="1"/>
          <p:nvPr/>
        </p:nvSpPr>
        <p:spPr>
          <a:xfrm>
            <a:off x="8897112" y="4777471"/>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1.4%</a:t>
            </a:r>
            <a:endParaRPr lang="en-US" sz="1300" dirty="0"/>
          </a:p>
        </p:txBody>
      </p:sp>
      <p:sp>
        <p:nvSpPr>
          <p:cNvPr id="165" name="Text 163"/>
          <p:cNvSpPr txBox="1"/>
          <p:nvPr/>
        </p:nvSpPr>
        <p:spPr>
          <a:xfrm>
            <a:off x="9683496" y="4777471"/>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$13K</a:t>
            </a:r>
            <a:endParaRPr lang="en-US" sz="1300" dirty="0"/>
          </a:p>
        </p:txBody>
      </p:sp>
      <p:sp>
        <p:nvSpPr>
          <p:cNvPr id="166" name="Text 164"/>
          <p:cNvSpPr txBox="1"/>
          <p:nvPr/>
        </p:nvSpPr>
        <p:spPr>
          <a:xfrm>
            <a:off x="10552176" y="4777471"/>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$949K</a:t>
            </a:r>
            <a:endParaRPr lang="en-US" sz="1300" dirty="0"/>
          </a:p>
        </p:txBody>
      </p:sp>
      <p:sp>
        <p:nvSpPr>
          <p:cNvPr id="167" name="Text 165"/>
          <p:cNvSpPr txBox="1"/>
          <p:nvPr/>
        </p:nvSpPr>
        <p:spPr>
          <a:xfrm>
            <a:off x="6208776" y="5014139"/>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168" name="Shape 166"/>
          <p:cNvSpPr/>
          <p:nvPr/>
        </p:nvSpPr>
        <p:spPr>
          <a:xfrm>
            <a:off x="8220456" y="5067390"/>
            <a:ext cx="18288" cy="130168"/>
          </a:xfrm>
          <a:prstGeom prst="rect">
            <a:avLst/>
          </a:prstGeom>
          <a:solidFill>
            <a:srgbClr val="C2352F"/>
          </a:solidFill>
          <a:ln/>
        </p:spPr>
      </p:sp>
      <p:sp>
        <p:nvSpPr>
          <p:cNvPr id="169" name="Text 167"/>
          <p:cNvSpPr txBox="1"/>
          <p:nvPr/>
        </p:nvSpPr>
        <p:spPr>
          <a:xfrm>
            <a:off x="8897112" y="5014139"/>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0.8%</a:t>
            </a:r>
            <a:endParaRPr lang="en-US" sz="1300" dirty="0"/>
          </a:p>
        </p:txBody>
      </p:sp>
      <p:sp>
        <p:nvSpPr>
          <p:cNvPr id="170" name="Text 168"/>
          <p:cNvSpPr txBox="1"/>
          <p:nvPr/>
        </p:nvSpPr>
        <p:spPr>
          <a:xfrm>
            <a:off x="9683496" y="5014139"/>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$13K</a:t>
            </a:r>
            <a:endParaRPr lang="en-US" sz="1300" dirty="0"/>
          </a:p>
        </p:txBody>
      </p:sp>
      <p:sp>
        <p:nvSpPr>
          <p:cNvPr id="171" name="Text 169"/>
          <p:cNvSpPr txBox="1"/>
          <p:nvPr/>
        </p:nvSpPr>
        <p:spPr>
          <a:xfrm>
            <a:off x="10552176" y="5014139"/>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$1.54M</a:t>
            </a:r>
            <a:endParaRPr lang="en-US" sz="1300" dirty="0"/>
          </a:p>
        </p:txBody>
      </p:sp>
      <p:sp>
        <p:nvSpPr>
          <p:cNvPr id="172" name="Text 170"/>
          <p:cNvSpPr txBox="1"/>
          <p:nvPr/>
        </p:nvSpPr>
        <p:spPr>
          <a:xfrm>
            <a:off x="6208776" y="5250808"/>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173" name="Shape 171"/>
          <p:cNvSpPr/>
          <p:nvPr/>
        </p:nvSpPr>
        <p:spPr>
          <a:xfrm>
            <a:off x="8220456" y="5304058"/>
            <a:ext cx="18288" cy="130168"/>
          </a:xfrm>
          <a:prstGeom prst="rect">
            <a:avLst/>
          </a:prstGeom>
          <a:solidFill>
            <a:srgbClr val="C2352F"/>
          </a:solidFill>
          <a:ln/>
        </p:spPr>
      </p:sp>
      <p:sp>
        <p:nvSpPr>
          <p:cNvPr id="174" name="Text 172"/>
          <p:cNvSpPr txBox="1"/>
          <p:nvPr/>
        </p:nvSpPr>
        <p:spPr>
          <a:xfrm>
            <a:off x="8897112" y="5250808"/>
            <a:ext cx="786384" cy="23666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0.2%</a:t>
            </a:r>
            <a:endParaRPr lang="en-US" sz="1300" dirty="0"/>
          </a:p>
        </p:txBody>
      </p:sp>
      <p:sp>
        <p:nvSpPr>
          <p:cNvPr id="175" name="Text 173"/>
          <p:cNvSpPr txBox="1"/>
          <p:nvPr/>
        </p:nvSpPr>
        <p:spPr>
          <a:xfrm>
            <a:off x="9683496" y="5250808"/>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$1K</a:t>
            </a:r>
            <a:endParaRPr lang="en-US" sz="1300" dirty="0"/>
          </a:p>
        </p:txBody>
      </p:sp>
      <p:sp>
        <p:nvSpPr>
          <p:cNvPr id="176" name="Text 174"/>
          <p:cNvSpPr txBox="1"/>
          <p:nvPr/>
        </p:nvSpPr>
        <p:spPr>
          <a:xfrm>
            <a:off x="10552176" y="5250808"/>
            <a:ext cx="868680"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$453K</a:t>
            </a:r>
            <a:endParaRPr lang="en-US" sz="1300" dirty="0"/>
          </a:p>
        </p:txBody>
      </p:sp>
      <p:sp>
        <p:nvSpPr>
          <p:cNvPr id="177" name="Shape 175"/>
          <p:cNvSpPr/>
          <p:nvPr/>
        </p:nvSpPr>
        <p:spPr>
          <a:xfrm>
            <a:off x="457200" y="5961888"/>
            <a:ext cx="11274552" cy="548640"/>
          </a:xfrm>
          <a:prstGeom prst="rect">
            <a:avLst/>
          </a:prstGeom>
          <a:solidFill>
            <a:srgbClr val="FBEBEA"/>
          </a:solidFill>
          <a:ln/>
        </p:spPr>
      </p:sp>
      <p:sp>
        <p:nvSpPr>
          <p:cNvPr id="178" name="Text 176"/>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Group-wide the gap is 8.1% of RO gross. 5 stores are missing a fifth or more, led by HYUNDAI ST GEORGE at 32% ($88K of $277K a month).</a:t>
            </a:r>
            <a:endParaRPr lang="en-US" sz="1600" dirty="0"/>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Your Best Techs Prove It</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Shape 4"/>
          <p:cNvSpPr/>
          <p:nvPr/>
        </p:nvSpPr>
        <p:spPr>
          <a:xfrm>
            <a:off x="658368" y="1371600"/>
            <a:ext cx="182880" cy="182880"/>
          </a:xfrm>
          <a:prstGeom prst="ellipse">
            <a:avLst/>
          </a:prstGeom>
          <a:solidFill>
            <a:srgbClr val="C2352F"/>
          </a:solidFill>
          <a:ln/>
        </p:spPr>
      </p:sp>
      <p:sp>
        <p:nvSpPr>
          <p:cNvPr id="7" name="Text 5"/>
          <p:cNvSpPr txBox="1"/>
          <p:nvPr/>
        </p:nvSpPr>
        <p:spPr>
          <a:xfrm>
            <a:off x="932688" y="1298448"/>
            <a:ext cx="5120640"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Store proficiency (green at or above 85%)</a:t>
            </a:r>
            <a:endParaRPr lang="en-US" sz="1400" dirty="0"/>
          </a:p>
        </p:txBody>
      </p:sp>
      <p:sp>
        <p:nvSpPr>
          <p:cNvPr id="8" name="Shape 6"/>
          <p:cNvSpPr/>
          <p:nvPr/>
        </p:nvSpPr>
        <p:spPr>
          <a:xfrm>
            <a:off x="6208776" y="1371600"/>
            <a:ext cx="182880" cy="182880"/>
          </a:xfrm>
          <a:prstGeom prst="ellipse">
            <a:avLst/>
          </a:prstGeom>
          <a:solidFill>
            <a:srgbClr val="0B2C4A"/>
          </a:solidFill>
          <a:ln/>
        </p:spPr>
      </p:sp>
      <p:sp>
        <p:nvSpPr>
          <p:cNvPr id="9" name="Text 7"/>
          <p:cNvSpPr txBox="1"/>
          <p:nvPr/>
        </p:nvSpPr>
        <p:spPr>
          <a:xfrm>
            <a:off x="6483096" y="1298448"/>
            <a:ext cx="5120640"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Top quarter of that store's techs</a:t>
            </a:r>
            <a:endParaRPr lang="en-US" sz="1400" dirty="0"/>
          </a:p>
        </p:txBody>
      </p:sp>
      <p:sp>
        <p:nvSpPr>
          <p:cNvPr id="10" name="Shape 8"/>
          <p:cNvSpPr/>
          <p:nvPr/>
        </p:nvSpPr>
        <p:spPr>
          <a:xfrm>
            <a:off x="3099359" y="1737360"/>
            <a:ext cx="14630" cy="3986784"/>
          </a:xfrm>
          <a:prstGeom prst="rect">
            <a:avLst/>
          </a:prstGeom>
          <a:solidFill>
            <a:srgbClr val="9AA3AD"/>
          </a:solidFill>
          <a:ln/>
        </p:spPr>
      </p:sp>
      <p:sp>
        <p:nvSpPr>
          <p:cNvPr id="11" name="Shape 9"/>
          <p:cNvSpPr/>
          <p:nvPr/>
        </p:nvSpPr>
        <p:spPr>
          <a:xfrm>
            <a:off x="8649767" y="1737360"/>
            <a:ext cx="14630" cy="3752267"/>
          </a:xfrm>
          <a:prstGeom prst="rect">
            <a:avLst/>
          </a:prstGeom>
          <a:solidFill>
            <a:srgbClr val="9AA3AD"/>
          </a:solidFill>
          <a:ln/>
        </p:spPr>
      </p:sp>
      <p:sp>
        <p:nvSpPr>
          <p:cNvPr id="12" name="Text 10"/>
          <p:cNvSpPr txBox="1"/>
          <p:nvPr/>
        </p:nvSpPr>
        <p:spPr>
          <a:xfrm>
            <a:off x="658368" y="1737360"/>
            <a:ext cx="1938528" cy="234517"/>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13" name="Shape 11"/>
          <p:cNvSpPr/>
          <p:nvPr/>
        </p:nvSpPr>
        <p:spPr>
          <a:xfrm>
            <a:off x="3507248" y="1840902"/>
            <a:ext cx="645269" cy="27432"/>
          </a:xfrm>
          <a:prstGeom prst="rect">
            <a:avLst/>
          </a:prstGeom>
          <a:solidFill>
            <a:srgbClr val="D9D9D9"/>
          </a:solidFill>
          <a:ln/>
        </p:spPr>
      </p:sp>
      <p:sp>
        <p:nvSpPr>
          <p:cNvPr id="14" name="Shape 12"/>
          <p:cNvSpPr/>
          <p:nvPr/>
        </p:nvSpPr>
        <p:spPr>
          <a:xfrm>
            <a:off x="4074793" y="1776894"/>
            <a:ext cx="155448" cy="155448"/>
          </a:xfrm>
          <a:prstGeom prst="ellipse">
            <a:avLst/>
          </a:prstGeom>
          <a:solidFill>
            <a:srgbClr val="0B2C4A"/>
          </a:solidFill>
          <a:ln/>
        </p:spPr>
      </p:sp>
      <p:sp>
        <p:nvSpPr>
          <p:cNvPr id="15" name="Shape 13"/>
          <p:cNvSpPr/>
          <p:nvPr/>
        </p:nvSpPr>
        <p:spPr>
          <a:xfrm>
            <a:off x="3429524" y="1776894"/>
            <a:ext cx="155448" cy="155448"/>
          </a:xfrm>
          <a:prstGeom prst="ellipse">
            <a:avLst/>
          </a:prstGeom>
          <a:solidFill>
            <a:srgbClr val="12A566"/>
          </a:solidFill>
          <a:ln/>
        </p:spPr>
      </p:sp>
      <p:sp>
        <p:nvSpPr>
          <p:cNvPr id="16" name="Text 14"/>
          <p:cNvSpPr txBox="1"/>
          <p:nvPr/>
        </p:nvSpPr>
        <p:spPr>
          <a:xfrm>
            <a:off x="4498848" y="1737360"/>
            <a:ext cx="1325880" cy="234517"/>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119%</a:t>
            </a:r>
            <a:pPr algn="r" indent="0" marL="0">
              <a:buNone/>
            </a:pPr>
            <a:r>
              <a:rPr lang="en-US" sz="1300" dirty="0">
                <a:solidFill>
                  <a:srgbClr val="0B2C4A"/>
                </a:solidFill>
                <a:latin typeface="Inter" pitchFamily="34" charset="0"/>
                <a:ea typeface="Inter" pitchFamily="34" charset="-122"/>
                <a:cs typeface="Inter" pitchFamily="34" charset="-120"/>
              </a:rPr>
              <a:t>  172%</a:t>
            </a:r>
            <a:endParaRPr lang="en-US" sz="1300" dirty="0"/>
          </a:p>
        </p:txBody>
      </p:sp>
      <p:sp>
        <p:nvSpPr>
          <p:cNvPr id="17" name="Text 15"/>
          <p:cNvSpPr txBox="1"/>
          <p:nvPr/>
        </p:nvSpPr>
        <p:spPr>
          <a:xfrm>
            <a:off x="658368" y="1971877"/>
            <a:ext cx="1938528" cy="234517"/>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18" name="Shape 16"/>
          <p:cNvSpPr/>
          <p:nvPr/>
        </p:nvSpPr>
        <p:spPr>
          <a:xfrm>
            <a:off x="3491377" y="2075419"/>
            <a:ext cx="870311" cy="27432"/>
          </a:xfrm>
          <a:prstGeom prst="rect">
            <a:avLst/>
          </a:prstGeom>
          <a:solidFill>
            <a:srgbClr val="D9D9D9"/>
          </a:solidFill>
          <a:ln/>
        </p:spPr>
      </p:sp>
      <p:sp>
        <p:nvSpPr>
          <p:cNvPr id="19" name="Shape 17"/>
          <p:cNvSpPr/>
          <p:nvPr/>
        </p:nvSpPr>
        <p:spPr>
          <a:xfrm>
            <a:off x="4283964" y="2011411"/>
            <a:ext cx="155448" cy="155448"/>
          </a:xfrm>
          <a:prstGeom prst="ellipse">
            <a:avLst/>
          </a:prstGeom>
          <a:solidFill>
            <a:srgbClr val="0B2C4A"/>
          </a:solidFill>
          <a:ln/>
        </p:spPr>
      </p:sp>
      <p:sp>
        <p:nvSpPr>
          <p:cNvPr id="20" name="Shape 18"/>
          <p:cNvSpPr/>
          <p:nvPr/>
        </p:nvSpPr>
        <p:spPr>
          <a:xfrm>
            <a:off x="3413653" y="2011411"/>
            <a:ext cx="155448" cy="155448"/>
          </a:xfrm>
          <a:prstGeom prst="ellipse">
            <a:avLst/>
          </a:prstGeom>
          <a:solidFill>
            <a:srgbClr val="12A566"/>
          </a:solidFill>
          <a:ln/>
        </p:spPr>
      </p:sp>
      <p:sp>
        <p:nvSpPr>
          <p:cNvPr id="21" name="Text 19"/>
          <p:cNvSpPr txBox="1"/>
          <p:nvPr/>
        </p:nvSpPr>
        <p:spPr>
          <a:xfrm>
            <a:off x="4498848" y="1971877"/>
            <a:ext cx="1325880" cy="234517"/>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117%</a:t>
            </a:r>
            <a:pPr algn="r" indent="0" marL="0">
              <a:buNone/>
            </a:pPr>
            <a:r>
              <a:rPr lang="en-US" sz="1300" dirty="0">
                <a:solidFill>
                  <a:srgbClr val="0B2C4A"/>
                </a:solidFill>
                <a:latin typeface="Inter" pitchFamily="34" charset="0"/>
                <a:ea typeface="Inter" pitchFamily="34" charset="-122"/>
                <a:cs typeface="Inter" pitchFamily="34" charset="-120"/>
              </a:rPr>
              <a:t>  194%</a:t>
            </a:r>
            <a:endParaRPr lang="en-US" sz="1300" dirty="0"/>
          </a:p>
        </p:txBody>
      </p:sp>
      <p:sp>
        <p:nvSpPr>
          <p:cNvPr id="22" name="Text 20"/>
          <p:cNvSpPr txBox="1"/>
          <p:nvPr/>
        </p:nvSpPr>
        <p:spPr>
          <a:xfrm>
            <a:off x="658368" y="2206393"/>
            <a:ext cx="1938528" cy="234517"/>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23" name="Shape 21"/>
          <p:cNvSpPr/>
          <p:nvPr/>
        </p:nvSpPr>
        <p:spPr>
          <a:xfrm>
            <a:off x="3402985" y="2309936"/>
            <a:ext cx="434135" cy="27432"/>
          </a:xfrm>
          <a:prstGeom prst="rect">
            <a:avLst/>
          </a:prstGeom>
          <a:solidFill>
            <a:srgbClr val="D9D9D9"/>
          </a:solidFill>
          <a:ln/>
        </p:spPr>
      </p:sp>
      <p:sp>
        <p:nvSpPr>
          <p:cNvPr id="24" name="Shape 22"/>
          <p:cNvSpPr/>
          <p:nvPr/>
        </p:nvSpPr>
        <p:spPr>
          <a:xfrm>
            <a:off x="3759396" y="2245928"/>
            <a:ext cx="155448" cy="155448"/>
          </a:xfrm>
          <a:prstGeom prst="ellipse">
            <a:avLst/>
          </a:prstGeom>
          <a:solidFill>
            <a:srgbClr val="0B2C4A"/>
          </a:solidFill>
          <a:ln/>
        </p:spPr>
      </p:sp>
      <p:sp>
        <p:nvSpPr>
          <p:cNvPr id="25" name="Shape 23"/>
          <p:cNvSpPr/>
          <p:nvPr/>
        </p:nvSpPr>
        <p:spPr>
          <a:xfrm>
            <a:off x="3325261" y="2245928"/>
            <a:ext cx="155448" cy="155448"/>
          </a:xfrm>
          <a:prstGeom prst="ellipse">
            <a:avLst/>
          </a:prstGeom>
          <a:solidFill>
            <a:srgbClr val="12A566"/>
          </a:solidFill>
          <a:ln/>
        </p:spPr>
      </p:sp>
      <p:sp>
        <p:nvSpPr>
          <p:cNvPr id="26" name="Text 24"/>
          <p:cNvSpPr txBox="1"/>
          <p:nvPr/>
        </p:nvSpPr>
        <p:spPr>
          <a:xfrm>
            <a:off x="4498848" y="2206393"/>
            <a:ext cx="1325880" cy="234517"/>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110%</a:t>
            </a:r>
            <a:pPr algn="r" indent="0" marL="0">
              <a:buNone/>
            </a:pPr>
            <a:r>
              <a:rPr lang="en-US" sz="1300" dirty="0">
                <a:solidFill>
                  <a:srgbClr val="0B2C4A"/>
                </a:solidFill>
                <a:latin typeface="Inter" pitchFamily="34" charset="0"/>
                <a:ea typeface="Inter" pitchFamily="34" charset="-122"/>
                <a:cs typeface="Inter" pitchFamily="34" charset="-120"/>
              </a:rPr>
              <a:t>  146%</a:t>
            </a:r>
            <a:endParaRPr lang="en-US" sz="1300" dirty="0"/>
          </a:p>
        </p:txBody>
      </p:sp>
      <p:sp>
        <p:nvSpPr>
          <p:cNvPr id="27" name="Text 25"/>
          <p:cNvSpPr txBox="1"/>
          <p:nvPr/>
        </p:nvSpPr>
        <p:spPr>
          <a:xfrm>
            <a:off x="658368" y="2440910"/>
            <a:ext cx="1938528" cy="234517"/>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28" name="Shape 26"/>
          <p:cNvSpPr/>
          <p:nvPr/>
        </p:nvSpPr>
        <p:spPr>
          <a:xfrm>
            <a:off x="3397238" y="2544452"/>
            <a:ext cx="510500" cy="27432"/>
          </a:xfrm>
          <a:prstGeom prst="rect">
            <a:avLst/>
          </a:prstGeom>
          <a:solidFill>
            <a:srgbClr val="D9D9D9"/>
          </a:solidFill>
          <a:ln/>
        </p:spPr>
      </p:sp>
      <p:sp>
        <p:nvSpPr>
          <p:cNvPr id="29" name="Shape 27"/>
          <p:cNvSpPr/>
          <p:nvPr/>
        </p:nvSpPr>
        <p:spPr>
          <a:xfrm>
            <a:off x="3830014" y="2480444"/>
            <a:ext cx="155448" cy="155448"/>
          </a:xfrm>
          <a:prstGeom prst="ellipse">
            <a:avLst/>
          </a:prstGeom>
          <a:solidFill>
            <a:srgbClr val="0B2C4A"/>
          </a:solidFill>
          <a:ln/>
        </p:spPr>
      </p:sp>
      <p:sp>
        <p:nvSpPr>
          <p:cNvPr id="30" name="Shape 28"/>
          <p:cNvSpPr/>
          <p:nvPr/>
        </p:nvSpPr>
        <p:spPr>
          <a:xfrm>
            <a:off x="3319514" y="2480444"/>
            <a:ext cx="155448" cy="155448"/>
          </a:xfrm>
          <a:prstGeom prst="ellipse">
            <a:avLst/>
          </a:prstGeom>
          <a:solidFill>
            <a:srgbClr val="12A566"/>
          </a:solidFill>
          <a:ln/>
        </p:spPr>
      </p:sp>
      <p:sp>
        <p:nvSpPr>
          <p:cNvPr id="31" name="Text 29"/>
          <p:cNvSpPr txBox="1"/>
          <p:nvPr/>
        </p:nvSpPr>
        <p:spPr>
          <a:xfrm>
            <a:off x="4498848" y="2440910"/>
            <a:ext cx="1325880" cy="234517"/>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109%</a:t>
            </a:r>
            <a:pPr algn="r" indent="0" marL="0">
              <a:buNone/>
            </a:pPr>
            <a:r>
              <a:rPr lang="en-US" sz="1300" dirty="0">
                <a:solidFill>
                  <a:srgbClr val="0B2C4A"/>
                </a:solidFill>
                <a:latin typeface="Inter" pitchFamily="34" charset="0"/>
                <a:ea typeface="Inter" pitchFamily="34" charset="-122"/>
                <a:cs typeface="Inter" pitchFamily="34" charset="-120"/>
              </a:rPr>
              <a:t>  152%</a:t>
            </a:r>
            <a:endParaRPr lang="en-US" sz="1300" dirty="0"/>
          </a:p>
        </p:txBody>
      </p:sp>
      <p:sp>
        <p:nvSpPr>
          <p:cNvPr id="32" name="Text 30"/>
          <p:cNvSpPr txBox="1"/>
          <p:nvPr/>
        </p:nvSpPr>
        <p:spPr>
          <a:xfrm>
            <a:off x="658368" y="2675427"/>
            <a:ext cx="1938528" cy="234517"/>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33" name="Shape 31"/>
          <p:cNvSpPr/>
          <p:nvPr/>
        </p:nvSpPr>
        <p:spPr>
          <a:xfrm>
            <a:off x="3394584" y="2778969"/>
            <a:ext cx="248054" cy="27432"/>
          </a:xfrm>
          <a:prstGeom prst="rect">
            <a:avLst/>
          </a:prstGeom>
          <a:solidFill>
            <a:srgbClr val="D9D9D9"/>
          </a:solidFill>
          <a:ln/>
        </p:spPr>
      </p:sp>
      <p:sp>
        <p:nvSpPr>
          <p:cNvPr id="34" name="Shape 32"/>
          <p:cNvSpPr/>
          <p:nvPr/>
        </p:nvSpPr>
        <p:spPr>
          <a:xfrm>
            <a:off x="3564914" y="2714961"/>
            <a:ext cx="155448" cy="155448"/>
          </a:xfrm>
          <a:prstGeom prst="ellipse">
            <a:avLst/>
          </a:prstGeom>
          <a:solidFill>
            <a:srgbClr val="0B2C4A"/>
          </a:solidFill>
          <a:ln/>
        </p:spPr>
      </p:sp>
      <p:sp>
        <p:nvSpPr>
          <p:cNvPr id="35" name="Shape 33"/>
          <p:cNvSpPr/>
          <p:nvPr/>
        </p:nvSpPr>
        <p:spPr>
          <a:xfrm>
            <a:off x="3316860" y="2714961"/>
            <a:ext cx="155448" cy="155448"/>
          </a:xfrm>
          <a:prstGeom prst="ellipse">
            <a:avLst/>
          </a:prstGeom>
          <a:solidFill>
            <a:srgbClr val="12A566"/>
          </a:solidFill>
          <a:ln/>
        </p:spPr>
      </p:sp>
      <p:sp>
        <p:nvSpPr>
          <p:cNvPr id="36" name="Text 34"/>
          <p:cNvSpPr txBox="1"/>
          <p:nvPr/>
        </p:nvSpPr>
        <p:spPr>
          <a:xfrm>
            <a:off x="4498848" y="2675427"/>
            <a:ext cx="1325880" cy="234517"/>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109%</a:t>
            </a:r>
            <a:pPr algn="r" indent="0" marL="0">
              <a:buNone/>
            </a:pPr>
            <a:r>
              <a:rPr lang="en-US" sz="1300" dirty="0">
                <a:solidFill>
                  <a:srgbClr val="0B2C4A"/>
                </a:solidFill>
                <a:latin typeface="Inter" pitchFamily="34" charset="0"/>
                <a:ea typeface="Inter" pitchFamily="34" charset="-122"/>
                <a:cs typeface="Inter" pitchFamily="34" charset="-120"/>
              </a:rPr>
              <a:t>  130%</a:t>
            </a:r>
            <a:endParaRPr lang="en-US" sz="1300" dirty="0"/>
          </a:p>
        </p:txBody>
      </p:sp>
      <p:sp>
        <p:nvSpPr>
          <p:cNvPr id="37" name="Text 35"/>
          <p:cNvSpPr txBox="1"/>
          <p:nvPr/>
        </p:nvSpPr>
        <p:spPr>
          <a:xfrm>
            <a:off x="658368" y="2909944"/>
            <a:ext cx="1938528" cy="234517"/>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38" name="Shape 36"/>
          <p:cNvSpPr/>
          <p:nvPr/>
        </p:nvSpPr>
        <p:spPr>
          <a:xfrm>
            <a:off x="3381966" y="3013486"/>
            <a:ext cx="305207" cy="27432"/>
          </a:xfrm>
          <a:prstGeom prst="rect">
            <a:avLst/>
          </a:prstGeom>
          <a:solidFill>
            <a:srgbClr val="D9D9D9"/>
          </a:solidFill>
          <a:ln/>
        </p:spPr>
      </p:sp>
      <p:sp>
        <p:nvSpPr>
          <p:cNvPr id="39" name="Shape 37"/>
          <p:cNvSpPr/>
          <p:nvPr/>
        </p:nvSpPr>
        <p:spPr>
          <a:xfrm>
            <a:off x="3609449" y="2949478"/>
            <a:ext cx="155448" cy="155448"/>
          </a:xfrm>
          <a:prstGeom prst="ellipse">
            <a:avLst/>
          </a:prstGeom>
          <a:solidFill>
            <a:srgbClr val="0B2C4A"/>
          </a:solidFill>
          <a:ln/>
        </p:spPr>
      </p:sp>
      <p:sp>
        <p:nvSpPr>
          <p:cNvPr id="40" name="Shape 38"/>
          <p:cNvSpPr/>
          <p:nvPr/>
        </p:nvSpPr>
        <p:spPr>
          <a:xfrm>
            <a:off x="3304242" y="2949478"/>
            <a:ext cx="155448" cy="155448"/>
          </a:xfrm>
          <a:prstGeom prst="ellipse">
            <a:avLst/>
          </a:prstGeom>
          <a:solidFill>
            <a:srgbClr val="12A566"/>
          </a:solidFill>
          <a:ln/>
        </p:spPr>
      </p:sp>
      <p:sp>
        <p:nvSpPr>
          <p:cNvPr id="41" name="Text 39"/>
          <p:cNvSpPr txBox="1"/>
          <p:nvPr/>
        </p:nvSpPr>
        <p:spPr>
          <a:xfrm>
            <a:off x="4498848" y="2909944"/>
            <a:ext cx="1325880" cy="234517"/>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108%</a:t>
            </a:r>
            <a:pPr algn="r" indent="0" marL="0">
              <a:buNone/>
            </a:pPr>
            <a:r>
              <a:rPr lang="en-US" sz="1300" dirty="0">
                <a:solidFill>
                  <a:srgbClr val="0B2C4A"/>
                </a:solidFill>
                <a:latin typeface="Inter" pitchFamily="34" charset="0"/>
                <a:ea typeface="Inter" pitchFamily="34" charset="-122"/>
                <a:cs typeface="Inter" pitchFamily="34" charset="-120"/>
              </a:rPr>
              <a:t>  134%</a:t>
            </a:r>
            <a:endParaRPr lang="en-US" sz="1300" dirty="0"/>
          </a:p>
        </p:txBody>
      </p:sp>
      <p:sp>
        <p:nvSpPr>
          <p:cNvPr id="42" name="Text 40"/>
          <p:cNvSpPr txBox="1"/>
          <p:nvPr/>
        </p:nvSpPr>
        <p:spPr>
          <a:xfrm>
            <a:off x="658368" y="3144460"/>
            <a:ext cx="1938528" cy="234517"/>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43" name="Shape 41"/>
          <p:cNvSpPr/>
          <p:nvPr/>
        </p:nvSpPr>
        <p:spPr>
          <a:xfrm>
            <a:off x="3358657" y="3248003"/>
            <a:ext cx="461897" cy="27432"/>
          </a:xfrm>
          <a:prstGeom prst="rect">
            <a:avLst/>
          </a:prstGeom>
          <a:solidFill>
            <a:srgbClr val="D9D9D9"/>
          </a:solidFill>
          <a:ln/>
        </p:spPr>
      </p:sp>
      <p:sp>
        <p:nvSpPr>
          <p:cNvPr id="44" name="Shape 42"/>
          <p:cNvSpPr/>
          <p:nvPr/>
        </p:nvSpPr>
        <p:spPr>
          <a:xfrm>
            <a:off x="3742830" y="3183995"/>
            <a:ext cx="155448" cy="155448"/>
          </a:xfrm>
          <a:prstGeom prst="ellipse">
            <a:avLst/>
          </a:prstGeom>
          <a:solidFill>
            <a:srgbClr val="0B2C4A"/>
          </a:solidFill>
          <a:ln/>
        </p:spPr>
      </p:sp>
      <p:sp>
        <p:nvSpPr>
          <p:cNvPr id="45" name="Shape 43"/>
          <p:cNvSpPr/>
          <p:nvPr/>
        </p:nvSpPr>
        <p:spPr>
          <a:xfrm>
            <a:off x="3280933" y="3183995"/>
            <a:ext cx="155448" cy="155448"/>
          </a:xfrm>
          <a:prstGeom prst="ellipse">
            <a:avLst/>
          </a:prstGeom>
          <a:solidFill>
            <a:srgbClr val="12A566"/>
          </a:solidFill>
          <a:ln/>
        </p:spPr>
      </p:sp>
      <p:sp>
        <p:nvSpPr>
          <p:cNvPr id="46" name="Text 44"/>
          <p:cNvSpPr txBox="1"/>
          <p:nvPr/>
        </p:nvSpPr>
        <p:spPr>
          <a:xfrm>
            <a:off x="4498848" y="3144460"/>
            <a:ext cx="1325880" cy="234517"/>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106%</a:t>
            </a:r>
            <a:pPr algn="r" indent="0" marL="0">
              <a:buNone/>
            </a:pPr>
            <a:r>
              <a:rPr lang="en-US" sz="1300" dirty="0">
                <a:solidFill>
                  <a:srgbClr val="0B2C4A"/>
                </a:solidFill>
                <a:latin typeface="Inter" pitchFamily="34" charset="0"/>
                <a:ea typeface="Inter" pitchFamily="34" charset="-122"/>
                <a:cs typeface="Inter" pitchFamily="34" charset="-120"/>
              </a:rPr>
              <a:t>  145%</a:t>
            </a:r>
            <a:endParaRPr lang="en-US" sz="1300" dirty="0"/>
          </a:p>
        </p:txBody>
      </p:sp>
      <p:sp>
        <p:nvSpPr>
          <p:cNvPr id="47" name="Text 45"/>
          <p:cNvSpPr txBox="1"/>
          <p:nvPr/>
        </p:nvSpPr>
        <p:spPr>
          <a:xfrm>
            <a:off x="658368" y="3378977"/>
            <a:ext cx="1938528" cy="234517"/>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48" name="Shape 46"/>
          <p:cNvSpPr/>
          <p:nvPr/>
        </p:nvSpPr>
        <p:spPr>
          <a:xfrm>
            <a:off x="3342460" y="3482519"/>
            <a:ext cx="879840" cy="27432"/>
          </a:xfrm>
          <a:prstGeom prst="rect">
            <a:avLst/>
          </a:prstGeom>
          <a:solidFill>
            <a:srgbClr val="D9D9D9"/>
          </a:solidFill>
          <a:ln/>
        </p:spPr>
      </p:sp>
      <p:sp>
        <p:nvSpPr>
          <p:cNvPr id="49" name="Shape 47"/>
          <p:cNvSpPr/>
          <p:nvPr/>
        </p:nvSpPr>
        <p:spPr>
          <a:xfrm>
            <a:off x="4144576" y="3418511"/>
            <a:ext cx="155448" cy="155448"/>
          </a:xfrm>
          <a:prstGeom prst="ellipse">
            <a:avLst/>
          </a:prstGeom>
          <a:solidFill>
            <a:srgbClr val="0B2C4A"/>
          </a:solidFill>
          <a:ln/>
        </p:spPr>
      </p:sp>
      <p:sp>
        <p:nvSpPr>
          <p:cNvPr id="50" name="Shape 48"/>
          <p:cNvSpPr/>
          <p:nvPr/>
        </p:nvSpPr>
        <p:spPr>
          <a:xfrm>
            <a:off x="3264736" y="3418511"/>
            <a:ext cx="155448" cy="155448"/>
          </a:xfrm>
          <a:prstGeom prst="ellipse">
            <a:avLst/>
          </a:prstGeom>
          <a:solidFill>
            <a:srgbClr val="12A566"/>
          </a:solidFill>
          <a:ln/>
        </p:spPr>
      </p:sp>
      <p:sp>
        <p:nvSpPr>
          <p:cNvPr id="51" name="Text 49"/>
          <p:cNvSpPr txBox="1"/>
          <p:nvPr/>
        </p:nvSpPr>
        <p:spPr>
          <a:xfrm>
            <a:off x="4498848" y="3378977"/>
            <a:ext cx="1325880" cy="234517"/>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105%</a:t>
            </a:r>
            <a:pPr algn="r" indent="0" marL="0">
              <a:buNone/>
            </a:pPr>
            <a:r>
              <a:rPr lang="en-US" sz="1300" dirty="0">
                <a:solidFill>
                  <a:srgbClr val="0B2C4A"/>
                </a:solidFill>
                <a:latin typeface="Inter" pitchFamily="34" charset="0"/>
                <a:ea typeface="Inter" pitchFamily="34" charset="-122"/>
                <a:cs typeface="Inter" pitchFamily="34" charset="-120"/>
              </a:rPr>
              <a:t>  178%</a:t>
            </a:r>
            <a:endParaRPr lang="en-US" sz="1300" dirty="0"/>
          </a:p>
        </p:txBody>
      </p:sp>
      <p:sp>
        <p:nvSpPr>
          <p:cNvPr id="52" name="Text 50"/>
          <p:cNvSpPr txBox="1"/>
          <p:nvPr/>
        </p:nvSpPr>
        <p:spPr>
          <a:xfrm>
            <a:off x="658368" y="3613494"/>
            <a:ext cx="1938528" cy="234517"/>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53" name="Shape 51"/>
          <p:cNvSpPr/>
          <p:nvPr/>
        </p:nvSpPr>
        <p:spPr>
          <a:xfrm>
            <a:off x="3338325" y="3717036"/>
            <a:ext cx="578029" cy="27432"/>
          </a:xfrm>
          <a:prstGeom prst="rect">
            <a:avLst/>
          </a:prstGeom>
          <a:solidFill>
            <a:srgbClr val="D9D9D9"/>
          </a:solidFill>
          <a:ln/>
        </p:spPr>
      </p:sp>
      <p:sp>
        <p:nvSpPr>
          <p:cNvPr id="54" name="Shape 52"/>
          <p:cNvSpPr/>
          <p:nvPr/>
        </p:nvSpPr>
        <p:spPr>
          <a:xfrm>
            <a:off x="3838629" y="3653028"/>
            <a:ext cx="155448" cy="155448"/>
          </a:xfrm>
          <a:prstGeom prst="ellipse">
            <a:avLst/>
          </a:prstGeom>
          <a:solidFill>
            <a:srgbClr val="0B2C4A"/>
          </a:solidFill>
          <a:ln/>
        </p:spPr>
      </p:sp>
      <p:sp>
        <p:nvSpPr>
          <p:cNvPr id="55" name="Shape 53"/>
          <p:cNvSpPr/>
          <p:nvPr/>
        </p:nvSpPr>
        <p:spPr>
          <a:xfrm>
            <a:off x="3260601" y="3653028"/>
            <a:ext cx="155448" cy="155448"/>
          </a:xfrm>
          <a:prstGeom prst="ellipse">
            <a:avLst/>
          </a:prstGeom>
          <a:solidFill>
            <a:srgbClr val="12A566"/>
          </a:solidFill>
          <a:ln/>
        </p:spPr>
      </p:sp>
      <p:sp>
        <p:nvSpPr>
          <p:cNvPr id="56" name="Text 54"/>
          <p:cNvSpPr txBox="1"/>
          <p:nvPr/>
        </p:nvSpPr>
        <p:spPr>
          <a:xfrm>
            <a:off x="4498848" y="3613494"/>
            <a:ext cx="1325880" cy="234517"/>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104%</a:t>
            </a:r>
            <a:pPr algn="r" indent="0" marL="0">
              <a:buNone/>
            </a:pPr>
            <a:r>
              <a:rPr lang="en-US" sz="1300" dirty="0">
                <a:solidFill>
                  <a:srgbClr val="0B2C4A"/>
                </a:solidFill>
                <a:latin typeface="Inter" pitchFamily="34" charset="0"/>
                <a:ea typeface="Inter" pitchFamily="34" charset="-122"/>
                <a:cs typeface="Inter" pitchFamily="34" charset="-120"/>
              </a:rPr>
              <a:t>  153%</a:t>
            </a:r>
            <a:endParaRPr lang="en-US" sz="1300" dirty="0"/>
          </a:p>
        </p:txBody>
      </p:sp>
      <p:sp>
        <p:nvSpPr>
          <p:cNvPr id="57" name="Text 55"/>
          <p:cNvSpPr txBox="1"/>
          <p:nvPr/>
        </p:nvSpPr>
        <p:spPr>
          <a:xfrm>
            <a:off x="658368" y="3848010"/>
            <a:ext cx="1938528" cy="234517"/>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58" name="Shape 56"/>
          <p:cNvSpPr/>
          <p:nvPr/>
        </p:nvSpPr>
        <p:spPr>
          <a:xfrm>
            <a:off x="3326693" y="3951553"/>
            <a:ext cx="718840" cy="27432"/>
          </a:xfrm>
          <a:prstGeom prst="rect">
            <a:avLst/>
          </a:prstGeom>
          <a:solidFill>
            <a:srgbClr val="D9D9D9"/>
          </a:solidFill>
          <a:ln/>
        </p:spPr>
      </p:sp>
      <p:sp>
        <p:nvSpPr>
          <p:cNvPr id="59" name="Shape 57"/>
          <p:cNvSpPr/>
          <p:nvPr/>
        </p:nvSpPr>
        <p:spPr>
          <a:xfrm>
            <a:off x="3967809" y="3887545"/>
            <a:ext cx="155448" cy="155448"/>
          </a:xfrm>
          <a:prstGeom prst="ellipse">
            <a:avLst/>
          </a:prstGeom>
          <a:solidFill>
            <a:srgbClr val="0B2C4A"/>
          </a:solidFill>
          <a:ln/>
        </p:spPr>
      </p:sp>
      <p:sp>
        <p:nvSpPr>
          <p:cNvPr id="60" name="Shape 58"/>
          <p:cNvSpPr/>
          <p:nvPr/>
        </p:nvSpPr>
        <p:spPr>
          <a:xfrm>
            <a:off x="3248969" y="3887545"/>
            <a:ext cx="155448" cy="155448"/>
          </a:xfrm>
          <a:prstGeom prst="ellipse">
            <a:avLst/>
          </a:prstGeom>
          <a:solidFill>
            <a:srgbClr val="12A566"/>
          </a:solidFill>
          <a:ln/>
        </p:spPr>
      </p:sp>
      <p:sp>
        <p:nvSpPr>
          <p:cNvPr id="61" name="Text 59"/>
          <p:cNvSpPr txBox="1"/>
          <p:nvPr/>
        </p:nvSpPr>
        <p:spPr>
          <a:xfrm>
            <a:off x="4498848" y="3848010"/>
            <a:ext cx="1325880" cy="234517"/>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103%</a:t>
            </a:r>
            <a:pPr algn="r" indent="0" marL="0">
              <a:buNone/>
            </a:pPr>
            <a:r>
              <a:rPr lang="en-US" sz="1300" dirty="0">
                <a:solidFill>
                  <a:srgbClr val="0B2C4A"/>
                </a:solidFill>
                <a:latin typeface="Inter" pitchFamily="34" charset="0"/>
                <a:ea typeface="Inter" pitchFamily="34" charset="-122"/>
                <a:cs typeface="Inter" pitchFamily="34" charset="-120"/>
              </a:rPr>
              <a:t>  164%</a:t>
            </a:r>
            <a:endParaRPr lang="en-US" sz="1300" dirty="0"/>
          </a:p>
        </p:txBody>
      </p:sp>
      <p:sp>
        <p:nvSpPr>
          <p:cNvPr id="62" name="Text 60"/>
          <p:cNvSpPr txBox="1"/>
          <p:nvPr/>
        </p:nvSpPr>
        <p:spPr>
          <a:xfrm>
            <a:off x="658368" y="4082527"/>
            <a:ext cx="1938528" cy="234517"/>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63" name="Shape 61"/>
          <p:cNvSpPr/>
          <p:nvPr/>
        </p:nvSpPr>
        <p:spPr>
          <a:xfrm>
            <a:off x="3315137" y="4186069"/>
            <a:ext cx="576560" cy="27432"/>
          </a:xfrm>
          <a:prstGeom prst="rect">
            <a:avLst/>
          </a:prstGeom>
          <a:solidFill>
            <a:srgbClr val="D9D9D9"/>
          </a:solidFill>
          <a:ln/>
        </p:spPr>
      </p:sp>
      <p:sp>
        <p:nvSpPr>
          <p:cNvPr id="64" name="Shape 62"/>
          <p:cNvSpPr/>
          <p:nvPr/>
        </p:nvSpPr>
        <p:spPr>
          <a:xfrm>
            <a:off x="3813973" y="4122061"/>
            <a:ext cx="155448" cy="155448"/>
          </a:xfrm>
          <a:prstGeom prst="ellipse">
            <a:avLst/>
          </a:prstGeom>
          <a:solidFill>
            <a:srgbClr val="0B2C4A"/>
          </a:solidFill>
          <a:ln/>
        </p:spPr>
      </p:sp>
      <p:sp>
        <p:nvSpPr>
          <p:cNvPr id="65" name="Shape 63"/>
          <p:cNvSpPr/>
          <p:nvPr/>
        </p:nvSpPr>
        <p:spPr>
          <a:xfrm>
            <a:off x="3237413" y="4122061"/>
            <a:ext cx="155448" cy="155448"/>
          </a:xfrm>
          <a:prstGeom prst="ellipse">
            <a:avLst/>
          </a:prstGeom>
          <a:solidFill>
            <a:srgbClr val="12A566"/>
          </a:solidFill>
          <a:ln/>
        </p:spPr>
      </p:sp>
      <p:sp>
        <p:nvSpPr>
          <p:cNvPr id="66" name="Text 64"/>
          <p:cNvSpPr txBox="1"/>
          <p:nvPr/>
        </p:nvSpPr>
        <p:spPr>
          <a:xfrm>
            <a:off x="4498848" y="4082527"/>
            <a:ext cx="1325880" cy="234517"/>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102%</a:t>
            </a:r>
            <a:pPr algn="r" indent="0" marL="0">
              <a:buNone/>
            </a:pPr>
            <a:r>
              <a:rPr lang="en-US" sz="1300" dirty="0">
                <a:solidFill>
                  <a:srgbClr val="0B2C4A"/>
                </a:solidFill>
                <a:latin typeface="Inter" pitchFamily="34" charset="0"/>
                <a:ea typeface="Inter" pitchFamily="34" charset="-122"/>
                <a:cs typeface="Inter" pitchFamily="34" charset="-120"/>
              </a:rPr>
              <a:t>  151%</a:t>
            </a:r>
            <a:endParaRPr lang="en-US" sz="1300" dirty="0"/>
          </a:p>
        </p:txBody>
      </p:sp>
      <p:sp>
        <p:nvSpPr>
          <p:cNvPr id="67" name="Text 65"/>
          <p:cNvSpPr txBox="1"/>
          <p:nvPr/>
        </p:nvSpPr>
        <p:spPr>
          <a:xfrm>
            <a:off x="658368" y="4317044"/>
            <a:ext cx="1938528" cy="234517"/>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68" name="Shape 66"/>
          <p:cNvSpPr/>
          <p:nvPr/>
        </p:nvSpPr>
        <p:spPr>
          <a:xfrm>
            <a:off x="3305834" y="4420586"/>
            <a:ext cx="253206" cy="27432"/>
          </a:xfrm>
          <a:prstGeom prst="rect">
            <a:avLst/>
          </a:prstGeom>
          <a:solidFill>
            <a:srgbClr val="D9D9D9"/>
          </a:solidFill>
          <a:ln/>
        </p:spPr>
      </p:sp>
      <p:sp>
        <p:nvSpPr>
          <p:cNvPr id="69" name="Shape 67"/>
          <p:cNvSpPr/>
          <p:nvPr/>
        </p:nvSpPr>
        <p:spPr>
          <a:xfrm>
            <a:off x="3481317" y="4356578"/>
            <a:ext cx="155448" cy="155448"/>
          </a:xfrm>
          <a:prstGeom prst="ellipse">
            <a:avLst/>
          </a:prstGeom>
          <a:solidFill>
            <a:srgbClr val="0B2C4A"/>
          </a:solidFill>
          <a:ln/>
        </p:spPr>
      </p:sp>
      <p:sp>
        <p:nvSpPr>
          <p:cNvPr id="70" name="Shape 68"/>
          <p:cNvSpPr/>
          <p:nvPr/>
        </p:nvSpPr>
        <p:spPr>
          <a:xfrm>
            <a:off x="3228110" y="4356578"/>
            <a:ext cx="155448" cy="155448"/>
          </a:xfrm>
          <a:prstGeom prst="ellipse">
            <a:avLst/>
          </a:prstGeom>
          <a:solidFill>
            <a:srgbClr val="12A566"/>
          </a:solidFill>
          <a:ln/>
        </p:spPr>
      </p:sp>
      <p:sp>
        <p:nvSpPr>
          <p:cNvPr id="71" name="Text 69"/>
          <p:cNvSpPr txBox="1"/>
          <p:nvPr/>
        </p:nvSpPr>
        <p:spPr>
          <a:xfrm>
            <a:off x="4498848" y="4317044"/>
            <a:ext cx="1325880" cy="234517"/>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102%</a:t>
            </a:r>
            <a:pPr algn="r" indent="0" marL="0">
              <a:buNone/>
            </a:pPr>
            <a:r>
              <a:rPr lang="en-US" sz="1300" dirty="0">
                <a:solidFill>
                  <a:srgbClr val="0B2C4A"/>
                </a:solidFill>
                <a:latin typeface="Inter" pitchFamily="34" charset="0"/>
                <a:ea typeface="Inter" pitchFamily="34" charset="-122"/>
                <a:cs typeface="Inter" pitchFamily="34" charset="-120"/>
              </a:rPr>
              <a:t>  123%</a:t>
            </a:r>
            <a:endParaRPr lang="en-US" sz="1300" dirty="0"/>
          </a:p>
        </p:txBody>
      </p:sp>
      <p:sp>
        <p:nvSpPr>
          <p:cNvPr id="72" name="Text 70"/>
          <p:cNvSpPr txBox="1"/>
          <p:nvPr/>
        </p:nvSpPr>
        <p:spPr>
          <a:xfrm>
            <a:off x="658368" y="4551560"/>
            <a:ext cx="1938528" cy="234517"/>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73" name="Shape 71"/>
          <p:cNvSpPr/>
          <p:nvPr/>
        </p:nvSpPr>
        <p:spPr>
          <a:xfrm>
            <a:off x="3267627" y="4655103"/>
            <a:ext cx="968031" cy="27432"/>
          </a:xfrm>
          <a:prstGeom prst="rect">
            <a:avLst/>
          </a:prstGeom>
          <a:solidFill>
            <a:srgbClr val="D9D9D9"/>
          </a:solidFill>
          <a:ln/>
        </p:spPr>
      </p:sp>
      <p:sp>
        <p:nvSpPr>
          <p:cNvPr id="74" name="Shape 72"/>
          <p:cNvSpPr/>
          <p:nvPr/>
        </p:nvSpPr>
        <p:spPr>
          <a:xfrm>
            <a:off x="4157934" y="4591095"/>
            <a:ext cx="155448" cy="155448"/>
          </a:xfrm>
          <a:prstGeom prst="ellipse">
            <a:avLst/>
          </a:prstGeom>
          <a:solidFill>
            <a:srgbClr val="0B2C4A"/>
          </a:solidFill>
          <a:ln/>
        </p:spPr>
      </p:sp>
      <p:sp>
        <p:nvSpPr>
          <p:cNvPr id="75" name="Shape 73"/>
          <p:cNvSpPr/>
          <p:nvPr/>
        </p:nvSpPr>
        <p:spPr>
          <a:xfrm>
            <a:off x="3189903" y="4591095"/>
            <a:ext cx="155448" cy="155448"/>
          </a:xfrm>
          <a:prstGeom prst="ellipse">
            <a:avLst/>
          </a:prstGeom>
          <a:solidFill>
            <a:srgbClr val="12A566"/>
          </a:solidFill>
          <a:ln/>
        </p:spPr>
      </p:sp>
      <p:sp>
        <p:nvSpPr>
          <p:cNvPr id="76" name="Text 74"/>
          <p:cNvSpPr txBox="1"/>
          <p:nvPr/>
        </p:nvSpPr>
        <p:spPr>
          <a:xfrm>
            <a:off x="4498848" y="4551560"/>
            <a:ext cx="1325880" cy="234517"/>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98%</a:t>
            </a:r>
            <a:pPr algn="r" indent="0" marL="0">
              <a:buNone/>
            </a:pPr>
            <a:r>
              <a:rPr lang="en-US" sz="1300" dirty="0">
                <a:solidFill>
                  <a:srgbClr val="0B2C4A"/>
                </a:solidFill>
                <a:latin typeface="Inter" pitchFamily="34" charset="0"/>
                <a:ea typeface="Inter" pitchFamily="34" charset="-122"/>
                <a:cs typeface="Inter" pitchFamily="34" charset="-120"/>
              </a:rPr>
              <a:t>  179%</a:t>
            </a:r>
            <a:endParaRPr lang="en-US" sz="1300" dirty="0"/>
          </a:p>
        </p:txBody>
      </p:sp>
      <p:sp>
        <p:nvSpPr>
          <p:cNvPr id="77" name="Text 75"/>
          <p:cNvSpPr txBox="1"/>
          <p:nvPr/>
        </p:nvSpPr>
        <p:spPr>
          <a:xfrm>
            <a:off x="658368" y="4786077"/>
            <a:ext cx="1938528" cy="234517"/>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78" name="Shape 76"/>
          <p:cNvSpPr/>
          <p:nvPr/>
        </p:nvSpPr>
        <p:spPr>
          <a:xfrm>
            <a:off x="3249769" y="4889620"/>
            <a:ext cx="416296" cy="27432"/>
          </a:xfrm>
          <a:prstGeom prst="rect">
            <a:avLst/>
          </a:prstGeom>
          <a:solidFill>
            <a:srgbClr val="D9D9D9"/>
          </a:solidFill>
          <a:ln/>
        </p:spPr>
      </p:sp>
      <p:sp>
        <p:nvSpPr>
          <p:cNvPr id="79" name="Shape 77"/>
          <p:cNvSpPr/>
          <p:nvPr/>
        </p:nvSpPr>
        <p:spPr>
          <a:xfrm>
            <a:off x="3588341" y="4825612"/>
            <a:ext cx="155448" cy="155448"/>
          </a:xfrm>
          <a:prstGeom prst="ellipse">
            <a:avLst/>
          </a:prstGeom>
          <a:solidFill>
            <a:srgbClr val="0B2C4A"/>
          </a:solidFill>
          <a:ln/>
        </p:spPr>
      </p:sp>
      <p:sp>
        <p:nvSpPr>
          <p:cNvPr id="80" name="Shape 78"/>
          <p:cNvSpPr/>
          <p:nvPr/>
        </p:nvSpPr>
        <p:spPr>
          <a:xfrm>
            <a:off x="3172045" y="4825612"/>
            <a:ext cx="155448" cy="155448"/>
          </a:xfrm>
          <a:prstGeom prst="ellipse">
            <a:avLst/>
          </a:prstGeom>
          <a:solidFill>
            <a:srgbClr val="12A566"/>
          </a:solidFill>
          <a:ln/>
        </p:spPr>
      </p:sp>
      <p:sp>
        <p:nvSpPr>
          <p:cNvPr id="81" name="Text 79"/>
          <p:cNvSpPr txBox="1"/>
          <p:nvPr/>
        </p:nvSpPr>
        <p:spPr>
          <a:xfrm>
            <a:off x="4498848" y="4786077"/>
            <a:ext cx="1325880" cy="234517"/>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97%</a:t>
            </a:r>
            <a:pPr algn="r" indent="0" marL="0">
              <a:buNone/>
            </a:pPr>
            <a:r>
              <a:rPr lang="en-US" sz="1300" dirty="0">
                <a:solidFill>
                  <a:srgbClr val="0B2C4A"/>
                </a:solidFill>
                <a:latin typeface="Inter" pitchFamily="34" charset="0"/>
                <a:ea typeface="Inter" pitchFamily="34" charset="-122"/>
                <a:cs typeface="Inter" pitchFamily="34" charset="-120"/>
              </a:rPr>
              <a:t>  132%</a:t>
            </a:r>
            <a:endParaRPr lang="en-US" sz="1300" dirty="0"/>
          </a:p>
        </p:txBody>
      </p:sp>
      <p:sp>
        <p:nvSpPr>
          <p:cNvPr id="82" name="Text 80"/>
          <p:cNvSpPr txBox="1"/>
          <p:nvPr/>
        </p:nvSpPr>
        <p:spPr>
          <a:xfrm>
            <a:off x="658368" y="5020594"/>
            <a:ext cx="1938528" cy="234517"/>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83" name="Shape 81"/>
          <p:cNvSpPr/>
          <p:nvPr/>
        </p:nvSpPr>
        <p:spPr>
          <a:xfrm>
            <a:off x="3225383" y="5124136"/>
            <a:ext cx="363571" cy="27432"/>
          </a:xfrm>
          <a:prstGeom prst="rect">
            <a:avLst/>
          </a:prstGeom>
          <a:solidFill>
            <a:srgbClr val="D9D9D9"/>
          </a:solidFill>
          <a:ln/>
        </p:spPr>
      </p:sp>
      <p:sp>
        <p:nvSpPr>
          <p:cNvPr id="84" name="Shape 82"/>
          <p:cNvSpPr/>
          <p:nvPr/>
        </p:nvSpPr>
        <p:spPr>
          <a:xfrm>
            <a:off x="3511230" y="5060128"/>
            <a:ext cx="155448" cy="155448"/>
          </a:xfrm>
          <a:prstGeom prst="ellipse">
            <a:avLst/>
          </a:prstGeom>
          <a:solidFill>
            <a:srgbClr val="0B2C4A"/>
          </a:solidFill>
          <a:ln/>
        </p:spPr>
      </p:sp>
      <p:sp>
        <p:nvSpPr>
          <p:cNvPr id="85" name="Shape 83"/>
          <p:cNvSpPr/>
          <p:nvPr/>
        </p:nvSpPr>
        <p:spPr>
          <a:xfrm>
            <a:off x="3147659" y="5060128"/>
            <a:ext cx="155448" cy="155448"/>
          </a:xfrm>
          <a:prstGeom prst="ellipse">
            <a:avLst/>
          </a:prstGeom>
          <a:solidFill>
            <a:srgbClr val="12A566"/>
          </a:solidFill>
          <a:ln/>
        </p:spPr>
      </p:sp>
      <p:sp>
        <p:nvSpPr>
          <p:cNvPr id="86" name="Text 84"/>
          <p:cNvSpPr txBox="1"/>
          <p:nvPr/>
        </p:nvSpPr>
        <p:spPr>
          <a:xfrm>
            <a:off x="4498848" y="5020594"/>
            <a:ext cx="1325880" cy="234517"/>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95%</a:t>
            </a:r>
            <a:pPr algn="r" indent="0" marL="0">
              <a:buNone/>
            </a:pPr>
            <a:r>
              <a:rPr lang="en-US" sz="1300" dirty="0">
                <a:solidFill>
                  <a:srgbClr val="0B2C4A"/>
                </a:solidFill>
                <a:latin typeface="Inter" pitchFamily="34" charset="0"/>
                <a:ea typeface="Inter" pitchFamily="34" charset="-122"/>
                <a:cs typeface="Inter" pitchFamily="34" charset="-120"/>
              </a:rPr>
              <a:t>  125%</a:t>
            </a:r>
            <a:endParaRPr lang="en-US" sz="1300" dirty="0"/>
          </a:p>
        </p:txBody>
      </p:sp>
      <p:sp>
        <p:nvSpPr>
          <p:cNvPr id="87" name="Text 85"/>
          <p:cNvSpPr txBox="1"/>
          <p:nvPr/>
        </p:nvSpPr>
        <p:spPr>
          <a:xfrm>
            <a:off x="658368" y="5255111"/>
            <a:ext cx="1938528" cy="234517"/>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88" name="Shape 86"/>
          <p:cNvSpPr/>
          <p:nvPr/>
        </p:nvSpPr>
        <p:spPr>
          <a:xfrm>
            <a:off x="3193370" y="5358653"/>
            <a:ext cx="267102" cy="27432"/>
          </a:xfrm>
          <a:prstGeom prst="rect">
            <a:avLst/>
          </a:prstGeom>
          <a:solidFill>
            <a:srgbClr val="D9D9D9"/>
          </a:solidFill>
          <a:ln/>
        </p:spPr>
      </p:sp>
      <p:sp>
        <p:nvSpPr>
          <p:cNvPr id="89" name="Shape 87"/>
          <p:cNvSpPr/>
          <p:nvPr/>
        </p:nvSpPr>
        <p:spPr>
          <a:xfrm>
            <a:off x="3382748" y="5294645"/>
            <a:ext cx="155448" cy="155448"/>
          </a:xfrm>
          <a:prstGeom prst="ellipse">
            <a:avLst/>
          </a:prstGeom>
          <a:solidFill>
            <a:srgbClr val="0B2C4A"/>
          </a:solidFill>
          <a:ln/>
        </p:spPr>
      </p:sp>
      <p:sp>
        <p:nvSpPr>
          <p:cNvPr id="90" name="Shape 88"/>
          <p:cNvSpPr/>
          <p:nvPr/>
        </p:nvSpPr>
        <p:spPr>
          <a:xfrm>
            <a:off x="3115646" y="5294645"/>
            <a:ext cx="155448" cy="155448"/>
          </a:xfrm>
          <a:prstGeom prst="ellipse">
            <a:avLst/>
          </a:prstGeom>
          <a:solidFill>
            <a:srgbClr val="12A566"/>
          </a:solidFill>
          <a:ln/>
        </p:spPr>
      </p:sp>
      <p:sp>
        <p:nvSpPr>
          <p:cNvPr id="91" name="Text 89"/>
          <p:cNvSpPr txBox="1"/>
          <p:nvPr/>
        </p:nvSpPr>
        <p:spPr>
          <a:xfrm>
            <a:off x="4498848" y="5255111"/>
            <a:ext cx="1325880" cy="234517"/>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92%</a:t>
            </a:r>
            <a:pPr algn="r" indent="0" marL="0">
              <a:buNone/>
            </a:pPr>
            <a:r>
              <a:rPr lang="en-US" sz="1300" dirty="0">
                <a:solidFill>
                  <a:srgbClr val="0B2C4A"/>
                </a:solidFill>
                <a:latin typeface="Inter" pitchFamily="34" charset="0"/>
                <a:ea typeface="Inter" pitchFamily="34" charset="-122"/>
                <a:cs typeface="Inter" pitchFamily="34" charset="-120"/>
              </a:rPr>
              <a:t>  115%</a:t>
            </a:r>
            <a:endParaRPr lang="en-US" sz="1300" dirty="0"/>
          </a:p>
        </p:txBody>
      </p:sp>
      <p:sp>
        <p:nvSpPr>
          <p:cNvPr id="92" name="Text 90"/>
          <p:cNvSpPr txBox="1"/>
          <p:nvPr/>
        </p:nvSpPr>
        <p:spPr>
          <a:xfrm>
            <a:off x="658368" y="5489627"/>
            <a:ext cx="1938528" cy="234517"/>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93" name="Shape 91"/>
          <p:cNvSpPr/>
          <p:nvPr/>
        </p:nvSpPr>
        <p:spPr>
          <a:xfrm>
            <a:off x="3180836" y="5593170"/>
            <a:ext cx="479504" cy="27432"/>
          </a:xfrm>
          <a:prstGeom prst="rect">
            <a:avLst/>
          </a:prstGeom>
          <a:solidFill>
            <a:srgbClr val="D9D9D9"/>
          </a:solidFill>
          <a:ln/>
        </p:spPr>
      </p:sp>
      <p:sp>
        <p:nvSpPr>
          <p:cNvPr id="94" name="Shape 92"/>
          <p:cNvSpPr/>
          <p:nvPr/>
        </p:nvSpPr>
        <p:spPr>
          <a:xfrm>
            <a:off x="3582616" y="5529162"/>
            <a:ext cx="155448" cy="155448"/>
          </a:xfrm>
          <a:prstGeom prst="ellipse">
            <a:avLst/>
          </a:prstGeom>
          <a:solidFill>
            <a:srgbClr val="0B2C4A"/>
          </a:solidFill>
          <a:ln/>
        </p:spPr>
      </p:sp>
      <p:sp>
        <p:nvSpPr>
          <p:cNvPr id="95" name="Shape 93"/>
          <p:cNvSpPr/>
          <p:nvPr/>
        </p:nvSpPr>
        <p:spPr>
          <a:xfrm>
            <a:off x="3103112" y="5529162"/>
            <a:ext cx="155448" cy="155448"/>
          </a:xfrm>
          <a:prstGeom prst="ellipse">
            <a:avLst/>
          </a:prstGeom>
          <a:solidFill>
            <a:srgbClr val="12A566"/>
          </a:solidFill>
          <a:ln/>
        </p:spPr>
      </p:sp>
      <p:sp>
        <p:nvSpPr>
          <p:cNvPr id="96" name="Text 94"/>
          <p:cNvSpPr txBox="1"/>
          <p:nvPr/>
        </p:nvSpPr>
        <p:spPr>
          <a:xfrm>
            <a:off x="4498848" y="5489627"/>
            <a:ext cx="1325880" cy="234517"/>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91%</a:t>
            </a:r>
            <a:pPr algn="r" indent="0" marL="0">
              <a:buNone/>
            </a:pPr>
            <a:r>
              <a:rPr lang="en-US" sz="1300" dirty="0">
                <a:solidFill>
                  <a:srgbClr val="0B2C4A"/>
                </a:solidFill>
                <a:latin typeface="Inter" pitchFamily="34" charset="0"/>
                <a:ea typeface="Inter" pitchFamily="34" charset="-122"/>
                <a:cs typeface="Inter" pitchFamily="34" charset="-120"/>
              </a:rPr>
              <a:t>  131%</a:t>
            </a:r>
            <a:endParaRPr lang="en-US" sz="1300" dirty="0"/>
          </a:p>
        </p:txBody>
      </p:sp>
      <p:sp>
        <p:nvSpPr>
          <p:cNvPr id="97" name="Text 95"/>
          <p:cNvSpPr txBox="1"/>
          <p:nvPr/>
        </p:nvSpPr>
        <p:spPr>
          <a:xfrm>
            <a:off x="6208776" y="1737360"/>
            <a:ext cx="1938528" cy="234517"/>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98" name="Shape 96"/>
          <p:cNvSpPr/>
          <p:nvPr/>
        </p:nvSpPr>
        <p:spPr>
          <a:xfrm>
            <a:off x="8730696" y="1840902"/>
            <a:ext cx="492337" cy="27432"/>
          </a:xfrm>
          <a:prstGeom prst="rect">
            <a:avLst/>
          </a:prstGeom>
          <a:solidFill>
            <a:srgbClr val="D9D9D9"/>
          </a:solidFill>
          <a:ln/>
        </p:spPr>
      </p:sp>
      <p:sp>
        <p:nvSpPr>
          <p:cNvPr id="99" name="Shape 97"/>
          <p:cNvSpPr/>
          <p:nvPr/>
        </p:nvSpPr>
        <p:spPr>
          <a:xfrm>
            <a:off x="9145308" y="1776894"/>
            <a:ext cx="155448" cy="155448"/>
          </a:xfrm>
          <a:prstGeom prst="ellipse">
            <a:avLst/>
          </a:prstGeom>
          <a:solidFill>
            <a:srgbClr val="0B2C4A"/>
          </a:solidFill>
          <a:ln/>
        </p:spPr>
      </p:sp>
      <p:sp>
        <p:nvSpPr>
          <p:cNvPr id="100" name="Shape 98"/>
          <p:cNvSpPr/>
          <p:nvPr/>
        </p:nvSpPr>
        <p:spPr>
          <a:xfrm>
            <a:off x="8652972" y="1776894"/>
            <a:ext cx="155448" cy="155448"/>
          </a:xfrm>
          <a:prstGeom prst="ellipse">
            <a:avLst/>
          </a:prstGeom>
          <a:solidFill>
            <a:srgbClr val="12A566"/>
          </a:solidFill>
          <a:ln/>
        </p:spPr>
      </p:sp>
      <p:sp>
        <p:nvSpPr>
          <p:cNvPr id="101" name="Text 99"/>
          <p:cNvSpPr txBox="1"/>
          <p:nvPr/>
        </p:nvSpPr>
        <p:spPr>
          <a:xfrm>
            <a:off x="10049256" y="1737360"/>
            <a:ext cx="1325880" cy="234517"/>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91%</a:t>
            </a:r>
            <a:pPr algn="r" indent="0" marL="0">
              <a:buNone/>
            </a:pPr>
            <a:r>
              <a:rPr lang="en-US" sz="1300" dirty="0">
                <a:solidFill>
                  <a:srgbClr val="0B2C4A"/>
                </a:solidFill>
                <a:latin typeface="Inter" pitchFamily="34" charset="0"/>
                <a:ea typeface="Inter" pitchFamily="34" charset="-122"/>
                <a:cs typeface="Inter" pitchFamily="34" charset="-120"/>
              </a:rPr>
              <a:t>  132%</a:t>
            </a:r>
            <a:endParaRPr lang="en-US" sz="1300" dirty="0"/>
          </a:p>
        </p:txBody>
      </p:sp>
      <p:sp>
        <p:nvSpPr>
          <p:cNvPr id="102" name="Text 100"/>
          <p:cNvSpPr txBox="1"/>
          <p:nvPr/>
        </p:nvSpPr>
        <p:spPr>
          <a:xfrm>
            <a:off x="6208776" y="1971877"/>
            <a:ext cx="1938528" cy="234517"/>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103" name="Shape 101"/>
          <p:cNvSpPr/>
          <p:nvPr/>
        </p:nvSpPr>
        <p:spPr>
          <a:xfrm>
            <a:off x="8729573" y="2075419"/>
            <a:ext cx="521449" cy="27432"/>
          </a:xfrm>
          <a:prstGeom prst="rect">
            <a:avLst/>
          </a:prstGeom>
          <a:solidFill>
            <a:srgbClr val="D9D9D9"/>
          </a:solidFill>
          <a:ln/>
        </p:spPr>
      </p:sp>
      <p:sp>
        <p:nvSpPr>
          <p:cNvPr id="104" name="Shape 102"/>
          <p:cNvSpPr/>
          <p:nvPr/>
        </p:nvSpPr>
        <p:spPr>
          <a:xfrm>
            <a:off x="9173299" y="2011411"/>
            <a:ext cx="155448" cy="155448"/>
          </a:xfrm>
          <a:prstGeom prst="ellipse">
            <a:avLst/>
          </a:prstGeom>
          <a:solidFill>
            <a:srgbClr val="0B2C4A"/>
          </a:solidFill>
          <a:ln/>
        </p:spPr>
      </p:sp>
      <p:sp>
        <p:nvSpPr>
          <p:cNvPr id="105" name="Shape 103"/>
          <p:cNvSpPr/>
          <p:nvPr/>
        </p:nvSpPr>
        <p:spPr>
          <a:xfrm>
            <a:off x="8651849" y="2011411"/>
            <a:ext cx="155448" cy="155448"/>
          </a:xfrm>
          <a:prstGeom prst="ellipse">
            <a:avLst/>
          </a:prstGeom>
          <a:solidFill>
            <a:srgbClr val="12A566"/>
          </a:solidFill>
          <a:ln/>
        </p:spPr>
      </p:sp>
      <p:sp>
        <p:nvSpPr>
          <p:cNvPr id="106" name="Text 104"/>
          <p:cNvSpPr txBox="1"/>
          <p:nvPr/>
        </p:nvSpPr>
        <p:spPr>
          <a:xfrm>
            <a:off x="10049256" y="1971877"/>
            <a:ext cx="1325880" cy="234517"/>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91%</a:t>
            </a:r>
            <a:pPr algn="r" indent="0" marL="0">
              <a:buNone/>
            </a:pPr>
            <a:r>
              <a:rPr lang="en-US" sz="1300" dirty="0">
                <a:solidFill>
                  <a:srgbClr val="0B2C4A"/>
                </a:solidFill>
                <a:latin typeface="Inter" pitchFamily="34" charset="0"/>
                <a:ea typeface="Inter" pitchFamily="34" charset="-122"/>
                <a:cs typeface="Inter" pitchFamily="34" charset="-120"/>
              </a:rPr>
              <a:t>  135%</a:t>
            </a:r>
            <a:endParaRPr lang="en-US" sz="1300" dirty="0"/>
          </a:p>
        </p:txBody>
      </p:sp>
      <p:sp>
        <p:nvSpPr>
          <p:cNvPr id="107" name="Text 105"/>
          <p:cNvSpPr txBox="1"/>
          <p:nvPr/>
        </p:nvSpPr>
        <p:spPr>
          <a:xfrm>
            <a:off x="6208776" y="2206393"/>
            <a:ext cx="1938528" cy="234517"/>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108" name="Shape 106"/>
          <p:cNvSpPr/>
          <p:nvPr/>
        </p:nvSpPr>
        <p:spPr>
          <a:xfrm>
            <a:off x="8689828" y="2309936"/>
            <a:ext cx="659446" cy="27432"/>
          </a:xfrm>
          <a:prstGeom prst="rect">
            <a:avLst/>
          </a:prstGeom>
          <a:solidFill>
            <a:srgbClr val="D9D9D9"/>
          </a:solidFill>
          <a:ln/>
        </p:spPr>
      </p:sp>
      <p:sp>
        <p:nvSpPr>
          <p:cNvPr id="109" name="Shape 107"/>
          <p:cNvSpPr/>
          <p:nvPr/>
        </p:nvSpPr>
        <p:spPr>
          <a:xfrm>
            <a:off x="9271550" y="2245928"/>
            <a:ext cx="155448" cy="155448"/>
          </a:xfrm>
          <a:prstGeom prst="ellipse">
            <a:avLst/>
          </a:prstGeom>
          <a:solidFill>
            <a:srgbClr val="0B2C4A"/>
          </a:solidFill>
          <a:ln/>
        </p:spPr>
      </p:sp>
      <p:sp>
        <p:nvSpPr>
          <p:cNvPr id="110" name="Shape 108"/>
          <p:cNvSpPr/>
          <p:nvPr/>
        </p:nvSpPr>
        <p:spPr>
          <a:xfrm>
            <a:off x="8612104" y="2245928"/>
            <a:ext cx="155448" cy="155448"/>
          </a:xfrm>
          <a:prstGeom prst="ellipse">
            <a:avLst/>
          </a:prstGeom>
          <a:solidFill>
            <a:srgbClr val="12A566"/>
          </a:solidFill>
          <a:ln/>
        </p:spPr>
      </p:sp>
      <p:sp>
        <p:nvSpPr>
          <p:cNvPr id="111" name="Text 109"/>
          <p:cNvSpPr txBox="1"/>
          <p:nvPr/>
        </p:nvSpPr>
        <p:spPr>
          <a:xfrm>
            <a:off x="10049256" y="2206393"/>
            <a:ext cx="1325880" cy="234517"/>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88%</a:t>
            </a:r>
            <a:pPr algn="r" indent="0" marL="0">
              <a:buNone/>
            </a:pPr>
            <a:r>
              <a:rPr lang="en-US" sz="1300" dirty="0">
                <a:solidFill>
                  <a:srgbClr val="0B2C4A"/>
                </a:solidFill>
                <a:latin typeface="Inter" pitchFamily="34" charset="0"/>
                <a:ea typeface="Inter" pitchFamily="34" charset="-122"/>
                <a:cs typeface="Inter" pitchFamily="34" charset="-120"/>
              </a:rPr>
              <a:t>  143%</a:t>
            </a:r>
            <a:endParaRPr lang="en-US" sz="1300" dirty="0"/>
          </a:p>
        </p:txBody>
      </p:sp>
      <p:sp>
        <p:nvSpPr>
          <p:cNvPr id="112" name="Text 110"/>
          <p:cNvSpPr txBox="1"/>
          <p:nvPr/>
        </p:nvSpPr>
        <p:spPr>
          <a:xfrm>
            <a:off x="6208776" y="2440910"/>
            <a:ext cx="1938528" cy="234517"/>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113" name="Shape 111"/>
          <p:cNvSpPr/>
          <p:nvPr/>
        </p:nvSpPr>
        <p:spPr>
          <a:xfrm>
            <a:off x="8640786" y="2544452"/>
            <a:ext cx="406163" cy="27432"/>
          </a:xfrm>
          <a:prstGeom prst="rect">
            <a:avLst/>
          </a:prstGeom>
          <a:solidFill>
            <a:srgbClr val="D9D9D9"/>
          </a:solidFill>
          <a:ln/>
        </p:spPr>
      </p:sp>
      <p:sp>
        <p:nvSpPr>
          <p:cNvPr id="114" name="Shape 112"/>
          <p:cNvSpPr/>
          <p:nvPr/>
        </p:nvSpPr>
        <p:spPr>
          <a:xfrm>
            <a:off x="8969225" y="2480444"/>
            <a:ext cx="155448" cy="155448"/>
          </a:xfrm>
          <a:prstGeom prst="ellipse">
            <a:avLst/>
          </a:prstGeom>
          <a:solidFill>
            <a:srgbClr val="0B2C4A"/>
          </a:solidFill>
          <a:ln/>
        </p:spPr>
      </p:sp>
      <p:sp>
        <p:nvSpPr>
          <p:cNvPr id="115" name="Shape 113"/>
          <p:cNvSpPr/>
          <p:nvPr/>
        </p:nvSpPr>
        <p:spPr>
          <a:xfrm>
            <a:off x="8563062" y="2480444"/>
            <a:ext cx="155448" cy="155448"/>
          </a:xfrm>
          <a:prstGeom prst="ellipse">
            <a:avLst/>
          </a:prstGeom>
          <a:solidFill>
            <a:srgbClr val="C2352F"/>
          </a:solidFill>
          <a:ln/>
        </p:spPr>
      </p:sp>
      <p:sp>
        <p:nvSpPr>
          <p:cNvPr id="116" name="Text 114"/>
          <p:cNvSpPr txBox="1"/>
          <p:nvPr/>
        </p:nvSpPr>
        <p:spPr>
          <a:xfrm>
            <a:off x="10049256" y="2440910"/>
            <a:ext cx="1325880" cy="234517"/>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84%</a:t>
            </a:r>
            <a:pPr algn="r" indent="0" marL="0">
              <a:buNone/>
            </a:pPr>
            <a:r>
              <a:rPr lang="en-US" sz="1300" dirty="0">
                <a:solidFill>
                  <a:srgbClr val="0B2C4A"/>
                </a:solidFill>
                <a:latin typeface="Inter" pitchFamily="34" charset="0"/>
                <a:ea typeface="Inter" pitchFamily="34" charset="-122"/>
                <a:cs typeface="Inter" pitchFamily="34" charset="-120"/>
              </a:rPr>
              <a:t>  118%</a:t>
            </a:r>
            <a:endParaRPr lang="en-US" sz="1300" dirty="0"/>
          </a:p>
        </p:txBody>
      </p:sp>
      <p:sp>
        <p:nvSpPr>
          <p:cNvPr id="117" name="Text 115"/>
          <p:cNvSpPr txBox="1"/>
          <p:nvPr/>
        </p:nvSpPr>
        <p:spPr>
          <a:xfrm>
            <a:off x="6208776" y="2675427"/>
            <a:ext cx="1938528" cy="234517"/>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118" name="Shape 116"/>
          <p:cNvSpPr/>
          <p:nvPr/>
        </p:nvSpPr>
        <p:spPr>
          <a:xfrm>
            <a:off x="8614372" y="2778969"/>
            <a:ext cx="174890" cy="27432"/>
          </a:xfrm>
          <a:prstGeom prst="rect">
            <a:avLst/>
          </a:prstGeom>
          <a:solidFill>
            <a:srgbClr val="D9D9D9"/>
          </a:solidFill>
          <a:ln/>
        </p:spPr>
      </p:sp>
      <p:sp>
        <p:nvSpPr>
          <p:cNvPr id="119" name="Shape 117"/>
          <p:cNvSpPr/>
          <p:nvPr/>
        </p:nvSpPr>
        <p:spPr>
          <a:xfrm>
            <a:off x="8711538" y="2714961"/>
            <a:ext cx="155448" cy="155448"/>
          </a:xfrm>
          <a:prstGeom prst="ellipse">
            <a:avLst/>
          </a:prstGeom>
          <a:solidFill>
            <a:srgbClr val="0B2C4A"/>
          </a:solidFill>
          <a:ln/>
        </p:spPr>
      </p:sp>
      <p:sp>
        <p:nvSpPr>
          <p:cNvPr id="120" name="Shape 118"/>
          <p:cNvSpPr/>
          <p:nvPr/>
        </p:nvSpPr>
        <p:spPr>
          <a:xfrm>
            <a:off x="8536648" y="2714961"/>
            <a:ext cx="155448" cy="155448"/>
          </a:xfrm>
          <a:prstGeom prst="ellipse">
            <a:avLst/>
          </a:prstGeom>
          <a:solidFill>
            <a:srgbClr val="C2352F"/>
          </a:solidFill>
          <a:ln/>
        </p:spPr>
      </p:sp>
      <p:sp>
        <p:nvSpPr>
          <p:cNvPr id="121" name="Text 119"/>
          <p:cNvSpPr txBox="1"/>
          <p:nvPr/>
        </p:nvSpPr>
        <p:spPr>
          <a:xfrm>
            <a:off x="10049256" y="2675427"/>
            <a:ext cx="1325880" cy="234517"/>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81%</a:t>
            </a:r>
            <a:pPr algn="r" indent="0" marL="0">
              <a:buNone/>
            </a:pPr>
            <a:r>
              <a:rPr lang="en-US" sz="1300" dirty="0">
                <a:solidFill>
                  <a:srgbClr val="0B2C4A"/>
                </a:solidFill>
                <a:latin typeface="Inter" pitchFamily="34" charset="0"/>
                <a:ea typeface="Inter" pitchFamily="34" charset="-122"/>
                <a:cs typeface="Inter" pitchFamily="34" charset="-120"/>
              </a:rPr>
              <a:t>  96%</a:t>
            </a:r>
            <a:endParaRPr lang="en-US" sz="1300" dirty="0"/>
          </a:p>
        </p:txBody>
      </p:sp>
      <p:sp>
        <p:nvSpPr>
          <p:cNvPr id="122" name="Text 120"/>
          <p:cNvSpPr txBox="1"/>
          <p:nvPr/>
        </p:nvSpPr>
        <p:spPr>
          <a:xfrm>
            <a:off x="6208776" y="2909944"/>
            <a:ext cx="1938528" cy="234517"/>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23" name="Shape 121"/>
          <p:cNvSpPr/>
          <p:nvPr/>
        </p:nvSpPr>
        <p:spPr>
          <a:xfrm>
            <a:off x="8583295" y="3013486"/>
            <a:ext cx="403087" cy="27432"/>
          </a:xfrm>
          <a:prstGeom prst="rect">
            <a:avLst/>
          </a:prstGeom>
          <a:solidFill>
            <a:srgbClr val="D9D9D9"/>
          </a:solidFill>
          <a:ln/>
        </p:spPr>
      </p:sp>
      <p:sp>
        <p:nvSpPr>
          <p:cNvPr id="124" name="Shape 122"/>
          <p:cNvSpPr/>
          <p:nvPr/>
        </p:nvSpPr>
        <p:spPr>
          <a:xfrm>
            <a:off x="8908658" y="2949478"/>
            <a:ext cx="155448" cy="155448"/>
          </a:xfrm>
          <a:prstGeom prst="ellipse">
            <a:avLst/>
          </a:prstGeom>
          <a:solidFill>
            <a:srgbClr val="0B2C4A"/>
          </a:solidFill>
          <a:ln/>
        </p:spPr>
      </p:sp>
      <p:sp>
        <p:nvSpPr>
          <p:cNvPr id="125" name="Shape 123"/>
          <p:cNvSpPr/>
          <p:nvPr/>
        </p:nvSpPr>
        <p:spPr>
          <a:xfrm>
            <a:off x="8505571" y="2949478"/>
            <a:ext cx="155448" cy="155448"/>
          </a:xfrm>
          <a:prstGeom prst="ellipse">
            <a:avLst/>
          </a:prstGeom>
          <a:solidFill>
            <a:srgbClr val="C2352F"/>
          </a:solidFill>
          <a:ln/>
        </p:spPr>
      </p:sp>
      <p:sp>
        <p:nvSpPr>
          <p:cNvPr id="126" name="Text 124"/>
          <p:cNvSpPr txBox="1"/>
          <p:nvPr/>
        </p:nvSpPr>
        <p:spPr>
          <a:xfrm>
            <a:off x="10049256" y="2909944"/>
            <a:ext cx="1325880" cy="234517"/>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79%</a:t>
            </a:r>
            <a:pPr algn="r" indent="0" marL="0">
              <a:buNone/>
            </a:pPr>
            <a:r>
              <a:rPr lang="en-US" sz="1300" dirty="0">
                <a:solidFill>
                  <a:srgbClr val="0B2C4A"/>
                </a:solidFill>
                <a:latin typeface="Inter" pitchFamily="34" charset="0"/>
                <a:ea typeface="Inter" pitchFamily="34" charset="-122"/>
                <a:cs typeface="Inter" pitchFamily="34" charset="-120"/>
              </a:rPr>
              <a:t>  113%</a:t>
            </a:r>
            <a:endParaRPr lang="en-US" sz="1300" dirty="0"/>
          </a:p>
        </p:txBody>
      </p:sp>
      <p:sp>
        <p:nvSpPr>
          <p:cNvPr id="127" name="Text 125"/>
          <p:cNvSpPr txBox="1"/>
          <p:nvPr/>
        </p:nvSpPr>
        <p:spPr>
          <a:xfrm>
            <a:off x="6208776" y="3144460"/>
            <a:ext cx="1938528" cy="234517"/>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128" name="Shape 126"/>
          <p:cNvSpPr/>
          <p:nvPr/>
        </p:nvSpPr>
        <p:spPr>
          <a:xfrm>
            <a:off x="8579993" y="3248003"/>
            <a:ext cx="626069" cy="27432"/>
          </a:xfrm>
          <a:prstGeom prst="rect">
            <a:avLst/>
          </a:prstGeom>
          <a:solidFill>
            <a:srgbClr val="D9D9D9"/>
          </a:solidFill>
          <a:ln/>
        </p:spPr>
      </p:sp>
      <p:sp>
        <p:nvSpPr>
          <p:cNvPr id="129" name="Shape 127"/>
          <p:cNvSpPr/>
          <p:nvPr/>
        </p:nvSpPr>
        <p:spPr>
          <a:xfrm>
            <a:off x="9128338" y="3183995"/>
            <a:ext cx="155448" cy="155448"/>
          </a:xfrm>
          <a:prstGeom prst="ellipse">
            <a:avLst/>
          </a:prstGeom>
          <a:solidFill>
            <a:srgbClr val="0B2C4A"/>
          </a:solidFill>
          <a:ln/>
        </p:spPr>
      </p:sp>
      <p:sp>
        <p:nvSpPr>
          <p:cNvPr id="130" name="Shape 128"/>
          <p:cNvSpPr/>
          <p:nvPr/>
        </p:nvSpPr>
        <p:spPr>
          <a:xfrm>
            <a:off x="8502269" y="3183995"/>
            <a:ext cx="155448" cy="155448"/>
          </a:xfrm>
          <a:prstGeom prst="ellipse">
            <a:avLst/>
          </a:prstGeom>
          <a:solidFill>
            <a:srgbClr val="C2352F"/>
          </a:solidFill>
          <a:ln/>
        </p:spPr>
      </p:sp>
      <p:sp>
        <p:nvSpPr>
          <p:cNvPr id="131" name="Text 129"/>
          <p:cNvSpPr txBox="1"/>
          <p:nvPr/>
        </p:nvSpPr>
        <p:spPr>
          <a:xfrm>
            <a:off x="10049256" y="3144460"/>
            <a:ext cx="1325880" cy="234517"/>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79%</a:t>
            </a:r>
            <a:pPr algn="r" indent="0" marL="0">
              <a:buNone/>
            </a:pPr>
            <a:r>
              <a:rPr lang="en-US" sz="1300" dirty="0">
                <a:solidFill>
                  <a:srgbClr val="0B2C4A"/>
                </a:solidFill>
                <a:latin typeface="Inter" pitchFamily="34" charset="0"/>
                <a:ea typeface="Inter" pitchFamily="34" charset="-122"/>
                <a:cs typeface="Inter" pitchFamily="34" charset="-120"/>
              </a:rPr>
              <a:t>  131%</a:t>
            </a:r>
            <a:endParaRPr lang="en-US" sz="1300" dirty="0"/>
          </a:p>
        </p:txBody>
      </p:sp>
      <p:sp>
        <p:nvSpPr>
          <p:cNvPr id="132" name="Text 130"/>
          <p:cNvSpPr txBox="1"/>
          <p:nvPr/>
        </p:nvSpPr>
        <p:spPr>
          <a:xfrm>
            <a:off x="6208776" y="3378977"/>
            <a:ext cx="1938528" cy="234517"/>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133" name="Shape 131"/>
          <p:cNvSpPr/>
          <p:nvPr/>
        </p:nvSpPr>
        <p:spPr>
          <a:xfrm>
            <a:off x="8559791" y="3482519"/>
            <a:ext cx="285552" cy="27432"/>
          </a:xfrm>
          <a:prstGeom prst="rect">
            <a:avLst/>
          </a:prstGeom>
          <a:solidFill>
            <a:srgbClr val="D9D9D9"/>
          </a:solidFill>
          <a:ln/>
        </p:spPr>
      </p:sp>
      <p:sp>
        <p:nvSpPr>
          <p:cNvPr id="134" name="Shape 132"/>
          <p:cNvSpPr/>
          <p:nvPr/>
        </p:nvSpPr>
        <p:spPr>
          <a:xfrm>
            <a:off x="8767619" y="3418511"/>
            <a:ext cx="155448" cy="155448"/>
          </a:xfrm>
          <a:prstGeom prst="ellipse">
            <a:avLst/>
          </a:prstGeom>
          <a:solidFill>
            <a:srgbClr val="0B2C4A"/>
          </a:solidFill>
          <a:ln/>
        </p:spPr>
      </p:sp>
      <p:sp>
        <p:nvSpPr>
          <p:cNvPr id="135" name="Shape 133"/>
          <p:cNvSpPr/>
          <p:nvPr/>
        </p:nvSpPr>
        <p:spPr>
          <a:xfrm>
            <a:off x="8482067" y="3418511"/>
            <a:ext cx="155448" cy="155448"/>
          </a:xfrm>
          <a:prstGeom prst="ellipse">
            <a:avLst/>
          </a:prstGeom>
          <a:solidFill>
            <a:srgbClr val="C2352F"/>
          </a:solidFill>
          <a:ln/>
        </p:spPr>
      </p:sp>
      <p:sp>
        <p:nvSpPr>
          <p:cNvPr id="136" name="Text 134"/>
          <p:cNvSpPr txBox="1"/>
          <p:nvPr/>
        </p:nvSpPr>
        <p:spPr>
          <a:xfrm>
            <a:off x="10049256" y="3378977"/>
            <a:ext cx="1325880" cy="234517"/>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77%</a:t>
            </a:r>
            <a:pPr algn="r" indent="0" marL="0">
              <a:buNone/>
            </a:pPr>
            <a:r>
              <a:rPr lang="en-US" sz="1300" dirty="0">
                <a:solidFill>
                  <a:srgbClr val="0B2C4A"/>
                </a:solidFill>
                <a:latin typeface="Inter" pitchFamily="34" charset="0"/>
                <a:ea typeface="Inter" pitchFamily="34" charset="-122"/>
                <a:cs typeface="Inter" pitchFamily="34" charset="-120"/>
              </a:rPr>
              <a:t>  101%</a:t>
            </a:r>
            <a:endParaRPr lang="en-US" sz="1300" dirty="0"/>
          </a:p>
        </p:txBody>
      </p:sp>
      <p:sp>
        <p:nvSpPr>
          <p:cNvPr id="137" name="Text 135"/>
          <p:cNvSpPr txBox="1"/>
          <p:nvPr/>
        </p:nvSpPr>
        <p:spPr>
          <a:xfrm>
            <a:off x="6208776" y="3613494"/>
            <a:ext cx="1938528" cy="234517"/>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138" name="Shape 136"/>
          <p:cNvSpPr/>
          <p:nvPr/>
        </p:nvSpPr>
        <p:spPr>
          <a:xfrm>
            <a:off x="8520910" y="3717036"/>
            <a:ext cx="360320" cy="27432"/>
          </a:xfrm>
          <a:prstGeom prst="rect">
            <a:avLst/>
          </a:prstGeom>
          <a:solidFill>
            <a:srgbClr val="D9D9D9"/>
          </a:solidFill>
          <a:ln/>
        </p:spPr>
      </p:sp>
      <p:sp>
        <p:nvSpPr>
          <p:cNvPr id="139" name="Shape 137"/>
          <p:cNvSpPr/>
          <p:nvPr/>
        </p:nvSpPr>
        <p:spPr>
          <a:xfrm>
            <a:off x="8803506" y="3653028"/>
            <a:ext cx="155448" cy="155448"/>
          </a:xfrm>
          <a:prstGeom prst="ellipse">
            <a:avLst/>
          </a:prstGeom>
          <a:solidFill>
            <a:srgbClr val="0B2C4A"/>
          </a:solidFill>
          <a:ln/>
        </p:spPr>
      </p:sp>
      <p:sp>
        <p:nvSpPr>
          <p:cNvPr id="140" name="Shape 138"/>
          <p:cNvSpPr/>
          <p:nvPr/>
        </p:nvSpPr>
        <p:spPr>
          <a:xfrm>
            <a:off x="8443186" y="3653028"/>
            <a:ext cx="155448" cy="155448"/>
          </a:xfrm>
          <a:prstGeom prst="ellipse">
            <a:avLst/>
          </a:prstGeom>
          <a:solidFill>
            <a:srgbClr val="C2352F"/>
          </a:solidFill>
          <a:ln/>
        </p:spPr>
      </p:sp>
      <p:sp>
        <p:nvSpPr>
          <p:cNvPr id="141" name="Text 139"/>
          <p:cNvSpPr txBox="1"/>
          <p:nvPr/>
        </p:nvSpPr>
        <p:spPr>
          <a:xfrm>
            <a:off x="10049256" y="3613494"/>
            <a:ext cx="1325880" cy="234517"/>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74%</a:t>
            </a:r>
            <a:pPr algn="r" indent="0" marL="0">
              <a:buNone/>
            </a:pPr>
            <a:r>
              <a:rPr lang="en-US" sz="1300" dirty="0">
                <a:solidFill>
                  <a:srgbClr val="0B2C4A"/>
                </a:solidFill>
                <a:latin typeface="Inter" pitchFamily="34" charset="0"/>
                <a:ea typeface="Inter" pitchFamily="34" charset="-122"/>
                <a:cs typeface="Inter" pitchFamily="34" charset="-120"/>
              </a:rPr>
              <a:t>  104%</a:t>
            </a:r>
            <a:endParaRPr lang="en-US" sz="1300" dirty="0"/>
          </a:p>
        </p:txBody>
      </p:sp>
      <p:sp>
        <p:nvSpPr>
          <p:cNvPr id="142" name="Text 140"/>
          <p:cNvSpPr txBox="1"/>
          <p:nvPr/>
        </p:nvSpPr>
        <p:spPr>
          <a:xfrm>
            <a:off x="6208776" y="3848010"/>
            <a:ext cx="1938528" cy="234517"/>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143" name="Shape 141"/>
          <p:cNvSpPr/>
          <p:nvPr/>
        </p:nvSpPr>
        <p:spPr>
          <a:xfrm>
            <a:off x="8506383" y="3951553"/>
            <a:ext cx="198400" cy="27432"/>
          </a:xfrm>
          <a:prstGeom prst="rect">
            <a:avLst/>
          </a:prstGeom>
          <a:solidFill>
            <a:srgbClr val="D9D9D9"/>
          </a:solidFill>
          <a:ln/>
        </p:spPr>
      </p:sp>
      <p:sp>
        <p:nvSpPr>
          <p:cNvPr id="144" name="Shape 142"/>
          <p:cNvSpPr/>
          <p:nvPr/>
        </p:nvSpPr>
        <p:spPr>
          <a:xfrm>
            <a:off x="8627059" y="3887545"/>
            <a:ext cx="155448" cy="155448"/>
          </a:xfrm>
          <a:prstGeom prst="ellipse">
            <a:avLst/>
          </a:prstGeom>
          <a:solidFill>
            <a:srgbClr val="0B2C4A"/>
          </a:solidFill>
          <a:ln/>
        </p:spPr>
      </p:sp>
      <p:sp>
        <p:nvSpPr>
          <p:cNvPr id="145" name="Shape 143"/>
          <p:cNvSpPr/>
          <p:nvPr/>
        </p:nvSpPr>
        <p:spPr>
          <a:xfrm>
            <a:off x="8428659" y="3887545"/>
            <a:ext cx="155448" cy="155448"/>
          </a:xfrm>
          <a:prstGeom prst="ellipse">
            <a:avLst/>
          </a:prstGeom>
          <a:solidFill>
            <a:srgbClr val="C2352F"/>
          </a:solidFill>
          <a:ln/>
        </p:spPr>
      </p:sp>
      <p:sp>
        <p:nvSpPr>
          <p:cNvPr id="146" name="Text 144"/>
          <p:cNvSpPr txBox="1"/>
          <p:nvPr/>
        </p:nvSpPr>
        <p:spPr>
          <a:xfrm>
            <a:off x="10049256" y="3848010"/>
            <a:ext cx="1325880" cy="234517"/>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72%</a:t>
            </a:r>
            <a:pPr algn="r" indent="0" marL="0">
              <a:buNone/>
            </a:pPr>
            <a:r>
              <a:rPr lang="en-US" sz="1300" dirty="0">
                <a:solidFill>
                  <a:srgbClr val="0B2C4A"/>
                </a:solidFill>
                <a:latin typeface="Inter" pitchFamily="34" charset="0"/>
                <a:ea typeface="Inter" pitchFamily="34" charset="-122"/>
                <a:cs typeface="Inter" pitchFamily="34" charset="-120"/>
              </a:rPr>
              <a:t>  89%</a:t>
            </a:r>
            <a:endParaRPr lang="en-US" sz="1300" dirty="0"/>
          </a:p>
        </p:txBody>
      </p:sp>
      <p:sp>
        <p:nvSpPr>
          <p:cNvPr id="147" name="Text 145"/>
          <p:cNvSpPr txBox="1"/>
          <p:nvPr/>
        </p:nvSpPr>
        <p:spPr>
          <a:xfrm>
            <a:off x="6208776" y="4082527"/>
            <a:ext cx="1938528" cy="234517"/>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148" name="Shape 146"/>
          <p:cNvSpPr/>
          <p:nvPr/>
        </p:nvSpPr>
        <p:spPr>
          <a:xfrm>
            <a:off x="8492153" y="4186069"/>
            <a:ext cx="689844" cy="27432"/>
          </a:xfrm>
          <a:prstGeom prst="rect">
            <a:avLst/>
          </a:prstGeom>
          <a:solidFill>
            <a:srgbClr val="D9D9D9"/>
          </a:solidFill>
          <a:ln/>
        </p:spPr>
      </p:sp>
      <p:sp>
        <p:nvSpPr>
          <p:cNvPr id="149" name="Shape 147"/>
          <p:cNvSpPr/>
          <p:nvPr/>
        </p:nvSpPr>
        <p:spPr>
          <a:xfrm>
            <a:off x="9104273" y="4122061"/>
            <a:ext cx="155448" cy="155448"/>
          </a:xfrm>
          <a:prstGeom prst="ellipse">
            <a:avLst/>
          </a:prstGeom>
          <a:solidFill>
            <a:srgbClr val="0B2C4A"/>
          </a:solidFill>
          <a:ln/>
        </p:spPr>
      </p:sp>
      <p:sp>
        <p:nvSpPr>
          <p:cNvPr id="150" name="Shape 148"/>
          <p:cNvSpPr/>
          <p:nvPr/>
        </p:nvSpPr>
        <p:spPr>
          <a:xfrm>
            <a:off x="8414429" y="4122061"/>
            <a:ext cx="155448" cy="155448"/>
          </a:xfrm>
          <a:prstGeom prst="ellipse">
            <a:avLst/>
          </a:prstGeom>
          <a:solidFill>
            <a:srgbClr val="C2352F"/>
          </a:solidFill>
          <a:ln/>
        </p:spPr>
      </p:sp>
      <p:sp>
        <p:nvSpPr>
          <p:cNvPr id="151" name="Text 149"/>
          <p:cNvSpPr txBox="1"/>
          <p:nvPr/>
        </p:nvSpPr>
        <p:spPr>
          <a:xfrm>
            <a:off x="10049256" y="4082527"/>
            <a:ext cx="1325880" cy="234517"/>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71%</a:t>
            </a:r>
            <a:pPr algn="r" indent="0" marL="0">
              <a:buNone/>
            </a:pPr>
            <a:r>
              <a:rPr lang="en-US" sz="1300" dirty="0">
                <a:solidFill>
                  <a:srgbClr val="0B2C4A"/>
                </a:solidFill>
                <a:latin typeface="Inter" pitchFamily="34" charset="0"/>
                <a:ea typeface="Inter" pitchFamily="34" charset="-122"/>
                <a:cs typeface="Inter" pitchFamily="34" charset="-120"/>
              </a:rPr>
              <a:t>  129%</a:t>
            </a:r>
            <a:endParaRPr lang="en-US" sz="1300" dirty="0"/>
          </a:p>
        </p:txBody>
      </p:sp>
      <p:sp>
        <p:nvSpPr>
          <p:cNvPr id="152" name="Text 150"/>
          <p:cNvSpPr txBox="1"/>
          <p:nvPr/>
        </p:nvSpPr>
        <p:spPr>
          <a:xfrm>
            <a:off x="6208776" y="4317044"/>
            <a:ext cx="1938528" cy="234517"/>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153" name="Shape 151"/>
          <p:cNvSpPr/>
          <p:nvPr/>
        </p:nvSpPr>
        <p:spPr>
          <a:xfrm>
            <a:off x="8478173" y="4420586"/>
            <a:ext cx="73001" cy="27432"/>
          </a:xfrm>
          <a:prstGeom prst="rect">
            <a:avLst/>
          </a:prstGeom>
          <a:solidFill>
            <a:srgbClr val="D9D9D9"/>
          </a:solidFill>
          <a:ln/>
        </p:spPr>
      </p:sp>
      <p:sp>
        <p:nvSpPr>
          <p:cNvPr id="154" name="Shape 152"/>
          <p:cNvSpPr/>
          <p:nvPr/>
        </p:nvSpPr>
        <p:spPr>
          <a:xfrm>
            <a:off x="8473450" y="4356578"/>
            <a:ext cx="155448" cy="155448"/>
          </a:xfrm>
          <a:prstGeom prst="ellipse">
            <a:avLst/>
          </a:prstGeom>
          <a:solidFill>
            <a:srgbClr val="0B2C4A"/>
          </a:solidFill>
          <a:ln/>
        </p:spPr>
      </p:sp>
      <p:sp>
        <p:nvSpPr>
          <p:cNvPr id="155" name="Shape 153"/>
          <p:cNvSpPr/>
          <p:nvPr/>
        </p:nvSpPr>
        <p:spPr>
          <a:xfrm>
            <a:off x="8400449" y="4356578"/>
            <a:ext cx="155448" cy="155448"/>
          </a:xfrm>
          <a:prstGeom prst="ellipse">
            <a:avLst/>
          </a:prstGeom>
          <a:solidFill>
            <a:srgbClr val="C2352F"/>
          </a:solidFill>
          <a:ln/>
        </p:spPr>
      </p:sp>
      <p:sp>
        <p:nvSpPr>
          <p:cNvPr id="156" name="Text 154"/>
          <p:cNvSpPr txBox="1"/>
          <p:nvPr/>
        </p:nvSpPr>
        <p:spPr>
          <a:xfrm>
            <a:off x="10049256" y="4317044"/>
            <a:ext cx="1325880" cy="234517"/>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70%</a:t>
            </a:r>
            <a:pPr algn="r" indent="0" marL="0">
              <a:buNone/>
            </a:pPr>
            <a:r>
              <a:rPr lang="en-US" sz="1300" dirty="0">
                <a:solidFill>
                  <a:srgbClr val="0B2C4A"/>
                </a:solidFill>
                <a:latin typeface="Inter" pitchFamily="34" charset="0"/>
                <a:ea typeface="Inter" pitchFamily="34" charset="-122"/>
                <a:cs typeface="Inter" pitchFamily="34" charset="-120"/>
              </a:rPr>
              <a:t>  76%</a:t>
            </a:r>
            <a:endParaRPr lang="en-US" sz="1300" dirty="0"/>
          </a:p>
        </p:txBody>
      </p:sp>
      <p:sp>
        <p:nvSpPr>
          <p:cNvPr id="157" name="Text 155"/>
          <p:cNvSpPr txBox="1"/>
          <p:nvPr/>
        </p:nvSpPr>
        <p:spPr>
          <a:xfrm>
            <a:off x="6208776" y="4551560"/>
            <a:ext cx="1938528" cy="234517"/>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158" name="Shape 156"/>
          <p:cNvSpPr/>
          <p:nvPr/>
        </p:nvSpPr>
        <p:spPr>
          <a:xfrm>
            <a:off x="8466129" y="4655103"/>
            <a:ext cx="635814" cy="27432"/>
          </a:xfrm>
          <a:prstGeom prst="rect">
            <a:avLst/>
          </a:prstGeom>
          <a:solidFill>
            <a:srgbClr val="D9D9D9"/>
          </a:solidFill>
          <a:ln/>
        </p:spPr>
      </p:sp>
      <p:sp>
        <p:nvSpPr>
          <p:cNvPr id="159" name="Shape 157"/>
          <p:cNvSpPr/>
          <p:nvPr/>
        </p:nvSpPr>
        <p:spPr>
          <a:xfrm>
            <a:off x="9024219" y="4591095"/>
            <a:ext cx="155448" cy="155448"/>
          </a:xfrm>
          <a:prstGeom prst="ellipse">
            <a:avLst/>
          </a:prstGeom>
          <a:solidFill>
            <a:srgbClr val="0B2C4A"/>
          </a:solidFill>
          <a:ln/>
        </p:spPr>
      </p:sp>
      <p:sp>
        <p:nvSpPr>
          <p:cNvPr id="160" name="Shape 158"/>
          <p:cNvSpPr/>
          <p:nvPr/>
        </p:nvSpPr>
        <p:spPr>
          <a:xfrm>
            <a:off x="8388405" y="4591095"/>
            <a:ext cx="155448" cy="155448"/>
          </a:xfrm>
          <a:prstGeom prst="ellipse">
            <a:avLst/>
          </a:prstGeom>
          <a:solidFill>
            <a:srgbClr val="C2352F"/>
          </a:solidFill>
          <a:ln/>
        </p:spPr>
      </p:sp>
      <p:sp>
        <p:nvSpPr>
          <p:cNvPr id="161" name="Text 159"/>
          <p:cNvSpPr txBox="1"/>
          <p:nvPr/>
        </p:nvSpPr>
        <p:spPr>
          <a:xfrm>
            <a:off x="10049256" y="4551560"/>
            <a:ext cx="1325880" cy="234517"/>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69%</a:t>
            </a:r>
            <a:pPr algn="r" indent="0" marL="0">
              <a:buNone/>
            </a:pPr>
            <a:r>
              <a:rPr lang="en-US" sz="1300" dirty="0">
                <a:solidFill>
                  <a:srgbClr val="0B2C4A"/>
                </a:solidFill>
                <a:latin typeface="Inter" pitchFamily="34" charset="0"/>
                <a:ea typeface="Inter" pitchFamily="34" charset="-122"/>
                <a:cs typeface="Inter" pitchFamily="34" charset="-120"/>
              </a:rPr>
              <a:t>  122%</a:t>
            </a:r>
            <a:endParaRPr lang="en-US" sz="1300" dirty="0"/>
          </a:p>
        </p:txBody>
      </p:sp>
      <p:sp>
        <p:nvSpPr>
          <p:cNvPr id="162" name="Text 160"/>
          <p:cNvSpPr txBox="1"/>
          <p:nvPr/>
        </p:nvSpPr>
        <p:spPr>
          <a:xfrm>
            <a:off x="6208776" y="4786077"/>
            <a:ext cx="1938528" cy="234517"/>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163" name="Shape 161"/>
          <p:cNvSpPr/>
          <p:nvPr/>
        </p:nvSpPr>
        <p:spPr>
          <a:xfrm>
            <a:off x="8458867" y="4889620"/>
            <a:ext cx="335577" cy="27432"/>
          </a:xfrm>
          <a:prstGeom prst="rect">
            <a:avLst/>
          </a:prstGeom>
          <a:solidFill>
            <a:srgbClr val="D9D9D9"/>
          </a:solidFill>
          <a:ln/>
        </p:spPr>
      </p:sp>
      <p:sp>
        <p:nvSpPr>
          <p:cNvPr id="164" name="Shape 162"/>
          <p:cNvSpPr/>
          <p:nvPr/>
        </p:nvSpPr>
        <p:spPr>
          <a:xfrm>
            <a:off x="8716721" y="4825612"/>
            <a:ext cx="155448" cy="155448"/>
          </a:xfrm>
          <a:prstGeom prst="ellipse">
            <a:avLst/>
          </a:prstGeom>
          <a:solidFill>
            <a:srgbClr val="0B2C4A"/>
          </a:solidFill>
          <a:ln/>
        </p:spPr>
      </p:sp>
      <p:sp>
        <p:nvSpPr>
          <p:cNvPr id="165" name="Shape 163"/>
          <p:cNvSpPr/>
          <p:nvPr/>
        </p:nvSpPr>
        <p:spPr>
          <a:xfrm>
            <a:off x="8381143" y="4825612"/>
            <a:ext cx="155448" cy="155448"/>
          </a:xfrm>
          <a:prstGeom prst="ellipse">
            <a:avLst/>
          </a:prstGeom>
          <a:solidFill>
            <a:srgbClr val="C2352F"/>
          </a:solidFill>
          <a:ln/>
        </p:spPr>
      </p:sp>
      <p:sp>
        <p:nvSpPr>
          <p:cNvPr id="166" name="Text 164"/>
          <p:cNvSpPr txBox="1"/>
          <p:nvPr/>
        </p:nvSpPr>
        <p:spPr>
          <a:xfrm>
            <a:off x="10049256" y="4786077"/>
            <a:ext cx="1325880" cy="234517"/>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68%</a:t>
            </a:r>
            <a:pPr algn="r" indent="0" marL="0">
              <a:buNone/>
            </a:pPr>
            <a:r>
              <a:rPr lang="en-US" sz="1300" dirty="0">
                <a:solidFill>
                  <a:srgbClr val="0B2C4A"/>
                </a:solidFill>
                <a:latin typeface="Inter" pitchFamily="34" charset="0"/>
                <a:ea typeface="Inter" pitchFamily="34" charset="-122"/>
                <a:cs typeface="Inter" pitchFamily="34" charset="-120"/>
              </a:rPr>
              <a:t>  96%</a:t>
            </a:r>
            <a:endParaRPr lang="en-US" sz="1300" dirty="0"/>
          </a:p>
        </p:txBody>
      </p:sp>
      <p:sp>
        <p:nvSpPr>
          <p:cNvPr id="167" name="Text 165"/>
          <p:cNvSpPr txBox="1"/>
          <p:nvPr/>
        </p:nvSpPr>
        <p:spPr>
          <a:xfrm>
            <a:off x="6208776" y="5020594"/>
            <a:ext cx="1938528" cy="234517"/>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168" name="Shape 166"/>
          <p:cNvSpPr/>
          <p:nvPr/>
        </p:nvSpPr>
        <p:spPr>
          <a:xfrm>
            <a:off x="8448076" y="5124136"/>
            <a:ext cx="363217" cy="27432"/>
          </a:xfrm>
          <a:prstGeom prst="rect">
            <a:avLst/>
          </a:prstGeom>
          <a:solidFill>
            <a:srgbClr val="D9D9D9"/>
          </a:solidFill>
          <a:ln/>
        </p:spPr>
      </p:sp>
      <p:sp>
        <p:nvSpPr>
          <p:cNvPr id="169" name="Shape 167"/>
          <p:cNvSpPr/>
          <p:nvPr/>
        </p:nvSpPr>
        <p:spPr>
          <a:xfrm>
            <a:off x="8733569" y="5060128"/>
            <a:ext cx="155448" cy="155448"/>
          </a:xfrm>
          <a:prstGeom prst="ellipse">
            <a:avLst/>
          </a:prstGeom>
          <a:solidFill>
            <a:srgbClr val="0B2C4A"/>
          </a:solidFill>
          <a:ln/>
        </p:spPr>
      </p:sp>
      <p:sp>
        <p:nvSpPr>
          <p:cNvPr id="170" name="Shape 168"/>
          <p:cNvSpPr/>
          <p:nvPr/>
        </p:nvSpPr>
        <p:spPr>
          <a:xfrm>
            <a:off x="8370352" y="5060128"/>
            <a:ext cx="155448" cy="155448"/>
          </a:xfrm>
          <a:prstGeom prst="ellipse">
            <a:avLst/>
          </a:prstGeom>
          <a:solidFill>
            <a:srgbClr val="C2352F"/>
          </a:solidFill>
          <a:ln/>
        </p:spPr>
      </p:sp>
      <p:sp>
        <p:nvSpPr>
          <p:cNvPr id="171" name="Text 169"/>
          <p:cNvSpPr txBox="1"/>
          <p:nvPr/>
        </p:nvSpPr>
        <p:spPr>
          <a:xfrm>
            <a:off x="10049256" y="5020594"/>
            <a:ext cx="1325880" cy="234517"/>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68%</a:t>
            </a:r>
            <a:pPr algn="r" indent="0" marL="0">
              <a:buNone/>
            </a:pPr>
            <a:r>
              <a:rPr lang="en-US" sz="1300" dirty="0">
                <a:solidFill>
                  <a:srgbClr val="0B2C4A"/>
                </a:solidFill>
                <a:latin typeface="Inter" pitchFamily="34" charset="0"/>
                <a:ea typeface="Inter" pitchFamily="34" charset="-122"/>
                <a:cs typeface="Inter" pitchFamily="34" charset="-120"/>
              </a:rPr>
              <a:t>  98%</a:t>
            </a:r>
            <a:endParaRPr lang="en-US" sz="1300" dirty="0"/>
          </a:p>
        </p:txBody>
      </p:sp>
      <p:sp>
        <p:nvSpPr>
          <p:cNvPr id="172" name="Text 170"/>
          <p:cNvSpPr txBox="1"/>
          <p:nvPr/>
        </p:nvSpPr>
        <p:spPr>
          <a:xfrm>
            <a:off x="6208776" y="5255111"/>
            <a:ext cx="1938528" cy="234517"/>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173" name="Shape 171"/>
          <p:cNvSpPr/>
          <p:nvPr/>
        </p:nvSpPr>
        <p:spPr>
          <a:xfrm>
            <a:off x="8447091" y="5358653"/>
            <a:ext cx="75203" cy="27432"/>
          </a:xfrm>
          <a:prstGeom prst="rect">
            <a:avLst/>
          </a:prstGeom>
          <a:solidFill>
            <a:srgbClr val="D9D9D9"/>
          </a:solidFill>
          <a:ln/>
        </p:spPr>
      </p:sp>
      <p:sp>
        <p:nvSpPr>
          <p:cNvPr id="174" name="Shape 172"/>
          <p:cNvSpPr/>
          <p:nvPr/>
        </p:nvSpPr>
        <p:spPr>
          <a:xfrm>
            <a:off x="8444570" y="5294645"/>
            <a:ext cx="155448" cy="155448"/>
          </a:xfrm>
          <a:prstGeom prst="ellipse">
            <a:avLst/>
          </a:prstGeom>
          <a:solidFill>
            <a:srgbClr val="0B2C4A"/>
          </a:solidFill>
          <a:ln/>
        </p:spPr>
      </p:sp>
      <p:sp>
        <p:nvSpPr>
          <p:cNvPr id="175" name="Shape 173"/>
          <p:cNvSpPr/>
          <p:nvPr/>
        </p:nvSpPr>
        <p:spPr>
          <a:xfrm>
            <a:off x="8369367" y="5294645"/>
            <a:ext cx="155448" cy="155448"/>
          </a:xfrm>
          <a:prstGeom prst="ellipse">
            <a:avLst/>
          </a:prstGeom>
          <a:solidFill>
            <a:srgbClr val="C2352F"/>
          </a:solidFill>
          <a:ln/>
        </p:spPr>
      </p:sp>
      <p:sp>
        <p:nvSpPr>
          <p:cNvPr id="176" name="Text 174"/>
          <p:cNvSpPr txBox="1"/>
          <p:nvPr/>
        </p:nvSpPr>
        <p:spPr>
          <a:xfrm>
            <a:off x="10049256" y="5255111"/>
            <a:ext cx="1325880" cy="234517"/>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67%</a:t>
            </a:r>
            <a:pPr algn="r" indent="0" marL="0">
              <a:buNone/>
            </a:pPr>
            <a:r>
              <a:rPr lang="en-US" sz="1300" dirty="0">
                <a:solidFill>
                  <a:srgbClr val="0B2C4A"/>
                </a:solidFill>
                <a:latin typeface="Inter" pitchFamily="34" charset="0"/>
                <a:ea typeface="Inter" pitchFamily="34" charset="-122"/>
                <a:cs typeface="Inter" pitchFamily="34" charset="-120"/>
              </a:rPr>
              <a:t>  74%</a:t>
            </a:r>
            <a:endParaRPr lang="en-US" sz="1300" dirty="0"/>
          </a:p>
        </p:txBody>
      </p:sp>
      <p:sp>
        <p:nvSpPr>
          <p:cNvPr id="177" name="Shape 175"/>
          <p:cNvSpPr/>
          <p:nvPr/>
        </p:nvSpPr>
        <p:spPr>
          <a:xfrm>
            <a:off x="457200" y="5961888"/>
            <a:ext cx="11274552" cy="548640"/>
          </a:xfrm>
          <a:prstGeom prst="rect">
            <a:avLst/>
          </a:prstGeom>
          <a:solidFill>
            <a:srgbClr val="EDF4FA"/>
          </a:solidFill>
          <a:ln/>
        </p:spPr>
      </p:sp>
      <p:sp>
        <p:nvSpPr>
          <p:cNvPr id="178" name="Text 176"/>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At 11 of the 13 stores under 85%, the top quarter of techs already run above 85%. Same bays, same dispatch, same car count.</a:t>
            </a:r>
            <a:endParaRPr lang="en-US" sz="1600" dirty="0"/>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Is It the Work or the Workers?</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316736"/>
            <a:ext cx="2651760" cy="32918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FEWER ROS · 10 STORES</a:t>
            </a:r>
            <a:endParaRPr lang="en-US" sz="1400" dirty="0"/>
          </a:p>
        </p:txBody>
      </p:sp>
      <p:sp>
        <p:nvSpPr>
          <p:cNvPr id="7" name="Text 5"/>
          <p:cNvSpPr txBox="1"/>
          <p:nvPr/>
        </p:nvSpPr>
        <p:spPr>
          <a:xfrm>
            <a:off x="3438144" y="1316736"/>
            <a:ext cx="74980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Prof.</a:t>
            </a:r>
            <a:endParaRPr lang="en-US" sz="1400" dirty="0"/>
          </a:p>
        </p:txBody>
      </p:sp>
      <p:sp>
        <p:nvSpPr>
          <p:cNvPr id="8" name="Text 6"/>
          <p:cNvSpPr txBox="1"/>
          <p:nvPr/>
        </p:nvSpPr>
        <p:spPr>
          <a:xfrm>
            <a:off x="4187952" y="1316736"/>
            <a:ext cx="84124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ROs/day</a:t>
            </a:r>
            <a:endParaRPr lang="en-US" sz="1400" dirty="0"/>
          </a:p>
        </p:txBody>
      </p:sp>
      <p:sp>
        <p:nvSpPr>
          <p:cNvPr id="9" name="Text 7"/>
          <p:cNvSpPr txBox="1"/>
          <p:nvPr/>
        </p:nvSpPr>
        <p:spPr>
          <a:xfrm>
            <a:off x="5029200" y="1316736"/>
            <a:ext cx="84124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Seg avg</a:t>
            </a:r>
            <a:endParaRPr lang="en-US" sz="1400" dirty="0"/>
          </a:p>
        </p:txBody>
      </p:sp>
      <p:sp>
        <p:nvSpPr>
          <p:cNvPr id="10" name="Text 8"/>
          <p:cNvSpPr txBox="1"/>
          <p:nvPr/>
        </p:nvSpPr>
        <p:spPr>
          <a:xfrm>
            <a:off x="658368" y="1755648"/>
            <a:ext cx="1920240" cy="39867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11" name="Shape 9"/>
          <p:cNvSpPr/>
          <p:nvPr/>
        </p:nvSpPr>
        <p:spPr>
          <a:xfrm>
            <a:off x="2651760" y="1855318"/>
            <a:ext cx="648144" cy="199339"/>
          </a:xfrm>
          <a:prstGeom prst="rect">
            <a:avLst/>
          </a:prstGeom>
          <a:solidFill>
            <a:srgbClr val="C2352F"/>
          </a:solidFill>
          <a:ln/>
        </p:spPr>
      </p:sp>
      <p:sp>
        <p:nvSpPr>
          <p:cNvPr id="12" name="Text 10"/>
          <p:cNvSpPr txBox="1"/>
          <p:nvPr/>
        </p:nvSpPr>
        <p:spPr>
          <a:xfrm>
            <a:off x="3438144" y="1755648"/>
            <a:ext cx="749808" cy="398678"/>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83.6%</a:t>
            </a:r>
            <a:endParaRPr lang="en-US" sz="1300" dirty="0"/>
          </a:p>
        </p:txBody>
      </p:sp>
      <p:sp>
        <p:nvSpPr>
          <p:cNvPr id="13" name="Text 11"/>
          <p:cNvSpPr txBox="1"/>
          <p:nvPr/>
        </p:nvSpPr>
        <p:spPr>
          <a:xfrm>
            <a:off x="4187952" y="1755648"/>
            <a:ext cx="841248" cy="39867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4.2</a:t>
            </a:r>
            <a:endParaRPr lang="en-US" sz="1300" dirty="0"/>
          </a:p>
        </p:txBody>
      </p:sp>
      <p:sp>
        <p:nvSpPr>
          <p:cNvPr id="14" name="Text 12"/>
          <p:cNvSpPr txBox="1"/>
          <p:nvPr/>
        </p:nvSpPr>
        <p:spPr>
          <a:xfrm>
            <a:off x="5029200" y="1755648"/>
            <a:ext cx="841248" cy="39867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4.9</a:t>
            </a:r>
            <a:endParaRPr lang="en-US" sz="1300" dirty="0"/>
          </a:p>
        </p:txBody>
      </p:sp>
      <p:sp>
        <p:nvSpPr>
          <p:cNvPr id="15" name="Text 13"/>
          <p:cNvSpPr txBox="1"/>
          <p:nvPr/>
        </p:nvSpPr>
        <p:spPr>
          <a:xfrm>
            <a:off x="658368" y="2154326"/>
            <a:ext cx="1920240" cy="39867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16" name="Shape 14"/>
          <p:cNvSpPr/>
          <p:nvPr/>
        </p:nvSpPr>
        <p:spPr>
          <a:xfrm>
            <a:off x="2651760" y="2253996"/>
            <a:ext cx="615319" cy="199339"/>
          </a:xfrm>
          <a:prstGeom prst="rect">
            <a:avLst/>
          </a:prstGeom>
          <a:solidFill>
            <a:srgbClr val="C2352F"/>
          </a:solidFill>
          <a:ln/>
        </p:spPr>
      </p:sp>
      <p:sp>
        <p:nvSpPr>
          <p:cNvPr id="17" name="Text 15"/>
          <p:cNvSpPr txBox="1"/>
          <p:nvPr/>
        </p:nvSpPr>
        <p:spPr>
          <a:xfrm>
            <a:off x="3438144" y="2154326"/>
            <a:ext cx="749808" cy="398678"/>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81.4%</a:t>
            </a:r>
            <a:endParaRPr lang="en-US" sz="1300" dirty="0"/>
          </a:p>
        </p:txBody>
      </p:sp>
      <p:sp>
        <p:nvSpPr>
          <p:cNvPr id="18" name="Text 16"/>
          <p:cNvSpPr txBox="1"/>
          <p:nvPr/>
        </p:nvSpPr>
        <p:spPr>
          <a:xfrm>
            <a:off x="4187952" y="2154326"/>
            <a:ext cx="841248" cy="39867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a:t>
            </a:r>
            <a:endParaRPr lang="en-US" sz="1300" dirty="0"/>
          </a:p>
        </p:txBody>
      </p:sp>
      <p:sp>
        <p:nvSpPr>
          <p:cNvPr id="19" name="Text 17"/>
          <p:cNvSpPr txBox="1"/>
          <p:nvPr/>
        </p:nvSpPr>
        <p:spPr>
          <a:xfrm>
            <a:off x="5029200" y="2154326"/>
            <a:ext cx="841248" cy="39867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3.0</a:t>
            </a:r>
            <a:endParaRPr lang="en-US" sz="1300" dirty="0"/>
          </a:p>
        </p:txBody>
      </p:sp>
      <p:sp>
        <p:nvSpPr>
          <p:cNvPr id="20" name="Text 18"/>
          <p:cNvSpPr txBox="1"/>
          <p:nvPr/>
        </p:nvSpPr>
        <p:spPr>
          <a:xfrm>
            <a:off x="658368" y="2553005"/>
            <a:ext cx="1920240" cy="39867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21" name="Shape 19"/>
          <p:cNvSpPr/>
          <p:nvPr/>
        </p:nvSpPr>
        <p:spPr>
          <a:xfrm>
            <a:off x="2651760" y="2652674"/>
            <a:ext cx="576700" cy="199339"/>
          </a:xfrm>
          <a:prstGeom prst="rect">
            <a:avLst/>
          </a:prstGeom>
          <a:solidFill>
            <a:srgbClr val="C2352F"/>
          </a:solidFill>
          <a:ln/>
        </p:spPr>
      </p:sp>
      <p:sp>
        <p:nvSpPr>
          <p:cNvPr id="22" name="Text 20"/>
          <p:cNvSpPr txBox="1"/>
          <p:nvPr/>
        </p:nvSpPr>
        <p:spPr>
          <a:xfrm>
            <a:off x="3438144" y="2553005"/>
            <a:ext cx="749808" cy="398678"/>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78.8%</a:t>
            </a:r>
            <a:endParaRPr lang="en-US" sz="1300" dirty="0"/>
          </a:p>
        </p:txBody>
      </p:sp>
      <p:sp>
        <p:nvSpPr>
          <p:cNvPr id="23" name="Text 21"/>
          <p:cNvSpPr txBox="1"/>
          <p:nvPr/>
        </p:nvSpPr>
        <p:spPr>
          <a:xfrm>
            <a:off x="4187952" y="2553005"/>
            <a:ext cx="841248" cy="39867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3.8</a:t>
            </a:r>
            <a:endParaRPr lang="en-US" sz="1300" dirty="0"/>
          </a:p>
        </p:txBody>
      </p:sp>
      <p:sp>
        <p:nvSpPr>
          <p:cNvPr id="24" name="Text 22"/>
          <p:cNvSpPr txBox="1"/>
          <p:nvPr/>
        </p:nvSpPr>
        <p:spPr>
          <a:xfrm>
            <a:off x="5029200" y="2553005"/>
            <a:ext cx="841248" cy="39867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4.9</a:t>
            </a:r>
            <a:endParaRPr lang="en-US" sz="1300" dirty="0"/>
          </a:p>
        </p:txBody>
      </p:sp>
      <p:sp>
        <p:nvSpPr>
          <p:cNvPr id="25" name="Text 23"/>
          <p:cNvSpPr txBox="1"/>
          <p:nvPr/>
        </p:nvSpPr>
        <p:spPr>
          <a:xfrm>
            <a:off x="658368" y="2951683"/>
            <a:ext cx="1920240" cy="39867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26" name="Shape 24"/>
          <p:cNvSpPr/>
          <p:nvPr/>
        </p:nvSpPr>
        <p:spPr>
          <a:xfrm>
            <a:off x="2651760" y="3051353"/>
            <a:ext cx="499175" cy="199339"/>
          </a:xfrm>
          <a:prstGeom prst="rect">
            <a:avLst/>
          </a:prstGeom>
          <a:solidFill>
            <a:srgbClr val="C2352F"/>
          </a:solidFill>
          <a:ln/>
        </p:spPr>
      </p:sp>
      <p:sp>
        <p:nvSpPr>
          <p:cNvPr id="27" name="Text 25"/>
          <p:cNvSpPr txBox="1"/>
          <p:nvPr/>
        </p:nvSpPr>
        <p:spPr>
          <a:xfrm>
            <a:off x="3438144" y="2951683"/>
            <a:ext cx="749808" cy="398678"/>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73.6%</a:t>
            </a:r>
            <a:endParaRPr lang="en-US" sz="1300" dirty="0"/>
          </a:p>
        </p:txBody>
      </p:sp>
      <p:sp>
        <p:nvSpPr>
          <p:cNvPr id="28" name="Text 26"/>
          <p:cNvSpPr txBox="1"/>
          <p:nvPr/>
        </p:nvSpPr>
        <p:spPr>
          <a:xfrm>
            <a:off x="4187952" y="2951683"/>
            <a:ext cx="841248" cy="39867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3.6</a:t>
            </a:r>
            <a:endParaRPr lang="en-US" sz="1300" dirty="0"/>
          </a:p>
        </p:txBody>
      </p:sp>
      <p:sp>
        <p:nvSpPr>
          <p:cNvPr id="29" name="Text 27"/>
          <p:cNvSpPr txBox="1"/>
          <p:nvPr/>
        </p:nvSpPr>
        <p:spPr>
          <a:xfrm>
            <a:off x="5029200" y="2951683"/>
            <a:ext cx="841248" cy="39867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4.9</a:t>
            </a:r>
            <a:endParaRPr lang="en-US" sz="1300" dirty="0"/>
          </a:p>
        </p:txBody>
      </p:sp>
      <p:sp>
        <p:nvSpPr>
          <p:cNvPr id="30" name="Text 28"/>
          <p:cNvSpPr txBox="1"/>
          <p:nvPr/>
        </p:nvSpPr>
        <p:spPr>
          <a:xfrm>
            <a:off x="658368" y="3350362"/>
            <a:ext cx="1920240" cy="39867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31" name="Shape 29"/>
          <p:cNvSpPr/>
          <p:nvPr/>
        </p:nvSpPr>
        <p:spPr>
          <a:xfrm>
            <a:off x="2651760" y="3450031"/>
            <a:ext cx="463439" cy="199339"/>
          </a:xfrm>
          <a:prstGeom prst="rect">
            <a:avLst/>
          </a:prstGeom>
          <a:solidFill>
            <a:srgbClr val="C2352F"/>
          </a:solidFill>
          <a:ln/>
        </p:spPr>
      </p:sp>
      <p:sp>
        <p:nvSpPr>
          <p:cNvPr id="32" name="Text 30"/>
          <p:cNvSpPr txBox="1"/>
          <p:nvPr/>
        </p:nvSpPr>
        <p:spPr>
          <a:xfrm>
            <a:off x="3438144" y="3350362"/>
            <a:ext cx="749808" cy="398678"/>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71.2%</a:t>
            </a:r>
            <a:endParaRPr lang="en-US" sz="1300" dirty="0"/>
          </a:p>
        </p:txBody>
      </p:sp>
      <p:sp>
        <p:nvSpPr>
          <p:cNvPr id="33" name="Text 31"/>
          <p:cNvSpPr txBox="1"/>
          <p:nvPr/>
        </p:nvSpPr>
        <p:spPr>
          <a:xfrm>
            <a:off x="4187952" y="3350362"/>
            <a:ext cx="841248" cy="39867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3.8</a:t>
            </a:r>
            <a:endParaRPr lang="en-US" sz="1300" dirty="0"/>
          </a:p>
        </p:txBody>
      </p:sp>
      <p:sp>
        <p:nvSpPr>
          <p:cNvPr id="34" name="Text 32"/>
          <p:cNvSpPr txBox="1"/>
          <p:nvPr/>
        </p:nvSpPr>
        <p:spPr>
          <a:xfrm>
            <a:off x="5029200" y="3350362"/>
            <a:ext cx="841248" cy="39867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4.9</a:t>
            </a:r>
            <a:endParaRPr lang="en-US" sz="1300" dirty="0"/>
          </a:p>
        </p:txBody>
      </p:sp>
      <p:sp>
        <p:nvSpPr>
          <p:cNvPr id="35" name="Text 33"/>
          <p:cNvSpPr txBox="1"/>
          <p:nvPr/>
        </p:nvSpPr>
        <p:spPr>
          <a:xfrm>
            <a:off x="658368" y="3749040"/>
            <a:ext cx="1920240" cy="39867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36" name="Shape 34"/>
          <p:cNvSpPr/>
          <p:nvPr/>
        </p:nvSpPr>
        <p:spPr>
          <a:xfrm>
            <a:off x="2651760" y="3848710"/>
            <a:ext cx="446067" cy="199339"/>
          </a:xfrm>
          <a:prstGeom prst="rect">
            <a:avLst/>
          </a:prstGeom>
          <a:solidFill>
            <a:srgbClr val="C2352F"/>
          </a:solidFill>
          <a:ln/>
        </p:spPr>
      </p:sp>
      <p:sp>
        <p:nvSpPr>
          <p:cNvPr id="37" name="Text 35"/>
          <p:cNvSpPr txBox="1"/>
          <p:nvPr/>
        </p:nvSpPr>
        <p:spPr>
          <a:xfrm>
            <a:off x="3438144" y="3749040"/>
            <a:ext cx="749808" cy="398678"/>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70.0%</a:t>
            </a:r>
            <a:endParaRPr lang="en-US" sz="1300" dirty="0"/>
          </a:p>
        </p:txBody>
      </p:sp>
      <p:sp>
        <p:nvSpPr>
          <p:cNvPr id="38" name="Text 36"/>
          <p:cNvSpPr txBox="1"/>
          <p:nvPr/>
        </p:nvSpPr>
        <p:spPr>
          <a:xfrm>
            <a:off x="4187952" y="3749040"/>
            <a:ext cx="841248" cy="39867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3.8</a:t>
            </a:r>
            <a:endParaRPr lang="en-US" sz="1300" dirty="0"/>
          </a:p>
        </p:txBody>
      </p:sp>
      <p:sp>
        <p:nvSpPr>
          <p:cNvPr id="39" name="Text 37"/>
          <p:cNvSpPr txBox="1"/>
          <p:nvPr/>
        </p:nvSpPr>
        <p:spPr>
          <a:xfrm>
            <a:off x="5029200" y="3749040"/>
            <a:ext cx="841248" cy="39867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4.9</a:t>
            </a:r>
            <a:endParaRPr lang="en-US" sz="1300" dirty="0"/>
          </a:p>
        </p:txBody>
      </p:sp>
      <p:sp>
        <p:nvSpPr>
          <p:cNvPr id="40" name="Text 38"/>
          <p:cNvSpPr txBox="1"/>
          <p:nvPr/>
        </p:nvSpPr>
        <p:spPr>
          <a:xfrm>
            <a:off x="658368" y="4147718"/>
            <a:ext cx="1920240" cy="39867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41" name="Shape 39"/>
          <p:cNvSpPr/>
          <p:nvPr/>
        </p:nvSpPr>
        <p:spPr>
          <a:xfrm>
            <a:off x="2651760" y="4247388"/>
            <a:ext cx="431099" cy="199339"/>
          </a:xfrm>
          <a:prstGeom prst="rect">
            <a:avLst/>
          </a:prstGeom>
          <a:solidFill>
            <a:srgbClr val="C2352F"/>
          </a:solidFill>
          <a:ln/>
        </p:spPr>
      </p:sp>
      <p:sp>
        <p:nvSpPr>
          <p:cNvPr id="42" name="Text 40"/>
          <p:cNvSpPr txBox="1"/>
          <p:nvPr/>
        </p:nvSpPr>
        <p:spPr>
          <a:xfrm>
            <a:off x="3438144" y="4147718"/>
            <a:ext cx="749808" cy="398678"/>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69.0%</a:t>
            </a:r>
            <a:endParaRPr lang="en-US" sz="1300" dirty="0"/>
          </a:p>
        </p:txBody>
      </p:sp>
      <p:sp>
        <p:nvSpPr>
          <p:cNvPr id="43" name="Text 41"/>
          <p:cNvSpPr txBox="1"/>
          <p:nvPr/>
        </p:nvSpPr>
        <p:spPr>
          <a:xfrm>
            <a:off x="4187952" y="4147718"/>
            <a:ext cx="841248" cy="39867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4.2</a:t>
            </a:r>
            <a:endParaRPr lang="en-US" sz="1300" dirty="0"/>
          </a:p>
        </p:txBody>
      </p:sp>
      <p:sp>
        <p:nvSpPr>
          <p:cNvPr id="44" name="Text 42"/>
          <p:cNvSpPr txBox="1"/>
          <p:nvPr/>
        </p:nvSpPr>
        <p:spPr>
          <a:xfrm>
            <a:off x="5029200" y="4147718"/>
            <a:ext cx="841248" cy="39867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4.9</a:t>
            </a:r>
            <a:endParaRPr lang="en-US" sz="1300" dirty="0"/>
          </a:p>
        </p:txBody>
      </p:sp>
      <p:sp>
        <p:nvSpPr>
          <p:cNvPr id="45" name="Text 43"/>
          <p:cNvSpPr txBox="1"/>
          <p:nvPr/>
        </p:nvSpPr>
        <p:spPr>
          <a:xfrm>
            <a:off x="658368" y="4546397"/>
            <a:ext cx="1920240" cy="39867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46" name="Shape 44"/>
          <p:cNvSpPr/>
          <p:nvPr/>
        </p:nvSpPr>
        <p:spPr>
          <a:xfrm>
            <a:off x="2651760" y="4646066"/>
            <a:ext cx="422076" cy="199339"/>
          </a:xfrm>
          <a:prstGeom prst="rect">
            <a:avLst/>
          </a:prstGeom>
          <a:solidFill>
            <a:srgbClr val="C2352F"/>
          </a:solidFill>
          <a:ln/>
        </p:spPr>
      </p:sp>
      <p:sp>
        <p:nvSpPr>
          <p:cNvPr id="47" name="Text 45"/>
          <p:cNvSpPr txBox="1"/>
          <p:nvPr/>
        </p:nvSpPr>
        <p:spPr>
          <a:xfrm>
            <a:off x="3438144" y="4546397"/>
            <a:ext cx="749808" cy="398678"/>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68.4%</a:t>
            </a:r>
            <a:endParaRPr lang="en-US" sz="1300" dirty="0"/>
          </a:p>
        </p:txBody>
      </p:sp>
      <p:sp>
        <p:nvSpPr>
          <p:cNvPr id="48" name="Text 46"/>
          <p:cNvSpPr txBox="1"/>
          <p:nvPr/>
        </p:nvSpPr>
        <p:spPr>
          <a:xfrm>
            <a:off x="4187952" y="4546397"/>
            <a:ext cx="841248" cy="39867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3.1</a:t>
            </a:r>
            <a:endParaRPr lang="en-US" sz="1300" dirty="0"/>
          </a:p>
        </p:txBody>
      </p:sp>
      <p:sp>
        <p:nvSpPr>
          <p:cNvPr id="49" name="Text 47"/>
          <p:cNvSpPr txBox="1"/>
          <p:nvPr/>
        </p:nvSpPr>
        <p:spPr>
          <a:xfrm>
            <a:off x="5029200" y="4546397"/>
            <a:ext cx="841248" cy="39867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4.9</a:t>
            </a:r>
            <a:endParaRPr lang="en-US" sz="1300" dirty="0"/>
          </a:p>
        </p:txBody>
      </p:sp>
      <p:sp>
        <p:nvSpPr>
          <p:cNvPr id="50" name="Text 48"/>
          <p:cNvSpPr txBox="1"/>
          <p:nvPr/>
        </p:nvSpPr>
        <p:spPr>
          <a:xfrm>
            <a:off x="658368" y="4945075"/>
            <a:ext cx="1920240" cy="39867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51" name="Shape 49"/>
          <p:cNvSpPr/>
          <p:nvPr/>
        </p:nvSpPr>
        <p:spPr>
          <a:xfrm>
            <a:off x="2651760" y="5044745"/>
            <a:ext cx="408666" cy="199339"/>
          </a:xfrm>
          <a:prstGeom prst="rect">
            <a:avLst/>
          </a:prstGeom>
          <a:solidFill>
            <a:srgbClr val="C2352F"/>
          </a:solidFill>
          <a:ln/>
        </p:spPr>
      </p:sp>
      <p:sp>
        <p:nvSpPr>
          <p:cNvPr id="52" name="Text 50"/>
          <p:cNvSpPr txBox="1"/>
          <p:nvPr/>
        </p:nvSpPr>
        <p:spPr>
          <a:xfrm>
            <a:off x="3438144" y="4945075"/>
            <a:ext cx="749808" cy="398678"/>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67.5%</a:t>
            </a:r>
            <a:endParaRPr lang="en-US" sz="1300" dirty="0"/>
          </a:p>
        </p:txBody>
      </p:sp>
      <p:sp>
        <p:nvSpPr>
          <p:cNvPr id="53" name="Text 51"/>
          <p:cNvSpPr txBox="1"/>
          <p:nvPr/>
        </p:nvSpPr>
        <p:spPr>
          <a:xfrm>
            <a:off x="4187952" y="4945075"/>
            <a:ext cx="841248" cy="39867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4.2</a:t>
            </a:r>
            <a:endParaRPr lang="en-US" sz="1300" dirty="0"/>
          </a:p>
        </p:txBody>
      </p:sp>
      <p:sp>
        <p:nvSpPr>
          <p:cNvPr id="54" name="Text 52"/>
          <p:cNvSpPr txBox="1"/>
          <p:nvPr/>
        </p:nvSpPr>
        <p:spPr>
          <a:xfrm>
            <a:off x="5029200" y="4945075"/>
            <a:ext cx="841248" cy="39867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4.9</a:t>
            </a:r>
            <a:endParaRPr lang="en-US" sz="1300" dirty="0"/>
          </a:p>
        </p:txBody>
      </p:sp>
      <p:sp>
        <p:nvSpPr>
          <p:cNvPr id="55" name="Text 53"/>
          <p:cNvSpPr txBox="1"/>
          <p:nvPr/>
        </p:nvSpPr>
        <p:spPr>
          <a:xfrm>
            <a:off x="658368" y="5343754"/>
            <a:ext cx="1920240" cy="39867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56" name="Shape 54"/>
          <p:cNvSpPr/>
          <p:nvPr/>
        </p:nvSpPr>
        <p:spPr>
          <a:xfrm>
            <a:off x="2651760" y="5443423"/>
            <a:ext cx="407442" cy="199339"/>
          </a:xfrm>
          <a:prstGeom prst="rect">
            <a:avLst/>
          </a:prstGeom>
          <a:solidFill>
            <a:srgbClr val="C2352F"/>
          </a:solidFill>
          <a:ln/>
        </p:spPr>
      </p:sp>
      <p:sp>
        <p:nvSpPr>
          <p:cNvPr id="57" name="Text 55"/>
          <p:cNvSpPr txBox="1"/>
          <p:nvPr/>
        </p:nvSpPr>
        <p:spPr>
          <a:xfrm>
            <a:off x="3438144" y="5343754"/>
            <a:ext cx="749808" cy="398678"/>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67.4%</a:t>
            </a:r>
            <a:endParaRPr lang="en-US" sz="1300" dirty="0"/>
          </a:p>
        </p:txBody>
      </p:sp>
      <p:sp>
        <p:nvSpPr>
          <p:cNvPr id="58" name="Text 56"/>
          <p:cNvSpPr txBox="1"/>
          <p:nvPr/>
        </p:nvSpPr>
        <p:spPr>
          <a:xfrm>
            <a:off x="4187952" y="5343754"/>
            <a:ext cx="841248" cy="39867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3.5</a:t>
            </a:r>
            <a:endParaRPr lang="en-US" sz="1300" dirty="0"/>
          </a:p>
        </p:txBody>
      </p:sp>
      <p:sp>
        <p:nvSpPr>
          <p:cNvPr id="59" name="Text 57"/>
          <p:cNvSpPr txBox="1"/>
          <p:nvPr/>
        </p:nvSpPr>
        <p:spPr>
          <a:xfrm>
            <a:off x="5029200" y="5343754"/>
            <a:ext cx="841248" cy="39867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4.9</a:t>
            </a:r>
            <a:endParaRPr lang="en-US" sz="1300" dirty="0"/>
          </a:p>
        </p:txBody>
      </p:sp>
      <p:sp>
        <p:nvSpPr>
          <p:cNvPr id="60" name="Shape 58"/>
          <p:cNvSpPr/>
          <p:nvPr/>
        </p:nvSpPr>
        <p:spPr>
          <a:xfrm>
            <a:off x="3312839" y="1755648"/>
            <a:ext cx="14630" cy="3986784"/>
          </a:xfrm>
          <a:prstGeom prst="rect">
            <a:avLst/>
          </a:prstGeom>
          <a:solidFill>
            <a:srgbClr val="0B2C4A"/>
          </a:solidFill>
          <a:ln/>
        </p:spPr>
      </p:sp>
      <p:sp>
        <p:nvSpPr>
          <p:cNvPr id="61" name="Text 59"/>
          <p:cNvSpPr txBox="1"/>
          <p:nvPr/>
        </p:nvSpPr>
        <p:spPr>
          <a:xfrm>
            <a:off x="6208776" y="1316736"/>
            <a:ext cx="2651760" cy="32918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ENOUGH ROS · 3 STORES</a:t>
            </a:r>
            <a:endParaRPr lang="en-US" sz="1400" dirty="0"/>
          </a:p>
        </p:txBody>
      </p:sp>
      <p:sp>
        <p:nvSpPr>
          <p:cNvPr id="62" name="Text 60"/>
          <p:cNvSpPr txBox="1"/>
          <p:nvPr/>
        </p:nvSpPr>
        <p:spPr>
          <a:xfrm>
            <a:off x="8988552" y="1316736"/>
            <a:ext cx="74980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Prof.</a:t>
            </a:r>
            <a:endParaRPr lang="en-US" sz="1400" dirty="0"/>
          </a:p>
        </p:txBody>
      </p:sp>
      <p:sp>
        <p:nvSpPr>
          <p:cNvPr id="63" name="Text 61"/>
          <p:cNvSpPr txBox="1"/>
          <p:nvPr/>
        </p:nvSpPr>
        <p:spPr>
          <a:xfrm>
            <a:off x="9738360" y="1316736"/>
            <a:ext cx="84124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ROs/day</a:t>
            </a:r>
            <a:endParaRPr lang="en-US" sz="1400" dirty="0"/>
          </a:p>
        </p:txBody>
      </p:sp>
      <p:sp>
        <p:nvSpPr>
          <p:cNvPr id="64" name="Text 62"/>
          <p:cNvSpPr txBox="1"/>
          <p:nvPr/>
        </p:nvSpPr>
        <p:spPr>
          <a:xfrm>
            <a:off x="10579608" y="1316736"/>
            <a:ext cx="84124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Seg avg</a:t>
            </a:r>
            <a:endParaRPr lang="en-US" sz="1400" dirty="0"/>
          </a:p>
        </p:txBody>
      </p:sp>
      <p:sp>
        <p:nvSpPr>
          <p:cNvPr id="65" name="Text 63"/>
          <p:cNvSpPr txBox="1"/>
          <p:nvPr/>
        </p:nvSpPr>
        <p:spPr>
          <a:xfrm>
            <a:off x="6208776" y="1755648"/>
            <a:ext cx="1920240" cy="39867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66" name="Shape 64"/>
          <p:cNvSpPr/>
          <p:nvPr/>
        </p:nvSpPr>
        <p:spPr>
          <a:xfrm>
            <a:off x="8202168" y="1855318"/>
            <a:ext cx="572597" cy="199339"/>
          </a:xfrm>
          <a:prstGeom prst="rect">
            <a:avLst/>
          </a:prstGeom>
          <a:solidFill>
            <a:srgbClr val="C2352F"/>
          </a:solidFill>
          <a:ln/>
        </p:spPr>
      </p:sp>
      <p:sp>
        <p:nvSpPr>
          <p:cNvPr id="67" name="Text 65"/>
          <p:cNvSpPr txBox="1"/>
          <p:nvPr/>
        </p:nvSpPr>
        <p:spPr>
          <a:xfrm>
            <a:off x="8988552" y="1755648"/>
            <a:ext cx="749808" cy="398678"/>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78.5%</a:t>
            </a:r>
            <a:endParaRPr lang="en-US" sz="1300" dirty="0"/>
          </a:p>
        </p:txBody>
      </p:sp>
      <p:sp>
        <p:nvSpPr>
          <p:cNvPr id="68" name="Text 66"/>
          <p:cNvSpPr txBox="1"/>
          <p:nvPr/>
        </p:nvSpPr>
        <p:spPr>
          <a:xfrm>
            <a:off x="9738360" y="1755648"/>
            <a:ext cx="841248" cy="39867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5.2</a:t>
            </a:r>
            <a:endParaRPr lang="en-US" sz="1300" dirty="0"/>
          </a:p>
        </p:txBody>
      </p:sp>
      <p:sp>
        <p:nvSpPr>
          <p:cNvPr id="69" name="Text 67"/>
          <p:cNvSpPr txBox="1"/>
          <p:nvPr/>
        </p:nvSpPr>
        <p:spPr>
          <a:xfrm>
            <a:off x="10579608" y="1755648"/>
            <a:ext cx="841248" cy="39867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4.9</a:t>
            </a:r>
            <a:endParaRPr lang="en-US" sz="1300" dirty="0"/>
          </a:p>
        </p:txBody>
      </p:sp>
      <p:sp>
        <p:nvSpPr>
          <p:cNvPr id="70" name="Text 68"/>
          <p:cNvSpPr txBox="1"/>
          <p:nvPr/>
        </p:nvSpPr>
        <p:spPr>
          <a:xfrm>
            <a:off x="6208776" y="2154326"/>
            <a:ext cx="1920240" cy="39867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71" name="Shape 69"/>
          <p:cNvSpPr/>
          <p:nvPr/>
        </p:nvSpPr>
        <p:spPr>
          <a:xfrm>
            <a:off x="8202168" y="2253996"/>
            <a:ext cx="547492" cy="199339"/>
          </a:xfrm>
          <a:prstGeom prst="rect">
            <a:avLst/>
          </a:prstGeom>
          <a:solidFill>
            <a:srgbClr val="C2352F"/>
          </a:solidFill>
          <a:ln/>
        </p:spPr>
      </p:sp>
      <p:sp>
        <p:nvSpPr>
          <p:cNvPr id="72" name="Text 70"/>
          <p:cNvSpPr txBox="1"/>
          <p:nvPr/>
        </p:nvSpPr>
        <p:spPr>
          <a:xfrm>
            <a:off x="8988552" y="2154326"/>
            <a:ext cx="749808" cy="398678"/>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76.8%</a:t>
            </a:r>
            <a:endParaRPr lang="en-US" sz="1300" dirty="0"/>
          </a:p>
        </p:txBody>
      </p:sp>
      <p:sp>
        <p:nvSpPr>
          <p:cNvPr id="73" name="Text 71"/>
          <p:cNvSpPr txBox="1"/>
          <p:nvPr/>
        </p:nvSpPr>
        <p:spPr>
          <a:xfrm>
            <a:off x="9738360" y="2154326"/>
            <a:ext cx="841248" cy="39867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5.2</a:t>
            </a:r>
            <a:endParaRPr lang="en-US" sz="1300" dirty="0"/>
          </a:p>
        </p:txBody>
      </p:sp>
      <p:sp>
        <p:nvSpPr>
          <p:cNvPr id="74" name="Text 72"/>
          <p:cNvSpPr txBox="1"/>
          <p:nvPr/>
        </p:nvSpPr>
        <p:spPr>
          <a:xfrm>
            <a:off x="10579608" y="2154326"/>
            <a:ext cx="841248" cy="39867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4.9</a:t>
            </a:r>
            <a:endParaRPr lang="en-US" sz="1300" dirty="0"/>
          </a:p>
        </p:txBody>
      </p:sp>
      <p:sp>
        <p:nvSpPr>
          <p:cNvPr id="75" name="Text 73"/>
          <p:cNvSpPr txBox="1"/>
          <p:nvPr/>
        </p:nvSpPr>
        <p:spPr>
          <a:xfrm>
            <a:off x="6208776" y="2553005"/>
            <a:ext cx="1920240" cy="39867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76" name="Shape 74"/>
          <p:cNvSpPr/>
          <p:nvPr/>
        </p:nvSpPr>
        <p:spPr>
          <a:xfrm>
            <a:off x="8202168" y="2652674"/>
            <a:ext cx="481123" cy="199339"/>
          </a:xfrm>
          <a:prstGeom prst="rect">
            <a:avLst/>
          </a:prstGeom>
          <a:solidFill>
            <a:srgbClr val="C2352F"/>
          </a:solidFill>
          <a:ln/>
        </p:spPr>
      </p:sp>
      <p:sp>
        <p:nvSpPr>
          <p:cNvPr id="77" name="Text 75"/>
          <p:cNvSpPr txBox="1"/>
          <p:nvPr/>
        </p:nvSpPr>
        <p:spPr>
          <a:xfrm>
            <a:off x="8988552" y="2553005"/>
            <a:ext cx="749808" cy="398678"/>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72.3%</a:t>
            </a:r>
            <a:endParaRPr lang="en-US" sz="1300" dirty="0"/>
          </a:p>
        </p:txBody>
      </p:sp>
      <p:sp>
        <p:nvSpPr>
          <p:cNvPr id="78" name="Text 76"/>
          <p:cNvSpPr txBox="1"/>
          <p:nvPr/>
        </p:nvSpPr>
        <p:spPr>
          <a:xfrm>
            <a:off x="9738360" y="2553005"/>
            <a:ext cx="841248" cy="39867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3.8</a:t>
            </a:r>
            <a:endParaRPr lang="en-US" sz="1300" dirty="0"/>
          </a:p>
        </p:txBody>
      </p:sp>
      <p:sp>
        <p:nvSpPr>
          <p:cNvPr id="79" name="Text 77"/>
          <p:cNvSpPr txBox="1"/>
          <p:nvPr/>
        </p:nvSpPr>
        <p:spPr>
          <a:xfrm>
            <a:off x="10579608" y="2553005"/>
            <a:ext cx="841248" cy="39867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3.0</a:t>
            </a:r>
            <a:endParaRPr lang="en-US" sz="1300" dirty="0"/>
          </a:p>
        </p:txBody>
      </p:sp>
      <p:sp>
        <p:nvSpPr>
          <p:cNvPr id="80" name="Shape 78"/>
          <p:cNvSpPr/>
          <p:nvPr/>
        </p:nvSpPr>
        <p:spPr>
          <a:xfrm>
            <a:off x="8863247" y="1755648"/>
            <a:ext cx="14630" cy="1196035"/>
          </a:xfrm>
          <a:prstGeom prst="rect">
            <a:avLst/>
          </a:prstGeom>
          <a:solidFill>
            <a:srgbClr val="0B2C4A"/>
          </a:solidFill>
          <a:ln/>
        </p:spPr>
      </p:sp>
      <p:sp>
        <p:nvSpPr>
          <p:cNvPr id="81" name="Shape 79"/>
          <p:cNvSpPr/>
          <p:nvPr/>
        </p:nvSpPr>
        <p:spPr>
          <a:xfrm>
            <a:off x="6035040" y="1371600"/>
            <a:ext cx="10973" cy="4370832"/>
          </a:xfrm>
          <a:prstGeom prst="rect">
            <a:avLst/>
          </a:prstGeom>
          <a:solidFill>
            <a:srgbClr val="D9D9D9"/>
          </a:solidFill>
          <a:ln/>
        </p:spPr>
      </p:sp>
      <p:sp>
        <p:nvSpPr>
          <p:cNvPr id="82" name="Shape 80"/>
          <p:cNvSpPr/>
          <p:nvPr/>
        </p:nvSpPr>
        <p:spPr>
          <a:xfrm>
            <a:off x="457200" y="5961888"/>
            <a:ext cx="11274552" cy="548640"/>
          </a:xfrm>
          <a:prstGeom prst="rect">
            <a:avLst/>
          </a:prstGeom>
          <a:solidFill>
            <a:srgbClr val="EDF4FA"/>
          </a:solidFill>
          <a:ln/>
        </p:spPr>
      </p:sp>
      <p:sp>
        <p:nvSpPr>
          <p:cNvPr id="83" name="Text 81"/>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10 of the 13 stores under 85% also see fewer ROs per tech than their segment: check car count and staffing first. At HONDA FLAGSTAFF, KIA LV, VOLVO the work is there.</a:t>
            </a:r>
            <a:endParaRPr lang="en-US" sz="1600" dirty="0"/>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TECHNICIAN PROFICIENCY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What a Tech Minute Is Worth</a:t>
            </a:r>
            <a:endParaRPr lang="en-US" sz="2800" dirty="0"/>
          </a:p>
        </p:txBody>
      </p:sp>
      <p:sp>
        <p:nvSpPr>
          <p:cNvPr id="5" name="Shape 3"/>
          <p:cNvSpPr/>
          <p:nvPr/>
        </p:nvSpPr>
        <p:spPr>
          <a:xfrm>
            <a:off x="457200" y="1207008"/>
            <a:ext cx="4572000" cy="4645152"/>
          </a:xfrm>
          <a:prstGeom prst="rect">
            <a:avLst/>
          </a:prstGeom>
          <a:solidFill>
            <a:srgbClr val="FFFFFF"/>
          </a:solidFill>
          <a:ln/>
        </p:spPr>
      </p:sp>
      <p:sp>
        <p:nvSpPr>
          <p:cNvPr id="6" name="Shape 4"/>
          <p:cNvSpPr/>
          <p:nvPr/>
        </p:nvSpPr>
        <p:spPr>
          <a:xfrm>
            <a:off x="5166360" y="1207008"/>
            <a:ext cx="6565392" cy="4645152"/>
          </a:xfrm>
          <a:prstGeom prst="rect">
            <a:avLst/>
          </a:prstGeom>
          <a:solidFill>
            <a:srgbClr val="FFFFFF"/>
          </a:solidFill>
          <a:ln/>
        </p:spPr>
      </p:sp>
      <p:sp>
        <p:nvSpPr>
          <p:cNvPr id="7" name="Text 5"/>
          <p:cNvSpPr txBox="1"/>
          <p:nvPr/>
        </p:nvSpPr>
        <p:spPr>
          <a:xfrm>
            <a:off x="713232" y="1417320"/>
            <a:ext cx="4114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ONE TECHNICIAN HOUR</a:t>
            </a:r>
            <a:endParaRPr lang="en-US" sz="1400" dirty="0"/>
          </a:p>
        </p:txBody>
      </p:sp>
      <p:sp>
        <p:nvSpPr>
          <p:cNvPr id="8" name="Text 6"/>
          <p:cNvSpPr txBox="1"/>
          <p:nvPr/>
        </p:nvSpPr>
        <p:spPr>
          <a:xfrm>
            <a:off x="713232" y="1737360"/>
            <a:ext cx="4114800" cy="822960"/>
          </a:xfrm>
          <a:prstGeom prst="rect">
            <a:avLst/>
          </a:prstGeom>
          <a:noFill/>
          <a:ln/>
        </p:spPr>
        <p:txBody>
          <a:bodyPr wrap="square" lIns="0" tIns="0" rIns="0" bIns="0" rtlCol="0" anchor="ctr"/>
          <a:lstStyle/>
          <a:p>
            <a:pPr indent="0" marL="0">
              <a:buNone/>
            </a:pPr>
            <a:r>
              <a:rPr lang="en-US" sz="5400" b="1" dirty="0">
                <a:solidFill>
                  <a:srgbClr val="0B2C4A"/>
                </a:solidFill>
                <a:latin typeface="Inter" pitchFamily="34" charset="0"/>
                <a:ea typeface="Inter" pitchFamily="34" charset="-122"/>
                <a:cs typeface="Inter" pitchFamily="34" charset="-120"/>
              </a:rPr>
              <a:t>$188</a:t>
            </a:r>
            <a:endParaRPr lang="en-US" sz="5400" dirty="0"/>
          </a:p>
        </p:txBody>
      </p:sp>
      <p:sp>
        <p:nvSpPr>
          <p:cNvPr id="9" name="Text 7"/>
          <p:cNvSpPr txBox="1"/>
          <p:nvPr/>
        </p:nvSpPr>
        <p:spPr>
          <a:xfrm>
            <a:off x="713232" y="2560320"/>
            <a:ext cx="4114800" cy="329184"/>
          </a:xfrm>
          <a:prstGeom prst="rect">
            <a:avLst/>
          </a:prstGeom>
          <a:noFill/>
          <a:ln/>
        </p:spPr>
        <p:txBody>
          <a:bodyPr wrap="square" lIns="0" tIns="0" rIns="0" bIns="0" rtlCol="0" anchor="ctr"/>
          <a:lstStyle/>
          <a:p>
            <a:pPr indent="0" marL="0">
              <a:buNone/>
            </a:pPr>
            <a:r>
              <a:rPr lang="en-US" sz="1500" dirty="0">
                <a:solidFill>
                  <a:srgbClr val="595959"/>
                </a:solidFill>
                <a:latin typeface="Inter" pitchFamily="34" charset="0"/>
                <a:ea typeface="Inter" pitchFamily="34" charset="-122"/>
                <a:cs typeface="Inter" pitchFamily="34" charset="-120"/>
              </a:rPr>
              <a:t>in labor and parts gross, group average</a:t>
            </a:r>
            <a:endParaRPr lang="en-US" sz="1500" dirty="0"/>
          </a:p>
        </p:txBody>
      </p:sp>
      <p:sp>
        <p:nvSpPr>
          <p:cNvPr id="10" name="Shape 8"/>
          <p:cNvSpPr/>
          <p:nvPr/>
        </p:nvSpPr>
        <p:spPr>
          <a:xfrm>
            <a:off x="713232" y="3063240"/>
            <a:ext cx="4069080" cy="10973"/>
          </a:xfrm>
          <a:prstGeom prst="rect">
            <a:avLst/>
          </a:prstGeom>
          <a:solidFill>
            <a:srgbClr val="D9D9D9"/>
          </a:solidFill>
          <a:ln/>
        </p:spPr>
      </p:sp>
      <p:sp>
        <p:nvSpPr>
          <p:cNvPr id="11" name="Text 9"/>
          <p:cNvSpPr txBox="1"/>
          <p:nvPr/>
        </p:nvSpPr>
        <p:spPr>
          <a:xfrm>
            <a:off x="713232" y="3246120"/>
            <a:ext cx="4114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ONE TECHNICIAN MINUTE</a:t>
            </a:r>
            <a:endParaRPr lang="en-US" sz="1400" dirty="0"/>
          </a:p>
        </p:txBody>
      </p:sp>
      <p:sp>
        <p:nvSpPr>
          <p:cNvPr id="12" name="Text 10"/>
          <p:cNvSpPr txBox="1"/>
          <p:nvPr/>
        </p:nvSpPr>
        <p:spPr>
          <a:xfrm>
            <a:off x="713232" y="3566160"/>
            <a:ext cx="4114800" cy="822960"/>
          </a:xfrm>
          <a:prstGeom prst="rect">
            <a:avLst/>
          </a:prstGeom>
          <a:noFill/>
          <a:ln/>
        </p:spPr>
        <p:txBody>
          <a:bodyPr wrap="square" lIns="0" tIns="0" rIns="0" bIns="0" rtlCol="0" anchor="ctr"/>
          <a:lstStyle/>
          <a:p>
            <a:pPr indent="0" marL="0">
              <a:buNone/>
            </a:pPr>
            <a:r>
              <a:rPr lang="en-US" sz="5400" b="1" dirty="0">
                <a:solidFill>
                  <a:srgbClr val="0B7A4A"/>
                </a:solidFill>
                <a:latin typeface="Inter" pitchFamily="34" charset="0"/>
                <a:ea typeface="Inter" pitchFamily="34" charset="-122"/>
                <a:cs typeface="Inter" pitchFamily="34" charset="-120"/>
              </a:rPr>
              <a:t>$3.13</a:t>
            </a:r>
            <a:endParaRPr lang="en-US" sz="5400" dirty="0"/>
          </a:p>
        </p:txBody>
      </p:sp>
      <p:sp>
        <p:nvSpPr>
          <p:cNvPr id="13" name="Text 11"/>
          <p:cNvSpPr txBox="1"/>
          <p:nvPr/>
        </p:nvSpPr>
        <p:spPr>
          <a:xfrm>
            <a:off x="713232" y="4389120"/>
            <a:ext cx="4114800" cy="640080"/>
          </a:xfrm>
          <a:prstGeom prst="rect">
            <a:avLst/>
          </a:prstGeom>
          <a:noFill/>
          <a:ln/>
        </p:spPr>
        <p:txBody>
          <a:bodyPr wrap="square" lIns="0" tIns="0" rIns="0" bIns="0" rtlCol="0" anchor="t"/>
          <a:lstStyle/>
          <a:p>
            <a:pPr indent="0" marL="0">
              <a:buNone/>
            </a:pPr>
            <a:r>
              <a:rPr lang="en-US" sz="1500" dirty="0">
                <a:solidFill>
                  <a:srgbClr val="595959"/>
                </a:solidFill>
                <a:latin typeface="Inter" pitchFamily="34" charset="0"/>
                <a:ea typeface="Inter" pitchFamily="34" charset="-122"/>
                <a:cs typeface="Inter" pitchFamily="34" charset="-120"/>
              </a:rPr>
              <a:t>About $762 a year for each tech, one minute a day</a:t>
            </a:r>
            <a:endParaRPr lang="en-US" sz="1500" dirty="0"/>
          </a:p>
        </p:txBody>
      </p:sp>
      <p:sp>
        <p:nvSpPr>
          <p:cNvPr id="14" name="Text 12"/>
          <p:cNvSpPr txBox="1"/>
          <p:nvPr/>
        </p:nvSpPr>
        <p:spPr>
          <a:xfrm>
            <a:off x="5422392" y="1417320"/>
            <a:ext cx="612648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MINUTES SAVED PER TECH, EVERY DAY · 583 TECHNICIANS</a:t>
            </a:r>
            <a:endParaRPr lang="en-US" sz="14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5422392" y="1828800"/>
          <a:ext cx="6053328" cy="914400"/>
        </p:xfrm>
        <a:graphic>
          <a:graphicData uri="http://schemas.openxmlformats.org/drawingml/2006/table">
            <a:tbl>
              <a:tblPr/>
              <a:tblGrid>
                <a:gridCol w="2212848"/>
                <a:gridCol w="1920240"/>
                <a:gridCol w="1920240"/>
              </a:tblGrid>
              <a:tr h="475488">
                <a:tc>
                  <a:txBody>
                    <a:bodyPr/>
                    <a:lstStyle/>
                    <a:p>
                      <a:pPr algn="l" indent="0" marL="0">
                        <a:buNone/>
                      </a:pPr>
                      <a:r>
                        <a:rPr lang="en-US" sz="2000" b="1" dirty="0">
                          <a:solidFill>
                            <a:srgbClr val="FFFFFF"/>
                          </a:solidFill>
                          <a:latin typeface="Inter" pitchFamily="34" charset="0"/>
                          <a:ea typeface="Inter" pitchFamily="34" charset="-122"/>
                          <a:cs typeface="Inter" pitchFamily="34" charset="-120"/>
                        </a:rPr>
                        <a:t>Minutes a day</a:t>
                      </a:r>
                      <a:endParaRPr lang="en-US" sz="2000" dirty="0">
                        <a:latin typeface="Inter" charset="0"/>
                        <a:ea typeface="Inter" charset="0"/>
                        <a:cs typeface="Inter"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0B2C4A"/>
                    </a:solidFill>
                  </a:tcPr>
                </a:tc>
                <a:tc>
                  <a:txBody>
                    <a:bodyPr/>
                    <a:lstStyle/>
                    <a:p>
                      <a:pPr algn="r" indent="0" marL="0">
                        <a:buNone/>
                      </a:pPr>
                      <a:r>
                        <a:rPr lang="en-US" sz="2000" b="1" dirty="0">
                          <a:solidFill>
                            <a:srgbClr val="FFFFFF"/>
                          </a:solidFill>
                          <a:latin typeface="Inter" pitchFamily="34" charset="0"/>
                          <a:ea typeface="Inter" pitchFamily="34" charset="-122"/>
                          <a:cs typeface="Inter" pitchFamily="34" charset="-120"/>
                        </a:rPr>
                        <a:t>A month</a:t>
                      </a:r>
                      <a:endParaRPr lang="en-US" sz="2000" dirty="0">
                        <a:latin typeface="Inter" charset="0"/>
                        <a:ea typeface="Inter" charset="0"/>
                        <a:cs typeface="Inter"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0B2C4A"/>
                    </a:solidFill>
                  </a:tcPr>
                </a:tc>
                <a:tc>
                  <a:txBody>
                    <a:bodyPr/>
                    <a:lstStyle/>
                    <a:p>
                      <a:pPr algn="r" indent="0" marL="0">
                        <a:buNone/>
                      </a:pPr>
                      <a:r>
                        <a:rPr lang="en-US" sz="2000" b="1" dirty="0">
                          <a:solidFill>
                            <a:srgbClr val="FFFFFF"/>
                          </a:solidFill>
                          <a:latin typeface="Inter" pitchFamily="34" charset="0"/>
                          <a:ea typeface="Inter" pitchFamily="34" charset="-122"/>
                          <a:cs typeface="Inter" pitchFamily="34" charset="-120"/>
                        </a:rPr>
                        <a:t>A year</a:t>
                      </a:r>
                      <a:endParaRPr lang="en-US" sz="2000" dirty="0">
                        <a:latin typeface="Inter" charset="0"/>
                        <a:ea typeface="Inter" charset="0"/>
                        <a:cs typeface="Inter"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0B2C4A"/>
                    </a:solidFill>
                  </a:tcPr>
                </a:tc>
              </a:tr>
              <a:tr h="475488">
                <a:tc>
                  <a:txBody>
                    <a:bodyPr/>
                    <a:lstStyle/>
                    <a:p>
                      <a:pPr indent="0" marL="0">
                        <a:buNone/>
                      </a:pPr>
                      <a:r>
                        <a:rPr lang="en-US" sz="2000" b="1" dirty="0">
                          <a:solidFill>
                            <a:srgbClr val="1A1A1A"/>
                          </a:solidFill>
                          <a:latin typeface="Inter" pitchFamily="34" charset="0"/>
                          <a:ea typeface="Inter" pitchFamily="34" charset="-122"/>
                          <a:cs typeface="Inter" pitchFamily="34" charset="-120"/>
                        </a:rPr>
                        <a:t>1 minute</a:t>
                      </a:r>
                      <a:endParaRPr lang="en-US" sz="2000" dirty="0">
                        <a:latin typeface="Inter" charset="0"/>
                        <a:ea typeface="Inter" charset="0"/>
                        <a:cs typeface="Inter"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7F7F7"/>
                    </a:solidFill>
                  </a:tcPr>
                </a:tc>
                <a:tc>
                  <a:txBody>
                    <a:bodyPr/>
                    <a:lstStyle/>
                    <a:p>
                      <a:pPr algn="r" indent="0" marL="0">
                        <a:buNone/>
                      </a:pPr>
                      <a:r>
                        <a:rPr lang="en-US" sz="2000" dirty="0">
                          <a:solidFill>
                            <a:srgbClr val="1A1A1A"/>
                          </a:solidFill>
                          <a:latin typeface="Inter" pitchFamily="34" charset="0"/>
                          <a:ea typeface="Inter" pitchFamily="34" charset="-122"/>
                          <a:cs typeface="Inter" pitchFamily="34" charset="-120"/>
                        </a:rPr>
                        <a:t>$37,032</a:t>
                      </a:r>
                      <a:endParaRPr lang="en-US" sz="2000" dirty="0">
                        <a:latin typeface="Inter" charset="0"/>
                        <a:ea typeface="Inter" charset="0"/>
                        <a:cs typeface="Inter"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7F7F7"/>
                    </a:solidFill>
                  </a:tcPr>
                </a:tc>
                <a:tc>
                  <a:txBody>
                    <a:bodyPr/>
                    <a:lstStyle/>
                    <a:p>
                      <a:pPr algn="r" indent="0" marL="0">
                        <a:buNone/>
                      </a:pPr>
                      <a:r>
                        <a:rPr lang="en-US" sz="2000" b="1" dirty="0">
                          <a:solidFill>
                            <a:srgbClr val="0B7A4A"/>
                          </a:solidFill>
                          <a:latin typeface="Inter" pitchFamily="34" charset="0"/>
                          <a:ea typeface="Inter" pitchFamily="34" charset="-122"/>
                          <a:cs typeface="Inter" pitchFamily="34" charset="-120"/>
                        </a:rPr>
                        <a:t>$444,380</a:t>
                      </a:r>
                      <a:endParaRPr lang="en-US" sz="2000" dirty="0">
                        <a:latin typeface="Inter" charset="0"/>
                        <a:ea typeface="Inter" charset="0"/>
                        <a:cs typeface="Inter"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7F7F7"/>
                    </a:solidFill>
                  </a:tcPr>
                </a:tc>
              </a:tr>
              <a:tr h="475488">
                <a:tc>
                  <a:txBody>
                    <a:bodyPr/>
                    <a:lstStyle/>
                    <a:p>
                      <a:pPr indent="0" marL="0">
                        <a:buNone/>
                      </a:pPr>
                      <a:r>
                        <a:rPr lang="en-US" sz="2000" b="1" dirty="0">
                          <a:solidFill>
                            <a:srgbClr val="1A1A1A"/>
                          </a:solidFill>
                          <a:latin typeface="Inter" pitchFamily="34" charset="0"/>
                          <a:ea typeface="Inter" pitchFamily="34" charset="-122"/>
                          <a:cs typeface="Inter" pitchFamily="34" charset="-120"/>
                        </a:rPr>
                        <a:t>5 minutes</a:t>
                      </a:r>
                      <a:endParaRPr lang="en-US" sz="2000" dirty="0">
                        <a:latin typeface="Inter" charset="0"/>
                        <a:ea typeface="Inter" charset="0"/>
                        <a:cs typeface="Inter"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2000" dirty="0">
                          <a:solidFill>
                            <a:srgbClr val="1A1A1A"/>
                          </a:solidFill>
                          <a:latin typeface="Inter" pitchFamily="34" charset="0"/>
                          <a:ea typeface="Inter" pitchFamily="34" charset="-122"/>
                          <a:cs typeface="Inter" pitchFamily="34" charset="-120"/>
                        </a:rPr>
                        <a:t>$185,159</a:t>
                      </a:r>
                      <a:endParaRPr lang="en-US" sz="2000" dirty="0">
                        <a:latin typeface="Inter" charset="0"/>
                        <a:ea typeface="Inter" charset="0"/>
                        <a:cs typeface="Inter"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2000" b="1" dirty="0">
                          <a:solidFill>
                            <a:srgbClr val="0B7A4A"/>
                          </a:solidFill>
                          <a:latin typeface="Inter" pitchFamily="34" charset="0"/>
                          <a:ea typeface="Inter" pitchFamily="34" charset="-122"/>
                          <a:cs typeface="Inter" pitchFamily="34" charset="-120"/>
                        </a:rPr>
                        <a:t>$2,221,902</a:t>
                      </a:r>
                      <a:endParaRPr lang="en-US" sz="2000" dirty="0">
                        <a:latin typeface="Inter" charset="0"/>
                        <a:ea typeface="Inter" charset="0"/>
                        <a:cs typeface="Inter"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r>
              <a:tr h="475488">
                <a:tc>
                  <a:txBody>
                    <a:bodyPr/>
                    <a:lstStyle/>
                    <a:p>
                      <a:pPr indent="0" marL="0">
                        <a:buNone/>
                      </a:pPr>
                      <a:r>
                        <a:rPr lang="en-US" sz="2000" b="1" dirty="0">
                          <a:solidFill>
                            <a:srgbClr val="1A1A1A"/>
                          </a:solidFill>
                          <a:latin typeface="Inter" pitchFamily="34" charset="0"/>
                          <a:ea typeface="Inter" pitchFamily="34" charset="-122"/>
                          <a:cs typeface="Inter" pitchFamily="34" charset="-120"/>
                        </a:rPr>
                        <a:t>10 minutes</a:t>
                      </a:r>
                      <a:endParaRPr lang="en-US" sz="2000" dirty="0">
                        <a:latin typeface="Inter" charset="0"/>
                        <a:ea typeface="Inter" charset="0"/>
                        <a:cs typeface="Inter"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7F7F7"/>
                    </a:solidFill>
                  </a:tcPr>
                </a:tc>
                <a:tc>
                  <a:txBody>
                    <a:bodyPr/>
                    <a:lstStyle/>
                    <a:p>
                      <a:pPr algn="r" indent="0" marL="0">
                        <a:buNone/>
                      </a:pPr>
                      <a:r>
                        <a:rPr lang="en-US" sz="2000" dirty="0">
                          <a:solidFill>
                            <a:srgbClr val="1A1A1A"/>
                          </a:solidFill>
                          <a:latin typeface="Inter" pitchFamily="34" charset="0"/>
                          <a:ea typeface="Inter" pitchFamily="34" charset="-122"/>
                          <a:cs typeface="Inter" pitchFamily="34" charset="-120"/>
                        </a:rPr>
                        <a:t>$370,317</a:t>
                      </a:r>
                      <a:endParaRPr lang="en-US" sz="2000" dirty="0">
                        <a:latin typeface="Inter" charset="0"/>
                        <a:ea typeface="Inter" charset="0"/>
                        <a:cs typeface="Inter"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7F7F7"/>
                    </a:solidFill>
                  </a:tcPr>
                </a:tc>
                <a:tc>
                  <a:txBody>
                    <a:bodyPr/>
                    <a:lstStyle/>
                    <a:p>
                      <a:pPr algn="r" indent="0" marL="0">
                        <a:buNone/>
                      </a:pPr>
                      <a:r>
                        <a:rPr lang="en-US" sz="2000" b="1" dirty="0">
                          <a:solidFill>
                            <a:srgbClr val="0B7A4A"/>
                          </a:solidFill>
                          <a:latin typeface="Inter" pitchFamily="34" charset="0"/>
                          <a:ea typeface="Inter" pitchFamily="34" charset="-122"/>
                          <a:cs typeface="Inter" pitchFamily="34" charset="-120"/>
                        </a:rPr>
                        <a:t>$4,443,804</a:t>
                      </a:r>
                      <a:endParaRPr lang="en-US" sz="2000" dirty="0">
                        <a:latin typeface="Inter" charset="0"/>
                        <a:ea typeface="Inter" charset="0"/>
                        <a:cs typeface="Inter"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7F7F7"/>
                    </a:solidFill>
                  </a:tcPr>
                </a:tc>
              </a:tr>
              <a:tr h="475488">
                <a:tc>
                  <a:txBody>
                    <a:bodyPr/>
                    <a:lstStyle/>
                    <a:p>
                      <a:pPr indent="0" marL="0">
                        <a:buNone/>
                      </a:pPr>
                      <a:r>
                        <a:rPr lang="en-US" sz="2000" b="1" dirty="0">
                          <a:solidFill>
                            <a:srgbClr val="1A1A1A"/>
                          </a:solidFill>
                          <a:latin typeface="Inter" pitchFamily="34" charset="0"/>
                          <a:ea typeface="Inter" pitchFamily="34" charset="-122"/>
                          <a:cs typeface="Inter" pitchFamily="34" charset="-120"/>
                        </a:rPr>
                        <a:t>15 minutes</a:t>
                      </a:r>
                      <a:endParaRPr lang="en-US" sz="2000" dirty="0">
                        <a:latin typeface="Inter" charset="0"/>
                        <a:ea typeface="Inter" charset="0"/>
                        <a:cs typeface="Inter"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2000" dirty="0">
                          <a:solidFill>
                            <a:srgbClr val="1A1A1A"/>
                          </a:solidFill>
                          <a:latin typeface="Inter" pitchFamily="34" charset="0"/>
                          <a:ea typeface="Inter" pitchFamily="34" charset="-122"/>
                          <a:cs typeface="Inter" pitchFamily="34" charset="-120"/>
                        </a:rPr>
                        <a:t>$555,476</a:t>
                      </a:r>
                      <a:endParaRPr lang="en-US" sz="2000" dirty="0">
                        <a:latin typeface="Inter" charset="0"/>
                        <a:ea typeface="Inter" charset="0"/>
                        <a:cs typeface="Inter"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2000" b="1" dirty="0">
                          <a:solidFill>
                            <a:srgbClr val="0B7A4A"/>
                          </a:solidFill>
                          <a:latin typeface="Inter" pitchFamily="34" charset="0"/>
                          <a:ea typeface="Inter" pitchFamily="34" charset="-122"/>
                          <a:cs typeface="Inter" pitchFamily="34" charset="-120"/>
                        </a:rPr>
                        <a:t>$6,665,706</a:t>
                      </a:r>
                      <a:endParaRPr lang="en-US" sz="2000" dirty="0">
                        <a:latin typeface="Inter" charset="0"/>
                        <a:ea typeface="Inter" charset="0"/>
                        <a:cs typeface="Inter"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16" name="Text 13"/>
          <p:cNvSpPr txBox="1"/>
          <p:nvPr/>
        </p:nvSpPr>
        <p:spPr>
          <a:xfrm>
            <a:off x="5422392" y="4434840"/>
            <a:ext cx="6053328" cy="1234440"/>
          </a:xfrm>
          <a:prstGeom prst="rect">
            <a:avLst/>
          </a:prstGeom>
          <a:noFill/>
          <a:ln/>
        </p:spPr>
        <p:txBody>
          <a:bodyPr wrap="square" lIns="0" tIns="0" rIns="0" bIns="0" rtlCol="0" anchor="t"/>
          <a:lstStyle/>
          <a:p>
            <a:pPr indent="0" marL="0">
              <a:buNone/>
            </a:pPr>
            <a:r>
              <a:rPr lang="en-US" sz="1600" dirty="0">
                <a:solidFill>
                  <a:srgbClr val="1A1A1A"/>
                </a:solidFill>
                <a:latin typeface="Inter" pitchFamily="34" charset="0"/>
                <a:ea typeface="Inter" pitchFamily="34" charset="-122"/>
                <a:cs typeface="Inter" pitchFamily="34" charset="-120"/>
              </a:rPr>
              <a:t>Where the minutes go: walking to the parts counter, waiting on dispatch or a customer approval, hunting for tools, chasing a key or a car.</a:t>
            </a:r>
            <a:endParaRPr lang="en-US" sz="1600" dirty="0"/>
          </a:p>
        </p:txBody>
      </p:sp>
      <p:sp>
        <p:nvSpPr>
          <p:cNvPr id="17" name="Shape 14"/>
          <p:cNvSpPr/>
          <p:nvPr/>
        </p:nvSpPr>
        <p:spPr>
          <a:xfrm>
            <a:off x="457200" y="5961888"/>
            <a:ext cx="11274552" cy="548640"/>
          </a:xfrm>
          <a:prstGeom prst="rect">
            <a:avLst/>
          </a:prstGeom>
          <a:solidFill>
            <a:srgbClr val="E6F6EE"/>
          </a:solidFill>
          <a:ln/>
        </p:spPr>
      </p:sp>
      <p:sp>
        <p:nvSpPr>
          <p:cNvPr id="18" name="Text 15"/>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One minute a day for every tech is worth $37,032 a month, $444,380 a year. No new techs, no new bays.</a:t>
            </a:r>
            <a:endParaRPr lang="en-US" sz="1600" dirty="0"/>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TECHNICIAN PROFICIENCY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What a Tech Minute Is Worth</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3767328" y="1316736"/>
            <a:ext cx="786384"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A year</a:t>
            </a:r>
            <a:endParaRPr lang="en-US" sz="1400" dirty="0"/>
          </a:p>
        </p:txBody>
      </p:sp>
      <p:sp>
        <p:nvSpPr>
          <p:cNvPr id="7" name="Text 5"/>
          <p:cNvSpPr txBox="1"/>
          <p:nvPr/>
        </p:nvSpPr>
        <p:spPr>
          <a:xfrm>
            <a:off x="4553712" y="1316736"/>
            <a:ext cx="56692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Techs</a:t>
            </a:r>
            <a:endParaRPr lang="en-US" sz="1400" dirty="0"/>
          </a:p>
        </p:txBody>
      </p:sp>
      <p:sp>
        <p:nvSpPr>
          <p:cNvPr id="8" name="Text 6"/>
          <p:cNvSpPr txBox="1"/>
          <p:nvPr/>
        </p:nvSpPr>
        <p:spPr>
          <a:xfrm>
            <a:off x="5120640" y="1316736"/>
            <a:ext cx="74980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Per min</a:t>
            </a:r>
            <a:endParaRPr lang="en-US" sz="1400" dirty="0"/>
          </a:p>
        </p:txBody>
      </p:sp>
      <p:sp>
        <p:nvSpPr>
          <p:cNvPr id="9" name="Text 7"/>
          <p:cNvSpPr txBox="1"/>
          <p:nvPr/>
        </p:nvSpPr>
        <p:spPr>
          <a:xfrm>
            <a:off x="9317736" y="1316736"/>
            <a:ext cx="786384"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A year</a:t>
            </a:r>
            <a:endParaRPr lang="en-US" sz="1400" dirty="0"/>
          </a:p>
        </p:txBody>
      </p:sp>
      <p:sp>
        <p:nvSpPr>
          <p:cNvPr id="10" name="Text 8"/>
          <p:cNvSpPr txBox="1"/>
          <p:nvPr/>
        </p:nvSpPr>
        <p:spPr>
          <a:xfrm>
            <a:off x="10104120" y="1316736"/>
            <a:ext cx="56692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Techs</a:t>
            </a:r>
            <a:endParaRPr lang="en-US" sz="1400" dirty="0"/>
          </a:p>
        </p:txBody>
      </p:sp>
      <p:sp>
        <p:nvSpPr>
          <p:cNvPr id="11" name="Text 9"/>
          <p:cNvSpPr txBox="1"/>
          <p:nvPr/>
        </p:nvSpPr>
        <p:spPr>
          <a:xfrm>
            <a:off x="10671048" y="1316736"/>
            <a:ext cx="74980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Per min</a:t>
            </a:r>
            <a:endParaRPr lang="en-US" sz="1400" dirty="0"/>
          </a:p>
        </p:txBody>
      </p:sp>
      <p:sp>
        <p:nvSpPr>
          <p:cNvPr id="12" name="Text 10"/>
          <p:cNvSpPr txBox="1"/>
          <p:nvPr/>
        </p:nvSpPr>
        <p:spPr>
          <a:xfrm>
            <a:off x="658368" y="1700784"/>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13" name="Shape 11"/>
          <p:cNvSpPr/>
          <p:nvPr/>
        </p:nvSpPr>
        <p:spPr>
          <a:xfrm>
            <a:off x="2670048" y="1754034"/>
            <a:ext cx="1042416" cy="130168"/>
          </a:xfrm>
          <a:prstGeom prst="rect">
            <a:avLst/>
          </a:prstGeom>
          <a:solidFill>
            <a:srgbClr val="2587C5"/>
          </a:solidFill>
          <a:ln/>
        </p:spPr>
      </p:sp>
      <p:sp>
        <p:nvSpPr>
          <p:cNvPr id="14" name="Text 12"/>
          <p:cNvSpPr txBox="1"/>
          <p:nvPr/>
        </p:nvSpPr>
        <p:spPr>
          <a:xfrm>
            <a:off x="3767328" y="1700784"/>
            <a:ext cx="786384"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$43,256</a:t>
            </a:r>
            <a:endParaRPr lang="en-US" sz="1300" dirty="0"/>
          </a:p>
        </p:txBody>
      </p:sp>
      <p:sp>
        <p:nvSpPr>
          <p:cNvPr id="15" name="Text 13"/>
          <p:cNvSpPr txBox="1"/>
          <p:nvPr/>
        </p:nvSpPr>
        <p:spPr>
          <a:xfrm>
            <a:off x="4553712" y="1700784"/>
            <a:ext cx="56692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59</a:t>
            </a:r>
            <a:endParaRPr lang="en-US" sz="1300" dirty="0"/>
          </a:p>
        </p:txBody>
      </p:sp>
      <p:sp>
        <p:nvSpPr>
          <p:cNvPr id="16" name="Text 14"/>
          <p:cNvSpPr txBox="1"/>
          <p:nvPr/>
        </p:nvSpPr>
        <p:spPr>
          <a:xfrm>
            <a:off x="5120640" y="1700784"/>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$2.74</a:t>
            </a:r>
            <a:endParaRPr lang="en-US" sz="1300" dirty="0"/>
          </a:p>
        </p:txBody>
      </p:sp>
      <p:sp>
        <p:nvSpPr>
          <p:cNvPr id="17" name="Text 15"/>
          <p:cNvSpPr txBox="1"/>
          <p:nvPr/>
        </p:nvSpPr>
        <p:spPr>
          <a:xfrm>
            <a:off x="658368" y="1937452"/>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18" name="Shape 16"/>
          <p:cNvSpPr/>
          <p:nvPr/>
        </p:nvSpPr>
        <p:spPr>
          <a:xfrm>
            <a:off x="2670048" y="1990703"/>
            <a:ext cx="813746" cy="130168"/>
          </a:xfrm>
          <a:prstGeom prst="rect">
            <a:avLst/>
          </a:prstGeom>
          <a:solidFill>
            <a:srgbClr val="2587C5"/>
          </a:solidFill>
          <a:ln/>
        </p:spPr>
      </p:sp>
      <p:sp>
        <p:nvSpPr>
          <p:cNvPr id="19" name="Text 17"/>
          <p:cNvSpPr txBox="1"/>
          <p:nvPr/>
        </p:nvSpPr>
        <p:spPr>
          <a:xfrm>
            <a:off x="3767328" y="1937452"/>
            <a:ext cx="786384"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$33,767</a:t>
            </a:r>
            <a:endParaRPr lang="en-US" sz="1300" dirty="0"/>
          </a:p>
        </p:txBody>
      </p:sp>
      <p:sp>
        <p:nvSpPr>
          <p:cNvPr id="20" name="Text 18"/>
          <p:cNvSpPr txBox="1"/>
          <p:nvPr/>
        </p:nvSpPr>
        <p:spPr>
          <a:xfrm>
            <a:off x="4553712" y="1937452"/>
            <a:ext cx="56692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51</a:t>
            </a:r>
            <a:endParaRPr lang="en-US" sz="1300" dirty="0"/>
          </a:p>
        </p:txBody>
      </p:sp>
      <p:sp>
        <p:nvSpPr>
          <p:cNvPr id="21" name="Text 19"/>
          <p:cNvSpPr txBox="1"/>
          <p:nvPr/>
        </p:nvSpPr>
        <p:spPr>
          <a:xfrm>
            <a:off x="5120640" y="1937452"/>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$2.71</a:t>
            </a:r>
            <a:endParaRPr lang="en-US" sz="1300" dirty="0"/>
          </a:p>
        </p:txBody>
      </p:sp>
      <p:sp>
        <p:nvSpPr>
          <p:cNvPr id="22" name="Text 20"/>
          <p:cNvSpPr txBox="1"/>
          <p:nvPr/>
        </p:nvSpPr>
        <p:spPr>
          <a:xfrm>
            <a:off x="658368" y="2174120"/>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23" name="Shape 21"/>
          <p:cNvSpPr/>
          <p:nvPr/>
        </p:nvSpPr>
        <p:spPr>
          <a:xfrm>
            <a:off x="2670048" y="2227371"/>
            <a:ext cx="683623" cy="130168"/>
          </a:xfrm>
          <a:prstGeom prst="rect">
            <a:avLst/>
          </a:prstGeom>
          <a:solidFill>
            <a:srgbClr val="2587C5"/>
          </a:solidFill>
          <a:ln/>
        </p:spPr>
      </p:sp>
      <p:sp>
        <p:nvSpPr>
          <p:cNvPr id="24" name="Text 22"/>
          <p:cNvSpPr txBox="1"/>
          <p:nvPr/>
        </p:nvSpPr>
        <p:spPr>
          <a:xfrm>
            <a:off x="3767328" y="2174120"/>
            <a:ext cx="786384"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$28,367</a:t>
            </a:r>
            <a:endParaRPr lang="en-US" sz="1300" dirty="0"/>
          </a:p>
        </p:txBody>
      </p:sp>
      <p:sp>
        <p:nvSpPr>
          <p:cNvPr id="25" name="Text 23"/>
          <p:cNvSpPr txBox="1"/>
          <p:nvPr/>
        </p:nvSpPr>
        <p:spPr>
          <a:xfrm>
            <a:off x="4553712" y="2174120"/>
            <a:ext cx="56692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29</a:t>
            </a:r>
            <a:endParaRPr lang="en-US" sz="1300" dirty="0"/>
          </a:p>
        </p:txBody>
      </p:sp>
      <p:sp>
        <p:nvSpPr>
          <p:cNvPr id="26" name="Text 24"/>
          <p:cNvSpPr txBox="1"/>
          <p:nvPr/>
        </p:nvSpPr>
        <p:spPr>
          <a:xfrm>
            <a:off x="5120640" y="2174120"/>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$3.72</a:t>
            </a:r>
            <a:endParaRPr lang="en-US" sz="1300" dirty="0"/>
          </a:p>
        </p:txBody>
      </p:sp>
      <p:sp>
        <p:nvSpPr>
          <p:cNvPr id="27" name="Text 25"/>
          <p:cNvSpPr txBox="1"/>
          <p:nvPr/>
        </p:nvSpPr>
        <p:spPr>
          <a:xfrm>
            <a:off x="658368" y="2410789"/>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28" name="Shape 26"/>
          <p:cNvSpPr/>
          <p:nvPr/>
        </p:nvSpPr>
        <p:spPr>
          <a:xfrm>
            <a:off x="2670048" y="2464039"/>
            <a:ext cx="656778" cy="130168"/>
          </a:xfrm>
          <a:prstGeom prst="rect">
            <a:avLst/>
          </a:prstGeom>
          <a:solidFill>
            <a:srgbClr val="2587C5"/>
          </a:solidFill>
          <a:ln/>
        </p:spPr>
      </p:sp>
      <p:sp>
        <p:nvSpPr>
          <p:cNvPr id="29" name="Text 27"/>
          <p:cNvSpPr txBox="1"/>
          <p:nvPr/>
        </p:nvSpPr>
        <p:spPr>
          <a:xfrm>
            <a:off x="3767328" y="2410789"/>
            <a:ext cx="786384"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$27,253</a:t>
            </a:r>
            <a:endParaRPr lang="en-US" sz="1300" dirty="0"/>
          </a:p>
        </p:txBody>
      </p:sp>
      <p:sp>
        <p:nvSpPr>
          <p:cNvPr id="30" name="Text 28"/>
          <p:cNvSpPr txBox="1"/>
          <p:nvPr/>
        </p:nvSpPr>
        <p:spPr>
          <a:xfrm>
            <a:off x="4553712" y="2410789"/>
            <a:ext cx="56692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a:t>
            </a:r>
            <a:endParaRPr lang="en-US" sz="1300" dirty="0"/>
          </a:p>
        </p:txBody>
      </p:sp>
      <p:sp>
        <p:nvSpPr>
          <p:cNvPr id="31" name="Text 29"/>
          <p:cNvSpPr txBox="1"/>
          <p:nvPr/>
        </p:nvSpPr>
        <p:spPr>
          <a:xfrm>
            <a:off x="5120640" y="2410789"/>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$4.69</a:t>
            </a:r>
            <a:endParaRPr lang="en-US" sz="1300" dirty="0"/>
          </a:p>
        </p:txBody>
      </p:sp>
      <p:sp>
        <p:nvSpPr>
          <p:cNvPr id="32" name="Text 30"/>
          <p:cNvSpPr txBox="1"/>
          <p:nvPr/>
        </p:nvSpPr>
        <p:spPr>
          <a:xfrm>
            <a:off x="658368" y="2647457"/>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33" name="Shape 31"/>
          <p:cNvSpPr/>
          <p:nvPr/>
        </p:nvSpPr>
        <p:spPr>
          <a:xfrm>
            <a:off x="2670048" y="2700707"/>
            <a:ext cx="600457" cy="130168"/>
          </a:xfrm>
          <a:prstGeom prst="rect">
            <a:avLst/>
          </a:prstGeom>
          <a:solidFill>
            <a:srgbClr val="2587C5"/>
          </a:solidFill>
          <a:ln/>
        </p:spPr>
      </p:sp>
      <p:sp>
        <p:nvSpPr>
          <p:cNvPr id="34" name="Text 32"/>
          <p:cNvSpPr txBox="1"/>
          <p:nvPr/>
        </p:nvSpPr>
        <p:spPr>
          <a:xfrm>
            <a:off x="3767328" y="2647457"/>
            <a:ext cx="786384"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$24,916</a:t>
            </a:r>
            <a:endParaRPr lang="en-US" sz="1300" dirty="0"/>
          </a:p>
        </p:txBody>
      </p:sp>
      <p:sp>
        <p:nvSpPr>
          <p:cNvPr id="35" name="Text 33"/>
          <p:cNvSpPr txBox="1"/>
          <p:nvPr/>
        </p:nvSpPr>
        <p:spPr>
          <a:xfrm>
            <a:off x="4553712" y="2647457"/>
            <a:ext cx="56692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28</a:t>
            </a:r>
            <a:endParaRPr lang="en-US" sz="1300" dirty="0"/>
          </a:p>
        </p:txBody>
      </p:sp>
      <p:sp>
        <p:nvSpPr>
          <p:cNvPr id="36" name="Text 34"/>
          <p:cNvSpPr txBox="1"/>
          <p:nvPr/>
        </p:nvSpPr>
        <p:spPr>
          <a:xfrm>
            <a:off x="5120640" y="2647457"/>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$3.06</a:t>
            </a:r>
            <a:endParaRPr lang="en-US" sz="1300" dirty="0"/>
          </a:p>
        </p:txBody>
      </p:sp>
      <p:sp>
        <p:nvSpPr>
          <p:cNvPr id="37" name="Text 35"/>
          <p:cNvSpPr txBox="1"/>
          <p:nvPr/>
        </p:nvSpPr>
        <p:spPr>
          <a:xfrm>
            <a:off x="658368" y="2884125"/>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38" name="Shape 36"/>
          <p:cNvSpPr/>
          <p:nvPr/>
        </p:nvSpPr>
        <p:spPr>
          <a:xfrm>
            <a:off x="2670048" y="2937376"/>
            <a:ext cx="548891" cy="130168"/>
          </a:xfrm>
          <a:prstGeom prst="rect">
            <a:avLst/>
          </a:prstGeom>
          <a:solidFill>
            <a:srgbClr val="2587C5"/>
          </a:solidFill>
          <a:ln/>
        </p:spPr>
      </p:sp>
      <p:sp>
        <p:nvSpPr>
          <p:cNvPr id="39" name="Text 37"/>
          <p:cNvSpPr txBox="1"/>
          <p:nvPr/>
        </p:nvSpPr>
        <p:spPr>
          <a:xfrm>
            <a:off x="3767328" y="2884125"/>
            <a:ext cx="786384"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$22,777</a:t>
            </a:r>
            <a:endParaRPr lang="en-US" sz="1300" dirty="0"/>
          </a:p>
        </p:txBody>
      </p:sp>
      <p:sp>
        <p:nvSpPr>
          <p:cNvPr id="40" name="Text 38"/>
          <p:cNvSpPr txBox="1"/>
          <p:nvPr/>
        </p:nvSpPr>
        <p:spPr>
          <a:xfrm>
            <a:off x="4553712" y="2884125"/>
            <a:ext cx="56692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27</a:t>
            </a:r>
            <a:endParaRPr lang="en-US" sz="1300" dirty="0"/>
          </a:p>
        </p:txBody>
      </p:sp>
      <p:sp>
        <p:nvSpPr>
          <p:cNvPr id="41" name="Text 39"/>
          <p:cNvSpPr txBox="1"/>
          <p:nvPr/>
        </p:nvSpPr>
        <p:spPr>
          <a:xfrm>
            <a:off x="5120640" y="2884125"/>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$3.37</a:t>
            </a:r>
            <a:endParaRPr lang="en-US" sz="1300" dirty="0"/>
          </a:p>
        </p:txBody>
      </p:sp>
      <p:sp>
        <p:nvSpPr>
          <p:cNvPr id="42" name="Text 40"/>
          <p:cNvSpPr txBox="1"/>
          <p:nvPr/>
        </p:nvSpPr>
        <p:spPr>
          <a:xfrm>
            <a:off x="658368" y="3120793"/>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43" name="Shape 41"/>
          <p:cNvSpPr/>
          <p:nvPr/>
        </p:nvSpPr>
        <p:spPr>
          <a:xfrm>
            <a:off x="2670048" y="3174044"/>
            <a:ext cx="393176" cy="130168"/>
          </a:xfrm>
          <a:prstGeom prst="rect">
            <a:avLst/>
          </a:prstGeom>
          <a:solidFill>
            <a:srgbClr val="2587C5"/>
          </a:solidFill>
          <a:ln/>
        </p:spPr>
      </p:sp>
      <p:sp>
        <p:nvSpPr>
          <p:cNvPr id="44" name="Text 42"/>
          <p:cNvSpPr txBox="1"/>
          <p:nvPr/>
        </p:nvSpPr>
        <p:spPr>
          <a:xfrm>
            <a:off x="3767328" y="3120793"/>
            <a:ext cx="786384"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$16,315</a:t>
            </a:r>
            <a:endParaRPr lang="en-US" sz="1300" dirty="0"/>
          </a:p>
        </p:txBody>
      </p:sp>
      <p:sp>
        <p:nvSpPr>
          <p:cNvPr id="45" name="Text 43"/>
          <p:cNvSpPr txBox="1"/>
          <p:nvPr/>
        </p:nvSpPr>
        <p:spPr>
          <a:xfrm>
            <a:off x="4553712" y="3120793"/>
            <a:ext cx="56692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a:t>
            </a:r>
            <a:endParaRPr lang="en-US" sz="1300" dirty="0"/>
          </a:p>
        </p:txBody>
      </p:sp>
      <p:sp>
        <p:nvSpPr>
          <p:cNvPr id="46" name="Text 44"/>
          <p:cNvSpPr txBox="1"/>
          <p:nvPr/>
        </p:nvSpPr>
        <p:spPr>
          <a:xfrm>
            <a:off x="5120640" y="3120793"/>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$4.64</a:t>
            </a:r>
            <a:endParaRPr lang="en-US" sz="1300" dirty="0"/>
          </a:p>
        </p:txBody>
      </p:sp>
      <p:sp>
        <p:nvSpPr>
          <p:cNvPr id="47" name="Text 45"/>
          <p:cNvSpPr txBox="1"/>
          <p:nvPr/>
        </p:nvSpPr>
        <p:spPr>
          <a:xfrm>
            <a:off x="658368" y="3357462"/>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48" name="Shape 46"/>
          <p:cNvSpPr/>
          <p:nvPr/>
        </p:nvSpPr>
        <p:spPr>
          <a:xfrm>
            <a:off x="2670048" y="3410712"/>
            <a:ext cx="391366" cy="130168"/>
          </a:xfrm>
          <a:prstGeom prst="rect">
            <a:avLst/>
          </a:prstGeom>
          <a:solidFill>
            <a:srgbClr val="2587C5"/>
          </a:solidFill>
          <a:ln/>
        </p:spPr>
      </p:sp>
      <p:sp>
        <p:nvSpPr>
          <p:cNvPr id="49" name="Text 47"/>
          <p:cNvSpPr txBox="1"/>
          <p:nvPr/>
        </p:nvSpPr>
        <p:spPr>
          <a:xfrm>
            <a:off x="3767328" y="3357462"/>
            <a:ext cx="786384"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$16,240</a:t>
            </a:r>
            <a:endParaRPr lang="en-US" sz="1300" dirty="0"/>
          </a:p>
        </p:txBody>
      </p:sp>
      <p:sp>
        <p:nvSpPr>
          <p:cNvPr id="50" name="Text 48"/>
          <p:cNvSpPr txBox="1"/>
          <p:nvPr/>
        </p:nvSpPr>
        <p:spPr>
          <a:xfrm>
            <a:off x="4553712" y="3357462"/>
            <a:ext cx="56692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a:t>
            </a:r>
            <a:endParaRPr lang="en-US" sz="1300" dirty="0"/>
          </a:p>
        </p:txBody>
      </p:sp>
      <p:sp>
        <p:nvSpPr>
          <p:cNvPr id="51" name="Text 49"/>
          <p:cNvSpPr txBox="1"/>
          <p:nvPr/>
        </p:nvSpPr>
        <p:spPr>
          <a:xfrm>
            <a:off x="5120640" y="3357462"/>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$2.93</a:t>
            </a:r>
            <a:endParaRPr lang="en-US" sz="1300" dirty="0"/>
          </a:p>
        </p:txBody>
      </p:sp>
      <p:sp>
        <p:nvSpPr>
          <p:cNvPr id="52" name="Text 50"/>
          <p:cNvSpPr txBox="1"/>
          <p:nvPr/>
        </p:nvSpPr>
        <p:spPr>
          <a:xfrm>
            <a:off x="658368" y="3594130"/>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53" name="Shape 51"/>
          <p:cNvSpPr/>
          <p:nvPr/>
        </p:nvSpPr>
        <p:spPr>
          <a:xfrm>
            <a:off x="2670048" y="3647380"/>
            <a:ext cx="367379" cy="130168"/>
          </a:xfrm>
          <a:prstGeom prst="rect">
            <a:avLst/>
          </a:prstGeom>
          <a:solidFill>
            <a:srgbClr val="2587C5"/>
          </a:solidFill>
          <a:ln/>
        </p:spPr>
      </p:sp>
      <p:sp>
        <p:nvSpPr>
          <p:cNvPr id="54" name="Text 52"/>
          <p:cNvSpPr txBox="1"/>
          <p:nvPr/>
        </p:nvSpPr>
        <p:spPr>
          <a:xfrm>
            <a:off x="3767328" y="3594130"/>
            <a:ext cx="786384"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$15,245</a:t>
            </a:r>
            <a:endParaRPr lang="en-US" sz="1300" dirty="0"/>
          </a:p>
        </p:txBody>
      </p:sp>
      <p:sp>
        <p:nvSpPr>
          <p:cNvPr id="55" name="Text 53"/>
          <p:cNvSpPr txBox="1"/>
          <p:nvPr/>
        </p:nvSpPr>
        <p:spPr>
          <a:xfrm>
            <a:off x="4553712" y="3594130"/>
            <a:ext cx="56692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a:t>
            </a:r>
            <a:endParaRPr lang="en-US" sz="1300" dirty="0"/>
          </a:p>
        </p:txBody>
      </p:sp>
      <p:sp>
        <p:nvSpPr>
          <p:cNvPr id="56" name="Text 54"/>
          <p:cNvSpPr txBox="1"/>
          <p:nvPr/>
        </p:nvSpPr>
        <p:spPr>
          <a:xfrm>
            <a:off x="5120640" y="3594130"/>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$2.68</a:t>
            </a:r>
            <a:endParaRPr lang="en-US" sz="1300" dirty="0"/>
          </a:p>
        </p:txBody>
      </p:sp>
      <p:sp>
        <p:nvSpPr>
          <p:cNvPr id="57" name="Text 55"/>
          <p:cNvSpPr txBox="1"/>
          <p:nvPr/>
        </p:nvSpPr>
        <p:spPr>
          <a:xfrm>
            <a:off x="658368" y="3830798"/>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58" name="Shape 56"/>
          <p:cNvSpPr/>
          <p:nvPr/>
        </p:nvSpPr>
        <p:spPr>
          <a:xfrm>
            <a:off x="2670048" y="3884048"/>
            <a:ext cx="355248" cy="130168"/>
          </a:xfrm>
          <a:prstGeom prst="rect">
            <a:avLst/>
          </a:prstGeom>
          <a:solidFill>
            <a:srgbClr val="2587C5"/>
          </a:solidFill>
          <a:ln/>
        </p:spPr>
      </p:sp>
      <p:sp>
        <p:nvSpPr>
          <p:cNvPr id="59" name="Text 57"/>
          <p:cNvSpPr txBox="1"/>
          <p:nvPr/>
        </p:nvSpPr>
        <p:spPr>
          <a:xfrm>
            <a:off x="3767328" y="3830798"/>
            <a:ext cx="786384"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$14,741</a:t>
            </a:r>
            <a:endParaRPr lang="en-US" sz="1300" dirty="0"/>
          </a:p>
        </p:txBody>
      </p:sp>
      <p:sp>
        <p:nvSpPr>
          <p:cNvPr id="60" name="Text 58"/>
          <p:cNvSpPr txBox="1"/>
          <p:nvPr/>
        </p:nvSpPr>
        <p:spPr>
          <a:xfrm>
            <a:off x="4553712" y="3830798"/>
            <a:ext cx="56692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20</a:t>
            </a:r>
            <a:endParaRPr lang="en-US" sz="1300" dirty="0"/>
          </a:p>
        </p:txBody>
      </p:sp>
      <p:sp>
        <p:nvSpPr>
          <p:cNvPr id="61" name="Text 59"/>
          <p:cNvSpPr txBox="1"/>
          <p:nvPr/>
        </p:nvSpPr>
        <p:spPr>
          <a:xfrm>
            <a:off x="5120640" y="3830798"/>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$3.47</a:t>
            </a:r>
            <a:endParaRPr lang="en-US" sz="1300" dirty="0"/>
          </a:p>
        </p:txBody>
      </p:sp>
      <p:sp>
        <p:nvSpPr>
          <p:cNvPr id="62" name="Text 60"/>
          <p:cNvSpPr txBox="1"/>
          <p:nvPr/>
        </p:nvSpPr>
        <p:spPr>
          <a:xfrm>
            <a:off x="658368" y="4067466"/>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63" name="Shape 61"/>
          <p:cNvSpPr/>
          <p:nvPr/>
        </p:nvSpPr>
        <p:spPr>
          <a:xfrm>
            <a:off x="2670048" y="4120717"/>
            <a:ext cx="338665" cy="130168"/>
          </a:xfrm>
          <a:prstGeom prst="rect">
            <a:avLst/>
          </a:prstGeom>
          <a:solidFill>
            <a:srgbClr val="2587C5"/>
          </a:solidFill>
          <a:ln/>
        </p:spPr>
      </p:sp>
      <p:sp>
        <p:nvSpPr>
          <p:cNvPr id="64" name="Text 62"/>
          <p:cNvSpPr txBox="1"/>
          <p:nvPr/>
        </p:nvSpPr>
        <p:spPr>
          <a:xfrm>
            <a:off x="3767328" y="4067466"/>
            <a:ext cx="786384"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$14,053</a:t>
            </a:r>
            <a:endParaRPr lang="en-US" sz="1300" dirty="0"/>
          </a:p>
        </p:txBody>
      </p:sp>
      <p:sp>
        <p:nvSpPr>
          <p:cNvPr id="65" name="Text 63"/>
          <p:cNvSpPr txBox="1"/>
          <p:nvPr/>
        </p:nvSpPr>
        <p:spPr>
          <a:xfrm>
            <a:off x="4553712" y="4067466"/>
            <a:ext cx="56692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20</a:t>
            </a:r>
            <a:endParaRPr lang="en-US" sz="1300" dirty="0"/>
          </a:p>
        </p:txBody>
      </p:sp>
      <p:sp>
        <p:nvSpPr>
          <p:cNvPr id="66" name="Text 64"/>
          <p:cNvSpPr txBox="1"/>
          <p:nvPr/>
        </p:nvSpPr>
        <p:spPr>
          <a:xfrm>
            <a:off x="5120640" y="4067466"/>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$3.06</a:t>
            </a:r>
            <a:endParaRPr lang="en-US" sz="1300" dirty="0"/>
          </a:p>
        </p:txBody>
      </p:sp>
      <p:sp>
        <p:nvSpPr>
          <p:cNvPr id="67" name="Text 65"/>
          <p:cNvSpPr txBox="1"/>
          <p:nvPr/>
        </p:nvSpPr>
        <p:spPr>
          <a:xfrm>
            <a:off x="658368" y="4304135"/>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68" name="Shape 66"/>
          <p:cNvSpPr/>
          <p:nvPr/>
        </p:nvSpPr>
        <p:spPr>
          <a:xfrm>
            <a:off x="2670048" y="4357385"/>
            <a:ext cx="305679" cy="130168"/>
          </a:xfrm>
          <a:prstGeom prst="rect">
            <a:avLst/>
          </a:prstGeom>
          <a:solidFill>
            <a:srgbClr val="2587C5"/>
          </a:solidFill>
          <a:ln/>
        </p:spPr>
      </p:sp>
      <p:sp>
        <p:nvSpPr>
          <p:cNvPr id="69" name="Text 67"/>
          <p:cNvSpPr txBox="1"/>
          <p:nvPr/>
        </p:nvSpPr>
        <p:spPr>
          <a:xfrm>
            <a:off x="3767328" y="4304135"/>
            <a:ext cx="786384"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$12,684</a:t>
            </a:r>
            <a:endParaRPr lang="en-US" sz="1300" dirty="0"/>
          </a:p>
        </p:txBody>
      </p:sp>
      <p:sp>
        <p:nvSpPr>
          <p:cNvPr id="70" name="Text 68"/>
          <p:cNvSpPr txBox="1"/>
          <p:nvPr/>
        </p:nvSpPr>
        <p:spPr>
          <a:xfrm>
            <a:off x="4553712" y="4304135"/>
            <a:ext cx="56692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28</a:t>
            </a:r>
            <a:endParaRPr lang="en-US" sz="1300" dirty="0"/>
          </a:p>
        </p:txBody>
      </p:sp>
      <p:sp>
        <p:nvSpPr>
          <p:cNvPr id="71" name="Text 69"/>
          <p:cNvSpPr txBox="1"/>
          <p:nvPr/>
        </p:nvSpPr>
        <p:spPr>
          <a:xfrm>
            <a:off x="5120640" y="4304135"/>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$2.41</a:t>
            </a:r>
            <a:endParaRPr lang="en-US" sz="1300" dirty="0"/>
          </a:p>
        </p:txBody>
      </p:sp>
      <p:sp>
        <p:nvSpPr>
          <p:cNvPr id="72" name="Text 70"/>
          <p:cNvSpPr txBox="1"/>
          <p:nvPr/>
        </p:nvSpPr>
        <p:spPr>
          <a:xfrm>
            <a:off x="658368" y="4540803"/>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73" name="Shape 71"/>
          <p:cNvSpPr/>
          <p:nvPr/>
        </p:nvSpPr>
        <p:spPr>
          <a:xfrm>
            <a:off x="2670048" y="4594053"/>
            <a:ext cx="303009" cy="130168"/>
          </a:xfrm>
          <a:prstGeom prst="rect">
            <a:avLst/>
          </a:prstGeom>
          <a:solidFill>
            <a:srgbClr val="2587C5"/>
          </a:solidFill>
          <a:ln/>
        </p:spPr>
      </p:sp>
      <p:sp>
        <p:nvSpPr>
          <p:cNvPr id="74" name="Text 72"/>
          <p:cNvSpPr txBox="1"/>
          <p:nvPr/>
        </p:nvSpPr>
        <p:spPr>
          <a:xfrm>
            <a:off x="3767328" y="4540803"/>
            <a:ext cx="786384"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$12,574</a:t>
            </a:r>
            <a:endParaRPr lang="en-US" sz="1300" dirty="0"/>
          </a:p>
        </p:txBody>
      </p:sp>
      <p:sp>
        <p:nvSpPr>
          <p:cNvPr id="75" name="Text 73"/>
          <p:cNvSpPr txBox="1"/>
          <p:nvPr/>
        </p:nvSpPr>
        <p:spPr>
          <a:xfrm>
            <a:off x="4553712" y="4540803"/>
            <a:ext cx="56692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17</a:t>
            </a:r>
            <a:endParaRPr lang="en-US" sz="1300" dirty="0"/>
          </a:p>
        </p:txBody>
      </p:sp>
      <p:sp>
        <p:nvSpPr>
          <p:cNvPr id="76" name="Text 74"/>
          <p:cNvSpPr txBox="1"/>
          <p:nvPr/>
        </p:nvSpPr>
        <p:spPr>
          <a:xfrm>
            <a:off x="5120640" y="4540803"/>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$2.93</a:t>
            </a:r>
            <a:endParaRPr lang="en-US" sz="1300" dirty="0"/>
          </a:p>
        </p:txBody>
      </p:sp>
      <p:sp>
        <p:nvSpPr>
          <p:cNvPr id="77" name="Text 75"/>
          <p:cNvSpPr txBox="1"/>
          <p:nvPr/>
        </p:nvSpPr>
        <p:spPr>
          <a:xfrm>
            <a:off x="658368" y="4777471"/>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78" name="Shape 76"/>
          <p:cNvSpPr/>
          <p:nvPr/>
        </p:nvSpPr>
        <p:spPr>
          <a:xfrm>
            <a:off x="2670048" y="4830721"/>
            <a:ext cx="297134" cy="130168"/>
          </a:xfrm>
          <a:prstGeom prst="rect">
            <a:avLst/>
          </a:prstGeom>
          <a:solidFill>
            <a:srgbClr val="2587C5"/>
          </a:solidFill>
          <a:ln/>
        </p:spPr>
      </p:sp>
      <p:sp>
        <p:nvSpPr>
          <p:cNvPr id="79" name="Text 77"/>
          <p:cNvSpPr txBox="1"/>
          <p:nvPr/>
        </p:nvSpPr>
        <p:spPr>
          <a:xfrm>
            <a:off x="3767328" y="4777471"/>
            <a:ext cx="786384"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$12,330</a:t>
            </a:r>
            <a:endParaRPr lang="en-US" sz="1300" dirty="0"/>
          </a:p>
        </p:txBody>
      </p:sp>
      <p:sp>
        <p:nvSpPr>
          <p:cNvPr id="80" name="Text 78"/>
          <p:cNvSpPr txBox="1"/>
          <p:nvPr/>
        </p:nvSpPr>
        <p:spPr>
          <a:xfrm>
            <a:off x="4553712" y="4777471"/>
            <a:ext cx="56692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a:t>
            </a:r>
            <a:endParaRPr lang="en-US" sz="1300" dirty="0"/>
          </a:p>
        </p:txBody>
      </p:sp>
      <p:sp>
        <p:nvSpPr>
          <p:cNvPr id="81" name="Text 79"/>
          <p:cNvSpPr txBox="1"/>
          <p:nvPr/>
        </p:nvSpPr>
        <p:spPr>
          <a:xfrm>
            <a:off x="5120640" y="4777471"/>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$2.50</a:t>
            </a:r>
            <a:endParaRPr lang="en-US" sz="1300" dirty="0"/>
          </a:p>
        </p:txBody>
      </p:sp>
      <p:sp>
        <p:nvSpPr>
          <p:cNvPr id="82" name="Text 80"/>
          <p:cNvSpPr txBox="1"/>
          <p:nvPr/>
        </p:nvSpPr>
        <p:spPr>
          <a:xfrm>
            <a:off x="658368" y="5014139"/>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83" name="Shape 81"/>
          <p:cNvSpPr/>
          <p:nvPr/>
        </p:nvSpPr>
        <p:spPr>
          <a:xfrm>
            <a:off x="2670048" y="5067390"/>
            <a:ext cx="287796" cy="130168"/>
          </a:xfrm>
          <a:prstGeom prst="rect">
            <a:avLst/>
          </a:prstGeom>
          <a:solidFill>
            <a:srgbClr val="2587C5"/>
          </a:solidFill>
          <a:ln/>
        </p:spPr>
      </p:sp>
      <p:sp>
        <p:nvSpPr>
          <p:cNvPr id="84" name="Text 82"/>
          <p:cNvSpPr txBox="1"/>
          <p:nvPr/>
        </p:nvSpPr>
        <p:spPr>
          <a:xfrm>
            <a:off x="3767328" y="5014139"/>
            <a:ext cx="786384"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$11,942</a:t>
            </a:r>
            <a:endParaRPr lang="en-US" sz="1300" dirty="0"/>
          </a:p>
        </p:txBody>
      </p:sp>
      <p:sp>
        <p:nvSpPr>
          <p:cNvPr id="85" name="Text 83"/>
          <p:cNvSpPr txBox="1"/>
          <p:nvPr/>
        </p:nvSpPr>
        <p:spPr>
          <a:xfrm>
            <a:off x="4553712" y="5014139"/>
            <a:ext cx="56692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a:t>
            </a:r>
            <a:endParaRPr lang="en-US" sz="1300" dirty="0"/>
          </a:p>
        </p:txBody>
      </p:sp>
      <p:sp>
        <p:nvSpPr>
          <p:cNvPr id="86" name="Text 84"/>
          <p:cNvSpPr txBox="1"/>
          <p:nvPr/>
        </p:nvSpPr>
        <p:spPr>
          <a:xfrm>
            <a:off x="5120640" y="5014139"/>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$2.75</a:t>
            </a:r>
            <a:endParaRPr lang="en-US" sz="1300" dirty="0"/>
          </a:p>
        </p:txBody>
      </p:sp>
      <p:sp>
        <p:nvSpPr>
          <p:cNvPr id="87" name="Text 85"/>
          <p:cNvSpPr txBox="1"/>
          <p:nvPr/>
        </p:nvSpPr>
        <p:spPr>
          <a:xfrm>
            <a:off x="658368" y="5250808"/>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88" name="Shape 86"/>
          <p:cNvSpPr/>
          <p:nvPr/>
        </p:nvSpPr>
        <p:spPr>
          <a:xfrm>
            <a:off x="2670048" y="5304058"/>
            <a:ext cx="274938" cy="130168"/>
          </a:xfrm>
          <a:prstGeom prst="rect">
            <a:avLst/>
          </a:prstGeom>
          <a:solidFill>
            <a:srgbClr val="2587C5"/>
          </a:solidFill>
          <a:ln/>
        </p:spPr>
      </p:sp>
      <p:sp>
        <p:nvSpPr>
          <p:cNvPr id="89" name="Text 87"/>
          <p:cNvSpPr txBox="1"/>
          <p:nvPr/>
        </p:nvSpPr>
        <p:spPr>
          <a:xfrm>
            <a:off x="3767328" y="5250808"/>
            <a:ext cx="786384"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$11,409</a:t>
            </a:r>
            <a:endParaRPr lang="en-US" sz="1300" dirty="0"/>
          </a:p>
        </p:txBody>
      </p:sp>
      <p:sp>
        <p:nvSpPr>
          <p:cNvPr id="90" name="Text 88"/>
          <p:cNvSpPr txBox="1"/>
          <p:nvPr/>
        </p:nvSpPr>
        <p:spPr>
          <a:xfrm>
            <a:off x="4553712" y="5250808"/>
            <a:ext cx="56692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a:t>
            </a:r>
            <a:endParaRPr lang="en-US" sz="1300" dirty="0"/>
          </a:p>
        </p:txBody>
      </p:sp>
      <p:sp>
        <p:nvSpPr>
          <p:cNvPr id="91" name="Text 89"/>
          <p:cNvSpPr txBox="1"/>
          <p:nvPr/>
        </p:nvSpPr>
        <p:spPr>
          <a:xfrm>
            <a:off x="5120640" y="5250808"/>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$4.99</a:t>
            </a:r>
            <a:endParaRPr lang="en-US" sz="1300" dirty="0"/>
          </a:p>
        </p:txBody>
      </p:sp>
      <p:sp>
        <p:nvSpPr>
          <p:cNvPr id="92" name="Text 90"/>
          <p:cNvSpPr txBox="1"/>
          <p:nvPr/>
        </p:nvSpPr>
        <p:spPr>
          <a:xfrm>
            <a:off x="658368" y="5487476"/>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93" name="Shape 91"/>
          <p:cNvSpPr/>
          <p:nvPr/>
        </p:nvSpPr>
        <p:spPr>
          <a:xfrm>
            <a:off x="2670048" y="5540726"/>
            <a:ext cx="260210" cy="130168"/>
          </a:xfrm>
          <a:prstGeom prst="rect">
            <a:avLst/>
          </a:prstGeom>
          <a:solidFill>
            <a:srgbClr val="2587C5"/>
          </a:solidFill>
          <a:ln/>
        </p:spPr>
      </p:sp>
      <p:sp>
        <p:nvSpPr>
          <p:cNvPr id="94" name="Text 92"/>
          <p:cNvSpPr txBox="1"/>
          <p:nvPr/>
        </p:nvSpPr>
        <p:spPr>
          <a:xfrm>
            <a:off x="3767328" y="5487476"/>
            <a:ext cx="786384"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$10,798</a:t>
            </a:r>
            <a:endParaRPr lang="en-US" sz="1300" dirty="0"/>
          </a:p>
        </p:txBody>
      </p:sp>
      <p:sp>
        <p:nvSpPr>
          <p:cNvPr id="95" name="Text 93"/>
          <p:cNvSpPr txBox="1"/>
          <p:nvPr/>
        </p:nvSpPr>
        <p:spPr>
          <a:xfrm>
            <a:off x="4553712" y="5487476"/>
            <a:ext cx="56692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a:t>
            </a:r>
            <a:endParaRPr lang="en-US" sz="1300" dirty="0"/>
          </a:p>
        </p:txBody>
      </p:sp>
      <p:sp>
        <p:nvSpPr>
          <p:cNvPr id="96" name="Text 94"/>
          <p:cNvSpPr txBox="1"/>
          <p:nvPr/>
        </p:nvSpPr>
        <p:spPr>
          <a:xfrm>
            <a:off x="5120640" y="5487476"/>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$4.06</a:t>
            </a:r>
            <a:endParaRPr lang="en-US" sz="1300" dirty="0"/>
          </a:p>
        </p:txBody>
      </p:sp>
      <p:sp>
        <p:nvSpPr>
          <p:cNvPr id="97" name="Text 95"/>
          <p:cNvSpPr txBox="1"/>
          <p:nvPr/>
        </p:nvSpPr>
        <p:spPr>
          <a:xfrm>
            <a:off x="6208776" y="1700784"/>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98" name="Shape 96"/>
          <p:cNvSpPr/>
          <p:nvPr/>
        </p:nvSpPr>
        <p:spPr>
          <a:xfrm>
            <a:off x="8220456" y="1754034"/>
            <a:ext cx="246097" cy="130168"/>
          </a:xfrm>
          <a:prstGeom prst="rect">
            <a:avLst/>
          </a:prstGeom>
          <a:solidFill>
            <a:srgbClr val="2587C5"/>
          </a:solidFill>
          <a:ln/>
        </p:spPr>
      </p:sp>
      <p:sp>
        <p:nvSpPr>
          <p:cNvPr id="99" name="Text 97"/>
          <p:cNvSpPr txBox="1"/>
          <p:nvPr/>
        </p:nvSpPr>
        <p:spPr>
          <a:xfrm>
            <a:off x="9317736" y="1700784"/>
            <a:ext cx="786384"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$10,212</a:t>
            </a:r>
            <a:endParaRPr lang="en-US" sz="1300" dirty="0"/>
          </a:p>
        </p:txBody>
      </p:sp>
      <p:sp>
        <p:nvSpPr>
          <p:cNvPr id="100" name="Text 98"/>
          <p:cNvSpPr txBox="1"/>
          <p:nvPr/>
        </p:nvSpPr>
        <p:spPr>
          <a:xfrm>
            <a:off x="10104120" y="1700784"/>
            <a:ext cx="56692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a:t>
            </a:r>
            <a:endParaRPr lang="en-US" sz="1300" dirty="0"/>
          </a:p>
        </p:txBody>
      </p:sp>
      <p:sp>
        <p:nvSpPr>
          <p:cNvPr id="101" name="Text 99"/>
          <p:cNvSpPr txBox="1"/>
          <p:nvPr/>
        </p:nvSpPr>
        <p:spPr>
          <a:xfrm>
            <a:off x="10671048" y="1700784"/>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$3.17</a:t>
            </a:r>
            <a:endParaRPr lang="en-US" sz="1300" dirty="0"/>
          </a:p>
        </p:txBody>
      </p:sp>
      <p:sp>
        <p:nvSpPr>
          <p:cNvPr id="102" name="Text 100"/>
          <p:cNvSpPr txBox="1"/>
          <p:nvPr/>
        </p:nvSpPr>
        <p:spPr>
          <a:xfrm>
            <a:off x="6208776" y="1937452"/>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103" name="Shape 101"/>
          <p:cNvSpPr/>
          <p:nvPr/>
        </p:nvSpPr>
        <p:spPr>
          <a:xfrm>
            <a:off x="8220456" y="1990703"/>
            <a:ext cx="220598" cy="130168"/>
          </a:xfrm>
          <a:prstGeom prst="rect">
            <a:avLst/>
          </a:prstGeom>
          <a:solidFill>
            <a:srgbClr val="2587C5"/>
          </a:solidFill>
          <a:ln/>
        </p:spPr>
      </p:sp>
      <p:sp>
        <p:nvSpPr>
          <p:cNvPr id="104" name="Text 102"/>
          <p:cNvSpPr txBox="1"/>
          <p:nvPr/>
        </p:nvSpPr>
        <p:spPr>
          <a:xfrm>
            <a:off x="9317736" y="1937452"/>
            <a:ext cx="786384"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$9,154</a:t>
            </a:r>
            <a:endParaRPr lang="en-US" sz="1300" dirty="0"/>
          </a:p>
        </p:txBody>
      </p:sp>
      <p:sp>
        <p:nvSpPr>
          <p:cNvPr id="105" name="Text 103"/>
          <p:cNvSpPr txBox="1"/>
          <p:nvPr/>
        </p:nvSpPr>
        <p:spPr>
          <a:xfrm>
            <a:off x="10104120" y="1937452"/>
            <a:ext cx="56692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a:t>
            </a:r>
            <a:endParaRPr lang="en-US" sz="1300" dirty="0"/>
          </a:p>
        </p:txBody>
      </p:sp>
      <p:sp>
        <p:nvSpPr>
          <p:cNvPr id="106" name="Text 104"/>
          <p:cNvSpPr txBox="1"/>
          <p:nvPr/>
        </p:nvSpPr>
        <p:spPr>
          <a:xfrm>
            <a:off x="10671048" y="1937452"/>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$3.27</a:t>
            </a:r>
            <a:endParaRPr lang="en-US" sz="1300" dirty="0"/>
          </a:p>
        </p:txBody>
      </p:sp>
      <p:sp>
        <p:nvSpPr>
          <p:cNvPr id="107" name="Text 105"/>
          <p:cNvSpPr txBox="1"/>
          <p:nvPr/>
        </p:nvSpPr>
        <p:spPr>
          <a:xfrm>
            <a:off x="6208776" y="2174120"/>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108" name="Shape 106"/>
          <p:cNvSpPr/>
          <p:nvPr/>
        </p:nvSpPr>
        <p:spPr>
          <a:xfrm>
            <a:off x="8220456" y="2227371"/>
            <a:ext cx="212176" cy="130168"/>
          </a:xfrm>
          <a:prstGeom prst="rect">
            <a:avLst/>
          </a:prstGeom>
          <a:solidFill>
            <a:srgbClr val="2587C5"/>
          </a:solidFill>
          <a:ln/>
        </p:spPr>
      </p:sp>
      <p:sp>
        <p:nvSpPr>
          <p:cNvPr id="109" name="Text 107"/>
          <p:cNvSpPr txBox="1"/>
          <p:nvPr/>
        </p:nvSpPr>
        <p:spPr>
          <a:xfrm>
            <a:off x="9317736" y="2174120"/>
            <a:ext cx="786384"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$8,804</a:t>
            </a:r>
            <a:endParaRPr lang="en-US" sz="1300" dirty="0"/>
          </a:p>
        </p:txBody>
      </p:sp>
      <p:sp>
        <p:nvSpPr>
          <p:cNvPr id="110" name="Text 108"/>
          <p:cNvSpPr txBox="1"/>
          <p:nvPr/>
        </p:nvSpPr>
        <p:spPr>
          <a:xfrm>
            <a:off x="10104120" y="2174120"/>
            <a:ext cx="56692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a:t>
            </a:r>
            <a:endParaRPr lang="en-US" sz="1300" dirty="0"/>
          </a:p>
        </p:txBody>
      </p:sp>
      <p:sp>
        <p:nvSpPr>
          <p:cNvPr id="111" name="Text 109"/>
          <p:cNvSpPr txBox="1"/>
          <p:nvPr/>
        </p:nvSpPr>
        <p:spPr>
          <a:xfrm>
            <a:off x="10671048" y="2174120"/>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$3.45</a:t>
            </a:r>
            <a:endParaRPr lang="en-US" sz="1300" dirty="0"/>
          </a:p>
        </p:txBody>
      </p:sp>
      <p:sp>
        <p:nvSpPr>
          <p:cNvPr id="112" name="Text 110"/>
          <p:cNvSpPr txBox="1"/>
          <p:nvPr/>
        </p:nvSpPr>
        <p:spPr>
          <a:xfrm>
            <a:off x="6208776" y="2410789"/>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113" name="Shape 111"/>
          <p:cNvSpPr/>
          <p:nvPr/>
        </p:nvSpPr>
        <p:spPr>
          <a:xfrm>
            <a:off x="8220456" y="2464039"/>
            <a:ext cx="203688" cy="130168"/>
          </a:xfrm>
          <a:prstGeom prst="rect">
            <a:avLst/>
          </a:prstGeom>
          <a:solidFill>
            <a:srgbClr val="2587C5"/>
          </a:solidFill>
          <a:ln/>
        </p:spPr>
      </p:sp>
      <p:sp>
        <p:nvSpPr>
          <p:cNvPr id="114" name="Text 112"/>
          <p:cNvSpPr txBox="1"/>
          <p:nvPr/>
        </p:nvSpPr>
        <p:spPr>
          <a:xfrm>
            <a:off x="9317736" y="2410789"/>
            <a:ext cx="786384"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$8,452</a:t>
            </a:r>
            <a:endParaRPr lang="en-US" sz="1300" dirty="0"/>
          </a:p>
        </p:txBody>
      </p:sp>
      <p:sp>
        <p:nvSpPr>
          <p:cNvPr id="115" name="Text 113"/>
          <p:cNvSpPr txBox="1"/>
          <p:nvPr/>
        </p:nvSpPr>
        <p:spPr>
          <a:xfrm>
            <a:off x="10104120" y="2410789"/>
            <a:ext cx="56692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a:t>
            </a:r>
            <a:endParaRPr lang="en-US" sz="1300" dirty="0"/>
          </a:p>
        </p:txBody>
      </p:sp>
      <p:sp>
        <p:nvSpPr>
          <p:cNvPr id="116" name="Text 114"/>
          <p:cNvSpPr txBox="1"/>
          <p:nvPr/>
        </p:nvSpPr>
        <p:spPr>
          <a:xfrm>
            <a:off x="10671048" y="2410789"/>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$2.80</a:t>
            </a:r>
            <a:endParaRPr lang="en-US" sz="1300" dirty="0"/>
          </a:p>
        </p:txBody>
      </p:sp>
      <p:sp>
        <p:nvSpPr>
          <p:cNvPr id="117" name="Text 115"/>
          <p:cNvSpPr txBox="1"/>
          <p:nvPr/>
        </p:nvSpPr>
        <p:spPr>
          <a:xfrm>
            <a:off x="6208776" y="2647457"/>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118" name="Shape 116"/>
          <p:cNvSpPr/>
          <p:nvPr/>
        </p:nvSpPr>
        <p:spPr>
          <a:xfrm>
            <a:off x="8220456" y="2700707"/>
            <a:ext cx="199671" cy="130168"/>
          </a:xfrm>
          <a:prstGeom prst="rect">
            <a:avLst/>
          </a:prstGeom>
          <a:solidFill>
            <a:srgbClr val="2587C5"/>
          </a:solidFill>
          <a:ln/>
        </p:spPr>
      </p:sp>
      <p:sp>
        <p:nvSpPr>
          <p:cNvPr id="119" name="Text 117"/>
          <p:cNvSpPr txBox="1"/>
          <p:nvPr/>
        </p:nvSpPr>
        <p:spPr>
          <a:xfrm>
            <a:off x="9317736" y="2647457"/>
            <a:ext cx="786384"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$8,285</a:t>
            </a:r>
            <a:endParaRPr lang="en-US" sz="1300" dirty="0"/>
          </a:p>
        </p:txBody>
      </p:sp>
      <p:sp>
        <p:nvSpPr>
          <p:cNvPr id="120" name="Text 118"/>
          <p:cNvSpPr txBox="1"/>
          <p:nvPr/>
        </p:nvSpPr>
        <p:spPr>
          <a:xfrm>
            <a:off x="10104120" y="2647457"/>
            <a:ext cx="56692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a:t>
            </a:r>
            <a:endParaRPr lang="en-US" sz="1300" dirty="0"/>
          </a:p>
        </p:txBody>
      </p:sp>
      <p:sp>
        <p:nvSpPr>
          <p:cNvPr id="121" name="Text 119"/>
          <p:cNvSpPr txBox="1"/>
          <p:nvPr/>
        </p:nvSpPr>
        <p:spPr>
          <a:xfrm>
            <a:off x="10671048" y="2647457"/>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$3.84</a:t>
            </a:r>
            <a:endParaRPr lang="en-US" sz="1300" dirty="0"/>
          </a:p>
        </p:txBody>
      </p:sp>
      <p:sp>
        <p:nvSpPr>
          <p:cNvPr id="122" name="Text 120"/>
          <p:cNvSpPr txBox="1"/>
          <p:nvPr/>
        </p:nvSpPr>
        <p:spPr>
          <a:xfrm>
            <a:off x="6208776" y="2884125"/>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123" name="Shape 121"/>
          <p:cNvSpPr/>
          <p:nvPr/>
        </p:nvSpPr>
        <p:spPr>
          <a:xfrm>
            <a:off x="8220456" y="2937376"/>
            <a:ext cx="194454" cy="130168"/>
          </a:xfrm>
          <a:prstGeom prst="rect">
            <a:avLst/>
          </a:prstGeom>
          <a:solidFill>
            <a:srgbClr val="2587C5"/>
          </a:solidFill>
          <a:ln/>
        </p:spPr>
      </p:sp>
      <p:sp>
        <p:nvSpPr>
          <p:cNvPr id="124" name="Text 122"/>
          <p:cNvSpPr txBox="1"/>
          <p:nvPr/>
        </p:nvSpPr>
        <p:spPr>
          <a:xfrm>
            <a:off x="9317736" y="2884125"/>
            <a:ext cx="786384"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$8,069</a:t>
            </a:r>
            <a:endParaRPr lang="en-US" sz="1300" dirty="0"/>
          </a:p>
        </p:txBody>
      </p:sp>
      <p:sp>
        <p:nvSpPr>
          <p:cNvPr id="125" name="Text 123"/>
          <p:cNvSpPr txBox="1"/>
          <p:nvPr/>
        </p:nvSpPr>
        <p:spPr>
          <a:xfrm>
            <a:off x="10104120" y="2884125"/>
            <a:ext cx="56692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a:t>
            </a:r>
            <a:endParaRPr lang="en-US" sz="1300" dirty="0"/>
          </a:p>
        </p:txBody>
      </p:sp>
      <p:sp>
        <p:nvSpPr>
          <p:cNvPr id="126" name="Text 124"/>
          <p:cNvSpPr txBox="1"/>
          <p:nvPr/>
        </p:nvSpPr>
        <p:spPr>
          <a:xfrm>
            <a:off x="10671048" y="2884125"/>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$3.03</a:t>
            </a:r>
            <a:endParaRPr lang="en-US" sz="1300" dirty="0"/>
          </a:p>
        </p:txBody>
      </p:sp>
      <p:sp>
        <p:nvSpPr>
          <p:cNvPr id="127" name="Text 125"/>
          <p:cNvSpPr txBox="1"/>
          <p:nvPr/>
        </p:nvSpPr>
        <p:spPr>
          <a:xfrm>
            <a:off x="6208776" y="3120793"/>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128" name="Shape 126"/>
          <p:cNvSpPr/>
          <p:nvPr/>
        </p:nvSpPr>
        <p:spPr>
          <a:xfrm>
            <a:off x="8220456" y="3174044"/>
            <a:ext cx="181881" cy="130168"/>
          </a:xfrm>
          <a:prstGeom prst="rect">
            <a:avLst/>
          </a:prstGeom>
          <a:solidFill>
            <a:srgbClr val="2587C5"/>
          </a:solidFill>
          <a:ln/>
        </p:spPr>
      </p:sp>
      <p:sp>
        <p:nvSpPr>
          <p:cNvPr id="129" name="Text 127"/>
          <p:cNvSpPr txBox="1"/>
          <p:nvPr/>
        </p:nvSpPr>
        <p:spPr>
          <a:xfrm>
            <a:off x="9317736" y="3120793"/>
            <a:ext cx="786384"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$7,547</a:t>
            </a:r>
            <a:endParaRPr lang="en-US" sz="1300" dirty="0"/>
          </a:p>
        </p:txBody>
      </p:sp>
      <p:sp>
        <p:nvSpPr>
          <p:cNvPr id="130" name="Text 128"/>
          <p:cNvSpPr txBox="1"/>
          <p:nvPr/>
        </p:nvSpPr>
        <p:spPr>
          <a:xfrm>
            <a:off x="10104120" y="3120793"/>
            <a:ext cx="56692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a:t>
            </a:r>
            <a:endParaRPr lang="en-US" sz="1300" dirty="0"/>
          </a:p>
        </p:txBody>
      </p:sp>
      <p:sp>
        <p:nvSpPr>
          <p:cNvPr id="131" name="Text 129"/>
          <p:cNvSpPr txBox="1"/>
          <p:nvPr/>
        </p:nvSpPr>
        <p:spPr>
          <a:xfrm>
            <a:off x="10671048" y="3120793"/>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$3.53</a:t>
            </a:r>
            <a:endParaRPr lang="en-US" sz="1300" dirty="0"/>
          </a:p>
        </p:txBody>
      </p:sp>
      <p:sp>
        <p:nvSpPr>
          <p:cNvPr id="132" name="Text 130"/>
          <p:cNvSpPr txBox="1"/>
          <p:nvPr/>
        </p:nvSpPr>
        <p:spPr>
          <a:xfrm>
            <a:off x="6208776" y="3357462"/>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133" name="Shape 131"/>
          <p:cNvSpPr/>
          <p:nvPr/>
        </p:nvSpPr>
        <p:spPr>
          <a:xfrm>
            <a:off x="8220456" y="3410712"/>
            <a:ext cx="178186" cy="130168"/>
          </a:xfrm>
          <a:prstGeom prst="rect">
            <a:avLst/>
          </a:prstGeom>
          <a:solidFill>
            <a:srgbClr val="2587C5"/>
          </a:solidFill>
          <a:ln/>
        </p:spPr>
      </p:sp>
      <p:sp>
        <p:nvSpPr>
          <p:cNvPr id="134" name="Text 132"/>
          <p:cNvSpPr txBox="1"/>
          <p:nvPr/>
        </p:nvSpPr>
        <p:spPr>
          <a:xfrm>
            <a:off x="9317736" y="3357462"/>
            <a:ext cx="786384"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$7,394</a:t>
            </a:r>
            <a:endParaRPr lang="en-US" sz="1300" dirty="0"/>
          </a:p>
        </p:txBody>
      </p:sp>
      <p:sp>
        <p:nvSpPr>
          <p:cNvPr id="135" name="Text 133"/>
          <p:cNvSpPr txBox="1"/>
          <p:nvPr/>
        </p:nvSpPr>
        <p:spPr>
          <a:xfrm>
            <a:off x="10104120" y="3357462"/>
            <a:ext cx="56692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a:t>
            </a:r>
            <a:endParaRPr lang="en-US" sz="1300" dirty="0"/>
          </a:p>
        </p:txBody>
      </p:sp>
      <p:sp>
        <p:nvSpPr>
          <p:cNvPr id="136" name="Text 134"/>
          <p:cNvSpPr txBox="1"/>
          <p:nvPr/>
        </p:nvSpPr>
        <p:spPr>
          <a:xfrm>
            <a:off x="10671048" y="3357462"/>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$3.27</a:t>
            </a:r>
            <a:endParaRPr lang="en-US" sz="1300" dirty="0"/>
          </a:p>
        </p:txBody>
      </p:sp>
      <p:sp>
        <p:nvSpPr>
          <p:cNvPr id="137" name="Text 135"/>
          <p:cNvSpPr txBox="1"/>
          <p:nvPr/>
        </p:nvSpPr>
        <p:spPr>
          <a:xfrm>
            <a:off x="6208776" y="3594130"/>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138" name="Shape 136"/>
          <p:cNvSpPr/>
          <p:nvPr/>
        </p:nvSpPr>
        <p:spPr>
          <a:xfrm>
            <a:off x="8220456" y="3647380"/>
            <a:ext cx="174696" cy="130168"/>
          </a:xfrm>
          <a:prstGeom prst="rect">
            <a:avLst/>
          </a:prstGeom>
          <a:solidFill>
            <a:srgbClr val="2587C5"/>
          </a:solidFill>
          <a:ln/>
        </p:spPr>
      </p:sp>
      <p:sp>
        <p:nvSpPr>
          <p:cNvPr id="139" name="Text 137"/>
          <p:cNvSpPr txBox="1"/>
          <p:nvPr/>
        </p:nvSpPr>
        <p:spPr>
          <a:xfrm>
            <a:off x="9317736" y="3594130"/>
            <a:ext cx="786384"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$7,249</a:t>
            </a:r>
            <a:endParaRPr lang="en-US" sz="1300" dirty="0"/>
          </a:p>
        </p:txBody>
      </p:sp>
      <p:sp>
        <p:nvSpPr>
          <p:cNvPr id="140" name="Text 138"/>
          <p:cNvSpPr txBox="1"/>
          <p:nvPr/>
        </p:nvSpPr>
        <p:spPr>
          <a:xfrm>
            <a:off x="10104120" y="3594130"/>
            <a:ext cx="56692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a:t>
            </a:r>
            <a:endParaRPr lang="en-US" sz="1300" dirty="0"/>
          </a:p>
        </p:txBody>
      </p:sp>
      <p:sp>
        <p:nvSpPr>
          <p:cNvPr id="141" name="Text 139"/>
          <p:cNvSpPr txBox="1"/>
          <p:nvPr/>
        </p:nvSpPr>
        <p:spPr>
          <a:xfrm>
            <a:off x="10671048" y="3594130"/>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$2.59</a:t>
            </a:r>
            <a:endParaRPr lang="en-US" sz="1300" dirty="0"/>
          </a:p>
        </p:txBody>
      </p:sp>
      <p:sp>
        <p:nvSpPr>
          <p:cNvPr id="142" name="Text 140"/>
          <p:cNvSpPr txBox="1"/>
          <p:nvPr/>
        </p:nvSpPr>
        <p:spPr>
          <a:xfrm>
            <a:off x="6208776" y="3830798"/>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143" name="Shape 141"/>
          <p:cNvSpPr/>
          <p:nvPr/>
        </p:nvSpPr>
        <p:spPr>
          <a:xfrm>
            <a:off x="8220456" y="3884048"/>
            <a:ext cx="174121" cy="130168"/>
          </a:xfrm>
          <a:prstGeom prst="rect">
            <a:avLst/>
          </a:prstGeom>
          <a:solidFill>
            <a:srgbClr val="2587C5"/>
          </a:solidFill>
          <a:ln/>
        </p:spPr>
      </p:sp>
      <p:sp>
        <p:nvSpPr>
          <p:cNvPr id="144" name="Text 142"/>
          <p:cNvSpPr txBox="1"/>
          <p:nvPr/>
        </p:nvSpPr>
        <p:spPr>
          <a:xfrm>
            <a:off x="9317736" y="3830798"/>
            <a:ext cx="786384"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$7,225</a:t>
            </a:r>
            <a:endParaRPr lang="en-US" sz="1300" dirty="0"/>
          </a:p>
        </p:txBody>
      </p:sp>
      <p:sp>
        <p:nvSpPr>
          <p:cNvPr id="145" name="Text 143"/>
          <p:cNvSpPr txBox="1"/>
          <p:nvPr/>
        </p:nvSpPr>
        <p:spPr>
          <a:xfrm>
            <a:off x="10104120" y="3830798"/>
            <a:ext cx="56692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a:t>
            </a:r>
            <a:endParaRPr lang="en-US" sz="1300" dirty="0"/>
          </a:p>
        </p:txBody>
      </p:sp>
      <p:sp>
        <p:nvSpPr>
          <p:cNvPr id="146" name="Text 144"/>
          <p:cNvSpPr txBox="1"/>
          <p:nvPr/>
        </p:nvSpPr>
        <p:spPr>
          <a:xfrm>
            <a:off x="10671048" y="3830798"/>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$2.83</a:t>
            </a:r>
            <a:endParaRPr lang="en-US" sz="1300" dirty="0"/>
          </a:p>
        </p:txBody>
      </p:sp>
      <p:sp>
        <p:nvSpPr>
          <p:cNvPr id="147" name="Text 145"/>
          <p:cNvSpPr txBox="1"/>
          <p:nvPr/>
        </p:nvSpPr>
        <p:spPr>
          <a:xfrm>
            <a:off x="6208776" y="4067466"/>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148" name="Shape 146"/>
          <p:cNvSpPr/>
          <p:nvPr/>
        </p:nvSpPr>
        <p:spPr>
          <a:xfrm>
            <a:off x="8220456" y="4120717"/>
            <a:ext cx="172098" cy="130168"/>
          </a:xfrm>
          <a:prstGeom prst="rect">
            <a:avLst/>
          </a:prstGeom>
          <a:solidFill>
            <a:srgbClr val="2587C5"/>
          </a:solidFill>
          <a:ln/>
        </p:spPr>
      </p:sp>
      <p:sp>
        <p:nvSpPr>
          <p:cNvPr id="149" name="Text 147"/>
          <p:cNvSpPr txBox="1"/>
          <p:nvPr/>
        </p:nvSpPr>
        <p:spPr>
          <a:xfrm>
            <a:off x="9317736" y="4067466"/>
            <a:ext cx="786384"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$7,141</a:t>
            </a:r>
            <a:endParaRPr lang="en-US" sz="1300" dirty="0"/>
          </a:p>
        </p:txBody>
      </p:sp>
      <p:sp>
        <p:nvSpPr>
          <p:cNvPr id="150" name="Text 148"/>
          <p:cNvSpPr txBox="1"/>
          <p:nvPr/>
        </p:nvSpPr>
        <p:spPr>
          <a:xfrm>
            <a:off x="10104120" y="4067466"/>
            <a:ext cx="56692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a:t>
            </a:r>
            <a:endParaRPr lang="en-US" sz="1300" dirty="0"/>
          </a:p>
        </p:txBody>
      </p:sp>
      <p:sp>
        <p:nvSpPr>
          <p:cNvPr id="151" name="Text 149"/>
          <p:cNvSpPr txBox="1"/>
          <p:nvPr/>
        </p:nvSpPr>
        <p:spPr>
          <a:xfrm>
            <a:off x="10671048" y="4067466"/>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$4.17</a:t>
            </a:r>
            <a:endParaRPr lang="en-US" sz="1300" dirty="0"/>
          </a:p>
        </p:txBody>
      </p:sp>
      <p:sp>
        <p:nvSpPr>
          <p:cNvPr id="152" name="Text 150"/>
          <p:cNvSpPr txBox="1"/>
          <p:nvPr/>
        </p:nvSpPr>
        <p:spPr>
          <a:xfrm>
            <a:off x="6208776" y="4304135"/>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153" name="Shape 151"/>
          <p:cNvSpPr/>
          <p:nvPr/>
        </p:nvSpPr>
        <p:spPr>
          <a:xfrm>
            <a:off x="8220456" y="4357385"/>
            <a:ext cx="158631" cy="130168"/>
          </a:xfrm>
          <a:prstGeom prst="rect">
            <a:avLst/>
          </a:prstGeom>
          <a:solidFill>
            <a:srgbClr val="2587C5"/>
          </a:solidFill>
          <a:ln/>
        </p:spPr>
      </p:sp>
      <p:sp>
        <p:nvSpPr>
          <p:cNvPr id="154" name="Text 152"/>
          <p:cNvSpPr txBox="1"/>
          <p:nvPr/>
        </p:nvSpPr>
        <p:spPr>
          <a:xfrm>
            <a:off x="9317736" y="4304135"/>
            <a:ext cx="786384"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$6,583</a:t>
            </a:r>
            <a:endParaRPr lang="en-US" sz="1300" dirty="0"/>
          </a:p>
        </p:txBody>
      </p:sp>
      <p:sp>
        <p:nvSpPr>
          <p:cNvPr id="155" name="Text 153"/>
          <p:cNvSpPr txBox="1"/>
          <p:nvPr/>
        </p:nvSpPr>
        <p:spPr>
          <a:xfrm>
            <a:off x="10104120" y="4304135"/>
            <a:ext cx="56692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a:t>
            </a:r>
            <a:endParaRPr lang="en-US" sz="1300" dirty="0"/>
          </a:p>
        </p:txBody>
      </p:sp>
      <p:sp>
        <p:nvSpPr>
          <p:cNvPr id="156" name="Text 154"/>
          <p:cNvSpPr txBox="1"/>
          <p:nvPr/>
        </p:nvSpPr>
        <p:spPr>
          <a:xfrm>
            <a:off x="10671048" y="4304135"/>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$4.49</a:t>
            </a:r>
            <a:endParaRPr lang="en-US" sz="1300" dirty="0"/>
          </a:p>
        </p:txBody>
      </p:sp>
      <p:sp>
        <p:nvSpPr>
          <p:cNvPr id="157" name="Text 155"/>
          <p:cNvSpPr txBox="1"/>
          <p:nvPr/>
        </p:nvSpPr>
        <p:spPr>
          <a:xfrm>
            <a:off x="6208776" y="4540803"/>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158" name="Shape 156"/>
          <p:cNvSpPr/>
          <p:nvPr/>
        </p:nvSpPr>
        <p:spPr>
          <a:xfrm>
            <a:off x="8220456" y="4594053"/>
            <a:ext cx="156929" cy="130168"/>
          </a:xfrm>
          <a:prstGeom prst="rect">
            <a:avLst/>
          </a:prstGeom>
          <a:solidFill>
            <a:srgbClr val="2587C5"/>
          </a:solidFill>
          <a:ln/>
        </p:spPr>
      </p:sp>
      <p:sp>
        <p:nvSpPr>
          <p:cNvPr id="159" name="Text 157"/>
          <p:cNvSpPr txBox="1"/>
          <p:nvPr/>
        </p:nvSpPr>
        <p:spPr>
          <a:xfrm>
            <a:off x="9317736" y="4540803"/>
            <a:ext cx="786384"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$6,512</a:t>
            </a:r>
            <a:endParaRPr lang="en-US" sz="1300" dirty="0"/>
          </a:p>
        </p:txBody>
      </p:sp>
      <p:sp>
        <p:nvSpPr>
          <p:cNvPr id="160" name="Text 158"/>
          <p:cNvSpPr txBox="1"/>
          <p:nvPr/>
        </p:nvSpPr>
        <p:spPr>
          <a:xfrm>
            <a:off x="10104120" y="4540803"/>
            <a:ext cx="56692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a:t>
            </a:r>
            <a:endParaRPr lang="en-US" sz="1300" dirty="0"/>
          </a:p>
        </p:txBody>
      </p:sp>
      <p:sp>
        <p:nvSpPr>
          <p:cNvPr id="161" name="Text 159"/>
          <p:cNvSpPr txBox="1"/>
          <p:nvPr/>
        </p:nvSpPr>
        <p:spPr>
          <a:xfrm>
            <a:off x="10671048" y="4540803"/>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$2.76</a:t>
            </a:r>
            <a:endParaRPr lang="en-US" sz="1300" dirty="0"/>
          </a:p>
        </p:txBody>
      </p:sp>
      <p:sp>
        <p:nvSpPr>
          <p:cNvPr id="162" name="Text 160"/>
          <p:cNvSpPr txBox="1"/>
          <p:nvPr/>
        </p:nvSpPr>
        <p:spPr>
          <a:xfrm>
            <a:off x="6208776" y="4777471"/>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63" name="Shape 161"/>
          <p:cNvSpPr/>
          <p:nvPr/>
        </p:nvSpPr>
        <p:spPr>
          <a:xfrm>
            <a:off x="8220456" y="4830721"/>
            <a:ext cx="127568" cy="130168"/>
          </a:xfrm>
          <a:prstGeom prst="rect">
            <a:avLst/>
          </a:prstGeom>
          <a:solidFill>
            <a:srgbClr val="2587C5"/>
          </a:solidFill>
          <a:ln/>
        </p:spPr>
      </p:sp>
      <p:sp>
        <p:nvSpPr>
          <p:cNvPr id="164" name="Text 162"/>
          <p:cNvSpPr txBox="1"/>
          <p:nvPr/>
        </p:nvSpPr>
        <p:spPr>
          <a:xfrm>
            <a:off x="9317736" y="4777471"/>
            <a:ext cx="786384"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$5,294</a:t>
            </a:r>
            <a:endParaRPr lang="en-US" sz="1300" dirty="0"/>
          </a:p>
        </p:txBody>
      </p:sp>
      <p:sp>
        <p:nvSpPr>
          <p:cNvPr id="165" name="Text 163"/>
          <p:cNvSpPr txBox="1"/>
          <p:nvPr/>
        </p:nvSpPr>
        <p:spPr>
          <a:xfrm>
            <a:off x="10104120" y="4777471"/>
            <a:ext cx="56692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a:t>
            </a:r>
            <a:endParaRPr lang="en-US" sz="1300" dirty="0"/>
          </a:p>
        </p:txBody>
      </p:sp>
      <p:sp>
        <p:nvSpPr>
          <p:cNvPr id="166" name="Text 164"/>
          <p:cNvSpPr txBox="1"/>
          <p:nvPr/>
        </p:nvSpPr>
        <p:spPr>
          <a:xfrm>
            <a:off x="10671048" y="4777471"/>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$2.90</a:t>
            </a:r>
            <a:endParaRPr lang="en-US" sz="1300" dirty="0"/>
          </a:p>
        </p:txBody>
      </p:sp>
      <p:sp>
        <p:nvSpPr>
          <p:cNvPr id="167" name="Text 165"/>
          <p:cNvSpPr txBox="1"/>
          <p:nvPr/>
        </p:nvSpPr>
        <p:spPr>
          <a:xfrm>
            <a:off x="6208776" y="5014139"/>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168" name="Shape 166"/>
          <p:cNvSpPr/>
          <p:nvPr/>
        </p:nvSpPr>
        <p:spPr>
          <a:xfrm>
            <a:off x="8220456" y="5067390"/>
            <a:ext cx="104440" cy="130168"/>
          </a:xfrm>
          <a:prstGeom prst="rect">
            <a:avLst/>
          </a:prstGeom>
          <a:solidFill>
            <a:srgbClr val="2587C5"/>
          </a:solidFill>
          <a:ln/>
        </p:spPr>
      </p:sp>
      <p:sp>
        <p:nvSpPr>
          <p:cNvPr id="169" name="Text 167"/>
          <p:cNvSpPr txBox="1"/>
          <p:nvPr/>
        </p:nvSpPr>
        <p:spPr>
          <a:xfrm>
            <a:off x="9317736" y="5014139"/>
            <a:ext cx="786384"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$4,334</a:t>
            </a:r>
            <a:endParaRPr lang="en-US" sz="1300" dirty="0"/>
          </a:p>
        </p:txBody>
      </p:sp>
      <p:sp>
        <p:nvSpPr>
          <p:cNvPr id="170" name="Text 168"/>
          <p:cNvSpPr txBox="1"/>
          <p:nvPr/>
        </p:nvSpPr>
        <p:spPr>
          <a:xfrm>
            <a:off x="10104120" y="5014139"/>
            <a:ext cx="56692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a:t>
            </a:r>
            <a:endParaRPr lang="en-US" sz="1300" dirty="0"/>
          </a:p>
        </p:txBody>
      </p:sp>
      <p:sp>
        <p:nvSpPr>
          <p:cNvPr id="171" name="Text 169"/>
          <p:cNvSpPr txBox="1"/>
          <p:nvPr/>
        </p:nvSpPr>
        <p:spPr>
          <a:xfrm>
            <a:off x="10671048" y="5014139"/>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$2.82</a:t>
            </a:r>
            <a:endParaRPr lang="en-US" sz="1300" dirty="0"/>
          </a:p>
        </p:txBody>
      </p:sp>
      <p:sp>
        <p:nvSpPr>
          <p:cNvPr id="172" name="Text 170"/>
          <p:cNvSpPr txBox="1"/>
          <p:nvPr/>
        </p:nvSpPr>
        <p:spPr>
          <a:xfrm>
            <a:off x="6208776" y="5250808"/>
            <a:ext cx="1938528" cy="23666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173" name="Shape 171"/>
          <p:cNvSpPr/>
          <p:nvPr/>
        </p:nvSpPr>
        <p:spPr>
          <a:xfrm>
            <a:off x="8220456" y="5304058"/>
            <a:ext cx="83338" cy="130168"/>
          </a:xfrm>
          <a:prstGeom prst="rect">
            <a:avLst/>
          </a:prstGeom>
          <a:solidFill>
            <a:srgbClr val="2587C5"/>
          </a:solidFill>
          <a:ln/>
        </p:spPr>
      </p:sp>
      <p:sp>
        <p:nvSpPr>
          <p:cNvPr id="174" name="Text 172"/>
          <p:cNvSpPr txBox="1"/>
          <p:nvPr/>
        </p:nvSpPr>
        <p:spPr>
          <a:xfrm>
            <a:off x="9317736" y="5250808"/>
            <a:ext cx="786384" cy="23666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$3,458</a:t>
            </a:r>
            <a:endParaRPr lang="en-US" sz="1300" dirty="0"/>
          </a:p>
        </p:txBody>
      </p:sp>
      <p:sp>
        <p:nvSpPr>
          <p:cNvPr id="175" name="Text 173"/>
          <p:cNvSpPr txBox="1"/>
          <p:nvPr/>
        </p:nvSpPr>
        <p:spPr>
          <a:xfrm>
            <a:off x="10104120" y="5250808"/>
            <a:ext cx="56692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a:t>
            </a:r>
            <a:endParaRPr lang="en-US" sz="1300" dirty="0"/>
          </a:p>
        </p:txBody>
      </p:sp>
      <p:sp>
        <p:nvSpPr>
          <p:cNvPr id="176" name="Text 174"/>
          <p:cNvSpPr txBox="1"/>
          <p:nvPr/>
        </p:nvSpPr>
        <p:spPr>
          <a:xfrm>
            <a:off x="10671048" y="5250808"/>
            <a:ext cx="749808" cy="23666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$2.85</a:t>
            </a:r>
            <a:endParaRPr lang="en-US" sz="1300" dirty="0"/>
          </a:p>
        </p:txBody>
      </p:sp>
      <p:sp>
        <p:nvSpPr>
          <p:cNvPr id="177" name="Shape 175"/>
          <p:cNvSpPr/>
          <p:nvPr/>
        </p:nvSpPr>
        <p:spPr>
          <a:xfrm>
            <a:off x="457200" y="5961888"/>
            <a:ext cx="11274552" cy="548640"/>
          </a:xfrm>
          <a:prstGeom prst="rect">
            <a:avLst/>
          </a:prstGeom>
          <a:solidFill>
            <a:srgbClr val="EDF4FA"/>
          </a:solidFill>
          <a:ln/>
        </p:spPr>
      </p:sp>
      <p:sp>
        <p:nvSpPr>
          <p:cNvPr id="178" name="Text 176"/>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One minute a day per tech: TOYOTA HENDERSON $43,256 a year. VOLVO techs are worth the most per minute at $4.99.</a:t>
            </a:r>
            <a:endParaRPr lang="en-US" sz="1600" dirty="0"/>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 MOST IMPROVED</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Better Than Last Year</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713232" y="1280160"/>
            <a:ext cx="10762488" cy="25603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Top and bottom five stores on each measure, Jan–Sep 2026 vs Jan–Sep 2025</a:t>
            </a:r>
            <a:endParaRPr lang="en-US" sz="1400" dirty="0"/>
          </a:p>
        </p:txBody>
      </p:sp>
      <p:sp>
        <p:nvSpPr>
          <p:cNvPr id="7" name="Shape 5"/>
          <p:cNvSpPr/>
          <p:nvPr/>
        </p:nvSpPr>
        <p:spPr>
          <a:xfrm>
            <a:off x="621792" y="2103120"/>
            <a:ext cx="45720" cy="1783080"/>
          </a:xfrm>
          <a:prstGeom prst="rect">
            <a:avLst/>
          </a:prstGeom>
          <a:solidFill>
            <a:srgbClr val="12A566"/>
          </a:solidFill>
          <a:ln/>
        </p:spPr>
      </p:sp>
      <p:sp>
        <p:nvSpPr>
          <p:cNvPr id="8" name="Shape 6"/>
          <p:cNvSpPr/>
          <p:nvPr/>
        </p:nvSpPr>
        <p:spPr>
          <a:xfrm>
            <a:off x="685800" y="2103120"/>
            <a:ext cx="10881360" cy="356616"/>
          </a:xfrm>
          <a:prstGeom prst="rect">
            <a:avLst/>
          </a:prstGeom>
          <a:solidFill>
            <a:srgbClr val="F7F7F7"/>
          </a:solidFill>
          <a:ln/>
        </p:spPr>
      </p:sp>
      <p:sp>
        <p:nvSpPr>
          <p:cNvPr id="9" name="Text 7"/>
          <p:cNvSpPr txBox="1"/>
          <p:nvPr/>
        </p:nvSpPr>
        <p:spPr>
          <a:xfrm>
            <a:off x="676656" y="2103120"/>
            <a:ext cx="274320" cy="356616"/>
          </a:xfrm>
          <a:prstGeom prst="rect">
            <a:avLst/>
          </a:prstGeom>
          <a:noFill/>
          <a:ln/>
        </p:spPr>
        <p:txBody>
          <a:bodyPr wrap="square" lIns="0" tIns="0" rIns="0" bIns="0" rtlCol="0" anchor="ctr"/>
          <a:lstStyle/>
          <a:p>
            <a:pPr algn="ctr" indent="0" marL="0">
              <a:buNone/>
            </a:pPr>
            <a:r>
              <a:rPr lang="en-US" sz="1400" b="1" dirty="0">
                <a:solidFill>
                  <a:srgbClr val="0B7A4A"/>
                </a:solidFill>
                <a:latin typeface="Inter" pitchFamily="34" charset="0"/>
                <a:ea typeface="Inter" pitchFamily="34" charset="-122"/>
                <a:cs typeface="Inter" pitchFamily="34" charset="-120"/>
              </a:rPr>
              <a:t>1</a:t>
            </a:r>
            <a:endParaRPr lang="en-US" sz="1400" dirty="0"/>
          </a:p>
        </p:txBody>
      </p:sp>
      <p:sp>
        <p:nvSpPr>
          <p:cNvPr id="10" name="Text 8"/>
          <p:cNvSpPr txBox="1"/>
          <p:nvPr/>
        </p:nvSpPr>
        <p:spPr>
          <a:xfrm>
            <a:off x="676656" y="2459736"/>
            <a:ext cx="274320" cy="356616"/>
          </a:xfrm>
          <a:prstGeom prst="rect">
            <a:avLst/>
          </a:prstGeom>
          <a:noFill/>
          <a:ln/>
        </p:spPr>
        <p:txBody>
          <a:bodyPr wrap="square" lIns="0" tIns="0" rIns="0" bIns="0" rtlCol="0" anchor="ctr"/>
          <a:lstStyle/>
          <a:p>
            <a:pPr algn="ctr" indent="0" marL="0">
              <a:buNone/>
            </a:pPr>
            <a:r>
              <a:rPr lang="en-US" sz="1400" b="1" dirty="0">
                <a:solidFill>
                  <a:srgbClr val="0B7A4A"/>
                </a:solidFill>
                <a:latin typeface="Inter" pitchFamily="34" charset="0"/>
                <a:ea typeface="Inter" pitchFamily="34" charset="-122"/>
                <a:cs typeface="Inter" pitchFamily="34" charset="-120"/>
              </a:rPr>
              <a:t>2</a:t>
            </a:r>
            <a:endParaRPr lang="en-US" sz="1400" dirty="0"/>
          </a:p>
        </p:txBody>
      </p:sp>
      <p:sp>
        <p:nvSpPr>
          <p:cNvPr id="11" name="Shape 9"/>
          <p:cNvSpPr/>
          <p:nvPr/>
        </p:nvSpPr>
        <p:spPr>
          <a:xfrm>
            <a:off x="685800" y="2816352"/>
            <a:ext cx="10881360" cy="356616"/>
          </a:xfrm>
          <a:prstGeom prst="rect">
            <a:avLst/>
          </a:prstGeom>
          <a:solidFill>
            <a:srgbClr val="F7F7F7"/>
          </a:solidFill>
          <a:ln/>
        </p:spPr>
      </p:sp>
      <p:sp>
        <p:nvSpPr>
          <p:cNvPr id="12" name="Text 10"/>
          <p:cNvSpPr txBox="1"/>
          <p:nvPr/>
        </p:nvSpPr>
        <p:spPr>
          <a:xfrm>
            <a:off x="676656" y="2816352"/>
            <a:ext cx="274320" cy="356616"/>
          </a:xfrm>
          <a:prstGeom prst="rect">
            <a:avLst/>
          </a:prstGeom>
          <a:noFill/>
          <a:ln/>
        </p:spPr>
        <p:txBody>
          <a:bodyPr wrap="square" lIns="0" tIns="0" rIns="0" bIns="0" rtlCol="0" anchor="ctr"/>
          <a:lstStyle/>
          <a:p>
            <a:pPr algn="ctr" indent="0" marL="0">
              <a:buNone/>
            </a:pPr>
            <a:r>
              <a:rPr lang="en-US" sz="1400" b="1" dirty="0">
                <a:solidFill>
                  <a:srgbClr val="0B7A4A"/>
                </a:solidFill>
                <a:latin typeface="Inter" pitchFamily="34" charset="0"/>
                <a:ea typeface="Inter" pitchFamily="34" charset="-122"/>
                <a:cs typeface="Inter" pitchFamily="34" charset="-120"/>
              </a:rPr>
              <a:t>3</a:t>
            </a:r>
            <a:endParaRPr lang="en-US" sz="1400" dirty="0"/>
          </a:p>
        </p:txBody>
      </p:sp>
      <p:sp>
        <p:nvSpPr>
          <p:cNvPr id="13" name="Text 11"/>
          <p:cNvSpPr txBox="1"/>
          <p:nvPr/>
        </p:nvSpPr>
        <p:spPr>
          <a:xfrm>
            <a:off x="676656" y="3172968"/>
            <a:ext cx="274320" cy="356616"/>
          </a:xfrm>
          <a:prstGeom prst="rect">
            <a:avLst/>
          </a:prstGeom>
          <a:noFill/>
          <a:ln/>
        </p:spPr>
        <p:txBody>
          <a:bodyPr wrap="square" lIns="0" tIns="0" rIns="0" bIns="0" rtlCol="0" anchor="ctr"/>
          <a:lstStyle/>
          <a:p>
            <a:pPr algn="ctr" indent="0" marL="0">
              <a:buNone/>
            </a:pPr>
            <a:r>
              <a:rPr lang="en-US" sz="1400" b="1" dirty="0">
                <a:solidFill>
                  <a:srgbClr val="0B7A4A"/>
                </a:solidFill>
                <a:latin typeface="Inter" pitchFamily="34" charset="0"/>
                <a:ea typeface="Inter" pitchFamily="34" charset="-122"/>
                <a:cs typeface="Inter" pitchFamily="34" charset="-120"/>
              </a:rPr>
              <a:t>4</a:t>
            </a:r>
            <a:endParaRPr lang="en-US" sz="1400" dirty="0"/>
          </a:p>
        </p:txBody>
      </p:sp>
      <p:sp>
        <p:nvSpPr>
          <p:cNvPr id="14" name="Shape 12"/>
          <p:cNvSpPr/>
          <p:nvPr/>
        </p:nvSpPr>
        <p:spPr>
          <a:xfrm>
            <a:off x="685800" y="3529584"/>
            <a:ext cx="10881360" cy="356616"/>
          </a:xfrm>
          <a:prstGeom prst="rect">
            <a:avLst/>
          </a:prstGeom>
          <a:solidFill>
            <a:srgbClr val="F7F7F7"/>
          </a:solidFill>
          <a:ln/>
        </p:spPr>
      </p:sp>
      <p:sp>
        <p:nvSpPr>
          <p:cNvPr id="15" name="Text 13"/>
          <p:cNvSpPr txBox="1"/>
          <p:nvPr/>
        </p:nvSpPr>
        <p:spPr>
          <a:xfrm>
            <a:off x="676656" y="3529584"/>
            <a:ext cx="274320" cy="356616"/>
          </a:xfrm>
          <a:prstGeom prst="rect">
            <a:avLst/>
          </a:prstGeom>
          <a:noFill/>
          <a:ln/>
        </p:spPr>
        <p:txBody>
          <a:bodyPr wrap="square" lIns="0" tIns="0" rIns="0" bIns="0" rtlCol="0" anchor="ctr"/>
          <a:lstStyle/>
          <a:p>
            <a:pPr algn="ctr" indent="0" marL="0">
              <a:buNone/>
            </a:pPr>
            <a:r>
              <a:rPr lang="en-US" sz="1400" b="1" dirty="0">
                <a:solidFill>
                  <a:srgbClr val="0B7A4A"/>
                </a:solidFill>
                <a:latin typeface="Inter" pitchFamily="34" charset="0"/>
                <a:ea typeface="Inter" pitchFamily="34" charset="-122"/>
                <a:cs typeface="Inter" pitchFamily="34" charset="-120"/>
              </a:rPr>
              <a:t>5</a:t>
            </a:r>
            <a:endParaRPr lang="en-US" sz="1400" dirty="0"/>
          </a:p>
        </p:txBody>
      </p:sp>
      <p:sp>
        <p:nvSpPr>
          <p:cNvPr id="16" name="Shape 14"/>
          <p:cNvSpPr/>
          <p:nvPr/>
        </p:nvSpPr>
        <p:spPr>
          <a:xfrm>
            <a:off x="621792" y="4005072"/>
            <a:ext cx="45720" cy="1783080"/>
          </a:xfrm>
          <a:prstGeom prst="rect">
            <a:avLst/>
          </a:prstGeom>
          <a:solidFill>
            <a:srgbClr val="C2352F"/>
          </a:solidFill>
          <a:ln/>
        </p:spPr>
      </p:sp>
      <p:sp>
        <p:nvSpPr>
          <p:cNvPr id="17" name="Shape 15"/>
          <p:cNvSpPr/>
          <p:nvPr/>
        </p:nvSpPr>
        <p:spPr>
          <a:xfrm>
            <a:off x="685800" y="4005072"/>
            <a:ext cx="10881360" cy="356616"/>
          </a:xfrm>
          <a:prstGeom prst="rect">
            <a:avLst/>
          </a:prstGeom>
          <a:solidFill>
            <a:srgbClr val="F7F7F7"/>
          </a:solidFill>
          <a:ln/>
        </p:spPr>
      </p:sp>
      <p:sp>
        <p:nvSpPr>
          <p:cNvPr id="18" name="Text 16"/>
          <p:cNvSpPr txBox="1"/>
          <p:nvPr/>
        </p:nvSpPr>
        <p:spPr>
          <a:xfrm>
            <a:off x="676656" y="4005072"/>
            <a:ext cx="274320" cy="356616"/>
          </a:xfrm>
          <a:prstGeom prst="rect">
            <a:avLst/>
          </a:prstGeom>
          <a:noFill/>
          <a:ln/>
        </p:spPr>
        <p:txBody>
          <a:bodyPr wrap="square" lIns="0" tIns="0" rIns="0" bIns="0" rtlCol="0" anchor="ctr"/>
          <a:lstStyle/>
          <a:p>
            <a:pPr algn="ctr" indent="0" marL="0">
              <a:buNone/>
            </a:pPr>
            <a:r>
              <a:rPr lang="en-US" sz="1400" b="1" dirty="0">
                <a:solidFill>
                  <a:srgbClr val="A82B26"/>
                </a:solidFill>
                <a:latin typeface="Inter" pitchFamily="34" charset="0"/>
                <a:ea typeface="Inter" pitchFamily="34" charset="-122"/>
                <a:cs typeface="Inter" pitchFamily="34" charset="-120"/>
              </a:rPr>
              <a:t>29</a:t>
            </a:r>
            <a:endParaRPr lang="en-US" sz="1400" dirty="0"/>
          </a:p>
        </p:txBody>
      </p:sp>
      <p:sp>
        <p:nvSpPr>
          <p:cNvPr id="19" name="Text 17"/>
          <p:cNvSpPr txBox="1"/>
          <p:nvPr/>
        </p:nvSpPr>
        <p:spPr>
          <a:xfrm>
            <a:off x="676656" y="4361688"/>
            <a:ext cx="274320" cy="356616"/>
          </a:xfrm>
          <a:prstGeom prst="rect">
            <a:avLst/>
          </a:prstGeom>
          <a:noFill/>
          <a:ln/>
        </p:spPr>
        <p:txBody>
          <a:bodyPr wrap="square" lIns="0" tIns="0" rIns="0" bIns="0" rtlCol="0" anchor="ctr"/>
          <a:lstStyle/>
          <a:p>
            <a:pPr algn="ctr" indent="0" marL="0">
              <a:buNone/>
            </a:pPr>
            <a:r>
              <a:rPr lang="en-US" sz="1400" b="1" dirty="0">
                <a:solidFill>
                  <a:srgbClr val="A82B26"/>
                </a:solidFill>
                <a:latin typeface="Inter" pitchFamily="34" charset="0"/>
                <a:ea typeface="Inter" pitchFamily="34" charset="-122"/>
                <a:cs typeface="Inter" pitchFamily="34" charset="-120"/>
              </a:rPr>
              <a:t>30</a:t>
            </a:r>
            <a:endParaRPr lang="en-US" sz="1400" dirty="0"/>
          </a:p>
        </p:txBody>
      </p:sp>
      <p:sp>
        <p:nvSpPr>
          <p:cNvPr id="20" name="Shape 18"/>
          <p:cNvSpPr/>
          <p:nvPr/>
        </p:nvSpPr>
        <p:spPr>
          <a:xfrm>
            <a:off x="685800" y="4718304"/>
            <a:ext cx="10881360" cy="356616"/>
          </a:xfrm>
          <a:prstGeom prst="rect">
            <a:avLst/>
          </a:prstGeom>
          <a:solidFill>
            <a:srgbClr val="F7F7F7"/>
          </a:solidFill>
          <a:ln/>
        </p:spPr>
      </p:sp>
      <p:sp>
        <p:nvSpPr>
          <p:cNvPr id="21" name="Text 19"/>
          <p:cNvSpPr txBox="1"/>
          <p:nvPr/>
        </p:nvSpPr>
        <p:spPr>
          <a:xfrm>
            <a:off x="676656" y="4718304"/>
            <a:ext cx="274320" cy="356616"/>
          </a:xfrm>
          <a:prstGeom prst="rect">
            <a:avLst/>
          </a:prstGeom>
          <a:noFill/>
          <a:ln/>
        </p:spPr>
        <p:txBody>
          <a:bodyPr wrap="square" lIns="0" tIns="0" rIns="0" bIns="0" rtlCol="0" anchor="ctr"/>
          <a:lstStyle/>
          <a:p>
            <a:pPr algn="ctr" indent="0" marL="0">
              <a:buNone/>
            </a:pPr>
            <a:r>
              <a:rPr lang="en-US" sz="1400" b="1" dirty="0">
                <a:solidFill>
                  <a:srgbClr val="A82B26"/>
                </a:solidFill>
                <a:latin typeface="Inter" pitchFamily="34" charset="0"/>
                <a:ea typeface="Inter" pitchFamily="34" charset="-122"/>
                <a:cs typeface="Inter" pitchFamily="34" charset="-120"/>
              </a:rPr>
              <a:t>31</a:t>
            </a:r>
            <a:endParaRPr lang="en-US" sz="1400" dirty="0"/>
          </a:p>
        </p:txBody>
      </p:sp>
      <p:sp>
        <p:nvSpPr>
          <p:cNvPr id="22" name="Text 20"/>
          <p:cNvSpPr txBox="1"/>
          <p:nvPr/>
        </p:nvSpPr>
        <p:spPr>
          <a:xfrm>
            <a:off x="676656" y="5074920"/>
            <a:ext cx="274320" cy="356616"/>
          </a:xfrm>
          <a:prstGeom prst="rect">
            <a:avLst/>
          </a:prstGeom>
          <a:noFill/>
          <a:ln/>
        </p:spPr>
        <p:txBody>
          <a:bodyPr wrap="square" lIns="0" tIns="0" rIns="0" bIns="0" rtlCol="0" anchor="ctr"/>
          <a:lstStyle/>
          <a:p>
            <a:pPr algn="ctr" indent="0" marL="0">
              <a:buNone/>
            </a:pPr>
            <a:r>
              <a:rPr lang="en-US" sz="1400" b="1" dirty="0">
                <a:solidFill>
                  <a:srgbClr val="A82B26"/>
                </a:solidFill>
                <a:latin typeface="Inter" pitchFamily="34" charset="0"/>
                <a:ea typeface="Inter" pitchFamily="34" charset="-122"/>
                <a:cs typeface="Inter" pitchFamily="34" charset="-120"/>
              </a:rPr>
              <a:t>32</a:t>
            </a:r>
            <a:endParaRPr lang="en-US" sz="1400" dirty="0"/>
          </a:p>
        </p:txBody>
      </p:sp>
      <p:sp>
        <p:nvSpPr>
          <p:cNvPr id="23" name="Shape 21"/>
          <p:cNvSpPr/>
          <p:nvPr/>
        </p:nvSpPr>
        <p:spPr>
          <a:xfrm>
            <a:off x="685800" y="5431536"/>
            <a:ext cx="10881360" cy="356616"/>
          </a:xfrm>
          <a:prstGeom prst="rect">
            <a:avLst/>
          </a:prstGeom>
          <a:solidFill>
            <a:srgbClr val="F7F7F7"/>
          </a:solidFill>
          <a:ln/>
        </p:spPr>
      </p:sp>
      <p:sp>
        <p:nvSpPr>
          <p:cNvPr id="24" name="Text 22"/>
          <p:cNvSpPr txBox="1"/>
          <p:nvPr/>
        </p:nvSpPr>
        <p:spPr>
          <a:xfrm>
            <a:off x="676656" y="5431536"/>
            <a:ext cx="274320" cy="356616"/>
          </a:xfrm>
          <a:prstGeom prst="rect">
            <a:avLst/>
          </a:prstGeom>
          <a:noFill/>
          <a:ln/>
        </p:spPr>
        <p:txBody>
          <a:bodyPr wrap="square" lIns="0" tIns="0" rIns="0" bIns="0" rtlCol="0" anchor="ctr"/>
          <a:lstStyle/>
          <a:p>
            <a:pPr algn="ctr" indent="0" marL="0">
              <a:buNone/>
            </a:pPr>
            <a:r>
              <a:rPr lang="en-US" sz="1400" b="1" dirty="0">
                <a:solidFill>
                  <a:srgbClr val="A82B26"/>
                </a:solidFill>
                <a:latin typeface="Inter" pitchFamily="34" charset="0"/>
                <a:ea typeface="Inter" pitchFamily="34" charset="-122"/>
                <a:cs typeface="Inter" pitchFamily="34" charset="-120"/>
              </a:rPr>
              <a:t>33</a:t>
            </a:r>
            <a:endParaRPr lang="en-US" sz="1400" dirty="0"/>
          </a:p>
        </p:txBody>
      </p:sp>
      <p:sp>
        <p:nvSpPr>
          <p:cNvPr id="25" name="Shape 23"/>
          <p:cNvSpPr/>
          <p:nvPr/>
        </p:nvSpPr>
        <p:spPr>
          <a:xfrm>
            <a:off x="969264" y="1554480"/>
            <a:ext cx="1670304" cy="45720"/>
          </a:xfrm>
          <a:prstGeom prst="rect">
            <a:avLst/>
          </a:prstGeom>
          <a:solidFill>
            <a:srgbClr val="12A566"/>
          </a:solidFill>
          <a:ln/>
        </p:spPr>
      </p:sp>
      <p:sp>
        <p:nvSpPr>
          <p:cNvPr id="26" name="Text 24"/>
          <p:cNvSpPr txBox="1"/>
          <p:nvPr/>
        </p:nvSpPr>
        <p:spPr>
          <a:xfrm>
            <a:off x="987552" y="1636776"/>
            <a:ext cx="1633728" cy="237744"/>
          </a:xfrm>
          <a:prstGeom prst="rect">
            <a:avLst/>
          </a:prstGeom>
          <a:noFill/>
          <a:ln/>
        </p:spPr>
        <p:txBody>
          <a:bodyPr wrap="square" lIns="0" tIns="0" rIns="0" bIns="0" rtlCol="0" anchor="ctr">
            <a:normAutofit/>
          </a:bodyPr>
          <a:lstStyle/>
          <a:p>
            <a:pPr indent="0" marL="0">
              <a:buNone/>
            </a:pPr>
            <a:r>
              <a:rPr lang="en-US" sz="1300" b="1" spc="30" kern="0" dirty="0">
                <a:solidFill>
                  <a:srgbClr val="595959"/>
                </a:solidFill>
                <a:latin typeface="Inter" pitchFamily="34" charset="0"/>
                <a:ea typeface="Inter" pitchFamily="34" charset="-122"/>
                <a:cs typeface="Inter" pitchFamily="34" charset="-120"/>
              </a:rPr>
              <a:t>CP GROSS</a:t>
            </a:r>
            <a:endParaRPr lang="en-US" sz="1300" dirty="0"/>
          </a:p>
        </p:txBody>
      </p:sp>
      <p:sp>
        <p:nvSpPr>
          <p:cNvPr id="27" name="Text 25"/>
          <p:cNvSpPr txBox="1"/>
          <p:nvPr/>
        </p:nvSpPr>
        <p:spPr>
          <a:xfrm>
            <a:off x="987552" y="1856232"/>
            <a:ext cx="1633728" cy="201168"/>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Group +6.4%</a:t>
            </a:r>
            <a:endParaRPr lang="en-US" sz="1300" dirty="0"/>
          </a:p>
        </p:txBody>
      </p:sp>
      <p:sp>
        <p:nvSpPr>
          <p:cNvPr id="28" name="Text 26"/>
          <p:cNvSpPr txBox="1"/>
          <p:nvPr/>
        </p:nvSpPr>
        <p:spPr>
          <a:xfrm>
            <a:off x="969264" y="2112264"/>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LINCOLN</a:t>
            </a:r>
            <a:endParaRPr lang="en-US" sz="1300" dirty="0"/>
          </a:p>
        </p:txBody>
      </p:sp>
      <p:sp>
        <p:nvSpPr>
          <p:cNvPr id="29" name="Text 27"/>
          <p:cNvSpPr txBox="1"/>
          <p:nvPr/>
        </p:nvSpPr>
        <p:spPr>
          <a:xfrm>
            <a:off x="987552" y="2276856"/>
            <a:ext cx="1670304" cy="17373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+46.0%</a:t>
            </a:r>
            <a:endParaRPr lang="en-US" sz="1400" dirty="0"/>
          </a:p>
        </p:txBody>
      </p:sp>
      <p:sp>
        <p:nvSpPr>
          <p:cNvPr id="30" name="Text 28"/>
          <p:cNvSpPr txBox="1"/>
          <p:nvPr/>
        </p:nvSpPr>
        <p:spPr>
          <a:xfrm>
            <a:off x="969264" y="2468880"/>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SUBARU PRESCOTT</a:t>
            </a:r>
            <a:endParaRPr lang="en-US" sz="1300" dirty="0"/>
          </a:p>
        </p:txBody>
      </p:sp>
      <p:sp>
        <p:nvSpPr>
          <p:cNvPr id="31" name="Text 29"/>
          <p:cNvSpPr txBox="1"/>
          <p:nvPr/>
        </p:nvSpPr>
        <p:spPr>
          <a:xfrm>
            <a:off x="987552" y="2633472"/>
            <a:ext cx="1670304" cy="17373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+45.3%</a:t>
            </a:r>
            <a:endParaRPr lang="en-US" sz="1400" dirty="0"/>
          </a:p>
        </p:txBody>
      </p:sp>
      <p:sp>
        <p:nvSpPr>
          <p:cNvPr id="32" name="Text 30"/>
          <p:cNvSpPr txBox="1"/>
          <p:nvPr/>
        </p:nvSpPr>
        <p:spPr>
          <a:xfrm>
            <a:off x="969264" y="2825496"/>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SUBARU ST GEORGE</a:t>
            </a:r>
            <a:endParaRPr lang="en-US" sz="1300" dirty="0"/>
          </a:p>
        </p:txBody>
      </p:sp>
      <p:sp>
        <p:nvSpPr>
          <p:cNvPr id="33" name="Text 31"/>
          <p:cNvSpPr txBox="1"/>
          <p:nvPr/>
        </p:nvSpPr>
        <p:spPr>
          <a:xfrm>
            <a:off x="987552" y="2990088"/>
            <a:ext cx="1670304" cy="17373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+33.8%</a:t>
            </a:r>
            <a:endParaRPr lang="en-US" sz="1400" dirty="0"/>
          </a:p>
        </p:txBody>
      </p:sp>
      <p:sp>
        <p:nvSpPr>
          <p:cNvPr id="34" name="Text 32"/>
          <p:cNvSpPr txBox="1"/>
          <p:nvPr/>
        </p:nvSpPr>
        <p:spPr>
          <a:xfrm>
            <a:off x="969264" y="3182112"/>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KIA ST GEORGE</a:t>
            </a:r>
            <a:endParaRPr lang="en-US" sz="1300" dirty="0"/>
          </a:p>
        </p:txBody>
      </p:sp>
      <p:sp>
        <p:nvSpPr>
          <p:cNvPr id="35" name="Text 33"/>
          <p:cNvSpPr txBox="1"/>
          <p:nvPr/>
        </p:nvSpPr>
        <p:spPr>
          <a:xfrm>
            <a:off x="987552" y="3346704"/>
            <a:ext cx="1670304" cy="17373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+31.0%</a:t>
            </a:r>
            <a:endParaRPr lang="en-US" sz="1400" dirty="0"/>
          </a:p>
        </p:txBody>
      </p:sp>
      <p:sp>
        <p:nvSpPr>
          <p:cNvPr id="36" name="Text 34"/>
          <p:cNvSpPr txBox="1"/>
          <p:nvPr/>
        </p:nvSpPr>
        <p:spPr>
          <a:xfrm>
            <a:off x="969264" y="3538728"/>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LEXUS</a:t>
            </a:r>
            <a:endParaRPr lang="en-US" sz="1300" dirty="0"/>
          </a:p>
        </p:txBody>
      </p:sp>
      <p:sp>
        <p:nvSpPr>
          <p:cNvPr id="37" name="Text 35"/>
          <p:cNvSpPr txBox="1"/>
          <p:nvPr/>
        </p:nvSpPr>
        <p:spPr>
          <a:xfrm>
            <a:off x="987552" y="3703320"/>
            <a:ext cx="1670304" cy="17373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+28.8%</a:t>
            </a:r>
            <a:endParaRPr lang="en-US" sz="1400" dirty="0"/>
          </a:p>
        </p:txBody>
      </p:sp>
      <p:sp>
        <p:nvSpPr>
          <p:cNvPr id="38" name="Text 36"/>
          <p:cNvSpPr txBox="1"/>
          <p:nvPr/>
        </p:nvSpPr>
        <p:spPr>
          <a:xfrm>
            <a:off x="969264" y="4014216"/>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SUBARU LV</a:t>
            </a:r>
            <a:endParaRPr lang="en-US" sz="1300" dirty="0"/>
          </a:p>
        </p:txBody>
      </p:sp>
      <p:sp>
        <p:nvSpPr>
          <p:cNvPr id="39" name="Text 37"/>
          <p:cNvSpPr txBox="1"/>
          <p:nvPr/>
        </p:nvSpPr>
        <p:spPr>
          <a:xfrm>
            <a:off x="987552" y="4178808"/>
            <a:ext cx="1670304" cy="173736"/>
          </a:xfrm>
          <a:prstGeom prst="rect">
            <a:avLst/>
          </a:prstGeom>
          <a:noFill/>
          <a:ln/>
        </p:spPr>
        <p:txBody>
          <a:bodyPr wrap="square" lIns="0" tIns="0" rIns="0" bIns="0" rtlCol="0" anchor="ctr"/>
          <a:lstStyle/>
          <a:p>
            <a:pPr indent="0" marL="0">
              <a:buNone/>
            </a:pPr>
            <a:r>
              <a:rPr lang="en-US" sz="1400" b="1" dirty="0">
                <a:solidFill>
                  <a:srgbClr val="A82B26"/>
                </a:solidFill>
                <a:latin typeface="Inter" pitchFamily="34" charset="0"/>
                <a:ea typeface="Inter" pitchFamily="34" charset="-122"/>
                <a:cs typeface="Inter" pitchFamily="34" charset="-120"/>
              </a:rPr>
              <a:t>−1.4%</a:t>
            </a:r>
            <a:endParaRPr lang="en-US" sz="1400" dirty="0"/>
          </a:p>
        </p:txBody>
      </p:sp>
      <p:sp>
        <p:nvSpPr>
          <p:cNvPr id="40" name="Text 38"/>
          <p:cNvSpPr txBox="1"/>
          <p:nvPr/>
        </p:nvSpPr>
        <p:spPr>
          <a:xfrm>
            <a:off x="969264" y="4370832"/>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TOYOTA HENDERSON</a:t>
            </a:r>
            <a:endParaRPr lang="en-US" sz="1300" dirty="0"/>
          </a:p>
        </p:txBody>
      </p:sp>
      <p:sp>
        <p:nvSpPr>
          <p:cNvPr id="41" name="Text 39"/>
          <p:cNvSpPr txBox="1"/>
          <p:nvPr/>
        </p:nvSpPr>
        <p:spPr>
          <a:xfrm>
            <a:off x="987552" y="4535424"/>
            <a:ext cx="1670304" cy="173736"/>
          </a:xfrm>
          <a:prstGeom prst="rect">
            <a:avLst/>
          </a:prstGeom>
          <a:noFill/>
          <a:ln/>
        </p:spPr>
        <p:txBody>
          <a:bodyPr wrap="square" lIns="0" tIns="0" rIns="0" bIns="0" rtlCol="0" anchor="ctr"/>
          <a:lstStyle/>
          <a:p>
            <a:pPr indent="0" marL="0">
              <a:buNone/>
            </a:pPr>
            <a:r>
              <a:rPr lang="en-US" sz="1400" b="1" dirty="0">
                <a:solidFill>
                  <a:srgbClr val="A82B26"/>
                </a:solidFill>
                <a:latin typeface="Inter" pitchFamily="34" charset="0"/>
                <a:ea typeface="Inter" pitchFamily="34" charset="-122"/>
                <a:cs typeface="Inter" pitchFamily="34" charset="-120"/>
              </a:rPr>
              <a:t>−1.4%</a:t>
            </a:r>
            <a:endParaRPr lang="en-US" sz="1400" dirty="0"/>
          </a:p>
        </p:txBody>
      </p:sp>
      <p:sp>
        <p:nvSpPr>
          <p:cNvPr id="42" name="Text 40"/>
          <p:cNvSpPr txBox="1"/>
          <p:nvPr/>
        </p:nvSpPr>
        <p:spPr>
          <a:xfrm>
            <a:off x="969264" y="4727448"/>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CHEVY LV</a:t>
            </a:r>
            <a:endParaRPr lang="en-US" sz="1300" dirty="0"/>
          </a:p>
        </p:txBody>
      </p:sp>
      <p:sp>
        <p:nvSpPr>
          <p:cNvPr id="43" name="Text 41"/>
          <p:cNvSpPr txBox="1"/>
          <p:nvPr/>
        </p:nvSpPr>
        <p:spPr>
          <a:xfrm>
            <a:off x="987552" y="4892040"/>
            <a:ext cx="1670304" cy="173736"/>
          </a:xfrm>
          <a:prstGeom prst="rect">
            <a:avLst/>
          </a:prstGeom>
          <a:noFill/>
          <a:ln/>
        </p:spPr>
        <p:txBody>
          <a:bodyPr wrap="square" lIns="0" tIns="0" rIns="0" bIns="0" rtlCol="0" anchor="ctr"/>
          <a:lstStyle/>
          <a:p>
            <a:pPr indent="0" marL="0">
              <a:buNone/>
            </a:pPr>
            <a:r>
              <a:rPr lang="en-US" sz="1400" b="1" dirty="0">
                <a:solidFill>
                  <a:srgbClr val="A82B26"/>
                </a:solidFill>
                <a:latin typeface="Inter" pitchFamily="34" charset="0"/>
                <a:ea typeface="Inter" pitchFamily="34" charset="-122"/>
                <a:cs typeface="Inter" pitchFamily="34" charset="-120"/>
              </a:rPr>
              <a:t>−4.4%</a:t>
            </a:r>
            <a:endParaRPr lang="en-US" sz="1400" dirty="0"/>
          </a:p>
        </p:txBody>
      </p:sp>
      <p:sp>
        <p:nvSpPr>
          <p:cNvPr id="44" name="Text 42"/>
          <p:cNvSpPr txBox="1"/>
          <p:nvPr/>
        </p:nvSpPr>
        <p:spPr>
          <a:xfrm>
            <a:off x="969264" y="5084064"/>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AUDI RENO</a:t>
            </a:r>
            <a:endParaRPr lang="en-US" sz="1300" dirty="0"/>
          </a:p>
        </p:txBody>
      </p:sp>
      <p:sp>
        <p:nvSpPr>
          <p:cNvPr id="45" name="Text 43"/>
          <p:cNvSpPr txBox="1"/>
          <p:nvPr/>
        </p:nvSpPr>
        <p:spPr>
          <a:xfrm>
            <a:off x="987552" y="5248656"/>
            <a:ext cx="1670304" cy="173736"/>
          </a:xfrm>
          <a:prstGeom prst="rect">
            <a:avLst/>
          </a:prstGeom>
          <a:noFill/>
          <a:ln/>
        </p:spPr>
        <p:txBody>
          <a:bodyPr wrap="square" lIns="0" tIns="0" rIns="0" bIns="0" rtlCol="0" anchor="ctr"/>
          <a:lstStyle/>
          <a:p>
            <a:pPr indent="0" marL="0">
              <a:buNone/>
            </a:pPr>
            <a:r>
              <a:rPr lang="en-US" sz="1400" b="1" dirty="0">
                <a:solidFill>
                  <a:srgbClr val="A82B26"/>
                </a:solidFill>
                <a:latin typeface="Inter" pitchFamily="34" charset="0"/>
                <a:ea typeface="Inter" pitchFamily="34" charset="-122"/>
                <a:cs typeface="Inter" pitchFamily="34" charset="-120"/>
              </a:rPr>
              <a:t>−14.1%</a:t>
            </a:r>
            <a:endParaRPr lang="en-US" sz="1400" dirty="0"/>
          </a:p>
        </p:txBody>
      </p:sp>
      <p:sp>
        <p:nvSpPr>
          <p:cNvPr id="46" name="Text 44"/>
          <p:cNvSpPr txBox="1"/>
          <p:nvPr/>
        </p:nvSpPr>
        <p:spPr>
          <a:xfrm>
            <a:off x="969264" y="5440680"/>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VW ST GEORGE</a:t>
            </a:r>
            <a:endParaRPr lang="en-US" sz="1300" dirty="0"/>
          </a:p>
        </p:txBody>
      </p:sp>
      <p:sp>
        <p:nvSpPr>
          <p:cNvPr id="47" name="Text 45"/>
          <p:cNvSpPr txBox="1"/>
          <p:nvPr/>
        </p:nvSpPr>
        <p:spPr>
          <a:xfrm>
            <a:off x="987552" y="5605272"/>
            <a:ext cx="1670304" cy="173736"/>
          </a:xfrm>
          <a:prstGeom prst="rect">
            <a:avLst/>
          </a:prstGeom>
          <a:noFill/>
          <a:ln/>
        </p:spPr>
        <p:txBody>
          <a:bodyPr wrap="square" lIns="0" tIns="0" rIns="0" bIns="0" rtlCol="0" anchor="ctr"/>
          <a:lstStyle/>
          <a:p>
            <a:pPr indent="0" marL="0">
              <a:buNone/>
            </a:pPr>
            <a:r>
              <a:rPr lang="en-US" sz="1400" b="1" dirty="0">
                <a:solidFill>
                  <a:srgbClr val="A82B26"/>
                </a:solidFill>
                <a:latin typeface="Inter" pitchFamily="34" charset="0"/>
                <a:ea typeface="Inter" pitchFamily="34" charset="-122"/>
                <a:cs typeface="Inter" pitchFamily="34" charset="-120"/>
              </a:rPr>
              <a:t>−20.1%</a:t>
            </a:r>
            <a:endParaRPr lang="en-US" sz="1400" dirty="0"/>
          </a:p>
        </p:txBody>
      </p:sp>
      <p:sp>
        <p:nvSpPr>
          <p:cNvPr id="48" name="Shape 46"/>
          <p:cNvSpPr/>
          <p:nvPr/>
        </p:nvSpPr>
        <p:spPr>
          <a:xfrm>
            <a:off x="2749296" y="1554480"/>
            <a:ext cx="1670304" cy="45720"/>
          </a:xfrm>
          <a:prstGeom prst="rect">
            <a:avLst/>
          </a:prstGeom>
          <a:solidFill>
            <a:srgbClr val="12A566"/>
          </a:solidFill>
          <a:ln/>
        </p:spPr>
      </p:sp>
      <p:sp>
        <p:nvSpPr>
          <p:cNvPr id="49" name="Text 47"/>
          <p:cNvSpPr txBox="1"/>
          <p:nvPr/>
        </p:nvSpPr>
        <p:spPr>
          <a:xfrm>
            <a:off x="2767584" y="1636776"/>
            <a:ext cx="1633728" cy="237744"/>
          </a:xfrm>
          <a:prstGeom prst="rect">
            <a:avLst/>
          </a:prstGeom>
          <a:noFill/>
          <a:ln/>
        </p:spPr>
        <p:txBody>
          <a:bodyPr wrap="square" lIns="0" tIns="0" rIns="0" bIns="0" rtlCol="0" anchor="ctr">
            <a:normAutofit/>
          </a:bodyPr>
          <a:lstStyle/>
          <a:p>
            <a:pPr indent="0" marL="0">
              <a:buNone/>
            </a:pPr>
            <a:r>
              <a:rPr lang="en-US" sz="1300" b="1" spc="30" kern="0" dirty="0">
                <a:solidFill>
                  <a:srgbClr val="595959"/>
                </a:solidFill>
                <a:latin typeface="Inter" pitchFamily="34" charset="0"/>
                <a:ea typeface="Inter" pitchFamily="34" charset="-122"/>
                <a:cs typeface="Inter" pitchFamily="34" charset="-120"/>
              </a:rPr>
              <a:t>CP RO COUNT</a:t>
            </a:r>
            <a:endParaRPr lang="en-US" sz="1300" dirty="0"/>
          </a:p>
        </p:txBody>
      </p:sp>
      <p:sp>
        <p:nvSpPr>
          <p:cNvPr id="50" name="Text 48"/>
          <p:cNvSpPr txBox="1"/>
          <p:nvPr/>
        </p:nvSpPr>
        <p:spPr>
          <a:xfrm>
            <a:off x="2767584" y="1856232"/>
            <a:ext cx="1633728" cy="201168"/>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Group +0.1%</a:t>
            </a:r>
            <a:endParaRPr lang="en-US" sz="1300" dirty="0"/>
          </a:p>
        </p:txBody>
      </p:sp>
      <p:sp>
        <p:nvSpPr>
          <p:cNvPr id="51" name="Text 49"/>
          <p:cNvSpPr txBox="1"/>
          <p:nvPr/>
        </p:nvSpPr>
        <p:spPr>
          <a:xfrm>
            <a:off x="2749296" y="2112264"/>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KIA LV</a:t>
            </a:r>
            <a:endParaRPr lang="en-US" sz="1300" dirty="0"/>
          </a:p>
        </p:txBody>
      </p:sp>
      <p:sp>
        <p:nvSpPr>
          <p:cNvPr id="52" name="Text 50"/>
          <p:cNvSpPr txBox="1"/>
          <p:nvPr/>
        </p:nvSpPr>
        <p:spPr>
          <a:xfrm>
            <a:off x="2767584" y="2276856"/>
            <a:ext cx="1670304" cy="17373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+13.6%</a:t>
            </a:r>
            <a:endParaRPr lang="en-US" sz="1400" dirty="0"/>
          </a:p>
        </p:txBody>
      </p:sp>
      <p:sp>
        <p:nvSpPr>
          <p:cNvPr id="53" name="Text 51"/>
          <p:cNvSpPr txBox="1"/>
          <p:nvPr/>
        </p:nvSpPr>
        <p:spPr>
          <a:xfrm>
            <a:off x="2749296" y="2468880"/>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HYUNDAI PRESCOTT</a:t>
            </a:r>
            <a:endParaRPr lang="en-US" sz="1300" dirty="0"/>
          </a:p>
        </p:txBody>
      </p:sp>
      <p:sp>
        <p:nvSpPr>
          <p:cNvPr id="54" name="Text 52"/>
          <p:cNvSpPr txBox="1"/>
          <p:nvPr/>
        </p:nvSpPr>
        <p:spPr>
          <a:xfrm>
            <a:off x="2767584" y="2633472"/>
            <a:ext cx="1670304" cy="17373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+12.6%</a:t>
            </a:r>
            <a:endParaRPr lang="en-US" sz="1400" dirty="0"/>
          </a:p>
        </p:txBody>
      </p:sp>
      <p:sp>
        <p:nvSpPr>
          <p:cNvPr id="55" name="Text 53"/>
          <p:cNvSpPr txBox="1"/>
          <p:nvPr/>
        </p:nvSpPr>
        <p:spPr>
          <a:xfrm>
            <a:off x="2749296" y="2825496"/>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GMC PRESCOTT</a:t>
            </a:r>
            <a:endParaRPr lang="en-US" sz="1300" dirty="0"/>
          </a:p>
        </p:txBody>
      </p:sp>
      <p:sp>
        <p:nvSpPr>
          <p:cNvPr id="56" name="Text 54"/>
          <p:cNvSpPr txBox="1"/>
          <p:nvPr/>
        </p:nvSpPr>
        <p:spPr>
          <a:xfrm>
            <a:off x="2767584" y="2990088"/>
            <a:ext cx="1670304" cy="17373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+10.5%</a:t>
            </a:r>
            <a:endParaRPr lang="en-US" sz="1400" dirty="0"/>
          </a:p>
        </p:txBody>
      </p:sp>
      <p:sp>
        <p:nvSpPr>
          <p:cNvPr id="57" name="Text 55"/>
          <p:cNvSpPr txBox="1"/>
          <p:nvPr/>
        </p:nvSpPr>
        <p:spPr>
          <a:xfrm>
            <a:off x="2749296" y="3182112"/>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SUBARU ST GEORGE</a:t>
            </a:r>
            <a:endParaRPr lang="en-US" sz="1300" dirty="0"/>
          </a:p>
        </p:txBody>
      </p:sp>
      <p:sp>
        <p:nvSpPr>
          <p:cNvPr id="58" name="Text 56"/>
          <p:cNvSpPr txBox="1"/>
          <p:nvPr/>
        </p:nvSpPr>
        <p:spPr>
          <a:xfrm>
            <a:off x="2767584" y="3346704"/>
            <a:ext cx="1670304" cy="17373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+10.1%</a:t>
            </a:r>
            <a:endParaRPr lang="en-US" sz="1400" dirty="0"/>
          </a:p>
        </p:txBody>
      </p:sp>
      <p:sp>
        <p:nvSpPr>
          <p:cNvPr id="59" name="Text 57"/>
          <p:cNvSpPr txBox="1"/>
          <p:nvPr/>
        </p:nvSpPr>
        <p:spPr>
          <a:xfrm>
            <a:off x="2749296" y="3538728"/>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LR RENO</a:t>
            </a:r>
            <a:endParaRPr lang="en-US" sz="1300" dirty="0"/>
          </a:p>
        </p:txBody>
      </p:sp>
      <p:sp>
        <p:nvSpPr>
          <p:cNvPr id="60" name="Text 58"/>
          <p:cNvSpPr txBox="1"/>
          <p:nvPr/>
        </p:nvSpPr>
        <p:spPr>
          <a:xfrm>
            <a:off x="2767584" y="3703320"/>
            <a:ext cx="1670304" cy="17373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+9.0%</a:t>
            </a:r>
            <a:endParaRPr lang="en-US" sz="1400" dirty="0"/>
          </a:p>
        </p:txBody>
      </p:sp>
      <p:sp>
        <p:nvSpPr>
          <p:cNvPr id="61" name="Text 59"/>
          <p:cNvSpPr txBox="1"/>
          <p:nvPr/>
        </p:nvSpPr>
        <p:spPr>
          <a:xfrm>
            <a:off x="2749296" y="4014216"/>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ACURA</a:t>
            </a:r>
            <a:endParaRPr lang="en-US" sz="1300" dirty="0"/>
          </a:p>
        </p:txBody>
      </p:sp>
      <p:sp>
        <p:nvSpPr>
          <p:cNvPr id="62" name="Text 60"/>
          <p:cNvSpPr txBox="1"/>
          <p:nvPr/>
        </p:nvSpPr>
        <p:spPr>
          <a:xfrm>
            <a:off x="2767584" y="4178808"/>
            <a:ext cx="1670304" cy="173736"/>
          </a:xfrm>
          <a:prstGeom prst="rect">
            <a:avLst/>
          </a:prstGeom>
          <a:noFill/>
          <a:ln/>
        </p:spPr>
        <p:txBody>
          <a:bodyPr wrap="square" lIns="0" tIns="0" rIns="0" bIns="0" rtlCol="0" anchor="ctr"/>
          <a:lstStyle/>
          <a:p>
            <a:pPr indent="0" marL="0">
              <a:buNone/>
            </a:pPr>
            <a:r>
              <a:rPr lang="en-US" sz="1400" b="1" dirty="0">
                <a:solidFill>
                  <a:srgbClr val="A82B26"/>
                </a:solidFill>
                <a:latin typeface="Inter" pitchFamily="34" charset="0"/>
                <a:ea typeface="Inter" pitchFamily="34" charset="-122"/>
                <a:cs typeface="Inter" pitchFamily="34" charset="-120"/>
              </a:rPr>
              <a:t>−6.1%</a:t>
            </a:r>
            <a:endParaRPr lang="en-US" sz="1400" dirty="0"/>
          </a:p>
        </p:txBody>
      </p:sp>
      <p:sp>
        <p:nvSpPr>
          <p:cNvPr id="63" name="Text 61"/>
          <p:cNvSpPr txBox="1"/>
          <p:nvPr/>
        </p:nvSpPr>
        <p:spPr>
          <a:xfrm>
            <a:off x="2749296" y="4370832"/>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HONDA SPOKANE</a:t>
            </a:r>
            <a:endParaRPr lang="en-US" sz="1300" dirty="0"/>
          </a:p>
        </p:txBody>
      </p:sp>
      <p:sp>
        <p:nvSpPr>
          <p:cNvPr id="64" name="Text 62"/>
          <p:cNvSpPr txBox="1"/>
          <p:nvPr/>
        </p:nvSpPr>
        <p:spPr>
          <a:xfrm>
            <a:off x="2767584" y="4535424"/>
            <a:ext cx="1670304" cy="173736"/>
          </a:xfrm>
          <a:prstGeom prst="rect">
            <a:avLst/>
          </a:prstGeom>
          <a:noFill/>
          <a:ln/>
        </p:spPr>
        <p:txBody>
          <a:bodyPr wrap="square" lIns="0" tIns="0" rIns="0" bIns="0" rtlCol="0" anchor="ctr"/>
          <a:lstStyle/>
          <a:p>
            <a:pPr indent="0" marL="0">
              <a:buNone/>
            </a:pPr>
            <a:r>
              <a:rPr lang="en-US" sz="1400" b="1" dirty="0">
                <a:solidFill>
                  <a:srgbClr val="A82B26"/>
                </a:solidFill>
                <a:latin typeface="Inter" pitchFamily="34" charset="0"/>
                <a:ea typeface="Inter" pitchFamily="34" charset="-122"/>
                <a:cs typeface="Inter" pitchFamily="34" charset="-120"/>
              </a:rPr>
              <a:t>−10.0%</a:t>
            </a:r>
            <a:endParaRPr lang="en-US" sz="1400" dirty="0"/>
          </a:p>
        </p:txBody>
      </p:sp>
      <p:sp>
        <p:nvSpPr>
          <p:cNvPr id="65" name="Text 63"/>
          <p:cNvSpPr txBox="1"/>
          <p:nvPr/>
        </p:nvSpPr>
        <p:spPr>
          <a:xfrm>
            <a:off x="2749296" y="4727448"/>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AUDI RENO</a:t>
            </a:r>
            <a:endParaRPr lang="en-US" sz="1300" dirty="0"/>
          </a:p>
        </p:txBody>
      </p:sp>
      <p:sp>
        <p:nvSpPr>
          <p:cNvPr id="66" name="Text 64"/>
          <p:cNvSpPr txBox="1"/>
          <p:nvPr/>
        </p:nvSpPr>
        <p:spPr>
          <a:xfrm>
            <a:off x="2767584" y="4892040"/>
            <a:ext cx="1670304" cy="173736"/>
          </a:xfrm>
          <a:prstGeom prst="rect">
            <a:avLst/>
          </a:prstGeom>
          <a:noFill/>
          <a:ln/>
        </p:spPr>
        <p:txBody>
          <a:bodyPr wrap="square" lIns="0" tIns="0" rIns="0" bIns="0" rtlCol="0" anchor="ctr"/>
          <a:lstStyle/>
          <a:p>
            <a:pPr indent="0" marL="0">
              <a:buNone/>
            </a:pPr>
            <a:r>
              <a:rPr lang="en-US" sz="1400" b="1" dirty="0">
                <a:solidFill>
                  <a:srgbClr val="A82B26"/>
                </a:solidFill>
                <a:latin typeface="Inter" pitchFamily="34" charset="0"/>
                <a:ea typeface="Inter" pitchFamily="34" charset="-122"/>
                <a:cs typeface="Inter" pitchFamily="34" charset="-120"/>
              </a:rPr>
              <a:t>−10.5%</a:t>
            </a:r>
            <a:endParaRPr lang="en-US" sz="1400" dirty="0"/>
          </a:p>
        </p:txBody>
      </p:sp>
      <p:sp>
        <p:nvSpPr>
          <p:cNvPr id="67" name="Text 65"/>
          <p:cNvSpPr txBox="1"/>
          <p:nvPr/>
        </p:nvSpPr>
        <p:spPr>
          <a:xfrm>
            <a:off x="2749296" y="5084064"/>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68" name="Text 66"/>
          <p:cNvSpPr txBox="1"/>
          <p:nvPr/>
        </p:nvSpPr>
        <p:spPr>
          <a:xfrm>
            <a:off x="2767584" y="5248656"/>
            <a:ext cx="1670304" cy="173736"/>
          </a:xfrm>
          <a:prstGeom prst="rect">
            <a:avLst/>
          </a:prstGeom>
          <a:noFill/>
          <a:ln/>
        </p:spPr>
        <p:txBody>
          <a:bodyPr wrap="square" lIns="0" tIns="0" rIns="0" bIns="0" rtlCol="0" anchor="ctr"/>
          <a:lstStyle/>
          <a:p>
            <a:pPr indent="0" marL="0">
              <a:buNone/>
            </a:pPr>
            <a:r>
              <a:rPr lang="en-US" sz="1400" b="1" dirty="0">
                <a:solidFill>
                  <a:srgbClr val="A82B26"/>
                </a:solidFill>
                <a:latin typeface="Inter" pitchFamily="34" charset="0"/>
                <a:ea typeface="Inter" pitchFamily="34" charset="-122"/>
                <a:cs typeface="Inter" pitchFamily="34" charset="-120"/>
              </a:rPr>
              <a:t>−11.4%</a:t>
            </a:r>
            <a:endParaRPr lang="en-US" sz="1400" dirty="0"/>
          </a:p>
        </p:txBody>
      </p:sp>
      <p:sp>
        <p:nvSpPr>
          <p:cNvPr id="69" name="Text 67"/>
          <p:cNvSpPr txBox="1"/>
          <p:nvPr/>
        </p:nvSpPr>
        <p:spPr>
          <a:xfrm>
            <a:off x="2749296" y="5440680"/>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VW ST GEORGE</a:t>
            </a:r>
            <a:endParaRPr lang="en-US" sz="1300" dirty="0"/>
          </a:p>
        </p:txBody>
      </p:sp>
      <p:sp>
        <p:nvSpPr>
          <p:cNvPr id="70" name="Text 68"/>
          <p:cNvSpPr txBox="1"/>
          <p:nvPr/>
        </p:nvSpPr>
        <p:spPr>
          <a:xfrm>
            <a:off x="2767584" y="5605272"/>
            <a:ext cx="1670304" cy="173736"/>
          </a:xfrm>
          <a:prstGeom prst="rect">
            <a:avLst/>
          </a:prstGeom>
          <a:noFill/>
          <a:ln/>
        </p:spPr>
        <p:txBody>
          <a:bodyPr wrap="square" lIns="0" tIns="0" rIns="0" bIns="0" rtlCol="0" anchor="ctr"/>
          <a:lstStyle/>
          <a:p>
            <a:pPr indent="0" marL="0">
              <a:buNone/>
            </a:pPr>
            <a:r>
              <a:rPr lang="en-US" sz="1400" b="1" dirty="0">
                <a:solidFill>
                  <a:srgbClr val="A82B26"/>
                </a:solidFill>
                <a:latin typeface="Inter" pitchFamily="34" charset="0"/>
                <a:ea typeface="Inter" pitchFamily="34" charset="-122"/>
                <a:cs typeface="Inter" pitchFamily="34" charset="-120"/>
              </a:rPr>
              <a:t>−14.7%</a:t>
            </a:r>
            <a:endParaRPr lang="en-US" sz="1400" dirty="0"/>
          </a:p>
        </p:txBody>
      </p:sp>
      <p:sp>
        <p:nvSpPr>
          <p:cNvPr id="71" name="Shape 69"/>
          <p:cNvSpPr/>
          <p:nvPr/>
        </p:nvSpPr>
        <p:spPr>
          <a:xfrm>
            <a:off x="4529328" y="1554480"/>
            <a:ext cx="1670304" cy="45720"/>
          </a:xfrm>
          <a:prstGeom prst="rect">
            <a:avLst/>
          </a:prstGeom>
          <a:solidFill>
            <a:srgbClr val="12A566"/>
          </a:solidFill>
          <a:ln/>
        </p:spPr>
      </p:sp>
      <p:sp>
        <p:nvSpPr>
          <p:cNvPr id="72" name="Text 70"/>
          <p:cNvSpPr txBox="1"/>
          <p:nvPr/>
        </p:nvSpPr>
        <p:spPr>
          <a:xfrm>
            <a:off x="4547616" y="1636776"/>
            <a:ext cx="1633728" cy="237744"/>
          </a:xfrm>
          <a:prstGeom prst="rect">
            <a:avLst/>
          </a:prstGeom>
          <a:noFill/>
          <a:ln/>
        </p:spPr>
        <p:txBody>
          <a:bodyPr wrap="square" lIns="0" tIns="0" rIns="0" bIns="0" rtlCol="0" anchor="ctr">
            <a:normAutofit/>
          </a:bodyPr>
          <a:lstStyle/>
          <a:p>
            <a:pPr indent="0" marL="0">
              <a:buNone/>
            </a:pPr>
            <a:r>
              <a:rPr lang="en-US" sz="1300" b="1" spc="30" kern="0" dirty="0">
                <a:solidFill>
                  <a:srgbClr val="595959"/>
                </a:solidFill>
                <a:latin typeface="Inter" pitchFamily="34" charset="0"/>
                <a:ea typeface="Inter" pitchFamily="34" charset="-122"/>
                <a:cs typeface="Inter" pitchFamily="34" charset="-120"/>
              </a:rPr>
              <a:t>CP HOURS PER RO</a:t>
            </a:r>
            <a:endParaRPr lang="en-US" sz="1300" dirty="0"/>
          </a:p>
        </p:txBody>
      </p:sp>
      <p:sp>
        <p:nvSpPr>
          <p:cNvPr id="73" name="Text 71"/>
          <p:cNvSpPr txBox="1"/>
          <p:nvPr/>
        </p:nvSpPr>
        <p:spPr>
          <a:xfrm>
            <a:off x="4547616" y="1856232"/>
            <a:ext cx="1633728" cy="201168"/>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Group +3.6%</a:t>
            </a:r>
            <a:endParaRPr lang="en-US" sz="1300" dirty="0"/>
          </a:p>
        </p:txBody>
      </p:sp>
      <p:sp>
        <p:nvSpPr>
          <p:cNvPr id="74" name="Text 72"/>
          <p:cNvSpPr txBox="1"/>
          <p:nvPr/>
        </p:nvSpPr>
        <p:spPr>
          <a:xfrm>
            <a:off x="4529328" y="2112264"/>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75" name="Text 73"/>
          <p:cNvSpPr txBox="1"/>
          <p:nvPr/>
        </p:nvSpPr>
        <p:spPr>
          <a:xfrm>
            <a:off x="4547616" y="2276856"/>
            <a:ext cx="1670304" cy="17373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+39.1%</a:t>
            </a:r>
            <a:endParaRPr lang="en-US" sz="1400" dirty="0"/>
          </a:p>
        </p:txBody>
      </p:sp>
      <p:sp>
        <p:nvSpPr>
          <p:cNvPr id="76" name="Text 74"/>
          <p:cNvSpPr txBox="1"/>
          <p:nvPr/>
        </p:nvSpPr>
        <p:spPr>
          <a:xfrm>
            <a:off x="4529328" y="2468880"/>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SUBARU ST GEORGE</a:t>
            </a:r>
            <a:endParaRPr lang="en-US" sz="1300" dirty="0"/>
          </a:p>
        </p:txBody>
      </p:sp>
      <p:sp>
        <p:nvSpPr>
          <p:cNvPr id="77" name="Text 75"/>
          <p:cNvSpPr txBox="1"/>
          <p:nvPr/>
        </p:nvSpPr>
        <p:spPr>
          <a:xfrm>
            <a:off x="4547616" y="2633472"/>
            <a:ext cx="1670304" cy="17373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+31.3%</a:t>
            </a:r>
            <a:endParaRPr lang="en-US" sz="1400" dirty="0"/>
          </a:p>
        </p:txBody>
      </p:sp>
      <p:sp>
        <p:nvSpPr>
          <p:cNvPr id="78" name="Text 76"/>
          <p:cNvSpPr txBox="1"/>
          <p:nvPr/>
        </p:nvSpPr>
        <p:spPr>
          <a:xfrm>
            <a:off x="4529328" y="2825496"/>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KIA ST GEORGE</a:t>
            </a:r>
            <a:endParaRPr lang="en-US" sz="1300" dirty="0"/>
          </a:p>
        </p:txBody>
      </p:sp>
      <p:sp>
        <p:nvSpPr>
          <p:cNvPr id="79" name="Text 77"/>
          <p:cNvSpPr txBox="1"/>
          <p:nvPr/>
        </p:nvSpPr>
        <p:spPr>
          <a:xfrm>
            <a:off x="4547616" y="2990088"/>
            <a:ext cx="1670304" cy="17373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+30.7%</a:t>
            </a:r>
            <a:endParaRPr lang="en-US" sz="1400" dirty="0"/>
          </a:p>
        </p:txBody>
      </p:sp>
      <p:sp>
        <p:nvSpPr>
          <p:cNvPr id="80" name="Text 78"/>
          <p:cNvSpPr txBox="1"/>
          <p:nvPr/>
        </p:nvSpPr>
        <p:spPr>
          <a:xfrm>
            <a:off x="4529328" y="3182112"/>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SUBARU PRESCOTT</a:t>
            </a:r>
            <a:endParaRPr lang="en-US" sz="1300" dirty="0"/>
          </a:p>
        </p:txBody>
      </p:sp>
      <p:sp>
        <p:nvSpPr>
          <p:cNvPr id="81" name="Text 79"/>
          <p:cNvSpPr txBox="1"/>
          <p:nvPr/>
        </p:nvSpPr>
        <p:spPr>
          <a:xfrm>
            <a:off x="4547616" y="3346704"/>
            <a:ext cx="1670304" cy="17373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+19.5%</a:t>
            </a:r>
            <a:endParaRPr lang="en-US" sz="1400" dirty="0"/>
          </a:p>
        </p:txBody>
      </p:sp>
      <p:sp>
        <p:nvSpPr>
          <p:cNvPr id="82" name="Text 80"/>
          <p:cNvSpPr txBox="1"/>
          <p:nvPr/>
        </p:nvSpPr>
        <p:spPr>
          <a:xfrm>
            <a:off x="4529328" y="3538728"/>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KIA LV</a:t>
            </a:r>
            <a:endParaRPr lang="en-US" sz="1300" dirty="0"/>
          </a:p>
        </p:txBody>
      </p:sp>
      <p:sp>
        <p:nvSpPr>
          <p:cNvPr id="83" name="Text 81"/>
          <p:cNvSpPr txBox="1"/>
          <p:nvPr/>
        </p:nvSpPr>
        <p:spPr>
          <a:xfrm>
            <a:off x="4547616" y="3703320"/>
            <a:ext cx="1670304" cy="17373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+18.7%</a:t>
            </a:r>
            <a:endParaRPr lang="en-US" sz="1400" dirty="0"/>
          </a:p>
        </p:txBody>
      </p:sp>
      <p:sp>
        <p:nvSpPr>
          <p:cNvPr id="84" name="Text 82"/>
          <p:cNvSpPr txBox="1"/>
          <p:nvPr/>
        </p:nvSpPr>
        <p:spPr>
          <a:xfrm>
            <a:off x="4529328" y="4014216"/>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CHEVY LV</a:t>
            </a:r>
            <a:endParaRPr lang="en-US" sz="1300" dirty="0"/>
          </a:p>
        </p:txBody>
      </p:sp>
      <p:sp>
        <p:nvSpPr>
          <p:cNvPr id="85" name="Text 83"/>
          <p:cNvSpPr txBox="1"/>
          <p:nvPr/>
        </p:nvSpPr>
        <p:spPr>
          <a:xfrm>
            <a:off x="4547616" y="4178808"/>
            <a:ext cx="1670304" cy="173736"/>
          </a:xfrm>
          <a:prstGeom prst="rect">
            <a:avLst/>
          </a:prstGeom>
          <a:noFill/>
          <a:ln/>
        </p:spPr>
        <p:txBody>
          <a:bodyPr wrap="square" lIns="0" tIns="0" rIns="0" bIns="0" rtlCol="0" anchor="ctr"/>
          <a:lstStyle/>
          <a:p>
            <a:pPr indent="0" marL="0">
              <a:buNone/>
            </a:pPr>
            <a:r>
              <a:rPr lang="en-US" sz="1400" b="1" dirty="0">
                <a:solidFill>
                  <a:srgbClr val="A82B26"/>
                </a:solidFill>
                <a:latin typeface="Inter" pitchFamily="34" charset="0"/>
                <a:ea typeface="Inter" pitchFamily="34" charset="-122"/>
                <a:cs typeface="Inter" pitchFamily="34" charset="-120"/>
              </a:rPr>
              <a:t>−2.9%</a:t>
            </a:r>
            <a:endParaRPr lang="en-US" sz="1400" dirty="0"/>
          </a:p>
        </p:txBody>
      </p:sp>
      <p:sp>
        <p:nvSpPr>
          <p:cNvPr id="86" name="Text 84"/>
          <p:cNvSpPr txBox="1"/>
          <p:nvPr/>
        </p:nvSpPr>
        <p:spPr>
          <a:xfrm>
            <a:off x="4529328" y="4370832"/>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AUDI RENO</a:t>
            </a:r>
            <a:endParaRPr lang="en-US" sz="1300" dirty="0"/>
          </a:p>
        </p:txBody>
      </p:sp>
      <p:sp>
        <p:nvSpPr>
          <p:cNvPr id="87" name="Text 85"/>
          <p:cNvSpPr txBox="1"/>
          <p:nvPr/>
        </p:nvSpPr>
        <p:spPr>
          <a:xfrm>
            <a:off x="4547616" y="4535424"/>
            <a:ext cx="1670304" cy="173736"/>
          </a:xfrm>
          <a:prstGeom prst="rect">
            <a:avLst/>
          </a:prstGeom>
          <a:noFill/>
          <a:ln/>
        </p:spPr>
        <p:txBody>
          <a:bodyPr wrap="square" lIns="0" tIns="0" rIns="0" bIns="0" rtlCol="0" anchor="ctr"/>
          <a:lstStyle/>
          <a:p>
            <a:pPr indent="0" marL="0">
              <a:buNone/>
            </a:pPr>
            <a:r>
              <a:rPr lang="en-US" sz="1400" b="1" dirty="0">
                <a:solidFill>
                  <a:srgbClr val="A82B26"/>
                </a:solidFill>
                <a:latin typeface="Inter" pitchFamily="34" charset="0"/>
                <a:ea typeface="Inter" pitchFamily="34" charset="-122"/>
                <a:cs typeface="Inter" pitchFamily="34" charset="-120"/>
              </a:rPr>
              <a:t>−5.2%</a:t>
            </a:r>
            <a:endParaRPr lang="en-US" sz="1400" dirty="0"/>
          </a:p>
        </p:txBody>
      </p:sp>
      <p:sp>
        <p:nvSpPr>
          <p:cNvPr id="88" name="Text 86"/>
          <p:cNvSpPr txBox="1"/>
          <p:nvPr/>
        </p:nvSpPr>
        <p:spPr>
          <a:xfrm>
            <a:off x="4529328" y="4727448"/>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VOLVO</a:t>
            </a:r>
            <a:endParaRPr lang="en-US" sz="1300" dirty="0"/>
          </a:p>
        </p:txBody>
      </p:sp>
      <p:sp>
        <p:nvSpPr>
          <p:cNvPr id="89" name="Text 87"/>
          <p:cNvSpPr txBox="1"/>
          <p:nvPr/>
        </p:nvSpPr>
        <p:spPr>
          <a:xfrm>
            <a:off x="4547616" y="4892040"/>
            <a:ext cx="1670304" cy="173736"/>
          </a:xfrm>
          <a:prstGeom prst="rect">
            <a:avLst/>
          </a:prstGeom>
          <a:noFill/>
          <a:ln/>
        </p:spPr>
        <p:txBody>
          <a:bodyPr wrap="square" lIns="0" tIns="0" rIns="0" bIns="0" rtlCol="0" anchor="ctr"/>
          <a:lstStyle/>
          <a:p>
            <a:pPr indent="0" marL="0">
              <a:buNone/>
            </a:pPr>
            <a:r>
              <a:rPr lang="en-US" sz="1400" b="1" dirty="0">
                <a:solidFill>
                  <a:srgbClr val="A82B26"/>
                </a:solidFill>
                <a:latin typeface="Inter" pitchFamily="34" charset="0"/>
                <a:ea typeface="Inter" pitchFamily="34" charset="-122"/>
                <a:cs typeface="Inter" pitchFamily="34" charset="-120"/>
              </a:rPr>
              <a:t>−11.7%</a:t>
            </a:r>
            <a:endParaRPr lang="en-US" sz="1400" dirty="0"/>
          </a:p>
        </p:txBody>
      </p:sp>
      <p:sp>
        <p:nvSpPr>
          <p:cNvPr id="90" name="Text 88"/>
          <p:cNvSpPr txBox="1"/>
          <p:nvPr/>
        </p:nvSpPr>
        <p:spPr>
          <a:xfrm>
            <a:off x="4529328" y="5084064"/>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VW ST GEORGE</a:t>
            </a:r>
            <a:endParaRPr lang="en-US" sz="1300" dirty="0"/>
          </a:p>
        </p:txBody>
      </p:sp>
      <p:sp>
        <p:nvSpPr>
          <p:cNvPr id="91" name="Text 89"/>
          <p:cNvSpPr txBox="1"/>
          <p:nvPr/>
        </p:nvSpPr>
        <p:spPr>
          <a:xfrm>
            <a:off x="4547616" y="5248656"/>
            <a:ext cx="1670304" cy="173736"/>
          </a:xfrm>
          <a:prstGeom prst="rect">
            <a:avLst/>
          </a:prstGeom>
          <a:noFill/>
          <a:ln/>
        </p:spPr>
        <p:txBody>
          <a:bodyPr wrap="square" lIns="0" tIns="0" rIns="0" bIns="0" rtlCol="0" anchor="ctr"/>
          <a:lstStyle/>
          <a:p>
            <a:pPr indent="0" marL="0">
              <a:buNone/>
            </a:pPr>
            <a:r>
              <a:rPr lang="en-US" sz="1400" b="1" dirty="0">
                <a:solidFill>
                  <a:srgbClr val="A82B26"/>
                </a:solidFill>
                <a:latin typeface="Inter" pitchFamily="34" charset="0"/>
                <a:ea typeface="Inter" pitchFamily="34" charset="-122"/>
                <a:cs typeface="Inter" pitchFamily="34" charset="-120"/>
              </a:rPr>
              <a:t>−12.5%</a:t>
            </a:r>
            <a:endParaRPr lang="en-US" sz="1400" dirty="0"/>
          </a:p>
        </p:txBody>
      </p:sp>
      <p:sp>
        <p:nvSpPr>
          <p:cNvPr id="92" name="Text 90"/>
          <p:cNvSpPr txBox="1"/>
          <p:nvPr/>
        </p:nvSpPr>
        <p:spPr>
          <a:xfrm>
            <a:off x="4529328" y="5440680"/>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LR RENO</a:t>
            </a:r>
            <a:endParaRPr lang="en-US" sz="1300" dirty="0"/>
          </a:p>
        </p:txBody>
      </p:sp>
      <p:sp>
        <p:nvSpPr>
          <p:cNvPr id="93" name="Text 91"/>
          <p:cNvSpPr txBox="1"/>
          <p:nvPr/>
        </p:nvSpPr>
        <p:spPr>
          <a:xfrm>
            <a:off x="4547616" y="5605272"/>
            <a:ext cx="1670304" cy="173736"/>
          </a:xfrm>
          <a:prstGeom prst="rect">
            <a:avLst/>
          </a:prstGeom>
          <a:noFill/>
          <a:ln/>
        </p:spPr>
        <p:txBody>
          <a:bodyPr wrap="square" lIns="0" tIns="0" rIns="0" bIns="0" rtlCol="0" anchor="ctr"/>
          <a:lstStyle/>
          <a:p>
            <a:pPr indent="0" marL="0">
              <a:buNone/>
            </a:pPr>
            <a:r>
              <a:rPr lang="en-US" sz="1400" b="1" dirty="0">
                <a:solidFill>
                  <a:srgbClr val="A82B26"/>
                </a:solidFill>
                <a:latin typeface="Inter" pitchFamily="34" charset="0"/>
                <a:ea typeface="Inter" pitchFamily="34" charset="-122"/>
                <a:cs typeface="Inter" pitchFamily="34" charset="-120"/>
              </a:rPr>
              <a:t>−13.7%</a:t>
            </a:r>
            <a:endParaRPr lang="en-US" sz="1400" dirty="0"/>
          </a:p>
        </p:txBody>
      </p:sp>
      <p:sp>
        <p:nvSpPr>
          <p:cNvPr id="94" name="Shape 92"/>
          <p:cNvSpPr/>
          <p:nvPr/>
        </p:nvSpPr>
        <p:spPr>
          <a:xfrm>
            <a:off x="6309360" y="1554480"/>
            <a:ext cx="1670304" cy="45720"/>
          </a:xfrm>
          <a:prstGeom prst="rect">
            <a:avLst/>
          </a:prstGeom>
          <a:solidFill>
            <a:srgbClr val="12A566"/>
          </a:solidFill>
          <a:ln/>
        </p:spPr>
      </p:sp>
      <p:sp>
        <p:nvSpPr>
          <p:cNvPr id="95" name="Text 93"/>
          <p:cNvSpPr txBox="1"/>
          <p:nvPr/>
        </p:nvSpPr>
        <p:spPr>
          <a:xfrm>
            <a:off x="6327648" y="1636776"/>
            <a:ext cx="1633728" cy="237744"/>
          </a:xfrm>
          <a:prstGeom prst="rect">
            <a:avLst/>
          </a:prstGeom>
          <a:noFill/>
          <a:ln/>
        </p:spPr>
        <p:txBody>
          <a:bodyPr wrap="square" lIns="0" tIns="0" rIns="0" bIns="0" rtlCol="0" anchor="ctr">
            <a:normAutofit/>
          </a:bodyPr>
          <a:lstStyle/>
          <a:p>
            <a:pPr indent="0" marL="0">
              <a:buNone/>
            </a:pPr>
            <a:r>
              <a:rPr lang="en-US" sz="1300" b="1" spc="30" kern="0" dirty="0">
                <a:solidFill>
                  <a:srgbClr val="595959"/>
                </a:solidFill>
                <a:latin typeface="Inter" pitchFamily="34" charset="0"/>
                <a:ea typeface="Inter" pitchFamily="34" charset="-122"/>
                <a:cs typeface="Inter" pitchFamily="34" charset="-120"/>
              </a:rPr>
              <a:t>CP ELR</a:t>
            </a:r>
            <a:endParaRPr lang="en-US" sz="1300" dirty="0"/>
          </a:p>
        </p:txBody>
      </p:sp>
      <p:sp>
        <p:nvSpPr>
          <p:cNvPr id="96" name="Text 94"/>
          <p:cNvSpPr txBox="1"/>
          <p:nvPr/>
        </p:nvSpPr>
        <p:spPr>
          <a:xfrm>
            <a:off x="6327648" y="1856232"/>
            <a:ext cx="1633728" cy="201168"/>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Group +2.2%</a:t>
            </a:r>
            <a:endParaRPr lang="en-US" sz="1300" dirty="0"/>
          </a:p>
        </p:txBody>
      </p:sp>
      <p:sp>
        <p:nvSpPr>
          <p:cNvPr id="97" name="Text 95"/>
          <p:cNvSpPr txBox="1"/>
          <p:nvPr/>
        </p:nvSpPr>
        <p:spPr>
          <a:xfrm>
            <a:off x="6309360" y="2112264"/>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HONDA SPOKANE</a:t>
            </a:r>
            <a:endParaRPr lang="en-US" sz="1300" dirty="0"/>
          </a:p>
        </p:txBody>
      </p:sp>
      <p:sp>
        <p:nvSpPr>
          <p:cNvPr id="98" name="Text 96"/>
          <p:cNvSpPr txBox="1"/>
          <p:nvPr/>
        </p:nvSpPr>
        <p:spPr>
          <a:xfrm>
            <a:off x="6327648" y="2276856"/>
            <a:ext cx="1670304" cy="17373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+22.9%</a:t>
            </a:r>
            <a:endParaRPr lang="en-US" sz="1400" dirty="0"/>
          </a:p>
        </p:txBody>
      </p:sp>
      <p:sp>
        <p:nvSpPr>
          <p:cNvPr id="99" name="Text 97"/>
          <p:cNvSpPr txBox="1"/>
          <p:nvPr/>
        </p:nvSpPr>
        <p:spPr>
          <a:xfrm>
            <a:off x="6309360" y="2468880"/>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VOLVO</a:t>
            </a:r>
            <a:endParaRPr lang="en-US" sz="1300" dirty="0"/>
          </a:p>
        </p:txBody>
      </p:sp>
      <p:sp>
        <p:nvSpPr>
          <p:cNvPr id="100" name="Text 98"/>
          <p:cNvSpPr txBox="1"/>
          <p:nvPr/>
        </p:nvSpPr>
        <p:spPr>
          <a:xfrm>
            <a:off x="6327648" y="2633472"/>
            <a:ext cx="1670304" cy="17373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+22.3%</a:t>
            </a:r>
            <a:endParaRPr lang="en-US" sz="1400" dirty="0"/>
          </a:p>
        </p:txBody>
      </p:sp>
      <p:sp>
        <p:nvSpPr>
          <p:cNvPr id="101" name="Text 99"/>
          <p:cNvSpPr txBox="1"/>
          <p:nvPr/>
        </p:nvSpPr>
        <p:spPr>
          <a:xfrm>
            <a:off x="6309360" y="2825496"/>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LINCOLN</a:t>
            </a:r>
            <a:endParaRPr lang="en-US" sz="1300" dirty="0"/>
          </a:p>
        </p:txBody>
      </p:sp>
      <p:sp>
        <p:nvSpPr>
          <p:cNvPr id="102" name="Text 100"/>
          <p:cNvSpPr txBox="1"/>
          <p:nvPr/>
        </p:nvSpPr>
        <p:spPr>
          <a:xfrm>
            <a:off x="6327648" y="2990088"/>
            <a:ext cx="1670304" cy="17373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+20.1%</a:t>
            </a:r>
            <a:endParaRPr lang="en-US" sz="1400" dirty="0"/>
          </a:p>
        </p:txBody>
      </p:sp>
      <p:sp>
        <p:nvSpPr>
          <p:cNvPr id="103" name="Text 101"/>
          <p:cNvSpPr txBox="1"/>
          <p:nvPr/>
        </p:nvSpPr>
        <p:spPr>
          <a:xfrm>
            <a:off x="6309360" y="3182112"/>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NISSAN</a:t>
            </a:r>
            <a:endParaRPr lang="en-US" sz="1300" dirty="0"/>
          </a:p>
        </p:txBody>
      </p:sp>
      <p:sp>
        <p:nvSpPr>
          <p:cNvPr id="104" name="Text 102"/>
          <p:cNvSpPr txBox="1"/>
          <p:nvPr/>
        </p:nvSpPr>
        <p:spPr>
          <a:xfrm>
            <a:off x="6327648" y="3346704"/>
            <a:ext cx="1670304" cy="17373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+14.3%</a:t>
            </a:r>
            <a:endParaRPr lang="en-US" sz="1400" dirty="0"/>
          </a:p>
        </p:txBody>
      </p:sp>
      <p:sp>
        <p:nvSpPr>
          <p:cNvPr id="105" name="Text 103"/>
          <p:cNvSpPr txBox="1"/>
          <p:nvPr/>
        </p:nvSpPr>
        <p:spPr>
          <a:xfrm>
            <a:off x="6309360" y="3538728"/>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SUBARU PRESCOTT</a:t>
            </a:r>
            <a:endParaRPr lang="en-US" sz="1300" dirty="0"/>
          </a:p>
        </p:txBody>
      </p:sp>
      <p:sp>
        <p:nvSpPr>
          <p:cNvPr id="106" name="Text 104"/>
          <p:cNvSpPr txBox="1"/>
          <p:nvPr/>
        </p:nvSpPr>
        <p:spPr>
          <a:xfrm>
            <a:off x="6327648" y="3703320"/>
            <a:ext cx="1670304" cy="17373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+13.8%</a:t>
            </a:r>
            <a:endParaRPr lang="en-US" sz="1400" dirty="0"/>
          </a:p>
        </p:txBody>
      </p:sp>
      <p:sp>
        <p:nvSpPr>
          <p:cNvPr id="107" name="Text 105"/>
          <p:cNvSpPr txBox="1"/>
          <p:nvPr/>
        </p:nvSpPr>
        <p:spPr>
          <a:xfrm>
            <a:off x="6309360" y="4014216"/>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AUDI HENDERSON</a:t>
            </a:r>
            <a:endParaRPr lang="en-US" sz="1300" dirty="0"/>
          </a:p>
        </p:txBody>
      </p:sp>
      <p:sp>
        <p:nvSpPr>
          <p:cNvPr id="108" name="Text 106"/>
          <p:cNvSpPr txBox="1"/>
          <p:nvPr/>
        </p:nvSpPr>
        <p:spPr>
          <a:xfrm>
            <a:off x="6327648" y="4178808"/>
            <a:ext cx="1670304" cy="173736"/>
          </a:xfrm>
          <a:prstGeom prst="rect">
            <a:avLst/>
          </a:prstGeom>
          <a:noFill/>
          <a:ln/>
        </p:spPr>
        <p:txBody>
          <a:bodyPr wrap="square" lIns="0" tIns="0" rIns="0" bIns="0" rtlCol="0" anchor="ctr"/>
          <a:lstStyle/>
          <a:p>
            <a:pPr indent="0" marL="0">
              <a:buNone/>
            </a:pPr>
            <a:r>
              <a:rPr lang="en-US" sz="1400" b="1" dirty="0">
                <a:solidFill>
                  <a:srgbClr val="A82B26"/>
                </a:solidFill>
                <a:latin typeface="Inter" pitchFamily="34" charset="0"/>
                <a:ea typeface="Inter" pitchFamily="34" charset="-122"/>
                <a:cs typeface="Inter" pitchFamily="34" charset="-120"/>
              </a:rPr>
              <a:t>−4.5%</a:t>
            </a:r>
            <a:endParaRPr lang="en-US" sz="1400" dirty="0"/>
          </a:p>
        </p:txBody>
      </p:sp>
      <p:sp>
        <p:nvSpPr>
          <p:cNvPr id="109" name="Text 107"/>
          <p:cNvSpPr txBox="1"/>
          <p:nvPr/>
        </p:nvSpPr>
        <p:spPr>
          <a:xfrm>
            <a:off x="6309360" y="4370832"/>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10" name="Text 108"/>
          <p:cNvSpPr txBox="1"/>
          <p:nvPr/>
        </p:nvSpPr>
        <p:spPr>
          <a:xfrm>
            <a:off x="6327648" y="4535424"/>
            <a:ext cx="1670304" cy="173736"/>
          </a:xfrm>
          <a:prstGeom prst="rect">
            <a:avLst/>
          </a:prstGeom>
          <a:noFill/>
          <a:ln/>
        </p:spPr>
        <p:txBody>
          <a:bodyPr wrap="square" lIns="0" tIns="0" rIns="0" bIns="0" rtlCol="0" anchor="ctr"/>
          <a:lstStyle/>
          <a:p>
            <a:pPr indent="0" marL="0">
              <a:buNone/>
            </a:pPr>
            <a:r>
              <a:rPr lang="en-US" sz="1400" b="1" dirty="0">
                <a:solidFill>
                  <a:srgbClr val="A82B26"/>
                </a:solidFill>
                <a:latin typeface="Inter" pitchFamily="34" charset="0"/>
                <a:ea typeface="Inter" pitchFamily="34" charset="-122"/>
                <a:cs typeface="Inter" pitchFamily="34" charset="-120"/>
              </a:rPr>
              <a:t>−4.5%</a:t>
            </a:r>
            <a:endParaRPr lang="en-US" sz="1400" dirty="0"/>
          </a:p>
        </p:txBody>
      </p:sp>
      <p:sp>
        <p:nvSpPr>
          <p:cNvPr id="111" name="Text 109"/>
          <p:cNvSpPr txBox="1"/>
          <p:nvPr/>
        </p:nvSpPr>
        <p:spPr>
          <a:xfrm>
            <a:off x="6309360" y="4727448"/>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ACURA</a:t>
            </a:r>
            <a:endParaRPr lang="en-US" sz="1300" dirty="0"/>
          </a:p>
        </p:txBody>
      </p:sp>
      <p:sp>
        <p:nvSpPr>
          <p:cNvPr id="112" name="Text 110"/>
          <p:cNvSpPr txBox="1"/>
          <p:nvPr/>
        </p:nvSpPr>
        <p:spPr>
          <a:xfrm>
            <a:off x="6327648" y="4892040"/>
            <a:ext cx="1670304" cy="173736"/>
          </a:xfrm>
          <a:prstGeom prst="rect">
            <a:avLst/>
          </a:prstGeom>
          <a:noFill/>
          <a:ln/>
        </p:spPr>
        <p:txBody>
          <a:bodyPr wrap="square" lIns="0" tIns="0" rIns="0" bIns="0" rtlCol="0" anchor="ctr"/>
          <a:lstStyle/>
          <a:p>
            <a:pPr indent="0" marL="0">
              <a:buNone/>
            </a:pPr>
            <a:r>
              <a:rPr lang="en-US" sz="1400" b="1" dirty="0">
                <a:solidFill>
                  <a:srgbClr val="A82B26"/>
                </a:solidFill>
                <a:latin typeface="Inter" pitchFamily="34" charset="0"/>
                <a:ea typeface="Inter" pitchFamily="34" charset="-122"/>
                <a:cs typeface="Inter" pitchFamily="34" charset="-120"/>
              </a:rPr>
              <a:t>−5.0%</a:t>
            </a:r>
            <a:endParaRPr lang="en-US" sz="1400" dirty="0"/>
          </a:p>
        </p:txBody>
      </p:sp>
      <p:sp>
        <p:nvSpPr>
          <p:cNvPr id="113" name="Text 111"/>
          <p:cNvSpPr txBox="1"/>
          <p:nvPr/>
        </p:nvSpPr>
        <p:spPr>
          <a:xfrm>
            <a:off x="6309360" y="5084064"/>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SUBARU ST GEORGE</a:t>
            </a:r>
            <a:endParaRPr lang="en-US" sz="1300" dirty="0"/>
          </a:p>
        </p:txBody>
      </p:sp>
      <p:sp>
        <p:nvSpPr>
          <p:cNvPr id="114" name="Text 112"/>
          <p:cNvSpPr txBox="1"/>
          <p:nvPr/>
        </p:nvSpPr>
        <p:spPr>
          <a:xfrm>
            <a:off x="6327648" y="5248656"/>
            <a:ext cx="1670304" cy="173736"/>
          </a:xfrm>
          <a:prstGeom prst="rect">
            <a:avLst/>
          </a:prstGeom>
          <a:noFill/>
          <a:ln/>
        </p:spPr>
        <p:txBody>
          <a:bodyPr wrap="square" lIns="0" tIns="0" rIns="0" bIns="0" rtlCol="0" anchor="ctr"/>
          <a:lstStyle/>
          <a:p>
            <a:pPr indent="0" marL="0">
              <a:buNone/>
            </a:pPr>
            <a:r>
              <a:rPr lang="en-US" sz="1400" b="1" dirty="0">
                <a:solidFill>
                  <a:srgbClr val="A82B26"/>
                </a:solidFill>
                <a:latin typeface="Inter" pitchFamily="34" charset="0"/>
                <a:ea typeface="Inter" pitchFamily="34" charset="-122"/>
                <a:cs typeface="Inter" pitchFamily="34" charset="-120"/>
              </a:rPr>
              <a:t>−6.9%</a:t>
            </a:r>
            <a:endParaRPr lang="en-US" sz="1400" dirty="0"/>
          </a:p>
        </p:txBody>
      </p:sp>
      <p:sp>
        <p:nvSpPr>
          <p:cNvPr id="115" name="Text 113"/>
          <p:cNvSpPr txBox="1"/>
          <p:nvPr/>
        </p:nvSpPr>
        <p:spPr>
          <a:xfrm>
            <a:off x="6309360" y="5440680"/>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KIA LV</a:t>
            </a:r>
            <a:endParaRPr lang="en-US" sz="1300" dirty="0"/>
          </a:p>
        </p:txBody>
      </p:sp>
      <p:sp>
        <p:nvSpPr>
          <p:cNvPr id="116" name="Text 114"/>
          <p:cNvSpPr txBox="1"/>
          <p:nvPr/>
        </p:nvSpPr>
        <p:spPr>
          <a:xfrm>
            <a:off x="6327648" y="5605272"/>
            <a:ext cx="1670304" cy="173736"/>
          </a:xfrm>
          <a:prstGeom prst="rect">
            <a:avLst/>
          </a:prstGeom>
          <a:noFill/>
          <a:ln/>
        </p:spPr>
        <p:txBody>
          <a:bodyPr wrap="square" lIns="0" tIns="0" rIns="0" bIns="0" rtlCol="0" anchor="ctr"/>
          <a:lstStyle/>
          <a:p>
            <a:pPr indent="0" marL="0">
              <a:buNone/>
            </a:pPr>
            <a:r>
              <a:rPr lang="en-US" sz="1400" b="1" dirty="0">
                <a:solidFill>
                  <a:srgbClr val="A82B26"/>
                </a:solidFill>
                <a:latin typeface="Inter" pitchFamily="34" charset="0"/>
                <a:ea typeface="Inter" pitchFamily="34" charset="-122"/>
                <a:cs typeface="Inter" pitchFamily="34" charset="-120"/>
              </a:rPr>
              <a:t>−19.0%</a:t>
            </a:r>
            <a:endParaRPr lang="en-US" sz="1400" dirty="0"/>
          </a:p>
        </p:txBody>
      </p:sp>
      <p:sp>
        <p:nvSpPr>
          <p:cNvPr id="117" name="Shape 115"/>
          <p:cNvSpPr/>
          <p:nvPr/>
        </p:nvSpPr>
        <p:spPr>
          <a:xfrm>
            <a:off x="8089392" y="1554480"/>
            <a:ext cx="1670304" cy="45720"/>
          </a:xfrm>
          <a:prstGeom prst="rect">
            <a:avLst/>
          </a:prstGeom>
          <a:solidFill>
            <a:srgbClr val="12A566"/>
          </a:solidFill>
          <a:ln/>
        </p:spPr>
      </p:sp>
      <p:sp>
        <p:nvSpPr>
          <p:cNvPr id="118" name="Text 116"/>
          <p:cNvSpPr txBox="1"/>
          <p:nvPr/>
        </p:nvSpPr>
        <p:spPr>
          <a:xfrm>
            <a:off x="8107680" y="1636776"/>
            <a:ext cx="1633728" cy="237744"/>
          </a:xfrm>
          <a:prstGeom prst="rect">
            <a:avLst/>
          </a:prstGeom>
          <a:noFill/>
          <a:ln/>
        </p:spPr>
        <p:txBody>
          <a:bodyPr wrap="square" lIns="0" tIns="0" rIns="0" bIns="0" rtlCol="0" anchor="ctr">
            <a:normAutofit/>
          </a:bodyPr>
          <a:lstStyle/>
          <a:p>
            <a:pPr indent="0" marL="0">
              <a:buNone/>
            </a:pPr>
            <a:r>
              <a:rPr lang="en-US" sz="1300" b="1" spc="30" kern="0" dirty="0">
                <a:solidFill>
                  <a:srgbClr val="595959"/>
                </a:solidFill>
                <a:latin typeface="Inter" pitchFamily="34" charset="0"/>
                <a:ea typeface="Inter" pitchFamily="34" charset="-122"/>
                <a:cs typeface="Inter" pitchFamily="34" charset="-120"/>
              </a:rPr>
              <a:t>CP PARTS $ PER RO</a:t>
            </a:r>
            <a:endParaRPr lang="en-US" sz="1300" dirty="0"/>
          </a:p>
        </p:txBody>
      </p:sp>
      <p:sp>
        <p:nvSpPr>
          <p:cNvPr id="119" name="Text 117"/>
          <p:cNvSpPr txBox="1"/>
          <p:nvPr/>
        </p:nvSpPr>
        <p:spPr>
          <a:xfrm>
            <a:off x="8107680" y="1856232"/>
            <a:ext cx="1633728" cy="201168"/>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Group +4.1%</a:t>
            </a:r>
            <a:endParaRPr lang="en-US" sz="1300" dirty="0"/>
          </a:p>
        </p:txBody>
      </p:sp>
      <p:sp>
        <p:nvSpPr>
          <p:cNvPr id="120" name="Text 118"/>
          <p:cNvSpPr txBox="1"/>
          <p:nvPr/>
        </p:nvSpPr>
        <p:spPr>
          <a:xfrm>
            <a:off x="8089392" y="2112264"/>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LINCOLN</a:t>
            </a:r>
            <a:endParaRPr lang="en-US" sz="1300" dirty="0"/>
          </a:p>
        </p:txBody>
      </p:sp>
      <p:sp>
        <p:nvSpPr>
          <p:cNvPr id="121" name="Text 119"/>
          <p:cNvSpPr txBox="1"/>
          <p:nvPr/>
        </p:nvSpPr>
        <p:spPr>
          <a:xfrm>
            <a:off x="8107680" y="2276856"/>
            <a:ext cx="1670304" cy="17373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+28.9%</a:t>
            </a:r>
            <a:endParaRPr lang="en-US" sz="1400" dirty="0"/>
          </a:p>
        </p:txBody>
      </p:sp>
      <p:sp>
        <p:nvSpPr>
          <p:cNvPr id="122" name="Text 120"/>
          <p:cNvSpPr txBox="1"/>
          <p:nvPr/>
        </p:nvSpPr>
        <p:spPr>
          <a:xfrm>
            <a:off x="8089392" y="2468880"/>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LEXUS</a:t>
            </a:r>
            <a:endParaRPr lang="en-US" sz="1300" dirty="0"/>
          </a:p>
        </p:txBody>
      </p:sp>
      <p:sp>
        <p:nvSpPr>
          <p:cNvPr id="123" name="Text 121"/>
          <p:cNvSpPr txBox="1"/>
          <p:nvPr/>
        </p:nvSpPr>
        <p:spPr>
          <a:xfrm>
            <a:off x="8107680" y="2633472"/>
            <a:ext cx="1670304" cy="17373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+24.7%</a:t>
            </a:r>
            <a:endParaRPr lang="en-US" sz="1400" dirty="0"/>
          </a:p>
        </p:txBody>
      </p:sp>
      <p:sp>
        <p:nvSpPr>
          <p:cNvPr id="124" name="Text 122"/>
          <p:cNvSpPr txBox="1"/>
          <p:nvPr/>
        </p:nvSpPr>
        <p:spPr>
          <a:xfrm>
            <a:off x="8089392" y="2825496"/>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125" name="Text 123"/>
          <p:cNvSpPr txBox="1"/>
          <p:nvPr/>
        </p:nvSpPr>
        <p:spPr>
          <a:xfrm>
            <a:off x="8107680" y="2990088"/>
            <a:ext cx="1670304" cy="17373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+21.0%</a:t>
            </a:r>
            <a:endParaRPr lang="en-US" sz="1400" dirty="0"/>
          </a:p>
        </p:txBody>
      </p:sp>
      <p:sp>
        <p:nvSpPr>
          <p:cNvPr id="126" name="Text 124"/>
          <p:cNvSpPr txBox="1"/>
          <p:nvPr/>
        </p:nvSpPr>
        <p:spPr>
          <a:xfrm>
            <a:off x="8089392" y="3182112"/>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HONDA FLAGSTAFF</a:t>
            </a:r>
            <a:endParaRPr lang="en-US" sz="1300" dirty="0"/>
          </a:p>
        </p:txBody>
      </p:sp>
      <p:sp>
        <p:nvSpPr>
          <p:cNvPr id="127" name="Text 125"/>
          <p:cNvSpPr txBox="1"/>
          <p:nvPr/>
        </p:nvSpPr>
        <p:spPr>
          <a:xfrm>
            <a:off x="8107680" y="3346704"/>
            <a:ext cx="1670304" cy="17373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+18.7%</a:t>
            </a:r>
            <a:endParaRPr lang="en-US" sz="1400" dirty="0"/>
          </a:p>
        </p:txBody>
      </p:sp>
      <p:sp>
        <p:nvSpPr>
          <p:cNvPr id="128" name="Text 126"/>
          <p:cNvSpPr txBox="1"/>
          <p:nvPr/>
        </p:nvSpPr>
        <p:spPr>
          <a:xfrm>
            <a:off x="8089392" y="3538728"/>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SUBARU ST GEORGE</a:t>
            </a:r>
            <a:endParaRPr lang="en-US" sz="1300" dirty="0"/>
          </a:p>
        </p:txBody>
      </p:sp>
      <p:sp>
        <p:nvSpPr>
          <p:cNvPr id="129" name="Text 127"/>
          <p:cNvSpPr txBox="1"/>
          <p:nvPr/>
        </p:nvSpPr>
        <p:spPr>
          <a:xfrm>
            <a:off x="8107680" y="3703320"/>
            <a:ext cx="1670304" cy="17373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+17.6%</a:t>
            </a:r>
            <a:endParaRPr lang="en-US" sz="1400" dirty="0"/>
          </a:p>
        </p:txBody>
      </p:sp>
      <p:sp>
        <p:nvSpPr>
          <p:cNvPr id="130" name="Text 128"/>
          <p:cNvSpPr txBox="1"/>
          <p:nvPr/>
        </p:nvSpPr>
        <p:spPr>
          <a:xfrm>
            <a:off x="8089392" y="4014216"/>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CADILLAC</a:t>
            </a:r>
            <a:endParaRPr lang="en-US" sz="1300" dirty="0"/>
          </a:p>
        </p:txBody>
      </p:sp>
      <p:sp>
        <p:nvSpPr>
          <p:cNvPr id="131" name="Text 129"/>
          <p:cNvSpPr txBox="1"/>
          <p:nvPr/>
        </p:nvSpPr>
        <p:spPr>
          <a:xfrm>
            <a:off x="8107680" y="4178808"/>
            <a:ext cx="1670304" cy="173736"/>
          </a:xfrm>
          <a:prstGeom prst="rect">
            <a:avLst/>
          </a:prstGeom>
          <a:noFill/>
          <a:ln/>
        </p:spPr>
        <p:txBody>
          <a:bodyPr wrap="square" lIns="0" tIns="0" rIns="0" bIns="0" rtlCol="0" anchor="ctr"/>
          <a:lstStyle/>
          <a:p>
            <a:pPr indent="0" marL="0">
              <a:buNone/>
            </a:pPr>
            <a:r>
              <a:rPr lang="en-US" sz="1400" b="1" dirty="0">
                <a:solidFill>
                  <a:srgbClr val="A82B26"/>
                </a:solidFill>
                <a:latin typeface="Inter" pitchFamily="34" charset="0"/>
                <a:ea typeface="Inter" pitchFamily="34" charset="-122"/>
                <a:cs typeface="Inter" pitchFamily="34" charset="-120"/>
              </a:rPr>
              <a:t>−2.2%</a:t>
            </a:r>
            <a:endParaRPr lang="en-US" sz="1400" dirty="0"/>
          </a:p>
        </p:txBody>
      </p:sp>
      <p:sp>
        <p:nvSpPr>
          <p:cNvPr id="132" name="Text 130"/>
          <p:cNvSpPr txBox="1"/>
          <p:nvPr/>
        </p:nvSpPr>
        <p:spPr>
          <a:xfrm>
            <a:off x="8089392" y="4370832"/>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VW ST GEORGE</a:t>
            </a:r>
            <a:endParaRPr lang="en-US" sz="1300" dirty="0"/>
          </a:p>
        </p:txBody>
      </p:sp>
      <p:sp>
        <p:nvSpPr>
          <p:cNvPr id="133" name="Text 131"/>
          <p:cNvSpPr txBox="1"/>
          <p:nvPr/>
        </p:nvSpPr>
        <p:spPr>
          <a:xfrm>
            <a:off x="8107680" y="4535424"/>
            <a:ext cx="1670304" cy="173736"/>
          </a:xfrm>
          <a:prstGeom prst="rect">
            <a:avLst/>
          </a:prstGeom>
          <a:noFill/>
          <a:ln/>
        </p:spPr>
        <p:txBody>
          <a:bodyPr wrap="square" lIns="0" tIns="0" rIns="0" bIns="0" rtlCol="0" anchor="ctr"/>
          <a:lstStyle/>
          <a:p>
            <a:pPr indent="0" marL="0">
              <a:buNone/>
            </a:pPr>
            <a:r>
              <a:rPr lang="en-US" sz="1400" b="1" dirty="0">
                <a:solidFill>
                  <a:srgbClr val="A82B26"/>
                </a:solidFill>
                <a:latin typeface="Inter" pitchFamily="34" charset="0"/>
                <a:ea typeface="Inter" pitchFamily="34" charset="-122"/>
                <a:cs typeface="Inter" pitchFamily="34" charset="-120"/>
              </a:rPr>
              <a:t>−2.5%</a:t>
            </a:r>
            <a:endParaRPr lang="en-US" sz="1400" dirty="0"/>
          </a:p>
        </p:txBody>
      </p:sp>
      <p:sp>
        <p:nvSpPr>
          <p:cNvPr id="134" name="Text 132"/>
          <p:cNvSpPr txBox="1"/>
          <p:nvPr/>
        </p:nvSpPr>
        <p:spPr>
          <a:xfrm>
            <a:off x="8089392" y="4727448"/>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LR RENO</a:t>
            </a:r>
            <a:endParaRPr lang="en-US" sz="1300" dirty="0"/>
          </a:p>
        </p:txBody>
      </p:sp>
      <p:sp>
        <p:nvSpPr>
          <p:cNvPr id="135" name="Text 133"/>
          <p:cNvSpPr txBox="1"/>
          <p:nvPr/>
        </p:nvSpPr>
        <p:spPr>
          <a:xfrm>
            <a:off x="8107680" y="4892040"/>
            <a:ext cx="1670304" cy="173736"/>
          </a:xfrm>
          <a:prstGeom prst="rect">
            <a:avLst/>
          </a:prstGeom>
          <a:noFill/>
          <a:ln/>
        </p:spPr>
        <p:txBody>
          <a:bodyPr wrap="square" lIns="0" tIns="0" rIns="0" bIns="0" rtlCol="0" anchor="ctr"/>
          <a:lstStyle/>
          <a:p>
            <a:pPr indent="0" marL="0">
              <a:buNone/>
            </a:pPr>
            <a:r>
              <a:rPr lang="en-US" sz="1400" b="1" dirty="0">
                <a:solidFill>
                  <a:srgbClr val="A82B26"/>
                </a:solidFill>
                <a:latin typeface="Inter" pitchFamily="34" charset="0"/>
                <a:ea typeface="Inter" pitchFamily="34" charset="-122"/>
                <a:cs typeface="Inter" pitchFamily="34" charset="-120"/>
              </a:rPr>
              <a:t>−7.1%</a:t>
            </a:r>
            <a:endParaRPr lang="en-US" sz="1400" dirty="0"/>
          </a:p>
        </p:txBody>
      </p:sp>
      <p:sp>
        <p:nvSpPr>
          <p:cNvPr id="136" name="Text 134"/>
          <p:cNvSpPr txBox="1"/>
          <p:nvPr/>
        </p:nvSpPr>
        <p:spPr>
          <a:xfrm>
            <a:off x="8089392" y="5084064"/>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AUDI RENO</a:t>
            </a:r>
            <a:endParaRPr lang="en-US" sz="1300" dirty="0"/>
          </a:p>
        </p:txBody>
      </p:sp>
      <p:sp>
        <p:nvSpPr>
          <p:cNvPr id="137" name="Text 135"/>
          <p:cNvSpPr txBox="1"/>
          <p:nvPr/>
        </p:nvSpPr>
        <p:spPr>
          <a:xfrm>
            <a:off x="8107680" y="5248656"/>
            <a:ext cx="1670304" cy="173736"/>
          </a:xfrm>
          <a:prstGeom prst="rect">
            <a:avLst/>
          </a:prstGeom>
          <a:noFill/>
          <a:ln/>
        </p:spPr>
        <p:txBody>
          <a:bodyPr wrap="square" lIns="0" tIns="0" rIns="0" bIns="0" rtlCol="0" anchor="ctr"/>
          <a:lstStyle/>
          <a:p>
            <a:pPr indent="0" marL="0">
              <a:buNone/>
            </a:pPr>
            <a:r>
              <a:rPr lang="en-US" sz="1400" b="1" dirty="0">
                <a:solidFill>
                  <a:srgbClr val="A82B26"/>
                </a:solidFill>
                <a:latin typeface="Inter" pitchFamily="34" charset="0"/>
                <a:ea typeface="Inter" pitchFamily="34" charset="-122"/>
                <a:cs typeface="Inter" pitchFamily="34" charset="-120"/>
              </a:rPr>
              <a:t>−9.0%</a:t>
            </a:r>
            <a:endParaRPr lang="en-US" sz="1400" dirty="0"/>
          </a:p>
        </p:txBody>
      </p:sp>
      <p:sp>
        <p:nvSpPr>
          <p:cNvPr id="138" name="Text 136"/>
          <p:cNvSpPr txBox="1"/>
          <p:nvPr/>
        </p:nvSpPr>
        <p:spPr>
          <a:xfrm>
            <a:off x="8089392" y="5440680"/>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KIA LV</a:t>
            </a:r>
            <a:endParaRPr lang="en-US" sz="1300" dirty="0"/>
          </a:p>
        </p:txBody>
      </p:sp>
      <p:sp>
        <p:nvSpPr>
          <p:cNvPr id="139" name="Text 137"/>
          <p:cNvSpPr txBox="1"/>
          <p:nvPr/>
        </p:nvSpPr>
        <p:spPr>
          <a:xfrm>
            <a:off x="8107680" y="5605272"/>
            <a:ext cx="1670304" cy="173736"/>
          </a:xfrm>
          <a:prstGeom prst="rect">
            <a:avLst/>
          </a:prstGeom>
          <a:noFill/>
          <a:ln/>
        </p:spPr>
        <p:txBody>
          <a:bodyPr wrap="square" lIns="0" tIns="0" rIns="0" bIns="0" rtlCol="0" anchor="ctr"/>
          <a:lstStyle/>
          <a:p>
            <a:pPr indent="0" marL="0">
              <a:buNone/>
            </a:pPr>
            <a:r>
              <a:rPr lang="en-US" sz="1400" b="1" dirty="0">
                <a:solidFill>
                  <a:srgbClr val="A82B26"/>
                </a:solidFill>
                <a:latin typeface="Inter" pitchFamily="34" charset="0"/>
                <a:ea typeface="Inter" pitchFamily="34" charset="-122"/>
                <a:cs typeface="Inter" pitchFamily="34" charset="-120"/>
              </a:rPr>
              <a:t>−15.0%</a:t>
            </a:r>
            <a:endParaRPr lang="en-US" sz="1400" dirty="0"/>
          </a:p>
        </p:txBody>
      </p:sp>
      <p:sp>
        <p:nvSpPr>
          <p:cNvPr id="140" name="Shape 138"/>
          <p:cNvSpPr/>
          <p:nvPr/>
        </p:nvSpPr>
        <p:spPr>
          <a:xfrm>
            <a:off x="9869424" y="1554480"/>
            <a:ext cx="1670304" cy="45720"/>
          </a:xfrm>
          <a:prstGeom prst="rect">
            <a:avLst/>
          </a:prstGeom>
          <a:solidFill>
            <a:srgbClr val="12A566"/>
          </a:solidFill>
          <a:ln/>
        </p:spPr>
      </p:sp>
      <p:sp>
        <p:nvSpPr>
          <p:cNvPr id="141" name="Text 139"/>
          <p:cNvSpPr txBox="1"/>
          <p:nvPr/>
        </p:nvSpPr>
        <p:spPr>
          <a:xfrm>
            <a:off x="9887712" y="1636776"/>
            <a:ext cx="1633728" cy="237744"/>
          </a:xfrm>
          <a:prstGeom prst="rect">
            <a:avLst/>
          </a:prstGeom>
          <a:noFill/>
          <a:ln/>
        </p:spPr>
        <p:txBody>
          <a:bodyPr wrap="square" lIns="0" tIns="0" rIns="0" bIns="0" rtlCol="0" anchor="ctr">
            <a:normAutofit/>
          </a:bodyPr>
          <a:lstStyle/>
          <a:p>
            <a:pPr indent="0" marL="0">
              <a:buNone/>
            </a:pPr>
            <a:r>
              <a:rPr lang="en-US" sz="1300" b="1" spc="30" kern="0" dirty="0">
                <a:solidFill>
                  <a:srgbClr val="595959"/>
                </a:solidFill>
                <a:latin typeface="Inter" pitchFamily="34" charset="0"/>
                <a:ea typeface="Inter" pitchFamily="34" charset="-122"/>
                <a:cs typeface="Inter" pitchFamily="34" charset="-120"/>
              </a:rPr>
              <a:t>CP PARTS GP %</a:t>
            </a:r>
            <a:endParaRPr lang="en-US" sz="1300" dirty="0"/>
          </a:p>
        </p:txBody>
      </p:sp>
      <p:sp>
        <p:nvSpPr>
          <p:cNvPr id="142" name="Text 140"/>
          <p:cNvSpPr txBox="1"/>
          <p:nvPr/>
        </p:nvSpPr>
        <p:spPr>
          <a:xfrm>
            <a:off x="9887712" y="1856232"/>
            <a:ext cx="1633728" cy="201168"/>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Group +1.2 pts</a:t>
            </a:r>
            <a:endParaRPr lang="en-US" sz="1300" dirty="0"/>
          </a:p>
        </p:txBody>
      </p:sp>
      <p:sp>
        <p:nvSpPr>
          <p:cNvPr id="143" name="Text 141"/>
          <p:cNvSpPr txBox="1"/>
          <p:nvPr/>
        </p:nvSpPr>
        <p:spPr>
          <a:xfrm>
            <a:off x="9869424" y="2112264"/>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ACURA</a:t>
            </a:r>
            <a:endParaRPr lang="en-US" sz="1300" dirty="0"/>
          </a:p>
        </p:txBody>
      </p:sp>
      <p:sp>
        <p:nvSpPr>
          <p:cNvPr id="144" name="Text 142"/>
          <p:cNvSpPr txBox="1"/>
          <p:nvPr/>
        </p:nvSpPr>
        <p:spPr>
          <a:xfrm>
            <a:off x="9887712" y="2276856"/>
            <a:ext cx="1670304" cy="17373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+6.1 pts</a:t>
            </a:r>
            <a:endParaRPr lang="en-US" sz="1400" dirty="0"/>
          </a:p>
        </p:txBody>
      </p:sp>
      <p:sp>
        <p:nvSpPr>
          <p:cNvPr id="145" name="Text 143"/>
          <p:cNvSpPr txBox="1"/>
          <p:nvPr/>
        </p:nvSpPr>
        <p:spPr>
          <a:xfrm>
            <a:off x="9869424" y="2468880"/>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NISSAN</a:t>
            </a:r>
            <a:endParaRPr lang="en-US" sz="1300" dirty="0"/>
          </a:p>
        </p:txBody>
      </p:sp>
      <p:sp>
        <p:nvSpPr>
          <p:cNvPr id="146" name="Text 144"/>
          <p:cNvSpPr txBox="1"/>
          <p:nvPr/>
        </p:nvSpPr>
        <p:spPr>
          <a:xfrm>
            <a:off x="9887712" y="2633472"/>
            <a:ext cx="1670304" cy="17373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+4.5 pts</a:t>
            </a:r>
            <a:endParaRPr lang="en-US" sz="1400" dirty="0"/>
          </a:p>
        </p:txBody>
      </p:sp>
      <p:sp>
        <p:nvSpPr>
          <p:cNvPr id="147" name="Text 145"/>
          <p:cNvSpPr txBox="1"/>
          <p:nvPr/>
        </p:nvSpPr>
        <p:spPr>
          <a:xfrm>
            <a:off x="9869424" y="2825496"/>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SUBARU PRESCOTT</a:t>
            </a:r>
            <a:endParaRPr lang="en-US" sz="1300" dirty="0"/>
          </a:p>
        </p:txBody>
      </p:sp>
      <p:sp>
        <p:nvSpPr>
          <p:cNvPr id="148" name="Text 146"/>
          <p:cNvSpPr txBox="1"/>
          <p:nvPr/>
        </p:nvSpPr>
        <p:spPr>
          <a:xfrm>
            <a:off x="9887712" y="2990088"/>
            <a:ext cx="1670304" cy="17373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+3.8 pts</a:t>
            </a:r>
            <a:endParaRPr lang="en-US" sz="1400" dirty="0"/>
          </a:p>
        </p:txBody>
      </p:sp>
      <p:sp>
        <p:nvSpPr>
          <p:cNvPr id="149" name="Text 147"/>
          <p:cNvSpPr txBox="1"/>
          <p:nvPr/>
        </p:nvSpPr>
        <p:spPr>
          <a:xfrm>
            <a:off x="9869424" y="3182112"/>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LINCOLN</a:t>
            </a:r>
            <a:endParaRPr lang="en-US" sz="1300" dirty="0"/>
          </a:p>
        </p:txBody>
      </p:sp>
      <p:sp>
        <p:nvSpPr>
          <p:cNvPr id="150" name="Text 148"/>
          <p:cNvSpPr txBox="1"/>
          <p:nvPr/>
        </p:nvSpPr>
        <p:spPr>
          <a:xfrm>
            <a:off x="9887712" y="3346704"/>
            <a:ext cx="1670304" cy="17373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+3.3 pts</a:t>
            </a:r>
            <a:endParaRPr lang="en-US" sz="1400" dirty="0"/>
          </a:p>
        </p:txBody>
      </p:sp>
      <p:sp>
        <p:nvSpPr>
          <p:cNvPr id="151" name="Text 149"/>
          <p:cNvSpPr txBox="1"/>
          <p:nvPr/>
        </p:nvSpPr>
        <p:spPr>
          <a:xfrm>
            <a:off x="9869424" y="3538728"/>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LR RENO</a:t>
            </a:r>
            <a:endParaRPr lang="en-US" sz="1300" dirty="0"/>
          </a:p>
        </p:txBody>
      </p:sp>
      <p:sp>
        <p:nvSpPr>
          <p:cNvPr id="152" name="Text 150"/>
          <p:cNvSpPr txBox="1"/>
          <p:nvPr/>
        </p:nvSpPr>
        <p:spPr>
          <a:xfrm>
            <a:off x="9887712" y="3703320"/>
            <a:ext cx="1670304" cy="17373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+3.2 pts</a:t>
            </a:r>
            <a:endParaRPr lang="en-US" sz="1400" dirty="0"/>
          </a:p>
        </p:txBody>
      </p:sp>
      <p:sp>
        <p:nvSpPr>
          <p:cNvPr id="153" name="Text 151"/>
          <p:cNvSpPr txBox="1"/>
          <p:nvPr/>
        </p:nvSpPr>
        <p:spPr>
          <a:xfrm>
            <a:off x="9869424" y="4014216"/>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HONDA HENDERSON</a:t>
            </a:r>
            <a:endParaRPr lang="en-US" sz="1300" dirty="0"/>
          </a:p>
        </p:txBody>
      </p:sp>
      <p:sp>
        <p:nvSpPr>
          <p:cNvPr id="154" name="Text 152"/>
          <p:cNvSpPr txBox="1"/>
          <p:nvPr/>
        </p:nvSpPr>
        <p:spPr>
          <a:xfrm>
            <a:off x="9887712" y="4178808"/>
            <a:ext cx="1670304" cy="173736"/>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0.0 pts</a:t>
            </a:r>
            <a:endParaRPr lang="en-US" sz="1400" dirty="0"/>
          </a:p>
        </p:txBody>
      </p:sp>
      <p:sp>
        <p:nvSpPr>
          <p:cNvPr id="155" name="Text 153"/>
          <p:cNvSpPr txBox="1"/>
          <p:nvPr/>
        </p:nvSpPr>
        <p:spPr>
          <a:xfrm>
            <a:off x="9869424" y="4370832"/>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TOYOTA FLAGSTAFF</a:t>
            </a:r>
            <a:endParaRPr lang="en-US" sz="1300" dirty="0"/>
          </a:p>
        </p:txBody>
      </p:sp>
      <p:sp>
        <p:nvSpPr>
          <p:cNvPr id="156" name="Text 154"/>
          <p:cNvSpPr txBox="1"/>
          <p:nvPr/>
        </p:nvSpPr>
        <p:spPr>
          <a:xfrm>
            <a:off x="9887712" y="4535424"/>
            <a:ext cx="1670304" cy="173736"/>
          </a:xfrm>
          <a:prstGeom prst="rect">
            <a:avLst/>
          </a:prstGeom>
          <a:noFill/>
          <a:ln/>
        </p:spPr>
        <p:txBody>
          <a:bodyPr wrap="square" lIns="0" tIns="0" rIns="0" bIns="0" rtlCol="0" anchor="ctr"/>
          <a:lstStyle/>
          <a:p>
            <a:pPr indent="0" marL="0">
              <a:buNone/>
            </a:pPr>
            <a:r>
              <a:rPr lang="en-US" sz="1400" b="1" dirty="0">
                <a:solidFill>
                  <a:srgbClr val="A82B26"/>
                </a:solidFill>
                <a:latin typeface="Inter" pitchFamily="34" charset="0"/>
                <a:ea typeface="Inter" pitchFamily="34" charset="-122"/>
                <a:cs typeface="Inter" pitchFamily="34" charset="-120"/>
              </a:rPr>
              <a:t>−0.4 pts</a:t>
            </a:r>
            <a:endParaRPr lang="en-US" sz="1400" dirty="0"/>
          </a:p>
        </p:txBody>
      </p:sp>
      <p:sp>
        <p:nvSpPr>
          <p:cNvPr id="157" name="Text 155"/>
          <p:cNvSpPr txBox="1"/>
          <p:nvPr/>
        </p:nvSpPr>
        <p:spPr>
          <a:xfrm>
            <a:off x="9869424" y="4727448"/>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58" name="Text 156"/>
          <p:cNvSpPr txBox="1"/>
          <p:nvPr/>
        </p:nvSpPr>
        <p:spPr>
          <a:xfrm>
            <a:off x="9887712" y="4892040"/>
            <a:ext cx="1670304" cy="173736"/>
          </a:xfrm>
          <a:prstGeom prst="rect">
            <a:avLst/>
          </a:prstGeom>
          <a:noFill/>
          <a:ln/>
        </p:spPr>
        <p:txBody>
          <a:bodyPr wrap="square" lIns="0" tIns="0" rIns="0" bIns="0" rtlCol="0" anchor="ctr"/>
          <a:lstStyle/>
          <a:p>
            <a:pPr indent="0" marL="0">
              <a:buNone/>
            </a:pPr>
            <a:r>
              <a:rPr lang="en-US" sz="1400" b="1" dirty="0">
                <a:solidFill>
                  <a:srgbClr val="A82B26"/>
                </a:solidFill>
                <a:latin typeface="Inter" pitchFamily="34" charset="0"/>
                <a:ea typeface="Inter" pitchFamily="34" charset="-122"/>
                <a:cs typeface="Inter" pitchFamily="34" charset="-120"/>
              </a:rPr>
              <a:t>−0.5 pts</a:t>
            </a:r>
            <a:endParaRPr lang="en-US" sz="1400" dirty="0"/>
          </a:p>
        </p:txBody>
      </p:sp>
      <p:sp>
        <p:nvSpPr>
          <p:cNvPr id="159" name="Text 157"/>
          <p:cNvSpPr txBox="1"/>
          <p:nvPr/>
        </p:nvSpPr>
        <p:spPr>
          <a:xfrm>
            <a:off x="9869424" y="5084064"/>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TOYOTA SPOKANE</a:t>
            </a:r>
            <a:endParaRPr lang="en-US" sz="1300" dirty="0"/>
          </a:p>
        </p:txBody>
      </p:sp>
      <p:sp>
        <p:nvSpPr>
          <p:cNvPr id="160" name="Text 158"/>
          <p:cNvSpPr txBox="1"/>
          <p:nvPr/>
        </p:nvSpPr>
        <p:spPr>
          <a:xfrm>
            <a:off x="9887712" y="5248656"/>
            <a:ext cx="1670304" cy="173736"/>
          </a:xfrm>
          <a:prstGeom prst="rect">
            <a:avLst/>
          </a:prstGeom>
          <a:noFill/>
          <a:ln/>
        </p:spPr>
        <p:txBody>
          <a:bodyPr wrap="square" lIns="0" tIns="0" rIns="0" bIns="0" rtlCol="0" anchor="ctr"/>
          <a:lstStyle/>
          <a:p>
            <a:pPr indent="0" marL="0">
              <a:buNone/>
            </a:pPr>
            <a:r>
              <a:rPr lang="en-US" sz="1400" b="1" dirty="0">
                <a:solidFill>
                  <a:srgbClr val="A82B26"/>
                </a:solidFill>
                <a:latin typeface="Inter" pitchFamily="34" charset="0"/>
                <a:ea typeface="Inter" pitchFamily="34" charset="-122"/>
                <a:cs typeface="Inter" pitchFamily="34" charset="-120"/>
              </a:rPr>
              <a:t>−0.8 pts</a:t>
            </a:r>
            <a:endParaRPr lang="en-US" sz="1400" dirty="0"/>
          </a:p>
        </p:txBody>
      </p:sp>
      <p:sp>
        <p:nvSpPr>
          <p:cNvPr id="161" name="Text 159"/>
          <p:cNvSpPr txBox="1"/>
          <p:nvPr/>
        </p:nvSpPr>
        <p:spPr>
          <a:xfrm>
            <a:off x="9869424" y="5440680"/>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AUDI HENDERSON</a:t>
            </a:r>
            <a:endParaRPr lang="en-US" sz="1300" dirty="0"/>
          </a:p>
        </p:txBody>
      </p:sp>
      <p:sp>
        <p:nvSpPr>
          <p:cNvPr id="162" name="Text 160"/>
          <p:cNvSpPr txBox="1"/>
          <p:nvPr/>
        </p:nvSpPr>
        <p:spPr>
          <a:xfrm>
            <a:off x="9887712" y="5605272"/>
            <a:ext cx="1670304" cy="173736"/>
          </a:xfrm>
          <a:prstGeom prst="rect">
            <a:avLst/>
          </a:prstGeom>
          <a:noFill/>
          <a:ln/>
        </p:spPr>
        <p:txBody>
          <a:bodyPr wrap="square" lIns="0" tIns="0" rIns="0" bIns="0" rtlCol="0" anchor="ctr"/>
          <a:lstStyle/>
          <a:p>
            <a:pPr indent="0" marL="0">
              <a:buNone/>
            </a:pPr>
            <a:r>
              <a:rPr lang="en-US" sz="1400" b="1" dirty="0">
                <a:solidFill>
                  <a:srgbClr val="A82B26"/>
                </a:solidFill>
                <a:latin typeface="Inter" pitchFamily="34" charset="0"/>
                <a:ea typeface="Inter" pitchFamily="34" charset="-122"/>
                <a:cs typeface="Inter" pitchFamily="34" charset="-120"/>
              </a:rPr>
              <a:t>−2.1 pts</a:t>
            </a:r>
            <a:endParaRPr lang="en-US" sz="1400" dirty="0"/>
          </a:p>
        </p:txBody>
      </p:sp>
      <p:sp>
        <p:nvSpPr>
          <p:cNvPr id="164" name="Shape 161"/>
          <p:cNvSpPr/>
          <p:nvPr/>
        </p:nvSpPr>
        <p:spPr>
          <a:xfrm>
            <a:off x="457200" y="5961888"/>
            <a:ext cx="11274552" cy="548640"/>
          </a:xfrm>
          <a:prstGeom prst="rect">
            <a:avLst/>
          </a:prstGeom>
          <a:solidFill>
            <a:srgbClr val="EDF4FA"/>
          </a:solidFill>
          <a:ln/>
        </p:spPr>
      </p:sp>
      <p:sp>
        <p:nvSpPr>
          <p:cNvPr id="165" name="Text 162"/>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Top: LINCOLN, SUBARU PRESCOTT, SUBARU ST GEORGE (4 of 6).</a:t>
            </a:r>
            <a:endParaRPr lang="en-US" sz="1600" dirty="0"/>
          </a:p>
          <a:p>
            <a:pPr indent="0" marL="0">
              <a:buNone/>
            </a:pPr>
            <a:r>
              <a:rPr lang="en-US" sz="1600" b="1" dirty="0">
                <a:solidFill>
                  <a:srgbClr val="0B2C4A"/>
                </a:solidFill>
                <a:latin typeface="Inter" pitchFamily="34" charset="0"/>
                <a:ea typeface="Inter" pitchFamily="34" charset="-122"/>
                <a:cs typeface="Inter" pitchFamily="34" charset="-120"/>
              </a:rPr>
              <a:t>Bottom: AUDI RENO, VW ST GEORGE (4 of 6).</a:t>
            </a:r>
            <a:endParaRPr lang="en-US" sz="1600" dirty="0"/>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 MOST IMPROVED</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Who's Moving Now</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713232" y="1280160"/>
            <a:ext cx="10762488" cy="25603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Top and bottom five stores on each measure, Q3 2026 vs Q1 2026 (gross and ROs per month). Group change = the season.</a:t>
            </a:r>
            <a:endParaRPr lang="en-US" sz="1400" dirty="0"/>
          </a:p>
        </p:txBody>
      </p:sp>
      <p:sp>
        <p:nvSpPr>
          <p:cNvPr id="7" name="Shape 5"/>
          <p:cNvSpPr/>
          <p:nvPr/>
        </p:nvSpPr>
        <p:spPr>
          <a:xfrm>
            <a:off x="621792" y="2103120"/>
            <a:ext cx="45720" cy="1783080"/>
          </a:xfrm>
          <a:prstGeom prst="rect">
            <a:avLst/>
          </a:prstGeom>
          <a:solidFill>
            <a:srgbClr val="12A566"/>
          </a:solidFill>
          <a:ln/>
        </p:spPr>
      </p:sp>
      <p:sp>
        <p:nvSpPr>
          <p:cNvPr id="8" name="Shape 6"/>
          <p:cNvSpPr/>
          <p:nvPr/>
        </p:nvSpPr>
        <p:spPr>
          <a:xfrm>
            <a:off x="685800" y="2103120"/>
            <a:ext cx="10881360" cy="356616"/>
          </a:xfrm>
          <a:prstGeom prst="rect">
            <a:avLst/>
          </a:prstGeom>
          <a:solidFill>
            <a:srgbClr val="F7F7F7"/>
          </a:solidFill>
          <a:ln/>
        </p:spPr>
      </p:sp>
      <p:sp>
        <p:nvSpPr>
          <p:cNvPr id="9" name="Text 7"/>
          <p:cNvSpPr txBox="1"/>
          <p:nvPr/>
        </p:nvSpPr>
        <p:spPr>
          <a:xfrm>
            <a:off x="676656" y="2103120"/>
            <a:ext cx="274320" cy="356616"/>
          </a:xfrm>
          <a:prstGeom prst="rect">
            <a:avLst/>
          </a:prstGeom>
          <a:noFill/>
          <a:ln/>
        </p:spPr>
        <p:txBody>
          <a:bodyPr wrap="square" lIns="0" tIns="0" rIns="0" bIns="0" rtlCol="0" anchor="ctr"/>
          <a:lstStyle/>
          <a:p>
            <a:pPr algn="ctr" indent="0" marL="0">
              <a:buNone/>
            </a:pPr>
            <a:r>
              <a:rPr lang="en-US" sz="1400" b="1" dirty="0">
                <a:solidFill>
                  <a:srgbClr val="0B7A4A"/>
                </a:solidFill>
                <a:latin typeface="Inter" pitchFamily="34" charset="0"/>
                <a:ea typeface="Inter" pitchFamily="34" charset="-122"/>
                <a:cs typeface="Inter" pitchFamily="34" charset="-120"/>
              </a:rPr>
              <a:t>1</a:t>
            </a:r>
            <a:endParaRPr lang="en-US" sz="1400" dirty="0"/>
          </a:p>
        </p:txBody>
      </p:sp>
      <p:sp>
        <p:nvSpPr>
          <p:cNvPr id="10" name="Text 8"/>
          <p:cNvSpPr txBox="1"/>
          <p:nvPr/>
        </p:nvSpPr>
        <p:spPr>
          <a:xfrm>
            <a:off x="676656" y="2459736"/>
            <a:ext cx="274320" cy="356616"/>
          </a:xfrm>
          <a:prstGeom prst="rect">
            <a:avLst/>
          </a:prstGeom>
          <a:noFill/>
          <a:ln/>
        </p:spPr>
        <p:txBody>
          <a:bodyPr wrap="square" lIns="0" tIns="0" rIns="0" bIns="0" rtlCol="0" anchor="ctr"/>
          <a:lstStyle/>
          <a:p>
            <a:pPr algn="ctr" indent="0" marL="0">
              <a:buNone/>
            </a:pPr>
            <a:r>
              <a:rPr lang="en-US" sz="1400" b="1" dirty="0">
                <a:solidFill>
                  <a:srgbClr val="0B7A4A"/>
                </a:solidFill>
                <a:latin typeface="Inter" pitchFamily="34" charset="0"/>
                <a:ea typeface="Inter" pitchFamily="34" charset="-122"/>
                <a:cs typeface="Inter" pitchFamily="34" charset="-120"/>
              </a:rPr>
              <a:t>2</a:t>
            </a:r>
            <a:endParaRPr lang="en-US" sz="1400" dirty="0"/>
          </a:p>
        </p:txBody>
      </p:sp>
      <p:sp>
        <p:nvSpPr>
          <p:cNvPr id="11" name="Shape 9"/>
          <p:cNvSpPr/>
          <p:nvPr/>
        </p:nvSpPr>
        <p:spPr>
          <a:xfrm>
            <a:off x="685800" y="2816352"/>
            <a:ext cx="10881360" cy="356616"/>
          </a:xfrm>
          <a:prstGeom prst="rect">
            <a:avLst/>
          </a:prstGeom>
          <a:solidFill>
            <a:srgbClr val="F7F7F7"/>
          </a:solidFill>
          <a:ln/>
        </p:spPr>
      </p:sp>
      <p:sp>
        <p:nvSpPr>
          <p:cNvPr id="12" name="Text 10"/>
          <p:cNvSpPr txBox="1"/>
          <p:nvPr/>
        </p:nvSpPr>
        <p:spPr>
          <a:xfrm>
            <a:off x="676656" y="2816352"/>
            <a:ext cx="274320" cy="356616"/>
          </a:xfrm>
          <a:prstGeom prst="rect">
            <a:avLst/>
          </a:prstGeom>
          <a:noFill/>
          <a:ln/>
        </p:spPr>
        <p:txBody>
          <a:bodyPr wrap="square" lIns="0" tIns="0" rIns="0" bIns="0" rtlCol="0" anchor="ctr"/>
          <a:lstStyle/>
          <a:p>
            <a:pPr algn="ctr" indent="0" marL="0">
              <a:buNone/>
            </a:pPr>
            <a:r>
              <a:rPr lang="en-US" sz="1400" b="1" dirty="0">
                <a:solidFill>
                  <a:srgbClr val="0B7A4A"/>
                </a:solidFill>
                <a:latin typeface="Inter" pitchFamily="34" charset="0"/>
                <a:ea typeface="Inter" pitchFamily="34" charset="-122"/>
                <a:cs typeface="Inter" pitchFamily="34" charset="-120"/>
              </a:rPr>
              <a:t>3</a:t>
            </a:r>
            <a:endParaRPr lang="en-US" sz="1400" dirty="0"/>
          </a:p>
        </p:txBody>
      </p:sp>
      <p:sp>
        <p:nvSpPr>
          <p:cNvPr id="13" name="Text 11"/>
          <p:cNvSpPr txBox="1"/>
          <p:nvPr/>
        </p:nvSpPr>
        <p:spPr>
          <a:xfrm>
            <a:off x="676656" y="3172968"/>
            <a:ext cx="274320" cy="356616"/>
          </a:xfrm>
          <a:prstGeom prst="rect">
            <a:avLst/>
          </a:prstGeom>
          <a:noFill/>
          <a:ln/>
        </p:spPr>
        <p:txBody>
          <a:bodyPr wrap="square" lIns="0" tIns="0" rIns="0" bIns="0" rtlCol="0" anchor="ctr"/>
          <a:lstStyle/>
          <a:p>
            <a:pPr algn="ctr" indent="0" marL="0">
              <a:buNone/>
            </a:pPr>
            <a:r>
              <a:rPr lang="en-US" sz="1400" b="1" dirty="0">
                <a:solidFill>
                  <a:srgbClr val="0B7A4A"/>
                </a:solidFill>
                <a:latin typeface="Inter" pitchFamily="34" charset="0"/>
                <a:ea typeface="Inter" pitchFamily="34" charset="-122"/>
                <a:cs typeface="Inter" pitchFamily="34" charset="-120"/>
              </a:rPr>
              <a:t>4</a:t>
            </a:r>
            <a:endParaRPr lang="en-US" sz="1400" dirty="0"/>
          </a:p>
        </p:txBody>
      </p:sp>
      <p:sp>
        <p:nvSpPr>
          <p:cNvPr id="14" name="Shape 12"/>
          <p:cNvSpPr/>
          <p:nvPr/>
        </p:nvSpPr>
        <p:spPr>
          <a:xfrm>
            <a:off x="685800" y="3529584"/>
            <a:ext cx="10881360" cy="356616"/>
          </a:xfrm>
          <a:prstGeom prst="rect">
            <a:avLst/>
          </a:prstGeom>
          <a:solidFill>
            <a:srgbClr val="F7F7F7"/>
          </a:solidFill>
          <a:ln/>
        </p:spPr>
      </p:sp>
      <p:sp>
        <p:nvSpPr>
          <p:cNvPr id="15" name="Text 13"/>
          <p:cNvSpPr txBox="1"/>
          <p:nvPr/>
        </p:nvSpPr>
        <p:spPr>
          <a:xfrm>
            <a:off x="676656" y="3529584"/>
            <a:ext cx="274320" cy="356616"/>
          </a:xfrm>
          <a:prstGeom prst="rect">
            <a:avLst/>
          </a:prstGeom>
          <a:noFill/>
          <a:ln/>
        </p:spPr>
        <p:txBody>
          <a:bodyPr wrap="square" lIns="0" tIns="0" rIns="0" bIns="0" rtlCol="0" anchor="ctr"/>
          <a:lstStyle/>
          <a:p>
            <a:pPr algn="ctr" indent="0" marL="0">
              <a:buNone/>
            </a:pPr>
            <a:r>
              <a:rPr lang="en-US" sz="1400" b="1" dirty="0">
                <a:solidFill>
                  <a:srgbClr val="0B7A4A"/>
                </a:solidFill>
                <a:latin typeface="Inter" pitchFamily="34" charset="0"/>
                <a:ea typeface="Inter" pitchFamily="34" charset="-122"/>
                <a:cs typeface="Inter" pitchFamily="34" charset="-120"/>
              </a:rPr>
              <a:t>5</a:t>
            </a:r>
            <a:endParaRPr lang="en-US" sz="1400" dirty="0"/>
          </a:p>
        </p:txBody>
      </p:sp>
      <p:sp>
        <p:nvSpPr>
          <p:cNvPr id="16" name="Shape 14"/>
          <p:cNvSpPr/>
          <p:nvPr/>
        </p:nvSpPr>
        <p:spPr>
          <a:xfrm>
            <a:off x="621792" y="4005072"/>
            <a:ext cx="45720" cy="1783080"/>
          </a:xfrm>
          <a:prstGeom prst="rect">
            <a:avLst/>
          </a:prstGeom>
          <a:solidFill>
            <a:srgbClr val="C2352F"/>
          </a:solidFill>
          <a:ln/>
        </p:spPr>
      </p:sp>
      <p:sp>
        <p:nvSpPr>
          <p:cNvPr id="17" name="Shape 15"/>
          <p:cNvSpPr/>
          <p:nvPr/>
        </p:nvSpPr>
        <p:spPr>
          <a:xfrm>
            <a:off x="685800" y="4005072"/>
            <a:ext cx="10881360" cy="356616"/>
          </a:xfrm>
          <a:prstGeom prst="rect">
            <a:avLst/>
          </a:prstGeom>
          <a:solidFill>
            <a:srgbClr val="F7F7F7"/>
          </a:solidFill>
          <a:ln/>
        </p:spPr>
      </p:sp>
      <p:sp>
        <p:nvSpPr>
          <p:cNvPr id="18" name="Text 16"/>
          <p:cNvSpPr txBox="1"/>
          <p:nvPr/>
        </p:nvSpPr>
        <p:spPr>
          <a:xfrm>
            <a:off x="676656" y="4005072"/>
            <a:ext cx="274320" cy="356616"/>
          </a:xfrm>
          <a:prstGeom prst="rect">
            <a:avLst/>
          </a:prstGeom>
          <a:noFill/>
          <a:ln/>
        </p:spPr>
        <p:txBody>
          <a:bodyPr wrap="square" lIns="0" tIns="0" rIns="0" bIns="0" rtlCol="0" anchor="ctr"/>
          <a:lstStyle/>
          <a:p>
            <a:pPr algn="ctr" indent="0" marL="0">
              <a:buNone/>
            </a:pPr>
            <a:r>
              <a:rPr lang="en-US" sz="1400" b="1" dirty="0">
                <a:solidFill>
                  <a:srgbClr val="A82B26"/>
                </a:solidFill>
                <a:latin typeface="Inter" pitchFamily="34" charset="0"/>
                <a:ea typeface="Inter" pitchFamily="34" charset="-122"/>
                <a:cs typeface="Inter" pitchFamily="34" charset="-120"/>
              </a:rPr>
              <a:t>29</a:t>
            </a:r>
            <a:endParaRPr lang="en-US" sz="1400" dirty="0"/>
          </a:p>
        </p:txBody>
      </p:sp>
      <p:sp>
        <p:nvSpPr>
          <p:cNvPr id="19" name="Text 17"/>
          <p:cNvSpPr txBox="1"/>
          <p:nvPr/>
        </p:nvSpPr>
        <p:spPr>
          <a:xfrm>
            <a:off x="676656" y="4361688"/>
            <a:ext cx="274320" cy="356616"/>
          </a:xfrm>
          <a:prstGeom prst="rect">
            <a:avLst/>
          </a:prstGeom>
          <a:noFill/>
          <a:ln/>
        </p:spPr>
        <p:txBody>
          <a:bodyPr wrap="square" lIns="0" tIns="0" rIns="0" bIns="0" rtlCol="0" anchor="ctr"/>
          <a:lstStyle/>
          <a:p>
            <a:pPr algn="ctr" indent="0" marL="0">
              <a:buNone/>
            </a:pPr>
            <a:r>
              <a:rPr lang="en-US" sz="1400" b="1" dirty="0">
                <a:solidFill>
                  <a:srgbClr val="A82B26"/>
                </a:solidFill>
                <a:latin typeface="Inter" pitchFamily="34" charset="0"/>
                <a:ea typeface="Inter" pitchFamily="34" charset="-122"/>
                <a:cs typeface="Inter" pitchFamily="34" charset="-120"/>
              </a:rPr>
              <a:t>30</a:t>
            </a:r>
            <a:endParaRPr lang="en-US" sz="1400" dirty="0"/>
          </a:p>
        </p:txBody>
      </p:sp>
      <p:sp>
        <p:nvSpPr>
          <p:cNvPr id="20" name="Shape 18"/>
          <p:cNvSpPr/>
          <p:nvPr/>
        </p:nvSpPr>
        <p:spPr>
          <a:xfrm>
            <a:off x="685800" y="4718304"/>
            <a:ext cx="10881360" cy="356616"/>
          </a:xfrm>
          <a:prstGeom prst="rect">
            <a:avLst/>
          </a:prstGeom>
          <a:solidFill>
            <a:srgbClr val="F7F7F7"/>
          </a:solidFill>
          <a:ln/>
        </p:spPr>
      </p:sp>
      <p:sp>
        <p:nvSpPr>
          <p:cNvPr id="21" name="Text 19"/>
          <p:cNvSpPr txBox="1"/>
          <p:nvPr/>
        </p:nvSpPr>
        <p:spPr>
          <a:xfrm>
            <a:off x="676656" y="4718304"/>
            <a:ext cx="274320" cy="356616"/>
          </a:xfrm>
          <a:prstGeom prst="rect">
            <a:avLst/>
          </a:prstGeom>
          <a:noFill/>
          <a:ln/>
        </p:spPr>
        <p:txBody>
          <a:bodyPr wrap="square" lIns="0" tIns="0" rIns="0" bIns="0" rtlCol="0" anchor="ctr"/>
          <a:lstStyle/>
          <a:p>
            <a:pPr algn="ctr" indent="0" marL="0">
              <a:buNone/>
            </a:pPr>
            <a:r>
              <a:rPr lang="en-US" sz="1400" b="1" dirty="0">
                <a:solidFill>
                  <a:srgbClr val="A82B26"/>
                </a:solidFill>
                <a:latin typeface="Inter" pitchFamily="34" charset="0"/>
                <a:ea typeface="Inter" pitchFamily="34" charset="-122"/>
                <a:cs typeface="Inter" pitchFamily="34" charset="-120"/>
              </a:rPr>
              <a:t>31</a:t>
            </a:r>
            <a:endParaRPr lang="en-US" sz="1400" dirty="0"/>
          </a:p>
        </p:txBody>
      </p:sp>
      <p:sp>
        <p:nvSpPr>
          <p:cNvPr id="22" name="Text 20"/>
          <p:cNvSpPr txBox="1"/>
          <p:nvPr/>
        </p:nvSpPr>
        <p:spPr>
          <a:xfrm>
            <a:off x="676656" y="5074920"/>
            <a:ext cx="274320" cy="356616"/>
          </a:xfrm>
          <a:prstGeom prst="rect">
            <a:avLst/>
          </a:prstGeom>
          <a:noFill/>
          <a:ln/>
        </p:spPr>
        <p:txBody>
          <a:bodyPr wrap="square" lIns="0" tIns="0" rIns="0" bIns="0" rtlCol="0" anchor="ctr"/>
          <a:lstStyle/>
          <a:p>
            <a:pPr algn="ctr" indent="0" marL="0">
              <a:buNone/>
            </a:pPr>
            <a:r>
              <a:rPr lang="en-US" sz="1400" b="1" dirty="0">
                <a:solidFill>
                  <a:srgbClr val="A82B26"/>
                </a:solidFill>
                <a:latin typeface="Inter" pitchFamily="34" charset="0"/>
                <a:ea typeface="Inter" pitchFamily="34" charset="-122"/>
                <a:cs typeface="Inter" pitchFamily="34" charset="-120"/>
              </a:rPr>
              <a:t>32</a:t>
            </a:r>
            <a:endParaRPr lang="en-US" sz="1400" dirty="0"/>
          </a:p>
        </p:txBody>
      </p:sp>
      <p:sp>
        <p:nvSpPr>
          <p:cNvPr id="23" name="Shape 21"/>
          <p:cNvSpPr/>
          <p:nvPr/>
        </p:nvSpPr>
        <p:spPr>
          <a:xfrm>
            <a:off x="685800" y="5431536"/>
            <a:ext cx="10881360" cy="356616"/>
          </a:xfrm>
          <a:prstGeom prst="rect">
            <a:avLst/>
          </a:prstGeom>
          <a:solidFill>
            <a:srgbClr val="F7F7F7"/>
          </a:solidFill>
          <a:ln/>
        </p:spPr>
      </p:sp>
      <p:sp>
        <p:nvSpPr>
          <p:cNvPr id="24" name="Text 22"/>
          <p:cNvSpPr txBox="1"/>
          <p:nvPr/>
        </p:nvSpPr>
        <p:spPr>
          <a:xfrm>
            <a:off x="676656" y="5431536"/>
            <a:ext cx="274320" cy="356616"/>
          </a:xfrm>
          <a:prstGeom prst="rect">
            <a:avLst/>
          </a:prstGeom>
          <a:noFill/>
          <a:ln/>
        </p:spPr>
        <p:txBody>
          <a:bodyPr wrap="square" lIns="0" tIns="0" rIns="0" bIns="0" rtlCol="0" anchor="ctr"/>
          <a:lstStyle/>
          <a:p>
            <a:pPr algn="ctr" indent="0" marL="0">
              <a:buNone/>
            </a:pPr>
            <a:r>
              <a:rPr lang="en-US" sz="1400" b="1" dirty="0">
                <a:solidFill>
                  <a:srgbClr val="A82B26"/>
                </a:solidFill>
                <a:latin typeface="Inter" pitchFamily="34" charset="0"/>
                <a:ea typeface="Inter" pitchFamily="34" charset="-122"/>
                <a:cs typeface="Inter" pitchFamily="34" charset="-120"/>
              </a:rPr>
              <a:t>33</a:t>
            </a:r>
            <a:endParaRPr lang="en-US" sz="1400" dirty="0"/>
          </a:p>
        </p:txBody>
      </p:sp>
      <p:sp>
        <p:nvSpPr>
          <p:cNvPr id="25" name="Shape 23"/>
          <p:cNvSpPr/>
          <p:nvPr/>
        </p:nvSpPr>
        <p:spPr>
          <a:xfrm>
            <a:off x="969264" y="1554480"/>
            <a:ext cx="1670304" cy="45720"/>
          </a:xfrm>
          <a:prstGeom prst="rect">
            <a:avLst/>
          </a:prstGeom>
          <a:solidFill>
            <a:srgbClr val="12A566"/>
          </a:solidFill>
          <a:ln/>
        </p:spPr>
      </p:sp>
      <p:sp>
        <p:nvSpPr>
          <p:cNvPr id="26" name="Text 24"/>
          <p:cNvSpPr txBox="1"/>
          <p:nvPr/>
        </p:nvSpPr>
        <p:spPr>
          <a:xfrm>
            <a:off x="987552" y="1636776"/>
            <a:ext cx="1633728" cy="237744"/>
          </a:xfrm>
          <a:prstGeom prst="rect">
            <a:avLst/>
          </a:prstGeom>
          <a:noFill/>
          <a:ln/>
        </p:spPr>
        <p:txBody>
          <a:bodyPr wrap="square" lIns="0" tIns="0" rIns="0" bIns="0" rtlCol="0" anchor="ctr">
            <a:normAutofit/>
          </a:bodyPr>
          <a:lstStyle/>
          <a:p>
            <a:pPr indent="0" marL="0">
              <a:buNone/>
            </a:pPr>
            <a:r>
              <a:rPr lang="en-US" sz="1300" b="1" spc="30" kern="0" dirty="0">
                <a:solidFill>
                  <a:srgbClr val="595959"/>
                </a:solidFill>
                <a:latin typeface="Inter" pitchFamily="34" charset="0"/>
                <a:ea typeface="Inter" pitchFamily="34" charset="-122"/>
                <a:cs typeface="Inter" pitchFamily="34" charset="-120"/>
              </a:rPr>
              <a:t>CP GROSS</a:t>
            </a:r>
            <a:endParaRPr lang="en-US" sz="1300" dirty="0"/>
          </a:p>
        </p:txBody>
      </p:sp>
      <p:sp>
        <p:nvSpPr>
          <p:cNvPr id="27" name="Text 25"/>
          <p:cNvSpPr txBox="1"/>
          <p:nvPr/>
        </p:nvSpPr>
        <p:spPr>
          <a:xfrm>
            <a:off x="987552" y="1856232"/>
            <a:ext cx="1633728" cy="201168"/>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Group +8.4%</a:t>
            </a:r>
            <a:endParaRPr lang="en-US" sz="1300" dirty="0"/>
          </a:p>
        </p:txBody>
      </p:sp>
      <p:sp>
        <p:nvSpPr>
          <p:cNvPr id="28" name="Text 26"/>
          <p:cNvSpPr txBox="1"/>
          <p:nvPr/>
        </p:nvSpPr>
        <p:spPr>
          <a:xfrm>
            <a:off x="969264" y="2112264"/>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MAZDA</a:t>
            </a:r>
            <a:endParaRPr lang="en-US" sz="1300" dirty="0"/>
          </a:p>
        </p:txBody>
      </p:sp>
      <p:sp>
        <p:nvSpPr>
          <p:cNvPr id="29" name="Text 27"/>
          <p:cNvSpPr txBox="1"/>
          <p:nvPr/>
        </p:nvSpPr>
        <p:spPr>
          <a:xfrm>
            <a:off x="987552" y="2276856"/>
            <a:ext cx="1670304" cy="17373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+34.6%</a:t>
            </a:r>
            <a:endParaRPr lang="en-US" sz="1400" dirty="0"/>
          </a:p>
        </p:txBody>
      </p:sp>
      <p:sp>
        <p:nvSpPr>
          <p:cNvPr id="30" name="Text 28"/>
          <p:cNvSpPr txBox="1"/>
          <p:nvPr/>
        </p:nvSpPr>
        <p:spPr>
          <a:xfrm>
            <a:off x="969264" y="2468880"/>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KIA ST GEORGE</a:t>
            </a:r>
            <a:endParaRPr lang="en-US" sz="1300" dirty="0"/>
          </a:p>
        </p:txBody>
      </p:sp>
      <p:sp>
        <p:nvSpPr>
          <p:cNvPr id="31" name="Text 29"/>
          <p:cNvSpPr txBox="1"/>
          <p:nvPr/>
        </p:nvSpPr>
        <p:spPr>
          <a:xfrm>
            <a:off x="987552" y="2633472"/>
            <a:ext cx="1670304" cy="17373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+31.3%</a:t>
            </a:r>
            <a:endParaRPr lang="en-US" sz="1400" dirty="0"/>
          </a:p>
        </p:txBody>
      </p:sp>
      <p:sp>
        <p:nvSpPr>
          <p:cNvPr id="32" name="Text 30"/>
          <p:cNvSpPr txBox="1"/>
          <p:nvPr/>
        </p:nvSpPr>
        <p:spPr>
          <a:xfrm>
            <a:off x="969264" y="2825496"/>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CDJR POST FALLS</a:t>
            </a:r>
            <a:endParaRPr lang="en-US" sz="1300" dirty="0"/>
          </a:p>
        </p:txBody>
      </p:sp>
      <p:sp>
        <p:nvSpPr>
          <p:cNvPr id="33" name="Text 31"/>
          <p:cNvSpPr txBox="1"/>
          <p:nvPr/>
        </p:nvSpPr>
        <p:spPr>
          <a:xfrm>
            <a:off x="987552" y="2990088"/>
            <a:ext cx="1670304" cy="17373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+27.8%</a:t>
            </a:r>
            <a:endParaRPr lang="en-US" sz="1400" dirty="0"/>
          </a:p>
        </p:txBody>
      </p:sp>
      <p:sp>
        <p:nvSpPr>
          <p:cNvPr id="34" name="Text 32"/>
          <p:cNvSpPr txBox="1"/>
          <p:nvPr/>
        </p:nvSpPr>
        <p:spPr>
          <a:xfrm>
            <a:off x="969264" y="3182112"/>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VW ST GEORGE</a:t>
            </a:r>
            <a:endParaRPr lang="en-US" sz="1300" dirty="0"/>
          </a:p>
        </p:txBody>
      </p:sp>
      <p:sp>
        <p:nvSpPr>
          <p:cNvPr id="35" name="Text 33"/>
          <p:cNvSpPr txBox="1"/>
          <p:nvPr/>
        </p:nvSpPr>
        <p:spPr>
          <a:xfrm>
            <a:off x="987552" y="3346704"/>
            <a:ext cx="1670304" cy="17373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+23.2%</a:t>
            </a:r>
            <a:endParaRPr lang="en-US" sz="1400" dirty="0"/>
          </a:p>
        </p:txBody>
      </p:sp>
      <p:sp>
        <p:nvSpPr>
          <p:cNvPr id="36" name="Text 34"/>
          <p:cNvSpPr txBox="1"/>
          <p:nvPr/>
        </p:nvSpPr>
        <p:spPr>
          <a:xfrm>
            <a:off x="969264" y="3538728"/>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HYUNDAI PRESCOTT</a:t>
            </a:r>
            <a:endParaRPr lang="en-US" sz="1300" dirty="0"/>
          </a:p>
        </p:txBody>
      </p:sp>
      <p:sp>
        <p:nvSpPr>
          <p:cNvPr id="37" name="Text 35"/>
          <p:cNvSpPr txBox="1"/>
          <p:nvPr/>
        </p:nvSpPr>
        <p:spPr>
          <a:xfrm>
            <a:off x="987552" y="3703320"/>
            <a:ext cx="1670304" cy="17373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+22.0%</a:t>
            </a:r>
            <a:endParaRPr lang="en-US" sz="1400" dirty="0"/>
          </a:p>
        </p:txBody>
      </p:sp>
      <p:sp>
        <p:nvSpPr>
          <p:cNvPr id="38" name="Text 36"/>
          <p:cNvSpPr txBox="1"/>
          <p:nvPr/>
        </p:nvSpPr>
        <p:spPr>
          <a:xfrm>
            <a:off x="969264" y="4014216"/>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TOYOTA HENDERSON</a:t>
            </a:r>
            <a:endParaRPr lang="en-US" sz="1300" dirty="0"/>
          </a:p>
        </p:txBody>
      </p:sp>
      <p:sp>
        <p:nvSpPr>
          <p:cNvPr id="39" name="Text 37"/>
          <p:cNvSpPr txBox="1"/>
          <p:nvPr/>
        </p:nvSpPr>
        <p:spPr>
          <a:xfrm>
            <a:off x="987552" y="4178808"/>
            <a:ext cx="1670304" cy="17373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+2.4%</a:t>
            </a:r>
            <a:endParaRPr lang="en-US" sz="1400" dirty="0"/>
          </a:p>
        </p:txBody>
      </p:sp>
      <p:sp>
        <p:nvSpPr>
          <p:cNvPr id="40" name="Text 38"/>
          <p:cNvSpPr txBox="1"/>
          <p:nvPr/>
        </p:nvSpPr>
        <p:spPr>
          <a:xfrm>
            <a:off x="969264" y="4370832"/>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LINCOLN</a:t>
            </a:r>
            <a:endParaRPr lang="en-US" sz="1300" dirty="0"/>
          </a:p>
        </p:txBody>
      </p:sp>
      <p:sp>
        <p:nvSpPr>
          <p:cNvPr id="41" name="Text 39"/>
          <p:cNvSpPr txBox="1"/>
          <p:nvPr/>
        </p:nvSpPr>
        <p:spPr>
          <a:xfrm>
            <a:off x="987552" y="4535424"/>
            <a:ext cx="1670304" cy="173736"/>
          </a:xfrm>
          <a:prstGeom prst="rect">
            <a:avLst/>
          </a:prstGeom>
          <a:noFill/>
          <a:ln/>
        </p:spPr>
        <p:txBody>
          <a:bodyPr wrap="square" lIns="0" tIns="0" rIns="0" bIns="0" rtlCol="0" anchor="ctr"/>
          <a:lstStyle/>
          <a:p>
            <a:pPr indent="0" marL="0">
              <a:buNone/>
            </a:pPr>
            <a:r>
              <a:rPr lang="en-US" sz="1400" b="1" dirty="0">
                <a:solidFill>
                  <a:srgbClr val="A82B26"/>
                </a:solidFill>
                <a:latin typeface="Inter" pitchFamily="34" charset="0"/>
                <a:ea typeface="Inter" pitchFamily="34" charset="-122"/>
                <a:cs typeface="Inter" pitchFamily="34" charset="-120"/>
              </a:rPr>
              <a:t>−0.2%</a:t>
            </a:r>
            <a:endParaRPr lang="en-US" sz="1400" dirty="0"/>
          </a:p>
        </p:txBody>
      </p:sp>
      <p:sp>
        <p:nvSpPr>
          <p:cNvPr id="42" name="Text 40"/>
          <p:cNvSpPr txBox="1"/>
          <p:nvPr/>
        </p:nvSpPr>
        <p:spPr>
          <a:xfrm>
            <a:off x="969264" y="4727448"/>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SUBARU ST GEORGE</a:t>
            </a:r>
            <a:endParaRPr lang="en-US" sz="1300" dirty="0"/>
          </a:p>
        </p:txBody>
      </p:sp>
      <p:sp>
        <p:nvSpPr>
          <p:cNvPr id="43" name="Text 41"/>
          <p:cNvSpPr txBox="1"/>
          <p:nvPr/>
        </p:nvSpPr>
        <p:spPr>
          <a:xfrm>
            <a:off x="987552" y="4892040"/>
            <a:ext cx="1670304" cy="173736"/>
          </a:xfrm>
          <a:prstGeom prst="rect">
            <a:avLst/>
          </a:prstGeom>
          <a:noFill/>
          <a:ln/>
        </p:spPr>
        <p:txBody>
          <a:bodyPr wrap="square" lIns="0" tIns="0" rIns="0" bIns="0" rtlCol="0" anchor="ctr"/>
          <a:lstStyle/>
          <a:p>
            <a:pPr indent="0" marL="0">
              <a:buNone/>
            </a:pPr>
            <a:r>
              <a:rPr lang="en-US" sz="1400" b="1" dirty="0">
                <a:solidFill>
                  <a:srgbClr val="A82B26"/>
                </a:solidFill>
                <a:latin typeface="Inter" pitchFamily="34" charset="0"/>
                <a:ea typeface="Inter" pitchFamily="34" charset="-122"/>
                <a:cs typeface="Inter" pitchFamily="34" charset="-120"/>
              </a:rPr>
              <a:t>−0.9%</a:t>
            </a:r>
            <a:endParaRPr lang="en-US" sz="1400" dirty="0"/>
          </a:p>
        </p:txBody>
      </p:sp>
      <p:sp>
        <p:nvSpPr>
          <p:cNvPr id="44" name="Text 42"/>
          <p:cNvSpPr txBox="1"/>
          <p:nvPr/>
        </p:nvSpPr>
        <p:spPr>
          <a:xfrm>
            <a:off x="969264" y="5084064"/>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HONDA HENDERSON</a:t>
            </a:r>
            <a:endParaRPr lang="en-US" sz="1300" dirty="0"/>
          </a:p>
        </p:txBody>
      </p:sp>
      <p:sp>
        <p:nvSpPr>
          <p:cNvPr id="45" name="Text 43"/>
          <p:cNvSpPr txBox="1"/>
          <p:nvPr/>
        </p:nvSpPr>
        <p:spPr>
          <a:xfrm>
            <a:off x="987552" y="5248656"/>
            <a:ext cx="1670304" cy="173736"/>
          </a:xfrm>
          <a:prstGeom prst="rect">
            <a:avLst/>
          </a:prstGeom>
          <a:noFill/>
          <a:ln/>
        </p:spPr>
        <p:txBody>
          <a:bodyPr wrap="square" lIns="0" tIns="0" rIns="0" bIns="0" rtlCol="0" anchor="ctr"/>
          <a:lstStyle/>
          <a:p>
            <a:pPr indent="0" marL="0">
              <a:buNone/>
            </a:pPr>
            <a:r>
              <a:rPr lang="en-US" sz="1400" b="1" dirty="0">
                <a:solidFill>
                  <a:srgbClr val="A82B26"/>
                </a:solidFill>
                <a:latin typeface="Inter" pitchFamily="34" charset="0"/>
                <a:ea typeface="Inter" pitchFamily="34" charset="-122"/>
                <a:cs typeface="Inter" pitchFamily="34" charset="-120"/>
              </a:rPr>
              <a:t>−2.0%</a:t>
            </a:r>
            <a:endParaRPr lang="en-US" sz="1400" dirty="0"/>
          </a:p>
        </p:txBody>
      </p:sp>
      <p:sp>
        <p:nvSpPr>
          <p:cNvPr id="46" name="Text 44"/>
          <p:cNvSpPr txBox="1"/>
          <p:nvPr/>
        </p:nvSpPr>
        <p:spPr>
          <a:xfrm>
            <a:off x="969264" y="5440680"/>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CADILLAC</a:t>
            </a:r>
            <a:endParaRPr lang="en-US" sz="1300" dirty="0"/>
          </a:p>
        </p:txBody>
      </p:sp>
      <p:sp>
        <p:nvSpPr>
          <p:cNvPr id="47" name="Text 45"/>
          <p:cNvSpPr txBox="1"/>
          <p:nvPr/>
        </p:nvSpPr>
        <p:spPr>
          <a:xfrm>
            <a:off x="987552" y="5605272"/>
            <a:ext cx="1670304" cy="173736"/>
          </a:xfrm>
          <a:prstGeom prst="rect">
            <a:avLst/>
          </a:prstGeom>
          <a:noFill/>
          <a:ln/>
        </p:spPr>
        <p:txBody>
          <a:bodyPr wrap="square" lIns="0" tIns="0" rIns="0" bIns="0" rtlCol="0" anchor="ctr"/>
          <a:lstStyle/>
          <a:p>
            <a:pPr indent="0" marL="0">
              <a:buNone/>
            </a:pPr>
            <a:r>
              <a:rPr lang="en-US" sz="1400" b="1" dirty="0">
                <a:solidFill>
                  <a:srgbClr val="A82B26"/>
                </a:solidFill>
                <a:latin typeface="Inter" pitchFamily="34" charset="0"/>
                <a:ea typeface="Inter" pitchFamily="34" charset="-122"/>
                <a:cs typeface="Inter" pitchFamily="34" charset="-120"/>
              </a:rPr>
              <a:t>−10.7%</a:t>
            </a:r>
            <a:endParaRPr lang="en-US" sz="1400" dirty="0"/>
          </a:p>
        </p:txBody>
      </p:sp>
      <p:sp>
        <p:nvSpPr>
          <p:cNvPr id="48" name="Shape 46"/>
          <p:cNvSpPr/>
          <p:nvPr/>
        </p:nvSpPr>
        <p:spPr>
          <a:xfrm>
            <a:off x="2749296" y="1554480"/>
            <a:ext cx="1670304" cy="45720"/>
          </a:xfrm>
          <a:prstGeom prst="rect">
            <a:avLst/>
          </a:prstGeom>
          <a:solidFill>
            <a:srgbClr val="12A566"/>
          </a:solidFill>
          <a:ln/>
        </p:spPr>
      </p:sp>
      <p:sp>
        <p:nvSpPr>
          <p:cNvPr id="49" name="Text 47"/>
          <p:cNvSpPr txBox="1"/>
          <p:nvPr/>
        </p:nvSpPr>
        <p:spPr>
          <a:xfrm>
            <a:off x="2767584" y="1636776"/>
            <a:ext cx="1633728" cy="237744"/>
          </a:xfrm>
          <a:prstGeom prst="rect">
            <a:avLst/>
          </a:prstGeom>
          <a:noFill/>
          <a:ln/>
        </p:spPr>
        <p:txBody>
          <a:bodyPr wrap="square" lIns="0" tIns="0" rIns="0" bIns="0" rtlCol="0" anchor="ctr">
            <a:normAutofit/>
          </a:bodyPr>
          <a:lstStyle/>
          <a:p>
            <a:pPr indent="0" marL="0">
              <a:buNone/>
            </a:pPr>
            <a:r>
              <a:rPr lang="en-US" sz="1300" b="1" spc="30" kern="0" dirty="0">
                <a:solidFill>
                  <a:srgbClr val="595959"/>
                </a:solidFill>
                <a:latin typeface="Inter" pitchFamily="34" charset="0"/>
                <a:ea typeface="Inter" pitchFamily="34" charset="-122"/>
                <a:cs typeface="Inter" pitchFamily="34" charset="-120"/>
              </a:rPr>
              <a:t>CP ROS</a:t>
            </a:r>
            <a:endParaRPr lang="en-US" sz="1300" dirty="0"/>
          </a:p>
        </p:txBody>
      </p:sp>
      <p:sp>
        <p:nvSpPr>
          <p:cNvPr id="50" name="Text 48"/>
          <p:cNvSpPr txBox="1"/>
          <p:nvPr/>
        </p:nvSpPr>
        <p:spPr>
          <a:xfrm>
            <a:off x="2767584" y="1856232"/>
            <a:ext cx="1633728" cy="201168"/>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Group +7.5%</a:t>
            </a:r>
            <a:endParaRPr lang="en-US" sz="1300" dirty="0"/>
          </a:p>
        </p:txBody>
      </p:sp>
      <p:sp>
        <p:nvSpPr>
          <p:cNvPr id="51" name="Text 49"/>
          <p:cNvSpPr txBox="1"/>
          <p:nvPr/>
        </p:nvSpPr>
        <p:spPr>
          <a:xfrm>
            <a:off x="2749296" y="2112264"/>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LEXUS</a:t>
            </a:r>
            <a:endParaRPr lang="en-US" sz="1300" dirty="0"/>
          </a:p>
        </p:txBody>
      </p:sp>
      <p:sp>
        <p:nvSpPr>
          <p:cNvPr id="52" name="Text 50"/>
          <p:cNvSpPr txBox="1"/>
          <p:nvPr/>
        </p:nvSpPr>
        <p:spPr>
          <a:xfrm>
            <a:off x="2767584" y="2276856"/>
            <a:ext cx="1670304" cy="17373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+34.0%</a:t>
            </a:r>
            <a:endParaRPr lang="en-US" sz="1400" dirty="0"/>
          </a:p>
        </p:txBody>
      </p:sp>
      <p:sp>
        <p:nvSpPr>
          <p:cNvPr id="53" name="Text 51"/>
          <p:cNvSpPr txBox="1"/>
          <p:nvPr/>
        </p:nvSpPr>
        <p:spPr>
          <a:xfrm>
            <a:off x="2749296" y="2468880"/>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CDJR POST FALLS</a:t>
            </a:r>
            <a:endParaRPr lang="en-US" sz="1300" dirty="0"/>
          </a:p>
        </p:txBody>
      </p:sp>
      <p:sp>
        <p:nvSpPr>
          <p:cNvPr id="54" name="Text 52"/>
          <p:cNvSpPr txBox="1"/>
          <p:nvPr/>
        </p:nvSpPr>
        <p:spPr>
          <a:xfrm>
            <a:off x="2767584" y="2633472"/>
            <a:ext cx="1670304" cy="17373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+22.8%</a:t>
            </a:r>
            <a:endParaRPr lang="en-US" sz="1400" dirty="0"/>
          </a:p>
        </p:txBody>
      </p:sp>
      <p:sp>
        <p:nvSpPr>
          <p:cNvPr id="55" name="Text 53"/>
          <p:cNvSpPr txBox="1"/>
          <p:nvPr/>
        </p:nvSpPr>
        <p:spPr>
          <a:xfrm>
            <a:off x="2749296" y="2825496"/>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LR LV</a:t>
            </a:r>
            <a:endParaRPr lang="en-US" sz="1300" dirty="0"/>
          </a:p>
        </p:txBody>
      </p:sp>
      <p:sp>
        <p:nvSpPr>
          <p:cNvPr id="56" name="Text 54"/>
          <p:cNvSpPr txBox="1"/>
          <p:nvPr/>
        </p:nvSpPr>
        <p:spPr>
          <a:xfrm>
            <a:off x="2767584" y="2990088"/>
            <a:ext cx="1670304" cy="17373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+18.6%</a:t>
            </a:r>
            <a:endParaRPr lang="en-US" sz="1400" dirty="0"/>
          </a:p>
        </p:txBody>
      </p:sp>
      <p:sp>
        <p:nvSpPr>
          <p:cNvPr id="57" name="Text 55"/>
          <p:cNvSpPr txBox="1"/>
          <p:nvPr/>
        </p:nvSpPr>
        <p:spPr>
          <a:xfrm>
            <a:off x="2749296" y="3182112"/>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MAZDA</a:t>
            </a:r>
            <a:endParaRPr lang="en-US" sz="1300" dirty="0"/>
          </a:p>
        </p:txBody>
      </p:sp>
      <p:sp>
        <p:nvSpPr>
          <p:cNvPr id="58" name="Text 56"/>
          <p:cNvSpPr txBox="1"/>
          <p:nvPr/>
        </p:nvSpPr>
        <p:spPr>
          <a:xfrm>
            <a:off x="2767584" y="3346704"/>
            <a:ext cx="1670304" cy="17373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+15.8%</a:t>
            </a:r>
            <a:endParaRPr lang="en-US" sz="1400" dirty="0"/>
          </a:p>
        </p:txBody>
      </p:sp>
      <p:sp>
        <p:nvSpPr>
          <p:cNvPr id="59" name="Text 57"/>
          <p:cNvSpPr txBox="1"/>
          <p:nvPr/>
        </p:nvSpPr>
        <p:spPr>
          <a:xfrm>
            <a:off x="2749296" y="3538728"/>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HONDA FLAGSTAFF</a:t>
            </a:r>
            <a:endParaRPr lang="en-US" sz="1300" dirty="0"/>
          </a:p>
        </p:txBody>
      </p:sp>
      <p:sp>
        <p:nvSpPr>
          <p:cNvPr id="60" name="Text 58"/>
          <p:cNvSpPr txBox="1"/>
          <p:nvPr/>
        </p:nvSpPr>
        <p:spPr>
          <a:xfrm>
            <a:off x="2767584" y="3703320"/>
            <a:ext cx="1670304" cy="17373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+15.5%</a:t>
            </a:r>
            <a:endParaRPr lang="en-US" sz="1400" dirty="0"/>
          </a:p>
        </p:txBody>
      </p:sp>
      <p:sp>
        <p:nvSpPr>
          <p:cNvPr id="61" name="Text 59"/>
          <p:cNvSpPr txBox="1"/>
          <p:nvPr/>
        </p:nvSpPr>
        <p:spPr>
          <a:xfrm>
            <a:off x="2749296" y="4014216"/>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SUBARU PRESCOTT</a:t>
            </a:r>
            <a:endParaRPr lang="en-US" sz="1300" dirty="0"/>
          </a:p>
        </p:txBody>
      </p:sp>
      <p:sp>
        <p:nvSpPr>
          <p:cNvPr id="62" name="Text 60"/>
          <p:cNvSpPr txBox="1"/>
          <p:nvPr/>
        </p:nvSpPr>
        <p:spPr>
          <a:xfrm>
            <a:off x="2767584" y="4178808"/>
            <a:ext cx="1670304" cy="17373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+1.1%</a:t>
            </a:r>
            <a:endParaRPr lang="en-US" sz="1400" dirty="0"/>
          </a:p>
        </p:txBody>
      </p:sp>
      <p:sp>
        <p:nvSpPr>
          <p:cNvPr id="63" name="Text 61"/>
          <p:cNvSpPr txBox="1"/>
          <p:nvPr/>
        </p:nvSpPr>
        <p:spPr>
          <a:xfrm>
            <a:off x="2749296" y="4370832"/>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AUDI RENO</a:t>
            </a:r>
            <a:endParaRPr lang="en-US" sz="1300" dirty="0"/>
          </a:p>
        </p:txBody>
      </p:sp>
      <p:sp>
        <p:nvSpPr>
          <p:cNvPr id="64" name="Text 62"/>
          <p:cNvSpPr txBox="1"/>
          <p:nvPr/>
        </p:nvSpPr>
        <p:spPr>
          <a:xfrm>
            <a:off x="2767584" y="4535424"/>
            <a:ext cx="1670304" cy="17373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+0.1%</a:t>
            </a:r>
            <a:endParaRPr lang="en-US" sz="1400" dirty="0"/>
          </a:p>
        </p:txBody>
      </p:sp>
      <p:sp>
        <p:nvSpPr>
          <p:cNvPr id="65" name="Text 63"/>
          <p:cNvSpPr txBox="1"/>
          <p:nvPr/>
        </p:nvSpPr>
        <p:spPr>
          <a:xfrm>
            <a:off x="2749296" y="4727448"/>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VW ST GEORGE</a:t>
            </a:r>
            <a:endParaRPr lang="en-US" sz="1300" dirty="0"/>
          </a:p>
        </p:txBody>
      </p:sp>
      <p:sp>
        <p:nvSpPr>
          <p:cNvPr id="66" name="Text 64"/>
          <p:cNvSpPr txBox="1"/>
          <p:nvPr/>
        </p:nvSpPr>
        <p:spPr>
          <a:xfrm>
            <a:off x="2767584" y="4892040"/>
            <a:ext cx="1670304" cy="173736"/>
          </a:xfrm>
          <a:prstGeom prst="rect">
            <a:avLst/>
          </a:prstGeom>
          <a:noFill/>
          <a:ln/>
        </p:spPr>
        <p:txBody>
          <a:bodyPr wrap="square" lIns="0" tIns="0" rIns="0" bIns="0" rtlCol="0" anchor="ctr"/>
          <a:lstStyle/>
          <a:p>
            <a:pPr indent="0" marL="0">
              <a:buNone/>
            </a:pPr>
            <a:r>
              <a:rPr lang="en-US" sz="1400" b="1" dirty="0">
                <a:solidFill>
                  <a:srgbClr val="A82B26"/>
                </a:solidFill>
                <a:latin typeface="Inter" pitchFamily="34" charset="0"/>
                <a:ea typeface="Inter" pitchFamily="34" charset="-122"/>
                <a:cs typeface="Inter" pitchFamily="34" charset="-120"/>
              </a:rPr>
              <a:t>−2.0%</a:t>
            </a:r>
            <a:endParaRPr lang="en-US" sz="1400" dirty="0"/>
          </a:p>
        </p:txBody>
      </p:sp>
      <p:sp>
        <p:nvSpPr>
          <p:cNvPr id="67" name="Text 65"/>
          <p:cNvSpPr txBox="1"/>
          <p:nvPr/>
        </p:nvSpPr>
        <p:spPr>
          <a:xfrm>
            <a:off x="2749296" y="5084064"/>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68" name="Text 66"/>
          <p:cNvSpPr txBox="1"/>
          <p:nvPr/>
        </p:nvSpPr>
        <p:spPr>
          <a:xfrm>
            <a:off x="2767584" y="5248656"/>
            <a:ext cx="1670304" cy="173736"/>
          </a:xfrm>
          <a:prstGeom prst="rect">
            <a:avLst/>
          </a:prstGeom>
          <a:noFill/>
          <a:ln/>
        </p:spPr>
        <p:txBody>
          <a:bodyPr wrap="square" lIns="0" tIns="0" rIns="0" bIns="0" rtlCol="0" anchor="ctr"/>
          <a:lstStyle/>
          <a:p>
            <a:pPr indent="0" marL="0">
              <a:buNone/>
            </a:pPr>
            <a:r>
              <a:rPr lang="en-US" sz="1400" b="1" dirty="0">
                <a:solidFill>
                  <a:srgbClr val="A82B26"/>
                </a:solidFill>
                <a:latin typeface="Inter" pitchFamily="34" charset="0"/>
                <a:ea typeface="Inter" pitchFamily="34" charset="-122"/>
                <a:cs typeface="Inter" pitchFamily="34" charset="-120"/>
              </a:rPr>
              <a:t>−3.0%</a:t>
            </a:r>
            <a:endParaRPr lang="en-US" sz="1400" dirty="0"/>
          </a:p>
        </p:txBody>
      </p:sp>
      <p:sp>
        <p:nvSpPr>
          <p:cNvPr id="69" name="Text 67"/>
          <p:cNvSpPr txBox="1"/>
          <p:nvPr/>
        </p:nvSpPr>
        <p:spPr>
          <a:xfrm>
            <a:off x="2749296" y="5440680"/>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CADILLAC</a:t>
            </a:r>
            <a:endParaRPr lang="en-US" sz="1300" dirty="0"/>
          </a:p>
        </p:txBody>
      </p:sp>
      <p:sp>
        <p:nvSpPr>
          <p:cNvPr id="70" name="Text 68"/>
          <p:cNvSpPr txBox="1"/>
          <p:nvPr/>
        </p:nvSpPr>
        <p:spPr>
          <a:xfrm>
            <a:off x="2767584" y="5605272"/>
            <a:ext cx="1670304" cy="173736"/>
          </a:xfrm>
          <a:prstGeom prst="rect">
            <a:avLst/>
          </a:prstGeom>
          <a:noFill/>
          <a:ln/>
        </p:spPr>
        <p:txBody>
          <a:bodyPr wrap="square" lIns="0" tIns="0" rIns="0" bIns="0" rtlCol="0" anchor="ctr"/>
          <a:lstStyle/>
          <a:p>
            <a:pPr indent="0" marL="0">
              <a:buNone/>
            </a:pPr>
            <a:r>
              <a:rPr lang="en-US" sz="1400" b="1" dirty="0">
                <a:solidFill>
                  <a:srgbClr val="A82B26"/>
                </a:solidFill>
                <a:latin typeface="Inter" pitchFamily="34" charset="0"/>
                <a:ea typeface="Inter" pitchFamily="34" charset="-122"/>
                <a:cs typeface="Inter" pitchFamily="34" charset="-120"/>
              </a:rPr>
              <a:t>−4.3%</a:t>
            </a:r>
            <a:endParaRPr lang="en-US" sz="1400" dirty="0"/>
          </a:p>
        </p:txBody>
      </p:sp>
      <p:sp>
        <p:nvSpPr>
          <p:cNvPr id="71" name="Shape 69"/>
          <p:cNvSpPr/>
          <p:nvPr/>
        </p:nvSpPr>
        <p:spPr>
          <a:xfrm>
            <a:off x="4529328" y="1554480"/>
            <a:ext cx="1670304" cy="45720"/>
          </a:xfrm>
          <a:prstGeom prst="rect">
            <a:avLst/>
          </a:prstGeom>
          <a:solidFill>
            <a:srgbClr val="12A566"/>
          </a:solidFill>
          <a:ln/>
        </p:spPr>
      </p:sp>
      <p:sp>
        <p:nvSpPr>
          <p:cNvPr id="72" name="Text 70"/>
          <p:cNvSpPr txBox="1"/>
          <p:nvPr/>
        </p:nvSpPr>
        <p:spPr>
          <a:xfrm>
            <a:off x="4547616" y="1636776"/>
            <a:ext cx="1633728" cy="237744"/>
          </a:xfrm>
          <a:prstGeom prst="rect">
            <a:avLst/>
          </a:prstGeom>
          <a:noFill/>
          <a:ln/>
        </p:spPr>
        <p:txBody>
          <a:bodyPr wrap="square" lIns="0" tIns="0" rIns="0" bIns="0" rtlCol="0" anchor="ctr">
            <a:normAutofit/>
          </a:bodyPr>
          <a:lstStyle/>
          <a:p>
            <a:pPr indent="0" marL="0">
              <a:buNone/>
            </a:pPr>
            <a:r>
              <a:rPr lang="en-US" sz="1300" b="1" spc="30" kern="0" dirty="0">
                <a:solidFill>
                  <a:srgbClr val="595959"/>
                </a:solidFill>
                <a:latin typeface="Inter" pitchFamily="34" charset="0"/>
                <a:ea typeface="Inter" pitchFamily="34" charset="-122"/>
                <a:cs typeface="Inter" pitchFamily="34" charset="-120"/>
              </a:rPr>
              <a:t>CP HOURS PER RO</a:t>
            </a:r>
            <a:endParaRPr lang="en-US" sz="1300" dirty="0"/>
          </a:p>
        </p:txBody>
      </p:sp>
      <p:sp>
        <p:nvSpPr>
          <p:cNvPr id="73" name="Text 71"/>
          <p:cNvSpPr txBox="1"/>
          <p:nvPr/>
        </p:nvSpPr>
        <p:spPr>
          <a:xfrm>
            <a:off x="4547616" y="1856232"/>
            <a:ext cx="1633728" cy="201168"/>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Group −1.8%</a:t>
            </a:r>
            <a:endParaRPr lang="en-US" sz="1300" dirty="0"/>
          </a:p>
        </p:txBody>
      </p:sp>
      <p:sp>
        <p:nvSpPr>
          <p:cNvPr id="74" name="Text 72"/>
          <p:cNvSpPr txBox="1"/>
          <p:nvPr/>
        </p:nvSpPr>
        <p:spPr>
          <a:xfrm>
            <a:off x="4529328" y="2112264"/>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MAZDA</a:t>
            </a:r>
            <a:endParaRPr lang="en-US" sz="1300" dirty="0"/>
          </a:p>
        </p:txBody>
      </p:sp>
      <p:sp>
        <p:nvSpPr>
          <p:cNvPr id="75" name="Text 73"/>
          <p:cNvSpPr txBox="1"/>
          <p:nvPr/>
        </p:nvSpPr>
        <p:spPr>
          <a:xfrm>
            <a:off x="4547616" y="2276856"/>
            <a:ext cx="1670304" cy="17373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+22.1%</a:t>
            </a:r>
            <a:endParaRPr lang="en-US" sz="1400" dirty="0"/>
          </a:p>
        </p:txBody>
      </p:sp>
      <p:sp>
        <p:nvSpPr>
          <p:cNvPr id="76" name="Text 74"/>
          <p:cNvSpPr txBox="1"/>
          <p:nvPr/>
        </p:nvSpPr>
        <p:spPr>
          <a:xfrm>
            <a:off x="4529328" y="2468880"/>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HYUNDAI PRESCOTT</a:t>
            </a:r>
            <a:endParaRPr lang="en-US" sz="1300" dirty="0"/>
          </a:p>
        </p:txBody>
      </p:sp>
      <p:sp>
        <p:nvSpPr>
          <p:cNvPr id="77" name="Text 75"/>
          <p:cNvSpPr txBox="1"/>
          <p:nvPr/>
        </p:nvSpPr>
        <p:spPr>
          <a:xfrm>
            <a:off x="4547616" y="2633472"/>
            <a:ext cx="1670304" cy="17373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+13.1%</a:t>
            </a:r>
            <a:endParaRPr lang="en-US" sz="1400" dirty="0"/>
          </a:p>
        </p:txBody>
      </p:sp>
      <p:sp>
        <p:nvSpPr>
          <p:cNvPr id="78" name="Text 76"/>
          <p:cNvSpPr txBox="1"/>
          <p:nvPr/>
        </p:nvSpPr>
        <p:spPr>
          <a:xfrm>
            <a:off x="4529328" y="2825496"/>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79" name="Text 77"/>
          <p:cNvSpPr txBox="1"/>
          <p:nvPr/>
        </p:nvSpPr>
        <p:spPr>
          <a:xfrm>
            <a:off x="4547616" y="2990088"/>
            <a:ext cx="1670304" cy="17373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+12.2%</a:t>
            </a:r>
            <a:endParaRPr lang="en-US" sz="1400" dirty="0"/>
          </a:p>
        </p:txBody>
      </p:sp>
      <p:sp>
        <p:nvSpPr>
          <p:cNvPr id="80" name="Text 78"/>
          <p:cNvSpPr txBox="1"/>
          <p:nvPr/>
        </p:nvSpPr>
        <p:spPr>
          <a:xfrm>
            <a:off x="4529328" y="3182112"/>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KIA ST GEORGE</a:t>
            </a:r>
            <a:endParaRPr lang="en-US" sz="1300" dirty="0"/>
          </a:p>
        </p:txBody>
      </p:sp>
      <p:sp>
        <p:nvSpPr>
          <p:cNvPr id="81" name="Text 79"/>
          <p:cNvSpPr txBox="1"/>
          <p:nvPr/>
        </p:nvSpPr>
        <p:spPr>
          <a:xfrm>
            <a:off x="4547616" y="3346704"/>
            <a:ext cx="1670304" cy="17373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+11.7%</a:t>
            </a:r>
            <a:endParaRPr lang="en-US" sz="1400" dirty="0"/>
          </a:p>
        </p:txBody>
      </p:sp>
      <p:sp>
        <p:nvSpPr>
          <p:cNvPr id="82" name="Text 80"/>
          <p:cNvSpPr txBox="1"/>
          <p:nvPr/>
        </p:nvSpPr>
        <p:spPr>
          <a:xfrm>
            <a:off x="4529328" y="3538728"/>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83" name="Text 81"/>
          <p:cNvSpPr txBox="1"/>
          <p:nvPr/>
        </p:nvSpPr>
        <p:spPr>
          <a:xfrm>
            <a:off x="4547616" y="3703320"/>
            <a:ext cx="1670304" cy="17373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+8.6%</a:t>
            </a:r>
            <a:endParaRPr lang="en-US" sz="1400" dirty="0"/>
          </a:p>
        </p:txBody>
      </p:sp>
      <p:sp>
        <p:nvSpPr>
          <p:cNvPr id="84" name="Text 82"/>
          <p:cNvSpPr txBox="1"/>
          <p:nvPr/>
        </p:nvSpPr>
        <p:spPr>
          <a:xfrm>
            <a:off x="4529328" y="4014216"/>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LEXUS</a:t>
            </a:r>
            <a:endParaRPr lang="en-US" sz="1300" dirty="0"/>
          </a:p>
        </p:txBody>
      </p:sp>
      <p:sp>
        <p:nvSpPr>
          <p:cNvPr id="85" name="Text 83"/>
          <p:cNvSpPr txBox="1"/>
          <p:nvPr/>
        </p:nvSpPr>
        <p:spPr>
          <a:xfrm>
            <a:off x="4547616" y="4178808"/>
            <a:ext cx="1670304" cy="173736"/>
          </a:xfrm>
          <a:prstGeom prst="rect">
            <a:avLst/>
          </a:prstGeom>
          <a:noFill/>
          <a:ln/>
        </p:spPr>
        <p:txBody>
          <a:bodyPr wrap="square" lIns="0" tIns="0" rIns="0" bIns="0" rtlCol="0" anchor="ctr"/>
          <a:lstStyle/>
          <a:p>
            <a:pPr indent="0" marL="0">
              <a:buNone/>
            </a:pPr>
            <a:r>
              <a:rPr lang="en-US" sz="1400" b="1" dirty="0">
                <a:solidFill>
                  <a:srgbClr val="A82B26"/>
                </a:solidFill>
                <a:latin typeface="Inter" pitchFamily="34" charset="0"/>
                <a:ea typeface="Inter" pitchFamily="34" charset="-122"/>
                <a:cs typeface="Inter" pitchFamily="34" charset="-120"/>
              </a:rPr>
              <a:t>−7.2%</a:t>
            </a:r>
            <a:endParaRPr lang="en-US" sz="1400" dirty="0"/>
          </a:p>
        </p:txBody>
      </p:sp>
      <p:sp>
        <p:nvSpPr>
          <p:cNvPr id="86" name="Text 84"/>
          <p:cNvSpPr txBox="1"/>
          <p:nvPr/>
        </p:nvSpPr>
        <p:spPr>
          <a:xfrm>
            <a:off x="4529328" y="4370832"/>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SUBARU ST GEORGE</a:t>
            </a:r>
            <a:endParaRPr lang="en-US" sz="1300" dirty="0"/>
          </a:p>
        </p:txBody>
      </p:sp>
      <p:sp>
        <p:nvSpPr>
          <p:cNvPr id="87" name="Text 85"/>
          <p:cNvSpPr txBox="1"/>
          <p:nvPr/>
        </p:nvSpPr>
        <p:spPr>
          <a:xfrm>
            <a:off x="4547616" y="4535424"/>
            <a:ext cx="1670304" cy="173736"/>
          </a:xfrm>
          <a:prstGeom prst="rect">
            <a:avLst/>
          </a:prstGeom>
          <a:noFill/>
          <a:ln/>
        </p:spPr>
        <p:txBody>
          <a:bodyPr wrap="square" lIns="0" tIns="0" rIns="0" bIns="0" rtlCol="0" anchor="ctr"/>
          <a:lstStyle/>
          <a:p>
            <a:pPr indent="0" marL="0">
              <a:buNone/>
            </a:pPr>
            <a:r>
              <a:rPr lang="en-US" sz="1400" b="1" dirty="0">
                <a:solidFill>
                  <a:srgbClr val="A82B26"/>
                </a:solidFill>
                <a:latin typeface="Inter" pitchFamily="34" charset="0"/>
                <a:ea typeface="Inter" pitchFamily="34" charset="-122"/>
                <a:cs typeface="Inter" pitchFamily="34" charset="-120"/>
              </a:rPr>
              <a:t>−9.5%</a:t>
            </a:r>
            <a:endParaRPr lang="en-US" sz="1400" dirty="0"/>
          </a:p>
        </p:txBody>
      </p:sp>
      <p:sp>
        <p:nvSpPr>
          <p:cNvPr id="88" name="Text 86"/>
          <p:cNvSpPr txBox="1"/>
          <p:nvPr/>
        </p:nvSpPr>
        <p:spPr>
          <a:xfrm>
            <a:off x="4529328" y="4727448"/>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HONDA HENDERSON</a:t>
            </a:r>
            <a:endParaRPr lang="en-US" sz="1300" dirty="0"/>
          </a:p>
        </p:txBody>
      </p:sp>
      <p:sp>
        <p:nvSpPr>
          <p:cNvPr id="89" name="Text 87"/>
          <p:cNvSpPr txBox="1"/>
          <p:nvPr/>
        </p:nvSpPr>
        <p:spPr>
          <a:xfrm>
            <a:off x="4547616" y="4892040"/>
            <a:ext cx="1670304" cy="173736"/>
          </a:xfrm>
          <a:prstGeom prst="rect">
            <a:avLst/>
          </a:prstGeom>
          <a:noFill/>
          <a:ln/>
        </p:spPr>
        <p:txBody>
          <a:bodyPr wrap="square" lIns="0" tIns="0" rIns="0" bIns="0" rtlCol="0" anchor="ctr"/>
          <a:lstStyle/>
          <a:p>
            <a:pPr indent="0" marL="0">
              <a:buNone/>
            </a:pPr>
            <a:r>
              <a:rPr lang="en-US" sz="1400" b="1" dirty="0">
                <a:solidFill>
                  <a:srgbClr val="A82B26"/>
                </a:solidFill>
                <a:latin typeface="Inter" pitchFamily="34" charset="0"/>
                <a:ea typeface="Inter" pitchFamily="34" charset="-122"/>
                <a:cs typeface="Inter" pitchFamily="34" charset="-120"/>
              </a:rPr>
              <a:t>−9.9%</a:t>
            </a:r>
            <a:endParaRPr lang="en-US" sz="1400" dirty="0"/>
          </a:p>
        </p:txBody>
      </p:sp>
      <p:sp>
        <p:nvSpPr>
          <p:cNvPr id="90" name="Text 88"/>
          <p:cNvSpPr txBox="1"/>
          <p:nvPr/>
        </p:nvSpPr>
        <p:spPr>
          <a:xfrm>
            <a:off x="4529328" y="5084064"/>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VW HENDERSON</a:t>
            </a:r>
            <a:endParaRPr lang="en-US" sz="1300" dirty="0"/>
          </a:p>
        </p:txBody>
      </p:sp>
      <p:sp>
        <p:nvSpPr>
          <p:cNvPr id="91" name="Text 89"/>
          <p:cNvSpPr txBox="1"/>
          <p:nvPr/>
        </p:nvSpPr>
        <p:spPr>
          <a:xfrm>
            <a:off x="4547616" y="5248656"/>
            <a:ext cx="1670304" cy="173736"/>
          </a:xfrm>
          <a:prstGeom prst="rect">
            <a:avLst/>
          </a:prstGeom>
          <a:noFill/>
          <a:ln/>
        </p:spPr>
        <p:txBody>
          <a:bodyPr wrap="square" lIns="0" tIns="0" rIns="0" bIns="0" rtlCol="0" anchor="ctr"/>
          <a:lstStyle/>
          <a:p>
            <a:pPr indent="0" marL="0">
              <a:buNone/>
            </a:pPr>
            <a:r>
              <a:rPr lang="en-US" sz="1400" b="1" dirty="0">
                <a:solidFill>
                  <a:srgbClr val="A82B26"/>
                </a:solidFill>
                <a:latin typeface="Inter" pitchFamily="34" charset="0"/>
                <a:ea typeface="Inter" pitchFamily="34" charset="-122"/>
                <a:cs typeface="Inter" pitchFamily="34" charset="-120"/>
              </a:rPr>
              <a:t>−10.6%</a:t>
            </a:r>
            <a:endParaRPr lang="en-US" sz="1400" dirty="0"/>
          </a:p>
        </p:txBody>
      </p:sp>
      <p:sp>
        <p:nvSpPr>
          <p:cNvPr id="92" name="Text 90"/>
          <p:cNvSpPr txBox="1"/>
          <p:nvPr/>
        </p:nvSpPr>
        <p:spPr>
          <a:xfrm>
            <a:off x="4529328" y="5440680"/>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CADILLAC</a:t>
            </a:r>
            <a:endParaRPr lang="en-US" sz="1300" dirty="0"/>
          </a:p>
        </p:txBody>
      </p:sp>
      <p:sp>
        <p:nvSpPr>
          <p:cNvPr id="93" name="Text 91"/>
          <p:cNvSpPr txBox="1"/>
          <p:nvPr/>
        </p:nvSpPr>
        <p:spPr>
          <a:xfrm>
            <a:off x="4547616" y="5605272"/>
            <a:ext cx="1670304" cy="173736"/>
          </a:xfrm>
          <a:prstGeom prst="rect">
            <a:avLst/>
          </a:prstGeom>
          <a:noFill/>
          <a:ln/>
        </p:spPr>
        <p:txBody>
          <a:bodyPr wrap="square" lIns="0" tIns="0" rIns="0" bIns="0" rtlCol="0" anchor="ctr"/>
          <a:lstStyle/>
          <a:p>
            <a:pPr indent="0" marL="0">
              <a:buNone/>
            </a:pPr>
            <a:r>
              <a:rPr lang="en-US" sz="1400" b="1" dirty="0">
                <a:solidFill>
                  <a:srgbClr val="A82B26"/>
                </a:solidFill>
                <a:latin typeface="Inter" pitchFamily="34" charset="0"/>
                <a:ea typeface="Inter" pitchFamily="34" charset="-122"/>
                <a:cs typeface="Inter" pitchFamily="34" charset="-120"/>
              </a:rPr>
              <a:t>−14.0%</a:t>
            </a:r>
            <a:endParaRPr lang="en-US" sz="1400" dirty="0"/>
          </a:p>
        </p:txBody>
      </p:sp>
      <p:sp>
        <p:nvSpPr>
          <p:cNvPr id="94" name="Shape 92"/>
          <p:cNvSpPr/>
          <p:nvPr/>
        </p:nvSpPr>
        <p:spPr>
          <a:xfrm>
            <a:off x="6309360" y="1554480"/>
            <a:ext cx="1670304" cy="45720"/>
          </a:xfrm>
          <a:prstGeom prst="rect">
            <a:avLst/>
          </a:prstGeom>
          <a:solidFill>
            <a:srgbClr val="12A566"/>
          </a:solidFill>
          <a:ln/>
        </p:spPr>
      </p:sp>
      <p:sp>
        <p:nvSpPr>
          <p:cNvPr id="95" name="Text 93"/>
          <p:cNvSpPr txBox="1"/>
          <p:nvPr/>
        </p:nvSpPr>
        <p:spPr>
          <a:xfrm>
            <a:off x="6327648" y="1636776"/>
            <a:ext cx="1633728" cy="237744"/>
          </a:xfrm>
          <a:prstGeom prst="rect">
            <a:avLst/>
          </a:prstGeom>
          <a:noFill/>
          <a:ln/>
        </p:spPr>
        <p:txBody>
          <a:bodyPr wrap="square" lIns="0" tIns="0" rIns="0" bIns="0" rtlCol="0" anchor="ctr">
            <a:normAutofit/>
          </a:bodyPr>
          <a:lstStyle/>
          <a:p>
            <a:pPr indent="0" marL="0">
              <a:buNone/>
            </a:pPr>
            <a:r>
              <a:rPr lang="en-US" sz="1300" b="1" spc="30" kern="0" dirty="0">
                <a:solidFill>
                  <a:srgbClr val="595959"/>
                </a:solidFill>
                <a:latin typeface="Inter" pitchFamily="34" charset="0"/>
                <a:ea typeface="Inter" pitchFamily="34" charset="-122"/>
                <a:cs typeface="Inter" pitchFamily="34" charset="-120"/>
              </a:rPr>
              <a:t>CP ELR</a:t>
            </a:r>
            <a:endParaRPr lang="en-US" sz="1300" dirty="0"/>
          </a:p>
        </p:txBody>
      </p:sp>
      <p:sp>
        <p:nvSpPr>
          <p:cNvPr id="96" name="Text 94"/>
          <p:cNvSpPr txBox="1"/>
          <p:nvPr/>
        </p:nvSpPr>
        <p:spPr>
          <a:xfrm>
            <a:off x="6327648" y="1856232"/>
            <a:ext cx="1633728" cy="201168"/>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Group +1.1%</a:t>
            </a:r>
            <a:endParaRPr lang="en-US" sz="1300" dirty="0"/>
          </a:p>
        </p:txBody>
      </p:sp>
      <p:sp>
        <p:nvSpPr>
          <p:cNvPr id="97" name="Text 95"/>
          <p:cNvSpPr txBox="1"/>
          <p:nvPr/>
        </p:nvSpPr>
        <p:spPr>
          <a:xfrm>
            <a:off x="6309360" y="2112264"/>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VW ST GEORGE</a:t>
            </a:r>
            <a:endParaRPr lang="en-US" sz="1300" dirty="0"/>
          </a:p>
        </p:txBody>
      </p:sp>
      <p:sp>
        <p:nvSpPr>
          <p:cNvPr id="98" name="Text 96"/>
          <p:cNvSpPr txBox="1"/>
          <p:nvPr/>
        </p:nvSpPr>
        <p:spPr>
          <a:xfrm>
            <a:off x="6327648" y="2276856"/>
            <a:ext cx="1670304" cy="17373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+10.6%</a:t>
            </a:r>
            <a:endParaRPr lang="en-US" sz="1400" dirty="0"/>
          </a:p>
        </p:txBody>
      </p:sp>
      <p:sp>
        <p:nvSpPr>
          <p:cNvPr id="99" name="Text 97"/>
          <p:cNvSpPr txBox="1"/>
          <p:nvPr/>
        </p:nvSpPr>
        <p:spPr>
          <a:xfrm>
            <a:off x="6309360" y="2468880"/>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AUDI RENO</a:t>
            </a:r>
            <a:endParaRPr lang="en-US" sz="1300" dirty="0"/>
          </a:p>
        </p:txBody>
      </p:sp>
      <p:sp>
        <p:nvSpPr>
          <p:cNvPr id="100" name="Text 98"/>
          <p:cNvSpPr txBox="1"/>
          <p:nvPr/>
        </p:nvSpPr>
        <p:spPr>
          <a:xfrm>
            <a:off x="6327648" y="2633472"/>
            <a:ext cx="1670304" cy="17373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+7.3%</a:t>
            </a:r>
            <a:endParaRPr lang="en-US" sz="1400" dirty="0"/>
          </a:p>
        </p:txBody>
      </p:sp>
      <p:sp>
        <p:nvSpPr>
          <p:cNvPr id="101" name="Text 99"/>
          <p:cNvSpPr txBox="1"/>
          <p:nvPr/>
        </p:nvSpPr>
        <p:spPr>
          <a:xfrm>
            <a:off x="6309360" y="2825496"/>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HONDA SPOKANE</a:t>
            </a:r>
            <a:endParaRPr lang="en-US" sz="1300" dirty="0"/>
          </a:p>
        </p:txBody>
      </p:sp>
      <p:sp>
        <p:nvSpPr>
          <p:cNvPr id="102" name="Text 100"/>
          <p:cNvSpPr txBox="1"/>
          <p:nvPr/>
        </p:nvSpPr>
        <p:spPr>
          <a:xfrm>
            <a:off x="6327648" y="2990088"/>
            <a:ext cx="1670304" cy="17373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+6.1%</a:t>
            </a:r>
            <a:endParaRPr lang="en-US" sz="1400" dirty="0"/>
          </a:p>
        </p:txBody>
      </p:sp>
      <p:sp>
        <p:nvSpPr>
          <p:cNvPr id="103" name="Text 101"/>
          <p:cNvSpPr txBox="1"/>
          <p:nvPr/>
        </p:nvSpPr>
        <p:spPr>
          <a:xfrm>
            <a:off x="6309360" y="3182112"/>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KIA LV</a:t>
            </a:r>
            <a:endParaRPr lang="en-US" sz="1300" dirty="0"/>
          </a:p>
        </p:txBody>
      </p:sp>
      <p:sp>
        <p:nvSpPr>
          <p:cNvPr id="104" name="Text 102"/>
          <p:cNvSpPr txBox="1"/>
          <p:nvPr/>
        </p:nvSpPr>
        <p:spPr>
          <a:xfrm>
            <a:off x="6327648" y="3346704"/>
            <a:ext cx="1670304" cy="17373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+5.7%</a:t>
            </a:r>
            <a:endParaRPr lang="en-US" sz="1400" dirty="0"/>
          </a:p>
        </p:txBody>
      </p:sp>
      <p:sp>
        <p:nvSpPr>
          <p:cNvPr id="105" name="Text 103"/>
          <p:cNvSpPr txBox="1"/>
          <p:nvPr/>
        </p:nvSpPr>
        <p:spPr>
          <a:xfrm>
            <a:off x="6309360" y="3538728"/>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KIA ST GEORGE</a:t>
            </a:r>
            <a:endParaRPr lang="en-US" sz="1300" dirty="0"/>
          </a:p>
        </p:txBody>
      </p:sp>
      <p:sp>
        <p:nvSpPr>
          <p:cNvPr id="106" name="Text 104"/>
          <p:cNvSpPr txBox="1"/>
          <p:nvPr/>
        </p:nvSpPr>
        <p:spPr>
          <a:xfrm>
            <a:off x="6327648" y="3703320"/>
            <a:ext cx="1670304" cy="17373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+5.0%</a:t>
            </a:r>
            <a:endParaRPr lang="en-US" sz="1400" dirty="0"/>
          </a:p>
        </p:txBody>
      </p:sp>
      <p:sp>
        <p:nvSpPr>
          <p:cNvPr id="107" name="Text 105"/>
          <p:cNvSpPr txBox="1"/>
          <p:nvPr/>
        </p:nvSpPr>
        <p:spPr>
          <a:xfrm>
            <a:off x="6309360" y="4014216"/>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LR LV</a:t>
            </a:r>
            <a:endParaRPr lang="en-US" sz="1300" dirty="0"/>
          </a:p>
        </p:txBody>
      </p:sp>
      <p:sp>
        <p:nvSpPr>
          <p:cNvPr id="108" name="Text 106"/>
          <p:cNvSpPr txBox="1"/>
          <p:nvPr/>
        </p:nvSpPr>
        <p:spPr>
          <a:xfrm>
            <a:off x="6327648" y="4178808"/>
            <a:ext cx="1670304" cy="173736"/>
          </a:xfrm>
          <a:prstGeom prst="rect">
            <a:avLst/>
          </a:prstGeom>
          <a:noFill/>
          <a:ln/>
        </p:spPr>
        <p:txBody>
          <a:bodyPr wrap="square" lIns="0" tIns="0" rIns="0" bIns="0" rtlCol="0" anchor="ctr"/>
          <a:lstStyle/>
          <a:p>
            <a:pPr indent="0" marL="0">
              <a:buNone/>
            </a:pPr>
            <a:r>
              <a:rPr lang="en-US" sz="1400" b="1" dirty="0">
                <a:solidFill>
                  <a:srgbClr val="A82B26"/>
                </a:solidFill>
                <a:latin typeface="Inter" pitchFamily="34" charset="0"/>
                <a:ea typeface="Inter" pitchFamily="34" charset="-122"/>
                <a:cs typeface="Inter" pitchFamily="34" charset="-120"/>
              </a:rPr>
              <a:t>−2.0%</a:t>
            </a:r>
            <a:endParaRPr lang="en-US" sz="1400" dirty="0"/>
          </a:p>
        </p:txBody>
      </p:sp>
      <p:sp>
        <p:nvSpPr>
          <p:cNvPr id="109" name="Text 107"/>
          <p:cNvSpPr txBox="1"/>
          <p:nvPr/>
        </p:nvSpPr>
        <p:spPr>
          <a:xfrm>
            <a:off x="6309360" y="4370832"/>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HONDA FLAGSTAFF</a:t>
            </a:r>
            <a:endParaRPr lang="en-US" sz="1300" dirty="0"/>
          </a:p>
        </p:txBody>
      </p:sp>
      <p:sp>
        <p:nvSpPr>
          <p:cNvPr id="110" name="Text 108"/>
          <p:cNvSpPr txBox="1"/>
          <p:nvPr/>
        </p:nvSpPr>
        <p:spPr>
          <a:xfrm>
            <a:off x="6327648" y="4535424"/>
            <a:ext cx="1670304" cy="173736"/>
          </a:xfrm>
          <a:prstGeom prst="rect">
            <a:avLst/>
          </a:prstGeom>
          <a:noFill/>
          <a:ln/>
        </p:spPr>
        <p:txBody>
          <a:bodyPr wrap="square" lIns="0" tIns="0" rIns="0" bIns="0" rtlCol="0" anchor="ctr"/>
          <a:lstStyle/>
          <a:p>
            <a:pPr indent="0" marL="0">
              <a:buNone/>
            </a:pPr>
            <a:r>
              <a:rPr lang="en-US" sz="1400" b="1" dirty="0">
                <a:solidFill>
                  <a:srgbClr val="A82B26"/>
                </a:solidFill>
                <a:latin typeface="Inter" pitchFamily="34" charset="0"/>
                <a:ea typeface="Inter" pitchFamily="34" charset="-122"/>
                <a:cs typeface="Inter" pitchFamily="34" charset="-120"/>
              </a:rPr>
              <a:t>−3.0%</a:t>
            </a:r>
            <a:endParaRPr lang="en-US" sz="1400" dirty="0"/>
          </a:p>
        </p:txBody>
      </p:sp>
      <p:sp>
        <p:nvSpPr>
          <p:cNvPr id="111" name="Text 109"/>
          <p:cNvSpPr txBox="1"/>
          <p:nvPr/>
        </p:nvSpPr>
        <p:spPr>
          <a:xfrm>
            <a:off x="6309360" y="4727448"/>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SUBARU ST GEORGE</a:t>
            </a:r>
            <a:endParaRPr lang="en-US" sz="1300" dirty="0"/>
          </a:p>
        </p:txBody>
      </p:sp>
      <p:sp>
        <p:nvSpPr>
          <p:cNvPr id="112" name="Text 110"/>
          <p:cNvSpPr txBox="1"/>
          <p:nvPr/>
        </p:nvSpPr>
        <p:spPr>
          <a:xfrm>
            <a:off x="6327648" y="4892040"/>
            <a:ext cx="1670304" cy="173736"/>
          </a:xfrm>
          <a:prstGeom prst="rect">
            <a:avLst/>
          </a:prstGeom>
          <a:noFill/>
          <a:ln/>
        </p:spPr>
        <p:txBody>
          <a:bodyPr wrap="square" lIns="0" tIns="0" rIns="0" bIns="0" rtlCol="0" anchor="ctr"/>
          <a:lstStyle/>
          <a:p>
            <a:pPr indent="0" marL="0">
              <a:buNone/>
            </a:pPr>
            <a:r>
              <a:rPr lang="en-US" sz="1400" b="1" dirty="0">
                <a:solidFill>
                  <a:srgbClr val="A82B26"/>
                </a:solidFill>
                <a:latin typeface="Inter" pitchFamily="34" charset="0"/>
                <a:ea typeface="Inter" pitchFamily="34" charset="-122"/>
                <a:cs typeface="Inter" pitchFamily="34" charset="-120"/>
              </a:rPr>
              <a:t>−3.0%</a:t>
            </a:r>
            <a:endParaRPr lang="en-US" sz="1400" dirty="0"/>
          </a:p>
        </p:txBody>
      </p:sp>
      <p:sp>
        <p:nvSpPr>
          <p:cNvPr id="113" name="Text 111"/>
          <p:cNvSpPr txBox="1"/>
          <p:nvPr/>
        </p:nvSpPr>
        <p:spPr>
          <a:xfrm>
            <a:off x="6309360" y="5084064"/>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LEXUS</a:t>
            </a:r>
            <a:endParaRPr lang="en-US" sz="1300" dirty="0"/>
          </a:p>
        </p:txBody>
      </p:sp>
      <p:sp>
        <p:nvSpPr>
          <p:cNvPr id="114" name="Text 112"/>
          <p:cNvSpPr txBox="1"/>
          <p:nvPr/>
        </p:nvSpPr>
        <p:spPr>
          <a:xfrm>
            <a:off x="6327648" y="5248656"/>
            <a:ext cx="1670304" cy="173736"/>
          </a:xfrm>
          <a:prstGeom prst="rect">
            <a:avLst/>
          </a:prstGeom>
          <a:noFill/>
          <a:ln/>
        </p:spPr>
        <p:txBody>
          <a:bodyPr wrap="square" lIns="0" tIns="0" rIns="0" bIns="0" rtlCol="0" anchor="ctr"/>
          <a:lstStyle/>
          <a:p>
            <a:pPr indent="0" marL="0">
              <a:buNone/>
            </a:pPr>
            <a:r>
              <a:rPr lang="en-US" sz="1400" b="1" dirty="0">
                <a:solidFill>
                  <a:srgbClr val="A82B26"/>
                </a:solidFill>
                <a:latin typeface="Inter" pitchFamily="34" charset="0"/>
                <a:ea typeface="Inter" pitchFamily="34" charset="-122"/>
                <a:cs typeface="Inter" pitchFamily="34" charset="-120"/>
              </a:rPr>
              <a:t>−4.7%</a:t>
            </a:r>
            <a:endParaRPr lang="en-US" sz="1400" dirty="0"/>
          </a:p>
        </p:txBody>
      </p:sp>
      <p:sp>
        <p:nvSpPr>
          <p:cNvPr id="115" name="Text 113"/>
          <p:cNvSpPr txBox="1"/>
          <p:nvPr/>
        </p:nvSpPr>
        <p:spPr>
          <a:xfrm>
            <a:off x="6309360" y="5440680"/>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ACURA</a:t>
            </a:r>
            <a:endParaRPr lang="en-US" sz="1300" dirty="0"/>
          </a:p>
        </p:txBody>
      </p:sp>
      <p:sp>
        <p:nvSpPr>
          <p:cNvPr id="116" name="Text 114"/>
          <p:cNvSpPr txBox="1"/>
          <p:nvPr/>
        </p:nvSpPr>
        <p:spPr>
          <a:xfrm>
            <a:off x="6327648" y="5605272"/>
            <a:ext cx="1670304" cy="173736"/>
          </a:xfrm>
          <a:prstGeom prst="rect">
            <a:avLst/>
          </a:prstGeom>
          <a:noFill/>
          <a:ln/>
        </p:spPr>
        <p:txBody>
          <a:bodyPr wrap="square" lIns="0" tIns="0" rIns="0" bIns="0" rtlCol="0" anchor="ctr"/>
          <a:lstStyle/>
          <a:p>
            <a:pPr indent="0" marL="0">
              <a:buNone/>
            </a:pPr>
            <a:r>
              <a:rPr lang="en-US" sz="1400" b="1" dirty="0">
                <a:solidFill>
                  <a:srgbClr val="A82B26"/>
                </a:solidFill>
                <a:latin typeface="Inter" pitchFamily="34" charset="0"/>
                <a:ea typeface="Inter" pitchFamily="34" charset="-122"/>
                <a:cs typeface="Inter" pitchFamily="34" charset="-120"/>
              </a:rPr>
              <a:t>−14.2%</a:t>
            </a:r>
            <a:endParaRPr lang="en-US" sz="1400" dirty="0"/>
          </a:p>
        </p:txBody>
      </p:sp>
      <p:sp>
        <p:nvSpPr>
          <p:cNvPr id="117" name="Shape 115"/>
          <p:cNvSpPr/>
          <p:nvPr/>
        </p:nvSpPr>
        <p:spPr>
          <a:xfrm>
            <a:off x="8089392" y="1554480"/>
            <a:ext cx="1670304" cy="45720"/>
          </a:xfrm>
          <a:prstGeom prst="rect">
            <a:avLst/>
          </a:prstGeom>
          <a:solidFill>
            <a:srgbClr val="12A566"/>
          </a:solidFill>
          <a:ln/>
        </p:spPr>
      </p:sp>
      <p:sp>
        <p:nvSpPr>
          <p:cNvPr id="118" name="Text 116"/>
          <p:cNvSpPr txBox="1"/>
          <p:nvPr/>
        </p:nvSpPr>
        <p:spPr>
          <a:xfrm>
            <a:off x="8107680" y="1636776"/>
            <a:ext cx="1633728" cy="237744"/>
          </a:xfrm>
          <a:prstGeom prst="rect">
            <a:avLst/>
          </a:prstGeom>
          <a:noFill/>
          <a:ln/>
        </p:spPr>
        <p:txBody>
          <a:bodyPr wrap="square" lIns="0" tIns="0" rIns="0" bIns="0" rtlCol="0" anchor="ctr">
            <a:normAutofit/>
          </a:bodyPr>
          <a:lstStyle/>
          <a:p>
            <a:pPr indent="0" marL="0">
              <a:buNone/>
            </a:pPr>
            <a:r>
              <a:rPr lang="en-US" sz="1300" b="1" spc="30" kern="0" dirty="0">
                <a:solidFill>
                  <a:srgbClr val="595959"/>
                </a:solidFill>
                <a:latin typeface="Inter" pitchFamily="34" charset="0"/>
                <a:ea typeface="Inter" pitchFamily="34" charset="-122"/>
                <a:cs typeface="Inter" pitchFamily="34" charset="-120"/>
              </a:rPr>
              <a:t>CP PARTS $ PER RO</a:t>
            </a:r>
            <a:endParaRPr lang="en-US" sz="1300" dirty="0"/>
          </a:p>
        </p:txBody>
      </p:sp>
      <p:sp>
        <p:nvSpPr>
          <p:cNvPr id="119" name="Text 117"/>
          <p:cNvSpPr txBox="1"/>
          <p:nvPr/>
        </p:nvSpPr>
        <p:spPr>
          <a:xfrm>
            <a:off x="8107680" y="1856232"/>
            <a:ext cx="1633728" cy="201168"/>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Group +5.1%</a:t>
            </a:r>
            <a:endParaRPr lang="en-US" sz="1300" dirty="0"/>
          </a:p>
        </p:txBody>
      </p:sp>
      <p:sp>
        <p:nvSpPr>
          <p:cNvPr id="120" name="Text 118"/>
          <p:cNvSpPr txBox="1"/>
          <p:nvPr/>
        </p:nvSpPr>
        <p:spPr>
          <a:xfrm>
            <a:off x="8089392" y="2112264"/>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VW ST GEORGE</a:t>
            </a:r>
            <a:endParaRPr lang="en-US" sz="1300" dirty="0"/>
          </a:p>
        </p:txBody>
      </p:sp>
      <p:sp>
        <p:nvSpPr>
          <p:cNvPr id="121" name="Text 119"/>
          <p:cNvSpPr txBox="1"/>
          <p:nvPr/>
        </p:nvSpPr>
        <p:spPr>
          <a:xfrm>
            <a:off x="8107680" y="2276856"/>
            <a:ext cx="1670304" cy="17373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+32.9%</a:t>
            </a:r>
            <a:endParaRPr lang="en-US" sz="1400" dirty="0"/>
          </a:p>
        </p:txBody>
      </p:sp>
      <p:sp>
        <p:nvSpPr>
          <p:cNvPr id="122" name="Text 120"/>
          <p:cNvSpPr txBox="1"/>
          <p:nvPr/>
        </p:nvSpPr>
        <p:spPr>
          <a:xfrm>
            <a:off x="8089392" y="2468880"/>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LR RENO</a:t>
            </a:r>
            <a:endParaRPr lang="en-US" sz="1300" dirty="0"/>
          </a:p>
        </p:txBody>
      </p:sp>
      <p:sp>
        <p:nvSpPr>
          <p:cNvPr id="123" name="Text 121"/>
          <p:cNvSpPr txBox="1"/>
          <p:nvPr/>
        </p:nvSpPr>
        <p:spPr>
          <a:xfrm>
            <a:off x="8107680" y="2633472"/>
            <a:ext cx="1670304" cy="17373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+26.6%</a:t>
            </a:r>
            <a:endParaRPr lang="en-US" sz="1400" dirty="0"/>
          </a:p>
        </p:txBody>
      </p:sp>
      <p:sp>
        <p:nvSpPr>
          <p:cNvPr id="124" name="Text 122"/>
          <p:cNvSpPr txBox="1"/>
          <p:nvPr/>
        </p:nvSpPr>
        <p:spPr>
          <a:xfrm>
            <a:off x="8089392" y="2825496"/>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ACURA</a:t>
            </a:r>
            <a:endParaRPr lang="en-US" sz="1300" dirty="0"/>
          </a:p>
        </p:txBody>
      </p:sp>
      <p:sp>
        <p:nvSpPr>
          <p:cNvPr id="125" name="Text 123"/>
          <p:cNvSpPr txBox="1"/>
          <p:nvPr/>
        </p:nvSpPr>
        <p:spPr>
          <a:xfrm>
            <a:off x="8107680" y="2990088"/>
            <a:ext cx="1670304" cy="17373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+22.9%</a:t>
            </a:r>
            <a:endParaRPr lang="en-US" sz="1400" dirty="0"/>
          </a:p>
        </p:txBody>
      </p:sp>
      <p:sp>
        <p:nvSpPr>
          <p:cNvPr id="126" name="Text 124"/>
          <p:cNvSpPr txBox="1"/>
          <p:nvPr/>
        </p:nvSpPr>
        <p:spPr>
          <a:xfrm>
            <a:off x="8089392" y="3182112"/>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HONDA FLAGSTAFF</a:t>
            </a:r>
            <a:endParaRPr lang="en-US" sz="1300" dirty="0"/>
          </a:p>
        </p:txBody>
      </p:sp>
      <p:sp>
        <p:nvSpPr>
          <p:cNvPr id="127" name="Text 125"/>
          <p:cNvSpPr txBox="1"/>
          <p:nvPr/>
        </p:nvSpPr>
        <p:spPr>
          <a:xfrm>
            <a:off x="8107680" y="3346704"/>
            <a:ext cx="1670304" cy="17373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+16.9%</a:t>
            </a:r>
            <a:endParaRPr lang="en-US" sz="1400" dirty="0"/>
          </a:p>
        </p:txBody>
      </p:sp>
      <p:sp>
        <p:nvSpPr>
          <p:cNvPr id="128" name="Text 126"/>
          <p:cNvSpPr txBox="1"/>
          <p:nvPr/>
        </p:nvSpPr>
        <p:spPr>
          <a:xfrm>
            <a:off x="8089392" y="3538728"/>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129" name="Text 127"/>
          <p:cNvSpPr txBox="1"/>
          <p:nvPr/>
        </p:nvSpPr>
        <p:spPr>
          <a:xfrm>
            <a:off x="8107680" y="3703320"/>
            <a:ext cx="1670304" cy="17373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+15.0%</a:t>
            </a:r>
            <a:endParaRPr lang="en-US" sz="1400" dirty="0"/>
          </a:p>
        </p:txBody>
      </p:sp>
      <p:sp>
        <p:nvSpPr>
          <p:cNvPr id="130" name="Text 128"/>
          <p:cNvSpPr txBox="1"/>
          <p:nvPr/>
        </p:nvSpPr>
        <p:spPr>
          <a:xfrm>
            <a:off x="8089392" y="4014216"/>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SUBARU ST GEORGE</a:t>
            </a:r>
            <a:endParaRPr lang="en-US" sz="1300" dirty="0"/>
          </a:p>
        </p:txBody>
      </p:sp>
      <p:sp>
        <p:nvSpPr>
          <p:cNvPr id="131" name="Text 129"/>
          <p:cNvSpPr txBox="1"/>
          <p:nvPr/>
        </p:nvSpPr>
        <p:spPr>
          <a:xfrm>
            <a:off x="8107680" y="4178808"/>
            <a:ext cx="1670304" cy="173736"/>
          </a:xfrm>
          <a:prstGeom prst="rect">
            <a:avLst/>
          </a:prstGeom>
          <a:noFill/>
          <a:ln/>
        </p:spPr>
        <p:txBody>
          <a:bodyPr wrap="square" lIns="0" tIns="0" rIns="0" bIns="0" rtlCol="0" anchor="ctr"/>
          <a:lstStyle/>
          <a:p>
            <a:pPr indent="0" marL="0">
              <a:buNone/>
            </a:pPr>
            <a:r>
              <a:rPr lang="en-US" sz="1400" b="1" dirty="0">
                <a:solidFill>
                  <a:srgbClr val="A82B26"/>
                </a:solidFill>
                <a:latin typeface="Inter" pitchFamily="34" charset="0"/>
                <a:ea typeface="Inter" pitchFamily="34" charset="-122"/>
                <a:cs typeface="Inter" pitchFamily="34" charset="-120"/>
              </a:rPr>
              <a:t>−3.3%</a:t>
            </a:r>
            <a:endParaRPr lang="en-US" sz="1400" dirty="0"/>
          </a:p>
        </p:txBody>
      </p:sp>
      <p:sp>
        <p:nvSpPr>
          <p:cNvPr id="132" name="Text 130"/>
          <p:cNvSpPr txBox="1"/>
          <p:nvPr/>
        </p:nvSpPr>
        <p:spPr>
          <a:xfrm>
            <a:off x="8089392" y="4370832"/>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TOYOTA FLAGSTAFF</a:t>
            </a:r>
            <a:endParaRPr lang="en-US" sz="1300" dirty="0"/>
          </a:p>
        </p:txBody>
      </p:sp>
      <p:sp>
        <p:nvSpPr>
          <p:cNvPr id="133" name="Text 131"/>
          <p:cNvSpPr txBox="1"/>
          <p:nvPr/>
        </p:nvSpPr>
        <p:spPr>
          <a:xfrm>
            <a:off x="8107680" y="4535424"/>
            <a:ext cx="1670304" cy="173736"/>
          </a:xfrm>
          <a:prstGeom prst="rect">
            <a:avLst/>
          </a:prstGeom>
          <a:noFill/>
          <a:ln/>
        </p:spPr>
        <p:txBody>
          <a:bodyPr wrap="square" lIns="0" tIns="0" rIns="0" bIns="0" rtlCol="0" anchor="ctr"/>
          <a:lstStyle/>
          <a:p>
            <a:pPr indent="0" marL="0">
              <a:buNone/>
            </a:pPr>
            <a:r>
              <a:rPr lang="en-US" sz="1400" b="1" dirty="0">
                <a:solidFill>
                  <a:srgbClr val="A82B26"/>
                </a:solidFill>
                <a:latin typeface="Inter" pitchFamily="34" charset="0"/>
                <a:ea typeface="Inter" pitchFamily="34" charset="-122"/>
                <a:cs typeface="Inter" pitchFamily="34" charset="-120"/>
              </a:rPr>
              <a:t>−3.4%</a:t>
            </a:r>
            <a:endParaRPr lang="en-US" sz="1400" dirty="0"/>
          </a:p>
        </p:txBody>
      </p:sp>
      <p:sp>
        <p:nvSpPr>
          <p:cNvPr id="134" name="Text 132"/>
          <p:cNvSpPr txBox="1"/>
          <p:nvPr/>
        </p:nvSpPr>
        <p:spPr>
          <a:xfrm>
            <a:off x="8089392" y="4727448"/>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LR LV</a:t>
            </a:r>
            <a:endParaRPr lang="en-US" sz="1300" dirty="0"/>
          </a:p>
        </p:txBody>
      </p:sp>
      <p:sp>
        <p:nvSpPr>
          <p:cNvPr id="135" name="Text 133"/>
          <p:cNvSpPr txBox="1"/>
          <p:nvPr/>
        </p:nvSpPr>
        <p:spPr>
          <a:xfrm>
            <a:off x="8107680" y="4892040"/>
            <a:ext cx="1670304" cy="173736"/>
          </a:xfrm>
          <a:prstGeom prst="rect">
            <a:avLst/>
          </a:prstGeom>
          <a:noFill/>
          <a:ln/>
        </p:spPr>
        <p:txBody>
          <a:bodyPr wrap="square" lIns="0" tIns="0" rIns="0" bIns="0" rtlCol="0" anchor="ctr"/>
          <a:lstStyle/>
          <a:p>
            <a:pPr indent="0" marL="0">
              <a:buNone/>
            </a:pPr>
            <a:r>
              <a:rPr lang="en-US" sz="1400" b="1" dirty="0">
                <a:solidFill>
                  <a:srgbClr val="A82B26"/>
                </a:solidFill>
                <a:latin typeface="Inter" pitchFamily="34" charset="0"/>
                <a:ea typeface="Inter" pitchFamily="34" charset="-122"/>
                <a:cs typeface="Inter" pitchFamily="34" charset="-120"/>
              </a:rPr>
              <a:t>−4.4%</a:t>
            </a:r>
            <a:endParaRPr lang="en-US" sz="1400" dirty="0"/>
          </a:p>
        </p:txBody>
      </p:sp>
      <p:sp>
        <p:nvSpPr>
          <p:cNvPr id="136" name="Text 134"/>
          <p:cNvSpPr txBox="1"/>
          <p:nvPr/>
        </p:nvSpPr>
        <p:spPr>
          <a:xfrm>
            <a:off x="8089392" y="5084064"/>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GMC PRESCOTT</a:t>
            </a:r>
            <a:endParaRPr lang="en-US" sz="1300" dirty="0"/>
          </a:p>
        </p:txBody>
      </p:sp>
      <p:sp>
        <p:nvSpPr>
          <p:cNvPr id="137" name="Text 135"/>
          <p:cNvSpPr txBox="1"/>
          <p:nvPr/>
        </p:nvSpPr>
        <p:spPr>
          <a:xfrm>
            <a:off x="8107680" y="5248656"/>
            <a:ext cx="1670304" cy="173736"/>
          </a:xfrm>
          <a:prstGeom prst="rect">
            <a:avLst/>
          </a:prstGeom>
          <a:noFill/>
          <a:ln/>
        </p:spPr>
        <p:txBody>
          <a:bodyPr wrap="square" lIns="0" tIns="0" rIns="0" bIns="0" rtlCol="0" anchor="ctr"/>
          <a:lstStyle/>
          <a:p>
            <a:pPr indent="0" marL="0">
              <a:buNone/>
            </a:pPr>
            <a:r>
              <a:rPr lang="en-US" sz="1400" b="1" dirty="0">
                <a:solidFill>
                  <a:srgbClr val="A82B26"/>
                </a:solidFill>
                <a:latin typeface="Inter" pitchFamily="34" charset="0"/>
                <a:ea typeface="Inter" pitchFamily="34" charset="-122"/>
                <a:cs typeface="Inter" pitchFamily="34" charset="-120"/>
              </a:rPr>
              <a:t>−5.6%</a:t>
            </a:r>
            <a:endParaRPr lang="en-US" sz="1400" dirty="0"/>
          </a:p>
        </p:txBody>
      </p:sp>
      <p:sp>
        <p:nvSpPr>
          <p:cNvPr id="138" name="Text 136"/>
          <p:cNvSpPr txBox="1"/>
          <p:nvPr/>
        </p:nvSpPr>
        <p:spPr>
          <a:xfrm>
            <a:off x="8089392" y="5440680"/>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HONDA HENDERSON</a:t>
            </a:r>
            <a:endParaRPr lang="en-US" sz="1300" dirty="0"/>
          </a:p>
        </p:txBody>
      </p:sp>
      <p:sp>
        <p:nvSpPr>
          <p:cNvPr id="139" name="Text 137"/>
          <p:cNvSpPr txBox="1"/>
          <p:nvPr/>
        </p:nvSpPr>
        <p:spPr>
          <a:xfrm>
            <a:off x="8107680" y="5605272"/>
            <a:ext cx="1670304" cy="173736"/>
          </a:xfrm>
          <a:prstGeom prst="rect">
            <a:avLst/>
          </a:prstGeom>
          <a:noFill/>
          <a:ln/>
        </p:spPr>
        <p:txBody>
          <a:bodyPr wrap="square" lIns="0" tIns="0" rIns="0" bIns="0" rtlCol="0" anchor="ctr"/>
          <a:lstStyle/>
          <a:p>
            <a:pPr indent="0" marL="0">
              <a:buNone/>
            </a:pPr>
            <a:r>
              <a:rPr lang="en-US" sz="1400" b="1" dirty="0">
                <a:solidFill>
                  <a:srgbClr val="A82B26"/>
                </a:solidFill>
                <a:latin typeface="Inter" pitchFamily="34" charset="0"/>
                <a:ea typeface="Inter" pitchFamily="34" charset="-122"/>
                <a:cs typeface="Inter" pitchFamily="34" charset="-120"/>
              </a:rPr>
              <a:t>−6.0%</a:t>
            </a:r>
            <a:endParaRPr lang="en-US" sz="1400" dirty="0"/>
          </a:p>
        </p:txBody>
      </p:sp>
      <p:sp>
        <p:nvSpPr>
          <p:cNvPr id="140" name="Shape 138"/>
          <p:cNvSpPr/>
          <p:nvPr/>
        </p:nvSpPr>
        <p:spPr>
          <a:xfrm>
            <a:off x="9869424" y="1554480"/>
            <a:ext cx="1670304" cy="45720"/>
          </a:xfrm>
          <a:prstGeom prst="rect">
            <a:avLst/>
          </a:prstGeom>
          <a:solidFill>
            <a:srgbClr val="12A566"/>
          </a:solidFill>
          <a:ln/>
        </p:spPr>
      </p:sp>
      <p:sp>
        <p:nvSpPr>
          <p:cNvPr id="141" name="Text 139"/>
          <p:cNvSpPr txBox="1"/>
          <p:nvPr/>
        </p:nvSpPr>
        <p:spPr>
          <a:xfrm>
            <a:off x="9887712" y="1636776"/>
            <a:ext cx="1633728" cy="237744"/>
          </a:xfrm>
          <a:prstGeom prst="rect">
            <a:avLst/>
          </a:prstGeom>
          <a:noFill/>
          <a:ln/>
        </p:spPr>
        <p:txBody>
          <a:bodyPr wrap="square" lIns="0" tIns="0" rIns="0" bIns="0" rtlCol="0" anchor="ctr">
            <a:normAutofit/>
          </a:bodyPr>
          <a:lstStyle/>
          <a:p>
            <a:pPr indent="0" marL="0">
              <a:buNone/>
            </a:pPr>
            <a:r>
              <a:rPr lang="en-US" sz="1300" b="1" spc="30" kern="0" dirty="0">
                <a:solidFill>
                  <a:srgbClr val="595959"/>
                </a:solidFill>
                <a:latin typeface="Inter" pitchFamily="34" charset="0"/>
                <a:ea typeface="Inter" pitchFamily="34" charset="-122"/>
                <a:cs typeface="Inter" pitchFamily="34" charset="-120"/>
              </a:rPr>
              <a:t>CP PARTS GP %</a:t>
            </a:r>
            <a:endParaRPr lang="en-US" sz="1300" dirty="0"/>
          </a:p>
        </p:txBody>
      </p:sp>
      <p:sp>
        <p:nvSpPr>
          <p:cNvPr id="142" name="Text 140"/>
          <p:cNvSpPr txBox="1"/>
          <p:nvPr/>
        </p:nvSpPr>
        <p:spPr>
          <a:xfrm>
            <a:off x="9887712" y="1856232"/>
            <a:ext cx="1633728" cy="201168"/>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Group 0.0 pts</a:t>
            </a:r>
            <a:endParaRPr lang="en-US" sz="1300" dirty="0"/>
          </a:p>
        </p:txBody>
      </p:sp>
      <p:sp>
        <p:nvSpPr>
          <p:cNvPr id="143" name="Text 141"/>
          <p:cNvSpPr txBox="1"/>
          <p:nvPr/>
        </p:nvSpPr>
        <p:spPr>
          <a:xfrm>
            <a:off x="9869424" y="2112264"/>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ACURA</a:t>
            </a:r>
            <a:endParaRPr lang="en-US" sz="1300" dirty="0"/>
          </a:p>
        </p:txBody>
      </p:sp>
      <p:sp>
        <p:nvSpPr>
          <p:cNvPr id="144" name="Text 142"/>
          <p:cNvSpPr txBox="1"/>
          <p:nvPr/>
        </p:nvSpPr>
        <p:spPr>
          <a:xfrm>
            <a:off x="9887712" y="2276856"/>
            <a:ext cx="1670304" cy="17373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+7.2 pts</a:t>
            </a:r>
            <a:endParaRPr lang="en-US" sz="1400" dirty="0"/>
          </a:p>
        </p:txBody>
      </p:sp>
      <p:sp>
        <p:nvSpPr>
          <p:cNvPr id="145" name="Text 143"/>
          <p:cNvSpPr txBox="1"/>
          <p:nvPr/>
        </p:nvSpPr>
        <p:spPr>
          <a:xfrm>
            <a:off x="9869424" y="2468880"/>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VW ST GEORGE</a:t>
            </a:r>
            <a:endParaRPr lang="en-US" sz="1300" dirty="0"/>
          </a:p>
        </p:txBody>
      </p:sp>
      <p:sp>
        <p:nvSpPr>
          <p:cNvPr id="146" name="Text 144"/>
          <p:cNvSpPr txBox="1"/>
          <p:nvPr/>
        </p:nvSpPr>
        <p:spPr>
          <a:xfrm>
            <a:off x="9887712" y="2633472"/>
            <a:ext cx="1670304" cy="17373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+4.6 pts</a:t>
            </a:r>
            <a:endParaRPr lang="en-US" sz="1400" dirty="0"/>
          </a:p>
        </p:txBody>
      </p:sp>
      <p:sp>
        <p:nvSpPr>
          <p:cNvPr id="147" name="Text 145"/>
          <p:cNvSpPr txBox="1"/>
          <p:nvPr/>
        </p:nvSpPr>
        <p:spPr>
          <a:xfrm>
            <a:off x="9869424" y="2825496"/>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GMC PRESCOTT</a:t>
            </a:r>
            <a:endParaRPr lang="en-US" sz="1300" dirty="0"/>
          </a:p>
        </p:txBody>
      </p:sp>
      <p:sp>
        <p:nvSpPr>
          <p:cNvPr id="148" name="Text 146"/>
          <p:cNvSpPr txBox="1"/>
          <p:nvPr/>
        </p:nvSpPr>
        <p:spPr>
          <a:xfrm>
            <a:off x="9887712" y="2990088"/>
            <a:ext cx="1670304" cy="17373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+3.9 pts</a:t>
            </a:r>
            <a:endParaRPr lang="en-US" sz="1400" dirty="0"/>
          </a:p>
        </p:txBody>
      </p:sp>
      <p:sp>
        <p:nvSpPr>
          <p:cNvPr id="149" name="Text 147"/>
          <p:cNvSpPr txBox="1"/>
          <p:nvPr/>
        </p:nvSpPr>
        <p:spPr>
          <a:xfrm>
            <a:off x="9869424" y="3182112"/>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AUDI RENO</a:t>
            </a:r>
            <a:endParaRPr lang="en-US" sz="1300" dirty="0"/>
          </a:p>
        </p:txBody>
      </p:sp>
      <p:sp>
        <p:nvSpPr>
          <p:cNvPr id="150" name="Text 148"/>
          <p:cNvSpPr txBox="1"/>
          <p:nvPr/>
        </p:nvSpPr>
        <p:spPr>
          <a:xfrm>
            <a:off x="9887712" y="3346704"/>
            <a:ext cx="1670304" cy="17373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+2.9 pts</a:t>
            </a:r>
            <a:endParaRPr lang="en-US" sz="1400" dirty="0"/>
          </a:p>
        </p:txBody>
      </p:sp>
      <p:sp>
        <p:nvSpPr>
          <p:cNvPr id="151" name="Text 149"/>
          <p:cNvSpPr txBox="1"/>
          <p:nvPr/>
        </p:nvSpPr>
        <p:spPr>
          <a:xfrm>
            <a:off x="9869424" y="3538728"/>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TOYOTA HENDERSON</a:t>
            </a:r>
            <a:endParaRPr lang="en-US" sz="1300" dirty="0"/>
          </a:p>
        </p:txBody>
      </p:sp>
      <p:sp>
        <p:nvSpPr>
          <p:cNvPr id="152" name="Text 150"/>
          <p:cNvSpPr txBox="1"/>
          <p:nvPr/>
        </p:nvSpPr>
        <p:spPr>
          <a:xfrm>
            <a:off x="9887712" y="3703320"/>
            <a:ext cx="1670304" cy="17373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+2.2 pts</a:t>
            </a:r>
            <a:endParaRPr lang="en-US" sz="1400" dirty="0"/>
          </a:p>
        </p:txBody>
      </p:sp>
      <p:sp>
        <p:nvSpPr>
          <p:cNvPr id="153" name="Text 151"/>
          <p:cNvSpPr txBox="1"/>
          <p:nvPr/>
        </p:nvSpPr>
        <p:spPr>
          <a:xfrm>
            <a:off x="9869424" y="4014216"/>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LR HENDERSON</a:t>
            </a:r>
            <a:endParaRPr lang="en-US" sz="1300" dirty="0"/>
          </a:p>
        </p:txBody>
      </p:sp>
      <p:sp>
        <p:nvSpPr>
          <p:cNvPr id="154" name="Text 152"/>
          <p:cNvSpPr txBox="1"/>
          <p:nvPr/>
        </p:nvSpPr>
        <p:spPr>
          <a:xfrm>
            <a:off x="9887712" y="4178808"/>
            <a:ext cx="1670304" cy="173736"/>
          </a:xfrm>
          <a:prstGeom prst="rect">
            <a:avLst/>
          </a:prstGeom>
          <a:noFill/>
          <a:ln/>
        </p:spPr>
        <p:txBody>
          <a:bodyPr wrap="square" lIns="0" tIns="0" rIns="0" bIns="0" rtlCol="0" anchor="ctr"/>
          <a:lstStyle/>
          <a:p>
            <a:pPr indent="0" marL="0">
              <a:buNone/>
            </a:pPr>
            <a:r>
              <a:rPr lang="en-US" sz="1400" b="1" dirty="0">
                <a:solidFill>
                  <a:srgbClr val="A82B26"/>
                </a:solidFill>
                <a:latin typeface="Inter" pitchFamily="34" charset="0"/>
                <a:ea typeface="Inter" pitchFamily="34" charset="-122"/>
                <a:cs typeface="Inter" pitchFamily="34" charset="-120"/>
              </a:rPr>
              <a:t>−2.1 pts</a:t>
            </a:r>
            <a:endParaRPr lang="en-US" sz="1400" dirty="0"/>
          </a:p>
        </p:txBody>
      </p:sp>
      <p:sp>
        <p:nvSpPr>
          <p:cNvPr id="155" name="Text 153"/>
          <p:cNvSpPr txBox="1"/>
          <p:nvPr/>
        </p:nvSpPr>
        <p:spPr>
          <a:xfrm>
            <a:off x="9869424" y="4370832"/>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NISSAN</a:t>
            </a:r>
            <a:endParaRPr lang="en-US" sz="1300" dirty="0"/>
          </a:p>
        </p:txBody>
      </p:sp>
      <p:sp>
        <p:nvSpPr>
          <p:cNvPr id="156" name="Text 154"/>
          <p:cNvSpPr txBox="1"/>
          <p:nvPr/>
        </p:nvSpPr>
        <p:spPr>
          <a:xfrm>
            <a:off x="9887712" y="4535424"/>
            <a:ext cx="1670304" cy="173736"/>
          </a:xfrm>
          <a:prstGeom prst="rect">
            <a:avLst/>
          </a:prstGeom>
          <a:noFill/>
          <a:ln/>
        </p:spPr>
        <p:txBody>
          <a:bodyPr wrap="square" lIns="0" tIns="0" rIns="0" bIns="0" rtlCol="0" anchor="ctr"/>
          <a:lstStyle/>
          <a:p>
            <a:pPr indent="0" marL="0">
              <a:buNone/>
            </a:pPr>
            <a:r>
              <a:rPr lang="en-US" sz="1400" b="1" dirty="0">
                <a:solidFill>
                  <a:srgbClr val="A82B26"/>
                </a:solidFill>
                <a:latin typeface="Inter" pitchFamily="34" charset="0"/>
                <a:ea typeface="Inter" pitchFamily="34" charset="-122"/>
                <a:cs typeface="Inter" pitchFamily="34" charset="-120"/>
              </a:rPr>
              <a:t>−3.1 pts</a:t>
            </a:r>
            <a:endParaRPr lang="en-US" sz="1400" dirty="0"/>
          </a:p>
        </p:txBody>
      </p:sp>
      <p:sp>
        <p:nvSpPr>
          <p:cNvPr id="157" name="Text 155"/>
          <p:cNvSpPr txBox="1"/>
          <p:nvPr/>
        </p:nvSpPr>
        <p:spPr>
          <a:xfrm>
            <a:off x="9869424" y="4727448"/>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CHEVY LV</a:t>
            </a:r>
            <a:endParaRPr lang="en-US" sz="1300" dirty="0"/>
          </a:p>
        </p:txBody>
      </p:sp>
      <p:sp>
        <p:nvSpPr>
          <p:cNvPr id="158" name="Text 156"/>
          <p:cNvSpPr txBox="1"/>
          <p:nvPr/>
        </p:nvSpPr>
        <p:spPr>
          <a:xfrm>
            <a:off x="9887712" y="4892040"/>
            <a:ext cx="1670304" cy="173736"/>
          </a:xfrm>
          <a:prstGeom prst="rect">
            <a:avLst/>
          </a:prstGeom>
          <a:noFill/>
          <a:ln/>
        </p:spPr>
        <p:txBody>
          <a:bodyPr wrap="square" lIns="0" tIns="0" rIns="0" bIns="0" rtlCol="0" anchor="ctr"/>
          <a:lstStyle/>
          <a:p>
            <a:pPr indent="0" marL="0">
              <a:buNone/>
            </a:pPr>
            <a:r>
              <a:rPr lang="en-US" sz="1400" b="1" dirty="0">
                <a:solidFill>
                  <a:srgbClr val="A82B26"/>
                </a:solidFill>
                <a:latin typeface="Inter" pitchFamily="34" charset="0"/>
                <a:ea typeface="Inter" pitchFamily="34" charset="-122"/>
                <a:cs typeface="Inter" pitchFamily="34" charset="-120"/>
              </a:rPr>
              <a:t>−3.1 pts</a:t>
            </a:r>
            <a:endParaRPr lang="en-US" sz="1400" dirty="0"/>
          </a:p>
        </p:txBody>
      </p:sp>
      <p:sp>
        <p:nvSpPr>
          <p:cNvPr id="159" name="Text 157"/>
          <p:cNvSpPr txBox="1"/>
          <p:nvPr/>
        </p:nvSpPr>
        <p:spPr>
          <a:xfrm>
            <a:off x="9869424" y="5084064"/>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LINCOLN</a:t>
            </a:r>
            <a:endParaRPr lang="en-US" sz="1300" dirty="0"/>
          </a:p>
        </p:txBody>
      </p:sp>
      <p:sp>
        <p:nvSpPr>
          <p:cNvPr id="160" name="Text 158"/>
          <p:cNvSpPr txBox="1"/>
          <p:nvPr/>
        </p:nvSpPr>
        <p:spPr>
          <a:xfrm>
            <a:off x="9887712" y="5248656"/>
            <a:ext cx="1670304" cy="173736"/>
          </a:xfrm>
          <a:prstGeom prst="rect">
            <a:avLst/>
          </a:prstGeom>
          <a:noFill/>
          <a:ln/>
        </p:spPr>
        <p:txBody>
          <a:bodyPr wrap="square" lIns="0" tIns="0" rIns="0" bIns="0" rtlCol="0" anchor="ctr"/>
          <a:lstStyle/>
          <a:p>
            <a:pPr indent="0" marL="0">
              <a:buNone/>
            </a:pPr>
            <a:r>
              <a:rPr lang="en-US" sz="1400" b="1" dirty="0">
                <a:solidFill>
                  <a:srgbClr val="A82B26"/>
                </a:solidFill>
                <a:latin typeface="Inter" pitchFamily="34" charset="0"/>
                <a:ea typeface="Inter" pitchFamily="34" charset="-122"/>
                <a:cs typeface="Inter" pitchFamily="34" charset="-120"/>
              </a:rPr>
              <a:t>−3.8 pts</a:t>
            </a:r>
            <a:endParaRPr lang="en-US" sz="1400" dirty="0"/>
          </a:p>
        </p:txBody>
      </p:sp>
      <p:sp>
        <p:nvSpPr>
          <p:cNvPr id="161" name="Text 159"/>
          <p:cNvSpPr txBox="1"/>
          <p:nvPr/>
        </p:nvSpPr>
        <p:spPr>
          <a:xfrm>
            <a:off x="9869424" y="5440680"/>
            <a:ext cx="1725168" cy="173736"/>
          </a:xfrm>
          <a:prstGeom prst="rect">
            <a:avLst/>
          </a:prstGeom>
          <a:noFill/>
          <a:ln/>
        </p:spPr>
        <p:txBody>
          <a:bodyPr wrap="squar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HONDA HENDERSON</a:t>
            </a:r>
            <a:endParaRPr lang="en-US" sz="1300" dirty="0"/>
          </a:p>
        </p:txBody>
      </p:sp>
      <p:sp>
        <p:nvSpPr>
          <p:cNvPr id="162" name="Text 160"/>
          <p:cNvSpPr txBox="1"/>
          <p:nvPr/>
        </p:nvSpPr>
        <p:spPr>
          <a:xfrm>
            <a:off x="9887712" y="5605272"/>
            <a:ext cx="1670304" cy="173736"/>
          </a:xfrm>
          <a:prstGeom prst="rect">
            <a:avLst/>
          </a:prstGeom>
          <a:noFill/>
          <a:ln/>
        </p:spPr>
        <p:txBody>
          <a:bodyPr wrap="square" lIns="0" tIns="0" rIns="0" bIns="0" rtlCol="0" anchor="ctr"/>
          <a:lstStyle/>
          <a:p>
            <a:pPr indent="0" marL="0">
              <a:buNone/>
            </a:pPr>
            <a:r>
              <a:rPr lang="en-US" sz="1400" b="1" dirty="0">
                <a:solidFill>
                  <a:srgbClr val="A82B26"/>
                </a:solidFill>
                <a:latin typeface="Inter" pitchFamily="34" charset="0"/>
                <a:ea typeface="Inter" pitchFamily="34" charset="-122"/>
                <a:cs typeface="Inter" pitchFamily="34" charset="-120"/>
              </a:rPr>
              <a:t>−4.2 pts</a:t>
            </a:r>
            <a:endParaRPr lang="en-US" sz="1400" dirty="0"/>
          </a:p>
        </p:txBody>
      </p:sp>
      <p:sp>
        <p:nvSpPr>
          <p:cNvPr id="164" name="Shape 161"/>
          <p:cNvSpPr/>
          <p:nvPr/>
        </p:nvSpPr>
        <p:spPr>
          <a:xfrm>
            <a:off x="457200" y="5961888"/>
            <a:ext cx="11274552" cy="548640"/>
          </a:xfrm>
          <a:prstGeom prst="rect">
            <a:avLst/>
          </a:prstGeom>
          <a:solidFill>
            <a:srgbClr val="EDF4FA"/>
          </a:solidFill>
          <a:ln/>
        </p:spPr>
      </p:sp>
      <p:sp>
        <p:nvSpPr>
          <p:cNvPr id="165" name="Text 162"/>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Top: VW ST GEORGE (4 of 6).</a:t>
            </a:r>
            <a:endParaRPr lang="en-US" sz="1600" dirty="0"/>
          </a:p>
          <a:p>
            <a:pPr indent="0" marL="0">
              <a:buNone/>
            </a:pPr>
            <a:r>
              <a:rPr lang="en-US" sz="1600" b="1" dirty="0">
                <a:solidFill>
                  <a:srgbClr val="0B2C4A"/>
                </a:solidFill>
                <a:latin typeface="Inter" pitchFamily="34" charset="0"/>
                <a:ea typeface="Inter" pitchFamily="34" charset="-122"/>
                <a:cs typeface="Inter" pitchFamily="34" charset="-120"/>
              </a:rPr>
              <a:t>Bottom: SUBARU ST GEORGE, HONDA HENDERSON (4 of 6).</a:t>
            </a:r>
            <a:endParaRPr lang="en-US" sz="1600" dirty="0"/>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 MOST IMPROVED</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Two Ways to Read Improvement</a:t>
            </a:r>
            <a:endParaRPr lang="en-US" sz="2800" dirty="0"/>
          </a:p>
        </p:txBody>
      </p:sp>
      <p:sp>
        <p:nvSpPr>
          <p:cNvPr id="5" name="Shape 3"/>
          <p:cNvSpPr/>
          <p:nvPr/>
        </p:nvSpPr>
        <p:spPr>
          <a:xfrm>
            <a:off x="457200" y="1207008"/>
            <a:ext cx="5559552" cy="4645152"/>
          </a:xfrm>
          <a:prstGeom prst="rect">
            <a:avLst/>
          </a:prstGeom>
          <a:solidFill>
            <a:srgbClr val="FFFFFF"/>
          </a:solidFill>
          <a:ln/>
        </p:spPr>
      </p:sp>
      <p:sp>
        <p:nvSpPr>
          <p:cNvPr id="6" name="Text 4"/>
          <p:cNvSpPr txBox="1"/>
          <p:nvPr/>
        </p:nvSpPr>
        <p:spPr>
          <a:xfrm>
            <a:off x="685800" y="1344168"/>
            <a:ext cx="5102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Better than last year · Jan–Sep 2026 vs Jan–Sep 2025</a:t>
            </a:r>
            <a:endParaRPr lang="en-US" sz="1500" dirty="0"/>
          </a:p>
        </p:txBody>
      </p:sp>
      <p:sp>
        <p:nvSpPr>
          <p:cNvPr id="7" name="Shape 5"/>
          <p:cNvSpPr/>
          <p:nvPr/>
        </p:nvSpPr>
        <p:spPr>
          <a:xfrm>
            <a:off x="685800" y="1691640"/>
            <a:ext cx="5102352" cy="10973"/>
          </a:xfrm>
          <a:prstGeom prst="rect">
            <a:avLst/>
          </a:prstGeom>
          <a:solidFill>
            <a:srgbClr val="1A1A1A"/>
          </a:solidFill>
          <a:ln/>
        </p:spPr>
      </p:sp>
      <p:sp>
        <p:nvSpPr>
          <p:cNvPr id="8" name="Text 6"/>
          <p:cNvSpPr txBox="1"/>
          <p:nvPr/>
        </p:nvSpPr>
        <p:spPr>
          <a:xfrm>
            <a:off x="685800" y="1792224"/>
            <a:ext cx="5102352" cy="274320"/>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Top-5 finishes, of six measures</a:t>
            </a:r>
            <a:endParaRPr lang="en-US" sz="1400" dirty="0"/>
          </a:p>
        </p:txBody>
      </p:sp>
      <p:sp>
        <p:nvSpPr>
          <p:cNvPr id="9" name="Shape 7"/>
          <p:cNvSpPr/>
          <p:nvPr/>
        </p:nvSpPr>
        <p:spPr>
          <a:xfrm>
            <a:off x="621792" y="2176272"/>
            <a:ext cx="5230368" cy="585216"/>
          </a:xfrm>
          <a:prstGeom prst="rect">
            <a:avLst/>
          </a:prstGeom>
          <a:solidFill>
            <a:srgbClr val="F7F7F7"/>
          </a:solidFill>
          <a:ln/>
        </p:spPr>
      </p:sp>
      <p:sp>
        <p:nvSpPr>
          <p:cNvPr id="10" name="Text 8"/>
          <p:cNvSpPr txBox="1"/>
          <p:nvPr/>
        </p:nvSpPr>
        <p:spPr>
          <a:xfrm>
            <a:off x="731520" y="2221992"/>
            <a:ext cx="2377440" cy="27432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LINCOLN</a:t>
            </a:r>
            <a:endParaRPr lang="en-US" sz="1400" dirty="0"/>
          </a:p>
        </p:txBody>
      </p:sp>
      <p:sp>
        <p:nvSpPr>
          <p:cNvPr id="11" name="Text 9"/>
          <p:cNvSpPr txBox="1"/>
          <p:nvPr/>
        </p:nvSpPr>
        <p:spPr>
          <a:xfrm>
            <a:off x="731520" y="2478024"/>
            <a:ext cx="352044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CP gross, ELR, parts $/RO, parts GP%</a:t>
            </a:r>
            <a:endParaRPr lang="en-US" sz="1300" dirty="0"/>
          </a:p>
        </p:txBody>
      </p:sp>
      <p:sp>
        <p:nvSpPr>
          <p:cNvPr id="12" name="Shape 10"/>
          <p:cNvSpPr/>
          <p:nvPr/>
        </p:nvSpPr>
        <p:spPr>
          <a:xfrm>
            <a:off x="4343400" y="2351837"/>
            <a:ext cx="960120" cy="234086"/>
          </a:xfrm>
          <a:prstGeom prst="rect">
            <a:avLst/>
          </a:prstGeom>
          <a:solidFill>
            <a:srgbClr val="12A566"/>
          </a:solidFill>
          <a:ln/>
        </p:spPr>
      </p:sp>
      <p:sp>
        <p:nvSpPr>
          <p:cNvPr id="13" name="Text 11"/>
          <p:cNvSpPr txBox="1"/>
          <p:nvPr/>
        </p:nvSpPr>
        <p:spPr>
          <a:xfrm>
            <a:off x="5330952" y="2176272"/>
            <a:ext cx="411480" cy="585216"/>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4</a:t>
            </a:r>
            <a:endParaRPr lang="en-US" sz="1800" dirty="0"/>
          </a:p>
        </p:txBody>
      </p:sp>
      <p:sp>
        <p:nvSpPr>
          <p:cNvPr id="14" name="Text 12"/>
          <p:cNvSpPr txBox="1"/>
          <p:nvPr/>
        </p:nvSpPr>
        <p:spPr>
          <a:xfrm>
            <a:off x="731520" y="2807208"/>
            <a:ext cx="2377440" cy="27432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SUBARU PRESCOTT</a:t>
            </a:r>
            <a:endParaRPr lang="en-US" sz="1400" dirty="0"/>
          </a:p>
        </p:txBody>
      </p:sp>
      <p:sp>
        <p:nvSpPr>
          <p:cNvPr id="15" name="Text 13"/>
          <p:cNvSpPr txBox="1"/>
          <p:nvPr/>
        </p:nvSpPr>
        <p:spPr>
          <a:xfrm>
            <a:off x="731520" y="3063240"/>
            <a:ext cx="352044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CP gross, hours/RO, ELR, parts GP%</a:t>
            </a:r>
            <a:endParaRPr lang="en-US" sz="1300" dirty="0"/>
          </a:p>
        </p:txBody>
      </p:sp>
      <p:sp>
        <p:nvSpPr>
          <p:cNvPr id="16" name="Shape 14"/>
          <p:cNvSpPr/>
          <p:nvPr/>
        </p:nvSpPr>
        <p:spPr>
          <a:xfrm>
            <a:off x="4343400" y="2937053"/>
            <a:ext cx="960120" cy="234086"/>
          </a:xfrm>
          <a:prstGeom prst="rect">
            <a:avLst/>
          </a:prstGeom>
          <a:solidFill>
            <a:srgbClr val="12A566"/>
          </a:solidFill>
          <a:ln/>
        </p:spPr>
      </p:sp>
      <p:sp>
        <p:nvSpPr>
          <p:cNvPr id="17" name="Text 15"/>
          <p:cNvSpPr txBox="1"/>
          <p:nvPr/>
        </p:nvSpPr>
        <p:spPr>
          <a:xfrm>
            <a:off x="5330952" y="2761488"/>
            <a:ext cx="411480" cy="585216"/>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4</a:t>
            </a:r>
            <a:endParaRPr lang="en-US" sz="1800" dirty="0"/>
          </a:p>
        </p:txBody>
      </p:sp>
      <p:sp>
        <p:nvSpPr>
          <p:cNvPr id="18" name="Shape 16"/>
          <p:cNvSpPr/>
          <p:nvPr/>
        </p:nvSpPr>
        <p:spPr>
          <a:xfrm>
            <a:off x="621792" y="3346704"/>
            <a:ext cx="5230368" cy="585216"/>
          </a:xfrm>
          <a:prstGeom prst="rect">
            <a:avLst/>
          </a:prstGeom>
          <a:solidFill>
            <a:srgbClr val="F7F7F7"/>
          </a:solidFill>
          <a:ln/>
        </p:spPr>
      </p:sp>
      <p:sp>
        <p:nvSpPr>
          <p:cNvPr id="19" name="Text 17"/>
          <p:cNvSpPr txBox="1"/>
          <p:nvPr/>
        </p:nvSpPr>
        <p:spPr>
          <a:xfrm>
            <a:off x="731520" y="3392424"/>
            <a:ext cx="2377440" cy="27432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SUBARU ST GEORGE</a:t>
            </a:r>
            <a:endParaRPr lang="en-US" sz="1400" dirty="0"/>
          </a:p>
        </p:txBody>
      </p:sp>
      <p:sp>
        <p:nvSpPr>
          <p:cNvPr id="20" name="Text 18"/>
          <p:cNvSpPr txBox="1"/>
          <p:nvPr/>
        </p:nvSpPr>
        <p:spPr>
          <a:xfrm>
            <a:off x="731520" y="3648456"/>
            <a:ext cx="352044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CP gross, CP ROs, hours/RO, parts $/RO</a:t>
            </a:r>
            <a:endParaRPr lang="en-US" sz="1300" dirty="0"/>
          </a:p>
        </p:txBody>
      </p:sp>
      <p:sp>
        <p:nvSpPr>
          <p:cNvPr id="21" name="Shape 19"/>
          <p:cNvSpPr/>
          <p:nvPr/>
        </p:nvSpPr>
        <p:spPr>
          <a:xfrm>
            <a:off x="4343400" y="3522269"/>
            <a:ext cx="960120" cy="234086"/>
          </a:xfrm>
          <a:prstGeom prst="rect">
            <a:avLst/>
          </a:prstGeom>
          <a:solidFill>
            <a:srgbClr val="12A566"/>
          </a:solidFill>
          <a:ln/>
        </p:spPr>
      </p:sp>
      <p:sp>
        <p:nvSpPr>
          <p:cNvPr id="22" name="Text 20"/>
          <p:cNvSpPr txBox="1"/>
          <p:nvPr/>
        </p:nvSpPr>
        <p:spPr>
          <a:xfrm>
            <a:off x="5330952" y="3346704"/>
            <a:ext cx="411480" cy="585216"/>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4</a:t>
            </a:r>
            <a:endParaRPr lang="en-US" sz="1800" dirty="0"/>
          </a:p>
        </p:txBody>
      </p:sp>
      <p:sp>
        <p:nvSpPr>
          <p:cNvPr id="23" name="Text 21"/>
          <p:cNvSpPr txBox="1"/>
          <p:nvPr/>
        </p:nvSpPr>
        <p:spPr>
          <a:xfrm>
            <a:off x="731520" y="3977640"/>
            <a:ext cx="2377440" cy="27432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p:txBody>
      </p:sp>
      <p:sp>
        <p:nvSpPr>
          <p:cNvPr id="24" name="Text 22"/>
          <p:cNvSpPr txBox="1"/>
          <p:nvPr/>
        </p:nvSpPr>
        <p:spPr>
          <a:xfrm>
            <a:off x="731520" y="4233672"/>
            <a:ext cx="352044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CP gross, hours/RO</a:t>
            </a:r>
            <a:endParaRPr lang="en-US" sz="1300" dirty="0"/>
          </a:p>
        </p:txBody>
      </p:sp>
      <p:sp>
        <p:nvSpPr>
          <p:cNvPr id="25" name="Shape 23"/>
          <p:cNvSpPr/>
          <p:nvPr/>
        </p:nvSpPr>
        <p:spPr>
          <a:xfrm>
            <a:off x="4343400" y="4107485"/>
            <a:ext cx="480060" cy="234086"/>
          </a:xfrm>
          <a:prstGeom prst="rect">
            <a:avLst/>
          </a:prstGeom>
          <a:solidFill>
            <a:srgbClr val="12A566"/>
          </a:solidFill>
          <a:ln/>
        </p:spPr>
      </p:sp>
      <p:sp>
        <p:nvSpPr>
          <p:cNvPr id="26" name="Text 24"/>
          <p:cNvSpPr txBox="1"/>
          <p:nvPr/>
        </p:nvSpPr>
        <p:spPr>
          <a:xfrm>
            <a:off x="5330952" y="3931920"/>
            <a:ext cx="411480" cy="585216"/>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2</a:t>
            </a:r>
            <a:endParaRPr lang="en-US" sz="1800" dirty="0"/>
          </a:p>
        </p:txBody>
      </p:sp>
      <p:sp>
        <p:nvSpPr>
          <p:cNvPr id="27" name="Shape 25"/>
          <p:cNvSpPr/>
          <p:nvPr/>
        </p:nvSpPr>
        <p:spPr>
          <a:xfrm>
            <a:off x="621792" y="4517136"/>
            <a:ext cx="5230368" cy="585216"/>
          </a:xfrm>
          <a:prstGeom prst="rect">
            <a:avLst/>
          </a:prstGeom>
          <a:solidFill>
            <a:srgbClr val="F7F7F7"/>
          </a:solidFill>
          <a:ln/>
        </p:spPr>
      </p:sp>
      <p:sp>
        <p:nvSpPr>
          <p:cNvPr id="28" name="Text 26"/>
          <p:cNvSpPr txBox="1"/>
          <p:nvPr/>
        </p:nvSpPr>
        <p:spPr>
          <a:xfrm>
            <a:off x="731520" y="4562856"/>
            <a:ext cx="2377440" cy="27432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LEXUS</a:t>
            </a:r>
            <a:endParaRPr lang="en-US" sz="1400" dirty="0"/>
          </a:p>
        </p:txBody>
      </p:sp>
      <p:sp>
        <p:nvSpPr>
          <p:cNvPr id="29" name="Text 27"/>
          <p:cNvSpPr txBox="1"/>
          <p:nvPr/>
        </p:nvSpPr>
        <p:spPr>
          <a:xfrm>
            <a:off x="731520" y="4818888"/>
            <a:ext cx="352044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CP gross, parts $/RO</a:t>
            </a:r>
            <a:endParaRPr lang="en-US" sz="1300" dirty="0"/>
          </a:p>
        </p:txBody>
      </p:sp>
      <p:sp>
        <p:nvSpPr>
          <p:cNvPr id="30" name="Shape 28"/>
          <p:cNvSpPr/>
          <p:nvPr/>
        </p:nvSpPr>
        <p:spPr>
          <a:xfrm>
            <a:off x="4343400" y="4692701"/>
            <a:ext cx="480060" cy="234086"/>
          </a:xfrm>
          <a:prstGeom prst="rect">
            <a:avLst/>
          </a:prstGeom>
          <a:solidFill>
            <a:srgbClr val="12A566"/>
          </a:solidFill>
          <a:ln/>
        </p:spPr>
      </p:sp>
      <p:sp>
        <p:nvSpPr>
          <p:cNvPr id="31" name="Text 29"/>
          <p:cNvSpPr txBox="1"/>
          <p:nvPr/>
        </p:nvSpPr>
        <p:spPr>
          <a:xfrm>
            <a:off x="5330952" y="4517136"/>
            <a:ext cx="411480" cy="585216"/>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2</a:t>
            </a:r>
            <a:endParaRPr lang="en-US" sz="1800" dirty="0"/>
          </a:p>
        </p:txBody>
      </p:sp>
      <p:sp>
        <p:nvSpPr>
          <p:cNvPr id="32" name="Text 30"/>
          <p:cNvSpPr txBox="1"/>
          <p:nvPr/>
        </p:nvSpPr>
        <p:spPr>
          <a:xfrm>
            <a:off x="731520" y="5148072"/>
            <a:ext cx="2377440" cy="27432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KIA LV</a:t>
            </a:r>
            <a:endParaRPr lang="en-US" sz="1400" dirty="0"/>
          </a:p>
        </p:txBody>
      </p:sp>
      <p:sp>
        <p:nvSpPr>
          <p:cNvPr id="33" name="Text 31"/>
          <p:cNvSpPr txBox="1"/>
          <p:nvPr/>
        </p:nvSpPr>
        <p:spPr>
          <a:xfrm>
            <a:off x="731520" y="5404104"/>
            <a:ext cx="352044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CP ROs, hours/RO</a:t>
            </a:r>
            <a:endParaRPr lang="en-US" sz="1300" dirty="0"/>
          </a:p>
        </p:txBody>
      </p:sp>
      <p:sp>
        <p:nvSpPr>
          <p:cNvPr id="34" name="Shape 32"/>
          <p:cNvSpPr/>
          <p:nvPr/>
        </p:nvSpPr>
        <p:spPr>
          <a:xfrm>
            <a:off x="4343400" y="5277917"/>
            <a:ext cx="480060" cy="234086"/>
          </a:xfrm>
          <a:prstGeom prst="rect">
            <a:avLst/>
          </a:prstGeom>
          <a:solidFill>
            <a:srgbClr val="12A566"/>
          </a:solidFill>
          <a:ln/>
        </p:spPr>
      </p:sp>
      <p:sp>
        <p:nvSpPr>
          <p:cNvPr id="35" name="Text 33"/>
          <p:cNvSpPr txBox="1"/>
          <p:nvPr/>
        </p:nvSpPr>
        <p:spPr>
          <a:xfrm>
            <a:off x="5330952" y="5102352"/>
            <a:ext cx="411480" cy="585216"/>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2</a:t>
            </a:r>
            <a:endParaRPr lang="en-US" sz="1800" dirty="0"/>
          </a:p>
        </p:txBody>
      </p:sp>
      <p:sp>
        <p:nvSpPr>
          <p:cNvPr id="36" name="Shape 34"/>
          <p:cNvSpPr/>
          <p:nvPr/>
        </p:nvSpPr>
        <p:spPr>
          <a:xfrm>
            <a:off x="6172200" y="1207008"/>
            <a:ext cx="5559552" cy="4645152"/>
          </a:xfrm>
          <a:prstGeom prst="rect">
            <a:avLst/>
          </a:prstGeom>
          <a:solidFill>
            <a:srgbClr val="FFFFFF"/>
          </a:solidFill>
          <a:ln/>
        </p:spPr>
      </p:sp>
      <p:sp>
        <p:nvSpPr>
          <p:cNvPr id="37" name="Text 35"/>
          <p:cNvSpPr txBox="1"/>
          <p:nvPr/>
        </p:nvSpPr>
        <p:spPr>
          <a:xfrm>
            <a:off x="6400800" y="1344168"/>
            <a:ext cx="5102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Moving now · Q3 vs Q1, this year</a:t>
            </a:r>
            <a:endParaRPr lang="en-US" sz="1500" dirty="0"/>
          </a:p>
        </p:txBody>
      </p:sp>
      <p:sp>
        <p:nvSpPr>
          <p:cNvPr id="38" name="Shape 36"/>
          <p:cNvSpPr/>
          <p:nvPr/>
        </p:nvSpPr>
        <p:spPr>
          <a:xfrm>
            <a:off x="6400800" y="1691640"/>
            <a:ext cx="5102352" cy="10973"/>
          </a:xfrm>
          <a:prstGeom prst="rect">
            <a:avLst/>
          </a:prstGeom>
          <a:solidFill>
            <a:srgbClr val="1A1A1A"/>
          </a:solidFill>
          <a:ln/>
        </p:spPr>
      </p:sp>
      <p:sp>
        <p:nvSpPr>
          <p:cNvPr id="39" name="Text 37"/>
          <p:cNvSpPr txBox="1"/>
          <p:nvPr/>
        </p:nvSpPr>
        <p:spPr>
          <a:xfrm>
            <a:off x="6400800" y="1792224"/>
            <a:ext cx="5102352" cy="274320"/>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Top-5 finishes, of six measures</a:t>
            </a:r>
            <a:endParaRPr lang="en-US" sz="1400" dirty="0"/>
          </a:p>
        </p:txBody>
      </p:sp>
      <p:sp>
        <p:nvSpPr>
          <p:cNvPr id="40" name="Shape 38"/>
          <p:cNvSpPr/>
          <p:nvPr/>
        </p:nvSpPr>
        <p:spPr>
          <a:xfrm>
            <a:off x="6336792" y="2176272"/>
            <a:ext cx="5230368" cy="585216"/>
          </a:xfrm>
          <a:prstGeom prst="rect">
            <a:avLst/>
          </a:prstGeom>
          <a:solidFill>
            <a:srgbClr val="F7F7F7"/>
          </a:solidFill>
          <a:ln/>
        </p:spPr>
      </p:sp>
      <p:sp>
        <p:nvSpPr>
          <p:cNvPr id="41" name="Text 39"/>
          <p:cNvSpPr txBox="1"/>
          <p:nvPr/>
        </p:nvSpPr>
        <p:spPr>
          <a:xfrm>
            <a:off x="6446520" y="2221992"/>
            <a:ext cx="2377440" cy="27432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p:txBody>
      </p:sp>
      <p:sp>
        <p:nvSpPr>
          <p:cNvPr id="42" name="Text 40"/>
          <p:cNvSpPr txBox="1"/>
          <p:nvPr/>
        </p:nvSpPr>
        <p:spPr>
          <a:xfrm>
            <a:off x="6446520" y="2478024"/>
            <a:ext cx="352044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CP gross, ELR, parts $/RO, parts GP%</a:t>
            </a:r>
            <a:endParaRPr lang="en-US" sz="1300" dirty="0"/>
          </a:p>
        </p:txBody>
      </p:sp>
      <p:sp>
        <p:nvSpPr>
          <p:cNvPr id="43" name="Shape 41"/>
          <p:cNvSpPr/>
          <p:nvPr/>
        </p:nvSpPr>
        <p:spPr>
          <a:xfrm>
            <a:off x="10058400" y="2351837"/>
            <a:ext cx="960120" cy="234086"/>
          </a:xfrm>
          <a:prstGeom prst="rect">
            <a:avLst/>
          </a:prstGeom>
          <a:solidFill>
            <a:srgbClr val="12A566"/>
          </a:solidFill>
          <a:ln/>
        </p:spPr>
      </p:sp>
      <p:sp>
        <p:nvSpPr>
          <p:cNvPr id="44" name="Text 42"/>
          <p:cNvSpPr txBox="1"/>
          <p:nvPr/>
        </p:nvSpPr>
        <p:spPr>
          <a:xfrm>
            <a:off x="11045952" y="2176272"/>
            <a:ext cx="411480" cy="585216"/>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4</a:t>
            </a:r>
            <a:endParaRPr lang="en-US" sz="1800" dirty="0"/>
          </a:p>
        </p:txBody>
      </p:sp>
      <p:sp>
        <p:nvSpPr>
          <p:cNvPr id="45" name="Text 43"/>
          <p:cNvSpPr txBox="1"/>
          <p:nvPr/>
        </p:nvSpPr>
        <p:spPr>
          <a:xfrm>
            <a:off x="6446520" y="2807208"/>
            <a:ext cx="2377440" cy="27432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MAZDA</a:t>
            </a:r>
            <a:endParaRPr lang="en-US" sz="1400" dirty="0"/>
          </a:p>
        </p:txBody>
      </p:sp>
      <p:sp>
        <p:nvSpPr>
          <p:cNvPr id="46" name="Text 44"/>
          <p:cNvSpPr txBox="1"/>
          <p:nvPr/>
        </p:nvSpPr>
        <p:spPr>
          <a:xfrm>
            <a:off x="6446520" y="3063240"/>
            <a:ext cx="352044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CP gross, CP ROs, hours/RO</a:t>
            </a:r>
            <a:endParaRPr lang="en-US" sz="1300" dirty="0"/>
          </a:p>
        </p:txBody>
      </p:sp>
      <p:sp>
        <p:nvSpPr>
          <p:cNvPr id="47" name="Shape 45"/>
          <p:cNvSpPr/>
          <p:nvPr/>
        </p:nvSpPr>
        <p:spPr>
          <a:xfrm>
            <a:off x="10058400" y="2937053"/>
            <a:ext cx="720090" cy="234086"/>
          </a:xfrm>
          <a:prstGeom prst="rect">
            <a:avLst/>
          </a:prstGeom>
          <a:solidFill>
            <a:srgbClr val="12A566"/>
          </a:solidFill>
          <a:ln/>
        </p:spPr>
      </p:sp>
      <p:sp>
        <p:nvSpPr>
          <p:cNvPr id="48" name="Text 46"/>
          <p:cNvSpPr txBox="1"/>
          <p:nvPr/>
        </p:nvSpPr>
        <p:spPr>
          <a:xfrm>
            <a:off x="11045952" y="2761488"/>
            <a:ext cx="411480" cy="585216"/>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3</a:t>
            </a:r>
            <a:endParaRPr lang="en-US" sz="1800" dirty="0"/>
          </a:p>
        </p:txBody>
      </p:sp>
      <p:sp>
        <p:nvSpPr>
          <p:cNvPr id="49" name="Shape 47"/>
          <p:cNvSpPr/>
          <p:nvPr/>
        </p:nvSpPr>
        <p:spPr>
          <a:xfrm>
            <a:off x="6336792" y="3346704"/>
            <a:ext cx="5230368" cy="585216"/>
          </a:xfrm>
          <a:prstGeom prst="rect">
            <a:avLst/>
          </a:prstGeom>
          <a:solidFill>
            <a:srgbClr val="F7F7F7"/>
          </a:solidFill>
          <a:ln/>
        </p:spPr>
      </p:sp>
      <p:sp>
        <p:nvSpPr>
          <p:cNvPr id="50" name="Text 48"/>
          <p:cNvSpPr txBox="1"/>
          <p:nvPr/>
        </p:nvSpPr>
        <p:spPr>
          <a:xfrm>
            <a:off x="6446520" y="3392424"/>
            <a:ext cx="2377440" cy="27432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p:txBody>
      </p:sp>
      <p:sp>
        <p:nvSpPr>
          <p:cNvPr id="51" name="Text 49"/>
          <p:cNvSpPr txBox="1"/>
          <p:nvPr/>
        </p:nvSpPr>
        <p:spPr>
          <a:xfrm>
            <a:off x="6446520" y="3648456"/>
            <a:ext cx="352044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CP gross, hours/RO, ELR</a:t>
            </a:r>
            <a:endParaRPr lang="en-US" sz="1300" dirty="0"/>
          </a:p>
        </p:txBody>
      </p:sp>
      <p:sp>
        <p:nvSpPr>
          <p:cNvPr id="52" name="Shape 50"/>
          <p:cNvSpPr/>
          <p:nvPr/>
        </p:nvSpPr>
        <p:spPr>
          <a:xfrm>
            <a:off x="10058400" y="3522269"/>
            <a:ext cx="720090" cy="234086"/>
          </a:xfrm>
          <a:prstGeom prst="rect">
            <a:avLst/>
          </a:prstGeom>
          <a:solidFill>
            <a:srgbClr val="12A566"/>
          </a:solidFill>
          <a:ln/>
        </p:spPr>
      </p:sp>
      <p:sp>
        <p:nvSpPr>
          <p:cNvPr id="53" name="Text 51"/>
          <p:cNvSpPr txBox="1"/>
          <p:nvPr/>
        </p:nvSpPr>
        <p:spPr>
          <a:xfrm>
            <a:off x="11045952" y="3346704"/>
            <a:ext cx="411480" cy="585216"/>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3</a:t>
            </a:r>
            <a:endParaRPr lang="en-US" sz="1800" dirty="0"/>
          </a:p>
        </p:txBody>
      </p:sp>
      <p:sp>
        <p:nvSpPr>
          <p:cNvPr id="54" name="Text 52"/>
          <p:cNvSpPr txBox="1"/>
          <p:nvPr/>
        </p:nvSpPr>
        <p:spPr>
          <a:xfrm>
            <a:off x="6446520" y="3977640"/>
            <a:ext cx="2377440" cy="27432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CDJR POST FALLS</a:t>
            </a:r>
            <a:endParaRPr lang="en-US" sz="1400" dirty="0"/>
          </a:p>
        </p:txBody>
      </p:sp>
      <p:sp>
        <p:nvSpPr>
          <p:cNvPr id="55" name="Text 53"/>
          <p:cNvSpPr txBox="1"/>
          <p:nvPr/>
        </p:nvSpPr>
        <p:spPr>
          <a:xfrm>
            <a:off x="6446520" y="4233672"/>
            <a:ext cx="352044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CP gross, CP ROs</a:t>
            </a:r>
            <a:endParaRPr lang="en-US" sz="1300" dirty="0"/>
          </a:p>
        </p:txBody>
      </p:sp>
      <p:sp>
        <p:nvSpPr>
          <p:cNvPr id="56" name="Shape 54"/>
          <p:cNvSpPr/>
          <p:nvPr/>
        </p:nvSpPr>
        <p:spPr>
          <a:xfrm>
            <a:off x="10058400" y="4107485"/>
            <a:ext cx="480060" cy="234086"/>
          </a:xfrm>
          <a:prstGeom prst="rect">
            <a:avLst/>
          </a:prstGeom>
          <a:solidFill>
            <a:srgbClr val="12A566"/>
          </a:solidFill>
          <a:ln/>
        </p:spPr>
      </p:sp>
      <p:sp>
        <p:nvSpPr>
          <p:cNvPr id="57" name="Text 55"/>
          <p:cNvSpPr txBox="1"/>
          <p:nvPr/>
        </p:nvSpPr>
        <p:spPr>
          <a:xfrm>
            <a:off x="11045952" y="3931920"/>
            <a:ext cx="411480" cy="585216"/>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2</a:t>
            </a:r>
            <a:endParaRPr lang="en-US" sz="1800" dirty="0"/>
          </a:p>
        </p:txBody>
      </p:sp>
      <p:sp>
        <p:nvSpPr>
          <p:cNvPr id="58" name="Shape 56"/>
          <p:cNvSpPr/>
          <p:nvPr/>
        </p:nvSpPr>
        <p:spPr>
          <a:xfrm>
            <a:off x="6336792" y="4517136"/>
            <a:ext cx="5230368" cy="585216"/>
          </a:xfrm>
          <a:prstGeom prst="rect">
            <a:avLst/>
          </a:prstGeom>
          <a:solidFill>
            <a:srgbClr val="F7F7F7"/>
          </a:solidFill>
          <a:ln/>
        </p:spPr>
      </p:sp>
      <p:sp>
        <p:nvSpPr>
          <p:cNvPr id="59" name="Text 57"/>
          <p:cNvSpPr txBox="1"/>
          <p:nvPr/>
        </p:nvSpPr>
        <p:spPr>
          <a:xfrm>
            <a:off x="6446520" y="4562856"/>
            <a:ext cx="2377440" cy="27432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p:txBody>
      </p:sp>
      <p:sp>
        <p:nvSpPr>
          <p:cNvPr id="60" name="Text 58"/>
          <p:cNvSpPr txBox="1"/>
          <p:nvPr/>
        </p:nvSpPr>
        <p:spPr>
          <a:xfrm>
            <a:off x="6446520" y="4818888"/>
            <a:ext cx="352044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CP gross, hours/RO</a:t>
            </a:r>
            <a:endParaRPr lang="en-US" sz="1300" dirty="0"/>
          </a:p>
        </p:txBody>
      </p:sp>
      <p:sp>
        <p:nvSpPr>
          <p:cNvPr id="61" name="Shape 59"/>
          <p:cNvSpPr/>
          <p:nvPr/>
        </p:nvSpPr>
        <p:spPr>
          <a:xfrm>
            <a:off x="10058400" y="4692701"/>
            <a:ext cx="480060" cy="234086"/>
          </a:xfrm>
          <a:prstGeom prst="rect">
            <a:avLst/>
          </a:prstGeom>
          <a:solidFill>
            <a:srgbClr val="12A566"/>
          </a:solidFill>
          <a:ln/>
        </p:spPr>
      </p:sp>
      <p:sp>
        <p:nvSpPr>
          <p:cNvPr id="62" name="Text 60"/>
          <p:cNvSpPr txBox="1"/>
          <p:nvPr/>
        </p:nvSpPr>
        <p:spPr>
          <a:xfrm>
            <a:off x="11045952" y="4517136"/>
            <a:ext cx="411480" cy="585216"/>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2</a:t>
            </a:r>
            <a:endParaRPr lang="en-US" sz="1800" dirty="0"/>
          </a:p>
        </p:txBody>
      </p:sp>
      <p:sp>
        <p:nvSpPr>
          <p:cNvPr id="63" name="Text 61"/>
          <p:cNvSpPr txBox="1"/>
          <p:nvPr/>
        </p:nvSpPr>
        <p:spPr>
          <a:xfrm>
            <a:off x="6446520" y="5148072"/>
            <a:ext cx="2377440" cy="27432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HONDA FLAGSTAFF</a:t>
            </a:r>
            <a:endParaRPr lang="en-US" sz="1400" dirty="0"/>
          </a:p>
        </p:txBody>
      </p:sp>
      <p:sp>
        <p:nvSpPr>
          <p:cNvPr id="64" name="Text 62"/>
          <p:cNvSpPr txBox="1"/>
          <p:nvPr/>
        </p:nvSpPr>
        <p:spPr>
          <a:xfrm>
            <a:off x="6446520" y="5404104"/>
            <a:ext cx="352044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CP ROs, parts $/RO</a:t>
            </a:r>
            <a:endParaRPr lang="en-US" sz="1300" dirty="0"/>
          </a:p>
        </p:txBody>
      </p:sp>
      <p:sp>
        <p:nvSpPr>
          <p:cNvPr id="65" name="Shape 63"/>
          <p:cNvSpPr/>
          <p:nvPr/>
        </p:nvSpPr>
        <p:spPr>
          <a:xfrm>
            <a:off x="10058400" y="5277917"/>
            <a:ext cx="480060" cy="234086"/>
          </a:xfrm>
          <a:prstGeom prst="rect">
            <a:avLst/>
          </a:prstGeom>
          <a:solidFill>
            <a:srgbClr val="12A566"/>
          </a:solidFill>
          <a:ln/>
        </p:spPr>
      </p:sp>
      <p:sp>
        <p:nvSpPr>
          <p:cNvPr id="66" name="Text 64"/>
          <p:cNvSpPr txBox="1"/>
          <p:nvPr/>
        </p:nvSpPr>
        <p:spPr>
          <a:xfrm>
            <a:off x="11045952" y="5102352"/>
            <a:ext cx="411480" cy="585216"/>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2</a:t>
            </a:r>
            <a:endParaRPr lang="en-US" sz="1800" dirty="0"/>
          </a:p>
        </p:txBody>
      </p:sp>
      <p:sp>
        <p:nvSpPr>
          <p:cNvPr id="67" name="Shape 65"/>
          <p:cNvSpPr/>
          <p:nvPr/>
        </p:nvSpPr>
        <p:spPr>
          <a:xfrm>
            <a:off x="457200" y="5961888"/>
            <a:ext cx="11274552" cy="548640"/>
          </a:xfrm>
          <a:prstGeom prst="rect">
            <a:avLst/>
          </a:prstGeom>
          <a:solidFill>
            <a:srgbClr val="E6F6EE"/>
          </a:solidFill>
          <a:ln/>
        </p:spPr>
      </p:sp>
      <p:sp>
        <p:nvSpPr>
          <p:cNvPr id="68" name="Text 66"/>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Last year: Three stores tie. Moving now: VW ST GEORGE leads. Ten stores make both views.</a:t>
            </a:r>
            <a:endParaRPr lang="en-US" sz="1600" dirty="0"/>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 MOST IMPROVED</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What Changed?</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749808" y="1371600"/>
            <a:ext cx="2011680" cy="292608"/>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Store</a:t>
            </a:r>
            <a:endParaRPr lang="en-US" sz="1400" dirty="0"/>
          </a:p>
        </p:txBody>
      </p:sp>
      <p:sp>
        <p:nvSpPr>
          <p:cNvPr id="7" name="Text 5"/>
          <p:cNvSpPr txBox="1"/>
          <p:nvPr/>
        </p:nvSpPr>
        <p:spPr>
          <a:xfrm>
            <a:off x="3520440" y="1371600"/>
            <a:ext cx="2011680" cy="292608"/>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Moved on</a:t>
            </a:r>
            <a:endParaRPr lang="en-US" sz="1400" dirty="0"/>
          </a:p>
        </p:txBody>
      </p:sp>
      <p:sp>
        <p:nvSpPr>
          <p:cNvPr id="8" name="Text 6"/>
          <p:cNvSpPr txBox="1"/>
          <p:nvPr/>
        </p:nvSpPr>
        <p:spPr>
          <a:xfrm>
            <a:off x="5669280" y="1371600"/>
            <a:ext cx="2011680" cy="292608"/>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Q1 → Q3</a:t>
            </a:r>
            <a:endParaRPr lang="en-US" sz="1400" dirty="0"/>
          </a:p>
        </p:txBody>
      </p:sp>
      <p:sp>
        <p:nvSpPr>
          <p:cNvPr id="9" name="Text 7"/>
          <p:cNvSpPr txBox="1"/>
          <p:nvPr/>
        </p:nvSpPr>
        <p:spPr>
          <a:xfrm>
            <a:off x="7726680" y="1371600"/>
            <a:ext cx="2011680" cy="292608"/>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Stepped up in</a:t>
            </a:r>
            <a:endParaRPr lang="en-US" sz="1400" dirty="0"/>
          </a:p>
        </p:txBody>
      </p:sp>
      <p:sp>
        <p:nvSpPr>
          <p:cNvPr id="10" name="Text 8"/>
          <p:cNvSpPr txBox="1"/>
          <p:nvPr/>
        </p:nvSpPr>
        <p:spPr>
          <a:xfrm>
            <a:off x="9326880" y="1371600"/>
            <a:ext cx="2011680" cy="292608"/>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Change</a:t>
            </a:r>
            <a:endParaRPr lang="en-US" sz="1400" dirty="0"/>
          </a:p>
        </p:txBody>
      </p:sp>
      <p:sp>
        <p:nvSpPr>
          <p:cNvPr id="11" name="Shape 9"/>
          <p:cNvSpPr/>
          <p:nvPr/>
        </p:nvSpPr>
        <p:spPr>
          <a:xfrm>
            <a:off x="621792" y="1773936"/>
            <a:ext cx="10945368" cy="548640"/>
          </a:xfrm>
          <a:prstGeom prst="rect">
            <a:avLst/>
          </a:prstGeom>
          <a:solidFill>
            <a:srgbClr val="F7F7F7"/>
          </a:solidFill>
          <a:ln/>
        </p:spPr>
      </p:sp>
      <p:sp>
        <p:nvSpPr>
          <p:cNvPr id="12" name="Text 10"/>
          <p:cNvSpPr txBox="1"/>
          <p:nvPr/>
        </p:nvSpPr>
        <p:spPr>
          <a:xfrm>
            <a:off x="749808" y="1773936"/>
            <a:ext cx="2651760" cy="54864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MAZDA</a:t>
            </a:r>
            <a:endParaRPr lang="en-US" sz="1500" dirty="0"/>
          </a:p>
        </p:txBody>
      </p:sp>
      <p:sp>
        <p:nvSpPr>
          <p:cNvPr id="13" name="Text 11"/>
          <p:cNvSpPr txBox="1"/>
          <p:nvPr/>
        </p:nvSpPr>
        <p:spPr>
          <a:xfrm>
            <a:off x="3520440" y="1773936"/>
            <a:ext cx="2103120" cy="548640"/>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CP Gross per Month</a:t>
            </a:r>
            <a:endParaRPr lang="en-US" sz="1500" dirty="0"/>
          </a:p>
        </p:txBody>
      </p:sp>
      <p:sp>
        <p:nvSpPr>
          <p:cNvPr id="14" name="Text 12"/>
          <p:cNvSpPr txBox="1"/>
          <p:nvPr/>
        </p:nvSpPr>
        <p:spPr>
          <a:xfrm>
            <a:off x="5669280" y="1773936"/>
            <a:ext cx="2011680" cy="548640"/>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$155K → $209K</a:t>
            </a:r>
            <a:endParaRPr lang="en-US" sz="1500" dirty="0"/>
          </a:p>
        </p:txBody>
      </p:sp>
      <p:sp>
        <p:nvSpPr>
          <p:cNvPr id="15" name="Text 13"/>
          <p:cNvSpPr txBox="1"/>
          <p:nvPr/>
        </p:nvSpPr>
        <p:spPr>
          <a:xfrm>
            <a:off x="7726680" y="1773936"/>
            <a:ext cx="1554480" cy="548640"/>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August</a:t>
            </a:r>
            <a:endParaRPr lang="en-US" sz="1500" dirty="0"/>
          </a:p>
        </p:txBody>
      </p:sp>
      <p:sp>
        <p:nvSpPr>
          <p:cNvPr id="16" name="Text 14"/>
          <p:cNvSpPr txBox="1"/>
          <p:nvPr/>
        </p:nvSpPr>
        <p:spPr>
          <a:xfrm>
            <a:off x="9326880" y="1773936"/>
            <a:ext cx="1280160" cy="548640"/>
          </a:xfrm>
          <a:prstGeom prst="rect">
            <a:avLst/>
          </a:prstGeom>
          <a:noFill/>
          <a:ln/>
        </p:spPr>
        <p:txBody>
          <a:bodyPr wrap="square" lIns="0" tIns="0" rIns="0" bIns="0" rtlCol="0" anchor="ctr"/>
          <a:lstStyle/>
          <a:p>
            <a:pPr indent="0" marL="0">
              <a:buNone/>
            </a:pPr>
            <a:r>
              <a:rPr lang="en-US" sz="1500" b="1" dirty="0">
                <a:solidFill>
                  <a:srgbClr val="0B7A4A"/>
                </a:solidFill>
                <a:latin typeface="Inter" pitchFamily="34" charset="0"/>
                <a:ea typeface="Inter" pitchFamily="34" charset="-122"/>
                <a:cs typeface="Inter" pitchFamily="34" charset="-120"/>
              </a:rPr>
              <a:t>+34.6%</a:t>
            </a:r>
            <a:endParaRPr lang="en-US" sz="1500" dirty="0"/>
          </a:p>
        </p:txBody>
      </p:sp>
      <p:sp>
        <p:nvSpPr>
          <p:cNvPr id="17" name="Text 15"/>
          <p:cNvSpPr txBox="1"/>
          <p:nvPr/>
        </p:nvSpPr>
        <p:spPr>
          <a:xfrm>
            <a:off x="749808" y="2322576"/>
            <a:ext cx="2651760" cy="54864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LEXUS</a:t>
            </a:r>
            <a:endParaRPr lang="en-US" sz="1500" dirty="0"/>
          </a:p>
        </p:txBody>
      </p:sp>
      <p:sp>
        <p:nvSpPr>
          <p:cNvPr id="18" name="Text 16"/>
          <p:cNvSpPr txBox="1"/>
          <p:nvPr/>
        </p:nvSpPr>
        <p:spPr>
          <a:xfrm>
            <a:off x="3520440" y="2322576"/>
            <a:ext cx="2103120" cy="548640"/>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CP ROs per Month</a:t>
            </a:r>
            <a:endParaRPr lang="en-US" sz="1500" dirty="0"/>
          </a:p>
        </p:txBody>
      </p:sp>
      <p:sp>
        <p:nvSpPr>
          <p:cNvPr id="19" name="Text 17"/>
          <p:cNvSpPr txBox="1"/>
          <p:nvPr/>
        </p:nvSpPr>
        <p:spPr>
          <a:xfrm>
            <a:off x="5669280" y="2322576"/>
            <a:ext cx="2011680" cy="548640"/>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425 → 570</a:t>
            </a:r>
            <a:endParaRPr lang="en-US" sz="1500" dirty="0"/>
          </a:p>
        </p:txBody>
      </p:sp>
      <p:sp>
        <p:nvSpPr>
          <p:cNvPr id="20" name="Text 18"/>
          <p:cNvSpPr txBox="1"/>
          <p:nvPr/>
        </p:nvSpPr>
        <p:spPr>
          <a:xfrm>
            <a:off x="7726680" y="2322576"/>
            <a:ext cx="1554480" cy="548640"/>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April</a:t>
            </a:r>
            <a:endParaRPr lang="en-US" sz="1500" dirty="0"/>
          </a:p>
        </p:txBody>
      </p:sp>
      <p:sp>
        <p:nvSpPr>
          <p:cNvPr id="21" name="Text 19"/>
          <p:cNvSpPr txBox="1"/>
          <p:nvPr/>
        </p:nvSpPr>
        <p:spPr>
          <a:xfrm>
            <a:off x="9326880" y="2322576"/>
            <a:ext cx="1280160" cy="548640"/>
          </a:xfrm>
          <a:prstGeom prst="rect">
            <a:avLst/>
          </a:prstGeom>
          <a:noFill/>
          <a:ln/>
        </p:spPr>
        <p:txBody>
          <a:bodyPr wrap="square" lIns="0" tIns="0" rIns="0" bIns="0" rtlCol="0" anchor="ctr"/>
          <a:lstStyle/>
          <a:p>
            <a:pPr indent="0" marL="0">
              <a:buNone/>
            </a:pPr>
            <a:r>
              <a:rPr lang="en-US" sz="1500" b="1" dirty="0">
                <a:solidFill>
                  <a:srgbClr val="0B7A4A"/>
                </a:solidFill>
                <a:latin typeface="Inter" pitchFamily="34" charset="0"/>
                <a:ea typeface="Inter" pitchFamily="34" charset="-122"/>
                <a:cs typeface="Inter" pitchFamily="34" charset="-120"/>
              </a:rPr>
              <a:t>+34.0%</a:t>
            </a:r>
            <a:endParaRPr lang="en-US" sz="1500" dirty="0"/>
          </a:p>
        </p:txBody>
      </p:sp>
      <p:sp>
        <p:nvSpPr>
          <p:cNvPr id="22" name="Shape 20"/>
          <p:cNvSpPr/>
          <p:nvPr/>
        </p:nvSpPr>
        <p:spPr>
          <a:xfrm>
            <a:off x="621792" y="2871216"/>
            <a:ext cx="10945368" cy="548640"/>
          </a:xfrm>
          <a:prstGeom prst="rect">
            <a:avLst/>
          </a:prstGeom>
          <a:solidFill>
            <a:srgbClr val="F7F7F7"/>
          </a:solidFill>
          <a:ln/>
        </p:spPr>
      </p:sp>
      <p:sp>
        <p:nvSpPr>
          <p:cNvPr id="23" name="Text 21"/>
          <p:cNvSpPr txBox="1"/>
          <p:nvPr/>
        </p:nvSpPr>
        <p:spPr>
          <a:xfrm>
            <a:off x="749808" y="2871216"/>
            <a:ext cx="2651760" cy="54864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MAZDA</a:t>
            </a:r>
            <a:endParaRPr lang="en-US" sz="1500" dirty="0"/>
          </a:p>
        </p:txBody>
      </p:sp>
      <p:sp>
        <p:nvSpPr>
          <p:cNvPr id="24" name="Text 22"/>
          <p:cNvSpPr txBox="1"/>
          <p:nvPr/>
        </p:nvSpPr>
        <p:spPr>
          <a:xfrm>
            <a:off x="3520440" y="2871216"/>
            <a:ext cx="2103120" cy="548640"/>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CP Hours per RO</a:t>
            </a:r>
            <a:endParaRPr lang="en-US" sz="1500" dirty="0"/>
          </a:p>
        </p:txBody>
      </p:sp>
      <p:sp>
        <p:nvSpPr>
          <p:cNvPr id="25" name="Text 23"/>
          <p:cNvSpPr txBox="1"/>
          <p:nvPr/>
        </p:nvSpPr>
        <p:spPr>
          <a:xfrm>
            <a:off x="5669280" y="2871216"/>
            <a:ext cx="2011680" cy="548640"/>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1.35 → 1.65</a:t>
            </a:r>
            <a:endParaRPr lang="en-US" sz="1500" dirty="0"/>
          </a:p>
        </p:txBody>
      </p:sp>
      <p:sp>
        <p:nvSpPr>
          <p:cNvPr id="26" name="Text 24"/>
          <p:cNvSpPr txBox="1"/>
          <p:nvPr/>
        </p:nvSpPr>
        <p:spPr>
          <a:xfrm>
            <a:off x="7726680" y="2871216"/>
            <a:ext cx="1554480" cy="548640"/>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August</a:t>
            </a:r>
            <a:endParaRPr lang="en-US" sz="1500" dirty="0"/>
          </a:p>
        </p:txBody>
      </p:sp>
      <p:sp>
        <p:nvSpPr>
          <p:cNvPr id="27" name="Text 25"/>
          <p:cNvSpPr txBox="1"/>
          <p:nvPr/>
        </p:nvSpPr>
        <p:spPr>
          <a:xfrm>
            <a:off x="9326880" y="2871216"/>
            <a:ext cx="1280160" cy="548640"/>
          </a:xfrm>
          <a:prstGeom prst="rect">
            <a:avLst/>
          </a:prstGeom>
          <a:noFill/>
          <a:ln/>
        </p:spPr>
        <p:txBody>
          <a:bodyPr wrap="square" lIns="0" tIns="0" rIns="0" bIns="0" rtlCol="0" anchor="ctr"/>
          <a:lstStyle/>
          <a:p>
            <a:pPr indent="0" marL="0">
              <a:buNone/>
            </a:pPr>
            <a:r>
              <a:rPr lang="en-US" sz="1500" b="1" dirty="0">
                <a:solidFill>
                  <a:srgbClr val="0B7A4A"/>
                </a:solidFill>
                <a:latin typeface="Inter" pitchFamily="34" charset="0"/>
                <a:ea typeface="Inter" pitchFamily="34" charset="-122"/>
                <a:cs typeface="Inter" pitchFamily="34" charset="-120"/>
              </a:rPr>
              <a:t>+22.1%</a:t>
            </a:r>
            <a:endParaRPr lang="en-US" sz="1500" dirty="0"/>
          </a:p>
        </p:txBody>
      </p:sp>
      <p:sp>
        <p:nvSpPr>
          <p:cNvPr id="28" name="Text 26"/>
          <p:cNvSpPr txBox="1"/>
          <p:nvPr/>
        </p:nvSpPr>
        <p:spPr>
          <a:xfrm>
            <a:off x="749808" y="3419856"/>
            <a:ext cx="2651760" cy="54864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VW ST GEORGE</a:t>
            </a:r>
            <a:endParaRPr lang="en-US" sz="1500" dirty="0"/>
          </a:p>
        </p:txBody>
      </p:sp>
      <p:sp>
        <p:nvSpPr>
          <p:cNvPr id="29" name="Text 27"/>
          <p:cNvSpPr txBox="1"/>
          <p:nvPr/>
        </p:nvSpPr>
        <p:spPr>
          <a:xfrm>
            <a:off x="3520440" y="3419856"/>
            <a:ext cx="2103120" cy="548640"/>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CP ELR</a:t>
            </a:r>
            <a:endParaRPr lang="en-US" sz="1500" dirty="0"/>
          </a:p>
        </p:txBody>
      </p:sp>
      <p:sp>
        <p:nvSpPr>
          <p:cNvPr id="30" name="Text 28"/>
          <p:cNvSpPr txBox="1"/>
          <p:nvPr/>
        </p:nvSpPr>
        <p:spPr>
          <a:xfrm>
            <a:off x="5669280" y="3419856"/>
            <a:ext cx="2011680" cy="548640"/>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$128.27 → $141.89</a:t>
            </a:r>
            <a:endParaRPr lang="en-US" sz="1500" dirty="0"/>
          </a:p>
        </p:txBody>
      </p:sp>
      <p:sp>
        <p:nvSpPr>
          <p:cNvPr id="31" name="Text 29"/>
          <p:cNvSpPr txBox="1"/>
          <p:nvPr/>
        </p:nvSpPr>
        <p:spPr>
          <a:xfrm>
            <a:off x="7726680" y="3419856"/>
            <a:ext cx="1554480" cy="548640"/>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June</a:t>
            </a:r>
            <a:endParaRPr lang="en-US" sz="1500" dirty="0"/>
          </a:p>
        </p:txBody>
      </p:sp>
      <p:sp>
        <p:nvSpPr>
          <p:cNvPr id="32" name="Text 30"/>
          <p:cNvSpPr txBox="1"/>
          <p:nvPr/>
        </p:nvSpPr>
        <p:spPr>
          <a:xfrm>
            <a:off x="9326880" y="3419856"/>
            <a:ext cx="1280160" cy="548640"/>
          </a:xfrm>
          <a:prstGeom prst="rect">
            <a:avLst/>
          </a:prstGeom>
          <a:noFill/>
          <a:ln/>
        </p:spPr>
        <p:txBody>
          <a:bodyPr wrap="square" lIns="0" tIns="0" rIns="0" bIns="0" rtlCol="0" anchor="ctr"/>
          <a:lstStyle/>
          <a:p>
            <a:pPr indent="0" marL="0">
              <a:buNone/>
            </a:pPr>
            <a:r>
              <a:rPr lang="en-US" sz="1500" b="1" dirty="0">
                <a:solidFill>
                  <a:srgbClr val="0B7A4A"/>
                </a:solidFill>
                <a:latin typeface="Inter" pitchFamily="34" charset="0"/>
                <a:ea typeface="Inter" pitchFamily="34" charset="-122"/>
                <a:cs typeface="Inter" pitchFamily="34" charset="-120"/>
              </a:rPr>
              <a:t>+10.6%</a:t>
            </a:r>
            <a:endParaRPr lang="en-US" sz="1500" dirty="0"/>
          </a:p>
        </p:txBody>
      </p:sp>
      <p:sp>
        <p:nvSpPr>
          <p:cNvPr id="33" name="Shape 31"/>
          <p:cNvSpPr/>
          <p:nvPr/>
        </p:nvSpPr>
        <p:spPr>
          <a:xfrm>
            <a:off x="621792" y="3968496"/>
            <a:ext cx="10945368" cy="548640"/>
          </a:xfrm>
          <a:prstGeom prst="rect">
            <a:avLst/>
          </a:prstGeom>
          <a:solidFill>
            <a:srgbClr val="F7F7F7"/>
          </a:solidFill>
          <a:ln/>
        </p:spPr>
      </p:sp>
      <p:sp>
        <p:nvSpPr>
          <p:cNvPr id="34" name="Text 32"/>
          <p:cNvSpPr txBox="1"/>
          <p:nvPr/>
        </p:nvSpPr>
        <p:spPr>
          <a:xfrm>
            <a:off x="749808" y="3968496"/>
            <a:ext cx="2651760" cy="54864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VW ST GEORGE</a:t>
            </a:r>
            <a:endParaRPr lang="en-US" sz="1500" dirty="0"/>
          </a:p>
        </p:txBody>
      </p:sp>
      <p:sp>
        <p:nvSpPr>
          <p:cNvPr id="35" name="Text 33"/>
          <p:cNvSpPr txBox="1"/>
          <p:nvPr/>
        </p:nvSpPr>
        <p:spPr>
          <a:xfrm>
            <a:off x="3520440" y="3968496"/>
            <a:ext cx="2103120" cy="548640"/>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CP Parts $ per RO</a:t>
            </a:r>
            <a:endParaRPr lang="en-US" sz="1500" dirty="0"/>
          </a:p>
        </p:txBody>
      </p:sp>
      <p:sp>
        <p:nvSpPr>
          <p:cNvPr id="36" name="Text 34"/>
          <p:cNvSpPr txBox="1"/>
          <p:nvPr/>
        </p:nvSpPr>
        <p:spPr>
          <a:xfrm>
            <a:off x="5669280" y="3968496"/>
            <a:ext cx="2011680" cy="548640"/>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$224 → $298</a:t>
            </a:r>
            <a:endParaRPr lang="en-US" sz="1500" dirty="0"/>
          </a:p>
        </p:txBody>
      </p:sp>
      <p:sp>
        <p:nvSpPr>
          <p:cNvPr id="37" name="Text 35"/>
          <p:cNvSpPr txBox="1"/>
          <p:nvPr/>
        </p:nvSpPr>
        <p:spPr>
          <a:xfrm>
            <a:off x="7726680" y="3968496"/>
            <a:ext cx="1554480" cy="548640"/>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June</a:t>
            </a:r>
            <a:endParaRPr lang="en-US" sz="1500" dirty="0"/>
          </a:p>
        </p:txBody>
      </p:sp>
      <p:sp>
        <p:nvSpPr>
          <p:cNvPr id="38" name="Text 36"/>
          <p:cNvSpPr txBox="1"/>
          <p:nvPr/>
        </p:nvSpPr>
        <p:spPr>
          <a:xfrm>
            <a:off x="9326880" y="3968496"/>
            <a:ext cx="1280160" cy="548640"/>
          </a:xfrm>
          <a:prstGeom prst="rect">
            <a:avLst/>
          </a:prstGeom>
          <a:noFill/>
          <a:ln/>
        </p:spPr>
        <p:txBody>
          <a:bodyPr wrap="square" lIns="0" tIns="0" rIns="0" bIns="0" rtlCol="0" anchor="ctr"/>
          <a:lstStyle/>
          <a:p>
            <a:pPr indent="0" marL="0">
              <a:buNone/>
            </a:pPr>
            <a:r>
              <a:rPr lang="en-US" sz="1500" b="1" dirty="0">
                <a:solidFill>
                  <a:srgbClr val="0B7A4A"/>
                </a:solidFill>
                <a:latin typeface="Inter" pitchFamily="34" charset="0"/>
                <a:ea typeface="Inter" pitchFamily="34" charset="-122"/>
                <a:cs typeface="Inter" pitchFamily="34" charset="-120"/>
              </a:rPr>
              <a:t>+32.9%</a:t>
            </a:r>
            <a:endParaRPr lang="en-US" sz="1500" dirty="0"/>
          </a:p>
        </p:txBody>
      </p:sp>
      <p:sp>
        <p:nvSpPr>
          <p:cNvPr id="39" name="Text 37"/>
          <p:cNvSpPr txBox="1"/>
          <p:nvPr/>
        </p:nvSpPr>
        <p:spPr>
          <a:xfrm>
            <a:off x="749808" y="4517136"/>
            <a:ext cx="2651760" cy="54864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ACURA</a:t>
            </a:r>
            <a:endParaRPr lang="en-US" sz="1500" dirty="0"/>
          </a:p>
        </p:txBody>
      </p:sp>
      <p:sp>
        <p:nvSpPr>
          <p:cNvPr id="40" name="Text 38"/>
          <p:cNvSpPr txBox="1"/>
          <p:nvPr/>
        </p:nvSpPr>
        <p:spPr>
          <a:xfrm>
            <a:off x="3520440" y="4517136"/>
            <a:ext cx="2103120" cy="548640"/>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CP Parts GP %</a:t>
            </a:r>
            <a:endParaRPr lang="en-US" sz="1500" dirty="0"/>
          </a:p>
        </p:txBody>
      </p:sp>
      <p:sp>
        <p:nvSpPr>
          <p:cNvPr id="41" name="Text 39"/>
          <p:cNvSpPr txBox="1"/>
          <p:nvPr/>
        </p:nvSpPr>
        <p:spPr>
          <a:xfrm>
            <a:off x="5669280" y="4517136"/>
            <a:ext cx="2011680" cy="548640"/>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39.4% → 46.6%</a:t>
            </a:r>
            <a:endParaRPr lang="en-US" sz="1500" dirty="0"/>
          </a:p>
        </p:txBody>
      </p:sp>
      <p:sp>
        <p:nvSpPr>
          <p:cNvPr id="42" name="Text 40"/>
          <p:cNvSpPr txBox="1"/>
          <p:nvPr/>
        </p:nvSpPr>
        <p:spPr>
          <a:xfrm>
            <a:off x="7726680" y="4517136"/>
            <a:ext cx="1554480" cy="548640"/>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April</a:t>
            </a:r>
            <a:endParaRPr lang="en-US" sz="1500" dirty="0"/>
          </a:p>
        </p:txBody>
      </p:sp>
      <p:sp>
        <p:nvSpPr>
          <p:cNvPr id="43" name="Text 41"/>
          <p:cNvSpPr txBox="1"/>
          <p:nvPr/>
        </p:nvSpPr>
        <p:spPr>
          <a:xfrm>
            <a:off x="9326880" y="4517136"/>
            <a:ext cx="1280160" cy="548640"/>
          </a:xfrm>
          <a:prstGeom prst="rect">
            <a:avLst/>
          </a:prstGeom>
          <a:noFill/>
          <a:ln/>
        </p:spPr>
        <p:txBody>
          <a:bodyPr wrap="square" lIns="0" tIns="0" rIns="0" bIns="0" rtlCol="0" anchor="ctr"/>
          <a:lstStyle/>
          <a:p>
            <a:pPr indent="0" marL="0">
              <a:buNone/>
            </a:pPr>
            <a:r>
              <a:rPr lang="en-US" sz="1500" b="1" dirty="0">
                <a:solidFill>
                  <a:srgbClr val="0B7A4A"/>
                </a:solidFill>
                <a:latin typeface="Inter" pitchFamily="34" charset="0"/>
                <a:ea typeface="Inter" pitchFamily="34" charset="-122"/>
                <a:cs typeface="Inter" pitchFamily="34" charset="-120"/>
              </a:rPr>
              <a:t>+7.2 pts</a:t>
            </a:r>
            <a:endParaRPr lang="en-US" sz="1500" dirty="0"/>
          </a:p>
        </p:txBody>
      </p:sp>
      <p:sp>
        <p:nvSpPr>
          <p:cNvPr id="44" name="Shape 42"/>
          <p:cNvSpPr/>
          <p:nvPr/>
        </p:nvSpPr>
        <p:spPr>
          <a:xfrm>
            <a:off x="621792" y="5065776"/>
            <a:ext cx="10945368" cy="548640"/>
          </a:xfrm>
          <a:prstGeom prst="rect">
            <a:avLst/>
          </a:prstGeom>
          <a:solidFill>
            <a:srgbClr val="F7F7F7"/>
          </a:solidFill>
          <a:ln/>
        </p:spPr>
      </p:sp>
      <p:sp>
        <p:nvSpPr>
          <p:cNvPr id="45" name="Text 43"/>
          <p:cNvSpPr txBox="1"/>
          <p:nvPr/>
        </p:nvSpPr>
        <p:spPr>
          <a:xfrm>
            <a:off x="749808" y="5065776"/>
            <a:ext cx="2651760" cy="54864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MAZDA</a:t>
            </a:r>
            <a:endParaRPr lang="en-US" sz="1500" dirty="0"/>
          </a:p>
        </p:txBody>
      </p:sp>
      <p:sp>
        <p:nvSpPr>
          <p:cNvPr id="46" name="Text 44"/>
          <p:cNvSpPr txBox="1"/>
          <p:nvPr/>
        </p:nvSpPr>
        <p:spPr>
          <a:xfrm>
            <a:off x="3520440" y="5065776"/>
            <a:ext cx="2103120" cy="548640"/>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Opcodes · alignment</a:t>
            </a:r>
            <a:endParaRPr lang="en-US" sz="1500" dirty="0"/>
          </a:p>
        </p:txBody>
      </p:sp>
      <p:sp>
        <p:nvSpPr>
          <p:cNvPr id="47" name="Text 45"/>
          <p:cNvSpPr txBox="1"/>
          <p:nvPr/>
        </p:nvSpPr>
        <p:spPr>
          <a:xfrm>
            <a:off x="5669280" y="5065776"/>
            <a:ext cx="2011680" cy="548640"/>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12.6% → 22.8%</a:t>
            </a:r>
            <a:endParaRPr lang="en-US" sz="1500" dirty="0"/>
          </a:p>
        </p:txBody>
      </p:sp>
      <p:sp>
        <p:nvSpPr>
          <p:cNvPr id="48" name="Text 46"/>
          <p:cNvSpPr txBox="1"/>
          <p:nvPr/>
        </p:nvSpPr>
        <p:spPr>
          <a:xfrm>
            <a:off x="7726680" y="5065776"/>
            <a:ext cx="1554480" cy="548640"/>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August</a:t>
            </a:r>
            <a:endParaRPr lang="en-US" sz="1500" dirty="0"/>
          </a:p>
        </p:txBody>
      </p:sp>
      <p:sp>
        <p:nvSpPr>
          <p:cNvPr id="49" name="Text 47"/>
          <p:cNvSpPr txBox="1"/>
          <p:nvPr/>
        </p:nvSpPr>
        <p:spPr>
          <a:xfrm>
            <a:off x="9326880" y="5065776"/>
            <a:ext cx="1280160" cy="548640"/>
          </a:xfrm>
          <a:prstGeom prst="rect">
            <a:avLst/>
          </a:prstGeom>
          <a:noFill/>
          <a:ln/>
        </p:spPr>
        <p:txBody>
          <a:bodyPr wrap="square" lIns="0" tIns="0" rIns="0" bIns="0" rtlCol="0" anchor="ctr"/>
          <a:lstStyle/>
          <a:p>
            <a:pPr indent="0" marL="0">
              <a:buNone/>
            </a:pPr>
            <a:r>
              <a:rPr lang="en-US" sz="1500" b="1" dirty="0">
                <a:solidFill>
                  <a:srgbClr val="0B7A4A"/>
                </a:solidFill>
                <a:latin typeface="Inter" pitchFamily="34" charset="0"/>
                <a:ea typeface="Inter" pitchFamily="34" charset="-122"/>
                <a:cs typeface="Inter" pitchFamily="34" charset="-120"/>
              </a:rPr>
              <a:t>+10.1 pts</a:t>
            </a:r>
            <a:endParaRPr lang="en-US" sz="1500" dirty="0"/>
          </a:p>
        </p:txBody>
      </p:sp>
      <p:sp>
        <p:nvSpPr>
          <p:cNvPr id="50" name="Shape 48"/>
          <p:cNvSpPr/>
          <p:nvPr/>
        </p:nvSpPr>
        <p:spPr>
          <a:xfrm>
            <a:off x="457200" y="5961888"/>
            <a:ext cx="11274552" cy="548640"/>
          </a:xfrm>
          <a:prstGeom prst="rect">
            <a:avLst/>
          </a:prstGeom>
          <a:solidFill>
            <a:srgbClr val="EDF4FA"/>
          </a:solidFill>
          <a:ln/>
        </p:spPr>
      </p:sp>
      <p:sp>
        <p:nvSpPr>
          <p:cNvPr id="51" name="Text 49"/>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Four stores, one question each: what did you start doing that month? One sentence, before you leave.</a:t>
            </a:r>
            <a:endParaRPr lang="en-US" sz="1600" dirty="0"/>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Where the Money Is</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713232" y="1353312"/>
            <a:ext cx="4023360" cy="310896"/>
          </a:xfrm>
          <a:prstGeom prst="rect">
            <a:avLst/>
          </a:prstGeom>
          <a:noFill/>
          <a:ln/>
        </p:spPr>
        <p:txBody>
          <a:bodyPr wrap="square" lIns="0" tIns="0" rIns="0" bIns="0" rtlCol="0" anchor="ctr"/>
          <a:lstStyle/>
          <a:p>
            <a:pPr algn="l" indent="0" marL="0">
              <a:buNone/>
            </a:pPr>
            <a:r>
              <a:rPr lang="en-US" sz="1400" b="1" spc="100" kern="0" dirty="0">
                <a:solidFill>
                  <a:srgbClr val="0B2C4A"/>
                </a:solidFill>
                <a:latin typeface="Inter" pitchFamily="34" charset="0"/>
                <a:ea typeface="Inter" pitchFamily="34" charset="-122"/>
                <a:cs typeface="Inter" pitchFamily="34" charset="-120"/>
              </a:rPr>
              <a:t>THE LEVER</a:t>
            </a:r>
            <a:endParaRPr lang="en-US" sz="1400" dirty="0"/>
          </a:p>
        </p:txBody>
      </p:sp>
      <p:sp>
        <p:nvSpPr>
          <p:cNvPr id="7" name="Text 5"/>
          <p:cNvSpPr txBox="1"/>
          <p:nvPr/>
        </p:nvSpPr>
        <p:spPr>
          <a:xfrm>
            <a:off x="4754880" y="1353312"/>
            <a:ext cx="2103120" cy="310896"/>
          </a:xfrm>
          <a:prstGeom prst="rect">
            <a:avLst/>
          </a:prstGeom>
          <a:noFill/>
          <a:ln/>
        </p:spPr>
        <p:txBody>
          <a:bodyPr wrap="square" lIns="0" tIns="0" rIns="0" bIns="0" rtlCol="0" anchor="ctr"/>
          <a:lstStyle/>
          <a:p>
            <a:pPr algn="r" indent="0" marL="0">
              <a:buNone/>
            </a:pPr>
            <a:r>
              <a:rPr lang="en-US" sz="1400" b="1" spc="100" kern="0" dirty="0">
                <a:solidFill>
                  <a:srgbClr val="0B2C4A"/>
                </a:solidFill>
                <a:latin typeface="Inter" pitchFamily="34" charset="0"/>
                <a:ea typeface="Inter" pitchFamily="34" charset="-122"/>
                <a:cs typeface="Inter" pitchFamily="34" charset="-120"/>
              </a:rPr>
              <a:t>GROSS A YEAR</a:t>
            </a:r>
            <a:endParaRPr lang="en-US" sz="1400" dirty="0"/>
          </a:p>
        </p:txBody>
      </p:sp>
      <p:sp>
        <p:nvSpPr>
          <p:cNvPr id="8" name="Text 6"/>
          <p:cNvSpPr txBox="1"/>
          <p:nvPr/>
        </p:nvSpPr>
        <p:spPr>
          <a:xfrm>
            <a:off x="7178040" y="1353312"/>
            <a:ext cx="2651760" cy="310896"/>
          </a:xfrm>
          <a:prstGeom prst="rect">
            <a:avLst/>
          </a:prstGeom>
          <a:noFill/>
          <a:ln/>
        </p:spPr>
        <p:txBody>
          <a:bodyPr wrap="square" lIns="0" tIns="0" rIns="0" bIns="0" rtlCol="0" anchor="ctr"/>
          <a:lstStyle/>
          <a:p>
            <a:pPr algn="l" indent="0" marL="0">
              <a:buNone/>
            </a:pPr>
            <a:r>
              <a:rPr lang="en-US" sz="1400" b="1" spc="100" kern="0" dirty="0">
                <a:solidFill>
                  <a:srgbClr val="0B2C4A"/>
                </a:solidFill>
                <a:latin typeface="Inter" pitchFamily="34" charset="0"/>
                <a:ea typeface="Inter" pitchFamily="34" charset="-122"/>
                <a:cs typeface="Inter" pitchFamily="34" charset="-120"/>
              </a:rPr>
              <a:t>HOW</a:t>
            </a:r>
            <a:endParaRPr lang="en-US" sz="1400" dirty="0"/>
          </a:p>
        </p:txBody>
      </p:sp>
      <p:sp>
        <p:nvSpPr>
          <p:cNvPr id="9" name="Text 7"/>
          <p:cNvSpPr txBox="1"/>
          <p:nvPr/>
        </p:nvSpPr>
        <p:spPr>
          <a:xfrm>
            <a:off x="9875520" y="1353312"/>
            <a:ext cx="1691640" cy="310896"/>
          </a:xfrm>
          <a:prstGeom prst="rect">
            <a:avLst/>
          </a:prstGeom>
          <a:noFill/>
          <a:ln/>
        </p:spPr>
        <p:txBody>
          <a:bodyPr wrap="square" lIns="0" tIns="0" rIns="0" bIns="0" rtlCol="0" anchor="ctr"/>
          <a:lstStyle/>
          <a:p>
            <a:pPr algn="l" indent="0" marL="0">
              <a:buNone/>
            </a:pPr>
            <a:r>
              <a:rPr lang="en-US" sz="1400" b="1" spc="100" kern="0" dirty="0">
                <a:solidFill>
                  <a:srgbClr val="0B2C4A"/>
                </a:solidFill>
                <a:latin typeface="Inter" pitchFamily="34" charset="0"/>
                <a:ea typeface="Inter" pitchFamily="34" charset="-122"/>
                <a:cs typeface="Inter" pitchFamily="34" charset="-120"/>
              </a:rPr>
              <a:t>WHO OWNS IT</a:t>
            </a:r>
            <a:endParaRPr lang="en-US" sz="1400" dirty="0"/>
          </a:p>
        </p:txBody>
      </p:sp>
      <p:sp>
        <p:nvSpPr>
          <p:cNvPr id="10" name="Shape 8"/>
          <p:cNvSpPr/>
          <p:nvPr/>
        </p:nvSpPr>
        <p:spPr>
          <a:xfrm>
            <a:off x="548640" y="1755648"/>
            <a:ext cx="11091672" cy="713232"/>
          </a:xfrm>
          <a:prstGeom prst="rect">
            <a:avLst/>
          </a:prstGeom>
          <a:solidFill>
            <a:srgbClr val="F7F7F7"/>
          </a:solidFill>
          <a:ln/>
        </p:spPr>
      </p:sp>
      <p:sp>
        <p:nvSpPr>
          <p:cNvPr id="11" name="Shape 9"/>
          <p:cNvSpPr/>
          <p:nvPr/>
        </p:nvSpPr>
        <p:spPr>
          <a:xfrm>
            <a:off x="548640" y="1755648"/>
            <a:ext cx="64008" cy="713232"/>
          </a:xfrm>
          <a:prstGeom prst="rect">
            <a:avLst/>
          </a:prstGeom>
          <a:solidFill>
            <a:srgbClr val="12A566"/>
          </a:solidFill>
          <a:ln/>
        </p:spPr>
      </p:sp>
      <p:sp>
        <p:nvSpPr>
          <p:cNvPr id="12" name="Text 10"/>
          <p:cNvSpPr txBox="1"/>
          <p:nvPr/>
        </p:nvSpPr>
        <p:spPr>
          <a:xfrm>
            <a:off x="749808" y="1755648"/>
            <a:ext cx="3931920" cy="713232"/>
          </a:xfrm>
          <a:prstGeom prst="rect">
            <a:avLst/>
          </a:prstGeom>
          <a:noFill/>
          <a:ln/>
        </p:spPr>
        <p:txBody>
          <a:bodyPr wrap="square" lIns="0" tIns="0" rIns="0" bIns="0" rtlCol="0" anchor="ctr"/>
          <a:lstStyle/>
          <a:p>
            <a:pPr indent="0" marL="0">
              <a:buNone/>
            </a:pPr>
            <a:r>
              <a:rPr lang="en-US" sz="1700" b="1" dirty="0">
                <a:solidFill>
                  <a:srgbClr val="1A1A1A"/>
                </a:solidFill>
                <a:latin typeface="Inter" pitchFamily="34" charset="0"/>
                <a:ea typeface="Inter" pitchFamily="34" charset="-122"/>
                <a:cs typeface="Inter" pitchFamily="34" charset="-120"/>
              </a:rPr>
              <a:t>Every tech under 85% reaches 85%</a:t>
            </a:r>
            <a:endParaRPr lang="en-US" sz="1700" dirty="0"/>
          </a:p>
        </p:txBody>
      </p:sp>
      <p:sp>
        <p:nvSpPr>
          <p:cNvPr id="13" name="Text 11"/>
          <p:cNvSpPr txBox="1"/>
          <p:nvPr/>
        </p:nvSpPr>
        <p:spPr>
          <a:xfrm>
            <a:off x="4754880" y="1755648"/>
            <a:ext cx="2103120" cy="713232"/>
          </a:xfrm>
          <a:prstGeom prst="rect">
            <a:avLst/>
          </a:prstGeom>
          <a:noFill/>
          <a:ln/>
        </p:spPr>
        <p:txBody>
          <a:bodyPr wrap="square" lIns="0" tIns="0" rIns="0" bIns="0" rtlCol="0" anchor="ctr"/>
          <a:lstStyle/>
          <a:p>
            <a:pPr algn="r" indent="0" marL="0">
              <a:buNone/>
            </a:pPr>
            <a:r>
              <a:rPr lang="en-US" sz="2400" b="1" dirty="0">
                <a:solidFill>
                  <a:srgbClr val="0B7A4A"/>
                </a:solidFill>
                <a:latin typeface="Inter" pitchFamily="34" charset="0"/>
                <a:ea typeface="Inter" pitchFamily="34" charset="-122"/>
                <a:cs typeface="Inter" pitchFamily="34" charset="-120"/>
              </a:rPr>
              <a:t>$19,763,184</a:t>
            </a:r>
            <a:endParaRPr lang="en-US" sz="2400" dirty="0"/>
          </a:p>
        </p:txBody>
      </p:sp>
      <p:sp>
        <p:nvSpPr>
          <p:cNvPr id="14" name="Text 12"/>
          <p:cNvSpPr txBox="1"/>
          <p:nvPr/>
        </p:nvSpPr>
        <p:spPr>
          <a:xfrm>
            <a:off x="7178040" y="1755648"/>
            <a:ext cx="2606040" cy="71323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Dispatch, parts staging, approvals, coaching</a:t>
            </a:r>
            <a:endParaRPr lang="en-US" sz="1400" dirty="0"/>
          </a:p>
        </p:txBody>
      </p:sp>
      <p:sp>
        <p:nvSpPr>
          <p:cNvPr id="15" name="Shape 13"/>
          <p:cNvSpPr/>
          <p:nvPr/>
        </p:nvSpPr>
        <p:spPr>
          <a:xfrm>
            <a:off x="9875520" y="1810512"/>
            <a:ext cx="1691640" cy="274320"/>
          </a:xfrm>
          <a:prstGeom prst="roundRect">
            <a:avLst>
              <a:gd name="adj" fmla="val 20000"/>
            </a:avLst>
          </a:prstGeom>
          <a:solidFill>
            <a:srgbClr val="EDF4FA"/>
          </a:solidFill>
          <a:ln w="9525">
            <a:solidFill>
              <a:srgbClr val="0B2C4A"/>
            </a:solidFill>
            <a:prstDash val="solid"/>
          </a:ln>
        </p:spPr>
      </p:sp>
      <p:sp>
        <p:nvSpPr>
          <p:cNvPr id="16" name="Text 14"/>
          <p:cNvSpPr txBox="1"/>
          <p:nvPr/>
        </p:nvSpPr>
        <p:spPr>
          <a:xfrm>
            <a:off x="9875520" y="1810512"/>
            <a:ext cx="1691640" cy="274320"/>
          </a:xfrm>
          <a:prstGeom prst="rect">
            <a:avLst/>
          </a:prstGeom>
          <a:noFill/>
          <a:ln/>
        </p:spPr>
        <p:txBody>
          <a:bodyPr wrap="square" lIns="0" tIns="0" rIns="0" bIns="0" rtlCol="0" anchor="ctr"/>
          <a:lstStyle/>
          <a:p>
            <a:pPr algn="ctr" indent="0" marL="0">
              <a:buNone/>
            </a:pPr>
            <a:r>
              <a:rPr lang="en-US" sz="1400" b="1" dirty="0">
                <a:solidFill>
                  <a:srgbClr val="0B2C4A"/>
                </a:solidFill>
                <a:latin typeface="Inter" pitchFamily="34" charset="0"/>
                <a:ea typeface="Inter" pitchFamily="34" charset="-122"/>
                <a:cs typeface="Inter" pitchFamily="34" charset="-120"/>
              </a:rPr>
              <a:t>Service manager</a:t>
            </a:r>
            <a:endParaRPr lang="en-US" sz="1400" dirty="0"/>
          </a:p>
        </p:txBody>
      </p:sp>
      <p:sp>
        <p:nvSpPr>
          <p:cNvPr id="17" name="Shape 15"/>
          <p:cNvSpPr/>
          <p:nvPr/>
        </p:nvSpPr>
        <p:spPr>
          <a:xfrm>
            <a:off x="9875520" y="2139696"/>
            <a:ext cx="566928" cy="274320"/>
          </a:xfrm>
          <a:prstGeom prst="roundRect">
            <a:avLst>
              <a:gd name="adj" fmla="val 20000"/>
            </a:avLst>
          </a:prstGeom>
          <a:solidFill>
            <a:srgbClr val="0B2C4A"/>
          </a:solidFill>
          <a:ln w="9525">
            <a:solidFill>
              <a:srgbClr val="0B2C4A"/>
            </a:solidFill>
            <a:prstDash val="solid"/>
          </a:ln>
        </p:spPr>
      </p:sp>
      <p:sp>
        <p:nvSpPr>
          <p:cNvPr id="18" name="Text 16"/>
          <p:cNvSpPr txBox="1"/>
          <p:nvPr/>
        </p:nvSpPr>
        <p:spPr>
          <a:xfrm>
            <a:off x="9875520" y="2139696"/>
            <a:ext cx="566928"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GM</a:t>
            </a:r>
            <a:endParaRPr lang="en-US" sz="1400" dirty="0"/>
          </a:p>
        </p:txBody>
      </p:sp>
      <p:sp>
        <p:nvSpPr>
          <p:cNvPr id="19" name="Shape 17"/>
          <p:cNvSpPr/>
          <p:nvPr/>
        </p:nvSpPr>
        <p:spPr>
          <a:xfrm>
            <a:off x="548640" y="2542032"/>
            <a:ext cx="11091672" cy="713232"/>
          </a:xfrm>
          <a:prstGeom prst="rect">
            <a:avLst/>
          </a:prstGeom>
          <a:solidFill>
            <a:srgbClr val="FFFFFF"/>
          </a:solidFill>
          <a:ln/>
        </p:spPr>
      </p:sp>
      <p:sp>
        <p:nvSpPr>
          <p:cNvPr id="20" name="Shape 18"/>
          <p:cNvSpPr/>
          <p:nvPr/>
        </p:nvSpPr>
        <p:spPr>
          <a:xfrm>
            <a:off x="548640" y="2542032"/>
            <a:ext cx="64008" cy="713232"/>
          </a:xfrm>
          <a:prstGeom prst="rect">
            <a:avLst/>
          </a:prstGeom>
          <a:solidFill>
            <a:srgbClr val="12A566"/>
          </a:solidFill>
          <a:ln/>
        </p:spPr>
      </p:sp>
      <p:sp>
        <p:nvSpPr>
          <p:cNvPr id="21" name="Text 19"/>
          <p:cNvSpPr txBox="1"/>
          <p:nvPr/>
        </p:nvSpPr>
        <p:spPr>
          <a:xfrm>
            <a:off x="749808" y="2542032"/>
            <a:ext cx="3931920" cy="713232"/>
          </a:xfrm>
          <a:prstGeom prst="rect">
            <a:avLst/>
          </a:prstGeom>
          <a:noFill/>
          <a:ln/>
        </p:spPr>
        <p:txBody>
          <a:bodyPr wrap="square" lIns="0" tIns="0" rIns="0" bIns="0" rtlCol="0" anchor="ctr"/>
          <a:lstStyle/>
          <a:p>
            <a:pPr indent="0" marL="0">
              <a:buNone/>
            </a:pPr>
            <a:r>
              <a:rPr lang="en-US" sz="1700" b="1" dirty="0">
                <a:solidFill>
                  <a:srgbClr val="1A1A1A"/>
                </a:solidFill>
                <a:latin typeface="Inter" pitchFamily="34" charset="0"/>
                <a:ea typeface="Inter" pitchFamily="34" charset="-122"/>
                <a:cs typeface="Inter" pitchFamily="34" charset="-120"/>
              </a:rPr>
              <a:t>0.1 more hours on every CP RO</a:t>
            </a:r>
            <a:endParaRPr lang="en-US" sz="1700" dirty="0"/>
          </a:p>
        </p:txBody>
      </p:sp>
      <p:sp>
        <p:nvSpPr>
          <p:cNvPr id="22" name="Text 20"/>
          <p:cNvSpPr txBox="1"/>
          <p:nvPr/>
        </p:nvSpPr>
        <p:spPr>
          <a:xfrm>
            <a:off x="4754880" y="2542032"/>
            <a:ext cx="2103120" cy="713232"/>
          </a:xfrm>
          <a:prstGeom prst="rect">
            <a:avLst/>
          </a:prstGeom>
          <a:noFill/>
          <a:ln/>
        </p:spPr>
        <p:txBody>
          <a:bodyPr wrap="square" lIns="0" tIns="0" rIns="0" bIns="0" rtlCol="0" anchor="ctr"/>
          <a:lstStyle/>
          <a:p>
            <a:pPr algn="r" indent="0" marL="0">
              <a:buNone/>
            </a:pPr>
            <a:r>
              <a:rPr lang="en-US" sz="2400" b="1" dirty="0">
                <a:solidFill>
                  <a:srgbClr val="0B7A4A"/>
                </a:solidFill>
                <a:latin typeface="Inter" pitchFamily="34" charset="0"/>
                <a:ea typeface="Inter" pitchFamily="34" charset="-122"/>
                <a:cs typeface="Inter" pitchFamily="34" charset="-120"/>
              </a:rPr>
              <a:t>$6,602,564</a:t>
            </a:r>
            <a:endParaRPr lang="en-US" sz="2400" dirty="0"/>
          </a:p>
        </p:txBody>
      </p:sp>
      <p:sp>
        <p:nvSpPr>
          <p:cNvPr id="23" name="Text 21"/>
          <p:cNvSpPr txBox="1"/>
          <p:nvPr/>
        </p:nvSpPr>
        <p:spPr>
          <a:xfrm>
            <a:off x="7178040" y="2542032"/>
            <a:ext cx="2606040" cy="71323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MPI on every car, the menu, Road to the Sale</a:t>
            </a:r>
            <a:endParaRPr lang="en-US" sz="1400" dirty="0"/>
          </a:p>
        </p:txBody>
      </p:sp>
      <p:sp>
        <p:nvSpPr>
          <p:cNvPr id="24" name="Shape 22"/>
          <p:cNvSpPr/>
          <p:nvPr/>
        </p:nvSpPr>
        <p:spPr>
          <a:xfrm>
            <a:off x="9875520" y="2761488"/>
            <a:ext cx="1691640" cy="274320"/>
          </a:xfrm>
          <a:prstGeom prst="roundRect">
            <a:avLst>
              <a:gd name="adj" fmla="val 20000"/>
            </a:avLst>
          </a:prstGeom>
          <a:solidFill>
            <a:srgbClr val="EDF4FA"/>
          </a:solidFill>
          <a:ln w="9525">
            <a:solidFill>
              <a:srgbClr val="0B2C4A"/>
            </a:solidFill>
            <a:prstDash val="solid"/>
          </a:ln>
        </p:spPr>
      </p:sp>
      <p:sp>
        <p:nvSpPr>
          <p:cNvPr id="25" name="Text 23"/>
          <p:cNvSpPr txBox="1"/>
          <p:nvPr/>
        </p:nvSpPr>
        <p:spPr>
          <a:xfrm>
            <a:off x="9875520" y="2761488"/>
            <a:ext cx="1691640" cy="274320"/>
          </a:xfrm>
          <a:prstGeom prst="rect">
            <a:avLst/>
          </a:prstGeom>
          <a:noFill/>
          <a:ln/>
        </p:spPr>
        <p:txBody>
          <a:bodyPr wrap="square" lIns="0" tIns="0" rIns="0" bIns="0" rtlCol="0" anchor="ctr"/>
          <a:lstStyle/>
          <a:p>
            <a:pPr algn="ctr" indent="0" marL="0">
              <a:buNone/>
            </a:pPr>
            <a:r>
              <a:rPr lang="en-US" sz="1400" b="1" dirty="0">
                <a:solidFill>
                  <a:srgbClr val="0B2C4A"/>
                </a:solidFill>
                <a:latin typeface="Inter" pitchFamily="34" charset="0"/>
                <a:ea typeface="Inter" pitchFamily="34" charset="-122"/>
                <a:cs typeface="Inter" pitchFamily="34" charset="-120"/>
              </a:rPr>
              <a:t>Service manager</a:t>
            </a:r>
            <a:endParaRPr lang="en-US" sz="1400" dirty="0"/>
          </a:p>
        </p:txBody>
      </p:sp>
      <p:sp>
        <p:nvSpPr>
          <p:cNvPr id="26" name="Shape 24"/>
          <p:cNvSpPr/>
          <p:nvPr/>
        </p:nvSpPr>
        <p:spPr>
          <a:xfrm>
            <a:off x="548640" y="3328416"/>
            <a:ext cx="11091672" cy="713232"/>
          </a:xfrm>
          <a:prstGeom prst="rect">
            <a:avLst/>
          </a:prstGeom>
          <a:solidFill>
            <a:srgbClr val="F7F7F7"/>
          </a:solidFill>
          <a:ln/>
        </p:spPr>
      </p:sp>
      <p:sp>
        <p:nvSpPr>
          <p:cNvPr id="27" name="Shape 25"/>
          <p:cNvSpPr/>
          <p:nvPr/>
        </p:nvSpPr>
        <p:spPr>
          <a:xfrm>
            <a:off x="548640" y="3328416"/>
            <a:ext cx="64008" cy="713232"/>
          </a:xfrm>
          <a:prstGeom prst="rect">
            <a:avLst/>
          </a:prstGeom>
          <a:solidFill>
            <a:srgbClr val="12A566"/>
          </a:solidFill>
          <a:ln/>
        </p:spPr>
      </p:sp>
      <p:sp>
        <p:nvSpPr>
          <p:cNvPr id="28" name="Text 26"/>
          <p:cNvSpPr txBox="1"/>
          <p:nvPr/>
        </p:nvSpPr>
        <p:spPr>
          <a:xfrm>
            <a:off x="749808" y="3328416"/>
            <a:ext cx="3931920" cy="713232"/>
          </a:xfrm>
          <a:prstGeom prst="rect">
            <a:avLst/>
          </a:prstGeom>
          <a:noFill/>
          <a:ln/>
        </p:spPr>
        <p:txBody>
          <a:bodyPr wrap="square" lIns="0" tIns="0" rIns="0" bIns="0" rtlCol="0" anchor="ctr"/>
          <a:lstStyle/>
          <a:p>
            <a:pPr indent="0" marL="0">
              <a:buNone/>
            </a:pPr>
            <a:r>
              <a:rPr lang="en-US" sz="1700" b="1" dirty="0">
                <a:solidFill>
                  <a:srgbClr val="1A1A1A"/>
                </a:solidFill>
                <a:latin typeface="Inter" pitchFamily="34" charset="0"/>
                <a:ea typeface="Inter" pitchFamily="34" charset="-122"/>
                <a:cs typeface="Inter" pitchFamily="34" charset="-120"/>
              </a:rPr>
              <a:t>Every store at the four op code benchmarks</a:t>
            </a:r>
            <a:endParaRPr lang="en-US" sz="1700" dirty="0"/>
          </a:p>
        </p:txBody>
      </p:sp>
      <p:sp>
        <p:nvSpPr>
          <p:cNvPr id="29" name="Text 27"/>
          <p:cNvSpPr txBox="1"/>
          <p:nvPr/>
        </p:nvSpPr>
        <p:spPr>
          <a:xfrm>
            <a:off x="4754880" y="3328416"/>
            <a:ext cx="2103120" cy="713232"/>
          </a:xfrm>
          <a:prstGeom prst="rect">
            <a:avLst/>
          </a:prstGeom>
          <a:noFill/>
          <a:ln/>
        </p:spPr>
        <p:txBody>
          <a:bodyPr wrap="square" lIns="0" tIns="0" rIns="0" bIns="0" rtlCol="0" anchor="ctr"/>
          <a:lstStyle/>
          <a:p>
            <a:pPr algn="r" indent="0" marL="0">
              <a:buNone/>
            </a:pPr>
            <a:r>
              <a:rPr lang="en-US" sz="2400" b="1" dirty="0">
                <a:solidFill>
                  <a:srgbClr val="0B7A4A"/>
                </a:solidFill>
                <a:latin typeface="Inter" pitchFamily="34" charset="0"/>
                <a:ea typeface="Inter" pitchFamily="34" charset="-122"/>
                <a:cs typeface="Inter" pitchFamily="34" charset="-120"/>
              </a:rPr>
              <a:t>$4,895,199</a:t>
            </a:r>
            <a:endParaRPr lang="en-US" sz="2400" dirty="0"/>
          </a:p>
        </p:txBody>
      </p:sp>
      <p:sp>
        <p:nvSpPr>
          <p:cNvPr id="30" name="Text 28"/>
          <p:cNvSpPr txBox="1"/>
          <p:nvPr/>
        </p:nvSpPr>
        <p:spPr>
          <a:xfrm>
            <a:off x="7178040" y="3328416"/>
            <a:ext cx="2606040" cy="71323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Alignment, balance, brake fluid, fuel service</a:t>
            </a:r>
            <a:endParaRPr lang="en-US" sz="1400" dirty="0"/>
          </a:p>
        </p:txBody>
      </p:sp>
      <p:sp>
        <p:nvSpPr>
          <p:cNvPr id="31" name="Shape 29"/>
          <p:cNvSpPr/>
          <p:nvPr/>
        </p:nvSpPr>
        <p:spPr>
          <a:xfrm>
            <a:off x="9875520" y="3547872"/>
            <a:ext cx="1691640" cy="274320"/>
          </a:xfrm>
          <a:prstGeom prst="roundRect">
            <a:avLst>
              <a:gd name="adj" fmla="val 20000"/>
            </a:avLst>
          </a:prstGeom>
          <a:solidFill>
            <a:srgbClr val="EDF4FA"/>
          </a:solidFill>
          <a:ln w="9525">
            <a:solidFill>
              <a:srgbClr val="0B2C4A"/>
            </a:solidFill>
            <a:prstDash val="solid"/>
          </a:ln>
        </p:spPr>
      </p:sp>
      <p:sp>
        <p:nvSpPr>
          <p:cNvPr id="32" name="Text 30"/>
          <p:cNvSpPr txBox="1"/>
          <p:nvPr/>
        </p:nvSpPr>
        <p:spPr>
          <a:xfrm>
            <a:off x="9875520" y="3547872"/>
            <a:ext cx="1691640" cy="274320"/>
          </a:xfrm>
          <a:prstGeom prst="rect">
            <a:avLst/>
          </a:prstGeom>
          <a:noFill/>
          <a:ln/>
        </p:spPr>
        <p:txBody>
          <a:bodyPr wrap="square" lIns="0" tIns="0" rIns="0" bIns="0" rtlCol="0" anchor="ctr"/>
          <a:lstStyle/>
          <a:p>
            <a:pPr algn="ctr" indent="0" marL="0">
              <a:buNone/>
            </a:pPr>
            <a:r>
              <a:rPr lang="en-US" sz="1400" b="1" dirty="0">
                <a:solidFill>
                  <a:srgbClr val="0B2C4A"/>
                </a:solidFill>
                <a:latin typeface="Inter" pitchFamily="34" charset="0"/>
                <a:ea typeface="Inter" pitchFamily="34" charset="-122"/>
                <a:cs typeface="Inter" pitchFamily="34" charset="-120"/>
              </a:rPr>
              <a:t>Service manager</a:t>
            </a:r>
            <a:endParaRPr lang="en-US" sz="1400" dirty="0"/>
          </a:p>
        </p:txBody>
      </p:sp>
      <p:sp>
        <p:nvSpPr>
          <p:cNvPr id="33" name="Shape 31"/>
          <p:cNvSpPr/>
          <p:nvPr/>
        </p:nvSpPr>
        <p:spPr>
          <a:xfrm>
            <a:off x="548640" y="4114800"/>
            <a:ext cx="11091672" cy="713232"/>
          </a:xfrm>
          <a:prstGeom prst="rect">
            <a:avLst/>
          </a:prstGeom>
          <a:solidFill>
            <a:srgbClr val="FFFFFF"/>
          </a:solidFill>
          <a:ln/>
        </p:spPr>
      </p:sp>
      <p:sp>
        <p:nvSpPr>
          <p:cNvPr id="34" name="Shape 32"/>
          <p:cNvSpPr/>
          <p:nvPr/>
        </p:nvSpPr>
        <p:spPr>
          <a:xfrm>
            <a:off x="548640" y="4114800"/>
            <a:ext cx="64008" cy="713232"/>
          </a:xfrm>
          <a:prstGeom prst="rect">
            <a:avLst/>
          </a:prstGeom>
          <a:solidFill>
            <a:srgbClr val="12A566"/>
          </a:solidFill>
          <a:ln/>
        </p:spPr>
      </p:sp>
      <p:sp>
        <p:nvSpPr>
          <p:cNvPr id="35" name="Text 33"/>
          <p:cNvSpPr txBox="1"/>
          <p:nvPr/>
        </p:nvSpPr>
        <p:spPr>
          <a:xfrm>
            <a:off x="749808" y="4114800"/>
            <a:ext cx="3931920" cy="713232"/>
          </a:xfrm>
          <a:prstGeom prst="rect">
            <a:avLst/>
          </a:prstGeom>
          <a:noFill/>
          <a:ln/>
        </p:spPr>
        <p:txBody>
          <a:bodyPr wrap="square" lIns="0" tIns="0" rIns="0" bIns="0" rtlCol="0" anchor="ctr"/>
          <a:lstStyle/>
          <a:p>
            <a:pPr indent="0" marL="0">
              <a:buNone/>
            </a:pPr>
            <a:r>
              <a:rPr lang="en-US" sz="1700" b="1" dirty="0">
                <a:solidFill>
                  <a:srgbClr val="1A1A1A"/>
                </a:solidFill>
                <a:latin typeface="Inter" pitchFamily="34" charset="0"/>
                <a:ea typeface="Inter" pitchFamily="34" charset="-122"/>
                <a:cs typeface="Inter" pitchFamily="34" charset="-120"/>
              </a:rPr>
              <a:t>One more customer-pay RO a day</a:t>
            </a:r>
            <a:endParaRPr lang="en-US" sz="1700" dirty="0"/>
          </a:p>
        </p:txBody>
      </p:sp>
      <p:sp>
        <p:nvSpPr>
          <p:cNvPr id="36" name="Text 34"/>
          <p:cNvSpPr txBox="1"/>
          <p:nvPr/>
        </p:nvSpPr>
        <p:spPr>
          <a:xfrm>
            <a:off x="4754880" y="4114800"/>
            <a:ext cx="2103120" cy="713232"/>
          </a:xfrm>
          <a:prstGeom prst="rect">
            <a:avLst/>
          </a:prstGeom>
          <a:noFill/>
          <a:ln/>
        </p:spPr>
        <p:txBody>
          <a:bodyPr wrap="square" lIns="0" tIns="0" rIns="0" bIns="0" rtlCol="0" anchor="ctr"/>
          <a:lstStyle/>
          <a:p>
            <a:pPr algn="r" indent="0" marL="0">
              <a:buNone/>
            </a:pPr>
            <a:r>
              <a:rPr lang="en-US" sz="2400" b="1" dirty="0">
                <a:solidFill>
                  <a:srgbClr val="0B7A4A"/>
                </a:solidFill>
                <a:latin typeface="Inter" pitchFamily="34" charset="0"/>
                <a:ea typeface="Inter" pitchFamily="34" charset="-122"/>
                <a:cs typeface="Inter" pitchFamily="34" charset="-120"/>
              </a:rPr>
              <a:t>$4,473,284</a:t>
            </a:r>
            <a:endParaRPr lang="en-US" sz="2400" dirty="0"/>
          </a:p>
        </p:txBody>
      </p:sp>
      <p:sp>
        <p:nvSpPr>
          <p:cNvPr id="37" name="Text 35"/>
          <p:cNvSpPr txBox="1"/>
          <p:nvPr/>
        </p:nvSpPr>
        <p:spPr>
          <a:xfrm>
            <a:off x="7178040" y="4114800"/>
            <a:ext cx="2606040" cy="71323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Phones, scheduler, retention, marketing</a:t>
            </a:r>
            <a:endParaRPr lang="en-US" sz="1400" dirty="0"/>
          </a:p>
        </p:txBody>
      </p:sp>
      <p:sp>
        <p:nvSpPr>
          <p:cNvPr id="38" name="Shape 36"/>
          <p:cNvSpPr/>
          <p:nvPr/>
        </p:nvSpPr>
        <p:spPr>
          <a:xfrm>
            <a:off x="9875520" y="4169664"/>
            <a:ext cx="566928" cy="274320"/>
          </a:xfrm>
          <a:prstGeom prst="roundRect">
            <a:avLst>
              <a:gd name="adj" fmla="val 20000"/>
            </a:avLst>
          </a:prstGeom>
          <a:solidFill>
            <a:srgbClr val="0B2C4A"/>
          </a:solidFill>
          <a:ln w="9525">
            <a:solidFill>
              <a:srgbClr val="0B2C4A"/>
            </a:solidFill>
            <a:prstDash val="solid"/>
          </a:ln>
        </p:spPr>
      </p:sp>
      <p:sp>
        <p:nvSpPr>
          <p:cNvPr id="39" name="Text 37"/>
          <p:cNvSpPr txBox="1"/>
          <p:nvPr/>
        </p:nvSpPr>
        <p:spPr>
          <a:xfrm>
            <a:off x="9875520" y="4169664"/>
            <a:ext cx="566928"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GM</a:t>
            </a:r>
            <a:endParaRPr lang="en-US" sz="1400" dirty="0"/>
          </a:p>
        </p:txBody>
      </p:sp>
      <p:sp>
        <p:nvSpPr>
          <p:cNvPr id="40" name="Shape 38"/>
          <p:cNvSpPr/>
          <p:nvPr/>
        </p:nvSpPr>
        <p:spPr>
          <a:xfrm>
            <a:off x="9875520" y="4498848"/>
            <a:ext cx="1691640" cy="274320"/>
          </a:xfrm>
          <a:prstGeom prst="roundRect">
            <a:avLst>
              <a:gd name="adj" fmla="val 20000"/>
            </a:avLst>
          </a:prstGeom>
          <a:solidFill>
            <a:srgbClr val="EDF4FA"/>
          </a:solidFill>
          <a:ln w="9525">
            <a:solidFill>
              <a:srgbClr val="0B2C4A"/>
            </a:solidFill>
            <a:prstDash val="solid"/>
          </a:ln>
        </p:spPr>
      </p:sp>
      <p:sp>
        <p:nvSpPr>
          <p:cNvPr id="41" name="Text 39"/>
          <p:cNvSpPr txBox="1"/>
          <p:nvPr/>
        </p:nvSpPr>
        <p:spPr>
          <a:xfrm>
            <a:off x="9875520" y="4498848"/>
            <a:ext cx="1691640" cy="274320"/>
          </a:xfrm>
          <a:prstGeom prst="rect">
            <a:avLst/>
          </a:prstGeom>
          <a:noFill/>
          <a:ln/>
        </p:spPr>
        <p:txBody>
          <a:bodyPr wrap="square" lIns="0" tIns="0" rIns="0" bIns="0" rtlCol="0" anchor="ctr"/>
          <a:lstStyle/>
          <a:p>
            <a:pPr algn="ctr" indent="0" marL="0">
              <a:buNone/>
            </a:pPr>
            <a:r>
              <a:rPr lang="en-US" sz="1400" b="1" dirty="0">
                <a:solidFill>
                  <a:srgbClr val="0B2C4A"/>
                </a:solidFill>
                <a:latin typeface="Inter" pitchFamily="34" charset="0"/>
                <a:ea typeface="Inter" pitchFamily="34" charset="-122"/>
                <a:cs typeface="Inter" pitchFamily="34" charset="-120"/>
              </a:rPr>
              <a:t>Service manager</a:t>
            </a:r>
            <a:endParaRPr lang="en-US" sz="1400" dirty="0"/>
          </a:p>
        </p:txBody>
      </p:sp>
      <p:sp>
        <p:nvSpPr>
          <p:cNvPr id="42" name="Shape 40"/>
          <p:cNvSpPr/>
          <p:nvPr/>
        </p:nvSpPr>
        <p:spPr>
          <a:xfrm>
            <a:off x="548640" y="4901184"/>
            <a:ext cx="11091672" cy="713232"/>
          </a:xfrm>
          <a:prstGeom prst="rect">
            <a:avLst/>
          </a:prstGeom>
          <a:solidFill>
            <a:srgbClr val="F7F7F7"/>
          </a:solidFill>
          <a:ln/>
        </p:spPr>
      </p:sp>
      <p:sp>
        <p:nvSpPr>
          <p:cNvPr id="43" name="Shape 41"/>
          <p:cNvSpPr/>
          <p:nvPr/>
        </p:nvSpPr>
        <p:spPr>
          <a:xfrm>
            <a:off x="548640" y="4901184"/>
            <a:ext cx="64008" cy="713232"/>
          </a:xfrm>
          <a:prstGeom prst="rect">
            <a:avLst/>
          </a:prstGeom>
          <a:solidFill>
            <a:srgbClr val="12A566"/>
          </a:solidFill>
          <a:ln/>
        </p:spPr>
      </p:sp>
      <p:sp>
        <p:nvSpPr>
          <p:cNvPr id="44" name="Text 42"/>
          <p:cNvSpPr txBox="1"/>
          <p:nvPr/>
        </p:nvSpPr>
        <p:spPr>
          <a:xfrm>
            <a:off x="749808" y="4901184"/>
            <a:ext cx="3931920" cy="713232"/>
          </a:xfrm>
          <a:prstGeom prst="rect">
            <a:avLst/>
          </a:prstGeom>
          <a:noFill/>
          <a:ln/>
        </p:spPr>
        <p:txBody>
          <a:bodyPr wrap="square" lIns="0" tIns="0" rIns="0" bIns="0" rtlCol="0" anchor="ctr"/>
          <a:lstStyle/>
          <a:p>
            <a:pPr indent="0" marL="0">
              <a:buNone/>
            </a:pPr>
            <a:r>
              <a:rPr lang="en-US" sz="1700" b="1" dirty="0">
                <a:solidFill>
                  <a:srgbClr val="1A1A1A"/>
                </a:solidFill>
                <a:latin typeface="Inter" pitchFamily="34" charset="0"/>
                <a:ea typeface="Inter" pitchFamily="34" charset="-122"/>
                <a:cs typeface="Inter" pitchFamily="34" charset="-120"/>
              </a:rPr>
              <a:t>One minute a day saved for every tech</a:t>
            </a:r>
            <a:endParaRPr lang="en-US" sz="1700" dirty="0"/>
          </a:p>
        </p:txBody>
      </p:sp>
      <p:sp>
        <p:nvSpPr>
          <p:cNvPr id="45" name="Text 43"/>
          <p:cNvSpPr txBox="1"/>
          <p:nvPr/>
        </p:nvSpPr>
        <p:spPr>
          <a:xfrm>
            <a:off x="4754880" y="4901184"/>
            <a:ext cx="2103120" cy="713232"/>
          </a:xfrm>
          <a:prstGeom prst="rect">
            <a:avLst/>
          </a:prstGeom>
          <a:noFill/>
          <a:ln/>
        </p:spPr>
        <p:txBody>
          <a:bodyPr wrap="square" lIns="0" tIns="0" rIns="0" bIns="0" rtlCol="0" anchor="ctr"/>
          <a:lstStyle/>
          <a:p>
            <a:pPr algn="r" indent="0" marL="0">
              <a:buNone/>
            </a:pPr>
            <a:r>
              <a:rPr lang="en-US" sz="2400" b="1" dirty="0">
                <a:solidFill>
                  <a:srgbClr val="0B7A4A"/>
                </a:solidFill>
                <a:latin typeface="Inter" pitchFamily="34" charset="0"/>
                <a:ea typeface="Inter" pitchFamily="34" charset="-122"/>
                <a:cs typeface="Inter" pitchFamily="34" charset="-120"/>
              </a:rPr>
              <a:t>$444,380</a:t>
            </a:r>
            <a:endParaRPr lang="en-US" sz="2400" dirty="0"/>
          </a:p>
        </p:txBody>
      </p:sp>
      <p:sp>
        <p:nvSpPr>
          <p:cNvPr id="46" name="Text 44"/>
          <p:cNvSpPr txBox="1"/>
          <p:nvPr/>
        </p:nvSpPr>
        <p:spPr>
          <a:xfrm>
            <a:off x="7178040" y="4901184"/>
            <a:ext cx="2606040" cy="71323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Parts to the bay, tools and keys in place</a:t>
            </a:r>
            <a:endParaRPr lang="en-US" sz="1400" dirty="0"/>
          </a:p>
        </p:txBody>
      </p:sp>
      <p:sp>
        <p:nvSpPr>
          <p:cNvPr id="47" name="Shape 45"/>
          <p:cNvSpPr/>
          <p:nvPr/>
        </p:nvSpPr>
        <p:spPr>
          <a:xfrm>
            <a:off x="9875520" y="4956048"/>
            <a:ext cx="1691640" cy="274320"/>
          </a:xfrm>
          <a:prstGeom prst="roundRect">
            <a:avLst>
              <a:gd name="adj" fmla="val 20000"/>
            </a:avLst>
          </a:prstGeom>
          <a:solidFill>
            <a:srgbClr val="EDF4FA"/>
          </a:solidFill>
          <a:ln w="9525">
            <a:solidFill>
              <a:srgbClr val="0B2C4A"/>
            </a:solidFill>
            <a:prstDash val="solid"/>
          </a:ln>
        </p:spPr>
      </p:sp>
      <p:sp>
        <p:nvSpPr>
          <p:cNvPr id="48" name="Text 46"/>
          <p:cNvSpPr txBox="1"/>
          <p:nvPr/>
        </p:nvSpPr>
        <p:spPr>
          <a:xfrm>
            <a:off x="9875520" y="4956048"/>
            <a:ext cx="1691640" cy="274320"/>
          </a:xfrm>
          <a:prstGeom prst="rect">
            <a:avLst/>
          </a:prstGeom>
          <a:noFill/>
          <a:ln/>
        </p:spPr>
        <p:txBody>
          <a:bodyPr wrap="square" lIns="0" tIns="0" rIns="0" bIns="0" rtlCol="0" anchor="ctr"/>
          <a:lstStyle/>
          <a:p>
            <a:pPr algn="ctr" indent="0" marL="0">
              <a:buNone/>
            </a:pPr>
            <a:r>
              <a:rPr lang="en-US" sz="1400" b="1" dirty="0">
                <a:solidFill>
                  <a:srgbClr val="0B2C4A"/>
                </a:solidFill>
                <a:latin typeface="Inter" pitchFamily="34" charset="0"/>
                <a:ea typeface="Inter" pitchFamily="34" charset="-122"/>
                <a:cs typeface="Inter" pitchFamily="34" charset="-120"/>
              </a:rPr>
              <a:t>Service manager</a:t>
            </a:r>
            <a:endParaRPr lang="en-US" sz="1400" dirty="0"/>
          </a:p>
        </p:txBody>
      </p:sp>
      <p:sp>
        <p:nvSpPr>
          <p:cNvPr id="49" name="Shape 47"/>
          <p:cNvSpPr/>
          <p:nvPr/>
        </p:nvSpPr>
        <p:spPr>
          <a:xfrm>
            <a:off x="9875520" y="5285232"/>
            <a:ext cx="566928" cy="274320"/>
          </a:xfrm>
          <a:prstGeom prst="roundRect">
            <a:avLst>
              <a:gd name="adj" fmla="val 20000"/>
            </a:avLst>
          </a:prstGeom>
          <a:solidFill>
            <a:srgbClr val="0B2C4A"/>
          </a:solidFill>
          <a:ln w="9525">
            <a:solidFill>
              <a:srgbClr val="0B2C4A"/>
            </a:solidFill>
            <a:prstDash val="solid"/>
          </a:ln>
        </p:spPr>
      </p:sp>
      <p:sp>
        <p:nvSpPr>
          <p:cNvPr id="50" name="Text 48"/>
          <p:cNvSpPr txBox="1"/>
          <p:nvPr/>
        </p:nvSpPr>
        <p:spPr>
          <a:xfrm>
            <a:off x="9875520" y="5285232"/>
            <a:ext cx="566928"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GM</a:t>
            </a:r>
            <a:endParaRPr lang="en-US" sz="1400" dirty="0"/>
          </a:p>
        </p:txBody>
      </p:sp>
      <p:sp>
        <p:nvSpPr>
          <p:cNvPr id="51" name="Shape 49"/>
          <p:cNvSpPr/>
          <p:nvPr/>
        </p:nvSpPr>
        <p:spPr>
          <a:xfrm>
            <a:off x="457200" y="5961888"/>
            <a:ext cx="11274552" cy="548640"/>
          </a:xfrm>
          <a:prstGeom prst="rect">
            <a:avLst/>
          </a:prstGeom>
          <a:solidFill>
            <a:srgbClr val="E6F6EE"/>
          </a:solidFill>
          <a:ln/>
        </p:spPr>
      </p:sp>
      <p:sp>
        <p:nvSpPr>
          <p:cNvPr id="52" name="Text 50"/>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Every number is gross on cars, bays and techs we already have, except one more RO a day. They overlap, so read each on its own.</a:t>
            </a:r>
            <a:endParaRPr lang="en-US" sz="1600" dirty="0"/>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Before You Leave</a:t>
            </a:r>
            <a:endParaRPr lang="en-US" sz="2800" dirty="0"/>
          </a:p>
        </p:txBody>
      </p:sp>
      <p:sp>
        <p:nvSpPr>
          <p:cNvPr id="5" name="Shape 3"/>
          <p:cNvSpPr/>
          <p:nvPr/>
        </p:nvSpPr>
        <p:spPr>
          <a:xfrm>
            <a:off x="457200" y="1207008"/>
            <a:ext cx="6400800" cy="4645152"/>
          </a:xfrm>
          <a:prstGeom prst="rect">
            <a:avLst/>
          </a:prstGeom>
          <a:solidFill>
            <a:srgbClr val="FFFFFF"/>
          </a:solidFill>
          <a:ln/>
        </p:spPr>
      </p:sp>
      <p:sp>
        <p:nvSpPr>
          <p:cNvPr id="6" name="Shape 4"/>
          <p:cNvSpPr/>
          <p:nvPr/>
        </p:nvSpPr>
        <p:spPr>
          <a:xfrm>
            <a:off x="7022592" y="1207008"/>
            <a:ext cx="4709160" cy="4645152"/>
          </a:xfrm>
          <a:prstGeom prst="rect">
            <a:avLst/>
          </a:prstGeom>
          <a:solidFill>
            <a:srgbClr val="FFFFFF"/>
          </a:solidFill>
          <a:ln/>
        </p:spPr>
      </p:sp>
      <p:sp>
        <p:nvSpPr>
          <p:cNvPr id="7" name="Text 5"/>
          <p:cNvSpPr txBox="1"/>
          <p:nvPr/>
        </p:nvSpPr>
        <p:spPr>
          <a:xfrm>
            <a:off x="713232" y="1371600"/>
            <a:ext cx="5943600" cy="310896"/>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WE SAID · ROUNDTABLE 2024</a:t>
            </a:r>
            <a:endParaRPr lang="en-US" sz="1400" dirty="0"/>
          </a:p>
        </p:txBody>
      </p:sp>
      <p:sp>
        <p:nvSpPr>
          <p:cNvPr id="8" name="Text 6"/>
          <p:cNvSpPr txBox="1"/>
          <p:nvPr/>
        </p:nvSpPr>
        <p:spPr>
          <a:xfrm>
            <a:off x="7269480" y="1371600"/>
            <a:ext cx="4297680" cy="310896"/>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WHERE THE MONEY IS</a:t>
            </a:r>
            <a:endParaRPr lang="en-US" sz="1400" dirty="0"/>
          </a:p>
        </p:txBody>
      </p:sp>
      <p:sp>
        <p:nvSpPr>
          <p:cNvPr id="9" name="Shape 7"/>
          <p:cNvSpPr/>
          <p:nvPr/>
        </p:nvSpPr>
        <p:spPr>
          <a:xfrm>
            <a:off x="713232" y="1737360"/>
            <a:ext cx="5897880" cy="10973"/>
          </a:xfrm>
          <a:prstGeom prst="rect">
            <a:avLst/>
          </a:prstGeom>
          <a:solidFill>
            <a:srgbClr val="D9D9D9"/>
          </a:solidFill>
          <a:ln/>
        </p:spPr>
      </p:sp>
      <p:sp>
        <p:nvSpPr>
          <p:cNvPr id="10" name="Shape 8"/>
          <p:cNvSpPr/>
          <p:nvPr/>
        </p:nvSpPr>
        <p:spPr>
          <a:xfrm>
            <a:off x="7269480" y="1737360"/>
            <a:ext cx="4224528" cy="10973"/>
          </a:xfrm>
          <a:prstGeom prst="rect">
            <a:avLst/>
          </a:prstGeom>
          <a:solidFill>
            <a:srgbClr val="D9D9D9"/>
          </a:solidFill>
          <a:ln/>
        </p:spPr>
      </p:sp>
      <p:sp>
        <p:nvSpPr>
          <p:cNvPr id="11" name="Text 9"/>
          <p:cNvSpPr txBox="1"/>
          <p:nvPr/>
        </p:nvSpPr>
        <p:spPr>
          <a:xfrm>
            <a:off x="713232" y="1874520"/>
            <a:ext cx="5897880" cy="384048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What did you learn today?</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Give us one or two things you are going to act on and implement</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Do you want to do this again?</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Reach this room in FMGSVCMGR</a:t>
            </a:r>
            <a:endParaRPr lang="en-US" sz="1800" dirty="0"/>
          </a:p>
        </p:txBody>
      </p:sp>
      <p:sp>
        <p:nvSpPr>
          <p:cNvPr id="12" name="Shape 10"/>
          <p:cNvSpPr/>
          <p:nvPr/>
        </p:nvSpPr>
        <p:spPr>
          <a:xfrm>
            <a:off x="7269480" y="1920240"/>
            <a:ext cx="54864" cy="1066800"/>
          </a:xfrm>
          <a:prstGeom prst="rect">
            <a:avLst/>
          </a:prstGeom>
          <a:solidFill>
            <a:srgbClr val="12A566"/>
          </a:solidFill>
          <a:ln/>
        </p:spPr>
      </p:sp>
      <p:sp>
        <p:nvSpPr>
          <p:cNvPr id="13" name="Text 11"/>
          <p:cNvSpPr txBox="1"/>
          <p:nvPr/>
        </p:nvSpPr>
        <p:spPr>
          <a:xfrm>
            <a:off x="7452360" y="187452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7A4A"/>
                </a:solidFill>
                <a:latin typeface="Inter" pitchFamily="34" charset="0"/>
                <a:ea typeface="Inter" pitchFamily="34" charset="-122"/>
                <a:cs typeface="Inter" pitchFamily="34" charset="-120"/>
              </a:rPr>
              <a:t>0.1 hr per RO</a:t>
            </a:r>
            <a:endParaRPr lang="en-US" sz="3000" dirty="0"/>
          </a:p>
        </p:txBody>
      </p:sp>
      <p:sp>
        <p:nvSpPr>
          <p:cNvPr id="14" name="Text 12"/>
          <p:cNvSpPr txBox="1"/>
          <p:nvPr/>
        </p:nvSpPr>
        <p:spPr>
          <a:xfrm>
            <a:off x="7452360" y="2441448"/>
            <a:ext cx="4023360" cy="56388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Worth $4,543,691 of labor at today's ELR.</a:t>
            </a:r>
            <a:endParaRPr lang="en-US" sz="1400" dirty="0"/>
          </a:p>
        </p:txBody>
      </p:sp>
      <p:sp>
        <p:nvSpPr>
          <p:cNvPr id="15" name="Shape 13"/>
          <p:cNvSpPr/>
          <p:nvPr/>
        </p:nvSpPr>
        <p:spPr>
          <a:xfrm>
            <a:off x="7269480" y="3215640"/>
            <a:ext cx="54864" cy="1066800"/>
          </a:xfrm>
          <a:prstGeom prst="rect">
            <a:avLst/>
          </a:prstGeom>
          <a:solidFill>
            <a:srgbClr val="C2352F"/>
          </a:solidFill>
          <a:ln/>
        </p:spPr>
      </p:sp>
      <p:sp>
        <p:nvSpPr>
          <p:cNvPr id="16" name="Text 14"/>
          <p:cNvSpPr txBox="1"/>
          <p:nvPr/>
        </p:nvSpPr>
        <p:spPr>
          <a:xfrm>
            <a:off x="7452360" y="3169920"/>
            <a:ext cx="4023360" cy="566928"/>
          </a:xfrm>
          <a:prstGeom prst="rect">
            <a:avLst/>
          </a:prstGeom>
          <a:noFill/>
          <a:ln/>
        </p:spPr>
        <p:txBody>
          <a:bodyPr wrap="square" lIns="0" tIns="0" rIns="0" bIns="0" rtlCol="0" anchor="ctr">
            <a:normAutofit/>
          </a:bodyPr>
          <a:lstStyle/>
          <a:p>
            <a:pPr indent="0" marL="0">
              <a:buNone/>
            </a:pPr>
            <a:r>
              <a:rPr lang="en-US" sz="3000" b="1" dirty="0">
                <a:solidFill>
                  <a:srgbClr val="A82B26"/>
                </a:solidFill>
                <a:latin typeface="Inter" pitchFamily="34" charset="0"/>
                <a:ea typeface="Inter" pitchFamily="34" charset="-122"/>
                <a:cs typeface="Inter" pitchFamily="34" charset="-120"/>
              </a:rPr>
              <a:t>18,493 balances</a:t>
            </a:r>
            <a:endParaRPr lang="en-US" sz="3000" dirty="0"/>
          </a:p>
        </p:txBody>
      </p:sp>
      <p:sp>
        <p:nvSpPr>
          <p:cNvPr id="17" name="Text 15"/>
          <p:cNvSpPr txBox="1"/>
          <p:nvPr/>
        </p:nvSpPr>
        <p:spPr>
          <a:xfrm>
            <a:off x="7452360" y="3736848"/>
            <a:ext cx="4023360" cy="56388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The largest benchmark gap, at 8.3% against 15%.</a:t>
            </a:r>
            <a:endParaRPr lang="en-US" sz="1400" dirty="0"/>
          </a:p>
        </p:txBody>
      </p:sp>
      <p:sp>
        <p:nvSpPr>
          <p:cNvPr id="18" name="Shape 16"/>
          <p:cNvSpPr/>
          <p:nvPr/>
        </p:nvSpPr>
        <p:spPr>
          <a:xfrm>
            <a:off x="7269480" y="4511040"/>
            <a:ext cx="54864" cy="1066800"/>
          </a:xfrm>
          <a:prstGeom prst="rect">
            <a:avLst/>
          </a:prstGeom>
          <a:solidFill>
            <a:srgbClr val="C2352F"/>
          </a:solidFill>
          <a:ln/>
        </p:spPr>
      </p:sp>
      <p:sp>
        <p:nvSpPr>
          <p:cNvPr id="19" name="Text 17"/>
          <p:cNvSpPr txBox="1"/>
          <p:nvPr/>
        </p:nvSpPr>
        <p:spPr>
          <a:xfrm>
            <a:off x="7452360" y="4465320"/>
            <a:ext cx="4023360" cy="566928"/>
          </a:xfrm>
          <a:prstGeom prst="rect">
            <a:avLst/>
          </a:prstGeom>
          <a:noFill/>
          <a:ln/>
        </p:spPr>
        <p:txBody>
          <a:bodyPr wrap="square" lIns="0" tIns="0" rIns="0" bIns="0" rtlCol="0" anchor="ctr">
            <a:normAutofit/>
          </a:bodyPr>
          <a:lstStyle/>
          <a:p>
            <a:pPr indent="0" marL="0">
              <a:buNone/>
            </a:pPr>
            <a:r>
              <a:rPr lang="en-US" sz="3000" b="1" dirty="0">
                <a:solidFill>
                  <a:srgbClr val="A82B26"/>
                </a:solidFill>
                <a:latin typeface="Inter" pitchFamily="34" charset="0"/>
                <a:ea typeface="Inter" pitchFamily="34" charset="-122"/>
                <a:cs typeface="Inter" pitchFamily="34" charset="-120"/>
              </a:rPr>
              <a:t>$1.65M a month</a:t>
            </a:r>
            <a:endParaRPr lang="en-US" sz="3000" dirty="0"/>
          </a:p>
        </p:txBody>
      </p:sp>
      <p:sp>
        <p:nvSpPr>
          <p:cNvPr id="20" name="Text 18"/>
          <p:cNvSpPr txBox="1"/>
          <p:nvPr/>
        </p:nvSpPr>
        <p:spPr>
          <a:xfrm>
            <a:off x="7452360" y="5032248"/>
            <a:ext cx="4023360" cy="56388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Technician proficiency, lifting each tech under 85% to 85%.</a:t>
            </a:r>
            <a:endParaRPr lang="en-US" sz="1400" dirty="0"/>
          </a:p>
        </p:txBody>
      </p:sp>
      <p:sp>
        <p:nvSpPr>
          <p:cNvPr id="21" name="Shape 19"/>
          <p:cNvSpPr/>
          <p:nvPr/>
        </p:nvSpPr>
        <p:spPr>
          <a:xfrm>
            <a:off x="457200" y="5961888"/>
            <a:ext cx="11274552" cy="548640"/>
          </a:xfrm>
          <a:prstGeom prst="rect">
            <a:avLst/>
          </a:prstGeom>
          <a:solidFill>
            <a:srgbClr val="E6F6EE"/>
          </a:solidFill>
          <a:ln/>
        </p:spPr>
      </p:sp>
      <p:sp>
        <p:nvSpPr>
          <p:cNvPr id="22" name="Text 20"/>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The ask: name your one or two commitments out loud, with a number attached, before you leave the room.</a:t>
            </a:r>
            <a:endParaRPr lang="en-US" sz="1600" dirty="0"/>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13232" y="2377440"/>
            <a:ext cx="9144000" cy="365760"/>
          </a:xfrm>
          <a:prstGeom prst="rect">
            <a:avLst/>
          </a:prstGeom>
          <a:noFill/>
          <a:ln/>
        </p:spPr>
        <p:txBody>
          <a:bodyPr wrap="square" lIns="0" tIns="0" rIns="0" bIns="0" rtlCol="0" anchor="ctr"/>
          <a:lstStyle/>
          <a:p>
            <a:pPr indent="0" marL="0">
              <a:buNone/>
            </a:pPr>
            <a:r>
              <a:rPr lang="en-US" sz="2000" b="1" spc="260" kern="0" dirty="0">
                <a:solidFill>
                  <a:srgbClr val="2587C5"/>
                </a:solidFill>
                <a:latin typeface="Inter" pitchFamily="34" charset="0"/>
                <a:ea typeface="Inter" pitchFamily="34" charset="-122"/>
                <a:cs typeface="Inter" pitchFamily="34" charset="-120"/>
              </a:rPr>
              <a:t>FIXED OPS</a:t>
            </a:r>
            <a:endParaRPr lang="en-US" sz="2000" dirty="0"/>
          </a:p>
        </p:txBody>
      </p:sp>
      <p:sp>
        <p:nvSpPr>
          <p:cNvPr id="3" name="Text 1"/>
          <p:cNvSpPr txBox="1"/>
          <p:nvPr/>
        </p:nvSpPr>
        <p:spPr>
          <a:xfrm>
            <a:off x="667512" y="2743200"/>
            <a:ext cx="10789920" cy="1234440"/>
          </a:xfrm>
          <a:prstGeom prst="rect">
            <a:avLst/>
          </a:prstGeom>
          <a:noFill/>
          <a:ln/>
        </p:spPr>
        <p:txBody>
          <a:bodyPr wrap="square" lIns="0" tIns="0" rIns="0" bIns="0" rtlCol="0" anchor="ctr"/>
          <a:lstStyle/>
          <a:p>
            <a:pPr indent="0" marL="0">
              <a:buNone/>
            </a:pPr>
            <a:r>
              <a:rPr lang="en-US" sz="8200" b="1" dirty="0">
                <a:solidFill>
                  <a:srgbClr val="1A1A1A"/>
                </a:solidFill>
                <a:latin typeface="Inter" pitchFamily="34" charset="0"/>
                <a:ea typeface="Inter" pitchFamily="34" charset="-122"/>
                <a:cs typeface="Inter" pitchFamily="34" charset="-120"/>
              </a:rPr>
              <a:t>Appendix</a:t>
            </a:r>
            <a:endParaRPr lang="en-US" sz="8200" dirty="0"/>
          </a:p>
        </p:txBody>
      </p:sp>
      <p:sp>
        <p:nvSpPr>
          <p:cNvPr id="4" name="Text 2"/>
          <p:cNvSpPr txBox="1"/>
          <p:nvPr/>
        </p:nvSpPr>
        <p:spPr>
          <a:xfrm>
            <a:off x="694944" y="4041648"/>
            <a:ext cx="10789920" cy="411480"/>
          </a:xfrm>
          <a:prstGeom prst="rect">
            <a:avLst/>
          </a:prstGeom>
          <a:noFill/>
          <a:ln/>
        </p:spPr>
        <p:txBody>
          <a:bodyPr wrap="square" lIns="0" tIns="0" rIns="0" bIns="0" rtlCol="0" anchor="ctr"/>
          <a:lstStyle/>
          <a:p>
            <a:pPr indent="0" marL="0">
              <a:buNone/>
            </a:pPr>
            <a:r>
              <a:rPr lang="en-US" sz="2200" dirty="0">
                <a:solidFill>
                  <a:srgbClr val="595959"/>
                </a:solidFill>
                <a:latin typeface="Inter" pitchFamily="34" charset="0"/>
                <a:ea typeface="Inter" pitchFamily="34" charset="-122"/>
                <a:cs typeface="Inter" pitchFamily="34" charset="-120"/>
              </a:rPr>
              <a:t>Design options to pick between</a:t>
            </a:r>
            <a:endParaRPr lang="en-US" sz="2200" dirty="0"/>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ELR % of Door Rate</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700784"/>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7" name="Shape 5"/>
          <p:cNvSpPr/>
          <p:nvPr/>
        </p:nvSpPr>
        <p:spPr>
          <a:xfrm>
            <a:off x="2670048" y="1759682"/>
            <a:ext cx="841248" cy="117796"/>
          </a:xfrm>
          <a:prstGeom prst="rect">
            <a:avLst/>
          </a:prstGeom>
          <a:solidFill>
            <a:srgbClr val="12A566"/>
          </a:solidFill>
          <a:ln/>
        </p:spPr>
      </p:sp>
      <p:sp>
        <p:nvSpPr>
          <p:cNvPr id="8" name="Text 6"/>
          <p:cNvSpPr txBox="1"/>
          <p:nvPr/>
        </p:nvSpPr>
        <p:spPr>
          <a:xfrm>
            <a:off x="3566160" y="1700784"/>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103.4%</a:t>
            </a:r>
            <a:endParaRPr lang="en-US" sz="1300" dirty="0"/>
          </a:p>
        </p:txBody>
      </p:sp>
      <p:sp>
        <p:nvSpPr>
          <p:cNvPr id="9" name="Text 7"/>
          <p:cNvSpPr txBox="1"/>
          <p:nvPr/>
        </p:nvSpPr>
        <p:spPr>
          <a:xfrm>
            <a:off x="4242816" y="170078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$244.12</a:t>
            </a:r>
            <a:endParaRPr lang="en-US" sz="1300" dirty="0"/>
          </a:p>
        </p:txBody>
      </p:sp>
      <p:sp>
        <p:nvSpPr>
          <p:cNvPr id="10" name="Text 8"/>
          <p:cNvSpPr txBox="1"/>
          <p:nvPr/>
        </p:nvSpPr>
        <p:spPr>
          <a:xfrm>
            <a:off x="5029200" y="170078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$235.87</a:t>
            </a:r>
            <a:endParaRPr lang="en-US" sz="1300" dirty="0"/>
          </a:p>
        </p:txBody>
      </p:sp>
      <p:sp>
        <p:nvSpPr>
          <p:cNvPr id="11" name="Text 9"/>
          <p:cNvSpPr txBox="1"/>
          <p:nvPr/>
        </p:nvSpPr>
        <p:spPr>
          <a:xfrm>
            <a:off x="658368" y="1936376"/>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12" name="Shape 10"/>
          <p:cNvSpPr/>
          <p:nvPr/>
        </p:nvSpPr>
        <p:spPr>
          <a:xfrm>
            <a:off x="2670048" y="1995275"/>
            <a:ext cx="665301" cy="117796"/>
          </a:xfrm>
          <a:prstGeom prst="rect">
            <a:avLst/>
          </a:prstGeom>
          <a:solidFill>
            <a:srgbClr val="12A566"/>
          </a:solidFill>
          <a:ln/>
        </p:spPr>
      </p:sp>
      <p:sp>
        <p:nvSpPr>
          <p:cNvPr id="13" name="Text 11"/>
          <p:cNvSpPr txBox="1"/>
          <p:nvPr/>
        </p:nvSpPr>
        <p:spPr>
          <a:xfrm>
            <a:off x="3566160" y="1936376"/>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90.2%</a:t>
            </a:r>
            <a:endParaRPr lang="en-US" sz="1300" dirty="0"/>
          </a:p>
        </p:txBody>
      </p:sp>
      <p:sp>
        <p:nvSpPr>
          <p:cNvPr id="14" name="Text 12"/>
          <p:cNvSpPr txBox="1"/>
          <p:nvPr/>
        </p:nvSpPr>
        <p:spPr>
          <a:xfrm>
            <a:off x="4242816" y="193637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$225.50</a:t>
            </a:r>
            <a:endParaRPr lang="en-US" sz="1300" dirty="0"/>
          </a:p>
        </p:txBody>
      </p:sp>
      <p:sp>
        <p:nvSpPr>
          <p:cNvPr id="15" name="Text 13"/>
          <p:cNvSpPr txBox="1"/>
          <p:nvPr/>
        </p:nvSpPr>
        <p:spPr>
          <a:xfrm>
            <a:off x="5029200" y="193637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$249.95</a:t>
            </a:r>
            <a:endParaRPr lang="en-US" sz="1300" dirty="0"/>
          </a:p>
        </p:txBody>
      </p:sp>
      <p:sp>
        <p:nvSpPr>
          <p:cNvPr id="16" name="Text 14"/>
          <p:cNvSpPr txBox="1"/>
          <p:nvPr/>
        </p:nvSpPr>
        <p:spPr>
          <a:xfrm>
            <a:off x="658368" y="2171969"/>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17" name="Shape 15"/>
          <p:cNvSpPr/>
          <p:nvPr/>
        </p:nvSpPr>
        <p:spPr>
          <a:xfrm>
            <a:off x="2670048" y="2230867"/>
            <a:ext cx="661778" cy="117796"/>
          </a:xfrm>
          <a:prstGeom prst="rect">
            <a:avLst/>
          </a:prstGeom>
          <a:solidFill>
            <a:srgbClr val="12A566"/>
          </a:solidFill>
          <a:ln/>
        </p:spPr>
      </p:sp>
      <p:sp>
        <p:nvSpPr>
          <p:cNvPr id="18" name="Text 16"/>
          <p:cNvSpPr txBox="1"/>
          <p:nvPr/>
        </p:nvSpPr>
        <p:spPr>
          <a:xfrm>
            <a:off x="3566160" y="2171969"/>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89.9%</a:t>
            </a:r>
            <a:endParaRPr lang="en-US" sz="1300" dirty="0"/>
          </a:p>
        </p:txBody>
      </p:sp>
      <p:sp>
        <p:nvSpPr>
          <p:cNvPr id="19" name="Text 17"/>
          <p:cNvSpPr txBox="1"/>
          <p:nvPr/>
        </p:nvSpPr>
        <p:spPr>
          <a:xfrm>
            <a:off x="4242816" y="217196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$161.80</a:t>
            </a:r>
            <a:endParaRPr lang="en-US" sz="1300" dirty="0"/>
          </a:p>
        </p:txBody>
      </p:sp>
      <p:sp>
        <p:nvSpPr>
          <p:cNvPr id="20" name="Text 18"/>
          <p:cNvSpPr txBox="1"/>
          <p:nvPr/>
        </p:nvSpPr>
        <p:spPr>
          <a:xfrm>
            <a:off x="5029200" y="217196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$179.87</a:t>
            </a:r>
            <a:endParaRPr lang="en-US" sz="1300" dirty="0"/>
          </a:p>
        </p:txBody>
      </p:sp>
      <p:sp>
        <p:nvSpPr>
          <p:cNvPr id="21" name="Text 19"/>
          <p:cNvSpPr txBox="1"/>
          <p:nvPr/>
        </p:nvSpPr>
        <p:spPr>
          <a:xfrm>
            <a:off x="658368" y="2407561"/>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22" name="Shape 20"/>
          <p:cNvSpPr/>
          <p:nvPr/>
        </p:nvSpPr>
        <p:spPr>
          <a:xfrm>
            <a:off x="2670048" y="2466460"/>
            <a:ext cx="659376" cy="117796"/>
          </a:xfrm>
          <a:prstGeom prst="rect">
            <a:avLst/>
          </a:prstGeom>
          <a:solidFill>
            <a:srgbClr val="12A566"/>
          </a:solidFill>
          <a:ln/>
        </p:spPr>
      </p:sp>
      <p:sp>
        <p:nvSpPr>
          <p:cNvPr id="23" name="Text 21"/>
          <p:cNvSpPr txBox="1"/>
          <p:nvPr/>
        </p:nvSpPr>
        <p:spPr>
          <a:xfrm>
            <a:off x="3566160" y="2407561"/>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89.7%</a:t>
            </a:r>
            <a:endParaRPr lang="en-US" sz="1300" dirty="0"/>
          </a:p>
        </p:txBody>
      </p:sp>
      <p:sp>
        <p:nvSpPr>
          <p:cNvPr id="24" name="Text 22"/>
          <p:cNvSpPr txBox="1"/>
          <p:nvPr/>
        </p:nvSpPr>
        <p:spPr>
          <a:xfrm>
            <a:off x="4242816" y="240756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$165.96</a:t>
            </a:r>
            <a:endParaRPr lang="en-US" sz="1300" dirty="0"/>
          </a:p>
        </p:txBody>
      </p:sp>
      <p:sp>
        <p:nvSpPr>
          <p:cNvPr id="25" name="Text 23"/>
          <p:cNvSpPr txBox="1"/>
          <p:nvPr/>
        </p:nvSpPr>
        <p:spPr>
          <a:xfrm>
            <a:off x="5029200" y="240756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$184.87</a:t>
            </a:r>
            <a:endParaRPr lang="en-US" sz="1300" dirty="0"/>
          </a:p>
        </p:txBody>
      </p:sp>
      <p:sp>
        <p:nvSpPr>
          <p:cNvPr id="26" name="Text 24"/>
          <p:cNvSpPr txBox="1"/>
          <p:nvPr/>
        </p:nvSpPr>
        <p:spPr>
          <a:xfrm>
            <a:off x="658368" y="2643154"/>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27" name="Shape 25"/>
          <p:cNvSpPr/>
          <p:nvPr/>
        </p:nvSpPr>
        <p:spPr>
          <a:xfrm>
            <a:off x="2670048" y="2702052"/>
            <a:ext cx="642710" cy="117796"/>
          </a:xfrm>
          <a:prstGeom prst="rect">
            <a:avLst/>
          </a:prstGeom>
          <a:solidFill>
            <a:srgbClr val="12A566"/>
          </a:solidFill>
          <a:ln/>
        </p:spPr>
      </p:sp>
      <p:sp>
        <p:nvSpPr>
          <p:cNvPr id="28" name="Text 26"/>
          <p:cNvSpPr txBox="1"/>
          <p:nvPr/>
        </p:nvSpPr>
        <p:spPr>
          <a:xfrm>
            <a:off x="3566160" y="2643154"/>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88.5%</a:t>
            </a:r>
            <a:endParaRPr lang="en-US" sz="1300" dirty="0"/>
          </a:p>
        </p:txBody>
      </p:sp>
      <p:sp>
        <p:nvSpPr>
          <p:cNvPr id="29" name="Text 27"/>
          <p:cNvSpPr txBox="1"/>
          <p:nvPr/>
        </p:nvSpPr>
        <p:spPr>
          <a:xfrm>
            <a:off x="4242816" y="264315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$199.04</a:t>
            </a:r>
            <a:endParaRPr lang="en-US" sz="1300" dirty="0"/>
          </a:p>
        </p:txBody>
      </p:sp>
      <p:sp>
        <p:nvSpPr>
          <p:cNvPr id="30" name="Text 28"/>
          <p:cNvSpPr txBox="1"/>
          <p:nvPr/>
        </p:nvSpPr>
        <p:spPr>
          <a:xfrm>
            <a:off x="5029200" y="264315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$224.87</a:t>
            </a:r>
            <a:endParaRPr lang="en-US" sz="1300" dirty="0"/>
          </a:p>
        </p:txBody>
      </p:sp>
      <p:sp>
        <p:nvSpPr>
          <p:cNvPr id="31" name="Text 29"/>
          <p:cNvSpPr txBox="1"/>
          <p:nvPr/>
        </p:nvSpPr>
        <p:spPr>
          <a:xfrm>
            <a:off x="658368" y="2878746"/>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32" name="Shape 30"/>
          <p:cNvSpPr/>
          <p:nvPr/>
        </p:nvSpPr>
        <p:spPr>
          <a:xfrm>
            <a:off x="2670048" y="2937644"/>
            <a:ext cx="619626" cy="117796"/>
          </a:xfrm>
          <a:prstGeom prst="rect">
            <a:avLst/>
          </a:prstGeom>
          <a:solidFill>
            <a:srgbClr val="12A566"/>
          </a:solidFill>
          <a:ln/>
        </p:spPr>
      </p:sp>
      <p:sp>
        <p:nvSpPr>
          <p:cNvPr id="33" name="Text 31"/>
          <p:cNvSpPr txBox="1"/>
          <p:nvPr/>
        </p:nvSpPr>
        <p:spPr>
          <a:xfrm>
            <a:off x="3566160" y="2878746"/>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86.7%</a:t>
            </a:r>
            <a:endParaRPr lang="en-US" sz="1300" dirty="0"/>
          </a:p>
        </p:txBody>
      </p:sp>
      <p:sp>
        <p:nvSpPr>
          <p:cNvPr id="34" name="Text 32"/>
          <p:cNvSpPr txBox="1"/>
          <p:nvPr/>
        </p:nvSpPr>
        <p:spPr>
          <a:xfrm>
            <a:off x="4242816" y="287874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$238.62</a:t>
            </a:r>
            <a:endParaRPr lang="en-US" sz="1300" dirty="0"/>
          </a:p>
        </p:txBody>
      </p:sp>
      <p:sp>
        <p:nvSpPr>
          <p:cNvPr id="35" name="Text 33"/>
          <p:cNvSpPr txBox="1"/>
          <p:nvPr/>
        </p:nvSpPr>
        <p:spPr>
          <a:xfrm>
            <a:off x="5029200" y="287874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$275.00</a:t>
            </a:r>
            <a:endParaRPr lang="en-US" sz="1300" dirty="0"/>
          </a:p>
        </p:txBody>
      </p:sp>
      <p:sp>
        <p:nvSpPr>
          <p:cNvPr id="36" name="Text 34"/>
          <p:cNvSpPr txBox="1"/>
          <p:nvPr/>
        </p:nvSpPr>
        <p:spPr>
          <a:xfrm>
            <a:off x="658368" y="3114339"/>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37" name="Shape 35"/>
          <p:cNvSpPr/>
          <p:nvPr/>
        </p:nvSpPr>
        <p:spPr>
          <a:xfrm>
            <a:off x="2670048" y="3173237"/>
            <a:ext cx="613635" cy="117796"/>
          </a:xfrm>
          <a:prstGeom prst="rect">
            <a:avLst/>
          </a:prstGeom>
          <a:solidFill>
            <a:srgbClr val="12A566"/>
          </a:solidFill>
          <a:ln/>
        </p:spPr>
      </p:sp>
      <p:sp>
        <p:nvSpPr>
          <p:cNvPr id="38" name="Text 36"/>
          <p:cNvSpPr txBox="1"/>
          <p:nvPr/>
        </p:nvSpPr>
        <p:spPr>
          <a:xfrm>
            <a:off x="3566160" y="3114339"/>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86.3%</a:t>
            </a:r>
            <a:endParaRPr lang="en-US" sz="1300" dirty="0"/>
          </a:p>
        </p:txBody>
      </p:sp>
      <p:sp>
        <p:nvSpPr>
          <p:cNvPr id="39" name="Text 37"/>
          <p:cNvSpPr txBox="1"/>
          <p:nvPr/>
        </p:nvSpPr>
        <p:spPr>
          <a:xfrm>
            <a:off x="4242816" y="311433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$159.69</a:t>
            </a:r>
            <a:endParaRPr lang="en-US" sz="1300" dirty="0"/>
          </a:p>
        </p:txBody>
      </p:sp>
      <p:sp>
        <p:nvSpPr>
          <p:cNvPr id="40" name="Text 38"/>
          <p:cNvSpPr txBox="1"/>
          <p:nvPr/>
        </p:nvSpPr>
        <p:spPr>
          <a:xfrm>
            <a:off x="5029200" y="311433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$185.00</a:t>
            </a:r>
            <a:endParaRPr lang="en-US" sz="1300" dirty="0"/>
          </a:p>
        </p:txBody>
      </p:sp>
      <p:sp>
        <p:nvSpPr>
          <p:cNvPr id="41" name="Text 39"/>
          <p:cNvSpPr txBox="1"/>
          <p:nvPr/>
        </p:nvSpPr>
        <p:spPr>
          <a:xfrm>
            <a:off x="658368" y="3349931"/>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42" name="Shape 40"/>
          <p:cNvSpPr/>
          <p:nvPr/>
        </p:nvSpPr>
        <p:spPr>
          <a:xfrm>
            <a:off x="2670048" y="3408829"/>
            <a:ext cx="564915" cy="117796"/>
          </a:xfrm>
          <a:prstGeom prst="rect">
            <a:avLst/>
          </a:prstGeom>
          <a:solidFill>
            <a:srgbClr val="12A566"/>
          </a:solidFill>
          <a:ln/>
        </p:spPr>
      </p:sp>
      <p:sp>
        <p:nvSpPr>
          <p:cNvPr id="43" name="Text 41"/>
          <p:cNvSpPr txBox="1"/>
          <p:nvPr/>
        </p:nvSpPr>
        <p:spPr>
          <a:xfrm>
            <a:off x="3566160" y="3349931"/>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82.6%</a:t>
            </a:r>
            <a:endParaRPr lang="en-US" sz="1300" dirty="0"/>
          </a:p>
        </p:txBody>
      </p:sp>
      <p:sp>
        <p:nvSpPr>
          <p:cNvPr id="44" name="Text 42"/>
          <p:cNvSpPr txBox="1"/>
          <p:nvPr/>
        </p:nvSpPr>
        <p:spPr>
          <a:xfrm>
            <a:off x="4242816" y="334993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$147.93</a:t>
            </a:r>
            <a:endParaRPr lang="en-US" sz="1300" dirty="0"/>
          </a:p>
        </p:txBody>
      </p:sp>
      <p:sp>
        <p:nvSpPr>
          <p:cNvPr id="45" name="Text 43"/>
          <p:cNvSpPr txBox="1"/>
          <p:nvPr/>
        </p:nvSpPr>
        <p:spPr>
          <a:xfrm>
            <a:off x="5029200" y="334993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$179.00</a:t>
            </a:r>
            <a:endParaRPr lang="en-US" sz="1300" dirty="0"/>
          </a:p>
        </p:txBody>
      </p:sp>
      <p:sp>
        <p:nvSpPr>
          <p:cNvPr id="46" name="Text 44"/>
          <p:cNvSpPr txBox="1"/>
          <p:nvPr/>
        </p:nvSpPr>
        <p:spPr>
          <a:xfrm>
            <a:off x="658368" y="3585524"/>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47" name="Shape 45"/>
          <p:cNvSpPr/>
          <p:nvPr/>
        </p:nvSpPr>
        <p:spPr>
          <a:xfrm>
            <a:off x="2670048" y="3644422"/>
            <a:ext cx="549859" cy="117796"/>
          </a:xfrm>
          <a:prstGeom prst="rect">
            <a:avLst/>
          </a:prstGeom>
          <a:solidFill>
            <a:srgbClr val="12A566"/>
          </a:solidFill>
          <a:ln/>
        </p:spPr>
      </p:sp>
      <p:sp>
        <p:nvSpPr>
          <p:cNvPr id="48" name="Text 46"/>
          <p:cNvSpPr txBox="1"/>
          <p:nvPr/>
        </p:nvSpPr>
        <p:spPr>
          <a:xfrm>
            <a:off x="3566160" y="3585524"/>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81.5%</a:t>
            </a:r>
            <a:endParaRPr lang="en-US" sz="1300" dirty="0"/>
          </a:p>
        </p:txBody>
      </p:sp>
      <p:sp>
        <p:nvSpPr>
          <p:cNvPr id="49" name="Text 47"/>
          <p:cNvSpPr txBox="1"/>
          <p:nvPr/>
        </p:nvSpPr>
        <p:spPr>
          <a:xfrm>
            <a:off x="4242816" y="358552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$187.42</a:t>
            </a:r>
            <a:endParaRPr lang="en-US" sz="1300" dirty="0"/>
          </a:p>
        </p:txBody>
      </p:sp>
      <p:sp>
        <p:nvSpPr>
          <p:cNvPr id="50" name="Text 48"/>
          <p:cNvSpPr txBox="1"/>
          <p:nvPr/>
        </p:nvSpPr>
        <p:spPr>
          <a:xfrm>
            <a:off x="5029200" y="358552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$229.95</a:t>
            </a:r>
            <a:endParaRPr lang="en-US" sz="1300" dirty="0"/>
          </a:p>
        </p:txBody>
      </p:sp>
      <p:sp>
        <p:nvSpPr>
          <p:cNvPr id="51" name="Text 49"/>
          <p:cNvSpPr txBox="1"/>
          <p:nvPr/>
        </p:nvSpPr>
        <p:spPr>
          <a:xfrm>
            <a:off x="658368" y="3821116"/>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52" name="Shape 50"/>
          <p:cNvSpPr/>
          <p:nvPr/>
        </p:nvSpPr>
        <p:spPr>
          <a:xfrm>
            <a:off x="2670048" y="3880014"/>
            <a:ext cx="542975" cy="117796"/>
          </a:xfrm>
          <a:prstGeom prst="rect">
            <a:avLst/>
          </a:prstGeom>
          <a:solidFill>
            <a:srgbClr val="12A566"/>
          </a:solidFill>
          <a:ln/>
        </p:spPr>
      </p:sp>
      <p:sp>
        <p:nvSpPr>
          <p:cNvPr id="53" name="Text 51"/>
          <p:cNvSpPr txBox="1"/>
          <p:nvPr/>
        </p:nvSpPr>
        <p:spPr>
          <a:xfrm>
            <a:off x="3566160" y="3821116"/>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80.9%</a:t>
            </a:r>
            <a:endParaRPr lang="en-US" sz="1300" dirty="0"/>
          </a:p>
        </p:txBody>
      </p:sp>
      <p:sp>
        <p:nvSpPr>
          <p:cNvPr id="54" name="Text 52"/>
          <p:cNvSpPr txBox="1"/>
          <p:nvPr/>
        </p:nvSpPr>
        <p:spPr>
          <a:xfrm>
            <a:off x="4242816" y="382111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$161.93</a:t>
            </a:r>
            <a:endParaRPr lang="en-US" sz="1300" dirty="0"/>
          </a:p>
        </p:txBody>
      </p:sp>
      <p:sp>
        <p:nvSpPr>
          <p:cNvPr id="55" name="Text 53"/>
          <p:cNvSpPr txBox="1"/>
          <p:nvPr/>
        </p:nvSpPr>
        <p:spPr>
          <a:xfrm>
            <a:off x="5029200" y="382111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$199.95</a:t>
            </a:r>
            <a:endParaRPr lang="en-US" sz="1300" dirty="0"/>
          </a:p>
        </p:txBody>
      </p:sp>
      <p:sp>
        <p:nvSpPr>
          <p:cNvPr id="56" name="Text 54"/>
          <p:cNvSpPr txBox="1"/>
          <p:nvPr/>
        </p:nvSpPr>
        <p:spPr>
          <a:xfrm>
            <a:off x="658368" y="4056709"/>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57" name="Shape 55"/>
          <p:cNvSpPr/>
          <p:nvPr/>
        </p:nvSpPr>
        <p:spPr>
          <a:xfrm>
            <a:off x="2670048" y="4115607"/>
            <a:ext cx="528418" cy="117796"/>
          </a:xfrm>
          <a:prstGeom prst="rect">
            <a:avLst/>
          </a:prstGeom>
          <a:solidFill>
            <a:srgbClr val="12A566"/>
          </a:solidFill>
          <a:ln/>
        </p:spPr>
      </p:sp>
      <p:sp>
        <p:nvSpPr>
          <p:cNvPr id="58" name="Text 56"/>
          <p:cNvSpPr txBox="1"/>
          <p:nvPr/>
        </p:nvSpPr>
        <p:spPr>
          <a:xfrm>
            <a:off x="3566160" y="4056709"/>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79.8%</a:t>
            </a:r>
            <a:endParaRPr lang="en-US" sz="1300" dirty="0"/>
          </a:p>
        </p:txBody>
      </p:sp>
      <p:sp>
        <p:nvSpPr>
          <p:cNvPr id="59" name="Text 57"/>
          <p:cNvSpPr txBox="1"/>
          <p:nvPr/>
        </p:nvSpPr>
        <p:spPr>
          <a:xfrm>
            <a:off x="4242816" y="405670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$155.78</a:t>
            </a:r>
            <a:endParaRPr lang="en-US" sz="1300" dirty="0"/>
          </a:p>
        </p:txBody>
      </p:sp>
      <p:sp>
        <p:nvSpPr>
          <p:cNvPr id="60" name="Text 58"/>
          <p:cNvSpPr txBox="1"/>
          <p:nvPr/>
        </p:nvSpPr>
        <p:spPr>
          <a:xfrm>
            <a:off x="5029200" y="405670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$195.00</a:t>
            </a:r>
            <a:endParaRPr lang="en-US" sz="1300" dirty="0"/>
          </a:p>
        </p:txBody>
      </p:sp>
      <p:sp>
        <p:nvSpPr>
          <p:cNvPr id="61" name="Text 59"/>
          <p:cNvSpPr txBox="1"/>
          <p:nvPr/>
        </p:nvSpPr>
        <p:spPr>
          <a:xfrm>
            <a:off x="658368" y="4292301"/>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62" name="Shape 60"/>
          <p:cNvSpPr/>
          <p:nvPr/>
        </p:nvSpPr>
        <p:spPr>
          <a:xfrm>
            <a:off x="2670048" y="4351199"/>
            <a:ext cx="523587" cy="117796"/>
          </a:xfrm>
          <a:prstGeom prst="rect">
            <a:avLst/>
          </a:prstGeom>
          <a:solidFill>
            <a:srgbClr val="12A566"/>
          </a:solidFill>
          <a:ln/>
        </p:spPr>
      </p:sp>
      <p:sp>
        <p:nvSpPr>
          <p:cNvPr id="63" name="Text 61"/>
          <p:cNvSpPr txBox="1"/>
          <p:nvPr/>
        </p:nvSpPr>
        <p:spPr>
          <a:xfrm>
            <a:off x="3566160" y="4292301"/>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79.5%</a:t>
            </a:r>
            <a:endParaRPr lang="en-US" sz="1300" dirty="0"/>
          </a:p>
        </p:txBody>
      </p:sp>
      <p:sp>
        <p:nvSpPr>
          <p:cNvPr id="64" name="Text 62"/>
          <p:cNvSpPr txBox="1"/>
          <p:nvPr/>
        </p:nvSpPr>
        <p:spPr>
          <a:xfrm>
            <a:off x="4242816" y="429230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$234.48</a:t>
            </a:r>
            <a:endParaRPr lang="en-US" sz="1300" dirty="0"/>
          </a:p>
        </p:txBody>
      </p:sp>
      <p:sp>
        <p:nvSpPr>
          <p:cNvPr id="65" name="Text 63"/>
          <p:cNvSpPr txBox="1"/>
          <p:nvPr/>
        </p:nvSpPr>
        <p:spPr>
          <a:xfrm>
            <a:off x="5029200" y="429230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$294.87</a:t>
            </a:r>
            <a:endParaRPr lang="en-US" sz="1300" dirty="0"/>
          </a:p>
        </p:txBody>
      </p:sp>
      <p:sp>
        <p:nvSpPr>
          <p:cNvPr id="66" name="Text 64"/>
          <p:cNvSpPr txBox="1"/>
          <p:nvPr/>
        </p:nvSpPr>
        <p:spPr>
          <a:xfrm>
            <a:off x="658368" y="4527894"/>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67" name="Shape 65"/>
          <p:cNvSpPr/>
          <p:nvPr/>
        </p:nvSpPr>
        <p:spPr>
          <a:xfrm>
            <a:off x="2670048" y="4586792"/>
            <a:ext cx="515923" cy="117796"/>
          </a:xfrm>
          <a:prstGeom prst="rect">
            <a:avLst/>
          </a:prstGeom>
          <a:solidFill>
            <a:srgbClr val="12A566"/>
          </a:solidFill>
          <a:ln/>
        </p:spPr>
      </p:sp>
      <p:sp>
        <p:nvSpPr>
          <p:cNvPr id="68" name="Text 66"/>
          <p:cNvSpPr txBox="1"/>
          <p:nvPr/>
        </p:nvSpPr>
        <p:spPr>
          <a:xfrm>
            <a:off x="3566160" y="4527894"/>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78.9%</a:t>
            </a:r>
            <a:endParaRPr lang="en-US" sz="1300" dirty="0"/>
          </a:p>
        </p:txBody>
      </p:sp>
      <p:sp>
        <p:nvSpPr>
          <p:cNvPr id="69" name="Text 67"/>
          <p:cNvSpPr txBox="1"/>
          <p:nvPr/>
        </p:nvSpPr>
        <p:spPr>
          <a:xfrm>
            <a:off x="4242816" y="452789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$146.04</a:t>
            </a:r>
            <a:endParaRPr lang="en-US" sz="1300" dirty="0"/>
          </a:p>
        </p:txBody>
      </p:sp>
      <p:sp>
        <p:nvSpPr>
          <p:cNvPr id="70" name="Text 68"/>
          <p:cNvSpPr txBox="1"/>
          <p:nvPr/>
        </p:nvSpPr>
        <p:spPr>
          <a:xfrm>
            <a:off x="5029200" y="452789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$185.00</a:t>
            </a:r>
            <a:endParaRPr lang="en-US" sz="1300" dirty="0"/>
          </a:p>
        </p:txBody>
      </p:sp>
      <p:sp>
        <p:nvSpPr>
          <p:cNvPr id="71" name="Text 69"/>
          <p:cNvSpPr txBox="1"/>
          <p:nvPr/>
        </p:nvSpPr>
        <p:spPr>
          <a:xfrm>
            <a:off x="658368" y="4763486"/>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72" name="Shape 70"/>
          <p:cNvSpPr/>
          <p:nvPr/>
        </p:nvSpPr>
        <p:spPr>
          <a:xfrm>
            <a:off x="2670048" y="4822384"/>
            <a:ext cx="515855" cy="117796"/>
          </a:xfrm>
          <a:prstGeom prst="rect">
            <a:avLst/>
          </a:prstGeom>
          <a:solidFill>
            <a:srgbClr val="12A566"/>
          </a:solidFill>
          <a:ln/>
        </p:spPr>
      </p:sp>
      <p:sp>
        <p:nvSpPr>
          <p:cNvPr id="73" name="Text 71"/>
          <p:cNvSpPr txBox="1"/>
          <p:nvPr/>
        </p:nvSpPr>
        <p:spPr>
          <a:xfrm>
            <a:off x="3566160" y="4763486"/>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78.9%</a:t>
            </a:r>
            <a:endParaRPr lang="en-US" sz="1300" dirty="0"/>
          </a:p>
        </p:txBody>
      </p:sp>
      <p:sp>
        <p:nvSpPr>
          <p:cNvPr id="74" name="Text 72"/>
          <p:cNvSpPr txBox="1"/>
          <p:nvPr/>
        </p:nvSpPr>
        <p:spPr>
          <a:xfrm>
            <a:off x="4242816" y="476348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$165.67</a:t>
            </a:r>
            <a:endParaRPr lang="en-US" sz="1300" dirty="0"/>
          </a:p>
        </p:txBody>
      </p:sp>
      <p:sp>
        <p:nvSpPr>
          <p:cNvPr id="75" name="Text 73"/>
          <p:cNvSpPr txBox="1"/>
          <p:nvPr/>
        </p:nvSpPr>
        <p:spPr>
          <a:xfrm>
            <a:off x="5029200" y="476348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$209.87</a:t>
            </a:r>
            <a:endParaRPr lang="en-US" sz="1300" dirty="0"/>
          </a:p>
        </p:txBody>
      </p:sp>
      <p:sp>
        <p:nvSpPr>
          <p:cNvPr id="76" name="Text 74"/>
          <p:cNvSpPr txBox="1"/>
          <p:nvPr/>
        </p:nvSpPr>
        <p:spPr>
          <a:xfrm>
            <a:off x="658368" y="4999079"/>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77" name="Shape 75"/>
          <p:cNvSpPr/>
          <p:nvPr/>
        </p:nvSpPr>
        <p:spPr>
          <a:xfrm>
            <a:off x="2670048" y="5057977"/>
            <a:ext cx="510186" cy="117796"/>
          </a:xfrm>
          <a:prstGeom prst="rect">
            <a:avLst/>
          </a:prstGeom>
          <a:solidFill>
            <a:srgbClr val="12A566"/>
          </a:solidFill>
          <a:ln/>
        </p:spPr>
      </p:sp>
      <p:sp>
        <p:nvSpPr>
          <p:cNvPr id="78" name="Text 76"/>
          <p:cNvSpPr txBox="1"/>
          <p:nvPr/>
        </p:nvSpPr>
        <p:spPr>
          <a:xfrm>
            <a:off x="3566160" y="4999079"/>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78.5%</a:t>
            </a:r>
            <a:endParaRPr lang="en-US" sz="1300" dirty="0"/>
          </a:p>
        </p:txBody>
      </p:sp>
      <p:sp>
        <p:nvSpPr>
          <p:cNvPr id="79" name="Text 77"/>
          <p:cNvSpPr txBox="1"/>
          <p:nvPr/>
        </p:nvSpPr>
        <p:spPr>
          <a:xfrm>
            <a:off x="4242816" y="499907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$160.84</a:t>
            </a:r>
            <a:endParaRPr lang="en-US" sz="1300" dirty="0"/>
          </a:p>
        </p:txBody>
      </p:sp>
      <p:sp>
        <p:nvSpPr>
          <p:cNvPr id="80" name="Text 78"/>
          <p:cNvSpPr txBox="1"/>
          <p:nvPr/>
        </p:nvSpPr>
        <p:spPr>
          <a:xfrm>
            <a:off x="5029200" y="499907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$204.87</a:t>
            </a:r>
            <a:endParaRPr lang="en-US" sz="1300" dirty="0"/>
          </a:p>
        </p:txBody>
      </p:sp>
      <p:sp>
        <p:nvSpPr>
          <p:cNvPr id="81" name="Text 79"/>
          <p:cNvSpPr txBox="1"/>
          <p:nvPr/>
        </p:nvSpPr>
        <p:spPr>
          <a:xfrm>
            <a:off x="658368" y="5234671"/>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82" name="Shape 80"/>
          <p:cNvSpPr/>
          <p:nvPr/>
        </p:nvSpPr>
        <p:spPr>
          <a:xfrm>
            <a:off x="2670048" y="5293569"/>
            <a:ext cx="486924" cy="117796"/>
          </a:xfrm>
          <a:prstGeom prst="rect">
            <a:avLst/>
          </a:prstGeom>
          <a:solidFill>
            <a:srgbClr val="12A566"/>
          </a:solidFill>
          <a:ln/>
        </p:spPr>
      </p:sp>
      <p:sp>
        <p:nvSpPr>
          <p:cNvPr id="83" name="Text 81"/>
          <p:cNvSpPr txBox="1"/>
          <p:nvPr/>
        </p:nvSpPr>
        <p:spPr>
          <a:xfrm>
            <a:off x="3566160" y="5234671"/>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76.7%</a:t>
            </a:r>
            <a:endParaRPr lang="en-US" sz="1300" dirty="0"/>
          </a:p>
        </p:txBody>
      </p:sp>
      <p:sp>
        <p:nvSpPr>
          <p:cNvPr id="84" name="Text 82"/>
          <p:cNvSpPr txBox="1"/>
          <p:nvPr/>
        </p:nvSpPr>
        <p:spPr>
          <a:xfrm>
            <a:off x="4242816" y="523467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$141.89</a:t>
            </a:r>
            <a:endParaRPr lang="en-US" sz="1300" dirty="0"/>
          </a:p>
        </p:txBody>
      </p:sp>
      <p:sp>
        <p:nvSpPr>
          <p:cNvPr id="85" name="Text 83"/>
          <p:cNvSpPr txBox="1"/>
          <p:nvPr/>
        </p:nvSpPr>
        <p:spPr>
          <a:xfrm>
            <a:off x="5029200" y="523467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$184.87</a:t>
            </a:r>
            <a:endParaRPr lang="en-US" sz="1300" dirty="0"/>
          </a:p>
        </p:txBody>
      </p:sp>
      <p:sp>
        <p:nvSpPr>
          <p:cNvPr id="86" name="Text 84"/>
          <p:cNvSpPr txBox="1"/>
          <p:nvPr/>
        </p:nvSpPr>
        <p:spPr>
          <a:xfrm>
            <a:off x="658368" y="5470264"/>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87" name="Shape 85"/>
          <p:cNvSpPr/>
          <p:nvPr/>
        </p:nvSpPr>
        <p:spPr>
          <a:xfrm>
            <a:off x="2670048" y="5529162"/>
            <a:ext cx="482951" cy="117796"/>
          </a:xfrm>
          <a:prstGeom prst="rect">
            <a:avLst/>
          </a:prstGeom>
          <a:solidFill>
            <a:srgbClr val="12A566"/>
          </a:solidFill>
          <a:ln/>
        </p:spPr>
      </p:sp>
      <p:sp>
        <p:nvSpPr>
          <p:cNvPr id="88" name="Text 86"/>
          <p:cNvSpPr txBox="1"/>
          <p:nvPr/>
        </p:nvSpPr>
        <p:spPr>
          <a:xfrm>
            <a:off x="3566160" y="5470264"/>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76.4%</a:t>
            </a:r>
            <a:endParaRPr lang="en-US" sz="1300" dirty="0"/>
          </a:p>
        </p:txBody>
      </p:sp>
      <p:sp>
        <p:nvSpPr>
          <p:cNvPr id="89" name="Text 87"/>
          <p:cNvSpPr txBox="1"/>
          <p:nvPr/>
        </p:nvSpPr>
        <p:spPr>
          <a:xfrm>
            <a:off x="4242816" y="547026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$266.72</a:t>
            </a:r>
            <a:endParaRPr lang="en-US" sz="1300" dirty="0"/>
          </a:p>
        </p:txBody>
      </p:sp>
      <p:sp>
        <p:nvSpPr>
          <p:cNvPr id="90" name="Text 88"/>
          <p:cNvSpPr txBox="1"/>
          <p:nvPr/>
        </p:nvSpPr>
        <p:spPr>
          <a:xfrm>
            <a:off x="5029200" y="547026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$348.87</a:t>
            </a:r>
            <a:endParaRPr lang="en-US" sz="1300" dirty="0"/>
          </a:p>
        </p:txBody>
      </p:sp>
      <p:sp>
        <p:nvSpPr>
          <p:cNvPr id="91" name="Text 89"/>
          <p:cNvSpPr txBox="1"/>
          <p:nvPr/>
        </p:nvSpPr>
        <p:spPr>
          <a:xfrm>
            <a:off x="6208776" y="1700784"/>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92" name="Shape 90"/>
          <p:cNvSpPr/>
          <p:nvPr/>
        </p:nvSpPr>
        <p:spPr>
          <a:xfrm>
            <a:off x="8220456" y="1759682"/>
            <a:ext cx="469589" cy="117796"/>
          </a:xfrm>
          <a:prstGeom prst="rect">
            <a:avLst/>
          </a:prstGeom>
          <a:solidFill>
            <a:srgbClr val="12A566"/>
          </a:solidFill>
          <a:ln/>
        </p:spPr>
      </p:sp>
      <p:sp>
        <p:nvSpPr>
          <p:cNvPr id="93" name="Text 91"/>
          <p:cNvSpPr txBox="1"/>
          <p:nvPr/>
        </p:nvSpPr>
        <p:spPr>
          <a:xfrm>
            <a:off x="9116568" y="1700784"/>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75.4%</a:t>
            </a:r>
            <a:endParaRPr lang="en-US" sz="1300" dirty="0"/>
          </a:p>
        </p:txBody>
      </p:sp>
      <p:sp>
        <p:nvSpPr>
          <p:cNvPr id="94" name="Text 92"/>
          <p:cNvSpPr txBox="1"/>
          <p:nvPr/>
        </p:nvSpPr>
        <p:spPr>
          <a:xfrm>
            <a:off x="9793224" y="170078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$233.88</a:t>
            </a:r>
            <a:endParaRPr lang="en-US" sz="1300" dirty="0"/>
          </a:p>
        </p:txBody>
      </p:sp>
      <p:sp>
        <p:nvSpPr>
          <p:cNvPr id="95" name="Text 93"/>
          <p:cNvSpPr txBox="1"/>
          <p:nvPr/>
        </p:nvSpPr>
        <p:spPr>
          <a:xfrm>
            <a:off x="10579608" y="170078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$310.00</a:t>
            </a:r>
            <a:endParaRPr lang="en-US" sz="1300" dirty="0"/>
          </a:p>
        </p:txBody>
      </p:sp>
      <p:sp>
        <p:nvSpPr>
          <p:cNvPr id="96" name="Text 94"/>
          <p:cNvSpPr txBox="1"/>
          <p:nvPr/>
        </p:nvSpPr>
        <p:spPr>
          <a:xfrm>
            <a:off x="6208776" y="1936376"/>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97" name="Shape 95"/>
          <p:cNvSpPr/>
          <p:nvPr/>
        </p:nvSpPr>
        <p:spPr>
          <a:xfrm>
            <a:off x="8220456" y="1995275"/>
            <a:ext cx="467351" cy="117796"/>
          </a:xfrm>
          <a:prstGeom prst="rect">
            <a:avLst/>
          </a:prstGeom>
          <a:solidFill>
            <a:srgbClr val="12A566"/>
          </a:solidFill>
          <a:ln/>
        </p:spPr>
      </p:sp>
      <p:sp>
        <p:nvSpPr>
          <p:cNvPr id="98" name="Text 96"/>
          <p:cNvSpPr txBox="1"/>
          <p:nvPr/>
        </p:nvSpPr>
        <p:spPr>
          <a:xfrm>
            <a:off x="9116568" y="1936376"/>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75.2%</a:t>
            </a:r>
            <a:endParaRPr lang="en-US" sz="1300" dirty="0"/>
          </a:p>
        </p:txBody>
      </p:sp>
      <p:sp>
        <p:nvSpPr>
          <p:cNvPr id="99" name="Text 97"/>
          <p:cNvSpPr txBox="1"/>
          <p:nvPr/>
        </p:nvSpPr>
        <p:spPr>
          <a:xfrm>
            <a:off x="9793224" y="193637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$162.12</a:t>
            </a:r>
            <a:endParaRPr lang="en-US" sz="1300" dirty="0"/>
          </a:p>
        </p:txBody>
      </p:sp>
      <p:sp>
        <p:nvSpPr>
          <p:cNvPr id="100" name="Text 98"/>
          <p:cNvSpPr txBox="1"/>
          <p:nvPr/>
        </p:nvSpPr>
        <p:spPr>
          <a:xfrm>
            <a:off x="10579608" y="193637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$215.37</a:t>
            </a:r>
            <a:endParaRPr lang="en-US" sz="1300" dirty="0"/>
          </a:p>
        </p:txBody>
      </p:sp>
      <p:sp>
        <p:nvSpPr>
          <p:cNvPr id="101" name="Text 99"/>
          <p:cNvSpPr txBox="1"/>
          <p:nvPr/>
        </p:nvSpPr>
        <p:spPr>
          <a:xfrm>
            <a:off x="6208776" y="2171969"/>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102" name="Shape 100"/>
          <p:cNvSpPr/>
          <p:nvPr/>
        </p:nvSpPr>
        <p:spPr>
          <a:xfrm>
            <a:off x="8220456" y="2230867"/>
            <a:ext cx="465019" cy="117796"/>
          </a:xfrm>
          <a:prstGeom prst="rect">
            <a:avLst/>
          </a:prstGeom>
          <a:solidFill>
            <a:srgbClr val="12A566"/>
          </a:solidFill>
          <a:ln/>
        </p:spPr>
      </p:sp>
      <p:sp>
        <p:nvSpPr>
          <p:cNvPr id="103" name="Text 101"/>
          <p:cNvSpPr txBox="1"/>
          <p:nvPr/>
        </p:nvSpPr>
        <p:spPr>
          <a:xfrm>
            <a:off x="9116568" y="2171969"/>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75.1%</a:t>
            </a:r>
            <a:endParaRPr lang="en-US" sz="1300" dirty="0"/>
          </a:p>
        </p:txBody>
      </p:sp>
      <p:sp>
        <p:nvSpPr>
          <p:cNvPr id="104" name="Text 102"/>
          <p:cNvSpPr txBox="1"/>
          <p:nvPr/>
        </p:nvSpPr>
        <p:spPr>
          <a:xfrm>
            <a:off x="9793224" y="217196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$180.14</a:t>
            </a:r>
            <a:endParaRPr lang="en-US" sz="1300" dirty="0"/>
          </a:p>
        </p:txBody>
      </p:sp>
      <p:sp>
        <p:nvSpPr>
          <p:cNvPr id="105" name="Text 103"/>
          <p:cNvSpPr txBox="1"/>
          <p:nvPr/>
        </p:nvSpPr>
        <p:spPr>
          <a:xfrm>
            <a:off x="10579608" y="217196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$239.87</a:t>
            </a:r>
            <a:endParaRPr lang="en-US" sz="1300" dirty="0"/>
          </a:p>
        </p:txBody>
      </p:sp>
      <p:sp>
        <p:nvSpPr>
          <p:cNvPr id="106" name="Text 104"/>
          <p:cNvSpPr txBox="1"/>
          <p:nvPr/>
        </p:nvSpPr>
        <p:spPr>
          <a:xfrm>
            <a:off x="6208776" y="2407561"/>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107" name="Shape 105"/>
          <p:cNvSpPr/>
          <p:nvPr/>
        </p:nvSpPr>
        <p:spPr>
          <a:xfrm>
            <a:off x="8220456" y="2466460"/>
            <a:ext cx="463785" cy="117796"/>
          </a:xfrm>
          <a:prstGeom prst="rect">
            <a:avLst/>
          </a:prstGeom>
          <a:solidFill>
            <a:srgbClr val="12A566"/>
          </a:solidFill>
          <a:ln/>
        </p:spPr>
      </p:sp>
      <p:sp>
        <p:nvSpPr>
          <p:cNvPr id="108" name="Text 106"/>
          <p:cNvSpPr txBox="1"/>
          <p:nvPr/>
        </p:nvSpPr>
        <p:spPr>
          <a:xfrm>
            <a:off x="9116568" y="2407561"/>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75.0%</a:t>
            </a:r>
            <a:endParaRPr lang="en-US" sz="1300" dirty="0"/>
          </a:p>
        </p:txBody>
      </p:sp>
      <p:sp>
        <p:nvSpPr>
          <p:cNvPr id="109" name="Text 107"/>
          <p:cNvSpPr txBox="1"/>
          <p:nvPr/>
        </p:nvSpPr>
        <p:spPr>
          <a:xfrm>
            <a:off x="9793224" y="240756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$142.51</a:t>
            </a:r>
            <a:endParaRPr lang="en-US" sz="1300" dirty="0"/>
          </a:p>
        </p:txBody>
      </p:sp>
      <p:sp>
        <p:nvSpPr>
          <p:cNvPr id="110" name="Text 108"/>
          <p:cNvSpPr txBox="1"/>
          <p:nvPr/>
        </p:nvSpPr>
        <p:spPr>
          <a:xfrm>
            <a:off x="10579608" y="240756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$190.00</a:t>
            </a:r>
            <a:endParaRPr lang="en-US" sz="1300" dirty="0"/>
          </a:p>
        </p:txBody>
      </p:sp>
      <p:sp>
        <p:nvSpPr>
          <p:cNvPr id="111" name="Shape 109"/>
          <p:cNvSpPr/>
          <p:nvPr/>
        </p:nvSpPr>
        <p:spPr>
          <a:xfrm>
            <a:off x="6135624" y="2638582"/>
            <a:ext cx="5285232" cy="226448"/>
          </a:xfrm>
          <a:prstGeom prst="rect">
            <a:avLst/>
          </a:prstGeom>
          <a:solidFill>
            <a:srgbClr val="EDF4FA"/>
          </a:solidFill>
          <a:ln/>
        </p:spPr>
      </p:sp>
      <p:sp>
        <p:nvSpPr>
          <p:cNvPr id="112" name="Text 110"/>
          <p:cNvSpPr txBox="1"/>
          <p:nvPr/>
        </p:nvSpPr>
        <p:spPr>
          <a:xfrm>
            <a:off x="6208776" y="2643154"/>
            <a:ext cx="1938528" cy="235592"/>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GROUP</a:t>
            </a:r>
            <a:endParaRPr lang="en-US" sz="1300" dirty="0"/>
          </a:p>
        </p:txBody>
      </p:sp>
      <p:sp>
        <p:nvSpPr>
          <p:cNvPr id="113" name="Shape 111"/>
          <p:cNvSpPr/>
          <p:nvPr/>
        </p:nvSpPr>
        <p:spPr>
          <a:xfrm>
            <a:off x="8220456" y="2702052"/>
            <a:ext cx="460989" cy="117796"/>
          </a:xfrm>
          <a:prstGeom prst="rect">
            <a:avLst/>
          </a:prstGeom>
          <a:solidFill>
            <a:srgbClr val="0B2C4A"/>
          </a:solidFill>
          <a:ln/>
        </p:spPr>
      </p:sp>
      <p:sp>
        <p:nvSpPr>
          <p:cNvPr id="114" name="Text 112"/>
          <p:cNvSpPr txBox="1"/>
          <p:nvPr/>
        </p:nvSpPr>
        <p:spPr>
          <a:xfrm>
            <a:off x="9116568" y="2643154"/>
            <a:ext cx="676656" cy="23559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74.7%</a:t>
            </a:r>
            <a:endParaRPr lang="en-US" sz="1300" dirty="0"/>
          </a:p>
        </p:txBody>
      </p:sp>
      <p:sp>
        <p:nvSpPr>
          <p:cNvPr id="115" name="Text 113"/>
          <p:cNvSpPr txBox="1"/>
          <p:nvPr/>
        </p:nvSpPr>
        <p:spPr>
          <a:xfrm>
            <a:off x="9793224" y="2643154"/>
            <a:ext cx="786384" cy="23559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$163.67</a:t>
            </a:r>
            <a:endParaRPr lang="en-US" sz="1300" dirty="0"/>
          </a:p>
        </p:txBody>
      </p:sp>
      <p:sp>
        <p:nvSpPr>
          <p:cNvPr id="116" name="Text 114"/>
          <p:cNvSpPr txBox="1"/>
          <p:nvPr/>
        </p:nvSpPr>
        <p:spPr>
          <a:xfrm>
            <a:off x="10579608" y="2643154"/>
            <a:ext cx="786384" cy="23559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$218.82</a:t>
            </a:r>
            <a:endParaRPr lang="en-US" sz="1300" dirty="0"/>
          </a:p>
        </p:txBody>
      </p:sp>
      <p:sp>
        <p:nvSpPr>
          <p:cNvPr id="117" name="Text 115"/>
          <p:cNvSpPr txBox="1"/>
          <p:nvPr/>
        </p:nvSpPr>
        <p:spPr>
          <a:xfrm>
            <a:off x="6208776" y="2878746"/>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118" name="Shape 116"/>
          <p:cNvSpPr/>
          <p:nvPr/>
        </p:nvSpPr>
        <p:spPr>
          <a:xfrm>
            <a:off x="8220456" y="2937644"/>
            <a:ext cx="449061" cy="117796"/>
          </a:xfrm>
          <a:prstGeom prst="rect">
            <a:avLst/>
          </a:prstGeom>
          <a:solidFill>
            <a:srgbClr val="12A566"/>
          </a:solidFill>
          <a:ln/>
        </p:spPr>
      </p:sp>
      <p:sp>
        <p:nvSpPr>
          <p:cNvPr id="119" name="Text 117"/>
          <p:cNvSpPr txBox="1"/>
          <p:nvPr/>
        </p:nvSpPr>
        <p:spPr>
          <a:xfrm>
            <a:off x="9116568" y="2878746"/>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73.8%</a:t>
            </a:r>
            <a:endParaRPr lang="en-US" sz="1300" dirty="0"/>
          </a:p>
        </p:txBody>
      </p:sp>
      <p:sp>
        <p:nvSpPr>
          <p:cNvPr id="120" name="Text 118"/>
          <p:cNvSpPr txBox="1"/>
          <p:nvPr/>
        </p:nvSpPr>
        <p:spPr>
          <a:xfrm>
            <a:off x="9793224" y="287874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$136.71</a:t>
            </a:r>
            <a:endParaRPr lang="en-US" sz="1300" dirty="0"/>
          </a:p>
        </p:txBody>
      </p:sp>
      <p:sp>
        <p:nvSpPr>
          <p:cNvPr id="121" name="Text 119"/>
          <p:cNvSpPr txBox="1"/>
          <p:nvPr/>
        </p:nvSpPr>
        <p:spPr>
          <a:xfrm>
            <a:off x="10579608" y="287874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$185.00</a:t>
            </a:r>
            <a:endParaRPr lang="en-US" sz="1300" dirty="0"/>
          </a:p>
        </p:txBody>
      </p:sp>
      <p:sp>
        <p:nvSpPr>
          <p:cNvPr id="122" name="Text 120"/>
          <p:cNvSpPr txBox="1"/>
          <p:nvPr/>
        </p:nvSpPr>
        <p:spPr>
          <a:xfrm>
            <a:off x="6208776" y="3114339"/>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123" name="Shape 121"/>
          <p:cNvSpPr/>
          <p:nvPr/>
        </p:nvSpPr>
        <p:spPr>
          <a:xfrm>
            <a:off x="8220456" y="3173237"/>
            <a:ext cx="439276" cy="117796"/>
          </a:xfrm>
          <a:prstGeom prst="rect">
            <a:avLst/>
          </a:prstGeom>
          <a:solidFill>
            <a:srgbClr val="12A566"/>
          </a:solidFill>
          <a:ln/>
        </p:spPr>
      </p:sp>
      <p:sp>
        <p:nvSpPr>
          <p:cNvPr id="124" name="Text 122"/>
          <p:cNvSpPr txBox="1"/>
          <p:nvPr/>
        </p:nvSpPr>
        <p:spPr>
          <a:xfrm>
            <a:off x="9116568" y="3114339"/>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73.1%</a:t>
            </a:r>
            <a:endParaRPr lang="en-US" sz="1300" dirty="0"/>
          </a:p>
        </p:txBody>
      </p:sp>
      <p:sp>
        <p:nvSpPr>
          <p:cNvPr id="125" name="Text 123"/>
          <p:cNvSpPr txBox="1"/>
          <p:nvPr/>
        </p:nvSpPr>
        <p:spPr>
          <a:xfrm>
            <a:off x="9793224" y="311433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$154.55</a:t>
            </a:r>
            <a:endParaRPr lang="en-US" sz="1300" dirty="0"/>
          </a:p>
        </p:txBody>
      </p:sp>
      <p:sp>
        <p:nvSpPr>
          <p:cNvPr id="126" name="Text 124"/>
          <p:cNvSpPr txBox="1"/>
          <p:nvPr/>
        </p:nvSpPr>
        <p:spPr>
          <a:xfrm>
            <a:off x="10579608" y="311433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$211.26</a:t>
            </a:r>
            <a:endParaRPr lang="en-US" sz="1300" dirty="0"/>
          </a:p>
        </p:txBody>
      </p:sp>
      <p:sp>
        <p:nvSpPr>
          <p:cNvPr id="127" name="Text 125"/>
          <p:cNvSpPr txBox="1"/>
          <p:nvPr/>
        </p:nvSpPr>
        <p:spPr>
          <a:xfrm>
            <a:off x="6208776" y="3349931"/>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128" name="Shape 126"/>
          <p:cNvSpPr/>
          <p:nvPr/>
        </p:nvSpPr>
        <p:spPr>
          <a:xfrm>
            <a:off x="8220456" y="3408829"/>
            <a:ext cx="429617" cy="117796"/>
          </a:xfrm>
          <a:prstGeom prst="rect">
            <a:avLst/>
          </a:prstGeom>
          <a:solidFill>
            <a:srgbClr val="12A566"/>
          </a:solidFill>
          <a:ln/>
        </p:spPr>
      </p:sp>
      <p:sp>
        <p:nvSpPr>
          <p:cNvPr id="129" name="Text 127"/>
          <p:cNvSpPr txBox="1"/>
          <p:nvPr/>
        </p:nvSpPr>
        <p:spPr>
          <a:xfrm>
            <a:off x="9116568" y="3349931"/>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72.4%</a:t>
            </a:r>
            <a:endParaRPr lang="en-US" sz="1300" dirty="0"/>
          </a:p>
        </p:txBody>
      </p:sp>
      <p:sp>
        <p:nvSpPr>
          <p:cNvPr id="130" name="Text 128"/>
          <p:cNvSpPr txBox="1"/>
          <p:nvPr/>
        </p:nvSpPr>
        <p:spPr>
          <a:xfrm>
            <a:off x="9793224" y="334993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$153.45</a:t>
            </a:r>
            <a:endParaRPr lang="en-US" sz="1300" dirty="0"/>
          </a:p>
        </p:txBody>
      </p:sp>
      <p:sp>
        <p:nvSpPr>
          <p:cNvPr id="131" name="Text 129"/>
          <p:cNvSpPr txBox="1"/>
          <p:nvPr/>
        </p:nvSpPr>
        <p:spPr>
          <a:xfrm>
            <a:off x="10579608" y="334993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$211.87</a:t>
            </a:r>
            <a:endParaRPr lang="en-US" sz="1300" dirty="0"/>
          </a:p>
        </p:txBody>
      </p:sp>
      <p:sp>
        <p:nvSpPr>
          <p:cNvPr id="132" name="Text 130"/>
          <p:cNvSpPr txBox="1"/>
          <p:nvPr/>
        </p:nvSpPr>
        <p:spPr>
          <a:xfrm>
            <a:off x="6208776" y="3585524"/>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133" name="Shape 131"/>
          <p:cNvSpPr/>
          <p:nvPr/>
        </p:nvSpPr>
        <p:spPr>
          <a:xfrm>
            <a:off x="8220456" y="3644422"/>
            <a:ext cx="406129" cy="117796"/>
          </a:xfrm>
          <a:prstGeom prst="rect">
            <a:avLst/>
          </a:prstGeom>
          <a:solidFill>
            <a:srgbClr val="12A566"/>
          </a:solidFill>
          <a:ln/>
        </p:spPr>
      </p:sp>
      <p:sp>
        <p:nvSpPr>
          <p:cNvPr id="134" name="Text 132"/>
          <p:cNvSpPr txBox="1"/>
          <p:nvPr/>
        </p:nvSpPr>
        <p:spPr>
          <a:xfrm>
            <a:off x="9116568" y="3585524"/>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70.6%</a:t>
            </a:r>
            <a:endParaRPr lang="en-US" sz="1300" dirty="0"/>
          </a:p>
        </p:txBody>
      </p:sp>
      <p:sp>
        <p:nvSpPr>
          <p:cNvPr id="135" name="Text 133"/>
          <p:cNvSpPr txBox="1"/>
          <p:nvPr/>
        </p:nvSpPr>
        <p:spPr>
          <a:xfrm>
            <a:off x="9793224" y="358552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$149.70</a:t>
            </a:r>
            <a:endParaRPr lang="en-US" sz="1300" dirty="0"/>
          </a:p>
        </p:txBody>
      </p:sp>
      <p:sp>
        <p:nvSpPr>
          <p:cNvPr id="136" name="Text 134"/>
          <p:cNvSpPr txBox="1"/>
          <p:nvPr/>
        </p:nvSpPr>
        <p:spPr>
          <a:xfrm>
            <a:off x="10579608" y="358552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$211.87</a:t>
            </a:r>
            <a:endParaRPr lang="en-US" sz="1300" dirty="0"/>
          </a:p>
        </p:txBody>
      </p:sp>
      <p:sp>
        <p:nvSpPr>
          <p:cNvPr id="137" name="Text 135"/>
          <p:cNvSpPr txBox="1"/>
          <p:nvPr/>
        </p:nvSpPr>
        <p:spPr>
          <a:xfrm>
            <a:off x="6208776" y="3821116"/>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138" name="Shape 136"/>
          <p:cNvSpPr/>
          <p:nvPr/>
        </p:nvSpPr>
        <p:spPr>
          <a:xfrm>
            <a:off x="8220456" y="3880014"/>
            <a:ext cx="378253" cy="117796"/>
          </a:xfrm>
          <a:prstGeom prst="rect">
            <a:avLst/>
          </a:prstGeom>
          <a:solidFill>
            <a:srgbClr val="C2352F"/>
          </a:solidFill>
          <a:ln/>
        </p:spPr>
      </p:sp>
      <p:sp>
        <p:nvSpPr>
          <p:cNvPr id="139" name="Text 137"/>
          <p:cNvSpPr txBox="1"/>
          <p:nvPr/>
        </p:nvSpPr>
        <p:spPr>
          <a:xfrm>
            <a:off x="9116568" y="3821116"/>
            <a:ext cx="67665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68.5%</a:t>
            </a:r>
            <a:endParaRPr lang="en-US" sz="1300" dirty="0"/>
          </a:p>
        </p:txBody>
      </p:sp>
      <p:sp>
        <p:nvSpPr>
          <p:cNvPr id="140" name="Text 138"/>
          <p:cNvSpPr txBox="1"/>
          <p:nvPr/>
        </p:nvSpPr>
        <p:spPr>
          <a:xfrm>
            <a:off x="9793224" y="382111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$150.72</a:t>
            </a:r>
            <a:endParaRPr lang="en-US" sz="1300" dirty="0"/>
          </a:p>
        </p:txBody>
      </p:sp>
      <p:sp>
        <p:nvSpPr>
          <p:cNvPr id="141" name="Text 139"/>
          <p:cNvSpPr txBox="1"/>
          <p:nvPr/>
        </p:nvSpPr>
        <p:spPr>
          <a:xfrm>
            <a:off x="10579608" y="382111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$219.87</a:t>
            </a:r>
            <a:endParaRPr lang="en-US" sz="1300" dirty="0"/>
          </a:p>
        </p:txBody>
      </p:sp>
      <p:sp>
        <p:nvSpPr>
          <p:cNvPr id="142" name="Text 140"/>
          <p:cNvSpPr txBox="1"/>
          <p:nvPr/>
        </p:nvSpPr>
        <p:spPr>
          <a:xfrm>
            <a:off x="6208776" y="4056709"/>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143" name="Shape 141"/>
          <p:cNvSpPr/>
          <p:nvPr/>
        </p:nvSpPr>
        <p:spPr>
          <a:xfrm>
            <a:off x="8220456" y="4115607"/>
            <a:ext cx="374799" cy="117796"/>
          </a:xfrm>
          <a:prstGeom prst="rect">
            <a:avLst/>
          </a:prstGeom>
          <a:solidFill>
            <a:srgbClr val="C2352F"/>
          </a:solidFill>
          <a:ln/>
        </p:spPr>
      </p:sp>
      <p:sp>
        <p:nvSpPr>
          <p:cNvPr id="144" name="Text 142"/>
          <p:cNvSpPr txBox="1"/>
          <p:nvPr/>
        </p:nvSpPr>
        <p:spPr>
          <a:xfrm>
            <a:off x="9116568" y="4056709"/>
            <a:ext cx="67665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68.2%</a:t>
            </a:r>
            <a:endParaRPr lang="en-US" sz="1300" dirty="0"/>
          </a:p>
        </p:txBody>
      </p:sp>
      <p:sp>
        <p:nvSpPr>
          <p:cNvPr id="145" name="Text 143"/>
          <p:cNvSpPr txBox="1"/>
          <p:nvPr/>
        </p:nvSpPr>
        <p:spPr>
          <a:xfrm>
            <a:off x="9793224" y="405670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$167.22</a:t>
            </a:r>
            <a:endParaRPr lang="en-US" sz="1300" dirty="0"/>
          </a:p>
        </p:txBody>
      </p:sp>
      <p:sp>
        <p:nvSpPr>
          <p:cNvPr id="146" name="Text 144"/>
          <p:cNvSpPr txBox="1"/>
          <p:nvPr/>
        </p:nvSpPr>
        <p:spPr>
          <a:xfrm>
            <a:off x="10579608" y="405670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$244.87</a:t>
            </a:r>
            <a:endParaRPr lang="en-US" sz="1300" dirty="0"/>
          </a:p>
        </p:txBody>
      </p:sp>
      <p:sp>
        <p:nvSpPr>
          <p:cNvPr id="147" name="Text 145"/>
          <p:cNvSpPr txBox="1"/>
          <p:nvPr/>
        </p:nvSpPr>
        <p:spPr>
          <a:xfrm>
            <a:off x="6208776" y="4292301"/>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148" name="Shape 146"/>
          <p:cNvSpPr/>
          <p:nvPr/>
        </p:nvSpPr>
        <p:spPr>
          <a:xfrm>
            <a:off x="8220456" y="4351199"/>
            <a:ext cx="364670" cy="117796"/>
          </a:xfrm>
          <a:prstGeom prst="rect">
            <a:avLst/>
          </a:prstGeom>
          <a:solidFill>
            <a:srgbClr val="C2352F"/>
          </a:solidFill>
          <a:ln/>
        </p:spPr>
      </p:sp>
      <p:sp>
        <p:nvSpPr>
          <p:cNvPr id="149" name="Text 147"/>
          <p:cNvSpPr txBox="1"/>
          <p:nvPr/>
        </p:nvSpPr>
        <p:spPr>
          <a:xfrm>
            <a:off x="9116568" y="4292301"/>
            <a:ext cx="67665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67.5%</a:t>
            </a:r>
            <a:endParaRPr lang="en-US" sz="1300" dirty="0"/>
          </a:p>
        </p:txBody>
      </p:sp>
      <p:sp>
        <p:nvSpPr>
          <p:cNvPr id="150" name="Text 148"/>
          <p:cNvSpPr txBox="1"/>
          <p:nvPr/>
        </p:nvSpPr>
        <p:spPr>
          <a:xfrm>
            <a:off x="9793224" y="429230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$124.92</a:t>
            </a:r>
            <a:endParaRPr lang="en-US" sz="1300" dirty="0"/>
          </a:p>
        </p:txBody>
      </p:sp>
      <p:sp>
        <p:nvSpPr>
          <p:cNvPr id="151" name="Text 149"/>
          <p:cNvSpPr txBox="1"/>
          <p:nvPr/>
        </p:nvSpPr>
        <p:spPr>
          <a:xfrm>
            <a:off x="10579608" y="429230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$185.00</a:t>
            </a:r>
            <a:endParaRPr lang="en-US" sz="1300" dirty="0"/>
          </a:p>
        </p:txBody>
      </p:sp>
      <p:sp>
        <p:nvSpPr>
          <p:cNvPr id="152" name="Text 150"/>
          <p:cNvSpPr txBox="1"/>
          <p:nvPr/>
        </p:nvSpPr>
        <p:spPr>
          <a:xfrm>
            <a:off x="6208776" y="4527894"/>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153" name="Shape 151"/>
          <p:cNvSpPr/>
          <p:nvPr/>
        </p:nvSpPr>
        <p:spPr>
          <a:xfrm>
            <a:off x="8220456" y="4586792"/>
            <a:ext cx="354832" cy="117796"/>
          </a:xfrm>
          <a:prstGeom prst="rect">
            <a:avLst/>
          </a:prstGeom>
          <a:solidFill>
            <a:srgbClr val="C2352F"/>
          </a:solidFill>
          <a:ln/>
        </p:spPr>
      </p:sp>
      <p:sp>
        <p:nvSpPr>
          <p:cNvPr id="154" name="Text 152"/>
          <p:cNvSpPr txBox="1"/>
          <p:nvPr/>
        </p:nvSpPr>
        <p:spPr>
          <a:xfrm>
            <a:off x="9116568" y="4527894"/>
            <a:ext cx="67665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66.7%</a:t>
            </a:r>
            <a:endParaRPr lang="en-US" sz="1300" dirty="0"/>
          </a:p>
        </p:txBody>
      </p:sp>
      <p:sp>
        <p:nvSpPr>
          <p:cNvPr id="155" name="Text 153"/>
          <p:cNvSpPr txBox="1"/>
          <p:nvPr/>
        </p:nvSpPr>
        <p:spPr>
          <a:xfrm>
            <a:off x="9793224" y="452789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$146.92</a:t>
            </a:r>
            <a:endParaRPr lang="en-US" sz="1300" dirty="0"/>
          </a:p>
        </p:txBody>
      </p:sp>
      <p:sp>
        <p:nvSpPr>
          <p:cNvPr id="156" name="Text 154"/>
          <p:cNvSpPr txBox="1"/>
          <p:nvPr/>
        </p:nvSpPr>
        <p:spPr>
          <a:xfrm>
            <a:off x="10579608" y="452789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$220.00</a:t>
            </a:r>
            <a:endParaRPr lang="en-US" sz="1300" dirty="0"/>
          </a:p>
        </p:txBody>
      </p:sp>
      <p:sp>
        <p:nvSpPr>
          <p:cNvPr id="157" name="Text 155"/>
          <p:cNvSpPr txBox="1"/>
          <p:nvPr/>
        </p:nvSpPr>
        <p:spPr>
          <a:xfrm>
            <a:off x="6208776" y="4763486"/>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158" name="Shape 156"/>
          <p:cNvSpPr/>
          <p:nvPr/>
        </p:nvSpPr>
        <p:spPr>
          <a:xfrm>
            <a:off x="8220456" y="4822384"/>
            <a:ext cx="352064" cy="117796"/>
          </a:xfrm>
          <a:prstGeom prst="rect">
            <a:avLst/>
          </a:prstGeom>
          <a:solidFill>
            <a:srgbClr val="C2352F"/>
          </a:solidFill>
          <a:ln/>
        </p:spPr>
      </p:sp>
      <p:sp>
        <p:nvSpPr>
          <p:cNvPr id="159" name="Text 157"/>
          <p:cNvSpPr txBox="1"/>
          <p:nvPr/>
        </p:nvSpPr>
        <p:spPr>
          <a:xfrm>
            <a:off x="9116568" y="4763486"/>
            <a:ext cx="67665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66.5%</a:t>
            </a:r>
            <a:endParaRPr lang="en-US" sz="1300" dirty="0"/>
          </a:p>
        </p:txBody>
      </p:sp>
      <p:sp>
        <p:nvSpPr>
          <p:cNvPr id="160" name="Text 158"/>
          <p:cNvSpPr txBox="1"/>
          <p:nvPr/>
        </p:nvSpPr>
        <p:spPr>
          <a:xfrm>
            <a:off x="9793224" y="476348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$139.81</a:t>
            </a:r>
            <a:endParaRPr lang="en-US" sz="1300" dirty="0"/>
          </a:p>
        </p:txBody>
      </p:sp>
      <p:sp>
        <p:nvSpPr>
          <p:cNvPr id="161" name="Text 159"/>
          <p:cNvSpPr txBox="1"/>
          <p:nvPr/>
        </p:nvSpPr>
        <p:spPr>
          <a:xfrm>
            <a:off x="10579608" y="476348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$210.00</a:t>
            </a:r>
            <a:endParaRPr lang="en-US" sz="1300" dirty="0"/>
          </a:p>
        </p:txBody>
      </p:sp>
      <p:sp>
        <p:nvSpPr>
          <p:cNvPr id="162" name="Text 160"/>
          <p:cNvSpPr txBox="1"/>
          <p:nvPr/>
        </p:nvSpPr>
        <p:spPr>
          <a:xfrm>
            <a:off x="6208776" y="4999079"/>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163" name="Shape 161"/>
          <p:cNvSpPr/>
          <p:nvPr/>
        </p:nvSpPr>
        <p:spPr>
          <a:xfrm>
            <a:off x="8220456" y="5057977"/>
            <a:ext cx="331678" cy="117796"/>
          </a:xfrm>
          <a:prstGeom prst="rect">
            <a:avLst/>
          </a:prstGeom>
          <a:solidFill>
            <a:srgbClr val="C2352F"/>
          </a:solidFill>
          <a:ln/>
        </p:spPr>
      </p:sp>
      <p:sp>
        <p:nvSpPr>
          <p:cNvPr id="164" name="Text 162"/>
          <p:cNvSpPr txBox="1"/>
          <p:nvPr/>
        </p:nvSpPr>
        <p:spPr>
          <a:xfrm>
            <a:off x="9116568" y="4999079"/>
            <a:ext cx="67665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65.0%</a:t>
            </a:r>
            <a:endParaRPr lang="en-US" sz="1300" dirty="0"/>
          </a:p>
        </p:txBody>
      </p:sp>
      <p:sp>
        <p:nvSpPr>
          <p:cNvPr id="165" name="Text 163"/>
          <p:cNvSpPr txBox="1"/>
          <p:nvPr/>
        </p:nvSpPr>
        <p:spPr>
          <a:xfrm>
            <a:off x="9793224" y="499907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$146.25</a:t>
            </a:r>
            <a:endParaRPr lang="en-US" sz="1300" dirty="0"/>
          </a:p>
        </p:txBody>
      </p:sp>
      <p:sp>
        <p:nvSpPr>
          <p:cNvPr id="166" name="Text 164"/>
          <p:cNvSpPr txBox="1"/>
          <p:nvPr/>
        </p:nvSpPr>
        <p:spPr>
          <a:xfrm>
            <a:off x="10579608" y="499907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$224.87</a:t>
            </a:r>
            <a:endParaRPr lang="en-US" sz="1300" dirty="0"/>
          </a:p>
        </p:txBody>
      </p:sp>
      <p:sp>
        <p:nvSpPr>
          <p:cNvPr id="167" name="Text 165"/>
          <p:cNvSpPr txBox="1"/>
          <p:nvPr/>
        </p:nvSpPr>
        <p:spPr>
          <a:xfrm>
            <a:off x="6208776" y="5234671"/>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68" name="Shape 166"/>
          <p:cNvSpPr/>
          <p:nvPr/>
        </p:nvSpPr>
        <p:spPr>
          <a:xfrm>
            <a:off x="8220456" y="5293569"/>
            <a:ext cx="328825" cy="117796"/>
          </a:xfrm>
          <a:prstGeom prst="rect">
            <a:avLst/>
          </a:prstGeom>
          <a:solidFill>
            <a:srgbClr val="C2352F"/>
          </a:solidFill>
          <a:ln/>
        </p:spPr>
      </p:sp>
      <p:sp>
        <p:nvSpPr>
          <p:cNvPr id="169" name="Text 167"/>
          <p:cNvSpPr txBox="1"/>
          <p:nvPr/>
        </p:nvSpPr>
        <p:spPr>
          <a:xfrm>
            <a:off x="9116568" y="5234671"/>
            <a:ext cx="67665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64.8%</a:t>
            </a:r>
            <a:endParaRPr lang="en-US" sz="1300" dirty="0"/>
          </a:p>
        </p:txBody>
      </p:sp>
      <p:sp>
        <p:nvSpPr>
          <p:cNvPr id="170" name="Text 168"/>
          <p:cNvSpPr txBox="1"/>
          <p:nvPr/>
        </p:nvSpPr>
        <p:spPr>
          <a:xfrm>
            <a:off x="9793224" y="523467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$136.12</a:t>
            </a:r>
            <a:endParaRPr lang="en-US" sz="1300" dirty="0"/>
          </a:p>
        </p:txBody>
      </p:sp>
      <p:sp>
        <p:nvSpPr>
          <p:cNvPr id="171" name="Text 169"/>
          <p:cNvSpPr txBox="1"/>
          <p:nvPr/>
        </p:nvSpPr>
        <p:spPr>
          <a:xfrm>
            <a:off x="10579608" y="523467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$210.00</a:t>
            </a:r>
            <a:endParaRPr lang="en-US" sz="1300" dirty="0"/>
          </a:p>
        </p:txBody>
      </p:sp>
      <p:sp>
        <p:nvSpPr>
          <p:cNvPr id="172" name="Text 170"/>
          <p:cNvSpPr txBox="1"/>
          <p:nvPr/>
        </p:nvSpPr>
        <p:spPr>
          <a:xfrm>
            <a:off x="6208776" y="5470264"/>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173" name="Shape 171"/>
          <p:cNvSpPr/>
          <p:nvPr/>
        </p:nvSpPr>
        <p:spPr>
          <a:xfrm>
            <a:off x="8220456" y="5529162"/>
            <a:ext cx="285765" cy="117796"/>
          </a:xfrm>
          <a:prstGeom prst="rect">
            <a:avLst/>
          </a:prstGeom>
          <a:solidFill>
            <a:srgbClr val="C2352F"/>
          </a:solidFill>
          <a:ln/>
        </p:spPr>
      </p:sp>
      <p:sp>
        <p:nvSpPr>
          <p:cNvPr id="174" name="Text 172"/>
          <p:cNvSpPr txBox="1"/>
          <p:nvPr/>
        </p:nvSpPr>
        <p:spPr>
          <a:xfrm>
            <a:off x="9116568" y="5470264"/>
            <a:ext cx="67665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61.5%</a:t>
            </a:r>
            <a:endParaRPr lang="en-US" sz="1300" dirty="0"/>
          </a:p>
        </p:txBody>
      </p:sp>
      <p:sp>
        <p:nvSpPr>
          <p:cNvPr id="175" name="Text 173"/>
          <p:cNvSpPr txBox="1"/>
          <p:nvPr/>
        </p:nvSpPr>
        <p:spPr>
          <a:xfrm>
            <a:off x="9793224" y="547026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$175.47</a:t>
            </a:r>
            <a:endParaRPr lang="en-US" sz="1300" dirty="0"/>
          </a:p>
        </p:txBody>
      </p:sp>
      <p:sp>
        <p:nvSpPr>
          <p:cNvPr id="176" name="Text 174"/>
          <p:cNvSpPr txBox="1"/>
          <p:nvPr/>
        </p:nvSpPr>
        <p:spPr>
          <a:xfrm>
            <a:off x="10579608" y="547026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$285.00</a:t>
            </a:r>
            <a:endParaRPr lang="en-US" sz="1300" dirty="0"/>
          </a:p>
        </p:txBody>
      </p:sp>
      <p:sp>
        <p:nvSpPr>
          <p:cNvPr id="177" name="Text 175"/>
          <p:cNvSpPr txBox="1"/>
          <p:nvPr/>
        </p:nvSpPr>
        <p:spPr>
          <a:xfrm>
            <a:off x="3566160" y="1316736"/>
            <a:ext cx="676656" cy="292608"/>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a:t>
            </a:r>
            <a:endParaRPr lang="en-US" sz="1400" dirty="0"/>
          </a:p>
        </p:txBody>
      </p:sp>
      <p:sp>
        <p:nvSpPr>
          <p:cNvPr id="178" name="Text 176"/>
          <p:cNvSpPr txBox="1"/>
          <p:nvPr/>
        </p:nvSpPr>
        <p:spPr>
          <a:xfrm>
            <a:off x="4242816" y="1316736"/>
            <a:ext cx="786384" cy="292608"/>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ELR</a:t>
            </a:r>
            <a:endParaRPr lang="en-US" sz="1400" dirty="0"/>
          </a:p>
        </p:txBody>
      </p:sp>
      <p:sp>
        <p:nvSpPr>
          <p:cNvPr id="179" name="Text 177"/>
          <p:cNvSpPr txBox="1"/>
          <p:nvPr/>
        </p:nvSpPr>
        <p:spPr>
          <a:xfrm>
            <a:off x="5029200" y="1316736"/>
            <a:ext cx="786384" cy="292608"/>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DOOR</a:t>
            </a:r>
            <a:endParaRPr lang="en-US" sz="1400" dirty="0"/>
          </a:p>
        </p:txBody>
      </p:sp>
      <p:sp>
        <p:nvSpPr>
          <p:cNvPr id="180" name="Text 178"/>
          <p:cNvSpPr txBox="1"/>
          <p:nvPr/>
        </p:nvSpPr>
        <p:spPr>
          <a:xfrm>
            <a:off x="9116568" y="1316736"/>
            <a:ext cx="676656" cy="292608"/>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a:t>
            </a:r>
            <a:endParaRPr lang="en-US" sz="1400" dirty="0"/>
          </a:p>
        </p:txBody>
      </p:sp>
      <p:sp>
        <p:nvSpPr>
          <p:cNvPr id="181" name="Text 179"/>
          <p:cNvSpPr txBox="1"/>
          <p:nvPr/>
        </p:nvSpPr>
        <p:spPr>
          <a:xfrm>
            <a:off x="9793224" y="1316736"/>
            <a:ext cx="786384" cy="292608"/>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ELR</a:t>
            </a:r>
            <a:endParaRPr lang="en-US" sz="1400" dirty="0"/>
          </a:p>
        </p:txBody>
      </p:sp>
      <p:sp>
        <p:nvSpPr>
          <p:cNvPr id="182" name="Text 180"/>
          <p:cNvSpPr txBox="1"/>
          <p:nvPr/>
        </p:nvSpPr>
        <p:spPr>
          <a:xfrm>
            <a:off x="10579608" y="1316736"/>
            <a:ext cx="786384" cy="292608"/>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DOOR</a:t>
            </a:r>
            <a:endParaRPr lang="en-US" sz="1400" dirty="0"/>
          </a:p>
        </p:txBody>
      </p:sp>
      <p:sp>
        <p:nvSpPr>
          <p:cNvPr id="183" name="Shape 181"/>
          <p:cNvSpPr/>
          <p:nvPr/>
        </p:nvSpPr>
        <p:spPr>
          <a:xfrm>
            <a:off x="3060181" y="1700784"/>
            <a:ext cx="14630" cy="4005072"/>
          </a:xfrm>
          <a:prstGeom prst="rect">
            <a:avLst/>
          </a:prstGeom>
          <a:solidFill>
            <a:srgbClr val="0B2C4A"/>
          </a:solidFill>
          <a:ln/>
        </p:spPr>
      </p:sp>
      <p:sp>
        <p:nvSpPr>
          <p:cNvPr id="184" name="Text 182"/>
          <p:cNvSpPr txBox="1"/>
          <p:nvPr/>
        </p:nvSpPr>
        <p:spPr>
          <a:xfrm>
            <a:off x="2518857" y="1316736"/>
            <a:ext cx="1097280" cy="292608"/>
          </a:xfrm>
          <a:prstGeom prst="rect">
            <a:avLst/>
          </a:prstGeom>
          <a:noFill/>
          <a:ln/>
        </p:spPr>
        <p:txBody>
          <a:bodyPr wrap="none" lIns="0" tIns="0" rIns="0" bIns="0" rtlCol="0" anchor="ctr"/>
          <a:lstStyle/>
          <a:p>
            <a:pPr algn="ctr" indent="0" marL="0">
              <a:buNone/>
            </a:pPr>
            <a:r>
              <a:rPr lang="en-US" sz="1400" b="1" dirty="0">
                <a:solidFill>
                  <a:srgbClr val="0B2C4A"/>
                </a:solidFill>
                <a:latin typeface="Inter" pitchFamily="34" charset="0"/>
                <a:ea typeface="Inter" pitchFamily="34" charset="-122"/>
                <a:cs typeface="Inter" pitchFamily="34" charset="-120"/>
              </a:rPr>
              <a:t>70.0% LINE</a:t>
            </a:r>
            <a:endParaRPr lang="en-US" sz="1400" dirty="0"/>
          </a:p>
        </p:txBody>
      </p:sp>
      <p:sp>
        <p:nvSpPr>
          <p:cNvPr id="185" name="Shape 183"/>
          <p:cNvSpPr/>
          <p:nvPr/>
        </p:nvSpPr>
        <p:spPr>
          <a:xfrm>
            <a:off x="8610589" y="1700784"/>
            <a:ext cx="14630" cy="4005072"/>
          </a:xfrm>
          <a:prstGeom prst="rect">
            <a:avLst/>
          </a:prstGeom>
          <a:solidFill>
            <a:srgbClr val="0B2C4A"/>
          </a:solidFill>
          <a:ln/>
        </p:spPr>
      </p:sp>
      <p:sp>
        <p:nvSpPr>
          <p:cNvPr id="186" name="Text 184"/>
          <p:cNvSpPr txBox="1"/>
          <p:nvPr/>
        </p:nvSpPr>
        <p:spPr>
          <a:xfrm>
            <a:off x="8069265" y="1316736"/>
            <a:ext cx="1097280" cy="292608"/>
          </a:xfrm>
          <a:prstGeom prst="rect">
            <a:avLst/>
          </a:prstGeom>
          <a:noFill/>
          <a:ln/>
        </p:spPr>
        <p:txBody>
          <a:bodyPr wrap="none" lIns="0" tIns="0" rIns="0" bIns="0" rtlCol="0" anchor="ctr"/>
          <a:lstStyle/>
          <a:p>
            <a:pPr algn="ctr" indent="0" marL="0">
              <a:buNone/>
            </a:pPr>
            <a:r>
              <a:rPr lang="en-US" sz="1400" b="1" dirty="0">
                <a:solidFill>
                  <a:srgbClr val="0B2C4A"/>
                </a:solidFill>
                <a:latin typeface="Inter" pitchFamily="34" charset="0"/>
                <a:ea typeface="Inter" pitchFamily="34" charset="-122"/>
                <a:cs typeface="Inter" pitchFamily="34" charset="-120"/>
              </a:rPr>
              <a:t>70.0% LINE</a:t>
            </a:r>
            <a:endParaRPr lang="en-US" sz="1400" dirty="0"/>
          </a:p>
        </p:txBody>
      </p:sp>
      <p:sp>
        <p:nvSpPr>
          <p:cNvPr id="187" name="Shape 185"/>
          <p:cNvSpPr/>
          <p:nvPr/>
        </p:nvSpPr>
        <p:spPr>
          <a:xfrm>
            <a:off x="457200" y="5961888"/>
            <a:ext cx="11274552" cy="548640"/>
          </a:xfrm>
          <a:prstGeom prst="rect">
            <a:avLst/>
          </a:prstGeom>
          <a:solidFill>
            <a:srgbClr val="EDF4FA"/>
          </a:solidFill>
          <a:ln/>
        </p:spPr>
      </p:sp>
      <p:sp>
        <p:nvSpPr>
          <p:cNvPr id="188" name="Text 186"/>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Jul–Sep: 25 of 33 stores realize at least 70% of door rate; the group is at 74.7%. CADILLAC is lowest at 61.5%.</a:t>
            </a:r>
            <a:endParaRPr lang="en-US" sz="1600" dirty="0"/>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ELR % of Door Rate</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700784"/>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7" name="Shape 5"/>
          <p:cNvSpPr/>
          <p:nvPr/>
        </p:nvSpPr>
        <p:spPr>
          <a:xfrm>
            <a:off x="2670048" y="1759682"/>
            <a:ext cx="786384" cy="117796"/>
          </a:xfrm>
          <a:prstGeom prst="rect">
            <a:avLst/>
          </a:prstGeom>
          <a:solidFill>
            <a:srgbClr val="12A566"/>
          </a:solidFill>
          <a:ln/>
        </p:spPr>
      </p:sp>
      <p:sp>
        <p:nvSpPr>
          <p:cNvPr id="8" name="Text 6"/>
          <p:cNvSpPr txBox="1"/>
          <p:nvPr/>
        </p:nvSpPr>
        <p:spPr>
          <a:xfrm>
            <a:off x="3511296" y="1700784"/>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103.4%</a:t>
            </a:r>
            <a:endParaRPr lang="en-US" sz="1300" dirty="0"/>
          </a:p>
        </p:txBody>
      </p:sp>
      <p:sp>
        <p:nvSpPr>
          <p:cNvPr id="9" name="Text 7"/>
          <p:cNvSpPr txBox="1"/>
          <p:nvPr/>
        </p:nvSpPr>
        <p:spPr>
          <a:xfrm>
            <a:off x="4187952" y="170078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$244.12</a:t>
            </a:r>
            <a:endParaRPr lang="en-US" sz="1300" dirty="0"/>
          </a:p>
        </p:txBody>
      </p:sp>
      <p:sp>
        <p:nvSpPr>
          <p:cNvPr id="10" name="Text 8"/>
          <p:cNvSpPr txBox="1"/>
          <p:nvPr/>
        </p:nvSpPr>
        <p:spPr>
          <a:xfrm>
            <a:off x="4974336" y="1700784"/>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$165.11</a:t>
            </a:r>
            <a:endParaRPr lang="en-US" sz="1300" dirty="0"/>
          </a:p>
        </p:txBody>
      </p:sp>
      <p:sp>
        <p:nvSpPr>
          <p:cNvPr id="11" name="Text 9"/>
          <p:cNvSpPr txBox="1"/>
          <p:nvPr/>
        </p:nvSpPr>
        <p:spPr>
          <a:xfrm>
            <a:off x="658368" y="1936376"/>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12" name="Shape 10"/>
          <p:cNvSpPr/>
          <p:nvPr/>
        </p:nvSpPr>
        <p:spPr>
          <a:xfrm>
            <a:off x="2670048" y="1995275"/>
            <a:ext cx="621911" cy="117796"/>
          </a:xfrm>
          <a:prstGeom prst="rect">
            <a:avLst/>
          </a:prstGeom>
          <a:solidFill>
            <a:srgbClr val="12A566"/>
          </a:solidFill>
          <a:ln/>
        </p:spPr>
      </p:sp>
      <p:sp>
        <p:nvSpPr>
          <p:cNvPr id="13" name="Text 11"/>
          <p:cNvSpPr txBox="1"/>
          <p:nvPr/>
        </p:nvSpPr>
        <p:spPr>
          <a:xfrm>
            <a:off x="3511296" y="1936376"/>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90.2%</a:t>
            </a:r>
            <a:endParaRPr lang="en-US" sz="1300" dirty="0"/>
          </a:p>
        </p:txBody>
      </p:sp>
      <p:sp>
        <p:nvSpPr>
          <p:cNvPr id="14" name="Text 12"/>
          <p:cNvSpPr txBox="1"/>
          <p:nvPr/>
        </p:nvSpPr>
        <p:spPr>
          <a:xfrm>
            <a:off x="4187952" y="193637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$225.50</a:t>
            </a:r>
            <a:endParaRPr lang="en-US" sz="1300" dirty="0"/>
          </a:p>
        </p:txBody>
      </p:sp>
      <p:sp>
        <p:nvSpPr>
          <p:cNvPr id="15" name="Text 13"/>
          <p:cNvSpPr txBox="1"/>
          <p:nvPr/>
        </p:nvSpPr>
        <p:spPr>
          <a:xfrm>
            <a:off x="4974336" y="1936376"/>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$174.96</a:t>
            </a:r>
            <a:endParaRPr lang="en-US" sz="1300" dirty="0"/>
          </a:p>
        </p:txBody>
      </p:sp>
      <p:sp>
        <p:nvSpPr>
          <p:cNvPr id="16" name="Text 14"/>
          <p:cNvSpPr txBox="1"/>
          <p:nvPr/>
        </p:nvSpPr>
        <p:spPr>
          <a:xfrm>
            <a:off x="658368" y="2171969"/>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17" name="Shape 15"/>
          <p:cNvSpPr/>
          <p:nvPr/>
        </p:nvSpPr>
        <p:spPr>
          <a:xfrm>
            <a:off x="2670048" y="2230867"/>
            <a:ext cx="618619" cy="117796"/>
          </a:xfrm>
          <a:prstGeom prst="rect">
            <a:avLst/>
          </a:prstGeom>
          <a:solidFill>
            <a:srgbClr val="12A566"/>
          </a:solidFill>
          <a:ln/>
        </p:spPr>
      </p:sp>
      <p:sp>
        <p:nvSpPr>
          <p:cNvPr id="18" name="Text 16"/>
          <p:cNvSpPr txBox="1"/>
          <p:nvPr/>
        </p:nvSpPr>
        <p:spPr>
          <a:xfrm>
            <a:off x="3511296" y="2171969"/>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89.9%</a:t>
            </a:r>
            <a:endParaRPr lang="en-US" sz="1300" dirty="0"/>
          </a:p>
        </p:txBody>
      </p:sp>
      <p:sp>
        <p:nvSpPr>
          <p:cNvPr id="19" name="Text 17"/>
          <p:cNvSpPr txBox="1"/>
          <p:nvPr/>
        </p:nvSpPr>
        <p:spPr>
          <a:xfrm>
            <a:off x="4187952" y="217196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$161.80</a:t>
            </a:r>
            <a:endParaRPr lang="en-US" sz="1300" dirty="0"/>
          </a:p>
        </p:txBody>
      </p:sp>
      <p:sp>
        <p:nvSpPr>
          <p:cNvPr id="20" name="Text 18"/>
          <p:cNvSpPr txBox="1"/>
          <p:nvPr/>
        </p:nvSpPr>
        <p:spPr>
          <a:xfrm>
            <a:off x="4974336" y="2171969"/>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$125.91</a:t>
            </a:r>
            <a:endParaRPr lang="en-US" sz="1300" dirty="0"/>
          </a:p>
        </p:txBody>
      </p:sp>
      <p:sp>
        <p:nvSpPr>
          <p:cNvPr id="21" name="Text 19"/>
          <p:cNvSpPr txBox="1"/>
          <p:nvPr/>
        </p:nvSpPr>
        <p:spPr>
          <a:xfrm>
            <a:off x="658368" y="2407561"/>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22" name="Shape 20"/>
          <p:cNvSpPr/>
          <p:nvPr/>
        </p:nvSpPr>
        <p:spPr>
          <a:xfrm>
            <a:off x="2670048" y="2466460"/>
            <a:ext cx="616373" cy="117796"/>
          </a:xfrm>
          <a:prstGeom prst="rect">
            <a:avLst/>
          </a:prstGeom>
          <a:solidFill>
            <a:srgbClr val="12A566"/>
          </a:solidFill>
          <a:ln/>
        </p:spPr>
      </p:sp>
      <p:sp>
        <p:nvSpPr>
          <p:cNvPr id="23" name="Text 21"/>
          <p:cNvSpPr txBox="1"/>
          <p:nvPr/>
        </p:nvSpPr>
        <p:spPr>
          <a:xfrm>
            <a:off x="3511296" y="2407561"/>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89.7%</a:t>
            </a:r>
            <a:endParaRPr lang="en-US" sz="1300" dirty="0"/>
          </a:p>
        </p:txBody>
      </p:sp>
      <p:sp>
        <p:nvSpPr>
          <p:cNvPr id="24" name="Text 22"/>
          <p:cNvSpPr txBox="1"/>
          <p:nvPr/>
        </p:nvSpPr>
        <p:spPr>
          <a:xfrm>
            <a:off x="4187952" y="240756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$165.96</a:t>
            </a:r>
            <a:endParaRPr lang="en-US" sz="1300" dirty="0"/>
          </a:p>
        </p:txBody>
      </p:sp>
      <p:sp>
        <p:nvSpPr>
          <p:cNvPr id="25" name="Text 23"/>
          <p:cNvSpPr txBox="1"/>
          <p:nvPr/>
        </p:nvSpPr>
        <p:spPr>
          <a:xfrm>
            <a:off x="4974336" y="2407561"/>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$129.41</a:t>
            </a:r>
            <a:endParaRPr lang="en-US" sz="1300" dirty="0"/>
          </a:p>
        </p:txBody>
      </p:sp>
      <p:sp>
        <p:nvSpPr>
          <p:cNvPr id="26" name="Text 24"/>
          <p:cNvSpPr txBox="1"/>
          <p:nvPr/>
        </p:nvSpPr>
        <p:spPr>
          <a:xfrm>
            <a:off x="658368" y="2643154"/>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27" name="Shape 25"/>
          <p:cNvSpPr/>
          <p:nvPr/>
        </p:nvSpPr>
        <p:spPr>
          <a:xfrm>
            <a:off x="2670048" y="2702052"/>
            <a:ext cx="600794" cy="117796"/>
          </a:xfrm>
          <a:prstGeom prst="rect">
            <a:avLst/>
          </a:prstGeom>
          <a:solidFill>
            <a:srgbClr val="12A566"/>
          </a:solidFill>
          <a:ln/>
        </p:spPr>
      </p:sp>
      <p:sp>
        <p:nvSpPr>
          <p:cNvPr id="28" name="Text 26"/>
          <p:cNvSpPr txBox="1"/>
          <p:nvPr/>
        </p:nvSpPr>
        <p:spPr>
          <a:xfrm>
            <a:off x="3511296" y="2643154"/>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88.5%</a:t>
            </a:r>
            <a:endParaRPr lang="en-US" sz="1300" dirty="0"/>
          </a:p>
        </p:txBody>
      </p:sp>
      <p:sp>
        <p:nvSpPr>
          <p:cNvPr id="29" name="Text 27"/>
          <p:cNvSpPr txBox="1"/>
          <p:nvPr/>
        </p:nvSpPr>
        <p:spPr>
          <a:xfrm>
            <a:off x="4187952" y="264315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$199.04</a:t>
            </a:r>
            <a:endParaRPr lang="en-US" sz="1300" dirty="0"/>
          </a:p>
        </p:txBody>
      </p:sp>
      <p:sp>
        <p:nvSpPr>
          <p:cNvPr id="30" name="Text 28"/>
          <p:cNvSpPr txBox="1"/>
          <p:nvPr/>
        </p:nvSpPr>
        <p:spPr>
          <a:xfrm>
            <a:off x="4974336" y="2643154"/>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$157.41</a:t>
            </a:r>
            <a:endParaRPr lang="en-US" sz="1300" dirty="0"/>
          </a:p>
        </p:txBody>
      </p:sp>
      <p:sp>
        <p:nvSpPr>
          <p:cNvPr id="31" name="Text 29"/>
          <p:cNvSpPr txBox="1"/>
          <p:nvPr/>
        </p:nvSpPr>
        <p:spPr>
          <a:xfrm>
            <a:off x="658368" y="2878746"/>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32" name="Shape 30"/>
          <p:cNvSpPr/>
          <p:nvPr/>
        </p:nvSpPr>
        <p:spPr>
          <a:xfrm>
            <a:off x="2670048" y="2937644"/>
            <a:ext cx="579216" cy="117796"/>
          </a:xfrm>
          <a:prstGeom prst="rect">
            <a:avLst/>
          </a:prstGeom>
          <a:solidFill>
            <a:srgbClr val="12A566"/>
          </a:solidFill>
          <a:ln/>
        </p:spPr>
      </p:sp>
      <p:sp>
        <p:nvSpPr>
          <p:cNvPr id="33" name="Text 31"/>
          <p:cNvSpPr txBox="1"/>
          <p:nvPr/>
        </p:nvSpPr>
        <p:spPr>
          <a:xfrm>
            <a:off x="3511296" y="2878746"/>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86.7%</a:t>
            </a:r>
            <a:endParaRPr lang="en-US" sz="1300" dirty="0"/>
          </a:p>
        </p:txBody>
      </p:sp>
      <p:sp>
        <p:nvSpPr>
          <p:cNvPr id="34" name="Text 32"/>
          <p:cNvSpPr txBox="1"/>
          <p:nvPr/>
        </p:nvSpPr>
        <p:spPr>
          <a:xfrm>
            <a:off x="4187952" y="287874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$238.62</a:t>
            </a:r>
            <a:endParaRPr lang="en-US" sz="1300" dirty="0"/>
          </a:p>
        </p:txBody>
      </p:sp>
      <p:sp>
        <p:nvSpPr>
          <p:cNvPr id="35" name="Text 33"/>
          <p:cNvSpPr txBox="1"/>
          <p:nvPr/>
        </p:nvSpPr>
        <p:spPr>
          <a:xfrm>
            <a:off x="4974336" y="2878746"/>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$192.50</a:t>
            </a:r>
            <a:endParaRPr lang="en-US" sz="1300" dirty="0"/>
          </a:p>
        </p:txBody>
      </p:sp>
      <p:sp>
        <p:nvSpPr>
          <p:cNvPr id="36" name="Text 34"/>
          <p:cNvSpPr txBox="1"/>
          <p:nvPr/>
        </p:nvSpPr>
        <p:spPr>
          <a:xfrm>
            <a:off x="658368" y="3114339"/>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37" name="Shape 35"/>
          <p:cNvSpPr/>
          <p:nvPr/>
        </p:nvSpPr>
        <p:spPr>
          <a:xfrm>
            <a:off x="2670048" y="3173237"/>
            <a:ext cx="573616" cy="117796"/>
          </a:xfrm>
          <a:prstGeom prst="rect">
            <a:avLst/>
          </a:prstGeom>
          <a:solidFill>
            <a:srgbClr val="12A566"/>
          </a:solidFill>
          <a:ln/>
        </p:spPr>
      </p:sp>
      <p:sp>
        <p:nvSpPr>
          <p:cNvPr id="38" name="Text 36"/>
          <p:cNvSpPr txBox="1"/>
          <p:nvPr/>
        </p:nvSpPr>
        <p:spPr>
          <a:xfrm>
            <a:off x="3511296" y="3114339"/>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86.3%</a:t>
            </a:r>
            <a:endParaRPr lang="en-US" sz="1300" dirty="0"/>
          </a:p>
        </p:txBody>
      </p:sp>
      <p:sp>
        <p:nvSpPr>
          <p:cNvPr id="39" name="Text 37"/>
          <p:cNvSpPr txBox="1"/>
          <p:nvPr/>
        </p:nvSpPr>
        <p:spPr>
          <a:xfrm>
            <a:off x="4187952" y="311433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$159.69</a:t>
            </a:r>
            <a:endParaRPr lang="en-US" sz="1300" dirty="0"/>
          </a:p>
        </p:txBody>
      </p:sp>
      <p:sp>
        <p:nvSpPr>
          <p:cNvPr id="40" name="Text 38"/>
          <p:cNvSpPr txBox="1"/>
          <p:nvPr/>
        </p:nvSpPr>
        <p:spPr>
          <a:xfrm>
            <a:off x="4974336" y="3114339"/>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$129.50</a:t>
            </a:r>
            <a:endParaRPr lang="en-US" sz="1300" dirty="0"/>
          </a:p>
        </p:txBody>
      </p:sp>
      <p:sp>
        <p:nvSpPr>
          <p:cNvPr id="41" name="Text 39"/>
          <p:cNvSpPr txBox="1"/>
          <p:nvPr/>
        </p:nvSpPr>
        <p:spPr>
          <a:xfrm>
            <a:off x="658368" y="3349931"/>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42" name="Shape 40"/>
          <p:cNvSpPr/>
          <p:nvPr/>
        </p:nvSpPr>
        <p:spPr>
          <a:xfrm>
            <a:off x="2670048" y="3408829"/>
            <a:ext cx="528073" cy="117796"/>
          </a:xfrm>
          <a:prstGeom prst="rect">
            <a:avLst/>
          </a:prstGeom>
          <a:solidFill>
            <a:srgbClr val="12A566"/>
          </a:solidFill>
          <a:ln/>
        </p:spPr>
      </p:sp>
      <p:sp>
        <p:nvSpPr>
          <p:cNvPr id="43" name="Text 41"/>
          <p:cNvSpPr txBox="1"/>
          <p:nvPr/>
        </p:nvSpPr>
        <p:spPr>
          <a:xfrm>
            <a:off x="3511296" y="3349931"/>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82.6%</a:t>
            </a:r>
            <a:endParaRPr lang="en-US" sz="1300" dirty="0"/>
          </a:p>
        </p:txBody>
      </p:sp>
      <p:sp>
        <p:nvSpPr>
          <p:cNvPr id="44" name="Text 42"/>
          <p:cNvSpPr txBox="1"/>
          <p:nvPr/>
        </p:nvSpPr>
        <p:spPr>
          <a:xfrm>
            <a:off x="4187952" y="334993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$147.93</a:t>
            </a:r>
            <a:endParaRPr lang="en-US" sz="1300" dirty="0"/>
          </a:p>
        </p:txBody>
      </p:sp>
      <p:sp>
        <p:nvSpPr>
          <p:cNvPr id="45" name="Text 43"/>
          <p:cNvSpPr txBox="1"/>
          <p:nvPr/>
        </p:nvSpPr>
        <p:spPr>
          <a:xfrm>
            <a:off x="4974336" y="3349931"/>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$125.30</a:t>
            </a:r>
            <a:endParaRPr lang="en-US" sz="1300" dirty="0"/>
          </a:p>
        </p:txBody>
      </p:sp>
      <p:sp>
        <p:nvSpPr>
          <p:cNvPr id="46" name="Text 44"/>
          <p:cNvSpPr txBox="1"/>
          <p:nvPr/>
        </p:nvSpPr>
        <p:spPr>
          <a:xfrm>
            <a:off x="658368" y="3585524"/>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47" name="Shape 45"/>
          <p:cNvSpPr/>
          <p:nvPr/>
        </p:nvSpPr>
        <p:spPr>
          <a:xfrm>
            <a:off x="2670048" y="3644422"/>
            <a:ext cx="513999" cy="117796"/>
          </a:xfrm>
          <a:prstGeom prst="rect">
            <a:avLst/>
          </a:prstGeom>
          <a:solidFill>
            <a:srgbClr val="12A566"/>
          </a:solidFill>
          <a:ln/>
        </p:spPr>
      </p:sp>
      <p:sp>
        <p:nvSpPr>
          <p:cNvPr id="48" name="Text 46"/>
          <p:cNvSpPr txBox="1"/>
          <p:nvPr/>
        </p:nvSpPr>
        <p:spPr>
          <a:xfrm>
            <a:off x="3511296" y="3585524"/>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81.5%</a:t>
            </a:r>
            <a:endParaRPr lang="en-US" sz="1300" dirty="0"/>
          </a:p>
        </p:txBody>
      </p:sp>
      <p:sp>
        <p:nvSpPr>
          <p:cNvPr id="49" name="Text 47"/>
          <p:cNvSpPr txBox="1"/>
          <p:nvPr/>
        </p:nvSpPr>
        <p:spPr>
          <a:xfrm>
            <a:off x="4187952" y="358552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$187.42</a:t>
            </a:r>
            <a:endParaRPr lang="en-US" sz="1300" dirty="0"/>
          </a:p>
        </p:txBody>
      </p:sp>
      <p:sp>
        <p:nvSpPr>
          <p:cNvPr id="50" name="Text 48"/>
          <p:cNvSpPr txBox="1"/>
          <p:nvPr/>
        </p:nvSpPr>
        <p:spPr>
          <a:xfrm>
            <a:off x="4974336" y="3585524"/>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$160.96</a:t>
            </a:r>
            <a:endParaRPr lang="en-US" sz="1300" dirty="0"/>
          </a:p>
        </p:txBody>
      </p:sp>
      <p:sp>
        <p:nvSpPr>
          <p:cNvPr id="51" name="Text 49"/>
          <p:cNvSpPr txBox="1"/>
          <p:nvPr/>
        </p:nvSpPr>
        <p:spPr>
          <a:xfrm>
            <a:off x="658368" y="3821116"/>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52" name="Shape 50"/>
          <p:cNvSpPr/>
          <p:nvPr/>
        </p:nvSpPr>
        <p:spPr>
          <a:xfrm>
            <a:off x="2670048" y="3880014"/>
            <a:ext cx="507564" cy="117796"/>
          </a:xfrm>
          <a:prstGeom prst="rect">
            <a:avLst/>
          </a:prstGeom>
          <a:solidFill>
            <a:srgbClr val="12A566"/>
          </a:solidFill>
          <a:ln/>
        </p:spPr>
      </p:sp>
      <p:sp>
        <p:nvSpPr>
          <p:cNvPr id="53" name="Text 51"/>
          <p:cNvSpPr txBox="1"/>
          <p:nvPr/>
        </p:nvSpPr>
        <p:spPr>
          <a:xfrm>
            <a:off x="3511296" y="3821116"/>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80.9%</a:t>
            </a:r>
            <a:endParaRPr lang="en-US" sz="1300" dirty="0"/>
          </a:p>
        </p:txBody>
      </p:sp>
      <p:sp>
        <p:nvSpPr>
          <p:cNvPr id="54" name="Text 52"/>
          <p:cNvSpPr txBox="1"/>
          <p:nvPr/>
        </p:nvSpPr>
        <p:spPr>
          <a:xfrm>
            <a:off x="4187952" y="382111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$161.93</a:t>
            </a:r>
            <a:endParaRPr lang="en-US" sz="1300" dirty="0"/>
          </a:p>
        </p:txBody>
      </p:sp>
      <p:sp>
        <p:nvSpPr>
          <p:cNvPr id="55" name="Text 53"/>
          <p:cNvSpPr txBox="1"/>
          <p:nvPr/>
        </p:nvSpPr>
        <p:spPr>
          <a:xfrm>
            <a:off x="4974336" y="3821116"/>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$139.96</a:t>
            </a:r>
            <a:endParaRPr lang="en-US" sz="1300" dirty="0"/>
          </a:p>
        </p:txBody>
      </p:sp>
      <p:sp>
        <p:nvSpPr>
          <p:cNvPr id="56" name="Text 54"/>
          <p:cNvSpPr txBox="1"/>
          <p:nvPr/>
        </p:nvSpPr>
        <p:spPr>
          <a:xfrm>
            <a:off x="658368" y="4056709"/>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57" name="Shape 55"/>
          <p:cNvSpPr/>
          <p:nvPr/>
        </p:nvSpPr>
        <p:spPr>
          <a:xfrm>
            <a:off x="2670048" y="4115607"/>
            <a:ext cx="493956" cy="117796"/>
          </a:xfrm>
          <a:prstGeom prst="rect">
            <a:avLst/>
          </a:prstGeom>
          <a:solidFill>
            <a:srgbClr val="12A566"/>
          </a:solidFill>
          <a:ln/>
        </p:spPr>
      </p:sp>
      <p:sp>
        <p:nvSpPr>
          <p:cNvPr id="58" name="Text 56"/>
          <p:cNvSpPr txBox="1"/>
          <p:nvPr/>
        </p:nvSpPr>
        <p:spPr>
          <a:xfrm>
            <a:off x="3511296" y="4056709"/>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79.8%</a:t>
            </a:r>
            <a:endParaRPr lang="en-US" sz="1300" dirty="0"/>
          </a:p>
        </p:txBody>
      </p:sp>
      <p:sp>
        <p:nvSpPr>
          <p:cNvPr id="59" name="Text 57"/>
          <p:cNvSpPr txBox="1"/>
          <p:nvPr/>
        </p:nvSpPr>
        <p:spPr>
          <a:xfrm>
            <a:off x="4187952" y="405670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$155.78</a:t>
            </a:r>
            <a:endParaRPr lang="en-US" sz="1300" dirty="0"/>
          </a:p>
        </p:txBody>
      </p:sp>
      <p:sp>
        <p:nvSpPr>
          <p:cNvPr id="60" name="Text 58"/>
          <p:cNvSpPr txBox="1"/>
          <p:nvPr/>
        </p:nvSpPr>
        <p:spPr>
          <a:xfrm>
            <a:off x="4974336" y="4056709"/>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$136.50</a:t>
            </a:r>
            <a:endParaRPr lang="en-US" sz="1300" dirty="0"/>
          </a:p>
        </p:txBody>
      </p:sp>
      <p:sp>
        <p:nvSpPr>
          <p:cNvPr id="61" name="Text 59"/>
          <p:cNvSpPr txBox="1"/>
          <p:nvPr/>
        </p:nvSpPr>
        <p:spPr>
          <a:xfrm>
            <a:off x="658368" y="4292301"/>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62" name="Shape 60"/>
          <p:cNvSpPr/>
          <p:nvPr/>
        </p:nvSpPr>
        <p:spPr>
          <a:xfrm>
            <a:off x="2670048" y="4351199"/>
            <a:ext cx="489440" cy="117796"/>
          </a:xfrm>
          <a:prstGeom prst="rect">
            <a:avLst/>
          </a:prstGeom>
          <a:solidFill>
            <a:srgbClr val="12A566"/>
          </a:solidFill>
          <a:ln/>
        </p:spPr>
      </p:sp>
      <p:sp>
        <p:nvSpPr>
          <p:cNvPr id="63" name="Text 61"/>
          <p:cNvSpPr txBox="1"/>
          <p:nvPr/>
        </p:nvSpPr>
        <p:spPr>
          <a:xfrm>
            <a:off x="3511296" y="4292301"/>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79.5%</a:t>
            </a:r>
            <a:endParaRPr lang="en-US" sz="1300" dirty="0"/>
          </a:p>
        </p:txBody>
      </p:sp>
      <p:sp>
        <p:nvSpPr>
          <p:cNvPr id="64" name="Text 62"/>
          <p:cNvSpPr txBox="1"/>
          <p:nvPr/>
        </p:nvSpPr>
        <p:spPr>
          <a:xfrm>
            <a:off x="4187952" y="429230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$234.48</a:t>
            </a:r>
            <a:endParaRPr lang="en-US" sz="1300" dirty="0"/>
          </a:p>
        </p:txBody>
      </p:sp>
      <p:sp>
        <p:nvSpPr>
          <p:cNvPr id="65" name="Text 63"/>
          <p:cNvSpPr txBox="1"/>
          <p:nvPr/>
        </p:nvSpPr>
        <p:spPr>
          <a:xfrm>
            <a:off x="4974336" y="4292301"/>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$206.41</a:t>
            </a:r>
            <a:endParaRPr lang="en-US" sz="1300" dirty="0"/>
          </a:p>
        </p:txBody>
      </p:sp>
      <p:sp>
        <p:nvSpPr>
          <p:cNvPr id="66" name="Text 64"/>
          <p:cNvSpPr txBox="1"/>
          <p:nvPr/>
        </p:nvSpPr>
        <p:spPr>
          <a:xfrm>
            <a:off x="658368" y="4527894"/>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67" name="Shape 65"/>
          <p:cNvSpPr/>
          <p:nvPr/>
        </p:nvSpPr>
        <p:spPr>
          <a:xfrm>
            <a:off x="2670048" y="4586792"/>
            <a:ext cx="482276" cy="117796"/>
          </a:xfrm>
          <a:prstGeom prst="rect">
            <a:avLst/>
          </a:prstGeom>
          <a:solidFill>
            <a:srgbClr val="12A566"/>
          </a:solidFill>
          <a:ln/>
        </p:spPr>
      </p:sp>
      <p:sp>
        <p:nvSpPr>
          <p:cNvPr id="68" name="Text 66"/>
          <p:cNvSpPr txBox="1"/>
          <p:nvPr/>
        </p:nvSpPr>
        <p:spPr>
          <a:xfrm>
            <a:off x="3511296" y="4527894"/>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78.9%</a:t>
            </a:r>
            <a:endParaRPr lang="en-US" sz="1300" dirty="0"/>
          </a:p>
        </p:txBody>
      </p:sp>
      <p:sp>
        <p:nvSpPr>
          <p:cNvPr id="69" name="Text 67"/>
          <p:cNvSpPr txBox="1"/>
          <p:nvPr/>
        </p:nvSpPr>
        <p:spPr>
          <a:xfrm>
            <a:off x="4187952" y="452789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$146.04</a:t>
            </a:r>
            <a:endParaRPr lang="en-US" sz="1300" dirty="0"/>
          </a:p>
        </p:txBody>
      </p:sp>
      <p:sp>
        <p:nvSpPr>
          <p:cNvPr id="70" name="Text 68"/>
          <p:cNvSpPr txBox="1"/>
          <p:nvPr/>
        </p:nvSpPr>
        <p:spPr>
          <a:xfrm>
            <a:off x="4974336" y="4527894"/>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$129.50</a:t>
            </a:r>
            <a:endParaRPr lang="en-US" sz="1300" dirty="0"/>
          </a:p>
        </p:txBody>
      </p:sp>
      <p:sp>
        <p:nvSpPr>
          <p:cNvPr id="71" name="Text 69"/>
          <p:cNvSpPr txBox="1"/>
          <p:nvPr/>
        </p:nvSpPr>
        <p:spPr>
          <a:xfrm>
            <a:off x="658368" y="4763486"/>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72" name="Shape 70"/>
          <p:cNvSpPr/>
          <p:nvPr/>
        </p:nvSpPr>
        <p:spPr>
          <a:xfrm>
            <a:off x="2670048" y="4822384"/>
            <a:ext cx="482213" cy="117796"/>
          </a:xfrm>
          <a:prstGeom prst="rect">
            <a:avLst/>
          </a:prstGeom>
          <a:solidFill>
            <a:srgbClr val="12A566"/>
          </a:solidFill>
          <a:ln/>
        </p:spPr>
      </p:sp>
      <p:sp>
        <p:nvSpPr>
          <p:cNvPr id="73" name="Text 71"/>
          <p:cNvSpPr txBox="1"/>
          <p:nvPr/>
        </p:nvSpPr>
        <p:spPr>
          <a:xfrm>
            <a:off x="3511296" y="4763486"/>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78.9%</a:t>
            </a:r>
            <a:endParaRPr lang="en-US" sz="1300" dirty="0"/>
          </a:p>
        </p:txBody>
      </p:sp>
      <p:sp>
        <p:nvSpPr>
          <p:cNvPr id="74" name="Text 72"/>
          <p:cNvSpPr txBox="1"/>
          <p:nvPr/>
        </p:nvSpPr>
        <p:spPr>
          <a:xfrm>
            <a:off x="4187952" y="476348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$165.67</a:t>
            </a:r>
            <a:endParaRPr lang="en-US" sz="1300" dirty="0"/>
          </a:p>
        </p:txBody>
      </p:sp>
      <p:sp>
        <p:nvSpPr>
          <p:cNvPr id="75" name="Text 73"/>
          <p:cNvSpPr txBox="1"/>
          <p:nvPr/>
        </p:nvSpPr>
        <p:spPr>
          <a:xfrm>
            <a:off x="4974336" y="4763486"/>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$146.91</a:t>
            </a:r>
            <a:endParaRPr lang="en-US" sz="1300" dirty="0"/>
          </a:p>
        </p:txBody>
      </p:sp>
      <p:sp>
        <p:nvSpPr>
          <p:cNvPr id="76" name="Text 74"/>
          <p:cNvSpPr txBox="1"/>
          <p:nvPr/>
        </p:nvSpPr>
        <p:spPr>
          <a:xfrm>
            <a:off x="658368" y="4999079"/>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77" name="Shape 75"/>
          <p:cNvSpPr/>
          <p:nvPr/>
        </p:nvSpPr>
        <p:spPr>
          <a:xfrm>
            <a:off x="2670048" y="5057977"/>
            <a:ext cx="476913" cy="117796"/>
          </a:xfrm>
          <a:prstGeom prst="rect">
            <a:avLst/>
          </a:prstGeom>
          <a:solidFill>
            <a:srgbClr val="12A566"/>
          </a:solidFill>
          <a:ln/>
        </p:spPr>
      </p:sp>
      <p:sp>
        <p:nvSpPr>
          <p:cNvPr id="78" name="Text 76"/>
          <p:cNvSpPr txBox="1"/>
          <p:nvPr/>
        </p:nvSpPr>
        <p:spPr>
          <a:xfrm>
            <a:off x="3511296" y="4999079"/>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78.5%</a:t>
            </a:r>
            <a:endParaRPr lang="en-US" sz="1300" dirty="0"/>
          </a:p>
        </p:txBody>
      </p:sp>
      <p:sp>
        <p:nvSpPr>
          <p:cNvPr id="79" name="Text 77"/>
          <p:cNvSpPr txBox="1"/>
          <p:nvPr/>
        </p:nvSpPr>
        <p:spPr>
          <a:xfrm>
            <a:off x="4187952" y="499907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$160.84</a:t>
            </a:r>
            <a:endParaRPr lang="en-US" sz="1300" dirty="0"/>
          </a:p>
        </p:txBody>
      </p:sp>
      <p:sp>
        <p:nvSpPr>
          <p:cNvPr id="80" name="Text 78"/>
          <p:cNvSpPr txBox="1"/>
          <p:nvPr/>
        </p:nvSpPr>
        <p:spPr>
          <a:xfrm>
            <a:off x="4974336" y="4999079"/>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$143.41</a:t>
            </a:r>
            <a:endParaRPr lang="en-US" sz="1300" dirty="0"/>
          </a:p>
        </p:txBody>
      </p:sp>
      <p:sp>
        <p:nvSpPr>
          <p:cNvPr id="81" name="Text 79"/>
          <p:cNvSpPr txBox="1"/>
          <p:nvPr/>
        </p:nvSpPr>
        <p:spPr>
          <a:xfrm>
            <a:off x="658368" y="5234671"/>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82" name="Shape 80"/>
          <p:cNvSpPr/>
          <p:nvPr/>
        </p:nvSpPr>
        <p:spPr>
          <a:xfrm>
            <a:off x="2670048" y="5293569"/>
            <a:ext cx="455168" cy="117796"/>
          </a:xfrm>
          <a:prstGeom prst="rect">
            <a:avLst/>
          </a:prstGeom>
          <a:solidFill>
            <a:srgbClr val="12A566"/>
          </a:solidFill>
          <a:ln/>
        </p:spPr>
      </p:sp>
      <p:sp>
        <p:nvSpPr>
          <p:cNvPr id="83" name="Text 81"/>
          <p:cNvSpPr txBox="1"/>
          <p:nvPr/>
        </p:nvSpPr>
        <p:spPr>
          <a:xfrm>
            <a:off x="3511296" y="5234671"/>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76.7%</a:t>
            </a:r>
            <a:endParaRPr lang="en-US" sz="1300" dirty="0"/>
          </a:p>
        </p:txBody>
      </p:sp>
      <p:sp>
        <p:nvSpPr>
          <p:cNvPr id="84" name="Text 82"/>
          <p:cNvSpPr txBox="1"/>
          <p:nvPr/>
        </p:nvSpPr>
        <p:spPr>
          <a:xfrm>
            <a:off x="4187952" y="523467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$141.89</a:t>
            </a:r>
            <a:endParaRPr lang="en-US" sz="1300" dirty="0"/>
          </a:p>
        </p:txBody>
      </p:sp>
      <p:sp>
        <p:nvSpPr>
          <p:cNvPr id="85" name="Text 83"/>
          <p:cNvSpPr txBox="1"/>
          <p:nvPr/>
        </p:nvSpPr>
        <p:spPr>
          <a:xfrm>
            <a:off x="4974336" y="5234671"/>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$129.41</a:t>
            </a:r>
            <a:endParaRPr lang="en-US" sz="1300" dirty="0"/>
          </a:p>
        </p:txBody>
      </p:sp>
      <p:sp>
        <p:nvSpPr>
          <p:cNvPr id="86" name="Text 84"/>
          <p:cNvSpPr txBox="1"/>
          <p:nvPr/>
        </p:nvSpPr>
        <p:spPr>
          <a:xfrm>
            <a:off x="658368" y="5470264"/>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87" name="Shape 85"/>
          <p:cNvSpPr/>
          <p:nvPr/>
        </p:nvSpPr>
        <p:spPr>
          <a:xfrm>
            <a:off x="2670048" y="5529162"/>
            <a:ext cx="451454" cy="117796"/>
          </a:xfrm>
          <a:prstGeom prst="rect">
            <a:avLst/>
          </a:prstGeom>
          <a:solidFill>
            <a:srgbClr val="12A566"/>
          </a:solidFill>
          <a:ln/>
        </p:spPr>
      </p:sp>
      <p:sp>
        <p:nvSpPr>
          <p:cNvPr id="88" name="Text 86"/>
          <p:cNvSpPr txBox="1"/>
          <p:nvPr/>
        </p:nvSpPr>
        <p:spPr>
          <a:xfrm>
            <a:off x="3511296" y="5470264"/>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76.4%</a:t>
            </a:r>
            <a:endParaRPr lang="en-US" sz="1300" dirty="0"/>
          </a:p>
        </p:txBody>
      </p:sp>
      <p:sp>
        <p:nvSpPr>
          <p:cNvPr id="89" name="Text 87"/>
          <p:cNvSpPr txBox="1"/>
          <p:nvPr/>
        </p:nvSpPr>
        <p:spPr>
          <a:xfrm>
            <a:off x="4187952" y="547026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$266.72</a:t>
            </a:r>
            <a:endParaRPr lang="en-US" sz="1300" dirty="0"/>
          </a:p>
        </p:txBody>
      </p:sp>
      <p:sp>
        <p:nvSpPr>
          <p:cNvPr id="90" name="Text 88"/>
          <p:cNvSpPr txBox="1"/>
          <p:nvPr/>
        </p:nvSpPr>
        <p:spPr>
          <a:xfrm>
            <a:off x="4974336" y="5470264"/>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$244.21</a:t>
            </a:r>
            <a:endParaRPr lang="en-US" sz="1300" dirty="0"/>
          </a:p>
        </p:txBody>
      </p:sp>
      <p:sp>
        <p:nvSpPr>
          <p:cNvPr id="91" name="Text 89"/>
          <p:cNvSpPr txBox="1"/>
          <p:nvPr/>
        </p:nvSpPr>
        <p:spPr>
          <a:xfrm>
            <a:off x="6208776" y="1700784"/>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92" name="Shape 90"/>
          <p:cNvSpPr/>
          <p:nvPr/>
        </p:nvSpPr>
        <p:spPr>
          <a:xfrm>
            <a:off x="8220456" y="1759682"/>
            <a:ext cx="438964" cy="117796"/>
          </a:xfrm>
          <a:prstGeom prst="rect">
            <a:avLst/>
          </a:prstGeom>
          <a:solidFill>
            <a:srgbClr val="12A566"/>
          </a:solidFill>
          <a:ln/>
        </p:spPr>
      </p:sp>
      <p:sp>
        <p:nvSpPr>
          <p:cNvPr id="93" name="Text 91"/>
          <p:cNvSpPr txBox="1"/>
          <p:nvPr/>
        </p:nvSpPr>
        <p:spPr>
          <a:xfrm>
            <a:off x="9061704" y="1700784"/>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75.4%</a:t>
            </a:r>
            <a:endParaRPr lang="en-US" sz="1300" dirty="0"/>
          </a:p>
        </p:txBody>
      </p:sp>
      <p:sp>
        <p:nvSpPr>
          <p:cNvPr id="94" name="Text 92"/>
          <p:cNvSpPr txBox="1"/>
          <p:nvPr/>
        </p:nvSpPr>
        <p:spPr>
          <a:xfrm>
            <a:off x="9738360" y="170078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$233.88</a:t>
            </a:r>
            <a:endParaRPr lang="en-US" sz="1300" dirty="0"/>
          </a:p>
        </p:txBody>
      </p:sp>
      <p:sp>
        <p:nvSpPr>
          <p:cNvPr id="95" name="Text 93"/>
          <p:cNvSpPr txBox="1"/>
          <p:nvPr/>
        </p:nvSpPr>
        <p:spPr>
          <a:xfrm>
            <a:off x="10524744" y="1700784"/>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$217.00</a:t>
            </a:r>
            <a:endParaRPr lang="en-US" sz="1300" dirty="0"/>
          </a:p>
        </p:txBody>
      </p:sp>
      <p:sp>
        <p:nvSpPr>
          <p:cNvPr id="96" name="Text 94"/>
          <p:cNvSpPr txBox="1"/>
          <p:nvPr/>
        </p:nvSpPr>
        <p:spPr>
          <a:xfrm>
            <a:off x="6208776" y="1936376"/>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97" name="Shape 95"/>
          <p:cNvSpPr/>
          <p:nvPr/>
        </p:nvSpPr>
        <p:spPr>
          <a:xfrm>
            <a:off x="8220456" y="1995275"/>
            <a:ext cx="436872" cy="117796"/>
          </a:xfrm>
          <a:prstGeom prst="rect">
            <a:avLst/>
          </a:prstGeom>
          <a:solidFill>
            <a:srgbClr val="12A566"/>
          </a:solidFill>
          <a:ln/>
        </p:spPr>
      </p:sp>
      <p:sp>
        <p:nvSpPr>
          <p:cNvPr id="98" name="Text 96"/>
          <p:cNvSpPr txBox="1"/>
          <p:nvPr/>
        </p:nvSpPr>
        <p:spPr>
          <a:xfrm>
            <a:off x="9061704" y="1936376"/>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75.2%</a:t>
            </a:r>
            <a:endParaRPr lang="en-US" sz="1300" dirty="0"/>
          </a:p>
        </p:txBody>
      </p:sp>
      <p:sp>
        <p:nvSpPr>
          <p:cNvPr id="99" name="Text 97"/>
          <p:cNvSpPr txBox="1"/>
          <p:nvPr/>
        </p:nvSpPr>
        <p:spPr>
          <a:xfrm>
            <a:off x="9738360" y="193637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$162.12</a:t>
            </a:r>
            <a:endParaRPr lang="en-US" sz="1300" dirty="0"/>
          </a:p>
        </p:txBody>
      </p:sp>
      <p:sp>
        <p:nvSpPr>
          <p:cNvPr id="100" name="Text 98"/>
          <p:cNvSpPr txBox="1"/>
          <p:nvPr/>
        </p:nvSpPr>
        <p:spPr>
          <a:xfrm>
            <a:off x="10524744" y="1936376"/>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$150.76</a:t>
            </a:r>
            <a:endParaRPr lang="en-US" sz="1300" dirty="0"/>
          </a:p>
        </p:txBody>
      </p:sp>
      <p:sp>
        <p:nvSpPr>
          <p:cNvPr id="101" name="Text 99"/>
          <p:cNvSpPr txBox="1"/>
          <p:nvPr/>
        </p:nvSpPr>
        <p:spPr>
          <a:xfrm>
            <a:off x="6208776" y="2171969"/>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102" name="Shape 100"/>
          <p:cNvSpPr/>
          <p:nvPr/>
        </p:nvSpPr>
        <p:spPr>
          <a:xfrm>
            <a:off x="8220456" y="2230867"/>
            <a:ext cx="434691" cy="117796"/>
          </a:xfrm>
          <a:prstGeom prst="rect">
            <a:avLst/>
          </a:prstGeom>
          <a:solidFill>
            <a:srgbClr val="12A566"/>
          </a:solidFill>
          <a:ln/>
        </p:spPr>
      </p:sp>
      <p:sp>
        <p:nvSpPr>
          <p:cNvPr id="103" name="Text 101"/>
          <p:cNvSpPr txBox="1"/>
          <p:nvPr/>
        </p:nvSpPr>
        <p:spPr>
          <a:xfrm>
            <a:off x="9061704" y="2171969"/>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75.1%</a:t>
            </a:r>
            <a:endParaRPr lang="en-US" sz="1300" dirty="0"/>
          </a:p>
        </p:txBody>
      </p:sp>
      <p:sp>
        <p:nvSpPr>
          <p:cNvPr id="104" name="Text 102"/>
          <p:cNvSpPr txBox="1"/>
          <p:nvPr/>
        </p:nvSpPr>
        <p:spPr>
          <a:xfrm>
            <a:off x="9738360" y="217196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$180.14</a:t>
            </a:r>
            <a:endParaRPr lang="en-US" sz="1300" dirty="0"/>
          </a:p>
        </p:txBody>
      </p:sp>
      <p:sp>
        <p:nvSpPr>
          <p:cNvPr id="105" name="Text 103"/>
          <p:cNvSpPr txBox="1"/>
          <p:nvPr/>
        </p:nvSpPr>
        <p:spPr>
          <a:xfrm>
            <a:off x="10524744" y="2171969"/>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$167.91</a:t>
            </a:r>
            <a:endParaRPr lang="en-US" sz="1300" dirty="0"/>
          </a:p>
        </p:txBody>
      </p:sp>
      <p:sp>
        <p:nvSpPr>
          <p:cNvPr id="106" name="Text 104"/>
          <p:cNvSpPr txBox="1"/>
          <p:nvPr/>
        </p:nvSpPr>
        <p:spPr>
          <a:xfrm>
            <a:off x="6208776" y="2407561"/>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107" name="Shape 105"/>
          <p:cNvSpPr/>
          <p:nvPr/>
        </p:nvSpPr>
        <p:spPr>
          <a:xfrm>
            <a:off x="8220456" y="2466460"/>
            <a:ext cx="433538" cy="117796"/>
          </a:xfrm>
          <a:prstGeom prst="rect">
            <a:avLst/>
          </a:prstGeom>
          <a:solidFill>
            <a:srgbClr val="12A566"/>
          </a:solidFill>
          <a:ln/>
        </p:spPr>
      </p:sp>
      <p:sp>
        <p:nvSpPr>
          <p:cNvPr id="108" name="Text 106"/>
          <p:cNvSpPr txBox="1"/>
          <p:nvPr/>
        </p:nvSpPr>
        <p:spPr>
          <a:xfrm>
            <a:off x="9061704" y="2407561"/>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75.0%</a:t>
            </a:r>
            <a:endParaRPr lang="en-US" sz="1300" dirty="0"/>
          </a:p>
        </p:txBody>
      </p:sp>
      <p:sp>
        <p:nvSpPr>
          <p:cNvPr id="109" name="Text 107"/>
          <p:cNvSpPr txBox="1"/>
          <p:nvPr/>
        </p:nvSpPr>
        <p:spPr>
          <a:xfrm>
            <a:off x="9738360" y="240756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$142.51</a:t>
            </a:r>
            <a:endParaRPr lang="en-US" sz="1300" dirty="0"/>
          </a:p>
        </p:txBody>
      </p:sp>
      <p:sp>
        <p:nvSpPr>
          <p:cNvPr id="110" name="Text 108"/>
          <p:cNvSpPr txBox="1"/>
          <p:nvPr/>
        </p:nvSpPr>
        <p:spPr>
          <a:xfrm>
            <a:off x="10524744" y="2407561"/>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$133.00</a:t>
            </a:r>
            <a:endParaRPr lang="en-US" sz="1300" dirty="0"/>
          </a:p>
        </p:txBody>
      </p:sp>
      <p:sp>
        <p:nvSpPr>
          <p:cNvPr id="111" name="Shape 109"/>
          <p:cNvSpPr/>
          <p:nvPr/>
        </p:nvSpPr>
        <p:spPr>
          <a:xfrm>
            <a:off x="6135624" y="2638582"/>
            <a:ext cx="5285232" cy="226448"/>
          </a:xfrm>
          <a:prstGeom prst="rect">
            <a:avLst/>
          </a:prstGeom>
          <a:solidFill>
            <a:srgbClr val="EDF4FA"/>
          </a:solidFill>
          <a:ln/>
        </p:spPr>
      </p:sp>
      <p:sp>
        <p:nvSpPr>
          <p:cNvPr id="112" name="Text 110"/>
          <p:cNvSpPr txBox="1"/>
          <p:nvPr/>
        </p:nvSpPr>
        <p:spPr>
          <a:xfrm>
            <a:off x="6208776" y="2643154"/>
            <a:ext cx="1938528" cy="235592"/>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GROUP</a:t>
            </a:r>
            <a:endParaRPr lang="en-US" sz="1300" dirty="0"/>
          </a:p>
        </p:txBody>
      </p:sp>
      <p:sp>
        <p:nvSpPr>
          <p:cNvPr id="113" name="Shape 111"/>
          <p:cNvSpPr/>
          <p:nvPr/>
        </p:nvSpPr>
        <p:spPr>
          <a:xfrm>
            <a:off x="8220456" y="2702052"/>
            <a:ext cx="430925" cy="117796"/>
          </a:xfrm>
          <a:prstGeom prst="rect">
            <a:avLst/>
          </a:prstGeom>
          <a:solidFill>
            <a:srgbClr val="0B2C4A"/>
          </a:solidFill>
          <a:ln/>
        </p:spPr>
      </p:sp>
      <p:sp>
        <p:nvSpPr>
          <p:cNvPr id="114" name="Text 112"/>
          <p:cNvSpPr txBox="1"/>
          <p:nvPr/>
        </p:nvSpPr>
        <p:spPr>
          <a:xfrm>
            <a:off x="9061704" y="2643154"/>
            <a:ext cx="676656" cy="23559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74.7%</a:t>
            </a:r>
            <a:endParaRPr lang="en-US" sz="1300" dirty="0"/>
          </a:p>
        </p:txBody>
      </p:sp>
      <p:sp>
        <p:nvSpPr>
          <p:cNvPr id="115" name="Text 113"/>
          <p:cNvSpPr txBox="1"/>
          <p:nvPr/>
        </p:nvSpPr>
        <p:spPr>
          <a:xfrm>
            <a:off x="9738360" y="2643154"/>
            <a:ext cx="786384" cy="23559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$163.67</a:t>
            </a:r>
            <a:endParaRPr lang="en-US" sz="1300" dirty="0"/>
          </a:p>
        </p:txBody>
      </p:sp>
      <p:sp>
        <p:nvSpPr>
          <p:cNvPr id="116" name="Text 114"/>
          <p:cNvSpPr txBox="1"/>
          <p:nvPr/>
        </p:nvSpPr>
        <p:spPr>
          <a:xfrm>
            <a:off x="10524744" y="2643154"/>
            <a:ext cx="841248" cy="23559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$153.17</a:t>
            </a:r>
            <a:endParaRPr lang="en-US" sz="1300" dirty="0"/>
          </a:p>
        </p:txBody>
      </p:sp>
      <p:sp>
        <p:nvSpPr>
          <p:cNvPr id="117" name="Text 115"/>
          <p:cNvSpPr txBox="1"/>
          <p:nvPr/>
        </p:nvSpPr>
        <p:spPr>
          <a:xfrm>
            <a:off x="6208776" y="2878746"/>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118" name="Shape 116"/>
          <p:cNvSpPr/>
          <p:nvPr/>
        </p:nvSpPr>
        <p:spPr>
          <a:xfrm>
            <a:off x="8220456" y="2937644"/>
            <a:ext cx="419774" cy="117796"/>
          </a:xfrm>
          <a:prstGeom prst="rect">
            <a:avLst/>
          </a:prstGeom>
          <a:solidFill>
            <a:srgbClr val="12A566"/>
          </a:solidFill>
          <a:ln/>
        </p:spPr>
      </p:sp>
      <p:sp>
        <p:nvSpPr>
          <p:cNvPr id="119" name="Text 117"/>
          <p:cNvSpPr txBox="1"/>
          <p:nvPr/>
        </p:nvSpPr>
        <p:spPr>
          <a:xfrm>
            <a:off x="9061704" y="2878746"/>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73.8%</a:t>
            </a:r>
            <a:endParaRPr lang="en-US" sz="1300" dirty="0"/>
          </a:p>
        </p:txBody>
      </p:sp>
      <p:sp>
        <p:nvSpPr>
          <p:cNvPr id="120" name="Text 118"/>
          <p:cNvSpPr txBox="1"/>
          <p:nvPr/>
        </p:nvSpPr>
        <p:spPr>
          <a:xfrm>
            <a:off x="9738360" y="287874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$136.71</a:t>
            </a:r>
            <a:endParaRPr lang="en-US" sz="1300" dirty="0"/>
          </a:p>
        </p:txBody>
      </p:sp>
      <p:sp>
        <p:nvSpPr>
          <p:cNvPr id="121" name="Text 119"/>
          <p:cNvSpPr txBox="1"/>
          <p:nvPr/>
        </p:nvSpPr>
        <p:spPr>
          <a:xfrm>
            <a:off x="10524744" y="2878746"/>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$129.50</a:t>
            </a:r>
            <a:endParaRPr lang="en-US" sz="1300" dirty="0"/>
          </a:p>
        </p:txBody>
      </p:sp>
      <p:sp>
        <p:nvSpPr>
          <p:cNvPr id="122" name="Text 120"/>
          <p:cNvSpPr txBox="1"/>
          <p:nvPr/>
        </p:nvSpPr>
        <p:spPr>
          <a:xfrm>
            <a:off x="6208776" y="3114339"/>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123" name="Shape 121"/>
          <p:cNvSpPr/>
          <p:nvPr/>
        </p:nvSpPr>
        <p:spPr>
          <a:xfrm>
            <a:off x="8220456" y="3173237"/>
            <a:ext cx="410628" cy="117796"/>
          </a:xfrm>
          <a:prstGeom prst="rect">
            <a:avLst/>
          </a:prstGeom>
          <a:solidFill>
            <a:srgbClr val="12A566"/>
          </a:solidFill>
          <a:ln/>
        </p:spPr>
      </p:sp>
      <p:sp>
        <p:nvSpPr>
          <p:cNvPr id="124" name="Text 122"/>
          <p:cNvSpPr txBox="1"/>
          <p:nvPr/>
        </p:nvSpPr>
        <p:spPr>
          <a:xfrm>
            <a:off x="9061704" y="3114339"/>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73.1%</a:t>
            </a:r>
            <a:endParaRPr lang="en-US" sz="1300" dirty="0"/>
          </a:p>
        </p:txBody>
      </p:sp>
      <p:sp>
        <p:nvSpPr>
          <p:cNvPr id="125" name="Text 123"/>
          <p:cNvSpPr txBox="1"/>
          <p:nvPr/>
        </p:nvSpPr>
        <p:spPr>
          <a:xfrm>
            <a:off x="9738360" y="311433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$154.55</a:t>
            </a:r>
            <a:endParaRPr lang="en-US" sz="1300" dirty="0"/>
          </a:p>
        </p:txBody>
      </p:sp>
      <p:sp>
        <p:nvSpPr>
          <p:cNvPr id="126" name="Text 124"/>
          <p:cNvSpPr txBox="1"/>
          <p:nvPr/>
        </p:nvSpPr>
        <p:spPr>
          <a:xfrm>
            <a:off x="10524744" y="3114339"/>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$147.88</a:t>
            </a:r>
            <a:endParaRPr lang="en-US" sz="1300" dirty="0"/>
          </a:p>
        </p:txBody>
      </p:sp>
      <p:sp>
        <p:nvSpPr>
          <p:cNvPr id="127" name="Text 125"/>
          <p:cNvSpPr txBox="1"/>
          <p:nvPr/>
        </p:nvSpPr>
        <p:spPr>
          <a:xfrm>
            <a:off x="6208776" y="3349931"/>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128" name="Shape 126"/>
          <p:cNvSpPr/>
          <p:nvPr/>
        </p:nvSpPr>
        <p:spPr>
          <a:xfrm>
            <a:off x="8220456" y="3408829"/>
            <a:ext cx="401598" cy="117796"/>
          </a:xfrm>
          <a:prstGeom prst="rect">
            <a:avLst/>
          </a:prstGeom>
          <a:solidFill>
            <a:srgbClr val="12A566"/>
          </a:solidFill>
          <a:ln/>
        </p:spPr>
      </p:sp>
      <p:sp>
        <p:nvSpPr>
          <p:cNvPr id="129" name="Text 127"/>
          <p:cNvSpPr txBox="1"/>
          <p:nvPr/>
        </p:nvSpPr>
        <p:spPr>
          <a:xfrm>
            <a:off x="9061704" y="3349931"/>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72.4%</a:t>
            </a:r>
            <a:endParaRPr lang="en-US" sz="1300" dirty="0"/>
          </a:p>
        </p:txBody>
      </p:sp>
      <p:sp>
        <p:nvSpPr>
          <p:cNvPr id="130" name="Text 128"/>
          <p:cNvSpPr txBox="1"/>
          <p:nvPr/>
        </p:nvSpPr>
        <p:spPr>
          <a:xfrm>
            <a:off x="9738360" y="334993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$153.45</a:t>
            </a:r>
            <a:endParaRPr lang="en-US" sz="1300" dirty="0"/>
          </a:p>
        </p:txBody>
      </p:sp>
      <p:sp>
        <p:nvSpPr>
          <p:cNvPr id="131" name="Text 129"/>
          <p:cNvSpPr txBox="1"/>
          <p:nvPr/>
        </p:nvSpPr>
        <p:spPr>
          <a:xfrm>
            <a:off x="10524744" y="3349931"/>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$148.31</a:t>
            </a:r>
            <a:endParaRPr lang="en-US" sz="1300" dirty="0"/>
          </a:p>
        </p:txBody>
      </p:sp>
      <p:sp>
        <p:nvSpPr>
          <p:cNvPr id="132" name="Text 130"/>
          <p:cNvSpPr txBox="1"/>
          <p:nvPr/>
        </p:nvSpPr>
        <p:spPr>
          <a:xfrm>
            <a:off x="6208776" y="3585524"/>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133" name="Shape 131"/>
          <p:cNvSpPr/>
          <p:nvPr/>
        </p:nvSpPr>
        <p:spPr>
          <a:xfrm>
            <a:off x="8220456" y="3644422"/>
            <a:ext cx="379643" cy="117796"/>
          </a:xfrm>
          <a:prstGeom prst="rect">
            <a:avLst/>
          </a:prstGeom>
          <a:solidFill>
            <a:srgbClr val="12A566"/>
          </a:solidFill>
          <a:ln/>
        </p:spPr>
      </p:sp>
      <p:sp>
        <p:nvSpPr>
          <p:cNvPr id="134" name="Text 132"/>
          <p:cNvSpPr txBox="1"/>
          <p:nvPr/>
        </p:nvSpPr>
        <p:spPr>
          <a:xfrm>
            <a:off x="9061704" y="3585524"/>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70.6%</a:t>
            </a:r>
            <a:endParaRPr lang="en-US" sz="1300" dirty="0"/>
          </a:p>
        </p:txBody>
      </p:sp>
      <p:sp>
        <p:nvSpPr>
          <p:cNvPr id="135" name="Text 133"/>
          <p:cNvSpPr txBox="1"/>
          <p:nvPr/>
        </p:nvSpPr>
        <p:spPr>
          <a:xfrm>
            <a:off x="9738360" y="358552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$149.70</a:t>
            </a:r>
            <a:endParaRPr lang="en-US" sz="1300" dirty="0"/>
          </a:p>
        </p:txBody>
      </p:sp>
      <p:sp>
        <p:nvSpPr>
          <p:cNvPr id="136" name="Text 134"/>
          <p:cNvSpPr txBox="1"/>
          <p:nvPr/>
        </p:nvSpPr>
        <p:spPr>
          <a:xfrm>
            <a:off x="10524744" y="3585524"/>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$148.31</a:t>
            </a:r>
            <a:endParaRPr lang="en-US" sz="1300" dirty="0"/>
          </a:p>
        </p:txBody>
      </p:sp>
      <p:sp>
        <p:nvSpPr>
          <p:cNvPr id="137" name="Text 135"/>
          <p:cNvSpPr txBox="1"/>
          <p:nvPr/>
        </p:nvSpPr>
        <p:spPr>
          <a:xfrm>
            <a:off x="6208776" y="3821116"/>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138" name="Shape 136"/>
          <p:cNvSpPr/>
          <p:nvPr/>
        </p:nvSpPr>
        <p:spPr>
          <a:xfrm>
            <a:off x="8220456" y="3880014"/>
            <a:ext cx="353585" cy="117796"/>
          </a:xfrm>
          <a:prstGeom prst="rect">
            <a:avLst/>
          </a:prstGeom>
          <a:solidFill>
            <a:srgbClr val="C2352F"/>
          </a:solidFill>
          <a:ln/>
        </p:spPr>
      </p:sp>
      <p:sp>
        <p:nvSpPr>
          <p:cNvPr id="139" name="Text 137"/>
          <p:cNvSpPr txBox="1"/>
          <p:nvPr/>
        </p:nvSpPr>
        <p:spPr>
          <a:xfrm>
            <a:off x="9061704" y="3821116"/>
            <a:ext cx="67665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68.5%</a:t>
            </a:r>
            <a:endParaRPr lang="en-US" sz="1300" dirty="0"/>
          </a:p>
        </p:txBody>
      </p:sp>
      <p:sp>
        <p:nvSpPr>
          <p:cNvPr id="140" name="Text 138"/>
          <p:cNvSpPr txBox="1"/>
          <p:nvPr/>
        </p:nvSpPr>
        <p:spPr>
          <a:xfrm>
            <a:off x="9738360" y="382111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$150.72</a:t>
            </a:r>
            <a:endParaRPr lang="en-US" sz="1300" dirty="0"/>
          </a:p>
        </p:txBody>
      </p:sp>
      <p:sp>
        <p:nvSpPr>
          <p:cNvPr id="141" name="Text 139"/>
          <p:cNvSpPr txBox="1"/>
          <p:nvPr/>
        </p:nvSpPr>
        <p:spPr>
          <a:xfrm>
            <a:off x="10524744" y="3821116"/>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$153.91</a:t>
            </a:r>
            <a:endParaRPr lang="en-US" sz="1300" dirty="0"/>
          </a:p>
        </p:txBody>
      </p:sp>
      <p:sp>
        <p:nvSpPr>
          <p:cNvPr id="142" name="Text 140"/>
          <p:cNvSpPr txBox="1"/>
          <p:nvPr/>
        </p:nvSpPr>
        <p:spPr>
          <a:xfrm>
            <a:off x="6208776" y="4056709"/>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143" name="Shape 141"/>
          <p:cNvSpPr/>
          <p:nvPr/>
        </p:nvSpPr>
        <p:spPr>
          <a:xfrm>
            <a:off x="8220456" y="4115607"/>
            <a:ext cx="350355" cy="117796"/>
          </a:xfrm>
          <a:prstGeom prst="rect">
            <a:avLst/>
          </a:prstGeom>
          <a:solidFill>
            <a:srgbClr val="C2352F"/>
          </a:solidFill>
          <a:ln/>
        </p:spPr>
      </p:sp>
      <p:sp>
        <p:nvSpPr>
          <p:cNvPr id="144" name="Text 142"/>
          <p:cNvSpPr txBox="1"/>
          <p:nvPr/>
        </p:nvSpPr>
        <p:spPr>
          <a:xfrm>
            <a:off x="9061704" y="4056709"/>
            <a:ext cx="67665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68.2%</a:t>
            </a:r>
            <a:endParaRPr lang="en-US" sz="1300" dirty="0"/>
          </a:p>
        </p:txBody>
      </p:sp>
      <p:sp>
        <p:nvSpPr>
          <p:cNvPr id="145" name="Text 143"/>
          <p:cNvSpPr txBox="1"/>
          <p:nvPr/>
        </p:nvSpPr>
        <p:spPr>
          <a:xfrm>
            <a:off x="9738360" y="405670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$167.22</a:t>
            </a:r>
            <a:endParaRPr lang="en-US" sz="1300" dirty="0"/>
          </a:p>
        </p:txBody>
      </p:sp>
      <p:sp>
        <p:nvSpPr>
          <p:cNvPr id="146" name="Text 144"/>
          <p:cNvSpPr txBox="1"/>
          <p:nvPr/>
        </p:nvSpPr>
        <p:spPr>
          <a:xfrm>
            <a:off x="10524744" y="4056709"/>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$171.41</a:t>
            </a:r>
            <a:endParaRPr lang="en-US" sz="1300" dirty="0"/>
          </a:p>
        </p:txBody>
      </p:sp>
      <p:sp>
        <p:nvSpPr>
          <p:cNvPr id="147" name="Text 145"/>
          <p:cNvSpPr txBox="1"/>
          <p:nvPr/>
        </p:nvSpPr>
        <p:spPr>
          <a:xfrm>
            <a:off x="6208776" y="4292301"/>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148" name="Shape 146"/>
          <p:cNvSpPr/>
          <p:nvPr/>
        </p:nvSpPr>
        <p:spPr>
          <a:xfrm>
            <a:off x="8220456" y="4351199"/>
            <a:ext cx="340887" cy="117796"/>
          </a:xfrm>
          <a:prstGeom prst="rect">
            <a:avLst/>
          </a:prstGeom>
          <a:solidFill>
            <a:srgbClr val="C2352F"/>
          </a:solidFill>
          <a:ln/>
        </p:spPr>
      </p:sp>
      <p:sp>
        <p:nvSpPr>
          <p:cNvPr id="149" name="Text 147"/>
          <p:cNvSpPr txBox="1"/>
          <p:nvPr/>
        </p:nvSpPr>
        <p:spPr>
          <a:xfrm>
            <a:off x="9061704" y="4292301"/>
            <a:ext cx="67665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67.5%</a:t>
            </a:r>
            <a:endParaRPr lang="en-US" sz="1300" dirty="0"/>
          </a:p>
        </p:txBody>
      </p:sp>
      <p:sp>
        <p:nvSpPr>
          <p:cNvPr id="150" name="Text 148"/>
          <p:cNvSpPr txBox="1"/>
          <p:nvPr/>
        </p:nvSpPr>
        <p:spPr>
          <a:xfrm>
            <a:off x="9738360" y="429230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$124.92</a:t>
            </a:r>
            <a:endParaRPr lang="en-US" sz="1300" dirty="0"/>
          </a:p>
        </p:txBody>
      </p:sp>
      <p:sp>
        <p:nvSpPr>
          <p:cNvPr id="151" name="Text 149"/>
          <p:cNvSpPr txBox="1"/>
          <p:nvPr/>
        </p:nvSpPr>
        <p:spPr>
          <a:xfrm>
            <a:off x="10524744" y="4292301"/>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$129.50</a:t>
            </a:r>
            <a:endParaRPr lang="en-US" sz="1300" dirty="0"/>
          </a:p>
        </p:txBody>
      </p:sp>
      <p:sp>
        <p:nvSpPr>
          <p:cNvPr id="152" name="Text 150"/>
          <p:cNvSpPr txBox="1"/>
          <p:nvPr/>
        </p:nvSpPr>
        <p:spPr>
          <a:xfrm>
            <a:off x="6208776" y="4527894"/>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153" name="Shape 151"/>
          <p:cNvSpPr/>
          <p:nvPr/>
        </p:nvSpPr>
        <p:spPr>
          <a:xfrm>
            <a:off x="8220456" y="4586792"/>
            <a:ext cx="331691" cy="117796"/>
          </a:xfrm>
          <a:prstGeom prst="rect">
            <a:avLst/>
          </a:prstGeom>
          <a:solidFill>
            <a:srgbClr val="C2352F"/>
          </a:solidFill>
          <a:ln/>
        </p:spPr>
      </p:sp>
      <p:sp>
        <p:nvSpPr>
          <p:cNvPr id="154" name="Text 152"/>
          <p:cNvSpPr txBox="1"/>
          <p:nvPr/>
        </p:nvSpPr>
        <p:spPr>
          <a:xfrm>
            <a:off x="9061704" y="4527894"/>
            <a:ext cx="67665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66.7%</a:t>
            </a:r>
            <a:endParaRPr lang="en-US" sz="1300" dirty="0"/>
          </a:p>
        </p:txBody>
      </p:sp>
      <p:sp>
        <p:nvSpPr>
          <p:cNvPr id="155" name="Text 153"/>
          <p:cNvSpPr txBox="1"/>
          <p:nvPr/>
        </p:nvSpPr>
        <p:spPr>
          <a:xfrm>
            <a:off x="9738360" y="452789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$146.92</a:t>
            </a:r>
            <a:endParaRPr lang="en-US" sz="1300" dirty="0"/>
          </a:p>
        </p:txBody>
      </p:sp>
      <p:sp>
        <p:nvSpPr>
          <p:cNvPr id="156" name="Text 154"/>
          <p:cNvSpPr txBox="1"/>
          <p:nvPr/>
        </p:nvSpPr>
        <p:spPr>
          <a:xfrm>
            <a:off x="10524744" y="4527894"/>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$154.00</a:t>
            </a:r>
            <a:endParaRPr lang="en-US" sz="1300" dirty="0"/>
          </a:p>
        </p:txBody>
      </p:sp>
      <p:sp>
        <p:nvSpPr>
          <p:cNvPr id="157" name="Text 155"/>
          <p:cNvSpPr txBox="1"/>
          <p:nvPr/>
        </p:nvSpPr>
        <p:spPr>
          <a:xfrm>
            <a:off x="6208776" y="4763486"/>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158" name="Shape 156"/>
          <p:cNvSpPr/>
          <p:nvPr/>
        </p:nvSpPr>
        <p:spPr>
          <a:xfrm>
            <a:off x="8220456" y="4822384"/>
            <a:ext cx="329103" cy="117796"/>
          </a:xfrm>
          <a:prstGeom prst="rect">
            <a:avLst/>
          </a:prstGeom>
          <a:solidFill>
            <a:srgbClr val="C2352F"/>
          </a:solidFill>
          <a:ln/>
        </p:spPr>
      </p:sp>
      <p:sp>
        <p:nvSpPr>
          <p:cNvPr id="159" name="Text 157"/>
          <p:cNvSpPr txBox="1"/>
          <p:nvPr/>
        </p:nvSpPr>
        <p:spPr>
          <a:xfrm>
            <a:off x="9061704" y="4763486"/>
            <a:ext cx="67665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66.5%</a:t>
            </a:r>
            <a:endParaRPr lang="en-US" sz="1300" dirty="0"/>
          </a:p>
        </p:txBody>
      </p:sp>
      <p:sp>
        <p:nvSpPr>
          <p:cNvPr id="160" name="Text 158"/>
          <p:cNvSpPr txBox="1"/>
          <p:nvPr/>
        </p:nvSpPr>
        <p:spPr>
          <a:xfrm>
            <a:off x="9738360" y="476348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$139.81</a:t>
            </a:r>
            <a:endParaRPr lang="en-US" sz="1300" dirty="0"/>
          </a:p>
        </p:txBody>
      </p:sp>
      <p:sp>
        <p:nvSpPr>
          <p:cNvPr id="161" name="Text 159"/>
          <p:cNvSpPr txBox="1"/>
          <p:nvPr/>
        </p:nvSpPr>
        <p:spPr>
          <a:xfrm>
            <a:off x="10524744" y="4763486"/>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$147.00</a:t>
            </a:r>
            <a:endParaRPr lang="en-US" sz="1300" dirty="0"/>
          </a:p>
        </p:txBody>
      </p:sp>
      <p:sp>
        <p:nvSpPr>
          <p:cNvPr id="162" name="Text 160"/>
          <p:cNvSpPr txBox="1"/>
          <p:nvPr/>
        </p:nvSpPr>
        <p:spPr>
          <a:xfrm>
            <a:off x="6208776" y="4999079"/>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163" name="Shape 161"/>
          <p:cNvSpPr/>
          <p:nvPr/>
        </p:nvSpPr>
        <p:spPr>
          <a:xfrm>
            <a:off x="8220456" y="5057977"/>
            <a:ext cx="310047" cy="117796"/>
          </a:xfrm>
          <a:prstGeom prst="rect">
            <a:avLst/>
          </a:prstGeom>
          <a:solidFill>
            <a:srgbClr val="C2352F"/>
          </a:solidFill>
          <a:ln/>
        </p:spPr>
      </p:sp>
      <p:sp>
        <p:nvSpPr>
          <p:cNvPr id="164" name="Text 162"/>
          <p:cNvSpPr txBox="1"/>
          <p:nvPr/>
        </p:nvSpPr>
        <p:spPr>
          <a:xfrm>
            <a:off x="9061704" y="4999079"/>
            <a:ext cx="67665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65.0%</a:t>
            </a:r>
            <a:endParaRPr lang="en-US" sz="1300" dirty="0"/>
          </a:p>
        </p:txBody>
      </p:sp>
      <p:sp>
        <p:nvSpPr>
          <p:cNvPr id="165" name="Text 163"/>
          <p:cNvSpPr txBox="1"/>
          <p:nvPr/>
        </p:nvSpPr>
        <p:spPr>
          <a:xfrm>
            <a:off x="9738360" y="499907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$146.25</a:t>
            </a:r>
            <a:endParaRPr lang="en-US" sz="1300" dirty="0"/>
          </a:p>
        </p:txBody>
      </p:sp>
      <p:sp>
        <p:nvSpPr>
          <p:cNvPr id="166" name="Text 164"/>
          <p:cNvSpPr txBox="1"/>
          <p:nvPr/>
        </p:nvSpPr>
        <p:spPr>
          <a:xfrm>
            <a:off x="10524744" y="4999079"/>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$157.41</a:t>
            </a:r>
            <a:endParaRPr lang="en-US" sz="1300" dirty="0"/>
          </a:p>
        </p:txBody>
      </p:sp>
      <p:sp>
        <p:nvSpPr>
          <p:cNvPr id="167" name="Text 165"/>
          <p:cNvSpPr txBox="1"/>
          <p:nvPr/>
        </p:nvSpPr>
        <p:spPr>
          <a:xfrm>
            <a:off x="6208776" y="5234671"/>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68" name="Shape 166"/>
          <p:cNvSpPr/>
          <p:nvPr/>
        </p:nvSpPr>
        <p:spPr>
          <a:xfrm>
            <a:off x="8220456" y="5293569"/>
            <a:ext cx="307379" cy="117796"/>
          </a:xfrm>
          <a:prstGeom prst="rect">
            <a:avLst/>
          </a:prstGeom>
          <a:solidFill>
            <a:srgbClr val="C2352F"/>
          </a:solidFill>
          <a:ln/>
        </p:spPr>
      </p:sp>
      <p:sp>
        <p:nvSpPr>
          <p:cNvPr id="169" name="Text 167"/>
          <p:cNvSpPr txBox="1"/>
          <p:nvPr/>
        </p:nvSpPr>
        <p:spPr>
          <a:xfrm>
            <a:off x="9061704" y="5234671"/>
            <a:ext cx="67665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64.8%</a:t>
            </a:r>
            <a:endParaRPr lang="en-US" sz="1300" dirty="0"/>
          </a:p>
        </p:txBody>
      </p:sp>
      <p:sp>
        <p:nvSpPr>
          <p:cNvPr id="170" name="Text 168"/>
          <p:cNvSpPr txBox="1"/>
          <p:nvPr/>
        </p:nvSpPr>
        <p:spPr>
          <a:xfrm>
            <a:off x="9738360" y="523467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$136.12</a:t>
            </a:r>
            <a:endParaRPr lang="en-US" sz="1300" dirty="0"/>
          </a:p>
        </p:txBody>
      </p:sp>
      <p:sp>
        <p:nvSpPr>
          <p:cNvPr id="171" name="Text 169"/>
          <p:cNvSpPr txBox="1"/>
          <p:nvPr/>
        </p:nvSpPr>
        <p:spPr>
          <a:xfrm>
            <a:off x="10524744" y="5234671"/>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$147.00</a:t>
            </a:r>
            <a:endParaRPr lang="en-US" sz="1300" dirty="0"/>
          </a:p>
        </p:txBody>
      </p:sp>
      <p:sp>
        <p:nvSpPr>
          <p:cNvPr id="172" name="Text 170"/>
          <p:cNvSpPr txBox="1"/>
          <p:nvPr/>
        </p:nvSpPr>
        <p:spPr>
          <a:xfrm>
            <a:off x="6208776" y="5470264"/>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173" name="Shape 171"/>
          <p:cNvSpPr/>
          <p:nvPr/>
        </p:nvSpPr>
        <p:spPr>
          <a:xfrm>
            <a:off x="8220456" y="5529162"/>
            <a:ext cx="267128" cy="117796"/>
          </a:xfrm>
          <a:prstGeom prst="rect">
            <a:avLst/>
          </a:prstGeom>
          <a:solidFill>
            <a:srgbClr val="C2352F"/>
          </a:solidFill>
          <a:ln/>
        </p:spPr>
      </p:sp>
      <p:sp>
        <p:nvSpPr>
          <p:cNvPr id="174" name="Text 172"/>
          <p:cNvSpPr txBox="1"/>
          <p:nvPr/>
        </p:nvSpPr>
        <p:spPr>
          <a:xfrm>
            <a:off x="9061704" y="5470264"/>
            <a:ext cx="67665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61.5%</a:t>
            </a:r>
            <a:endParaRPr lang="en-US" sz="1300" dirty="0"/>
          </a:p>
        </p:txBody>
      </p:sp>
      <p:sp>
        <p:nvSpPr>
          <p:cNvPr id="175" name="Text 173"/>
          <p:cNvSpPr txBox="1"/>
          <p:nvPr/>
        </p:nvSpPr>
        <p:spPr>
          <a:xfrm>
            <a:off x="9738360" y="547026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$175.47</a:t>
            </a:r>
            <a:endParaRPr lang="en-US" sz="1300" dirty="0"/>
          </a:p>
        </p:txBody>
      </p:sp>
      <p:sp>
        <p:nvSpPr>
          <p:cNvPr id="176" name="Text 174"/>
          <p:cNvSpPr txBox="1"/>
          <p:nvPr/>
        </p:nvSpPr>
        <p:spPr>
          <a:xfrm>
            <a:off x="10524744" y="5470264"/>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$199.50</a:t>
            </a:r>
            <a:endParaRPr lang="en-US" sz="1300" dirty="0"/>
          </a:p>
        </p:txBody>
      </p:sp>
      <p:sp>
        <p:nvSpPr>
          <p:cNvPr id="177" name="Text 175"/>
          <p:cNvSpPr txBox="1"/>
          <p:nvPr/>
        </p:nvSpPr>
        <p:spPr>
          <a:xfrm>
            <a:off x="3511296" y="1316736"/>
            <a:ext cx="676656" cy="292608"/>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a:t>
            </a:r>
            <a:endParaRPr lang="en-US" sz="1400" dirty="0"/>
          </a:p>
        </p:txBody>
      </p:sp>
      <p:sp>
        <p:nvSpPr>
          <p:cNvPr id="178" name="Text 176"/>
          <p:cNvSpPr txBox="1"/>
          <p:nvPr/>
        </p:nvSpPr>
        <p:spPr>
          <a:xfrm>
            <a:off x="4187952" y="1316736"/>
            <a:ext cx="786384" cy="292608"/>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ELR</a:t>
            </a:r>
            <a:endParaRPr lang="en-US" sz="1400" dirty="0"/>
          </a:p>
        </p:txBody>
      </p:sp>
      <p:sp>
        <p:nvSpPr>
          <p:cNvPr id="179" name="Text 177"/>
          <p:cNvSpPr txBox="1"/>
          <p:nvPr/>
        </p:nvSpPr>
        <p:spPr>
          <a:xfrm>
            <a:off x="4974336" y="1316736"/>
            <a:ext cx="841248" cy="292608"/>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70% TGT</a:t>
            </a:r>
            <a:endParaRPr lang="en-US" sz="1400" dirty="0"/>
          </a:p>
        </p:txBody>
      </p:sp>
      <p:sp>
        <p:nvSpPr>
          <p:cNvPr id="180" name="Text 178"/>
          <p:cNvSpPr txBox="1"/>
          <p:nvPr/>
        </p:nvSpPr>
        <p:spPr>
          <a:xfrm>
            <a:off x="9061704" y="1316736"/>
            <a:ext cx="676656" cy="292608"/>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a:t>
            </a:r>
            <a:endParaRPr lang="en-US" sz="1400" dirty="0"/>
          </a:p>
        </p:txBody>
      </p:sp>
      <p:sp>
        <p:nvSpPr>
          <p:cNvPr id="181" name="Text 179"/>
          <p:cNvSpPr txBox="1"/>
          <p:nvPr/>
        </p:nvSpPr>
        <p:spPr>
          <a:xfrm>
            <a:off x="9738360" y="1316736"/>
            <a:ext cx="786384" cy="292608"/>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ELR</a:t>
            </a:r>
            <a:endParaRPr lang="en-US" sz="1400" dirty="0"/>
          </a:p>
        </p:txBody>
      </p:sp>
      <p:sp>
        <p:nvSpPr>
          <p:cNvPr id="182" name="Text 180"/>
          <p:cNvSpPr txBox="1"/>
          <p:nvPr/>
        </p:nvSpPr>
        <p:spPr>
          <a:xfrm>
            <a:off x="10524744" y="1316736"/>
            <a:ext cx="841248" cy="292608"/>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70% TGT</a:t>
            </a:r>
            <a:endParaRPr lang="en-US" sz="1400" dirty="0"/>
          </a:p>
        </p:txBody>
      </p:sp>
      <p:sp>
        <p:nvSpPr>
          <p:cNvPr id="183" name="Shape 181"/>
          <p:cNvSpPr/>
          <p:nvPr/>
        </p:nvSpPr>
        <p:spPr>
          <a:xfrm>
            <a:off x="3034261" y="1700784"/>
            <a:ext cx="14630" cy="4005072"/>
          </a:xfrm>
          <a:prstGeom prst="rect">
            <a:avLst/>
          </a:prstGeom>
          <a:solidFill>
            <a:srgbClr val="0B2C4A"/>
          </a:solidFill>
          <a:ln/>
        </p:spPr>
      </p:sp>
      <p:sp>
        <p:nvSpPr>
          <p:cNvPr id="184" name="Text 182"/>
          <p:cNvSpPr txBox="1"/>
          <p:nvPr/>
        </p:nvSpPr>
        <p:spPr>
          <a:xfrm>
            <a:off x="2492936" y="1316736"/>
            <a:ext cx="1097280" cy="292608"/>
          </a:xfrm>
          <a:prstGeom prst="rect">
            <a:avLst/>
          </a:prstGeom>
          <a:noFill/>
          <a:ln/>
        </p:spPr>
        <p:txBody>
          <a:bodyPr wrap="none" lIns="0" tIns="0" rIns="0" bIns="0" rtlCol="0" anchor="ctr"/>
          <a:lstStyle/>
          <a:p>
            <a:pPr algn="ctr" indent="0" marL="0">
              <a:buNone/>
            </a:pPr>
            <a:r>
              <a:rPr lang="en-US" sz="1400" b="1" dirty="0">
                <a:solidFill>
                  <a:srgbClr val="0B2C4A"/>
                </a:solidFill>
                <a:latin typeface="Inter" pitchFamily="34" charset="0"/>
                <a:ea typeface="Inter" pitchFamily="34" charset="-122"/>
                <a:cs typeface="Inter" pitchFamily="34" charset="-120"/>
              </a:rPr>
              <a:t>70.0% LINE</a:t>
            </a:r>
            <a:endParaRPr lang="en-US" sz="1400" dirty="0"/>
          </a:p>
        </p:txBody>
      </p:sp>
      <p:sp>
        <p:nvSpPr>
          <p:cNvPr id="185" name="Shape 183"/>
          <p:cNvSpPr/>
          <p:nvPr/>
        </p:nvSpPr>
        <p:spPr>
          <a:xfrm>
            <a:off x="8584669" y="1700784"/>
            <a:ext cx="14630" cy="4005072"/>
          </a:xfrm>
          <a:prstGeom prst="rect">
            <a:avLst/>
          </a:prstGeom>
          <a:solidFill>
            <a:srgbClr val="0B2C4A"/>
          </a:solidFill>
          <a:ln/>
        </p:spPr>
      </p:sp>
      <p:sp>
        <p:nvSpPr>
          <p:cNvPr id="186" name="Text 184"/>
          <p:cNvSpPr txBox="1"/>
          <p:nvPr/>
        </p:nvSpPr>
        <p:spPr>
          <a:xfrm>
            <a:off x="8043344" y="1316736"/>
            <a:ext cx="1097280" cy="292608"/>
          </a:xfrm>
          <a:prstGeom prst="rect">
            <a:avLst/>
          </a:prstGeom>
          <a:noFill/>
          <a:ln/>
        </p:spPr>
        <p:txBody>
          <a:bodyPr wrap="none" lIns="0" tIns="0" rIns="0" bIns="0" rtlCol="0" anchor="ctr"/>
          <a:lstStyle/>
          <a:p>
            <a:pPr algn="ctr" indent="0" marL="0">
              <a:buNone/>
            </a:pPr>
            <a:r>
              <a:rPr lang="en-US" sz="1400" b="1" dirty="0">
                <a:solidFill>
                  <a:srgbClr val="0B2C4A"/>
                </a:solidFill>
                <a:latin typeface="Inter" pitchFamily="34" charset="0"/>
                <a:ea typeface="Inter" pitchFamily="34" charset="-122"/>
                <a:cs typeface="Inter" pitchFamily="34" charset="-120"/>
              </a:rPr>
              <a:t>70.0% LINE</a:t>
            </a:r>
            <a:endParaRPr lang="en-US" sz="1400" dirty="0"/>
          </a:p>
        </p:txBody>
      </p:sp>
      <p:sp>
        <p:nvSpPr>
          <p:cNvPr id="187" name="Shape 185"/>
          <p:cNvSpPr/>
          <p:nvPr/>
        </p:nvSpPr>
        <p:spPr>
          <a:xfrm>
            <a:off x="457200" y="5961888"/>
            <a:ext cx="11274552" cy="548640"/>
          </a:xfrm>
          <a:prstGeom prst="rect">
            <a:avLst/>
          </a:prstGeom>
          <a:solidFill>
            <a:srgbClr val="EDF4FA"/>
          </a:solidFill>
          <a:ln/>
        </p:spPr>
      </p:sp>
      <p:sp>
        <p:nvSpPr>
          <p:cNvPr id="188" name="Text 186"/>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Jul–Sep: 25 of 33 stores at or above 70% of door rate. CADILLAC runs $175.47 against a $199.50 target.</a:t>
            </a:r>
            <a:endParaRPr lang="en-US" sz="1600" dirty="0"/>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ELR % of Door Rate</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316736"/>
            <a:ext cx="2761488" cy="32918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LABOR GRID · 17 STORES</a:t>
            </a:r>
            <a:endParaRPr lang="en-US" sz="1400" dirty="0"/>
          </a:p>
        </p:txBody>
      </p:sp>
      <p:sp>
        <p:nvSpPr>
          <p:cNvPr id="7" name="Text 5"/>
          <p:cNvSpPr txBox="1"/>
          <p:nvPr/>
        </p:nvSpPr>
        <p:spPr>
          <a:xfrm>
            <a:off x="3547872" y="1316736"/>
            <a:ext cx="74980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a:t>
            </a:r>
            <a:endParaRPr lang="en-US" sz="1400" dirty="0"/>
          </a:p>
        </p:txBody>
      </p:sp>
      <p:sp>
        <p:nvSpPr>
          <p:cNvPr id="8" name="Text 6"/>
          <p:cNvSpPr txBox="1"/>
          <p:nvPr/>
        </p:nvSpPr>
        <p:spPr>
          <a:xfrm>
            <a:off x="4297680" y="1316736"/>
            <a:ext cx="786384"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ELR</a:t>
            </a:r>
            <a:endParaRPr lang="en-US" sz="1400" dirty="0"/>
          </a:p>
        </p:txBody>
      </p:sp>
      <p:sp>
        <p:nvSpPr>
          <p:cNvPr id="9" name="Text 7"/>
          <p:cNvSpPr txBox="1"/>
          <p:nvPr/>
        </p:nvSpPr>
        <p:spPr>
          <a:xfrm>
            <a:off x="5084064" y="1316736"/>
            <a:ext cx="786384"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DOOR</a:t>
            </a:r>
            <a:endParaRPr lang="en-US" sz="1400" dirty="0"/>
          </a:p>
        </p:txBody>
      </p:sp>
      <p:sp>
        <p:nvSpPr>
          <p:cNvPr id="10" name="Text 8"/>
          <p:cNvSpPr txBox="1"/>
          <p:nvPr/>
        </p:nvSpPr>
        <p:spPr>
          <a:xfrm>
            <a:off x="658368" y="175564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11" name="Shape 9"/>
          <p:cNvSpPr/>
          <p:nvPr/>
        </p:nvSpPr>
        <p:spPr>
          <a:xfrm>
            <a:off x="2651760" y="1811020"/>
            <a:ext cx="841248" cy="110744"/>
          </a:xfrm>
          <a:prstGeom prst="rect">
            <a:avLst/>
          </a:prstGeom>
          <a:solidFill>
            <a:srgbClr val="12A566"/>
          </a:solidFill>
          <a:ln/>
        </p:spPr>
      </p:sp>
      <p:sp>
        <p:nvSpPr>
          <p:cNvPr id="12" name="Text 10"/>
          <p:cNvSpPr txBox="1"/>
          <p:nvPr/>
        </p:nvSpPr>
        <p:spPr>
          <a:xfrm>
            <a:off x="3547872" y="1755648"/>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103.4%</a:t>
            </a:r>
            <a:endParaRPr lang="en-US" sz="1300" dirty="0"/>
          </a:p>
        </p:txBody>
      </p:sp>
      <p:sp>
        <p:nvSpPr>
          <p:cNvPr id="13" name="Text 11"/>
          <p:cNvSpPr txBox="1"/>
          <p:nvPr/>
        </p:nvSpPr>
        <p:spPr>
          <a:xfrm>
            <a:off x="4297680" y="1755648"/>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$244.12</a:t>
            </a:r>
            <a:endParaRPr lang="en-US" sz="1300" dirty="0"/>
          </a:p>
        </p:txBody>
      </p:sp>
      <p:sp>
        <p:nvSpPr>
          <p:cNvPr id="14" name="Text 12"/>
          <p:cNvSpPr txBox="1"/>
          <p:nvPr/>
        </p:nvSpPr>
        <p:spPr>
          <a:xfrm>
            <a:off x="5084064" y="1755648"/>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$235.87</a:t>
            </a:r>
            <a:endParaRPr lang="en-US" sz="1300" dirty="0"/>
          </a:p>
        </p:txBody>
      </p:sp>
      <p:sp>
        <p:nvSpPr>
          <p:cNvPr id="15" name="Text 13"/>
          <p:cNvSpPr txBox="1"/>
          <p:nvPr/>
        </p:nvSpPr>
        <p:spPr>
          <a:xfrm>
            <a:off x="658368" y="197713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16" name="Shape 14"/>
          <p:cNvSpPr/>
          <p:nvPr/>
        </p:nvSpPr>
        <p:spPr>
          <a:xfrm>
            <a:off x="2651760" y="2032508"/>
            <a:ext cx="661778" cy="110744"/>
          </a:xfrm>
          <a:prstGeom prst="rect">
            <a:avLst/>
          </a:prstGeom>
          <a:solidFill>
            <a:srgbClr val="12A566"/>
          </a:solidFill>
          <a:ln/>
        </p:spPr>
      </p:sp>
      <p:sp>
        <p:nvSpPr>
          <p:cNvPr id="17" name="Text 15"/>
          <p:cNvSpPr txBox="1"/>
          <p:nvPr/>
        </p:nvSpPr>
        <p:spPr>
          <a:xfrm>
            <a:off x="3547872" y="1977136"/>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89.9%</a:t>
            </a:r>
            <a:endParaRPr lang="en-US" sz="1300" dirty="0"/>
          </a:p>
        </p:txBody>
      </p:sp>
      <p:sp>
        <p:nvSpPr>
          <p:cNvPr id="18" name="Text 16"/>
          <p:cNvSpPr txBox="1"/>
          <p:nvPr/>
        </p:nvSpPr>
        <p:spPr>
          <a:xfrm>
            <a:off x="4297680" y="1977136"/>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$161.80</a:t>
            </a:r>
            <a:endParaRPr lang="en-US" sz="1300" dirty="0"/>
          </a:p>
        </p:txBody>
      </p:sp>
      <p:sp>
        <p:nvSpPr>
          <p:cNvPr id="19" name="Text 17"/>
          <p:cNvSpPr txBox="1"/>
          <p:nvPr/>
        </p:nvSpPr>
        <p:spPr>
          <a:xfrm>
            <a:off x="5084064" y="1977136"/>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$179.87</a:t>
            </a:r>
            <a:endParaRPr lang="en-US" sz="1300" dirty="0"/>
          </a:p>
        </p:txBody>
      </p:sp>
      <p:sp>
        <p:nvSpPr>
          <p:cNvPr id="20" name="Text 18"/>
          <p:cNvSpPr txBox="1"/>
          <p:nvPr/>
        </p:nvSpPr>
        <p:spPr>
          <a:xfrm>
            <a:off x="658368" y="219862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21" name="Shape 19"/>
          <p:cNvSpPr/>
          <p:nvPr/>
        </p:nvSpPr>
        <p:spPr>
          <a:xfrm>
            <a:off x="2651760" y="2253996"/>
            <a:ext cx="659376" cy="110744"/>
          </a:xfrm>
          <a:prstGeom prst="rect">
            <a:avLst/>
          </a:prstGeom>
          <a:solidFill>
            <a:srgbClr val="12A566"/>
          </a:solidFill>
          <a:ln/>
        </p:spPr>
      </p:sp>
      <p:sp>
        <p:nvSpPr>
          <p:cNvPr id="22" name="Text 20"/>
          <p:cNvSpPr txBox="1"/>
          <p:nvPr/>
        </p:nvSpPr>
        <p:spPr>
          <a:xfrm>
            <a:off x="3547872" y="2198624"/>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89.7%</a:t>
            </a:r>
            <a:endParaRPr lang="en-US" sz="1300" dirty="0"/>
          </a:p>
        </p:txBody>
      </p:sp>
      <p:sp>
        <p:nvSpPr>
          <p:cNvPr id="23" name="Text 21"/>
          <p:cNvSpPr txBox="1"/>
          <p:nvPr/>
        </p:nvSpPr>
        <p:spPr>
          <a:xfrm>
            <a:off x="4297680" y="2198624"/>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$165.96</a:t>
            </a:r>
            <a:endParaRPr lang="en-US" sz="1300" dirty="0"/>
          </a:p>
        </p:txBody>
      </p:sp>
      <p:sp>
        <p:nvSpPr>
          <p:cNvPr id="24" name="Text 22"/>
          <p:cNvSpPr txBox="1"/>
          <p:nvPr/>
        </p:nvSpPr>
        <p:spPr>
          <a:xfrm>
            <a:off x="5084064" y="2198624"/>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$184.87</a:t>
            </a:r>
            <a:endParaRPr lang="en-US" sz="1300" dirty="0"/>
          </a:p>
        </p:txBody>
      </p:sp>
      <p:sp>
        <p:nvSpPr>
          <p:cNvPr id="25" name="Text 23"/>
          <p:cNvSpPr txBox="1"/>
          <p:nvPr/>
        </p:nvSpPr>
        <p:spPr>
          <a:xfrm>
            <a:off x="658368" y="2420112"/>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26" name="Shape 24"/>
          <p:cNvSpPr/>
          <p:nvPr/>
        </p:nvSpPr>
        <p:spPr>
          <a:xfrm>
            <a:off x="2651760" y="2475484"/>
            <a:ext cx="642710" cy="110744"/>
          </a:xfrm>
          <a:prstGeom prst="rect">
            <a:avLst/>
          </a:prstGeom>
          <a:solidFill>
            <a:srgbClr val="12A566"/>
          </a:solidFill>
          <a:ln/>
        </p:spPr>
      </p:sp>
      <p:sp>
        <p:nvSpPr>
          <p:cNvPr id="27" name="Text 25"/>
          <p:cNvSpPr txBox="1"/>
          <p:nvPr/>
        </p:nvSpPr>
        <p:spPr>
          <a:xfrm>
            <a:off x="3547872" y="2420112"/>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88.5%</a:t>
            </a:r>
            <a:endParaRPr lang="en-US" sz="1300" dirty="0"/>
          </a:p>
        </p:txBody>
      </p:sp>
      <p:sp>
        <p:nvSpPr>
          <p:cNvPr id="28" name="Text 26"/>
          <p:cNvSpPr txBox="1"/>
          <p:nvPr/>
        </p:nvSpPr>
        <p:spPr>
          <a:xfrm>
            <a:off x="4297680" y="2420112"/>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$199.04</a:t>
            </a:r>
            <a:endParaRPr lang="en-US" sz="1300" dirty="0"/>
          </a:p>
        </p:txBody>
      </p:sp>
      <p:sp>
        <p:nvSpPr>
          <p:cNvPr id="29" name="Text 27"/>
          <p:cNvSpPr txBox="1"/>
          <p:nvPr/>
        </p:nvSpPr>
        <p:spPr>
          <a:xfrm>
            <a:off x="5084064" y="2420112"/>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$224.87</a:t>
            </a:r>
            <a:endParaRPr lang="en-US" sz="1300" dirty="0"/>
          </a:p>
        </p:txBody>
      </p:sp>
      <p:sp>
        <p:nvSpPr>
          <p:cNvPr id="30" name="Text 28"/>
          <p:cNvSpPr txBox="1"/>
          <p:nvPr/>
        </p:nvSpPr>
        <p:spPr>
          <a:xfrm>
            <a:off x="658368" y="2641600"/>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31" name="Shape 29"/>
          <p:cNvSpPr/>
          <p:nvPr/>
        </p:nvSpPr>
        <p:spPr>
          <a:xfrm>
            <a:off x="2651760" y="2696972"/>
            <a:ext cx="523587" cy="110744"/>
          </a:xfrm>
          <a:prstGeom prst="rect">
            <a:avLst/>
          </a:prstGeom>
          <a:solidFill>
            <a:srgbClr val="12A566"/>
          </a:solidFill>
          <a:ln/>
        </p:spPr>
      </p:sp>
      <p:sp>
        <p:nvSpPr>
          <p:cNvPr id="32" name="Text 30"/>
          <p:cNvSpPr txBox="1"/>
          <p:nvPr/>
        </p:nvSpPr>
        <p:spPr>
          <a:xfrm>
            <a:off x="3547872" y="2641600"/>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79.5%</a:t>
            </a:r>
            <a:endParaRPr lang="en-US" sz="1300" dirty="0"/>
          </a:p>
        </p:txBody>
      </p:sp>
      <p:sp>
        <p:nvSpPr>
          <p:cNvPr id="33" name="Text 31"/>
          <p:cNvSpPr txBox="1"/>
          <p:nvPr/>
        </p:nvSpPr>
        <p:spPr>
          <a:xfrm>
            <a:off x="4297680" y="2641600"/>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$234.48</a:t>
            </a:r>
            <a:endParaRPr lang="en-US" sz="1300" dirty="0"/>
          </a:p>
        </p:txBody>
      </p:sp>
      <p:sp>
        <p:nvSpPr>
          <p:cNvPr id="34" name="Text 32"/>
          <p:cNvSpPr txBox="1"/>
          <p:nvPr/>
        </p:nvSpPr>
        <p:spPr>
          <a:xfrm>
            <a:off x="5084064" y="2641600"/>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$294.87</a:t>
            </a:r>
            <a:endParaRPr lang="en-US" sz="1300" dirty="0"/>
          </a:p>
        </p:txBody>
      </p:sp>
      <p:sp>
        <p:nvSpPr>
          <p:cNvPr id="35" name="Text 33"/>
          <p:cNvSpPr txBox="1"/>
          <p:nvPr/>
        </p:nvSpPr>
        <p:spPr>
          <a:xfrm>
            <a:off x="658368" y="286308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36" name="Shape 34"/>
          <p:cNvSpPr/>
          <p:nvPr/>
        </p:nvSpPr>
        <p:spPr>
          <a:xfrm>
            <a:off x="2651760" y="2918460"/>
            <a:ext cx="515855" cy="110744"/>
          </a:xfrm>
          <a:prstGeom prst="rect">
            <a:avLst/>
          </a:prstGeom>
          <a:solidFill>
            <a:srgbClr val="12A566"/>
          </a:solidFill>
          <a:ln/>
        </p:spPr>
      </p:sp>
      <p:sp>
        <p:nvSpPr>
          <p:cNvPr id="37" name="Text 35"/>
          <p:cNvSpPr txBox="1"/>
          <p:nvPr/>
        </p:nvSpPr>
        <p:spPr>
          <a:xfrm>
            <a:off x="3547872" y="2863088"/>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78.9%</a:t>
            </a:r>
            <a:endParaRPr lang="en-US" sz="1300" dirty="0"/>
          </a:p>
        </p:txBody>
      </p:sp>
      <p:sp>
        <p:nvSpPr>
          <p:cNvPr id="38" name="Text 36"/>
          <p:cNvSpPr txBox="1"/>
          <p:nvPr/>
        </p:nvSpPr>
        <p:spPr>
          <a:xfrm>
            <a:off x="4297680" y="2863088"/>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$165.67</a:t>
            </a:r>
            <a:endParaRPr lang="en-US" sz="1300" dirty="0"/>
          </a:p>
        </p:txBody>
      </p:sp>
      <p:sp>
        <p:nvSpPr>
          <p:cNvPr id="39" name="Text 37"/>
          <p:cNvSpPr txBox="1"/>
          <p:nvPr/>
        </p:nvSpPr>
        <p:spPr>
          <a:xfrm>
            <a:off x="5084064" y="2863088"/>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$209.87</a:t>
            </a:r>
            <a:endParaRPr lang="en-US" sz="1300" dirty="0"/>
          </a:p>
        </p:txBody>
      </p:sp>
      <p:sp>
        <p:nvSpPr>
          <p:cNvPr id="40" name="Text 38"/>
          <p:cNvSpPr txBox="1"/>
          <p:nvPr/>
        </p:nvSpPr>
        <p:spPr>
          <a:xfrm>
            <a:off x="658368" y="308457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41" name="Shape 39"/>
          <p:cNvSpPr/>
          <p:nvPr/>
        </p:nvSpPr>
        <p:spPr>
          <a:xfrm>
            <a:off x="2651760" y="3139948"/>
            <a:ext cx="510186" cy="110744"/>
          </a:xfrm>
          <a:prstGeom prst="rect">
            <a:avLst/>
          </a:prstGeom>
          <a:solidFill>
            <a:srgbClr val="12A566"/>
          </a:solidFill>
          <a:ln/>
        </p:spPr>
      </p:sp>
      <p:sp>
        <p:nvSpPr>
          <p:cNvPr id="42" name="Text 40"/>
          <p:cNvSpPr txBox="1"/>
          <p:nvPr/>
        </p:nvSpPr>
        <p:spPr>
          <a:xfrm>
            <a:off x="3547872" y="3084576"/>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78.5%</a:t>
            </a:r>
            <a:endParaRPr lang="en-US" sz="1300" dirty="0"/>
          </a:p>
        </p:txBody>
      </p:sp>
      <p:sp>
        <p:nvSpPr>
          <p:cNvPr id="43" name="Text 41"/>
          <p:cNvSpPr txBox="1"/>
          <p:nvPr/>
        </p:nvSpPr>
        <p:spPr>
          <a:xfrm>
            <a:off x="4297680" y="3084576"/>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$160.84</a:t>
            </a:r>
            <a:endParaRPr lang="en-US" sz="1300" dirty="0"/>
          </a:p>
        </p:txBody>
      </p:sp>
      <p:sp>
        <p:nvSpPr>
          <p:cNvPr id="44" name="Text 42"/>
          <p:cNvSpPr txBox="1"/>
          <p:nvPr/>
        </p:nvSpPr>
        <p:spPr>
          <a:xfrm>
            <a:off x="5084064" y="3084576"/>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$204.87</a:t>
            </a:r>
            <a:endParaRPr lang="en-US" sz="1300" dirty="0"/>
          </a:p>
        </p:txBody>
      </p:sp>
      <p:sp>
        <p:nvSpPr>
          <p:cNvPr id="45" name="Text 43"/>
          <p:cNvSpPr txBox="1"/>
          <p:nvPr/>
        </p:nvSpPr>
        <p:spPr>
          <a:xfrm>
            <a:off x="658368" y="330606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46" name="Shape 44"/>
          <p:cNvSpPr/>
          <p:nvPr/>
        </p:nvSpPr>
        <p:spPr>
          <a:xfrm>
            <a:off x="2651760" y="3361436"/>
            <a:ext cx="486924" cy="110744"/>
          </a:xfrm>
          <a:prstGeom prst="rect">
            <a:avLst/>
          </a:prstGeom>
          <a:solidFill>
            <a:srgbClr val="12A566"/>
          </a:solidFill>
          <a:ln/>
        </p:spPr>
      </p:sp>
      <p:sp>
        <p:nvSpPr>
          <p:cNvPr id="47" name="Text 45"/>
          <p:cNvSpPr txBox="1"/>
          <p:nvPr/>
        </p:nvSpPr>
        <p:spPr>
          <a:xfrm>
            <a:off x="3547872" y="3306064"/>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76.7%</a:t>
            </a:r>
            <a:endParaRPr lang="en-US" sz="1300" dirty="0"/>
          </a:p>
        </p:txBody>
      </p:sp>
      <p:sp>
        <p:nvSpPr>
          <p:cNvPr id="48" name="Text 46"/>
          <p:cNvSpPr txBox="1"/>
          <p:nvPr/>
        </p:nvSpPr>
        <p:spPr>
          <a:xfrm>
            <a:off x="4297680" y="3306064"/>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$141.89</a:t>
            </a:r>
            <a:endParaRPr lang="en-US" sz="1300" dirty="0"/>
          </a:p>
        </p:txBody>
      </p:sp>
      <p:sp>
        <p:nvSpPr>
          <p:cNvPr id="49" name="Text 47"/>
          <p:cNvSpPr txBox="1"/>
          <p:nvPr/>
        </p:nvSpPr>
        <p:spPr>
          <a:xfrm>
            <a:off x="5084064" y="3306064"/>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$184.87</a:t>
            </a:r>
            <a:endParaRPr lang="en-US" sz="1300" dirty="0"/>
          </a:p>
        </p:txBody>
      </p:sp>
      <p:sp>
        <p:nvSpPr>
          <p:cNvPr id="50" name="Text 48"/>
          <p:cNvSpPr txBox="1"/>
          <p:nvPr/>
        </p:nvSpPr>
        <p:spPr>
          <a:xfrm>
            <a:off x="658368" y="3527552"/>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51" name="Shape 49"/>
          <p:cNvSpPr/>
          <p:nvPr/>
        </p:nvSpPr>
        <p:spPr>
          <a:xfrm>
            <a:off x="2651760" y="3582924"/>
            <a:ext cx="482951" cy="110744"/>
          </a:xfrm>
          <a:prstGeom prst="rect">
            <a:avLst/>
          </a:prstGeom>
          <a:solidFill>
            <a:srgbClr val="12A566"/>
          </a:solidFill>
          <a:ln/>
        </p:spPr>
      </p:sp>
      <p:sp>
        <p:nvSpPr>
          <p:cNvPr id="52" name="Text 50"/>
          <p:cNvSpPr txBox="1"/>
          <p:nvPr/>
        </p:nvSpPr>
        <p:spPr>
          <a:xfrm>
            <a:off x="3547872" y="3527552"/>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76.4%</a:t>
            </a:r>
            <a:endParaRPr lang="en-US" sz="1300" dirty="0"/>
          </a:p>
        </p:txBody>
      </p:sp>
      <p:sp>
        <p:nvSpPr>
          <p:cNvPr id="53" name="Text 51"/>
          <p:cNvSpPr txBox="1"/>
          <p:nvPr/>
        </p:nvSpPr>
        <p:spPr>
          <a:xfrm>
            <a:off x="4297680" y="3527552"/>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$266.72</a:t>
            </a:r>
            <a:endParaRPr lang="en-US" sz="1300" dirty="0"/>
          </a:p>
        </p:txBody>
      </p:sp>
      <p:sp>
        <p:nvSpPr>
          <p:cNvPr id="54" name="Text 52"/>
          <p:cNvSpPr txBox="1"/>
          <p:nvPr/>
        </p:nvSpPr>
        <p:spPr>
          <a:xfrm>
            <a:off x="5084064" y="3527552"/>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$348.87</a:t>
            </a:r>
            <a:endParaRPr lang="en-US" sz="1300" dirty="0"/>
          </a:p>
        </p:txBody>
      </p:sp>
      <p:sp>
        <p:nvSpPr>
          <p:cNvPr id="55" name="Text 53"/>
          <p:cNvSpPr txBox="1"/>
          <p:nvPr/>
        </p:nvSpPr>
        <p:spPr>
          <a:xfrm>
            <a:off x="658368" y="3749040"/>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56" name="Shape 54"/>
          <p:cNvSpPr/>
          <p:nvPr/>
        </p:nvSpPr>
        <p:spPr>
          <a:xfrm>
            <a:off x="2651760" y="3804412"/>
            <a:ext cx="469589" cy="110744"/>
          </a:xfrm>
          <a:prstGeom prst="rect">
            <a:avLst/>
          </a:prstGeom>
          <a:solidFill>
            <a:srgbClr val="12A566"/>
          </a:solidFill>
          <a:ln/>
        </p:spPr>
      </p:sp>
      <p:sp>
        <p:nvSpPr>
          <p:cNvPr id="57" name="Text 55"/>
          <p:cNvSpPr txBox="1"/>
          <p:nvPr/>
        </p:nvSpPr>
        <p:spPr>
          <a:xfrm>
            <a:off x="3547872" y="3749040"/>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75.4%</a:t>
            </a:r>
            <a:endParaRPr lang="en-US" sz="1300" dirty="0"/>
          </a:p>
        </p:txBody>
      </p:sp>
      <p:sp>
        <p:nvSpPr>
          <p:cNvPr id="58" name="Text 56"/>
          <p:cNvSpPr txBox="1"/>
          <p:nvPr/>
        </p:nvSpPr>
        <p:spPr>
          <a:xfrm>
            <a:off x="4297680" y="3749040"/>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$233.88</a:t>
            </a:r>
            <a:endParaRPr lang="en-US" sz="1300" dirty="0"/>
          </a:p>
        </p:txBody>
      </p:sp>
      <p:sp>
        <p:nvSpPr>
          <p:cNvPr id="59" name="Text 57"/>
          <p:cNvSpPr txBox="1"/>
          <p:nvPr/>
        </p:nvSpPr>
        <p:spPr>
          <a:xfrm>
            <a:off x="5084064" y="3749040"/>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$310.00</a:t>
            </a:r>
            <a:endParaRPr lang="en-US" sz="1300" dirty="0"/>
          </a:p>
        </p:txBody>
      </p:sp>
      <p:sp>
        <p:nvSpPr>
          <p:cNvPr id="60" name="Text 58"/>
          <p:cNvSpPr txBox="1"/>
          <p:nvPr/>
        </p:nvSpPr>
        <p:spPr>
          <a:xfrm>
            <a:off x="658368" y="397052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61" name="Shape 59"/>
          <p:cNvSpPr/>
          <p:nvPr/>
        </p:nvSpPr>
        <p:spPr>
          <a:xfrm>
            <a:off x="2651760" y="4025900"/>
            <a:ext cx="465019" cy="110744"/>
          </a:xfrm>
          <a:prstGeom prst="rect">
            <a:avLst/>
          </a:prstGeom>
          <a:solidFill>
            <a:srgbClr val="12A566"/>
          </a:solidFill>
          <a:ln/>
        </p:spPr>
      </p:sp>
      <p:sp>
        <p:nvSpPr>
          <p:cNvPr id="62" name="Text 60"/>
          <p:cNvSpPr txBox="1"/>
          <p:nvPr/>
        </p:nvSpPr>
        <p:spPr>
          <a:xfrm>
            <a:off x="3547872" y="3970528"/>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75.1%</a:t>
            </a:r>
            <a:endParaRPr lang="en-US" sz="1300" dirty="0"/>
          </a:p>
        </p:txBody>
      </p:sp>
      <p:sp>
        <p:nvSpPr>
          <p:cNvPr id="63" name="Text 61"/>
          <p:cNvSpPr txBox="1"/>
          <p:nvPr/>
        </p:nvSpPr>
        <p:spPr>
          <a:xfrm>
            <a:off x="4297680" y="3970528"/>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$180.14</a:t>
            </a:r>
            <a:endParaRPr lang="en-US" sz="1300" dirty="0"/>
          </a:p>
        </p:txBody>
      </p:sp>
      <p:sp>
        <p:nvSpPr>
          <p:cNvPr id="64" name="Text 62"/>
          <p:cNvSpPr txBox="1"/>
          <p:nvPr/>
        </p:nvSpPr>
        <p:spPr>
          <a:xfrm>
            <a:off x="5084064" y="3970528"/>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$239.87</a:t>
            </a:r>
            <a:endParaRPr lang="en-US" sz="1300" dirty="0"/>
          </a:p>
        </p:txBody>
      </p:sp>
      <p:sp>
        <p:nvSpPr>
          <p:cNvPr id="65" name="Shape 63"/>
          <p:cNvSpPr/>
          <p:nvPr/>
        </p:nvSpPr>
        <p:spPr>
          <a:xfrm>
            <a:off x="603504" y="4192016"/>
            <a:ext cx="5285232" cy="212344"/>
          </a:xfrm>
          <a:prstGeom prst="rect">
            <a:avLst/>
          </a:prstGeom>
          <a:solidFill>
            <a:srgbClr val="EDF4FA"/>
          </a:solidFill>
          <a:ln/>
        </p:spPr>
      </p:sp>
      <p:sp>
        <p:nvSpPr>
          <p:cNvPr id="66" name="Text 64"/>
          <p:cNvSpPr txBox="1"/>
          <p:nvPr/>
        </p:nvSpPr>
        <p:spPr>
          <a:xfrm>
            <a:off x="658368" y="4192016"/>
            <a:ext cx="1920240" cy="221488"/>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GRID AVG</a:t>
            </a:r>
            <a:endParaRPr lang="en-US" sz="1300" dirty="0"/>
          </a:p>
        </p:txBody>
      </p:sp>
      <p:sp>
        <p:nvSpPr>
          <p:cNvPr id="67" name="Shape 65"/>
          <p:cNvSpPr/>
          <p:nvPr/>
        </p:nvSpPr>
        <p:spPr>
          <a:xfrm>
            <a:off x="2651760" y="4247388"/>
            <a:ext cx="449272" cy="110744"/>
          </a:xfrm>
          <a:prstGeom prst="rect">
            <a:avLst/>
          </a:prstGeom>
          <a:solidFill>
            <a:srgbClr val="0B2C4A"/>
          </a:solidFill>
          <a:ln/>
        </p:spPr>
      </p:sp>
      <p:sp>
        <p:nvSpPr>
          <p:cNvPr id="68" name="Text 66"/>
          <p:cNvSpPr txBox="1"/>
          <p:nvPr/>
        </p:nvSpPr>
        <p:spPr>
          <a:xfrm>
            <a:off x="3547872" y="4192016"/>
            <a:ext cx="749808" cy="22148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73.9%</a:t>
            </a:r>
            <a:endParaRPr lang="en-US" sz="1300" dirty="0"/>
          </a:p>
        </p:txBody>
      </p:sp>
      <p:sp>
        <p:nvSpPr>
          <p:cNvPr id="69" name="Text 67"/>
          <p:cNvSpPr txBox="1"/>
          <p:nvPr/>
        </p:nvSpPr>
        <p:spPr>
          <a:xfrm>
            <a:off x="4297680" y="4192016"/>
            <a:ext cx="786384" cy="22148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$168.93</a:t>
            </a:r>
            <a:endParaRPr lang="en-US" sz="1300" dirty="0"/>
          </a:p>
        </p:txBody>
      </p:sp>
      <p:sp>
        <p:nvSpPr>
          <p:cNvPr id="70" name="Text 68"/>
          <p:cNvSpPr txBox="1"/>
          <p:nvPr/>
        </p:nvSpPr>
        <p:spPr>
          <a:xfrm>
            <a:off x="5084064" y="4192016"/>
            <a:ext cx="786384" cy="22148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$228.55</a:t>
            </a:r>
            <a:endParaRPr lang="en-US" sz="1300" dirty="0"/>
          </a:p>
        </p:txBody>
      </p:sp>
      <p:sp>
        <p:nvSpPr>
          <p:cNvPr id="71" name="Text 69"/>
          <p:cNvSpPr txBox="1"/>
          <p:nvPr/>
        </p:nvSpPr>
        <p:spPr>
          <a:xfrm>
            <a:off x="658368" y="441350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72" name="Shape 70"/>
          <p:cNvSpPr/>
          <p:nvPr/>
        </p:nvSpPr>
        <p:spPr>
          <a:xfrm>
            <a:off x="2651760" y="4468876"/>
            <a:ext cx="439276" cy="110744"/>
          </a:xfrm>
          <a:prstGeom prst="rect">
            <a:avLst/>
          </a:prstGeom>
          <a:solidFill>
            <a:srgbClr val="12A566"/>
          </a:solidFill>
          <a:ln/>
        </p:spPr>
      </p:sp>
      <p:sp>
        <p:nvSpPr>
          <p:cNvPr id="73" name="Text 71"/>
          <p:cNvSpPr txBox="1"/>
          <p:nvPr/>
        </p:nvSpPr>
        <p:spPr>
          <a:xfrm>
            <a:off x="3547872" y="4413504"/>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73.1%</a:t>
            </a:r>
            <a:endParaRPr lang="en-US" sz="1300" dirty="0"/>
          </a:p>
        </p:txBody>
      </p:sp>
      <p:sp>
        <p:nvSpPr>
          <p:cNvPr id="74" name="Text 72"/>
          <p:cNvSpPr txBox="1"/>
          <p:nvPr/>
        </p:nvSpPr>
        <p:spPr>
          <a:xfrm>
            <a:off x="4297680" y="4413504"/>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$154.55</a:t>
            </a:r>
            <a:endParaRPr lang="en-US" sz="1300" dirty="0"/>
          </a:p>
        </p:txBody>
      </p:sp>
      <p:sp>
        <p:nvSpPr>
          <p:cNvPr id="75" name="Text 73"/>
          <p:cNvSpPr txBox="1"/>
          <p:nvPr/>
        </p:nvSpPr>
        <p:spPr>
          <a:xfrm>
            <a:off x="5084064" y="4413504"/>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$211.26</a:t>
            </a:r>
            <a:endParaRPr lang="en-US" sz="1300" dirty="0"/>
          </a:p>
        </p:txBody>
      </p:sp>
      <p:sp>
        <p:nvSpPr>
          <p:cNvPr id="76" name="Text 74"/>
          <p:cNvSpPr txBox="1"/>
          <p:nvPr/>
        </p:nvSpPr>
        <p:spPr>
          <a:xfrm>
            <a:off x="658368" y="4634992"/>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77" name="Shape 75"/>
          <p:cNvSpPr/>
          <p:nvPr/>
        </p:nvSpPr>
        <p:spPr>
          <a:xfrm>
            <a:off x="2651760" y="4690364"/>
            <a:ext cx="429617" cy="110744"/>
          </a:xfrm>
          <a:prstGeom prst="rect">
            <a:avLst/>
          </a:prstGeom>
          <a:solidFill>
            <a:srgbClr val="12A566"/>
          </a:solidFill>
          <a:ln/>
        </p:spPr>
      </p:sp>
      <p:sp>
        <p:nvSpPr>
          <p:cNvPr id="78" name="Text 76"/>
          <p:cNvSpPr txBox="1"/>
          <p:nvPr/>
        </p:nvSpPr>
        <p:spPr>
          <a:xfrm>
            <a:off x="3547872" y="4634992"/>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72.4%</a:t>
            </a:r>
            <a:endParaRPr lang="en-US" sz="1300" dirty="0"/>
          </a:p>
        </p:txBody>
      </p:sp>
      <p:sp>
        <p:nvSpPr>
          <p:cNvPr id="79" name="Text 77"/>
          <p:cNvSpPr txBox="1"/>
          <p:nvPr/>
        </p:nvSpPr>
        <p:spPr>
          <a:xfrm>
            <a:off x="4297680" y="4634992"/>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$153.45</a:t>
            </a:r>
            <a:endParaRPr lang="en-US" sz="1300" dirty="0"/>
          </a:p>
        </p:txBody>
      </p:sp>
      <p:sp>
        <p:nvSpPr>
          <p:cNvPr id="80" name="Text 78"/>
          <p:cNvSpPr txBox="1"/>
          <p:nvPr/>
        </p:nvSpPr>
        <p:spPr>
          <a:xfrm>
            <a:off x="5084064" y="4634992"/>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$211.87</a:t>
            </a:r>
            <a:endParaRPr lang="en-US" sz="1300" dirty="0"/>
          </a:p>
        </p:txBody>
      </p:sp>
      <p:sp>
        <p:nvSpPr>
          <p:cNvPr id="81" name="Text 79"/>
          <p:cNvSpPr txBox="1"/>
          <p:nvPr/>
        </p:nvSpPr>
        <p:spPr>
          <a:xfrm>
            <a:off x="658368" y="4856480"/>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82" name="Shape 80"/>
          <p:cNvSpPr/>
          <p:nvPr/>
        </p:nvSpPr>
        <p:spPr>
          <a:xfrm>
            <a:off x="2651760" y="4911852"/>
            <a:ext cx="406129" cy="110744"/>
          </a:xfrm>
          <a:prstGeom prst="rect">
            <a:avLst/>
          </a:prstGeom>
          <a:solidFill>
            <a:srgbClr val="12A566"/>
          </a:solidFill>
          <a:ln/>
        </p:spPr>
      </p:sp>
      <p:sp>
        <p:nvSpPr>
          <p:cNvPr id="83" name="Text 81"/>
          <p:cNvSpPr txBox="1"/>
          <p:nvPr/>
        </p:nvSpPr>
        <p:spPr>
          <a:xfrm>
            <a:off x="3547872" y="4856480"/>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70.6%</a:t>
            </a:r>
            <a:endParaRPr lang="en-US" sz="1300" dirty="0"/>
          </a:p>
        </p:txBody>
      </p:sp>
      <p:sp>
        <p:nvSpPr>
          <p:cNvPr id="84" name="Text 82"/>
          <p:cNvSpPr txBox="1"/>
          <p:nvPr/>
        </p:nvSpPr>
        <p:spPr>
          <a:xfrm>
            <a:off x="4297680" y="4856480"/>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$149.70</a:t>
            </a:r>
            <a:endParaRPr lang="en-US" sz="1300" dirty="0"/>
          </a:p>
        </p:txBody>
      </p:sp>
      <p:sp>
        <p:nvSpPr>
          <p:cNvPr id="85" name="Text 83"/>
          <p:cNvSpPr txBox="1"/>
          <p:nvPr/>
        </p:nvSpPr>
        <p:spPr>
          <a:xfrm>
            <a:off x="5084064" y="4856480"/>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$211.87</a:t>
            </a:r>
            <a:endParaRPr lang="en-US" sz="1300" dirty="0"/>
          </a:p>
        </p:txBody>
      </p:sp>
      <p:sp>
        <p:nvSpPr>
          <p:cNvPr id="86" name="Text 84"/>
          <p:cNvSpPr txBox="1"/>
          <p:nvPr/>
        </p:nvSpPr>
        <p:spPr>
          <a:xfrm>
            <a:off x="658368" y="507796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87" name="Shape 85"/>
          <p:cNvSpPr/>
          <p:nvPr/>
        </p:nvSpPr>
        <p:spPr>
          <a:xfrm>
            <a:off x="2651760" y="5133340"/>
            <a:ext cx="378253" cy="110744"/>
          </a:xfrm>
          <a:prstGeom prst="rect">
            <a:avLst/>
          </a:prstGeom>
          <a:solidFill>
            <a:srgbClr val="C2352F"/>
          </a:solidFill>
          <a:ln/>
        </p:spPr>
      </p:sp>
      <p:sp>
        <p:nvSpPr>
          <p:cNvPr id="88" name="Text 86"/>
          <p:cNvSpPr txBox="1"/>
          <p:nvPr/>
        </p:nvSpPr>
        <p:spPr>
          <a:xfrm>
            <a:off x="3547872" y="5077968"/>
            <a:ext cx="749808" cy="221488"/>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68.5%</a:t>
            </a:r>
            <a:endParaRPr lang="en-US" sz="1300" dirty="0"/>
          </a:p>
        </p:txBody>
      </p:sp>
      <p:sp>
        <p:nvSpPr>
          <p:cNvPr id="89" name="Text 87"/>
          <p:cNvSpPr txBox="1"/>
          <p:nvPr/>
        </p:nvSpPr>
        <p:spPr>
          <a:xfrm>
            <a:off x="4297680" y="5077968"/>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$150.72</a:t>
            </a:r>
            <a:endParaRPr lang="en-US" sz="1300" dirty="0"/>
          </a:p>
        </p:txBody>
      </p:sp>
      <p:sp>
        <p:nvSpPr>
          <p:cNvPr id="90" name="Text 88"/>
          <p:cNvSpPr txBox="1"/>
          <p:nvPr/>
        </p:nvSpPr>
        <p:spPr>
          <a:xfrm>
            <a:off x="5084064" y="5077968"/>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$219.87</a:t>
            </a:r>
            <a:endParaRPr lang="en-US" sz="1300" dirty="0"/>
          </a:p>
        </p:txBody>
      </p:sp>
      <p:sp>
        <p:nvSpPr>
          <p:cNvPr id="91" name="Text 89"/>
          <p:cNvSpPr txBox="1"/>
          <p:nvPr/>
        </p:nvSpPr>
        <p:spPr>
          <a:xfrm>
            <a:off x="658368" y="529945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92" name="Shape 90"/>
          <p:cNvSpPr/>
          <p:nvPr/>
        </p:nvSpPr>
        <p:spPr>
          <a:xfrm>
            <a:off x="2651760" y="5354828"/>
            <a:ext cx="331678" cy="110744"/>
          </a:xfrm>
          <a:prstGeom prst="rect">
            <a:avLst/>
          </a:prstGeom>
          <a:solidFill>
            <a:srgbClr val="C2352F"/>
          </a:solidFill>
          <a:ln/>
        </p:spPr>
      </p:sp>
      <p:sp>
        <p:nvSpPr>
          <p:cNvPr id="93" name="Text 91"/>
          <p:cNvSpPr txBox="1"/>
          <p:nvPr/>
        </p:nvSpPr>
        <p:spPr>
          <a:xfrm>
            <a:off x="3547872" y="5299456"/>
            <a:ext cx="749808" cy="221488"/>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65.0%</a:t>
            </a:r>
            <a:endParaRPr lang="en-US" sz="1300" dirty="0"/>
          </a:p>
        </p:txBody>
      </p:sp>
      <p:sp>
        <p:nvSpPr>
          <p:cNvPr id="94" name="Text 92"/>
          <p:cNvSpPr txBox="1"/>
          <p:nvPr/>
        </p:nvSpPr>
        <p:spPr>
          <a:xfrm>
            <a:off x="4297680" y="5299456"/>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$146.25</a:t>
            </a:r>
            <a:endParaRPr lang="en-US" sz="1300" dirty="0"/>
          </a:p>
        </p:txBody>
      </p:sp>
      <p:sp>
        <p:nvSpPr>
          <p:cNvPr id="95" name="Text 93"/>
          <p:cNvSpPr txBox="1"/>
          <p:nvPr/>
        </p:nvSpPr>
        <p:spPr>
          <a:xfrm>
            <a:off x="5084064" y="5299456"/>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$224.87</a:t>
            </a:r>
            <a:endParaRPr lang="en-US" sz="1300" dirty="0"/>
          </a:p>
        </p:txBody>
      </p:sp>
      <p:sp>
        <p:nvSpPr>
          <p:cNvPr id="96" name="Text 94"/>
          <p:cNvSpPr txBox="1"/>
          <p:nvPr/>
        </p:nvSpPr>
        <p:spPr>
          <a:xfrm>
            <a:off x="658368" y="552094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97" name="Shape 95"/>
          <p:cNvSpPr/>
          <p:nvPr/>
        </p:nvSpPr>
        <p:spPr>
          <a:xfrm>
            <a:off x="2651760" y="5576316"/>
            <a:ext cx="285765" cy="110744"/>
          </a:xfrm>
          <a:prstGeom prst="rect">
            <a:avLst/>
          </a:prstGeom>
          <a:solidFill>
            <a:srgbClr val="C2352F"/>
          </a:solidFill>
          <a:ln/>
        </p:spPr>
      </p:sp>
      <p:sp>
        <p:nvSpPr>
          <p:cNvPr id="98" name="Text 96"/>
          <p:cNvSpPr txBox="1"/>
          <p:nvPr/>
        </p:nvSpPr>
        <p:spPr>
          <a:xfrm>
            <a:off x="3547872" y="5520944"/>
            <a:ext cx="749808" cy="221488"/>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61.5%</a:t>
            </a:r>
            <a:endParaRPr lang="en-US" sz="1300" dirty="0"/>
          </a:p>
        </p:txBody>
      </p:sp>
      <p:sp>
        <p:nvSpPr>
          <p:cNvPr id="99" name="Text 97"/>
          <p:cNvSpPr txBox="1"/>
          <p:nvPr/>
        </p:nvSpPr>
        <p:spPr>
          <a:xfrm>
            <a:off x="4297680" y="5520944"/>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$175.47</a:t>
            </a:r>
            <a:endParaRPr lang="en-US" sz="1300" dirty="0"/>
          </a:p>
        </p:txBody>
      </p:sp>
      <p:sp>
        <p:nvSpPr>
          <p:cNvPr id="100" name="Text 98"/>
          <p:cNvSpPr txBox="1"/>
          <p:nvPr/>
        </p:nvSpPr>
        <p:spPr>
          <a:xfrm>
            <a:off x="5084064" y="5520944"/>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$285.00</a:t>
            </a:r>
            <a:endParaRPr lang="en-US" sz="1300" dirty="0"/>
          </a:p>
        </p:txBody>
      </p:sp>
      <p:sp>
        <p:nvSpPr>
          <p:cNvPr id="101" name="Shape 99"/>
          <p:cNvSpPr/>
          <p:nvPr/>
        </p:nvSpPr>
        <p:spPr>
          <a:xfrm>
            <a:off x="3041893" y="1755648"/>
            <a:ext cx="14630" cy="3986784"/>
          </a:xfrm>
          <a:prstGeom prst="rect">
            <a:avLst/>
          </a:prstGeom>
          <a:solidFill>
            <a:srgbClr val="0B2C4A"/>
          </a:solidFill>
          <a:ln/>
        </p:spPr>
      </p:sp>
      <p:sp>
        <p:nvSpPr>
          <p:cNvPr id="102" name="Text 100"/>
          <p:cNvSpPr txBox="1"/>
          <p:nvPr/>
        </p:nvSpPr>
        <p:spPr>
          <a:xfrm>
            <a:off x="6208776" y="1316736"/>
            <a:ext cx="2761488" cy="32918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NO GRID · 16 STORES</a:t>
            </a:r>
            <a:endParaRPr lang="en-US" sz="1400" dirty="0"/>
          </a:p>
        </p:txBody>
      </p:sp>
      <p:sp>
        <p:nvSpPr>
          <p:cNvPr id="103" name="Text 101"/>
          <p:cNvSpPr txBox="1"/>
          <p:nvPr/>
        </p:nvSpPr>
        <p:spPr>
          <a:xfrm>
            <a:off x="9098280" y="1316736"/>
            <a:ext cx="74980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a:t>
            </a:r>
            <a:endParaRPr lang="en-US" sz="1400" dirty="0"/>
          </a:p>
        </p:txBody>
      </p:sp>
      <p:sp>
        <p:nvSpPr>
          <p:cNvPr id="104" name="Text 102"/>
          <p:cNvSpPr txBox="1"/>
          <p:nvPr/>
        </p:nvSpPr>
        <p:spPr>
          <a:xfrm>
            <a:off x="9848088" y="1316736"/>
            <a:ext cx="786384"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ELR</a:t>
            </a:r>
            <a:endParaRPr lang="en-US" sz="1400" dirty="0"/>
          </a:p>
        </p:txBody>
      </p:sp>
      <p:sp>
        <p:nvSpPr>
          <p:cNvPr id="105" name="Text 103"/>
          <p:cNvSpPr txBox="1"/>
          <p:nvPr/>
        </p:nvSpPr>
        <p:spPr>
          <a:xfrm>
            <a:off x="10634472" y="1316736"/>
            <a:ext cx="786384"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DOOR</a:t>
            </a:r>
            <a:endParaRPr lang="en-US" sz="1400" dirty="0"/>
          </a:p>
        </p:txBody>
      </p:sp>
      <p:sp>
        <p:nvSpPr>
          <p:cNvPr id="106" name="Text 104"/>
          <p:cNvSpPr txBox="1"/>
          <p:nvPr/>
        </p:nvSpPr>
        <p:spPr>
          <a:xfrm>
            <a:off x="6208776" y="175564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107" name="Shape 105"/>
          <p:cNvSpPr/>
          <p:nvPr/>
        </p:nvSpPr>
        <p:spPr>
          <a:xfrm>
            <a:off x="8202168" y="1811020"/>
            <a:ext cx="665301" cy="110744"/>
          </a:xfrm>
          <a:prstGeom prst="rect">
            <a:avLst/>
          </a:prstGeom>
          <a:solidFill>
            <a:srgbClr val="12A566"/>
          </a:solidFill>
          <a:ln/>
        </p:spPr>
      </p:sp>
      <p:sp>
        <p:nvSpPr>
          <p:cNvPr id="108" name="Text 106"/>
          <p:cNvSpPr txBox="1"/>
          <p:nvPr/>
        </p:nvSpPr>
        <p:spPr>
          <a:xfrm>
            <a:off x="9098280" y="1755648"/>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90.2%</a:t>
            </a:r>
            <a:endParaRPr lang="en-US" sz="1300" dirty="0"/>
          </a:p>
        </p:txBody>
      </p:sp>
      <p:sp>
        <p:nvSpPr>
          <p:cNvPr id="109" name="Text 107"/>
          <p:cNvSpPr txBox="1"/>
          <p:nvPr/>
        </p:nvSpPr>
        <p:spPr>
          <a:xfrm>
            <a:off x="9848088" y="1755648"/>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$225.50</a:t>
            </a:r>
            <a:endParaRPr lang="en-US" sz="1300" dirty="0"/>
          </a:p>
        </p:txBody>
      </p:sp>
      <p:sp>
        <p:nvSpPr>
          <p:cNvPr id="110" name="Text 108"/>
          <p:cNvSpPr txBox="1"/>
          <p:nvPr/>
        </p:nvSpPr>
        <p:spPr>
          <a:xfrm>
            <a:off x="10634472" y="1755648"/>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$249.95</a:t>
            </a:r>
            <a:endParaRPr lang="en-US" sz="1300" dirty="0"/>
          </a:p>
        </p:txBody>
      </p:sp>
      <p:sp>
        <p:nvSpPr>
          <p:cNvPr id="111" name="Text 109"/>
          <p:cNvSpPr txBox="1"/>
          <p:nvPr/>
        </p:nvSpPr>
        <p:spPr>
          <a:xfrm>
            <a:off x="6208776" y="197713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112" name="Shape 110"/>
          <p:cNvSpPr/>
          <p:nvPr/>
        </p:nvSpPr>
        <p:spPr>
          <a:xfrm>
            <a:off x="8202168" y="2032508"/>
            <a:ext cx="619626" cy="110744"/>
          </a:xfrm>
          <a:prstGeom prst="rect">
            <a:avLst/>
          </a:prstGeom>
          <a:solidFill>
            <a:srgbClr val="12A566"/>
          </a:solidFill>
          <a:ln/>
        </p:spPr>
      </p:sp>
      <p:sp>
        <p:nvSpPr>
          <p:cNvPr id="113" name="Text 111"/>
          <p:cNvSpPr txBox="1"/>
          <p:nvPr/>
        </p:nvSpPr>
        <p:spPr>
          <a:xfrm>
            <a:off x="9098280" y="1977136"/>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86.7%</a:t>
            </a:r>
            <a:endParaRPr lang="en-US" sz="1300" dirty="0"/>
          </a:p>
        </p:txBody>
      </p:sp>
      <p:sp>
        <p:nvSpPr>
          <p:cNvPr id="114" name="Text 112"/>
          <p:cNvSpPr txBox="1"/>
          <p:nvPr/>
        </p:nvSpPr>
        <p:spPr>
          <a:xfrm>
            <a:off x="9848088" y="1977136"/>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$238.62</a:t>
            </a:r>
            <a:endParaRPr lang="en-US" sz="1300" dirty="0"/>
          </a:p>
        </p:txBody>
      </p:sp>
      <p:sp>
        <p:nvSpPr>
          <p:cNvPr id="115" name="Text 113"/>
          <p:cNvSpPr txBox="1"/>
          <p:nvPr/>
        </p:nvSpPr>
        <p:spPr>
          <a:xfrm>
            <a:off x="10634472" y="1977136"/>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$275.00</a:t>
            </a:r>
            <a:endParaRPr lang="en-US" sz="1300" dirty="0"/>
          </a:p>
        </p:txBody>
      </p:sp>
      <p:sp>
        <p:nvSpPr>
          <p:cNvPr id="116" name="Text 114"/>
          <p:cNvSpPr txBox="1"/>
          <p:nvPr/>
        </p:nvSpPr>
        <p:spPr>
          <a:xfrm>
            <a:off x="6208776" y="219862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117" name="Shape 115"/>
          <p:cNvSpPr/>
          <p:nvPr/>
        </p:nvSpPr>
        <p:spPr>
          <a:xfrm>
            <a:off x="8202168" y="2253996"/>
            <a:ext cx="613635" cy="110744"/>
          </a:xfrm>
          <a:prstGeom prst="rect">
            <a:avLst/>
          </a:prstGeom>
          <a:solidFill>
            <a:srgbClr val="12A566"/>
          </a:solidFill>
          <a:ln/>
        </p:spPr>
      </p:sp>
      <p:sp>
        <p:nvSpPr>
          <p:cNvPr id="118" name="Text 116"/>
          <p:cNvSpPr txBox="1"/>
          <p:nvPr/>
        </p:nvSpPr>
        <p:spPr>
          <a:xfrm>
            <a:off x="9098280" y="2198624"/>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86.3%</a:t>
            </a:r>
            <a:endParaRPr lang="en-US" sz="1300" dirty="0"/>
          </a:p>
        </p:txBody>
      </p:sp>
      <p:sp>
        <p:nvSpPr>
          <p:cNvPr id="119" name="Text 117"/>
          <p:cNvSpPr txBox="1"/>
          <p:nvPr/>
        </p:nvSpPr>
        <p:spPr>
          <a:xfrm>
            <a:off x="9848088" y="2198624"/>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$159.69</a:t>
            </a:r>
            <a:endParaRPr lang="en-US" sz="1300" dirty="0"/>
          </a:p>
        </p:txBody>
      </p:sp>
      <p:sp>
        <p:nvSpPr>
          <p:cNvPr id="120" name="Text 118"/>
          <p:cNvSpPr txBox="1"/>
          <p:nvPr/>
        </p:nvSpPr>
        <p:spPr>
          <a:xfrm>
            <a:off x="10634472" y="2198624"/>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$185.00</a:t>
            </a:r>
            <a:endParaRPr lang="en-US" sz="1300" dirty="0"/>
          </a:p>
        </p:txBody>
      </p:sp>
      <p:sp>
        <p:nvSpPr>
          <p:cNvPr id="121" name="Text 119"/>
          <p:cNvSpPr txBox="1"/>
          <p:nvPr/>
        </p:nvSpPr>
        <p:spPr>
          <a:xfrm>
            <a:off x="6208776" y="2420112"/>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122" name="Shape 120"/>
          <p:cNvSpPr/>
          <p:nvPr/>
        </p:nvSpPr>
        <p:spPr>
          <a:xfrm>
            <a:off x="8202168" y="2475484"/>
            <a:ext cx="564915" cy="110744"/>
          </a:xfrm>
          <a:prstGeom prst="rect">
            <a:avLst/>
          </a:prstGeom>
          <a:solidFill>
            <a:srgbClr val="12A566"/>
          </a:solidFill>
          <a:ln/>
        </p:spPr>
      </p:sp>
      <p:sp>
        <p:nvSpPr>
          <p:cNvPr id="123" name="Text 121"/>
          <p:cNvSpPr txBox="1"/>
          <p:nvPr/>
        </p:nvSpPr>
        <p:spPr>
          <a:xfrm>
            <a:off x="9098280" y="2420112"/>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82.6%</a:t>
            </a:r>
            <a:endParaRPr lang="en-US" sz="1300" dirty="0"/>
          </a:p>
        </p:txBody>
      </p:sp>
      <p:sp>
        <p:nvSpPr>
          <p:cNvPr id="124" name="Text 122"/>
          <p:cNvSpPr txBox="1"/>
          <p:nvPr/>
        </p:nvSpPr>
        <p:spPr>
          <a:xfrm>
            <a:off x="9848088" y="2420112"/>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$147.93</a:t>
            </a:r>
            <a:endParaRPr lang="en-US" sz="1300" dirty="0"/>
          </a:p>
        </p:txBody>
      </p:sp>
      <p:sp>
        <p:nvSpPr>
          <p:cNvPr id="125" name="Text 123"/>
          <p:cNvSpPr txBox="1"/>
          <p:nvPr/>
        </p:nvSpPr>
        <p:spPr>
          <a:xfrm>
            <a:off x="10634472" y="2420112"/>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$179.00</a:t>
            </a:r>
            <a:endParaRPr lang="en-US" sz="1300" dirty="0"/>
          </a:p>
        </p:txBody>
      </p:sp>
      <p:sp>
        <p:nvSpPr>
          <p:cNvPr id="126" name="Text 124"/>
          <p:cNvSpPr txBox="1"/>
          <p:nvPr/>
        </p:nvSpPr>
        <p:spPr>
          <a:xfrm>
            <a:off x="6208776" y="2641600"/>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127" name="Shape 125"/>
          <p:cNvSpPr/>
          <p:nvPr/>
        </p:nvSpPr>
        <p:spPr>
          <a:xfrm>
            <a:off x="8202168" y="2696972"/>
            <a:ext cx="549859" cy="110744"/>
          </a:xfrm>
          <a:prstGeom prst="rect">
            <a:avLst/>
          </a:prstGeom>
          <a:solidFill>
            <a:srgbClr val="12A566"/>
          </a:solidFill>
          <a:ln/>
        </p:spPr>
      </p:sp>
      <p:sp>
        <p:nvSpPr>
          <p:cNvPr id="128" name="Text 126"/>
          <p:cNvSpPr txBox="1"/>
          <p:nvPr/>
        </p:nvSpPr>
        <p:spPr>
          <a:xfrm>
            <a:off x="9098280" y="2641600"/>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81.5%</a:t>
            </a:r>
            <a:endParaRPr lang="en-US" sz="1300" dirty="0"/>
          </a:p>
        </p:txBody>
      </p:sp>
      <p:sp>
        <p:nvSpPr>
          <p:cNvPr id="129" name="Text 127"/>
          <p:cNvSpPr txBox="1"/>
          <p:nvPr/>
        </p:nvSpPr>
        <p:spPr>
          <a:xfrm>
            <a:off x="9848088" y="2641600"/>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$187.42</a:t>
            </a:r>
            <a:endParaRPr lang="en-US" sz="1300" dirty="0"/>
          </a:p>
        </p:txBody>
      </p:sp>
      <p:sp>
        <p:nvSpPr>
          <p:cNvPr id="130" name="Text 128"/>
          <p:cNvSpPr txBox="1"/>
          <p:nvPr/>
        </p:nvSpPr>
        <p:spPr>
          <a:xfrm>
            <a:off x="10634472" y="2641600"/>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$229.95</a:t>
            </a:r>
            <a:endParaRPr lang="en-US" sz="1300" dirty="0"/>
          </a:p>
        </p:txBody>
      </p:sp>
      <p:sp>
        <p:nvSpPr>
          <p:cNvPr id="131" name="Text 129"/>
          <p:cNvSpPr txBox="1"/>
          <p:nvPr/>
        </p:nvSpPr>
        <p:spPr>
          <a:xfrm>
            <a:off x="6208776" y="286308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132" name="Shape 130"/>
          <p:cNvSpPr/>
          <p:nvPr/>
        </p:nvSpPr>
        <p:spPr>
          <a:xfrm>
            <a:off x="8202168" y="2918460"/>
            <a:ext cx="542975" cy="110744"/>
          </a:xfrm>
          <a:prstGeom prst="rect">
            <a:avLst/>
          </a:prstGeom>
          <a:solidFill>
            <a:srgbClr val="12A566"/>
          </a:solidFill>
          <a:ln/>
        </p:spPr>
      </p:sp>
      <p:sp>
        <p:nvSpPr>
          <p:cNvPr id="133" name="Text 131"/>
          <p:cNvSpPr txBox="1"/>
          <p:nvPr/>
        </p:nvSpPr>
        <p:spPr>
          <a:xfrm>
            <a:off x="9098280" y="2863088"/>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80.9%</a:t>
            </a:r>
            <a:endParaRPr lang="en-US" sz="1300" dirty="0"/>
          </a:p>
        </p:txBody>
      </p:sp>
      <p:sp>
        <p:nvSpPr>
          <p:cNvPr id="134" name="Text 132"/>
          <p:cNvSpPr txBox="1"/>
          <p:nvPr/>
        </p:nvSpPr>
        <p:spPr>
          <a:xfrm>
            <a:off x="9848088" y="2863088"/>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$161.93</a:t>
            </a:r>
            <a:endParaRPr lang="en-US" sz="1300" dirty="0"/>
          </a:p>
        </p:txBody>
      </p:sp>
      <p:sp>
        <p:nvSpPr>
          <p:cNvPr id="135" name="Text 133"/>
          <p:cNvSpPr txBox="1"/>
          <p:nvPr/>
        </p:nvSpPr>
        <p:spPr>
          <a:xfrm>
            <a:off x="10634472" y="2863088"/>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$199.95</a:t>
            </a:r>
            <a:endParaRPr lang="en-US" sz="1300" dirty="0"/>
          </a:p>
        </p:txBody>
      </p:sp>
      <p:sp>
        <p:nvSpPr>
          <p:cNvPr id="136" name="Text 134"/>
          <p:cNvSpPr txBox="1"/>
          <p:nvPr/>
        </p:nvSpPr>
        <p:spPr>
          <a:xfrm>
            <a:off x="6208776" y="308457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137" name="Shape 135"/>
          <p:cNvSpPr/>
          <p:nvPr/>
        </p:nvSpPr>
        <p:spPr>
          <a:xfrm>
            <a:off x="8202168" y="3139948"/>
            <a:ext cx="528418" cy="110744"/>
          </a:xfrm>
          <a:prstGeom prst="rect">
            <a:avLst/>
          </a:prstGeom>
          <a:solidFill>
            <a:srgbClr val="12A566"/>
          </a:solidFill>
          <a:ln/>
        </p:spPr>
      </p:sp>
      <p:sp>
        <p:nvSpPr>
          <p:cNvPr id="138" name="Text 136"/>
          <p:cNvSpPr txBox="1"/>
          <p:nvPr/>
        </p:nvSpPr>
        <p:spPr>
          <a:xfrm>
            <a:off x="9098280" y="3084576"/>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79.8%</a:t>
            </a:r>
            <a:endParaRPr lang="en-US" sz="1300" dirty="0"/>
          </a:p>
        </p:txBody>
      </p:sp>
      <p:sp>
        <p:nvSpPr>
          <p:cNvPr id="139" name="Text 137"/>
          <p:cNvSpPr txBox="1"/>
          <p:nvPr/>
        </p:nvSpPr>
        <p:spPr>
          <a:xfrm>
            <a:off x="9848088" y="3084576"/>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$155.78</a:t>
            </a:r>
            <a:endParaRPr lang="en-US" sz="1300" dirty="0"/>
          </a:p>
        </p:txBody>
      </p:sp>
      <p:sp>
        <p:nvSpPr>
          <p:cNvPr id="140" name="Text 138"/>
          <p:cNvSpPr txBox="1"/>
          <p:nvPr/>
        </p:nvSpPr>
        <p:spPr>
          <a:xfrm>
            <a:off x="10634472" y="3084576"/>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$195.00</a:t>
            </a:r>
            <a:endParaRPr lang="en-US" sz="1300" dirty="0"/>
          </a:p>
        </p:txBody>
      </p:sp>
      <p:sp>
        <p:nvSpPr>
          <p:cNvPr id="141" name="Text 139"/>
          <p:cNvSpPr txBox="1"/>
          <p:nvPr/>
        </p:nvSpPr>
        <p:spPr>
          <a:xfrm>
            <a:off x="6208776" y="330606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142" name="Shape 140"/>
          <p:cNvSpPr/>
          <p:nvPr/>
        </p:nvSpPr>
        <p:spPr>
          <a:xfrm>
            <a:off x="8202168" y="3361436"/>
            <a:ext cx="515923" cy="110744"/>
          </a:xfrm>
          <a:prstGeom prst="rect">
            <a:avLst/>
          </a:prstGeom>
          <a:solidFill>
            <a:srgbClr val="12A566"/>
          </a:solidFill>
          <a:ln/>
        </p:spPr>
      </p:sp>
      <p:sp>
        <p:nvSpPr>
          <p:cNvPr id="143" name="Text 141"/>
          <p:cNvSpPr txBox="1"/>
          <p:nvPr/>
        </p:nvSpPr>
        <p:spPr>
          <a:xfrm>
            <a:off x="9098280" y="3306064"/>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78.9%</a:t>
            </a:r>
            <a:endParaRPr lang="en-US" sz="1300" dirty="0"/>
          </a:p>
        </p:txBody>
      </p:sp>
      <p:sp>
        <p:nvSpPr>
          <p:cNvPr id="144" name="Text 142"/>
          <p:cNvSpPr txBox="1"/>
          <p:nvPr/>
        </p:nvSpPr>
        <p:spPr>
          <a:xfrm>
            <a:off x="9848088" y="3306064"/>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$146.04</a:t>
            </a:r>
            <a:endParaRPr lang="en-US" sz="1300" dirty="0"/>
          </a:p>
        </p:txBody>
      </p:sp>
      <p:sp>
        <p:nvSpPr>
          <p:cNvPr id="145" name="Text 143"/>
          <p:cNvSpPr txBox="1"/>
          <p:nvPr/>
        </p:nvSpPr>
        <p:spPr>
          <a:xfrm>
            <a:off x="10634472" y="3306064"/>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$185.00</a:t>
            </a:r>
            <a:endParaRPr lang="en-US" sz="1300" dirty="0"/>
          </a:p>
        </p:txBody>
      </p:sp>
      <p:sp>
        <p:nvSpPr>
          <p:cNvPr id="146" name="Shape 144"/>
          <p:cNvSpPr/>
          <p:nvPr/>
        </p:nvSpPr>
        <p:spPr>
          <a:xfrm>
            <a:off x="6153912" y="3527552"/>
            <a:ext cx="5285232" cy="212344"/>
          </a:xfrm>
          <a:prstGeom prst="rect">
            <a:avLst/>
          </a:prstGeom>
          <a:solidFill>
            <a:srgbClr val="EDF4FA"/>
          </a:solidFill>
          <a:ln/>
        </p:spPr>
      </p:sp>
      <p:sp>
        <p:nvSpPr>
          <p:cNvPr id="147" name="Text 145"/>
          <p:cNvSpPr txBox="1"/>
          <p:nvPr/>
        </p:nvSpPr>
        <p:spPr>
          <a:xfrm>
            <a:off x="6208776" y="3527552"/>
            <a:ext cx="1920240" cy="221488"/>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NO-GRID AVG</a:t>
            </a:r>
            <a:endParaRPr lang="en-US" sz="1300" dirty="0"/>
          </a:p>
        </p:txBody>
      </p:sp>
      <p:sp>
        <p:nvSpPr>
          <p:cNvPr id="148" name="Shape 146"/>
          <p:cNvSpPr/>
          <p:nvPr/>
        </p:nvSpPr>
        <p:spPr>
          <a:xfrm>
            <a:off x="8202168" y="3582924"/>
            <a:ext cx="482674" cy="110744"/>
          </a:xfrm>
          <a:prstGeom prst="rect">
            <a:avLst/>
          </a:prstGeom>
          <a:solidFill>
            <a:srgbClr val="0B2C4A"/>
          </a:solidFill>
          <a:ln/>
        </p:spPr>
      </p:sp>
      <p:sp>
        <p:nvSpPr>
          <p:cNvPr id="149" name="Text 147"/>
          <p:cNvSpPr txBox="1"/>
          <p:nvPr/>
        </p:nvSpPr>
        <p:spPr>
          <a:xfrm>
            <a:off x="9098280" y="3527552"/>
            <a:ext cx="749808" cy="22148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76.4%</a:t>
            </a:r>
            <a:endParaRPr lang="en-US" sz="1300" dirty="0"/>
          </a:p>
        </p:txBody>
      </p:sp>
      <p:sp>
        <p:nvSpPr>
          <p:cNvPr id="150" name="Text 148"/>
          <p:cNvSpPr txBox="1"/>
          <p:nvPr/>
        </p:nvSpPr>
        <p:spPr>
          <a:xfrm>
            <a:off x="9848088" y="3527552"/>
            <a:ext cx="786384" cy="22148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$155.03</a:t>
            </a:r>
            <a:endParaRPr lang="en-US" sz="1300" dirty="0"/>
          </a:p>
        </p:txBody>
      </p:sp>
      <p:sp>
        <p:nvSpPr>
          <p:cNvPr id="151" name="Text 149"/>
          <p:cNvSpPr txBox="1"/>
          <p:nvPr/>
        </p:nvSpPr>
        <p:spPr>
          <a:xfrm>
            <a:off x="10634472" y="3527552"/>
            <a:ext cx="786384" cy="22148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$202.83</a:t>
            </a:r>
            <a:endParaRPr lang="en-US" sz="1300" dirty="0"/>
          </a:p>
        </p:txBody>
      </p:sp>
      <p:sp>
        <p:nvSpPr>
          <p:cNvPr id="152" name="Text 150"/>
          <p:cNvSpPr txBox="1"/>
          <p:nvPr/>
        </p:nvSpPr>
        <p:spPr>
          <a:xfrm>
            <a:off x="6208776" y="3749040"/>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153" name="Shape 151"/>
          <p:cNvSpPr/>
          <p:nvPr/>
        </p:nvSpPr>
        <p:spPr>
          <a:xfrm>
            <a:off x="8202168" y="3804412"/>
            <a:ext cx="467351" cy="110744"/>
          </a:xfrm>
          <a:prstGeom prst="rect">
            <a:avLst/>
          </a:prstGeom>
          <a:solidFill>
            <a:srgbClr val="12A566"/>
          </a:solidFill>
          <a:ln/>
        </p:spPr>
      </p:sp>
      <p:sp>
        <p:nvSpPr>
          <p:cNvPr id="154" name="Text 152"/>
          <p:cNvSpPr txBox="1"/>
          <p:nvPr/>
        </p:nvSpPr>
        <p:spPr>
          <a:xfrm>
            <a:off x="9098280" y="3749040"/>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75.2%</a:t>
            </a:r>
            <a:endParaRPr lang="en-US" sz="1300" dirty="0"/>
          </a:p>
        </p:txBody>
      </p:sp>
      <p:sp>
        <p:nvSpPr>
          <p:cNvPr id="155" name="Text 153"/>
          <p:cNvSpPr txBox="1"/>
          <p:nvPr/>
        </p:nvSpPr>
        <p:spPr>
          <a:xfrm>
            <a:off x="9848088" y="3749040"/>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$162.12</a:t>
            </a:r>
            <a:endParaRPr lang="en-US" sz="1300" dirty="0"/>
          </a:p>
        </p:txBody>
      </p:sp>
      <p:sp>
        <p:nvSpPr>
          <p:cNvPr id="156" name="Text 154"/>
          <p:cNvSpPr txBox="1"/>
          <p:nvPr/>
        </p:nvSpPr>
        <p:spPr>
          <a:xfrm>
            <a:off x="10634472" y="3749040"/>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$215.37</a:t>
            </a:r>
            <a:endParaRPr lang="en-US" sz="1300" dirty="0"/>
          </a:p>
        </p:txBody>
      </p:sp>
      <p:sp>
        <p:nvSpPr>
          <p:cNvPr id="157" name="Text 155"/>
          <p:cNvSpPr txBox="1"/>
          <p:nvPr/>
        </p:nvSpPr>
        <p:spPr>
          <a:xfrm>
            <a:off x="6208776" y="397052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158" name="Shape 156"/>
          <p:cNvSpPr/>
          <p:nvPr/>
        </p:nvSpPr>
        <p:spPr>
          <a:xfrm>
            <a:off x="8202168" y="4025900"/>
            <a:ext cx="463785" cy="110744"/>
          </a:xfrm>
          <a:prstGeom prst="rect">
            <a:avLst/>
          </a:prstGeom>
          <a:solidFill>
            <a:srgbClr val="12A566"/>
          </a:solidFill>
          <a:ln/>
        </p:spPr>
      </p:sp>
      <p:sp>
        <p:nvSpPr>
          <p:cNvPr id="159" name="Text 157"/>
          <p:cNvSpPr txBox="1"/>
          <p:nvPr/>
        </p:nvSpPr>
        <p:spPr>
          <a:xfrm>
            <a:off x="9098280" y="3970528"/>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75.0%</a:t>
            </a:r>
            <a:endParaRPr lang="en-US" sz="1300" dirty="0"/>
          </a:p>
        </p:txBody>
      </p:sp>
      <p:sp>
        <p:nvSpPr>
          <p:cNvPr id="160" name="Text 158"/>
          <p:cNvSpPr txBox="1"/>
          <p:nvPr/>
        </p:nvSpPr>
        <p:spPr>
          <a:xfrm>
            <a:off x="9848088" y="3970528"/>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$142.51</a:t>
            </a:r>
            <a:endParaRPr lang="en-US" sz="1300" dirty="0"/>
          </a:p>
        </p:txBody>
      </p:sp>
      <p:sp>
        <p:nvSpPr>
          <p:cNvPr id="161" name="Text 159"/>
          <p:cNvSpPr txBox="1"/>
          <p:nvPr/>
        </p:nvSpPr>
        <p:spPr>
          <a:xfrm>
            <a:off x="10634472" y="3970528"/>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$190.00</a:t>
            </a:r>
            <a:endParaRPr lang="en-US" sz="1300" dirty="0"/>
          </a:p>
        </p:txBody>
      </p:sp>
      <p:sp>
        <p:nvSpPr>
          <p:cNvPr id="162" name="Text 160"/>
          <p:cNvSpPr txBox="1"/>
          <p:nvPr/>
        </p:nvSpPr>
        <p:spPr>
          <a:xfrm>
            <a:off x="6208776" y="419201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163" name="Shape 161"/>
          <p:cNvSpPr/>
          <p:nvPr/>
        </p:nvSpPr>
        <p:spPr>
          <a:xfrm>
            <a:off x="8202168" y="4247388"/>
            <a:ext cx="449061" cy="110744"/>
          </a:xfrm>
          <a:prstGeom prst="rect">
            <a:avLst/>
          </a:prstGeom>
          <a:solidFill>
            <a:srgbClr val="12A566"/>
          </a:solidFill>
          <a:ln/>
        </p:spPr>
      </p:sp>
      <p:sp>
        <p:nvSpPr>
          <p:cNvPr id="164" name="Text 162"/>
          <p:cNvSpPr txBox="1"/>
          <p:nvPr/>
        </p:nvSpPr>
        <p:spPr>
          <a:xfrm>
            <a:off x="9098280" y="4192016"/>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73.8%</a:t>
            </a:r>
            <a:endParaRPr lang="en-US" sz="1300" dirty="0"/>
          </a:p>
        </p:txBody>
      </p:sp>
      <p:sp>
        <p:nvSpPr>
          <p:cNvPr id="165" name="Text 163"/>
          <p:cNvSpPr txBox="1"/>
          <p:nvPr/>
        </p:nvSpPr>
        <p:spPr>
          <a:xfrm>
            <a:off x="9848088" y="4192016"/>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$136.71</a:t>
            </a:r>
            <a:endParaRPr lang="en-US" sz="1300" dirty="0"/>
          </a:p>
        </p:txBody>
      </p:sp>
      <p:sp>
        <p:nvSpPr>
          <p:cNvPr id="166" name="Text 164"/>
          <p:cNvSpPr txBox="1"/>
          <p:nvPr/>
        </p:nvSpPr>
        <p:spPr>
          <a:xfrm>
            <a:off x="10634472" y="4192016"/>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$185.00</a:t>
            </a:r>
            <a:endParaRPr lang="en-US" sz="1300" dirty="0"/>
          </a:p>
        </p:txBody>
      </p:sp>
      <p:sp>
        <p:nvSpPr>
          <p:cNvPr id="167" name="Text 165"/>
          <p:cNvSpPr txBox="1"/>
          <p:nvPr/>
        </p:nvSpPr>
        <p:spPr>
          <a:xfrm>
            <a:off x="6208776" y="441350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168" name="Shape 166"/>
          <p:cNvSpPr/>
          <p:nvPr/>
        </p:nvSpPr>
        <p:spPr>
          <a:xfrm>
            <a:off x="8202168" y="4468876"/>
            <a:ext cx="374799" cy="110744"/>
          </a:xfrm>
          <a:prstGeom prst="rect">
            <a:avLst/>
          </a:prstGeom>
          <a:solidFill>
            <a:srgbClr val="C2352F"/>
          </a:solidFill>
          <a:ln/>
        </p:spPr>
      </p:sp>
      <p:sp>
        <p:nvSpPr>
          <p:cNvPr id="169" name="Text 167"/>
          <p:cNvSpPr txBox="1"/>
          <p:nvPr/>
        </p:nvSpPr>
        <p:spPr>
          <a:xfrm>
            <a:off x="9098280" y="4413504"/>
            <a:ext cx="749808" cy="221488"/>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68.2%</a:t>
            </a:r>
            <a:endParaRPr lang="en-US" sz="1300" dirty="0"/>
          </a:p>
        </p:txBody>
      </p:sp>
      <p:sp>
        <p:nvSpPr>
          <p:cNvPr id="170" name="Text 168"/>
          <p:cNvSpPr txBox="1"/>
          <p:nvPr/>
        </p:nvSpPr>
        <p:spPr>
          <a:xfrm>
            <a:off x="9848088" y="4413504"/>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$167.22</a:t>
            </a:r>
            <a:endParaRPr lang="en-US" sz="1300" dirty="0"/>
          </a:p>
        </p:txBody>
      </p:sp>
      <p:sp>
        <p:nvSpPr>
          <p:cNvPr id="171" name="Text 169"/>
          <p:cNvSpPr txBox="1"/>
          <p:nvPr/>
        </p:nvSpPr>
        <p:spPr>
          <a:xfrm>
            <a:off x="10634472" y="4413504"/>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$244.87</a:t>
            </a:r>
            <a:endParaRPr lang="en-US" sz="1300" dirty="0"/>
          </a:p>
        </p:txBody>
      </p:sp>
      <p:sp>
        <p:nvSpPr>
          <p:cNvPr id="172" name="Text 170"/>
          <p:cNvSpPr txBox="1"/>
          <p:nvPr/>
        </p:nvSpPr>
        <p:spPr>
          <a:xfrm>
            <a:off x="6208776" y="4634992"/>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173" name="Shape 171"/>
          <p:cNvSpPr/>
          <p:nvPr/>
        </p:nvSpPr>
        <p:spPr>
          <a:xfrm>
            <a:off x="8202168" y="4690364"/>
            <a:ext cx="364670" cy="110744"/>
          </a:xfrm>
          <a:prstGeom prst="rect">
            <a:avLst/>
          </a:prstGeom>
          <a:solidFill>
            <a:srgbClr val="C2352F"/>
          </a:solidFill>
          <a:ln/>
        </p:spPr>
      </p:sp>
      <p:sp>
        <p:nvSpPr>
          <p:cNvPr id="174" name="Text 172"/>
          <p:cNvSpPr txBox="1"/>
          <p:nvPr/>
        </p:nvSpPr>
        <p:spPr>
          <a:xfrm>
            <a:off x="9098280" y="4634992"/>
            <a:ext cx="749808" cy="221488"/>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67.5%</a:t>
            </a:r>
            <a:endParaRPr lang="en-US" sz="1300" dirty="0"/>
          </a:p>
        </p:txBody>
      </p:sp>
      <p:sp>
        <p:nvSpPr>
          <p:cNvPr id="175" name="Text 173"/>
          <p:cNvSpPr txBox="1"/>
          <p:nvPr/>
        </p:nvSpPr>
        <p:spPr>
          <a:xfrm>
            <a:off x="9848088" y="4634992"/>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$124.92</a:t>
            </a:r>
            <a:endParaRPr lang="en-US" sz="1300" dirty="0"/>
          </a:p>
        </p:txBody>
      </p:sp>
      <p:sp>
        <p:nvSpPr>
          <p:cNvPr id="176" name="Text 174"/>
          <p:cNvSpPr txBox="1"/>
          <p:nvPr/>
        </p:nvSpPr>
        <p:spPr>
          <a:xfrm>
            <a:off x="10634472" y="4634992"/>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$185.00</a:t>
            </a:r>
            <a:endParaRPr lang="en-US" sz="1300" dirty="0"/>
          </a:p>
        </p:txBody>
      </p:sp>
      <p:sp>
        <p:nvSpPr>
          <p:cNvPr id="177" name="Text 175"/>
          <p:cNvSpPr txBox="1"/>
          <p:nvPr/>
        </p:nvSpPr>
        <p:spPr>
          <a:xfrm>
            <a:off x="6208776" y="4856480"/>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178" name="Shape 176"/>
          <p:cNvSpPr/>
          <p:nvPr/>
        </p:nvSpPr>
        <p:spPr>
          <a:xfrm>
            <a:off x="8202168" y="4911852"/>
            <a:ext cx="354832" cy="110744"/>
          </a:xfrm>
          <a:prstGeom prst="rect">
            <a:avLst/>
          </a:prstGeom>
          <a:solidFill>
            <a:srgbClr val="C2352F"/>
          </a:solidFill>
          <a:ln/>
        </p:spPr>
      </p:sp>
      <p:sp>
        <p:nvSpPr>
          <p:cNvPr id="179" name="Text 177"/>
          <p:cNvSpPr txBox="1"/>
          <p:nvPr/>
        </p:nvSpPr>
        <p:spPr>
          <a:xfrm>
            <a:off x="9098280" y="4856480"/>
            <a:ext cx="749808" cy="221488"/>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66.7%</a:t>
            </a:r>
            <a:endParaRPr lang="en-US" sz="1300" dirty="0"/>
          </a:p>
        </p:txBody>
      </p:sp>
      <p:sp>
        <p:nvSpPr>
          <p:cNvPr id="180" name="Text 178"/>
          <p:cNvSpPr txBox="1"/>
          <p:nvPr/>
        </p:nvSpPr>
        <p:spPr>
          <a:xfrm>
            <a:off x="9848088" y="4856480"/>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$146.92</a:t>
            </a:r>
            <a:endParaRPr lang="en-US" sz="1300" dirty="0"/>
          </a:p>
        </p:txBody>
      </p:sp>
      <p:sp>
        <p:nvSpPr>
          <p:cNvPr id="181" name="Text 179"/>
          <p:cNvSpPr txBox="1"/>
          <p:nvPr/>
        </p:nvSpPr>
        <p:spPr>
          <a:xfrm>
            <a:off x="10634472" y="4856480"/>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$220.00</a:t>
            </a:r>
            <a:endParaRPr lang="en-US" sz="1300" dirty="0"/>
          </a:p>
        </p:txBody>
      </p:sp>
      <p:sp>
        <p:nvSpPr>
          <p:cNvPr id="182" name="Text 180"/>
          <p:cNvSpPr txBox="1"/>
          <p:nvPr/>
        </p:nvSpPr>
        <p:spPr>
          <a:xfrm>
            <a:off x="6208776" y="507796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183" name="Shape 181"/>
          <p:cNvSpPr/>
          <p:nvPr/>
        </p:nvSpPr>
        <p:spPr>
          <a:xfrm>
            <a:off x="8202168" y="5133340"/>
            <a:ext cx="352064" cy="110744"/>
          </a:xfrm>
          <a:prstGeom prst="rect">
            <a:avLst/>
          </a:prstGeom>
          <a:solidFill>
            <a:srgbClr val="C2352F"/>
          </a:solidFill>
          <a:ln/>
        </p:spPr>
      </p:sp>
      <p:sp>
        <p:nvSpPr>
          <p:cNvPr id="184" name="Text 182"/>
          <p:cNvSpPr txBox="1"/>
          <p:nvPr/>
        </p:nvSpPr>
        <p:spPr>
          <a:xfrm>
            <a:off x="9098280" y="5077968"/>
            <a:ext cx="749808" cy="221488"/>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66.5%</a:t>
            </a:r>
            <a:endParaRPr lang="en-US" sz="1300" dirty="0"/>
          </a:p>
        </p:txBody>
      </p:sp>
      <p:sp>
        <p:nvSpPr>
          <p:cNvPr id="185" name="Text 183"/>
          <p:cNvSpPr txBox="1"/>
          <p:nvPr/>
        </p:nvSpPr>
        <p:spPr>
          <a:xfrm>
            <a:off x="9848088" y="5077968"/>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$139.81</a:t>
            </a:r>
            <a:endParaRPr lang="en-US" sz="1300" dirty="0"/>
          </a:p>
        </p:txBody>
      </p:sp>
      <p:sp>
        <p:nvSpPr>
          <p:cNvPr id="186" name="Text 184"/>
          <p:cNvSpPr txBox="1"/>
          <p:nvPr/>
        </p:nvSpPr>
        <p:spPr>
          <a:xfrm>
            <a:off x="10634472" y="5077968"/>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$210.00</a:t>
            </a:r>
            <a:endParaRPr lang="en-US" sz="1300" dirty="0"/>
          </a:p>
        </p:txBody>
      </p:sp>
      <p:sp>
        <p:nvSpPr>
          <p:cNvPr id="187" name="Text 185"/>
          <p:cNvSpPr txBox="1"/>
          <p:nvPr/>
        </p:nvSpPr>
        <p:spPr>
          <a:xfrm>
            <a:off x="6208776" y="529945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88" name="Shape 186"/>
          <p:cNvSpPr/>
          <p:nvPr/>
        </p:nvSpPr>
        <p:spPr>
          <a:xfrm>
            <a:off x="8202168" y="5354828"/>
            <a:ext cx="328825" cy="110744"/>
          </a:xfrm>
          <a:prstGeom prst="rect">
            <a:avLst/>
          </a:prstGeom>
          <a:solidFill>
            <a:srgbClr val="C2352F"/>
          </a:solidFill>
          <a:ln/>
        </p:spPr>
      </p:sp>
      <p:sp>
        <p:nvSpPr>
          <p:cNvPr id="189" name="Text 187"/>
          <p:cNvSpPr txBox="1"/>
          <p:nvPr/>
        </p:nvSpPr>
        <p:spPr>
          <a:xfrm>
            <a:off x="9098280" y="5299456"/>
            <a:ext cx="749808" cy="221488"/>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64.8%</a:t>
            </a:r>
            <a:endParaRPr lang="en-US" sz="1300" dirty="0"/>
          </a:p>
        </p:txBody>
      </p:sp>
      <p:sp>
        <p:nvSpPr>
          <p:cNvPr id="190" name="Text 188"/>
          <p:cNvSpPr txBox="1"/>
          <p:nvPr/>
        </p:nvSpPr>
        <p:spPr>
          <a:xfrm>
            <a:off x="9848088" y="5299456"/>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$136.12</a:t>
            </a:r>
            <a:endParaRPr lang="en-US" sz="1300" dirty="0"/>
          </a:p>
        </p:txBody>
      </p:sp>
      <p:sp>
        <p:nvSpPr>
          <p:cNvPr id="191" name="Text 189"/>
          <p:cNvSpPr txBox="1"/>
          <p:nvPr/>
        </p:nvSpPr>
        <p:spPr>
          <a:xfrm>
            <a:off x="10634472" y="5299456"/>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$210.00</a:t>
            </a:r>
            <a:endParaRPr lang="en-US" sz="1300" dirty="0"/>
          </a:p>
        </p:txBody>
      </p:sp>
      <p:sp>
        <p:nvSpPr>
          <p:cNvPr id="192" name="Shape 190"/>
          <p:cNvSpPr/>
          <p:nvPr/>
        </p:nvSpPr>
        <p:spPr>
          <a:xfrm>
            <a:off x="8592301" y="1755648"/>
            <a:ext cx="14630" cy="3765296"/>
          </a:xfrm>
          <a:prstGeom prst="rect">
            <a:avLst/>
          </a:prstGeom>
          <a:solidFill>
            <a:srgbClr val="0B2C4A"/>
          </a:solidFill>
          <a:ln/>
        </p:spPr>
      </p:sp>
      <p:sp>
        <p:nvSpPr>
          <p:cNvPr id="193" name="Shape 191"/>
          <p:cNvSpPr/>
          <p:nvPr/>
        </p:nvSpPr>
        <p:spPr>
          <a:xfrm>
            <a:off x="6035040" y="1371600"/>
            <a:ext cx="10973" cy="4370832"/>
          </a:xfrm>
          <a:prstGeom prst="rect">
            <a:avLst/>
          </a:prstGeom>
          <a:solidFill>
            <a:srgbClr val="D9D9D9"/>
          </a:solidFill>
          <a:ln/>
        </p:spPr>
      </p:sp>
      <p:sp>
        <p:nvSpPr>
          <p:cNvPr id="194" name="Shape 192"/>
          <p:cNvSpPr/>
          <p:nvPr/>
        </p:nvSpPr>
        <p:spPr>
          <a:xfrm>
            <a:off x="457200" y="5961888"/>
            <a:ext cx="11274552" cy="548640"/>
          </a:xfrm>
          <a:prstGeom prst="rect">
            <a:avLst/>
          </a:prstGeom>
          <a:solidFill>
            <a:srgbClr val="EDF4FA"/>
          </a:solidFill>
          <a:ln/>
        </p:spPr>
      </p:sp>
      <p:sp>
        <p:nvSpPr>
          <p:cNvPr id="195" name="Text 193"/>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Jul–Sep: grid stores realize 73.9% of door rate, no-grid stores 76.4%. A grid should lift ELR on longer jobs, yet grid stores trail.</a:t>
            </a:r>
            <a:endParaRPr lang="en-US" sz="1600" dirty="0"/>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Door Rate</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316736"/>
            <a:ext cx="4334256" cy="32918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LABOR GRID · 17 STORES</a:t>
            </a:r>
            <a:endParaRPr lang="en-US" sz="1400" dirty="0"/>
          </a:p>
        </p:txBody>
      </p:sp>
      <p:sp>
        <p:nvSpPr>
          <p:cNvPr id="7" name="Text 5"/>
          <p:cNvSpPr txBox="1"/>
          <p:nvPr/>
        </p:nvSpPr>
        <p:spPr>
          <a:xfrm>
            <a:off x="5120640" y="1316736"/>
            <a:ext cx="74980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DOOR</a:t>
            </a:r>
            <a:endParaRPr lang="en-US" sz="1400" dirty="0"/>
          </a:p>
        </p:txBody>
      </p:sp>
      <p:sp>
        <p:nvSpPr>
          <p:cNvPr id="8" name="Text 6"/>
          <p:cNvSpPr txBox="1"/>
          <p:nvPr/>
        </p:nvSpPr>
        <p:spPr>
          <a:xfrm>
            <a:off x="658368" y="175564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9" name="Shape 7"/>
          <p:cNvSpPr/>
          <p:nvPr/>
        </p:nvSpPr>
        <p:spPr>
          <a:xfrm>
            <a:off x="2651760" y="1811020"/>
            <a:ext cx="2414016" cy="110744"/>
          </a:xfrm>
          <a:prstGeom prst="rect">
            <a:avLst/>
          </a:prstGeom>
          <a:solidFill>
            <a:srgbClr val="2587C5"/>
          </a:solidFill>
          <a:ln/>
        </p:spPr>
      </p:sp>
      <p:sp>
        <p:nvSpPr>
          <p:cNvPr id="10" name="Text 8"/>
          <p:cNvSpPr txBox="1"/>
          <p:nvPr/>
        </p:nvSpPr>
        <p:spPr>
          <a:xfrm>
            <a:off x="5120640" y="1755648"/>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$348.87</a:t>
            </a:r>
            <a:endParaRPr lang="en-US" sz="1300" dirty="0"/>
          </a:p>
        </p:txBody>
      </p:sp>
      <p:sp>
        <p:nvSpPr>
          <p:cNvPr id="11" name="Text 9"/>
          <p:cNvSpPr txBox="1"/>
          <p:nvPr/>
        </p:nvSpPr>
        <p:spPr>
          <a:xfrm>
            <a:off x="658368" y="197713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12" name="Shape 10"/>
          <p:cNvSpPr/>
          <p:nvPr/>
        </p:nvSpPr>
        <p:spPr>
          <a:xfrm>
            <a:off x="2651760" y="2032508"/>
            <a:ext cx="2036981" cy="110744"/>
          </a:xfrm>
          <a:prstGeom prst="rect">
            <a:avLst/>
          </a:prstGeom>
          <a:solidFill>
            <a:srgbClr val="2587C5"/>
          </a:solidFill>
          <a:ln/>
        </p:spPr>
      </p:sp>
      <p:sp>
        <p:nvSpPr>
          <p:cNvPr id="13" name="Text 11"/>
          <p:cNvSpPr txBox="1"/>
          <p:nvPr/>
        </p:nvSpPr>
        <p:spPr>
          <a:xfrm>
            <a:off x="5120640" y="1977136"/>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$310.00</a:t>
            </a:r>
            <a:endParaRPr lang="en-US" sz="1300" dirty="0"/>
          </a:p>
        </p:txBody>
      </p:sp>
      <p:sp>
        <p:nvSpPr>
          <p:cNvPr id="14" name="Text 12"/>
          <p:cNvSpPr txBox="1"/>
          <p:nvPr/>
        </p:nvSpPr>
        <p:spPr>
          <a:xfrm>
            <a:off x="658368" y="219862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15" name="Shape 13"/>
          <p:cNvSpPr/>
          <p:nvPr/>
        </p:nvSpPr>
        <p:spPr>
          <a:xfrm>
            <a:off x="2651760" y="2253996"/>
            <a:ext cx="1890221" cy="110744"/>
          </a:xfrm>
          <a:prstGeom prst="rect">
            <a:avLst/>
          </a:prstGeom>
          <a:solidFill>
            <a:srgbClr val="2587C5"/>
          </a:solidFill>
          <a:ln/>
        </p:spPr>
      </p:sp>
      <p:sp>
        <p:nvSpPr>
          <p:cNvPr id="16" name="Text 14"/>
          <p:cNvSpPr txBox="1"/>
          <p:nvPr/>
        </p:nvSpPr>
        <p:spPr>
          <a:xfrm>
            <a:off x="5120640" y="2198624"/>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$294.87</a:t>
            </a:r>
            <a:endParaRPr lang="en-US" sz="1300" dirty="0"/>
          </a:p>
        </p:txBody>
      </p:sp>
      <p:sp>
        <p:nvSpPr>
          <p:cNvPr id="17" name="Text 15"/>
          <p:cNvSpPr txBox="1"/>
          <p:nvPr/>
        </p:nvSpPr>
        <p:spPr>
          <a:xfrm>
            <a:off x="658368" y="2420112"/>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18" name="Shape 16"/>
          <p:cNvSpPr/>
          <p:nvPr/>
        </p:nvSpPr>
        <p:spPr>
          <a:xfrm>
            <a:off x="2651760" y="2475484"/>
            <a:ext cx="1794483" cy="110744"/>
          </a:xfrm>
          <a:prstGeom prst="rect">
            <a:avLst/>
          </a:prstGeom>
          <a:solidFill>
            <a:srgbClr val="2587C5"/>
          </a:solidFill>
          <a:ln/>
        </p:spPr>
      </p:sp>
      <p:sp>
        <p:nvSpPr>
          <p:cNvPr id="19" name="Text 17"/>
          <p:cNvSpPr txBox="1"/>
          <p:nvPr/>
        </p:nvSpPr>
        <p:spPr>
          <a:xfrm>
            <a:off x="5120640" y="2420112"/>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$285.00</a:t>
            </a:r>
            <a:endParaRPr lang="en-US" sz="1300" dirty="0"/>
          </a:p>
        </p:txBody>
      </p:sp>
      <p:sp>
        <p:nvSpPr>
          <p:cNvPr id="20" name="Text 18"/>
          <p:cNvSpPr txBox="1"/>
          <p:nvPr/>
        </p:nvSpPr>
        <p:spPr>
          <a:xfrm>
            <a:off x="658368" y="2641600"/>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21" name="Shape 19"/>
          <p:cNvSpPr/>
          <p:nvPr/>
        </p:nvSpPr>
        <p:spPr>
          <a:xfrm>
            <a:off x="2651760" y="2696972"/>
            <a:ext cx="1356726" cy="110744"/>
          </a:xfrm>
          <a:prstGeom prst="rect">
            <a:avLst/>
          </a:prstGeom>
          <a:solidFill>
            <a:srgbClr val="2587C5"/>
          </a:solidFill>
          <a:ln/>
        </p:spPr>
      </p:sp>
      <p:sp>
        <p:nvSpPr>
          <p:cNvPr id="22" name="Text 20"/>
          <p:cNvSpPr txBox="1"/>
          <p:nvPr/>
        </p:nvSpPr>
        <p:spPr>
          <a:xfrm>
            <a:off x="5120640" y="2641600"/>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$239.87</a:t>
            </a:r>
            <a:endParaRPr lang="en-US" sz="1300" dirty="0"/>
          </a:p>
        </p:txBody>
      </p:sp>
      <p:sp>
        <p:nvSpPr>
          <p:cNvPr id="23" name="Text 21"/>
          <p:cNvSpPr txBox="1"/>
          <p:nvPr/>
        </p:nvSpPr>
        <p:spPr>
          <a:xfrm>
            <a:off x="658368" y="286308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24" name="Shape 22"/>
          <p:cNvSpPr/>
          <p:nvPr/>
        </p:nvSpPr>
        <p:spPr>
          <a:xfrm>
            <a:off x="2651760" y="2918460"/>
            <a:ext cx="1317926" cy="110744"/>
          </a:xfrm>
          <a:prstGeom prst="rect">
            <a:avLst/>
          </a:prstGeom>
          <a:solidFill>
            <a:srgbClr val="2587C5"/>
          </a:solidFill>
          <a:ln/>
        </p:spPr>
      </p:sp>
      <p:sp>
        <p:nvSpPr>
          <p:cNvPr id="25" name="Text 23"/>
          <p:cNvSpPr txBox="1"/>
          <p:nvPr/>
        </p:nvSpPr>
        <p:spPr>
          <a:xfrm>
            <a:off x="5120640" y="2863088"/>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$235.87</a:t>
            </a:r>
            <a:endParaRPr lang="en-US" sz="1300" dirty="0"/>
          </a:p>
        </p:txBody>
      </p:sp>
      <p:sp>
        <p:nvSpPr>
          <p:cNvPr id="26" name="Shape 24"/>
          <p:cNvSpPr/>
          <p:nvPr/>
        </p:nvSpPr>
        <p:spPr>
          <a:xfrm>
            <a:off x="603504" y="3084576"/>
            <a:ext cx="5285232" cy="212344"/>
          </a:xfrm>
          <a:prstGeom prst="rect">
            <a:avLst/>
          </a:prstGeom>
          <a:solidFill>
            <a:srgbClr val="EDF4FA"/>
          </a:solidFill>
          <a:ln/>
        </p:spPr>
      </p:sp>
      <p:sp>
        <p:nvSpPr>
          <p:cNvPr id="27" name="Text 25"/>
          <p:cNvSpPr txBox="1"/>
          <p:nvPr/>
        </p:nvSpPr>
        <p:spPr>
          <a:xfrm>
            <a:off x="658368" y="3084576"/>
            <a:ext cx="1920240" cy="221488"/>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GRID AVG</a:t>
            </a:r>
            <a:endParaRPr lang="en-US" sz="1300" dirty="0"/>
          </a:p>
        </p:txBody>
      </p:sp>
      <p:sp>
        <p:nvSpPr>
          <p:cNvPr id="28" name="Shape 26"/>
          <p:cNvSpPr/>
          <p:nvPr/>
        </p:nvSpPr>
        <p:spPr>
          <a:xfrm>
            <a:off x="2651760" y="3139948"/>
            <a:ext cx="1246950" cy="110744"/>
          </a:xfrm>
          <a:prstGeom prst="rect">
            <a:avLst/>
          </a:prstGeom>
          <a:solidFill>
            <a:srgbClr val="0B2C4A"/>
          </a:solidFill>
          <a:ln/>
        </p:spPr>
      </p:sp>
      <p:sp>
        <p:nvSpPr>
          <p:cNvPr id="29" name="Text 27"/>
          <p:cNvSpPr txBox="1"/>
          <p:nvPr/>
        </p:nvSpPr>
        <p:spPr>
          <a:xfrm>
            <a:off x="5120640" y="3084576"/>
            <a:ext cx="749808" cy="22148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$228.55</a:t>
            </a:r>
            <a:endParaRPr lang="en-US" sz="1300" dirty="0"/>
          </a:p>
        </p:txBody>
      </p:sp>
      <p:sp>
        <p:nvSpPr>
          <p:cNvPr id="30" name="Text 28"/>
          <p:cNvSpPr txBox="1"/>
          <p:nvPr/>
        </p:nvSpPr>
        <p:spPr>
          <a:xfrm>
            <a:off x="658368" y="330606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31" name="Shape 29"/>
          <p:cNvSpPr/>
          <p:nvPr/>
        </p:nvSpPr>
        <p:spPr>
          <a:xfrm>
            <a:off x="2651760" y="3361436"/>
            <a:ext cx="1211227" cy="110744"/>
          </a:xfrm>
          <a:prstGeom prst="rect">
            <a:avLst/>
          </a:prstGeom>
          <a:solidFill>
            <a:srgbClr val="2587C5"/>
          </a:solidFill>
          <a:ln/>
        </p:spPr>
      </p:sp>
      <p:sp>
        <p:nvSpPr>
          <p:cNvPr id="32" name="Text 30"/>
          <p:cNvSpPr txBox="1"/>
          <p:nvPr/>
        </p:nvSpPr>
        <p:spPr>
          <a:xfrm>
            <a:off x="5120640" y="3306064"/>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$224.87</a:t>
            </a:r>
            <a:endParaRPr lang="en-US" sz="1300" dirty="0"/>
          </a:p>
        </p:txBody>
      </p:sp>
      <p:sp>
        <p:nvSpPr>
          <p:cNvPr id="33" name="Text 31"/>
          <p:cNvSpPr txBox="1"/>
          <p:nvPr/>
        </p:nvSpPr>
        <p:spPr>
          <a:xfrm>
            <a:off x="658368" y="3527552"/>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34" name="Shape 32"/>
          <p:cNvSpPr/>
          <p:nvPr/>
        </p:nvSpPr>
        <p:spPr>
          <a:xfrm>
            <a:off x="2651760" y="3582924"/>
            <a:ext cx="1211227" cy="110744"/>
          </a:xfrm>
          <a:prstGeom prst="rect">
            <a:avLst/>
          </a:prstGeom>
          <a:solidFill>
            <a:srgbClr val="2587C5"/>
          </a:solidFill>
          <a:ln/>
        </p:spPr>
      </p:sp>
      <p:sp>
        <p:nvSpPr>
          <p:cNvPr id="35" name="Text 33"/>
          <p:cNvSpPr txBox="1"/>
          <p:nvPr/>
        </p:nvSpPr>
        <p:spPr>
          <a:xfrm>
            <a:off x="5120640" y="3527552"/>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$224.87</a:t>
            </a:r>
            <a:endParaRPr lang="en-US" sz="1300" dirty="0"/>
          </a:p>
        </p:txBody>
      </p:sp>
      <p:sp>
        <p:nvSpPr>
          <p:cNvPr id="36" name="Text 34"/>
          <p:cNvSpPr txBox="1"/>
          <p:nvPr/>
        </p:nvSpPr>
        <p:spPr>
          <a:xfrm>
            <a:off x="658368" y="3749040"/>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37" name="Shape 35"/>
          <p:cNvSpPr/>
          <p:nvPr/>
        </p:nvSpPr>
        <p:spPr>
          <a:xfrm>
            <a:off x="2651760" y="3804412"/>
            <a:ext cx="1162728" cy="110744"/>
          </a:xfrm>
          <a:prstGeom prst="rect">
            <a:avLst/>
          </a:prstGeom>
          <a:solidFill>
            <a:srgbClr val="2587C5"/>
          </a:solidFill>
          <a:ln/>
        </p:spPr>
      </p:sp>
      <p:sp>
        <p:nvSpPr>
          <p:cNvPr id="38" name="Text 36"/>
          <p:cNvSpPr txBox="1"/>
          <p:nvPr/>
        </p:nvSpPr>
        <p:spPr>
          <a:xfrm>
            <a:off x="5120640" y="3749040"/>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$219.87</a:t>
            </a:r>
            <a:endParaRPr lang="en-US" sz="1300" dirty="0"/>
          </a:p>
        </p:txBody>
      </p:sp>
      <p:sp>
        <p:nvSpPr>
          <p:cNvPr id="39" name="Text 37"/>
          <p:cNvSpPr txBox="1"/>
          <p:nvPr/>
        </p:nvSpPr>
        <p:spPr>
          <a:xfrm>
            <a:off x="658368" y="397052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40" name="Shape 38"/>
          <p:cNvSpPr/>
          <p:nvPr/>
        </p:nvSpPr>
        <p:spPr>
          <a:xfrm>
            <a:off x="2651760" y="4025900"/>
            <a:ext cx="1085129" cy="110744"/>
          </a:xfrm>
          <a:prstGeom prst="rect">
            <a:avLst/>
          </a:prstGeom>
          <a:solidFill>
            <a:srgbClr val="2587C5"/>
          </a:solidFill>
          <a:ln/>
        </p:spPr>
      </p:sp>
      <p:sp>
        <p:nvSpPr>
          <p:cNvPr id="41" name="Text 39"/>
          <p:cNvSpPr txBox="1"/>
          <p:nvPr/>
        </p:nvSpPr>
        <p:spPr>
          <a:xfrm>
            <a:off x="5120640" y="3970528"/>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$211.87</a:t>
            </a:r>
            <a:endParaRPr lang="en-US" sz="1300" dirty="0"/>
          </a:p>
        </p:txBody>
      </p:sp>
      <p:sp>
        <p:nvSpPr>
          <p:cNvPr id="42" name="Text 40"/>
          <p:cNvSpPr txBox="1"/>
          <p:nvPr/>
        </p:nvSpPr>
        <p:spPr>
          <a:xfrm>
            <a:off x="658368" y="419201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43" name="Shape 41"/>
          <p:cNvSpPr/>
          <p:nvPr/>
        </p:nvSpPr>
        <p:spPr>
          <a:xfrm>
            <a:off x="2651760" y="4247388"/>
            <a:ext cx="1085129" cy="110744"/>
          </a:xfrm>
          <a:prstGeom prst="rect">
            <a:avLst/>
          </a:prstGeom>
          <a:solidFill>
            <a:srgbClr val="2587C5"/>
          </a:solidFill>
          <a:ln/>
        </p:spPr>
      </p:sp>
      <p:sp>
        <p:nvSpPr>
          <p:cNvPr id="44" name="Text 42"/>
          <p:cNvSpPr txBox="1"/>
          <p:nvPr/>
        </p:nvSpPr>
        <p:spPr>
          <a:xfrm>
            <a:off x="5120640" y="4192016"/>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$211.87</a:t>
            </a:r>
            <a:endParaRPr lang="en-US" sz="1300" dirty="0"/>
          </a:p>
        </p:txBody>
      </p:sp>
      <p:sp>
        <p:nvSpPr>
          <p:cNvPr id="45" name="Text 43"/>
          <p:cNvSpPr txBox="1"/>
          <p:nvPr/>
        </p:nvSpPr>
        <p:spPr>
          <a:xfrm>
            <a:off x="658368" y="441350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46" name="Shape 44"/>
          <p:cNvSpPr/>
          <p:nvPr/>
        </p:nvSpPr>
        <p:spPr>
          <a:xfrm>
            <a:off x="2651760" y="4468876"/>
            <a:ext cx="1079212" cy="110744"/>
          </a:xfrm>
          <a:prstGeom prst="rect">
            <a:avLst/>
          </a:prstGeom>
          <a:solidFill>
            <a:srgbClr val="2587C5"/>
          </a:solidFill>
          <a:ln/>
        </p:spPr>
      </p:sp>
      <p:sp>
        <p:nvSpPr>
          <p:cNvPr id="47" name="Text 45"/>
          <p:cNvSpPr txBox="1"/>
          <p:nvPr/>
        </p:nvSpPr>
        <p:spPr>
          <a:xfrm>
            <a:off x="5120640" y="4413504"/>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$211.26</a:t>
            </a:r>
            <a:endParaRPr lang="en-US" sz="1300" dirty="0"/>
          </a:p>
        </p:txBody>
      </p:sp>
      <p:sp>
        <p:nvSpPr>
          <p:cNvPr id="48" name="Text 46"/>
          <p:cNvSpPr txBox="1"/>
          <p:nvPr/>
        </p:nvSpPr>
        <p:spPr>
          <a:xfrm>
            <a:off x="658368" y="4634992"/>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49" name="Shape 47"/>
          <p:cNvSpPr/>
          <p:nvPr/>
        </p:nvSpPr>
        <p:spPr>
          <a:xfrm>
            <a:off x="2651760" y="4690364"/>
            <a:ext cx="1065729" cy="110744"/>
          </a:xfrm>
          <a:prstGeom prst="rect">
            <a:avLst/>
          </a:prstGeom>
          <a:solidFill>
            <a:srgbClr val="2587C5"/>
          </a:solidFill>
          <a:ln/>
        </p:spPr>
      </p:sp>
      <p:sp>
        <p:nvSpPr>
          <p:cNvPr id="50" name="Text 48"/>
          <p:cNvSpPr txBox="1"/>
          <p:nvPr/>
        </p:nvSpPr>
        <p:spPr>
          <a:xfrm>
            <a:off x="5120640" y="4634992"/>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$209.87</a:t>
            </a:r>
            <a:endParaRPr lang="en-US" sz="1300" dirty="0"/>
          </a:p>
        </p:txBody>
      </p:sp>
      <p:sp>
        <p:nvSpPr>
          <p:cNvPr id="51" name="Text 49"/>
          <p:cNvSpPr txBox="1"/>
          <p:nvPr/>
        </p:nvSpPr>
        <p:spPr>
          <a:xfrm>
            <a:off x="658368" y="4856480"/>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52" name="Shape 50"/>
          <p:cNvSpPr/>
          <p:nvPr/>
        </p:nvSpPr>
        <p:spPr>
          <a:xfrm>
            <a:off x="2651760" y="4911852"/>
            <a:ext cx="1017229" cy="110744"/>
          </a:xfrm>
          <a:prstGeom prst="rect">
            <a:avLst/>
          </a:prstGeom>
          <a:solidFill>
            <a:srgbClr val="2587C5"/>
          </a:solidFill>
          <a:ln/>
        </p:spPr>
      </p:sp>
      <p:sp>
        <p:nvSpPr>
          <p:cNvPr id="53" name="Text 51"/>
          <p:cNvSpPr txBox="1"/>
          <p:nvPr/>
        </p:nvSpPr>
        <p:spPr>
          <a:xfrm>
            <a:off x="5120640" y="4856480"/>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$204.87</a:t>
            </a:r>
            <a:endParaRPr lang="en-US" sz="1300" dirty="0"/>
          </a:p>
        </p:txBody>
      </p:sp>
      <p:sp>
        <p:nvSpPr>
          <p:cNvPr id="54" name="Text 52"/>
          <p:cNvSpPr txBox="1"/>
          <p:nvPr/>
        </p:nvSpPr>
        <p:spPr>
          <a:xfrm>
            <a:off x="658368" y="507796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55" name="Shape 53"/>
          <p:cNvSpPr/>
          <p:nvPr/>
        </p:nvSpPr>
        <p:spPr>
          <a:xfrm>
            <a:off x="2651760" y="5133340"/>
            <a:ext cx="823231" cy="110744"/>
          </a:xfrm>
          <a:prstGeom prst="rect">
            <a:avLst/>
          </a:prstGeom>
          <a:solidFill>
            <a:srgbClr val="2587C5"/>
          </a:solidFill>
          <a:ln/>
        </p:spPr>
      </p:sp>
      <p:sp>
        <p:nvSpPr>
          <p:cNvPr id="56" name="Text 54"/>
          <p:cNvSpPr txBox="1"/>
          <p:nvPr/>
        </p:nvSpPr>
        <p:spPr>
          <a:xfrm>
            <a:off x="5120640" y="5077968"/>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$184.87</a:t>
            </a:r>
            <a:endParaRPr lang="en-US" sz="1300" dirty="0"/>
          </a:p>
        </p:txBody>
      </p:sp>
      <p:sp>
        <p:nvSpPr>
          <p:cNvPr id="57" name="Text 55"/>
          <p:cNvSpPr txBox="1"/>
          <p:nvPr/>
        </p:nvSpPr>
        <p:spPr>
          <a:xfrm>
            <a:off x="658368" y="529945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58" name="Shape 56"/>
          <p:cNvSpPr/>
          <p:nvPr/>
        </p:nvSpPr>
        <p:spPr>
          <a:xfrm>
            <a:off x="2651760" y="5354828"/>
            <a:ext cx="823231" cy="110744"/>
          </a:xfrm>
          <a:prstGeom prst="rect">
            <a:avLst/>
          </a:prstGeom>
          <a:solidFill>
            <a:srgbClr val="2587C5"/>
          </a:solidFill>
          <a:ln/>
        </p:spPr>
      </p:sp>
      <p:sp>
        <p:nvSpPr>
          <p:cNvPr id="59" name="Text 57"/>
          <p:cNvSpPr txBox="1"/>
          <p:nvPr/>
        </p:nvSpPr>
        <p:spPr>
          <a:xfrm>
            <a:off x="5120640" y="5299456"/>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$184.87</a:t>
            </a:r>
            <a:endParaRPr lang="en-US" sz="1300" dirty="0"/>
          </a:p>
        </p:txBody>
      </p:sp>
      <p:sp>
        <p:nvSpPr>
          <p:cNvPr id="60" name="Text 58"/>
          <p:cNvSpPr txBox="1"/>
          <p:nvPr/>
        </p:nvSpPr>
        <p:spPr>
          <a:xfrm>
            <a:off x="658368" y="552094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61" name="Shape 59"/>
          <p:cNvSpPr/>
          <p:nvPr/>
        </p:nvSpPr>
        <p:spPr>
          <a:xfrm>
            <a:off x="2651760" y="5576316"/>
            <a:ext cx="774732" cy="110744"/>
          </a:xfrm>
          <a:prstGeom prst="rect">
            <a:avLst/>
          </a:prstGeom>
          <a:solidFill>
            <a:srgbClr val="2587C5"/>
          </a:solidFill>
          <a:ln/>
        </p:spPr>
      </p:sp>
      <p:sp>
        <p:nvSpPr>
          <p:cNvPr id="62" name="Text 60"/>
          <p:cNvSpPr txBox="1"/>
          <p:nvPr/>
        </p:nvSpPr>
        <p:spPr>
          <a:xfrm>
            <a:off x="5120640" y="5520944"/>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$179.87</a:t>
            </a:r>
            <a:endParaRPr lang="en-US" sz="1300" dirty="0"/>
          </a:p>
        </p:txBody>
      </p:sp>
      <p:sp>
        <p:nvSpPr>
          <p:cNvPr id="63" name="Text 61"/>
          <p:cNvSpPr txBox="1"/>
          <p:nvPr/>
        </p:nvSpPr>
        <p:spPr>
          <a:xfrm>
            <a:off x="6208776" y="1316736"/>
            <a:ext cx="4334256" cy="32918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NO GRID · 16 STORES</a:t>
            </a:r>
            <a:endParaRPr lang="en-US" sz="1400" dirty="0"/>
          </a:p>
        </p:txBody>
      </p:sp>
      <p:sp>
        <p:nvSpPr>
          <p:cNvPr id="64" name="Text 62"/>
          <p:cNvSpPr txBox="1"/>
          <p:nvPr/>
        </p:nvSpPr>
        <p:spPr>
          <a:xfrm>
            <a:off x="10671048" y="1316736"/>
            <a:ext cx="74980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DOOR</a:t>
            </a:r>
            <a:endParaRPr lang="en-US" sz="1400" dirty="0"/>
          </a:p>
        </p:txBody>
      </p:sp>
      <p:sp>
        <p:nvSpPr>
          <p:cNvPr id="65" name="Text 63"/>
          <p:cNvSpPr txBox="1"/>
          <p:nvPr/>
        </p:nvSpPr>
        <p:spPr>
          <a:xfrm>
            <a:off x="6208776" y="175564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66" name="Shape 64"/>
          <p:cNvSpPr/>
          <p:nvPr/>
        </p:nvSpPr>
        <p:spPr>
          <a:xfrm>
            <a:off x="8202168" y="1811020"/>
            <a:ext cx="1697484" cy="110744"/>
          </a:xfrm>
          <a:prstGeom prst="rect">
            <a:avLst/>
          </a:prstGeom>
          <a:solidFill>
            <a:srgbClr val="2587C5"/>
          </a:solidFill>
          <a:ln/>
        </p:spPr>
      </p:sp>
      <p:sp>
        <p:nvSpPr>
          <p:cNvPr id="67" name="Text 65"/>
          <p:cNvSpPr txBox="1"/>
          <p:nvPr/>
        </p:nvSpPr>
        <p:spPr>
          <a:xfrm>
            <a:off x="10671048" y="1755648"/>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$275.00</a:t>
            </a:r>
            <a:endParaRPr lang="en-US" sz="1300" dirty="0"/>
          </a:p>
        </p:txBody>
      </p:sp>
      <p:sp>
        <p:nvSpPr>
          <p:cNvPr id="68" name="Text 66"/>
          <p:cNvSpPr txBox="1"/>
          <p:nvPr/>
        </p:nvSpPr>
        <p:spPr>
          <a:xfrm>
            <a:off x="6208776" y="197713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69" name="Shape 67"/>
          <p:cNvSpPr/>
          <p:nvPr/>
        </p:nvSpPr>
        <p:spPr>
          <a:xfrm>
            <a:off x="8202168" y="2032508"/>
            <a:ext cx="1454501" cy="110744"/>
          </a:xfrm>
          <a:prstGeom prst="rect">
            <a:avLst/>
          </a:prstGeom>
          <a:solidFill>
            <a:srgbClr val="2587C5"/>
          </a:solidFill>
          <a:ln/>
        </p:spPr>
      </p:sp>
      <p:sp>
        <p:nvSpPr>
          <p:cNvPr id="70" name="Text 68"/>
          <p:cNvSpPr txBox="1"/>
          <p:nvPr/>
        </p:nvSpPr>
        <p:spPr>
          <a:xfrm>
            <a:off x="10671048" y="1977136"/>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$249.95</a:t>
            </a:r>
            <a:endParaRPr lang="en-US" sz="1300" dirty="0"/>
          </a:p>
        </p:txBody>
      </p:sp>
      <p:sp>
        <p:nvSpPr>
          <p:cNvPr id="71" name="Text 69"/>
          <p:cNvSpPr txBox="1"/>
          <p:nvPr/>
        </p:nvSpPr>
        <p:spPr>
          <a:xfrm>
            <a:off x="6208776" y="219862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72" name="Shape 70"/>
          <p:cNvSpPr/>
          <p:nvPr/>
        </p:nvSpPr>
        <p:spPr>
          <a:xfrm>
            <a:off x="8202168" y="2253996"/>
            <a:ext cx="1405226" cy="110744"/>
          </a:xfrm>
          <a:prstGeom prst="rect">
            <a:avLst/>
          </a:prstGeom>
          <a:solidFill>
            <a:srgbClr val="2587C5"/>
          </a:solidFill>
          <a:ln/>
        </p:spPr>
      </p:sp>
      <p:sp>
        <p:nvSpPr>
          <p:cNvPr id="73" name="Text 71"/>
          <p:cNvSpPr txBox="1"/>
          <p:nvPr/>
        </p:nvSpPr>
        <p:spPr>
          <a:xfrm>
            <a:off x="10671048" y="2198624"/>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$244.87</a:t>
            </a:r>
            <a:endParaRPr lang="en-US" sz="1300" dirty="0"/>
          </a:p>
        </p:txBody>
      </p:sp>
      <p:sp>
        <p:nvSpPr>
          <p:cNvPr id="74" name="Text 72"/>
          <p:cNvSpPr txBox="1"/>
          <p:nvPr/>
        </p:nvSpPr>
        <p:spPr>
          <a:xfrm>
            <a:off x="6208776" y="2420112"/>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75" name="Shape 73"/>
          <p:cNvSpPr/>
          <p:nvPr/>
        </p:nvSpPr>
        <p:spPr>
          <a:xfrm>
            <a:off x="8202168" y="2475484"/>
            <a:ext cx="1260503" cy="110744"/>
          </a:xfrm>
          <a:prstGeom prst="rect">
            <a:avLst/>
          </a:prstGeom>
          <a:solidFill>
            <a:srgbClr val="2587C5"/>
          </a:solidFill>
          <a:ln/>
        </p:spPr>
      </p:sp>
      <p:sp>
        <p:nvSpPr>
          <p:cNvPr id="76" name="Text 74"/>
          <p:cNvSpPr txBox="1"/>
          <p:nvPr/>
        </p:nvSpPr>
        <p:spPr>
          <a:xfrm>
            <a:off x="10671048" y="2420112"/>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$229.95</a:t>
            </a:r>
            <a:endParaRPr lang="en-US" sz="1300" dirty="0"/>
          </a:p>
        </p:txBody>
      </p:sp>
      <p:sp>
        <p:nvSpPr>
          <p:cNvPr id="77" name="Text 75"/>
          <p:cNvSpPr txBox="1"/>
          <p:nvPr/>
        </p:nvSpPr>
        <p:spPr>
          <a:xfrm>
            <a:off x="6208776" y="2641600"/>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78" name="Shape 76"/>
          <p:cNvSpPr/>
          <p:nvPr/>
        </p:nvSpPr>
        <p:spPr>
          <a:xfrm>
            <a:off x="8202168" y="2696972"/>
            <a:ext cx="1163989" cy="110744"/>
          </a:xfrm>
          <a:prstGeom prst="rect">
            <a:avLst/>
          </a:prstGeom>
          <a:solidFill>
            <a:srgbClr val="2587C5"/>
          </a:solidFill>
          <a:ln/>
        </p:spPr>
      </p:sp>
      <p:sp>
        <p:nvSpPr>
          <p:cNvPr id="79" name="Text 77"/>
          <p:cNvSpPr txBox="1"/>
          <p:nvPr/>
        </p:nvSpPr>
        <p:spPr>
          <a:xfrm>
            <a:off x="10671048" y="2641600"/>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$220.00</a:t>
            </a:r>
            <a:endParaRPr lang="en-US" sz="1300" dirty="0"/>
          </a:p>
        </p:txBody>
      </p:sp>
      <p:sp>
        <p:nvSpPr>
          <p:cNvPr id="80" name="Text 78"/>
          <p:cNvSpPr txBox="1"/>
          <p:nvPr/>
        </p:nvSpPr>
        <p:spPr>
          <a:xfrm>
            <a:off x="6208776" y="286308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81" name="Shape 79"/>
          <p:cNvSpPr/>
          <p:nvPr/>
        </p:nvSpPr>
        <p:spPr>
          <a:xfrm>
            <a:off x="8202168" y="2918460"/>
            <a:ext cx="1119078" cy="110744"/>
          </a:xfrm>
          <a:prstGeom prst="rect">
            <a:avLst/>
          </a:prstGeom>
          <a:solidFill>
            <a:srgbClr val="2587C5"/>
          </a:solidFill>
          <a:ln/>
        </p:spPr>
      </p:sp>
      <p:sp>
        <p:nvSpPr>
          <p:cNvPr id="82" name="Text 80"/>
          <p:cNvSpPr txBox="1"/>
          <p:nvPr/>
        </p:nvSpPr>
        <p:spPr>
          <a:xfrm>
            <a:off x="10671048" y="2863088"/>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$215.37</a:t>
            </a:r>
            <a:endParaRPr lang="en-US" sz="1300" dirty="0"/>
          </a:p>
        </p:txBody>
      </p:sp>
      <p:sp>
        <p:nvSpPr>
          <p:cNvPr id="83" name="Text 81"/>
          <p:cNvSpPr txBox="1"/>
          <p:nvPr/>
        </p:nvSpPr>
        <p:spPr>
          <a:xfrm>
            <a:off x="6208776" y="308457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84" name="Shape 82"/>
          <p:cNvSpPr/>
          <p:nvPr/>
        </p:nvSpPr>
        <p:spPr>
          <a:xfrm>
            <a:off x="8202168" y="3139948"/>
            <a:ext cx="1066990" cy="110744"/>
          </a:xfrm>
          <a:prstGeom prst="rect">
            <a:avLst/>
          </a:prstGeom>
          <a:solidFill>
            <a:srgbClr val="2587C5"/>
          </a:solidFill>
          <a:ln/>
        </p:spPr>
      </p:sp>
      <p:sp>
        <p:nvSpPr>
          <p:cNvPr id="85" name="Text 83"/>
          <p:cNvSpPr txBox="1"/>
          <p:nvPr/>
        </p:nvSpPr>
        <p:spPr>
          <a:xfrm>
            <a:off x="10671048" y="3084576"/>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$210.00</a:t>
            </a:r>
            <a:endParaRPr lang="en-US" sz="1300" dirty="0"/>
          </a:p>
        </p:txBody>
      </p:sp>
      <p:sp>
        <p:nvSpPr>
          <p:cNvPr id="86" name="Text 84"/>
          <p:cNvSpPr txBox="1"/>
          <p:nvPr/>
        </p:nvSpPr>
        <p:spPr>
          <a:xfrm>
            <a:off x="6208776" y="330606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87" name="Shape 85"/>
          <p:cNvSpPr/>
          <p:nvPr/>
        </p:nvSpPr>
        <p:spPr>
          <a:xfrm>
            <a:off x="8202168" y="3361436"/>
            <a:ext cx="1066990" cy="110744"/>
          </a:xfrm>
          <a:prstGeom prst="rect">
            <a:avLst/>
          </a:prstGeom>
          <a:solidFill>
            <a:srgbClr val="2587C5"/>
          </a:solidFill>
          <a:ln/>
        </p:spPr>
      </p:sp>
      <p:sp>
        <p:nvSpPr>
          <p:cNvPr id="88" name="Text 86"/>
          <p:cNvSpPr txBox="1"/>
          <p:nvPr/>
        </p:nvSpPr>
        <p:spPr>
          <a:xfrm>
            <a:off x="10671048" y="3306064"/>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$210.00</a:t>
            </a:r>
            <a:endParaRPr lang="en-US" sz="1300" dirty="0"/>
          </a:p>
        </p:txBody>
      </p:sp>
      <p:sp>
        <p:nvSpPr>
          <p:cNvPr id="89" name="Shape 87"/>
          <p:cNvSpPr/>
          <p:nvPr/>
        </p:nvSpPr>
        <p:spPr>
          <a:xfrm>
            <a:off x="6153912" y="3527552"/>
            <a:ext cx="5285232" cy="212344"/>
          </a:xfrm>
          <a:prstGeom prst="rect">
            <a:avLst/>
          </a:prstGeom>
          <a:solidFill>
            <a:srgbClr val="EDF4FA"/>
          </a:solidFill>
          <a:ln/>
        </p:spPr>
      </p:sp>
      <p:sp>
        <p:nvSpPr>
          <p:cNvPr id="90" name="Text 88"/>
          <p:cNvSpPr txBox="1"/>
          <p:nvPr/>
        </p:nvSpPr>
        <p:spPr>
          <a:xfrm>
            <a:off x="6208776" y="3527552"/>
            <a:ext cx="1920240" cy="221488"/>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NO-GRID AVG</a:t>
            </a:r>
            <a:endParaRPr lang="en-US" sz="1300" dirty="0"/>
          </a:p>
        </p:txBody>
      </p:sp>
      <p:sp>
        <p:nvSpPr>
          <p:cNvPr id="91" name="Shape 89"/>
          <p:cNvSpPr/>
          <p:nvPr/>
        </p:nvSpPr>
        <p:spPr>
          <a:xfrm>
            <a:off x="8202168" y="3582924"/>
            <a:ext cx="997468" cy="110744"/>
          </a:xfrm>
          <a:prstGeom prst="rect">
            <a:avLst/>
          </a:prstGeom>
          <a:solidFill>
            <a:srgbClr val="0B2C4A"/>
          </a:solidFill>
          <a:ln/>
        </p:spPr>
      </p:sp>
      <p:sp>
        <p:nvSpPr>
          <p:cNvPr id="92" name="Text 90"/>
          <p:cNvSpPr txBox="1"/>
          <p:nvPr/>
        </p:nvSpPr>
        <p:spPr>
          <a:xfrm>
            <a:off x="10671048" y="3527552"/>
            <a:ext cx="749808" cy="22148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$202.83</a:t>
            </a:r>
            <a:endParaRPr lang="en-US" sz="1300" dirty="0"/>
          </a:p>
        </p:txBody>
      </p:sp>
      <p:sp>
        <p:nvSpPr>
          <p:cNvPr id="93" name="Text 91"/>
          <p:cNvSpPr txBox="1"/>
          <p:nvPr/>
        </p:nvSpPr>
        <p:spPr>
          <a:xfrm>
            <a:off x="6208776" y="3749040"/>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94" name="Shape 92"/>
          <p:cNvSpPr/>
          <p:nvPr/>
        </p:nvSpPr>
        <p:spPr>
          <a:xfrm>
            <a:off x="8202168" y="3804412"/>
            <a:ext cx="969506" cy="110744"/>
          </a:xfrm>
          <a:prstGeom prst="rect">
            <a:avLst/>
          </a:prstGeom>
          <a:solidFill>
            <a:srgbClr val="2587C5"/>
          </a:solidFill>
          <a:ln/>
        </p:spPr>
      </p:sp>
      <p:sp>
        <p:nvSpPr>
          <p:cNvPr id="95" name="Text 93"/>
          <p:cNvSpPr txBox="1"/>
          <p:nvPr/>
        </p:nvSpPr>
        <p:spPr>
          <a:xfrm>
            <a:off x="10671048" y="3749040"/>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$199.95</a:t>
            </a:r>
            <a:endParaRPr lang="en-US" sz="1300" dirty="0"/>
          </a:p>
        </p:txBody>
      </p:sp>
      <p:sp>
        <p:nvSpPr>
          <p:cNvPr id="96" name="Text 94"/>
          <p:cNvSpPr txBox="1"/>
          <p:nvPr/>
        </p:nvSpPr>
        <p:spPr>
          <a:xfrm>
            <a:off x="6208776" y="397052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97" name="Shape 95"/>
          <p:cNvSpPr/>
          <p:nvPr/>
        </p:nvSpPr>
        <p:spPr>
          <a:xfrm>
            <a:off x="8202168" y="4025900"/>
            <a:ext cx="921491" cy="110744"/>
          </a:xfrm>
          <a:prstGeom prst="rect">
            <a:avLst/>
          </a:prstGeom>
          <a:solidFill>
            <a:srgbClr val="2587C5"/>
          </a:solidFill>
          <a:ln/>
        </p:spPr>
      </p:sp>
      <p:sp>
        <p:nvSpPr>
          <p:cNvPr id="98" name="Text 96"/>
          <p:cNvSpPr txBox="1"/>
          <p:nvPr/>
        </p:nvSpPr>
        <p:spPr>
          <a:xfrm>
            <a:off x="10671048" y="3970528"/>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$195.00</a:t>
            </a:r>
            <a:endParaRPr lang="en-US" sz="1300" dirty="0"/>
          </a:p>
        </p:txBody>
      </p:sp>
      <p:sp>
        <p:nvSpPr>
          <p:cNvPr id="99" name="Text 97"/>
          <p:cNvSpPr txBox="1"/>
          <p:nvPr/>
        </p:nvSpPr>
        <p:spPr>
          <a:xfrm>
            <a:off x="6208776" y="419201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100" name="Shape 98"/>
          <p:cNvSpPr/>
          <p:nvPr/>
        </p:nvSpPr>
        <p:spPr>
          <a:xfrm>
            <a:off x="8202168" y="4247388"/>
            <a:ext cx="872992" cy="110744"/>
          </a:xfrm>
          <a:prstGeom prst="rect">
            <a:avLst/>
          </a:prstGeom>
          <a:solidFill>
            <a:srgbClr val="2587C5"/>
          </a:solidFill>
          <a:ln/>
        </p:spPr>
      </p:sp>
      <p:sp>
        <p:nvSpPr>
          <p:cNvPr id="101" name="Text 99"/>
          <p:cNvSpPr txBox="1"/>
          <p:nvPr/>
        </p:nvSpPr>
        <p:spPr>
          <a:xfrm>
            <a:off x="10671048" y="4192016"/>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$190.00</a:t>
            </a:r>
            <a:endParaRPr lang="en-US" sz="1300" dirty="0"/>
          </a:p>
        </p:txBody>
      </p:sp>
      <p:sp>
        <p:nvSpPr>
          <p:cNvPr id="102" name="Text 100"/>
          <p:cNvSpPr txBox="1"/>
          <p:nvPr/>
        </p:nvSpPr>
        <p:spPr>
          <a:xfrm>
            <a:off x="6208776" y="441350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103" name="Shape 101"/>
          <p:cNvSpPr/>
          <p:nvPr/>
        </p:nvSpPr>
        <p:spPr>
          <a:xfrm>
            <a:off x="8202168" y="4468876"/>
            <a:ext cx="824492" cy="110744"/>
          </a:xfrm>
          <a:prstGeom prst="rect">
            <a:avLst/>
          </a:prstGeom>
          <a:solidFill>
            <a:srgbClr val="2587C5"/>
          </a:solidFill>
          <a:ln/>
        </p:spPr>
      </p:sp>
      <p:sp>
        <p:nvSpPr>
          <p:cNvPr id="104" name="Text 102"/>
          <p:cNvSpPr txBox="1"/>
          <p:nvPr/>
        </p:nvSpPr>
        <p:spPr>
          <a:xfrm>
            <a:off x="10671048" y="4413504"/>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$185.00</a:t>
            </a:r>
            <a:endParaRPr lang="en-US" sz="1300" dirty="0"/>
          </a:p>
        </p:txBody>
      </p:sp>
      <p:sp>
        <p:nvSpPr>
          <p:cNvPr id="105" name="Text 103"/>
          <p:cNvSpPr txBox="1"/>
          <p:nvPr/>
        </p:nvSpPr>
        <p:spPr>
          <a:xfrm>
            <a:off x="6208776" y="4634992"/>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106" name="Shape 104"/>
          <p:cNvSpPr/>
          <p:nvPr/>
        </p:nvSpPr>
        <p:spPr>
          <a:xfrm>
            <a:off x="8202168" y="4690364"/>
            <a:ext cx="824492" cy="110744"/>
          </a:xfrm>
          <a:prstGeom prst="rect">
            <a:avLst/>
          </a:prstGeom>
          <a:solidFill>
            <a:srgbClr val="2587C5"/>
          </a:solidFill>
          <a:ln/>
        </p:spPr>
      </p:sp>
      <p:sp>
        <p:nvSpPr>
          <p:cNvPr id="107" name="Text 105"/>
          <p:cNvSpPr txBox="1"/>
          <p:nvPr/>
        </p:nvSpPr>
        <p:spPr>
          <a:xfrm>
            <a:off x="10671048" y="4634992"/>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$185.00</a:t>
            </a:r>
            <a:endParaRPr lang="en-US" sz="1300" dirty="0"/>
          </a:p>
        </p:txBody>
      </p:sp>
      <p:sp>
        <p:nvSpPr>
          <p:cNvPr id="108" name="Text 106"/>
          <p:cNvSpPr txBox="1"/>
          <p:nvPr/>
        </p:nvSpPr>
        <p:spPr>
          <a:xfrm>
            <a:off x="6208776" y="4856480"/>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109" name="Shape 107"/>
          <p:cNvSpPr/>
          <p:nvPr/>
        </p:nvSpPr>
        <p:spPr>
          <a:xfrm>
            <a:off x="8202168" y="4911852"/>
            <a:ext cx="824492" cy="110744"/>
          </a:xfrm>
          <a:prstGeom prst="rect">
            <a:avLst/>
          </a:prstGeom>
          <a:solidFill>
            <a:srgbClr val="2587C5"/>
          </a:solidFill>
          <a:ln/>
        </p:spPr>
      </p:sp>
      <p:sp>
        <p:nvSpPr>
          <p:cNvPr id="110" name="Text 108"/>
          <p:cNvSpPr txBox="1"/>
          <p:nvPr/>
        </p:nvSpPr>
        <p:spPr>
          <a:xfrm>
            <a:off x="10671048" y="4856480"/>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$185.00</a:t>
            </a:r>
            <a:endParaRPr lang="en-US" sz="1300" dirty="0"/>
          </a:p>
        </p:txBody>
      </p:sp>
      <p:sp>
        <p:nvSpPr>
          <p:cNvPr id="111" name="Text 109"/>
          <p:cNvSpPr txBox="1"/>
          <p:nvPr/>
        </p:nvSpPr>
        <p:spPr>
          <a:xfrm>
            <a:off x="6208776" y="507796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112" name="Shape 110"/>
          <p:cNvSpPr/>
          <p:nvPr/>
        </p:nvSpPr>
        <p:spPr>
          <a:xfrm>
            <a:off x="8202168" y="5133340"/>
            <a:ext cx="824492" cy="110744"/>
          </a:xfrm>
          <a:prstGeom prst="rect">
            <a:avLst/>
          </a:prstGeom>
          <a:solidFill>
            <a:srgbClr val="2587C5"/>
          </a:solidFill>
          <a:ln/>
        </p:spPr>
      </p:sp>
      <p:sp>
        <p:nvSpPr>
          <p:cNvPr id="113" name="Text 111"/>
          <p:cNvSpPr txBox="1"/>
          <p:nvPr/>
        </p:nvSpPr>
        <p:spPr>
          <a:xfrm>
            <a:off x="10671048" y="5077968"/>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$185.00</a:t>
            </a:r>
            <a:endParaRPr lang="en-US" sz="1300" dirty="0"/>
          </a:p>
        </p:txBody>
      </p:sp>
      <p:sp>
        <p:nvSpPr>
          <p:cNvPr id="114" name="Text 112"/>
          <p:cNvSpPr txBox="1"/>
          <p:nvPr/>
        </p:nvSpPr>
        <p:spPr>
          <a:xfrm>
            <a:off x="6208776" y="529945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115" name="Shape 113"/>
          <p:cNvSpPr/>
          <p:nvPr/>
        </p:nvSpPr>
        <p:spPr>
          <a:xfrm>
            <a:off x="8202168" y="5354828"/>
            <a:ext cx="766293" cy="110744"/>
          </a:xfrm>
          <a:prstGeom prst="rect">
            <a:avLst/>
          </a:prstGeom>
          <a:solidFill>
            <a:srgbClr val="2587C5"/>
          </a:solidFill>
          <a:ln/>
        </p:spPr>
      </p:sp>
      <p:sp>
        <p:nvSpPr>
          <p:cNvPr id="116" name="Text 114"/>
          <p:cNvSpPr txBox="1"/>
          <p:nvPr/>
        </p:nvSpPr>
        <p:spPr>
          <a:xfrm>
            <a:off x="10671048" y="5299456"/>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$179.00</a:t>
            </a:r>
            <a:endParaRPr lang="en-US" sz="1300" dirty="0"/>
          </a:p>
        </p:txBody>
      </p:sp>
      <p:sp>
        <p:nvSpPr>
          <p:cNvPr id="117" name="Shape 115"/>
          <p:cNvSpPr/>
          <p:nvPr/>
        </p:nvSpPr>
        <p:spPr>
          <a:xfrm>
            <a:off x="6035040" y="1371600"/>
            <a:ext cx="10973" cy="4370832"/>
          </a:xfrm>
          <a:prstGeom prst="rect">
            <a:avLst/>
          </a:prstGeom>
          <a:solidFill>
            <a:srgbClr val="D9D9D9"/>
          </a:solidFill>
          <a:ln/>
        </p:spPr>
      </p:sp>
      <p:sp>
        <p:nvSpPr>
          <p:cNvPr id="118" name="Shape 116"/>
          <p:cNvSpPr/>
          <p:nvPr/>
        </p:nvSpPr>
        <p:spPr>
          <a:xfrm>
            <a:off x="457200" y="5961888"/>
            <a:ext cx="11274552" cy="548640"/>
          </a:xfrm>
          <a:prstGeom prst="rect">
            <a:avLst/>
          </a:prstGeom>
          <a:solidFill>
            <a:srgbClr val="EDF4FA"/>
          </a:solidFill>
          <a:ln/>
        </p:spPr>
      </p:sp>
      <p:sp>
        <p:nvSpPr>
          <p:cNvPr id="119" name="Text 117"/>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17 stores price labor on a grid, 16 at a flat door rate. Hours-weighted door rate: $228.55 grid, $202.83 no grid.</a:t>
            </a:r>
            <a:endParaRPr lang="en-US" sz="1600" dirty="0"/>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Door Rate</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316736"/>
            <a:ext cx="2688336" cy="32918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LABOR GRID · 17 STORES</a:t>
            </a:r>
            <a:endParaRPr lang="en-US" sz="1400" dirty="0"/>
          </a:p>
        </p:txBody>
      </p:sp>
      <p:sp>
        <p:nvSpPr>
          <p:cNvPr id="7" name="Text 5"/>
          <p:cNvSpPr txBox="1"/>
          <p:nvPr/>
        </p:nvSpPr>
        <p:spPr>
          <a:xfrm>
            <a:off x="3474720" y="1316736"/>
            <a:ext cx="74980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DOOR</a:t>
            </a:r>
            <a:endParaRPr lang="en-US" sz="1400" dirty="0"/>
          </a:p>
        </p:txBody>
      </p:sp>
      <p:sp>
        <p:nvSpPr>
          <p:cNvPr id="8" name="Text 6"/>
          <p:cNvSpPr txBox="1"/>
          <p:nvPr/>
        </p:nvSpPr>
        <p:spPr>
          <a:xfrm>
            <a:off x="4224528" y="1316736"/>
            <a:ext cx="987552"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PREMIUM</a:t>
            </a:r>
            <a:endParaRPr lang="en-US" sz="1400" dirty="0"/>
          </a:p>
        </p:txBody>
      </p:sp>
      <p:sp>
        <p:nvSpPr>
          <p:cNvPr id="9" name="Text 7"/>
          <p:cNvSpPr txBox="1"/>
          <p:nvPr/>
        </p:nvSpPr>
        <p:spPr>
          <a:xfrm>
            <a:off x="5212080" y="1316736"/>
            <a:ext cx="65836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FOR</a:t>
            </a:r>
            <a:endParaRPr lang="en-US" sz="1400" dirty="0"/>
          </a:p>
        </p:txBody>
      </p:sp>
      <p:sp>
        <p:nvSpPr>
          <p:cNvPr id="10" name="Text 8"/>
          <p:cNvSpPr txBox="1"/>
          <p:nvPr/>
        </p:nvSpPr>
        <p:spPr>
          <a:xfrm>
            <a:off x="658368" y="175564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11" name="Shape 9"/>
          <p:cNvSpPr/>
          <p:nvPr/>
        </p:nvSpPr>
        <p:spPr>
          <a:xfrm>
            <a:off x="2651760" y="1811020"/>
            <a:ext cx="768096" cy="110744"/>
          </a:xfrm>
          <a:prstGeom prst="rect">
            <a:avLst/>
          </a:prstGeom>
          <a:solidFill>
            <a:srgbClr val="2587C5"/>
          </a:solidFill>
          <a:ln/>
        </p:spPr>
      </p:sp>
      <p:sp>
        <p:nvSpPr>
          <p:cNvPr id="12" name="Text 10"/>
          <p:cNvSpPr txBox="1"/>
          <p:nvPr/>
        </p:nvSpPr>
        <p:spPr>
          <a:xfrm>
            <a:off x="3474720" y="1755648"/>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$348.87</a:t>
            </a:r>
            <a:endParaRPr lang="en-US" sz="1300" dirty="0"/>
          </a:p>
        </p:txBody>
      </p:sp>
      <p:sp>
        <p:nvSpPr>
          <p:cNvPr id="13" name="Text 11"/>
          <p:cNvSpPr txBox="1"/>
          <p:nvPr/>
        </p:nvSpPr>
        <p:spPr>
          <a:xfrm>
            <a:off x="4224528" y="1755648"/>
            <a:ext cx="987552"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$399.00</a:t>
            </a:r>
            <a:endParaRPr lang="en-US" sz="1300" dirty="0"/>
          </a:p>
        </p:txBody>
      </p:sp>
      <p:sp>
        <p:nvSpPr>
          <p:cNvPr id="14" name="Text 12"/>
          <p:cNvSpPr txBox="1"/>
          <p:nvPr/>
        </p:nvSpPr>
        <p:spPr>
          <a:xfrm>
            <a:off x="5212080" y="1755648"/>
            <a:ext cx="658368"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Lambo</a:t>
            </a:r>
            <a:endParaRPr lang="en-US" sz="1300" dirty="0"/>
          </a:p>
        </p:txBody>
      </p:sp>
      <p:sp>
        <p:nvSpPr>
          <p:cNvPr id="15" name="Text 13"/>
          <p:cNvSpPr txBox="1"/>
          <p:nvPr/>
        </p:nvSpPr>
        <p:spPr>
          <a:xfrm>
            <a:off x="658368" y="197713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16" name="Shape 14"/>
          <p:cNvSpPr/>
          <p:nvPr/>
        </p:nvSpPr>
        <p:spPr>
          <a:xfrm>
            <a:off x="2651760" y="2032508"/>
            <a:ext cx="648130" cy="110744"/>
          </a:xfrm>
          <a:prstGeom prst="rect">
            <a:avLst/>
          </a:prstGeom>
          <a:solidFill>
            <a:srgbClr val="2587C5"/>
          </a:solidFill>
          <a:ln/>
        </p:spPr>
      </p:sp>
      <p:sp>
        <p:nvSpPr>
          <p:cNvPr id="17" name="Text 15"/>
          <p:cNvSpPr txBox="1"/>
          <p:nvPr/>
        </p:nvSpPr>
        <p:spPr>
          <a:xfrm>
            <a:off x="3474720" y="1977136"/>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$310.00</a:t>
            </a:r>
            <a:endParaRPr lang="en-US" sz="1300" dirty="0"/>
          </a:p>
        </p:txBody>
      </p:sp>
      <p:sp>
        <p:nvSpPr>
          <p:cNvPr id="18" name="Text 16"/>
          <p:cNvSpPr txBox="1"/>
          <p:nvPr/>
        </p:nvSpPr>
        <p:spPr>
          <a:xfrm>
            <a:off x="4224528" y="1977136"/>
            <a:ext cx="987552" cy="221488"/>
          </a:xfrm>
          <a:prstGeom prst="rect">
            <a:avLst/>
          </a:prstGeom>
          <a:noFill/>
          <a:ln/>
        </p:spPr>
        <p:txBody>
          <a:bodyPr wrap="square" lIns="0" tIns="0" rIns="0" bIns="0" rtlCol="0" anchor="ctr"/>
          <a:lstStyle/>
          <a:p>
            <a:pPr algn="r" indent="0" marL="0">
              <a:buNone/>
            </a:pPr>
            <a:endParaRPr lang="en-US" sz="1300" dirty="0"/>
          </a:p>
        </p:txBody>
      </p:sp>
      <p:sp>
        <p:nvSpPr>
          <p:cNvPr id="19" name="Text 17"/>
          <p:cNvSpPr txBox="1"/>
          <p:nvPr/>
        </p:nvSpPr>
        <p:spPr>
          <a:xfrm>
            <a:off x="5212080" y="1977136"/>
            <a:ext cx="658368" cy="221488"/>
          </a:xfrm>
          <a:prstGeom prst="rect">
            <a:avLst/>
          </a:prstGeom>
          <a:noFill/>
          <a:ln/>
        </p:spPr>
        <p:txBody>
          <a:bodyPr wrap="square" lIns="0" tIns="0" rIns="0" bIns="0" rtlCol="0" anchor="ctr"/>
          <a:lstStyle/>
          <a:p>
            <a:pPr algn="r" indent="0" marL="0">
              <a:buNone/>
            </a:pPr>
            <a:endParaRPr lang="en-US" sz="1300" dirty="0"/>
          </a:p>
        </p:txBody>
      </p:sp>
      <p:sp>
        <p:nvSpPr>
          <p:cNvPr id="20" name="Text 18"/>
          <p:cNvSpPr txBox="1"/>
          <p:nvPr/>
        </p:nvSpPr>
        <p:spPr>
          <a:xfrm>
            <a:off x="658368" y="219862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21" name="Shape 19"/>
          <p:cNvSpPr/>
          <p:nvPr/>
        </p:nvSpPr>
        <p:spPr>
          <a:xfrm>
            <a:off x="2651760" y="2253996"/>
            <a:ext cx="601434" cy="110744"/>
          </a:xfrm>
          <a:prstGeom prst="rect">
            <a:avLst/>
          </a:prstGeom>
          <a:solidFill>
            <a:srgbClr val="2587C5"/>
          </a:solidFill>
          <a:ln/>
        </p:spPr>
      </p:sp>
      <p:sp>
        <p:nvSpPr>
          <p:cNvPr id="22" name="Text 20"/>
          <p:cNvSpPr txBox="1"/>
          <p:nvPr/>
        </p:nvSpPr>
        <p:spPr>
          <a:xfrm>
            <a:off x="3474720" y="2198624"/>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$294.87</a:t>
            </a:r>
            <a:endParaRPr lang="en-US" sz="1300" dirty="0"/>
          </a:p>
        </p:txBody>
      </p:sp>
      <p:sp>
        <p:nvSpPr>
          <p:cNvPr id="23" name="Text 21"/>
          <p:cNvSpPr txBox="1"/>
          <p:nvPr/>
        </p:nvSpPr>
        <p:spPr>
          <a:xfrm>
            <a:off x="4224528" y="2198624"/>
            <a:ext cx="987552" cy="221488"/>
          </a:xfrm>
          <a:prstGeom prst="rect">
            <a:avLst/>
          </a:prstGeom>
          <a:noFill/>
          <a:ln/>
        </p:spPr>
        <p:txBody>
          <a:bodyPr wrap="square" lIns="0" tIns="0" rIns="0" bIns="0" rtlCol="0" anchor="ctr"/>
          <a:lstStyle/>
          <a:p>
            <a:pPr algn="r" indent="0" marL="0">
              <a:buNone/>
            </a:pPr>
            <a:endParaRPr lang="en-US" sz="1300" dirty="0"/>
          </a:p>
        </p:txBody>
      </p:sp>
      <p:sp>
        <p:nvSpPr>
          <p:cNvPr id="24" name="Text 22"/>
          <p:cNvSpPr txBox="1"/>
          <p:nvPr/>
        </p:nvSpPr>
        <p:spPr>
          <a:xfrm>
            <a:off x="5212080" y="2198624"/>
            <a:ext cx="658368" cy="221488"/>
          </a:xfrm>
          <a:prstGeom prst="rect">
            <a:avLst/>
          </a:prstGeom>
          <a:noFill/>
          <a:ln/>
        </p:spPr>
        <p:txBody>
          <a:bodyPr wrap="square" lIns="0" tIns="0" rIns="0" bIns="0" rtlCol="0" anchor="ctr"/>
          <a:lstStyle/>
          <a:p>
            <a:pPr algn="r" indent="0" marL="0">
              <a:buNone/>
            </a:pPr>
            <a:endParaRPr lang="en-US" sz="1300" dirty="0"/>
          </a:p>
        </p:txBody>
      </p:sp>
      <p:sp>
        <p:nvSpPr>
          <p:cNvPr id="25" name="Text 23"/>
          <p:cNvSpPr txBox="1"/>
          <p:nvPr/>
        </p:nvSpPr>
        <p:spPr>
          <a:xfrm>
            <a:off x="658368" y="2420112"/>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26" name="Shape 24"/>
          <p:cNvSpPr/>
          <p:nvPr/>
        </p:nvSpPr>
        <p:spPr>
          <a:xfrm>
            <a:off x="2651760" y="2475484"/>
            <a:ext cx="570972" cy="110744"/>
          </a:xfrm>
          <a:prstGeom prst="rect">
            <a:avLst/>
          </a:prstGeom>
          <a:solidFill>
            <a:srgbClr val="2587C5"/>
          </a:solidFill>
          <a:ln/>
        </p:spPr>
      </p:sp>
      <p:sp>
        <p:nvSpPr>
          <p:cNvPr id="27" name="Text 25"/>
          <p:cNvSpPr txBox="1"/>
          <p:nvPr/>
        </p:nvSpPr>
        <p:spPr>
          <a:xfrm>
            <a:off x="3474720" y="2420112"/>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$285.00</a:t>
            </a:r>
            <a:endParaRPr lang="en-US" sz="1300" dirty="0"/>
          </a:p>
        </p:txBody>
      </p:sp>
      <p:sp>
        <p:nvSpPr>
          <p:cNvPr id="28" name="Text 26"/>
          <p:cNvSpPr txBox="1"/>
          <p:nvPr/>
        </p:nvSpPr>
        <p:spPr>
          <a:xfrm>
            <a:off x="4224528" y="2420112"/>
            <a:ext cx="987552" cy="221488"/>
          </a:xfrm>
          <a:prstGeom prst="rect">
            <a:avLst/>
          </a:prstGeom>
          <a:noFill/>
          <a:ln/>
        </p:spPr>
        <p:txBody>
          <a:bodyPr wrap="square" lIns="0" tIns="0" rIns="0" bIns="0" rtlCol="0" anchor="ctr"/>
          <a:lstStyle/>
          <a:p>
            <a:pPr algn="r" indent="0" marL="0">
              <a:buNone/>
            </a:pPr>
            <a:endParaRPr lang="en-US" sz="1300" dirty="0"/>
          </a:p>
        </p:txBody>
      </p:sp>
      <p:sp>
        <p:nvSpPr>
          <p:cNvPr id="29" name="Text 27"/>
          <p:cNvSpPr txBox="1"/>
          <p:nvPr/>
        </p:nvSpPr>
        <p:spPr>
          <a:xfrm>
            <a:off x="5212080" y="2420112"/>
            <a:ext cx="658368" cy="221488"/>
          </a:xfrm>
          <a:prstGeom prst="rect">
            <a:avLst/>
          </a:prstGeom>
          <a:noFill/>
          <a:ln/>
        </p:spPr>
        <p:txBody>
          <a:bodyPr wrap="square" lIns="0" tIns="0" rIns="0" bIns="0" rtlCol="0" anchor="ctr"/>
          <a:lstStyle/>
          <a:p>
            <a:pPr algn="r" indent="0" marL="0">
              <a:buNone/>
            </a:pPr>
            <a:endParaRPr lang="en-US" sz="1300" dirty="0"/>
          </a:p>
        </p:txBody>
      </p:sp>
      <p:sp>
        <p:nvSpPr>
          <p:cNvPr id="30" name="Text 28"/>
          <p:cNvSpPr txBox="1"/>
          <p:nvPr/>
        </p:nvSpPr>
        <p:spPr>
          <a:xfrm>
            <a:off x="658368" y="2641600"/>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31" name="Shape 29"/>
          <p:cNvSpPr/>
          <p:nvPr/>
        </p:nvSpPr>
        <p:spPr>
          <a:xfrm>
            <a:off x="2651760" y="2696972"/>
            <a:ext cx="431686" cy="110744"/>
          </a:xfrm>
          <a:prstGeom prst="rect">
            <a:avLst/>
          </a:prstGeom>
          <a:solidFill>
            <a:srgbClr val="2587C5"/>
          </a:solidFill>
          <a:ln/>
        </p:spPr>
      </p:sp>
      <p:sp>
        <p:nvSpPr>
          <p:cNvPr id="32" name="Text 30"/>
          <p:cNvSpPr txBox="1"/>
          <p:nvPr/>
        </p:nvSpPr>
        <p:spPr>
          <a:xfrm>
            <a:off x="3474720" y="2641600"/>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$239.87</a:t>
            </a:r>
            <a:endParaRPr lang="en-US" sz="1300" dirty="0"/>
          </a:p>
        </p:txBody>
      </p:sp>
      <p:sp>
        <p:nvSpPr>
          <p:cNvPr id="33" name="Text 31"/>
          <p:cNvSpPr txBox="1"/>
          <p:nvPr/>
        </p:nvSpPr>
        <p:spPr>
          <a:xfrm>
            <a:off x="4224528" y="2641600"/>
            <a:ext cx="987552" cy="221488"/>
          </a:xfrm>
          <a:prstGeom prst="rect">
            <a:avLst/>
          </a:prstGeom>
          <a:noFill/>
          <a:ln/>
        </p:spPr>
        <p:txBody>
          <a:bodyPr wrap="square" lIns="0" tIns="0" rIns="0" bIns="0" rtlCol="0" anchor="ctr"/>
          <a:lstStyle/>
          <a:p>
            <a:pPr algn="r" indent="0" marL="0">
              <a:buNone/>
            </a:pPr>
            <a:endParaRPr lang="en-US" sz="1300" dirty="0"/>
          </a:p>
        </p:txBody>
      </p:sp>
      <p:sp>
        <p:nvSpPr>
          <p:cNvPr id="34" name="Text 32"/>
          <p:cNvSpPr txBox="1"/>
          <p:nvPr/>
        </p:nvSpPr>
        <p:spPr>
          <a:xfrm>
            <a:off x="5212080" y="2641600"/>
            <a:ext cx="658368" cy="221488"/>
          </a:xfrm>
          <a:prstGeom prst="rect">
            <a:avLst/>
          </a:prstGeom>
          <a:noFill/>
          <a:ln/>
        </p:spPr>
        <p:txBody>
          <a:bodyPr wrap="square" lIns="0" tIns="0" rIns="0" bIns="0" rtlCol="0" anchor="ctr"/>
          <a:lstStyle/>
          <a:p>
            <a:pPr algn="r" indent="0" marL="0">
              <a:buNone/>
            </a:pPr>
            <a:endParaRPr lang="en-US" sz="1300" dirty="0"/>
          </a:p>
        </p:txBody>
      </p:sp>
      <p:sp>
        <p:nvSpPr>
          <p:cNvPr id="35" name="Text 33"/>
          <p:cNvSpPr txBox="1"/>
          <p:nvPr/>
        </p:nvSpPr>
        <p:spPr>
          <a:xfrm>
            <a:off x="658368" y="286308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36" name="Shape 34"/>
          <p:cNvSpPr/>
          <p:nvPr/>
        </p:nvSpPr>
        <p:spPr>
          <a:xfrm>
            <a:off x="2651760" y="2918460"/>
            <a:ext cx="419340" cy="110744"/>
          </a:xfrm>
          <a:prstGeom prst="rect">
            <a:avLst/>
          </a:prstGeom>
          <a:solidFill>
            <a:srgbClr val="2587C5"/>
          </a:solidFill>
          <a:ln/>
        </p:spPr>
      </p:sp>
      <p:sp>
        <p:nvSpPr>
          <p:cNvPr id="37" name="Text 35"/>
          <p:cNvSpPr txBox="1"/>
          <p:nvPr/>
        </p:nvSpPr>
        <p:spPr>
          <a:xfrm>
            <a:off x="3474720" y="2863088"/>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$235.87</a:t>
            </a:r>
            <a:endParaRPr lang="en-US" sz="1300" dirty="0"/>
          </a:p>
        </p:txBody>
      </p:sp>
      <p:sp>
        <p:nvSpPr>
          <p:cNvPr id="38" name="Text 36"/>
          <p:cNvSpPr txBox="1"/>
          <p:nvPr/>
        </p:nvSpPr>
        <p:spPr>
          <a:xfrm>
            <a:off x="4224528" y="2863088"/>
            <a:ext cx="987552" cy="221488"/>
          </a:xfrm>
          <a:prstGeom prst="rect">
            <a:avLst/>
          </a:prstGeom>
          <a:noFill/>
          <a:ln/>
        </p:spPr>
        <p:txBody>
          <a:bodyPr wrap="square" lIns="0" tIns="0" rIns="0" bIns="0" rtlCol="0" anchor="ctr"/>
          <a:lstStyle/>
          <a:p>
            <a:pPr algn="r" indent="0" marL="0">
              <a:buNone/>
            </a:pPr>
            <a:endParaRPr lang="en-US" sz="1300" dirty="0"/>
          </a:p>
        </p:txBody>
      </p:sp>
      <p:sp>
        <p:nvSpPr>
          <p:cNvPr id="39" name="Text 37"/>
          <p:cNvSpPr txBox="1"/>
          <p:nvPr/>
        </p:nvSpPr>
        <p:spPr>
          <a:xfrm>
            <a:off x="5212080" y="2863088"/>
            <a:ext cx="658368" cy="221488"/>
          </a:xfrm>
          <a:prstGeom prst="rect">
            <a:avLst/>
          </a:prstGeom>
          <a:noFill/>
          <a:ln/>
        </p:spPr>
        <p:txBody>
          <a:bodyPr wrap="square" lIns="0" tIns="0" rIns="0" bIns="0" rtlCol="0" anchor="ctr"/>
          <a:lstStyle/>
          <a:p>
            <a:pPr algn="r" indent="0" marL="0">
              <a:buNone/>
            </a:pPr>
            <a:endParaRPr lang="en-US" sz="1300" dirty="0"/>
          </a:p>
        </p:txBody>
      </p:sp>
      <p:sp>
        <p:nvSpPr>
          <p:cNvPr id="40" name="Shape 38"/>
          <p:cNvSpPr/>
          <p:nvPr/>
        </p:nvSpPr>
        <p:spPr>
          <a:xfrm>
            <a:off x="603504" y="3084576"/>
            <a:ext cx="5285232" cy="212344"/>
          </a:xfrm>
          <a:prstGeom prst="rect">
            <a:avLst/>
          </a:prstGeom>
          <a:solidFill>
            <a:srgbClr val="EDF4FA"/>
          </a:solidFill>
          <a:ln/>
        </p:spPr>
      </p:sp>
      <p:sp>
        <p:nvSpPr>
          <p:cNvPr id="41" name="Text 39"/>
          <p:cNvSpPr txBox="1"/>
          <p:nvPr/>
        </p:nvSpPr>
        <p:spPr>
          <a:xfrm>
            <a:off x="658368" y="3084576"/>
            <a:ext cx="1920240" cy="221488"/>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GRID AVG</a:t>
            </a:r>
            <a:endParaRPr lang="en-US" sz="1300" dirty="0"/>
          </a:p>
        </p:txBody>
      </p:sp>
      <p:sp>
        <p:nvSpPr>
          <p:cNvPr id="42" name="Shape 40"/>
          <p:cNvSpPr/>
          <p:nvPr/>
        </p:nvSpPr>
        <p:spPr>
          <a:xfrm>
            <a:off x="2651760" y="3139948"/>
            <a:ext cx="396757" cy="110744"/>
          </a:xfrm>
          <a:prstGeom prst="rect">
            <a:avLst/>
          </a:prstGeom>
          <a:solidFill>
            <a:srgbClr val="0B2C4A"/>
          </a:solidFill>
          <a:ln/>
        </p:spPr>
      </p:sp>
      <p:sp>
        <p:nvSpPr>
          <p:cNvPr id="43" name="Text 41"/>
          <p:cNvSpPr txBox="1"/>
          <p:nvPr/>
        </p:nvSpPr>
        <p:spPr>
          <a:xfrm>
            <a:off x="3474720" y="3084576"/>
            <a:ext cx="749808" cy="22148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$228.55</a:t>
            </a:r>
            <a:endParaRPr lang="en-US" sz="1300" dirty="0"/>
          </a:p>
        </p:txBody>
      </p:sp>
      <p:sp>
        <p:nvSpPr>
          <p:cNvPr id="44" name="Text 42"/>
          <p:cNvSpPr txBox="1"/>
          <p:nvPr/>
        </p:nvSpPr>
        <p:spPr>
          <a:xfrm>
            <a:off x="4224528" y="3084576"/>
            <a:ext cx="987552" cy="221488"/>
          </a:xfrm>
          <a:prstGeom prst="rect">
            <a:avLst/>
          </a:prstGeom>
          <a:noFill/>
          <a:ln/>
        </p:spPr>
        <p:txBody>
          <a:bodyPr wrap="square" lIns="0" tIns="0" rIns="0" bIns="0" rtlCol="0" anchor="ctr"/>
          <a:lstStyle/>
          <a:p>
            <a:pPr algn="r" indent="0" marL="0">
              <a:buNone/>
            </a:pPr>
            <a:endParaRPr lang="en-US" sz="1300" dirty="0"/>
          </a:p>
        </p:txBody>
      </p:sp>
      <p:sp>
        <p:nvSpPr>
          <p:cNvPr id="45" name="Text 43"/>
          <p:cNvSpPr txBox="1"/>
          <p:nvPr/>
        </p:nvSpPr>
        <p:spPr>
          <a:xfrm>
            <a:off x="5212080" y="3084576"/>
            <a:ext cx="658368" cy="221488"/>
          </a:xfrm>
          <a:prstGeom prst="rect">
            <a:avLst/>
          </a:prstGeom>
          <a:noFill/>
          <a:ln/>
        </p:spPr>
        <p:txBody>
          <a:bodyPr wrap="square" lIns="0" tIns="0" rIns="0" bIns="0" rtlCol="0" anchor="ctr"/>
          <a:lstStyle/>
          <a:p>
            <a:pPr algn="r" indent="0" marL="0">
              <a:buNone/>
            </a:pPr>
            <a:endParaRPr lang="en-US" sz="1300" dirty="0"/>
          </a:p>
        </p:txBody>
      </p:sp>
      <p:sp>
        <p:nvSpPr>
          <p:cNvPr id="46" name="Text 44"/>
          <p:cNvSpPr txBox="1"/>
          <p:nvPr/>
        </p:nvSpPr>
        <p:spPr>
          <a:xfrm>
            <a:off x="658368" y="330606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47" name="Shape 45"/>
          <p:cNvSpPr/>
          <p:nvPr/>
        </p:nvSpPr>
        <p:spPr>
          <a:xfrm>
            <a:off x="2651760" y="3361436"/>
            <a:ext cx="385391" cy="110744"/>
          </a:xfrm>
          <a:prstGeom prst="rect">
            <a:avLst/>
          </a:prstGeom>
          <a:solidFill>
            <a:srgbClr val="2587C5"/>
          </a:solidFill>
          <a:ln/>
        </p:spPr>
      </p:sp>
      <p:sp>
        <p:nvSpPr>
          <p:cNvPr id="48" name="Text 46"/>
          <p:cNvSpPr txBox="1"/>
          <p:nvPr/>
        </p:nvSpPr>
        <p:spPr>
          <a:xfrm>
            <a:off x="3474720" y="3306064"/>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$224.87</a:t>
            </a:r>
            <a:endParaRPr lang="en-US" sz="1300" dirty="0"/>
          </a:p>
        </p:txBody>
      </p:sp>
      <p:sp>
        <p:nvSpPr>
          <p:cNvPr id="49" name="Text 47"/>
          <p:cNvSpPr txBox="1"/>
          <p:nvPr/>
        </p:nvSpPr>
        <p:spPr>
          <a:xfrm>
            <a:off x="4224528" y="3306064"/>
            <a:ext cx="987552" cy="221488"/>
          </a:xfrm>
          <a:prstGeom prst="rect">
            <a:avLst/>
          </a:prstGeom>
          <a:noFill/>
          <a:ln/>
        </p:spPr>
        <p:txBody>
          <a:bodyPr wrap="square" lIns="0" tIns="0" rIns="0" bIns="0" rtlCol="0" anchor="ctr"/>
          <a:lstStyle/>
          <a:p>
            <a:pPr algn="r" indent="0" marL="0">
              <a:buNone/>
            </a:pPr>
            <a:endParaRPr lang="en-US" sz="1300" dirty="0"/>
          </a:p>
        </p:txBody>
      </p:sp>
      <p:sp>
        <p:nvSpPr>
          <p:cNvPr id="50" name="Text 48"/>
          <p:cNvSpPr txBox="1"/>
          <p:nvPr/>
        </p:nvSpPr>
        <p:spPr>
          <a:xfrm>
            <a:off x="5212080" y="3306064"/>
            <a:ext cx="658368" cy="221488"/>
          </a:xfrm>
          <a:prstGeom prst="rect">
            <a:avLst/>
          </a:prstGeom>
          <a:noFill/>
          <a:ln/>
        </p:spPr>
        <p:txBody>
          <a:bodyPr wrap="square" lIns="0" tIns="0" rIns="0" bIns="0" rtlCol="0" anchor="ctr"/>
          <a:lstStyle/>
          <a:p>
            <a:pPr algn="r" indent="0" marL="0">
              <a:buNone/>
            </a:pPr>
            <a:endParaRPr lang="en-US" sz="1300" dirty="0"/>
          </a:p>
        </p:txBody>
      </p:sp>
      <p:sp>
        <p:nvSpPr>
          <p:cNvPr id="51" name="Text 49"/>
          <p:cNvSpPr txBox="1"/>
          <p:nvPr/>
        </p:nvSpPr>
        <p:spPr>
          <a:xfrm>
            <a:off x="658368" y="3527552"/>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52" name="Shape 50"/>
          <p:cNvSpPr/>
          <p:nvPr/>
        </p:nvSpPr>
        <p:spPr>
          <a:xfrm>
            <a:off x="2651760" y="3582924"/>
            <a:ext cx="385391" cy="110744"/>
          </a:xfrm>
          <a:prstGeom prst="rect">
            <a:avLst/>
          </a:prstGeom>
          <a:solidFill>
            <a:srgbClr val="2587C5"/>
          </a:solidFill>
          <a:ln/>
        </p:spPr>
      </p:sp>
      <p:sp>
        <p:nvSpPr>
          <p:cNvPr id="53" name="Text 51"/>
          <p:cNvSpPr txBox="1"/>
          <p:nvPr/>
        </p:nvSpPr>
        <p:spPr>
          <a:xfrm>
            <a:off x="3474720" y="3527552"/>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$224.87</a:t>
            </a:r>
            <a:endParaRPr lang="en-US" sz="1300" dirty="0"/>
          </a:p>
        </p:txBody>
      </p:sp>
      <p:sp>
        <p:nvSpPr>
          <p:cNvPr id="54" name="Text 52"/>
          <p:cNvSpPr txBox="1"/>
          <p:nvPr/>
        </p:nvSpPr>
        <p:spPr>
          <a:xfrm>
            <a:off x="4224528" y="3527552"/>
            <a:ext cx="987552"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$264.87</a:t>
            </a:r>
            <a:endParaRPr lang="en-US" sz="1300" dirty="0"/>
          </a:p>
        </p:txBody>
      </p:sp>
      <p:sp>
        <p:nvSpPr>
          <p:cNvPr id="55" name="Text 53"/>
          <p:cNvSpPr txBox="1"/>
          <p:nvPr/>
        </p:nvSpPr>
        <p:spPr>
          <a:xfrm>
            <a:off x="5212080" y="3527552"/>
            <a:ext cx="658368"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Diesel</a:t>
            </a:r>
            <a:endParaRPr lang="en-US" sz="1300" dirty="0"/>
          </a:p>
        </p:txBody>
      </p:sp>
      <p:sp>
        <p:nvSpPr>
          <p:cNvPr id="56" name="Text 54"/>
          <p:cNvSpPr txBox="1"/>
          <p:nvPr/>
        </p:nvSpPr>
        <p:spPr>
          <a:xfrm>
            <a:off x="658368" y="3749040"/>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57" name="Shape 55"/>
          <p:cNvSpPr/>
          <p:nvPr/>
        </p:nvSpPr>
        <p:spPr>
          <a:xfrm>
            <a:off x="2651760" y="3804412"/>
            <a:ext cx="369959" cy="110744"/>
          </a:xfrm>
          <a:prstGeom prst="rect">
            <a:avLst/>
          </a:prstGeom>
          <a:solidFill>
            <a:srgbClr val="2587C5"/>
          </a:solidFill>
          <a:ln/>
        </p:spPr>
      </p:sp>
      <p:sp>
        <p:nvSpPr>
          <p:cNvPr id="58" name="Text 56"/>
          <p:cNvSpPr txBox="1"/>
          <p:nvPr/>
        </p:nvSpPr>
        <p:spPr>
          <a:xfrm>
            <a:off x="3474720" y="3749040"/>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$219.87</a:t>
            </a:r>
            <a:endParaRPr lang="en-US" sz="1300" dirty="0"/>
          </a:p>
        </p:txBody>
      </p:sp>
      <p:sp>
        <p:nvSpPr>
          <p:cNvPr id="59" name="Text 57"/>
          <p:cNvSpPr txBox="1"/>
          <p:nvPr/>
        </p:nvSpPr>
        <p:spPr>
          <a:xfrm>
            <a:off x="4224528" y="3749040"/>
            <a:ext cx="987552" cy="221488"/>
          </a:xfrm>
          <a:prstGeom prst="rect">
            <a:avLst/>
          </a:prstGeom>
          <a:noFill/>
          <a:ln/>
        </p:spPr>
        <p:txBody>
          <a:bodyPr wrap="square" lIns="0" tIns="0" rIns="0" bIns="0" rtlCol="0" anchor="ctr"/>
          <a:lstStyle/>
          <a:p>
            <a:pPr algn="r" indent="0" marL="0">
              <a:buNone/>
            </a:pPr>
            <a:endParaRPr lang="en-US" sz="1300" dirty="0"/>
          </a:p>
        </p:txBody>
      </p:sp>
      <p:sp>
        <p:nvSpPr>
          <p:cNvPr id="60" name="Text 58"/>
          <p:cNvSpPr txBox="1"/>
          <p:nvPr/>
        </p:nvSpPr>
        <p:spPr>
          <a:xfrm>
            <a:off x="5212080" y="3749040"/>
            <a:ext cx="658368" cy="221488"/>
          </a:xfrm>
          <a:prstGeom prst="rect">
            <a:avLst/>
          </a:prstGeom>
          <a:noFill/>
          <a:ln/>
        </p:spPr>
        <p:txBody>
          <a:bodyPr wrap="square" lIns="0" tIns="0" rIns="0" bIns="0" rtlCol="0" anchor="ctr"/>
          <a:lstStyle/>
          <a:p>
            <a:pPr algn="r" indent="0" marL="0">
              <a:buNone/>
            </a:pPr>
            <a:endParaRPr lang="en-US" sz="1300" dirty="0"/>
          </a:p>
        </p:txBody>
      </p:sp>
      <p:sp>
        <p:nvSpPr>
          <p:cNvPr id="61" name="Text 59"/>
          <p:cNvSpPr txBox="1"/>
          <p:nvPr/>
        </p:nvSpPr>
        <p:spPr>
          <a:xfrm>
            <a:off x="658368" y="397052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62" name="Shape 60"/>
          <p:cNvSpPr/>
          <p:nvPr/>
        </p:nvSpPr>
        <p:spPr>
          <a:xfrm>
            <a:off x="2651760" y="4025900"/>
            <a:ext cx="345268" cy="110744"/>
          </a:xfrm>
          <a:prstGeom prst="rect">
            <a:avLst/>
          </a:prstGeom>
          <a:solidFill>
            <a:srgbClr val="2587C5"/>
          </a:solidFill>
          <a:ln/>
        </p:spPr>
      </p:sp>
      <p:sp>
        <p:nvSpPr>
          <p:cNvPr id="63" name="Text 61"/>
          <p:cNvSpPr txBox="1"/>
          <p:nvPr/>
        </p:nvSpPr>
        <p:spPr>
          <a:xfrm>
            <a:off x="3474720" y="3970528"/>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$211.87</a:t>
            </a:r>
            <a:endParaRPr lang="en-US" sz="1300" dirty="0"/>
          </a:p>
        </p:txBody>
      </p:sp>
      <p:sp>
        <p:nvSpPr>
          <p:cNvPr id="64" name="Text 62"/>
          <p:cNvSpPr txBox="1"/>
          <p:nvPr/>
        </p:nvSpPr>
        <p:spPr>
          <a:xfrm>
            <a:off x="4224528" y="3970528"/>
            <a:ext cx="987552" cy="221488"/>
          </a:xfrm>
          <a:prstGeom prst="rect">
            <a:avLst/>
          </a:prstGeom>
          <a:noFill/>
          <a:ln/>
        </p:spPr>
        <p:txBody>
          <a:bodyPr wrap="square" lIns="0" tIns="0" rIns="0" bIns="0" rtlCol="0" anchor="ctr"/>
          <a:lstStyle/>
          <a:p>
            <a:pPr algn="r" indent="0" marL="0">
              <a:buNone/>
            </a:pPr>
            <a:endParaRPr lang="en-US" sz="1300" dirty="0"/>
          </a:p>
        </p:txBody>
      </p:sp>
      <p:sp>
        <p:nvSpPr>
          <p:cNvPr id="65" name="Text 63"/>
          <p:cNvSpPr txBox="1"/>
          <p:nvPr/>
        </p:nvSpPr>
        <p:spPr>
          <a:xfrm>
            <a:off x="5212080" y="3970528"/>
            <a:ext cx="658368" cy="221488"/>
          </a:xfrm>
          <a:prstGeom prst="rect">
            <a:avLst/>
          </a:prstGeom>
          <a:noFill/>
          <a:ln/>
        </p:spPr>
        <p:txBody>
          <a:bodyPr wrap="square" lIns="0" tIns="0" rIns="0" bIns="0" rtlCol="0" anchor="ctr"/>
          <a:lstStyle/>
          <a:p>
            <a:pPr algn="r" indent="0" marL="0">
              <a:buNone/>
            </a:pPr>
            <a:endParaRPr lang="en-US" sz="1300" dirty="0"/>
          </a:p>
        </p:txBody>
      </p:sp>
      <p:sp>
        <p:nvSpPr>
          <p:cNvPr id="66" name="Text 64"/>
          <p:cNvSpPr txBox="1"/>
          <p:nvPr/>
        </p:nvSpPr>
        <p:spPr>
          <a:xfrm>
            <a:off x="658368" y="419201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67" name="Shape 65"/>
          <p:cNvSpPr/>
          <p:nvPr/>
        </p:nvSpPr>
        <p:spPr>
          <a:xfrm>
            <a:off x="2651760" y="4247388"/>
            <a:ext cx="345268" cy="110744"/>
          </a:xfrm>
          <a:prstGeom prst="rect">
            <a:avLst/>
          </a:prstGeom>
          <a:solidFill>
            <a:srgbClr val="2587C5"/>
          </a:solidFill>
          <a:ln/>
        </p:spPr>
      </p:sp>
      <p:sp>
        <p:nvSpPr>
          <p:cNvPr id="68" name="Text 66"/>
          <p:cNvSpPr txBox="1"/>
          <p:nvPr/>
        </p:nvSpPr>
        <p:spPr>
          <a:xfrm>
            <a:off x="3474720" y="4192016"/>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$211.87</a:t>
            </a:r>
            <a:endParaRPr lang="en-US" sz="1300" dirty="0"/>
          </a:p>
        </p:txBody>
      </p:sp>
      <p:sp>
        <p:nvSpPr>
          <p:cNvPr id="69" name="Text 67"/>
          <p:cNvSpPr txBox="1"/>
          <p:nvPr/>
        </p:nvSpPr>
        <p:spPr>
          <a:xfrm>
            <a:off x="4224528" y="4192016"/>
            <a:ext cx="987552" cy="221488"/>
          </a:xfrm>
          <a:prstGeom prst="rect">
            <a:avLst/>
          </a:prstGeom>
          <a:noFill/>
          <a:ln/>
        </p:spPr>
        <p:txBody>
          <a:bodyPr wrap="square" lIns="0" tIns="0" rIns="0" bIns="0" rtlCol="0" anchor="ctr"/>
          <a:lstStyle/>
          <a:p>
            <a:pPr algn="r" indent="0" marL="0">
              <a:buNone/>
            </a:pPr>
            <a:endParaRPr lang="en-US" sz="1300" dirty="0"/>
          </a:p>
        </p:txBody>
      </p:sp>
      <p:sp>
        <p:nvSpPr>
          <p:cNvPr id="70" name="Text 68"/>
          <p:cNvSpPr txBox="1"/>
          <p:nvPr/>
        </p:nvSpPr>
        <p:spPr>
          <a:xfrm>
            <a:off x="5212080" y="4192016"/>
            <a:ext cx="658368" cy="221488"/>
          </a:xfrm>
          <a:prstGeom prst="rect">
            <a:avLst/>
          </a:prstGeom>
          <a:noFill/>
          <a:ln/>
        </p:spPr>
        <p:txBody>
          <a:bodyPr wrap="square" lIns="0" tIns="0" rIns="0" bIns="0" rtlCol="0" anchor="ctr"/>
          <a:lstStyle/>
          <a:p>
            <a:pPr algn="r" indent="0" marL="0">
              <a:buNone/>
            </a:pPr>
            <a:endParaRPr lang="en-US" sz="1300" dirty="0"/>
          </a:p>
        </p:txBody>
      </p:sp>
      <p:sp>
        <p:nvSpPr>
          <p:cNvPr id="71" name="Text 69"/>
          <p:cNvSpPr txBox="1"/>
          <p:nvPr/>
        </p:nvSpPr>
        <p:spPr>
          <a:xfrm>
            <a:off x="658368" y="441350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72" name="Shape 70"/>
          <p:cNvSpPr/>
          <p:nvPr/>
        </p:nvSpPr>
        <p:spPr>
          <a:xfrm>
            <a:off x="2651760" y="4468876"/>
            <a:ext cx="343386" cy="110744"/>
          </a:xfrm>
          <a:prstGeom prst="rect">
            <a:avLst/>
          </a:prstGeom>
          <a:solidFill>
            <a:srgbClr val="2587C5"/>
          </a:solidFill>
          <a:ln/>
        </p:spPr>
      </p:sp>
      <p:sp>
        <p:nvSpPr>
          <p:cNvPr id="73" name="Text 71"/>
          <p:cNvSpPr txBox="1"/>
          <p:nvPr/>
        </p:nvSpPr>
        <p:spPr>
          <a:xfrm>
            <a:off x="3474720" y="4413504"/>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$211.26</a:t>
            </a:r>
            <a:endParaRPr lang="en-US" sz="1300" dirty="0"/>
          </a:p>
        </p:txBody>
      </p:sp>
      <p:sp>
        <p:nvSpPr>
          <p:cNvPr id="74" name="Text 72"/>
          <p:cNvSpPr txBox="1"/>
          <p:nvPr/>
        </p:nvSpPr>
        <p:spPr>
          <a:xfrm>
            <a:off x="4224528" y="4413504"/>
            <a:ext cx="987552" cy="221488"/>
          </a:xfrm>
          <a:prstGeom prst="rect">
            <a:avLst/>
          </a:prstGeom>
          <a:noFill/>
          <a:ln/>
        </p:spPr>
        <p:txBody>
          <a:bodyPr wrap="square" lIns="0" tIns="0" rIns="0" bIns="0" rtlCol="0" anchor="ctr"/>
          <a:lstStyle/>
          <a:p>
            <a:pPr algn="r" indent="0" marL="0">
              <a:buNone/>
            </a:pPr>
            <a:endParaRPr lang="en-US" sz="1300" dirty="0"/>
          </a:p>
        </p:txBody>
      </p:sp>
      <p:sp>
        <p:nvSpPr>
          <p:cNvPr id="75" name="Text 73"/>
          <p:cNvSpPr txBox="1"/>
          <p:nvPr/>
        </p:nvSpPr>
        <p:spPr>
          <a:xfrm>
            <a:off x="5212080" y="4413504"/>
            <a:ext cx="658368" cy="221488"/>
          </a:xfrm>
          <a:prstGeom prst="rect">
            <a:avLst/>
          </a:prstGeom>
          <a:noFill/>
          <a:ln/>
        </p:spPr>
        <p:txBody>
          <a:bodyPr wrap="square" lIns="0" tIns="0" rIns="0" bIns="0" rtlCol="0" anchor="ctr"/>
          <a:lstStyle/>
          <a:p>
            <a:pPr algn="r" indent="0" marL="0">
              <a:buNone/>
            </a:pPr>
            <a:endParaRPr lang="en-US" sz="1300" dirty="0"/>
          </a:p>
        </p:txBody>
      </p:sp>
      <p:sp>
        <p:nvSpPr>
          <p:cNvPr id="76" name="Text 74"/>
          <p:cNvSpPr txBox="1"/>
          <p:nvPr/>
        </p:nvSpPr>
        <p:spPr>
          <a:xfrm>
            <a:off x="658368" y="4634992"/>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77" name="Shape 75"/>
          <p:cNvSpPr/>
          <p:nvPr/>
        </p:nvSpPr>
        <p:spPr>
          <a:xfrm>
            <a:off x="2651760" y="4690364"/>
            <a:ext cx="339096" cy="110744"/>
          </a:xfrm>
          <a:prstGeom prst="rect">
            <a:avLst/>
          </a:prstGeom>
          <a:solidFill>
            <a:srgbClr val="2587C5"/>
          </a:solidFill>
          <a:ln/>
        </p:spPr>
      </p:sp>
      <p:sp>
        <p:nvSpPr>
          <p:cNvPr id="78" name="Text 76"/>
          <p:cNvSpPr txBox="1"/>
          <p:nvPr/>
        </p:nvSpPr>
        <p:spPr>
          <a:xfrm>
            <a:off x="3474720" y="4634992"/>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$209.87</a:t>
            </a:r>
            <a:endParaRPr lang="en-US" sz="1300" dirty="0"/>
          </a:p>
        </p:txBody>
      </p:sp>
      <p:sp>
        <p:nvSpPr>
          <p:cNvPr id="79" name="Text 77"/>
          <p:cNvSpPr txBox="1"/>
          <p:nvPr/>
        </p:nvSpPr>
        <p:spPr>
          <a:xfrm>
            <a:off x="4224528" y="4634992"/>
            <a:ext cx="987552" cy="221488"/>
          </a:xfrm>
          <a:prstGeom prst="rect">
            <a:avLst/>
          </a:prstGeom>
          <a:noFill/>
          <a:ln/>
        </p:spPr>
        <p:txBody>
          <a:bodyPr wrap="square" lIns="0" tIns="0" rIns="0" bIns="0" rtlCol="0" anchor="ctr"/>
          <a:lstStyle/>
          <a:p>
            <a:pPr algn="r" indent="0" marL="0">
              <a:buNone/>
            </a:pPr>
            <a:endParaRPr lang="en-US" sz="1300" dirty="0"/>
          </a:p>
        </p:txBody>
      </p:sp>
      <p:sp>
        <p:nvSpPr>
          <p:cNvPr id="80" name="Text 78"/>
          <p:cNvSpPr txBox="1"/>
          <p:nvPr/>
        </p:nvSpPr>
        <p:spPr>
          <a:xfrm>
            <a:off x="5212080" y="4634992"/>
            <a:ext cx="658368" cy="221488"/>
          </a:xfrm>
          <a:prstGeom prst="rect">
            <a:avLst/>
          </a:prstGeom>
          <a:noFill/>
          <a:ln/>
        </p:spPr>
        <p:txBody>
          <a:bodyPr wrap="square" lIns="0" tIns="0" rIns="0" bIns="0" rtlCol="0" anchor="ctr"/>
          <a:lstStyle/>
          <a:p>
            <a:pPr algn="r" indent="0" marL="0">
              <a:buNone/>
            </a:pPr>
            <a:endParaRPr lang="en-US" sz="1300" dirty="0"/>
          </a:p>
        </p:txBody>
      </p:sp>
      <p:sp>
        <p:nvSpPr>
          <p:cNvPr id="81" name="Text 79"/>
          <p:cNvSpPr txBox="1"/>
          <p:nvPr/>
        </p:nvSpPr>
        <p:spPr>
          <a:xfrm>
            <a:off x="658368" y="4856480"/>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82" name="Shape 80"/>
          <p:cNvSpPr/>
          <p:nvPr/>
        </p:nvSpPr>
        <p:spPr>
          <a:xfrm>
            <a:off x="2651760" y="4911852"/>
            <a:ext cx="323664" cy="110744"/>
          </a:xfrm>
          <a:prstGeom prst="rect">
            <a:avLst/>
          </a:prstGeom>
          <a:solidFill>
            <a:srgbClr val="2587C5"/>
          </a:solidFill>
          <a:ln/>
        </p:spPr>
      </p:sp>
      <p:sp>
        <p:nvSpPr>
          <p:cNvPr id="83" name="Text 81"/>
          <p:cNvSpPr txBox="1"/>
          <p:nvPr/>
        </p:nvSpPr>
        <p:spPr>
          <a:xfrm>
            <a:off x="3474720" y="4856480"/>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$204.87</a:t>
            </a:r>
            <a:endParaRPr lang="en-US" sz="1300" dirty="0"/>
          </a:p>
        </p:txBody>
      </p:sp>
      <p:sp>
        <p:nvSpPr>
          <p:cNvPr id="84" name="Text 82"/>
          <p:cNvSpPr txBox="1"/>
          <p:nvPr/>
        </p:nvSpPr>
        <p:spPr>
          <a:xfrm>
            <a:off x="4224528" y="4856480"/>
            <a:ext cx="987552"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$210.00</a:t>
            </a:r>
            <a:endParaRPr lang="en-US" sz="1300" dirty="0"/>
          </a:p>
        </p:txBody>
      </p:sp>
      <p:sp>
        <p:nvSpPr>
          <p:cNvPr id="85" name="Text 83"/>
          <p:cNvSpPr txBox="1"/>
          <p:nvPr/>
        </p:nvSpPr>
        <p:spPr>
          <a:xfrm>
            <a:off x="5212080" y="4856480"/>
            <a:ext cx="658368"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EV</a:t>
            </a:r>
            <a:endParaRPr lang="en-US" sz="1300" dirty="0"/>
          </a:p>
        </p:txBody>
      </p:sp>
      <p:sp>
        <p:nvSpPr>
          <p:cNvPr id="86" name="Text 84"/>
          <p:cNvSpPr txBox="1"/>
          <p:nvPr/>
        </p:nvSpPr>
        <p:spPr>
          <a:xfrm>
            <a:off x="658368" y="507796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87" name="Shape 85"/>
          <p:cNvSpPr/>
          <p:nvPr/>
        </p:nvSpPr>
        <p:spPr>
          <a:xfrm>
            <a:off x="2651760" y="5133340"/>
            <a:ext cx="261937" cy="110744"/>
          </a:xfrm>
          <a:prstGeom prst="rect">
            <a:avLst/>
          </a:prstGeom>
          <a:solidFill>
            <a:srgbClr val="2587C5"/>
          </a:solidFill>
          <a:ln/>
        </p:spPr>
      </p:sp>
      <p:sp>
        <p:nvSpPr>
          <p:cNvPr id="88" name="Text 86"/>
          <p:cNvSpPr txBox="1"/>
          <p:nvPr/>
        </p:nvSpPr>
        <p:spPr>
          <a:xfrm>
            <a:off x="3474720" y="5077968"/>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$184.87</a:t>
            </a:r>
            <a:endParaRPr lang="en-US" sz="1300" dirty="0"/>
          </a:p>
        </p:txBody>
      </p:sp>
      <p:sp>
        <p:nvSpPr>
          <p:cNvPr id="89" name="Text 87"/>
          <p:cNvSpPr txBox="1"/>
          <p:nvPr/>
        </p:nvSpPr>
        <p:spPr>
          <a:xfrm>
            <a:off x="4224528" y="5077968"/>
            <a:ext cx="987552" cy="221488"/>
          </a:xfrm>
          <a:prstGeom prst="rect">
            <a:avLst/>
          </a:prstGeom>
          <a:noFill/>
          <a:ln/>
        </p:spPr>
        <p:txBody>
          <a:bodyPr wrap="square" lIns="0" tIns="0" rIns="0" bIns="0" rtlCol="0" anchor="ctr"/>
          <a:lstStyle/>
          <a:p>
            <a:pPr algn="r" indent="0" marL="0">
              <a:buNone/>
            </a:pPr>
            <a:endParaRPr lang="en-US" sz="1300" dirty="0"/>
          </a:p>
        </p:txBody>
      </p:sp>
      <p:sp>
        <p:nvSpPr>
          <p:cNvPr id="90" name="Text 88"/>
          <p:cNvSpPr txBox="1"/>
          <p:nvPr/>
        </p:nvSpPr>
        <p:spPr>
          <a:xfrm>
            <a:off x="5212080" y="5077968"/>
            <a:ext cx="658368" cy="221488"/>
          </a:xfrm>
          <a:prstGeom prst="rect">
            <a:avLst/>
          </a:prstGeom>
          <a:noFill/>
          <a:ln/>
        </p:spPr>
        <p:txBody>
          <a:bodyPr wrap="square" lIns="0" tIns="0" rIns="0" bIns="0" rtlCol="0" anchor="ctr"/>
          <a:lstStyle/>
          <a:p>
            <a:pPr algn="r" indent="0" marL="0">
              <a:buNone/>
            </a:pPr>
            <a:endParaRPr lang="en-US" sz="1300" dirty="0"/>
          </a:p>
        </p:txBody>
      </p:sp>
      <p:sp>
        <p:nvSpPr>
          <p:cNvPr id="91" name="Text 89"/>
          <p:cNvSpPr txBox="1"/>
          <p:nvPr/>
        </p:nvSpPr>
        <p:spPr>
          <a:xfrm>
            <a:off x="658368" y="529945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92" name="Shape 90"/>
          <p:cNvSpPr/>
          <p:nvPr/>
        </p:nvSpPr>
        <p:spPr>
          <a:xfrm>
            <a:off x="2651760" y="5354828"/>
            <a:ext cx="261937" cy="110744"/>
          </a:xfrm>
          <a:prstGeom prst="rect">
            <a:avLst/>
          </a:prstGeom>
          <a:solidFill>
            <a:srgbClr val="2587C5"/>
          </a:solidFill>
          <a:ln/>
        </p:spPr>
      </p:sp>
      <p:sp>
        <p:nvSpPr>
          <p:cNvPr id="93" name="Text 91"/>
          <p:cNvSpPr txBox="1"/>
          <p:nvPr/>
        </p:nvSpPr>
        <p:spPr>
          <a:xfrm>
            <a:off x="3474720" y="5299456"/>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$184.87</a:t>
            </a:r>
            <a:endParaRPr lang="en-US" sz="1300" dirty="0"/>
          </a:p>
        </p:txBody>
      </p:sp>
      <p:sp>
        <p:nvSpPr>
          <p:cNvPr id="94" name="Text 92"/>
          <p:cNvSpPr txBox="1"/>
          <p:nvPr/>
        </p:nvSpPr>
        <p:spPr>
          <a:xfrm>
            <a:off x="4224528" y="5299456"/>
            <a:ext cx="987552" cy="221488"/>
          </a:xfrm>
          <a:prstGeom prst="rect">
            <a:avLst/>
          </a:prstGeom>
          <a:noFill/>
          <a:ln/>
        </p:spPr>
        <p:txBody>
          <a:bodyPr wrap="square" lIns="0" tIns="0" rIns="0" bIns="0" rtlCol="0" anchor="ctr"/>
          <a:lstStyle/>
          <a:p>
            <a:pPr algn="r" indent="0" marL="0">
              <a:buNone/>
            </a:pPr>
            <a:endParaRPr lang="en-US" sz="1300" dirty="0"/>
          </a:p>
        </p:txBody>
      </p:sp>
      <p:sp>
        <p:nvSpPr>
          <p:cNvPr id="95" name="Text 93"/>
          <p:cNvSpPr txBox="1"/>
          <p:nvPr/>
        </p:nvSpPr>
        <p:spPr>
          <a:xfrm>
            <a:off x="5212080" y="5299456"/>
            <a:ext cx="658368" cy="221488"/>
          </a:xfrm>
          <a:prstGeom prst="rect">
            <a:avLst/>
          </a:prstGeom>
          <a:noFill/>
          <a:ln/>
        </p:spPr>
        <p:txBody>
          <a:bodyPr wrap="square" lIns="0" tIns="0" rIns="0" bIns="0" rtlCol="0" anchor="ctr"/>
          <a:lstStyle/>
          <a:p>
            <a:pPr algn="r" indent="0" marL="0">
              <a:buNone/>
            </a:pPr>
            <a:endParaRPr lang="en-US" sz="1300" dirty="0"/>
          </a:p>
        </p:txBody>
      </p:sp>
      <p:sp>
        <p:nvSpPr>
          <p:cNvPr id="96" name="Text 94"/>
          <p:cNvSpPr txBox="1"/>
          <p:nvPr/>
        </p:nvSpPr>
        <p:spPr>
          <a:xfrm>
            <a:off x="658368" y="552094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97" name="Shape 95"/>
          <p:cNvSpPr/>
          <p:nvPr/>
        </p:nvSpPr>
        <p:spPr>
          <a:xfrm>
            <a:off x="2651760" y="5576316"/>
            <a:ext cx="246506" cy="110744"/>
          </a:xfrm>
          <a:prstGeom prst="rect">
            <a:avLst/>
          </a:prstGeom>
          <a:solidFill>
            <a:srgbClr val="2587C5"/>
          </a:solidFill>
          <a:ln/>
        </p:spPr>
      </p:sp>
      <p:sp>
        <p:nvSpPr>
          <p:cNvPr id="98" name="Text 96"/>
          <p:cNvSpPr txBox="1"/>
          <p:nvPr/>
        </p:nvSpPr>
        <p:spPr>
          <a:xfrm>
            <a:off x="3474720" y="5520944"/>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$179.87</a:t>
            </a:r>
            <a:endParaRPr lang="en-US" sz="1300" dirty="0"/>
          </a:p>
        </p:txBody>
      </p:sp>
      <p:sp>
        <p:nvSpPr>
          <p:cNvPr id="99" name="Text 97"/>
          <p:cNvSpPr txBox="1"/>
          <p:nvPr/>
        </p:nvSpPr>
        <p:spPr>
          <a:xfrm>
            <a:off x="4224528" y="5520944"/>
            <a:ext cx="987552"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$199.87</a:t>
            </a:r>
            <a:endParaRPr lang="en-US" sz="1300" dirty="0"/>
          </a:p>
        </p:txBody>
      </p:sp>
      <p:sp>
        <p:nvSpPr>
          <p:cNvPr id="100" name="Text 98"/>
          <p:cNvSpPr txBox="1"/>
          <p:nvPr/>
        </p:nvSpPr>
        <p:spPr>
          <a:xfrm>
            <a:off x="5212080" y="5520944"/>
            <a:ext cx="658368"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Non-std</a:t>
            </a:r>
            <a:endParaRPr lang="en-US" sz="1300" dirty="0"/>
          </a:p>
        </p:txBody>
      </p:sp>
      <p:sp>
        <p:nvSpPr>
          <p:cNvPr id="101" name="Text 99"/>
          <p:cNvSpPr txBox="1"/>
          <p:nvPr/>
        </p:nvSpPr>
        <p:spPr>
          <a:xfrm>
            <a:off x="6208776" y="1316736"/>
            <a:ext cx="2688336" cy="32918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NO GRID · 16 STORES</a:t>
            </a:r>
            <a:endParaRPr lang="en-US" sz="1400" dirty="0"/>
          </a:p>
        </p:txBody>
      </p:sp>
      <p:sp>
        <p:nvSpPr>
          <p:cNvPr id="102" name="Text 100"/>
          <p:cNvSpPr txBox="1"/>
          <p:nvPr/>
        </p:nvSpPr>
        <p:spPr>
          <a:xfrm>
            <a:off x="9025128" y="1316736"/>
            <a:ext cx="74980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DOOR</a:t>
            </a:r>
            <a:endParaRPr lang="en-US" sz="1400" dirty="0"/>
          </a:p>
        </p:txBody>
      </p:sp>
      <p:sp>
        <p:nvSpPr>
          <p:cNvPr id="103" name="Text 101"/>
          <p:cNvSpPr txBox="1"/>
          <p:nvPr/>
        </p:nvSpPr>
        <p:spPr>
          <a:xfrm>
            <a:off x="9774936" y="1316736"/>
            <a:ext cx="987552"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PREMIUM</a:t>
            </a:r>
            <a:endParaRPr lang="en-US" sz="1400" dirty="0"/>
          </a:p>
        </p:txBody>
      </p:sp>
      <p:sp>
        <p:nvSpPr>
          <p:cNvPr id="104" name="Text 102"/>
          <p:cNvSpPr txBox="1"/>
          <p:nvPr/>
        </p:nvSpPr>
        <p:spPr>
          <a:xfrm>
            <a:off x="10762488" y="1316736"/>
            <a:ext cx="65836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FOR</a:t>
            </a:r>
            <a:endParaRPr lang="en-US" sz="1400" dirty="0"/>
          </a:p>
        </p:txBody>
      </p:sp>
      <p:sp>
        <p:nvSpPr>
          <p:cNvPr id="105" name="Text 103"/>
          <p:cNvSpPr txBox="1"/>
          <p:nvPr/>
        </p:nvSpPr>
        <p:spPr>
          <a:xfrm>
            <a:off x="6208776" y="175564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106" name="Shape 104"/>
          <p:cNvSpPr/>
          <p:nvPr/>
        </p:nvSpPr>
        <p:spPr>
          <a:xfrm>
            <a:off x="8202168" y="1811020"/>
            <a:ext cx="540108" cy="110744"/>
          </a:xfrm>
          <a:prstGeom prst="rect">
            <a:avLst/>
          </a:prstGeom>
          <a:solidFill>
            <a:srgbClr val="2587C5"/>
          </a:solidFill>
          <a:ln/>
        </p:spPr>
      </p:sp>
      <p:sp>
        <p:nvSpPr>
          <p:cNvPr id="107" name="Text 105"/>
          <p:cNvSpPr txBox="1"/>
          <p:nvPr/>
        </p:nvSpPr>
        <p:spPr>
          <a:xfrm>
            <a:off x="9025128" y="1755648"/>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$275.00</a:t>
            </a:r>
            <a:endParaRPr lang="en-US" sz="1300" dirty="0"/>
          </a:p>
        </p:txBody>
      </p:sp>
      <p:sp>
        <p:nvSpPr>
          <p:cNvPr id="108" name="Text 106"/>
          <p:cNvSpPr txBox="1"/>
          <p:nvPr/>
        </p:nvSpPr>
        <p:spPr>
          <a:xfrm>
            <a:off x="9774936" y="1755648"/>
            <a:ext cx="987552" cy="221488"/>
          </a:xfrm>
          <a:prstGeom prst="rect">
            <a:avLst/>
          </a:prstGeom>
          <a:noFill/>
          <a:ln/>
        </p:spPr>
        <p:txBody>
          <a:bodyPr wrap="square" lIns="0" tIns="0" rIns="0" bIns="0" rtlCol="0" anchor="ctr"/>
          <a:lstStyle/>
          <a:p>
            <a:pPr algn="r" indent="0" marL="0">
              <a:buNone/>
            </a:pPr>
            <a:endParaRPr lang="en-US" sz="1300" dirty="0"/>
          </a:p>
        </p:txBody>
      </p:sp>
      <p:sp>
        <p:nvSpPr>
          <p:cNvPr id="109" name="Text 107"/>
          <p:cNvSpPr txBox="1"/>
          <p:nvPr/>
        </p:nvSpPr>
        <p:spPr>
          <a:xfrm>
            <a:off x="10762488" y="1755648"/>
            <a:ext cx="658368" cy="221488"/>
          </a:xfrm>
          <a:prstGeom prst="rect">
            <a:avLst/>
          </a:prstGeom>
          <a:noFill/>
          <a:ln/>
        </p:spPr>
        <p:txBody>
          <a:bodyPr wrap="square" lIns="0" tIns="0" rIns="0" bIns="0" rtlCol="0" anchor="ctr"/>
          <a:lstStyle/>
          <a:p>
            <a:pPr algn="r" indent="0" marL="0">
              <a:buNone/>
            </a:pPr>
            <a:endParaRPr lang="en-US" sz="1300" dirty="0"/>
          </a:p>
        </p:txBody>
      </p:sp>
      <p:sp>
        <p:nvSpPr>
          <p:cNvPr id="110" name="Text 108"/>
          <p:cNvSpPr txBox="1"/>
          <p:nvPr/>
        </p:nvSpPr>
        <p:spPr>
          <a:xfrm>
            <a:off x="6208776" y="197713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111" name="Shape 109"/>
          <p:cNvSpPr/>
          <p:nvPr/>
        </p:nvSpPr>
        <p:spPr>
          <a:xfrm>
            <a:off x="8202168" y="2032508"/>
            <a:ext cx="462796" cy="110744"/>
          </a:xfrm>
          <a:prstGeom prst="rect">
            <a:avLst/>
          </a:prstGeom>
          <a:solidFill>
            <a:srgbClr val="2587C5"/>
          </a:solidFill>
          <a:ln/>
        </p:spPr>
      </p:sp>
      <p:sp>
        <p:nvSpPr>
          <p:cNvPr id="112" name="Text 110"/>
          <p:cNvSpPr txBox="1"/>
          <p:nvPr/>
        </p:nvSpPr>
        <p:spPr>
          <a:xfrm>
            <a:off x="9025128" y="1977136"/>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$249.95</a:t>
            </a:r>
            <a:endParaRPr lang="en-US" sz="1300" dirty="0"/>
          </a:p>
        </p:txBody>
      </p:sp>
      <p:sp>
        <p:nvSpPr>
          <p:cNvPr id="113" name="Text 111"/>
          <p:cNvSpPr txBox="1"/>
          <p:nvPr/>
        </p:nvSpPr>
        <p:spPr>
          <a:xfrm>
            <a:off x="9774936" y="1977136"/>
            <a:ext cx="987552" cy="221488"/>
          </a:xfrm>
          <a:prstGeom prst="rect">
            <a:avLst/>
          </a:prstGeom>
          <a:noFill/>
          <a:ln/>
        </p:spPr>
        <p:txBody>
          <a:bodyPr wrap="square" lIns="0" tIns="0" rIns="0" bIns="0" rtlCol="0" anchor="ctr"/>
          <a:lstStyle/>
          <a:p>
            <a:pPr algn="r" indent="0" marL="0">
              <a:buNone/>
            </a:pPr>
            <a:endParaRPr lang="en-US" sz="1300" dirty="0"/>
          </a:p>
        </p:txBody>
      </p:sp>
      <p:sp>
        <p:nvSpPr>
          <p:cNvPr id="114" name="Text 112"/>
          <p:cNvSpPr txBox="1"/>
          <p:nvPr/>
        </p:nvSpPr>
        <p:spPr>
          <a:xfrm>
            <a:off x="10762488" y="1977136"/>
            <a:ext cx="658368" cy="221488"/>
          </a:xfrm>
          <a:prstGeom prst="rect">
            <a:avLst/>
          </a:prstGeom>
          <a:noFill/>
          <a:ln/>
        </p:spPr>
        <p:txBody>
          <a:bodyPr wrap="square" lIns="0" tIns="0" rIns="0" bIns="0" rtlCol="0" anchor="ctr"/>
          <a:lstStyle/>
          <a:p>
            <a:pPr algn="r" indent="0" marL="0">
              <a:buNone/>
            </a:pPr>
            <a:endParaRPr lang="en-US" sz="1300" dirty="0"/>
          </a:p>
        </p:txBody>
      </p:sp>
      <p:sp>
        <p:nvSpPr>
          <p:cNvPr id="115" name="Text 113"/>
          <p:cNvSpPr txBox="1"/>
          <p:nvPr/>
        </p:nvSpPr>
        <p:spPr>
          <a:xfrm>
            <a:off x="6208776" y="219862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116" name="Shape 114"/>
          <p:cNvSpPr/>
          <p:nvPr/>
        </p:nvSpPr>
        <p:spPr>
          <a:xfrm>
            <a:off x="8202168" y="2253996"/>
            <a:ext cx="447117" cy="110744"/>
          </a:xfrm>
          <a:prstGeom prst="rect">
            <a:avLst/>
          </a:prstGeom>
          <a:solidFill>
            <a:srgbClr val="2587C5"/>
          </a:solidFill>
          <a:ln/>
        </p:spPr>
      </p:sp>
      <p:sp>
        <p:nvSpPr>
          <p:cNvPr id="117" name="Text 115"/>
          <p:cNvSpPr txBox="1"/>
          <p:nvPr/>
        </p:nvSpPr>
        <p:spPr>
          <a:xfrm>
            <a:off x="9025128" y="2198624"/>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$244.87</a:t>
            </a:r>
            <a:endParaRPr lang="en-US" sz="1300" dirty="0"/>
          </a:p>
        </p:txBody>
      </p:sp>
      <p:sp>
        <p:nvSpPr>
          <p:cNvPr id="118" name="Text 116"/>
          <p:cNvSpPr txBox="1"/>
          <p:nvPr/>
        </p:nvSpPr>
        <p:spPr>
          <a:xfrm>
            <a:off x="9774936" y="2198624"/>
            <a:ext cx="987552" cy="221488"/>
          </a:xfrm>
          <a:prstGeom prst="rect">
            <a:avLst/>
          </a:prstGeom>
          <a:noFill/>
          <a:ln/>
        </p:spPr>
        <p:txBody>
          <a:bodyPr wrap="square" lIns="0" tIns="0" rIns="0" bIns="0" rtlCol="0" anchor="ctr"/>
          <a:lstStyle/>
          <a:p>
            <a:pPr algn="r" indent="0" marL="0">
              <a:buNone/>
            </a:pPr>
            <a:endParaRPr lang="en-US" sz="1300" dirty="0"/>
          </a:p>
        </p:txBody>
      </p:sp>
      <p:sp>
        <p:nvSpPr>
          <p:cNvPr id="119" name="Text 117"/>
          <p:cNvSpPr txBox="1"/>
          <p:nvPr/>
        </p:nvSpPr>
        <p:spPr>
          <a:xfrm>
            <a:off x="10762488" y="2198624"/>
            <a:ext cx="658368" cy="221488"/>
          </a:xfrm>
          <a:prstGeom prst="rect">
            <a:avLst/>
          </a:prstGeom>
          <a:noFill/>
          <a:ln/>
        </p:spPr>
        <p:txBody>
          <a:bodyPr wrap="square" lIns="0" tIns="0" rIns="0" bIns="0" rtlCol="0" anchor="ctr"/>
          <a:lstStyle/>
          <a:p>
            <a:pPr algn="r" indent="0" marL="0">
              <a:buNone/>
            </a:pPr>
            <a:endParaRPr lang="en-US" sz="1300" dirty="0"/>
          </a:p>
        </p:txBody>
      </p:sp>
      <p:sp>
        <p:nvSpPr>
          <p:cNvPr id="120" name="Text 118"/>
          <p:cNvSpPr txBox="1"/>
          <p:nvPr/>
        </p:nvSpPr>
        <p:spPr>
          <a:xfrm>
            <a:off x="6208776" y="2420112"/>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121" name="Shape 119"/>
          <p:cNvSpPr/>
          <p:nvPr/>
        </p:nvSpPr>
        <p:spPr>
          <a:xfrm>
            <a:off x="8202168" y="2475484"/>
            <a:ext cx="401069" cy="110744"/>
          </a:xfrm>
          <a:prstGeom prst="rect">
            <a:avLst/>
          </a:prstGeom>
          <a:solidFill>
            <a:srgbClr val="2587C5"/>
          </a:solidFill>
          <a:ln/>
        </p:spPr>
      </p:sp>
      <p:sp>
        <p:nvSpPr>
          <p:cNvPr id="122" name="Text 120"/>
          <p:cNvSpPr txBox="1"/>
          <p:nvPr/>
        </p:nvSpPr>
        <p:spPr>
          <a:xfrm>
            <a:off x="9025128" y="2420112"/>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$229.95</a:t>
            </a:r>
            <a:endParaRPr lang="en-US" sz="1300" dirty="0"/>
          </a:p>
        </p:txBody>
      </p:sp>
      <p:sp>
        <p:nvSpPr>
          <p:cNvPr id="123" name="Text 121"/>
          <p:cNvSpPr txBox="1"/>
          <p:nvPr/>
        </p:nvSpPr>
        <p:spPr>
          <a:xfrm>
            <a:off x="9774936" y="2420112"/>
            <a:ext cx="987552" cy="221488"/>
          </a:xfrm>
          <a:prstGeom prst="rect">
            <a:avLst/>
          </a:prstGeom>
          <a:noFill/>
          <a:ln/>
        </p:spPr>
        <p:txBody>
          <a:bodyPr wrap="square" lIns="0" tIns="0" rIns="0" bIns="0" rtlCol="0" anchor="ctr"/>
          <a:lstStyle/>
          <a:p>
            <a:pPr algn="r" indent="0" marL="0">
              <a:buNone/>
            </a:pPr>
            <a:endParaRPr lang="en-US" sz="1300" dirty="0"/>
          </a:p>
        </p:txBody>
      </p:sp>
      <p:sp>
        <p:nvSpPr>
          <p:cNvPr id="124" name="Text 122"/>
          <p:cNvSpPr txBox="1"/>
          <p:nvPr/>
        </p:nvSpPr>
        <p:spPr>
          <a:xfrm>
            <a:off x="10762488" y="2420112"/>
            <a:ext cx="658368" cy="221488"/>
          </a:xfrm>
          <a:prstGeom prst="rect">
            <a:avLst/>
          </a:prstGeom>
          <a:noFill/>
          <a:ln/>
        </p:spPr>
        <p:txBody>
          <a:bodyPr wrap="square" lIns="0" tIns="0" rIns="0" bIns="0" rtlCol="0" anchor="ctr"/>
          <a:lstStyle/>
          <a:p>
            <a:pPr algn="r" indent="0" marL="0">
              <a:buNone/>
            </a:pPr>
            <a:endParaRPr lang="en-US" sz="1300" dirty="0"/>
          </a:p>
        </p:txBody>
      </p:sp>
      <p:sp>
        <p:nvSpPr>
          <p:cNvPr id="125" name="Text 123"/>
          <p:cNvSpPr txBox="1"/>
          <p:nvPr/>
        </p:nvSpPr>
        <p:spPr>
          <a:xfrm>
            <a:off x="6208776" y="2641600"/>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126" name="Shape 124"/>
          <p:cNvSpPr/>
          <p:nvPr/>
        </p:nvSpPr>
        <p:spPr>
          <a:xfrm>
            <a:off x="8202168" y="2696972"/>
            <a:ext cx="370360" cy="110744"/>
          </a:xfrm>
          <a:prstGeom prst="rect">
            <a:avLst/>
          </a:prstGeom>
          <a:solidFill>
            <a:srgbClr val="2587C5"/>
          </a:solidFill>
          <a:ln/>
        </p:spPr>
      </p:sp>
      <p:sp>
        <p:nvSpPr>
          <p:cNvPr id="127" name="Text 125"/>
          <p:cNvSpPr txBox="1"/>
          <p:nvPr/>
        </p:nvSpPr>
        <p:spPr>
          <a:xfrm>
            <a:off x="9025128" y="2641600"/>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$220.00</a:t>
            </a:r>
            <a:endParaRPr lang="en-US" sz="1300" dirty="0"/>
          </a:p>
        </p:txBody>
      </p:sp>
      <p:sp>
        <p:nvSpPr>
          <p:cNvPr id="128" name="Text 126"/>
          <p:cNvSpPr txBox="1"/>
          <p:nvPr/>
        </p:nvSpPr>
        <p:spPr>
          <a:xfrm>
            <a:off x="9774936" y="2641600"/>
            <a:ext cx="987552"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$230.00</a:t>
            </a:r>
            <a:endParaRPr lang="en-US" sz="1300" dirty="0"/>
          </a:p>
        </p:txBody>
      </p:sp>
      <p:sp>
        <p:nvSpPr>
          <p:cNvPr id="129" name="Text 127"/>
          <p:cNvSpPr txBox="1"/>
          <p:nvPr/>
        </p:nvSpPr>
        <p:spPr>
          <a:xfrm>
            <a:off x="10762488" y="2641600"/>
            <a:ext cx="658368"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EV</a:t>
            </a:r>
            <a:endParaRPr lang="en-US" sz="1300" dirty="0"/>
          </a:p>
        </p:txBody>
      </p:sp>
      <p:sp>
        <p:nvSpPr>
          <p:cNvPr id="130" name="Text 128"/>
          <p:cNvSpPr txBox="1"/>
          <p:nvPr/>
        </p:nvSpPr>
        <p:spPr>
          <a:xfrm>
            <a:off x="6208776" y="286308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131" name="Shape 129"/>
          <p:cNvSpPr/>
          <p:nvPr/>
        </p:nvSpPr>
        <p:spPr>
          <a:xfrm>
            <a:off x="8202168" y="2918460"/>
            <a:ext cx="356070" cy="110744"/>
          </a:xfrm>
          <a:prstGeom prst="rect">
            <a:avLst/>
          </a:prstGeom>
          <a:solidFill>
            <a:srgbClr val="2587C5"/>
          </a:solidFill>
          <a:ln/>
        </p:spPr>
      </p:sp>
      <p:sp>
        <p:nvSpPr>
          <p:cNvPr id="132" name="Text 130"/>
          <p:cNvSpPr txBox="1"/>
          <p:nvPr/>
        </p:nvSpPr>
        <p:spPr>
          <a:xfrm>
            <a:off x="9025128" y="2863088"/>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$215.37</a:t>
            </a:r>
            <a:endParaRPr lang="en-US" sz="1300" dirty="0"/>
          </a:p>
        </p:txBody>
      </p:sp>
      <p:sp>
        <p:nvSpPr>
          <p:cNvPr id="133" name="Text 131"/>
          <p:cNvSpPr txBox="1"/>
          <p:nvPr/>
        </p:nvSpPr>
        <p:spPr>
          <a:xfrm>
            <a:off x="9774936" y="2863088"/>
            <a:ext cx="987552" cy="221488"/>
          </a:xfrm>
          <a:prstGeom prst="rect">
            <a:avLst/>
          </a:prstGeom>
          <a:noFill/>
          <a:ln/>
        </p:spPr>
        <p:txBody>
          <a:bodyPr wrap="square" lIns="0" tIns="0" rIns="0" bIns="0" rtlCol="0" anchor="ctr"/>
          <a:lstStyle/>
          <a:p>
            <a:pPr algn="r" indent="0" marL="0">
              <a:buNone/>
            </a:pPr>
            <a:endParaRPr lang="en-US" sz="1300" dirty="0"/>
          </a:p>
        </p:txBody>
      </p:sp>
      <p:sp>
        <p:nvSpPr>
          <p:cNvPr id="134" name="Text 132"/>
          <p:cNvSpPr txBox="1"/>
          <p:nvPr/>
        </p:nvSpPr>
        <p:spPr>
          <a:xfrm>
            <a:off x="10762488" y="2863088"/>
            <a:ext cx="658368" cy="221488"/>
          </a:xfrm>
          <a:prstGeom prst="rect">
            <a:avLst/>
          </a:prstGeom>
          <a:noFill/>
          <a:ln/>
        </p:spPr>
        <p:txBody>
          <a:bodyPr wrap="square" lIns="0" tIns="0" rIns="0" bIns="0" rtlCol="0" anchor="ctr"/>
          <a:lstStyle/>
          <a:p>
            <a:pPr algn="r" indent="0" marL="0">
              <a:buNone/>
            </a:pPr>
            <a:endParaRPr lang="en-US" sz="1300" dirty="0"/>
          </a:p>
        </p:txBody>
      </p:sp>
      <p:sp>
        <p:nvSpPr>
          <p:cNvPr id="135" name="Text 133"/>
          <p:cNvSpPr txBox="1"/>
          <p:nvPr/>
        </p:nvSpPr>
        <p:spPr>
          <a:xfrm>
            <a:off x="6208776" y="308457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36" name="Shape 134"/>
          <p:cNvSpPr/>
          <p:nvPr/>
        </p:nvSpPr>
        <p:spPr>
          <a:xfrm>
            <a:off x="8202168" y="3139948"/>
            <a:ext cx="339497" cy="110744"/>
          </a:xfrm>
          <a:prstGeom prst="rect">
            <a:avLst/>
          </a:prstGeom>
          <a:solidFill>
            <a:srgbClr val="2587C5"/>
          </a:solidFill>
          <a:ln/>
        </p:spPr>
      </p:sp>
      <p:sp>
        <p:nvSpPr>
          <p:cNvPr id="137" name="Text 135"/>
          <p:cNvSpPr txBox="1"/>
          <p:nvPr/>
        </p:nvSpPr>
        <p:spPr>
          <a:xfrm>
            <a:off x="9025128" y="3084576"/>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$210.00</a:t>
            </a:r>
            <a:endParaRPr lang="en-US" sz="1300" dirty="0"/>
          </a:p>
        </p:txBody>
      </p:sp>
      <p:sp>
        <p:nvSpPr>
          <p:cNvPr id="138" name="Text 136"/>
          <p:cNvSpPr txBox="1"/>
          <p:nvPr/>
        </p:nvSpPr>
        <p:spPr>
          <a:xfrm>
            <a:off x="9774936" y="3084576"/>
            <a:ext cx="987552" cy="221488"/>
          </a:xfrm>
          <a:prstGeom prst="rect">
            <a:avLst/>
          </a:prstGeom>
          <a:noFill/>
          <a:ln/>
        </p:spPr>
        <p:txBody>
          <a:bodyPr wrap="square" lIns="0" tIns="0" rIns="0" bIns="0" rtlCol="0" anchor="ctr"/>
          <a:lstStyle/>
          <a:p>
            <a:pPr algn="r" indent="0" marL="0">
              <a:buNone/>
            </a:pPr>
            <a:endParaRPr lang="en-US" sz="1300" dirty="0"/>
          </a:p>
        </p:txBody>
      </p:sp>
      <p:sp>
        <p:nvSpPr>
          <p:cNvPr id="139" name="Text 137"/>
          <p:cNvSpPr txBox="1"/>
          <p:nvPr/>
        </p:nvSpPr>
        <p:spPr>
          <a:xfrm>
            <a:off x="10762488" y="3084576"/>
            <a:ext cx="658368" cy="221488"/>
          </a:xfrm>
          <a:prstGeom prst="rect">
            <a:avLst/>
          </a:prstGeom>
          <a:noFill/>
          <a:ln/>
        </p:spPr>
        <p:txBody>
          <a:bodyPr wrap="square" lIns="0" tIns="0" rIns="0" bIns="0" rtlCol="0" anchor="ctr"/>
          <a:lstStyle/>
          <a:p>
            <a:pPr algn="r" indent="0" marL="0">
              <a:buNone/>
            </a:pPr>
            <a:endParaRPr lang="en-US" sz="1300" dirty="0"/>
          </a:p>
        </p:txBody>
      </p:sp>
      <p:sp>
        <p:nvSpPr>
          <p:cNvPr id="140" name="Text 138"/>
          <p:cNvSpPr txBox="1"/>
          <p:nvPr/>
        </p:nvSpPr>
        <p:spPr>
          <a:xfrm>
            <a:off x="6208776" y="330606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141" name="Shape 139"/>
          <p:cNvSpPr/>
          <p:nvPr/>
        </p:nvSpPr>
        <p:spPr>
          <a:xfrm>
            <a:off x="8202168" y="3361436"/>
            <a:ext cx="339497" cy="110744"/>
          </a:xfrm>
          <a:prstGeom prst="rect">
            <a:avLst/>
          </a:prstGeom>
          <a:solidFill>
            <a:srgbClr val="2587C5"/>
          </a:solidFill>
          <a:ln/>
        </p:spPr>
      </p:sp>
      <p:sp>
        <p:nvSpPr>
          <p:cNvPr id="142" name="Text 140"/>
          <p:cNvSpPr txBox="1"/>
          <p:nvPr/>
        </p:nvSpPr>
        <p:spPr>
          <a:xfrm>
            <a:off x="9025128" y="3306064"/>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$210.00</a:t>
            </a:r>
            <a:endParaRPr lang="en-US" sz="1300" dirty="0"/>
          </a:p>
        </p:txBody>
      </p:sp>
      <p:sp>
        <p:nvSpPr>
          <p:cNvPr id="143" name="Text 141"/>
          <p:cNvSpPr txBox="1"/>
          <p:nvPr/>
        </p:nvSpPr>
        <p:spPr>
          <a:xfrm>
            <a:off x="9774936" y="3306064"/>
            <a:ext cx="987552" cy="221488"/>
          </a:xfrm>
          <a:prstGeom prst="rect">
            <a:avLst/>
          </a:prstGeom>
          <a:noFill/>
          <a:ln/>
        </p:spPr>
        <p:txBody>
          <a:bodyPr wrap="square" lIns="0" tIns="0" rIns="0" bIns="0" rtlCol="0" anchor="ctr"/>
          <a:lstStyle/>
          <a:p>
            <a:pPr algn="r" indent="0" marL="0">
              <a:buNone/>
            </a:pPr>
            <a:endParaRPr lang="en-US" sz="1300" dirty="0"/>
          </a:p>
        </p:txBody>
      </p:sp>
      <p:sp>
        <p:nvSpPr>
          <p:cNvPr id="144" name="Text 142"/>
          <p:cNvSpPr txBox="1"/>
          <p:nvPr/>
        </p:nvSpPr>
        <p:spPr>
          <a:xfrm>
            <a:off x="10762488" y="3306064"/>
            <a:ext cx="658368" cy="221488"/>
          </a:xfrm>
          <a:prstGeom prst="rect">
            <a:avLst/>
          </a:prstGeom>
          <a:noFill/>
          <a:ln/>
        </p:spPr>
        <p:txBody>
          <a:bodyPr wrap="square" lIns="0" tIns="0" rIns="0" bIns="0" rtlCol="0" anchor="ctr"/>
          <a:lstStyle/>
          <a:p>
            <a:pPr algn="r" indent="0" marL="0">
              <a:buNone/>
            </a:pPr>
            <a:endParaRPr lang="en-US" sz="1300" dirty="0"/>
          </a:p>
        </p:txBody>
      </p:sp>
      <p:sp>
        <p:nvSpPr>
          <p:cNvPr id="145" name="Shape 143"/>
          <p:cNvSpPr/>
          <p:nvPr/>
        </p:nvSpPr>
        <p:spPr>
          <a:xfrm>
            <a:off x="6153912" y="3527552"/>
            <a:ext cx="5285232" cy="212344"/>
          </a:xfrm>
          <a:prstGeom prst="rect">
            <a:avLst/>
          </a:prstGeom>
          <a:solidFill>
            <a:srgbClr val="EDF4FA"/>
          </a:solidFill>
          <a:ln/>
        </p:spPr>
      </p:sp>
      <p:sp>
        <p:nvSpPr>
          <p:cNvPr id="146" name="Text 144"/>
          <p:cNvSpPr txBox="1"/>
          <p:nvPr/>
        </p:nvSpPr>
        <p:spPr>
          <a:xfrm>
            <a:off x="6208776" y="3527552"/>
            <a:ext cx="1920240" cy="221488"/>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NO-GRID AVG</a:t>
            </a:r>
            <a:endParaRPr lang="en-US" sz="1300" dirty="0"/>
          </a:p>
        </p:txBody>
      </p:sp>
      <p:sp>
        <p:nvSpPr>
          <p:cNvPr id="147" name="Shape 145"/>
          <p:cNvSpPr/>
          <p:nvPr/>
        </p:nvSpPr>
        <p:spPr>
          <a:xfrm>
            <a:off x="8202168" y="3582924"/>
            <a:ext cx="317376" cy="110744"/>
          </a:xfrm>
          <a:prstGeom prst="rect">
            <a:avLst/>
          </a:prstGeom>
          <a:solidFill>
            <a:srgbClr val="0B2C4A"/>
          </a:solidFill>
          <a:ln/>
        </p:spPr>
      </p:sp>
      <p:sp>
        <p:nvSpPr>
          <p:cNvPr id="148" name="Text 146"/>
          <p:cNvSpPr txBox="1"/>
          <p:nvPr/>
        </p:nvSpPr>
        <p:spPr>
          <a:xfrm>
            <a:off x="9025128" y="3527552"/>
            <a:ext cx="749808" cy="22148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$202.83</a:t>
            </a:r>
            <a:endParaRPr lang="en-US" sz="1300" dirty="0"/>
          </a:p>
        </p:txBody>
      </p:sp>
      <p:sp>
        <p:nvSpPr>
          <p:cNvPr id="149" name="Text 147"/>
          <p:cNvSpPr txBox="1"/>
          <p:nvPr/>
        </p:nvSpPr>
        <p:spPr>
          <a:xfrm>
            <a:off x="9774936" y="3527552"/>
            <a:ext cx="987552" cy="221488"/>
          </a:xfrm>
          <a:prstGeom prst="rect">
            <a:avLst/>
          </a:prstGeom>
          <a:noFill/>
          <a:ln/>
        </p:spPr>
        <p:txBody>
          <a:bodyPr wrap="square" lIns="0" tIns="0" rIns="0" bIns="0" rtlCol="0" anchor="ctr"/>
          <a:lstStyle/>
          <a:p>
            <a:pPr algn="r" indent="0" marL="0">
              <a:buNone/>
            </a:pPr>
            <a:endParaRPr lang="en-US" sz="1300" dirty="0"/>
          </a:p>
        </p:txBody>
      </p:sp>
      <p:sp>
        <p:nvSpPr>
          <p:cNvPr id="150" name="Text 148"/>
          <p:cNvSpPr txBox="1"/>
          <p:nvPr/>
        </p:nvSpPr>
        <p:spPr>
          <a:xfrm>
            <a:off x="10762488" y="3527552"/>
            <a:ext cx="658368" cy="221488"/>
          </a:xfrm>
          <a:prstGeom prst="rect">
            <a:avLst/>
          </a:prstGeom>
          <a:noFill/>
          <a:ln/>
        </p:spPr>
        <p:txBody>
          <a:bodyPr wrap="square" lIns="0" tIns="0" rIns="0" bIns="0" rtlCol="0" anchor="ctr"/>
          <a:lstStyle/>
          <a:p>
            <a:pPr algn="r" indent="0" marL="0">
              <a:buNone/>
            </a:pPr>
            <a:endParaRPr lang="en-US" sz="1300" dirty="0"/>
          </a:p>
        </p:txBody>
      </p:sp>
      <p:sp>
        <p:nvSpPr>
          <p:cNvPr id="151" name="Text 149"/>
          <p:cNvSpPr txBox="1"/>
          <p:nvPr/>
        </p:nvSpPr>
        <p:spPr>
          <a:xfrm>
            <a:off x="6208776" y="3749040"/>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152" name="Shape 150"/>
          <p:cNvSpPr/>
          <p:nvPr/>
        </p:nvSpPr>
        <p:spPr>
          <a:xfrm>
            <a:off x="8202168" y="3804412"/>
            <a:ext cx="308479" cy="110744"/>
          </a:xfrm>
          <a:prstGeom prst="rect">
            <a:avLst/>
          </a:prstGeom>
          <a:solidFill>
            <a:srgbClr val="2587C5"/>
          </a:solidFill>
          <a:ln/>
        </p:spPr>
      </p:sp>
      <p:sp>
        <p:nvSpPr>
          <p:cNvPr id="153" name="Text 151"/>
          <p:cNvSpPr txBox="1"/>
          <p:nvPr/>
        </p:nvSpPr>
        <p:spPr>
          <a:xfrm>
            <a:off x="9025128" y="3749040"/>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$199.95</a:t>
            </a:r>
            <a:endParaRPr lang="en-US" sz="1300" dirty="0"/>
          </a:p>
        </p:txBody>
      </p:sp>
      <p:sp>
        <p:nvSpPr>
          <p:cNvPr id="154" name="Text 152"/>
          <p:cNvSpPr txBox="1"/>
          <p:nvPr/>
        </p:nvSpPr>
        <p:spPr>
          <a:xfrm>
            <a:off x="9774936" y="3749040"/>
            <a:ext cx="987552" cy="221488"/>
          </a:xfrm>
          <a:prstGeom prst="rect">
            <a:avLst/>
          </a:prstGeom>
          <a:noFill/>
          <a:ln/>
        </p:spPr>
        <p:txBody>
          <a:bodyPr wrap="square" lIns="0" tIns="0" rIns="0" bIns="0" rtlCol="0" anchor="ctr"/>
          <a:lstStyle/>
          <a:p>
            <a:pPr algn="r" indent="0" marL="0">
              <a:buNone/>
            </a:pPr>
            <a:endParaRPr lang="en-US" sz="1300" dirty="0"/>
          </a:p>
        </p:txBody>
      </p:sp>
      <p:sp>
        <p:nvSpPr>
          <p:cNvPr id="155" name="Text 153"/>
          <p:cNvSpPr txBox="1"/>
          <p:nvPr/>
        </p:nvSpPr>
        <p:spPr>
          <a:xfrm>
            <a:off x="10762488" y="3749040"/>
            <a:ext cx="658368" cy="221488"/>
          </a:xfrm>
          <a:prstGeom prst="rect">
            <a:avLst/>
          </a:prstGeom>
          <a:noFill/>
          <a:ln/>
        </p:spPr>
        <p:txBody>
          <a:bodyPr wrap="square" lIns="0" tIns="0" rIns="0" bIns="0" rtlCol="0" anchor="ctr"/>
          <a:lstStyle/>
          <a:p>
            <a:pPr algn="r" indent="0" marL="0">
              <a:buNone/>
            </a:pPr>
            <a:endParaRPr lang="en-US" sz="1300" dirty="0"/>
          </a:p>
        </p:txBody>
      </p:sp>
      <p:sp>
        <p:nvSpPr>
          <p:cNvPr id="156" name="Text 154"/>
          <p:cNvSpPr txBox="1"/>
          <p:nvPr/>
        </p:nvSpPr>
        <p:spPr>
          <a:xfrm>
            <a:off x="6208776" y="397052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157" name="Shape 155"/>
          <p:cNvSpPr/>
          <p:nvPr/>
        </p:nvSpPr>
        <p:spPr>
          <a:xfrm>
            <a:off x="8202168" y="4025900"/>
            <a:ext cx="293202" cy="110744"/>
          </a:xfrm>
          <a:prstGeom prst="rect">
            <a:avLst/>
          </a:prstGeom>
          <a:solidFill>
            <a:srgbClr val="2587C5"/>
          </a:solidFill>
          <a:ln/>
        </p:spPr>
      </p:sp>
      <p:sp>
        <p:nvSpPr>
          <p:cNvPr id="158" name="Text 156"/>
          <p:cNvSpPr txBox="1"/>
          <p:nvPr/>
        </p:nvSpPr>
        <p:spPr>
          <a:xfrm>
            <a:off x="9025128" y="3970528"/>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$195.00</a:t>
            </a:r>
            <a:endParaRPr lang="en-US" sz="1300" dirty="0"/>
          </a:p>
        </p:txBody>
      </p:sp>
      <p:sp>
        <p:nvSpPr>
          <p:cNvPr id="159" name="Text 157"/>
          <p:cNvSpPr txBox="1"/>
          <p:nvPr/>
        </p:nvSpPr>
        <p:spPr>
          <a:xfrm>
            <a:off x="9774936" y="3970528"/>
            <a:ext cx="987552" cy="221488"/>
          </a:xfrm>
          <a:prstGeom prst="rect">
            <a:avLst/>
          </a:prstGeom>
          <a:noFill/>
          <a:ln/>
        </p:spPr>
        <p:txBody>
          <a:bodyPr wrap="square" lIns="0" tIns="0" rIns="0" bIns="0" rtlCol="0" anchor="ctr"/>
          <a:lstStyle/>
          <a:p>
            <a:pPr algn="r" indent="0" marL="0">
              <a:buNone/>
            </a:pPr>
            <a:endParaRPr lang="en-US" sz="1300" dirty="0"/>
          </a:p>
        </p:txBody>
      </p:sp>
      <p:sp>
        <p:nvSpPr>
          <p:cNvPr id="160" name="Text 158"/>
          <p:cNvSpPr txBox="1"/>
          <p:nvPr/>
        </p:nvSpPr>
        <p:spPr>
          <a:xfrm>
            <a:off x="10762488" y="3970528"/>
            <a:ext cx="658368" cy="221488"/>
          </a:xfrm>
          <a:prstGeom prst="rect">
            <a:avLst/>
          </a:prstGeom>
          <a:noFill/>
          <a:ln/>
        </p:spPr>
        <p:txBody>
          <a:bodyPr wrap="square" lIns="0" tIns="0" rIns="0" bIns="0" rtlCol="0" anchor="ctr"/>
          <a:lstStyle/>
          <a:p>
            <a:pPr algn="r" indent="0" marL="0">
              <a:buNone/>
            </a:pPr>
            <a:endParaRPr lang="en-US" sz="1300" dirty="0"/>
          </a:p>
        </p:txBody>
      </p:sp>
      <p:sp>
        <p:nvSpPr>
          <p:cNvPr id="161" name="Text 159"/>
          <p:cNvSpPr txBox="1"/>
          <p:nvPr/>
        </p:nvSpPr>
        <p:spPr>
          <a:xfrm>
            <a:off x="6208776" y="419201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162" name="Shape 160"/>
          <p:cNvSpPr/>
          <p:nvPr/>
        </p:nvSpPr>
        <p:spPr>
          <a:xfrm>
            <a:off x="8202168" y="4247388"/>
            <a:ext cx="277770" cy="110744"/>
          </a:xfrm>
          <a:prstGeom prst="rect">
            <a:avLst/>
          </a:prstGeom>
          <a:solidFill>
            <a:srgbClr val="2587C5"/>
          </a:solidFill>
          <a:ln/>
        </p:spPr>
      </p:sp>
      <p:sp>
        <p:nvSpPr>
          <p:cNvPr id="163" name="Text 161"/>
          <p:cNvSpPr txBox="1"/>
          <p:nvPr/>
        </p:nvSpPr>
        <p:spPr>
          <a:xfrm>
            <a:off x="9025128" y="4192016"/>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$190.00</a:t>
            </a:r>
            <a:endParaRPr lang="en-US" sz="1300" dirty="0"/>
          </a:p>
        </p:txBody>
      </p:sp>
      <p:sp>
        <p:nvSpPr>
          <p:cNvPr id="164" name="Text 162"/>
          <p:cNvSpPr txBox="1"/>
          <p:nvPr/>
        </p:nvSpPr>
        <p:spPr>
          <a:xfrm>
            <a:off x="9774936" y="4192016"/>
            <a:ext cx="987552" cy="221488"/>
          </a:xfrm>
          <a:prstGeom prst="rect">
            <a:avLst/>
          </a:prstGeom>
          <a:noFill/>
          <a:ln/>
        </p:spPr>
        <p:txBody>
          <a:bodyPr wrap="square" lIns="0" tIns="0" rIns="0" bIns="0" rtlCol="0" anchor="ctr"/>
          <a:lstStyle/>
          <a:p>
            <a:pPr algn="r" indent="0" marL="0">
              <a:buNone/>
            </a:pPr>
            <a:endParaRPr lang="en-US" sz="1300" dirty="0"/>
          </a:p>
        </p:txBody>
      </p:sp>
      <p:sp>
        <p:nvSpPr>
          <p:cNvPr id="165" name="Text 163"/>
          <p:cNvSpPr txBox="1"/>
          <p:nvPr/>
        </p:nvSpPr>
        <p:spPr>
          <a:xfrm>
            <a:off x="10762488" y="4192016"/>
            <a:ext cx="658368" cy="221488"/>
          </a:xfrm>
          <a:prstGeom prst="rect">
            <a:avLst/>
          </a:prstGeom>
          <a:noFill/>
          <a:ln/>
        </p:spPr>
        <p:txBody>
          <a:bodyPr wrap="square" lIns="0" tIns="0" rIns="0" bIns="0" rtlCol="0" anchor="ctr"/>
          <a:lstStyle/>
          <a:p>
            <a:pPr algn="r" indent="0" marL="0">
              <a:buNone/>
            </a:pPr>
            <a:endParaRPr lang="en-US" sz="1300" dirty="0"/>
          </a:p>
        </p:txBody>
      </p:sp>
      <p:sp>
        <p:nvSpPr>
          <p:cNvPr id="166" name="Text 164"/>
          <p:cNvSpPr txBox="1"/>
          <p:nvPr/>
        </p:nvSpPr>
        <p:spPr>
          <a:xfrm>
            <a:off x="6208776" y="441350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167" name="Shape 165"/>
          <p:cNvSpPr/>
          <p:nvPr/>
        </p:nvSpPr>
        <p:spPr>
          <a:xfrm>
            <a:off x="8202168" y="4468876"/>
            <a:ext cx="262338" cy="110744"/>
          </a:xfrm>
          <a:prstGeom prst="rect">
            <a:avLst/>
          </a:prstGeom>
          <a:solidFill>
            <a:srgbClr val="2587C5"/>
          </a:solidFill>
          <a:ln/>
        </p:spPr>
      </p:sp>
      <p:sp>
        <p:nvSpPr>
          <p:cNvPr id="168" name="Text 166"/>
          <p:cNvSpPr txBox="1"/>
          <p:nvPr/>
        </p:nvSpPr>
        <p:spPr>
          <a:xfrm>
            <a:off x="9025128" y="4413504"/>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$185.00</a:t>
            </a:r>
            <a:endParaRPr lang="en-US" sz="1300" dirty="0"/>
          </a:p>
        </p:txBody>
      </p:sp>
      <p:sp>
        <p:nvSpPr>
          <p:cNvPr id="169" name="Text 167"/>
          <p:cNvSpPr txBox="1"/>
          <p:nvPr/>
        </p:nvSpPr>
        <p:spPr>
          <a:xfrm>
            <a:off x="9774936" y="4413504"/>
            <a:ext cx="987552"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$215.00</a:t>
            </a:r>
            <a:endParaRPr lang="en-US" sz="1300" dirty="0"/>
          </a:p>
        </p:txBody>
      </p:sp>
      <p:sp>
        <p:nvSpPr>
          <p:cNvPr id="170" name="Text 168"/>
          <p:cNvSpPr txBox="1"/>
          <p:nvPr/>
        </p:nvSpPr>
        <p:spPr>
          <a:xfrm>
            <a:off x="10762488" y="4413504"/>
            <a:ext cx="658368"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EV</a:t>
            </a:r>
            <a:endParaRPr lang="en-US" sz="1300" dirty="0"/>
          </a:p>
        </p:txBody>
      </p:sp>
      <p:sp>
        <p:nvSpPr>
          <p:cNvPr id="171" name="Text 169"/>
          <p:cNvSpPr txBox="1"/>
          <p:nvPr/>
        </p:nvSpPr>
        <p:spPr>
          <a:xfrm>
            <a:off x="6208776" y="4634992"/>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172" name="Shape 170"/>
          <p:cNvSpPr/>
          <p:nvPr/>
        </p:nvSpPr>
        <p:spPr>
          <a:xfrm>
            <a:off x="8202168" y="4690364"/>
            <a:ext cx="262338" cy="110744"/>
          </a:xfrm>
          <a:prstGeom prst="rect">
            <a:avLst/>
          </a:prstGeom>
          <a:solidFill>
            <a:srgbClr val="2587C5"/>
          </a:solidFill>
          <a:ln/>
        </p:spPr>
      </p:sp>
      <p:sp>
        <p:nvSpPr>
          <p:cNvPr id="173" name="Text 171"/>
          <p:cNvSpPr txBox="1"/>
          <p:nvPr/>
        </p:nvSpPr>
        <p:spPr>
          <a:xfrm>
            <a:off x="9025128" y="4634992"/>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$185.00</a:t>
            </a:r>
            <a:endParaRPr lang="en-US" sz="1300" dirty="0"/>
          </a:p>
        </p:txBody>
      </p:sp>
      <p:sp>
        <p:nvSpPr>
          <p:cNvPr id="174" name="Text 172"/>
          <p:cNvSpPr txBox="1"/>
          <p:nvPr/>
        </p:nvSpPr>
        <p:spPr>
          <a:xfrm>
            <a:off x="9774936" y="4634992"/>
            <a:ext cx="987552"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$195.00</a:t>
            </a:r>
            <a:endParaRPr lang="en-US" sz="1300" dirty="0"/>
          </a:p>
        </p:txBody>
      </p:sp>
      <p:sp>
        <p:nvSpPr>
          <p:cNvPr id="175" name="Text 173"/>
          <p:cNvSpPr txBox="1"/>
          <p:nvPr/>
        </p:nvSpPr>
        <p:spPr>
          <a:xfrm>
            <a:off x="10762488" y="4634992"/>
            <a:ext cx="658368"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EV</a:t>
            </a:r>
            <a:endParaRPr lang="en-US" sz="1300" dirty="0"/>
          </a:p>
        </p:txBody>
      </p:sp>
      <p:sp>
        <p:nvSpPr>
          <p:cNvPr id="176" name="Text 174"/>
          <p:cNvSpPr txBox="1"/>
          <p:nvPr/>
        </p:nvSpPr>
        <p:spPr>
          <a:xfrm>
            <a:off x="6208776" y="4856480"/>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177" name="Shape 175"/>
          <p:cNvSpPr/>
          <p:nvPr/>
        </p:nvSpPr>
        <p:spPr>
          <a:xfrm>
            <a:off x="8202168" y="4911852"/>
            <a:ext cx="262338" cy="110744"/>
          </a:xfrm>
          <a:prstGeom prst="rect">
            <a:avLst/>
          </a:prstGeom>
          <a:solidFill>
            <a:srgbClr val="2587C5"/>
          </a:solidFill>
          <a:ln/>
        </p:spPr>
      </p:sp>
      <p:sp>
        <p:nvSpPr>
          <p:cNvPr id="178" name="Text 176"/>
          <p:cNvSpPr txBox="1"/>
          <p:nvPr/>
        </p:nvSpPr>
        <p:spPr>
          <a:xfrm>
            <a:off x="9025128" y="4856480"/>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$185.00</a:t>
            </a:r>
            <a:endParaRPr lang="en-US" sz="1300" dirty="0"/>
          </a:p>
        </p:txBody>
      </p:sp>
      <p:sp>
        <p:nvSpPr>
          <p:cNvPr id="179" name="Text 177"/>
          <p:cNvSpPr txBox="1"/>
          <p:nvPr/>
        </p:nvSpPr>
        <p:spPr>
          <a:xfrm>
            <a:off x="9774936" y="4856480"/>
            <a:ext cx="987552"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$210.00</a:t>
            </a:r>
            <a:endParaRPr lang="en-US" sz="1300" dirty="0"/>
          </a:p>
        </p:txBody>
      </p:sp>
      <p:sp>
        <p:nvSpPr>
          <p:cNvPr id="180" name="Text 178"/>
          <p:cNvSpPr txBox="1"/>
          <p:nvPr/>
        </p:nvSpPr>
        <p:spPr>
          <a:xfrm>
            <a:off x="10762488" y="4856480"/>
            <a:ext cx="658368"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EV</a:t>
            </a:r>
            <a:endParaRPr lang="en-US" sz="1300" dirty="0"/>
          </a:p>
        </p:txBody>
      </p:sp>
      <p:sp>
        <p:nvSpPr>
          <p:cNvPr id="181" name="Text 179"/>
          <p:cNvSpPr txBox="1"/>
          <p:nvPr/>
        </p:nvSpPr>
        <p:spPr>
          <a:xfrm>
            <a:off x="6208776" y="507796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182" name="Shape 180"/>
          <p:cNvSpPr/>
          <p:nvPr/>
        </p:nvSpPr>
        <p:spPr>
          <a:xfrm>
            <a:off x="8202168" y="5133340"/>
            <a:ext cx="262338" cy="110744"/>
          </a:xfrm>
          <a:prstGeom prst="rect">
            <a:avLst/>
          </a:prstGeom>
          <a:solidFill>
            <a:srgbClr val="2587C5"/>
          </a:solidFill>
          <a:ln/>
        </p:spPr>
      </p:sp>
      <p:sp>
        <p:nvSpPr>
          <p:cNvPr id="183" name="Text 181"/>
          <p:cNvSpPr txBox="1"/>
          <p:nvPr/>
        </p:nvSpPr>
        <p:spPr>
          <a:xfrm>
            <a:off x="9025128" y="5077968"/>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$185.00</a:t>
            </a:r>
            <a:endParaRPr lang="en-US" sz="1300" dirty="0"/>
          </a:p>
        </p:txBody>
      </p:sp>
      <p:sp>
        <p:nvSpPr>
          <p:cNvPr id="184" name="Text 182"/>
          <p:cNvSpPr txBox="1"/>
          <p:nvPr/>
        </p:nvSpPr>
        <p:spPr>
          <a:xfrm>
            <a:off x="9774936" y="5077968"/>
            <a:ext cx="987552" cy="221488"/>
          </a:xfrm>
          <a:prstGeom prst="rect">
            <a:avLst/>
          </a:prstGeom>
          <a:noFill/>
          <a:ln/>
        </p:spPr>
        <p:txBody>
          <a:bodyPr wrap="square" lIns="0" tIns="0" rIns="0" bIns="0" rtlCol="0" anchor="ctr"/>
          <a:lstStyle/>
          <a:p>
            <a:pPr algn="r" indent="0" marL="0">
              <a:buNone/>
            </a:pPr>
            <a:endParaRPr lang="en-US" sz="1300" dirty="0"/>
          </a:p>
        </p:txBody>
      </p:sp>
      <p:sp>
        <p:nvSpPr>
          <p:cNvPr id="185" name="Text 183"/>
          <p:cNvSpPr txBox="1"/>
          <p:nvPr/>
        </p:nvSpPr>
        <p:spPr>
          <a:xfrm>
            <a:off x="10762488" y="5077968"/>
            <a:ext cx="658368" cy="221488"/>
          </a:xfrm>
          <a:prstGeom prst="rect">
            <a:avLst/>
          </a:prstGeom>
          <a:noFill/>
          <a:ln/>
        </p:spPr>
        <p:txBody>
          <a:bodyPr wrap="square" lIns="0" tIns="0" rIns="0" bIns="0" rtlCol="0" anchor="ctr"/>
          <a:lstStyle/>
          <a:p>
            <a:pPr algn="r" indent="0" marL="0">
              <a:buNone/>
            </a:pPr>
            <a:endParaRPr lang="en-US" sz="1300" dirty="0"/>
          </a:p>
        </p:txBody>
      </p:sp>
      <p:sp>
        <p:nvSpPr>
          <p:cNvPr id="186" name="Text 184"/>
          <p:cNvSpPr txBox="1"/>
          <p:nvPr/>
        </p:nvSpPr>
        <p:spPr>
          <a:xfrm>
            <a:off x="6208776" y="529945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187" name="Shape 185"/>
          <p:cNvSpPr/>
          <p:nvPr/>
        </p:nvSpPr>
        <p:spPr>
          <a:xfrm>
            <a:off x="8202168" y="5354828"/>
            <a:ext cx="243820" cy="110744"/>
          </a:xfrm>
          <a:prstGeom prst="rect">
            <a:avLst/>
          </a:prstGeom>
          <a:solidFill>
            <a:srgbClr val="2587C5"/>
          </a:solidFill>
          <a:ln/>
        </p:spPr>
      </p:sp>
      <p:sp>
        <p:nvSpPr>
          <p:cNvPr id="188" name="Text 186"/>
          <p:cNvSpPr txBox="1"/>
          <p:nvPr/>
        </p:nvSpPr>
        <p:spPr>
          <a:xfrm>
            <a:off x="9025128" y="5299456"/>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$179.00</a:t>
            </a:r>
            <a:endParaRPr lang="en-US" sz="1300" dirty="0"/>
          </a:p>
        </p:txBody>
      </p:sp>
      <p:sp>
        <p:nvSpPr>
          <p:cNvPr id="189" name="Text 187"/>
          <p:cNvSpPr txBox="1"/>
          <p:nvPr/>
        </p:nvSpPr>
        <p:spPr>
          <a:xfrm>
            <a:off x="9774936" y="5299456"/>
            <a:ext cx="987552" cy="221488"/>
          </a:xfrm>
          <a:prstGeom prst="rect">
            <a:avLst/>
          </a:prstGeom>
          <a:noFill/>
          <a:ln/>
        </p:spPr>
        <p:txBody>
          <a:bodyPr wrap="square" lIns="0" tIns="0" rIns="0" bIns="0" rtlCol="0" anchor="ctr"/>
          <a:lstStyle/>
          <a:p>
            <a:pPr algn="r" indent="0" marL="0">
              <a:buNone/>
            </a:pPr>
            <a:endParaRPr lang="en-US" sz="1300" dirty="0"/>
          </a:p>
        </p:txBody>
      </p:sp>
      <p:sp>
        <p:nvSpPr>
          <p:cNvPr id="190" name="Text 188"/>
          <p:cNvSpPr txBox="1"/>
          <p:nvPr/>
        </p:nvSpPr>
        <p:spPr>
          <a:xfrm>
            <a:off x="10762488" y="5299456"/>
            <a:ext cx="658368" cy="221488"/>
          </a:xfrm>
          <a:prstGeom prst="rect">
            <a:avLst/>
          </a:prstGeom>
          <a:noFill/>
          <a:ln/>
        </p:spPr>
        <p:txBody>
          <a:bodyPr wrap="square" lIns="0" tIns="0" rIns="0" bIns="0" rtlCol="0" anchor="ctr"/>
          <a:lstStyle/>
          <a:p>
            <a:pPr algn="r" indent="0" marL="0">
              <a:buNone/>
            </a:pPr>
            <a:endParaRPr lang="en-US" sz="1300" dirty="0"/>
          </a:p>
        </p:txBody>
      </p:sp>
      <p:sp>
        <p:nvSpPr>
          <p:cNvPr id="191" name="Shape 189"/>
          <p:cNvSpPr/>
          <p:nvPr/>
        </p:nvSpPr>
        <p:spPr>
          <a:xfrm>
            <a:off x="6035040" y="1371600"/>
            <a:ext cx="10973" cy="4370832"/>
          </a:xfrm>
          <a:prstGeom prst="rect">
            <a:avLst/>
          </a:prstGeom>
          <a:solidFill>
            <a:srgbClr val="D9D9D9"/>
          </a:solidFill>
          <a:ln/>
        </p:spPr>
      </p:sp>
      <p:sp>
        <p:nvSpPr>
          <p:cNvPr id="192" name="Shape 190"/>
          <p:cNvSpPr/>
          <p:nvPr/>
        </p:nvSpPr>
        <p:spPr>
          <a:xfrm>
            <a:off x="457200" y="5961888"/>
            <a:ext cx="11274552" cy="548640"/>
          </a:xfrm>
          <a:prstGeom prst="rect">
            <a:avLst/>
          </a:prstGeom>
          <a:solidFill>
            <a:srgbClr val="EDF4FA"/>
          </a:solidFill>
          <a:ln/>
        </p:spPr>
      </p:sp>
      <p:sp>
        <p:nvSpPr>
          <p:cNvPr id="193" name="Text 191"/>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17 stores price labor on a grid, 16 at a flat door rate. Hours-weighted door rate: $228.55 grid, $202.83 no grid.</a:t>
            </a:r>
            <a:endParaRPr lang="en-US" sz="1600" dirty="0"/>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 · OPTION A</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Your Best Techs Prove It</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Shape 4"/>
          <p:cNvSpPr/>
          <p:nvPr/>
        </p:nvSpPr>
        <p:spPr>
          <a:xfrm>
            <a:off x="685800" y="1371600"/>
            <a:ext cx="237744" cy="201168"/>
          </a:xfrm>
          <a:prstGeom prst="rect">
            <a:avLst/>
          </a:prstGeom>
          <a:solidFill>
            <a:srgbClr val="C2352F"/>
          </a:solidFill>
          <a:ln/>
        </p:spPr>
      </p:sp>
      <p:sp>
        <p:nvSpPr>
          <p:cNvPr id="7" name="Text 5"/>
          <p:cNvSpPr txBox="1"/>
          <p:nvPr/>
        </p:nvSpPr>
        <p:spPr>
          <a:xfrm>
            <a:off x="1014984" y="1298448"/>
            <a:ext cx="2011680" cy="347472"/>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Store today</a:t>
            </a:r>
            <a:endParaRPr lang="en-US" sz="1500" dirty="0"/>
          </a:p>
        </p:txBody>
      </p:sp>
      <p:sp>
        <p:nvSpPr>
          <p:cNvPr id="8" name="Shape 6"/>
          <p:cNvSpPr/>
          <p:nvPr/>
        </p:nvSpPr>
        <p:spPr>
          <a:xfrm>
            <a:off x="3063240" y="1371600"/>
            <a:ext cx="237744" cy="201168"/>
          </a:xfrm>
          <a:prstGeom prst="rect">
            <a:avLst/>
          </a:prstGeom>
          <a:solidFill>
            <a:srgbClr val="12A566"/>
          </a:solidFill>
          <a:ln/>
        </p:spPr>
      </p:sp>
      <p:sp>
        <p:nvSpPr>
          <p:cNvPr id="9" name="Text 7"/>
          <p:cNvSpPr txBox="1"/>
          <p:nvPr/>
        </p:nvSpPr>
        <p:spPr>
          <a:xfrm>
            <a:off x="3392424" y="1298448"/>
            <a:ext cx="2011680" cy="347472"/>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Its best techs</a:t>
            </a:r>
            <a:endParaRPr lang="en-US" sz="1500" dirty="0"/>
          </a:p>
        </p:txBody>
      </p:sp>
      <p:sp>
        <p:nvSpPr>
          <p:cNvPr id="10" name="Text 8"/>
          <p:cNvSpPr txBox="1"/>
          <p:nvPr/>
        </p:nvSpPr>
        <p:spPr>
          <a:xfrm>
            <a:off x="6260592" y="1298448"/>
            <a:ext cx="1828800" cy="347472"/>
          </a:xfrm>
          <a:prstGeom prst="rect">
            <a:avLst/>
          </a:prstGeom>
          <a:noFill/>
          <a:ln/>
        </p:spPr>
        <p:txBody>
          <a:bodyPr wrap="square" lIns="0" tIns="0" rIns="0" bIns="0" rtlCol="0" anchor="ctr"/>
          <a:lstStyle/>
          <a:p>
            <a:pPr algn="ctr" indent="0" marL="0">
              <a:buNone/>
            </a:pPr>
            <a:r>
              <a:rPr lang="en-US" sz="1400" b="1" spc="80" kern="0" dirty="0">
                <a:solidFill>
                  <a:srgbClr val="0B2C4A"/>
                </a:solidFill>
                <a:latin typeface="Inter" pitchFamily="34" charset="0"/>
                <a:ea typeface="Inter" pitchFamily="34" charset="-122"/>
                <a:cs typeface="Inter" pitchFamily="34" charset="-120"/>
              </a:rPr>
              <a:t>TARGET 85%</a:t>
            </a:r>
            <a:endParaRPr lang="en-US" sz="1400" dirty="0"/>
          </a:p>
        </p:txBody>
      </p:sp>
      <p:sp>
        <p:nvSpPr>
          <p:cNvPr id="11" name="Text 9"/>
          <p:cNvSpPr txBox="1"/>
          <p:nvPr/>
        </p:nvSpPr>
        <p:spPr>
          <a:xfrm>
            <a:off x="685800" y="1783080"/>
            <a:ext cx="2148840" cy="302455"/>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12" name="Shape 10"/>
          <p:cNvSpPr/>
          <p:nvPr/>
        </p:nvSpPr>
        <p:spPr>
          <a:xfrm>
            <a:off x="2926080" y="1813326"/>
            <a:ext cx="3370700" cy="108884"/>
          </a:xfrm>
          <a:prstGeom prst="rect">
            <a:avLst/>
          </a:prstGeom>
          <a:solidFill>
            <a:srgbClr val="C2352F"/>
          </a:solidFill>
          <a:ln/>
        </p:spPr>
      </p:sp>
      <p:sp>
        <p:nvSpPr>
          <p:cNvPr id="13" name="Text 11"/>
          <p:cNvSpPr txBox="1"/>
          <p:nvPr/>
        </p:nvSpPr>
        <p:spPr>
          <a:xfrm>
            <a:off x="6351644" y="1767606"/>
            <a:ext cx="731520" cy="200324"/>
          </a:xfrm>
          <a:prstGeom prst="rect">
            <a:avLst/>
          </a:prstGeom>
          <a:noFill/>
          <a:ln/>
        </p:spPr>
        <p:txBody>
          <a:bodyPr wrap="square" lIns="0" tIns="0" rIns="0" bIns="0" rtlCol="0" anchor="ctr"/>
          <a:lstStyle/>
          <a:p>
            <a:pPr indent="0" marL="0">
              <a:buNone/>
            </a:pPr>
            <a:r>
              <a:rPr lang="en-US" sz="1300" b="1" dirty="0">
                <a:solidFill>
                  <a:srgbClr val="A82B26"/>
                </a:solidFill>
                <a:latin typeface="Inter" pitchFamily="34" charset="0"/>
                <a:ea typeface="Inter" pitchFamily="34" charset="-122"/>
                <a:cs typeface="Inter" pitchFamily="34" charset="-120"/>
              </a:rPr>
              <a:t>67%</a:t>
            </a:r>
            <a:endParaRPr lang="en-US" sz="1300" dirty="0"/>
          </a:p>
        </p:txBody>
      </p:sp>
      <p:sp>
        <p:nvSpPr>
          <p:cNvPr id="14" name="Shape 12"/>
          <p:cNvSpPr/>
          <p:nvPr/>
        </p:nvSpPr>
        <p:spPr>
          <a:xfrm>
            <a:off x="2926080" y="1940497"/>
            <a:ext cx="3685208" cy="108884"/>
          </a:xfrm>
          <a:prstGeom prst="rect">
            <a:avLst/>
          </a:prstGeom>
          <a:solidFill>
            <a:srgbClr val="C2352F"/>
          </a:solidFill>
          <a:ln/>
        </p:spPr>
      </p:sp>
      <p:sp>
        <p:nvSpPr>
          <p:cNvPr id="15" name="Text 13"/>
          <p:cNvSpPr txBox="1"/>
          <p:nvPr/>
        </p:nvSpPr>
        <p:spPr>
          <a:xfrm>
            <a:off x="6666152" y="1894777"/>
            <a:ext cx="731520" cy="200324"/>
          </a:xfrm>
          <a:prstGeom prst="rect">
            <a:avLst/>
          </a:prstGeom>
          <a:noFill/>
          <a:ln/>
        </p:spPr>
        <p:txBody>
          <a:bodyPr wrap="square" lIns="0" tIns="0" rIns="0" bIns="0" rtlCol="0" anchor="ctr"/>
          <a:lstStyle/>
          <a:p>
            <a:pPr indent="0" marL="0">
              <a:buNone/>
            </a:pPr>
            <a:r>
              <a:rPr lang="en-US" sz="1300" b="1" dirty="0">
                <a:solidFill>
                  <a:srgbClr val="A82B26"/>
                </a:solidFill>
                <a:latin typeface="Inter" pitchFamily="34" charset="0"/>
                <a:ea typeface="Inter" pitchFamily="34" charset="-122"/>
                <a:cs typeface="Inter" pitchFamily="34" charset="-120"/>
              </a:rPr>
              <a:t>73%</a:t>
            </a:r>
            <a:endParaRPr lang="en-US" sz="1300" dirty="0"/>
          </a:p>
        </p:txBody>
      </p:sp>
      <p:sp>
        <p:nvSpPr>
          <p:cNvPr id="16" name="Text 14"/>
          <p:cNvSpPr txBox="1"/>
          <p:nvPr/>
        </p:nvSpPr>
        <p:spPr>
          <a:xfrm>
            <a:off x="685800" y="2085535"/>
            <a:ext cx="2148840" cy="302455"/>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17" name="Shape 15"/>
          <p:cNvSpPr/>
          <p:nvPr/>
        </p:nvSpPr>
        <p:spPr>
          <a:xfrm>
            <a:off x="2926080" y="2115781"/>
            <a:ext cx="3374819" cy="108884"/>
          </a:xfrm>
          <a:prstGeom prst="rect">
            <a:avLst/>
          </a:prstGeom>
          <a:solidFill>
            <a:srgbClr val="C2352F"/>
          </a:solidFill>
          <a:ln/>
        </p:spPr>
      </p:sp>
      <p:sp>
        <p:nvSpPr>
          <p:cNvPr id="18" name="Text 16"/>
          <p:cNvSpPr txBox="1"/>
          <p:nvPr/>
        </p:nvSpPr>
        <p:spPr>
          <a:xfrm>
            <a:off x="6355763" y="2070061"/>
            <a:ext cx="731520" cy="200324"/>
          </a:xfrm>
          <a:prstGeom prst="rect">
            <a:avLst/>
          </a:prstGeom>
          <a:noFill/>
          <a:ln/>
        </p:spPr>
        <p:txBody>
          <a:bodyPr wrap="square" lIns="0" tIns="0" rIns="0" bIns="0" rtlCol="0" anchor="ctr"/>
          <a:lstStyle/>
          <a:p>
            <a:pPr indent="0" marL="0">
              <a:buNone/>
            </a:pPr>
            <a:r>
              <a:rPr lang="en-US" sz="1300" b="1" dirty="0">
                <a:solidFill>
                  <a:srgbClr val="A82B26"/>
                </a:solidFill>
                <a:latin typeface="Inter" pitchFamily="34" charset="0"/>
                <a:ea typeface="Inter" pitchFamily="34" charset="-122"/>
                <a:cs typeface="Inter" pitchFamily="34" charset="-120"/>
              </a:rPr>
              <a:t>67%</a:t>
            </a:r>
            <a:endParaRPr lang="en-US" sz="1300" dirty="0"/>
          </a:p>
        </p:txBody>
      </p:sp>
      <p:sp>
        <p:nvSpPr>
          <p:cNvPr id="19" name="Shape 17"/>
          <p:cNvSpPr/>
          <p:nvPr/>
        </p:nvSpPr>
        <p:spPr>
          <a:xfrm>
            <a:off x="2926080" y="2242953"/>
            <a:ext cx="4893845" cy="108884"/>
          </a:xfrm>
          <a:prstGeom prst="rect">
            <a:avLst/>
          </a:prstGeom>
          <a:solidFill>
            <a:srgbClr val="12A566"/>
          </a:solidFill>
          <a:ln/>
        </p:spPr>
      </p:sp>
      <p:sp>
        <p:nvSpPr>
          <p:cNvPr id="20" name="Text 18"/>
          <p:cNvSpPr txBox="1"/>
          <p:nvPr/>
        </p:nvSpPr>
        <p:spPr>
          <a:xfrm>
            <a:off x="7874789" y="2197233"/>
            <a:ext cx="731520" cy="200324"/>
          </a:xfrm>
          <a:prstGeom prst="rect">
            <a:avLst/>
          </a:prstGeom>
          <a:noFill/>
          <a:ln/>
        </p:spPr>
        <p:txBody>
          <a:bodyPr wrap="square" lIns="0" tIns="0" rIns="0" bIns="0" rtlCol="0" anchor="ctr"/>
          <a:lstStyle/>
          <a:p>
            <a:pPr indent="0" marL="0">
              <a:buNone/>
            </a:pPr>
            <a:r>
              <a:rPr lang="en-US" sz="1300" b="1" dirty="0">
                <a:solidFill>
                  <a:srgbClr val="0B7A4A"/>
                </a:solidFill>
                <a:latin typeface="Inter" pitchFamily="34" charset="0"/>
                <a:ea typeface="Inter" pitchFamily="34" charset="-122"/>
                <a:cs typeface="Inter" pitchFamily="34" charset="-120"/>
              </a:rPr>
              <a:t>97%</a:t>
            </a:r>
            <a:endParaRPr lang="en-US" sz="1300" dirty="0"/>
          </a:p>
        </p:txBody>
      </p:sp>
      <p:sp>
        <p:nvSpPr>
          <p:cNvPr id="21" name="Text 19"/>
          <p:cNvSpPr txBox="1"/>
          <p:nvPr/>
        </p:nvSpPr>
        <p:spPr>
          <a:xfrm>
            <a:off x="685800" y="2387991"/>
            <a:ext cx="2148840" cy="302455"/>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22" name="Shape 20"/>
          <p:cNvSpPr/>
          <p:nvPr/>
        </p:nvSpPr>
        <p:spPr>
          <a:xfrm>
            <a:off x="2926080" y="2418236"/>
            <a:ext cx="3419949" cy="108884"/>
          </a:xfrm>
          <a:prstGeom prst="rect">
            <a:avLst/>
          </a:prstGeom>
          <a:solidFill>
            <a:srgbClr val="C2352F"/>
          </a:solidFill>
          <a:ln/>
        </p:spPr>
      </p:sp>
      <p:sp>
        <p:nvSpPr>
          <p:cNvPr id="23" name="Text 21"/>
          <p:cNvSpPr txBox="1"/>
          <p:nvPr/>
        </p:nvSpPr>
        <p:spPr>
          <a:xfrm>
            <a:off x="6400893" y="2372516"/>
            <a:ext cx="731520" cy="200324"/>
          </a:xfrm>
          <a:prstGeom prst="rect">
            <a:avLst/>
          </a:prstGeom>
          <a:noFill/>
          <a:ln/>
        </p:spPr>
        <p:txBody>
          <a:bodyPr wrap="square" lIns="0" tIns="0" rIns="0" bIns="0" rtlCol="0" anchor="ctr"/>
          <a:lstStyle/>
          <a:p>
            <a:pPr indent="0" marL="0">
              <a:buNone/>
            </a:pPr>
            <a:r>
              <a:rPr lang="en-US" sz="1300" b="1" dirty="0">
                <a:solidFill>
                  <a:srgbClr val="A82B26"/>
                </a:solidFill>
                <a:latin typeface="Inter" pitchFamily="34" charset="0"/>
                <a:ea typeface="Inter" pitchFamily="34" charset="-122"/>
                <a:cs typeface="Inter" pitchFamily="34" charset="-120"/>
              </a:rPr>
              <a:t>68%</a:t>
            </a:r>
            <a:endParaRPr lang="en-US" sz="1300" dirty="0"/>
          </a:p>
        </p:txBody>
      </p:sp>
      <p:sp>
        <p:nvSpPr>
          <p:cNvPr id="24" name="Shape 22"/>
          <p:cNvSpPr/>
          <p:nvPr/>
        </p:nvSpPr>
        <p:spPr>
          <a:xfrm>
            <a:off x="2926080" y="2545408"/>
            <a:ext cx="4823383" cy="108884"/>
          </a:xfrm>
          <a:prstGeom prst="rect">
            <a:avLst/>
          </a:prstGeom>
          <a:solidFill>
            <a:srgbClr val="12A566"/>
          </a:solidFill>
          <a:ln/>
        </p:spPr>
      </p:sp>
      <p:sp>
        <p:nvSpPr>
          <p:cNvPr id="25" name="Text 23"/>
          <p:cNvSpPr txBox="1"/>
          <p:nvPr/>
        </p:nvSpPr>
        <p:spPr>
          <a:xfrm>
            <a:off x="7804327" y="2499688"/>
            <a:ext cx="731520" cy="200324"/>
          </a:xfrm>
          <a:prstGeom prst="rect">
            <a:avLst/>
          </a:prstGeom>
          <a:noFill/>
          <a:ln/>
        </p:spPr>
        <p:txBody>
          <a:bodyPr wrap="square" lIns="0" tIns="0" rIns="0" bIns="0" rtlCol="0" anchor="ctr"/>
          <a:lstStyle/>
          <a:p>
            <a:pPr indent="0" marL="0">
              <a:buNone/>
            </a:pPr>
            <a:r>
              <a:rPr lang="en-US" sz="1300" b="1" dirty="0">
                <a:solidFill>
                  <a:srgbClr val="0B7A4A"/>
                </a:solidFill>
                <a:latin typeface="Inter" pitchFamily="34" charset="0"/>
                <a:ea typeface="Inter" pitchFamily="34" charset="-122"/>
                <a:cs typeface="Inter" pitchFamily="34" charset="-120"/>
              </a:rPr>
              <a:t>96%</a:t>
            </a:r>
            <a:endParaRPr lang="en-US" sz="1300" dirty="0"/>
          </a:p>
        </p:txBody>
      </p:sp>
      <p:sp>
        <p:nvSpPr>
          <p:cNvPr id="26" name="Text 24"/>
          <p:cNvSpPr txBox="1"/>
          <p:nvPr/>
        </p:nvSpPr>
        <p:spPr>
          <a:xfrm>
            <a:off x="685800" y="2690446"/>
            <a:ext cx="2148840" cy="302455"/>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27" name="Shape 25"/>
          <p:cNvSpPr/>
          <p:nvPr/>
        </p:nvSpPr>
        <p:spPr>
          <a:xfrm>
            <a:off x="2926080" y="2720692"/>
            <a:ext cx="3450317" cy="108884"/>
          </a:xfrm>
          <a:prstGeom prst="rect">
            <a:avLst/>
          </a:prstGeom>
          <a:solidFill>
            <a:srgbClr val="C2352F"/>
          </a:solidFill>
          <a:ln/>
        </p:spPr>
      </p:sp>
      <p:sp>
        <p:nvSpPr>
          <p:cNvPr id="28" name="Text 26"/>
          <p:cNvSpPr txBox="1"/>
          <p:nvPr/>
        </p:nvSpPr>
        <p:spPr>
          <a:xfrm>
            <a:off x="6431261" y="2674972"/>
            <a:ext cx="731520" cy="200324"/>
          </a:xfrm>
          <a:prstGeom prst="rect">
            <a:avLst/>
          </a:prstGeom>
          <a:noFill/>
          <a:ln/>
        </p:spPr>
        <p:txBody>
          <a:bodyPr wrap="square" lIns="0" tIns="0" rIns="0" bIns="0" rtlCol="0" anchor="ctr"/>
          <a:lstStyle/>
          <a:p>
            <a:pPr indent="0" marL="0">
              <a:buNone/>
            </a:pPr>
            <a:r>
              <a:rPr lang="en-US" sz="1300" b="1" dirty="0">
                <a:solidFill>
                  <a:srgbClr val="A82B26"/>
                </a:solidFill>
                <a:latin typeface="Inter" pitchFamily="34" charset="0"/>
                <a:ea typeface="Inter" pitchFamily="34" charset="-122"/>
                <a:cs typeface="Inter" pitchFamily="34" charset="-120"/>
              </a:rPr>
              <a:t>69%</a:t>
            </a:r>
            <a:endParaRPr lang="en-US" sz="1300" dirty="0"/>
          </a:p>
        </p:txBody>
      </p:sp>
      <p:sp>
        <p:nvSpPr>
          <p:cNvPr id="29" name="Shape 27"/>
          <p:cNvSpPr/>
          <p:nvPr/>
        </p:nvSpPr>
        <p:spPr>
          <a:xfrm>
            <a:off x="2926080" y="2847864"/>
            <a:ext cx="6109385" cy="108884"/>
          </a:xfrm>
          <a:prstGeom prst="rect">
            <a:avLst/>
          </a:prstGeom>
          <a:solidFill>
            <a:srgbClr val="12A566"/>
          </a:solidFill>
          <a:ln/>
        </p:spPr>
      </p:sp>
      <p:sp>
        <p:nvSpPr>
          <p:cNvPr id="30" name="Text 28"/>
          <p:cNvSpPr txBox="1"/>
          <p:nvPr/>
        </p:nvSpPr>
        <p:spPr>
          <a:xfrm>
            <a:off x="9090329" y="2802144"/>
            <a:ext cx="731520" cy="200324"/>
          </a:xfrm>
          <a:prstGeom prst="rect">
            <a:avLst/>
          </a:prstGeom>
          <a:noFill/>
          <a:ln/>
        </p:spPr>
        <p:txBody>
          <a:bodyPr wrap="square" lIns="0" tIns="0" rIns="0" bIns="0" rtlCol="0" anchor="ctr"/>
          <a:lstStyle/>
          <a:p>
            <a:pPr indent="0" marL="0">
              <a:buNone/>
            </a:pPr>
            <a:r>
              <a:rPr lang="en-US" sz="1300" b="1" dirty="0">
                <a:solidFill>
                  <a:srgbClr val="0B7A4A"/>
                </a:solidFill>
                <a:latin typeface="Inter" pitchFamily="34" charset="0"/>
                <a:ea typeface="Inter" pitchFamily="34" charset="-122"/>
                <a:cs typeface="Inter" pitchFamily="34" charset="-120"/>
              </a:rPr>
              <a:t>122%</a:t>
            </a:r>
            <a:endParaRPr lang="en-US" sz="1300" dirty="0"/>
          </a:p>
        </p:txBody>
      </p:sp>
      <p:sp>
        <p:nvSpPr>
          <p:cNvPr id="31" name="Text 29"/>
          <p:cNvSpPr txBox="1"/>
          <p:nvPr/>
        </p:nvSpPr>
        <p:spPr>
          <a:xfrm>
            <a:off x="685800" y="2992902"/>
            <a:ext cx="2148840" cy="302455"/>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32" name="Shape 30"/>
          <p:cNvSpPr/>
          <p:nvPr/>
        </p:nvSpPr>
        <p:spPr>
          <a:xfrm>
            <a:off x="2926080" y="3023147"/>
            <a:ext cx="3500688" cy="108884"/>
          </a:xfrm>
          <a:prstGeom prst="rect">
            <a:avLst/>
          </a:prstGeom>
          <a:solidFill>
            <a:srgbClr val="C2352F"/>
          </a:solidFill>
          <a:ln/>
        </p:spPr>
      </p:sp>
      <p:sp>
        <p:nvSpPr>
          <p:cNvPr id="33" name="Text 31"/>
          <p:cNvSpPr txBox="1"/>
          <p:nvPr/>
        </p:nvSpPr>
        <p:spPr>
          <a:xfrm>
            <a:off x="6481632" y="2977427"/>
            <a:ext cx="731520" cy="200324"/>
          </a:xfrm>
          <a:prstGeom prst="rect">
            <a:avLst/>
          </a:prstGeom>
          <a:noFill/>
          <a:ln/>
        </p:spPr>
        <p:txBody>
          <a:bodyPr wrap="square" lIns="0" tIns="0" rIns="0" bIns="0" rtlCol="0" anchor="ctr"/>
          <a:lstStyle/>
          <a:p>
            <a:pPr indent="0" marL="0">
              <a:buNone/>
            </a:pPr>
            <a:r>
              <a:rPr lang="en-US" sz="1300" b="1" dirty="0">
                <a:solidFill>
                  <a:srgbClr val="A82B26"/>
                </a:solidFill>
                <a:latin typeface="Inter" pitchFamily="34" charset="0"/>
                <a:ea typeface="Inter" pitchFamily="34" charset="-122"/>
                <a:cs typeface="Inter" pitchFamily="34" charset="-120"/>
              </a:rPr>
              <a:t>70%</a:t>
            </a:r>
            <a:endParaRPr lang="en-US" sz="1300" dirty="0"/>
          </a:p>
        </p:txBody>
      </p:sp>
      <p:sp>
        <p:nvSpPr>
          <p:cNvPr id="34" name="Shape 32"/>
          <p:cNvSpPr/>
          <p:nvPr/>
        </p:nvSpPr>
        <p:spPr>
          <a:xfrm>
            <a:off x="2926080" y="3150319"/>
            <a:ext cx="3805987" cy="108884"/>
          </a:xfrm>
          <a:prstGeom prst="rect">
            <a:avLst/>
          </a:prstGeom>
          <a:solidFill>
            <a:srgbClr val="C2352F"/>
          </a:solidFill>
          <a:ln/>
        </p:spPr>
      </p:sp>
      <p:sp>
        <p:nvSpPr>
          <p:cNvPr id="35" name="Text 33"/>
          <p:cNvSpPr txBox="1"/>
          <p:nvPr/>
        </p:nvSpPr>
        <p:spPr>
          <a:xfrm>
            <a:off x="6786931" y="3104599"/>
            <a:ext cx="731520" cy="200324"/>
          </a:xfrm>
          <a:prstGeom prst="rect">
            <a:avLst/>
          </a:prstGeom>
          <a:noFill/>
          <a:ln/>
        </p:spPr>
        <p:txBody>
          <a:bodyPr wrap="square" lIns="0" tIns="0" rIns="0" bIns="0" rtlCol="0" anchor="ctr"/>
          <a:lstStyle/>
          <a:p>
            <a:pPr indent="0" marL="0">
              <a:buNone/>
            </a:pPr>
            <a:r>
              <a:rPr lang="en-US" sz="1300" b="1" dirty="0">
                <a:solidFill>
                  <a:srgbClr val="A82B26"/>
                </a:solidFill>
                <a:latin typeface="Inter" pitchFamily="34" charset="0"/>
                <a:ea typeface="Inter" pitchFamily="34" charset="-122"/>
                <a:cs typeface="Inter" pitchFamily="34" charset="-120"/>
              </a:rPr>
              <a:t>76%</a:t>
            </a:r>
            <a:endParaRPr lang="en-US" sz="1300" dirty="0"/>
          </a:p>
        </p:txBody>
      </p:sp>
      <p:sp>
        <p:nvSpPr>
          <p:cNvPr id="36" name="Text 34"/>
          <p:cNvSpPr txBox="1"/>
          <p:nvPr/>
        </p:nvSpPr>
        <p:spPr>
          <a:xfrm>
            <a:off x="685800" y="3295357"/>
            <a:ext cx="2148840" cy="302455"/>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37" name="Shape 35"/>
          <p:cNvSpPr/>
          <p:nvPr/>
        </p:nvSpPr>
        <p:spPr>
          <a:xfrm>
            <a:off x="2926080" y="3325602"/>
            <a:ext cx="3559153" cy="108884"/>
          </a:xfrm>
          <a:prstGeom prst="rect">
            <a:avLst/>
          </a:prstGeom>
          <a:solidFill>
            <a:srgbClr val="C2352F"/>
          </a:solidFill>
          <a:ln/>
        </p:spPr>
      </p:sp>
      <p:sp>
        <p:nvSpPr>
          <p:cNvPr id="38" name="Text 36"/>
          <p:cNvSpPr txBox="1"/>
          <p:nvPr/>
        </p:nvSpPr>
        <p:spPr>
          <a:xfrm>
            <a:off x="6540097" y="3279882"/>
            <a:ext cx="731520" cy="200324"/>
          </a:xfrm>
          <a:prstGeom prst="rect">
            <a:avLst/>
          </a:prstGeom>
          <a:noFill/>
          <a:ln/>
        </p:spPr>
        <p:txBody>
          <a:bodyPr wrap="square" lIns="0" tIns="0" rIns="0" bIns="0" rtlCol="0" anchor="ctr"/>
          <a:lstStyle/>
          <a:p>
            <a:pPr indent="0" marL="0">
              <a:buNone/>
            </a:pPr>
            <a:r>
              <a:rPr lang="en-US" sz="1300" b="1" dirty="0">
                <a:solidFill>
                  <a:srgbClr val="A82B26"/>
                </a:solidFill>
                <a:latin typeface="Inter" pitchFamily="34" charset="0"/>
                <a:ea typeface="Inter" pitchFamily="34" charset="-122"/>
                <a:cs typeface="Inter" pitchFamily="34" charset="-120"/>
              </a:rPr>
              <a:t>71%</a:t>
            </a:r>
            <a:endParaRPr lang="en-US" sz="1300" dirty="0"/>
          </a:p>
        </p:txBody>
      </p:sp>
      <p:sp>
        <p:nvSpPr>
          <p:cNvPr id="39" name="Shape 37"/>
          <p:cNvSpPr/>
          <p:nvPr/>
        </p:nvSpPr>
        <p:spPr>
          <a:xfrm>
            <a:off x="2926080" y="3452774"/>
            <a:ext cx="6444184" cy="108884"/>
          </a:xfrm>
          <a:prstGeom prst="rect">
            <a:avLst/>
          </a:prstGeom>
          <a:solidFill>
            <a:srgbClr val="12A566"/>
          </a:solidFill>
          <a:ln/>
        </p:spPr>
      </p:sp>
      <p:sp>
        <p:nvSpPr>
          <p:cNvPr id="40" name="Text 38"/>
          <p:cNvSpPr txBox="1"/>
          <p:nvPr/>
        </p:nvSpPr>
        <p:spPr>
          <a:xfrm>
            <a:off x="9425128" y="3407054"/>
            <a:ext cx="731520" cy="200324"/>
          </a:xfrm>
          <a:prstGeom prst="rect">
            <a:avLst/>
          </a:prstGeom>
          <a:noFill/>
          <a:ln/>
        </p:spPr>
        <p:txBody>
          <a:bodyPr wrap="square" lIns="0" tIns="0" rIns="0" bIns="0" rtlCol="0" anchor="ctr"/>
          <a:lstStyle/>
          <a:p>
            <a:pPr indent="0" marL="0">
              <a:buNone/>
            </a:pPr>
            <a:r>
              <a:rPr lang="en-US" sz="1300" b="1" dirty="0">
                <a:solidFill>
                  <a:srgbClr val="0B7A4A"/>
                </a:solidFill>
                <a:latin typeface="Inter" pitchFamily="34" charset="0"/>
                <a:ea typeface="Inter" pitchFamily="34" charset="-122"/>
                <a:cs typeface="Inter" pitchFamily="34" charset="-120"/>
              </a:rPr>
              <a:t>128%</a:t>
            </a:r>
            <a:endParaRPr lang="en-US" sz="1300" dirty="0"/>
          </a:p>
        </p:txBody>
      </p:sp>
      <p:sp>
        <p:nvSpPr>
          <p:cNvPr id="41" name="Text 39"/>
          <p:cNvSpPr txBox="1"/>
          <p:nvPr/>
        </p:nvSpPr>
        <p:spPr>
          <a:xfrm>
            <a:off x="685800" y="3597812"/>
            <a:ext cx="2148840" cy="302455"/>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42" name="Shape 40"/>
          <p:cNvSpPr/>
          <p:nvPr/>
        </p:nvSpPr>
        <p:spPr>
          <a:xfrm>
            <a:off x="2926080" y="3628058"/>
            <a:ext cx="3618668" cy="108884"/>
          </a:xfrm>
          <a:prstGeom prst="rect">
            <a:avLst/>
          </a:prstGeom>
          <a:solidFill>
            <a:srgbClr val="C2352F"/>
          </a:solidFill>
          <a:ln/>
        </p:spPr>
      </p:sp>
      <p:sp>
        <p:nvSpPr>
          <p:cNvPr id="43" name="Text 41"/>
          <p:cNvSpPr txBox="1"/>
          <p:nvPr/>
        </p:nvSpPr>
        <p:spPr>
          <a:xfrm>
            <a:off x="6599612" y="3582338"/>
            <a:ext cx="731520" cy="200324"/>
          </a:xfrm>
          <a:prstGeom prst="rect">
            <a:avLst/>
          </a:prstGeom>
          <a:noFill/>
          <a:ln/>
        </p:spPr>
        <p:txBody>
          <a:bodyPr wrap="square" lIns="0" tIns="0" rIns="0" bIns="0" rtlCol="0" anchor="ctr"/>
          <a:lstStyle/>
          <a:p>
            <a:pPr indent="0" marL="0">
              <a:buNone/>
            </a:pPr>
            <a:r>
              <a:rPr lang="en-US" sz="1300" b="1" dirty="0">
                <a:solidFill>
                  <a:srgbClr val="A82B26"/>
                </a:solidFill>
                <a:latin typeface="Inter" pitchFamily="34" charset="0"/>
                <a:ea typeface="Inter" pitchFamily="34" charset="-122"/>
                <a:cs typeface="Inter" pitchFamily="34" charset="-120"/>
              </a:rPr>
              <a:t>72%</a:t>
            </a:r>
            <a:endParaRPr lang="en-US" sz="1300" dirty="0"/>
          </a:p>
        </p:txBody>
      </p:sp>
      <p:sp>
        <p:nvSpPr>
          <p:cNvPr id="44" name="Shape 42"/>
          <p:cNvSpPr/>
          <p:nvPr/>
        </p:nvSpPr>
        <p:spPr>
          <a:xfrm>
            <a:off x="2926080" y="3755230"/>
            <a:ext cx="4448406" cy="108884"/>
          </a:xfrm>
          <a:prstGeom prst="rect">
            <a:avLst/>
          </a:prstGeom>
          <a:solidFill>
            <a:srgbClr val="12A566"/>
          </a:solidFill>
          <a:ln/>
        </p:spPr>
      </p:sp>
      <p:sp>
        <p:nvSpPr>
          <p:cNvPr id="45" name="Text 43"/>
          <p:cNvSpPr txBox="1"/>
          <p:nvPr/>
        </p:nvSpPr>
        <p:spPr>
          <a:xfrm>
            <a:off x="7429350" y="3709510"/>
            <a:ext cx="731520" cy="200324"/>
          </a:xfrm>
          <a:prstGeom prst="rect">
            <a:avLst/>
          </a:prstGeom>
          <a:noFill/>
          <a:ln/>
        </p:spPr>
        <p:txBody>
          <a:bodyPr wrap="square" lIns="0" tIns="0" rIns="0" bIns="0" rtlCol="0" anchor="ctr"/>
          <a:lstStyle/>
          <a:p>
            <a:pPr indent="0" marL="0">
              <a:buNone/>
            </a:pPr>
            <a:r>
              <a:rPr lang="en-US" sz="1300" b="1" dirty="0">
                <a:solidFill>
                  <a:srgbClr val="0B7A4A"/>
                </a:solidFill>
                <a:latin typeface="Inter" pitchFamily="34" charset="0"/>
                <a:ea typeface="Inter" pitchFamily="34" charset="-122"/>
                <a:cs typeface="Inter" pitchFamily="34" charset="-120"/>
              </a:rPr>
              <a:t>88%</a:t>
            </a:r>
            <a:endParaRPr lang="en-US" sz="1300" dirty="0"/>
          </a:p>
        </p:txBody>
      </p:sp>
      <p:sp>
        <p:nvSpPr>
          <p:cNvPr id="46" name="Text 44"/>
          <p:cNvSpPr txBox="1"/>
          <p:nvPr/>
        </p:nvSpPr>
        <p:spPr>
          <a:xfrm>
            <a:off x="685800" y="3900268"/>
            <a:ext cx="2148840" cy="302455"/>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47" name="Shape 45"/>
          <p:cNvSpPr/>
          <p:nvPr/>
        </p:nvSpPr>
        <p:spPr>
          <a:xfrm>
            <a:off x="2926080" y="3930513"/>
            <a:ext cx="3679421" cy="108884"/>
          </a:xfrm>
          <a:prstGeom prst="rect">
            <a:avLst/>
          </a:prstGeom>
          <a:solidFill>
            <a:srgbClr val="C2352F"/>
          </a:solidFill>
          <a:ln/>
        </p:spPr>
      </p:sp>
      <p:sp>
        <p:nvSpPr>
          <p:cNvPr id="48" name="Text 46"/>
          <p:cNvSpPr txBox="1"/>
          <p:nvPr/>
        </p:nvSpPr>
        <p:spPr>
          <a:xfrm>
            <a:off x="6660365" y="3884793"/>
            <a:ext cx="731520" cy="200324"/>
          </a:xfrm>
          <a:prstGeom prst="rect">
            <a:avLst/>
          </a:prstGeom>
          <a:noFill/>
          <a:ln/>
        </p:spPr>
        <p:txBody>
          <a:bodyPr wrap="square" lIns="0" tIns="0" rIns="0" bIns="0" rtlCol="0" anchor="ctr"/>
          <a:lstStyle/>
          <a:p>
            <a:pPr indent="0" marL="0">
              <a:buNone/>
            </a:pPr>
            <a:r>
              <a:rPr lang="en-US" sz="1300" b="1" dirty="0">
                <a:solidFill>
                  <a:srgbClr val="A82B26"/>
                </a:solidFill>
                <a:latin typeface="Inter" pitchFamily="34" charset="0"/>
                <a:ea typeface="Inter" pitchFamily="34" charset="-122"/>
                <a:cs typeface="Inter" pitchFamily="34" charset="-120"/>
              </a:rPr>
              <a:t>73%</a:t>
            </a:r>
            <a:endParaRPr lang="en-US" sz="1300" dirty="0"/>
          </a:p>
        </p:txBody>
      </p:sp>
      <p:sp>
        <p:nvSpPr>
          <p:cNvPr id="49" name="Shape 47"/>
          <p:cNvSpPr/>
          <p:nvPr/>
        </p:nvSpPr>
        <p:spPr>
          <a:xfrm>
            <a:off x="2926080" y="4057685"/>
            <a:ext cx="5186331" cy="108884"/>
          </a:xfrm>
          <a:prstGeom prst="rect">
            <a:avLst/>
          </a:prstGeom>
          <a:solidFill>
            <a:srgbClr val="12A566"/>
          </a:solidFill>
          <a:ln/>
        </p:spPr>
      </p:sp>
      <p:sp>
        <p:nvSpPr>
          <p:cNvPr id="50" name="Text 48"/>
          <p:cNvSpPr txBox="1"/>
          <p:nvPr/>
        </p:nvSpPr>
        <p:spPr>
          <a:xfrm>
            <a:off x="8167275" y="4011965"/>
            <a:ext cx="731520" cy="200324"/>
          </a:xfrm>
          <a:prstGeom prst="rect">
            <a:avLst/>
          </a:prstGeom>
          <a:noFill/>
          <a:ln/>
        </p:spPr>
        <p:txBody>
          <a:bodyPr wrap="square" lIns="0" tIns="0" rIns="0" bIns="0" rtlCol="0" anchor="ctr"/>
          <a:lstStyle/>
          <a:p>
            <a:pPr indent="0" marL="0">
              <a:buNone/>
            </a:pPr>
            <a:r>
              <a:rPr lang="en-US" sz="1300" b="1" dirty="0">
                <a:solidFill>
                  <a:srgbClr val="0B7A4A"/>
                </a:solidFill>
                <a:latin typeface="Inter" pitchFamily="34" charset="0"/>
                <a:ea typeface="Inter" pitchFamily="34" charset="-122"/>
                <a:cs typeface="Inter" pitchFamily="34" charset="-120"/>
              </a:rPr>
              <a:t>103%</a:t>
            </a:r>
            <a:endParaRPr lang="en-US" sz="1300" dirty="0"/>
          </a:p>
        </p:txBody>
      </p:sp>
      <p:sp>
        <p:nvSpPr>
          <p:cNvPr id="51" name="Text 49"/>
          <p:cNvSpPr txBox="1"/>
          <p:nvPr/>
        </p:nvSpPr>
        <p:spPr>
          <a:xfrm>
            <a:off x="685800" y="4202723"/>
            <a:ext cx="2148840" cy="302455"/>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52" name="Shape 50"/>
          <p:cNvSpPr/>
          <p:nvPr/>
        </p:nvSpPr>
        <p:spPr>
          <a:xfrm>
            <a:off x="2926080" y="4232969"/>
            <a:ext cx="3842025" cy="108884"/>
          </a:xfrm>
          <a:prstGeom prst="rect">
            <a:avLst/>
          </a:prstGeom>
          <a:solidFill>
            <a:srgbClr val="C2352F"/>
          </a:solidFill>
          <a:ln/>
        </p:spPr>
      </p:sp>
      <p:sp>
        <p:nvSpPr>
          <p:cNvPr id="53" name="Text 51"/>
          <p:cNvSpPr txBox="1"/>
          <p:nvPr/>
        </p:nvSpPr>
        <p:spPr>
          <a:xfrm>
            <a:off x="6822969" y="4187249"/>
            <a:ext cx="731520" cy="200324"/>
          </a:xfrm>
          <a:prstGeom prst="rect">
            <a:avLst/>
          </a:prstGeom>
          <a:noFill/>
          <a:ln/>
        </p:spPr>
        <p:txBody>
          <a:bodyPr wrap="square" lIns="0" tIns="0" rIns="0" bIns="0" rtlCol="0" anchor="ctr"/>
          <a:lstStyle/>
          <a:p>
            <a:pPr indent="0" marL="0">
              <a:buNone/>
            </a:pPr>
            <a:r>
              <a:rPr lang="en-US" sz="1300" b="1" dirty="0">
                <a:solidFill>
                  <a:srgbClr val="A82B26"/>
                </a:solidFill>
                <a:latin typeface="Inter" pitchFamily="34" charset="0"/>
                <a:ea typeface="Inter" pitchFamily="34" charset="-122"/>
                <a:cs typeface="Inter" pitchFamily="34" charset="-120"/>
              </a:rPr>
              <a:t>76%</a:t>
            </a:r>
            <a:endParaRPr lang="en-US" sz="1300" dirty="0"/>
          </a:p>
        </p:txBody>
      </p:sp>
      <p:sp>
        <p:nvSpPr>
          <p:cNvPr id="54" name="Shape 52"/>
          <p:cNvSpPr/>
          <p:nvPr/>
        </p:nvSpPr>
        <p:spPr>
          <a:xfrm>
            <a:off x="2926080" y="4360141"/>
            <a:ext cx="5036246" cy="108884"/>
          </a:xfrm>
          <a:prstGeom prst="rect">
            <a:avLst/>
          </a:prstGeom>
          <a:solidFill>
            <a:srgbClr val="12A566"/>
          </a:solidFill>
          <a:ln/>
        </p:spPr>
      </p:sp>
      <p:sp>
        <p:nvSpPr>
          <p:cNvPr id="55" name="Text 53"/>
          <p:cNvSpPr txBox="1"/>
          <p:nvPr/>
        </p:nvSpPr>
        <p:spPr>
          <a:xfrm>
            <a:off x="8017190" y="4314421"/>
            <a:ext cx="731520" cy="200324"/>
          </a:xfrm>
          <a:prstGeom prst="rect">
            <a:avLst/>
          </a:prstGeom>
          <a:noFill/>
          <a:ln/>
        </p:spPr>
        <p:txBody>
          <a:bodyPr wrap="square" lIns="0" tIns="0" rIns="0" bIns="0" rtlCol="0" anchor="ctr"/>
          <a:lstStyle/>
          <a:p>
            <a:pPr indent="0" marL="0">
              <a:buNone/>
            </a:pPr>
            <a:r>
              <a:rPr lang="en-US" sz="1300" b="1" dirty="0">
                <a:solidFill>
                  <a:srgbClr val="0B7A4A"/>
                </a:solidFill>
                <a:latin typeface="Inter" pitchFamily="34" charset="0"/>
                <a:ea typeface="Inter" pitchFamily="34" charset="-122"/>
                <a:cs typeface="Inter" pitchFamily="34" charset="-120"/>
              </a:rPr>
              <a:t>100%</a:t>
            </a:r>
            <a:endParaRPr lang="en-US" sz="1300" dirty="0"/>
          </a:p>
        </p:txBody>
      </p:sp>
      <p:sp>
        <p:nvSpPr>
          <p:cNvPr id="56" name="Text 54"/>
          <p:cNvSpPr txBox="1"/>
          <p:nvPr/>
        </p:nvSpPr>
        <p:spPr>
          <a:xfrm>
            <a:off x="685800" y="4505178"/>
            <a:ext cx="2148840" cy="302455"/>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57" name="Shape 55"/>
          <p:cNvSpPr/>
          <p:nvPr/>
        </p:nvSpPr>
        <p:spPr>
          <a:xfrm>
            <a:off x="2926080" y="4535424"/>
            <a:ext cx="3926516" cy="108884"/>
          </a:xfrm>
          <a:prstGeom prst="rect">
            <a:avLst/>
          </a:prstGeom>
          <a:solidFill>
            <a:srgbClr val="C2352F"/>
          </a:solidFill>
          <a:ln/>
        </p:spPr>
      </p:sp>
      <p:sp>
        <p:nvSpPr>
          <p:cNvPr id="58" name="Text 56"/>
          <p:cNvSpPr txBox="1"/>
          <p:nvPr/>
        </p:nvSpPr>
        <p:spPr>
          <a:xfrm>
            <a:off x="6907460" y="4489704"/>
            <a:ext cx="731520" cy="200324"/>
          </a:xfrm>
          <a:prstGeom prst="rect">
            <a:avLst/>
          </a:prstGeom>
          <a:noFill/>
          <a:ln/>
        </p:spPr>
        <p:txBody>
          <a:bodyPr wrap="square" lIns="0" tIns="0" rIns="0" bIns="0" rtlCol="0" anchor="ctr"/>
          <a:lstStyle/>
          <a:p>
            <a:pPr indent="0" marL="0">
              <a:buNone/>
            </a:pPr>
            <a:r>
              <a:rPr lang="en-US" sz="1300" b="1" dirty="0">
                <a:solidFill>
                  <a:srgbClr val="A82B26"/>
                </a:solidFill>
                <a:latin typeface="Inter" pitchFamily="34" charset="0"/>
                <a:ea typeface="Inter" pitchFamily="34" charset="-122"/>
                <a:cs typeface="Inter" pitchFamily="34" charset="-120"/>
              </a:rPr>
              <a:t>78%</a:t>
            </a:r>
            <a:endParaRPr lang="en-US" sz="1300" dirty="0"/>
          </a:p>
        </p:txBody>
      </p:sp>
      <p:sp>
        <p:nvSpPr>
          <p:cNvPr id="59" name="Shape 57"/>
          <p:cNvSpPr/>
          <p:nvPr/>
        </p:nvSpPr>
        <p:spPr>
          <a:xfrm>
            <a:off x="2926080" y="4662596"/>
            <a:ext cx="6544829" cy="108884"/>
          </a:xfrm>
          <a:prstGeom prst="rect">
            <a:avLst/>
          </a:prstGeom>
          <a:solidFill>
            <a:srgbClr val="12A566"/>
          </a:solidFill>
          <a:ln/>
        </p:spPr>
      </p:sp>
      <p:sp>
        <p:nvSpPr>
          <p:cNvPr id="60" name="Text 58"/>
          <p:cNvSpPr txBox="1"/>
          <p:nvPr/>
        </p:nvSpPr>
        <p:spPr>
          <a:xfrm>
            <a:off x="9525773" y="4616876"/>
            <a:ext cx="731520" cy="200324"/>
          </a:xfrm>
          <a:prstGeom prst="rect">
            <a:avLst/>
          </a:prstGeom>
          <a:noFill/>
          <a:ln/>
        </p:spPr>
        <p:txBody>
          <a:bodyPr wrap="square" lIns="0" tIns="0" rIns="0" bIns="0" rtlCol="0" anchor="ctr"/>
          <a:lstStyle/>
          <a:p>
            <a:pPr indent="0" marL="0">
              <a:buNone/>
            </a:pPr>
            <a:r>
              <a:rPr lang="en-US" sz="1300" b="1" dirty="0">
                <a:solidFill>
                  <a:srgbClr val="0B7A4A"/>
                </a:solidFill>
                <a:latin typeface="Inter" pitchFamily="34" charset="0"/>
                <a:ea typeface="Inter" pitchFamily="34" charset="-122"/>
                <a:cs typeface="Inter" pitchFamily="34" charset="-120"/>
              </a:rPr>
              <a:t>130%</a:t>
            </a:r>
            <a:endParaRPr lang="en-US" sz="1300" dirty="0"/>
          </a:p>
        </p:txBody>
      </p:sp>
      <p:sp>
        <p:nvSpPr>
          <p:cNvPr id="61" name="Text 59"/>
          <p:cNvSpPr txBox="1"/>
          <p:nvPr/>
        </p:nvSpPr>
        <p:spPr>
          <a:xfrm>
            <a:off x="685800" y="4807634"/>
            <a:ext cx="2148840" cy="302455"/>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62" name="Shape 60"/>
          <p:cNvSpPr/>
          <p:nvPr/>
        </p:nvSpPr>
        <p:spPr>
          <a:xfrm>
            <a:off x="2926080" y="4837879"/>
            <a:ext cx="3940323" cy="108884"/>
          </a:xfrm>
          <a:prstGeom prst="rect">
            <a:avLst/>
          </a:prstGeom>
          <a:solidFill>
            <a:srgbClr val="C2352F"/>
          </a:solidFill>
          <a:ln/>
        </p:spPr>
      </p:sp>
      <p:sp>
        <p:nvSpPr>
          <p:cNvPr id="63" name="Text 61"/>
          <p:cNvSpPr txBox="1"/>
          <p:nvPr/>
        </p:nvSpPr>
        <p:spPr>
          <a:xfrm>
            <a:off x="6921267" y="4792159"/>
            <a:ext cx="731520" cy="200324"/>
          </a:xfrm>
          <a:prstGeom prst="rect">
            <a:avLst/>
          </a:prstGeom>
          <a:noFill/>
          <a:ln/>
        </p:spPr>
        <p:txBody>
          <a:bodyPr wrap="square" lIns="0" tIns="0" rIns="0" bIns="0" rtlCol="0" anchor="ctr"/>
          <a:lstStyle/>
          <a:p>
            <a:pPr indent="0" marL="0">
              <a:buNone/>
            </a:pPr>
            <a:r>
              <a:rPr lang="en-US" sz="1300" b="1" dirty="0">
                <a:solidFill>
                  <a:srgbClr val="A82B26"/>
                </a:solidFill>
                <a:latin typeface="Inter" pitchFamily="34" charset="0"/>
                <a:ea typeface="Inter" pitchFamily="34" charset="-122"/>
                <a:cs typeface="Inter" pitchFamily="34" charset="-120"/>
              </a:rPr>
              <a:t>78%</a:t>
            </a:r>
            <a:endParaRPr lang="en-US" sz="1300" dirty="0"/>
          </a:p>
        </p:txBody>
      </p:sp>
      <p:sp>
        <p:nvSpPr>
          <p:cNvPr id="64" name="Shape 62"/>
          <p:cNvSpPr/>
          <p:nvPr/>
        </p:nvSpPr>
        <p:spPr>
          <a:xfrm>
            <a:off x="2926080" y="4965051"/>
            <a:ext cx="5626092" cy="108884"/>
          </a:xfrm>
          <a:prstGeom prst="rect">
            <a:avLst/>
          </a:prstGeom>
          <a:solidFill>
            <a:srgbClr val="12A566"/>
          </a:solidFill>
          <a:ln/>
        </p:spPr>
      </p:sp>
      <p:sp>
        <p:nvSpPr>
          <p:cNvPr id="65" name="Text 63"/>
          <p:cNvSpPr txBox="1"/>
          <p:nvPr/>
        </p:nvSpPr>
        <p:spPr>
          <a:xfrm>
            <a:off x="8607036" y="4919331"/>
            <a:ext cx="731520" cy="200324"/>
          </a:xfrm>
          <a:prstGeom prst="rect">
            <a:avLst/>
          </a:prstGeom>
          <a:noFill/>
          <a:ln/>
        </p:spPr>
        <p:txBody>
          <a:bodyPr wrap="square" lIns="0" tIns="0" rIns="0" bIns="0" rtlCol="0" anchor="ctr"/>
          <a:lstStyle/>
          <a:p>
            <a:pPr indent="0" marL="0">
              <a:buNone/>
            </a:pPr>
            <a:r>
              <a:rPr lang="en-US" sz="1300" b="1" dirty="0">
                <a:solidFill>
                  <a:srgbClr val="0B7A4A"/>
                </a:solidFill>
                <a:latin typeface="Inter" pitchFamily="34" charset="0"/>
                <a:ea typeface="Inter" pitchFamily="34" charset="-122"/>
                <a:cs typeface="Inter" pitchFamily="34" charset="-120"/>
              </a:rPr>
              <a:t>112%</a:t>
            </a:r>
            <a:endParaRPr lang="en-US" sz="1300" dirty="0"/>
          </a:p>
        </p:txBody>
      </p:sp>
      <p:sp>
        <p:nvSpPr>
          <p:cNvPr id="66" name="Text 64"/>
          <p:cNvSpPr txBox="1"/>
          <p:nvPr/>
        </p:nvSpPr>
        <p:spPr>
          <a:xfrm>
            <a:off x="685800" y="5110089"/>
            <a:ext cx="2148840" cy="302455"/>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67" name="Shape 65"/>
          <p:cNvSpPr/>
          <p:nvPr/>
        </p:nvSpPr>
        <p:spPr>
          <a:xfrm>
            <a:off x="2926080" y="5140335"/>
            <a:ext cx="4070292" cy="108884"/>
          </a:xfrm>
          <a:prstGeom prst="rect">
            <a:avLst/>
          </a:prstGeom>
          <a:solidFill>
            <a:srgbClr val="C2352F"/>
          </a:solidFill>
          <a:ln/>
        </p:spPr>
      </p:sp>
      <p:sp>
        <p:nvSpPr>
          <p:cNvPr id="68" name="Text 66"/>
          <p:cNvSpPr txBox="1"/>
          <p:nvPr/>
        </p:nvSpPr>
        <p:spPr>
          <a:xfrm>
            <a:off x="7051236" y="5094615"/>
            <a:ext cx="731520" cy="200324"/>
          </a:xfrm>
          <a:prstGeom prst="rect">
            <a:avLst/>
          </a:prstGeom>
          <a:noFill/>
          <a:ln/>
        </p:spPr>
        <p:txBody>
          <a:bodyPr wrap="square" lIns="0" tIns="0" rIns="0" bIns="0" rtlCol="0" anchor="ctr"/>
          <a:lstStyle/>
          <a:p>
            <a:pPr indent="0" marL="0">
              <a:buNone/>
            </a:pPr>
            <a:r>
              <a:rPr lang="en-US" sz="1300" b="1" dirty="0">
                <a:solidFill>
                  <a:srgbClr val="A82B26"/>
                </a:solidFill>
                <a:latin typeface="Inter" pitchFamily="34" charset="0"/>
                <a:ea typeface="Inter" pitchFamily="34" charset="-122"/>
                <a:cs typeface="Inter" pitchFamily="34" charset="-120"/>
              </a:rPr>
              <a:t>81%</a:t>
            </a:r>
            <a:endParaRPr lang="en-US" sz="1300" dirty="0"/>
          </a:p>
        </p:txBody>
      </p:sp>
      <p:sp>
        <p:nvSpPr>
          <p:cNvPr id="69" name="Shape 67"/>
          <p:cNvSpPr/>
          <p:nvPr/>
        </p:nvSpPr>
        <p:spPr>
          <a:xfrm>
            <a:off x="2926080" y="5267507"/>
            <a:ext cx="4801707" cy="108884"/>
          </a:xfrm>
          <a:prstGeom prst="rect">
            <a:avLst/>
          </a:prstGeom>
          <a:solidFill>
            <a:srgbClr val="12A566"/>
          </a:solidFill>
          <a:ln/>
        </p:spPr>
      </p:sp>
      <p:sp>
        <p:nvSpPr>
          <p:cNvPr id="70" name="Text 68"/>
          <p:cNvSpPr txBox="1"/>
          <p:nvPr/>
        </p:nvSpPr>
        <p:spPr>
          <a:xfrm>
            <a:off x="7782651" y="5221787"/>
            <a:ext cx="731520" cy="200324"/>
          </a:xfrm>
          <a:prstGeom prst="rect">
            <a:avLst/>
          </a:prstGeom>
          <a:noFill/>
          <a:ln/>
        </p:spPr>
        <p:txBody>
          <a:bodyPr wrap="square" lIns="0" tIns="0" rIns="0" bIns="0" rtlCol="0" anchor="ctr"/>
          <a:lstStyle/>
          <a:p>
            <a:pPr indent="0" marL="0">
              <a:buNone/>
            </a:pPr>
            <a:r>
              <a:rPr lang="en-US" sz="1300" b="1" dirty="0">
                <a:solidFill>
                  <a:srgbClr val="0B7A4A"/>
                </a:solidFill>
                <a:latin typeface="Inter" pitchFamily="34" charset="0"/>
                <a:ea typeface="Inter" pitchFamily="34" charset="-122"/>
                <a:cs typeface="Inter" pitchFamily="34" charset="-120"/>
              </a:rPr>
              <a:t>96%</a:t>
            </a:r>
            <a:endParaRPr lang="en-US" sz="1300" dirty="0"/>
          </a:p>
        </p:txBody>
      </p:sp>
      <p:sp>
        <p:nvSpPr>
          <p:cNvPr id="71" name="Text 69"/>
          <p:cNvSpPr txBox="1"/>
          <p:nvPr/>
        </p:nvSpPr>
        <p:spPr>
          <a:xfrm>
            <a:off x="685800" y="5412545"/>
            <a:ext cx="2148840" cy="302455"/>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72" name="Shape 70"/>
          <p:cNvSpPr/>
          <p:nvPr/>
        </p:nvSpPr>
        <p:spPr>
          <a:xfrm>
            <a:off x="2926080" y="5442790"/>
            <a:ext cx="4180762" cy="108884"/>
          </a:xfrm>
          <a:prstGeom prst="rect">
            <a:avLst/>
          </a:prstGeom>
          <a:solidFill>
            <a:srgbClr val="C2352F"/>
          </a:solidFill>
          <a:ln/>
        </p:spPr>
      </p:sp>
      <p:sp>
        <p:nvSpPr>
          <p:cNvPr id="73" name="Text 71"/>
          <p:cNvSpPr txBox="1"/>
          <p:nvPr/>
        </p:nvSpPr>
        <p:spPr>
          <a:xfrm>
            <a:off x="7161706" y="5397070"/>
            <a:ext cx="731520" cy="200324"/>
          </a:xfrm>
          <a:prstGeom prst="rect">
            <a:avLst/>
          </a:prstGeom>
          <a:noFill/>
          <a:ln/>
        </p:spPr>
        <p:txBody>
          <a:bodyPr wrap="square" lIns="0" tIns="0" rIns="0" bIns="0" rtlCol="0" anchor="ctr"/>
          <a:lstStyle/>
          <a:p>
            <a:pPr indent="0" marL="0">
              <a:buNone/>
            </a:pPr>
            <a:r>
              <a:rPr lang="en-US" sz="1300" b="1" dirty="0">
                <a:solidFill>
                  <a:srgbClr val="A82B26"/>
                </a:solidFill>
                <a:latin typeface="Inter" pitchFamily="34" charset="0"/>
                <a:ea typeface="Inter" pitchFamily="34" charset="-122"/>
                <a:cs typeface="Inter" pitchFamily="34" charset="-120"/>
              </a:rPr>
              <a:t>83%</a:t>
            </a:r>
            <a:endParaRPr lang="en-US" sz="1300" dirty="0"/>
          </a:p>
        </p:txBody>
      </p:sp>
      <p:sp>
        <p:nvSpPr>
          <p:cNvPr id="74" name="Shape 72"/>
          <p:cNvSpPr/>
          <p:nvPr/>
        </p:nvSpPr>
        <p:spPr>
          <a:xfrm>
            <a:off x="2926080" y="5569962"/>
            <a:ext cx="5879396" cy="108884"/>
          </a:xfrm>
          <a:prstGeom prst="rect">
            <a:avLst/>
          </a:prstGeom>
          <a:solidFill>
            <a:srgbClr val="12A566"/>
          </a:solidFill>
          <a:ln/>
        </p:spPr>
      </p:sp>
      <p:sp>
        <p:nvSpPr>
          <p:cNvPr id="75" name="Text 73"/>
          <p:cNvSpPr txBox="1"/>
          <p:nvPr/>
        </p:nvSpPr>
        <p:spPr>
          <a:xfrm>
            <a:off x="8860340" y="5524242"/>
            <a:ext cx="731520" cy="200324"/>
          </a:xfrm>
          <a:prstGeom prst="rect">
            <a:avLst/>
          </a:prstGeom>
          <a:noFill/>
          <a:ln/>
        </p:spPr>
        <p:txBody>
          <a:bodyPr wrap="square" lIns="0" tIns="0" rIns="0" bIns="0" rtlCol="0" anchor="ctr"/>
          <a:lstStyle/>
          <a:p>
            <a:pPr indent="0" marL="0">
              <a:buNone/>
            </a:pPr>
            <a:r>
              <a:rPr lang="en-US" sz="1300" b="1" dirty="0">
                <a:solidFill>
                  <a:srgbClr val="0B7A4A"/>
                </a:solidFill>
                <a:latin typeface="Inter" pitchFamily="34" charset="0"/>
                <a:ea typeface="Inter" pitchFamily="34" charset="-122"/>
                <a:cs typeface="Inter" pitchFamily="34" charset="-120"/>
              </a:rPr>
              <a:t>117%</a:t>
            </a:r>
            <a:endParaRPr lang="en-US" sz="1300" dirty="0"/>
          </a:p>
        </p:txBody>
      </p:sp>
      <p:sp>
        <p:nvSpPr>
          <p:cNvPr id="76" name="Shape 74"/>
          <p:cNvSpPr/>
          <p:nvPr/>
        </p:nvSpPr>
        <p:spPr>
          <a:xfrm>
            <a:off x="7165848" y="1737360"/>
            <a:ext cx="18288" cy="3977640"/>
          </a:xfrm>
          <a:prstGeom prst="rect">
            <a:avLst/>
          </a:prstGeom>
          <a:solidFill>
            <a:srgbClr val="0B2C4A"/>
          </a:solidFill>
          <a:ln/>
        </p:spPr>
      </p:sp>
      <p:sp>
        <p:nvSpPr>
          <p:cNvPr id="77" name="Shape 75"/>
          <p:cNvSpPr/>
          <p:nvPr/>
        </p:nvSpPr>
        <p:spPr>
          <a:xfrm>
            <a:off x="457200" y="5961888"/>
            <a:ext cx="11274552" cy="548640"/>
          </a:xfrm>
          <a:prstGeom prst="rect">
            <a:avLst/>
          </a:prstGeom>
          <a:solidFill>
            <a:srgbClr val="EDF4FA"/>
          </a:solidFill>
          <a:ln/>
        </p:spPr>
      </p:sp>
      <p:sp>
        <p:nvSpPr>
          <p:cNvPr id="78" name="Text 76"/>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At 11 of the 13 stores under 85%, the best quarter of techs already beat 85%. Same bays, same dispatch, same car count.</a:t>
            </a:r>
            <a:endParaRPr lang="en-US" sz="1600" dirty="0"/>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 · OPTION B</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Your Best Techs Prove It</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85800" y="1298448"/>
            <a:ext cx="10789920" cy="365760"/>
          </a:xfrm>
          <a:prstGeom prst="rect">
            <a:avLst/>
          </a:prstGeom>
          <a:noFill/>
          <a:ln/>
        </p:spPr>
        <p:txBody>
          <a:bodyPr wrap="square" lIns="0" tIns="0" rIns="0" bIns="0" rtlCol="0" anchor="ctr"/>
          <a:lstStyle/>
          <a:p>
            <a:pPr indent="0" marL="0">
              <a:buNone/>
            </a:pPr>
            <a:r>
              <a:rPr lang="en-US" sz="1500" dirty="0">
                <a:solidFill>
                  <a:srgbClr val="595959"/>
                </a:solidFill>
                <a:latin typeface="Inter" pitchFamily="34" charset="0"/>
                <a:ea typeface="Inter" pitchFamily="34" charset="-122"/>
                <a:cs typeface="Inter" pitchFamily="34" charset="-120"/>
              </a:rPr>
              <a:t>Each store under 85%: where the store is today, and where its best quarter of techs already runs.</a:t>
            </a:r>
            <a:endParaRPr lang="en-US" sz="1500" dirty="0"/>
          </a:p>
        </p:txBody>
      </p:sp>
      <p:sp>
        <p:nvSpPr>
          <p:cNvPr id="7" name="Shape 5"/>
          <p:cNvSpPr/>
          <p:nvPr/>
        </p:nvSpPr>
        <p:spPr>
          <a:xfrm>
            <a:off x="685800" y="1755648"/>
            <a:ext cx="2046427" cy="1261872"/>
          </a:xfrm>
          <a:prstGeom prst="rect">
            <a:avLst/>
          </a:prstGeom>
          <a:solidFill>
            <a:srgbClr val="F7F7F7"/>
          </a:solidFill>
          <a:ln/>
        </p:spPr>
      </p:sp>
      <p:sp>
        <p:nvSpPr>
          <p:cNvPr id="8" name="Shape 6"/>
          <p:cNvSpPr/>
          <p:nvPr/>
        </p:nvSpPr>
        <p:spPr>
          <a:xfrm>
            <a:off x="685800" y="1755648"/>
            <a:ext cx="64008" cy="1261872"/>
          </a:xfrm>
          <a:prstGeom prst="rect">
            <a:avLst/>
          </a:prstGeom>
          <a:solidFill>
            <a:srgbClr val="C2352F"/>
          </a:solidFill>
          <a:ln/>
        </p:spPr>
      </p:sp>
      <p:sp>
        <p:nvSpPr>
          <p:cNvPr id="9" name="Text 7"/>
          <p:cNvSpPr txBox="1"/>
          <p:nvPr/>
        </p:nvSpPr>
        <p:spPr>
          <a:xfrm>
            <a:off x="868680" y="1828800"/>
            <a:ext cx="1817827" cy="310896"/>
          </a:xfrm>
          <a:prstGeom prst="rect">
            <a:avLst/>
          </a:prstGeom>
          <a:noFill/>
          <a:ln/>
        </p:spPr>
        <p:txBody>
          <a:bodyPr wrap="non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ACURA</a:t>
            </a:r>
            <a:endParaRPr lang="en-US" sz="1300" dirty="0"/>
          </a:p>
        </p:txBody>
      </p:sp>
      <p:sp>
        <p:nvSpPr>
          <p:cNvPr id="10" name="Text 8"/>
          <p:cNvSpPr txBox="1"/>
          <p:nvPr/>
        </p:nvSpPr>
        <p:spPr>
          <a:xfrm>
            <a:off x="868680" y="2139696"/>
            <a:ext cx="886054" cy="502920"/>
          </a:xfrm>
          <a:prstGeom prst="rect">
            <a:avLst/>
          </a:prstGeom>
          <a:noFill/>
          <a:ln/>
        </p:spPr>
        <p:txBody>
          <a:bodyPr wrap="none" lIns="0" tIns="0" rIns="0" bIns="0" rtlCol="0" anchor="ctr"/>
          <a:lstStyle/>
          <a:p>
            <a:pPr indent="0" marL="0">
              <a:buNone/>
            </a:pPr>
            <a:r>
              <a:rPr lang="en-US" sz="2200" b="1" dirty="0">
                <a:solidFill>
                  <a:srgbClr val="A82B26"/>
                </a:solidFill>
                <a:latin typeface="Inter" pitchFamily="34" charset="0"/>
                <a:ea typeface="Inter" pitchFamily="34" charset="-122"/>
                <a:cs typeface="Inter" pitchFamily="34" charset="-120"/>
              </a:rPr>
              <a:t>67%</a:t>
            </a:r>
            <a:endParaRPr lang="en-US" sz="2200" dirty="0"/>
          </a:p>
        </p:txBody>
      </p:sp>
      <p:sp>
        <p:nvSpPr>
          <p:cNvPr id="11" name="Text 9"/>
          <p:cNvSpPr txBox="1"/>
          <p:nvPr/>
        </p:nvSpPr>
        <p:spPr>
          <a:xfrm>
            <a:off x="868680" y="2642616"/>
            <a:ext cx="886054" cy="292608"/>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today</a:t>
            </a:r>
            <a:endParaRPr lang="en-US" sz="1300" dirty="0"/>
          </a:p>
        </p:txBody>
      </p:sp>
      <p:sp>
        <p:nvSpPr>
          <p:cNvPr id="12" name="Text 10"/>
          <p:cNvSpPr txBox="1"/>
          <p:nvPr/>
        </p:nvSpPr>
        <p:spPr>
          <a:xfrm>
            <a:off x="1754734" y="2139696"/>
            <a:ext cx="886054" cy="502920"/>
          </a:xfrm>
          <a:prstGeom prst="rect">
            <a:avLst/>
          </a:prstGeom>
          <a:noFill/>
          <a:ln/>
        </p:spPr>
        <p:txBody>
          <a:bodyPr wrap="none" lIns="0" tIns="0" rIns="0" bIns="0" rtlCol="0" anchor="ctr"/>
          <a:lstStyle/>
          <a:p>
            <a:pPr indent="0" marL="0">
              <a:buNone/>
            </a:pPr>
            <a:r>
              <a:rPr lang="en-US" sz="2200" b="1" dirty="0">
                <a:solidFill>
                  <a:srgbClr val="A82B26"/>
                </a:solidFill>
                <a:latin typeface="Inter" pitchFamily="34" charset="0"/>
                <a:ea typeface="Inter" pitchFamily="34" charset="-122"/>
                <a:cs typeface="Inter" pitchFamily="34" charset="-120"/>
              </a:rPr>
              <a:t>73%</a:t>
            </a:r>
            <a:endParaRPr lang="en-US" sz="2200" dirty="0"/>
          </a:p>
        </p:txBody>
      </p:sp>
      <p:sp>
        <p:nvSpPr>
          <p:cNvPr id="13" name="Text 11"/>
          <p:cNvSpPr txBox="1"/>
          <p:nvPr/>
        </p:nvSpPr>
        <p:spPr>
          <a:xfrm>
            <a:off x="1754734" y="2642616"/>
            <a:ext cx="886054" cy="292608"/>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best techs</a:t>
            </a:r>
            <a:endParaRPr lang="en-US" sz="1300" dirty="0"/>
          </a:p>
        </p:txBody>
      </p:sp>
      <p:sp>
        <p:nvSpPr>
          <p:cNvPr id="14" name="Text 12"/>
          <p:cNvSpPr txBox="1"/>
          <p:nvPr/>
        </p:nvSpPr>
        <p:spPr>
          <a:xfrm>
            <a:off x="1462126" y="2139696"/>
            <a:ext cx="274320" cy="502920"/>
          </a:xfrm>
          <a:prstGeom prst="rect">
            <a:avLst/>
          </a:prstGeom>
          <a:noFill/>
          <a:ln/>
        </p:spPr>
        <p:txBody>
          <a:bodyPr wrap="square" lIns="0" tIns="0" rIns="0" bIns="0" rtlCol="0" anchor="ctr"/>
          <a:lstStyle/>
          <a:p>
            <a:pPr indent="0" marL="0">
              <a:buNone/>
            </a:pPr>
            <a:r>
              <a:rPr lang="en-US" sz="1800" dirty="0">
                <a:solidFill>
                  <a:srgbClr val="9AA3AD"/>
                </a:solidFill>
                <a:latin typeface="Inter" pitchFamily="34" charset="0"/>
                <a:ea typeface="Inter" pitchFamily="34" charset="-122"/>
                <a:cs typeface="Inter" pitchFamily="34" charset="-120"/>
              </a:rPr>
              <a:t>→</a:t>
            </a:r>
            <a:endParaRPr lang="en-US" sz="1800" dirty="0"/>
          </a:p>
        </p:txBody>
      </p:sp>
      <p:sp>
        <p:nvSpPr>
          <p:cNvPr id="15" name="Shape 13"/>
          <p:cNvSpPr/>
          <p:nvPr/>
        </p:nvSpPr>
        <p:spPr>
          <a:xfrm>
            <a:off x="2878531" y="1755648"/>
            <a:ext cx="2046427" cy="1261872"/>
          </a:xfrm>
          <a:prstGeom prst="rect">
            <a:avLst/>
          </a:prstGeom>
          <a:solidFill>
            <a:srgbClr val="F7F7F7"/>
          </a:solidFill>
          <a:ln/>
        </p:spPr>
      </p:sp>
      <p:sp>
        <p:nvSpPr>
          <p:cNvPr id="16" name="Shape 14"/>
          <p:cNvSpPr/>
          <p:nvPr/>
        </p:nvSpPr>
        <p:spPr>
          <a:xfrm>
            <a:off x="2878531" y="1755648"/>
            <a:ext cx="64008" cy="1261872"/>
          </a:xfrm>
          <a:prstGeom prst="rect">
            <a:avLst/>
          </a:prstGeom>
          <a:solidFill>
            <a:srgbClr val="12A566"/>
          </a:solidFill>
          <a:ln/>
        </p:spPr>
      </p:sp>
      <p:sp>
        <p:nvSpPr>
          <p:cNvPr id="17" name="Text 15"/>
          <p:cNvSpPr txBox="1"/>
          <p:nvPr/>
        </p:nvSpPr>
        <p:spPr>
          <a:xfrm>
            <a:off x="3061411" y="1828800"/>
            <a:ext cx="1817827" cy="310896"/>
          </a:xfrm>
          <a:prstGeom prst="rect">
            <a:avLst/>
          </a:prstGeom>
          <a:noFill/>
          <a:ln/>
        </p:spPr>
        <p:txBody>
          <a:bodyPr wrap="non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KIA ST GEORGE</a:t>
            </a:r>
            <a:endParaRPr lang="en-US" sz="1300" dirty="0"/>
          </a:p>
        </p:txBody>
      </p:sp>
      <p:sp>
        <p:nvSpPr>
          <p:cNvPr id="18" name="Text 16"/>
          <p:cNvSpPr txBox="1"/>
          <p:nvPr/>
        </p:nvSpPr>
        <p:spPr>
          <a:xfrm>
            <a:off x="3061411" y="2139696"/>
            <a:ext cx="886054" cy="502920"/>
          </a:xfrm>
          <a:prstGeom prst="rect">
            <a:avLst/>
          </a:prstGeom>
          <a:noFill/>
          <a:ln/>
        </p:spPr>
        <p:txBody>
          <a:bodyPr wrap="none" lIns="0" tIns="0" rIns="0" bIns="0" rtlCol="0" anchor="ctr"/>
          <a:lstStyle/>
          <a:p>
            <a:pPr indent="0" marL="0">
              <a:buNone/>
            </a:pPr>
            <a:r>
              <a:rPr lang="en-US" sz="2200" b="1" dirty="0">
                <a:solidFill>
                  <a:srgbClr val="A82B26"/>
                </a:solidFill>
                <a:latin typeface="Inter" pitchFamily="34" charset="0"/>
                <a:ea typeface="Inter" pitchFamily="34" charset="-122"/>
                <a:cs typeface="Inter" pitchFamily="34" charset="-120"/>
              </a:rPr>
              <a:t>67%</a:t>
            </a:r>
            <a:endParaRPr lang="en-US" sz="2200" dirty="0"/>
          </a:p>
        </p:txBody>
      </p:sp>
      <p:sp>
        <p:nvSpPr>
          <p:cNvPr id="19" name="Text 17"/>
          <p:cNvSpPr txBox="1"/>
          <p:nvPr/>
        </p:nvSpPr>
        <p:spPr>
          <a:xfrm>
            <a:off x="3061411" y="2642616"/>
            <a:ext cx="886054" cy="292608"/>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today</a:t>
            </a:r>
            <a:endParaRPr lang="en-US" sz="1300" dirty="0"/>
          </a:p>
        </p:txBody>
      </p:sp>
      <p:sp>
        <p:nvSpPr>
          <p:cNvPr id="20" name="Text 18"/>
          <p:cNvSpPr txBox="1"/>
          <p:nvPr/>
        </p:nvSpPr>
        <p:spPr>
          <a:xfrm>
            <a:off x="3947465" y="2139696"/>
            <a:ext cx="886054" cy="502920"/>
          </a:xfrm>
          <a:prstGeom prst="rect">
            <a:avLst/>
          </a:prstGeom>
          <a:noFill/>
          <a:ln/>
        </p:spPr>
        <p:txBody>
          <a:bodyPr wrap="none" lIns="0" tIns="0" rIns="0" bIns="0" rtlCol="0" anchor="ctr"/>
          <a:lstStyle/>
          <a:p>
            <a:pPr indent="0" marL="0">
              <a:buNone/>
            </a:pPr>
            <a:r>
              <a:rPr lang="en-US" sz="2200" b="1" dirty="0">
                <a:solidFill>
                  <a:srgbClr val="0B7A4A"/>
                </a:solidFill>
                <a:latin typeface="Inter" pitchFamily="34" charset="0"/>
                <a:ea typeface="Inter" pitchFamily="34" charset="-122"/>
                <a:cs typeface="Inter" pitchFamily="34" charset="-120"/>
              </a:rPr>
              <a:t>97%</a:t>
            </a:r>
            <a:endParaRPr lang="en-US" sz="2200" dirty="0"/>
          </a:p>
        </p:txBody>
      </p:sp>
      <p:sp>
        <p:nvSpPr>
          <p:cNvPr id="21" name="Text 19"/>
          <p:cNvSpPr txBox="1"/>
          <p:nvPr/>
        </p:nvSpPr>
        <p:spPr>
          <a:xfrm>
            <a:off x="3947465" y="2642616"/>
            <a:ext cx="886054" cy="292608"/>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best techs</a:t>
            </a:r>
            <a:endParaRPr lang="en-US" sz="1300" dirty="0"/>
          </a:p>
        </p:txBody>
      </p:sp>
      <p:sp>
        <p:nvSpPr>
          <p:cNvPr id="22" name="Text 20"/>
          <p:cNvSpPr txBox="1"/>
          <p:nvPr/>
        </p:nvSpPr>
        <p:spPr>
          <a:xfrm>
            <a:off x="3654857" y="2139696"/>
            <a:ext cx="274320" cy="502920"/>
          </a:xfrm>
          <a:prstGeom prst="rect">
            <a:avLst/>
          </a:prstGeom>
          <a:noFill/>
          <a:ln/>
        </p:spPr>
        <p:txBody>
          <a:bodyPr wrap="square" lIns="0" tIns="0" rIns="0" bIns="0" rtlCol="0" anchor="ctr"/>
          <a:lstStyle/>
          <a:p>
            <a:pPr indent="0" marL="0">
              <a:buNone/>
            </a:pPr>
            <a:r>
              <a:rPr lang="en-US" sz="1800" dirty="0">
                <a:solidFill>
                  <a:srgbClr val="9AA3AD"/>
                </a:solidFill>
                <a:latin typeface="Inter" pitchFamily="34" charset="0"/>
                <a:ea typeface="Inter" pitchFamily="34" charset="-122"/>
                <a:cs typeface="Inter" pitchFamily="34" charset="-120"/>
              </a:rPr>
              <a:t>→</a:t>
            </a:r>
            <a:endParaRPr lang="en-US" sz="1800" dirty="0"/>
          </a:p>
        </p:txBody>
      </p:sp>
      <p:sp>
        <p:nvSpPr>
          <p:cNvPr id="23" name="Shape 21"/>
          <p:cNvSpPr/>
          <p:nvPr/>
        </p:nvSpPr>
        <p:spPr>
          <a:xfrm>
            <a:off x="5071262" y="1755648"/>
            <a:ext cx="2046427" cy="1261872"/>
          </a:xfrm>
          <a:prstGeom prst="rect">
            <a:avLst/>
          </a:prstGeom>
          <a:solidFill>
            <a:srgbClr val="F7F7F7"/>
          </a:solidFill>
          <a:ln/>
        </p:spPr>
      </p:sp>
      <p:sp>
        <p:nvSpPr>
          <p:cNvPr id="24" name="Shape 22"/>
          <p:cNvSpPr/>
          <p:nvPr/>
        </p:nvSpPr>
        <p:spPr>
          <a:xfrm>
            <a:off x="5071262" y="1755648"/>
            <a:ext cx="64008" cy="1261872"/>
          </a:xfrm>
          <a:prstGeom prst="rect">
            <a:avLst/>
          </a:prstGeom>
          <a:solidFill>
            <a:srgbClr val="12A566"/>
          </a:solidFill>
          <a:ln/>
        </p:spPr>
      </p:sp>
      <p:sp>
        <p:nvSpPr>
          <p:cNvPr id="25" name="Text 23"/>
          <p:cNvSpPr txBox="1"/>
          <p:nvPr/>
        </p:nvSpPr>
        <p:spPr>
          <a:xfrm>
            <a:off x="5254142" y="1828800"/>
            <a:ext cx="1817827" cy="310896"/>
          </a:xfrm>
          <a:prstGeom prst="rect">
            <a:avLst/>
          </a:prstGeom>
          <a:noFill/>
          <a:ln/>
        </p:spPr>
        <p:txBody>
          <a:bodyPr wrap="non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26" name="Text 24"/>
          <p:cNvSpPr txBox="1"/>
          <p:nvPr/>
        </p:nvSpPr>
        <p:spPr>
          <a:xfrm>
            <a:off x="5254142" y="2139696"/>
            <a:ext cx="886054" cy="502920"/>
          </a:xfrm>
          <a:prstGeom prst="rect">
            <a:avLst/>
          </a:prstGeom>
          <a:noFill/>
          <a:ln/>
        </p:spPr>
        <p:txBody>
          <a:bodyPr wrap="none" lIns="0" tIns="0" rIns="0" bIns="0" rtlCol="0" anchor="ctr"/>
          <a:lstStyle/>
          <a:p>
            <a:pPr indent="0" marL="0">
              <a:buNone/>
            </a:pPr>
            <a:r>
              <a:rPr lang="en-US" sz="2200" b="1" dirty="0">
                <a:solidFill>
                  <a:srgbClr val="A82B26"/>
                </a:solidFill>
                <a:latin typeface="Inter" pitchFamily="34" charset="0"/>
                <a:ea typeface="Inter" pitchFamily="34" charset="-122"/>
                <a:cs typeface="Inter" pitchFamily="34" charset="-120"/>
              </a:rPr>
              <a:t>68%</a:t>
            </a:r>
            <a:endParaRPr lang="en-US" sz="2200" dirty="0"/>
          </a:p>
        </p:txBody>
      </p:sp>
      <p:sp>
        <p:nvSpPr>
          <p:cNvPr id="27" name="Text 25"/>
          <p:cNvSpPr txBox="1"/>
          <p:nvPr/>
        </p:nvSpPr>
        <p:spPr>
          <a:xfrm>
            <a:off x="5254142" y="2642616"/>
            <a:ext cx="886054" cy="292608"/>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today</a:t>
            </a:r>
            <a:endParaRPr lang="en-US" sz="1300" dirty="0"/>
          </a:p>
        </p:txBody>
      </p:sp>
      <p:sp>
        <p:nvSpPr>
          <p:cNvPr id="28" name="Text 26"/>
          <p:cNvSpPr txBox="1"/>
          <p:nvPr/>
        </p:nvSpPr>
        <p:spPr>
          <a:xfrm>
            <a:off x="6140196" y="2139696"/>
            <a:ext cx="886054" cy="502920"/>
          </a:xfrm>
          <a:prstGeom prst="rect">
            <a:avLst/>
          </a:prstGeom>
          <a:noFill/>
          <a:ln/>
        </p:spPr>
        <p:txBody>
          <a:bodyPr wrap="none" lIns="0" tIns="0" rIns="0" bIns="0" rtlCol="0" anchor="ctr"/>
          <a:lstStyle/>
          <a:p>
            <a:pPr indent="0" marL="0">
              <a:buNone/>
            </a:pPr>
            <a:r>
              <a:rPr lang="en-US" sz="2200" b="1" dirty="0">
                <a:solidFill>
                  <a:srgbClr val="0B7A4A"/>
                </a:solidFill>
                <a:latin typeface="Inter" pitchFamily="34" charset="0"/>
                <a:ea typeface="Inter" pitchFamily="34" charset="-122"/>
                <a:cs typeface="Inter" pitchFamily="34" charset="-120"/>
              </a:rPr>
              <a:t>96%</a:t>
            </a:r>
            <a:endParaRPr lang="en-US" sz="2200" dirty="0"/>
          </a:p>
        </p:txBody>
      </p:sp>
      <p:sp>
        <p:nvSpPr>
          <p:cNvPr id="29" name="Text 27"/>
          <p:cNvSpPr txBox="1"/>
          <p:nvPr/>
        </p:nvSpPr>
        <p:spPr>
          <a:xfrm>
            <a:off x="6140196" y="2642616"/>
            <a:ext cx="886054" cy="292608"/>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best techs</a:t>
            </a:r>
            <a:endParaRPr lang="en-US" sz="1300" dirty="0"/>
          </a:p>
        </p:txBody>
      </p:sp>
      <p:sp>
        <p:nvSpPr>
          <p:cNvPr id="30" name="Text 28"/>
          <p:cNvSpPr txBox="1"/>
          <p:nvPr/>
        </p:nvSpPr>
        <p:spPr>
          <a:xfrm>
            <a:off x="5847588" y="2139696"/>
            <a:ext cx="274320" cy="502920"/>
          </a:xfrm>
          <a:prstGeom prst="rect">
            <a:avLst/>
          </a:prstGeom>
          <a:noFill/>
          <a:ln/>
        </p:spPr>
        <p:txBody>
          <a:bodyPr wrap="square" lIns="0" tIns="0" rIns="0" bIns="0" rtlCol="0" anchor="ctr"/>
          <a:lstStyle/>
          <a:p>
            <a:pPr indent="0" marL="0">
              <a:buNone/>
            </a:pPr>
            <a:r>
              <a:rPr lang="en-US" sz="1800" dirty="0">
                <a:solidFill>
                  <a:srgbClr val="9AA3AD"/>
                </a:solidFill>
                <a:latin typeface="Inter" pitchFamily="34" charset="0"/>
                <a:ea typeface="Inter" pitchFamily="34" charset="-122"/>
                <a:cs typeface="Inter" pitchFamily="34" charset="-120"/>
              </a:rPr>
              <a:t>→</a:t>
            </a:r>
            <a:endParaRPr lang="en-US" sz="1800" dirty="0"/>
          </a:p>
        </p:txBody>
      </p:sp>
      <p:sp>
        <p:nvSpPr>
          <p:cNvPr id="31" name="Shape 29"/>
          <p:cNvSpPr/>
          <p:nvPr/>
        </p:nvSpPr>
        <p:spPr>
          <a:xfrm>
            <a:off x="7263994" y="1755648"/>
            <a:ext cx="2046427" cy="1261872"/>
          </a:xfrm>
          <a:prstGeom prst="rect">
            <a:avLst/>
          </a:prstGeom>
          <a:solidFill>
            <a:srgbClr val="F7F7F7"/>
          </a:solidFill>
          <a:ln/>
        </p:spPr>
      </p:sp>
      <p:sp>
        <p:nvSpPr>
          <p:cNvPr id="32" name="Shape 30"/>
          <p:cNvSpPr/>
          <p:nvPr/>
        </p:nvSpPr>
        <p:spPr>
          <a:xfrm>
            <a:off x="7263994" y="1755648"/>
            <a:ext cx="64008" cy="1261872"/>
          </a:xfrm>
          <a:prstGeom prst="rect">
            <a:avLst/>
          </a:prstGeom>
          <a:solidFill>
            <a:srgbClr val="12A566"/>
          </a:solidFill>
          <a:ln/>
        </p:spPr>
      </p:sp>
      <p:sp>
        <p:nvSpPr>
          <p:cNvPr id="33" name="Text 31"/>
          <p:cNvSpPr txBox="1"/>
          <p:nvPr/>
        </p:nvSpPr>
        <p:spPr>
          <a:xfrm>
            <a:off x="7446874" y="1828800"/>
            <a:ext cx="1817827" cy="310896"/>
          </a:xfrm>
          <a:prstGeom prst="rect">
            <a:avLst/>
          </a:prstGeom>
          <a:noFill/>
          <a:ln/>
        </p:spPr>
        <p:txBody>
          <a:bodyPr wrap="non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34" name="Text 32"/>
          <p:cNvSpPr txBox="1"/>
          <p:nvPr/>
        </p:nvSpPr>
        <p:spPr>
          <a:xfrm>
            <a:off x="7446874" y="2139696"/>
            <a:ext cx="886054" cy="502920"/>
          </a:xfrm>
          <a:prstGeom prst="rect">
            <a:avLst/>
          </a:prstGeom>
          <a:noFill/>
          <a:ln/>
        </p:spPr>
        <p:txBody>
          <a:bodyPr wrap="none" lIns="0" tIns="0" rIns="0" bIns="0" rtlCol="0" anchor="ctr"/>
          <a:lstStyle/>
          <a:p>
            <a:pPr indent="0" marL="0">
              <a:buNone/>
            </a:pPr>
            <a:r>
              <a:rPr lang="en-US" sz="2200" b="1" dirty="0">
                <a:solidFill>
                  <a:srgbClr val="A82B26"/>
                </a:solidFill>
                <a:latin typeface="Inter" pitchFamily="34" charset="0"/>
                <a:ea typeface="Inter" pitchFamily="34" charset="-122"/>
                <a:cs typeface="Inter" pitchFamily="34" charset="-120"/>
              </a:rPr>
              <a:t>69%</a:t>
            </a:r>
            <a:endParaRPr lang="en-US" sz="2200" dirty="0"/>
          </a:p>
        </p:txBody>
      </p:sp>
      <p:sp>
        <p:nvSpPr>
          <p:cNvPr id="35" name="Text 33"/>
          <p:cNvSpPr txBox="1"/>
          <p:nvPr/>
        </p:nvSpPr>
        <p:spPr>
          <a:xfrm>
            <a:off x="7446874" y="2642616"/>
            <a:ext cx="886054" cy="292608"/>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today</a:t>
            </a:r>
            <a:endParaRPr lang="en-US" sz="1300" dirty="0"/>
          </a:p>
        </p:txBody>
      </p:sp>
      <p:sp>
        <p:nvSpPr>
          <p:cNvPr id="36" name="Text 34"/>
          <p:cNvSpPr txBox="1"/>
          <p:nvPr/>
        </p:nvSpPr>
        <p:spPr>
          <a:xfrm>
            <a:off x="8332927" y="2139696"/>
            <a:ext cx="886054" cy="502920"/>
          </a:xfrm>
          <a:prstGeom prst="rect">
            <a:avLst/>
          </a:prstGeom>
          <a:noFill/>
          <a:ln/>
        </p:spPr>
        <p:txBody>
          <a:bodyPr wrap="none" lIns="0" tIns="0" rIns="0" bIns="0" rtlCol="0" anchor="ctr"/>
          <a:lstStyle/>
          <a:p>
            <a:pPr indent="0" marL="0">
              <a:buNone/>
            </a:pPr>
            <a:r>
              <a:rPr lang="en-US" sz="2200" b="1" dirty="0">
                <a:solidFill>
                  <a:srgbClr val="0B7A4A"/>
                </a:solidFill>
                <a:latin typeface="Inter" pitchFamily="34" charset="0"/>
                <a:ea typeface="Inter" pitchFamily="34" charset="-122"/>
                <a:cs typeface="Inter" pitchFamily="34" charset="-120"/>
              </a:rPr>
              <a:t>122%</a:t>
            </a:r>
            <a:endParaRPr lang="en-US" sz="2200" dirty="0"/>
          </a:p>
        </p:txBody>
      </p:sp>
      <p:sp>
        <p:nvSpPr>
          <p:cNvPr id="37" name="Text 35"/>
          <p:cNvSpPr txBox="1"/>
          <p:nvPr/>
        </p:nvSpPr>
        <p:spPr>
          <a:xfrm>
            <a:off x="8332927" y="2642616"/>
            <a:ext cx="886054" cy="292608"/>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best techs</a:t>
            </a:r>
            <a:endParaRPr lang="en-US" sz="1300" dirty="0"/>
          </a:p>
        </p:txBody>
      </p:sp>
      <p:sp>
        <p:nvSpPr>
          <p:cNvPr id="38" name="Text 36"/>
          <p:cNvSpPr txBox="1"/>
          <p:nvPr/>
        </p:nvSpPr>
        <p:spPr>
          <a:xfrm>
            <a:off x="8040319" y="2139696"/>
            <a:ext cx="274320" cy="502920"/>
          </a:xfrm>
          <a:prstGeom prst="rect">
            <a:avLst/>
          </a:prstGeom>
          <a:noFill/>
          <a:ln/>
        </p:spPr>
        <p:txBody>
          <a:bodyPr wrap="square" lIns="0" tIns="0" rIns="0" bIns="0" rtlCol="0" anchor="ctr"/>
          <a:lstStyle/>
          <a:p>
            <a:pPr indent="0" marL="0">
              <a:buNone/>
            </a:pPr>
            <a:r>
              <a:rPr lang="en-US" sz="1800" dirty="0">
                <a:solidFill>
                  <a:srgbClr val="9AA3AD"/>
                </a:solidFill>
                <a:latin typeface="Inter" pitchFamily="34" charset="0"/>
                <a:ea typeface="Inter" pitchFamily="34" charset="-122"/>
                <a:cs typeface="Inter" pitchFamily="34" charset="-120"/>
              </a:rPr>
              <a:t>→</a:t>
            </a:r>
            <a:endParaRPr lang="en-US" sz="1800" dirty="0"/>
          </a:p>
        </p:txBody>
      </p:sp>
      <p:sp>
        <p:nvSpPr>
          <p:cNvPr id="39" name="Shape 37"/>
          <p:cNvSpPr/>
          <p:nvPr/>
        </p:nvSpPr>
        <p:spPr>
          <a:xfrm>
            <a:off x="9456725" y="1755648"/>
            <a:ext cx="2046427" cy="1261872"/>
          </a:xfrm>
          <a:prstGeom prst="rect">
            <a:avLst/>
          </a:prstGeom>
          <a:solidFill>
            <a:srgbClr val="F7F7F7"/>
          </a:solidFill>
          <a:ln/>
        </p:spPr>
      </p:sp>
      <p:sp>
        <p:nvSpPr>
          <p:cNvPr id="40" name="Shape 38"/>
          <p:cNvSpPr/>
          <p:nvPr/>
        </p:nvSpPr>
        <p:spPr>
          <a:xfrm>
            <a:off x="9456725" y="1755648"/>
            <a:ext cx="64008" cy="1261872"/>
          </a:xfrm>
          <a:prstGeom prst="rect">
            <a:avLst/>
          </a:prstGeom>
          <a:solidFill>
            <a:srgbClr val="C2352F"/>
          </a:solidFill>
          <a:ln/>
        </p:spPr>
      </p:sp>
      <p:sp>
        <p:nvSpPr>
          <p:cNvPr id="41" name="Text 39"/>
          <p:cNvSpPr txBox="1"/>
          <p:nvPr/>
        </p:nvSpPr>
        <p:spPr>
          <a:xfrm>
            <a:off x="9639605" y="1828800"/>
            <a:ext cx="1817827" cy="310896"/>
          </a:xfrm>
          <a:prstGeom prst="rect">
            <a:avLst/>
          </a:prstGeom>
          <a:noFill/>
          <a:ln/>
        </p:spPr>
        <p:txBody>
          <a:bodyPr wrap="non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VW ST GEORGE</a:t>
            </a:r>
            <a:endParaRPr lang="en-US" sz="1300" dirty="0"/>
          </a:p>
        </p:txBody>
      </p:sp>
      <p:sp>
        <p:nvSpPr>
          <p:cNvPr id="42" name="Text 40"/>
          <p:cNvSpPr txBox="1"/>
          <p:nvPr/>
        </p:nvSpPr>
        <p:spPr>
          <a:xfrm>
            <a:off x="9639605" y="2139696"/>
            <a:ext cx="886054" cy="502920"/>
          </a:xfrm>
          <a:prstGeom prst="rect">
            <a:avLst/>
          </a:prstGeom>
          <a:noFill/>
          <a:ln/>
        </p:spPr>
        <p:txBody>
          <a:bodyPr wrap="none" lIns="0" tIns="0" rIns="0" bIns="0" rtlCol="0" anchor="ctr"/>
          <a:lstStyle/>
          <a:p>
            <a:pPr indent="0" marL="0">
              <a:buNone/>
            </a:pPr>
            <a:r>
              <a:rPr lang="en-US" sz="2200" b="1" dirty="0">
                <a:solidFill>
                  <a:srgbClr val="A82B26"/>
                </a:solidFill>
                <a:latin typeface="Inter" pitchFamily="34" charset="0"/>
                <a:ea typeface="Inter" pitchFamily="34" charset="-122"/>
                <a:cs typeface="Inter" pitchFamily="34" charset="-120"/>
              </a:rPr>
              <a:t>70%</a:t>
            </a:r>
            <a:endParaRPr lang="en-US" sz="2200" dirty="0"/>
          </a:p>
        </p:txBody>
      </p:sp>
      <p:sp>
        <p:nvSpPr>
          <p:cNvPr id="43" name="Text 41"/>
          <p:cNvSpPr txBox="1"/>
          <p:nvPr/>
        </p:nvSpPr>
        <p:spPr>
          <a:xfrm>
            <a:off x="9639605" y="2642616"/>
            <a:ext cx="886054" cy="292608"/>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today</a:t>
            </a:r>
            <a:endParaRPr lang="en-US" sz="1300" dirty="0"/>
          </a:p>
        </p:txBody>
      </p:sp>
      <p:sp>
        <p:nvSpPr>
          <p:cNvPr id="44" name="Text 42"/>
          <p:cNvSpPr txBox="1"/>
          <p:nvPr/>
        </p:nvSpPr>
        <p:spPr>
          <a:xfrm>
            <a:off x="10525658" y="2139696"/>
            <a:ext cx="886054" cy="502920"/>
          </a:xfrm>
          <a:prstGeom prst="rect">
            <a:avLst/>
          </a:prstGeom>
          <a:noFill/>
          <a:ln/>
        </p:spPr>
        <p:txBody>
          <a:bodyPr wrap="none" lIns="0" tIns="0" rIns="0" bIns="0" rtlCol="0" anchor="ctr"/>
          <a:lstStyle/>
          <a:p>
            <a:pPr indent="0" marL="0">
              <a:buNone/>
            </a:pPr>
            <a:r>
              <a:rPr lang="en-US" sz="2200" b="1" dirty="0">
                <a:solidFill>
                  <a:srgbClr val="A82B26"/>
                </a:solidFill>
                <a:latin typeface="Inter" pitchFamily="34" charset="0"/>
                <a:ea typeface="Inter" pitchFamily="34" charset="-122"/>
                <a:cs typeface="Inter" pitchFamily="34" charset="-120"/>
              </a:rPr>
              <a:t>76%</a:t>
            </a:r>
            <a:endParaRPr lang="en-US" sz="2200" dirty="0"/>
          </a:p>
        </p:txBody>
      </p:sp>
      <p:sp>
        <p:nvSpPr>
          <p:cNvPr id="45" name="Text 43"/>
          <p:cNvSpPr txBox="1"/>
          <p:nvPr/>
        </p:nvSpPr>
        <p:spPr>
          <a:xfrm>
            <a:off x="10525658" y="2642616"/>
            <a:ext cx="886054" cy="292608"/>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best techs</a:t>
            </a:r>
            <a:endParaRPr lang="en-US" sz="1300" dirty="0"/>
          </a:p>
        </p:txBody>
      </p:sp>
      <p:sp>
        <p:nvSpPr>
          <p:cNvPr id="46" name="Text 44"/>
          <p:cNvSpPr txBox="1"/>
          <p:nvPr/>
        </p:nvSpPr>
        <p:spPr>
          <a:xfrm>
            <a:off x="10233050" y="2139696"/>
            <a:ext cx="274320" cy="502920"/>
          </a:xfrm>
          <a:prstGeom prst="rect">
            <a:avLst/>
          </a:prstGeom>
          <a:noFill/>
          <a:ln/>
        </p:spPr>
        <p:txBody>
          <a:bodyPr wrap="square" lIns="0" tIns="0" rIns="0" bIns="0" rtlCol="0" anchor="ctr"/>
          <a:lstStyle/>
          <a:p>
            <a:pPr indent="0" marL="0">
              <a:buNone/>
            </a:pPr>
            <a:r>
              <a:rPr lang="en-US" sz="1800" dirty="0">
                <a:solidFill>
                  <a:srgbClr val="9AA3AD"/>
                </a:solidFill>
                <a:latin typeface="Inter" pitchFamily="34" charset="0"/>
                <a:ea typeface="Inter" pitchFamily="34" charset="-122"/>
                <a:cs typeface="Inter" pitchFamily="34" charset="-120"/>
              </a:rPr>
              <a:t>→</a:t>
            </a:r>
            <a:endParaRPr lang="en-US" sz="1800" dirty="0"/>
          </a:p>
        </p:txBody>
      </p:sp>
      <p:sp>
        <p:nvSpPr>
          <p:cNvPr id="47" name="Shape 45"/>
          <p:cNvSpPr/>
          <p:nvPr/>
        </p:nvSpPr>
        <p:spPr>
          <a:xfrm>
            <a:off x="685800" y="3108960"/>
            <a:ext cx="2046427" cy="1261872"/>
          </a:xfrm>
          <a:prstGeom prst="rect">
            <a:avLst/>
          </a:prstGeom>
          <a:solidFill>
            <a:srgbClr val="F7F7F7"/>
          </a:solidFill>
          <a:ln/>
        </p:spPr>
      </p:sp>
      <p:sp>
        <p:nvSpPr>
          <p:cNvPr id="48" name="Shape 46"/>
          <p:cNvSpPr/>
          <p:nvPr/>
        </p:nvSpPr>
        <p:spPr>
          <a:xfrm>
            <a:off x="685800" y="3108960"/>
            <a:ext cx="64008" cy="1261872"/>
          </a:xfrm>
          <a:prstGeom prst="rect">
            <a:avLst/>
          </a:prstGeom>
          <a:solidFill>
            <a:srgbClr val="12A566"/>
          </a:solidFill>
          <a:ln/>
        </p:spPr>
      </p:sp>
      <p:sp>
        <p:nvSpPr>
          <p:cNvPr id="49" name="Text 47"/>
          <p:cNvSpPr txBox="1"/>
          <p:nvPr/>
        </p:nvSpPr>
        <p:spPr>
          <a:xfrm>
            <a:off x="868680" y="3182112"/>
            <a:ext cx="1817827" cy="310896"/>
          </a:xfrm>
          <a:prstGeom prst="rect">
            <a:avLst/>
          </a:prstGeom>
          <a:noFill/>
          <a:ln/>
        </p:spPr>
        <p:txBody>
          <a:bodyPr wrap="non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CDJR POST FALLS</a:t>
            </a:r>
            <a:endParaRPr lang="en-US" sz="1300" dirty="0"/>
          </a:p>
        </p:txBody>
      </p:sp>
      <p:sp>
        <p:nvSpPr>
          <p:cNvPr id="50" name="Text 48"/>
          <p:cNvSpPr txBox="1"/>
          <p:nvPr/>
        </p:nvSpPr>
        <p:spPr>
          <a:xfrm>
            <a:off x="868680" y="3493008"/>
            <a:ext cx="886054" cy="502920"/>
          </a:xfrm>
          <a:prstGeom prst="rect">
            <a:avLst/>
          </a:prstGeom>
          <a:noFill/>
          <a:ln/>
        </p:spPr>
        <p:txBody>
          <a:bodyPr wrap="none" lIns="0" tIns="0" rIns="0" bIns="0" rtlCol="0" anchor="ctr"/>
          <a:lstStyle/>
          <a:p>
            <a:pPr indent="0" marL="0">
              <a:buNone/>
            </a:pPr>
            <a:r>
              <a:rPr lang="en-US" sz="2200" b="1" dirty="0">
                <a:solidFill>
                  <a:srgbClr val="A82B26"/>
                </a:solidFill>
                <a:latin typeface="Inter" pitchFamily="34" charset="0"/>
                <a:ea typeface="Inter" pitchFamily="34" charset="-122"/>
                <a:cs typeface="Inter" pitchFamily="34" charset="-120"/>
              </a:rPr>
              <a:t>71%</a:t>
            </a:r>
            <a:endParaRPr lang="en-US" sz="2200" dirty="0"/>
          </a:p>
        </p:txBody>
      </p:sp>
      <p:sp>
        <p:nvSpPr>
          <p:cNvPr id="51" name="Text 49"/>
          <p:cNvSpPr txBox="1"/>
          <p:nvPr/>
        </p:nvSpPr>
        <p:spPr>
          <a:xfrm>
            <a:off x="868680" y="3995928"/>
            <a:ext cx="886054" cy="292608"/>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today</a:t>
            </a:r>
            <a:endParaRPr lang="en-US" sz="1300" dirty="0"/>
          </a:p>
        </p:txBody>
      </p:sp>
      <p:sp>
        <p:nvSpPr>
          <p:cNvPr id="52" name="Text 50"/>
          <p:cNvSpPr txBox="1"/>
          <p:nvPr/>
        </p:nvSpPr>
        <p:spPr>
          <a:xfrm>
            <a:off x="1754734" y="3493008"/>
            <a:ext cx="886054" cy="502920"/>
          </a:xfrm>
          <a:prstGeom prst="rect">
            <a:avLst/>
          </a:prstGeom>
          <a:noFill/>
          <a:ln/>
        </p:spPr>
        <p:txBody>
          <a:bodyPr wrap="none" lIns="0" tIns="0" rIns="0" bIns="0" rtlCol="0" anchor="ctr"/>
          <a:lstStyle/>
          <a:p>
            <a:pPr indent="0" marL="0">
              <a:buNone/>
            </a:pPr>
            <a:r>
              <a:rPr lang="en-US" sz="2200" b="1" dirty="0">
                <a:solidFill>
                  <a:srgbClr val="0B7A4A"/>
                </a:solidFill>
                <a:latin typeface="Inter" pitchFamily="34" charset="0"/>
                <a:ea typeface="Inter" pitchFamily="34" charset="-122"/>
                <a:cs typeface="Inter" pitchFamily="34" charset="-120"/>
              </a:rPr>
              <a:t>128%</a:t>
            </a:r>
            <a:endParaRPr lang="en-US" sz="2200" dirty="0"/>
          </a:p>
        </p:txBody>
      </p:sp>
      <p:sp>
        <p:nvSpPr>
          <p:cNvPr id="53" name="Text 51"/>
          <p:cNvSpPr txBox="1"/>
          <p:nvPr/>
        </p:nvSpPr>
        <p:spPr>
          <a:xfrm>
            <a:off x="1754734" y="3995928"/>
            <a:ext cx="886054" cy="292608"/>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best techs</a:t>
            </a:r>
            <a:endParaRPr lang="en-US" sz="1300" dirty="0"/>
          </a:p>
        </p:txBody>
      </p:sp>
      <p:sp>
        <p:nvSpPr>
          <p:cNvPr id="54" name="Text 52"/>
          <p:cNvSpPr txBox="1"/>
          <p:nvPr/>
        </p:nvSpPr>
        <p:spPr>
          <a:xfrm>
            <a:off x="1462126" y="3493008"/>
            <a:ext cx="274320" cy="502920"/>
          </a:xfrm>
          <a:prstGeom prst="rect">
            <a:avLst/>
          </a:prstGeom>
          <a:noFill/>
          <a:ln/>
        </p:spPr>
        <p:txBody>
          <a:bodyPr wrap="square" lIns="0" tIns="0" rIns="0" bIns="0" rtlCol="0" anchor="ctr"/>
          <a:lstStyle/>
          <a:p>
            <a:pPr indent="0" marL="0">
              <a:buNone/>
            </a:pPr>
            <a:r>
              <a:rPr lang="en-US" sz="1800" dirty="0">
                <a:solidFill>
                  <a:srgbClr val="9AA3AD"/>
                </a:solidFill>
                <a:latin typeface="Inter" pitchFamily="34" charset="0"/>
                <a:ea typeface="Inter" pitchFamily="34" charset="-122"/>
                <a:cs typeface="Inter" pitchFamily="34" charset="-120"/>
              </a:rPr>
              <a:t>→</a:t>
            </a:r>
            <a:endParaRPr lang="en-US" sz="1800" dirty="0"/>
          </a:p>
        </p:txBody>
      </p:sp>
      <p:sp>
        <p:nvSpPr>
          <p:cNvPr id="55" name="Shape 53"/>
          <p:cNvSpPr/>
          <p:nvPr/>
        </p:nvSpPr>
        <p:spPr>
          <a:xfrm>
            <a:off x="2878531" y="3108960"/>
            <a:ext cx="2046427" cy="1261872"/>
          </a:xfrm>
          <a:prstGeom prst="rect">
            <a:avLst/>
          </a:prstGeom>
          <a:solidFill>
            <a:srgbClr val="F7F7F7"/>
          </a:solidFill>
          <a:ln/>
        </p:spPr>
      </p:sp>
      <p:sp>
        <p:nvSpPr>
          <p:cNvPr id="56" name="Shape 54"/>
          <p:cNvSpPr/>
          <p:nvPr/>
        </p:nvSpPr>
        <p:spPr>
          <a:xfrm>
            <a:off x="2878531" y="3108960"/>
            <a:ext cx="64008" cy="1261872"/>
          </a:xfrm>
          <a:prstGeom prst="rect">
            <a:avLst/>
          </a:prstGeom>
          <a:solidFill>
            <a:srgbClr val="12A566"/>
          </a:solidFill>
          <a:ln/>
        </p:spPr>
      </p:sp>
      <p:sp>
        <p:nvSpPr>
          <p:cNvPr id="57" name="Text 55"/>
          <p:cNvSpPr txBox="1"/>
          <p:nvPr/>
        </p:nvSpPr>
        <p:spPr>
          <a:xfrm>
            <a:off x="3061411" y="3182112"/>
            <a:ext cx="1817827" cy="310896"/>
          </a:xfrm>
          <a:prstGeom prst="rect">
            <a:avLst/>
          </a:prstGeom>
          <a:noFill/>
          <a:ln/>
        </p:spPr>
        <p:txBody>
          <a:bodyPr wrap="non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VOLVO</a:t>
            </a:r>
            <a:endParaRPr lang="en-US" sz="1300" dirty="0"/>
          </a:p>
        </p:txBody>
      </p:sp>
      <p:sp>
        <p:nvSpPr>
          <p:cNvPr id="58" name="Text 56"/>
          <p:cNvSpPr txBox="1"/>
          <p:nvPr/>
        </p:nvSpPr>
        <p:spPr>
          <a:xfrm>
            <a:off x="3061411" y="3493008"/>
            <a:ext cx="886054" cy="502920"/>
          </a:xfrm>
          <a:prstGeom prst="rect">
            <a:avLst/>
          </a:prstGeom>
          <a:noFill/>
          <a:ln/>
        </p:spPr>
        <p:txBody>
          <a:bodyPr wrap="none" lIns="0" tIns="0" rIns="0" bIns="0" rtlCol="0" anchor="ctr"/>
          <a:lstStyle/>
          <a:p>
            <a:pPr indent="0" marL="0">
              <a:buNone/>
            </a:pPr>
            <a:r>
              <a:rPr lang="en-US" sz="2200" b="1" dirty="0">
                <a:solidFill>
                  <a:srgbClr val="A82B26"/>
                </a:solidFill>
                <a:latin typeface="Inter" pitchFamily="34" charset="0"/>
                <a:ea typeface="Inter" pitchFamily="34" charset="-122"/>
                <a:cs typeface="Inter" pitchFamily="34" charset="-120"/>
              </a:rPr>
              <a:t>72%</a:t>
            </a:r>
            <a:endParaRPr lang="en-US" sz="2200" dirty="0"/>
          </a:p>
        </p:txBody>
      </p:sp>
      <p:sp>
        <p:nvSpPr>
          <p:cNvPr id="59" name="Text 57"/>
          <p:cNvSpPr txBox="1"/>
          <p:nvPr/>
        </p:nvSpPr>
        <p:spPr>
          <a:xfrm>
            <a:off x="3061411" y="3995928"/>
            <a:ext cx="886054" cy="292608"/>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today</a:t>
            </a:r>
            <a:endParaRPr lang="en-US" sz="1300" dirty="0"/>
          </a:p>
        </p:txBody>
      </p:sp>
      <p:sp>
        <p:nvSpPr>
          <p:cNvPr id="60" name="Text 58"/>
          <p:cNvSpPr txBox="1"/>
          <p:nvPr/>
        </p:nvSpPr>
        <p:spPr>
          <a:xfrm>
            <a:off x="3947465" y="3493008"/>
            <a:ext cx="886054" cy="502920"/>
          </a:xfrm>
          <a:prstGeom prst="rect">
            <a:avLst/>
          </a:prstGeom>
          <a:noFill/>
          <a:ln/>
        </p:spPr>
        <p:txBody>
          <a:bodyPr wrap="none" lIns="0" tIns="0" rIns="0" bIns="0" rtlCol="0" anchor="ctr"/>
          <a:lstStyle/>
          <a:p>
            <a:pPr indent="0" marL="0">
              <a:buNone/>
            </a:pPr>
            <a:r>
              <a:rPr lang="en-US" sz="2200" b="1" dirty="0">
                <a:solidFill>
                  <a:srgbClr val="0B7A4A"/>
                </a:solidFill>
                <a:latin typeface="Inter" pitchFamily="34" charset="0"/>
                <a:ea typeface="Inter" pitchFamily="34" charset="-122"/>
                <a:cs typeface="Inter" pitchFamily="34" charset="-120"/>
              </a:rPr>
              <a:t>88%</a:t>
            </a:r>
            <a:endParaRPr lang="en-US" sz="2200" dirty="0"/>
          </a:p>
        </p:txBody>
      </p:sp>
      <p:sp>
        <p:nvSpPr>
          <p:cNvPr id="61" name="Text 59"/>
          <p:cNvSpPr txBox="1"/>
          <p:nvPr/>
        </p:nvSpPr>
        <p:spPr>
          <a:xfrm>
            <a:off x="3947465" y="3995928"/>
            <a:ext cx="886054" cy="292608"/>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best techs</a:t>
            </a:r>
            <a:endParaRPr lang="en-US" sz="1300" dirty="0"/>
          </a:p>
        </p:txBody>
      </p:sp>
      <p:sp>
        <p:nvSpPr>
          <p:cNvPr id="62" name="Text 60"/>
          <p:cNvSpPr txBox="1"/>
          <p:nvPr/>
        </p:nvSpPr>
        <p:spPr>
          <a:xfrm>
            <a:off x="3654857" y="3493008"/>
            <a:ext cx="274320" cy="502920"/>
          </a:xfrm>
          <a:prstGeom prst="rect">
            <a:avLst/>
          </a:prstGeom>
          <a:noFill/>
          <a:ln/>
        </p:spPr>
        <p:txBody>
          <a:bodyPr wrap="square" lIns="0" tIns="0" rIns="0" bIns="0" rtlCol="0" anchor="ctr"/>
          <a:lstStyle/>
          <a:p>
            <a:pPr indent="0" marL="0">
              <a:buNone/>
            </a:pPr>
            <a:r>
              <a:rPr lang="en-US" sz="1800" dirty="0">
                <a:solidFill>
                  <a:srgbClr val="9AA3AD"/>
                </a:solidFill>
                <a:latin typeface="Inter" pitchFamily="34" charset="0"/>
                <a:ea typeface="Inter" pitchFamily="34" charset="-122"/>
                <a:cs typeface="Inter" pitchFamily="34" charset="-120"/>
              </a:rPr>
              <a:t>→</a:t>
            </a:r>
            <a:endParaRPr lang="en-US" sz="1800" dirty="0"/>
          </a:p>
        </p:txBody>
      </p:sp>
      <p:sp>
        <p:nvSpPr>
          <p:cNvPr id="63" name="Shape 61"/>
          <p:cNvSpPr/>
          <p:nvPr/>
        </p:nvSpPr>
        <p:spPr>
          <a:xfrm>
            <a:off x="5071262" y="3108960"/>
            <a:ext cx="2046427" cy="1261872"/>
          </a:xfrm>
          <a:prstGeom prst="rect">
            <a:avLst/>
          </a:prstGeom>
          <a:solidFill>
            <a:srgbClr val="F7F7F7"/>
          </a:solidFill>
          <a:ln/>
        </p:spPr>
      </p:sp>
      <p:sp>
        <p:nvSpPr>
          <p:cNvPr id="64" name="Shape 62"/>
          <p:cNvSpPr/>
          <p:nvPr/>
        </p:nvSpPr>
        <p:spPr>
          <a:xfrm>
            <a:off x="5071262" y="3108960"/>
            <a:ext cx="64008" cy="1261872"/>
          </a:xfrm>
          <a:prstGeom prst="rect">
            <a:avLst/>
          </a:prstGeom>
          <a:solidFill>
            <a:srgbClr val="12A566"/>
          </a:solidFill>
          <a:ln/>
        </p:spPr>
      </p:sp>
      <p:sp>
        <p:nvSpPr>
          <p:cNvPr id="65" name="Text 63"/>
          <p:cNvSpPr txBox="1"/>
          <p:nvPr/>
        </p:nvSpPr>
        <p:spPr>
          <a:xfrm>
            <a:off x="5254142" y="3182112"/>
            <a:ext cx="1817827" cy="310896"/>
          </a:xfrm>
          <a:prstGeom prst="rect">
            <a:avLst/>
          </a:prstGeom>
          <a:noFill/>
          <a:ln/>
        </p:spPr>
        <p:txBody>
          <a:bodyPr wrap="non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GMC PRESCOTT</a:t>
            </a:r>
            <a:endParaRPr lang="en-US" sz="1300" dirty="0"/>
          </a:p>
        </p:txBody>
      </p:sp>
      <p:sp>
        <p:nvSpPr>
          <p:cNvPr id="66" name="Text 64"/>
          <p:cNvSpPr txBox="1"/>
          <p:nvPr/>
        </p:nvSpPr>
        <p:spPr>
          <a:xfrm>
            <a:off x="5254142" y="3493008"/>
            <a:ext cx="886054" cy="502920"/>
          </a:xfrm>
          <a:prstGeom prst="rect">
            <a:avLst/>
          </a:prstGeom>
          <a:noFill/>
          <a:ln/>
        </p:spPr>
        <p:txBody>
          <a:bodyPr wrap="none" lIns="0" tIns="0" rIns="0" bIns="0" rtlCol="0" anchor="ctr"/>
          <a:lstStyle/>
          <a:p>
            <a:pPr indent="0" marL="0">
              <a:buNone/>
            </a:pPr>
            <a:r>
              <a:rPr lang="en-US" sz="2200" b="1" dirty="0">
                <a:solidFill>
                  <a:srgbClr val="A82B26"/>
                </a:solidFill>
                <a:latin typeface="Inter" pitchFamily="34" charset="0"/>
                <a:ea typeface="Inter" pitchFamily="34" charset="-122"/>
                <a:cs typeface="Inter" pitchFamily="34" charset="-120"/>
              </a:rPr>
              <a:t>73%</a:t>
            </a:r>
            <a:endParaRPr lang="en-US" sz="2200" dirty="0"/>
          </a:p>
        </p:txBody>
      </p:sp>
      <p:sp>
        <p:nvSpPr>
          <p:cNvPr id="67" name="Text 65"/>
          <p:cNvSpPr txBox="1"/>
          <p:nvPr/>
        </p:nvSpPr>
        <p:spPr>
          <a:xfrm>
            <a:off x="5254142" y="3995928"/>
            <a:ext cx="886054" cy="292608"/>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today</a:t>
            </a:r>
            <a:endParaRPr lang="en-US" sz="1300" dirty="0"/>
          </a:p>
        </p:txBody>
      </p:sp>
      <p:sp>
        <p:nvSpPr>
          <p:cNvPr id="68" name="Text 66"/>
          <p:cNvSpPr txBox="1"/>
          <p:nvPr/>
        </p:nvSpPr>
        <p:spPr>
          <a:xfrm>
            <a:off x="6140196" y="3493008"/>
            <a:ext cx="886054" cy="502920"/>
          </a:xfrm>
          <a:prstGeom prst="rect">
            <a:avLst/>
          </a:prstGeom>
          <a:noFill/>
          <a:ln/>
        </p:spPr>
        <p:txBody>
          <a:bodyPr wrap="none" lIns="0" tIns="0" rIns="0" bIns="0" rtlCol="0" anchor="ctr"/>
          <a:lstStyle/>
          <a:p>
            <a:pPr indent="0" marL="0">
              <a:buNone/>
            </a:pPr>
            <a:r>
              <a:rPr lang="en-US" sz="2200" b="1" dirty="0">
                <a:solidFill>
                  <a:srgbClr val="0B7A4A"/>
                </a:solidFill>
                <a:latin typeface="Inter" pitchFamily="34" charset="0"/>
                <a:ea typeface="Inter" pitchFamily="34" charset="-122"/>
                <a:cs typeface="Inter" pitchFamily="34" charset="-120"/>
              </a:rPr>
              <a:t>103%</a:t>
            </a:r>
            <a:endParaRPr lang="en-US" sz="2200" dirty="0"/>
          </a:p>
        </p:txBody>
      </p:sp>
      <p:sp>
        <p:nvSpPr>
          <p:cNvPr id="69" name="Text 67"/>
          <p:cNvSpPr txBox="1"/>
          <p:nvPr/>
        </p:nvSpPr>
        <p:spPr>
          <a:xfrm>
            <a:off x="6140196" y="3995928"/>
            <a:ext cx="886054" cy="292608"/>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best techs</a:t>
            </a:r>
            <a:endParaRPr lang="en-US" sz="1300" dirty="0"/>
          </a:p>
        </p:txBody>
      </p:sp>
      <p:sp>
        <p:nvSpPr>
          <p:cNvPr id="70" name="Text 68"/>
          <p:cNvSpPr txBox="1"/>
          <p:nvPr/>
        </p:nvSpPr>
        <p:spPr>
          <a:xfrm>
            <a:off x="5847588" y="3493008"/>
            <a:ext cx="274320" cy="502920"/>
          </a:xfrm>
          <a:prstGeom prst="rect">
            <a:avLst/>
          </a:prstGeom>
          <a:noFill/>
          <a:ln/>
        </p:spPr>
        <p:txBody>
          <a:bodyPr wrap="square" lIns="0" tIns="0" rIns="0" bIns="0" rtlCol="0" anchor="ctr"/>
          <a:lstStyle/>
          <a:p>
            <a:pPr indent="0" marL="0">
              <a:buNone/>
            </a:pPr>
            <a:r>
              <a:rPr lang="en-US" sz="1800" dirty="0">
                <a:solidFill>
                  <a:srgbClr val="9AA3AD"/>
                </a:solidFill>
                <a:latin typeface="Inter" pitchFamily="34" charset="0"/>
                <a:ea typeface="Inter" pitchFamily="34" charset="-122"/>
                <a:cs typeface="Inter" pitchFamily="34" charset="-120"/>
              </a:rPr>
              <a:t>→</a:t>
            </a:r>
            <a:endParaRPr lang="en-US" sz="1800" dirty="0"/>
          </a:p>
        </p:txBody>
      </p:sp>
      <p:sp>
        <p:nvSpPr>
          <p:cNvPr id="71" name="Shape 69"/>
          <p:cNvSpPr/>
          <p:nvPr/>
        </p:nvSpPr>
        <p:spPr>
          <a:xfrm>
            <a:off x="7263994" y="3108960"/>
            <a:ext cx="2046427" cy="1261872"/>
          </a:xfrm>
          <a:prstGeom prst="rect">
            <a:avLst/>
          </a:prstGeom>
          <a:solidFill>
            <a:srgbClr val="F7F7F7"/>
          </a:solidFill>
          <a:ln/>
        </p:spPr>
      </p:sp>
      <p:sp>
        <p:nvSpPr>
          <p:cNvPr id="72" name="Shape 70"/>
          <p:cNvSpPr/>
          <p:nvPr/>
        </p:nvSpPr>
        <p:spPr>
          <a:xfrm>
            <a:off x="7263994" y="3108960"/>
            <a:ext cx="64008" cy="1261872"/>
          </a:xfrm>
          <a:prstGeom prst="rect">
            <a:avLst/>
          </a:prstGeom>
          <a:solidFill>
            <a:srgbClr val="12A566"/>
          </a:solidFill>
          <a:ln/>
        </p:spPr>
      </p:sp>
      <p:sp>
        <p:nvSpPr>
          <p:cNvPr id="73" name="Text 71"/>
          <p:cNvSpPr txBox="1"/>
          <p:nvPr/>
        </p:nvSpPr>
        <p:spPr>
          <a:xfrm>
            <a:off x="7446874" y="3182112"/>
            <a:ext cx="1817827" cy="310896"/>
          </a:xfrm>
          <a:prstGeom prst="rect">
            <a:avLst/>
          </a:prstGeom>
          <a:noFill/>
          <a:ln/>
        </p:spPr>
        <p:txBody>
          <a:bodyPr wrap="non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KIA LV</a:t>
            </a:r>
            <a:endParaRPr lang="en-US" sz="1300" dirty="0"/>
          </a:p>
        </p:txBody>
      </p:sp>
      <p:sp>
        <p:nvSpPr>
          <p:cNvPr id="74" name="Text 72"/>
          <p:cNvSpPr txBox="1"/>
          <p:nvPr/>
        </p:nvSpPr>
        <p:spPr>
          <a:xfrm>
            <a:off x="7446874" y="3493008"/>
            <a:ext cx="886054" cy="502920"/>
          </a:xfrm>
          <a:prstGeom prst="rect">
            <a:avLst/>
          </a:prstGeom>
          <a:noFill/>
          <a:ln/>
        </p:spPr>
        <p:txBody>
          <a:bodyPr wrap="none" lIns="0" tIns="0" rIns="0" bIns="0" rtlCol="0" anchor="ctr"/>
          <a:lstStyle/>
          <a:p>
            <a:pPr indent="0" marL="0">
              <a:buNone/>
            </a:pPr>
            <a:r>
              <a:rPr lang="en-US" sz="2200" b="1" dirty="0">
                <a:solidFill>
                  <a:srgbClr val="A82B26"/>
                </a:solidFill>
                <a:latin typeface="Inter" pitchFamily="34" charset="0"/>
                <a:ea typeface="Inter" pitchFamily="34" charset="-122"/>
                <a:cs typeface="Inter" pitchFamily="34" charset="-120"/>
              </a:rPr>
              <a:t>76%</a:t>
            </a:r>
            <a:endParaRPr lang="en-US" sz="2200" dirty="0"/>
          </a:p>
        </p:txBody>
      </p:sp>
      <p:sp>
        <p:nvSpPr>
          <p:cNvPr id="75" name="Text 73"/>
          <p:cNvSpPr txBox="1"/>
          <p:nvPr/>
        </p:nvSpPr>
        <p:spPr>
          <a:xfrm>
            <a:off x="7446874" y="3995928"/>
            <a:ext cx="886054" cy="292608"/>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today</a:t>
            </a:r>
            <a:endParaRPr lang="en-US" sz="1300" dirty="0"/>
          </a:p>
        </p:txBody>
      </p:sp>
      <p:sp>
        <p:nvSpPr>
          <p:cNvPr id="76" name="Text 74"/>
          <p:cNvSpPr txBox="1"/>
          <p:nvPr/>
        </p:nvSpPr>
        <p:spPr>
          <a:xfrm>
            <a:off x="8332927" y="3493008"/>
            <a:ext cx="886054" cy="502920"/>
          </a:xfrm>
          <a:prstGeom prst="rect">
            <a:avLst/>
          </a:prstGeom>
          <a:noFill/>
          <a:ln/>
        </p:spPr>
        <p:txBody>
          <a:bodyPr wrap="none" lIns="0" tIns="0" rIns="0" bIns="0" rtlCol="0" anchor="ctr"/>
          <a:lstStyle/>
          <a:p>
            <a:pPr indent="0" marL="0">
              <a:buNone/>
            </a:pPr>
            <a:r>
              <a:rPr lang="en-US" sz="2200" b="1" dirty="0">
                <a:solidFill>
                  <a:srgbClr val="0B7A4A"/>
                </a:solidFill>
                <a:latin typeface="Inter" pitchFamily="34" charset="0"/>
                <a:ea typeface="Inter" pitchFamily="34" charset="-122"/>
                <a:cs typeface="Inter" pitchFamily="34" charset="-120"/>
              </a:rPr>
              <a:t>100%</a:t>
            </a:r>
            <a:endParaRPr lang="en-US" sz="2200" dirty="0"/>
          </a:p>
        </p:txBody>
      </p:sp>
      <p:sp>
        <p:nvSpPr>
          <p:cNvPr id="77" name="Text 75"/>
          <p:cNvSpPr txBox="1"/>
          <p:nvPr/>
        </p:nvSpPr>
        <p:spPr>
          <a:xfrm>
            <a:off x="8332927" y="3995928"/>
            <a:ext cx="886054" cy="292608"/>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best techs</a:t>
            </a:r>
            <a:endParaRPr lang="en-US" sz="1300" dirty="0"/>
          </a:p>
        </p:txBody>
      </p:sp>
      <p:sp>
        <p:nvSpPr>
          <p:cNvPr id="78" name="Text 76"/>
          <p:cNvSpPr txBox="1"/>
          <p:nvPr/>
        </p:nvSpPr>
        <p:spPr>
          <a:xfrm>
            <a:off x="8040319" y="3493008"/>
            <a:ext cx="274320" cy="502920"/>
          </a:xfrm>
          <a:prstGeom prst="rect">
            <a:avLst/>
          </a:prstGeom>
          <a:noFill/>
          <a:ln/>
        </p:spPr>
        <p:txBody>
          <a:bodyPr wrap="square" lIns="0" tIns="0" rIns="0" bIns="0" rtlCol="0" anchor="ctr"/>
          <a:lstStyle/>
          <a:p>
            <a:pPr indent="0" marL="0">
              <a:buNone/>
            </a:pPr>
            <a:r>
              <a:rPr lang="en-US" sz="1800" dirty="0">
                <a:solidFill>
                  <a:srgbClr val="9AA3AD"/>
                </a:solidFill>
                <a:latin typeface="Inter" pitchFamily="34" charset="0"/>
                <a:ea typeface="Inter" pitchFamily="34" charset="-122"/>
                <a:cs typeface="Inter" pitchFamily="34" charset="-120"/>
              </a:rPr>
              <a:t>→</a:t>
            </a:r>
            <a:endParaRPr lang="en-US" sz="1800" dirty="0"/>
          </a:p>
        </p:txBody>
      </p:sp>
      <p:sp>
        <p:nvSpPr>
          <p:cNvPr id="79" name="Shape 77"/>
          <p:cNvSpPr/>
          <p:nvPr/>
        </p:nvSpPr>
        <p:spPr>
          <a:xfrm>
            <a:off x="9456725" y="3108960"/>
            <a:ext cx="2046427" cy="1261872"/>
          </a:xfrm>
          <a:prstGeom prst="rect">
            <a:avLst/>
          </a:prstGeom>
          <a:solidFill>
            <a:srgbClr val="F7F7F7"/>
          </a:solidFill>
          <a:ln/>
        </p:spPr>
      </p:sp>
      <p:sp>
        <p:nvSpPr>
          <p:cNvPr id="80" name="Shape 78"/>
          <p:cNvSpPr/>
          <p:nvPr/>
        </p:nvSpPr>
        <p:spPr>
          <a:xfrm>
            <a:off x="9456725" y="3108960"/>
            <a:ext cx="64008" cy="1261872"/>
          </a:xfrm>
          <a:prstGeom prst="rect">
            <a:avLst/>
          </a:prstGeom>
          <a:solidFill>
            <a:srgbClr val="12A566"/>
          </a:solidFill>
          <a:ln/>
        </p:spPr>
      </p:sp>
      <p:sp>
        <p:nvSpPr>
          <p:cNvPr id="81" name="Text 79"/>
          <p:cNvSpPr txBox="1"/>
          <p:nvPr/>
        </p:nvSpPr>
        <p:spPr>
          <a:xfrm>
            <a:off x="9639605" y="3182112"/>
            <a:ext cx="1817827" cy="310896"/>
          </a:xfrm>
          <a:prstGeom prst="rect">
            <a:avLst/>
          </a:prstGeom>
          <a:noFill/>
          <a:ln/>
        </p:spPr>
        <p:txBody>
          <a:bodyPr wrap="non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HONDA FLAGSTAFF</a:t>
            </a:r>
            <a:endParaRPr lang="en-US" sz="1300" dirty="0"/>
          </a:p>
        </p:txBody>
      </p:sp>
      <p:sp>
        <p:nvSpPr>
          <p:cNvPr id="82" name="Text 80"/>
          <p:cNvSpPr txBox="1"/>
          <p:nvPr/>
        </p:nvSpPr>
        <p:spPr>
          <a:xfrm>
            <a:off x="9639605" y="3493008"/>
            <a:ext cx="886054" cy="502920"/>
          </a:xfrm>
          <a:prstGeom prst="rect">
            <a:avLst/>
          </a:prstGeom>
          <a:noFill/>
          <a:ln/>
        </p:spPr>
        <p:txBody>
          <a:bodyPr wrap="none" lIns="0" tIns="0" rIns="0" bIns="0" rtlCol="0" anchor="ctr"/>
          <a:lstStyle/>
          <a:p>
            <a:pPr indent="0" marL="0">
              <a:buNone/>
            </a:pPr>
            <a:r>
              <a:rPr lang="en-US" sz="2200" b="1" dirty="0">
                <a:solidFill>
                  <a:srgbClr val="A82B26"/>
                </a:solidFill>
                <a:latin typeface="Inter" pitchFamily="34" charset="0"/>
                <a:ea typeface="Inter" pitchFamily="34" charset="-122"/>
                <a:cs typeface="Inter" pitchFamily="34" charset="-120"/>
              </a:rPr>
              <a:t>78%</a:t>
            </a:r>
            <a:endParaRPr lang="en-US" sz="2200" dirty="0"/>
          </a:p>
        </p:txBody>
      </p:sp>
      <p:sp>
        <p:nvSpPr>
          <p:cNvPr id="83" name="Text 81"/>
          <p:cNvSpPr txBox="1"/>
          <p:nvPr/>
        </p:nvSpPr>
        <p:spPr>
          <a:xfrm>
            <a:off x="9639605" y="3995928"/>
            <a:ext cx="886054" cy="292608"/>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today</a:t>
            </a:r>
            <a:endParaRPr lang="en-US" sz="1300" dirty="0"/>
          </a:p>
        </p:txBody>
      </p:sp>
      <p:sp>
        <p:nvSpPr>
          <p:cNvPr id="84" name="Text 82"/>
          <p:cNvSpPr txBox="1"/>
          <p:nvPr/>
        </p:nvSpPr>
        <p:spPr>
          <a:xfrm>
            <a:off x="10525658" y="3493008"/>
            <a:ext cx="886054" cy="502920"/>
          </a:xfrm>
          <a:prstGeom prst="rect">
            <a:avLst/>
          </a:prstGeom>
          <a:noFill/>
          <a:ln/>
        </p:spPr>
        <p:txBody>
          <a:bodyPr wrap="none" lIns="0" tIns="0" rIns="0" bIns="0" rtlCol="0" anchor="ctr"/>
          <a:lstStyle/>
          <a:p>
            <a:pPr indent="0" marL="0">
              <a:buNone/>
            </a:pPr>
            <a:r>
              <a:rPr lang="en-US" sz="2200" b="1" dirty="0">
                <a:solidFill>
                  <a:srgbClr val="0B7A4A"/>
                </a:solidFill>
                <a:latin typeface="Inter" pitchFamily="34" charset="0"/>
                <a:ea typeface="Inter" pitchFamily="34" charset="-122"/>
                <a:cs typeface="Inter" pitchFamily="34" charset="-120"/>
              </a:rPr>
              <a:t>130%</a:t>
            </a:r>
            <a:endParaRPr lang="en-US" sz="2200" dirty="0"/>
          </a:p>
        </p:txBody>
      </p:sp>
      <p:sp>
        <p:nvSpPr>
          <p:cNvPr id="85" name="Text 83"/>
          <p:cNvSpPr txBox="1"/>
          <p:nvPr/>
        </p:nvSpPr>
        <p:spPr>
          <a:xfrm>
            <a:off x="10525658" y="3995928"/>
            <a:ext cx="886054" cy="292608"/>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best techs</a:t>
            </a:r>
            <a:endParaRPr lang="en-US" sz="1300" dirty="0"/>
          </a:p>
        </p:txBody>
      </p:sp>
      <p:sp>
        <p:nvSpPr>
          <p:cNvPr id="86" name="Text 84"/>
          <p:cNvSpPr txBox="1"/>
          <p:nvPr/>
        </p:nvSpPr>
        <p:spPr>
          <a:xfrm>
            <a:off x="10233050" y="3493008"/>
            <a:ext cx="274320" cy="502920"/>
          </a:xfrm>
          <a:prstGeom prst="rect">
            <a:avLst/>
          </a:prstGeom>
          <a:noFill/>
          <a:ln/>
        </p:spPr>
        <p:txBody>
          <a:bodyPr wrap="square" lIns="0" tIns="0" rIns="0" bIns="0" rtlCol="0" anchor="ctr"/>
          <a:lstStyle/>
          <a:p>
            <a:pPr indent="0" marL="0">
              <a:buNone/>
            </a:pPr>
            <a:r>
              <a:rPr lang="en-US" sz="1800" dirty="0">
                <a:solidFill>
                  <a:srgbClr val="9AA3AD"/>
                </a:solidFill>
                <a:latin typeface="Inter" pitchFamily="34" charset="0"/>
                <a:ea typeface="Inter" pitchFamily="34" charset="-122"/>
                <a:cs typeface="Inter" pitchFamily="34" charset="-120"/>
              </a:rPr>
              <a:t>→</a:t>
            </a:r>
            <a:endParaRPr lang="en-US" sz="1800" dirty="0"/>
          </a:p>
        </p:txBody>
      </p:sp>
      <p:sp>
        <p:nvSpPr>
          <p:cNvPr id="87" name="Shape 85"/>
          <p:cNvSpPr/>
          <p:nvPr/>
        </p:nvSpPr>
        <p:spPr>
          <a:xfrm>
            <a:off x="685800" y="4462272"/>
            <a:ext cx="2046427" cy="1261872"/>
          </a:xfrm>
          <a:prstGeom prst="rect">
            <a:avLst/>
          </a:prstGeom>
          <a:solidFill>
            <a:srgbClr val="F7F7F7"/>
          </a:solidFill>
          <a:ln/>
        </p:spPr>
      </p:sp>
      <p:sp>
        <p:nvSpPr>
          <p:cNvPr id="88" name="Shape 86"/>
          <p:cNvSpPr/>
          <p:nvPr/>
        </p:nvSpPr>
        <p:spPr>
          <a:xfrm>
            <a:off x="685800" y="4462272"/>
            <a:ext cx="64008" cy="1261872"/>
          </a:xfrm>
          <a:prstGeom prst="rect">
            <a:avLst/>
          </a:prstGeom>
          <a:solidFill>
            <a:srgbClr val="12A566"/>
          </a:solidFill>
          <a:ln/>
        </p:spPr>
      </p:sp>
      <p:sp>
        <p:nvSpPr>
          <p:cNvPr id="89" name="Text 87"/>
          <p:cNvSpPr txBox="1"/>
          <p:nvPr/>
        </p:nvSpPr>
        <p:spPr>
          <a:xfrm>
            <a:off x="868680" y="4535424"/>
            <a:ext cx="1817827" cy="310896"/>
          </a:xfrm>
          <a:prstGeom prst="rect">
            <a:avLst/>
          </a:prstGeom>
          <a:noFill/>
          <a:ln/>
        </p:spPr>
        <p:txBody>
          <a:bodyPr wrap="non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HYUNDAI PRESCOTT</a:t>
            </a:r>
            <a:endParaRPr lang="en-US" sz="1300" dirty="0"/>
          </a:p>
        </p:txBody>
      </p:sp>
      <p:sp>
        <p:nvSpPr>
          <p:cNvPr id="90" name="Text 88"/>
          <p:cNvSpPr txBox="1"/>
          <p:nvPr/>
        </p:nvSpPr>
        <p:spPr>
          <a:xfrm>
            <a:off x="868680" y="4846320"/>
            <a:ext cx="886054" cy="502920"/>
          </a:xfrm>
          <a:prstGeom prst="rect">
            <a:avLst/>
          </a:prstGeom>
          <a:noFill/>
          <a:ln/>
        </p:spPr>
        <p:txBody>
          <a:bodyPr wrap="none" lIns="0" tIns="0" rIns="0" bIns="0" rtlCol="0" anchor="ctr"/>
          <a:lstStyle/>
          <a:p>
            <a:pPr indent="0" marL="0">
              <a:buNone/>
            </a:pPr>
            <a:r>
              <a:rPr lang="en-US" sz="2200" b="1" dirty="0">
                <a:solidFill>
                  <a:srgbClr val="A82B26"/>
                </a:solidFill>
                <a:latin typeface="Inter" pitchFamily="34" charset="0"/>
                <a:ea typeface="Inter" pitchFamily="34" charset="-122"/>
                <a:cs typeface="Inter" pitchFamily="34" charset="-120"/>
              </a:rPr>
              <a:t>78%</a:t>
            </a:r>
            <a:endParaRPr lang="en-US" sz="2200" dirty="0"/>
          </a:p>
        </p:txBody>
      </p:sp>
      <p:sp>
        <p:nvSpPr>
          <p:cNvPr id="91" name="Text 89"/>
          <p:cNvSpPr txBox="1"/>
          <p:nvPr/>
        </p:nvSpPr>
        <p:spPr>
          <a:xfrm>
            <a:off x="868680" y="5349240"/>
            <a:ext cx="886054" cy="292608"/>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today</a:t>
            </a:r>
            <a:endParaRPr lang="en-US" sz="1300" dirty="0"/>
          </a:p>
        </p:txBody>
      </p:sp>
      <p:sp>
        <p:nvSpPr>
          <p:cNvPr id="92" name="Text 90"/>
          <p:cNvSpPr txBox="1"/>
          <p:nvPr/>
        </p:nvSpPr>
        <p:spPr>
          <a:xfrm>
            <a:off x="1754734" y="4846320"/>
            <a:ext cx="886054" cy="502920"/>
          </a:xfrm>
          <a:prstGeom prst="rect">
            <a:avLst/>
          </a:prstGeom>
          <a:noFill/>
          <a:ln/>
        </p:spPr>
        <p:txBody>
          <a:bodyPr wrap="none" lIns="0" tIns="0" rIns="0" bIns="0" rtlCol="0" anchor="ctr"/>
          <a:lstStyle/>
          <a:p>
            <a:pPr indent="0" marL="0">
              <a:buNone/>
            </a:pPr>
            <a:r>
              <a:rPr lang="en-US" sz="2200" b="1" dirty="0">
                <a:solidFill>
                  <a:srgbClr val="0B7A4A"/>
                </a:solidFill>
                <a:latin typeface="Inter" pitchFamily="34" charset="0"/>
                <a:ea typeface="Inter" pitchFamily="34" charset="-122"/>
                <a:cs typeface="Inter" pitchFamily="34" charset="-120"/>
              </a:rPr>
              <a:t>112%</a:t>
            </a:r>
            <a:endParaRPr lang="en-US" sz="2200" dirty="0"/>
          </a:p>
        </p:txBody>
      </p:sp>
      <p:sp>
        <p:nvSpPr>
          <p:cNvPr id="93" name="Text 91"/>
          <p:cNvSpPr txBox="1"/>
          <p:nvPr/>
        </p:nvSpPr>
        <p:spPr>
          <a:xfrm>
            <a:off x="1754734" y="5349240"/>
            <a:ext cx="886054" cy="292608"/>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best techs</a:t>
            </a:r>
            <a:endParaRPr lang="en-US" sz="1300" dirty="0"/>
          </a:p>
        </p:txBody>
      </p:sp>
      <p:sp>
        <p:nvSpPr>
          <p:cNvPr id="94" name="Text 92"/>
          <p:cNvSpPr txBox="1"/>
          <p:nvPr/>
        </p:nvSpPr>
        <p:spPr>
          <a:xfrm>
            <a:off x="1462126" y="4846320"/>
            <a:ext cx="274320" cy="502920"/>
          </a:xfrm>
          <a:prstGeom prst="rect">
            <a:avLst/>
          </a:prstGeom>
          <a:noFill/>
          <a:ln/>
        </p:spPr>
        <p:txBody>
          <a:bodyPr wrap="square" lIns="0" tIns="0" rIns="0" bIns="0" rtlCol="0" anchor="ctr"/>
          <a:lstStyle/>
          <a:p>
            <a:pPr indent="0" marL="0">
              <a:buNone/>
            </a:pPr>
            <a:r>
              <a:rPr lang="en-US" sz="1800" dirty="0">
                <a:solidFill>
                  <a:srgbClr val="9AA3AD"/>
                </a:solidFill>
                <a:latin typeface="Inter" pitchFamily="34" charset="0"/>
                <a:ea typeface="Inter" pitchFamily="34" charset="-122"/>
                <a:cs typeface="Inter" pitchFamily="34" charset="-120"/>
              </a:rPr>
              <a:t>→</a:t>
            </a:r>
            <a:endParaRPr lang="en-US" sz="1800" dirty="0"/>
          </a:p>
        </p:txBody>
      </p:sp>
      <p:sp>
        <p:nvSpPr>
          <p:cNvPr id="95" name="Shape 93"/>
          <p:cNvSpPr/>
          <p:nvPr/>
        </p:nvSpPr>
        <p:spPr>
          <a:xfrm>
            <a:off x="2878531" y="4462272"/>
            <a:ext cx="2046427" cy="1261872"/>
          </a:xfrm>
          <a:prstGeom prst="rect">
            <a:avLst/>
          </a:prstGeom>
          <a:solidFill>
            <a:srgbClr val="F7F7F7"/>
          </a:solidFill>
          <a:ln/>
        </p:spPr>
      </p:sp>
      <p:sp>
        <p:nvSpPr>
          <p:cNvPr id="96" name="Shape 94"/>
          <p:cNvSpPr/>
          <p:nvPr/>
        </p:nvSpPr>
        <p:spPr>
          <a:xfrm>
            <a:off x="2878531" y="4462272"/>
            <a:ext cx="64008" cy="1261872"/>
          </a:xfrm>
          <a:prstGeom prst="rect">
            <a:avLst/>
          </a:prstGeom>
          <a:solidFill>
            <a:srgbClr val="12A566"/>
          </a:solidFill>
          <a:ln/>
        </p:spPr>
      </p:sp>
      <p:sp>
        <p:nvSpPr>
          <p:cNvPr id="97" name="Text 95"/>
          <p:cNvSpPr txBox="1"/>
          <p:nvPr/>
        </p:nvSpPr>
        <p:spPr>
          <a:xfrm>
            <a:off x="3061411" y="4535424"/>
            <a:ext cx="1817827" cy="310896"/>
          </a:xfrm>
          <a:prstGeom prst="rect">
            <a:avLst/>
          </a:prstGeom>
          <a:noFill/>
          <a:ln/>
        </p:spPr>
        <p:txBody>
          <a:bodyPr wrap="non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LR RENO</a:t>
            </a:r>
            <a:endParaRPr lang="en-US" sz="1300" dirty="0"/>
          </a:p>
        </p:txBody>
      </p:sp>
      <p:sp>
        <p:nvSpPr>
          <p:cNvPr id="98" name="Text 96"/>
          <p:cNvSpPr txBox="1"/>
          <p:nvPr/>
        </p:nvSpPr>
        <p:spPr>
          <a:xfrm>
            <a:off x="3061411" y="4846320"/>
            <a:ext cx="886054" cy="502920"/>
          </a:xfrm>
          <a:prstGeom prst="rect">
            <a:avLst/>
          </a:prstGeom>
          <a:noFill/>
          <a:ln/>
        </p:spPr>
        <p:txBody>
          <a:bodyPr wrap="none" lIns="0" tIns="0" rIns="0" bIns="0" rtlCol="0" anchor="ctr"/>
          <a:lstStyle/>
          <a:p>
            <a:pPr indent="0" marL="0">
              <a:buNone/>
            </a:pPr>
            <a:r>
              <a:rPr lang="en-US" sz="2200" b="1" dirty="0">
                <a:solidFill>
                  <a:srgbClr val="A82B26"/>
                </a:solidFill>
                <a:latin typeface="Inter" pitchFamily="34" charset="0"/>
                <a:ea typeface="Inter" pitchFamily="34" charset="-122"/>
                <a:cs typeface="Inter" pitchFamily="34" charset="-120"/>
              </a:rPr>
              <a:t>81%</a:t>
            </a:r>
            <a:endParaRPr lang="en-US" sz="2200" dirty="0"/>
          </a:p>
        </p:txBody>
      </p:sp>
      <p:sp>
        <p:nvSpPr>
          <p:cNvPr id="99" name="Text 97"/>
          <p:cNvSpPr txBox="1"/>
          <p:nvPr/>
        </p:nvSpPr>
        <p:spPr>
          <a:xfrm>
            <a:off x="3061411" y="5349240"/>
            <a:ext cx="886054" cy="292608"/>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today</a:t>
            </a:r>
            <a:endParaRPr lang="en-US" sz="1300" dirty="0"/>
          </a:p>
        </p:txBody>
      </p:sp>
      <p:sp>
        <p:nvSpPr>
          <p:cNvPr id="100" name="Text 98"/>
          <p:cNvSpPr txBox="1"/>
          <p:nvPr/>
        </p:nvSpPr>
        <p:spPr>
          <a:xfrm>
            <a:off x="3947465" y="4846320"/>
            <a:ext cx="886054" cy="502920"/>
          </a:xfrm>
          <a:prstGeom prst="rect">
            <a:avLst/>
          </a:prstGeom>
          <a:noFill/>
          <a:ln/>
        </p:spPr>
        <p:txBody>
          <a:bodyPr wrap="none" lIns="0" tIns="0" rIns="0" bIns="0" rtlCol="0" anchor="ctr"/>
          <a:lstStyle/>
          <a:p>
            <a:pPr indent="0" marL="0">
              <a:buNone/>
            </a:pPr>
            <a:r>
              <a:rPr lang="en-US" sz="2200" b="1" dirty="0">
                <a:solidFill>
                  <a:srgbClr val="0B7A4A"/>
                </a:solidFill>
                <a:latin typeface="Inter" pitchFamily="34" charset="0"/>
                <a:ea typeface="Inter" pitchFamily="34" charset="-122"/>
                <a:cs typeface="Inter" pitchFamily="34" charset="-120"/>
              </a:rPr>
              <a:t>96%</a:t>
            </a:r>
            <a:endParaRPr lang="en-US" sz="2200" dirty="0"/>
          </a:p>
        </p:txBody>
      </p:sp>
      <p:sp>
        <p:nvSpPr>
          <p:cNvPr id="101" name="Text 99"/>
          <p:cNvSpPr txBox="1"/>
          <p:nvPr/>
        </p:nvSpPr>
        <p:spPr>
          <a:xfrm>
            <a:off x="3947465" y="5349240"/>
            <a:ext cx="886054" cy="292608"/>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best techs</a:t>
            </a:r>
            <a:endParaRPr lang="en-US" sz="1300" dirty="0"/>
          </a:p>
        </p:txBody>
      </p:sp>
      <p:sp>
        <p:nvSpPr>
          <p:cNvPr id="102" name="Text 100"/>
          <p:cNvSpPr txBox="1"/>
          <p:nvPr/>
        </p:nvSpPr>
        <p:spPr>
          <a:xfrm>
            <a:off x="3654857" y="4846320"/>
            <a:ext cx="274320" cy="502920"/>
          </a:xfrm>
          <a:prstGeom prst="rect">
            <a:avLst/>
          </a:prstGeom>
          <a:noFill/>
          <a:ln/>
        </p:spPr>
        <p:txBody>
          <a:bodyPr wrap="square" lIns="0" tIns="0" rIns="0" bIns="0" rtlCol="0" anchor="ctr"/>
          <a:lstStyle/>
          <a:p>
            <a:pPr indent="0" marL="0">
              <a:buNone/>
            </a:pPr>
            <a:r>
              <a:rPr lang="en-US" sz="1800" dirty="0">
                <a:solidFill>
                  <a:srgbClr val="9AA3AD"/>
                </a:solidFill>
                <a:latin typeface="Inter" pitchFamily="34" charset="0"/>
                <a:ea typeface="Inter" pitchFamily="34" charset="-122"/>
                <a:cs typeface="Inter" pitchFamily="34" charset="-120"/>
              </a:rPr>
              <a:t>→</a:t>
            </a:r>
            <a:endParaRPr lang="en-US" sz="1800" dirty="0"/>
          </a:p>
        </p:txBody>
      </p:sp>
      <p:sp>
        <p:nvSpPr>
          <p:cNvPr id="103" name="Shape 101"/>
          <p:cNvSpPr/>
          <p:nvPr/>
        </p:nvSpPr>
        <p:spPr>
          <a:xfrm>
            <a:off x="5071262" y="4462272"/>
            <a:ext cx="2046427" cy="1261872"/>
          </a:xfrm>
          <a:prstGeom prst="rect">
            <a:avLst/>
          </a:prstGeom>
          <a:solidFill>
            <a:srgbClr val="F7F7F7"/>
          </a:solidFill>
          <a:ln/>
        </p:spPr>
      </p:sp>
      <p:sp>
        <p:nvSpPr>
          <p:cNvPr id="104" name="Shape 102"/>
          <p:cNvSpPr/>
          <p:nvPr/>
        </p:nvSpPr>
        <p:spPr>
          <a:xfrm>
            <a:off x="5071262" y="4462272"/>
            <a:ext cx="64008" cy="1261872"/>
          </a:xfrm>
          <a:prstGeom prst="rect">
            <a:avLst/>
          </a:prstGeom>
          <a:solidFill>
            <a:srgbClr val="12A566"/>
          </a:solidFill>
          <a:ln/>
        </p:spPr>
      </p:sp>
      <p:sp>
        <p:nvSpPr>
          <p:cNvPr id="105" name="Text 103"/>
          <p:cNvSpPr txBox="1"/>
          <p:nvPr/>
        </p:nvSpPr>
        <p:spPr>
          <a:xfrm>
            <a:off x="5254142" y="4535424"/>
            <a:ext cx="1817827" cy="310896"/>
          </a:xfrm>
          <a:prstGeom prst="rect">
            <a:avLst/>
          </a:prstGeom>
          <a:noFill/>
          <a:ln/>
        </p:spPr>
        <p:txBody>
          <a:bodyPr wrap="none" lIns="0" tIns="0" rIns="0" bIns="0" rtlCol="0" anchor="ctr">
            <a:normAutofit/>
          </a:bodyPr>
          <a:lstStyle/>
          <a:p>
            <a:pPr indent="0" marL="0">
              <a:buNone/>
            </a:pPr>
            <a:r>
              <a:rPr lang="en-US" sz="1300" b="1" dirty="0">
                <a:solidFill>
                  <a:srgbClr val="1A1A1A"/>
                </a:solidFill>
                <a:latin typeface="Inter" pitchFamily="34" charset="0"/>
                <a:ea typeface="Inter" pitchFamily="34" charset="-122"/>
                <a:cs typeface="Inter" pitchFamily="34" charset="-120"/>
              </a:rPr>
              <a:t>TOYOTA PRESCOTT</a:t>
            </a:r>
            <a:endParaRPr lang="en-US" sz="1300" dirty="0"/>
          </a:p>
        </p:txBody>
      </p:sp>
      <p:sp>
        <p:nvSpPr>
          <p:cNvPr id="106" name="Text 104"/>
          <p:cNvSpPr txBox="1"/>
          <p:nvPr/>
        </p:nvSpPr>
        <p:spPr>
          <a:xfrm>
            <a:off x="5254142" y="4846320"/>
            <a:ext cx="886054" cy="502920"/>
          </a:xfrm>
          <a:prstGeom prst="rect">
            <a:avLst/>
          </a:prstGeom>
          <a:noFill/>
          <a:ln/>
        </p:spPr>
        <p:txBody>
          <a:bodyPr wrap="none" lIns="0" tIns="0" rIns="0" bIns="0" rtlCol="0" anchor="ctr"/>
          <a:lstStyle/>
          <a:p>
            <a:pPr indent="0" marL="0">
              <a:buNone/>
            </a:pPr>
            <a:r>
              <a:rPr lang="en-US" sz="2200" b="1" dirty="0">
                <a:solidFill>
                  <a:srgbClr val="A82B26"/>
                </a:solidFill>
                <a:latin typeface="Inter" pitchFamily="34" charset="0"/>
                <a:ea typeface="Inter" pitchFamily="34" charset="-122"/>
                <a:cs typeface="Inter" pitchFamily="34" charset="-120"/>
              </a:rPr>
              <a:t>83%</a:t>
            </a:r>
            <a:endParaRPr lang="en-US" sz="2200" dirty="0"/>
          </a:p>
        </p:txBody>
      </p:sp>
      <p:sp>
        <p:nvSpPr>
          <p:cNvPr id="107" name="Text 105"/>
          <p:cNvSpPr txBox="1"/>
          <p:nvPr/>
        </p:nvSpPr>
        <p:spPr>
          <a:xfrm>
            <a:off x="5254142" y="5349240"/>
            <a:ext cx="886054" cy="292608"/>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today</a:t>
            </a:r>
            <a:endParaRPr lang="en-US" sz="1300" dirty="0"/>
          </a:p>
        </p:txBody>
      </p:sp>
      <p:sp>
        <p:nvSpPr>
          <p:cNvPr id="108" name="Text 106"/>
          <p:cNvSpPr txBox="1"/>
          <p:nvPr/>
        </p:nvSpPr>
        <p:spPr>
          <a:xfrm>
            <a:off x="6140196" y="4846320"/>
            <a:ext cx="886054" cy="502920"/>
          </a:xfrm>
          <a:prstGeom prst="rect">
            <a:avLst/>
          </a:prstGeom>
          <a:noFill/>
          <a:ln/>
        </p:spPr>
        <p:txBody>
          <a:bodyPr wrap="none" lIns="0" tIns="0" rIns="0" bIns="0" rtlCol="0" anchor="ctr"/>
          <a:lstStyle/>
          <a:p>
            <a:pPr indent="0" marL="0">
              <a:buNone/>
            </a:pPr>
            <a:r>
              <a:rPr lang="en-US" sz="2200" b="1" dirty="0">
                <a:solidFill>
                  <a:srgbClr val="0B7A4A"/>
                </a:solidFill>
                <a:latin typeface="Inter" pitchFamily="34" charset="0"/>
                <a:ea typeface="Inter" pitchFamily="34" charset="-122"/>
                <a:cs typeface="Inter" pitchFamily="34" charset="-120"/>
              </a:rPr>
              <a:t>117%</a:t>
            </a:r>
            <a:endParaRPr lang="en-US" sz="2200" dirty="0"/>
          </a:p>
        </p:txBody>
      </p:sp>
      <p:sp>
        <p:nvSpPr>
          <p:cNvPr id="109" name="Text 107"/>
          <p:cNvSpPr txBox="1"/>
          <p:nvPr/>
        </p:nvSpPr>
        <p:spPr>
          <a:xfrm>
            <a:off x="6140196" y="5349240"/>
            <a:ext cx="886054" cy="292608"/>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best techs</a:t>
            </a:r>
            <a:endParaRPr lang="en-US" sz="1300" dirty="0"/>
          </a:p>
        </p:txBody>
      </p:sp>
      <p:sp>
        <p:nvSpPr>
          <p:cNvPr id="110" name="Text 108"/>
          <p:cNvSpPr txBox="1"/>
          <p:nvPr/>
        </p:nvSpPr>
        <p:spPr>
          <a:xfrm>
            <a:off x="5847588" y="4846320"/>
            <a:ext cx="274320" cy="502920"/>
          </a:xfrm>
          <a:prstGeom prst="rect">
            <a:avLst/>
          </a:prstGeom>
          <a:noFill/>
          <a:ln/>
        </p:spPr>
        <p:txBody>
          <a:bodyPr wrap="square" lIns="0" tIns="0" rIns="0" bIns="0" rtlCol="0" anchor="ctr"/>
          <a:lstStyle/>
          <a:p>
            <a:pPr indent="0" marL="0">
              <a:buNone/>
            </a:pPr>
            <a:r>
              <a:rPr lang="en-US" sz="1800" dirty="0">
                <a:solidFill>
                  <a:srgbClr val="9AA3AD"/>
                </a:solidFill>
                <a:latin typeface="Inter" pitchFamily="34" charset="0"/>
                <a:ea typeface="Inter" pitchFamily="34" charset="-122"/>
                <a:cs typeface="Inter" pitchFamily="34" charset="-120"/>
              </a:rPr>
              <a:t>→</a:t>
            </a:r>
            <a:endParaRPr lang="en-US" sz="1800" dirty="0"/>
          </a:p>
        </p:txBody>
      </p:sp>
      <p:sp>
        <p:nvSpPr>
          <p:cNvPr id="111" name="Shape 109"/>
          <p:cNvSpPr/>
          <p:nvPr/>
        </p:nvSpPr>
        <p:spPr>
          <a:xfrm>
            <a:off x="457200" y="5961888"/>
            <a:ext cx="11274552" cy="548640"/>
          </a:xfrm>
          <a:prstGeom prst="rect">
            <a:avLst/>
          </a:prstGeom>
          <a:solidFill>
            <a:srgbClr val="EDF4FA"/>
          </a:solidFill>
          <a:ln/>
        </p:spPr>
      </p:sp>
      <p:sp>
        <p:nvSpPr>
          <p:cNvPr id="112" name="Text 110"/>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At 11 of the 13 stores under 85%, the best quarter of techs already beat 85%. Same bays, same dispatch, same car count.</a:t>
            </a:r>
            <a:endParaRPr lang="en-US" sz="1600" dirty="0"/>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 · OPTION C</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Your Best Techs Prove It</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731520" y="1737360"/>
            <a:ext cx="3840480" cy="1188720"/>
          </a:xfrm>
          <a:prstGeom prst="rect">
            <a:avLst/>
          </a:prstGeom>
          <a:noFill/>
          <a:ln/>
        </p:spPr>
        <p:txBody>
          <a:bodyPr wrap="square" lIns="0" tIns="0" rIns="0" bIns="0" rtlCol="0" anchor="ctr"/>
          <a:lstStyle/>
          <a:p>
            <a:pPr indent="0" marL="0">
              <a:buNone/>
            </a:pPr>
            <a:r>
              <a:rPr lang="en-US" sz="8000" b="1" dirty="0">
                <a:solidFill>
                  <a:srgbClr val="0B7A4A"/>
                </a:solidFill>
                <a:latin typeface="Inter" pitchFamily="34" charset="0"/>
                <a:ea typeface="Inter" pitchFamily="34" charset="-122"/>
                <a:cs typeface="Inter" pitchFamily="34" charset="-120"/>
              </a:rPr>
              <a:t>11 of 13</a:t>
            </a:r>
            <a:endParaRPr lang="en-US" sz="8000" dirty="0"/>
          </a:p>
        </p:txBody>
      </p:sp>
      <p:sp>
        <p:nvSpPr>
          <p:cNvPr id="7" name="Text 5"/>
          <p:cNvSpPr txBox="1"/>
          <p:nvPr/>
        </p:nvSpPr>
        <p:spPr>
          <a:xfrm>
            <a:off x="731520" y="2926080"/>
            <a:ext cx="3749040" cy="822960"/>
          </a:xfrm>
          <a:prstGeom prst="rect">
            <a:avLst/>
          </a:prstGeom>
          <a:noFill/>
          <a:ln/>
        </p:spPr>
        <p:txBody>
          <a:bodyPr wrap="square" lIns="0" tIns="0" rIns="0" bIns="0" rtlCol="0" anchor="t"/>
          <a:lstStyle/>
          <a:p>
            <a:pPr indent="0" marL="0">
              <a:buNone/>
            </a:pPr>
            <a:r>
              <a:rPr lang="en-US" sz="2200" b="1" dirty="0">
                <a:solidFill>
                  <a:srgbClr val="1A1A1A"/>
                </a:solidFill>
                <a:latin typeface="Inter" pitchFamily="34" charset="0"/>
                <a:ea typeface="Inter" pitchFamily="34" charset="-122"/>
                <a:cs typeface="Inter" pitchFamily="34" charset="-120"/>
              </a:rPr>
              <a:t>stores under 85% already have techs beating it.</a:t>
            </a:r>
            <a:endParaRPr lang="en-US" sz="2200" dirty="0"/>
          </a:p>
        </p:txBody>
      </p:sp>
      <p:sp>
        <p:nvSpPr>
          <p:cNvPr id="8" name="Text 6"/>
          <p:cNvSpPr txBox="1"/>
          <p:nvPr/>
        </p:nvSpPr>
        <p:spPr>
          <a:xfrm>
            <a:off x="731520" y="3886200"/>
            <a:ext cx="3657600" cy="1280160"/>
          </a:xfrm>
          <a:prstGeom prst="rect">
            <a:avLst/>
          </a:prstGeom>
          <a:noFill/>
          <a:ln/>
        </p:spPr>
        <p:txBody>
          <a:bodyPr wrap="square" lIns="0" tIns="0" rIns="0" bIns="0" rtlCol="0" anchor="t"/>
          <a:lstStyle/>
          <a:p>
            <a:pPr indent="0" marL="0">
              <a:buNone/>
            </a:pPr>
            <a:r>
              <a:rPr lang="en-US" sz="1600" dirty="0">
                <a:solidFill>
                  <a:srgbClr val="595959"/>
                </a:solidFill>
                <a:latin typeface="Inter" pitchFamily="34" charset="0"/>
                <a:ea typeface="Inter" pitchFamily="34" charset="-122"/>
                <a:cs typeface="Inter" pitchFamily="34" charset="-120"/>
              </a:rPr>
              <a:t>Same bays, same dispatch, same car count. The target is not theory; their own best techs hit it every month.</a:t>
            </a:r>
            <a:endParaRPr lang="en-US" sz="1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937760" y="1417320"/>
          <a:ext cx="6537960" cy="914400"/>
        </p:xfrm>
        <a:graphic>
          <a:graphicData uri="http://schemas.openxmlformats.org/drawingml/2006/table">
            <a:tbl>
              <a:tblPr/>
              <a:tblGrid>
                <a:gridCol w="3429000"/>
                <a:gridCol w="1554480"/>
                <a:gridCol w="1554480"/>
              </a:tblGrid>
              <a:tr h="283464">
                <a:tc>
                  <a:txBody>
                    <a:bodyPr/>
                    <a:lstStyle/>
                    <a:p>
                      <a:pPr algn="l" indent="0" marL="0">
                        <a:buNone/>
                      </a:pPr>
                      <a:r>
                        <a:rPr lang="en-US" sz="1400" b="1" dirty="0">
                          <a:solidFill>
                            <a:srgbClr val="FFFFFF"/>
                          </a:solidFill>
                          <a:latin typeface="Inter" pitchFamily="34" charset="0"/>
                          <a:ea typeface="Inter" pitchFamily="34" charset="-122"/>
                          <a:cs typeface="Inter" pitchFamily="34" charset="-120"/>
                        </a:rPr>
                        <a:t>Store</a:t>
                      </a:r>
                      <a:endParaRPr lang="en-US" sz="14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0B2C4A"/>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Store today</a:t>
                      </a:r>
                      <a:endParaRPr lang="en-US" sz="14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0B2C4A"/>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Best techs</a:t>
                      </a:r>
                      <a:endParaRPr lang="en-US" sz="14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0B2C4A"/>
                    </a:solidFill>
                  </a:tcPr>
                </a:tc>
              </a:tr>
              <a:tr h="283464">
                <a:tc>
                  <a:txBody>
                    <a:bodyPr/>
                    <a:lstStyle/>
                    <a:p>
                      <a:pPr indent="0" marL="0">
                        <a:buNone/>
                      </a:pPr>
                      <a:r>
                        <a:rPr lang="en-US" sz="1400" dirty="0">
                          <a:solidFill>
                            <a:srgbClr val="1A1A1A"/>
                          </a:solidFill>
                          <a:latin typeface="Inter" pitchFamily="34" charset="0"/>
                          <a:ea typeface="Inter" pitchFamily="34" charset="-122"/>
                          <a:cs typeface="Inter" pitchFamily="34" charset="-120"/>
                        </a:rPr>
                        <a:t>ACURA</a:t>
                      </a:r>
                      <a:endParaRPr lang="en-US" sz="14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67%</a:t>
                      </a:r>
                      <a:endParaRPr lang="en-US" sz="14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73%</a:t>
                      </a:r>
                      <a:endParaRPr lang="en-US" sz="14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7F7F7"/>
                    </a:solidFill>
                  </a:tcPr>
                </a:tc>
              </a:tr>
              <a:tr h="283464">
                <a:tc>
                  <a:txBody>
                    <a:bodyPr/>
                    <a:lstStyle/>
                    <a:p>
                      <a:pPr indent="0" marL="0">
                        <a:buNone/>
                      </a:pPr>
                      <a:r>
                        <a:rPr lang="en-US" sz="1400" dirty="0">
                          <a:solidFill>
                            <a:srgbClr val="1A1A1A"/>
                          </a:solidFill>
                          <a:latin typeface="Inter" pitchFamily="34" charset="0"/>
                          <a:ea typeface="Inter" pitchFamily="34" charset="-122"/>
                          <a:cs typeface="Inter" pitchFamily="34" charset="-120"/>
                        </a:rPr>
                        <a:t>KIA ST GEORGE</a:t>
                      </a:r>
                      <a:endParaRPr lang="en-US" sz="14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67%</a:t>
                      </a:r>
                      <a:endParaRPr lang="en-US" sz="14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97%</a:t>
                      </a:r>
                      <a:endParaRPr lang="en-US" sz="14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r>
              <a:tr h="283464">
                <a:tc>
                  <a:txBody>
                    <a:bodyPr/>
                    <a:lstStyle/>
                    <a:p>
                      <a:pPr indent="0" marL="0">
                        <a:buNone/>
                      </a:pPr>
                      <a:r>
                        <a:rPr lang="en-US" sz="1400" dirty="0">
                          <a:solidFill>
                            <a:srgbClr val="1A1A1A"/>
                          </a:solidFill>
                          <a:latin typeface="Inter" pitchFamily="34" charset="0"/>
                          <a:ea typeface="Inter" pitchFamily="34" charset="-122"/>
                          <a:cs typeface="Inter" pitchFamily="34" charset="-120"/>
                        </a:rPr>
                        <a:t>CHEVY GMC BULLHEAD</a:t>
                      </a:r>
                      <a:endParaRPr lang="en-US" sz="14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68%</a:t>
                      </a:r>
                      <a:endParaRPr lang="en-US" sz="14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96%</a:t>
                      </a:r>
                      <a:endParaRPr lang="en-US" sz="14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7F7F7"/>
                    </a:solidFill>
                  </a:tcPr>
                </a:tc>
              </a:tr>
              <a:tr h="283464">
                <a:tc>
                  <a:txBody>
                    <a:bodyPr/>
                    <a:lstStyle/>
                    <a:p>
                      <a:pPr indent="0" marL="0">
                        <a:buNone/>
                      </a:pPr>
                      <a:r>
                        <a:rPr lang="en-US" sz="1400" dirty="0">
                          <a:solidFill>
                            <a:srgbClr val="1A1A1A"/>
                          </a:solidFill>
                          <a:latin typeface="Inter" pitchFamily="34" charset="0"/>
                          <a:ea typeface="Inter" pitchFamily="34" charset="-122"/>
                          <a:cs typeface="Inter" pitchFamily="34" charset="-120"/>
                        </a:rPr>
                        <a:t>HYUNDAI ST GEORGE</a:t>
                      </a:r>
                      <a:endParaRPr lang="en-US" sz="14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69%</a:t>
                      </a:r>
                      <a:endParaRPr lang="en-US" sz="14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122%</a:t>
                      </a:r>
                      <a:endParaRPr lang="en-US" sz="14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r>
              <a:tr h="283464">
                <a:tc>
                  <a:txBody>
                    <a:bodyPr/>
                    <a:lstStyle/>
                    <a:p>
                      <a:pPr indent="0" marL="0">
                        <a:buNone/>
                      </a:pPr>
                      <a:r>
                        <a:rPr lang="en-US" sz="1400" dirty="0">
                          <a:solidFill>
                            <a:srgbClr val="1A1A1A"/>
                          </a:solidFill>
                          <a:latin typeface="Inter" pitchFamily="34" charset="0"/>
                          <a:ea typeface="Inter" pitchFamily="34" charset="-122"/>
                          <a:cs typeface="Inter" pitchFamily="34" charset="-120"/>
                        </a:rPr>
                        <a:t>VW ST GEORGE</a:t>
                      </a:r>
                      <a:endParaRPr lang="en-US" sz="14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70%</a:t>
                      </a:r>
                      <a:endParaRPr lang="en-US" sz="14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76%</a:t>
                      </a:r>
                      <a:endParaRPr lang="en-US" sz="14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7F7F7"/>
                    </a:solidFill>
                  </a:tcPr>
                </a:tc>
              </a:tr>
              <a:tr h="283464">
                <a:tc>
                  <a:txBody>
                    <a:bodyPr/>
                    <a:lstStyle/>
                    <a:p>
                      <a:pPr indent="0" marL="0">
                        <a:buNone/>
                      </a:pPr>
                      <a:r>
                        <a:rPr lang="en-US" sz="1400" dirty="0">
                          <a:solidFill>
                            <a:srgbClr val="1A1A1A"/>
                          </a:solidFill>
                          <a:latin typeface="Inter" pitchFamily="34" charset="0"/>
                          <a:ea typeface="Inter" pitchFamily="34" charset="-122"/>
                          <a:cs typeface="Inter" pitchFamily="34" charset="-120"/>
                        </a:rPr>
                        <a:t>CDJR POST FALLS</a:t>
                      </a:r>
                      <a:endParaRPr lang="en-US" sz="14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71%</a:t>
                      </a:r>
                      <a:endParaRPr lang="en-US" sz="14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128%</a:t>
                      </a:r>
                      <a:endParaRPr lang="en-US" sz="14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r>
              <a:tr h="283464">
                <a:tc>
                  <a:txBody>
                    <a:bodyPr/>
                    <a:lstStyle/>
                    <a:p>
                      <a:pPr indent="0" marL="0">
                        <a:buNone/>
                      </a:pPr>
                      <a:r>
                        <a:rPr lang="en-US" sz="1400" dirty="0">
                          <a:solidFill>
                            <a:srgbClr val="1A1A1A"/>
                          </a:solidFill>
                          <a:latin typeface="Inter" pitchFamily="34" charset="0"/>
                          <a:ea typeface="Inter" pitchFamily="34" charset="-122"/>
                          <a:cs typeface="Inter" pitchFamily="34" charset="-120"/>
                        </a:rPr>
                        <a:t>VOLVO</a:t>
                      </a:r>
                      <a:endParaRPr lang="en-US" sz="14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72%</a:t>
                      </a:r>
                      <a:endParaRPr lang="en-US" sz="14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88%</a:t>
                      </a:r>
                      <a:endParaRPr lang="en-US" sz="14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7F7F7"/>
                    </a:solidFill>
                  </a:tcPr>
                </a:tc>
              </a:tr>
              <a:tr h="283464">
                <a:tc>
                  <a:txBody>
                    <a:bodyPr/>
                    <a:lstStyle/>
                    <a:p>
                      <a:pPr indent="0" marL="0">
                        <a:buNone/>
                      </a:pPr>
                      <a:r>
                        <a:rPr lang="en-US" sz="1400" dirty="0">
                          <a:solidFill>
                            <a:srgbClr val="1A1A1A"/>
                          </a:solidFill>
                          <a:latin typeface="Inter" pitchFamily="34" charset="0"/>
                          <a:ea typeface="Inter" pitchFamily="34" charset="-122"/>
                          <a:cs typeface="Inter" pitchFamily="34" charset="-120"/>
                        </a:rPr>
                        <a:t>GMC PRESCOTT</a:t>
                      </a:r>
                      <a:endParaRPr lang="en-US" sz="14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73%</a:t>
                      </a:r>
                      <a:endParaRPr lang="en-US" sz="14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103%</a:t>
                      </a:r>
                      <a:endParaRPr lang="en-US" sz="14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r>
              <a:tr h="283464">
                <a:tc>
                  <a:txBody>
                    <a:bodyPr/>
                    <a:lstStyle/>
                    <a:p>
                      <a:pPr indent="0" marL="0">
                        <a:buNone/>
                      </a:pPr>
                      <a:r>
                        <a:rPr lang="en-US" sz="1400" dirty="0">
                          <a:solidFill>
                            <a:srgbClr val="1A1A1A"/>
                          </a:solidFill>
                          <a:latin typeface="Inter" pitchFamily="34" charset="0"/>
                          <a:ea typeface="Inter" pitchFamily="34" charset="-122"/>
                          <a:cs typeface="Inter" pitchFamily="34" charset="-120"/>
                        </a:rPr>
                        <a:t>KIA LV</a:t>
                      </a:r>
                      <a:endParaRPr lang="en-US" sz="14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76%</a:t>
                      </a:r>
                      <a:endParaRPr lang="en-US" sz="14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100%</a:t>
                      </a:r>
                      <a:endParaRPr lang="en-US" sz="14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7F7F7"/>
                    </a:solidFill>
                  </a:tcPr>
                </a:tc>
              </a:tr>
              <a:tr h="283464">
                <a:tc>
                  <a:txBody>
                    <a:bodyPr/>
                    <a:lstStyle/>
                    <a:p>
                      <a:pPr indent="0" marL="0">
                        <a:buNone/>
                      </a:pPr>
                      <a:r>
                        <a:rPr lang="en-US" sz="1400" dirty="0">
                          <a:solidFill>
                            <a:srgbClr val="1A1A1A"/>
                          </a:solidFill>
                          <a:latin typeface="Inter" pitchFamily="34" charset="0"/>
                          <a:ea typeface="Inter" pitchFamily="34" charset="-122"/>
                          <a:cs typeface="Inter" pitchFamily="34" charset="-120"/>
                        </a:rPr>
                        <a:t>HONDA FLAGSTAFF</a:t>
                      </a:r>
                      <a:endParaRPr lang="en-US" sz="14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78%</a:t>
                      </a:r>
                      <a:endParaRPr lang="en-US" sz="14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130%</a:t>
                      </a:r>
                      <a:endParaRPr lang="en-US" sz="14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r>
              <a:tr h="283464">
                <a:tc>
                  <a:txBody>
                    <a:bodyPr/>
                    <a:lstStyle/>
                    <a:p>
                      <a:pPr indent="0" marL="0">
                        <a:buNone/>
                      </a:pPr>
                      <a:r>
                        <a:rPr lang="en-US" sz="1400" dirty="0">
                          <a:solidFill>
                            <a:srgbClr val="1A1A1A"/>
                          </a:solidFill>
                          <a:latin typeface="Inter" pitchFamily="34" charset="0"/>
                          <a:ea typeface="Inter" pitchFamily="34" charset="-122"/>
                          <a:cs typeface="Inter" pitchFamily="34" charset="-120"/>
                        </a:rPr>
                        <a:t>HYUNDAI PRESCOTT</a:t>
                      </a:r>
                      <a:endParaRPr lang="en-US" sz="14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78%</a:t>
                      </a:r>
                      <a:endParaRPr lang="en-US" sz="14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112%</a:t>
                      </a:r>
                      <a:endParaRPr lang="en-US" sz="14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7F7F7"/>
                    </a:solidFill>
                  </a:tcPr>
                </a:tc>
              </a:tr>
              <a:tr h="283464">
                <a:tc>
                  <a:txBody>
                    <a:bodyPr/>
                    <a:lstStyle/>
                    <a:p>
                      <a:pPr indent="0" marL="0">
                        <a:buNone/>
                      </a:pPr>
                      <a:r>
                        <a:rPr lang="en-US" sz="1400" dirty="0">
                          <a:solidFill>
                            <a:srgbClr val="1A1A1A"/>
                          </a:solidFill>
                          <a:latin typeface="Inter" pitchFamily="34" charset="0"/>
                          <a:ea typeface="Inter" pitchFamily="34" charset="-122"/>
                          <a:cs typeface="Inter" pitchFamily="34" charset="-120"/>
                        </a:rPr>
                        <a:t>LR RENO</a:t>
                      </a:r>
                      <a:endParaRPr lang="en-US" sz="14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81%</a:t>
                      </a:r>
                      <a:endParaRPr lang="en-US" sz="14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96%</a:t>
                      </a:r>
                      <a:endParaRPr lang="en-US" sz="14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r>
              <a:tr h="283464">
                <a:tc>
                  <a:txBody>
                    <a:bodyPr/>
                    <a:lstStyle/>
                    <a:p>
                      <a:pPr indent="0" marL="0">
                        <a:buNone/>
                      </a:pPr>
                      <a:r>
                        <a:rPr lang="en-US" sz="1400" dirty="0">
                          <a:solidFill>
                            <a:srgbClr val="1A1A1A"/>
                          </a:solidFill>
                          <a:latin typeface="Inter" pitchFamily="34" charset="0"/>
                          <a:ea typeface="Inter" pitchFamily="34" charset="-122"/>
                          <a:cs typeface="Inter" pitchFamily="34" charset="-120"/>
                        </a:rPr>
                        <a:t>TOYOTA PRESCOTT</a:t>
                      </a:r>
                      <a:endParaRPr lang="en-US" sz="14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83%</a:t>
                      </a:r>
                      <a:endParaRPr lang="en-US" sz="14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117%</a:t>
                      </a:r>
                      <a:endParaRPr lang="en-US" sz="14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7F7F7"/>
                    </a:solidFill>
                  </a:tcPr>
                </a:tc>
              </a:tr>
            </a:tbl>
          </a:graphicData>
        </a:graphic>
      </p:graphicFrame>
      <p:sp>
        <p:nvSpPr>
          <p:cNvPr id="10" name="Shape 7"/>
          <p:cNvSpPr/>
          <p:nvPr/>
        </p:nvSpPr>
        <p:spPr>
          <a:xfrm>
            <a:off x="457200" y="5961888"/>
            <a:ext cx="11274552" cy="548640"/>
          </a:xfrm>
          <a:prstGeom prst="rect">
            <a:avLst/>
          </a:prstGeom>
          <a:solidFill>
            <a:srgbClr val="EDF4FA"/>
          </a:solidFill>
          <a:ln/>
        </p:spPr>
      </p:sp>
      <p:sp>
        <p:nvSpPr>
          <p:cNvPr id="11" name="Text 8"/>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At 11 of the 13 stores under 85%, the best quarter of techs already beat 85%. Same bays, same dispatch, same car count.</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88</Slides>
  <Notes>88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88</vt:i4>
      </vt:variant>
    </vt:vector>
  </HeadingPairs>
  <TitlesOfParts>
    <vt:vector size="9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2026-10-15T23:16:42Z</dcterms:created>
  <dcterms:modified xsi:type="dcterms:W3CDTF">2026-10-15T23:16:42Z</dcterms:modified>
</cp:coreProperties>
</file>