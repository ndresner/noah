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Earlier</c:v>
                </c:pt>
              </c:strCache>
            </c:strRef>
          </c:tx>
          <c:spPr>
            <a:solidFill>
              <a:srgbClr val="9AA3AD"/>
            </a:solidFill>
            <a:effectLst/>
          </c:spPr>
          <c:invertIfNegative val="0"/>
          <c:dLbls>
            <c:numFmt formatCode="$0.0&quot;M&quot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111.43</c:v>
                </c:pt>
                <c:pt idx="1">
                  <c:v>126.71</c:v>
                </c:pt>
                <c:pt idx="2">
                  <c:v>143.75</c:v>
                </c:pt>
                <c:pt idx="3">
                  <c:v>156.71</c:v>
                </c:pt>
                <c:pt idx="4">
                  <c:v>181.62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rgbClr val="2587C5"/>
            </a:solidFill>
            <a:effectLst/>
          </c:spPr>
          <c:invertIfNegative val="0"/>
          <c:dLbls>
            <c:numFmt formatCode="$0.0&quot;M&quot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188.95</c:v>
                </c:pt>
              </c:numCache>
            </c:numRef>
          </c:val>
        </c:ser>
        <c:dLbls>
          <c:numFmt formatCode="$0.0&quot;M&quot;;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Group = sum of 33 stores. TB group total differs from the P&amp;L figure used elsewhere in the deck ($188.80M) by the GMC PRESCOTT difference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Record = Jan-Sep 2026 above every prior Jan-Sep for that store. % = combined gain over the previous best Jan-Sep. Stores with shorter histories count the same: HONDA SPOKANE (from 2025), HYUNDAI PRESCOTT (from 2023), LR HENDERSON (from 2022), NISSAN (from 2024). Order: records in all three first, then by %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Combined service + parts, Jan-Sep 2026 vs the store's best prior Jan-Sep.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Combined service + parts, Jan-Sep 2026 vs the store's best prior Jan-Sep.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Count of times a store set a new all-time monthly high in service, parts or combined gross, Jan-Sep 2026. Each new high counts, so a record beaten twice counts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each record was set, by store:
AUDI HENDERSON: parts record reset once (Jul); combined record reset twice (Apr, Jul).
CDJR POST FALLS: service record reset once (Jul); combined record reset once (Jul).
GMC PRESCOTT: parts record reset once (Apr); combined record reset once (Apr).
HONDA HENDERSON: service record reset 3 times (Mar, Jun, Jul); parts record reset once (Jul); combined record reset 3 times (Mar, Jun, Jul).
HONDA SPOKANE: service record reset 4 times (Mar, Apr, Jun, Jul); parts record reset once (Jul); combined record reset 4 times (Mar, Apr, Jun, Jul).
HYUNDAI PRESCOTT: service record reset twice (Mar, Jul); parts record reset once (Feb); combined record reset 3 times (Feb, Mar, Jul).
HYUNDAI ST GEORGE: service record reset 4 times (Jan, Mar, Jul, Sep).
KIA LV: service record reset once (Sep).
KIA ST GEORGE: service record reset twice (Apr, Jul); parts record reset once (Jul); combined record reset once (Jul).
LEXUS: service record reset twice (Mar, May); parts record reset once (May); combined record reset once (May).
LINCOLN: service record reset twice (Aug, Sep); parts record reset once (Mar); combined record reset 3 times (Mar, Aug, Sep).
LR HENDERSON: service record reset twice (Aug, Sep); parts record reset once (Jul); combined record reset once (Jul).
LR LV: service record reset once (Jul); combined record reset once (Jul).
LR RENO: service record reset once (Aug); combined record reset once (Aug).
MAZDA: service record reset twice (Aug, Sep); parts record reset once (Sep); combined record reset twice (Aug, Sep).
NISSAN: service record reset 3 times (Mar, Jun, Sep); parts record reset twice (Jun, Jul); combined record reset 4 times (Mar, Jun, Jul, Sep).
SUBARU PRESCOTT: combined record reset once (Apr).
SUBARU ST GEORGE: service record reset twice (Jan, Mar); parts record reset 3 times (Mar, Apr, Jun); combined record reset twice (Mar, Jun).
TOYOTA FLAGSTAFF: service record reset 3 times (Mar, Apr, May); combined record reset once (Mar).
TOYOTA HENDERSON: service record reset twice (Apr, Jul); parts record reset 3 times (Jun, Aug, Sep); combined record reset 3 times (Apr, Jun, Jul).
TOYOTA PRESCOTT: service record reset twice (Mar, Apr); parts record reset once (Apr); combined record reset once (Apr).
TOYOTA SPOKANE: service record reset once (Jul); combined record reset once (Jul).
VOLVO: service record reset twice (Apr, Jun).
Source: Qlik - Fixed Ops Accounting TB (Family FIXED GROSS, service + parts, body shop excluded), pulled Oct 8 2026. History Jan 2021 - Sep 2026; months before a store opened are ignored. Same-store, INEOS excluded. Matches the P&amp;L for every store except GMC PRESCOTT service (TB higher by $153,746 Jan-Sep 2026, $286,430 Jan-Sep 2025; GMC PRESCOTT's combined record holds on both). Count of times a store set a new all-time monthly high, Jan-Sep 2026. SVC = service gross, PTS = parts gross, TOT = service + parts combined. Each new high counts, so a record beaten twice counts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A RECORD YEAR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7589520" cy="4617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fixed gross, January–September, by year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132320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21792" y="1810512"/>
          <a:ext cx="7269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207008"/>
            <a:ext cx="3502152" cy="4617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441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0449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938528"/>
            <a:ext cx="100584" cy="100584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05088" y="18105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month ever: July 2026, $22.73M.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3072384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05088" y="29443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the group's 7 best months came in 2026.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4206240"/>
            <a:ext cx="100584" cy="1005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05088" y="407822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33 stores had their best January–September ever.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January–September fixed gross has grown every year since 2021, to $188.95M in 2026.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RECORD BOARD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42616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27832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13048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98264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BEST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363456" y="13167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948672" y="131673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0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BEST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1700784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57500" y="177780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2716" y="177780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7932" y="177780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98264" y="1700784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1700784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+35.7%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" y="2010273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2010273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57500" y="208729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2716" y="208729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7932" y="208729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98264" y="2010273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2010273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+31.6%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2319762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57500" y="239678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42716" y="239678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7932" y="239678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98264" y="2319762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39512" y="2319762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5216" y="2629252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629252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857500" y="270627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2716" y="270627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7932" y="270627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98264" y="2629252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39512" y="2629252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2938741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857500" y="301576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42716" y="301576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7932" y="301576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398264" y="2938741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$2.70M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239512" y="2938741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+15.7%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3248230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248230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857500" y="332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42716" y="332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27932" y="332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398264" y="3248230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$3.52M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5239512" y="3248230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+15.5%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557719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857500" y="363474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42716" y="363474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27932" y="363474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398264" y="3557719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$4.47M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239512" y="3557719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+10.4%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85216" y="3867209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3867209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857500" y="394422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42716" y="394422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27932" y="394422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398264" y="3867209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$4.78M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39512" y="3867209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+10.2%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176698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857500" y="425371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42716" y="425371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27932" y="425371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398264" y="4176698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$2.34M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239512" y="4176698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85216" y="4486187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486187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2857500" y="456320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42716" y="456320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7932" y="456320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398264" y="4486187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$22.59M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239512" y="4486187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+8.5%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4795676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857500" y="48726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42716" y="48726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027932" y="48726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398264" y="4795676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$14.42M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239512" y="4795676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+4.2%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85216" y="5105166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105166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857500" y="518218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442716" y="518218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027932" y="518218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398264" y="5105166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$3.31M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5239512" y="5105166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+3.7%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58368" y="5414655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2857500" y="549167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42716" y="549167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027932" y="549167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398264" y="5414655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$3.42M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5239512" y="5414655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+2.8%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1700784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407908" y="177780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993124" y="1777805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578340" y="1777805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948672" y="1700784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$5.08M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10789920" y="1700784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+13.0%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6135624" y="2010273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6208776" y="2010273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8407908" y="208729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93124" y="208729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578340" y="2087294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948672" y="2010273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$5.93M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10789920" y="2010273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2319762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8407908" y="239678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93124" y="239678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578340" y="2396783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948672" y="2319762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$4.18M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789920" y="2319762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+9.7%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135624" y="2629252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208776" y="2629252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407908" y="270627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993124" y="270627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578340" y="270627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948672" y="2629252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$2.21M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89920" y="2629252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+7.6%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2938741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8407908" y="30157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993124" y="301576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578340" y="3015762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9948672" y="2938741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$9.60M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789920" y="2938741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+7.4%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6135624" y="3248230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6208776" y="3248230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8407908" y="332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993124" y="332525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578340" y="3325251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9948672" y="3248230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$2.29M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10789920" y="3248230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+4.0%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3557719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8407908" y="363474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993124" y="363474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578340" y="3634740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9948672" y="3557719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$6.61M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10789920" y="3557719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+2.0%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6135624" y="3867209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6208776" y="3867209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47" name="Shape 145"/>
          <p:cNvSpPr/>
          <p:nvPr/>
        </p:nvSpPr>
        <p:spPr>
          <a:xfrm>
            <a:off x="8407908" y="394422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993124" y="394422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578340" y="3944229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9948672" y="3867209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$6.15M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789920" y="3867209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+2.0%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176698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407908" y="425371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993124" y="425371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578340" y="425371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9948672" y="4176698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$2.42M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789920" y="4176698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+1.9%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6135624" y="4486187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6208776" y="4486187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60" name="Shape 158"/>
          <p:cNvSpPr/>
          <p:nvPr/>
        </p:nvSpPr>
        <p:spPr>
          <a:xfrm>
            <a:off x="8407908" y="456320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993124" y="456320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578340" y="4563208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9948672" y="4486187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$3.91M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10789920" y="4486187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+1.6%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6208776" y="4795676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8407908" y="487269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993124" y="48726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78340" y="4872697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9948672" y="4795676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$1.59M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10789920" y="4795676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+1.4%</a:t>
            </a:r>
            <a:endParaRPr lang="en-US" sz="1300" dirty="0"/>
          </a:p>
        </p:txBody>
      </p:sp>
      <p:sp>
        <p:nvSpPr>
          <p:cNvPr id="171" name="Shape 169"/>
          <p:cNvSpPr/>
          <p:nvPr/>
        </p:nvSpPr>
        <p:spPr>
          <a:xfrm>
            <a:off x="6135624" y="5105166"/>
            <a:ext cx="5486400" cy="30948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2" name="Text 170"/>
          <p:cNvSpPr txBox="1"/>
          <p:nvPr/>
        </p:nvSpPr>
        <p:spPr>
          <a:xfrm>
            <a:off x="6208776" y="5105166"/>
            <a:ext cx="1984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8407908" y="518218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93124" y="518218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578340" y="5182186"/>
            <a:ext cx="155448" cy="155448"/>
          </a:xfrm>
          <a:prstGeom prst="ellipse">
            <a:avLst/>
          </a:prstGeom>
          <a:solidFill>
            <a:srgbClr val="12A566"/>
          </a:solidFill>
          <a:ln w="12700">
            <a:solidFill>
              <a:srgbClr val="12A566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9948672" y="5105166"/>
            <a:ext cx="841248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$4.53M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10789920" y="5105166"/>
            <a:ext cx="786384" cy="30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+0.8%</a:t>
            </a:r>
            <a:endParaRPr lang="en-US" sz="1300" dirty="0"/>
          </a:p>
        </p:txBody>
      </p:sp>
      <p:sp>
        <p:nvSpPr>
          <p:cNvPr id="178" name="Shape 176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33 stores set a January–September record; 13 set it in service, parts and total.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SPOTLIGHT BY %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+35.7%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 vs $1.13M, the previous best (2025).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4146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146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7026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+31.6%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 vs $2.26M, the previous best (2025).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5060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+22.5%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 vs $3.38M, the previous best (2025).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35974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35974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8854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 vs $10.64M, the previous best (2025).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changed? Each of these stores tells the room one thing they did differently this year.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PRESCOTT, LINCOLN, LEXUS and AUDI HENDERSON beat their previous best by the most in percentage terms.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SPOTLIGHT BY $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+$1.77M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$22.59M vs $20.82M, the previous best (2025); +8.5%.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4146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146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7026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+$1.70M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 vs $10.64M, the previous best (2025); +16.0%.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5060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+$0.76M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 vs $3.38M, the previous best (2025); +22.5%.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35974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35974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8854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+$0.72M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 vs $2.26M, the previous best (2025); +31.6%.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changed? Each of these stores tells the room one thing they did differently this year.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HENDERSON, AUDI HENDERSON, LEXUS and LINCOLN beat their previous best by the most in dollars.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OPTION: RANKER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Gross Records Set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18888" y="13167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69296" y="13167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007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70048" y="1776222"/>
            <a:ext cx="209397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18888" y="170078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0360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2111502"/>
            <a:ext cx="209397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203606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3713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70048" y="2446782"/>
            <a:ext cx="1861312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18888" y="237134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7066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70048" y="2782062"/>
            <a:ext cx="162864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18888" y="270662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0419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70048" y="3117342"/>
            <a:ext cx="162864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18888" y="304190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3771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70048" y="3452622"/>
            <a:ext cx="1395984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18888" y="337718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7124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3787902"/>
            <a:ext cx="1395984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18888" y="371246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0477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70048" y="4123182"/>
            <a:ext cx="1163320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18888" y="404774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3830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70048" y="4458462"/>
            <a:ext cx="93065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18888" y="438302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47183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4793742"/>
            <a:ext cx="93065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18888" y="471830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50535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670048" y="5129022"/>
            <a:ext cx="93065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18888" y="505358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3888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70048" y="5464302"/>
            <a:ext cx="93065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18888" y="538886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208776" y="17007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0456" y="1776222"/>
            <a:ext cx="93065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369296" y="170078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208776" y="20360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220456" y="2111502"/>
            <a:ext cx="930656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369296" y="203606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08776" y="23713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220456" y="2446782"/>
            <a:ext cx="697992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369296" y="237134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208776" y="27066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220456" y="2782062"/>
            <a:ext cx="46532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369296" y="270662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208776" y="30419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220456" y="3117342"/>
            <a:ext cx="46532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369296" y="304190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208776" y="33771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220456" y="3452622"/>
            <a:ext cx="46532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369296" y="337718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208776" y="37124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220456" y="3787902"/>
            <a:ext cx="46532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369296" y="371246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208776" y="40477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20456" y="4123182"/>
            <a:ext cx="46532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369296" y="404774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208776" y="43830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220456" y="4458462"/>
            <a:ext cx="465328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369296" y="438302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208776" y="47183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20456" y="4793742"/>
            <a:ext cx="232664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0369296" y="471830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208776" y="50535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220456" y="5129022"/>
            <a:ext cx="232664" cy="18440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0369296" y="5053584"/>
            <a:ext cx="10515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33 stores set a new monthly record in 2026; HONDA SPOKANE and NISSAN set the most, 9 each.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· OPTION: RANKER BY CATEGORY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Gross Records Set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17320"/>
            <a:ext cx="128016" cy="128016"/>
          </a:xfrm>
          <a:prstGeom prst="rect">
            <a:avLst/>
          </a:prstGeom>
          <a:solidFill>
            <a:srgbClr val="0B7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316736"/>
            <a:ext cx="873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4228" y="1417320"/>
            <a:ext cx="128016" cy="12801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07108" y="1316736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98064" y="1417320"/>
            <a:ext cx="128016" cy="128016"/>
          </a:xfrm>
          <a:prstGeom prst="rect">
            <a:avLst/>
          </a:prstGeom>
          <a:solidFill>
            <a:srgbClr val="8ED3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0944" y="131673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9352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1316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8776" y="1417320"/>
            <a:ext cx="128016" cy="128016"/>
          </a:xfrm>
          <a:prstGeom prst="rect">
            <a:avLst/>
          </a:prstGeom>
          <a:solidFill>
            <a:srgbClr val="0B7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1656" y="1316736"/>
            <a:ext cx="873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4636" y="1417320"/>
            <a:ext cx="128016" cy="12801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57516" y="1316736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48472" y="1417320"/>
            <a:ext cx="128016" cy="128016"/>
          </a:xfrm>
          <a:prstGeom prst="rect">
            <a:avLst/>
          </a:prstGeom>
          <a:solidFill>
            <a:srgbClr val="8ED3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31352" y="131673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0" y="1316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018520" y="1316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17007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1776222"/>
            <a:ext cx="540512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0560" y="177622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45688" y="1776222"/>
            <a:ext cx="540512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59352" y="17007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462272" y="17007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965192" y="17007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68112" y="170078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20360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670048" y="2111502"/>
            <a:ext cx="405384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75432" y="2111502"/>
            <a:ext cx="270256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5688" y="2111502"/>
            <a:ext cx="540512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20360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462272" y="20360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965192" y="20360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68112" y="203606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23713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70048" y="244678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0304" y="2446782"/>
            <a:ext cx="405384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45688" y="2446782"/>
            <a:ext cx="405384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59352" y="23713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62272" y="23713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965192" y="23713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468112" y="237134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27066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670048" y="2782062"/>
            <a:ext cx="405384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75432" y="278206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10560" y="2782062"/>
            <a:ext cx="405384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959352" y="27066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462272" y="27066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4965192" y="27066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468112" y="270662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58368" y="30419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670048" y="311734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40304" y="3117342"/>
            <a:ext cx="405384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45688" y="3117342"/>
            <a:ext cx="270256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959352" y="30419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462272" y="30419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965192" y="30419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468112" y="304190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33771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70048" y="345262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40304" y="345262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75432" y="3452622"/>
            <a:ext cx="405384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959352" y="33771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4462272" y="33771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965192" y="33771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468112" y="337718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37124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670048" y="378790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40304" y="378790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75432" y="3787902"/>
            <a:ext cx="405384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959352" y="37124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62272" y="37124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65192" y="37124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468112" y="371246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40477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2670048" y="412318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40304" y="412318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75432" y="4123182"/>
            <a:ext cx="270256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959352" y="40477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4462272" y="40477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4965192" y="40477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5468112" y="404774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43830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2670048" y="445846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940304" y="445846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75432" y="445846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959352" y="43830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4462272" y="43830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965192" y="43830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468112" y="438302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47183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2670048" y="479374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940304" y="479374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75432" y="479374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959352" y="47183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4462272" y="47183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4965192" y="47183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5468112" y="471830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58368" y="50535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2670048" y="512902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40304" y="512902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75432" y="512902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3959352" y="50535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462272" y="50535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965192" y="50535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5468112" y="505358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58368" y="53888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670048" y="5464302"/>
            <a:ext cx="405384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75432" y="546430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959352" y="53888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4462272" y="53888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4965192" y="53888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5468112" y="538886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17007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220456" y="177622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490712" y="177622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625840" y="177622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509760" y="17007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012680" y="17007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10515600" y="17007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11018520" y="170078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6208776" y="20360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8220456" y="2111502"/>
            <a:ext cx="540512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9509760" y="20360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10012680" y="20360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10515600" y="20360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11018520" y="203606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23713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8220456" y="244678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355584" y="2446782"/>
            <a:ext cx="270256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9509760" y="23713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012680" y="23713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515600" y="23713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1018520" y="237134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27066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220456" y="2782062"/>
            <a:ext cx="135128" cy="184404"/>
          </a:xfrm>
          <a:prstGeom prst="rect">
            <a:avLst/>
          </a:prstGeom>
          <a:solidFill>
            <a:srgbClr val="12A56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355584" y="278206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9509760" y="27066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012680" y="27066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10515600" y="27066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8" name="Text 146"/>
          <p:cNvSpPr txBox="1"/>
          <p:nvPr/>
        </p:nvSpPr>
        <p:spPr>
          <a:xfrm>
            <a:off x="11018520" y="270662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6208776" y="30419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50" name="Shape 148"/>
          <p:cNvSpPr/>
          <p:nvPr/>
        </p:nvSpPr>
        <p:spPr>
          <a:xfrm>
            <a:off x="8220456" y="3117342"/>
            <a:ext cx="135128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355584" y="311734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9509760" y="30419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10012680" y="30419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10515600" y="30419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11018520" y="304190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33771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8220456" y="3452622"/>
            <a:ext cx="135128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355584" y="345262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509760" y="33771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012680" y="33771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515600" y="33771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11018520" y="337718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3" name="Text 161"/>
          <p:cNvSpPr txBox="1"/>
          <p:nvPr/>
        </p:nvSpPr>
        <p:spPr>
          <a:xfrm>
            <a:off x="6208776" y="371246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8220456" y="3787902"/>
            <a:ext cx="135128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55584" y="378790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9509760" y="37124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012680" y="37124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10515600" y="371246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11018520" y="371246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404774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71" name="Shape 169"/>
          <p:cNvSpPr/>
          <p:nvPr/>
        </p:nvSpPr>
        <p:spPr>
          <a:xfrm>
            <a:off x="8220456" y="4123182"/>
            <a:ext cx="135128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355584" y="412318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9509760" y="40477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10012680" y="40477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515600" y="404774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1018520" y="404774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6208776" y="438302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78" name="Shape 176"/>
          <p:cNvSpPr/>
          <p:nvPr/>
        </p:nvSpPr>
        <p:spPr>
          <a:xfrm>
            <a:off x="8220456" y="4458462"/>
            <a:ext cx="270256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9509760" y="43830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10012680" y="43830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515600" y="438302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11018520" y="438302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6208776" y="471830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84" name="Shape 182"/>
          <p:cNvSpPr/>
          <p:nvPr/>
        </p:nvSpPr>
        <p:spPr>
          <a:xfrm>
            <a:off x="8220456" y="4793742"/>
            <a:ext cx="135128" cy="184404"/>
          </a:xfrm>
          <a:prstGeom prst="rect">
            <a:avLst/>
          </a:prstGeom>
          <a:solidFill>
            <a:srgbClr val="8ED3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9509760" y="47183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10012680" y="47183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10515600" y="471830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11018520" y="471830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6208776" y="5053584"/>
            <a:ext cx="19385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90" name="Shape 188"/>
          <p:cNvSpPr/>
          <p:nvPr/>
        </p:nvSpPr>
        <p:spPr>
          <a:xfrm>
            <a:off x="8220456" y="5129022"/>
            <a:ext cx="135128" cy="184404"/>
          </a:xfrm>
          <a:prstGeom prst="rect">
            <a:avLst/>
          </a:prstGeom>
          <a:solidFill>
            <a:srgbClr val="0B7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9509760" y="50535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10012680" y="50535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10515600" y="5053584"/>
            <a:ext cx="5029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11018520" y="5053584"/>
            <a:ext cx="5486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95" name="Shape 193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96" name="Text 194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33 stores set 98 new monthly records in 2026: 42 in service, 19 in parts and 37 in combined gross.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2026-10-21T17:08:38Z</dcterms:created>
  <dcterms:modified xsi:type="dcterms:W3CDTF">2026-10-21T17:08:38Z</dcterms:modified>
</cp:coreProperties>
</file>