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Distinct customer-pay ROs: every RO with a customer-pay line, whether or not labor was charged (governed RO Count).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RO count (percent, so store size does not drive the ranking),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sold hours / all customer-pay ROs.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sold hours / all customer-pay ROs.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Hours per RO,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customer-pay sold hours.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customer-pay sold hours.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ELR,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D - door rate by store, split by labor grid, standard rate only. Store door rate sheet (Oct 15 2026); averages weighted by Jul-Sep CP sold hours. Bars start at $100. INEOS on the sheet but excluded (same-store).
AUDI HENDERSON: premium $399.00 (Lambo Non-Grid)
CHEVY GMC BULLHEAD: premium $199.87 (Non-Standard Grid)
CHEVY LV: premium $264.87 (Diesel/Corvette)
GMC PRESCOTT: premium $230.00 (EV)
HONDA FLAGSTAFF: premium $215.00 (EV)
KIA ST GEORGE: premium $195.00 (EV)
SUBARU ST GEORGE: premium $210.00 (EV)
VW HENDERSON: premium $210.00 (EV)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E - door rate by store with premium rates, split by labor grid. Store door rate sheet (Oct 15 2026); averages weighted by Jul-Sep CP sold hours. Bars start at $100.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CURRENT VERSION - bars and % only. Qlik - Closed Repair Orders. Customer pay, Jan-Sep by close month. Same-store, INEOS excluded (opened 2026). GMC Prescott body shop labor types excluded. CP ELR for JUL-SEP 2026 (last three months, to match current door rates) / store door rate (standard rate from the store door rate sheet; premium, EV and diesel rates not applied). Group = group CP labor sale / hours-weighted door rate. Green at or above 70%, red below. Bars start at 40%. Percentages are truncated, not rounded.
AUDI RENO: ELR $244.12 / door $235.87 = 103.4%
VOLVO: ELR $225.50 / door $249.95 = 90.2%
CHEVY GMC BULLHEAD: ELR $161.80 / door $179.87 = 89.9%
HYUNDAI ST GEORGE: ELR $165.96 / door $184.87 = 89.7%
ACURA: ELR $199.04 / door $224.87 = 88.5%
LR RENO: ELR $238.62 / door $275.00 = 86.7%
HONDA FLAGSTAFF: ELR $159.69 / door $185.00 = 86.3%
HONDA SPOKANE: ELR $147.93 / door $179.00 = 82.6%
LEXUS: ELR $187.42 / door $229.95 = 81.5%
CDJR POST FALLS: ELR $161.93 / door $199.95 = 80.9%
TOYOTA PRESCOTT: ELR $155.78 / door $195.00 = 79.8%
LR HENDERSON: ELR $234.48 / door $294.87 = 79.5%
KIA ST GEORGE: ELR $146.04 / door $185.00 = 78.9%
MAZDA: ELR $165.67 / door $209.87 = 78.9%
VW HENDERSON: ELR $160.84 / door $204.87 = 78.5%
VW ST GEORGE: ELR $141.89 / door $184.87 = 76.7%
AUDI HENDERSON: ELR $266.72 / door $348.87 = 76.4%
LR LV: ELR $233.88 / door $310.00 = 75.4%
SUBARU LV: ELR $162.12 / door $215.37 = 75.2%
NISSAN: ELR $180.14 / door $239.87 = 75.1%
TOYOTA FLAGSTAFF: ELR $142.51 / door $190.00 = 75.0%
SUBARU ST GEORGE: ELR $136.71 / door $185.00 = 73.8%
TOYOTA HENDERSON: ELR $154.55 / door $211.26 = 73.1%
HONDA HENDERSON: ELR $153.45 / door $211.87 = 72.4%
HONDA NORTH: ELR $149.70 / door $211.87 = 70.6%
KIA LV: ELR $150.72 / door $219.87 = 68.5%
LINCOLN: ELR $167.22 / door $244.87 = 68.2%
TOYOTA SPOKANE: ELR $124.92 / door $185.00 = 67.5%
GMC PRESCOTT: ELR $146.92 / door $220.00 = 66.7%
SUBARU PRESCOTT: ELR $139.81 / door $210.00 = 66.5%
CHEVY LV: ELR $146.25 / door $224.87 = 65.0%
HYUNDAI PRESCOTT: ELR $136.12 / door $210.00 = 64.8%
CADILLAC: ELR $175.47 / door $285.00 = 61.5%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A - ELR and door rate columns.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B - ELR and the ELR needed for 70% of door rate (door x 0.70).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OPTION C - split by labor grid. Qlik - Closed Repair Orders. CP ELR Jul-Sep 2026 (last three months, to match current door rates). Door rate = standard rate from the store door rate sheet; premium, EV and diesel rates not applied. Same-store, INEOS excluded; GMC Prescott body shop excluded. Averages weighted by Jul-Sep CP sold hours.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all customer-pay ROs (governed Labor Sale/RO).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sale / all customer-pay ROs (governed Labor Sale/RO).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Labor $ per RO,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sale / all customer-pay ROs (governed Parts Sale/RO).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sale / all customer-pay ROs (governed Parts Sale/RO). Jan-Sep 2026 YTD. Green at or above own segment average, red below. Segment averages from segment totals. Luxury = Lexus, Lincoln, Cadillac, Volvo, Audi Reno, Audi Henderson, LR Reno, LR LV, LR Henderson; Acura counted as non-luxury.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Parts $ per RO,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gross / customer-pay labor sale. Roundtable target 78-80%.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labor gross / customer-pay labor sale. Roundtable target 78-80%. Jan-Sep 2026 YTD. Green at or above the group, red below. Bars start at 60.0%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Labor Gross Profit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gross / customer-pay parts sale on repair orders (counter and wholesale not included). YTD from YTD totals, not the mean of months. Store rows reconcile to the group on every input, both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Customer-pay parts gross / customer-pay parts sale on repair orders (counter and wholesale not included). Jan-Sep 2026 YTD. Green at or above the group, red below. Bars start at 25.0% so differences are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Qlik - Closed Repair Orders. Customer pay, Jan-Sep by close month. Same-store, INEOS excluded (opened 2026). GMC Prescott body shop labor types excluded. Change in CP Parts Gross Profit %, Jan-Sep 2026 vs 2025, best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713232" y="2377440"/>
            <a:ext cx="9144000" cy="365760"/>
          </a:xfrm>
          <a:prstGeom prst="rect">
            <a:avLst/>
          </a:prstGeom>
          <a:noFill/>
          <a:ln/>
        </p:spPr>
        <p:txBody>
          <a:bodyPr wrap="square" lIns="0" tIns="0" rIns="0" bIns="0" rtlCol="0" anchor="ctr"/>
          <a:lstStyle/>
          <a:p>
            <a:pPr indent="0" marL="0">
              <a:buNone/>
            </a:pPr>
            <a:r>
              <a:rPr lang="en-US" sz="2000" b="1" spc="260" kern="0" dirty="0">
                <a:solidFill>
                  <a:srgbClr val="2587C5"/>
                </a:solidFill>
                <a:latin typeface="Inter" pitchFamily="34" charset="0"/>
                <a:ea typeface="Inter" pitchFamily="34" charset="-122"/>
                <a:cs typeface="Inter" pitchFamily="34" charset="-120"/>
              </a:rPr>
              <a:t>FIXED OPS</a:t>
            </a:r>
            <a:endParaRPr lang="en-US" sz="2000" dirty="0"/>
          </a:p>
        </p:txBody>
      </p:sp>
      <p:sp>
        <p:nvSpPr>
          <p:cNvPr id="3" name="Text 1"/>
          <p:cNvSpPr txBox="1"/>
          <p:nvPr/>
        </p:nvSpPr>
        <p:spPr>
          <a:xfrm>
            <a:off x="667512" y="2743200"/>
            <a:ext cx="10789920" cy="1234440"/>
          </a:xfrm>
          <a:prstGeom prst="rect">
            <a:avLst/>
          </a:prstGeom>
          <a:noFill/>
          <a:ln/>
        </p:spPr>
        <p:txBody>
          <a:bodyPr wrap="square" lIns="0" tIns="0" rIns="0" bIns="0" rtlCol="0" anchor="ctr"/>
          <a:lstStyle/>
          <a:p>
            <a:pPr indent="0" marL="0">
              <a:buNone/>
            </a:pPr>
            <a:r>
              <a:rPr lang="en-US" sz="8200" b="1" dirty="0">
                <a:solidFill>
                  <a:srgbClr val="1A1A1A"/>
                </a:solidFill>
                <a:latin typeface="Inter" pitchFamily="34" charset="0"/>
                <a:ea typeface="Inter" pitchFamily="34" charset="-122"/>
                <a:cs typeface="Inter" pitchFamily="34" charset="-120"/>
              </a:rPr>
              <a:t>The CP Engine</a:t>
            </a:r>
            <a:endParaRPr lang="en-US" sz="8200" dirty="0"/>
          </a:p>
        </p:txBody>
      </p:sp>
      <p:sp>
        <p:nvSpPr>
          <p:cNvPr id="4" name="Text 2"/>
          <p:cNvSpPr txBox="1"/>
          <p:nvPr/>
        </p:nvSpPr>
        <p:spPr>
          <a:xfrm>
            <a:off x="694944" y="4041648"/>
            <a:ext cx="10789920" cy="411480"/>
          </a:xfrm>
          <a:prstGeom prst="rect">
            <a:avLst/>
          </a:prstGeom>
          <a:noFill/>
          <a:ln/>
        </p:spPr>
        <p:txBody>
          <a:bodyPr wrap="square" lIns="0" tIns="0" rIns="0" bIns="0" rtlCol="0" anchor="ctr"/>
          <a:lstStyle/>
          <a:p>
            <a:pPr indent="0" marL="0">
              <a:buNone/>
            </a:pPr>
            <a:r>
              <a:rPr lang="en-US" sz="2200" dirty="0">
                <a:solidFill>
                  <a:srgbClr val="595959"/>
                </a:solidFill>
                <a:latin typeface="Inter" pitchFamily="34" charset="0"/>
                <a:ea typeface="Inter" pitchFamily="34" charset="-122"/>
                <a:cs typeface="Inter" pitchFamily="34" charset="-120"/>
              </a:rPr>
              <a:t>ROs   ·   Hours per RO   ·   ELR   ·   $ per RO   ·   Margin</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279,300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279,756</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+456</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+0.2%</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30,872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30,678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28,163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27,329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−834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31,247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31,531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31,754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30,786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−968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31,740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30,636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−1,104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31,179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32,541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+1,362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32,360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33,097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+737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31,996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32,319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29,989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30,839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+850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456 to 279,756, ahead of 2025 in five of nine months. Volume is flat, so every gain here comes from selling more per RO.</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RO Count</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+0.2%</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2" name="Shape 10"/>
          <p:cNvSpPr/>
          <p:nvPr/>
        </p:nvSpPr>
        <p:spPr>
          <a:xfrm>
            <a:off x="3813048" y="1909246"/>
            <a:ext cx="761799"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+13.7%</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5" name="Shape 13"/>
          <p:cNvSpPr/>
          <p:nvPr/>
        </p:nvSpPr>
        <p:spPr>
          <a:xfrm>
            <a:off x="3813048" y="2139459"/>
            <a:ext cx="706854"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+12.7%</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8" name="Shape 16"/>
          <p:cNvSpPr/>
          <p:nvPr/>
        </p:nvSpPr>
        <p:spPr>
          <a:xfrm>
            <a:off x="3813048" y="2369673"/>
            <a:ext cx="589748"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+10.6%</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3813048" y="2599887"/>
            <a:ext cx="565502"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+10.1%</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4" name="Shape 22"/>
          <p:cNvSpPr/>
          <p:nvPr/>
        </p:nvSpPr>
        <p:spPr>
          <a:xfrm>
            <a:off x="3813048" y="2830100"/>
            <a:ext cx="505305"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+9.1%</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7" name="Shape 25"/>
          <p:cNvSpPr/>
          <p:nvPr/>
        </p:nvSpPr>
        <p:spPr>
          <a:xfrm>
            <a:off x="3813048" y="3060314"/>
            <a:ext cx="432202"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+7.7%</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0" name="Shape 28"/>
          <p:cNvSpPr/>
          <p:nvPr/>
        </p:nvSpPr>
        <p:spPr>
          <a:xfrm>
            <a:off x="3813048" y="3290528"/>
            <a:ext cx="343622"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+6.2%</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33" name="Shape 31"/>
          <p:cNvSpPr/>
          <p:nvPr/>
        </p:nvSpPr>
        <p:spPr>
          <a:xfrm>
            <a:off x="3813048" y="3520741"/>
            <a:ext cx="310441"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+5.6%</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6" name="Shape 34"/>
          <p:cNvSpPr/>
          <p:nvPr/>
        </p:nvSpPr>
        <p:spPr>
          <a:xfrm>
            <a:off x="3813048" y="3750955"/>
            <a:ext cx="20454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39" name="Shape 37"/>
          <p:cNvSpPr/>
          <p:nvPr/>
        </p:nvSpPr>
        <p:spPr>
          <a:xfrm>
            <a:off x="3813048" y="3981169"/>
            <a:ext cx="194015"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42" name="Shape 40"/>
          <p:cNvSpPr/>
          <p:nvPr/>
        </p:nvSpPr>
        <p:spPr>
          <a:xfrm>
            <a:off x="3813048" y="4211382"/>
            <a:ext cx="192458"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5" name="Shape 43"/>
          <p:cNvSpPr/>
          <p:nvPr/>
        </p:nvSpPr>
        <p:spPr>
          <a:xfrm>
            <a:off x="3813048" y="4441596"/>
            <a:ext cx="181916"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48" name="Shape 46"/>
          <p:cNvSpPr/>
          <p:nvPr/>
        </p:nvSpPr>
        <p:spPr>
          <a:xfrm>
            <a:off x="3813048" y="4671809"/>
            <a:ext cx="146808"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1" name="Shape 49"/>
          <p:cNvSpPr/>
          <p:nvPr/>
        </p:nvSpPr>
        <p:spPr>
          <a:xfrm>
            <a:off x="3813048" y="4902023"/>
            <a:ext cx="144079"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4" name="Shape 52"/>
          <p:cNvSpPr/>
          <p:nvPr/>
        </p:nvSpPr>
        <p:spPr>
          <a:xfrm>
            <a:off x="3813048" y="5132237"/>
            <a:ext cx="132886"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7" name="Shape 55"/>
          <p:cNvSpPr/>
          <p:nvPr/>
        </p:nvSpPr>
        <p:spPr>
          <a:xfrm>
            <a:off x="3813048" y="5362450"/>
            <a:ext cx="94634"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60" name="Shape 58"/>
          <p:cNvSpPr/>
          <p:nvPr/>
        </p:nvSpPr>
        <p:spPr>
          <a:xfrm>
            <a:off x="3813048" y="5592664"/>
            <a:ext cx="81818"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3" name="Shape 61"/>
          <p:cNvSpPr/>
          <p:nvPr/>
        </p:nvSpPr>
        <p:spPr>
          <a:xfrm>
            <a:off x="9363456" y="1909246"/>
            <a:ext cx="76481"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6" name="Shape 64"/>
          <p:cNvSpPr/>
          <p:nvPr/>
        </p:nvSpPr>
        <p:spPr>
          <a:xfrm>
            <a:off x="9363456" y="2139459"/>
            <a:ext cx="12802"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9" name="Shape 67"/>
          <p:cNvSpPr/>
          <p:nvPr/>
        </p:nvSpPr>
        <p:spPr>
          <a:xfrm>
            <a:off x="9363456" y="2369673"/>
            <a:ext cx="12802"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2" name="Shape 70"/>
          <p:cNvSpPr/>
          <p:nvPr/>
        </p:nvSpPr>
        <p:spPr>
          <a:xfrm>
            <a:off x="9359121" y="2599887"/>
            <a:ext cx="12802"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75" name="Shape 73"/>
          <p:cNvSpPr/>
          <p:nvPr/>
        </p:nvSpPr>
        <p:spPr>
          <a:xfrm>
            <a:off x="9330561" y="2830100"/>
            <a:ext cx="32895"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−0.6%</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78" name="Shape 76"/>
          <p:cNvSpPr/>
          <p:nvPr/>
        </p:nvSpPr>
        <p:spPr>
          <a:xfrm>
            <a:off x="9322226" y="3060314"/>
            <a:ext cx="41230"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−0.7%</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81" name="Shape 79"/>
          <p:cNvSpPr/>
          <p:nvPr/>
        </p:nvSpPr>
        <p:spPr>
          <a:xfrm>
            <a:off x="9316788" y="3290528"/>
            <a:ext cx="46668"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−0.8%</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4" name="Shape 82"/>
          <p:cNvSpPr/>
          <p:nvPr/>
        </p:nvSpPr>
        <p:spPr>
          <a:xfrm>
            <a:off x="9147402" y="3520741"/>
            <a:ext cx="216054"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7" name="Shape 85"/>
          <p:cNvSpPr/>
          <p:nvPr/>
        </p:nvSpPr>
        <p:spPr>
          <a:xfrm>
            <a:off x="9103983" y="3750955"/>
            <a:ext cx="259473"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−4.7%</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0" name="Shape 88"/>
          <p:cNvSpPr/>
          <p:nvPr/>
        </p:nvSpPr>
        <p:spPr>
          <a:xfrm>
            <a:off x="9089171" y="3981169"/>
            <a:ext cx="274285"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−4.9%</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93" name="Shape 91"/>
          <p:cNvSpPr/>
          <p:nvPr/>
        </p:nvSpPr>
        <p:spPr>
          <a:xfrm>
            <a:off x="9039358" y="4211382"/>
            <a:ext cx="324098"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−5.8%</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96" name="Shape 94"/>
          <p:cNvSpPr/>
          <p:nvPr/>
        </p:nvSpPr>
        <p:spPr>
          <a:xfrm>
            <a:off x="9022391" y="4441596"/>
            <a:ext cx="341065"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9" name="Shape 97"/>
          <p:cNvSpPr/>
          <p:nvPr/>
        </p:nvSpPr>
        <p:spPr>
          <a:xfrm>
            <a:off x="8802051" y="4671809"/>
            <a:ext cx="561405"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−10.1%</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2" name="Shape 100"/>
          <p:cNvSpPr/>
          <p:nvPr/>
        </p:nvSpPr>
        <p:spPr>
          <a:xfrm>
            <a:off x="8774771" y="4902023"/>
            <a:ext cx="588685"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−10.6%</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5" name="Shape 103"/>
          <p:cNvSpPr/>
          <p:nvPr/>
        </p:nvSpPr>
        <p:spPr>
          <a:xfrm>
            <a:off x="8722019" y="5132237"/>
            <a:ext cx="641437"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−11.5%</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−14.7%</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20 of 33 stores grew CP RO count, led by KIA LV at +13.7% to 8,133. 13 declined; VW ST GEORGE fell most at −14.7%.</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1.80</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1.87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+0.07</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+3.6%</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1.78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0.07 to 1.87, ahead of 2025 in all nine months. Each 0.1 hour per RO is worth $4,543,691 of labor at the 2026 ELR.</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3.99</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1" name="Shape 9"/>
          <p:cNvSpPr/>
          <p:nvPr/>
        </p:nvSpPr>
        <p:spPr>
          <a:xfrm>
            <a:off x="2267712" y="2138993"/>
            <a:ext cx="1030041"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3.99</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4" name="Shape 12"/>
          <p:cNvSpPr/>
          <p:nvPr/>
        </p:nvSpPr>
        <p:spPr>
          <a:xfrm>
            <a:off x="2267712" y="2445668"/>
            <a:ext cx="900016"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3.48</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7" name="Shape 15"/>
          <p:cNvSpPr/>
          <p:nvPr/>
        </p:nvSpPr>
        <p:spPr>
          <a:xfrm>
            <a:off x="2267712" y="2752344"/>
            <a:ext cx="899733"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3.48</a:t>
            </a:r>
            <a:endParaRPr lang="en-US" sz="1300" dirty="0"/>
          </a:p>
        </p:txBody>
      </p:sp>
      <p:sp>
        <p:nvSpPr>
          <p:cNvPr id="19" name="Shape 17"/>
          <p:cNvSpPr/>
          <p:nvPr/>
        </p:nvSpPr>
        <p:spPr>
          <a:xfrm>
            <a:off x="603504" y="2982351"/>
            <a:ext cx="3566160" cy="297532"/>
          </a:xfrm>
          <a:prstGeom prst="rect">
            <a:avLst/>
          </a:prstGeom>
          <a:solidFill>
            <a:srgbClr val="EDF4FA"/>
          </a:solidFill>
          <a:ln/>
        </p:spPr>
      </p:sp>
      <p:sp>
        <p:nvSpPr>
          <p:cNvPr id="20" name="Text 18"/>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1" name="Shape 19"/>
          <p:cNvSpPr/>
          <p:nvPr/>
        </p:nvSpPr>
        <p:spPr>
          <a:xfrm>
            <a:off x="2267712" y="3059020"/>
            <a:ext cx="749289" cy="153338"/>
          </a:xfrm>
          <a:prstGeom prst="rect">
            <a:avLst/>
          </a:prstGeom>
          <a:solidFill>
            <a:srgbClr val="0B2C4A"/>
          </a:solidFill>
          <a:ln/>
        </p:spPr>
      </p:sp>
      <p:sp>
        <p:nvSpPr>
          <p:cNvPr id="22" name="Text 20"/>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2.90</a:t>
            </a:r>
            <a:endParaRPr lang="en-US" sz="1300" dirty="0"/>
          </a:p>
        </p:txBody>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4" name="Shape 22"/>
          <p:cNvSpPr/>
          <p:nvPr/>
        </p:nvSpPr>
        <p:spPr>
          <a:xfrm>
            <a:off x="2267712" y="3365695"/>
            <a:ext cx="705361" cy="153338"/>
          </a:xfrm>
          <a:prstGeom prst="rect">
            <a:avLst/>
          </a:prstGeom>
          <a:solidFill>
            <a:srgbClr val="C2352F"/>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2.73</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7" name="Shape 25"/>
          <p:cNvSpPr/>
          <p:nvPr/>
        </p:nvSpPr>
        <p:spPr>
          <a:xfrm>
            <a:off x="2267712" y="3672371"/>
            <a:ext cx="704590"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2.73</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0" name="Shape 28"/>
          <p:cNvSpPr/>
          <p:nvPr/>
        </p:nvSpPr>
        <p:spPr>
          <a:xfrm>
            <a:off x="2267712" y="3979047"/>
            <a:ext cx="641802"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2.48</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3" name="Shape 31"/>
          <p:cNvSpPr/>
          <p:nvPr/>
        </p:nvSpPr>
        <p:spPr>
          <a:xfrm>
            <a:off x="2267712" y="4285722"/>
            <a:ext cx="588446"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2.28</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6" name="Shape 34"/>
          <p:cNvSpPr/>
          <p:nvPr/>
        </p:nvSpPr>
        <p:spPr>
          <a:xfrm>
            <a:off x="2267712" y="4592398"/>
            <a:ext cx="538154"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2.08</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2.90  </a:t>
            </a:r>
            <a:pPr indent="0" marL="0">
              <a:buNone/>
            </a:pPr>
            <a:r>
              <a:rPr lang="en-US" sz="1400" b="1" dirty="0">
                <a:solidFill>
                  <a:srgbClr val="0B7A4A"/>
                </a:solidFill>
                <a:latin typeface="Inter" pitchFamily="34" charset="0"/>
                <a:ea typeface="Inter" pitchFamily="34" charset="-122"/>
                <a:cs typeface="Inter" pitchFamily="34" charset="-120"/>
              </a:rPr>
              <a:t>(+0.06)</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1.75  </a:t>
            </a:r>
            <a:pPr indent="0" marL="0">
              <a:buNone/>
            </a:pPr>
            <a:r>
              <a:rPr lang="en-US" sz="1400" b="1" dirty="0">
                <a:solidFill>
                  <a:srgbClr val="0B7A4A"/>
                </a:solidFill>
                <a:latin typeface="Inter" pitchFamily="34" charset="0"/>
                <a:ea typeface="Inter" pitchFamily="34" charset="-122"/>
                <a:cs typeface="Inter" pitchFamily="34" charset="-120"/>
              </a:rPr>
              <a:t>(+0.06)</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2.49</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45" name="Shape 43"/>
          <p:cNvSpPr/>
          <p:nvPr/>
        </p:nvSpPr>
        <p:spPr>
          <a:xfrm>
            <a:off x="6291072" y="2138993"/>
            <a:ext cx="579287"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2.30</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48" name="Shape 46"/>
          <p:cNvSpPr/>
          <p:nvPr/>
        </p:nvSpPr>
        <p:spPr>
          <a:xfrm>
            <a:off x="6291072" y="2445668"/>
            <a:ext cx="579196"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2.30</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1" name="Shape 49"/>
          <p:cNvSpPr/>
          <p:nvPr/>
        </p:nvSpPr>
        <p:spPr>
          <a:xfrm>
            <a:off x="6291072" y="2752344"/>
            <a:ext cx="554590"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2.20</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54" name="Shape 52"/>
          <p:cNvSpPr/>
          <p:nvPr/>
        </p:nvSpPr>
        <p:spPr>
          <a:xfrm>
            <a:off x="6291072" y="3059020"/>
            <a:ext cx="531685"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2.11</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57" name="Shape 55"/>
          <p:cNvSpPr/>
          <p:nvPr/>
        </p:nvSpPr>
        <p:spPr>
          <a:xfrm>
            <a:off x="6291072" y="3365695"/>
            <a:ext cx="508980"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2.02</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0" name="Shape 58"/>
          <p:cNvSpPr/>
          <p:nvPr/>
        </p:nvSpPr>
        <p:spPr>
          <a:xfrm>
            <a:off x="6291072" y="3672371"/>
            <a:ext cx="505731"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2.01</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3" name="Shape 61"/>
          <p:cNvSpPr/>
          <p:nvPr/>
        </p:nvSpPr>
        <p:spPr>
          <a:xfrm>
            <a:off x="6291072" y="3979047"/>
            <a:ext cx="495913"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1.97</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66" name="Shape 64"/>
          <p:cNvSpPr/>
          <p:nvPr/>
        </p:nvSpPr>
        <p:spPr>
          <a:xfrm>
            <a:off x="6291072" y="4285722"/>
            <a:ext cx="493081"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1.96</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9" name="Shape 67"/>
          <p:cNvSpPr/>
          <p:nvPr/>
        </p:nvSpPr>
        <p:spPr>
          <a:xfrm>
            <a:off x="6291072" y="4592398"/>
            <a:ext cx="490542"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1.95</a:t>
            </a:r>
            <a:endParaRPr lang="en-US" sz="1300" dirty="0"/>
          </a:p>
        </p:txBody>
      </p:sp>
      <p:sp>
        <p:nvSpPr>
          <p:cNvPr id="71" name="Shape 69"/>
          <p:cNvSpPr/>
          <p:nvPr/>
        </p:nvSpPr>
        <p:spPr>
          <a:xfrm>
            <a:off x="4261104" y="4822405"/>
            <a:ext cx="3529584" cy="297532"/>
          </a:xfrm>
          <a:prstGeom prst="rect">
            <a:avLst/>
          </a:prstGeom>
          <a:solidFill>
            <a:srgbClr val="EDF4FA"/>
          </a:solidFill>
          <a:ln/>
        </p:spPr>
      </p:sp>
      <p:sp>
        <p:nvSpPr>
          <p:cNvPr id="72" name="Text 70"/>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73" name="Shape 71"/>
          <p:cNvSpPr/>
          <p:nvPr/>
        </p:nvSpPr>
        <p:spPr>
          <a:xfrm>
            <a:off x="6291072" y="4899074"/>
            <a:ext cx="439804" cy="153338"/>
          </a:xfrm>
          <a:prstGeom prst="rect">
            <a:avLst/>
          </a:prstGeom>
          <a:solidFill>
            <a:srgbClr val="0B2C4A"/>
          </a:solidFill>
          <a:ln/>
        </p:spPr>
      </p:sp>
      <p:sp>
        <p:nvSpPr>
          <p:cNvPr id="74" name="Text 72"/>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1.75</a:t>
            </a:r>
            <a:endParaRPr lang="en-US" sz="1300" dirty="0"/>
          </a:p>
        </p:txBody>
      </p:sp>
      <p:sp>
        <p:nvSpPr>
          <p:cNvPr id="75" name="Text 73"/>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6" name="Shape 74"/>
          <p:cNvSpPr/>
          <p:nvPr/>
        </p:nvSpPr>
        <p:spPr>
          <a:xfrm>
            <a:off x="6291072" y="5205750"/>
            <a:ext cx="438976" cy="153338"/>
          </a:xfrm>
          <a:prstGeom prst="rect">
            <a:avLst/>
          </a:prstGeom>
          <a:solidFill>
            <a:srgbClr val="C2352F"/>
          </a:solidFill>
          <a:ln/>
        </p:spPr>
      </p:sp>
      <p:sp>
        <p:nvSpPr>
          <p:cNvPr id="77" name="Text 75"/>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1.74</a:t>
            </a:r>
            <a:endParaRPr lang="en-US" sz="1300" dirty="0"/>
          </a:p>
        </p:txBody>
      </p:sp>
      <p:sp>
        <p:nvSpPr>
          <p:cNvPr id="78" name="Text 76"/>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79" name="Shape 77"/>
          <p:cNvSpPr/>
          <p:nvPr/>
        </p:nvSpPr>
        <p:spPr>
          <a:xfrm>
            <a:off x="6291072" y="5512425"/>
            <a:ext cx="430143" cy="153338"/>
          </a:xfrm>
          <a:prstGeom prst="rect">
            <a:avLst/>
          </a:prstGeom>
          <a:solidFill>
            <a:srgbClr val="C2352F"/>
          </a:solidFill>
          <a:ln/>
        </p:spPr>
      </p:sp>
      <p:sp>
        <p:nvSpPr>
          <p:cNvPr id="80" name="Text 78"/>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1.71</a:t>
            </a:r>
            <a:endParaRPr lang="en-US" sz="1300" dirty="0"/>
          </a:p>
        </p:txBody>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2" name="Shape 80"/>
          <p:cNvSpPr/>
          <p:nvPr/>
        </p:nvSpPr>
        <p:spPr>
          <a:xfrm>
            <a:off x="9893808" y="1832317"/>
            <a:ext cx="419539" cy="153338"/>
          </a:xfrm>
          <a:prstGeom prst="rect">
            <a:avLst/>
          </a:prstGeom>
          <a:solidFill>
            <a:srgbClr val="C2352F"/>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1.67</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5" name="Shape 83"/>
          <p:cNvSpPr/>
          <p:nvPr/>
        </p:nvSpPr>
        <p:spPr>
          <a:xfrm>
            <a:off x="9893808" y="2138993"/>
            <a:ext cx="412033"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1.64</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8" name="Shape 86"/>
          <p:cNvSpPr/>
          <p:nvPr/>
        </p:nvSpPr>
        <p:spPr>
          <a:xfrm>
            <a:off x="9893808" y="2445668"/>
            <a:ext cx="402432"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1.60</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1" name="Shape 89"/>
          <p:cNvSpPr/>
          <p:nvPr/>
        </p:nvSpPr>
        <p:spPr>
          <a:xfrm>
            <a:off x="9893808" y="2752344"/>
            <a:ext cx="395193"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1.57</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4" name="Shape 92"/>
          <p:cNvSpPr/>
          <p:nvPr/>
        </p:nvSpPr>
        <p:spPr>
          <a:xfrm>
            <a:off x="9893808" y="3059020"/>
            <a:ext cx="373339"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1.48</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7" name="Shape 95"/>
          <p:cNvSpPr/>
          <p:nvPr/>
        </p:nvSpPr>
        <p:spPr>
          <a:xfrm>
            <a:off x="9893808" y="3365695"/>
            <a:ext cx="370773"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1.47</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00" name="Shape 98"/>
          <p:cNvSpPr/>
          <p:nvPr/>
        </p:nvSpPr>
        <p:spPr>
          <a:xfrm>
            <a:off x="9893808" y="3672371"/>
            <a:ext cx="366723"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1.46</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03" name="Shape 101"/>
          <p:cNvSpPr/>
          <p:nvPr/>
        </p:nvSpPr>
        <p:spPr>
          <a:xfrm>
            <a:off x="9893808" y="3979047"/>
            <a:ext cx="359896"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1.43</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6" name="Shape 104"/>
          <p:cNvSpPr/>
          <p:nvPr/>
        </p:nvSpPr>
        <p:spPr>
          <a:xfrm>
            <a:off x="9893808" y="4285722"/>
            <a:ext cx="357762"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1.42</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9" name="Shape 107"/>
          <p:cNvSpPr/>
          <p:nvPr/>
        </p:nvSpPr>
        <p:spPr>
          <a:xfrm>
            <a:off x="9893808" y="4592398"/>
            <a:ext cx="354023"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1.41</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12" name="Shape 110"/>
          <p:cNvSpPr/>
          <p:nvPr/>
        </p:nvSpPr>
        <p:spPr>
          <a:xfrm>
            <a:off x="9893808" y="4899074"/>
            <a:ext cx="348438"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15" name="Shape 113"/>
          <p:cNvSpPr/>
          <p:nvPr/>
        </p:nvSpPr>
        <p:spPr>
          <a:xfrm>
            <a:off x="9893808" y="5205750"/>
            <a:ext cx="324886"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1.29</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4 of 9 luxury stores beat 2.90 and 10 of 24 others beat 1.75. VW HENDERSON leads non-luxury at 2.49.</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Hours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+0.07</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2" name="Shape 10"/>
          <p:cNvSpPr/>
          <p:nvPr/>
        </p:nvSpPr>
        <p:spPr>
          <a:xfrm>
            <a:off x="3813048" y="1909246"/>
            <a:ext cx="81548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+0.55</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5" name="Shape 13"/>
          <p:cNvSpPr/>
          <p:nvPr/>
        </p:nvSpPr>
        <p:spPr>
          <a:xfrm>
            <a:off x="3813048" y="2139459"/>
            <a:ext cx="597882"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+0.40</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8" name="Shape 16"/>
          <p:cNvSpPr/>
          <p:nvPr/>
        </p:nvSpPr>
        <p:spPr>
          <a:xfrm>
            <a:off x="3813048" y="2369673"/>
            <a:ext cx="451128"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+0.30</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21" name="Shape 19"/>
          <p:cNvSpPr/>
          <p:nvPr/>
        </p:nvSpPr>
        <p:spPr>
          <a:xfrm>
            <a:off x="3813048" y="2599887"/>
            <a:ext cx="442294"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+0.30</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4" name="Shape 22"/>
          <p:cNvSpPr/>
          <p:nvPr/>
        </p:nvSpPr>
        <p:spPr>
          <a:xfrm>
            <a:off x="3813048" y="2830100"/>
            <a:ext cx="437185"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+0.29</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7" name="Shape 25"/>
          <p:cNvSpPr/>
          <p:nvPr/>
        </p:nvSpPr>
        <p:spPr>
          <a:xfrm>
            <a:off x="3813048" y="3060314"/>
            <a:ext cx="435057"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+0.29</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0" name="Shape 28"/>
          <p:cNvSpPr/>
          <p:nvPr/>
        </p:nvSpPr>
        <p:spPr>
          <a:xfrm>
            <a:off x="3813048" y="3290528"/>
            <a:ext cx="389257"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+0.26</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3" name="Shape 31"/>
          <p:cNvSpPr/>
          <p:nvPr/>
        </p:nvSpPr>
        <p:spPr>
          <a:xfrm>
            <a:off x="3813048" y="3520741"/>
            <a:ext cx="38305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+0.26</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6" name="Shape 34"/>
          <p:cNvSpPr/>
          <p:nvPr/>
        </p:nvSpPr>
        <p:spPr>
          <a:xfrm>
            <a:off x="3813048" y="3750955"/>
            <a:ext cx="368232"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+0.25</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9" name="Shape 37"/>
          <p:cNvSpPr/>
          <p:nvPr/>
        </p:nvSpPr>
        <p:spPr>
          <a:xfrm>
            <a:off x="3813048" y="3981169"/>
            <a:ext cx="342831"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+0.23</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2" name="Shape 40"/>
          <p:cNvSpPr/>
          <p:nvPr/>
        </p:nvSpPr>
        <p:spPr>
          <a:xfrm>
            <a:off x="3813048" y="4211382"/>
            <a:ext cx="293149"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+0.20</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5" name="Shape 43"/>
          <p:cNvSpPr/>
          <p:nvPr/>
        </p:nvSpPr>
        <p:spPr>
          <a:xfrm>
            <a:off x="3813048" y="4441596"/>
            <a:ext cx="276427"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+0.19</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8" name="Shape 46"/>
          <p:cNvSpPr/>
          <p:nvPr/>
        </p:nvSpPr>
        <p:spPr>
          <a:xfrm>
            <a:off x="3813048" y="4671809"/>
            <a:ext cx="234816"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+0.16</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51" name="Shape 49"/>
          <p:cNvSpPr/>
          <p:nvPr/>
        </p:nvSpPr>
        <p:spPr>
          <a:xfrm>
            <a:off x="3813048" y="4902023"/>
            <a:ext cx="192190"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+0.13</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54" name="Shape 52"/>
          <p:cNvSpPr/>
          <p:nvPr/>
        </p:nvSpPr>
        <p:spPr>
          <a:xfrm>
            <a:off x="3813048" y="5132237"/>
            <a:ext cx="165698"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+0.11</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7" name="Shape 55"/>
          <p:cNvSpPr/>
          <p:nvPr/>
        </p:nvSpPr>
        <p:spPr>
          <a:xfrm>
            <a:off x="3813048" y="5362450"/>
            <a:ext cx="154983"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+0.10</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0" name="Shape 58"/>
          <p:cNvSpPr/>
          <p:nvPr/>
        </p:nvSpPr>
        <p:spPr>
          <a:xfrm>
            <a:off x="3813048" y="5592664"/>
            <a:ext cx="15108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+0.10</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3" name="Shape 61"/>
          <p:cNvSpPr/>
          <p:nvPr/>
        </p:nvSpPr>
        <p:spPr>
          <a:xfrm>
            <a:off x="9363456" y="1909246"/>
            <a:ext cx="140525"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+0.09</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6" name="Shape 64"/>
          <p:cNvSpPr/>
          <p:nvPr/>
        </p:nvSpPr>
        <p:spPr>
          <a:xfrm>
            <a:off x="9363456" y="2139459"/>
            <a:ext cx="13610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+0.09</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9" name="Shape 67"/>
          <p:cNvSpPr/>
          <p:nvPr/>
        </p:nvSpPr>
        <p:spPr>
          <a:xfrm>
            <a:off x="9363456" y="2369673"/>
            <a:ext cx="129736"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+0.09</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72" name="Shape 70"/>
          <p:cNvSpPr/>
          <p:nvPr/>
        </p:nvSpPr>
        <p:spPr>
          <a:xfrm>
            <a:off x="9363456" y="2599887"/>
            <a:ext cx="121354"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+0.08</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5" name="Shape 73"/>
          <p:cNvSpPr/>
          <p:nvPr/>
        </p:nvSpPr>
        <p:spPr>
          <a:xfrm>
            <a:off x="9363456" y="2830100"/>
            <a:ext cx="118307"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+0.08</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8" name="Shape 76"/>
          <p:cNvSpPr/>
          <p:nvPr/>
        </p:nvSpPr>
        <p:spPr>
          <a:xfrm>
            <a:off x="9363456" y="3060314"/>
            <a:ext cx="67607"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+0.05</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81" name="Shape 79"/>
          <p:cNvSpPr/>
          <p:nvPr/>
        </p:nvSpPr>
        <p:spPr>
          <a:xfrm>
            <a:off x="9363456" y="3290528"/>
            <a:ext cx="61651"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+0.04</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4" name="Shape 82"/>
          <p:cNvSpPr/>
          <p:nvPr/>
        </p:nvSpPr>
        <p:spPr>
          <a:xfrm>
            <a:off x="9363456" y="3520741"/>
            <a:ext cx="12802"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+0.01</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7" name="Shape 85"/>
          <p:cNvSpPr/>
          <p:nvPr/>
        </p:nvSpPr>
        <p:spPr>
          <a:xfrm>
            <a:off x="9363456" y="3750955"/>
            <a:ext cx="12802"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+0.00</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0" name="Shape 88"/>
          <p:cNvSpPr/>
          <p:nvPr/>
        </p:nvSpPr>
        <p:spPr>
          <a:xfrm>
            <a:off x="9322637" y="3981169"/>
            <a:ext cx="40819"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−0.03</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3" name="Shape 91"/>
          <p:cNvSpPr/>
          <p:nvPr/>
        </p:nvSpPr>
        <p:spPr>
          <a:xfrm>
            <a:off x="9317113" y="4211382"/>
            <a:ext cx="4634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−0.03</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6" name="Shape 94"/>
          <p:cNvSpPr/>
          <p:nvPr/>
        </p:nvSpPr>
        <p:spPr>
          <a:xfrm>
            <a:off x="9260707" y="4441596"/>
            <a:ext cx="102749"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−0.07</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99" name="Shape 97"/>
          <p:cNvSpPr/>
          <p:nvPr/>
        </p:nvSpPr>
        <p:spPr>
          <a:xfrm>
            <a:off x="9136828" y="4671809"/>
            <a:ext cx="226628"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−0.15</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2" name="Shape 100"/>
          <p:cNvSpPr/>
          <p:nvPr/>
        </p:nvSpPr>
        <p:spPr>
          <a:xfrm>
            <a:off x="8999228" y="4902023"/>
            <a:ext cx="364228"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−0.24</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5" name="Shape 103"/>
          <p:cNvSpPr/>
          <p:nvPr/>
        </p:nvSpPr>
        <p:spPr>
          <a:xfrm>
            <a:off x="8913803" y="5132237"/>
            <a:ext cx="44965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−0.30</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−0.55</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26 of 33 stores sold more hours per RO, led by SUBARU ST GEORGE at +0.55 to 2.30. 7 declined; LR RENO fell most at −0.55.</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$158.86</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$162.42</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+$3.56</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+2.2%</a:t>
            </a:r>
            <a:endParaRPr lang="en-US" sz="30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$157.20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$161.13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+$3.93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$158.38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+$3.64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$158.80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$158.09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$161.12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$162.60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$160.09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$164.83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+$4.74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$159.15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$163.61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$3.56 to $162.42, ahead of 2025 in all nine months.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$266.32</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1" name="Shape 9"/>
          <p:cNvSpPr/>
          <p:nvPr/>
        </p:nvSpPr>
        <p:spPr>
          <a:xfrm>
            <a:off x="2267712" y="2138993"/>
            <a:ext cx="909937"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$235.07</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4" name="Shape 12"/>
          <p:cNvSpPr/>
          <p:nvPr/>
        </p:nvSpPr>
        <p:spPr>
          <a:xfrm>
            <a:off x="2267712" y="2445668"/>
            <a:ext cx="907949"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$234.55</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7" name="Shape 15"/>
          <p:cNvSpPr/>
          <p:nvPr/>
        </p:nvSpPr>
        <p:spPr>
          <a:xfrm>
            <a:off x="2267712" y="2752344"/>
            <a:ext cx="905009"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$233.79</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0" name="Shape 18"/>
          <p:cNvSpPr/>
          <p:nvPr/>
        </p:nvSpPr>
        <p:spPr>
          <a:xfrm>
            <a:off x="2267712" y="3059020"/>
            <a:ext cx="903719"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$233.46</a:t>
            </a:r>
            <a:endParaRPr lang="en-US" sz="1300" dirty="0"/>
          </a:p>
        </p:txBody>
      </p:sp>
      <p:sp>
        <p:nvSpPr>
          <p:cNvPr id="22" name="Text 20"/>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3" name="Shape 21"/>
          <p:cNvSpPr/>
          <p:nvPr/>
        </p:nvSpPr>
        <p:spPr>
          <a:xfrm>
            <a:off x="2267712" y="3365695"/>
            <a:ext cx="859813" cy="153338"/>
          </a:xfrm>
          <a:prstGeom prst="rect">
            <a:avLst/>
          </a:prstGeom>
          <a:solidFill>
            <a:srgbClr val="12A566"/>
          </a:solidFill>
          <a:ln/>
        </p:spPr>
      </p:sp>
      <p:sp>
        <p:nvSpPr>
          <p:cNvPr id="24" name="Text 22"/>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$222.12</a:t>
            </a:r>
            <a:endParaRPr lang="en-US" sz="1300" dirty="0"/>
          </a:p>
        </p:txBody>
      </p:sp>
      <p:sp>
        <p:nvSpPr>
          <p:cNvPr id="25" name="Shape 23"/>
          <p:cNvSpPr/>
          <p:nvPr/>
        </p:nvSpPr>
        <p:spPr>
          <a:xfrm>
            <a:off x="603504" y="3595702"/>
            <a:ext cx="3566160" cy="297532"/>
          </a:xfrm>
          <a:prstGeom prst="rect">
            <a:avLst/>
          </a:prstGeom>
          <a:solidFill>
            <a:srgbClr val="EDF4FA"/>
          </a:solidFill>
          <a:ln/>
        </p:spPr>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7" name="Shape 25"/>
          <p:cNvSpPr/>
          <p:nvPr/>
        </p:nvSpPr>
        <p:spPr>
          <a:xfrm>
            <a:off x="2267712" y="3672371"/>
            <a:ext cx="843067" cy="153338"/>
          </a:xfrm>
          <a:prstGeom prst="rect">
            <a:avLst/>
          </a:prstGeom>
          <a:solidFill>
            <a:srgbClr val="0B2C4A"/>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$217.79</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0" name="Shape 28"/>
          <p:cNvSpPr/>
          <p:nvPr/>
        </p:nvSpPr>
        <p:spPr>
          <a:xfrm>
            <a:off x="2267712" y="3979047"/>
            <a:ext cx="748218"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$193.29</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3" name="Shape 31"/>
          <p:cNvSpPr/>
          <p:nvPr/>
        </p:nvSpPr>
        <p:spPr>
          <a:xfrm>
            <a:off x="2267712" y="4285722"/>
            <a:ext cx="658116"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$170.01</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6" name="Shape 34"/>
          <p:cNvSpPr/>
          <p:nvPr/>
        </p:nvSpPr>
        <p:spPr>
          <a:xfrm>
            <a:off x="2267712" y="4592398"/>
            <a:ext cx="648916"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$167.64</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$217.79  </a:t>
            </a:r>
            <a:pPr indent="0" marL="0">
              <a:buNone/>
            </a:pPr>
            <a:r>
              <a:rPr lang="en-US" sz="1400" b="1" dirty="0">
                <a:solidFill>
                  <a:srgbClr val="0B7A4A"/>
                </a:solidFill>
                <a:latin typeface="Inter" pitchFamily="34" charset="0"/>
                <a:ea typeface="Inter" pitchFamily="34" charset="-122"/>
                <a:cs typeface="Inter" pitchFamily="34" charset="-120"/>
              </a:rPr>
              <a:t>(+$6.75)</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$151.32  </a:t>
            </a:r>
            <a:pPr indent="0" marL="0">
              <a:buNone/>
            </a:pPr>
            <a:r>
              <a:rPr lang="en-US" sz="1400" b="1" dirty="0">
                <a:solidFill>
                  <a:srgbClr val="0B7A4A"/>
                </a:solidFill>
                <a:latin typeface="Inter" pitchFamily="34" charset="0"/>
                <a:ea typeface="Inter" pitchFamily="34" charset="-122"/>
                <a:cs typeface="Inter" pitchFamily="34" charset="-120"/>
              </a:rPr>
              <a:t>(+$3.00)</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$210.50</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5" name="Shape 43"/>
          <p:cNvSpPr/>
          <p:nvPr/>
        </p:nvSpPr>
        <p:spPr>
          <a:xfrm>
            <a:off x="6291072" y="2138993"/>
            <a:ext cx="524370"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$175.90</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48" name="Shape 46"/>
          <p:cNvSpPr/>
          <p:nvPr/>
        </p:nvSpPr>
        <p:spPr>
          <a:xfrm>
            <a:off x="6291072" y="2445668"/>
            <a:ext cx="496190"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$166.44</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51" name="Shape 49"/>
          <p:cNvSpPr/>
          <p:nvPr/>
        </p:nvSpPr>
        <p:spPr>
          <a:xfrm>
            <a:off x="6291072" y="2752344"/>
            <a:ext cx="487825"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$163.64</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4" name="Shape 52"/>
          <p:cNvSpPr/>
          <p:nvPr/>
        </p:nvSpPr>
        <p:spPr>
          <a:xfrm>
            <a:off x="6291072" y="3059020"/>
            <a:ext cx="485485"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$162.85</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7" name="Shape 55"/>
          <p:cNvSpPr/>
          <p:nvPr/>
        </p:nvSpPr>
        <p:spPr>
          <a:xfrm>
            <a:off x="6291072" y="3365695"/>
            <a:ext cx="478952"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$160.66</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0" name="Shape 58"/>
          <p:cNvSpPr/>
          <p:nvPr/>
        </p:nvSpPr>
        <p:spPr>
          <a:xfrm>
            <a:off x="6291072" y="3672371"/>
            <a:ext cx="475697"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$159.57</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3" name="Shape 61"/>
          <p:cNvSpPr/>
          <p:nvPr/>
        </p:nvSpPr>
        <p:spPr>
          <a:xfrm>
            <a:off x="6291072" y="3979047"/>
            <a:ext cx="475119"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$159.38</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6" name="Shape 64"/>
          <p:cNvSpPr/>
          <p:nvPr/>
        </p:nvSpPr>
        <p:spPr>
          <a:xfrm>
            <a:off x="6291072" y="4285722"/>
            <a:ext cx="469045"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$157.34</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69" name="Shape 67"/>
          <p:cNvSpPr/>
          <p:nvPr/>
        </p:nvSpPr>
        <p:spPr>
          <a:xfrm>
            <a:off x="6291072" y="4592398"/>
            <a:ext cx="465606"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$156.18</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6291072" y="4899074"/>
            <a:ext cx="460611"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$154.51</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5" name="Shape 73"/>
          <p:cNvSpPr/>
          <p:nvPr/>
        </p:nvSpPr>
        <p:spPr>
          <a:xfrm>
            <a:off x="6291072" y="5205750"/>
            <a:ext cx="456968"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$153.29</a:t>
            </a:r>
            <a:endParaRPr lang="en-US" sz="1300" dirty="0"/>
          </a:p>
        </p:txBody>
      </p:sp>
      <p:sp>
        <p:nvSpPr>
          <p:cNvPr id="77" name="Shape 75"/>
          <p:cNvSpPr/>
          <p:nvPr/>
        </p:nvSpPr>
        <p:spPr>
          <a:xfrm>
            <a:off x="4261104" y="5435756"/>
            <a:ext cx="3529584" cy="297532"/>
          </a:xfrm>
          <a:prstGeom prst="rect">
            <a:avLst/>
          </a:prstGeom>
          <a:solidFill>
            <a:srgbClr val="EDF4FA"/>
          </a:solidFill>
          <a:ln/>
        </p:spPr>
      </p:sp>
      <p:sp>
        <p:nvSpPr>
          <p:cNvPr id="78" name="Text 76"/>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79" name="Shape 77"/>
          <p:cNvSpPr/>
          <p:nvPr/>
        </p:nvSpPr>
        <p:spPr>
          <a:xfrm>
            <a:off x="6291072" y="5512425"/>
            <a:ext cx="451095" cy="153338"/>
          </a:xfrm>
          <a:prstGeom prst="rect">
            <a:avLst/>
          </a:prstGeom>
          <a:solidFill>
            <a:srgbClr val="0B2C4A"/>
          </a:solidFill>
          <a:ln/>
        </p:spPr>
      </p:sp>
      <p:sp>
        <p:nvSpPr>
          <p:cNvPr id="80" name="Text 78"/>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$151.32</a:t>
            </a:r>
            <a:endParaRPr lang="en-US" sz="1300" dirty="0"/>
          </a:p>
        </p:txBody>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2" name="Shape 80"/>
          <p:cNvSpPr/>
          <p:nvPr/>
        </p:nvSpPr>
        <p:spPr>
          <a:xfrm>
            <a:off x="9893808" y="1832317"/>
            <a:ext cx="444873" cy="153338"/>
          </a:xfrm>
          <a:prstGeom prst="rect">
            <a:avLst/>
          </a:prstGeom>
          <a:solidFill>
            <a:srgbClr val="C2352F"/>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$149.23</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5" name="Shape 83"/>
          <p:cNvSpPr/>
          <p:nvPr/>
        </p:nvSpPr>
        <p:spPr>
          <a:xfrm>
            <a:off x="9893808" y="2138993"/>
            <a:ext cx="441895"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$148.23</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8" name="Shape 86"/>
          <p:cNvSpPr/>
          <p:nvPr/>
        </p:nvSpPr>
        <p:spPr>
          <a:xfrm>
            <a:off x="9893808" y="2445668"/>
            <a:ext cx="430759"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$144.50</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91" name="Shape 89"/>
          <p:cNvSpPr/>
          <p:nvPr/>
        </p:nvSpPr>
        <p:spPr>
          <a:xfrm>
            <a:off x="9893808" y="2752344"/>
            <a:ext cx="428958"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$143.89</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94" name="Shape 92"/>
          <p:cNvSpPr/>
          <p:nvPr/>
        </p:nvSpPr>
        <p:spPr>
          <a:xfrm>
            <a:off x="9893808" y="3059020"/>
            <a:ext cx="426467"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$143.06</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7" name="Shape 95"/>
          <p:cNvSpPr/>
          <p:nvPr/>
        </p:nvSpPr>
        <p:spPr>
          <a:xfrm>
            <a:off x="9893808" y="3365695"/>
            <a:ext cx="425697"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$142.80</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0" name="Shape 98"/>
          <p:cNvSpPr/>
          <p:nvPr/>
        </p:nvSpPr>
        <p:spPr>
          <a:xfrm>
            <a:off x="9893808" y="3672371"/>
            <a:ext cx="420646"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$141.10</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3" name="Shape 101"/>
          <p:cNvSpPr/>
          <p:nvPr/>
        </p:nvSpPr>
        <p:spPr>
          <a:xfrm>
            <a:off x="9893808" y="3979047"/>
            <a:ext cx="414760"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$139.13</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6" name="Shape 104"/>
          <p:cNvSpPr/>
          <p:nvPr/>
        </p:nvSpPr>
        <p:spPr>
          <a:xfrm>
            <a:off x="9893808" y="4285722"/>
            <a:ext cx="412834"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$138.48</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9" name="Shape 107"/>
          <p:cNvSpPr/>
          <p:nvPr/>
        </p:nvSpPr>
        <p:spPr>
          <a:xfrm>
            <a:off x="9893808" y="4592398"/>
            <a:ext cx="402913"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$135.15</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12" name="Shape 110"/>
          <p:cNvSpPr/>
          <p:nvPr/>
        </p:nvSpPr>
        <p:spPr>
          <a:xfrm>
            <a:off x="9893808" y="4899074"/>
            <a:ext cx="388906"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$130.46</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15" name="Shape 113"/>
          <p:cNvSpPr/>
          <p:nvPr/>
        </p:nvSpPr>
        <p:spPr>
          <a:xfrm>
            <a:off x="9893808" y="5205750"/>
            <a:ext cx="375885"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$126.09</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6 of 9 luxury stores beat $217.79 and 12 of 24 others beat $151.32. ACURA leads non-luxury at $210.50.</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+$3.56</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+$40.53</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5" name="Shape 13"/>
          <p:cNvSpPr/>
          <p:nvPr/>
        </p:nvSpPr>
        <p:spPr>
          <a:xfrm>
            <a:off x="3813048" y="2139459"/>
            <a:ext cx="570185"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+$28.08</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8" name="Shape 16"/>
          <p:cNvSpPr/>
          <p:nvPr/>
        </p:nvSpPr>
        <p:spPr>
          <a:xfrm>
            <a:off x="3813048" y="2369673"/>
            <a:ext cx="54498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+$26.84</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1" name="Shape 19"/>
          <p:cNvSpPr/>
          <p:nvPr/>
        </p:nvSpPr>
        <p:spPr>
          <a:xfrm>
            <a:off x="3813048" y="2599887"/>
            <a:ext cx="447186"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+$22.02</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4" name="Shape 22"/>
          <p:cNvSpPr/>
          <p:nvPr/>
        </p:nvSpPr>
        <p:spPr>
          <a:xfrm>
            <a:off x="3813048" y="2830100"/>
            <a:ext cx="353607"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+$17.41</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7" name="Shape 25"/>
          <p:cNvSpPr/>
          <p:nvPr/>
        </p:nvSpPr>
        <p:spPr>
          <a:xfrm>
            <a:off x="3813048" y="3060314"/>
            <a:ext cx="342708"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+$16.88</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0" name="Shape 28"/>
          <p:cNvSpPr/>
          <p:nvPr/>
        </p:nvSpPr>
        <p:spPr>
          <a:xfrm>
            <a:off x="3813048" y="3290528"/>
            <a:ext cx="30237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+$14.89</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3" name="Shape 31"/>
          <p:cNvSpPr/>
          <p:nvPr/>
        </p:nvSpPr>
        <p:spPr>
          <a:xfrm>
            <a:off x="3813048" y="3520741"/>
            <a:ext cx="24058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+$11.85</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36" name="Shape 34"/>
          <p:cNvSpPr/>
          <p:nvPr/>
        </p:nvSpPr>
        <p:spPr>
          <a:xfrm>
            <a:off x="3813048" y="3750955"/>
            <a:ext cx="186333"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+$9.18</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9" name="Shape 37"/>
          <p:cNvSpPr/>
          <p:nvPr/>
        </p:nvSpPr>
        <p:spPr>
          <a:xfrm>
            <a:off x="3813048" y="3981169"/>
            <a:ext cx="151751"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+$7.47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2" name="Shape 40"/>
          <p:cNvSpPr/>
          <p:nvPr/>
        </p:nvSpPr>
        <p:spPr>
          <a:xfrm>
            <a:off x="3813048" y="4211382"/>
            <a:ext cx="125240"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+$6.17</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5" name="Shape 43"/>
          <p:cNvSpPr/>
          <p:nvPr/>
        </p:nvSpPr>
        <p:spPr>
          <a:xfrm>
            <a:off x="3813048" y="4441596"/>
            <a:ext cx="90779"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+$4.47</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48" name="Shape 46"/>
          <p:cNvSpPr/>
          <p:nvPr/>
        </p:nvSpPr>
        <p:spPr>
          <a:xfrm>
            <a:off x="3813048" y="4671809"/>
            <a:ext cx="86228"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+$4.25</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1" name="Shape 49"/>
          <p:cNvSpPr/>
          <p:nvPr/>
        </p:nvSpPr>
        <p:spPr>
          <a:xfrm>
            <a:off x="3813048" y="4902023"/>
            <a:ext cx="76426"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+$3.76</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4" name="Shape 52"/>
          <p:cNvSpPr/>
          <p:nvPr/>
        </p:nvSpPr>
        <p:spPr>
          <a:xfrm>
            <a:off x="3813048" y="5132237"/>
            <a:ext cx="69092"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+$3.40</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7" name="Shape 55"/>
          <p:cNvSpPr/>
          <p:nvPr/>
        </p:nvSpPr>
        <p:spPr>
          <a:xfrm>
            <a:off x="3813048" y="5362450"/>
            <a:ext cx="67289"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+$3.31</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0" name="Shape 58"/>
          <p:cNvSpPr/>
          <p:nvPr/>
        </p:nvSpPr>
        <p:spPr>
          <a:xfrm>
            <a:off x="3813048" y="5592664"/>
            <a:ext cx="65390"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+$3.22</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63" name="Shape 61"/>
          <p:cNvSpPr/>
          <p:nvPr/>
        </p:nvSpPr>
        <p:spPr>
          <a:xfrm>
            <a:off x="9363456" y="1909246"/>
            <a:ext cx="36255"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+$1.79</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6" name="Shape 64"/>
          <p:cNvSpPr/>
          <p:nvPr/>
        </p:nvSpPr>
        <p:spPr>
          <a:xfrm>
            <a:off x="9363456" y="2139459"/>
            <a:ext cx="12802"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+$0.18</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69" name="Shape 67"/>
          <p:cNvSpPr/>
          <p:nvPr/>
        </p:nvSpPr>
        <p:spPr>
          <a:xfrm>
            <a:off x="9345276" y="2369673"/>
            <a:ext cx="18180" cy="105898"/>
          </a:xfrm>
          <a:prstGeom prst="rect">
            <a:avLst/>
          </a:prstGeom>
          <a:solidFill>
            <a:srgbClr val="C2352F"/>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−$0.90</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2" name="Shape 70"/>
          <p:cNvSpPr/>
          <p:nvPr/>
        </p:nvSpPr>
        <p:spPr>
          <a:xfrm>
            <a:off x="9343443" y="2599887"/>
            <a:ext cx="20013"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−$0.99</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75" name="Shape 73"/>
          <p:cNvSpPr/>
          <p:nvPr/>
        </p:nvSpPr>
        <p:spPr>
          <a:xfrm>
            <a:off x="9334108" y="2830100"/>
            <a:ext cx="29348"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−$1.45</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8" name="Shape 76"/>
          <p:cNvSpPr/>
          <p:nvPr/>
        </p:nvSpPr>
        <p:spPr>
          <a:xfrm>
            <a:off x="9332465" y="3060314"/>
            <a:ext cx="30991"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81" name="Shape 79"/>
          <p:cNvSpPr/>
          <p:nvPr/>
        </p:nvSpPr>
        <p:spPr>
          <a:xfrm>
            <a:off x="9326112" y="3290528"/>
            <a:ext cx="37344"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−$1.84</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4" name="Shape 82"/>
          <p:cNvSpPr/>
          <p:nvPr/>
        </p:nvSpPr>
        <p:spPr>
          <a:xfrm>
            <a:off x="9322099" y="3520741"/>
            <a:ext cx="41357"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−$2.04</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7" name="Shape 85"/>
          <p:cNvSpPr/>
          <p:nvPr/>
        </p:nvSpPr>
        <p:spPr>
          <a:xfrm>
            <a:off x="9322058" y="3750955"/>
            <a:ext cx="41398"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−$2.04</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0" name="Shape 88"/>
          <p:cNvSpPr/>
          <p:nvPr/>
        </p:nvSpPr>
        <p:spPr>
          <a:xfrm>
            <a:off x="9319940" y="3981169"/>
            <a:ext cx="43516"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−$2.14</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93" name="Shape 91"/>
          <p:cNvSpPr/>
          <p:nvPr/>
        </p:nvSpPr>
        <p:spPr>
          <a:xfrm>
            <a:off x="9290260" y="4211382"/>
            <a:ext cx="73196"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−$3.60</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96" name="Shape 94"/>
          <p:cNvSpPr/>
          <p:nvPr/>
        </p:nvSpPr>
        <p:spPr>
          <a:xfrm>
            <a:off x="9236404" y="4441596"/>
            <a:ext cx="12705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−$6.26</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153225" y="4671809"/>
            <a:ext cx="210231"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−$10.35</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02" name="Shape 100"/>
          <p:cNvSpPr/>
          <p:nvPr/>
        </p:nvSpPr>
        <p:spPr>
          <a:xfrm>
            <a:off x="9134462" y="4902023"/>
            <a:ext cx="228994"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−$11.28</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5" name="Shape 103"/>
          <p:cNvSpPr/>
          <p:nvPr/>
        </p:nvSpPr>
        <p:spPr>
          <a:xfrm>
            <a:off x="9106714" y="5132237"/>
            <a:ext cx="256742"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−$12.64</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08" name="Shape 106"/>
          <p:cNvSpPr/>
          <p:nvPr/>
        </p:nvSpPr>
        <p:spPr>
          <a:xfrm>
            <a:off x="8650173" y="5362450"/>
            <a:ext cx="713283"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−$35.13</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19 of 33 stores raised CP ELR, led by VOLVO at +$40.53 to $222.12. 14 declined; KIA LV fell most at −$35.13.</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433425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512064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8" name="Text 6"/>
          <p:cNvSpPr txBox="1"/>
          <p:nvPr/>
        </p:nvSpPr>
        <p:spPr>
          <a:xfrm>
            <a:off x="658368"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9" name="Shape 7"/>
          <p:cNvSpPr/>
          <p:nvPr/>
        </p:nvSpPr>
        <p:spPr>
          <a:xfrm>
            <a:off x="2651760" y="1811020"/>
            <a:ext cx="2414016" cy="110744"/>
          </a:xfrm>
          <a:prstGeom prst="rect">
            <a:avLst/>
          </a:prstGeom>
          <a:solidFill>
            <a:srgbClr val="2587C5"/>
          </a:solidFill>
          <a:ln/>
        </p:spPr>
      </p:sp>
      <p:sp>
        <p:nvSpPr>
          <p:cNvPr id="10" name="Text 8"/>
          <p:cNvSpPr txBox="1"/>
          <p:nvPr/>
        </p:nvSpPr>
        <p:spPr>
          <a:xfrm>
            <a:off x="5120640"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$348.87</a:t>
            </a:r>
            <a:endParaRPr lang="en-US" sz="1300" dirty="0"/>
          </a:p>
        </p:txBody>
      </p:sp>
      <p:sp>
        <p:nvSpPr>
          <p:cNvPr id="11" name="Text 9"/>
          <p:cNvSpPr txBox="1"/>
          <p:nvPr/>
        </p:nvSpPr>
        <p:spPr>
          <a:xfrm>
            <a:off x="658368"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2" name="Shape 10"/>
          <p:cNvSpPr/>
          <p:nvPr/>
        </p:nvSpPr>
        <p:spPr>
          <a:xfrm>
            <a:off x="2651760" y="2032508"/>
            <a:ext cx="2036981" cy="110744"/>
          </a:xfrm>
          <a:prstGeom prst="rect">
            <a:avLst/>
          </a:prstGeom>
          <a:solidFill>
            <a:srgbClr val="2587C5"/>
          </a:solidFill>
          <a:ln/>
        </p:spPr>
      </p:sp>
      <p:sp>
        <p:nvSpPr>
          <p:cNvPr id="13" name="Text 11"/>
          <p:cNvSpPr txBox="1"/>
          <p:nvPr/>
        </p:nvSpPr>
        <p:spPr>
          <a:xfrm>
            <a:off x="5120640"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$310.00</a:t>
            </a:r>
            <a:endParaRPr lang="en-US" sz="1300" dirty="0"/>
          </a:p>
        </p:txBody>
      </p:sp>
      <p:sp>
        <p:nvSpPr>
          <p:cNvPr id="14" name="Text 12"/>
          <p:cNvSpPr txBox="1"/>
          <p:nvPr/>
        </p:nvSpPr>
        <p:spPr>
          <a:xfrm>
            <a:off x="658368"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5" name="Shape 13"/>
          <p:cNvSpPr/>
          <p:nvPr/>
        </p:nvSpPr>
        <p:spPr>
          <a:xfrm>
            <a:off x="2651760" y="2253996"/>
            <a:ext cx="1890221" cy="110744"/>
          </a:xfrm>
          <a:prstGeom prst="rect">
            <a:avLst/>
          </a:prstGeom>
          <a:solidFill>
            <a:srgbClr val="2587C5"/>
          </a:solidFill>
          <a:ln/>
        </p:spPr>
      </p:sp>
      <p:sp>
        <p:nvSpPr>
          <p:cNvPr id="16" name="Text 14"/>
          <p:cNvSpPr txBox="1"/>
          <p:nvPr/>
        </p:nvSpPr>
        <p:spPr>
          <a:xfrm>
            <a:off x="5120640"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$294.87</a:t>
            </a:r>
            <a:endParaRPr lang="en-US" sz="1300" dirty="0"/>
          </a:p>
        </p:txBody>
      </p:sp>
      <p:sp>
        <p:nvSpPr>
          <p:cNvPr id="17" name="Text 15"/>
          <p:cNvSpPr txBox="1"/>
          <p:nvPr/>
        </p:nvSpPr>
        <p:spPr>
          <a:xfrm>
            <a:off x="658368"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8" name="Shape 16"/>
          <p:cNvSpPr/>
          <p:nvPr/>
        </p:nvSpPr>
        <p:spPr>
          <a:xfrm>
            <a:off x="2651760" y="2475484"/>
            <a:ext cx="1794483" cy="110744"/>
          </a:xfrm>
          <a:prstGeom prst="rect">
            <a:avLst/>
          </a:prstGeom>
          <a:solidFill>
            <a:srgbClr val="2587C5"/>
          </a:solidFill>
          <a:ln/>
        </p:spPr>
      </p:sp>
      <p:sp>
        <p:nvSpPr>
          <p:cNvPr id="19" name="Text 17"/>
          <p:cNvSpPr txBox="1"/>
          <p:nvPr/>
        </p:nvSpPr>
        <p:spPr>
          <a:xfrm>
            <a:off x="5120640"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$285.00</a:t>
            </a:r>
            <a:endParaRPr lang="en-US" sz="1300" dirty="0"/>
          </a:p>
        </p:txBody>
      </p:sp>
      <p:sp>
        <p:nvSpPr>
          <p:cNvPr id="20" name="Text 18"/>
          <p:cNvSpPr txBox="1"/>
          <p:nvPr/>
        </p:nvSpPr>
        <p:spPr>
          <a:xfrm>
            <a:off x="658368"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21" name="Shape 19"/>
          <p:cNvSpPr/>
          <p:nvPr/>
        </p:nvSpPr>
        <p:spPr>
          <a:xfrm>
            <a:off x="2651760" y="2696972"/>
            <a:ext cx="1356726" cy="110744"/>
          </a:xfrm>
          <a:prstGeom prst="rect">
            <a:avLst/>
          </a:prstGeom>
          <a:solidFill>
            <a:srgbClr val="2587C5"/>
          </a:solidFill>
          <a:ln/>
        </p:spPr>
      </p:sp>
      <p:sp>
        <p:nvSpPr>
          <p:cNvPr id="22" name="Text 20"/>
          <p:cNvSpPr txBox="1"/>
          <p:nvPr/>
        </p:nvSpPr>
        <p:spPr>
          <a:xfrm>
            <a:off x="5120640"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$239.87</a:t>
            </a:r>
            <a:endParaRPr lang="en-US" sz="1300" dirty="0"/>
          </a:p>
        </p:txBody>
      </p:sp>
      <p:sp>
        <p:nvSpPr>
          <p:cNvPr id="23" name="Text 21"/>
          <p:cNvSpPr txBox="1"/>
          <p:nvPr/>
        </p:nvSpPr>
        <p:spPr>
          <a:xfrm>
            <a:off x="658368"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4" name="Shape 22"/>
          <p:cNvSpPr/>
          <p:nvPr/>
        </p:nvSpPr>
        <p:spPr>
          <a:xfrm>
            <a:off x="2651760" y="2918460"/>
            <a:ext cx="1317926" cy="110744"/>
          </a:xfrm>
          <a:prstGeom prst="rect">
            <a:avLst/>
          </a:prstGeom>
          <a:solidFill>
            <a:srgbClr val="2587C5"/>
          </a:solidFill>
          <a:ln/>
        </p:spPr>
      </p:sp>
      <p:sp>
        <p:nvSpPr>
          <p:cNvPr id="25" name="Text 23"/>
          <p:cNvSpPr txBox="1"/>
          <p:nvPr/>
        </p:nvSpPr>
        <p:spPr>
          <a:xfrm>
            <a:off x="5120640"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$235.87</a:t>
            </a:r>
            <a:endParaRPr lang="en-US" sz="1300" dirty="0"/>
          </a:p>
        </p:txBody>
      </p:sp>
      <p:sp>
        <p:nvSpPr>
          <p:cNvPr id="26" name="Shape 24"/>
          <p:cNvSpPr/>
          <p:nvPr/>
        </p:nvSpPr>
        <p:spPr>
          <a:xfrm>
            <a:off x="603504" y="3084576"/>
            <a:ext cx="5285232" cy="212344"/>
          </a:xfrm>
          <a:prstGeom prst="rect">
            <a:avLst/>
          </a:prstGeom>
          <a:solidFill>
            <a:srgbClr val="EDF4FA"/>
          </a:solidFill>
          <a:ln/>
        </p:spPr>
      </p:sp>
      <p:sp>
        <p:nvSpPr>
          <p:cNvPr id="27" name="Text 25"/>
          <p:cNvSpPr txBox="1"/>
          <p:nvPr/>
        </p:nvSpPr>
        <p:spPr>
          <a:xfrm>
            <a:off x="658368" y="3084576"/>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28" name="Shape 26"/>
          <p:cNvSpPr/>
          <p:nvPr/>
        </p:nvSpPr>
        <p:spPr>
          <a:xfrm>
            <a:off x="2651760" y="3139948"/>
            <a:ext cx="1246950" cy="110744"/>
          </a:xfrm>
          <a:prstGeom prst="rect">
            <a:avLst/>
          </a:prstGeom>
          <a:solidFill>
            <a:srgbClr val="0B2C4A"/>
          </a:solidFill>
          <a:ln/>
        </p:spPr>
      </p:sp>
      <p:sp>
        <p:nvSpPr>
          <p:cNvPr id="29" name="Text 27"/>
          <p:cNvSpPr txBox="1"/>
          <p:nvPr/>
        </p:nvSpPr>
        <p:spPr>
          <a:xfrm>
            <a:off x="5120640" y="3084576"/>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30" name="Text 28"/>
          <p:cNvSpPr txBox="1"/>
          <p:nvPr/>
        </p:nvSpPr>
        <p:spPr>
          <a:xfrm>
            <a:off x="658368"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31" name="Shape 29"/>
          <p:cNvSpPr/>
          <p:nvPr/>
        </p:nvSpPr>
        <p:spPr>
          <a:xfrm>
            <a:off x="2651760" y="3361436"/>
            <a:ext cx="1211227" cy="110744"/>
          </a:xfrm>
          <a:prstGeom prst="rect">
            <a:avLst/>
          </a:prstGeom>
          <a:solidFill>
            <a:srgbClr val="2587C5"/>
          </a:solidFill>
          <a:ln/>
        </p:spPr>
      </p:sp>
      <p:sp>
        <p:nvSpPr>
          <p:cNvPr id="32" name="Text 30"/>
          <p:cNvSpPr txBox="1"/>
          <p:nvPr/>
        </p:nvSpPr>
        <p:spPr>
          <a:xfrm>
            <a:off x="5120640"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33" name="Text 31"/>
          <p:cNvSpPr txBox="1"/>
          <p:nvPr/>
        </p:nvSpPr>
        <p:spPr>
          <a:xfrm>
            <a:off x="658368" y="352755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34" name="Shape 32"/>
          <p:cNvSpPr/>
          <p:nvPr/>
        </p:nvSpPr>
        <p:spPr>
          <a:xfrm>
            <a:off x="2651760" y="3582924"/>
            <a:ext cx="1211227" cy="110744"/>
          </a:xfrm>
          <a:prstGeom prst="rect">
            <a:avLst/>
          </a:prstGeom>
          <a:solidFill>
            <a:srgbClr val="2587C5"/>
          </a:solidFill>
          <a:ln/>
        </p:spPr>
      </p:sp>
      <p:sp>
        <p:nvSpPr>
          <p:cNvPr id="35" name="Text 33"/>
          <p:cNvSpPr txBox="1"/>
          <p:nvPr/>
        </p:nvSpPr>
        <p:spPr>
          <a:xfrm>
            <a:off x="5120640" y="352755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36" name="Text 34"/>
          <p:cNvSpPr txBox="1"/>
          <p:nvPr/>
        </p:nvSpPr>
        <p:spPr>
          <a:xfrm>
            <a:off x="658368"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7" name="Shape 35"/>
          <p:cNvSpPr/>
          <p:nvPr/>
        </p:nvSpPr>
        <p:spPr>
          <a:xfrm>
            <a:off x="2651760" y="3804412"/>
            <a:ext cx="1162728" cy="110744"/>
          </a:xfrm>
          <a:prstGeom prst="rect">
            <a:avLst/>
          </a:prstGeom>
          <a:solidFill>
            <a:srgbClr val="2587C5"/>
          </a:solidFill>
          <a:ln/>
        </p:spPr>
      </p:sp>
      <p:sp>
        <p:nvSpPr>
          <p:cNvPr id="38" name="Text 36"/>
          <p:cNvSpPr txBox="1"/>
          <p:nvPr/>
        </p:nvSpPr>
        <p:spPr>
          <a:xfrm>
            <a:off x="5120640"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$219.87</a:t>
            </a:r>
            <a:endParaRPr lang="en-US" sz="1300" dirty="0"/>
          </a:p>
        </p:txBody>
      </p:sp>
      <p:sp>
        <p:nvSpPr>
          <p:cNvPr id="39" name="Text 37"/>
          <p:cNvSpPr txBox="1"/>
          <p:nvPr/>
        </p:nvSpPr>
        <p:spPr>
          <a:xfrm>
            <a:off x="658368"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0" name="Shape 38"/>
          <p:cNvSpPr/>
          <p:nvPr/>
        </p:nvSpPr>
        <p:spPr>
          <a:xfrm>
            <a:off x="2651760" y="4025900"/>
            <a:ext cx="1085129" cy="110744"/>
          </a:xfrm>
          <a:prstGeom prst="rect">
            <a:avLst/>
          </a:prstGeom>
          <a:solidFill>
            <a:srgbClr val="2587C5"/>
          </a:solidFill>
          <a:ln/>
        </p:spPr>
      </p:sp>
      <p:sp>
        <p:nvSpPr>
          <p:cNvPr id="41" name="Text 39"/>
          <p:cNvSpPr txBox="1"/>
          <p:nvPr/>
        </p:nvSpPr>
        <p:spPr>
          <a:xfrm>
            <a:off x="5120640"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42" name="Text 40"/>
          <p:cNvSpPr txBox="1"/>
          <p:nvPr/>
        </p:nvSpPr>
        <p:spPr>
          <a:xfrm>
            <a:off x="658368"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3" name="Shape 41"/>
          <p:cNvSpPr/>
          <p:nvPr/>
        </p:nvSpPr>
        <p:spPr>
          <a:xfrm>
            <a:off x="2651760" y="4247388"/>
            <a:ext cx="1085129" cy="110744"/>
          </a:xfrm>
          <a:prstGeom prst="rect">
            <a:avLst/>
          </a:prstGeom>
          <a:solidFill>
            <a:srgbClr val="2587C5"/>
          </a:solidFill>
          <a:ln/>
        </p:spPr>
      </p:sp>
      <p:sp>
        <p:nvSpPr>
          <p:cNvPr id="44" name="Text 42"/>
          <p:cNvSpPr txBox="1"/>
          <p:nvPr/>
        </p:nvSpPr>
        <p:spPr>
          <a:xfrm>
            <a:off x="5120640"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45" name="Text 43"/>
          <p:cNvSpPr txBox="1"/>
          <p:nvPr/>
        </p:nvSpPr>
        <p:spPr>
          <a:xfrm>
            <a:off x="658368"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46" name="Shape 44"/>
          <p:cNvSpPr/>
          <p:nvPr/>
        </p:nvSpPr>
        <p:spPr>
          <a:xfrm>
            <a:off x="2651760" y="4468876"/>
            <a:ext cx="1079212" cy="110744"/>
          </a:xfrm>
          <a:prstGeom prst="rect">
            <a:avLst/>
          </a:prstGeom>
          <a:solidFill>
            <a:srgbClr val="2587C5"/>
          </a:solidFill>
          <a:ln/>
        </p:spPr>
      </p:sp>
      <p:sp>
        <p:nvSpPr>
          <p:cNvPr id="47" name="Text 45"/>
          <p:cNvSpPr txBox="1"/>
          <p:nvPr/>
        </p:nvSpPr>
        <p:spPr>
          <a:xfrm>
            <a:off x="5120640"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$211.26</a:t>
            </a:r>
            <a:endParaRPr lang="en-US" sz="1300" dirty="0"/>
          </a:p>
        </p:txBody>
      </p:sp>
      <p:sp>
        <p:nvSpPr>
          <p:cNvPr id="48" name="Text 46"/>
          <p:cNvSpPr txBox="1"/>
          <p:nvPr/>
        </p:nvSpPr>
        <p:spPr>
          <a:xfrm>
            <a:off x="658368"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9" name="Shape 47"/>
          <p:cNvSpPr/>
          <p:nvPr/>
        </p:nvSpPr>
        <p:spPr>
          <a:xfrm>
            <a:off x="2651760" y="4690364"/>
            <a:ext cx="1065729" cy="110744"/>
          </a:xfrm>
          <a:prstGeom prst="rect">
            <a:avLst/>
          </a:prstGeom>
          <a:solidFill>
            <a:srgbClr val="2587C5"/>
          </a:solidFill>
          <a:ln/>
        </p:spPr>
      </p:sp>
      <p:sp>
        <p:nvSpPr>
          <p:cNvPr id="50" name="Text 48"/>
          <p:cNvSpPr txBox="1"/>
          <p:nvPr/>
        </p:nvSpPr>
        <p:spPr>
          <a:xfrm>
            <a:off x="5120640"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$209.87</a:t>
            </a:r>
            <a:endParaRPr lang="en-US" sz="1300" dirty="0"/>
          </a:p>
        </p:txBody>
      </p:sp>
      <p:sp>
        <p:nvSpPr>
          <p:cNvPr id="51" name="Text 49"/>
          <p:cNvSpPr txBox="1"/>
          <p:nvPr/>
        </p:nvSpPr>
        <p:spPr>
          <a:xfrm>
            <a:off x="658368"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2" name="Shape 50"/>
          <p:cNvSpPr/>
          <p:nvPr/>
        </p:nvSpPr>
        <p:spPr>
          <a:xfrm>
            <a:off x="2651760" y="4911852"/>
            <a:ext cx="1017229" cy="110744"/>
          </a:xfrm>
          <a:prstGeom prst="rect">
            <a:avLst/>
          </a:prstGeom>
          <a:solidFill>
            <a:srgbClr val="2587C5"/>
          </a:solidFill>
          <a:ln/>
        </p:spPr>
      </p:sp>
      <p:sp>
        <p:nvSpPr>
          <p:cNvPr id="53" name="Text 51"/>
          <p:cNvSpPr txBox="1"/>
          <p:nvPr/>
        </p:nvSpPr>
        <p:spPr>
          <a:xfrm>
            <a:off x="5120640"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$204.87</a:t>
            </a:r>
            <a:endParaRPr lang="en-US" sz="1300" dirty="0"/>
          </a:p>
        </p:txBody>
      </p:sp>
      <p:sp>
        <p:nvSpPr>
          <p:cNvPr id="54" name="Text 52"/>
          <p:cNvSpPr txBox="1"/>
          <p:nvPr/>
        </p:nvSpPr>
        <p:spPr>
          <a:xfrm>
            <a:off x="658368"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55" name="Shape 53"/>
          <p:cNvSpPr/>
          <p:nvPr/>
        </p:nvSpPr>
        <p:spPr>
          <a:xfrm>
            <a:off x="2651760" y="5133340"/>
            <a:ext cx="823231" cy="110744"/>
          </a:xfrm>
          <a:prstGeom prst="rect">
            <a:avLst/>
          </a:prstGeom>
          <a:solidFill>
            <a:srgbClr val="2587C5"/>
          </a:solidFill>
          <a:ln/>
        </p:spPr>
      </p:sp>
      <p:sp>
        <p:nvSpPr>
          <p:cNvPr id="56" name="Text 54"/>
          <p:cNvSpPr txBox="1"/>
          <p:nvPr/>
        </p:nvSpPr>
        <p:spPr>
          <a:xfrm>
            <a:off x="5120640"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57" name="Text 55"/>
          <p:cNvSpPr txBox="1"/>
          <p:nvPr/>
        </p:nvSpPr>
        <p:spPr>
          <a:xfrm>
            <a:off x="658368"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8" name="Shape 56"/>
          <p:cNvSpPr/>
          <p:nvPr/>
        </p:nvSpPr>
        <p:spPr>
          <a:xfrm>
            <a:off x="2651760" y="5354828"/>
            <a:ext cx="823231" cy="110744"/>
          </a:xfrm>
          <a:prstGeom prst="rect">
            <a:avLst/>
          </a:prstGeom>
          <a:solidFill>
            <a:srgbClr val="2587C5"/>
          </a:solidFill>
          <a:ln/>
        </p:spPr>
      </p:sp>
      <p:sp>
        <p:nvSpPr>
          <p:cNvPr id="59" name="Text 57"/>
          <p:cNvSpPr txBox="1"/>
          <p:nvPr/>
        </p:nvSpPr>
        <p:spPr>
          <a:xfrm>
            <a:off x="5120640"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60" name="Text 58"/>
          <p:cNvSpPr txBox="1"/>
          <p:nvPr/>
        </p:nvSpPr>
        <p:spPr>
          <a:xfrm>
            <a:off x="658368" y="552094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1" name="Shape 59"/>
          <p:cNvSpPr/>
          <p:nvPr/>
        </p:nvSpPr>
        <p:spPr>
          <a:xfrm>
            <a:off x="2651760" y="5576316"/>
            <a:ext cx="774732" cy="110744"/>
          </a:xfrm>
          <a:prstGeom prst="rect">
            <a:avLst/>
          </a:prstGeom>
          <a:solidFill>
            <a:srgbClr val="2587C5"/>
          </a:solidFill>
          <a:ln/>
        </p:spPr>
      </p:sp>
      <p:sp>
        <p:nvSpPr>
          <p:cNvPr id="62" name="Text 60"/>
          <p:cNvSpPr txBox="1"/>
          <p:nvPr/>
        </p:nvSpPr>
        <p:spPr>
          <a:xfrm>
            <a:off x="5120640" y="552094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$179.87</a:t>
            </a:r>
            <a:endParaRPr lang="en-US" sz="1300" dirty="0"/>
          </a:p>
        </p:txBody>
      </p:sp>
      <p:sp>
        <p:nvSpPr>
          <p:cNvPr id="63" name="Text 61"/>
          <p:cNvSpPr txBox="1"/>
          <p:nvPr/>
        </p:nvSpPr>
        <p:spPr>
          <a:xfrm>
            <a:off x="6208776" y="1316736"/>
            <a:ext cx="433425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64" name="Text 62"/>
          <p:cNvSpPr txBox="1"/>
          <p:nvPr/>
        </p:nvSpPr>
        <p:spPr>
          <a:xfrm>
            <a:off x="1067104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65" name="Text 63"/>
          <p:cNvSpPr txBox="1"/>
          <p:nvPr/>
        </p:nvSpPr>
        <p:spPr>
          <a:xfrm>
            <a:off x="6208776"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66" name="Shape 64"/>
          <p:cNvSpPr/>
          <p:nvPr/>
        </p:nvSpPr>
        <p:spPr>
          <a:xfrm>
            <a:off x="8202168" y="1811020"/>
            <a:ext cx="1697484" cy="110744"/>
          </a:xfrm>
          <a:prstGeom prst="rect">
            <a:avLst/>
          </a:prstGeom>
          <a:solidFill>
            <a:srgbClr val="2587C5"/>
          </a:solidFill>
          <a:ln/>
        </p:spPr>
      </p:sp>
      <p:sp>
        <p:nvSpPr>
          <p:cNvPr id="67" name="Text 65"/>
          <p:cNvSpPr txBox="1"/>
          <p:nvPr/>
        </p:nvSpPr>
        <p:spPr>
          <a:xfrm>
            <a:off x="10671048"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$275.00</a:t>
            </a:r>
            <a:endParaRPr lang="en-US" sz="1300" dirty="0"/>
          </a:p>
        </p:txBody>
      </p:sp>
      <p:sp>
        <p:nvSpPr>
          <p:cNvPr id="68" name="Text 66"/>
          <p:cNvSpPr txBox="1"/>
          <p:nvPr/>
        </p:nvSpPr>
        <p:spPr>
          <a:xfrm>
            <a:off x="6208776"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69" name="Shape 67"/>
          <p:cNvSpPr/>
          <p:nvPr/>
        </p:nvSpPr>
        <p:spPr>
          <a:xfrm>
            <a:off x="8202168" y="2032508"/>
            <a:ext cx="1454501" cy="110744"/>
          </a:xfrm>
          <a:prstGeom prst="rect">
            <a:avLst/>
          </a:prstGeom>
          <a:solidFill>
            <a:srgbClr val="2587C5"/>
          </a:solidFill>
          <a:ln/>
        </p:spPr>
      </p:sp>
      <p:sp>
        <p:nvSpPr>
          <p:cNvPr id="70" name="Text 68"/>
          <p:cNvSpPr txBox="1"/>
          <p:nvPr/>
        </p:nvSpPr>
        <p:spPr>
          <a:xfrm>
            <a:off x="10671048"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$249.95</a:t>
            </a:r>
            <a:endParaRPr lang="en-US" sz="1300" dirty="0"/>
          </a:p>
        </p:txBody>
      </p:sp>
      <p:sp>
        <p:nvSpPr>
          <p:cNvPr id="71" name="Text 69"/>
          <p:cNvSpPr txBox="1"/>
          <p:nvPr/>
        </p:nvSpPr>
        <p:spPr>
          <a:xfrm>
            <a:off x="6208776"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72" name="Shape 70"/>
          <p:cNvSpPr/>
          <p:nvPr/>
        </p:nvSpPr>
        <p:spPr>
          <a:xfrm>
            <a:off x="8202168" y="2253996"/>
            <a:ext cx="1405226" cy="110744"/>
          </a:xfrm>
          <a:prstGeom prst="rect">
            <a:avLst/>
          </a:prstGeom>
          <a:solidFill>
            <a:srgbClr val="2587C5"/>
          </a:solidFill>
          <a:ln/>
        </p:spPr>
      </p:sp>
      <p:sp>
        <p:nvSpPr>
          <p:cNvPr id="73" name="Text 71"/>
          <p:cNvSpPr txBox="1"/>
          <p:nvPr/>
        </p:nvSpPr>
        <p:spPr>
          <a:xfrm>
            <a:off x="10671048"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$244.87</a:t>
            </a:r>
            <a:endParaRPr lang="en-US" sz="1300" dirty="0"/>
          </a:p>
        </p:txBody>
      </p:sp>
      <p:sp>
        <p:nvSpPr>
          <p:cNvPr id="74" name="Text 72"/>
          <p:cNvSpPr txBox="1"/>
          <p:nvPr/>
        </p:nvSpPr>
        <p:spPr>
          <a:xfrm>
            <a:off x="6208776"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5" name="Shape 73"/>
          <p:cNvSpPr/>
          <p:nvPr/>
        </p:nvSpPr>
        <p:spPr>
          <a:xfrm>
            <a:off x="8202168" y="2475484"/>
            <a:ext cx="1260503" cy="110744"/>
          </a:xfrm>
          <a:prstGeom prst="rect">
            <a:avLst/>
          </a:prstGeom>
          <a:solidFill>
            <a:srgbClr val="2587C5"/>
          </a:solidFill>
          <a:ln/>
        </p:spPr>
      </p:sp>
      <p:sp>
        <p:nvSpPr>
          <p:cNvPr id="76" name="Text 74"/>
          <p:cNvSpPr txBox="1"/>
          <p:nvPr/>
        </p:nvSpPr>
        <p:spPr>
          <a:xfrm>
            <a:off x="10671048"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$229.95</a:t>
            </a:r>
            <a:endParaRPr lang="en-US" sz="1300" dirty="0"/>
          </a:p>
        </p:txBody>
      </p:sp>
      <p:sp>
        <p:nvSpPr>
          <p:cNvPr id="77" name="Text 75"/>
          <p:cNvSpPr txBox="1"/>
          <p:nvPr/>
        </p:nvSpPr>
        <p:spPr>
          <a:xfrm>
            <a:off x="6208776"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8" name="Shape 76"/>
          <p:cNvSpPr/>
          <p:nvPr/>
        </p:nvSpPr>
        <p:spPr>
          <a:xfrm>
            <a:off x="8202168" y="2696972"/>
            <a:ext cx="1163989" cy="110744"/>
          </a:xfrm>
          <a:prstGeom prst="rect">
            <a:avLst/>
          </a:prstGeom>
          <a:solidFill>
            <a:srgbClr val="2587C5"/>
          </a:solidFill>
          <a:ln/>
        </p:spPr>
      </p:sp>
      <p:sp>
        <p:nvSpPr>
          <p:cNvPr id="79" name="Text 77"/>
          <p:cNvSpPr txBox="1"/>
          <p:nvPr/>
        </p:nvSpPr>
        <p:spPr>
          <a:xfrm>
            <a:off x="10671048"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$220.00</a:t>
            </a:r>
            <a:endParaRPr lang="en-US" sz="1300" dirty="0"/>
          </a:p>
        </p:txBody>
      </p:sp>
      <p:sp>
        <p:nvSpPr>
          <p:cNvPr id="80" name="Text 78"/>
          <p:cNvSpPr txBox="1"/>
          <p:nvPr/>
        </p:nvSpPr>
        <p:spPr>
          <a:xfrm>
            <a:off x="6208776"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1" name="Shape 79"/>
          <p:cNvSpPr/>
          <p:nvPr/>
        </p:nvSpPr>
        <p:spPr>
          <a:xfrm>
            <a:off x="8202168" y="2918460"/>
            <a:ext cx="1119078" cy="110744"/>
          </a:xfrm>
          <a:prstGeom prst="rect">
            <a:avLst/>
          </a:prstGeom>
          <a:solidFill>
            <a:srgbClr val="2587C5"/>
          </a:solidFill>
          <a:ln/>
        </p:spPr>
      </p:sp>
      <p:sp>
        <p:nvSpPr>
          <p:cNvPr id="82" name="Text 80"/>
          <p:cNvSpPr txBox="1"/>
          <p:nvPr/>
        </p:nvSpPr>
        <p:spPr>
          <a:xfrm>
            <a:off x="10671048"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$215.37</a:t>
            </a:r>
            <a:endParaRPr lang="en-US" sz="1300" dirty="0"/>
          </a:p>
        </p:txBody>
      </p:sp>
      <p:sp>
        <p:nvSpPr>
          <p:cNvPr id="83" name="Text 81"/>
          <p:cNvSpPr txBox="1"/>
          <p:nvPr/>
        </p:nvSpPr>
        <p:spPr>
          <a:xfrm>
            <a:off x="6208776"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4" name="Shape 82"/>
          <p:cNvSpPr/>
          <p:nvPr/>
        </p:nvSpPr>
        <p:spPr>
          <a:xfrm>
            <a:off x="8202168" y="3139948"/>
            <a:ext cx="1066990" cy="110744"/>
          </a:xfrm>
          <a:prstGeom prst="rect">
            <a:avLst/>
          </a:prstGeom>
          <a:solidFill>
            <a:srgbClr val="2587C5"/>
          </a:solidFill>
          <a:ln/>
        </p:spPr>
      </p:sp>
      <p:sp>
        <p:nvSpPr>
          <p:cNvPr id="85" name="Text 83"/>
          <p:cNvSpPr txBox="1"/>
          <p:nvPr/>
        </p:nvSpPr>
        <p:spPr>
          <a:xfrm>
            <a:off x="10671048" y="308457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86" name="Text 84"/>
          <p:cNvSpPr txBox="1"/>
          <p:nvPr/>
        </p:nvSpPr>
        <p:spPr>
          <a:xfrm>
            <a:off x="6208776"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7" name="Shape 85"/>
          <p:cNvSpPr/>
          <p:nvPr/>
        </p:nvSpPr>
        <p:spPr>
          <a:xfrm>
            <a:off x="8202168" y="3361436"/>
            <a:ext cx="1066990" cy="110744"/>
          </a:xfrm>
          <a:prstGeom prst="rect">
            <a:avLst/>
          </a:prstGeom>
          <a:solidFill>
            <a:srgbClr val="2587C5"/>
          </a:solidFill>
          <a:ln/>
        </p:spPr>
      </p:sp>
      <p:sp>
        <p:nvSpPr>
          <p:cNvPr id="88" name="Text 86"/>
          <p:cNvSpPr txBox="1"/>
          <p:nvPr/>
        </p:nvSpPr>
        <p:spPr>
          <a:xfrm>
            <a:off x="10671048"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89" name="Shape 87"/>
          <p:cNvSpPr/>
          <p:nvPr/>
        </p:nvSpPr>
        <p:spPr>
          <a:xfrm>
            <a:off x="6153912" y="3527552"/>
            <a:ext cx="5285232" cy="212344"/>
          </a:xfrm>
          <a:prstGeom prst="rect">
            <a:avLst/>
          </a:prstGeom>
          <a:solidFill>
            <a:srgbClr val="EDF4FA"/>
          </a:solidFill>
          <a:ln/>
        </p:spPr>
      </p:sp>
      <p:sp>
        <p:nvSpPr>
          <p:cNvPr id="90" name="Text 88"/>
          <p:cNvSpPr txBox="1"/>
          <p:nvPr/>
        </p:nvSpPr>
        <p:spPr>
          <a:xfrm>
            <a:off x="6208776" y="3527552"/>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91" name="Shape 89"/>
          <p:cNvSpPr/>
          <p:nvPr/>
        </p:nvSpPr>
        <p:spPr>
          <a:xfrm>
            <a:off x="8202168" y="3582924"/>
            <a:ext cx="997468" cy="110744"/>
          </a:xfrm>
          <a:prstGeom prst="rect">
            <a:avLst/>
          </a:prstGeom>
          <a:solidFill>
            <a:srgbClr val="0B2C4A"/>
          </a:solidFill>
          <a:ln/>
        </p:spPr>
      </p:sp>
      <p:sp>
        <p:nvSpPr>
          <p:cNvPr id="92" name="Text 90"/>
          <p:cNvSpPr txBox="1"/>
          <p:nvPr/>
        </p:nvSpPr>
        <p:spPr>
          <a:xfrm>
            <a:off x="10671048" y="3527552"/>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93" name="Text 91"/>
          <p:cNvSpPr txBox="1"/>
          <p:nvPr/>
        </p:nvSpPr>
        <p:spPr>
          <a:xfrm>
            <a:off x="6208776"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94" name="Shape 92"/>
          <p:cNvSpPr/>
          <p:nvPr/>
        </p:nvSpPr>
        <p:spPr>
          <a:xfrm>
            <a:off x="8202168" y="3804412"/>
            <a:ext cx="969506" cy="110744"/>
          </a:xfrm>
          <a:prstGeom prst="rect">
            <a:avLst/>
          </a:prstGeom>
          <a:solidFill>
            <a:srgbClr val="2587C5"/>
          </a:solidFill>
          <a:ln/>
        </p:spPr>
      </p:sp>
      <p:sp>
        <p:nvSpPr>
          <p:cNvPr id="95" name="Text 93"/>
          <p:cNvSpPr txBox="1"/>
          <p:nvPr/>
        </p:nvSpPr>
        <p:spPr>
          <a:xfrm>
            <a:off x="10671048"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$199.95</a:t>
            </a:r>
            <a:endParaRPr lang="en-US" sz="1300" dirty="0"/>
          </a:p>
        </p:txBody>
      </p:sp>
      <p:sp>
        <p:nvSpPr>
          <p:cNvPr id="96" name="Text 94"/>
          <p:cNvSpPr txBox="1"/>
          <p:nvPr/>
        </p:nvSpPr>
        <p:spPr>
          <a:xfrm>
            <a:off x="6208776"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97" name="Shape 95"/>
          <p:cNvSpPr/>
          <p:nvPr/>
        </p:nvSpPr>
        <p:spPr>
          <a:xfrm>
            <a:off x="8202168" y="4025900"/>
            <a:ext cx="921491" cy="110744"/>
          </a:xfrm>
          <a:prstGeom prst="rect">
            <a:avLst/>
          </a:prstGeom>
          <a:solidFill>
            <a:srgbClr val="2587C5"/>
          </a:solidFill>
          <a:ln/>
        </p:spPr>
      </p:sp>
      <p:sp>
        <p:nvSpPr>
          <p:cNvPr id="98" name="Text 96"/>
          <p:cNvSpPr txBox="1"/>
          <p:nvPr/>
        </p:nvSpPr>
        <p:spPr>
          <a:xfrm>
            <a:off x="10671048"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$195.00</a:t>
            </a:r>
            <a:endParaRPr lang="en-US" sz="1300" dirty="0"/>
          </a:p>
        </p:txBody>
      </p:sp>
      <p:sp>
        <p:nvSpPr>
          <p:cNvPr id="99" name="Text 97"/>
          <p:cNvSpPr txBox="1"/>
          <p:nvPr/>
        </p:nvSpPr>
        <p:spPr>
          <a:xfrm>
            <a:off x="6208776"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0" name="Shape 98"/>
          <p:cNvSpPr/>
          <p:nvPr/>
        </p:nvSpPr>
        <p:spPr>
          <a:xfrm>
            <a:off x="8202168" y="4247388"/>
            <a:ext cx="872992" cy="110744"/>
          </a:xfrm>
          <a:prstGeom prst="rect">
            <a:avLst/>
          </a:prstGeom>
          <a:solidFill>
            <a:srgbClr val="2587C5"/>
          </a:solidFill>
          <a:ln/>
        </p:spPr>
      </p:sp>
      <p:sp>
        <p:nvSpPr>
          <p:cNvPr id="101" name="Text 99"/>
          <p:cNvSpPr txBox="1"/>
          <p:nvPr/>
        </p:nvSpPr>
        <p:spPr>
          <a:xfrm>
            <a:off x="10671048"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$190.00</a:t>
            </a:r>
            <a:endParaRPr lang="en-US" sz="1300" dirty="0"/>
          </a:p>
        </p:txBody>
      </p:sp>
      <p:sp>
        <p:nvSpPr>
          <p:cNvPr id="102" name="Text 100"/>
          <p:cNvSpPr txBox="1"/>
          <p:nvPr/>
        </p:nvSpPr>
        <p:spPr>
          <a:xfrm>
            <a:off x="6208776"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03" name="Shape 101"/>
          <p:cNvSpPr/>
          <p:nvPr/>
        </p:nvSpPr>
        <p:spPr>
          <a:xfrm>
            <a:off x="8202168" y="4468876"/>
            <a:ext cx="824492" cy="110744"/>
          </a:xfrm>
          <a:prstGeom prst="rect">
            <a:avLst/>
          </a:prstGeom>
          <a:solidFill>
            <a:srgbClr val="2587C5"/>
          </a:solidFill>
          <a:ln/>
        </p:spPr>
      </p:sp>
      <p:sp>
        <p:nvSpPr>
          <p:cNvPr id="104" name="Text 102"/>
          <p:cNvSpPr txBox="1"/>
          <p:nvPr/>
        </p:nvSpPr>
        <p:spPr>
          <a:xfrm>
            <a:off x="10671048"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05" name="Text 103"/>
          <p:cNvSpPr txBox="1"/>
          <p:nvPr/>
        </p:nvSpPr>
        <p:spPr>
          <a:xfrm>
            <a:off x="6208776"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6" name="Shape 104"/>
          <p:cNvSpPr/>
          <p:nvPr/>
        </p:nvSpPr>
        <p:spPr>
          <a:xfrm>
            <a:off x="8202168" y="4690364"/>
            <a:ext cx="824492" cy="110744"/>
          </a:xfrm>
          <a:prstGeom prst="rect">
            <a:avLst/>
          </a:prstGeom>
          <a:solidFill>
            <a:srgbClr val="2587C5"/>
          </a:solidFill>
          <a:ln/>
        </p:spPr>
      </p:sp>
      <p:sp>
        <p:nvSpPr>
          <p:cNvPr id="107" name="Text 105"/>
          <p:cNvSpPr txBox="1"/>
          <p:nvPr/>
        </p:nvSpPr>
        <p:spPr>
          <a:xfrm>
            <a:off x="10671048"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08" name="Text 106"/>
          <p:cNvSpPr txBox="1"/>
          <p:nvPr/>
        </p:nvSpPr>
        <p:spPr>
          <a:xfrm>
            <a:off x="6208776"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9" name="Shape 107"/>
          <p:cNvSpPr/>
          <p:nvPr/>
        </p:nvSpPr>
        <p:spPr>
          <a:xfrm>
            <a:off x="8202168" y="4911852"/>
            <a:ext cx="824492" cy="110744"/>
          </a:xfrm>
          <a:prstGeom prst="rect">
            <a:avLst/>
          </a:prstGeom>
          <a:solidFill>
            <a:srgbClr val="2587C5"/>
          </a:solidFill>
          <a:ln/>
        </p:spPr>
      </p:sp>
      <p:sp>
        <p:nvSpPr>
          <p:cNvPr id="110" name="Text 108"/>
          <p:cNvSpPr txBox="1"/>
          <p:nvPr/>
        </p:nvSpPr>
        <p:spPr>
          <a:xfrm>
            <a:off x="10671048"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11" name="Text 109"/>
          <p:cNvSpPr txBox="1"/>
          <p:nvPr/>
        </p:nvSpPr>
        <p:spPr>
          <a:xfrm>
            <a:off x="6208776"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12" name="Shape 110"/>
          <p:cNvSpPr/>
          <p:nvPr/>
        </p:nvSpPr>
        <p:spPr>
          <a:xfrm>
            <a:off x="8202168" y="5133340"/>
            <a:ext cx="824492" cy="110744"/>
          </a:xfrm>
          <a:prstGeom prst="rect">
            <a:avLst/>
          </a:prstGeom>
          <a:solidFill>
            <a:srgbClr val="2587C5"/>
          </a:solidFill>
          <a:ln/>
        </p:spPr>
      </p:sp>
      <p:sp>
        <p:nvSpPr>
          <p:cNvPr id="113" name="Text 111"/>
          <p:cNvSpPr txBox="1"/>
          <p:nvPr/>
        </p:nvSpPr>
        <p:spPr>
          <a:xfrm>
            <a:off x="10671048"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14" name="Text 112"/>
          <p:cNvSpPr txBox="1"/>
          <p:nvPr/>
        </p:nvSpPr>
        <p:spPr>
          <a:xfrm>
            <a:off x="6208776"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15" name="Shape 113"/>
          <p:cNvSpPr/>
          <p:nvPr/>
        </p:nvSpPr>
        <p:spPr>
          <a:xfrm>
            <a:off x="8202168" y="5354828"/>
            <a:ext cx="766293" cy="110744"/>
          </a:xfrm>
          <a:prstGeom prst="rect">
            <a:avLst/>
          </a:prstGeom>
          <a:solidFill>
            <a:srgbClr val="2587C5"/>
          </a:solidFill>
          <a:ln/>
        </p:spPr>
      </p:sp>
      <p:sp>
        <p:nvSpPr>
          <p:cNvPr id="116" name="Text 114"/>
          <p:cNvSpPr txBox="1"/>
          <p:nvPr/>
        </p:nvSpPr>
        <p:spPr>
          <a:xfrm>
            <a:off x="10671048"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$179.00</a:t>
            </a:r>
            <a:endParaRPr lang="en-US" sz="1300" dirty="0"/>
          </a:p>
        </p:txBody>
      </p:sp>
      <p:sp>
        <p:nvSpPr>
          <p:cNvPr id="117" name="Shape 115"/>
          <p:cNvSpPr/>
          <p:nvPr/>
        </p:nvSpPr>
        <p:spPr>
          <a:xfrm>
            <a:off x="6035040" y="1371600"/>
            <a:ext cx="10973" cy="4370832"/>
          </a:xfrm>
          <a:prstGeom prst="rect">
            <a:avLst/>
          </a:prstGeom>
          <a:solidFill>
            <a:srgbClr val="D9D9D9"/>
          </a:solidFill>
          <a:ln/>
        </p:spPr>
      </p:sp>
      <p:sp>
        <p:nvSpPr>
          <p:cNvPr id="118" name="Shape 116"/>
          <p:cNvSpPr/>
          <p:nvPr/>
        </p:nvSpPr>
        <p:spPr>
          <a:xfrm>
            <a:off x="457200" y="5961888"/>
            <a:ext cx="11274552" cy="548640"/>
          </a:xfrm>
          <a:prstGeom prst="rect">
            <a:avLst/>
          </a:prstGeom>
          <a:solidFill>
            <a:srgbClr val="EDF4FA"/>
          </a:solidFill>
          <a:ln/>
        </p:spPr>
      </p:sp>
      <p:sp>
        <p:nvSpPr>
          <p:cNvPr id="119" name="Text 117"/>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17 stores price labor on a grid, 16 at a flat door rate. Hours-weighted door rate: $228.55 grid, $202.83 no grid.</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268833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347472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8" name="Text 6"/>
          <p:cNvSpPr txBox="1"/>
          <p:nvPr/>
        </p:nvSpPr>
        <p:spPr>
          <a:xfrm>
            <a:off x="4224528" y="1316736"/>
            <a:ext cx="98755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PREMIUM</a:t>
            </a:r>
            <a:endParaRPr lang="en-US" sz="1400" dirty="0"/>
          </a:p>
        </p:txBody>
      </p:sp>
      <p:sp>
        <p:nvSpPr>
          <p:cNvPr id="9" name="Text 7"/>
          <p:cNvSpPr txBox="1"/>
          <p:nvPr/>
        </p:nvSpPr>
        <p:spPr>
          <a:xfrm>
            <a:off x="5212080" y="1316736"/>
            <a:ext cx="65836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FOR</a:t>
            </a:r>
            <a:endParaRPr lang="en-US" sz="1400" dirty="0"/>
          </a:p>
        </p:txBody>
      </p:sp>
      <p:sp>
        <p:nvSpPr>
          <p:cNvPr id="10" name="Text 8"/>
          <p:cNvSpPr txBox="1"/>
          <p:nvPr/>
        </p:nvSpPr>
        <p:spPr>
          <a:xfrm>
            <a:off x="658368"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1" name="Shape 9"/>
          <p:cNvSpPr/>
          <p:nvPr/>
        </p:nvSpPr>
        <p:spPr>
          <a:xfrm>
            <a:off x="2651760" y="1811020"/>
            <a:ext cx="768096" cy="110744"/>
          </a:xfrm>
          <a:prstGeom prst="rect">
            <a:avLst/>
          </a:prstGeom>
          <a:solidFill>
            <a:srgbClr val="2587C5"/>
          </a:solidFill>
          <a:ln/>
        </p:spPr>
      </p:sp>
      <p:sp>
        <p:nvSpPr>
          <p:cNvPr id="12" name="Text 10"/>
          <p:cNvSpPr txBox="1"/>
          <p:nvPr/>
        </p:nvSpPr>
        <p:spPr>
          <a:xfrm>
            <a:off x="3474720"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$348.87</a:t>
            </a:r>
            <a:endParaRPr lang="en-US" sz="1300" dirty="0"/>
          </a:p>
        </p:txBody>
      </p:sp>
      <p:sp>
        <p:nvSpPr>
          <p:cNvPr id="13" name="Text 11"/>
          <p:cNvSpPr txBox="1"/>
          <p:nvPr/>
        </p:nvSpPr>
        <p:spPr>
          <a:xfrm>
            <a:off x="4224528" y="1755648"/>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$399.00</a:t>
            </a:r>
            <a:endParaRPr lang="en-US" sz="1300" dirty="0"/>
          </a:p>
        </p:txBody>
      </p:sp>
      <p:sp>
        <p:nvSpPr>
          <p:cNvPr id="14" name="Text 12"/>
          <p:cNvSpPr txBox="1"/>
          <p:nvPr/>
        </p:nvSpPr>
        <p:spPr>
          <a:xfrm>
            <a:off x="5212080" y="1755648"/>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Lambo</a:t>
            </a:r>
            <a:endParaRPr lang="en-US" sz="1300" dirty="0"/>
          </a:p>
        </p:txBody>
      </p:sp>
      <p:sp>
        <p:nvSpPr>
          <p:cNvPr id="15" name="Text 13"/>
          <p:cNvSpPr txBox="1"/>
          <p:nvPr/>
        </p:nvSpPr>
        <p:spPr>
          <a:xfrm>
            <a:off x="658368"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6" name="Shape 14"/>
          <p:cNvSpPr/>
          <p:nvPr/>
        </p:nvSpPr>
        <p:spPr>
          <a:xfrm>
            <a:off x="2651760" y="2032508"/>
            <a:ext cx="648130" cy="110744"/>
          </a:xfrm>
          <a:prstGeom prst="rect">
            <a:avLst/>
          </a:prstGeom>
          <a:solidFill>
            <a:srgbClr val="2587C5"/>
          </a:solidFill>
          <a:ln/>
        </p:spPr>
      </p:sp>
      <p:sp>
        <p:nvSpPr>
          <p:cNvPr id="17" name="Text 15"/>
          <p:cNvSpPr txBox="1"/>
          <p:nvPr/>
        </p:nvSpPr>
        <p:spPr>
          <a:xfrm>
            <a:off x="3474720"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$310.00</a:t>
            </a:r>
            <a:endParaRPr lang="en-US" sz="1300" dirty="0"/>
          </a:p>
        </p:txBody>
      </p:sp>
      <p:sp>
        <p:nvSpPr>
          <p:cNvPr id="18" name="Text 16"/>
          <p:cNvSpPr txBox="1"/>
          <p:nvPr/>
        </p:nvSpPr>
        <p:spPr>
          <a:xfrm>
            <a:off x="4224528" y="1977136"/>
            <a:ext cx="987552" cy="221488"/>
          </a:xfrm>
          <a:prstGeom prst="rect">
            <a:avLst/>
          </a:prstGeom>
          <a:noFill/>
          <a:ln/>
        </p:spPr>
        <p:txBody>
          <a:bodyPr wrap="square" lIns="0" tIns="0" rIns="0" bIns="0" rtlCol="0" anchor="ctr"/>
          <a:lstStyle/>
          <a:p>
            <a:pPr algn="r" indent="0" marL="0">
              <a:buNone/>
            </a:pPr>
            <a:endParaRPr lang="en-US" sz="1300" dirty="0"/>
          </a:p>
        </p:txBody>
      </p:sp>
      <p:sp>
        <p:nvSpPr>
          <p:cNvPr id="19" name="Text 17"/>
          <p:cNvSpPr txBox="1"/>
          <p:nvPr/>
        </p:nvSpPr>
        <p:spPr>
          <a:xfrm>
            <a:off x="5212080" y="1977136"/>
            <a:ext cx="658368" cy="221488"/>
          </a:xfrm>
          <a:prstGeom prst="rect">
            <a:avLst/>
          </a:prstGeom>
          <a:noFill/>
          <a:ln/>
        </p:spPr>
        <p:txBody>
          <a:bodyPr wrap="square" lIns="0" tIns="0" rIns="0" bIns="0" rtlCol="0" anchor="ctr"/>
          <a:lstStyle/>
          <a:p>
            <a:pPr algn="r" indent="0" marL="0">
              <a:buNone/>
            </a:pPr>
            <a:endParaRPr lang="en-US" sz="1300" dirty="0"/>
          </a:p>
        </p:txBody>
      </p:sp>
      <p:sp>
        <p:nvSpPr>
          <p:cNvPr id="20" name="Text 18"/>
          <p:cNvSpPr txBox="1"/>
          <p:nvPr/>
        </p:nvSpPr>
        <p:spPr>
          <a:xfrm>
            <a:off x="658368"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21" name="Shape 19"/>
          <p:cNvSpPr/>
          <p:nvPr/>
        </p:nvSpPr>
        <p:spPr>
          <a:xfrm>
            <a:off x="2651760" y="2253996"/>
            <a:ext cx="601434" cy="110744"/>
          </a:xfrm>
          <a:prstGeom prst="rect">
            <a:avLst/>
          </a:prstGeom>
          <a:solidFill>
            <a:srgbClr val="2587C5"/>
          </a:solidFill>
          <a:ln/>
        </p:spPr>
      </p:sp>
      <p:sp>
        <p:nvSpPr>
          <p:cNvPr id="22" name="Text 20"/>
          <p:cNvSpPr txBox="1"/>
          <p:nvPr/>
        </p:nvSpPr>
        <p:spPr>
          <a:xfrm>
            <a:off x="3474720"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$294.87</a:t>
            </a:r>
            <a:endParaRPr lang="en-US" sz="1300" dirty="0"/>
          </a:p>
        </p:txBody>
      </p:sp>
      <p:sp>
        <p:nvSpPr>
          <p:cNvPr id="23" name="Text 21"/>
          <p:cNvSpPr txBox="1"/>
          <p:nvPr/>
        </p:nvSpPr>
        <p:spPr>
          <a:xfrm>
            <a:off x="4224528" y="2198624"/>
            <a:ext cx="987552" cy="221488"/>
          </a:xfrm>
          <a:prstGeom prst="rect">
            <a:avLst/>
          </a:prstGeom>
          <a:noFill/>
          <a:ln/>
        </p:spPr>
        <p:txBody>
          <a:bodyPr wrap="square" lIns="0" tIns="0" rIns="0" bIns="0" rtlCol="0" anchor="ctr"/>
          <a:lstStyle/>
          <a:p>
            <a:pPr algn="r" indent="0" marL="0">
              <a:buNone/>
            </a:pPr>
            <a:endParaRPr lang="en-US" sz="1300" dirty="0"/>
          </a:p>
        </p:txBody>
      </p:sp>
      <p:sp>
        <p:nvSpPr>
          <p:cNvPr id="24" name="Text 22"/>
          <p:cNvSpPr txBox="1"/>
          <p:nvPr/>
        </p:nvSpPr>
        <p:spPr>
          <a:xfrm>
            <a:off x="5212080" y="2198624"/>
            <a:ext cx="658368" cy="221488"/>
          </a:xfrm>
          <a:prstGeom prst="rect">
            <a:avLst/>
          </a:prstGeom>
          <a:noFill/>
          <a:ln/>
        </p:spPr>
        <p:txBody>
          <a:bodyPr wrap="square" lIns="0" tIns="0" rIns="0" bIns="0" rtlCol="0" anchor="ctr"/>
          <a:lstStyle/>
          <a:p>
            <a:pPr algn="r" indent="0" marL="0">
              <a:buNone/>
            </a:pPr>
            <a:endParaRPr lang="en-US" sz="1300" dirty="0"/>
          </a:p>
        </p:txBody>
      </p:sp>
      <p:sp>
        <p:nvSpPr>
          <p:cNvPr id="25" name="Text 23"/>
          <p:cNvSpPr txBox="1"/>
          <p:nvPr/>
        </p:nvSpPr>
        <p:spPr>
          <a:xfrm>
            <a:off x="658368"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26" name="Shape 24"/>
          <p:cNvSpPr/>
          <p:nvPr/>
        </p:nvSpPr>
        <p:spPr>
          <a:xfrm>
            <a:off x="2651760" y="2475484"/>
            <a:ext cx="570972" cy="110744"/>
          </a:xfrm>
          <a:prstGeom prst="rect">
            <a:avLst/>
          </a:prstGeom>
          <a:solidFill>
            <a:srgbClr val="2587C5"/>
          </a:solidFill>
          <a:ln/>
        </p:spPr>
      </p:sp>
      <p:sp>
        <p:nvSpPr>
          <p:cNvPr id="27" name="Text 25"/>
          <p:cNvSpPr txBox="1"/>
          <p:nvPr/>
        </p:nvSpPr>
        <p:spPr>
          <a:xfrm>
            <a:off x="3474720"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$285.00</a:t>
            </a:r>
            <a:endParaRPr lang="en-US" sz="1300" dirty="0"/>
          </a:p>
        </p:txBody>
      </p:sp>
      <p:sp>
        <p:nvSpPr>
          <p:cNvPr id="28" name="Text 26"/>
          <p:cNvSpPr txBox="1"/>
          <p:nvPr/>
        </p:nvSpPr>
        <p:spPr>
          <a:xfrm>
            <a:off x="4224528" y="2420112"/>
            <a:ext cx="987552" cy="221488"/>
          </a:xfrm>
          <a:prstGeom prst="rect">
            <a:avLst/>
          </a:prstGeom>
          <a:noFill/>
          <a:ln/>
        </p:spPr>
        <p:txBody>
          <a:bodyPr wrap="square" lIns="0" tIns="0" rIns="0" bIns="0" rtlCol="0" anchor="ctr"/>
          <a:lstStyle/>
          <a:p>
            <a:pPr algn="r" indent="0" marL="0">
              <a:buNone/>
            </a:pPr>
            <a:endParaRPr lang="en-US" sz="1300" dirty="0"/>
          </a:p>
        </p:txBody>
      </p:sp>
      <p:sp>
        <p:nvSpPr>
          <p:cNvPr id="29" name="Text 27"/>
          <p:cNvSpPr txBox="1"/>
          <p:nvPr/>
        </p:nvSpPr>
        <p:spPr>
          <a:xfrm>
            <a:off x="5212080" y="2420112"/>
            <a:ext cx="658368" cy="221488"/>
          </a:xfrm>
          <a:prstGeom prst="rect">
            <a:avLst/>
          </a:prstGeom>
          <a:noFill/>
          <a:ln/>
        </p:spPr>
        <p:txBody>
          <a:bodyPr wrap="square" lIns="0" tIns="0" rIns="0" bIns="0" rtlCol="0" anchor="ctr"/>
          <a:lstStyle/>
          <a:p>
            <a:pPr algn="r" indent="0" marL="0">
              <a:buNone/>
            </a:pPr>
            <a:endParaRPr lang="en-US" sz="1300" dirty="0"/>
          </a:p>
        </p:txBody>
      </p:sp>
      <p:sp>
        <p:nvSpPr>
          <p:cNvPr id="30" name="Text 28"/>
          <p:cNvSpPr txBox="1"/>
          <p:nvPr/>
        </p:nvSpPr>
        <p:spPr>
          <a:xfrm>
            <a:off x="658368"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1" name="Shape 29"/>
          <p:cNvSpPr/>
          <p:nvPr/>
        </p:nvSpPr>
        <p:spPr>
          <a:xfrm>
            <a:off x="2651760" y="2696972"/>
            <a:ext cx="431686" cy="110744"/>
          </a:xfrm>
          <a:prstGeom prst="rect">
            <a:avLst/>
          </a:prstGeom>
          <a:solidFill>
            <a:srgbClr val="2587C5"/>
          </a:solidFill>
          <a:ln/>
        </p:spPr>
      </p:sp>
      <p:sp>
        <p:nvSpPr>
          <p:cNvPr id="32" name="Text 30"/>
          <p:cNvSpPr txBox="1"/>
          <p:nvPr/>
        </p:nvSpPr>
        <p:spPr>
          <a:xfrm>
            <a:off x="3474720"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$239.87</a:t>
            </a:r>
            <a:endParaRPr lang="en-US" sz="1300" dirty="0"/>
          </a:p>
        </p:txBody>
      </p:sp>
      <p:sp>
        <p:nvSpPr>
          <p:cNvPr id="33" name="Text 31"/>
          <p:cNvSpPr txBox="1"/>
          <p:nvPr/>
        </p:nvSpPr>
        <p:spPr>
          <a:xfrm>
            <a:off x="4224528" y="2641600"/>
            <a:ext cx="987552" cy="221488"/>
          </a:xfrm>
          <a:prstGeom prst="rect">
            <a:avLst/>
          </a:prstGeom>
          <a:noFill/>
          <a:ln/>
        </p:spPr>
        <p:txBody>
          <a:bodyPr wrap="square" lIns="0" tIns="0" rIns="0" bIns="0" rtlCol="0" anchor="ctr"/>
          <a:lstStyle/>
          <a:p>
            <a:pPr algn="r" indent="0" marL="0">
              <a:buNone/>
            </a:pPr>
            <a:endParaRPr lang="en-US" sz="1300" dirty="0"/>
          </a:p>
        </p:txBody>
      </p:sp>
      <p:sp>
        <p:nvSpPr>
          <p:cNvPr id="34" name="Text 32"/>
          <p:cNvSpPr txBox="1"/>
          <p:nvPr/>
        </p:nvSpPr>
        <p:spPr>
          <a:xfrm>
            <a:off x="5212080" y="2641600"/>
            <a:ext cx="658368" cy="221488"/>
          </a:xfrm>
          <a:prstGeom prst="rect">
            <a:avLst/>
          </a:prstGeom>
          <a:noFill/>
          <a:ln/>
        </p:spPr>
        <p:txBody>
          <a:bodyPr wrap="square" lIns="0" tIns="0" rIns="0" bIns="0" rtlCol="0" anchor="ctr"/>
          <a:lstStyle/>
          <a:p>
            <a:pPr algn="r" indent="0" marL="0">
              <a:buNone/>
            </a:pPr>
            <a:endParaRPr lang="en-US" sz="1300" dirty="0"/>
          </a:p>
        </p:txBody>
      </p:sp>
      <p:sp>
        <p:nvSpPr>
          <p:cNvPr id="35" name="Text 33"/>
          <p:cNvSpPr txBox="1"/>
          <p:nvPr/>
        </p:nvSpPr>
        <p:spPr>
          <a:xfrm>
            <a:off x="658368"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36" name="Shape 34"/>
          <p:cNvSpPr/>
          <p:nvPr/>
        </p:nvSpPr>
        <p:spPr>
          <a:xfrm>
            <a:off x="2651760" y="2918460"/>
            <a:ext cx="419340" cy="110744"/>
          </a:xfrm>
          <a:prstGeom prst="rect">
            <a:avLst/>
          </a:prstGeom>
          <a:solidFill>
            <a:srgbClr val="2587C5"/>
          </a:solidFill>
          <a:ln/>
        </p:spPr>
      </p:sp>
      <p:sp>
        <p:nvSpPr>
          <p:cNvPr id="37" name="Text 35"/>
          <p:cNvSpPr txBox="1"/>
          <p:nvPr/>
        </p:nvSpPr>
        <p:spPr>
          <a:xfrm>
            <a:off x="3474720"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$235.87</a:t>
            </a:r>
            <a:endParaRPr lang="en-US" sz="1300" dirty="0"/>
          </a:p>
        </p:txBody>
      </p:sp>
      <p:sp>
        <p:nvSpPr>
          <p:cNvPr id="38" name="Text 36"/>
          <p:cNvSpPr txBox="1"/>
          <p:nvPr/>
        </p:nvSpPr>
        <p:spPr>
          <a:xfrm>
            <a:off x="4224528" y="2863088"/>
            <a:ext cx="987552" cy="221488"/>
          </a:xfrm>
          <a:prstGeom prst="rect">
            <a:avLst/>
          </a:prstGeom>
          <a:noFill/>
          <a:ln/>
        </p:spPr>
        <p:txBody>
          <a:bodyPr wrap="square" lIns="0" tIns="0" rIns="0" bIns="0" rtlCol="0" anchor="ctr"/>
          <a:lstStyle/>
          <a:p>
            <a:pPr algn="r" indent="0" marL="0">
              <a:buNone/>
            </a:pPr>
            <a:endParaRPr lang="en-US" sz="1300" dirty="0"/>
          </a:p>
        </p:txBody>
      </p:sp>
      <p:sp>
        <p:nvSpPr>
          <p:cNvPr id="39" name="Text 37"/>
          <p:cNvSpPr txBox="1"/>
          <p:nvPr/>
        </p:nvSpPr>
        <p:spPr>
          <a:xfrm>
            <a:off x="5212080" y="2863088"/>
            <a:ext cx="658368" cy="221488"/>
          </a:xfrm>
          <a:prstGeom prst="rect">
            <a:avLst/>
          </a:prstGeom>
          <a:noFill/>
          <a:ln/>
        </p:spPr>
        <p:txBody>
          <a:bodyPr wrap="square" lIns="0" tIns="0" rIns="0" bIns="0" rtlCol="0" anchor="ctr"/>
          <a:lstStyle/>
          <a:p>
            <a:pPr algn="r" indent="0" marL="0">
              <a:buNone/>
            </a:pPr>
            <a:endParaRPr lang="en-US" sz="1300" dirty="0"/>
          </a:p>
        </p:txBody>
      </p:sp>
      <p:sp>
        <p:nvSpPr>
          <p:cNvPr id="40" name="Shape 38"/>
          <p:cNvSpPr/>
          <p:nvPr/>
        </p:nvSpPr>
        <p:spPr>
          <a:xfrm>
            <a:off x="603504" y="3084576"/>
            <a:ext cx="5285232" cy="212344"/>
          </a:xfrm>
          <a:prstGeom prst="rect">
            <a:avLst/>
          </a:prstGeom>
          <a:solidFill>
            <a:srgbClr val="EDF4FA"/>
          </a:solidFill>
          <a:ln/>
        </p:spPr>
      </p:sp>
      <p:sp>
        <p:nvSpPr>
          <p:cNvPr id="41" name="Text 39"/>
          <p:cNvSpPr txBox="1"/>
          <p:nvPr/>
        </p:nvSpPr>
        <p:spPr>
          <a:xfrm>
            <a:off x="658368" y="3084576"/>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42" name="Shape 40"/>
          <p:cNvSpPr/>
          <p:nvPr/>
        </p:nvSpPr>
        <p:spPr>
          <a:xfrm>
            <a:off x="2651760" y="3139948"/>
            <a:ext cx="396757" cy="110744"/>
          </a:xfrm>
          <a:prstGeom prst="rect">
            <a:avLst/>
          </a:prstGeom>
          <a:solidFill>
            <a:srgbClr val="0B2C4A"/>
          </a:solidFill>
          <a:ln/>
        </p:spPr>
      </p:sp>
      <p:sp>
        <p:nvSpPr>
          <p:cNvPr id="43" name="Text 41"/>
          <p:cNvSpPr txBox="1"/>
          <p:nvPr/>
        </p:nvSpPr>
        <p:spPr>
          <a:xfrm>
            <a:off x="3474720" y="3084576"/>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44" name="Text 42"/>
          <p:cNvSpPr txBox="1"/>
          <p:nvPr/>
        </p:nvSpPr>
        <p:spPr>
          <a:xfrm>
            <a:off x="4224528" y="3084576"/>
            <a:ext cx="987552" cy="221488"/>
          </a:xfrm>
          <a:prstGeom prst="rect">
            <a:avLst/>
          </a:prstGeom>
          <a:noFill/>
          <a:ln/>
        </p:spPr>
        <p:txBody>
          <a:bodyPr wrap="square" lIns="0" tIns="0" rIns="0" bIns="0" rtlCol="0" anchor="ctr"/>
          <a:lstStyle/>
          <a:p>
            <a:pPr algn="r" indent="0" marL="0">
              <a:buNone/>
            </a:pPr>
            <a:endParaRPr lang="en-US" sz="1300" dirty="0"/>
          </a:p>
        </p:txBody>
      </p:sp>
      <p:sp>
        <p:nvSpPr>
          <p:cNvPr id="45" name="Text 43"/>
          <p:cNvSpPr txBox="1"/>
          <p:nvPr/>
        </p:nvSpPr>
        <p:spPr>
          <a:xfrm>
            <a:off x="5212080" y="3084576"/>
            <a:ext cx="658368" cy="221488"/>
          </a:xfrm>
          <a:prstGeom prst="rect">
            <a:avLst/>
          </a:prstGeom>
          <a:noFill/>
          <a:ln/>
        </p:spPr>
        <p:txBody>
          <a:bodyPr wrap="square" lIns="0" tIns="0" rIns="0" bIns="0" rtlCol="0" anchor="ctr"/>
          <a:lstStyle/>
          <a:p>
            <a:pPr algn="r" indent="0" marL="0">
              <a:buNone/>
            </a:pPr>
            <a:endParaRPr lang="en-US" sz="1300" dirty="0"/>
          </a:p>
        </p:txBody>
      </p:sp>
      <p:sp>
        <p:nvSpPr>
          <p:cNvPr id="46" name="Text 44"/>
          <p:cNvSpPr txBox="1"/>
          <p:nvPr/>
        </p:nvSpPr>
        <p:spPr>
          <a:xfrm>
            <a:off x="658368"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47" name="Shape 45"/>
          <p:cNvSpPr/>
          <p:nvPr/>
        </p:nvSpPr>
        <p:spPr>
          <a:xfrm>
            <a:off x="2651760" y="3361436"/>
            <a:ext cx="385391" cy="110744"/>
          </a:xfrm>
          <a:prstGeom prst="rect">
            <a:avLst/>
          </a:prstGeom>
          <a:solidFill>
            <a:srgbClr val="2587C5"/>
          </a:solidFill>
          <a:ln/>
        </p:spPr>
      </p:sp>
      <p:sp>
        <p:nvSpPr>
          <p:cNvPr id="48" name="Text 46"/>
          <p:cNvSpPr txBox="1"/>
          <p:nvPr/>
        </p:nvSpPr>
        <p:spPr>
          <a:xfrm>
            <a:off x="3474720"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49" name="Text 47"/>
          <p:cNvSpPr txBox="1"/>
          <p:nvPr/>
        </p:nvSpPr>
        <p:spPr>
          <a:xfrm>
            <a:off x="4224528" y="3306064"/>
            <a:ext cx="987552" cy="221488"/>
          </a:xfrm>
          <a:prstGeom prst="rect">
            <a:avLst/>
          </a:prstGeom>
          <a:noFill/>
          <a:ln/>
        </p:spPr>
        <p:txBody>
          <a:bodyPr wrap="square" lIns="0" tIns="0" rIns="0" bIns="0" rtlCol="0" anchor="ctr"/>
          <a:lstStyle/>
          <a:p>
            <a:pPr algn="r" indent="0" marL="0">
              <a:buNone/>
            </a:pPr>
            <a:endParaRPr lang="en-US" sz="1300" dirty="0"/>
          </a:p>
        </p:txBody>
      </p:sp>
      <p:sp>
        <p:nvSpPr>
          <p:cNvPr id="50" name="Text 48"/>
          <p:cNvSpPr txBox="1"/>
          <p:nvPr/>
        </p:nvSpPr>
        <p:spPr>
          <a:xfrm>
            <a:off x="5212080" y="3306064"/>
            <a:ext cx="658368" cy="221488"/>
          </a:xfrm>
          <a:prstGeom prst="rect">
            <a:avLst/>
          </a:prstGeom>
          <a:noFill/>
          <a:ln/>
        </p:spPr>
        <p:txBody>
          <a:bodyPr wrap="square" lIns="0" tIns="0" rIns="0" bIns="0" rtlCol="0" anchor="ctr"/>
          <a:lstStyle/>
          <a:p>
            <a:pPr algn="r" indent="0" marL="0">
              <a:buNone/>
            </a:pPr>
            <a:endParaRPr lang="en-US" sz="1300" dirty="0"/>
          </a:p>
        </p:txBody>
      </p:sp>
      <p:sp>
        <p:nvSpPr>
          <p:cNvPr id="51" name="Text 49"/>
          <p:cNvSpPr txBox="1"/>
          <p:nvPr/>
        </p:nvSpPr>
        <p:spPr>
          <a:xfrm>
            <a:off x="658368" y="352755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2" name="Shape 50"/>
          <p:cNvSpPr/>
          <p:nvPr/>
        </p:nvSpPr>
        <p:spPr>
          <a:xfrm>
            <a:off x="2651760" y="3582924"/>
            <a:ext cx="385391" cy="110744"/>
          </a:xfrm>
          <a:prstGeom prst="rect">
            <a:avLst/>
          </a:prstGeom>
          <a:solidFill>
            <a:srgbClr val="2587C5"/>
          </a:solidFill>
          <a:ln/>
        </p:spPr>
      </p:sp>
      <p:sp>
        <p:nvSpPr>
          <p:cNvPr id="53" name="Text 51"/>
          <p:cNvSpPr txBox="1"/>
          <p:nvPr/>
        </p:nvSpPr>
        <p:spPr>
          <a:xfrm>
            <a:off x="3474720" y="352755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$224.87</a:t>
            </a:r>
            <a:endParaRPr lang="en-US" sz="1300" dirty="0"/>
          </a:p>
        </p:txBody>
      </p:sp>
      <p:sp>
        <p:nvSpPr>
          <p:cNvPr id="54" name="Text 52"/>
          <p:cNvSpPr txBox="1"/>
          <p:nvPr/>
        </p:nvSpPr>
        <p:spPr>
          <a:xfrm>
            <a:off x="4224528" y="3527552"/>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$264.87</a:t>
            </a:r>
            <a:endParaRPr lang="en-US" sz="1300" dirty="0"/>
          </a:p>
        </p:txBody>
      </p:sp>
      <p:sp>
        <p:nvSpPr>
          <p:cNvPr id="55" name="Text 53"/>
          <p:cNvSpPr txBox="1"/>
          <p:nvPr/>
        </p:nvSpPr>
        <p:spPr>
          <a:xfrm>
            <a:off x="5212080" y="3527552"/>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Diesel</a:t>
            </a:r>
            <a:endParaRPr lang="en-US" sz="1300" dirty="0"/>
          </a:p>
        </p:txBody>
      </p:sp>
      <p:sp>
        <p:nvSpPr>
          <p:cNvPr id="56" name="Text 54"/>
          <p:cNvSpPr txBox="1"/>
          <p:nvPr/>
        </p:nvSpPr>
        <p:spPr>
          <a:xfrm>
            <a:off x="658368"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7" name="Shape 55"/>
          <p:cNvSpPr/>
          <p:nvPr/>
        </p:nvSpPr>
        <p:spPr>
          <a:xfrm>
            <a:off x="2651760" y="3804412"/>
            <a:ext cx="369959" cy="110744"/>
          </a:xfrm>
          <a:prstGeom prst="rect">
            <a:avLst/>
          </a:prstGeom>
          <a:solidFill>
            <a:srgbClr val="2587C5"/>
          </a:solidFill>
          <a:ln/>
        </p:spPr>
      </p:sp>
      <p:sp>
        <p:nvSpPr>
          <p:cNvPr id="58" name="Text 56"/>
          <p:cNvSpPr txBox="1"/>
          <p:nvPr/>
        </p:nvSpPr>
        <p:spPr>
          <a:xfrm>
            <a:off x="3474720"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$219.87</a:t>
            </a:r>
            <a:endParaRPr lang="en-US" sz="1300" dirty="0"/>
          </a:p>
        </p:txBody>
      </p:sp>
      <p:sp>
        <p:nvSpPr>
          <p:cNvPr id="59" name="Text 57"/>
          <p:cNvSpPr txBox="1"/>
          <p:nvPr/>
        </p:nvSpPr>
        <p:spPr>
          <a:xfrm>
            <a:off x="4224528" y="3749040"/>
            <a:ext cx="987552" cy="221488"/>
          </a:xfrm>
          <a:prstGeom prst="rect">
            <a:avLst/>
          </a:prstGeom>
          <a:noFill/>
          <a:ln/>
        </p:spPr>
        <p:txBody>
          <a:bodyPr wrap="square" lIns="0" tIns="0" rIns="0" bIns="0" rtlCol="0" anchor="ctr"/>
          <a:lstStyle/>
          <a:p>
            <a:pPr algn="r" indent="0" marL="0">
              <a:buNone/>
            </a:pPr>
            <a:endParaRPr lang="en-US" sz="1300" dirty="0"/>
          </a:p>
        </p:txBody>
      </p:sp>
      <p:sp>
        <p:nvSpPr>
          <p:cNvPr id="60" name="Text 58"/>
          <p:cNvSpPr txBox="1"/>
          <p:nvPr/>
        </p:nvSpPr>
        <p:spPr>
          <a:xfrm>
            <a:off x="5212080" y="3749040"/>
            <a:ext cx="658368" cy="221488"/>
          </a:xfrm>
          <a:prstGeom prst="rect">
            <a:avLst/>
          </a:prstGeom>
          <a:noFill/>
          <a:ln/>
        </p:spPr>
        <p:txBody>
          <a:bodyPr wrap="square" lIns="0" tIns="0" rIns="0" bIns="0" rtlCol="0" anchor="ctr"/>
          <a:lstStyle/>
          <a:p>
            <a:pPr algn="r" indent="0" marL="0">
              <a:buNone/>
            </a:pPr>
            <a:endParaRPr lang="en-US" sz="1300" dirty="0"/>
          </a:p>
        </p:txBody>
      </p:sp>
      <p:sp>
        <p:nvSpPr>
          <p:cNvPr id="61" name="Text 59"/>
          <p:cNvSpPr txBox="1"/>
          <p:nvPr/>
        </p:nvSpPr>
        <p:spPr>
          <a:xfrm>
            <a:off x="658368"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2" name="Shape 60"/>
          <p:cNvSpPr/>
          <p:nvPr/>
        </p:nvSpPr>
        <p:spPr>
          <a:xfrm>
            <a:off x="2651760" y="4025900"/>
            <a:ext cx="345268" cy="110744"/>
          </a:xfrm>
          <a:prstGeom prst="rect">
            <a:avLst/>
          </a:prstGeom>
          <a:solidFill>
            <a:srgbClr val="2587C5"/>
          </a:solidFill>
          <a:ln/>
        </p:spPr>
      </p:sp>
      <p:sp>
        <p:nvSpPr>
          <p:cNvPr id="63" name="Text 61"/>
          <p:cNvSpPr txBox="1"/>
          <p:nvPr/>
        </p:nvSpPr>
        <p:spPr>
          <a:xfrm>
            <a:off x="3474720"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64" name="Text 62"/>
          <p:cNvSpPr txBox="1"/>
          <p:nvPr/>
        </p:nvSpPr>
        <p:spPr>
          <a:xfrm>
            <a:off x="4224528" y="3970528"/>
            <a:ext cx="987552" cy="221488"/>
          </a:xfrm>
          <a:prstGeom prst="rect">
            <a:avLst/>
          </a:prstGeom>
          <a:noFill/>
          <a:ln/>
        </p:spPr>
        <p:txBody>
          <a:bodyPr wrap="square" lIns="0" tIns="0" rIns="0" bIns="0" rtlCol="0" anchor="ctr"/>
          <a:lstStyle/>
          <a:p>
            <a:pPr algn="r" indent="0" marL="0">
              <a:buNone/>
            </a:pPr>
            <a:endParaRPr lang="en-US" sz="1300" dirty="0"/>
          </a:p>
        </p:txBody>
      </p:sp>
      <p:sp>
        <p:nvSpPr>
          <p:cNvPr id="65" name="Text 63"/>
          <p:cNvSpPr txBox="1"/>
          <p:nvPr/>
        </p:nvSpPr>
        <p:spPr>
          <a:xfrm>
            <a:off x="5212080" y="3970528"/>
            <a:ext cx="658368" cy="221488"/>
          </a:xfrm>
          <a:prstGeom prst="rect">
            <a:avLst/>
          </a:prstGeom>
          <a:noFill/>
          <a:ln/>
        </p:spPr>
        <p:txBody>
          <a:bodyPr wrap="square" lIns="0" tIns="0" rIns="0" bIns="0" rtlCol="0" anchor="ctr"/>
          <a:lstStyle/>
          <a:p>
            <a:pPr algn="r" indent="0" marL="0">
              <a:buNone/>
            </a:pPr>
            <a:endParaRPr lang="en-US" sz="1300" dirty="0"/>
          </a:p>
        </p:txBody>
      </p:sp>
      <p:sp>
        <p:nvSpPr>
          <p:cNvPr id="66" name="Text 64"/>
          <p:cNvSpPr txBox="1"/>
          <p:nvPr/>
        </p:nvSpPr>
        <p:spPr>
          <a:xfrm>
            <a:off x="658368"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7" name="Shape 65"/>
          <p:cNvSpPr/>
          <p:nvPr/>
        </p:nvSpPr>
        <p:spPr>
          <a:xfrm>
            <a:off x="2651760" y="4247388"/>
            <a:ext cx="345268" cy="110744"/>
          </a:xfrm>
          <a:prstGeom prst="rect">
            <a:avLst/>
          </a:prstGeom>
          <a:solidFill>
            <a:srgbClr val="2587C5"/>
          </a:solidFill>
          <a:ln/>
        </p:spPr>
      </p:sp>
      <p:sp>
        <p:nvSpPr>
          <p:cNvPr id="68" name="Text 66"/>
          <p:cNvSpPr txBox="1"/>
          <p:nvPr/>
        </p:nvSpPr>
        <p:spPr>
          <a:xfrm>
            <a:off x="3474720"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$211.87</a:t>
            </a:r>
            <a:endParaRPr lang="en-US" sz="1300" dirty="0"/>
          </a:p>
        </p:txBody>
      </p:sp>
      <p:sp>
        <p:nvSpPr>
          <p:cNvPr id="69" name="Text 67"/>
          <p:cNvSpPr txBox="1"/>
          <p:nvPr/>
        </p:nvSpPr>
        <p:spPr>
          <a:xfrm>
            <a:off x="4224528" y="4192016"/>
            <a:ext cx="987552" cy="221488"/>
          </a:xfrm>
          <a:prstGeom prst="rect">
            <a:avLst/>
          </a:prstGeom>
          <a:noFill/>
          <a:ln/>
        </p:spPr>
        <p:txBody>
          <a:bodyPr wrap="square" lIns="0" tIns="0" rIns="0" bIns="0" rtlCol="0" anchor="ctr"/>
          <a:lstStyle/>
          <a:p>
            <a:pPr algn="r" indent="0" marL="0">
              <a:buNone/>
            </a:pPr>
            <a:endParaRPr lang="en-US" sz="1300" dirty="0"/>
          </a:p>
        </p:txBody>
      </p:sp>
      <p:sp>
        <p:nvSpPr>
          <p:cNvPr id="70" name="Text 68"/>
          <p:cNvSpPr txBox="1"/>
          <p:nvPr/>
        </p:nvSpPr>
        <p:spPr>
          <a:xfrm>
            <a:off x="5212080" y="4192016"/>
            <a:ext cx="658368" cy="221488"/>
          </a:xfrm>
          <a:prstGeom prst="rect">
            <a:avLst/>
          </a:prstGeom>
          <a:noFill/>
          <a:ln/>
        </p:spPr>
        <p:txBody>
          <a:bodyPr wrap="square" lIns="0" tIns="0" rIns="0" bIns="0" rtlCol="0" anchor="ctr"/>
          <a:lstStyle/>
          <a:p>
            <a:pPr algn="r" indent="0" marL="0">
              <a:buNone/>
            </a:pPr>
            <a:endParaRPr lang="en-US" sz="1300" dirty="0"/>
          </a:p>
        </p:txBody>
      </p:sp>
      <p:sp>
        <p:nvSpPr>
          <p:cNvPr id="71" name="Text 69"/>
          <p:cNvSpPr txBox="1"/>
          <p:nvPr/>
        </p:nvSpPr>
        <p:spPr>
          <a:xfrm>
            <a:off x="658368"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2651760" y="4468876"/>
            <a:ext cx="343386" cy="110744"/>
          </a:xfrm>
          <a:prstGeom prst="rect">
            <a:avLst/>
          </a:prstGeom>
          <a:solidFill>
            <a:srgbClr val="2587C5"/>
          </a:solidFill>
          <a:ln/>
        </p:spPr>
      </p:sp>
      <p:sp>
        <p:nvSpPr>
          <p:cNvPr id="73" name="Text 71"/>
          <p:cNvSpPr txBox="1"/>
          <p:nvPr/>
        </p:nvSpPr>
        <p:spPr>
          <a:xfrm>
            <a:off x="3474720"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$211.26</a:t>
            </a:r>
            <a:endParaRPr lang="en-US" sz="1300" dirty="0"/>
          </a:p>
        </p:txBody>
      </p:sp>
      <p:sp>
        <p:nvSpPr>
          <p:cNvPr id="74" name="Text 72"/>
          <p:cNvSpPr txBox="1"/>
          <p:nvPr/>
        </p:nvSpPr>
        <p:spPr>
          <a:xfrm>
            <a:off x="4224528" y="4413504"/>
            <a:ext cx="987552" cy="221488"/>
          </a:xfrm>
          <a:prstGeom prst="rect">
            <a:avLst/>
          </a:prstGeom>
          <a:noFill/>
          <a:ln/>
        </p:spPr>
        <p:txBody>
          <a:bodyPr wrap="square" lIns="0" tIns="0" rIns="0" bIns="0" rtlCol="0" anchor="ctr"/>
          <a:lstStyle/>
          <a:p>
            <a:pPr algn="r" indent="0" marL="0">
              <a:buNone/>
            </a:pPr>
            <a:endParaRPr lang="en-US" sz="1300" dirty="0"/>
          </a:p>
        </p:txBody>
      </p:sp>
      <p:sp>
        <p:nvSpPr>
          <p:cNvPr id="75" name="Text 73"/>
          <p:cNvSpPr txBox="1"/>
          <p:nvPr/>
        </p:nvSpPr>
        <p:spPr>
          <a:xfrm>
            <a:off x="5212080" y="4413504"/>
            <a:ext cx="658368" cy="221488"/>
          </a:xfrm>
          <a:prstGeom prst="rect">
            <a:avLst/>
          </a:prstGeom>
          <a:noFill/>
          <a:ln/>
        </p:spPr>
        <p:txBody>
          <a:bodyPr wrap="square" lIns="0" tIns="0" rIns="0" bIns="0" rtlCol="0" anchor="ctr"/>
          <a:lstStyle/>
          <a:p>
            <a:pPr algn="r" indent="0" marL="0">
              <a:buNone/>
            </a:pPr>
            <a:endParaRPr lang="en-US" sz="1300" dirty="0"/>
          </a:p>
        </p:txBody>
      </p:sp>
      <p:sp>
        <p:nvSpPr>
          <p:cNvPr id="76" name="Text 74"/>
          <p:cNvSpPr txBox="1"/>
          <p:nvPr/>
        </p:nvSpPr>
        <p:spPr>
          <a:xfrm>
            <a:off x="658368"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7" name="Shape 75"/>
          <p:cNvSpPr/>
          <p:nvPr/>
        </p:nvSpPr>
        <p:spPr>
          <a:xfrm>
            <a:off x="2651760" y="4690364"/>
            <a:ext cx="339096" cy="110744"/>
          </a:xfrm>
          <a:prstGeom prst="rect">
            <a:avLst/>
          </a:prstGeom>
          <a:solidFill>
            <a:srgbClr val="2587C5"/>
          </a:solidFill>
          <a:ln/>
        </p:spPr>
      </p:sp>
      <p:sp>
        <p:nvSpPr>
          <p:cNvPr id="78" name="Text 76"/>
          <p:cNvSpPr txBox="1"/>
          <p:nvPr/>
        </p:nvSpPr>
        <p:spPr>
          <a:xfrm>
            <a:off x="3474720"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$209.87</a:t>
            </a:r>
            <a:endParaRPr lang="en-US" sz="1300" dirty="0"/>
          </a:p>
        </p:txBody>
      </p:sp>
      <p:sp>
        <p:nvSpPr>
          <p:cNvPr id="79" name="Text 77"/>
          <p:cNvSpPr txBox="1"/>
          <p:nvPr/>
        </p:nvSpPr>
        <p:spPr>
          <a:xfrm>
            <a:off x="4224528" y="4634992"/>
            <a:ext cx="987552" cy="221488"/>
          </a:xfrm>
          <a:prstGeom prst="rect">
            <a:avLst/>
          </a:prstGeom>
          <a:noFill/>
          <a:ln/>
        </p:spPr>
        <p:txBody>
          <a:bodyPr wrap="square" lIns="0" tIns="0" rIns="0" bIns="0" rtlCol="0" anchor="ctr"/>
          <a:lstStyle/>
          <a:p>
            <a:pPr algn="r" indent="0" marL="0">
              <a:buNone/>
            </a:pPr>
            <a:endParaRPr lang="en-US" sz="1300" dirty="0"/>
          </a:p>
        </p:txBody>
      </p:sp>
      <p:sp>
        <p:nvSpPr>
          <p:cNvPr id="80" name="Text 78"/>
          <p:cNvSpPr txBox="1"/>
          <p:nvPr/>
        </p:nvSpPr>
        <p:spPr>
          <a:xfrm>
            <a:off x="5212080" y="4634992"/>
            <a:ext cx="658368" cy="221488"/>
          </a:xfrm>
          <a:prstGeom prst="rect">
            <a:avLst/>
          </a:prstGeom>
          <a:noFill/>
          <a:ln/>
        </p:spPr>
        <p:txBody>
          <a:bodyPr wrap="square" lIns="0" tIns="0" rIns="0" bIns="0" rtlCol="0" anchor="ctr"/>
          <a:lstStyle/>
          <a:p>
            <a:pPr algn="r" indent="0" marL="0">
              <a:buNone/>
            </a:pPr>
            <a:endParaRPr lang="en-US" sz="1300" dirty="0"/>
          </a:p>
        </p:txBody>
      </p:sp>
      <p:sp>
        <p:nvSpPr>
          <p:cNvPr id="81" name="Text 79"/>
          <p:cNvSpPr txBox="1"/>
          <p:nvPr/>
        </p:nvSpPr>
        <p:spPr>
          <a:xfrm>
            <a:off x="658368"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2" name="Shape 80"/>
          <p:cNvSpPr/>
          <p:nvPr/>
        </p:nvSpPr>
        <p:spPr>
          <a:xfrm>
            <a:off x="2651760" y="4911852"/>
            <a:ext cx="323664" cy="110744"/>
          </a:xfrm>
          <a:prstGeom prst="rect">
            <a:avLst/>
          </a:prstGeom>
          <a:solidFill>
            <a:srgbClr val="2587C5"/>
          </a:solidFill>
          <a:ln/>
        </p:spPr>
      </p:sp>
      <p:sp>
        <p:nvSpPr>
          <p:cNvPr id="83" name="Text 81"/>
          <p:cNvSpPr txBox="1"/>
          <p:nvPr/>
        </p:nvSpPr>
        <p:spPr>
          <a:xfrm>
            <a:off x="3474720"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$204.87</a:t>
            </a:r>
            <a:endParaRPr lang="en-US" sz="1300" dirty="0"/>
          </a:p>
        </p:txBody>
      </p:sp>
      <p:sp>
        <p:nvSpPr>
          <p:cNvPr id="84" name="Text 82"/>
          <p:cNvSpPr txBox="1"/>
          <p:nvPr/>
        </p:nvSpPr>
        <p:spPr>
          <a:xfrm>
            <a:off x="4224528" y="4856480"/>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85" name="Text 83"/>
          <p:cNvSpPr txBox="1"/>
          <p:nvPr/>
        </p:nvSpPr>
        <p:spPr>
          <a:xfrm>
            <a:off x="5212080" y="4856480"/>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86" name="Text 84"/>
          <p:cNvSpPr txBox="1"/>
          <p:nvPr/>
        </p:nvSpPr>
        <p:spPr>
          <a:xfrm>
            <a:off x="658368"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7" name="Shape 85"/>
          <p:cNvSpPr/>
          <p:nvPr/>
        </p:nvSpPr>
        <p:spPr>
          <a:xfrm>
            <a:off x="2651760" y="5133340"/>
            <a:ext cx="261937" cy="110744"/>
          </a:xfrm>
          <a:prstGeom prst="rect">
            <a:avLst/>
          </a:prstGeom>
          <a:solidFill>
            <a:srgbClr val="2587C5"/>
          </a:solidFill>
          <a:ln/>
        </p:spPr>
      </p:sp>
      <p:sp>
        <p:nvSpPr>
          <p:cNvPr id="88" name="Text 86"/>
          <p:cNvSpPr txBox="1"/>
          <p:nvPr/>
        </p:nvSpPr>
        <p:spPr>
          <a:xfrm>
            <a:off x="3474720"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89" name="Text 87"/>
          <p:cNvSpPr txBox="1"/>
          <p:nvPr/>
        </p:nvSpPr>
        <p:spPr>
          <a:xfrm>
            <a:off x="4224528" y="5077968"/>
            <a:ext cx="987552" cy="221488"/>
          </a:xfrm>
          <a:prstGeom prst="rect">
            <a:avLst/>
          </a:prstGeom>
          <a:noFill/>
          <a:ln/>
        </p:spPr>
        <p:txBody>
          <a:bodyPr wrap="square" lIns="0" tIns="0" rIns="0" bIns="0" rtlCol="0" anchor="ctr"/>
          <a:lstStyle/>
          <a:p>
            <a:pPr algn="r" indent="0" marL="0">
              <a:buNone/>
            </a:pPr>
            <a:endParaRPr lang="en-US" sz="1300" dirty="0"/>
          </a:p>
        </p:txBody>
      </p:sp>
      <p:sp>
        <p:nvSpPr>
          <p:cNvPr id="90" name="Text 88"/>
          <p:cNvSpPr txBox="1"/>
          <p:nvPr/>
        </p:nvSpPr>
        <p:spPr>
          <a:xfrm>
            <a:off x="5212080" y="5077968"/>
            <a:ext cx="658368" cy="221488"/>
          </a:xfrm>
          <a:prstGeom prst="rect">
            <a:avLst/>
          </a:prstGeom>
          <a:noFill/>
          <a:ln/>
        </p:spPr>
        <p:txBody>
          <a:bodyPr wrap="square" lIns="0" tIns="0" rIns="0" bIns="0" rtlCol="0" anchor="ctr"/>
          <a:lstStyle/>
          <a:p>
            <a:pPr algn="r" indent="0" marL="0">
              <a:buNone/>
            </a:pPr>
            <a:endParaRPr lang="en-US" sz="1300" dirty="0"/>
          </a:p>
        </p:txBody>
      </p:sp>
      <p:sp>
        <p:nvSpPr>
          <p:cNvPr id="91" name="Text 89"/>
          <p:cNvSpPr txBox="1"/>
          <p:nvPr/>
        </p:nvSpPr>
        <p:spPr>
          <a:xfrm>
            <a:off x="658368"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2" name="Shape 90"/>
          <p:cNvSpPr/>
          <p:nvPr/>
        </p:nvSpPr>
        <p:spPr>
          <a:xfrm>
            <a:off x="2651760" y="5354828"/>
            <a:ext cx="261937" cy="110744"/>
          </a:xfrm>
          <a:prstGeom prst="rect">
            <a:avLst/>
          </a:prstGeom>
          <a:solidFill>
            <a:srgbClr val="2587C5"/>
          </a:solidFill>
          <a:ln/>
        </p:spPr>
      </p:sp>
      <p:sp>
        <p:nvSpPr>
          <p:cNvPr id="93" name="Text 91"/>
          <p:cNvSpPr txBox="1"/>
          <p:nvPr/>
        </p:nvSpPr>
        <p:spPr>
          <a:xfrm>
            <a:off x="3474720"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$184.87</a:t>
            </a:r>
            <a:endParaRPr lang="en-US" sz="1300" dirty="0"/>
          </a:p>
        </p:txBody>
      </p:sp>
      <p:sp>
        <p:nvSpPr>
          <p:cNvPr id="94" name="Text 92"/>
          <p:cNvSpPr txBox="1"/>
          <p:nvPr/>
        </p:nvSpPr>
        <p:spPr>
          <a:xfrm>
            <a:off x="4224528" y="5299456"/>
            <a:ext cx="987552" cy="221488"/>
          </a:xfrm>
          <a:prstGeom prst="rect">
            <a:avLst/>
          </a:prstGeom>
          <a:noFill/>
          <a:ln/>
        </p:spPr>
        <p:txBody>
          <a:bodyPr wrap="square" lIns="0" tIns="0" rIns="0" bIns="0" rtlCol="0" anchor="ctr"/>
          <a:lstStyle/>
          <a:p>
            <a:pPr algn="r" indent="0" marL="0">
              <a:buNone/>
            </a:pPr>
            <a:endParaRPr lang="en-US" sz="1300" dirty="0"/>
          </a:p>
        </p:txBody>
      </p:sp>
      <p:sp>
        <p:nvSpPr>
          <p:cNvPr id="95" name="Text 93"/>
          <p:cNvSpPr txBox="1"/>
          <p:nvPr/>
        </p:nvSpPr>
        <p:spPr>
          <a:xfrm>
            <a:off x="5212080" y="5299456"/>
            <a:ext cx="658368" cy="221488"/>
          </a:xfrm>
          <a:prstGeom prst="rect">
            <a:avLst/>
          </a:prstGeom>
          <a:noFill/>
          <a:ln/>
        </p:spPr>
        <p:txBody>
          <a:bodyPr wrap="square" lIns="0" tIns="0" rIns="0" bIns="0" rtlCol="0" anchor="ctr"/>
          <a:lstStyle/>
          <a:p>
            <a:pPr algn="r" indent="0" marL="0">
              <a:buNone/>
            </a:pPr>
            <a:endParaRPr lang="en-US" sz="1300" dirty="0"/>
          </a:p>
        </p:txBody>
      </p:sp>
      <p:sp>
        <p:nvSpPr>
          <p:cNvPr id="96" name="Text 94"/>
          <p:cNvSpPr txBox="1"/>
          <p:nvPr/>
        </p:nvSpPr>
        <p:spPr>
          <a:xfrm>
            <a:off x="658368" y="552094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7" name="Shape 95"/>
          <p:cNvSpPr/>
          <p:nvPr/>
        </p:nvSpPr>
        <p:spPr>
          <a:xfrm>
            <a:off x="2651760" y="5576316"/>
            <a:ext cx="246506" cy="110744"/>
          </a:xfrm>
          <a:prstGeom prst="rect">
            <a:avLst/>
          </a:prstGeom>
          <a:solidFill>
            <a:srgbClr val="2587C5"/>
          </a:solidFill>
          <a:ln/>
        </p:spPr>
      </p:sp>
      <p:sp>
        <p:nvSpPr>
          <p:cNvPr id="98" name="Text 96"/>
          <p:cNvSpPr txBox="1"/>
          <p:nvPr/>
        </p:nvSpPr>
        <p:spPr>
          <a:xfrm>
            <a:off x="3474720" y="552094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$179.87</a:t>
            </a:r>
            <a:endParaRPr lang="en-US" sz="1300" dirty="0"/>
          </a:p>
        </p:txBody>
      </p:sp>
      <p:sp>
        <p:nvSpPr>
          <p:cNvPr id="99" name="Text 97"/>
          <p:cNvSpPr txBox="1"/>
          <p:nvPr/>
        </p:nvSpPr>
        <p:spPr>
          <a:xfrm>
            <a:off x="4224528" y="5520944"/>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$199.87</a:t>
            </a:r>
            <a:endParaRPr lang="en-US" sz="1300" dirty="0"/>
          </a:p>
        </p:txBody>
      </p:sp>
      <p:sp>
        <p:nvSpPr>
          <p:cNvPr id="100" name="Text 98"/>
          <p:cNvSpPr txBox="1"/>
          <p:nvPr/>
        </p:nvSpPr>
        <p:spPr>
          <a:xfrm>
            <a:off x="5212080" y="5520944"/>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Non-std</a:t>
            </a:r>
            <a:endParaRPr lang="en-US" sz="1300" dirty="0"/>
          </a:p>
        </p:txBody>
      </p:sp>
      <p:sp>
        <p:nvSpPr>
          <p:cNvPr id="101" name="Text 99"/>
          <p:cNvSpPr txBox="1"/>
          <p:nvPr/>
        </p:nvSpPr>
        <p:spPr>
          <a:xfrm>
            <a:off x="6208776" y="1316736"/>
            <a:ext cx="2688336"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102" name="Text 100"/>
          <p:cNvSpPr txBox="1"/>
          <p:nvPr/>
        </p:nvSpPr>
        <p:spPr>
          <a:xfrm>
            <a:off x="9025128"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3" name="Text 101"/>
          <p:cNvSpPr txBox="1"/>
          <p:nvPr/>
        </p:nvSpPr>
        <p:spPr>
          <a:xfrm>
            <a:off x="9774936" y="1316736"/>
            <a:ext cx="987552"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PREMIUM</a:t>
            </a:r>
            <a:endParaRPr lang="en-US" sz="1400" dirty="0"/>
          </a:p>
        </p:txBody>
      </p:sp>
      <p:sp>
        <p:nvSpPr>
          <p:cNvPr id="104" name="Text 102"/>
          <p:cNvSpPr txBox="1"/>
          <p:nvPr/>
        </p:nvSpPr>
        <p:spPr>
          <a:xfrm>
            <a:off x="10762488" y="1316736"/>
            <a:ext cx="65836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FOR</a:t>
            </a:r>
            <a:endParaRPr lang="en-US" sz="1400" dirty="0"/>
          </a:p>
        </p:txBody>
      </p:sp>
      <p:sp>
        <p:nvSpPr>
          <p:cNvPr id="105" name="Text 103"/>
          <p:cNvSpPr txBox="1"/>
          <p:nvPr/>
        </p:nvSpPr>
        <p:spPr>
          <a:xfrm>
            <a:off x="6208776"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6" name="Shape 104"/>
          <p:cNvSpPr/>
          <p:nvPr/>
        </p:nvSpPr>
        <p:spPr>
          <a:xfrm>
            <a:off x="8202168" y="1811020"/>
            <a:ext cx="540108" cy="110744"/>
          </a:xfrm>
          <a:prstGeom prst="rect">
            <a:avLst/>
          </a:prstGeom>
          <a:solidFill>
            <a:srgbClr val="2587C5"/>
          </a:solidFill>
          <a:ln/>
        </p:spPr>
      </p:sp>
      <p:sp>
        <p:nvSpPr>
          <p:cNvPr id="107" name="Text 105"/>
          <p:cNvSpPr txBox="1"/>
          <p:nvPr/>
        </p:nvSpPr>
        <p:spPr>
          <a:xfrm>
            <a:off x="9025128" y="175564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$275.00</a:t>
            </a:r>
            <a:endParaRPr lang="en-US" sz="1300" dirty="0"/>
          </a:p>
        </p:txBody>
      </p:sp>
      <p:sp>
        <p:nvSpPr>
          <p:cNvPr id="108" name="Text 106"/>
          <p:cNvSpPr txBox="1"/>
          <p:nvPr/>
        </p:nvSpPr>
        <p:spPr>
          <a:xfrm>
            <a:off x="9774936" y="1755648"/>
            <a:ext cx="987552" cy="221488"/>
          </a:xfrm>
          <a:prstGeom prst="rect">
            <a:avLst/>
          </a:prstGeom>
          <a:noFill/>
          <a:ln/>
        </p:spPr>
        <p:txBody>
          <a:bodyPr wrap="square" lIns="0" tIns="0" rIns="0" bIns="0" rtlCol="0" anchor="ctr"/>
          <a:lstStyle/>
          <a:p>
            <a:pPr algn="r" indent="0" marL="0">
              <a:buNone/>
            </a:pPr>
            <a:endParaRPr lang="en-US" sz="1300" dirty="0"/>
          </a:p>
        </p:txBody>
      </p:sp>
      <p:sp>
        <p:nvSpPr>
          <p:cNvPr id="109" name="Text 107"/>
          <p:cNvSpPr txBox="1"/>
          <p:nvPr/>
        </p:nvSpPr>
        <p:spPr>
          <a:xfrm>
            <a:off x="10762488" y="1755648"/>
            <a:ext cx="658368" cy="221488"/>
          </a:xfrm>
          <a:prstGeom prst="rect">
            <a:avLst/>
          </a:prstGeom>
          <a:noFill/>
          <a:ln/>
        </p:spPr>
        <p:txBody>
          <a:bodyPr wrap="square" lIns="0" tIns="0" rIns="0" bIns="0" rtlCol="0" anchor="ctr"/>
          <a:lstStyle/>
          <a:p>
            <a:pPr algn="r" indent="0" marL="0">
              <a:buNone/>
            </a:pPr>
            <a:endParaRPr lang="en-US" sz="1300" dirty="0"/>
          </a:p>
        </p:txBody>
      </p:sp>
      <p:sp>
        <p:nvSpPr>
          <p:cNvPr id="110" name="Text 108"/>
          <p:cNvSpPr txBox="1"/>
          <p:nvPr/>
        </p:nvSpPr>
        <p:spPr>
          <a:xfrm>
            <a:off x="6208776"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11" name="Shape 109"/>
          <p:cNvSpPr/>
          <p:nvPr/>
        </p:nvSpPr>
        <p:spPr>
          <a:xfrm>
            <a:off x="8202168" y="2032508"/>
            <a:ext cx="462796" cy="110744"/>
          </a:xfrm>
          <a:prstGeom prst="rect">
            <a:avLst/>
          </a:prstGeom>
          <a:solidFill>
            <a:srgbClr val="2587C5"/>
          </a:solidFill>
          <a:ln/>
        </p:spPr>
      </p:sp>
      <p:sp>
        <p:nvSpPr>
          <p:cNvPr id="112" name="Text 110"/>
          <p:cNvSpPr txBox="1"/>
          <p:nvPr/>
        </p:nvSpPr>
        <p:spPr>
          <a:xfrm>
            <a:off x="9025128" y="197713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$249.95</a:t>
            </a:r>
            <a:endParaRPr lang="en-US" sz="1300" dirty="0"/>
          </a:p>
        </p:txBody>
      </p:sp>
      <p:sp>
        <p:nvSpPr>
          <p:cNvPr id="113" name="Text 111"/>
          <p:cNvSpPr txBox="1"/>
          <p:nvPr/>
        </p:nvSpPr>
        <p:spPr>
          <a:xfrm>
            <a:off x="9774936" y="1977136"/>
            <a:ext cx="987552" cy="221488"/>
          </a:xfrm>
          <a:prstGeom prst="rect">
            <a:avLst/>
          </a:prstGeom>
          <a:noFill/>
          <a:ln/>
        </p:spPr>
        <p:txBody>
          <a:bodyPr wrap="square" lIns="0" tIns="0" rIns="0" bIns="0" rtlCol="0" anchor="ctr"/>
          <a:lstStyle/>
          <a:p>
            <a:pPr algn="r" indent="0" marL="0">
              <a:buNone/>
            </a:pPr>
            <a:endParaRPr lang="en-US" sz="1300" dirty="0"/>
          </a:p>
        </p:txBody>
      </p:sp>
      <p:sp>
        <p:nvSpPr>
          <p:cNvPr id="114" name="Text 112"/>
          <p:cNvSpPr txBox="1"/>
          <p:nvPr/>
        </p:nvSpPr>
        <p:spPr>
          <a:xfrm>
            <a:off x="10762488" y="1977136"/>
            <a:ext cx="658368" cy="221488"/>
          </a:xfrm>
          <a:prstGeom prst="rect">
            <a:avLst/>
          </a:prstGeom>
          <a:noFill/>
          <a:ln/>
        </p:spPr>
        <p:txBody>
          <a:bodyPr wrap="square" lIns="0" tIns="0" rIns="0" bIns="0" rtlCol="0" anchor="ctr"/>
          <a:lstStyle/>
          <a:p>
            <a:pPr algn="r" indent="0" marL="0">
              <a:buNone/>
            </a:pPr>
            <a:endParaRPr lang="en-US" sz="1300" dirty="0"/>
          </a:p>
        </p:txBody>
      </p:sp>
      <p:sp>
        <p:nvSpPr>
          <p:cNvPr id="115" name="Text 113"/>
          <p:cNvSpPr txBox="1"/>
          <p:nvPr/>
        </p:nvSpPr>
        <p:spPr>
          <a:xfrm>
            <a:off x="6208776"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16" name="Shape 114"/>
          <p:cNvSpPr/>
          <p:nvPr/>
        </p:nvSpPr>
        <p:spPr>
          <a:xfrm>
            <a:off x="8202168" y="2253996"/>
            <a:ext cx="447117" cy="110744"/>
          </a:xfrm>
          <a:prstGeom prst="rect">
            <a:avLst/>
          </a:prstGeom>
          <a:solidFill>
            <a:srgbClr val="2587C5"/>
          </a:solidFill>
          <a:ln/>
        </p:spPr>
      </p:sp>
      <p:sp>
        <p:nvSpPr>
          <p:cNvPr id="117" name="Text 115"/>
          <p:cNvSpPr txBox="1"/>
          <p:nvPr/>
        </p:nvSpPr>
        <p:spPr>
          <a:xfrm>
            <a:off x="9025128" y="219862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$244.87</a:t>
            </a:r>
            <a:endParaRPr lang="en-US" sz="1300" dirty="0"/>
          </a:p>
        </p:txBody>
      </p:sp>
      <p:sp>
        <p:nvSpPr>
          <p:cNvPr id="118" name="Text 116"/>
          <p:cNvSpPr txBox="1"/>
          <p:nvPr/>
        </p:nvSpPr>
        <p:spPr>
          <a:xfrm>
            <a:off x="9774936" y="2198624"/>
            <a:ext cx="987552" cy="221488"/>
          </a:xfrm>
          <a:prstGeom prst="rect">
            <a:avLst/>
          </a:prstGeom>
          <a:noFill/>
          <a:ln/>
        </p:spPr>
        <p:txBody>
          <a:bodyPr wrap="square" lIns="0" tIns="0" rIns="0" bIns="0" rtlCol="0" anchor="ctr"/>
          <a:lstStyle/>
          <a:p>
            <a:pPr algn="r" indent="0" marL="0">
              <a:buNone/>
            </a:pPr>
            <a:endParaRPr lang="en-US" sz="1300" dirty="0"/>
          </a:p>
        </p:txBody>
      </p:sp>
      <p:sp>
        <p:nvSpPr>
          <p:cNvPr id="119" name="Text 117"/>
          <p:cNvSpPr txBox="1"/>
          <p:nvPr/>
        </p:nvSpPr>
        <p:spPr>
          <a:xfrm>
            <a:off x="10762488" y="2198624"/>
            <a:ext cx="658368" cy="221488"/>
          </a:xfrm>
          <a:prstGeom prst="rect">
            <a:avLst/>
          </a:prstGeom>
          <a:noFill/>
          <a:ln/>
        </p:spPr>
        <p:txBody>
          <a:bodyPr wrap="square" lIns="0" tIns="0" rIns="0" bIns="0" rtlCol="0" anchor="ctr"/>
          <a:lstStyle/>
          <a:p>
            <a:pPr algn="r" indent="0" marL="0">
              <a:buNone/>
            </a:pPr>
            <a:endParaRPr lang="en-US" sz="1300" dirty="0"/>
          </a:p>
        </p:txBody>
      </p:sp>
      <p:sp>
        <p:nvSpPr>
          <p:cNvPr id="120" name="Text 118"/>
          <p:cNvSpPr txBox="1"/>
          <p:nvPr/>
        </p:nvSpPr>
        <p:spPr>
          <a:xfrm>
            <a:off x="6208776"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1" name="Shape 119"/>
          <p:cNvSpPr/>
          <p:nvPr/>
        </p:nvSpPr>
        <p:spPr>
          <a:xfrm>
            <a:off x="8202168" y="2475484"/>
            <a:ext cx="401069" cy="110744"/>
          </a:xfrm>
          <a:prstGeom prst="rect">
            <a:avLst/>
          </a:prstGeom>
          <a:solidFill>
            <a:srgbClr val="2587C5"/>
          </a:solidFill>
          <a:ln/>
        </p:spPr>
      </p:sp>
      <p:sp>
        <p:nvSpPr>
          <p:cNvPr id="122" name="Text 120"/>
          <p:cNvSpPr txBox="1"/>
          <p:nvPr/>
        </p:nvSpPr>
        <p:spPr>
          <a:xfrm>
            <a:off x="9025128" y="242011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$229.95</a:t>
            </a:r>
            <a:endParaRPr lang="en-US" sz="1300" dirty="0"/>
          </a:p>
        </p:txBody>
      </p:sp>
      <p:sp>
        <p:nvSpPr>
          <p:cNvPr id="123" name="Text 121"/>
          <p:cNvSpPr txBox="1"/>
          <p:nvPr/>
        </p:nvSpPr>
        <p:spPr>
          <a:xfrm>
            <a:off x="9774936" y="2420112"/>
            <a:ext cx="987552" cy="221488"/>
          </a:xfrm>
          <a:prstGeom prst="rect">
            <a:avLst/>
          </a:prstGeom>
          <a:noFill/>
          <a:ln/>
        </p:spPr>
        <p:txBody>
          <a:bodyPr wrap="square" lIns="0" tIns="0" rIns="0" bIns="0" rtlCol="0" anchor="ctr"/>
          <a:lstStyle/>
          <a:p>
            <a:pPr algn="r" indent="0" marL="0">
              <a:buNone/>
            </a:pPr>
            <a:endParaRPr lang="en-US" sz="1300" dirty="0"/>
          </a:p>
        </p:txBody>
      </p:sp>
      <p:sp>
        <p:nvSpPr>
          <p:cNvPr id="124" name="Text 122"/>
          <p:cNvSpPr txBox="1"/>
          <p:nvPr/>
        </p:nvSpPr>
        <p:spPr>
          <a:xfrm>
            <a:off x="10762488" y="2420112"/>
            <a:ext cx="658368" cy="221488"/>
          </a:xfrm>
          <a:prstGeom prst="rect">
            <a:avLst/>
          </a:prstGeom>
          <a:noFill/>
          <a:ln/>
        </p:spPr>
        <p:txBody>
          <a:bodyPr wrap="square" lIns="0" tIns="0" rIns="0" bIns="0" rtlCol="0" anchor="ctr"/>
          <a:lstStyle/>
          <a:p>
            <a:pPr algn="r" indent="0" marL="0">
              <a:buNone/>
            </a:pPr>
            <a:endParaRPr lang="en-US" sz="1300" dirty="0"/>
          </a:p>
        </p:txBody>
      </p:sp>
      <p:sp>
        <p:nvSpPr>
          <p:cNvPr id="125" name="Text 123"/>
          <p:cNvSpPr txBox="1"/>
          <p:nvPr/>
        </p:nvSpPr>
        <p:spPr>
          <a:xfrm>
            <a:off x="6208776"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26" name="Shape 124"/>
          <p:cNvSpPr/>
          <p:nvPr/>
        </p:nvSpPr>
        <p:spPr>
          <a:xfrm>
            <a:off x="8202168" y="2696972"/>
            <a:ext cx="370360" cy="110744"/>
          </a:xfrm>
          <a:prstGeom prst="rect">
            <a:avLst/>
          </a:prstGeom>
          <a:solidFill>
            <a:srgbClr val="2587C5"/>
          </a:solidFill>
          <a:ln/>
        </p:spPr>
      </p:sp>
      <p:sp>
        <p:nvSpPr>
          <p:cNvPr id="127" name="Text 125"/>
          <p:cNvSpPr txBox="1"/>
          <p:nvPr/>
        </p:nvSpPr>
        <p:spPr>
          <a:xfrm>
            <a:off x="9025128" y="264160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$220.00</a:t>
            </a:r>
            <a:endParaRPr lang="en-US" sz="1300" dirty="0"/>
          </a:p>
        </p:txBody>
      </p:sp>
      <p:sp>
        <p:nvSpPr>
          <p:cNvPr id="128" name="Text 126"/>
          <p:cNvSpPr txBox="1"/>
          <p:nvPr/>
        </p:nvSpPr>
        <p:spPr>
          <a:xfrm>
            <a:off x="9774936" y="2641600"/>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$230.00</a:t>
            </a:r>
            <a:endParaRPr lang="en-US" sz="1300" dirty="0"/>
          </a:p>
        </p:txBody>
      </p:sp>
      <p:sp>
        <p:nvSpPr>
          <p:cNvPr id="129" name="Text 127"/>
          <p:cNvSpPr txBox="1"/>
          <p:nvPr/>
        </p:nvSpPr>
        <p:spPr>
          <a:xfrm>
            <a:off x="10762488" y="2641600"/>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30" name="Text 128"/>
          <p:cNvSpPr txBox="1"/>
          <p:nvPr/>
        </p:nvSpPr>
        <p:spPr>
          <a:xfrm>
            <a:off x="6208776"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1" name="Shape 129"/>
          <p:cNvSpPr/>
          <p:nvPr/>
        </p:nvSpPr>
        <p:spPr>
          <a:xfrm>
            <a:off x="8202168" y="2918460"/>
            <a:ext cx="356070" cy="110744"/>
          </a:xfrm>
          <a:prstGeom prst="rect">
            <a:avLst/>
          </a:prstGeom>
          <a:solidFill>
            <a:srgbClr val="2587C5"/>
          </a:solidFill>
          <a:ln/>
        </p:spPr>
      </p:sp>
      <p:sp>
        <p:nvSpPr>
          <p:cNvPr id="132" name="Text 130"/>
          <p:cNvSpPr txBox="1"/>
          <p:nvPr/>
        </p:nvSpPr>
        <p:spPr>
          <a:xfrm>
            <a:off x="9025128" y="286308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$215.37</a:t>
            </a:r>
            <a:endParaRPr lang="en-US" sz="1300" dirty="0"/>
          </a:p>
        </p:txBody>
      </p:sp>
      <p:sp>
        <p:nvSpPr>
          <p:cNvPr id="133" name="Text 131"/>
          <p:cNvSpPr txBox="1"/>
          <p:nvPr/>
        </p:nvSpPr>
        <p:spPr>
          <a:xfrm>
            <a:off x="9774936" y="2863088"/>
            <a:ext cx="987552" cy="221488"/>
          </a:xfrm>
          <a:prstGeom prst="rect">
            <a:avLst/>
          </a:prstGeom>
          <a:noFill/>
          <a:ln/>
        </p:spPr>
        <p:txBody>
          <a:bodyPr wrap="square" lIns="0" tIns="0" rIns="0" bIns="0" rtlCol="0" anchor="ctr"/>
          <a:lstStyle/>
          <a:p>
            <a:pPr algn="r" indent="0" marL="0">
              <a:buNone/>
            </a:pPr>
            <a:endParaRPr lang="en-US" sz="1300" dirty="0"/>
          </a:p>
        </p:txBody>
      </p:sp>
      <p:sp>
        <p:nvSpPr>
          <p:cNvPr id="134" name="Text 132"/>
          <p:cNvSpPr txBox="1"/>
          <p:nvPr/>
        </p:nvSpPr>
        <p:spPr>
          <a:xfrm>
            <a:off x="10762488" y="2863088"/>
            <a:ext cx="658368" cy="221488"/>
          </a:xfrm>
          <a:prstGeom prst="rect">
            <a:avLst/>
          </a:prstGeom>
          <a:noFill/>
          <a:ln/>
        </p:spPr>
        <p:txBody>
          <a:bodyPr wrap="square" lIns="0" tIns="0" rIns="0" bIns="0" rtlCol="0" anchor="ctr"/>
          <a:lstStyle/>
          <a:p>
            <a:pPr algn="r" indent="0" marL="0">
              <a:buNone/>
            </a:pPr>
            <a:endParaRPr lang="en-US" sz="1300" dirty="0"/>
          </a:p>
        </p:txBody>
      </p:sp>
      <p:sp>
        <p:nvSpPr>
          <p:cNvPr id="135" name="Text 133"/>
          <p:cNvSpPr txBox="1"/>
          <p:nvPr/>
        </p:nvSpPr>
        <p:spPr>
          <a:xfrm>
            <a:off x="6208776"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36" name="Shape 134"/>
          <p:cNvSpPr/>
          <p:nvPr/>
        </p:nvSpPr>
        <p:spPr>
          <a:xfrm>
            <a:off x="8202168" y="3139948"/>
            <a:ext cx="339497" cy="110744"/>
          </a:xfrm>
          <a:prstGeom prst="rect">
            <a:avLst/>
          </a:prstGeom>
          <a:solidFill>
            <a:srgbClr val="2587C5"/>
          </a:solidFill>
          <a:ln/>
        </p:spPr>
      </p:sp>
      <p:sp>
        <p:nvSpPr>
          <p:cNvPr id="137" name="Text 135"/>
          <p:cNvSpPr txBox="1"/>
          <p:nvPr/>
        </p:nvSpPr>
        <p:spPr>
          <a:xfrm>
            <a:off x="9025128" y="308457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138" name="Text 136"/>
          <p:cNvSpPr txBox="1"/>
          <p:nvPr/>
        </p:nvSpPr>
        <p:spPr>
          <a:xfrm>
            <a:off x="9774936" y="3084576"/>
            <a:ext cx="987552" cy="221488"/>
          </a:xfrm>
          <a:prstGeom prst="rect">
            <a:avLst/>
          </a:prstGeom>
          <a:noFill/>
          <a:ln/>
        </p:spPr>
        <p:txBody>
          <a:bodyPr wrap="square" lIns="0" tIns="0" rIns="0" bIns="0" rtlCol="0" anchor="ctr"/>
          <a:lstStyle/>
          <a:p>
            <a:pPr algn="r" indent="0" marL="0">
              <a:buNone/>
            </a:pPr>
            <a:endParaRPr lang="en-US" sz="1300" dirty="0"/>
          </a:p>
        </p:txBody>
      </p:sp>
      <p:sp>
        <p:nvSpPr>
          <p:cNvPr id="139" name="Text 137"/>
          <p:cNvSpPr txBox="1"/>
          <p:nvPr/>
        </p:nvSpPr>
        <p:spPr>
          <a:xfrm>
            <a:off x="10762488" y="3084576"/>
            <a:ext cx="658368" cy="221488"/>
          </a:xfrm>
          <a:prstGeom prst="rect">
            <a:avLst/>
          </a:prstGeom>
          <a:noFill/>
          <a:ln/>
        </p:spPr>
        <p:txBody>
          <a:bodyPr wrap="square" lIns="0" tIns="0" rIns="0" bIns="0" rtlCol="0" anchor="ctr"/>
          <a:lstStyle/>
          <a:p>
            <a:pPr algn="r" indent="0" marL="0">
              <a:buNone/>
            </a:pPr>
            <a:endParaRPr lang="en-US" sz="1300" dirty="0"/>
          </a:p>
        </p:txBody>
      </p:sp>
      <p:sp>
        <p:nvSpPr>
          <p:cNvPr id="140" name="Text 138"/>
          <p:cNvSpPr txBox="1"/>
          <p:nvPr/>
        </p:nvSpPr>
        <p:spPr>
          <a:xfrm>
            <a:off x="6208776"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41" name="Shape 139"/>
          <p:cNvSpPr/>
          <p:nvPr/>
        </p:nvSpPr>
        <p:spPr>
          <a:xfrm>
            <a:off x="8202168" y="3361436"/>
            <a:ext cx="339497" cy="110744"/>
          </a:xfrm>
          <a:prstGeom prst="rect">
            <a:avLst/>
          </a:prstGeom>
          <a:solidFill>
            <a:srgbClr val="2587C5"/>
          </a:solidFill>
          <a:ln/>
        </p:spPr>
      </p:sp>
      <p:sp>
        <p:nvSpPr>
          <p:cNvPr id="142" name="Text 140"/>
          <p:cNvSpPr txBox="1"/>
          <p:nvPr/>
        </p:nvSpPr>
        <p:spPr>
          <a:xfrm>
            <a:off x="9025128" y="330606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$210.00</a:t>
            </a:r>
            <a:endParaRPr lang="en-US" sz="1300" dirty="0"/>
          </a:p>
        </p:txBody>
      </p:sp>
      <p:sp>
        <p:nvSpPr>
          <p:cNvPr id="143" name="Text 141"/>
          <p:cNvSpPr txBox="1"/>
          <p:nvPr/>
        </p:nvSpPr>
        <p:spPr>
          <a:xfrm>
            <a:off x="9774936" y="3306064"/>
            <a:ext cx="987552" cy="221488"/>
          </a:xfrm>
          <a:prstGeom prst="rect">
            <a:avLst/>
          </a:prstGeom>
          <a:noFill/>
          <a:ln/>
        </p:spPr>
        <p:txBody>
          <a:bodyPr wrap="square" lIns="0" tIns="0" rIns="0" bIns="0" rtlCol="0" anchor="ctr"/>
          <a:lstStyle/>
          <a:p>
            <a:pPr algn="r" indent="0" marL="0">
              <a:buNone/>
            </a:pPr>
            <a:endParaRPr lang="en-US" sz="1300" dirty="0"/>
          </a:p>
        </p:txBody>
      </p:sp>
      <p:sp>
        <p:nvSpPr>
          <p:cNvPr id="144" name="Text 142"/>
          <p:cNvSpPr txBox="1"/>
          <p:nvPr/>
        </p:nvSpPr>
        <p:spPr>
          <a:xfrm>
            <a:off x="10762488" y="3306064"/>
            <a:ext cx="658368" cy="221488"/>
          </a:xfrm>
          <a:prstGeom prst="rect">
            <a:avLst/>
          </a:prstGeom>
          <a:noFill/>
          <a:ln/>
        </p:spPr>
        <p:txBody>
          <a:bodyPr wrap="square" lIns="0" tIns="0" rIns="0" bIns="0" rtlCol="0" anchor="ctr"/>
          <a:lstStyle/>
          <a:p>
            <a:pPr algn="r" indent="0" marL="0">
              <a:buNone/>
            </a:pPr>
            <a:endParaRPr lang="en-US" sz="1300" dirty="0"/>
          </a:p>
        </p:txBody>
      </p:sp>
      <p:sp>
        <p:nvSpPr>
          <p:cNvPr id="145" name="Shape 143"/>
          <p:cNvSpPr/>
          <p:nvPr/>
        </p:nvSpPr>
        <p:spPr>
          <a:xfrm>
            <a:off x="6153912" y="3527552"/>
            <a:ext cx="5285232" cy="212344"/>
          </a:xfrm>
          <a:prstGeom prst="rect">
            <a:avLst/>
          </a:prstGeom>
          <a:solidFill>
            <a:srgbClr val="EDF4FA"/>
          </a:solidFill>
          <a:ln/>
        </p:spPr>
      </p:sp>
      <p:sp>
        <p:nvSpPr>
          <p:cNvPr id="146" name="Text 144"/>
          <p:cNvSpPr txBox="1"/>
          <p:nvPr/>
        </p:nvSpPr>
        <p:spPr>
          <a:xfrm>
            <a:off x="6208776" y="3527552"/>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147" name="Shape 145"/>
          <p:cNvSpPr/>
          <p:nvPr/>
        </p:nvSpPr>
        <p:spPr>
          <a:xfrm>
            <a:off x="8202168" y="3582924"/>
            <a:ext cx="317376" cy="110744"/>
          </a:xfrm>
          <a:prstGeom prst="rect">
            <a:avLst/>
          </a:prstGeom>
          <a:solidFill>
            <a:srgbClr val="0B2C4A"/>
          </a:solidFill>
          <a:ln/>
        </p:spPr>
      </p:sp>
      <p:sp>
        <p:nvSpPr>
          <p:cNvPr id="148" name="Text 146"/>
          <p:cNvSpPr txBox="1"/>
          <p:nvPr/>
        </p:nvSpPr>
        <p:spPr>
          <a:xfrm>
            <a:off x="9025128" y="3527552"/>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149" name="Text 147"/>
          <p:cNvSpPr txBox="1"/>
          <p:nvPr/>
        </p:nvSpPr>
        <p:spPr>
          <a:xfrm>
            <a:off x="9774936" y="3527552"/>
            <a:ext cx="987552" cy="221488"/>
          </a:xfrm>
          <a:prstGeom prst="rect">
            <a:avLst/>
          </a:prstGeom>
          <a:noFill/>
          <a:ln/>
        </p:spPr>
        <p:txBody>
          <a:bodyPr wrap="square" lIns="0" tIns="0" rIns="0" bIns="0" rtlCol="0" anchor="ctr"/>
          <a:lstStyle/>
          <a:p>
            <a:pPr algn="r" indent="0" marL="0">
              <a:buNone/>
            </a:pPr>
            <a:endParaRPr lang="en-US" sz="1300" dirty="0"/>
          </a:p>
        </p:txBody>
      </p:sp>
      <p:sp>
        <p:nvSpPr>
          <p:cNvPr id="150" name="Text 148"/>
          <p:cNvSpPr txBox="1"/>
          <p:nvPr/>
        </p:nvSpPr>
        <p:spPr>
          <a:xfrm>
            <a:off x="10762488" y="3527552"/>
            <a:ext cx="658368" cy="221488"/>
          </a:xfrm>
          <a:prstGeom prst="rect">
            <a:avLst/>
          </a:prstGeom>
          <a:noFill/>
          <a:ln/>
        </p:spPr>
        <p:txBody>
          <a:bodyPr wrap="square" lIns="0" tIns="0" rIns="0" bIns="0" rtlCol="0" anchor="ctr"/>
          <a:lstStyle/>
          <a:p>
            <a:pPr algn="r" indent="0" marL="0">
              <a:buNone/>
            </a:pPr>
            <a:endParaRPr lang="en-US" sz="1300" dirty="0"/>
          </a:p>
        </p:txBody>
      </p:sp>
      <p:sp>
        <p:nvSpPr>
          <p:cNvPr id="151" name="Text 149"/>
          <p:cNvSpPr txBox="1"/>
          <p:nvPr/>
        </p:nvSpPr>
        <p:spPr>
          <a:xfrm>
            <a:off x="6208776"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52" name="Shape 150"/>
          <p:cNvSpPr/>
          <p:nvPr/>
        </p:nvSpPr>
        <p:spPr>
          <a:xfrm>
            <a:off x="8202168" y="3804412"/>
            <a:ext cx="308479" cy="110744"/>
          </a:xfrm>
          <a:prstGeom prst="rect">
            <a:avLst/>
          </a:prstGeom>
          <a:solidFill>
            <a:srgbClr val="2587C5"/>
          </a:solidFill>
          <a:ln/>
        </p:spPr>
      </p:sp>
      <p:sp>
        <p:nvSpPr>
          <p:cNvPr id="153" name="Text 151"/>
          <p:cNvSpPr txBox="1"/>
          <p:nvPr/>
        </p:nvSpPr>
        <p:spPr>
          <a:xfrm>
            <a:off x="9025128" y="374904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$199.95</a:t>
            </a:r>
            <a:endParaRPr lang="en-US" sz="1300" dirty="0"/>
          </a:p>
        </p:txBody>
      </p:sp>
      <p:sp>
        <p:nvSpPr>
          <p:cNvPr id="154" name="Text 152"/>
          <p:cNvSpPr txBox="1"/>
          <p:nvPr/>
        </p:nvSpPr>
        <p:spPr>
          <a:xfrm>
            <a:off x="9774936" y="3749040"/>
            <a:ext cx="987552" cy="221488"/>
          </a:xfrm>
          <a:prstGeom prst="rect">
            <a:avLst/>
          </a:prstGeom>
          <a:noFill/>
          <a:ln/>
        </p:spPr>
        <p:txBody>
          <a:bodyPr wrap="square" lIns="0" tIns="0" rIns="0" bIns="0" rtlCol="0" anchor="ctr"/>
          <a:lstStyle/>
          <a:p>
            <a:pPr algn="r" indent="0" marL="0">
              <a:buNone/>
            </a:pPr>
            <a:endParaRPr lang="en-US" sz="1300" dirty="0"/>
          </a:p>
        </p:txBody>
      </p:sp>
      <p:sp>
        <p:nvSpPr>
          <p:cNvPr id="155" name="Text 153"/>
          <p:cNvSpPr txBox="1"/>
          <p:nvPr/>
        </p:nvSpPr>
        <p:spPr>
          <a:xfrm>
            <a:off x="10762488" y="3749040"/>
            <a:ext cx="658368" cy="221488"/>
          </a:xfrm>
          <a:prstGeom prst="rect">
            <a:avLst/>
          </a:prstGeom>
          <a:noFill/>
          <a:ln/>
        </p:spPr>
        <p:txBody>
          <a:bodyPr wrap="square" lIns="0" tIns="0" rIns="0" bIns="0" rtlCol="0" anchor="ctr"/>
          <a:lstStyle/>
          <a:p>
            <a:pPr algn="r" indent="0" marL="0">
              <a:buNone/>
            </a:pPr>
            <a:endParaRPr lang="en-US" sz="1300" dirty="0"/>
          </a:p>
        </p:txBody>
      </p:sp>
      <p:sp>
        <p:nvSpPr>
          <p:cNvPr id="156" name="Text 154"/>
          <p:cNvSpPr txBox="1"/>
          <p:nvPr/>
        </p:nvSpPr>
        <p:spPr>
          <a:xfrm>
            <a:off x="6208776"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57" name="Shape 155"/>
          <p:cNvSpPr/>
          <p:nvPr/>
        </p:nvSpPr>
        <p:spPr>
          <a:xfrm>
            <a:off x="8202168" y="4025900"/>
            <a:ext cx="293202" cy="110744"/>
          </a:xfrm>
          <a:prstGeom prst="rect">
            <a:avLst/>
          </a:prstGeom>
          <a:solidFill>
            <a:srgbClr val="2587C5"/>
          </a:solidFill>
          <a:ln/>
        </p:spPr>
      </p:sp>
      <p:sp>
        <p:nvSpPr>
          <p:cNvPr id="158" name="Text 156"/>
          <p:cNvSpPr txBox="1"/>
          <p:nvPr/>
        </p:nvSpPr>
        <p:spPr>
          <a:xfrm>
            <a:off x="9025128" y="397052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$195.00</a:t>
            </a:r>
            <a:endParaRPr lang="en-US" sz="1300" dirty="0"/>
          </a:p>
        </p:txBody>
      </p:sp>
      <p:sp>
        <p:nvSpPr>
          <p:cNvPr id="159" name="Text 157"/>
          <p:cNvSpPr txBox="1"/>
          <p:nvPr/>
        </p:nvSpPr>
        <p:spPr>
          <a:xfrm>
            <a:off x="9774936" y="3970528"/>
            <a:ext cx="987552" cy="221488"/>
          </a:xfrm>
          <a:prstGeom prst="rect">
            <a:avLst/>
          </a:prstGeom>
          <a:noFill/>
          <a:ln/>
        </p:spPr>
        <p:txBody>
          <a:bodyPr wrap="square" lIns="0" tIns="0" rIns="0" bIns="0" rtlCol="0" anchor="ctr"/>
          <a:lstStyle/>
          <a:p>
            <a:pPr algn="r" indent="0" marL="0">
              <a:buNone/>
            </a:pPr>
            <a:endParaRPr lang="en-US" sz="1300" dirty="0"/>
          </a:p>
        </p:txBody>
      </p:sp>
      <p:sp>
        <p:nvSpPr>
          <p:cNvPr id="160" name="Text 158"/>
          <p:cNvSpPr txBox="1"/>
          <p:nvPr/>
        </p:nvSpPr>
        <p:spPr>
          <a:xfrm>
            <a:off x="10762488" y="3970528"/>
            <a:ext cx="658368" cy="221488"/>
          </a:xfrm>
          <a:prstGeom prst="rect">
            <a:avLst/>
          </a:prstGeom>
          <a:noFill/>
          <a:ln/>
        </p:spPr>
        <p:txBody>
          <a:bodyPr wrap="square" lIns="0" tIns="0" rIns="0" bIns="0" rtlCol="0" anchor="ctr"/>
          <a:lstStyle/>
          <a:p>
            <a:pPr algn="r" indent="0" marL="0">
              <a:buNone/>
            </a:pPr>
            <a:endParaRPr lang="en-US" sz="1300" dirty="0"/>
          </a:p>
        </p:txBody>
      </p:sp>
      <p:sp>
        <p:nvSpPr>
          <p:cNvPr id="161" name="Text 159"/>
          <p:cNvSpPr txBox="1"/>
          <p:nvPr/>
        </p:nvSpPr>
        <p:spPr>
          <a:xfrm>
            <a:off x="6208776"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62" name="Shape 160"/>
          <p:cNvSpPr/>
          <p:nvPr/>
        </p:nvSpPr>
        <p:spPr>
          <a:xfrm>
            <a:off x="8202168" y="4247388"/>
            <a:ext cx="277770" cy="110744"/>
          </a:xfrm>
          <a:prstGeom prst="rect">
            <a:avLst/>
          </a:prstGeom>
          <a:solidFill>
            <a:srgbClr val="2587C5"/>
          </a:solidFill>
          <a:ln/>
        </p:spPr>
      </p:sp>
      <p:sp>
        <p:nvSpPr>
          <p:cNvPr id="163" name="Text 161"/>
          <p:cNvSpPr txBox="1"/>
          <p:nvPr/>
        </p:nvSpPr>
        <p:spPr>
          <a:xfrm>
            <a:off x="9025128" y="419201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$190.00</a:t>
            </a:r>
            <a:endParaRPr lang="en-US" sz="1300" dirty="0"/>
          </a:p>
        </p:txBody>
      </p:sp>
      <p:sp>
        <p:nvSpPr>
          <p:cNvPr id="164" name="Text 162"/>
          <p:cNvSpPr txBox="1"/>
          <p:nvPr/>
        </p:nvSpPr>
        <p:spPr>
          <a:xfrm>
            <a:off x="9774936" y="4192016"/>
            <a:ext cx="987552" cy="221488"/>
          </a:xfrm>
          <a:prstGeom prst="rect">
            <a:avLst/>
          </a:prstGeom>
          <a:noFill/>
          <a:ln/>
        </p:spPr>
        <p:txBody>
          <a:bodyPr wrap="square" lIns="0" tIns="0" rIns="0" bIns="0" rtlCol="0" anchor="ctr"/>
          <a:lstStyle/>
          <a:p>
            <a:pPr algn="r" indent="0" marL="0">
              <a:buNone/>
            </a:pPr>
            <a:endParaRPr lang="en-US" sz="1300" dirty="0"/>
          </a:p>
        </p:txBody>
      </p:sp>
      <p:sp>
        <p:nvSpPr>
          <p:cNvPr id="165" name="Text 163"/>
          <p:cNvSpPr txBox="1"/>
          <p:nvPr/>
        </p:nvSpPr>
        <p:spPr>
          <a:xfrm>
            <a:off x="10762488" y="4192016"/>
            <a:ext cx="658368" cy="221488"/>
          </a:xfrm>
          <a:prstGeom prst="rect">
            <a:avLst/>
          </a:prstGeom>
          <a:noFill/>
          <a:ln/>
        </p:spPr>
        <p:txBody>
          <a:bodyPr wrap="square" lIns="0" tIns="0" rIns="0" bIns="0" rtlCol="0" anchor="ctr"/>
          <a:lstStyle/>
          <a:p>
            <a:pPr algn="r" indent="0" marL="0">
              <a:buNone/>
            </a:pPr>
            <a:endParaRPr lang="en-US" sz="1300" dirty="0"/>
          </a:p>
        </p:txBody>
      </p:sp>
      <p:sp>
        <p:nvSpPr>
          <p:cNvPr id="166" name="Text 164"/>
          <p:cNvSpPr txBox="1"/>
          <p:nvPr/>
        </p:nvSpPr>
        <p:spPr>
          <a:xfrm>
            <a:off x="6208776"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67" name="Shape 165"/>
          <p:cNvSpPr/>
          <p:nvPr/>
        </p:nvSpPr>
        <p:spPr>
          <a:xfrm>
            <a:off x="8202168" y="4468876"/>
            <a:ext cx="262338" cy="110744"/>
          </a:xfrm>
          <a:prstGeom prst="rect">
            <a:avLst/>
          </a:prstGeom>
          <a:solidFill>
            <a:srgbClr val="2587C5"/>
          </a:solidFill>
          <a:ln/>
        </p:spPr>
      </p:sp>
      <p:sp>
        <p:nvSpPr>
          <p:cNvPr id="168" name="Text 166"/>
          <p:cNvSpPr txBox="1"/>
          <p:nvPr/>
        </p:nvSpPr>
        <p:spPr>
          <a:xfrm>
            <a:off x="9025128" y="4413504"/>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69" name="Text 167"/>
          <p:cNvSpPr txBox="1"/>
          <p:nvPr/>
        </p:nvSpPr>
        <p:spPr>
          <a:xfrm>
            <a:off x="9774936" y="4413504"/>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$215.00</a:t>
            </a:r>
            <a:endParaRPr lang="en-US" sz="1300" dirty="0"/>
          </a:p>
        </p:txBody>
      </p:sp>
      <p:sp>
        <p:nvSpPr>
          <p:cNvPr id="170" name="Text 168"/>
          <p:cNvSpPr txBox="1"/>
          <p:nvPr/>
        </p:nvSpPr>
        <p:spPr>
          <a:xfrm>
            <a:off x="10762488" y="4413504"/>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71" name="Text 169"/>
          <p:cNvSpPr txBox="1"/>
          <p:nvPr/>
        </p:nvSpPr>
        <p:spPr>
          <a:xfrm>
            <a:off x="6208776"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72" name="Shape 170"/>
          <p:cNvSpPr/>
          <p:nvPr/>
        </p:nvSpPr>
        <p:spPr>
          <a:xfrm>
            <a:off x="8202168" y="4690364"/>
            <a:ext cx="262338" cy="110744"/>
          </a:xfrm>
          <a:prstGeom prst="rect">
            <a:avLst/>
          </a:prstGeom>
          <a:solidFill>
            <a:srgbClr val="2587C5"/>
          </a:solidFill>
          <a:ln/>
        </p:spPr>
      </p:sp>
      <p:sp>
        <p:nvSpPr>
          <p:cNvPr id="173" name="Text 171"/>
          <p:cNvSpPr txBox="1"/>
          <p:nvPr/>
        </p:nvSpPr>
        <p:spPr>
          <a:xfrm>
            <a:off x="9025128" y="4634992"/>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74" name="Text 172"/>
          <p:cNvSpPr txBox="1"/>
          <p:nvPr/>
        </p:nvSpPr>
        <p:spPr>
          <a:xfrm>
            <a:off x="9774936" y="4634992"/>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175" name="Text 173"/>
          <p:cNvSpPr txBox="1"/>
          <p:nvPr/>
        </p:nvSpPr>
        <p:spPr>
          <a:xfrm>
            <a:off x="10762488" y="4634992"/>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76" name="Text 174"/>
          <p:cNvSpPr txBox="1"/>
          <p:nvPr/>
        </p:nvSpPr>
        <p:spPr>
          <a:xfrm>
            <a:off x="6208776"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77" name="Shape 175"/>
          <p:cNvSpPr/>
          <p:nvPr/>
        </p:nvSpPr>
        <p:spPr>
          <a:xfrm>
            <a:off x="8202168" y="4911852"/>
            <a:ext cx="262338" cy="110744"/>
          </a:xfrm>
          <a:prstGeom prst="rect">
            <a:avLst/>
          </a:prstGeom>
          <a:solidFill>
            <a:srgbClr val="2587C5"/>
          </a:solidFill>
          <a:ln/>
        </p:spPr>
      </p:sp>
      <p:sp>
        <p:nvSpPr>
          <p:cNvPr id="178" name="Text 176"/>
          <p:cNvSpPr txBox="1"/>
          <p:nvPr/>
        </p:nvSpPr>
        <p:spPr>
          <a:xfrm>
            <a:off x="9025128" y="4856480"/>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79" name="Text 177"/>
          <p:cNvSpPr txBox="1"/>
          <p:nvPr/>
        </p:nvSpPr>
        <p:spPr>
          <a:xfrm>
            <a:off x="9774936" y="4856480"/>
            <a:ext cx="987552"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80" name="Text 178"/>
          <p:cNvSpPr txBox="1"/>
          <p:nvPr/>
        </p:nvSpPr>
        <p:spPr>
          <a:xfrm>
            <a:off x="10762488" y="4856480"/>
            <a:ext cx="658368"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EV</a:t>
            </a:r>
            <a:endParaRPr lang="en-US" sz="1300" dirty="0"/>
          </a:p>
        </p:txBody>
      </p:sp>
      <p:sp>
        <p:nvSpPr>
          <p:cNvPr id="181" name="Text 179"/>
          <p:cNvSpPr txBox="1"/>
          <p:nvPr/>
        </p:nvSpPr>
        <p:spPr>
          <a:xfrm>
            <a:off x="6208776"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82" name="Shape 180"/>
          <p:cNvSpPr/>
          <p:nvPr/>
        </p:nvSpPr>
        <p:spPr>
          <a:xfrm>
            <a:off x="8202168" y="5133340"/>
            <a:ext cx="262338" cy="110744"/>
          </a:xfrm>
          <a:prstGeom prst="rect">
            <a:avLst/>
          </a:prstGeom>
          <a:solidFill>
            <a:srgbClr val="2587C5"/>
          </a:solidFill>
          <a:ln/>
        </p:spPr>
      </p:sp>
      <p:sp>
        <p:nvSpPr>
          <p:cNvPr id="183" name="Text 181"/>
          <p:cNvSpPr txBox="1"/>
          <p:nvPr/>
        </p:nvSpPr>
        <p:spPr>
          <a:xfrm>
            <a:off x="9025128" y="5077968"/>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$185.00</a:t>
            </a:r>
            <a:endParaRPr lang="en-US" sz="1300" dirty="0"/>
          </a:p>
        </p:txBody>
      </p:sp>
      <p:sp>
        <p:nvSpPr>
          <p:cNvPr id="184" name="Text 182"/>
          <p:cNvSpPr txBox="1"/>
          <p:nvPr/>
        </p:nvSpPr>
        <p:spPr>
          <a:xfrm>
            <a:off x="9774936" y="5077968"/>
            <a:ext cx="987552" cy="221488"/>
          </a:xfrm>
          <a:prstGeom prst="rect">
            <a:avLst/>
          </a:prstGeom>
          <a:noFill/>
          <a:ln/>
        </p:spPr>
        <p:txBody>
          <a:bodyPr wrap="square" lIns="0" tIns="0" rIns="0" bIns="0" rtlCol="0" anchor="ctr"/>
          <a:lstStyle/>
          <a:p>
            <a:pPr algn="r" indent="0" marL="0">
              <a:buNone/>
            </a:pPr>
            <a:endParaRPr lang="en-US" sz="1300" dirty="0"/>
          </a:p>
        </p:txBody>
      </p:sp>
      <p:sp>
        <p:nvSpPr>
          <p:cNvPr id="185" name="Text 183"/>
          <p:cNvSpPr txBox="1"/>
          <p:nvPr/>
        </p:nvSpPr>
        <p:spPr>
          <a:xfrm>
            <a:off x="10762488" y="5077968"/>
            <a:ext cx="658368" cy="221488"/>
          </a:xfrm>
          <a:prstGeom prst="rect">
            <a:avLst/>
          </a:prstGeom>
          <a:noFill/>
          <a:ln/>
        </p:spPr>
        <p:txBody>
          <a:bodyPr wrap="square" lIns="0" tIns="0" rIns="0" bIns="0" rtlCol="0" anchor="ctr"/>
          <a:lstStyle/>
          <a:p>
            <a:pPr algn="r" indent="0" marL="0">
              <a:buNone/>
            </a:pPr>
            <a:endParaRPr lang="en-US" sz="1300" dirty="0"/>
          </a:p>
        </p:txBody>
      </p:sp>
      <p:sp>
        <p:nvSpPr>
          <p:cNvPr id="186" name="Text 184"/>
          <p:cNvSpPr txBox="1"/>
          <p:nvPr/>
        </p:nvSpPr>
        <p:spPr>
          <a:xfrm>
            <a:off x="6208776"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87" name="Shape 185"/>
          <p:cNvSpPr/>
          <p:nvPr/>
        </p:nvSpPr>
        <p:spPr>
          <a:xfrm>
            <a:off x="8202168" y="5354828"/>
            <a:ext cx="243820" cy="110744"/>
          </a:xfrm>
          <a:prstGeom prst="rect">
            <a:avLst/>
          </a:prstGeom>
          <a:solidFill>
            <a:srgbClr val="2587C5"/>
          </a:solidFill>
          <a:ln/>
        </p:spPr>
      </p:sp>
      <p:sp>
        <p:nvSpPr>
          <p:cNvPr id="188" name="Text 186"/>
          <p:cNvSpPr txBox="1"/>
          <p:nvPr/>
        </p:nvSpPr>
        <p:spPr>
          <a:xfrm>
            <a:off x="9025128" y="5299456"/>
            <a:ext cx="749808" cy="221488"/>
          </a:xfrm>
          <a:prstGeom prst="rect">
            <a:avLst/>
          </a:prstGeom>
          <a:noFill/>
          <a:ln/>
        </p:spPr>
        <p:txBody>
          <a:bodyPr wrap="square" lIns="0" tIns="0" rIns="0" bIns="0" rtlCol="0" anchor="ctr"/>
          <a:lstStyle/>
          <a:p>
            <a:pPr algn="r" indent="0" marL="0">
              <a:buNone/>
            </a:pPr>
            <a:r>
              <a:rPr lang="en-US" sz="1300" dirty="0">
                <a:solidFill>
                  <a:srgbClr val="1A1A1A"/>
                </a:solidFill>
                <a:latin typeface="Inter" pitchFamily="34" charset="0"/>
                <a:ea typeface="Inter" pitchFamily="34" charset="-122"/>
                <a:cs typeface="Inter" pitchFamily="34" charset="-120"/>
              </a:rPr>
              <a:t>$179.00</a:t>
            </a:r>
            <a:endParaRPr lang="en-US" sz="1300" dirty="0"/>
          </a:p>
        </p:txBody>
      </p:sp>
      <p:sp>
        <p:nvSpPr>
          <p:cNvPr id="189" name="Text 187"/>
          <p:cNvSpPr txBox="1"/>
          <p:nvPr/>
        </p:nvSpPr>
        <p:spPr>
          <a:xfrm>
            <a:off x="9774936" y="5299456"/>
            <a:ext cx="987552" cy="221488"/>
          </a:xfrm>
          <a:prstGeom prst="rect">
            <a:avLst/>
          </a:prstGeom>
          <a:noFill/>
          <a:ln/>
        </p:spPr>
        <p:txBody>
          <a:bodyPr wrap="square" lIns="0" tIns="0" rIns="0" bIns="0" rtlCol="0" anchor="ctr"/>
          <a:lstStyle/>
          <a:p>
            <a:pPr algn="r" indent="0" marL="0">
              <a:buNone/>
            </a:pPr>
            <a:endParaRPr lang="en-US" sz="1300" dirty="0"/>
          </a:p>
        </p:txBody>
      </p:sp>
      <p:sp>
        <p:nvSpPr>
          <p:cNvPr id="190" name="Text 188"/>
          <p:cNvSpPr txBox="1"/>
          <p:nvPr/>
        </p:nvSpPr>
        <p:spPr>
          <a:xfrm>
            <a:off x="10762488" y="5299456"/>
            <a:ext cx="658368" cy="221488"/>
          </a:xfrm>
          <a:prstGeom prst="rect">
            <a:avLst/>
          </a:prstGeom>
          <a:noFill/>
          <a:ln/>
        </p:spPr>
        <p:txBody>
          <a:bodyPr wrap="square" lIns="0" tIns="0" rIns="0" bIns="0" rtlCol="0" anchor="ctr"/>
          <a:lstStyle/>
          <a:p>
            <a:pPr algn="r" indent="0" marL="0">
              <a:buNone/>
            </a:pPr>
            <a:endParaRPr lang="en-US" sz="1300" dirty="0"/>
          </a:p>
        </p:txBody>
      </p:sp>
      <p:sp>
        <p:nvSpPr>
          <p:cNvPr id="191" name="Shape 189"/>
          <p:cNvSpPr/>
          <p:nvPr/>
        </p:nvSpPr>
        <p:spPr>
          <a:xfrm>
            <a:off x="6035040" y="1371600"/>
            <a:ext cx="10973" cy="4370832"/>
          </a:xfrm>
          <a:prstGeom prst="rect">
            <a:avLst/>
          </a:prstGeom>
          <a:solidFill>
            <a:srgbClr val="D9D9D9"/>
          </a:solidFill>
          <a:ln/>
        </p:spPr>
      </p:sp>
      <p:sp>
        <p:nvSpPr>
          <p:cNvPr id="192" name="Shape 190"/>
          <p:cNvSpPr/>
          <p:nvPr/>
        </p:nvSpPr>
        <p:spPr>
          <a:xfrm>
            <a:off x="457200" y="5961888"/>
            <a:ext cx="11274552" cy="548640"/>
          </a:xfrm>
          <a:prstGeom prst="rect">
            <a:avLst/>
          </a:prstGeom>
          <a:solidFill>
            <a:srgbClr val="EDF4FA"/>
          </a:solidFill>
          <a:ln/>
        </p:spPr>
      </p:sp>
      <p:sp>
        <p:nvSpPr>
          <p:cNvPr id="193" name="Text 19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17 stores price labor on a grid, 16 at a flat door rate. Hours-weighted door rate: $228.55 grid, $202.83 no grid.</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 name="Shape 5"/>
          <p:cNvSpPr/>
          <p:nvPr/>
        </p:nvSpPr>
        <p:spPr>
          <a:xfrm>
            <a:off x="2971800" y="1759682"/>
            <a:ext cx="1828800" cy="117796"/>
          </a:xfrm>
          <a:prstGeom prst="rect">
            <a:avLst/>
          </a:prstGeom>
          <a:solidFill>
            <a:srgbClr val="12A566"/>
          </a:solidFill>
          <a:ln/>
        </p:spPr>
      </p:sp>
      <p:sp>
        <p:nvSpPr>
          <p:cNvPr id="8" name="Text 6"/>
          <p:cNvSpPr txBox="1"/>
          <p:nvPr/>
        </p:nvSpPr>
        <p:spPr>
          <a:xfrm>
            <a:off x="4855464"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9" name="Text 7"/>
          <p:cNvSpPr txBox="1"/>
          <p:nvPr/>
        </p:nvSpPr>
        <p:spPr>
          <a:xfrm>
            <a:off x="658368"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 name="Shape 8"/>
          <p:cNvSpPr/>
          <p:nvPr/>
        </p:nvSpPr>
        <p:spPr>
          <a:xfrm>
            <a:off x="2971800" y="1995275"/>
            <a:ext cx="1446306" cy="117796"/>
          </a:xfrm>
          <a:prstGeom prst="rect">
            <a:avLst/>
          </a:prstGeom>
          <a:solidFill>
            <a:srgbClr val="12A566"/>
          </a:solidFill>
          <a:ln/>
        </p:spPr>
      </p:sp>
      <p:sp>
        <p:nvSpPr>
          <p:cNvPr id="11" name="Text 9"/>
          <p:cNvSpPr txBox="1"/>
          <p:nvPr/>
        </p:nvSpPr>
        <p:spPr>
          <a:xfrm>
            <a:off x="4855464"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2" name="Text 10"/>
          <p:cNvSpPr txBox="1"/>
          <p:nvPr/>
        </p:nvSpPr>
        <p:spPr>
          <a:xfrm>
            <a:off x="658368"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3" name="Shape 11"/>
          <p:cNvSpPr/>
          <p:nvPr/>
        </p:nvSpPr>
        <p:spPr>
          <a:xfrm>
            <a:off x="2971800" y="2230867"/>
            <a:ext cx="1438649" cy="117796"/>
          </a:xfrm>
          <a:prstGeom prst="rect">
            <a:avLst/>
          </a:prstGeom>
          <a:solidFill>
            <a:srgbClr val="12A566"/>
          </a:solidFill>
          <a:ln/>
        </p:spPr>
      </p:sp>
      <p:sp>
        <p:nvSpPr>
          <p:cNvPr id="14" name="Text 12"/>
          <p:cNvSpPr txBox="1"/>
          <p:nvPr/>
        </p:nvSpPr>
        <p:spPr>
          <a:xfrm>
            <a:off x="4855464"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5" name="Text 13"/>
          <p:cNvSpPr txBox="1"/>
          <p:nvPr/>
        </p:nvSpPr>
        <p:spPr>
          <a:xfrm>
            <a:off x="658368"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16" name="Shape 14"/>
          <p:cNvSpPr/>
          <p:nvPr/>
        </p:nvSpPr>
        <p:spPr>
          <a:xfrm>
            <a:off x="2971800" y="2466460"/>
            <a:ext cx="1433426" cy="117796"/>
          </a:xfrm>
          <a:prstGeom prst="rect">
            <a:avLst/>
          </a:prstGeom>
          <a:solidFill>
            <a:srgbClr val="12A566"/>
          </a:solidFill>
          <a:ln/>
        </p:spPr>
      </p:sp>
      <p:sp>
        <p:nvSpPr>
          <p:cNvPr id="17" name="Text 15"/>
          <p:cNvSpPr txBox="1"/>
          <p:nvPr/>
        </p:nvSpPr>
        <p:spPr>
          <a:xfrm>
            <a:off x="4855464"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18" name="Text 16"/>
          <p:cNvSpPr txBox="1"/>
          <p:nvPr/>
        </p:nvSpPr>
        <p:spPr>
          <a:xfrm>
            <a:off x="658368" y="264315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9" name="Shape 17"/>
          <p:cNvSpPr/>
          <p:nvPr/>
        </p:nvSpPr>
        <p:spPr>
          <a:xfrm>
            <a:off x="2971800" y="2702052"/>
            <a:ext cx="1397196" cy="117796"/>
          </a:xfrm>
          <a:prstGeom prst="rect">
            <a:avLst/>
          </a:prstGeom>
          <a:solidFill>
            <a:srgbClr val="12A566"/>
          </a:solidFill>
          <a:ln/>
        </p:spPr>
      </p:sp>
      <p:sp>
        <p:nvSpPr>
          <p:cNvPr id="20" name="Text 18"/>
          <p:cNvSpPr txBox="1"/>
          <p:nvPr/>
        </p:nvSpPr>
        <p:spPr>
          <a:xfrm>
            <a:off x="4855464" y="264315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1" name="Text 19"/>
          <p:cNvSpPr txBox="1"/>
          <p:nvPr/>
        </p:nvSpPr>
        <p:spPr>
          <a:xfrm>
            <a:off x="658368"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2" name="Shape 20"/>
          <p:cNvSpPr/>
          <p:nvPr/>
        </p:nvSpPr>
        <p:spPr>
          <a:xfrm>
            <a:off x="2971800" y="2937644"/>
            <a:ext cx="1347014" cy="117796"/>
          </a:xfrm>
          <a:prstGeom prst="rect">
            <a:avLst/>
          </a:prstGeom>
          <a:solidFill>
            <a:srgbClr val="12A566"/>
          </a:solidFill>
          <a:ln/>
        </p:spPr>
      </p:sp>
      <p:sp>
        <p:nvSpPr>
          <p:cNvPr id="23" name="Text 21"/>
          <p:cNvSpPr txBox="1"/>
          <p:nvPr/>
        </p:nvSpPr>
        <p:spPr>
          <a:xfrm>
            <a:off x="4855464"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24" name="Text 22"/>
          <p:cNvSpPr txBox="1"/>
          <p:nvPr/>
        </p:nvSpPr>
        <p:spPr>
          <a:xfrm>
            <a:off x="658368"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25" name="Shape 23"/>
          <p:cNvSpPr/>
          <p:nvPr/>
        </p:nvSpPr>
        <p:spPr>
          <a:xfrm>
            <a:off x="2971800" y="3173237"/>
            <a:ext cx="1333990" cy="117796"/>
          </a:xfrm>
          <a:prstGeom prst="rect">
            <a:avLst/>
          </a:prstGeom>
          <a:solidFill>
            <a:srgbClr val="12A566"/>
          </a:solidFill>
          <a:ln/>
        </p:spPr>
      </p:sp>
      <p:sp>
        <p:nvSpPr>
          <p:cNvPr id="26" name="Text 24"/>
          <p:cNvSpPr txBox="1"/>
          <p:nvPr/>
        </p:nvSpPr>
        <p:spPr>
          <a:xfrm>
            <a:off x="4855464"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27" name="Text 25"/>
          <p:cNvSpPr txBox="1"/>
          <p:nvPr/>
        </p:nvSpPr>
        <p:spPr>
          <a:xfrm>
            <a:off x="658368"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28" name="Shape 26"/>
          <p:cNvSpPr/>
          <p:nvPr/>
        </p:nvSpPr>
        <p:spPr>
          <a:xfrm>
            <a:off x="2971800" y="3408829"/>
            <a:ext cx="1228076" cy="117796"/>
          </a:xfrm>
          <a:prstGeom prst="rect">
            <a:avLst/>
          </a:prstGeom>
          <a:solidFill>
            <a:srgbClr val="12A566"/>
          </a:solidFill>
          <a:ln/>
        </p:spPr>
      </p:sp>
      <p:sp>
        <p:nvSpPr>
          <p:cNvPr id="29" name="Text 27"/>
          <p:cNvSpPr txBox="1"/>
          <p:nvPr/>
        </p:nvSpPr>
        <p:spPr>
          <a:xfrm>
            <a:off x="4855464" y="334993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30" name="Text 28"/>
          <p:cNvSpPr txBox="1"/>
          <p:nvPr/>
        </p:nvSpPr>
        <p:spPr>
          <a:xfrm>
            <a:off x="658368"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1" name="Shape 29"/>
          <p:cNvSpPr/>
          <p:nvPr/>
        </p:nvSpPr>
        <p:spPr>
          <a:xfrm>
            <a:off x="2971800" y="3644422"/>
            <a:ext cx="1195346" cy="117796"/>
          </a:xfrm>
          <a:prstGeom prst="rect">
            <a:avLst/>
          </a:prstGeom>
          <a:solidFill>
            <a:srgbClr val="12A566"/>
          </a:solidFill>
          <a:ln/>
        </p:spPr>
      </p:sp>
      <p:sp>
        <p:nvSpPr>
          <p:cNvPr id="32" name="Text 30"/>
          <p:cNvSpPr txBox="1"/>
          <p:nvPr/>
        </p:nvSpPr>
        <p:spPr>
          <a:xfrm>
            <a:off x="4855464" y="358552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33" name="Text 31"/>
          <p:cNvSpPr txBox="1"/>
          <p:nvPr/>
        </p:nvSpPr>
        <p:spPr>
          <a:xfrm>
            <a:off x="658368"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34" name="Shape 32"/>
          <p:cNvSpPr/>
          <p:nvPr/>
        </p:nvSpPr>
        <p:spPr>
          <a:xfrm>
            <a:off x="2971800" y="3880014"/>
            <a:ext cx="1180380" cy="117796"/>
          </a:xfrm>
          <a:prstGeom prst="rect">
            <a:avLst/>
          </a:prstGeom>
          <a:solidFill>
            <a:srgbClr val="12A566"/>
          </a:solidFill>
          <a:ln/>
        </p:spPr>
      </p:sp>
      <p:sp>
        <p:nvSpPr>
          <p:cNvPr id="35" name="Text 33"/>
          <p:cNvSpPr txBox="1"/>
          <p:nvPr/>
        </p:nvSpPr>
        <p:spPr>
          <a:xfrm>
            <a:off x="4855464" y="382111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36" name="Text 34"/>
          <p:cNvSpPr txBox="1"/>
          <p:nvPr/>
        </p:nvSpPr>
        <p:spPr>
          <a:xfrm>
            <a:off x="658368"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37" name="Shape 35"/>
          <p:cNvSpPr/>
          <p:nvPr/>
        </p:nvSpPr>
        <p:spPr>
          <a:xfrm>
            <a:off x="2971800" y="4115607"/>
            <a:ext cx="1148734" cy="117796"/>
          </a:xfrm>
          <a:prstGeom prst="rect">
            <a:avLst/>
          </a:prstGeom>
          <a:solidFill>
            <a:srgbClr val="12A566"/>
          </a:solidFill>
          <a:ln/>
        </p:spPr>
      </p:sp>
      <p:sp>
        <p:nvSpPr>
          <p:cNvPr id="38" name="Text 36"/>
          <p:cNvSpPr txBox="1"/>
          <p:nvPr/>
        </p:nvSpPr>
        <p:spPr>
          <a:xfrm>
            <a:off x="4855464" y="405670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39" name="Text 37"/>
          <p:cNvSpPr txBox="1"/>
          <p:nvPr/>
        </p:nvSpPr>
        <p:spPr>
          <a:xfrm>
            <a:off x="658368"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0" name="Shape 38"/>
          <p:cNvSpPr/>
          <p:nvPr/>
        </p:nvSpPr>
        <p:spPr>
          <a:xfrm>
            <a:off x="2971800" y="4351199"/>
            <a:ext cx="1138233" cy="117796"/>
          </a:xfrm>
          <a:prstGeom prst="rect">
            <a:avLst/>
          </a:prstGeom>
          <a:solidFill>
            <a:srgbClr val="12A566"/>
          </a:solidFill>
          <a:ln/>
        </p:spPr>
      </p:sp>
      <p:sp>
        <p:nvSpPr>
          <p:cNvPr id="41" name="Text 39"/>
          <p:cNvSpPr txBox="1"/>
          <p:nvPr/>
        </p:nvSpPr>
        <p:spPr>
          <a:xfrm>
            <a:off x="4855464" y="429230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42" name="Text 40"/>
          <p:cNvSpPr txBox="1"/>
          <p:nvPr/>
        </p:nvSpPr>
        <p:spPr>
          <a:xfrm>
            <a:off x="658368"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3" name="Shape 41"/>
          <p:cNvSpPr/>
          <p:nvPr/>
        </p:nvSpPr>
        <p:spPr>
          <a:xfrm>
            <a:off x="2971800" y="4586792"/>
            <a:ext cx="1121572" cy="117796"/>
          </a:xfrm>
          <a:prstGeom prst="rect">
            <a:avLst/>
          </a:prstGeom>
          <a:solidFill>
            <a:srgbClr val="12A566"/>
          </a:solidFill>
          <a:ln/>
        </p:spPr>
      </p:sp>
      <p:sp>
        <p:nvSpPr>
          <p:cNvPr id="44" name="Text 42"/>
          <p:cNvSpPr txBox="1"/>
          <p:nvPr/>
        </p:nvSpPr>
        <p:spPr>
          <a:xfrm>
            <a:off x="4855464" y="452789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45" name="Text 43"/>
          <p:cNvSpPr txBox="1"/>
          <p:nvPr/>
        </p:nvSpPr>
        <p:spPr>
          <a:xfrm>
            <a:off x="658368"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6" name="Shape 44"/>
          <p:cNvSpPr/>
          <p:nvPr/>
        </p:nvSpPr>
        <p:spPr>
          <a:xfrm>
            <a:off x="2971800" y="4822384"/>
            <a:ext cx="1121425" cy="117796"/>
          </a:xfrm>
          <a:prstGeom prst="rect">
            <a:avLst/>
          </a:prstGeom>
          <a:solidFill>
            <a:srgbClr val="12A566"/>
          </a:solidFill>
          <a:ln/>
        </p:spPr>
      </p:sp>
      <p:sp>
        <p:nvSpPr>
          <p:cNvPr id="47" name="Text 45"/>
          <p:cNvSpPr txBox="1"/>
          <p:nvPr/>
        </p:nvSpPr>
        <p:spPr>
          <a:xfrm>
            <a:off x="4855464" y="476348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48" name="Text 46"/>
          <p:cNvSpPr txBox="1"/>
          <p:nvPr/>
        </p:nvSpPr>
        <p:spPr>
          <a:xfrm>
            <a:off x="658368"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9" name="Shape 47"/>
          <p:cNvSpPr/>
          <p:nvPr/>
        </p:nvSpPr>
        <p:spPr>
          <a:xfrm>
            <a:off x="2971800" y="5057977"/>
            <a:ext cx="1109101" cy="117796"/>
          </a:xfrm>
          <a:prstGeom prst="rect">
            <a:avLst/>
          </a:prstGeom>
          <a:solidFill>
            <a:srgbClr val="12A566"/>
          </a:solidFill>
          <a:ln/>
        </p:spPr>
      </p:sp>
      <p:sp>
        <p:nvSpPr>
          <p:cNvPr id="50" name="Text 48"/>
          <p:cNvSpPr txBox="1"/>
          <p:nvPr/>
        </p:nvSpPr>
        <p:spPr>
          <a:xfrm>
            <a:off x="4855464" y="499907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51" name="Text 49"/>
          <p:cNvSpPr txBox="1"/>
          <p:nvPr/>
        </p:nvSpPr>
        <p:spPr>
          <a:xfrm>
            <a:off x="658368"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2" name="Shape 50"/>
          <p:cNvSpPr/>
          <p:nvPr/>
        </p:nvSpPr>
        <p:spPr>
          <a:xfrm>
            <a:off x="2971800" y="5293569"/>
            <a:ext cx="1058530" cy="117796"/>
          </a:xfrm>
          <a:prstGeom prst="rect">
            <a:avLst/>
          </a:prstGeom>
          <a:solidFill>
            <a:srgbClr val="12A566"/>
          </a:solidFill>
          <a:ln/>
        </p:spPr>
      </p:sp>
      <p:sp>
        <p:nvSpPr>
          <p:cNvPr id="53" name="Text 51"/>
          <p:cNvSpPr txBox="1"/>
          <p:nvPr/>
        </p:nvSpPr>
        <p:spPr>
          <a:xfrm>
            <a:off x="4855464" y="523467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54" name="Text 52"/>
          <p:cNvSpPr txBox="1"/>
          <p:nvPr/>
        </p:nvSpPr>
        <p:spPr>
          <a:xfrm>
            <a:off x="658368"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5" name="Shape 53"/>
          <p:cNvSpPr/>
          <p:nvPr/>
        </p:nvSpPr>
        <p:spPr>
          <a:xfrm>
            <a:off x="2971800" y="5529162"/>
            <a:ext cx="1049894" cy="117796"/>
          </a:xfrm>
          <a:prstGeom prst="rect">
            <a:avLst/>
          </a:prstGeom>
          <a:solidFill>
            <a:srgbClr val="12A566"/>
          </a:solidFill>
          <a:ln/>
        </p:spPr>
      </p:sp>
      <p:sp>
        <p:nvSpPr>
          <p:cNvPr id="56" name="Text 54"/>
          <p:cNvSpPr txBox="1"/>
          <p:nvPr/>
        </p:nvSpPr>
        <p:spPr>
          <a:xfrm>
            <a:off x="4855464" y="547026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57" name="Text 55"/>
          <p:cNvSpPr txBox="1"/>
          <p:nvPr/>
        </p:nvSpPr>
        <p:spPr>
          <a:xfrm>
            <a:off x="6208776" y="170078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8" name="Shape 56"/>
          <p:cNvSpPr/>
          <p:nvPr/>
        </p:nvSpPr>
        <p:spPr>
          <a:xfrm>
            <a:off x="8522208" y="1759682"/>
            <a:ext cx="1020847" cy="117796"/>
          </a:xfrm>
          <a:prstGeom prst="rect">
            <a:avLst/>
          </a:prstGeom>
          <a:solidFill>
            <a:srgbClr val="12A566"/>
          </a:solidFill>
          <a:ln/>
        </p:spPr>
      </p:sp>
      <p:sp>
        <p:nvSpPr>
          <p:cNvPr id="59" name="Text 57"/>
          <p:cNvSpPr txBox="1"/>
          <p:nvPr/>
        </p:nvSpPr>
        <p:spPr>
          <a:xfrm>
            <a:off x="10405872" y="170078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60" name="Text 58"/>
          <p:cNvSpPr txBox="1"/>
          <p:nvPr/>
        </p:nvSpPr>
        <p:spPr>
          <a:xfrm>
            <a:off x="6208776" y="193637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61" name="Shape 59"/>
          <p:cNvSpPr/>
          <p:nvPr/>
        </p:nvSpPr>
        <p:spPr>
          <a:xfrm>
            <a:off x="8522208" y="1995275"/>
            <a:ext cx="1015981" cy="117796"/>
          </a:xfrm>
          <a:prstGeom prst="rect">
            <a:avLst/>
          </a:prstGeom>
          <a:solidFill>
            <a:srgbClr val="12A566"/>
          </a:solidFill>
          <a:ln/>
        </p:spPr>
      </p:sp>
      <p:sp>
        <p:nvSpPr>
          <p:cNvPr id="62" name="Text 60"/>
          <p:cNvSpPr txBox="1"/>
          <p:nvPr/>
        </p:nvSpPr>
        <p:spPr>
          <a:xfrm>
            <a:off x="10405872" y="193637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63" name="Text 61"/>
          <p:cNvSpPr txBox="1"/>
          <p:nvPr/>
        </p:nvSpPr>
        <p:spPr>
          <a:xfrm>
            <a:off x="6208776" y="217196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4" name="Shape 62"/>
          <p:cNvSpPr/>
          <p:nvPr/>
        </p:nvSpPr>
        <p:spPr>
          <a:xfrm>
            <a:off x="8522208" y="2230867"/>
            <a:ext cx="1010910" cy="117796"/>
          </a:xfrm>
          <a:prstGeom prst="rect">
            <a:avLst/>
          </a:prstGeom>
          <a:solidFill>
            <a:srgbClr val="12A566"/>
          </a:solidFill>
          <a:ln/>
        </p:spPr>
      </p:sp>
      <p:sp>
        <p:nvSpPr>
          <p:cNvPr id="65" name="Text 63"/>
          <p:cNvSpPr txBox="1"/>
          <p:nvPr/>
        </p:nvSpPr>
        <p:spPr>
          <a:xfrm>
            <a:off x="10405872" y="217196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66" name="Text 64"/>
          <p:cNvSpPr txBox="1"/>
          <p:nvPr/>
        </p:nvSpPr>
        <p:spPr>
          <a:xfrm>
            <a:off x="6208776" y="240756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7" name="Shape 65"/>
          <p:cNvSpPr/>
          <p:nvPr/>
        </p:nvSpPr>
        <p:spPr>
          <a:xfrm>
            <a:off x="8522208" y="2466460"/>
            <a:ext cx="1008228" cy="117796"/>
          </a:xfrm>
          <a:prstGeom prst="rect">
            <a:avLst/>
          </a:prstGeom>
          <a:solidFill>
            <a:srgbClr val="12A566"/>
          </a:solidFill>
          <a:ln/>
        </p:spPr>
      </p:sp>
      <p:sp>
        <p:nvSpPr>
          <p:cNvPr id="68" name="Text 66"/>
          <p:cNvSpPr txBox="1"/>
          <p:nvPr/>
        </p:nvSpPr>
        <p:spPr>
          <a:xfrm>
            <a:off x="10405872" y="240756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69" name="Shape 67"/>
          <p:cNvSpPr/>
          <p:nvPr/>
        </p:nvSpPr>
        <p:spPr>
          <a:xfrm>
            <a:off x="6135624" y="2638582"/>
            <a:ext cx="5413248" cy="226448"/>
          </a:xfrm>
          <a:prstGeom prst="rect">
            <a:avLst/>
          </a:prstGeom>
          <a:solidFill>
            <a:srgbClr val="EDF4FA"/>
          </a:solidFill>
          <a:ln/>
        </p:spPr>
      </p:sp>
      <p:sp>
        <p:nvSpPr>
          <p:cNvPr id="70" name="Text 68"/>
          <p:cNvSpPr txBox="1"/>
          <p:nvPr/>
        </p:nvSpPr>
        <p:spPr>
          <a:xfrm>
            <a:off x="6208776" y="2643154"/>
            <a:ext cx="2240280"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71" name="Shape 69"/>
          <p:cNvSpPr/>
          <p:nvPr/>
        </p:nvSpPr>
        <p:spPr>
          <a:xfrm>
            <a:off x="8522208" y="2702052"/>
            <a:ext cx="1002151" cy="117796"/>
          </a:xfrm>
          <a:prstGeom prst="rect">
            <a:avLst/>
          </a:prstGeom>
          <a:solidFill>
            <a:srgbClr val="0B2C4A"/>
          </a:solidFill>
          <a:ln/>
        </p:spPr>
      </p:sp>
      <p:sp>
        <p:nvSpPr>
          <p:cNvPr id="72" name="Text 70"/>
          <p:cNvSpPr txBox="1"/>
          <p:nvPr/>
        </p:nvSpPr>
        <p:spPr>
          <a:xfrm>
            <a:off x="10405872" y="2643154"/>
            <a:ext cx="108813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74.7%</a:t>
            </a:r>
            <a:endParaRPr lang="en-US" sz="1300" dirty="0"/>
          </a:p>
        </p:txBody>
      </p:sp>
      <p:sp>
        <p:nvSpPr>
          <p:cNvPr id="73" name="Text 71"/>
          <p:cNvSpPr txBox="1"/>
          <p:nvPr/>
        </p:nvSpPr>
        <p:spPr>
          <a:xfrm>
            <a:off x="6208776" y="287874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74" name="Shape 72"/>
          <p:cNvSpPr/>
          <p:nvPr/>
        </p:nvSpPr>
        <p:spPr>
          <a:xfrm>
            <a:off x="8522208" y="2937644"/>
            <a:ext cx="976219" cy="117796"/>
          </a:xfrm>
          <a:prstGeom prst="rect">
            <a:avLst/>
          </a:prstGeom>
          <a:solidFill>
            <a:srgbClr val="12A566"/>
          </a:solidFill>
          <a:ln/>
        </p:spPr>
      </p:sp>
      <p:sp>
        <p:nvSpPr>
          <p:cNvPr id="75" name="Text 73"/>
          <p:cNvSpPr txBox="1"/>
          <p:nvPr/>
        </p:nvSpPr>
        <p:spPr>
          <a:xfrm>
            <a:off x="10405872" y="2878746"/>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76" name="Text 74"/>
          <p:cNvSpPr txBox="1"/>
          <p:nvPr/>
        </p:nvSpPr>
        <p:spPr>
          <a:xfrm>
            <a:off x="6208776" y="311433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7" name="Shape 75"/>
          <p:cNvSpPr/>
          <p:nvPr/>
        </p:nvSpPr>
        <p:spPr>
          <a:xfrm>
            <a:off x="8522208" y="3173237"/>
            <a:ext cx="954948" cy="117796"/>
          </a:xfrm>
          <a:prstGeom prst="rect">
            <a:avLst/>
          </a:prstGeom>
          <a:solidFill>
            <a:srgbClr val="12A566"/>
          </a:solidFill>
          <a:ln/>
        </p:spPr>
      </p:sp>
      <p:sp>
        <p:nvSpPr>
          <p:cNvPr id="78" name="Text 76"/>
          <p:cNvSpPr txBox="1"/>
          <p:nvPr/>
        </p:nvSpPr>
        <p:spPr>
          <a:xfrm>
            <a:off x="10405872" y="3114339"/>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79" name="Text 77"/>
          <p:cNvSpPr txBox="1"/>
          <p:nvPr/>
        </p:nvSpPr>
        <p:spPr>
          <a:xfrm>
            <a:off x="6208776" y="334993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80" name="Shape 78"/>
          <p:cNvSpPr/>
          <p:nvPr/>
        </p:nvSpPr>
        <p:spPr>
          <a:xfrm>
            <a:off x="8522208" y="3408829"/>
            <a:ext cx="933949" cy="117796"/>
          </a:xfrm>
          <a:prstGeom prst="rect">
            <a:avLst/>
          </a:prstGeom>
          <a:solidFill>
            <a:srgbClr val="12A566"/>
          </a:solidFill>
          <a:ln/>
        </p:spPr>
      </p:sp>
      <p:sp>
        <p:nvSpPr>
          <p:cNvPr id="81" name="Text 79"/>
          <p:cNvSpPr txBox="1"/>
          <p:nvPr/>
        </p:nvSpPr>
        <p:spPr>
          <a:xfrm>
            <a:off x="10405872" y="3349931"/>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82" name="Text 80"/>
          <p:cNvSpPr txBox="1"/>
          <p:nvPr/>
        </p:nvSpPr>
        <p:spPr>
          <a:xfrm>
            <a:off x="6208776" y="358552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3" name="Shape 81"/>
          <p:cNvSpPr/>
          <p:nvPr/>
        </p:nvSpPr>
        <p:spPr>
          <a:xfrm>
            <a:off x="8522208" y="3644422"/>
            <a:ext cx="882890" cy="117796"/>
          </a:xfrm>
          <a:prstGeom prst="rect">
            <a:avLst/>
          </a:prstGeom>
          <a:solidFill>
            <a:srgbClr val="12A566"/>
          </a:solidFill>
          <a:ln/>
        </p:spPr>
      </p:sp>
      <p:sp>
        <p:nvSpPr>
          <p:cNvPr id="84" name="Text 82"/>
          <p:cNvSpPr txBox="1"/>
          <p:nvPr/>
        </p:nvSpPr>
        <p:spPr>
          <a:xfrm>
            <a:off x="10405872" y="3585524"/>
            <a:ext cx="108813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85" name="Text 83"/>
          <p:cNvSpPr txBox="1"/>
          <p:nvPr/>
        </p:nvSpPr>
        <p:spPr>
          <a:xfrm>
            <a:off x="6208776" y="382111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6" name="Shape 84"/>
          <p:cNvSpPr/>
          <p:nvPr/>
        </p:nvSpPr>
        <p:spPr>
          <a:xfrm>
            <a:off x="8522208" y="3880014"/>
            <a:ext cx="822290" cy="117796"/>
          </a:xfrm>
          <a:prstGeom prst="rect">
            <a:avLst/>
          </a:prstGeom>
          <a:solidFill>
            <a:srgbClr val="C2352F"/>
          </a:solidFill>
          <a:ln/>
        </p:spPr>
      </p:sp>
      <p:sp>
        <p:nvSpPr>
          <p:cNvPr id="87" name="Text 85"/>
          <p:cNvSpPr txBox="1"/>
          <p:nvPr/>
        </p:nvSpPr>
        <p:spPr>
          <a:xfrm>
            <a:off x="10405872" y="382111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88" name="Text 86"/>
          <p:cNvSpPr txBox="1"/>
          <p:nvPr/>
        </p:nvSpPr>
        <p:spPr>
          <a:xfrm>
            <a:off x="6208776" y="405670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4115607"/>
            <a:ext cx="814780" cy="117796"/>
          </a:xfrm>
          <a:prstGeom prst="rect">
            <a:avLst/>
          </a:prstGeom>
          <a:solidFill>
            <a:srgbClr val="C2352F"/>
          </a:solidFill>
          <a:ln/>
        </p:spPr>
      </p:sp>
      <p:sp>
        <p:nvSpPr>
          <p:cNvPr id="90" name="Text 88"/>
          <p:cNvSpPr txBox="1"/>
          <p:nvPr/>
        </p:nvSpPr>
        <p:spPr>
          <a:xfrm>
            <a:off x="10405872" y="405670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91" name="Text 89"/>
          <p:cNvSpPr txBox="1"/>
          <p:nvPr/>
        </p:nvSpPr>
        <p:spPr>
          <a:xfrm>
            <a:off x="6208776" y="429230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2" name="Shape 90"/>
          <p:cNvSpPr/>
          <p:nvPr/>
        </p:nvSpPr>
        <p:spPr>
          <a:xfrm>
            <a:off x="8522208" y="4351199"/>
            <a:ext cx="792761" cy="117796"/>
          </a:xfrm>
          <a:prstGeom prst="rect">
            <a:avLst/>
          </a:prstGeom>
          <a:solidFill>
            <a:srgbClr val="C2352F"/>
          </a:solidFill>
          <a:ln/>
        </p:spPr>
      </p:sp>
      <p:sp>
        <p:nvSpPr>
          <p:cNvPr id="93" name="Text 91"/>
          <p:cNvSpPr txBox="1"/>
          <p:nvPr/>
        </p:nvSpPr>
        <p:spPr>
          <a:xfrm>
            <a:off x="10405872" y="429230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94" name="Text 92"/>
          <p:cNvSpPr txBox="1"/>
          <p:nvPr/>
        </p:nvSpPr>
        <p:spPr>
          <a:xfrm>
            <a:off x="6208776" y="452789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95" name="Shape 93"/>
          <p:cNvSpPr/>
          <p:nvPr/>
        </p:nvSpPr>
        <p:spPr>
          <a:xfrm>
            <a:off x="8522208" y="4586792"/>
            <a:ext cx="771374" cy="117796"/>
          </a:xfrm>
          <a:prstGeom prst="rect">
            <a:avLst/>
          </a:prstGeom>
          <a:solidFill>
            <a:srgbClr val="C2352F"/>
          </a:solidFill>
          <a:ln/>
        </p:spPr>
      </p:sp>
      <p:sp>
        <p:nvSpPr>
          <p:cNvPr id="96" name="Text 94"/>
          <p:cNvSpPr txBox="1"/>
          <p:nvPr/>
        </p:nvSpPr>
        <p:spPr>
          <a:xfrm>
            <a:off x="10405872" y="452789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97" name="Text 95"/>
          <p:cNvSpPr txBox="1"/>
          <p:nvPr/>
        </p:nvSpPr>
        <p:spPr>
          <a:xfrm>
            <a:off x="6208776" y="4763486"/>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8" name="Shape 96"/>
          <p:cNvSpPr/>
          <p:nvPr/>
        </p:nvSpPr>
        <p:spPr>
          <a:xfrm>
            <a:off x="8522208" y="4822384"/>
            <a:ext cx="765356" cy="117796"/>
          </a:xfrm>
          <a:prstGeom prst="rect">
            <a:avLst/>
          </a:prstGeom>
          <a:solidFill>
            <a:srgbClr val="C2352F"/>
          </a:solidFill>
          <a:ln/>
        </p:spPr>
      </p:sp>
      <p:sp>
        <p:nvSpPr>
          <p:cNvPr id="99" name="Text 97"/>
          <p:cNvSpPr txBox="1"/>
          <p:nvPr/>
        </p:nvSpPr>
        <p:spPr>
          <a:xfrm>
            <a:off x="10405872" y="4763486"/>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00" name="Text 98"/>
          <p:cNvSpPr txBox="1"/>
          <p:nvPr/>
        </p:nvSpPr>
        <p:spPr>
          <a:xfrm>
            <a:off x="6208776" y="4999079"/>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01" name="Shape 99"/>
          <p:cNvSpPr/>
          <p:nvPr/>
        </p:nvSpPr>
        <p:spPr>
          <a:xfrm>
            <a:off x="8522208" y="5057977"/>
            <a:ext cx="721038" cy="117796"/>
          </a:xfrm>
          <a:prstGeom prst="rect">
            <a:avLst/>
          </a:prstGeom>
          <a:solidFill>
            <a:srgbClr val="C2352F"/>
          </a:solidFill>
          <a:ln/>
        </p:spPr>
      </p:sp>
      <p:sp>
        <p:nvSpPr>
          <p:cNvPr id="102" name="Text 100"/>
          <p:cNvSpPr txBox="1"/>
          <p:nvPr/>
        </p:nvSpPr>
        <p:spPr>
          <a:xfrm>
            <a:off x="10405872" y="4999079"/>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103" name="Text 101"/>
          <p:cNvSpPr txBox="1"/>
          <p:nvPr/>
        </p:nvSpPr>
        <p:spPr>
          <a:xfrm>
            <a:off x="6208776" y="5234671"/>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4" name="Shape 102"/>
          <p:cNvSpPr/>
          <p:nvPr/>
        </p:nvSpPr>
        <p:spPr>
          <a:xfrm>
            <a:off x="8522208" y="5293569"/>
            <a:ext cx="714836" cy="117796"/>
          </a:xfrm>
          <a:prstGeom prst="rect">
            <a:avLst/>
          </a:prstGeom>
          <a:solidFill>
            <a:srgbClr val="C2352F"/>
          </a:solidFill>
          <a:ln/>
        </p:spPr>
      </p:sp>
      <p:sp>
        <p:nvSpPr>
          <p:cNvPr id="105" name="Text 103"/>
          <p:cNvSpPr txBox="1"/>
          <p:nvPr/>
        </p:nvSpPr>
        <p:spPr>
          <a:xfrm>
            <a:off x="10405872" y="5234671"/>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06" name="Text 104"/>
          <p:cNvSpPr txBox="1"/>
          <p:nvPr/>
        </p:nvSpPr>
        <p:spPr>
          <a:xfrm>
            <a:off x="6208776" y="5470264"/>
            <a:ext cx="2240280"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07" name="Shape 105"/>
          <p:cNvSpPr/>
          <p:nvPr/>
        </p:nvSpPr>
        <p:spPr>
          <a:xfrm>
            <a:off x="8522208" y="5529162"/>
            <a:ext cx="621227" cy="117796"/>
          </a:xfrm>
          <a:prstGeom prst="rect">
            <a:avLst/>
          </a:prstGeom>
          <a:solidFill>
            <a:srgbClr val="C2352F"/>
          </a:solidFill>
          <a:ln/>
        </p:spPr>
      </p:sp>
      <p:sp>
        <p:nvSpPr>
          <p:cNvPr id="108" name="Text 106"/>
          <p:cNvSpPr txBox="1"/>
          <p:nvPr/>
        </p:nvSpPr>
        <p:spPr>
          <a:xfrm>
            <a:off x="10405872" y="5470264"/>
            <a:ext cx="108813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109" name="Shape 107"/>
          <p:cNvSpPr/>
          <p:nvPr/>
        </p:nvSpPr>
        <p:spPr>
          <a:xfrm>
            <a:off x="3828503" y="1700784"/>
            <a:ext cx="14630" cy="4005072"/>
          </a:xfrm>
          <a:prstGeom prst="rect">
            <a:avLst/>
          </a:prstGeom>
          <a:solidFill>
            <a:srgbClr val="0B2C4A"/>
          </a:solidFill>
          <a:ln/>
        </p:spPr>
      </p:sp>
      <p:sp>
        <p:nvSpPr>
          <p:cNvPr id="110" name="Text 108"/>
          <p:cNvSpPr txBox="1"/>
          <p:nvPr/>
        </p:nvSpPr>
        <p:spPr>
          <a:xfrm>
            <a:off x="2464219"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70.0%</a:t>
            </a:r>
            <a:endParaRPr lang="en-US" sz="1400" dirty="0"/>
          </a:p>
        </p:txBody>
      </p:sp>
      <p:sp>
        <p:nvSpPr>
          <p:cNvPr id="111" name="Shape 109"/>
          <p:cNvSpPr/>
          <p:nvPr/>
        </p:nvSpPr>
        <p:spPr>
          <a:xfrm>
            <a:off x="9378911" y="1700784"/>
            <a:ext cx="14630" cy="4005072"/>
          </a:xfrm>
          <a:prstGeom prst="rect">
            <a:avLst/>
          </a:prstGeom>
          <a:solidFill>
            <a:srgbClr val="0B2C4A"/>
          </a:solidFill>
          <a:ln/>
        </p:spPr>
      </p:sp>
      <p:sp>
        <p:nvSpPr>
          <p:cNvPr id="112" name="Text 110"/>
          <p:cNvSpPr txBox="1"/>
          <p:nvPr/>
        </p:nvSpPr>
        <p:spPr>
          <a:xfrm>
            <a:off x="8014627" y="1316736"/>
            <a:ext cx="2743200" cy="292608"/>
          </a:xfrm>
          <a:prstGeom prst="rect">
            <a:avLst/>
          </a:prstGeom>
          <a:noFill/>
          <a:ln/>
        </p:spPr>
        <p:txBody>
          <a:bodyPr wrap="square" lIns="0" tIns="0" rIns="0" bIns="0" rtlCol="0" anchor="ctr"/>
          <a:lstStyle/>
          <a:p>
            <a:pPr algn="ctr" indent="0" marL="0">
              <a:buNone/>
            </a:pPr>
            <a:r>
              <a:rPr lang="en-US" sz="1400" b="1" spc="90" kern="0" dirty="0">
                <a:solidFill>
                  <a:srgbClr val="0B2C4A"/>
                </a:solidFill>
                <a:latin typeface="Inter" pitchFamily="34" charset="0"/>
                <a:ea typeface="Inter" pitchFamily="34" charset="-122"/>
                <a:cs typeface="Inter" pitchFamily="34" charset="-120"/>
              </a:rPr>
              <a:t>BENCHMARK 70.0%</a:t>
            </a:r>
            <a:endParaRPr lang="en-US" sz="1400" dirty="0"/>
          </a:p>
        </p:txBody>
      </p:sp>
      <p:sp>
        <p:nvSpPr>
          <p:cNvPr id="113" name="Shape 111"/>
          <p:cNvSpPr/>
          <p:nvPr/>
        </p:nvSpPr>
        <p:spPr>
          <a:xfrm>
            <a:off x="457200" y="5961888"/>
            <a:ext cx="11274552" cy="548640"/>
          </a:xfrm>
          <a:prstGeom prst="rect">
            <a:avLst/>
          </a:prstGeom>
          <a:solidFill>
            <a:srgbClr val="EDF4FA"/>
          </a:solidFill>
          <a:ln/>
        </p:spPr>
      </p:sp>
      <p:sp>
        <p:nvSpPr>
          <p:cNvPr id="114" name="Text 112"/>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realize at least 70% of door rate; the group is at 74.7%. AUDI RENO leads at 103.4%; CADILLAC is lowest at 61.5%.</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 name="Shape 5"/>
          <p:cNvSpPr/>
          <p:nvPr/>
        </p:nvSpPr>
        <p:spPr>
          <a:xfrm>
            <a:off x="2670048" y="1759682"/>
            <a:ext cx="841248" cy="117796"/>
          </a:xfrm>
          <a:prstGeom prst="rect">
            <a:avLst/>
          </a:prstGeom>
          <a:solidFill>
            <a:srgbClr val="12A566"/>
          </a:solidFill>
          <a:ln/>
        </p:spPr>
      </p:sp>
      <p:sp>
        <p:nvSpPr>
          <p:cNvPr id="8" name="Text 6"/>
          <p:cNvSpPr txBox="1"/>
          <p:nvPr/>
        </p:nvSpPr>
        <p:spPr>
          <a:xfrm>
            <a:off x="3566160"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9" name="Text 7"/>
          <p:cNvSpPr txBox="1"/>
          <p:nvPr/>
        </p:nvSpPr>
        <p:spPr>
          <a:xfrm>
            <a:off x="4242816"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0" name="Text 8"/>
          <p:cNvSpPr txBox="1"/>
          <p:nvPr/>
        </p:nvSpPr>
        <p:spPr>
          <a:xfrm>
            <a:off x="5029200"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$235.87</a:t>
            </a:r>
            <a:endParaRPr lang="en-US" sz="1300" dirty="0"/>
          </a:p>
        </p:txBody>
      </p:sp>
      <p:sp>
        <p:nvSpPr>
          <p:cNvPr id="11" name="Text 9"/>
          <p:cNvSpPr txBox="1"/>
          <p:nvPr/>
        </p:nvSpPr>
        <p:spPr>
          <a:xfrm>
            <a:off x="658368"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 name="Shape 10"/>
          <p:cNvSpPr/>
          <p:nvPr/>
        </p:nvSpPr>
        <p:spPr>
          <a:xfrm>
            <a:off x="2670048" y="1995275"/>
            <a:ext cx="665301" cy="117796"/>
          </a:xfrm>
          <a:prstGeom prst="rect">
            <a:avLst/>
          </a:prstGeom>
          <a:solidFill>
            <a:srgbClr val="12A566"/>
          </a:solidFill>
          <a:ln/>
        </p:spPr>
      </p:sp>
      <p:sp>
        <p:nvSpPr>
          <p:cNvPr id="13" name="Text 11"/>
          <p:cNvSpPr txBox="1"/>
          <p:nvPr/>
        </p:nvSpPr>
        <p:spPr>
          <a:xfrm>
            <a:off x="3566160"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4" name="Text 12"/>
          <p:cNvSpPr txBox="1"/>
          <p:nvPr/>
        </p:nvSpPr>
        <p:spPr>
          <a:xfrm>
            <a:off x="4242816"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5" name="Text 13"/>
          <p:cNvSpPr txBox="1"/>
          <p:nvPr/>
        </p:nvSpPr>
        <p:spPr>
          <a:xfrm>
            <a:off x="5029200"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$249.95</a:t>
            </a:r>
            <a:endParaRPr lang="en-US" sz="1300" dirty="0"/>
          </a:p>
        </p:txBody>
      </p:sp>
      <p:sp>
        <p:nvSpPr>
          <p:cNvPr id="16" name="Text 14"/>
          <p:cNvSpPr txBox="1"/>
          <p:nvPr/>
        </p:nvSpPr>
        <p:spPr>
          <a:xfrm>
            <a:off x="658368"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7" name="Shape 15"/>
          <p:cNvSpPr/>
          <p:nvPr/>
        </p:nvSpPr>
        <p:spPr>
          <a:xfrm>
            <a:off x="2670048" y="2230867"/>
            <a:ext cx="661778" cy="117796"/>
          </a:xfrm>
          <a:prstGeom prst="rect">
            <a:avLst/>
          </a:prstGeom>
          <a:solidFill>
            <a:srgbClr val="12A566"/>
          </a:solidFill>
          <a:ln/>
        </p:spPr>
      </p:sp>
      <p:sp>
        <p:nvSpPr>
          <p:cNvPr id="18" name="Text 16"/>
          <p:cNvSpPr txBox="1"/>
          <p:nvPr/>
        </p:nvSpPr>
        <p:spPr>
          <a:xfrm>
            <a:off x="3566160"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9" name="Text 17"/>
          <p:cNvSpPr txBox="1"/>
          <p:nvPr/>
        </p:nvSpPr>
        <p:spPr>
          <a:xfrm>
            <a:off x="4242816"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20" name="Text 18"/>
          <p:cNvSpPr txBox="1"/>
          <p:nvPr/>
        </p:nvSpPr>
        <p:spPr>
          <a:xfrm>
            <a:off x="5029200"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$179.87</a:t>
            </a:r>
            <a:endParaRPr lang="en-US" sz="1300" dirty="0"/>
          </a:p>
        </p:txBody>
      </p:sp>
      <p:sp>
        <p:nvSpPr>
          <p:cNvPr id="21" name="Text 19"/>
          <p:cNvSpPr txBox="1"/>
          <p:nvPr/>
        </p:nvSpPr>
        <p:spPr>
          <a:xfrm>
            <a:off x="658368"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2" name="Shape 20"/>
          <p:cNvSpPr/>
          <p:nvPr/>
        </p:nvSpPr>
        <p:spPr>
          <a:xfrm>
            <a:off x="2670048" y="2466460"/>
            <a:ext cx="659376" cy="117796"/>
          </a:xfrm>
          <a:prstGeom prst="rect">
            <a:avLst/>
          </a:prstGeom>
          <a:solidFill>
            <a:srgbClr val="12A566"/>
          </a:solidFill>
          <a:ln/>
        </p:spPr>
      </p:sp>
      <p:sp>
        <p:nvSpPr>
          <p:cNvPr id="23" name="Text 21"/>
          <p:cNvSpPr txBox="1"/>
          <p:nvPr/>
        </p:nvSpPr>
        <p:spPr>
          <a:xfrm>
            <a:off x="3566160"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4" name="Text 22"/>
          <p:cNvSpPr txBox="1"/>
          <p:nvPr/>
        </p:nvSpPr>
        <p:spPr>
          <a:xfrm>
            <a:off x="4242816"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5" name="Text 23"/>
          <p:cNvSpPr txBox="1"/>
          <p:nvPr/>
        </p:nvSpPr>
        <p:spPr>
          <a:xfrm>
            <a:off x="5029200"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26" name="Text 24"/>
          <p:cNvSpPr txBox="1"/>
          <p:nvPr/>
        </p:nvSpPr>
        <p:spPr>
          <a:xfrm>
            <a:off x="658368" y="264315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7" name="Shape 25"/>
          <p:cNvSpPr/>
          <p:nvPr/>
        </p:nvSpPr>
        <p:spPr>
          <a:xfrm>
            <a:off x="2670048" y="2702052"/>
            <a:ext cx="642710" cy="117796"/>
          </a:xfrm>
          <a:prstGeom prst="rect">
            <a:avLst/>
          </a:prstGeom>
          <a:solidFill>
            <a:srgbClr val="12A566"/>
          </a:solidFill>
          <a:ln/>
        </p:spPr>
      </p:sp>
      <p:sp>
        <p:nvSpPr>
          <p:cNvPr id="28" name="Text 26"/>
          <p:cNvSpPr txBox="1"/>
          <p:nvPr/>
        </p:nvSpPr>
        <p:spPr>
          <a:xfrm>
            <a:off x="3566160" y="264315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9" name="Text 27"/>
          <p:cNvSpPr txBox="1"/>
          <p:nvPr/>
        </p:nvSpPr>
        <p:spPr>
          <a:xfrm>
            <a:off x="4242816" y="264315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30" name="Text 28"/>
          <p:cNvSpPr txBox="1"/>
          <p:nvPr/>
        </p:nvSpPr>
        <p:spPr>
          <a:xfrm>
            <a:off x="5029200" y="264315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31" name="Text 29"/>
          <p:cNvSpPr txBox="1"/>
          <p:nvPr/>
        </p:nvSpPr>
        <p:spPr>
          <a:xfrm>
            <a:off x="658368"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2" name="Shape 30"/>
          <p:cNvSpPr/>
          <p:nvPr/>
        </p:nvSpPr>
        <p:spPr>
          <a:xfrm>
            <a:off x="2670048" y="2937644"/>
            <a:ext cx="619626" cy="117796"/>
          </a:xfrm>
          <a:prstGeom prst="rect">
            <a:avLst/>
          </a:prstGeom>
          <a:solidFill>
            <a:srgbClr val="12A566"/>
          </a:solidFill>
          <a:ln/>
        </p:spPr>
      </p:sp>
      <p:sp>
        <p:nvSpPr>
          <p:cNvPr id="33" name="Text 31"/>
          <p:cNvSpPr txBox="1"/>
          <p:nvPr/>
        </p:nvSpPr>
        <p:spPr>
          <a:xfrm>
            <a:off x="3566160"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34" name="Text 32"/>
          <p:cNvSpPr txBox="1"/>
          <p:nvPr/>
        </p:nvSpPr>
        <p:spPr>
          <a:xfrm>
            <a:off x="4242816"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35" name="Text 33"/>
          <p:cNvSpPr txBox="1"/>
          <p:nvPr/>
        </p:nvSpPr>
        <p:spPr>
          <a:xfrm>
            <a:off x="5029200"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$275.00</a:t>
            </a:r>
            <a:endParaRPr lang="en-US" sz="1300" dirty="0"/>
          </a:p>
        </p:txBody>
      </p:sp>
      <p:sp>
        <p:nvSpPr>
          <p:cNvPr id="36" name="Text 34"/>
          <p:cNvSpPr txBox="1"/>
          <p:nvPr/>
        </p:nvSpPr>
        <p:spPr>
          <a:xfrm>
            <a:off x="658368"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37" name="Shape 35"/>
          <p:cNvSpPr/>
          <p:nvPr/>
        </p:nvSpPr>
        <p:spPr>
          <a:xfrm>
            <a:off x="2670048" y="3173237"/>
            <a:ext cx="613635" cy="117796"/>
          </a:xfrm>
          <a:prstGeom prst="rect">
            <a:avLst/>
          </a:prstGeom>
          <a:solidFill>
            <a:srgbClr val="12A566"/>
          </a:solidFill>
          <a:ln/>
        </p:spPr>
      </p:sp>
      <p:sp>
        <p:nvSpPr>
          <p:cNvPr id="38" name="Text 36"/>
          <p:cNvSpPr txBox="1"/>
          <p:nvPr/>
        </p:nvSpPr>
        <p:spPr>
          <a:xfrm>
            <a:off x="3566160"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39" name="Text 37"/>
          <p:cNvSpPr txBox="1"/>
          <p:nvPr/>
        </p:nvSpPr>
        <p:spPr>
          <a:xfrm>
            <a:off x="4242816"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40" name="Text 38"/>
          <p:cNvSpPr txBox="1"/>
          <p:nvPr/>
        </p:nvSpPr>
        <p:spPr>
          <a:xfrm>
            <a:off x="5029200"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41" name="Text 39"/>
          <p:cNvSpPr txBox="1"/>
          <p:nvPr/>
        </p:nvSpPr>
        <p:spPr>
          <a:xfrm>
            <a:off x="658368"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2" name="Shape 40"/>
          <p:cNvSpPr/>
          <p:nvPr/>
        </p:nvSpPr>
        <p:spPr>
          <a:xfrm>
            <a:off x="2670048" y="3408829"/>
            <a:ext cx="564915" cy="117796"/>
          </a:xfrm>
          <a:prstGeom prst="rect">
            <a:avLst/>
          </a:prstGeom>
          <a:solidFill>
            <a:srgbClr val="12A566"/>
          </a:solidFill>
          <a:ln/>
        </p:spPr>
      </p:sp>
      <p:sp>
        <p:nvSpPr>
          <p:cNvPr id="43" name="Text 41"/>
          <p:cNvSpPr txBox="1"/>
          <p:nvPr/>
        </p:nvSpPr>
        <p:spPr>
          <a:xfrm>
            <a:off x="3566160"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44" name="Text 42"/>
          <p:cNvSpPr txBox="1"/>
          <p:nvPr/>
        </p:nvSpPr>
        <p:spPr>
          <a:xfrm>
            <a:off x="4242816"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45" name="Text 43"/>
          <p:cNvSpPr txBox="1"/>
          <p:nvPr/>
        </p:nvSpPr>
        <p:spPr>
          <a:xfrm>
            <a:off x="5029200"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$179.00</a:t>
            </a:r>
            <a:endParaRPr lang="en-US" sz="1300" dirty="0"/>
          </a:p>
        </p:txBody>
      </p:sp>
      <p:sp>
        <p:nvSpPr>
          <p:cNvPr id="46" name="Text 44"/>
          <p:cNvSpPr txBox="1"/>
          <p:nvPr/>
        </p:nvSpPr>
        <p:spPr>
          <a:xfrm>
            <a:off x="658368"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7" name="Shape 45"/>
          <p:cNvSpPr/>
          <p:nvPr/>
        </p:nvSpPr>
        <p:spPr>
          <a:xfrm>
            <a:off x="2670048" y="3644422"/>
            <a:ext cx="549859" cy="117796"/>
          </a:xfrm>
          <a:prstGeom prst="rect">
            <a:avLst/>
          </a:prstGeom>
          <a:solidFill>
            <a:srgbClr val="12A566"/>
          </a:solidFill>
          <a:ln/>
        </p:spPr>
      </p:sp>
      <p:sp>
        <p:nvSpPr>
          <p:cNvPr id="48" name="Text 46"/>
          <p:cNvSpPr txBox="1"/>
          <p:nvPr/>
        </p:nvSpPr>
        <p:spPr>
          <a:xfrm>
            <a:off x="3566160"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49" name="Text 47"/>
          <p:cNvSpPr txBox="1"/>
          <p:nvPr/>
        </p:nvSpPr>
        <p:spPr>
          <a:xfrm>
            <a:off x="4242816"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50" name="Text 48"/>
          <p:cNvSpPr txBox="1"/>
          <p:nvPr/>
        </p:nvSpPr>
        <p:spPr>
          <a:xfrm>
            <a:off x="5029200"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$229.95</a:t>
            </a:r>
            <a:endParaRPr lang="en-US" sz="1300" dirty="0"/>
          </a:p>
        </p:txBody>
      </p:sp>
      <p:sp>
        <p:nvSpPr>
          <p:cNvPr id="51" name="Text 49"/>
          <p:cNvSpPr txBox="1"/>
          <p:nvPr/>
        </p:nvSpPr>
        <p:spPr>
          <a:xfrm>
            <a:off x="658368"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2" name="Shape 50"/>
          <p:cNvSpPr/>
          <p:nvPr/>
        </p:nvSpPr>
        <p:spPr>
          <a:xfrm>
            <a:off x="2670048" y="3880014"/>
            <a:ext cx="542975" cy="117796"/>
          </a:xfrm>
          <a:prstGeom prst="rect">
            <a:avLst/>
          </a:prstGeom>
          <a:solidFill>
            <a:srgbClr val="12A566"/>
          </a:solidFill>
          <a:ln/>
        </p:spPr>
      </p:sp>
      <p:sp>
        <p:nvSpPr>
          <p:cNvPr id="53" name="Text 51"/>
          <p:cNvSpPr txBox="1"/>
          <p:nvPr/>
        </p:nvSpPr>
        <p:spPr>
          <a:xfrm>
            <a:off x="3566160" y="382111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54" name="Text 52"/>
          <p:cNvSpPr txBox="1"/>
          <p:nvPr/>
        </p:nvSpPr>
        <p:spPr>
          <a:xfrm>
            <a:off x="4242816"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55" name="Text 53"/>
          <p:cNvSpPr txBox="1"/>
          <p:nvPr/>
        </p:nvSpPr>
        <p:spPr>
          <a:xfrm>
            <a:off x="5029200"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$199.95</a:t>
            </a:r>
            <a:endParaRPr lang="en-US" sz="1300" dirty="0"/>
          </a:p>
        </p:txBody>
      </p:sp>
      <p:sp>
        <p:nvSpPr>
          <p:cNvPr id="56" name="Text 54"/>
          <p:cNvSpPr txBox="1"/>
          <p:nvPr/>
        </p:nvSpPr>
        <p:spPr>
          <a:xfrm>
            <a:off x="658368"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7" name="Shape 55"/>
          <p:cNvSpPr/>
          <p:nvPr/>
        </p:nvSpPr>
        <p:spPr>
          <a:xfrm>
            <a:off x="2670048" y="4115607"/>
            <a:ext cx="528418" cy="117796"/>
          </a:xfrm>
          <a:prstGeom prst="rect">
            <a:avLst/>
          </a:prstGeom>
          <a:solidFill>
            <a:srgbClr val="12A566"/>
          </a:solidFill>
          <a:ln/>
        </p:spPr>
      </p:sp>
      <p:sp>
        <p:nvSpPr>
          <p:cNvPr id="58" name="Text 56"/>
          <p:cNvSpPr txBox="1"/>
          <p:nvPr/>
        </p:nvSpPr>
        <p:spPr>
          <a:xfrm>
            <a:off x="3566160" y="405670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59" name="Text 57"/>
          <p:cNvSpPr txBox="1"/>
          <p:nvPr/>
        </p:nvSpPr>
        <p:spPr>
          <a:xfrm>
            <a:off x="4242816"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60" name="Text 58"/>
          <p:cNvSpPr txBox="1"/>
          <p:nvPr/>
        </p:nvSpPr>
        <p:spPr>
          <a:xfrm>
            <a:off x="5029200"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61" name="Text 59"/>
          <p:cNvSpPr txBox="1"/>
          <p:nvPr/>
        </p:nvSpPr>
        <p:spPr>
          <a:xfrm>
            <a:off x="658368"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2" name="Shape 60"/>
          <p:cNvSpPr/>
          <p:nvPr/>
        </p:nvSpPr>
        <p:spPr>
          <a:xfrm>
            <a:off x="2670048" y="4351199"/>
            <a:ext cx="523587" cy="117796"/>
          </a:xfrm>
          <a:prstGeom prst="rect">
            <a:avLst/>
          </a:prstGeom>
          <a:solidFill>
            <a:srgbClr val="12A566"/>
          </a:solidFill>
          <a:ln/>
        </p:spPr>
      </p:sp>
      <p:sp>
        <p:nvSpPr>
          <p:cNvPr id="63" name="Text 61"/>
          <p:cNvSpPr txBox="1"/>
          <p:nvPr/>
        </p:nvSpPr>
        <p:spPr>
          <a:xfrm>
            <a:off x="3566160" y="429230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64" name="Text 62"/>
          <p:cNvSpPr txBox="1"/>
          <p:nvPr/>
        </p:nvSpPr>
        <p:spPr>
          <a:xfrm>
            <a:off x="4242816"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65" name="Text 63"/>
          <p:cNvSpPr txBox="1"/>
          <p:nvPr/>
        </p:nvSpPr>
        <p:spPr>
          <a:xfrm>
            <a:off x="5029200"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$294.87</a:t>
            </a:r>
            <a:endParaRPr lang="en-US" sz="1300" dirty="0"/>
          </a:p>
        </p:txBody>
      </p:sp>
      <p:sp>
        <p:nvSpPr>
          <p:cNvPr id="66" name="Text 64"/>
          <p:cNvSpPr txBox="1"/>
          <p:nvPr/>
        </p:nvSpPr>
        <p:spPr>
          <a:xfrm>
            <a:off x="658368"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7" name="Shape 65"/>
          <p:cNvSpPr/>
          <p:nvPr/>
        </p:nvSpPr>
        <p:spPr>
          <a:xfrm>
            <a:off x="2670048" y="4586792"/>
            <a:ext cx="515923" cy="117796"/>
          </a:xfrm>
          <a:prstGeom prst="rect">
            <a:avLst/>
          </a:prstGeom>
          <a:solidFill>
            <a:srgbClr val="12A566"/>
          </a:solidFill>
          <a:ln/>
        </p:spPr>
      </p:sp>
      <p:sp>
        <p:nvSpPr>
          <p:cNvPr id="68" name="Text 66"/>
          <p:cNvSpPr txBox="1"/>
          <p:nvPr/>
        </p:nvSpPr>
        <p:spPr>
          <a:xfrm>
            <a:off x="3566160" y="452789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69" name="Text 67"/>
          <p:cNvSpPr txBox="1"/>
          <p:nvPr/>
        </p:nvSpPr>
        <p:spPr>
          <a:xfrm>
            <a:off x="4242816"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70" name="Text 68"/>
          <p:cNvSpPr txBox="1"/>
          <p:nvPr/>
        </p:nvSpPr>
        <p:spPr>
          <a:xfrm>
            <a:off x="5029200"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71" name="Text 69"/>
          <p:cNvSpPr txBox="1"/>
          <p:nvPr/>
        </p:nvSpPr>
        <p:spPr>
          <a:xfrm>
            <a:off x="658368"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2" name="Shape 70"/>
          <p:cNvSpPr/>
          <p:nvPr/>
        </p:nvSpPr>
        <p:spPr>
          <a:xfrm>
            <a:off x="2670048" y="4822384"/>
            <a:ext cx="515855" cy="117796"/>
          </a:xfrm>
          <a:prstGeom prst="rect">
            <a:avLst/>
          </a:prstGeom>
          <a:solidFill>
            <a:srgbClr val="12A566"/>
          </a:solidFill>
          <a:ln/>
        </p:spPr>
      </p:sp>
      <p:sp>
        <p:nvSpPr>
          <p:cNvPr id="73" name="Text 71"/>
          <p:cNvSpPr txBox="1"/>
          <p:nvPr/>
        </p:nvSpPr>
        <p:spPr>
          <a:xfrm>
            <a:off x="3566160" y="476348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74" name="Text 72"/>
          <p:cNvSpPr txBox="1"/>
          <p:nvPr/>
        </p:nvSpPr>
        <p:spPr>
          <a:xfrm>
            <a:off x="4242816"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75" name="Text 73"/>
          <p:cNvSpPr txBox="1"/>
          <p:nvPr/>
        </p:nvSpPr>
        <p:spPr>
          <a:xfrm>
            <a:off x="5029200"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$209.87</a:t>
            </a:r>
            <a:endParaRPr lang="en-US" sz="1300" dirty="0"/>
          </a:p>
        </p:txBody>
      </p:sp>
      <p:sp>
        <p:nvSpPr>
          <p:cNvPr id="76" name="Text 74"/>
          <p:cNvSpPr txBox="1"/>
          <p:nvPr/>
        </p:nvSpPr>
        <p:spPr>
          <a:xfrm>
            <a:off x="658368"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7" name="Shape 75"/>
          <p:cNvSpPr/>
          <p:nvPr/>
        </p:nvSpPr>
        <p:spPr>
          <a:xfrm>
            <a:off x="2670048" y="5057977"/>
            <a:ext cx="510186" cy="117796"/>
          </a:xfrm>
          <a:prstGeom prst="rect">
            <a:avLst/>
          </a:prstGeom>
          <a:solidFill>
            <a:srgbClr val="12A566"/>
          </a:solidFill>
          <a:ln/>
        </p:spPr>
      </p:sp>
      <p:sp>
        <p:nvSpPr>
          <p:cNvPr id="78" name="Text 76"/>
          <p:cNvSpPr txBox="1"/>
          <p:nvPr/>
        </p:nvSpPr>
        <p:spPr>
          <a:xfrm>
            <a:off x="3566160" y="499907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79" name="Text 77"/>
          <p:cNvSpPr txBox="1"/>
          <p:nvPr/>
        </p:nvSpPr>
        <p:spPr>
          <a:xfrm>
            <a:off x="4242816"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80" name="Text 78"/>
          <p:cNvSpPr txBox="1"/>
          <p:nvPr/>
        </p:nvSpPr>
        <p:spPr>
          <a:xfrm>
            <a:off x="5029200"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$204.87</a:t>
            </a:r>
            <a:endParaRPr lang="en-US" sz="1300" dirty="0"/>
          </a:p>
        </p:txBody>
      </p:sp>
      <p:sp>
        <p:nvSpPr>
          <p:cNvPr id="81" name="Text 79"/>
          <p:cNvSpPr txBox="1"/>
          <p:nvPr/>
        </p:nvSpPr>
        <p:spPr>
          <a:xfrm>
            <a:off x="658368"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2" name="Shape 80"/>
          <p:cNvSpPr/>
          <p:nvPr/>
        </p:nvSpPr>
        <p:spPr>
          <a:xfrm>
            <a:off x="2670048" y="5293569"/>
            <a:ext cx="486924" cy="117796"/>
          </a:xfrm>
          <a:prstGeom prst="rect">
            <a:avLst/>
          </a:prstGeom>
          <a:solidFill>
            <a:srgbClr val="12A566"/>
          </a:solidFill>
          <a:ln/>
        </p:spPr>
      </p:sp>
      <p:sp>
        <p:nvSpPr>
          <p:cNvPr id="83" name="Text 81"/>
          <p:cNvSpPr txBox="1"/>
          <p:nvPr/>
        </p:nvSpPr>
        <p:spPr>
          <a:xfrm>
            <a:off x="3566160" y="523467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84" name="Text 82"/>
          <p:cNvSpPr txBox="1"/>
          <p:nvPr/>
        </p:nvSpPr>
        <p:spPr>
          <a:xfrm>
            <a:off x="4242816"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85" name="Text 83"/>
          <p:cNvSpPr txBox="1"/>
          <p:nvPr/>
        </p:nvSpPr>
        <p:spPr>
          <a:xfrm>
            <a:off x="5029200"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86" name="Text 84"/>
          <p:cNvSpPr txBox="1"/>
          <p:nvPr/>
        </p:nvSpPr>
        <p:spPr>
          <a:xfrm>
            <a:off x="658368"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7" name="Shape 85"/>
          <p:cNvSpPr/>
          <p:nvPr/>
        </p:nvSpPr>
        <p:spPr>
          <a:xfrm>
            <a:off x="2670048" y="5529162"/>
            <a:ext cx="482951" cy="117796"/>
          </a:xfrm>
          <a:prstGeom prst="rect">
            <a:avLst/>
          </a:prstGeom>
          <a:solidFill>
            <a:srgbClr val="12A566"/>
          </a:solidFill>
          <a:ln/>
        </p:spPr>
      </p:sp>
      <p:sp>
        <p:nvSpPr>
          <p:cNvPr id="88" name="Text 86"/>
          <p:cNvSpPr txBox="1"/>
          <p:nvPr/>
        </p:nvSpPr>
        <p:spPr>
          <a:xfrm>
            <a:off x="3566160" y="547026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89" name="Text 87"/>
          <p:cNvSpPr txBox="1"/>
          <p:nvPr/>
        </p:nvSpPr>
        <p:spPr>
          <a:xfrm>
            <a:off x="4242816"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90" name="Text 88"/>
          <p:cNvSpPr txBox="1"/>
          <p:nvPr/>
        </p:nvSpPr>
        <p:spPr>
          <a:xfrm>
            <a:off x="5029200"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$348.87</a:t>
            </a:r>
            <a:endParaRPr lang="en-US" sz="1300" dirty="0"/>
          </a:p>
        </p:txBody>
      </p:sp>
      <p:sp>
        <p:nvSpPr>
          <p:cNvPr id="91" name="Text 89"/>
          <p:cNvSpPr txBox="1"/>
          <p:nvPr/>
        </p:nvSpPr>
        <p:spPr>
          <a:xfrm>
            <a:off x="6208776"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2" name="Shape 90"/>
          <p:cNvSpPr/>
          <p:nvPr/>
        </p:nvSpPr>
        <p:spPr>
          <a:xfrm>
            <a:off x="8220456" y="1759682"/>
            <a:ext cx="469589" cy="117796"/>
          </a:xfrm>
          <a:prstGeom prst="rect">
            <a:avLst/>
          </a:prstGeom>
          <a:solidFill>
            <a:srgbClr val="12A566"/>
          </a:solidFill>
          <a:ln/>
        </p:spPr>
      </p:sp>
      <p:sp>
        <p:nvSpPr>
          <p:cNvPr id="93" name="Text 91"/>
          <p:cNvSpPr txBox="1"/>
          <p:nvPr/>
        </p:nvSpPr>
        <p:spPr>
          <a:xfrm>
            <a:off x="9116568"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94" name="Text 92"/>
          <p:cNvSpPr txBox="1"/>
          <p:nvPr/>
        </p:nvSpPr>
        <p:spPr>
          <a:xfrm>
            <a:off x="9793224"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95" name="Text 93"/>
          <p:cNvSpPr txBox="1"/>
          <p:nvPr/>
        </p:nvSpPr>
        <p:spPr>
          <a:xfrm>
            <a:off x="10579608"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$310.00</a:t>
            </a:r>
            <a:endParaRPr lang="en-US" sz="1300" dirty="0"/>
          </a:p>
        </p:txBody>
      </p:sp>
      <p:sp>
        <p:nvSpPr>
          <p:cNvPr id="96" name="Text 94"/>
          <p:cNvSpPr txBox="1"/>
          <p:nvPr/>
        </p:nvSpPr>
        <p:spPr>
          <a:xfrm>
            <a:off x="6208776"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7" name="Shape 95"/>
          <p:cNvSpPr/>
          <p:nvPr/>
        </p:nvSpPr>
        <p:spPr>
          <a:xfrm>
            <a:off x="8220456" y="1995275"/>
            <a:ext cx="467351" cy="117796"/>
          </a:xfrm>
          <a:prstGeom prst="rect">
            <a:avLst/>
          </a:prstGeom>
          <a:solidFill>
            <a:srgbClr val="12A566"/>
          </a:solidFill>
          <a:ln/>
        </p:spPr>
      </p:sp>
      <p:sp>
        <p:nvSpPr>
          <p:cNvPr id="98" name="Text 96"/>
          <p:cNvSpPr txBox="1"/>
          <p:nvPr/>
        </p:nvSpPr>
        <p:spPr>
          <a:xfrm>
            <a:off x="9116568"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99" name="Text 97"/>
          <p:cNvSpPr txBox="1"/>
          <p:nvPr/>
        </p:nvSpPr>
        <p:spPr>
          <a:xfrm>
            <a:off x="9793224"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00" name="Text 98"/>
          <p:cNvSpPr txBox="1"/>
          <p:nvPr/>
        </p:nvSpPr>
        <p:spPr>
          <a:xfrm>
            <a:off x="10579608"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$215.37</a:t>
            </a:r>
            <a:endParaRPr lang="en-US" sz="1300" dirty="0"/>
          </a:p>
        </p:txBody>
      </p:sp>
      <p:sp>
        <p:nvSpPr>
          <p:cNvPr id="101" name="Text 99"/>
          <p:cNvSpPr txBox="1"/>
          <p:nvPr/>
        </p:nvSpPr>
        <p:spPr>
          <a:xfrm>
            <a:off x="6208776"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Shape 100"/>
          <p:cNvSpPr/>
          <p:nvPr/>
        </p:nvSpPr>
        <p:spPr>
          <a:xfrm>
            <a:off x="8220456" y="2230867"/>
            <a:ext cx="465019" cy="117796"/>
          </a:xfrm>
          <a:prstGeom prst="rect">
            <a:avLst/>
          </a:prstGeom>
          <a:solidFill>
            <a:srgbClr val="12A566"/>
          </a:solidFill>
          <a:ln/>
        </p:spPr>
      </p:sp>
      <p:sp>
        <p:nvSpPr>
          <p:cNvPr id="103" name="Text 101"/>
          <p:cNvSpPr txBox="1"/>
          <p:nvPr/>
        </p:nvSpPr>
        <p:spPr>
          <a:xfrm>
            <a:off x="9116568"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104" name="Text 102"/>
          <p:cNvSpPr txBox="1"/>
          <p:nvPr/>
        </p:nvSpPr>
        <p:spPr>
          <a:xfrm>
            <a:off x="9793224"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105" name="Text 103"/>
          <p:cNvSpPr txBox="1"/>
          <p:nvPr/>
        </p:nvSpPr>
        <p:spPr>
          <a:xfrm>
            <a:off x="10579608"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$239.87</a:t>
            </a:r>
            <a:endParaRPr lang="en-US" sz="1300" dirty="0"/>
          </a:p>
        </p:txBody>
      </p:sp>
      <p:sp>
        <p:nvSpPr>
          <p:cNvPr id="106" name="Text 104"/>
          <p:cNvSpPr txBox="1"/>
          <p:nvPr/>
        </p:nvSpPr>
        <p:spPr>
          <a:xfrm>
            <a:off x="6208776"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7" name="Shape 105"/>
          <p:cNvSpPr/>
          <p:nvPr/>
        </p:nvSpPr>
        <p:spPr>
          <a:xfrm>
            <a:off x="8220456" y="2466460"/>
            <a:ext cx="463785" cy="117796"/>
          </a:xfrm>
          <a:prstGeom prst="rect">
            <a:avLst/>
          </a:prstGeom>
          <a:solidFill>
            <a:srgbClr val="12A566"/>
          </a:solidFill>
          <a:ln/>
        </p:spPr>
      </p:sp>
      <p:sp>
        <p:nvSpPr>
          <p:cNvPr id="108" name="Text 106"/>
          <p:cNvSpPr txBox="1"/>
          <p:nvPr/>
        </p:nvSpPr>
        <p:spPr>
          <a:xfrm>
            <a:off x="9116568"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09" name="Text 107"/>
          <p:cNvSpPr txBox="1"/>
          <p:nvPr/>
        </p:nvSpPr>
        <p:spPr>
          <a:xfrm>
            <a:off x="9793224"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10" name="Text 108"/>
          <p:cNvSpPr txBox="1"/>
          <p:nvPr/>
        </p:nvSpPr>
        <p:spPr>
          <a:xfrm>
            <a:off x="10579608"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$190.00</a:t>
            </a:r>
            <a:endParaRPr lang="en-US" sz="1300" dirty="0"/>
          </a:p>
        </p:txBody>
      </p:sp>
      <p:sp>
        <p:nvSpPr>
          <p:cNvPr id="111" name="Shape 109"/>
          <p:cNvSpPr/>
          <p:nvPr/>
        </p:nvSpPr>
        <p:spPr>
          <a:xfrm>
            <a:off x="6135624" y="2638582"/>
            <a:ext cx="5285232" cy="226448"/>
          </a:xfrm>
          <a:prstGeom prst="rect">
            <a:avLst/>
          </a:prstGeom>
          <a:solidFill>
            <a:srgbClr val="EDF4FA"/>
          </a:solidFill>
          <a:ln/>
        </p:spPr>
      </p:sp>
      <p:sp>
        <p:nvSpPr>
          <p:cNvPr id="112" name="Text 110"/>
          <p:cNvSpPr txBox="1"/>
          <p:nvPr/>
        </p:nvSpPr>
        <p:spPr>
          <a:xfrm>
            <a:off x="6208776" y="2643154"/>
            <a:ext cx="1938528"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113" name="Shape 111"/>
          <p:cNvSpPr/>
          <p:nvPr/>
        </p:nvSpPr>
        <p:spPr>
          <a:xfrm>
            <a:off x="8220456" y="2702052"/>
            <a:ext cx="460989" cy="117796"/>
          </a:xfrm>
          <a:prstGeom prst="rect">
            <a:avLst/>
          </a:prstGeom>
          <a:solidFill>
            <a:srgbClr val="0B2C4A"/>
          </a:solidFill>
          <a:ln/>
        </p:spPr>
      </p:sp>
      <p:sp>
        <p:nvSpPr>
          <p:cNvPr id="114" name="Text 112"/>
          <p:cNvSpPr txBox="1"/>
          <p:nvPr/>
        </p:nvSpPr>
        <p:spPr>
          <a:xfrm>
            <a:off x="9116568" y="2643154"/>
            <a:ext cx="67665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74.7%</a:t>
            </a:r>
            <a:endParaRPr lang="en-US" sz="1300" dirty="0"/>
          </a:p>
        </p:txBody>
      </p:sp>
      <p:sp>
        <p:nvSpPr>
          <p:cNvPr id="115" name="Text 113"/>
          <p:cNvSpPr txBox="1"/>
          <p:nvPr/>
        </p:nvSpPr>
        <p:spPr>
          <a:xfrm>
            <a:off x="9793224" y="2643154"/>
            <a:ext cx="786384"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$163.67</a:t>
            </a:r>
            <a:endParaRPr lang="en-US" sz="1300" dirty="0"/>
          </a:p>
        </p:txBody>
      </p:sp>
      <p:sp>
        <p:nvSpPr>
          <p:cNvPr id="116" name="Text 114"/>
          <p:cNvSpPr txBox="1"/>
          <p:nvPr/>
        </p:nvSpPr>
        <p:spPr>
          <a:xfrm>
            <a:off x="10579608" y="2643154"/>
            <a:ext cx="786384"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$218.82</a:t>
            </a:r>
            <a:endParaRPr lang="en-US" sz="1300" dirty="0"/>
          </a:p>
        </p:txBody>
      </p:sp>
      <p:sp>
        <p:nvSpPr>
          <p:cNvPr id="117" name="Text 115"/>
          <p:cNvSpPr txBox="1"/>
          <p:nvPr/>
        </p:nvSpPr>
        <p:spPr>
          <a:xfrm>
            <a:off x="6208776"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8" name="Shape 116"/>
          <p:cNvSpPr/>
          <p:nvPr/>
        </p:nvSpPr>
        <p:spPr>
          <a:xfrm>
            <a:off x="8220456" y="2937644"/>
            <a:ext cx="449061" cy="117796"/>
          </a:xfrm>
          <a:prstGeom prst="rect">
            <a:avLst/>
          </a:prstGeom>
          <a:solidFill>
            <a:srgbClr val="12A566"/>
          </a:solidFill>
          <a:ln/>
        </p:spPr>
      </p:sp>
      <p:sp>
        <p:nvSpPr>
          <p:cNvPr id="119" name="Text 117"/>
          <p:cNvSpPr txBox="1"/>
          <p:nvPr/>
        </p:nvSpPr>
        <p:spPr>
          <a:xfrm>
            <a:off x="9116568"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20" name="Text 118"/>
          <p:cNvSpPr txBox="1"/>
          <p:nvPr/>
        </p:nvSpPr>
        <p:spPr>
          <a:xfrm>
            <a:off x="9793224"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21" name="Text 119"/>
          <p:cNvSpPr txBox="1"/>
          <p:nvPr/>
        </p:nvSpPr>
        <p:spPr>
          <a:xfrm>
            <a:off x="10579608"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22" name="Text 120"/>
          <p:cNvSpPr txBox="1"/>
          <p:nvPr/>
        </p:nvSpPr>
        <p:spPr>
          <a:xfrm>
            <a:off x="6208776"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3" name="Shape 121"/>
          <p:cNvSpPr/>
          <p:nvPr/>
        </p:nvSpPr>
        <p:spPr>
          <a:xfrm>
            <a:off x="8220456" y="3173237"/>
            <a:ext cx="439276" cy="117796"/>
          </a:xfrm>
          <a:prstGeom prst="rect">
            <a:avLst/>
          </a:prstGeom>
          <a:solidFill>
            <a:srgbClr val="12A566"/>
          </a:solidFill>
          <a:ln/>
        </p:spPr>
      </p:sp>
      <p:sp>
        <p:nvSpPr>
          <p:cNvPr id="124" name="Text 122"/>
          <p:cNvSpPr txBox="1"/>
          <p:nvPr/>
        </p:nvSpPr>
        <p:spPr>
          <a:xfrm>
            <a:off x="9116568"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125" name="Text 123"/>
          <p:cNvSpPr txBox="1"/>
          <p:nvPr/>
        </p:nvSpPr>
        <p:spPr>
          <a:xfrm>
            <a:off x="9793224"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126" name="Text 124"/>
          <p:cNvSpPr txBox="1"/>
          <p:nvPr/>
        </p:nvSpPr>
        <p:spPr>
          <a:xfrm>
            <a:off x="10579608"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$211.26</a:t>
            </a:r>
            <a:endParaRPr lang="en-US" sz="1300" dirty="0"/>
          </a:p>
        </p:txBody>
      </p:sp>
      <p:sp>
        <p:nvSpPr>
          <p:cNvPr id="127" name="Text 125"/>
          <p:cNvSpPr txBox="1"/>
          <p:nvPr/>
        </p:nvSpPr>
        <p:spPr>
          <a:xfrm>
            <a:off x="6208776"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28" name="Shape 126"/>
          <p:cNvSpPr/>
          <p:nvPr/>
        </p:nvSpPr>
        <p:spPr>
          <a:xfrm>
            <a:off x="8220456" y="3408829"/>
            <a:ext cx="429617" cy="117796"/>
          </a:xfrm>
          <a:prstGeom prst="rect">
            <a:avLst/>
          </a:prstGeom>
          <a:solidFill>
            <a:srgbClr val="12A566"/>
          </a:solidFill>
          <a:ln/>
        </p:spPr>
      </p:sp>
      <p:sp>
        <p:nvSpPr>
          <p:cNvPr id="129" name="Text 127"/>
          <p:cNvSpPr txBox="1"/>
          <p:nvPr/>
        </p:nvSpPr>
        <p:spPr>
          <a:xfrm>
            <a:off x="9116568"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130" name="Text 128"/>
          <p:cNvSpPr txBox="1"/>
          <p:nvPr/>
        </p:nvSpPr>
        <p:spPr>
          <a:xfrm>
            <a:off x="9793224"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131" name="Text 129"/>
          <p:cNvSpPr txBox="1"/>
          <p:nvPr/>
        </p:nvSpPr>
        <p:spPr>
          <a:xfrm>
            <a:off x="10579608"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132" name="Text 130"/>
          <p:cNvSpPr txBox="1"/>
          <p:nvPr/>
        </p:nvSpPr>
        <p:spPr>
          <a:xfrm>
            <a:off x="6208776"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33" name="Shape 131"/>
          <p:cNvSpPr/>
          <p:nvPr/>
        </p:nvSpPr>
        <p:spPr>
          <a:xfrm>
            <a:off x="8220456" y="3644422"/>
            <a:ext cx="406129" cy="117796"/>
          </a:xfrm>
          <a:prstGeom prst="rect">
            <a:avLst/>
          </a:prstGeom>
          <a:solidFill>
            <a:srgbClr val="12A566"/>
          </a:solidFill>
          <a:ln/>
        </p:spPr>
      </p:sp>
      <p:sp>
        <p:nvSpPr>
          <p:cNvPr id="134" name="Text 132"/>
          <p:cNvSpPr txBox="1"/>
          <p:nvPr/>
        </p:nvSpPr>
        <p:spPr>
          <a:xfrm>
            <a:off x="9116568"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135" name="Text 133"/>
          <p:cNvSpPr txBox="1"/>
          <p:nvPr/>
        </p:nvSpPr>
        <p:spPr>
          <a:xfrm>
            <a:off x="9793224"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136" name="Text 134"/>
          <p:cNvSpPr txBox="1"/>
          <p:nvPr/>
        </p:nvSpPr>
        <p:spPr>
          <a:xfrm>
            <a:off x="10579608"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137" name="Text 135"/>
          <p:cNvSpPr txBox="1"/>
          <p:nvPr/>
        </p:nvSpPr>
        <p:spPr>
          <a:xfrm>
            <a:off x="6208776"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8" name="Shape 136"/>
          <p:cNvSpPr/>
          <p:nvPr/>
        </p:nvSpPr>
        <p:spPr>
          <a:xfrm>
            <a:off x="8220456" y="3880014"/>
            <a:ext cx="378253" cy="117796"/>
          </a:xfrm>
          <a:prstGeom prst="rect">
            <a:avLst/>
          </a:prstGeom>
          <a:solidFill>
            <a:srgbClr val="C2352F"/>
          </a:solidFill>
          <a:ln/>
        </p:spPr>
      </p:sp>
      <p:sp>
        <p:nvSpPr>
          <p:cNvPr id="139" name="Text 137"/>
          <p:cNvSpPr txBox="1"/>
          <p:nvPr/>
        </p:nvSpPr>
        <p:spPr>
          <a:xfrm>
            <a:off x="9116568" y="382111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140" name="Text 138"/>
          <p:cNvSpPr txBox="1"/>
          <p:nvPr/>
        </p:nvSpPr>
        <p:spPr>
          <a:xfrm>
            <a:off x="9793224"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141" name="Text 139"/>
          <p:cNvSpPr txBox="1"/>
          <p:nvPr/>
        </p:nvSpPr>
        <p:spPr>
          <a:xfrm>
            <a:off x="10579608"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$219.87</a:t>
            </a:r>
            <a:endParaRPr lang="en-US" sz="1300" dirty="0"/>
          </a:p>
        </p:txBody>
      </p:sp>
      <p:sp>
        <p:nvSpPr>
          <p:cNvPr id="142" name="Text 140"/>
          <p:cNvSpPr txBox="1"/>
          <p:nvPr/>
        </p:nvSpPr>
        <p:spPr>
          <a:xfrm>
            <a:off x="6208776"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43" name="Shape 141"/>
          <p:cNvSpPr/>
          <p:nvPr/>
        </p:nvSpPr>
        <p:spPr>
          <a:xfrm>
            <a:off x="8220456" y="4115607"/>
            <a:ext cx="374799" cy="117796"/>
          </a:xfrm>
          <a:prstGeom prst="rect">
            <a:avLst/>
          </a:prstGeom>
          <a:solidFill>
            <a:srgbClr val="C2352F"/>
          </a:solidFill>
          <a:ln/>
        </p:spPr>
      </p:sp>
      <p:sp>
        <p:nvSpPr>
          <p:cNvPr id="144" name="Text 142"/>
          <p:cNvSpPr txBox="1"/>
          <p:nvPr/>
        </p:nvSpPr>
        <p:spPr>
          <a:xfrm>
            <a:off x="9116568" y="405670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45" name="Text 143"/>
          <p:cNvSpPr txBox="1"/>
          <p:nvPr/>
        </p:nvSpPr>
        <p:spPr>
          <a:xfrm>
            <a:off x="9793224"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46" name="Text 144"/>
          <p:cNvSpPr txBox="1"/>
          <p:nvPr/>
        </p:nvSpPr>
        <p:spPr>
          <a:xfrm>
            <a:off x="10579608"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$244.87</a:t>
            </a:r>
            <a:endParaRPr lang="en-US" sz="1300" dirty="0"/>
          </a:p>
        </p:txBody>
      </p:sp>
      <p:sp>
        <p:nvSpPr>
          <p:cNvPr id="147" name="Text 145"/>
          <p:cNvSpPr txBox="1"/>
          <p:nvPr/>
        </p:nvSpPr>
        <p:spPr>
          <a:xfrm>
            <a:off x="6208776"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48" name="Shape 146"/>
          <p:cNvSpPr/>
          <p:nvPr/>
        </p:nvSpPr>
        <p:spPr>
          <a:xfrm>
            <a:off x="8220456" y="4351199"/>
            <a:ext cx="364670" cy="117796"/>
          </a:xfrm>
          <a:prstGeom prst="rect">
            <a:avLst/>
          </a:prstGeom>
          <a:solidFill>
            <a:srgbClr val="C2352F"/>
          </a:solidFill>
          <a:ln/>
        </p:spPr>
      </p:sp>
      <p:sp>
        <p:nvSpPr>
          <p:cNvPr id="149" name="Text 147"/>
          <p:cNvSpPr txBox="1"/>
          <p:nvPr/>
        </p:nvSpPr>
        <p:spPr>
          <a:xfrm>
            <a:off x="9116568" y="429230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50" name="Text 148"/>
          <p:cNvSpPr txBox="1"/>
          <p:nvPr/>
        </p:nvSpPr>
        <p:spPr>
          <a:xfrm>
            <a:off x="9793224"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51" name="Text 149"/>
          <p:cNvSpPr txBox="1"/>
          <p:nvPr/>
        </p:nvSpPr>
        <p:spPr>
          <a:xfrm>
            <a:off x="10579608"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52" name="Text 150"/>
          <p:cNvSpPr txBox="1"/>
          <p:nvPr/>
        </p:nvSpPr>
        <p:spPr>
          <a:xfrm>
            <a:off x="6208776"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53" name="Shape 151"/>
          <p:cNvSpPr/>
          <p:nvPr/>
        </p:nvSpPr>
        <p:spPr>
          <a:xfrm>
            <a:off x="8220456" y="4586792"/>
            <a:ext cx="354832" cy="117796"/>
          </a:xfrm>
          <a:prstGeom prst="rect">
            <a:avLst/>
          </a:prstGeom>
          <a:solidFill>
            <a:srgbClr val="C2352F"/>
          </a:solidFill>
          <a:ln/>
        </p:spPr>
      </p:sp>
      <p:sp>
        <p:nvSpPr>
          <p:cNvPr id="154" name="Text 152"/>
          <p:cNvSpPr txBox="1"/>
          <p:nvPr/>
        </p:nvSpPr>
        <p:spPr>
          <a:xfrm>
            <a:off x="9116568" y="452789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55" name="Text 153"/>
          <p:cNvSpPr txBox="1"/>
          <p:nvPr/>
        </p:nvSpPr>
        <p:spPr>
          <a:xfrm>
            <a:off x="9793224"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56" name="Text 154"/>
          <p:cNvSpPr txBox="1"/>
          <p:nvPr/>
        </p:nvSpPr>
        <p:spPr>
          <a:xfrm>
            <a:off x="10579608"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$220.00</a:t>
            </a:r>
            <a:endParaRPr lang="en-US" sz="1300" dirty="0"/>
          </a:p>
        </p:txBody>
      </p:sp>
      <p:sp>
        <p:nvSpPr>
          <p:cNvPr id="157" name="Text 155"/>
          <p:cNvSpPr txBox="1"/>
          <p:nvPr/>
        </p:nvSpPr>
        <p:spPr>
          <a:xfrm>
            <a:off x="6208776"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58" name="Shape 156"/>
          <p:cNvSpPr/>
          <p:nvPr/>
        </p:nvSpPr>
        <p:spPr>
          <a:xfrm>
            <a:off x="8220456" y="4822384"/>
            <a:ext cx="352064" cy="117796"/>
          </a:xfrm>
          <a:prstGeom prst="rect">
            <a:avLst/>
          </a:prstGeom>
          <a:solidFill>
            <a:srgbClr val="C2352F"/>
          </a:solidFill>
          <a:ln/>
        </p:spPr>
      </p:sp>
      <p:sp>
        <p:nvSpPr>
          <p:cNvPr id="159" name="Text 157"/>
          <p:cNvSpPr txBox="1"/>
          <p:nvPr/>
        </p:nvSpPr>
        <p:spPr>
          <a:xfrm>
            <a:off x="9116568" y="476348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60" name="Text 158"/>
          <p:cNvSpPr txBox="1"/>
          <p:nvPr/>
        </p:nvSpPr>
        <p:spPr>
          <a:xfrm>
            <a:off x="9793224"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61" name="Text 159"/>
          <p:cNvSpPr txBox="1"/>
          <p:nvPr/>
        </p:nvSpPr>
        <p:spPr>
          <a:xfrm>
            <a:off x="10579608"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62" name="Text 160"/>
          <p:cNvSpPr txBox="1"/>
          <p:nvPr/>
        </p:nvSpPr>
        <p:spPr>
          <a:xfrm>
            <a:off x="6208776"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63" name="Shape 161"/>
          <p:cNvSpPr/>
          <p:nvPr/>
        </p:nvSpPr>
        <p:spPr>
          <a:xfrm>
            <a:off x="8220456" y="5057977"/>
            <a:ext cx="331678" cy="117796"/>
          </a:xfrm>
          <a:prstGeom prst="rect">
            <a:avLst/>
          </a:prstGeom>
          <a:solidFill>
            <a:srgbClr val="C2352F"/>
          </a:solidFill>
          <a:ln/>
        </p:spPr>
      </p:sp>
      <p:sp>
        <p:nvSpPr>
          <p:cNvPr id="164" name="Text 162"/>
          <p:cNvSpPr txBox="1"/>
          <p:nvPr/>
        </p:nvSpPr>
        <p:spPr>
          <a:xfrm>
            <a:off x="9116568" y="499907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165" name="Text 163"/>
          <p:cNvSpPr txBox="1"/>
          <p:nvPr/>
        </p:nvSpPr>
        <p:spPr>
          <a:xfrm>
            <a:off x="9793224"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166" name="Text 164"/>
          <p:cNvSpPr txBox="1"/>
          <p:nvPr/>
        </p:nvSpPr>
        <p:spPr>
          <a:xfrm>
            <a:off x="10579608"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167" name="Text 165"/>
          <p:cNvSpPr txBox="1"/>
          <p:nvPr/>
        </p:nvSpPr>
        <p:spPr>
          <a:xfrm>
            <a:off x="6208776"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68" name="Shape 166"/>
          <p:cNvSpPr/>
          <p:nvPr/>
        </p:nvSpPr>
        <p:spPr>
          <a:xfrm>
            <a:off x="8220456" y="5293569"/>
            <a:ext cx="328825" cy="117796"/>
          </a:xfrm>
          <a:prstGeom prst="rect">
            <a:avLst/>
          </a:prstGeom>
          <a:solidFill>
            <a:srgbClr val="C2352F"/>
          </a:solidFill>
          <a:ln/>
        </p:spPr>
      </p:sp>
      <p:sp>
        <p:nvSpPr>
          <p:cNvPr id="169" name="Text 167"/>
          <p:cNvSpPr txBox="1"/>
          <p:nvPr/>
        </p:nvSpPr>
        <p:spPr>
          <a:xfrm>
            <a:off x="9116568" y="523467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70" name="Text 168"/>
          <p:cNvSpPr txBox="1"/>
          <p:nvPr/>
        </p:nvSpPr>
        <p:spPr>
          <a:xfrm>
            <a:off x="9793224"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71" name="Text 169"/>
          <p:cNvSpPr txBox="1"/>
          <p:nvPr/>
        </p:nvSpPr>
        <p:spPr>
          <a:xfrm>
            <a:off x="10579608"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72" name="Text 170"/>
          <p:cNvSpPr txBox="1"/>
          <p:nvPr/>
        </p:nvSpPr>
        <p:spPr>
          <a:xfrm>
            <a:off x="6208776"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73" name="Shape 171"/>
          <p:cNvSpPr/>
          <p:nvPr/>
        </p:nvSpPr>
        <p:spPr>
          <a:xfrm>
            <a:off x="8220456" y="5529162"/>
            <a:ext cx="285765" cy="117796"/>
          </a:xfrm>
          <a:prstGeom prst="rect">
            <a:avLst/>
          </a:prstGeom>
          <a:solidFill>
            <a:srgbClr val="C2352F"/>
          </a:solidFill>
          <a:ln/>
        </p:spPr>
      </p:sp>
      <p:sp>
        <p:nvSpPr>
          <p:cNvPr id="174" name="Text 172"/>
          <p:cNvSpPr txBox="1"/>
          <p:nvPr/>
        </p:nvSpPr>
        <p:spPr>
          <a:xfrm>
            <a:off x="9116568" y="547026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175" name="Text 173"/>
          <p:cNvSpPr txBox="1"/>
          <p:nvPr/>
        </p:nvSpPr>
        <p:spPr>
          <a:xfrm>
            <a:off x="9793224"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76" name="Text 174"/>
          <p:cNvSpPr txBox="1"/>
          <p:nvPr/>
        </p:nvSpPr>
        <p:spPr>
          <a:xfrm>
            <a:off x="10579608"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$285.00</a:t>
            </a:r>
            <a:endParaRPr lang="en-US" sz="1300" dirty="0"/>
          </a:p>
        </p:txBody>
      </p:sp>
      <p:sp>
        <p:nvSpPr>
          <p:cNvPr id="177" name="Text 175"/>
          <p:cNvSpPr txBox="1"/>
          <p:nvPr/>
        </p:nvSpPr>
        <p:spPr>
          <a:xfrm>
            <a:off x="3566160"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78" name="Text 176"/>
          <p:cNvSpPr txBox="1"/>
          <p:nvPr/>
        </p:nvSpPr>
        <p:spPr>
          <a:xfrm>
            <a:off x="4242816"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79" name="Text 177"/>
          <p:cNvSpPr txBox="1"/>
          <p:nvPr/>
        </p:nvSpPr>
        <p:spPr>
          <a:xfrm>
            <a:off x="5029200"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80" name="Text 178"/>
          <p:cNvSpPr txBox="1"/>
          <p:nvPr/>
        </p:nvSpPr>
        <p:spPr>
          <a:xfrm>
            <a:off x="9116568"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81" name="Text 179"/>
          <p:cNvSpPr txBox="1"/>
          <p:nvPr/>
        </p:nvSpPr>
        <p:spPr>
          <a:xfrm>
            <a:off x="9793224"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82" name="Text 180"/>
          <p:cNvSpPr txBox="1"/>
          <p:nvPr/>
        </p:nvSpPr>
        <p:spPr>
          <a:xfrm>
            <a:off x="10579608"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83" name="Shape 181"/>
          <p:cNvSpPr/>
          <p:nvPr/>
        </p:nvSpPr>
        <p:spPr>
          <a:xfrm>
            <a:off x="3060181" y="1700784"/>
            <a:ext cx="14630" cy="4005072"/>
          </a:xfrm>
          <a:prstGeom prst="rect">
            <a:avLst/>
          </a:prstGeom>
          <a:solidFill>
            <a:srgbClr val="0B2C4A"/>
          </a:solidFill>
          <a:ln/>
        </p:spPr>
      </p:sp>
      <p:sp>
        <p:nvSpPr>
          <p:cNvPr id="184" name="Text 182"/>
          <p:cNvSpPr txBox="1"/>
          <p:nvPr/>
        </p:nvSpPr>
        <p:spPr>
          <a:xfrm>
            <a:off x="2518857"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5" name="Shape 183"/>
          <p:cNvSpPr/>
          <p:nvPr/>
        </p:nvSpPr>
        <p:spPr>
          <a:xfrm>
            <a:off x="8610589" y="1700784"/>
            <a:ext cx="14630" cy="4005072"/>
          </a:xfrm>
          <a:prstGeom prst="rect">
            <a:avLst/>
          </a:prstGeom>
          <a:solidFill>
            <a:srgbClr val="0B2C4A"/>
          </a:solidFill>
          <a:ln/>
        </p:spPr>
      </p:sp>
      <p:sp>
        <p:nvSpPr>
          <p:cNvPr id="186" name="Text 184"/>
          <p:cNvSpPr txBox="1"/>
          <p:nvPr/>
        </p:nvSpPr>
        <p:spPr>
          <a:xfrm>
            <a:off x="8069265"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7" name="Shape 185"/>
          <p:cNvSpPr/>
          <p:nvPr/>
        </p:nvSpPr>
        <p:spPr>
          <a:xfrm>
            <a:off x="457200" y="5961888"/>
            <a:ext cx="11274552" cy="548640"/>
          </a:xfrm>
          <a:prstGeom prst="rect">
            <a:avLst/>
          </a:prstGeom>
          <a:solidFill>
            <a:srgbClr val="EDF4FA"/>
          </a:solidFill>
          <a:ln/>
        </p:spPr>
      </p:sp>
      <p:sp>
        <p:nvSpPr>
          <p:cNvPr id="188" name="Text 18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realize at least 70% of door rate; the group is at 74.7%. CADILLAC is lowest at 61.5%.</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 name="Shape 5"/>
          <p:cNvSpPr/>
          <p:nvPr/>
        </p:nvSpPr>
        <p:spPr>
          <a:xfrm>
            <a:off x="2670048" y="1759682"/>
            <a:ext cx="786384" cy="117796"/>
          </a:xfrm>
          <a:prstGeom prst="rect">
            <a:avLst/>
          </a:prstGeom>
          <a:solidFill>
            <a:srgbClr val="12A566"/>
          </a:solidFill>
          <a:ln/>
        </p:spPr>
      </p:sp>
      <p:sp>
        <p:nvSpPr>
          <p:cNvPr id="8" name="Text 6"/>
          <p:cNvSpPr txBox="1"/>
          <p:nvPr/>
        </p:nvSpPr>
        <p:spPr>
          <a:xfrm>
            <a:off x="3511296"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9" name="Text 7"/>
          <p:cNvSpPr txBox="1"/>
          <p:nvPr/>
        </p:nvSpPr>
        <p:spPr>
          <a:xfrm>
            <a:off x="4187952"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0" name="Text 8"/>
          <p:cNvSpPr txBox="1"/>
          <p:nvPr/>
        </p:nvSpPr>
        <p:spPr>
          <a:xfrm>
            <a:off x="4974336" y="170078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$165.11</a:t>
            </a:r>
            <a:endParaRPr lang="en-US" sz="1300" dirty="0"/>
          </a:p>
        </p:txBody>
      </p:sp>
      <p:sp>
        <p:nvSpPr>
          <p:cNvPr id="11" name="Text 9"/>
          <p:cNvSpPr txBox="1"/>
          <p:nvPr/>
        </p:nvSpPr>
        <p:spPr>
          <a:xfrm>
            <a:off x="658368"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2" name="Shape 10"/>
          <p:cNvSpPr/>
          <p:nvPr/>
        </p:nvSpPr>
        <p:spPr>
          <a:xfrm>
            <a:off x="2670048" y="1995275"/>
            <a:ext cx="621911" cy="117796"/>
          </a:xfrm>
          <a:prstGeom prst="rect">
            <a:avLst/>
          </a:prstGeom>
          <a:solidFill>
            <a:srgbClr val="12A566"/>
          </a:solidFill>
          <a:ln/>
        </p:spPr>
      </p:sp>
      <p:sp>
        <p:nvSpPr>
          <p:cNvPr id="13" name="Text 11"/>
          <p:cNvSpPr txBox="1"/>
          <p:nvPr/>
        </p:nvSpPr>
        <p:spPr>
          <a:xfrm>
            <a:off x="3511296"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4" name="Text 12"/>
          <p:cNvSpPr txBox="1"/>
          <p:nvPr/>
        </p:nvSpPr>
        <p:spPr>
          <a:xfrm>
            <a:off x="4187952"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5" name="Text 13"/>
          <p:cNvSpPr txBox="1"/>
          <p:nvPr/>
        </p:nvSpPr>
        <p:spPr>
          <a:xfrm>
            <a:off x="4974336" y="193637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$174.96</a:t>
            </a:r>
            <a:endParaRPr lang="en-US" sz="1300" dirty="0"/>
          </a:p>
        </p:txBody>
      </p:sp>
      <p:sp>
        <p:nvSpPr>
          <p:cNvPr id="16" name="Text 14"/>
          <p:cNvSpPr txBox="1"/>
          <p:nvPr/>
        </p:nvSpPr>
        <p:spPr>
          <a:xfrm>
            <a:off x="658368"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7" name="Shape 15"/>
          <p:cNvSpPr/>
          <p:nvPr/>
        </p:nvSpPr>
        <p:spPr>
          <a:xfrm>
            <a:off x="2670048" y="2230867"/>
            <a:ext cx="618619" cy="117796"/>
          </a:xfrm>
          <a:prstGeom prst="rect">
            <a:avLst/>
          </a:prstGeom>
          <a:solidFill>
            <a:srgbClr val="12A566"/>
          </a:solidFill>
          <a:ln/>
        </p:spPr>
      </p:sp>
      <p:sp>
        <p:nvSpPr>
          <p:cNvPr id="18" name="Text 16"/>
          <p:cNvSpPr txBox="1"/>
          <p:nvPr/>
        </p:nvSpPr>
        <p:spPr>
          <a:xfrm>
            <a:off x="3511296"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9" name="Text 17"/>
          <p:cNvSpPr txBox="1"/>
          <p:nvPr/>
        </p:nvSpPr>
        <p:spPr>
          <a:xfrm>
            <a:off x="4187952"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20" name="Text 18"/>
          <p:cNvSpPr txBox="1"/>
          <p:nvPr/>
        </p:nvSpPr>
        <p:spPr>
          <a:xfrm>
            <a:off x="4974336" y="217196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$125.91</a:t>
            </a:r>
            <a:endParaRPr lang="en-US" sz="1300" dirty="0"/>
          </a:p>
        </p:txBody>
      </p:sp>
      <p:sp>
        <p:nvSpPr>
          <p:cNvPr id="21" name="Text 19"/>
          <p:cNvSpPr txBox="1"/>
          <p:nvPr/>
        </p:nvSpPr>
        <p:spPr>
          <a:xfrm>
            <a:off x="658368"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2" name="Shape 20"/>
          <p:cNvSpPr/>
          <p:nvPr/>
        </p:nvSpPr>
        <p:spPr>
          <a:xfrm>
            <a:off x="2670048" y="2466460"/>
            <a:ext cx="616373" cy="117796"/>
          </a:xfrm>
          <a:prstGeom prst="rect">
            <a:avLst/>
          </a:prstGeom>
          <a:solidFill>
            <a:srgbClr val="12A566"/>
          </a:solidFill>
          <a:ln/>
        </p:spPr>
      </p:sp>
      <p:sp>
        <p:nvSpPr>
          <p:cNvPr id="23" name="Text 21"/>
          <p:cNvSpPr txBox="1"/>
          <p:nvPr/>
        </p:nvSpPr>
        <p:spPr>
          <a:xfrm>
            <a:off x="3511296"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4" name="Text 22"/>
          <p:cNvSpPr txBox="1"/>
          <p:nvPr/>
        </p:nvSpPr>
        <p:spPr>
          <a:xfrm>
            <a:off x="4187952"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5" name="Text 23"/>
          <p:cNvSpPr txBox="1"/>
          <p:nvPr/>
        </p:nvSpPr>
        <p:spPr>
          <a:xfrm>
            <a:off x="4974336" y="240756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$129.41</a:t>
            </a:r>
            <a:endParaRPr lang="en-US" sz="1300" dirty="0"/>
          </a:p>
        </p:txBody>
      </p:sp>
      <p:sp>
        <p:nvSpPr>
          <p:cNvPr id="26" name="Text 24"/>
          <p:cNvSpPr txBox="1"/>
          <p:nvPr/>
        </p:nvSpPr>
        <p:spPr>
          <a:xfrm>
            <a:off x="658368" y="264315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7" name="Shape 25"/>
          <p:cNvSpPr/>
          <p:nvPr/>
        </p:nvSpPr>
        <p:spPr>
          <a:xfrm>
            <a:off x="2670048" y="2702052"/>
            <a:ext cx="600794" cy="117796"/>
          </a:xfrm>
          <a:prstGeom prst="rect">
            <a:avLst/>
          </a:prstGeom>
          <a:solidFill>
            <a:srgbClr val="12A566"/>
          </a:solidFill>
          <a:ln/>
        </p:spPr>
      </p:sp>
      <p:sp>
        <p:nvSpPr>
          <p:cNvPr id="28" name="Text 26"/>
          <p:cNvSpPr txBox="1"/>
          <p:nvPr/>
        </p:nvSpPr>
        <p:spPr>
          <a:xfrm>
            <a:off x="3511296" y="264315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9" name="Text 27"/>
          <p:cNvSpPr txBox="1"/>
          <p:nvPr/>
        </p:nvSpPr>
        <p:spPr>
          <a:xfrm>
            <a:off x="4187952" y="264315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30" name="Text 28"/>
          <p:cNvSpPr txBox="1"/>
          <p:nvPr/>
        </p:nvSpPr>
        <p:spPr>
          <a:xfrm>
            <a:off x="4974336" y="264315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$157.41</a:t>
            </a:r>
            <a:endParaRPr lang="en-US" sz="1300" dirty="0"/>
          </a:p>
        </p:txBody>
      </p:sp>
      <p:sp>
        <p:nvSpPr>
          <p:cNvPr id="31" name="Text 29"/>
          <p:cNvSpPr txBox="1"/>
          <p:nvPr/>
        </p:nvSpPr>
        <p:spPr>
          <a:xfrm>
            <a:off x="658368"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2" name="Shape 30"/>
          <p:cNvSpPr/>
          <p:nvPr/>
        </p:nvSpPr>
        <p:spPr>
          <a:xfrm>
            <a:off x="2670048" y="2937644"/>
            <a:ext cx="579216" cy="117796"/>
          </a:xfrm>
          <a:prstGeom prst="rect">
            <a:avLst/>
          </a:prstGeom>
          <a:solidFill>
            <a:srgbClr val="12A566"/>
          </a:solidFill>
          <a:ln/>
        </p:spPr>
      </p:sp>
      <p:sp>
        <p:nvSpPr>
          <p:cNvPr id="33" name="Text 31"/>
          <p:cNvSpPr txBox="1"/>
          <p:nvPr/>
        </p:nvSpPr>
        <p:spPr>
          <a:xfrm>
            <a:off x="3511296"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34" name="Text 32"/>
          <p:cNvSpPr txBox="1"/>
          <p:nvPr/>
        </p:nvSpPr>
        <p:spPr>
          <a:xfrm>
            <a:off x="4187952"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35" name="Text 33"/>
          <p:cNvSpPr txBox="1"/>
          <p:nvPr/>
        </p:nvSpPr>
        <p:spPr>
          <a:xfrm>
            <a:off x="4974336" y="287874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$192.50</a:t>
            </a:r>
            <a:endParaRPr lang="en-US" sz="1300" dirty="0"/>
          </a:p>
        </p:txBody>
      </p:sp>
      <p:sp>
        <p:nvSpPr>
          <p:cNvPr id="36" name="Text 34"/>
          <p:cNvSpPr txBox="1"/>
          <p:nvPr/>
        </p:nvSpPr>
        <p:spPr>
          <a:xfrm>
            <a:off x="658368"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37" name="Shape 35"/>
          <p:cNvSpPr/>
          <p:nvPr/>
        </p:nvSpPr>
        <p:spPr>
          <a:xfrm>
            <a:off x="2670048" y="3173237"/>
            <a:ext cx="573616" cy="117796"/>
          </a:xfrm>
          <a:prstGeom prst="rect">
            <a:avLst/>
          </a:prstGeom>
          <a:solidFill>
            <a:srgbClr val="12A566"/>
          </a:solidFill>
          <a:ln/>
        </p:spPr>
      </p:sp>
      <p:sp>
        <p:nvSpPr>
          <p:cNvPr id="38" name="Text 36"/>
          <p:cNvSpPr txBox="1"/>
          <p:nvPr/>
        </p:nvSpPr>
        <p:spPr>
          <a:xfrm>
            <a:off x="3511296"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39" name="Text 37"/>
          <p:cNvSpPr txBox="1"/>
          <p:nvPr/>
        </p:nvSpPr>
        <p:spPr>
          <a:xfrm>
            <a:off x="4187952"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40" name="Text 38"/>
          <p:cNvSpPr txBox="1"/>
          <p:nvPr/>
        </p:nvSpPr>
        <p:spPr>
          <a:xfrm>
            <a:off x="4974336" y="311433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41" name="Text 39"/>
          <p:cNvSpPr txBox="1"/>
          <p:nvPr/>
        </p:nvSpPr>
        <p:spPr>
          <a:xfrm>
            <a:off x="658368"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42" name="Shape 40"/>
          <p:cNvSpPr/>
          <p:nvPr/>
        </p:nvSpPr>
        <p:spPr>
          <a:xfrm>
            <a:off x="2670048" y="3408829"/>
            <a:ext cx="528073" cy="117796"/>
          </a:xfrm>
          <a:prstGeom prst="rect">
            <a:avLst/>
          </a:prstGeom>
          <a:solidFill>
            <a:srgbClr val="12A566"/>
          </a:solidFill>
          <a:ln/>
        </p:spPr>
      </p:sp>
      <p:sp>
        <p:nvSpPr>
          <p:cNvPr id="43" name="Text 41"/>
          <p:cNvSpPr txBox="1"/>
          <p:nvPr/>
        </p:nvSpPr>
        <p:spPr>
          <a:xfrm>
            <a:off x="3511296"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44" name="Text 42"/>
          <p:cNvSpPr txBox="1"/>
          <p:nvPr/>
        </p:nvSpPr>
        <p:spPr>
          <a:xfrm>
            <a:off x="4187952"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45" name="Text 43"/>
          <p:cNvSpPr txBox="1"/>
          <p:nvPr/>
        </p:nvSpPr>
        <p:spPr>
          <a:xfrm>
            <a:off x="4974336" y="334993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$125.30</a:t>
            </a:r>
            <a:endParaRPr lang="en-US" sz="1300" dirty="0"/>
          </a:p>
        </p:txBody>
      </p:sp>
      <p:sp>
        <p:nvSpPr>
          <p:cNvPr id="46" name="Text 44"/>
          <p:cNvSpPr txBox="1"/>
          <p:nvPr/>
        </p:nvSpPr>
        <p:spPr>
          <a:xfrm>
            <a:off x="658368"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7" name="Shape 45"/>
          <p:cNvSpPr/>
          <p:nvPr/>
        </p:nvSpPr>
        <p:spPr>
          <a:xfrm>
            <a:off x="2670048" y="3644422"/>
            <a:ext cx="513999" cy="117796"/>
          </a:xfrm>
          <a:prstGeom prst="rect">
            <a:avLst/>
          </a:prstGeom>
          <a:solidFill>
            <a:srgbClr val="12A566"/>
          </a:solidFill>
          <a:ln/>
        </p:spPr>
      </p:sp>
      <p:sp>
        <p:nvSpPr>
          <p:cNvPr id="48" name="Text 46"/>
          <p:cNvSpPr txBox="1"/>
          <p:nvPr/>
        </p:nvSpPr>
        <p:spPr>
          <a:xfrm>
            <a:off x="3511296"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49" name="Text 47"/>
          <p:cNvSpPr txBox="1"/>
          <p:nvPr/>
        </p:nvSpPr>
        <p:spPr>
          <a:xfrm>
            <a:off x="4187952"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50" name="Text 48"/>
          <p:cNvSpPr txBox="1"/>
          <p:nvPr/>
        </p:nvSpPr>
        <p:spPr>
          <a:xfrm>
            <a:off x="4974336" y="358552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$160.96</a:t>
            </a:r>
            <a:endParaRPr lang="en-US" sz="1300" dirty="0"/>
          </a:p>
        </p:txBody>
      </p:sp>
      <p:sp>
        <p:nvSpPr>
          <p:cNvPr id="51" name="Text 49"/>
          <p:cNvSpPr txBox="1"/>
          <p:nvPr/>
        </p:nvSpPr>
        <p:spPr>
          <a:xfrm>
            <a:off x="658368"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2" name="Shape 50"/>
          <p:cNvSpPr/>
          <p:nvPr/>
        </p:nvSpPr>
        <p:spPr>
          <a:xfrm>
            <a:off x="2670048" y="3880014"/>
            <a:ext cx="507564" cy="117796"/>
          </a:xfrm>
          <a:prstGeom prst="rect">
            <a:avLst/>
          </a:prstGeom>
          <a:solidFill>
            <a:srgbClr val="12A566"/>
          </a:solidFill>
          <a:ln/>
        </p:spPr>
      </p:sp>
      <p:sp>
        <p:nvSpPr>
          <p:cNvPr id="53" name="Text 51"/>
          <p:cNvSpPr txBox="1"/>
          <p:nvPr/>
        </p:nvSpPr>
        <p:spPr>
          <a:xfrm>
            <a:off x="3511296" y="382111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54" name="Text 52"/>
          <p:cNvSpPr txBox="1"/>
          <p:nvPr/>
        </p:nvSpPr>
        <p:spPr>
          <a:xfrm>
            <a:off x="4187952"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55" name="Text 53"/>
          <p:cNvSpPr txBox="1"/>
          <p:nvPr/>
        </p:nvSpPr>
        <p:spPr>
          <a:xfrm>
            <a:off x="4974336" y="382111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$139.96</a:t>
            </a:r>
            <a:endParaRPr lang="en-US" sz="1300" dirty="0"/>
          </a:p>
        </p:txBody>
      </p:sp>
      <p:sp>
        <p:nvSpPr>
          <p:cNvPr id="56" name="Text 54"/>
          <p:cNvSpPr txBox="1"/>
          <p:nvPr/>
        </p:nvSpPr>
        <p:spPr>
          <a:xfrm>
            <a:off x="658368"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7" name="Shape 55"/>
          <p:cNvSpPr/>
          <p:nvPr/>
        </p:nvSpPr>
        <p:spPr>
          <a:xfrm>
            <a:off x="2670048" y="4115607"/>
            <a:ext cx="493956" cy="117796"/>
          </a:xfrm>
          <a:prstGeom prst="rect">
            <a:avLst/>
          </a:prstGeom>
          <a:solidFill>
            <a:srgbClr val="12A566"/>
          </a:solidFill>
          <a:ln/>
        </p:spPr>
      </p:sp>
      <p:sp>
        <p:nvSpPr>
          <p:cNvPr id="58" name="Text 56"/>
          <p:cNvSpPr txBox="1"/>
          <p:nvPr/>
        </p:nvSpPr>
        <p:spPr>
          <a:xfrm>
            <a:off x="3511296" y="405670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59" name="Text 57"/>
          <p:cNvSpPr txBox="1"/>
          <p:nvPr/>
        </p:nvSpPr>
        <p:spPr>
          <a:xfrm>
            <a:off x="4187952"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60" name="Text 58"/>
          <p:cNvSpPr txBox="1"/>
          <p:nvPr/>
        </p:nvSpPr>
        <p:spPr>
          <a:xfrm>
            <a:off x="4974336" y="405670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$136.50</a:t>
            </a:r>
            <a:endParaRPr lang="en-US" sz="1300" dirty="0"/>
          </a:p>
        </p:txBody>
      </p:sp>
      <p:sp>
        <p:nvSpPr>
          <p:cNvPr id="61" name="Text 59"/>
          <p:cNvSpPr txBox="1"/>
          <p:nvPr/>
        </p:nvSpPr>
        <p:spPr>
          <a:xfrm>
            <a:off x="658368"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2" name="Shape 60"/>
          <p:cNvSpPr/>
          <p:nvPr/>
        </p:nvSpPr>
        <p:spPr>
          <a:xfrm>
            <a:off x="2670048" y="4351199"/>
            <a:ext cx="489440" cy="117796"/>
          </a:xfrm>
          <a:prstGeom prst="rect">
            <a:avLst/>
          </a:prstGeom>
          <a:solidFill>
            <a:srgbClr val="12A566"/>
          </a:solidFill>
          <a:ln/>
        </p:spPr>
      </p:sp>
      <p:sp>
        <p:nvSpPr>
          <p:cNvPr id="63" name="Text 61"/>
          <p:cNvSpPr txBox="1"/>
          <p:nvPr/>
        </p:nvSpPr>
        <p:spPr>
          <a:xfrm>
            <a:off x="3511296" y="429230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64" name="Text 62"/>
          <p:cNvSpPr txBox="1"/>
          <p:nvPr/>
        </p:nvSpPr>
        <p:spPr>
          <a:xfrm>
            <a:off x="4187952"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65" name="Text 63"/>
          <p:cNvSpPr txBox="1"/>
          <p:nvPr/>
        </p:nvSpPr>
        <p:spPr>
          <a:xfrm>
            <a:off x="4974336" y="429230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$206.41</a:t>
            </a:r>
            <a:endParaRPr lang="en-US" sz="1300" dirty="0"/>
          </a:p>
        </p:txBody>
      </p:sp>
      <p:sp>
        <p:nvSpPr>
          <p:cNvPr id="66" name="Text 64"/>
          <p:cNvSpPr txBox="1"/>
          <p:nvPr/>
        </p:nvSpPr>
        <p:spPr>
          <a:xfrm>
            <a:off x="658368"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7" name="Shape 65"/>
          <p:cNvSpPr/>
          <p:nvPr/>
        </p:nvSpPr>
        <p:spPr>
          <a:xfrm>
            <a:off x="2670048" y="4586792"/>
            <a:ext cx="482276" cy="117796"/>
          </a:xfrm>
          <a:prstGeom prst="rect">
            <a:avLst/>
          </a:prstGeom>
          <a:solidFill>
            <a:srgbClr val="12A566"/>
          </a:solidFill>
          <a:ln/>
        </p:spPr>
      </p:sp>
      <p:sp>
        <p:nvSpPr>
          <p:cNvPr id="68" name="Text 66"/>
          <p:cNvSpPr txBox="1"/>
          <p:nvPr/>
        </p:nvSpPr>
        <p:spPr>
          <a:xfrm>
            <a:off x="3511296" y="452789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69" name="Text 67"/>
          <p:cNvSpPr txBox="1"/>
          <p:nvPr/>
        </p:nvSpPr>
        <p:spPr>
          <a:xfrm>
            <a:off x="4187952"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70" name="Text 68"/>
          <p:cNvSpPr txBox="1"/>
          <p:nvPr/>
        </p:nvSpPr>
        <p:spPr>
          <a:xfrm>
            <a:off x="4974336" y="452789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71" name="Text 69"/>
          <p:cNvSpPr txBox="1"/>
          <p:nvPr/>
        </p:nvSpPr>
        <p:spPr>
          <a:xfrm>
            <a:off x="658368"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72" name="Shape 70"/>
          <p:cNvSpPr/>
          <p:nvPr/>
        </p:nvSpPr>
        <p:spPr>
          <a:xfrm>
            <a:off x="2670048" y="4822384"/>
            <a:ext cx="482213" cy="117796"/>
          </a:xfrm>
          <a:prstGeom prst="rect">
            <a:avLst/>
          </a:prstGeom>
          <a:solidFill>
            <a:srgbClr val="12A566"/>
          </a:solidFill>
          <a:ln/>
        </p:spPr>
      </p:sp>
      <p:sp>
        <p:nvSpPr>
          <p:cNvPr id="73" name="Text 71"/>
          <p:cNvSpPr txBox="1"/>
          <p:nvPr/>
        </p:nvSpPr>
        <p:spPr>
          <a:xfrm>
            <a:off x="3511296" y="476348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74" name="Text 72"/>
          <p:cNvSpPr txBox="1"/>
          <p:nvPr/>
        </p:nvSpPr>
        <p:spPr>
          <a:xfrm>
            <a:off x="4187952"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75" name="Text 73"/>
          <p:cNvSpPr txBox="1"/>
          <p:nvPr/>
        </p:nvSpPr>
        <p:spPr>
          <a:xfrm>
            <a:off x="4974336" y="476348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$146.91</a:t>
            </a:r>
            <a:endParaRPr lang="en-US" sz="1300" dirty="0"/>
          </a:p>
        </p:txBody>
      </p:sp>
      <p:sp>
        <p:nvSpPr>
          <p:cNvPr id="76" name="Text 74"/>
          <p:cNvSpPr txBox="1"/>
          <p:nvPr/>
        </p:nvSpPr>
        <p:spPr>
          <a:xfrm>
            <a:off x="658368"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7" name="Shape 75"/>
          <p:cNvSpPr/>
          <p:nvPr/>
        </p:nvSpPr>
        <p:spPr>
          <a:xfrm>
            <a:off x="2670048" y="5057977"/>
            <a:ext cx="476913" cy="117796"/>
          </a:xfrm>
          <a:prstGeom prst="rect">
            <a:avLst/>
          </a:prstGeom>
          <a:solidFill>
            <a:srgbClr val="12A566"/>
          </a:solidFill>
          <a:ln/>
        </p:spPr>
      </p:sp>
      <p:sp>
        <p:nvSpPr>
          <p:cNvPr id="78" name="Text 76"/>
          <p:cNvSpPr txBox="1"/>
          <p:nvPr/>
        </p:nvSpPr>
        <p:spPr>
          <a:xfrm>
            <a:off x="3511296" y="499907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79" name="Text 77"/>
          <p:cNvSpPr txBox="1"/>
          <p:nvPr/>
        </p:nvSpPr>
        <p:spPr>
          <a:xfrm>
            <a:off x="4187952"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80" name="Text 78"/>
          <p:cNvSpPr txBox="1"/>
          <p:nvPr/>
        </p:nvSpPr>
        <p:spPr>
          <a:xfrm>
            <a:off x="4974336" y="499907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$143.41</a:t>
            </a:r>
            <a:endParaRPr lang="en-US" sz="1300" dirty="0"/>
          </a:p>
        </p:txBody>
      </p:sp>
      <p:sp>
        <p:nvSpPr>
          <p:cNvPr id="81" name="Text 79"/>
          <p:cNvSpPr txBox="1"/>
          <p:nvPr/>
        </p:nvSpPr>
        <p:spPr>
          <a:xfrm>
            <a:off x="658368"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82" name="Shape 80"/>
          <p:cNvSpPr/>
          <p:nvPr/>
        </p:nvSpPr>
        <p:spPr>
          <a:xfrm>
            <a:off x="2670048" y="5293569"/>
            <a:ext cx="455168" cy="117796"/>
          </a:xfrm>
          <a:prstGeom prst="rect">
            <a:avLst/>
          </a:prstGeom>
          <a:solidFill>
            <a:srgbClr val="12A566"/>
          </a:solidFill>
          <a:ln/>
        </p:spPr>
      </p:sp>
      <p:sp>
        <p:nvSpPr>
          <p:cNvPr id="83" name="Text 81"/>
          <p:cNvSpPr txBox="1"/>
          <p:nvPr/>
        </p:nvSpPr>
        <p:spPr>
          <a:xfrm>
            <a:off x="3511296" y="523467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84" name="Text 82"/>
          <p:cNvSpPr txBox="1"/>
          <p:nvPr/>
        </p:nvSpPr>
        <p:spPr>
          <a:xfrm>
            <a:off x="4187952"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85" name="Text 83"/>
          <p:cNvSpPr txBox="1"/>
          <p:nvPr/>
        </p:nvSpPr>
        <p:spPr>
          <a:xfrm>
            <a:off x="4974336" y="523467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$129.41</a:t>
            </a:r>
            <a:endParaRPr lang="en-US" sz="1300" dirty="0"/>
          </a:p>
        </p:txBody>
      </p:sp>
      <p:sp>
        <p:nvSpPr>
          <p:cNvPr id="86" name="Text 84"/>
          <p:cNvSpPr txBox="1"/>
          <p:nvPr/>
        </p:nvSpPr>
        <p:spPr>
          <a:xfrm>
            <a:off x="658368"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87" name="Shape 85"/>
          <p:cNvSpPr/>
          <p:nvPr/>
        </p:nvSpPr>
        <p:spPr>
          <a:xfrm>
            <a:off x="2670048" y="5529162"/>
            <a:ext cx="451454" cy="117796"/>
          </a:xfrm>
          <a:prstGeom prst="rect">
            <a:avLst/>
          </a:prstGeom>
          <a:solidFill>
            <a:srgbClr val="12A566"/>
          </a:solidFill>
          <a:ln/>
        </p:spPr>
      </p:sp>
      <p:sp>
        <p:nvSpPr>
          <p:cNvPr id="88" name="Text 86"/>
          <p:cNvSpPr txBox="1"/>
          <p:nvPr/>
        </p:nvSpPr>
        <p:spPr>
          <a:xfrm>
            <a:off x="3511296" y="547026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89" name="Text 87"/>
          <p:cNvSpPr txBox="1"/>
          <p:nvPr/>
        </p:nvSpPr>
        <p:spPr>
          <a:xfrm>
            <a:off x="4187952"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90" name="Text 88"/>
          <p:cNvSpPr txBox="1"/>
          <p:nvPr/>
        </p:nvSpPr>
        <p:spPr>
          <a:xfrm>
            <a:off x="4974336" y="547026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$244.21</a:t>
            </a:r>
            <a:endParaRPr lang="en-US" sz="1300" dirty="0"/>
          </a:p>
        </p:txBody>
      </p:sp>
      <p:sp>
        <p:nvSpPr>
          <p:cNvPr id="91" name="Text 89"/>
          <p:cNvSpPr txBox="1"/>
          <p:nvPr/>
        </p:nvSpPr>
        <p:spPr>
          <a:xfrm>
            <a:off x="6208776" y="170078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2" name="Shape 90"/>
          <p:cNvSpPr/>
          <p:nvPr/>
        </p:nvSpPr>
        <p:spPr>
          <a:xfrm>
            <a:off x="8220456" y="1759682"/>
            <a:ext cx="438964" cy="117796"/>
          </a:xfrm>
          <a:prstGeom prst="rect">
            <a:avLst/>
          </a:prstGeom>
          <a:solidFill>
            <a:srgbClr val="12A566"/>
          </a:solidFill>
          <a:ln/>
        </p:spPr>
      </p:sp>
      <p:sp>
        <p:nvSpPr>
          <p:cNvPr id="93" name="Text 91"/>
          <p:cNvSpPr txBox="1"/>
          <p:nvPr/>
        </p:nvSpPr>
        <p:spPr>
          <a:xfrm>
            <a:off x="9061704" y="170078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94" name="Text 92"/>
          <p:cNvSpPr txBox="1"/>
          <p:nvPr/>
        </p:nvSpPr>
        <p:spPr>
          <a:xfrm>
            <a:off x="9738360" y="170078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95" name="Text 93"/>
          <p:cNvSpPr txBox="1"/>
          <p:nvPr/>
        </p:nvSpPr>
        <p:spPr>
          <a:xfrm>
            <a:off x="10524744" y="170078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$217.00</a:t>
            </a:r>
            <a:endParaRPr lang="en-US" sz="1300" dirty="0"/>
          </a:p>
        </p:txBody>
      </p:sp>
      <p:sp>
        <p:nvSpPr>
          <p:cNvPr id="96" name="Text 94"/>
          <p:cNvSpPr txBox="1"/>
          <p:nvPr/>
        </p:nvSpPr>
        <p:spPr>
          <a:xfrm>
            <a:off x="6208776" y="193637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97" name="Shape 95"/>
          <p:cNvSpPr/>
          <p:nvPr/>
        </p:nvSpPr>
        <p:spPr>
          <a:xfrm>
            <a:off x="8220456" y="1995275"/>
            <a:ext cx="436872" cy="117796"/>
          </a:xfrm>
          <a:prstGeom prst="rect">
            <a:avLst/>
          </a:prstGeom>
          <a:solidFill>
            <a:srgbClr val="12A566"/>
          </a:solidFill>
          <a:ln/>
        </p:spPr>
      </p:sp>
      <p:sp>
        <p:nvSpPr>
          <p:cNvPr id="98" name="Text 96"/>
          <p:cNvSpPr txBox="1"/>
          <p:nvPr/>
        </p:nvSpPr>
        <p:spPr>
          <a:xfrm>
            <a:off x="9061704" y="193637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99" name="Text 97"/>
          <p:cNvSpPr txBox="1"/>
          <p:nvPr/>
        </p:nvSpPr>
        <p:spPr>
          <a:xfrm>
            <a:off x="9738360" y="193637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00" name="Text 98"/>
          <p:cNvSpPr txBox="1"/>
          <p:nvPr/>
        </p:nvSpPr>
        <p:spPr>
          <a:xfrm>
            <a:off x="10524744" y="193637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$150.76</a:t>
            </a:r>
            <a:endParaRPr lang="en-US" sz="1300" dirty="0"/>
          </a:p>
        </p:txBody>
      </p:sp>
      <p:sp>
        <p:nvSpPr>
          <p:cNvPr id="101" name="Text 99"/>
          <p:cNvSpPr txBox="1"/>
          <p:nvPr/>
        </p:nvSpPr>
        <p:spPr>
          <a:xfrm>
            <a:off x="6208776" y="217196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02" name="Shape 100"/>
          <p:cNvSpPr/>
          <p:nvPr/>
        </p:nvSpPr>
        <p:spPr>
          <a:xfrm>
            <a:off x="8220456" y="2230867"/>
            <a:ext cx="434691" cy="117796"/>
          </a:xfrm>
          <a:prstGeom prst="rect">
            <a:avLst/>
          </a:prstGeom>
          <a:solidFill>
            <a:srgbClr val="12A566"/>
          </a:solidFill>
          <a:ln/>
        </p:spPr>
      </p:sp>
      <p:sp>
        <p:nvSpPr>
          <p:cNvPr id="103" name="Text 101"/>
          <p:cNvSpPr txBox="1"/>
          <p:nvPr/>
        </p:nvSpPr>
        <p:spPr>
          <a:xfrm>
            <a:off x="9061704" y="217196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104" name="Text 102"/>
          <p:cNvSpPr txBox="1"/>
          <p:nvPr/>
        </p:nvSpPr>
        <p:spPr>
          <a:xfrm>
            <a:off x="9738360" y="217196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105" name="Text 103"/>
          <p:cNvSpPr txBox="1"/>
          <p:nvPr/>
        </p:nvSpPr>
        <p:spPr>
          <a:xfrm>
            <a:off x="10524744" y="217196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$167.91</a:t>
            </a:r>
            <a:endParaRPr lang="en-US" sz="1300" dirty="0"/>
          </a:p>
        </p:txBody>
      </p:sp>
      <p:sp>
        <p:nvSpPr>
          <p:cNvPr id="106" name="Text 104"/>
          <p:cNvSpPr txBox="1"/>
          <p:nvPr/>
        </p:nvSpPr>
        <p:spPr>
          <a:xfrm>
            <a:off x="6208776" y="240756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7" name="Shape 105"/>
          <p:cNvSpPr/>
          <p:nvPr/>
        </p:nvSpPr>
        <p:spPr>
          <a:xfrm>
            <a:off x="8220456" y="2466460"/>
            <a:ext cx="433538" cy="117796"/>
          </a:xfrm>
          <a:prstGeom prst="rect">
            <a:avLst/>
          </a:prstGeom>
          <a:solidFill>
            <a:srgbClr val="12A566"/>
          </a:solidFill>
          <a:ln/>
        </p:spPr>
      </p:sp>
      <p:sp>
        <p:nvSpPr>
          <p:cNvPr id="108" name="Text 106"/>
          <p:cNvSpPr txBox="1"/>
          <p:nvPr/>
        </p:nvSpPr>
        <p:spPr>
          <a:xfrm>
            <a:off x="9061704" y="240756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09" name="Text 107"/>
          <p:cNvSpPr txBox="1"/>
          <p:nvPr/>
        </p:nvSpPr>
        <p:spPr>
          <a:xfrm>
            <a:off x="9738360" y="240756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10" name="Text 108"/>
          <p:cNvSpPr txBox="1"/>
          <p:nvPr/>
        </p:nvSpPr>
        <p:spPr>
          <a:xfrm>
            <a:off x="10524744" y="240756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$133.00</a:t>
            </a:r>
            <a:endParaRPr lang="en-US" sz="1300" dirty="0"/>
          </a:p>
        </p:txBody>
      </p:sp>
      <p:sp>
        <p:nvSpPr>
          <p:cNvPr id="111" name="Shape 109"/>
          <p:cNvSpPr/>
          <p:nvPr/>
        </p:nvSpPr>
        <p:spPr>
          <a:xfrm>
            <a:off x="6135624" y="2638582"/>
            <a:ext cx="5285232" cy="226448"/>
          </a:xfrm>
          <a:prstGeom prst="rect">
            <a:avLst/>
          </a:prstGeom>
          <a:solidFill>
            <a:srgbClr val="EDF4FA"/>
          </a:solidFill>
          <a:ln/>
        </p:spPr>
      </p:sp>
      <p:sp>
        <p:nvSpPr>
          <p:cNvPr id="112" name="Text 110"/>
          <p:cNvSpPr txBox="1"/>
          <p:nvPr/>
        </p:nvSpPr>
        <p:spPr>
          <a:xfrm>
            <a:off x="6208776" y="2643154"/>
            <a:ext cx="1938528" cy="235592"/>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113" name="Shape 111"/>
          <p:cNvSpPr/>
          <p:nvPr/>
        </p:nvSpPr>
        <p:spPr>
          <a:xfrm>
            <a:off x="8220456" y="2702052"/>
            <a:ext cx="430925" cy="117796"/>
          </a:xfrm>
          <a:prstGeom prst="rect">
            <a:avLst/>
          </a:prstGeom>
          <a:solidFill>
            <a:srgbClr val="0B2C4A"/>
          </a:solidFill>
          <a:ln/>
        </p:spPr>
      </p:sp>
      <p:sp>
        <p:nvSpPr>
          <p:cNvPr id="114" name="Text 112"/>
          <p:cNvSpPr txBox="1"/>
          <p:nvPr/>
        </p:nvSpPr>
        <p:spPr>
          <a:xfrm>
            <a:off x="9061704" y="2643154"/>
            <a:ext cx="676656"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74.7%</a:t>
            </a:r>
            <a:endParaRPr lang="en-US" sz="1300" dirty="0"/>
          </a:p>
        </p:txBody>
      </p:sp>
      <p:sp>
        <p:nvSpPr>
          <p:cNvPr id="115" name="Text 113"/>
          <p:cNvSpPr txBox="1"/>
          <p:nvPr/>
        </p:nvSpPr>
        <p:spPr>
          <a:xfrm>
            <a:off x="9738360" y="2643154"/>
            <a:ext cx="786384"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$163.67</a:t>
            </a:r>
            <a:endParaRPr lang="en-US" sz="1300" dirty="0"/>
          </a:p>
        </p:txBody>
      </p:sp>
      <p:sp>
        <p:nvSpPr>
          <p:cNvPr id="116" name="Text 114"/>
          <p:cNvSpPr txBox="1"/>
          <p:nvPr/>
        </p:nvSpPr>
        <p:spPr>
          <a:xfrm>
            <a:off x="10524744" y="2643154"/>
            <a:ext cx="841248" cy="235592"/>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$153.17</a:t>
            </a:r>
            <a:endParaRPr lang="en-US" sz="1300" dirty="0"/>
          </a:p>
        </p:txBody>
      </p:sp>
      <p:sp>
        <p:nvSpPr>
          <p:cNvPr id="117" name="Text 115"/>
          <p:cNvSpPr txBox="1"/>
          <p:nvPr/>
        </p:nvSpPr>
        <p:spPr>
          <a:xfrm>
            <a:off x="6208776" y="287874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18" name="Shape 116"/>
          <p:cNvSpPr/>
          <p:nvPr/>
        </p:nvSpPr>
        <p:spPr>
          <a:xfrm>
            <a:off x="8220456" y="2937644"/>
            <a:ext cx="419774" cy="117796"/>
          </a:xfrm>
          <a:prstGeom prst="rect">
            <a:avLst/>
          </a:prstGeom>
          <a:solidFill>
            <a:srgbClr val="12A566"/>
          </a:solidFill>
          <a:ln/>
        </p:spPr>
      </p:sp>
      <p:sp>
        <p:nvSpPr>
          <p:cNvPr id="119" name="Text 117"/>
          <p:cNvSpPr txBox="1"/>
          <p:nvPr/>
        </p:nvSpPr>
        <p:spPr>
          <a:xfrm>
            <a:off x="9061704" y="2878746"/>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20" name="Text 118"/>
          <p:cNvSpPr txBox="1"/>
          <p:nvPr/>
        </p:nvSpPr>
        <p:spPr>
          <a:xfrm>
            <a:off x="9738360" y="287874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21" name="Text 119"/>
          <p:cNvSpPr txBox="1"/>
          <p:nvPr/>
        </p:nvSpPr>
        <p:spPr>
          <a:xfrm>
            <a:off x="10524744" y="287874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122" name="Text 120"/>
          <p:cNvSpPr txBox="1"/>
          <p:nvPr/>
        </p:nvSpPr>
        <p:spPr>
          <a:xfrm>
            <a:off x="6208776" y="311433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23" name="Shape 121"/>
          <p:cNvSpPr/>
          <p:nvPr/>
        </p:nvSpPr>
        <p:spPr>
          <a:xfrm>
            <a:off x="8220456" y="3173237"/>
            <a:ext cx="410628" cy="117796"/>
          </a:xfrm>
          <a:prstGeom prst="rect">
            <a:avLst/>
          </a:prstGeom>
          <a:solidFill>
            <a:srgbClr val="12A566"/>
          </a:solidFill>
          <a:ln/>
        </p:spPr>
      </p:sp>
      <p:sp>
        <p:nvSpPr>
          <p:cNvPr id="124" name="Text 122"/>
          <p:cNvSpPr txBox="1"/>
          <p:nvPr/>
        </p:nvSpPr>
        <p:spPr>
          <a:xfrm>
            <a:off x="9061704" y="3114339"/>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125" name="Text 123"/>
          <p:cNvSpPr txBox="1"/>
          <p:nvPr/>
        </p:nvSpPr>
        <p:spPr>
          <a:xfrm>
            <a:off x="9738360" y="311433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126" name="Text 124"/>
          <p:cNvSpPr txBox="1"/>
          <p:nvPr/>
        </p:nvSpPr>
        <p:spPr>
          <a:xfrm>
            <a:off x="10524744" y="311433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$147.88</a:t>
            </a:r>
            <a:endParaRPr lang="en-US" sz="1300" dirty="0"/>
          </a:p>
        </p:txBody>
      </p:sp>
      <p:sp>
        <p:nvSpPr>
          <p:cNvPr id="127" name="Text 125"/>
          <p:cNvSpPr txBox="1"/>
          <p:nvPr/>
        </p:nvSpPr>
        <p:spPr>
          <a:xfrm>
            <a:off x="6208776" y="334993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28" name="Shape 126"/>
          <p:cNvSpPr/>
          <p:nvPr/>
        </p:nvSpPr>
        <p:spPr>
          <a:xfrm>
            <a:off x="8220456" y="3408829"/>
            <a:ext cx="401598" cy="117796"/>
          </a:xfrm>
          <a:prstGeom prst="rect">
            <a:avLst/>
          </a:prstGeom>
          <a:solidFill>
            <a:srgbClr val="12A566"/>
          </a:solidFill>
          <a:ln/>
        </p:spPr>
      </p:sp>
      <p:sp>
        <p:nvSpPr>
          <p:cNvPr id="129" name="Text 127"/>
          <p:cNvSpPr txBox="1"/>
          <p:nvPr/>
        </p:nvSpPr>
        <p:spPr>
          <a:xfrm>
            <a:off x="9061704" y="3349931"/>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130" name="Text 128"/>
          <p:cNvSpPr txBox="1"/>
          <p:nvPr/>
        </p:nvSpPr>
        <p:spPr>
          <a:xfrm>
            <a:off x="9738360" y="334993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131" name="Text 129"/>
          <p:cNvSpPr txBox="1"/>
          <p:nvPr/>
        </p:nvSpPr>
        <p:spPr>
          <a:xfrm>
            <a:off x="10524744" y="334993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$148.31</a:t>
            </a:r>
            <a:endParaRPr lang="en-US" sz="1300" dirty="0"/>
          </a:p>
        </p:txBody>
      </p:sp>
      <p:sp>
        <p:nvSpPr>
          <p:cNvPr id="132" name="Text 130"/>
          <p:cNvSpPr txBox="1"/>
          <p:nvPr/>
        </p:nvSpPr>
        <p:spPr>
          <a:xfrm>
            <a:off x="6208776" y="358552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133" name="Shape 131"/>
          <p:cNvSpPr/>
          <p:nvPr/>
        </p:nvSpPr>
        <p:spPr>
          <a:xfrm>
            <a:off x="8220456" y="3644422"/>
            <a:ext cx="379643" cy="117796"/>
          </a:xfrm>
          <a:prstGeom prst="rect">
            <a:avLst/>
          </a:prstGeom>
          <a:solidFill>
            <a:srgbClr val="12A566"/>
          </a:solidFill>
          <a:ln/>
        </p:spPr>
      </p:sp>
      <p:sp>
        <p:nvSpPr>
          <p:cNvPr id="134" name="Text 132"/>
          <p:cNvSpPr txBox="1"/>
          <p:nvPr/>
        </p:nvSpPr>
        <p:spPr>
          <a:xfrm>
            <a:off x="9061704" y="3585524"/>
            <a:ext cx="676656" cy="235592"/>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135" name="Text 133"/>
          <p:cNvSpPr txBox="1"/>
          <p:nvPr/>
        </p:nvSpPr>
        <p:spPr>
          <a:xfrm>
            <a:off x="9738360" y="358552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136" name="Text 134"/>
          <p:cNvSpPr txBox="1"/>
          <p:nvPr/>
        </p:nvSpPr>
        <p:spPr>
          <a:xfrm>
            <a:off x="10524744" y="358552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$148.31</a:t>
            </a:r>
            <a:endParaRPr lang="en-US" sz="1300" dirty="0"/>
          </a:p>
        </p:txBody>
      </p:sp>
      <p:sp>
        <p:nvSpPr>
          <p:cNvPr id="137" name="Text 135"/>
          <p:cNvSpPr txBox="1"/>
          <p:nvPr/>
        </p:nvSpPr>
        <p:spPr>
          <a:xfrm>
            <a:off x="6208776" y="382111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38" name="Shape 136"/>
          <p:cNvSpPr/>
          <p:nvPr/>
        </p:nvSpPr>
        <p:spPr>
          <a:xfrm>
            <a:off x="8220456" y="3880014"/>
            <a:ext cx="353585" cy="117796"/>
          </a:xfrm>
          <a:prstGeom prst="rect">
            <a:avLst/>
          </a:prstGeom>
          <a:solidFill>
            <a:srgbClr val="C2352F"/>
          </a:solidFill>
          <a:ln/>
        </p:spPr>
      </p:sp>
      <p:sp>
        <p:nvSpPr>
          <p:cNvPr id="139" name="Text 137"/>
          <p:cNvSpPr txBox="1"/>
          <p:nvPr/>
        </p:nvSpPr>
        <p:spPr>
          <a:xfrm>
            <a:off x="9061704" y="382111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140" name="Text 138"/>
          <p:cNvSpPr txBox="1"/>
          <p:nvPr/>
        </p:nvSpPr>
        <p:spPr>
          <a:xfrm>
            <a:off x="9738360" y="382111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141" name="Text 139"/>
          <p:cNvSpPr txBox="1"/>
          <p:nvPr/>
        </p:nvSpPr>
        <p:spPr>
          <a:xfrm>
            <a:off x="10524744" y="382111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$153.91</a:t>
            </a:r>
            <a:endParaRPr lang="en-US" sz="1300" dirty="0"/>
          </a:p>
        </p:txBody>
      </p:sp>
      <p:sp>
        <p:nvSpPr>
          <p:cNvPr id="142" name="Text 140"/>
          <p:cNvSpPr txBox="1"/>
          <p:nvPr/>
        </p:nvSpPr>
        <p:spPr>
          <a:xfrm>
            <a:off x="6208776" y="405670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43" name="Shape 141"/>
          <p:cNvSpPr/>
          <p:nvPr/>
        </p:nvSpPr>
        <p:spPr>
          <a:xfrm>
            <a:off x="8220456" y="4115607"/>
            <a:ext cx="350355" cy="117796"/>
          </a:xfrm>
          <a:prstGeom prst="rect">
            <a:avLst/>
          </a:prstGeom>
          <a:solidFill>
            <a:srgbClr val="C2352F"/>
          </a:solidFill>
          <a:ln/>
        </p:spPr>
      </p:sp>
      <p:sp>
        <p:nvSpPr>
          <p:cNvPr id="144" name="Text 142"/>
          <p:cNvSpPr txBox="1"/>
          <p:nvPr/>
        </p:nvSpPr>
        <p:spPr>
          <a:xfrm>
            <a:off x="9061704" y="405670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45" name="Text 143"/>
          <p:cNvSpPr txBox="1"/>
          <p:nvPr/>
        </p:nvSpPr>
        <p:spPr>
          <a:xfrm>
            <a:off x="9738360" y="405670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46" name="Text 144"/>
          <p:cNvSpPr txBox="1"/>
          <p:nvPr/>
        </p:nvSpPr>
        <p:spPr>
          <a:xfrm>
            <a:off x="10524744" y="405670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$171.41</a:t>
            </a:r>
            <a:endParaRPr lang="en-US" sz="1300" dirty="0"/>
          </a:p>
        </p:txBody>
      </p:sp>
      <p:sp>
        <p:nvSpPr>
          <p:cNvPr id="147" name="Text 145"/>
          <p:cNvSpPr txBox="1"/>
          <p:nvPr/>
        </p:nvSpPr>
        <p:spPr>
          <a:xfrm>
            <a:off x="6208776" y="429230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48" name="Shape 146"/>
          <p:cNvSpPr/>
          <p:nvPr/>
        </p:nvSpPr>
        <p:spPr>
          <a:xfrm>
            <a:off x="8220456" y="4351199"/>
            <a:ext cx="340887" cy="117796"/>
          </a:xfrm>
          <a:prstGeom prst="rect">
            <a:avLst/>
          </a:prstGeom>
          <a:solidFill>
            <a:srgbClr val="C2352F"/>
          </a:solidFill>
          <a:ln/>
        </p:spPr>
      </p:sp>
      <p:sp>
        <p:nvSpPr>
          <p:cNvPr id="149" name="Text 147"/>
          <p:cNvSpPr txBox="1"/>
          <p:nvPr/>
        </p:nvSpPr>
        <p:spPr>
          <a:xfrm>
            <a:off x="9061704" y="429230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50" name="Text 148"/>
          <p:cNvSpPr txBox="1"/>
          <p:nvPr/>
        </p:nvSpPr>
        <p:spPr>
          <a:xfrm>
            <a:off x="9738360" y="429230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51" name="Text 149"/>
          <p:cNvSpPr txBox="1"/>
          <p:nvPr/>
        </p:nvSpPr>
        <p:spPr>
          <a:xfrm>
            <a:off x="10524744" y="429230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$129.50</a:t>
            </a:r>
            <a:endParaRPr lang="en-US" sz="1300" dirty="0"/>
          </a:p>
        </p:txBody>
      </p:sp>
      <p:sp>
        <p:nvSpPr>
          <p:cNvPr id="152" name="Text 150"/>
          <p:cNvSpPr txBox="1"/>
          <p:nvPr/>
        </p:nvSpPr>
        <p:spPr>
          <a:xfrm>
            <a:off x="6208776" y="452789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53" name="Shape 151"/>
          <p:cNvSpPr/>
          <p:nvPr/>
        </p:nvSpPr>
        <p:spPr>
          <a:xfrm>
            <a:off x="8220456" y="4586792"/>
            <a:ext cx="331691" cy="117796"/>
          </a:xfrm>
          <a:prstGeom prst="rect">
            <a:avLst/>
          </a:prstGeom>
          <a:solidFill>
            <a:srgbClr val="C2352F"/>
          </a:solidFill>
          <a:ln/>
        </p:spPr>
      </p:sp>
      <p:sp>
        <p:nvSpPr>
          <p:cNvPr id="154" name="Text 152"/>
          <p:cNvSpPr txBox="1"/>
          <p:nvPr/>
        </p:nvSpPr>
        <p:spPr>
          <a:xfrm>
            <a:off x="9061704" y="452789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55" name="Text 153"/>
          <p:cNvSpPr txBox="1"/>
          <p:nvPr/>
        </p:nvSpPr>
        <p:spPr>
          <a:xfrm>
            <a:off x="9738360" y="452789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56" name="Text 154"/>
          <p:cNvSpPr txBox="1"/>
          <p:nvPr/>
        </p:nvSpPr>
        <p:spPr>
          <a:xfrm>
            <a:off x="10524744" y="452789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$154.00</a:t>
            </a:r>
            <a:endParaRPr lang="en-US" sz="1300" dirty="0"/>
          </a:p>
        </p:txBody>
      </p:sp>
      <p:sp>
        <p:nvSpPr>
          <p:cNvPr id="157" name="Text 155"/>
          <p:cNvSpPr txBox="1"/>
          <p:nvPr/>
        </p:nvSpPr>
        <p:spPr>
          <a:xfrm>
            <a:off x="6208776" y="4763486"/>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58" name="Shape 156"/>
          <p:cNvSpPr/>
          <p:nvPr/>
        </p:nvSpPr>
        <p:spPr>
          <a:xfrm>
            <a:off x="8220456" y="4822384"/>
            <a:ext cx="329103" cy="117796"/>
          </a:xfrm>
          <a:prstGeom prst="rect">
            <a:avLst/>
          </a:prstGeom>
          <a:solidFill>
            <a:srgbClr val="C2352F"/>
          </a:solidFill>
          <a:ln/>
        </p:spPr>
      </p:sp>
      <p:sp>
        <p:nvSpPr>
          <p:cNvPr id="159" name="Text 157"/>
          <p:cNvSpPr txBox="1"/>
          <p:nvPr/>
        </p:nvSpPr>
        <p:spPr>
          <a:xfrm>
            <a:off x="9061704" y="4763486"/>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60" name="Text 158"/>
          <p:cNvSpPr txBox="1"/>
          <p:nvPr/>
        </p:nvSpPr>
        <p:spPr>
          <a:xfrm>
            <a:off x="9738360" y="4763486"/>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61" name="Text 159"/>
          <p:cNvSpPr txBox="1"/>
          <p:nvPr/>
        </p:nvSpPr>
        <p:spPr>
          <a:xfrm>
            <a:off x="10524744" y="4763486"/>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$147.00</a:t>
            </a:r>
            <a:endParaRPr lang="en-US" sz="1300" dirty="0"/>
          </a:p>
        </p:txBody>
      </p:sp>
      <p:sp>
        <p:nvSpPr>
          <p:cNvPr id="162" name="Text 160"/>
          <p:cNvSpPr txBox="1"/>
          <p:nvPr/>
        </p:nvSpPr>
        <p:spPr>
          <a:xfrm>
            <a:off x="6208776" y="4999079"/>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163" name="Shape 161"/>
          <p:cNvSpPr/>
          <p:nvPr/>
        </p:nvSpPr>
        <p:spPr>
          <a:xfrm>
            <a:off x="8220456" y="5057977"/>
            <a:ext cx="310047" cy="117796"/>
          </a:xfrm>
          <a:prstGeom prst="rect">
            <a:avLst/>
          </a:prstGeom>
          <a:solidFill>
            <a:srgbClr val="C2352F"/>
          </a:solidFill>
          <a:ln/>
        </p:spPr>
      </p:sp>
      <p:sp>
        <p:nvSpPr>
          <p:cNvPr id="164" name="Text 162"/>
          <p:cNvSpPr txBox="1"/>
          <p:nvPr/>
        </p:nvSpPr>
        <p:spPr>
          <a:xfrm>
            <a:off x="9061704" y="4999079"/>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165" name="Text 163"/>
          <p:cNvSpPr txBox="1"/>
          <p:nvPr/>
        </p:nvSpPr>
        <p:spPr>
          <a:xfrm>
            <a:off x="9738360" y="4999079"/>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166" name="Text 164"/>
          <p:cNvSpPr txBox="1"/>
          <p:nvPr/>
        </p:nvSpPr>
        <p:spPr>
          <a:xfrm>
            <a:off x="10524744" y="4999079"/>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$157.41</a:t>
            </a:r>
            <a:endParaRPr lang="en-US" sz="1300" dirty="0"/>
          </a:p>
        </p:txBody>
      </p:sp>
      <p:sp>
        <p:nvSpPr>
          <p:cNvPr id="167" name="Text 165"/>
          <p:cNvSpPr txBox="1"/>
          <p:nvPr/>
        </p:nvSpPr>
        <p:spPr>
          <a:xfrm>
            <a:off x="6208776" y="5234671"/>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68" name="Shape 166"/>
          <p:cNvSpPr/>
          <p:nvPr/>
        </p:nvSpPr>
        <p:spPr>
          <a:xfrm>
            <a:off x="8220456" y="5293569"/>
            <a:ext cx="307379" cy="117796"/>
          </a:xfrm>
          <a:prstGeom prst="rect">
            <a:avLst/>
          </a:prstGeom>
          <a:solidFill>
            <a:srgbClr val="C2352F"/>
          </a:solidFill>
          <a:ln/>
        </p:spPr>
      </p:sp>
      <p:sp>
        <p:nvSpPr>
          <p:cNvPr id="169" name="Text 167"/>
          <p:cNvSpPr txBox="1"/>
          <p:nvPr/>
        </p:nvSpPr>
        <p:spPr>
          <a:xfrm>
            <a:off x="9061704" y="5234671"/>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70" name="Text 168"/>
          <p:cNvSpPr txBox="1"/>
          <p:nvPr/>
        </p:nvSpPr>
        <p:spPr>
          <a:xfrm>
            <a:off x="9738360" y="5234671"/>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71" name="Text 169"/>
          <p:cNvSpPr txBox="1"/>
          <p:nvPr/>
        </p:nvSpPr>
        <p:spPr>
          <a:xfrm>
            <a:off x="10524744" y="5234671"/>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$147.00</a:t>
            </a:r>
            <a:endParaRPr lang="en-US" sz="1300" dirty="0"/>
          </a:p>
        </p:txBody>
      </p:sp>
      <p:sp>
        <p:nvSpPr>
          <p:cNvPr id="172" name="Text 170"/>
          <p:cNvSpPr txBox="1"/>
          <p:nvPr/>
        </p:nvSpPr>
        <p:spPr>
          <a:xfrm>
            <a:off x="6208776" y="5470264"/>
            <a:ext cx="1938528" cy="235592"/>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173" name="Shape 171"/>
          <p:cNvSpPr/>
          <p:nvPr/>
        </p:nvSpPr>
        <p:spPr>
          <a:xfrm>
            <a:off x="8220456" y="5529162"/>
            <a:ext cx="267128" cy="117796"/>
          </a:xfrm>
          <a:prstGeom prst="rect">
            <a:avLst/>
          </a:prstGeom>
          <a:solidFill>
            <a:srgbClr val="C2352F"/>
          </a:solidFill>
          <a:ln/>
        </p:spPr>
      </p:sp>
      <p:sp>
        <p:nvSpPr>
          <p:cNvPr id="174" name="Text 172"/>
          <p:cNvSpPr txBox="1"/>
          <p:nvPr/>
        </p:nvSpPr>
        <p:spPr>
          <a:xfrm>
            <a:off x="9061704" y="5470264"/>
            <a:ext cx="676656" cy="235592"/>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175" name="Text 173"/>
          <p:cNvSpPr txBox="1"/>
          <p:nvPr/>
        </p:nvSpPr>
        <p:spPr>
          <a:xfrm>
            <a:off x="9738360" y="5470264"/>
            <a:ext cx="786384"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76" name="Text 174"/>
          <p:cNvSpPr txBox="1"/>
          <p:nvPr/>
        </p:nvSpPr>
        <p:spPr>
          <a:xfrm>
            <a:off x="10524744" y="5470264"/>
            <a:ext cx="841248" cy="235592"/>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$199.50</a:t>
            </a:r>
            <a:endParaRPr lang="en-US" sz="1300" dirty="0"/>
          </a:p>
        </p:txBody>
      </p:sp>
      <p:sp>
        <p:nvSpPr>
          <p:cNvPr id="177" name="Text 175"/>
          <p:cNvSpPr txBox="1"/>
          <p:nvPr/>
        </p:nvSpPr>
        <p:spPr>
          <a:xfrm>
            <a:off x="3511296"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78" name="Text 176"/>
          <p:cNvSpPr txBox="1"/>
          <p:nvPr/>
        </p:nvSpPr>
        <p:spPr>
          <a:xfrm>
            <a:off x="4187952"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79" name="Text 177"/>
          <p:cNvSpPr txBox="1"/>
          <p:nvPr/>
        </p:nvSpPr>
        <p:spPr>
          <a:xfrm>
            <a:off x="4974336" y="1316736"/>
            <a:ext cx="841248"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70% TGT</a:t>
            </a:r>
            <a:endParaRPr lang="en-US" sz="1400" dirty="0"/>
          </a:p>
        </p:txBody>
      </p:sp>
      <p:sp>
        <p:nvSpPr>
          <p:cNvPr id="180" name="Text 178"/>
          <p:cNvSpPr txBox="1"/>
          <p:nvPr/>
        </p:nvSpPr>
        <p:spPr>
          <a:xfrm>
            <a:off x="9061704" y="1316736"/>
            <a:ext cx="676656"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81" name="Text 179"/>
          <p:cNvSpPr txBox="1"/>
          <p:nvPr/>
        </p:nvSpPr>
        <p:spPr>
          <a:xfrm>
            <a:off x="9738360" y="1316736"/>
            <a:ext cx="786384"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82" name="Text 180"/>
          <p:cNvSpPr txBox="1"/>
          <p:nvPr/>
        </p:nvSpPr>
        <p:spPr>
          <a:xfrm>
            <a:off x="10524744" y="1316736"/>
            <a:ext cx="841248" cy="292608"/>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70% TGT</a:t>
            </a:r>
            <a:endParaRPr lang="en-US" sz="1400" dirty="0"/>
          </a:p>
        </p:txBody>
      </p:sp>
      <p:sp>
        <p:nvSpPr>
          <p:cNvPr id="183" name="Shape 181"/>
          <p:cNvSpPr/>
          <p:nvPr/>
        </p:nvSpPr>
        <p:spPr>
          <a:xfrm>
            <a:off x="3034261" y="1700784"/>
            <a:ext cx="14630" cy="4005072"/>
          </a:xfrm>
          <a:prstGeom prst="rect">
            <a:avLst/>
          </a:prstGeom>
          <a:solidFill>
            <a:srgbClr val="0B2C4A"/>
          </a:solidFill>
          <a:ln/>
        </p:spPr>
      </p:sp>
      <p:sp>
        <p:nvSpPr>
          <p:cNvPr id="184" name="Text 182"/>
          <p:cNvSpPr txBox="1"/>
          <p:nvPr/>
        </p:nvSpPr>
        <p:spPr>
          <a:xfrm>
            <a:off x="2492936"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5" name="Shape 183"/>
          <p:cNvSpPr/>
          <p:nvPr/>
        </p:nvSpPr>
        <p:spPr>
          <a:xfrm>
            <a:off x="8584669" y="1700784"/>
            <a:ext cx="14630" cy="4005072"/>
          </a:xfrm>
          <a:prstGeom prst="rect">
            <a:avLst/>
          </a:prstGeom>
          <a:solidFill>
            <a:srgbClr val="0B2C4A"/>
          </a:solidFill>
          <a:ln/>
        </p:spPr>
      </p:sp>
      <p:sp>
        <p:nvSpPr>
          <p:cNvPr id="186" name="Text 184"/>
          <p:cNvSpPr txBox="1"/>
          <p:nvPr/>
        </p:nvSpPr>
        <p:spPr>
          <a:xfrm>
            <a:off x="8043344" y="1316736"/>
            <a:ext cx="1097280" cy="292608"/>
          </a:xfrm>
          <a:prstGeom prst="rect">
            <a:avLst/>
          </a:prstGeom>
          <a:noFill/>
          <a:ln/>
        </p:spPr>
        <p:txBody>
          <a:bodyPr wrap="none" lIns="0" tIns="0" rIns="0" bIns="0" rtlCol="0" anchor="ctr"/>
          <a:lstStyle/>
          <a:p>
            <a:pPr algn="ctr" indent="0" marL="0">
              <a:buNone/>
            </a:pPr>
            <a:r>
              <a:rPr lang="en-US" sz="1400" b="1" dirty="0">
                <a:solidFill>
                  <a:srgbClr val="0B2C4A"/>
                </a:solidFill>
                <a:latin typeface="Inter" pitchFamily="34" charset="0"/>
                <a:ea typeface="Inter" pitchFamily="34" charset="-122"/>
                <a:cs typeface="Inter" pitchFamily="34" charset="-120"/>
              </a:rPr>
              <a:t>70.0% LINE</a:t>
            </a:r>
            <a:endParaRPr lang="en-US" sz="1400" dirty="0"/>
          </a:p>
        </p:txBody>
      </p:sp>
      <p:sp>
        <p:nvSpPr>
          <p:cNvPr id="187" name="Shape 185"/>
          <p:cNvSpPr/>
          <p:nvPr/>
        </p:nvSpPr>
        <p:spPr>
          <a:xfrm>
            <a:off x="457200" y="5961888"/>
            <a:ext cx="11274552" cy="548640"/>
          </a:xfrm>
          <a:prstGeom prst="rect">
            <a:avLst/>
          </a:prstGeom>
          <a:solidFill>
            <a:srgbClr val="EDF4FA"/>
          </a:solidFill>
          <a:ln/>
        </p:spPr>
      </p:sp>
      <p:sp>
        <p:nvSpPr>
          <p:cNvPr id="188" name="Text 18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25 of 33 stores at or above 70% of door rate. CADILLAC runs $175.47 against a $199.50 target.</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ELR % of Door Rate</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2761488"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LABOR GRID · 17 STORES</a:t>
            </a:r>
            <a:endParaRPr lang="en-US" sz="1400" dirty="0"/>
          </a:p>
        </p:txBody>
      </p:sp>
      <p:sp>
        <p:nvSpPr>
          <p:cNvPr id="7" name="Text 5"/>
          <p:cNvSpPr txBox="1"/>
          <p:nvPr/>
        </p:nvSpPr>
        <p:spPr>
          <a:xfrm>
            <a:off x="3547872"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8" name="Text 6"/>
          <p:cNvSpPr txBox="1"/>
          <p:nvPr/>
        </p:nvSpPr>
        <p:spPr>
          <a:xfrm>
            <a:off x="4297680"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9" name="Text 7"/>
          <p:cNvSpPr txBox="1"/>
          <p:nvPr/>
        </p:nvSpPr>
        <p:spPr>
          <a:xfrm>
            <a:off x="5084064"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 name="Text 8"/>
          <p:cNvSpPr txBox="1"/>
          <p:nvPr/>
        </p:nvSpPr>
        <p:spPr>
          <a:xfrm>
            <a:off x="658368"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1" name="Shape 9"/>
          <p:cNvSpPr/>
          <p:nvPr/>
        </p:nvSpPr>
        <p:spPr>
          <a:xfrm>
            <a:off x="2651760" y="1811020"/>
            <a:ext cx="841248" cy="110744"/>
          </a:xfrm>
          <a:prstGeom prst="rect">
            <a:avLst/>
          </a:prstGeom>
          <a:solidFill>
            <a:srgbClr val="12A566"/>
          </a:solidFill>
          <a:ln/>
        </p:spPr>
      </p:sp>
      <p:sp>
        <p:nvSpPr>
          <p:cNvPr id="12" name="Text 10"/>
          <p:cNvSpPr txBox="1"/>
          <p:nvPr/>
        </p:nvSpPr>
        <p:spPr>
          <a:xfrm>
            <a:off x="3547872" y="175564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103.4%</a:t>
            </a:r>
            <a:endParaRPr lang="en-US" sz="1300" dirty="0"/>
          </a:p>
        </p:txBody>
      </p:sp>
      <p:sp>
        <p:nvSpPr>
          <p:cNvPr id="13" name="Text 11"/>
          <p:cNvSpPr txBox="1"/>
          <p:nvPr/>
        </p:nvSpPr>
        <p:spPr>
          <a:xfrm>
            <a:off x="4297680"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$244.12</a:t>
            </a:r>
            <a:endParaRPr lang="en-US" sz="1300" dirty="0"/>
          </a:p>
        </p:txBody>
      </p:sp>
      <p:sp>
        <p:nvSpPr>
          <p:cNvPr id="14" name="Text 12"/>
          <p:cNvSpPr txBox="1"/>
          <p:nvPr/>
        </p:nvSpPr>
        <p:spPr>
          <a:xfrm>
            <a:off x="5084064"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$235.87</a:t>
            </a:r>
            <a:endParaRPr lang="en-US" sz="1300" dirty="0"/>
          </a:p>
        </p:txBody>
      </p:sp>
      <p:sp>
        <p:nvSpPr>
          <p:cNvPr id="15" name="Text 13"/>
          <p:cNvSpPr txBox="1"/>
          <p:nvPr/>
        </p:nvSpPr>
        <p:spPr>
          <a:xfrm>
            <a:off x="658368"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16" name="Shape 14"/>
          <p:cNvSpPr/>
          <p:nvPr/>
        </p:nvSpPr>
        <p:spPr>
          <a:xfrm>
            <a:off x="2651760" y="2032508"/>
            <a:ext cx="661778" cy="110744"/>
          </a:xfrm>
          <a:prstGeom prst="rect">
            <a:avLst/>
          </a:prstGeom>
          <a:solidFill>
            <a:srgbClr val="12A566"/>
          </a:solidFill>
          <a:ln/>
        </p:spPr>
      </p:sp>
      <p:sp>
        <p:nvSpPr>
          <p:cNvPr id="17" name="Text 15"/>
          <p:cNvSpPr txBox="1"/>
          <p:nvPr/>
        </p:nvSpPr>
        <p:spPr>
          <a:xfrm>
            <a:off x="3547872" y="197713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89.9%</a:t>
            </a:r>
            <a:endParaRPr lang="en-US" sz="1300" dirty="0"/>
          </a:p>
        </p:txBody>
      </p:sp>
      <p:sp>
        <p:nvSpPr>
          <p:cNvPr id="18" name="Text 16"/>
          <p:cNvSpPr txBox="1"/>
          <p:nvPr/>
        </p:nvSpPr>
        <p:spPr>
          <a:xfrm>
            <a:off x="4297680"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$161.80</a:t>
            </a:r>
            <a:endParaRPr lang="en-US" sz="1300" dirty="0"/>
          </a:p>
        </p:txBody>
      </p:sp>
      <p:sp>
        <p:nvSpPr>
          <p:cNvPr id="19" name="Text 17"/>
          <p:cNvSpPr txBox="1"/>
          <p:nvPr/>
        </p:nvSpPr>
        <p:spPr>
          <a:xfrm>
            <a:off x="5084064"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$179.87</a:t>
            </a:r>
            <a:endParaRPr lang="en-US" sz="1300" dirty="0"/>
          </a:p>
        </p:txBody>
      </p:sp>
      <p:sp>
        <p:nvSpPr>
          <p:cNvPr id="20" name="Text 18"/>
          <p:cNvSpPr txBox="1"/>
          <p:nvPr/>
        </p:nvSpPr>
        <p:spPr>
          <a:xfrm>
            <a:off x="658368"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 name="Shape 19"/>
          <p:cNvSpPr/>
          <p:nvPr/>
        </p:nvSpPr>
        <p:spPr>
          <a:xfrm>
            <a:off x="2651760" y="2253996"/>
            <a:ext cx="659376" cy="110744"/>
          </a:xfrm>
          <a:prstGeom prst="rect">
            <a:avLst/>
          </a:prstGeom>
          <a:solidFill>
            <a:srgbClr val="12A566"/>
          </a:solidFill>
          <a:ln/>
        </p:spPr>
      </p:sp>
      <p:sp>
        <p:nvSpPr>
          <p:cNvPr id="22" name="Text 20"/>
          <p:cNvSpPr txBox="1"/>
          <p:nvPr/>
        </p:nvSpPr>
        <p:spPr>
          <a:xfrm>
            <a:off x="3547872" y="219862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89.7%</a:t>
            </a:r>
            <a:endParaRPr lang="en-US" sz="1300" dirty="0"/>
          </a:p>
        </p:txBody>
      </p:sp>
      <p:sp>
        <p:nvSpPr>
          <p:cNvPr id="23" name="Text 21"/>
          <p:cNvSpPr txBox="1"/>
          <p:nvPr/>
        </p:nvSpPr>
        <p:spPr>
          <a:xfrm>
            <a:off x="4297680"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$165.96</a:t>
            </a:r>
            <a:endParaRPr lang="en-US" sz="1300" dirty="0"/>
          </a:p>
        </p:txBody>
      </p:sp>
      <p:sp>
        <p:nvSpPr>
          <p:cNvPr id="24" name="Text 22"/>
          <p:cNvSpPr txBox="1"/>
          <p:nvPr/>
        </p:nvSpPr>
        <p:spPr>
          <a:xfrm>
            <a:off x="5084064"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25" name="Text 23"/>
          <p:cNvSpPr txBox="1"/>
          <p:nvPr/>
        </p:nvSpPr>
        <p:spPr>
          <a:xfrm>
            <a:off x="658368"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6" name="Shape 24"/>
          <p:cNvSpPr/>
          <p:nvPr/>
        </p:nvSpPr>
        <p:spPr>
          <a:xfrm>
            <a:off x="2651760" y="2475484"/>
            <a:ext cx="642710" cy="110744"/>
          </a:xfrm>
          <a:prstGeom prst="rect">
            <a:avLst/>
          </a:prstGeom>
          <a:solidFill>
            <a:srgbClr val="12A566"/>
          </a:solidFill>
          <a:ln/>
        </p:spPr>
      </p:sp>
      <p:sp>
        <p:nvSpPr>
          <p:cNvPr id="27" name="Text 25"/>
          <p:cNvSpPr txBox="1"/>
          <p:nvPr/>
        </p:nvSpPr>
        <p:spPr>
          <a:xfrm>
            <a:off x="3547872" y="242011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88.5%</a:t>
            </a:r>
            <a:endParaRPr lang="en-US" sz="1300" dirty="0"/>
          </a:p>
        </p:txBody>
      </p:sp>
      <p:sp>
        <p:nvSpPr>
          <p:cNvPr id="28" name="Text 26"/>
          <p:cNvSpPr txBox="1"/>
          <p:nvPr/>
        </p:nvSpPr>
        <p:spPr>
          <a:xfrm>
            <a:off x="4297680"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$199.04</a:t>
            </a:r>
            <a:endParaRPr lang="en-US" sz="1300" dirty="0"/>
          </a:p>
        </p:txBody>
      </p:sp>
      <p:sp>
        <p:nvSpPr>
          <p:cNvPr id="29" name="Text 27"/>
          <p:cNvSpPr txBox="1"/>
          <p:nvPr/>
        </p:nvSpPr>
        <p:spPr>
          <a:xfrm>
            <a:off x="5084064"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30" name="Text 28"/>
          <p:cNvSpPr txBox="1"/>
          <p:nvPr/>
        </p:nvSpPr>
        <p:spPr>
          <a:xfrm>
            <a:off x="658368"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1" name="Shape 29"/>
          <p:cNvSpPr/>
          <p:nvPr/>
        </p:nvSpPr>
        <p:spPr>
          <a:xfrm>
            <a:off x="2651760" y="2696972"/>
            <a:ext cx="523587" cy="110744"/>
          </a:xfrm>
          <a:prstGeom prst="rect">
            <a:avLst/>
          </a:prstGeom>
          <a:solidFill>
            <a:srgbClr val="12A566"/>
          </a:solidFill>
          <a:ln/>
        </p:spPr>
      </p:sp>
      <p:sp>
        <p:nvSpPr>
          <p:cNvPr id="32" name="Text 30"/>
          <p:cNvSpPr txBox="1"/>
          <p:nvPr/>
        </p:nvSpPr>
        <p:spPr>
          <a:xfrm>
            <a:off x="3547872" y="264160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79.5%</a:t>
            </a:r>
            <a:endParaRPr lang="en-US" sz="1300" dirty="0"/>
          </a:p>
        </p:txBody>
      </p:sp>
      <p:sp>
        <p:nvSpPr>
          <p:cNvPr id="33" name="Text 31"/>
          <p:cNvSpPr txBox="1"/>
          <p:nvPr/>
        </p:nvSpPr>
        <p:spPr>
          <a:xfrm>
            <a:off x="4297680"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$234.48</a:t>
            </a:r>
            <a:endParaRPr lang="en-US" sz="1300" dirty="0"/>
          </a:p>
        </p:txBody>
      </p:sp>
      <p:sp>
        <p:nvSpPr>
          <p:cNvPr id="34" name="Text 32"/>
          <p:cNvSpPr txBox="1"/>
          <p:nvPr/>
        </p:nvSpPr>
        <p:spPr>
          <a:xfrm>
            <a:off x="5084064"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$294.87</a:t>
            </a:r>
            <a:endParaRPr lang="en-US" sz="1300" dirty="0"/>
          </a:p>
        </p:txBody>
      </p:sp>
      <p:sp>
        <p:nvSpPr>
          <p:cNvPr id="35" name="Text 33"/>
          <p:cNvSpPr txBox="1"/>
          <p:nvPr/>
        </p:nvSpPr>
        <p:spPr>
          <a:xfrm>
            <a:off x="658368"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6" name="Shape 34"/>
          <p:cNvSpPr/>
          <p:nvPr/>
        </p:nvSpPr>
        <p:spPr>
          <a:xfrm>
            <a:off x="2651760" y="2918460"/>
            <a:ext cx="515855" cy="110744"/>
          </a:xfrm>
          <a:prstGeom prst="rect">
            <a:avLst/>
          </a:prstGeom>
          <a:solidFill>
            <a:srgbClr val="12A566"/>
          </a:solidFill>
          <a:ln/>
        </p:spPr>
      </p:sp>
      <p:sp>
        <p:nvSpPr>
          <p:cNvPr id="37" name="Text 35"/>
          <p:cNvSpPr txBox="1"/>
          <p:nvPr/>
        </p:nvSpPr>
        <p:spPr>
          <a:xfrm>
            <a:off x="3547872" y="286308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38" name="Text 36"/>
          <p:cNvSpPr txBox="1"/>
          <p:nvPr/>
        </p:nvSpPr>
        <p:spPr>
          <a:xfrm>
            <a:off x="4297680"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$165.67</a:t>
            </a:r>
            <a:endParaRPr lang="en-US" sz="1300" dirty="0"/>
          </a:p>
        </p:txBody>
      </p:sp>
      <p:sp>
        <p:nvSpPr>
          <p:cNvPr id="39" name="Text 37"/>
          <p:cNvSpPr txBox="1"/>
          <p:nvPr/>
        </p:nvSpPr>
        <p:spPr>
          <a:xfrm>
            <a:off x="5084064"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$209.87</a:t>
            </a:r>
            <a:endParaRPr lang="en-US" sz="1300" dirty="0"/>
          </a:p>
        </p:txBody>
      </p:sp>
      <p:sp>
        <p:nvSpPr>
          <p:cNvPr id="40" name="Text 38"/>
          <p:cNvSpPr txBox="1"/>
          <p:nvPr/>
        </p:nvSpPr>
        <p:spPr>
          <a:xfrm>
            <a:off x="658368"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1" name="Shape 39"/>
          <p:cNvSpPr/>
          <p:nvPr/>
        </p:nvSpPr>
        <p:spPr>
          <a:xfrm>
            <a:off x="2651760" y="3139948"/>
            <a:ext cx="510186" cy="110744"/>
          </a:xfrm>
          <a:prstGeom prst="rect">
            <a:avLst/>
          </a:prstGeom>
          <a:solidFill>
            <a:srgbClr val="12A566"/>
          </a:solidFill>
          <a:ln/>
        </p:spPr>
      </p:sp>
      <p:sp>
        <p:nvSpPr>
          <p:cNvPr id="42" name="Text 40"/>
          <p:cNvSpPr txBox="1"/>
          <p:nvPr/>
        </p:nvSpPr>
        <p:spPr>
          <a:xfrm>
            <a:off x="3547872" y="308457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78.5%</a:t>
            </a:r>
            <a:endParaRPr lang="en-US" sz="1300" dirty="0"/>
          </a:p>
        </p:txBody>
      </p:sp>
      <p:sp>
        <p:nvSpPr>
          <p:cNvPr id="43" name="Text 41"/>
          <p:cNvSpPr txBox="1"/>
          <p:nvPr/>
        </p:nvSpPr>
        <p:spPr>
          <a:xfrm>
            <a:off x="4297680"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$160.84</a:t>
            </a:r>
            <a:endParaRPr lang="en-US" sz="1300" dirty="0"/>
          </a:p>
        </p:txBody>
      </p:sp>
      <p:sp>
        <p:nvSpPr>
          <p:cNvPr id="44" name="Text 42"/>
          <p:cNvSpPr txBox="1"/>
          <p:nvPr/>
        </p:nvSpPr>
        <p:spPr>
          <a:xfrm>
            <a:off x="5084064"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$204.87</a:t>
            </a:r>
            <a:endParaRPr lang="en-US" sz="1300" dirty="0"/>
          </a:p>
        </p:txBody>
      </p:sp>
      <p:sp>
        <p:nvSpPr>
          <p:cNvPr id="45" name="Text 43"/>
          <p:cNvSpPr txBox="1"/>
          <p:nvPr/>
        </p:nvSpPr>
        <p:spPr>
          <a:xfrm>
            <a:off x="658368"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46" name="Shape 44"/>
          <p:cNvSpPr/>
          <p:nvPr/>
        </p:nvSpPr>
        <p:spPr>
          <a:xfrm>
            <a:off x="2651760" y="3361436"/>
            <a:ext cx="486924" cy="110744"/>
          </a:xfrm>
          <a:prstGeom prst="rect">
            <a:avLst/>
          </a:prstGeom>
          <a:solidFill>
            <a:srgbClr val="12A566"/>
          </a:solidFill>
          <a:ln/>
        </p:spPr>
      </p:sp>
      <p:sp>
        <p:nvSpPr>
          <p:cNvPr id="47" name="Text 45"/>
          <p:cNvSpPr txBox="1"/>
          <p:nvPr/>
        </p:nvSpPr>
        <p:spPr>
          <a:xfrm>
            <a:off x="3547872" y="330606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76.7%</a:t>
            </a:r>
            <a:endParaRPr lang="en-US" sz="1300" dirty="0"/>
          </a:p>
        </p:txBody>
      </p:sp>
      <p:sp>
        <p:nvSpPr>
          <p:cNvPr id="48" name="Text 46"/>
          <p:cNvSpPr txBox="1"/>
          <p:nvPr/>
        </p:nvSpPr>
        <p:spPr>
          <a:xfrm>
            <a:off x="4297680"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$141.89</a:t>
            </a:r>
            <a:endParaRPr lang="en-US" sz="1300" dirty="0"/>
          </a:p>
        </p:txBody>
      </p:sp>
      <p:sp>
        <p:nvSpPr>
          <p:cNvPr id="49" name="Text 47"/>
          <p:cNvSpPr txBox="1"/>
          <p:nvPr/>
        </p:nvSpPr>
        <p:spPr>
          <a:xfrm>
            <a:off x="5084064"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$184.87</a:t>
            </a:r>
            <a:endParaRPr lang="en-US" sz="1300" dirty="0"/>
          </a:p>
        </p:txBody>
      </p:sp>
      <p:sp>
        <p:nvSpPr>
          <p:cNvPr id="50" name="Text 48"/>
          <p:cNvSpPr txBox="1"/>
          <p:nvPr/>
        </p:nvSpPr>
        <p:spPr>
          <a:xfrm>
            <a:off x="658368" y="352755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51" name="Shape 49"/>
          <p:cNvSpPr/>
          <p:nvPr/>
        </p:nvSpPr>
        <p:spPr>
          <a:xfrm>
            <a:off x="2651760" y="3582924"/>
            <a:ext cx="482951" cy="110744"/>
          </a:xfrm>
          <a:prstGeom prst="rect">
            <a:avLst/>
          </a:prstGeom>
          <a:solidFill>
            <a:srgbClr val="12A566"/>
          </a:solidFill>
          <a:ln/>
        </p:spPr>
      </p:sp>
      <p:sp>
        <p:nvSpPr>
          <p:cNvPr id="52" name="Text 50"/>
          <p:cNvSpPr txBox="1"/>
          <p:nvPr/>
        </p:nvSpPr>
        <p:spPr>
          <a:xfrm>
            <a:off x="3547872" y="352755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76.4%</a:t>
            </a:r>
            <a:endParaRPr lang="en-US" sz="1300" dirty="0"/>
          </a:p>
        </p:txBody>
      </p:sp>
      <p:sp>
        <p:nvSpPr>
          <p:cNvPr id="53" name="Text 51"/>
          <p:cNvSpPr txBox="1"/>
          <p:nvPr/>
        </p:nvSpPr>
        <p:spPr>
          <a:xfrm>
            <a:off x="4297680" y="352755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$266.72</a:t>
            </a:r>
            <a:endParaRPr lang="en-US" sz="1300" dirty="0"/>
          </a:p>
        </p:txBody>
      </p:sp>
      <p:sp>
        <p:nvSpPr>
          <p:cNvPr id="54" name="Text 52"/>
          <p:cNvSpPr txBox="1"/>
          <p:nvPr/>
        </p:nvSpPr>
        <p:spPr>
          <a:xfrm>
            <a:off x="5084064" y="352755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$348.87</a:t>
            </a:r>
            <a:endParaRPr lang="en-US" sz="1300" dirty="0"/>
          </a:p>
        </p:txBody>
      </p:sp>
      <p:sp>
        <p:nvSpPr>
          <p:cNvPr id="55" name="Text 53"/>
          <p:cNvSpPr txBox="1"/>
          <p:nvPr/>
        </p:nvSpPr>
        <p:spPr>
          <a:xfrm>
            <a:off x="658368"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56" name="Shape 54"/>
          <p:cNvSpPr/>
          <p:nvPr/>
        </p:nvSpPr>
        <p:spPr>
          <a:xfrm>
            <a:off x="2651760" y="3804412"/>
            <a:ext cx="469589" cy="110744"/>
          </a:xfrm>
          <a:prstGeom prst="rect">
            <a:avLst/>
          </a:prstGeom>
          <a:solidFill>
            <a:srgbClr val="12A566"/>
          </a:solidFill>
          <a:ln/>
        </p:spPr>
      </p:sp>
      <p:sp>
        <p:nvSpPr>
          <p:cNvPr id="57" name="Text 55"/>
          <p:cNvSpPr txBox="1"/>
          <p:nvPr/>
        </p:nvSpPr>
        <p:spPr>
          <a:xfrm>
            <a:off x="3547872" y="374904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75.4%</a:t>
            </a:r>
            <a:endParaRPr lang="en-US" sz="1300" dirty="0"/>
          </a:p>
        </p:txBody>
      </p:sp>
      <p:sp>
        <p:nvSpPr>
          <p:cNvPr id="58" name="Text 56"/>
          <p:cNvSpPr txBox="1"/>
          <p:nvPr/>
        </p:nvSpPr>
        <p:spPr>
          <a:xfrm>
            <a:off x="4297680"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$233.88</a:t>
            </a:r>
            <a:endParaRPr lang="en-US" sz="1300" dirty="0"/>
          </a:p>
        </p:txBody>
      </p:sp>
      <p:sp>
        <p:nvSpPr>
          <p:cNvPr id="59" name="Text 57"/>
          <p:cNvSpPr txBox="1"/>
          <p:nvPr/>
        </p:nvSpPr>
        <p:spPr>
          <a:xfrm>
            <a:off x="5084064"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$310.00</a:t>
            </a:r>
            <a:endParaRPr lang="en-US" sz="1300" dirty="0"/>
          </a:p>
        </p:txBody>
      </p:sp>
      <p:sp>
        <p:nvSpPr>
          <p:cNvPr id="60" name="Text 58"/>
          <p:cNvSpPr txBox="1"/>
          <p:nvPr/>
        </p:nvSpPr>
        <p:spPr>
          <a:xfrm>
            <a:off x="658368"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1" name="Shape 59"/>
          <p:cNvSpPr/>
          <p:nvPr/>
        </p:nvSpPr>
        <p:spPr>
          <a:xfrm>
            <a:off x="2651760" y="4025900"/>
            <a:ext cx="465019" cy="110744"/>
          </a:xfrm>
          <a:prstGeom prst="rect">
            <a:avLst/>
          </a:prstGeom>
          <a:solidFill>
            <a:srgbClr val="12A566"/>
          </a:solidFill>
          <a:ln/>
        </p:spPr>
      </p:sp>
      <p:sp>
        <p:nvSpPr>
          <p:cNvPr id="62" name="Text 60"/>
          <p:cNvSpPr txBox="1"/>
          <p:nvPr/>
        </p:nvSpPr>
        <p:spPr>
          <a:xfrm>
            <a:off x="3547872" y="397052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75.1%</a:t>
            </a:r>
            <a:endParaRPr lang="en-US" sz="1300" dirty="0"/>
          </a:p>
        </p:txBody>
      </p:sp>
      <p:sp>
        <p:nvSpPr>
          <p:cNvPr id="63" name="Text 61"/>
          <p:cNvSpPr txBox="1"/>
          <p:nvPr/>
        </p:nvSpPr>
        <p:spPr>
          <a:xfrm>
            <a:off x="4297680"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$180.14</a:t>
            </a:r>
            <a:endParaRPr lang="en-US" sz="1300" dirty="0"/>
          </a:p>
        </p:txBody>
      </p:sp>
      <p:sp>
        <p:nvSpPr>
          <p:cNvPr id="64" name="Text 62"/>
          <p:cNvSpPr txBox="1"/>
          <p:nvPr/>
        </p:nvSpPr>
        <p:spPr>
          <a:xfrm>
            <a:off x="5084064"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$239.87</a:t>
            </a:r>
            <a:endParaRPr lang="en-US" sz="1300" dirty="0"/>
          </a:p>
        </p:txBody>
      </p:sp>
      <p:sp>
        <p:nvSpPr>
          <p:cNvPr id="65" name="Shape 63"/>
          <p:cNvSpPr/>
          <p:nvPr/>
        </p:nvSpPr>
        <p:spPr>
          <a:xfrm>
            <a:off x="603504" y="4192016"/>
            <a:ext cx="5285232" cy="212344"/>
          </a:xfrm>
          <a:prstGeom prst="rect">
            <a:avLst/>
          </a:prstGeom>
          <a:solidFill>
            <a:srgbClr val="EDF4FA"/>
          </a:solidFill>
          <a:ln/>
        </p:spPr>
      </p:sp>
      <p:sp>
        <p:nvSpPr>
          <p:cNvPr id="66" name="Text 64"/>
          <p:cNvSpPr txBox="1"/>
          <p:nvPr/>
        </p:nvSpPr>
        <p:spPr>
          <a:xfrm>
            <a:off x="658368" y="4192016"/>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GRID AVG</a:t>
            </a:r>
            <a:endParaRPr lang="en-US" sz="1300" dirty="0"/>
          </a:p>
        </p:txBody>
      </p:sp>
      <p:sp>
        <p:nvSpPr>
          <p:cNvPr id="67" name="Shape 65"/>
          <p:cNvSpPr/>
          <p:nvPr/>
        </p:nvSpPr>
        <p:spPr>
          <a:xfrm>
            <a:off x="2651760" y="4247388"/>
            <a:ext cx="449272" cy="110744"/>
          </a:xfrm>
          <a:prstGeom prst="rect">
            <a:avLst/>
          </a:prstGeom>
          <a:solidFill>
            <a:srgbClr val="0B2C4A"/>
          </a:solidFill>
          <a:ln/>
        </p:spPr>
      </p:sp>
      <p:sp>
        <p:nvSpPr>
          <p:cNvPr id="68" name="Text 66"/>
          <p:cNvSpPr txBox="1"/>
          <p:nvPr/>
        </p:nvSpPr>
        <p:spPr>
          <a:xfrm>
            <a:off x="3547872" y="4192016"/>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73.9%</a:t>
            </a:r>
            <a:endParaRPr lang="en-US" sz="1300" dirty="0"/>
          </a:p>
        </p:txBody>
      </p:sp>
      <p:sp>
        <p:nvSpPr>
          <p:cNvPr id="69" name="Text 67"/>
          <p:cNvSpPr txBox="1"/>
          <p:nvPr/>
        </p:nvSpPr>
        <p:spPr>
          <a:xfrm>
            <a:off x="4297680" y="4192016"/>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$168.93</a:t>
            </a:r>
            <a:endParaRPr lang="en-US" sz="1300" dirty="0"/>
          </a:p>
        </p:txBody>
      </p:sp>
      <p:sp>
        <p:nvSpPr>
          <p:cNvPr id="70" name="Text 68"/>
          <p:cNvSpPr txBox="1"/>
          <p:nvPr/>
        </p:nvSpPr>
        <p:spPr>
          <a:xfrm>
            <a:off x="5084064" y="4192016"/>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$228.55</a:t>
            </a:r>
            <a:endParaRPr lang="en-US" sz="1300" dirty="0"/>
          </a:p>
        </p:txBody>
      </p:sp>
      <p:sp>
        <p:nvSpPr>
          <p:cNvPr id="71" name="Text 69"/>
          <p:cNvSpPr txBox="1"/>
          <p:nvPr/>
        </p:nvSpPr>
        <p:spPr>
          <a:xfrm>
            <a:off x="658368"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2" name="Shape 70"/>
          <p:cNvSpPr/>
          <p:nvPr/>
        </p:nvSpPr>
        <p:spPr>
          <a:xfrm>
            <a:off x="2651760" y="4468876"/>
            <a:ext cx="439276" cy="110744"/>
          </a:xfrm>
          <a:prstGeom prst="rect">
            <a:avLst/>
          </a:prstGeom>
          <a:solidFill>
            <a:srgbClr val="12A566"/>
          </a:solidFill>
          <a:ln/>
        </p:spPr>
      </p:sp>
      <p:sp>
        <p:nvSpPr>
          <p:cNvPr id="73" name="Text 71"/>
          <p:cNvSpPr txBox="1"/>
          <p:nvPr/>
        </p:nvSpPr>
        <p:spPr>
          <a:xfrm>
            <a:off x="3547872" y="441350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73.1%</a:t>
            </a:r>
            <a:endParaRPr lang="en-US" sz="1300" dirty="0"/>
          </a:p>
        </p:txBody>
      </p:sp>
      <p:sp>
        <p:nvSpPr>
          <p:cNvPr id="74" name="Text 72"/>
          <p:cNvSpPr txBox="1"/>
          <p:nvPr/>
        </p:nvSpPr>
        <p:spPr>
          <a:xfrm>
            <a:off x="4297680"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$154.55</a:t>
            </a:r>
            <a:endParaRPr lang="en-US" sz="1300" dirty="0"/>
          </a:p>
        </p:txBody>
      </p:sp>
      <p:sp>
        <p:nvSpPr>
          <p:cNvPr id="75" name="Text 73"/>
          <p:cNvSpPr txBox="1"/>
          <p:nvPr/>
        </p:nvSpPr>
        <p:spPr>
          <a:xfrm>
            <a:off x="5084064"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$211.26</a:t>
            </a:r>
            <a:endParaRPr lang="en-US" sz="1300" dirty="0"/>
          </a:p>
        </p:txBody>
      </p:sp>
      <p:sp>
        <p:nvSpPr>
          <p:cNvPr id="76" name="Text 74"/>
          <p:cNvSpPr txBox="1"/>
          <p:nvPr/>
        </p:nvSpPr>
        <p:spPr>
          <a:xfrm>
            <a:off x="658368"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77" name="Shape 75"/>
          <p:cNvSpPr/>
          <p:nvPr/>
        </p:nvSpPr>
        <p:spPr>
          <a:xfrm>
            <a:off x="2651760" y="4690364"/>
            <a:ext cx="429617" cy="110744"/>
          </a:xfrm>
          <a:prstGeom prst="rect">
            <a:avLst/>
          </a:prstGeom>
          <a:solidFill>
            <a:srgbClr val="12A566"/>
          </a:solidFill>
          <a:ln/>
        </p:spPr>
      </p:sp>
      <p:sp>
        <p:nvSpPr>
          <p:cNvPr id="78" name="Text 76"/>
          <p:cNvSpPr txBox="1"/>
          <p:nvPr/>
        </p:nvSpPr>
        <p:spPr>
          <a:xfrm>
            <a:off x="3547872" y="463499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72.4%</a:t>
            </a:r>
            <a:endParaRPr lang="en-US" sz="1300" dirty="0"/>
          </a:p>
        </p:txBody>
      </p:sp>
      <p:sp>
        <p:nvSpPr>
          <p:cNvPr id="79" name="Text 77"/>
          <p:cNvSpPr txBox="1"/>
          <p:nvPr/>
        </p:nvSpPr>
        <p:spPr>
          <a:xfrm>
            <a:off x="4297680"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$153.45</a:t>
            </a:r>
            <a:endParaRPr lang="en-US" sz="1300" dirty="0"/>
          </a:p>
        </p:txBody>
      </p:sp>
      <p:sp>
        <p:nvSpPr>
          <p:cNvPr id="80" name="Text 78"/>
          <p:cNvSpPr txBox="1"/>
          <p:nvPr/>
        </p:nvSpPr>
        <p:spPr>
          <a:xfrm>
            <a:off x="5084064"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81" name="Text 79"/>
          <p:cNvSpPr txBox="1"/>
          <p:nvPr/>
        </p:nvSpPr>
        <p:spPr>
          <a:xfrm>
            <a:off x="658368"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2" name="Shape 80"/>
          <p:cNvSpPr/>
          <p:nvPr/>
        </p:nvSpPr>
        <p:spPr>
          <a:xfrm>
            <a:off x="2651760" y="4911852"/>
            <a:ext cx="406129" cy="110744"/>
          </a:xfrm>
          <a:prstGeom prst="rect">
            <a:avLst/>
          </a:prstGeom>
          <a:solidFill>
            <a:srgbClr val="12A566"/>
          </a:solidFill>
          <a:ln/>
        </p:spPr>
      </p:sp>
      <p:sp>
        <p:nvSpPr>
          <p:cNvPr id="83" name="Text 81"/>
          <p:cNvSpPr txBox="1"/>
          <p:nvPr/>
        </p:nvSpPr>
        <p:spPr>
          <a:xfrm>
            <a:off x="3547872" y="485648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70.6%</a:t>
            </a:r>
            <a:endParaRPr lang="en-US" sz="1300" dirty="0"/>
          </a:p>
        </p:txBody>
      </p:sp>
      <p:sp>
        <p:nvSpPr>
          <p:cNvPr id="84" name="Text 82"/>
          <p:cNvSpPr txBox="1"/>
          <p:nvPr/>
        </p:nvSpPr>
        <p:spPr>
          <a:xfrm>
            <a:off x="4297680"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$149.70</a:t>
            </a:r>
            <a:endParaRPr lang="en-US" sz="1300" dirty="0"/>
          </a:p>
        </p:txBody>
      </p:sp>
      <p:sp>
        <p:nvSpPr>
          <p:cNvPr id="85" name="Text 83"/>
          <p:cNvSpPr txBox="1"/>
          <p:nvPr/>
        </p:nvSpPr>
        <p:spPr>
          <a:xfrm>
            <a:off x="5084064"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$211.87</a:t>
            </a:r>
            <a:endParaRPr lang="en-US" sz="1300" dirty="0"/>
          </a:p>
        </p:txBody>
      </p:sp>
      <p:sp>
        <p:nvSpPr>
          <p:cNvPr id="86" name="Text 84"/>
          <p:cNvSpPr txBox="1"/>
          <p:nvPr/>
        </p:nvSpPr>
        <p:spPr>
          <a:xfrm>
            <a:off x="658368"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7" name="Shape 85"/>
          <p:cNvSpPr/>
          <p:nvPr/>
        </p:nvSpPr>
        <p:spPr>
          <a:xfrm>
            <a:off x="2651760" y="5133340"/>
            <a:ext cx="378253" cy="110744"/>
          </a:xfrm>
          <a:prstGeom prst="rect">
            <a:avLst/>
          </a:prstGeom>
          <a:solidFill>
            <a:srgbClr val="C2352F"/>
          </a:solidFill>
          <a:ln/>
        </p:spPr>
      </p:sp>
      <p:sp>
        <p:nvSpPr>
          <p:cNvPr id="88" name="Text 86"/>
          <p:cNvSpPr txBox="1"/>
          <p:nvPr/>
        </p:nvSpPr>
        <p:spPr>
          <a:xfrm>
            <a:off x="3547872" y="5077968"/>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68.5%</a:t>
            </a:r>
            <a:endParaRPr lang="en-US" sz="1300" dirty="0"/>
          </a:p>
        </p:txBody>
      </p:sp>
      <p:sp>
        <p:nvSpPr>
          <p:cNvPr id="89" name="Text 87"/>
          <p:cNvSpPr txBox="1"/>
          <p:nvPr/>
        </p:nvSpPr>
        <p:spPr>
          <a:xfrm>
            <a:off x="4297680"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$150.72</a:t>
            </a:r>
            <a:endParaRPr lang="en-US" sz="1300" dirty="0"/>
          </a:p>
        </p:txBody>
      </p:sp>
      <p:sp>
        <p:nvSpPr>
          <p:cNvPr id="90" name="Text 88"/>
          <p:cNvSpPr txBox="1"/>
          <p:nvPr/>
        </p:nvSpPr>
        <p:spPr>
          <a:xfrm>
            <a:off x="5084064"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$219.87</a:t>
            </a:r>
            <a:endParaRPr lang="en-US" sz="1300" dirty="0"/>
          </a:p>
        </p:txBody>
      </p:sp>
      <p:sp>
        <p:nvSpPr>
          <p:cNvPr id="91" name="Text 89"/>
          <p:cNvSpPr txBox="1"/>
          <p:nvPr/>
        </p:nvSpPr>
        <p:spPr>
          <a:xfrm>
            <a:off x="658368"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2" name="Shape 90"/>
          <p:cNvSpPr/>
          <p:nvPr/>
        </p:nvSpPr>
        <p:spPr>
          <a:xfrm>
            <a:off x="2651760" y="5354828"/>
            <a:ext cx="331678" cy="110744"/>
          </a:xfrm>
          <a:prstGeom prst="rect">
            <a:avLst/>
          </a:prstGeom>
          <a:solidFill>
            <a:srgbClr val="C2352F"/>
          </a:solidFill>
          <a:ln/>
        </p:spPr>
      </p:sp>
      <p:sp>
        <p:nvSpPr>
          <p:cNvPr id="93" name="Text 91"/>
          <p:cNvSpPr txBox="1"/>
          <p:nvPr/>
        </p:nvSpPr>
        <p:spPr>
          <a:xfrm>
            <a:off x="3547872" y="5299456"/>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65.0%</a:t>
            </a:r>
            <a:endParaRPr lang="en-US" sz="1300" dirty="0"/>
          </a:p>
        </p:txBody>
      </p:sp>
      <p:sp>
        <p:nvSpPr>
          <p:cNvPr id="94" name="Text 92"/>
          <p:cNvSpPr txBox="1"/>
          <p:nvPr/>
        </p:nvSpPr>
        <p:spPr>
          <a:xfrm>
            <a:off x="4297680"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$146.25</a:t>
            </a:r>
            <a:endParaRPr lang="en-US" sz="1300" dirty="0"/>
          </a:p>
        </p:txBody>
      </p:sp>
      <p:sp>
        <p:nvSpPr>
          <p:cNvPr id="95" name="Text 93"/>
          <p:cNvSpPr txBox="1"/>
          <p:nvPr/>
        </p:nvSpPr>
        <p:spPr>
          <a:xfrm>
            <a:off x="5084064"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$224.87</a:t>
            </a:r>
            <a:endParaRPr lang="en-US" sz="1300" dirty="0"/>
          </a:p>
        </p:txBody>
      </p:sp>
      <p:sp>
        <p:nvSpPr>
          <p:cNvPr id="96" name="Text 94"/>
          <p:cNvSpPr txBox="1"/>
          <p:nvPr/>
        </p:nvSpPr>
        <p:spPr>
          <a:xfrm>
            <a:off x="658368" y="552094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7" name="Shape 95"/>
          <p:cNvSpPr/>
          <p:nvPr/>
        </p:nvSpPr>
        <p:spPr>
          <a:xfrm>
            <a:off x="2651760" y="5576316"/>
            <a:ext cx="285765" cy="110744"/>
          </a:xfrm>
          <a:prstGeom prst="rect">
            <a:avLst/>
          </a:prstGeom>
          <a:solidFill>
            <a:srgbClr val="C2352F"/>
          </a:solidFill>
          <a:ln/>
        </p:spPr>
      </p:sp>
      <p:sp>
        <p:nvSpPr>
          <p:cNvPr id="98" name="Text 96"/>
          <p:cNvSpPr txBox="1"/>
          <p:nvPr/>
        </p:nvSpPr>
        <p:spPr>
          <a:xfrm>
            <a:off x="3547872" y="5520944"/>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61.5%</a:t>
            </a:r>
            <a:endParaRPr lang="en-US" sz="1300" dirty="0"/>
          </a:p>
        </p:txBody>
      </p:sp>
      <p:sp>
        <p:nvSpPr>
          <p:cNvPr id="99" name="Text 97"/>
          <p:cNvSpPr txBox="1"/>
          <p:nvPr/>
        </p:nvSpPr>
        <p:spPr>
          <a:xfrm>
            <a:off x="4297680" y="552094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$175.47</a:t>
            </a:r>
            <a:endParaRPr lang="en-US" sz="1300" dirty="0"/>
          </a:p>
        </p:txBody>
      </p:sp>
      <p:sp>
        <p:nvSpPr>
          <p:cNvPr id="100" name="Text 98"/>
          <p:cNvSpPr txBox="1"/>
          <p:nvPr/>
        </p:nvSpPr>
        <p:spPr>
          <a:xfrm>
            <a:off x="5084064" y="552094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$285.00</a:t>
            </a:r>
            <a:endParaRPr lang="en-US" sz="1300" dirty="0"/>
          </a:p>
        </p:txBody>
      </p:sp>
      <p:sp>
        <p:nvSpPr>
          <p:cNvPr id="101" name="Shape 99"/>
          <p:cNvSpPr/>
          <p:nvPr/>
        </p:nvSpPr>
        <p:spPr>
          <a:xfrm>
            <a:off x="3041893" y="1755648"/>
            <a:ext cx="14630" cy="3986784"/>
          </a:xfrm>
          <a:prstGeom prst="rect">
            <a:avLst/>
          </a:prstGeom>
          <a:solidFill>
            <a:srgbClr val="0B2C4A"/>
          </a:solidFill>
          <a:ln/>
        </p:spPr>
      </p:sp>
      <p:sp>
        <p:nvSpPr>
          <p:cNvPr id="102" name="Text 100"/>
          <p:cNvSpPr txBox="1"/>
          <p:nvPr/>
        </p:nvSpPr>
        <p:spPr>
          <a:xfrm>
            <a:off x="6208776" y="1316736"/>
            <a:ext cx="2761488"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 GRID · 16 STORES</a:t>
            </a:r>
            <a:endParaRPr lang="en-US" sz="1400" dirty="0"/>
          </a:p>
        </p:txBody>
      </p:sp>
      <p:sp>
        <p:nvSpPr>
          <p:cNvPr id="103" name="Text 101"/>
          <p:cNvSpPr txBox="1"/>
          <p:nvPr/>
        </p:nvSpPr>
        <p:spPr>
          <a:xfrm>
            <a:off x="9098280" y="1316736"/>
            <a:ext cx="749808"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a:t>
            </a:r>
            <a:endParaRPr lang="en-US" sz="1400" dirty="0"/>
          </a:p>
        </p:txBody>
      </p:sp>
      <p:sp>
        <p:nvSpPr>
          <p:cNvPr id="104" name="Text 102"/>
          <p:cNvSpPr txBox="1"/>
          <p:nvPr/>
        </p:nvSpPr>
        <p:spPr>
          <a:xfrm>
            <a:off x="9848088"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ELR</a:t>
            </a:r>
            <a:endParaRPr lang="en-US" sz="1400" dirty="0"/>
          </a:p>
        </p:txBody>
      </p:sp>
      <p:sp>
        <p:nvSpPr>
          <p:cNvPr id="105" name="Text 103"/>
          <p:cNvSpPr txBox="1"/>
          <p:nvPr/>
        </p:nvSpPr>
        <p:spPr>
          <a:xfrm>
            <a:off x="10634472" y="1316736"/>
            <a:ext cx="786384" cy="329184"/>
          </a:xfrm>
          <a:prstGeom prst="rect">
            <a:avLst/>
          </a:prstGeom>
          <a:noFill/>
          <a:ln/>
        </p:spPr>
        <p:txBody>
          <a:bodyPr wrap="square" lIns="0" tIns="0" rIns="0" bIns="0" rtlCol="0" anchor="ctr"/>
          <a:lstStyle/>
          <a:p>
            <a:pPr algn="r" indent="0" marL="0">
              <a:buNone/>
            </a:pPr>
            <a:r>
              <a:rPr lang="en-US" sz="1400" b="1" dirty="0">
                <a:solidFill>
                  <a:srgbClr val="595959"/>
                </a:solidFill>
                <a:latin typeface="Inter" pitchFamily="34" charset="0"/>
                <a:ea typeface="Inter" pitchFamily="34" charset="-122"/>
                <a:cs typeface="Inter" pitchFamily="34" charset="-120"/>
              </a:rPr>
              <a:t>DOOR</a:t>
            </a:r>
            <a:endParaRPr lang="en-US" sz="1400" dirty="0"/>
          </a:p>
        </p:txBody>
      </p:sp>
      <p:sp>
        <p:nvSpPr>
          <p:cNvPr id="106" name="Text 104"/>
          <p:cNvSpPr txBox="1"/>
          <p:nvPr/>
        </p:nvSpPr>
        <p:spPr>
          <a:xfrm>
            <a:off x="6208776" y="175564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107" name="Shape 105"/>
          <p:cNvSpPr/>
          <p:nvPr/>
        </p:nvSpPr>
        <p:spPr>
          <a:xfrm>
            <a:off x="8202168" y="1811020"/>
            <a:ext cx="665301" cy="110744"/>
          </a:xfrm>
          <a:prstGeom prst="rect">
            <a:avLst/>
          </a:prstGeom>
          <a:solidFill>
            <a:srgbClr val="12A566"/>
          </a:solidFill>
          <a:ln/>
        </p:spPr>
      </p:sp>
      <p:sp>
        <p:nvSpPr>
          <p:cNvPr id="108" name="Text 106"/>
          <p:cNvSpPr txBox="1"/>
          <p:nvPr/>
        </p:nvSpPr>
        <p:spPr>
          <a:xfrm>
            <a:off x="9098280" y="175564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90.2%</a:t>
            </a:r>
            <a:endParaRPr lang="en-US" sz="1300" dirty="0"/>
          </a:p>
        </p:txBody>
      </p:sp>
      <p:sp>
        <p:nvSpPr>
          <p:cNvPr id="109" name="Text 107"/>
          <p:cNvSpPr txBox="1"/>
          <p:nvPr/>
        </p:nvSpPr>
        <p:spPr>
          <a:xfrm>
            <a:off x="9848088"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$225.50</a:t>
            </a:r>
            <a:endParaRPr lang="en-US" sz="1300" dirty="0"/>
          </a:p>
        </p:txBody>
      </p:sp>
      <p:sp>
        <p:nvSpPr>
          <p:cNvPr id="110" name="Text 108"/>
          <p:cNvSpPr txBox="1"/>
          <p:nvPr/>
        </p:nvSpPr>
        <p:spPr>
          <a:xfrm>
            <a:off x="10634472" y="175564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$249.95</a:t>
            </a:r>
            <a:endParaRPr lang="en-US" sz="1300" dirty="0"/>
          </a:p>
        </p:txBody>
      </p:sp>
      <p:sp>
        <p:nvSpPr>
          <p:cNvPr id="111" name="Text 109"/>
          <p:cNvSpPr txBox="1"/>
          <p:nvPr/>
        </p:nvSpPr>
        <p:spPr>
          <a:xfrm>
            <a:off x="6208776" y="197713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12" name="Shape 110"/>
          <p:cNvSpPr/>
          <p:nvPr/>
        </p:nvSpPr>
        <p:spPr>
          <a:xfrm>
            <a:off x="8202168" y="2032508"/>
            <a:ext cx="619626" cy="110744"/>
          </a:xfrm>
          <a:prstGeom prst="rect">
            <a:avLst/>
          </a:prstGeom>
          <a:solidFill>
            <a:srgbClr val="12A566"/>
          </a:solidFill>
          <a:ln/>
        </p:spPr>
      </p:sp>
      <p:sp>
        <p:nvSpPr>
          <p:cNvPr id="113" name="Text 111"/>
          <p:cNvSpPr txBox="1"/>
          <p:nvPr/>
        </p:nvSpPr>
        <p:spPr>
          <a:xfrm>
            <a:off x="9098280" y="197713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86.7%</a:t>
            </a:r>
            <a:endParaRPr lang="en-US" sz="1300" dirty="0"/>
          </a:p>
        </p:txBody>
      </p:sp>
      <p:sp>
        <p:nvSpPr>
          <p:cNvPr id="114" name="Text 112"/>
          <p:cNvSpPr txBox="1"/>
          <p:nvPr/>
        </p:nvSpPr>
        <p:spPr>
          <a:xfrm>
            <a:off x="9848088"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$238.62</a:t>
            </a:r>
            <a:endParaRPr lang="en-US" sz="1300" dirty="0"/>
          </a:p>
        </p:txBody>
      </p:sp>
      <p:sp>
        <p:nvSpPr>
          <p:cNvPr id="115" name="Text 113"/>
          <p:cNvSpPr txBox="1"/>
          <p:nvPr/>
        </p:nvSpPr>
        <p:spPr>
          <a:xfrm>
            <a:off x="10634472" y="197713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$275.00</a:t>
            </a:r>
            <a:endParaRPr lang="en-US" sz="1300" dirty="0"/>
          </a:p>
        </p:txBody>
      </p:sp>
      <p:sp>
        <p:nvSpPr>
          <p:cNvPr id="116" name="Text 114"/>
          <p:cNvSpPr txBox="1"/>
          <p:nvPr/>
        </p:nvSpPr>
        <p:spPr>
          <a:xfrm>
            <a:off x="6208776" y="219862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17" name="Shape 115"/>
          <p:cNvSpPr/>
          <p:nvPr/>
        </p:nvSpPr>
        <p:spPr>
          <a:xfrm>
            <a:off x="8202168" y="2253996"/>
            <a:ext cx="613635" cy="110744"/>
          </a:xfrm>
          <a:prstGeom prst="rect">
            <a:avLst/>
          </a:prstGeom>
          <a:solidFill>
            <a:srgbClr val="12A566"/>
          </a:solidFill>
          <a:ln/>
        </p:spPr>
      </p:sp>
      <p:sp>
        <p:nvSpPr>
          <p:cNvPr id="118" name="Text 116"/>
          <p:cNvSpPr txBox="1"/>
          <p:nvPr/>
        </p:nvSpPr>
        <p:spPr>
          <a:xfrm>
            <a:off x="9098280" y="219862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86.3%</a:t>
            </a:r>
            <a:endParaRPr lang="en-US" sz="1300" dirty="0"/>
          </a:p>
        </p:txBody>
      </p:sp>
      <p:sp>
        <p:nvSpPr>
          <p:cNvPr id="119" name="Text 117"/>
          <p:cNvSpPr txBox="1"/>
          <p:nvPr/>
        </p:nvSpPr>
        <p:spPr>
          <a:xfrm>
            <a:off x="9848088"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$159.69</a:t>
            </a:r>
            <a:endParaRPr lang="en-US" sz="1300" dirty="0"/>
          </a:p>
        </p:txBody>
      </p:sp>
      <p:sp>
        <p:nvSpPr>
          <p:cNvPr id="120" name="Text 118"/>
          <p:cNvSpPr txBox="1"/>
          <p:nvPr/>
        </p:nvSpPr>
        <p:spPr>
          <a:xfrm>
            <a:off x="10634472" y="219862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21" name="Text 119"/>
          <p:cNvSpPr txBox="1"/>
          <p:nvPr/>
        </p:nvSpPr>
        <p:spPr>
          <a:xfrm>
            <a:off x="6208776" y="242011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22" name="Shape 120"/>
          <p:cNvSpPr/>
          <p:nvPr/>
        </p:nvSpPr>
        <p:spPr>
          <a:xfrm>
            <a:off x="8202168" y="2475484"/>
            <a:ext cx="564915" cy="110744"/>
          </a:xfrm>
          <a:prstGeom prst="rect">
            <a:avLst/>
          </a:prstGeom>
          <a:solidFill>
            <a:srgbClr val="12A566"/>
          </a:solidFill>
          <a:ln/>
        </p:spPr>
      </p:sp>
      <p:sp>
        <p:nvSpPr>
          <p:cNvPr id="123" name="Text 121"/>
          <p:cNvSpPr txBox="1"/>
          <p:nvPr/>
        </p:nvSpPr>
        <p:spPr>
          <a:xfrm>
            <a:off x="9098280" y="2420112"/>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82.6%</a:t>
            </a:r>
            <a:endParaRPr lang="en-US" sz="1300" dirty="0"/>
          </a:p>
        </p:txBody>
      </p:sp>
      <p:sp>
        <p:nvSpPr>
          <p:cNvPr id="124" name="Text 122"/>
          <p:cNvSpPr txBox="1"/>
          <p:nvPr/>
        </p:nvSpPr>
        <p:spPr>
          <a:xfrm>
            <a:off x="9848088"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$147.93</a:t>
            </a:r>
            <a:endParaRPr lang="en-US" sz="1300" dirty="0"/>
          </a:p>
        </p:txBody>
      </p:sp>
      <p:sp>
        <p:nvSpPr>
          <p:cNvPr id="125" name="Text 123"/>
          <p:cNvSpPr txBox="1"/>
          <p:nvPr/>
        </p:nvSpPr>
        <p:spPr>
          <a:xfrm>
            <a:off x="10634472" y="242011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$179.00</a:t>
            </a:r>
            <a:endParaRPr lang="en-US" sz="1300" dirty="0"/>
          </a:p>
        </p:txBody>
      </p:sp>
      <p:sp>
        <p:nvSpPr>
          <p:cNvPr id="126" name="Text 124"/>
          <p:cNvSpPr txBox="1"/>
          <p:nvPr/>
        </p:nvSpPr>
        <p:spPr>
          <a:xfrm>
            <a:off x="6208776" y="264160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27" name="Shape 125"/>
          <p:cNvSpPr/>
          <p:nvPr/>
        </p:nvSpPr>
        <p:spPr>
          <a:xfrm>
            <a:off x="8202168" y="2696972"/>
            <a:ext cx="549859" cy="110744"/>
          </a:xfrm>
          <a:prstGeom prst="rect">
            <a:avLst/>
          </a:prstGeom>
          <a:solidFill>
            <a:srgbClr val="12A566"/>
          </a:solidFill>
          <a:ln/>
        </p:spPr>
      </p:sp>
      <p:sp>
        <p:nvSpPr>
          <p:cNvPr id="128" name="Text 126"/>
          <p:cNvSpPr txBox="1"/>
          <p:nvPr/>
        </p:nvSpPr>
        <p:spPr>
          <a:xfrm>
            <a:off x="9098280" y="264160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81.5%</a:t>
            </a:r>
            <a:endParaRPr lang="en-US" sz="1300" dirty="0"/>
          </a:p>
        </p:txBody>
      </p:sp>
      <p:sp>
        <p:nvSpPr>
          <p:cNvPr id="129" name="Text 127"/>
          <p:cNvSpPr txBox="1"/>
          <p:nvPr/>
        </p:nvSpPr>
        <p:spPr>
          <a:xfrm>
            <a:off x="9848088"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$187.42</a:t>
            </a:r>
            <a:endParaRPr lang="en-US" sz="1300" dirty="0"/>
          </a:p>
        </p:txBody>
      </p:sp>
      <p:sp>
        <p:nvSpPr>
          <p:cNvPr id="130" name="Text 128"/>
          <p:cNvSpPr txBox="1"/>
          <p:nvPr/>
        </p:nvSpPr>
        <p:spPr>
          <a:xfrm>
            <a:off x="10634472" y="264160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$229.95</a:t>
            </a:r>
            <a:endParaRPr lang="en-US" sz="1300" dirty="0"/>
          </a:p>
        </p:txBody>
      </p:sp>
      <p:sp>
        <p:nvSpPr>
          <p:cNvPr id="131" name="Text 129"/>
          <p:cNvSpPr txBox="1"/>
          <p:nvPr/>
        </p:nvSpPr>
        <p:spPr>
          <a:xfrm>
            <a:off x="6208776" y="286308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32" name="Shape 130"/>
          <p:cNvSpPr/>
          <p:nvPr/>
        </p:nvSpPr>
        <p:spPr>
          <a:xfrm>
            <a:off x="8202168" y="2918460"/>
            <a:ext cx="542975" cy="110744"/>
          </a:xfrm>
          <a:prstGeom prst="rect">
            <a:avLst/>
          </a:prstGeom>
          <a:solidFill>
            <a:srgbClr val="12A566"/>
          </a:solidFill>
          <a:ln/>
        </p:spPr>
      </p:sp>
      <p:sp>
        <p:nvSpPr>
          <p:cNvPr id="133" name="Text 131"/>
          <p:cNvSpPr txBox="1"/>
          <p:nvPr/>
        </p:nvSpPr>
        <p:spPr>
          <a:xfrm>
            <a:off x="9098280" y="286308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80.9%</a:t>
            </a:r>
            <a:endParaRPr lang="en-US" sz="1300" dirty="0"/>
          </a:p>
        </p:txBody>
      </p:sp>
      <p:sp>
        <p:nvSpPr>
          <p:cNvPr id="134" name="Text 132"/>
          <p:cNvSpPr txBox="1"/>
          <p:nvPr/>
        </p:nvSpPr>
        <p:spPr>
          <a:xfrm>
            <a:off x="9848088"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$161.93</a:t>
            </a:r>
            <a:endParaRPr lang="en-US" sz="1300" dirty="0"/>
          </a:p>
        </p:txBody>
      </p:sp>
      <p:sp>
        <p:nvSpPr>
          <p:cNvPr id="135" name="Text 133"/>
          <p:cNvSpPr txBox="1"/>
          <p:nvPr/>
        </p:nvSpPr>
        <p:spPr>
          <a:xfrm>
            <a:off x="10634472" y="286308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$199.95</a:t>
            </a:r>
            <a:endParaRPr lang="en-US" sz="1300" dirty="0"/>
          </a:p>
        </p:txBody>
      </p:sp>
      <p:sp>
        <p:nvSpPr>
          <p:cNvPr id="136" name="Text 134"/>
          <p:cNvSpPr txBox="1"/>
          <p:nvPr/>
        </p:nvSpPr>
        <p:spPr>
          <a:xfrm>
            <a:off x="6208776" y="308457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37" name="Shape 135"/>
          <p:cNvSpPr/>
          <p:nvPr/>
        </p:nvSpPr>
        <p:spPr>
          <a:xfrm>
            <a:off x="8202168" y="3139948"/>
            <a:ext cx="528418" cy="110744"/>
          </a:xfrm>
          <a:prstGeom prst="rect">
            <a:avLst/>
          </a:prstGeom>
          <a:solidFill>
            <a:srgbClr val="12A566"/>
          </a:solidFill>
          <a:ln/>
        </p:spPr>
      </p:sp>
      <p:sp>
        <p:nvSpPr>
          <p:cNvPr id="138" name="Text 136"/>
          <p:cNvSpPr txBox="1"/>
          <p:nvPr/>
        </p:nvSpPr>
        <p:spPr>
          <a:xfrm>
            <a:off x="9098280" y="308457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79.8%</a:t>
            </a:r>
            <a:endParaRPr lang="en-US" sz="1300" dirty="0"/>
          </a:p>
        </p:txBody>
      </p:sp>
      <p:sp>
        <p:nvSpPr>
          <p:cNvPr id="139" name="Text 137"/>
          <p:cNvSpPr txBox="1"/>
          <p:nvPr/>
        </p:nvSpPr>
        <p:spPr>
          <a:xfrm>
            <a:off x="9848088"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$155.78</a:t>
            </a:r>
            <a:endParaRPr lang="en-US" sz="1300" dirty="0"/>
          </a:p>
        </p:txBody>
      </p:sp>
      <p:sp>
        <p:nvSpPr>
          <p:cNvPr id="140" name="Text 138"/>
          <p:cNvSpPr txBox="1"/>
          <p:nvPr/>
        </p:nvSpPr>
        <p:spPr>
          <a:xfrm>
            <a:off x="10634472" y="308457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$195.00</a:t>
            </a:r>
            <a:endParaRPr lang="en-US" sz="1300" dirty="0"/>
          </a:p>
        </p:txBody>
      </p:sp>
      <p:sp>
        <p:nvSpPr>
          <p:cNvPr id="141" name="Text 139"/>
          <p:cNvSpPr txBox="1"/>
          <p:nvPr/>
        </p:nvSpPr>
        <p:spPr>
          <a:xfrm>
            <a:off x="6208776" y="330606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42" name="Shape 140"/>
          <p:cNvSpPr/>
          <p:nvPr/>
        </p:nvSpPr>
        <p:spPr>
          <a:xfrm>
            <a:off x="8202168" y="3361436"/>
            <a:ext cx="515923" cy="110744"/>
          </a:xfrm>
          <a:prstGeom prst="rect">
            <a:avLst/>
          </a:prstGeom>
          <a:solidFill>
            <a:srgbClr val="12A566"/>
          </a:solidFill>
          <a:ln/>
        </p:spPr>
      </p:sp>
      <p:sp>
        <p:nvSpPr>
          <p:cNvPr id="143" name="Text 141"/>
          <p:cNvSpPr txBox="1"/>
          <p:nvPr/>
        </p:nvSpPr>
        <p:spPr>
          <a:xfrm>
            <a:off x="9098280" y="3306064"/>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78.9%</a:t>
            </a:r>
            <a:endParaRPr lang="en-US" sz="1300" dirty="0"/>
          </a:p>
        </p:txBody>
      </p:sp>
      <p:sp>
        <p:nvSpPr>
          <p:cNvPr id="144" name="Text 142"/>
          <p:cNvSpPr txBox="1"/>
          <p:nvPr/>
        </p:nvSpPr>
        <p:spPr>
          <a:xfrm>
            <a:off x="9848088"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$146.04</a:t>
            </a:r>
            <a:endParaRPr lang="en-US" sz="1300" dirty="0"/>
          </a:p>
        </p:txBody>
      </p:sp>
      <p:sp>
        <p:nvSpPr>
          <p:cNvPr id="145" name="Text 143"/>
          <p:cNvSpPr txBox="1"/>
          <p:nvPr/>
        </p:nvSpPr>
        <p:spPr>
          <a:xfrm>
            <a:off x="10634472" y="330606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46" name="Shape 144"/>
          <p:cNvSpPr/>
          <p:nvPr/>
        </p:nvSpPr>
        <p:spPr>
          <a:xfrm>
            <a:off x="6153912" y="3527552"/>
            <a:ext cx="5285232" cy="212344"/>
          </a:xfrm>
          <a:prstGeom prst="rect">
            <a:avLst/>
          </a:prstGeom>
          <a:solidFill>
            <a:srgbClr val="EDF4FA"/>
          </a:solidFill>
          <a:ln/>
        </p:spPr>
      </p:sp>
      <p:sp>
        <p:nvSpPr>
          <p:cNvPr id="147" name="Text 145"/>
          <p:cNvSpPr txBox="1"/>
          <p:nvPr/>
        </p:nvSpPr>
        <p:spPr>
          <a:xfrm>
            <a:off x="6208776" y="3527552"/>
            <a:ext cx="1920240" cy="221488"/>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NO-GRID AVG</a:t>
            </a:r>
            <a:endParaRPr lang="en-US" sz="1300" dirty="0"/>
          </a:p>
        </p:txBody>
      </p:sp>
      <p:sp>
        <p:nvSpPr>
          <p:cNvPr id="148" name="Shape 146"/>
          <p:cNvSpPr/>
          <p:nvPr/>
        </p:nvSpPr>
        <p:spPr>
          <a:xfrm>
            <a:off x="8202168" y="3582924"/>
            <a:ext cx="482674" cy="110744"/>
          </a:xfrm>
          <a:prstGeom prst="rect">
            <a:avLst/>
          </a:prstGeom>
          <a:solidFill>
            <a:srgbClr val="0B2C4A"/>
          </a:solidFill>
          <a:ln/>
        </p:spPr>
      </p:sp>
      <p:sp>
        <p:nvSpPr>
          <p:cNvPr id="149" name="Text 147"/>
          <p:cNvSpPr txBox="1"/>
          <p:nvPr/>
        </p:nvSpPr>
        <p:spPr>
          <a:xfrm>
            <a:off x="9098280" y="3527552"/>
            <a:ext cx="749808"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76.4%</a:t>
            </a:r>
            <a:endParaRPr lang="en-US" sz="1300" dirty="0"/>
          </a:p>
        </p:txBody>
      </p:sp>
      <p:sp>
        <p:nvSpPr>
          <p:cNvPr id="150" name="Text 148"/>
          <p:cNvSpPr txBox="1"/>
          <p:nvPr/>
        </p:nvSpPr>
        <p:spPr>
          <a:xfrm>
            <a:off x="9848088" y="3527552"/>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$155.03</a:t>
            </a:r>
            <a:endParaRPr lang="en-US" sz="1300" dirty="0"/>
          </a:p>
        </p:txBody>
      </p:sp>
      <p:sp>
        <p:nvSpPr>
          <p:cNvPr id="151" name="Text 149"/>
          <p:cNvSpPr txBox="1"/>
          <p:nvPr/>
        </p:nvSpPr>
        <p:spPr>
          <a:xfrm>
            <a:off x="10634472" y="3527552"/>
            <a:ext cx="786384" cy="221488"/>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$202.83</a:t>
            </a:r>
            <a:endParaRPr lang="en-US" sz="1300" dirty="0"/>
          </a:p>
        </p:txBody>
      </p:sp>
      <p:sp>
        <p:nvSpPr>
          <p:cNvPr id="152" name="Text 150"/>
          <p:cNvSpPr txBox="1"/>
          <p:nvPr/>
        </p:nvSpPr>
        <p:spPr>
          <a:xfrm>
            <a:off x="6208776" y="374904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53" name="Shape 151"/>
          <p:cNvSpPr/>
          <p:nvPr/>
        </p:nvSpPr>
        <p:spPr>
          <a:xfrm>
            <a:off x="8202168" y="3804412"/>
            <a:ext cx="467351" cy="110744"/>
          </a:xfrm>
          <a:prstGeom prst="rect">
            <a:avLst/>
          </a:prstGeom>
          <a:solidFill>
            <a:srgbClr val="12A566"/>
          </a:solidFill>
          <a:ln/>
        </p:spPr>
      </p:sp>
      <p:sp>
        <p:nvSpPr>
          <p:cNvPr id="154" name="Text 152"/>
          <p:cNvSpPr txBox="1"/>
          <p:nvPr/>
        </p:nvSpPr>
        <p:spPr>
          <a:xfrm>
            <a:off x="9098280" y="3749040"/>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75.2%</a:t>
            </a:r>
            <a:endParaRPr lang="en-US" sz="1300" dirty="0"/>
          </a:p>
        </p:txBody>
      </p:sp>
      <p:sp>
        <p:nvSpPr>
          <p:cNvPr id="155" name="Text 153"/>
          <p:cNvSpPr txBox="1"/>
          <p:nvPr/>
        </p:nvSpPr>
        <p:spPr>
          <a:xfrm>
            <a:off x="9848088"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$162.12</a:t>
            </a:r>
            <a:endParaRPr lang="en-US" sz="1300" dirty="0"/>
          </a:p>
        </p:txBody>
      </p:sp>
      <p:sp>
        <p:nvSpPr>
          <p:cNvPr id="156" name="Text 154"/>
          <p:cNvSpPr txBox="1"/>
          <p:nvPr/>
        </p:nvSpPr>
        <p:spPr>
          <a:xfrm>
            <a:off x="10634472" y="374904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$215.37</a:t>
            </a:r>
            <a:endParaRPr lang="en-US" sz="1300" dirty="0"/>
          </a:p>
        </p:txBody>
      </p:sp>
      <p:sp>
        <p:nvSpPr>
          <p:cNvPr id="157" name="Text 155"/>
          <p:cNvSpPr txBox="1"/>
          <p:nvPr/>
        </p:nvSpPr>
        <p:spPr>
          <a:xfrm>
            <a:off x="6208776" y="397052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58" name="Shape 156"/>
          <p:cNvSpPr/>
          <p:nvPr/>
        </p:nvSpPr>
        <p:spPr>
          <a:xfrm>
            <a:off x="8202168" y="4025900"/>
            <a:ext cx="463785" cy="110744"/>
          </a:xfrm>
          <a:prstGeom prst="rect">
            <a:avLst/>
          </a:prstGeom>
          <a:solidFill>
            <a:srgbClr val="12A566"/>
          </a:solidFill>
          <a:ln/>
        </p:spPr>
      </p:sp>
      <p:sp>
        <p:nvSpPr>
          <p:cNvPr id="159" name="Text 157"/>
          <p:cNvSpPr txBox="1"/>
          <p:nvPr/>
        </p:nvSpPr>
        <p:spPr>
          <a:xfrm>
            <a:off x="9098280" y="3970528"/>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75.0%</a:t>
            </a:r>
            <a:endParaRPr lang="en-US" sz="1300" dirty="0"/>
          </a:p>
        </p:txBody>
      </p:sp>
      <p:sp>
        <p:nvSpPr>
          <p:cNvPr id="160" name="Text 158"/>
          <p:cNvSpPr txBox="1"/>
          <p:nvPr/>
        </p:nvSpPr>
        <p:spPr>
          <a:xfrm>
            <a:off x="9848088"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$142.51</a:t>
            </a:r>
            <a:endParaRPr lang="en-US" sz="1300" dirty="0"/>
          </a:p>
        </p:txBody>
      </p:sp>
      <p:sp>
        <p:nvSpPr>
          <p:cNvPr id="161" name="Text 159"/>
          <p:cNvSpPr txBox="1"/>
          <p:nvPr/>
        </p:nvSpPr>
        <p:spPr>
          <a:xfrm>
            <a:off x="10634472" y="397052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$190.00</a:t>
            </a:r>
            <a:endParaRPr lang="en-US" sz="1300" dirty="0"/>
          </a:p>
        </p:txBody>
      </p:sp>
      <p:sp>
        <p:nvSpPr>
          <p:cNvPr id="162" name="Text 160"/>
          <p:cNvSpPr txBox="1"/>
          <p:nvPr/>
        </p:nvSpPr>
        <p:spPr>
          <a:xfrm>
            <a:off x="6208776" y="419201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63" name="Shape 161"/>
          <p:cNvSpPr/>
          <p:nvPr/>
        </p:nvSpPr>
        <p:spPr>
          <a:xfrm>
            <a:off x="8202168" y="4247388"/>
            <a:ext cx="449061" cy="110744"/>
          </a:xfrm>
          <a:prstGeom prst="rect">
            <a:avLst/>
          </a:prstGeom>
          <a:solidFill>
            <a:srgbClr val="12A566"/>
          </a:solidFill>
          <a:ln/>
        </p:spPr>
      </p:sp>
      <p:sp>
        <p:nvSpPr>
          <p:cNvPr id="164" name="Text 162"/>
          <p:cNvSpPr txBox="1"/>
          <p:nvPr/>
        </p:nvSpPr>
        <p:spPr>
          <a:xfrm>
            <a:off x="9098280" y="4192016"/>
            <a:ext cx="749808" cy="221488"/>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73.8%</a:t>
            </a:r>
            <a:endParaRPr lang="en-US" sz="1300" dirty="0"/>
          </a:p>
        </p:txBody>
      </p:sp>
      <p:sp>
        <p:nvSpPr>
          <p:cNvPr id="165" name="Text 163"/>
          <p:cNvSpPr txBox="1"/>
          <p:nvPr/>
        </p:nvSpPr>
        <p:spPr>
          <a:xfrm>
            <a:off x="9848088" y="419201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$136.71</a:t>
            </a:r>
            <a:endParaRPr lang="en-US" sz="1300" dirty="0"/>
          </a:p>
        </p:txBody>
      </p:sp>
      <p:sp>
        <p:nvSpPr>
          <p:cNvPr id="166" name="Text 164"/>
          <p:cNvSpPr txBox="1"/>
          <p:nvPr/>
        </p:nvSpPr>
        <p:spPr>
          <a:xfrm>
            <a:off x="10634472" y="419201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67" name="Text 165"/>
          <p:cNvSpPr txBox="1"/>
          <p:nvPr/>
        </p:nvSpPr>
        <p:spPr>
          <a:xfrm>
            <a:off x="6208776" y="4413504"/>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68" name="Shape 166"/>
          <p:cNvSpPr/>
          <p:nvPr/>
        </p:nvSpPr>
        <p:spPr>
          <a:xfrm>
            <a:off x="8202168" y="4468876"/>
            <a:ext cx="374799" cy="110744"/>
          </a:xfrm>
          <a:prstGeom prst="rect">
            <a:avLst/>
          </a:prstGeom>
          <a:solidFill>
            <a:srgbClr val="C2352F"/>
          </a:solidFill>
          <a:ln/>
        </p:spPr>
      </p:sp>
      <p:sp>
        <p:nvSpPr>
          <p:cNvPr id="169" name="Text 167"/>
          <p:cNvSpPr txBox="1"/>
          <p:nvPr/>
        </p:nvSpPr>
        <p:spPr>
          <a:xfrm>
            <a:off x="9098280" y="4413504"/>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68.2%</a:t>
            </a:r>
            <a:endParaRPr lang="en-US" sz="1300" dirty="0"/>
          </a:p>
        </p:txBody>
      </p:sp>
      <p:sp>
        <p:nvSpPr>
          <p:cNvPr id="170" name="Text 168"/>
          <p:cNvSpPr txBox="1"/>
          <p:nvPr/>
        </p:nvSpPr>
        <p:spPr>
          <a:xfrm>
            <a:off x="9848088"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$167.22</a:t>
            </a:r>
            <a:endParaRPr lang="en-US" sz="1300" dirty="0"/>
          </a:p>
        </p:txBody>
      </p:sp>
      <p:sp>
        <p:nvSpPr>
          <p:cNvPr id="171" name="Text 169"/>
          <p:cNvSpPr txBox="1"/>
          <p:nvPr/>
        </p:nvSpPr>
        <p:spPr>
          <a:xfrm>
            <a:off x="10634472" y="4413504"/>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$244.87</a:t>
            </a:r>
            <a:endParaRPr lang="en-US" sz="1300" dirty="0"/>
          </a:p>
        </p:txBody>
      </p:sp>
      <p:sp>
        <p:nvSpPr>
          <p:cNvPr id="172" name="Text 170"/>
          <p:cNvSpPr txBox="1"/>
          <p:nvPr/>
        </p:nvSpPr>
        <p:spPr>
          <a:xfrm>
            <a:off x="6208776" y="4634992"/>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73" name="Shape 171"/>
          <p:cNvSpPr/>
          <p:nvPr/>
        </p:nvSpPr>
        <p:spPr>
          <a:xfrm>
            <a:off x="8202168" y="4690364"/>
            <a:ext cx="364670" cy="110744"/>
          </a:xfrm>
          <a:prstGeom prst="rect">
            <a:avLst/>
          </a:prstGeom>
          <a:solidFill>
            <a:srgbClr val="C2352F"/>
          </a:solidFill>
          <a:ln/>
        </p:spPr>
      </p:sp>
      <p:sp>
        <p:nvSpPr>
          <p:cNvPr id="174" name="Text 172"/>
          <p:cNvSpPr txBox="1"/>
          <p:nvPr/>
        </p:nvSpPr>
        <p:spPr>
          <a:xfrm>
            <a:off x="9098280" y="4634992"/>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67.5%</a:t>
            </a:r>
            <a:endParaRPr lang="en-US" sz="1300" dirty="0"/>
          </a:p>
        </p:txBody>
      </p:sp>
      <p:sp>
        <p:nvSpPr>
          <p:cNvPr id="175" name="Text 173"/>
          <p:cNvSpPr txBox="1"/>
          <p:nvPr/>
        </p:nvSpPr>
        <p:spPr>
          <a:xfrm>
            <a:off x="9848088"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$124.92</a:t>
            </a:r>
            <a:endParaRPr lang="en-US" sz="1300" dirty="0"/>
          </a:p>
        </p:txBody>
      </p:sp>
      <p:sp>
        <p:nvSpPr>
          <p:cNvPr id="176" name="Text 174"/>
          <p:cNvSpPr txBox="1"/>
          <p:nvPr/>
        </p:nvSpPr>
        <p:spPr>
          <a:xfrm>
            <a:off x="10634472" y="4634992"/>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$185.00</a:t>
            </a:r>
            <a:endParaRPr lang="en-US" sz="1300" dirty="0"/>
          </a:p>
        </p:txBody>
      </p:sp>
      <p:sp>
        <p:nvSpPr>
          <p:cNvPr id="177" name="Text 175"/>
          <p:cNvSpPr txBox="1"/>
          <p:nvPr/>
        </p:nvSpPr>
        <p:spPr>
          <a:xfrm>
            <a:off x="6208776" y="4856480"/>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78" name="Shape 176"/>
          <p:cNvSpPr/>
          <p:nvPr/>
        </p:nvSpPr>
        <p:spPr>
          <a:xfrm>
            <a:off x="8202168" y="4911852"/>
            <a:ext cx="354832" cy="110744"/>
          </a:xfrm>
          <a:prstGeom prst="rect">
            <a:avLst/>
          </a:prstGeom>
          <a:solidFill>
            <a:srgbClr val="C2352F"/>
          </a:solidFill>
          <a:ln/>
        </p:spPr>
      </p:sp>
      <p:sp>
        <p:nvSpPr>
          <p:cNvPr id="179" name="Text 177"/>
          <p:cNvSpPr txBox="1"/>
          <p:nvPr/>
        </p:nvSpPr>
        <p:spPr>
          <a:xfrm>
            <a:off x="9098280" y="4856480"/>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66.7%</a:t>
            </a:r>
            <a:endParaRPr lang="en-US" sz="1300" dirty="0"/>
          </a:p>
        </p:txBody>
      </p:sp>
      <p:sp>
        <p:nvSpPr>
          <p:cNvPr id="180" name="Text 178"/>
          <p:cNvSpPr txBox="1"/>
          <p:nvPr/>
        </p:nvSpPr>
        <p:spPr>
          <a:xfrm>
            <a:off x="9848088"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$146.92</a:t>
            </a:r>
            <a:endParaRPr lang="en-US" sz="1300" dirty="0"/>
          </a:p>
        </p:txBody>
      </p:sp>
      <p:sp>
        <p:nvSpPr>
          <p:cNvPr id="181" name="Text 179"/>
          <p:cNvSpPr txBox="1"/>
          <p:nvPr/>
        </p:nvSpPr>
        <p:spPr>
          <a:xfrm>
            <a:off x="10634472" y="4856480"/>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$220.00</a:t>
            </a:r>
            <a:endParaRPr lang="en-US" sz="1300" dirty="0"/>
          </a:p>
        </p:txBody>
      </p:sp>
      <p:sp>
        <p:nvSpPr>
          <p:cNvPr id="182" name="Text 180"/>
          <p:cNvSpPr txBox="1"/>
          <p:nvPr/>
        </p:nvSpPr>
        <p:spPr>
          <a:xfrm>
            <a:off x="6208776" y="5077968"/>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83" name="Shape 181"/>
          <p:cNvSpPr/>
          <p:nvPr/>
        </p:nvSpPr>
        <p:spPr>
          <a:xfrm>
            <a:off x="8202168" y="5133340"/>
            <a:ext cx="352064" cy="110744"/>
          </a:xfrm>
          <a:prstGeom prst="rect">
            <a:avLst/>
          </a:prstGeom>
          <a:solidFill>
            <a:srgbClr val="C2352F"/>
          </a:solidFill>
          <a:ln/>
        </p:spPr>
      </p:sp>
      <p:sp>
        <p:nvSpPr>
          <p:cNvPr id="184" name="Text 182"/>
          <p:cNvSpPr txBox="1"/>
          <p:nvPr/>
        </p:nvSpPr>
        <p:spPr>
          <a:xfrm>
            <a:off x="9098280" y="5077968"/>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66.5%</a:t>
            </a:r>
            <a:endParaRPr lang="en-US" sz="1300" dirty="0"/>
          </a:p>
        </p:txBody>
      </p:sp>
      <p:sp>
        <p:nvSpPr>
          <p:cNvPr id="185" name="Text 183"/>
          <p:cNvSpPr txBox="1"/>
          <p:nvPr/>
        </p:nvSpPr>
        <p:spPr>
          <a:xfrm>
            <a:off x="9848088"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$139.81</a:t>
            </a:r>
            <a:endParaRPr lang="en-US" sz="1300" dirty="0"/>
          </a:p>
        </p:txBody>
      </p:sp>
      <p:sp>
        <p:nvSpPr>
          <p:cNvPr id="186" name="Text 184"/>
          <p:cNvSpPr txBox="1"/>
          <p:nvPr/>
        </p:nvSpPr>
        <p:spPr>
          <a:xfrm>
            <a:off x="10634472" y="5077968"/>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87" name="Text 185"/>
          <p:cNvSpPr txBox="1"/>
          <p:nvPr/>
        </p:nvSpPr>
        <p:spPr>
          <a:xfrm>
            <a:off x="6208776" y="5299456"/>
            <a:ext cx="1920240" cy="221488"/>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88" name="Shape 186"/>
          <p:cNvSpPr/>
          <p:nvPr/>
        </p:nvSpPr>
        <p:spPr>
          <a:xfrm>
            <a:off x="8202168" y="5354828"/>
            <a:ext cx="328825" cy="110744"/>
          </a:xfrm>
          <a:prstGeom prst="rect">
            <a:avLst/>
          </a:prstGeom>
          <a:solidFill>
            <a:srgbClr val="C2352F"/>
          </a:solidFill>
          <a:ln/>
        </p:spPr>
      </p:sp>
      <p:sp>
        <p:nvSpPr>
          <p:cNvPr id="189" name="Text 187"/>
          <p:cNvSpPr txBox="1"/>
          <p:nvPr/>
        </p:nvSpPr>
        <p:spPr>
          <a:xfrm>
            <a:off x="9098280" y="5299456"/>
            <a:ext cx="749808" cy="221488"/>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64.8%</a:t>
            </a:r>
            <a:endParaRPr lang="en-US" sz="1300" dirty="0"/>
          </a:p>
        </p:txBody>
      </p:sp>
      <p:sp>
        <p:nvSpPr>
          <p:cNvPr id="190" name="Text 188"/>
          <p:cNvSpPr txBox="1"/>
          <p:nvPr/>
        </p:nvSpPr>
        <p:spPr>
          <a:xfrm>
            <a:off x="9848088"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$136.12</a:t>
            </a:r>
            <a:endParaRPr lang="en-US" sz="1300" dirty="0"/>
          </a:p>
        </p:txBody>
      </p:sp>
      <p:sp>
        <p:nvSpPr>
          <p:cNvPr id="191" name="Text 189"/>
          <p:cNvSpPr txBox="1"/>
          <p:nvPr/>
        </p:nvSpPr>
        <p:spPr>
          <a:xfrm>
            <a:off x="10634472" y="5299456"/>
            <a:ext cx="786384" cy="221488"/>
          </a:xfrm>
          <a:prstGeom prst="rect">
            <a:avLst/>
          </a:prstGeom>
          <a:noFill/>
          <a:ln/>
        </p:spPr>
        <p:txBody>
          <a:bodyPr wrap="square" lIns="0" tIns="0" rIns="0" bIns="0" rtlCol="0" anchor="ctr"/>
          <a:lstStyle/>
          <a:p>
            <a:pPr algn="r" indent="0" marL="0">
              <a:buNone/>
            </a:pPr>
            <a:r>
              <a:rPr lang="en-US" sz="1300" dirty="0">
                <a:solidFill>
                  <a:srgbClr val="595959"/>
                </a:solidFill>
                <a:latin typeface="Inter" pitchFamily="34" charset="0"/>
                <a:ea typeface="Inter" pitchFamily="34" charset="-122"/>
                <a:cs typeface="Inter" pitchFamily="34" charset="-120"/>
              </a:rPr>
              <a:t>$210.00</a:t>
            </a:r>
            <a:endParaRPr lang="en-US" sz="1300" dirty="0"/>
          </a:p>
        </p:txBody>
      </p:sp>
      <p:sp>
        <p:nvSpPr>
          <p:cNvPr id="192" name="Shape 190"/>
          <p:cNvSpPr/>
          <p:nvPr/>
        </p:nvSpPr>
        <p:spPr>
          <a:xfrm>
            <a:off x="8592301" y="1755648"/>
            <a:ext cx="14630" cy="3765296"/>
          </a:xfrm>
          <a:prstGeom prst="rect">
            <a:avLst/>
          </a:prstGeom>
          <a:solidFill>
            <a:srgbClr val="0B2C4A"/>
          </a:solidFill>
          <a:ln/>
        </p:spPr>
      </p:sp>
      <p:sp>
        <p:nvSpPr>
          <p:cNvPr id="193" name="Shape 191"/>
          <p:cNvSpPr/>
          <p:nvPr/>
        </p:nvSpPr>
        <p:spPr>
          <a:xfrm>
            <a:off x="6035040" y="1371600"/>
            <a:ext cx="10973" cy="4370832"/>
          </a:xfrm>
          <a:prstGeom prst="rect">
            <a:avLst/>
          </a:prstGeom>
          <a:solidFill>
            <a:srgbClr val="D9D9D9"/>
          </a:solidFill>
          <a:ln/>
        </p:spPr>
      </p:sp>
      <p:sp>
        <p:nvSpPr>
          <p:cNvPr id="194" name="Shape 192"/>
          <p:cNvSpPr/>
          <p:nvPr/>
        </p:nvSpPr>
        <p:spPr>
          <a:xfrm>
            <a:off x="457200" y="5961888"/>
            <a:ext cx="11274552" cy="548640"/>
          </a:xfrm>
          <a:prstGeom prst="rect">
            <a:avLst/>
          </a:prstGeom>
          <a:solidFill>
            <a:srgbClr val="EDF4FA"/>
          </a:solidFill>
          <a:ln/>
        </p:spPr>
      </p:sp>
      <p:sp>
        <p:nvSpPr>
          <p:cNvPr id="195" name="Text 193"/>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Jul–Sep: grid stores realize 73.9% of door rate, no-grid stores 76.4%. A grid should lift ELR on longer jobs, yet grid stores trail.</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$287</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$304</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+$17</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+5.9%</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$17 to $304, ahead of 2025 in all nine months. ROs were flat, so the $4,899,376 labor gain came from selling more per visit.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$933</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1" name="Shape 9"/>
          <p:cNvSpPr/>
          <p:nvPr/>
        </p:nvSpPr>
        <p:spPr>
          <a:xfrm>
            <a:off x="2267712" y="2138993"/>
            <a:ext cx="1028573"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$931</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4" name="Shape 12"/>
          <p:cNvSpPr/>
          <p:nvPr/>
        </p:nvSpPr>
        <p:spPr>
          <a:xfrm>
            <a:off x="2267712" y="2445668"/>
            <a:ext cx="1025253"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$928</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7" name="Shape 15"/>
          <p:cNvSpPr/>
          <p:nvPr/>
        </p:nvSpPr>
        <p:spPr>
          <a:xfrm>
            <a:off x="2267712" y="2752344"/>
            <a:ext cx="902656"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$817</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0" name="Shape 18"/>
          <p:cNvSpPr/>
          <p:nvPr/>
        </p:nvSpPr>
        <p:spPr>
          <a:xfrm>
            <a:off x="2267712" y="3059020"/>
            <a:ext cx="708427"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$641</a:t>
            </a:r>
            <a:endParaRPr lang="en-US" sz="1300" dirty="0"/>
          </a:p>
        </p:txBody>
      </p:sp>
      <p:sp>
        <p:nvSpPr>
          <p:cNvPr id="22" name="Shape 20"/>
          <p:cNvSpPr/>
          <p:nvPr/>
        </p:nvSpPr>
        <p:spPr>
          <a:xfrm>
            <a:off x="603504" y="3289026"/>
            <a:ext cx="3566160" cy="297532"/>
          </a:xfrm>
          <a:prstGeom prst="rect">
            <a:avLst/>
          </a:prstGeom>
          <a:solidFill>
            <a:srgbClr val="EDF4FA"/>
          </a:solidFill>
          <a:ln/>
        </p:spPr>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4" name="Shape 22"/>
          <p:cNvSpPr/>
          <p:nvPr/>
        </p:nvSpPr>
        <p:spPr>
          <a:xfrm>
            <a:off x="2267712" y="3365695"/>
            <a:ext cx="698005" cy="153338"/>
          </a:xfrm>
          <a:prstGeom prst="rect">
            <a:avLst/>
          </a:prstGeom>
          <a:solidFill>
            <a:srgbClr val="0B2C4A"/>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$632</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7" name="Shape 25"/>
          <p:cNvSpPr/>
          <p:nvPr/>
        </p:nvSpPr>
        <p:spPr>
          <a:xfrm>
            <a:off x="2267712" y="3672371"/>
            <a:ext cx="559059"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$506</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0" name="Shape 28"/>
          <p:cNvSpPr/>
          <p:nvPr/>
        </p:nvSpPr>
        <p:spPr>
          <a:xfrm>
            <a:off x="2267712" y="3979047"/>
            <a:ext cx="512934"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$464</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3" name="Shape 31"/>
          <p:cNvSpPr/>
          <p:nvPr/>
        </p:nvSpPr>
        <p:spPr>
          <a:xfrm>
            <a:off x="2267712" y="4285722"/>
            <a:ext cx="460190"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$416</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6" name="Shape 34"/>
          <p:cNvSpPr/>
          <p:nvPr/>
        </p:nvSpPr>
        <p:spPr>
          <a:xfrm>
            <a:off x="2267712" y="4592398"/>
            <a:ext cx="444920"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$403</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$632  </a:t>
            </a:r>
            <a:pPr indent="0" marL="0">
              <a:buNone/>
            </a:pPr>
            <a:r>
              <a:rPr lang="en-US" sz="1400" b="1" dirty="0">
                <a:solidFill>
                  <a:srgbClr val="0B7A4A"/>
                </a:solidFill>
                <a:latin typeface="Inter" pitchFamily="34" charset="0"/>
                <a:ea typeface="Inter" pitchFamily="34" charset="-122"/>
                <a:cs typeface="Inter" pitchFamily="34" charset="-120"/>
              </a:rPr>
              <a:t>(+$33)</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$264  </a:t>
            </a:r>
            <a:pPr indent="0" marL="0">
              <a:buNone/>
            </a:pPr>
            <a:r>
              <a:rPr lang="en-US" sz="1400" b="1" dirty="0">
                <a:solidFill>
                  <a:srgbClr val="0B7A4A"/>
                </a:solidFill>
                <a:latin typeface="Inter" pitchFamily="34" charset="0"/>
                <a:ea typeface="Inter" pitchFamily="34" charset="-122"/>
                <a:cs typeface="Inter" pitchFamily="34" charset="-120"/>
              </a:rPr>
              <a:t>(+$15)</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$389</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5" name="Shape 43"/>
          <p:cNvSpPr/>
          <p:nvPr/>
        </p:nvSpPr>
        <p:spPr>
          <a:xfrm>
            <a:off x="6291072" y="2138993"/>
            <a:ext cx="598789"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$371</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8" name="Shape 46"/>
          <p:cNvSpPr/>
          <p:nvPr/>
        </p:nvSpPr>
        <p:spPr>
          <a:xfrm>
            <a:off x="6291072" y="2445668"/>
            <a:ext cx="570486"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$354</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1" name="Shape 49"/>
          <p:cNvSpPr/>
          <p:nvPr/>
        </p:nvSpPr>
        <p:spPr>
          <a:xfrm>
            <a:off x="6291072" y="2752344"/>
            <a:ext cx="535931"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$332</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4" name="Shape 52"/>
          <p:cNvSpPr/>
          <p:nvPr/>
        </p:nvSpPr>
        <p:spPr>
          <a:xfrm>
            <a:off x="6291072" y="3059020"/>
            <a:ext cx="513550"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$318</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7" name="Shape 55"/>
          <p:cNvSpPr/>
          <p:nvPr/>
        </p:nvSpPr>
        <p:spPr>
          <a:xfrm>
            <a:off x="6291072" y="3365695"/>
            <a:ext cx="501174"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$311</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0" name="Shape 58"/>
          <p:cNvSpPr/>
          <p:nvPr/>
        </p:nvSpPr>
        <p:spPr>
          <a:xfrm>
            <a:off x="6291072" y="3672371"/>
            <a:ext cx="486714"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$302</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3" name="Shape 61"/>
          <p:cNvSpPr/>
          <p:nvPr/>
        </p:nvSpPr>
        <p:spPr>
          <a:xfrm>
            <a:off x="6291072" y="3979047"/>
            <a:ext cx="483060"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$299</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6" name="Shape 64"/>
          <p:cNvSpPr/>
          <p:nvPr/>
        </p:nvSpPr>
        <p:spPr>
          <a:xfrm>
            <a:off x="6291072" y="4285722"/>
            <a:ext cx="482181"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$299</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69" name="Shape 67"/>
          <p:cNvSpPr/>
          <p:nvPr/>
        </p:nvSpPr>
        <p:spPr>
          <a:xfrm>
            <a:off x="6291072" y="4592398"/>
            <a:ext cx="465926"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$289</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72" name="Shape 70"/>
          <p:cNvSpPr/>
          <p:nvPr/>
        </p:nvSpPr>
        <p:spPr>
          <a:xfrm>
            <a:off x="6291072" y="4899074"/>
            <a:ext cx="451632"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$280</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75" name="Shape 73"/>
          <p:cNvSpPr/>
          <p:nvPr/>
        </p:nvSpPr>
        <p:spPr>
          <a:xfrm>
            <a:off x="6291072" y="5205750"/>
            <a:ext cx="442219"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$274</a:t>
            </a:r>
            <a:endParaRPr lang="en-US" sz="1300" dirty="0"/>
          </a:p>
        </p:txBody>
      </p:sp>
      <p:sp>
        <p:nvSpPr>
          <p:cNvPr id="77" name="Text 75"/>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78" name="Shape 76"/>
          <p:cNvSpPr/>
          <p:nvPr/>
        </p:nvSpPr>
        <p:spPr>
          <a:xfrm>
            <a:off x="6291072" y="5512425"/>
            <a:ext cx="437452" cy="153338"/>
          </a:xfrm>
          <a:prstGeom prst="rect">
            <a:avLst/>
          </a:prstGeom>
          <a:solidFill>
            <a:srgbClr val="12A566"/>
          </a:solidFill>
          <a:ln/>
        </p:spPr>
      </p:sp>
      <p:sp>
        <p:nvSpPr>
          <p:cNvPr id="79" name="Text 77"/>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$271</a:t>
            </a:r>
            <a:endParaRPr lang="en-US" sz="1300" dirty="0"/>
          </a:p>
        </p:txBody>
      </p:sp>
      <p:sp>
        <p:nvSpPr>
          <p:cNvPr id="80" name="Shape 78"/>
          <p:cNvSpPr/>
          <p:nvPr/>
        </p:nvSpPr>
        <p:spPr>
          <a:xfrm>
            <a:off x="7863840" y="1755648"/>
            <a:ext cx="3529584" cy="297532"/>
          </a:xfrm>
          <a:prstGeom prst="rect">
            <a:avLst/>
          </a:prstGeom>
          <a:solidFill>
            <a:srgbClr val="EDF4FA"/>
          </a:solidFill>
          <a:ln/>
        </p:spPr>
      </p:sp>
      <p:sp>
        <p:nvSpPr>
          <p:cNvPr id="81" name="Text 79"/>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82" name="Shape 80"/>
          <p:cNvSpPr/>
          <p:nvPr/>
        </p:nvSpPr>
        <p:spPr>
          <a:xfrm>
            <a:off x="9893808" y="1832317"/>
            <a:ext cx="426097" cy="153338"/>
          </a:xfrm>
          <a:prstGeom prst="rect">
            <a:avLst/>
          </a:prstGeom>
          <a:solidFill>
            <a:srgbClr val="0B2C4A"/>
          </a:solidFill>
          <a:ln/>
        </p:spPr>
      </p:sp>
      <p:sp>
        <p:nvSpPr>
          <p:cNvPr id="83" name="Text 81"/>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$264</a:t>
            </a:r>
            <a:endParaRPr lang="en-US" sz="1300" dirty="0"/>
          </a:p>
        </p:txBody>
      </p:sp>
      <p:sp>
        <p:nvSpPr>
          <p:cNvPr id="84" name="Text 82"/>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85" name="Shape 83"/>
          <p:cNvSpPr/>
          <p:nvPr/>
        </p:nvSpPr>
        <p:spPr>
          <a:xfrm>
            <a:off x="9893808" y="2138993"/>
            <a:ext cx="384223" cy="153338"/>
          </a:xfrm>
          <a:prstGeom prst="rect">
            <a:avLst/>
          </a:prstGeom>
          <a:solidFill>
            <a:srgbClr val="C2352F"/>
          </a:solidFill>
          <a:ln/>
        </p:spPr>
      </p:sp>
      <p:sp>
        <p:nvSpPr>
          <p:cNvPr id="86" name="Text 84"/>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$238</a:t>
            </a:r>
            <a:endParaRPr lang="en-US" sz="1300" dirty="0"/>
          </a:p>
        </p:txBody>
      </p:sp>
      <p:sp>
        <p:nvSpPr>
          <p:cNvPr id="87" name="Text 85"/>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8" name="Shape 86"/>
          <p:cNvSpPr/>
          <p:nvPr/>
        </p:nvSpPr>
        <p:spPr>
          <a:xfrm>
            <a:off x="9893808" y="2445668"/>
            <a:ext cx="383536" cy="153338"/>
          </a:xfrm>
          <a:prstGeom prst="rect">
            <a:avLst/>
          </a:prstGeom>
          <a:solidFill>
            <a:srgbClr val="C2352F"/>
          </a:solidFill>
          <a:ln/>
        </p:spPr>
      </p:sp>
      <p:sp>
        <p:nvSpPr>
          <p:cNvPr id="89" name="Text 87"/>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$238</a:t>
            </a:r>
            <a:endParaRPr lang="en-US" sz="1300" dirty="0"/>
          </a:p>
        </p:txBody>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1" name="Shape 89"/>
          <p:cNvSpPr/>
          <p:nvPr/>
        </p:nvSpPr>
        <p:spPr>
          <a:xfrm>
            <a:off x="9893808" y="2752344"/>
            <a:ext cx="377596" cy="153338"/>
          </a:xfrm>
          <a:prstGeom prst="rect">
            <a:avLst/>
          </a:prstGeom>
          <a:solidFill>
            <a:srgbClr val="C2352F"/>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$234</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4" name="Shape 92"/>
          <p:cNvSpPr/>
          <p:nvPr/>
        </p:nvSpPr>
        <p:spPr>
          <a:xfrm>
            <a:off x="9893808" y="3059020"/>
            <a:ext cx="372225"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$231</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7" name="Shape 95"/>
          <p:cNvSpPr/>
          <p:nvPr/>
        </p:nvSpPr>
        <p:spPr>
          <a:xfrm>
            <a:off x="9893808" y="3365695"/>
            <a:ext cx="366796"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$227</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0" name="Shape 98"/>
          <p:cNvSpPr/>
          <p:nvPr/>
        </p:nvSpPr>
        <p:spPr>
          <a:xfrm>
            <a:off x="9893808" y="3672371"/>
            <a:ext cx="358486"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$222</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03" name="Shape 101"/>
          <p:cNvSpPr/>
          <p:nvPr/>
        </p:nvSpPr>
        <p:spPr>
          <a:xfrm>
            <a:off x="9893808" y="3979047"/>
            <a:ext cx="355557"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$220</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6" name="Shape 104"/>
          <p:cNvSpPr/>
          <p:nvPr/>
        </p:nvSpPr>
        <p:spPr>
          <a:xfrm>
            <a:off x="9893808" y="4285722"/>
            <a:ext cx="344158"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$213</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09" name="Shape 107"/>
          <p:cNvSpPr/>
          <p:nvPr/>
        </p:nvSpPr>
        <p:spPr>
          <a:xfrm>
            <a:off x="9893808" y="4592398"/>
            <a:ext cx="323678"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$201</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12" name="Shape 110"/>
          <p:cNvSpPr/>
          <p:nvPr/>
        </p:nvSpPr>
        <p:spPr>
          <a:xfrm>
            <a:off x="9893808" y="4899074"/>
            <a:ext cx="301397"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$187</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15" name="Shape 113"/>
          <p:cNvSpPr/>
          <p:nvPr/>
        </p:nvSpPr>
        <p:spPr>
          <a:xfrm>
            <a:off x="9893808" y="5205750"/>
            <a:ext cx="293515"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$182</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5 of 9 luxury stores beat $632 and 13 of 24 others beat $264. VW HENDERSON leads non-luxury at $389.</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+$17</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+$111</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5" name="Shape 13"/>
          <p:cNvSpPr/>
          <p:nvPr/>
        </p:nvSpPr>
        <p:spPr>
          <a:xfrm>
            <a:off x="3813048" y="2139459"/>
            <a:ext cx="609822"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8" name="Shape 16"/>
          <p:cNvSpPr/>
          <p:nvPr/>
        </p:nvSpPr>
        <p:spPr>
          <a:xfrm>
            <a:off x="3813048" y="2369673"/>
            <a:ext cx="585207"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+$79</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1" name="Shape 19"/>
          <p:cNvSpPr/>
          <p:nvPr/>
        </p:nvSpPr>
        <p:spPr>
          <a:xfrm>
            <a:off x="3813048" y="2599887"/>
            <a:ext cx="491068"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+$66</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4" name="Shape 22"/>
          <p:cNvSpPr/>
          <p:nvPr/>
        </p:nvSpPr>
        <p:spPr>
          <a:xfrm>
            <a:off x="3813048" y="2830100"/>
            <a:ext cx="483581"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+$65</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27" name="Shape 25"/>
          <p:cNvSpPr/>
          <p:nvPr/>
        </p:nvSpPr>
        <p:spPr>
          <a:xfrm>
            <a:off x="3813048" y="3060314"/>
            <a:ext cx="438729"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+$59</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30" name="Shape 28"/>
          <p:cNvSpPr/>
          <p:nvPr/>
        </p:nvSpPr>
        <p:spPr>
          <a:xfrm>
            <a:off x="3813048" y="3290528"/>
            <a:ext cx="43705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+$59</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33" name="Shape 31"/>
          <p:cNvSpPr/>
          <p:nvPr/>
        </p:nvSpPr>
        <p:spPr>
          <a:xfrm>
            <a:off x="3813048" y="3520741"/>
            <a:ext cx="430143"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+$58</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6" name="Shape 34"/>
          <p:cNvSpPr/>
          <p:nvPr/>
        </p:nvSpPr>
        <p:spPr>
          <a:xfrm>
            <a:off x="3813048" y="3750955"/>
            <a:ext cx="304996"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39" name="Shape 37"/>
          <p:cNvSpPr/>
          <p:nvPr/>
        </p:nvSpPr>
        <p:spPr>
          <a:xfrm>
            <a:off x="3813048" y="3981169"/>
            <a:ext cx="278520"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2" name="Shape 40"/>
          <p:cNvSpPr/>
          <p:nvPr/>
        </p:nvSpPr>
        <p:spPr>
          <a:xfrm>
            <a:off x="3813048" y="4211382"/>
            <a:ext cx="256754"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+$35</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5" name="Shape 43"/>
          <p:cNvSpPr/>
          <p:nvPr/>
        </p:nvSpPr>
        <p:spPr>
          <a:xfrm>
            <a:off x="3813048" y="4441596"/>
            <a:ext cx="248844"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8" name="Shape 46"/>
          <p:cNvSpPr/>
          <p:nvPr/>
        </p:nvSpPr>
        <p:spPr>
          <a:xfrm>
            <a:off x="3813048" y="4671809"/>
            <a:ext cx="228583"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51" name="Shape 49"/>
          <p:cNvSpPr/>
          <p:nvPr/>
        </p:nvSpPr>
        <p:spPr>
          <a:xfrm>
            <a:off x="3813048" y="4902023"/>
            <a:ext cx="188867"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4" name="Shape 52"/>
          <p:cNvSpPr/>
          <p:nvPr/>
        </p:nvSpPr>
        <p:spPr>
          <a:xfrm>
            <a:off x="3813048" y="5132237"/>
            <a:ext cx="183723"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57" name="Shape 55"/>
          <p:cNvSpPr/>
          <p:nvPr/>
        </p:nvSpPr>
        <p:spPr>
          <a:xfrm>
            <a:off x="3813048" y="5362450"/>
            <a:ext cx="172185"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60" name="Shape 58"/>
          <p:cNvSpPr/>
          <p:nvPr/>
        </p:nvSpPr>
        <p:spPr>
          <a:xfrm>
            <a:off x="3813048" y="5592664"/>
            <a:ext cx="16628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+$22</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3" name="Shape 61"/>
          <p:cNvSpPr/>
          <p:nvPr/>
        </p:nvSpPr>
        <p:spPr>
          <a:xfrm>
            <a:off x="9363456" y="1909246"/>
            <a:ext cx="126421"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66" name="Shape 64"/>
          <p:cNvSpPr/>
          <p:nvPr/>
        </p:nvSpPr>
        <p:spPr>
          <a:xfrm>
            <a:off x="9363456" y="2139459"/>
            <a:ext cx="124369"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69" name="Shape 67"/>
          <p:cNvSpPr/>
          <p:nvPr/>
        </p:nvSpPr>
        <p:spPr>
          <a:xfrm>
            <a:off x="9363456" y="2369673"/>
            <a:ext cx="121165"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+$16</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2" name="Shape 70"/>
          <p:cNvSpPr/>
          <p:nvPr/>
        </p:nvSpPr>
        <p:spPr>
          <a:xfrm>
            <a:off x="9363456" y="2599887"/>
            <a:ext cx="107512"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75" name="Shape 73"/>
          <p:cNvSpPr/>
          <p:nvPr/>
        </p:nvSpPr>
        <p:spPr>
          <a:xfrm>
            <a:off x="9363456" y="2830100"/>
            <a:ext cx="103586"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78" name="Shape 76"/>
          <p:cNvSpPr/>
          <p:nvPr/>
        </p:nvSpPr>
        <p:spPr>
          <a:xfrm>
            <a:off x="9363456" y="3060314"/>
            <a:ext cx="96298"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1" name="Shape 79"/>
          <p:cNvSpPr/>
          <p:nvPr/>
        </p:nvSpPr>
        <p:spPr>
          <a:xfrm>
            <a:off x="9363456" y="3290528"/>
            <a:ext cx="58595"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84" name="Shape 82"/>
          <p:cNvSpPr/>
          <p:nvPr/>
        </p:nvSpPr>
        <p:spPr>
          <a:xfrm>
            <a:off x="9363456" y="3520741"/>
            <a:ext cx="52601"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87" name="Shape 85"/>
          <p:cNvSpPr/>
          <p:nvPr/>
        </p:nvSpPr>
        <p:spPr>
          <a:xfrm>
            <a:off x="9363456" y="3750955"/>
            <a:ext cx="31853"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0" name="Shape 88"/>
          <p:cNvSpPr/>
          <p:nvPr/>
        </p:nvSpPr>
        <p:spPr>
          <a:xfrm>
            <a:off x="9320642" y="3981169"/>
            <a:ext cx="42814"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93" name="Shape 91"/>
          <p:cNvSpPr/>
          <p:nvPr/>
        </p:nvSpPr>
        <p:spPr>
          <a:xfrm>
            <a:off x="9314873" y="4211382"/>
            <a:ext cx="4858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96" name="Shape 94"/>
          <p:cNvSpPr/>
          <p:nvPr/>
        </p:nvSpPr>
        <p:spPr>
          <a:xfrm>
            <a:off x="9298639" y="4441596"/>
            <a:ext cx="64817"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9" name="Shape 97"/>
          <p:cNvSpPr/>
          <p:nvPr/>
        </p:nvSpPr>
        <p:spPr>
          <a:xfrm>
            <a:off x="9293054" y="4671809"/>
            <a:ext cx="70402"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−$9</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2" name="Shape 100"/>
          <p:cNvSpPr/>
          <p:nvPr/>
        </p:nvSpPr>
        <p:spPr>
          <a:xfrm>
            <a:off x="9216709" y="4902023"/>
            <a:ext cx="146747"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05" name="Shape 103"/>
          <p:cNvSpPr/>
          <p:nvPr/>
        </p:nvSpPr>
        <p:spPr>
          <a:xfrm>
            <a:off x="9087533" y="5132237"/>
            <a:ext cx="27592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8" name="Shape 106"/>
          <p:cNvSpPr/>
          <p:nvPr/>
        </p:nvSpPr>
        <p:spPr>
          <a:xfrm>
            <a:off x="8920751" y="5362450"/>
            <a:ext cx="442705"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−$59</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26 of 33 stores grew CP labor per RO, led by LINCOLN at +$111 to $416. 7 declined; LR RENO fell most at −$59.</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$228</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$238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+$9</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+4.1%</a:t>
            </a:r>
            <a:endParaRPr lang="en-US" sz="30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$251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$232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$242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$9 to $238, ahead of 2025 in all nine months. Parts sale grew $2,750,802 on flat RO count.</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16736"/>
            <a:ext cx="338328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LUXURY · 9 STORES</a:t>
            </a:r>
            <a:endParaRPr lang="en-US" sz="1400" dirty="0"/>
          </a:p>
        </p:txBody>
      </p:sp>
      <p:sp>
        <p:nvSpPr>
          <p:cNvPr id="7" name="Text 5"/>
          <p:cNvSpPr txBox="1"/>
          <p:nvPr/>
        </p:nvSpPr>
        <p:spPr>
          <a:xfrm>
            <a:off x="658368" y="175564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 name="Shape 6"/>
          <p:cNvSpPr/>
          <p:nvPr/>
        </p:nvSpPr>
        <p:spPr>
          <a:xfrm>
            <a:off x="2267712" y="1832317"/>
            <a:ext cx="1030941" cy="153338"/>
          </a:xfrm>
          <a:prstGeom prst="rect">
            <a:avLst/>
          </a:prstGeom>
          <a:solidFill>
            <a:srgbClr val="12A566"/>
          </a:solidFill>
          <a:ln/>
        </p:spPr>
      </p:sp>
      <p:sp>
        <p:nvSpPr>
          <p:cNvPr id="9" name="Text 7"/>
          <p:cNvSpPr txBox="1"/>
          <p:nvPr/>
        </p:nvSpPr>
        <p:spPr>
          <a:xfrm>
            <a:off x="3355848" y="1755648"/>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$926</a:t>
            </a:r>
            <a:endParaRPr lang="en-US" sz="1300" dirty="0"/>
          </a:p>
        </p:txBody>
      </p:sp>
      <p:sp>
        <p:nvSpPr>
          <p:cNvPr id="10" name="Text 8"/>
          <p:cNvSpPr txBox="1"/>
          <p:nvPr/>
        </p:nvSpPr>
        <p:spPr>
          <a:xfrm>
            <a:off x="658368" y="206232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11" name="Shape 9"/>
          <p:cNvSpPr/>
          <p:nvPr/>
        </p:nvSpPr>
        <p:spPr>
          <a:xfrm>
            <a:off x="2267712" y="2138993"/>
            <a:ext cx="939609" cy="153338"/>
          </a:xfrm>
          <a:prstGeom prst="rect">
            <a:avLst/>
          </a:prstGeom>
          <a:solidFill>
            <a:srgbClr val="12A566"/>
          </a:solidFill>
          <a:ln/>
        </p:spPr>
      </p:sp>
      <p:sp>
        <p:nvSpPr>
          <p:cNvPr id="12" name="Text 10"/>
          <p:cNvSpPr txBox="1"/>
          <p:nvPr/>
        </p:nvSpPr>
        <p:spPr>
          <a:xfrm>
            <a:off x="3355848" y="2062324"/>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$844</a:t>
            </a:r>
            <a:endParaRPr lang="en-US" sz="1300" dirty="0"/>
          </a:p>
        </p:txBody>
      </p:sp>
      <p:sp>
        <p:nvSpPr>
          <p:cNvPr id="13" name="Text 11"/>
          <p:cNvSpPr txBox="1"/>
          <p:nvPr/>
        </p:nvSpPr>
        <p:spPr>
          <a:xfrm>
            <a:off x="658368" y="236899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4" name="Shape 12"/>
          <p:cNvSpPr/>
          <p:nvPr/>
        </p:nvSpPr>
        <p:spPr>
          <a:xfrm>
            <a:off x="2267712" y="2445668"/>
            <a:ext cx="905544" cy="153338"/>
          </a:xfrm>
          <a:prstGeom prst="rect">
            <a:avLst/>
          </a:prstGeom>
          <a:solidFill>
            <a:srgbClr val="12A566"/>
          </a:solidFill>
          <a:ln/>
        </p:spPr>
      </p:sp>
      <p:sp>
        <p:nvSpPr>
          <p:cNvPr id="15" name="Text 13"/>
          <p:cNvSpPr txBox="1"/>
          <p:nvPr/>
        </p:nvSpPr>
        <p:spPr>
          <a:xfrm>
            <a:off x="3355848" y="2368999"/>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$814</a:t>
            </a:r>
            <a:endParaRPr lang="en-US" sz="1300" dirty="0"/>
          </a:p>
        </p:txBody>
      </p:sp>
      <p:sp>
        <p:nvSpPr>
          <p:cNvPr id="16" name="Text 14"/>
          <p:cNvSpPr txBox="1"/>
          <p:nvPr/>
        </p:nvSpPr>
        <p:spPr>
          <a:xfrm>
            <a:off x="658368" y="2675675"/>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7" name="Shape 15"/>
          <p:cNvSpPr/>
          <p:nvPr/>
        </p:nvSpPr>
        <p:spPr>
          <a:xfrm>
            <a:off x="2267712" y="2752344"/>
            <a:ext cx="820245" cy="153338"/>
          </a:xfrm>
          <a:prstGeom prst="rect">
            <a:avLst/>
          </a:prstGeom>
          <a:solidFill>
            <a:srgbClr val="12A566"/>
          </a:solidFill>
          <a:ln/>
        </p:spPr>
      </p:sp>
      <p:sp>
        <p:nvSpPr>
          <p:cNvPr id="18" name="Text 16"/>
          <p:cNvSpPr txBox="1"/>
          <p:nvPr/>
        </p:nvSpPr>
        <p:spPr>
          <a:xfrm>
            <a:off x="3355848" y="2675675"/>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$737</a:t>
            </a:r>
            <a:endParaRPr lang="en-US" sz="1300" dirty="0"/>
          </a:p>
        </p:txBody>
      </p:sp>
      <p:sp>
        <p:nvSpPr>
          <p:cNvPr id="19" name="Text 17"/>
          <p:cNvSpPr txBox="1"/>
          <p:nvPr/>
        </p:nvSpPr>
        <p:spPr>
          <a:xfrm>
            <a:off x="658368" y="2982351"/>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0" name="Shape 18"/>
          <p:cNvSpPr/>
          <p:nvPr/>
        </p:nvSpPr>
        <p:spPr>
          <a:xfrm>
            <a:off x="2267712" y="3059020"/>
            <a:ext cx="603026" cy="153338"/>
          </a:xfrm>
          <a:prstGeom prst="rect">
            <a:avLst/>
          </a:prstGeom>
          <a:solidFill>
            <a:srgbClr val="12A566"/>
          </a:solidFill>
          <a:ln/>
        </p:spPr>
      </p:sp>
      <p:sp>
        <p:nvSpPr>
          <p:cNvPr id="21" name="Text 19"/>
          <p:cNvSpPr txBox="1"/>
          <p:nvPr/>
        </p:nvSpPr>
        <p:spPr>
          <a:xfrm>
            <a:off x="3355848" y="2982351"/>
            <a:ext cx="777240"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$542</a:t>
            </a:r>
            <a:endParaRPr lang="en-US" sz="1300" dirty="0"/>
          </a:p>
        </p:txBody>
      </p:sp>
      <p:sp>
        <p:nvSpPr>
          <p:cNvPr id="22" name="Shape 20"/>
          <p:cNvSpPr/>
          <p:nvPr/>
        </p:nvSpPr>
        <p:spPr>
          <a:xfrm>
            <a:off x="603504" y="3289026"/>
            <a:ext cx="3566160" cy="297532"/>
          </a:xfrm>
          <a:prstGeom prst="rect">
            <a:avLst/>
          </a:prstGeom>
          <a:solidFill>
            <a:srgbClr val="EDF4FA"/>
          </a:solidFill>
          <a:ln/>
        </p:spPr>
      </p:sp>
      <p:sp>
        <p:nvSpPr>
          <p:cNvPr id="23" name="Text 21"/>
          <p:cNvSpPr txBox="1"/>
          <p:nvPr/>
        </p:nvSpPr>
        <p:spPr>
          <a:xfrm>
            <a:off x="658368" y="3289026"/>
            <a:ext cx="155448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LUXURY</a:t>
            </a:r>
            <a:endParaRPr lang="en-US" sz="1300" dirty="0"/>
          </a:p>
        </p:txBody>
      </p:sp>
      <p:sp>
        <p:nvSpPr>
          <p:cNvPr id="24" name="Shape 22"/>
          <p:cNvSpPr/>
          <p:nvPr/>
        </p:nvSpPr>
        <p:spPr>
          <a:xfrm>
            <a:off x="2267712" y="3365695"/>
            <a:ext cx="594783" cy="153338"/>
          </a:xfrm>
          <a:prstGeom prst="rect">
            <a:avLst/>
          </a:prstGeom>
          <a:solidFill>
            <a:srgbClr val="0B2C4A"/>
          </a:solidFill>
          <a:ln/>
        </p:spPr>
      </p:sp>
      <p:sp>
        <p:nvSpPr>
          <p:cNvPr id="25" name="Text 23"/>
          <p:cNvSpPr txBox="1"/>
          <p:nvPr/>
        </p:nvSpPr>
        <p:spPr>
          <a:xfrm>
            <a:off x="3355848" y="3289026"/>
            <a:ext cx="777240"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$534</a:t>
            </a:r>
            <a:endParaRPr lang="en-US" sz="1300" dirty="0"/>
          </a:p>
        </p:txBody>
      </p:sp>
      <p:sp>
        <p:nvSpPr>
          <p:cNvPr id="26" name="Text 24"/>
          <p:cNvSpPr txBox="1"/>
          <p:nvPr/>
        </p:nvSpPr>
        <p:spPr>
          <a:xfrm>
            <a:off x="658368" y="3595702"/>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7" name="Shape 25"/>
          <p:cNvSpPr/>
          <p:nvPr/>
        </p:nvSpPr>
        <p:spPr>
          <a:xfrm>
            <a:off x="2267712" y="3672371"/>
            <a:ext cx="560785" cy="153338"/>
          </a:xfrm>
          <a:prstGeom prst="rect">
            <a:avLst/>
          </a:prstGeom>
          <a:solidFill>
            <a:srgbClr val="C2352F"/>
          </a:solidFill>
          <a:ln/>
        </p:spPr>
      </p:sp>
      <p:sp>
        <p:nvSpPr>
          <p:cNvPr id="28" name="Text 26"/>
          <p:cNvSpPr txBox="1"/>
          <p:nvPr/>
        </p:nvSpPr>
        <p:spPr>
          <a:xfrm>
            <a:off x="3355848" y="3595702"/>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$504</a:t>
            </a:r>
            <a:endParaRPr lang="en-US" sz="1300" dirty="0"/>
          </a:p>
        </p:txBody>
      </p:sp>
      <p:sp>
        <p:nvSpPr>
          <p:cNvPr id="29" name="Text 27"/>
          <p:cNvSpPr txBox="1"/>
          <p:nvPr/>
        </p:nvSpPr>
        <p:spPr>
          <a:xfrm>
            <a:off x="658368" y="3902378"/>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0" name="Shape 28"/>
          <p:cNvSpPr/>
          <p:nvPr/>
        </p:nvSpPr>
        <p:spPr>
          <a:xfrm>
            <a:off x="2267712" y="3979047"/>
            <a:ext cx="403834" cy="153338"/>
          </a:xfrm>
          <a:prstGeom prst="rect">
            <a:avLst/>
          </a:prstGeom>
          <a:solidFill>
            <a:srgbClr val="C2352F"/>
          </a:solidFill>
          <a:ln/>
        </p:spPr>
      </p:sp>
      <p:sp>
        <p:nvSpPr>
          <p:cNvPr id="31" name="Text 29"/>
          <p:cNvSpPr txBox="1"/>
          <p:nvPr/>
        </p:nvSpPr>
        <p:spPr>
          <a:xfrm>
            <a:off x="3355848" y="3902378"/>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$363</a:t>
            </a:r>
            <a:endParaRPr lang="en-US" sz="1300" dirty="0"/>
          </a:p>
        </p:txBody>
      </p:sp>
      <p:sp>
        <p:nvSpPr>
          <p:cNvPr id="32" name="Text 30"/>
          <p:cNvSpPr txBox="1"/>
          <p:nvPr/>
        </p:nvSpPr>
        <p:spPr>
          <a:xfrm>
            <a:off x="658368" y="4209054"/>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33" name="Shape 31"/>
          <p:cNvSpPr/>
          <p:nvPr/>
        </p:nvSpPr>
        <p:spPr>
          <a:xfrm>
            <a:off x="2267712" y="4285722"/>
            <a:ext cx="389252" cy="153338"/>
          </a:xfrm>
          <a:prstGeom prst="rect">
            <a:avLst/>
          </a:prstGeom>
          <a:solidFill>
            <a:srgbClr val="C2352F"/>
          </a:solidFill>
          <a:ln/>
        </p:spPr>
      </p:sp>
      <p:sp>
        <p:nvSpPr>
          <p:cNvPr id="34" name="Text 32"/>
          <p:cNvSpPr txBox="1"/>
          <p:nvPr/>
        </p:nvSpPr>
        <p:spPr>
          <a:xfrm>
            <a:off x="3355848" y="4209054"/>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$350</a:t>
            </a:r>
            <a:endParaRPr lang="en-US" sz="1300" dirty="0"/>
          </a:p>
        </p:txBody>
      </p:sp>
      <p:sp>
        <p:nvSpPr>
          <p:cNvPr id="35" name="Text 33"/>
          <p:cNvSpPr txBox="1"/>
          <p:nvPr/>
        </p:nvSpPr>
        <p:spPr>
          <a:xfrm>
            <a:off x="658368" y="4515729"/>
            <a:ext cx="155448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6" name="Shape 34"/>
          <p:cNvSpPr/>
          <p:nvPr/>
        </p:nvSpPr>
        <p:spPr>
          <a:xfrm>
            <a:off x="2267712" y="4592398"/>
            <a:ext cx="267398" cy="153338"/>
          </a:xfrm>
          <a:prstGeom prst="rect">
            <a:avLst/>
          </a:prstGeom>
          <a:solidFill>
            <a:srgbClr val="C2352F"/>
          </a:solidFill>
          <a:ln/>
        </p:spPr>
      </p:sp>
      <p:sp>
        <p:nvSpPr>
          <p:cNvPr id="37" name="Text 35"/>
          <p:cNvSpPr txBox="1"/>
          <p:nvPr/>
        </p:nvSpPr>
        <p:spPr>
          <a:xfrm>
            <a:off x="3355848" y="4515729"/>
            <a:ext cx="777240"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$240</a:t>
            </a:r>
            <a:endParaRPr lang="en-US" sz="1300" dirty="0"/>
          </a:p>
        </p:txBody>
      </p:sp>
      <p:sp>
        <p:nvSpPr>
          <p:cNvPr id="38" name="Text 36"/>
          <p:cNvSpPr txBox="1"/>
          <p:nvPr/>
        </p:nvSpPr>
        <p:spPr>
          <a:xfrm>
            <a:off x="658368" y="4950421"/>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LUXURY AVG  </a:t>
            </a:r>
            <a:pPr indent="0" marL="0">
              <a:buNone/>
            </a:pPr>
            <a:r>
              <a:rPr lang="en-US" sz="1800" b="1" dirty="0">
                <a:solidFill>
                  <a:srgbClr val="0B2C4A"/>
                </a:solidFill>
                <a:latin typeface="Inter" pitchFamily="34" charset="0"/>
                <a:ea typeface="Inter" pitchFamily="34" charset="-122"/>
                <a:cs typeface="Inter" pitchFamily="34" charset="-120"/>
              </a:rPr>
              <a:t>$534  </a:t>
            </a:r>
            <a:pPr indent="0" marL="0">
              <a:buNone/>
            </a:pPr>
            <a:r>
              <a:rPr lang="en-US" sz="1400" b="1" dirty="0">
                <a:solidFill>
                  <a:srgbClr val="0B7A4A"/>
                </a:solidFill>
                <a:latin typeface="Inter" pitchFamily="34" charset="0"/>
                <a:ea typeface="Inter" pitchFamily="34" charset="-122"/>
                <a:cs typeface="Inter" pitchFamily="34" charset="-120"/>
              </a:rPr>
              <a:t>(+$12)</a:t>
            </a:r>
            <a:endParaRPr lang="en-US" sz="1400" dirty="0"/>
          </a:p>
        </p:txBody>
      </p:sp>
      <p:sp>
        <p:nvSpPr>
          <p:cNvPr id="39" name="Text 37"/>
          <p:cNvSpPr txBox="1"/>
          <p:nvPr/>
        </p:nvSpPr>
        <p:spPr>
          <a:xfrm>
            <a:off x="658368" y="5334469"/>
            <a:ext cx="3383280" cy="365760"/>
          </a:xfrm>
          <a:prstGeom prst="rect">
            <a:avLst/>
          </a:prstGeom>
          <a:noFill/>
          <a:ln/>
        </p:spPr>
        <p:txBody>
          <a:bodyPr wrap="square" lIns="0" tIns="0" rIns="0" bIns="0" rtlCol="0" anchor="ctr"/>
          <a:lstStyle/>
          <a:p>
            <a:pPr indent="0" marL="0">
              <a:buNone/>
            </a:pPr>
            <a:r>
              <a:rPr lang="en-US" sz="1400" b="1" dirty="0">
                <a:solidFill>
                  <a:srgbClr val="595959"/>
                </a:solidFill>
                <a:latin typeface="Inter" pitchFamily="34" charset="0"/>
                <a:ea typeface="Inter" pitchFamily="34" charset="-122"/>
                <a:cs typeface="Inter" pitchFamily="34" charset="-120"/>
              </a:rPr>
              <a:t>NON-LUXURY AVG  </a:t>
            </a:r>
            <a:pPr indent="0" marL="0">
              <a:buNone/>
            </a:pPr>
            <a:r>
              <a:rPr lang="en-US" sz="1800" b="1" dirty="0">
                <a:solidFill>
                  <a:srgbClr val="0B2C4A"/>
                </a:solidFill>
                <a:latin typeface="Inter" pitchFamily="34" charset="0"/>
                <a:ea typeface="Inter" pitchFamily="34" charset="-122"/>
                <a:cs typeface="Inter" pitchFamily="34" charset="-120"/>
              </a:rPr>
              <a:t>$202  </a:t>
            </a:r>
            <a:pPr indent="0" marL="0">
              <a:buNone/>
            </a:pPr>
            <a:r>
              <a:rPr lang="en-US" sz="1400" b="1" dirty="0">
                <a:solidFill>
                  <a:srgbClr val="0B7A4A"/>
                </a:solidFill>
                <a:latin typeface="Inter" pitchFamily="34" charset="0"/>
                <a:ea typeface="Inter" pitchFamily="34" charset="-122"/>
                <a:cs typeface="Inter" pitchFamily="34" charset="-120"/>
              </a:rPr>
              <a:t>(+$9)</a:t>
            </a:r>
            <a:endParaRPr lang="en-US" sz="1400" dirty="0"/>
          </a:p>
        </p:txBody>
      </p:sp>
      <p:sp>
        <p:nvSpPr>
          <p:cNvPr id="40" name="Text 38"/>
          <p:cNvSpPr txBox="1"/>
          <p:nvPr/>
        </p:nvSpPr>
        <p:spPr>
          <a:xfrm>
            <a:off x="4315968" y="1316736"/>
            <a:ext cx="7132320" cy="329184"/>
          </a:xfrm>
          <a:prstGeom prst="rect">
            <a:avLst/>
          </a:prstGeom>
          <a:noFill/>
          <a:ln/>
        </p:spPr>
        <p:txBody>
          <a:bodyPr wrap="square" lIns="0" tIns="0" rIns="0" bIns="0" rtlCol="0" anchor="ctr"/>
          <a:lstStyle/>
          <a:p>
            <a:pPr indent="0" marL="0">
              <a:buNone/>
            </a:pPr>
            <a:r>
              <a:rPr lang="en-US" sz="1400" b="1" spc="90" kern="0" dirty="0">
                <a:solidFill>
                  <a:srgbClr val="0B2C4A"/>
                </a:solidFill>
                <a:latin typeface="Inter" pitchFamily="34" charset="0"/>
                <a:ea typeface="Inter" pitchFamily="34" charset="-122"/>
                <a:cs typeface="Inter" pitchFamily="34" charset="-120"/>
              </a:rPr>
              <a:t>NON-LUXURY · 24 STORES</a:t>
            </a:r>
            <a:endParaRPr lang="en-US" sz="1400" dirty="0"/>
          </a:p>
        </p:txBody>
      </p:sp>
      <p:sp>
        <p:nvSpPr>
          <p:cNvPr id="41" name="Text 39"/>
          <p:cNvSpPr txBox="1"/>
          <p:nvPr/>
        </p:nvSpPr>
        <p:spPr>
          <a:xfrm>
            <a:off x="4315968"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42" name="Shape 40"/>
          <p:cNvSpPr/>
          <p:nvPr/>
        </p:nvSpPr>
        <p:spPr>
          <a:xfrm>
            <a:off x="6291072" y="1832317"/>
            <a:ext cx="627529" cy="153338"/>
          </a:xfrm>
          <a:prstGeom prst="rect">
            <a:avLst/>
          </a:prstGeom>
          <a:solidFill>
            <a:srgbClr val="12A566"/>
          </a:solidFill>
          <a:ln/>
        </p:spPr>
      </p:sp>
      <p:sp>
        <p:nvSpPr>
          <p:cNvPr id="43" name="Text 41"/>
          <p:cNvSpPr txBox="1"/>
          <p:nvPr/>
        </p:nvSpPr>
        <p:spPr>
          <a:xfrm>
            <a:off x="6967728"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$332</a:t>
            </a:r>
            <a:endParaRPr lang="en-US" sz="1300" dirty="0"/>
          </a:p>
        </p:txBody>
      </p:sp>
      <p:sp>
        <p:nvSpPr>
          <p:cNvPr id="44" name="Text 42"/>
          <p:cNvSpPr txBox="1"/>
          <p:nvPr/>
        </p:nvSpPr>
        <p:spPr>
          <a:xfrm>
            <a:off x="4315968"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45" name="Shape 43"/>
          <p:cNvSpPr/>
          <p:nvPr/>
        </p:nvSpPr>
        <p:spPr>
          <a:xfrm>
            <a:off x="6291072" y="2138993"/>
            <a:ext cx="549290" cy="153338"/>
          </a:xfrm>
          <a:prstGeom prst="rect">
            <a:avLst/>
          </a:prstGeom>
          <a:solidFill>
            <a:srgbClr val="12A566"/>
          </a:solidFill>
          <a:ln/>
        </p:spPr>
      </p:sp>
      <p:sp>
        <p:nvSpPr>
          <p:cNvPr id="46" name="Text 44"/>
          <p:cNvSpPr txBox="1"/>
          <p:nvPr/>
        </p:nvSpPr>
        <p:spPr>
          <a:xfrm>
            <a:off x="6967728"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$290</a:t>
            </a:r>
            <a:endParaRPr lang="en-US" sz="1300" dirty="0"/>
          </a:p>
        </p:txBody>
      </p:sp>
      <p:sp>
        <p:nvSpPr>
          <p:cNvPr id="47" name="Text 45"/>
          <p:cNvSpPr txBox="1"/>
          <p:nvPr/>
        </p:nvSpPr>
        <p:spPr>
          <a:xfrm>
            <a:off x="4315968"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48" name="Shape 46"/>
          <p:cNvSpPr/>
          <p:nvPr/>
        </p:nvSpPr>
        <p:spPr>
          <a:xfrm>
            <a:off x="6291072" y="2445668"/>
            <a:ext cx="532049" cy="153338"/>
          </a:xfrm>
          <a:prstGeom prst="rect">
            <a:avLst/>
          </a:prstGeom>
          <a:solidFill>
            <a:srgbClr val="12A566"/>
          </a:solidFill>
          <a:ln/>
        </p:spPr>
      </p:sp>
      <p:sp>
        <p:nvSpPr>
          <p:cNvPr id="49" name="Text 47"/>
          <p:cNvSpPr txBox="1"/>
          <p:nvPr/>
        </p:nvSpPr>
        <p:spPr>
          <a:xfrm>
            <a:off x="6967728"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$281</a:t>
            </a:r>
            <a:endParaRPr lang="en-US" sz="1300" dirty="0"/>
          </a:p>
        </p:txBody>
      </p:sp>
      <p:sp>
        <p:nvSpPr>
          <p:cNvPr id="50" name="Text 48"/>
          <p:cNvSpPr txBox="1"/>
          <p:nvPr/>
        </p:nvSpPr>
        <p:spPr>
          <a:xfrm>
            <a:off x="4315968" y="267567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51" name="Shape 49"/>
          <p:cNvSpPr/>
          <p:nvPr/>
        </p:nvSpPr>
        <p:spPr>
          <a:xfrm>
            <a:off x="6291072" y="2752344"/>
            <a:ext cx="530476" cy="153338"/>
          </a:xfrm>
          <a:prstGeom prst="rect">
            <a:avLst/>
          </a:prstGeom>
          <a:solidFill>
            <a:srgbClr val="12A566"/>
          </a:solidFill>
          <a:ln/>
        </p:spPr>
      </p:sp>
      <p:sp>
        <p:nvSpPr>
          <p:cNvPr id="52" name="Text 50"/>
          <p:cNvSpPr txBox="1"/>
          <p:nvPr/>
        </p:nvSpPr>
        <p:spPr>
          <a:xfrm>
            <a:off x="6967728" y="267567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$280</a:t>
            </a:r>
            <a:endParaRPr lang="en-US" sz="1300" dirty="0"/>
          </a:p>
        </p:txBody>
      </p:sp>
      <p:sp>
        <p:nvSpPr>
          <p:cNvPr id="53" name="Text 51"/>
          <p:cNvSpPr txBox="1"/>
          <p:nvPr/>
        </p:nvSpPr>
        <p:spPr>
          <a:xfrm>
            <a:off x="4315968"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54" name="Shape 52"/>
          <p:cNvSpPr/>
          <p:nvPr/>
        </p:nvSpPr>
        <p:spPr>
          <a:xfrm>
            <a:off x="6291072" y="3059020"/>
            <a:ext cx="530317" cy="153338"/>
          </a:xfrm>
          <a:prstGeom prst="rect">
            <a:avLst/>
          </a:prstGeom>
          <a:solidFill>
            <a:srgbClr val="12A566"/>
          </a:solidFill>
          <a:ln/>
        </p:spPr>
      </p:sp>
      <p:sp>
        <p:nvSpPr>
          <p:cNvPr id="55" name="Text 53"/>
          <p:cNvSpPr txBox="1"/>
          <p:nvPr/>
        </p:nvSpPr>
        <p:spPr>
          <a:xfrm>
            <a:off x="6967728" y="298235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$280</a:t>
            </a:r>
            <a:endParaRPr lang="en-US" sz="1300" dirty="0"/>
          </a:p>
        </p:txBody>
      </p:sp>
      <p:sp>
        <p:nvSpPr>
          <p:cNvPr id="56" name="Text 54"/>
          <p:cNvSpPr txBox="1"/>
          <p:nvPr/>
        </p:nvSpPr>
        <p:spPr>
          <a:xfrm>
            <a:off x="4315968"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57" name="Shape 55"/>
          <p:cNvSpPr/>
          <p:nvPr/>
        </p:nvSpPr>
        <p:spPr>
          <a:xfrm>
            <a:off x="6291072" y="3365695"/>
            <a:ext cx="522725" cy="153338"/>
          </a:xfrm>
          <a:prstGeom prst="rect">
            <a:avLst/>
          </a:prstGeom>
          <a:solidFill>
            <a:srgbClr val="12A566"/>
          </a:solidFill>
          <a:ln/>
        </p:spPr>
      </p:sp>
      <p:sp>
        <p:nvSpPr>
          <p:cNvPr id="58" name="Text 56"/>
          <p:cNvSpPr txBox="1"/>
          <p:nvPr/>
        </p:nvSpPr>
        <p:spPr>
          <a:xfrm>
            <a:off x="6967728" y="328902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$276</a:t>
            </a:r>
            <a:endParaRPr lang="en-US" sz="1300" dirty="0"/>
          </a:p>
        </p:txBody>
      </p:sp>
      <p:sp>
        <p:nvSpPr>
          <p:cNvPr id="59" name="Text 57"/>
          <p:cNvSpPr txBox="1"/>
          <p:nvPr/>
        </p:nvSpPr>
        <p:spPr>
          <a:xfrm>
            <a:off x="4315968"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60" name="Shape 58"/>
          <p:cNvSpPr/>
          <p:nvPr/>
        </p:nvSpPr>
        <p:spPr>
          <a:xfrm>
            <a:off x="6291072" y="3672371"/>
            <a:ext cx="508315" cy="153338"/>
          </a:xfrm>
          <a:prstGeom prst="rect">
            <a:avLst/>
          </a:prstGeom>
          <a:solidFill>
            <a:srgbClr val="12A566"/>
          </a:solidFill>
          <a:ln/>
        </p:spPr>
      </p:sp>
      <p:sp>
        <p:nvSpPr>
          <p:cNvPr id="61" name="Text 59"/>
          <p:cNvSpPr txBox="1"/>
          <p:nvPr/>
        </p:nvSpPr>
        <p:spPr>
          <a:xfrm>
            <a:off x="6967728" y="3595702"/>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$269</a:t>
            </a:r>
            <a:endParaRPr lang="en-US" sz="1300" dirty="0"/>
          </a:p>
        </p:txBody>
      </p:sp>
      <p:sp>
        <p:nvSpPr>
          <p:cNvPr id="62" name="Text 60"/>
          <p:cNvSpPr txBox="1"/>
          <p:nvPr/>
        </p:nvSpPr>
        <p:spPr>
          <a:xfrm>
            <a:off x="4315968"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3" name="Shape 61"/>
          <p:cNvSpPr/>
          <p:nvPr/>
        </p:nvSpPr>
        <p:spPr>
          <a:xfrm>
            <a:off x="6291072" y="3979047"/>
            <a:ext cx="499621" cy="153338"/>
          </a:xfrm>
          <a:prstGeom prst="rect">
            <a:avLst/>
          </a:prstGeom>
          <a:solidFill>
            <a:srgbClr val="12A566"/>
          </a:solidFill>
          <a:ln/>
        </p:spPr>
      </p:sp>
      <p:sp>
        <p:nvSpPr>
          <p:cNvPr id="64" name="Text 62"/>
          <p:cNvSpPr txBox="1"/>
          <p:nvPr/>
        </p:nvSpPr>
        <p:spPr>
          <a:xfrm>
            <a:off x="6967728" y="390237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$264</a:t>
            </a:r>
            <a:endParaRPr lang="en-US" sz="1300" dirty="0"/>
          </a:p>
        </p:txBody>
      </p:sp>
      <p:sp>
        <p:nvSpPr>
          <p:cNvPr id="65" name="Text 63"/>
          <p:cNvSpPr txBox="1"/>
          <p:nvPr/>
        </p:nvSpPr>
        <p:spPr>
          <a:xfrm>
            <a:off x="4315968"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66" name="Shape 64"/>
          <p:cNvSpPr/>
          <p:nvPr/>
        </p:nvSpPr>
        <p:spPr>
          <a:xfrm>
            <a:off x="6291072" y="4285722"/>
            <a:ext cx="490656" cy="153338"/>
          </a:xfrm>
          <a:prstGeom prst="rect">
            <a:avLst/>
          </a:prstGeom>
          <a:solidFill>
            <a:srgbClr val="12A566"/>
          </a:solidFill>
          <a:ln/>
        </p:spPr>
      </p:sp>
      <p:sp>
        <p:nvSpPr>
          <p:cNvPr id="67" name="Text 65"/>
          <p:cNvSpPr txBox="1"/>
          <p:nvPr/>
        </p:nvSpPr>
        <p:spPr>
          <a:xfrm>
            <a:off x="6967728" y="420905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$259</a:t>
            </a:r>
            <a:endParaRPr lang="en-US" sz="1300" dirty="0"/>
          </a:p>
        </p:txBody>
      </p:sp>
      <p:sp>
        <p:nvSpPr>
          <p:cNvPr id="68" name="Text 66"/>
          <p:cNvSpPr txBox="1"/>
          <p:nvPr/>
        </p:nvSpPr>
        <p:spPr>
          <a:xfrm>
            <a:off x="4315968"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69" name="Shape 67"/>
          <p:cNvSpPr/>
          <p:nvPr/>
        </p:nvSpPr>
        <p:spPr>
          <a:xfrm>
            <a:off x="6291072" y="4592398"/>
            <a:ext cx="445055" cy="153338"/>
          </a:xfrm>
          <a:prstGeom prst="rect">
            <a:avLst/>
          </a:prstGeom>
          <a:solidFill>
            <a:srgbClr val="12A566"/>
          </a:solidFill>
          <a:ln/>
        </p:spPr>
      </p:sp>
      <p:sp>
        <p:nvSpPr>
          <p:cNvPr id="70" name="Text 68"/>
          <p:cNvSpPr txBox="1"/>
          <p:nvPr/>
        </p:nvSpPr>
        <p:spPr>
          <a:xfrm>
            <a:off x="6967728" y="451572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$235</a:t>
            </a:r>
            <a:endParaRPr lang="en-US" sz="1300" dirty="0"/>
          </a:p>
        </p:txBody>
      </p:sp>
      <p:sp>
        <p:nvSpPr>
          <p:cNvPr id="71" name="Text 69"/>
          <p:cNvSpPr txBox="1"/>
          <p:nvPr/>
        </p:nvSpPr>
        <p:spPr>
          <a:xfrm>
            <a:off x="4315968"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2" name="Shape 70"/>
          <p:cNvSpPr/>
          <p:nvPr/>
        </p:nvSpPr>
        <p:spPr>
          <a:xfrm>
            <a:off x="6291072" y="4899074"/>
            <a:ext cx="413647" cy="153338"/>
          </a:xfrm>
          <a:prstGeom prst="rect">
            <a:avLst/>
          </a:prstGeom>
          <a:solidFill>
            <a:srgbClr val="12A566"/>
          </a:solidFill>
          <a:ln/>
        </p:spPr>
      </p:sp>
      <p:sp>
        <p:nvSpPr>
          <p:cNvPr id="73" name="Text 71"/>
          <p:cNvSpPr txBox="1"/>
          <p:nvPr/>
        </p:nvSpPr>
        <p:spPr>
          <a:xfrm>
            <a:off x="6967728" y="4822405"/>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$219</a:t>
            </a:r>
            <a:endParaRPr lang="en-US" sz="1300" dirty="0"/>
          </a:p>
        </p:txBody>
      </p:sp>
      <p:sp>
        <p:nvSpPr>
          <p:cNvPr id="74" name="Text 72"/>
          <p:cNvSpPr txBox="1"/>
          <p:nvPr/>
        </p:nvSpPr>
        <p:spPr>
          <a:xfrm>
            <a:off x="4315968"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5" name="Shape 73"/>
          <p:cNvSpPr/>
          <p:nvPr/>
        </p:nvSpPr>
        <p:spPr>
          <a:xfrm>
            <a:off x="6291072" y="5205750"/>
            <a:ext cx="409648" cy="153338"/>
          </a:xfrm>
          <a:prstGeom prst="rect">
            <a:avLst/>
          </a:prstGeom>
          <a:solidFill>
            <a:srgbClr val="12A566"/>
          </a:solidFill>
          <a:ln/>
        </p:spPr>
      </p:sp>
      <p:sp>
        <p:nvSpPr>
          <p:cNvPr id="76" name="Text 74"/>
          <p:cNvSpPr txBox="1"/>
          <p:nvPr/>
        </p:nvSpPr>
        <p:spPr>
          <a:xfrm>
            <a:off x="6967728" y="5129081"/>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$217</a:t>
            </a:r>
            <a:endParaRPr lang="en-US" sz="1300" dirty="0"/>
          </a:p>
        </p:txBody>
      </p:sp>
      <p:sp>
        <p:nvSpPr>
          <p:cNvPr id="77" name="Text 75"/>
          <p:cNvSpPr txBox="1"/>
          <p:nvPr/>
        </p:nvSpPr>
        <p:spPr>
          <a:xfrm>
            <a:off x="4315968" y="543575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78" name="Shape 76"/>
          <p:cNvSpPr/>
          <p:nvPr/>
        </p:nvSpPr>
        <p:spPr>
          <a:xfrm>
            <a:off x="6291072" y="5512425"/>
            <a:ext cx="403417" cy="153338"/>
          </a:xfrm>
          <a:prstGeom prst="rect">
            <a:avLst/>
          </a:prstGeom>
          <a:solidFill>
            <a:srgbClr val="12A566"/>
          </a:solidFill>
          <a:ln/>
        </p:spPr>
      </p:sp>
      <p:sp>
        <p:nvSpPr>
          <p:cNvPr id="79" name="Text 77"/>
          <p:cNvSpPr txBox="1"/>
          <p:nvPr/>
        </p:nvSpPr>
        <p:spPr>
          <a:xfrm>
            <a:off x="6967728" y="5435756"/>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$213</a:t>
            </a:r>
            <a:endParaRPr lang="en-US" sz="1300" dirty="0"/>
          </a:p>
        </p:txBody>
      </p:sp>
      <p:sp>
        <p:nvSpPr>
          <p:cNvPr id="80" name="Text 78"/>
          <p:cNvSpPr txBox="1"/>
          <p:nvPr/>
        </p:nvSpPr>
        <p:spPr>
          <a:xfrm>
            <a:off x="7918704" y="175564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81" name="Shape 79"/>
          <p:cNvSpPr/>
          <p:nvPr/>
        </p:nvSpPr>
        <p:spPr>
          <a:xfrm>
            <a:off x="9893808" y="1832317"/>
            <a:ext cx="402285" cy="153338"/>
          </a:xfrm>
          <a:prstGeom prst="rect">
            <a:avLst/>
          </a:prstGeom>
          <a:solidFill>
            <a:srgbClr val="12A566"/>
          </a:solidFill>
          <a:ln/>
        </p:spPr>
      </p:sp>
      <p:sp>
        <p:nvSpPr>
          <p:cNvPr id="82" name="Text 80"/>
          <p:cNvSpPr txBox="1"/>
          <p:nvPr/>
        </p:nvSpPr>
        <p:spPr>
          <a:xfrm>
            <a:off x="10570464" y="1755648"/>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$213</a:t>
            </a:r>
            <a:endParaRPr lang="en-US" sz="1300" dirty="0"/>
          </a:p>
        </p:txBody>
      </p:sp>
      <p:sp>
        <p:nvSpPr>
          <p:cNvPr id="83" name="Text 81"/>
          <p:cNvSpPr txBox="1"/>
          <p:nvPr/>
        </p:nvSpPr>
        <p:spPr>
          <a:xfrm>
            <a:off x="7918704" y="206232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4" name="Shape 82"/>
          <p:cNvSpPr/>
          <p:nvPr/>
        </p:nvSpPr>
        <p:spPr>
          <a:xfrm>
            <a:off x="9893808" y="2138993"/>
            <a:ext cx="401345" cy="153338"/>
          </a:xfrm>
          <a:prstGeom prst="rect">
            <a:avLst/>
          </a:prstGeom>
          <a:solidFill>
            <a:srgbClr val="12A566"/>
          </a:solidFill>
          <a:ln/>
        </p:spPr>
      </p:sp>
      <p:sp>
        <p:nvSpPr>
          <p:cNvPr id="85" name="Text 83"/>
          <p:cNvSpPr txBox="1"/>
          <p:nvPr/>
        </p:nvSpPr>
        <p:spPr>
          <a:xfrm>
            <a:off x="10570464" y="2062324"/>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$212</a:t>
            </a:r>
            <a:endParaRPr lang="en-US" sz="1300" dirty="0"/>
          </a:p>
        </p:txBody>
      </p:sp>
      <p:sp>
        <p:nvSpPr>
          <p:cNvPr id="86" name="Text 84"/>
          <p:cNvSpPr txBox="1"/>
          <p:nvPr/>
        </p:nvSpPr>
        <p:spPr>
          <a:xfrm>
            <a:off x="7918704" y="236899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87" name="Shape 85"/>
          <p:cNvSpPr/>
          <p:nvPr/>
        </p:nvSpPr>
        <p:spPr>
          <a:xfrm>
            <a:off x="9893808" y="2445668"/>
            <a:ext cx="393477" cy="153338"/>
          </a:xfrm>
          <a:prstGeom prst="rect">
            <a:avLst/>
          </a:prstGeom>
          <a:solidFill>
            <a:srgbClr val="12A566"/>
          </a:solidFill>
          <a:ln/>
        </p:spPr>
      </p:sp>
      <p:sp>
        <p:nvSpPr>
          <p:cNvPr id="88" name="Text 86"/>
          <p:cNvSpPr txBox="1"/>
          <p:nvPr/>
        </p:nvSpPr>
        <p:spPr>
          <a:xfrm>
            <a:off x="10570464" y="2368999"/>
            <a:ext cx="786384" cy="306676"/>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$208</a:t>
            </a:r>
            <a:endParaRPr lang="en-US" sz="1300" dirty="0"/>
          </a:p>
        </p:txBody>
      </p:sp>
      <p:sp>
        <p:nvSpPr>
          <p:cNvPr id="89" name="Shape 87"/>
          <p:cNvSpPr/>
          <p:nvPr/>
        </p:nvSpPr>
        <p:spPr>
          <a:xfrm>
            <a:off x="7863840" y="2675675"/>
            <a:ext cx="3529584" cy="297532"/>
          </a:xfrm>
          <a:prstGeom prst="rect">
            <a:avLst/>
          </a:prstGeom>
          <a:solidFill>
            <a:srgbClr val="EDF4FA"/>
          </a:solidFill>
          <a:ln/>
        </p:spPr>
      </p:sp>
      <p:sp>
        <p:nvSpPr>
          <p:cNvPr id="90" name="Text 88"/>
          <p:cNvSpPr txBox="1"/>
          <p:nvPr/>
        </p:nvSpPr>
        <p:spPr>
          <a:xfrm>
            <a:off x="7918704" y="2675675"/>
            <a:ext cx="1920240" cy="306676"/>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NON-LUXURY</a:t>
            </a:r>
            <a:endParaRPr lang="en-US" sz="1300" dirty="0"/>
          </a:p>
        </p:txBody>
      </p:sp>
      <p:sp>
        <p:nvSpPr>
          <p:cNvPr id="91" name="Shape 89"/>
          <p:cNvSpPr/>
          <p:nvPr/>
        </p:nvSpPr>
        <p:spPr>
          <a:xfrm>
            <a:off x="9893808" y="2752344"/>
            <a:ext cx="382510" cy="153338"/>
          </a:xfrm>
          <a:prstGeom prst="rect">
            <a:avLst/>
          </a:prstGeom>
          <a:solidFill>
            <a:srgbClr val="0B2C4A"/>
          </a:solidFill>
          <a:ln/>
        </p:spPr>
      </p:sp>
      <p:sp>
        <p:nvSpPr>
          <p:cNvPr id="92" name="Text 90"/>
          <p:cNvSpPr txBox="1"/>
          <p:nvPr/>
        </p:nvSpPr>
        <p:spPr>
          <a:xfrm>
            <a:off x="10570464" y="2675675"/>
            <a:ext cx="786384" cy="306676"/>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$202</a:t>
            </a:r>
            <a:endParaRPr lang="en-US" sz="1300" dirty="0"/>
          </a:p>
        </p:txBody>
      </p:sp>
      <p:sp>
        <p:nvSpPr>
          <p:cNvPr id="93" name="Text 91"/>
          <p:cNvSpPr txBox="1"/>
          <p:nvPr/>
        </p:nvSpPr>
        <p:spPr>
          <a:xfrm>
            <a:off x="7918704" y="298235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94" name="Shape 92"/>
          <p:cNvSpPr/>
          <p:nvPr/>
        </p:nvSpPr>
        <p:spPr>
          <a:xfrm>
            <a:off x="9893808" y="3059020"/>
            <a:ext cx="370852" cy="153338"/>
          </a:xfrm>
          <a:prstGeom prst="rect">
            <a:avLst/>
          </a:prstGeom>
          <a:solidFill>
            <a:srgbClr val="C2352F"/>
          </a:solidFill>
          <a:ln/>
        </p:spPr>
      </p:sp>
      <p:sp>
        <p:nvSpPr>
          <p:cNvPr id="95" name="Text 93"/>
          <p:cNvSpPr txBox="1"/>
          <p:nvPr/>
        </p:nvSpPr>
        <p:spPr>
          <a:xfrm>
            <a:off x="10570464" y="298235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$196</a:t>
            </a:r>
            <a:endParaRPr lang="en-US" sz="1300" dirty="0"/>
          </a:p>
        </p:txBody>
      </p:sp>
      <p:sp>
        <p:nvSpPr>
          <p:cNvPr id="96" name="Text 94"/>
          <p:cNvSpPr txBox="1"/>
          <p:nvPr/>
        </p:nvSpPr>
        <p:spPr>
          <a:xfrm>
            <a:off x="7918704" y="3289026"/>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97" name="Shape 95"/>
          <p:cNvSpPr/>
          <p:nvPr/>
        </p:nvSpPr>
        <p:spPr>
          <a:xfrm>
            <a:off x="9893808" y="3365695"/>
            <a:ext cx="365344" cy="153338"/>
          </a:xfrm>
          <a:prstGeom prst="rect">
            <a:avLst/>
          </a:prstGeom>
          <a:solidFill>
            <a:srgbClr val="C2352F"/>
          </a:solidFill>
          <a:ln/>
        </p:spPr>
      </p:sp>
      <p:sp>
        <p:nvSpPr>
          <p:cNvPr id="98" name="Text 96"/>
          <p:cNvSpPr txBox="1"/>
          <p:nvPr/>
        </p:nvSpPr>
        <p:spPr>
          <a:xfrm>
            <a:off x="10570464" y="3289026"/>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$193</a:t>
            </a:r>
            <a:endParaRPr lang="en-US" sz="1300" dirty="0"/>
          </a:p>
        </p:txBody>
      </p:sp>
      <p:sp>
        <p:nvSpPr>
          <p:cNvPr id="99" name="Text 97"/>
          <p:cNvSpPr txBox="1"/>
          <p:nvPr/>
        </p:nvSpPr>
        <p:spPr>
          <a:xfrm>
            <a:off x="7918704" y="3595702"/>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0" name="Shape 98"/>
          <p:cNvSpPr/>
          <p:nvPr/>
        </p:nvSpPr>
        <p:spPr>
          <a:xfrm>
            <a:off x="9893808" y="3672371"/>
            <a:ext cx="346140" cy="153338"/>
          </a:xfrm>
          <a:prstGeom prst="rect">
            <a:avLst/>
          </a:prstGeom>
          <a:solidFill>
            <a:srgbClr val="C2352F"/>
          </a:solidFill>
          <a:ln/>
        </p:spPr>
      </p:sp>
      <p:sp>
        <p:nvSpPr>
          <p:cNvPr id="101" name="Text 99"/>
          <p:cNvSpPr txBox="1"/>
          <p:nvPr/>
        </p:nvSpPr>
        <p:spPr>
          <a:xfrm>
            <a:off x="10570464" y="3595702"/>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$183</a:t>
            </a:r>
            <a:endParaRPr lang="en-US" sz="1300" dirty="0"/>
          </a:p>
        </p:txBody>
      </p:sp>
      <p:sp>
        <p:nvSpPr>
          <p:cNvPr id="102" name="Text 100"/>
          <p:cNvSpPr txBox="1"/>
          <p:nvPr/>
        </p:nvSpPr>
        <p:spPr>
          <a:xfrm>
            <a:off x="7918704" y="3902378"/>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103" name="Shape 101"/>
          <p:cNvSpPr/>
          <p:nvPr/>
        </p:nvSpPr>
        <p:spPr>
          <a:xfrm>
            <a:off x="9893808" y="3979047"/>
            <a:ext cx="342275" cy="153338"/>
          </a:xfrm>
          <a:prstGeom prst="rect">
            <a:avLst/>
          </a:prstGeom>
          <a:solidFill>
            <a:srgbClr val="C2352F"/>
          </a:solidFill>
          <a:ln/>
        </p:spPr>
      </p:sp>
      <p:sp>
        <p:nvSpPr>
          <p:cNvPr id="104" name="Text 102"/>
          <p:cNvSpPr txBox="1"/>
          <p:nvPr/>
        </p:nvSpPr>
        <p:spPr>
          <a:xfrm>
            <a:off x="10570464" y="3902378"/>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$181</a:t>
            </a:r>
            <a:endParaRPr lang="en-US" sz="1300" dirty="0"/>
          </a:p>
        </p:txBody>
      </p:sp>
      <p:sp>
        <p:nvSpPr>
          <p:cNvPr id="105" name="Text 103"/>
          <p:cNvSpPr txBox="1"/>
          <p:nvPr/>
        </p:nvSpPr>
        <p:spPr>
          <a:xfrm>
            <a:off x="7918704" y="4209054"/>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6" name="Shape 104"/>
          <p:cNvSpPr/>
          <p:nvPr/>
        </p:nvSpPr>
        <p:spPr>
          <a:xfrm>
            <a:off x="9893808" y="4285722"/>
            <a:ext cx="321936" cy="153338"/>
          </a:xfrm>
          <a:prstGeom prst="rect">
            <a:avLst/>
          </a:prstGeom>
          <a:solidFill>
            <a:srgbClr val="C2352F"/>
          </a:solidFill>
          <a:ln/>
        </p:spPr>
      </p:sp>
      <p:sp>
        <p:nvSpPr>
          <p:cNvPr id="107" name="Text 105"/>
          <p:cNvSpPr txBox="1"/>
          <p:nvPr/>
        </p:nvSpPr>
        <p:spPr>
          <a:xfrm>
            <a:off x="10570464" y="4209054"/>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$170</a:t>
            </a:r>
            <a:endParaRPr lang="en-US" sz="1300" dirty="0"/>
          </a:p>
        </p:txBody>
      </p:sp>
      <p:sp>
        <p:nvSpPr>
          <p:cNvPr id="108" name="Text 106"/>
          <p:cNvSpPr txBox="1"/>
          <p:nvPr/>
        </p:nvSpPr>
        <p:spPr>
          <a:xfrm>
            <a:off x="7918704" y="4515729"/>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09" name="Shape 107"/>
          <p:cNvSpPr/>
          <p:nvPr/>
        </p:nvSpPr>
        <p:spPr>
          <a:xfrm>
            <a:off x="9893808" y="4592398"/>
            <a:ext cx="290572" cy="153338"/>
          </a:xfrm>
          <a:prstGeom prst="rect">
            <a:avLst/>
          </a:prstGeom>
          <a:solidFill>
            <a:srgbClr val="C2352F"/>
          </a:solidFill>
          <a:ln/>
        </p:spPr>
      </p:sp>
      <p:sp>
        <p:nvSpPr>
          <p:cNvPr id="110" name="Text 108"/>
          <p:cNvSpPr txBox="1"/>
          <p:nvPr/>
        </p:nvSpPr>
        <p:spPr>
          <a:xfrm>
            <a:off x="10570464" y="4515729"/>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$154</a:t>
            </a:r>
            <a:endParaRPr lang="en-US" sz="1300" dirty="0"/>
          </a:p>
        </p:txBody>
      </p:sp>
      <p:sp>
        <p:nvSpPr>
          <p:cNvPr id="111" name="Text 109"/>
          <p:cNvSpPr txBox="1"/>
          <p:nvPr/>
        </p:nvSpPr>
        <p:spPr>
          <a:xfrm>
            <a:off x="7918704" y="4822405"/>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112" name="Shape 110"/>
          <p:cNvSpPr/>
          <p:nvPr/>
        </p:nvSpPr>
        <p:spPr>
          <a:xfrm>
            <a:off x="9893808" y="4899074"/>
            <a:ext cx="289524" cy="153338"/>
          </a:xfrm>
          <a:prstGeom prst="rect">
            <a:avLst/>
          </a:prstGeom>
          <a:solidFill>
            <a:srgbClr val="C2352F"/>
          </a:solidFill>
          <a:ln/>
        </p:spPr>
      </p:sp>
      <p:sp>
        <p:nvSpPr>
          <p:cNvPr id="113" name="Text 111"/>
          <p:cNvSpPr txBox="1"/>
          <p:nvPr/>
        </p:nvSpPr>
        <p:spPr>
          <a:xfrm>
            <a:off x="10570464" y="4822405"/>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$153</a:t>
            </a:r>
            <a:endParaRPr lang="en-US" sz="1300" dirty="0"/>
          </a:p>
        </p:txBody>
      </p:sp>
      <p:sp>
        <p:nvSpPr>
          <p:cNvPr id="114" name="Text 112"/>
          <p:cNvSpPr txBox="1"/>
          <p:nvPr/>
        </p:nvSpPr>
        <p:spPr>
          <a:xfrm>
            <a:off x="7918704" y="5129081"/>
            <a:ext cx="1920240" cy="306676"/>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115" name="Shape 113"/>
          <p:cNvSpPr/>
          <p:nvPr/>
        </p:nvSpPr>
        <p:spPr>
          <a:xfrm>
            <a:off x="9893808" y="5205750"/>
            <a:ext cx="281601" cy="153338"/>
          </a:xfrm>
          <a:prstGeom prst="rect">
            <a:avLst/>
          </a:prstGeom>
          <a:solidFill>
            <a:srgbClr val="C2352F"/>
          </a:solidFill>
          <a:ln/>
        </p:spPr>
      </p:sp>
      <p:sp>
        <p:nvSpPr>
          <p:cNvPr id="116" name="Text 114"/>
          <p:cNvSpPr txBox="1"/>
          <p:nvPr/>
        </p:nvSpPr>
        <p:spPr>
          <a:xfrm>
            <a:off x="10570464" y="5129081"/>
            <a:ext cx="786384" cy="306676"/>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$149</a:t>
            </a:r>
            <a:endParaRPr lang="en-US" sz="1300" dirty="0"/>
          </a:p>
        </p:txBody>
      </p:sp>
      <p:sp>
        <p:nvSpPr>
          <p:cNvPr id="117" name="Shape 115"/>
          <p:cNvSpPr/>
          <p:nvPr/>
        </p:nvSpPr>
        <p:spPr>
          <a:xfrm>
            <a:off x="457200" y="5961888"/>
            <a:ext cx="11274552" cy="548640"/>
          </a:xfrm>
          <a:prstGeom prst="rect">
            <a:avLst/>
          </a:prstGeom>
          <a:solidFill>
            <a:srgbClr val="EDF4FA"/>
          </a:solidFill>
          <a:ln/>
        </p:spPr>
      </p:sp>
      <p:sp>
        <p:nvSpPr>
          <p:cNvPr id="118" name="Text 116"/>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Against their own segment, 5 of 9 luxury stores beat $534 and 16 of 24 others beat $202. CDJR POST FALLS leads non-luxury at $332.</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 per RO</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+$9</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+$95</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15" name="Shape 13"/>
          <p:cNvSpPr/>
          <p:nvPr/>
        </p:nvSpPr>
        <p:spPr>
          <a:xfrm>
            <a:off x="3813048" y="2139459"/>
            <a:ext cx="704180"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+$81</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8" name="Shape 16"/>
          <p:cNvSpPr/>
          <p:nvPr/>
        </p:nvSpPr>
        <p:spPr>
          <a:xfrm>
            <a:off x="3813048" y="2369673"/>
            <a:ext cx="41238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+$48</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1" name="Shape 19"/>
          <p:cNvSpPr/>
          <p:nvPr/>
        </p:nvSpPr>
        <p:spPr>
          <a:xfrm>
            <a:off x="3813048" y="2599887"/>
            <a:ext cx="364173"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24" name="Shape 22"/>
          <p:cNvSpPr/>
          <p:nvPr/>
        </p:nvSpPr>
        <p:spPr>
          <a:xfrm>
            <a:off x="3813048" y="2830100"/>
            <a:ext cx="328672"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7" name="Shape 25"/>
          <p:cNvSpPr/>
          <p:nvPr/>
        </p:nvSpPr>
        <p:spPr>
          <a:xfrm>
            <a:off x="3813048" y="3060314"/>
            <a:ext cx="326883"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30" name="Shape 28"/>
          <p:cNvSpPr/>
          <p:nvPr/>
        </p:nvSpPr>
        <p:spPr>
          <a:xfrm>
            <a:off x="3813048" y="3290528"/>
            <a:ext cx="289830"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+$34</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3" name="Shape 31"/>
          <p:cNvSpPr/>
          <p:nvPr/>
        </p:nvSpPr>
        <p:spPr>
          <a:xfrm>
            <a:off x="3813048" y="3520741"/>
            <a:ext cx="251538"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36" name="Shape 34"/>
          <p:cNvSpPr/>
          <p:nvPr/>
        </p:nvSpPr>
        <p:spPr>
          <a:xfrm>
            <a:off x="3813048" y="3750955"/>
            <a:ext cx="242386"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39" name="Shape 37"/>
          <p:cNvSpPr/>
          <p:nvPr/>
        </p:nvSpPr>
        <p:spPr>
          <a:xfrm>
            <a:off x="3813048" y="3981169"/>
            <a:ext cx="237273"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42" name="Shape 40"/>
          <p:cNvSpPr/>
          <p:nvPr/>
        </p:nvSpPr>
        <p:spPr>
          <a:xfrm>
            <a:off x="3813048" y="4211382"/>
            <a:ext cx="217160"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45" name="Shape 43"/>
          <p:cNvSpPr/>
          <p:nvPr/>
        </p:nvSpPr>
        <p:spPr>
          <a:xfrm>
            <a:off x="3813048" y="4441596"/>
            <a:ext cx="216266"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48" name="Shape 46"/>
          <p:cNvSpPr/>
          <p:nvPr/>
        </p:nvSpPr>
        <p:spPr>
          <a:xfrm>
            <a:off x="3813048" y="4671809"/>
            <a:ext cx="179579"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+$21</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1" name="Shape 49"/>
          <p:cNvSpPr/>
          <p:nvPr/>
        </p:nvSpPr>
        <p:spPr>
          <a:xfrm>
            <a:off x="3813048" y="4902023"/>
            <a:ext cx="163774"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54" name="Shape 52"/>
          <p:cNvSpPr/>
          <p:nvPr/>
        </p:nvSpPr>
        <p:spPr>
          <a:xfrm>
            <a:off x="3813048" y="5132237"/>
            <a:ext cx="124893"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7" name="Shape 55"/>
          <p:cNvSpPr/>
          <p:nvPr/>
        </p:nvSpPr>
        <p:spPr>
          <a:xfrm>
            <a:off x="3813048" y="5362450"/>
            <a:ext cx="122390"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60" name="Shape 58"/>
          <p:cNvSpPr/>
          <p:nvPr/>
        </p:nvSpPr>
        <p:spPr>
          <a:xfrm>
            <a:off x="3813048" y="5592664"/>
            <a:ext cx="107609"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3" name="Shape 61"/>
          <p:cNvSpPr/>
          <p:nvPr/>
        </p:nvSpPr>
        <p:spPr>
          <a:xfrm>
            <a:off x="9363456" y="1909246"/>
            <a:ext cx="104823"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6" name="Shape 64"/>
          <p:cNvSpPr/>
          <p:nvPr/>
        </p:nvSpPr>
        <p:spPr>
          <a:xfrm>
            <a:off x="9363456" y="2139459"/>
            <a:ext cx="99347"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69" name="Shape 67"/>
          <p:cNvSpPr/>
          <p:nvPr/>
        </p:nvSpPr>
        <p:spPr>
          <a:xfrm>
            <a:off x="9363456" y="2369673"/>
            <a:ext cx="95826"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+$11</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72" name="Shape 70"/>
          <p:cNvSpPr/>
          <p:nvPr/>
        </p:nvSpPr>
        <p:spPr>
          <a:xfrm>
            <a:off x="9363456" y="2599887"/>
            <a:ext cx="79130"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+$9</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75" name="Shape 73"/>
          <p:cNvSpPr/>
          <p:nvPr/>
        </p:nvSpPr>
        <p:spPr>
          <a:xfrm>
            <a:off x="9363456" y="2830100"/>
            <a:ext cx="72135"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8" name="Shape 76"/>
          <p:cNvSpPr/>
          <p:nvPr/>
        </p:nvSpPr>
        <p:spPr>
          <a:xfrm>
            <a:off x="9363456" y="3060314"/>
            <a:ext cx="27013"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1" name="Shape 79"/>
          <p:cNvSpPr/>
          <p:nvPr/>
        </p:nvSpPr>
        <p:spPr>
          <a:xfrm>
            <a:off x="9363456" y="3290528"/>
            <a:ext cx="22491"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84" name="Shape 82"/>
          <p:cNvSpPr/>
          <p:nvPr/>
        </p:nvSpPr>
        <p:spPr>
          <a:xfrm>
            <a:off x="9358459" y="3520741"/>
            <a:ext cx="12802"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87" name="Shape 85"/>
          <p:cNvSpPr/>
          <p:nvPr/>
        </p:nvSpPr>
        <p:spPr>
          <a:xfrm>
            <a:off x="9354218" y="3750955"/>
            <a:ext cx="12802"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0" name="Shape 88"/>
          <p:cNvSpPr/>
          <p:nvPr/>
        </p:nvSpPr>
        <p:spPr>
          <a:xfrm>
            <a:off x="9344972" y="3981169"/>
            <a:ext cx="18484"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93" name="Shape 91"/>
          <p:cNvSpPr/>
          <p:nvPr/>
        </p:nvSpPr>
        <p:spPr>
          <a:xfrm>
            <a:off x="9304530" y="4211382"/>
            <a:ext cx="58926"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96" name="Shape 94"/>
          <p:cNvSpPr/>
          <p:nvPr/>
        </p:nvSpPr>
        <p:spPr>
          <a:xfrm>
            <a:off x="9294223" y="4441596"/>
            <a:ext cx="69233"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−$8</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99" name="Shape 97"/>
          <p:cNvSpPr/>
          <p:nvPr/>
        </p:nvSpPr>
        <p:spPr>
          <a:xfrm>
            <a:off x="9275310" y="4671809"/>
            <a:ext cx="88146"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−$10</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102" name="Shape 100"/>
          <p:cNvSpPr/>
          <p:nvPr/>
        </p:nvSpPr>
        <p:spPr>
          <a:xfrm>
            <a:off x="9066642" y="4902023"/>
            <a:ext cx="296814"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5" name="Shape 103"/>
          <p:cNvSpPr/>
          <p:nvPr/>
        </p:nvSpPr>
        <p:spPr>
          <a:xfrm>
            <a:off x="8894653" y="5132237"/>
            <a:ext cx="468803"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−$54</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08" name="Shape 106"/>
          <p:cNvSpPr/>
          <p:nvPr/>
        </p:nvSpPr>
        <p:spPr>
          <a:xfrm>
            <a:off x="8824186" y="5362450"/>
            <a:ext cx="53927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−$62</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24 of 33 stores grew CP parts per RO, led by LR HENDERSON at +$95 to $926. 9 declined; LR RENO fell most at −$62.</a:t>
            </a:r>
            <a:endParaRPr lang="en-US" sz="16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80.9%</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80.8%</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−0.1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A82B26"/>
                </a:solidFill>
                <a:latin typeface="Inter" pitchFamily="34" charset="0"/>
                <a:ea typeface="Inter" pitchFamily="34" charset="-122"/>
                <a:cs typeface="Inter" pitchFamily="34" charset="-120"/>
              </a:rPr>
              <a:t>−0.1%</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A82B26"/>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+0.2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80.7%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FBEBEA"/>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Down 0.1 pts to 80.8%, behind 2025 in six of nine months. Roundtable target is 78–80%.</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88.6%</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10" name="Shape 8"/>
          <p:cNvSpPr/>
          <p:nvPr/>
        </p:nvSpPr>
        <p:spPr>
          <a:xfrm>
            <a:off x="2971800" y="1707239"/>
            <a:ext cx="1668226"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86.1%</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13" name="Shape 11"/>
          <p:cNvSpPr/>
          <p:nvPr/>
        </p:nvSpPr>
        <p:spPr>
          <a:xfrm>
            <a:off x="2971800" y="1961119"/>
            <a:ext cx="1660147"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86.0%</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16" name="Shape 14"/>
          <p:cNvSpPr/>
          <p:nvPr/>
        </p:nvSpPr>
        <p:spPr>
          <a:xfrm>
            <a:off x="2971800" y="2215000"/>
            <a:ext cx="1596623"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85.0%</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19" name="Shape 17"/>
          <p:cNvSpPr/>
          <p:nvPr/>
        </p:nvSpPr>
        <p:spPr>
          <a:xfrm>
            <a:off x="2971800" y="2468880"/>
            <a:ext cx="1562286"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84.4%</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2" name="Shape 20"/>
          <p:cNvSpPr/>
          <p:nvPr/>
        </p:nvSpPr>
        <p:spPr>
          <a:xfrm>
            <a:off x="2971800" y="2722760"/>
            <a:ext cx="1562070"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84.4%</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25" name="Shape 23"/>
          <p:cNvSpPr/>
          <p:nvPr/>
        </p:nvSpPr>
        <p:spPr>
          <a:xfrm>
            <a:off x="2971800" y="2976641"/>
            <a:ext cx="155203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84.3%</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28" name="Shape 26"/>
          <p:cNvSpPr/>
          <p:nvPr/>
        </p:nvSpPr>
        <p:spPr>
          <a:xfrm>
            <a:off x="2971800" y="3230521"/>
            <a:ext cx="1527833"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83.9%</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31" name="Shape 29"/>
          <p:cNvSpPr/>
          <p:nvPr/>
        </p:nvSpPr>
        <p:spPr>
          <a:xfrm>
            <a:off x="2971800" y="3484402"/>
            <a:ext cx="1501380"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83.5%</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34" name="Shape 32"/>
          <p:cNvSpPr/>
          <p:nvPr/>
        </p:nvSpPr>
        <p:spPr>
          <a:xfrm>
            <a:off x="2971800" y="3738282"/>
            <a:ext cx="1480912"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83.2%</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37" name="Shape 35"/>
          <p:cNvSpPr/>
          <p:nvPr/>
        </p:nvSpPr>
        <p:spPr>
          <a:xfrm>
            <a:off x="2971800" y="3992163"/>
            <a:ext cx="1464232"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82.9%</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40" name="Shape 38"/>
          <p:cNvSpPr/>
          <p:nvPr/>
        </p:nvSpPr>
        <p:spPr>
          <a:xfrm>
            <a:off x="2971800" y="4246043"/>
            <a:ext cx="1433507"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82.4%</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43" name="Shape 41"/>
          <p:cNvSpPr/>
          <p:nvPr/>
        </p:nvSpPr>
        <p:spPr>
          <a:xfrm>
            <a:off x="2971800" y="4499924"/>
            <a:ext cx="1404658"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82.0%</a:t>
            </a:r>
            <a:endParaRPr lang="en-US" sz="1300" dirty="0"/>
          </a:p>
        </p:txBody>
      </p:sp>
      <p:sp>
        <p:nvSpPr>
          <p:cNvPr id="45" name="Shape 43"/>
          <p:cNvSpPr/>
          <p:nvPr/>
        </p:nvSpPr>
        <p:spPr>
          <a:xfrm>
            <a:off x="585216" y="4685762"/>
            <a:ext cx="5413248" cy="244736"/>
          </a:xfrm>
          <a:prstGeom prst="rect">
            <a:avLst/>
          </a:prstGeom>
          <a:solidFill>
            <a:srgbClr val="EDF4FA"/>
          </a:solidFill>
          <a:ln/>
        </p:spPr>
      </p:sp>
      <p:sp>
        <p:nvSpPr>
          <p:cNvPr id="46" name="Text 44"/>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47" name="Shape 45"/>
          <p:cNvSpPr/>
          <p:nvPr/>
        </p:nvSpPr>
        <p:spPr>
          <a:xfrm>
            <a:off x="2971800" y="4753804"/>
            <a:ext cx="1329545" cy="126940"/>
          </a:xfrm>
          <a:prstGeom prst="rect">
            <a:avLst/>
          </a:prstGeom>
          <a:solidFill>
            <a:srgbClr val="0B2C4A"/>
          </a:solidFill>
          <a:ln/>
        </p:spPr>
      </p:sp>
      <p:sp>
        <p:nvSpPr>
          <p:cNvPr id="48" name="Text 46"/>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80.8%</a:t>
            </a:r>
            <a:endParaRPr lang="en-US" sz="1300" dirty="0"/>
          </a:p>
        </p:txBody>
      </p:sp>
      <p:sp>
        <p:nvSpPr>
          <p:cNvPr id="49" name="Text 47"/>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0" name="Shape 48"/>
          <p:cNvSpPr/>
          <p:nvPr/>
        </p:nvSpPr>
        <p:spPr>
          <a:xfrm>
            <a:off x="2971800" y="5007685"/>
            <a:ext cx="1267115" cy="126940"/>
          </a:xfrm>
          <a:prstGeom prst="rect">
            <a:avLst/>
          </a:prstGeom>
          <a:solidFill>
            <a:srgbClr val="C2352F"/>
          </a:solidFill>
          <a:ln/>
        </p:spPr>
      </p:sp>
      <p:sp>
        <p:nvSpPr>
          <p:cNvPr id="51" name="Text 49"/>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79.8%</a:t>
            </a:r>
            <a:endParaRPr lang="en-US" sz="1300" dirty="0"/>
          </a:p>
        </p:txBody>
      </p:sp>
      <p:sp>
        <p:nvSpPr>
          <p:cNvPr id="52" name="Text 50"/>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53" name="Shape 51"/>
          <p:cNvSpPr/>
          <p:nvPr/>
        </p:nvSpPr>
        <p:spPr>
          <a:xfrm>
            <a:off x="2971800" y="5261565"/>
            <a:ext cx="1248119" cy="126940"/>
          </a:xfrm>
          <a:prstGeom prst="rect">
            <a:avLst/>
          </a:prstGeom>
          <a:solidFill>
            <a:srgbClr val="C2352F"/>
          </a:solidFill>
          <a:ln/>
        </p:spPr>
      </p:sp>
      <p:sp>
        <p:nvSpPr>
          <p:cNvPr id="54" name="Text 52"/>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79.5%</a:t>
            </a:r>
            <a:endParaRPr lang="en-US" sz="1300" dirty="0"/>
          </a:p>
        </p:txBody>
      </p:sp>
      <p:sp>
        <p:nvSpPr>
          <p:cNvPr id="55" name="Text 53"/>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56" name="Shape 54"/>
          <p:cNvSpPr/>
          <p:nvPr/>
        </p:nvSpPr>
        <p:spPr>
          <a:xfrm>
            <a:off x="2971800" y="5515446"/>
            <a:ext cx="1245249" cy="126940"/>
          </a:xfrm>
          <a:prstGeom prst="rect">
            <a:avLst/>
          </a:prstGeom>
          <a:solidFill>
            <a:srgbClr val="C2352F"/>
          </a:solidFill>
          <a:ln/>
        </p:spPr>
      </p:sp>
      <p:sp>
        <p:nvSpPr>
          <p:cNvPr id="57" name="Text 55"/>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79.5%</a:t>
            </a:r>
            <a:endParaRPr lang="en-US" sz="1300" dirty="0"/>
          </a:p>
        </p:txBody>
      </p:sp>
      <p:sp>
        <p:nvSpPr>
          <p:cNvPr id="58" name="Text 56"/>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9" name="Shape 57"/>
          <p:cNvSpPr/>
          <p:nvPr/>
        </p:nvSpPr>
        <p:spPr>
          <a:xfrm>
            <a:off x="8522208" y="1453358"/>
            <a:ext cx="1244055" cy="126940"/>
          </a:xfrm>
          <a:prstGeom prst="rect">
            <a:avLst/>
          </a:prstGeom>
          <a:solidFill>
            <a:srgbClr val="C2352F"/>
          </a:solidFill>
          <a:ln/>
        </p:spPr>
      </p:sp>
      <p:sp>
        <p:nvSpPr>
          <p:cNvPr id="60" name="Text 58"/>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79.4%</a:t>
            </a:r>
            <a:endParaRPr lang="en-US" sz="1300" dirty="0"/>
          </a:p>
        </p:txBody>
      </p:sp>
      <p:sp>
        <p:nvSpPr>
          <p:cNvPr id="61" name="Text 59"/>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62" name="Shape 60"/>
          <p:cNvSpPr/>
          <p:nvPr/>
        </p:nvSpPr>
        <p:spPr>
          <a:xfrm>
            <a:off x="8522208" y="1707239"/>
            <a:ext cx="1240572" cy="126940"/>
          </a:xfrm>
          <a:prstGeom prst="rect">
            <a:avLst/>
          </a:prstGeom>
          <a:solidFill>
            <a:srgbClr val="C2352F"/>
          </a:solidFill>
          <a:ln/>
        </p:spPr>
      </p:sp>
      <p:sp>
        <p:nvSpPr>
          <p:cNvPr id="63" name="Text 61"/>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79.4%</a:t>
            </a:r>
            <a:endParaRPr lang="en-US" sz="1300" dirty="0"/>
          </a:p>
        </p:txBody>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65" name="Shape 63"/>
          <p:cNvSpPr/>
          <p:nvPr/>
        </p:nvSpPr>
        <p:spPr>
          <a:xfrm>
            <a:off x="8522208" y="1961119"/>
            <a:ext cx="1240152" cy="126940"/>
          </a:xfrm>
          <a:prstGeom prst="rect">
            <a:avLst/>
          </a:prstGeom>
          <a:solidFill>
            <a:srgbClr val="C2352F"/>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79.4%</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68" name="Shape 66"/>
          <p:cNvSpPr/>
          <p:nvPr/>
        </p:nvSpPr>
        <p:spPr>
          <a:xfrm>
            <a:off x="8522208" y="2215000"/>
            <a:ext cx="1234968"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79.3%</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71" name="Shape 69"/>
          <p:cNvSpPr/>
          <p:nvPr/>
        </p:nvSpPr>
        <p:spPr>
          <a:xfrm>
            <a:off x="8522208" y="2468880"/>
            <a:ext cx="1222696"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79.1%</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74" name="Shape 72"/>
          <p:cNvSpPr/>
          <p:nvPr/>
        </p:nvSpPr>
        <p:spPr>
          <a:xfrm>
            <a:off x="8522208" y="2722760"/>
            <a:ext cx="1200662"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78.8%</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77" name="Shape 75"/>
          <p:cNvSpPr/>
          <p:nvPr/>
        </p:nvSpPr>
        <p:spPr>
          <a:xfrm>
            <a:off x="8522208" y="2976641"/>
            <a:ext cx="1193445"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78.7%</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80" name="Shape 78"/>
          <p:cNvSpPr/>
          <p:nvPr/>
        </p:nvSpPr>
        <p:spPr>
          <a:xfrm>
            <a:off x="8522208" y="3230521"/>
            <a:ext cx="1188517"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78.6%</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83" name="Shape 81"/>
          <p:cNvSpPr/>
          <p:nvPr/>
        </p:nvSpPr>
        <p:spPr>
          <a:xfrm>
            <a:off x="8522208" y="3484402"/>
            <a:ext cx="1186133"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78.5%</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86" name="Shape 84"/>
          <p:cNvSpPr/>
          <p:nvPr/>
        </p:nvSpPr>
        <p:spPr>
          <a:xfrm>
            <a:off x="8522208" y="3738282"/>
            <a:ext cx="1180793"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78.5%</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89" name="Shape 87"/>
          <p:cNvSpPr/>
          <p:nvPr/>
        </p:nvSpPr>
        <p:spPr>
          <a:xfrm>
            <a:off x="8522208" y="3992163"/>
            <a:ext cx="1140137"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77.8%</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2" name="Shape 90"/>
          <p:cNvSpPr/>
          <p:nvPr/>
        </p:nvSpPr>
        <p:spPr>
          <a:xfrm>
            <a:off x="8522208" y="4246043"/>
            <a:ext cx="1104310"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77.3%</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95" name="Shape 93"/>
          <p:cNvSpPr/>
          <p:nvPr/>
        </p:nvSpPr>
        <p:spPr>
          <a:xfrm>
            <a:off x="8522208" y="4499924"/>
            <a:ext cx="1001122"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75.7%</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98" name="Shape 96"/>
          <p:cNvSpPr/>
          <p:nvPr/>
        </p:nvSpPr>
        <p:spPr>
          <a:xfrm>
            <a:off x="8522208" y="4753804"/>
            <a:ext cx="904254"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74.1%</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101" name="Shape 99"/>
          <p:cNvSpPr/>
          <p:nvPr/>
        </p:nvSpPr>
        <p:spPr>
          <a:xfrm>
            <a:off x="8522208" y="5007685"/>
            <a:ext cx="885925"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73.9%</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4" name="Shape 102"/>
          <p:cNvSpPr/>
          <p:nvPr/>
        </p:nvSpPr>
        <p:spPr>
          <a:xfrm>
            <a:off x="8522208" y="5261565"/>
            <a:ext cx="780768"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72.2%</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7" name="Shape 105"/>
          <p:cNvSpPr/>
          <p:nvPr/>
        </p:nvSpPr>
        <p:spPr>
          <a:xfrm>
            <a:off x="8522208" y="5515446"/>
            <a:ext cx="494188"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67.7%</a:t>
            </a:r>
            <a:endParaRPr lang="en-US" sz="1300" dirty="0"/>
          </a:p>
        </p:txBody>
      </p:sp>
      <p:sp>
        <p:nvSpPr>
          <p:cNvPr id="109" name="Shape 107"/>
          <p:cNvSpPr/>
          <p:nvPr/>
        </p:nvSpPr>
        <p:spPr>
          <a:xfrm>
            <a:off x="4294030" y="1389888"/>
            <a:ext cx="14630" cy="4315968"/>
          </a:xfrm>
          <a:prstGeom prst="rect">
            <a:avLst/>
          </a:prstGeom>
          <a:solidFill>
            <a:srgbClr val="0B2C4A"/>
          </a:solidFill>
          <a:ln/>
        </p:spPr>
      </p:sp>
      <p:sp>
        <p:nvSpPr>
          <p:cNvPr id="110" name="Shape 108"/>
          <p:cNvSpPr/>
          <p:nvPr/>
        </p:nvSpPr>
        <p:spPr>
          <a:xfrm>
            <a:off x="9844438"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13 of 33 stores at or above the 80.8% group, led by VOLVO at 88.6%. HYUNDAI PRESCOTT is lowest at 67.7%.</a:t>
            </a:r>
            <a:endParaRPr lang="en-US" sz="16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Labor Gross Profit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−0.1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12" name="Shape 10"/>
          <p:cNvSpPr/>
          <p:nvPr/>
        </p:nvSpPr>
        <p:spPr>
          <a:xfrm>
            <a:off x="3813048" y="1909246"/>
            <a:ext cx="732396"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+4.6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5" name="Shape 13"/>
          <p:cNvSpPr/>
          <p:nvPr/>
        </p:nvSpPr>
        <p:spPr>
          <a:xfrm>
            <a:off x="3813048" y="2139459"/>
            <a:ext cx="716784"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18" name="Shape 16"/>
          <p:cNvSpPr/>
          <p:nvPr/>
        </p:nvSpPr>
        <p:spPr>
          <a:xfrm>
            <a:off x="3813048" y="2369673"/>
            <a:ext cx="467297"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1" name="Shape 19"/>
          <p:cNvSpPr/>
          <p:nvPr/>
        </p:nvSpPr>
        <p:spPr>
          <a:xfrm>
            <a:off x="3813048" y="2599887"/>
            <a:ext cx="425302"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+2.7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24" name="Shape 22"/>
          <p:cNvSpPr/>
          <p:nvPr/>
        </p:nvSpPr>
        <p:spPr>
          <a:xfrm>
            <a:off x="3813048" y="2830100"/>
            <a:ext cx="23407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+1.5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27" name="Shape 25"/>
          <p:cNvSpPr/>
          <p:nvPr/>
        </p:nvSpPr>
        <p:spPr>
          <a:xfrm>
            <a:off x="3813048" y="3060314"/>
            <a:ext cx="228102"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+1.4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30" name="Shape 28"/>
          <p:cNvSpPr/>
          <p:nvPr/>
        </p:nvSpPr>
        <p:spPr>
          <a:xfrm>
            <a:off x="3813048" y="3290528"/>
            <a:ext cx="198308"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33" name="Shape 31"/>
          <p:cNvSpPr/>
          <p:nvPr/>
        </p:nvSpPr>
        <p:spPr>
          <a:xfrm>
            <a:off x="3813048" y="3520741"/>
            <a:ext cx="191426"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36" name="Shape 34"/>
          <p:cNvSpPr/>
          <p:nvPr/>
        </p:nvSpPr>
        <p:spPr>
          <a:xfrm>
            <a:off x="3813048" y="3750955"/>
            <a:ext cx="162704"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9" name="Shape 37"/>
          <p:cNvSpPr/>
          <p:nvPr/>
        </p:nvSpPr>
        <p:spPr>
          <a:xfrm>
            <a:off x="3813048" y="3981169"/>
            <a:ext cx="151028"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+0.9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42" name="Shape 40"/>
          <p:cNvSpPr/>
          <p:nvPr/>
        </p:nvSpPr>
        <p:spPr>
          <a:xfrm>
            <a:off x="3813048" y="4211382"/>
            <a:ext cx="124645"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45" name="Shape 43"/>
          <p:cNvSpPr/>
          <p:nvPr/>
        </p:nvSpPr>
        <p:spPr>
          <a:xfrm>
            <a:off x="3813048" y="4441596"/>
            <a:ext cx="88902"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+0.6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8" name="Shape 46"/>
          <p:cNvSpPr/>
          <p:nvPr/>
        </p:nvSpPr>
        <p:spPr>
          <a:xfrm>
            <a:off x="3813048" y="4671809"/>
            <a:ext cx="60584"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51" name="Shape 49"/>
          <p:cNvSpPr/>
          <p:nvPr/>
        </p:nvSpPr>
        <p:spPr>
          <a:xfrm>
            <a:off x="3813048" y="4902023"/>
            <a:ext cx="60516"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+0.4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54" name="Shape 52"/>
          <p:cNvSpPr/>
          <p:nvPr/>
        </p:nvSpPr>
        <p:spPr>
          <a:xfrm>
            <a:off x="3813048" y="5132237"/>
            <a:ext cx="55084"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57" name="Shape 55"/>
          <p:cNvSpPr/>
          <p:nvPr/>
        </p:nvSpPr>
        <p:spPr>
          <a:xfrm>
            <a:off x="3813048" y="5362450"/>
            <a:ext cx="48318"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0" name="Shape 58"/>
          <p:cNvSpPr/>
          <p:nvPr/>
        </p:nvSpPr>
        <p:spPr>
          <a:xfrm>
            <a:off x="3813048" y="5592664"/>
            <a:ext cx="34874"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63" name="Shape 61"/>
          <p:cNvSpPr/>
          <p:nvPr/>
        </p:nvSpPr>
        <p:spPr>
          <a:xfrm>
            <a:off x="9363456" y="1909246"/>
            <a:ext cx="30901"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6" name="Shape 64"/>
          <p:cNvSpPr/>
          <p:nvPr/>
        </p:nvSpPr>
        <p:spPr>
          <a:xfrm>
            <a:off x="9363456" y="2139459"/>
            <a:ext cx="30171"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69" name="Shape 67"/>
          <p:cNvSpPr/>
          <p:nvPr/>
        </p:nvSpPr>
        <p:spPr>
          <a:xfrm>
            <a:off x="9363456" y="2369673"/>
            <a:ext cx="18529"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72" name="Shape 70"/>
          <p:cNvSpPr/>
          <p:nvPr/>
        </p:nvSpPr>
        <p:spPr>
          <a:xfrm>
            <a:off x="9323089" y="2599887"/>
            <a:ext cx="40367" cy="105898"/>
          </a:xfrm>
          <a:prstGeom prst="rect">
            <a:avLst/>
          </a:prstGeom>
          <a:solidFill>
            <a:srgbClr val="C2352F"/>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−0.3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75" name="Shape 73"/>
          <p:cNvSpPr/>
          <p:nvPr/>
        </p:nvSpPr>
        <p:spPr>
          <a:xfrm>
            <a:off x="9308868" y="2830100"/>
            <a:ext cx="54588" cy="105898"/>
          </a:xfrm>
          <a:prstGeom prst="rect">
            <a:avLst/>
          </a:prstGeom>
          <a:solidFill>
            <a:srgbClr val="C2352F"/>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−0.3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78" name="Shape 76"/>
          <p:cNvSpPr/>
          <p:nvPr/>
        </p:nvSpPr>
        <p:spPr>
          <a:xfrm>
            <a:off x="9290146" y="3060314"/>
            <a:ext cx="73310" cy="105898"/>
          </a:xfrm>
          <a:prstGeom prst="rect">
            <a:avLst/>
          </a:prstGeom>
          <a:solidFill>
            <a:srgbClr val="C2352F"/>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−0.5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81" name="Shape 79"/>
          <p:cNvSpPr/>
          <p:nvPr/>
        </p:nvSpPr>
        <p:spPr>
          <a:xfrm>
            <a:off x="9238791" y="3290528"/>
            <a:ext cx="124665" cy="105898"/>
          </a:xfrm>
          <a:prstGeom prst="rect">
            <a:avLst/>
          </a:prstGeom>
          <a:solidFill>
            <a:srgbClr val="C2352F"/>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−0.8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84" name="Shape 82"/>
          <p:cNvSpPr/>
          <p:nvPr/>
        </p:nvSpPr>
        <p:spPr>
          <a:xfrm>
            <a:off x="9194680" y="3520741"/>
            <a:ext cx="168776" cy="105898"/>
          </a:xfrm>
          <a:prstGeom prst="rect">
            <a:avLst/>
          </a:prstGeom>
          <a:solidFill>
            <a:srgbClr val="C2352F"/>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−1.1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87" name="Shape 85"/>
          <p:cNvSpPr/>
          <p:nvPr/>
        </p:nvSpPr>
        <p:spPr>
          <a:xfrm>
            <a:off x="9139920" y="3750955"/>
            <a:ext cx="223536" cy="105898"/>
          </a:xfrm>
          <a:prstGeom prst="rect">
            <a:avLst/>
          </a:prstGeom>
          <a:solidFill>
            <a:srgbClr val="C2352F"/>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0" name="Shape 88"/>
          <p:cNvSpPr/>
          <p:nvPr/>
        </p:nvSpPr>
        <p:spPr>
          <a:xfrm>
            <a:off x="9135094" y="3981169"/>
            <a:ext cx="228362" cy="105898"/>
          </a:xfrm>
          <a:prstGeom prst="rect">
            <a:avLst/>
          </a:prstGeom>
          <a:solidFill>
            <a:srgbClr val="C2352F"/>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−1.4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93" name="Shape 91"/>
          <p:cNvSpPr/>
          <p:nvPr/>
        </p:nvSpPr>
        <p:spPr>
          <a:xfrm>
            <a:off x="9127093" y="4211382"/>
            <a:ext cx="236363" cy="105898"/>
          </a:xfrm>
          <a:prstGeom prst="rect">
            <a:avLst/>
          </a:prstGeom>
          <a:solidFill>
            <a:srgbClr val="C2352F"/>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−1.5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96" name="Shape 94"/>
          <p:cNvSpPr/>
          <p:nvPr/>
        </p:nvSpPr>
        <p:spPr>
          <a:xfrm>
            <a:off x="9046147" y="4441596"/>
            <a:ext cx="317309"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99" name="Shape 97"/>
          <p:cNvSpPr/>
          <p:nvPr/>
        </p:nvSpPr>
        <p:spPr>
          <a:xfrm>
            <a:off x="9043296" y="4671809"/>
            <a:ext cx="32016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−2.0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102" name="Shape 100"/>
          <p:cNvSpPr/>
          <p:nvPr/>
        </p:nvSpPr>
        <p:spPr>
          <a:xfrm>
            <a:off x="8898503" y="4902023"/>
            <a:ext cx="464953"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−2.9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105" name="Shape 103"/>
          <p:cNvSpPr/>
          <p:nvPr/>
        </p:nvSpPr>
        <p:spPr>
          <a:xfrm>
            <a:off x="8620592" y="5132237"/>
            <a:ext cx="742864"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−4.7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8" name="Shape 106"/>
          <p:cNvSpPr/>
          <p:nvPr/>
        </p:nvSpPr>
        <p:spPr>
          <a:xfrm>
            <a:off x="8540496" y="5362450"/>
            <a:ext cx="822960"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−5.2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FBEBEA"/>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A82B26"/>
                </a:solidFill>
                <a:latin typeface="Inter" pitchFamily="34" charset="0"/>
                <a:ea typeface="Inter" pitchFamily="34" charset="-122"/>
                <a:cs typeface="Inter" pitchFamily="34" charset="-120"/>
              </a:rPr>
              <a:t>20 of 33 stores improved labor margin, led by TOYOTA PRESCOTT at +4.6 pts to 78.5%. 13 declined; HYUNDAI PRESCOTT fell most at −5.2 pts.</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1517904"/>
          </a:xfrm>
          <a:prstGeom prst="rect">
            <a:avLst/>
          </a:prstGeom>
          <a:solidFill>
            <a:srgbClr val="FFFFFF"/>
          </a:solidFill>
          <a:ln/>
        </p:spPr>
      </p:sp>
      <p:sp>
        <p:nvSpPr>
          <p:cNvPr id="6" name="Text 4"/>
          <p:cNvSpPr txBox="1"/>
          <p:nvPr/>
        </p:nvSpPr>
        <p:spPr>
          <a:xfrm>
            <a:off x="685800" y="1316736"/>
            <a:ext cx="10789920" cy="274320"/>
          </a:xfrm>
          <a:prstGeom prst="rect">
            <a:avLst/>
          </a:prstGeom>
          <a:noFill/>
          <a:ln/>
        </p:spPr>
        <p:txBody>
          <a:bodyPr wrap="square" lIns="0" tIns="0" rIns="0" bIns="0" rtlCol="0" anchor="ctr"/>
          <a:lstStyle/>
          <a:p>
            <a:pPr indent="0" marL="0">
              <a:buNone/>
            </a:pPr>
            <a:r>
              <a:rPr lang="en-US" sz="1400" spc="100" kern="0" dirty="0">
                <a:solidFill>
                  <a:srgbClr val="595959"/>
                </a:solidFill>
                <a:latin typeface="Inter" pitchFamily="34" charset="0"/>
                <a:ea typeface="Inter" pitchFamily="34" charset="-122"/>
                <a:cs typeface="Inter" pitchFamily="34" charset="-120"/>
              </a:rPr>
              <a:t>GROUP · JANUARY–SEPTEMBER · SAME-STORE, 33 STORES</a:t>
            </a:r>
            <a:endParaRPr lang="en-US" sz="1400" dirty="0"/>
          </a:p>
        </p:txBody>
      </p:sp>
      <p:sp>
        <p:nvSpPr>
          <p:cNvPr id="7" name="Text 5"/>
          <p:cNvSpPr txBox="1"/>
          <p:nvPr/>
        </p:nvSpPr>
        <p:spPr>
          <a:xfrm>
            <a:off x="68580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2025</a:t>
            </a:r>
            <a:endParaRPr lang="en-US" sz="1400" dirty="0"/>
          </a:p>
        </p:txBody>
      </p:sp>
      <p:sp>
        <p:nvSpPr>
          <p:cNvPr id="8" name="Text 6"/>
          <p:cNvSpPr txBox="1"/>
          <p:nvPr/>
        </p:nvSpPr>
        <p:spPr>
          <a:xfrm>
            <a:off x="68580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39.4%</a:t>
            </a:r>
            <a:endParaRPr lang="en-US" sz="3000" dirty="0"/>
          </a:p>
        </p:txBody>
      </p:sp>
      <p:sp>
        <p:nvSpPr>
          <p:cNvPr id="9" name="Text 7"/>
          <p:cNvSpPr txBox="1"/>
          <p:nvPr/>
        </p:nvSpPr>
        <p:spPr>
          <a:xfrm>
            <a:off x="347472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2026</a:t>
            </a:r>
            <a:endParaRPr lang="en-US" sz="1400" dirty="0"/>
          </a:p>
        </p:txBody>
      </p:sp>
      <p:sp>
        <p:nvSpPr>
          <p:cNvPr id="10" name="Text 8"/>
          <p:cNvSpPr txBox="1"/>
          <p:nvPr/>
        </p:nvSpPr>
        <p:spPr>
          <a:xfrm>
            <a:off x="3474720" y="1865376"/>
            <a:ext cx="2697480" cy="603504"/>
          </a:xfrm>
          <a:prstGeom prst="rect">
            <a:avLst/>
          </a:prstGeom>
          <a:noFill/>
          <a:ln/>
        </p:spPr>
        <p:txBody>
          <a:bodyPr wrap="square" lIns="0" tIns="0" rIns="0" bIns="0" rtlCol="0" anchor="ctr"/>
          <a:lstStyle/>
          <a:p>
            <a:pPr indent="0" marL="0">
              <a:buNone/>
            </a:pPr>
            <a:r>
              <a:rPr lang="en-US" sz="3000" b="1" dirty="0">
                <a:solidFill>
                  <a:srgbClr val="1A1A1A"/>
                </a:solidFill>
                <a:latin typeface="Inter" pitchFamily="34" charset="0"/>
                <a:ea typeface="Inter" pitchFamily="34" charset="-122"/>
                <a:cs typeface="Inter" pitchFamily="34" charset="-120"/>
              </a:rPr>
              <a:t>40.7%</a:t>
            </a:r>
            <a:endParaRPr lang="en-US" sz="3000" dirty="0"/>
          </a:p>
        </p:txBody>
      </p:sp>
      <p:sp>
        <p:nvSpPr>
          <p:cNvPr id="11" name="Text 9"/>
          <p:cNvSpPr txBox="1"/>
          <p:nvPr/>
        </p:nvSpPr>
        <p:spPr>
          <a:xfrm>
            <a:off x="626364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VARIANCE</a:t>
            </a:r>
            <a:endParaRPr lang="en-US" sz="1400" dirty="0"/>
          </a:p>
        </p:txBody>
      </p:sp>
      <p:sp>
        <p:nvSpPr>
          <p:cNvPr id="12" name="Text 10"/>
          <p:cNvSpPr txBox="1"/>
          <p:nvPr/>
        </p:nvSpPr>
        <p:spPr>
          <a:xfrm>
            <a:off x="626364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+1.2 pts</a:t>
            </a:r>
            <a:endParaRPr lang="en-US" sz="3000" dirty="0"/>
          </a:p>
        </p:txBody>
      </p:sp>
      <p:sp>
        <p:nvSpPr>
          <p:cNvPr id="13" name="Text 11"/>
          <p:cNvSpPr txBox="1"/>
          <p:nvPr/>
        </p:nvSpPr>
        <p:spPr>
          <a:xfrm>
            <a:off x="9052560" y="1627632"/>
            <a:ext cx="2651760" cy="23774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VAR %</a:t>
            </a:r>
            <a:endParaRPr lang="en-US" sz="1400" dirty="0"/>
          </a:p>
        </p:txBody>
      </p:sp>
      <p:sp>
        <p:nvSpPr>
          <p:cNvPr id="14" name="Text 12"/>
          <p:cNvSpPr txBox="1"/>
          <p:nvPr/>
        </p:nvSpPr>
        <p:spPr>
          <a:xfrm>
            <a:off x="9052560" y="1865376"/>
            <a:ext cx="2697480" cy="603504"/>
          </a:xfrm>
          <a:prstGeom prst="rect">
            <a:avLst/>
          </a:prstGeom>
          <a:noFill/>
          <a:ln/>
        </p:spPr>
        <p:txBody>
          <a:bodyPr wrap="square" lIns="0" tIns="0" rIns="0" bIns="0" rtlCol="0" anchor="ctr"/>
          <a:lstStyle/>
          <a:p>
            <a:pPr indent="0" marL="0">
              <a:buNone/>
            </a:pPr>
            <a:r>
              <a:rPr lang="en-US" sz="3000" b="1" dirty="0">
                <a:solidFill>
                  <a:srgbClr val="0B7A4A"/>
                </a:solidFill>
                <a:latin typeface="Inter" pitchFamily="34" charset="0"/>
                <a:ea typeface="Inter" pitchFamily="34" charset="-122"/>
                <a:cs typeface="Inter" pitchFamily="34" charset="-120"/>
              </a:rPr>
              <a:t>+3.1%</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57200" y="2816352"/>
          <a:ext cx="11274552" cy="914400"/>
        </p:xfrm>
        <a:graphic>
          <a:graphicData uri="http://schemas.openxmlformats.org/drawingml/2006/table">
            <a:tbl>
              <a:tblPr/>
              <a:tblGrid>
                <a:gridCol w="3118104"/>
                <a:gridCol w="2039112"/>
                <a:gridCol w="2039112"/>
                <a:gridCol w="2039112"/>
                <a:gridCol w="2039112"/>
              </a:tblGrid>
              <a:tr h="274320">
                <a:tc>
                  <a:txBody>
                    <a:bodyPr/>
                    <a:lstStyle/>
                    <a:p>
                      <a:pPr algn="l" indent="0" marL="0">
                        <a:buNone/>
                      </a:pPr>
                      <a:r>
                        <a:rPr lang="en-US" sz="1400" b="1" dirty="0">
                          <a:solidFill>
                            <a:srgbClr val="FFFFFF"/>
                          </a:solidFill>
                          <a:latin typeface="Inter" pitchFamily="34" charset="0"/>
                          <a:ea typeface="Inter" pitchFamily="34" charset="-122"/>
                          <a:cs typeface="Inter" pitchFamily="34" charset="-120"/>
                        </a:rPr>
                        <a:t>MONTH</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2026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VARIANCE</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c>
                  <a:txBody>
                    <a:bodyPr/>
                    <a:lstStyle/>
                    <a:p>
                      <a:pPr algn="r" indent="0" marL="0">
                        <a:buNone/>
                      </a:pPr>
                      <a:r>
                        <a:rPr lang="en-US" sz="1400" b="1" dirty="0">
                          <a:solidFill>
                            <a:srgbClr val="FFFFFF"/>
                          </a:solidFill>
                          <a:latin typeface="Inter" pitchFamily="34" charset="0"/>
                          <a:ea typeface="Inter" pitchFamily="34" charset="-122"/>
                          <a:cs typeface="Inter" pitchFamily="34" charset="-120"/>
                        </a:rPr>
                        <a:t>VAR %</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5B9BD5"/>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JAN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+2.8%</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FEB</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+1.0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41.0%</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+1.4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APR</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38.3%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+1.3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MAY</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+1.5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+3.7%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JUN</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+2.7%</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JUL</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39.5%</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40.6%</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+1.1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+2.9%</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AUG</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41.1%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+1.7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+4.4%</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7F7F7"/>
                    </a:solidFill>
                  </a:tcPr>
                </a:tc>
              </a:tr>
              <a:tr h="274320">
                <a:tc>
                  <a:txBody>
                    <a:bodyPr/>
                    <a:lstStyle/>
                    <a:p>
                      <a:pPr indent="0" marL="0">
                        <a:buNone/>
                      </a:pPr>
                      <a:r>
                        <a:rPr lang="en-US" sz="1400" dirty="0">
                          <a:solidFill>
                            <a:srgbClr val="1A1A1A"/>
                          </a:solidFill>
                          <a:latin typeface="Inter" pitchFamily="34" charset="0"/>
                          <a:ea typeface="Inter" pitchFamily="34" charset="-122"/>
                          <a:cs typeface="Inter" pitchFamily="34" charset="-120"/>
                        </a:rPr>
                        <a:t>SEP</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39.2%</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dirty="0">
                          <a:solidFill>
                            <a:srgbClr val="1A1A1A"/>
                          </a:solidFill>
                          <a:latin typeface="Inter" pitchFamily="34" charset="0"/>
                          <a:ea typeface="Inter" pitchFamily="34" charset="-122"/>
                          <a:cs typeface="Inter" pitchFamily="34" charset="-120"/>
                        </a:rPr>
                        <a:t>40.1%</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+0.9 pts</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c>
                  <a:txBody>
                    <a:bodyPr/>
                    <a:lstStyle/>
                    <a:p>
                      <a:pPr algn="r" indent="0" marL="0">
                        <a:buNone/>
                      </a:pPr>
                      <a:r>
                        <a:rPr lang="en-US" sz="1400" b="1" dirty="0">
                          <a:solidFill>
                            <a:srgbClr val="0B7A4A"/>
                          </a:solidFill>
                          <a:latin typeface="Inter" pitchFamily="34" charset="0"/>
                          <a:ea typeface="Inter" pitchFamily="34" charset="-122"/>
                          <a:cs typeface="Inter" pitchFamily="34" charset="-120"/>
                        </a:rPr>
                        <a:t>+2.3%</a:t>
                      </a:r>
                      <a:endParaRPr lang="en-US" sz="1400" dirty="0">
                        <a:latin typeface="Inter" charset="0"/>
                        <a:ea typeface="Inter" charset="0"/>
                        <a:cs typeface="Inter" charset="0"/>
                      </a:endParaRPr>
                    </a:p>
                  </a:txBody>
                  <a:tcPr marL="91440" marR="91440" marT="45720" marB="4572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FFFF"/>
                    </a:solidFill>
                  </a:tcPr>
                </a:tc>
              </a:tr>
            </a:tbl>
          </a:graphicData>
        </a:graphic>
      </p:graphicFrame>
      <p:sp>
        <p:nvSpPr>
          <p:cNvPr id="16" name="Shape 13"/>
          <p:cNvSpPr/>
          <p:nvPr/>
        </p:nvSpPr>
        <p:spPr>
          <a:xfrm>
            <a:off x="457200" y="5961888"/>
            <a:ext cx="11274552" cy="548640"/>
          </a:xfrm>
          <a:prstGeom prst="rect">
            <a:avLst/>
          </a:prstGeom>
          <a:solidFill>
            <a:srgbClr val="E6F6EE"/>
          </a:solidFill>
          <a:ln/>
        </p:spPr>
      </p:sp>
      <p:sp>
        <p:nvSpPr>
          <p:cNvPr id="17" name="Text 14"/>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Up 1.2 pts to 40.7%, ahead of 2025 in all nine months.</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Text 4"/>
          <p:cNvSpPr txBox="1"/>
          <p:nvPr/>
        </p:nvSpPr>
        <p:spPr>
          <a:xfrm>
            <a:off x="658368"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7" name="Shape 5"/>
          <p:cNvSpPr/>
          <p:nvPr/>
        </p:nvSpPr>
        <p:spPr>
          <a:xfrm>
            <a:off x="2971800" y="1453358"/>
            <a:ext cx="1828800" cy="126940"/>
          </a:xfrm>
          <a:prstGeom prst="rect">
            <a:avLst/>
          </a:prstGeom>
          <a:solidFill>
            <a:srgbClr val="12A566"/>
          </a:solidFill>
          <a:ln/>
        </p:spPr>
      </p:sp>
      <p:sp>
        <p:nvSpPr>
          <p:cNvPr id="8" name="Text 6"/>
          <p:cNvSpPr txBox="1"/>
          <p:nvPr/>
        </p:nvSpPr>
        <p:spPr>
          <a:xfrm>
            <a:off x="4855464"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49.0%</a:t>
            </a:r>
            <a:endParaRPr lang="en-US" sz="1300" dirty="0"/>
          </a:p>
        </p:txBody>
      </p:sp>
      <p:sp>
        <p:nvSpPr>
          <p:cNvPr id="9" name="Text 7"/>
          <p:cNvSpPr txBox="1"/>
          <p:nvPr/>
        </p:nvSpPr>
        <p:spPr>
          <a:xfrm>
            <a:off x="658368"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10" name="Shape 8"/>
          <p:cNvSpPr/>
          <p:nvPr/>
        </p:nvSpPr>
        <p:spPr>
          <a:xfrm>
            <a:off x="2971800" y="1707239"/>
            <a:ext cx="1671544" cy="126940"/>
          </a:xfrm>
          <a:prstGeom prst="rect">
            <a:avLst/>
          </a:prstGeom>
          <a:solidFill>
            <a:srgbClr val="12A566"/>
          </a:solidFill>
          <a:ln/>
        </p:spPr>
      </p:sp>
      <p:sp>
        <p:nvSpPr>
          <p:cNvPr id="11" name="Text 9"/>
          <p:cNvSpPr txBox="1"/>
          <p:nvPr/>
        </p:nvSpPr>
        <p:spPr>
          <a:xfrm>
            <a:off x="4855464"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47.0%</a:t>
            </a:r>
            <a:endParaRPr lang="en-US" sz="1300" dirty="0"/>
          </a:p>
        </p:txBody>
      </p:sp>
      <p:sp>
        <p:nvSpPr>
          <p:cNvPr id="12" name="Text 10"/>
          <p:cNvSpPr txBox="1"/>
          <p:nvPr/>
        </p:nvSpPr>
        <p:spPr>
          <a:xfrm>
            <a:off x="658368" y="189764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13" name="Shape 11"/>
          <p:cNvSpPr/>
          <p:nvPr/>
        </p:nvSpPr>
        <p:spPr>
          <a:xfrm>
            <a:off x="2971800" y="1961119"/>
            <a:ext cx="1530788" cy="126940"/>
          </a:xfrm>
          <a:prstGeom prst="rect">
            <a:avLst/>
          </a:prstGeom>
          <a:solidFill>
            <a:srgbClr val="12A566"/>
          </a:solidFill>
          <a:ln/>
        </p:spPr>
      </p:sp>
      <p:sp>
        <p:nvSpPr>
          <p:cNvPr id="14" name="Text 12"/>
          <p:cNvSpPr txBox="1"/>
          <p:nvPr/>
        </p:nvSpPr>
        <p:spPr>
          <a:xfrm>
            <a:off x="4855464" y="189764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45.1%</a:t>
            </a:r>
            <a:endParaRPr lang="en-US" sz="1300" dirty="0"/>
          </a:p>
        </p:txBody>
      </p:sp>
      <p:sp>
        <p:nvSpPr>
          <p:cNvPr id="15" name="Text 13"/>
          <p:cNvSpPr txBox="1"/>
          <p:nvPr/>
        </p:nvSpPr>
        <p:spPr>
          <a:xfrm>
            <a:off x="658368"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6" name="Shape 14"/>
          <p:cNvSpPr/>
          <p:nvPr/>
        </p:nvSpPr>
        <p:spPr>
          <a:xfrm>
            <a:off x="2971800" y="2215000"/>
            <a:ext cx="1511484" cy="126940"/>
          </a:xfrm>
          <a:prstGeom prst="rect">
            <a:avLst/>
          </a:prstGeom>
          <a:solidFill>
            <a:srgbClr val="12A566"/>
          </a:solidFill>
          <a:ln/>
        </p:spPr>
      </p:sp>
      <p:sp>
        <p:nvSpPr>
          <p:cNvPr id="17" name="Text 15"/>
          <p:cNvSpPr txBox="1"/>
          <p:nvPr/>
        </p:nvSpPr>
        <p:spPr>
          <a:xfrm>
            <a:off x="4855464" y="2151529"/>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44.9%</a:t>
            </a:r>
            <a:endParaRPr lang="en-US" sz="1300" dirty="0"/>
          </a:p>
        </p:txBody>
      </p:sp>
      <p:sp>
        <p:nvSpPr>
          <p:cNvPr id="18" name="Text 16"/>
          <p:cNvSpPr txBox="1"/>
          <p:nvPr/>
        </p:nvSpPr>
        <p:spPr>
          <a:xfrm>
            <a:off x="658368"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19" name="Shape 17"/>
          <p:cNvSpPr/>
          <p:nvPr/>
        </p:nvSpPr>
        <p:spPr>
          <a:xfrm>
            <a:off x="2971800" y="2468880"/>
            <a:ext cx="1492120" cy="126940"/>
          </a:xfrm>
          <a:prstGeom prst="rect">
            <a:avLst/>
          </a:prstGeom>
          <a:solidFill>
            <a:srgbClr val="12A566"/>
          </a:solidFill>
          <a:ln/>
        </p:spPr>
      </p:sp>
      <p:sp>
        <p:nvSpPr>
          <p:cNvPr id="20" name="Text 18"/>
          <p:cNvSpPr txBox="1"/>
          <p:nvPr/>
        </p:nvSpPr>
        <p:spPr>
          <a:xfrm>
            <a:off x="4855464" y="240541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44.6%</a:t>
            </a:r>
            <a:endParaRPr lang="en-US" sz="1300" dirty="0"/>
          </a:p>
        </p:txBody>
      </p:sp>
      <p:sp>
        <p:nvSpPr>
          <p:cNvPr id="21" name="Text 19"/>
          <p:cNvSpPr txBox="1"/>
          <p:nvPr/>
        </p:nvSpPr>
        <p:spPr>
          <a:xfrm>
            <a:off x="658368"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22" name="Shape 20"/>
          <p:cNvSpPr/>
          <p:nvPr/>
        </p:nvSpPr>
        <p:spPr>
          <a:xfrm>
            <a:off x="2971800" y="2722760"/>
            <a:ext cx="1480932" cy="126940"/>
          </a:xfrm>
          <a:prstGeom prst="rect">
            <a:avLst/>
          </a:prstGeom>
          <a:solidFill>
            <a:srgbClr val="12A566"/>
          </a:solidFill>
          <a:ln/>
        </p:spPr>
      </p:sp>
      <p:sp>
        <p:nvSpPr>
          <p:cNvPr id="23" name="Text 21"/>
          <p:cNvSpPr txBox="1"/>
          <p:nvPr/>
        </p:nvSpPr>
        <p:spPr>
          <a:xfrm>
            <a:off x="4855464" y="2659290"/>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44.5%</a:t>
            </a:r>
            <a:endParaRPr lang="en-US" sz="1300" dirty="0"/>
          </a:p>
        </p:txBody>
      </p:sp>
      <p:sp>
        <p:nvSpPr>
          <p:cNvPr id="24" name="Text 22"/>
          <p:cNvSpPr txBox="1"/>
          <p:nvPr/>
        </p:nvSpPr>
        <p:spPr>
          <a:xfrm>
            <a:off x="658368"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5" name="Shape 23"/>
          <p:cNvSpPr/>
          <p:nvPr/>
        </p:nvSpPr>
        <p:spPr>
          <a:xfrm>
            <a:off x="2971800" y="2976641"/>
            <a:ext cx="1413718" cy="126940"/>
          </a:xfrm>
          <a:prstGeom prst="rect">
            <a:avLst/>
          </a:prstGeom>
          <a:solidFill>
            <a:srgbClr val="12A566"/>
          </a:solidFill>
          <a:ln/>
        </p:spPr>
      </p:sp>
      <p:sp>
        <p:nvSpPr>
          <p:cNvPr id="26" name="Text 24"/>
          <p:cNvSpPr txBox="1"/>
          <p:nvPr/>
        </p:nvSpPr>
        <p:spPr>
          <a:xfrm>
            <a:off x="4855464" y="291317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43.6%</a:t>
            </a:r>
            <a:endParaRPr lang="en-US" sz="1300" dirty="0"/>
          </a:p>
        </p:txBody>
      </p:sp>
      <p:sp>
        <p:nvSpPr>
          <p:cNvPr id="27" name="Text 25"/>
          <p:cNvSpPr txBox="1"/>
          <p:nvPr/>
        </p:nvSpPr>
        <p:spPr>
          <a:xfrm>
            <a:off x="658368"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28" name="Shape 26"/>
          <p:cNvSpPr/>
          <p:nvPr/>
        </p:nvSpPr>
        <p:spPr>
          <a:xfrm>
            <a:off x="2971800" y="3230521"/>
            <a:ext cx="1403898" cy="126940"/>
          </a:xfrm>
          <a:prstGeom prst="rect">
            <a:avLst/>
          </a:prstGeom>
          <a:solidFill>
            <a:srgbClr val="12A566"/>
          </a:solidFill>
          <a:ln/>
        </p:spPr>
      </p:sp>
      <p:sp>
        <p:nvSpPr>
          <p:cNvPr id="29" name="Text 27"/>
          <p:cNvSpPr txBox="1"/>
          <p:nvPr/>
        </p:nvSpPr>
        <p:spPr>
          <a:xfrm>
            <a:off x="4855464" y="3167051"/>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43.4%</a:t>
            </a:r>
            <a:endParaRPr lang="en-US" sz="1300" dirty="0"/>
          </a:p>
        </p:txBody>
      </p:sp>
      <p:sp>
        <p:nvSpPr>
          <p:cNvPr id="30" name="Text 28"/>
          <p:cNvSpPr txBox="1"/>
          <p:nvPr/>
        </p:nvSpPr>
        <p:spPr>
          <a:xfrm>
            <a:off x="658368"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31" name="Shape 29"/>
          <p:cNvSpPr/>
          <p:nvPr/>
        </p:nvSpPr>
        <p:spPr>
          <a:xfrm>
            <a:off x="2971800" y="3484402"/>
            <a:ext cx="1399375" cy="126940"/>
          </a:xfrm>
          <a:prstGeom prst="rect">
            <a:avLst/>
          </a:prstGeom>
          <a:solidFill>
            <a:srgbClr val="12A566"/>
          </a:solidFill>
          <a:ln/>
        </p:spPr>
      </p:sp>
      <p:sp>
        <p:nvSpPr>
          <p:cNvPr id="32" name="Text 30"/>
          <p:cNvSpPr txBox="1"/>
          <p:nvPr/>
        </p:nvSpPr>
        <p:spPr>
          <a:xfrm>
            <a:off x="4855464" y="342093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43.4%</a:t>
            </a:r>
            <a:endParaRPr lang="en-US" sz="1300" dirty="0"/>
          </a:p>
        </p:txBody>
      </p:sp>
      <p:sp>
        <p:nvSpPr>
          <p:cNvPr id="33" name="Text 31"/>
          <p:cNvSpPr txBox="1"/>
          <p:nvPr/>
        </p:nvSpPr>
        <p:spPr>
          <a:xfrm>
            <a:off x="658368"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34" name="Shape 32"/>
          <p:cNvSpPr/>
          <p:nvPr/>
        </p:nvSpPr>
        <p:spPr>
          <a:xfrm>
            <a:off x="2971800" y="3738282"/>
            <a:ext cx="1374547" cy="126940"/>
          </a:xfrm>
          <a:prstGeom prst="rect">
            <a:avLst/>
          </a:prstGeom>
          <a:solidFill>
            <a:srgbClr val="12A566"/>
          </a:solidFill>
          <a:ln/>
        </p:spPr>
      </p:sp>
      <p:sp>
        <p:nvSpPr>
          <p:cNvPr id="35" name="Text 33"/>
          <p:cNvSpPr txBox="1"/>
          <p:nvPr/>
        </p:nvSpPr>
        <p:spPr>
          <a:xfrm>
            <a:off x="4855464" y="3674812"/>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43.1%</a:t>
            </a:r>
            <a:endParaRPr lang="en-US" sz="1300" dirty="0"/>
          </a:p>
        </p:txBody>
      </p:sp>
      <p:sp>
        <p:nvSpPr>
          <p:cNvPr id="36" name="Text 34"/>
          <p:cNvSpPr txBox="1"/>
          <p:nvPr/>
        </p:nvSpPr>
        <p:spPr>
          <a:xfrm>
            <a:off x="658368"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37" name="Shape 35"/>
          <p:cNvSpPr/>
          <p:nvPr/>
        </p:nvSpPr>
        <p:spPr>
          <a:xfrm>
            <a:off x="2971800" y="3992163"/>
            <a:ext cx="1353273" cy="126940"/>
          </a:xfrm>
          <a:prstGeom prst="rect">
            <a:avLst/>
          </a:prstGeom>
          <a:solidFill>
            <a:srgbClr val="12A566"/>
          </a:solidFill>
          <a:ln/>
        </p:spPr>
      </p:sp>
      <p:sp>
        <p:nvSpPr>
          <p:cNvPr id="38" name="Text 36"/>
          <p:cNvSpPr txBox="1"/>
          <p:nvPr/>
        </p:nvSpPr>
        <p:spPr>
          <a:xfrm>
            <a:off x="4855464" y="392869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42.8%</a:t>
            </a:r>
            <a:endParaRPr lang="en-US" sz="1300" dirty="0"/>
          </a:p>
        </p:txBody>
      </p:sp>
      <p:sp>
        <p:nvSpPr>
          <p:cNvPr id="39" name="Text 37"/>
          <p:cNvSpPr txBox="1"/>
          <p:nvPr/>
        </p:nvSpPr>
        <p:spPr>
          <a:xfrm>
            <a:off x="658368"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40" name="Shape 38"/>
          <p:cNvSpPr/>
          <p:nvPr/>
        </p:nvSpPr>
        <p:spPr>
          <a:xfrm>
            <a:off x="2971800" y="4246043"/>
            <a:ext cx="1346673" cy="126940"/>
          </a:xfrm>
          <a:prstGeom prst="rect">
            <a:avLst/>
          </a:prstGeom>
          <a:solidFill>
            <a:srgbClr val="12A566"/>
          </a:solidFill>
          <a:ln/>
        </p:spPr>
      </p:sp>
      <p:sp>
        <p:nvSpPr>
          <p:cNvPr id="41" name="Text 39"/>
          <p:cNvSpPr txBox="1"/>
          <p:nvPr/>
        </p:nvSpPr>
        <p:spPr>
          <a:xfrm>
            <a:off x="4855464" y="4182573"/>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42.7%</a:t>
            </a:r>
            <a:endParaRPr lang="en-US" sz="1300" dirty="0"/>
          </a:p>
        </p:txBody>
      </p:sp>
      <p:sp>
        <p:nvSpPr>
          <p:cNvPr id="42" name="Text 40"/>
          <p:cNvSpPr txBox="1"/>
          <p:nvPr/>
        </p:nvSpPr>
        <p:spPr>
          <a:xfrm>
            <a:off x="658368"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43" name="Shape 41"/>
          <p:cNvSpPr/>
          <p:nvPr/>
        </p:nvSpPr>
        <p:spPr>
          <a:xfrm>
            <a:off x="2971800" y="4499924"/>
            <a:ext cx="1333186" cy="126940"/>
          </a:xfrm>
          <a:prstGeom prst="rect">
            <a:avLst/>
          </a:prstGeom>
          <a:solidFill>
            <a:srgbClr val="12A566"/>
          </a:solidFill>
          <a:ln/>
        </p:spPr>
      </p:sp>
      <p:sp>
        <p:nvSpPr>
          <p:cNvPr id="44" name="Text 42"/>
          <p:cNvSpPr txBox="1"/>
          <p:nvPr/>
        </p:nvSpPr>
        <p:spPr>
          <a:xfrm>
            <a:off x="4855464" y="443645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42.5%</a:t>
            </a:r>
            <a:endParaRPr lang="en-US" sz="1300" dirty="0"/>
          </a:p>
        </p:txBody>
      </p:sp>
      <p:sp>
        <p:nvSpPr>
          <p:cNvPr id="45" name="Text 43"/>
          <p:cNvSpPr txBox="1"/>
          <p:nvPr/>
        </p:nvSpPr>
        <p:spPr>
          <a:xfrm>
            <a:off x="658368"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46" name="Shape 44"/>
          <p:cNvSpPr/>
          <p:nvPr/>
        </p:nvSpPr>
        <p:spPr>
          <a:xfrm>
            <a:off x="2971800" y="4753804"/>
            <a:ext cx="1332841" cy="126940"/>
          </a:xfrm>
          <a:prstGeom prst="rect">
            <a:avLst/>
          </a:prstGeom>
          <a:solidFill>
            <a:srgbClr val="12A566"/>
          </a:solidFill>
          <a:ln/>
        </p:spPr>
      </p:sp>
      <p:sp>
        <p:nvSpPr>
          <p:cNvPr id="47" name="Text 45"/>
          <p:cNvSpPr txBox="1"/>
          <p:nvPr/>
        </p:nvSpPr>
        <p:spPr>
          <a:xfrm>
            <a:off x="4855464" y="4690334"/>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42.5%</a:t>
            </a:r>
            <a:endParaRPr lang="en-US" sz="1300" dirty="0"/>
          </a:p>
        </p:txBody>
      </p:sp>
      <p:sp>
        <p:nvSpPr>
          <p:cNvPr id="48" name="Text 46"/>
          <p:cNvSpPr txBox="1"/>
          <p:nvPr/>
        </p:nvSpPr>
        <p:spPr>
          <a:xfrm>
            <a:off x="658368"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49" name="Shape 47"/>
          <p:cNvSpPr/>
          <p:nvPr/>
        </p:nvSpPr>
        <p:spPr>
          <a:xfrm>
            <a:off x="2971800" y="5007685"/>
            <a:ext cx="1300974" cy="126940"/>
          </a:xfrm>
          <a:prstGeom prst="rect">
            <a:avLst/>
          </a:prstGeom>
          <a:solidFill>
            <a:srgbClr val="12A566"/>
          </a:solidFill>
          <a:ln/>
        </p:spPr>
      </p:sp>
      <p:sp>
        <p:nvSpPr>
          <p:cNvPr id="50" name="Text 48"/>
          <p:cNvSpPr txBox="1"/>
          <p:nvPr/>
        </p:nvSpPr>
        <p:spPr>
          <a:xfrm>
            <a:off x="4855464" y="494421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42.1%</a:t>
            </a:r>
            <a:endParaRPr lang="en-US" sz="1300" dirty="0"/>
          </a:p>
        </p:txBody>
      </p:sp>
      <p:sp>
        <p:nvSpPr>
          <p:cNvPr id="51" name="Text 49"/>
          <p:cNvSpPr txBox="1"/>
          <p:nvPr/>
        </p:nvSpPr>
        <p:spPr>
          <a:xfrm>
            <a:off x="658368"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52" name="Shape 50"/>
          <p:cNvSpPr/>
          <p:nvPr/>
        </p:nvSpPr>
        <p:spPr>
          <a:xfrm>
            <a:off x="2971800" y="5261565"/>
            <a:ext cx="1285305" cy="126940"/>
          </a:xfrm>
          <a:prstGeom prst="rect">
            <a:avLst/>
          </a:prstGeom>
          <a:solidFill>
            <a:srgbClr val="12A566"/>
          </a:solidFill>
          <a:ln/>
        </p:spPr>
      </p:sp>
      <p:sp>
        <p:nvSpPr>
          <p:cNvPr id="53" name="Text 51"/>
          <p:cNvSpPr txBox="1"/>
          <p:nvPr/>
        </p:nvSpPr>
        <p:spPr>
          <a:xfrm>
            <a:off x="4855464" y="5198095"/>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41.9%</a:t>
            </a:r>
            <a:endParaRPr lang="en-US" sz="1300" dirty="0"/>
          </a:p>
        </p:txBody>
      </p:sp>
      <p:sp>
        <p:nvSpPr>
          <p:cNvPr id="54" name="Text 52"/>
          <p:cNvSpPr txBox="1"/>
          <p:nvPr/>
        </p:nvSpPr>
        <p:spPr>
          <a:xfrm>
            <a:off x="658368"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55" name="Shape 53"/>
          <p:cNvSpPr/>
          <p:nvPr/>
        </p:nvSpPr>
        <p:spPr>
          <a:xfrm>
            <a:off x="2971800" y="5515446"/>
            <a:ext cx="1285266" cy="126940"/>
          </a:xfrm>
          <a:prstGeom prst="rect">
            <a:avLst/>
          </a:prstGeom>
          <a:solidFill>
            <a:srgbClr val="12A566"/>
          </a:solidFill>
          <a:ln/>
        </p:spPr>
      </p:sp>
      <p:sp>
        <p:nvSpPr>
          <p:cNvPr id="56" name="Text 54"/>
          <p:cNvSpPr txBox="1"/>
          <p:nvPr/>
        </p:nvSpPr>
        <p:spPr>
          <a:xfrm>
            <a:off x="4855464" y="5451976"/>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41.9%</a:t>
            </a:r>
            <a:endParaRPr lang="en-US" sz="1300" dirty="0"/>
          </a:p>
        </p:txBody>
      </p:sp>
      <p:sp>
        <p:nvSpPr>
          <p:cNvPr id="57" name="Text 55"/>
          <p:cNvSpPr txBox="1"/>
          <p:nvPr/>
        </p:nvSpPr>
        <p:spPr>
          <a:xfrm>
            <a:off x="6208776" y="138988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58" name="Shape 56"/>
          <p:cNvSpPr/>
          <p:nvPr/>
        </p:nvSpPr>
        <p:spPr>
          <a:xfrm>
            <a:off x="8522208" y="1453358"/>
            <a:ext cx="1268711" cy="126940"/>
          </a:xfrm>
          <a:prstGeom prst="rect">
            <a:avLst/>
          </a:prstGeom>
          <a:solidFill>
            <a:srgbClr val="12A566"/>
          </a:solidFill>
          <a:ln/>
        </p:spPr>
      </p:sp>
      <p:sp>
        <p:nvSpPr>
          <p:cNvPr id="59" name="Text 57"/>
          <p:cNvSpPr txBox="1"/>
          <p:nvPr/>
        </p:nvSpPr>
        <p:spPr>
          <a:xfrm>
            <a:off x="10405872" y="138988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41.7%</a:t>
            </a:r>
            <a:endParaRPr lang="en-US" sz="1300" dirty="0"/>
          </a:p>
        </p:txBody>
      </p:sp>
      <p:sp>
        <p:nvSpPr>
          <p:cNvPr id="60" name="Text 58"/>
          <p:cNvSpPr txBox="1"/>
          <p:nvPr/>
        </p:nvSpPr>
        <p:spPr>
          <a:xfrm>
            <a:off x="6208776" y="1643768"/>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61" name="Shape 59"/>
          <p:cNvSpPr/>
          <p:nvPr/>
        </p:nvSpPr>
        <p:spPr>
          <a:xfrm>
            <a:off x="8522208" y="1707239"/>
            <a:ext cx="1219712" cy="126940"/>
          </a:xfrm>
          <a:prstGeom prst="rect">
            <a:avLst/>
          </a:prstGeom>
          <a:solidFill>
            <a:srgbClr val="12A566"/>
          </a:solidFill>
          <a:ln/>
        </p:spPr>
      </p:sp>
      <p:sp>
        <p:nvSpPr>
          <p:cNvPr id="62" name="Text 60"/>
          <p:cNvSpPr txBox="1"/>
          <p:nvPr/>
        </p:nvSpPr>
        <p:spPr>
          <a:xfrm>
            <a:off x="10405872" y="1643768"/>
            <a:ext cx="1088136" cy="253880"/>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41.0%</a:t>
            </a:r>
            <a:endParaRPr lang="en-US" sz="1300" dirty="0"/>
          </a:p>
        </p:txBody>
      </p:sp>
      <p:sp>
        <p:nvSpPr>
          <p:cNvPr id="63" name="Shape 61"/>
          <p:cNvSpPr/>
          <p:nvPr/>
        </p:nvSpPr>
        <p:spPr>
          <a:xfrm>
            <a:off x="6135624" y="1893077"/>
            <a:ext cx="5413248" cy="244736"/>
          </a:xfrm>
          <a:prstGeom prst="rect">
            <a:avLst/>
          </a:prstGeom>
          <a:solidFill>
            <a:srgbClr val="EDF4FA"/>
          </a:solidFill>
          <a:ln/>
        </p:spPr>
      </p:sp>
      <p:sp>
        <p:nvSpPr>
          <p:cNvPr id="64" name="Text 62"/>
          <p:cNvSpPr txBox="1"/>
          <p:nvPr/>
        </p:nvSpPr>
        <p:spPr>
          <a:xfrm>
            <a:off x="6208776" y="1897649"/>
            <a:ext cx="2240280" cy="253880"/>
          </a:xfrm>
          <a:prstGeom prst="rect">
            <a:avLst/>
          </a:prstGeom>
          <a:noFill/>
          <a:ln/>
        </p:spPr>
        <p:txBody>
          <a:bodyPr wrap="square" lIns="0" tIns="0" rIns="0" bIns="0" rtlCol="0" anchor="ctr"/>
          <a:lstStyle/>
          <a:p>
            <a:pPr indent="0" marL="0">
              <a:buNone/>
            </a:pPr>
            <a:r>
              <a:rPr lang="en-US" sz="1300" b="1" dirty="0">
                <a:solidFill>
                  <a:srgbClr val="0B2C4A"/>
                </a:solidFill>
                <a:latin typeface="Inter" pitchFamily="34" charset="0"/>
                <a:ea typeface="Inter" pitchFamily="34" charset="-122"/>
                <a:cs typeface="Inter" pitchFamily="34" charset="-120"/>
              </a:rPr>
              <a:t>GROUP</a:t>
            </a:r>
            <a:endParaRPr lang="en-US" sz="1300" dirty="0"/>
          </a:p>
        </p:txBody>
      </p:sp>
      <p:sp>
        <p:nvSpPr>
          <p:cNvPr id="65" name="Shape 63"/>
          <p:cNvSpPr/>
          <p:nvPr/>
        </p:nvSpPr>
        <p:spPr>
          <a:xfrm>
            <a:off x="8522208" y="1961119"/>
            <a:ext cx="1192686" cy="126940"/>
          </a:xfrm>
          <a:prstGeom prst="rect">
            <a:avLst/>
          </a:prstGeom>
          <a:solidFill>
            <a:srgbClr val="0B2C4A"/>
          </a:solidFill>
          <a:ln/>
        </p:spPr>
      </p:sp>
      <p:sp>
        <p:nvSpPr>
          <p:cNvPr id="66" name="Text 64"/>
          <p:cNvSpPr txBox="1"/>
          <p:nvPr/>
        </p:nvSpPr>
        <p:spPr>
          <a:xfrm>
            <a:off x="10405872" y="1897649"/>
            <a:ext cx="1088136" cy="253880"/>
          </a:xfrm>
          <a:prstGeom prst="rect">
            <a:avLst/>
          </a:prstGeom>
          <a:noFill/>
          <a:ln/>
        </p:spPr>
        <p:txBody>
          <a:bodyPr wrap="square" lIns="0" tIns="0" rIns="0" bIns="0" rtlCol="0" anchor="ctr"/>
          <a:lstStyle/>
          <a:p>
            <a:pPr algn="r" indent="0" marL="0">
              <a:buNone/>
            </a:pPr>
            <a:r>
              <a:rPr lang="en-US" sz="1300" b="1" dirty="0">
                <a:solidFill>
                  <a:srgbClr val="0B2C4A"/>
                </a:solidFill>
                <a:latin typeface="Inter" pitchFamily="34" charset="0"/>
                <a:ea typeface="Inter" pitchFamily="34" charset="-122"/>
                <a:cs typeface="Inter" pitchFamily="34" charset="-120"/>
              </a:rPr>
              <a:t>40.7%</a:t>
            </a:r>
            <a:endParaRPr lang="en-US" sz="1300" dirty="0"/>
          </a:p>
        </p:txBody>
      </p:sp>
      <p:sp>
        <p:nvSpPr>
          <p:cNvPr id="67" name="Text 65"/>
          <p:cNvSpPr txBox="1"/>
          <p:nvPr/>
        </p:nvSpPr>
        <p:spPr>
          <a:xfrm>
            <a:off x="6208776" y="2151529"/>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68" name="Shape 66"/>
          <p:cNvSpPr/>
          <p:nvPr/>
        </p:nvSpPr>
        <p:spPr>
          <a:xfrm>
            <a:off x="8522208" y="2215000"/>
            <a:ext cx="1167110" cy="126940"/>
          </a:xfrm>
          <a:prstGeom prst="rect">
            <a:avLst/>
          </a:prstGeom>
          <a:solidFill>
            <a:srgbClr val="C2352F"/>
          </a:solidFill>
          <a:ln/>
        </p:spPr>
      </p:sp>
      <p:sp>
        <p:nvSpPr>
          <p:cNvPr id="69" name="Text 67"/>
          <p:cNvSpPr txBox="1"/>
          <p:nvPr/>
        </p:nvSpPr>
        <p:spPr>
          <a:xfrm>
            <a:off x="10405872" y="2151529"/>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40.3%</a:t>
            </a:r>
            <a:endParaRPr lang="en-US" sz="1300" dirty="0"/>
          </a:p>
        </p:txBody>
      </p:sp>
      <p:sp>
        <p:nvSpPr>
          <p:cNvPr id="70" name="Text 68"/>
          <p:cNvSpPr txBox="1"/>
          <p:nvPr/>
        </p:nvSpPr>
        <p:spPr>
          <a:xfrm>
            <a:off x="6208776" y="240541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71" name="Shape 69"/>
          <p:cNvSpPr/>
          <p:nvPr/>
        </p:nvSpPr>
        <p:spPr>
          <a:xfrm>
            <a:off x="8522208" y="2468880"/>
            <a:ext cx="1158739" cy="126940"/>
          </a:xfrm>
          <a:prstGeom prst="rect">
            <a:avLst/>
          </a:prstGeom>
          <a:solidFill>
            <a:srgbClr val="C2352F"/>
          </a:solidFill>
          <a:ln/>
        </p:spPr>
      </p:sp>
      <p:sp>
        <p:nvSpPr>
          <p:cNvPr id="72" name="Text 70"/>
          <p:cNvSpPr txBox="1"/>
          <p:nvPr/>
        </p:nvSpPr>
        <p:spPr>
          <a:xfrm>
            <a:off x="10405872" y="240541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40.2%</a:t>
            </a:r>
            <a:endParaRPr lang="en-US" sz="1300" dirty="0"/>
          </a:p>
        </p:txBody>
      </p:sp>
      <p:sp>
        <p:nvSpPr>
          <p:cNvPr id="73" name="Text 71"/>
          <p:cNvSpPr txBox="1"/>
          <p:nvPr/>
        </p:nvSpPr>
        <p:spPr>
          <a:xfrm>
            <a:off x="6208776" y="2659290"/>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4" name="Shape 72"/>
          <p:cNvSpPr/>
          <p:nvPr/>
        </p:nvSpPr>
        <p:spPr>
          <a:xfrm>
            <a:off x="8522208" y="2722760"/>
            <a:ext cx="1154202" cy="126940"/>
          </a:xfrm>
          <a:prstGeom prst="rect">
            <a:avLst/>
          </a:prstGeom>
          <a:solidFill>
            <a:srgbClr val="C2352F"/>
          </a:solidFill>
          <a:ln/>
        </p:spPr>
      </p:sp>
      <p:sp>
        <p:nvSpPr>
          <p:cNvPr id="75" name="Text 73"/>
          <p:cNvSpPr txBox="1"/>
          <p:nvPr/>
        </p:nvSpPr>
        <p:spPr>
          <a:xfrm>
            <a:off x="10405872" y="2659290"/>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40.2%</a:t>
            </a:r>
            <a:endParaRPr lang="en-US" sz="1300" dirty="0"/>
          </a:p>
        </p:txBody>
      </p:sp>
      <p:sp>
        <p:nvSpPr>
          <p:cNvPr id="76" name="Text 74"/>
          <p:cNvSpPr txBox="1"/>
          <p:nvPr/>
        </p:nvSpPr>
        <p:spPr>
          <a:xfrm>
            <a:off x="6208776" y="291317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77" name="Shape 75"/>
          <p:cNvSpPr/>
          <p:nvPr/>
        </p:nvSpPr>
        <p:spPr>
          <a:xfrm>
            <a:off x="8522208" y="2976641"/>
            <a:ext cx="1099419" cy="126940"/>
          </a:xfrm>
          <a:prstGeom prst="rect">
            <a:avLst/>
          </a:prstGeom>
          <a:solidFill>
            <a:srgbClr val="C2352F"/>
          </a:solidFill>
          <a:ln/>
        </p:spPr>
      </p:sp>
      <p:sp>
        <p:nvSpPr>
          <p:cNvPr id="78" name="Text 76"/>
          <p:cNvSpPr txBox="1"/>
          <p:nvPr/>
        </p:nvSpPr>
        <p:spPr>
          <a:xfrm>
            <a:off x="10405872" y="291317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39.4%</a:t>
            </a:r>
            <a:endParaRPr lang="en-US" sz="1300" dirty="0"/>
          </a:p>
        </p:txBody>
      </p:sp>
      <p:sp>
        <p:nvSpPr>
          <p:cNvPr id="79" name="Text 77"/>
          <p:cNvSpPr txBox="1"/>
          <p:nvPr/>
        </p:nvSpPr>
        <p:spPr>
          <a:xfrm>
            <a:off x="6208776" y="3167051"/>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80" name="Shape 78"/>
          <p:cNvSpPr/>
          <p:nvPr/>
        </p:nvSpPr>
        <p:spPr>
          <a:xfrm>
            <a:off x="8522208" y="3230521"/>
            <a:ext cx="1093586" cy="126940"/>
          </a:xfrm>
          <a:prstGeom prst="rect">
            <a:avLst/>
          </a:prstGeom>
          <a:solidFill>
            <a:srgbClr val="C2352F"/>
          </a:solidFill>
          <a:ln/>
        </p:spPr>
      </p:sp>
      <p:sp>
        <p:nvSpPr>
          <p:cNvPr id="81" name="Text 79"/>
          <p:cNvSpPr txBox="1"/>
          <p:nvPr/>
        </p:nvSpPr>
        <p:spPr>
          <a:xfrm>
            <a:off x="10405872" y="3167051"/>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39.4%</a:t>
            </a:r>
            <a:endParaRPr lang="en-US" sz="1300" dirty="0"/>
          </a:p>
        </p:txBody>
      </p:sp>
      <p:sp>
        <p:nvSpPr>
          <p:cNvPr id="82" name="Text 80"/>
          <p:cNvSpPr txBox="1"/>
          <p:nvPr/>
        </p:nvSpPr>
        <p:spPr>
          <a:xfrm>
            <a:off x="6208776" y="342093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83" name="Shape 81"/>
          <p:cNvSpPr/>
          <p:nvPr/>
        </p:nvSpPr>
        <p:spPr>
          <a:xfrm>
            <a:off x="8522208" y="3484402"/>
            <a:ext cx="924954" cy="126940"/>
          </a:xfrm>
          <a:prstGeom prst="rect">
            <a:avLst/>
          </a:prstGeom>
          <a:solidFill>
            <a:srgbClr val="C2352F"/>
          </a:solidFill>
          <a:ln/>
        </p:spPr>
      </p:sp>
      <p:sp>
        <p:nvSpPr>
          <p:cNvPr id="84" name="Text 82"/>
          <p:cNvSpPr txBox="1"/>
          <p:nvPr/>
        </p:nvSpPr>
        <p:spPr>
          <a:xfrm>
            <a:off x="10405872" y="342093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37.2%</a:t>
            </a:r>
            <a:endParaRPr lang="en-US" sz="1300" dirty="0"/>
          </a:p>
        </p:txBody>
      </p:sp>
      <p:sp>
        <p:nvSpPr>
          <p:cNvPr id="85" name="Text 83"/>
          <p:cNvSpPr txBox="1"/>
          <p:nvPr/>
        </p:nvSpPr>
        <p:spPr>
          <a:xfrm>
            <a:off x="6208776" y="3674812"/>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6" name="Shape 84"/>
          <p:cNvSpPr/>
          <p:nvPr/>
        </p:nvSpPr>
        <p:spPr>
          <a:xfrm>
            <a:off x="8522208" y="3738282"/>
            <a:ext cx="913598" cy="126940"/>
          </a:xfrm>
          <a:prstGeom prst="rect">
            <a:avLst/>
          </a:prstGeom>
          <a:solidFill>
            <a:srgbClr val="C2352F"/>
          </a:solidFill>
          <a:ln/>
        </p:spPr>
      </p:sp>
      <p:sp>
        <p:nvSpPr>
          <p:cNvPr id="87" name="Text 85"/>
          <p:cNvSpPr txBox="1"/>
          <p:nvPr/>
        </p:nvSpPr>
        <p:spPr>
          <a:xfrm>
            <a:off x="10405872" y="3674812"/>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37.0%</a:t>
            </a:r>
            <a:endParaRPr lang="en-US" sz="1300" dirty="0"/>
          </a:p>
        </p:txBody>
      </p:sp>
      <p:sp>
        <p:nvSpPr>
          <p:cNvPr id="88" name="Text 86"/>
          <p:cNvSpPr txBox="1"/>
          <p:nvPr/>
        </p:nvSpPr>
        <p:spPr>
          <a:xfrm>
            <a:off x="6208776" y="392869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89" name="Shape 87"/>
          <p:cNvSpPr/>
          <p:nvPr/>
        </p:nvSpPr>
        <p:spPr>
          <a:xfrm>
            <a:off x="8522208" y="3992163"/>
            <a:ext cx="912030" cy="126940"/>
          </a:xfrm>
          <a:prstGeom prst="rect">
            <a:avLst/>
          </a:prstGeom>
          <a:solidFill>
            <a:srgbClr val="C2352F"/>
          </a:solidFill>
          <a:ln/>
        </p:spPr>
      </p:sp>
      <p:sp>
        <p:nvSpPr>
          <p:cNvPr id="90" name="Text 88"/>
          <p:cNvSpPr txBox="1"/>
          <p:nvPr/>
        </p:nvSpPr>
        <p:spPr>
          <a:xfrm>
            <a:off x="10405872" y="392869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37.0%</a:t>
            </a:r>
            <a:endParaRPr lang="en-US" sz="1300" dirty="0"/>
          </a:p>
        </p:txBody>
      </p:sp>
      <p:sp>
        <p:nvSpPr>
          <p:cNvPr id="91" name="Text 89"/>
          <p:cNvSpPr txBox="1"/>
          <p:nvPr/>
        </p:nvSpPr>
        <p:spPr>
          <a:xfrm>
            <a:off x="6208776" y="4182573"/>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92" name="Shape 90"/>
          <p:cNvSpPr/>
          <p:nvPr/>
        </p:nvSpPr>
        <p:spPr>
          <a:xfrm>
            <a:off x="8522208" y="4246043"/>
            <a:ext cx="906447" cy="126940"/>
          </a:xfrm>
          <a:prstGeom prst="rect">
            <a:avLst/>
          </a:prstGeom>
          <a:solidFill>
            <a:srgbClr val="C2352F"/>
          </a:solidFill>
          <a:ln/>
        </p:spPr>
      </p:sp>
      <p:sp>
        <p:nvSpPr>
          <p:cNvPr id="93" name="Text 91"/>
          <p:cNvSpPr txBox="1"/>
          <p:nvPr/>
        </p:nvSpPr>
        <p:spPr>
          <a:xfrm>
            <a:off x="10405872" y="4182573"/>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36.9%</a:t>
            </a:r>
            <a:endParaRPr lang="en-US" sz="1300" dirty="0"/>
          </a:p>
        </p:txBody>
      </p:sp>
      <p:sp>
        <p:nvSpPr>
          <p:cNvPr id="94" name="Text 92"/>
          <p:cNvSpPr txBox="1"/>
          <p:nvPr/>
        </p:nvSpPr>
        <p:spPr>
          <a:xfrm>
            <a:off x="6208776" y="443645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5" name="Shape 93"/>
          <p:cNvSpPr/>
          <p:nvPr/>
        </p:nvSpPr>
        <p:spPr>
          <a:xfrm>
            <a:off x="8522208" y="4499924"/>
            <a:ext cx="905128" cy="126940"/>
          </a:xfrm>
          <a:prstGeom prst="rect">
            <a:avLst/>
          </a:prstGeom>
          <a:solidFill>
            <a:srgbClr val="C2352F"/>
          </a:solidFill>
          <a:ln/>
        </p:spPr>
      </p:sp>
      <p:sp>
        <p:nvSpPr>
          <p:cNvPr id="96" name="Text 94"/>
          <p:cNvSpPr txBox="1"/>
          <p:nvPr/>
        </p:nvSpPr>
        <p:spPr>
          <a:xfrm>
            <a:off x="10405872" y="443645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36.9%</a:t>
            </a:r>
            <a:endParaRPr lang="en-US" sz="1300" dirty="0"/>
          </a:p>
        </p:txBody>
      </p:sp>
      <p:sp>
        <p:nvSpPr>
          <p:cNvPr id="97" name="Text 95"/>
          <p:cNvSpPr txBox="1"/>
          <p:nvPr/>
        </p:nvSpPr>
        <p:spPr>
          <a:xfrm>
            <a:off x="6208776" y="4690334"/>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98" name="Shape 96"/>
          <p:cNvSpPr/>
          <p:nvPr/>
        </p:nvSpPr>
        <p:spPr>
          <a:xfrm>
            <a:off x="8522208" y="4753804"/>
            <a:ext cx="849579" cy="126940"/>
          </a:xfrm>
          <a:prstGeom prst="rect">
            <a:avLst/>
          </a:prstGeom>
          <a:solidFill>
            <a:srgbClr val="C2352F"/>
          </a:solidFill>
          <a:ln/>
        </p:spPr>
      </p:sp>
      <p:sp>
        <p:nvSpPr>
          <p:cNvPr id="99" name="Text 97"/>
          <p:cNvSpPr txBox="1"/>
          <p:nvPr/>
        </p:nvSpPr>
        <p:spPr>
          <a:xfrm>
            <a:off x="10405872" y="4690334"/>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36.2%</a:t>
            </a:r>
            <a:endParaRPr lang="en-US" sz="1300" dirty="0"/>
          </a:p>
        </p:txBody>
      </p:sp>
      <p:sp>
        <p:nvSpPr>
          <p:cNvPr id="100" name="Text 98"/>
          <p:cNvSpPr txBox="1"/>
          <p:nvPr/>
        </p:nvSpPr>
        <p:spPr>
          <a:xfrm>
            <a:off x="6208776" y="494421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101" name="Shape 99"/>
          <p:cNvSpPr/>
          <p:nvPr/>
        </p:nvSpPr>
        <p:spPr>
          <a:xfrm>
            <a:off x="8522208" y="5007685"/>
            <a:ext cx="809862" cy="126940"/>
          </a:xfrm>
          <a:prstGeom prst="rect">
            <a:avLst/>
          </a:prstGeom>
          <a:solidFill>
            <a:srgbClr val="C2352F"/>
          </a:solidFill>
          <a:ln/>
        </p:spPr>
      </p:sp>
      <p:sp>
        <p:nvSpPr>
          <p:cNvPr id="102" name="Text 100"/>
          <p:cNvSpPr txBox="1"/>
          <p:nvPr/>
        </p:nvSpPr>
        <p:spPr>
          <a:xfrm>
            <a:off x="10405872" y="494421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35.6%</a:t>
            </a:r>
            <a:endParaRPr lang="en-US" sz="1300" dirty="0"/>
          </a:p>
        </p:txBody>
      </p:sp>
      <p:sp>
        <p:nvSpPr>
          <p:cNvPr id="103" name="Text 101"/>
          <p:cNvSpPr txBox="1"/>
          <p:nvPr/>
        </p:nvSpPr>
        <p:spPr>
          <a:xfrm>
            <a:off x="6208776" y="5198095"/>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04" name="Shape 102"/>
          <p:cNvSpPr/>
          <p:nvPr/>
        </p:nvSpPr>
        <p:spPr>
          <a:xfrm>
            <a:off x="8522208" y="5261565"/>
            <a:ext cx="742648" cy="126940"/>
          </a:xfrm>
          <a:prstGeom prst="rect">
            <a:avLst/>
          </a:prstGeom>
          <a:solidFill>
            <a:srgbClr val="C2352F"/>
          </a:solidFill>
          <a:ln/>
        </p:spPr>
      </p:sp>
      <p:sp>
        <p:nvSpPr>
          <p:cNvPr id="105" name="Text 103"/>
          <p:cNvSpPr txBox="1"/>
          <p:nvPr/>
        </p:nvSpPr>
        <p:spPr>
          <a:xfrm>
            <a:off x="10405872" y="5198095"/>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34.8%</a:t>
            </a:r>
            <a:endParaRPr lang="en-US" sz="1300" dirty="0"/>
          </a:p>
        </p:txBody>
      </p:sp>
      <p:sp>
        <p:nvSpPr>
          <p:cNvPr id="106" name="Text 104"/>
          <p:cNvSpPr txBox="1"/>
          <p:nvPr/>
        </p:nvSpPr>
        <p:spPr>
          <a:xfrm>
            <a:off x="6208776" y="5451976"/>
            <a:ext cx="2240280" cy="253880"/>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7" name="Shape 105"/>
          <p:cNvSpPr/>
          <p:nvPr/>
        </p:nvSpPr>
        <p:spPr>
          <a:xfrm>
            <a:off x="8522208" y="5515446"/>
            <a:ext cx="657803" cy="126940"/>
          </a:xfrm>
          <a:prstGeom prst="rect">
            <a:avLst/>
          </a:prstGeom>
          <a:solidFill>
            <a:srgbClr val="C2352F"/>
          </a:solidFill>
          <a:ln/>
        </p:spPr>
      </p:sp>
      <p:sp>
        <p:nvSpPr>
          <p:cNvPr id="108" name="Text 106"/>
          <p:cNvSpPr txBox="1"/>
          <p:nvPr/>
        </p:nvSpPr>
        <p:spPr>
          <a:xfrm>
            <a:off x="10405872" y="5451976"/>
            <a:ext cx="1088136" cy="253880"/>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33.6%</a:t>
            </a:r>
            <a:endParaRPr lang="en-US" sz="1300" dirty="0"/>
          </a:p>
        </p:txBody>
      </p:sp>
      <p:sp>
        <p:nvSpPr>
          <p:cNvPr id="109" name="Shape 107"/>
          <p:cNvSpPr/>
          <p:nvPr/>
        </p:nvSpPr>
        <p:spPr>
          <a:xfrm>
            <a:off x="4157171" y="1389888"/>
            <a:ext cx="14630" cy="4315968"/>
          </a:xfrm>
          <a:prstGeom prst="rect">
            <a:avLst/>
          </a:prstGeom>
          <a:solidFill>
            <a:srgbClr val="0B2C4A"/>
          </a:solidFill>
          <a:ln/>
        </p:spPr>
      </p:sp>
      <p:sp>
        <p:nvSpPr>
          <p:cNvPr id="110" name="Shape 108"/>
          <p:cNvSpPr/>
          <p:nvPr/>
        </p:nvSpPr>
        <p:spPr>
          <a:xfrm>
            <a:off x="9707579" y="1389888"/>
            <a:ext cx="14630" cy="4315968"/>
          </a:xfrm>
          <a:prstGeom prst="rect">
            <a:avLst/>
          </a:prstGeom>
          <a:solidFill>
            <a:srgbClr val="0B2C4A"/>
          </a:solidFill>
          <a:ln/>
        </p:spPr>
      </p:sp>
      <p:sp>
        <p:nvSpPr>
          <p:cNvPr id="111" name="Shape 109"/>
          <p:cNvSpPr/>
          <p:nvPr/>
        </p:nvSpPr>
        <p:spPr>
          <a:xfrm>
            <a:off x="457200" y="5961888"/>
            <a:ext cx="11274552" cy="548640"/>
          </a:xfrm>
          <a:prstGeom prst="rect">
            <a:avLst/>
          </a:prstGeom>
          <a:solidFill>
            <a:srgbClr val="EDF4FA"/>
          </a:solidFill>
          <a:ln/>
        </p:spPr>
      </p:sp>
      <p:sp>
        <p:nvSpPr>
          <p:cNvPr id="112" name="Text 110"/>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2C4A"/>
                </a:solidFill>
                <a:latin typeface="Inter" pitchFamily="34" charset="0"/>
                <a:ea typeface="Inter" pitchFamily="34" charset="-122"/>
                <a:cs typeface="Inter" pitchFamily="34" charset="-120"/>
              </a:rPr>
              <a:t>19 of 33 stores at or above the 40.7% group, led by LEXUS at 49.0%. AUDI HENDERSON is lowest at 33.6%.</a:t>
            </a:r>
            <a:endParaRPr lang="en-US" sz="16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EDEDED"/>
        </a:solidFill>
      </p:bgPr>
    </p:bg>
    <p:spTree>
      <p:nvGrpSpPr>
        <p:cNvPr id="1" name=""/>
        <p:cNvGrpSpPr/>
        <p:nvPr/>
      </p:nvGrpSpPr>
      <p:grpSpPr>
        <a:xfrm>
          <a:off x="0" y="0"/>
          <a:ext cx="0" cy="0"/>
          <a:chOff x="0" y="0"/>
          <a:chExt cx="0" cy="0"/>
        </a:xfrm>
      </p:grpSpPr>
      <p:sp>
        <p:nvSpPr>
          <p:cNvPr id="2" name="Shape 0"/>
          <p:cNvSpPr/>
          <p:nvPr/>
        </p:nvSpPr>
        <p:spPr>
          <a:xfrm>
            <a:off x="457200" y="402336"/>
            <a:ext cx="50292" cy="192024"/>
          </a:xfrm>
          <a:prstGeom prst="rect">
            <a:avLst/>
          </a:prstGeom>
          <a:solidFill>
            <a:srgbClr val="2587C5"/>
          </a:solidFill>
          <a:ln/>
        </p:spPr>
      </p:sp>
      <p:sp>
        <p:nvSpPr>
          <p:cNvPr id="3" name="Text 1"/>
          <p:cNvSpPr txBox="1"/>
          <p:nvPr/>
        </p:nvSpPr>
        <p:spPr>
          <a:xfrm>
            <a:off x="621792" y="338328"/>
            <a:ext cx="8229600" cy="274320"/>
          </a:xfrm>
          <a:prstGeom prst="rect">
            <a:avLst/>
          </a:prstGeom>
          <a:noFill/>
          <a:ln/>
        </p:spPr>
        <p:txBody>
          <a:bodyPr wrap="square" lIns="0" tIns="0" rIns="0" bIns="0" rtlCol="0" anchor="ctr"/>
          <a:lstStyle/>
          <a:p>
            <a:pPr indent="0" marL="0">
              <a:buNone/>
            </a:pPr>
            <a:r>
              <a:rPr lang="en-US" sz="1400" b="1" spc="110" kern="0" dirty="0">
                <a:solidFill>
                  <a:srgbClr val="595959"/>
                </a:solidFill>
                <a:latin typeface="Inter" pitchFamily="34" charset="0"/>
                <a:ea typeface="Inter" pitchFamily="34" charset="-122"/>
                <a:cs typeface="Inter" pitchFamily="34" charset="-120"/>
              </a:rPr>
              <a:t>THE CP ENGINE</a:t>
            </a:r>
            <a:endParaRPr lang="en-US" sz="1400" dirty="0"/>
          </a:p>
        </p:txBody>
      </p:sp>
      <p:sp>
        <p:nvSpPr>
          <p:cNvPr id="4" name="Text 2"/>
          <p:cNvSpPr txBox="1"/>
          <p:nvPr/>
        </p:nvSpPr>
        <p:spPr>
          <a:xfrm>
            <a:off x="457200" y="640080"/>
            <a:ext cx="11338560" cy="502920"/>
          </a:xfrm>
          <a:prstGeom prst="rect">
            <a:avLst/>
          </a:prstGeom>
          <a:noFill/>
          <a:ln/>
        </p:spPr>
        <p:txBody>
          <a:bodyPr wrap="square" lIns="0" tIns="0" rIns="0" bIns="0" rtlCol="0" anchor="ctr"/>
          <a:lstStyle/>
          <a:p>
            <a:pPr indent="0" marL="0">
              <a:buNone/>
            </a:pPr>
            <a:r>
              <a:rPr lang="en-US" sz="2800" dirty="0">
                <a:solidFill>
                  <a:srgbClr val="1A1A1A"/>
                </a:solidFill>
                <a:latin typeface="Inter" pitchFamily="34" charset="0"/>
                <a:ea typeface="Inter" pitchFamily="34" charset="-122"/>
                <a:cs typeface="Inter" pitchFamily="34" charset="-120"/>
              </a:rPr>
              <a:t>CP Parts Gross Profit %</a:t>
            </a:r>
            <a:endParaRPr lang="en-US" sz="2800" dirty="0"/>
          </a:p>
        </p:txBody>
      </p:sp>
      <p:sp>
        <p:nvSpPr>
          <p:cNvPr id="5" name="Shape 3"/>
          <p:cNvSpPr/>
          <p:nvPr/>
        </p:nvSpPr>
        <p:spPr>
          <a:xfrm>
            <a:off x="457200" y="1207008"/>
            <a:ext cx="11274552" cy="4645152"/>
          </a:xfrm>
          <a:prstGeom prst="rect">
            <a:avLst/>
          </a:prstGeom>
          <a:solidFill>
            <a:srgbClr val="FFFFFF"/>
          </a:solidFill>
          <a:ln/>
        </p:spPr>
      </p:sp>
      <p:sp>
        <p:nvSpPr>
          <p:cNvPr id="6" name="Shape 4"/>
          <p:cNvSpPr/>
          <p:nvPr/>
        </p:nvSpPr>
        <p:spPr>
          <a:xfrm>
            <a:off x="658368" y="1335024"/>
            <a:ext cx="10872216" cy="420624"/>
          </a:xfrm>
          <a:prstGeom prst="rect">
            <a:avLst/>
          </a:prstGeom>
          <a:solidFill>
            <a:srgbClr val="EDF4FA"/>
          </a:solidFill>
          <a:ln/>
        </p:spPr>
      </p:sp>
      <p:sp>
        <p:nvSpPr>
          <p:cNvPr id="7" name="Shape 5"/>
          <p:cNvSpPr/>
          <p:nvPr/>
        </p:nvSpPr>
        <p:spPr>
          <a:xfrm>
            <a:off x="658368" y="1335024"/>
            <a:ext cx="59436" cy="420624"/>
          </a:xfrm>
          <a:prstGeom prst="rect">
            <a:avLst/>
          </a:prstGeom>
          <a:solidFill>
            <a:srgbClr val="0B2C4A"/>
          </a:solidFill>
          <a:ln/>
        </p:spPr>
      </p:sp>
      <p:sp>
        <p:nvSpPr>
          <p:cNvPr id="8" name="Text 6"/>
          <p:cNvSpPr txBox="1"/>
          <p:nvPr/>
        </p:nvSpPr>
        <p:spPr>
          <a:xfrm>
            <a:off x="859536" y="1335024"/>
            <a:ext cx="2011680" cy="420624"/>
          </a:xfrm>
          <a:prstGeom prst="rect">
            <a:avLst/>
          </a:prstGeom>
          <a:noFill/>
          <a:ln/>
        </p:spPr>
        <p:txBody>
          <a:bodyPr wrap="square" lIns="0" tIns="0" rIns="0" bIns="0" rtlCol="0" anchor="ctr"/>
          <a:lstStyle/>
          <a:p>
            <a:pPr indent="0" marL="0">
              <a:buNone/>
            </a:pPr>
            <a:r>
              <a:rPr lang="en-US" sz="1500" b="1" dirty="0">
                <a:solidFill>
                  <a:srgbClr val="0B2C4A"/>
                </a:solidFill>
                <a:latin typeface="Inter" pitchFamily="34" charset="0"/>
                <a:ea typeface="Inter" pitchFamily="34" charset="-122"/>
                <a:cs typeface="Inter" pitchFamily="34" charset="-120"/>
              </a:rPr>
              <a:t>GROUP</a:t>
            </a:r>
            <a:endParaRPr lang="en-US" sz="1500" dirty="0"/>
          </a:p>
        </p:txBody>
      </p:sp>
      <p:sp>
        <p:nvSpPr>
          <p:cNvPr id="9" name="Text 7"/>
          <p:cNvSpPr txBox="1"/>
          <p:nvPr/>
        </p:nvSpPr>
        <p:spPr>
          <a:xfrm>
            <a:off x="2834640" y="1335024"/>
            <a:ext cx="4206240" cy="420624"/>
          </a:xfrm>
          <a:prstGeom prst="rect">
            <a:avLst/>
          </a:prstGeom>
          <a:noFill/>
          <a:ln/>
        </p:spPr>
        <p:txBody>
          <a:bodyPr wrap="square" lIns="0" tIns="0" rIns="0" bIns="0" rtlCol="0" anchor="ctr"/>
          <a:lstStyle/>
          <a:p>
            <a:pPr indent="0" marL="0">
              <a:buNone/>
            </a:pPr>
            <a:r>
              <a:rPr lang="en-US" sz="1400" spc="90" kern="0" dirty="0">
                <a:solidFill>
                  <a:srgbClr val="595959"/>
                </a:solidFill>
                <a:latin typeface="Inter" pitchFamily="34" charset="0"/>
                <a:ea typeface="Inter" pitchFamily="34" charset="-122"/>
                <a:cs typeface="Inter" pitchFamily="34" charset="-120"/>
              </a:rPr>
              <a:t>SAME-STORE, 33 STORES</a:t>
            </a:r>
            <a:endParaRPr lang="en-US" sz="1400" dirty="0"/>
          </a:p>
        </p:txBody>
      </p:sp>
      <p:sp>
        <p:nvSpPr>
          <p:cNvPr id="10" name="Text 8"/>
          <p:cNvSpPr txBox="1"/>
          <p:nvPr/>
        </p:nvSpPr>
        <p:spPr>
          <a:xfrm>
            <a:off x="8138160" y="1335024"/>
            <a:ext cx="3291840" cy="420624"/>
          </a:xfrm>
          <a:prstGeom prst="rect">
            <a:avLst/>
          </a:prstGeom>
          <a:noFill/>
          <a:ln/>
        </p:spPr>
        <p:txBody>
          <a:bodyPr wrap="square" lIns="0" tIns="0" rIns="0" bIns="0" rtlCol="0" anchor="ctr"/>
          <a:lstStyle/>
          <a:p>
            <a:pPr algn="r" indent="0" marL="0">
              <a:buNone/>
            </a:pPr>
            <a:r>
              <a:rPr lang="en-US" sz="2000" b="1" dirty="0">
                <a:solidFill>
                  <a:srgbClr val="0B2C4A"/>
                </a:solidFill>
                <a:latin typeface="Inter" pitchFamily="34" charset="0"/>
                <a:ea typeface="Inter" pitchFamily="34" charset="-122"/>
                <a:cs typeface="Inter" pitchFamily="34" charset="-120"/>
              </a:rPr>
              <a:t>+1.2 pts</a:t>
            </a:r>
            <a:endParaRPr lang="en-US" sz="2000" dirty="0"/>
          </a:p>
        </p:txBody>
      </p:sp>
      <p:sp>
        <p:nvSpPr>
          <p:cNvPr id="11" name="Text 9"/>
          <p:cNvSpPr txBox="1"/>
          <p:nvPr/>
        </p:nvSpPr>
        <p:spPr>
          <a:xfrm>
            <a:off x="658368"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ACURA</a:t>
            </a:r>
            <a:endParaRPr lang="en-US" sz="1300" dirty="0"/>
          </a:p>
        </p:txBody>
      </p:sp>
      <p:sp>
        <p:nvSpPr>
          <p:cNvPr id="12" name="Shape 10"/>
          <p:cNvSpPr/>
          <p:nvPr/>
        </p:nvSpPr>
        <p:spPr>
          <a:xfrm>
            <a:off x="3813048" y="1909246"/>
            <a:ext cx="822960" cy="105898"/>
          </a:xfrm>
          <a:prstGeom prst="rect">
            <a:avLst/>
          </a:prstGeom>
          <a:solidFill>
            <a:srgbClr val="12A566"/>
          </a:solidFill>
          <a:ln/>
        </p:spPr>
      </p:sp>
      <p:sp>
        <p:nvSpPr>
          <p:cNvPr id="13" name="Text 11"/>
          <p:cNvSpPr txBox="1"/>
          <p:nvPr/>
        </p:nvSpPr>
        <p:spPr>
          <a:xfrm>
            <a:off x="4709160"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+6.1 pts</a:t>
            </a:r>
            <a:endParaRPr lang="en-US" sz="1300" dirty="0"/>
          </a:p>
        </p:txBody>
      </p:sp>
      <p:sp>
        <p:nvSpPr>
          <p:cNvPr id="14" name="Text 12"/>
          <p:cNvSpPr txBox="1"/>
          <p:nvPr/>
        </p:nvSpPr>
        <p:spPr>
          <a:xfrm>
            <a:off x="658368"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NISSAN</a:t>
            </a:r>
            <a:endParaRPr lang="en-US" sz="1300" dirty="0"/>
          </a:p>
        </p:txBody>
      </p:sp>
      <p:sp>
        <p:nvSpPr>
          <p:cNvPr id="15" name="Shape 13"/>
          <p:cNvSpPr/>
          <p:nvPr/>
        </p:nvSpPr>
        <p:spPr>
          <a:xfrm>
            <a:off x="3813048" y="2139459"/>
            <a:ext cx="606846" cy="105898"/>
          </a:xfrm>
          <a:prstGeom prst="rect">
            <a:avLst/>
          </a:prstGeom>
          <a:solidFill>
            <a:srgbClr val="12A566"/>
          </a:solidFill>
          <a:ln/>
        </p:spPr>
      </p:sp>
      <p:sp>
        <p:nvSpPr>
          <p:cNvPr id="16" name="Text 14"/>
          <p:cNvSpPr txBox="1"/>
          <p:nvPr/>
        </p:nvSpPr>
        <p:spPr>
          <a:xfrm>
            <a:off x="4709160"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+4.5 pts</a:t>
            </a:r>
            <a:endParaRPr lang="en-US" sz="1300" dirty="0"/>
          </a:p>
        </p:txBody>
      </p:sp>
      <p:sp>
        <p:nvSpPr>
          <p:cNvPr id="17" name="Text 15"/>
          <p:cNvSpPr txBox="1"/>
          <p:nvPr/>
        </p:nvSpPr>
        <p:spPr>
          <a:xfrm>
            <a:off x="658368"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PRESCOTT</a:t>
            </a:r>
            <a:endParaRPr lang="en-US" sz="1300" dirty="0"/>
          </a:p>
        </p:txBody>
      </p:sp>
      <p:sp>
        <p:nvSpPr>
          <p:cNvPr id="18" name="Shape 16"/>
          <p:cNvSpPr/>
          <p:nvPr/>
        </p:nvSpPr>
        <p:spPr>
          <a:xfrm>
            <a:off x="3813048" y="2369673"/>
            <a:ext cx="512130" cy="105898"/>
          </a:xfrm>
          <a:prstGeom prst="rect">
            <a:avLst/>
          </a:prstGeom>
          <a:solidFill>
            <a:srgbClr val="12A566"/>
          </a:solidFill>
          <a:ln/>
        </p:spPr>
      </p:sp>
      <p:sp>
        <p:nvSpPr>
          <p:cNvPr id="19" name="Text 17"/>
          <p:cNvSpPr txBox="1"/>
          <p:nvPr/>
        </p:nvSpPr>
        <p:spPr>
          <a:xfrm>
            <a:off x="4709160"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+3.8 pts</a:t>
            </a:r>
            <a:endParaRPr lang="en-US" sz="1300" dirty="0"/>
          </a:p>
        </p:txBody>
      </p:sp>
      <p:sp>
        <p:nvSpPr>
          <p:cNvPr id="20" name="Text 18"/>
          <p:cNvSpPr txBox="1"/>
          <p:nvPr/>
        </p:nvSpPr>
        <p:spPr>
          <a:xfrm>
            <a:off x="658368"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LINCOLN</a:t>
            </a:r>
            <a:endParaRPr lang="en-US" sz="1300" dirty="0"/>
          </a:p>
        </p:txBody>
      </p:sp>
      <p:sp>
        <p:nvSpPr>
          <p:cNvPr id="21" name="Shape 19"/>
          <p:cNvSpPr/>
          <p:nvPr/>
        </p:nvSpPr>
        <p:spPr>
          <a:xfrm>
            <a:off x="3813048" y="2599887"/>
            <a:ext cx="445458" cy="105898"/>
          </a:xfrm>
          <a:prstGeom prst="rect">
            <a:avLst/>
          </a:prstGeom>
          <a:solidFill>
            <a:srgbClr val="12A566"/>
          </a:solidFill>
          <a:ln/>
        </p:spPr>
      </p:sp>
      <p:sp>
        <p:nvSpPr>
          <p:cNvPr id="22" name="Text 20"/>
          <p:cNvSpPr txBox="1"/>
          <p:nvPr/>
        </p:nvSpPr>
        <p:spPr>
          <a:xfrm>
            <a:off x="4709160"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 pts</a:t>
            </a:r>
            <a:endParaRPr lang="en-US" sz="1300" dirty="0"/>
          </a:p>
        </p:txBody>
      </p:sp>
      <p:sp>
        <p:nvSpPr>
          <p:cNvPr id="23" name="Text 21"/>
          <p:cNvSpPr txBox="1"/>
          <p:nvPr/>
        </p:nvSpPr>
        <p:spPr>
          <a:xfrm>
            <a:off x="658368"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RENO</a:t>
            </a:r>
            <a:endParaRPr lang="en-US" sz="1300" dirty="0"/>
          </a:p>
        </p:txBody>
      </p:sp>
      <p:sp>
        <p:nvSpPr>
          <p:cNvPr id="24" name="Shape 22"/>
          <p:cNvSpPr/>
          <p:nvPr/>
        </p:nvSpPr>
        <p:spPr>
          <a:xfrm>
            <a:off x="3813048" y="2830100"/>
            <a:ext cx="442083" cy="105898"/>
          </a:xfrm>
          <a:prstGeom prst="rect">
            <a:avLst/>
          </a:prstGeom>
          <a:solidFill>
            <a:srgbClr val="12A566"/>
          </a:solidFill>
          <a:ln/>
        </p:spPr>
      </p:sp>
      <p:sp>
        <p:nvSpPr>
          <p:cNvPr id="25" name="Text 23"/>
          <p:cNvSpPr txBox="1"/>
          <p:nvPr/>
        </p:nvSpPr>
        <p:spPr>
          <a:xfrm>
            <a:off x="4709160"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+3.3 pts</a:t>
            </a:r>
            <a:endParaRPr lang="en-US" sz="1300" dirty="0"/>
          </a:p>
        </p:txBody>
      </p:sp>
      <p:sp>
        <p:nvSpPr>
          <p:cNvPr id="26" name="Text 24"/>
          <p:cNvSpPr txBox="1"/>
          <p:nvPr/>
        </p:nvSpPr>
        <p:spPr>
          <a:xfrm>
            <a:off x="658368"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ST GEORGE</a:t>
            </a:r>
            <a:endParaRPr lang="en-US" sz="1300" dirty="0"/>
          </a:p>
        </p:txBody>
      </p:sp>
      <p:sp>
        <p:nvSpPr>
          <p:cNvPr id="27" name="Shape 25"/>
          <p:cNvSpPr/>
          <p:nvPr/>
        </p:nvSpPr>
        <p:spPr>
          <a:xfrm>
            <a:off x="3813048" y="3060314"/>
            <a:ext cx="419253" cy="105898"/>
          </a:xfrm>
          <a:prstGeom prst="rect">
            <a:avLst/>
          </a:prstGeom>
          <a:solidFill>
            <a:srgbClr val="12A566"/>
          </a:solidFill>
          <a:ln/>
        </p:spPr>
      </p:sp>
      <p:sp>
        <p:nvSpPr>
          <p:cNvPr id="28" name="Text 26"/>
          <p:cNvSpPr txBox="1"/>
          <p:nvPr/>
        </p:nvSpPr>
        <p:spPr>
          <a:xfrm>
            <a:off x="4709160"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+3.1 pts</a:t>
            </a:r>
            <a:endParaRPr lang="en-US" sz="1300" dirty="0"/>
          </a:p>
        </p:txBody>
      </p:sp>
      <p:sp>
        <p:nvSpPr>
          <p:cNvPr id="29" name="Text 27"/>
          <p:cNvSpPr txBox="1"/>
          <p:nvPr/>
        </p:nvSpPr>
        <p:spPr>
          <a:xfrm>
            <a:off x="658368"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LEXUS</a:t>
            </a:r>
            <a:endParaRPr lang="en-US" sz="1300" dirty="0"/>
          </a:p>
        </p:txBody>
      </p:sp>
      <p:sp>
        <p:nvSpPr>
          <p:cNvPr id="30" name="Shape 28"/>
          <p:cNvSpPr/>
          <p:nvPr/>
        </p:nvSpPr>
        <p:spPr>
          <a:xfrm>
            <a:off x="3813048" y="3290528"/>
            <a:ext cx="393657" cy="105898"/>
          </a:xfrm>
          <a:prstGeom prst="rect">
            <a:avLst/>
          </a:prstGeom>
          <a:solidFill>
            <a:srgbClr val="12A566"/>
          </a:solidFill>
          <a:ln/>
        </p:spPr>
      </p:sp>
      <p:sp>
        <p:nvSpPr>
          <p:cNvPr id="31" name="Text 29"/>
          <p:cNvSpPr txBox="1"/>
          <p:nvPr/>
        </p:nvSpPr>
        <p:spPr>
          <a:xfrm>
            <a:off x="4709160"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+2.9 pts</a:t>
            </a:r>
            <a:endParaRPr lang="en-US" sz="1300" dirty="0"/>
          </a:p>
        </p:txBody>
      </p:sp>
      <p:sp>
        <p:nvSpPr>
          <p:cNvPr id="32" name="Text 30"/>
          <p:cNvSpPr txBox="1"/>
          <p:nvPr/>
        </p:nvSpPr>
        <p:spPr>
          <a:xfrm>
            <a:off x="658368"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MAZDA</a:t>
            </a:r>
            <a:endParaRPr lang="en-US" sz="1300" dirty="0"/>
          </a:p>
        </p:txBody>
      </p:sp>
      <p:sp>
        <p:nvSpPr>
          <p:cNvPr id="33" name="Shape 31"/>
          <p:cNvSpPr/>
          <p:nvPr/>
        </p:nvSpPr>
        <p:spPr>
          <a:xfrm>
            <a:off x="3813048" y="3520741"/>
            <a:ext cx="374425" cy="105898"/>
          </a:xfrm>
          <a:prstGeom prst="rect">
            <a:avLst/>
          </a:prstGeom>
          <a:solidFill>
            <a:srgbClr val="12A566"/>
          </a:solidFill>
          <a:ln/>
        </p:spPr>
      </p:sp>
      <p:sp>
        <p:nvSpPr>
          <p:cNvPr id="34" name="Text 32"/>
          <p:cNvSpPr txBox="1"/>
          <p:nvPr/>
        </p:nvSpPr>
        <p:spPr>
          <a:xfrm>
            <a:off x="4709160"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+2.8 pts</a:t>
            </a:r>
            <a:endParaRPr lang="en-US" sz="1300" dirty="0"/>
          </a:p>
        </p:txBody>
      </p:sp>
      <p:sp>
        <p:nvSpPr>
          <p:cNvPr id="35" name="Text 33"/>
          <p:cNvSpPr txBox="1"/>
          <p:nvPr/>
        </p:nvSpPr>
        <p:spPr>
          <a:xfrm>
            <a:off x="658368"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ST GEORGE</a:t>
            </a:r>
            <a:endParaRPr lang="en-US" sz="1300" dirty="0"/>
          </a:p>
        </p:txBody>
      </p:sp>
      <p:sp>
        <p:nvSpPr>
          <p:cNvPr id="36" name="Shape 34"/>
          <p:cNvSpPr/>
          <p:nvPr/>
        </p:nvSpPr>
        <p:spPr>
          <a:xfrm>
            <a:off x="3813048" y="3750955"/>
            <a:ext cx="331530" cy="105898"/>
          </a:xfrm>
          <a:prstGeom prst="rect">
            <a:avLst/>
          </a:prstGeom>
          <a:solidFill>
            <a:srgbClr val="12A566"/>
          </a:solidFill>
          <a:ln/>
        </p:spPr>
      </p:sp>
      <p:sp>
        <p:nvSpPr>
          <p:cNvPr id="37" name="Text 35"/>
          <p:cNvSpPr txBox="1"/>
          <p:nvPr/>
        </p:nvSpPr>
        <p:spPr>
          <a:xfrm>
            <a:off x="4709160"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+2.5 pts</a:t>
            </a:r>
            <a:endParaRPr lang="en-US" sz="1300" dirty="0"/>
          </a:p>
        </p:txBody>
      </p:sp>
      <p:sp>
        <p:nvSpPr>
          <p:cNvPr id="38" name="Text 36"/>
          <p:cNvSpPr txBox="1"/>
          <p:nvPr/>
        </p:nvSpPr>
        <p:spPr>
          <a:xfrm>
            <a:off x="658368"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HENDERSON</a:t>
            </a:r>
            <a:endParaRPr lang="en-US" sz="1300" dirty="0"/>
          </a:p>
        </p:txBody>
      </p:sp>
      <p:sp>
        <p:nvSpPr>
          <p:cNvPr id="39" name="Shape 37"/>
          <p:cNvSpPr/>
          <p:nvPr/>
        </p:nvSpPr>
        <p:spPr>
          <a:xfrm>
            <a:off x="3813048" y="3981169"/>
            <a:ext cx="304636" cy="105898"/>
          </a:xfrm>
          <a:prstGeom prst="rect">
            <a:avLst/>
          </a:prstGeom>
          <a:solidFill>
            <a:srgbClr val="12A566"/>
          </a:solidFill>
          <a:ln/>
        </p:spPr>
      </p:sp>
      <p:sp>
        <p:nvSpPr>
          <p:cNvPr id="40" name="Text 38"/>
          <p:cNvSpPr txBox="1"/>
          <p:nvPr/>
        </p:nvSpPr>
        <p:spPr>
          <a:xfrm>
            <a:off x="4709160"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+2.3 pts</a:t>
            </a:r>
            <a:endParaRPr lang="en-US" sz="1300" dirty="0"/>
          </a:p>
        </p:txBody>
      </p:sp>
      <p:sp>
        <p:nvSpPr>
          <p:cNvPr id="41" name="Text 39"/>
          <p:cNvSpPr txBox="1"/>
          <p:nvPr/>
        </p:nvSpPr>
        <p:spPr>
          <a:xfrm>
            <a:off x="658368"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LV</a:t>
            </a:r>
            <a:endParaRPr lang="en-US" sz="1300" dirty="0"/>
          </a:p>
        </p:txBody>
      </p:sp>
      <p:sp>
        <p:nvSpPr>
          <p:cNvPr id="42" name="Shape 40"/>
          <p:cNvSpPr/>
          <p:nvPr/>
        </p:nvSpPr>
        <p:spPr>
          <a:xfrm>
            <a:off x="3813048" y="4211382"/>
            <a:ext cx="256848" cy="105898"/>
          </a:xfrm>
          <a:prstGeom prst="rect">
            <a:avLst/>
          </a:prstGeom>
          <a:solidFill>
            <a:srgbClr val="12A566"/>
          </a:solidFill>
          <a:ln/>
        </p:spPr>
      </p:sp>
      <p:sp>
        <p:nvSpPr>
          <p:cNvPr id="43" name="Text 41"/>
          <p:cNvSpPr txBox="1"/>
          <p:nvPr/>
        </p:nvSpPr>
        <p:spPr>
          <a:xfrm>
            <a:off x="4709160"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+1.9 pts</a:t>
            </a:r>
            <a:endParaRPr lang="en-US" sz="1300" dirty="0"/>
          </a:p>
        </p:txBody>
      </p:sp>
      <p:sp>
        <p:nvSpPr>
          <p:cNvPr id="44" name="Text 42"/>
          <p:cNvSpPr txBox="1"/>
          <p:nvPr/>
        </p:nvSpPr>
        <p:spPr>
          <a:xfrm>
            <a:off x="658368"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ST GEORGE</a:t>
            </a:r>
            <a:endParaRPr lang="en-US" sz="1300" dirty="0"/>
          </a:p>
        </p:txBody>
      </p:sp>
      <p:sp>
        <p:nvSpPr>
          <p:cNvPr id="45" name="Shape 43"/>
          <p:cNvSpPr/>
          <p:nvPr/>
        </p:nvSpPr>
        <p:spPr>
          <a:xfrm>
            <a:off x="3813048" y="4441596"/>
            <a:ext cx="241127" cy="105898"/>
          </a:xfrm>
          <a:prstGeom prst="rect">
            <a:avLst/>
          </a:prstGeom>
          <a:solidFill>
            <a:srgbClr val="12A566"/>
          </a:solidFill>
          <a:ln/>
        </p:spPr>
      </p:sp>
      <p:sp>
        <p:nvSpPr>
          <p:cNvPr id="46" name="Text 44"/>
          <p:cNvSpPr txBox="1"/>
          <p:nvPr/>
        </p:nvSpPr>
        <p:spPr>
          <a:xfrm>
            <a:off x="4709160" y="437943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+1.8 pts</a:t>
            </a:r>
            <a:endParaRPr lang="en-US" sz="1300" dirty="0"/>
          </a:p>
        </p:txBody>
      </p:sp>
      <p:sp>
        <p:nvSpPr>
          <p:cNvPr id="47" name="Text 45"/>
          <p:cNvSpPr txBox="1"/>
          <p:nvPr/>
        </p:nvSpPr>
        <p:spPr>
          <a:xfrm>
            <a:off x="658368"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LV</a:t>
            </a:r>
            <a:endParaRPr lang="en-US" sz="1300" dirty="0"/>
          </a:p>
        </p:txBody>
      </p:sp>
      <p:sp>
        <p:nvSpPr>
          <p:cNvPr id="48" name="Shape 46"/>
          <p:cNvSpPr/>
          <p:nvPr/>
        </p:nvSpPr>
        <p:spPr>
          <a:xfrm>
            <a:off x="3813048" y="4671809"/>
            <a:ext cx="234526" cy="105898"/>
          </a:xfrm>
          <a:prstGeom prst="rect">
            <a:avLst/>
          </a:prstGeom>
          <a:solidFill>
            <a:srgbClr val="12A566"/>
          </a:solidFill>
          <a:ln/>
        </p:spPr>
      </p:sp>
      <p:sp>
        <p:nvSpPr>
          <p:cNvPr id="49" name="Text 47"/>
          <p:cNvSpPr txBox="1"/>
          <p:nvPr/>
        </p:nvSpPr>
        <p:spPr>
          <a:xfrm>
            <a:off x="4709160" y="460965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+1.7 pts</a:t>
            </a:r>
            <a:endParaRPr lang="en-US" sz="1300" dirty="0"/>
          </a:p>
        </p:txBody>
      </p:sp>
      <p:sp>
        <p:nvSpPr>
          <p:cNvPr id="50" name="Text 48"/>
          <p:cNvSpPr txBox="1"/>
          <p:nvPr/>
        </p:nvSpPr>
        <p:spPr>
          <a:xfrm>
            <a:off x="658368"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VW HENDERSON</a:t>
            </a:r>
            <a:endParaRPr lang="en-US" sz="1300" dirty="0"/>
          </a:p>
        </p:txBody>
      </p:sp>
      <p:sp>
        <p:nvSpPr>
          <p:cNvPr id="51" name="Shape 49"/>
          <p:cNvSpPr/>
          <p:nvPr/>
        </p:nvSpPr>
        <p:spPr>
          <a:xfrm>
            <a:off x="3813048" y="4902023"/>
            <a:ext cx="175135" cy="105898"/>
          </a:xfrm>
          <a:prstGeom prst="rect">
            <a:avLst/>
          </a:prstGeom>
          <a:solidFill>
            <a:srgbClr val="12A566"/>
          </a:solidFill>
          <a:ln/>
        </p:spPr>
      </p:sp>
      <p:sp>
        <p:nvSpPr>
          <p:cNvPr id="52" name="Text 50"/>
          <p:cNvSpPr txBox="1"/>
          <p:nvPr/>
        </p:nvSpPr>
        <p:spPr>
          <a:xfrm>
            <a:off x="4709160" y="483986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+1.3 pts</a:t>
            </a:r>
            <a:endParaRPr lang="en-US" sz="1300" dirty="0"/>
          </a:p>
        </p:txBody>
      </p:sp>
      <p:sp>
        <p:nvSpPr>
          <p:cNvPr id="53" name="Text 51"/>
          <p:cNvSpPr txBox="1"/>
          <p:nvPr/>
        </p:nvSpPr>
        <p:spPr>
          <a:xfrm>
            <a:off x="658368"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CADILLAC</a:t>
            </a:r>
            <a:endParaRPr lang="en-US" sz="1300" dirty="0"/>
          </a:p>
        </p:txBody>
      </p:sp>
      <p:sp>
        <p:nvSpPr>
          <p:cNvPr id="54" name="Shape 52"/>
          <p:cNvSpPr/>
          <p:nvPr/>
        </p:nvSpPr>
        <p:spPr>
          <a:xfrm>
            <a:off x="3813048" y="5132237"/>
            <a:ext cx="166551" cy="105898"/>
          </a:xfrm>
          <a:prstGeom prst="rect">
            <a:avLst/>
          </a:prstGeom>
          <a:solidFill>
            <a:srgbClr val="12A566"/>
          </a:solidFill>
          <a:ln/>
        </p:spPr>
      </p:sp>
      <p:sp>
        <p:nvSpPr>
          <p:cNvPr id="55" name="Text 53"/>
          <p:cNvSpPr txBox="1"/>
          <p:nvPr/>
        </p:nvSpPr>
        <p:spPr>
          <a:xfrm>
            <a:off x="4709160" y="507007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+1.2 pts</a:t>
            </a:r>
            <a:endParaRPr lang="en-US" sz="1300" dirty="0"/>
          </a:p>
        </p:txBody>
      </p:sp>
      <p:sp>
        <p:nvSpPr>
          <p:cNvPr id="56" name="Text 54"/>
          <p:cNvSpPr txBox="1"/>
          <p:nvPr/>
        </p:nvSpPr>
        <p:spPr>
          <a:xfrm>
            <a:off x="658368"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SPOKANE</a:t>
            </a:r>
            <a:endParaRPr lang="en-US" sz="1300" dirty="0"/>
          </a:p>
        </p:txBody>
      </p:sp>
      <p:sp>
        <p:nvSpPr>
          <p:cNvPr id="57" name="Shape 55"/>
          <p:cNvSpPr/>
          <p:nvPr/>
        </p:nvSpPr>
        <p:spPr>
          <a:xfrm>
            <a:off x="3813048" y="5362450"/>
            <a:ext cx="139761" cy="105898"/>
          </a:xfrm>
          <a:prstGeom prst="rect">
            <a:avLst/>
          </a:prstGeom>
          <a:solidFill>
            <a:srgbClr val="12A566"/>
          </a:solidFill>
          <a:ln/>
        </p:spPr>
      </p:sp>
      <p:sp>
        <p:nvSpPr>
          <p:cNvPr id="58" name="Text 56"/>
          <p:cNvSpPr txBox="1"/>
          <p:nvPr/>
        </p:nvSpPr>
        <p:spPr>
          <a:xfrm>
            <a:off x="4709160" y="530029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59" name="Text 57"/>
          <p:cNvSpPr txBox="1"/>
          <p:nvPr/>
        </p:nvSpPr>
        <p:spPr>
          <a:xfrm>
            <a:off x="658368" y="553050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PRESCOTT</a:t>
            </a:r>
            <a:endParaRPr lang="en-US" sz="1300" dirty="0"/>
          </a:p>
        </p:txBody>
      </p:sp>
      <p:sp>
        <p:nvSpPr>
          <p:cNvPr id="60" name="Shape 58"/>
          <p:cNvSpPr/>
          <p:nvPr/>
        </p:nvSpPr>
        <p:spPr>
          <a:xfrm>
            <a:off x="3813048" y="5592664"/>
            <a:ext cx="129705" cy="105898"/>
          </a:xfrm>
          <a:prstGeom prst="rect">
            <a:avLst/>
          </a:prstGeom>
          <a:solidFill>
            <a:srgbClr val="12A566"/>
          </a:solidFill>
          <a:ln/>
        </p:spPr>
      </p:sp>
      <p:sp>
        <p:nvSpPr>
          <p:cNvPr id="61" name="Text 59"/>
          <p:cNvSpPr txBox="1"/>
          <p:nvPr/>
        </p:nvSpPr>
        <p:spPr>
          <a:xfrm>
            <a:off x="4709160" y="553050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62" name="Text 60"/>
          <p:cNvSpPr txBox="1"/>
          <p:nvPr/>
        </p:nvSpPr>
        <p:spPr>
          <a:xfrm>
            <a:off x="6208776" y="184708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RENO</a:t>
            </a:r>
            <a:endParaRPr lang="en-US" sz="1300" dirty="0"/>
          </a:p>
        </p:txBody>
      </p:sp>
      <p:sp>
        <p:nvSpPr>
          <p:cNvPr id="63" name="Shape 61"/>
          <p:cNvSpPr/>
          <p:nvPr/>
        </p:nvSpPr>
        <p:spPr>
          <a:xfrm>
            <a:off x="9363456" y="1909246"/>
            <a:ext cx="128467" cy="105898"/>
          </a:xfrm>
          <a:prstGeom prst="rect">
            <a:avLst/>
          </a:prstGeom>
          <a:solidFill>
            <a:srgbClr val="12A566"/>
          </a:solidFill>
          <a:ln/>
        </p:spPr>
      </p:sp>
      <p:sp>
        <p:nvSpPr>
          <p:cNvPr id="64" name="Text 62"/>
          <p:cNvSpPr txBox="1"/>
          <p:nvPr/>
        </p:nvSpPr>
        <p:spPr>
          <a:xfrm>
            <a:off x="10259568" y="1847088"/>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+1.0 pts</a:t>
            </a:r>
            <a:endParaRPr lang="en-US" sz="1300" dirty="0"/>
          </a:p>
        </p:txBody>
      </p:sp>
      <p:sp>
        <p:nvSpPr>
          <p:cNvPr id="65" name="Text 63"/>
          <p:cNvSpPr txBox="1"/>
          <p:nvPr/>
        </p:nvSpPr>
        <p:spPr>
          <a:xfrm>
            <a:off x="6208776" y="207730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NORTH</a:t>
            </a:r>
            <a:endParaRPr lang="en-US" sz="1300" dirty="0"/>
          </a:p>
        </p:txBody>
      </p:sp>
      <p:sp>
        <p:nvSpPr>
          <p:cNvPr id="66" name="Shape 64"/>
          <p:cNvSpPr/>
          <p:nvPr/>
        </p:nvSpPr>
        <p:spPr>
          <a:xfrm>
            <a:off x="9363456" y="2139459"/>
            <a:ext cx="111236" cy="105898"/>
          </a:xfrm>
          <a:prstGeom prst="rect">
            <a:avLst/>
          </a:prstGeom>
          <a:solidFill>
            <a:srgbClr val="12A566"/>
          </a:solidFill>
          <a:ln/>
        </p:spPr>
      </p:sp>
      <p:sp>
        <p:nvSpPr>
          <p:cNvPr id="67" name="Text 65"/>
          <p:cNvSpPr txBox="1"/>
          <p:nvPr/>
        </p:nvSpPr>
        <p:spPr>
          <a:xfrm>
            <a:off x="10259568" y="2077302"/>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 pts</a:t>
            </a:r>
            <a:endParaRPr lang="en-US" sz="1300" dirty="0"/>
          </a:p>
        </p:txBody>
      </p:sp>
      <p:sp>
        <p:nvSpPr>
          <p:cNvPr id="68" name="Text 66"/>
          <p:cNvSpPr txBox="1"/>
          <p:nvPr/>
        </p:nvSpPr>
        <p:spPr>
          <a:xfrm>
            <a:off x="6208776" y="230751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FLAGSTAFF</a:t>
            </a:r>
            <a:endParaRPr lang="en-US" sz="1300" dirty="0"/>
          </a:p>
        </p:txBody>
      </p:sp>
      <p:sp>
        <p:nvSpPr>
          <p:cNvPr id="69" name="Shape 67"/>
          <p:cNvSpPr/>
          <p:nvPr/>
        </p:nvSpPr>
        <p:spPr>
          <a:xfrm>
            <a:off x="9363456" y="2369673"/>
            <a:ext cx="103055" cy="105898"/>
          </a:xfrm>
          <a:prstGeom prst="rect">
            <a:avLst/>
          </a:prstGeom>
          <a:solidFill>
            <a:srgbClr val="12A566"/>
          </a:solidFill>
          <a:ln/>
        </p:spPr>
      </p:sp>
      <p:sp>
        <p:nvSpPr>
          <p:cNvPr id="70" name="Text 68"/>
          <p:cNvSpPr txBox="1"/>
          <p:nvPr/>
        </p:nvSpPr>
        <p:spPr>
          <a:xfrm>
            <a:off x="10259568" y="2307515"/>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+0.8 pts</a:t>
            </a:r>
            <a:endParaRPr lang="en-US" sz="1300" dirty="0"/>
          </a:p>
        </p:txBody>
      </p:sp>
      <p:sp>
        <p:nvSpPr>
          <p:cNvPr id="71" name="Text 69"/>
          <p:cNvSpPr txBox="1"/>
          <p:nvPr/>
        </p:nvSpPr>
        <p:spPr>
          <a:xfrm>
            <a:off x="6208776" y="253772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LR HENDERSON</a:t>
            </a:r>
            <a:endParaRPr lang="en-US" sz="1300" dirty="0"/>
          </a:p>
        </p:txBody>
      </p:sp>
      <p:sp>
        <p:nvSpPr>
          <p:cNvPr id="72" name="Shape 70"/>
          <p:cNvSpPr/>
          <p:nvPr/>
        </p:nvSpPr>
        <p:spPr>
          <a:xfrm>
            <a:off x="9363456" y="2599887"/>
            <a:ext cx="91760" cy="105898"/>
          </a:xfrm>
          <a:prstGeom prst="rect">
            <a:avLst/>
          </a:prstGeom>
          <a:solidFill>
            <a:srgbClr val="12A566"/>
          </a:solidFill>
          <a:ln/>
        </p:spPr>
      </p:sp>
      <p:sp>
        <p:nvSpPr>
          <p:cNvPr id="73" name="Text 71"/>
          <p:cNvSpPr txBox="1"/>
          <p:nvPr/>
        </p:nvSpPr>
        <p:spPr>
          <a:xfrm>
            <a:off x="10259568" y="2537729"/>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+0.7 pts</a:t>
            </a:r>
            <a:endParaRPr lang="en-US" sz="1300" dirty="0"/>
          </a:p>
        </p:txBody>
      </p:sp>
      <p:sp>
        <p:nvSpPr>
          <p:cNvPr id="74" name="Text 72"/>
          <p:cNvSpPr txBox="1"/>
          <p:nvPr/>
        </p:nvSpPr>
        <p:spPr>
          <a:xfrm>
            <a:off x="6208776" y="276794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CDJR POST FALLS</a:t>
            </a:r>
            <a:endParaRPr lang="en-US" sz="1300" dirty="0"/>
          </a:p>
        </p:txBody>
      </p:sp>
      <p:sp>
        <p:nvSpPr>
          <p:cNvPr id="75" name="Shape 73"/>
          <p:cNvSpPr/>
          <p:nvPr/>
        </p:nvSpPr>
        <p:spPr>
          <a:xfrm>
            <a:off x="9363456" y="2830100"/>
            <a:ext cx="79887" cy="105898"/>
          </a:xfrm>
          <a:prstGeom prst="rect">
            <a:avLst/>
          </a:prstGeom>
          <a:solidFill>
            <a:srgbClr val="12A566"/>
          </a:solidFill>
          <a:ln/>
        </p:spPr>
      </p:sp>
      <p:sp>
        <p:nvSpPr>
          <p:cNvPr id="76" name="Text 74"/>
          <p:cNvSpPr txBox="1"/>
          <p:nvPr/>
        </p:nvSpPr>
        <p:spPr>
          <a:xfrm>
            <a:off x="10259568" y="2767943"/>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+0.6 pts</a:t>
            </a:r>
            <a:endParaRPr lang="en-US" sz="1300" dirty="0"/>
          </a:p>
        </p:txBody>
      </p:sp>
      <p:sp>
        <p:nvSpPr>
          <p:cNvPr id="77" name="Text 75"/>
          <p:cNvSpPr txBox="1"/>
          <p:nvPr/>
        </p:nvSpPr>
        <p:spPr>
          <a:xfrm>
            <a:off x="6208776" y="2998156"/>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SUBARU LV</a:t>
            </a:r>
            <a:endParaRPr lang="en-US" sz="1300" dirty="0"/>
          </a:p>
        </p:txBody>
      </p:sp>
      <p:sp>
        <p:nvSpPr>
          <p:cNvPr id="78" name="Shape 76"/>
          <p:cNvSpPr/>
          <p:nvPr/>
        </p:nvSpPr>
        <p:spPr>
          <a:xfrm>
            <a:off x="9363456" y="3060314"/>
            <a:ext cx="68205" cy="105898"/>
          </a:xfrm>
          <a:prstGeom prst="rect">
            <a:avLst/>
          </a:prstGeom>
          <a:solidFill>
            <a:srgbClr val="12A566"/>
          </a:solidFill>
          <a:ln/>
        </p:spPr>
      </p:sp>
      <p:sp>
        <p:nvSpPr>
          <p:cNvPr id="79" name="Text 77"/>
          <p:cNvSpPr txBox="1"/>
          <p:nvPr/>
        </p:nvSpPr>
        <p:spPr>
          <a:xfrm>
            <a:off x="10259568" y="2998156"/>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 pts</a:t>
            </a:r>
            <a:endParaRPr lang="en-US" sz="1300" dirty="0"/>
          </a:p>
        </p:txBody>
      </p:sp>
      <p:sp>
        <p:nvSpPr>
          <p:cNvPr id="80" name="Text 78"/>
          <p:cNvSpPr txBox="1"/>
          <p:nvPr/>
        </p:nvSpPr>
        <p:spPr>
          <a:xfrm>
            <a:off x="6208776" y="3228370"/>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KIA LV</a:t>
            </a:r>
            <a:endParaRPr lang="en-US" sz="1300" dirty="0"/>
          </a:p>
        </p:txBody>
      </p:sp>
      <p:sp>
        <p:nvSpPr>
          <p:cNvPr id="81" name="Shape 79"/>
          <p:cNvSpPr/>
          <p:nvPr/>
        </p:nvSpPr>
        <p:spPr>
          <a:xfrm>
            <a:off x="9363456" y="3290528"/>
            <a:ext cx="66847" cy="105898"/>
          </a:xfrm>
          <a:prstGeom prst="rect">
            <a:avLst/>
          </a:prstGeom>
          <a:solidFill>
            <a:srgbClr val="12A566"/>
          </a:solidFill>
          <a:ln/>
        </p:spPr>
      </p:sp>
      <p:sp>
        <p:nvSpPr>
          <p:cNvPr id="82" name="Text 80"/>
          <p:cNvSpPr txBox="1"/>
          <p:nvPr/>
        </p:nvSpPr>
        <p:spPr>
          <a:xfrm>
            <a:off x="10259568" y="3228370"/>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+0.5 pts</a:t>
            </a:r>
            <a:endParaRPr lang="en-US" sz="1300" dirty="0"/>
          </a:p>
        </p:txBody>
      </p:sp>
      <p:sp>
        <p:nvSpPr>
          <p:cNvPr id="83" name="Text 81"/>
          <p:cNvSpPr txBox="1"/>
          <p:nvPr/>
        </p:nvSpPr>
        <p:spPr>
          <a:xfrm>
            <a:off x="6208776" y="345858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GMC PRESCOTT</a:t>
            </a:r>
            <a:endParaRPr lang="en-US" sz="1300" dirty="0"/>
          </a:p>
        </p:txBody>
      </p:sp>
      <p:sp>
        <p:nvSpPr>
          <p:cNvPr id="84" name="Shape 82"/>
          <p:cNvSpPr/>
          <p:nvPr/>
        </p:nvSpPr>
        <p:spPr>
          <a:xfrm>
            <a:off x="9363456" y="3520741"/>
            <a:ext cx="34518" cy="105898"/>
          </a:xfrm>
          <a:prstGeom prst="rect">
            <a:avLst/>
          </a:prstGeom>
          <a:solidFill>
            <a:srgbClr val="12A566"/>
          </a:solidFill>
          <a:ln/>
        </p:spPr>
      </p:sp>
      <p:sp>
        <p:nvSpPr>
          <p:cNvPr id="85" name="Text 83"/>
          <p:cNvSpPr txBox="1"/>
          <p:nvPr/>
        </p:nvSpPr>
        <p:spPr>
          <a:xfrm>
            <a:off x="10259568" y="345858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+0.3 pts</a:t>
            </a:r>
            <a:endParaRPr lang="en-US" sz="1300" dirty="0"/>
          </a:p>
        </p:txBody>
      </p:sp>
      <p:sp>
        <p:nvSpPr>
          <p:cNvPr id="86" name="Text 84"/>
          <p:cNvSpPr txBox="1"/>
          <p:nvPr/>
        </p:nvSpPr>
        <p:spPr>
          <a:xfrm>
            <a:off x="6208776" y="3688797"/>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ST GEORGE</a:t>
            </a:r>
            <a:endParaRPr lang="en-US" sz="1300" dirty="0"/>
          </a:p>
        </p:txBody>
      </p:sp>
      <p:sp>
        <p:nvSpPr>
          <p:cNvPr id="87" name="Shape 85"/>
          <p:cNvSpPr/>
          <p:nvPr/>
        </p:nvSpPr>
        <p:spPr>
          <a:xfrm>
            <a:off x="9363456" y="3750955"/>
            <a:ext cx="30328" cy="105898"/>
          </a:xfrm>
          <a:prstGeom prst="rect">
            <a:avLst/>
          </a:prstGeom>
          <a:solidFill>
            <a:srgbClr val="12A566"/>
          </a:solidFill>
          <a:ln/>
        </p:spPr>
      </p:sp>
      <p:sp>
        <p:nvSpPr>
          <p:cNvPr id="88" name="Text 86"/>
          <p:cNvSpPr txBox="1"/>
          <p:nvPr/>
        </p:nvSpPr>
        <p:spPr>
          <a:xfrm>
            <a:off x="10259568" y="3688797"/>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89" name="Text 87"/>
          <p:cNvSpPr txBox="1"/>
          <p:nvPr/>
        </p:nvSpPr>
        <p:spPr>
          <a:xfrm>
            <a:off x="6208776" y="3919011"/>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CHEVY GMC BULLHEAD</a:t>
            </a:r>
            <a:endParaRPr lang="en-US" sz="1300" dirty="0"/>
          </a:p>
        </p:txBody>
      </p:sp>
      <p:sp>
        <p:nvSpPr>
          <p:cNvPr id="90" name="Shape 88"/>
          <p:cNvSpPr/>
          <p:nvPr/>
        </p:nvSpPr>
        <p:spPr>
          <a:xfrm>
            <a:off x="9363456" y="3981169"/>
            <a:ext cx="28787" cy="105898"/>
          </a:xfrm>
          <a:prstGeom prst="rect">
            <a:avLst/>
          </a:prstGeom>
          <a:solidFill>
            <a:srgbClr val="12A566"/>
          </a:solidFill>
          <a:ln/>
        </p:spPr>
      </p:sp>
      <p:sp>
        <p:nvSpPr>
          <p:cNvPr id="91" name="Text 89"/>
          <p:cNvSpPr txBox="1"/>
          <p:nvPr/>
        </p:nvSpPr>
        <p:spPr>
          <a:xfrm>
            <a:off x="10259568" y="3919011"/>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+0.2 pts</a:t>
            </a:r>
            <a:endParaRPr lang="en-US" sz="1300" dirty="0"/>
          </a:p>
        </p:txBody>
      </p:sp>
      <p:sp>
        <p:nvSpPr>
          <p:cNvPr id="92" name="Text 90"/>
          <p:cNvSpPr txBox="1"/>
          <p:nvPr/>
        </p:nvSpPr>
        <p:spPr>
          <a:xfrm>
            <a:off x="6208776" y="4149224"/>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VOLVO</a:t>
            </a:r>
            <a:endParaRPr lang="en-US" sz="1300" dirty="0"/>
          </a:p>
        </p:txBody>
      </p:sp>
      <p:sp>
        <p:nvSpPr>
          <p:cNvPr id="93" name="Shape 91"/>
          <p:cNvSpPr/>
          <p:nvPr/>
        </p:nvSpPr>
        <p:spPr>
          <a:xfrm>
            <a:off x="9363456" y="4211382"/>
            <a:ext cx="12802" cy="105898"/>
          </a:xfrm>
          <a:prstGeom prst="rect">
            <a:avLst/>
          </a:prstGeom>
          <a:solidFill>
            <a:srgbClr val="12A566"/>
          </a:solidFill>
          <a:ln/>
        </p:spPr>
      </p:sp>
      <p:sp>
        <p:nvSpPr>
          <p:cNvPr id="94" name="Text 92"/>
          <p:cNvSpPr txBox="1"/>
          <p:nvPr/>
        </p:nvSpPr>
        <p:spPr>
          <a:xfrm>
            <a:off x="10259568" y="4149224"/>
            <a:ext cx="1271016" cy="230214"/>
          </a:xfrm>
          <a:prstGeom prst="rect">
            <a:avLst/>
          </a:prstGeom>
          <a:noFill/>
          <a:ln/>
        </p:spPr>
        <p:txBody>
          <a:bodyPr wrap="square" lIns="0" tIns="0" rIns="0" bIns="0" rtlCol="0" anchor="ctr"/>
          <a:lstStyle/>
          <a:p>
            <a:pPr algn="r" indent="0" marL="0">
              <a:buNone/>
            </a:pPr>
            <a:r>
              <a:rPr lang="en-US" sz="1300" dirty="0">
                <a:solidFill>
                  <a:srgbClr val="0B7A4A"/>
                </a:solidFill>
                <a:latin typeface="Inter" pitchFamily="34" charset="0"/>
                <a:ea typeface="Inter" pitchFamily="34" charset="-122"/>
                <a:cs typeface="Inter" pitchFamily="34" charset="-120"/>
              </a:rPr>
              <a:t>+0.1 pts</a:t>
            </a:r>
            <a:endParaRPr lang="en-US" sz="1300" dirty="0"/>
          </a:p>
        </p:txBody>
      </p:sp>
      <p:sp>
        <p:nvSpPr>
          <p:cNvPr id="95" name="Text 93"/>
          <p:cNvSpPr txBox="1"/>
          <p:nvPr/>
        </p:nvSpPr>
        <p:spPr>
          <a:xfrm>
            <a:off x="6208776" y="4379438"/>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HONDA HENDERSON</a:t>
            </a:r>
            <a:endParaRPr lang="en-US" sz="1300" dirty="0"/>
          </a:p>
        </p:txBody>
      </p:sp>
      <p:sp>
        <p:nvSpPr>
          <p:cNvPr id="96" name="Shape 94"/>
          <p:cNvSpPr/>
          <p:nvPr/>
        </p:nvSpPr>
        <p:spPr>
          <a:xfrm>
            <a:off x="9354625" y="4441596"/>
            <a:ext cx="12802" cy="105898"/>
          </a:xfrm>
          <a:prstGeom prst="rect">
            <a:avLst/>
          </a:prstGeom>
          <a:solidFill>
            <a:srgbClr val="C2352F"/>
          </a:solidFill>
          <a:ln/>
        </p:spPr>
      </p:sp>
      <p:sp>
        <p:nvSpPr>
          <p:cNvPr id="97" name="Text 95"/>
          <p:cNvSpPr txBox="1"/>
          <p:nvPr/>
        </p:nvSpPr>
        <p:spPr>
          <a:xfrm>
            <a:off x="10259568" y="4379438"/>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−0.1 pts</a:t>
            </a:r>
            <a:endParaRPr lang="en-US" sz="1300" dirty="0"/>
          </a:p>
        </p:txBody>
      </p:sp>
      <p:sp>
        <p:nvSpPr>
          <p:cNvPr id="98" name="Text 96"/>
          <p:cNvSpPr txBox="1"/>
          <p:nvPr/>
        </p:nvSpPr>
        <p:spPr>
          <a:xfrm>
            <a:off x="6208776" y="4609652"/>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FLAGSTAFF</a:t>
            </a:r>
            <a:endParaRPr lang="en-US" sz="1300" dirty="0"/>
          </a:p>
        </p:txBody>
      </p:sp>
      <p:sp>
        <p:nvSpPr>
          <p:cNvPr id="99" name="Shape 97"/>
          <p:cNvSpPr/>
          <p:nvPr/>
        </p:nvSpPr>
        <p:spPr>
          <a:xfrm>
            <a:off x="9300126" y="4671809"/>
            <a:ext cx="63330" cy="105898"/>
          </a:xfrm>
          <a:prstGeom prst="rect">
            <a:avLst/>
          </a:prstGeom>
          <a:solidFill>
            <a:srgbClr val="C2352F"/>
          </a:solidFill>
          <a:ln/>
        </p:spPr>
      </p:sp>
      <p:sp>
        <p:nvSpPr>
          <p:cNvPr id="100" name="Text 98"/>
          <p:cNvSpPr txBox="1"/>
          <p:nvPr/>
        </p:nvSpPr>
        <p:spPr>
          <a:xfrm>
            <a:off x="10259568" y="4609652"/>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−0.5 pts</a:t>
            </a:r>
            <a:endParaRPr lang="en-US" sz="1300" dirty="0"/>
          </a:p>
        </p:txBody>
      </p:sp>
      <p:sp>
        <p:nvSpPr>
          <p:cNvPr id="101" name="Text 99"/>
          <p:cNvSpPr txBox="1"/>
          <p:nvPr/>
        </p:nvSpPr>
        <p:spPr>
          <a:xfrm>
            <a:off x="6208776" y="4839865"/>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HYUNDAI PRESCOTT</a:t>
            </a:r>
            <a:endParaRPr lang="en-US" sz="1300" dirty="0"/>
          </a:p>
        </p:txBody>
      </p:sp>
      <p:sp>
        <p:nvSpPr>
          <p:cNvPr id="102" name="Shape 100"/>
          <p:cNvSpPr/>
          <p:nvPr/>
        </p:nvSpPr>
        <p:spPr>
          <a:xfrm>
            <a:off x="9295729" y="4902023"/>
            <a:ext cx="67727" cy="105898"/>
          </a:xfrm>
          <a:prstGeom prst="rect">
            <a:avLst/>
          </a:prstGeom>
          <a:solidFill>
            <a:srgbClr val="C2352F"/>
          </a:solidFill>
          <a:ln/>
        </p:spPr>
      </p:sp>
      <p:sp>
        <p:nvSpPr>
          <p:cNvPr id="103" name="Text 101"/>
          <p:cNvSpPr txBox="1"/>
          <p:nvPr/>
        </p:nvSpPr>
        <p:spPr>
          <a:xfrm>
            <a:off x="10259568" y="4839865"/>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−0.5 pts</a:t>
            </a:r>
            <a:endParaRPr lang="en-US" sz="1300" dirty="0"/>
          </a:p>
        </p:txBody>
      </p:sp>
      <p:sp>
        <p:nvSpPr>
          <p:cNvPr id="104" name="Text 102"/>
          <p:cNvSpPr txBox="1"/>
          <p:nvPr/>
        </p:nvSpPr>
        <p:spPr>
          <a:xfrm>
            <a:off x="6208776" y="5070079"/>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TOYOTA SPOKANE</a:t>
            </a:r>
            <a:endParaRPr lang="en-US" sz="1300" dirty="0"/>
          </a:p>
        </p:txBody>
      </p:sp>
      <p:sp>
        <p:nvSpPr>
          <p:cNvPr id="105" name="Shape 103"/>
          <p:cNvSpPr/>
          <p:nvPr/>
        </p:nvSpPr>
        <p:spPr>
          <a:xfrm>
            <a:off x="9244132" y="5132237"/>
            <a:ext cx="119324" cy="105898"/>
          </a:xfrm>
          <a:prstGeom prst="rect">
            <a:avLst/>
          </a:prstGeom>
          <a:solidFill>
            <a:srgbClr val="C2352F"/>
          </a:solidFill>
          <a:ln/>
        </p:spPr>
      </p:sp>
      <p:sp>
        <p:nvSpPr>
          <p:cNvPr id="106" name="Text 104"/>
          <p:cNvSpPr txBox="1"/>
          <p:nvPr/>
        </p:nvSpPr>
        <p:spPr>
          <a:xfrm>
            <a:off x="10259568" y="5070079"/>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−0.9 pts</a:t>
            </a:r>
            <a:endParaRPr lang="en-US" sz="1300" dirty="0"/>
          </a:p>
        </p:txBody>
      </p:sp>
      <p:sp>
        <p:nvSpPr>
          <p:cNvPr id="107" name="Text 105"/>
          <p:cNvSpPr txBox="1"/>
          <p:nvPr/>
        </p:nvSpPr>
        <p:spPr>
          <a:xfrm>
            <a:off x="6208776" y="5300293"/>
            <a:ext cx="2240280" cy="230214"/>
          </a:xfrm>
          <a:prstGeom prst="rect">
            <a:avLst/>
          </a:prstGeom>
          <a:noFill/>
          <a:ln/>
        </p:spPr>
        <p:txBody>
          <a:bodyPr wrap="square" lIns="0" tIns="0" rIns="0" bIns="0" rtlCol="0" anchor="ctr"/>
          <a:lstStyle/>
          <a:p>
            <a:pPr indent="0" marL="0">
              <a:buNone/>
            </a:pPr>
            <a:r>
              <a:rPr lang="en-US" sz="1300" dirty="0">
                <a:solidFill>
                  <a:srgbClr val="1A1A1A"/>
                </a:solidFill>
                <a:latin typeface="Inter" pitchFamily="34" charset="0"/>
                <a:ea typeface="Inter" pitchFamily="34" charset="-122"/>
                <a:cs typeface="Inter" pitchFamily="34" charset="-120"/>
              </a:rPr>
              <a:t>AUDI HENDERSON</a:t>
            </a:r>
            <a:endParaRPr lang="en-US" sz="1300" dirty="0"/>
          </a:p>
        </p:txBody>
      </p:sp>
      <p:sp>
        <p:nvSpPr>
          <p:cNvPr id="108" name="Shape 106"/>
          <p:cNvSpPr/>
          <p:nvPr/>
        </p:nvSpPr>
        <p:spPr>
          <a:xfrm>
            <a:off x="9076995" y="5362450"/>
            <a:ext cx="286461" cy="105898"/>
          </a:xfrm>
          <a:prstGeom prst="rect">
            <a:avLst/>
          </a:prstGeom>
          <a:solidFill>
            <a:srgbClr val="C2352F"/>
          </a:solidFill>
          <a:ln/>
        </p:spPr>
      </p:sp>
      <p:sp>
        <p:nvSpPr>
          <p:cNvPr id="109" name="Text 107"/>
          <p:cNvSpPr txBox="1"/>
          <p:nvPr/>
        </p:nvSpPr>
        <p:spPr>
          <a:xfrm>
            <a:off x="10259568" y="5300293"/>
            <a:ext cx="1271016" cy="230214"/>
          </a:xfrm>
          <a:prstGeom prst="rect">
            <a:avLst/>
          </a:prstGeom>
          <a:noFill/>
          <a:ln/>
        </p:spPr>
        <p:txBody>
          <a:bodyPr wrap="square" lIns="0" tIns="0" rIns="0" bIns="0" rtlCol="0" anchor="ctr"/>
          <a:lstStyle/>
          <a:p>
            <a:pPr algn="r" indent="0" marL="0">
              <a:buNone/>
            </a:pPr>
            <a:r>
              <a:rPr lang="en-US" sz="1300" dirty="0">
                <a:solidFill>
                  <a:srgbClr val="A82B26"/>
                </a:solidFill>
                <a:latin typeface="Inter" pitchFamily="34" charset="0"/>
                <a:ea typeface="Inter" pitchFamily="34" charset="-122"/>
                <a:cs typeface="Inter" pitchFamily="34" charset="-120"/>
              </a:rPr>
              <a:t>−2.1 pts</a:t>
            </a:r>
            <a:endParaRPr lang="en-US" sz="1300" dirty="0"/>
          </a:p>
        </p:txBody>
      </p:sp>
      <p:sp>
        <p:nvSpPr>
          <p:cNvPr id="110" name="Shape 108"/>
          <p:cNvSpPr/>
          <p:nvPr/>
        </p:nvSpPr>
        <p:spPr>
          <a:xfrm>
            <a:off x="3807562" y="1847088"/>
            <a:ext cx="10973" cy="3913632"/>
          </a:xfrm>
          <a:prstGeom prst="rect">
            <a:avLst/>
          </a:prstGeom>
          <a:solidFill>
            <a:srgbClr val="9AA3AD"/>
          </a:solidFill>
          <a:ln/>
        </p:spPr>
      </p:sp>
      <p:sp>
        <p:nvSpPr>
          <p:cNvPr id="111" name="Shape 109"/>
          <p:cNvSpPr/>
          <p:nvPr/>
        </p:nvSpPr>
        <p:spPr>
          <a:xfrm>
            <a:off x="9357970" y="1847088"/>
            <a:ext cx="10973" cy="3913632"/>
          </a:xfrm>
          <a:prstGeom prst="rect">
            <a:avLst/>
          </a:prstGeom>
          <a:solidFill>
            <a:srgbClr val="9AA3AD"/>
          </a:solidFill>
          <a:ln/>
        </p:spPr>
      </p:sp>
      <p:sp>
        <p:nvSpPr>
          <p:cNvPr id="112" name="Shape 110"/>
          <p:cNvSpPr/>
          <p:nvPr/>
        </p:nvSpPr>
        <p:spPr>
          <a:xfrm>
            <a:off x="457200" y="5961888"/>
            <a:ext cx="11274552" cy="548640"/>
          </a:xfrm>
          <a:prstGeom prst="rect">
            <a:avLst/>
          </a:prstGeom>
          <a:solidFill>
            <a:srgbClr val="E6F6EE"/>
          </a:solidFill>
          <a:ln/>
        </p:spPr>
      </p:sp>
      <p:sp>
        <p:nvSpPr>
          <p:cNvPr id="113" name="Text 111"/>
          <p:cNvSpPr txBox="1"/>
          <p:nvPr/>
        </p:nvSpPr>
        <p:spPr>
          <a:xfrm>
            <a:off x="658368" y="5980176"/>
            <a:ext cx="10927080" cy="512064"/>
          </a:xfrm>
          <a:prstGeom prst="rect">
            <a:avLst/>
          </a:prstGeom>
          <a:noFill/>
          <a:ln/>
        </p:spPr>
        <p:txBody>
          <a:bodyPr wrap="square" lIns="0" tIns="0" rIns="0" bIns="0" rtlCol="0" anchor="ctr"/>
          <a:lstStyle/>
          <a:p>
            <a:pPr indent="0" marL="0">
              <a:buNone/>
            </a:pPr>
            <a:r>
              <a:rPr lang="en-US" sz="1600" b="1" dirty="0">
                <a:solidFill>
                  <a:srgbClr val="0B7A4A"/>
                </a:solidFill>
                <a:latin typeface="Inter" pitchFamily="34" charset="0"/>
                <a:ea typeface="Inter" pitchFamily="34" charset="-122"/>
                <a:cs typeface="Inter" pitchFamily="34" charset="-120"/>
              </a:rPr>
              <a:t>28 of 33 stores improved parts margin, led by ACURA at +6.1 pts to 44.9%. 5 declined; AUDI HENDERSON fell most at −2.1 pts.</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Inte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Inte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2026-10-15T23:05:12Z</dcterms:created>
  <dcterms:modified xsi:type="dcterms:W3CDTF">2026-10-15T23:05:12Z</dcterms:modified>
</cp:coreProperties>
</file>