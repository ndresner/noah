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Proficiency = sold hours / paid hours, from store totals. Green at or above 85%, red below. Bars start at 40%.ACURA: 67.4% (11,339 sold / 16,815 paid, 11 techs: 0 above, 0 on, 11 under)
AUDI HENDERSON: 91.0% (33,481 sold / 36,766 paid, 23 techs: 6 above, 4 on, 13 under)
AUDI RENO: 117.1% (15,985 sold / 13,640 paid, 10 techs: 6 above, 0 on, 4 under)
CADILLAC: 87.7% (42,358 sold / 48,277 paid, 29 techs: 8 above, 5 on, 16 under)
CDJR POST FALLS: 71.2% (14,538 sold / 20,418 paid, 14 techs: 4 above, 1 on, 9 under)
CHEVY GMC BULLHEAD: 68.4% (19,904 sold / 29,093 paid, 20 techs: 2 above, 2 on, 16 under)
CHEVY LV: 103.4% (81,675 sold / 78,983 paid, 51 techs: 21 above, 14 on, 16 under)
GMC PRESCOTT: 73.6% (10,985 sold / 14,924 paid, 12 techs: 1 above, 4 on, 7 under)
HONDA FLAGSTAFF: 78.5% (7,653 sold / 9,743 paid, 6 techs: 2 above, 0 on, 4 under)
HONDA HENDERSON: 118.5% (61,099 sold / 51,555 paid, 28 techs: 16 above, 7 on, 5 under)
HONDA NORTH: 109.3% (39,419 sold / 36,062 paid, 22 techs: 10 above, 8 on, 4 under)
HONDA SPOKANE: 109.0% (17,638 sold / 16,169 paid, 15 techs: 10 above, 3 on, 2 under)
HYUNDAI PRESCOTT: 78.8% (9,116 sold / 11,564 paid, 9 techs: 1 above, 2 on, 6 under)
HYUNDAI ST GEORGE: 69.0% (9,329 sold / 13,515 paid, 11 techs: 3 above, 0 on, 8 under)
KIA LV: 76.8% (20,682 sold / 26,909 paid, 20 techs: 2 above, 2 on, 16 under)
KIA ST GEORGE: 67.5% (11,981 sold / 17,746 paid, 12 techs: 1 above, 2 on, 9 under)
LEXUS: 104.7% (16,940 sold / 16,175 paid, 11 techs: 4 above, 1 on, 6 under)
LINCOLN: 94.9% (15,983 sold / 16,836 paid, 11 techs: 4 above, 2 on, 5 under)
LR HENDERSON: 106.0% (11,497 sold / 10,838 paid, 7 techs: 3 above, 1 on, 3 under)
LR LV: 91.2% (20,301 sold / 22,258 paid, 16 techs: 5 above, 3 on, 8 under)
LR RENO: 81.4% (7,559 sold / 9,283 paid, 6 techs: 1 above, 3 on, 2 under)
MAZDA: 101.6% (14,560 sold / 14,322 paid, 11 techs: 5 above, 2 on, 4 under)
NISSAN: 91.1% (24,792 sold / 27,197 paid, 17 techs: 3 above, 6 on, 8 under)
SUBARU LV: 96.9% (41,501 sold / 42,797 paid, 27 techs: 9 above, 7 on, 11 under)
SUBARU PRESCOTT: 98.4% (17,475 sold / 17,747 paid, 12 techs: 6 above, 0 on, 6 under)
SUBARU ST GEORGE: 109.7% (20,954 sold / 19,086 paid, 12 techs: 9 above, 0 on, 3 under)
TOYOTA FLAGSTAFF: 102.4% (31,978 sold / 31,216 paid, 18 techs: 7 above, 5 on, 6 under)
TOYOTA HENDERSON: 104.3% (104,465 sold / 100,080 paid, 59 techs: 22 above, 17 on, 20 under)
TOYOTA PRESCOTT: 83.6% (29,341 sold / 35,081 paid, 22 techs: 6 above, 5 on, 11 under)
TOYOTA SPOKANE: 108.0% (35,947 sold / 33,274 paid, 28 techs: 15 above, 9 on, 4 under)
VOLVO: 72.3% (10,479 sold / 14,475 paid, 9 techs: 0 above, 1 on, 8 under)
VW HENDERSON: 92.2% (25,394 sold / 27,527 paid, 19 techs: 6 above, 7 on, 6 under)
VW ST GEORGE: 70.0% (5,375 sold / 7,674 paid, 5 techs: 0 above, 0 on, 5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Share of each store's technicians by proficiency band (workbook status: Above Target, On Target, Under Target), most above first.ACURA: 67.4% (11,339 sold / 16,815 paid, 11 techs: 0 above, 0 on, 11 under)
AUDI HENDERSON: 91.0% (33,481 sold / 36,766 paid, 23 techs: 6 above, 4 on, 13 under)
AUDI RENO: 117.1% (15,985 sold / 13,640 paid, 10 techs: 6 above, 0 on, 4 under)
CADILLAC: 87.7% (42,358 sold / 48,277 paid, 29 techs: 8 above, 5 on, 16 under)
CDJR POST FALLS: 71.2% (14,538 sold / 20,418 paid, 14 techs: 4 above, 1 on, 9 under)
CHEVY GMC BULLHEAD: 68.4% (19,904 sold / 29,093 paid, 20 techs: 2 above, 2 on, 16 under)
CHEVY LV: 103.4% (81,675 sold / 78,983 paid, 51 techs: 21 above, 14 on, 16 under)
GMC PRESCOTT: 73.6% (10,985 sold / 14,924 paid, 12 techs: 1 above, 4 on, 7 under)
HONDA FLAGSTAFF: 78.5% (7,653 sold / 9,743 paid, 6 techs: 2 above, 0 on, 4 under)
HONDA HENDERSON: 118.5% (61,099 sold / 51,555 paid, 28 techs: 16 above, 7 on, 5 under)
HONDA NORTH: 109.3% (39,419 sold / 36,062 paid, 22 techs: 10 above, 8 on, 4 under)
HONDA SPOKANE: 109.0% (17,638 sold / 16,169 paid, 15 techs: 10 above, 3 on, 2 under)
HYUNDAI PRESCOTT: 78.8% (9,116 sold / 11,564 paid, 9 techs: 1 above, 2 on, 6 under)
HYUNDAI ST GEORGE: 69.0% (9,329 sold / 13,515 paid, 11 techs: 3 above, 0 on, 8 under)
KIA LV: 76.8% (20,682 sold / 26,909 paid, 20 techs: 2 above, 2 on, 16 under)
KIA ST GEORGE: 67.5% (11,981 sold / 17,746 paid, 12 techs: 1 above, 2 on, 9 under)
LEXUS: 104.7% (16,940 sold / 16,175 paid, 11 techs: 4 above, 1 on, 6 under)
LINCOLN: 94.9% (15,983 sold / 16,836 paid, 11 techs: 4 above, 2 on, 5 under)
LR HENDERSON: 106.0% (11,497 sold / 10,838 paid, 7 techs: 3 above, 1 on, 3 under)
LR LV: 91.2% (20,301 sold / 22,258 paid, 16 techs: 5 above, 3 on, 8 under)
LR RENO: 81.4% (7,559 sold / 9,283 paid, 6 techs: 1 above, 3 on, 2 under)
MAZDA: 101.6% (14,560 sold / 14,322 paid, 11 techs: 5 above, 2 on, 4 under)
NISSAN: 91.1% (24,792 sold / 27,197 paid, 17 techs: 3 above, 6 on, 8 under)
SUBARU LV: 96.9% (41,501 sold / 42,797 paid, 27 techs: 9 above, 7 on, 11 under)
SUBARU PRESCOTT: 98.4% (17,475 sold / 17,747 paid, 12 techs: 6 above, 0 on, 6 under)
SUBARU ST GEORGE: 109.7% (20,954 sold / 19,086 paid, 12 techs: 9 above, 0 on, 3 under)
TOYOTA FLAGSTAFF: 102.4% (31,978 sold / 31,216 paid, 18 techs: 7 above, 5 on, 6 under)
TOYOTA HENDERSON: 104.3% (104,465 sold / 100,080 paid, 59 techs: 22 above, 17 on, 20 under)
TOYOTA PRESCOTT: 83.6% (29,341 sold / 35,081 paid, 22 techs: 6 above, 5 on, 11 under)
TOYOTA SPOKANE: 108.0% (35,947 sold / 33,274 paid, 28 techs: 15 above, 9 on, 4 under)
VOLVO: 72.3% (10,479 sold / 14,475 paid, 9 techs: 0 above, 1 on, 8 under)
VW HENDERSON: 92.2% (25,394 sold / 27,527 paid, 19 techs: 6 above, 7 on, 6 under)
VW ST GEORGE: 70.0% (5,375 sold / 7,674 paid, 5 techs: 0 above, 0 on, 5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Per mo = labor + parts gross. Under 85% = technicians under 85% of all counted. Store = store proficiency.ACURA: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Top quarter = the store's most proficient quarter of counted technicians (at least one), sold / paid hours combined. Bars capped at 190%.ACURA: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Stores under 85% only. ROs/day = distinct ROs, all pay types, per counted tech per 8 paid hours. Seg avg = luxury 3.0, non-luxury 4.9 (luxury = Lexus, Lincoln, Cadillac, Volvo, Audi Reno, Audi Henderson, LR Reno, LR LV, LR Henderson). Fewer ROs per tech can mean too few cars for the staff or slow techs turning work away; it starts the conversation rather than settling it.ACURA: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none" lIns="0" tIns="0" rIns="0" bIns="0" rtlCol="0" anchor="ctr"/>
          <a:lstStyle/>
          <a:p>
            <a:pPr indent="0" marL="0">
              <a:buNone/>
            </a:pPr>
            <a:r>
              <a:rPr lang="en-US" sz="6200" b="1" dirty="0">
                <a:solidFill>
                  <a:srgbClr val="1A1A1A"/>
                </a:solidFill>
                <a:latin typeface="Inter" pitchFamily="34" charset="0"/>
                <a:ea typeface="Inter" pitchFamily="34" charset="-122"/>
                <a:cs typeface="Inter" pitchFamily="34" charset="-120"/>
              </a:rPr>
              <a:t>Technician Proficiency</a:t>
            </a:r>
            <a:endParaRPr lang="en-US" sz="6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Store proficiency   ·   Technician status   ·   The opportunity   ·   Work or workers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118.5%</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 name="Shape 8"/>
          <p:cNvSpPr/>
          <p:nvPr/>
        </p:nvSpPr>
        <p:spPr>
          <a:xfrm>
            <a:off x="2971800" y="1995275"/>
            <a:ext cx="1797871"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117.1%</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3" name="Shape 11"/>
          <p:cNvSpPr/>
          <p:nvPr/>
        </p:nvSpPr>
        <p:spPr>
          <a:xfrm>
            <a:off x="2971800" y="2230867"/>
            <a:ext cx="1625615"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 name="Shape 14"/>
          <p:cNvSpPr/>
          <p:nvPr/>
        </p:nvSpPr>
        <p:spPr>
          <a:xfrm>
            <a:off x="2971800" y="2466460"/>
            <a:ext cx="1614416"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9" name="Shape 17"/>
          <p:cNvSpPr/>
          <p:nvPr/>
        </p:nvSpPr>
        <p:spPr>
          <a:xfrm>
            <a:off x="2971800" y="2702052"/>
            <a:ext cx="1609244"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109.0%</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2" name="Shape 20"/>
          <p:cNvSpPr/>
          <p:nvPr/>
        </p:nvSpPr>
        <p:spPr>
          <a:xfrm>
            <a:off x="2971800" y="2937644"/>
            <a:ext cx="1584654"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108.0%</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5" name="Shape 23"/>
          <p:cNvSpPr/>
          <p:nvPr/>
        </p:nvSpPr>
        <p:spPr>
          <a:xfrm>
            <a:off x="2971800" y="3173237"/>
            <a:ext cx="1539229"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106.0%</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8" name="Shape 26"/>
          <p:cNvSpPr/>
          <p:nvPr/>
        </p:nvSpPr>
        <p:spPr>
          <a:xfrm>
            <a:off x="2971800" y="3408829"/>
            <a:ext cx="1507665"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104.7%</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1" name="Shape 29"/>
          <p:cNvSpPr/>
          <p:nvPr/>
        </p:nvSpPr>
        <p:spPr>
          <a:xfrm>
            <a:off x="2971800" y="3644422"/>
            <a:ext cx="1499606"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104.3%</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971800" y="3880014"/>
            <a:ext cx="1476940"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7" name="Shape 35"/>
          <p:cNvSpPr/>
          <p:nvPr/>
        </p:nvSpPr>
        <p:spPr>
          <a:xfrm>
            <a:off x="2971800" y="4115607"/>
            <a:ext cx="1454419"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102.4%</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0" name="Shape 38"/>
          <p:cNvSpPr/>
          <p:nvPr/>
        </p:nvSpPr>
        <p:spPr>
          <a:xfrm>
            <a:off x="2971800" y="4351199"/>
            <a:ext cx="1436290"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101.6%</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3" name="Shape 41"/>
          <p:cNvSpPr/>
          <p:nvPr/>
        </p:nvSpPr>
        <p:spPr>
          <a:xfrm>
            <a:off x="2971800" y="4586792"/>
            <a:ext cx="1361834" cy="117796"/>
          </a:xfrm>
          <a:prstGeom prst="rect">
            <a:avLst/>
          </a:prstGeom>
          <a:solidFill>
            <a:srgbClr val="12A566"/>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98.4%</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46" name="Shape 44"/>
          <p:cNvSpPr/>
          <p:nvPr/>
        </p:nvSpPr>
        <p:spPr>
          <a:xfrm>
            <a:off x="2971800" y="4822384"/>
            <a:ext cx="1327031" cy="117796"/>
          </a:xfrm>
          <a:prstGeom prst="rect">
            <a:avLst/>
          </a:prstGeom>
          <a:solidFill>
            <a:srgbClr val="12A566"/>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96.9%</a:t>
            </a:r>
            <a:endParaRPr lang="en-US" sz="1300" dirty="0"/>
          </a:p>
        </p:txBody>
      </p:sp>
      <p:sp>
        <p:nvSpPr>
          <p:cNvPr id="48" name="Text 46"/>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49" name="Shape 47"/>
          <p:cNvSpPr/>
          <p:nvPr/>
        </p:nvSpPr>
        <p:spPr>
          <a:xfrm>
            <a:off x="2971800" y="5057977"/>
            <a:ext cx="1279509" cy="117796"/>
          </a:xfrm>
          <a:prstGeom prst="rect">
            <a:avLst/>
          </a:prstGeom>
          <a:solidFill>
            <a:srgbClr val="12A566"/>
          </a:solidFill>
          <a:ln/>
        </p:spPr>
      </p:sp>
      <p:sp>
        <p:nvSpPr>
          <p:cNvPr id="50" name="Text 48"/>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94.9%</a:t>
            </a:r>
            <a:endParaRPr lang="en-US" sz="1300" dirty="0"/>
          </a:p>
        </p:txBody>
      </p:sp>
      <p:sp>
        <p:nvSpPr>
          <p:cNvPr id="51" name="Shape 49"/>
          <p:cNvSpPr/>
          <p:nvPr/>
        </p:nvSpPr>
        <p:spPr>
          <a:xfrm>
            <a:off x="585216" y="5230099"/>
            <a:ext cx="5413248" cy="226448"/>
          </a:xfrm>
          <a:prstGeom prst="rect">
            <a:avLst/>
          </a:prstGeom>
          <a:solidFill>
            <a:srgbClr val="EDF4FA"/>
          </a:solidFill>
          <a:ln/>
        </p:spPr>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93569"/>
            <a:ext cx="1276058" cy="117796"/>
          </a:xfrm>
          <a:prstGeom prst="rect">
            <a:avLst/>
          </a:prstGeom>
          <a:solidFill>
            <a:srgbClr val="0B2C4A"/>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94.7%</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6" name="Shape 54"/>
          <p:cNvSpPr/>
          <p:nvPr/>
        </p:nvSpPr>
        <p:spPr>
          <a:xfrm>
            <a:off x="2971800" y="5529162"/>
            <a:ext cx="1217123" cy="117796"/>
          </a:xfrm>
          <a:prstGeom prst="rect">
            <a:avLst/>
          </a:prstGeom>
          <a:solidFill>
            <a:srgbClr val="12A566"/>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92.2%</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9" name="Shape 57"/>
          <p:cNvSpPr/>
          <p:nvPr/>
        </p:nvSpPr>
        <p:spPr>
          <a:xfrm>
            <a:off x="8522208" y="1759682"/>
            <a:ext cx="1192698" cy="117796"/>
          </a:xfrm>
          <a:prstGeom prst="rect">
            <a:avLst/>
          </a:prstGeom>
          <a:solidFill>
            <a:srgbClr val="12A566"/>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91.2%</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2" name="Shape 60"/>
          <p:cNvSpPr/>
          <p:nvPr/>
        </p:nvSpPr>
        <p:spPr>
          <a:xfrm>
            <a:off x="8522208" y="1995275"/>
            <a:ext cx="1191628" cy="117796"/>
          </a:xfrm>
          <a:prstGeom prst="rect">
            <a:avLst/>
          </a:prstGeom>
          <a:solidFill>
            <a:srgbClr val="12A566"/>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91.1%</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5" name="Shape 63"/>
          <p:cNvSpPr/>
          <p:nvPr/>
        </p:nvSpPr>
        <p:spPr>
          <a:xfrm>
            <a:off x="8522208" y="2230867"/>
            <a:ext cx="1189441" cy="117796"/>
          </a:xfrm>
          <a:prstGeom prst="rect">
            <a:avLst/>
          </a:prstGeom>
          <a:solidFill>
            <a:srgbClr val="12A566"/>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91.0%</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8" name="Shape 66"/>
          <p:cNvSpPr/>
          <p:nvPr/>
        </p:nvSpPr>
        <p:spPr>
          <a:xfrm>
            <a:off x="8522208" y="2466460"/>
            <a:ext cx="1111986" cy="117796"/>
          </a:xfrm>
          <a:prstGeom prst="rect">
            <a:avLst/>
          </a:prstGeom>
          <a:solidFill>
            <a:srgbClr val="12A566"/>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87.7%</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1" name="Shape 69"/>
          <p:cNvSpPr/>
          <p:nvPr/>
        </p:nvSpPr>
        <p:spPr>
          <a:xfrm>
            <a:off x="8522208" y="2702052"/>
            <a:ext cx="1016416"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83.6%</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8522208" y="2937644"/>
            <a:ext cx="964940"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81.4%</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7" name="Shape 75"/>
          <p:cNvSpPr/>
          <p:nvPr/>
        </p:nvSpPr>
        <p:spPr>
          <a:xfrm>
            <a:off x="8522208" y="3173237"/>
            <a:ext cx="904378"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0" name="Shape 78"/>
          <p:cNvSpPr/>
          <p:nvPr/>
        </p:nvSpPr>
        <p:spPr>
          <a:xfrm>
            <a:off x="8522208" y="3408829"/>
            <a:ext cx="897944"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3" name="Shape 81"/>
          <p:cNvSpPr/>
          <p:nvPr/>
        </p:nvSpPr>
        <p:spPr>
          <a:xfrm>
            <a:off x="8522208" y="3644422"/>
            <a:ext cx="858574"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76.8%</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6" name="Shape 84"/>
          <p:cNvSpPr/>
          <p:nvPr/>
        </p:nvSpPr>
        <p:spPr>
          <a:xfrm>
            <a:off x="8522208" y="3880014"/>
            <a:ext cx="782805"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73.6%</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9" name="Shape 87"/>
          <p:cNvSpPr/>
          <p:nvPr/>
        </p:nvSpPr>
        <p:spPr>
          <a:xfrm>
            <a:off x="8522208" y="4115607"/>
            <a:ext cx="754495"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72.3%</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2" name="Shape 90"/>
          <p:cNvSpPr/>
          <p:nvPr/>
        </p:nvSpPr>
        <p:spPr>
          <a:xfrm>
            <a:off x="8522208" y="4351199"/>
            <a:ext cx="726763"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71.2%</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5" name="Shape 93"/>
          <p:cNvSpPr/>
          <p:nvPr/>
        </p:nvSpPr>
        <p:spPr>
          <a:xfrm>
            <a:off x="8522208" y="4586792"/>
            <a:ext cx="699520"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8" name="Shape 96"/>
          <p:cNvSpPr/>
          <p:nvPr/>
        </p:nvSpPr>
        <p:spPr>
          <a:xfrm>
            <a:off x="8522208" y="4822384"/>
            <a:ext cx="676048"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69.0%</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1" name="Shape 99"/>
          <p:cNvSpPr/>
          <p:nvPr/>
        </p:nvSpPr>
        <p:spPr>
          <a:xfrm>
            <a:off x="8522208" y="5057977"/>
            <a:ext cx="661897"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68.4%</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4" name="Shape 102"/>
          <p:cNvSpPr/>
          <p:nvPr/>
        </p:nvSpPr>
        <p:spPr>
          <a:xfrm>
            <a:off x="8522208" y="5293569"/>
            <a:ext cx="64086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7" name="Shape 105"/>
          <p:cNvSpPr/>
          <p:nvPr/>
        </p:nvSpPr>
        <p:spPr>
          <a:xfrm>
            <a:off x="8522208" y="5529162"/>
            <a:ext cx="638949"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67.4%</a:t>
            </a:r>
            <a:endParaRPr lang="en-US" sz="1300" dirty="0"/>
          </a:p>
        </p:txBody>
      </p:sp>
      <p:sp>
        <p:nvSpPr>
          <p:cNvPr id="109" name="Shape 107"/>
          <p:cNvSpPr/>
          <p:nvPr/>
        </p:nvSpPr>
        <p:spPr>
          <a:xfrm>
            <a:off x="4012657" y="1700784"/>
            <a:ext cx="14630" cy="4005072"/>
          </a:xfrm>
          <a:prstGeom prst="rect">
            <a:avLst/>
          </a:prstGeom>
          <a:solidFill>
            <a:srgbClr val="0B2C4A"/>
          </a:solidFill>
          <a:ln/>
        </p:spPr>
      </p:sp>
      <p:sp>
        <p:nvSpPr>
          <p:cNvPr id="110" name="Text 108"/>
          <p:cNvSpPr txBox="1"/>
          <p:nvPr/>
        </p:nvSpPr>
        <p:spPr>
          <a:xfrm>
            <a:off x="264837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85.0%</a:t>
            </a:r>
            <a:endParaRPr lang="en-US" sz="1400" dirty="0"/>
          </a:p>
        </p:txBody>
      </p:sp>
      <p:sp>
        <p:nvSpPr>
          <p:cNvPr id="111" name="Shape 109"/>
          <p:cNvSpPr/>
          <p:nvPr/>
        </p:nvSpPr>
        <p:spPr>
          <a:xfrm>
            <a:off x="9563065" y="1700784"/>
            <a:ext cx="14630" cy="4005072"/>
          </a:xfrm>
          <a:prstGeom prst="rect">
            <a:avLst/>
          </a:prstGeom>
          <a:solidFill>
            <a:srgbClr val="0B2C4A"/>
          </a:solidFill>
          <a:ln/>
        </p:spPr>
      </p:sp>
      <p:sp>
        <p:nvSpPr>
          <p:cNvPr id="112" name="Text 110"/>
          <p:cNvSpPr txBox="1"/>
          <p:nvPr/>
        </p:nvSpPr>
        <p:spPr>
          <a:xfrm>
            <a:off x="8198780"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85.0%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20 of 33 stores at or above the 85% target and 12 above 100%. Group 94.7%, led by HONDA HENDERSON at 118.5%; ACURA lowest at 67.4%.</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 Status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12A566"/>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Above 100 %</a:t>
            </a:r>
            <a:endParaRPr lang="en-US" sz="1400" dirty="0"/>
          </a:p>
        </p:txBody>
      </p:sp>
      <p:sp>
        <p:nvSpPr>
          <p:cNvPr id="8" name="Shape 6"/>
          <p:cNvSpPr/>
          <p:nvPr/>
        </p:nvSpPr>
        <p:spPr>
          <a:xfrm>
            <a:off x="2624328" y="1371600"/>
            <a:ext cx="201168" cy="201168"/>
          </a:xfrm>
          <a:prstGeom prst="rect">
            <a:avLst/>
          </a:prstGeom>
          <a:solidFill>
            <a:srgbClr val="5B9BD5"/>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85 to 99.9 %</a:t>
            </a:r>
            <a:endParaRPr lang="en-US" sz="1400" dirty="0"/>
          </a:p>
        </p:txBody>
      </p:sp>
      <p:sp>
        <p:nvSpPr>
          <p:cNvPr id="10" name="Shape 8"/>
          <p:cNvSpPr/>
          <p:nvPr/>
        </p:nvSpPr>
        <p:spPr>
          <a:xfrm>
            <a:off x="4590288" y="1371600"/>
            <a:ext cx="201168" cy="201168"/>
          </a:xfrm>
          <a:prstGeom prst="rect">
            <a:avLst/>
          </a:prstGeom>
          <a:solidFill>
            <a:srgbClr val="C2352F"/>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Under 85 %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260837" cy="292608"/>
          </a:xfrm>
          <a:prstGeom prst="rect">
            <a:avLst/>
          </a:prstGeom>
          <a:solidFill>
            <a:srgbClr val="12A566"/>
          </a:solidFill>
          <a:ln w="6350">
            <a:solidFill>
              <a:srgbClr val="FFFFFF"/>
            </a:solidFill>
            <a:prstDash val="solid"/>
          </a:ln>
        </p:spPr>
      </p:sp>
      <p:sp>
        <p:nvSpPr>
          <p:cNvPr id="15" name="Text 13"/>
          <p:cNvSpPr txBox="1"/>
          <p:nvPr/>
        </p:nvSpPr>
        <p:spPr>
          <a:xfrm>
            <a:off x="7726680" y="1344168"/>
            <a:ext cx="126083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34</a:t>
            </a:r>
            <a:endParaRPr lang="en-US" sz="1400" dirty="0"/>
          </a:p>
        </p:txBody>
      </p:sp>
      <p:sp>
        <p:nvSpPr>
          <p:cNvPr id="16" name="Shape 14"/>
          <p:cNvSpPr/>
          <p:nvPr/>
        </p:nvSpPr>
        <p:spPr>
          <a:xfrm>
            <a:off x="8987517" y="1344168"/>
            <a:ext cx="783247" cy="292608"/>
          </a:xfrm>
          <a:prstGeom prst="rect">
            <a:avLst/>
          </a:prstGeom>
          <a:solidFill>
            <a:srgbClr val="5B9BD5"/>
          </a:solidFill>
          <a:ln w="6350">
            <a:solidFill>
              <a:srgbClr val="FFFFFF"/>
            </a:solidFill>
            <a:prstDash val="solid"/>
          </a:ln>
        </p:spPr>
      </p:sp>
      <p:sp>
        <p:nvSpPr>
          <p:cNvPr id="17" name="Text 15"/>
          <p:cNvSpPr txBox="1"/>
          <p:nvPr/>
        </p:nvSpPr>
        <p:spPr>
          <a:xfrm>
            <a:off x="8987517" y="1344168"/>
            <a:ext cx="78324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21</a:t>
            </a:r>
            <a:endParaRPr lang="en-US" sz="1400" dirty="0"/>
          </a:p>
        </p:txBody>
      </p:sp>
      <p:sp>
        <p:nvSpPr>
          <p:cNvPr id="18" name="Shape 16"/>
          <p:cNvSpPr/>
          <p:nvPr/>
        </p:nvSpPr>
        <p:spPr>
          <a:xfrm>
            <a:off x="9770764" y="1344168"/>
            <a:ext cx="1668380" cy="292608"/>
          </a:xfrm>
          <a:prstGeom prst="rect">
            <a:avLst/>
          </a:prstGeom>
          <a:solidFill>
            <a:srgbClr val="C2352F"/>
          </a:solidFill>
          <a:ln w="6350">
            <a:solidFill>
              <a:srgbClr val="FFFFFF"/>
            </a:solidFill>
            <a:prstDash val="solid"/>
          </a:ln>
        </p:spPr>
      </p:sp>
      <p:sp>
        <p:nvSpPr>
          <p:cNvPr id="19" name="Text 17"/>
          <p:cNvSpPr txBox="1"/>
          <p:nvPr/>
        </p:nvSpPr>
        <p:spPr>
          <a:xfrm>
            <a:off x="9770764" y="1344168"/>
            <a:ext cx="1668380"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45</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2807208" y="1856426"/>
            <a:ext cx="2366010" cy="174962"/>
          </a:xfrm>
          <a:prstGeom prst="rect">
            <a:avLst/>
          </a:prstGeom>
          <a:solidFill>
            <a:srgbClr val="12A566"/>
          </a:solidFill>
          <a:ln w="6350">
            <a:solidFill>
              <a:srgbClr val="FFFFFF"/>
            </a:solidFill>
            <a:prstDash val="solid"/>
          </a:ln>
        </p:spPr>
      </p:sp>
      <p:sp>
        <p:nvSpPr>
          <p:cNvPr id="22" name="Text 20"/>
          <p:cNvSpPr txBox="1"/>
          <p:nvPr/>
        </p:nvSpPr>
        <p:spPr>
          <a:xfrm>
            <a:off x="2807208" y="1856426"/>
            <a:ext cx="23660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3" name="Shape 21"/>
          <p:cNvSpPr/>
          <p:nvPr/>
        </p:nvSpPr>
        <p:spPr>
          <a:xfrm>
            <a:off x="5173218" y="1856426"/>
            <a:ext cx="914" cy="174962"/>
          </a:xfrm>
          <a:prstGeom prst="rect">
            <a:avLst/>
          </a:prstGeom>
          <a:solidFill>
            <a:srgbClr val="5B9BD5"/>
          </a:solidFill>
          <a:ln w="6350">
            <a:solidFill>
              <a:srgbClr val="FFFFFF"/>
            </a:solidFill>
            <a:prstDash val="solid"/>
          </a:ln>
        </p:spPr>
      </p:sp>
      <p:sp>
        <p:nvSpPr>
          <p:cNvPr id="24" name="Shape 22"/>
          <p:cNvSpPr/>
          <p:nvPr/>
        </p:nvSpPr>
        <p:spPr>
          <a:xfrm>
            <a:off x="5173218" y="1856426"/>
            <a:ext cx="788670" cy="174962"/>
          </a:xfrm>
          <a:prstGeom prst="rect">
            <a:avLst/>
          </a:prstGeom>
          <a:solidFill>
            <a:srgbClr val="C2352F"/>
          </a:solidFill>
          <a:ln w="6350">
            <a:solidFill>
              <a:srgbClr val="FFFFFF"/>
            </a:solidFill>
            <a:prstDash val="solid"/>
          </a:ln>
        </p:spPr>
      </p:sp>
      <p:sp>
        <p:nvSpPr>
          <p:cNvPr id="25" name="Text 23"/>
          <p:cNvSpPr txBox="1"/>
          <p:nvPr/>
        </p:nvSpPr>
        <p:spPr>
          <a:xfrm>
            <a:off x="5173218" y="1856426"/>
            <a:ext cx="78867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6" name="Text 24"/>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7" name="Shape 25"/>
          <p:cNvSpPr/>
          <p:nvPr/>
        </p:nvSpPr>
        <p:spPr>
          <a:xfrm>
            <a:off x="2807208" y="2086639"/>
            <a:ext cx="2103120" cy="174962"/>
          </a:xfrm>
          <a:prstGeom prst="rect">
            <a:avLst/>
          </a:prstGeom>
          <a:solidFill>
            <a:srgbClr val="12A566"/>
          </a:solidFill>
          <a:ln w="6350">
            <a:solidFill>
              <a:srgbClr val="FFFFFF"/>
            </a:solidFill>
            <a:prstDash val="solid"/>
          </a:ln>
        </p:spPr>
      </p:sp>
      <p:sp>
        <p:nvSpPr>
          <p:cNvPr id="28" name="Text 26"/>
          <p:cNvSpPr txBox="1"/>
          <p:nvPr/>
        </p:nvSpPr>
        <p:spPr>
          <a:xfrm>
            <a:off x="2807208" y="2086639"/>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29" name="Shape 27"/>
          <p:cNvSpPr/>
          <p:nvPr/>
        </p:nvSpPr>
        <p:spPr>
          <a:xfrm>
            <a:off x="4910328" y="2086639"/>
            <a:ext cx="630936" cy="174962"/>
          </a:xfrm>
          <a:prstGeom prst="rect">
            <a:avLst/>
          </a:prstGeom>
          <a:solidFill>
            <a:srgbClr val="5B9BD5"/>
          </a:solidFill>
          <a:ln w="6350">
            <a:solidFill>
              <a:srgbClr val="FFFFFF"/>
            </a:solidFill>
            <a:prstDash val="solid"/>
          </a:ln>
        </p:spPr>
      </p:sp>
      <p:sp>
        <p:nvSpPr>
          <p:cNvPr id="30" name="Text 28"/>
          <p:cNvSpPr txBox="1"/>
          <p:nvPr/>
        </p:nvSpPr>
        <p:spPr>
          <a:xfrm>
            <a:off x="4910328" y="2086639"/>
            <a:ext cx="6309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20</a:t>
            </a:r>
            <a:endParaRPr lang="en-US" sz="1300" dirty="0"/>
          </a:p>
        </p:txBody>
      </p:sp>
      <p:sp>
        <p:nvSpPr>
          <p:cNvPr id="31" name="Shape 29"/>
          <p:cNvSpPr/>
          <p:nvPr/>
        </p:nvSpPr>
        <p:spPr>
          <a:xfrm>
            <a:off x="5541264" y="2086639"/>
            <a:ext cx="420624" cy="174962"/>
          </a:xfrm>
          <a:prstGeom prst="rect">
            <a:avLst/>
          </a:prstGeom>
          <a:solidFill>
            <a:srgbClr val="C2352F"/>
          </a:solidFill>
          <a:ln w="6350">
            <a:solidFill>
              <a:srgbClr val="FFFFFF"/>
            </a:solidFill>
            <a:prstDash val="solid"/>
          </a:ln>
        </p:spPr>
      </p:sp>
      <p:sp>
        <p:nvSpPr>
          <p:cNvPr id="32" name="Text 30"/>
          <p:cNvSpPr txBox="1"/>
          <p:nvPr/>
        </p:nvSpPr>
        <p:spPr>
          <a:xfrm>
            <a:off x="5541264" y="2086639"/>
            <a:ext cx="4206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33" name="Text 31"/>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4" name="Shape 32"/>
          <p:cNvSpPr/>
          <p:nvPr/>
        </p:nvSpPr>
        <p:spPr>
          <a:xfrm>
            <a:off x="2807208" y="2316853"/>
            <a:ext cx="1892808" cy="174962"/>
          </a:xfrm>
          <a:prstGeom prst="rect">
            <a:avLst/>
          </a:prstGeom>
          <a:solidFill>
            <a:srgbClr val="12A566"/>
          </a:solidFill>
          <a:ln w="6350">
            <a:solidFill>
              <a:srgbClr val="FFFFFF"/>
            </a:solidFill>
            <a:prstDash val="solid"/>
          </a:ln>
        </p:spPr>
      </p:sp>
      <p:sp>
        <p:nvSpPr>
          <p:cNvPr id="35" name="Text 33"/>
          <p:cNvSpPr txBox="1"/>
          <p:nvPr/>
        </p:nvSpPr>
        <p:spPr>
          <a:xfrm>
            <a:off x="2807208" y="2316853"/>
            <a:ext cx="18928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36" name="Shape 34"/>
          <p:cNvSpPr/>
          <p:nvPr/>
        </p:nvSpPr>
        <p:spPr>
          <a:xfrm>
            <a:off x="4700016" y="2316853"/>
            <a:ext cx="914" cy="174962"/>
          </a:xfrm>
          <a:prstGeom prst="rect">
            <a:avLst/>
          </a:prstGeom>
          <a:solidFill>
            <a:srgbClr val="5B9BD5"/>
          </a:solidFill>
          <a:ln w="6350">
            <a:solidFill>
              <a:srgbClr val="FFFFFF"/>
            </a:solidFill>
            <a:prstDash val="solid"/>
          </a:ln>
        </p:spPr>
      </p:sp>
      <p:sp>
        <p:nvSpPr>
          <p:cNvPr id="37" name="Shape 35"/>
          <p:cNvSpPr/>
          <p:nvPr/>
        </p:nvSpPr>
        <p:spPr>
          <a:xfrm>
            <a:off x="4700016" y="2316853"/>
            <a:ext cx="1261872" cy="174962"/>
          </a:xfrm>
          <a:prstGeom prst="rect">
            <a:avLst/>
          </a:prstGeom>
          <a:solidFill>
            <a:srgbClr val="C2352F"/>
          </a:solidFill>
          <a:ln w="6350">
            <a:solidFill>
              <a:srgbClr val="FFFFFF"/>
            </a:solidFill>
            <a:prstDash val="solid"/>
          </a:ln>
        </p:spPr>
      </p:sp>
      <p:sp>
        <p:nvSpPr>
          <p:cNvPr id="38" name="Text 36"/>
          <p:cNvSpPr txBox="1"/>
          <p:nvPr/>
        </p:nvSpPr>
        <p:spPr>
          <a:xfrm>
            <a:off x="4700016" y="2316853"/>
            <a:ext cx="126187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39" name="Text 37"/>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807208" y="2547067"/>
            <a:ext cx="1802674" cy="174962"/>
          </a:xfrm>
          <a:prstGeom prst="rect">
            <a:avLst/>
          </a:prstGeom>
          <a:solidFill>
            <a:srgbClr val="12A566"/>
          </a:solidFill>
          <a:ln w="6350">
            <a:solidFill>
              <a:srgbClr val="FFFFFF"/>
            </a:solidFill>
            <a:prstDash val="solid"/>
          </a:ln>
        </p:spPr>
      </p:sp>
      <p:sp>
        <p:nvSpPr>
          <p:cNvPr id="41" name="Text 39"/>
          <p:cNvSpPr txBox="1"/>
          <p:nvPr/>
        </p:nvSpPr>
        <p:spPr>
          <a:xfrm>
            <a:off x="2807208" y="2547067"/>
            <a:ext cx="180267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42" name="Shape 40"/>
          <p:cNvSpPr/>
          <p:nvPr/>
        </p:nvSpPr>
        <p:spPr>
          <a:xfrm>
            <a:off x="4609882" y="2547067"/>
            <a:ext cx="788670" cy="174962"/>
          </a:xfrm>
          <a:prstGeom prst="rect">
            <a:avLst/>
          </a:prstGeom>
          <a:solidFill>
            <a:srgbClr val="5B9BD5"/>
          </a:solidFill>
          <a:ln w="6350">
            <a:solidFill>
              <a:srgbClr val="FFFFFF"/>
            </a:solidFill>
            <a:prstDash val="solid"/>
          </a:ln>
        </p:spPr>
      </p:sp>
      <p:sp>
        <p:nvSpPr>
          <p:cNvPr id="43" name="Text 41"/>
          <p:cNvSpPr txBox="1"/>
          <p:nvPr/>
        </p:nvSpPr>
        <p:spPr>
          <a:xfrm>
            <a:off x="4609882" y="2547067"/>
            <a:ext cx="78867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44" name="Shape 42"/>
          <p:cNvSpPr/>
          <p:nvPr/>
        </p:nvSpPr>
        <p:spPr>
          <a:xfrm>
            <a:off x="5398552" y="2547067"/>
            <a:ext cx="563336" cy="174962"/>
          </a:xfrm>
          <a:prstGeom prst="rect">
            <a:avLst/>
          </a:prstGeom>
          <a:solidFill>
            <a:srgbClr val="C2352F"/>
          </a:solidFill>
          <a:ln w="6350">
            <a:solidFill>
              <a:srgbClr val="FFFFFF"/>
            </a:solidFill>
            <a:prstDash val="solid"/>
          </a:ln>
        </p:spPr>
      </p:sp>
      <p:sp>
        <p:nvSpPr>
          <p:cNvPr id="45" name="Text 43"/>
          <p:cNvSpPr txBox="1"/>
          <p:nvPr/>
        </p:nvSpPr>
        <p:spPr>
          <a:xfrm>
            <a:off x="5398552" y="2547067"/>
            <a:ext cx="5633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46" name="Text 44"/>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7" name="Shape 45"/>
          <p:cNvSpPr/>
          <p:nvPr/>
        </p:nvSpPr>
        <p:spPr>
          <a:xfrm>
            <a:off x="2807208" y="2777280"/>
            <a:ext cx="1690007" cy="174962"/>
          </a:xfrm>
          <a:prstGeom prst="rect">
            <a:avLst/>
          </a:prstGeom>
          <a:solidFill>
            <a:srgbClr val="12A566"/>
          </a:solidFill>
          <a:ln w="6350">
            <a:solidFill>
              <a:srgbClr val="FFFFFF"/>
            </a:solidFill>
            <a:prstDash val="solid"/>
          </a:ln>
        </p:spPr>
      </p:sp>
      <p:sp>
        <p:nvSpPr>
          <p:cNvPr id="48" name="Text 46"/>
          <p:cNvSpPr txBox="1"/>
          <p:nvPr/>
        </p:nvSpPr>
        <p:spPr>
          <a:xfrm>
            <a:off x="2807208" y="2777280"/>
            <a:ext cx="169000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54</a:t>
            </a:r>
            <a:endParaRPr lang="en-US" sz="1300" dirty="0"/>
          </a:p>
        </p:txBody>
      </p:sp>
      <p:sp>
        <p:nvSpPr>
          <p:cNvPr id="49" name="Shape 47"/>
          <p:cNvSpPr/>
          <p:nvPr/>
        </p:nvSpPr>
        <p:spPr>
          <a:xfrm>
            <a:off x="4497215" y="2777280"/>
            <a:ext cx="1014004" cy="174962"/>
          </a:xfrm>
          <a:prstGeom prst="rect">
            <a:avLst/>
          </a:prstGeom>
          <a:solidFill>
            <a:srgbClr val="5B9BD5"/>
          </a:solidFill>
          <a:ln w="6350">
            <a:solidFill>
              <a:srgbClr val="FFFFFF"/>
            </a:solidFill>
            <a:prstDash val="solid"/>
          </a:ln>
        </p:spPr>
      </p:sp>
      <p:sp>
        <p:nvSpPr>
          <p:cNvPr id="50" name="Text 48"/>
          <p:cNvSpPr txBox="1"/>
          <p:nvPr/>
        </p:nvSpPr>
        <p:spPr>
          <a:xfrm>
            <a:off x="4497215" y="2777280"/>
            <a:ext cx="10140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51" name="Shape 49"/>
          <p:cNvSpPr/>
          <p:nvPr/>
        </p:nvSpPr>
        <p:spPr>
          <a:xfrm>
            <a:off x="5511219" y="2777280"/>
            <a:ext cx="450669" cy="174962"/>
          </a:xfrm>
          <a:prstGeom prst="rect">
            <a:avLst/>
          </a:prstGeom>
          <a:solidFill>
            <a:srgbClr val="C2352F"/>
          </a:solidFill>
          <a:ln w="6350">
            <a:solidFill>
              <a:srgbClr val="FFFFFF"/>
            </a:solidFill>
            <a:prstDash val="solid"/>
          </a:ln>
        </p:spPr>
      </p:sp>
      <p:sp>
        <p:nvSpPr>
          <p:cNvPr id="52" name="Text 50"/>
          <p:cNvSpPr txBox="1"/>
          <p:nvPr/>
        </p:nvSpPr>
        <p:spPr>
          <a:xfrm>
            <a:off x="5511219" y="2777280"/>
            <a:ext cx="4506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53" name="Text 51"/>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2807208" y="3007494"/>
            <a:ext cx="1577340" cy="174962"/>
          </a:xfrm>
          <a:prstGeom prst="rect">
            <a:avLst/>
          </a:prstGeom>
          <a:solidFill>
            <a:srgbClr val="12A566"/>
          </a:solidFill>
          <a:ln w="6350">
            <a:solidFill>
              <a:srgbClr val="FFFFFF"/>
            </a:solidFill>
            <a:prstDash val="solid"/>
          </a:ln>
        </p:spPr>
      </p:sp>
      <p:sp>
        <p:nvSpPr>
          <p:cNvPr id="55" name="Text 53"/>
          <p:cNvSpPr txBox="1"/>
          <p:nvPr/>
        </p:nvSpPr>
        <p:spPr>
          <a:xfrm>
            <a:off x="2807208" y="3007494"/>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6" name="Shape 54"/>
          <p:cNvSpPr/>
          <p:nvPr/>
        </p:nvSpPr>
        <p:spPr>
          <a:xfrm>
            <a:off x="4384548" y="3007494"/>
            <a:ext cx="914" cy="174962"/>
          </a:xfrm>
          <a:prstGeom prst="rect">
            <a:avLst/>
          </a:prstGeom>
          <a:solidFill>
            <a:srgbClr val="5B9BD5"/>
          </a:solidFill>
          <a:ln w="6350">
            <a:solidFill>
              <a:srgbClr val="FFFFFF"/>
            </a:solidFill>
            <a:prstDash val="solid"/>
          </a:ln>
        </p:spPr>
      </p:sp>
      <p:sp>
        <p:nvSpPr>
          <p:cNvPr id="57" name="Shape 55"/>
          <p:cNvSpPr/>
          <p:nvPr/>
        </p:nvSpPr>
        <p:spPr>
          <a:xfrm>
            <a:off x="4384548" y="3007494"/>
            <a:ext cx="1577340" cy="174962"/>
          </a:xfrm>
          <a:prstGeom prst="rect">
            <a:avLst/>
          </a:prstGeom>
          <a:solidFill>
            <a:srgbClr val="C2352F"/>
          </a:solidFill>
          <a:ln w="6350">
            <a:solidFill>
              <a:srgbClr val="FFFFFF"/>
            </a:solidFill>
            <a:prstDash val="solid"/>
          </a:ln>
        </p:spPr>
      </p:sp>
      <p:sp>
        <p:nvSpPr>
          <p:cNvPr id="58" name="Text 56"/>
          <p:cNvSpPr txBox="1"/>
          <p:nvPr/>
        </p:nvSpPr>
        <p:spPr>
          <a:xfrm>
            <a:off x="4384548" y="3007494"/>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9" name="Text 57"/>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2807208" y="3237708"/>
            <a:ext cx="1433945" cy="174962"/>
          </a:xfrm>
          <a:prstGeom prst="rect">
            <a:avLst/>
          </a:prstGeom>
          <a:solidFill>
            <a:srgbClr val="12A566"/>
          </a:solidFill>
          <a:ln w="6350">
            <a:solidFill>
              <a:srgbClr val="FFFFFF"/>
            </a:solidFill>
            <a:prstDash val="solid"/>
          </a:ln>
        </p:spPr>
      </p:sp>
      <p:sp>
        <p:nvSpPr>
          <p:cNvPr id="61" name="Text 59"/>
          <p:cNvSpPr txBox="1"/>
          <p:nvPr/>
        </p:nvSpPr>
        <p:spPr>
          <a:xfrm>
            <a:off x="2807208" y="3237708"/>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2" name="Shape 60"/>
          <p:cNvSpPr/>
          <p:nvPr/>
        </p:nvSpPr>
        <p:spPr>
          <a:xfrm>
            <a:off x="4241153" y="3237708"/>
            <a:ext cx="1147156" cy="174962"/>
          </a:xfrm>
          <a:prstGeom prst="rect">
            <a:avLst/>
          </a:prstGeom>
          <a:solidFill>
            <a:srgbClr val="5B9BD5"/>
          </a:solidFill>
          <a:ln w="6350">
            <a:solidFill>
              <a:srgbClr val="FFFFFF"/>
            </a:solidFill>
            <a:prstDash val="solid"/>
          </a:ln>
        </p:spPr>
      </p:sp>
      <p:sp>
        <p:nvSpPr>
          <p:cNvPr id="63" name="Text 61"/>
          <p:cNvSpPr txBox="1"/>
          <p:nvPr/>
        </p:nvSpPr>
        <p:spPr>
          <a:xfrm>
            <a:off x="4241153" y="3237708"/>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64" name="Shape 62"/>
          <p:cNvSpPr/>
          <p:nvPr/>
        </p:nvSpPr>
        <p:spPr>
          <a:xfrm>
            <a:off x="5388310" y="3237708"/>
            <a:ext cx="573578" cy="174962"/>
          </a:xfrm>
          <a:prstGeom prst="rect">
            <a:avLst/>
          </a:prstGeom>
          <a:solidFill>
            <a:srgbClr val="C2352F"/>
          </a:solidFill>
          <a:ln w="6350">
            <a:solidFill>
              <a:srgbClr val="FFFFFF"/>
            </a:solidFill>
            <a:prstDash val="solid"/>
          </a:ln>
        </p:spPr>
      </p:sp>
      <p:sp>
        <p:nvSpPr>
          <p:cNvPr id="65" name="Text 63"/>
          <p:cNvSpPr txBox="1"/>
          <p:nvPr/>
        </p:nvSpPr>
        <p:spPr>
          <a:xfrm>
            <a:off x="5388310" y="3237708"/>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66" name="Text 64"/>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7" name="Shape 65"/>
          <p:cNvSpPr/>
          <p:nvPr/>
        </p:nvSpPr>
        <p:spPr>
          <a:xfrm>
            <a:off x="2807208" y="3467921"/>
            <a:ext cx="1433945" cy="174962"/>
          </a:xfrm>
          <a:prstGeom prst="rect">
            <a:avLst/>
          </a:prstGeom>
          <a:solidFill>
            <a:srgbClr val="12A566"/>
          </a:solidFill>
          <a:ln w="6350">
            <a:solidFill>
              <a:srgbClr val="FFFFFF"/>
            </a:solidFill>
            <a:prstDash val="solid"/>
          </a:ln>
        </p:spPr>
      </p:sp>
      <p:sp>
        <p:nvSpPr>
          <p:cNvPr id="68" name="Text 66"/>
          <p:cNvSpPr txBox="1"/>
          <p:nvPr/>
        </p:nvSpPr>
        <p:spPr>
          <a:xfrm>
            <a:off x="2807208" y="3467921"/>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9" name="Shape 67"/>
          <p:cNvSpPr/>
          <p:nvPr/>
        </p:nvSpPr>
        <p:spPr>
          <a:xfrm>
            <a:off x="4241153" y="3467921"/>
            <a:ext cx="573578" cy="174962"/>
          </a:xfrm>
          <a:prstGeom prst="rect">
            <a:avLst/>
          </a:prstGeom>
          <a:solidFill>
            <a:srgbClr val="5B9BD5"/>
          </a:solidFill>
          <a:ln w="6350">
            <a:solidFill>
              <a:srgbClr val="FFFFFF"/>
            </a:solidFill>
            <a:prstDash val="solid"/>
          </a:ln>
        </p:spPr>
      </p:sp>
      <p:sp>
        <p:nvSpPr>
          <p:cNvPr id="70" name="Text 68"/>
          <p:cNvSpPr txBox="1"/>
          <p:nvPr/>
        </p:nvSpPr>
        <p:spPr>
          <a:xfrm>
            <a:off x="4241153" y="3467921"/>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71" name="Shape 69"/>
          <p:cNvSpPr/>
          <p:nvPr/>
        </p:nvSpPr>
        <p:spPr>
          <a:xfrm>
            <a:off x="4814732" y="3467921"/>
            <a:ext cx="1147156" cy="174962"/>
          </a:xfrm>
          <a:prstGeom prst="rect">
            <a:avLst/>
          </a:prstGeom>
          <a:solidFill>
            <a:srgbClr val="C2352F"/>
          </a:solidFill>
          <a:ln w="6350">
            <a:solidFill>
              <a:srgbClr val="FFFFFF"/>
            </a:solidFill>
            <a:prstDash val="solid"/>
          </a:ln>
        </p:spPr>
      </p:sp>
      <p:sp>
        <p:nvSpPr>
          <p:cNvPr id="72" name="Text 70"/>
          <p:cNvSpPr txBox="1"/>
          <p:nvPr/>
        </p:nvSpPr>
        <p:spPr>
          <a:xfrm>
            <a:off x="4814732" y="3467921"/>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73" name="Text 71"/>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4" name="Shape 72"/>
          <p:cNvSpPr/>
          <p:nvPr/>
        </p:nvSpPr>
        <p:spPr>
          <a:xfrm>
            <a:off x="2807208" y="3698135"/>
            <a:ext cx="1352006" cy="174962"/>
          </a:xfrm>
          <a:prstGeom prst="rect">
            <a:avLst/>
          </a:prstGeom>
          <a:solidFill>
            <a:srgbClr val="12A566"/>
          </a:solidFill>
          <a:ln w="6350">
            <a:solidFill>
              <a:srgbClr val="FFFFFF"/>
            </a:solidFill>
            <a:prstDash val="solid"/>
          </a:ln>
        </p:spPr>
      </p:sp>
      <p:sp>
        <p:nvSpPr>
          <p:cNvPr id="75" name="Text 73"/>
          <p:cNvSpPr txBox="1"/>
          <p:nvPr/>
        </p:nvSpPr>
        <p:spPr>
          <a:xfrm>
            <a:off x="2807208" y="3698135"/>
            <a:ext cx="135200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76" name="Shape 74"/>
          <p:cNvSpPr/>
          <p:nvPr/>
        </p:nvSpPr>
        <p:spPr>
          <a:xfrm>
            <a:off x="4159214" y="3698135"/>
            <a:ext cx="450669" cy="174962"/>
          </a:xfrm>
          <a:prstGeom prst="rect">
            <a:avLst/>
          </a:prstGeom>
          <a:solidFill>
            <a:srgbClr val="5B9BD5"/>
          </a:solidFill>
          <a:ln w="6350">
            <a:solidFill>
              <a:srgbClr val="FFFFFF"/>
            </a:solidFill>
            <a:prstDash val="solid"/>
          </a:ln>
        </p:spPr>
      </p:sp>
      <p:sp>
        <p:nvSpPr>
          <p:cNvPr id="77" name="Text 75"/>
          <p:cNvSpPr txBox="1"/>
          <p:nvPr/>
        </p:nvSpPr>
        <p:spPr>
          <a:xfrm>
            <a:off x="4159214" y="3698135"/>
            <a:ext cx="4506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78" name="Shape 76"/>
          <p:cNvSpPr/>
          <p:nvPr/>
        </p:nvSpPr>
        <p:spPr>
          <a:xfrm>
            <a:off x="4609882" y="3698135"/>
            <a:ext cx="1352006" cy="174962"/>
          </a:xfrm>
          <a:prstGeom prst="rect">
            <a:avLst/>
          </a:prstGeom>
          <a:solidFill>
            <a:srgbClr val="C2352F"/>
          </a:solidFill>
          <a:ln w="6350">
            <a:solidFill>
              <a:srgbClr val="FFFFFF"/>
            </a:solidFill>
            <a:prstDash val="solid"/>
          </a:ln>
        </p:spPr>
      </p:sp>
      <p:sp>
        <p:nvSpPr>
          <p:cNvPr id="79" name="Text 77"/>
          <p:cNvSpPr txBox="1"/>
          <p:nvPr/>
        </p:nvSpPr>
        <p:spPr>
          <a:xfrm>
            <a:off x="4609882" y="3698135"/>
            <a:ext cx="135200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80" name="Text 78"/>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2807208" y="3928348"/>
            <a:ext cx="1298986" cy="174962"/>
          </a:xfrm>
          <a:prstGeom prst="rect">
            <a:avLst/>
          </a:prstGeom>
          <a:solidFill>
            <a:srgbClr val="12A566"/>
          </a:solidFill>
          <a:ln w="6350">
            <a:solidFill>
              <a:srgbClr val="FFFFFF"/>
            </a:solidFill>
            <a:prstDash val="solid"/>
          </a:ln>
        </p:spPr>
      </p:sp>
      <p:sp>
        <p:nvSpPr>
          <p:cNvPr id="82" name="Text 80"/>
          <p:cNvSpPr txBox="1"/>
          <p:nvPr/>
        </p:nvSpPr>
        <p:spPr>
          <a:xfrm>
            <a:off x="2807208" y="3928348"/>
            <a:ext cx="129898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83" name="Shape 81"/>
          <p:cNvSpPr/>
          <p:nvPr/>
        </p:nvSpPr>
        <p:spPr>
          <a:xfrm>
            <a:off x="4106194" y="3928348"/>
            <a:ext cx="865991" cy="174962"/>
          </a:xfrm>
          <a:prstGeom prst="rect">
            <a:avLst/>
          </a:prstGeom>
          <a:solidFill>
            <a:srgbClr val="5B9BD5"/>
          </a:solidFill>
          <a:ln w="6350">
            <a:solidFill>
              <a:srgbClr val="FFFFFF"/>
            </a:solidFill>
            <a:prstDash val="solid"/>
          </a:ln>
        </p:spPr>
      </p:sp>
      <p:sp>
        <p:nvSpPr>
          <p:cNvPr id="84" name="Text 82"/>
          <p:cNvSpPr txBox="1"/>
          <p:nvPr/>
        </p:nvSpPr>
        <p:spPr>
          <a:xfrm>
            <a:off x="4106194" y="3928348"/>
            <a:ext cx="8659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85" name="Shape 83"/>
          <p:cNvSpPr/>
          <p:nvPr/>
        </p:nvSpPr>
        <p:spPr>
          <a:xfrm>
            <a:off x="4972184" y="3928348"/>
            <a:ext cx="989704" cy="174962"/>
          </a:xfrm>
          <a:prstGeom prst="rect">
            <a:avLst/>
          </a:prstGeom>
          <a:solidFill>
            <a:srgbClr val="C2352F"/>
          </a:solidFill>
          <a:ln w="6350">
            <a:solidFill>
              <a:srgbClr val="FFFFFF"/>
            </a:solidFill>
            <a:prstDash val="solid"/>
          </a:ln>
        </p:spPr>
      </p:sp>
      <p:sp>
        <p:nvSpPr>
          <p:cNvPr id="86" name="Text 84"/>
          <p:cNvSpPr txBox="1"/>
          <p:nvPr/>
        </p:nvSpPr>
        <p:spPr>
          <a:xfrm>
            <a:off x="4972184" y="3928348"/>
            <a:ext cx="9897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87" name="Text 85"/>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8" name="Shape 86"/>
          <p:cNvSpPr/>
          <p:nvPr/>
        </p:nvSpPr>
        <p:spPr>
          <a:xfrm>
            <a:off x="2807208" y="4158562"/>
            <a:ext cx="1226820" cy="174962"/>
          </a:xfrm>
          <a:prstGeom prst="rect">
            <a:avLst/>
          </a:prstGeom>
          <a:solidFill>
            <a:srgbClr val="12A566"/>
          </a:solidFill>
          <a:ln w="6350">
            <a:solidFill>
              <a:srgbClr val="FFFFFF"/>
            </a:solidFill>
            <a:prstDash val="solid"/>
          </a:ln>
        </p:spPr>
      </p:sp>
      <p:sp>
        <p:nvSpPr>
          <p:cNvPr id="89" name="Text 87"/>
          <p:cNvSpPr txBox="1"/>
          <p:nvPr/>
        </p:nvSpPr>
        <p:spPr>
          <a:xfrm>
            <a:off x="2807208" y="4158562"/>
            <a:ext cx="12268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90" name="Shape 88"/>
          <p:cNvSpPr/>
          <p:nvPr/>
        </p:nvSpPr>
        <p:spPr>
          <a:xfrm>
            <a:off x="4034028" y="4158562"/>
            <a:ext cx="876300" cy="174962"/>
          </a:xfrm>
          <a:prstGeom prst="rect">
            <a:avLst/>
          </a:prstGeom>
          <a:solidFill>
            <a:srgbClr val="5B9BD5"/>
          </a:solidFill>
          <a:ln w="6350">
            <a:solidFill>
              <a:srgbClr val="FFFFFF"/>
            </a:solidFill>
            <a:prstDash val="solid"/>
          </a:ln>
        </p:spPr>
      </p:sp>
      <p:sp>
        <p:nvSpPr>
          <p:cNvPr id="91" name="Text 89"/>
          <p:cNvSpPr txBox="1"/>
          <p:nvPr/>
        </p:nvSpPr>
        <p:spPr>
          <a:xfrm>
            <a:off x="4034028" y="4158562"/>
            <a:ext cx="8763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92" name="Shape 90"/>
          <p:cNvSpPr/>
          <p:nvPr/>
        </p:nvSpPr>
        <p:spPr>
          <a:xfrm>
            <a:off x="4910328" y="4158562"/>
            <a:ext cx="1051560" cy="174962"/>
          </a:xfrm>
          <a:prstGeom prst="rect">
            <a:avLst/>
          </a:prstGeom>
          <a:solidFill>
            <a:srgbClr val="C2352F"/>
          </a:solidFill>
          <a:ln w="6350">
            <a:solidFill>
              <a:srgbClr val="FFFFFF"/>
            </a:solidFill>
            <a:prstDash val="solid"/>
          </a:ln>
        </p:spPr>
      </p:sp>
      <p:sp>
        <p:nvSpPr>
          <p:cNvPr id="93" name="Text 91"/>
          <p:cNvSpPr txBox="1"/>
          <p:nvPr/>
        </p:nvSpPr>
        <p:spPr>
          <a:xfrm>
            <a:off x="4910328" y="4158562"/>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94" name="Text 92"/>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5" name="Shape 93"/>
          <p:cNvSpPr/>
          <p:nvPr/>
        </p:nvSpPr>
        <p:spPr>
          <a:xfrm>
            <a:off x="2807208" y="4388776"/>
            <a:ext cx="1176321" cy="174962"/>
          </a:xfrm>
          <a:prstGeom prst="rect">
            <a:avLst/>
          </a:prstGeom>
          <a:solidFill>
            <a:srgbClr val="12A566"/>
          </a:solidFill>
          <a:ln w="6350">
            <a:solidFill>
              <a:srgbClr val="FFFFFF"/>
            </a:solidFill>
            <a:prstDash val="solid"/>
          </a:ln>
        </p:spPr>
      </p:sp>
      <p:sp>
        <p:nvSpPr>
          <p:cNvPr id="96" name="Text 94"/>
          <p:cNvSpPr txBox="1"/>
          <p:nvPr/>
        </p:nvSpPr>
        <p:spPr>
          <a:xfrm>
            <a:off x="2807208" y="4388776"/>
            <a:ext cx="117632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97" name="Shape 95"/>
          <p:cNvSpPr/>
          <p:nvPr/>
        </p:nvSpPr>
        <p:spPr>
          <a:xfrm>
            <a:off x="3983529" y="4388776"/>
            <a:ext cx="908976" cy="174962"/>
          </a:xfrm>
          <a:prstGeom prst="rect">
            <a:avLst/>
          </a:prstGeom>
          <a:solidFill>
            <a:srgbClr val="5B9BD5"/>
          </a:solidFill>
          <a:ln w="6350">
            <a:solidFill>
              <a:srgbClr val="FFFFFF"/>
            </a:solidFill>
            <a:prstDash val="solid"/>
          </a:ln>
        </p:spPr>
      </p:sp>
      <p:sp>
        <p:nvSpPr>
          <p:cNvPr id="98" name="Text 96"/>
          <p:cNvSpPr txBox="1"/>
          <p:nvPr/>
        </p:nvSpPr>
        <p:spPr>
          <a:xfrm>
            <a:off x="3983529" y="4388776"/>
            <a:ext cx="90897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99" name="Shape 97"/>
          <p:cNvSpPr/>
          <p:nvPr/>
        </p:nvSpPr>
        <p:spPr>
          <a:xfrm>
            <a:off x="4892505" y="4388776"/>
            <a:ext cx="1069383" cy="174962"/>
          </a:xfrm>
          <a:prstGeom prst="rect">
            <a:avLst/>
          </a:prstGeom>
          <a:solidFill>
            <a:srgbClr val="C2352F"/>
          </a:solidFill>
          <a:ln w="6350">
            <a:solidFill>
              <a:srgbClr val="FFFFFF"/>
            </a:solidFill>
            <a:prstDash val="solid"/>
          </a:ln>
        </p:spPr>
      </p:sp>
      <p:sp>
        <p:nvSpPr>
          <p:cNvPr id="100" name="Text 98"/>
          <p:cNvSpPr txBox="1"/>
          <p:nvPr/>
        </p:nvSpPr>
        <p:spPr>
          <a:xfrm>
            <a:off x="4892505" y="4388776"/>
            <a:ext cx="10693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101" name="Text 99"/>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2" name="Shape 100"/>
          <p:cNvSpPr/>
          <p:nvPr/>
        </p:nvSpPr>
        <p:spPr>
          <a:xfrm>
            <a:off x="2807208" y="4618989"/>
            <a:ext cx="1147156" cy="174962"/>
          </a:xfrm>
          <a:prstGeom prst="rect">
            <a:avLst/>
          </a:prstGeom>
          <a:solidFill>
            <a:srgbClr val="12A566"/>
          </a:solidFill>
          <a:ln w="6350">
            <a:solidFill>
              <a:srgbClr val="FFFFFF"/>
            </a:solidFill>
            <a:prstDash val="solid"/>
          </a:ln>
        </p:spPr>
      </p:sp>
      <p:sp>
        <p:nvSpPr>
          <p:cNvPr id="103" name="Text 101"/>
          <p:cNvSpPr txBox="1"/>
          <p:nvPr/>
        </p:nvSpPr>
        <p:spPr>
          <a:xfrm>
            <a:off x="2807208" y="4618989"/>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04" name="Shape 102"/>
          <p:cNvSpPr/>
          <p:nvPr/>
        </p:nvSpPr>
        <p:spPr>
          <a:xfrm>
            <a:off x="3954364" y="4618989"/>
            <a:ext cx="286789" cy="174962"/>
          </a:xfrm>
          <a:prstGeom prst="rect">
            <a:avLst/>
          </a:prstGeom>
          <a:solidFill>
            <a:srgbClr val="5B9BD5"/>
          </a:solidFill>
          <a:ln w="6350">
            <a:solidFill>
              <a:srgbClr val="FFFFFF"/>
            </a:solidFill>
            <a:prstDash val="solid"/>
          </a:ln>
        </p:spPr>
      </p:sp>
      <p:sp>
        <p:nvSpPr>
          <p:cNvPr id="105" name="Text 103"/>
          <p:cNvSpPr txBox="1"/>
          <p:nvPr/>
        </p:nvSpPr>
        <p:spPr>
          <a:xfrm>
            <a:off x="3954364" y="4618989"/>
            <a:ext cx="28678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9</a:t>
            </a:r>
            <a:endParaRPr lang="en-US" sz="1300" dirty="0"/>
          </a:p>
        </p:txBody>
      </p:sp>
      <p:sp>
        <p:nvSpPr>
          <p:cNvPr id="106" name="Shape 104"/>
          <p:cNvSpPr/>
          <p:nvPr/>
        </p:nvSpPr>
        <p:spPr>
          <a:xfrm>
            <a:off x="4241153" y="4618989"/>
            <a:ext cx="1720735" cy="174962"/>
          </a:xfrm>
          <a:prstGeom prst="rect">
            <a:avLst/>
          </a:prstGeom>
          <a:solidFill>
            <a:srgbClr val="C2352F"/>
          </a:solidFill>
          <a:ln w="6350">
            <a:solidFill>
              <a:srgbClr val="FFFFFF"/>
            </a:solidFill>
            <a:prstDash val="solid"/>
          </a:ln>
        </p:spPr>
      </p:sp>
      <p:sp>
        <p:nvSpPr>
          <p:cNvPr id="107" name="Text 105"/>
          <p:cNvSpPr txBox="1"/>
          <p:nvPr/>
        </p:nvSpPr>
        <p:spPr>
          <a:xfrm>
            <a:off x="4241153" y="4618989"/>
            <a:ext cx="17207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08" name="Text 106"/>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9" name="Shape 107"/>
          <p:cNvSpPr/>
          <p:nvPr/>
        </p:nvSpPr>
        <p:spPr>
          <a:xfrm>
            <a:off x="2807208" y="4849203"/>
            <a:ext cx="1147156" cy="174962"/>
          </a:xfrm>
          <a:prstGeom prst="rect">
            <a:avLst/>
          </a:prstGeom>
          <a:solidFill>
            <a:srgbClr val="12A566"/>
          </a:solidFill>
          <a:ln w="6350">
            <a:solidFill>
              <a:srgbClr val="FFFFFF"/>
            </a:solidFill>
            <a:prstDash val="solid"/>
          </a:ln>
        </p:spPr>
      </p:sp>
      <p:sp>
        <p:nvSpPr>
          <p:cNvPr id="110" name="Text 108"/>
          <p:cNvSpPr txBox="1"/>
          <p:nvPr/>
        </p:nvSpPr>
        <p:spPr>
          <a:xfrm>
            <a:off x="2807208" y="4849203"/>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11" name="Shape 109"/>
          <p:cNvSpPr/>
          <p:nvPr/>
        </p:nvSpPr>
        <p:spPr>
          <a:xfrm>
            <a:off x="3954364" y="4849203"/>
            <a:ext cx="573578" cy="174962"/>
          </a:xfrm>
          <a:prstGeom prst="rect">
            <a:avLst/>
          </a:prstGeom>
          <a:solidFill>
            <a:srgbClr val="5B9BD5"/>
          </a:solidFill>
          <a:ln w="6350">
            <a:solidFill>
              <a:srgbClr val="FFFFFF"/>
            </a:solidFill>
            <a:prstDash val="solid"/>
          </a:ln>
        </p:spPr>
      </p:sp>
      <p:sp>
        <p:nvSpPr>
          <p:cNvPr id="112" name="Text 110"/>
          <p:cNvSpPr txBox="1"/>
          <p:nvPr/>
        </p:nvSpPr>
        <p:spPr>
          <a:xfrm>
            <a:off x="3954364" y="4849203"/>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13" name="Shape 111"/>
          <p:cNvSpPr/>
          <p:nvPr/>
        </p:nvSpPr>
        <p:spPr>
          <a:xfrm>
            <a:off x="4527943" y="4849203"/>
            <a:ext cx="1433945" cy="174962"/>
          </a:xfrm>
          <a:prstGeom prst="rect">
            <a:avLst/>
          </a:prstGeom>
          <a:solidFill>
            <a:srgbClr val="C2352F"/>
          </a:solidFill>
          <a:ln w="6350">
            <a:solidFill>
              <a:srgbClr val="FFFFFF"/>
            </a:solidFill>
            <a:prstDash val="solid"/>
          </a:ln>
        </p:spPr>
      </p:sp>
      <p:sp>
        <p:nvSpPr>
          <p:cNvPr id="114" name="Text 112"/>
          <p:cNvSpPr txBox="1"/>
          <p:nvPr/>
        </p:nvSpPr>
        <p:spPr>
          <a:xfrm>
            <a:off x="4527943" y="4849203"/>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15" name="Text 113"/>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6" name="Shape 114"/>
          <p:cNvSpPr/>
          <p:nvPr/>
        </p:nvSpPr>
        <p:spPr>
          <a:xfrm>
            <a:off x="2807208" y="5079417"/>
            <a:ext cx="1051560" cy="174962"/>
          </a:xfrm>
          <a:prstGeom prst="rect">
            <a:avLst/>
          </a:prstGeom>
          <a:solidFill>
            <a:srgbClr val="12A566"/>
          </a:solidFill>
          <a:ln w="6350">
            <a:solidFill>
              <a:srgbClr val="FFFFFF"/>
            </a:solidFill>
            <a:prstDash val="solid"/>
          </a:ln>
        </p:spPr>
      </p:sp>
      <p:sp>
        <p:nvSpPr>
          <p:cNvPr id="117" name="Text 115"/>
          <p:cNvSpPr txBox="1"/>
          <p:nvPr/>
        </p:nvSpPr>
        <p:spPr>
          <a:xfrm>
            <a:off x="2807208" y="5079417"/>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18" name="Shape 116"/>
          <p:cNvSpPr/>
          <p:nvPr/>
        </p:nvSpPr>
        <p:spPr>
          <a:xfrm>
            <a:off x="3858768" y="5079417"/>
            <a:ext cx="914" cy="174962"/>
          </a:xfrm>
          <a:prstGeom prst="rect">
            <a:avLst/>
          </a:prstGeom>
          <a:solidFill>
            <a:srgbClr val="5B9BD5"/>
          </a:solidFill>
          <a:ln w="6350">
            <a:solidFill>
              <a:srgbClr val="FFFFFF"/>
            </a:solidFill>
            <a:prstDash val="solid"/>
          </a:ln>
        </p:spPr>
      </p:sp>
      <p:sp>
        <p:nvSpPr>
          <p:cNvPr id="119" name="Shape 117"/>
          <p:cNvSpPr/>
          <p:nvPr/>
        </p:nvSpPr>
        <p:spPr>
          <a:xfrm>
            <a:off x="3858768" y="5079417"/>
            <a:ext cx="2103120" cy="174962"/>
          </a:xfrm>
          <a:prstGeom prst="rect">
            <a:avLst/>
          </a:prstGeom>
          <a:solidFill>
            <a:srgbClr val="C2352F"/>
          </a:solidFill>
          <a:ln w="6350">
            <a:solidFill>
              <a:srgbClr val="FFFFFF"/>
            </a:solidFill>
            <a:prstDash val="solid"/>
          </a:ln>
        </p:spPr>
      </p:sp>
      <p:sp>
        <p:nvSpPr>
          <p:cNvPr id="120" name="Text 118"/>
          <p:cNvSpPr txBox="1"/>
          <p:nvPr/>
        </p:nvSpPr>
        <p:spPr>
          <a:xfrm>
            <a:off x="3858768" y="5079417"/>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21" name="Text 119"/>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22" name="Shape 120"/>
          <p:cNvSpPr/>
          <p:nvPr/>
        </p:nvSpPr>
        <p:spPr>
          <a:xfrm>
            <a:off x="2807208" y="5309630"/>
            <a:ext cx="1051560" cy="174962"/>
          </a:xfrm>
          <a:prstGeom prst="rect">
            <a:avLst/>
          </a:prstGeom>
          <a:solidFill>
            <a:srgbClr val="12A566"/>
          </a:solidFill>
          <a:ln w="6350">
            <a:solidFill>
              <a:srgbClr val="FFFFFF"/>
            </a:solidFill>
            <a:prstDash val="solid"/>
          </a:ln>
        </p:spPr>
      </p:sp>
      <p:sp>
        <p:nvSpPr>
          <p:cNvPr id="123" name="Text 121"/>
          <p:cNvSpPr txBox="1"/>
          <p:nvPr/>
        </p:nvSpPr>
        <p:spPr>
          <a:xfrm>
            <a:off x="2807208" y="5309630"/>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24" name="Shape 122"/>
          <p:cNvSpPr/>
          <p:nvPr/>
        </p:nvSpPr>
        <p:spPr>
          <a:xfrm>
            <a:off x="3858768" y="5309630"/>
            <a:ext cx="817880" cy="174962"/>
          </a:xfrm>
          <a:prstGeom prst="rect">
            <a:avLst/>
          </a:prstGeom>
          <a:solidFill>
            <a:srgbClr val="5B9BD5"/>
          </a:solidFill>
          <a:ln w="6350">
            <a:solidFill>
              <a:srgbClr val="FFFFFF"/>
            </a:solidFill>
            <a:prstDash val="solid"/>
          </a:ln>
        </p:spPr>
      </p:sp>
      <p:sp>
        <p:nvSpPr>
          <p:cNvPr id="125" name="Text 123"/>
          <p:cNvSpPr txBox="1"/>
          <p:nvPr/>
        </p:nvSpPr>
        <p:spPr>
          <a:xfrm>
            <a:off x="3858768" y="5309630"/>
            <a:ext cx="8178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26" name="Shape 124"/>
          <p:cNvSpPr/>
          <p:nvPr/>
        </p:nvSpPr>
        <p:spPr>
          <a:xfrm>
            <a:off x="4676648" y="5309630"/>
            <a:ext cx="1285240" cy="174962"/>
          </a:xfrm>
          <a:prstGeom prst="rect">
            <a:avLst/>
          </a:prstGeom>
          <a:solidFill>
            <a:srgbClr val="C2352F"/>
          </a:solidFill>
          <a:ln w="6350">
            <a:solidFill>
              <a:srgbClr val="FFFFFF"/>
            </a:solidFill>
            <a:prstDash val="solid"/>
          </a:ln>
        </p:spPr>
      </p:sp>
      <p:sp>
        <p:nvSpPr>
          <p:cNvPr id="127" name="Text 125"/>
          <p:cNvSpPr txBox="1"/>
          <p:nvPr/>
        </p:nvSpPr>
        <p:spPr>
          <a:xfrm>
            <a:off x="4676648" y="5309630"/>
            <a:ext cx="12852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28" name="Text 126"/>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29" name="Shape 127"/>
          <p:cNvSpPr/>
          <p:nvPr/>
        </p:nvSpPr>
        <p:spPr>
          <a:xfrm>
            <a:off x="2807208" y="5539844"/>
            <a:ext cx="996215" cy="174962"/>
          </a:xfrm>
          <a:prstGeom prst="rect">
            <a:avLst/>
          </a:prstGeom>
          <a:solidFill>
            <a:srgbClr val="12A566"/>
          </a:solidFill>
          <a:ln w="6350">
            <a:solidFill>
              <a:srgbClr val="FFFFFF"/>
            </a:solidFill>
            <a:prstDash val="solid"/>
          </a:ln>
        </p:spPr>
      </p:sp>
      <p:sp>
        <p:nvSpPr>
          <p:cNvPr id="130" name="Text 128"/>
          <p:cNvSpPr txBox="1"/>
          <p:nvPr/>
        </p:nvSpPr>
        <p:spPr>
          <a:xfrm>
            <a:off x="2807208" y="5539844"/>
            <a:ext cx="9962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1" name="Shape 129"/>
          <p:cNvSpPr/>
          <p:nvPr/>
        </p:nvSpPr>
        <p:spPr>
          <a:xfrm>
            <a:off x="3803423" y="5539844"/>
            <a:ext cx="1162251" cy="174962"/>
          </a:xfrm>
          <a:prstGeom prst="rect">
            <a:avLst/>
          </a:prstGeom>
          <a:solidFill>
            <a:srgbClr val="5B9BD5"/>
          </a:solidFill>
          <a:ln w="6350">
            <a:solidFill>
              <a:srgbClr val="FFFFFF"/>
            </a:solidFill>
            <a:prstDash val="solid"/>
          </a:ln>
        </p:spPr>
      </p:sp>
      <p:sp>
        <p:nvSpPr>
          <p:cNvPr id="132" name="Text 130"/>
          <p:cNvSpPr txBox="1"/>
          <p:nvPr/>
        </p:nvSpPr>
        <p:spPr>
          <a:xfrm>
            <a:off x="3803423" y="5539844"/>
            <a:ext cx="116225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133" name="Shape 131"/>
          <p:cNvSpPr/>
          <p:nvPr/>
        </p:nvSpPr>
        <p:spPr>
          <a:xfrm>
            <a:off x="4965673" y="5539844"/>
            <a:ext cx="996215" cy="174962"/>
          </a:xfrm>
          <a:prstGeom prst="rect">
            <a:avLst/>
          </a:prstGeom>
          <a:solidFill>
            <a:srgbClr val="C2352F"/>
          </a:solidFill>
          <a:ln w="6350">
            <a:solidFill>
              <a:srgbClr val="FFFFFF"/>
            </a:solidFill>
            <a:prstDash val="solid"/>
          </a:ln>
        </p:spPr>
      </p:sp>
      <p:sp>
        <p:nvSpPr>
          <p:cNvPr id="134" name="Text 132"/>
          <p:cNvSpPr txBox="1"/>
          <p:nvPr/>
        </p:nvSpPr>
        <p:spPr>
          <a:xfrm>
            <a:off x="4965673" y="5539844"/>
            <a:ext cx="9962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5" name="Text 133"/>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6" name="Shape 134"/>
          <p:cNvSpPr/>
          <p:nvPr/>
        </p:nvSpPr>
        <p:spPr>
          <a:xfrm>
            <a:off x="8357616" y="1856426"/>
            <a:ext cx="985838" cy="174962"/>
          </a:xfrm>
          <a:prstGeom prst="rect">
            <a:avLst/>
          </a:prstGeom>
          <a:solidFill>
            <a:srgbClr val="12A566"/>
          </a:solidFill>
          <a:ln w="6350">
            <a:solidFill>
              <a:srgbClr val="FFFFFF"/>
            </a:solidFill>
            <a:prstDash val="solid"/>
          </a:ln>
        </p:spPr>
      </p:sp>
      <p:sp>
        <p:nvSpPr>
          <p:cNvPr id="137" name="Text 135"/>
          <p:cNvSpPr txBox="1"/>
          <p:nvPr/>
        </p:nvSpPr>
        <p:spPr>
          <a:xfrm>
            <a:off x="8357616" y="1856426"/>
            <a:ext cx="9858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138" name="Shape 136"/>
          <p:cNvSpPr/>
          <p:nvPr/>
        </p:nvSpPr>
        <p:spPr>
          <a:xfrm>
            <a:off x="9343454" y="1856426"/>
            <a:ext cx="591503" cy="174962"/>
          </a:xfrm>
          <a:prstGeom prst="rect">
            <a:avLst/>
          </a:prstGeom>
          <a:solidFill>
            <a:srgbClr val="5B9BD5"/>
          </a:solidFill>
          <a:ln w="6350">
            <a:solidFill>
              <a:srgbClr val="FFFFFF"/>
            </a:solidFill>
            <a:prstDash val="solid"/>
          </a:ln>
        </p:spPr>
      </p:sp>
      <p:sp>
        <p:nvSpPr>
          <p:cNvPr id="139" name="Text 137"/>
          <p:cNvSpPr txBox="1"/>
          <p:nvPr/>
        </p:nvSpPr>
        <p:spPr>
          <a:xfrm>
            <a:off x="9343454" y="1856426"/>
            <a:ext cx="59150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19</a:t>
            </a:r>
            <a:endParaRPr lang="en-US" sz="1300" dirty="0"/>
          </a:p>
        </p:txBody>
      </p:sp>
      <p:sp>
        <p:nvSpPr>
          <p:cNvPr id="140" name="Shape 138"/>
          <p:cNvSpPr/>
          <p:nvPr/>
        </p:nvSpPr>
        <p:spPr>
          <a:xfrm>
            <a:off x="9934956" y="1856426"/>
            <a:ext cx="1577340" cy="174962"/>
          </a:xfrm>
          <a:prstGeom prst="rect">
            <a:avLst/>
          </a:prstGeom>
          <a:solidFill>
            <a:srgbClr val="C2352F"/>
          </a:solidFill>
          <a:ln w="6350">
            <a:solidFill>
              <a:srgbClr val="FFFFFF"/>
            </a:solidFill>
            <a:prstDash val="solid"/>
          </a:ln>
        </p:spPr>
      </p:sp>
      <p:sp>
        <p:nvSpPr>
          <p:cNvPr id="141" name="Text 139"/>
          <p:cNvSpPr txBox="1"/>
          <p:nvPr/>
        </p:nvSpPr>
        <p:spPr>
          <a:xfrm>
            <a:off x="9934956" y="1856426"/>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42" name="Text 140"/>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3" name="Shape 141"/>
          <p:cNvSpPr/>
          <p:nvPr/>
        </p:nvSpPr>
        <p:spPr>
          <a:xfrm>
            <a:off x="8357616" y="2086639"/>
            <a:ext cx="901337" cy="174962"/>
          </a:xfrm>
          <a:prstGeom prst="rect">
            <a:avLst/>
          </a:prstGeom>
          <a:solidFill>
            <a:srgbClr val="12A566"/>
          </a:solidFill>
          <a:ln w="6350">
            <a:solidFill>
              <a:srgbClr val="FFFFFF"/>
            </a:solidFill>
            <a:prstDash val="solid"/>
          </a:ln>
        </p:spPr>
      </p:sp>
      <p:sp>
        <p:nvSpPr>
          <p:cNvPr id="144" name="Text 142"/>
          <p:cNvSpPr txBox="1"/>
          <p:nvPr/>
        </p:nvSpPr>
        <p:spPr>
          <a:xfrm>
            <a:off x="8357616" y="2086639"/>
            <a:ext cx="90133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45" name="Shape 143"/>
          <p:cNvSpPr/>
          <p:nvPr/>
        </p:nvSpPr>
        <p:spPr>
          <a:xfrm>
            <a:off x="9258953" y="2086639"/>
            <a:ext cx="225334" cy="174962"/>
          </a:xfrm>
          <a:prstGeom prst="rect">
            <a:avLst/>
          </a:prstGeom>
          <a:solidFill>
            <a:srgbClr val="5B9BD5"/>
          </a:solidFill>
          <a:ln w="6350">
            <a:solidFill>
              <a:srgbClr val="FFFFFF"/>
            </a:solidFill>
            <a:prstDash val="solid"/>
          </a:ln>
        </p:spPr>
      </p:sp>
      <p:sp>
        <p:nvSpPr>
          <p:cNvPr id="146" name="Text 144"/>
          <p:cNvSpPr txBox="1"/>
          <p:nvPr/>
        </p:nvSpPr>
        <p:spPr>
          <a:xfrm>
            <a:off x="9258953" y="2086639"/>
            <a:ext cx="22533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a:t>
            </a:r>
            <a:endParaRPr lang="en-US" sz="1300" dirty="0"/>
          </a:p>
        </p:txBody>
      </p:sp>
      <p:sp>
        <p:nvSpPr>
          <p:cNvPr id="147" name="Shape 145"/>
          <p:cNvSpPr/>
          <p:nvPr/>
        </p:nvSpPr>
        <p:spPr>
          <a:xfrm>
            <a:off x="9484287" y="2086639"/>
            <a:ext cx="2028009" cy="174962"/>
          </a:xfrm>
          <a:prstGeom prst="rect">
            <a:avLst/>
          </a:prstGeom>
          <a:solidFill>
            <a:srgbClr val="C2352F"/>
          </a:solidFill>
          <a:ln w="6350">
            <a:solidFill>
              <a:srgbClr val="FFFFFF"/>
            </a:solidFill>
            <a:prstDash val="solid"/>
          </a:ln>
        </p:spPr>
      </p:sp>
      <p:sp>
        <p:nvSpPr>
          <p:cNvPr id="148" name="Text 146"/>
          <p:cNvSpPr txBox="1"/>
          <p:nvPr/>
        </p:nvSpPr>
        <p:spPr>
          <a:xfrm>
            <a:off x="9484287" y="2086639"/>
            <a:ext cx="20280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149" name="Text 147"/>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0" name="Shape 148"/>
          <p:cNvSpPr/>
          <p:nvPr/>
        </p:nvSpPr>
        <p:spPr>
          <a:xfrm>
            <a:off x="8357616" y="2316853"/>
            <a:ext cx="870257" cy="174962"/>
          </a:xfrm>
          <a:prstGeom prst="rect">
            <a:avLst/>
          </a:prstGeom>
          <a:solidFill>
            <a:srgbClr val="12A566"/>
          </a:solidFill>
          <a:ln w="6350">
            <a:solidFill>
              <a:srgbClr val="FFFFFF"/>
            </a:solidFill>
            <a:prstDash val="solid"/>
          </a:ln>
        </p:spPr>
      </p:sp>
      <p:sp>
        <p:nvSpPr>
          <p:cNvPr id="151" name="Text 149"/>
          <p:cNvSpPr txBox="1"/>
          <p:nvPr/>
        </p:nvSpPr>
        <p:spPr>
          <a:xfrm>
            <a:off x="8357616" y="2316853"/>
            <a:ext cx="87025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152" name="Shape 150"/>
          <p:cNvSpPr/>
          <p:nvPr/>
        </p:nvSpPr>
        <p:spPr>
          <a:xfrm>
            <a:off x="9227873" y="2316853"/>
            <a:ext cx="543910" cy="174962"/>
          </a:xfrm>
          <a:prstGeom prst="rect">
            <a:avLst/>
          </a:prstGeom>
          <a:solidFill>
            <a:srgbClr val="5B9BD5"/>
          </a:solidFill>
          <a:ln w="6350">
            <a:solidFill>
              <a:srgbClr val="FFFFFF"/>
            </a:solidFill>
            <a:prstDash val="solid"/>
          </a:ln>
        </p:spPr>
      </p:sp>
      <p:sp>
        <p:nvSpPr>
          <p:cNvPr id="153" name="Text 151"/>
          <p:cNvSpPr txBox="1"/>
          <p:nvPr/>
        </p:nvSpPr>
        <p:spPr>
          <a:xfrm>
            <a:off x="9227873" y="2316853"/>
            <a:ext cx="5439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54" name="Shape 152"/>
          <p:cNvSpPr/>
          <p:nvPr/>
        </p:nvSpPr>
        <p:spPr>
          <a:xfrm>
            <a:off x="9771783" y="2316853"/>
            <a:ext cx="1740513" cy="174962"/>
          </a:xfrm>
          <a:prstGeom prst="rect">
            <a:avLst/>
          </a:prstGeom>
          <a:solidFill>
            <a:srgbClr val="C2352F"/>
          </a:solidFill>
          <a:ln w="6350">
            <a:solidFill>
              <a:srgbClr val="FFFFFF"/>
            </a:solidFill>
            <a:prstDash val="solid"/>
          </a:ln>
        </p:spPr>
      </p:sp>
      <p:sp>
        <p:nvSpPr>
          <p:cNvPr id="155" name="Text 153"/>
          <p:cNvSpPr txBox="1"/>
          <p:nvPr/>
        </p:nvSpPr>
        <p:spPr>
          <a:xfrm>
            <a:off x="9771783" y="2316853"/>
            <a:ext cx="17405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Text 154"/>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7" name="Shape 155"/>
          <p:cNvSpPr/>
          <p:nvPr/>
        </p:nvSpPr>
        <p:spPr>
          <a:xfrm>
            <a:off x="8357616" y="2547067"/>
            <a:ext cx="860367" cy="174962"/>
          </a:xfrm>
          <a:prstGeom prst="rect">
            <a:avLst/>
          </a:prstGeom>
          <a:solidFill>
            <a:srgbClr val="12A566"/>
          </a:solidFill>
          <a:ln w="6350">
            <a:solidFill>
              <a:srgbClr val="FFFFFF"/>
            </a:solidFill>
            <a:prstDash val="solid"/>
          </a:ln>
        </p:spPr>
      </p:sp>
      <p:sp>
        <p:nvSpPr>
          <p:cNvPr id="158" name="Text 156"/>
          <p:cNvSpPr txBox="1"/>
          <p:nvPr/>
        </p:nvSpPr>
        <p:spPr>
          <a:xfrm>
            <a:off x="8357616" y="2547067"/>
            <a:ext cx="8603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59" name="Shape 157"/>
          <p:cNvSpPr/>
          <p:nvPr/>
        </p:nvSpPr>
        <p:spPr>
          <a:xfrm>
            <a:off x="9217983" y="2547067"/>
            <a:ext cx="914" cy="174962"/>
          </a:xfrm>
          <a:prstGeom prst="rect">
            <a:avLst/>
          </a:prstGeom>
          <a:solidFill>
            <a:srgbClr val="5B9BD5"/>
          </a:solidFill>
          <a:ln w="6350">
            <a:solidFill>
              <a:srgbClr val="FFFFFF"/>
            </a:solidFill>
            <a:prstDash val="solid"/>
          </a:ln>
        </p:spPr>
      </p:sp>
      <p:sp>
        <p:nvSpPr>
          <p:cNvPr id="160" name="Shape 158"/>
          <p:cNvSpPr/>
          <p:nvPr/>
        </p:nvSpPr>
        <p:spPr>
          <a:xfrm>
            <a:off x="9217983" y="2547067"/>
            <a:ext cx="2294313" cy="174962"/>
          </a:xfrm>
          <a:prstGeom prst="rect">
            <a:avLst/>
          </a:prstGeom>
          <a:solidFill>
            <a:srgbClr val="C2352F"/>
          </a:solidFill>
          <a:ln w="6350">
            <a:solidFill>
              <a:srgbClr val="FFFFFF"/>
            </a:solidFill>
            <a:prstDash val="solid"/>
          </a:ln>
        </p:spPr>
      </p:sp>
      <p:sp>
        <p:nvSpPr>
          <p:cNvPr id="161" name="Text 159"/>
          <p:cNvSpPr txBox="1"/>
          <p:nvPr/>
        </p:nvSpPr>
        <p:spPr>
          <a:xfrm>
            <a:off x="9217983" y="2547067"/>
            <a:ext cx="22943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73</a:t>
            </a:r>
            <a:endParaRPr lang="en-US" sz="1300" dirty="0"/>
          </a:p>
        </p:txBody>
      </p:sp>
      <p:sp>
        <p:nvSpPr>
          <p:cNvPr id="162" name="Text 160"/>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63" name="Shape 161"/>
          <p:cNvSpPr/>
          <p:nvPr/>
        </p:nvSpPr>
        <p:spPr>
          <a:xfrm>
            <a:off x="8357616" y="2777280"/>
            <a:ext cx="860367" cy="174962"/>
          </a:xfrm>
          <a:prstGeom prst="rect">
            <a:avLst/>
          </a:prstGeom>
          <a:solidFill>
            <a:srgbClr val="12A566"/>
          </a:solidFill>
          <a:ln w="6350">
            <a:solidFill>
              <a:srgbClr val="FFFFFF"/>
            </a:solidFill>
            <a:prstDash val="solid"/>
          </a:ln>
        </p:spPr>
      </p:sp>
      <p:sp>
        <p:nvSpPr>
          <p:cNvPr id="164" name="Text 162"/>
          <p:cNvSpPr txBox="1"/>
          <p:nvPr/>
        </p:nvSpPr>
        <p:spPr>
          <a:xfrm>
            <a:off x="8357616" y="2777280"/>
            <a:ext cx="8603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65" name="Shape 163"/>
          <p:cNvSpPr/>
          <p:nvPr/>
        </p:nvSpPr>
        <p:spPr>
          <a:xfrm>
            <a:off x="9217983" y="2777280"/>
            <a:ext cx="716973" cy="174962"/>
          </a:xfrm>
          <a:prstGeom prst="rect">
            <a:avLst/>
          </a:prstGeom>
          <a:solidFill>
            <a:srgbClr val="5B9BD5"/>
          </a:solidFill>
          <a:ln w="6350">
            <a:solidFill>
              <a:srgbClr val="FFFFFF"/>
            </a:solidFill>
            <a:prstDash val="solid"/>
          </a:ln>
        </p:spPr>
      </p:sp>
      <p:sp>
        <p:nvSpPr>
          <p:cNvPr id="166" name="Text 164"/>
          <p:cNvSpPr txBox="1"/>
          <p:nvPr/>
        </p:nvSpPr>
        <p:spPr>
          <a:xfrm>
            <a:off x="9217983" y="2777280"/>
            <a:ext cx="71697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23</a:t>
            </a:r>
            <a:endParaRPr lang="en-US" sz="1300" dirty="0"/>
          </a:p>
        </p:txBody>
      </p:sp>
      <p:sp>
        <p:nvSpPr>
          <p:cNvPr id="167" name="Shape 165"/>
          <p:cNvSpPr/>
          <p:nvPr/>
        </p:nvSpPr>
        <p:spPr>
          <a:xfrm>
            <a:off x="9934956" y="2777280"/>
            <a:ext cx="1577340" cy="174962"/>
          </a:xfrm>
          <a:prstGeom prst="rect">
            <a:avLst/>
          </a:prstGeom>
          <a:solidFill>
            <a:srgbClr val="C2352F"/>
          </a:solidFill>
          <a:ln w="6350">
            <a:solidFill>
              <a:srgbClr val="FFFFFF"/>
            </a:solidFill>
            <a:prstDash val="solid"/>
          </a:ln>
        </p:spPr>
      </p:sp>
      <p:sp>
        <p:nvSpPr>
          <p:cNvPr id="168" name="Text 166"/>
          <p:cNvSpPr txBox="1"/>
          <p:nvPr/>
        </p:nvSpPr>
        <p:spPr>
          <a:xfrm>
            <a:off x="9934956" y="2777280"/>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69" name="Text 167"/>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0" name="Shape 168"/>
          <p:cNvSpPr/>
          <p:nvPr/>
        </p:nvSpPr>
        <p:spPr>
          <a:xfrm>
            <a:off x="8357616" y="3007494"/>
            <a:ext cx="822960" cy="174962"/>
          </a:xfrm>
          <a:prstGeom prst="rect">
            <a:avLst/>
          </a:prstGeom>
          <a:solidFill>
            <a:srgbClr val="12A566"/>
          </a:solidFill>
          <a:ln w="6350">
            <a:solidFill>
              <a:srgbClr val="FFFFFF"/>
            </a:solidFill>
            <a:prstDash val="solid"/>
          </a:ln>
        </p:spPr>
      </p:sp>
      <p:sp>
        <p:nvSpPr>
          <p:cNvPr id="171" name="Text 169"/>
          <p:cNvSpPr txBox="1"/>
          <p:nvPr/>
        </p:nvSpPr>
        <p:spPr>
          <a:xfrm>
            <a:off x="8357616" y="3007494"/>
            <a:ext cx="8229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72" name="Shape 170"/>
          <p:cNvSpPr/>
          <p:nvPr/>
        </p:nvSpPr>
        <p:spPr>
          <a:xfrm>
            <a:off x="9180576" y="3007494"/>
            <a:ext cx="548640" cy="174962"/>
          </a:xfrm>
          <a:prstGeom prst="rect">
            <a:avLst/>
          </a:prstGeom>
          <a:solidFill>
            <a:srgbClr val="5B9BD5"/>
          </a:solidFill>
          <a:ln w="6350">
            <a:solidFill>
              <a:srgbClr val="FFFFFF"/>
            </a:solidFill>
            <a:prstDash val="solid"/>
          </a:ln>
        </p:spPr>
      </p:sp>
      <p:sp>
        <p:nvSpPr>
          <p:cNvPr id="173" name="Text 171"/>
          <p:cNvSpPr txBox="1"/>
          <p:nvPr/>
        </p:nvSpPr>
        <p:spPr>
          <a:xfrm>
            <a:off x="9180576" y="3007494"/>
            <a:ext cx="5486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74" name="Shape 172"/>
          <p:cNvSpPr/>
          <p:nvPr/>
        </p:nvSpPr>
        <p:spPr>
          <a:xfrm>
            <a:off x="9729216" y="3007494"/>
            <a:ext cx="1783080" cy="174962"/>
          </a:xfrm>
          <a:prstGeom prst="rect">
            <a:avLst/>
          </a:prstGeom>
          <a:solidFill>
            <a:srgbClr val="C2352F"/>
          </a:solidFill>
          <a:ln w="6350">
            <a:solidFill>
              <a:srgbClr val="FFFFFF"/>
            </a:solidFill>
            <a:prstDash val="solid"/>
          </a:ln>
        </p:spPr>
      </p:sp>
      <p:sp>
        <p:nvSpPr>
          <p:cNvPr id="175" name="Text 173"/>
          <p:cNvSpPr txBox="1"/>
          <p:nvPr/>
        </p:nvSpPr>
        <p:spPr>
          <a:xfrm>
            <a:off x="9729216" y="3007494"/>
            <a:ext cx="17830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76" name="Text 174"/>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77" name="Shape 175"/>
          <p:cNvSpPr/>
          <p:nvPr/>
        </p:nvSpPr>
        <p:spPr>
          <a:xfrm>
            <a:off x="8357616" y="3237708"/>
            <a:ext cx="556708" cy="174962"/>
          </a:xfrm>
          <a:prstGeom prst="rect">
            <a:avLst/>
          </a:prstGeom>
          <a:solidFill>
            <a:srgbClr val="12A566"/>
          </a:solidFill>
          <a:ln w="6350">
            <a:solidFill>
              <a:srgbClr val="FFFFFF"/>
            </a:solidFill>
            <a:prstDash val="solid"/>
          </a:ln>
        </p:spPr>
      </p:sp>
      <p:sp>
        <p:nvSpPr>
          <p:cNvPr id="178" name="Text 176"/>
          <p:cNvSpPr txBox="1"/>
          <p:nvPr/>
        </p:nvSpPr>
        <p:spPr>
          <a:xfrm>
            <a:off x="8357616" y="3237708"/>
            <a:ext cx="5567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79" name="Shape 177"/>
          <p:cNvSpPr/>
          <p:nvPr/>
        </p:nvSpPr>
        <p:spPr>
          <a:xfrm>
            <a:off x="8914324" y="3237708"/>
            <a:ext cx="1113416" cy="174962"/>
          </a:xfrm>
          <a:prstGeom prst="rect">
            <a:avLst/>
          </a:prstGeom>
          <a:solidFill>
            <a:srgbClr val="5B9BD5"/>
          </a:solidFill>
          <a:ln w="6350">
            <a:solidFill>
              <a:srgbClr val="FFFFFF"/>
            </a:solidFill>
            <a:prstDash val="solid"/>
          </a:ln>
        </p:spPr>
      </p:sp>
      <p:sp>
        <p:nvSpPr>
          <p:cNvPr id="180" name="Text 178"/>
          <p:cNvSpPr txBox="1"/>
          <p:nvPr/>
        </p:nvSpPr>
        <p:spPr>
          <a:xfrm>
            <a:off x="8914324" y="3237708"/>
            <a:ext cx="11134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81" name="Shape 179"/>
          <p:cNvSpPr/>
          <p:nvPr/>
        </p:nvSpPr>
        <p:spPr>
          <a:xfrm>
            <a:off x="10027741" y="3237708"/>
            <a:ext cx="1484555" cy="174962"/>
          </a:xfrm>
          <a:prstGeom prst="rect">
            <a:avLst/>
          </a:prstGeom>
          <a:solidFill>
            <a:srgbClr val="C2352F"/>
          </a:solidFill>
          <a:ln w="6350">
            <a:solidFill>
              <a:srgbClr val="FFFFFF"/>
            </a:solidFill>
            <a:prstDash val="solid"/>
          </a:ln>
        </p:spPr>
      </p:sp>
      <p:sp>
        <p:nvSpPr>
          <p:cNvPr id="182" name="Text 180"/>
          <p:cNvSpPr txBox="1"/>
          <p:nvPr/>
        </p:nvSpPr>
        <p:spPr>
          <a:xfrm>
            <a:off x="10027741" y="3237708"/>
            <a:ext cx="14845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3" name="Text 181"/>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4" name="Shape 182"/>
          <p:cNvSpPr/>
          <p:nvPr/>
        </p:nvSpPr>
        <p:spPr>
          <a:xfrm>
            <a:off x="8357616" y="3467921"/>
            <a:ext cx="525780" cy="174962"/>
          </a:xfrm>
          <a:prstGeom prst="rect">
            <a:avLst/>
          </a:prstGeom>
          <a:solidFill>
            <a:srgbClr val="12A566"/>
          </a:solidFill>
          <a:ln w="6350">
            <a:solidFill>
              <a:srgbClr val="FFFFFF"/>
            </a:solidFill>
            <a:prstDash val="solid"/>
          </a:ln>
        </p:spPr>
      </p:sp>
      <p:sp>
        <p:nvSpPr>
          <p:cNvPr id="185" name="Text 183"/>
          <p:cNvSpPr txBox="1"/>
          <p:nvPr/>
        </p:nvSpPr>
        <p:spPr>
          <a:xfrm>
            <a:off x="8357616" y="3467921"/>
            <a:ext cx="5257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86" name="Shape 184"/>
          <p:cNvSpPr/>
          <p:nvPr/>
        </p:nvSpPr>
        <p:spPr>
          <a:xfrm>
            <a:off x="8883396" y="3467921"/>
            <a:ext cx="1577340" cy="174962"/>
          </a:xfrm>
          <a:prstGeom prst="rect">
            <a:avLst/>
          </a:prstGeom>
          <a:solidFill>
            <a:srgbClr val="5B9BD5"/>
          </a:solidFill>
          <a:ln w="6350">
            <a:solidFill>
              <a:srgbClr val="FFFFFF"/>
            </a:solidFill>
            <a:prstDash val="solid"/>
          </a:ln>
        </p:spPr>
      </p:sp>
      <p:sp>
        <p:nvSpPr>
          <p:cNvPr id="187" name="Text 185"/>
          <p:cNvSpPr txBox="1"/>
          <p:nvPr/>
        </p:nvSpPr>
        <p:spPr>
          <a:xfrm>
            <a:off x="8883396" y="3467921"/>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88" name="Shape 186"/>
          <p:cNvSpPr/>
          <p:nvPr/>
        </p:nvSpPr>
        <p:spPr>
          <a:xfrm>
            <a:off x="10460736" y="3467921"/>
            <a:ext cx="1051560" cy="174962"/>
          </a:xfrm>
          <a:prstGeom prst="rect">
            <a:avLst/>
          </a:prstGeom>
          <a:solidFill>
            <a:srgbClr val="C2352F"/>
          </a:solidFill>
          <a:ln w="6350">
            <a:solidFill>
              <a:srgbClr val="FFFFFF"/>
            </a:solidFill>
            <a:prstDash val="solid"/>
          </a:ln>
        </p:spPr>
      </p:sp>
      <p:sp>
        <p:nvSpPr>
          <p:cNvPr id="189" name="Text 187"/>
          <p:cNvSpPr txBox="1"/>
          <p:nvPr/>
        </p:nvSpPr>
        <p:spPr>
          <a:xfrm>
            <a:off x="10460736" y="3467921"/>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90" name="Text 188"/>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91" name="Shape 189"/>
          <p:cNvSpPr/>
          <p:nvPr/>
        </p:nvSpPr>
        <p:spPr>
          <a:xfrm>
            <a:off x="8357616" y="3698135"/>
            <a:ext cx="350520" cy="174962"/>
          </a:xfrm>
          <a:prstGeom prst="rect">
            <a:avLst/>
          </a:prstGeom>
          <a:solidFill>
            <a:srgbClr val="12A566"/>
          </a:solidFill>
          <a:ln w="6350">
            <a:solidFill>
              <a:srgbClr val="FFFFFF"/>
            </a:solidFill>
            <a:prstDash val="solid"/>
          </a:ln>
        </p:spPr>
      </p:sp>
      <p:sp>
        <p:nvSpPr>
          <p:cNvPr id="192" name="Text 190"/>
          <p:cNvSpPr txBox="1"/>
          <p:nvPr/>
        </p:nvSpPr>
        <p:spPr>
          <a:xfrm>
            <a:off x="8357616" y="3698135"/>
            <a:ext cx="3505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193" name="Shape 191"/>
          <p:cNvSpPr/>
          <p:nvPr/>
        </p:nvSpPr>
        <p:spPr>
          <a:xfrm>
            <a:off x="8708136" y="3698135"/>
            <a:ext cx="701040" cy="174962"/>
          </a:xfrm>
          <a:prstGeom prst="rect">
            <a:avLst/>
          </a:prstGeom>
          <a:solidFill>
            <a:srgbClr val="5B9BD5"/>
          </a:solidFill>
          <a:ln w="6350">
            <a:solidFill>
              <a:srgbClr val="FFFFFF"/>
            </a:solidFill>
            <a:prstDash val="solid"/>
          </a:ln>
        </p:spPr>
      </p:sp>
      <p:sp>
        <p:nvSpPr>
          <p:cNvPr id="194" name="Text 192"/>
          <p:cNvSpPr txBox="1"/>
          <p:nvPr/>
        </p:nvSpPr>
        <p:spPr>
          <a:xfrm>
            <a:off x="8708136" y="3698135"/>
            <a:ext cx="7010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195" name="Shape 193"/>
          <p:cNvSpPr/>
          <p:nvPr/>
        </p:nvSpPr>
        <p:spPr>
          <a:xfrm>
            <a:off x="9409176" y="3698135"/>
            <a:ext cx="2103120" cy="174962"/>
          </a:xfrm>
          <a:prstGeom prst="rect">
            <a:avLst/>
          </a:prstGeom>
          <a:solidFill>
            <a:srgbClr val="C2352F"/>
          </a:solidFill>
          <a:ln w="6350">
            <a:solidFill>
              <a:srgbClr val="FFFFFF"/>
            </a:solidFill>
            <a:prstDash val="solid"/>
          </a:ln>
        </p:spPr>
      </p:sp>
      <p:sp>
        <p:nvSpPr>
          <p:cNvPr id="196" name="Text 194"/>
          <p:cNvSpPr txBox="1"/>
          <p:nvPr/>
        </p:nvSpPr>
        <p:spPr>
          <a:xfrm>
            <a:off x="9409176" y="3698135"/>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97" name="Text 195"/>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8" name="Shape 196"/>
          <p:cNvSpPr/>
          <p:nvPr/>
        </p:nvSpPr>
        <p:spPr>
          <a:xfrm>
            <a:off x="8357616" y="3928348"/>
            <a:ext cx="315468" cy="174962"/>
          </a:xfrm>
          <a:prstGeom prst="rect">
            <a:avLst/>
          </a:prstGeom>
          <a:solidFill>
            <a:srgbClr val="12A566"/>
          </a:solidFill>
          <a:ln w="6350">
            <a:solidFill>
              <a:srgbClr val="FFFFFF"/>
            </a:solidFill>
            <a:prstDash val="solid"/>
          </a:ln>
        </p:spPr>
      </p:sp>
      <p:sp>
        <p:nvSpPr>
          <p:cNvPr id="199" name="Text 197"/>
          <p:cNvSpPr txBox="1"/>
          <p:nvPr/>
        </p:nvSpPr>
        <p:spPr>
          <a:xfrm>
            <a:off x="8357616" y="3928348"/>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0" name="Shape 198"/>
          <p:cNvSpPr/>
          <p:nvPr/>
        </p:nvSpPr>
        <p:spPr>
          <a:xfrm>
            <a:off x="8673084" y="3928348"/>
            <a:ext cx="315468" cy="174962"/>
          </a:xfrm>
          <a:prstGeom prst="rect">
            <a:avLst/>
          </a:prstGeom>
          <a:solidFill>
            <a:srgbClr val="5B9BD5"/>
          </a:solidFill>
          <a:ln w="6350">
            <a:solidFill>
              <a:srgbClr val="FFFFFF"/>
            </a:solidFill>
            <a:prstDash val="solid"/>
          </a:ln>
        </p:spPr>
      </p:sp>
      <p:sp>
        <p:nvSpPr>
          <p:cNvPr id="201" name="Text 199"/>
          <p:cNvSpPr txBox="1"/>
          <p:nvPr/>
        </p:nvSpPr>
        <p:spPr>
          <a:xfrm>
            <a:off x="8673084" y="3928348"/>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2" name="Shape 200"/>
          <p:cNvSpPr/>
          <p:nvPr/>
        </p:nvSpPr>
        <p:spPr>
          <a:xfrm>
            <a:off x="8988552" y="3928348"/>
            <a:ext cx="2523744" cy="174962"/>
          </a:xfrm>
          <a:prstGeom prst="rect">
            <a:avLst/>
          </a:prstGeom>
          <a:solidFill>
            <a:srgbClr val="C2352F"/>
          </a:solidFill>
          <a:ln w="6350">
            <a:solidFill>
              <a:srgbClr val="FFFFFF"/>
            </a:solidFill>
            <a:prstDash val="solid"/>
          </a:ln>
        </p:spPr>
      </p:sp>
      <p:sp>
        <p:nvSpPr>
          <p:cNvPr id="203" name="Text 201"/>
          <p:cNvSpPr txBox="1"/>
          <p:nvPr/>
        </p:nvSpPr>
        <p:spPr>
          <a:xfrm>
            <a:off x="8988552" y="3928348"/>
            <a:ext cx="252374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04" name="Text 202"/>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05" name="Shape 203"/>
          <p:cNvSpPr/>
          <p:nvPr/>
        </p:nvSpPr>
        <p:spPr>
          <a:xfrm>
            <a:off x="8357616" y="4158562"/>
            <a:ext cx="315468" cy="174962"/>
          </a:xfrm>
          <a:prstGeom prst="rect">
            <a:avLst/>
          </a:prstGeom>
          <a:solidFill>
            <a:srgbClr val="12A566"/>
          </a:solidFill>
          <a:ln w="6350">
            <a:solidFill>
              <a:srgbClr val="FFFFFF"/>
            </a:solidFill>
            <a:prstDash val="solid"/>
          </a:ln>
        </p:spPr>
      </p:sp>
      <p:sp>
        <p:nvSpPr>
          <p:cNvPr id="206" name="Text 204"/>
          <p:cNvSpPr txBox="1"/>
          <p:nvPr/>
        </p:nvSpPr>
        <p:spPr>
          <a:xfrm>
            <a:off x="8357616" y="4158562"/>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7" name="Shape 205"/>
          <p:cNvSpPr/>
          <p:nvPr/>
        </p:nvSpPr>
        <p:spPr>
          <a:xfrm>
            <a:off x="8673084" y="4158562"/>
            <a:ext cx="315468" cy="174962"/>
          </a:xfrm>
          <a:prstGeom prst="rect">
            <a:avLst/>
          </a:prstGeom>
          <a:solidFill>
            <a:srgbClr val="5B9BD5"/>
          </a:solidFill>
          <a:ln w="6350">
            <a:solidFill>
              <a:srgbClr val="FFFFFF"/>
            </a:solidFill>
            <a:prstDash val="solid"/>
          </a:ln>
        </p:spPr>
      </p:sp>
      <p:sp>
        <p:nvSpPr>
          <p:cNvPr id="208" name="Text 206"/>
          <p:cNvSpPr txBox="1"/>
          <p:nvPr/>
        </p:nvSpPr>
        <p:spPr>
          <a:xfrm>
            <a:off x="8673084" y="4158562"/>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9" name="Shape 207"/>
          <p:cNvSpPr/>
          <p:nvPr/>
        </p:nvSpPr>
        <p:spPr>
          <a:xfrm>
            <a:off x="8988552" y="4158562"/>
            <a:ext cx="2523744" cy="174962"/>
          </a:xfrm>
          <a:prstGeom prst="rect">
            <a:avLst/>
          </a:prstGeom>
          <a:solidFill>
            <a:srgbClr val="C2352F"/>
          </a:solidFill>
          <a:ln w="6350">
            <a:solidFill>
              <a:srgbClr val="FFFFFF"/>
            </a:solidFill>
            <a:prstDash val="solid"/>
          </a:ln>
        </p:spPr>
      </p:sp>
      <p:sp>
        <p:nvSpPr>
          <p:cNvPr id="210" name="Text 208"/>
          <p:cNvSpPr txBox="1"/>
          <p:nvPr/>
        </p:nvSpPr>
        <p:spPr>
          <a:xfrm>
            <a:off x="8988552" y="4158562"/>
            <a:ext cx="252374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11" name="Text 209"/>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2" name="Shape 210"/>
          <p:cNvSpPr/>
          <p:nvPr/>
        </p:nvSpPr>
        <p:spPr>
          <a:xfrm>
            <a:off x="8357616" y="4388776"/>
            <a:ext cx="262890" cy="174962"/>
          </a:xfrm>
          <a:prstGeom prst="rect">
            <a:avLst/>
          </a:prstGeom>
          <a:solidFill>
            <a:srgbClr val="12A566"/>
          </a:solidFill>
          <a:ln w="6350">
            <a:solidFill>
              <a:srgbClr val="FFFFFF"/>
            </a:solidFill>
            <a:prstDash val="solid"/>
          </a:ln>
        </p:spPr>
      </p:sp>
      <p:sp>
        <p:nvSpPr>
          <p:cNvPr id="213" name="Text 211"/>
          <p:cNvSpPr txBox="1"/>
          <p:nvPr/>
        </p:nvSpPr>
        <p:spPr>
          <a:xfrm>
            <a:off x="8357616" y="4388776"/>
            <a:ext cx="26289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14" name="Shape 212"/>
          <p:cNvSpPr/>
          <p:nvPr/>
        </p:nvSpPr>
        <p:spPr>
          <a:xfrm>
            <a:off x="8620506" y="4388776"/>
            <a:ext cx="1051560" cy="174962"/>
          </a:xfrm>
          <a:prstGeom prst="rect">
            <a:avLst/>
          </a:prstGeom>
          <a:solidFill>
            <a:srgbClr val="5B9BD5"/>
          </a:solidFill>
          <a:ln w="6350">
            <a:solidFill>
              <a:srgbClr val="FFFFFF"/>
            </a:solidFill>
            <a:prstDash val="solid"/>
          </a:ln>
        </p:spPr>
      </p:sp>
      <p:sp>
        <p:nvSpPr>
          <p:cNvPr id="215" name="Text 213"/>
          <p:cNvSpPr txBox="1"/>
          <p:nvPr/>
        </p:nvSpPr>
        <p:spPr>
          <a:xfrm>
            <a:off x="8620506" y="4388776"/>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16" name="Shape 214"/>
          <p:cNvSpPr/>
          <p:nvPr/>
        </p:nvSpPr>
        <p:spPr>
          <a:xfrm>
            <a:off x="9672066" y="4388776"/>
            <a:ext cx="1840230" cy="174962"/>
          </a:xfrm>
          <a:prstGeom prst="rect">
            <a:avLst/>
          </a:prstGeom>
          <a:solidFill>
            <a:srgbClr val="C2352F"/>
          </a:solidFill>
          <a:ln w="6350">
            <a:solidFill>
              <a:srgbClr val="FFFFFF"/>
            </a:solidFill>
            <a:prstDash val="solid"/>
          </a:ln>
        </p:spPr>
      </p:sp>
      <p:sp>
        <p:nvSpPr>
          <p:cNvPr id="217" name="Text 215"/>
          <p:cNvSpPr txBox="1"/>
          <p:nvPr/>
        </p:nvSpPr>
        <p:spPr>
          <a:xfrm>
            <a:off x="9672066" y="4388776"/>
            <a:ext cx="184023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218" name="Text 216"/>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9" name="Shape 217"/>
          <p:cNvSpPr/>
          <p:nvPr/>
        </p:nvSpPr>
        <p:spPr>
          <a:xfrm>
            <a:off x="8357616" y="4618989"/>
            <a:ext cx="262890" cy="174962"/>
          </a:xfrm>
          <a:prstGeom prst="rect">
            <a:avLst/>
          </a:prstGeom>
          <a:solidFill>
            <a:srgbClr val="12A566"/>
          </a:solidFill>
          <a:ln w="6350">
            <a:solidFill>
              <a:srgbClr val="FFFFFF"/>
            </a:solidFill>
            <a:prstDash val="solid"/>
          </a:ln>
        </p:spPr>
      </p:sp>
      <p:sp>
        <p:nvSpPr>
          <p:cNvPr id="220" name="Text 218"/>
          <p:cNvSpPr txBox="1"/>
          <p:nvPr/>
        </p:nvSpPr>
        <p:spPr>
          <a:xfrm>
            <a:off x="8357616" y="4618989"/>
            <a:ext cx="26289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21" name="Shape 219"/>
          <p:cNvSpPr/>
          <p:nvPr/>
        </p:nvSpPr>
        <p:spPr>
          <a:xfrm>
            <a:off x="8620506" y="4618989"/>
            <a:ext cx="525780" cy="174962"/>
          </a:xfrm>
          <a:prstGeom prst="rect">
            <a:avLst/>
          </a:prstGeom>
          <a:solidFill>
            <a:srgbClr val="5B9BD5"/>
          </a:solidFill>
          <a:ln w="6350">
            <a:solidFill>
              <a:srgbClr val="FFFFFF"/>
            </a:solidFill>
            <a:prstDash val="solid"/>
          </a:ln>
        </p:spPr>
      </p:sp>
      <p:sp>
        <p:nvSpPr>
          <p:cNvPr id="222" name="Text 220"/>
          <p:cNvSpPr txBox="1"/>
          <p:nvPr/>
        </p:nvSpPr>
        <p:spPr>
          <a:xfrm>
            <a:off x="8620506" y="4618989"/>
            <a:ext cx="5257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223" name="Shape 221"/>
          <p:cNvSpPr/>
          <p:nvPr/>
        </p:nvSpPr>
        <p:spPr>
          <a:xfrm>
            <a:off x="9146286" y="4618989"/>
            <a:ext cx="2366010" cy="174962"/>
          </a:xfrm>
          <a:prstGeom prst="rect">
            <a:avLst/>
          </a:prstGeom>
          <a:solidFill>
            <a:srgbClr val="C2352F"/>
          </a:solidFill>
          <a:ln w="6350">
            <a:solidFill>
              <a:srgbClr val="FFFFFF"/>
            </a:solidFill>
            <a:prstDash val="solid"/>
          </a:ln>
        </p:spPr>
      </p:sp>
      <p:sp>
        <p:nvSpPr>
          <p:cNvPr id="224" name="Text 222"/>
          <p:cNvSpPr txBox="1"/>
          <p:nvPr/>
        </p:nvSpPr>
        <p:spPr>
          <a:xfrm>
            <a:off x="9146286" y="4618989"/>
            <a:ext cx="23660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25" name="Text 223"/>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26" name="Shape 224"/>
          <p:cNvSpPr/>
          <p:nvPr/>
        </p:nvSpPr>
        <p:spPr>
          <a:xfrm>
            <a:off x="8357616" y="4849203"/>
            <a:ext cx="914" cy="174962"/>
          </a:xfrm>
          <a:prstGeom prst="rect">
            <a:avLst/>
          </a:prstGeom>
          <a:solidFill>
            <a:srgbClr val="12A566"/>
          </a:solidFill>
          <a:ln w="6350">
            <a:solidFill>
              <a:srgbClr val="FFFFFF"/>
            </a:solidFill>
            <a:prstDash val="solid"/>
          </a:ln>
        </p:spPr>
      </p:sp>
      <p:sp>
        <p:nvSpPr>
          <p:cNvPr id="227" name="Shape 225"/>
          <p:cNvSpPr/>
          <p:nvPr/>
        </p:nvSpPr>
        <p:spPr>
          <a:xfrm>
            <a:off x="8357616" y="4849203"/>
            <a:ext cx="914" cy="174962"/>
          </a:xfrm>
          <a:prstGeom prst="rect">
            <a:avLst/>
          </a:prstGeom>
          <a:solidFill>
            <a:srgbClr val="5B9BD5"/>
          </a:solidFill>
          <a:ln w="6350">
            <a:solidFill>
              <a:srgbClr val="FFFFFF"/>
            </a:solidFill>
            <a:prstDash val="solid"/>
          </a:ln>
        </p:spPr>
      </p:sp>
      <p:sp>
        <p:nvSpPr>
          <p:cNvPr id="228" name="Shape 226"/>
          <p:cNvSpPr/>
          <p:nvPr/>
        </p:nvSpPr>
        <p:spPr>
          <a:xfrm>
            <a:off x="8357616" y="4849203"/>
            <a:ext cx="3154680" cy="174962"/>
          </a:xfrm>
          <a:prstGeom prst="rect">
            <a:avLst/>
          </a:prstGeom>
          <a:solidFill>
            <a:srgbClr val="C2352F"/>
          </a:solidFill>
          <a:ln w="6350">
            <a:solidFill>
              <a:srgbClr val="FFFFFF"/>
            </a:solidFill>
            <a:prstDash val="solid"/>
          </a:ln>
        </p:spPr>
      </p:sp>
      <p:sp>
        <p:nvSpPr>
          <p:cNvPr id="229" name="Text 227"/>
          <p:cNvSpPr txBox="1"/>
          <p:nvPr/>
        </p:nvSpPr>
        <p:spPr>
          <a:xfrm>
            <a:off x="8357616" y="4849203"/>
            <a:ext cx="31546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30" name="Text 228"/>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1" name="Shape 229"/>
          <p:cNvSpPr/>
          <p:nvPr/>
        </p:nvSpPr>
        <p:spPr>
          <a:xfrm>
            <a:off x="8357616" y="5079417"/>
            <a:ext cx="914" cy="174962"/>
          </a:xfrm>
          <a:prstGeom prst="rect">
            <a:avLst/>
          </a:prstGeom>
          <a:solidFill>
            <a:srgbClr val="12A566"/>
          </a:solidFill>
          <a:ln w="6350">
            <a:solidFill>
              <a:srgbClr val="FFFFFF"/>
            </a:solidFill>
            <a:prstDash val="solid"/>
          </a:ln>
        </p:spPr>
      </p:sp>
      <p:sp>
        <p:nvSpPr>
          <p:cNvPr id="232" name="Shape 230"/>
          <p:cNvSpPr/>
          <p:nvPr/>
        </p:nvSpPr>
        <p:spPr>
          <a:xfrm>
            <a:off x="8357616" y="5079417"/>
            <a:ext cx="350520" cy="174962"/>
          </a:xfrm>
          <a:prstGeom prst="rect">
            <a:avLst/>
          </a:prstGeom>
          <a:solidFill>
            <a:srgbClr val="5B9BD5"/>
          </a:solidFill>
          <a:ln w="6350">
            <a:solidFill>
              <a:srgbClr val="FFFFFF"/>
            </a:solidFill>
            <a:prstDash val="solid"/>
          </a:ln>
        </p:spPr>
      </p:sp>
      <p:sp>
        <p:nvSpPr>
          <p:cNvPr id="233" name="Text 231"/>
          <p:cNvSpPr txBox="1"/>
          <p:nvPr/>
        </p:nvSpPr>
        <p:spPr>
          <a:xfrm>
            <a:off x="8357616" y="5079417"/>
            <a:ext cx="3505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234" name="Shape 232"/>
          <p:cNvSpPr/>
          <p:nvPr/>
        </p:nvSpPr>
        <p:spPr>
          <a:xfrm>
            <a:off x="8708136" y="5079417"/>
            <a:ext cx="2804160" cy="174962"/>
          </a:xfrm>
          <a:prstGeom prst="rect">
            <a:avLst/>
          </a:prstGeom>
          <a:solidFill>
            <a:srgbClr val="C2352F"/>
          </a:solidFill>
          <a:ln w="6350">
            <a:solidFill>
              <a:srgbClr val="FFFFFF"/>
            </a:solidFill>
            <a:prstDash val="solid"/>
          </a:ln>
        </p:spPr>
      </p:sp>
      <p:sp>
        <p:nvSpPr>
          <p:cNvPr id="235" name="Text 233"/>
          <p:cNvSpPr txBox="1"/>
          <p:nvPr/>
        </p:nvSpPr>
        <p:spPr>
          <a:xfrm>
            <a:off x="8708136" y="5079417"/>
            <a:ext cx="28041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89</a:t>
            </a:r>
            <a:endParaRPr lang="en-US" sz="1300" dirty="0"/>
          </a:p>
        </p:txBody>
      </p:sp>
      <p:sp>
        <p:nvSpPr>
          <p:cNvPr id="236" name="Text 234"/>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7" name="Shape 235"/>
          <p:cNvSpPr/>
          <p:nvPr/>
        </p:nvSpPr>
        <p:spPr>
          <a:xfrm>
            <a:off x="8357616" y="5309630"/>
            <a:ext cx="914" cy="174962"/>
          </a:xfrm>
          <a:prstGeom prst="rect">
            <a:avLst/>
          </a:prstGeom>
          <a:solidFill>
            <a:srgbClr val="12A566"/>
          </a:solidFill>
          <a:ln w="6350">
            <a:solidFill>
              <a:srgbClr val="FFFFFF"/>
            </a:solidFill>
            <a:prstDash val="solid"/>
          </a:ln>
        </p:spPr>
      </p:sp>
      <p:sp>
        <p:nvSpPr>
          <p:cNvPr id="238" name="Shape 236"/>
          <p:cNvSpPr/>
          <p:nvPr/>
        </p:nvSpPr>
        <p:spPr>
          <a:xfrm>
            <a:off x="8357616" y="5309630"/>
            <a:ext cx="914" cy="174962"/>
          </a:xfrm>
          <a:prstGeom prst="rect">
            <a:avLst/>
          </a:prstGeom>
          <a:solidFill>
            <a:srgbClr val="5B9BD5"/>
          </a:solidFill>
          <a:ln w="6350">
            <a:solidFill>
              <a:srgbClr val="FFFFFF"/>
            </a:solidFill>
            <a:prstDash val="solid"/>
          </a:ln>
        </p:spPr>
      </p:sp>
      <p:sp>
        <p:nvSpPr>
          <p:cNvPr id="239" name="Shape 237"/>
          <p:cNvSpPr/>
          <p:nvPr/>
        </p:nvSpPr>
        <p:spPr>
          <a:xfrm>
            <a:off x="8357616" y="5309630"/>
            <a:ext cx="3154680" cy="174962"/>
          </a:xfrm>
          <a:prstGeom prst="rect">
            <a:avLst/>
          </a:prstGeom>
          <a:solidFill>
            <a:srgbClr val="C2352F"/>
          </a:solidFill>
          <a:ln w="6350">
            <a:solidFill>
              <a:srgbClr val="FFFFFF"/>
            </a:solidFill>
            <a:prstDash val="solid"/>
          </a:ln>
        </p:spPr>
      </p:sp>
      <p:sp>
        <p:nvSpPr>
          <p:cNvPr id="240" name="Text 238"/>
          <p:cNvSpPr txBox="1"/>
          <p:nvPr/>
        </p:nvSpPr>
        <p:spPr>
          <a:xfrm>
            <a:off x="8357616" y="5309630"/>
            <a:ext cx="31546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41" name="Shape 239"/>
          <p:cNvSpPr/>
          <p:nvPr/>
        </p:nvSpPr>
        <p:spPr>
          <a:xfrm>
            <a:off x="457200" y="5961888"/>
            <a:ext cx="11274552" cy="548640"/>
          </a:xfrm>
          <a:prstGeom prst="rect">
            <a:avLst/>
          </a:prstGeom>
          <a:solidFill>
            <a:srgbClr val="EDF4FA"/>
          </a:solidFill>
          <a:ln/>
        </p:spPr>
      </p:sp>
      <p:sp>
        <p:nvSpPr>
          <p:cNvPr id="242" name="Text 24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Of 583 technicians, 198 are above 100% and 262 (45%) are under 85%. 14 stores have more than half their technicians under target.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Proficiency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C2352F"/>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GROSS MISSED A MONTH</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$1.65M</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Labor $1.13M + parts $514K: 8.1% of the $20.44M a month our ROs generate.</a:t>
            </a:r>
            <a:endParaRPr lang="en-US" sz="15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C2352F"/>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 PAY MISSED A MONTH</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$282K</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$1,080 a month for each tech under 85%. Same hours, bigger checks.</a:t>
            </a:r>
            <a:endParaRPr lang="en-US" sz="15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C2352F"/>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HOURS NOT PRODUCED, YEAR TO DATE</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79K YTD</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8.3K hours a month on the clock and not flagged, below the 85% line alone. 48 full-time techs of capacity.</a:t>
            </a:r>
            <a:endParaRPr lang="en-US" sz="15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2587C5"/>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TECHS UNDER 85%</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2C4A"/>
                </a:solidFill>
                <a:latin typeface="Inter" pitchFamily="34" charset="0"/>
                <a:ea typeface="Inter" pitchFamily="34" charset="-122"/>
                <a:cs typeface="Inter" pitchFamily="34" charset="-120"/>
              </a:rPr>
              <a:t>262 of 583</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45% of technicians. Every store has at least one.</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No extra hours, no extra techs, no extra bays. The techs, bays and lifts are already here; the hour is spent whether it is flagged or not. An hour not produced today cannot be sold tomorrow.</a:t>
            </a:r>
            <a:endParaRPr lang="en-US" sz="1700" dirty="0"/>
          </a:p>
        </p:txBody>
      </p:sp>
      <p:sp>
        <p:nvSpPr>
          <p:cNvPr id="27" name="Shape 25"/>
          <p:cNvSpPr/>
          <p:nvPr/>
        </p:nvSpPr>
        <p:spPr>
          <a:xfrm>
            <a:off x="457200" y="5961888"/>
            <a:ext cx="11274552" cy="548640"/>
          </a:xfrm>
          <a:prstGeom prst="rect">
            <a:avLst/>
          </a:prstGeom>
          <a:solidFill>
            <a:srgbClr val="FBEBEA"/>
          </a:solidFill>
          <a:ln/>
        </p:spPr>
      </p:sp>
      <p:sp>
        <p:nvSpPr>
          <p:cNvPr id="28" name="Text 2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Lifting each tech under 85% to 85% is worth $1.65M a month in gross and $282K a month in tech pay.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Opportunity by Store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47472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7" name="Text 5"/>
          <p:cNvSpPr txBox="1"/>
          <p:nvPr/>
        </p:nvSpPr>
        <p:spPr>
          <a:xfrm>
            <a:off x="4261104"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8" name="Text 6"/>
          <p:cNvSpPr txBox="1"/>
          <p:nvPr/>
        </p:nvSpPr>
        <p:spPr>
          <a:xfrm>
            <a:off x="5193792"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9" name="Text 7"/>
          <p:cNvSpPr txBox="1"/>
          <p:nvPr/>
        </p:nvSpPr>
        <p:spPr>
          <a:xfrm>
            <a:off x="902512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10" name="Text 8"/>
          <p:cNvSpPr txBox="1"/>
          <p:nvPr/>
        </p:nvSpPr>
        <p:spPr>
          <a:xfrm>
            <a:off x="9811512"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11" name="Text 9"/>
          <p:cNvSpPr txBox="1"/>
          <p:nvPr/>
        </p:nvSpPr>
        <p:spPr>
          <a:xfrm>
            <a:off x="10744200"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3" name="Shape 11"/>
          <p:cNvSpPr/>
          <p:nvPr/>
        </p:nvSpPr>
        <p:spPr>
          <a:xfrm>
            <a:off x="2670048" y="1754034"/>
            <a:ext cx="749808" cy="130168"/>
          </a:xfrm>
          <a:prstGeom prst="rect">
            <a:avLst/>
          </a:prstGeom>
          <a:solidFill>
            <a:srgbClr val="C2352F"/>
          </a:solidFill>
          <a:ln/>
        </p:spPr>
      </p:sp>
      <p:sp>
        <p:nvSpPr>
          <p:cNvPr id="14" name="Text 12"/>
          <p:cNvSpPr txBox="1"/>
          <p:nvPr/>
        </p:nvSpPr>
        <p:spPr>
          <a:xfrm>
            <a:off x="3474720"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$158K</a:t>
            </a:r>
            <a:endParaRPr lang="en-US" sz="1300" dirty="0"/>
          </a:p>
        </p:txBody>
      </p:sp>
      <p:sp>
        <p:nvSpPr>
          <p:cNvPr id="15" name="Text 13"/>
          <p:cNvSpPr txBox="1"/>
          <p:nvPr/>
        </p:nvSpPr>
        <p:spPr>
          <a:xfrm>
            <a:off x="4261104" y="1700784"/>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29</a:t>
            </a:r>
            <a:endParaRPr lang="en-US" sz="1300" dirty="0"/>
          </a:p>
        </p:txBody>
      </p:sp>
      <p:sp>
        <p:nvSpPr>
          <p:cNvPr id="16" name="Text 14"/>
          <p:cNvSpPr txBox="1"/>
          <p:nvPr/>
        </p:nvSpPr>
        <p:spPr>
          <a:xfrm>
            <a:off x="5193792" y="1700784"/>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87.7%</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8" name="Shape 16"/>
          <p:cNvSpPr/>
          <p:nvPr/>
        </p:nvSpPr>
        <p:spPr>
          <a:xfrm>
            <a:off x="2670048" y="1990703"/>
            <a:ext cx="533948" cy="130168"/>
          </a:xfrm>
          <a:prstGeom prst="rect">
            <a:avLst/>
          </a:prstGeom>
          <a:solidFill>
            <a:srgbClr val="C2352F"/>
          </a:solidFill>
          <a:ln/>
        </p:spPr>
      </p:sp>
      <p:sp>
        <p:nvSpPr>
          <p:cNvPr id="19" name="Text 17"/>
          <p:cNvSpPr txBox="1"/>
          <p:nvPr/>
        </p:nvSpPr>
        <p:spPr>
          <a:xfrm>
            <a:off x="3474720"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$112K</a:t>
            </a:r>
            <a:endParaRPr lang="en-US" sz="1300" dirty="0"/>
          </a:p>
        </p:txBody>
      </p:sp>
      <p:sp>
        <p:nvSpPr>
          <p:cNvPr id="20" name="Text 18"/>
          <p:cNvSpPr txBox="1"/>
          <p:nvPr/>
        </p:nvSpPr>
        <p:spPr>
          <a:xfrm>
            <a:off x="4261104" y="193745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21" name="Text 19"/>
          <p:cNvSpPr txBox="1"/>
          <p:nvPr/>
        </p:nvSpPr>
        <p:spPr>
          <a:xfrm>
            <a:off x="5193792" y="193745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68.4%</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 name="Shape 21"/>
          <p:cNvSpPr/>
          <p:nvPr/>
        </p:nvSpPr>
        <p:spPr>
          <a:xfrm>
            <a:off x="2670048" y="2227371"/>
            <a:ext cx="483297" cy="130168"/>
          </a:xfrm>
          <a:prstGeom prst="rect">
            <a:avLst/>
          </a:prstGeom>
          <a:solidFill>
            <a:srgbClr val="C2352F"/>
          </a:solidFill>
          <a:ln/>
        </p:spPr>
      </p:sp>
      <p:sp>
        <p:nvSpPr>
          <p:cNvPr id="24" name="Text 22"/>
          <p:cNvSpPr txBox="1"/>
          <p:nvPr/>
        </p:nvSpPr>
        <p:spPr>
          <a:xfrm>
            <a:off x="3474720"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$102K</a:t>
            </a:r>
            <a:endParaRPr lang="en-US" sz="1300" dirty="0"/>
          </a:p>
        </p:txBody>
      </p:sp>
      <p:sp>
        <p:nvSpPr>
          <p:cNvPr id="25" name="Text 23"/>
          <p:cNvSpPr txBox="1"/>
          <p:nvPr/>
        </p:nvSpPr>
        <p:spPr>
          <a:xfrm>
            <a:off x="4261104" y="217412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 of 23</a:t>
            </a:r>
            <a:endParaRPr lang="en-US" sz="1300" dirty="0"/>
          </a:p>
        </p:txBody>
      </p:sp>
      <p:sp>
        <p:nvSpPr>
          <p:cNvPr id="26" name="Text 24"/>
          <p:cNvSpPr txBox="1"/>
          <p:nvPr/>
        </p:nvSpPr>
        <p:spPr>
          <a:xfrm>
            <a:off x="5193792" y="217412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91.0%</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8" name="Shape 26"/>
          <p:cNvSpPr/>
          <p:nvPr/>
        </p:nvSpPr>
        <p:spPr>
          <a:xfrm>
            <a:off x="2670048" y="2464039"/>
            <a:ext cx="476411" cy="130168"/>
          </a:xfrm>
          <a:prstGeom prst="rect">
            <a:avLst/>
          </a:prstGeom>
          <a:solidFill>
            <a:srgbClr val="C2352F"/>
          </a:solidFill>
          <a:ln/>
        </p:spPr>
      </p:sp>
      <p:sp>
        <p:nvSpPr>
          <p:cNvPr id="29" name="Text 27"/>
          <p:cNvSpPr txBox="1"/>
          <p:nvPr/>
        </p:nvSpPr>
        <p:spPr>
          <a:xfrm>
            <a:off x="3474720"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30" name="Text 28"/>
          <p:cNvSpPr txBox="1"/>
          <p:nvPr/>
        </p:nvSpPr>
        <p:spPr>
          <a:xfrm>
            <a:off x="4261104" y="241078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14</a:t>
            </a:r>
            <a:endParaRPr lang="en-US" sz="1300" dirty="0"/>
          </a:p>
        </p:txBody>
      </p:sp>
      <p:sp>
        <p:nvSpPr>
          <p:cNvPr id="31" name="Text 29"/>
          <p:cNvSpPr txBox="1"/>
          <p:nvPr/>
        </p:nvSpPr>
        <p:spPr>
          <a:xfrm>
            <a:off x="5193792" y="241078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71.2%</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3" name="Shape 31"/>
          <p:cNvSpPr/>
          <p:nvPr/>
        </p:nvSpPr>
        <p:spPr>
          <a:xfrm>
            <a:off x="2670048" y="2700707"/>
            <a:ext cx="419972" cy="130168"/>
          </a:xfrm>
          <a:prstGeom prst="rect">
            <a:avLst/>
          </a:prstGeom>
          <a:solidFill>
            <a:srgbClr val="C2352F"/>
          </a:solidFill>
          <a:ln/>
        </p:spPr>
      </p:sp>
      <p:sp>
        <p:nvSpPr>
          <p:cNvPr id="34" name="Text 32"/>
          <p:cNvSpPr txBox="1"/>
          <p:nvPr/>
        </p:nvSpPr>
        <p:spPr>
          <a:xfrm>
            <a:off x="3474720"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35" name="Text 33"/>
          <p:cNvSpPr txBox="1"/>
          <p:nvPr/>
        </p:nvSpPr>
        <p:spPr>
          <a:xfrm>
            <a:off x="4261104" y="2647457"/>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11</a:t>
            </a:r>
            <a:endParaRPr lang="en-US" sz="1300" dirty="0"/>
          </a:p>
        </p:txBody>
      </p:sp>
      <p:sp>
        <p:nvSpPr>
          <p:cNvPr id="36" name="Text 34"/>
          <p:cNvSpPr txBox="1"/>
          <p:nvPr/>
        </p:nvSpPr>
        <p:spPr>
          <a:xfrm>
            <a:off x="5193792" y="2647457"/>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69.0%</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8" name="Shape 36"/>
          <p:cNvSpPr/>
          <p:nvPr/>
        </p:nvSpPr>
        <p:spPr>
          <a:xfrm>
            <a:off x="2670048" y="2937376"/>
            <a:ext cx="415094" cy="130168"/>
          </a:xfrm>
          <a:prstGeom prst="rect">
            <a:avLst/>
          </a:prstGeom>
          <a:solidFill>
            <a:srgbClr val="C2352F"/>
          </a:solidFill>
          <a:ln/>
        </p:spPr>
      </p:sp>
      <p:sp>
        <p:nvSpPr>
          <p:cNvPr id="39" name="Text 37"/>
          <p:cNvSpPr txBox="1"/>
          <p:nvPr/>
        </p:nvSpPr>
        <p:spPr>
          <a:xfrm>
            <a:off x="3474720"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$87K</a:t>
            </a:r>
            <a:endParaRPr lang="en-US" sz="1300" dirty="0"/>
          </a:p>
        </p:txBody>
      </p:sp>
      <p:sp>
        <p:nvSpPr>
          <p:cNvPr id="40" name="Text 38"/>
          <p:cNvSpPr txBox="1"/>
          <p:nvPr/>
        </p:nvSpPr>
        <p:spPr>
          <a:xfrm>
            <a:off x="4261104" y="288412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51</a:t>
            </a:r>
            <a:endParaRPr lang="en-US" sz="1300" dirty="0"/>
          </a:p>
        </p:txBody>
      </p:sp>
      <p:sp>
        <p:nvSpPr>
          <p:cNvPr id="41" name="Text 39"/>
          <p:cNvSpPr txBox="1"/>
          <p:nvPr/>
        </p:nvSpPr>
        <p:spPr>
          <a:xfrm>
            <a:off x="5193792" y="288412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103.4%</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3" name="Shape 41"/>
          <p:cNvSpPr/>
          <p:nvPr/>
        </p:nvSpPr>
        <p:spPr>
          <a:xfrm>
            <a:off x="2670048" y="3174044"/>
            <a:ext cx="367707" cy="130168"/>
          </a:xfrm>
          <a:prstGeom prst="rect">
            <a:avLst/>
          </a:prstGeom>
          <a:solidFill>
            <a:srgbClr val="C2352F"/>
          </a:solidFill>
          <a:ln/>
        </p:spPr>
      </p:sp>
      <p:sp>
        <p:nvSpPr>
          <p:cNvPr id="44" name="Text 42"/>
          <p:cNvSpPr txBox="1"/>
          <p:nvPr/>
        </p:nvSpPr>
        <p:spPr>
          <a:xfrm>
            <a:off x="3474720"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45" name="Text 43"/>
          <p:cNvSpPr txBox="1"/>
          <p:nvPr/>
        </p:nvSpPr>
        <p:spPr>
          <a:xfrm>
            <a:off x="4261104" y="312079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22</a:t>
            </a:r>
            <a:endParaRPr lang="en-US" sz="1300" dirty="0"/>
          </a:p>
        </p:txBody>
      </p:sp>
      <p:sp>
        <p:nvSpPr>
          <p:cNvPr id="46" name="Text 44"/>
          <p:cNvSpPr txBox="1"/>
          <p:nvPr/>
        </p:nvSpPr>
        <p:spPr>
          <a:xfrm>
            <a:off x="5193792" y="312079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83.6%</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8" name="Shape 46"/>
          <p:cNvSpPr/>
          <p:nvPr/>
        </p:nvSpPr>
        <p:spPr>
          <a:xfrm>
            <a:off x="2670048" y="3410712"/>
            <a:ext cx="364470" cy="130168"/>
          </a:xfrm>
          <a:prstGeom prst="rect">
            <a:avLst/>
          </a:prstGeom>
          <a:solidFill>
            <a:srgbClr val="C2352F"/>
          </a:solidFill>
          <a:ln/>
        </p:spPr>
      </p:sp>
      <p:sp>
        <p:nvSpPr>
          <p:cNvPr id="49" name="Text 47"/>
          <p:cNvSpPr txBox="1"/>
          <p:nvPr/>
        </p:nvSpPr>
        <p:spPr>
          <a:xfrm>
            <a:off x="3474720"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0" name="Text 48"/>
          <p:cNvSpPr txBox="1"/>
          <p:nvPr/>
        </p:nvSpPr>
        <p:spPr>
          <a:xfrm>
            <a:off x="4261104" y="335746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12</a:t>
            </a:r>
            <a:endParaRPr lang="en-US" sz="1300" dirty="0"/>
          </a:p>
        </p:txBody>
      </p:sp>
      <p:sp>
        <p:nvSpPr>
          <p:cNvPr id="51" name="Text 49"/>
          <p:cNvSpPr txBox="1"/>
          <p:nvPr/>
        </p:nvSpPr>
        <p:spPr>
          <a:xfrm>
            <a:off x="5193792" y="335746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67.5%</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3" name="Shape 51"/>
          <p:cNvSpPr/>
          <p:nvPr/>
        </p:nvSpPr>
        <p:spPr>
          <a:xfrm>
            <a:off x="2670048" y="3647380"/>
            <a:ext cx="361005" cy="130168"/>
          </a:xfrm>
          <a:prstGeom prst="rect">
            <a:avLst/>
          </a:prstGeom>
          <a:solidFill>
            <a:srgbClr val="C2352F"/>
          </a:solidFill>
          <a:ln/>
        </p:spPr>
      </p:sp>
      <p:sp>
        <p:nvSpPr>
          <p:cNvPr id="54" name="Text 52"/>
          <p:cNvSpPr txBox="1"/>
          <p:nvPr/>
        </p:nvSpPr>
        <p:spPr>
          <a:xfrm>
            <a:off x="3474720"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55" name="Text 53"/>
          <p:cNvSpPr txBox="1"/>
          <p:nvPr/>
        </p:nvSpPr>
        <p:spPr>
          <a:xfrm>
            <a:off x="4261104" y="359413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11</a:t>
            </a:r>
            <a:endParaRPr lang="en-US" sz="1300" dirty="0"/>
          </a:p>
        </p:txBody>
      </p:sp>
      <p:sp>
        <p:nvSpPr>
          <p:cNvPr id="56" name="Text 54"/>
          <p:cNvSpPr txBox="1"/>
          <p:nvPr/>
        </p:nvSpPr>
        <p:spPr>
          <a:xfrm>
            <a:off x="5193792" y="359413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67.4%</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8" name="Shape 56"/>
          <p:cNvSpPr/>
          <p:nvPr/>
        </p:nvSpPr>
        <p:spPr>
          <a:xfrm>
            <a:off x="2670048" y="3884048"/>
            <a:ext cx="353265" cy="130168"/>
          </a:xfrm>
          <a:prstGeom prst="rect">
            <a:avLst/>
          </a:prstGeom>
          <a:solidFill>
            <a:srgbClr val="C2352F"/>
          </a:solidFill>
          <a:ln/>
        </p:spPr>
      </p:sp>
      <p:sp>
        <p:nvSpPr>
          <p:cNvPr id="59" name="Text 57"/>
          <p:cNvSpPr txBox="1"/>
          <p:nvPr/>
        </p:nvSpPr>
        <p:spPr>
          <a:xfrm>
            <a:off x="3474720"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60" name="Text 58"/>
          <p:cNvSpPr txBox="1"/>
          <p:nvPr/>
        </p:nvSpPr>
        <p:spPr>
          <a:xfrm>
            <a:off x="4261104" y="383079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61" name="Text 59"/>
          <p:cNvSpPr txBox="1"/>
          <p:nvPr/>
        </p:nvSpPr>
        <p:spPr>
          <a:xfrm>
            <a:off x="5193792" y="383079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76.8%</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2670048" y="4120717"/>
            <a:ext cx="333730" cy="130168"/>
          </a:xfrm>
          <a:prstGeom prst="rect">
            <a:avLst/>
          </a:prstGeom>
          <a:solidFill>
            <a:srgbClr val="C2352F"/>
          </a:solidFill>
          <a:ln/>
        </p:spPr>
      </p:sp>
      <p:sp>
        <p:nvSpPr>
          <p:cNvPr id="64" name="Text 62"/>
          <p:cNvSpPr txBox="1"/>
          <p:nvPr/>
        </p:nvSpPr>
        <p:spPr>
          <a:xfrm>
            <a:off x="3474720"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65" name="Text 63"/>
          <p:cNvSpPr txBox="1"/>
          <p:nvPr/>
        </p:nvSpPr>
        <p:spPr>
          <a:xfrm>
            <a:off x="4261104" y="406746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 of 59</a:t>
            </a:r>
            <a:endParaRPr lang="en-US" sz="1300" dirty="0"/>
          </a:p>
        </p:txBody>
      </p:sp>
      <p:sp>
        <p:nvSpPr>
          <p:cNvPr id="66" name="Text 64"/>
          <p:cNvSpPr txBox="1"/>
          <p:nvPr/>
        </p:nvSpPr>
        <p:spPr>
          <a:xfrm>
            <a:off x="5193792" y="406746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104.3%</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8" name="Shape 66"/>
          <p:cNvSpPr/>
          <p:nvPr/>
        </p:nvSpPr>
        <p:spPr>
          <a:xfrm>
            <a:off x="2670048" y="4357385"/>
            <a:ext cx="300431" cy="130168"/>
          </a:xfrm>
          <a:prstGeom prst="rect">
            <a:avLst/>
          </a:prstGeom>
          <a:solidFill>
            <a:srgbClr val="C2352F"/>
          </a:solidFill>
          <a:ln/>
        </p:spPr>
      </p:sp>
      <p:sp>
        <p:nvSpPr>
          <p:cNvPr id="69" name="Text 67"/>
          <p:cNvSpPr txBox="1"/>
          <p:nvPr/>
        </p:nvSpPr>
        <p:spPr>
          <a:xfrm>
            <a:off x="3474720"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70" name="Text 68"/>
          <p:cNvSpPr txBox="1"/>
          <p:nvPr/>
        </p:nvSpPr>
        <p:spPr>
          <a:xfrm>
            <a:off x="4261104" y="430413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16</a:t>
            </a:r>
            <a:endParaRPr lang="en-US" sz="1300" dirty="0"/>
          </a:p>
        </p:txBody>
      </p:sp>
      <p:sp>
        <p:nvSpPr>
          <p:cNvPr id="71" name="Text 69"/>
          <p:cNvSpPr txBox="1"/>
          <p:nvPr/>
        </p:nvSpPr>
        <p:spPr>
          <a:xfrm>
            <a:off x="5193792" y="430413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91.2%</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3" name="Shape 71"/>
          <p:cNvSpPr/>
          <p:nvPr/>
        </p:nvSpPr>
        <p:spPr>
          <a:xfrm>
            <a:off x="2670048" y="4594053"/>
            <a:ext cx="294453" cy="130168"/>
          </a:xfrm>
          <a:prstGeom prst="rect">
            <a:avLst/>
          </a:prstGeom>
          <a:solidFill>
            <a:srgbClr val="C2352F"/>
          </a:solidFill>
          <a:ln/>
        </p:spPr>
      </p:sp>
      <p:sp>
        <p:nvSpPr>
          <p:cNvPr id="74" name="Text 72"/>
          <p:cNvSpPr txBox="1"/>
          <p:nvPr/>
        </p:nvSpPr>
        <p:spPr>
          <a:xfrm>
            <a:off x="3474720"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75" name="Text 73"/>
          <p:cNvSpPr txBox="1"/>
          <p:nvPr/>
        </p:nvSpPr>
        <p:spPr>
          <a:xfrm>
            <a:off x="4261104" y="454080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9</a:t>
            </a:r>
            <a:endParaRPr lang="en-US" sz="1300" dirty="0"/>
          </a:p>
        </p:txBody>
      </p:sp>
      <p:sp>
        <p:nvSpPr>
          <p:cNvPr id="76" name="Text 74"/>
          <p:cNvSpPr txBox="1"/>
          <p:nvPr/>
        </p:nvSpPr>
        <p:spPr>
          <a:xfrm>
            <a:off x="5193792" y="454080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72.3%</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8" name="Shape 76"/>
          <p:cNvSpPr/>
          <p:nvPr/>
        </p:nvSpPr>
        <p:spPr>
          <a:xfrm>
            <a:off x="2670048" y="4830721"/>
            <a:ext cx="273826" cy="130168"/>
          </a:xfrm>
          <a:prstGeom prst="rect">
            <a:avLst/>
          </a:prstGeom>
          <a:solidFill>
            <a:srgbClr val="C2352F"/>
          </a:solidFill>
          <a:ln/>
        </p:spPr>
      </p:sp>
      <p:sp>
        <p:nvSpPr>
          <p:cNvPr id="79" name="Text 77"/>
          <p:cNvSpPr txBox="1"/>
          <p:nvPr/>
        </p:nvSpPr>
        <p:spPr>
          <a:xfrm>
            <a:off x="3474720"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80" name="Text 78"/>
          <p:cNvSpPr txBox="1"/>
          <p:nvPr/>
        </p:nvSpPr>
        <p:spPr>
          <a:xfrm>
            <a:off x="4261104" y="4777471"/>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12</a:t>
            </a:r>
            <a:endParaRPr lang="en-US" sz="1300" dirty="0"/>
          </a:p>
        </p:txBody>
      </p:sp>
      <p:sp>
        <p:nvSpPr>
          <p:cNvPr id="81" name="Text 79"/>
          <p:cNvSpPr txBox="1"/>
          <p:nvPr/>
        </p:nvSpPr>
        <p:spPr>
          <a:xfrm>
            <a:off x="5193792" y="4777471"/>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98.4%</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3" name="Shape 81"/>
          <p:cNvSpPr/>
          <p:nvPr/>
        </p:nvSpPr>
        <p:spPr>
          <a:xfrm>
            <a:off x="2670048" y="5067390"/>
            <a:ext cx="227614" cy="130168"/>
          </a:xfrm>
          <a:prstGeom prst="rect">
            <a:avLst/>
          </a:prstGeom>
          <a:solidFill>
            <a:srgbClr val="C2352F"/>
          </a:solidFill>
          <a:ln/>
        </p:spPr>
      </p:sp>
      <p:sp>
        <p:nvSpPr>
          <p:cNvPr id="84" name="Text 82"/>
          <p:cNvSpPr txBox="1"/>
          <p:nvPr/>
        </p:nvSpPr>
        <p:spPr>
          <a:xfrm>
            <a:off x="3474720"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85" name="Text 83"/>
          <p:cNvSpPr txBox="1"/>
          <p:nvPr/>
        </p:nvSpPr>
        <p:spPr>
          <a:xfrm>
            <a:off x="4261104" y="501413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 of 12</a:t>
            </a:r>
            <a:endParaRPr lang="en-US" sz="1300" dirty="0"/>
          </a:p>
        </p:txBody>
      </p:sp>
      <p:sp>
        <p:nvSpPr>
          <p:cNvPr id="86" name="Text 84"/>
          <p:cNvSpPr txBox="1"/>
          <p:nvPr/>
        </p:nvSpPr>
        <p:spPr>
          <a:xfrm>
            <a:off x="5193792" y="501413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73.6%</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8" name="Shape 86"/>
          <p:cNvSpPr/>
          <p:nvPr/>
        </p:nvSpPr>
        <p:spPr>
          <a:xfrm>
            <a:off x="2670048" y="5304058"/>
            <a:ext cx="207650" cy="130168"/>
          </a:xfrm>
          <a:prstGeom prst="rect">
            <a:avLst/>
          </a:prstGeom>
          <a:solidFill>
            <a:srgbClr val="C2352F"/>
          </a:solidFill>
          <a:ln/>
        </p:spPr>
      </p:sp>
      <p:sp>
        <p:nvSpPr>
          <p:cNvPr id="89" name="Text 87"/>
          <p:cNvSpPr txBox="1"/>
          <p:nvPr/>
        </p:nvSpPr>
        <p:spPr>
          <a:xfrm>
            <a:off x="3474720"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$44K</a:t>
            </a:r>
            <a:endParaRPr lang="en-US" sz="1300" dirty="0"/>
          </a:p>
        </p:txBody>
      </p:sp>
      <p:sp>
        <p:nvSpPr>
          <p:cNvPr id="90" name="Text 88"/>
          <p:cNvSpPr txBox="1"/>
          <p:nvPr/>
        </p:nvSpPr>
        <p:spPr>
          <a:xfrm>
            <a:off x="4261104" y="525080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27</a:t>
            </a:r>
            <a:endParaRPr lang="en-US" sz="1300" dirty="0"/>
          </a:p>
        </p:txBody>
      </p:sp>
      <p:sp>
        <p:nvSpPr>
          <p:cNvPr id="91" name="Text 89"/>
          <p:cNvSpPr txBox="1"/>
          <p:nvPr/>
        </p:nvSpPr>
        <p:spPr>
          <a:xfrm>
            <a:off x="5193792" y="525080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96.9%</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2670048" y="5540726"/>
            <a:ext cx="201603" cy="130168"/>
          </a:xfrm>
          <a:prstGeom prst="rect">
            <a:avLst/>
          </a:prstGeom>
          <a:solidFill>
            <a:srgbClr val="C2352F"/>
          </a:solidFill>
          <a:ln/>
        </p:spPr>
      </p:sp>
      <p:sp>
        <p:nvSpPr>
          <p:cNvPr id="94" name="Text 92"/>
          <p:cNvSpPr txBox="1"/>
          <p:nvPr/>
        </p:nvSpPr>
        <p:spPr>
          <a:xfrm>
            <a:off x="3474720" y="548747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95" name="Text 93"/>
          <p:cNvSpPr txBox="1"/>
          <p:nvPr/>
        </p:nvSpPr>
        <p:spPr>
          <a:xfrm>
            <a:off x="4261104" y="548747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17</a:t>
            </a:r>
            <a:endParaRPr lang="en-US" sz="1300" dirty="0"/>
          </a:p>
        </p:txBody>
      </p:sp>
      <p:sp>
        <p:nvSpPr>
          <p:cNvPr id="96" name="Text 94"/>
          <p:cNvSpPr txBox="1"/>
          <p:nvPr/>
        </p:nvSpPr>
        <p:spPr>
          <a:xfrm>
            <a:off x="5193792" y="548747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91.1%</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8" name="Shape 96"/>
          <p:cNvSpPr/>
          <p:nvPr/>
        </p:nvSpPr>
        <p:spPr>
          <a:xfrm>
            <a:off x="8220456" y="1754034"/>
            <a:ext cx="187634" cy="130168"/>
          </a:xfrm>
          <a:prstGeom prst="rect">
            <a:avLst/>
          </a:prstGeom>
          <a:solidFill>
            <a:srgbClr val="C2352F"/>
          </a:solidFill>
          <a:ln/>
        </p:spPr>
      </p:sp>
      <p:sp>
        <p:nvSpPr>
          <p:cNvPr id="99" name="Text 97"/>
          <p:cNvSpPr txBox="1"/>
          <p:nvPr/>
        </p:nvSpPr>
        <p:spPr>
          <a:xfrm>
            <a:off x="9025128"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00" name="Text 98"/>
          <p:cNvSpPr txBox="1"/>
          <p:nvPr/>
        </p:nvSpPr>
        <p:spPr>
          <a:xfrm>
            <a:off x="9811512" y="1700784"/>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6</a:t>
            </a:r>
            <a:endParaRPr lang="en-US" sz="1300" dirty="0"/>
          </a:p>
        </p:txBody>
      </p:sp>
      <p:sp>
        <p:nvSpPr>
          <p:cNvPr id="101" name="Text 99"/>
          <p:cNvSpPr txBox="1"/>
          <p:nvPr/>
        </p:nvSpPr>
        <p:spPr>
          <a:xfrm>
            <a:off x="10744200" y="1700784"/>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78.5%</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3" name="Shape 101"/>
          <p:cNvSpPr/>
          <p:nvPr/>
        </p:nvSpPr>
        <p:spPr>
          <a:xfrm>
            <a:off x="8220456" y="1990703"/>
            <a:ext cx="163154" cy="130168"/>
          </a:xfrm>
          <a:prstGeom prst="rect">
            <a:avLst/>
          </a:prstGeom>
          <a:solidFill>
            <a:srgbClr val="C2352F"/>
          </a:solidFill>
          <a:ln/>
        </p:spPr>
      </p:sp>
      <p:sp>
        <p:nvSpPr>
          <p:cNvPr id="104" name="Text 102"/>
          <p:cNvSpPr txBox="1"/>
          <p:nvPr/>
        </p:nvSpPr>
        <p:spPr>
          <a:xfrm>
            <a:off x="9025128"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05" name="Text 103"/>
          <p:cNvSpPr txBox="1"/>
          <p:nvPr/>
        </p:nvSpPr>
        <p:spPr>
          <a:xfrm>
            <a:off x="9811512" y="193745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9</a:t>
            </a:r>
            <a:endParaRPr lang="en-US" sz="1300" dirty="0"/>
          </a:p>
        </p:txBody>
      </p:sp>
      <p:sp>
        <p:nvSpPr>
          <p:cNvPr id="106" name="Text 104"/>
          <p:cNvSpPr txBox="1"/>
          <p:nvPr/>
        </p:nvSpPr>
        <p:spPr>
          <a:xfrm>
            <a:off x="10744200" y="193745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78.8%</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8" name="Shape 106"/>
          <p:cNvSpPr/>
          <p:nvPr/>
        </p:nvSpPr>
        <p:spPr>
          <a:xfrm>
            <a:off x="8220456" y="2227371"/>
            <a:ext cx="150261" cy="130168"/>
          </a:xfrm>
          <a:prstGeom prst="rect">
            <a:avLst/>
          </a:prstGeom>
          <a:solidFill>
            <a:srgbClr val="C2352F"/>
          </a:solidFill>
          <a:ln/>
        </p:spPr>
      </p:sp>
      <p:sp>
        <p:nvSpPr>
          <p:cNvPr id="109" name="Text 107"/>
          <p:cNvSpPr txBox="1"/>
          <p:nvPr/>
        </p:nvSpPr>
        <p:spPr>
          <a:xfrm>
            <a:off x="9025128"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10" name="Text 108"/>
          <p:cNvSpPr txBox="1"/>
          <p:nvPr/>
        </p:nvSpPr>
        <p:spPr>
          <a:xfrm>
            <a:off x="9811512" y="217412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11</a:t>
            </a:r>
            <a:endParaRPr lang="en-US" sz="1300" dirty="0"/>
          </a:p>
        </p:txBody>
      </p:sp>
      <p:sp>
        <p:nvSpPr>
          <p:cNvPr id="111" name="Text 109"/>
          <p:cNvSpPr txBox="1"/>
          <p:nvPr/>
        </p:nvSpPr>
        <p:spPr>
          <a:xfrm>
            <a:off x="10744200" y="217412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104.7%</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3" name="Shape 111"/>
          <p:cNvSpPr/>
          <p:nvPr/>
        </p:nvSpPr>
        <p:spPr>
          <a:xfrm>
            <a:off x="8220456" y="2464039"/>
            <a:ext cx="116946" cy="130168"/>
          </a:xfrm>
          <a:prstGeom prst="rect">
            <a:avLst/>
          </a:prstGeom>
          <a:solidFill>
            <a:srgbClr val="C2352F"/>
          </a:solidFill>
          <a:ln/>
        </p:spPr>
      </p:sp>
      <p:sp>
        <p:nvSpPr>
          <p:cNvPr id="114" name="Text 112"/>
          <p:cNvSpPr txBox="1"/>
          <p:nvPr/>
        </p:nvSpPr>
        <p:spPr>
          <a:xfrm>
            <a:off x="9025128"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15" name="Text 113"/>
          <p:cNvSpPr txBox="1"/>
          <p:nvPr/>
        </p:nvSpPr>
        <p:spPr>
          <a:xfrm>
            <a:off x="9811512" y="241078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19</a:t>
            </a:r>
            <a:endParaRPr lang="en-US" sz="1300" dirty="0"/>
          </a:p>
        </p:txBody>
      </p:sp>
      <p:sp>
        <p:nvSpPr>
          <p:cNvPr id="116" name="Text 114"/>
          <p:cNvSpPr txBox="1"/>
          <p:nvPr/>
        </p:nvSpPr>
        <p:spPr>
          <a:xfrm>
            <a:off x="10744200" y="241078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92.2%</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8" name="Shape 116"/>
          <p:cNvSpPr/>
          <p:nvPr/>
        </p:nvSpPr>
        <p:spPr>
          <a:xfrm>
            <a:off x="8220456" y="2700707"/>
            <a:ext cx="112759" cy="130168"/>
          </a:xfrm>
          <a:prstGeom prst="rect">
            <a:avLst/>
          </a:prstGeom>
          <a:solidFill>
            <a:srgbClr val="C2352F"/>
          </a:solidFill>
          <a:ln/>
        </p:spPr>
      </p:sp>
      <p:sp>
        <p:nvSpPr>
          <p:cNvPr id="119" name="Text 117"/>
          <p:cNvSpPr txBox="1"/>
          <p:nvPr/>
        </p:nvSpPr>
        <p:spPr>
          <a:xfrm>
            <a:off x="9025128"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20" name="Text 118"/>
          <p:cNvSpPr txBox="1"/>
          <p:nvPr/>
        </p:nvSpPr>
        <p:spPr>
          <a:xfrm>
            <a:off x="9811512" y="2647457"/>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11</a:t>
            </a:r>
            <a:endParaRPr lang="en-US" sz="1300" dirty="0"/>
          </a:p>
        </p:txBody>
      </p:sp>
      <p:sp>
        <p:nvSpPr>
          <p:cNvPr id="121" name="Text 119"/>
          <p:cNvSpPr txBox="1"/>
          <p:nvPr/>
        </p:nvSpPr>
        <p:spPr>
          <a:xfrm>
            <a:off x="10744200" y="2647457"/>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3" name="Shape 121"/>
          <p:cNvSpPr/>
          <p:nvPr/>
        </p:nvSpPr>
        <p:spPr>
          <a:xfrm>
            <a:off x="8220456" y="2937376"/>
            <a:ext cx="105168" cy="130168"/>
          </a:xfrm>
          <a:prstGeom prst="rect">
            <a:avLst/>
          </a:prstGeom>
          <a:solidFill>
            <a:srgbClr val="C2352F"/>
          </a:solidFill>
          <a:ln/>
        </p:spPr>
      </p:sp>
      <p:sp>
        <p:nvSpPr>
          <p:cNvPr id="124" name="Text 122"/>
          <p:cNvSpPr txBox="1"/>
          <p:nvPr/>
        </p:nvSpPr>
        <p:spPr>
          <a:xfrm>
            <a:off x="9025128"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25" name="Text 123"/>
          <p:cNvSpPr txBox="1"/>
          <p:nvPr/>
        </p:nvSpPr>
        <p:spPr>
          <a:xfrm>
            <a:off x="9811512" y="288412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12</a:t>
            </a:r>
            <a:endParaRPr lang="en-US" sz="1300" dirty="0"/>
          </a:p>
        </p:txBody>
      </p:sp>
      <p:sp>
        <p:nvSpPr>
          <p:cNvPr id="126" name="Text 124"/>
          <p:cNvSpPr txBox="1"/>
          <p:nvPr/>
        </p:nvSpPr>
        <p:spPr>
          <a:xfrm>
            <a:off x="10744200" y="288412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109.7%</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28" name="Shape 126"/>
          <p:cNvSpPr/>
          <p:nvPr/>
        </p:nvSpPr>
        <p:spPr>
          <a:xfrm>
            <a:off x="8220456" y="3174044"/>
            <a:ext cx="98507" cy="130168"/>
          </a:xfrm>
          <a:prstGeom prst="rect">
            <a:avLst/>
          </a:prstGeom>
          <a:solidFill>
            <a:srgbClr val="C2352F"/>
          </a:solidFill>
          <a:ln/>
        </p:spPr>
      </p:sp>
      <p:sp>
        <p:nvSpPr>
          <p:cNvPr id="129" name="Text 127"/>
          <p:cNvSpPr txBox="1"/>
          <p:nvPr/>
        </p:nvSpPr>
        <p:spPr>
          <a:xfrm>
            <a:off x="9025128"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30" name="Text 128"/>
          <p:cNvSpPr txBox="1"/>
          <p:nvPr/>
        </p:nvSpPr>
        <p:spPr>
          <a:xfrm>
            <a:off x="9811512" y="312079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5</a:t>
            </a:r>
            <a:endParaRPr lang="en-US" sz="1300" dirty="0"/>
          </a:p>
        </p:txBody>
      </p:sp>
      <p:sp>
        <p:nvSpPr>
          <p:cNvPr id="131" name="Text 129"/>
          <p:cNvSpPr txBox="1"/>
          <p:nvPr/>
        </p:nvSpPr>
        <p:spPr>
          <a:xfrm>
            <a:off x="10744200" y="312079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70.0%</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3" name="Shape 131"/>
          <p:cNvSpPr/>
          <p:nvPr/>
        </p:nvSpPr>
        <p:spPr>
          <a:xfrm>
            <a:off x="8220456" y="3410712"/>
            <a:ext cx="97766" cy="130168"/>
          </a:xfrm>
          <a:prstGeom prst="rect">
            <a:avLst/>
          </a:prstGeom>
          <a:solidFill>
            <a:srgbClr val="C2352F"/>
          </a:solidFill>
          <a:ln/>
        </p:spPr>
      </p:sp>
      <p:sp>
        <p:nvSpPr>
          <p:cNvPr id="134" name="Text 132"/>
          <p:cNvSpPr txBox="1"/>
          <p:nvPr/>
        </p:nvSpPr>
        <p:spPr>
          <a:xfrm>
            <a:off x="9025128"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35" name="Text 133"/>
          <p:cNvSpPr txBox="1"/>
          <p:nvPr/>
        </p:nvSpPr>
        <p:spPr>
          <a:xfrm>
            <a:off x="9811512" y="335746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6</a:t>
            </a:r>
            <a:endParaRPr lang="en-US" sz="1300" dirty="0"/>
          </a:p>
        </p:txBody>
      </p:sp>
      <p:sp>
        <p:nvSpPr>
          <p:cNvPr id="136" name="Text 134"/>
          <p:cNvSpPr txBox="1"/>
          <p:nvPr/>
        </p:nvSpPr>
        <p:spPr>
          <a:xfrm>
            <a:off x="10744200" y="335746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81.4%</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38" name="Shape 136"/>
          <p:cNvSpPr/>
          <p:nvPr/>
        </p:nvSpPr>
        <p:spPr>
          <a:xfrm>
            <a:off x="8220456" y="3647380"/>
            <a:ext cx="95452" cy="130168"/>
          </a:xfrm>
          <a:prstGeom prst="rect">
            <a:avLst/>
          </a:prstGeom>
          <a:solidFill>
            <a:srgbClr val="C2352F"/>
          </a:solidFill>
          <a:ln/>
        </p:spPr>
      </p:sp>
      <p:sp>
        <p:nvSpPr>
          <p:cNvPr id="139" name="Text 137"/>
          <p:cNvSpPr txBox="1"/>
          <p:nvPr/>
        </p:nvSpPr>
        <p:spPr>
          <a:xfrm>
            <a:off x="9025128"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40" name="Text 138"/>
          <p:cNvSpPr txBox="1"/>
          <p:nvPr/>
        </p:nvSpPr>
        <p:spPr>
          <a:xfrm>
            <a:off x="9811512" y="359413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10</a:t>
            </a:r>
            <a:endParaRPr lang="en-US" sz="1300" dirty="0"/>
          </a:p>
        </p:txBody>
      </p:sp>
      <p:sp>
        <p:nvSpPr>
          <p:cNvPr id="141" name="Text 139"/>
          <p:cNvSpPr txBox="1"/>
          <p:nvPr/>
        </p:nvSpPr>
        <p:spPr>
          <a:xfrm>
            <a:off x="10744200" y="359413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117.1%</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3" name="Shape 141"/>
          <p:cNvSpPr/>
          <p:nvPr/>
        </p:nvSpPr>
        <p:spPr>
          <a:xfrm>
            <a:off x="8220456" y="3884048"/>
            <a:ext cx="71097" cy="130168"/>
          </a:xfrm>
          <a:prstGeom prst="rect">
            <a:avLst/>
          </a:prstGeom>
          <a:solidFill>
            <a:srgbClr val="C2352F"/>
          </a:solidFill>
          <a:ln/>
        </p:spPr>
      </p:sp>
      <p:sp>
        <p:nvSpPr>
          <p:cNvPr id="144" name="Text 142"/>
          <p:cNvSpPr txBox="1"/>
          <p:nvPr/>
        </p:nvSpPr>
        <p:spPr>
          <a:xfrm>
            <a:off x="9025128"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45" name="Text 143"/>
          <p:cNvSpPr txBox="1"/>
          <p:nvPr/>
        </p:nvSpPr>
        <p:spPr>
          <a:xfrm>
            <a:off x="9811512" y="383079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7</a:t>
            </a:r>
            <a:endParaRPr lang="en-US" sz="1300" dirty="0"/>
          </a:p>
        </p:txBody>
      </p:sp>
      <p:sp>
        <p:nvSpPr>
          <p:cNvPr id="146" name="Text 144"/>
          <p:cNvSpPr txBox="1"/>
          <p:nvPr/>
        </p:nvSpPr>
        <p:spPr>
          <a:xfrm>
            <a:off x="10744200" y="383079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106.0%</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8" name="Shape 146"/>
          <p:cNvSpPr/>
          <p:nvPr/>
        </p:nvSpPr>
        <p:spPr>
          <a:xfrm>
            <a:off x="8220456" y="4120717"/>
            <a:ext cx="61565" cy="130168"/>
          </a:xfrm>
          <a:prstGeom prst="rect">
            <a:avLst/>
          </a:prstGeom>
          <a:solidFill>
            <a:srgbClr val="C2352F"/>
          </a:solidFill>
          <a:ln/>
        </p:spPr>
      </p:sp>
      <p:sp>
        <p:nvSpPr>
          <p:cNvPr id="149" name="Text 147"/>
          <p:cNvSpPr txBox="1"/>
          <p:nvPr/>
        </p:nvSpPr>
        <p:spPr>
          <a:xfrm>
            <a:off x="9025128"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50" name="Text 148"/>
          <p:cNvSpPr txBox="1"/>
          <p:nvPr/>
        </p:nvSpPr>
        <p:spPr>
          <a:xfrm>
            <a:off x="9811512" y="406746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28</a:t>
            </a:r>
            <a:endParaRPr lang="en-US" sz="1300" dirty="0"/>
          </a:p>
        </p:txBody>
      </p:sp>
      <p:sp>
        <p:nvSpPr>
          <p:cNvPr id="151" name="Text 149"/>
          <p:cNvSpPr txBox="1"/>
          <p:nvPr/>
        </p:nvSpPr>
        <p:spPr>
          <a:xfrm>
            <a:off x="10744200" y="406746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118.5%</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53" name="Shape 151"/>
          <p:cNvSpPr/>
          <p:nvPr/>
        </p:nvSpPr>
        <p:spPr>
          <a:xfrm>
            <a:off x="8220456" y="4357385"/>
            <a:ext cx="61457" cy="130168"/>
          </a:xfrm>
          <a:prstGeom prst="rect">
            <a:avLst/>
          </a:prstGeom>
          <a:solidFill>
            <a:srgbClr val="C2352F"/>
          </a:solidFill>
          <a:ln/>
        </p:spPr>
      </p:sp>
      <p:sp>
        <p:nvSpPr>
          <p:cNvPr id="154" name="Text 152"/>
          <p:cNvSpPr txBox="1"/>
          <p:nvPr/>
        </p:nvSpPr>
        <p:spPr>
          <a:xfrm>
            <a:off x="9025128"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55" name="Text 153"/>
          <p:cNvSpPr txBox="1"/>
          <p:nvPr/>
        </p:nvSpPr>
        <p:spPr>
          <a:xfrm>
            <a:off x="9811512" y="430413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22</a:t>
            </a:r>
            <a:endParaRPr lang="en-US" sz="1300" dirty="0"/>
          </a:p>
        </p:txBody>
      </p:sp>
      <p:sp>
        <p:nvSpPr>
          <p:cNvPr id="156" name="Text 154"/>
          <p:cNvSpPr txBox="1"/>
          <p:nvPr/>
        </p:nvSpPr>
        <p:spPr>
          <a:xfrm>
            <a:off x="10744200" y="430413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109.3%</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8" name="Shape 156"/>
          <p:cNvSpPr/>
          <p:nvPr/>
        </p:nvSpPr>
        <p:spPr>
          <a:xfrm>
            <a:off x="8220456" y="4594053"/>
            <a:ext cx="54038" cy="130168"/>
          </a:xfrm>
          <a:prstGeom prst="rect">
            <a:avLst/>
          </a:prstGeom>
          <a:solidFill>
            <a:srgbClr val="C2352F"/>
          </a:solidFill>
          <a:ln/>
        </p:spPr>
      </p:sp>
      <p:sp>
        <p:nvSpPr>
          <p:cNvPr id="159" name="Text 157"/>
          <p:cNvSpPr txBox="1"/>
          <p:nvPr/>
        </p:nvSpPr>
        <p:spPr>
          <a:xfrm>
            <a:off x="9025128"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60" name="Text 158"/>
          <p:cNvSpPr txBox="1"/>
          <p:nvPr/>
        </p:nvSpPr>
        <p:spPr>
          <a:xfrm>
            <a:off x="9811512" y="454080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28</a:t>
            </a:r>
            <a:endParaRPr lang="en-US" sz="1300" dirty="0"/>
          </a:p>
        </p:txBody>
      </p:sp>
      <p:sp>
        <p:nvSpPr>
          <p:cNvPr id="161" name="Text 159"/>
          <p:cNvSpPr txBox="1"/>
          <p:nvPr/>
        </p:nvSpPr>
        <p:spPr>
          <a:xfrm>
            <a:off x="10744200" y="454080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108.0%</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3" name="Shape 161"/>
          <p:cNvSpPr/>
          <p:nvPr/>
        </p:nvSpPr>
        <p:spPr>
          <a:xfrm>
            <a:off x="8220456" y="4830721"/>
            <a:ext cx="49766" cy="130168"/>
          </a:xfrm>
          <a:prstGeom prst="rect">
            <a:avLst/>
          </a:prstGeom>
          <a:solidFill>
            <a:srgbClr val="C2352F"/>
          </a:solidFill>
          <a:ln/>
        </p:spPr>
      </p:sp>
      <p:sp>
        <p:nvSpPr>
          <p:cNvPr id="164" name="Text 162"/>
          <p:cNvSpPr txBox="1"/>
          <p:nvPr/>
        </p:nvSpPr>
        <p:spPr>
          <a:xfrm>
            <a:off x="9025128"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65" name="Text 163"/>
          <p:cNvSpPr txBox="1"/>
          <p:nvPr/>
        </p:nvSpPr>
        <p:spPr>
          <a:xfrm>
            <a:off x="9811512" y="4777471"/>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18</a:t>
            </a:r>
            <a:endParaRPr lang="en-US" sz="1300" dirty="0"/>
          </a:p>
        </p:txBody>
      </p:sp>
      <p:sp>
        <p:nvSpPr>
          <p:cNvPr id="166" name="Text 164"/>
          <p:cNvSpPr txBox="1"/>
          <p:nvPr/>
        </p:nvSpPr>
        <p:spPr>
          <a:xfrm>
            <a:off x="10744200" y="4777471"/>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102.4%</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68" name="Shape 166"/>
          <p:cNvSpPr/>
          <p:nvPr/>
        </p:nvSpPr>
        <p:spPr>
          <a:xfrm>
            <a:off x="8220456" y="5067390"/>
            <a:ext cx="40736" cy="130168"/>
          </a:xfrm>
          <a:prstGeom prst="rect">
            <a:avLst/>
          </a:prstGeom>
          <a:solidFill>
            <a:srgbClr val="C2352F"/>
          </a:solidFill>
          <a:ln/>
        </p:spPr>
      </p:sp>
      <p:sp>
        <p:nvSpPr>
          <p:cNvPr id="169" name="Text 167"/>
          <p:cNvSpPr txBox="1"/>
          <p:nvPr/>
        </p:nvSpPr>
        <p:spPr>
          <a:xfrm>
            <a:off x="9025128"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170" name="Text 168"/>
          <p:cNvSpPr txBox="1"/>
          <p:nvPr/>
        </p:nvSpPr>
        <p:spPr>
          <a:xfrm>
            <a:off x="9811512" y="501413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11</a:t>
            </a:r>
            <a:endParaRPr lang="en-US" sz="1300" dirty="0"/>
          </a:p>
        </p:txBody>
      </p:sp>
      <p:sp>
        <p:nvSpPr>
          <p:cNvPr id="171" name="Text 169"/>
          <p:cNvSpPr txBox="1"/>
          <p:nvPr/>
        </p:nvSpPr>
        <p:spPr>
          <a:xfrm>
            <a:off x="10744200" y="501413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101.6%</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73" name="Shape 171"/>
          <p:cNvSpPr/>
          <p:nvPr/>
        </p:nvSpPr>
        <p:spPr>
          <a:xfrm>
            <a:off x="8220456" y="5304058"/>
            <a:ext cx="18288" cy="130168"/>
          </a:xfrm>
          <a:prstGeom prst="rect">
            <a:avLst/>
          </a:prstGeom>
          <a:solidFill>
            <a:srgbClr val="C2352F"/>
          </a:solidFill>
          <a:ln/>
        </p:spPr>
      </p:sp>
      <p:sp>
        <p:nvSpPr>
          <p:cNvPr id="174" name="Text 172"/>
          <p:cNvSpPr txBox="1"/>
          <p:nvPr/>
        </p:nvSpPr>
        <p:spPr>
          <a:xfrm>
            <a:off x="9025128"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175" name="Text 173"/>
          <p:cNvSpPr txBox="1"/>
          <p:nvPr/>
        </p:nvSpPr>
        <p:spPr>
          <a:xfrm>
            <a:off x="9811512" y="525080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15</a:t>
            </a:r>
            <a:endParaRPr lang="en-US" sz="1300" dirty="0"/>
          </a:p>
        </p:txBody>
      </p:sp>
      <p:sp>
        <p:nvSpPr>
          <p:cNvPr id="176" name="Text 174"/>
          <p:cNvSpPr txBox="1"/>
          <p:nvPr/>
        </p:nvSpPr>
        <p:spPr>
          <a:xfrm>
            <a:off x="10744200" y="525080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109.0%</a:t>
            </a:r>
            <a:endParaRPr lang="en-US" sz="1300" dirty="0"/>
          </a:p>
        </p:txBody>
      </p:sp>
      <p:sp>
        <p:nvSpPr>
          <p:cNvPr id="177" name="Shape 175"/>
          <p:cNvSpPr/>
          <p:nvPr/>
        </p:nvSpPr>
        <p:spPr>
          <a:xfrm>
            <a:off x="457200" y="5961888"/>
            <a:ext cx="11274552" cy="548640"/>
          </a:xfrm>
          <a:prstGeom prst="rect">
            <a:avLst/>
          </a:prstGeom>
          <a:solidFill>
            <a:srgbClr val="FBEBE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Six stores hold $647K a month, led by CADILLAC at $158K. 6 stores at or above 85% still leave $537K a month.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34670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330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0176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89711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6834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5217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3" name="Shape 11"/>
          <p:cNvSpPr/>
          <p:nvPr/>
        </p:nvSpPr>
        <p:spPr>
          <a:xfrm>
            <a:off x="2670048" y="1754034"/>
            <a:ext cx="621792" cy="130168"/>
          </a:xfrm>
          <a:prstGeom prst="rect">
            <a:avLst/>
          </a:prstGeom>
          <a:solidFill>
            <a:srgbClr val="C2352F"/>
          </a:solidFill>
          <a:ln/>
        </p:spPr>
      </p:sp>
      <p:sp>
        <p:nvSpPr>
          <p:cNvPr id="14" name="Text 12"/>
          <p:cNvSpPr txBox="1"/>
          <p:nvPr/>
        </p:nvSpPr>
        <p:spPr>
          <a:xfrm>
            <a:off x="3346704"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31.9%</a:t>
            </a:r>
            <a:endParaRPr lang="en-US" sz="1300" dirty="0"/>
          </a:p>
        </p:txBody>
      </p:sp>
      <p:sp>
        <p:nvSpPr>
          <p:cNvPr id="15" name="Text 13"/>
          <p:cNvSpPr txBox="1"/>
          <p:nvPr/>
        </p:nvSpPr>
        <p:spPr>
          <a:xfrm>
            <a:off x="4133088"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6" name="Text 14"/>
          <p:cNvSpPr txBox="1"/>
          <p:nvPr/>
        </p:nvSpPr>
        <p:spPr>
          <a:xfrm>
            <a:off x="5001768"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2670048" y="1990703"/>
            <a:ext cx="580151" cy="130168"/>
          </a:xfrm>
          <a:prstGeom prst="rect">
            <a:avLst/>
          </a:prstGeom>
          <a:solidFill>
            <a:srgbClr val="C2352F"/>
          </a:solidFill>
          <a:ln/>
        </p:spPr>
      </p:sp>
      <p:sp>
        <p:nvSpPr>
          <p:cNvPr id="19" name="Text 17"/>
          <p:cNvSpPr txBox="1"/>
          <p:nvPr/>
        </p:nvSpPr>
        <p:spPr>
          <a:xfrm>
            <a:off x="3346704"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29.7%</a:t>
            </a:r>
            <a:endParaRPr lang="en-US" sz="1300" dirty="0"/>
          </a:p>
        </p:txBody>
      </p:sp>
      <p:sp>
        <p:nvSpPr>
          <p:cNvPr id="20" name="Text 18"/>
          <p:cNvSpPr txBox="1"/>
          <p:nvPr/>
        </p:nvSpPr>
        <p:spPr>
          <a:xfrm>
            <a:off x="4133088"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1" name="Text 19"/>
          <p:cNvSpPr txBox="1"/>
          <p:nvPr/>
        </p:nvSpPr>
        <p:spPr>
          <a:xfrm>
            <a:off x="5001768"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3" name="Shape 21"/>
          <p:cNvSpPr/>
          <p:nvPr/>
        </p:nvSpPr>
        <p:spPr>
          <a:xfrm>
            <a:off x="2670048" y="2227371"/>
            <a:ext cx="495930" cy="130168"/>
          </a:xfrm>
          <a:prstGeom prst="rect">
            <a:avLst/>
          </a:prstGeom>
          <a:solidFill>
            <a:srgbClr val="C2352F"/>
          </a:solidFill>
          <a:ln/>
        </p:spPr>
      </p:sp>
      <p:sp>
        <p:nvSpPr>
          <p:cNvPr id="24" name="Text 22"/>
          <p:cNvSpPr txBox="1"/>
          <p:nvPr/>
        </p:nvSpPr>
        <p:spPr>
          <a:xfrm>
            <a:off x="3346704"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25.4%</a:t>
            </a:r>
            <a:endParaRPr lang="en-US" sz="1300" dirty="0"/>
          </a:p>
        </p:txBody>
      </p:sp>
      <p:sp>
        <p:nvSpPr>
          <p:cNvPr id="25" name="Text 23"/>
          <p:cNvSpPr txBox="1"/>
          <p:nvPr/>
        </p:nvSpPr>
        <p:spPr>
          <a:xfrm>
            <a:off x="4133088"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6" name="Text 24"/>
          <p:cNvSpPr txBox="1"/>
          <p:nvPr/>
        </p:nvSpPr>
        <p:spPr>
          <a:xfrm>
            <a:off x="5001768"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8" name="Shape 26"/>
          <p:cNvSpPr/>
          <p:nvPr/>
        </p:nvSpPr>
        <p:spPr>
          <a:xfrm>
            <a:off x="2670048" y="2464039"/>
            <a:ext cx="479181" cy="130168"/>
          </a:xfrm>
          <a:prstGeom prst="rect">
            <a:avLst/>
          </a:prstGeom>
          <a:solidFill>
            <a:srgbClr val="C2352F"/>
          </a:solidFill>
          <a:ln/>
        </p:spPr>
      </p:sp>
      <p:sp>
        <p:nvSpPr>
          <p:cNvPr id="29" name="Text 27"/>
          <p:cNvSpPr txBox="1"/>
          <p:nvPr/>
        </p:nvSpPr>
        <p:spPr>
          <a:xfrm>
            <a:off x="3346704"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24.6%</a:t>
            </a:r>
            <a:endParaRPr lang="en-US" sz="1300" dirty="0"/>
          </a:p>
        </p:txBody>
      </p:sp>
      <p:sp>
        <p:nvSpPr>
          <p:cNvPr id="30" name="Text 28"/>
          <p:cNvSpPr txBox="1"/>
          <p:nvPr/>
        </p:nvSpPr>
        <p:spPr>
          <a:xfrm>
            <a:off x="4133088"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1" name="Text 29"/>
          <p:cNvSpPr txBox="1"/>
          <p:nvPr/>
        </p:nvSpPr>
        <p:spPr>
          <a:xfrm>
            <a:off x="5001768"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2670048" y="2700707"/>
            <a:ext cx="453006" cy="130168"/>
          </a:xfrm>
          <a:prstGeom prst="rect">
            <a:avLst/>
          </a:prstGeom>
          <a:solidFill>
            <a:srgbClr val="C2352F"/>
          </a:solidFill>
          <a:ln/>
        </p:spPr>
      </p:sp>
      <p:sp>
        <p:nvSpPr>
          <p:cNvPr id="34" name="Text 32"/>
          <p:cNvSpPr txBox="1"/>
          <p:nvPr/>
        </p:nvSpPr>
        <p:spPr>
          <a:xfrm>
            <a:off x="3346704"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23.2%</a:t>
            </a:r>
            <a:endParaRPr lang="en-US" sz="1300" dirty="0"/>
          </a:p>
        </p:txBody>
      </p:sp>
      <p:sp>
        <p:nvSpPr>
          <p:cNvPr id="35" name="Text 33"/>
          <p:cNvSpPr txBox="1"/>
          <p:nvPr/>
        </p:nvSpPr>
        <p:spPr>
          <a:xfrm>
            <a:off x="4133088"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36" name="Text 34"/>
          <p:cNvSpPr txBox="1"/>
          <p:nvPr/>
        </p:nvSpPr>
        <p:spPr>
          <a:xfrm>
            <a:off x="5001768"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8" name="Shape 36"/>
          <p:cNvSpPr/>
          <p:nvPr/>
        </p:nvSpPr>
        <p:spPr>
          <a:xfrm>
            <a:off x="2670048" y="2937376"/>
            <a:ext cx="389713" cy="130168"/>
          </a:xfrm>
          <a:prstGeom prst="rect">
            <a:avLst/>
          </a:prstGeom>
          <a:solidFill>
            <a:srgbClr val="C2352F"/>
          </a:solidFill>
          <a:ln/>
        </p:spPr>
      </p:sp>
      <p:sp>
        <p:nvSpPr>
          <p:cNvPr id="39" name="Text 37"/>
          <p:cNvSpPr txBox="1"/>
          <p:nvPr/>
        </p:nvSpPr>
        <p:spPr>
          <a:xfrm>
            <a:off x="3346704"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20.0%</a:t>
            </a:r>
            <a:endParaRPr lang="en-US" sz="1300" dirty="0"/>
          </a:p>
        </p:txBody>
      </p:sp>
      <p:sp>
        <p:nvSpPr>
          <p:cNvPr id="40" name="Text 38"/>
          <p:cNvSpPr txBox="1"/>
          <p:nvPr/>
        </p:nvSpPr>
        <p:spPr>
          <a:xfrm>
            <a:off x="4133088"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1" name="Text 39"/>
          <p:cNvSpPr txBox="1"/>
          <p:nvPr/>
        </p:nvSpPr>
        <p:spPr>
          <a:xfrm>
            <a:off x="5001768"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3" name="Shape 41"/>
          <p:cNvSpPr/>
          <p:nvPr/>
        </p:nvSpPr>
        <p:spPr>
          <a:xfrm>
            <a:off x="2670048" y="3174044"/>
            <a:ext cx="381884" cy="130168"/>
          </a:xfrm>
          <a:prstGeom prst="rect">
            <a:avLst/>
          </a:prstGeom>
          <a:solidFill>
            <a:srgbClr val="C2352F"/>
          </a:solidFill>
          <a:ln/>
        </p:spPr>
      </p:sp>
      <p:sp>
        <p:nvSpPr>
          <p:cNvPr id="44" name="Text 42"/>
          <p:cNvSpPr txBox="1"/>
          <p:nvPr/>
        </p:nvSpPr>
        <p:spPr>
          <a:xfrm>
            <a:off x="3346704"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19.6%</a:t>
            </a:r>
            <a:endParaRPr lang="en-US" sz="1300" dirty="0"/>
          </a:p>
        </p:txBody>
      </p:sp>
      <p:sp>
        <p:nvSpPr>
          <p:cNvPr id="45" name="Text 43"/>
          <p:cNvSpPr txBox="1"/>
          <p:nvPr/>
        </p:nvSpPr>
        <p:spPr>
          <a:xfrm>
            <a:off x="4133088"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46" name="Text 44"/>
          <p:cNvSpPr txBox="1"/>
          <p:nvPr/>
        </p:nvSpPr>
        <p:spPr>
          <a:xfrm>
            <a:off x="5001768"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8" name="Shape 46"/>
          <p:cNvSpPr/>
          <p:nvPr/>
        </p:nvSpPr>
        <p:spPr>
          <a:xfrm>
            <a:off x="2670048" y="3410712"/>
            <a:ext cx="370032" cy="130168"/>
          </a:xfrm>
          <a:prstGeom prst="rect">
            <a:avLst/>
          </a:prstGeom>
          <a:solidFill>
            <a:srgbClr val="C2352F"/>
          </a:solidFill>
          <a:ln/>
        </p:spPr>
      </p:sp>
      <p:sp>
        <p:nvSpPr>
          <p:cNvPr id="49" name="Text 47"/>
          <p:cNvSpPr txBox="1"/>
          <p:nvPr/>
        </p:nvSpPr>
        <p:spPr>
          <a:xfrm>
            <a:off x="3346704"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19.0%</a:t>
            </a:r>
            <a:endParaRPr lang="en-US" sz="1300" dirty="0"/>
          </a:p>
        </p:txBody>
      </p:sp>
      <p:sp>
        <p:nvSpPr>
          <p:cNvPr id="50" name="Text 48"/>
          <p:cNvSpPr txBox="1"/>
          <p:nvPr/>
        </p:nvSpPr>
        <p:spPr>
          <a:xfrm>
            <a:off x="4133088"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1" name="Text 49"/>
          <p:cNvSpPr txBox="1"/>
          <p:nvPr/>
        </p:nvSpPr>
        <p:spPr>
          <a:xfrm>
            <a:off x="5001768"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53" name="Shape 51"/>
          <p:cNvSpPr/>
          <p:nvPr/>
        </p:nvSpPr>
        <p:spPr>
          <a:xfrm>
            <a:off x="2670048" y="3647380"/>
            <a:ext cx="361163" cy="130168"/>
          </a:xfrm>
          <a:prstGeom prst="rect">
            <a:avLst/>
          </a:prstGeom>
          <a:solidFill>
            <a:srgbClr val="C2352F"/>
          </a:solidFill>
          <a:ln/>
        </p:spPr>
      </p:sp>
      <p:sp>
        <p:nvSpPr>
          <p:cNvPr id="54" name="Text 52"/>
          <p:cNvSpPr txBox="1"/>
          <p:nvPr/>
        </p:nvSpPr>
        <p:spPr>
          <a:xfrm>
            <a:off x="3346704"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a:t>
            </a:r>
            <a:endParaRPr lang="en-US" sz="1300" dirty="0"/>
          </a:p>
        </p:txBody>
      </p:sp>
      <p:sp>
        <p:nvSpPr>
          <p:cNvPr id="55" name="Text 53"/>
          <p:cNvSpPr txBox="1"/>
          <p:nvPr/>
        </p:nvSpPr>
        <p:spPr>
          <a:xfrm>
            <a:off x="4133088"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56" name="Text 54"/>
          <p:cNvSpPr txBox="1"/>
          <p:nvPr/>
        </p:nvSpPr>
        <p:spPr>
          <a:xfrm>
            <a:off x="5001768"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8" name="Shape 56"/>
          <p:cNvSpPr/>
          <p:nvPr/>
        </p:nvSpPr>
        <p:spPr>
          <a:xfrm>
            <a:off x="2670048" y="3884048"/>
            <a:ext cx="289514" cy="130168"/>
          </a:xfrm>
          <a:prstGeom prst="rect">
            <a:avLst/>
          </a:prstGeom>
          <a:solidFill>
            <a:srgbClr val="C2352F"/>
          </a:solidFill>
          <a:ln/>
        </p:spPr>
      </p:sp>
      <p:sp>
        <p:nvSpPr>
          <p:cNvPr id="59" name="Text 57"/>
          <p:cNvSpPr txBox="1"/>
          <p:nvPr/>
        </p:nvSpPr>
        <p:spPr>
          <a:xfrm>
            <a:off x="3346704"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14.8%</a:t>
            </a:r>
            <a:endParaRPr lang="en-US" sz="1300" dirty="0"/>
          </a:p>
        </p:txBody>
      </p:sp>
      <p:sp>
        <p:nvSpPr>
          <p:cNvPr id="60" name="Text 58"/>
          <p:cNvSpPr txBox="1"/>
          <p:nvPr/>
        </p:nvSpPr>
        <p:spPr>
          <a:xfrm>
            <a:off x="4133088"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61" name="Text 59"/>
          <p:cNvSpPr txBox="1"/>
          <p:nvPr/>
        </p:nvSpPr>
        <p:spPr>
          <a:xfrm>
            <a:off x="5001768"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3" name="Shape 61"/>
          <p:cNvSpPr/>
          <p:nvPr/>
        </p:nvSpPr>
        <p:spPr>
          <a:xfrm>
            <a:off x="2670048" y="4120717"/>
            <a:ext cx="280378" cy="130168"/>
          </a:xfrm>
          <a:prstGeom prst="rect">
            <a:avLst/>
          </a:prstGeom>
          <a:solidFill>
            <a:srgbClr val="C2352F"/>
          </a:solidFill>
          <a:ln/>
        </p:spPr>
      </p:sp>
      <p:sp>
        <p:nvSpPr>
          <p:cNvPr id="64" name="Text 62"/>
          <p:cNvSpPr txBox="1"/>
          <p:nvPr/>
        </p:nvSpPr>
        <p:spPr>
          <a:xfrm>
            <a:off x="3346704"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14.4%</a:t>
            </a:r>
            <a:endParaRPr lang="en-US" sz="1300" dirty="0"/>
          </a:p>
        </p:txBody>
      </p:sp>
      <p:sp>
        <p:nvSpPr>
          <p:cNvPr id="65" name="Text 63"/>
          <p:cNvSpPr txBox="1"/>
          <p:nvPr/>
        </p:nvSpPr>
        <p:spPr>
          <a:xfrm>
            <a:off x="4133088"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66" name="Text 64"/>
          <p:cNvSpPr txBox="1"/>
          <p:nvPr/>
        </p:nvSpPr>
        <p:spPr>
          <a:xfrm>
            <a:off x="5001768"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8" name="Shape 66"/>
          <p:cNvSpPr/>
          <p:nvPr/>
        </p:nvSpPr>
        <p:spPr>
          <a:xfrm>
            <a:off x="2670048" y="4357385"/>
            <a:ext cx="265831" cy="130168"/>
          </a:xfrm>
          <a:prstGeom prst="rect">
            <a:avLst/>
          </a:prstGeom>
          <a:solidFill>
            <a:srgbClr val="C2352F"/>
          </a:solidFill>
          <a:ln/>
        </p:spPr>
      </p:sp>
      <p:sp>
        <p:nvSpPr>
          <p:cNvPr id="69" name="Text 67"/>
          <p:cNvSpPr txBox="1"/>
          <p:nvPr/>
        </p:nvSpPr>
        <p:spPr>
          <a:xfrm>
            <a:off x="3346704"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13.6%</a:t>
            </a:r>
            <a:endParaRPr lang="en-US" sz="1300" dirty="0"/>
          </a:p>
        </p:txBody>
      </p:sp>
      <p:sp>
        <p:nvSpPr>
          <p:cNvPr id="70" name="Text 68"/>
          <p:cNvSpPr txBox="1"/>
          <p:nvPr/>
        </p:nvSpPr>
        <p:spPr>
          <a:xfrm>
            <a:off x="4133088"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71" name="Text 69"/>
          <p:cNvSpPr txBox="1"/>
          <p:nvPr/>
        </p:nvSpPr>
        <p:spPr>
          <a:xfrm>
            <a:off x="5001768"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3" name="Shape 71"/>
          <p:cNvSpPr/>
          <p:nvPr/>
        </p:nvSpPr>
        <p:spPr>
          <a:xfrm>
            <a:off x="2670048" y="4594053"/>
            <a:ext cx="263180" cy="130168"/>
          </a:xfrm>
          <a:prstGeom prst="rect">
            <a:avLst/>
          </a:prstGeom>
          <a:solidFill>
            <a:srgbClr val="C2352F"/>
          </a:solidFill>
          <a:ln/>
        </p:spPr>
      </p:sp>
      <p:sp>
        <p:nvSpPr>
          <p:cNvPr id="74" name="Text 72"/>
          <p:cNvSpPr txBox="1"/>
          <p:nvPr/>
        </p:nvSpPr>
        <p:spPr>
          <a:xfrm>
            <a:off x="3346704"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a:t>
            </a:r>
            <a:endParaRPr lang="en-US" sz="1300" dirty="0"/>
          </a:p>
        </p:txBody>
      </p:sp>
      <p:sp>
        <p:nvSpPr>
          <p:cNvPr id="75" name="Text 73"/>
          <p:cNvSpPr txBox="1"/>
          <p:nvPr/>
        </p:nvSpPr>
        <p:spPr>
          <a:xfrm>
            <a:off x="4133088"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76" name="Text 74"/>
          <p:cNvSpPr txBox="1"/>
          <p:nvPr/>
        </p:nvSpPr>
        <p:spPr>
          <a:xfrm>
            <a:off x="5001768"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8" name="Shape 76"/>
          <p:cNvSpPr/>
          <p:nvPr/>
        </p:nvSpPr>
        <p:spPr>
          <a:xfrm>
            <a:off x="2670048" y="4830721"/>
            <a:ext cx="225366" cy="130168"/>
          </a:xfrm>
          <a:prstGeom prst="rect">
            <a:avLst/>
          </a:prstGeom>
          <a:solidFill>
            <a:srgbClr val="C2352F"/>
          </a:solidFill>
          <a:ln/>
        </p:spPr>
      </p:sp>
      <p:sp>
        <p:nvSpPr>
          <p:cNvPr id="79" name="Text 77"/>
          <p:cNvSpPr txBox="1"/>
          <p:nvPr/>
        </p:nvSpPr>
        <p:spPr>
          <a:xfrm>
            <a:off x="3346704"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11.6%</a:t>
            </a:r>
            <a:endParaRPr lang="en-US" sz="1300" dirty="0"/>
          </a:p>
        </p:txBody>
      </p:sp>
      <p:sp>
        <p:nvSpPr>
          <p:cNvPr id="80" name="Text 78"/>
          <p:cNvSpPr txBox="1"/>
          <p:nvPr/>
        </p:nvSpPr>
        <p:spPr>
          <a:xfrm>
            <a:off x="4133088"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81" name="Text 79"/>
          <p:cNvSpPr txBox="1"/>
          <p:nvPr/>
        </p:nvSpPr>
        <p:spPr>
          <a:xfrm>
            <a:off x="5001768"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3" name="Shape 81"/>
          <p:cNvSpPr/>
          <p:nvPr/>
        </p:nvSpPr>
        <p:spPr>
          <a:xfrm>
            <a:off x="2670048" y="5067390"/>
            <a:ext cx="175448" cy="130168"/>
          </a:xfrm>
          <a:prstGeom prst="rect">
            <a:avLst/>
          </a:prstGeom>
          <a:solidFill>
            <a:srgbClr val="C2352F"/>
          </a:solidFill>
          <a:ln/>
        </p:spPr>
      </p:sp>
      <p:sp>
        <p:nvSpPr>
          <p:cNvPr id="84" name="Text 82"/>
          <p:cNvSpPr txBox="1"/>
          <p:nvPr/>
        </p:nvSpPr>
        <p:spPr>
          <a:xfrm>
            <a:off x="3346704"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9.0%</a:t>
            </a:r>
            <a:endParaRPr lang="en-US" sz="1300" dirty="0"/>
          </a:p>
        </p:txBody>
      </p:sp>
      <p:sp>
        <p:nvSpPr>
          <p:cNvPr id="85" name="Text 83"/>
          <p:cNvSpPr txBox="1"/>
          <p:nvPr/>
        </p:nvSpPr>
        <p:spPr>
          <a:xfrm>
            <a:off x="4133088"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86" name="Text 84"/>
          <p:cNvSpPr txBox="1"/>
          <p:nvPr/>
        </p:nvSpPr>
        <p:spPr>
          <a:xfrm>
            <a:off x="5001768"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8" name="Shape 86"/>
          <p:cNvSpPr/>
          <p:nvPr/>
        </p:nvSpPr>
        <p:spPr>
          <a:xfrm>
            <a:off x="2670048" y="5304058"/>
            <a:ext cx="161118" cy="130168"/>
          </a:xfrm>
          <a:prstGeom prst="rect">
            <a:avLst/>
          </a:prstGeom>
          <a:solidFill>
            <a:srgbClr val="C2352F"/>
          </a:solidFill>
          <a:ln/>
        </p:spPr>
      </p:sp>
      <p:sp>
        <p:nvSpPr>
          <p:cNvPr id="89" name="Text 87"/>
          <p:cNvSpPr txBox="1"/>
          <p:nvPr/>
        </p:nvSpPr>
        <p:spPr>
          <a:xfrm>
            <a:off x="3346704"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a:t>
            </a:r>
            <a:endParaRPr lang="en-US" sz="1300" dirty="0"/>
          </a:p>
        </p:txBody>
      </p:sp>
      <p:sp>
        <p:nvSpPr>
          <p:cNvPr id="90" name="Text 88"/>
          <p:cNvSpPr txBox="1"/>
          <p:nvPr/>
        </p:nvSpPr>
        <p:spPr>
          <a:xfrm>
            <a:off x="4133088"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91" name="Text 89"/>
          <p:cNvSpPr txBox="1"/>
          <p:nvPr/>
        </p:nvSpPr>
        <p:spPr>
          <a:xfrm>
            <a:off x="5001768"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93" name="Shape 91"/>
          <p:cNvSpPr/>
          <p:nvPr/>
        </p:nvSpPr>
        <p:spPr>
          <a:xfrm>
            <a:off x="2670048" y="5540726"/>
            <a:ext cx="155810" cy="130168"/>
          </a:xfrm>
          <a:prstGeom prst="rect">
            <a:avLst/>
          </a:prstGeom>
          <a:solidFill>
            <a:srgbClr val="C2352F"/>
          </a:solidFill>
          <a:ln/>
        </p:spPr>
      </p:sp>
      <p:sp>
        <p:nvSpPr>
          <p:cNvPr id="94" name="Text 92"/>
          <p:cNvSpPr txBox="1"/>
          <p:nvPr/>
        </p:nvSpPr>
        <p:spPr>
          <a:xfrm>
            <a:off x="3346704" y="548747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a:t>
            </a:r>
            <a:endParaRPr lang="en-US" sz="1300" dirty="0"/>
          </a:p>
        </p:txBody>
      </p:sp>
      <p:sp>
        <p:nvSpPr>
          <p:cNvPr id="95" name="Text 93"/>
          <p:cNvSpPr txBox="1"/>
          <p:nvPr/>
        </p:nvSpPr>
        <p:spPr>
          <a:xfrm>
            <a:off x="4133088" y="548747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96" name="Text 94"/>
          <p:cNvSpPr txBox="1"/>
          <p:nvPr/>
        </p:nvSpPr>
        <p:spPr>
          <a:xfrm>
            <a:off x="5001768" y="548747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220456" y="1754034"/>
            <a:ext cx="155313" cy="130168"/>
          </a:xfrm>
          <a:prstGeom prst="rect">
            <a:avLst/>
          </a:prstGeom>
          <a:solidFill>
            <a:srgbClr val="C2352F"/>
          </a:solidFill>
          <a:ln/>
        </p:spPr>
      </p:sp>
      <p:sp>
        <p:nvSpPr>
          <p:cNvPr id="99" name="Text 97"/>
          <p:cNvSpPr txBox="1"/>
          <p:nvPr/>
        </p:nvSpPr>
        <p:spPr>
          <a:xfrm>
            <a:off x="8897112"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a:t>
            </a:r>
            <a:endParaRPr lang="en-US" sz="1300" dirty="0"/>
          </a:p>
        </p:txBody>
      </p:sp>
      <p:sp>
        <p:nvSpPr>
          <p:cNvPr id="100" name="Text 98"/>
          <p:cNvSpPr txBox="1"/>
          <p:nvPr/>
        </p:nvSpPr>
        <p:spPr>
          <a:xfrm>
            <a:off x="9683496"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01" name="Text 99"/>
          <p:cNvSpPr txBox="1"/>
          <p:nvPr/>
        </p:nvSpPr>
        <p:spPr>
          <a:xfrm>
            <a:off x="10552176"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3" name="Shape 101"/>
          <p:cNvSpPr/>
          <p:nvPr/>
        </p:nvSpPr>
        <p:spPr>
          <a:xfrm>
            <a:off x="8220456" y="1990703"/>
            <a:ext cx="154055" cy="130168"/>
          </a:xfrm>
          <a:prstGeom prst="rect">
            <a:avLst/>
          </a:prstGeom>
          <a:solidFill>
            <a:srgbClr val="C2352F"/>
          </a:solidFill>
          <a:ln/>
        </p:spPr>
      </p:sp>
      <p:sp>
        <p:nvSpPr>
          <p:cNvPr id="104" name="Text 102"/>
          <p:cNvSpPr txBox="1"/>
          <p:nvPr/>
        </p:nvSpPr>
        <p:spPr>
          <a:xfrm>
            <a:off x="8897112"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endParaRPr lang="en-US" sz="1300" dirty="0"/>
          </a:p>
        </p:txBody>
      </p:sp>
      <p:sp>
        <p:nvSpPr>
          <p:cNvPr id="105" name="Text 103"/>
          <p:cNvSpPr txBox="1"/>
          <p:nvPr/>
        </p:nvSpPr>
        <p:spPr>
          <a:xfrm>
            <a:off x="9683496"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06" name="Text 104"/>
          <p:cNvSpPr txBox="1"/>
          <p:nvPr/>
        </p:nvSpPr>
        <p:spPr>
          <a:xfrm>
            <a:off x="10552176"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8" name="Shape 106"/>
          <p:cNvSpPr/>
          <p:nvPr/>
        </p:nvSpPr>
        <p:spPr>
          <a:xfrm>
            <a:off x="8220456" y="2227371"/>
            <a:ext cx="148215" cy="130168"/>
          </a:xfrm>
          <a:prstGeom prst="rect">
            <a:avLst/>
          </a:prstGeom>
          <a:solidFill>
            <a:srgbClr val="C2352F"/>
          </a:solidFill>
          <a:ln/>
        </p:spPr>
      </p:sp>
      <p:sp>
        <p:nvSpPr>
          <p:cNvPr id="109" name="Text 107"/>
          <p:cNvSpPr txBox="1"/>
          <p:nvPr/>
        </p:nvSpPr>
        <p:spPr>
          <a:xfrm>
            <a:off x="8897112"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a:t>
            </a:r>
            <a:endParaRPr lang="en-US" sz="1300" dirty="0"/>
          </a:p>
        </p:txBody>
      </p:sp>
      <p:sp>
        <p:nvSpPr>
          <p:cNvPr id="110" name="Text 108"/>
          <p:cNvSpPr txBox="1"/>
          <p:nvPr/>
        </p:nvSpPr>
        <p:spPr>
          <a:xfrm>
            <a:off x="9683496"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11" name="Text 109"/>
          <p:cNvSpPr txBox="1"/>
          <p:nvPr/>
        </p:nvSpPr>
        <p:spPr>
          <a:xfrm>
            <a:off x="10552176"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3" name="Shape 111"/>
          <p:cNvSpPr/>
          <p:nvPr/>
        </p:nvSpPr>
        <p:spPr>
          <a:xfrm>
            <a:off x="8220456" y="2464039"/>
            <a:ext cx="113006" cy="130168"/>
          </a:xfrm>
          <a:prstGeom prst="rect">
            <a:avLst/>
          </a:prstGeom>
          <a:solidFill>
            <a:srgbClr val="C2352F"/>
          </a:solidFill>
          <a:ln/>
        </p:spPr>
      </p:sp>
      <p:sp>
        <p:nvSpPr>
          <p:cNvPr id="114" name="Text 112"/>
          <p:cNvSpPr txBox="1"/>
          <p:nvPr/>
        </p:nvSpPr>
        <p:spPr>
          <a:xfrm>
            <a:off x="8897112"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a:t>
            </a:r>
            <a:endParaRPr lang="en-US" sz="1300" dirty="0"/>
          </a:p>
        </p:txBody>
      </p:sp>
      <p:sp>
        <p:nvSpPr>
          <p:cNvPr id="115" name="Text 113"/>
          <p:cNvSpPr txBox="1"/>
          <p:nvPr/>
        </p:nvSpPr>
        <p:spPr>
          <a:xfrm>
            <a:off x="9683496"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16" name="Text 114"/>
          <p:cNvSpPr txBox="1"/>
          <p:nvPr/>
        </p:nvSpPr>
        <p:spPr>
          <a:xfrm>
            <a:off x="10552176"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18" name="Shape 116"/>
          <p:cNvSpPr/>
          <p:nvPr/>
        </p:nvSpPr>
        <p:spPr>
          <a:xfrm>
            <a:off x="8220456" y="2700707"/>
            <a:ext cx="100935" cy="130168"/>
          </a:xfrm>
          <a:prstGeom prst="rect">
            <a:avLst/>
          </a:prstGeom>
          <a:solidFill>
            <a:srgbClr val="C2352F"/>
          </a:solidFill>
          <a:ln/>
        </p:spPr>
      </p:sp>
      <p:sp>
        <p:nvSpPr>
          <p:cNvPr id="119" name="Text 117"/>
          <p:cNvSpPr txBox="1"/>
          <p:nvPr/>
        </p:nvSpPr>
        <p:spPr>
          <a:xfrm>
            <a:off x="8897112"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5.2%</a:t>
            </a:r>
            <a:endParaRPr lang="en-US" sz="1300" dirty="0"/>
          </a:p>
        </p:txBody>
      </p:sp>
      <p:sp>
        <p:nvSpPr>
          <p:cNvPr id="120" name="Text 118"/>
          <p:cNvSpPr txBox="1"/>
          <p:nvPr/>
        </p:nvSpPr>
        <p:spPr>
          <a:xfrm>
            <a:off x="9683496"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21" name="Text 119"/>
          <p:cNvSpPr txBox="1"/>
          <p:nvPr/>
        </p:nvSpPr>
        <p:spPr>
          <a:xfrm>
            <a:off x="10552176"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23" name="Shape 121"/>
          <p:cNvSpPr/>
          <p:nvPr/>
        </p:nvSpPr>
        <p:spPr>
          <a:xfrm>
            <a:off x="8220456" y="2937376"/>
            <a:ext cx="93000" cy="130168"/>
          </a:xfrm>
          <a:prstGeom prst="rect">
            <a:avLst/>
          </a:prstGeom>
          <a:solidFill>
            <a:srgbClr val="C2352F"/>
          </a:solidFill>
          <a:ln/>
        </p:spPr>
      </p:sp>
      <p:sp>
        <p:nvSpPr>
          <p:cNvPr id="124" name="Text 122"/>
          <p:cNvSpPr txBox="1"/>
          <p:nvPr/>
        </p:nvSpPr>
        <p:spPr>
          <a:xfrm>
            <a:off x="8897112"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a:t>
            </a:r>
            <a:endParaRPr lang="en-US" sz="1300" dirty="0"/>
          </a:p>
        </p:txBody>
      </p:sp>
      <p:sp>
        <p:nvSpPr>
          <p:cNvPr id="125" name="Text 123"/>
          <p:cNvSpPr txBox="1"/>
          <p:nvPr/>
        </p:nvSpPr>
        <p:spPr>
          <a:xfrm>
            <a:off x="9683496"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26" name="Text 124"/>
          <p:cNvSpPr txBox="1"/>
          <p:nvPr/>
        </p:nvSpPr>
        <p:spPr>
          <a:xfrm>
            <a:off x="10552176"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28" name="Shape 126"/>
          <p:cNvSpPr/>
          <p:nvPr/>
        </p:nvSpPr>
        <p:spPr>
          <a:xfrm>
            <a:off x="8220456" y="3174044"/>
            <a:ext cx="81778" cy="130168"/>
          </a:xfrm>
          <a:prstGeom prst="rect">
            <a:avLst/>
          </a:prstGeom>
          <a:solidFill>
            <a:srgbClr val="C2352F"/>
          </a:solidFill>
          <a:ln/>
        </p:spPr>
      </p:sp>
      <p:sp>
        <p:nvSpPr>
          <p:cNvPr id="129" name="Text 127"/>
          <p:cNvSpPr txBox="1"/>
          <p:nvPr/>
        </p:nvSpPr>
        <p:spPr>
          <a:xfrm>
            <a:off x="8897112"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a:t>
            </a:r>
            <a:endParaRPr lang="en-US" sz="1300" dirty="0"/>
          </a:p>
        </p:txBody>
      </p:sp>
      <p:sp>
        <p:nvSpPr>
          <p:cNvPr id="130" name="Text 128"/>
          <p:cNvSpPr txBox="1"/>
          <p:nvPr/>
        </p:nvSpPr>
        <p:spPr>
          <a:xfrm>
            <a:off x="9683496"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31" name="Text 129"/>
          <p:cNvSpPr txBox="1"/>
          <p:nvPr/>
        </p:nvSpPr>
        <p:spPr>
          <a:xfrm>
            <a:off x="10552176"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3" name="Shape 131"/>
          <p:cNvSpPr/>
          <p:nvPr/>
        </p:nvSpPr>
        <p:spPr>
          <a:xfrm>
            <a:off x="8220456" y="3410712"/>
            <a:ext cx="79315" cy="130168"/>
          </a:xfrm>
          <a:prstGeom prst="rect">
            <a:avLst/>
          </a:prstGeom>
          <a:solidFill>
            <a:srgbClr val="C2352F"/>
          </a:solidFill>
          <a:ln/>
        </p:spPr>
      </p:sp>
      <p:sp>
        <p:nvSpPr>
          <p:cNvPr id="134" name="Text 132"/>
          <p:cNvSpPr txBox="1"/>
          <p:nvPr/>
        </p:nvSpPr>
        <p:spPr>
          <a:xfrm>
            <a:off x="8897112"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a:t>
            </a:r>
            <a:endParaRPr lang="en-US" sz="1300" dirty="0"/>
          </a:p>
        </p:txBody>
      </p:sp>
      <p:sp>
        <p:nvSpPr>
          <p:cNvPr id="135" name="Text 133"/>
          <p:cNvSpPr txBox="1"/>
          <p:nvPr/>
        </p:nvSpPr>
        <p:spPr>
          <a:xfrm>
            <a:off x="9683496"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36" name="Text 134"/>
          <p:cNvSpPr txBox="1"/>
          <p:nvPr/>
        </p:nvSpPr>
        <p:spPr>
          <a:xfrm>
            <a:off x="10552176"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38" name="Shape 136"/>
          <p:cNvSpPr/>
          <p:nvPr/>
        </p:nvSpPr>
        <p:spPr>
          <a:xfrm>
            <a:off x="8220456" y="3647380"/>
            <a:ext cx="77721" cy="130168"/>
          </a:xfrm>
          <a:prstGeom prst="rect">
            <a:avLst/>
          </a:prstGeom>
          <a:solidFill>
            <a:srgbClr val="C2352F"/>
          </a:solidFill>
          <a:ln/>
        </p:spPr>
      </p:sp>
      <p:sp>
        <p:nvSpPr>
          <p:cNvPr id="139" name="Text 137"/>
          <p:cNvSpPr txBox="1"/>
          <p:nvPr/>
        </p:nvSpPr>
        <p:spPr>
          <a:xfrm>
            <a:off x="8897112"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a:t>
            </a:r>
            <a:endParaRPr lang="en-US" sz="1300" dirty="0"/>
          </a:p>
        </p:txBody>
      </p:sp>
      <p:sp>
        <p:nvSpPr>
          <p:cNvPr id="140" name="Text 138"/>
          <p:cNvSpPr txBox="1"/>
          <p:nvPr/>
        </p:nvSpPr>
        <p:spPr>
          <a:xfrm>
            <a:off x="9683496"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41" name="Text 139"/>
          <p:cNvSpPr txBox="1"/>
          <p:nvPr/>
        </p:nvSpPr>
        <p:spPr>
          <a:xfrm>
            <a:off x="10552176"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43" name="Shape 141"/>
          <p:cNvSpPr/>
          <p:nvPr/>
        </p:nvSpPr>
        <p:spPr>
          <a:xfrm>
            <a:off x="8220456" y="3884048"/>
            <a:ext cx="56042" cy="130168"/>
          </a:xfrm>
          <a:prstGeom prst="rect">
            <a:avLst/>
          </a:prstGeom>
          <a:solidFill>
            <a:srgbClr val="C2352F"/>
          </a:solidFill>
          <a:ln/>
        </p:spPr>
      </p:sp>
      <p:sp>
        <p:nvSpPr>
          <p:cNvPr id="144" name="Text 142"/>
          <p:cNvSpPr txBox="1"/>
          <p:nvPr/>
        </p:nvSpPr>
        <p:spPr>
          <a:xfrm>
            <a:off x="8897112"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a:t>
            </a:r>
            <a:endParaRPr lang="en-US" sz="1300" dirty="0"/>
          </a:p>
        </p:txBody>
      </p:sp>
      <p:sp>
        <p:nvSpPr>
          <p:cNvPr id="145" name="Text 143"/>
          <p:cNvSpPr txBox="1"/>
          <p:nvPr/>
        </p:nvSpPr>
        <p:spPr>
          <a:xfrm>
            <a:off x="9683496"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46" name="Text 144"/>
          <p:cNvSpPr txBox="1"/>
          <p:nvPr/>
        </p:nvSpPr>
        <p:spPr>
          <a:xfrm>
            <a:off x="10552176"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48" name="Shape 146"/>
          <p:cNvSpPr/>
          <p:nvPr/>
        </p:nvSpPr>
        <p:spPr>
          <a:xfrm>
            <a:off x="8220456" y="4120717"/>
            <a:ext cx="51888" cy="130168"/>
          </a:xfrm>
          <a:prstGeom prst="rect">
            <a:avLst/>
          </a:prstGeom>
          <a:solidFill>
            <a:srgbClr val="C2352F"/>
          </a:solidFill>
          <a:ln/>
        </p:spPr>
      </p:sp>
      <p:sp>
        <p:nvSpPr>
          <p:cNvPr id="149" name="Text 147"/>
          <p:cNvSpPr txBox="1"/>
          <p:nvPr/>
        </p:nvSpPr>
        <p:spPr>
          <a:xfrm>
            <a:off x="8897112"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a:t>
            </a:r>
            <a:endParaRPr lang="en-US" sz="1300" dirty="0"/>
          </a:p>
        </p:txBody>
      </p:sp>
      <p:sp>
        <p:nvSpPr>
          <p:cNvPr id="150" name="Text 148"/>
          <p:cNvSpPr txBox="1"/>
          <p:nvPr/>
        </p:nvSpPr>
        <p:spPr>
          <a:xfrm>
            <a:off x="9683496"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51" name="Text 149"/>
          <p:cNvSpPr txBox="1"/>
          <p:nvPr/>
        </p:nvSpPr>
        <p:spPr>
          <a:xfrm>
            <a:off x="10552176"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3" name="Shape 151"/>
          <p:cNvSpPr/>
          <p:nvPr/>
        </p:nvSpPr>
        <p:spPr>
          <a:xfrm>
            <a:off x="8220456" y="4357385"/>
            <a:ext cx="37656" cy="130168"/>
          </a:xfrm>
          <a:prstGeom prst="rect">
            <a:avLst/>
          </a:prstGeom>
          <a:solidFill>
            <a:srgbClr val="C2352F"/>
          </a:solidFill>
          <a:ln/>
        </p:spPr>
      </p:sp>
      <p:sp>
        <p:nvSpPr>
          <p:cNvPr id="154" name="Text 152"/>
          <p:cNvSpPr txBox="1"/>
          <p:nvPr/>
        </p:nvSpPr>
        <p:spPr>
          <a:xfrm>
            <a:off x="8897112"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155" name="Text 153"/>
          <p:cNvSpPr txBox="1"/>
          <p:nvPr/>
        </p:nvSpPr>
        <p:spPr>
          <a:xfrm>
            <a:off x="9683496"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56" name="Text 154"/>
          <p:cNvSpPr txBox="1"/>
          <p:nvPr/>
        </p:nvSpPr>
        <p:spPr>
          <a:xfrm>
            <a:off x="10552176"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8" name="Shape 156"/>
          <p:cNvSpPr/>
          <p:nvPr/>
        </p:nvSpPr>
        <p:spPr>
          <a:xfrm>
            <a:off x="8220456" y="4594053"/>
            <a:ext cx="36383" cy="130168"/>
          </a:xfrm>
          <a:prstGeom prst="rect">
            <a:avLst/>
          </a:prstGeom>
          <a:solidFill>
            <a:srgbClr val="C2352F"/>
          </a:solidFill>
          <a:ln/>
        </p:spPr>
      </p:sp>
      <p:sp>
        <p:nvSpPr>
          <p:cNvPr id="159" name="Text 157"/>
          <p:cNvSpPr txBox="1"/>
          <p:nvPr/>
        </p:nvSpPr>
        <p:spPr>
          <a:xfrm>
            <a:off x="8897112"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160" name="Text 158"/>
          <p:cNvSpPr txBox="1"/>
          <p:nvPr/>
        </p:nvSpPr>
        <p:spPr>
          <a:xfrm>
            <a:off x="9683496"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61" name="Text 159"/>
          <p:cNvSpPr txBox="1"/>
          <p:nvPr/>
        </p:nvSpPr>
        <p:spPr>
          <a:xfrm>
            <a:off x="10552176"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3" name="Shape 161"/>
          <p:cNvSpPr/>
          <p:nvPr/>
        </p:nvSpPr>
        <p:spPr>
          <a:xfrm>
            <a:off x="8220456" y="4830721"/>
            <a:ext cx="26547" cy="130168"/>
          </a:xfrm>
          <a:prstGeom prst="rect">
            <a:avLst/>
          </a:prstGeom>
          <a:solidFill>
            <a:srgbClr val="C2352F"/>
          </a:solidFill>
          <a:ln/>
        </p:spPr>
      </p:sp>
      <p:sp>
        <p:nvSpPr>
          <p:cNvPr id="164" name="Text 162"/>
          <p:cNvSpPr txBox="1"/>
          <p:nvPr/>
        </p:nvSpPr>
        <p:spPr>
          <a:xfrm>
            <a:off x="8897112"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165" name="Text 163"/>
          <p:cNvSpPr txBox="1"/>
          <p:nvPr/>
        </p:nvSpPr>
        <p:spPr>
          <a:xfrm>
            <a:off x="9683496"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66" name="Text 164"/>
          <p:cNvSpPr txBox="1"/>
          <p:nvPr/>
        </p:nvSpPr>
        <p:spPr>
          <a:xfrm>
            <a:off x="10552176"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68" name="Shape 166"/>
          <p:cNvSpPr/>
          <p:nvPr/>
        </p:nvSpPr>
        <p:spPr>
          <a:xfrm>
            <a:off x="8220456" y="5067390"/>
            <a:ext cx="18288" cy="130168"/>
          </a:xfrm>
          <a:prstGeom prst="rect">
            <a:avLst/>
          </a:prstGeom>
          <a:solidFill>
            <a:srgbClr val="C2352F"/>
          </a:solidFill>
          <a:ln/>
        </p:spPr>
      </p:sp>
      <p:sp>
        <p:nvSpPr>
          <p:cNvPr id="169" name="Text 167"/>
          <p:cNvSpPr txBox="1"/>
          <p:nvPr/>
        </p:nvSpPr>
        <p:spPr>
          <a:xfrm>
            <a:off x="8897112"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0.8%</a:t>
            </a:r>
            <a:endParaRPr lang="en-US" sz="1300" dirty="0"/>
          </a:p>
        </p:txBody>
      </p:sp>
      <p:sp>
        <p:nvSpPr>
          <p:cNvPr id="170" name="Text 168"/>
          <p:cNvSpPr txBox="1"/>
          <p:nvPr/>
        </p:nvSpPr>
        <p:spPr>
          <a:xfrm>
            <a:off x="9683496"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71" name="Text 169"/>
          <p:cNvSpPr txBox="1"/>
          <p:nvPr/>
        </p:nvSpPr>
        <p:spPr>
          <a:xfrm>
            <a:off x="10552176"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73" name="Shape 171"/>
          <p:cNvSpPr/>
          <p:nvPr/>
        </p:nvSpPr>
        <p:spPr>
          <a:xfrm>
            <a:off x="8220456" y="5304058"/>
            <a:ext cx="18288" cy="130168"/>
          </a:xfrm>
          <a:prstGeom prst="rect">
            <a:avLst/>
          </a:prstGeom>
          <a:solidFill>
            <a:srgbClr val="C2352F"/>
          </a:solidFill>
          <a:ln/>
        </p:spPr>
      </p:sp>
      <p:sp>
        <p:nvSpPr>
          <p:cNvPr id="174" name="Text 172"/>
          <p:cNvSpPr txBox="1"/>
          <p:nvPr/>
        </p:nvSpPr>
        <p:spPr>
          <a:xfrm>
            <a:off x="8897112"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0.2%</a:t>
            </a:r>
            <a:endParaRPr lang="en-US" sz="1300" dirty="0"/>
          </a:p>
        </p:txBody>
      </p:sp>
      <p:sp>
        <p:nvSpPr>
          <p:cNvPr id="175" name="Text 173"/>
          <p:cNvSpPr txBox="1"/>
          <p:nvPr/>
        </p:nvSpPr>
        <p:spPr>
          <a:xfrm>
            <a:off x="9683496"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176" name="Text 174"/>
          <p:cNvSpPr txBox="1"/>
          <p:nvPr/>
        </p:nvSpPr>
        <p:spPr>
          <a:xfrm>
            <a:off x="10552176"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177" name="Shape 175"/>
          <p:cNvSpPr/>
          <p:nvPr/>
        </p:nvSpPr>
        <p:spPr>
          <a:xfrm>
            <a:off x="457200" y="5961888"/>
            <a:ext cx="11274552" cy="548640"/>
          </a:xfrm>
          <a:prstGeom prst="rect">
            <a:avLst/>
          </a:prstGeom>
          <a:solidFill>
            <a:srgbClr val="FBEBE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5 stores are missing a fifth or more, led by HYUNDAI ST GEORGE at 32% ($88K of $277K a month).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182880" cy="182880"/>
          </a:xfrm>
          <a:prstGeom prst="ellipse">
            <a:avLst/>
          </a:prstGeom>
          <a:solidFill>
            <a:srgbClr val="C2352F"/>
          </a:solidFill>
          <a:ln/>
        </p:spPr>
      </p:sp>
      <p:sp>
        <p:nvSpPr>
          <p:cNvPr id="7" name="Text 5"/>
          <p:cNvSpPr txBox="1"/>
          <p:nvPr/>
        </p:nvSpPr>
        <p:spPr>
          <a:xfrm>
            <a:off x="932688"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Store proficiency (green at or above 85%)</a:t>
            </a:r>
            <a:endParaRPr lang="en-US" sz="1400" dirty="0"/>
          </a:p>
        </p:txBody>
      </p:sp>
      <p:sp>
        <p:nvSpPr>
          <p:cNvPr id="8" name="Shape 6"/>
          <p:cNvSpPr/>
          <p:nvPr/>
        </p:nvSpPr>
        <p:spPr>
          <a:xfrm>
            <a:off x="6208776" y="1371600"/>
            <a:ext cx="182880" cy="182880"/>
          </a:xfrm>
          <a:prstGeom prst="ellipse">
            <a:avLst/>
          </a:prstGeom>
          <a:solidFill>
            <a:srgbClr val="0B2C4A"/>
          </a:solidFill>
          <a:ln/>
        </p:spPr>
      </p:sp>
      <p:sp>
        <p:nvSpPr>
          <p:cNvPr id="9" name="Text 7"/>
          <p:cNvSpPr txBox="1"/>
          <p:nvPr/>
        </p:nvSpPr>
        <p:spPr>
          <a:xfrm>
            <a:off x="6483096"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Top quarter of that store's techs</a:t>
            </a:r>
            <a:endParaRPr lang="en-US" sz="1400" dirty="0"/>
          </a:p>
        </p:txBody>
      </p:sp>
      <p:sp>
        <p:nvSpPr>
          <p:cNvPr id="10" name="Shape 8"/>
          <p:cNvSpPr/>
          <p:nvPr/>
        </p:nvSpPr>
        <p:spPr>
          <a:xfrm>
            <a:off x="3099359" y="1737360"/>
            <a:ext cx="14630" cy="3986784"/>
          </a:xfrm>
          <a:prstGeom prst="rect">
            <a:avLst/>
          </a:prstGeom>
          <a:solidFill>
            <a:srgbClr val="9AA3AD"/>
          </a:solidFill>
          <a:ln/>
        </p:spPr>
      </p:sp>
      <p:sp>
        <p:nvSpPr>
          <p:cNvPr id="11" name="Shape 9"/>
          <p:cNvSpPr/>
          <p:nvPr/>
        </p:nvSpPr>
        <p:spPr>
          <a:xfrm>
            <a:off x="8649767" y="1737360"/>
            <a:ext cx="14630" cy="3752267"/>
          </a:xfrm>
          <a:prstGeom prst="rect">
            <a:avLst/>
          </a:prstGeom>
          <a:solidFill>
            <a:srgbClr val="9AA3AD"/>
          </a:solidFill>
          <a:ln/>
        </p:spPr>
      </p:sp>
      <p:sp>
        <p:nvSpPr>
          <p:cNvPr id="12" name="Text 10"/>
          <p:cNvSpPr txBox="1"/>
          <p:nvPr/>
        </p:nvSpPr>
        <p:spPr>
          <a:xfrm>
            <a:off x="658368" y="17373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 name="Shape 11"/>
          <p:cNvSpPr/>
          <p:nvPr/>
        </p:nvSpPr>
        <p:spPr>
          <a:xfrm>
            <a:off x="3507248" y="1840902"/>
            <a:ext cx="645269" cy="27432"/>
          </a:xfrm>
          <a:prstGeom prst="rect">
            <a:avLst/>
          </a:prstGeom>
          <a:solidFill>
            <a:srgbClr val="D9D9D9"/>
          </a:solidFill>
          <a:ln/>
        </p:spPr>
      </p:sp>
      <p:sp>
        <p:nvSpPr>
          <p:cNvPr id="14" name="Shape 12"/>
          <p:cNvSpPr/>
          <p:nvPr/>
        </p:nvSpPr>
        <p:spPr>
          <a:xfrm>
            <a:off x="4074793" y="1776894"/>
            <a:ext cx="155448" cy="155448"/>
          </a:xfrm>
          <a:prstGeom prst="ellipse">
            <a:avLst/>
          </a:prstGeom>
          <a:solidFill>
            <a:srgbClr val="0B2C4A"/>
          </a:solidFill>
          <a:ln/>
        </p:spPr>
      </p:sp>
      <p:sp>
        <p:nvSpPr>
          <p:cNvPr id="15" name="Shape 13"/>
          <p:cNvSpPr/>
          <p:nvPr/>
        </p:nvSpPr>
        <p:spPr>
          <a:xfrm>
            <a:off x="3429524" y="1776894"/>
            <a:ext cx="155448" cy="155448"/>
          </a:xfrm>
          <a:prstGeom prst="ellipse">
            <a:avLst/>
          </a:prstGeom>
          <a:solidFill>
            <a:srgbClr val="12A566"/>
          </a:solidFill>
          <a:ln/>
        </p:spPr>
      </p:sp>
      <p:sp>
        <p:nvSpPr>
          <p:cNvPr id="16" name="Text 14"/>
          <p:cNvSpPr txBox="1"/>
          <p:nvPr/>
        </p:nvSpPr>
        <p:spPr>
          <a:xfrm>
            <a:off x="4498848" y="17373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119%</a:t>
            </a:r>
            <a:pPr algn="r" indent="0" marL="0">
              <a:buNone/>
            </a:pPr>
            <a:r>
              <a:rPr lang="en-US" sz="1300" dirty="0">
                <a:solidFill>
                  <a:srgbClr val="0B2C4A"/>
                </a:solidFill>
                <a:latin typeface="Inter" pitchFamily="34" charset="0"/>
                <a:ea typeface="Inter" pitchFamily="34" charset="-122"/>
                <a:cs typeface="Inter" pitchFamily="34" charset="-120"/>
              </a:rPr>
              <a:t>  172%</a:t>
            </a:r>
            <a:endParaRPr lang="en-US" sz="1300" dirty="0"/>
          </a:p>
        </p:txBody>
      </p:sp>
      <p:sp>
        <p:nvSpPr>
          <p:cNvPr id="17" name="Text 15"/>
          <p:cNvSpPr txBox="1"/>
          <p:nvPr/>
        </p:nvSpPr>
        <p:spPr>
          <a:xfrm>
            <a:off x="658368" y="19718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8" name="Shape 16"/>
          <p:cNvSpPr/>
          <p:nvPr/>
        </p:nvSpPr>
        <p:spPr>
          <a:xfrm>
            <a:off x="3491377" y="2075419"/>
            <a:ext cx="870311" cy="27432"/>
          </a:xfrm>
          <a:prstGeom prst="rect">
            <a:avLst/>
          </a:prstGeom>
          <a:solidFill>
            <a:srgbClr val="D9D9D9"/>
          </a:solidFill>
          <a:ln/>
        </p:spPr>
      </p:sp>
      <p:sp>
        <p:nvSpPr>
          <p:cNvPr id="19" name="Shape 17"/>
          <p:cNvSpPr/>
          <p:nvPr/>
        </p:nvSpPr>
        <p:spPr>
          <a:xfrm>
            <a:off x="4283964" y="2011411"/>
            <a:ext cx="155448" cy="155448"/>
          </a:xfrm>
          <a:prstGeom prst="ellipse">
            <a:avLst/>
          </a:prstGeom>
          <a:solidFill>
            <a:srgbClr val="0B2C4A"/>
          </a:solidFill>
          <a:ln/>
        </p:spPr>
      </p:sp>
      <p:sp>
        <p:nvSpPr>
          <p:cNvPr id="20" name="Shape 18"/>
          <p:cNvSpPr/>
          <p:nvPr/>
        </p:nvSpPr>
        <p:spPr>
          <a:xfrm>
            <a:off x="3413653" y="2011411"/>
            <a:ext cx="155448" cy="155448"/>
          </a:xfrm>
          <a:prstGeom prst="ellipse">
            <a:avLst/>
          </a:prstGeom>
          <a:solidFill>
            <a:srgbClr val="12A566"/>
          </a:solidFill>
          <a:ln/>
        </p:spPr>
      </p:sp>
      <p:sp>
        <p:nvSpPr>
          <p:cNvPr id="21" name="Text 19"/>
          <p:cNvSpPr txBox="1"/>
          <p:nvPr/>
        </p:nvSpPr>
        <p:spPr>
          <a:xfrm>
            <a:off x="4498848" y="19718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117%</a:t>
            </a:r>
            <a:pPr algn="r" indent="0" marL="0">
              <a:buNone/>
            </a:pPr>
            <a:r>
              <a:rPr lang="en-US" sz="1300" dirty="0">
                <a:solidFill>
                  <a:srgbClr val="0B2C4A"/>
                </a:solidFill>
                <a:latin typeface="Inter" pitchFamily="34" charset="0"/>
                <a:ea typeface="Inter" pitchFamily="34" charset="-122"/>
                <a:cs typeface="Inter" pitchFamily="34" charset="-120"/>
              </a:rPr>
              <a:t>  194%</a:t>
            </a:r>
            <a:endParaRPr lang="en-US" sz="1300" dirty="0"/>
          </a:p>
        </p:txBody>
      </p:sp>
      <p:sp>
        <p:nvSpPr>
          <p:cNvPr id="22" name="Text 20"/>
          <p:cNvSpPr txBox="1"/>
          <p:nvPr/>
        </p:nvSpPr>
        <p:spPr>
          <a:xfrm>
            <a:off x="658368" y="2206393"/>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3" name="Shape 21"/>
          <p:cNvSpPr/>
          <p:nvPr/>
        </p:nvSpPr>
        <p:spPr>
          <a:xfrm>
            <a:off x="3402985" y="2309936"/>
            <a:ext cx="434135" cy="27432"/>
          </a:xfrm>
          <a:prstGeom prst="rect">
            <a:avLst/>
          </a:prstGeom>
          <a:solidFill>
            <a:srgbClr val="D9D9D9"/>
          </a:solidFill>
          <a:ln/>
        </p:spPr>
      </p:sp>
      <p:sp>
        <p:nvSpPr>
          <p:cNvPr id="24" name="Shape 22"/>
          <p:cNvSpPr/>
          <p:nvPr/>
        </p:nvSpPr>
        <p:spPr>
          <a:xfrm>
            <a:off x="3759396" y="2245928"/>
            <a:ext cx="155448" cy="155448"/>
          </a:xfrm>
          <a:prstGeom prst="ellipse">
            <a:avLst/>
          </a:prstGeom>
          <a:solidFill>
            <a:srgbClr val="0B2C4A"/>
          </a:solidFill>
          <a:ln/>
        </p:spPr>
      </p:sp>
      <p:sp>
        <p:nvSpPr>
          <p:cNvPr id="25" name="Shape 23"/>
          <p:cNvSpPr/>
          <p:nvPr/>
        </p:nvSpPr>
        <p:spPr>
          <a:xfrm>
            <a:off x="3325261" y="2245928"/>
            <a:ext cx="155448" cy="155448"/>
          </a:xfrm>
          <a:prstGeom prst="ellipse">
            <a:avLst/>
          </a:prstGeom>
          <a:solidFill>
            <a:srgbClr val="12A566"/>
          </a:solidFill>
          <a:ln/>
        </p:spPr>
      </p:sp>
      <p:sp>
        <p:nvSpPr>
          <p:cNvPr id="26" name="Text 24"/>
          <p:cNvSpPr txBox="1"/>
          <p:nvPr/>
        </p:nvSpPr>
        <p:spPr>
          <a:xfrm>
            <a:off x="4498848" y="2206393"/>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110%</a:t>
            </a:r>
            <a:pPr algn="r" indent="0" marL="0">
              <a:buNone/>
            </a:pPr>
            <a:r>
              <a:rPr lang="en-US" sz="1300" dirty="0">
                <a:solidFill>
                  <a:srgbClr val="0B2C4A"/>
                </a:solidFill>
                <a:latin typeface="Inter" pitchFamily="34" charset="0"/>
                <a:ea typeface="Inter" pitchFamily="34" charset="-122"/>
                <a:cs typeface="Inter" pitchFamily="34" charset="-120"/>
              </a:rPr>
              <a:t>  146%</a:t>
            </a:r>
            <a:endParaRPr lang="en-US" sz="1300" dirty="0"/>
          </a:p>
        </p:txBody>
      </p:sp>
      <p:sp>
        <p:nvSpPr>
          <p:cNvPr id="27" name="Text 25"/>
          <p:cNvSpPr txBox="1"/>
          <p:nvPr/>
        </p:nvSpPr>
        <p:spPr>
          <a:xfrm>
            <a:off x="658368" y="24409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3397238" y="2544452"/>
            <a:ext cx="510500" cy="27432"/>
          </a:xfrm>
          <a:prstGeom prst="rect">
            <a:avLst/>
          </a:prstGeom>
          <a:solidFill>
            <a:srgbClr val="D9D9D9"/>
          </a:solidFill>
          <a:ln/>
        </p:spPr>
      </p:sp>
      <p:sp>
        <p:nvSpPr>
          <p:cNvPr id="29" name="Shape 27"/>
          <p:cNvSpPr/>
          <p:nvPr/>
        </p:nvSpPr>
        <p:spPr>
          <a:xfrm>
            <a:off x="3830014" y="2480444"/>
            <a:ext cx="155448" cy="155448"/>
          </a:xfrm>
          <a:prstGeom prst="ellipse">
            <a:avLst/>
          </a:prstGeom>
          <a:solidFill>
            <a:srgbClr val="0B2C4A"/>
          </a:solidFill>
          <a:ln/>
        </p:spPr>
      </p:sp>
      <p:sp>
        <p:nvSpPr>
          <p:cNvPr id="30" name="Shape 28"/>
          <p:cNvSpPr/>
          <p:nvPr/>
        </p:nvSpPr>
        <p:spPr>
          <a:xfrm>
            <a:off x="3319514" y="2480444"/>
            <a:ext cx="155448" cy="155448"/>
          </a:xfrm>
          <a:prstGeom prst="ellipse">
            <a:avLst/>
          </a:prstGeom>
          <a:solidFill>
            <a:srgbClr val="12A566"/>
          </a:solidFill>
          <a:ln/>
        </p:spPr>
      </p:sp>
      <p:sp>
        <p:nvSpPr>
          <p:cNvPr id="31" name="Text 29"/>
          <p:cNvSpPr txBox="1"/>
          <p:nvPr/>
        </p:nvSpPr>
        <p:spPr>
          <a:xfrm>
            <a:off x="4498848" y="244091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152%</a:t>
            </a:r>
            <a:endParaRPr lang="en-US" sz="1300" dirty="0"/>
          </a:p>
        </p:txBody>
      </p:sp>
      <p:sp>
        <p:nvSpPr>
          <p:cNvPr id="32" name="Text 30"/>
          <p:cNvSpPr txBox="1"/>
          <p:nvPr/>
        </p:nvSpPr>
        <p:spPr>
          <a:xfrm>
            <a:off x="658368" y="26754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3" name="Shape 31"/>
          <p:cNvSpPr/>
          <p:nvPr/>
        </p:nvSpPr>
        <p:spPr>
          <a:xfrm>
            <a:off x="3394584" y="2778969"/>
            <a:ext cx="248054" cy="27432"/>
          </a:xfrm>
          <a:prstGeom prst="rect">
            <a:avLst/>
          </a:prstGeom>
          <a:solidFill>
            <a:srgbClr val="D9D9D9"/>
          </a:solidFill>
          <a:ln/>
        </p:spPr>
      </p:sp>
      <p:sp>
        <p:nvSpPr>
          <p:cNvPr id="34" name="Shape 32"/>
          <p:cNvSpPr/>
          <p:nvPr/>
        </p:nvSpPr>
        <p:spPr>
          <a:xfrm>
            <a:off x="3564914" y="2714961"/>
            <a:ext cx="155448" cy="155448"/>
          </a:xfrm>
          <a:prstGeom prst="ellipse">
            <a:avLst/>
          </a:prstGeom>
          <a:solidFill>
            <a:srgbClr val="0B2C4A"/>
          </a:solidFill>
          <a:ln/>
        </p:spPr>
      </p:sp>
      <p:sp>
        <p:nvSpPr>
          <p:cNvPr id="35" name="Shape 33"/>
          <p:cNvSpPr/>
          <p:nvPr/>
        </p:nvSpPr>
        <p:spPr>
          <a:xfrm>
            <a:off x="3316860" y="2714961"/>
            <a:ext cx="155448" cy="155448"/>
          </a:xfrm>
          <a:prstGeom prst="ellipse">
            <a:avLst/>
          </a:prstGeom>
          <a:solidFill>
            <a:srgbClr val="12A566"/>
          </a:solidFill>
          <a:ln/>
        </p:spPr>
      </p:sp>
      <p:sp>
        <p:nvSpPr>
          <p:cNvPr id="36" name="Text 34"/>
          <p:cNvSpPr txBox="1"/>
          <p:nvPr/>
        </p:nvSpPr>
        <p:spPr>
          <a:xfrm>
            <a:off x="4498848" y="26754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130%</a:t>
            </a:r>
            <a:endParaRPr lang="en-US" sz="1300" dirty="0"/>
          </a:p>
        </p:txBody>
      </p:sp>
      <p:sp>
        <p:nvSpPr>
          <p:cNvPr id="37" name="Text 35"/>
          <p:cNvSpPr txBox="1"/>
          <p:nvPr/>
        </p:nvSpPr>
        <p:spPr>
          <a:xfrm>
            <a:off x="658368" y="29099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8" name="Shape 36"/>
          <p:cNvSpPr/>
          <p:nvPr/>
        </p:nvSpPr>
        <p:spPr>
          <a:xfrm>
            <a:off x="3381966" y="3013486"/>
            <a:ext cx="305207" cy="27432"/>
          </a:xfrm>
          <a:prstGeom prst="rect">
            <a:avLst/>
          </a:prstGeom>
          <a:solidFill>
            <a:srgbClr val="D9D9D9"/>
          </a:solidFill>
          <a:ln/>
        </p:spPr>
      </p:sp>
      <p:sp>
        <p:nvSpPr>
          <p:cNvPr id="39" name="Shape 37"/>
          <p:cNvSpPr/>
          <p:nvPr/>
        </p:nvSpPr>
        <p:spPr>
          <a:xfrm>
            <a:off x="3609449" y="2949478"/>
            <a:ext cx="155448" cy="155448"/>
          </a:xfrm>
          <a:prstGeom prst="ellipse">
            <a:avLst/>
          </a:prstGeom>
          <a:solidFill>
            <a:srgbClr val="0B2C4A"/>
          </a:solidFill>
          <a:ln/>
        </p:spPr>
      </p:sp>
      <p:sp>
        <p:nvSpPr>
          <p:cNvPr id="40" name="Shape 38"/>
          <p:cNvSpPr/>
          <p:nvPr/>
        </p:nvSpPr>
        <p:spPr>
          <a:xfrm>
            <a:off x="3304242" y="2949478"/>
            <a:ext cx="155448" cy="155448"/>
          </a:xfrm>
          <a:prstGeom prst="ellipse">
            <a:avLst/>
          </a:prstGeom>
          <a:solidFill>
            <a:srgbClr val="12A566"/>
          </a:solidFill>
          <a:ln/>
        </p:spPr>
      </p:sp>
      <p:sp>
        <p:nvSpPr>
          <p:cNvPr id="41" name="Text 39"/>
          <p:cNvSpPr txBox="1"/>
          <p:nvPr/>
        </p:nvSpPr>
        <p:spPr>
          <a:xfrm>
            <a:off x="4498848" y="290994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108%</a:t>
            </a:r>
            <a:pPr algn="r" indent="0" marL="0">
              <a:buNone/>
            </a:pPr>
            <a:r>
              <a:rPr lang="en-US" sz="1300" dirty="0">
                <a:solidFill>
                  <a:srgbClr val="0B2C4A"/>
                </a:solidFill>
                <a:latin typeface="Inter" pitchFamily="34" charset="0"/>
                <a:ea typeface="Inter" pitchFamily="34" charset="-122"/>
                <a:cs typeface="Inter" pitchFamily="34" charset="-120"/>
              </a:rPr>
              <a:t>  134%</a:t>
            </a:r>
            <a:endParaRPr lang="en-US" sz="1300" dirty="0"/>
          </a:p>
        </p:txBody>
      </p:sp>
      <p:sp>
        <p:nvSpPr>
          <p:cNvPr id="42" name="Text 40"/>
          <p:cNvSpPr txBox="1"/>
          <p:nvPr/>
        </p:nvSpPr>
        <p:spPr>
          <a:xfrm>
            <a:off x="658368" y="31444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3" name="Shape 41"/>
          <p:cNvSpPr/>
          <p:nvPr/>
        </p:nvSpPr>
        <p:spPr>
          <a:xfrm>
            <a:off x="3358657" y="3248003"/>
            <a:ext cx="461897" cy="27432"/>
          </a:xfrm>
          <a:prstGeom prst="rect">
            <a:avLst/>
          </a:prstGeom>
          <a:solidFill>
            <a:srgbClr val="D9D9D9"/>
          </a:solidFill>
          <a:ln/>
        </p:spPr>
      </p:sp>
      <p:sp>
        <p:nvSpPr>
          <p:cNvPr id="44" name="Shape 42"/>
          <p:cNvSpPr/>
          <p:nvPr/>
        </p:nvSpPr>
        <p:spPr>
          <a:xfrm>
            <a:off x="3742830" y="3183995"/>
            <a:ext cx="155448" cy="155448"/>
          </a:xfrm>
          <a:prstGeom prst="ellipse">
            <a:avLst/>
          </a:prstGeom>
          <a:solidFill>
            <a:srgbClr val="0B2C4A"/>
          </a:solidFill>
          <a:ln/>
        </p:spPr>
      </p:sp>
      <p:sp>
        <p:nvSpPr>
          <p:cNvPr id="45" name="Shape 43"/>
          <p:cNvSpPr/>
          <p:nvPr/>
        </p:nvSpPr>
        <p:spPr>
          <a:xfrm>
            <a:off x="3280933" y="3183995"/>
            <a:ext cx="155448" cy="155448"/>
          </a:xfrm>
          <a:prstGeom prst="ellipse">
            <a:avLst/>
          </a:prstGeom>
          <a:solidFill>
            <a:srgbClr val="12A566"/>
          </a:solidFill>
          <a:ln/>
        </p:spPr>
      </p:sp>
      <p:sp>
        <p:nvSpPr>
          <p:cNvPr id="46" name="Text 44"/>
          <p:cNvSpPr txBox="1"/>
          <p:nvPr/>
        </p:nvSpPr>
        <p:spPr>
          <a:xfrm>
            <a:off x="4498848" y="31444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106%</a:t>
            </a:r>
            <a:pPr algn="r" indent="0" marL="0">
              <a:buNone/>
            </a:pPr>
            <a:r>
              <a:rPr lang="en-US" sz="1300" dirty="0">
                <a:solidFill>
                  <a:srgbClr val="0B2C4A"/>
                </a:solidFill>
                <a:latin typeface="Inter" pitchFamily="34" charset="0"/>
                <a:ea typeface="Inter" pitchFamily="34" charset="-122"/>
                <a:cs typeface="Inter" pitchFamily="34" charset="-120"/>
              </a:rPr>
              <a:t>  145%</a:t>
            </a:r>
            <a:endParaRPr lang="en-US" sz="1300" dirty="0"/>
          </a:p>
        </p:txBody>
      </p:sp>
      <p:sp>
        <p:nvSpPr>
          <p:cNvPr id="47" name="Text 45"/>
          <p:cNvSpPr txBox="1"/>
          <p:nvPr/>
        </p:nvSpPr>
        <p:spPr>
          <a:xfrm>
            <a:off x="658368" y="33789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8" name="Shape 46"/>
          <p:cNvSpPr/>
          <p:nvPr/>
        </p:nvSpPr>
        <p:spPr>
          <a:xfrm>
            <a:off x="3342460" y="3482519"/>
            <a:ext cx="879840" cy="27432"/>
          </a:xfrm>
          <a:prstGeom prst="rect">
            <a:avLst/>
          </a:prstGeom>
          <a:solidFill>
            <a:srgbClr val="D9D9D9"/>
          </a:solidFill>
          <a:ln/>
        </p:spPr>
      </p:sp>
      <p:sp>
        <p:nvSpPr>
          <p:cNvPr id="49" name="Shape 47"/>
          <p:cNvSpPr/>
          <p:nvPr/>
        </p:nvSpPr>
        <p:spPr>
          <a:xfrm>
            <a:off x="4144576" y="3418511"/>
            <a:ext cx="155448" cy="155448"/>
          </a:xfrm>
          <a:prstGeom prst="ellipse">
            <a:avLst/>
          </a:prstGeom>
          <a:solidFill>
            <a:srgbClr val="0B2C4A"/>
          </a:solidFill>
          <a:ln/>
        </p:spPr>
      </p:sp>
      <p:sp>
        <p:nvSpPr>
          <p:cNvPr id="50" name="Shape 48"/>
          <p:cNvSpPr/>
          <p:nvPr/>
        </p:nvSpPr>
        <p:spPr>
          <a:xfrm>
            <a:off x="3264736" y="3418511"/>
            <a:ext cx="155448" cy="155448"/>
          </a:xfrm>
          <a:prstGeom prst="ellipse">
            <a:avLst/>
          </a:prstGeom>
          <a:solidFill>
            <a:srgbClr val="12A566"/>
          </a:solidFill>
          <a:ln/>
        </p:spPr>
      </p:sp>
      <p:sp>
        <p:nvSpPr>
          <p:cNvPr id="51" name="Text 49"/>
          <p:cNvSpPr txBox="1"/>
          <p:nvPr/>
        </p:nvSpPr>
        <p:spPr>
          <a:xfrm>
            <a:off x="4498848" y="33789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105%</a:t>
            </a:r>
            <a:pPr algn="r" indent="0" marL="0">
              <a:buNone/>
            </a:pPr>
            <a:r>
              <a:rPr lang="en-US" sz="1300" dirty="0">
                <a:solidFill>
                  <a:srgbClr val="0B2C4A"/>
                </a:solidFill>
                <a:latin typeface="Inter" pitchFamily="34" charset="0"/>
                <a:ea typeface="Inter" pitchFamily="34" charset="-122"/>
                <a:cs typeface="Inter" pitchFamily="34" charset="-120"/>
              </a:rPr>
              <a:t>  178%</a:t>
            </a:r>
            <a:endParaRPr lang="en-US" sz="1300" dirty="0"/>
          </a:p>
        </p:txBody>
      </p:sp>
      <p:sp>
        <p:nvSpPr>
          <p:cNvPr id="52" name="Text 50"/>
          <p:cNvSpPr txBox="1"/>
          <p:nvPr/>
        </p:nvSpPr>
        <p:spPr>
          <a:xfrm>
            <a:off x="658368" y="36134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3" name="Shape 51"/>
          <p:cNvSpPr/>
          <p:nvPr/>
        </p:nvSpPr>
        <p:spPr>
          <a:xfrm>
            <a:off x="3338325" y="3717036"/>
            <a:ext cx="578029" cy="27432"/>
          </a:xfrm>
          <a:prstGeom prst="rect">
            <a:avLst/>
          </a:prstGeom>
          <a:solidFill>
            <a:srgbClr val="D9D9D9"/>
          </a:solidFill>
          <a:ln/>
        </p:spPr>
      </p:sp>
      <p:sp>
        <p:nvSpPr>
          <p:cNvPr id="54" name="Shape 52"/>
          <p:cNvSpPr/>
          <p:nvPr/>
        </p:nvSpPr>
        <p:spPr>
          <a:xfrm>
            <a:off x="3838629" y="3653028"/>
            <a:ext cx="155448" cy="155448"/>
          </a:xfrm>
          <a:prstGeom prst="ellipse">
            <a:avLst/>
          </a:prstGeom>
          <a:solidFill>
            <a:srgbClr val="0B2C4A"/>
          </a:solidFill>
          <a:ln/>
        </p:spPr>
      </p:sp>
      <p:sp>
        <p:nvSpPr>
          <p:cNvPr id="55" name="Shape 53"/>
          <p:cNvSpPr/>
          <p:nvPr/>
        </p:nvSpPr>
        <p:spPr>
          <a:xfrm>
            <a:off x="3260601" y="3653028"/>
            <a:ext cx="155448" cy="155448"/>
          </a:xfrm>
          <a:prstGeom prst="ellipse">
            <a:avLst/>
          </a:prstGeom>
          <a:solidFill>
            <a:srgbClr val="12A566"/>
          </a:solidFill>
          <a:ln/>
        </p:spPr>
      </p:sp>
      <p:sp>
        <p:nvSpPr>
          <p:cNvPr id="56" name="Text 54"/>
          <p:cNvSpPr txBox="1"/>
          <p:nvPr/>
        </p:nvSpPr>
        <p:spPr>
          <a:xfrm>
            <a:off x="4498848" y="361349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104%</a:t>
            </a:r>
            <a:pPr algn="r" indent="0" marL="0">
              <a:buNone/>
            </a:pPr>
            <a:r>
              <a:rPr lang="en-US" sz="1300" dirty="0">
                <a:solidFill>
                  <a:srgbClr val="0B2C4A"/>
                </a:solidFill>
                <a:latin typeface="Inter" pitchFamily="34" charset="0"/>
                <a:ea typeface="Inter" pitchFamily="34" charset="-122"/>
                <a:cs typeface="Inter" pitchFamily="34" charset="-120"/>
              </a:rPr>
              <a:t>  153%</a:t>
            </a:r>
            <a:endParaRPr lang="en-US" sz="1300" dirty="0"/>
          </a:p>
        </p:txBody>
      </p:sp>
      <p:sp>
        <p:nvSpPr>
          <p:cNvPr id="57" name="Text 55"/>
          <p:cNvSpPr txBox="1"/>
          <p:nvPr/>
        </p:nvSpPr>
        <p:spPr>
          <a:xfrm>
            <a:off x="658368" y="38480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8" name="Shape 56"/>
          <p:cNvSpPr/>
          <p:nvPr/>
        </p:nvSpPr>
        <p:spPr>
          <a:xfrm>
            <a:off x="3326693" y="3951553"/>
            <a:ext cx="718840" cy="27432"/>
          </a:xfrm>
          <a:prstGeom prst="rect">
            <a:avLst/>
          </a:prstGeom>
          <a:solidFill>
            <a:srgbClr val="D9D9D9"/>
          </a:solidFill>
          <a:ln/>
        </p:spPr>
      </p:sp>
      <p:sp>
        <p:nvSpPr>
          <p:cNvPr id="59" name="Shape 57"/>
          <p:cNvSpPr/>
          <p:nvPr/>
        </p:nvSpPr>
        <p:spPr>
          <a:xfrm>
            <a:off x="3967809" y="3887545"/>
            <a:ext cx="155448" cy="155448"/>
          </a:xfrm>
          <a:prstGeom prst="ellipse">
            <a:avLst/>
          </a:prstGeom>
          <a:solidFill>
            <a:srgbClr val="0B2C4A"/>
          </a:solidFill>
          <a:ln/>
        </p:spPr>
      </p:sp>
      <p:sp>
        <p:nvSpPr>
          <p:cNvPr id="60" name="Shape 58"/>
          <p:cNvSpPr/>
          <p:nvPr/>
        </p:nvSpPr>
        <p:spPr>
          <a:xfrm>
            <a:off x="3248969" y="3887545"/>
            <a:ext cx="155448" cy="155448"/>
          </a:xfrm>
          <a:prstGeom prst="ellipse">
            <a:avLst/>
          </a:prstGeom>
          <a:solidFill>
            <a:srgbClr val="12A566"/>
          </a:solidFill>
          <a:ln/>
        </p:spPr>
      </p:sp>
      <p:sp>
        <p:nvSpPr>
          <p:cNvPr id="61" name="Text 59"/>
          <p:cNvSpPr txBox="1"/>
          <p:nvPr/>
        </p:nvSpPr>
        <p:spPr>
          <a:xfrm>
            <a:off x="4498848" y="384801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103%</a:t>
            </a:r>
            <a:pPr algn="r" indent="0" marL="0">
              <a:buNone/>
            </a:pPr>
            <a:r>
              <a:rPr lang="en-US" sz="1300" dirty="0">
                <a:solidFill>
                  <a:srgbClr val="0B2C4A"/>
                </a:solidFill>
                <a:latin typeface="Inter" pitchFamily="34" charset="0"/>
                <a:ea typeface="Inter" pitchFamily="34" charset="-122"/>
                <a:cs typeface="Inter" pitchFamily="34" charset="-120"/>
              </a:rPr>
              <a:t>  164%</a:t>
            </a:r>
            <a:endParaRPr lang="en-US" sz="1300" dirty="0"/>
          </a:p>
        </p:txBody>
      </p:sp>
      <p:sp>
        <p:nvSpPr>
          <p:cNvPr id="62" name="Text 60"/>
          <p:cNvSpPr txBox="1"/>
          <p:nvPr/>
        </p:nvSpPr>
        <p:spPr>
          <a:xfrm>
            <a:off x="658368" y="40825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3315137" y="4186069"/>
            <a:ext cx="576560" cy="27432"/>
          </a:xfrm>
          <a:prstGeom prst="rect">
            <a:avLst/>
          </a:prstGeom>
          <a:solidFill>
            <a:srgbClr val="D9D9D9"/>
          </a:solidFill>
          <a:ln/>
        </p:spPr>
      </p:sp>
      <p:sp>
        <p:nvSpPr>
          <p:cNvPr id="64" name="Shape 62"/>
          <p:cNvSpPr/>
          <p:nvPr/>
        </p:nvSpPr>
        <p:spPr>
          <a:xfrm>
            <a:off x="3813973" y="4122061"/>
            <a:ext cx="155448" cy="155448"/>
          </a:xfrm>
          <a:prstGeom prst="ellipse">
            <a:avLst/>
          </a:prstGeom>
          <a:solidFill>
            <a:srgbClr val="0B2C4A"/>
          </a:solidFill>
          <a:ln/>
        </p:spPr>
      </p:sp>
      <p:sp>
        <p:nvSpPr>
          <p:cNvPr id="65" name="Shape 63"/>
          <p:cNvSpPr/>
          <p:nvPr/>
        </p:nvSpPr>
        <p:spPr>
          <a:xfrm>
            <a:off x="3237413" y="4122061"/>
            <a:ext cx="155448" cy="155448"/>
          </a:xfrm>
          <a:prstGeom prst="ellipse">
            <a:avLst/>
          </a:prstGeom>
          <a:solidFill>
            <a:srgbClr val="12A566"/>
          </a:solidFill>
          <a:ln/>
        </p:spPr>
      </p:sp>
      <p:sp>
        <p:nvSpPr>
          <p:cNvPr id="66" name="Text 64"/>
          <p:cNvSpPr txBox="1"/>
          <p:nvPr/>
        </p:nvSpPr>
        <p:spPr>
          <a:xfrm>
            <a:off x="4498848" y="40825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151%</a:t>
            </a:r>
            <a:endParaRPr lang="en-US" sz="1300" dirty="0"/>
          </a:p>
        </p:txBody>
      </p:sp>
      <p:sp>
        <p:nvSpPr>
          <p:cNvPr id="67" name="Text 65"/>
          <p:cNvSpPr txBox="1"/>
          <p:nvPr/>
        </p:nvSpPr>
        <p:spPr>
          <a:xfrm>
            <a:off x="658368" y="43170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3305834" y="4420586"/>
            <a:ext cx="253206" cy="27432"/>
          </a:xfrm>
          <a:prstGeom prst="rect">
            <a:avLst/>
          </a:prstGeom>
          <a:solidFill>
            <a:srgbClr val="D9D9D9"/>
          </a:solidFill>
          <a:ln/>
        </p:spPr>
      </p:sp>
      <p:sp>
        <p:nvSpPr>
          <p:cNvPr id="69" name="Shape 67"/>
          <p:cNvSpPr/>
          <p:nvPr/>
        </p:nvSpPr>
        <p:spPr>
          <a:xfrm>
            <a:off x="3481317" y="4356578"/>
            <a:ext cx="155448" cy="155448"/>
          </a:xfrm>
          <a:prstGeom prst="ellipse">
            <a:avLst/>
          </a:prstGeom>
          <a:solidFill>
            <a:srgbClr val="0B2C4A"/>
          </a:solidFill>
          <a:ln/>
        </p:spPr>
      </p:sp>
      <p:sp>
        <p:nvSpPr>
          <p:cNvPr id="70" name="Shape 68"/>
          <p:cNvSpPr/>
          <p:nvPr/>
        </p:nvSpPr>
        <p:spPr>
          <a:xfrm>
            <a:off x="3228110" y="4356578"/>
            <a:ext cx="155448" cy="155448"/>
          </a:xfrm>
          <a:prstGeom prst="ellipse">
            <a:avLst/>
          </a:prstGeom>
          <a:solidFill>
            <a:srgbClr val="12A566"/>
          </a:solidFill>
          <a:ln/>
        </p:spPr>
      </p:sp>
      <p:sp>
        <p:nvSpPr>
          <p:cNvPr id="71" name="Text 69"/>
          <p:cNvSpPr txBox="1"/>
          <p:nvPr/>
        </p:nvSpPr>
        <p:spPr>
          <a:xfrm>
            <a:off x="4498848" y="431704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123%</a:t>
            </a:r>
            <a:endParaRPr lang="en-US" sz="1300" dirty="0"/>
          </a:p>
        </p:txBody>
      </p:sp>
      <p:sp>
        <p:nvSpPr>
          <p:cNvPr id="72" name="Text 70"/>
          <p:cNvSpPr txBox="1"/>
          <p:nvPr/>
        </p:nvSpPr>
        <p:spPr>
          <a:xfrm>
            <a:off x="658368" y="45515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3" name="Shape 71"/>
          <p:cNvSpPr/>
          <p:nvPr/>
        </p:nvSpPr>
        <p:spPr>
          <a:xfrm>
            <a:off x="3267627" y="4655103"/>
            <a:ext cx="968031" cy="27432"/>
          </a:xfrm>
          <a:prstGeom prst="rect">
            <a:avLst/>
          </a:prstGeom>
          <a:solidFill>
            <a:srgbClr val="D9D9D9"/>
          </a:solidFill>
          <a:ln/>
        </p:spPr>
      </p:sp>
      <p:sp>
        <p:nvSpPr>
          <p:cNvPr id="74" name="Shape 72"/>
          <p:cNvSpPr/>
          <p:nvPr/>
        </p:nvSpPr>
        <p:spPr>
          <a:xfrm>
            <a:off x="4157934" y="4591095"/>
            <a:ext cx="155448" cy="155448"/>
          </a:xfrm>
          <a:prstGeom prst="ellipse">
            <a:avLst/>
          </a:prstGeom>
          <a:solidFill>
            <a:srgbClr val="0B2C4A"/>
          </a:solidFill>
          <a:ln/>
        </p:spPr>
      </p:sp>
      <p:sp>
        <p:nvSpPr>
          <p:cNvPr id="75" name="Shape 73"/>
          <p:cNvSpPr/>
          <p:nvPr/>
        </p:nvSpPr>
        <p:spPr>
          <a:xfrm>
            <a:off x="3189903" y="4591095"/>
            <a:ext cx="155448" cy="155448"/>
          </a:xfrm>
          <a:prstGeom prst="ellipse">
            <a:avLst/>
          </a:prstGeom>
          <a:solidFill>
            <a:srgbClr val="12A566"/>
          </a:solidFill>
          <a:ln/>
        </p:spPr>
      </p:sp>
      <p:sp>
        <p:nvSpPr>
          <p:cNvPr id="76" name="Text 74"/>
          <p:cNvSpPr txBox="1"/>
          <p:nvPr/>
        </p:nvSpPr>
        <p:spPr>
          <a:xfrm>
            <a:off x="4498848" y="45515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98%</a:t>
            </a:r>
            <a:pPr algn="r" indent="0" marL="0">
              <a:buNone/>
            </a:pPr>
            <a:r>
              <a:rPr lang="en-US" sz="1300" dirty="0">
                <a:solidFill>
                  <a:srgbClr val="0B2C4A"/>
                </a:solidFill>
                <a:latin typeface="Inter" pitchFamily="34" charset="0"/>
                <a:ea typeface="Inter" pitchFamily="34" charset="-122"/>
                <a:cs typeface="Inter" pitchFamily="34" charset="-120"/>
              </a:rPr>
              <a:t>  179%</a:t>
            </a:r>
            <a:endParaRPr lang="en-US" sz="1300" dirty="0"/>
          </a:p>
        </p:txBody>
      </p:sp>
      <p:sp>
        <p:nvSpPr>
          <p:cNvPr id="77" name="Text 75"/>
          <p:cNvSpPr txBox="1"/>
          <p:nvPr/>
        </p:nvSpPr>
        <p:spPr>
          <a:xfrm>
            <a:off x="658368" y="47860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3249769" y="4889620"/>
            <a:ext cx="416296" cy="27432"/>
          </a:xfrm>
          <a:prstGeom prst="rect">
            <a:avLst/>
          </a:prstGeom>
          <a:solidFill>
            <a:srgbClr val="D9D9D9"/>
          </a:solidFill>
          <a:ln/>
        </p:spPr>
      </p:sp>
      <p:sp>
        <p:nvSpPr>
          <p:cNvPr id="79" name="Shape 77"/>
          <p:cNvSpPr/>
          <p:nvPr/>
        </p:nvSpPr>
        <p:spPr>
          <a:xfrm>
            <a:off x="3588341" y="4825612"/>
            <a:ext cx="155448" cy="155448"/>
          </a:xfrm>
          <a:prstGeom prst="ellipse">
            <a:avLst/>
          </a:prstGeom>
          <a:solidFill>
            <a:srgbClr val="0B2C4A"/>
          </a:solidFill>
          <a:ln/>
        </p:spPr>
      </p:sp>
      <p:sp>
        <p:nvSpPr>
          <p:cNvPr id="80" name="Shape 78"/>
          <p:cNvSpPr/>
          <p:nvPr/>
        </p:nvSpPr>
        <p:spPr>
          <a:xfrm>
            <a:off x="3172045" y="4825612"/>
            <a:ext cx="155448" cy="155448"/>
          </a:xfrm>
          <a:prstGeom prst="ellipse">
            <a:avLst/>
          </a:prstGeom>
          <a:solidFill>
            <a:srgbClr val="12A566"/>
          </a:solidFill>
          <a:ln/>
        </p:spPr>
      </p:sp>
      <p:sp>
        <p:nvSpPr>
          <p:cNvPr id="81" name="Text 79"/>
          <p:cNvSpPr txBox="1"/>
          <p:nvPr/>
        </p:nvSpPr>
        <p:spPr>
          <a:xfrm>
            <a:off x="4498848" y="47860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97%</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82" name="Text 80"/>
          <p:cNvSpPr txBox="1"/>
          <p:nvPr/>
        </p:nvSpPr>
        <p:spPr>
          <a:xfrm>
            <a:off x="658368" y="50205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3" name="Shape 81"/>
          <p:cNvSpPr/>
          <p:nvPr/>
        </p:nvSpPr>
        <p:spPr>
          <a:xfrm>
            <a:off x="3225383" y="5124136"/>
            <a:ext cx="363571" cy="27432"/>
          </a:xfrm>
          <a:prstGeom prst="rect">
            <a:avLst/>
          </a:prstGeom>
          <a:solidFill>
            <a:srgbClr val="D9D9D9"/>
          </a:solidFill>
          <a:ln/>
        </p:spPr>
      </p:sp>
      <p:sp>
        <p:nvSpPr>
          <p:cNvPr id="84" name="Shape 82"/>
          <p:cNvSpPr/>
          <p:nvPr/>
        </p:nvSpPr>
        <p:spPr>
          <a:xfrm>
            <a:off x="3511230" y="5060128"/>
            <a:ext cx="155448" cy="155448"/>
          </a:xfrm>
          <a:prstGeom prst="ellipse">
            <a:avLst/>
          </a:prstGeom>
          <a:solidFill>
            <a:srgbClr val="0B2C4A"/>
          </a:solidFill>
          <a:ln/>
        </p:spPr>
      </p:sp>
      <p:sp>
        <p:nvSpPr>
          <p:cNvPr id="85" name="Shape 83"/>
          <p:cNvSpPr/>
          <p:nvPr/>
        </p:nvSpPr>
        <p:spPr>
          <a:xfrm>
            <a:off x="3147659" y="5060128"/>
            <a:ext cx="155448" cy="155448"/>
          </a:xfrm>
          <a:prstGeom prst="ellipse">
            <a:avLst/>
          </a:prstGeom>
          <a:solidFill>
            <a:srgbClr val="12A566"/>
          </a:solidFill>
          <a:ln/>
        </p:spPr>
      </p:sp>
      <p:sp>
        <p:nvSpPr>
          <p:cNvPr id="86" name="Text 84"/>
          <p:cNvSpPr txBox="1"/>
          <p:nvPr/>
        </p:nvSpPr>
        <p:spPr>
          <a:xfrm>
            <a:off x="4498848" y="502059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95%</a:t>
            </a:r>
            <a:pPr algn="r" indent="0" marL="0">
              <a:buNone/>
            </a:pPr>
            <a:r>
              <a:rPr lang="en-US" sz="1300" dirty="0">
                <a:solidFill>
                  <a:srgbClr val="0B2C4A"/>
                </a:solidFill>
                <a:latin typeface="Inter" pitchFamily="34" charset="0"/>
                <a:ea typeface="Inter" pitchFamily="34" charset="-122"/>
                <a:cs typeface="Inter" pitchFamily="34" charset="-120"/>
              </a:rPr>
              <a:t>  125%</a:t>
            </a:r>
            <a:endParaRPr lang="en-US" sz="1300" dirty="0"/>
          </a:p>
        </p:txBody>
      </p:sp>
      <p:sp>
        <p:nvSpPr>
          <p:cNvPr id="87" name="Text 85"/>
          <p:cNvSpPr txBox="1"/>
          <p:nvPr/>
        </p:nvSpPr>
        <p:spPr>
          <a:xfrm>
            <a:off x="658368" y="5255111"/>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8" name="Shape 86"/>
          <p:cNvSpPr/>
          <p:nvPr/>
        </p:nvSpPr>
        <p:spPr>
          <a:xfrm>
            <a:off x="3193370" y="5358653"/>
            <a:ext cx="267102" cy="27432"/>
          </a:xfrm>
          <a:prstGeom prst="rect">
            <a:avLst/>
          </a:prstGeom>
          <a:solidFill>
            <a:srgbClr val="D9D9D9"/>
          </a:solidFill>
          <a:ln/>
        </p:spPr>
      </p:sp>
      <p:sp>
        <p:nvSpPr>
          <p:cNvPr id="89" name="Shape 87"/>
          <p:cNvSpPr/>
          <p:nvPr/>
        </p:nvSpPr>
        <p:spPr>
          <a:xfrm>
            <a:off x="3382748" y="5294645"/>
            <a:ext cx="155448" cy="155448"/>
          </a:xfrm>
          <a:prstGeom prst="ellipse">
            <a:avLst/>
          </a:prstGeom>
          <a:solidFill>
            <a:srgbClr val="0B2C4A"/>
          </a:solidFill>
          <a:ln/>
        </p:spPr>
      </p:sp>
      <p:sp>
        <p:nvSpPr>
          <p:cNvPr id="90" name="Shape 88"/>
          <p:cNvSpPr/>
          <p:nvPr/>
        </p:nvSpPr>
        <p:spPr>
          <a:xfrm>
            <a:off x="3115646" y="5294645"/>
            <a:ext cx="155448" cy="155448"/>
          </a:xfrm>
          <a:prstGeom prst="ellipse">
            <a:avLst/>
          </a:prstGeom>
          <a:solidFill>
            <a:srgbClr val="12A566"/>
          </a:solidFill>
          <a:ln/>
        </p:spPr>
      </p:sp>
      <p:sp>
        <p:nvSpPr>
          <p:cNvPr id="91" name="Text 89"/>
          <p:cNvSpPr txBox="1"/>
          <p:nvPr/>
        </p:nvSpPr>
        <p:spPr>
          <a:xfrm>
            <a:off x="4498848" y="5255111"/>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92%</a:t>
            </a:r>
            <a:pPr algn="r" indent="0" marL="0">
              <a:buNone/>
            </a:pPr>
            <a:r>
              <a:rPr lang="en-US" sz="1300" dirty="0">
                <a:solidFill>
                  <a:srgbClr val="0B2C4A"/>
                </a:solidFill>
                <a:latin typeface="Inter" pitchFamily="34" charset="0"/>
                <a:ea typeface="Inter" pitchFamily="34" charset="-122"/>
                <a:cs typeface="Inter" pitchFamily="34" charset="-120"/>
              </a:rPr>
              <a:t>  115%</a:t>
            </a:r>
            <a:endParaRPr lang="en-US" sz="1300" dirty="0"/>
          </a:p>
        </p:txBody>
      </p:sp>
      <p:sp>
        <p:nvSpPr>
          <p:cNvPr id="92" name="Text 90"/>
          <p:cNvSpPr txBox="1"/>
          <p:nvPr/>
        </p:nvSpPr>
        <p:spPr>
          <a:xfrm>
            <a:off x="658368" y="54896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3180836" y="5593170"/>
            <a:ext cx="479504" cy="27432"/>
          </a:xfrm>
          <a:prstGeom prst="rect">
            <a:avLst/>
          </a:prstGeom>
          <a:solidFill>
            <a:srgbClr val="D9D9D9"/>
          </a:solidFill>
          <a:ln/>
        </p:spPr>
      </p:sp>
      <p:sp>
        <p:nvSpPr>
          <p:cNvPr id="94" name="Shape 92"/>
          <p:cNvSpPr/>
          <p:nvPr/>
        </p:nvSpPr>
        <p:spPr>
          <a:xfrm>
            <a:off x="3582616" y="5529162"/>
            <a:ext cx="155448" cy="155448"/>
          </a:xfrm>
          <a:prstGeom prst="ellipse">
            <a:avLst/>
          </a:prstGeom>
          <a:solidFill>
            <a:srgbClr val="0B2C4A"/>
          </a:solidFill>
          <a:ln/>
        </p:spPr>
      </p:sp>
      <p:sp>
        <p:nvSpPr>
          <p:cNvPr id="95" name="Shape 93"/>
          <p:cNvSpPr/>
          <p:nvPr/>
        </p:nvSpPr>
        <p:spPr>
          <a:xfrm>
            <a:off x="3103112" y="5529162"/>
            <a:ext cx="155448" cy="155448"/>
          </a:xfrm>
          <a:prstGeom prst="ellipse">
            <a:avLst/>
          </a:prstGeom>
          <a:solidFill>
            <a:srgbClr val="12A566"/>
          </a:solidFill>
          <a:ln/>
        </p:spPr>
      </p:sp>
      <p:sp>
        <p:nvSpPr>
          <p:cNvPr id="96" name="Text 94"/>
          <p:cNvSpPr txBox="1"/>
          <p:nvPr/>
        </p:nvSpPr>
        <p:spPr>
          <a:xfrm>
            <a:off x="4498848" y="54896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97" name="Text 95"/>
          <p:cNvSpPr txBox="1"/>
          <p:nvPr/>
        </p:nvSpPr>
        <p:spPr>
          <a:xfrm>
            <a:off x="6208776" y="17373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730696" y="1840902"/>
            <a:ext cx="492337" cy="27432"/>
          </a:xfrm>
          <a:prstGeom prst="rect">
            <a:avLst/>
          </a:prstGeom>
          <a:solidFill>
            <a:srgbClr val="D9D9D9"/>
          </a:solidFill>
          <a:ln/>
        </p:spPr>
      </p:sp>
      <p:sp>
        <p:nvSpPr>
          <p:cNvPr id="99" name="Shape 97"/>
          <p:cNvSpPr/>
          <p:nvPr/>
        </p:nvSpPr>
        <p:spPr>
          <a:xfrm>
            <a:off x="9145308" y="1776894"/>
            <a:ext cx="155448" cy="155448"/>
          </a:xfrm>
          <a:prstGeom prst="ellipse">
            <a:avLst/>
          </a:prstGeom>
          <a:solidFill>
            <a:srgbClr val="0B2C4A"/>
          </a:solidFill>
          <a:ln/>
        </p:spPr>
      </p:sp>
      <p:sp>
        <p:nvSpPr>
          <p:cNvPr id="100" name="Shape 98"/>
          <p:cNvSpPr/>
          <p:nvPr/>
        </p:nvSpPr>
        <p:spPr>
          <a:xfrm>
            <a:off x="8652972" y="1776894"/>
            <a:ext cx="155448" cy="155448"/>
          </a:xfrm>
          <a:prstGeom prst="ellipse">
            <a:avLst/>
          </a:prstGeom>
          <a:solidFill>
            <a:srgbClr val="12A566"/>
          </a:solidFill>
          <a:ln/>
        </p:spPr>
      </p:sp>
      <p:sp>
        <p:nvSpPr>
          <p:cNvPr id="101" name="Text 99"/>
          <p:cNvSpPr txBox="1"/>
          <p:nvPr/>
        </p:nvSpPr>
        <p:spPr>
          <a:xfrm>
            <a:off x="10049256" y="17373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102" name="Text 100"/>
          <p:cNvSpPr txBox="1"/>
          <p:nvPr/>
        </p:nvSpPr>
        <p:spPr>
          <a:xfrm>
            <a:off x="6208776" y="19718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3" name="Shape 101"/>
          <p:cNvSpPr/>
          <p:nvPr/>
        </p:nvSpPr>
        <p:spPr>
          <a:xfrm>
            <a:off x="8729573" y="2075419"/>
            <a:ext cx="521449" cy="27432"/>
          </a:xfrm>
          <a:prstGeom prst="rect">
            <a:avLst/>
          </a:prstGeom>
          <a:solidFill>
            <a:srgbClr val="D9D9D9"/>
          </a:solidFill>
          <a:ln/>
        </p:spPr>
      </p:sp>
      <p:sp>
        <p:nvSpPr>
          <p:cNvPr id="104" name="Shape 102"/>
          <p:cNvSpPr/>
          <p:nvPr/>
        </p:nvSpPr>
        <p:spPr>
          <a:xfrm>
            <a:off x="9173299" y="2011411"/>
            <a:ext cx="155448" cy="155448"/>
          </a:xfrm>
          <a:prstGeom prst="ellipse">
            <a:avLst/>
          </a:prstGeom>
          <a:solidFill>
            <a:srgbClr val="0B2C4A"/>
          </a:solidFill>
          <a:ln/>
        </p:spPr>
      </p:sp>
      <p:sp>
        <p:nvSpPr>
          <p:cNvPr id="105" name="Shape 103"/>
          <p:cNvSpPr/>
          <p:nvPr/>
        </p:nvSpPr>
        <p:spPr>
          <a:xfrm>
            <a:off x="8651849" y="2011411"/>
            <a:ext cx="155448" cy="155448"/>
          </a:xfrm>
          <a:prstGeom prst="ellipse">
            <a:avLst/>
          </a:prstGeom>
          <a:solidFill>
            <a:srgbClr val="12A566"/>
          </a:solidFill>
          <a:ln/>
        </p:spPr>
      </p:sp>
      <p:sp>
        <p:nvSpPr>
          <p:cNvPr id="106" name="Text 104"/>
          <p:cNvSpPr txBox="1"/>
          <p:nvPr/>
        </p:nvSpPr>
        <p:spPr>
          <a:xfrm>
            <a:off x="10049256" y="19718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135%</a:t>
            </a:r>
            <a:endParaRPr lang="en-US" sz="1300" dirty="0"/>
          </a:p>
        </p:txBody>
      </p:sp>
      <p:sp>
        <p:nvSpPr>
          <p:cNvPr id="107" name="Text 105"/>
          <p:cNvSpPr txBox="1"/>
          <p:nvPr/>
        </p:nvSpPr>
        <p:spPr>
          <a:xfrm>
            <a:off x="6208776" y="2206393"/>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8" name="Shape 106"/>
          <p:cNvSpPr/>
          <p:nvPr/>
        </p:nvSpPr>
        <p:spPr>
          <a:xfrm>
            <a:off x="8689828" y="2309936"/>
            <a:ext cx="659446" cy="27432"/>
          </a:xfrm>
          <a:prstGeom prst="rect">
            <a:avLst/>
          </a:prstGeom>
          <a:solidFill>
            <a:srgbClr val="D9D9D9"/>
          </a:solidFill>
          <a:ln/>
        </p:spPr>
      </p:sp>
      <p:sp>
        <p:nvSpPr>
          <p:cNvPr id="109" name="Shape 107"/>
          <p:cNvSpPr/>
          <p:nvPr/>
        </p:nvSpPr>
        <p:spPr>
          <a:xfrm>
            <a:off x="9271550" y="2245928"/>
            <a:ext cx="155448" cy="155448"/>
          </a:xfrm>
          <a:prstGeom prst="ellipse">
            <a:avLst/>
          </a:prstGeom>
          <a:solidFill>
            <a:srgbClr val="0B2C4A"/>
          </a:solidFill>
          <a:ln/>
        </p:spPr>
      </p:sp>
      <p:sp>
        <p:nvSpPr>
          <p:cNvPr id="110" name="Shape 108"/>
          <p:cNvSpPr/>
          <p:nvPr/>
        </p:nvSpPr>
        <p:spPr>
          <a:xfrm>
            <a:off x="8612104" y="2245928"/>
            <a:ext cx="155448" cy="155448"/>
          </a:xfrm>
          <a:prstGeom prst="ellipse">
            <a:avLst/>
          </a:prstGeom>
          <a:solidFill>
            <a:srgbClr val="12A566"/>
          </a:solidFill>
          <a:ln/>
        </p:spPr>
      </p:sp>
      <p:sp>
        <p:nvSpPr>
          <p:cNvPr id="111" name="Text 109"/>
          <p:cNvSpPr txBox="1"/>
          <p:nvPr/>
        </p:nvSpPr>
        <p:spPr>
          <a:xfrm>
            <a:off x="10049256" y="2206393"/>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88%</a:t>
            </a:r>
            <a:pPr algn="r" indent="0" marL="0">
              <a:buNone/>
            </a:pPr>
            <a:r>
              <a:rPr lang="en-US" sz="1300" dirty="0">
                <a:solidFill>
                  <a:srgbClr val="0B2C4A"/>
                </a:solidFill>
                <a:latin typeface="Inter" pitchFamily="34" charset="0"/>
                <a:ea typeface="Inter" pitchFamily="34" charset="-122"/>
                <a:cs typeface="Inter" pitchFamily="34" charset="-120"/>
              </a:rPr>
              <a:t>  143%</a:t>
            </a:r>
            <a:endParaRPr lang="en-US" sz="1300" dirty="0"/>
          </a:p>
        </p:txBody>
      </p:sp>
      <p:sp>
        <p:nvSpPr>
          <p:cNvPr id="112" name="Text 110"/>
          <p:cNvSpPr txBox="1"/>
          <p:nvPr/>
        </p:nvSpPr>
        <p:spPr>
          <a:xfrm>
            <a:off x="6208776" y="24409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3" name="Shape 111"/>
          <p:cNvSpPr/>
          <p:nvPr/>
        </p:nvSpPr>
        <p:spPr>
          <a:xfrm>
            <a:off x="8640786" y="2544452"/>
            <a:ext cx="406163" cy="27432"/>
          </a:xfrm>
          <a:prstGeom prst="rect">
            <a:avLst/>
          </a:prstGeom>
          <a:solidFill>
            <a:srgbClr val="D9D9D9"/>
          </a:solidFill>
          <a:ln/>
        </p:spPr>
      </p:sp>
      <p:sp>
        <p:nvSpPr>
          <p:cNvPr id="114" name="Shape 112"/>
          <p:cNvSpPr/>
          <p:nvPr/>
        </p:nvSpPr>
        <p:spPr>
          <a:xfrm>
            <a:off x="8969225" y="2480444"/>
            <a:ext cx="155448" cy="155448"/>
          </a:xfrm>
          <a:prstGeom prst="ellipse">
            <a:avLst/>
          </a:prstGeom>
          <a:solidFill>
            <a:srgbClr val="0B2C4A"/>
          </a:solidFill>
          <a:ln/>
        </p:spPr>
      </p:sp>
      <p:sp>
        <p:nvSpPr>
          <p:cNvPr id="115" name="Shape 113"/>
          <p:cNvSpPr/>
          <p:nvPr/>
        </p:nvSpPr>
        <p:spPr>
          <a:xfrm>
            <a:off x="8563062" y="2480444"/>
            <a:ext cx="155448" cy="155448"/>
          </a:xfrm>
          <a:prstGeom prst="ellipse">
            <a:avLst/>
          </a:prstGeom>
          <a:solidFill>
            <a:srgbClr val="C2352F"/>
          </a:solidFill>
          <a:ln/>
        </p:spPr>
      </p:sp>
      <p:sp>
        <p:nvSpPr>
          <p:cNvPr id="116" name="Text 114"/>
          <p:cNvSpPr txBox="1"/>
          <p:nvPr/>
        </p:nvSpPr>
        <p:spPr>
          <a:xfrm>
            <a:off x="10049256" y="244091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84%</a:t>
            </a:r>
            <a:pPr algn="r" indent="0" marL="0">
              <a:buNone/>
            </a:pPr>
            <a:r>
              <a:rPr lang="en-US" sz="1300" dirty="0">
                <a:solidFill>
                  <a:srgbClr val="0B2C4A"/>
                </a:solidFill>
                <a:latin typeface="Inter" pitchFamily="34" charset="0"/>
                <a:ea typeface="Inter" pitchFamily="34" charset="-122"/>
                <a:cs typeface="Inter" pitchFamily="34" charset="-120"/>
              </a:rPr>
              <a:t>  118%</a:t>
            </a:r>
            <a:endParaRPr lang="en-US" sz="1300" dirty="0"/>
          </a:p>
        </p:txBody>
      </p:sp>
      <p:sp>
        <p:nvSpPr>
          <p:cNvPr id="117" name="Text 115"/>
          <p:cNvSpPr txBox="1"/>
          <p:nvPr/>
        </p:nvSpPr>
        <p:spPr>
          <a:xfrm>
            <a:off x="6208776" y="26754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8" name="Shape 116"/>
          <p:cNvSpPr/>
          <p:nvPr/>
        </p:nvSpPr>
        <p:spPr>
          <a:xfrm>
            <a:off x="8614372" y="2778969"/>
            <a:ext cx="174890" cy="27432"/>
          </a:xfrm>
          <a:prstGeom prst="rect">
            <a:avLst/>
          </a:prstGeom>
          <a:solidFill>
            <a:srgbClr val="D9D9D9"/>
          </a:solidFill>
          <a:ln/>
        </p:spPr>
      </p:sp>
      <p:sp>
        <p:nvSpPr>
          <p:cNvPr id="119" name="Shape 117"/>
          <p:cNvSpPr/>
          <p:nvPr/>
        </p:nvSpPr>
        <p:spPr>
          <a:xfrm>
            <a:off x="8711538" y="2714961"/>
            <a:ext cx="155448" cy="155448"/>
          </a:xfrm>
          <a:prstGeom prst="ellipse">
            <a:avLst/>
          </a:prstGeom>
          <a:solidFill>
            <a:srgbClr val="0B2C4A"/>
          </a:solidFill>
          <a:ln/>
        </p:spPr>
      </p:sp>
      <p:sp>
        <p:nvSpPr>
          <p:cNvPr id="120" name="Shape 118"/>
          <p:cNvSpPr/>
          <p:nvPr/>
        </p:nvSpPr>
        <p:spPr>
          <a:xfrm>
            <a:off x="8536648" y="2714961"/>
            <a:ext cx="155448" cy="155448"/>
          </a:xfrm>
          <a:prstGeom prst="ellipse">
            <a:avLst/>
          </a:prstGeom>
          <a:solidFill>
            <a:srgbClr val="C2352F"/>
          </a:solidFill>
          <a:ln/>
        </p:spPr>
      </p:sp>
      <p:sp>
        <p:nvSpPr>
          <p:cNvPr id="121" name="Text 119"/>
          <p:cNvSpPr txBox="1"/>
          <p:nvPr/>
        </p:nvSpPr>
        <p:spPr>
          <a:xfrm>
            <a:off x="10049256" y="267542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22" name="Text 120"/>
          <p:cNvSpPr txBox="1"/>
          <p:nvPr/>
        </p:nvSpPr>
        <p:spPr>
          <a:xfrm>
            <a:off x="6208776" y="29099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8583295" y="3013486"/>
            <a:ext cx="403087" cy="27432"/>
          </a:xfrm>
          <a:prstGeom prst="rect">
            <a:avLst/>
          </a:prstGeom>
          <a:solidFill>
            <a:srgbClr val="D9D9D9"/>
          </a:solidFill>
          <a:ln/>
        </p:spPr>
      </p:sp>
      <p:sp>
        <p:nvSpPr>
          <p:cNvPr id="124" name="Shape 122"/>
          <p:cNvSpPr/>
          <p:nvPr/>
        </p:nvSpPr>
        <p:spPr>
          <a:xfrm>
            <a:off x="8908658" y="2949478"/>
            <a:ext cx="155448" cy="155448"/>
          </a:xfrm>
          <a:prstGeom prst="ellipse">
            <a:avLst/>
          </a:prstGeom>
          <a:solidFill>
            <a:srgbClr val="0B2C4A"/>
          </a:solidFill>
          <a:ln/>
        </p:spPr>
      </p:sp>
      <p:sp>
        <p:nvSpPr>
          <p:cNvPr id="125" name="Shape 123"/>
          <p:cNvSpPr/>
          <p:nvPr/>
        </p:nvSpPr>
        <p:spPr>
          <a:xfrm>
            <a:off x="8505571" y="2949478"/>
            <a:ext cx="155448" cy="155448"/>
          </a:xfrm>
          <a:prstGeom prst="ellipse">
            <a:avLst/>
          </a:prstGeom>
          <a:solidFill>
            <a:srgbClr val="C2352F"/>
          </a:solidFill>
          <a:ln/>
        </p:spPr>
      </p:sp>
      <p:sp>
        <p:nvSpPr>
          <p:cNvPr id="126" name="Text 124"/>
          <p:cNvSpPr txBox="1"/>
          <p:nvPr/>
        </p:nvSpPr>
        <p:spPr>
          <a:xfrm>
            <a:off x="10049256" y="290994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113%</a:t>
            </a:r>
            <a:endParaRPr lang="en-US" sz="1300" dirty="0"/>
          </a:p>
        </p:txBody>
      </p:sp>
      <p:sp>
        <p:nvSpPr>
          <p:cNvPr id="127" name="Text 125"/>
          <p:cNvSpPr txBox="1"/>
          <p:nvPr/>
        </p:nvSpPr>
        <p:spPr>
          <a:xfrm>
            <a:off x="6208776" y="31444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8" name="Shape 126"/>
          <p:cNvSpPr/>
          <p:nvPr/>
        </p:nvSpPr>
        <p:spPr>
          <a:xfrm>
            <a:off x="8579993" y="3248003"/>
            <a:ext cx="626069" cy="27432"/>
          </a:xfrm>
          <a:prstGeom prst="rect">
            <a:avLst/>
          </a:prstGeom>
          <a:solidFill>
            <a:srgbClr val="D9D9D9"/>
          </a:solidFill>
          <a:ln/>
        </p:spPr>
      </p:sp>
      <p:sp>
        <p:nvSpPr>
          <p:cNvPr id="129" name="Shape 127"/>
          <p:cNvSpPr/>
          <p:nvPr/>
        </p:nvSpPr>
        <p:spPr>
          <a:xfrm>
            <a:off x="9128338" y="3183995"/>
            <a:ext cx="155448" cy="155448"/>
          </a:xfrm>
          <a:prstGeom prst="ellipse">
            <a:avLst/>
          </a:prstGeom>
          <a:solidFill>
            <a:srgbClr val="0B2C4A"/>
          </a:solidFill>
          <a:ln/>
        </p:spPr>
      </p:sp>
      <p:sp>
        <p:nvSpPr>
          <p:cNvPr id="130" name="Shape 128"/>
          <p:cNvSpPr/>
          <p:nvPr/>
        </p:nvSpPr>
        <p:spPr>
          <a:xfrm>
            <a:off x="8502269" y="3183995"/>
            <a:ext cx="155448" cy="155448"/>
          </a:xfrm>
          <a:prstGeom prst="ellipse">
            <a:avLst/>
          </a:prstGeom>
          <a:solidFill>
            <a:srgbClr val="C2352F"/>
          </a:solidFill>
          <a:ln/>
        </p:spPr>
      </p:sp>
      <p:sp>
        <p:nvSpPr>
          <p:cNvPr id="131" name="Text 129"/>
          <p:cNvSpPr txBox="1"/>
          <p:nvPr/>
        </p:nvSpPr>
        <p:spPr>
          <a:xfrm>
            <a:off x="10049256" y="314446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132" name="Text 130"/>
          <p:cNvSpPr txBox="1"/>
          <p:nvPr/>
        </p:nvSpPr>
        <p:spPr>
          <a:xfrm>
            <a:off x="6208776" y="33789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3" name="Shape 131"/>
          <p:cNvSpPr/>
          <p:nvPr/>
        </p:nvSpPr>
        <p:spPr>
          <a:xfrm>
            <a:off x="8559791" y="3482519"/>
            <a:ext cx="285552" cy="27432"/>
          </a:xfrm>
          <a:prstGeom prst="rect">
            <a:avLst/>
          </a:prstGeom>
          <a:solidFill>
            <a:srgbClr val="D9D9D9"/>
          </a:solidFill>
          <a:ln/>
        </p:spPr>
      </p:sp>
      <p:sp>
        <p:nvSpPr>
          <p:cNvPr id="134" name="Shape 132"/>
          <p:cNvSpPr/>
          <p:nvPr/>
        </p:nvSpPr>
        <p:spPr>
          <a:xfrm>
            <a:off x="8767619" y="3418511"/>
            <a:ext cx="155448" cy="155448"/>
          </a:xfrm>
          <a:prstGeom prst="ellipse">
            <a:avLst/>
          </a:prstGeom>
          <a:solidFill>
            <a:srgbClr val="0B2C4A"/>
          </a:solidFill>
          <a:ln/>
        </p:spPr>
      </p:sp>
      <p:sp>
        <p:nvSpPr>
          <p:cNvPr id="135" name="Shape 133"/>
          <p:cNvSpPr/>
          <p:nvPr/>
        </p:nvSpPr>
        <p:spPr>
          <a:xfrm>
            <a:off x="8482067" y="3418511"/>
            <a:ext cx="155448" cy="155448"/>
          </a:xfrm>
          <a:prstGeom prst="ellipse">
            <a:avLst/>
          </a:prstGeom>
          <a:solidFill>
            <a:srgbClr val="C2352F"/>
          </a:solidFill>
          <a:ln/>
        </p:spPr>
      </p:sp>
      <p:sp>
        <p:nvSpPr>
          <p:cNvPr id="136" name="Text 134"/>
          <p:cNvSpPr txBox="1"/>
          <p:nvPr/>
        </p:nvSpPr>
        <p:spPr>
          <a:xfrm>
            <a:off x="10049256" y="337897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a:t>
            </a:r>
            <a:pPr algn="r" indent="0" marL="0">
              <a:buNone/>
            </a:pPr>
            <a:r>
              <a:rPr lang="en-US" sz="1300" dirty="0">
                <a:solidFill>
                  <a:srgbClr val="0B2C4A"/>
                </a:solidFill>
                <a:latin typeface="Inter" pitchFamily="34" charset="0"/>
                <a:ea typeface="Inter" pitchFamily="34" charset="-122"/>
                <a:cs typeface="Inter" pitchFamily="34" charset="-120"/>
              </a:rPr>
              <a:t>  101%</a:t>
            </a:r>
            <a:endParaRPr lang="en-US" sz="1300" dirty="0"/>
          </a:p>
        </p:txBody>
      </p:sp>
      <p:sp>
        <p:nvSpPr>
          <p:cNvPr id="137" name="Text 135"/>
          <p:cNvSpPr txBox="1"/>
          <p:nvPr/>
        </p:nvSpPr>
        <p:spPr>
          <a:xfrm>
            <a:off x="6208776" y="36134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38" name="Shape 136"/>
          <p:cNvSpPr/>
          <p:nvPr/>
        </p:nvSpPr>
        <p:spPr>
          <a:xfrm>
            <a:off x="8520910" y="3717036"/>
            <a:ext cx="360320" cy="27432"/>
          </a:xfrm>
          <a:prstGeom prst="rect">
            <a:avLst/>
          </a:prstGeom>
          <a:solidFill>
            <a:srgbClr val="D9D9D9"/>
          </a:solidFill>
          <a:ln/>
        </p:spPr>
      </p:sp>
      <p:sp>
        <p:nvSpPr>
          <p:cNvPr id="139" name="Shape 137"/>
          <p:cNvSpPr/>
          <p:nvPr/>
        </p:nvSpPr>
        <p:spPr>
          <a:xfrm>
            <a:off x="8803506" y="3653028"/>
            <a:ext cx="155448" cy="155448"/>
          </a:xfrm>
          <a:prstGeom prst="ellipse">
            <a:avLst/>
          </a:prstGeom>
          <a:solidFill>
            <a:srgbClr val="0B2C4A"/>
          </a:solidFill>
          <a:ln/>
        </p:spPr>
      </p:sp>
      <p:sp>
        <p:nvSpPr>
          <p:cNvPr id="140" name="Shape 138"/>
          <p:cNvSpPr/>
          <p:nvPr/>
        </p:nvSpPr>
        <p:spPr>
          <a:xfrm>
            <a:off x="8443186" y="3653028"/>
            <a:ext cx="155448" cy="155448"/>
          </a:xfrm>
          <a:prstGeom prst="ellipse">
            <a:avLst/>
          </a:prstGeom>
          <a:solidFill>
            <a:srgbClr val="C2352F"/>
          </a:solidFill>
          <a:ln/>
        </p:spPr>
      </p:sp>
      <p:sp>
        <p:nvSpPr>
          <p:cNvPr id="141" name="Text 139"/>
          <p:cNvSpPr txBox="1"/>
          <p:nvPr/>
        </p:nvSpPr>
        <p:spPr>
          <a:xfrm>
            <a:off x="10049256" y="361349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a:t>
            </a:r>
            <a:pPr algn="r" indent="0" marL="0">
              <a:buNone/>
            </a:pPr>
            <a:r>
              <a:rPr lang="en-US" sz="1300" dirty="0">
                <a:solidFill>
                  <a:srgbClr val="0B2C4A"/>
                </a:solidFill>
                <a:latin typeface="Inter" pitchFamily="34" charset="0"/>
                <a:ea typeface="Inter" pitchFamily="34" charset="-122"/>
                <a:cs typeface="Inter" pitchFamily="34" charset="-120"/>
              </a:rPr>
              <a:t>  104%</a:t>
            </a:r>
            <a:endParaRPr lang="en-US" sz="1300" dirty="0"/>
          </a:p>
        </p:txBody>
      </p:sp>
      <p:sp>
        <p:nvSpPr>
          <p:cNvPr id="142" name="Text 140"/>
          <p:cNvSpPr txBox="1"/>
          <p:nvPr/>
        </p:nvSpPr>
        <p:spPr>
          <a:xfrm>
            <a:off x="6208776" y="38480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43" name="Shape 141"/>
          <p:cNvSpPr/>
          <p:nvPr/>
        </p:nvSpPr>
        <p:spPr>
          <a:xfrm>
            <a:off x="8506383" y="3951553"/>
            <a:ext cx="198400" cy="27432"/>
          </a:xfrm>
          <a:prstGeom prst="rect">
            <a:avLst/>
          </a:prstGeom>
          <a:solidFill>
            <a:srgbClr val="D9D9D9"/>
          </a:solidFill>
          <a:ln/>
        </p:spPr>
      </p:sp>
      <p:sp>
        <p:nvSpPr>
          <p:cNvPr id="144" name="Shape 142"/>
          <p:cNvSpPr/>
          <p:nvPr/>
        </p:nvSpPr>
        <p:spPr>
          <a:xfrm>
            <a:off x="8627059" y="3887545"/>
            <a:ext cx="155448" cy="155448"/>
          </a:xfrm>
          <a:prstGeom prst="ellipse">
            <a:avLst/>
          </a:prstGeom>
          <a:solidFill>
            <a:srgbClr val="0B2C4A"/>
          </a:solidFill>
          <a:ln/>
        </p:spPr>
      </p:sp>
      <p:sp>
        <p:nvSpPr>
          <p:cNvPr id="145" name="Shape 143"/>
          <p:cNvSpPr/>
          <p:nvPr/>
        </p:nvSpPr>
        <p:spPr>
          <a:xfrm>
            <a:off x="8428659" y="3887545"/>
            <a:ext cx="155448" cy="155448"/>
          </a:xfrm>
          <a:prstGeom prst="ellipse">
            <a:avLst/>
          </a:prstGeom>
          <a:solidFill>
            <a:srgbClr val="C2352F"/>
          </a:solidFill>
          <a:ln/>
        </p:spPr>
      </p:sp>
      <p:sp>
        <p:nvSpPr>
          <p:cNvPr id="146" name="Text 144"/>
          <p:cNvSpPr txBox="1"/>
          <p:nvPr/>
        </p:nvSpPr>
        <p:spPr>
          <a:xfrm>
            <a:off x="10049256" y="384801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a:t>
            </a:r>
            <a:pPr algn="r" indent="0" marL="0">
              <a:buNone/>
            </a:pPr>
            <a:r>
              <a:rPr lang="en-US" sz="1300" dirty="0">
                <a:solidFill>
                  <a:srgbClr val="0B2C4A"/>
                </a:solidFill>
                <a:latin typeface="Inter" pitchFamily="34" charset="0"/>
                <a:ea typeface="Inter" pitchFamily="34" charset="-122"/>
                <a:cs typeface="Inter" pitchFamily="34" charset="-120"/>
              </a:rPr>
              <a:t>  89%</a:t>
            </a:r>
            <a:endParaRPr lang="en-US" sz="1300" dirty="0"/>
          </a:p>
        </p:txBody>
      </p:sp>
      <p:sp>
        <p:nvSpPr>
          <p:cNvPr id="147" name="Text 145"/>
          <p:cNvSpPr txBox="1"/>
          <p:nvPr/>
        </p:nvSpPr>
        <p:spPr>
          <a:xfrm>
            <a:off x="6208776" y="40825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8" name="Shape 146"/>
          <p:cNvSpPr/>
          <p:nvPr/>
        </p:nvSpPr>
        <p:spPr>
          <a:xfrm>
            <a:off x="8492153" y="4186069"/>
            <a:ext cx="689844" cy="27432"/>
          </a:xfrm>
          <a:prstGeom prst="rect">
            <a:avLst/>
          </a:prstGeom>
          <a:solidFill>
            <a:srgbClr val="D9D9D9"/>
          </a:solidFill>
          <a:ln/>
        </p:spPr>
      </p:sp>
      <p:sp>
        <p:nvSpPr>
          <p:cNvPr id="149" name="Shape 147"/>
          <p:cNvSpPr/>
          <p:nvPr/>
        </p:nvSpPr>
        <p:spPr>
          <a:xfrm>
            <a:off x="9104273" y="4122061"/>
            <a:ext cx="155448" cy="155448"/>
          </a:xfrm>
          <a:prstGeom prst="ellipse">
            <a:avLst/>
          </a:prstGeom>
          <a:solidFill>
            <a:srgbClr val="0B2C4A"/>
          </a:solidFill>
          <a:ln/>
        </p:spPr>
      </p:sp>
      <p:sp>
        <p:nvSpPr>
          <p:cNvPr id="150" name="Shape 148"/>
          <p:cNvSpPr/>
          <p:nvPr/>
        </p:nvSpPr>
        <p:spPr>
          <a:xfrm>
            <a:off x="8414429" y="4122061"/>
            <a:ext cx="155448" cy="155448"/>
          </a:xfrm>
          <a:prstGeom prst="ellipse">
            <a:avLst/>
          </a:prstGeom>
          <a:solidFill>
            <a:srgbClr val="C2352F"/>
          </a:solidFill>
          <a:ln/>
        </p:spPr>
      </p:sp>
      <p:sp>
        <p:nvSpPr>
          <p:cNvPr id="151" name="Text 149"/>
          <p:cNvSpPr txBox="1"/>
          <p:nvPr/>
        </p:nvSpPr>
        <p:spPr>
          <a:xfrm>
            <a:off x="10049256" y="408252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71%</a:t>
            </a:r>
            <a:pPr algn="r" indent="0" marL="0">
              <a:buNone/>
            </a:pPr>
            <a:r>
              <a:rPr lang="en-US" sz="1300" dirty="0">
                <a:solidFill>
                  <a:srgbClr val="0B2C4A"/>
                </a:solidFill>
                <a:latin typeface="Inter" pitchFamily="34" charset="0"/>
                <a:ea typeface="Inter" pitchFamily="34" charset="-122"/>
                <a:cs typeface="Inter" pitchFamily="34" charset="-120"/>
              </a:rPr>
              <a:t>  129%</a:t>
            </a:r>
            <a:endParaRPr lang="en-US" sz="1300" dirty="0"/>
          </a:p>
        </p:txBody>
      </p:sp>
      <p:sp>
        <p:nvSpPr>
          <p:cNvPr id="152" name="Text 150"/>
          <p:cNvSpPr txBox="1"/>
          <p:nvPr/>
        </p:nvSpPr>
        <p:spPr>
          <a:xfrm>
            <a:off x="6208776" y="43170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53" name="Shape 151"/>
          <p:cNvSpPr/>
          <p:nvPr/>
        </p:nvSpPr>
        <p:spPr>
          <a:xfrm>
            <a:off x="8478173" y="4420586"/>
            <a:ext cx="73001" cy="27432"/>
          </a:xfrm>
          <a:prstGeom prst="rect">
            <a:avLst/>
          </a:prstGeom>
          <a:solidFill>
            <a:srgbClr val="D9D9D9"/>
          </a:solidFill>
          <a:ln/>
        </p:spPr>
      </p:sp>
      <p:sp>
        <p:nvSpPr>
          <p:cNvPr id="154" name="Shape 152"/>
          <p:cNvSpPr/>
          <p:nvPr/>
        </p:nvSpPr>
        <p:spPr>
          <a:xfrm>
            <a:off x="8473450" y="4356578"/>
            <a:ext cx="155448" cy="155448"/>
          </a:xfrm>
          <a:prstGeom prst="ellipse">
            <a:avLst/>
          </a:prstGeom>
          <a:solidFill>
            <a:srgbClr val="0B2C4A"/>
          </a:solidFill>
          <a:ln/>
        </p:spPr>
      </p:sp>
      <p:sp>
        <p:nvSpPr>
          <p:cNvPr id="155" name="Shape 153"/>
          <p:cNvSpPr/>
          <p:nvPr/>
        </p:nvSpPr>
        <p:spPr>
          <a:xfrm>
            <a:off x="8400449" y="4356578"/>
            <a:ext cx="155448" cy="155448"/>
          </a:xfrm>
          <a:prstGeom prst="ellipse">
            <a:avLst/>
          </a:prstGeom>
          <a:solidFill>
            <a:srgbClr val="C2352F"/>
          </a:solidFill>
          <a:ln/>
        </p:spPr>
      </p:sp>
      <p:sp>
        <p:nvSpPr>
          <p:cNvPr id="156" name="Text 154"/>
          <p:cNvSpPr txBox="1"/>
          <p:nvPr/>
        </p:nvSpPr>
        <p:spPr>
          <a:xfrm>
            <a:off x="10049256" y="431704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a:t>
            </a:r>
            <a:pPr algn="r" indent="0" marL="0">
              <a:buNone/>
            </a:pPr>
            <a:r>
              <a:rPr lang="en-US" sz="1300" dirty="0">
                <a:solidFill>
                  <a:srgbClr val="0B2C4A"/>
                </a:solidFill>
                <a:latin typeface="Inter" pitchFamily="34" charset="0"/>
                <a:ea typeface="Inter" pitchFamily="34" charset="-122"/>
                <a:cs typeface="Inter" pitchFamily="34" charset="-120"/>
              </a:rPr>
              <a:t>  76%</a:t>
            </a:r>
            <a:endParaRPr lang="en-US" sz="1300" dirty="0"/>
          </a:p>
        </p:txBody>
      </p:sp>
      <p:sp>
        <p:nvSpPr>
          <p:cNvPr id="157" name="Text 155"/>
          <p:cNvSpPr txBox="1"/>
          <p:nvPr/>
        </p:nvSpPr>
        <p:spPr>
          <a:xfrm>
            <a:off x="6208776" y="45515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8" name="Shape 156"/>
          <p:cNvSpPr/>
          <p:nvPr/>
        </p:nvSpPr>
        <p:spPr>
          <a:xfrm>
            <a:off x="8466129" y="4655103"/>
            <a:ext cx="635814" cy="27432"/>
          </a:xfrm>
          <a:prstGeom prst="rect">
            <a:avLst/>
          </a:prstGeom>
          <a:solidFill>
            <a:srgbClr val="D9D9D9"/>
          </a:solidFill>
          <a:ln/>
        </p:spPr>
      </p:sp>
      <p:sp>
        <p:nvSpPr>
          <p:cNvPr id="159" name="Shape 157"/>
          <p:cNvSpPr/>
          <p:nvPr/>
        </p:nvSpPr>
        <p:spPr>
          <a:xfrm>
            <a:off x="9024219" y="4591095"/>
            <a:ext cx="155448" cy="155448"/>
          </a:xfrm>
          <a:prstGeom prst="ellipse">
            <a:avLst/>
          </a:prstGeom>
          <a:solidFill>
            <a:srgbClr val="0B2C4A"/>
          </a:solidFill>
          <a:ln/>
        </p:spPr>
      </p:sp>
      <p:sp>
        <p:nvSpPr>
          <p:cNvPr id="160" name="Shape 158"/>
          <p:cNvSpPr/>
          <p:nvPr/>
        </p:nvSpPr>
        <p:spPr>
          <a:xfrm>
            <a:off x="8388405" y="4591095"/>
            <a:ext cx="155448" cy="155448"/>
          </a:xfrm>
          <a:prstGeom prst="ellipse">
            <a:avLst/>
          </a:prstGeom>
          <a:solidFill>
            <a:srgbClr val="C2352F"/>
          </a:solidFill>
          <a:ln/>
        </p:spPr>
      </p:sp>
      <p:sp>
        <p:nvSpPr>
          <p:cNvPr id="161" name="Text 159"/>
          <p:cNvSpPr txBox="1"/>
          <p:nvPr/>
        </p:nvSpPr>
        <p:spPr>
          <a:xfrm>
            <a:off x="10049256" y="455156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69%</a:t>
            </a:r>
            <a:pPr algn="r" indent="0" marL="0">
              <a:buNone/>
            </a:pPr>
            <a:r>
              <a:rPr lang="en-US" sz="1300" dirty="0">
                <a:solidFill>
                  <a:srgbClr val="0B2C4A"/>
                </a:solidFill>
                <a:latin typeface="Inter" pitchFamily="34" charset="0"/>
                <a:ea typeface="Inter" pitchFamily="34" charset="-122"/>
                <a:cs typeface="Inter" pitchFamily="34" charset="-120"/>
              </a:rPr>
              <a:t>  122%</a:t>
            </a:r>
            <a:endParaRPr lang="en-US" sz="1300" dirty="0"/>
          </a:p>
        </p:txBody>
      </p:sp>
      <p:sp>
        <p:nvSpPr>
          <p:cNvPr id="162" name="Text 160"/>
          <p:cNvSpPr txBox="1"/>
          <p:nvPr/>
        </p:nvSpPr>
        <p:spPr>
          <a:xfrm>
            <a:off x="6208776" y="47860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3" name="Shape 161"/>
          <p:cNvSpPr/>
          <p:nvPr/>
        </p:nvSpPr>
        <p:spPr>
          <a:xfrm>
            <a:off x="8458867" y="4889620"/>
            <a:ext cx="335577" cy="27432"/>
          </a:xfrm>
          <a:prstGeom prst="rect">
            <a:avLst/>
          </a:prstGeom>
          <a:solidFill>
            <a:srgbClr val="D9D9D9"/>
          </a:solidFill>
          <a:ln/>
        </p:spPr>
      </p:sp>
      <p:sp>
        <p:nvSpPr>
          <p:cNvPr id="164" name="Shape 162"/>
          <p:cNvSpPr/>
          <p:nvPr/>
        </p:nvSpPr>
        <p:spPr>
          <a:xfrm>
            <a:off x="8716721" y="4825612"/>
            <a:ext cx="155448" cy="155448"/>
          </a:xfrm>
          <a:prstGeom prst="ellipse">
            <a:avLst/>
          </a:prstGeom>
          <a:solidFill>
            <a:srgbClr val="0B2C4A"/>
          </a:solidFill>
          <a:ln/>
        </p:spPr>
      </p:sp>
      <p:sp>
        <p:nvSpPr>
          <p:cNvPr id="165" name="Shape 163"/>
          <p:cNvSpPr/>
          <p:nvPr/>
        </p:nvSpPr>
        <p:spPr>
          <a:xfrm>
            <a:off x="8381143" y="4825612"/>
            <a:ext cx="155448" cy="155448"/>
          </a:xfrm>
          <a:prstGeom prst="ellipse">
            <a:avLst/>
          </a:prstGeom>
          <a:solidFill>
            <a:srgbClr val="C2352F"/>
          </a:solidFill>
          <a:ln/>
        </p:spPr>
      </p:sp>
      <p:sp>
        <p:nvSpPr>
          <p:cNvPr id="166" name="Text 164"/>
          <p:cNvSpPr txBox="1"/>
          <p:nvPr/>
        </p:nvSpPr>
        <p:spPr>
          <a:xfrm>
            <a:off x="10049256" y="478607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67" name="Text 165"/>
          <p:cNvSpPr txBox="1"/>
          <p:nvPr/>
        </p:nvSpPr>
        <p:spPr>
          <a:xfrm>
            <a:off x="6208776" y="50205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68" name="Shape 166"/>
          <p:cNvSpPr/>
          <p:nvPr/>
        </p:nvSpPr>
        <p:spPr>
          <a:xfrm>
            <a:off x="8448076" y="5124136"/>
            <a:ext cx="363217" cy="27432"/>
          </a:xfrm>
          <a:prstGeom prst="rect">
            <a:avLst/>
          </a:prstGeom>
          <a:solidFill>
            <a:srgbClr val="D9D9D9"/>
          </a:solidFill>
          <a:ln/>
        </p:spPr>
      </p:sp>
      <p:sp>
        <p:nvSpPr>
          <p:cNvPr id="169" name="Shape 167"/>
          <p:cNvSpPr/>
          <p:nvPr/>
        </p:nvSpPr>
        <p:spPr>
          <a:xfrm>
            <a:off x="8733569" y="5060128"/>
            <a:ext cx="155448" cy="155448"/>
          </a:xfrm>
          <a:prstGeom prst="ellipse">
            <a:avLst/>
          </a:prstGeom>
          <a:solidFill>
            <a:srgbClr val="0B2C4A"/>
          </a:solidFill>
          <a:ln/>
        </p:spPr>
      </p:sp>
      <p:sp>
        <p:nvSpPr>
          <p:cNvPr id="170" name="Shape 168"/>
          <p:cNvSpPr/>
          <p:nvPr/>
        </p:nvSpPr>
        <p:spPr>
          <a:xfrm>
            <a:off x="8370352" y="5060128"/>
            <a:ext cx="155448" cy="155448"/>
          </a:xfrm>
          <a:prstGeom prst="ellipse">
            <a:avLst/>
          </a:prstGeom>
          <a:solidFill>
            <a:srgbClr val="C2352F"/>
          </a:solidFill>
          <a:ln/>
        </p:spPr>
      </p:sp>
      <p:sp>
        <p:nvSpPr>
          <p:cNvPr id="171" name="Text 169"/>
          <p:cNvSpPr txBox="1"/>
          <p:nvPr/>
        </p:nvSpPr>
        <p:spPr>
          <a:xfrm>
            <a:off x="10049256" y="502059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98%</a:t>
            </a:r>
            <a:endParaRPr lang="en-US" sz="1300" dirty="0"/>
          </a:p>
        </p:txBody>
      </p:sp>
      <p:sp>
        <p:nvSpPr>
          <p:cNvPr id="172" name="Text 170"/>
          <p:cNvSpPr txBox="1"/>
          <p:nvPr/>
        </p:nvSpPr>
        <p:spPr>
          <a:xfrm>
            <a:off x="6208776" y="5255111"/>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73" name="Shape 171"/>
          <p:cNvSpPr/>
          <p:nvPr/>
        </p:nvSpPr>
        <p:spPr>
          <a:xfrm>
            <a:off x="8447091" y="5358653"/>
            <a:ext cx="75203" cy="27432"/>
          </a:xfrm>
          <a:prstGeom prst="rect">
            <a:avLst/>
          </a:prstGeom>
          <a:solidFill>
            <a:srgbClr val="D9D9D9"/>
          </a:solidFill>
          <a:ln/>
        </p:spPr>
      </p:sp>
      <p:sp>
        <p:nvSpPr>
          <p:cNvPr id="174" name="Shape 172"/>
          <p:cNvSpPr/>
          <p:nvPr/>
        </p:nvSpPr>
        <p:spPr>
          <a:xfrm>
            <a:off x="8444570" y="5294645"/>
            <a:ext cx="155448" cy="155448"/>
          </a:xfrm>
          <a:prstGeom prst="ellipse">
            <a:avLst/>
          </a:prstGeom>
          <a:solidFill>
            <a:srgbClr val="0B2C4A"/>
          </a:solidFill>
          <a:ln/>
        </p:spPr>
      </p:sp>
      <p:sp>
        <p:nvSpPr>
          <p:cNvPr id="175" name="Shape 173"/>
          <p:cNvSpPr/>
          <p:nvPr/>
        </p:nvSpPr>
        <p:spPr>
          <a:xfrm>
            <a:off x="8369367" y="5294645"/>
            <a:ext cx="155448" cy="155448"/>
          </a:xfrm>
          <a:prstGeom prst="ellipse">
            <a:avLst/>
          </a:prstGeom>
          <a:solidFill>
            <a:srgbClr val="C2352F"/>
          </a:solidFill>
          <a:ln/>
        </p:spPr>
      </p:sp>
      <p:sp>
        <p:nvSpPr>
          <p:cNvPr id="176" name="Text 174"/>
          <p:cNvSpPr txBox="1"/>
          <p:nvPr/>
        </p:nvSpPr>
        <p:spPr>
          <a:xfrm>
            <a:off x="10049256" y="5255111"/>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a:t>
            </a:r>
            <a:pPr algn="r" indent="0" marL="0">
              <a:buNone/>
            </a:pPr>
            <a:r>
              <a:rPr lang="en-US" sz="1300" dirty="0">
                <a:solidFill>
                  <a:srgbClr val="0B2C4A"/>
                </a:solidFill>
                <a:latin typeface="Inter" pitchFamily="34" charset="0"/>
                <a:ea typeface="Inter" pitchFamily="34" charset="-122"/>
                <a:cs typeface="Inter" pitchFamily="34" charset="-120"/>
              </a:rPr>
              <a:t>  74%</a:t>
            </a:r>
            <a:endParaRPr lang="en-US" sz="1300" dirty="0"/>
          </a:p>
        </p:txBody>
      </p:sp>
      <p:sp>
        <p:nvSpPr>
          <p:cNvPr id="177" name="Shape 175"/>
          <p:cNvSpPr/>
          <p:nvPr/>
        </p:nvSpPr>
        <p:spPr>
          <a:xfrm>
            <a:off x="457200" y="5961888"/>
            <a:ext cx="11274552" cy="548640"/>
          </a:xfrm>
          <a:prstGeom prst="rect">
            <a:avLst/>
          </a:prstGeom>
          <a:solidFill>
            <a:srgbClr val="EDF4F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top quarter of techs already run above 85%. Same bays, same dispatch, same car count.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Is It the Work or the Workers?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FEWER ROS · 10 STORES</a:t>
            </a:r>
            <a:endParaRPr lang="en-US" sz="1400" dirty="0"/>
          </a:p>
        </p:txBody>
      </p:sp>
      <p:sp>
        <p:nvSpPr>
          <p:cNvPr id="7" name="Text 5"/>
          <p:cNvSpPr txBox="1"/>
          <p:nvPr/>
        </p:nvSpPr>
        <p:spPr>
          <a:xfrm>
            <a:off x="3438144"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8" name="Text 6"/>
          <p:cNvSpPr txBox="1"/>
          <p:nvPr/>
        </p:nvSpPr>
        <p:spPr>
          <a:xfrm>
            <a:off x="4187952"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9" name="Text 7"/>
          <p:cNvSpPr txBox="1"/>
          <p:nvPr/>
        </p:nvSpPr>
        <p:spPr>
          <a:xfrm>
            <a:off x="502920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10" name="Text 8"/>
          <p:cNvSpPr txBox="1"/>
          <p:nvPr/>
        </p:nvSpPr>
        <p:spPr>
          <a:xfrm>
            <a:off x="658368" y="175564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 name="Shape 9"/>
          <p:cNvSpPr/>
          <p:nvPr/>
        </p:nvSpPr>
        <p:spPr>
          <a:xfrm>
            <a:off x="2651760" y="1855318"/>
            <a:ext cx="648144" cy="199339"/>
          </a:xfrm>
          <a:prstGeom prst="rect">
            <a:avLst/>
          </a:prstGeom>
          <a:solidFill>
            <a:srgbClr val="C2352F"/>
          </a:solidFill>
          <a:ln/>
        </p:spPr>
      </p:sp>
      <p:sp>
        <p:nvSpPr>
          <p:cNvPr id="12" name="Text 10"/>
          <p:cNvSpPr txBox="1"/>
          <p:nvPr/>
        </p:nvSpPr>
        <p:spPr>
          <a:xfrm>
            <a:off x="3438144" y="175564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83.6%</a:t>
            </a:r>
            <a:endParaRPr lang="en-US" sz="1300" dirty="0"/>
          </a:p>
        </p:txBody>
      </p:sp>
      <p:sp>
        <p:nvSpPr>
          <p:cNvPr id="13" name="Text 11"/>
          <p:cNvSpPr txBox="1"/>
          <p:nvPr/>
        </p:nvSpPr>
        <p:spPr>
          <a:xfrm>
            <a:off x="4187952"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4" name="Text 12"/>
          <p:cNvSpPr txBox="1"/>
          <p:nvPr/>
        </p:nvSpPr>
        <p:spPr>
          <a:xfrm>
            <a:off x="5029200"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5" name="Text 13"/>
          <p:cNvSpPr txBox="1"/>
          <p:nvPr/>
        </p:nvSpPr>
        <p:spPr>
          <a:xfrm>
            <a:off x="658368" y="2154326"/>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 name="Shape 14"/>
          <p:cNvSpPr/>
          <p:nvPr/>
        </p:nvSpPr>
        <p:spPr>
          <a:xfrm>
            <a:off x="2651760" y="2253996"/>
            <a:ext cx="615319" cy="199339"/>
          </a:xfrm>
          <a:prstGeom prst="rect">
            <a:avLst/>
          </a:prstGeom>
          <a:solidFill>
            <a:srgbClr val="C2352F"/>
          </a:solidFill>
          <a:ln/>
        </p:spPr>
      </p:sp>
      <p:sp>
        <p:nvSpPr>
          <p:cNvPr id="17" name="Text 15"/>
          <p:cNvSpPr txBox="1"/>
          <p:nvPr/>
        </p:nvSpPr>
        <p:spPr>
          <a:xfrm>
            <a:off x="3438144" y="2154326"/>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81.4%</a:t>
            </a:r>
            <a:endParaRPr lang="en-US" sz="1300" dirty="0"/>
          </a:p>
        </p:txBody>
      </p:sp>
      <p:sp>
        <p:nvSpPr>
          <p:cNvPr id="18" name="Text 16"/>
          <p:cNvSpPr txBox="1"/>
          <p:nvPr/>
        </p:nvSpPr>
        <p:spPr>
          <a:xfrm>
            <a:off x="4187952"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9" name="Text 17"/>
          <p:cNvSpPr txBox="1"/>
          <p:nvPr/>
        </p:nvSpPr>
        <p:spPr>
          <a:xfrm>
            <a:off x="5029200"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20" name="Text 18"/>
          <p:cNvSpPr txBox="1"/>
          <p:nvPr/>
        </p:nvSpPr>
        <p:spPr>
          <a:xfrm>
            <a:off x="658368" y="255300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1" name="Shape 19"/>
          <p:cNvSpPr/>
          <p:nvPr/>
        </p:nvSpPr>
        <p:spPr>
          <a:xfrm>
            <a:off x="2651760" y="2652674"/>
            <a:ext cx="576700" cy="199339"/>
          </a:xfrm>
          <a:prstGeom prst="rect">
            <a:avLst/>
          </a:prstGeom>
          <a:solidFill>
            <a:srgbClr val="C2352F"/>
          </a:solidFill>
          <a:ln/>
        </p:spPr>
      </p:sp>
      <p:sp>
        <p:nvSpPr>
          <p:cNvPr id="22" name="Text 20"/>
          <p:cNvSpPr txBox="1"/>
          <p:nvPr/>
        </p:nvSpPr>
        <p:spPr>
          <a:xfrm>
            <a:off x="3438144" y="255300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23" name="Text 21"/>
          <p:cNvSpPr txBox="1"/>
          <p:nvPr/>
        </p:nvSpPr>
        <p:spPr>
          <a:xfrm>
            <a:off x="4187952"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24" name="Text 22"/>
          <p:cNvSpPr txBox="1"/>
          <p:nvPr/>
        </p:nvSpPr>
        <p:spPr>
          <a:xfrm>
            <a:off x="5029200"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25" name="Text 23"/>
          <p:cNvSpPr txBox="1"/>
          <p:nvPr/>
        </p:nvSpPr>
        <p:spPr>
          <a:xfrm>
            <a:off x="658368" y="2951683"/>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6" name="Shape 24"/>
          <p:cNvSpPr/>
          <p:nvPr/>
        </p:nvSpPr>
        <p:spPr>
          <a:xfrm>
            <a:off x="2651760" y="3051353"/>
            <a:ext cx="499175" cy="199339"/>
          </a:xfrm>
          <a:prstGeom prst="rect">
            <a:avLst/>
          </a:prstGeom>
          <a:solidFill>
            <a:srgbClr val="C2352F"/>
          </a:solidFill>
          <a:ln/>
        </p:spPr>
      </p:sp>
      <p:sp>
        <p:nvSpPr>
          <p:cNvPr id="27" name="Text 25"/>
          <p:cNvSpPr txBox="1"/>
          <p:nvPr/>
        </p:nvSpPr>
        <p:spPr>
          <a:xfrm>
            <a:off x="3438144" y="2951683"/>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73.6%</a:t>
            </a:r>
            <a:endParaRPr lang="en-US" sz="1300" dirty="0"/>
          </a:p>
        </p:txBody>
      </p:sp>
      <p:sp>
        <p:nvSpPr>
          <p:cNvPr id="28" name="Text 26"/>
          <p:cNvSpPr txBox="1"/>
          <p:nvPr/>
        </p:nvSpPr>
        <p:spPr>
          <a:xfrm>
            <a:off x="4187952" y="2951683"/>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29" name="Text 27"/>
          <p:cNvSpPr txBox="1"/>
          <p:nvPr/>
        </p:nvSpPr>
        <p:spPr>
          <a:xfrm>
            <a:off x="5029200" y="2951683"/>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0" name="Text 28"/>
          <p:cNvSpPr txBox="1"/>
          <p:nvPr/>
        </p:nvSpPr>
        <p:spPr>
          <a:xfrm>
            <a:off x="658368" y="3350362"/>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1" name="Shape 29"/>
          <p:cNvSpPr/>
          <p:nvPr/>
        </p:nvSpPr>
        <p:spPr>
          <a:xfrm>
            <a:off x="2651760" y="3450031"/>
            <a:ext cx="463439" cy="199339"/>
          </a:xfrm>
          <a:prstGeom prst="rect">
            <a:avLst/>
          </a:prstGeom>
          <a:solidFill>
            <a:srgbClr val="C2352F"/>
          </a:solidFill>
          <a:ln/>
        </p:spPr>
      </p:sp>
      <p:sp>
        <p:nvSpPr>
          <p:cNvPr id="32" name="Text 30"/>
          <p:cNvSpPr txBox="1"/>
          <p:nvPr/>
        </p:nvSpPr>
        <p:spPr>
          <a:xfrm>
            <a:off x="3438144" y="3350362"/>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71.2%</a:t>
            </a:r>
            <a:endParaRPr lang="en-US" sz="1300" dirty="0"/>
          </a:p>
        </p:txBody>
      </p:sp>
      <p:sp>
        <p:nvSpPr>
          <p:cNvPr id="33" name="Text 31"/>
          <p:cNvSpPr txBox="1"/>
          <p:nvPr/>
        </p:nvSpPr>
        <p:spPr>
          <a:xfrm>
            <a:off x="4187952" y="3350362"/>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4" name="Text 32"/>
          <p:cNvSpPr txBox="1"/>
          <p:nvPr/>
        </p:nvSpPr>
        <p:spPr>
          <a:xfrm>
            <a:off x="5029200" y="3350362"/>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5" name="Text 33"/>
          <p:cNvSpPr txBox="1"/>
          <p:nvPr/>
        </p:nvSpPr>
        <p:spPr>
          <a:xfrm>
            <a:off x="658368" y="3749040"/>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36" name="Shape 34"/>
          <p:cNvSpPr/>
          <p:nvPr/>
        </p:nvSpPr>
        <p:spPr>
          <a:xfrm>
            <a:off x="2651760" y="3848710"/>
            <a:ext cx="446067" cy="199339"/>
          </a:xfrm>
          <a:prstGeom prst="rect">
            <a:avLst/>
          </a:prstGeom>
          <a:solidFill>
            <a:srgbClr val="C2352F"/>
          </a:solidFill>
          <a:ln/>
        </p:spPr>
      </p:sp>
      <p:sp>
        <p:nvSpPr>
          <p:cNvPr id="37" name="Text 35"/>
          <p:cNvSpPr txBox="1"/>
          <p:nvPr/>
        </p:nvSpPr>
        <p:spPr>
          <a:xfrm>
            <a:off x="3438144" y="3749040"/>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38" name="Text 36"/>
          <p:cNvSpPr txBox="1"/>
          <p:nvPr/>
        </p:nvSpPr>
        <p:spPr>
          <a:xfrm>
            <a:off x="4187952" y="3749040"/>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9" name="Text 37"/>
          <p:cNvSpPr txBox="1"/>
          <p:nvPr/>
        </p:nvSpPr>
        <p:spPr>
          <a:xfrm>
            <a:off x="5029200" y="3749040"/>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0" name="Text 38"/>
          <p:cNvSpPr txBox="1"/>
          <p:nvPr/>
        </p:nvSpPr>
        <p:spPr>
          <a:xfrm>
            <a:off x="658368" y="414771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1" name="Shape 39"/>
          <p:cNvSpPr/>
          <p:nvPr/>
        </p:nvSpPr>
        <p:spPr>
          <a:xfrm>
            <a:off x="2651760" y="4247388"/>
            <a:ext cx="431099" cy="199339"/>
          </a:xfrm>
          <a:prstGeom prst="rect">
            <a:avLst/>
          </a:prstGeom>
          <a:solidFill>
            <a:srgbClr val="C2352F"/>
          </a:solidFill>
          <a:ln/>
        </p:spPr>
      </p:sp>
      <p:sp>
        <p:nvSpPr>
          <p:cNvPr id="42" name="Text 40"/>
          <p:cNvSpPr txBox="1"/>
          <p:nvPr/>
        </p:nvSpPr>
        <p:spPr>
          <a:xfrm>
            <a:off x="3438144" y="414771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69.0%</a:t>
            </a:r>
            <a:endParaRPr lang="en-US" sz="1300" dirty="0"/>
          </a:p>
        </p:txBody>
      </p:sp>
      <p:sp>
        <p:nvSpPr>
          <p:cNvPr id="43" name="Text 41"/>
          <p:cNvSpPr txBox="1"/>
          <p:nvPr/>
        </p:nvSpPr>
        <p:spPr>
          <a:xfrm>
            <a:off x="4187952" y="414771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44" name="Text 42"/>
          <p:cNvSpPr txBox="1"/>
          <p:nvPr/>
        </p:nvSpPr>
        <p:spPr>
          <a:xfrm>
            <a:off x="5029200" y="414771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5" name="Text 43"/>
          <p:cNvSpPr txBox="1"/>
          <p:nvPr/>
        </p:nvSpPr>
        <p:spPr>
          <a:xfrm>
            <a:off x="658368" y="4546397"/>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6" name="Shape 44"/>
          <p:cNvSpPr/>
          <p:nvPr/>
        </p:nvSpPr>
        <p:spPr>
          <a:xfrm>
            <a:off x="2651760" y="4646066"/>
            <a:ext cx="422076" cy="199339"/>
          </a:xfrm>
          <a:prstGeom prst="rect">
            <a:avLst/>
          </a:prstGeom>
          <a:solidFill>
            <a:srgbClr val="C2352F"/>
          </a:solidFill>
          <a:ln/>
        </p:spPr>
      </p:sp>
      <p:sp>
        <p:nvSpPr>
          <p:cNvPr id="47" name="Text 45"/>
          <p:cNvSpPr txBox="1"/>
          <p:nvPr/>
        </p:nvSpPr>
        <p:spPr>
          <a:xfrm>
            <a:off x="3438144" y="4546397"/>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68.4%</a:t>
            </a:r>
            <a:endParaRPr lang="en-US" sz="1300" dirty="0"/>
          </a:p>
        </p:txBody>
      </p:sp>
      <p:sp>
        <p:nvSpPr>
          <p:cNvPr id="48" name="Text 46"/>
          <p:cNvSpPr txBox="1"/>
          <p:nvPr/>
        </p:nvSpPr>
        <p:spPr>
          <a:xfrm>
            <a:off x="4187952" y="4546397"/>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49" name="Text 47"/>
          <p:cNvSpPr txBox="1"/>
          <p:nvPr/>
        </p:nvSpPr>
        <p:spPr>
          <a:xfrm>
            <a:off x="5029200" y="4546397"/>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0" name="Text 48"/>
          <p:cNvSpPr txBox="1"/>
          <p:nvPr/>
        </p:nvSpPr>
        <p:spPr>
          <a:xfrm>
            <a:off x="658368" y="494507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2651760" y="5044745"/>
            <a:ext cx="408666" cy="199339"/>
          </a:xfrm>
          <a:prstGeom prst="rect">
            <a:avLst/>
          </a:prstGeom>
          <a:solidFill>
            <a:srgbClr val="C2352F"/>
          </a:solidFill>
          <a:ln/>
        </p:spPr>
      </p:sp>
      <p:sp>
        <p:nvSpPr>
          <p:cNvPr id="52" name="Text 50"/>
          <p:cNvSpPr txBox="1"/>
          <p:nvPr/>
        </p:nvSpPr>
        <p:spPr>
          <a:xfrm>
            <a:off x="3438144" y="494507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53" name="Text 51"/>
          <p:cNvSpPr txBox="1"/>
          <p:nvPr/>
        </p:nvSpPr>
        <p:spPr>
          <a:xfrm>
            <a:off x="4187952" y="494507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54" name="Text 52"/>
          <p:cNvSpPr txBox="1"/>
          <p:nvPr/>
        </p:nvSpPr>
        <p:spPr>
          <a:xfrm>
            <a:off x="5029200" y="494507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5" name="Text 53"/>
          <p:cNvSpPr txBox="1"/>
          <p:nvPr/>
        </p:nvSpPr>
        <p:spPr>
          <a:xfrm>
            <a:off x="658368" y="5343754"/>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6" name="Shape 54"/>
          <p:cNvSpPr/>
          <p:nvPr/>
        </p:nvSpPr>
        <p:spPr>
          <a:xfrm>
            <a:off x="2651760" y="5443423"/>
            <a:ext cx="407442" cy="199339"/>
          </a:xfrm>
          <a:prstGeom prst="rect">
            <a:avLst/>
          </a:prstGeom>
          <a:solidFill>
            <a:srgbClr val="C2352F"/>
          </a:solidFill>
          <a:ln/>
        </p:spPr>
      </p:sp>
      <p:sp>
        <p:nvSpPr>
          <p:cNvPr id="57" name="Text 55"/>
          <p:cNvSpPr txBox="1"/>
          <p:nvPr/>
        </p:nvSpPr>
        <p:spPr>
          <a:xfrm>
            <a:off x="3438144" y="5343754"/>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67.4%</a:t>
            </a:r>
            <a:endParaRPr lang="en-US" sz="1300" dirty="0"/>
          </a:p>
        </p:txBody>
      </p:sp>
      <p:sp>
        <p:nvSpPr>
          <p:cNvPr id="58" name="Text 56"/>
          <p:cNvSpPr txBox="1"/>
          <p:nvPr/>
        </p:nvSpPr>
        <p:spPr>
          <a:xfrm>
            <a:off x="4187952" y="5343754"/>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59" name="Text 57"/>
          <p:cNvSpPr txBox="1"/>
          <p:nvPr/>
        </p:nvSpPr>
        <p:spPr>
          <a:xfrm>
            <a:off x="5029200" y="5343754"/>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60" name="Shape 58"/>
          <p:cNvSpPr/>
          <p:nvPr/>
        </p:nvSpPr>
        <p:spPr>
          <a:xfrm>
            <a:off x="3312839" y="1755648"/>
            <a:ext cx="14630" cy="3986784"/>
          </a:xfrm>
          <a:prstGeom prst="rect">
            <a:avLst/>
          </a:prstGeom>
          <a:solidFill>
            <a:srgbClr val="0B2C4A"/>
          </a:solidFill>
          <a:ln/>
        </p:spPr>
      </p:sp>
      <p:sp>
        <p:nvSpPr>
          <p:cNvPr id="61" name="Text 59"/>
          <p:cNvSpPr txBox="1"/>
          <p:nvPr/>
        </p:nvSpPr>
        <p:spPr>
          <a:xfrm>
            <a:off x="6208776"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ENOUGH ROS · 3 STORES</a:t>
            </a:r>
            <a:endParaRPr lang="en-US" sz="1400" dirty="0"/>
          </a:p>
        </p:txBody>
      </p:sp>
      <p:sp>
        <p:nvSpPr>
          <p:cNvPr id="62" name="Text 60"/>
          <p:cNvSpPr txBox="1"/>
          <p:nvPr/>
        </p:nvSpPr>
        <p:spPr>
          <a:xfrm>
            <a:off x="898855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63" name="Text 61"/>
          <p:cNvSpPr txBox="1"/>
          <p:nvPr/>
        </p:nvSpPr>
        <p:spPr>
          <a:xfrm>
            <a:off x="973836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64" name="Text 62"/>
          <p:cNvSpPr txBox="1"/>
          <p:nvPr/>
        </p:nvSpPr>
        <p:spPr>
          <a:xfrm>
            <a:off x="10579608"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65" name="Text 63"/>
          <p:cNvSpPr txBox="1"/>
          <p:nvPr/>
        </p:nvSpPr>
        <p:spPr>
          <a:xfrm>
            <a:off x="6208776" y="175564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6" name="Shape 64"/>
          <p:cNvSpPr/>
          <p:nvPr/>
        </p:nvSpPr>
        <p:spPr>
          <a:xfrm>
            <a:off x="8202168" y="1855318"/>
            <a:ext cx="572597" cy="199339"/>
          </a:xfrm>
          <a:prstGeom prst="rect">
            <a:avLst/>
          </a:prstGeom>
          <a:solidFill>
            <a:srgbClr val="C2352F"/>
          </a:solidFill>
          <a:ln/>
        </p:spPr>
      </p:sp>
      <p:sp>
        <p:nvSpPr>
          <p:cNvPr id="67" name="Text 65"/>
          <p:cNvSpPr txBox="1"/>
          <p:nvPr/>
        </p:nvSpPr>
        <p:spPr>
          <a:xfrm>
            <a:off x="8988552" y="175564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68" name="Text 66"/>
          <p:cNvSpPr txBox="1"/>
          <p:nvPr/>
        </p:nvSpPr>
        <p:spPr>
          <a:xfrm>
            <a:off x="9738360"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69" name="Text 67"/>
          <p:cNvSpPr txBox="1"/>
          <p:nvPr/>
        </p:nvSpPr>
        <p:spPr>
          <a:xfrm>
            <a:off x="10579608"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0" name="Text 68"/>
          <p:cNvSpPr txBox="1"/>
          <p:nvPr/>
        </p:nvSpPr>
        <p:spPr>
          <a:xfrm>
            <a:off x="6208776" y="2154326"/>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1" name="Shape 69"/>
          <p:cNvSpPr/>
          <p:nvPr/>
        </p:nvSpPr>
        <p:spPr>
          <a:xfrm>
            <a:off x="8202168" y="2253996"/>
            <a:ext cx="547492" cy="199339"/>
          </a:xfrm>
          <a:prstGeom prst="rect">
            <a:avLst/>
          </a:prstGeom>
          <a:solidFill>
            <a:srgbClr val="C2352F"/>
          </a:solidFill>
          <a:ln/>
        </p:spPr>
      </p:sp>
      <p:sp>
        <p:nvSpPr>
          <p:cNvPr id="72" name="Text 70"/>
          <p:cNvSpPr txBox="1"/>
          <p:nvPr/>
        </p:nvSpPr>
        <p:spPr>
          <a:xfrm>
            <a:off x="8988552" y="2154326"/>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76.8%</a:t>
            </a:r>
            <a:endParaRPr lang="en-US" sz="1300" dirty="0"/>
          </a:p>
        </p:txBody>
      </p:sp>
      <p:sp>
        <p:nvSpPr>
          <p:cNvPr id="73" name="Text 71"/>
          <p:cNvSpPr txBox="1"/>
          <p:nvPr/>
        </p:nvSpPr>
        <p:spPr>
          <a:xfrm>
            <a:off x="9738360"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74" name="Text 72"/>
          <p:cNvSpPr txBox="1"/>
          <p:nvPr/>
        </p:nvSpPr>
        <p:spPr>
          <a:xfrm>
            <a:off x="10579608"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5" name="Text 73"/>
          <p:cNvSpPr txBox="1"/>
          <p:nvPr/>
        </p:nvSpPr>
        <p:spPr>
          <a:xfrm>
            <a:off x="6208776" y="255300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6" name="Shape 74"/>
          <p:cNvSpPr/>
          <p:nvPr/>
        </p:nvSpPr>
        <p:spPr>
          <a:xfrm>
            <a:off x="8202168" y="2652674"/>
            <a:ext cx="481123" cy="199339"/>
          </a:xfrm>
          <a:prstGeom prst="rect">
            <a:avLst/>
          </a:prstGeom>
          <a:solidFill>
            <a:srgbClr val="C2352F"/>
          </a:solidFill>
          <a:ln/>
        </p:spPr>
      </p:sp>
      <p:sp>
        <p:nvSpPr>
          <p:cNvPr id="77" name="Text 75"/>
          <p:cNvSpPr txBox="1"/>
          <p:nvPr/>
        </p:nvSpPr>
        <p:spPr>
          <a:xfrm>
            <a:off x="8988552" y="255300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72.3%</a:t>
            </a:r>
            <a:endParaRPr lang="en-US" sz="1300" dirty="0"/>
          </a:p>
        </p:txBody>
      </p:sp>
      <p:sp>
        <p:nvSpPr>
          <p:cNvPr id="78" name="Text 76"/>
          <p:cNvSpPr txBox="1"/>
          <p:nvPr/>
        </p:nvSpPr>
        <p:spPr>
          <a:xfrm>
            <a:off x="9738360"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79" name="Text 77"/>
          <p:cNvSpPr txBox="1"/>
          <p:nvPr/>
        </p:nvSpPr>
        <p:spPr>
          <a:xfrm>
            <a:off x="10579608"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80" name="Shape 78"/>
          <p:cNvSpPr/>
          <p:nvPr/>
        </p:nvSpPr>
        <p:spPr>
          <a:xfrm>
            <a:off x="8863247" y="1755648"/>
            <a:ext cx="14630" cy="1196035"/>
          </a:xfrm>
          <a:prstGeom prst="rect">
            <a:avLst/>
          </a:prstGeom>
          <a:solidFill>
            <a:srgbClr val="0B2C4A"/>
          </a:solidFill>
          <a:ln/>
        </p:spPr>
      </p:sp>
      <p:sp>
        <p:nvSpPr>
          <p:cNvPr id="81" name="Shape 79"/>
          <p:cNvSpPr/>
          <p:nvPr/>
        </p:nvSpPr>
        <p:spPr>
          <a:xfrm>
            <a:off x="6035040" y="1371600"/>
            <a:ext cx="10973" cy="4370832"/>
          </a:xfrm>
          <a:prstGeom prst="rect">
            <a:avLst/>
          </a:prstGeom>
          <a:solidFill>
            <a:srgbClr val="D9D9D9"/>
          </a:solidFill>
          <a:ln/>
        </p:spPr>
      </p:sp>
      <p:sp>
        <p:nvSpPr>
          <p:cNvPr id="82" name="Shape 80"/>
          <p:cNvSpPr/>
          <p:nvPr/>
        </p:nvSpPr>
        <p:spPr>
          <a:xfrm>
            <a:off x="457200" y="5961888"/>
            <a:ext cx="11274552" cy="548640"/>
          </a:xfrm>
          <a:prstGeom prst="rect">
            <a:avLst/>
          </a:prstGeom>
          <a:solidFill>
            <a:srgbClr val="EDF4FA"/>
          </a:solidFill>
          <a:ln/>
        </p:spPr>
      </p:sp>
      <p:sp>
        <p:nvSpPr>
          <p:cNvPr id="83" name="Text 8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of the 13 stores under 85% also see fewer ROs per tech than their segment: check car count and staffing first. At HONDA FLAGSTAFF, KIA LV, VOLVO the work is there.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2026-10-19T17:18:01Z</dcterms:created>
  <dcterms:modified xsi:type="dcterms:W3CDTF">2026-10-19T17:18:01Z</dcterms:modified>
</cp:coreProperties>
</file>