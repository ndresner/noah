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by close month. Same-store, INEOS excluded (opened 2026). GMC Prescott body shop labor excluded. ALIGNMENT % = alignment ROs ÷ customer-pay ROs on the op-code report basis. YTD from YTD totals, not the mean of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by close month. Same-store, INEOS excluded (opened 2026). GMC Prescott body shop labor excluded. Jan-Sep 2026 YTD; green at or above the 15% benchmark, red below.
AUDI HENDERSON: 27.5% (2025 21.8%)
LR HENDERSON: 24.4% (2025 19.4%)
HYUNDAI PRESCOTT: 21.8% (2025 15.0%)
HONDA HENDERSON: 21.3% (2025 20.7%)
ACURA: 17.5% (2025 14.2%)
LR LV: 17.4% (2025 11.4%)
MAZDA: 16.7% (2025 10.0%)
HONDA NORTH: 16.2% (2025 15.0%)
HYUNDAI ST GEORGE: 14.8% (2025 5.2%)
SUBARU LV: 14.6% (2025 16.1%)
TOYOTA HENDERSON: 14.5% (2025 15.1%)
CADILLAC: 13.9% (2025 9.7%)
VOLVO: 13.9% (2025 13.5%)
VW HENDERSON: 13.6% (2025 13.5%)
LR RENO: 12.9% (2025 17.7%)
CHEVY LV: 12.9% (2025 13.4%)
SUBARU PRESCOTT: 12.6% (2025 7.1%)
HONDA SPOKANE: 12.5% (2025 10.8%)
TOYOTA PRESCOTT: 12.3% (2025 9.5%)
AUDI RENO: 11.8% (2025 11.7%)
GMC PRESCOTT: 11.7% (2025 5.0%)
LEXUS: 11.4% (2025 8.3%)
CHEVY GMC BULLHEAD: 11.1% (2025 11.2%)
HONDA FLAGSTAFF: 11.1% (2025 5.6%)
SUBARU ST GEORGE: 11.1% (2025 11.9%)
KIA LV: 9.8% (2025 13.3%)
TOYOTA FLAGSTAFF: 9.7% (2025 6.3%)
LINCOLN: 8.4% (2025 2.7%)
KIA ST GEORGE: 8.0% (2025 2.5%)
NISSAN: 7.5% (2025 5.3%)
VW ST GEORGE: 5.6% (2025 3.9%)
TOYOTA SPOKANE: 4.3% (2025 2.6%)
CDJR POST FALLS: 4.2% (2025 1.8%)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by close month. Same-store, INEOS excluded (opened 2026). GMC Prescott body shop labor excluded. BALANCE % = balance ROs ÷ customer-pay ROs on the op-code report basis. YTD from YTD totals, not the mean of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by close month. Same-store, INEOS excluded (opened 2026). GMC Prescott body shop labor excluded. Jan-Sep 2026 YTD; green at or above the 15% benchmark, red below. CHECK OP-CODE MAPPING - under 0.5%: AUDI HENDERSON, AUDI RENO, LEXUS, TOYOTA SPOKANE, VW ST GEORGE. Near zero in 2025, so year-over-year gain may be mapping: HONDA SPOKANE, SUBARU PRESCOTT.
LR HENDERSON: 27.0% (2025 22.9%)
HONDA HENDERSON: 18.4% (2025 17.7%)
LR LV: 17.0% (2025 3.4%)
LR RENO: 17.0% (2025 16.3%)
SUBARU PRESCOTT: 15.0% (2025 0.1%)
ACURA: 14.1% (2025 10.3%)
HYUNDAI PRESCOTT: 13.5% (2025 8.9%)
MAZDA: 13.2% (2025 6.5%)
HONDA NORTH: 12.0% (2025 11.3%)
VOLVO: 11.7% (2025 10.9%)
TOYOTA HENDERSON: 11.2% (2025 11.7%)
SUBARU LV: 10.2% (2025 11.3%)
CHEVY GMC BULLHEAD: 9.1% (2025 6.5%)
VW HENDERSON: 8.3% (2025 7.0%)
GMC PRESCOTT: 7.8% (2025 2.0%)
KIA ST GEORGE: 7.7% (2025 1.1%)
CHEVY LV: 7.3% (2025 4.2%)
TOYOTA PRESCOTT: 6.2% (2025 3.3%)
CADILLAC: 6.0% (2025 2.6%)
KIA LV: 5.2% (2025 6.6%)
TOYOTA FLAGSTAFF: 4.9% (2025 3.7%)
SUBARU ST GEORGE: 3.7% (2025 5.3%)
HONDA SPOKANE: 2.2% (2025 0.1%)
LINCOLN: 1.7% (2025 0.0%)
HONDA FLAGSTAFF: 1.3% (2025 0.2%)
CDJR POST FALLS: 1.3% (2025 0.2%)
HYUNDAI ST GEORGE: 1.2% (2025 0.4%)
NISSAN: 1.1% (2025 2.6%)
TOYOTA SPOKANE: 0.5% (2025 0.3%)
VW ST GEORGE: 0.4% (2025 0.7%)
AUDI RENO: 0.1% (2025 0.2%)
LEXUS: 0.1% (2025 0.1%)
AUDI HENDERSON: 0.0% (2025 0.0%)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by close month. Same-store, INEOS excluded (opened 2026). GMC Prescott body shop labor excluded. BRAKE FLUSH % = brake fluid service ROs ÷ customer-pay ROs on the op-code report basis. YTD from YTD totals, not the mean of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by close month. Same-store, INEOS excluded (opened 2026). GMC Prescott body shop labor excluded. Jan-Sep 2026 YTD; green at or above the 10% benchmark, red below.
LR LV: 20.7% (2025 15.2%)
HONDA HENDERSON: 15.6% (2025 12.9%)
LR HENDERSON: 14.3% (2025 9.0%)
ACURA: 12.7% (2025 8.6%)
HONDA NORTH: 12.1% (2025 13.1%)
VOLVO: 11.9% (2025 12.1%)
NISSAN: 11.6% (2025 3.8%)
SUBARU ST GEORGE: 10.8% (2025 11.0%)
SUBARU PRESCOTT: 10.6% (2025 6.4%)
HONDA SPOKANE: 10.3% (2025 9.8%)
SUBARU LV: 10.1% (2025 9.3%)
TOYOTA HENDERSON: 10.1% (2025 9.7%)
HYUNDAI PRESCOTT: 9.7% (2025 8.1%)
VW HENDERSON: 9.5% (2025 7.8%)
MAZDA: 8.5% (2025 4.6%)
TOYOTA PRESCOTT: 8.4% (2025 6.1%)
LEXUS: 8.4% (2025 4.9%)
KIA LV: 8.3% (2025 7.2%)
TOYOTA FLAGSTAFF: 8.1% (2025 7.3%)
LINCOLN: 7.5% (2025 2.4%)
LR RENO: 7.2% (2025 2.5%)
CHEVY GMC BULLHEAD: 7.1% (2025 3.8%)
TOYOTA SPOKANE: 7.0% (2025 6.8%)
GMC PRESCOTT: 6.1% (2025 4.6%)
KIA ST GEORGE: 6.0% (2025 3.8%)
CHEVY LV: 5.8% (2025 5.3%)
VW ST GEORGE: 5.4% (2025 4.0%)
HYUNDAI ST GEORGE: 4.7% (2025 1.6%)
CADILLAC: 4.7% (2025 4.1%)
CDJR POST FALLS: 4.2% (2025 6.0%)
HONDA FLAGSTAFF: 3.2% (2025 2.4%)
AUDI HENDERSON: 2.5% (2025 1.8%)
AUDI RENO: 1.9% (2025 0.5%)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by close month. Same-store, INEOS excluded (opened 2026). GMC Prescott body shop labor excluded. FUEL SERVICE % = fuel service ROs ÷ customer-pay ROs on the op-code report basis. YTD from YTD totals, not the mean of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by close month. Same-store, INEOS excluded (opened 2026). GMC Prescott body shop labor excluded. Jan-Sep 2026 YTD; green at or above the 7.5% benchmark, red below. CHECK OP-CODE MAPPING - under 0.5%: AUDI HENDERSON, VOLVO, VW HENDERSON. Near zero in 2025, so year-over-year gain may be mapping: HONDA SPOKANE, LR LV, LR RENO, SUBARU ST GEORGE.
SUBARU ST GEORGE: 13.8% (2025 0.0%)
HONDA HENDERSON: 12.0% (2025 10.4%)
SUBARU PRESCOTT: 9.8% (2025 5.9%)
ACURA: 9.4% (2025 5.4%)
KIA ST GEORGE: 8.9% (2025 5.6%)
LINCOLN: 8.2% (2025 2.1%)
HONDA NORTH: 7.7% (2025 5.3%)
HYUNDAI PRESCOTT: 7.4% (2025 6.7%)
SUBARU LV: 7.1% (2025 8.2%)
TOYOTA PRESCOTT: 6.5% (2025 5.0%)
TOYOTA HENDERSON: 6.0% (2025 6.1%)
HYUNDAI ST GEORGE: 5.9% (2025 2.4%)
TOYOTA SPOKANE: 5.8% (2025 6.1%)
LR LV: 5.5% (2025 0.2%)
CHEVY LV: 5.3% (2025 4.8%)
MAZDA: 5.2% (2025 1.4%)
CADILLAC: 5.1% (2025 4.4%)
LR RENO: 4.6% (2025 0.0%)
LEXUS: 4.3% (2025 1.9%)
NISSAN: 4.2% (2025 0.8%)
GMC PRESCOTT: 3.6% (2025 3.0%)
HONDA SPOKANE: 3.2% (2025 0.0%)
KIA LV: 3.2% (2025 2.9%)
CDJR POST FALLS: 3.0% (2025 4.0%)
CHEVY GMC BULLHEAD: 2.7% (2025 1.8%)
VW ST GEORGE: 2.7% (2025 2.4%)
LR HENDERSON: 2.6% (2025 2.4%)
TOYOTA FLAGSTAFF: 1.7% (2025 1.7%)
AUDI RENO: 0.8% (2025 0.0%)
HONDA FLAGSTAFF: 0.7% (2025 0.7%)
AUDI HENDERSON: 0.0% (2025 0.0%)
VOLVO: 0.0% (2025 0.0%)
VW HENDERSON: 0.0% (2025 0.0%)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377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60" kern="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2743200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Benchmarks</a:t>
            </a:r>
            <a:endParaRPr lang="en-US" sz="8200" dirty="0"/>
          </a:p>
        </p:txBody>
      </p:sp>
      <p:sp>
        <p:nvSpPr>
          <p:cNvPr id="4" name="Text 2"/>
          <p:cNvSpPr txBox="1"/>
          <p:nvPr/>
        </p:nvSpPr>
        <p:spPr>
          <a:xfrm>
            <a:off x="694944" y="40416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 15%   ·   Balance 15%   ·   Brake fluid 10%   ·   Fuel service 7.5%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BENCHMARKS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517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167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· JANUARY–SEPTEMBER · SAME-STORE, 33 STORES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11.9%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13.2%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+1.4 pts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 %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+11.4%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16352"/>
          <a:ext cx="11274552" cy="914400"/>
        </p:xfrm>
        <a:graphic>
          <a:graphicData uri="http://schemas.openxmlformats.org/drawingml/2006/table">
            <a:tbl>
              <a:tblPr/>
              <a:tblGrid>
                <a:gridCol w="3118104"/>
                <a:gridCol w="2039112"/>
                <a:gridCol w="2039112"/>
                <a:gridCol w="2039112"/>
                <a:gridCol w="203911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2026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VARIANCE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 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11.1%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+1.0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+8.7%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FEB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12.2%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13.2%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+1.0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+8.1%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+0.6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+4.3%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14.2%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+1.5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+11.9%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+1.2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+10.1%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+1.9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+16.8%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13.2%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+2.0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+17.4%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12.9%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+1.4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+12.0%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11.4%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13.1%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+1.7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+14.4%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1.4 pts to 13.2%, ahead of 2025 in all nine months, but 1.7 pts under the 15% benchmark — 4,821 alignments short.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BENCHMARKS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70078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71800" y="1759682"/>
            <a:ext cx="1828800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55464" y="170078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27.5%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93637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71800" y="1995275"/>
            <a:ext cx="1624010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55464" y="193637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24.4%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17196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71800" y="2230867"/>
            <a:ext cx="1448064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55464" y="217196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21.7%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40756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71800" y="2466460"/>
            <a:ext cx="1416244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55464" y="240756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21.3%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64315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2702052"/>
            <a:ext cx="1163955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55464" y="264315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17.5%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287874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71800" y="2937644"/>
            <a:ext cx="1155692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55464" y="287874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17.3%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311433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3173237"/>
            <a:ext cx="1109675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55464" y="311433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16.6%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334993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71800" y="3408829"/>
            <a:ext cx="1075742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55464" y="334993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16.1%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58552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971800" y="3644422"/>
            <a:ext cx="98616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55464" y="358552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14.8%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382111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971800" y="3880014"/>
            <a:ext cx="96763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55464" y="382111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14.5%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405670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971800" y="4115607"/>
            <a:ext cx="966164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855464" y="405670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14.5%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429230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4351199"/>
            <a:ext cx="922672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855464" y="429230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13.8%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452789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971800" y="4586792"/>
            <a:ext cx="921971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855464" y="452789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13.8%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58368" y="476348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971800" y="4822384"/>
            <a:ext cx="904112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855464" y="476348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13.6%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85216" y="4994507"/>
            <a:ext cx="5413248" cy="22644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499907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971800" y="5057977"/>
            <a:ext cx="882107" cy="117796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855464" y="499907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13.2%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523467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971800" y="5293569"/>
            <a:ext cx="855789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855464" y="523467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12.8%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547026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2971800" y="5529162"/>
            <a:ext cx="854824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855464" y="547026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12.8%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6208776" y="170078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522208" y="1759682"/>
            <a:ext cx="835697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10405872" y="170078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12.5%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6208776" y="193637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8522208" y="1995275"/>
            <a:ext cx="832700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10405872" y="193637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12.5%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6208776" y="217196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8522208" y="2230867"/>
            <a:ext cx="820185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0405872" y="217196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12.3%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6208776" y="240756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8522208" y="2466460"/>
            <a:ext cx="78501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10405872" y="240756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11.8%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6208776" y="264315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8522208" y="2702052"/>
            <a:ext cx="780659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10405872" y="264315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11.7%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6208776" y="287874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522208" y="2937644"/>
            <a:ext cx="755172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10405872" y="287874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11.3%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6208776" y="311433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8522208" y="3173237"/>
            <a:ext cx="740465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10405872" y="311433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11.1%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6208776" y="334993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8522208" y="3408829"/>
            <a:ext cx="737076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10405872" y="334993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11.0%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6208776" y="358552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8522208" y="3644422"/>
            <a:ext cx="735965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10405872" y="358552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11.0%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6208776" y="382111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8522208" y="3880014"/>
            <a:ext cx="648753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10405872" y="382111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9.7%</a:t>
            </a:r>
            <a:endParaRPr lang="en-US" sz="1300" dirty="0"/>
          </a:p>
        </p:txBody>
      </p:sp>
      <p:sp>
        <p:nvSpPr>
          <p:cNvPr id="88" name="Text 86"/>
          <p:cNvSpPr txBox="1"/>
          <p:nvPr/>
        </p:nvSpPr>
        <p:spPr>
          <a:xfrm>
            <a:off x="6208776" y="405670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8522208" y="4115607"/>
            <a:ext cx="646045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10405872" y="405670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9.7%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6208776" y="429230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8522208" y="4351199"/>
            <a:ext cx="56092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10405872" y="429230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8.4%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6208776" y="452789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8522208" y="4586792"/>
            <a:ext cx="531686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10405872" y="452789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8.0%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476348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8522208" y="4822384"/>
            <a:ext cx="496510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10405872" y="476348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7.4%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6208776" y="499907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8522208" y="5057977"/>
            <a:ext cx="373989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10405872" y="499907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5.6%</a:t>
            </a:r>
            <a:endParaRPr lang="en-US" sz="1300" dirty="0"/>
          </a:p>
        </p:txBody>
      </p:sp>
      <p:sp>
        <p:nvSpPr>
          <p:cNvPr id="103" name="Text 101"/>
          <p:cNvSpPr txBox="1"/>
          <p:nvPr/>
        </p:nvSpPr>
        <p:spPr>
          <a:xfrm>
            <a:off x="6208776" y="523467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8522208" y="5293569"/>
            <a:ext cx="282621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10405872" y="523467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6208776" y="547026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8522208" y="5529162"/>
            <a:ext cx="280295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10405872" y="547026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3961269" y="1700784"/>
            <a:ext cx="14630" cy="4005072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2596984" y="1316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15.0%</a:t>
            </a:r>
            <a:endParaRPr lang="en-US" sz="1400" dirty="0"/>
          </a:p>
        </p:txBody>
      </p:sp>
      <p:sp>
        <p:nvSpPr>
          <p:cNvPr id="111" name="Shape 109"/>
          <p:cNvSpPr/>
          <p:nvPr/>
        </p:nvSpPr>
        <p:spPr>
          <a:xfrm>
            <a:off x="9511677" y="1700784"/>
            <a:ext cx="14630" cy="4005072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8147392" y="1316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15.0%</a:t>
            </a:r>
            <a:endParaRPr lang="en-US" sz="1400" dirty="0"/>
          </a:p>
        </p:txBody>
      </p:sp>
      <p:sp>
        <p:nvSpPr>
          <p:cNvPr id="113" name="Shape 111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of 33 stores at or above 15%, led by AUDI HENDERSON at 27.5%. GROUP sits at 13.2%.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BENCHMARKS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517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167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· JANUARY–SEPTEMBER · SAME-STORE, 33 STORES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6.9%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8.3%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+1.4 pts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 %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+20.0%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16352"/>
          <a:ext cx="11274552" cy="914400"/>
        </p:xfrm>
        <a:graphic>
          <a:graphicData uri="http://schemas.openxmlformats.org/drawingml/2006/table">
            <a:tbl>
              <a:tblPr/>
              <a:tblGrid>
                <a:gridCol w="3118104"/>
                <a:gridCol w="2039112"/>
                <a:gridCol w="2039112"/>
                <a:gridCol w="2039112"/>
                <a:gridCol w="203911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2026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VARIANCE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 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+1.2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+19.0%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FEB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+1.2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+17.5%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+1.1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+14.8%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6.9%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+1.9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+27.1%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+1.4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+20.0%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+1.5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+21.6%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6.9%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+1.4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+20.3%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+1.4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+20.6%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+1.3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+19.9%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1.4 pts to 8.3%, ahead of 2025 in all nine months, but 6.6 pts under the 15% benchmark — 18,493 balances short.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BENCHMARKS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70078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71800" y="1759682"/>
            <a:ext cx="1828800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55464" y="170078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27.0%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93637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71800" y="1995275"/>
            <a:ext cx="1246998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55464" y="193637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18.4%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17196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71800" y="2230867"/>
            <a:ext cx="1150655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55464" y="217196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16.9%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40756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71800" y="2466460"/>
            <a:ext cx="1148559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55464" y="240756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16.9%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64315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2702052"/>
            <a:ext cx="1014836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55464" y="264315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14.9%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287874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71800" y="2937644"/>
            <a:ext cx="955599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55464" y="287874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14.1%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311433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3173237"/>
            <a:ext cx="91643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55464" y="311433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13.5%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334993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71800" y="3408829"/>
            <a:ext cx="893299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55464" y="334993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13.1%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58552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971800" y="3644422"/>
            <a:ext cx="813223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55464" y="358552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12.0%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382111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971800" y="3880014"/>
            <a:ext cx="794271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55464" y="382111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11.7%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405670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971800" y="4115607"/>
            <a:ext cx="760221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855464" y="405670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11.2%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429230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4351199"/>
            <a:ext cx="691953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855464" y="429230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10.2%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452789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971800" y="4586792"/>
            <a:ext cx="616143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855464" y="452789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9.0%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85216" y="4758914"/>
            <a:ext cx="5413248" cy="22644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58368" y="476348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971800" y="4822384"/>
            <a:ext cx="567518" cy="117796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855464" y="476348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8.3%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658368" y="499907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971800" y="5057977"/>
            <a:ext cx="562047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855464" y="499907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8.2%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523467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971800" y="5293569"/>
            <a:ext cx="52529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855464" y="523467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7.7%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547026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2971800" y="5529162"/>
            <a:ext cx="522803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855464" y="547026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7.7%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6208776" y="170078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522208" y="1759682"/>
            <a:ext cx="495079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10405872" y="170078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7.3%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6208776" y="193637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8522208" y="1995275"/>
            <a:ext cx="417176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10405872" y="193637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6.1%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6208776" y="217196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8522208" y="2230867"/>
            <a:ext cx="404254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0405872" y="217196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5.9%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6208776" y="240756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8522208" y="2466460"/>
            <a:ext cx="354723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10405872" y="240756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5.2%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6208776" y="264315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8522208" y="2702052"/>
            <a:ext cx="334563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10405872" y="264315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4.9%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6208776" y="287874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522208" y="2937644"/>
            <a:ext cx="250009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10405872" y="287874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3.6%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6208776" y="311433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8522208" y="3173237"/>
            <a:ext cx="147881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10405872" y="311433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2.1%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6208776" y="334993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8522208" y="3408829"/>
            <a:ext cx="113299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10405872" y="334993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1.6%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6208776" y="358552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8522208" y="3644422"/>
            <a:ext cx="89064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10405872" y="358552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1.3%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6208776" y="382111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8522208" y="3880014"/>
            <a:ext cx="8594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10405872" y="382111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1.2%</a:t>
            </a:r>
            <a:endParaRPr lang="en-US" sz="1300" dirty="0"/>
          </a:p>
        </p:txBody>
      </p:sp>
      <p:sp>
        <p:nvSpPr>
          <p:cNvPr id="88" name="Text 86"/>
          <p:cNvSpPr txBox="1"/>
          <p:nvPr/>
        </p:nvSpPr>
        <p:spPr>
          <a:xfrm>
            <a:off x="6208776" y="405670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8522208" y="4115607"/>
            <a:ext cx="8290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10405872" y="405670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1.2%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6208776" y="429230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8522208" y="4351199"/>
            <a:ext cx="71869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10405872" y="429230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1.0%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6208776" y="452789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8522208" y="4586792"/>
            <a:ext cx="3351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10405872" y="452789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0.4%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476348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8522208" y="4822384"/>
            <a:ext cx="28232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10405872" y="476348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0.4%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6208776" y="499907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8522208" y="5057977"/>
            <a:ext cx="1828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10405872" y="499907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0.1%</a:t>
            </a:r>
            <a:endParaRPr lang="en-US" sz="1300" dirty="0"/>
          </a:p>
        </p:txBody>
      </p:sp>
      <p:sp>
        <p:nvSpPr>
          <p:cNvPr id="103" name="Text 101"/>
          <p:cNvSpPr txBox="1"/>
          <p:nvPr/>
        </p:nvSpPr>
        <p:spPr>
          <a:xfrm>
            <a:off x="6208776" y="523467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8522208" y="5293569"/>
            <a:ext cx="1828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10405872" y="523467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6208776" y="547026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8522208" y="5529162"/>
            <a:ext cx="1828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10405872" y="547026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3980316" y="1700784"/>
            <a:ext cx="14630" cy="4005072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2616031" y="1316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15.0%</a:t>
            </a:r>
            <a:endParaRPr lang="en-US" sz="1400" dirty="0"/>
          </a:p>
        </p:txBody>
      </p:sp>
      <p:sp>
        <p:nvSpPr>
          <p:cNvPr id="111" name="Shape 109"/>
          <p:cNvSpPr/>
          <p:nvPr/>
        </p:nvSpPr>
        <p:spPr>
          <a:xfrm>
            <a:off x="9530724" y="1700784"/>
            <a:ext cx="14630" cy="4005072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8166439" y="1316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15.0%</a:t>
            </a:r>
            <a:endParaRPr lang="en-US" sz="1400" dirty="0"/>
          </a:p>
        </p:txBody>
      </p:sp>
      <p:sp>
        <p:nvSpPr>
          <p:cNvPr id="113" name="Shape 111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33 stores at or above 15%, led by LR HENDERSON at 27.0%. GROUP sits at 8.3%.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BENCHMARKS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517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167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· JANUARY–SEPTEMBER · SAME-STORE, 33 STORES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7.9%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9.2%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+1.4 pts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 %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+17.5%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16352"/>
          <a:ext cx="11274552" cy="914400"/>
        </p:xfrm>
        <a:graphic>
          <a:graphicData uri="http://schemas.openxmlformats.org/drawingml/2006/table">
            <a:tbl>
              <a:tblPr/>
              <a:tblGrid>
                <a:gridCol w="3118104"/>
                <a:gridCol w="2039112"/>
                <a:gridCol w="2039112"/>
                <a:gridCol w="2039112"/>
                <a:gridCol w="203911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2026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VARIANCE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 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+1.1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+14.9%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FEB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+1.1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+14.2%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8.2%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9.7%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+1.5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+18.8%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+1.8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+21.6%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9.7%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+1.6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+19.6%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9.4%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+1.4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+17.3%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+1.2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+15.7%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8.9%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+0.9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+10.6%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+1.9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+24.9%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1.4 pts to 9.2%, ahead of 2025 in all nine months, but 0.7 pts under the 10% benchmark — 1,985 brake fluid services short.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BENCHMARKS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70078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71800" y="1759682"/>
            <a:ext cx="1828800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55464" y="170078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20.6%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93637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71800" y="1995275"/>
            <a:ext cx="1380941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55464" y="193637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15.5%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17196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71800" y="2230867"/>
            <a:ext cx="1266657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55464" y="217196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14.3%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40756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71800" y="2466460"/>
            <a:ext cx="1126505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55464" y="240756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12.7%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64315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2702052"/>
            <a:ext cx="1071597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55464" y="264315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12.1%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287874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71800" y="2937644"/>
            <a:ext cx="1054195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55464" y="287874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11.9%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311433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3173237"/>
            <a:ext cx="1031186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55464" y="311433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11.6%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334993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71800" y="3408829"/>
            <a:ext cx="952022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55464" y="334993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10.7%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58552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971800" y="3644422"/>
            <a:ext cx="940165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55464" y="358552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10.6%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382111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971800" y="3880014"/>
            <a:ext cx="915273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55464" y="382111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10.3%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405670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971800" y="4115607"/>
            <a:ext cx="897953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855464" y="405670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10.1%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429230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4351199"/>
            <a:ext cx="891463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855464" y="429230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10.0%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452789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971800" y="4586792"/>
            <a:ext cx="854685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855464" y="452789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9.6%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58368" y="476348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971800" y="4822384"/>
            <a:ext cx="843356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855464" y="476348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9.5%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85216" y="4994507"/>
            <a:ext cx="5413248" cy="22644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499907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971800" y="5057977"/>
            <a:ext cx="822595" cy="117796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855464" y="499907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9.2%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523467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971800" y="5293569"/>
            <a:ext cx="751787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855464" y="523467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8.4%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547026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2971800" y="5529162"/>
            <a:ext cx="744392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855464" y="547026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8.4%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6208776" y="170078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522208" y="1759682"/>
            <a:ext cx="742623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10405872" y="170078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8.3%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6208776" y="193637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8522208" y="1995275"/>
            <a:ext cx="732765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10405872" y="193637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8.2%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6208776" y="217196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8522208" y="2230867"/>
            <a:ext cx="714689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0405872" y="217196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8.0%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6208776" y="240756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8522208" y="2466460"/>
            <a:ext cx="66666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10405872" y="240756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6208776" y="264315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8522208" y="2702052"/>
            <a:ext cx="641865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10405872" y="264315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7.2%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6208776" y="287874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522208" y="2937644"/>
            <a:ext cx="627404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10405872" y="287874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7.0%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6208776" y="311433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8522208" y="3173237"/>
            <a:ext cx="624290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10405872" y="311433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7.0%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6208776" y="334993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8522208" y="3408829"/>
            <a:ext cx="53866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10405872" y="334993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6.0%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6208776" y="358552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8522208" y="3644422"/>
            <a:ext cx="527421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10405872" y="358552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5.9%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6208776" y="382111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8522208" y="3880014"/>
            <a:ext cx="513531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10405872" y="382111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5.7%</a:t>
            </a:r>
            <a:endParaRPr lang="en-US" sz="1300" dirty="0"/>
          </a:p>
        </p:txBody>
      </p:sp>
      <p:sp>
        <p:nvSpPr>
          <p:cNvPr id="88" name="Text 86"/>
          <p:cNvSpPr txBox="1"/>
          <p:nvPr/>
        </p:nvSpPr>
        <p:spPr>
          <a:xfrm>
            <a:off x="6208776" y="405670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8522208" y="4115607"/>
            <a:ext cx="479909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10405872" y="405670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5.4%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6208776" y="429230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8522208" y="4351199"/>
            <a:ext cx="420419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10405872" y="429230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4.7%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6208776" y="452789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8522208" y="4586792"/>
            <a:ext cx="414261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10405872" y="452789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4.6%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476348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8522208" y="4822384"/>
            <a:ext cx="375166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10405872" y="476348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6208776" y="499907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8522208" y="5057977"/>
            <a:ext cx="28125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10405872" y="499907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3.1%</a:t>
            </a:r>
            <a:endParaRPr lang="en-US" sz="1300" dirty="0"/>
          </a:p>
        </p:txBody>
      </p:sp>
      <p:sp>
        <p:nvSpPr>
          <p:cNvPr id="103" name="Text 101"/>
          <p:cNvSpPr txBox="1"/>
          <p:nvPr/>
        </p:nvSpPr>
        <p:spPr>
          <a:xfrm>
            <a:off x="6208776" y="523467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8522208" y="5293569"/>
            <a:ext cx="217925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10405872" y="523467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2.4%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6208776" y="547026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8522208" y="5529162"/>
            <a:ext cx="17140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10405872" y="547026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1.9%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3850009" y="1700784"/>
            <a:ext cx="14630" cy="4005072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2485724" y="1316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10.0%</a:t>
            </a:r>
            <a:endParaRPr lang="en-US" sz="1400" dirty="0"/>
          </a:p>
        </p:txBody>
      </p:sp>
      <p:sp>
        <p:nvSpPr>
          <p:cNvPr id="111" name="Shape 109"/>
          <p:cNvSpPr/>
          <p:nvPr/>
        </p:nvSpPr>
        <p:spPr>
          <a:xfrm>
            <a:off x="9400417" y="1700784"/>
            <a:ext cx="14630" cy="4005072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8036132" y="1316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10.0%</a:t>
            </a:r>
            <a:endParaRPr lang="en-US" sz="1400" dirty="0"/>
          </a:p>
        </p:txBody>
      </p:sp>
      <p:sp>
        <p:nvSpPr>
          <p:cNvPr id="113" name="Shape 111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of 33 stores at or above 10%, led by LR LV at 20.6%. GROUP sits at 9.2%.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BENCHMARKS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517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167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· JANUARY–SEPTEMBER · SAME-STORE, 33 STORES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4.5%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5.8%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+1.2 pts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 %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+27.3%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16352"/>
          <a:ext cx="11274552" cy="914400"/>
        </p:xfrm>
        <a:graphic>
          <a:graphicData uri="http://schemas.openxmlformats.org/drawingml/2006/table">
            <a:tbl>
              <a:tblPr/>
              <a:tblGrid>
                <a:gridCol w="3118104"/>
                <a:gridCol w="2039112"/>
                <a:gridCol w="2039112"/>
                <a:gridCol w="2039112"/>
                <a:gridCol w="203911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2026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VARIANCE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 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+1.6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+41.3%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FEB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+1.2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+26.7%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+1.3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+26.5%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+1.1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+23.2%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6.2%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+1.7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+36.7%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+1.2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+24.3%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+1.2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+29.1%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5.2%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+0.6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+12.4%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+1.3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+29.8%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1.2 pts to 5.8%, ahead of 2025 in all nine months, but 1.7 pts under the 7.5% benchmark — 4,731 fuel services short.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BENCHMARKS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70078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71800" y="1759682"/>
            <a:ext cx="1828800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55464" y="170078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13.8%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93637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71800" y="1995275"/>
            <a:ext cx="1591014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55464" y="193637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12.0%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17196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71800" y="2230867"/>
            <a:ext cx="1293427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55464" y="217196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40756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71800" y="2466460"/>
            <a:ext cx="1237490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55464" y="240756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9.3%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64315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2702052"/>
            <a:ext cx="1181508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55464" y="264315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8.9%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287874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71800" y="2937644"/>
            <a:ext cx="1084590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55464" y="287874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8.2%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311433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3173237"/>
            <a:ext cx="1012732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55464" y="311433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7.6%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334993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71800" y="3408829"/>
            <a:ext cx="972374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55464" y="334993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7.3%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58552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971800" y="3644422"/>
            <a:ext cx="935996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55464" y="358552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7.0%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382111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971800" y="3880014"/>
            <a:ext cx="853635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55464" y="382111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6.4%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405670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971800" y="4115607"/>
            <a:ext cx="79333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855464" y="405670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6.0%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429230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4351199"/>
            <a:ext cx="776817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855464" y="429230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5.8%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452789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971800" y="4586792"/>
            <a:ext cx="769887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855464" y="452789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5.8%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85216" y="4758914"/>
            <a:ext cx="5413248" cy="22644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58368" y="476348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971800" y="4822384"/>
            <a:ext cx="766773" cy="117796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855464" y="476348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5.8%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658368" y="499907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971800" y="5057977"/>
            <a:ext cx="729043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855464" y="499907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5.5%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523467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971800" y="5293569"/>
            <a:ext cx="693444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855464" y="523467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5.2%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547026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2971800" y="5529162"/>
            <a:ext cx="687975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855464" y="547026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5.2%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6208776" y="170078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522208" y="1759682"/>
            <a:ext cx="674627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10405872" y="170078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5.1%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6208776" y="193637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8522208" y="1995275"/>
            <a:ext cx="604069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10405872" y="193637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4.5%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6208776" y="217196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8522208" y="2230867"/>
            <a:ext cx="566751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0405872" y="217196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6208776" y="240756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8522208" y="2466460"/>
            <a:ext cx="553007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10405872" y="240756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4.1%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6208776" y="264315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8522208" y="2702052"/>
            <a:ext cx="480291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10405872" y="264315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3.6%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6208776" y="287874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522208" y="2937644"/>
            <a:ext cx="425901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10405872" y="287874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3.2%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6208776" y="311433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8522208" y="3173237"/>
            <a:ext cx="425420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10405872" y="311433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3.2%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6208776" y="334993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8522208" y="3408829"/>
            <a:ext cx="396817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10405872" y="334993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3.0%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6208776" y="358552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8522208" y="3644422"/>
            <a:ext cx="362121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10405872" y="358552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2.7%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6208776" y="382111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8522208" y="3880014"/>
            <a:ext cx="357846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10405872" y="382111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2.7%</a:t>
            </a:r>
            <a:endParaRPr lang="en-US" sz="1300" dirty="0"/>
          </a:p>
        </p:txBody>
      </p:sp>
      <p:sp>
        <p:nvSpPr>
          <p:cNvPr id="88" name="Text 86"/>
          <p:cNvSpPr txBox="1"/>
          <p:nvPr/>
        </p:nvSpPr>
        <p:spPr>
          <a:xfrm>
            <a:off x="6208776" y="405670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8522208" y="4115607"/>
            <a:ext cx="338830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10405872" y="405670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2.5%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6208776" y="429230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8522208" y="4351199"/>
            <a:ext cx="223282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10405872" y="429230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1.6%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6208776" y="452789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8522208" y="4586792"/>
            <a:ext cx="109015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10405872" y="452789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0.8%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4763486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8522208" y="4822384"/>
            <a:ext cx="95030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10405872" y="4763486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0.7%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6208776" y="4999079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8522208" y="5057977"/>
            <a:ext cx="1828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10405872" y="4999079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</a:t>
            </a:r>
            <a:endParaRPr lang="en-US" sz="1300" dirty="0"/>
          </a:p>
        </p:txBody>
      </p:sp>
      <p:sp>
        <p:nvSpPr>
          <p:cNvPr id="103" name="Text 101"/>
          <p:cNvSpPr txBox="1"/>
          <p:nvPr/>
        </p:nvSpPr>
        <p:spPr>
          <a:xfrm>
            <a:off x="6208776" y="5234671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8522208" y="5293569"/>
            <a:ext cx="1828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10405872" y="5234671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6208776" y="5470264"/>
            <a:ext cx="2240280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8522208" y="5529162"/>
            <a:ext cx="1828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10405872" y="5470264"/>
            <a:ext cx="108813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3954926" y="1700784"/>
            <a:ext cx="14630" cy="4005072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2590641" y="1316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7.5%</a:t>
            </a:r>
            <a:endParaRPr lang="en-US" sz="1400" dirty="0"/>
          </a:p>
        </p:txBody>
      </p:sp>
      <p:sp>
        <p:nvSpPr>
          <p:cNvPr id="111" name="Shape 109"/>
          <p:cNvSpPr/>
          <p:nvPr/>
        </p:nvSpPr>
        <p:spPr>
          <a:xfrm>
            <a:off x="9505334" y="1700784"/>
            <a:ext cx="14630" cy="4005072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8141049" y="1316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7.5%</a:t>
            </a:r>
            <a:endParaRPr lang="en-US" sz="1400" dirty="0"/>
          </a:p>
        </p:txBody>
      </p:sp>
      <p:sp>
        <p:nvSpPr>
          <p:cNvPr id="113" name="Shape 111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of 33 stores at or above 7.5%, led by SUBARU ST GEORGE at 13.8%. GROUP sits at 5.8%.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2026-10-15T23:05:13Z</dcterms:created>
  <dcterms:modified xsi:type="dcterms:W3CDTF">2026-10-15T23:05:13Z</dcterms:modified>
</cp:coreProperties>
</file>