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OPTION A - ELR and door rate columns. Qlik - Closed Repair Orders. CP ELR Jul-Sep 2026 (last three months, to match current door rates). Door rate = standard rate from the store door rate sheet; premium, EV and diesel rates not applied. Same-store, INEOS excluded; GMC Prescott body shop excluded. Averages weighted by Jul-Sep CP sold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OPTION B - ELR and the ELR needed for 70% of door rate (door x 0.70). Qlik - Closed Repair Orders. CP ELR Jul-Sep 2026 (last three months, to match current door rates). Door rate = standard rate from the store door rate sheet; premium, EV and diesel rates not applied. Same-store, INEOS excluded; GMC Prescott body shop excluded. Averages weighted by Jul-Sep CP sold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OPTION C - split by labor grid. Qlik - Closed Repair Orders. CP ELR Jul-Sep 2026 (last three months, to match current door rates). Door rate = standard rate from the store door rate sheet; premium, EV and diesel rates not applied. Same-store, INEOS excluded; GMC Prescott body shop excluded. Averages weighted by Jul-Sep CP sold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OPTION D - door rate by store, split by labor grid, standard rate only. Store door rate sheet (Oct 15 2026); averages weighted by Jul-Sep CP sold hours. Bars start at $100. INEOS on the sheet but excluded (same-store).
AUDI HENDERSON: premium $399.00 (Lambo Non-Grid)
CHEVY GMC BULLHEAD: premium $199.87 (Non-Standard Grid)
CHEVY LV: premium $264.87 (Diesel/Corvette)
GMC PRESCOTT: premium $230.00 (EV)
HONDA FLAGSTAFF: premium $215.00 (EV)
KIA ST GEORGE: premium $195.00 (EV)
SUBARU ST GEORGE: premium $210.00 (EV)
VW HENDERSON: premium $210.00 (EV)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OPTION E - door rate by store with premium rates, split by labor grid. Store door rate sheet (Oct 15 2026); averages weighted by Jul-Sep CP sold hours. Bars start at $100.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% of 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70048" y="1759682"/>
            <a:ext cx="84124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70078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103.4%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42816" y="170078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$244.12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0078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$235.87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93637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1995275"/>
            <a:ext cx="66530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193637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90.2%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42816" y="193637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$225.50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93637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$249.95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17196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70048" y="2230867"/>
            <a:ext cx="66177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160" y="217196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242816" y="217196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$161.80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17196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$179.87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40756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70048" y="2466460"/>
            <a:ext cx="65937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6160" y="240756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89.7%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242816" y="240756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$165.96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240756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64315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2702052"/>
            <a:ext cx="64271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66160" y="264315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42816" y="264315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$199.04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264315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287874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70048" y="2937644"/>
            <a:ext cx="61962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66160" y="287874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86.7%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242816" y="287874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$238.62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287874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$275.00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11433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70048" y="3173237"/>
            <a:ext cx="61363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566160" y="311433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242816" y="311433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$159.69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311433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34993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70048" y="3408829"/>
            <a:ext cx="56491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566160" y="334993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82.6%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242816" y="334993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$147.93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0" y="334993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$179.00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58552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670048" y="3644422"/>
            <a:ext cx="54985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566160" y="358552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242816" y="358552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$187.42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0" y="358552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$229.95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82111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670048" y="3880014"/>
            <a:ext cx="54297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566160" y="382111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80.9%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242816" y="382111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$161.93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029200" y="382111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$199.95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05670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670048" y="4115607"/>
            <a:ext cx="52841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566160" y="405670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242816" y="405670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$155.78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029200" y="405670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$195.00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29230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70048" y="4351199"/>
            <a:ext cx="523587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566160" y="429230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242816" y="429230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$234.48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029200" y="429230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$294.87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52789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70048" y="4586792"/>
            <a:ext cx="51592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566160" y="452789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242816" y="452789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$146.04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029200" y="452789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76348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670048" y="4822384"/>
            <a:ext cx="51585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566160" y="476348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242816" y="476348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$165.67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5029200" y="476348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$209.87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99907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70048" y="5057977"/>
            <a:ext cx="51018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566160" y="499907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242816" y="499907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$160.84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029200" y="499907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$204.87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23467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670048" y="5293569"/>
            <a:ext cx="48692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566160" y="523467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76.7%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242816" y="523467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$141.89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029200" y="523467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47026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670048" y="5529162"/>
            <a:ext cx="48295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566160" y="547026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242816" y="547026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$266.72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029200" y="547026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$348.87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170078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220456" y="1759682"/>
            <a:ext cx="46958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9116568" y="170078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75.4%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9793224" y="170078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$233.88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10579608" y="170078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$310.00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193637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8220456" y="1995275"/>
            <a:ext cx="46735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9116568" y="193637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9793224" y="193637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$162.12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10579608" y="193637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$215.37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217196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220456" y="2230867"/>
            <a:ext cx="46501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9116568" y="217196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75.1%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9793224" y="217196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$180.14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10579608" y="217196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$239.87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240756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220456" y="2466460"/>
            <a:ext cx="463785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116568" y="240756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75.0%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793224" y="240756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$142.51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10579608" y="240756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$190.00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6135624" y="2638582"/>
            <a:ext cx="5285232" cy="2264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6208776" y="264315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8220456" y="2702052"/>
            <a:ext cx="460989" cy="1177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9116568" y="264315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74.7%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9793224" y="264315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$163.67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579608" y="264315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$218.82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87874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8220456" y="2937644"/>
            <a:ext cx="44906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9116568" y="287874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793224" y="287874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$136.71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579608" y="287874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311433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8220456" y="3173237"/>
            <a:ext cx="43927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116568" y="311433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73.1%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9793224" y="311433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$154.55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579608" y="311433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$211.26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34993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8220456" y="3408829"/>
            <a:ext cx="429617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116568" y="334993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793224" y="334993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$153.45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579608" y="334993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58552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8220456" y="3644422"/>
            <a:ext cx="40612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116568" y="358552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9793224" y="358552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$149.70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579608" y="358552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82111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8220456" y="3880014"/>
            <a:ext cx="37825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116568" y="382111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9793224" y="382111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$150.72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579608" y="382111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$219.87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405670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220456" y="4115607"/>
            <a:ext cx="37479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116568" y="405670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68.2%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793224" y="405670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$167.22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579608" y="405670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$244.87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29230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220456" y="4351199"/>
            <a:ext cx="364670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116568" y="429230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67.5%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793224" y="429230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$124.92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79608" y="429230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52789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220456" y="4586792"/>
            <a:ext cx="354832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116568" y="452789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66.7%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9793224" y="452789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$146.92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579608" y="452789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$220.00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76348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8220456" y="4822384"/>
            <a:ext cx="352064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116568" y="476348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66.5%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9793224" y="476348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$139.81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579608" y="476348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99907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8220456" y="5057977"/>
            <a:ext cx="33167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9116568" y="499907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793224" y="499907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$146.25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579608" y="499907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23467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8220456" y="5293569"/>
            <a:ext cx="32882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9116568" y="523467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64.8%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9793224" y="523467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$136.12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579608" y="523467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47026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8220456" y="5529162"/>
            <a:ext cx="28576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9116568" y="547026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9793224" y="547026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$175.47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579608" y="547026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$285.00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3566160" y="1316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178" name="Text 176"/>
          <p:cNvSpPr txBox="1"/>
          <p:nvPr/>
        </p:nvSpPr>
        <p:spPr>
          <a:xfrm>
            <a:off x="4242816" y="13167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179" name="Text 177"/>
          <p:cNvSpPr txBox="1"/>
          <p:nvPr/>
        </p:nvSpPr>
        <p:spPr>
          <a:xfrm>
            <a:off x="5029200" y="13167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180" name="Text 178"/>
          <p:cNvSpPr txBox="1"/>
          <p:nvPr/>
        </p:nvSpPr>
        <p:spPr>
          <a:xfrm>
            <a:off x="9116568" y="1316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181" name="Text 179"/>
          <p:cNvSpPr txBox="1"/>
          <p:nvPr/>
        </p:nvSpPr>
        <p:spPr>
          <a:xfrm>
            <a:off x="9793224" y="13167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182" name="Text 180"/>
          <p:cNvSpPr txBox="1"/>
          <p:nvPr/>
        </p:nvSpPr>
        <p:spPr>
          <a:xfrm>
            <a:off x="10579608" y="13167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183" name="Shape 181"/>
          <p:cNvSpPr/>
          <p:nvPr/>
        </p:nvSpPr>
        <p:spPr>
          <a:xfrm>
            <a:off x="3060181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2518857" y="1316736"/>
            <a:ext cx="1097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 LINE</a:t>
            </a:r>
            <a:endParaRPr lang="en-US" sz="1400" dirty="0"/>
          </a:p>
        </p:txBody>
      </p:sp>
      <p:sp>
        <p:nvSpPr>
          <p:cNvPr id="185" name="Shape 183"/>
          <p:cNvSpPr/>
          <p:nvPr/>
        </p:nvSpPr>
        <p:spPr>
          <a:xfrm>
            <a:off x="8610589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8069265" y="1316736"/>
            <a:ext cx="1097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 LINE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Jul–Sep: 25 of 33 stores realize at least 70% of door rate; the group is at 74.7%. CADILLAC is lowest at 61.5%.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% of 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0078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70048" y="1759682"/>
            <a:ext cx="78638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11296" y="170078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103.4%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87952" y="170078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$244.12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74336" y="170078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$165.11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93637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0048" y="1995275"/>
            <a:ext cx="62191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11296" y="193637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90.2%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87952" y="193637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$225.50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74336" y="193637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$174.96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17196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70048" y="2230867"/>
            <a:ext cx="61861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11296" y="217196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87952" y="217196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$161.80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74336" y="217196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$125.91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40756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70048" y="2466460"/>
            <a:ext cx="61637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11296" y="240756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89.7%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87952" y="240756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$165.96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74336" y="240756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$129.41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64315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70048" y="2702052"/>
            <a:ext cx="60079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11296" y="264315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187952" y="264315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$199.04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974336" y="264315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$157.41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287874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70048" y="2937644"/>
            <a:ext cx="57921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11296" y="287874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86.7%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187952" y="287874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$238.62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974336" y="287874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$192.50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11433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70048" y="3173237"/>
            <a:ext cx="57361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511296" y="311433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187952" y="311433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$159.69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974336" y="311433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$129.50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34993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70048" y="3408829"/>
            <a:ext cx="52807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511296" y="334993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82.6%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187952" y="334993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$147.93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974336" y="334993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$125.30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58552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670048" y="3644422"/>
            <a:ext cx="513999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511296" y="358552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187952" y="358552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$187.42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974336" y="358552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$160.96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82111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670048" y="3880014"/>
            <a:ext cx="50756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511296" y="382111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80.9%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187952" y="382111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$161.93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974336" y="382111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$139.96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05670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670048" y="4115607"/>
            <a:ext cx="49395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511296" y="405670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187952" y="405670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$155.78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974336" y="405670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$136.50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429230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70048" y="4351199"/>
            <a:ext cx="489440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511296" y="429230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187952" y="429230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$234.48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4974336" y="429230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$206.41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52789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70048" y="4586792"/>
            <a:ext cx="482276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511296" y="452789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187952" y="452789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$146.04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974336" y="452789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$129.50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76348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670048" y="4822384"/>
            <a:ext cx="48221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511296" y="476348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187952" y="476348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$165.67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974336" y="476348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$146.91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99907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70048" y="5057977"/>
            <a:ext cx="47691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511296" y="499907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187952" y="499907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$160.84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74336" y="499907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$143.41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23467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670048" y="5293569"/>
            <a:ext cx="45516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511296" y="523467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76.7%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187952" y="523467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$141.89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4974336" y="523467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$129.41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47026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670048" y="5529162"/>
            <a:ext cx="45145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511296" y="547026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187952" y="547026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$266.72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974336" y="547026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$244.21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170078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220456" y="1759682"/>
            <a:ext cx="43896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9061704" y="170078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75.4%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9738360" y="170078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$233.88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10524744" y="170078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$217.00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193637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8220456" y="1995275"/>
            <a:ext cx="436872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9061704" y="193637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9738360" y="193637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$162.12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10524744" y="193637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$150.76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217196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220456" y="2230867"/>
            <a:ext cx="434691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9061704" y="217196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75.1%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9738360" y="217196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$180.14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10524744" y="217196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$167.91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240756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220456" y="2466460"/>
            <a:ext cx="43353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061704" y="240756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75.0%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738360" y="240756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$142.51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10524744" y="240756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$133.00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6135624" y="2638582"/>
            <a:ext cx="5285232" cy="2264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6208776" y="264315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8220456" y="2702052"/>
            <a:ext cx="430925" cy="1177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9061704" y="264315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74.7%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9738360" y="264315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$163.67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524744" y="264315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$153.17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87874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8220456" y="2937644"/>
            <a:ext cx="419774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9061704" y="287874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738360" y="287874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$136.71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524744" y="287874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$129.50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311433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8220456" y="3173237"/>
            <a:ext cx="41062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061704" y="311433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73.1%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9738360" y="311433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$154.55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524744" y="311433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$147.88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34993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8220456" y="3408829"/>
            <a:ext cx="401598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061704" y="334993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738360" y="334993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$153.45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524744" y="334993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$148.31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58552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8220456" y="3644422"/>
            <a:ext cx="379643" cy="11779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061704" y="358552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9738360" y="358552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$149.70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524744" y="358552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$148.31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82111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8220456" y="3880014"/>
            <a:ext cx="35358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061704" y="382111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9738360" y="382111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$150.72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524744" y="382111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$153.91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405670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220456" y="4115607"/>
            <a:ext cx="350355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061704" y="405670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68.2%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738360" y="405670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$167.22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524744" y="405670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$171.41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29230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220456" y="4351199"/>
            <a:ext cx="34088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061704" y="429230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67.5%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738360" y="429230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$124.92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24744" y="429230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$129.50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52789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220456" y="4586792"/>
            <a:ext cx="331691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061704" y="452789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66.7%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9738360" y="452789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$146.92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524744" y="452789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$154.00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763486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8220456" y="4822384"/>
            <a:ext cx="329103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061704" y="4763486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66.5%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9738360" y="4763486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$139.81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524744" y="4763486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$147.00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999079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8220456" y="5057977"/>
            <a:ext cx="310047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9061704" y="4999079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738360" y="4999079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$146.25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524744" y="4999079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$157.41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234671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8220456" y="5293569"/>
            <a:ext cx="307379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9061704" y="5234671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64.8%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9738360" y="5234671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$136.12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524744" y="5234671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$147.00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470264"/>
            <a:ext cx="193852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8220456" y="5529162"/>
            <a:ext cx="267128" cy="11779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9061704" y="5470264"/>
            <a:ext cx="676656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9738360" y="5470264"/>
            <a:ext cx="786384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$175.47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524744" y="5470264"/>
            <a:ext cx="841248" cy="23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$199.50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3511296" y="1316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178" name="Text 176"/>
          <p:cNvSpPr txBox="1"/>
          <p:nvPr/>
        </p:nvSpPr>
        <p:spPr>
          <a:xfrm>
            <a:off x="4187952" y="13167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179" name="Text 177"/>
          <p:cNvSpPr txBox="1"/>
          <p:nvPr/>
        </p:nvSpPr>
        <p:spPr>
          <a:xfrm>
            <a:off x="4974336" y="131673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TGT</a:t>
            </a:r>
            <a:endParaRPr lang="en-US" sz="1400" dirty="0"/>
          </a:p>
        </p:txBody>
      </p:sp>
      <p:sp>
        <p:nvSpPr>
          <p:cNvPr id="180" name="Text 178"/>
          <p:cNvSpPr txBox="1"/>
          <p:nvPr/>
        </p:nvSpPr>
        <p:spPr>
          <a:xfrm>
            <a:off x="9061704" y="1316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181" name="Text 179"/>
          <p:cNvSpPr txBox="1"/>
          <p:nvPr/>
        </p:nvSpPr>
        <p:spPr>
          <a:xfrm>
            <a:off x="9738360" y="1316736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182" name="Text 180"/>
          <p:cNvSpPr txBox="1"/>
          <p:nvPr/>
        </p:nvSpPr>
        <p:spPr>
          <a:xfrm>
            <a:off x="10524744" y="131673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TGT</a:t>
            </a:r>
            <a:endParaRPr lang="en-US" sz="1400" dirty="0"/>
          </a:p>
        </p:txBody>
      </p:sp>
      <p:sp>
        <p:nvSpPr>
          <p:cNvPr id="183" name="Shape 181"/>
          <p:cNvSpPr/>
          <p:nvPr/>
        </p:nvSpPr>
        <p:spPr>
          <a:xfrm>
            <a:off x="3034261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2492936" y="1316736"/>
            <a:ext cx="1097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 LINE</a:t>
            </a:r>
            <a:endParaRPr lang="en-US" sz="1400" dirty="0"/>
          </a:p>
        </p:txBody>
      </p:sp>
      <p:sp>
        <p:nvSpPr>
          <p:cNvPr id="185" name="Shape 183"/>
          <p:cNvSpPr/>
          <p:nvPr/>
        </p:nvSpPr>
        <p:spPr>
          <a:xfrm>
            <a:off x="8584669" y="1700784"/>
            <a:ext cx="14630" cy="40050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8043344" y="1316736"/>
            <a:ext cx="10972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 LINE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Jul–Sep: 25 of 33 stores at or above 70% of door rate. CADILLAC runs $175.47 against a $199.50 target.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% of 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167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GRID · 17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47872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84064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75564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811020"/>
            <a:ext cx="841248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175564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103.4%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75564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$244.12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175564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$235.87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197713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2032508"/>
            <a:ext cx="661778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47872" y="197713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197713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$161.80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84064" y="197713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$179.87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19862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2253996"/>
            <a:ext cx="659376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47872" y="219862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89.7%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219862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$165.96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84064" y="219862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42011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2475484"/>
            <a:ext cx="642710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47872" y="242011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242011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$199.04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84064" y="242011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64160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51760" y="2696972"/>
            <a:ext cx="523587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47872" y="264160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264160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$234.48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84064" y="264160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$294.87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286308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2918460"/>
            <a:ext cx="515855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47872" y="286308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286308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$165.67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084064" y="286308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$209.87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8457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51760" y="3139948"/>
            <a:ext cx="510186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47872" y="308457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308457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$160.84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084064" y="308457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$204.87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30606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651760" y="3361436"/>
            <a:ext cx="486924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547872" y="330606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76.7%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297680" y="330606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$141.89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084064" y="330606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52755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651760" y="3582924"/>
            <a:ext cx="482951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547872" y="352755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297680" y="352755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$266.72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5084064" y="352755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$348.87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4904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651760" y="3804412"/>
            <a:ext cx="469589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547872" y="374904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75.4%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297680" y="374904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$233.88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084064" y="374904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$310.00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397052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651760" y="4025900"/>
            <a:ext cx="465019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547872" y="397052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75.1%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297680" y="397052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$180.14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5084064" y="397052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$239.87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03504" y="4192016"/>
            <a:ext cx="5285232" cy="21234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58368" y="419201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AVG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51760" y="4247388"/>
            <a:ext cx="449272" cy="11074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547872" y="419201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297680" y="419201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$168.93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084064" y="419201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$228.55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41350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651760" y="4468876"/>
            <a:ext cx="439276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547872" y="441350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73.1%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297680" y="441350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$154.55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5084064" y="441350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$211.26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63499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51760" y="4690364"/>
            <a:ext cx="429617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547872" y="463499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297680" y="463499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$153.45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084064" y="463499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485648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651760" y="4911852"/>
            <a:ext cx="406129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547872" y="485648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297680" y="485648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$149.70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084064" y="485648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07796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651760" y="5133340"/>
            <a:ext cx="378253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547872" y="507796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297680" y="507796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$150.72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084064" y="507796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$219.87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29945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2651760" y="5354828"/>
            <a:ext cx="331678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3547872" y="529945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4297680" y="529945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$146.25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5084064" y="529945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58368" y="552094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2651760" y="5576316"/>
            <a:ext cx="285765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3547872" y="552094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61.5%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4297680" y="552094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$175.47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5084064" y="552094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$285.00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041893" y="1755648"/>
            <a:ext cx="14630" cy="398678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6208776" y="13167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GRID · 16 STORES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909828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9848088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10634472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175564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202168" y="1811020"/>
            <a:ext cx="665301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098280" y="175564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90.2%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848088" y="175564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$225.50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10634472" y="175564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$249.95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197713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8202168" y="2032508"/>
            <a:ext cx="619626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9098280" y="197713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86.7%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9848088" y="197713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$238.62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10634472" y="197713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$275.00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219862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8202168" y="2253996"/>
            <a:ext cx="613635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9098280" y="219862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9848088" y="219862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$159.69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10634472" y="219862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6208776" y="242011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202168" y="2475484"/>
            <a:ext cx="564915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098280" y="242011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82.6%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9848088" y="242011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$147.93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634472" y="242011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$179.00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264160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8202168" y="2696972"/>
            <a:ext cx="549859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098280" y="264160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9848088" y="264160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$187.42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10634472" y="264160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$229.95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286308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202168" y="2918460"/>
            <a:ext cx="542975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098280" y="286308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80.9%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9848088" y="286308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$161.93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10634472" y="286308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$199.95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08457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8202168" y="3139948"/>
            <a:ext cx="528418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098280" y="308457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848088" y="308457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$155.78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634472" y="308457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$195.00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330606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42" name="Shape 140"/>
          <p:cNvSpPr/>
          <p:nvPr/>
        </p:nvSpPr>
        <p:spPr>
          <a:xfrm>
            <a:off x="8202168" y="3361436"/>
            <a:ext cx="515923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9098280" y="330606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78.9%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848088" y="330606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$146.04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634472" y="330606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6153912" y="3527552"/>
            <a:ext cx="5285232" cy="21234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6208776" y="352755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NO-GRID AVG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202168" y="3582924"/>
            <a:ext cx="482674" cy="11074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098280" y="352755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848088" y="352755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$155.03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634472" y="352755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$202.83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374904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202168" y="3804412"/>
            <a:ext cx="467351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098280" y="374904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9848088" y="374904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$162.12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634472" y="374904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$215.37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397052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8202168" y="4025900"/>
            <a:ext cx="463785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098280" y="397052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75.0%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9848088" y="397052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$142.51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634472" y="397052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$190.00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19201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8202168" y="4247388"/>
            <a:ext cx="449061" cy="11074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9098280" y="419201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848088" y="419201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$136.71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634472" y="419201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441350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8202168" y="4468876"/>
            <a:ext cx="374799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9098280" y="441350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68.2%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9848088" y="441350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$167.22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634472" y="4413504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$244.87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463499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8202168" y="4690364"/>
            <a:ext cx="364670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9098280" y="463499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67.5%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9848088" y="463499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$124.92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634472" y="4634992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77" name="Text 175"/>
          <p:cNvSpPr txBox="1"/>
          <p:nvPr/>
        </p:nvSpPr>
        <p:spPr>
          <a:xfrm>
            <a:off x="6208776" y="485648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78" name="Shape 176"/>
          <p:cNvSpPr/>
          <p:nvPr/>
        </p:nvSpPr>
        <p:spPr>
          <a:xfrm>
            <a:off x="8202168" y="4911852"/>
            <a:ext cx="354832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9098280" y="485648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66.7%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9848088" y="485648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$146.92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10634472" y="4856480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$220.00</a:t>
            </a:r>
            <a:endParaRPr lang="en-US" sz="1300" dirty="0"/>
          </a:p>
        </p:txBody>
      </p:sp>
      <p:sp>
        <p:nvSpPr>
          <p:cNvPr id="182" name="Text 180"/>
          <p:cNvSpPr txBox="1"/>
          <p:nvPr/>
        </p:nvSpPr>
        <p:spPr>
          <a:xfrm>
            <a:off x="6208776" y="507796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83" name="Shape 181"/>
          <p:cNvSpPr/>
          <p:nvPr/>
        </p:nvSpPr>
        <p:spPr>
          <a:xfrm>
            <a:off x="8202168" y="5133340"/>
            <a:ext cx="352064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9098280" y="507796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66.5%</a:t>
            </a: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9848088" y="507796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$139.81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10634472" y="5077968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6208776" y="529945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8202168" y="5354828"/>
            <a:ext cx="328825" cy="11074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9098280" y="529945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64.8%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9848088" y="529945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$136.12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10634472" y="5299456"/>
            <a:ext cx="786384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92" name="Shape 190"/>
          <p:cNvSpPr/>
          <p:nvPr/>
        </p:nvSpPr>
        <p:spPr>
          <a:xfrm>
            <a:off x="8592301" y="1755648"/>
            <a:ext cx="14630" cy="3765296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93" name="Shape 191"/>
          <p:cNvSpPr/>
          <p:nvPr/>
        </p:nvSpPr>
        <p:spPr>
          <a:xfrm>
            <a:off x="6035040" y="1371600"/>
            <a:ext cx="10973" cy="43708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4" name="Shape 192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Jul–Sep: grid stores realize 73.9% of door rate, no-grid stores 76.4%. A grid should lift ELR on longer jobs, yet grid stores trail.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16736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GRID · 17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5564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811020"/>
            <a:ext cx="241401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75564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$348.87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97713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2032508"/>
            <a:ext cx="203698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0640" y="197713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$310.00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19862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2253996"/>
            <a:ext cx="189022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19862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$294.87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42011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2475484"/>
            <a:ext cx="1794483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20640" y="242011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$285.00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64160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2696972"/>
            <a:ext cx="135672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264160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$239.87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86308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2918460"/>
            <a:ext cx="131792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0" y="286308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$235.87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" y="3084576"/>
            <a:ext cx="5285232" cy="21234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308457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AVG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51760" y="3139948"/>
            <a:ext cx="1246950" cy="11074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20640" y="308457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$228.55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30606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51760" y="3361436"/>
            <a:ext cx="121122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20640" y="330606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52755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51760" y="3582924"/>
            <a:ext cx="121122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20640" y="352755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74904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51760" y="3804412"/>
            <a:ext cx="116272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20640" y="374904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$219.87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97052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651760" y="4025900"/>
            <a:ext cx="108512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120640" y="397052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19201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51760" y="4247388"/>
            <a:ext cx="108512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120640" y="419201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441350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651760" y="4468876"/>
            <a:ext cx="107921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120640" y="441350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$211.26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463499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651760" y="4690364"/>
            <a:ext cx="106572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120640" y="463499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$209.87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85648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651760" y="4911852"/>
            <a:ext cx="101722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120640" y="485648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$204.87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507796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651760" y="5133340"/>
            <a:ext cx="82323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120640" y="507796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529945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651760" y="5354828"/>
            <a:ext cx="82323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120640" y="529945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552094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651760" y="5576316"/>
            <a:ext cx="77473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120640" y="552094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$179.87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208776" y="1316736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GRID · 16 STORES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10671048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6208776" y="175564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202168" y="1811020"/>
            <a:ext cx="1697484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671048" y="175564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$275.00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208776" y="197713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202168" y="2032508"/>
            <a:ext cx="145450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671048" y="197713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$249.95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208776" y="219862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02168" y="2253996"/>
            <a:ext cx="140522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0671048" y="219862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$244.87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208776" y="242011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202168" y="2475484"/>
            <a:ext cx="1260503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0671048" y="242011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$229.95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208776" y="264160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02168" y="2696972"/>
            <a:ext cx="116398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0671048" y="264160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$220.00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86308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8202168" y="2918460"/>
            <a:ext cx="111907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671048" y="286308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$215.37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308457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8202168" y="3139948"/>
            <a:ext cx="106699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0671048" y="308457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208776" y="330606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8202168" y="3361436"/>
            <a:ext cx="106699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671048" y="330606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153912" y="3527552"/>
            <a:ext cx="5285232" cy="21234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208776" y="352755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NO-GRID AVG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8202168" y="3582924"/>
            <a:ext cx="997468" cy="11074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671048" y="352755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$202.83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6208776" y="374904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8202168" y="3804412"/>
            <a:ext cx="96950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671048" y="374904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$199.95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397052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8202168" y="4025900"/>
            <a:ext cx="92149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671048" y="397052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$195.00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419201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8202168" y="4247388"/>
            <a:ext cx="87299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0671048" y="419201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$190.00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441350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02168" y="4468876"/>
            <a:ext cx="82449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671048" y="441350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463499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8202168" y="4690364"/>
            <a:ext cx="82449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671048" y="463499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485648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8202168" y="4911852"/>
            <a:ext cx="82449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671048" y="485648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507796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8202168" y="5133340"/>
            <a:ext cx="82449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10671048" y="507796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529945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8202168" y="5354828"/>
            <a:ext cx="766293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10671048" y="529945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$179.00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6035040" y="1371600"/>
            <a:ext cx="10973" cy="43708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stores price labor on a grid, 16 at a flat door rate. Hours-weighted door rate: $228.55 grid, $202.83 no grid.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167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GRID · 17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13167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75564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811020"/>
            <a:ext cx="76809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75564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$348.87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175564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$399.00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75564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197713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2032508"/>
            <a:ext cx="64813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197713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$310.00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197713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97713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19862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2253996"/>
            <a:ext cx="601434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219862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$294.87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24528" y="219862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19862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42011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2475484"/>
            <a:ext cx="57097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74720" y="242011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$285.00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24528" y="2420112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2420112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64160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51760" y="2696972"/>
            <a:ext cx="43168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74720" y="264160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$239.87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224528" y="2641600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2641600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286308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2918460"/>
            <a:ext cx="41934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74720" y="286308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$235.87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224528" y="286308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286308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3504" y="3084576"/>
            <a:ext cx="5285232" cy="21234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308457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AVG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51760" y="3139948"/>
            <a:ext cx="396757" cy="11074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74720" y="308457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$228.55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224528" y="308457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212080" y="308457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30606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651760" y="3361436"/>
            <a:ext cx="38539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474720" y="330606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224528" y="330606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12080" y="330606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52755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651760" y="3582924"/>
            <a:ext cx="385391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74720" y="352755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$224.87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224528" y="3527552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$264.87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12080" y="3527552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Diesel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74904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651760" y="3804412"/>
            <a:ext cx="36995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474720" y="374904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$219.87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224528" y="3749040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212080" y="3749040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" y="397052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51760" y="4025900"/>
            <a:ext cx="34526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474720" y="397052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224528" y="397052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12080" y="397052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19201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51760" y="4247388"/>
            <a:ext cx="34526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474720" y="419201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$211.87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224528" y="419201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212080" y="419201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441350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651760" y="4468876"/>
            <a:ext cx="34338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474720" y="441350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$211.26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224528" y="441350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5212080" y="441350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63499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51760" y="4690364"/>
            <a:ext cx="33909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474720" y="463499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$209.87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224528" y="4634992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212080" y="4634992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485648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651760" y="4911852"/>
            <a:ext cx="323664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474720" y="485648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$204.87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4224528" y="4856480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212080" y="4856480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58368" y="507796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651760" y="5133340"/>
            <a:ext cx="26193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474720" y="507796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224528" y="507796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212080" y="507796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29945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2651760" y="5354828"/>
            <a:ext cx="26193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3474720" y="529945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$184.87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4224528" y="529945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5212080" y="529945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58368" y="552094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2651760" y="5576316"/>
            <a:ext cx="24650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3474720" y="552094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$179.87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4224528" y="552094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$199.87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5212080" y="552094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Non-std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131673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GRID · 16 STORES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9025128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9774936" y="13167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10762488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175564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8202168" y="1811020"/>
            <a:ext cx="54010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9025128" y="175564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$275.00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9774936" y="175564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10762488" y="175564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197713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8202168" y="2032508"/>
            <a:ext cx="462796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9025128" y="197713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$249.95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9774936" y="197713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10762488" y="197713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19862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8202168" y="2253996"/>
            <a:ext cx="44711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025128" y="219862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$244.87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9774936" y="219862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10762488" y="219862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242011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202168" y="2475484"/>
            <a:ext cx="40106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025128" y="242011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$229.95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774936" y="2420112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762488" y="2420112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64160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202168" y="2696972"/>
            <a:ext cx="37036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9025128" y="264160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$220.00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9774936" y="2641600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$230.00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10762488" y="2641600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286308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8202168" y="2918460"/>
            <a:ext cx="35607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9025128" y="286308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$215.37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9774936" y="286308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10762488" y="286308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308457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8202168" y="3139948"/>
            <a:ext cx="33949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9025128" y="308457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9774936" y="308457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762488" y="308457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30606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8202168" y="3361436"/>
            <a:ext cx="339497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9025128" y="330606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9774936" y="330606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10762488" y="330606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6153912" y="3527552"/>
            <a:ext cx="5285232" cy="21234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6208776" y="352755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NO-GRID AVG</a:t>
            </a:r>
            <a:endParaRPr lang="en-US" sz="1300" dirty="0"/>
          </a:p>
        </p:txBody>
      </p:sp>
      <p:sp>
        <p:nvSpPr>
          <p:cNvPr id="147" name="Shape 145"/>
          <p:cNvSpPr/>
          <p:nvPr/>
        </p:nvSpPr>
        <p:spPr>
          <a:xfrm>
            <a:off x="8202168" y="3582924"/>
            <a:ext cx="317376" cy="11074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025128" y="352755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$202.83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9774936" y="3527552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10762488" y="3527552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6208776" y="374904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8202168" y="3804412"/>
            <a:ext cx="308479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025128" y="374904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$199.95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9774936" y="3749040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10762488" y="3749040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397052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8202168" y="4025900"/>
            <a:ext cx="293202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9025128" y="397052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$195.00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9774936" y="397052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762488" y="397052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419201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62" name="Shape 160"/>
          <p:cNvSpPr/>
          <p:nvPr/>
        </p:nvSpPr>
        <p:spPr>
          <a:xfrm>
            <a:off x="8202168" y="4247388"/>
            <a:ext cx="27777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025128" y="419201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$190.00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9774936" y="419201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10762488" y="419201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6208776" y="4413504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8202168" y="4468876"/>
            <a:ext cx="26233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9025128" y="4413504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9774936" y="4413504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$215.00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10762488" y="4413504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6208776" y="4634992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72" name="Shape 170"/>
          <p:cNvSpPr/>
          <p:nvPr/>
        </p:nvSpPr>
        <p:spPr>
          <a:xfrm>
            <a:off x="8202168" y="4690364"/>
            <a:ext cx="26233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025128" y="4634992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9774936" y="4634992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$195.00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10762488" y="4634992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6208776" y="4856480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8202168" y="4911852"/>
            <a:ext cx="26233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025128" y="4856480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9774936" y="4856480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$210.00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10762488" y="4856480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6208776" y="5077968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82" name="Shape 180"/>
          <p:cNvSpPr/>
          <p:nvPr/>
        </p:nvSpPr>
        <p:spPr>
          <a:xfrm>
            <a:off x="8202168" y="5133340"/>
            <a:ext cx="262338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9025128" y="5077968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$185.00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9774936" y="5077968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10762488" y="5077968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6208776" y="5299456"/>
            <a:ext cx="1920240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8202168" y="5354828"/>
            <a:ext cx="243820" cy="11074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025128" y="5299456"/>
            <a:ext cx="74980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$179.00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9774936" y="5299456"/>
            <a:ext cx="987552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10762488" y="5299456"/>
            <a:ext cx="658368" cy="2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6035040" y="1371600"/>
            <a:ext cx="10973" cy="43708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2" name="Shape 190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stores price labor on a grid, 16 at a flat door rate. Hours-weighted door rate: $228.55 grid, $202.83 no grid.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2026-10-15T23:05:13Z</dcterms:created>
  <dcterms:modified xsi:type="dcterms:W3CDTF">2026-10-15T23:05:13Z</dcterms:modified>
</cp:coreProperties>
</file>