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
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
$4,543,691 = 0.1 x 279,756 CP ROs x $162.42 CP ELR (on the Hours per RO data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ELR (and ahead of the door-rate slides).
Example: Roundtable slide 21 table: same $25 tech rate, very different ELR by job; the seven jobs total 8.1 hours and $1,056 = $130/hr.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 per RO.
1.87 x $162.42 = $303.73, which rounds to the $304 on the data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 per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Gross Profit %.
Example: Roundtable slide 21, every job at a $25 tech rate; margins differ because each job's ELR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Profitability, in front of Fixed Ops Absorption %.
P&amp;L definition: line 254 Total Gross Profit - Fixed Ops / line 258 Fixed Expenses (the stored line 257 returns a dollar value, so the slide derives it). GMC Prescott includes its body shop, as on the P&amp;L.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Profitability, in front of Service Net to Gross %.
P&amp;L Detail statement: DEPARTMENT PROFIT OR LOSS / GROSS PROFIT / INCOME, Mechanical Dept (service) and P&amp;A Dept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Opcodes, after the section break, in front of Alignment %.
Denominator: CP ROs on the op code report basis (excluding ROs flagged out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Technician Proficiency, after the section break, in front of the store ranker.
Proficiency uses ADP paid hours (regular + overtime), so it includes time not on an RO. Efficiency would use DMS time punched on jobs, which this data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right after 'What Is Technician Proficiency?'.
Rules as applied on the proficiency slides (Oct 16 2026). Express techs at stores that pool express hours are mostly excluded by the 10%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Every RO with a customer-pay line, whether or not labor was charged on it. One RO counts once, however many lines it has.</a:t>
            </a:r>
            <a:endParaRPr lang="en-US" sz="14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top of the engine. Hours, ELR and $ per RO all multiply off it.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clearest read on retention and on whether the front door is open.</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862584"/>
          </a:xfrm>
          <a:prstGeom prst="rect">
            <a:avLst/>
          </a:prstGeom>
          <a:solidFill>
            <a:srgbClr val="2587C5"/>
          </a:solidFill>
          <a:ln/>
        </p:spPr>
      </p:sp>
      <p:sp>
        <p:nvSpPr>
          <p:cNvPr id="14" name="Text 12"/>
          <p:cNvSpPr txBox="1"/>
          <p:nvPr/>
        </p:nvSpPr>
        <p:spPr>
          <a:xfrm>
            <a:off x="5266944"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862584"/>
          </a:xfrm>
          <a:prstGeom prst="rect">
            <a:avLst/>
          </a:prstGeom>
          <a:solidFill>
            <a:srgbClr val="2587C5"/>
          </a:solidFill>
          <a:ln/>
        </p:spPr>
      </p:sp>
      <p:sp>
        <p:nvSpPr>
          <p:cNvPr id="16" name="Text 14"/>
          <p:cNvSpPr txBox="1"/>
          <p:nvPr/>
        </p:nvSpPr>
        <p:spPr>
          <a:xfrm>
            <a:off x="8522208"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816096"/>
            <a:ext cx="45720" cy="862584"/>
          </a:xfrm>
          <a:prstGeom prst="rect">
            <a:avLst/>
          </a:prstGeom>
          <a:solidFill>
            <a:srgbClr val="2587C5"/>
          </a:solidFill>
          <a:ln/>
        </p:spPr>
      </p:sp>
      <p:sp>
        <p:nvSpPr>
          <p:cNvPr id="18" name="Text 16"/>
          <p:cNvSpPr txBox="1"/>
          <p:nvPr/>
        </p:nvSpPr>
        <p:spPr>
          <a:xfrm>
            <a:off x="5266944"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the Close to Losing and Unretained lists; sold-not-serviced vehicles</a:t>
            </a:r>
            <a:endParaRPr lang="en-US" sz="1400" dirty="0"/>
          </a:p>
        </p:txBody>
      </p:sp>
      <p:sp>
        <p:nvSpPr>
          <p:cNvPr id="19" name="Shape 17"/>
          <p:cNvSpPr/>
          <p:nvPr/>
        </p:nvSpPr>
        <p:spPr>
          <a:xfrm>
            <a:off x="8394192" y="3816096"/>
            <a:ext cx="45720" cy="862584"/>
          </a:xfrm>
          <a:prstGeom prst="rect">
            <a:avLst/>
          </a:prstGeom>
          <a:solidFill>
            <a:srgbClr val="2587C5"/>
          </a:solidFill>
          <a:ln/>
        </p:spPr>
      </p:sp>
      <p:sp>
        <p:nvSpPr>
          <p:cNvPr id="20" name="Text 18"/>
          <p:cNvSpPr txBox="1"/>
          <p:nvPr/>
        </p:nvSpPr>
        <p:spPr>
          <a:xfrm>
            <a:off x="8522208"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4788408"/>
            <a:ext cx="45720" cy="862584"/>
          </a:xfrm>
          <a:prstGeom prst="rect">
            <a:avLst/>
          </a:prstGeom>
          <a:solidFill>
            <a:srgbClr val="2587C5"/>
          </a:solidFill>
          <a:ln/>
        </p:spPr>
      </p:sp>
      <p:sp>
        <p:nvSpPr>
          <p:cNvPr id="22" name="Text 20"/>
          <p:cNvSpPr txBox="1"/>
          <p:nvPr/>
        </p:nvSpPr>
        <p:spPr>
          <a:xfrm>
            <a:off x="5266944"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Express service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easy maintenance keeps customers coming back</a:t>
            </a:r>
            <a:endParaRPr lang="en-US" sz="1400" dirty="0"/>
          </a:p>
        </p:txBody>
      </p:sp>
      <p:sp>
        <p:nvSpPr>
          <p:cNvPr id="23" name="Shape 21"/>
          <p:cNvSpPr/>
          <p:nvPr/>
        </p:nvSpPr>
        <p:spPr>
          <a:xfrm>
            <a:off x="8394192" y="4788408"/>
            <a:ext cx="45720" cy="862584"/>
          </a:xfrm>
          <a:prstGeom prst="rect">
            <a:avLst/>
          </a:prstGeom>
          <a:solidFill>
            <a:srgbClr val="2587C5"/>
          </a:solidFill>
          <a:ln/>
        </p:spPr>
      </p:sp>
      <p:sp>
        <p:nvSpPr>
          <p:cNvPr id="24" name="Text 22"/>
          <p:cNvSpPr txBox="1"/>
          <p:nvPr/>
        </p:nvSpPr>
        <p:spPr>
          <a:xfrm>
            <a:off x="8522208"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
        <p:nvSpPr>
          <p:cNvPr id="25" name="Shape 23"/>
          <p:cNvSpPr/>
          <p:nvPr/>
        </p:nvSpPr>
        <p:spPr>
          <a:xfrm>
            <a:off x="457200" y="5961888"/>
            <a:ext cx="11274552" cy="548640"/>
          </a:xfrm>
          <a:prstGeom prst="rect">
            <a:avLst/>
          </a:prstGeom>
          <a:solidFill>
            <a:srgbClr val="EDF4FA"/>
          </a:solidFill>
          <a:ln/>
        </p:spPr>
      </p:sp>
      <p:sp>
        <p:nvSpPr>
          <p:cNvPr id="26" name="Text 2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279,756 CP ROs, up 456 from 2025. Volume is flat.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labor time we sell on the average customer-pay visit.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per RO  </a:t>
            </a:r>
            <a:pPr algn="ctr" indent="0" marL="0">
              <a:buNone/>
            </a:pPr>
            <a:r>
              <a:rPr lang="en-US" sz="1400" b="1" dirty="0">
                <a:solidFill>
                  <a:srgbClr val="0B2C4A"/>
                </a:solidFill>
                <a:latin typeface="Inter" pitchFamily="34" charset="0"/>
                <a:ea typeface="Inter" pitchFamily="34" charset="-122"/>
                <a:cs typeface="Inter" pitchFamily="34" charset="-120"/>
              </a:rPr>
              <a:t>= $4,543,691 of labor</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a $162.42 ELR on  </a:t>
            </a:r>
            <a:pPr algn="ctr" indent="0" marL="0">
              <a:buNone/>
            </a:pPr>
            <a:r>
              <a:rPr lang="en-US" sz="1400" b="1" dirty="0">
                <a:solidFill>
                  <a:srgbClr val="0B2C4A"/>
                </a:solidFill>
                <a:latin typeface="Inter" pitchFamily="34" charset="0"/>
                <a:ea typeface="Inter" pitchFamily="34" charset="-122"/>
                <a:cs typeface="Inter" pitchFamily="34" charset="-120"/>
              </a:rPr>
              <a:t>279,756 ROs</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cannot be manipulated: it is work the customer agreed to.</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main lever while car count is flat.</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Selling more hours also sells parts.</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7309104" y="3410712"/>
            <a:ext cx="45720" cy="1065276"/>
          </a:xfrm>
          <a:prstGeom prst="rect">
            <a:avLst/>
          </a:prstGeom>
          <a:solidFill>
            <a:srgbClr val="2587C5"/>
          </a:solidFill>
          <a:ln/>
        </p:spPr>
      </p:sp>
      <p:sp>
        <p:nvSpPr>
          <p:cNvPr id="21" name="Text 19"/>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9479280" y="3410712"/>
            <a:ext cx="45720" cy="1065276"/>
          </a:xfrm>
          <a:prstGeom prst="rect">
            <a:avLst/>
          </a:prstGeom>
          <a:solidFill>
            <a:srgbClr val="2587C5"/>
          </a:solidFill>
          <a:ln/>
        </p:spPr>
      </p:sp>
      <p:sp>
        <p:nvSpPr>
          <p:cNvPr id="23" name="Text 21"/>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5138928" y="4585716"/>
            <a:ext cx="45720" cy="1065276"/>
          </a:xfrm>
          <a:prstGeom prst="rect">
            <a:avLst/>
          </a:prstGeom>
          <a:solidFill>
            <a:srgbClr val="2587C5"/>
          </a:solidFill>
          <a:ln/>
        </p:spPr>
      </p:sp>
      <p:sp>
        <p:nvSpPr>
          <p:cNvPr id="25" name="Text 23"/>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7309104" y="4585716"/>
            <a:ext cx="45720" cy="1065276"/>
          </a:xfrm>
          <a:prstGeom prst="rect">
            <a:avLst/>
          </a:prstGeom>
          <a:solidFill>
            <a:srgbClr val="2587C5"/>
          </a:solidFill>
          <a:ln/>
        </p:spPr>
      </p:sp>
      <p:sp>
        <p:nvSpPr>
          <p:cNvPr id="27" name="Text 25"/>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9479280" y="4585716"/>
            <a:ext cx="45720" cy="1065276"/>
          </a:xfrm>
          <a:prstGeom prst="rect">
            <a:avLst/>
          </a:prstGeom>
          <a:solidFill>
            <a:srgbClr val="2587C5"/>
          </a:solidFill>
          <a:ln/>
        </p:spPr>
      </p:sp>
      <p:sp>
        <p:nvSpPr>
          <p:cNvPr id="29" name="Text 27"/>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
        <p:nvSpPr>
          <p:cNvPr id="30" name="Shape 28"/>
          <p:cNvSpPr/>
          <p:nvPr/>
        </p:nvSpPr>
        <p:spPr>
          <a:xfrm>
            <a:off x="457200" y="5961888"/>
            <a:ext cx="11274552" cy="548640"/>
          </a:xfrm>
          <a:prstGeom prst="rect">
            <a:avLst/>
          </a:prstGeom>
          <a:solidFill>
            <a:srgbClr val="E6F6EE"/>
          </a:solidFill>
          <a:ln/>
        </p:spPr>
      </p:sp>
      <p:sp>
        <p:nvSpPr>
          <p:cNvPr id="31" name="Text 29"/>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1.87 CP hours per RO, up 0.07 and ahead of 2025 in all nine months.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What we collect for each customer-pay labor hour after menus, discounts and mix. Door rate is what we post.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Roundtable example</a:t>
            </a:r>
            <a:endParaRPr lang="en-US" sz="1400" dirty="0"/>
          </a:p>
        </p:txBody>
      </p:sp>
      <p:sp>
        <p:nvSpPr>
          <p:cNvPr id="9" name="Shape 7"/>
          <p:cNvSpPr/>
          <p:nvPr/>
        </p:nvSpPr>
        <p:spPr>
          <a:xfrm>
            <a:off x="2286000" y="2340864"/>
            <a:ext cx="1801368"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rotation  </a:t>
            </a:r>
            <a:pPr algn="ctr" indent="0" marL="0">
              <a:buNone/>
            </a:pPr>
            <a:r>
              <a:rPr lang="en-US" sz="1400" b="1" dirty="0">
                <a:solidFill>
                  <a:srgbClr val="0B2C4A"/>
                </a:solidFill>
                <a:latin typeface="Inter" pitchFamily="34" charset="0"/>
                <a:ea typeface="Inter" pitchFamily="34" charset="-122"/>
                <a:cs typeface="Inter" pitchFamily="34" charset="-120"/>
              </a:rPr>
              <a:t>$67/hr</a:t>
            </a:r>
            <a:endParaRPr lang="en-US" sz="1400" dirty="0"/>
          </a:p>
        </p:txBody>
      </p:sp>
      <p:sp>
        <p:nvSpPr>
          <p:cNvPr id="11" name="Shape 9"/>
          <p:cNvSpPr/>
          <p:nvPr/>
        </p:nvSpPr>
        <p:spPr>
          <a:xfrm>
            <a:off x="4197096" y="2340864"/>
            <a:ext cx="1801368" cy="457200"/>
          </a:xfrm>
          <a:prstGeom prst="rect">
            <a:avLst/>
          </a:prstGeom>
          <a:solidFill>
            <a:srgbClr val="FFFFFF"/>
          </a:solidFill>
          <a:ln w="9525">
            <a:solidFill>
              <a:srgbClr val="D9D9D9"/>
            </a:solidFill>
            <a:prstDash val="solid"/>
          </a:ln>
        </p:spPr>
      </p:sp>
      <p:sp>
        <p:nvSpPr>
          <p:cNvPr id="12" name="Text 10"/>
          <p:cNvSpPr txBox="1"/>
          <p:nvPr/>
        </p:nvSpPr>
        <p:spPr>
          <a:xfrm>
            <a:off x="4270248"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Oil change  </a:t>
            </a:r>
            <a:pPr algn="ctr" indent="0" marL="0">
              <a:buNone/>
            </a:pPr>
            <a:r>
              <a:rPr lang="en-US" sz="1400" b="1" dirty="0">
                <a:solidFill>
                  <a:srgbClr val="0B2C4A"/>
                </a:solidFill>
                <a:latin typeface="Inter" pitchFamily="34" charset="0"/>
                <a:ea typeface="Inter" pitchFamily="34" charset="-122"/>
                <a:cs typeface="Inter" pitchFamily="34" charset="-120"/>
              </a:rPr>
              <a:t>$80/hr</a:t>
            </a:r>
            <a:endParaRPr lang="en-US" sz="1400" dirty="0"/>
          </a:p>
        </p:txBody>
      </p:sp>
      <p:sp>
        <p:nvSpPr>
          <p:cNvPr id="13" name="Shape 11"/>
          <p:cNvSpPr/>
          <p:nvPr/>
        </p:nvSpPr>
        <p:spPr>
          <a:xfrm>
            <a:off x="6108192" y="2340864"/>
            <a:ext cx="1801368" cy="457200"/>
          </a:xfrm>
          <a:prstGeom prst="rect">
            <a:avLst/>
          </a:prstGeom>
          <a:solidFill>
            <a:srgbClr val="FFFFFF"/>
          </a:solidFill>
          <a:ln w="9525">
            <a:solidFill>
              <a:srgbClr val="D9D9D9"/>
            </a:solidFill>
            <a:prstDash val="solid"/>
          </a:ln>
        </p:spPr>
      </p:sp>
      <p:sp>
        <p:nvSpPr>
          <p:cNvPr id="14" name="Text 12"/>
          <p:cNvSpPr txBox="1"/>
          <p:nvPr/>
        </p:nvSpPr>
        <p:spPr>
          <a:xfrm>
            <a:off x="6181344"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$117/hr</a:t>
            </a:r>
            <a:endParaRPr lang="en-US" sz="1400" dirty="0"/>
          </a:p>
        </p:txBody>
      </p:sp>
      <p:sp>
        <p:nvSpPr>
          <p:cNvPr id="15" name="Shape 13"/>
          <p:cNvSpPr/>
          <p:nvPr/>
        </p:nvSpPr>
        <p:spPr>
          <a:xfrm>
            <a:off x="8019288" y="2340864"/>
            <a:ext cx="1801368" cy="457200"/>
          </a:xfrm>
          <a:prstGeom prst="rect">
            <a:avLst/>
          </a:prstGeom>
          <a:solidFill>
            <a:srgbClr val="FFFFFF"/>
          </a:solidFill>
          <a:ln w="9525">
            <a:solidFill>
              <a:srgbClr val="D9D9D9"/>
            </a:solidFill>
            <a:prstDash val="solid"/>
          </a:ln>
        </p:spPr>
      </p:sp>
      <p:sp>
        <p:nvSpPr>
          <p:cNvPr id="16" name="Text 14"/>
          <p:cNvSpPr txBox="1"/>
          <p:nvPr/>
        </p:nvSpPr>
        <p:spPr>
          <a:xfrm>
            <a:off x="8092440"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Steering rack  </a:t>
            </a:r>
            <a:pPr algn="ctr" indent="0" marL="0">
              <a:buNone/>
            </a:pPr>
            <a:r>
              <a:rPr lang="en-US" sz="1400" b="1" dirty="0">
                <a:solidFill>
                  <a:srgbClr val="0B2C4A"/>
                </a:solidFill>
                <a:latin typeface="Inter" pitchFamily="34" charset="0"/>
                <a:ea typeface="Inter" pitchFamily="34" charset="-122"/>
                <a:cs typeface="Inter" pitchFamily="34" charset="-120"/>
              </a:rPr>
              <a:t>$160/hr</a:t>
            </a:r>
            <a:endParaRPr lang="en-US" sz="1400" dirty="0"/>
          </a:p>
        </p:txBody>
      </p:sp>
      <p:sp>
        <p:nvSpPr>
          <p:cNvPr id="17" name="Shape 15"/>
          <p:cNvSpPr/>
          <p:nvPr/>
        </p:nvSpPr>
        <p:spPr>
          <a:xfrm>
            <a:off x="9930384" y="2340864"/>
            <a:ext cx="1801368" cy="457200"/>
          </a:xfrm>
          <a:prstGeom prst="rect">
            <a:avLst/>
          </a:prstGeom>
          <a:solidFill>
            <a:srgbClr val="FFFFFF"/>
          </a:solidFill>
          <a:ln w="9525">
            <a:solidFill>
              <a:srgbClr val="D9D9D9"/>
            </a:solidFill>
            <a:prstDash val="solid"/>
          </a:ln>
        </p:spPr>
      </p:sp>
      <p:sp>
        <p:nvSpPr>
          <p:cNvPr id="18" name="Text 16"/>
          <p:cNvSpPr txBox="1"/>
          <p:nvPr/>
        </p:nvSpPr>
        <p:spPr>
          <a:xfrm>
            <a:off x="10003536"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All 7 jobs  </a:t>
            </a:r>
            <a:pPr algn="ctr" indent="0" marL="0">
              <a:buNone/>
            </a:pPr>
            <a:r>
              <a:rPr lang="en-US" sz="1400" b="1" dirty="0">
                <a:solidFill>
                  <a:srgbClr val="0B2C4A"/>
                </a:solidFill>
                <a:latin typeface="Inter" pitchFamily="34" charset="0"/>
                <a:ea typeface="Inter" pitchFamily="34" charset="-122"/>
                <a:cs typeface="Inter" pitchFamily="34" charset="-120"/>
              </a:rPr>
              <a:t>$130/hr</a:t>
            </a:r>
            <a:endParaRPr lang="en-US" sz="1400" dirty="0"/>
          </a:p>
        </p:txBody>
      </p:sp>
      <p:sp>
        <p:nvSpPr>
          <p:cNvPr id="19" name="Shape 17"/>
          <p:cNvSpPr/>
          <p:nvPr/>
        </p:nvSpPr>
        <p:spPr>
          <a:xfrm>
            <a:off x="457200" y="2907792"/>
            <a:ext cx="4343400" cy="2944368"/>
          </a:xfrm>
          <a:prstGeom prst="rect">
            <a:avLst/>
          </a:prstGeom>
          <a:solidFill>
            <a:srgbClr val="FFFFFF"/>
          </a:solidFill>
          <a:ln/>
        </p:spPr>
      </p:sp>
      <p:sp>
        <p:nvSpPr>
          <p:cNvPr id="20" name="Shape 18"/>
          <p:cNvSpPr/>
          <p:nvPr/>
        </p:nvSpPr>
        <p:spPr>
          <a:xfrm>
            <a:off x="4937760" y="2907792"/>
            <a:ext cx="6793992" cy="2944368"/>
          </a:xfrm>
          <a:prstGeom prst="rect">
            <a:avLst/>
          </a:prstGeom>
          <a:solidFill>
            <a:srgbClr val="FFFFFF"/>
          </a:solidFill>
          <a:ln/>
        </p:spPr>
      </p:sp>
      <p:sp>
        <p:nvSpPr>
          <p:cNvPr id="21" name="Text 19"/>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2" name="Text 20"/>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3" name="Text 21"/>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hour sold is worth the ELR, so it sets the value of the whole shop.</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gap to door rate is money given away. Our benchmark: CP ELR at least 70% of door rate.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whether pricing, discounting and mix are under control.</a:t>
            </a:r>
            <a:endParaRPr lang="en-US" sz="1500" dirty="0"/>
          </a:p>
        </p:txBody>
      </p:sp>
      <p:sp>
        <p:nvSpPr>
          <p:cNvPr id="24" name="Shape 22"/>
          <p:cNvSpPr/>
          <p:nvPr/>
        </p:nvSpPr>
        <p:spPr>
          <a:xfrm>
            <a:off x="5138928" y="3410712"/>
            <a:ext cx="45720" cy="1065276"/>
          </a:xfrm>
          <a:prstGeom prst="rect">
            <a:avLst/>
          </a:prstGeom>
          <a:solidFill>
            <a:srgbClr val="2587C5"/>
          </a:solidFill>
          <a:ln/>
        </p:spPr>
      </p:sp>
      <p:sp>
        <p:nvSpPr>
          <p:cNvPr id="25" name="Text 23"/>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posted rate, set from a market labor study</a:t>
            </a:r>
            <a:endParaRPr lang="en-US" sz="1400" dirty="0"/>
          </a:p>
        </p:txBody>
      </p:sp>
      <p:sp>
        <p:nvSpPr>
          <p:cNvPr id="26" name="Shape 24"/>
          <p:cNvSpPr/>
          <p:nvPr/>
        </p:nvSpPr>
        <p:spPr>
          <a:xfrm>
            <a:off x="7309104" y="3410712"/>
            <a:ext cx="45720" cy="1065276"/>
          </a:xfrm>
          <a:prstGeom prst="rect">
            <a:avLst/>
          </a:prstGeom>
          <a:solidFill>
            <a:srgbClr val="2587C5"/>
          </a:solidFill>
          <a:ln/>
        </p:spPr>
      </p:sp>
      <p:sp>
        <p:nvSpPr>
          <p:cNvPr id="27" name="Text 25"/>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Menus and loss leaders below door rate pull ELR down</a:t>
            </a:r>
            <a:endParaRPr lang="en-US" sz="1400" dirty="0"/>
          </a:p>
        </p:txBody>
      </p:sp>
      <p:sp>
        <p:nvSpPr>
          <p:cNvPr id="28" name="Shape 26"/>
          <p:cNvSpPr/>
          <p:nvPr/>
        </p:nvSpPr>
        <p:spPr>
          <a:xfrm>
            <a:off x="9479280" y="3410712"/>
            <a:ext cx="45720" cy="1065276"/>
          </a:xfrm>
          <a:prstGeom prst="rect">
            <a:avLst/>
          </a:prstGeom>
          <a:solidFill>
            <a:srgbClr val="2587C5"/>
          </a:solidFill>
          <a:ln/>
        </p:spPr>
      </p:sp>
      <p:sp>
        <p:nvSpPr>
          <p:cNvPr id="29" name="Text 27"/>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work raises ELR; quick maintenance lowers it</a:t>
            </a:r>
            <a:endParaRPr lang="en-US" sz="1400" dirty="0"/>
          </a:p>
        </p:txBody>
      </p:sp>
      <p:sp>
        <p:nvSpPr>
          <p:cNvPr id="30" name="Shape 28"/>
          <p:cNvSpPr/>
          <p:nvPr/>
        </p:nvSpPr>
        <p:spPr>
          <a:xfrm>
            <a:off x="5138928" y="4585716"/>
            <a:ext cx="45720" cy="1065276"/>
          </a:xfrm>
          <a:prstGeom prst="rect">
            <a:avLst/>
          </a:prstGeom>
          <a:solidFill>
            <a:srgbClr val="2587C5"/>
          </a:solidFill>
          <a:ln/>
        </p:spPr>
      </p:sp>
      <p:sp>
        <p:nvSpPr>
          <p:cNvPr id="31" name="Text 29"/>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32" name="Shape 30"/>
          <p:cNvSpPr/>
          <p:nvPr/>
        </p:nvSpPr>
        <p:spPr>
          <a:xfrm>
            <a:off x="7309104" y="4585716"/>
            <a:ext cx="45720" cy="1065276"/>
          </a:xfrm>
          <a:prstGeom prst="rect">
            <a:avLst/>
          </a:prstGeom>
          <a:solidFill>
            <a:srgbClr val="2587C5"/>
          </a:solidFill>
          <a:ln/>
        </p:spPr>
      </p:sp>
      <p:sp>
        <p:nvSpPr>
          <p:cNvPr id="33" name="Text 31"/>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Labor grid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Prices longer jobs differently; should lift ELR on repair work</a:t>
            </a:r>
            <a:endParaRPr lang="en-US" sz="1400" dirty="0"/>
          </a:p>
        </p:txBody>
      </p:sp>
      <p:sp>
        <p:nvSpPr>
          <p:cNvPr id="34" name="Shape 32"/>
          <p:cNvSpPr/>
          <p:nvPr/>
        </p:nvSpPr>
        <p:spPr>
          <a:xfrm>
            <a:off x="9479280" y="4585716"/>
            <a:ext cx="45720" cy="1065276"/>
          </a:xfrm>
          <a:prstGeom prst="rect">
            <a:avLst/>
          </a:prstGeom>
          <a:solidFill>
            <a:srgbClr val="2587C5"/>
          </a:solidFill>
          <a:ln/>
        </p:spPr>
      </p:sp>
      <p:sp>
        <p:nvSpPr>
          <p:cNvPr id="35" name="Text 33"/>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charged vs sold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Charging less time than the job pays the tech</a:t>
            </a:r>
            <a:endParaRPr lang="en-US" sz="1400" dirty="0"/>
          </a:p>
        </p:txBody>
      </p:sp>
      <p:sp>
        <p:nvSpPr>
          <p:cNvPr id="36" name="Shape 34"/>
          <p:cNvSpPr/>
          <p:nvPr/>
        </p:nvSpPr>
        <p:spPr>
          <a:xfrm>
            <a:off x="457200" y="5961888"/>
            <a:ext cx="11274552" cy="548640"/>
          </a:xfrm>
          <a:prstGeom prst="rect">
            <a:avLst/>
          </a:prstGeom>
          <a:solidFill>
            <a:srgbClr val="E6F6EE"/>
          </a:solidFill>
          <a:ln/>
        </p:spPr>
      </p:sp>
      <p:sp>
        <p:nvSpPr>
          <p:cNvPr id="37" name="Text 3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$162.42 CP ELR, up $3.56. Jul-Sep it ran 74.7% of door rate; 25 of 33 stores at or above 70%.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Labor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labor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ELR</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labor sale divided by CP RO count. It combines how much we sell with what we collect for 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1.87 hours per RO  </a:t>
            </a:r>
            <a:pPr algn="ctr" indent="0" marL="0">
              <a:buNone/>
            </a:pPr>
            <a:r>
              <a:rPr lang="en-US" sz="1400" b="1" dirty="0">
                <a:solidFill>
                  <a:srgbClr val="0B2C4A"/>
                </a:solidFill>
                <a:latin typeface="Inter" pitchFamily="34" charset="0"/>
                <a:ea typeface="Inter" pitchFamily="34" charset="-122"/>
                <a:cs typeface="Inter" pitchFamily="34" charset="-120"/>
              </a:rPr>
              <a:t>× $162.42</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CP labor per RO  </a:t>
            </a:r>
            <a:pPr algn="ctr" indent="0" marL="0">
              <a:buNone/>
            </a:pPr>
            <a:r>
              <a:rPr lang="en-US" sz="1400" b="1" dirty="0">
                <a:solidFill>
                  <a:srgbClr val="0B2C4A"/>
                </a:solidFill>
                <a:latin typeface="Inter" pitchFamily="34" charset="0"/>
                <a:ea typeface="Inter" pitchFamily="34" charset="-122"/>
                <a:cs typeface="Inter" pitchFamily="34" charset="-120"/>
              </a:rPr>
              <a:t>$304</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"Total money in beats ELR, gross %, hours, anything else. It's what we sell." (Roundtable)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measures execution for the store and for each advisor.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best number to build advisor pay on.</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per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lever on the hours slide: MPI, menu, Road to the Sale</a:t>
            </a:r>
            <a:endParaRPr lang="en-US" sz="1400" dirty="0"/>
          </a:p>
        </p:txBody>
      </p:sp>
      <p:sp>
        <p:nvSpPr>
          <p:cNvPr id="20" name="Shape 18"/>
          <p:cNvSpPr/>
          <p:nvPr/>
        </p:nvSpPr>
        <p:spPr>
          <a:xfrm>
            <a:off x="8394192" y="3410712"/>
            <a:ext cx="45720" cy="1065276"/>
          </a:xfrm>
          <a:prstGeom prst="rect">
            <a:avLst/>
          </a:prstGeom>
          <a:solidFill>
            <a:srgbClr val="2587C5"/>
          </a:solidFill>
          <a:ln/>
        </p:spPr>
      </p:sp>
      <p:sp>
        <p:nvSpPr>
          <p:cNvPr id="21" name="Text 19"/>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Pricing, discounts and mix</a:t>
            </a:r>
            <a:endParaRPr lang="en-US" sz="1400" dirty="0"/>
          </a:p>
        </p:txBody>
      </p:sp>
      <p:sp>
        <p:nvSpPr>
          <p:cNvPr id="22" name="Shape 20"/>
          <p:cNvSpPr/>
          <p:nvPr/>
        </p:nvSpPr>
        <p:spPr>
          <a:xfrm>
            <a:off x="5138928" y="4585716"/>
            <a:ext cx="45720" cy="1065276"/>
          </a:xfrm>
          <a:prstGeom prst="rect">
            <a:avLst/>
          </a:prstGeom>
          <a:solidFill>
            <a:srgbClr val="2587C5"/>
          </a:solidFill>
          <a:ln/>
        </p:spPr>
      </p:sp>
      <p:sp>
        <p:nvSpPr>
          <p:cNvPr id="23" name="Text 21"/>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Advisor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customer, every time, from an accurate menu</a:t>
            </a:r>
            <a:endParaRPr lang="en-US" sz="1400" dirty="0"/>
          </a:p>
        </p:txBody>
      </p:sp>
      <p:sp>
        <p:nvSpPr>
          <p:cNvPr id="24" name="Shape 22"/>
          <p:cNvSpPr/>
          <p:nvPr/>
        </p:nvSpPr>
        <p:spPr>
          <a:xfrm>
            <a:off x="8394192" y="4585716"/>
            <a:ext cx="45720" cy="1065276"/>
          </a:xfrm>
          <a:prstGeom prst="rect">
            <a:avLst/>
          </a:prstGeom>
          <a:solidFill>
            <a:srgbClr val="2587C5"/>
          </a:solidFill>
          <a:ln/>
        </p:spPr>
      </p:sp>
      <p:sp>
        <p:nvSpPr>
          <p:cNvPr id="25" name="Text 23"/>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Pay plans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Pay advisors on CP labor or gross per RO</a:t>
            </a:r>
            <a:endParaRPr lang="en-US" sz="1400" dirty="0"/>
          </a:p>
        </p:txBody>
      </p:sp>
      <p:sp>
        <p:nvSpPr>
          <p:cNvPr id="26" name="Shape 24"/>
          <p:cNvSpPr/>
          <p:nvPr/>
        </p:nvSpPr>
        <p:spPr>
          <a:xfrm>
            <a:off x="457200" y="5961888"/>
            <a:ext cx="11274552" cy="548640"/>
          </a:xfrm>
          <a:prstGeom prst="rect">
            <a:avLst/>
          </a:prstGeom>
          <a:solidFill>
            <a:srgbClr val="E6F6EE"/>
          </a:solidFill>
          <a:ln/>
        </p:spPr>
      </p:sp>
      <p:sp>
        <p:nvSpPr>
          <p:cNvPr id="27" name="Text 2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$304 CP labor per RO, up $17. With ROs flat, the $4,899,376 labor gain came from selling more per visit.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Parts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parts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parts sold through the service drive, per visit.</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Parts follow labor: sell the hour and the parts come with it.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adds parts gross on the same car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Luxury stores run more than twice the rest, so compare a store with its own segment.</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per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repair and maintenance hours carry more parts</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bundles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Group-priced maintenance parts for dealer and customer</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we charge relative to cost</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Staging and special orders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ready at the bay; special orders followed up</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$238 CP parts per RO, up $9 and ahead of 2025 in all nine months.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Labor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Labor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tech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labor dollar we keep after paying the technician. The Roundtable target is 78% to 80%.</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Roundtable example</a:t>
            </a:r>
            <a:endParaRPr lang="en-US" sz="1400" dirty="0"/>
          </a:p>
        </p:txBody>
      </p:sp>
      <p:sp>
        <p:nvSpPr>
          <p:cNvPr id="9" name="Shape 7"/>
          <p:cNvSpPr/>
          <p:nvPr/>
        </p:nvSpPr>
        <p:spPr>
          <a:xfrm>
            <a:off x="2286000" y="2340864"/>
            <a:ext cx="1801368"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rotation  </a:t>
            </a:r>
            <a:pPr algn="ctr" indent="0" marL="0">
              <a:buNone/>
            </a:pPr>
            <a:r>
              <a:rPr lang="en-US" sz="1400" b="1" dirty="0">
                <a:solidFill>
                  <a:srgbClr val="0B2C4A"/>
                </a:solidFill>
                <a:latin typeface="Inter" pitchFamily="34" charset="0"/>
                <a:ea typeface="Inter" pitchFamily="34" charset="-122"/>
                <a:cs typeface="Inter" pitchFamily="34" charset="-120"/>
              </a:rPr>
              <a:t>62.4%</a:t>
            </a:r>
            <a:endParaRPr lang="en-US" sz="1400" dirty="0"/>
          </a:p>
        </p:txBody>
      </p:sp>
      <p:sp>
        <p:nvSpPr>
          <p:cNvPr id="11" name="Shape 9"/>
          <p:cNvSpPr/>
          <p:nvPr/>
        </p:nvSpPr>
        <p:spPr>
          <a:xfrm>
            <a:off x="4197096" y="2340864"/>
            <a:ext cx="1801368" cy="457200"/>
          </a:xfrm>
          <a:prstGeom prst="rect">
            <a:avLst/>
          </a:prstGeom>
          <a:solidFill>
            <a:srgbClr val="FFFFFF"/>
          </a:solidFill>
          <a:ln w="9525">
            <a:solidFill>
              <a:srgbClr val="D9D9D9"/>
            </a:solidFill>
            <a:prstDash val="solid"/>
          </a:ln>
        </p:spPr>
      </p:sp>
      <p:sp>
        <p:nvSpPr>
          <p:cNvPr id="12" name="Text 10"/>
          <p:cNvSpPr txBox="1"/>
          <p:nvPr/>
        </p:nvSpPr>
        <p:spPr>
          <a:xfrm>
            <a:off x="4270248"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Oil change  </a:t>
            </a:r>
            <a:pPr algn="ctr" indent="0" marL="0">
              <a:buNone/>
            </a:pPr>
            <a:r>
              <a:rPr lang="en-US" sz="1400" b="1" dirty="0">
                <a:solidFill>
                  <a:srgbClr val="0B2C4A"/>
                </a:solidFill>
                <a:latin typeface="Inter" pitchFamily="34" charset="0"/>
                <a:ea typeface="Inter" pitchFamily="34" charset="-122"/>
                <a:cs typeface="Inter" pitchFamily="34" charset="-120"/>
              </a:rPr>
              <a:t>68.8%</a:t>
            </a:r>
            <a:endParaRPr lang="en-US" sz="1400" dirty="0"/>
          </a:p>
        </p:txBody>
      </p:sp>
      <p:sp>
        <p:nvSpPr>
          <p:cNvPr id="13" name="Shape 11"/>
          <p:cNvSpPr/>
          <p:nvPr/>
        </p:nvSpPr>
        <p:spPr>
          <a:xfrm>
            <a:off x="6108192" y="2340864"/>
            <a:ext cx="1801368" cy="457200"/>
          </a:xfrm>
          <a:prstGeom prst="rect">
            <a:avLst/>
          </a:prstGeom>
          <a:solidFill>
            <a:srgbClr val="FFFFFF"/>
          </a:solidFill>
          <a:ln w="9525">
            <a:solidFill>
              <a:srgbClr val="D9D9D9"/>
            </a:solidFill>
            <a:prstDash val="solid"/>
          </a:ln>
        </p:spPr>
      </p:sp>
      <p:sp>
        <p:nvSpPr>
          <p:cNvPr id="14" name="Text 12"/>
          <p:cNvSpPr txBox="1"/>
          <p:nvPr/>
        </p:nvSpPr>
        <p:spPr>
          <a:xfrm>
            <a:off x="6181344"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78.7%</a:t>
            </a:r>
            <a:endParaRPr lang="en-US" sz="1400" dirty="0"/>
          </a:p>
        </p:txBody>
      </p:sp>
      <p:sp>
        <p:nvSpPr>
          <p:cNvPr id="15" name="Shape 13"/>
          <p:cNvSpPr/>
          <p:nvPr/>
        </p:nvSpPr>
        <p:spPr>
          <a:xfrm>
            <a:off x="8019288" y="2340864"/>
            <a:ext cx="1801368" cy="457200"/>
          </a:xfrm>
          <a:prstGeom prst="rect">
            <a:avLst/>
          </a:prstGeom>
          <a:solidFill>
            <a:srgbClr val="FFFFFF"/>
          </a:solidFill>
          <a:ln w="9525">
            <a:solidFill>
              <a:srgbClr val="D9D9D9"/>
            </a:solidFill>
            <a:prstDash val="solid"/>
          </a:ln>
        </p:spPr>
      </p:sp>
      <p:sp>
        <p:nvSpPr>
          <p:cNvPr id="16" name="Text 14"/>
          <p:cNvSpPr txBox="1"/>
          <p:nvPr/>
        </p:nvSpPr>
        <p:spPr>
          <a:xfrm>
            <a:off x="8092440"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Steering rack  </a:t>
            </a:r>
            <a:pPr algn="ctr" indent="0" marL="0">
              <a:buNone/>
            </a:pPr>
            <a:r>
              <a:rPr lang="en-US" sz="1400" b="1" dirty="0">
                <a:solidFill>
                  <a:srgbClr val="0B2C4A"/>
                </a:solidFill>
                <a:latin typeface="Inter" pitchFamily="34" charset="0"/>
                <a:ea typeface="Inter" pitchFamily="34" charset="-122"/>
                <a:cs typeface="Inter" pitchFamily="34" charset="-120"/>
              </a:rPr>
              <a:t>84.4%</a:t>
            </a:r>
            <a:endParaRPr lang="en-US" sz="1400" dirty="0"/>
          </a:p>
        </p:txBody>
      </p:sp>
      <p:sp>
        <p:nvSpPr>
          <p:cNvPr id="17" name="Shape 15"/>
          <p:cNvSpPr/>
          <p:nvPr/>
        </p:nvSpPr>
        <p:spPr>
          <a:xfrm>
            <a:off x="9930384" y="2340864"/>
            <a:ext cx="1801368" cy="457200"/>
          </a:xfrm>
          <a:prstGeom prst="rect">
            <a:avLst/>
          </a:prstGeom>
          <a:solidFill>
            <a:srgbClr val="FFFFFF"/>
          </a:solidFill>
          <a:ln w="9525">
            <a:solidFill>
              <a:srgbClr val="D9D9D9"/>
            </a:solidFill>
            <a:prstDash val="solid"/>
          </a:ln>
        </p:spPr>
      </p:sp>
      <p:sp>
        <p:nvSpPr>
          <p:cNvPr id="18" name="Text 16"/>
          <p:cNvSpPr txBox="1"/>
          <p:nvPr/>
        </p:nvSpPr>
        <p:spPr>
          <a:xfrm>
            <a:off x="10003536" y="2340864"/>
            <a:ext cx="1655064"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All 7 jobs  </a:t>
            </a:r>
            <a:pPr algn="ctr" indent="0" marL="0">
              <a:buNone/>
            </a:pPr>
            <a:r>
              <a:rPr lang="en-US" sz="1400" b="1" dirty="0">
                <a:solidFill>
                  <a:srgbClr val="0B2C4A"/>
                </a:solidFill>
                <a:latin typeface="Inter" pitchFamily="34" charset="0"/>
                <a:ea typeface="Inter" pitchFamily="34" charset="-122"/>
                <a:cs typeface="Inter" pitchFamily="34" charset="-120"/>
              </a:rPr>
              <a:t>80.8%</a:t>
            </a:r>
            <a:endParaRPr lang="en-US" sz="1400" dirty="0"/>
          </a:p>
        </p:txBody>
      </p:sp>
      <p:sp>
        <p:nvSpPr>
          <p:cNvPr id="19" name="Shape 17"/>
          <p:cNvSpPr/>
          <p:nvPr/>
        </p:nvSpPr>
        <p:spPr>
          <a:xfrm>
            <a:off x="457200" y="2907792"/>
            <a:ext cx="4343400" cy="2944368"/>
          </a:xfrm>
          <a:prstGeom prst="rect">
            <a:avLst/>
          </a:prstGeom>
          <a:solidFill>
            <a:srgbClr val="FFFFFF"/>
          </a:solidFill>
          <a:ln/>
        </p:spPr>
      </p:sp>
      <p:sp>
        <p:nvSpPr>
          <p:cNvPr id="20" name="Shape 18"/>
          <p:cNvSpPr/>
          <p:nvPr/>
        </p:nvSpPr>
        <p:spPr>
          <a:xfrm>
            <a:off x="4937760" y="2907792"/>
            <a:ext cx="6793992" cy="2944368"/>
          </a:xfrm>
          <a:prstGeom prst="rect">
            <a:avLst/>
          </a:prstGeom>
          <a:solidFill>
            <a:srgbClr val="FFFFFF"/>
          </a:solidFill>
          <a:ln/>
        </p:spPr>
      </p:sp>
      <p:sp>
        <p:nvSpPr>
          <p:cNvPr id="21" name="Text 19"/>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2" name="Text 20"/>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3" name="Text 21"/>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Goldilocks: not too high, not too 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low means tech cost is out of line with what the job sells for.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high can mean techs are underpaid on the work they do, which costs us techs.</a:t>
            </a:r>
            <a:endParaRPr lang="en-US" sz="1500" dirty="0"/>
          </a:p>
        </p:txBody>
      </p:sp>
      <p:sp>
        <p:nvSpPr>
          <p:cNvPr id="24" name="Shape 22"/>
          <p:cNvSpPr/>
          <p:nvPr/>
        </p:nvSpPr>
        <p:spPr>
          <a:xfrm>
            <a:off x="5138928" y="3410712"/>
            <a:ext cx="45720" cy="1065276"/>
          </a:xfrm>
          <a:prstGeom prst="rect">
            <a:avLst/>
          </a:prstGeom>
          <a:solidFill>
            <a:srgbClr val="2587C5"/>
          </a:solidFill>
          <a:ln/>
        </p:spPr>
      </p:sp>
      <p:sp>
        <p:nvSpPr>
          <p:cNvPr id="25" name="Text 23"/>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 tech cost, higher ELR = higher margin</a:t>
            </a:r>
            <a:endParaRPr lang="en-US" sz="1400" dirty="0"/>
          </a:p>
        </p:txBody>
      </p:sp>
      <p:sp>
        <p:nvSpPr>
          <p:cNvPr id="26" name="Shape 24"/>
          <p:cNvSpPr/>
          <p:nvPr/>
        </p:nvSpPr>
        <p:spPr>
          <a:xfrm>
            <a:off x="7309104" y="3410712"/>
            <a:ext cx="45720" cy="1065276"/>
          </a:xfrm>
          <a:prstGeom prst="rect">
            <a:avLst/>
          </a:prstGeom>
          <a:solidFill>
            <a:srgbClr val="2587C5"/>
          </a:solidFill>
          <a:ln/>
        </p:spPr>
      </p:sp>
      <p:sp>
        <p:nvSpPr>
          <p:cNvPr id="27" name="Text 25"/>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 pay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Flat-rate pay per hour against the rate we sell</a:t>
            </a:r>
            <a:endParaRPr lang="en-US" sz="1400" dirty="0"/>
          </a:p>
        </p:txBody>
      </p:sp>
      <p:sp>
        <p:nvSpPr>
          <p:cNvPr id="28" name="Shape 26"/>
          <p:cNvSpPr/>
          <p:nvPr/>
        </p:nvSpPr>
        <p:spPr>
          <a:xfrm>
            <a:off x="9479280" y="3410712"/>
            <a:ext cx="45720" cy="1065276"/>
          </a:xfrm>
          <a:prstGeom prst="rect">
            <a:avLst/>
          </a:prstGeom>
          <a:solidFill>
            <a:srgbClr val="2587C5"/>
          </a:solidFill>
          <a:ln/>
        </p:spPr>
      </p:sp>
      <p:sp>
        <p:nvSpPr>
          <p:cNvPr id="29" name="Text 27"/>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job</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Skill-code costing: don't pay a master-tech rate on an oil change</a:t>
            </a:r>
            <a:endParaRPr lang="en-US" sz="1400" dirty="0"/>
          </a:p>
        </p:txBody>
      </p:sp>
      <p:sp>
        <p:nvSpPr>
          <p:cNvPr id="30" name="Shape 28"/>
          <p:cNvSpPr/>
          <p:nvPr/>
        </p:nvSpPr>
        <p:spPr>
          <a:xfrm>
            <a:off x="5138928" y="4585716"/>
            <a:ext cx="45720" cy="1065276"/>
          </a:xfrm>
          <a:prstGeom prst="rect">
            <a:avLst/>
          </a:prstGeom>
          <a:solidFill>
            <a:srgbClr val="2587C5"/>
          </a:solidFill>
          <a:ln/>
        </p:spPr>
      </p:sp>
      <p:sp>
        <p:nvSpPr>
          <p:cNvPr id="31" name="Text 29"/>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Quick maintenance runs lower margin than repair</a:t>
            </a:r>
            <a:endParaRPr lang="en-US" sz="1400" dirty="0"/>
          </a:p>
        </p:txBody>
      </p:sp>
      <p:sp>
        <p:nvSpPr>
          <p:cNvPr id="32" name="Shape 30"/>
          <p:cNvSpPr/>
          <p:nvPr/>
        </p:nvSpPr>
        <p:spPr>
          <a:xfrm>
            <a:off x="7309104" y="4585716"/>
            <a:ext cx="45720" cy="1065276"/>
          </a:xfrm>
          <a:prstGeom prst="rect">
            <a:avLst/>
          </a:prstGeom>
          <a:solidFill>
            <a:srgbClr val="2587C5"/>
          </a:solidFill>
          <a:ln/>
        </p:spPr>
      </p:sp>
      <p:sp>
        <p:nvSpPr>
          <p:cNvPr id="33" name="Text 31"/>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Comebacks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Paying twice for the same job</a:t>
            </a:r>
            <a:endParaRPr lang="en-US" sz="1400" dirty="0"/>
          </a:p>
        </p:txBody>
      </p:sp>
      <p:sp>
        <p:nvSpPr>
          <p:cNvPr id="34" name="Shape 32"/>
          <p:cNvSpPr/>
          <p:nvPr/>
        </p:nvSpPr>
        <p:spPr>
          <a:xfrm>
            <a:off x="457200" y="5961888"/>
            <a:ext cx="11274552" cy="548640"/>
          </a:xfrm>
          <a:prstGeom prst="rect">
            <a:avLst/>
          </a:prstGeom>
          <a:solidFill>
            <a:srgbClr val="EDF4FA"/>
          </a:solidFill>
          <a:ln/>
        </p:spPr>
      </p:sp>
      <p:sp>
        <p:nvSpPr>
          <p:cNvPr id="35" name="Text 3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80.8% CP labor gross profit, down 0.1 pts and just above the 78-80% target.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after the cost of the part.</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other half of the gross on every RO.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Small changes add up across every RO in the group.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pricing and discounting are under control.</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Markup by cost band; set and reviewed</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 direct price changes. ADC-controlled discounting only.</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1" name="Shape 19"/>
          <p:cNvSpPr/>
          <p:nvPr/>
        </p:nvSpPr>
        <p:spPr>
          <a:xfrm>
            <a:off x="457200" y="5961888"/>
            <a:ext cx="11274552" cy="548640"/>
          </a:xfrm>
          <a:prstGeom prst="rect">
            <a:avLst/>
          </a:prstGeom>
          <a:solidFill>
            <a:srgbClr val="E6F6EE"/>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ops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store's fixed expenses service and parts gross pays for. P&amp;L line 254 divided by line 258.</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2944368"/>
          </a:xfrm>
          <a:prstGeom prst="rect">
            <a:avLst/>
          </a:prstGeom>
          <a:solidFill>
            <a:srgbClr val="FFFFFF"/>
          </a:solidFill>
          <a:ln/>
        </p:spPr>
      </p:sp>
      <p:sp>
        <p:nvSpPr>
          <p:cNvPr id="14" name="Shape 12"/>
          <p:cNvSpPr/>
          <p:nvPr/>
        </p:nvSpPr>
        <p:spPr>
          <a:xfrm>
            <a:off x="4937760" y="2907792"/>
            <a:ext cx="6793992" cy="294436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65276"/>
          </a:xfrm>
          <a:prstGeom prst="rect">
            <a:avLst/>
          </a:prstGeom>
          <a:solidFill>
            <a:srgbClr val="2587C5"/>
          </a:solidFill>
          <a:ln/>
        </p:spPr>
      </p:sp>
      <p:sp>
        <p:nvSpPr>
          <p:cNvPr id="19" name="Text 17"/>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ops 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Everything on the CP engine slides: ROs, hours, ELR, margin</a:t>
            </a:r>
            <a:endParaRPr lang="en-US" sz="1400" dirty="0"/>
          </a:p>
        </p:txBody>
      </p:sp>
      <p:sp>
        <p:nvSpPr>
          <p:cNvPr id="20" name="Shape 18"/>
          <p:cNvSpPr/>
          <p:nvPr/>
        </p:nvSpPr>
        <p:spPr>
          <a:xfrm>
            <a:off x="8394192" y="3410712"/>
            <a:ext cx="45720" cy="1065276"/>
          </a:xfrm>
          <a:prstGeom prst="rect">
            <a:avLst/>
          </a:prstGeom>
          <a:solidFill>
            <a:srgbClr val="2587C5"/>
          </a:solidFill>
          <a:ln/>
        </p:spPr>
      </p:sp>
      <p:sp>
        <p:nvSpPr>
          <p:cNvPr id="21" name="Text 19"/>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facility and the other fixed costs on the P&amp;L</a:t>
            </a:r>
            <a:endParaRPr lang="en-US" sz="1400" dirty="0"/>
          </a:p>
        </p:txBody>
      </p:sp>
      <p:sp>
        <p:nvSpPr>
          <p:cNvPr id="22" name="Shape 20"/>
          <p:cNvSpPr/>
          <p:nvPr/>
        </p:nvSpPr>
        <p:spPr>
          <a:xfrm>
            <a:off x="5138928" y="4585716"/>
            <a:ext cx="45720" cy="1065276"/>
          </a:xfrm>
          <a:prstGeom prst="rect">
            <a:avLst/>
          </a:prstGeom>
          <a:solidFill>
            <a:srgbClr val="2587C5"/>
          </a:solidFill>
          <a:ln/>
        </p:spPr>
      </p:sp>
      <p:sp>
        <p:nvSpPr>
          <p:cNvPr id="23" name="Text 21"/>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Warranty and internal</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Gross from warranty and reconditioning counts too</a:t>
            </a:r>
            <a:endParaRPr lang="en-US" sz="1400" dirty="0"/>
          </a:p>
        </p:txBody>
      </p:sp>
      <p:sp>
        <p:nvSpPr>
          <p:cNvPr id="24" name="Shape 22"/>
          <p:cNvSpPr/>
          <p:nvPr/>
        </p:nvSpPr>
        <p:spPr>
          <a:xfrm>
            <a:off x="8394192" y="4585716"/>
            <a:ext cx="45720" cy="1065276"/>
          </a:xfrm>
          <a:prstGeom prst="rect">
            <a:avLst/>
          </a:prstGeom>
          <a:solidFill>
            <a:srgbClr val="2587C5"/>
          </a:solidFill>
          <a:ln/>
        </p:spPr>
      </p:sp>
      <p:sp>
        <p:nvSpPr>
          <p:cNvPr id="25" name="Text 23"/>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and wholesale parts gross counts as well</a:t>
            </a:r>
            <a:endParaRPr lang="en-US" sz="1400" dirty="0"/>
          </a:p>
        </p:txBody>
      </p:sp>
      <p:sp>
        <p:nvSpPr>
          <p:cNvPr id="26" name="Shape 24"/>
          <p:cNvSpPr/>
          <p:nvPr/>
        </p:nvSpPr>
        <p:spPr>
          <a:xfrm>
            <a:off x="457200" y="5961888"/>
            <a:ext cx="11274552" cy="548640"/>
          </a:xfrm>
          <a:prstGeom prst="rect">
            <a:avLst/>
          </a:prstGeom>
          <a:solidFill>
            <a:srgbClr val="E6F6EE"/>
          </a:solidFill>
          <a:ln/>
        </p:spPr>
      </p:sp>
      <p:sp>
        <p:nvSpPr>
          <p:cNvPr id="27" name="Text 25"/>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Net to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Net to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profit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each gross dollar the department keeps after its own expenses. Shown for service and parts.</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is what we make; net is what we keep.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can grow while net falls if expenses grow faster.</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ties staffing and pay plans to results.</a:t>
            </a:r>
            <a:endParaRPr lang="en-US" sz="1600" dirty="0"/>
          </a:p>
        </p:txBody>
      </p:sp>
      <p:sp>
        <p:nvSpPr>
          <p:cNvPr id="13" name="Shape 11"/>
          <p:cNvSpPr/>
          <p:nvPr/>
        </p:nvSpPr>
        <p:spPr>
          <a:xfrm>
            <a:off x="5138928" y="2843784"/>
            <a:ext cx="45720" cy="1348740"/>
          </a:xfrm>
          <a:prstGeom prst="rect">
            <a:avLst/>
          </a:prstGeom>
          <a:solidFill>
            <a:srgbClr val="2587C5"/>
          </a:solidFill>
          <a:ln/>
        </p:spPr>
      </p:sp>
      <p:sp>
        <p:nvSpPr>
          <p:cNvPr id="14" name="Text 12"/>
          <p:cNvSpPr txBox="1"/>
          <p:nvPr/>
        </p:nvSpPr>
        <p:spPr>
          <a:xfrm>
            <a:off x="5266944"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Personnel expense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Headcount and pay plans: the biggest line</a:t>
            </a:r>
            <a:endParaRPr lang="en-US" sz="1400" dirty="0"/>
          </a:p>
        </p:txBody>
      </p:sp>
      <p:sp>
        <p:nvSpPr>
          <p:cNvPr id="15" name="Shape 13"/>
          <p:cNvSpPr/>
          <p:nvPr/>
        </p:nvSpPr>
        <p:spPr>
          <a:xfrm>
            <a:off x="8394192" y="2843784"/>
            <a:ext cx="45720" cy="1348740"/>
          </a:xfrm>
          <a:prstGeom prst="rect">
            <a:avLst/>
          </a:prstGeom>
          <a:solidFill>
            <a:srgbClr val="2587C5"/>
          </a:solidFill>
          <a:ln/>
        </p:spPr>
      </p:sp>
      <p:sp>
        <p:nvSpPr>
          <p:cNvPr id="16" name="Text 14"/>
          <p:cNvSpPr txBox="1"/>
          <p:nvPr/>
        </p:nvSpPr>
        <p:spPr>
          <a:xfrm>
            <a:off x="8522208" y="2843784"/>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Semi-fixed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policy, training, equipment</a:t>
            </a:r>
            <a:endParaRPr lang="en-US" sz="1400" dirty="0"/>
          </a:p>
        </p:txBody>
      </p:sp>
      <p:sp>
        <p:nvSpPr>
          <p:cNvPr id="17" name="Shape 15"/>
          <p:cNvSpPr/>
          <p:nvPr/>
        </p:nvSpPr>
        <p:spPr>
          <a:xfrm>
            <a:off x="5138928" y="4302252"/>
            <a:ext cx="45720" cy="1348740"/>
          </a:xfrm>
          <a:prstGeom prst="rect">
            <a:avLst/>
          </a:prstGeom>
          <a:solidFill>
            <a:srgbClr val="2587C5"/>
          </a:solidFill>
          <a:ln/>
        </p:spPr>
      </p:sp>
      <p:sp>
        <p:nvSpPr>
          <p:cNvPr id="18" name="Text 16"/>
          <p:cNvSpPr txBox="1"/>
          <p:nvPr/>
        </p:nvSpPr>
        <p:spPr>
          <a:xfrm>
            <a:off x="5266944"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Policy and adjustments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Goodwill and comebacks charged to the department</a:t>
            </a:r>
            <a:endParaRPr lang="en-US" sz="1400" dirty="0"/>
          </a:p>
        </p:txBody>
      </p:sp>
      <p:sp>
        <p:nvSpPr>
          <p:cNvPr id="19" name="Shape 17"/>
          <p:cNvSpPr/>
          <p:nvPr/>
        </p:nvSpPr>
        <p:spPr>
          <a:xfrm>
            <a:off x="8394192" y="4302252"/>
            <a:ext cx="45720" cy="1348740"/>
          </a:xfrm>
          <a:prstGeom prst="rect">
            <a:avLst/>
          </a:prstGeom>
          <a:solidFill>
            <a:srgbClr val="2587C5"/>
          </a:solidFill>
          <a:ln/>
        </p:spPr>
      </p:sp>
      <p:sp>
        <p:nvSpPr>
          <p:cNvPr id="20" name="Text 18"/>
          <p:cNvSpPr txBox="1"/>
          <p:nvPr/>
        </p:nvSpPr>
        <p:spPr>
          <a:xfrm>
            <a:off x="8522208" y="4302252"/>
            <a:ext cx="2962656" cy="134874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Grow gross faster than expense</a:t>
            </a:r>
            <a:endParaRPr lang="en-US" sz="1400" dirty="0"/>
          </a:p>
        </p:txBody>
      </p:sp>
      <p:sp>
        <p:nvSpPr>
          <p:cNvPr id="21" name="Shape 19"/>
          <p:cNvSpPr/>
          <p:nvPr/>
        </p:nvSpPr>
        <p:spPr>
          <a:xfrm>
            <a:off x="457200" y="5961888"/>
            <a:ext cx="11274552" cy="548640"/>
          </a:xfrm>
          <a:prstGeom prst="rect">
            <a:avLst/>
          </a:prstGeom>
          <a:solidFill>
            <a:srgbClr val="EDF4FA"/>
          </a:solidFill>
          <a:ln/>
        </p:spPr>
      </p:sp>
      <p:sp>
        <p:nvSpPr>
          <p:cNvPr id="22" name="Text 2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service 21.8%, up 2.9 pts; parts 36.7%, down 0.4 pts.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an Op Code Closing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Closing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ROs with the service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all CP ROs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often a customer-pay visit includes the service.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BENCHMARKS</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balance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Brake fluid  </a:t>
            </a:r>
            <a:pPr algn="ctr" indent="0" marL="0">
              <a:buNone/>
            </a:pPr>
            <a:r>
              <a:rPr lang="en-US" sz="1400" b="1" dirty="0">
                <a:solidFill>
                  <a:srgbClr val="0B2C4A"/>
                </a:solidFill>
                <a:latin typeface="Inter" pitchFamily="34" charset="0"/>
                <a:ea typeface="Inter" pitchFamily="34" charset="-122"/>
                <a:cs typeface="Inter" pitchFamily="34" charset="-120"/>
              </a:rPr>
              <a:t>10%</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Fuel service  </a:t>
            </a:r>
            <a:pPr algn="ctr" indent="0" marL="0">
              <a:buNone/>
            </a:pPr>
            <a:r>
              <a:rPr lang="en-US" sz="1400" b="1" dirty="0">
                <a:solidFill>
                  <a:srgbClr val="0B2C4A"/>
                </a:solidFill>
                <a:latin typeface="Inter" pitchFamily="34" charset="0"/>
                <a:ea typeface="Inter" pitchFamily="34" charset="-122"/>
                <a:cs typeface="Inter" pitchFamily="34" charset="-120"/>
              </a:rPr>
              <a:t>7.5%</a:t>
            </a:r>
            <a:endParaRPr lang="en-US" sz="1400" dirty="0"/>
          </a:p>
        </p:txBody>
      </p:sp>
      <p:sp>
        <p:nvSpPr>
          <p:cNvPr id="17" name="Shape 15"/>
          <p:cNvSpPr/>
          <p:nvPr/>
        </p:nvSpPr>
        <p:spPr>
          <a:xfrm>
            <a:off x="457200" y="2907792"/>
            <a:ext cx="4343400" cy="2944368"/>
          </a:xfrm>
          <a:prstGeom prst="rect">
            <a:avLst/>
          </a:prstGeom>
          <a:solidFill>
            <a:srgbClr val="FFFFFF"/>
          </a:solidFill>
          <a:ln/>
        </p:spPr>
      </p:sp>
      <p:sp>
        <p:nvSpPr>
          <p:cNvPr id="18" name="Shape 16"/>
          <p:cNvSpPr/>
          <p:nvPr/>
        </p:nvSpPr>
        <p:spPr>
          <a:xfrm>
            <a:off x="4937760" y="2907792"/>
            <a:ext cx="6793992" cy="294436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These are the services every car eventually needs.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rate shows whether the inspection and the menu are happening on every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Each point is worth thousands of jobs across the group.</a:t>
            </a:r>
            <a:endParaRPr lang="en-US" sz="1500" dirty="0"/>
          </a:p>
        </p:txBody>
      </p:sp>
      <p:sp>
        <p:nvSpPr>
          <p:cNvPr id="22" name="Shape 20"/>
          <p:cNvSpPr/>
          <p:nvPr/>
        </p:nvSpPr>
        <p:spPr>
          <a:xfrm>
            <a:off x="5138928" y="3410712"/>
            <a:ext cx="45720" cy="1065276"/>
          </a:xfrm>
          <a:prstGeom prst="rect">
            <a:avLst/>
          </a:prstGeom>
          <a:solidFill>
            <a:srgbClr val="2587C5"/>
          </a:solidFill>
          <a:ln/>
        </p:spPr>
      </p:sp>
      <p:sp>
        <p:nvSpPr>
          <p:cNvPr id="23" name="Text 21"/>
          <p:cNvSpPr txBox="1"/>
          <p:nvPr/>
        </p:nvSpPr>
        <p:spPr>
          <a:xfrm>
            <a:off x="5266944"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Find the need and show the customer</a:t>
            </a:r>
            <a:endParaRPr lang="en-US" sz="1400" dirty="0"/>
          </a:p>
        </p:txBody>
      </p:sp>
      <p:sp>
        <p:nvSpPr>
          <p:cNvPr id="24" name="Shape 22"/>
          <p:cNvSpPr/>
          <p:nvPr/>
        </p:nvSpPr>
        <p:spPr>
          <a:xfrm>
            <a:off x="8394192" y="3410712"/>
            <a:ext cx="45720" cy="1065276"/>
          </a:xfrm>
          <a:prstGeom prst="rect">
            <a:avLst/>
          </a:prstGeom>
          <a:solidFill>
            <a:srgbClr val="2587C5"/>
          </a:solidFill>
          <a:ln/>
        </p:spPr>
      </p:sp>
      <p:sp>
        <p:nvSpPr>
          <p:cNvPr id="25" name="Text 23"/>
          <p:cNvSpPr txBox="1"/>
          <p:nvPr/>
        </p:nvSpPr>
        <p:spPr>
          <a:xfrm>
            <a:off x="8522208" y="3410712"/>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at write-up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a:t>
            </a:r>
            <a:endParaRPr lang="en-US" sz="1400" dirty="0"/>
          </a:p>
        </p:txBody>
      </p:sp>
      <p:sp>
        <p:nvSpPr>
          <p:cNvPr id="26" name="Shape 24"/>
          <p:cNvSpPr/>
          <p:nvPr/>
        </p:nvSpPr>
        <p:spPr>
          <a:xfrm>
            <a:off x="5138928" y="4585716"/>
            <a:ext cx="45720" cy="1065276"/>
          </a:xfrm>
          <a:prstGeom prst="rect">
            <a:avLst/>
          </a:prstGeom>
          <a:solidFill>
            <a:srgbClr val="2587C5"/>
          </a:solidFill>
          <a:ln/>
        </p:spPr>
      </p:sp>
      <p:sp>
        <p:nvSpPr>
          <p:cNvPr id="27" name="Text 25"/>
          <p:cNvSpPr txBox="1"/>
          <p:nvPr/>
        </p:nvSpPr>
        <p:spPr>
          <a:xfrm>
            <a:off x="5266944"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Advisor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it, price it, ask for it</a:t>
            </a:r>
            <a:endParaRPr lang="en-US" sz="1400" dirty="0"/>
          </a:p>
        </p:txBody>
      </p:sp>
      <p:sp>
        <p:nvSpPr>
          <p:cNvPr id="28" name="Shape 26"/>
          <p:cNvSpPr/>
          <p:nvPr/>
        </p:nvSpPr>
        <p:spPr>
          <a:xfrm>
            <a:off x="8394192" y="4585716"/>
            <a:ext cx="45720" cy="1065276"/>
          </a:xfrm>
          <a:prstGeom prst="rect">
            <a:avLst/>
          </a:prstGeom>
          <a:solidFill>
            <a:srgbClr val="2587C5"/>
          </a:solidFill>
          <a:ln/>
        </p:spPr>
      </p:sp>
      <p:sp>
        <p:nvSpPr>
          <p:cNvPr id="29" name="Text 27"/>
          <p:cNvSpPr txBox="1"/>
          <p:nvPr/>
        </p:nvSpPr>
        <p:spPr>
          <a:xfrm>
            <a:off x="8522208" y="4585716"/>
            <a:ext cx="2962656"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Daily Viz Op Code report; feedback before the 15th</a:t>
            </a:r>
            <a:endParaRPr lang="en-US" sz="1400" dirty="0"/>
          </a:p>
        </p:txBody>
      </p:sp>
      <p:sp>
        <p:nvSpPr>
          <p:cNvPr id="30" name="Shape 28"/>
          <p:cNvSpPr/>
          <p:nvPr/>
        </p:nvSpPr>
        <p:spPr>
          <a:xfrm>
            <a:off x="457200" y="5961888"/>
            <a:ext cx="11274552" cy="548640"/>
          </a:xfrm>
          <a:prstGeom prst="rect">
            <a:avLst/>
          </a:prstGeom>
          <a:solidFill>
            <a:srgbClr val="EDF4FA"/>
          </a:solidFill>
          <a:ln/>
        </p:spPr>
      </p:sp>
      <p:sp>
        <p:nvSpPr>
          <p:cNvPr id="31" name="Text 29"/>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All four rose 1.2-1.4 pts and beat 2025 every month. Balance is furthest off, at 8.3%: 18,493 short of 15%.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Technician Proficiency?</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Proficiency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sold (flagged)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paid (clocked)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many hours a technician produces for every hour they are on the clock. 85% is on target; 100% or more is above.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 40-HOUR WEEK</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Paid 40 hours  </a:t>
            </a:r>
            <a:pPr algn="ctr" indent="0" marL="0">
              <a:buNone/>
            </a:pPr>
            <a:r>
              <a:rPr lang="en-US" sz="1400" b="1" dirty="0">
                <a:solidFill>
                  <a:srgbClr val="0B2C4A"/>
                </a:solidFill>
                <a:latin typeface="Inter" pitchFamily="34" charset="0"/>
                <a:ea typeface="Inter" pitchFamily="34" charset="-122"/>
                <a:cs typeface="Inter" pitchFamily="34" charset="-120"/>
              </a:rPr>
              <a:t>sells 34</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Proficiency  </a:t>
            </a:r>
            <a:pPr algn="ctr" indent="0" marL="0">
              <a:buNone/>
            </a:pPr>
            <a:r>
              <a:rPr lang="en-US" sz="1400" b="1" dirty="0">
                <a:solidFill>
                  <a:srgbClr val="0B2C4A"/>
                </a:solidFill>
                <a:latin typeface="Inter" pitchFamily="34" charset="0"/>
                <a:ea typeface="Inter" pitchFamily="34" charset="-122"/>
                <a:cs typeface="Inter" pitchFamily="34" charset="-120"/>
              </a:rPr>
              <a:t>85%</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Sells 40  </a:t>
            </a:r>
            <a:pPr algn="ctr" indent="0" marL="0">
              <a:buNone/>
            </a:pPr>
            <a:r>
              <a:rPr lang="en-US" sz="1400" b="1" dirty="0">
                <a:solidFill>
                  <a:srgbClr val="0B2C4A"/>
                </a:solidFill>
                <a:latin typeface="Inter" pitchFamily="34" charset="0"/>
                <a:ea typeface="Inter" pitchFamily="34" charset="-122"/>
                <a:cs typeface="Inter" pitchFamily="34" charset="-120"/>
              </a:rPr>
              <a:t>100%</a:t>
            </a:r>
            <a:endParaRPr lang="en-US" sz="1400" dirty="0"/>
          </a:p>
        </p:txBody>
      </p:sp>
      <p:sp>
        <p:nvSpPr>
          <p:cNvPr id="15" name="Shape 13"/>
          <p:cNvSpPr/>
          <p:nvPr/>
        </p:nvSpPr>
        <p:spPr>
          <a:xfrm>
            <a:off x="457200" y="2907792"/>
            <a:ext cx="4343400" cy="2944368"/>
          </a:xfrm>
          <a:prstGeom prst="rect">
            <a:avLst/>
          </a:prstGeom>
          <a:solidFill>
            <a:srgbClr val="FFFFFF"/>
          </a:solidFill>
          <a:ln/>
        </p:spPr>
      </p:sp>
      <p:sp>
        <p:nvSpPr>
          <p:cNvPr id="16" name="Shape 14"/>
          <p:cNvSpPr/>
          <p:nvPr/>
        </p:nvSpPr>
        <p:spPr>
          <a:xfrm>
            <a:off x="4937760" y="2907792"/>
            <a:ext cx="6793992" cy="294436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30428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tech, bay and lift are already here; an unflagged hour can't be sold tomorrow.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Flat-rate techs earn more as they produce more.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where workflow, not effort, is the problem.</a:t>
            </a:r>
            <a:endParaRPr lang="en-US" sz="1500" dirty="0"/>
          </a:p>
        </p:txBody>
      </p:sp>
      <p:sp>
        <p:nvSpPr>
          <p:cNvPr id="20" name="Shape 18"/>
          <p:cNvSpPr/>
          <p:nvPr/>
        </p:nvSpPr>
        <p:spPr>
          <a:xfrm>
            <a:off x="5138928" y="3410712"/>
            <a:ext cx="45720" cy="1065276"/>
          </a:xfrm>
          <a:prstGeom prst="rect">
            <a:avLst/>
          </a:prstGeom>
          <a:solidFill>
            <a:srgbClr val="2587C5"/>
          </a:solidFill>
          <a:ln/>
        </p:spPr>
      </p:sp>
      <p:sp>
        <p:nvSpPr>
          <p:cNvPr id="21" name="Text 19"/>
          <p:cNvSpPr txBox="1"/>
          <p:nvPr/>
        </p:nvSpPr>
        <p:spPr>
          <a:xfrm>
            <a:off x="5266944"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Dispatch</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waiting at the bay; the right job to the right tech</a:t>
            </a:r>
            <a:endParaRPr lang="en-US" sz="1400" dirty="0"/>
          </a:p>
        </p:txBody>
      </p:sp>
      <p:sp>
        <p:nvSpPr>
          <p:cNvPr id="22" name="Shape 20"/>
          <p:cNvSpPr/>
          <p:nvPr/>
        </p:nvSpPr>
        <p:spPr>
          <a:xfrm>
            <a:off x="7309104" y="3410712"/>
            <a:ext cx="45720" cy="1065276"/>
          </a:xfrm>
          <a:prstGeom prst="rect">
            <a:avLst/>
          </a:prstGeom>
          <a:solidFill>
            <a:srgbClr val="2587C5"/>
          </a:solidFill>
          <a:ln/>
        </p:spPr>
      </p:sp>
      <p:sp>
        <p:nvSpPr>
          <p:cNvPr id="23" name="Text 21"/>
          <p:cNvSpPr txBox="1"/>
          <p:nvPr/>
        </p:nvSpPr>
        <p:spPr>
          <a:xfrm>
            <a:off x="7437120"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Car count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Not enough work leaves techs waiting</a:t>
            </a:r>
            <a:endParaRPr lang="en-US" sz="1400" dirty="0"/>
          </a:p>
        </p:txBody>
      </p:sp>
      <p:sp>
        <p:nvSpPr>
          <p:cNvPr id="24" name="Shape 22"/>
          <p:cNvSpPr/>
          <p:nvPr/>
        </p:nvSpPr>
        <p:spPr>
          <a:xfrm>
            <a:off x="9479280" y="3410712"/>
            <a:ext cx="45720" cy="1065276"/>
          </a:xfrm>
          <a:prstGeom prst="rect">
            <a:avLst/>
          </a:prstGeom>
          <a:solidFill>
            <a:srgbClr val="2587C5"/>
          </a:solidFill>
          <a:ln/>
        </p:spPr>
      </p:sp>
      <p:sp>
        <p:nvSpPr>
          <p:cNvPr id="25" name="Text 23"/>
          <p:cNvSpPr txBox="1"/>
          <p:nvPr/>
        </p:nvSpPr>
        <p:spPr>
          <a:xfrm>
            <a:off x="9607296" y="3410712"/>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staging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at the bay before the tech needs them</a:t>
            </a:r>
            <a:endParaRPr lang="en-US" sz="1400" dirty="0"/>
          </a:p>
        </p:txBody>
      </p:sp>
      <p:sp>
        <p:nvSpPr>
          <p:cNvPr id="26" name="Shape 24"/>
          <p:cNvSpPr/>
          <p:nvPr/>
        </p:nvSpPr>
        <p:spPr>
          <a:xfrm>
            <a:off x="5138928" y="4585716"/>
            <a:ext cx="45720" cy="1065276"/>
          </a:xfrm>
          <a:prstGeom prst="rect">
            <a:avLst/>
          </a:prstGeom>
          <a:solidFill>
            <a:srgbClr val="2587C5"/>
          </a:solidFill>
          <a:ln/>
        </p:spPr>
      </p:sp>
      <p:sp>
        <p:nvSpPr>
          <p:cNvPr id="27" name="Text 25"/>
          <p:cNvSpPr txBox="1"/>
          <p:nvPr/>
        </p:nvSpPr>
        <p:spPr>
          <a:xfrm>
            <a:off x="5266944"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Approvals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customer approval on the inspection</a:t>
            </a:r>
            <a:endParaRPr lang="en-US" sz="1400" dirty="0"/>
          </a:p>
        </p:txBody>
      </p:sp>
      <p:sp>
        <p:nvSpPr>
          <p:cNvPr id="28" name="Shape 26"/>
          <p:cNvSpPr/>
          <p:nvPr/>
        </p:nvSpPr>
        <p:spPr>
          <a:xfrm>
            <a:off x="7309104" y="4585716"/>
            <a:ext cx="45720" cy="1065276"/>
          </a:xfrm>
          <a:prstGeom prst="rect">
            <a:avLst/>
          </a:prstGeom>
          <a:solidFill>
            <a:srgbClr val="2587C5"/>
          </a:solidFill>
          <a:ln/>
        </p:spPr>
      </p:sp>
      <p:sp>
        <p:nvSpPr>
          <p:cNvPr id="29" name="Text 27"/>
          <p:cNvSpPr txBox="1"/>
          <p:nvPr/>
        </p:nvSpPr>
        <p:spPr>
          <a:xfrm>
            <a:off x="7437120"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Skill and training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 level in line with job skill</a:t>
            </a:r>
            <a:endParaRPr lang="en-US" sz="1400" dirty="0"/>
          </a:p>
        </p:txBody>
      </p:sp>
      <p:sp>
        <p:nvSpPr>
          <p:cNvPr id="30" name="Shape 28"/>
          <p:cNvSpPr/>
          <p:nvPr/>
        </p:nvSpPr>
        <p:spPr>
          <a:xfrm>
            <a:off x="9479280" y="4585716"/>
            <a:ext cx="45720" cy="1065276"/>
          </a:xfrm>
          <a:prstGeom prst="rect">
            <a:avLst/>
          </a:prstGeom>
          <a:solidFill>
            <a:srgbClr val="2587C5"/>
          </a:solidFill>
          <a:ln/>
        </p:spPr>
      </p:sp>
      <p:sp>
        <p:nvSpPr>
          <p:cNvPr id="31" name="Text 29"/>
          <p:cNvSpPr txBox="1"/>
          <p:nvPr/>
        </p:nvSpPr>
        <p:spPr>
          <a:xfrm>
            <a:off x="9607296" y="4585716"/>
            <a:ext cx="1877568" cy="106527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Proficiency vs efficiency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Efficiency divides by time clocked on ROs, not all paid time</a:t>
            </a:r>
            <a:endParaRPr lang="en-US" sz="1400" dirty="0"/>
          </a:p>
        </p:txBody>
      </p:sp>
      <p:sp>
        <p:nvSpPr>
          <p:cNvPr id="32" name="Shape 30"/>
          <p:cNvSpPr/>
          <p:nvPr/>
        </p:nvSpPr>
        <p:spPr>
          <a:xfrm>
            <a:off x="457200" y="5961888"/>
            <a:ext cx="11274552" cy="548640"/>
          </a:xfrm>
          <a:prstGeom prst="rect">
            <a:avLst/>
          </a:prstGeom>
          <a:solidFill>
            <a:srgbClr val="EDF4FA"/>
          </a:solidFill>
          <a:ln/>
        </p:spPr>
      </p:sp>
      <p:sp>
        <p:nvSpPr>
          <p:cNvPr id="33" name="Text 3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94.7%. 20 of 33 stores at or above 85%; 262 of 583 counted techs below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Sold hours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paid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Matched by tech number, all pay types, Dec 25, 2025 to Oct 9, 2026. Store = total sold hours / total paid hours.</a:t>
            </a:r>
            <a:endParaRPr lang="en-US" sz="1500" dirty="0"/>
          </a:p>
        </p:txBody>
      </p:sp>
      <p:sp>
        <p:nvSpPr>
          <p:cNvPr id="8" name="Shape 6"/>
          <p:cNvSpPr/>
          <p:nvPr/>
        </p:nvSpPr>
        <p:spPr>
          <a:xfrm>
            <a:off x="457200" y="2340864"/>
            <a:ext cx="4343400" cy="3511296"/>
          </a:xfrm>
          <a:prstGeom prst="rect">
            <a:avLst/>
          </a:prstGeom>
          <a:solidFill>
            <a:srgbClr val="FFFFFF"/>
          </a:solidFill>
          <a:ln/>
        </p:spPr>
      </p:sp>
      <p:sp>
        <p:nvSpPr>
          <p:cNvPr id="9" name="Shape 7"/>
          <p:cNvSpPr/>
          <p:nvPr/>
        </p:nvSpPr>
        <p:spPr>
          <a:xfrm>
            <a:off x="4937760" y="2340864"/>
            <a:ext cx="6793992" cy="351129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287121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Service techs, express techs, team leaders and shop foremen</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Not counted: body shop, detail and tint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Same-store: INEOS excluded</a:t>
            </a:r>
            <a:endParaRPr lang="en-US" sz="1600" dirty="0"/>
          </a:p>
        </p:txBody>
      </p:sp>
      <p:sp>
        <p:nvSpPr>
          <p:cNvPr id="13" name="Shape 11"/>
          <p:cNvSpPr/>
          <p:nvPr/>
        </p:nvSpPr>
        <p:spPr>
          <a:xfrm>
            <a:off x="5138928" y="2843784"/>
            <a:ext cx="45720" cy="862584"/>
          </a:xfrm>
          <a:prstGeom prst="rect">
            <a:avLst/>
          </a:prstGeom>
          <a:solidFill>
            <a:srgbClr val="2587C5"/>
          </a:solidFill>
          <a:ln/>
        </p:spPr>
      </p:sp>
      <p:sp>
        <p:nvSpPr>
          <p:cNvPr id="14" name="Text 12"/>
          <p:cNvSpPr txBox="1"/>
          <p:nvPr/>
        </p:nvSpPr>
        <p:spPr>
          <a:xfrm>
            <a:off x="5266944"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862584"/>
          </a:xfrm>
          <a:prstGeom prst="rect">
            <a:avLst/>
          </a:prstGeom>
          <a:solidFill>
            <a:srgbClr val="2587C5"/>
          </a:solidFill>
          <a:ln/>
        </p:spPr>
      </p:sp>
      <p:sp>
        <p:nvSpPr>
          <p:cNvPr id="16" name="Text 14"/>
          <p:cNvSpPr txBox="1"/>
          <p:nvPr/>
        </p:nvSpPr>
        <p:spPr>
          <a:xfrm>
            <a:off x="8522208" y="2843784"/>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16096"/>
            <a:ext cx="45720" cy="862584"/>
          </a:xfrm>
          <a:prstGeom prst="rect">
            <a:avLst/>
          </a:prstGeom>
          <a:solidFill>
            <a:srgbClr val="2587C5"/>
          </a:solidFill>
          <a:ln/>
        </p:spPr>
      </p:sp>
      <p:sp>
        <p:nvSpPr>
          <p:cNvPr id="18" name="Text 16"/>
          <p:cNvSpPr txBox="1"/>
          <p:nvPr/>
        </p:nvSpPr>
        <p:spPr>
          <a:xfrm>
            <a:off x="5266944"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Paid hours trimmed to the months a tech actually flagged</a:t>
            </a:r>
            <a:endParaRPr lang="en-US" sz="1400" dirty="0"/>
          </a:p>
        </p:txBody>
      </p:sp>
      <p:sp>
        <p:nvSpPr>
          <p:cNvPr id="19" name="Shape 17"/>
          <p:cNvSpPr/>
          <p:nvPr/>
        </p:nvSpPr>
        <p:spPr>
          <a:xfrm>
            <a:off x="8394192" y="3816096"/>
            <a:ext cx="45720" cy="862584"/>
          </a:xfrm>
          <a:prstGeom prst="rect">
            <a:avLst/>
          </a:prstGeom>
          <a:solidFill>
            <a:srgbClr val="2587C5"/>
          </a:solidFill>
          <a:ln/>
        </p:spPr>
      </p:sp>
      <p:sp>
        <p:nvSpPr>
          <p:cNvPr id="20" name="Text 18"/>
          <p:cNvSpPr txBox="1"/>
          <p:nvPr/>
        </p:nvSpPr>
        <p:spPr>
          <a:xfrm>
            <a:off x="8522208" y="3816096"/>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 removed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45 lines, such as 940 hours keyed on one $0 line</a:t>
            </a:r>
            <a:endParaRPr lang="en-US" sz="1400" dirty="0"/>
          </a:p>
        </p:txBody>
      </p:sp>
      <p:sp>
        <p:nvSpPr>
          <p:cNvPr id="21" name="Shape 19"/>
          <p:cNvSpPr/>
          <p:nvPr/>
        </p:nvSpPr>
        <p:spPr>
          <a:xfrm>
            <a:off x="5138928" y="4788408"/>
            <a:ext cx="45720" cy="862584"/>
          </a:xfrm>
          <a:prstGeom prst="rect">
            <a:avLst/>
          </a:prstGeom>
          <a:solidFill>
            <a:srgbClr val="2587C5"/>
          </a:solidFill>
          <a:ln/>
        </p:spPr>
      </p:sp>
      <p:sp>
        <p:nvSpPr>
          <p:cNvPr id="22" name="Text 20"/>
          <p:cNvSpPr txBox="1"/>
          <p:nvPr/>
        </p:nvSpPr>
        <p:spPr>
          <a:xfrm>
            <a:off x="5266944"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codes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Pooled codes (MULT, 999, 77777) aren't credited to anyone</a:t>
            </a:r>
            <a:endParaRPr lang="en-US" sz="1400" dirty="0"/>
          </a:p>
        </p:txBody>
      </p:sp>
      <p:sp>
        <p:nvSpPr>
          <p:cNvPr id="23" name="Shape 21"/>
          <p:cNvSpPr/>
          <p:nvPr/>
        </p:nvSpPr>
        <p:spPr>
          <a:xfrm>
            <a:off x="8394192" y="4788408"/>
            <a:ext cx="45720" cy="862584"/>
          </a:xfrm>
          <a:prstGeom prst="rect">
            <a:avLst/>
          </a:prstGeom>
          <a:solidFill>
            <a:srgbClr val="2587C5"/>
          </a:solidFill>
          <a:ln/>
        </p:spPr>
      </p:sp>
      <p:sp>
        <p:nvSpPr>
          <p:cNvPr id="24" name="Text 22"/>
          <p:cNvSpPr txBox="1"/>
          <p:nvPr/>
        </p:nvSpPr>
        <p:spPr>
          <a:xfrm>
            <a:off x="8522208" y="4788408"/>
            <a:ext cx="2962656" cy="86258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paid hours</a:t>
            </a:r>
            <a:endParaRPr lang="en-US" sz="1400" dirty="0"/>
          </a:p>
        </p:txBody>
      </p:sp>
      <p:sp>
        <p:nvSpPr>
          <p:cNvPr id="25" name="Shape 23"/>
          <p:cNvSpPr/>
          <p:nvPr/>
        </p:nvSpPr>
        <p:spPr>
          <a:xfrm>
            <a:off x="457200" y="5961888"/>
            <a:ext cx="11274552" cy="548640"/>
          </a:xfrm>
          <a:prstGeom prst="rect">
            <a:avLst/>
          </a:prstGeom>
          <a:solidFill>
            <a:srgbClr val="EDF4FA"/>
          </a:solidFill>
          <a:ln/>
        </p:spPr>
      </p:sp>
      <p:sp>
        <p:nvSpPr>
          <p:cNvPr id="26" name="Text 2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2026-10-19T17:18:02Z</dcterms:created>
  <dcterms:modified xsi:type="dcterms:W3CDTF">2026-10-19T17:18:02Z</dcterms:modified>
</cp:coreProperties>
</file>