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24" r:id="rId175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75" Type="http://schemas.openxmlformats.org/officeDocument/2006/relationships/slide" Target="slides/slide1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Before → after, by measure:</a:t>
            </a:r>
          </a:p>
          <a:p>
            <a:r>
              <a:t>Fixed Ops Net Profit per Month: top HONDA HENDERSON $586K → $725K; TOYOTA HENDERSON $795K → $934K; CHEVY LV $181K → $294K. Bottom AUDI RENO $212K → $187K; ACURA $61K → $31K; KIA LV $240K → $179K.</a:t>
            </a:r>
          </a:p>
          <a:p>
            <a:r>
              <a:t>Fixed Absorption: top LR HENDERSON 66.7% → 82.9%; LR RENO 69.5% → 84.8%; KIA ST GEORGE 62.0% → 73.1%. Bottom AUDI RENO 106.5% → 100.4%; ACURA 64.6% → 58.0%; KIA LV 84.3% → 74.6%.</a:t>
            </a:r>
          </a:p>
          <a:p>
            <a:r>
              <a:t>CP Parts GP %: top ACURA 39.4% → 46.6%; VW ST GEORGE 39.1% → 43.8%; GMC PRESCOTT 35.3% → 39.2%. Bottom CHEVY LV 38.2% → 35.0%; LINCOLN 39.9% → 36.0%; HONDA HENDERSON 44.3% → 40.0%.</a:t>
            </a:r>
          </a:p>
          <a:p>
            <a:r>
              <a:t>Opcodes, Four Combined: top MAZDA 30.5% → 66.9%; HYUNDAI PRESCOTT 43.8% → 62.4%; KIA ST GEORGE 21.2% → 37.1%. Bottom CADILLAC 29.4% → 21.3%; SUBARU ST GEORGE 45.1% → 35.4%; HONDA HENDERSON 72.5% → 61.2%.Takeaway with the store call-outs (off the slide): Most top-three finishes: Mazda, CDJR Post Falls and VW St George (2 of 4). Most bottom-three: Audi Reno, Acura, Kia LV and Honda Henderson (2 of 4).Source: Q3 2026 (Jul-Sep) vs Q1 2026 (Jan-Mar), each store against itself. Gross, ROs and net profit per month. Fixed ops net profit: Qlik - Profit &amp; Loss, service + parts department profit, change in dollars per month. Fixed absorption: P&amp;L, fixed ops gross / total store fixed expenses, GMC Prescott body shop in, as on the P&amp;L. CP parts GP %: Qlik - Closed Repair Orders. Opcodes: alignment + balance + brake fluid + fuel services / customer-pay ROs on the op-code report basis. Same-store, 33 stores. The group's own move is the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Movers This Year: Profit and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Q3 2026 vs Q1 2026. Group change = the season.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78962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9010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919058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+$1.05M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+$139K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+$138K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+$113K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−$25K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−$30K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−$61K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39312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0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ABSORPTION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657600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+4.2 pts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0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+16.2 pts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+15.3 pts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0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+11.1 pts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3657600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365760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−6.1 pts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3657600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3657600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−6.6 pts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3657600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3657600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−9.7 pts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9360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27648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327648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0.0 pts (flat)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327648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327648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6327648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327648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+4.7 pts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6327648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327648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6327648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327648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−3.2 pts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6327648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327648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−3.9 pts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6327648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327648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−4.3 pts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979408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8997696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OPCODES, FOUR COMBINED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8997696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0.0 pts (flat)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8997696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8997696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+36.4 pts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8997696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8997696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+18.6 pts</a:t>
            </a:r>
            <a:endParaRPr lang="en-US" sz="1600" dirty="0"/>
          </a:p>
        </p:txBody>
      </p:sp>
      <p:sp>
        <p:nvSpPr>
          <p:cNvPr id="74" name="Text 72"/>
          <p:cNvSpPr txBox="1"/>
          <p:nvPr/>
        </p:nvSpPr>
        <p:spPr>
          <a:xfrm>
            <a:off x="8997696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8997696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+15.9 pts</a:t>
            </a:r>
            <a:endParaRPr lang="en-US" sz="1600" dirty="0"/>
          </a:p>
        </p:txBody>
      </p:sp>
      <p:sp>
        <p:nvSpPr>
          <p:cNvPr id="76" name="Text 74"/>
          <p:cNvSpPr txBox="1"/>
          <p:nvPr/>
        </p:nvSpPr>
        <p:spPr>
          <a:xfrm>
            <a:off x="8997696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8997696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−8.1 pts</a:t>
            </a:r>
            <a:endParaRPr lang="en-US" sz="1600" dirty="0"/>
          </a:p>
        </p:txBody>
      </p:sp>
      <p:sp>
        <p:nvSpPr>
          <p:cNvPr id="78" name="Text 76"/>
          <p:cNvSpPr txBox="1"/>
          <p:nvPr/>
        </p:nvSpPr>
        <p:spPr>
          <a:xfrm>
            <a:off x="8997696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8997696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−9.7 pts</a:t>
            </a:r>
            <a:endParaRPr lang="en-US" sz="1600" dirty="0"/>
          </a:p>
        </p:txBody>
      </p:sp>
      <p:sp>
        <p:nvSpPr>
          <p:cNvPr id="80" name="Text 78"/>
          <p:cNvSpPr txBox="1"/>
          <p:nvPr/>
        </p:nvSpPr>
        <p:spPr>
          <a:xfrm>
            <a:off x="8997696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8997696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−11.3 pts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2026-10-29T06:41:44Z</dcterms:created>
  <dcterms:modified xsi:type="dcterms:W3CDTF">2026-10-29T06:41:44Z</dcterms:modified>
</cp:coreProperties>
</file>