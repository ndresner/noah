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12" r:id="rId163"/>
    <p:sldId id="413" r:id="rId164"/>
    <p:sldId id="414" r:id="rId165"/>
    <p:sldId id="415" r:id="rId166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Before → after, by measure:</a:t>
            </a:r>
          </a:p>
          <a:p>
            <a:r>
              <a:t>CP Gross: top LINCOLN $865K → $1.26M; SUBARU PRESCOTT $832K → $1.21M; SUBARU ST GEORGE $1.48M → $1.98M. Bottom CHEVY LV $7.40M → $7.08M; AUDI RENO $3.38M → $2.90M; VW ST GEORGE $702K → $560K.</a:t>
            </a:r>
          </a:p>
          <a:p>
            <a:r>
              <a:t>CP RO Count: top KIA LV 7,156 → 8,133; HYUNDAI PRESCOTT 1,784 → 2,010; GMC PRESCOTT 2,810 → 3,107. Bottom AUDI RENO 4,379 → 3,917; HYUNDAI ST GEORGE 3,784 → 3,349; VW ST GEORGE 2,251 → 1,919.</a:t>
            </a:r>
          </a:p>
          <a:p>
            <a:r>
              <a:t>CP Hours per RO: top HYUNDAI ST GEORGE 1.03 → 1.43; SUBARU ST GEORGE 1.75 → 2.30; KIA ST GEORGE 0.99 → 1.29. Bottom VOLVO 2.58 → 2.28; VW ST GEORGE 1.95 → 1.71; LR RENO 4.04 → 3.48.</a:t>
            </a:r>
          </a:p>
          <a:p>
            <a:r>
              <a:t>CP ELR: top HONDA SPOKANE $117.05 → $143.89; VOLVO $181.59 → $222.12; LINCOLN $139.55 → $167.64. Bottom ACURA $221.78 → $210.50; SUBARU ST GEORGE $148.84 → $138.48; KIA LV $184.36 → $149.23.</a:t>
            </a:r>
          </a:p>
          <a:p>
            <a:r>
              <a:t>CP Labor $ per RO: top HYUNDAI ST GEORGE $172 → $238; LINCOLN $306 → $416; SUBARU PRESCOTT $163 → $222. Bottom KIA LV $244 → $234; LR RENO $876 → $817; VW ST GEORGE $268 → $231.Takeaway with the store call-outs (off the slide): Most top-three finishes: Lincoln, Subaru Prescott and Subaru St George (2 of 5). Most bottom-three: VW St George (4 of 5).Source: Qlik - Closed Repair Orders. Customer pay, by close date. Same-store, 33 stores (INEOS excluded, opened 2026). GMC Prescott body shop labor types excluded. CP gross = CP labor gross + CP parts gross. Change is Jan-Sep 2026 vs Jan-Sep 2025. Ranked by percent change (points for parts GP %), so store size does not drive the ranking. CP labor $ per RO = CP labor sale / CP 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Before → after, by measure:</a:t>
            </a:r>
          </a:p>
          <a:p>
            <a:r>
              <a:t>Fixed Ops Net Profit: top SUBARU PRESCOTT −$55K → $129K; LR RENO $136K → $428K; HONDA FLAGSTAFF $26K → $79K. Bottom VW HENDERSON $1.55M → $1.09M; HYUNDAI ST GEORGE $204K → $108K; VW ST GEORGE $153K → −$59K.</a:t>
            </a:r>
          </a:p>
          <a:p>
            <a:r>
              <a:t>Fixed Absorption: top LINCOLN 43.8% → 59.9%; CADILLAC 76.5% → 86.1%; LR RENO 67.8% → 77.3%. Bottom VW HENDERSON 93.5% → 83.8%; KIA ST GEORGE 75.9% → 65.8%; VW ST GEORGE 71.5% → 54.1%.</a:t>
            </a:r>
          </a:p>
          <a:p>
            <a:r>
              <a:t>CP Parts GP %: top ACURA 38.7% → 44.9%; NISSAN 38.2% → 42.7%; SUBARU PRESCOTT 31.0% → 34.8%. Bottom HYUNDAI PRESCOTT 39.9% → 39.4%; TOYOTA SPOKANE 45.3% → 44.5%; AUDI HENDERSON 35.8% → 33.6%.</a:t>
            </a:r>
          </a:p>
          <a:p>
            <a:r>
              <a:t>Opcodes, Four Combined: top LR LV 30.2% → 60.5%; SUBARU PRESCOTT 19.5% → 47.9%; MAZDA 22.5% → 43.5%. Bottom TOYOTA HENDERSON 42.5% → 41.8%; SUBARU LV 44.9% → 42.0%; KIA LV 30.0% → 26.4%.Takeaway with the store call-outs (off the slide): Most top-three finishes: Lincoln, Subaru Prescott and Subaru St George (2 of 4). Most bottom-three: VW Henderson and VW St George (2 of 4).Source: Fixed ops net profit: Qlik - Profit &amp; Loss, service + parts department profit (% change = $ change / |2025 profit|). Fixed absorption: P&amp;L, fixed ops gross / total store fixed expenses, GMC Prescott body shop in, as on the P&amp;L. CP parts GP %: Qlik - Closed Repair Orders. Opcodes: alignment + balance + brake fluid + fuel services / customer-pay ROs on the op-code report basis. Same-store, 33 stores. Points for absorption, parts GP % and opcodes.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Before → after, by measure:</a:t>
            </a:r>
          </a:p>
          <a:p>
            <a:r>
              <a:t>CP Gross per Month: top MAZDA $155K → $209K; KIA ST GEORGE $85K → $112K; CDJR POST FALLS $218K → $279K. Bottom SUBARU ST GEORGE $220K → $218K; HONDA HENDERSON $841K → $823K; CADILLAC $317K → $283K.</a:t>
            </a:r>
          </a:p>
          <a:p>
            <a:r>
              <a:t>CP ROs per Month: top LEXUS 425 → 570; CDJR POST FALLS 543 → 667; LR LV 350 → 415. Bottom VW ST GEORGE 207 → 203; HYUNDAI ST GEORGE 377 → 365; CADILLAC 609 → 582.</a:t>
            </a:r>
          </a:p>
          <a:p>
            <a:r>
              <a:t>CP Hours per RO: top MAZDA 1.35 → 1.65; HYUNDAI PRESCOTT 1.56 → 1.76; HYUNDAI ST GEORGE 1.37 → 1.54. Bottom HONDA HENDERSON 2.06 → 1.86; VW HENDERSON 2.66 → 2.37; CADILLAC 2.85 → 2.45.</a:t>
            </a:r>
          </a:p>
          <a:p>
            <a:r>
              <a:t>CP ELR: top VW ST GEORGE $128.27 → $141.89; AUDI RENO $227.34 → $244.12; HONDA SPOKANE $139.40 → $147.93. Bottom SUBARU ST GEORGE $141.07 → $136.71; LEXUS $196.84 → $187.42; ACURA $232.02 → $199.04.</a:t>
            </a:r>
          </a:p>
          <a:p>
            <a:r>
              <a:t>CP Parts GP %: top ACURA 39.4% → 46.6%; VW ST GEORGE 39.1% → 43.8%; GMC PRESCOTT 35.3% → 39.2%. Bottom CHEVY LV 38.2% → 35.0%; LINCOLN 39.9% → 36.0%; HONDA HENDERSON 44.3% → 40.0%.Takeaway with the store call-outs (off the slide): Most top-three finishes: Mazda, CDJR Post Falls and VW St George (2 of 5). Most bottom-three: Honda Henderson and Cadillac (3 of 5).Source: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 with the store call-outs (off the slide): Last year: SUBARU PRESCOTT leads. Moving now: Three stores tie. One store is on both lists (green bar).Source: Qlik - Closed Repair Orders. Customer pay, by close date. Same-store, 33 stores (INEOS excluded, opened 2026). GMC Prescott body shop labor types excluded. CP gross = CP labor gross + CP parts gross. Left: Jan-Sep 2026 vs Jan-Sep 2025. Right: Q3 2026 vs Q1 2026. Top-5 finishes counted across five measures (parts $ per RO dropped, Oct 23); top six stores shown in each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Biggest Movers vs Last Year: Customer Pay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80160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and bottom three stores on each measure, Jan–Sep 2026 vs Jan–Sep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2331720"/>
            <a:ext cx="45720" cy="159105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331720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" y="2331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86207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3924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" y="33924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4078224"/>
            <a:ext cx="45720" cy="159105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0782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40782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4608576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138928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" y="513892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44952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Shape 18"/>
          <p:cNvSpPr/>
          <p:nvPr/>
        </p:nvSpPr>
        <p:spPr>
          <a:xfrm>
            <a:off x="5180990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7029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9453067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Shape 21"/>
          <p:cNvSpPr/>
          <p:nvPr/>
        </p:nvSpPr>
        <p:spPr>
          <a:xfrm>
            <a:off x="969264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87552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+6.5%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+46.1%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+45.4%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+33.8%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−4.4%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87552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87552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−14.1%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87552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87552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−20.1%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105302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123590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123590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+0.2%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123590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123590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+13.7%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3123590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123590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+12.7%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3123590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123590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+10.6%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3123590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3123590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−10.6%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3123590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3123590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−11.5%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3123590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3123590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−14.7%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241341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259629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259629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+3.6%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259629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5259629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+39.2%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5259629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259629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+31.3%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5259629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259629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+30.8%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5259629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5259629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−11.7%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5259629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5259629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−12.5%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5259629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5259629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−13.7%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377379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395667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7395667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+2.2%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7395667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7395667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+22.9%</a:t>
            </a:r>
            <a:endParaRPr lang="en-US" sz="1600" dirty="0"/>
          </a:p>
        </p:txBody>
      </p:sp>
      <p:sp>
        <p:nvSpPr>
          <p:cNvPr id="73" name="Text 71"/>
          <p:cNvSpPr txBox="1"/>
          <p:nvPr/>
        </p:nvSpPr>
        <p:spPr>
          <a:xfrm>
            <a:off x="7395667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7395667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+22.3%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7395667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7395667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+20.1%</a:t>
            </a:r>
            <a:endParaRPr lang="en-US" sz="1600" dirty="0"/>
          </a:p>
        </p:txBody>
      </p:sp>
      <p:sp>
        <p:nvSpPr>
          <p:cNvPr id="77" name="Text 75"/>
          <p:cNvSpPr txBox="1"/>
          <p:nvPr/>
        </p:nvSpPr>
        <p:spPr>
          <a:xfrm>
            <a:off x="7395667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7395667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−5.1%</a:t>
            </a:r>
            <a:endParaRPr lang="en-US" sz="1600" dirty="0"/>
          </a:p>
        </p:txBody>
      </p:sp>
      <p:sp>
        <p:nvSpPr>
          <p:cNvPr id="79" name="Text 77"/>
          <p:cNvSpPr txBox="1"/>
          <p:nvPr/>
        </p:nvSpPr>
        <p:spPr>
          <a:xfrm>
            <a:off x="7395667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7395667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−7.0%</a:t>
            </a:r>
            <a:endParaRPr lang="en-US" sz="1600" dirty="0"/>
          </a:p>
        </p:txBody>
      </p:sp>
      <p:sp>
        <p:nvSpPr>
          <p:cNvPr id="81" name="Text 79"/>
          <p:cNvSpPr txBox="1"/>
          <p:nvPr/>
        </p:nvSpPr>
        <p:spPr>
          <a:xfrm>
            <a:off x="7395667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7395667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−19.1%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9513418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531706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9531706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+5.9%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9531706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9531706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+38.4%</a:t>
            </a:r>
            <a:endParaRPr lang="en-US" sz="1600" dirty="0"/>
          </a:p>
        </p:txBody>
      </p:sp>
      <p:sp>
        <p:nvSpPr>
          <p:cNvPr id="88" name="Text 86"/>
          <p:cNvSpPr txBox="1"/>
          <p:nvPr/>
        </p:nvSpPr>
        <p:spPr>
          <a:xfrm>
            <a:off x="9531706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9531706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+36.2%</a:t>
            </a:r>
            <a:endParaRPr lang="en-US" sz="1600" dirty="0"/>
          </a:p>
        </p:txBody>
      </p:sp>
      <p:sp>
        <p:nvSpPr>
          <p:cNvPr id="90" name="Text 88"/>
          <p:cNvSpPr txBox="1"/>
          <p:nvPr/>
        </p:nvSpPr>
        <p:spPr>
          <a:xfrm>
            <a:off x="9531706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9531706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+36.1%</a:t>
            </a:r>
            <a:endParaRPr lang="en-US" sz="1600" dirty="0"/>
          </a:p>
        </p:txBody>
      </p:sp>
      <p:sp>
        <p:nvSpPr>
          <p:cNvPr id="92" name="Text 90"/>
          <p:cNvSpPr txBox="1"/>
          <p:nvPr/>
        </p:nvSpPr>
        <p:spPr>
          <a:xfrm>
            <a:off x="9531706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93" name="Text 91"/>
          <p:cNvSpPr txBox="1"/>
          <p:nvPr/>
        </p:nvSpPr>
        <p:spPr>
          <a:xfrm>
            <a:off x="9531706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−3.9%</a:t>
            </a:r>
            <a:endParaRPr lang="en-US" sz="1600" dirty="0"/>
          </a:p>
        </p:txBody>
      </p:sp>
      <p:sp>
        <p:nvSpPr>
          <p:cNvPr id="94" name="Text 92"/>
          <p:cNvSpPr txBox="1"/>
          <p:nvPr/>
        </p:nvSpPr>
        <p:spPr>
          <a:xfrm>
            <a:off x="9531706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9531706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−6.8%</a:t>
            </a:r>
            <a:endParaRPr lang="en-US" sz="1600" dirty="0"/>
          </a:p>
        </p:txBody>
      </p:sp>
      <p:sp>
        <p:nvSpPr>
          <p:cNvPr id="96" name="Text 94"/>
          <p:cNvSpPr txBox="1"/>
          <p:nvPr/>
        </p:nvSpPr>
        <p:spPr>
          <a:xfrm>
            <a:off x="9531706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9531706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−13.8%</a:t>
            </a:r>
            <a:endParaRPr lang="en-US" sz="16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Biggest Movers vs Last Year: Profit and Process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80160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and bottom three stores on each measure, Jan–Sep 2026 vs Jan–Sep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2331720"/>
            <a:ext cx="45720" cy="159105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331720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" y="2331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86207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3924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" y="33924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4078224"/>
            <a:ext cx="45720" cy="159105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0782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40782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4608576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138928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" y="513892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78962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49010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Shape 19"/>
          <p:cNvSpPr/>
          <p:nvPr/>
        </p:nvSpPr>
        <p:spPr>
          <a:xfrm>
            <a:off x="8919058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" y="1691640"/>
            <a:ext cx="256032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7552" y="177393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" y="1993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+11.3%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23774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2596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+335.3%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29077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+215.4%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+200.6%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4123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−29.6%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" y="4654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87552" y="4873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−47.1%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87552" y="51846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87552" y="54041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−138.2%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39312" y="1691640"/>
            <a:ext cx="256032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657600" y="177393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ABSORPTION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3657600" y="1993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+2.1 pts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657600" y="23774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657600" y="2596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+16.1 pts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3657600" y="29077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3657600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+9.6 pts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3657600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657600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+9.5 pts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3657600" y="4123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3657600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−9.7 pts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3657600" y="4654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3657600" y="4873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−10.1 pts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3657600" y="51846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3657600" y="54041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−17.4 pts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09360" y="1691640"/>
            <a:ext cx="256032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327648" y="177393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327648" y="1993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+1.3 pts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327648" y="23774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327648" y="2596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+6.2 pts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6327648" y="29077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327648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+4.5 pts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6327648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327648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+3.8 pts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6327648" y="4123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327648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−0.5 pts</a:t>
            </a:r>
            <a:endParaRPr lang="en-US" sz="1600" dirty="0"/>
          </a:p>
        </p:txBody>
      </p:sp>
      <p:sp>
        <p:nvSpPr>
          <p:cNvPr id="63" name="Text 61"/>
          <p:cNvSpPr txBox="1"/>
          <p:nvPr/>
        </p:nvSpPr>
        <p:spPr>
          <a:xfrm>
            <a:off x="6327648" y="4654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6327648" y="4873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−0.8 pts</a:t>
            </a:r>
            <a:endParaRPr lang="en-US" sz="1600" dirty="0"/>
          </a:p>
        </p:txBody>
      </p:sp>
      <p:sp>
        <p:nvSpPr>
          <p:cNvPr id="65" name="Text 63"/>
          <p:cNvSpPr txBox="1"/>
          <p:nvPr/>
        </p:nvSpPr>
        <p:spPr>
          <a:xfrm>
            <a:off x="6327648" y="51846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327648" y="54041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−2.2 pts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979408" y="1691640"/>
            <a:ext cx="256032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8997696" y="177393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OPCODES, FOUR COMBINED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8997696" y="19933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+5.4 pts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8997696" y="23774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8997696" y="25968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+30.3 pts</a:t>
            </a:r>
            <a:endParaRPr lang="en-US" sz="1600" dirty="0"/>
          </a:p>
        </p:txBody>
      </p:sp>
      <p:sp>
        <p:nvSpPr>
          <p:cNvPr id="72" name="Text 70"/>
          <p:cNvSpPr txBox="1"/>
          <p:nvPr/>
        </p:nvSpPr>
        <p:spPr>
          <a:xfrm>
            <a:off x="8997696" y="29077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8997696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+28.4 pts</a:t>
            </a:r>
            <a:endParaRPr lang="en-US" sz="1600" dirty="0"/>
          </a:p>
        </p:txBody>
      </p:sp>
      <p:sp>
        <p:nvSpPr>
          <p:cNvPr id="74" name="Text 72"/>
          <p:cNvSpPr txBox="1"/>
          <p:nvPr/>
        </p:nvSpPr>
        <p:spPr>
          <a:xfrm>
            <a:off x="8997696" y="34381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8997696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+21.0 pts</a:t>
            </a:r>
            <a:endParaRPr lang="en-US" sz="1600" dirty="0"/>
          </a:p>
        </p:txBody>
      </p:sp>
      <p:sp>
        <p:nvSpPr>
          <p:cNvPr id="76" name="Text 74"/>
          <p:cNvSpPr txBox="1"/>
          <p:nvPr/>
        </p:nvSpPr>
        <p:spPr>
          <a:xfrm>
            <a:off x="8997696" y="4123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8997696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−0.7 pts</a:t>
            </a:r>
            <a:endParaRPr lang="en-US" sz="1600" dirty="0"/>
          </a:p>
        </p:txBody>
      </p:sp>
      <p:sp>
        <p:nvSpPr>
          <p:cNvPr id="78" name="Text 76"/>
          <p:cNvSpPr txBox="1"/>
          <p:nvPr/>
        </p:nvSpPr>
        <p:spPr>
          <a:xfrm>
            <a:off x="8997696" y="46542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8997696" y="4873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−2.9 pts</a:t>
            </a:r>
            <a:endParaRPr lang="en-US" sz="1600" dirty="0"/>
          </a:p>
        </p:txBody>
      </p:sp>
      <p:sp>
        <p:nvSpPr>
          <p:cNvPr id="80" name="Text 78"/>
          <p:cNvSpPr txBox="1"/>
          <p:nvPr/>
        </p:nvSpPr>
        <p:spPr>
          <a:xfrm>
            <a:off x="8997696" y="518464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8997696" y="54041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−3.6 pts</a:t>
            </a:r>
            <a:endParaRPr lang="en-US" sz="16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Biggest Movers This Year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80160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and bottom three stores on each measure, Q3 2026 vs Q1 2026 (gross and ROs per month). Group change = the season.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2331720"/>
            <a:ext cx="45720" cy="159105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331720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" y="2331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86207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3924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" y="33924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4078224"/>
            <a:ext cx="45720" cy="159105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0782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40782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4608576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138928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" y="513892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44952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Shape 18"/>
          <p:cNvSpPr/>
          <p:nvPr/>
        </p:nvSpPr>
        <p:spPr>
          <a:xfrm>
            <a:off x="5180990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7029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9453067" y="1691640"/>
            <a:ext cx="10973" cy="3977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Shape 21"/>
          <p:cNvSpPr/>
          <p:nvPr/>
        </p:nvSpPr>
        <p:spPr>
          <a:xfrm>
            <a:off x="969264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87552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+8.4%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+34.6%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+31.3%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+27.8%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−1.0%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87552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87552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−2.1%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87552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87552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−10.7%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105302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123590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123590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+7.5%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123590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123590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+34.0%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3123590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123590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+22.8%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3123590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123590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+18.7%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3123590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3123590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−2.1%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3123590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3123590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−3.1%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3123590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3123590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−4.4%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241341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259629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259629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−1.9%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259629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5259629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+22.2%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5259629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259629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+13.2%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5259629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259629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+12.2%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5259629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5259629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−10.0%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5259629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5259629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−10.7%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5259629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5259629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−14.1%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377379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395667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7395667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+1.1%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7395667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7395667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+10.6%</a:t>
            </a:r>
            <a:endParaRPr lang="en-US" sz="1600" dirty="0"/>
          </a:p>
        </p:txBody>
      </p:sp>
      <p:sp>
        <p:nvSpPr>
          <p:cNvPr id="73" name="Text 71"/>
          <p:cNvSpPr txBox="1"/>
          <p:nvPr/>
        </p:nvSpPr>
        <p:spPr>
          <a:xfrm>
            <a:off x="7395667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7395667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+7.4%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7395667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7395667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+6.1%</a:t>
            </a:r>
            <a:endParaRPr lang="en-US" sz="1600" dirty="0"/>
          </a:p>
        </p:txBody>
      </p:sp>
      <p:sp>
        <p:nvSpPr>
          <p:cNvPr id="77" name="Text 75"/>
          <p:cNvSpPr txBox="1"/>
          <p:nvPr/>
        </p:nvSpPr>
        <p:spPr>
          <a:xfrm>
            <a:off x="7395667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7395667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−3.1%</a:t>
            </a:r>
            <a:endParaRPr lang="en-US" sz="1600" dirty="0"/>
          </a:p>
        </p:txBody>
      </p:sp>
      <p:sp>
        <p:nvSpPr>
          <p:cNvPr id="79" name="Text 77"/>
          <p:cNvSpPr txBox="1"/>
          <p:nvPr/>
        </p:nvSpPr>
        <p:spPr>
          <a:xfrm>
            <a:off x="7395667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7395667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−4.8%</a:t>
            </a:r>
            <a:endParaRPr lang="en-US" sz="1600" dirty="0"/>
          </a:p>
        </p:txBody>
      </p:sp>
      <p:sp>
        <p:nvSpPr>
          <p:cNvPr id="81" name="Text 79"/>
          <p:cNvSpPr txBox="1"/>
          <p:nvPr/>
        </p:nvSpPr>
        <p:spPr>
          <a:xfrm>
            <a:off x="7395667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7395667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−14.2%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9513418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531706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9531706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0.0 pts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9531706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9531706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+7.2 pts</a:t>
            </a:r>
            <a:endParaRPr lang="en-US" sz="1600" dirty="0"/>
          </a:p>
        </p:txBody>
      </p:sp>
      <p:sp>
        <p:nvSpPr>
          <p:cNvPr id="88" name="Text 86"/>
          <p:cNvSpPr txBox="1"/>
          <p:nvPr/>
        </p:nvSpPr>
        <p:spPr>
          <a:xfrm>
            <a:off x="9531706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9531706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+4.7 pts</a:t>
            </a:r>
            <a:endParaRPr lang="en-US" sz="1600" dirty="0"/>
          </a:p>
        </p:txBody>
      </p:sp>
      <p:sp>
        <p:nvSpPr>
          <p:cNvPr id="90" name="Text 88"/>
          <p:cNvSpPr txBox="1"/>
          <p:nvPr/>
        </p:nvSpPr>
        <p:spPr>
          <a:xfrm>
            <a:off x="9531706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9531706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600" dirty="0"/>
          </a:p>
        </p:txBody>
      </p:sp>
      <p:sp>
        <p:nvSpPr>
          <p:cNvPr id="92" name="Text 90"/>
          <p:cNvSpPr txBox="1"/>
          <p:nvPr/>
        </p:nvSpPr>
        <p:spPr>
          <a:xfrm>
            <a:off x="9531706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93" name="Text 91"/>
          <p:cNvSpPr txBox="1"/>
          <p:nvPr/>
        </p:nvSpPr>
        <p:spPr>
          <a:xfrm>
            <a:off x="9531706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−3.2 pts</a:t>
            </a:r>
            <a:endParaRPr lang="en-US" sz="1600" dirty="0"/>
          </a:p>
        </p:txBody>
      </p:sp>
      <p:sp>
        <p:nvSpPr>
          <p:cNvPr id="94" name="Text 92"/>
          <p:cNvSpPr txBox="1"/>
          <p:nvPr/>
        </p:nvSpPr>
        <p:spPr>
          <a:xfrm>
            <a:off x="9531706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9531706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−3.9 pts</a:t>
            </a:r>
            <a:endParaRPr lang="en-US" sz="1600" dirty="0"/>
          </a:p>
        </p:txBody>
      </p:sp>
      <p:sp>
        <p:nvSpPr>
          <p:cNvPr id="96" name="Text 94"/>
          <p:cNvSpPr txBox="1"/>
          <p:nvPr/>
        </p:nvSpPr>
        <p:spPr>
          <a:xfrm>
            <a:off x="9531706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9531706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−4.3 pts</a:t>
            </a:r>
            <a:endParaRPr lang="en-US" sz="16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Ways to Read Improvement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559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4416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last year · Jan–Sep 2026 vs Jan–Sep 2025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1023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92224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finishes, of five measures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2176272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4780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hours/RO, ELR, parts GP%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2351837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30952" y="217627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063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ELR, parts GP%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2937053"/>
            <a:ext cx="72009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30952" y="2761488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" y="3346704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6484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CP ROs, hours/RO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3522269"/>
            <a:ext cx="72009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30952" y="3346704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2336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4107485"/>
            <a:ext cx="48006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30952" y="393192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788152" y="3968496"/>
            <a:ext cx="64008" cy="51206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" y="4517136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562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8188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ROs, hours/RO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43400" y="4692701"/>
            <a:ext cx="48006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330952" y="4517136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54041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ROs, parts GP%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343400" y="5277917"/>
            <a:ext cx="48006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330952" y="510235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172200" y="1207008"/>
            <a:ext cx="5559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0" y="134416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now · Q3 vs Q1, this year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400800" y="1691640"/>
            <a:ext cx="51023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00800" y="1792224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finishes, of five measures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36792" y="2176272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465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446520" y="24780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CP ROs, hours/RO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058400" y="2351837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1045952" y="217627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644652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446520" y="3063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hours/RO, ELR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0058400" y="2937053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1045952" y="2761488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1503152" y="2798064"/>
            <a:ext cx="64008" cy="51206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1" name="Shape 49"/>
          <p:cNvSpPr/>
          <p:nvPr/>
        </p:nvSpPr>
        <p:spPr>
          <a:xfrm>
            <a:off x="6336792" y="3346704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446520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446520" y="36484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ELR, parts GP%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0058400" y="3522269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1045952" y="3346704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56" name="Text 54"/>
          <p:cNvSpPr txBox="1"/>
          <p:nvPr/>
        </p:nvSpPr>
        <p:spPr>
          <a:xfrm>
            <a:off x="64465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446520" y="42336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CP ROs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10058400" y="4107485"/>
            <a:ext cx="6400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1045952" y="393192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6336792" y="4517136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446520" y="4562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6446520" y="48188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10058400" y="4692701"/>
            <a:ext cx="6400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1045952" y="4517136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65" name="Text 63"/>
          <p:cNvSpPr txBox="1"/>
          <p:nvPr/>
        </p:nvSpPr>
        <p:spPr>
          <a:xfrm>
            <a:off x="6446520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446520" y="54041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ELR, parts GP%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10058400" y="5277917"/>
            <a:ext cx="6400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11045952" y="510235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now: Three stores tie. One store is on both lists (green bar). Also tied at 2 last year: Nissan.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2026-10-28T18:18:10Z</dcterms:created>
  <dcterms:modified xsi:type="dcterms:W3CDTF">2026-10-28T18:18:10Z</dcterms:modified>
</cp:coreProperties>
</file>