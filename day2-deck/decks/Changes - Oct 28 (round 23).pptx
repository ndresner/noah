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30.xml" ContentType="application/vnd.openxmlformats-officedocument.presentationml.notesSlide+xml"/>
  <Override PartName="/ppt/notesSlides/notesSlide160.xml" ContentType="application/vnd.openxmlformats-officedocument.presentationml.notesSlide+xml"/>
  <Override PartName="/ppt/notesSlides/notesSlide20.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27.xml" ContentType="application/vnd.openxmlformats-officedocument.presentationml.slide+xml"/>
  <Override PartName="/ppt/slides/slide159.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5" r:id="rId26"/>
    <p:sldId id="305" r:id="rId56"/>
    <p:sldId id="306" r:id="rId57"/>
    <p:sldId id="385" r:id="rId136"/>
    <p:sldId id="415" r:id="rId166"/>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6" Type="http://schemas.openxmlformats.org/officeDocument/2006/relationships/slide" Target="slides/slide12.xml"/><Relationship Id="rId56" Type="http://schemas.openxmlformats.org/officeDocument/2006/relationships/slide" Target="slides/slide44.xml"/><Relationship Id="rId57" Type="http://schemas.openxmlformats.org/officeDocument/2006/relationships/slide" Target="slides/slide45.xml"/><Relationship Id="rId136" Type="http://schemas.openxmlformats.org/officeDocument/2006/relationships/slide" Target="slides/slide127.xml"/><Relationship Id="rId166" Type="http://schemas.openxmlformats.org/officeDocument/2006/relationships/slide" Target="slides/slide1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Gross section, after the section break and before Total Gross Profit - Fixed Ops.</a:t>
            </a:r>
          </a:p>
          <a:p>
            <a:r>
              <a:t>Said: Roundtable slide 9 ('Service Department?'); Jan GM slide 58 (Sales and Service Relationship).</a:t>
            </a:r>
          </a:p>
          <a:p>
            <a:r>
              <a:t>For the GMs who come from sales (Noah, Oct 25): service and parts keep far more of every gross dollar than vehicle sales does. Jan-Sep 2026, after each department's own expenses, fixed ops kept 27 cents of every gross dollar; new, used and F&amp;I together kept 7 cents (before doc fees, packs and factory money, which the P&amp;L books outside the departments). People cost 45 cents of every fixed ops gross dollar and 62 cents of every vehicle sales gross dollar. That is why paying yourself first, on internal work, matters: see Pay Yourself First at the start of the Internal section.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Flai voice AI dashboard, Service view, standings export, Jul 26 - Oct 26, 2026 (93 days). Flai's location names (26 with calls). Pickup rate and resolution as Flai reports them. Flai's estimated savings, revenue and profit are not used. Handled by the AI alone = calls - transfers (the export has no separate column for it). Not picked up = transfers x (1 - pickup rate), from Flai's group figures. Value: half of the missed transfers x $384.67 average gross per customer-pay or warranty RO (CP labor + parts gross $95.7M, Qlik Closed ROs, plus warranty gross $47.1M, P&amp;L, over 371,180 CP &amp; W ROs, Jan-Sep 2026, same-store) = $2,636,879.</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Chevy GMC Bullhead picks up 77.1% of transfers; Kia St George picks up 21.9%. Nissan and Prescott Hyundai hold 272 of the group's 484 open callbacks.Source: Flai voice AI dashboard, Service view, standings export, Jul 26 - Oct 26, 2026 (93 days). Flai's location names (26 with calls). Pickup rate and resolution as Flai reports them. Flai's estimated savings, revenue and profit are not used. Green bar: the store is in more than one top list; red bar: in more than one bottom 5. Ranked among the 23 locations with 300+ calls (Subaru St George, Land Rover Henderson, Jaguar Land Rover Las Vegas have fewer). Honda Spokane shows no calls in the period.Talk track: the voice AI answers every call, books what it can and hands the rest to the store. What happens next is ours: someone has to pick up the transfer, and every callback has to be closed. A store that doesn't pick up is sending a customer it already has to voicemail.</a:t>
            </a:r>
          </a:p>
          <a:p/>
          <a:p>
            <a:r>
              <a:t>Definitions to confirm against Flai: pickup rate is read as the share of transferred calls a person picked up; resolution as the share of callback requests closed. Resolve time in the export runs to weeks at some locations and is not shown.</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Productivity section, after the section break and before Fixed Gross per Fixed Employee.</a:t>
            </a:r>
          </a:p>
          <a:p>
            <a:r>
              <a:t>Said: Roundtable slide 6 (People); Jan GM slide 57 (Technician Pipeline).</a:t>
            </a:r>
          </a:p>
          <a:p>
            <a:r>
              <a:t>Bay tile (Oct 26): counted technicians (proficiency basis, Dec 25 2025 - Oct 9 2026, 9.49 months) flagged 841,721 sold hours, 583 techs = 152 sold hours per tech a month; labor gross $132.13 + parts gross $55.85 = $187.98 per sold hour, all pay types (Qlik Closed ROs) = $28,584 a month per tech. One tech per bay assumed (1:1 tech to stall). The -2.3% CP &amp; W RO tile was dropped for it.</a:t>
            </a:r>
          </a:p>
          <a:p>
            <a:r>
              <a:t>Numbers rebuilt 2026-10-20 on ADP headcount (Employee Master extract 10/19/2026); the Qlik headcount history undercounted 2025.</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 Each row is the top Q1-to-Q3 mover on that measure, the four opcodes included. Opcode closing % = ROs with the service ÷ customer-pay ROs on the op-code report basis.</a:t>
            </a:r>
          </a:p>
          <a:p/>
          <a:p>
            <a:r>
              <a:t>MAZDA's August opcode increase was confirmed with the store as a real change (Noah, Oct 19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Is Sales 2.0</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Sell hours, build value, sell peace of mind</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Drive visits: don't say no to dollars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Generate throughput: max out hours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Drive retention and sell cars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Sales sells the first car. Service sells the next six.</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Every car, every time: follow the processes you have in place, consistently</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Processes only work when they are actively managed</a:t>
            </a:r>
            <a:endParaRPr lang="en-US" sz="1600" dirty="0"/>
          </a:p>
        </p:txBody>
      </p:sp>
      <p:sp>
        <p:nvSpPr>
          <p:cNvPr id="10" name="Shape 8"/>
          <p:cNvSpPr/>
          <p:nvPr/>
        </p:nvSpPr>
        <p:spPr>
          <a:xfrm>
            <a:off x="7269480" y="1920240"/>
            <a:ext cx="54864" cy="111252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+$6,297,386</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Service gross, up 5.2%, ahead of 2025 in all nine months.</a:t>
            </a:r>
            <a:endParaRPr lang="en-US" sz="1400" dirty="0"/>
          </a:p>
        </p:txBody>
      </p:sp>
      <p:sp>
        <p:nvSpPr>
          <p:cNvPr id="13" name="Shape 11"/>
          <p:cNvSpPr/>
          <p:nvPr/>
        </p:nvSpPr>
        <p:spPr>
          <a:xfrm>
            <a:off x="7269480" y="3261360"/>
            <a:ext cx="54864" cy="1112520"/>
          </a:xfrm>
          <a:prstGeom prst="rect">
            <a:avLst/>
          </a:prstGeom>
          <a:solidFill>
            <a:srgbClr val="12A566"/>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+$1,171,181</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Parts gross, up 1.9%, ahead of 2025 in six of nine months.</a:t>
            </a:r>
            <a:endParaRPr lang="en-US" sz="1400" dirty="0"/>
          </a:p>
        </p:txBody>
      </p:sp>
      <p:sp>
        <p:nvSpPr>
          <p:cNvPr id="16" name="Shape 14"/>
          <p:cNvSpPr/>
          <p:nvPr/>
        </p:nvSpPr>
        <p:spPr>
          <a:xfrm>
            <a:off x="7269480" y="4602480"/>
            <a:ext cx="54864" cy="1112520"/>
          </a:xfrm>
          <a:prstGeom prst="rect">
            <a:avLst/>
          </a:prstGeom>
          <a:solidFill>
            <a:srgbClr val="12A566"/>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+$829,841</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More fixed ops gross than 2025, on average, every month January through September.</a:t>
            </a:r>
            <a:endParaRPr lang="en-US" sz="1400" dirty="0"/>
          </a:p>
        </p:txBody>
      </p:sp>
      <p:sp>
        <p:nvSpPr>
          <p:cNvPr id="19" name="Shape 17"/>
          <p:cNvSpPr/>
          <p:nvPr/>
        </p:nvSpPr>
        <p:spPr>
          <a:xfrm>
            <a:off x="457200" y="6126480"/>
            <a:ext cx="11274552" cy="348996"/>
          </a:xfrm>
          <a:prstGeom prst="rect">
            <a:avLst/>
          </a:prstGeom>
          <a:solidFill>
            <a:srgbClr val="EDF4FA"/>
          </a:solidFill>
          <a:ln/>
        </p:spPr>
      </p:sp>
      <p:sp>
        <p:nvSpPr>
          <p:cNvPr id="20" name="Text 18"/>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0B2C4A"/>
                </a:solidFill>
                <a:latin typeface="Inter" pitchFamily="34" charset="0"/>
                <a:ea typeface="Inter" pitchFamily="34" charset="-122"/>
                <a:cs typeface="Inter" pitchFamily="34" charset="-120"/>
              </a:rPr>
              <a:t>The ask: run service like a sales department: every visit is a chance to sell the next hour and the next car.</a:t>
            </a:r>
            <a:endParaRPr lang="en-US" sz="145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VOICE AI · FLAI · LAST 90 DAYS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Voice AI: Every Call Is a Customer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713232" y="1481328"/>
            <a:ext cx="2539746" cy="3017520"/>
          </a:xfrm>
          <a:prstGeom prst="rect">
            <a:avLst/>
          </a:prstGeom>
          <a:solidFill>
            <a:srgbClr val="F7F7F7"/>
          </a:solidFill>
          <a:ln/>
        </p:spPr>
      </p:sp>
      <p:sp>
        <p:nvSpPr>
          <p:cNvPr id="7" name="Shape 5"/>
          <p:cNvSpPr/>
          <p:nvPr/>
        </p:nvSpPr>
        <p:spPr>
          <a:xfrm>
            <a:off x="713232" y="1481328"/>
            <a:ext cx="2539746" cy="64008"/>
          </a:xfrm>
          <a:prstGeom prst="rect">
            <a:avLst/>
          </a:prstGeom>
          <a:solidFill>
            <a:srgbClr val="2587C5"/>
          </a:solidFill>
          <a:ln/>
        </p:spPr>
      </p:sp>
      <p:sp>
        <p:nvSpPr>
          <p:cNvPr id="8" name="Text 6"/>
          <p:cNvSpPr txBox="1"/>
          <p:nvPr/>
        </p:nvSpPr>
        <p:spPr>
          <a:xfrm>
            <a:off x="896112"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CALLS HANDLED</a:t>
            </a:r>
            <a:endParaRPr lang="en-US" sz="1400" dirty="0"/>
          </a:p>
        </p:txBody>
      </p:sp>
      <p:sp>
        <p:nvSpPr>
          <p:cNvPr id="9" name="Text 7"/>
          <p:cNvSpPr txBox="1"/>
          <p:nvPr/>
        </p:nvSpPr>
        <p:spPr>
          <a:xfrm>
            <a:off x="896112"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2C4A"/>
                </a:solidFill>
                <a:latin typeface="Inter" pitchFamily="34" charset="0"/>
                <a:ea typeface="Inter" pitchFamily="34" charset="-122"/>
                <a:cs typeface="Inter" pitchFamily="34" charset="-120"/>
              </a:rPr>
              <a:t>48,964</a:t>
            </a:r>
            <a:endParaRPr lang="en-US" sz="3600" dirty="0"/>
          </a:p>
        </p:txBody>
      </p:sp>
      <p:sp>
        <p:nvSpPr>
          <p:cNvPr id="10" name="Text 8"/>
          <p:cNvSpPr txBox="1"/>
          <p:nvPr/>
        </p:nvSpPr>
        <p:spPr>
          <a:xfrm>
            <a:off x="896112"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About 526 a day across 26 locations.</a:t>
            </a:r>
            <a:endParaRPr lang="en-US" sz="1400" dirty="0"/>
          </a:p>
        </p:txBody>
      </p:sp>
      <p:sp>
        <p:nvSpPr>
          <p:cNvPr id="11" name="Shape 9"/>
          <p:cNvSpPr/>
          <p:nvPr/>
        </p:nvSpPr>
        <p:spPr>
          <a:xfrm>
            <a:off x="3454146" y="1481328"/>
            <a:ext cx="2539746" cy="3017520"/>
          </a:xfrm>
          <a:prstGeom prst="rect">
            <a:avLst/>
          </a:prstGeom>
          <a:solidFill>
            <a:srgbClr val="F7F7F7"/>
          </a:solidFill>
          <a:ln/>
        </p:spPr>
      </p:sp>
      <p:sp>
        <p:nvSpPr>
          <p:cNvPr id="12" name="Shape 10"/>
          <p:cNvSpPr/>
          <p:nvPr/>
        </p:nvSpPr>
        <p:spPr>
          <a:xfrm>
            <a:off x="3454146" y="1481328"/>
            <a:ext cx="2539746" cy="64008"/>
          </a:xfrm>
          <a:prstGeom prst="rect">
            <a:avLst/>
          </a:prstGeom>
          <a:solidFill>
            <a:srgbClr val="12A566"/>
          </a:solidFill>
          <a:ln/>
        </p:spPr>
      </p:sp>
      <p:sp>
        <p:nvSpPr>
          <p:cNvPr id="13" name="Text 11"/>
          <p:cNvSpPr txBox="1"/>
          <p:nvPr/>
        </p:nvSpPr>
        <p:spPr>
          <a:xfrm>
            <a:off x="3637026"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HANDLED BY THE AI ALONE</a:t>
            </a:r>
            <a:endParaRPr lang="en-US" sz="1400" dirty="0"/>
          </a:p>
        </p:txBody>
      </p:sp>
      <p:sp>
        <p:nvSpPr>
          <p:cNvPr id="14" name="Text 12"/>
          <p:cNvSpPr txBox="1"/>
          <p:nvPr/>
        </p:nvSpPr>
        <p:spPr>
          <a:xfrm>
            <a:off x="3637026"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7A4A"/>
                </a:solidFill>
                <a:latin typeface="Inter" pitchFamily="34" charset="0"/>
                <a:ea typeface="Inter" pitchFamily="34" charset="-122"/>
                <a:cs typeface="Inter" pitchFamily="34" charset="-120"/>
              </a:rPr>
              <a:t>22,749</a:t>
            </a:r>
            <a:endParaRPr lang="en-US" sz="3600" dirty="0"/>
          </a:p>
        </p:txBody>
      </p:sp>
      <p:sp>
        <p:nvSpPr>
          <p:cNvPr id="15" name="Text 13"/>
          <p:cNvSpPr txBox="1"/>
          <p:nvPr/>
        </p:nvSpPr>
        <p:spPr>
          <a:xfrm>
            <a:off x="3637026"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46.5% of calls, start to finish. The other 26,215 (53.5%) were transferred to the store.</a:t>
            </a:r>
            <a:endParaRPr lang="en-US" sz="1400" dirty="0"/>
          </a:p>
        </p:txBody>
      </p:sp>
      <p:sp>
        <p:nvSpPr>
          <p:cNvPr id="16" name="Shape 14"/>
          <p:cNvSpPr/>
          <p:nvPr/>
        </p:nvSpPr>
        <p:spPr>
          <a:xfrm>
            <a:off x="6195060" y="1481328"/>
            <a:ext cx="2539746" cy="3017520"/>
          </a:xfrm>
          <a:prstGeom prst="rect">
            <a:avLst/>
          </a:prstGeom>
          <a:solidFill>
            <a:srgbClr val="F7F7F7"/>
          </a:solidFill>
          <a:ln/>
        </p:spPr>
      </p:sp>
      <p:sp>
        <p:nvSpPr>
          <p:cNvPr id="17" name="Shape 15"/>
          <p:cNvSpPr/>
          <p:nvPr/>
        </p:nvSpPr>
        <p:spPr>
          <a:xfrm>
            <a:off x="6195060" y="1481328"/>
            <a:ext cx="2539746" cy="64008"/>
          </a:xfrm>
          <a:prstGeom prst="rect">
            <a:avLst/>
          </a:prstGeom>
          <a:solidFill>
            <a:srgbClr val="12A566"/>
          </a:solidFill>
          <a:ln/>
        </p:spPr>
      </p:sp>
      <p:sp>
        <p:nvSpPr>
          <p:cNvPr id="18" name="Text 16"/>
          <p:cNvSpPr txBox="1"/>
          <p:nvPr/>
        </p:nvSpPr>
        <p:spPr>
          <a:xfrm>
            <a:off x="6377940"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APPOINTMENTS BOOKED</a:t>
            </a:r>
            <a:endParaRPr lang="en-US" sz="1400" dirty="0"/>
          </a:p>
        </p:txBody>
      </p:sp>
      <p:sp>
        <p:nvSpPr>
          <p:cNvPr id="19" name="Text 17"/>
          <p:cNvSpPr txBox="1"/>
          <p:nvPr/>
        </p:nvSpPr>
        <p:spPr>
          <a:xfrm>
            <a:off x="6377940"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0B7A4A"/>
                </a:solidFill>
                <a:latin typeface="Inter" pitchFamily="34" charset="0"/>
                <a:ea typeface="Inter" pitchFamily="34" charset="-122"/>
                <a:cs typeface="Inter" pitchFamily="34" charset="-120"/>
              </a:rPr>
              <a:t>10,841</a:t>
            </a:r>
            <a:endParaRPr lang="en-US" sz="3600" dirty="0"/>
          </a:p>
        </p:txBody>
      </p:sp>
      <p:sp>
        <p:nvSpPr>
          <p:cNvPr id="20" name="Text 18"/>
          <p:cNvSpPr txBox="1"/>
          <p:nvPr/>
        </p:nvSpPr>
        <p:spPr>
          <a:xfrm>
            <a:off x="6377940"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72% of the 15,051 calls that could book an appointment.</a:t>
            </a:r>
            <a:endParaRPr lang="en-US" sz="1400" dirty="0"/>
          </a:p>
        </p:txBody>
      </p:sp>
      <p:sp>
        <p:nvSpPr>
          <p:cNvPr id="21" name="Shape 19"/>
          <p:cNvSpPr/>
          <p:nvPr/>
        </p:nvSpPr>
        <p:spPr>
          <a:xfrm>
            <a:off x="8935974" y="1481328"/>
            <a:ext cx="2539746" cy="3017520"/>
          </a:xfrm>
          <a:prstGeom prst="rect">
            <a:avLst/>
          </a:prstGeom>
          <a:solidFill>
            <a:srgbClr val="F7F7F7"/>
          </a:solidFill>
          <a:ln/>
        </p:spPr>
      </p:sp>
      <p:sp>
        <p:nvSpPr>
          <p:cNvPr id="22" name="Shape 20"/>
          <p:cNvSpPr/>
          <p:nvPr/>
        </p:nvSpPr>
        <p:spPr>
          <a:xfrm>
            <a:off x="8935974" y="1481328"/>
            <a:ext cx="2539746" cy="64008"/>
          </a:xfrm>
          <a:prstGeom prst="rect">
            <a:avLst/>
          </a:prstGeom>
          <a:solidFill>
            <a:srgbClr val="C2352F"/>
          </a:solidFill>
          <a:ln/>
        </p:spPr>
      </p:sp>
      <p:sp>
        <p:nvSpPr>
          <p:cNvPr id="23" name="Text 21"/>
          <p:cNvSpPr txBox="1"/>
          <p:nvPr/>
        </p:nvSpPr>
        <p:spPr>
          <a:xfrm>
            <a:off x="9118854" y="1691640"/>
            <a:ext cx="2173986"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TRANSFERS PICKED UP</a:t>
            </a:r>
            <a:endParaRPr lang="en-US" sz="1400" dirty="0"/>
          </a:p>
        </p:txBody>
      </p:sp>
      <p:sp>
        <p:nvSpPr>
          <p:cNvPr id="24" name="Text 22"/>
          <p:cNvSpPr txBox="1"/>
          <p:nvPr/>
        </p:nvSpPr>
        <p:spPr>
          <a:xfrm>
            <a:off x="9118854" y="2286000"/>
            <a:ext cx="2173986" cy="868680"/>
          </a:xfrm>
          <a:prstGeom prst="rect">
            <a:avLst/>
          </a:prstGeom>
          <a:noFill/>
          <a:ln/>
        </p:spPr>
        <p:txBody>
          <a:bodyPr wrap="square" lIns="0" tIns="0" rIns="0" bIns="0" rtlCol="0" anchor="ctr">
            <a:normAutofit/>
          </a:bodyPr>
          <a:lstStyle/>
          <a:p>
            <a:pPr indent="0" marL="0">
              <a:buNone/>
            </a:pPr>
            <a:r>
              <a:rPr lang="en-US" sz="3600" b="1" dirty="0">
                <a:solidFill>
                  <a:srgbClr val="A82B26"/>
                </a:solidFill>
                <a:latin typeface="Inter" pitchFamily="34" charset="0"/>
                <a:ea typeface="Inter" pitchFamily="34" charset="-122"/>
                <a:cs typeface="Inter" pitchFamily="34" charset="-120"/>
              </a:rPr>
              <a:t>47.7%</a:t>
            </a:r>
            <a:endParaRPr lang="en-US" sz="3600" dirty="0"/>
          </a:p>
        </p:txBody>
      </p:sp>
      <p:sp>
        <p:nvSpPr>
          <p:cNvPr id="25" name="Text 23"/>
          <p:cNvSpPr txBox="1"/>
          <p:nvPr/>
        </p:nvSpPr>
        <p:spPr>
          <a:xfrm>
            <a:off x="9118854" y="3200400"/>
            <a:ext cx="2173986" cy="118872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About 13,710 transfers missed. If half wanted an appointment, that is $2.6M of gross profit.</a:t>
            </a:r>
            <a:endParaRPr lang="en-US" sz="1400" dirty="0"/>
          </a:p>
        </p:txBody>
      </p:sp>
      <p:sp>
        <p:nvSpPr>
          <p:cNvPr id="26" name="Text 24"/>
          <p:cNvSpPr txBox="1"/>
          <p:nvPr/>
        </p:nvSpPr>
        <p:spPr>
          <a:xfrm>
            <a:off x="713232" y="4709160"/>
            <a:ext cx="10762488" cy="914400"/>
          </a:xfrm>
          <a:prstGeom prst="rect">
            <a:avLst/>
          </a:prstGeom>
          <a:noFill/>
          <a:ln/>
        </p:spPr>
        <p:txBody>
          <a:bodyPr wrap="square" lIns="0" tIns="0" rIns="0" bIns="0" rtlCol="0" anchor="ctr"/>
          <a:lstStyle/>
          <a:p>
            <a:pPr indent="0" marL="0">
              <a:buNone/>
            </a:pPr>
            <a:r>
              <a:rPr lang="en-US" sz="1700" dirty="0">
                <a:solidFill>
                  <a:srgbClr val="1A1A1A"/>
                </a:solidFill>
                <a:latin typeface="Inter" pitchFamily="34" charset="0"/>
                <a:ea typeface="Inter" pitchFamily="34" charset="-122"/>
                <a:cs typeface="Inter" pitchFamily="34" charset="-120"/>
              </a:rPr>
              <a:t>The AI books and routes the call; the store still has to answer the transfer and close every callback in the Flai dashboard. Source: Flai service calls, last 90 days.</a:t>
            </a:r>
            <a:endParaRPr lang="en-US" sz="1700" dirty="0"/>
          </a:p>
        </p:txBody>
      </p:sp>
      <p:sp>
        <p:nvSpPr>
          <p:cNvPr id="27" name="Shape 25"/>
          <p:cNvSpPr/>
          <p:nvPr/>
        </p:nvSpPr>
        <p:spPr>
          <a:xfrm>
            <a:off x="457200" y="6126480"/>
            <a:ext cx="11274552" cy="615696"/>
          </a:xfrm>
          <a:prstGeom prst="rect">
            <a:avLst/>
          </a:prstGeom>
          <a:solidFill>
            <a:srgbClr val="FBEBEA"/>
          </a:solidFill>
          <a:ln/>
        </p:spPr>
      </p:sp>
      <p:sp>
        <p:nvSpPr>
          <p:cNvPr id="28"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The AI finishes 46.5% of calls on its own. The rest come back to the store, and fewer than half of those reach a person. Every unanswered transfer is a customer we already had.</a:t>
            </a:r>
            <a:endParaRPr lang="en-US" sz="1600"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VOICE AI · FLAI · LAST 90 DAYS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Store Voice AI Metrics</a:t>
            </a:r>
            <a:endParaRPr lang="en-US" sz="2800" dirty="0"/>
          </a:p>
        </p:txBody>
      </p:sp>
      <p:sp>
        <p:nvSpPr>
          <p:cNvPr id="5" name="Shape 3"/>
          <p:cNvSpPr/>
          <p:nvPr/>
        </p:nvSpPr>
        <p:spPr>
          <a:xfrm>
            <a:off x="457200" y="1207008"/>
            <a:ext cx="3685032" cy="5148072"/>
          </a:xfrm>
          <a:prstGeom prst="rect">
            <a:avLst/>
          </a:prstGeom>
          <a:solidFill>
            <a:srgbClr val="FFFFFF"/>
          </a:solidFill>
          <a:ln/>
        </p:spPr>
      </p:sp>
      <p:sp>
        <p:nvSpPr>
          <p:cNvPr id="6" name="Text 4"/>
          <p:cNvSpPr txBox="1"/>
          <p:nvPr/>
        </p:nvSpPr>
        <p:spPr>
          <a:xfrm>
            <a:off x="62179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BOOKING RATE</a:t>
            </a:r>
            <a:endParaRPr lang="en-US" sz="1400" dirty="0"/>
          </a:p>
        </p:txBody>
      </p:sp>
      <p:sp>
        <p:nvSpPr>
          <p:cNvPr id="7" name="Text 5"/>
          <p:cNvSpPr txBox="1"/>
          <p:nvPr/>
        </p:nvSpPr>
        <p:spPr>
          <a:xfrm>
            <a:off x="62179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72%</a:t>
            </a:r>
            <a:endParaRPr lang="en-US" sz="1400" dirty="0"/>
          </a:p>
        </p:txBody>
      </p:sp>
      <p:sp>
        <p:nvSpPr>
          <p:cNvPr id="8" name="Shape 6"/>
          <p:cNvSpPr/>
          <p:nvPr/>
        </p:nvSpPr>
        <p:spPr>
          <a:xfrm>
            <a:off x="621792" y="1911096"/>
            <a:ext cx="3355848" cy="22860"/>
          </a:xfrm>
          <a:prstGeom prst="rect">
            <a:avLst/>
          </a:prstGeom>
          <a:solidFill>
            <a:srgbClr val="12A566"/>
          </a:solidFill>
          <a:ln/>
        </p:spPr>
      </p:sp>
      <p:sp>
        <p:nvSpPr>
          <p:cNvPr id="9" name="Text 7"/>
          <p:cNvSpPr txBox="1"/>
          <p:nvPr/>
        </p:nvSpPr>
        <p:spPr>
          <a:xfrm>
            <a:off x="62179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TOP 5</a:t>
            </a:r>
            <a:endParaRPr lang="en-US" sz="1400" dirty="0"/>
          </a:p>
        </p:txBody>
      </p:sp>
      <p:sp>
        <p:nvSpPr>
          <p:cNvPr id="10" name="Text 8"/>
          <p:cNvSpPr txBox="1"/>
          <p:nvPr/>
        </p:nvSpPr>
        <p:spPr>
          <a:xfrm>
            <a:off x="2313432" y="1938528"/>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Text 9"/>
          <p:cNvSpPr txBox="1"/>
          <p:nvPr/>
        </p:nvSpPr>
        <p:spPr>
          <a:xfrm>
            <a:off x="3063240" y="1938528"/>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12" name="Text 10"/>
          <p:cNvSpPr txBox="1"/>
          <p:nvPr/>
        </p:nvSpPr>
        <p:spPr>
          <a:xfrm>
            <a:off x="621792" y="2167128"/>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3" name="Text 11"/>
          <p:cNvSpPr txBox="1"/>
          <p:nvPr/>
        </p:nvSpPr>
        <p:spPr>
          <a:xfrm>
            <a:off x="2313432" y="2167128"/>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83.0%</a:t>
            </a:r>
            <a:endParaRPr lang="en-US" sz="1300" dirty="0"/>
          </a:p>
        </p:txBody>
      </p:sp>
      <p:sp>
        <p:nvSpPr>
          <p:cNvPr id="14" name="Text 12"/>
          <p:cNvSpPr txBox="1"/>
          <p:nvPr/>
        </p:nvSpPr>
        <p:spPr>
          <a:xfrm>
            <a:off x="3063240" y="2167128"/>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1,030</a:t>
            </a:r>
            <a:endParaRPr lang="en-US" sz="1200" dirty="0"/>
          </a:p>
        </p:txBody>
      </p:sp>
      <p:sp>
        <p:nvSpPr>
          <p:cNvPr id="15" name="Shape 13"/>
          <p:cNvSpPr/>
          <p:nvPr/>
        </p:nvSpPr>
        <p:spPr>
          <a:xfrm>
            <a:off x="4023360" y="2203704"/>
            <a:ext cx="54864" cy="309067"/>
          </a:xfrm>
          <a:prstGeom prst="rect">
            <a:avLst/>
          </a:prstGeom>
          <a:solidFill>
            <a:srgbClr val="12A566"/>
          </a:solidFill>
          <a:ln/>
        </p:spPr>
      </p:sp>
      <p:sp>
        <p:nvSpPr>
          <p:cNvPr id="16" name="Text 14"/>
          <p:cNvSpPr txBox="1"/>
          <p:nvPr/>
        </p:nvSpPr>
        <p:spPr>
          <a:xfrm>
            <a:off x="621792" y="2549347"/>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7" name="Text 15"/>
          <p:cNvSpPr txBox="1"/>
          <p:nvPr/>
        </p:nvSpPr>
        <p:spPr>
          <a:xfrm>
            <a:off x="2313432" y="2549347"/>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82.3%</a:t>
            </a:r>
            <a:endParaRPr lang="en-US" sz="1300" dirty="0"/>
          </a:p>
        </p:txBody>
      </p:sp>
      <p:sp>
        <p:nvSpPr>
          <p:cNvPr id="18" name="Text 16"/>
          <p:cNvSpPr txBox="1"/>
          <p:nvPr/>
        </p:nvSpPr>
        <p:spPr>
          <a:xfrm>
            <a:off x="3063240" y="2549347"/>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4,349</a:t>
            </a:r>
            <a:endParaRPr lang="en-US" sz="1200" dirty="0"/>
          </a:p>
        </p:txBody>
      </p:sp>
      <p:sp>
        <p:nvSpPr>
          <p:cNvPr id="19" name="Text 17"/>
          <p:cNvSpPr txBox="1"/>
          <p:nvPr/>
        </p:nvSpPr>
        <p:spPr>
          <a:xfrm>
            <a:off x="621792" y="2931566"/>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20" name="Text 18"/>
          <p:cNvSpPr txBox="1"/>
          <p:nvPr/>
        </p:nvSpPr>
        <p:spPr>
          <a:xfrm>
            <a:off x="2313432" y="2931566"/>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79.0%</a:t>
            </a:r>
            <a:endParaRPr lang="en-US" sz="1300" dirty="0"/>
          </a:p>
        </p:txBody>
      </p:sp>
      <p:sp>
        <p:nvSpPr>
          <p:cNvPr id="21" name="Text 19"/>
          <p:cNvSpPr txBox="1"/>
          <p:nvPr/>
        </p:nvSpPr>
        <p:spPr>
          <a:xfrm>
            <a:off x="3063240" y="2931566"/>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696</a:t>
            </a:r>
            <a:endParaRPr lang="en-US" sz="1200" dirty="0"/>
          </a:p>
        </p:txBody>
      </p:sp>
      <p:sp>
        <p:nvSpPr>
          <p:cNvPr id="22" name="Shape 20"/>
          <p:cNvSpPr/>
          <p:nvPr/>
        </p:nvSpPr>
        <p:spPr>
          <a:xfrm>
            <a:off x="4023360" y="2968142"/>
            <a:ext cx="54864" cy="309067"/>
          </a:xfrm>
          <a:prstGeom prst="rect">
            <a:avLst/>
          </a:prstGeom>
          <a:solidFill>
            <a:srgbClr val="12A566"/>
          </a:solidFill>
          <a:ln/>
        </p:spPr>
      </p:sp>
      <p:sp>
        <p:nvSpPr>
          <p:cNvPr id="23" name="Text 21"/>
          <p:cNvSpPr txBox="1"/>
          <p:nvPr/>
        </p:nvSpPr>
        <p:spPr>
          <a:xfrm>
            <a:off x="621792" y="3313786"/>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24" name="Text 22"/>
          <p:cNvSpPr txBox="1"/>
          <p:nvPr/>
        </p:nvSpPr>
        <p:spPr>
          <a:xfrm>
            <a:off x="2313432" y="3313786"/>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78.4%</a:t>
            </a:r>
            <a:endParaRPr lang="en-US" sz="1300" dirty="0"/>
          </a:p>
        </p:txBody>
      </p:sp>
      <p:sp>
        <p:nvSpPr>
          <p:cNvPr id="25" name="Text 23"/>
          <p:cNvSpPr txBox="1"/>
          <p:nvPr/>
        </p:nvSpPr>
        <p:spPr>
          <a:xfrm>
            <a:off x="3063240" y="3313786"/>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876</a:t>
            </a:r>
            <a:endParaRPr lang="en-US" sz="1200" dirty="0"/>
          </a:p>
        </p:txBody>
      </p:sp>
      <p:sp>
        <p:nvSpPr>
          <p:cNvPr id="26" name="Shape 24"/>
          <p:cNvSpPr/>
          <p:nvPr/>
        </p:nvSpPr>
        <p:spPr>
          <a:xfrm>
            <a:off x="4023360" y="3350362"/>
            <a:ext cx="54864" cy="309067"/>
          </a:xfrm>
          <a:prstGeom prst="rect">
            <a:avLst/>
          </a:prstGeom>
          <a:solidFill>
            <a:srgbClr val="12A566"/>
          </a:solidFill>
          <a:ln/>
        </p:spPr>
      </p:sp>
      <p:sp>
        <p:nvSpPr>
          <p:cNvPr id="27" name="Text 25"/>
          <p:cNvSpPr txBox="1"/>
          <p:nvPr/>
        </p:nvSpPr>
        <p:spPr>
          <a:xfrm>
            <a:off x="621792" y="3696005"/>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8" name="Text 26"/>
          <p:cNvSpPr txBox="1"/>
          <p:nvPr/>
        </p:nvSpPr>
        <p:spPr>
          <a:xfrm>
            <a:off x="2313432" y="3696005"/>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77.7%</a:t>
            </a:r>
            <a:endParaRPr lang="en-US" sz="1300" dirty="0"/>
          </a:p>
        </p:txBody>
      </p:sp>
      <p:sp>
        <p:nvSpPr>
          <p:cNvPr id="29" name="Text 27"/>
          <p:cNvSpPr txBox="1"/>
          <p:nvPr/>
        </p:nvSpPr>
        <p:spPr>
          <a:xfrm>
            <a:off x="3063240" y="3696005"/>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6,915</a:t>
            </a:r>
            <a:endParaRPr lang="en-US" sz="1200" dirty="0"/>
          </a:p>
        </p:txBody>
      </p:sp>
      <p:sp>
        <p:nvSpPr>
          <p:cNvPr id="30" name="Shape 28"/>
          <p:cNvSpPr/>
          <p:nvPr/>
        </p:nvSpPr>
        <p:spPr>
          <a:xfrm>
            <a:off x="4023360" y="3732581"/>
            <a:ext cx="54864" cy="309067"/>
          </a:xfrm>
          <a:prstGeom prst="rect">
            <a:avLst/>
          </a:prstGeom>
          <a:solidFill>
            <a:srgbClr val="12A566"/>
          </a:solidFill>
          <a:ln/>
        </p:spPr>
      </p:sp>
      <p:sp>
        <p:nvSpPr>
          <p:cNvPr id="31" name="Shape 29"/>
          <p:cNvSpPr/>
          <p:nvPr/>
        </p:nvSpPr>
        <p:spPr>
          <a:xfrm>
            <a:off x="621792" y="4096512"/>
            <a:ext cx="3355848" cy="22860"/>
          </a:xfrm>
          <a:prstGeom prst="rect">
            <a:avLst/>
          </a:prstGeom>
          <a:solidFill>
            <a:srgbClr val="C2352F"/>
          </a:solidFill>
          <a:ln/>
        </p:spPr>
      </p:sp>
      <p:sp>
        <p:nvSpPr>
          <p:cNvPr id="32" name="Text 30"/>
          <p:cNvSpPr txBox="1"/>
          <p:nvPr/>
        </p:nvSpPr>
        <p:spPr>
          <a:xfrm>
            <a:off x="621792" y="4123944"/>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33" name="Text 31"/>
          <p:cNvSpPr txBox="1"/>
          <p:nvPr/>
        </p:nvSpPr>
        <p:spPr>
          <a:xfrm>
            <a:off x="2313432" y="4123944"/>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34" name="Text 32"/>
          <p:cNvSpPr txBox="1"/>
          <p:nvPr/>
        </p:nvSpPr>
        <p:spPr>
          <a:xfrm>
            <a:off x="3063240" y="4123944"/>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35" name="Text 33"/>
          <p:cNvSpPr txBox="1"/>
          <p:nvPr/>
        </p:nvSpPr>
        <p:spPr>
          <a:xfrm>
            <a:off x="621792" y="4352544"/>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36" name="Text 34"/>
          <p:cNvSpPr txBox="1"/>
          <p:nvPr/>
        </p:nvSpPr>
        <p:spPr>
          <a:xfrm>
            <a:off x="2313432" y="4352544"/>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47.7%</a:t>
            </a:r>
            <a:endParaRPr lang="en-US" sz="1300" dirty="0"/>
          </a:p>
        </p:txBody>
      </p:sp>
      <p:sp>
        <p:nvSpPr>
          <p:cNvPr id="37" name="Text 35"/>
          <p:cNvSpPr txBox="1"/>
          <p:nvPr/>
        </p:nvSpPr>
        <p:spPr>
          <a:xfrm>
            <a:off x="3063240" y="4352544"/>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2,247</a:t>
            </a:r>
            <a:endParaRPr lang="en-US" sz="1200" dirty="0"/>
          </a:p>
        </p:txBody>
      </p:sp>
      <p:sp>
        <p:nvSpPr>
          <p:cNvPr id="38" name="Shape 36"/>
          <p:cNvSpPr/>
          <p:nvPr/>
        </p:nvSpPr>
        <p:spPr>
          <a:xfrm>
            <a:off x="4023360" y="4389120"/>
            <a:ext cx="54864" cy="309067"/>
          </a:xfrm>
          <a:prstGeom prst="rect">
            <a:avLst/>
          </a:prstGeom>
          <a:solidFill>
            <a:srgbClr val="C2352F"/>
          </a:solidFill>
          <a:ln/>
        </p:spPr>
      </p:sp>
      <p:sp>
        <p:nvSpPr>
          <p:cNvPr id="39" name="Text 37"/>
          <p:cNvSpPr txBox="1"/>
          <p:nvPr/>
        </p:nvSpPr>
        <p:spPr>
          <a:xfrm>
            <a:off x="621792" y="4734763"/>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Jeep Post Falls</a:t>
            </a:r>
            <a:endParaRPr lang="en-US" sz="1300" dirty="0"/>
          </a:p>
        </p:txBody>
      </p:sp>
      <p:sp>
        <p:nvSpPr>
          <p:cNvPr id="40" name="Text 38"/>
          <p:cNvSpPr txBox="1"/>
          <p:nvPr/>
        </p:nvSpPr>
        <p:spPr>
          <a:xfrm>
            <a:off x="2313432" y="4734763"/>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51.2%</a:t>
            </a:r>
            <a:endParaRPr lang="en-US" sz="1300" dirty="0"/>
          </a:p>
        </p:txBody>
      </p:sp>
      <p:sp>
        <p:nvSpPr>
          <p:cNvPr id="41" name="Text 39"/>
          <p:cNvSpPr txBox="1"/>
          <p:nvPr/>
        </p:nvSpPr>
        <p:spPr>
          <a:xfrm>
            <a:off x="3063240" y="4734763"/>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896</a:t>
            </a:r>
            <a:endParaRPr lang="en-US" sz="1200" dirty="0"/>
          </a:p>
        </p:txBody>
      </p:sp>
      <p:sp>
        <p:nvSpPr>
          <p:cNvPr id="42" name="Shape 40"/>
          <p:cNvSpPr/>
          <p:nvPr/>
        </p:nvSpPr>
        <p:spPr>
          <a:xfrm>
            <a:off x="4023360" y="4771339"/>
            <a:ext cx="54864" cy="309067"/>
          </a:xfrm>
          <a:prstGeom prst="rect">
            <a:avLst/>
          </a:prstGeom>
          <a:solidFill>
            <a:srgbClr val="C2352F"/>
          </a:solidFill>
          <a:ln/>
        </p:spPr>
      </p:sp>
      <p:sp>
        <p:nvSpPr>
          <p:cNvPr id="43" name="Text 41"/>
          <p:cNvSpPr txBox="1"/>
          <p:nvPr/>
        </p:nvSpPr>
        <p:spPr>
          <a:xfrm>
            <a:off x="621792" y="5116982"/>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of Las Vegas</a:t>
            </a:r>
            <a:endParaRPr lang="en-US" sz="1300" dirty="0"/>
          </a:p>
        </p:txBody>
      </p:sp>
      <p:sp>
        <p:nvSpPr>
          <p:cNvPr id="44" name="Text 42"/>
          <p:cNvSpPr txBox="1"/>
          <p:nvPr/>
        </p:nvSpPr>
        <p:spPr>
          <a:xfrm>
            <a:off x="2313432" y="5116982"/>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54.6%</a:t>
            </a:r>
            <a:endParaRPr lang="en-US" sz="1300" dirty="0"/>
          </a:p>
        </p:txBody>
      </p:sp>
      <p:sp>
        <p:nvSpPr>
          <p:cNvPr id="45" name="Text 43"/>
          <p:cNvSpPr txBox="1"/>
          <p:nvPr/>
        </p:nvSpPr>
        <p:spPr>
          <a:xfrm>
            <a:off x="3063240" y="5116982"/>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1,120</a:t>
            </a:r>
            <a:endParaRPr lang="en-US" sz="1200" dirty="0"/>
          </a:p>
        </p:txBody>
      </p:sp>
      <p:sp>
        <p:nvSpPr>
          <p:cNvPr id="46" name="Text 44"/>
          <p:cNvSpPr txBox="1"/>
          <p:nvPr/>
        </p:nvSpPr>
        <p:spPr>
          <a:xfrm>
            <a:off x="621792" y="5499202"/>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7" name="Text 45"/>
          <p:cNvSpPr txBox="1"/>
          <p:nvPr/>
        </p:nvSpPr>
        <p:spPr>
          <a:xfrm>
            <a:off x="2313432" y="5499202"/>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58.7%</a:t>
            </a:r>
            <a:endParaRPr lang="en-US" sz="1300" dirty="0"/>
          </a:p>
        </p:txBody>
      </p:sp>
      <p:sp>
        <p:nvSpPr>
          <p:cNvPr id="48" name="Text 46"/>
          <p:cNvSpPr txBox="1"/>
          <p:nvPr/>
        </p:nvSpPr>
        <p:spPr>
          <a:xfrm>
            <a:off x="3063240" y="5499202"/>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1,075</a:t>
            </a:r>
            <a:endParaRPr lang="en-US" sz="1200" dirty="0"/>
          </a:p>
        </p:txBody>
      </p:sp>
      <p:sp>
        <p:nvSpPr>
          <p:cNvPr id="49" name="Shape 47"/>
          <p:cNvSpPr/>
          <p:nvPr/>
        </p:nvSpPr>
        <p:spPr>
          <a:xfrm>
            <a:off x="4023360" y="5535778"/>
            <a:ext cx="54864" cy="309067"/>
          </a:xfrm>
          <a:prstGeom prst="rect">
            <a:avLst/>
          </a:prstGeom>
          <a:solidFill>
            <a:srgbClr val="C2352F"/>
          </a:solidFill>
          <a:ln/>
        </p:spPr>
      </p:sp>
      <p:sp>
        <p:nvSpPr>
          <p:cNvPr id="50" name="Text 48"/>
          <p:cNvSpPr txBox="1"/>
          <p:nvPr/>
        </p:nvSpPr>
        <p:spPr>
          <a:xfrm>
            <a:off x="621792" y="5881421"/>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51" name="Text 49"/>
          <p:cNvSpPr txBox="1"/>
          <p:nvPr/>
        </p:nvSpPr>
        <p:spPr>
          <a:xfrm>
            <a:off x="2313432" y="5881421"/>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59.3%</a:t>
            </a:r>
            <a:endParaRPr lang="en-US" sz="1300" dirty="0"/>
          </a:p>
        </p:txBody>
      </p:sp>
      <p:sp>
        <p:nvSpPr>
          <p:cNvPr id="52" name="Text 50"/>
          <p:cNvSpPr txBox="1"/>
          <p:nvPr/>
        </p:nvSpPr>
        <p:spPr>
          <a:xfrm>
            <a:off x="3063240" y="5881421"/>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1,171</a:t>
            </a:r>
            <a:endParaRPr lang="en-US" sz="1200" dirty="0"/>
          </a:p>
        </p:txBody>
      </p:sp>
      <p:sp>
        <p:nvSpPr>
          <p:cNvPr id="53" name="Shape 51"/>
          <p:cNvSpPr/>
          <p:nvPr/>
        </p:nvSpPr>
        <p:spPr>
          <a:xfrm>
            <a:off x="4023360" y="5917997"/>
            <a:ext cx="54864" cy="309067"/>
          </a:xfrm>
          <a:prstGeom prst="rect">
            <a:avLst/>
          </a:prstGeom>
          <a:solidFill>
            <a:srgbClr val="C2352F"/>
          </a:solidFill>
          <a:ln/>
        </p:spPr>
      </p:sp>
      <p:sp>
        <p:nvSpPr>
          <p:cNvPr id="54" name="Shape 52"/>
          <p:cNvSpPr/>
          <p:nvPr/>
        </p:nvSpPr>
        <p:spPr>
          <a:xfrm>
            <a:off x="4251960" y="1207008"/>
            <a:ext cx="3685032" cy="5148072"/>
          </a:xfrm>
          <a:prstGeom prst="rect">
            <a:avLst/>
          </a:prstGeom>
          <a:solidFill>
            <a:srgbClr val="FFFFFF"/>
          </a:solidFill>
          <a:ln/>
        </p:spPr>
      </p:sp>
      <p:sp>
        <p:nvSpPr>
          <p:cNvPr id="55" name="Text 53"/>
          <p:cNvSpPr txBox="1"/>
          <p:nvPr/>
        </p:nvSpPr>
        <p:spPr>
          <a:xfrm>
            <a:off x="441655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TRANSFER PICKUP RATE</a:t>
            </a:r>
            <a:endParaRPr lang="en-US" sz="1400" dirty="0"/>
          </a:p>
        </p:txBody>
      </p:sp>
      <p:sp>
        <p:nvSpPr>
          <p:cNvPr id="56" name="Text 54"/>
          <p:cNvSpPr txBox="1"/>
          <p:nvPr/>
        </p:nvSpPr>
        <p:spPr>
          <a:xfrm>
            <a:off x="441655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47.7%</a:t>
            </a:r>
            <a:endParaRPr lang="en-US" sz="1400" dirty="0"/>
          </a:p>
        </p:txBody>
      </p:sp>
      <p:sp>
        <p:nvSpPr>
          <p:cNvPr id="57" name="Shape 55"/>
          <p:cNvSpPr/>
          <p:nvPr/>
        </p:nvSpPr>
        <p:spPr>
          <a:xfrm>
            <a:off x="4416552" y="1911096"/>
            <a:ext cx="3355848" cy="22860"/>
          </a:xfrm>
          <a:prstGeom prst="rect">
            <a:avLst/>
          </a:prstGeom>
          <a:solidFill>
            <a:srgbClr val="12A566"/>
          </a:solidFill>
          <a:ln/>
        </p:spPr>
      </p:sp>
      <p:sp>
        <p:nvSpPr>
          <p:cNvPr id="58" name="Text 56"/>
          <p:cNvSpPr txBox="1"/>
          <p:nvPr/>
        </p:nvSpPr>
        <p:spPr>
          <a:xfrm>
            <a:off x="441655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TOP 5</a:t>
            </a:r>
            <a:endParaRPr lang="en-US" sz="1400" dirty="0"/>
          </a:p>
        </p:txBody>
      </p:sp>
      <p:sp>
        <p:nvSpPr>
          <p:cNvPr id="59" name="Text 57"/>
          <p:cNvSpPr txBox="1"/>
          <p:nvPr/>
        </p:nvSpPr>
        <p:spPr>
          <a:xfrm>
            <a:off x="6108192" y="1938528"/>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60" name="Text 58"/>
          <p:cNvSpPr txBox="1"/>
          <p:nvPr/>
        </p:nvSpPr>
        <p:spPr>
          <a:xfrm>
            <a:off x="6858000" y="1938528"/>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61" name="Text 59"/>
          <p:cNvSpPr txBox="1"/>
          <p:nvPr/>
        </p:nvSpPr>
        <p:spPr>
          <a:xfrm>
            <a:off x="4416552" y="2167128"/>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2" name="Text 60"/>
          <p:cNvSpPr txBox="1"/>
          <p:nvPr/>
        </p:nvSpPr>
        <p:spPr>
          <a:xfrm>
            <a:off x="6108192" y="2167128"/>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77.1%</a:t>
            </a:r>
            <a:endParaRPr lang="en-US" sz="1300" dirty="0"/>
          </a:p>
        </p:txBody>
      </p:sp>
      <p:sp>
        <p:nvSpPr>
          <p:cNvPr id="63" name="Text 61"/>
          <p:cNvSpPr txBox="1"/>
          <p:nvPr/>
        </p:nvSpPr>
        <p:spPr>
          <a:xfrm>
            <a:off x="6858000" y="2167128"/>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876</a:t>
            </a:r>
            <a:endParaRPr lang="en-US" sz="1200" dirty="0"/>
          </a:p>
        </p:txBody>
      </p:sp>
      <p:sp>
        <p:nvSpPr>
          <p:cNvPr id="64" name="Shape 62"/>
          <p:cNvSpPr/>
          <p:nvPr/>
        </p:nvSpPr>
        <p:spPr>
          <a:xfrm>
            <a:off x="7818120" y="2203704"/>
            <a:ext cx="54864" cy="309067"/>
          </a:xfrm>
          <a:prstGeom prst="rect">
            <a:avLst/>
          </a:prstGeom>
          <a:solidFill>
            <a:srgbClr val="12A566"/>
          </a:solidFill>
          <a:ln/>
        </p:spPr>
      </p:sp>
      <p:sp>
        <p:nvSpPr>
          <p:cNvPr id="65" name="Text 63"/>
          <p:cNvSpPr txBox="1"/>
          <p:nvPr/>
        </p:nvSpPr>
        <p:spPr>
          <a:xfrm>
            <a:off x="4416552" y="2549347"/>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6" name="Text 64"/>
          <p:cNvSpPr txBox="1"/>
          <p:nvPr/>
        </p:nvSpPr>
        <p:spPr>
          <a:xfrm>
            <a:off x="6108192" y="2549347"/>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74.8%</a:t>
            </a:r>
            <a:endParaRPr lang="en-US" sz="1300" dirty="0"/>
          </a:p>
        </p:txBody>
      </p:sp>
      <p:sp>
        <p:nvSpPr>
          <p:cNvPr id="67" name="Text 65"/>
          <p:cNvSpPr txBox="1"/>
          <p:nvPr/>
        </p:nvSpPr>
        <p:spPr>
          <a:xfrm>
            <a:off x="6858000" y="2549347"/>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6,915</a:t>
            </a:r>
            <a:endParaRPr lang="en-US" sz="1200" dirty="0"/>
          </a:p>
        </p:txBody>
      </p:sp>
      <p:sp>
        <p:nvSpPr>
          <p:cNvPr id="68" name="Shape 66"/>
          <p:cNvSpPr/>
          <p:nvPr/>
        </p:nvSpPr>
        <p:spPr>
          <a:xfrm>
            <a:off x="7818120" y="2585923"/>
            <a:ext cx="54864" cy="309067"/>
          </a:xfrm>
          <a:prstGeom prst="rect">
            <a:avLst/>
          </a:prstGeom>
          <a:solidFill>
            <a:srgbClr val="12A566"/>
          </a:solidFill>
          <a:ln/>
        </p:spPr>
      </p:sp>
      <p:sp>
        <p:nvSpPr>
          <p:cNvPr id="69" name="Text 67"/>
          <p:cNvSpPr txBox="1"/>
          <p:nvPr/>
        </p:nvSpPr>
        <p:spPr>
          <a:xfrm>
            <a:off x="4416552" y="2931566"/>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70" name="Text 68"/>
          <p:cNvSpPr txBox="1"/>
          <p:nvPr/>
        </p:nvSpPr>
        <p:spPr>
          <a:xfrm>
            <a:off x="6108192" y="2931566"/>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63.5%</a:t>
            </a:r>
            <a:endParaRPr lang="en-US" sz="1300" dirty="0"/>
          </a:p>
        </p:txBody>
      </p:sp>
      <p:sp>
        <p:nvSpPr>
          <p:cNvPr id="71" name="Text 69"/>
          <p:cNvSpPr txBox="1"/>
          <p:nvPr/>
        </p:nvSpPr>
        <p:spPr>
          <a:xfrm>
            <a:off x="6858000" y="2931566"/>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1,030</a:t>
            </a:r>
            <a:endParaRPr lang="en-US" sz="1200" dirty="0"/>
          </a:p>
        </p:txBody>
      </p:sp>
      <p:sp>
        <p:nvSpPr>
          <p:cNvPr id="72" name="Shape 70"/>
          <p:cNvSpPr/>
          <p:nvPr/>
        </p:nvSpPr>
        <p:spPr>
          <a:xfrm>
            <a:off x="7818120" y="2968142"/>
            <a:ext cx="54864" cy="309067"/>
          </a:xfrm>
          <a:prstGeom prst="rect">
            <a:avLst/>
          </a:prstGeom>
          <a:solidFill>
            <a:srgbClr val="12A566"/>
          </a:solidFill>
          <a:ln/>
        </p:spPr>
      </p:sp>
      <p:sp>
        <p:nvSpPr>
          <p:cNvPr id="73" name="Text 71"/>
          <p:cNvSpPr txBox="1"/>
          <p:nvPr/>
        </p:nvSpPr>
        <p:spPr>
          <a:xfrm>
            <a:off x="4416552" y="3313786"/>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4" name="Text 72"/>
          <p:cNvSpPr txBox="1"/>
          <p:nvPr/>
        </p:nvSpPr>
        <p:spPr>
          <a:xfrm>
            <a:off x="6108192" y="3313786"/>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57.3%</a:t>
            </a:r>
            <a:endParaRPr lang="en-US" sz="1300" dirty="0"/>
          </a:p>
        </p:txBody>
      </p:sp>
      <p:sp>
        <p:nvSpPr>
          <p:cNvPr id="75" name="Text 73"/>
          <p:cNvSpPr txBox="1"/>
          <p:nvPr/>
        </p:nvSpPr>
        <p:spPr>
          <a:xfrm>
            <a:off x="6858000" y="3313786"/>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696</a:t>
            </a:r>
            <a:endParaRPr lang="en-US" sz="1200" dirty="0"/>
          </a:p>
        </p:txBody>
      </p:sp>
      <p:sp>
        <p:nvSpPr>
          <p:cNvPr id="76" name="Shape 74"/>
          <p:cNvSpPr/>
          <p:nvPr/>
        </p:nvSpPr>
        <p:spPr>
          <a:xfrm>
            <a:off x="7818120" y="3350362"/>
            <a:ext cx="54864" cy="309067"/>
          </a:xfrm>
          <a:prstGeom prst="rect">
            <a:avLst/>
          </a:prstGeom>
          <a:solidFill>
            <a:srgbClr val="12A566"/>
          </a:solidFill>
          <a:ln/>
        </p:spPr>
      </p:sp>
      <p:sp>
        <p:nvSpPr>
          <p:cNvPr id="77" name="Text 75"/>
          <p:cNvSpPr txBox="1"/>
          <p:nvPr/>
        </p:nvSpPr>
        <p:spPr>
          <a:xfrm>
            <a:off x="4416552" y="3696005"/>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78" name="Text 76"/>
          <p:cNvSpPr txBox="1"/>
          <p:nvPr/>
        </p:nvSpPr>
        <p:spPr>
          <a:xfrm>
            <a:off x="6108192" y="3696005"/>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54.2%</a:t>
            </a:r>
            <a:endParaRPr lang="en-US" sz="1300" dirty="0"/>
          </a:p>
        </p:txBody>
      </p:sp>
      <p:sp>
        <p:nvSpPr>
          <p:cNvPr id="79" name="Text 77"/>
          <p:cNvSpPr txBox="1"/>
          <p:nvPr/>
        </p:nvSpPr>
        <p:spPr>
          <a:xfrm>
            <a:off x="6858000" y="3696005"/>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1,171</a:t>
            </a:r>
            <a:endParaRPr lang="en-US" sz="1200" dirty="0"/>
          </a:p>
        </p:txBody>
      </p:sp>
      <p:sp>
        <p:nvSpPr>
          <p:cNvPr id="80" name="Shape 78"/>
          <p:cNvSpPr/>
          <p:nvPr/>
        </p:nvSpPr>
        <p:spPr>
          <a:xfrm>
            <a:off x="4416552" y="4096512"/>
            <a:ext cx="3355848" cy="22860"/>
          </a:xfrm>
          <a:prstGeom prst="rect">
            <a:avLst/>
          </a:prstGeom>
          <a:solidFill>
            <a:srgbClr val="C2352F"/>
          </a:solidFill>
          <a:ln/>
        </p:spPr>
      </p:sp>
      <p:sp>
        <p:nvSpPr>
          <p:cNvPr id="81" name="Text 79"/>
          <p:cNvSpPr txBox="1"/>
          <p:nvPr/>
        </p:nvSpPr>
        <p:spPr>
          <a:xfrm>
            <a:off x="4416552" y="4123944"/>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82" name="Text 80"/>
          <p:cNvSpPr txBox="1"/>
          <p:nvPr/>
        </p:nvSpPr>
        <p:spPr>
          <a:xfrm>
            <a:off x="6108192" y="4123944"/>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3" name="Text 81"/>
          <p:cNvSpPr txBox="1"/>
          <p:nvPr/>
        </p:nvSpPr>
        <p:spPr>
          <a:xfrm>
            <a:off x="6858000" y="4123944"/>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84" name="Text 82"/>
          <p:cNvSpPr txBox="1"/>
          <p:nvPr/>
        </p:nvSpPr>
        <p:spPr>
          <a:xfrm>
            <a:off x="4416552" y="4352544"/>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5" name="Text 83"/>
          <p:cNvSpPr txBox="1"/>
          <p:nvPr/>
        </p:nvSpPr>
        <p:spPr>
          <a:xfrm>
            <a:off x="6108192" y="4352544"/>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21.9%</a:t>
            </a:r>
            <a:endParaRPr lang="en-US" sz="1300" dirty="0"/>
          </a:p>
        </p:txBody>
      </p:sp>
      <p:sp>
        <p:nvSpPr>
          <p:cNvPr id="86" name="Text 84"/>
          <p:cNvSpPr txBox="1"/>
          <p:nvPr/>
        </p:nvSpPr>
        <p:spPr>
          <a:xfrm>
            <a:off x="6858000" y="4352544"/>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1,075</a:t>
            </a:r>
            <a:endParaRPr lang="en-US" sz="1200" dirty="0"/>
          </a:p>
        </p:txBody>
      </p:sp>
      <p:sp>
        <p:nvSpPr>
          <p:cNvPr id="87" name="Shape 85"/>
          <p:cNvSpPr/>
          <p:nvPr/>
        </p:nvSpPr>
        <p:spPr>
          <a:xfrm>
            <a:off x="7818120" y="4389120"/>
            <a:ext cx="54864" cy="309067"/>
          </a:xfrm>
          <a:prstGeom prst="rect">
            <a:avLst/>
          </a:prstGeom>
          <a:solidFill>
            <a:srgbClr val="C2352F"/>
          </a:solidFill>
          <a:ln/>
        </p:spPr>
      </p:sp>
      <p:sp>
        <p:nvSpPr>
          <p:cNvPr id="88" name="Text 86"/>
          <p:cNvSpPr txBox="1"/>
          <p:nvPr/>
        </p:nvSpPr>
        <p:spPr>
          <a:xfrm>
            <a:off x="4416552" y="4734763"/>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89" name="Text 87"/>
          <p:cNvSpPr txBox="1"/>
          <p:nvPr/>
        </p:nvSpPr>
        <p:spPr>
          <a:xfrm>
            <a:off x="6108192" y="4734763"/>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26.3%</a:t>
            </a:r>
            <a:endParaRPr lang="en-US" sz="1300" dirty="0"/>
          </a:p>
        </p:txBody>
      </p:sp>
      <p:sp>
        <p:nvSpPr>
          <p:cNvPr id="90" name="Text 88"/>
          <p:cNvSpPr txBox="1"/>
          <p:nvPr/>
        </p:nvSpPr>
        <p:spPr>
          <a:xfrm>
            <a:off x="6858000" y="4734763"/>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1,809</a:t>
            </a:r>
            <a:endParaRPr lang="en-US" sz="1200" dirty="0"/>
          </a:p>
        </p:txBody>
      </p:sp>
      <p:sp>
        <p:nvSpPr>
          <p:cNvPr id="91" name="Text 89"/>
          <p:cNvSpPr txBox="1"/>
          <p:nvPr/>
        </p:nvSpPr>
        <p:spPr>
          <a:xfrm>
            <a:off x="4416552" y="5116982"/>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Las Vegas</a:t>
            </a:r>
            <a:endParaRPr lang="en-US" sz="1300" dirty="0"/>
          </a:p>
        </p:txBody>
      </p:sp>
      <p:sp>
        <p:nvSpPr>
          <p:cNvPr id="92" name="Text 90"/>
          <p:cNvSpPr txBox="1"/>
          <p:nvPr/>
        </p:nvSpPr>
        <p:spPr>
          <a:xfrm>
            <a:off x="6108192" y="5116982"/>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27.2%</a:t>
            </a:r>
            <a:endParaRPr lang="en-US" sz="1300" dirty="0"/>
          </a:p>
        </p:txBody>
      </p:sp>
      <p:sp>
        <p:nvSpPr>
          <p:cNvPr id="93" name="Text 91"/>
          <p:cNvSpPr txBox="1"/>
          <p:nvPr/>
        </p:nvSpPr>
        <p:spPr>
          <a:xfrm>
            <a:off x="6858000" y="5116982"/>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5,450</a:t>
            </a:r>
            <a:endParaRPr lang="en-US" sz="1200" dirty="0"/>
          </a:p>
        </p:txBody>
      </p:sp>
      <p:sp>
        <p:nvSpPr>
          <p:cNvPr id="94" name="Text 92"/>
          <p:cNvSpPr txBox="1"/>
          <p:nvPr/>
        </p:nvSpPr>
        <p:spPr>
          <a:xfrm>
            <a:off x="4416552" y="5499202"/>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95" name="Text 93"/>
          <p:cNvSpPr txBox="1"/>
          <p:nvPr/>
        </p:nvSpPr>
        <p:spPr>
          <a:xfrm>
            <a:off x="6108192" y="5499202"/>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27.4%</a:t>
            </a:r>
            <a:endParaRPr lang="en-US" sz="1300" dirty="0"/>
          </a:p>
        </p:txBody>
      </p:sp>
      <p:sp>
        <p:nvSpPr>
          <p:cNvPr id="96" name="Text 94"/>
          <p:cNvSpPr txBox="1"/>
          <p:nvPr/>
        </p:nvSpPr>
        <p:spPr>
          <a:xfrm>
            <a:off x="6858000" y="5499202"/>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2,247</a:t>
            </a:r>
            <a:endParaRPr lang="en-US" sz="1200" dirty="0"/>
          </a:p>
        </p:txBody>
      </p:sp>
      <p:sp>
        <p:nvSpPr>
          <p:cNvPr id="97" name="Shape 95"/>
          <p:cNvSpPr/>
          <p:nvPr/>
        </p:nvSpPr>
        <p:spPr>
          <a:xfrm>
            <a:off x="7818120" y="5535778"/>
            <a:ext cx="54864" cy="309067"/>
          </a:xfrm>
          <a:prstGeom prst="rect">
            <a:avLst/>
          </a:prstGeom>
          <a:solidFill>
            <a:srgbClr val="C2352F"/>
          </a:solidFill>
          <a:ln/>
        </p:spPr>
      </p:sp>
      <p:sp>
        <p:nvSpPr>
          <p:cNvPr id="98" name="Text 96"/>
          <p:cNvSpPr txBox="1"/>
          <p:nvPr/>
        </p:nvSpPr>
        <p:spPr>
          <a:xfrm>
            <a:off x="4416552" y="5881421"/>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Jeep Post Falls</a:t>
            </a:r>
            <a:endParaRPr lang="en-US" sz="1300" dirty="0"/>
          </a:p>
        </p:txBody>
      </p:sp>
      <p:sp>
        <p:nvSpPr>
          <p:cNvPr id="99" name="Text 97"/>
          <p:cNvSpPr txBox="1"/>
          <p:nvPr/>
        </p:nvSpPr>
        <p:spPr>
          <a:xfrm>
            <a:off x="6108192" y="5881421"/>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32.9%</a:t>
            </a:r>
            <a:endParaRPr lang="en-US" sz="1300" dirty="0"/>
          </a:p>
        </p:txBody>
      </p:sp>
      <p:sp>
        <p:nvSpPr>
          <p:cNvPr id="100" name="Text 98"/>
          <p:cNvSpPr txBox="1"/>
          <p:nvPr/>
        </p:nvSpPr>
        <p:spPr>
          <a:xfrm>
            <a:off x="6858000" y="5881421"/>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896</a:t>
            </a:r>
            <a:endParaRPr lang="en-US" sz="1200" dirty="0"/>
          </a:p>
        </p:txBody>
      </p:sp>
      <p:sp>
        <p:nvSpPr>
          <p:cNvPr id="101" name="Shape 99"/>
          <p:cNvSpPr/>
          <p:nvPr/>
        </p:nvSpPr>
        <p:spPr>
          <a:xfrm>
            <a:off x="7818120" y="5917997"/>
            <a:ext cx="54864" cy="309067"/>
          </a:xfrm>
          <a:prstGeom prst="rect">
            <a:avLst/>
          </a:prstGeom>
          <a:solidFill>
            <a:srgbClr val="C2352F"/>
          </a:solidFill>
          <a:ln/>
        </p:spPr>
      </p:sp>
      <p:sp>
        <p:nvSpPr>
          <p:cNvPr id="102" name="Shape 100"/>
          <p:cNvSpPr/>
          <p:nvPr/>
        </p:nvSpPr>
        <p:spPr>
          <a:xfrm>
            <a:off x="8046720" y="1207008"/>
            <a:ext cx="3685032" cy="5148072"/>
          </a:xfrm>
          <a:prstGeom prst="rect">
            <a:avLst/>
          </a:prstGeom>
          <a:solidFill>
            <a:srgbClr val="FFFFFF"/>
          </a:solidFill>
          <a:ln/>
        </p:spPr>
      </p:sp>
      <p:sp>
        <p:nvSpPr>
          <p:cNvPr id="103" name="Text 101"/>
          <p:cNvSpPr txBox="1"/>
          <p:nvPr/>
        </p:nvSpPr>
        <p:spPr>
          <a:xfrm>
            <a:off x="8211312" y="1298448"/>
            <a:ext cx="3355848" cy="274320"/>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CALLBACK RESOLUTION</a:t>
            </a:r>
            <a:endParaRPr lang="en-US" sz="1400" dirty="0"/>
          </a:p>
        </p:txBody>
      </p:sp>
      <p:sp>
        <p:nvSpPr>
          <p:cNvPr id="104" name="Text 102"/>
          <p:cNvSpPr txBox="1"/>
          <p:nvPr/>
        </p:nvSpPr>
        <p:spPr>
          <a:xfrm>
            <a:off x="8211312" y="1572768"/>
            <a:ext cx="3355848" cy="23774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98.2% · 6 stores at 100%</a:t>
            </a:r>
            <a:endParaRPr lang="en-US" sz="1400" dirty="0"/>
          </a:p>
        </p:txBody>
      </p:sp>
      <p:sp>
        <p:nvSpPr>
          <p:cNvPr id="105" name="Shape 103"/>
          <p:cNvSpPr/>
          <p:nvPr/>
        </p:nvSpPr>
        <p:spPr>
          <a:xfrm>
            <a:off x="8211312" y="1911096"/>
            <a:ext cx="3355848" cy="22860"/>
          </a:xfrm>
          <a:prstGeom prst="rect">
            <a:avLst/>
          </a:prstGeom>
          <a:solidFill>
            <a:srgbClr val="12A566"/>
          </a:solidFill>
          <a:ln/>
        </p:spPr>
      </p:sp>
      <p:sp>
        <p:nvSpPr>
          <p:cNvPr id="106" name="Text 104"/>
          <p:cNvSpPr txBox="1"/>
          <p:nvPr/>
        </p:nvSpPr>
        <p:spPr>
          <a:xfrm>
            <a:off x="8211312" y="1938528"/>
            <a:ext cx="1828800" cy="219456"/>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TOP 5</a:t>
            </a:r>
            <a:endParaRPr lang="en-US" sz="1400" dirty="0"/>
          </a:p>
        </p:txBody>
      </p:sp>
      <p:sp>
        <p:nvSpPr>
          <p:cNvPr id="107" name="Text 105"/>
          <p:cNvSpPr txBox="1"/>
          <p:nvPr/>
        </p:nvSpPr>
        <p:spPr>
          <a:xfrm>
            <a:off x="9902952" y="1938528"/>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08" name="Text 106"/>
          <p:cNvSpPr txBox="1"/>
          <p:nvPr/>
        </p:nvSpPr>
        <p:spPr>
          <a:xfrm>
            <a:off x="10652760" y="1938528"/>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Calls</a:t>
            </a:r>
            <a:endParaRPr lang="en-US" sz="1400" dirty="0"/>
          </a:p>
        </p:txBody>
      </p:sp>
      <p:sp>
        <p:nvSpPr>
          <p:cNvPr id="109" name="Text 107"/>
          <p:cNvSpPr txBox="1"/>
          <p:nvPr/>
        </p:nvSpPr>
        <p:spPr>
          <a:xfrm>
            <a:off x="8211312" y="2167128"/>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Las Vegas</a:t>
            </a:r>
            <a:endParaRPr lang="en-US" sz="1300" dirty="0"/>
          </a:p>
        </p:txBody>
      </p:sp>
      <p:sp>
        <p:nvSpPr>
          <p:cNvPr id="110" name="Text 108"/>
          <p:cNvSpPr txBox="1"/>
          <p:nvPr/>
        </p:nvSpPr>
        <p:spPr>
          <a:xfrm>
            <a:off x="9902952" y="2167128"/>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11" name="Text 109"/>
          <p:cNvSpPr txBox="1"/>
          <p:nvPr/>
        </p:nvSpPr>
        <p:spPr>
          <a:xfrm>
            <a:off x="10652760" y="2167128"/>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1,570</a:t>
            </a:r>
            <a:endParaRPr lang="en-US" sz="1200" dirty="0"/>
          </a:p>
        </p:txBody>
      </p:sp>
      <p:sp>
        <p:nvSpPr>
          <p:cNvPr id="112" name="Text 110"/>
          <p:cNvSpPr txBox="1"/>
          <p:nvPr/>
        </p:nvSpPr>
        <p:spPr>
          <a:xfrm>
            <a:off x="8211312" y="2549347"/>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13" name="Text 111"/>
          <p:cNvSpPr txBox="1"/>
          <p:nvPr/>
        </p:nvSpPr>
        <p:spPr>
          <a:xfrm>
            <a:off x="9902952" y="2549347"/>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14" name="Text 112"/>
          <p:cNvSpPr txBox="1"/>
          <p:nvPr/>
        </p:nvSpPr>
        <p:spPr>
          <a:xfrm>
            <a:off x="10652760" y="2549347"/>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1,565</a:t>
            </a:r>
            <a:endParaRPr lang="en-US" sz="1200" dirty="0"/>
          </a:p>
        </p:txBody>
      </p:sp>
      <p:sp>
        <p:nvSpPr>
          <p:cNvPr id="115" name="Text 113"/>
          <p:cNvSpPr txBox="1"/>
          <p:nvPr/>
        </p:nvSpPr>
        <p:spPr>
          <a:xfrm>
            <a:off x="8211312" y="2931566"/>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6" name="Text 114"/>
          <p:cNvSpPr txBox="1"/>
          <p:nvPr/>
        </p:nvSpPr>
        <p:spPr>
          <a:xfrm>
            <a:off x="9902952" y="2931566"/>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17" name="Text 115"/>
          <p:cNvSpPr txBox="1"/>
          <p:nvPr/>
        </p:nvSpPr>
        <p:spPr>
          <a:xfrm>
            <a:off x="10652760" y="2931566"/>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1,458</a:t>
            </a:r>
            <a:endParaRPr lang="en-US" sz="1200" dirty="0"/>
          </a:p>
        </p:txBody>
      </p:sp>
      <p:sp>
        <p:nvSpPr>
          <p:cNvPr id="118" name="Text 116"/>
          <p:cNvSpPr txBox="1"/>
          <p:nvPr/>
        </p:nvSpPr>
        <p:spPr>
          <a:xfrm>
            <a:off x="8211312" y="3313786"/>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of Las Vegas</a:t>
            </a:r>
            <a:endParaRPr lang="en-US" sz="1300" dirty="0"/>
          </a:p>
        </p:txBody>
      </p:sp>
      <p:sp>
        <p:nvSpPr>
          <p:cNvPr id="119" name="Text 117"/>
          <p:cNvSpPr txBox="1"/>
          <p:nvPr/>
        </p:nvSpPr>
        <p:spPr>
          <a:xfrm>
            <a:off x="9902952" y="3313786"/>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20" name="Text 118"/>
          <p:cNvSpPr txBox="1"/>
          <p:nvPr/>
        </p:nvSpPr>
        <p:spPr>
          <a:xfrm>
            <a:off x="10652760" y="3313786"/>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1,120</a:t>
            </a:r>
            <a:endParaRPr lang="en-US" sz="1200" dirty="0"/>
          </a:p>
        </p:txBody>
      </p:sp>
      <p:sp>
        <p:nvSpPr>
          <p:cNvPr id="121" name="Text 119"/>
          <p:cNvSpPr txBox="1"/>
          <p:nvPr/>
        </p:nvSpPr>
        <p:spPr>
          <a:xfrm>
            <a:off x="8211312" y="3696005"/>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Land Rover Reno</a:t>
            </a:r>
            <a:endParaRPr lang="en-US" sz="1300" dirty="0"/>
          </a:p>
        </p:txBody>
      </p:sp>
      <p:sp>
        <p:nvSpPr>
          <p:cNvPr id="122" name="Text 120"/>
          <p:cNvSpPr txBox="1"/>
          <p:nvPr/>
        </p:nvSpPr>
        <p:spPr>
          <a:xfrm>
            <a:off x="9902952" y="3696005"/>
            <a:ext cx="731520" cy="382219"/>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100.0%</a:t>
            </a:r>
            <a:endParaRPr lang="en-US" sz="1300" dirty="0"/>
          </a:p>
        </p:txBody>
      </p:sp>
      <p:sp>
        <p:nvSpPr>
          <p:cNvPr id="123" name="Text 121"/>
          <p:cNvSpPr txBox="1"/>
          <p:nvPr/>
        </p:nvSpPr>
        <p:spPr>
          <a:xfrm>
            <a:off x="10652760" y="3696005"/>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911</a:t>
            </a:r>
            <a:endParaRPr lang="en-US" sz="1200" dirty="0"/>
          </a:p>
        </p:txBody>
      </p:sp>
      <p:sp>
        <p:nvSpPr>
          <p:cNvPr id="124" name="Shape 122"/>
          <p:cNvSpPr/>
          <p:nvPr/>
        </p:nvSpPr>
        <p:spPr>
          <a:xfrm>
            <a:off x="8211312" y="4096512"/>
            <a:ext cx="3355848" cy="22860"/>
          </a:xfrm>
          <a:prstGeom prst="rect">
            <a:avLst/>
          </a:prstGeom>
          <a:solidFill>
            <a:srgbClr val="C2352F"/>
          </a:solidFill>
          <a:ln/>
        </p:spPr>
      </p:sp>
      <p:sp>
        <p:nvSpPr>
          <p:cNvPr id="125" name="Text 123"/>
          <p:cNvSpPr txBox="1"/>
          <p:nvPr/>
        </p:nvSpPr>
        <p:spPr>
          <a:xfrm>
            <a:off x="8211312" y="4123944"/>
            <a:ext cx="1828800" cy="219456"/>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BOTTOM 5</a:t>
            </a:r>
            <a:endParaRPr lang="en-US" sz="1400" dirty="0"/>
          </a:p>
        </p:txBody>
      </p:sp>
      <p:sp>
        <p:nvSpPr>
          <p:cNvPr id="126" name="Text 124"/>
          <p:cNvSpPr txBox="1"/>
          <p:nvPr/>
        </p:nvSpPr>
        <p:spPr>
          <a:xfrm>
            <a:off x="9902952" y="4123944"/>
            <a:ext cx="73152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27" name="Text 125"/>
          <p:cNvSpPr txBox="1"/>
          <p:nvPr/>
        </p:nvSpPr>
        <p:spPr>
          <a:xfrm>
            <a:off x="10652760" y="4123944"/>
            <a:ext cx="914400" cy="219456"/>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Open</a:t>
            </a:r>
            <a:endParaRPr lang="en-US" sz="1400" dirty="0"/>
          </a:p>
        </p:txBody>
      </p:sp>
      <p:sp>
        <p:nvSpPr>
          <p:cNvPr id="128" name="Text 126"/>
          <p:cNvSpPr txBox="1"/>
          <p:nvPr/>
        </p:nvSpPr>
        <p:spPr>
          <a:xfrm>
            <a:off x="8211312" y="4352544"/>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29" name="Text 127"/>
          <p:cNvSpPr txBox="1"/>
          <p:nvPr/>
        </p:nvSpPr>
        <p:spPr>
          <a:xfrm>
            <a:off x="9902952" y="4352544"/>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44.0%</a:t>
            </a:r>
            <a:endParaRPr lang="en-US" sz="1300" dirty="0"/>
          </a:p>
        </p:txBody>
      </p:sp>
      <p:sp>
        <p:nvSpPr>
          <p:cNvPr id="130" name="Text 128"/>
          <p:cNvSpPr txBox="1"/>
          <p:nvPr/>
        </p:nvSpPr>
        <p:spPr>
          <a:xfrm>
            <a:off x="10652760" y="4352544"/>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158</a:t>
            </a:r>
            <a:endParaRPr lang="en-US" sz="1200" dirty="0"/>
          </a:p>
        </p:txBody>
      </p:sp>
      <p:sp>
        <p:nvSpPr>
          <p:cNvPr id="131" name="Text 129"/>
          <p:cNvSpPr txBox="1"/>
          <p:nvPr/>
        </p:nvSpPr>
        <p:spPr>
          <a:xfrm>
            <a:off x="8211312" y="4734763"/>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Prescott Hyundai</a:t>
            </a:r>
            <a:endParaRPr lang="en-US" sz="1300" dirty="0"/>
          </a:p>
        </p:txBody>
      </p:sp>
      <p:sp>
        <p:nvSpPr>
          <p:cNvPr id="132" name="Text 130"/>
          <p:cNvSpPr txBox="1"/>
          <p:nvPr/>
        </p:nvSpPr>
        <p:spPr>
          <a:xfrm>
            <a:off x="9902952" y="4734763"/>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78.2%</a:t>
            </a:r>
            <a:endParaRPr lang="en-US" sz="1300" dirty="0"/>
          </a:p>
        </p:txBody>
      </p:sp>
      <p:sp>
        <p:nvSpPr>
          <p:cNvPr id="133" name="Text 131"/>
          <p:cNvSpPr txBox="1"/>
          <p:nvPr/>
        </p:nvSpPr>
        <p:spPr>
          <a:xfrm>
            <a:off x="10652760" y="4734763"/>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114</a:t>
            </a:r>
            <a:endParaRPr lang="en-US" sz="1200" dirty="0"/>
          </a:p>
        </p:txBody>
      </p:sp>
      <p:sp>
        <p:nvSpPr>
          <p:cNvPr id="134" name="Text 132"/>
          <p:cNvSpPr txBox="1"/>
          <p:nvPr/>
        </p:nvSpPr>
        <p:spPr>
          <a:xfrm>
            <a:off x="8211312" y="5116982"/>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CDR Post Falls</a:t>
            </a:r>
            <a:endParaRPr lang="en-US" sz="1300" dirty="0"/>
          </a:p>
        </p:txBody>
      </p:sp>
      <p:sp>
        <p:nvSpPr>
          <p:cNvPr id="135" name="Text 133"/>
          <p:cNvSpPr txBox="1"/>
          <p:nvPr/>
        </p:nvSpPr>
        <p:spPr>
          <a:xfrm>
            <a:off x="9902952" y="5116982"/>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94.0%</a:t>
            </a:r>
            <a:endParaRPr lang="en-US" sz="1300" dirty="0"/>
          </a:p>
        </p:txBody>
      </p:sp>
      <p:sp>
        <p:nvSpPr>
          <p:cNvPr id="136" name="Text 134"/>
          <p:cNvSpPr txBox="1"/>
          <p:nvPr/>
        </p:nvSpPr>
        <p:spPr>
          <a:xfrm>
            <a:off x="10652760" y="5116982"/>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57</a:t>
            </a:r>
            <a:endParaRPr lang="en-US" sz="1200" dirty="0"/>
          </a:p>
        </p:txBody>
      </p:sp>
      <p:sp>
        <p:nvSpPr>
          <p:cNvPr id="137" name="Shape 135"/>
          <p:cNvSpPr/>
          <p:nvPr/>
        </p:nvSpPr>
        <p:spPr>
          <a:xfrm>
            <a:off x="11612880" y="5153558"/>
            <a:ext cx="54864" cy="309067"/>
          </a:xfrm>
          <a:prstGeom prst="rect">
            <a:avLst/>
          </a:prstGeom>
          <a:solidFill>
            <a:srgbClr val="C2352F"/>
          </a:solidFill>
          <a:ln/>
        </p:spPr>
      </p:sp>
      <p:sp>
        <p:nvSpPr>
          <p:cNvPr id="138" name="Text 136"/>
          <p:cNvSpPr txBox="1"/>
          <p:nvPr/>
        </p:nvSpPr>
        <p:spPr>
          <a:xfrm>
            <a:off x="8211312" y="5499202"/>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 Tahoe</a:t>
            </a:r>
            <a:endParaRPr lang="en-US" sz="1300" dirty="0"/>
          </a:p>
        </p:txBody>
      </p:sp>
      <p:sp>
        <p:nvSpPr>
          <p:cNvPr id="139" name="Text 137"/>
          <p:cNvSpPr txBox="1"/>
          <p:nvPr/>
        </p:nvSpPr>
        <p:spPr>
          <a:xfrm>
            <a:off x="9902952" y="5499202"/>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96.5%</a:t>
            </a:r>
            <a:endParaRPr lang="en-US" sz="1300" dirty="0"/>
          </a:p>
        </p:txBody>
      </p:sp>
      <p:sp>
        <p:nvSpPr>
          <p:cNvPr id="140" name="Text 138"/>
          <p:cNvSpPr txBox="1"/>
          <p:nvPr/>
        </p:nvSpPr>
        <p:spPr>
          <a:xfrm>
            <a:off x="10652760" y="5499202"/>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30</a:t>
            </a:r>
            <a:endParaRPr lang="en-US" sz="1200" dirty="0"/>
          </a:p>
        </p:txBody>
      </p:sp>
      <p:sp>
        <p:nvSpPr>
          <p:cNvPr id="141" name="Shape 139"/>
          <p:cNvSpPr/>
          <p:nvPr/>
        </p:nvSpPr>
        <p:spPr>
          <a:xfrm>
            <a:off x="11612880" y="5535778"/>
            <a:ext cx="54864" cy="309067"/>
          </a:xfrm>
          <a:prstGeom prst="rect">
            <a:avLst/>
          </a:prstGeom>
          <a:solidFill>
            <a:srgbClr val="C2352F"/>
          </a:solidFill>
          <a:ln/>
        </p:spPr>
      </p:sp>
      <p:sp>
        <p:nvSpPr>
          <p:cNvPr id="142" name="Text 140"/>
          <p:cNvSpPr txBox="1"/>
          <p:nvPr/>
        </p:nvSpPr>
        <p:spPr>
          <a:xfrm>
            <a:off x="8211312" y="5881421"/>
            <a:ext cx="1673352" cy="382219"/>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43" name="Text 141"/>
          <p:cNvSpPr txBox="1"/>
          <p:nvPr/>
        </p:nvSpPr>
        <p:spPr>
          <a:xfrm>
            <a:off x="9902952" y="5881421"/>
            <a:ext cx="731520" cy="382219"/>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98.2%</a:t>
            </a:r>
            <a:endParaRPr lang="en-US" sz="1300" dirty="0"/>
          </a:p>
        </p:txBody>
      </p:sp>
      <p:sp>
        <p:nvSpPr>
          <p:cNvPr id="144" name="Text 142"/>
          <p:cNvSpPr txBox="1"/>
          <p:nvPr/>
        </p:nvSpPr>
        <p:spPr>
          <a:xfrm>
            <a:off x="10652760" y="5881421"/>
            <a:ext cx="914400" cy="38221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People</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Our most valuable asset: this is what separates us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Invest in training and a defined career path. Be the best place to work.</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Grow your own techs, advisors and managers: apprentice programs, develop your bench, train your replacement</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Always be teaching, training and educating</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Don't overlook opportunities to teach, train and educate</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Being short-handed limits scheduling, loses opportunities and leads to missed MPIs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Clear pay plans, job descriptions and expectations, and hold people accountable to them</a:t>
            </a:r>
            <a:endParaRPr lang="en-US" sz="1600" dirty="0"/>
          </a:p>
        </p:txBody>
      </p:sp>
      <p:sp>
        <p:nvSpPr>
          <p:cNvPr id="10" name="Shape 8"/>
          <p:cNvSpPr/>
          <p:nvPr/>
        </p:nvSpPr>
        <p:spPr>
          <a:xfrm>
            <a:off x="7269480" y="1920240"/>
            <a:ext cx="54864" cy="1112520"/>
          </a:xfrm>
          <a:prstGeom prst="rect">
            <a:avLst/>
          </a:prstGeom>
          <a:solidFill>
            <a:srgbClr val="2587C5"/>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−76</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ops staff, September to September, to 1,540 (−4.7%): technicians −17, advisors −7, managers −3.</a:t>
            </a:r>
            <a:endParaRPr lang="en-US" sz="1400" dirty="0"/>
          </a:p>
        </p:txBody>
      </p:sp>
      <p:sp>
        <p:nvSpPr>
          <p:cNvPr id="13" name="Shape 11"/>
          <p:cNvSpPr/>
          <p:nvPr/>
        </p:nvSpPr>
        <p:spPr>
          <a:xfrm>
            <a:off x="7269480" y="3261360"/>
            <a:ext cx="54864" cy="1112520"/>
          </a:xfrm>
          <a:prstGeom prst="rect">
            <a:avLst/>
          </a:prstGeom>
          <a:solidFill>
            <a:srgbClr val="12A566"/>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$13,617</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gross per fixed employee a month, up $1,207. Gross grew 4.1% with 5.1% fewer people on average.</a:t>
            </a:r>
            <a:endParaRPr lang="en-US" sz="1400" dirty="0"/>
          </a:p>
        </p:txBody>
      </p:sp>
      <p:sp>
        <p:nvSpPr>
          <p:cNvPr id="16" name="Shape 14"/>
          <p:cNvSpPr/>
          <p:nvPr/>
        </p:nvSpPr>
        <p:spPr>
          <a:xfrm>
            <a:off x="7269480" y="4602480"/>
            <a:ext cx="54864" cy="1112520"/>
          </a:xfrm>
          <a:prstGeom prst="rect">
            <a:avLst/>
          </a:prstGeom>
          <a:solidFill>
            <a:srgbClr val="C2352F"/>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$28,600</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Gross an average tech's bay produces a month: 152 sold hours at $188 each. An empty or idle bay misses all of it.</a:t>
            </a:r>
            <a:endParaRPr lang="en-US" sz="1400" dirty="0"/>
          </a:p>
        </p:txBody>
      </p:sp>
      <p:sp>
        <p:nvSpPr>
          <p:cNvPr id="19" name="Shape 17"/>
          <p:cNvSpPr/>
          <p:nvPr/>
        </p:nvSpPr>
        <p:spPr>
          <a:xfrm>
            <a:off x="457200" y="6126480"/>
            <a:ext cx="11274552" cy="615696"/>
          </a:xfrm>
          <a:prstGeom prst="rect">
            <a:avLst/>
          </a:prstGeom>
          <a:solidFill>
            <a:srgbClr val="EDF4FA"/>
          </a:solidFill>
          <a:ln/>
        </p:spPr>
      </p:sp>
      <p:sp>
        <p:nvSpPr>
          <p:cNvPr id="20" name="Text 1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keep every seat filled with someone who adds hours. Being short-handed costs appointments, MPIs and sold hours.</a:t>
            </a:r>
            <a:endParaRPr lang="en-US" sz="1600" dirty="0"/>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Changed?</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49808"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7" name="Text 5"/>
          <p:cNvSpPr txBox="1"/>
          <p:nvPr/>
        </p:nvSpPr>
        <p:spPr>
          <a:xfrm>
            <a:off x="352044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Moved on</a:t>
            </a:r>
            <a:endParaRPr lang="en-US" sz="1400" dirty="0"/>
          </a:p>
        </p:txBody>
      </p:sp>
      <p:sp>
        <p:nvSpPr>
          <p:cNvPr id="8" name="Text 6"/>
          <p:cNvSpPr txBox="1"/>
          <p:nvPr/>
        </p:nvSpPr>
        <p:spPr>
          <a:xfrm>
            <a:off x="566928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9" name="Text 7"/>
          <p:cNvSpPr txBox="1"/>
          <p:nvPr/>
        </p:nvSpPr>
        <p:spPr>
          <a:xfrm>
            <a:off x="772668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932688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1" name="Shape 9"/>
          <p:cNvSpPr/>
          <p:nvPr/>
        </p:nvSpPr>
        <p:spPr>
          <a:xfrm>
            <a:off x="621792" y="1755648"/>
            <a:ext cx="10945368" cy="438912"/>
          </a:xfrm>
          <a:prstGeom prst="rect">
            <a:avLst/>
          </a:prstGeom>
          <a:solidFill>
            <a:srgbClr val="F7F7F7"/>
          </a:solidFill>
          <a:ln/>
        </p:spPr>
      </p:sp>
      <p:sp>
        <p:nvSpPr>
          <p:cNvPr id="12" name="Text 10"/>
          <p:cNvSpPr txBox="1"/>
          <p:nvPr/>
        </p:nvSpPr>
        <p:spPr>
          <a:xfrm>
            <a:off x="749808" y="1755648"/>
            <a:ext cx="2651760" cy="43891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3" name="Text 11"/>
          <p:cNvSpPr txBox="1"/>
          <p:nvPr/>
        </p:nvSpPr>
        <p:spPr>
          <a:xfrm>
            <a:off x="3520440" y="1755648"/>
            <a:ext cx="210312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CP Gross per Month</a:t>
            </a:r>
            <a:endParaRPr lang="en-US" sz="1400" dirty="0"/>
          </a:p>
        </p:txBody>
      </p:sp>
      <p:sp>
        <p:nvSpPr>
          <p:cNvPr id="14" name="Text 12"/>
          <p:cNvSpPr txBox="1"/>
          <p:nvPr/>
        </p:nvSpPr>
        <p:spPr>
          <a:xfrm>
            <a:off x="5669280" y="1755648"/>
            <a:ext cx="201168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$155K → $209K</a:t>
            </a:r>
            <a:endParaRPr lang="en-US" sz="1400" dirty="0"/>
          </a:p>
        </p:txBody>
      </p:sp>
      <p:sp>
        <p:nvSpPr>
          <p:cNvPr id="15" name="Text 13"/>
          <p:cNvSpPr txBox="1"/>
          <p:nvPr/>
        </p:nvSpPr>
        <p:spPr>
          <a:xfrm>
            <a:off x="7726680" y="1755648"/>
            <a:ext cx="1554480" cy="43891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16" name="Text 14"/>
          <p:cNvSpPr txBox="1"/>
          <p:nvPr/>
        </p:nvSpPr>
        <p:spPr>
          <a:xfrm>
            <a:off x="9326880" y="1755648"/>
            <a:ext cx="1280160" cy="438912"/>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+34.6%</a:t>
            </a:r>
            <a:endParaRPr lang="en-US" sz="1400" dirty="0"/>
          </a:p>
        </p:txBody>
      </p:sp>
      <p:sp>
        <p:nvSpPr>
          <p:cNvPr id="17" name="Text 15"/>
          <p:cNvSpPr txBox="1"/>
          <p:nvPr/>
        </p:nvSpPr>
        <p:spPr>
          <a:xfrm>
            <a:off x="749808" y="2194560"/>
            <a:ext cx="2651760" cy="43891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18" name="Text 16"/>
          <p:cNvSpPr txBox="1"/>
          <p:nvPr/>
        </p:nvSpPr>
        <p:spPr>
          <a:xfrm>
            <a:off x="3520440" y="2194560"/>
            <a:ext cx="210312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CP ROs per Month</a:t>
            </a:r>
            <a:endParaRPr lang="en-US" sz="1400" dirty="0"/>
          </a:p>
        </p:txBody>
      </p:sp>
      <p:sp>
        <p:nvSpPr>
          <p:cNvPr id="19" name="Text 17"/>
          <p:cNvSpPr txBox="1"/>
          <p:nvPr/>
        </p:nvSpPr>
        <p:spPr>
          <a:xfrm>
            <a:off x="5669280" y="2194560"/>
            <a:ext cx="201168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425 → 570</a:t>
            </a:r>
            <a:endParaRPr lang="en-US" sz="1400" dirty="0"/>
          </a:p>
        </p:txBody>
      </p:sp>
      <p:sp>
        <p:nvSpPr>
          <p:cNvPr id="20" name="Text 18"/>
          <p:cNvSpPr txBox="1"/>
          <p:nvPr/>
        </p:nvSpPr>
        <p:spPr>
          <a:xfrm>
            <a:off x="7726680" y="2194560"/>
            <a:ext cx="1554480" cy="43891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21" name="Text 19"/>
          <p:cNvSpPr txBox="1"/>
          <p:nvPr/>
        </p:nvSpPr>
        <p:spPr>
          <a:xfrm>
            <a:off x="9326880" y="2194560"/>
            <a:ext cx="1280160" cy="438912"/>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+34.0%</a:t>
            </a:r>
            <a:endParaRPr lang="en-US" sz="1400" dirty="0"/>
          </a:p>
        </p:txBody>
      </p:sp>
      <p:sp>
        <p:nvSpPr>
          <p:cNvPr id="22" name="Shape 20"/>
          <p:cNvSpPr/>
          <p:nvPr/>
        </p:nvSpPr>
        <p:spPr>
          <a:xfrm>
            <a:off x="621792" y="2633472"/>
            <a:ext cx="10945368" cy="438912"/>
          </a:xfrm>
          <a:prstGeom prst="rect">
            <a:avLst/>
          </a:prstGeom>
          <a:solidFill>
            <a:srgbClr val="F7F7F7"/>
          </a:solidFill>
          <a:ln/>
        </p:spPr>
      </p:sp>
      <p:sp>
        <p:nvSpPr>
          <p:cNvPr id="23" name="Text 21"/>
          <p:cNvSpPr txBox="1"/>
          <p:nvPr/>
        </p:nvSpPr>
        <p:spPr>
          <a:xfrm>
            <a:off x="749808" y="2633472"/>
            <a:ext cx="2651760" cy="43891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24" name="Text 22"/>
          <p:cNvSpPr txBox="1"/>
          <p:nvPr/>
        </p:nvSpPr>
        <p:spPr>
          <a:xfrm>
            <a:off x="3520440" y="2633472"/>
            <a:ext cx="210312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CP Hours per RO</a:t>
            </a:r>
            <a:endParaRPr lang="en-US" sz="1400" dirty="0"/>
          </a:p>
        </p:txBody>
      </p:sp>
      <p:sp>
        <p:nvSpPr>
          <p:cNvPr id="25" name="Text 23"/>
          <p:cNvSpPr txBox="1"/>
          <p:nvPr/>
        </p:nvSpPr>
        <p:spPr>
          <a:xfrm>
            <a:off x="5669280" y="2633472"/>
            <a:ext cx="201168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1.35 → 1.65</a:t>
            </a:r>
            <a:endParaRPr lang="en-US" sz="1400" dirty="0"/>
          </a:p>
        </p:txBody>
      </p:sp>
      <p:sp>
        <p:nvSpPr>
          <p:cNvPr id="26" name="Text 24"/>
          <p:cNvSpPr txBox="1"/>
          <p:nvPr/>
        </p:nvSpPr>
        <p:spPr>
          <a:xfrm>
            <a:off x="7726680" y="2633472"/>
            <a:ext cx="1554480" cy="43891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27" name="Text 25"/>
          <p:cNvSpPr txBox="1"/>
          <p:nvPr/>
        </p:nvSpPr>
        <p:spPr>
          <a:xfrm>
            <a:off x="9326880" y="2633472"/>
            <a:ext cx="1280160" cy="438912"/>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+22.2%</a:t>
            </a:r>
            <a:endParaRPr lang="en-US" sz="1400" dirty="0"/>
          </a:p>
        </p:txBody>
      </p:sp>
      <p:sp>
        <p:nvSpPr>
          <p:cNvPr id="28" name="Text 26"/>
          <p:cNvSpPr txBox="1"/>
          <p:nvPr/>
        </p:nvSpPr>
        <p:spPr>
          <a:xfrm>
            <a:off x="749808" y="3072384"/>
            <a:ext cx="2651760" cy="43891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29" name="Text 27"/>
          <p:cNvSpPr txBox="1"/>
          <p:nvPr/>
        </p:nvSpPr>
        <p:spPr>
          <a:xfrm>
            <a:off x="3520440" y="3072384"/>
            <a:ext cx="210312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CP ELR</a:t>
            </a:r>
            <a:endParaRPr lang="en-US" sz="1400" dirty="0"/>
          </a:p>
        </p:txBody>
      </p:sp>
      <p:sp>
        <p:nvSpPr>
          <p:cNvPr id="30" name="Text 28"/>
          <p:cNvSpPr txBox="1"/>
          <p:nvPr/>
        </p:nvSpPr>
        <p:spPr>
          <a:xfrm>
            <a:off x="5669280" y="3072384"/>
            <a:ext cx="201168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$128.27 → $141.89</a:t>
            </a:r>
            <a:endParaRPr lang="en-US" sz="1400" dirty="0"/>
          </a:p>
        </p:txBody>
      </p:sp>
      <p:sp>
        <p:nvSpPr>
          <p:cNvPr id="31" name="Text 29"/>
          <p:cNvSpPr txBox="1"/>
          <p:nvPr/>
        </p:nvSpPr>
        <p:spPr>
          <a:xfrm>
            <a:off x="7726680" y="3072384"/>
            <a:ext cx="1554480" cy="43891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2" name="Text 30"/>
          <p:cNvSpPr txBox="1"/>
          <p:nvPr/>
        </p:nvSpPr>
        <p:spPr>
          <a:xfrm>
            <a:off x="9326880" y="3072384"/>
            <a:ext cx="1280160" cy="438912"/>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+10.6%</a:t>
            </a:r>
            <a:endParaRPr lang="en-US" sz="1400" dirty="0"/>
          </a:p>
        </p:txBody>
      </p:sp>
      <p:sp>
        <p:nvSpPr>
          <p:cNvPr id="33" name="Shape 31"/>
          <p:cNvSpPr/>
          <p:nvPr/>
        </p:nvSpPr>
        <p:spPr>
          <a:xfrm>
            <a:off x="621792" y="3511296"/>
            <a:ext cx="10945368" cy="438912"/>
          </a:xfrm>
          <a:prstGeom prst="rect">
            <a:avLst/>
          </a:prstGeom>
          <a:solidFill>
            <a:srgbClr val="F7F7F7"/>
          </a:solidFill>
          <a:ln/>
        </p:spPr>
      </p:sp>
      <p:sp>
        <p:nvSpPr>
          <p:cNvPr id="34" name="Text 32"/>
          <p:cNvSpPr txBox="1"/>
          <p:nvPr/>
        </p:nvSpPr>
        <p:spPr>
          <a:xfrm>
            <a:off x="749808" y="3511296"/>
            <a:ext cx="2651760" cy="43891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35" name="Text 33"/>
          <p:cNvSpPr txBox="1"/>
          <p:nvPr/>
        </p:nvSpPr>
        <p:spPr>
          <a:xfrm>
            <a:off x="3520440" y="3511296"/>
            <a:ext cx="210312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CP Parts GP %</a:t>
            </a:r>
            <a:endParaRPr lang="en-US" sz="1400" dirty="0"/>
          </a:p>
        </p:txBody>
      </p:sp>
      <p:sp>
        <p:nvSpPr>
          <p:cNvPr id="36" name="Text 34"/>
          <p:cNvSpPr txBox="1"/>
          <p:nvPr/>
        </p:nvSpPr>
        <p:spPr>
          <a:xfrm>
            <a:off x="5669280" y="3511296"/>
            <a:ext cx="201168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39.4% → 46.6%</a:t>
            </a:r>
            <a:endParaRPr lang="en-US" sz="1400" dirty="0"/>
          </a:p>
        </p:txBody>
      </p:sp>
      <p:sp>
        <p:nvSpPr>
          <p:cNvPr id="37" name="Text 35"/>
          <p:cNvSpPr txBox="1"/>
          <p:nvPr/>
        </p:nvSpPr>
        <p:spPr>
          <a:xfrm>
            <a:off x="7726680" y="3511296"/>
            <a:ext cx="1554480" cy="43891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8" name="Text 36"/>
          <p:cNvSpPr txBox="1"/>
          <p:nvPr/>
        </p:nvSpPr>
        <p:spPr>
          <a:xfrm>
            <a:off x="9326880" y="3511296"/>
            <a:ext cx="1280160" cy="438912"/>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+7.2 pts</a:t>
            </a:r>
            <a:endParaRPr lang="en-US" sz="1400" dirty="0"/>
          </a:p>
        </p:txBody>
      </p:sp>
      <p:sp>
        <p:nvSpPr>
          <p:cNvPr id="39" name="Text 37"/>
          <p:cNvSpPr txBox="1"/>
          <p:nvPr/>
        </p:nvSpPr>
        <p:spPr>
          <a:xfrm>
            <a:off x="749808" y="3950208"/>
            <a:ext cx="2651760" cy="43891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p:txBody>
      </p:sp>
      <p:sp>
        <p:nvSpPr>
          <p:cNvPr id="40" name="Text 38"/>
          <p:cNvSpPr txBox="1"/>
          <p:nvPr/>
        </p:nvSpPr>
        <p:spPr>
          <a:xfrm>
            <a:off x="3520440" y="3950208"/>
            <a:ext cx="210312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Opcodes · alignment</a:t>
            </a:r>
            <a:endParaRPr lang="en-US" sz="1400" dirty="0"/>
          </a:p>
        </p:txBody>
      </p:sp>
      <p:sp>
        <p:nvSpPr>
          <p:cNvPr id="41" name="Text 39"/>
          <p:cNvSpPr txBox="1"/>
          <p:nvPr/>
        </p:nvSpPr>
        <p:spPr>
          <a:xfrm>
            <a:off x="5669280" y="3950208"/>
            <a:ext cx="201168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21.0% → 31.7%</a:t>
            </a:r>
            <a:endParaRPr lang="en-US" sz="1400" dirty="0"/>
          </a:p>
        </p:txBody>
      </p:sp>
      <p:sp>
        <p:nvSpPr>
          <p:cNvPr id="42" name="Text 40"/>
          <p:cNvSpPr txBox="1"/>
          <p:nvPr/>
        </p:nvSpPr>
        <p:spPr>
          <a:xfrm>
            <a:off x="7726680" y="3950208"/>
            <a:ext cx="1554480" cy="43891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43" name="Text 41"/>
          <p:cNvSpPr txBox="1"/>
          <p:nvPr/>
        </p:nvSpPr>
        <p:spPr>
          <a:xfrm>
            <a:off x="9326880" y="3950208"/>
            <a:ext cx="1280160" cy="438912"/>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+10.7 pts</a:t>
            </a:r>
            <a:endParaRPr lang="en-US" sz="1400" dirty="0"/>
          </a:p>
        </p:txBody>
      </p:sp>
      <p:sp>
        <p:nvSpPr>
          <p:cNvPr id="44" name="Shape 42"/>
          <p:cNvSpPr/>
          <p:nvPr/>
        </p:nvSpPr>
        <p:spPr>
          <a:xfrm>
            <a:off x="621792" y="4389120"/>
            <a:ext cx="10945368" cy="438912"/>
          </a:xfrm>
          <a:prstGeom prst="rect">
            <a:avLst/>
          </a:prstGeom>
          <a:solidFill>
            <a:srgbClr val="F7F7F7"/>
          </a:solidFill>
          <a:ln/>
        </p:spPr>
      </p:sp>
      <p:sp>
        <p:nvSpPr>
          <p:cNvPr id="45" name="Text 43"/>
          <p:cNvSpPr txBox="1"/>
          <p:nvPr/>
        </p:nvSpPr>
        <p:spPr>
          <a:xfrm>
            <a:off x="749808" y="4389120"/>
            <a:ext cx="2651760" cy="43891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46" name="Text 44"/>
          <p:cNvSpPr txBox="1"/>
          <p:nvPr/>
        </p:nvSpPr>
        <p:spPr>
          <a:xfrm>
            <a:off x="3520440" y="4389120"/>
            <a:ext cx="210312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Opcodes · balance</a:t>
            </a:r>
            <a:endParaRPr lang="en-US" sz="1400" dirty="0"/>
          </a:p>
        </p:txBody>
      </p:sp>
      <p:sp>
        <p:nvSpPr>
          <p:cNvPr id="47" name="Text 45"/>
          <p:cNvSpPr txBox="1"/>
          <p:nvPr/>
        </p:nvSpPr>
        <p:spPr>
          <a:xfrm>
            <a:off x="5669280" y="4389120"/>
            <a:ext cx="201168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10.1% → 19.3%</a:t>
            </a:r>
            <a:endParaRPr lang="en-US" sz="1400" dirty="0"/>
          </a:p>
        </p:txBody>
      </p:sp>
      <p:sp>
        <p:nvSpPr>
          <p:cNvPr id="48" name="Text 46"/>
          <p:cNvSpPr txBox="1"/>
          <p:nvPr/>
        </p:nvSpPr>
        <p:spPr>
          <a:xfrm>
            <a:off x="7726680" y="4389120"/>
            <a:ext cx="1554480" cy="43891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49" name="Text 47"/>
          <p:cNvSpPr txBox="1"/>
          <p:nvPr/>
        </p:nvSpPr>
        <p:spPr>
          <a:xfrm>
            <a:off x="9326880" y="4389120"/>
            <a:ext cx="1280160" cy="438912"/>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+9.2 pts</a:t>
            </a:r>
            <a:endParaRPr lang="en-US" sz="1400" dirty="0"/>
          </a:p>
        </p:txBody>
      </p:sp>
      <p:sp>
        <p:nvSpPr>
          <p:cNvPr id="50" name="Text 48"/>
          <p:cNvSpPr txBox="1"/>
          <p:nvPr/>
        </p:nvSpPr>
        <p:spPr>
          <a:xfrm>
            <a:off x="749808" y="4828032"/>
            <a:ext cx="2651760" cy="43891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51" name="Text 49"/>
          <p:cNvSpPr txBox="1"/>
          <p:nvPr/>
        </p:nvSpPr>
        <p:spPr>
          <a:xfrm>
            <a:off x="3520440" y="4828032"/>
            <a:ext cx="210312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Opcodes · brake fluid</a:t>
            </a:r>
            <a:endParaRPr lang="en-US" sz="1400" dirty="0"/>
          </a:p>
        </p:txBody>
      </p:sp>
      <p:sp>
        <p:nvSpPr>
          <p:cNvPr id="52" name="Text 50"/>
          <p:cNvSpPr txBox="1"/>
          <p:nvPr/>
        </p:nvSpPr>
        <p:spPr>
          <a:xfrm>
            <a:off x="5669280" y="4828032"/>
            <a:ext cx="201168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5.1% → 14.1%</a:t>
            </a:r>
            <a:endParaRPr lang="en-US" sz="1400" dirty="0"/>
          </a:p>
        </p:txBody>
      </p:sp>
      <p:sp>
        <p:nvSpPr>
          <p:cNvPr id="53" name="Text 51"/>
          <p:cNvSpPr txBox="1"/>
          <p:nvPr/>
        </p:nvSpPr>
        <p:spPr>
          <a:xfrm>
            <a:off x="7726680" y="4828032"/>
            <a:ext cx="1554480" cy="43891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54" name="Text 52"/>
          <p:cNvSpPr txBox="1"/>
          <p:nvPr/>
        </p:nvSpPr>
        <p:spPr>
          <a:xfrm>
            <a:off x="9326880" y="4828032"/>
            <a:ext cx="1280160" cy="438912"/>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+9.0 pts</a:t>
            </a:r>
            <a:endParaRPr lang="en-US" sz="1400" dirty="0"/>
          </a:p>
        </p:txBody>
      </p:sp>
      <p:sp>
        <p:nvSpPr>
          <p:cNvPr id="55" name="Shape 53"/>
          <p:cNvSpPr/>
          <p:nvPr/>
        </p:nvSpPr>
        <p:spPr>
          <a:xfrm>
            <a:off x="621792" y="5266944"/>
            <a:ext cx="10945368" cy="438912"/>
          </a:xfrm>
          <a:prstGeom prst="rect">
            <a:avLst/>
          </a:prstGeom>
          <a:solidFill>
            <a:srgbClr val="F7F7F7"/>
          </a:solidFill>
          <a:ln/>
        </p:spPr>
      </p:sp>
      <p:sp>
        <p:nvSpPr>
          <p:cNvPr id="56" name="Text 54"/>
          <p:cNvSpPr txBox="1"/>
          <p:nvPr/>
        </p:nvSpPr>
        <p:spPr>
          <a:xfrm>
            <a:off x="749808" y="5266944"/>
            <a:ext cx="2651760" cy="43891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57" name="Text 55"/>
          <p:cNvSpPr txBox="1"/>
          <p:nvPr/>
        </p:nvSpPr>
        <p:spPr>
          <a:xfrm>
            <a:off x="3520440" y="5266944"/>
            <a:ext cx="210312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Opcodes · fuel service</a:t>
            </a:r>
            <a:endParaRPr lang="en-US" sz="1400" dirty="0"/>
          </a:p>
        </p:txBody>
      </p:sp>
      <p:sp>
        <p:nvSpPr>
          <p:cNvPr id="58" name="Text 56"/>
          <p:cNvSpPr txBox="1"/>
          <p:nvPr/>
        </p:nvSpPr>
        <p:spPr>
          <a:xfrm>
            <a:off x="5669280" y="5266944"/>
            <a:ext cx="2011680" cy="43891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2.5% → 10.6%</a:t>
            </a:r>
            <a:endParaRPr lang="en-US" sz="1400" dirty="0"/>
          </a:p>
        </p:txBody>
      </p:sp>
      <p:sp>
        <p:nvSpPr>
          <p:cNvPr id="59" name="Text 57"/>
          <p:cNvSpPr txBox="1"/>
          <p:nvPr/>
        </p:nvSpPr>
        <p:spPr>
          <a:xfrm>
            <a:off x="7726680" y="5266944"/>
            <a:ext cx="1554480" cy="43891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60" name="Text 58"/>
          <p:cNvSpPr txBox="1"/>
          <p:nvPr/>
        </p:nvSpPr>
        <p:spPr>
          <a:xfrm>
            <a:off x="9326880" y="5266944"/>
            <a:ext cx="1280160" cy="438912"/>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+8.1 pts</a:t>
            </a:r>
            <a:endParaRPr lang="en-US" sz="1400" dirty="0"/>
          </a:p>
        </p:txBody>
      </p:sp>
      <p:sp>
        <p:nvSpPr>
          <p:cNvPr id="61" name="Shape 59"/>
          <p:cNvSpPr/>
          <p:nvPr/>
        </p:nvSpPr>
        <p:spPr>
          <a:xfrm>
            <a:off x="457200" y="6126480"/>
            <a:ext cx="11274552" cy="364236"/>
          </a:xfrm>
          <a:prstGeom prst="rect">
            <a:avLst/>
          </a:prstGeom>
          <a:solidFill>
            <a:srgbClr val="EDF4FA"/>
          </a:solidFill>
          <a:ln/>
        </p:spPr>
      </p:sp>
      <p:sp>
        <p:nvSpPr>
          <p:cNvPr id="62" name="Text 60"/>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2C4A"/>
                </a:solidFill>
                <a:latin typeface="Inter" pitchFamily="34" charset="0"/>
                <a:ea typeface="Inter" pitchFamily="34" charset="-122"/>
                <a:cs typeface="Inter" pitchFamily="34" charset="-120"/>
              </a:rPr>
              <a:t>Five stores, one question each: what did you start doing that month? One sentence, before you leave.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2026-10-28T15:29:21Z</dcterms:created>
  <dcterms:modified xsi:type="dcterms:W3CDTF">2026-10-28T15:29:21Z</dcterms:modified>
</cp:coreProperties>
</file>