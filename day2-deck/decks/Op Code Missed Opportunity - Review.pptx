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Lst>
  <p:notesMasterIdLst>
    <p:notesMasterId r:id="rId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notesMaster" Target="notesMasters/notesMaster1.xml"/><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heme" Target="theme/theme1.xml"/><Relationship Id="rId1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anyone.Talk track: every one of these cars is already on a customer-pay RO in our drive. The inspection and the menu find the need; the advisor presents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Alignment, tire balance, brake fluid and fuel system service added together, every store: gross Jan-Sep 2026 above (+) or below (-) the four benchmarks, at the store's own gross per service. Below-benchmark services count against above-benchmark ones here.TOYOTA SPOKANE: −$406K Jan-Sep against the four benchmarks; under 4 of 4
CHEVY LV: −$356K Jan-Sep against the four benchmarks; under 4 of 4
TOYOTA FLAGSTAFF: −$267K Jan-Sep against the four benchmarks; under 4 of 4
TOYOTA HENDERSON: −$227K Jan-Sep against the four benchmarks; under 3 of 4
KIA LV: −$185K Jan-Sep against the four benchmarks; under 4 of 4
CDJR POST FALLS: −$184K Jan-Sep against the four benchmarks; under 4 of 4
TOYOTA PRESCOTT: −$175K Jan-Sep against the four benchmarks; under 4 of 4
AUDI RENO: −$162K Jan-Sep against the four benchmarks; under 4 of 4
HONDA FLAGSTAFF: −$150K Jan-Sep against the four benchmarks; under 4 of 4
NISSAN: −$150K Jan-Sep against the four benchmarks; under 3 of 4
HONDA SPOKANE: −$140K Jan-Sep against the four benchmarks; under 3 of 4
LEXUS: −$105K Jan-Sep against the four benchmarks; under 4 of 4
VW HENDERSON: −$105K Jan-Sep against the four benchmarks; under 4 of 4
CHEVY GMC BULLHEAD: −$100K Jan-Sep against the four benchmarks; under 4 of 4
CADILLAC: −$94K Jan-Sep against the four benchmarks; under 4 of 4
VW ST GEORGE: −$66K Jan-Sep against the four benchmarks; under 4 of 4
HYUNDAI ST GEORGE: −$61K Jan-Sep against the four benchmarks; under 4 of 4
GMC PRESCOTT: −$60K Jan-Sep against the four benchmarks; under 4 of 4
SUBARU LV: −$59K Jan-Sep against the four benchmarks; under 3 of 4
KIA ST GEORGE: −$53K Jan-Sep against the four benchmarks; under 3 of 4
LINCOLN: −$48K Jan-Sep against the four benchmarks; under 3 of 4
SUBARU ST GEORGE: −$41K Jan-Sep against the four benchmarks; under 2 of 4
LR RENO: −$32K Jan-Sep against the four benchmarks; under 3 of 4
VOLVO: −$29K Jan-Sep against the four benchmarks; under 3 of 4
MAZDA: −$28K Jan-Sep against the four benchmarks; under 3 of 4
AUDI HENDERSON: −$22K Jan-Sep against the four benchmarks; under 3 of 4
HYUNDAI PRESCOTT: +$23K Jan-Sep against the four benchmarks; under 3 of 4
ACURA: +$33K Jan-Sep against the four benchmarks; under 1 of 4
SUBARU PRESCOTT: +$41K Jan-Sep against the four benchmarks; under 2 of 4
HONDA NORTH: +$45K Jan-Sep against the four benchmarks; under 1 of 4
LR HENDERSON: +$54K Jan-Sep against the four benchmarks; under 1 of 4
LR LV: +$151K Jan-Sep against the four benchmarks; under 1 of 4
HONDA HENDERSON: +$557K Jan-Sep against the four benchmarks; under 0 of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Alignment: every store, gross Jan-Sep 2026 above (+) or below (-) the benchmark at the store's own gross per service; group gross per service $129. Rate = Jan-Sep closing %.Near-zero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
TOYOTA SPOKANE: 4.2%, −$169K Jan-Sep at $90/service
TOYOTA FLAGSTAFF: 9.7%, −$67K Jan-Sep at $84/service
NISSAN: 7.4%, −$62K Jan-Sep at $119/service
KIA LV: 9.7%, −$58K Jan-Sep at $135/service
CHEVY LV: 12.8%, −$57K Jan-Sep at $136/service
CDJR POST FALLS: 4.2%, −$43K Jan-Sep at $74/service
TOYOTA PRESCOTT: 12.3%, −$37K Jan-Sep at $103/service
KIA ST GEORGE: 8.0%, −$29K Jan-Sep at $105/service
HONDA SPOKANE: 12.5%, −$27K Jan-Sep at $124/service
AUDI RENO: 11.8%, −$26K Jan-Sep at $230/service
TOYOTA HENDERSON: 14.5%, −$25K Jan-Sep at $102/service
LEXUS: 11.3%, −$24K Jan-Sep at $147/service
LINCOLN: 8.4%, −$20K Jan-Sep at $114/service
CHEVY GMC BULLHEAD: 11.1%, −$19K Jan-Sep at $78/service
VW HENDERSON: 13.6%, −$18K Jan-Sep at $245/service
SUBARU ST GEORGE: 11.0%, −$17K Jan-Sep at $78/service
HONDA FLAGSTAFF: 11.0%, −$16K Jan-Sep at $100/service
VW ST GEORGE: 5.6%, −$13K Jan-Sep at $74/service
SUBARU PRESCOTT: 12.5%, −$9K Jan-Sep at $73/service
GMC PRESCOTT: 11.7%, −$9K Jan-Sep at $85/service
LR RENO: 12.8%, −$8K Jan-Sep at $259/service (capped; raw $715/service)
SUBARU LV: 14.5%, −$7K Jan-Sep at $117/service
CADILLAC: 13.8%, −$7K Jan-Sep at $115/service
VOLVO: 13.8%, −$5K Jan-Sep at $142/service
HYUNDAI ST GEORGE: 14.8%, −$649 Jan-Sep at $121/service
ACURA: 17.5%, +$11K Jan-Sep at $117/service
MAZDA: 16.6%, +$13K Jan-Sep at $132/service
LR LV: 17.3%, +$18K Jan-Sep at $210/service
HONDA NORTH: 16.1%, +$20K Jan-Sep at $112/service
LR HENDERSON: 24.4%, +$31K Jan-Sep at $209/service
HYUNDAI PRESCOTT: 21.7%, +$31K Jan-Sep at $228/service
AUDI HENDERSON: 27.5%, +$123K Jan-Sep at $259/service (capped; raw $390/service)
HONDA HENDERSON: 21.3%, +$171K Jan-Sep at $121/service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Tire Balance: every store, gross Jan-Sep 2026 above (+) or below (-) the benchmark at the store's own gross per service; group gross per service $75. Rate = Jan-Sep closing %.Near-zero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
TOYOTA SPOKANE: 0.4%, −$135K Jan-Sep at $53/service
TOYOTA HENDERSON: 11.2%, −$111K Jan-Sep at $55/service
TOYOTA PRESCOTT: 6.1%, −$99K Jan-Sep at $83/service
SUBARU ST GEORGE: 3.6%, −$94K Jan-Sep at $149/service (capped; raw $247/service)
TOYOTA FLAGSTAFF: 4.9%, −$82K Jan-Sep at $54/service
CHEVY LV: 7.3%, −$80K Jan-Sep at $53/service
HONDA SPOKANE: 2.1%, −$60K Jan-Sep at $52/service
NISSAN: 1.0%, −$58K Jan-Sep at $59/service
CDJR POST FALLS: 1.2%, −$55K Jan-Sep at $75/service
KIA LV: 5.2%, −$54K Jan-Sep at $68/service
LEXUS: 0.0%, −$51K Jan-Sep at $75/service (group avg)
SUBARU LV: 10.2%, −$51K Jan-Sep at $75/service
AUDI HENDERSON: 0.0%, −$42K Jan-Sep at $75/service (group avg)
AUDI RENO: 0.1%, −$39K Jan-Sep at $75/service (group avg)
HONDA FLAGSTAFF: 1.3%, −$39K Jan-Sep at $70/service
HONDA NORTH: 12.0%, −$29K Jan-Sep at $64/service
HYUNDAI ST GEORGE: 1.2%, −$27K Jan-Sep at $58/service
LINCOLN: 1.6%, −$23K Jan-Sep at $66/service
VW ST GEORGE: 0.4%, −$21K Jan-Sep at $75/service (group avg)
VW HENDERSON: 8.2%, −$21K Jan-Sep at $60/service
GMC PRESCOTT: 7.7%, −$20K Jan-Sep at $90/service
CHEVY GMC BULLHEAD: 9.0%, −$16K Jan-Sep at $42/service
KIA ST GEORGE: 7.7%, −$14K Jan-Sep at $48/service
CADILLAC: 5.9%, −$11K Jan-Sep at $22/service
MAZDA: 13.1%, −$8K Jan-Sep at $79/service
VOLVO: 11.7%, −$6K Jan-Sep at $51/service
HYUNDAI PRESCOTT: 13.5%, −$4K Jan-Sep at $149/service (capped; raw $311/service)
ACURA: 14.1%, −$2K Jan-Sep at $64/service
SUBARU PRESCOTT: 14.9%, −$26 Jan-Sep at $34/service
LR RENO: 16.9%, +$4K Jan-Sep at $149/service (capped; raw $647/service)
LR LV: 16.9%, +$10K Jan-Sep at $149/service
LR HENDERSON: 27.0%, +$23K Jan-Sep at $122/service
HONDA HENDERSON: 18.4%, +$52K Jan-Sep at $68/service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Brake Fluid: every store, gross Jan-Sep 2026 above (+) or below (-) the benchmark at the store's own gross per service; group gross per service $189. Rate = Jan-Sep closing %.Near-zero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
CHEVY LV: 5.7%, −$113K Jan-Sep at $138/service
TOYOTA SPOKANE: 7.0%, −$60K Jan-Sep at $117/service
AUDI RENO: 1.9%, −$58K Jan-Sep at $206/service
AUDI HENDERSON: 2.4%, −$56K Jan-Sep at $196/service
HONDA FLAGSTAFF: 3.1%, −$51K Jan-Sep at $184/service
CADILLAC: 4.6%, −$43K Jan-Sep at $150/service
CDJR POST FALLS: 4.2%, −$39K Jan-Sep at $128/service
TOYOTA FLAGSTAFF: 8.0%, −$36K Jan-Sep at $123/service
TOYOTA PRESCOTT: 8.4%, −$24K Jan-Sep at $112/service
HYUNDAI ST GEORGE: 4.7%, −$24K Jan-Sep at $134/service
KIA ST GEORGE: 5.9%, −$19K Jan-Sep at $119/service
KIA LV: 8.2%, −$17K Jan-Sep at $120/service
CHEVY GMC BULLHEAD: 7.0%, −$16K Jan-Sep at $87/service
GMC PRESCOTT: 6.0%, −$15K Jan-Sep at $127/service
LR RENO: 7.2%, −$15K Jan-Sep at $377/service (capped; raw $1,380/service)
MAZDA: 8.4%, −$13K Jan-Sep at $154/service
LEXUS: 8.3%, −$11K Jan-Sep at $154/service
VW ST GEORGE: 5.4%, −$10K Jan-Sep at $111/service
LINCOLN: 7.5%, −$8K Jan-Sep at $126/service
VW HENDERSON: 9.5%, −$3K Jan-Sep at $134/service
HYUNDAI PRESCOTT: 9.6%, −$2K Jan-Sep at $354/service
HONDA SPOKANE: 10.3%, +$4K Jan-Sep at $126/service
TOYOTA HENDERSON: 10.0%, +$5K Jan-Sep at $141/service
SUBARU LV: 10.1%, +$7K Jan-Sep at $333/service
SUBARU PRESCOTT: 10.6%, +$12K Jan-Sep at $377/service (capped; raw $380/service)
ACURA: 12.7%, +$15K Jan-Sep at $147/service
SUBARU ST GEORGE: 10.7%, +$16K Jan-Sep at $377/service (capped; raw $489/service)
NISSAN: 11.6%, +$18K Jan-Sep at $155/service
VOLVO: 11.9%, +$24K Jan-Sep at $377/service (capped; raw $538/service)
LR HENDERSON: 14.3%, +$25K Jan-Sep at $377/service (capped; raw $709/service)
HONDA NORTH: 12.1%, +$51K Jan-Sep at $160/service
LR LV: 20.6%, +$141K Jan-Sep at $377/service (capped; raw $424/service)
HONDA HENDERSON: 15.5%, +$195K Jan-Sep at $155/service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Fuel System Service: every store, gross Jan-Sep 2026 above (+) or below (-) the benchmark at the store's own gross per service; group gross per service $165. Rate = Jan-Sep closing %.Near-zero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
CHEVY LV: 5.2%, −$107K Jan-Sep at $243/service
TOYOTA HENDERSON: 6.0%, −$96K Jan-Sep at $122/service
TOYOTA FLAGSTAFF: 1.6%, −$82K Jan-Sep at $93/service
VW HENDERSON: 0.0%, −$63K Jan-Sep at $165/service (group avg)
KIA LV: 3.2%, −$57K Jan-Sep at $163/service
HONDA SPOKANE: 3.2%, −$56K Jan-Sep at $147/service
CHEVY GMC BULLHEAD: 2.7%, −$49K Jan-Sep at $163/service
NISSAN: 4.1%, −$48K Jan-Sep at $206/service
AUDI HENDERSON: 0.0%, −$47K Jan-Sep at $165/service (group avg)
CDJR POST FALLS: 3.0%, −$46K Jan-Sep at $192/service
HONDA FLAGSTAFF: 0.7%, −$45K Jan-Sep at $165/service (group avg)
TOYOTA SPOKANE: 5.8%, −$42K Jan-Sep at $145/service
VOLVO: 0.0%, −$42K Jan-Sep at $165/service (group avg)
AUDI RENO: 0.8%, −$39K Jan-Sep at $165/service (group avg)
CADILLAC: 5.1%, −$34K Jan-Sep at $269/service
LR HENDERSON: 2.5%, −$25K Jan-Sep at $329/service (capped; raw $774/service)
VW ST GEORGE: 2.7%, −$22K Jan-Sep at $236/service
MAZDA: 5.2%, −$20K Jan-Sep at $150/service
LEXUS: 4.2%, −$19K Jan-Sep at $128/service
LR LV: 5.5%, −$18K Jan-Sep at $258/service
GMC PRESCOTT: 3.6%, −$16K Jan-Sep at $133/service
TOYOTA PRESCOTT: 6.4%, −$14K Jan-Sep at $101/service
LR RENO: 4.5%, −$14K Jan-Sep at $329/service (capped; raw $1,631/service)
HYUNDAI ST GEORGE: 5.8%, −$10K Jan-Sep at $176/service
SUBARU LV: 7.0%, −$8K Jan-Sep at $130/service
HYUNDAI PRESCOTT: 7.3%, −$905 Jan-Sep at $329/service (capped; raw $459/service)
HONDA NORTH: 7.6%, +$3K Jan-Sep at $118/service
LINCOLN: 8.2%, +$3K Jan-Sep at $175/service
KIA ST GEORGE: 8.9%, +$9K Jan-Sep at $154/service
ACURA: 9.3%, +$10K Jan-Sep at $145/service
SUBARU PRESCOTT: 9.7%, +$39K Jan-Sep at $329/service (capped; raw $406/service)
SUBARU ST GEORGE: 13.8%, +$54K Jan-Sep at $153/service
HONDA HENDERSON: 12.0%, +$138K Jan-Sep at $135/service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Every Store at Benchmark</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31520" y="1481328"/>
            <a:ext cx="10725912" cy="329184"/>
          </a:xfrm>
          <a:prstGeom prst="rect">
            <a:avLst/>
          </a:prstGeom>
          <a:noFill/>
          <a:ln/>
        </p:spPr>
        <p:txBody>
          <a:bodyPr wrap="square" lIns="0" tIns="0" rIns="0" bIns="0" rtlCol="0" anchor="ctr"/>
          <a:lstStyle/>
          <a:p>
            <a:pPr algn="ctr" indent="0" marL="0">
              <a:buNone/>
            </a:pPr>
            <a:r>
              <a:rPr lang="en-US" sz="1600" b="1" spc="140" kern="0" dirty="0">
                <a:solidFill>
                  <a:srgbClr val="0B2C4A"/>
                </a:solidFill>
                <a:latin typeface="Inter" pitchFamily="34" charset="0"/>
                <a:ea typeface="Inter" pitchFamily="34" charset="-122"/>
                <a:cs typeface="Inter" pitchFamily="34" charset="-120"/>
              </a:rPr>
              <a:t>IF EVERY STORE REACHED ALL FOUR BENCHMARKS</a:t>
            </a:r>
            <a:endParaRPr lang="en-US" sz="1600" dirty="0"/>
          </a:p>
        </p:txBody>
      </p:sp>
      <p:sp>
        <p:nvSpPr>
          <p:cNvPr id="7" name="Text 5"/>
          <p:cNvSpPr txBox="1"/>
          <p:nvPr/>
        </p:nvSpPr>
        <p:spPr>
          <a:xfrm>
            <a:off x="731520" y="1874520"/>
            <a:ext cx="10725912" cy="1234440"/>
          </a:xfrm>
          <a:prstGeom prst="rect">
            <a:avLst/>
          </a:prstGeom>
          <a:noFill/>
          <a:ln/>
        </p:spPr>
        <p:txBody>
          <a:bodyPr wrap="square" lIns="0" tIns="0" rIns="0" bIns="0" rtlCol="0" anchor="ctr"/>
          <a:lstStyle/>
          <a:p>
            <a:pPr algn="ctr" indent="0" marL="0">
              <a:buNone/>
            </a:pPr>
            <a:r>
              <a:rPr lang="en-US" sz="8000" b="1" dirty="0">
                <a:solidFill>
                  <a:srgbClr val="0B7A4A"/>
                </a:solidFill>
                <a:latin typeface="Inter" pitchFamily="34" charset="0"/>
                <a:ea typeface="Inter" pitchFamily="34" charset="-122"/>
                <a:cs typeface="Inter" pitchFamily="34" charset="-120"/>
              </a:rPr>
              <a:t>$4,895,199</a:t>
            </a:r>
            <a:endParaRPr lang="en-US" sz="8000" dirty="0"/>
          </a:p>
        </p:txBody>
      </p:sp>
      <p:sp>
        <p:nvSpPr>
          <p:cNvPr id="8" name="Text 6"/>
          <p:cNvSpPr txBox="1"/>
          <p:nvPr/>
        </p:nvSpPr>
        <p:spPr>
          <a:xfrm>
            <a:off x="731520" y="3090672"/>
            <a:ext cx="10725912" cy="411480"/>
          </a:xfrm>
          <a:prstGeom prst="rect">
            <a:avLst/>
          </a:prstGeom>
          <a:noFill/>
          <a:ln/>
        </p:spPr>
        <p:txBody>
          <a:bodyPr wrap="square" lIns="0" tIns="0" rIns="0" bIns="0" rtlCol="0" anchor="ctr"/>
          <a:lstStyle/>
          <a:p>
            <a:pPr algn="ctr" indent="0" marL="0">
              <a:buNone/>
            </a:pPr>
            <a:r>
              <a:rPr lang="en-US" sz="2000" dirty="0">
                <a:solidFill>
                  <a:srgbClr val="595959"/>
                </a:solidFill>
                <a:latin typeface="Inter" pitchFamily="34" charset="0"/>
                <a:ea typeface="Inter" pitchFamily="34" charset="-122"/>
                <a:cs typeface="Inter" pitchFamily="34" charset="-120"/>
              </a:rPr>
              <a:t>a year in labor and parts gross · about $407,933 a month</a:t>
            </a:r>
            <a:endParaRPr lang="en-US" sz="2000" dirty="0"/>
          </a:p>
        </p:txBody>
      </p:sp>
      <p:sp>
        <p:nvSpPr>
          <p:cNvPr id="9" name="Shape 7"/>
          <p:cNvSpPr/>
          <p:nvPr/>
        </p:nvSpPr>
        <p:spPr>
          <a:xfrm>
            <a:off x="736092" y="3794760"/>
            <a:ext cx="2542032" cy="1691640"/>
          </a:xfrm>
          <a:prstGeom prst="rect">
            <a:avLst/>
          </a:prstGeom>
          <a:solidFill>
            <a:srgbClr val="F7F7F7"/>
          </a:solidFill>
          <a:ln/>
        </p:spPr>
      </p:sp>
      <p:sp>
        <p:nvSpPr>
          <p:cNvPr id="10" name="Shape 8"/>
          <p:cNvSpPr/>
          <p:nvPr/>
        </p:nvSpPr>
        <p:spPr>
          <a:xfrm>
            <a:off x="736092" y="3794760"/>
            <a:ext cx="2542032" cy="64008"/>
          </a:xfrm>
          <a:prstGeom prst="rect">
            <a:avLst/>
          </a:prstGeom>
          <a:solidFill>
            <a:srgbClr val="12A566"/>
          </a:solidFill>
          <a:ln/>
        </p:spPr>
      </p:sp>
      <p:sp>
        <p:nvSpPr>
          <p:cNvPr id="11" name="Text 9"/>
          <p:cNvSpPr txBox="1"/>
          <p:nvPr/>
        </p:nvSpPr>
        <p:spPr>
          <a:xfrm>
            <a:off x="827532"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ALIGNMENT · 15%</a:t>
            </a:r>
            <a:endParaRPr lang="en-US" sz="1400" dirty="0"/>
          </a:p>
        </p:txBody>
      </p:sp>
      <p:sp>
        <p:nvSpPr>
          <p:cNvPr id="12" name="Text 10"/>
          <p:cNvSpPr txBox="1"/>
          <p:nvPr/>
        </p:nvSpPr>
        <p:spPr>
          <a:xfrm>
            <a:off x="827532"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$1,029,276</a:t>
            </a:r>
            <a:endParaRPr lang="en-US" sz="2600" dirty="0"/>
          </a:p>
        </p:txBody>
      </p:sp>
      <p:sp>
        <p:nvSpPr>
          <p:cNvPr id="13" name="Text 11"/>
          <p:cNvSpPr txBox="1"/>
          <p:nvPr/>
        </p:nvSpPr>
        <p:spPr>
          <a:xfrm>
            <a:off x="827532"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9,935 more services a year</a:t>
            </a:r>
            <a:endParaRPr lang="en-US" sz="1400" dirty="0"/>
          </a:p>
        </p:txBody>
      </p:sp>
      <p:sp>
        <p:nvSpPr>
          <p:cNvPr id="14" name="Shape 12"/>
          <p:cNvSpPr/>
          <p:nvPr/>
        </p:nvSpPr>
        <p:spPr>
          <a:xfrm>
            <a:off x="3461004" y="3794760"/>
            <a:ext cx="2542032" cy="1691640"/>
          </a:xfrm>
          <a:prstGeom prst="rect">
            <a:avLst/>
          </a:prstGeom>
          <a:solidFill>
            <a:srgbClr val="F7F7F7"/>
          </a:solidFill>
          <a:ln/>
        </p:spPr>
      </p:sp>
      <p:sp>
        <p:nvSpPr>
          <p:cNvPr id="15" name="Shape 13"/>
          <p:cNvSpPr/>
          <p:nvPr/>
        </p:nvSpPr>
        <p:spPr>
          <a:xfrm>
            <a:off x="3461004" y="3794760"/>
            <a:ext cx="2542032" cy="64008"/>
          </a:xfrm>
          <a:prstGeom prst="rect">
            <a:avLst/>
          </a:prstGeom>
          <a:solidFill>
            <a:srgbClr val="12A566"/>
          </a:solidFill>
          <a:ln/>
        </p:spPr>
      </p:sp>
      <p:sp>
        <p:nvSpPr>
          <p:cNvPr id="16" name="Text 14"/>
          <p:cNvSpPr txBox="1"/>
          <p:nvPr/>
        </p:nvSpPr>
        <p:spPr>
          <a:xfrm>
            <a:off x="3552444"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TIRE BALANCE · 15%</a:t>
            </a:r>
            <a:endParaRPr lang="en-US" sz="1400" dirty="0"/>
          </a:p>
        </p:txBody>
      </p:sp>
      <p:sp>
        <p:nvSpPr>
          <p:cNvPr id="17" name="Text 15"/>
          <p:cNvSpPr txBox="1"/>
          <p:nvPr/>
        </p:nvSpPr>
        <p:spPr>
          <a:xfrm>
            <a:off x="3552444"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$1,664,385</a:t>
            </a:r>
            <a:endParaRPr lang="en-US" sz="2600" dirty="0"/>
          </a:p>
        </p:txBody>
      </p:sp>
      <p:sp>
        <p:nvSpPr>
          <p:cNvPr id="18" name="Text 16"/>
          <p:cNvSpPr txBox="1"/>
          <p:nvPr/>
        </p:nvSpPr>
        <p:spPr>
          <a:xfrm>
            <a:off x="3552444"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26,062 more services a year</a:t>
            </a:r>
            <a:endParaRPr lang="en-US" sz="1400" dirty="0"/>
          </a:p>
        </p:txBody>
      </p:sp>
      <p:sp>
        <p:nvSpPr>
          <p:cNvPr id="19" name="Shape 17"/>
          <p:cNvSpPr/>
          <p:nvPr/>
        </p:nvSpPr>
        <p:spPr>
          <a:xfrm>
            <a:off x="6185916" y="3794760"/>
            <a:ext cx="2542032" cy="1691640"/>
          </a:xfrm>
          <a:prstGeom prst="rect">
            <a:avLst/>
          </a:prstGeom>
          <a:solidFill>
            <a:srgbClr val="F7F7F7"/>
          </a:solidFill>
          <a:ln/>
        </p:spPr>
      </p:sp>
      <p:sp>
        <p:nvSpPr>
          <p:cNvPr id="20" name="Shape 18"/>
          <p:cNvSpPr/>
          <p:nvPr/>
        </p:nvSpPr>
        <p:spPr>
          <a:xfrm>
            <a:off x="6185916" y="3794760"/>
            <a:ext cx="2542032" cy="64008"/>
          </a:xfrm>
          <a:prstGeom prst="rect">
            <a:avLst/>
          </a:prstGeom>
          <a:solidFill>
            <a:srgbClr val="12A566"/>
          </a:solidFill>
          <a:ln/>
        </p:spPr>
      </p:sp>
      <p:sp>
        <p:nvSpPr>
          <p:cNvPr id="21" name="Text 19"/>
          <p:cNvSpPr txBox="1"/>
          <p:nvPr/>
        </p:nvSpPr>
        <p:spPr>
          <a:xfrm>
            <a:off x="6277356"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BRAKE FLUID · 10%</a:t>
            </a:r>
            <a:endParaRPr lang="en-US" sz="1400" dirty="0"/>
          </a:p>
        </p:txBody>
      </p:sp>
      <p:sp>
        <p:nvSpPr>
          <p:cNvPr id="22" name="Text 20"/>
          <p:cNvSpPr txBox="1"/>
          <p:nvPr/>
        </p:nvSpPr>
        <p:spPr>
          <a:xfrm>
            <a:off x="6277356"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$844,657</a:t>
            </a:r>
            <a:endParaRPr lang="en-US" sz="2600" dirty="0"/>
          </a:p>
        </p:txBody>
      </p:sp>
      <p:sp>
        <p:nvSpPr>
          <p:cNvPr id="23" name="Text 21"/>
          <p:cNvSpPr txBox="1"/>
          <p:nvPr/>
        </p:nvSpPr>
        <p:spPr>
          <a:xfrm>
            <a:off x="6277356"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5,919 more services a year</a:t>
            </a:r>
            <a:endParaRPr lang="en-US" sz="1400" dirty="0"/>
          </a:p>
        </p:txBody>
      </p:sp>
      <p:sp>
        <p:nvSpPr>
          <p:cNvPr id="24" name="Shape 22"/>
          <p:cNvSpPr/>
          <p:nvPr/>
        </p:nvSpPr>
        <p:spPr>
          <a:xfrm>
            <a:off x="8910828" y="3794760"/>
            <a:ext cx="2542032" cy="1691640"/>
          </a:xfrm>
          <a:prstGeom prst="rect">
            <a:avLst/>
          </a:prstGeom>
          <a:solidFill>
            <a:srgbClr val="F7F7F7"/>
          </a:solidFill>
          <a:ln/>
        </p:spPr>
      </p:sp>
      <p:sp>
        <p:nvSpPr>
          <p:cNvPr id="25" name="Shape 23"/>
          <p:cNvSpPr/>
          <p:nvPr/>
        </p:nvSpPr>
        <p:spPr>
          <a:xfrm>
            <a:off x="8910828" y="3794760"/>
            <a:ext cx="2542032" cy="64008"/>
          </a:xfrm>
          <a:prstGeom prst="rect">
            <a:avLst/>
          </a:prstGeom>
          <a:solidFill>
            <a:srgbClr val="12A566"/>
          </a:solidFill>
          <a:ln/>
        </p:spPr>
      </p:sp>
      <p:sp>
        <p:nvSpPr>
          <p:cNvPr id="26" name="Text 24"/>
          <p:cNvSpPr txBox="1"/>
          <p:nvPr/>
        </p:nvSpPr>
        <p:spPr>
          <a:xfrm>
            <a:off x="9002268"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FUEL SERVICE · 7.5%</a:t>
            </a:r>
            <a:endParaRPr lang="en-US" sz="1400" dirty="0"/>
          </a:p>
        </p:txBody>
      </p:sp>
      <p:sp>
        <p:nvSpPr>
          <p:cNvPr id="27" name="Text 25"/>
          <p:cNvSpPr txBox="1"/>
          <p:nvPr/>
        </p:nvSpPr>
        <p:spPr>
          <a:xfrm>
            <a:off x="9002268"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$1,356,881</a:t>
            </a:r>
            <a:endParaRPr lang="en-US" sz="2600" dirty="0"/>
          </a:p>
        </p:txBody>
      </p:sp>
      <p:sp>
        <p:nvSpPr>
          <p:cNvPr id="28" name="Text 26"/>
          <p:cNvSpPr txBox="1"/>
          <p:nvPr/>
        </p:nvSpPr>
        <p:spPr>
          <a:xfrm>
            <a:off x="9002268"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8,527 more services a year</a:t>
            </a:r>
            <a:endParaRPr lang="en-US" sz="1400" dirty="0"/>
          </a:p>
        </p:txBody>
      </p:sp>
      <p:sp>
        <p:nvSpPr>
          <p:cNvPr id="29" name="Shape 27"/>
          <p:cNvSpPr/>
          <p:nvPr/>
        </p:nvSpPr>
        <p:spPr>
          <a:xfrm>
            <a:off x="457200" y="6126480"/>
            <a:ext cx="11274552" cy="371856"/>
          </a:xfrm>
          <a:prstGeom prst="rect">
            <a:avLst/>
          </a:prstGeom>
          <a:solidFill>
            <a:srgbClr val="E6F6EE"/>
          </a:solidFill>
          <a:ln/>
        </p:spPr>
      </p:sp>
      <p:sp>
        <p:nvSpPr>
          <p:cNvPr id="30" name="Text 2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50,442 more services a year on cars already in our drives. No new customers needed.</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JAN–SEP 2026 YTD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Variance from Benchmark by Store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4818888" y="1316736"/>
            <a:ext cx="10972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7" name="Shape 5"/>
          <p:cNvSpPr/>
          <p:nvPr/>
        </p:nvSpPr>
        <p:spPr>
          <a:xfrm>
            <a:off x="3795511" y="1700784"/>
            <a:ext cx="10973" cy="4224528"/>
          </a:xfrm>
          <a:prstGeom prst="rect">
            <a:avLst/>
          </a:prstGeom>
          <a:solidFill>
            <a:srgbClr val="9AA3AD"/>
          </a:solidFill>
          <a:ln/>
        </p:spPr>
      </p:sp>
      <p:sp>
        <p:nvSpPr>
          <p:cNvPr id="8" name="Text 6"/>
          <p:cNvSpPr txBox="1"/>
          <p:nvPr/>
        </p:nvSpPr>
        <p:spPr>
          <a:xfrm>
            <a:off x="10369296" y="1316736"/>
            <a:ext cx="10972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9" name="Shape 7"/>
          <p:cNvSpPr/>
          <p:nvPr/>
        </p:nvSpPr>
        <p:spPr>
          <a:xfrm>
            <a:off x="9345919" y="1700784"/>
            <a:ext cx="10973" cy="3976026"/>
          </a:xfrm>
          <a:prstGeom prst="rect">
            <a:avLst/>
          </a:prstGeom>
          <a:solidFill>
            <a:srgbClr val="9AA3AD"/>
          </a:solidFill>
          <a:ln/>
        </p:spPr>
      </p:sp>
      <p:sp>
        <p:nvSpPr>
          <p:cNvPr id="10" name="Text 8"/>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1" name="Text 9"/>
          <p:cNvSpPr txBox="1"/>
          <p:nvPr/>
        </p:nvSpPr>
        <p:spPr>
          <a:xfrm>
            <a:off x="1014984"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2" name="Shape 10"/>
          <p:cNvSpPr/>
          <p:nvPr/>
        </p:nvSpPr>
        <p:spPr>
          <a:xfrm>
            <a:off x="3800997" y="1756697"/>
            <a:ext cx="963027" cy="136676"/>
          </a:xfrm>
          <a:prstGeom prst="rect">
            <a:avLst/>
          </a:prstGeom>
          <a:solidFill>
            <a:srgbClr val="12A566"/>
          </a:solidFill>
          <a:ln/>
        </p:spPr>
      </p:sp>
      <p:sp>
        <p:nvSpPr>
          <p:cNvPr id="13" name="Text 11"/>
          <p:cNvSpPr txBox="1"/>
          <p:nvPr/>
        </p:nvSpPr>
        <p:spPr>
          <a:xfrm>
            <a:off x="4818888" y="1700784"/>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+$557K</a:t>
            </a:r>
            <a:endParaRPr lang="en-US" sz="1300" dirty="0"/>
          </a:p>
        </p:txBody>
      </p:sp>
      <p:sp>
        <p:nvSpPr>
          <p:cNvPr id="14" name="Text 12"/>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5" name="Text 13"/>
          <p:cNvSpPr txBox="1"/>
          <p:nvPr/>
        </p:nvSpPr>
        <p:spPr>
          <a:xfrm>
            <a:off x="1014984"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6" name="Shape 14"/>
          <p:cNvSpPr/>
          <p:nvPr/>
        </p:nvSpPr>
        <p:spPr>
          <a:xfrm>
            <a:off x="3800997" y="2005199"/>
            <a:ext cx="260306" cy="136676"/>
          </a:xfrm>
          <a:prstGeom prst="rect">
            <a:avLst/>
          </a:prstGeom>
          <a:solidFill>
            <a:srgbClr val="12A566"/>
          </a:solidFill>
          <a:ln/>
        </p:spPr>
      </p:sp>
      <p:sp>
        <p:nvSpPr>
          <p:cNvPr id="17" name="Text 15"/>
          <p:cNvSpPr txBox="1"/>
          <p:nvPr/>
        </p:nvSpPr>
        <p:spPr>
          <a:xfrm>
            <a:off x="4818888" y="1949286"/>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+$151K</a:t>
            </a:r>
            <a:endParaRPr lang="en-US" sz="1300" dirty="0"/>
          </a:p>
        </p:txBody>
      </p:sp>
      <p:sp>
        <p:nvSpPr>
          <p:cNvPr id="18" name="Text 16"/>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19" name="Text 17"/>
          <p:cNvSpPr txBox="1"/>
          <p:nvPr/>
        </p:nvSpPr>
        <p:spPr>
          <a:xfrm>
            <a:off x="1014984"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20" name="Shape 18"/>
          <p:cNvSpPr/>
          <p:nvPr/>
        </p:nvSpPr>
        <p:spPr>
          <a:xfrm>
            <a:off x="3800997" y="2253700"/>
            <a:ext cx="92755" cy="136676"/>
          </a:xfrm>
          <a:prstGeom prst="rect">
            <a:avLst/>
          </a:prstGeom>
          <a:solidFill>
            <a:srgbClr val="12A566"/>
          </a:solidFill>
          <a:ln/>
        </p:spPr>
      </p:sp>
      <p:sp>
        <p:nvSpPr>
          <p:cNvPr id="21" name="Text 19"/>
          <p:cNvSpPr txBox="1"/>
          <p:nvPr/>
        </p:nvSpPr>
        <p:spPr>
          <a:xfrm>
            <a:off x="4818888" y="2197787"/>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+$54K</a:t>
            </a:r>
            <a:endParaRPr lang="en-US" sz="1300" dirty="0"/>
          </a:p>
        </p:txBody>
      </p:sp>
      <p:sp>
        <p:nvSpPr>
          <p:cNvPr id="22" name="Text 20"/>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3" name="Text 21"/>
          <p:cNvSpPr txBox="1"/>
          <p:nvPr/>
        </p:nvSpPr>
        <p:spPr>
          <a:xfrm>
            <a:off x="1014984"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24" name="Shape 22"/>
          <p:cNvSpPr/>
          <p:nvPr/>
        </p:nvSpPr>
        <p:spPr>
          <a:xfrm>
            <a:off x="3800997" y="2502202"/>
            <a:ext cx="77707" cy="136676"/>
          </a:xfrm>
          <a:prstGeom prst="rect">
            <a:avLst/>
          </a:prstGeom>
          <a:solidFill>
            <a:srgbClr val="12A566"/>
          </a:solidFill>
          <a:ln/>
        </p:spPr>
      </p:sp>
      <p:sp>
        <p:nvSpPr>
          <p:cNvPr id="25" name="Text 23"/>
          <p:cNvSpPr txBox="1"/>
          <p:nvPr/>
        </p:nvSpPr>
        <p:spPr>
          <a:xfrm>
            <a:off x="4818888" y="2446289"/>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+$45K</a:t>
            </a:r>
            <a:endParaRPr lang="en-US" sz="1300" dirty="0"/>
          </a:p>
        </p:txBody>
      </p:sp>
      <p:sp>
        <p:nvSpPr>
          <p:cNvPr id="26" name="Text 24"/>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7" name="Text 25"/>
          <p:cNvSpPr txBox="1"/>
          <p:nvPr/>
        </p:nvSpPr>
        <p:spPr>
          <a:xfrm>
            <a:off x="1014984"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28" name="Shape 26"/>
          <p:cNvSpPr/>
          <p:nvPr/>
        </p:nvSpPr>
        <p:spPr>
          <a:xfrm>
            <a:off x="3800997" y="2750703"/>
            <a:ext cx="71427" cy="136676"/>
          </a:xfrm>
          <a:prstGeom prst="rect">
            <a:avLst/>
          </a:prstGeom>
          <a:solidFill>
            <a:srgbClr val="12A566"/>
          </a:solidFill>
          <a:ln/>
        </p:spPr>
      </p:sp>
      <p:sp>
        <p:nvSpPr>
          <p:cNvPr id="29" name="Text 27"/>
          <p:cNvSpPr txBox="1"/>
          <p:nvPr/>
        </p:nvSpPr>
        <p:spPr>
          <a:xfrm>
            <a:off x="4818888" y="2694791"/>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+$41K</a:t>
            </a:r>
            <a:endParaRPr lang="en-US" sz="1300" dirty="0"/>
          </a:p>
        </p:txBody>
      </p:sp>
      <p:sp>
        <p:nvSpPr>
          <p:cNvPr id="30" name="Text 28"/>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1" name="Text 29"/>
          <p:cNvSpPr txBox="1"/>
          <p:nvPr/>
        </p:nvSpPr>
        <p:spPr>
          <a:xfrm>
            <a:off x="1014984"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32" name="Shape 30"/>
          <p:cNvSpPr/>
          <p:nvPr/>
        </p:nvSpPr>
        <p:spPr>
          <a:xfrm>
            <a:off x="3800997" y="2999205"/>
            <a:ext cx="57698" cy="136676"/>
          </a:xfrm>
          <a:prstGeom prst="rect">
            <a:avLst/>
          </a:prstGeom>
          <a:solidFill>
            <a:srgbClr val="12A566"/>
          </a:solidFill>
          <a:ln/>
        </p:spPr>
      </p:sp>
      <p:sp>
        <p:nvSpPr>
          <p:cNvPr id="33" name="Text 31"/>
          <p:cNvSpPr txBox="1"/>
          <p:nvPr/>
        </p:nvSpPr>
        <p:spPr>
          <a:xfrm>
            <a:off x="4818888" y="2943292"/>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+$33K</a:t>
            </a:r>
            <a:endParaRPr lang="en-US" sz="1300" dirty="0"/>
          </a:p>
        </p:txBody>
      </p:sp>
      <p:sp>
        <p:nvSpPr>
          <p:cNvPr id="34" name="Text 32"/>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5" name="Text 33"/>
          <p:cNvSpPr txBox="1"/>
          <p:nvPr/>
        </p:nvSpPr>
        <p:spPr>
          <a:xfrm>
            <a:off x="1014984"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36" name="Shape 34"/>
          <p:cNvSpPr/>
          <p:nvPr/>
        </p:nvSpPr>
        <p:spPr>
          <a:xfrm>
            <a:off x="3800997" y="3247707"/>
            <a:ext cx="40337" cy="136676"/>
          </a:xfrm>
          <a:prstGeom prst="rect">
            <a:avLst/>
          </a:prstGeom>
          <a:solidFill>
            <a:srgbClr val="12A566"/>
          </a:solidFill>
          <a:ln/>
        </p:spPr>
      </p:sp>
      <p:sp>
        <p:nvSpPr>
          <p:cNvPr id="37" name="Text 35"/>
          <p:cNvSpPr txBox="1"/>
          <p:nvPr/>
        </p:nvSpPr>
        <p:spPr>
          <a:xfrm>
            <a:off x="4818888" y="3191794"/>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+$23K</a:t>
            </a:r>
            <a:endParaRPr lang="en-US" sz="1300" dirty="0"/>
          </a:p>
        </p:txBody>
      </p:sp>
      <p:sp>
        <p:nvSpPr>
          <p:cNvPr id="38" name="Text 36"/>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39" name="Text 37"/>
          <p:cNvSpPr txBox="1"/>
          <p:nvPr/>
        </p:nvSpPr>
        <p:spPr>
          <a:xfrm>
            <a:off x="1014984"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40" name="Shape 38"/>
          <p:cNvSpPr/>
          <p:nvPr/>
        </p:nvSpPr>
        <p:spPr>
          <a:xfrm>
            <a:off x="3762731" y="3496208"/>
            <a:ext cx="38266" cy="136676"/>
          </a:xfrm>
          <a:prstGeom prst="rect">
            <a:avLst/>
          </a:prstGeom>
          <a:solidFill>
            <a:srgbClr val="C2352F"/>
          </a:solidFill>
          <a:ln/>
        </p:spPr>
      </p:sp>
      <p:sp>
        <p:nvSpPr>
          <p:cNvPr id="41" name="Text 39"/>
          <p:cNvSpPr txBox="1"/>
          <p:nvPr/>
        </p:nvSpPr>
        <p:spPr>
          <a:xfrm>
            <a:off x="4818888" y="344029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−$22K</a:t>
            </a:r>
            <a:endParaRPr lang="en-US" sz="1300" dirty="0"/>
          </a:p>
        </p:txBody>
      </p:sp>
      <p:sp>
        <p:nvSpPr>
          <p:cNvPr id="42" name="Text 40"/>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3" name="Text 41"/>
          <p:cNvSpPr txBox="1"/>
          <p:nvPr/>
        </p:nvSpPr>
        <p:spPr>
          <a:xfrm>
            <a:off x="1014984"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44" name="Shape 42"/>
          <p:cNvSpPr/>
          <p:nvPr/>
        </p:nvSpPr>
        <p:spPr>
          <a:xfrm>
            <a:off x="3752270" y="3744710"/>
            <a:ext cx="48727" cy="136676"/>
          </a:xfrm>
          <a:prstGeom prst="rect">
            <a:avLst/>
          </a:prstGeom>
          <a:solidFill>
            <a:srgbClr val="C2352F"/>
          </a:solidFill>
          <a:ln/>
        </p:spPr>
      </p:sp>
      <p:sp>
        <p:nvSpPr>
          <p:cNvPr id="45" name="Text 43"/>
          <p:cNvSpPr txBox="1"/>
          <p:nvPr/>
        </p:nvSpPr>
        <p:spPr>
          <a:xfrm>
            <a:off x="4818888" y="368879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−$28K</a:t>
            </a:r>
            <a:endParaRPr lang="en-US" sz="1300" dirty="0"/>
          </a:p>
        </p:txBody>
      </p:sp>
      <p:sp>
        <p:nvSpPr>
          <p:cNvPr id="46" name="Text 44"/>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7" name="Text 45"/>
          <p:cNvSpPr txBox="1"/>
          <p:nvPr/>
        </p:nvSpPr>
        <p:spPr>
          <a:xfrm>
            <a:off x="1014984"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48" name="Shape 46"/>
          <p:cNvSpPr/>
          <p:nvPr/>
        </p:nvSpPr>
        <p:spPr>
          <a:xfrm>
            <a:off x="3751591" y="3993212"/>
            <a:ext cx="49407" cy="136676"/>
          </a:xfrm>
          <a:prstGeom prst="rect">
            <a:avLst/>
          </a:prstGeom>
          <a:solidFill>
            <a:srgbClr val="C2352F"/>
          </a:solidFill>
          <a:ln/>
        </p:spPr>
      </p:sp>
      <p:sp>
        <p:nvSpPr>
          <p:cNvPr id="49" name="Text 47"/>
          <p:cNvSpPr txBox="1"/>
          <p:nvPr/>
        </p:nvSpPr>
        <p:spPr>
          <a:xfrm>
            <a:off x="4818888" y="393729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−$29K</a:t>
            </a:r>
            <a:endParaRPr lang="en-US" sz="1300" dirty="0"/>
          </a:p>
        </p:txBody>
      </p:sp>
      <p:sp>
        <p:nvSpPr>
          <p:cNvPr id="50" name="Text 48"/>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1" name="Text 49"/>
          <p:cNvSpPr txBox="1"/>
          <p:nvPr/>
        </p:nvSpPr>
        <p:spPr>
          <a:xfrm>
            <a:off x="1014984"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52" name="Shape 50"/>
          <p:cNvSpPr/>
          <p:nvPr/>
        </p:nvSpPr>
        <p:spPr>
          <a:xfrm>
            <a:off x="3745550" y="4241713"/>
            <a:ext cx="55448" cy="136676"/>
          </a:xfrm>
          <a:prstGeom prst="rect">
            <a:avLst/>
          </a:prstGeom>
          <a:solidFill>
            <a:srgbClr val="C2352F"/>
          </a:solidFill>
          <a:ln/>
        </p:spPr>
      </p:sp>
      <p:sp>
        <p:nvSpPr>
          <p:cNvPr id="53" name="Text 51"/>
          <p:cNvSpPr txBox="1"/>
          <p:nvPr/>
        </p:nvSpPr>
        <p:spPr>
          <a:xfrm>
            <a:off x="4818888" y="418580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−$32K</a:t>
            </a:r>
            <a:endParaRPr lang="en-US" sz="1300" dirty="0"/>
          </a:p>
        </p:txBody>
      </p:sp>
      <p:sp>
        <p:nvSpPr>
          <p:cNvPr id="54" name="Text 52"/>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5" name="Text 53"/>
          <p:cNvSpPr txBox="1"/>
          <p:nvPr/>
        </p:nvSpPr>
        <p:spPr>
          <a:xfrm>
            <a:off x="1014984"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56" name="Shape 54"/>
          <p:cNvSpPr/>
          <p:nvPr/>
        </p:nvSpPr>
        <p:spPr>
          <a:xfrm>
            <a:off x="3729945" y="4490215"/>
            <a:ext cx="71053" cy="136676"/>
          </a:xfrm>
          <a:prstGeom prst="rect">
            <a:avLst/>
          </a:prstGeom>
          <a:solidFill>
            <a:srgbClr val="C2352F"/>
          </a:solidFill>
          <a:ln/>
        </p:spPr>
      </p:sp>
      <p:sp>
        <p:nvSpPr>
          <p:cNvPr id="57" name="Text 55"/>
          <p:cNvSpPr txBox="1"/>
          <p:nvPr/>
        </p:nvSpPr>
        <p:spPr>
          <a:xfrm>
            <a:off x="4818888" y="443430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−$41K</a:t>
            </a:r>
            <a:endParaRPr lang="en-US" sz="1300" dirty="0"/>
          </a:p>
        </p:txBody>
      </p:sp>
      <p:sp>
        <p:nvSpPr>
          <p:cNvPr id="58" name="Text 56"/>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59" name="Text 57"/>
          <p:cNvSpPr txBox="1"/>
          <p:nvPr/>
        </p:nvSpPr>
        <p:spPr>
          <a:xfrm>
            <a:off x="1014984"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60" name="Shape 58"/>
          <p:cNvSpPr/>
          <p:nvPr/>
        </p:nvSpPr>
        <p:spPr>
          <a:xfrm>
            <a:off x="3718481" y="4738717"/>
            <a:ext cx="82517" cy="136676"/>
          </a:xfrm>
          <a:prstGeom prst="rect">
            <a:avLst/>
          </a:prstGeom>
          <a:solidFill>
            <a:srgbClr val="C2352F"/>
          </a:solidFill>
          <a:ln/>
        </p:spPr>
      </p:sp>
      <p:sp>
        <p:nvSpPr>
          <p:cNvPr id="61" name="Text 59"/>
          <p:cNvSpPr txBox="1"/>
          <p:nvPr/>
        </p:nvSpPr>
        <p:spPr>
          <a:xfrm>
            <a:off x="4818888" y="468280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−$48K</a:t>
            </a:r>
            <a:endParaRPr lang="en-US" sz="1300" dirty="0"/>
          </a:p>
        </p:txBody>
      </p:sp>
      <p:sp>
        <p:nvSpPr>
          <p:cNvPr id="62" name="Text 60"/>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3" name="Text 61"/>
          <p:cNvSpPr txBox="1"/>
          <p:nvPr/>
        </p:nvSpPr>
        <p:spPr>
          <a:xfrm>
            <a:off x="1014984"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64" name="Shape 62"/>
          <p:cNvSpPr/>
          <p:nvPr/>
        </p:nvSpPr>
        <p:spPr>
          <a:xfrm>
            <a:off x="3710263" y="4987218"/>
            <a:ext cx="90735" cy="136676"/>
          </a:xfrm>
          <a:prstGeom prst="rect">
            <a:avLst/>
          </a:prstGeom>
          <a:solidFill>
            <a:srgbClr val="C2352F"/>
          </a:solidFill>
          <a:ln/>
        </p:spPr>
      </p:sp>
      <p:sp>
        <p:nvSpPr>
          <p:cNvPr id="65" name="Text 63"/>
          <p:cNvSpPr txBox="1"/>
          <p:nvPr/>
        </p:nvSpPr>
        <p:spPr>
          <a:xfrm>
            <a:off x="4818888" y="4931305"/>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−$53K</a:t>
            </a:r>
            <a:endParaRPr lang="en-US" sz="1300" dirty="0"/>
          </a:p>
        </p:txBody>
      </p:sp>
      <p:sp>
        <p:nvSpPr>
          <p:cNvPr id="66" name="Text 64"/>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7" name="Text 65"/>
          <p:cNvSpPr txBox="1"/>
          <p:nvPr/>
        </p:nvSpPr>
        <p:spPr>
          <a:xfrm>
            <a:off x="1014984"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68" name="Shape 66"/>
          <p:cNvSpPr/>
          <p:nvPr/>
        </p:nvSpPr>
        <p:spPr>
          <a:xfrm>
            <a:off x="3698735" y="5235720"/>
            <a:ext cx="102262" cy="136676"/>
          </a:xfrm>
          <a:prstGeom prst="rect">
            <a:avLst/>
          </a:prstGeom>
          <a:solidFill>
            <a:srgbClr val="C2352F"/>
          </a:solidFill>
          <a:ln/>
        </p:spPr>
      </p:sp>
      <p:sp>
        <p:nvSpPr>
          <p:cNvPr id="69" name="Text 67"/>
          <p:cNvSpPr txBox="1"/>
          <p:nvPr/>
        </p:nvSpPr>
        <p:spPr>
          <a:xfrm>
            <a:off x="4818888" y="517980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−$59K</a:t>
            </a:r>
            <a:endParaRPr lang="en-US" sz="1300" dirty="0"/>
          </a:p>
        </p:txBody>
      </p:sp>
      <p:sp>
        <p:nvSpPr>
          <p:cNvPr id="70" name="Text 68"/>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1" name="Text 69"/>
          <p:cNvSpPr txBox="1"/>
          <p:nvPr/>
        </p:nvSpPr>
        <p:spPr>
          <a:xfrm>
            <a:off x="1014984"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72" name="Shape 70"/>
          <p:cNvSpPr/>
          <p:nvPr/>
        </p:nvSpPr>
        <p:spPr>
          <a:xfrm>
            <a:off x="3697071" y="5484222"/>
            <a:ext cx="103926" cy="136676"/>
          </a:xfrm>
          <a:prstGeom prst="rect">
            <a:avLst/>
          </a:prstGeom>
          <a:solidFill>
            <a:srgbClr val="C2352F"/>
          </a:solidFill>
          <a:ln/>
        </p:spPr>
      </p:sp>
      <p:sp>
        <p:nvSpPr>
          <p:cNvPr id="73" name="Text 71"/>
          <p:cNvSpPr txBox="1"/>
          <p:nvPr/>
        </p:nvSpPr>
        <p:spPr>
          <a:xfrm>
            <a:off x="4818888" y="542830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−$60K</a:t>
            </a:r>
            <a:endParaRPr lang="en-US" sz="1300" dirty="0"/>
          </a:p>
        </p:txBody>
      </p:sp>
      <p:sp>
        <p:nvSpPr>
          <p:cNvPr id="74" name="Text 72"/>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5" name="Text 73"/>
          <p:cNvSpPr txBox="1"/>
          <p:nvPr/>
        </p:nvSpPr>
        <p:spPr>
          <a:xfrm>
            <a:off x="1014984" y="567681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76" name="Shape 74"/>
          <p:cNvSpPr/>
          <p:nvPr/>
        </p:nvSpPr>
        <p:spPr>
          <a:xfrm>
            <a:off x="3696290" y="5732723"/>
            <a:ext cx="104707" cy="136676"/>
          </a:xfrm>
          <a:prstGeom prst="rect">
            <a:avLst/>
          </a:prstGeom>
          <a:solidFill>
            <a:srgbClr val="C2352F"/>
          </a:solidFill>
          <a:ln/>
        </p:spPr>
      </p:sp>
      <p:sp>
        <p:nvSpPr>
          <p:cNvPr id="77" name="Text 75"/>
          <p:cNvSpPr txBox="1"/>
          <p:nvPr/>
        </p:nvSpPr>
        <p:spPr>
          <a:xfrm>
            <a:off x="4818888" y="567681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−$61K</a:t>
            </a:r>
            <a:endParaRPr lang="en-US" sz="1300" dirty="0"/>
          </a:p>
        </p:txBody>
      </p:sp>
      <p:sp>
        <p:nvSpPr>
          <p:cNvPr id="78" name="Text 76"/>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79" name="Text 77"/>
          <p:cNvSpPr txBox="1"/>
          <p:nvPr/>
        </p:nvSpPr>
        <p:spPr>
          <a:xfrm>
            <a:off x="6565392"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80" name="Shape 78"/>
          <p:cNvSpPr/>
          <p:nvPr/>
        </p:nvSpPr>
        <p:spPr>
          <a:xfrm>
            <a:off x="9237983" y="1756697"/>
            <a:ext cx="113423" cy="136676"/>
          </a:xfrm>
          <a:prstGeom prst="rect">
            <a:avLst/>
          </a:prstGeom>
          <a:solidFill>
            <a:srgbClr val="C2352F"/>
          </a:solidFill>
          <a:ln/>
        </p:spPr>
      </p:sp>
      <p:sp>
        <p:nvSpPr>
          <p:cNvPr id="81" name="Text 79"/>
          <p:cNvSpPr txBox="1"/>
          <p:nvPr/>
        </p:nvSpPr>
        <p:spPr>
          <a:xfrm>
            <a:off x="10369296" y="170078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−$66K</a:t>
            </a:r>
            <a:endParaRPr lang="en-US" sz="1300" dirty="0"/>
          </a:p>
        </p:txBody>
      </p:sp>
      <p:sp>
        <p:nvSpPr>
          <p:cNvPr id="82" name="Text 80"/>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3" name="Text 81"/>
          <p:cNvSpPr txBox="1"/>
          <p:nvPr/>
        </p:nvSpPr>
        <p:spPr>
          <a:xfrm>
            <a:off x="6565392"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84" name="Shape 82"/>
          <p:cNvSpPr/>
          <p:nvPr/>
        </p:nvSpPr>
        <p:spPr>
          <a:xfrm>
            <a:off x="9188179" y="2005199"/>
            <a:ext cx="163227" cy="136676"/>
          </a:xfrm>
          <a:prstGeom prst="rect">
            <a:avLst/>
          </a:prstGeom>
          <a:solidFill>
            <a:srgbClr val="C2352F"/>
          </a:solidFill>
          <a:ln/>
        </p:spPr>
      </p:sp>
      <p:sp>
        <p:nvSpPr>
          <p:cNvPr id="85" name="Text 83"/>
          <p:cNvSpPr txBox="1"/>
          <p:nvPr/>
        </p:nvSpPr>
        <p:spPr>
          <a:xfrm>
            <a:off x="10369296" y="194928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−$94K</a:t>
            </a:r>
            <a:endParaRPr lang="en-US" sz="1300" dirty="0"/>
          </a:p>
        </p:txBody>
      </p:sp>
      <p:sp>
        <p:nvSpPr>
          <p:cNvPr id="86" name="Text 84"/>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7" name="Text 85"/>
          <p:cNvSpPr txBox="1"/>
          <p:nvPr/>
        </p:nvSpPr>
        <p:spPr>
          <a:xfrm>
            <a:off x="6565392"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88" name="Shape 86"/>
          <p:cNvSpPr/>
          <p:nvPr/>
        </p:nvSpPr>
        <p:spPr>
          <a:xfrm>
            <a:off x="9179400" y="2253700"/>
            <a:ext cx="172006" cy="136676"/>
          </a:xfrm>
          <a:prstGeom prst="rect">
            <a:avLst/>
          </a:prstGeom>
          <a:solidFill>
            <a:srgbClr val="C2352F"/>
          </a:solidFill>
          <a:ln/>
        </p:spPr>
      </p:sp>
      <p:sp>
        <p:nvSpPr>
          <p:cNvPr id="89" name="Text 87"/>
          <p:cNvSpPr txBox="1"/>
          <p:nvPr/>
        </p:nvSpPr>
        <p:spPr>
          <a:xfrm>
            <a:off x="10369296" y="219778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−$100K</a:t>
            </a:r>
            <a:endParaRPr lang="en-US" sz="1300" dirty="0"/>
          </a:p>
        </p:txBody>
      </p:sp>
      <p:sp>
        <p:nvSpPr>
          <p:cNvPr id="90" name="Text 88"/>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1" name="Text 89"/>
          <p:cNvSpPr txBox="1"/>
          <p:nvPr/>
        </p:nvSpPr>
        <p:spPr>
          <a:xfrm>
            <a:off x="6565392"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92" name="Shape 90"/>
          <p:cNvSpPr/>
          <p:nvPr/>
        </p:nvSpPr>
        <p:spPr>
          <a:xfrm>
            <a:off x="9170174" y="2502202"/>
            <a:ext cx="181231" cy="136676"/>
          </a:xfrm>
          <a:prstGeom prst="rect">
            <a:avLst/>
          </a:prstGeom>
          <a:solidFill>
            <a:srgbClr val="C2352F"/>
          </a:solidFill>
          <a:ln/>
        </p:spPr>
      </p:sp>
      <p:sp>
        <p:nvSpPr>
          <p:cNvPr id="93" name="Text 91"/>
          <p:cNvSpPr txBox="1"/>
          <p:nvPr/>
        </p:nvSpPr>
        <p:spPr>
          <a:xfrm>
            <a:off x="10369296" y="244628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−$105K</a:t>
            </a:r>
            <a:endParaRPr lang="en-US" sz="1300" dirty="0"/>
          </a:p>
        </p:txBody>
      </p:sp>
      <p:sp>
        <p:nvSpPr>
          <p:cNvPr id="94" name="Text 92"/>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5" name="Text 93"/>
          <p:cNvSpPr txBox="1"/>
          <p:nvPr/>
        </p:nvSpPr>
        <p:spPr>
          <a:xfrm>
            <a:off x="6565392"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96" name="Shape 94"/>
          <p:cNvSpPr/>
          <p:nvPr/>
        </p:nvSpPr>
        <p:spPr>
          <a:xfrm>
            <a:off x="9169305" y="2750703"/>
            <a:ext cx="182101" cy="136676"/>
          </a:xfrm>
          <a:prstGeom prst="rect">
            <a:avLst/>
          </a:prstGeom>
          <a:solidFill>
            <a:srgbClr val="C2352F"/>
          </a:solidFill>
          <a:ln/>
        </p:spPr>
      </p:sp>
      <p:sp>
        <p:nvSpPr>
          <p:cNvPr id="97" name="Text 95"/>
          <p:cNvSpPr txBox="1"/>
          <p:nvPr/>
        </p:nvSpPr>
        <p:spPr>
          <a:xfrm>
            <a:off x="10369296" y="2694791"/>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−$105K</a:t>
            </a:r>
            <a:endParaRPr lang="en-US" sz="1300" dirty="0"/>
          </a:p>
        </p:txBody>
      </p:sp>
      <p:sp>
        <p:nvSpPr>
          <p:cNvPr id="98" name="Text 96"/>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99" name="Text 97"/>
          <p:cNvSpPr txBox="1"/>
          <p:nvPr/>
        </p:nvSpPr>
        <p:spPr>
          <a:xfrm>
            <a:off x="6565392"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00" name="Shape 98"/>
          <p:cNvSpPr/>
          <p:nvPr/>
        </p:nvSpPr>
        <p:spPr>
          <a:xfrm>
            <a:off x="9109792" y="2999205"/>
            <a:ext cx="241613" cy="136676"/>
          </a:xfrm>
          <a:prstGeom prst="rect">
            <a:avLst/>
          </a:prstGeom>
          <a:solidFill>
            <a:srgbClr val="C2352F"/>
          </a:solidFill>
          <a:ln/>
        </p:spPr>
      </p:sp>
      <p:sp>
        <p:nvSpPr>
          <p:cNvPr id="101" name="Text 99"/>
          <p:cNvSpPr txBox="1"/>
          <p:nvPr/>
        </p:nvSpPr>
        <p:spPr>
          <a:xfrm>
            <a:off x="10369296" y="294329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−$140K</a:t>
            </a:r>
            <a:endParaRPr lang="en-US" sz="1300" dirty="0"/>
          </a:p>
        </p:txBody>
      </p:sp>
      <p:sp>
        <p:nvSpPr>
          <p:cNvPr id="102" name="Text 100"/>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3" name="Text 101"/>
          <p:cNvSpPr txBox="1"/>
          <p:nvPr/>
        </p:nvSpPr>
        <p:spPr>
          <a:xfrm>
            <a:off x="6565392"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04" name="Shape 102"/>
          <p:cNvSpPr/>
          <p:nvPr/>
        </p:nvSpPr>
        <p:spPr>
          <a:xfrm>
            <a:off x="9092573" y="3247707"/>
            <a:ext cx="258833" cy="136676"/>
          </a:xfrm>
          <a:prstGeom prst="rect">
            <a:avLst/>
          </a:prstGeom>
          <a:solidFill>
            <a:srgbClr val="C2352F"/>
          </a:solidFill>
          <a:ln/>
        </p:spPr>
      </p:sp>
      <p:sp>
        <p:nvSpPr>
          <p:cNvPr id="105" name="Text 103"/>
          <p:cNvSpPr txBox="1"/>
          <p:nvPr/>
        </p:nvSpPr>
        <p:spPr>
          <a:xfrm>
            <a:off x="10369296" y="319179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−$150K</a:t>
            </a:r>
            <a:endParaRPr lang="en-US" sz="1300" dirty="0"/>
          </a:p>
        </p:txBody>
      </p:sp>
      <p:sp>
        <p:nvSpPr>
          <p:cNvPr id="106" name="Text 104"/>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7" name="Text 105"/>
          <p:cNvSpPr txBox="1"/>
          <p:nvPr/>
        </p:nvSpPr>
        <p:spPr>
          <a:xfrm>
            <a:off x="6565392"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08" name="Shape 106"/>
          <p:cNvSpPr/>
          <p:nvPr/>
        </p:nvSpPr>
        <p:spPr>
          <a:xfrm>
            <a:off x="9092243" y="3496208"/>
            <a:ext cx="259162" cy="136676"/>
          </a:xfrm>
          <a:prstGeom prst="rect">
            <a:avLst/>
          </a:prstGeom>
          <a:solidFill>
            <a:srgbClr val="C2352F"/>
          </a:solidFill>
          <a:ln/>
        </p:spPr>
      </p:sp>
      <p:sp>
        <p:nvSpPr>
          <p:cNvPr id="109" name="Text 107"/>
          <p:cNvSpPr txBox="1"/>
          <p:nvPr/>
        </p:nvSpPr>
        <p:spPr>
          <a:xfrm>
            <a:off x="10369296" y="344029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−$150K</a:t>
            </a:r>
            <a:endParaRPr lang="en-US" sz="1300" dirty="0"/>
          </a:p>
        </p:txBody>
      </p:sp>
      <p:sp>
        <p:nvSpPr>
          <p:cNvPr id="110" name="Text 108"/>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1" name="Text 109"/>
          <p:cNvSpPr txBox="1"/>
          <p:nvPr/>
        </p:nvSpPr>
        <p:spPr>
          <a:xfrm>
            <a:off x="6565392"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12" name="Shape 110"/>
          <p:cNvSpPr/>
          <p:nvPr/>
        </p:nvSpPr>
        <p:spPr>
          <a:xfrm>
            <a:off x="9072005" y="3744710"/>
            <a:ext cx="279401" cy="136676"/>
          </a:xfrm>
          <a:prstGeom prst="rect">
            <a:avLst/>
          </a:prstGeom>
          <a:solidFill>
            <a:srgbClr val="C2352F"/>
          </a:solidFill>
          <a:ln/>
        </p:spPr>
      </p:sp>
      <p:sp>
        <p:nvSpPr>
          <p:cNvPr id="113" name="Text 111"/>
          <p:cNvSpPr txBox="1"/>
          <p:nvPr/>
        </p:nvSpPr>
        <p:spPr>
          <a:xfrm>
            <a:off x="10369296" y="368879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−$162K</a:t>
            </a:r>
            <a:endParaRPr lang="en-US" sz="1300" dirty="0"/>
          </a:p>
        </p:txBody>
      </p:sp>
      <p:sp>
        <p:nvSpPr>
          <p:cNvPr id="114" name="Text 112"/>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5" name="Text 113"/>
          <p:cNvSpPr txBox="1"/>
          <p:nvPr/>
        </p:nvSpPr>
        <p:spPr>
          <a:xfrm>
            <a:off x="6565392"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16" name="Shape 114"/>
          <p:cNvSpPr/>
          <p:nvPr/>
        </p:nvSpPr>
        <p:spPr>
          <a:xfrm>
            <a:off x="9049807" y="3993212"/>
            <a:ext cx="301599" cy="136676"/>
          </a:xfrm>
          <a:prstGeom prst="rect">
            <a:avLst/>
          </a:prstGeom>
          <a:solidFill>
            <a:srgbClr val="C2352F"/>
          </a:solidFill>
          <a:ln/>
        </p:spPr>
      </p:sp>
      <p:sp>
        <p:nvSpPr>
          <p:cNvPr id="117" name="Text 115"/>
          <p:cNvSpPr txBox="1"/>
          <p:nvPr/>
        </p:nvSpPr>
        <p:spPr>
          <a:xfrm>
            <a:off x="10369296" y="393729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−$175K</a:t>
            </a:r>
            <a:endParaRPr lang="en-US" sz="1300" dirty="0"/>
          </a:p>
        </p:txBody>
      </p:sp>
      <p:sp>
        <p:nvSpPr>
          <p:cNvPr id="118" name="Text 116"/>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19" name="Text 117"/>
          <p:cNvSpPr txBox="1"/>
          <p:nvPr/>
        </p:nvSpPr>
        <p:spPr>
          <a:xfrm>
            <a:off x="6565392"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20" name="Shape 118"/>
          <p:cNvSpPr/>
          <p:nvPr/>
        </p:nvSpPr>
        <p:spPr>
          <a:xfrm>
            <a:off x="9034236" y="4241713"/>
            <a:ext cx="317170" cy="136676"/>
          </a:xfrm>
          <a:prstGeom prst="rect">
            <a:avLst/>
          </a:prstGeom>
          <a:solidFill>
            <a:srgbClr val="C2352F"/>
          </a:solidFill>
          <a:ln/>
        </p:spPr>
      </p:sp>
      <p:sp>
        <p:nvSpPr>
          <p:cNvPr id="121" name="Text 119"/>
          <p:cNvSpPr txBox="1"/>
          <p:nvPr/>
        </p:nvSpPr>
        <p:spPr>
          <a:xfrm>
            <a:off x="10369296" y="418580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−$184K</a:t>
            </a:r>
            <a:endParaRPr lang="en-US" sz="1300" dirty="0"/>
          </a:p>
        </p:txBody>
      </p:sp>
      <p:sp>
        <p:nvSpPr>
          <p:cNvPr id="122" name="Text 120"/>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3" name="Text 121"/>
          <p:cNvSpPr txBox="1"/>
          <p:nvPr/>
        </p:nvSpPr>
        <p:spPr>
          <a:xfrm>
            <a:off x="6565392"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24" name="Shape 122"/>
          <p:cNvSpPr/>
          <p:nvPr/>
        </p:nvSpPr>
        <p:spPr>
          <a:xfrm>
            <a:off x="9031867" y="4490215"/>
            <a:ext cx="319539" cy="136676"/>
          </a:xfrm>
          <a:prstGeom prst="rect">
            <a:avLst/>
          </a:prstGeom>
          <a:solidFill>
            <a:srgbClr val="C2352F"/>
          </a:solidFill>
          <a:ln/>
        </p:spPr>
      </p:sp>
      <p:sp>
        <p:nvSpPr>
          <p:cNvPr id="125" name="Text 123"/>
          <p:cNvSpPr txBox="1"/>
          <p:nvPr/>
        </p:nvSpPr>
        <p:spPr>
          <a:xfrm>
            <a:off x="10369296" y="443430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−$185K</a:t>
            </a:r>
            <a:endParaRPr lang="en-US" sz="1300" dirty="0"/>
          </a:p>
        </p:txBody>
      </p:sp>
      <p:sp>
        <p:nvSpPr>
          <p:cNvPr id="126" name="Text 124"/>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7" name="Text 125"/>
          <p:cNvSpPr txBox="1"/>
          <p:nvPr/>
        </p:nvSpPr>
        <p:spPr>
          <a:xfrm>
            <a:off x="6565392"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28" name="Shape 126"/>
          <p:cNvSpPr/>
          <p:nvPr/>
        </p:nvSpPr>
        <p:spPr>
          <a:xfrm>
            <a:off x="8959526" y="4738717"/>
            <a:ext cx="391880" cy="136676"/>
          </a:xfrm>
          <a:prstGeom prst="rect">
            <a:avLst/>
          </a:prstGeom>
          <a:solidFill>
            <a:srgbClr val="C2352F"/>
          </a:solidFill>
          <a:ln/>
        </p:spPr>
      </p:sp>
      <p:sp>
        <p:nvSpPr>
          <p:cNvPr id="129" name="Text 127"/>
          <p:cNvSpPr txBox="1"/>
          <p:nvPr/>
        </p:nvSpPr>
        <p:spPr>
          <a:xfrm>
            <a:off x="10369296" y="468280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−$227K</a:t>
            </a:r>
            <a:endParaRPr lang="en-US" sz="1300" dirty="0"/>
          </a:p>
        </p:txBody>
      </p:sp>
      <p:sp>
        <p:nvSpPr>
          <p:cNvPr id="130" name="Text 128"/>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1" name="Text 129"/>
          <p:cNvSpPr txBox="1"/>
          <p:nvPr/>
        </p:nvSpPr>
        <p:spPr>
          <a:xfrm>
            <a:off x="6565392"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32" name="Shape 130"/>
          <p:cNvSpPr/>
          <p:nvPr/>
        </p:nvSpPr>
        <p:spPr>
          <a:xfrm>
            <a:off x="8890482" y="4987218"/>
            <a:ext cx="460924" cy="136676"/>
          </a:xfrm>
          <a:prstGeom prst="rect">
            <a:avLst/>
          </a:prstGeom>
          <a:solidFill>
            <a:srgbClr val="C2352F"/>
          </a:solidFill>
          <a:ln/>
        </p:spPr>
      </p:sp>
      <p:sp>
        <p:nvSpPr>
          <p:cNvPr id="133" name="Text 131"/>
          <p:cNvSpPr txBox="1"/>
          <p:nvPr/>
        </p:nvSpPr>
        <p:spPr>
          <a:xfrm>
            <a:off x="10369296" y="4931305"/>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−$267K</a:t>
            </a:r>
            <a:endParaRPr lang="en-US" sz="1300" dirty="0"/>
          </a:p>
        </p:txBody>
      </p:sp>
      <p:sp>
        <p:nvSpPr>
          <p:cNvPr id="134" name="Text 132"/>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5" name="Text 133"/>
          <p:cNvSpPr txBox="1"/>
          <p:nvPr/>
        </p:nvSpPr>
        <p:spPr>
          <a:xfrm>
            <a:off x="6565392"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36" name="Shape 134"/>
          <p:cNvSpPr/>
          <p:nvPr/>
        </p:nvSpPr>
        <p:spPr>
          <a:xfrm>
            <a:off x="8735965" y="5235720"/>
            <a:ext cx="615441" cy="136676"/>
          </a:xfrm>
          <a:prstGeom prst="rect">
            <a:avLst/>
          </a:prstGeom>
          <a:solidFill>
            <a:srgbClr val="C2352F"/>
          </a:solidFill>
          <a:ln/>
        </p:spPr>
      </p:sp>
      <p:sp>
        <p:nvSpPr>
          <p:cNvPr id="137" name="Text 135"/>
          <p:cNvSpPr txBox="1"/>
          <p:nvPr/>
        </p:nvSpPr>
        <p:spPr>
          <a:xfrm>
            <a:off x="10369296" y="517980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−$356K</a:t>
            </a:r>
            <a:endParaRPr lang="en-US" sz="1300" dirty="0"/>
          </a:p>
        </p:txBody>
      </p:sp>
      <p:sp>
        <p:nvSpPr>
          <p:cNvPr id="138" name="Text 136"/>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39" name="Text 137"/>
          <p:cNvSpPr txBox="1"/>
          <p:nvPr/>
        </p:nvSpPr>
        <p:spPr>
          <a:xfrm>
            <a:off x="6565392"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40" name="Shape 138"/>
          <p:cNvSpPr/>
          <p:nvPr/>
        </p:nvSpPr>
        <p:spPr>
          <a:xfrm>
            <a:off x="8650224" y="5484222"/>
            <a:ext cx="701181" cy="136676"/>
          </a:xfrm>
          <a:prstGeom prst="rect">
            <a:avLst/>
          </a:prstGeom>
          <a:solidFill>
            <a:srgbClr val="C2352F"/>
          </a:solidFill>
          <a:ln/>
        </p:spPr>
      </p:sp>
      <p:sp>
        <p:nvSpPr>
          <p:cNvPr id="141" name="Text 139"/>
          <p:cNvSpPr txBox="1"/>
          <p:nvPr/>
        </p:nvSpPr>
        <p:spPr>
          <a:xfrm>
            <a:off x="10369296" y="542830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−$406K</a:t>
            </a:r>
            <a:endParaRPr lang="en-US" sz="1300" dirty="0"/>
          </a:p>
        </p:txBody>
      </p:sp>
      <p:sp>
        <p:nvSpPr>
          <p:cNvPr id="142" name="Shape 140"/>
          <p:cNvSpPr/>
          <p:nvPr/>
        </p:nvSpPr>
        <p:spPr>
          <a:xfrm>
            <a:off x="6085332" y="1700784"/>
            <a:ext cx="10973" cy="4224528"/>
          </a:xfrm>
          <a:prstGeom prst="rect">
            <a:avLst/>
          </a:prstGeom>
          <a:solidFill>
            <a:srgbClr val="D9D9D9"/>
          </a:solidFill>
          <a:ln/>
        </p:spPr>
      </p:sp>
      <p:sp>
        <p:nvSpPr>
          <p:cNvPr id="143" name="Shape 141"/>
          <p:cNvSpPr/>
          <p:nvPr/>
        </p:nvSpPr>
        <p:spPr>
          <a:xfrm>
            <a:off x="457200" y="6126480"/>
            <a:ext cx="11274552" cy="615696"/>
          </a:xfrm>
          <a:prstGeom prst="rect">
            <a:avLst/>
          </a:prstGeom>
          <a:solidFill>
            <a:srgbClr val="FBEBEA"/>
          </a:solidFill>
          <a:ln/>
        </p:spPr>
      </p:sp>
      <p:sp>
        <p:nvSpPr>
          <p:cNvPr id="144" name="Text 14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Toyota Spokane is furthest below at −$406K so far this year; 7 of 33 stores are ahead of benchmark across the four services. 15 stores are under all four.</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JAN–SEP 2026 YTD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Variance from Benchmark</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4178808" y="1316736"/>
            <a:ext cx="10972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7" name="Text 5"/>
          <p:cNvSpPr txBox="1"/>
          <p:nvPr/>
        </p:nvSpPr>
        <p:spPr>
          <a:xfrm>
            <a:off x="5276088"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8" name="Shape 6"/>
          <p:cNvSpPr/>
          <p:nvPr/>
        </p:nvSpPr>
        <p:spPr>
          <a:xfrm>
            <a:off x="3602724" y="1700784"/>
            <a:ext cx="10973" cy="4224528"/>
          </a:xfrm>
          <a:prstGeom prst="rect">
            <a:avLst/>
          </a:prstGeom>
          <a:solidFill>
            <a:srgbClr val="9AA3AD"/>
          </a:solidFill>
          <a:ln/>
        </p:spPr>
      </p:sp>
      <p:sp>
        <p:nvSpPr>
          <p:cNvPr id="9" name="Text 7"/>
          <p:cNvSpPr txBox="1"/>
          <p:nvPr/>
        </p:nvSpPr>
        <p:spPr>
          <a:xfrm>
            <a:off x="9729216" y="1316736"/>
            <a:ext cx="10972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10" name="Text 8"/>
          <p:cNvSpPr txBox="1"/>
          <p:nvPr/>
        </p:nvSpPr>
        <p:spPr>
          <a:xfrm>
            <a:off x="10826496"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1" name="Shape 9"/>
          <p:cNvSpPr/>
          <p:nvPr/>
        </p:nvSpPr>
        <p:spPr>
          <a:xfrm>
            <a:off x="9153132" y="1700784"/>
            <a:ext cx="10973" cy="3976026"/>
          </a:xfrm>
          <a:prstGeom prst="rect">
            <a:avLst/>
          </a:prstGeom>
          <a:solidFill>
            <a:srgbClr val="9AA3AD"/>
          </a:solidFill>
          <a:ln/>
        </p:spPr>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4" name="Shape 12"/>
          <p:cNvSpPr/>
          <p:nvPr/>
        </p:nvSpPr>
        <p:spPr>
          <a:xfrm>
            <a:off x="3608210" y="1756697"/>
            <a:ext cx="515734" cy="136676"/>
          </a:xfrm>
          <a:prstGeom prst="rect">
            <a:avLst/>
          </a:prstGeom>
          <a:solidFill>
            <a:srgbClr val="12A566"/>
          </a:solidFill>
          <a:ln/>
        </p:spPr>
      </p:sp>
      <p:sp>
        <p:nvSpPr>
          <p:cNvPr id="15" name="Text 13"/>
          <p:cNvSpPr txBox="1"/>
          <p:nvPr/>
        </p:nvSpPr>
        <p:spPr>
          <a:xfrm>
            <a:off x="4178808" y="1700784"/>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+$171K</a:t>
            </a:r>
            <a:endParaRPr lang="en-US" sz="1300" dirty="0"/>
          </a:p>
        </p:txBody>
      </p:sp>
      <p:sp>
        <p:nvSpPr>
          <p:cNvPr id="16" name="Text 14"/>
          <p:cNvSpPr txBox="1"/>
          <p:nvPr/>
        </p:nvSpPr>
        <p:spPr>
          <a:xfrm>
            <a:off x="5276088"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21.3%</a:t>
            </a:r>
            <a:endParaRPr lang="en-US" sz="1300" dirty="0"/>
          </a:p>
        </p:txBody>
      </p:sp>
      <p:sp>
        <p:nvSpPr>
          <p:cNvPr id="17" name="Text 15"/>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9" name="Shape 17"/>
          <p:cNvSpPr/>
          <p:nvPr/>
        </p:nvSpPr>
        <p:spPr>
          <a:xfrm>
            <a:off x="3608210" y="2005199"/>
            <a:ext cx="368621" cy="136676"/>
          </a:xfrm>
          <a:prstGeom prst="rect">
            <a:avLst/>
          </a:prstGeom>
          <a:solidFill>
            <a:srgbClr val="12A566"/>
          </a:solidFill>
          <a:ln/>
        </p:spPr>
      </p:sp>
      <p:sp>
        <p:nvSpPr>
          <p:cNvPr id="20" name="Text 18"/>
          <p:cNvSpPr txBox="1"/>
          <p:nvPr/>
        </p:nvSpPr>
        <p:spPr>
          <a:xfrm>
            <a:off x="4178808" y="1949286"/>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+$123K</a:t>
            </a:r>
            <a:endParaRPr lang="en-US" sz="1300" dirty="0"/>
          </a:p>
        </p:txBody>
      </p:sp>
      <p:sp>
        <p:nvSpPr>
          <p:cNvPr id="21" name="Text 19"/>
          <p:cNvSpPr txBox="1"/>
          <p:nvPr/>
        </p:nvSpPr>
        <p:spPr>
          <a:xfrm>
            <a:off x="5276088"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27.5%</a:t>
            </a:r>
            <a:endParaRPr lang="en-US" sz="1300" dirty="0"/>
          </a:p>
        </p:txBody>
      </p:sp>
      <p:sp>
        <p:nvSpPr>
          <p:cNvPr id="22" name="Text 20"/>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3" name="Text 21"/>
          <p:cNvSpPr txBox="1"/>
          <p:nvPr/>
        </p:nvSpPr>
        <p:spPr>
          <a:xfrm>
            <a:off x="1014984"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24" name="Shape 22"/>
          <p:cNvSpPr/>
          <p:nvPr/>
        </p:nvSpPr>
        <p:spPr>
          <a:xfrm>
            <a:off x="3608210" y="2253700"/>
            <a:ext cx="93661" cy="136676"/>
          </a:xfrm>
          <a:prstGeom prst="rect">
            <a:avLst/>
          </a:prstGeom>
          <a:solidFill>
            <a:srgbClr val="12A566"/>
          </a:solidFill>
          <a:ln/>
        </p:spPr>
      </p:sp>
      <p:sp>
        <p:nvSpPr>
          <p:cNvPr id="25" name="Text 23"/>
          <p:cNvSpPr txBox="1"/>
          <p:nvPr/>
        </p:nvSpPr>
        <p:spPr>
          <a:xfrm>
            <a:off x="4178808" y="2197787"/>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+$31K</a:t>
            </a:r>
            <a:endParaRPr lang="en-US" sz="1300" dirty="0"/>
          </a:p>
        </p:txBody>
      </p:sp>
      <p:sp>
        <p:nvSpPr>
          <p:cNvPr id="26" name="Text 24"/>
          <p:cNvSpPr txBox="1"/>
          <p:nvPr/>
        </p:nvSpPr>
        <p:spPr>
          <a:xfrm>
            <a:off x="5276088"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21.7%</a:t>
            </a:r>
            <a:endParaRPr lang="en-US" sz="1300" dirty="0"/>
          </a:p>
        </p:txBody>
      </p:sp>
      <p:sp>
        <p:nvSpPr>
          <p:cNvPr id="27" name="Text 25"/>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8" name="Text 26"/>
          <p:cNvSpPr txBox="1"/>
          <p:nvPr/>
        </p:nvSpPr>
        <p:spPr>
          <a:xfrm>
            <a:off x="1014984"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29" name="Shape 27"/>
          <p:cNvSpPr/>
          <p:nvPr/>
        </p:nvSpPr>
        <p:spPr>
          <a:xfrm>
            <a:off x="3608210" y="2502202"/>
            <a:ext cx="92519" cy="136676"/>
          </a:xfrm>
          <a:prstGeom prst="rect">
            <a:avLst/>
          </a:prstGeom>
          <a:solidFill>
            <a:srgbClr val="12A566"/>
          </a:solidFill>
          <a:ln/>
        </p:spPr>
      </p:sp>
      <p:sp>
        <p:nvSpPr>
          <p:cNvPr id="30" name="Text 28"/>
          <p:cNvSpPr txBox="1"/>
          <p:nvPr/>
        </p:nvSpPr>
        <p:spPr>
          <a:xfrm>
            <a:off x="4178808" y="2446289"/>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+$31K</a:t>
            </a:r>
            <a:endParaRPr lang="en-US" sz="1300" dirty="0"/>
          </a:p>
        </p:txBody>
      </p:sp>
      <p:sp>
        <p:nvSpPr>
          <p:cNvPr id="31" name="Text 29"/>
          <p:cNvSpPr txBox="1"/>
          <p:nvPr/>
        </p:nvSpPr>
        <p:spPr>
          <a:xfrm>
            <a:off x="5276088"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24.4%</a:t>
            </a:r>
            <a:endParaRPr lang="en-US" sz="1300" dirty="0"/>
          </a:p>
        </p:txBody>
      </p:sp>
      <p:sp>
        <p:nvSpPr>
          <p:cNvPr id="32" name="Text 30"/>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3" name="Text 31"/>
          <p:cNvSpPr txBox="1"/>
          <p:nvPr/>
        </p:nvSpPr>
        <p:spPr>
          <a:xfrm>
            <a:off x="1014984"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34" name="Shape 32"/>
          <p:cNvSpPr/>
          <p:nvPr/>
        </p:nvSpPr>
        <p:spPr>
          <a:xfrm>
            <a:off x="3608210" y="2750703"/>
            <a:ext cx="60439" cy="136676"/>
          </a:xfrm>
          <a:prstGeom prst="rect">
            <a:avLst/>
          </a:prstGeom>
          <a:solidFill>
            <a:srgbClr val="12A566"/>
          </a:solidFill>
          <a:ln/>
        </p:spPr>
      </p:sp>
      <p:sp>
        <p:nvSpPr>
          <p:cNvPr id="35" name="Text 33"/>
          <p:cNvSpPr txBox="1"/>
          <p:nvPr/>
        </p:nvSpPr>
        <p:spPr>
          <a:xfrm>
            <a:off x="4178808" y="2694791"/>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+$20K</a:t>
            </a:r>
            <a:endParaRPr lang="en-US" sz="1300" dirty="0"/>
          </a:p>
        </p:txBody>
      </p:sp>
      <p:sp>
        <p:nvSpPr>
          <p:cNvPr id="36" name="Text 34"/>
          <p:cNvSpPr txBox="1"/>
          <p:nvPr/>
        </p:nvSpPr>
        <p:spPr>
          <a:xfrm>
            <a:off x="5276088"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16.1%</a:t>
            </a:r>
            <a:endParaRPr lang="en-US" sz="1300" dirty="0"/>
          </a:p>
        </p:txBody>
      </p:sp>
      <p:sp>
        <p:nvSpPr>
          <p:cNvPr id="37" name="Text 35"/>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8" name="Text 36"/>
          <p:cNvSpPr txBox="1"/>
          <p:nvPr/>
        </p:nvSpPr>
        <p:spPr>
          <a:xfrm>
            <a:off x="1014984"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39" name="Shape 37"/>
          <p:cNvSpPr/>
          <p:nvPr/>
        </p:nvSpPr>
        <p:spPr>
          <a:xfrm>
            <a:off x="3608210" y="2999205"/>
            <a:ext cx="52903" cy="136676"/>
          </a:xfrm>
          <a:prstGeom prst="rect">
            <a:avLst/>
          </a:prstGeom>
          <a:solidFill>
            <a:srgbClr val="12A566"/>
          </a:solidFill>
          <a:ln/>
        </p:spPr>
      </p:sp>
      <p:sp>
        <p:nvSpPr>
          <p:cNvPr id="40" name="Text 38"/>
          <p:cNvSpPr txBox="1"/>
          <p:nvPr/>
        </p:nvSpPr>
        <p:spPr>
          <a:xfrm>
            <a:off x="4178808" y="2943292"/>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+$18K</a:t>
            </a:r>
            <a:endParaRPr lang="en-US" sz="1300" dirty="0"/>
          </a:p>
        </p:txBody>
      </p:sp>
      <p:sp>
        <p:nvSpPr>
          <p:cNvPr id="41" name="Text 39"/>
          <p:cNvSpPr txBox="1"/>
          <p:nvPr/>
        </p:nvSpPr>
        <p:spPr>
          <a:xfrm>
            <a:off x="5276088"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17.3%</a:t>
            </a:r>
            <a:endParaRPr lang="en-US" sz="1300" dirty="0"/>
          </a:p>
        </p:txBody>
      </p:sp>
      <p:sp>
        <p:nvSpPr>
          <p:cNvPr id="42" name="Text 40"/>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3" name="Text 41"/>
          <p:cNvSpPr txBox="1"/>
          <p:nvPr/>
        </p:nvSpPr>
        <p:spPr>
          <a:xfrm>
            <a:off x="1014984"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44" name="Shape 42"/>
          <p:cNvSpPr/>
          <p:nvPr/>
        </p:nvSpPr>
        <p:spPr>
          <a:xfrm>
            <a:off x="3608210" y="3247707"/>
            <a:ext cx="38422" cy="136676"/>
          </a:xfrm>
          <a:prstGeom prst="rect">
            <a:avLst/>
          </a:prstGeom>
          <a:solidFill>
            <a:srgbClr val="12A566"/>
          </a:solidFill>
          <a:ln/>
        </p:spPr>
      </p:sp>
      <p:sp>
        <p:nvSpPr>
          <p:cNvPr id="45" name="Text 43"/>
          <p:cNvSpPr txBox="1"/>
          <p:nvPr/>
        </p:nvSpPr>
        <p:spPr>
          <a:xfrm>
            <a:off x="4178808" y="3191794"/>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+$13K</a:t>
            </a:r>
            <a:endParaRPr lang="en-US" sz="1300" dirty="0"/>
          </a:p>
        </p:txBody>
      </p:sp>
      <p:sp>
        <p:nvSpPr>
          <p:cNvPr id="46" name="Text 44"/>
          <p:cNvSpPr txBox="1"/>
          <p:nvPr/>
        </p:nvSpPr>
        <p:spPr>
          <a:xfrm>
            <a:off x="5276088"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16.6%</a:t>
            </a:r>
            <a:endParaRPr lang="en-US" sz="1300" dirty="0"/>
          </a:p>
        </p:txBody>
      </p:sp>
      <p:sp>
        <p:nvSpPr>
          <p:cNvPr id="47" name="Text 45"/>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8" name="Text 46"/>
          <p:cNvSpPr txBox="1"/>
          <p:nvPr/>
        </p:nvSpPr>
        <p:spPr>
          <a:xfrm>
            <a:off x="1014984"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49" name="Shape 47"/>
          <p:cNvSpPr/>
          <p:nvPr/>
        </p:nvSpPr>
        <p:spPr>
          <a:xfrm>
            <a:off x="3608210" y="3496208"/>
            <a:ext cx="32407" cy="136676"/>
          </a:xfrm>
          <a:prstGeom prst="rect">
            <a:avLst/>
          </a:prstGeom>
          <a:solidFill>
            <a:srgbClr val="12A566"/>
          </a:solidFill>
          <a:ln/>
        </p:spPr>
      </p:sp>
      <p:sp>
        <p:nvSpPr>
          <p:cNvPr id="50" name="Text 48"/>
          <p:cNvSpPr txBox="1"/>
          <p:nvPr/>
        </p:nvSpPr>
        <p:spPr>
          <a:xfrm>
            <a:off x="4178808" y="3440296"/>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+$11K</a:t>
            </a:r>
            <a:endParaRPr lang="en-US" sz="1300" dirty="0"/>
          </a:p>
        </p:txBody>
      </p:sp>
      <p:sp>
        <p:nvSpPr>
          <p:cNvPr id="51" name="Text 49"/>
          <p:cNvSpPr txBox="1"/>
          <p:nvPr/>
        </p:nvSpPr>
        <p:spPr>
          <a:xfrm>
            <a:off x="5276088"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17.5%</a:t>
            </a:r>
            <a:endParaRPr lang="en-US" sz="1300" dirty="0"/>
          </a:p>
        </p:txBody>
      </p:sp>
      <p:sp>
        <p:nvSpPr>
          <p:cNvPr id="52" name="Text 50"/>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3" name="Text 51"/>
          <p:cNvSpPr txBox="1"/>
          <p:nvPr/>
        </p:nvSpPr>
        <p:spPr>
          <a:xfrm>
            <a:off x="1014984"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4" name="Shape 52"/>
          <p:cNvSpPr/>
          <p:nvPr/>
        </p:nvSpPr>
        <p:spPr>
          <a:xfrm>
            <a:off x="3606258" y="3744710"/>
            <a:ext cx="18288" cy="136676"/>
          </a:xfrm>
          <a:prstGeom prst="rect">
            <a:avLst/>
          </a:prstGeom>
          <a:solidFill>
            <a:srgbClr val="C2352F"/>
          </a:solidFill>
          <a:ln/>
        </p:spPr>
      </p:sp>
      <p:sp>
        <p:nvSpPr>
          <p:cNvPr id="55" name="Text 53"/>
          <p:cNvSpPr txBox="1"/>
          <p:nvPr/>
        </p:nvSpPr>
        <p:spPr>
          <a:xfrm>
            <a:off x="4178808" y="368879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−$649</a:t>
            </a:r>
            <a:endParaRPr lang="en-US" sz="1300" dirty="0"/>
          </a:p>
        </p:txBody>
      </p:sp>
      <p:sp>
        <p:nvSpPr>
          <p:cNvPr id="56" name="Text 54"/>
          <p:cNvSpPr txBox="1"/>
          <p:nvPr/>
        </p:nvSpPr>
        <p:spPr>
          <a:xfrm>
            <a:off x="5276088"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14.8%</a:t>
            </a:r>
            <a:endParaRPr lang="en-US" sz="1300" dirty="0"/>
          </a:p>
        </p:txBody>
      </p:sp>
      <p:sp>
        <p:nvSpPr>
          <p:cNvPr id="57" name="Text 55"/>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8" name="Text 56"/>
          <p:cNvSpPr txBox="1"/>
          <p:nvPr/>
        </p:nvSpPr>
        <p:spPr>
          <a:xfrm>
            <a:off x="1014984"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59" name="Shape 57"/>
          <p:cNvSpPr/>
          <p:nvPr/>
        </p:nvSpPr>
        <p:spPr>
          <a:xfrm>
            <a:off x="3591832" y="3993212"/>
            <a:ext cx="18288" cy="136676"/>
          </a:xfrm>
          <a:prstGeom prst="rect">
            <a:avLst/>
          </a:prstGeom>
          <a:solidFill>
            <a:srgbClr val="C2352F"/>
          </a:solidFill>
          <a:ln/>
        </p:spPr>
      </p:sp>
      <p:sp>
        <p:nvSpPr>
          <p:cNvPr id="60" name="Text 58"/>
          <p:cNvSpPr txBox="1"/>
          <p:nvPr/>
        </p:nvSpPr>
        <p:spPr>
          <a:xfrm>
            <a:off x="4178808" y="393729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−$5K</a:t>
            </a:r>
            <a:endParaRPr lang="en-US" sz="1300" dirty="0"/>
          </a:p>
        </p:txBody>
      </p:sp>
      <p:sp>
        <p:nvSpPr>
          <p:cNvPr id="61" name="Text 59"/>
          <p:cNvSpPr txBox="1"/>
          <p:nvPr/>
        </p:nvSpPr>
        <p:spPr>
          <a:xfrm>
            <a:off x="5276088"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13.8%</a:t>
            </a:r>
            <a:endParaRPr lang="en-US" sz="1300" dirty="0"/>
          </a:p>
        </p:txBody>
      </p:sp>
      <p:sp>
        <p:nvSpPr>
          <p:cNvPr id="62" name="Text 60"/>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3" name="Text 61"/>
          <p:cNvSpPr txBox="1"/>
          <p:nvPr/>
        </p:nvSpPr>
        <p:spPr>
          <a:xfrm>
            <a:off x="1014984"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64" name="Shape 62"/>
          <p:cNvSpPr/>
          <p:nvPr/>
        </p:nvSpPr>
        <p:spPr>
          <a:xfrm>
            <a:off x="3587605" y="4241713"/>
            <a:ext cx="20606" cy="136676"/>
          </a:xfrm>
          <a:prstGeom prst="rect">
            <a:avLst/>
          </a:prstGeom>
          <a:solidFill>
            <a:srgbClr val="C2352F"/>
          </a:solidFill>
          <a:ln/>
        </p:spPr>
      </p:sp>
      <p:sp>
        <p:nvSpPr>
          <p:cNvPr id="65" name="Text 63"/>
          <p:cNvSpPr txBox="1"/>
          <p:nvPr/>
        </p:nvSpPr>
        <p:spPr>
          <a:xfrm>
            <a:off x="4178808" y="418580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−$7K</a:t>
            </a:r>
            <a:endParaRPr lang="en-US" sz="1300" dirty="0"/>
          </a:p>
        </p:txBody>
      </p:sp>
      <p:sp>
        <p:nvSpPr>
          <p:cNvPr id="66" name="Text 64"/>
          <p:cNvSpPr txBox="1"/>
          <p:nvPr/>
        </p:nvSpPr>
        <p:spPr>
          <a:xfrm>
            <a:off x="5276088"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13.8%</a:t>
            </a:r>
            <a:endParaRPr lang="en-US" sz="1300" dirty="0"/>
          </a:p>
        </p:txBody>
      </p:sp>
      <p:sp>
        <p:nvSpPr>
          <p:cNvPr id="67" name="Text 65"/>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8" name="Text 66"/>
          <p:cNvSpPr txBox="1"/>
          <p:nvPr/>
        </p:nvSpPr>
        <p:spPr>
          <a:xfrm>
            <a:off x="1014984"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69" name="Shape 67"/>
          <p:cNvSpPr/>
          <p:nvPr/>
        </p:nvSpPr>
        <p:spPr>
          <a:xfrm>
            <a:off x="3586165" y="4490215"/>
            <a:ext cx="22045" cy="136676"/>
          </a:xfrm>
          <a:prstGeom prst="rect">
            <a:avLst/>
          </a:prstGeom>
          <a:solidFill>
            <a:srgbClr val="C2352F"/>
          </a:solidFill>
          <a:ln/>
        </p:spPr>
      </p:sp>
      <p:sp>
        <p:nvSpPr>
          <p:cNvPr id="70" name="Text 68"/>
          <p:cNvSpPr txBox="1"/>
          <p:nvPr/>
        </p:nvSpPr>
        <p:spPr>
          <a:xfrm>
            <a:off x="4178808" y="443430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−$7K</a:t>
            </a:r>
            <a:endParaRPr lang="en-US" sz="1300" dirty="0"/>
          </a:p>
        </p:txBody>
      </p:sp>
      <p:sp>
        <p:nvSpPr>
          <p:cNvPr id="71" name="Text 69"/>
          <p:cNvSpPr txBox="1"/>
          <p:nvPr/>
        </p:nvSpPr>
        <p:spPr>
          <a:xfrm>
            <a:off x="5276088"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14.5%</a:t>
            </a:r>
            <a:endParaRPr lang="en-US" sz="1300" dirty="0"/>
          </a:p>
        </p:txBody>
      </p:sp>
      <p:sp>
        <p:nvSpPr>
          <p:cNvPr id="72" name="Text 70"/>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3" name="Text 71"/>
          <p:cNvSpPr txBox="1"/>
          <p:nvPr/>
        </p:nvSpPr>
        <p:spPr>
          <a:xfrm>
            <a:off x="1014984"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74" name="Shape 72"/>
          <p:cNvSpPr/>
          <p:nvPr/>
        </p:nvSpPr>
        <p:spPr>
          <a:xfrm>
            <a:off x="3584721" y="4738717"/>
            <a:ext cx="23489" cy="136676"/>
          </a:xfrm>
          <a:prstGeom prst="rect">
            <a:avLst/>
          </a:prstGeom>
          <a:solidFill>
            <a:srgbClr val="C2352F"/>
          </a:solidFill>
          <a:ln/>
        </p:spPr>
      </p:sp>
      <p:sp>
        <p:nvSpPr>
          <p:cNvPr id="75" name="Text 73"/>
          <p:cNvSpPr txBox="1"/>
          <p:nvPr/>
        </p:nvSpPr>
        <p:spPr>
          <a:xfrm>
            <a:off x="4178808" y="468280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−$8K</a:t>
            </a:r>
            <a:endParaRPr lang="en-US" sz="1300" dirty="0"/>
          </a:p>
        </p:txBody>
      </p:sp>
      <p:sp>
        <p:nvSpPr>
          <p:cNvPr id="76" name="Text 74"/>
          <p:cNvSpPr txBox="1"/>
          <p:nvPr/>
        </p:nvSpPr>
        <p:spPr>
          <a:xfrm>
            <a:off x="5276088"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a:t>
            </a:r>
            <a:endParaRPr lang="en-US" sz="1300" dirty="0"/>
          </a:p>
        </p:txBody>
      </p:sp>
      <p:sp>
        <p:nvSpPr>
          <p:cNvPr id="77" name="Text 75"/>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8" name="Text 76"/>
          <p:cNvSpPr txBox="1"/>
          <p:nvPr/>
        </p:nvSpPr>
        <p:spPr>
          <a:xfrm>
            <a:off x="1014984"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79" name="Shape 77"/>
          <p:cNvSpPr/>
          <p:nvPr/>
        </p:nvSpPr>
        <p:spPr>
          <a:xfrm>
            <a:off x="3582272" y="4987218"/>
            <a:ext cx="25938" cy="136676"/>
          </a:xfrm>
          <a:prstGeom prst="rect">
            <a:avLst/>
          </a:prstGeom>
          <a:solidFill>
            <a:srgbClr val="C2352F"/>
          </a:solidFill>
          <a:ln/>
        </p:spPr>
      </p:sp>
      <p:sp>
        <p:nvSpPr>
          <p:cNvPr id="80" name="Text 78"/>
          <p:cNvSpPr txBox="1"/>
          <p:nvPr/>
        </p:nvSpPr>
        <p:spPr>
          <a:xfrm>
            <a:off x="4178808" y="4931305"/>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−$9K</a:t>
            </a:r>
            <a:endParaRPr lang="en-US" sz="1300" dirty="0"/>
          </a:p>
        </p:txBody>
      </p:sp>
      <p:sp>
        <p:nvSpPr>
          <p:cNvPr id="81" name="Text 79"/>
          <p:cNvSpPr txBox="1"/>
          <p:nvPr/>
        </p:nvSpPr>
        <p:spPr>
          <a:xfrm>
            <a:off x="5276088"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a:t>
            </a:r>
            <a:endParaRPr lang="en-US" sz="1300" dirty="0"/>
          </a:p>
        </p:txBody>
      </p:sp>
      <p:sp>
        <p:nvSpPr>
          <p:cNvPr id="82" name="Text 80"/>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3" name="Text 81"/>
          <p:cNvSpPr txBox="1"/>
          <p:nvPr/>
        </p:nvSpPr>
        <p:spPr>
          <a:xfrm>
            <a:off x="1014984"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84" name="Shape 82"/>
          <p:cNvSpPr/>
          <p:nvPr/>
        </p:nvSpPr>
        <p:spPr>
          <a:xfrm>
            <a:off x="3580943" y="5235720"/>
            <a:ext cx="27268" cy="136676"/>
          </a:xfrm>
          <a:prstGeom prst="rect">
            <a:avLst/>
          </a:prstGeom>
          <a:solidFill>
            <a:srgbClr val="C2352F"/>
          </a:solidFill>
          <a:ln/>
        </p:spPr>
      </p:sp>
      <p:sp>
        <p:nvSpPr>
          <p:cNvPr id="85" name="Text 83"/>
          <p:cNvSpPr txBox="1"/>
          <p:nvPr/>
        </p:nvSpPr>
        <p:spPr>
          <a:xfrm>
            <a:off x="4178808" y="517980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−$9K</a:t>
            </a:r>
            <a:endParaRPr lang="en-US" sz="1300" dirty="0"/>
          </a:p>
        </p:txBody>
      </p:sp>
      <p:sp>
        <p:nvSpPr>
          <p:cNvPr id="86" name="Text 84"/>
          <p:cNvSpPr txBox="1"/>
          <p:nvPr/>
        </p:nvSpPr>
        <p:spPr>
          <a:xfrm>
            <a:off x="5276088"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a:t>
            </a:r>
            <a:endParaRPr lang="en-US" sz="1300" dirty="0"/>
          </a:p>
        </p:txBody>
      </p:sp>
      <p:sp>
        <p:nvSpPr>
          <p:cNvPr id="87" name="Text 85"/>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8" name="Text 86"/>
          <p:cNvSpPr txBox="1"/>
          <p:nvPr/>
        </p:nvSpPr>
        <p:spPr>
          <a:xfrm>
            <a:off x="1014984"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89" name="Shape 87"/>
          <p:cNvSpPr/>
          <p:nvPr/>
        </p:nvSpPr>
        <p:spPr>
          <a:xfrm>
            <a:off x="3568116" y="5484222"/>
            <a:ext cx="40094" cy="136676"/>
          </a:xfrm>
          <a:prstGeom prst="rect">
            <a:avLst/>
          </a:prstGeom>
          <a:solidFill>
            <a:srgbClr val="C2352F"/>
          </a:solidFill>
          <a:ln/>
        </p:spPr>
      </p:sp>
      <p:sp>
        <p:nvSpPr>
          <p:cNvPr id="90" name="Text 88"/>
          <p:cNvSpPr txBox="1"/>
          <p:nvPr/>
        </p:nvSpPr>
        <p:spPr>
          <a:xfrm>
            <a:off x="4178808" y="542830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91" name="Text 89"/>
          <p:cNvSpPr txBox="1"/>
          <p:nvPr/>
        </p:nvSpPr>
        <p:spPr>
          <a:xfrm>
            <a:off x="5276088"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5.6%</a:t>
            </a:r>
            <a:endParaRPr lang="en-US" sz="1300" dirty="0"/>
          </a:p>
        </p:txBody>
      </p:sp>
      <p:sp>
        <p:nvSpPr>
          <p:cNvPr id="92" name="Text 90"/>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3" name="Text 91"/>
          <p:cNvSpPr txBox="1"/>
          <p:nvPr/>
        </p:nvSpPr>
        <p:spPr>
          <a:xfrm>
            <a:off x="1014984" y="567681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94" name="Shape 92"/>
          <p:cNvSpPr/>
          <p:nvPr/>
        </p:nvSpPr>
        <p:spPr>
          <a:xfrm>
            <a:off x="3560947" y="5732723"/>
            <a:ext cx="47264" cy="136676"/>
          </a:xfrm>
          <a:prstGeom prst="rect">
            <a:avLst/>
          </a:prstGeom>
          <a:solidFill>
            <a:srgbClr val="C2352F"/>
          </a:solidFill>
          <a:ln/>
        </p:spPr>
      </p:sp>
      <p:sp>
        <p:nvSpPr>
          <p:cNvPr id="95" name="Text 93"/>
          <p:cNvSpPr txBox="1"/>
          <p:nvPr/>
        </p:nvSpPr>
        <p:spPr>
          <a:xfrm>
            <a:off x="4178808" y="567681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−$16K</a:t>
            </a:r>
            <a:endParaRPr lang="en-US" sz="1300" dirty="0"/>
          </a:p>
        </p:txBody>
      </p:sp>
      <p:sp>
        <p:nvSpPr>
          <p:cNvPr id="96" name="Text 94"/>
          <p:cNvSpPr txBox="1"/>
          <p:nvPr/>
        </p:nvSpPr>
        <p:spPr>
          <a:xfrm>
            <a:off x="5276088" y="567681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a:t>
            </a:r>
            <a:endParaRPr lang="en-US" sz="1300" dirty="0"/>
          </a:p>
        </p:txBody>
      </p:sp>
      <p:sp>
        <p:nvSpPr>
          <p:cNvPr id="97" name="Text 95"/>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8" name="Text 96"/>
          <p:cNvSpPr txBox="1"/>
          <p:nvPr/>
        </p:nvSpPr>
        <p:spPr>
          <a:xfrm>
            <a:off x="6565392"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99" name="Shape 97"/>
          <p:cNvSpPr/>
          <p:nvPr/>
        </p:nvSpPr>
        <p:spPr>
          <a:xfrm>
            <a:off x="9107541" y="1756697"/>
            <a:ext cx="51077" cy="136676"/>
          </a:xfrm>
          <a:prstGeom prst="rect">
            <a:avLst/>
          </a:prstGeom>
          <a:solidFill>
            <a:srgbClr val="C2352F"/>
          </a:solidFill>
          <a:ln/>
        </p:spPr>
      </p:sp>
      <p:sp>
        <p:nvSpPr>
          <p:cNvPr id="100" name="Text 98"/>
          <p:cNvSpPr txBox="1"/>
          <p:nvPr/>
        </p:nvSpPr>
        <p:spPr>
          <a:xfrm>
            <a:off x="9729216" y="170078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−$17K</a:t>
            </a:r>
            <a:endParaRPr lang="en-US" sz="1300" dirty="0"/>
          </a:p>
        </p:txBody>
      </p:sp>
      <p:sp>
        <p:nvSpPr>
          <p:cNvPr id="101" name="Text 99"/>
          <p:cNvSpPr txBox="1"/>
          <p:nvPr/>
        </p:nvSpPr>
        <p:spPr>
          <a:xfrm>
            <a:off x="10826496"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a:t>
            </a:r>
            <a:endParaRPr lang="en-US" sz="1300" dirty="0"/>
          </a:p>
        </p:txBody>
      </p:sp>
      <p:sp>
        <p:nvSpPr>
          <p:cNvPr id="102" name="Text 100"/>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3" name="Text 101"/>
          <p:cNvSpPr txBox="1"/>
          <p:nvPr/>
        </p:nvSpPr>
        <p:spPr>
          <a:xfrm>
            <a:off x="6565392"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04" name="Shape 102"/>
          <p:cNvSpPr/>
          <p:nvPr/>
        </p:nvSpPr>
        <p:spPr>
          <a:xfrm>
            <a:off x="9105708" y="2005199"/>
            <a:ext cx="52910" cy="136676"/>
          </a:xfrm>
          <a:prstGeom prst="rect">
            <a:avLst/>
          </a:prstGeom>
          <a:solidFill>
            <a:srgbClr val="C2352F"/>
          </a:solidFill>
          <a:ln/>
        </p:spPr>
      </p:sp>
      <p:sp>
        <p:nvSpPr>
          <p:cNvPr id="105" name="Text 103"/>
          <p:cNvSpPr txBox="1"/>
          <p:nvPr/>
        </p:nvSpPr>
        <p:spPr>
          <a:xfrm>
            <a:off x="9729216" y="194928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−$18K</a:t>
            </a:r>
            <a:endParaRPr lang="en-US" sz="1300" dirty="0"/>
          </a:p>
        </p:txBody>
      </p:sp>
      <p:sp>
        <p:nvSpPr>
          <p:cNvPr id="106" name="Text 104"/>
          <p:cNvSpPr txBox="1"/>
          <p:nvPr/>
        </p:nvSpPr>
        <p:spPr>
          <a:xfrm>
            <a:off x="10826496"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13.6%</a:t>
            </a:r>
            <a:endParaRPr lang="en-US" sz="1300" dirty="0"/>
          </a:p>
        </p:txBody>
      </p:sp>
      <p:sp>
        <p:nvSpPr>
          <p:cNvPr id="107" name="Text 105"/>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08" name="Text 106"/>
          <p:cNvSpPr txBox="1"/>
          <p:nvPr/>
        </p:nvSpPr>
        <p:spPr>
          <a:xfrm>
            <a:off x="6565392"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09" name="Shape 107"/>
          <p:cNvSpPr/>
          <p:nvPr/>
        </p:nvSpPr>
        <p:spPr>
          <a:xfrm>
            <a:off x="9101403" y="2253700"/>
            <a:ext cx="57215" cy="136676"/>
          </a:xfrm>
          <a:prstGeom prst="rect">
            <a:avLst/>
          </a:prstGeom>
          <a:solidFill>
            <a:srgbClr val="C2352F"/>
          </a:solidFill>
          <a:ln/>
        </p:spPr>
      </p:sp>
      <p:sp>
        <p:nvSpPr>
          <p:cNvPr id="110" name="Text 108"/>
          <p:cNvSpPr txBox="1"/>
          <p:nvPr/>
        </p:nvSpPr>
        <p:spPr>
          <a:xfrm>
            <a:off x="9729216" y="219778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−$19K</a:t>
            </a:r>
            <a:endParaRPr lang="en-US" sz="1300" dirty="0"/>
          </a:p>
        </p:txBody>
      </p:sp>
      <p:sp>
        <p:nvSpPr>
          <p:cNvPr id="111" name="Text 109"/>
          <p:cNvSpPr txBox="1"/>
          <p:nvPr/>
        </p:nvSpPr>
        <p:spPr>
          <a:xfrm>
            <a:off x="10826496"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11.1%</a:t>
            </a:r>
            <a:endParaRPr lang="en-US" sz="1300" dirty="0"/>
          </a:p>
        </p:txBody>
      </p:sp>
      <p:sp>
        <p:nvSpPr>
          <p:cNvPr id="112" name="Text 110"/>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3" name="Text 111"/>
          <p:cNvSpPr txBox="1"/>
          <p:nvPr/>
        </p:nvSpPr>
        <p:spPr>
          <a:xfrm>
            <a:off x="6565392"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14" name="Shape 112"/>
          <p:cNvSpPr/>
          <p:nvPr/>
        </p:nvSpPr>
        <p:spPr>
          <a:xfrm>
            <a:off x="9099265" y="2502202"/>
            <a:ext cx="59354" cy="136676"/>
          </a:xfrm>
          <a:prstGeom prst="rect">
            <a:avLst/>
          </a:prstGeom>
          <a:solidFill>
            <a:srgbClr val="C2352F"/>
          </a:solidFill>
          <a:ln/>
        </p:spPr>
      </p:sp>
      <p:sp>
        <p:nvSpPr>
          <p:cNvPr id="115" name="Text 113"/>
          <p:cNvSpPr txBox="1"/>
          <p:nvPr/>
        </p:nvSpPr>
        <p:spPr>
          <a:xfrm>
            <a:off x="9729216" y="244628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−$20K</a:t>
            </a:r>
            <a:endParaRPr lang="en-US" sz="1300" dirty="0"/>
          </a:p>
        </p:txBody>
      </p:sp>
      <p:sp>
        <p:nvSpPr>
          <p:cNvPr id="116" name="Text 114"/>
          <p:cNvSpPr txBox="1"/>
          <p:nvPr/>
        </p:nvSpPr>
        <p:spPr>
          <a:xfrm>
            <a:off x="10826496"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117" name="Text 115"/>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18" name="Text 116"/>
          <p:cNvSpPr txBox="1"/>
          <p:nvPr/>
        </p:nvSpPr>
        <p:spPr>
          <a:xfrm>
            <a:off x="6565392"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19" name="Shape 117"/>
          <p:cNvSpPr/>
          <p:nvPr/>
        </p:nvSpPr>
        <p:spPr>
          <a:xfrm>
            <a:off x="9084954" y="2750703"/>
            <a:ext cx="73665" cy="136676"/>
          </a:xfrm>
          <a:prstGeom prst="rect">
            <a:avLst/>
          </a:prstGeom>
          <a:solidFill>
            <a:srgbClr val="C2352F"/>
          </a:solidFill>
          <a:ln/>
        </p:spPr>
      </p:sp>
      <p:sp>
        <p:nvSpPr>
          <p:cNvPr id="120" name="Text 118"/>
          <p:cNvSpPr txBox="1"/>
          <p:nvPr/>
        </p:nvSpPr>
        <p:spPr>
          <a:xfrm>
            <a:off x="9729216" y="2694791"/>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−$24K</a:t>
            </a:r>
            <a:endParaRPr lang="en-US" sz="1300" dirty="0"/>
          </a:p>
        </p:txBody>
      </p:sp>
      <p:sp>
        <p:nvSpPr>
          <p:cNvPr id="121" name="Text 119"/>
          <p:cNvSpPr txBox="1"/>
          <p:nvPr/>
        </p:nvSpPr>
        <p:spPr>
          <a:xfrm>
            <a:off x="10826496"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11.3%</a:t>
            </a:r>
            <a:endParaRPr lang="en-US" sz="1300" dirty="0"/>
          </a:p>
        </p:txBody>
      </p:sp>
      <p:sp>
        <p:nvSpPr>
          <p:cNvPr id="122" name="Text 120"/>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3" name="Text 121"/>
          <p:cNvSpPr txBox="1"/>
          <p:nvPr/>
        </p:nvSpPr>
        <p:spPr>
          <a:xfrm>
            <a:off x="6565392"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24" name="Shape 122"/>
          <p:cNvSpPr/>
          <p:nvPr/>
        </p:nvSpPr>
        <p:spPr>
          <a:xfrm>
            <a:off x="9083815" y="2999205"/>
            <a:ext cx="74803" cy="136676"/>
          </a:xfrm>
          <a:prstGeom prst="rect">
            <a:avLst/>
          </a:prstGeom>
          <a:solidFill>
            <a:srgbClr val="C2352F"/>
          </a:solidFill>
          <a:ln/>
        </p:spPr>
      </p:sp>
      <p:sp>
        <p:nvSpPr>
          <p:cNvPr id="125" name="Text 123"/>
          <p:cNvSpPr txBox="1"/>
          <p:nvPr/>
        </p:nvSpPr>
        <p:spPr>
          <a:xfrm>
            <a:off x="9729216" y="294329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−$25K</a:t>
            </a:r>
            <a:endParaRPr lang="en-US" sz="1300" dirty="0"/>
          </a:p>
        </p:txBody>
      </p:sp>
      <p:sp>
        <p:nvSpPr>
          <p:cNvPr id="126" name="Text 124"/>
          <p:cNvSpPr txBox="1"/>
          <p:nvPr/>
        </p:nvSpPr>
        <p:spPr>
          <a:xfrm>
            <a:off x="10826496"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14.5%</a:t>
            </a:r>
            <a:endParaRPr lang="en-US" sz="1300" dirty="0"/>
          </a:p>
        </p:txBody>
      </p:sp>
      <p:sp>
        <p:nvSpPr>
          <p:cNvPr id="127" name="Text 125"/>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28" name="Text 126"/>
          <p:cNvSpPr txBox="1"/>
          <p:nvPr/>
        </p:nvSpPr>
        <p:spPr>
          <a:xfrm>
            <a:off x="6565392"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29" name="Shape 127"/>
          <p:cNvSpPr/>
          <p:nvPr/>
        </p:nvSpPr>
        <p:spPr>
          <a:xfrm>
            <a:off x="9081129" y="3247707"/>
            <a:ext cx="77490" cy="136676"/>
          </a:xfrm>
          <a:prstGeom prst="rect">
            <a:avLst/>
          </a:prstGeom>
          <a:solidFill>
            <a:srgbClr val="C2352F"/>
          </a:solidFill>
          <a:ln/>
        </p:spPr>
      </p:sp>
      <p:sp>
        <p:nvSpPr>
          <p:cNvPr id="130" name="Text 128"/>
          <p:cNvSpPr txBox="1"/>
          <p:nvPr/>
        </p:nvSpPr>
        <p:spPr>
          <a:xfrm>
            <a:off x="9729216" y="319179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−$26K</a:t>
            </a:r>
            <a:endParaRPr lang="en-US" sz="1300" dirty="0"/>
          </a:p>
        </p:txBody>
      </p:sp>
      <p:sp>
        <p:nvSpPr>
          <p:cNvPr id="131" name="Text 129"/>
          <p:cNvSpPr txBox="1"/>
          <p:nvPr/>
        </p:nvSpPr>
        <p:spPr>
          <a:xfrm>
            <a:off x="10826496"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11.8%</a:t>
            </a:r>
            <a:endParaRPr lang="en-US" sz="1300" dirty="0"/>
          </a:p>
        </p:txBody>
      </p:sp>
      <p:sp>
        <p:nvSpPr>
          <p:cNvPr id="132" name="Text 130"/>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3" name="Text 131"/>
          <p:cNvSpPr txBox="1"/>
          <p:nvPr/>
        </p:nvSpPr>
        <p:spPr>
          <a:xfrm>
            <a:off x="6565392"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34" name="Shape 132"/>
          <p:cNvSpPr/>
          <p:nvPr/>
        </p:nvSpPr>
        <p:spPr>
          <a:xfrm>
            <a:off x="9076646" y="3496208"/>
            <a:ext cx="81973" cy="136676"/>
          </a:xfrm>
          <a:prstGeom prst="rect">
            <a:avLst/>
          </a:prstGeom>
          <a:solidFill>
            <a:srgbClr val="C2352F"/>
          </a:solidFill>
          <a:ln/>
        </p:spPr>
      </p:sp>
      <p:sp>
        <p:nvSpPr>
          <p:cNvPr id="135" name="Text 133"/>
          <p:cNvSpPr txBox="1"/>
          <p:nvPr/>
        </p:nvSpPr>
        <p:spPr>
          <a:xfrm>
            <a:off x="9729216" y="344029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−$27K</a:t>
            </a:r>
            <a:endParaRPr lang="en-US" sz="1300" dirty="0"/>
          </a:p>
        </p:txBody>
      </p:sp>
      <p:sp>
        <p:nvSpPr>
          <p:cNvPr id="136" name="Text 134"/>
          <p:cNvSpPr txBox="1"/>
          <p:nvPr/>
        </p:nvSpPr>
        <p:spPr>
          <a:xfrm>
            <a:off x="10826496"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a:t>
            </a:r>
            <a:endParaRPr lang="en-US" sz="1300" dirty="0"/>
          </a:p>
        </p:txBody>
      </p:sp>
      <p:sp>
        <p:nvSpPr>
          <p:cNvPr id="137" name="Text 135"/>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38" name="Text 136"/>
          <p:cNvSpPr txBox="1"/>
          <p:nvPr/>
        </p:nvSpPr>
        <p:spPr>
          <a:xfrm>
            <a:off x="6565392"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39" name="Shape 137"/>
          <p:cNvSpPr/>
          <p:nvPr/>
        </p:nvSpPr>
        <p:spPr>
          <a:xfrm>
            <a:off x="9072387" y="3744710"/>
            <a:ext cx="86231" cy="136676"/>
          </a:xfrm>
          <a:prstGeom prst="rect">
            <a:avLst/>
          </a:prstGeom>
          <a:solidFill>
            <a:srgbClr val="C2352F"/>
          </a:solidFill>
          <a:ln/>
        </p:spPr>
      </p:sp>
      <p:sp>
        <p:nvSpPr>
          <p:cNvPr id="140" name="Text 138"/>
          <p:cNvSpPr txBox="1"/>
          <p:nvPr/>
        </p:nvSpPr>
        <p:spPr>
          <a:xfrm>
            <a:off x="9729216" y="368879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−$29K</a:t>
            </a:r>
            <a:endParaRPr lang="en-US" sz="1300" dirty="0"/>
          </a:p>
        </p:txBody>
      </p:sp>
      <p:sp>
        <p:nvSpPr>
          <p:cNvPr id="141" name="Text 139"/>
          <p:cNvSpPr txBox="1"/>
          <p:nvPr/>
        </p:nvSpPr>
        <p:spPr>
          <a:xfrm>
            <a:off x="10826496"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8.0%</a:t>
            </a:r>
            <a:endParaRPr lang="en-US" sz="1300" dirty="0"/>
          </a:p>
        </p:txBody>
      </p:sp>
      <p:sp>
        <p:nvSpPr>
          <p:cNvPr id="142" name="Text 140"/>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3" name="Text 141"/>
          <p:cNvSpPr txBox="1"/>
          <p:nvPr/>
        </p:nvSpPr>
        <p:spPr>
          <a:xfrm>
            <a:off x="6565392"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44" name="Shape 142"/>
          <p:cNvSpPr/>
          <p:nvPr/>
        </p:nvSpPr>
        <p:spPr>
          <a:xfrm>
            <a:off x="9047176" y="3993212"/>
            <a:ext cx="111443" cy="136676"/>
          </a:xfrm>
          <a:prstGeom prst="rect">
            <a:avLst/>
          </a:prstGeom>
          <a:solidFill>
            <a:srgbClr val="C2352F"/>
          </a:solidFill>
          <a:ln/>
        </p:spPr>
      </p:sp>
      <p:sp>
        <p:nvSpPr>
          <p:cNvPr id="145" name="Text 143"/>
          <p:cNvSpPr txBox="1"/>
          <p:nvPr/>
        </p:nvSpPr>
        <p:spPr>
          <a:xfrm>
            <a:off x="9729216" y="393729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−$37K</a:t>
            </a:r>
            <a:endParaRPr lang="en-US" sz="1300" dirty="0"/>
          </a:p>
        </p:txBody>
      </p:sp>
      <p:sp>
        <p:nvSpPr>
          <p:cNvPr id="146" name="Text 144"/>
          <p:cNvSpPr txBox="1"/>
          <p:nvPr/>
        </p:nvSpPr>
        <p:spPr>
          <a:xfrm>
            <a:off x="10826496"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a:t>
            </a:r>
            <a:endParaRPr lang="en-US" sz="1300" dirty="0"/>
          </a:p>
        </p:txBody>
      </p:sp>
      <p:sp>
        <p:nvSpPr>
          <p:cNvPr id="147" name="Text 145"/>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48" name="Text 146"/>
          <p:cNvSpPr txBox="1"/>
          <p:nvPr/>
        </p:nvSpPr>
        <p:spPr>
          <a:xfrm>
            <a:off x="6565392"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49" name="Shape 147"/>
          <p:cNvSpPr/>
          <p:nvPr/>
        </p:nvSpPr>
        <p:spPr>
          <a:xfrm>
            <a:off x="9029635" y="4241713"/>
            <a:ext cx="128983" cy="136676"/>
          </a:xfrm>
          <a:prstGeom prst="rect">
            <a:avLst/>
          </a:prstGeom>
          <a:solidFill>
            <a:srgbClr val="C2352F"/>
          </a:solidFill>
          <a:ln/>
        </p:spPr>
      </p:sp>
      <p:sp>
        <p:nvSpPr>
          <p:cNvPr id="150" name="Text 148"/>
          <p:cNvSpPr txBox="1"/>
          <p:nvPr/>
        </p:nvSpPr>
        <p:spPr>
          <a:xfrm>
            <a:off x="9729216" y="418580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−$43K</a:t>
            </a:r>
            <a:endParaRPr lang="en-US" sz="1300" dirty="0"/>
          </a:p>
        </p:txBody>
      </p:sp>
      <p:sp>
        <p:nvSpPr>
          <p:cNvPr id="151" name="Text 149"/>
          <p:cNvSpPr txBox="1"/>
          <p:nvPr/>
        </p:nvSpPr>
        <p:spPr>
          <a:xfrm>
            <a:off x="10826496"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152" name="Text 150"/>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3" name="Text 151"/>
          <p:cNvSpPr txBox="1"/>
          <p:nvPr/>
        </p:nvSpPr>
        <p:spPr>
          <a:xfrm>
            <a:off x="6565392"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54" name="Shape 152"/>
          <p:cNvSpPr/>
          <p:nvPr/>
        </p:nvSpPr>
        <p:spPr>
          <a:xfrm>
            <a:off x="8988331" y="4490215"/>
            <a:ext cx="170287" cy="136676"/>
          </a:xfrm>
          <a:prstGeom prst="rect">
            <a:avLst/>
          </a:prstGeom>
          <a:solidFill>
            <a:srgbClr val="C2352F"/>
          </a:solidFill>
          <a:ln/>
        </p:spPr>
      </p:sp>
      <p:sp>
        <p:nvSpPr>
          <p:cNvPr id="155" name="Text 153"/>
          <p:cNvSpPr txBox="1"/>
          <p:nvPr/>
        </p:nvSpPr>
        <p:spPr>
          <a:xfrm>
            <a:off x="9729216" y="443430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−$57K</a:t>
            </a:r>
            <a:endParaRPr lang="en-US" sz="1300" dirty="0"/>
          </a:p>
        </p:txBody>
      </p:sp>
      <p:sp>
        <p:nvSpPr>
          <p:cNvPr id="156" name="Text 154"/>
          <p:cNvSpPr txBox="1"/>
          <p:nvPr/>
        </p:nvSpPr>
        <p:spPr>
          <a:xfrm>
            <a:off x="10826496"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a:t>
            </a:r>
            <a:endParaRPr lang="en-US" sz="1300" dirty="0"/>
          </a:p>
        </p:txBody>
      </p:sp>
      <p:sp>
        <p:nvSpPr>
          <p:cNvPr id="157" name="Text 155"/>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58" name="Text 156"/>
          <p:cNvSpPr txBox="1"/>
          <p:nvPr/>
        </p:nvSpPr>
        <p:spPr>
          <a:xfrm>
            <a:off x="6565392"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59" name="Shape 157"/>
          <p:cNvSpPr/>
          <p:nvPr/>
        </p:nvSpPr>
        <p:spPr>
          <a:xfrm>
            <a:off x="8985336" y="4738717"/>
            <a:ext cx="173282" cy="136676"/>
          </a:xfrm>
          <a:prstGeom prst="rect">
            <a:avLst/>
          </a:prstGeom>
          <a:solidFill>
            <a:srgbClr val="C2352F"/>
          </a:solidFill>
          <a:ln/>
        </p:spPr>
      </p:sp>
      <p:sp>
        <p:nvSpPr>
          <p:cNvPr id="160" name="Text 158"/>
          <p:cNvSpPr txBox="1"/>
          <p:nvPr/>
        </p:nvSpPr>
        <p:spPr>
          <a:xfrm>
            <a:off x="9729216" y="468280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−$58K</a:t>
            </a:r>
            <a:endParaRPr lang="en-US" sz="1300" dirty="0"/>
          </a:p>
        </p:txBody>
      </p:sp>
      <p:sp>
        <p:nvSpPr>
          <p:cNvPr id="161" name="Text 159"/>
          <p:cNvSpPr txBox="1"/>
          <p:nvPr/>
        </p:nvSpPr>
        <p:spPr>
          <a:xfrm>
            <a:off x="10826496"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162" name="Text 160"/>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3" name="Text 161"/>
          <p:cNvSpPr txBox="1"/>
          <p:nvPr/>
        </p:nvSpPr>
        <p:spPr>
          <a:xfrm>
            <a:off x="6565392"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64" name="Shape 162"/>
          <p:cNvSpPr/>
          <p:nvPr/>
        </p:nvSpPr>
        <p:spPr>
          <a:xfrm>
            <a:off x="8971042" y="4987218"/>
            <a:ext cx="187577" cy="136676"/>
          </a:xfrm>
          <a:prstGeom prst="rect">
            <a:avLst/>
          </a:prstGeom>
          <a:solidFill>
            <a:srgbClr val="C2352F"/>
          </a:solidFill>
          <a:ln/>
        </p:spPr>
      </p:sp>
      <p:sp>
        <p:nvSpPr>
          <p:cNvPr id="165" name="Text 163"/>
          <p:cNvSpPr txBox="1"/>
          <p:nvPr/>
        </p:nvSpPr>
        <p:spPr>
          <a:xfrm>
            <a:off x="9729216" y="4931305"/>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−$62K</a:t>
            </a:r>
            <a:endParaRPr lang="en-US" sz="1300" dirty="0"/>
          </a:p>
        </p:txBody>
      </p:sp>
      <p:sp>
        <p:nvSpPr>
          <p:cNvPr id="166" name="Text 164"/>
          <p:cNvSpPr txBox="1"/>
          <p:nvPr/>
        </p:nvSpPr>
        <p:spPr>
          <a:xfrm>
            <a:off x="10826496"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a:t>
            </a:r>
            <a:endParaRPr lang="en-US" sz="1300" dirty="0"/>
          </a:p>
        </p:txBody>
      </p:sp>
      <p:sp>
        <p:nvSpPr>
          <p:cNvPr id="167" name="Text 165"/>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68" name="Text 166"/>
          <p:cNvSpPr txBox="1"/>
          <p:nvPr/>
        </p:nvSpPr>
        <p:spPr>
          <a:xfrm>
            <a:off x="6565392"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69" name="Shape 167"/>
          <p:cNvSpPr/>
          <p:nvPr/>
        </p:nvSpPr>
        <p:spPr>
          <a:xfrm>
            <a:off x="8955629" y="5235720"/>
            <a:ext cx="202990" cy="136676"/>
          </a:xfrm>
          <a:prstGeom prst="rect">
            <a:avLst/>
          </a:prstGeom>
          <a:solidFill>
            <a:srgbClr val="C2352F"/>
          </a:solidFill>
          <a:ln/>
        </p:spPr>
      </p:sp>
      <p:sp>
        <p:nvSpPr>
          <p:cNvPr id="170" name="Text 168"/>
          <p:cNvSpPr txBox="1"/>
          <p:nvPr/>
        </p:nvSpPr>
        <p:spPr>
          <a:xfrm>
            <a:off x="9729216" y="517980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−$67K</a:t>
            </a:r>
            <a:endParaRPr lang="en-US" sz="1300" dirty="0"/>
          </a:p>
        </p:txBody>
      </p:sp>
      <p:sp>
        <p:nvSpPr>
          <p:cNvPr id="171" name="Text 169"/>
          <p:cNvSpPr txBox="1"/>
          <p:nvPr/>
        </p:nvSpPr>
        <p:spPr>
          <a:xfrm>
            <a:off x="10826496"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172" name="Text 170"/>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3" name="Text 171"/>
          <p:cNvSpPr txBox="1"/>
          <p:nvPr/>
        </p:nvSpPr>
        <p:spPr>
          <a:xfrm>
            <a:off x="6565392"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74" name="Shape 172"/>
          <p:cNvSpPr/>
          <p:nvPr/>
        </p:nvSpPr>
        <p:spPr>
          <a:xfrm>
            <a:off x="8650224" y="5484222"/>
            <a:ext cx="508394" cy="136676"/>
          </a:xfrm>
          <a:prstGeom prst="rect">
            <a:avLst/>
          </a:prstGeom>
          <a:solidFill>
            <a:srgbClr val="C2352F"/>
          </a:solidFill>
          <a:ln/>
        </p:spPr>
      </p:sp>
      <p:sp>
        <p:nvSpPr>
          <p:cNvPr id="175" name="Text 173"/>
          <p:cNvSpPr txBox="1"/>
          <p:nvPr/>
        </p:nvSpPr>
        <p:spPr>
          <a:xfrm>
            <a:off x="9729216" y="542830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−$169K</a:t>
            </a:r>
            <a:endParaRPr lang="en-US" sz="1300" dirty="0"/>
          </a:p>
        </p:txBody>
      </p:sp>
      <p:sp>
        <p:nvSpPr>
          <p:cNvPr id="176" name="Text 174"/>
          <p:cNvSpPr txBox="1"/>
          <p:nvPr/>
        </p:nvSpPr>
        <p:spPr>
          <a:xfrm>
            <a:off x="10826496"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177" name="Shape 175"/>
          <p:cNvSpPr/>
          <p:nvPr/>
        </p:nvSpPr>
        <p:spPr>
          <a:xfrm>
            <a:off x="6085332" y="1700784"/>
            <a:ext cx="10973" cy="4224528"/>
          </a:xfrm>
          <a:prstGeom prst="rect">
            <a:avLst/>
          </a:prstGeom>
          <a:solidFill>
            <a:srgbClr val="D9D9D9"/>
          </a:solidFill>
          <a:ln/>
        </p:spPr>
      </p:sp>
      <p:sp>
        <p:nvSpPr>
          <p:cNvPr id="178" name="Shape 176"/>
          <p:cNvSpPr/>
          <p:nvPr/>
        </p:nvSpPr>
        <p:spPr>
          <a:xfrm>
            <a:off x="457200" y="6126480"/>
            <a:ext cx="11274552" cy="615696"/>
          </a:xfrm>
          <a:prstGeom prst="rect">
            <a:avLst/>
          </a:prstGeom>
          <a:solidFill>
            <a:srgbClr val="FBEBEA"/>
          </a:solidFill>
          <a:ln/>
        </p:spPr>
      </p:sp>
      <p:sp>
        <p:nvSpPr>
          <p:cNvPr id="179" name="Text 177"/>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25 stores under 15% have left $771,957 so far this year; 8 are at or above it. Toyota Spokane is furthest below at −$169K.</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JAN–SEP 2026 YTD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Tire Balance Variance from Benchmark</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4178808" y="1316736"/>
            <a:ext cx="10972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7" name="Text 5"/>
          <p:cNvSpPr txBox="1"/>
          <p:nvPr/>
        </p:nvSpPr>
        <p:spPr>
          <a:xfrm>
            <a:off x="5276088"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8" name="Shape 6"/>
          <p:cNvSpPr/>
          <p:nvPr/>
        </p:nvSpPr>
        <p:spPr>
          <a:xfrm>
            <a:off x="3831949" y="1700784"/>
            <a:ext cx="10973" cy="4224528"/>
          </a:xfrm>
          <a:prstGeom prst="rect">
            <a:avLst/>
          </a:prstGeom>
          <a:solidFill>
            <a:srgbClr val="9AA3AD"/>
          </a:solidFill>
          <a:ln/>
        </p:spPr>
      </p:sp>
      <p:sp>
        <p:nvSpPr>
          <p:cNvPr id="9" name="Text 7"/>
          <p:cNvSpPr txBox="1"/>
          <p:nvPr/>
        </p:nvSpPr>
        <p:spPr>
          <a:xfrm>
            <a:off x="9729216" y="1316736"/>
            <a:ext cx="10972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10" name="Text 8"/>
          <p:cNvSpPr txBox="1"/>
          <p:nvPr/>
        </p:nvSpPr>
        <p:spPr>
          <a:xfrm>
            <a:off x="10826496"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1" name="Shape 9"/>
          <p:cNvSpPr/>
          <p:nvPr/>
        </p:nvSpPr>
        <p:spPr>
          <a:xfrm>
            <a:off x="9382357" y="1700784"/>
            <a:ext cx="10973" cy="3976026"/>
          </a:xfrm>
          <a:prstGeom prst="rect">
            <a:avLst/>
          </a:prstGeom>
          <a:solidFill>
            <a:srgbClr val="9AA3AD"/>
          </a:solidFill>
          <a:ln/>
        </p:spPr>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4" name="Shape 12"/>
          <p:cNvSpPr/>
          <p:nvPr/>
        </p:nvSpPr>
        <p:spPr>
          <a:xfrm>
            <a:off x="3837435" y="1756697"/>
            <a:ext cx="286509" cy="136676"/>
          </a:xfrm>
          <a:prstGeom prst="rect">
            <a:avLst/>
          </a:prstGeom>
          <a:solidFill>
            <a:srgbClr val="12A566"/>
          </a:solidFill>
          <a:ln/>
        </p:spPr>
      </p:sp>
      <p:sp>
        <p:nvSpPr>
          <p:cNvPr id="15" name="Text 13"/>
          <p:cNvSpPr txBox="1"/>
          <p:nvPr/>
        </p:nvSpPr>
        <p:spPr>
          <a:xfrm>
            <a:off x="4178808" y="1700784"/>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+$52K</a:t>
            </a:r>
            <a:endParaRPr lang="en-US" sz="1300" dirty="0"/>
          </a:p>
        </p:txBody>
      </p:sp>
      <p:sp>
        <p:nvSpPr>
          <p:cNvPr id="16" name="Text 14"/>
          <p:cNvSpPr txBox="1"/>
          <p:nvPr/>
        </p:nvSpPr>
        <p:spPr>
          <a:xfrm>
            <a:off x="5276088"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18.4%</a:t>
            </a:r>
            <a:endParaRPr lang="en-US" sz="1300" dirty="0"/>
          </a:p>
        </p:txBody>
      </p:sp>
      <p:sp>
        <p:nvSpPr>
          <p:cNvPr id="17" name="Text 15"/>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9" name="Shape 17"/>
          <p:cNvSpPr/>
          <p:nvPr/>
        </p:nvSpPr>
        <p:spPr>
          <a:xfrm>
            <a:off x="3837435" y="2005199"/>
            <a:ext cx="125398" cy="136676"/>
          </a:xfrm>
          <a:prstGeom prst="rect">
            <a:avLst/>
          </a:prstGeom>
          <a:solidFill>
            <a:srgbClr val="12A566"/>
          </a:solidFill>
          <a:ln/>
        </p:spPr>
      </p:sp>
      <p:sp>
        <p:nvSpPr>
          <p:cNvPr id="20" name="Text 18"/>
          <p:cNvSpPr txBox="1"/>
          <p:nvPr/>
        </p:nvSpPr>
        <p:spPr>
          <a:xfrm>
            <a:off x="4178808" y="1949286"/>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+$23K</a:t>
            </a:r>
            <a:endParaRPr lang="en-US" sz="1300" dirty="0"/>
          </a:p>
        </p:txBody>
      </p:sp>
      <p:sp>
        <p:nvSpPr>
          <p:cNvPr id="21" name="Text 19"/>
          <p:cNvSpPr txBox="1"/>
          <p:nvPr/>
        </p:nvSpPr>
        <p:spPr>
          <a:xfrm>
            <a:off x="5276088"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27.0%</a:t>
            </a:r>
            <a:endParaRPr lang="en-US" sz="1300" dirty="0"/>
          </a:p>
        </p:txBody>
      </p:sp>
      <p:sp>
        <p:nvSpPr>
          <p:cNvPr id="22" name="Text 20"/>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3" name="Text 21"/>
          <p:cNvSpPr txBox="1"/>
          <p:nvPr/>
        </p:nvSpPr>
        <p:spPr>
          <a:xfrm>
            <a:off x="1014984"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24" name="Shape 22"/>
          <p:cNvSpPr/>
          <p:nvPr/>
        </p:nvSpPr>
        <p:spPr>
          <a:xfrm>
            <a:off x="3837435" y="2253700"/>
            <a:ext cx="56794" cy="136676"/>
          </a:xfrm>
          <a:prstGeom prst="rect">
            <a:avLst/>
          </a:prstGeom>
          <a:solidFill>
            <a:srgbClr val="12A566"/>
          </a:solidFill>
          <a:ln/>
        </p:spPr>
      </p:sp>
      <p:sp>
        <p:nvSpPr>
          <p:cNvPr id="25" name="Text 23"/>
          <p:cNvSpPr txBox="1"/>
          <p:nvPr/>
        </p:nvSpPr>
        <p:spPr>
          <a:xfrm>
            <a:off x="4178808" y="2197787"/>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+$10K</a:t>
            </a:r>
            <a:endParaRPr lang="en-US" sz="1300" dirty="0"/>
          </a:p>
        </p:txBody>
      </p:sp>
      <p:sp>
        <p:nvSpPr>
          <p:cNvPr id="26" name="Text 24"/>
          <p:cNvSpPr txBox="1"/>
          <p:nvPr/>
        </p:nvSpPr>
        <p:spPr>
          <a:xfrm>
            <a:off x="5276088"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a:t>
            </a:r>
            <a:endParaRPr lang="en-US" sz="1300" dirty="0"/>
          </a:p>
        </p:txBody>
      </p:sp>
      <p:sp>
        <p:nvSpPr>
          <p:cNvPr id="27" name="Text 25"/>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8" name="Text 26"/>
          <p:cNvSpPr txBox="1"/>
          <p:nvPr/>
        </p:nvSpPr>
        <p:spPr>
          <a:xfrm>
            <a:off x="1014984"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29" name="Shape 27"/>
          <p:cNvSpPr/>
          <p:nvPr/>
        </p:nvSpPr>
        <p:spPr>
          <a:xfrm>
            <a:off x="3837435" y="2502202"/>
            <a:ext cx="22738" cy="136676"/>
          </a:xfrm>
          <a:prstGeom prst="rect">
            <a:avLst/>
          </a:prstGeom>
          <a:solidFill>
            <a:srgbClr val="12A566"/>
          </a:solidFill>
          <a:ln/>
        </p:spPr>
      </p:sp>
      <p:sp>
        <p:nvSpPr>
          <p:cNvPr id="30" name="Text 28"/>
          <p:cNvSpPr txBox="1"/>
          <p:nvPr/>
        </p:nvSpPr>
        <p:spPr>
          <a:xfrm>
            <a:off x="4178808" y="2446289"/>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+$4K</a:t>
            </a:r>
            <a:endParaRPr lang="en-US" sz="1300" dirty="0"/>
          </a:p>
        </p:txBody>
      </p:sp>
      <p:sp>
        <p:nvSpPr>
          <p:cNvPr id="31" name="Text 29"/>
          <p:cNvSpPr txBox="1"/>
          <p:nvPr/>
        </p:nvSpPr>
        <p:spPr>
          <a:xfrm>
            <a:off x="5276088"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a:t>
            </a:r>
            <a:endParaRPr lang="en-US" sz="1300" dirty="0"/>
          </a:p>
        </p:txBody>
      </p:sp>
      <p:sp>
        <p:nvSpPr>
          <p:cNvPr id="32" name="Text 30"/>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3" name="Text 31"/>
          <p:cNvSpPr txBox="1"/>
          <p:nvPr/>
        </p:nvSpPr>
        <p:spPr>
          <a:xfrm>
            <a:off x="1014984"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34" name="Shape 32"/>
          <p:cNvSpPr/>
          <p:nvPr/>
        </p:nvSpPr>
        <p:spPr>
          <a:xfrm>
            <a:off x="3837294" y="2750703"/>
            <a:ext cx="18288" cy="136676"/>
          </a:xfrm>
          <a:prstGeom prst="rect">
            <a:avLst/>
          </a:prstGeom>
          <a:solidFill>
            <a:srgbClr val="C2352F"/>
          </a:solidFill>
          <a:ln/>
        </p:spPr>
      </p:sp>
      <p:sp>
        <p:nvSpPr>
          <p:cNvPr id="35" name="Text 33"/>
          <p:cNvSpPr txBox="1"/>
          <p:nvPr/>
        </p:nvSpPr>
        <p:spPr>
          <a:xfrm>
            <a:off x="4178808" y="2694791"/>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a:t>
            </a:r>
            <a:endParaRPr lang="en-US" sz="1300" dirty="0"/>
          </a:p>
        </p:txBody>
      </p:sp>
      <p:sp>
        <p:nvSpPr>
          <p:cNvPr id="36" name="Text 34"/>
          <p:cNvSpPr txBox="1"/>
          <p:nvPr/>
        </p:nvSpPr>
        <p:spPr>
          <a:xfrm>
            <a:off x="5276088"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a:t>
            </a:r>
            <a:endParaRPr lang="en-US" sz="1300" dirty="0"/>
          </a:p>
        </p:txBody>
      </p:sp>
      <p:sp>
        <p:nvSpPr>
          <p:cNvPr id="37" name="Text 35"/>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8" name="Text 36"/>
          <p:cNvSpPr txBox="1"/>
          <p:nvPr/>
        </p:nvSpPr>
        <p:spPr>
          <a:xfrm>
            <a:off x="1014984"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39" name="Shape 37"/>
          <p:cNvSpPr/>
          <p:nvPr/>
        </p:nvSpPr>
        <p:spPr>
          <a:xfrm>
            <a:off x="3826086" y="2999205"/>
            <a:ext cx="18288" cy="136676"/>
          </a:xfrm>
          <a:prstGeom prst="rect">
            <a:avLst/>
          </a:prstGeom>
          <a:solidFill>
            <a:srgbClr val="C2352F"/>
          </a:solidFill>
          <a:ln/>
        </p:spPr>
      </p:sp>
      <p:sp>
        <p:nvSpPr>
          <p:cNvPr id="40" name="Text 38"/>
          <p:cNvSpPr txBox="1"/>
          <p:nvPr/>
        </p:nvSpPr>
        <p:spPr>
          <a:xfrm>
            <a:off x="4178808" y="294329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−$2K</a:t>
            </a:r>
            <a:endParaRPr lang="en-US" sz="1300" dirty="0"/>
          </a:p>
        </p:txBody>
      </p:sp>
      <p:sp>
        <p:nvSpPr>
          <p:cNvPr id="41" name="Text 39"/>
          <p:cNvSpPr txBox="1"/>
          <p:nvPr/>
        </p:nvSpPr>
        <p:spPr>
          <a:xfrm>
            <a:off x="5276088"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14.1%</a:t>
            </a:r>
            <a:endParaRPr lang="en-US" sz="1300" dirty="0"/>
          </a:p>
        </p:txBody>
      </p:sp>
      <p:sp>
        <p:nvSpPr>
          <p:cNvPr id="42" name="Text 40"/>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3" name="Text 41"/>
          <p:cNvSpPr txBox="1"/>
          <p:nvPr/>
        </p:nvSpPr>
        <p:spPr>
          <a:xfrm>
            <a:off x="1014984"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44" name="Shape 42"/>
          <p:cNvSpPr/>
          <p:nvPr/>
        </p:nvSpPr>
        <p:spPr>
          <a:xfrm>
            <a:off x="3813350" y="3247707"/>
            <a:ext cx="24085" cy="136676"/>
          </a:xfrm>
          <a:prstGeom prst="rect">
            <a:avLst/>
          </a:prstGeom>
          <a:solidFill>
            <a:srgbClr val="C2352F"/>
          </a:solidFill>
          <a:ln/>
        </p:spPr>
      </p:sp>
      <p:sp>
        <p:nvSpPr>
          <p:cNvPr id="45" name="Text 43"/>
          <p:cNvSpPr txBox="1"/>
          <p:nvPr/>
        </p:nvSpPr>
        <p:spPr>
          <a:xfrm>
            <a:off x="4178808" y="319179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−$4K</a:t>
            </a:r>
            <a:endParaRPr lang="en-US" sz="1300" dirty="0"/>
          </a:p>
        </p:txBody>
      </p:sp>
      <p:sp>
        <p:nvSpPr>
          <p:cNvPr id="46" name="Text 44"/>
          <p:cNvSpPr txBox="1"/>
          <p:nvPr/>
        </p:nvSpPr>
        <p:spPr>
          <a:xfrm>
            <a:off x="5276088"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13.5%</a:t>
            </a:r>
            <a:endParaRPr lang="en-US" sz="1300" dirty="0"/>
          </a:p>
        </p:txBody>
      </p:sp>
      <p:sp>
        <p:nvSpPr>
          <p:cNvPr id="47" name="Text 45"/>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8" name="Text 46"/>
          <p:cNvSpPr txBox="1"/>
          <p:nvPr/>
        </p:nvSpPr>
        <p:spPr>
          <a:xfrm>
            <a:off x="1014984"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49" name="Shape 47"/>
          <p:cNvSpPr/>
          <p:nvPr/>
        </p:nvSpPr>
        <p:spPr>
          <a:xfrm>
            <a:off x="3806604" y="3496208"/>
            <a:ext cx="30831" cy="136676"/>
          </a:xfrm>
          <a:prstGeom prst="rect">
            <a:avLst/>
          </a:prstGeom>
          <a:solidFill>
            <a:srgbClr val="C2352F"/>
          </a:solidFill>
          <a:ln/>
        </p:spPr>
      </p:sp>
      <p:sp>
        <p:nvSpPr>
          <p:cNvPr id="50" name="Text 48"/>
          <p:cNvSpPr txBox="1"/>
          <p:nvPr/>
        </p:nvSpPr>
        <p:spPr>
          <a:xfrm>
            <a:off x="4178808" y="344029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−$6K</a:t>
            </a:r>
            <a:endParaRPr lang="en-US" sz="1300" dirty="0"/>
          </a:p>
        </p:txBody>
      </p:sp>
      <p:sp>
        <p:nvSpPr>
          <p:cNvPr id="51" name="Text 49"/>
          <p:cNvSpPr txBox="1"/>
          <p:nvPr/>
        </p:nvSpPr>
        <p:spPr>
          <a:xfrm>
            <a:off x="5276088"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a:t>
            </a:r>
            <a:endParaRPr lang="en-US" sz="1300" dirty="0"/>
          </a:p>
        </p:txBody>
      </p:sp>
      <p:sp>
        <p:nvSpPr>
          <p:cNvPr id="52" name="Text 50"/>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3" name="Text 51"/>
          <p:cNvSpPr txBox="1"/>
          <p:nvPr/>
        </p:nvSpPr>
        <p:spPr>
          <a:xfrm>
            <a:off x="1014984"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54" name="Shape 52"/>
          <p:cNvSpPr/>
          <p:nvPr/>
        </p:nvSpPr>
        <p:spPr>
          <a:xfrm>
            <a:off x="3792816" y="3744710"/>
            <a:ext cx="44619" cy="136676"/>
          </a:xfrm>
          <a:prstGeom prst="rect">
            <a:avLst/>
          </a:prstGeom>
          <a:solidFill>
            <a:srgbClr val="C2352F"/>
          </a:solidFill>
          <a:ln/>
        </p:spPr>
      </p:sp>
      <p:sp>
        <p:nvSpPr>
          <p:cNvPr id="55" name="Text 53"/>
          <p:cNvSpPr txBox="1"/>
          <p:nvPr/>
        </p:nvSpPr>
        <p:spPr>
          <a:xfrm>
            <a:off x="4178808" y="368879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−$8K</a:t>
            </a:r>
            <a:endParaRPr lang="en-US" sz="1300" dirty="0"/>
          </a:p>
        </p:txBody>
      </p:sp>
      <p:sp>
        <p:nvSpPr>
          <p:cNvPr id="56" name="Text 54"/>
          <p:cNvSpPr txBox="1"/>
          <p:nvPr/>
        </p:nvSpPr>
        <p:spPr>
          <a:xfrm>
            <a:off x="5276088"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13.1%</a:t>
            </a:r>
            <a:endParaRPr lang="en-US" sz="1300" dirty="0"/>
          </a:p>
        </p:txBody>
      </p:sp>
      <p:sp>
        <p:nvSpPr>
          <p:cNvPr id="57" name="Text 55"/>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8" name="Text 56"/>
          <p:cNvSpPr txBox="1"/>
          <p:nvPr/>
        </p:nvSpPr>
        <p:spPr>
          <a:xfrm>
            <a:off x="1014984"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59" name="Shape 57"/>
          <p:cNvSpPr/>
          <p:nvPr/>
        </p:nvSpPr>
        <p:spPr>
          <a:xfrm>
            <a:off x="3778841" y="3993212"/>
            <a:ext cx="58594" cy="136676"/>
          </a:xfrm>
          <a:prstGeom prst="rect">
            <a:avLst/>
          </a:prstGeom>
          <a:solidFill>
            <a:srgbClr val="C2352F"/>
          </a:solidFill>
          <a:ln/>
        </p:spPr>
      </p:sp>
      <p:sp>
        <p:nvSpPr>
          <p:cNvPr id="60" name="Text 58"/>
          <p:cNvSpPr txBox="1"/>
          <p:nvPr/>
        </p:nvSpPr>
        <p:spPr>
          <a:xfrm>
            <a:off x="4178808" y="393729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−$11K</a:t>
            </a:r>
            <a:endParaRPr lang="en-US" sz="1300" dirty="0"/>
          </a:p>
        </p:txBody>
      </p:sp>
      <p:sp>
        <p:nvSpPr>
          <p:cNvPr id="61" name="Text 59"/>
          <p:cNvSpPr txBox="1"/>
          <p:nvPr/>
        </p:nvSpPr>
        <p:spPr>
          <a:xfrm>
            <a:off x="5276088"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62" name="Text 60"/>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3" name="Text 61"/>
          <p:cNvSpPr txBox="1"/>
          <p:nvPr/>
        </p:nvSpPr>
        <p:spPr>
          <a:xfrm>
            <a:off x="1014984"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64" name="Shape 62"/>
          <p:cNvSpPr/>
          <p:nvPr/>
        </p:nvSpPr>
        <p:spPr>
          <a:xfrm>
            <a:off x="3762034" y="4241713"/>
            <a:ext cx="75401" cy="136676"/>
          </a:xfrm>
          <a:prstGeom prst="rect">
            <a:avLst/>
          </a:prstGeom>
          <a:solidFill>
            <a:srgbClr val="C2352F"/>
          </a:solidFill>
          <a:ln/>
        </p:spPr>
      </p:sp>
      <p:sp>
        <p:nvSpPr>
          <p:cNvPr id="65" name="Text 63"/>
          <p:cNvSpPr txBox="1"/>
          <p:nvPr/>
        </p:nvSpPr>
        <p:spPr>
          <a:xfrm>
            <a:off x="4178808" y="418580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−$14K</a:t>
            </a:r>
            <a:endParaRPr lang="en-US" sz="1300" dirty="0"/>
          </a:p>
        </p:txBody>
      </p:sp>
      <p:sp>
        <p:nvSpPr>
          <p:cNvPr id="66" name="Text 64"/>
          <p:cNvSpPr txBox="1"/>
          <p:nvPr/>
        </p:nvSpPr>
        <p:spPr>
          <a:xfrm>
            <a:off x="5276088"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a:t>
            </a:r>
            <a:endParaRPr lang="en-US" sz="1300" dirty="0"/>
          </a:p>
        </p:txBody>
      </p:sp>
      <p:sp>
        <p:nvSpPr>
          <p:cNvPr id="67" name="Text 65"/>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8" name="Text 66"/>
          <p:cNvSpPr txBox="1"/>
          <p:nvPr/>
        </p:nvSpPr>
        <p:spPr>
          <a:xfrm>
            <a:off x="1014984"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69" name="Shape 67"/>
          <p:cNvSpPr/>
          <p:nvPr/>
        </p:nvSpPr>
        <p:spPr>
          <a:xfrm>
            <a:off x="3751798" y="4490215"/>
            <a:ext cx="85637" cy="136676"/>
          </a:xfrm>
          <a:prstGeom prst="rect">
            <a:avLst/>
          </a:prstGeom>
          <a:solidFill>
            <a:srgbClr val="C2352F"/>
          </a:solidFill>
          <a:ln/>
        </p:spPr>
      </p:sp>
      <p:sp>
        <p:nvSpPr>
          <p:cNvPr id="70" name="Text 68"/>
          <p:cNvSpPr txBox="1"/>
          <p:nvPr/>
        </p:nvSpPr>
        <p:spPr>
          <a:xfrm>
            <a:off x="4178808" y="443430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−$16K</a:t>
            </a:r>
            <a:endParaRPr lang="en-US" sz="1300" dirty="0"/>
          </a:p>
        </p:txBody>
      </p:sp>
      <p:sp>
        <p:nvSpPr>
          <p:cNvPr id="71" name="Text 69"/>
          <p:cNvSpPr txBox="1"/>
          <p:nvPr/>
        </p:nvSpPr>
        <p:spPr>
          <a:xfrm>
            <a:off x="5276088"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9.0%</a:t>
            </a:r>
            <a:endParaRPr lang="en-US" sz="1300" dirty="0"/>
          </a:p>
        </p:txBody>
      </p:sp>
      <p:sp>
        <p:nvSpPr>
          <p:cNvPr id="72" name="Text 70"/>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3" name="Text 71"/>
          <p:cNvSpPr txBox="1"/>
          <p:nvPr/>
        </p:nvSpPr>
        <p:spPr>
          <a:xfrm>
            <a:off x="1014984"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74" name="Shape 72"/>
          <p:cNvSpPr/>
          <p:nvPr/>
        </p:nvSpPr>
        <p:spPr>
          <a:xfrm>
            <a:off x="3727198" y="4738717"/>
            <a:ext cx="110237" cy="136676"/>
          </a:xfrm>
          <a:prstGeom prst="rect">
            <a:avLst/>
          </a:prstGeom>
          <a:solidFill>
            <a:srgbClr val="C2352F"/>
          </a:solidFill>
          <a:ln/>
        </p:spPr>
      </p:sp>
      <p:sp>
        <p:nvSpPr>
          <p:cNvPr id="75" name="Text 73"/>
          <p:cNvSpPr txBox="1"/>
          <p:nvPr/>
        </p:nvSpPr>
        <p:spPr>
          <a:xfrm>
            <a:off x="4178808" y="468280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−$20K</a:t>
            </a:r>
            <a:endParaRPr lang="en-US" sz="1300" dirty="0"/>
          </a:p>
        </p:txBody>
      </p:sp>
      <p:sp>
        <p:nvSpPr>
          <p:cNvPr id="76" name="Text 74"/>
          <p:cNvSpPr txBox="1"/>
          <p:nvPr/>
        </p:nvSpPr>
        <p:spPr>
          <a:xfrm>
            <a:off x="5276088"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a:t>
            </a:r>
            <a:endParaRPr lang="en-US" sz="1300" dirty="0"/>
          </a:p>
        </p:txBody>
      </p:sp>
      <p:sp>
        <p:nvSpPr>
          <p:cNvPr id="77" name="Text 75"/>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8" name="Text 76"/>
          <p:cNvSpPr txBox="1"/>
          <p:nvPr/>
        </p:nvSpPr>
        <p:spPr>
          <a:xfrm>
            <a:off x="1014984"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79" name="Shape 77"/>
          <p:cNvSpPr/>
          <p:nvPr/>
        </p:nvSpPr>
        <p:spPr>
          <a:xfrm>
            <a:off x="3725070" y="4987218"/>
            <a:ext cx="112366" cy="136676"/>
          </a:xfrm>
          <a:prstGeom prst="rect">
            <a:avLst/>
          </a:prstGeom>
          <a:solidFill>
            <a:srgbClr val="C2352F"/>
          </a:solidFill>
          <a:ln/>
        </p:spPr>
      </p:sp>
      <p:sp>
        <p:nvSpPr>
          <p:cNvPr id="80" name="Text 78"/>
          <p:cNvSpPr txBox="1"/>
          <p:nvPr/>
        </p:nvSpPr>
        <p:spPr>
          <a:xfrm>
            <a:off x="4178808" y="4931305"/>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81" name="Text 79"/>
          <p:cNvSpPr txBox="1"/>
          <p:nvPr/>
        </p:nvSpPr>
        <p:spPr>
          <a:xfrm>
            <a:off x="5276088"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a:t>
            </a:r>
            <a:endParaRPr lang="en-US" sz="1300" dirty="0"/>
          </a:p>
        </p:txBody>
      </p:sp>
      <p:sp>
        <p:nvSpPr>
          <p:cNvPr id="82" name="Text 80"/>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3" name="Text 81"/>
          <p:cNvSpPr txBox="1"/>
          <p:nvPr/>
        </p:nvSpPr>
        <p:spPr>
          <a:xfrm>
            <a:off x="1014984"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84" name="Shape 82"/>
          <p:cNvSpPr/>
          <p:nvPr/>
        </p:nvSpPr>
        <p:spPr>
          <a:xfrm>
            <a:off x="3723194" y="5235720"/>
            <a:ext cx="114242" cy="136676"/>
          </a:xfrm>
          <a:prstGeom prst="rect">
            <a:avLst/>
          </a:prstGeom>
          <a:solidFill>
            <a:srgbClr val="C2352F"/>
          </a:solidFill>
          <a:ln/>
        </p:spPr>
      </p:sp>
      <p:sp>
        <p:nvSpPr>
          <p:cNvPr id="85" name="Text 83"/>
          <p:cNvSpPr txBox="1"/>
          <p:nvPr/>
        </p:nvSpPr>
        <p:spPr>
          <a:xfrm>
            <a:off x="4178808" y="517980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86" name="Text 84"/>
          <p:cNvSpPr txBox="1"/>
          <p:nvPr/>
        </p:nvSpPr>
        <p:spPr>
          <a:xfrm>
            <a:off x="5276088"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0.4%</a:t>
            </a:r>
            <a:endParaRPr lang="en-US" sz="1300" dirty="0"/>
          </a:p>
        </p:txBody>
      </p:sp>
      <p:sp>
        <p:nvSpPr>
          <p:cNvPr id="87" name="Text 85"/>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8" name="Text 86"/>
          <p:cNvSpPr txBox="1"/>
          <p:nvPr/>
        </p:nvSpPr>
        <p:spPr>
          <a:xfrm>
            <a:off x="1014984"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89" name="Shape 87"/>
          <p:cNvSpPr/>
          <p:nvPr/>
        </p:nvSpPr>
        <p:spPr>
          <a:xfrm>
            <a:off x="3710862" y="5484222"/>
            <a:ext cx="126574" cy="136676"/>
          </a:xfrm>
          <a:prstGeom prst="rect">
            <a:avLst/>
          </a:prstGeom>
          <a:solidFill>
            <a:srgbClr val="C2352F"/>
          </a:solidFill>
          <a:ln/>
        </p:spPr>
      </p:sp>
      <p:sp>
        <p:nvSpPr>
          <p:cNvPr id="90" name="Text 88"/>
          <p:cNvSpPr txBox="1"/>
          <p:nvPr/>
        </p:nvSpPr>
        <p:spPr>
          <a:xfrm>
            <a:off x="4178808" y="542830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−$23K</a:t>
            </a:r>
            <a:endParaRPr lang="en-US" sz="1300" dirty="0"/>
          </a:p>
        </p:txBody>
      </p:sp>
      <p:sp>
        <p:nvSpPr>
          <p:cNvPr id="91" name="Text 89"/>
          <p:cNvSpPr txBox="1"/>
          <p:nvPr/>
        </p:nvSpPr>
        <p:spPr>
          <a:xfrm>
            <a:off x="5276088"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92" name="Text 90"/>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3" name="Text 91"/>
          <p:cNvSpPr txBox="1"/>
          <p:nvPr/>
        </p:nvSpPr>
        <p:spPr>
          <a:xfrm>
            <a:off x="1014984" y="567681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94" name="Shape 92"/>
          <p:cNvSpPr/>
          <p:nvPr/>
        </p:nvSpPr>
        <p:spPr>
          <a:xfrm>
            <a:off x="3690964" y="5732723"/>
            <a:ext cx="146471" cy="136676"/>
          </a:xfrm>
          <a:prstGeom prst="rect">
            <a:avLst/>
          </a:prstGeom>
          <a:solidFill>
            <a:srgbClr val="C2352F"/>
          </a:solidFill>
          <a:ln/>
        </p:spPr>
      </p:sp>
      <p:sp>
        <p:nvSpPr>
          <p:cNvPr id="95" name="Text 93"/>
          <p:cNvSpPr txBox="1"/>
          <p:nvPr/>
        </p:nvSpPr>
        <p:spPr>
          <a:xfrm>
            <a:off x="4178808" y="567681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−$27K</a:t>
            </a:r>
            <a:endParaRPr lang="en-US" sz="1300" dirty="0"/>
          </a:p>
        </p:txBody>
      </p:sp>
      <p:sp>
        <p:nvSpPr>
          <p:cNvPr id="96" name="Text 94"/>
          <p:cNvSpPr txBox="1"/>
          <p:nvPr/>
        </p:nvSpPr>
        <p:spPr>
          <a:xfrm>
            <a:off x="5276088" y="567681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97" name="Text 95"/>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8" name="Text 96"/>
          <p:cNvSpPr txBox="1"/>
          <p:nvPr/>
        </p:nvSpPr>
        <p:spPr>
          <a:xfrm>
            <a:off x="6565392"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99" name="Shape 97"/>
          <p:cNvSpPr/>
          <p:nvPr/>
        </p:nvSpPr>
        <p:spPr>
          <a:xfrm>
            <a:off x="9230771" y="1756697"/>
            <a:ext cx="157072" cy="136676"/>
          </a:xfrm>
          <a:prstGeom prst="rect">
            <a:avLst/>
          </a:prstGeom>
          <a:solidFill>
            <a:srgbClr val="C2352F"/>
          </a:solidFill>
          <a:ln/>
        </p:spPr>
      </p:sp>
      <p:sp>
        <p:nvSpPr>
          <p:cNvPr id="100" name="Text 98"/>
          <p:cNvSpPr txBox="1"/>
          <p:nvPr/>
        </p:nvSpPr>
        <p:spPr>
          <a:xfrm>
            <a:off x="9729216" y="170078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−$29K</a:t>
            </a:r>
            <a:endParaRPr lang="en-US" sz="1300" dirty="0"/>
          </a:p>
        </p:txBody>
      </p:sp>
      <p:sp>
        <p:nvSpPr>
          <p:cNvPr id="101" name="Text 99"/>
          <p:cNvSpPr txBox="1"/>
          <p:nvPr/>
        </p:nvSpPr>
        <p:spPr>
          <a:xfrm>
            <a:off x="10826496"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a:t>
            </a:r>
            <a:endParaRPr lang="en-US" sz="1300" dirty="0"/>
          </a:p>
        </p:txBody>
      </p:sp>
      <p:sp>
        <p:nvSpPr>
          <p:cNvPr id="102" name="Text 100"/>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3" name="Text 101"/>
          <p:cNvSpPr txBox="1"/>
          <p:nvPr/>
        </p:nvSpPr>
        <p:spPr>
          <a:xfrm>
            <a:off x="6565392"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04" name="Shape 102"/>
          <p:cNvSpPr/>
          <p:nvPr/>
        </p:nvSpPr>
        <p:spPr>
          <a:xfrm>
            <a:off x="9175412" y="2005199"/>
            <a:ext cx="212431" cy="136676"/>
          </a:xfrm>
          <a:prstGeom prst="rect">
            <a:avLst/>
          </a:prstGeom>
          <a:solidFill>
            <a:srgbClr val="C2352F"/>
          </a:solidFill>
          <a:ln/>
        </p:spPr>
      </p:sp>
      <p:sp>
        <p:nvSpPr>
          <p:cNvPr id="105" name="Text 103"/>
          <p:cNvSpPr txBox="1"/>
          <p:nvPr/>
        </p:nvSpPr>
        <p:spPr>
          <a:xfrm>
            <a:off x="9729216" y="194928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−$39K</a:t>
            </a:r>
            <a:endParaRPr lang="en-US" sz="1300" dirty="0"/>
          </a:p>
        </p:txBody>
      </p:sp>
      <p:sp>
        <p:nvSpPr>
          <p:cNvPr id="106" name="Text 104"/>
          <p:cNvSpPr txBox="1"/>
          <p:nvPr/>
        </p:nvSpPr>
        <p:spPr>
          <a:xfrm>
            <a:off x="10826496"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a:t>
            </a:r>
            <a:endParaRPr lang="en-US" sz="1300" dirty="0"/>
          </a:p>
        </p:txBody>
      </p:sp>
      <p:sp>
        <p:nvSpPr>
          <p:cNvPr id="107" name="Text 105"/>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08" name="Text 106"/>
          <p:cNvSpPr txBox="1"/>
          <p:nvPr/>
        </p:nvSpPr>
        <p:spPr>
          <a:xfrm>
            <a:off x="6565392"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09" name="Shape 107"/>
          <p:cNvSpPr/>
          <p:nvPr/>
        </p:nvSpPr>
        <p:spPr>
          <a:xfrm>
            <a:off x="9174770" y="2253700"/>
            <a:ext cx="213073" cy="136676"/>
          </a:xfrm>
          <a:prstGeom prst="rect">
            <a:avLst/>
          </a:prstGeom>
          <a:solidFill>
            <a:srgbClr val="C2352F"/>
          </a:solidFill>
          <a:ln/>
        </p:spPr>
      </p:sp>
      <p:sp>
        <p:nvSpPr>
          <p:cNvPr id="110" name="Text 108"/>
          <p:cNvSpPr txBox="1"/>
          <p:nvPr/>
        </p:nvSpPr>
        <p:spPr>
          <a:xfrm>
            <a:off x="9729216" y="219778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−$39K</a:t>
            </a:r>
            <a:endParaRPr lang="en-US" sz="1300" dirty="0"/>
          </a:p>
        </p:txBody>
      </p:sp>
      <p:sp>
        <p:nvSpPr>
          <p:cNvPr id="111" name="Text 109"/>
          <p:cNvSpPr txBox="1"/>
          <p:nvPr/>
        </p:nvSpPr>
        <p:spPr>
          <a:xfrm>
            <a:off x="10826496"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0.1%</a:t>
            </a:r>
            <a:endParaRPr lang="en-US" sz="1300" dirty="0"/>
          </a:p>
        </p:txBody>
      </p:sp>
      <p:sp>
        <p:nvSpPr>
          <p:cNvPr id="112" name="Text 110"/>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3" name="Text 111"/>
          <p:cNvSpPr txBox="1"/>
          <p:nvPr/>
        </p:nvSpPr>
        <p:spPr>
          <a:xfrm>
            <a:off x="6565392"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14" name="Shape 112"/>
          <p:cNvSpPr/>
          <p:nvPr/>
        </p:nvSpPr>
        <p:spPr>
          <a:xfrm>
            <a:off x="9156849" y="2502202"/>
            <a:ext cx="230994" cy="136676"/>
          </a:xfrm>
          <a:prstGeom prst="rect">
            <a:avLst/>
          </a:prstGeom>
          <a:solidFill>
            <a:srgbClr val="C2352F"/>
          </a:solidFill>
          <a:ln/>
        </p:spPr>
      </p:sp>
      <p:sp>
        <p:nvSpPr>
          <p:cNvPr id="115" name="Text 113"/>
          <p:cNvSpPr txBox="1"/>
          <p:nvPr/>
        </p:nvSpPr>
        <p:spPr>
          <a:xfrm>
            <a:off x="9729216" y="244628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−$42K</a:t>
            </a:r>
            <a:endParaRPr lang="en-US" sz="1300" dirty="0"/>
          </a:p>
        </p:txBody>
      </p:sp>
      <p:sp>
        <p:nvSpPr>
          <p:cNvPr id="116" name="Text 114"/>
          <p:cNvSpPr txBox="1"/>
          <p:nvPr/>
        </p:nvSpPr>
        <p:spPr>
          <a:xfrm>
            <a:off x="10826496"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117" name="Text 115"/>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18" name="Text 116"/>
          <p:cNvSpPr txBox="1"/>
          <p:nvPr/>
        </p:nvSpPr>
        <p:spPr>
          <a:xfrm>
            <a:off x="6565392"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19" name="Shape 117"/>
          <p:cNvSpPr/>
          <p:nvPr/>
        </p:nvSpPr>
        <p:spPr>
          <a:xfrm>
            <a:off x="9109512" y="2750703"/>
            <a:ext cx="278331" cy="136676"/>
          </a:xfrm>
          <a:prstGeom prst="rect">
            <a:avLst/>
          </a:prstGeom>
          <a:solidFill>
            <a:srgbClr val="C2352F"/>
          </a:solidFill>
          <a:ln/>
        </p:spPr>
      </p:sp>
      <p:sp>
        <p:nvSpPr>
          <p:cNvPr id="120" name="Text 118"/>
          <p:cNvSpPr txBox="1"/>
          <p:nvPr/>
        </p:nvSpPr>
        <p:spPr>
          <a:xfrm>
            <a:off x="9729216" y="2694791"/>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−$51K</a:t>
            </a:r>
            <a:endParaRPr lang="en-US" sz="1300" dirty="0"/>
          </a:p>
        </p:txBody>
      </p:sp>
      <p:sp>
        <p:nvSpPr>
          <p:cNvPr id="121" name="Text 119"/>
          <p:cNvSpPr txBox="1"/>
          <p:nvPr/>
        </p:nvSpPr>
        <p:spPr>
          <a:xfrm>
            <a:off x="10826496"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a:t>
            </a:r>
            <a:endParaRPr lang="en-US" sz="1300" dirty="0"/>
          </a:p>
        </p:txBody>
      </p:sp>
      <p:sp>
        <p:nvSpPr>
          <p:cNvPr id="122" name="Text 120"/>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3" name="Text 121"/>
          <p:cNvSpPr txBox="1"/>
          <p:nvPr/>
        </p:nvSpPr>
        <p:spPr>
          <a:xfrm>
            <a:off x="6565392"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24" name="Shape 122"/>
          <p:cNvSpPr/>
          <p:nvPr/>
        </p:nvSpPr>
        <p:spPr>
          <a:xfrm>
            <a:off x="9109414" y="2999205"/>
            <a:ext cx="278430" cy="136676"/>
          </a:xfrm>
          <a:prstGeom prst="rect">
            <a:avLst/>
          </a:prstGeom>
          <a:solidFill>
            <a:srgbClr val="C2352F"/>
          </a:solidFill>
          <a:ln/>
        </p:spPr>
      </p:sp>
      <p:sp>
        <p:nvSpPr>
          <p:cNvPr id="125" name="Text 123"/>
          <p:cNvSpPr txBox="1"/>
          <p:nvPr/>
        </p:nvSpPr>
        <p:spPr>
          <a:xfrm>
            <a:off x="9729216" y="294329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−$51K</a:t>
            </a:r>
            <a:endParaRPr lang="en-US" sz="1300" dirty="0"/>
          </a:p>
        </p:txBody>
      </p:sp>
      <p:sp>
        <p:nvSpPr>
          <p:cNvPr id="126" name="Text 124"/>
          <p:cNvSpPr txBox="1"/>
          <p:nvPr/>
        </p:nvSpPr>
        <p:spPr>
          <a:xfrm>
            <a:off x="10826496"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127" name="Text 125"/>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28" name="Text 126"/>
          <p:cNvSpPr txBox="1"/>
          <p:nvPr/>
        </p:nvSpPr>
        <p:spPr>
          <a:xfrm>
            <a:off x="6565392"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29" name="Shape 127"/>
          <p:cNvSpPr/>
          <p:nvPr/>
        </p:nvSpPr>
        <p:spPr>
          <a:xfrm>
            <a:off x="9093262" y="3247707"/>
            <a:ext cx="294581" cy="136676"/>
          </a:xfrm>
          <a:prstGeom prst="rect">
            <a:avLst/>
          </a:prstGeom>
          <a:solidFill>
            <a:srgbClr val="C2352F"/>
          </a:solidFill>
          <a:ln/>
        </p:spPr>
      </p:sp>
      <p:sp>
        <p:nvSpPr>
          <p:cNvPr id="130" name="Text 128"/>
          <p:cNvSpPr txBox="1"/>
          <p:nvPr/>
        </p:nvSpPr>
        <p:spPr>
          <a:xfrm>
            <a:off x="9729216" y="319179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−$54K</a:t>
            </a:r>
            <a:endParaRPr lang="en-US" sz="1300" dirty="0"/>
          </a:p>
        </p:txBody>
      </p:sp>
      <p:sp>
        <p:nvSpPr>
          <p:cNvPr id="131" name="Text 129"/>
          <p:cNvSpPr txBox="1"/>
          <p:nvPr/>
        </p:nvSpPr>
        <p:spPr>
          <a:xfrm>
            <a:off x="10826496"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132" name="Text 130"/>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3" name="Text 131"/>
          <p:cNvSpPr txBox="1"/>
          <p:nvPr/>
        </p:nvSpPr>
        <p:spPr>
          <a:xfrm>
            <a:off x="6565392"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34" name="Shape 132"/>
          <p:cNvSpPr/>
          <p:nvPr/>
        </p:nvSpPr>
        <p:spPr>
          <a:xfrm>
            <a:off x="9087005" y="3496208"/>
            <a:ext cx="300838" cy="136676"/>
          </a:xfrm>
          <a:prstGeom prst="rect">
            <a:avLst/>
          </a:prstGeom>
          <a:solidFill>
            <a:srgbClr val="C2352F"/>
          </a:solidFill>
          <a:ln/>
        </p:spPr>
      </p:sp>
      <p:sp>
        <p:nvSpPr>
          <p:cNvPr id="135" name="Text 133"/>
          <p:cNvSpPr txBox="1"/>
          <p:nvPr/>
        </p:nvSpPr>
        <p:spPr>
          <a:xfrm>
            <a:off x="9729216" y="344029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−$55K</a:t>
            </a:r>
            <a:endParaRPr lang="en-US" sz="1300" dirty="0"/>
          </a:p>
        </p:txBody>
      </p:sp>
      <p:sp>
        <p:nvSpPr>
          <p:cNvPr id="136" name="Text 134"/>
          <p:cNvSpPr txBox="1"/>
          <p:nvPr/>
        </p:nvSpPr>
        <p:spPr>
          <a:xfrm>
            <a:off x="10826496"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37" name="Text 135"/>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38" name="Text 136"/>
          <p:cNvSpPr txBox="1"/>
          <p:nvPr/>
        </p:nvSpPr>
        <p:spPr>
          <a:xfrm>
            <a:off x="6565392"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39" name="Shape 137"/>
          <p:cNvSpPr/>
          <p:nvPr/>
        </p:nvSpPr>
        <p:spPr>
          <a:xfrm>
            <a:off x="9073146" y="3744710"/>
            <a:ext cx="314698" cy="136676"/>
          </a:xfrm>
          <a:prstGeom prst="rect">
            <a:avLst/>
          </a:prstGeom>
          <a:solidFill>
            <a:srgbClr val="C2352F"/>
          </a:solidFill>
          <a:ln/>
        </p:spPr>
      </p:sp>
      <p:sp>
        <p:nvSpPr>
          <p:cNvPr id="140" name="Text 138"/>
          <p:cNvSpPr txBox="1"/>
          <p:nvPr/>
        </p:nvSpPr>
        <p:spPr>
          <a:xfrm>
            <a:off x="9729216" y="368879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−$58K</a:t>
            </a:r>
            <a:endParaRPr lang="en-US" sz="1300" dirty="0"/>
          </a:p>
        </p:txBody>
      </p:sp>
      <p:sp>
        <p:nvSpPr>
          <p:cNvPr id="141" name="Text 139"/>
          <p:cNvSpPr txBox="1"/>
          <p:nvPr/>
        </p:nvSpPr>
        <p:spPr>
          <a:xfrm>
            <a:off x="10826496"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a:t>
            </a:r>
            <a:endParaRPr lang="en-US" sz="1300" dirty="0"/>
          </a:p>
        </p:txBody>
      </p:sp>
      <p:sp>
        <p:nvSpPr>
          <p:cNvPr id="142" name="Text 140"/>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3" name="Text 141"/>
          <p:cNvSpPr txBox="1"/>
          <p:nvPr/>
        </p:nvSpPr>
        <p:spPr>
          <a:xfrm>
            <a:off x="6565392"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44" name="Shape 142"/>
          <p:cNvSpPr/>
          <p:nvPr/>
        </p:nvSpPr>
        <p:spPr>
          <a:xfrm>
            <a:off x="9059221" y="3993212"/>
            <a:ext cx="328622" cy="136676"/>
          </a:xfrm>
          <a:prstGeom prst="rect">
            <a:avLst/>
          </a:prstGeom>
          <a:solidFill>
            <a:srgbClr val="C2352F"/>
          </a:solidFill>
          <a:ln/>
        </p:spPr>
      </p:sp>
      <p:sp>
        <p:nvSpPr>
          <p:cNvPr id="145" name="Text 143"/>
          <p:cNvSpPr txBox="1"/>
          <p:nvPr/>
        </p:nvSpPr>
        <p:spPr>
          <a:xfrm>
            <a:off x="9729216" y="393729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−$60K</a:t>
            </a:r>
            <a:endParaRPr lang="en-US" sz="1300" dirty="0"/>
          </a:p>
        </p:txBody>
      </p:sp>
      <p:sp>
        <p:nvSpPr>
          <p:cNvPr id="146" name="Text 144"/>
          <p:cNvSpPr txBox="1"/>
          <p:nvPr/>
        </p:nvSpPr>
        <p:spPr>
          <a:xfrm>
            <a:off x="10826496"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a:t>
            </a:r>
            <a:endParaRPr lang="en-US" sz="1300" dirty="0"/>
          </a:p>
        </p:txBody>
      </p:sp>
      <p:sp>
        <p:nvSpPr>
          <p:cNvPr id="147" name="Text 145"/>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48" name="Text 146"/>
          <p:cNvSpPr txBox="1"/>
          <p:nvPr/>
        </p:nvSpPr>
        <p:spPr>
          <a:xfrm>
            <a:off x="6565392"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49" name="Shape 147"/>
          <p:cNvSpPr/>
          <p:nvPr/>
        </p:nvSpPr>
        <p:spPr>
          <a:xfrm>
            <a:off x="8951542" y="4241713"/>
            <a:ext cx="436301" cy="136676"/>
          </a:xfrm>
          <a:prstGeom prst="rect">
            <a:avLst/>
          </a:prstGeom>
          <a:solidFill>
            <a:srgbClr val="C2352F"/>
          </a:solidFill>
          <a:ln/>
        </p:spPr>
      </p:sp>
      <p:sp>
        <p:nvSpPr>
          <p:cNvPr id="150" name="Text 148"/>
          <p:cNvSpPr txBox="1"/>
          <p:nvPr/>
        </p:nvSpPr>
        <p:spPr>
          <a:xfrm>
            <a:off x="9729216" y="418580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−$80K</a:t>
            </a:r>
            <a:endParaRPr lang="en-US" sz="1300" dirty="0"/>
          </a:p>
        </p:txBody>
      </p:sp>
      <p:sp>
        <p:nvSpPr>
          <p:cNvPr id="151" name="Text 149"/>
          <p:cNvSpPr txBox="1"/>
          <p:nvPr/>
        </p:nvSpPr>
        <p:spPr>
          <a:xfrm>
            <a:off x="10826496"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a:t>
            </a:r>
            <a:endParaRPr lang="en-US" sz="1300" dirty="0"/>
          </a:p>
        </p:txBody>
      </p:sp>
      <p:sp>
        <p:nvSpPr>
          <p:cNvPr id="152" name="Text 150"/>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3" name="Text 151"/>
          <p:cNvSpPr txBox="1"/>
          <p:nvPr/>
        </p:nvSpPr>
        <p:spPr>
          <a:xfrm>
            <a:off x="6565392"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54" name="Shape 152"/>
          <p:cNvSpPr/>
          <p:nvPr/>
        </p:nvSpPr>
        <p:spPr>
          <a:xfrm>
            <a:off x="8940210" y="4490215"/>
            <a:ext cx="447633" cy="136676"/>
          </a:xfrm>
          <a:prstGeom prst="rect">
            <a:avLst/>
          </a:prstGeom>
          <a:solidFill>
            <a:srgbClr val="C2352F"/>
          </a:solidFill>
          <a:ln/>
        </p:spPr>
      </p:sp>
      <p:sp>
        <p:nvSpPr>
          <p:cNvPr id="155" name="Text 153"/>
          <p:cNvSpPr txBox="1"/>
          <p:nvPr/>
        </p:nvSpPr>
        <p:spPr>
          <a:xfrm>
            <a:off x="9729216" y="443430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−$82K</a:t>
            </a:r>
            <a:endParaRPr lang="en-US" sz="1300" dirty="0"/>
          </a:p>
        </p:txBody>
      </p:sp>
      <p:sp>
        <p:nvSpPr>
          <p:cNvPr id="156" name="Text 154"/>
          <p:cNvSpPr txBox="1"/>
          <p:nvPr/>
        </p:nvSpPr>
        <p:spPr>
          <a:xfrm>
            <a:off x="10826496"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157" name="Text 155"/>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58" name="Text 156"/>
          <p:cNvSpPr txBox="1"/>
          <p:nvPr/>
        </p:nvSpPr>
        <p:spPr>
          <a:xfrm>
            <a:off x="6565392"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59" name="Shape 157"/>
          <p:cNvSpPr/>
          <p:nvPr/>
        </p:nvSpPr>
        <p:spPr>
          <a:xfrm>
            <a:off x="8875154" y="4738717"/>
            <a:ext cx="512690" cy="136676"/>
          </a:xfrm>
          <a:prstGeom prst="rect">
            <a:avLst/>
          </a:prstGeom>
          <a:solidFill>
            <a:srgbClr val="C2352F"/>
          </a:solidFill>
          <a:ln/>
        </p:spPr>
      </p:sp>
      <p:sp>
        <p:nvSpPr>
          <p:cNvPr id="160" name="Text 158"/>
          <p:cNvSpPr txBox="1"/>
          <p:nvPr/>
        </p:nvSpPr>
        <p:spPr>
          <a:xfrm>
            <a:off x="9729216" y="468280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−$94K</a:t>
            </a:r>
            <a:endParaRPr lang="en-US" sz="1300" dirty="0"/>
          </a:p>
        </p:txBody>
      </p:sp>
      <p:sp>
        <p:nvSpPr>
          <p:cNvPr id="161" name="Text 159"/>
          <p:cNvSpPr txBox="1"/>
          <p:nvPr/>
        </p:nvSpPr>
        <p:spPr>
          <a:xfrm>
            <a:off x="10826496"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a:t>
            </a:r>
            <a:endParaRPr lang="en-US" sz="1300" dirty="0"/>
          </a:p>
        </p:txBody>
      </p:sp>
      <p:sp>
        <p:nvSpPr>
          <p:cNvPr id="162" name="Text 160"/>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3" name="Text 161"/>
          <p:cNvSpPr txBox="1"/>
          <p:nvPr/>
        </p:nvSpPr>
        <p:spPr>
          <a:xfrm>
            <a:off x="6565392"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64" name="Shape 162"/>
          <p:cNvSpPr/>
          <p:nvPr/>
        </p:nvSpPr>
        <p:spPr>
          <a:xfrm>
            <a:off x="8844728" y="4987218"/>
            <a:ext cx="543115" cy="136676"/>
          </a:xfrm>
          <a:prstGeom prst="rect">
            <a:avLst/>
          </a:prstGeom>
          <a:solidFill>
            <a:srgbClr val="C2352F"/>
          </a:solidFill>
          <a:ln/>
        </p:spPr>
      </p:sp>
      <p:sp>
        <p:nvSpPr>
          <p:cNvPr id="165" name="Text 163"/>
          <p:cNvSpPr txBox="1"/>
          <p:nvPr/>
        </p:nvSpPr>
        <p:spPr>
          <a:xfrm>
            <a:off x="9729216" y="4931305"/>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−$99K</a:t>
            </a:r>
            <a:endParaRPr lang="en-US" sz="1300" dirty="0"/>
          </a:p>
        </p:txBody>
      </p:sp>
      <p:sp>
        <p:nvSpPr>
          <p:cNvPr id="166" name="Text 164"/>
          <p:cNvSpPr txBox="1"/>
          <p:nvPr/>
        </p:nvSpPr>
        <p:spPr>
          <a:xfrm>
            <a:off x="10826496"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6.1%</a:t>
            </a:r>
            <a:endParaRPr lang="en-US" sz="1300" dirty="0"/>
          </a:p>
        </p:txBody>
      </p:sp>
      <p:sp>
        <p:nvSpPr>
          <p:cNvPr id="167" name="Text 165"/>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68" name="Text 166"/>
          <p:cNvSpPr txBox="1"/>
          <p:nvPr/>
        </p:nvSpPr>
        <p:spPr>
          <a:xfrm>
            <a:off x="6565392"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69" name="Shape 167"/>
          <p:cNvSpPr/>
          <p:nvPr/>
        </p:nvSpPr>
        <p:spPr>
          <a:xfrm>
            <a:off x="8783012" y="5235720"/>
            <a:ext cx="604831" cy="136676"/>
          </a:xfrm>
          <a:prstGeom prst="rect">
            <a:avLst/>
          </a:prstGeom>
          <a:solidFill>
            <a:srgbClr val="C2352F"/>
          </a:solidFill>
          <a:ln/>
        </p:spPr>
      </p:sp>
      <p:sp>
        <p:nvSpPr>
          <p:cNvPr id="170" name="Text 168"/>
          <p:cNvSpPr txBox="1"/>
          <p:nvPr/>
        </p:nvSpPr>
        <p:spPr>
          <a:xfrm>
            <a:off x="9729216" y="517980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−$111K</a:t>
            </a:r>
            <a:endParaRPr lang="en-US" sz="1300" dirty="0"/>
          </a:p>
        </p:txBody>
      </p:sp>
      <p:sp>
        <p:nvSpPr>
          <p:cNvPr id="171" name="Text 169"/>
          <p:cNvSpPr txBox="1"/>
          <p:nvPr/>
        </p:nvSpPr>
        <p:spPr>
          <a:xfrm>
            <a:off x="10826496"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11.2%</a:t>
            </a:r>
            <a:endParaRPr lang="en-US" sz="1300" dirty="0"/>
          </a:p>
        </p:txBody>
      </p:sp>
      <p:sp>
        <p:nvSpPr>
          <p:cNvPr id="172" name="Text 170"/>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3" name="Text 171"/>
          <p:cNvSpPr txBox="1"/>
          <p:nvPr/>
        </p:nvSpPr>
        <p:spPr>
          <a:xfrm>
            <a:off x="6565392"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74" name="Shape 172"/>
          <p:cNvSpPr/>
          <p:nvPr/>
        </p:nvSpPr>
        <p:spPr>
          <a:xfrm>
            <a:off x="8650224" y="5484222"/>
            <a:ext cx="737619" cy="136676"/>
          </a:xfrm>
          <a:prstGeom prst="rect">
            <a:avLst/>
          </a:prstGeom>
          <a:solidFill>
            <a:srgbClr val="C2352F"/>
          </a:solidFill>
          <a:ln/>
        </p:spPr>
      </p:sp>
      <p:sp>
        <p:nvSpPr>
          <p:cNvPr id="175" name="Text 173"/>
          <p:cNvSpPr txBox="1"/>
          <p:nvPr/>
        </p:nvSpPr>
        <p:spPr>
          <a:xfrm>
            <a:off x="9729216" y="542830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−$135K</a:t>
            </a:r>
            <a:endParaRPr lang="en-US" sz="1300" dirty="0"/>
          </a:p>
        </p:txBody>
      </p:sp>
      <p:sp>
        <p:nvSpPr>
          <p:cNvPr id="176" name="Text 174"/>
          <p:cNvSpPr txBox="1"/>
          <p:nvPr/>
        </p:nvSpPr>
        <p:spPr>
          <a:xfrm>
            <a:off x="10826496"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0.4%</a:t>
            </a:r>
            <a:endParaRPr lang="en-US" sz="1300" dirty="0"/>
          </a:p>
        </p:txBody>
      </p:sp>
      <p:sp>
        <p:nvSpPr>
          <p:cNvPr id="177" name="Shape 175"/>
          <p:cNvSpPr/>
          <p:nvPr/>
        </p:nvSpPr>
        <p:spPr>
          <a:xfrm>
            <a:off x="6085332" y="1700784"/>
            <a:ext cx="10973" cy="4224528"/>
          </a:xfrm>
          <a:prstGeom prst="rect">
            <a:avLst/>
          </a:prstGeom>
          <a:solidFill>
            <a:srgbClr val="D9D9D9"/>
          </a:solidFill>
          <a:ln/>
        </p:spPr>
      </p:sp>
      <p:sp>
        <p:nvSpPr>
          <p:cNvPr id="178" name="Shape 176"/>
          <p:cNvSpPr/>
          <p:nvPr/>
        </p:nvSpPr>
        <p:spPr>
          <a:xfrm>
            <a:off x="457200" y="6126480"/>
            <a:ext cx="11274552" cy="615696"/>
          </a:xfrm>
          <a:prstGeom prst="rect">
            <a:avLst/>
          </a:prstGeom>
          <a:solidFill>
            <a:srgbClr val="FBEBEA"/>
          </a:solidFill>
          <a:ln/>
        </p:spPr>
      </p:sp>
      <p:sp>
        <p:nvSpPr>
          <p:cNvPr id="179" name="Text 177"/>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29 stores under 15% have left $1,248,289 so far this year; 4 are at or above it. Toyota Spokane is furthest below at −$135K.</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JAN–SEP 2026 YTD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Variance from Benchmark</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4178808" y="1316736"/>
            <a:ext cx="10972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7" name="Text 5"/>
          <p:cNvSpPr txBox="1"/>
          <p:nvPr/>
        </p:nvSpPr>
        <p:spPr>
          <a:xfrm>
            <a:off x="5276088"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8" name="Shape 6"/>
          <p:cNvSpPr/>
          <p:nvPr/>
        </p:nvSpPr>
        <p:spPr>
          <a:xfrm>
            <a:off x="3470240" y="1700784"/>
            <a:ext cx="10973" cy="4224528"/>
          </a:xfrm>
          <a:prstGeom prst="rect">
            <a:avLst/>
          </a:prstGeom>
          <a:solidFill>
            <a:srgbClr val="9AA3AD"/>
          </a:solidFill>
          <a:ln/>
        </p:spPr>
      </p:sp>
      <p:sp>
        <p:nvSpPr>
          <p:cNvPr id="9" name="Text 7"/>
          <p:cNvSpPr txBox="1"/>
          <p:nvPr/>
        </p:nvSpPr>
        <p:spPr>
          <a:xfrm>
            <a:off x="9729216" y="1316736"/>
            <a:ext cx="10972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10" name="Text 8"/>
          <p:cNvSpPr txBox="1"/>
          <p:nvPr/>
        </p:nvSpPr>
        <p:spPr>
          <a:xfrm>
            <a:off x="10826496"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1" name="Shape 9"/>
          <p:cNvSpPr/>
          <p:nvPr/>
        </p:nvSpPr>
        <p:spPr>
          <a:xfrm>
            <a:off x="9020648" y="1700784"/>
            <a:ext cx="10973" cy="3976026"/>
          </a:xfrm>
          <a:prstGeom prst="rect">
            <a:avLst/>
          </a:prstGeom>
          <a:solidFill>
            <a:srgbClr val="9AA3AD"/>
          </a:solidFill>
          <a:ln/>
        </p:spPr>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4" name="Shape 12"/>
          <p:cNvSpPr/>
          <p:nvPr/>
        </p:nvSpPr>
        <p:spPr>
          <a:xfrm>
            <a:off x="3475726" y="1756697"/>
            <a:ext cx="648218" cy="136676"/>
          </a:xfrm>
          <a:prstGeom prst="rect">
            <a:avLst/>
          </a:prstGeom>
          <a:solidFill>
            <a:srgbClr val="12A566"/>
          </a:solidFill>
          <a:ln/>
        </p:spPr>
      </p:sp>
      <p:sp>
        <p:nvSpPr>
          <p:cNvPr id="15" name="Text 13"/>
          <p:cNvSpPr txBox="1"/>
          <p:nvPr/>
        </p:nvSpPr>
        <p:spPr>
          <a:xfrm>
            <a:off x="4178808" y="1700784"/>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+$195K</a:t>
            </a:r>
            <a:endParaRPr lang="en-US" sz="1300" dirty="0"/>
          </a:p>
        </p:txBody>
      </p:sp>
      <p:sp>
        <p:nvSpPr>
          <p:cNvPr id="16" name="Text 14"/>
          <p:cNvSpPr txBox="1"/>
          <p:nvPr/>
        </p:nvSpPr>
        <p:spPr>
          <a:xfrm>
            <a:off x="5276088"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15.5%</a:t>
            </a:r>
            <a:endParaRPr lang="en-US" sz="1300" dirty="0"/>
          </a:p>
        </p:txBody>
      </p:sp>
      <p:sp>
        <p:nvSpPr>
          <p:cNvPr id="17" name="Text 15"/>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9" name="Shape 17"/>
          <p:cNvSpPr/>
          <p:nvPr/>
        </p:nvSpPr>
        <p:spPr>
          <a:xfrm>
            <a:off x="3475726" y="2005199"/>
            <a:ext cx="467053" cy="136676"/>
          </a:xfrm>
          <a:prstGeom prst="rect">
            <a:avLst/>
          </a:prstGeom>
          <a:solidFill>
            <a:srgbClr val="12A566"/>
          </a:solidFill>
          <a:ln/>
        </p:spPr>
      </p:sp>
      <p:sp>
        <p:nvSpPr>
          <p:cNvPr id="20" name="Text 18"/>
          <p:cNvSpPr txBox="1"/>
          <p:nvPr/>
        </p:nvSpPr>
        <p:spPr>
          <a:xfrm>
            <a:off x="4178808" y="1949286"/>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+$141K</a:t>
            </a:r>
            <a:endParaRPr lang="en-US" sz="1300" dirty="0"/>
          </a:p>
        </p:txBody>
      </p:sp>
      <p:sp>
        <p:nvSpPr>
          <p:cNvPr id="21" name="Text 19"/>
          <p:cNvSpPr txBox="1"/>
          <p:nvPr/>
        </p:nvSpPr>
        <p:spPr>
          <a:xfrm>
            <a:off x="5276088"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20.6%</a:t>
            </a:r>
            <a:endParaRPr lang="en-US" sz="1300" dirty="0"/>
          </a:p>
        </p:txBody>
      </p:sp>
      <p:sp>
        <p:nvSpPr>
          <p:cNvPr id="22" name="Text 20"/>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3" name="Text 21"/>
          <p:cNvSpPr txBox="1"/>
          <p:nvPr/>
        </p:nvSpPr>
        <p:spPr>
          <a:xfrm>
            <a:off x="1014984"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24" name="Shape 22"/>
          <p:cNvSpPr/>
          <p:nvPr/>
        </p:nvSpPr>
        <p:spPr>
          <a:xfrm>
            <a:off x="3475726" y="2253700"/>
            <a:ext cx="168095" cy="136676"/>
          </a:xfrm>
          <a:prstGeom prst="rect">
            <a:avLst/>
          </a:prstGeom>
          <a:solidFill>
            <a:srgbClr val="12A566"/>
          </a:solidFill>
          <a:ln/>
        </p:spPr>
      </p:sp>
      <p:sp>
        <p:nvSpPr>
          <p:cNvPr id="25" name="Text 23"/>
          <p:cNvSpPr txBox="1"/>
          <p:nvPr/>
        </p:nvSpPr>
        <p:spPr>
          <a:xfrm>
            <a:off x="4178808" y="2197787"/>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+$51K</a:t>
            </a:r>
            <a:endParaRPr lang="en-US" sz="1300" dirty="0"/>
          </a:p>
        </p:txBody>
      </p:sp>
      <p:sp>
        <p:nvSpPr>
          <p:cNvPr id="26" name="Text 24"/>
          <p:cNvSpPr txBox="1"/>
          <p:nvPr/>
        </p:nvSpPr>
        <p:spPr>
          <a:xfrm>
            <a:off x="5276088"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12.1%</a:t>
            </a:r>
            <a:endParaRPr lang="en-US" sz="1300" dirty="0"/>
          </a:p>
        </p:txBody>
      </p:sp>
      <p:sp>
        <p:nvSpPr>
          <p:cNvPr id="27" name="Text 25"/>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8" name="Text 26"/>
          <p:cNvSpPr txBox="1"/>
          <p:nvPr/>
        </p:nvSpPr>
        <p:spPr>
          <a:xfrm>
            <a:off x="1014984"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29" name="Shape 27"/>
          <p:cNvSpPr/>
          <p:nvPr/>
        </p:nvSpPr>
        <p:spPr>
          <a:xfrm>
            <a:off x="3475726" y="2502202"/>
            <a:ext cx="84155" cy="136676"/>
          </a:xfrm>
          <a:prstGeom prst="rect">
            <a:avLst/>
          </a:prstGeom>
          <a:solidFill>
            <a:srgbClr val="12A566"/>
          </a:solidFill>
          <a:ln/>
        </p:spPr>
      </p:sp>
      <p:sp>
        <p:nvSpPr>
          <p:cNvPr id="30" name="Text 28"/>
          <p:cNvSpPr txBox="1"/>
          <p:nvPr/>
        </p:nvSpPr>
        <p:spPr>
          <a:xfrm>
            <a:off x="4178808" y="2446289"/>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+$25K</a:t>
            </a:r>
            <a:endParaRPr lang="en-US" sz="1300" dirty="0"/>
          </a:p>
        </p:txBody>
      </p:sp>
      <p:sp>
        <p:nvSpPr>
          <p:cNvPr id="31" name="Text 29"/>
          <p:cNvSpPr txBox="1"/>
          <p:nvPr/>
        </p:nvSpPr>
        <p:spPr>
          <a:xfrm>
            <a:off x="5276088"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14.3%</a:t>
            </a:r>
            <a:endParaRPr lang="en-US" sz="1300" dirty="0"/>
          </a:p>
        </p:txBody>
      </p:sp>
      <p:sp>
        <p:nvSpPr>
          <p:cNvPr id="32" name="Text 30"/>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3" name="Text 31"/>
          <p:cNvSpPr txBox="1"/>
          <p:nvPr/>
        </p:nvSpPr>
        <p:spPr>
          <a:xfrm>
            <a:off x="1014984"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34" name="Shape 32"/>
          <p:cNvSpPr/>
          <p:nvPr/>
        </p:nvSpPr>
        <p:spPr>
          <a:xfrm>
            <a:off x="3475726" y="2750703"/>
            <a:ext cx="81270" cy="136676"/>
          </a:xfrm>
          <a:prstGeom prst="rect">
            <a:avLst/>
          </a:prstGeom>
          <a:solidFill>
            <a:srgbClr val="12A566"/>
          </a:solidFill>
          <a:ln/>
        </p:spPr>
      </p:sp>
      <p:sp>
        <p:nvSpPr>
          <p:cNvPr id="35" name="Text 33"/>
          <p:cNvSpPr txBox="1"/>
          <p:nvPr/>
        </p:nvSpPr>
        <p:spPr>
          <a:xfrm>
            <a:off x="4178808" y="2694791"/>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+$24K</a:t>
            </a:r>
            <a:endParaRPr lang="en-US" sz="1300" dirty="0"/>
          </a:p>
        </p:txBody>
      </p:sp>
      <p:sp>
        <p:nvSpPr>
          <p:cNvPr id="36" name="Text 34"/>
          <p:cNvSpPr txBox="1"/>
          <p:nvPr/>
        </p:nvSpPr>
        <p:spPr>
          <a:xfrm>
            <a:off x="5276088"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11.9%</a:t>
            </a:r>
            <a:endParaRPr lang="en-US" sz="1300" dirty="0"/>
          </a:p>
        </p:txBody>
      </p:sp>
      <p:sp>
        <p:nvSpPr>
          <p:cNvPr id="37" name="Text 35"/>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8" name="Text 36"/>
          <p:cNvSpPr txBox="1"/>
          <p:nvPr/>
        </p:nvSpPr>
        <p:spPr>
          <a:xfrm>
            <a:off x="1014984"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39" name="Shape 37"/>
          <p:cNvSpPr/>
          <p:nvPr/>
        </p:nvSpPr>
        <p:spPr>
          <a:xfrm>
            <a:off x="3475726" y="2999205"/>
            <a:ext cx="58927" cy="136676"/>
          </a:xfrm>
          <a:prstGeom prst="rect">
            <a:avLst/>
          </a:prstGeom>
          <a:solidFill>
            <a:srgbClr val="12A566"/>
          </a:solidFill>
          <a:ln/>
        </p:spPr>
      </p:sp>
      <p:sp>
        <p:nvSpPr>
          <p:cNvPr id="40" name="Text 38"/>
          <p:cNvSpPr txBox="1"/>
          <p:nvPr/>
        </p:nvSpPr>
        <p:spPr>
          <a:xfrm>
            <a:off x="4178808" y="2943292"/>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+$18K</a:t>
            </a:r>
            <a:endParaRPr lang="en-US" sz="1300" dirty="0"/>
          </a:p>
        </p:txBody>
      </p:sp>
      <p:sp>
        <p:nvSpPr>
          <p:cNvPr id="41" name="Text 39"/>
          <p:cNvSpPr txBox="1"/>
          <p:nvPr/>
        </p:nvSpPr>
        <p:spPr>
          <a:xfrm>
            <a:off x="5276088"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a:t>
            </a:r>
            <a:endParaRPr lang="en-US" sz="1300" dirty="0"/>
          </a:p>
        </p:txBody>
      </p:sp>
      <p:sp>
        <p:nvSpPr>
          <p:cNvPr id="42" name="Text 40"/>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3" name="Text 41"/>
          <p:cNvSpPr txBox="1"/>
          <p:nvPr/>
        </p:nvSpPr>
        <p:spPr>
          <a:xfrm>
            <a:off x="1014984"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44" name="Shape 42"/>
          <p:cNvSpPr/>
          <p:nvPr/>
        </p:nvSpPr>
        <p:spPr>
          <a:xfrm>
            <a:off x="3475726" y="3247707"/>
            <a:ext cx="52299" cy="136676"/>
          </a:xfrm>
          <a:prstGeom prst="rect">
            <a:avLst/>
          </a:prstGeom>
          <a:solidFill>
            <a:srgbClr val="12A566"/>
          </a:solidFill>
          <a:ln/>
        </p:spPr>
      </p:sp>
      <p:sp>
        <p:nvSpPr>
          <p:cNvPr id="45" name="Text 43"/>
          <p:cNvSpPr txBox="1"/>
          <p:nvPr/>
        </p:nvSpPr>
        <p:spPr>
          <a:xfrm>
            <a:off x="4178808" y="3191794"/>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+$16K</a:t>
            </a:r>
            <a:endParaRPr lang="en-US" sz="1300" dirty="0"/>
          </a:p>
        </p:txBody>
      </p:sp>
      <p:sp>
        <p:nvSpPr>
          <p:cNvPr id="46" name="Text 44"/>
          <p:cNvSpPr txBox="1"/>
          <p:nvPr/>
        </p:nvSpPr>
        <p:spPr>
          <a:xfrm>
            <a:off x="5276088"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10.7%</a:t>
            </a:r>
            <a:endParaRPr lang="en-US" sz="1300" dirty="0"/>
          </a:p>
        </p:txBody>
      </p:sp>
      <p:sp>
        <p:nvSpPr>
          <p:cNvPr id="47" name="Text 45"/>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8" name="Text 46"/>
          <p:cNvSpPr txBox="1"/>
          <p:nvPr/>
        </p:nvSpPr>
        <p:spPr>
          <a:xfrm>
            <a:off x="1014984"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49" name="Shape 47"/>
          <p:cNvSpPr/>
          <p:nvPr/>
        </p:nvSpPr>
        <p:spPr>
          <a:xfrm>
            <a:off x="3475726" y="3496208"/>
            <a:ext cx="48881" cy="136676"/>
          </a:xfrm>
          <a:prstGeom prst="rect">
            <a:avLst/>
          </a:prstGeom>
          <a:solidFill>
            <a:srgbClr val="12A566"/>
          </a:solidFill>
          <a:ln/>
        </p:spPr>
      </p:sp>
      <p:sp>
        <p:nvSpPr>
          <p:cNvPr id="50" name="Text 48"/>
          <p:cNvSpPr txBox="1"/>
          <p:nvPr/>
        </p:nvSpPr>
        <p:spPr>
          <a:xfrm>
            <a:off x="4178808" y="3440296"/>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+$15K</a:t>
            </a:r>
            <a:endParaRPr lang="en-US" sz="1300" dirty="0"/>
          </a:p>
        </p:txBody>
      </p:sp>
      <p:sp>
        <p:nvSpPr>
          <p:cNvPr id="51" name="Text 49"/>
          <p:cNvSpPr txBox="1"/>
          <p:nvPr/>
        </p:nvSpPr>
        <p:spPr>
          <a:xfrm>
            <a:off x="5276088"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a:t>
            </a:r>
            <a:endParaRPr lang="en-US" sz="1300" dirty="0"/>
          </a:p>
        </p:txBody>
      </p:sp>
      <p:sp>
        <p:nvSpPr>
          <p:cNvPr id="52" name="Text 50"/>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3" name="Text 51"/>
          <p:cNvSpPr txBox="1"/>
          <p:nvPr/>
        </p:nvSpPr>
        <p:spPr>
          <a:xfrm>
            <a:off x="1014984"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54" name="Shape 52"/>
          <p:cNvSpPr/>
          <p:nvPr/>
        </p:nvSpPr>
        <p:spPr>
          <a:xfrm>
            <a:off x="3475726" y="3744710"/>
            <a:ext cx="39506" cy="136676"/>
          </a:xfrm>
          <a:prstGeom prst="rect">
            <a:avLst/>
          </a:prstGeom>
          <a:solidFill>
            <a:srgbClr val="12A566"/>
          </a:solidFill>
          <a:ln/>
        </p:spPr>
      </p:sp>
      <p:sp>
        <p:nvSpPr>
          <p:cNvPr id="55" name="Text 53"/>
          <p:cNvSpPr txBox="1"/>
          <p:nvPr/>
        </p:nvSpPr>
        <p:spPr>
          <a:xfrm>
            <a:off x="4178808" y="3688797"/>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+$12K</a:t>
            </a:r>
            <a:endParaRPr lang="en-US" sz="1300" dirty="0"/>
          </a:p>
        </p:txBody>
      </p:sp>
      <p:sp>
        <p:nvSpPr>
          <p:cNvPr id="56" name="Text 54"/>
          <p:cNvSpPr txBox="1"/>
          <p:nvPr/>
        </p:nvSpPr>
        <p:spPr>
          <a:xfrm>
            <a:off x="5276088"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10.6%</a:t>
            </a:r>
            <a:endParaRPr lang="en-US" sz="1300" dirty="0"/>
          </a:p>
        </p:txBody>
      </p:sp>
      <p:sp>
        <p:nvSpPr>
          <p:cNvPr id="57" name="Text 55"/>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8" name="Text 56"/>
          <p:cNvSpPr txBox="1"/>
          <p:nvPr/>
        </p:nvSpPr>
        <p:spPr>
          <a:xfrm>
            <a:off x="1014984"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59" name="Shape 57"/>
          <p:cNvSpPr/>
          <p:nvPr/>
        </p:nvSpPr>
        <p:spPr>
          <a:xfrm>
            <a:off x="3475726" y="3993212"/>
            <a:ext cx="22119" cy="136676"/>
          </a:xfrm>
          <a:prstGeom prst="rect">
            <a:avLst/>
          </a:prstGeom>
          <a:solidFill>
            <a:srgbClr val="12A566"/>
          </a:solidFill>
          <a:ln/>
        </p:spPr>
      </p:sp>
      <p:sp>
        <p:nvSpPr>
          <p:cNvPr id="60" name="Text 58"/>
          <p:cNvSpPr txBox="1"/>
          <p:nvPr/>
        </p:nvSpPr>
        <p:spPr>
          <a:xfrm>
            <a:off x="4178808" y="3937299"/>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+$7K</a:t>
            </a:r>
            <a:endParaRPr lang="en-US" sz="1300" dirty="0"/>
          </a:p>
        </p:txBody>
      </p:sp>
      <p:sp>
        <p:nvSpPr>
          <p:cNvPr id="61" name="Text 59"/>
          <p:cNvSpPr txBox="1"/>
          <p:nvPr/>
        </p:nvSpPr>
        <p:spPr>
          <a:xfrm>
            <a:off x="5276088"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10.1%</a:t>
            </a:r>
            <a:endParaRPr lang="en-US" sz="1300" dirty="0"/>
          </a:p>
        </p:txBody>
      </p:sp>
      <p:sp>
        <p:nvSpPr>
          <p:cNvPr id="62" name="Text 60"/>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3" name="Text 61"/>
          <p:cNvSpPr txBox="1"/>
          <p:nvPr/>
        </p:nvSpPr>
        <p:spPr>
          <a:xfrm>
            <a:off x="1014984"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64" name="Shape 62"/>
          <p:cNvSpPr/>
          <p:nvPr/>
        </p:nvSpPr>
        <p:spPr>
          <a:xfrm>
            <a:off x="3475726" y="4241713"/>
            <a:ext cx="18288" cy="136676"/>
          </a:xfrm>
          <a:prstGeom prst="rect">
            <a:avLst/>
          </a:prstGeom>
          <a:solidFill>
            <a:srgbClr val="12A566"/>
          </a:solidFill>
          <a:ln/>
        </p:spPr>
      </p:sp>
      <p:sp>
        <p:nvSpPr>
          <p:cNvPr id="65" name="Text 63"/>
          <p:cNvSpPr txBox="1"/>
          <p:nvPr/>
        </p:nvSpPr>
        <p:spPr>
          <a:xfrm>
            <a:off x="4178808" y="4185800"/>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+$5K</a:t>
            </a:r>
            <a:endParaRPr lang="en-US" sz="1300" dirty="0"/>
          </a:p>
        </p:txBody>
      </p:sp>
      <p:sp>
        <p:nvSpPr>
          <p:cNvPr id="66" name="Text 64"/>
          <p:cNvSpPr txBox="1"/>
          <p:nvPr/>
        </p:nvSpPr>
        <p:spPr>
          <a:xfrm>
            <a:off x="5276088"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a:t>
            </a:r>
            <a:endParaRPr lang="en-US" sz="1300" dirty="0"/>
          </a:p>
        </p:txBody>
      </p:sp>
      <p:sp>
        <p:nvSpPr>
          <p:cNvPr id="67" name="Text 65"/>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8" name="Text 66"/>
          <p:cNvSpPr txBox="1"/>
          <p:nvPr/>
        </p:nvSpPr>
        <p:spPr>
          <a:xfrm>
            <a:off x="1014984"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69" name="Shape 67"/>
          <p:cNvSpPr/>
          <p:nvPr/>
        </p:nvSpPr>
        <p:spPr>
          <a:xfrm>
            <a:off x="3475726" y="4490215"/>
            <a:ext cx="18288" cy="136676"/>
          </a:xfrm>
          <a:prstGeom prst="rect">
            <a:avLst/>
          </a:prstGeom>
          <a:solidFill>
            <a:srgbClr val="12A566"/>
          </a:solidFill>
          <a:ln/>
        </p:spPr>
      </p:sp>
      <p:sp>
        <p:nvSpPr>
          <p:cNvPr id="70" name="Text 68"/>
          <p:cNvSpPr txBox="1"/>
          <p:nvPr/>
        </p:nvSpPr>
        <p:spPr>
          <a:xfrm>
            <a:off x="4178808" y="4434302"/>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+$4K</a:t>
            </a:r>
            <a:endParaRPr lang="en-US" sz="1300" dirty="0"/>
          </a:p>
        </p:txBody>
      </p:sp>
      <p:sp>
        <p:nvSpPr>
          <p:cNvPr id="71" name="Text 69"/>
          <p:cNvSpPr txBox="1"/>
          <p:nvPr/>
        </p:nvSpPr>
        <p:spPr>
          <a:xfrm>
            <a:off x="5276088"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a:t>
            </a:r>
            <a:endParaRPr lang="en-US" sz="1300" dirty="0"/>
          </a:p>
        </p:txBody>
      </p:sp>
      <p:sp>
        <p:nvSpPr>
          <p:cNvPr id="72" name="Text 70"/>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3" name="Text 71"/>
          <p:cNvSpPr txBox="1"/>
          <p:nvPr/>
        </p:nvSpPr>
        <p:spPr>
          <a:xfrm>
            <a:off x="1014984"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74" name="Shape 72"/>
          <p:cNvSpPr/>
          <p:nvPr/>
        </p:nvSpPr>
        <p:spPr>
          <a:xfrm>
            <a:off x="3467487" y="4738717"/>
            <a:ext cx="18288" cy="136676"/>
          </a:xfrm>
          <a:prstGeom prst="rect">
            <a:avLst/>
          </a:prstGeom>
          <a:solidFill>
            <a:srgbClr val="C2352F"/>
          </a:solidFill>
          <a:ln/>
        </p:spPr>
      </p:sp>
      <p:sp>
        <p:nvSpPr>
          <p:cNvPr id="75" name="Text 73"/>
          <p:cNvSpPr txBox="1"/>
          <p:nvPr/>
        </p:nvSpPr>
        <p:spPr>
          <a:xfrm>
            <a:off x="4178808" y="468280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−$2K</a:t>
            </a:r>
            <a:endParaRPr lang="en-US" sz="1300" dirty="0"/>
          </a:p>
        </p:txBody>
      </p:sp>
      <p:sp>
        <p:nvSpPr>
          <p:cNvPr id="76" name="Text 74"/>
          <p:cNvSpPr txBox="1"/>
          <p:nvPr/>
        </p:nvSpPr>
        <p:spPr>
          <a:xfrm>
            <a:off x="5276088"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a:t>
            </a:r>
            <a:endParaRPr lang="en-US" sz="1300" dirty="0"/>
          </a:p>
        </p:txBody>
      </p:sp>
      <p:sp>
        <p:nvSpPr>
          <p:cNvPr id="77" name="Text 75"/>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8" name="Text 76"/>
          <p:cNvSpPr txBox="1"/>
          <p:nvPr/>
        </p:nvSpPr>
        <p:spPr>
          <a:xfrm>
            <a:off x="1014984"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79" name="Shape 77"/>
          <p:cNvSpPr/>
          <p:nvPr/>
        </p:nvSpPr>
        <p:spPr>
          <a:xfrm>
            <a:off x="3464806" y="4987218"/>
            <a:ext cx="18288" cy="136676"/>
          </a:xfrm>
          <a:prstGeom prst="rect">
            <a:avLst/>
          </a:prstGeom>
          <a:solidFill>
            <a:srgbClr val="C2352F"/>
          </a:solidFill>
          <a:ln/>
        </p:spPr>
      </p:sp>
      <p:sp>
        <p:nvSpPr>
          <p:cNvPr id="80" name="Text 78"/>
          <p:cNvSpPr txBox="1"/>
          <p:nvPr/>
        </p:nvSpPr>
        <p:spPr>
          <a:xfrm>
            <a:off x="4178808" y="4931305"/>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−$3K</a:t>
            </a:r>
            <a:endParaRPr lang="en-US" sz="1300" dirty="0"/>
          </a:p>
        </p:txBody>
      </p:sp>
      <p:sp>
        <p:nvSpPr>
          <p:cNvPr id="81" name="Text 79"/>
          <p:cNvSpPr txBox="1"/>
          <p:nvPr/>
        </p:nvSpPr>
        <p:spPr>
          <a:xfrm>
            <a:off x="5276088"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9.5%</a:t>
            </a:r>
            <a:endParaRPr lang="en-US" sz="1300" dirty="0"/>
          </a:p>
        </p:txBody>
      </p:sp>
      <p:sp>
        <p:nvSpPr>
          <p:cNvPr id="82" name="Text 80"/>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3" name="Text 81"/>
          <p:cNvSpPr txBox="1"/>
          <p:nvPr/>
        </p:nvSpPr>
        <p:spPr>
          <a:xfrm>
            <a:off x="1014984"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84" name="Shape 82"/>
          <p:cNvSpPr/>
          <p:nvPr/>
        </p:nvSpPr>
        <p:spPr>
          <a:xfrm>
            <a:off x="3448532" y="5235720"/>
            <a:ext cx="27195" cy="136676"/>
          </a:xfrm>
          <a:prstGeom prst="rect">
            <a:avLst/>
          </a:prstGeom>
          <a:solidFill>
            <a:srgbClr val="C2352F"/>
          </a:solidFill>
          <a:ln/>
        </p:spPr>
      </p:sp>
      <p:sp>
        <p:nvSpPr>
          <p:cNvPr id="85" name="Text 83"/>
          <p:cNvSpPr txBox="1"/>
          <p:nvPr/>
        </p:nvSpPr>
        <p:spPr>
          <a:xfrm>
            <a:off x="4178808" y="517980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−$8K</a:t>
            </a:r>
            <a:endParaRPr lang="en-US" sz="1300" dirty="0"/>
          </a:p>
        </p:txBody>
      </p:sp>
      <p:sp>
        <p:nvSpPr>
          <p:cNvPr id="86" name="Text 84"/>
          <p:cNvSpPr txBox="1"/>
          <p:nvPr/>
        </p:nvSpPr>
        <p:spPr>
          <a:xfrm>
            <a:off x="5276088"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7.5%</a:t>
            </a:r>
            <a:endParaRPr lang="en-US" sz="1300" dirty="0"/>
          </a:p>
        </p:txBody>
      </p:sp>
      <p:sp>
        <p:nvSpPr>
          <p:cNvPr id="87" name="Text 85"/>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8" name="Text 86"/>
          <p:cNvSpPr txBox="1"/>
          <p:nvPr/>
        </p:nvSpPr>
        <p:spPr>
          <a:xfrm>
            <a:off x="1014984"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89" name="Shape 87"/>
          <p:cNvSpPr/>
          <p:nvPr/>
        </p:nvSpPr>
        <p:spPr>
          <a:xfrm>
            <a:off x="3443206" y="5484222"/>
            <a:ext cx="32520" cy="136676"/>
          </a:xfrm>
          <a:prstGeom prst="rect">
            <a:avLst/>
          </a:prstGeom>
          <a:solidFill>
            <a:srgbClr val="C2352F"/>
          </a:solidFill>
          <a:ln/>
        </p:spPr>
      </p:sp>
      <p:sp>
        <p:nvSpPr>
          <p:cNvPr id="90" name="Text 88"/>
          <p:cNvSpPr txBox="1"/>
          <p:nvPr/>
        </p:nvSpPr>
        <p:spPr>
          <a:xfrm>
            <a:off x="4178808" y="542830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91" name="Text 89"/>
          <p:cNvSpPr txBox="1"/>
          <p:nvPr/>
        </p:nvSpPr>
        <p:spPr>
          <a:xfrm>
            <a:off x="5276088"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5.4%</a:t>
            </a:r>
            <a:endParaRPr lang="en-US" sz="1300" dirty="0"/>
          </a:p>
        </p:txBody>
      </p:sp>
      <p:sp>
        <p:nvSpPr>
          <p:cNvPr id="92" name="Text 90"/>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3" name="Text 91"/>
          <p:cNvSpPr txBox="1"/>
          <p:nvPr/>
        </p:nvSpPr>
        <p:spPr>
          <a:xfrm>
            <a:off x="1014984" y="567681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94" name="Shape 92"/>
          <p:cNvSpPr/>
          <p:nvPr/>
        </p:nvSpPr>
        <p:spPr>
          <a:xfrm>
            <a:off x="3438055" y="5732723"/>
            <a:ext cx="37671" cy="136676"/>
          </a:xfrm>
          <a:prstGeom prst="rect">
            <a:avLst/>
          </a:prstGeom>
          <a:solidFill>
            <a:srgbClr val="C2352F"/>
          </a:solidFill>
          <a:ln/>
        </p:spPr>
      </p:sp>
      <p:sp>
        <p:nvSpPr>
          <p:cNvPr id="95" name="Text 93"/>
          <p:cNvSpPr txBox="1"/>
          <p:nvPr/>
        </p:nvSpPr>
        <p:spPr>
          <a:xfrm>
            <a:off x="4178808" y="567681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−$11K</a:t>
            </a:r>
            <a:endParaRPr lang="en-US" sz="1300" dirty="0"/>
          </a:p>
        </p:txBody>
      </p:sp>
      <p:sp>
        <p:nvSpPr>
          <p:cNvPr id="96" name="Text 94"/>
          <p:cNvSpPr txBox="1"/>
          <p:nvPr/>
        </p:nvSpPr>
        <p:spPr>
          <a:xfrm>
            <a:off x="5276088" y="567681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a:t>
            </a:r>
            <a:endParaRPr lang="en-US" sz="1300" dirty="0"/>
          </a:p>
        </p:txBody>
      </p:sp>
      <p:sp>
        <p:nvSpPr>
          <p:cNvPr id="97" name="Text 95"/>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8" name="Text 96"/>
          <p:cNvSpPr txBox="1"/>
          <p:nvPr/>
        </p:nvSpPr>
        <p:spPr>
          <a:xfrm>
            <a:off x="6565392"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99" name="Shape 97"/>
          <p:cNvSpPr/>
          <p:nvPr/>
        </p:nvSpPr>
        <p:spPr>
          <a:xfrm>
            <a:off x="8982059" y="1756697"/>
            <a:ext cx="44076" cy="136676"/>
          </a:xfrm>
          <a:prstGeom prst="rect">
            <a:avLst/>
          </a:prstGeom>
          <a:solidFill>
            <a:srgbClr val="C2352F"/>
          </a:solidFill>
          <a:ln/>
        </p:spPr>
      </p:sp>
      <p:sp>
        <p:nvSpPr>
          <p:cNvPr id="100" name="Text 98"/>
          <p:cNvSpPr txBox="1"/>
          <p:nvPr/>
        </p:nvSpPr>
        <p:spPr>
          <a:xfrm>
            <a:off x="9729216" y="170078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01" name="Text 99"/>
          <p:cNvSpPr txBox="1"/>
          <p:nvPr/>
        </p:nvSpPr>
        <p:spPr>
          <a:xfrm>
            <a:off x="10826496"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102" name="Text 100"/>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3" name="Text 101"/>
          <p:cNvSpPr txBox="1"/>
          <p:nvPr/>
        </p:nvSpPr>
        <p:spPr>
          <a:xfrm>
            <a:off x="6565392"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04" name="Shape 102"/>
          <p:cNvSpPr/>
          <p:nvPr/>
        </p:nvSpPr>
        <p:spPr>
          <a:xfrm>
            <a:off x="8977096" y="2005199"/>
            <a:ext cx="49038" cy="136676"/>
          </a:xfrm>
          <a:prstGeom prst="rect">
            <a:avLst/>
          </a:prstGeom>
          <a:solidFill>
            <a:srgbClr val="C2352F"/>
          </a:solidFill>
          <a:ln/>
        </p:spPr>
      </p:sp>
      <p:sp>
        <p:nvSpPr>
          <p:cNvPr id="105" name="Text 103"/>
          <p:cNvSpPr txBox="1"/>
          <p:nvPr/>
        </p:nvSpPr>
        <p:spPr>
          <a:xfrm>
            <a:off x="9729216" y="194928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−$15K</a:t>
            </a:r>
            <a:endParaRPr lang="en-US" sz="1300" dirty="0"/>
          </a:p>
        </p:txBody>
      </p:sp>
      <p:sp>
        <p:nvSpPr>
          <p:cNvPr id="106" name="Text 104"/>
          <p:cNvSpPr txBox="1"/>
          <p:nvPr/>
        </p:nvSpPr>
        <p:spPr>
          <a:xfrm>
            <a:off x="10826496"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7.2%</a:t>
            </a:r>
            <a:endParaRPr lang="en-US" sz="1300" dirty="0"/>
          </a:p>
        </p:txBody>
      </p:sp>
      <p:sp>
        <p:nvSpPr>
          <p:cNvPr id="107" name="Text 105"/>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08" name="Text 106"/>
          <p:cNvSpPr txBox="1"/>
          <p:nvPr/>
        </p:nvSpPr>
        <p:spPr>
          <a:xfrm>
            <a:off x="6565392"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09" name="Shape 107"/>
          <p:cNvSpPr/>
          <p:nvPr/>
        </p:nvSpPr>
        <p:spPr>
          <a:xfrm>
            <a:off x="8974752" y="2253700"/>
            <a:ext cx="51383" cy="136676"/>
          </a:xfrm>
          <a:prstGeom prst="rect">
            <a:avLst/>
          </a:prstGeom>
          <a:solidFill>
            <a:srgbClr val="C2352F"/>
          </a:solidFill>
          <a:ln/>
        </p:spPr>
      </p:sp>
      <p:sp>
        <p:nvSpPr>
          <p:cNvPr id="110" name="Text 108"/>
          <p:cNvSpPr txBox="1"/>
          <p:nvPr/>
        </p:nvSpPr>
        <p:spPr>
          <a:xfrm>
            <a:off x="9729216" y="219778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−$15K</a:t>
            </a:r>
            <a:endParaRPr lang="en-US" sz="1300" dirty="0"/>
          </a:p>
        </p:txBody>
      </p:sp>
      <p:sp>
        <p:nvSpPr>
          <p:cNvPr id="111" name="Text 109"/>
          <p:cNvSpPr txBox="1"/>
          <p:nvPr/>
        </p:nvSpPr>
        <p:spPr>
          <a:xfrm>
            <a:off x="10826496"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a:t>
            </a:r>
            <a:endParaRPr lang="en-US" sz="1300" dirty="0"/>
          </a:p>
        </p:txBody>
      </p:sp>
      <p:sp>
        <p:nvSpPr>
          <p:cNvPr id="112" name="Text 110"/>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3" name="Text 111"/>
          <p:cNvSpPr txBox="1"/>
          <p:nvPr/>
        </p:nvSpPr>
        <p:spPr>
          <a:xfrm>
            <a:off x="6565392"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14" name="Shape 112"/>
          <p:cNvSpPr/>
          <p:nvPr/>
        </p:nvSpPr>
        <p:spPr>
          <a:xfrm>
            <a:off x="8973015" y="2502202"/>
            <a:ext cx="53119" cy="136676"/>
          </a:xfrm>
          <a:prstGeom prst="rect">
            <a:avLst/>
          </a:prstGeom>
          <a:solidFill>
            <a:srgbClr val="C2352F"/>
          </a:solidFill>
          <a:ln/>
        </p:spPr>
      </p:sp>
      <p:sp>
        <p:nvSpPr>
          <p:cNvPr id="115" name="Text 113"/>
          <p:cNvSpPr txBox="1"/>
          <p:nvPr/>
        </p:nvSpPr>
        <p:spPr>
          <a:xfrm>
            <a:off x="9729216" y="244628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−$16K</a:t>
            </a:r>
            <a:endParaRPr lang="en-US" sz="1300" dirty="0"/>
          </a:p>
        </p:txBody>
      </p:sp>
      <p:sp>
        <p:nvSpPr>
          <p:cNvPr id="116" name="Text 114"/>
          <p:cNvSpPr txBox="1"/>
          <p:nvPr/>
        </p:nvSpPr>
        <p:spPr>
          <a:xfrm>
            <a:off x="10826496"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117" name="Text 115"/>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18" name="Text 116"/>
          <p:cNvSpPr txBox="1"/>
          <p:nvPr/>
        </p:nvSpPr>
        <p:spPr>
          <a:xfrm>
            <a:off x="6565392"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19" name="Shape 117"/>
          <p:cNvSpPr/>
          <p:nvPr/>
        </p:nvSpPr>
        <p:spPr>
          <a:xfrm>
            <a:off x="8970285" y="2750703"/>
            <a:ext cx="55850" cy="136676"/>
          </a:xfrm>
          <a:prstGeom prst="rect">
            <a:avLst/>
          </a:prstGeom>
          <a:solidFill>
            <a:srgbClr val="C2352F"/>
          </a:solidFill>
          <a:ln/>
        </p:spPr>
      </p:sp>
      <p:sp>
        <p:nvSpPr>
          <p:cNvPr id="120" name="Text 118"/>
          <p:cNvSpPr txBox="1"/>
          <p:nvPr/>
        </p:nvSpPr>
        <p:spPr>
          <a:xfrm>
            <a:off x="9729216" y="2694791"/>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−$17K</a:t>
            </a:r>
            <a:endParaRPr lang="en-US" sz="1300" dirty="0"/>
          </a:p>
        </p:txBody>
      </p:sp>
      <p:sp>
        <p:nvSpPr>
          <p:cNvPr id="121" name="Text 119"/>
          <p:cNvSpPr txBox="1"/>
          <p:nvPr/>
        </p:nvSpPr>
        <p:spPr>
          <a:xfrm>
            <a:off x="10826496"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a:t>
            </a:r>
            <a:endParaRPr lang="en-US" sz="1300" dirty="0"/>
          </a:p>
        </p:txBody>
      </p:sp>
      <p:sp>
        <p:nvSpPr>
          <p:cNvPr id="122" name="Text 120"/>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3" name="Text 121"/>
          <p:cNvSpPr txBox="1"/>
          <p:nvPr/>
        </p:nvSpPr>
        <p:spPr>
          <a:xfrm>
            <a:off x="6565392"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24" name="Shape 122"/>
          <p:cNvSpPr/>
          <p:nvPr/>
        </p:nvSpPr>
        <p:spPr>
          <a:xfrm>
            <a:off x="8963737" y="2999205"/>
            <a:ext cx="62398" cy="136676"/>
          </a:xfrm>
          <a:prstGeom prst="rect">
            <a:avLst/>
          </a:prstGeom>
          <a:solidFill>
            <a:srgbClr val="C2352F"/>
          </a:solidFill>
          <a:ln/>
        </p:spPr>
      </p:sp>
      <p:sp>
        <p:nvSpPr>
          <p:cNvPr id="125" name="Text 123"/>
          <p:cNvSpPr txBox="1"/>
          <p:nvPr/>
        </p:nvSpPr>
        <p:spPr>
          <a:xfrm>
            <a:off x="9729216" y="294329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−$19K</a:t>
            </a:r>
            <a:endParaRPr lang="en-US" sz="1300" dirty="0"/>
          </a:p>
        </p:txBody>
      </p:sp>
      <p:sp>
        <p:nvSpPr>
          <p:cNvPr id="126" name="Text 124"/>
          <p:cNvSpPr txBox="1"/>
          <p:nvPr/>
        </p:nvSpPr>
        <p:spPr>
          <a:xfrm>
            <a:off x="10826496"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127" name="Text 125"/>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28" name="Text 126"/>
          <p:cNvSpPr txBox="1"/>
          <p:nvPr/>
        </p:nvSpPr>
        <p:spPr>
          <a:xfrm>
            <a:off x="6565392"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29" name="Shape 127"/>
          <p:cNvSpPr/>
          <p:nvPr/>
        </p:nvSpPr>
        <p:spPr>
          <a:xfrm>
            <a:off x="8947585" y="3247707"/>
            <a:ext cx="78550" cy="136676"/>
          </a:xfrm>
          <a:prstGeom prst="rect">
            <a:avLst/>
          </a:prstGeom>
          <a:solidFill>
            <a:srgbClr val="C2352F"/>
          </a:solidFill>
          <a:ln/>
        </p:spPr>
      </p:sp>
      <p:sp>
        <p:nvSpPr>
          <p:cNvPr id="130" name="Text 128"/>
          <p:cNvSpPr txBox="1"/>
          <p:nvPr/>
        </p:nvSpPr>
        <p:spPr>
          <a:xfrm>
            <a:off x="9729216" y="319179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−$24K</a:t>
            </a:r>
            <a:endParaRPr lang="en-US" sz="1300" dirty="0"/>
          </a:p>
        </p:txBody>
      </p:sp>
      <p:sp>
        <p:nvSpPr>
          <p:cNvPr id="131" name="Text 129"/>
          <p:cNvSpPr txBox="1"/>
          <p:nvPr/>
        </p:nvSpPr>
        <p:spPr>
          <a:xfrm>
            <a:off x="10826496"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4.7%</a:t>
            </a:r>
            <a:endParaRPr lang="en-US" sz="1300" dirty="0"/>
          </a:p>
        </p:txBody>
      </p:sp>
      <p:sp>
        <p:nvSpPr>
          <p:cNvPr id="132" name="Text 130"/>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3" name="Text 131"/>
          <p:cNvSpPr txBox="1"/>
          <p:nvPr/>
        </p:nvSpPr>
        <p:spPr>
          <a:xfrm>
            <a:off x="6565392"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34" name="Shape 132"/>
          <p:cNvSpPr/>
          <p:nvPr/>
        </p:nvSpPr>
        <p:spPr>
          <a:xfrm>
            <a:off x="8946049" y="3496208"/>
            <a:ext cx="80086" cy="136676"/>
          </a:xfrm>
          <a:prstGeom prst="rect">
            <a:avLst/>
          </a:prstGeom>
          <a:solidFill>
            <a:srgbClr val="C2352F"/>
          </a:solidFill>
          <a:ln/>
        </p:spPr>
      </p:sp>
      <p:sp>
        <p:nvSpPr>
          <p:cNvPr id="135" name="Text 133"/>
          <p:cNvSpPr txBox="1"/>
          <p:nvPr/>
        </p:nvSpPr>
        <p:spPr>
          <a:xfrm>
            <a:off x="9729216" y="344029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−$24K</a:t>
            </a:r>
            <a:endParaRPr lang="en-US" sz="1300" dirty="0"/>
          </a:p>
        </p:txBody>
      </p:sp>
      <p:sp>
        <p:nvSpPr>
          <p:cNvPr id="136" name="Text 134"/>
          <p:cNvSpPr txBox="1"/>
          <p:nvPr/>
        </p:nvSpPr>
        <p:spPr>
          <a:xfrm>
            <a:off x="10826496"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137" name="Text 135"/>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38" name="Text 136"/>
          <p:cNvSpPr txBox="1"/>
          <p:nvPr/>
        </p:nvSpPr>
        <p:spPr>
          <a:xfrm>
            <a:off x="6565392"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39" name="Shape 137"/>
          <p:cNvSpPr/>
          <p:nvPr/>
        </p:nvSpPr>
        <p:spPr>
          <a:xfrm>
            <a:off x="8907086" y="3744710"/>
            <a:ext cx="119049" cy="136676"/>
          </a:xfrm>
          <a:prstGeom prst="rect">
            <a:avLst/>
          </a:prstGeom>
          <a:solidFill>
            <a:srgbClr val="C2352F"/>
          </a:solidFill>
          <a:ln/>
        </p:spPr>
      </p:sp>
      <p:sp>
        <p:nvSpPr>
          <p:cNvPr id="140" name="Text 138"/>
          <p:cNvSpPr txBox="1"/>
          <p:nvPr/>
        </p:nvSpPr>
        <p:spPr>
          <a:xfrm>
            <a:off x="9729216" y="368879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−$36K</a:t>
            </a:r>
            <a:endParaRPr lang="en-US" sz="1300" dirty="0"/>
          </a:p>
        </p:txBody>
      </p:sp>
      <p:sp>
        <p:nvSpPr>
          <p:cNvPr id="141" name="Text 139"/>
          <p:cNvSpPr txBox="1"/>
          <p:nvPr/>
        </p:nvSpPr>
        <p:spPr>
          <a:xfrm>
            <a:off x="10826496"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8.0%</a:t>
            </a:r>
            <a:endParaRPr lang="en-US" sz="1300" dirty="0"/>
          </a:p>
        </p:txBody>
      </p:sp>
      <p:sp>
        <p:nvSpPr>
          <p:cNvPr id="142" name="Text 140"/>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3" name="Text 141"/>
          <p:cNvSpPr txBox="1"/>
          <p:nvPr/>
        </p:nvSpPr>
        <p:spPr>
          <a:xfrm>
            <a:off x="6565392"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44" name="Shape 142"/>
          <p:cNvSpPr/>
          <p:nvPr/>
        </p:nvSpPr>
        <p:spPr>
          <a:xfrm>
            <a:off x="8895233" y="3993212"/>
            <a:ext cx="130901" cy="136676"/>
          </a:xfrm>
          <a:prstGeom prst="rect">
            <a:avLst/>
          </a:prstGeom>
          <a:solidFill>
            <a:srgbClr val="C2352F"/>
          </a:solidFill>
          <a:ln/>
        </p:spPr>
      </p:sp>
      <p:sp>
        <p:nvSpPr>
          <p:cNvPr id="145" name="Text 143"/>
          <p:cNvSpPr txBox="1"/>
          <p:nvPr/>
        </p:nvSpPr>
        <p:spPr>
          <a:xfrm>
            <a:off x="9729216" y="393729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−$39K</a:t>
            </a:r>
            <a:endParaRPr lang="en-US" sz="1300" dirty="0"/>
          </a:p>
        </p:txBody>
      </p:sp>
      <p:sp>
        <p:nvSpPr>
          <p:cNvPr id="146" name="Text 144"/>
          <p:cNvSpPr txBox="1"/>
          <p:nvPr/>
        </p:nvSpPr>
        <p:spPr>
          <a:xfrm>
            <a:off x="10826496"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147" name="Text 145"/>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48" name="Text 146"/>
          <p:cNvSpPr txBox="1"/>
          <p:nvPr/>
        </p:nvSpPr>
        <p:spPr>
          <a:xfrm>
            <a:off x="6565392"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49" name="Shape 147"/>
          <p:cNvSpPr/>
          <p:nvPr/>
        </p:nvSpPr>
        <p:spPr>
          <a:xfrm>
            <a:off x="8884789" y="4241713"/>
            <a:ext cx="141346" cy="136676"/>
          </a:xfrm>
          <a:prstGeom prst="rect">
            <a:avLst/>
          </a:prstGeom>
          <a:solidFill>
            <a:srgbClr val="C2352F"/>
          </a:solidFill>
          <a:ln/>
        </p:spPr>
      </p:sp>
      <p:sp>
        <p:nvSpPr>
          <p:cNvPr id="150" name="Text 148"/>
          <p:cNvSpPr txBox="1"/>
          <p:nvPr/>
        </p:nvSpPr>
        <p:spPr>
          <a:xfrm>
            <a:off x="9729216" y="418580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−$43K</a:t>
            </a:r>
            <a:endParaRPr lang="en-US" sz="1300" dirty="0"/>
          </a:p>
        </p:txBody>
      </p:sp>
      <p:sp>
        <p:nvSpPr>
          <p:cNvPr id="151" name="Text 149"/>
          <p:cNvSpPr txBox="1"/>
          <p:nvPr/>
        </p:nvSpPr>
        <p:spPr>
          <a:xfrm>
            <a:off x="10826496"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a:t>
            </a:r>
            <a:endParaRPr lang="en-US" sz="1300" dirty="0"/>
          </a:p>
        </p:txBody>
      </p:sp>
      <p:sp>
        <p:nvSpPr>
          <p:cNvPr id="152" name="Text 150"/>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3" name="Text 151"/>
          <p:cNvSpPr txBox="1"/>
          <p:nvPr/>
        </p:nvSpPr>
        <p:spPr>
          <a:xfrm>
            <a:off x="6565392"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54" name="Shape 152"/>
          <p:cNvSpPr/>
          <p:nvPr/>
        </p:nvSpPr>
        <p:spPr>
          <a:xfrm>
            <a:off x="8858308" y="4490215"/>
            <a:ext cx="167826" cy="136676"/>
          </a:xfrm>
          <a:prstGeom prst="rect">
            <a:avLst/>
          </a:prstGeom>
          <a:solidFill>
            <a:srgbClr val="C2352F"/>
          </a:solidFill>
          <a:ln/>
        </p:spPr>
      </p:sp>
      <p:sp>
        <p:nvSpPr>
          <p:cNvPr id="155" name="Text 153"/>
          <p:cNvSpPr txBox="1"/>
          <p:nvPr/>
        </p:nvSpPr>
        <p:spPr>
          <a:xfrm>
            <a:off x="9729216" y="443430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−$51K</a:t>
            </a:r>
            <a:endParaRPr lang="en-US" sz="1300" dirty="0"/>
          </a:p>
        </p:txBody>
      </p:sp>
      <p:sp>
        <p:nvSpPr>
          <p:cNvPr id="156" name="Text 154"/>
          <p:cNvSpPr txBox="1"/>
          <p:nvPr/>
        </p:nvSpPr>
        <p:spPr>
          <a:xfrm>
            <a:off x="10826496"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a:t>
            </a:r>
            <a:endParaRPr lang="en-US" sz="1300" dirty="0"/>
          </a:p>
        </p:txBody>
      </p:sp>
      <p:sp>
        <p:nvSpPr>
          <p:cNvPr id="157" name="Text 155"/>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58" name="Text 156"/>
          <p:cNvSpPr txBox="1"/>
          <p:nvPr/>
        </p:nvSpPr>
        <p:spPr>
          <a:xfrm>
            <a:off x="6565392"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59" name="Shape 157"/>
          <p:cNvSpPr/>
          <p:nvPr/>
        </p:nvSpPr>
        <p:spPr>
          <a:xfrm>
            <a:off x="8840630" y="4738717"/>
            <a:ext cx="185505" cy="136676"/>
          </a:xfrm>
          <a:prstGeom prst="rect">
            <a:avLst/>
          </a:prstGeom>
          <a:solidFill>
            <a:srgbClr val="C2352F"/>
          </a:solidFill>
          <a:ln/>
        </p:spPr>
      </p:sp>
      <p:sp>
        <p:nvSpPr>
          <p:cNvPr id="160" name="Text 158"/>
          <p:cNvSpPr txBox="1"/>
          <p:nvPr/>
        </p:nvSpPr>
        <p:spPr>
          <a:xfrm>
            <a:off x="9729216" y="468280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−$56K</a:t>
            </a:r>
            <a:endParaRPr lang="en-US" sz="1300" dirty="0"/>
          </a:p>
        </p:txBody>
      </p:sp>
      <p:sp>
        <p:nvSpPr>
          <p:cNvPr id="161" name="Text 159"/>
          <p:cNvSpPr txBox="1"/>
          <p:nvPr/>
        </p:nvSpPr>
        <p:spPr>
          <a:xfrm>
            <a:off x="10826496"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a:t>
            </a:r>
            <a:endParaRPr lang="en-US" sz="1300" dirty="0"/>
          </a:p>
        </p:txBody>
      </p:sp>
      <p:sp>
        <p:nvSpPr>
          <p:cNvPr id="162" name="Text 160"/>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3" name="Text 161"/>
          <p:cNvSpPr txBox="1"/>
          <p:nvPr/>
        </p:nvSpPr>
        <p:spPr>
          <a:xfrm>
            <a:off x="6565392"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64" name="Shape 162"/>
          <p:cNvSpPr/>
          <p:nvPr/>
        </p:nvSpPr>
        <p:spPr>
          <a:xfrm>
            <a:off x="8831965" y="4987218"/>
            <a:ext cx="194169" cy="136676"/>
          </a:xfrm>
          <a:prstGeom prst="rect">
            <a:avLst/>
          </a:prstGeom>
          <a:solidFill>
            <a:srgbClr val="C2352F"/>
          </a:solidFill>
          <a:ln/>
        </p:spPr>
      </p:sp>
      <p:sp>
        <p:nvSpPr>
          <p:cNvPr id="165" name="Text 163"/>
          <p:cNvSpPr txBox="1"/>
          <p:nvPr/>
        </p:nvSpPr>
        <p:spPr>
          <a:xfrm>
            <a:off x="9729216" y="4931305"/>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−$58K</a:t>
            </a:r>
            <a:endParaRPr lang="en-US" sz="1300" dirty="0"/>
          </a:p>
        </p:txBody>
      </p:sp>
      <p:sp>
        <p:nvSpPr>
          <p:cNvPr id="166" name="Text 164"/>
          <p:cNvSpPr txBox="1"/>
          <p:nvPr/>
        </p:nvSpPr>
        <p:spPr>
          <a:xfrm>
            <a:off x="10826496"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a:t>
            </a:r>
            <a:endParaRPr lang="en-US" sz="1300" dirty="0"/>
          </a:p>
        </p:txBody>
      </p:sp>
      <p:sp>
        <p:nvSpPr>
          <p:cNvPr id="167" name="Text 165"/>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68" name="Text 166"/>
          <p:cNvSpPr txBox="1"/>
          <p:nvPr/>
        </p:nvSpPr>
        <p:spPr>
          <a:xfrm>
            <a:off x="6565392"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69" name="Shape 167"/>
          <p:cNvSpPr/>
          <p:nvPr/>
        </p:nvSpPr>
        <p:spPr>
          <a:xfrm>
            <a:off x="8826849" y="5235720"/>
            <a:ext cx="199286" cy="136676"/>
          </a:xfrm>
          <a:prstGeom prst="rect">
            <a:avLst/>
          </a:prstGeom>
          <a:solidFill>
            <a:srgbClr val="C2352F"/>
          </a:solidFill>
          <a:ln/>
        </p:spPr>
      </p:sp>
      <p:sp>
        <p:nvSpPr>
          <p:cNvPr id="170" name="Text 168"/>
          <p:cNvSpPr txBox="1"/>
          <p:nvPr/>
        </p:nvSpPr>
        <p:spPr>
          <a:xfrm>
            <a:off x="9729216" y="517980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−$60K</a:t>
            </a:r>
            <a:endParaRPr lang="en-US" sz="1300" dirty="0"/>
          </a:p>
        </p:txBody>
      </p:sp>
      <p:sp>
        <p:nvSpPr>
          <p:cNvPr id="171" name="Text 169"/>
          <p:cNvSpPr txBox="1"/>
          <p:nvPr/>
        </p:nvSpPr>
        <p:spPr>
          <a:xfrm>
            <a:off x="10826496"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172" name="Text 170"/>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3" name="Text 171"/>
          <p:cNvSpPr txBox="1"/>
          <p:nvPr/>
        </p:nvSpPr>
        <p:spPr>
          <a:xfrm>
            <a:off x="6565392"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74" name="Shape 172"/>
          <p:cNvSpPr/>
          <p:nvPr/>
        </p:nvSpPr>
        <p:spPr>
          <a:xfrm>
            <a:off x="8650224" y="5484222"/>
            <a:ext cx="375910" cy="136676"/>
          </a:xfrm>
          <a:prstGeom prst="rect">
            <a:avLst/>
          </a:prstGeom>
          <a:solidFill>
            <a:srgbClr val="C2352F"/>
          </a:solidFill>
          <a:ln/>
        </p:spPr>
      </p:sp>
      <p:sp>
        <p:nvSpPr>
          <p:cNvPr id="175" name="Text 173"/>
          <p:cNvSpPr txBox="1"/>
          <p:nvPr/>
        </p:nvSpPr>
        <p:spPr>
          <a:xfrm>
            <a:off x="9729216" y="542830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−$113K</a:t>
            </a:r>
            <a:endParaRPr lang="en-US" sz="1300" dirty="0"/>
          </a:p>
        </p:txBody>
      </p:sp>
      <p:sp>
        <p:nvSpPr>
          <p:cNvPr id="176" name="Text 174"/>
          <p:cNvSpPr txBox="1"/>
          <p:nvPr/>
        </p:nvSpPr>
        <p:spPr>
          <a:xfrm>
            <a:off x="10826496"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5.7%</a:t>
            </a:r>
            <a:endParaRPr lang="en-US" sz="1300" dirty="0"/>
          </a:p>
        </p:txBody>
      </p:sp>
      <p:sp>
        <p:nvSpPr>
          <p:cNvPr id="177" name="Shape 175"/>
          <p:cNvSpPr/>
          <p:nvPr/>
        </p:nvSpPr>
        <p:spPr>
          <a:xfrm>
            <a:off x="6085332" y="1700784"/>
            <a:ext cx="10973" cy="4224528"/>
          </a:xfrm>
          <a:prstGeom prst="rect">
            <a:avLst/>
          </a:prstGeom>
          <a:solidFill>
            <a:srgbClr val="D9D9D9"/>
          </a:solidFill>
          <a:ln/>
        </p:spPr>
      </p:sp>
      <p:sp>
        <p:nvSpPr>
          <p:cNvPr id="178" name="Shape 176"/>
          <p:cNvSpPr/>
          <p:nvPr/>
        </p:nvSpPr>
        <p:spPr>
          <a:xfrm>
            <a:off x="457200" y="6126480"/>
            <a:ext cx="11274552" cy="615696"/>
          </a:xfrm>
          <a:prstGeom prst="rect">
            <a:avLst/>
          </a:prstGeom>
          <a:solidFill>
            <a:srgbClr val="FBEBEA"/>
          </a:solidFill>
          <a:ln/>
        </p:spPr>
      </p:sp>
      <p:sp>
        <p:nvSpPr>
          <p:cNvPr id="179" name="Text 177"/>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21 stores under 10% have left $633,493 so far this year; 12 are at or above it. Chevy LV is furthest below at −$113K.</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JAN–SEP 2026 YTD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System Service Variance from Benchmark</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4178808" y="1316736"/>
            <a:ext cx="10972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7" name="Text 5"/>
          <p:cNvSpPr txBox="1"/>
          <p:nvPr/>
        </p:nvSpPr>
        <p:spPr>
          <a:xfrm>
            <a:off x="5276088"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8" name="Shape 6"/>
          <p:cNvSpPr/>
          <p:nvPr/>
        </p:nvSpPr>
        <p:spPr>
          <a:xfrm>
            <a:off x="3540063" y="1700784"/>
            <a:ext cx="10973" cy="4224528"/>
          </a:xfrm>
          <a:prstGeom prst="rect">
            <a:avLst/>
          </a:prstGeom>
          <a:solidFill>
            <a:srgbClr val="9AA3AD"/>
          </a:solidFill>
          <a:ln/>
        </p:spPr>
      </p:sp>
      <p:sp>
        <p:nvSpPr>
          <p:cNvPr id="9" name="Text 7"/>
          <p:cNvSpPr txBox="1"/>
          <p:nvPr/>
        </p:nvSpPr>
        <p:spPr>
          <a:xfrm>
            <a:off x="9729216" y="1316736"/>
            <a:ext cx="10972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10" name="Text 8"/>
          <p:cNvSpPr txBox="1"/>
          <p:nvPr/>
        </p:nvSpPr>
        <p:spPr>
          <a:xfrm>
            <a:off x="10826496"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1" name="Shape 9"/>
          <p:cNvSpPr/>
          <p:nvPr/>
        </p:nvSpPr>
        <p:spPr>
          <a:xfrm>
            <a:off x="9090471" y="1700784"/>
            <a:ext cx="10973" cy="3976026"/>
          </a:xfrm>
          <a:prstGeom prst="rect">
            <a:avLst/>
          </a:prstGeom>
          <a:solidFill>
            <a:srgbClr val="9AA3AD"/>
          </a:solidFill>
          <a:ln/>
        </p:spPr>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4" name="Shape 12"/>
          <p:cNvSpPr/>
          <p:nvPr/>
        </p:nvSpPr>
        <p:spPr>
          <a:xfrm>
            <a:off x="3545549" y="1756697"/>
            <a:ext cx="578395" cy="136676"/>
          </a:xfrm>
          <a:prstGeom prst="rect">
            <a:avLst/>
          </a:prstGeom>
          <a:solidFill>
            <a:srgbClr val="12A566"/>
          </a:solidFill>
          <a:ln/>
        </p:spPr>
      </p:sp>
      <p:sp>
        <p:nvSpPr>
          <p:cNvPr id="15" name="Text 13"/>
          <p:cNvSpPr txBox="1"/>
          <p:nvPr/>
        </p:nvSpPr>
        <p:spPr>
          <a:xfrm>
            <a:off x="4178808" y="1700784"/>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+$138K</a:t>
            </a:r>
            <a:endParaRPr lang="en-US" sz="1300" dirty="0"/>
          </a:p>
        </p:txBody>
      </p:sp>
      <p:sp>
        <p:nvSpPr>
          <p:cNvPr id="16" name="Text 14"/>
          <p:cNvSpPr txBox="1"/>
          <p:nvPr/>
        </p:nvSpPr>
        <p:spPr>
          <a:xfrm>
            <a:off x="5276088"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a:t>
            </a:r>
            <a:endParaRPr lang="en-US" sz="1300" dirty="0"/>
          </a:p>
        </p:txBody>
      </p:sp>
      <p:sp>
        <p:nvSpPr>
          <p:cNvPr id="17" name="Text 15"/>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9" name="Shape 17"/>
          <p:cNvSpPr/>
          <p:nvPr/>
        </p:nvSpPr>
        <p:spPr>
          <a:xfrm>
            <a:off x="3545549" y="2005199"/>
            <a:ext cx="224689" cy="136676"/>
          </a:xfrm>
          <a:prstGeom prst="rect">
            <a:avLst/>
          </a:prstGeom>
          <a:solidFill>
            <a:srgbClr val="12A566"/>
          </a:solidFill>
          <a:ln/>
        </p:spPr>
      </p:sp>
      <p:sp>
        <p:nvSpPr>
          <p:cNvPr id="20" name="Text 18"/>
          <p:cNvSpPr txBox="1"/>
          <p:nvPr/>
        </p:nvSpPr>
        <p:spPr>
          <a:xfrm>
            <a:off x="4178808" y="1949286"/>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+$54K</a:t>
            </a:r>
            <a:endParaRPr lang="en-US" sz="1300" dirty="0"/>
          </a:p>
        </p:txBody>
      </p:sp>
      <p:sp>
        <p:nvSpPr>
          <p:cNvPr id="21" name="Text 19"/>
          <p:cNvSpPr txBox="1"/>
          <p:nvPr/>
        </p:nvSpPr>
        <p:spPr>
          <a:xfrm>
            <a:off x="5276088"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13.8%</a:t>
            </a:r>
            <a:endParaRPr lang="en-US" sz="1300" dirty="0"/>
          </a:p>
        </p:txBody>
      </p:sp>
      <p:sp>
        <p:nvSpPr>
          <p:cNvPr id="22" name="Text 20"/>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3" name="Text 21"/>
          <p:cNvSpPr txBox="1"/>
          <p:nvPr/>
        </p:nvSpPr>
        <p:spPr>
          <a:xfrm>
            <a:off x="1014984"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24" name="Shape 22"/>
          <p:cNvSpPr/>
          <p:nvPr/>
        </p:nvSpPr>
        <p:spPr>
          <a:xfrm>
            <a:off x="3545549" y="2253700"/>
            <a:ext cx="160950" cy="136676"/>
          </a:xfrm>
          <a:prstGeom prst="rect">
            <a:avLst/>
          </a:prstGeom>
          <a:solidFill>
            <a:srgbClr val="12A566"/>
          </a:solidFill>
          <a:ln/>
        </p:spPr>
      </p:sp>
      <p:sp>
        <p:nvSpPr>
          <p:cNvPr id="25" name="Text 23"/>
          <p:cNvSpPr txBox="1"/>
          <p:nvPr/>
        </p:nvSpPr>
        <p:spPr>
          <a:xfrm>
            <a:off x="4178808" y="2197787"/>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+$39K</a:t>
            </a:r>
            <a:endParaRPr lang="en-US" sz="1300" dirty="0"/>
          </a:p>
        </p:txBody>
      </p:sp>
      <p:sp>
        <p:nvSpPr>
          <p:cNvPr id="26" name="Text 24"/>
          <p:cNvSpPr txBox="1"/>
          <p:nvPr/>
        </p:nvSpPr>
        <p:spPr>
          <a:xfrm>
            <a:off x="5276088"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27" name="Text 25"/>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8" name="Text 26"/>
          <p:cNvSpPr txBox="1"/>
          <p:nvPr/>
        </p:nvSpPr>
        <p:spPr>
          <a:xfrm>
            <a:off x="1014984"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29" name="Shape 27"/>
          <p:cNvSpPr/>
          <p:nvPr/>
        </p:nvSpPr>
        <p:spPr>
          <a:xfrm>
            <a:off x="3545549" y="2502202"/>
            <a:ext cx="41697" cy="136676"/>
          </a:xfrm>
          <a:prstGeom prst="rect">
            <a:avLst/>
          </a:prstGeom>
          <a:solidFill>
            <a:srgbClr val="12A566"/>
          </a:solidFill>
          <a:ln/>
        </p:spPr>
      </p:sp>
      <p:sp>
        <p:nvSpPr>
          <p:cNvPr id="30" name="Text 28"/>
          <p:cNvSpPr txBox="1"/>
          <p:nvPr/>
        </p:nvSpPr>
        <p:spPr>
          <a:xfrm>
            <a:off x="4178808" y="2446289"/>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+$10K</a:t>
            </a:r>
            <a:endParaRPr lang="en-US" sz="1300" dirty="0"/>
          </a:p>
        </p:txBody>
      </p:sp>
      <p:sp>
        <p:nvSpPr>
          <p:cNvPr id="31" name="Text 29"/>
          <p:cNvSpPr txBox="1"/>
          <p:nvPr/>
        </p:nvSpPr>
        <p:spPr>
          <a:xfrm>
            <a:off x="5276088"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9.3%</a:t>
            </a:r>
            <a:endParaRPr lang="en-US" sz="1300" dirty="0"/>
          </a:p>
        </p:txBody>
      </p:sp>
      <p:sp>
        <p:nvSpPr>
          <p:cNvPr id="32" name="Text 30"/>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3" name="Text 31"/>
          <p:cNvSpPr txBox="1"/>
          <p:nvPr/>
        </p:nvSpPr>
        <p:spPr>
          <a:xfrm>
            <a:off x="1014984"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34" name="Shape 32"/>
          <p:cNvSpPr/>
          <p:nvPr/>
        </p:nvSpPr>
        <p:spPr>
          <a:xfrm>
            <a:off x="3545549" y="2750703"/>
            <a:ext cx="36360" cy="136676"/>
          </a:xfrm>
          <a:prstGeom prst="rect">
            <a:avLst/>
          </a:prstGeom>
          <a:solidFill>
            <a:srgbClr val="12A566"/>
          </a:solidFill>
          <a:ln/>
        </p:spPr>
      </p:sp>
      <p:sp>
        <p:nvSpPr>
          <p:cNvPr id="35" name="Text 33"/>
          <p:cNvSpPr txBox="1"/>
          <p:nvPr/>
        </p:nvSpPr>
        <p:spPr>
          <a:xfrm>
            <a:off x="4178808" y="2694791"/>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+$9K</a:t>
            </a:r>
            <a:endParaRPr lang="en-US" sz="1300" dirty="0"/>
          </a:p>
        </p:txBody>
      </p:sp>
      <p:sp>
        <p:nvSpPr>
          <p:cNvPr id="36" name="Text 34"/>
          <p:cNvSpPr txBox="1"/>
          <p:nvPr/>
        </p:nvSpPr>
        <p:spPr>
          <a:xfrm>
            <a:off x="5276088"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8.9%</a:t>
            </a:r>
            <a:endParaRPr lang="en-US" sz="1300" dirty="0"/>
          </a:p>
        </p:txBody>
      </p:sp>
      <p:sp>
        <p:nvSpPr>
          <p:cNvPr id="37" name="Text 35"/>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8" name="Text 36"/>
          <p:cNvSpPr txBox="1"/>
          <p:nvPr/>
        </p:nvSpPr>
        <p:spPr>
          <a:xfrm>
            <a:off x="1014984"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39" name="Shape 37"/>
          <p:cNvSpPr/>
          <p:nvPr/>
        </p:nvSpPr>
        <p:spPr>
          <a:xfrm>
            <a:off x="3545549" y="2999205"/>
            <a:ext cx="18288" cy="136676"/>
          </a:xfrm>
          <a:prstGeom prst="rect">
            <a:avLst/>
          </a:prstGeom>
          <a:solidFill>
            <a:srgbClr val="12A566"/>
          </a:solidFill>
          <a:ln/>
        </p:spPr>
      </p:sp>
      <p:sp>
        <p:nvSpPr>
          <p:cNvPr id="40" name="Text 38"/>
          <p:cNvSpPr txBox="1"/>
          <p:nvPr/>
        </p:nvSpPr>
        <p:spPr>
          <a:xfrm>
            <a:off x="4178808" y="2943292"/>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+$3K</a:t>
            </a:r>
            <a:endParaRPr lang="en-US" sz="1300" dirty="0"/>
          </a:p>
        </p:txBody>
      </p:sp>
      <p:sp>
        <p:nvSpPr>
          <p:cNvPr id="41" name="Text 39"/>
          <p:cNvSpPr txBox="1"/>
          <p:nvPr/>
        </p:nvSpPr>
        <p:spPr>
          <a:xfrm>
            <a:off x="5276088"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a:t>
            </a:r>
            <a:endParaRPr lang="en-US" sz="1300" dirty="0"/>
          </a:p>
        </p:txBody>
      </p:sp>
      <p:sp>
        <p:nvSpPr>
          <p:cNvPr id="42" name="Text 40"/>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3" name="Text 41"/>
          <p:cNvSpPr txBox="1"/>
          <p:nvPr/>
        </p:nvSpPr>
        <p:spPr>
          <a:xfrm>
            <a:off x="1014984"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44" name="Shape 42"/>
          <p:cNvSpPr/>
          <p:nvPr/>
        </p:nvSpPr>
        <p:spPr>
          <a:xfrm>
            <a:off x="3545549" y="3247707"/>
            <a:ext cx="18288" cy="136676"/>
          </a:xfrm>
          <a:prstGeom prst="rect">
            <a:avLst/>
          </a:prstGeom>
          <a:solidFill>
            <a:srgbClr val="12A566"/>
          </a:solidFill>
          <a:ln/>
        </p:spPr>
      </p:sp>
      <p:sp>
        <p:nvSpPr>
          <p:cNvPr id="45" name="Text 43"/>
          <p:cNvSpPr txBox="1"/>
          <p:nvPr/>
        </p:nvSpPr>
        <p:spPr>
          <a:xfrm>
            <a:off x="4178808" y="3191794"/>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+$3K</a:t>
            </a:r>
            <a:endParaRPr lang="en-US" sz="1300" dirty="0"/>
          </a:p>
        </p:txBody>
      </p:sp>
      <p:sp>
        <p:nvSpPr>
          <p:cNvPr id="46" name="Text 44"/>
          <p:cNvSpPr txBox="1"/>
          <p:nvPr/>
        </p:nvSpPr>
        <p:spPr>
          <a:xfrm>
            <a:off x="5276088"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a:t>
            </a:r>
            <a:endParaRPr lang="en-US" sz="1300" dirty="0"/>
          </a:p>
        </p:txBody>
      </p:sp>
      <p:sp>
        <p:nvSpPr>
          <p:cNvPr id="47" name="Text 45"/>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8" name="Text 46"/>
          <p:cNvSpPr txBox="1"/>
          <p:nvPr/>
        </p:nvSpPr>
        <p:spPr>
          <a:xfrm>
            <a:off x="1014984"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49" name="Shape 47"/>
          <p:cNvSpPr/>
          <p:nvPr/>
        </p:nvSpPr>
        <p:spPr>
          <a:xfrm>
            <a:off x="3541770" y="3496208"/>
            <a:ext cx="18288" cy="136676"/>
          </a:xfrm>
          <a:prstGeom prst="rect">
            <a:avLst/>
          </a:prstGeom>
          <a:solidFill>
            <a:srgbClr val="C2352F"/>
          </a:solidFill>
          <a:ln/>
        </p:spPr>
      </p:sp>
      <p:sp>
        <p:nvSpPr>
          <p:cNvPr id="50" name="Text 48"/>
          <p:cNvSpPr txBox="1"/>
          <p:nvPr/>
        </p:nvSpPr>
        <p:spPr>
          <a:xfrm>
            <a:off x="4178808" y="344029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−$905</a:t>
            </a:r>
            <a:endParaRPr lang="en-US" sz="1300" dirty="0"/>
          </a:p>
        </p:txBody>
      </p:sp>
      <p:sp>
        <p:nvSpPr>
          <p:cNvPr id="51" name="Text 49"/>
          <p:cNvSpPr txBox="1"/>
          <p:nvPr/>
        </p:nvSpPr>
        <p:spPr>
          <a:xfrm>
            <a:off x="5276088"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a:t>
            </a:r>
            <a:endParaRPr lang="en-US" sz="1300" dirty="0"/>
          </a:p>
        </p:txBody>
      </p:sp>
      <p:sp>
        <p:nvSpPr>
          <p:cNvPr id="52" name="Text 50"/>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3" name="Text 51"/>
          <p:cNvSpPr txBox="1"/>
          <p:nvPr/>
        </p:nvSpPr>
        <p:spPr>
          <a:xfrm>
            <a:off x="1014984"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54" name="Shape 52"/>
          <p:cNvSpPr/>
          <p:nvPr/>
        </p:nvSpPr>
        <p:spPr>
          <a:xfrm>
            <a:off x="3513580" y="3744710"/>
            <a:ext cx="31969" cy="136676"/>
          </a:xfrm>
          <a:prstGeom prst="rect">
            <a:avLst/>
          </a:prstGeom>
          <a:solidFill>
            <a:srgbClr val="C2352F"/>
          </a:solidFill>
          <a:ln/>
        </p:spPr>
      </p:sp>
      <p:sp>
        <p:nvSpPr>
          <p:cNvPr id="55" name="Text 53"/>
          <p:cNvSpPr txBox="1"/>
          <p:nvPr/>
        </p:nvSpPr>
        <p:spPr>
          <a:xfrm>
            <a:off x="4178808" y="368879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−$8K</a:t>
            </a:r>
            <a:endParaRPr lang="en-US" sz="1300" dirty="0"/>
          </a:p>
        </p:txBody>
      </p:sp>
      <p:sp>
        <p:nvSpPr>
          <p:cNvPr id="56" name="Text 54"/>
          <p:cNvSpPr txBox="1"/>
          <p:nvPr/>
        </p:nvSpPr>
        <p:spPr>
          <a:xfrm>
            <a:off x="5276088"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57" name="Text 55"/>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8" name="Text 56"/>
          <p:cNvSpPr txBox="1"/>
          <p:nvPr/>
        </p:nvSpPr>
        <p:spPr>
          <a:xfrm>
            <a:off x="1014984"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9" name="Shape 57"/>
          <p:cNvSpPr/>
          <p:nvPr/>
        </p:nvSpPr>
        <p:spPr>
          <a:xfrm>
            <a:off x="3505684" y="3993212"/>
            <a:ext cx="39865" cy="136676"/>
          </a:xfrm>
          <a:prstGeom prst="rect">
            <a:avLst/>
          </a:prstGeom>
          <a:solidFill>
            <a:srgbClr val="C2352F"/>
          </a:solidFill>
          <a:ln/>
        </p:spPr>
      </p:sp>
      <p:sp>
        <p:nvSpPr>
          <p:cNvPr id="60" name="Text 58"/>
          <p:cNvSpPr txBox="1"/>
          <p:nvPr/>
        </p:nvSpPr>
        <p:spPr>
          <a:xfrm>
            <a:off x="4178808" y="393729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61" name="Text 59"/>
          <p:cNvSpPr txBox="1"/>
          <p:nvPr/>
        </p:nvSpPr>
        <p:spPr>
          <a:xfrm>
            <a:off x="5276088"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a:t>
            </a:r>
            <a:endParaRPr lang="en-US" sz="1300" dirty="0"/>
          </a:p>
        </p:txBody>
      </p:sp>
      <p:sp>
        <p:nvSpPr>
          <p:cNvPr id="62" name="Text 60"/>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3" name="Text 61"/>
          <p:cNvSpPr txBox="1"/>
          <p:nvPr/>
        </p:nvSpPr>
        <p:spPr>
          <a:xfrm>
            <a:off x="1014984"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64" name="Shape 62"/>
          <p:cNvSpPr/>
          <p:nvPr/>
        </p:nvSpPr>
        <p:spPr>
          <a:xfrm>
            <a:off x="3488418" y="4241713"/>
            <a:ext cx="57131" cy="136676"/>
          </a:xfrm>
          <a:prstGeom prst="rect">
            <a:avLst/>
          </a:prstGeom>
          <a:solidFill>
            <a:srgbClr val="C2352F"/>
          </a:solidFill>
          <a:ln/>
        </p:spPr>
      </p:sp>
      <p:sp>
        <p:nvSpPr>
          <p:cNvPr id="65" name="Text 63"/>
          <p:cNvSpPr txBox="1"/>
          <p:nvPr/>
        </p:nvSpPr>
        <p:spPr>
          <a:xfrm>
            <a:off x="4178808" y="418580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−$14K</a:t>
            </a:r>
            <a:endParaRPr lang="en-US" sz="1300" dirty="0"/>
          </a:p>
        </p:txBody>
      </p:sp>
      <p:sp>
        <p:nvSpPr>
          <p:cNvPr id="66" name="Text 64"/>
          <p:cNvSpPr txBox="1"/>
          <p:nvPr/>
        </p:nvSpPr>
        <p:spPr>
          <a:xfrm>
            <a:off x="5276088"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a:t>
            </a:r>
            <a:endParaRPr lang="en-US" sz="1300" dirty="0"/>
          </a:p>
        </p:txBody>
      </p:sp>
      <p:sp>
        <p:nvSpPr>
          <p:cNvPr id="67" name="Text 65"/>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8" name="Text 66"/>
          <p:cNvSpPr txBox="1"/>
          <p:nvPr/>
        </p:nvSpPr>
        <p:spPr>
          <a:xfrm>
            <a:off x="1014984"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69" name="Shape 67"/>
          <p:cNvSpPr/>
          <p:nvPr/>
        </p:nvSpPr>
        <p:spPr>
          <a:xfrm>
            <a:off x="3486400" y="4490215"/>
            <a:ext cx="59150" cy="136676"/>
          </a:xfrm>
          <a:prstGeom prst="rect">
            <a:avLst/>
          </a:prstGeom>
          <a:solidFill>
            <a:srgbClr val="C2352F"/>
          </a:solidFill>
          <a:ln/>
        </p:spPr>
      </p:sp>
      <p:sp>
        <p:nvSpPr>
          <p:cNvPr id="70" name="Text 68"/>
          <p:cNvSpPr txBox="1"/>
          <p:nvPr/>
        </p:nvSpPr>
        <p:spPr>
          <a:xfrm>
            <a:off x="4178808" y="443430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−$14K</a:t>
            </a:r>
            <a:endParaRPr lang="en-US" sz="1300" dirty="0"/>
          </a:p>
        </p:txBody>
      </p:sp>
      <p:sp>
        <p:nvSpPr>
          <p:cNvPr id="71" name="Text 69"/>
          <p:cNvSpPr txBox="1"/>
          <p:nvPr/>
        </p:nvSpPr>
        <p:spPr>
          <a:xfrm>
            <a:off x="5276088"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6.4%</a:t>
            </a:r>
            <a:endParaRPr lang="en-US" sz="1300" dirty="0"/>
          </a:p>
        </p:txBody>
      </p:sp>
      <p:sp>
        <p:nvSpPr>
          <p:cNvPr id="72" name="Text 70"/>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3" name="Text 71"/>
          <p:cNvSpPr txBox="1"/>
          <p:nvPr/>
        </p:nvSpPr>
        <p:spPr>
          <a:xfrm>
            <a:off x="1014984"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74" name="Shape 72"/>
          <p:cNvSpPr/>
          <p:nvPr/>
        </p:nvSpPr>
        <p:spPr>
          <a:xfrm>
            <a:off x="3479069" y="4738717"/>
            <a:ext cx="66480" cy="136676"/>
          </a:xfrm>
          <a:prstGeom prst="rect">
            <a:avLst/>
          </a:prstGeom>
          <a:solidFill>
            <a:srgbClr val="C2352F"/>
          </a:solidFill>
          <a:ln/>
        </p:spPr>
      </p:sp>
      <p:sp>
        <p:nvSpPr>
          <p:cNvPr id="75" name="Text 73"/>
          <p:cNvSpPr txBox="1"/>
          <p:nvPr/>
        </p:nvSpPr>
        <p:spPr>
          <a:xfrm>
            <a:off x="4178808" y="468280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−$16K</a:t>
            </a:r>
            <a:endParaRPr lang="en-US" sz="1300" dirty="0"/>
          </a:p>
        </p:txBody>
      </p:sp>
      <p:sp>
        <p:nvSpPr>
          <p:cNvPr id="76" name="Text 74"/>
          <p:cNvSpPr txBox="1"/>
          <p:nvPr/>
        </p:nvSpPr>
        <p:spPr>
          <a:xfrm>
            <a:off x="5276088"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a:t>
            </a:r>
            <a:endParaRPr lang="en-US" sz="1300" dirty="0"/>
          </a:p>
        </p:txBody>
      </p:sp>
      <p:sp>
        <p:nvSpPr>
          <p:cNvPr id="77" name="Text 75"/>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8" name="Text 76"/>
          <p:cNvSpPr txBox="1"/>
          <p:nvPr/>
        </p:nvSpPr>
        <p:spPr>
          <a:xfrm>
            <a:off x="1014984"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79" name="Shape 77"/>
          <p:cNvSpPr/>
          <p:nvPr/>
        </p:nvSpPr>
        <p:spPr>
          <a:xfrm>
            <a:off x="3470893" y="4987218"/>
            <a:ext cx="74656" cy="136676"/>
          </a:xfrm>
          <a:prstGeom prst="rect">
            <a:avLst/>
          </a:prstGeom>
          <a:solidFill>
            <a:srgbClr val="C2352F"/>
          </a:solidFill>
          <a:ln/>
        </p:spPr>
      </p:sp>
      <p:sp>
        <p:nvSpPr>
          <p:cNvPr id="80" name="Text 78"/>
          <p:cNvSpPr txBox="1"/>
          <p:nvPr/>
        </p:nvSpPr>
        <p:spPr>
          <a:xfrm>
            <a:off x="4178808" y="4931305"/>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−$18K</a:t>
            </a:r>
            <a:endParaRPr lang="en-US" sz="1300" dirty="0"/>
          </a:p>
        </p:txBody>
      </p:sp>
      <p:sp>
        <p:nvSpPr>
          <p:cNvPr id="81" name="Text 79"/>
          <p:cNvSpPr txBox="1"/>
          <p:nvPr/>
        </p:nvSpPr>
        <p:spPr>
          <a:xfrm>
            <a:off x="5276088"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5.5%</a:t>
            </a:r>
            <a:endParaRPr lang="en-US" sz="1300" dirty="0"/>
          </a:p>
        </p:txBody>
      </p:sp>
      <p:sp>
        <p:nvSpPr>
          <p:cNvPr id="82" name="Text 80"/>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3" name="Text 81"/>
          <p:cNvSpPr txBox="1"/>
          <p:nvPr/>
        </p:nvSpPr>
        <p:spPr>
          <a:xfrm>
            <a:off x="1014984"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84" name="Shape 82"/>
          <p:cNvSpPr/>
          <p:nvPr/>
        </p:nvSpPr>
        <p:spPr>
          <a:xfrm>
            <a:off x="3467487" y="5235720"/>
            <a:ext cx="78062" cy="136676"/>
          </a:xfrm>
          <a:prstGeom prst="rect">
            <a:avLst/>
          </a:prstGeom>
          <a:solidFill>
            <a:srgbClr val="C2352F"/>
          </a:solidFill>
          <a:ln/>
        </p:spPr>
      </p:sp>
      <p:sp>
        <p:nvSpPr>
          <p:cNvPr id="85" name="Text 83"/>
          <p:cNvSpPr txBox="1"/>
          <p:nvPr/>
        </p:nvSpPr>
        <p:spPr>
          <a:xfrm>
            <a:off x="4178808" y="517980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−$19K</a:t>
            </a:r>
            <a:endParaRPr lang="en-US" sz="1300" dirty="0"/>
          </a:p>
        </p:txBody>
      </p:sp>
      <p:sp>
        <p:nvSpPr>
          <p:cNvPr id="86" name="Text 84"/>
          <p:cNvSpPr txBox="1"/>
          <p:nvPr/>
        </p:nvSpPr>
        <p:spPr>
          <a:xfrm>
            <a:off x="5276088"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87" name="Text 85"/>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8" name="Text 86"/>
          <p:cNvSpPr txBox="1"/>
          <p:nvPr/>
        </p:nvSpPr>
        <p:spPr>
          <a:xfrm>
            <a:off x="1014984"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89" name="Shape 87"/>
          <p:cNvSpPr/>
          <p:nvPr/>
        </p:nvSpPr>
        <p:spPr>
          <a:xfrm>
            <a:off x="3463887" y="5484222"/>
            <a:ext cx="81662" cy="136676"/>
          </a:xfrm>
          <a:prstGeom prst="rect">
            <a:avLst/>
          </a:prstGeom>
          <a:solidFill>
            <a:srgbClr val="C2352F"/>
          </a:solidFill>
          <a:ln/>
        </p:spPr>
      </p:sp>
      <p:sp>
        <p:nvSpPr>
          <p:cNvPr id="90" name="Text 88"/>
          <p:cNvSpPr txBox="1"/>
          <p:nvPr/>
        </p:nvSpPr>
        <p:spPr>
          <a:xfrm>
            <a:off x="4178808" y="542830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−$20K</a:t>
            </a:r>
            <a:endParaRPr lang="en-US" sz="1300" dirty="0"/>
          </a:p>
        </p:txBody>
      </p:sp>
      <p:sp>
        <p:nvSpPr>
          <p:cNvPr id="91" name="Text 89"/>
          <p:cNvSpPr txBox="1"/>
          <p:nvPr/>
        </p:nvSpPr>
        <p:spPr>
          <a:xfrm>
            <a:off x="5276088"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92" name="Text 90"/>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3" name="Text 91"/>
          <p:cNvSpPr txBox="1"/>
          <p:nvPr/>
        </p:nvSpPr>
        <p:spPr>
          <a:xfrm>
            <a:off x="1014984" y="567681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94" name="Shape 92"/>
          <p:cNvSpPr/>
          <p:nvPr/>
        </p:nvSpPr>
        <p:spPr>
          <a:xfrm>
            <a:off x="3455112" y="5732723"/>
            <a:ext cx="90437" cy="136676"/>
          </a:xfrm>
          <a:prstGeom prst="rect">
            <a:avLst/>
          </a:prstGeom>
          <a:solidFill>
            <a:srgbClr val="C2352F"/>
          </a:solidFill>
          <a:ln/>
        </p:spPr>
      </p:sp>
      <p:sp>
        <p:nvSpPr>
          <p:cNvPr id="95" name="Text 93"/>
          <p:cNvSpPr txBox="1"/>
          <p:nvPr/>
        </p:nvSpPr>
        <p:spPr>
          <a:xfrm>
            <a:off x="4178808" y="567681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−$22K</a:t>
            </a:r>
            <a:endParaRPr lang="en-US" sz="1300" dirty="0"/>
          </a:p>
        </p:txBody>
      </p:sp>
      <p:sp>
        <p:nvSpPr>
          <p:cNvPr id="96" name="Text 94"/>
          <p:cNvSpPr txBox="1"/>
          <p:nvPr/>
        </p:nvSpPr>
        <p:spPr>
          <a:xfrm>
            <a:off x="5276088" y="567681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97" name="Text 95"/>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8" name="Text 96"/>
          <p:cNvSpPr txBox="1"/>
          <p:nvPr/>
        </p:nvSpPr>
        <p:spPr>
          <a:xfrm>
            <a:off x="6565392"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99" name="Shape 97"/>
          <p:cNvSpPr/>
          <p:nvPr/>
        </p:nvSpPr>
        <p:spPr>
          <a:xfrm>
            <a:off x="8990249" y="1756697"/>
            <a:ext cx="105708" cy="136676"/>
          </a:xfrm>
          <a:prstGeom prst="rect">
            <a:avLst/>
          </a:prstGeom>
          <a:solidFill>
            <a:srgbClr val="C2352F"/>
          </a:solidFill>
          <a:ln/>
        </p:spPr>
      </p:sp>
      <p:sp>
        <p:nvSpPr>
          <p:cNvPr id="100" name="Text 98"/>
          <p:cNvSpPr txBox="1"/>
          <p:nvPr/>
        </p:nvSpPr>
        <p:spPr>
          <a:xfrm>
            <a:off x="9729216" y="170078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−$25K</a:t>
            </a:r>
            <a:endParaRPr lang="en-US" sz="1300" dirty="0"/>
          </a:p>
        </p:txBody>
      </p:sp>
      <p:sp>
        <p:nvSpPr>
          <p:cNvPr id="101" name="Text 99"/>
          <p:cNvSpPr txBox="1"/>
          <p:nvPr/>
        </p:nvSpPr>
        <p:spPr>
          <a:xfrm>
            <a:off x="10826496"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a:t>
            </a:r>
            <a:endParaRPr lang="en-US" sz="1300" dirty="0"/>
          </a:p>
        </p:txBody>
      </p:sp>
      <p:sp>
        <p:nvSpPr>
          <p:cNvPr id="102" name="Text 100"/>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3" name="Text 101"/>
          <p:cNvSpPr txBox="1"/>
          <p:nvPr/>
        </p:nvSpPr>
        <p:spPr>
          <a:xfrm>
            <a:off x="6565392"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04" name="Shape 102"/>
          <p:cNvSpPr/>
          <p:nvPr/>
        </p:nvSpPr>
        <p:spPr>
          <a:xfrm>
            <a:off x="8952406" y="2005199"/>
            <a:ext cx="143551" cy="136676"/>
          </a:xfrm>
          <a:prstGeom prst="rect">
            <a:avLst/>
          </a:prstGeom>
          <a:solidFill>
            <a:srgbClr val="C2352F"/>
          </a:solidFill>
          <a:ln/>
        </p:spPr>
      </p:sp>
      <p:sp>
        <p:nvSpPr>
          <p:cNvPr id="105" name="Text 103"/>
          <p:cNvSpPr txBox="1"/>
          <p:nvPr/>
        </p:nvSpPr>
        <p:spPr>
          <a:xfrm>
            <a:off x="9729216" y="194928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−$34K</a:t>
            </a:r>
            <a:endParaRPr lang="en-US" sz="1300" dirty="0"/>
          </a:p>
        </p:txBody>
      </p:sp>
      <p:sp>
        <p:nvSpPr>
          <p:cNvPr id="106" name="Text 104"/>
          <p:cNvSpPr txBox="1"/>
          <p:nvPr/>
        </p:nvSpPr>
        <p:spPr>
          <a:xfrm>
            <a:off x="10826496"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a:t>
            </a:r>
            <a:endParaRPr lang="en-US" sz="1300" dirty="0"/>
          </a:p>
        </p:txBody>
      </p:sp>
      <p:sp>
        <p:nvSpPr>
          <p:cNvPr id="107" name="Text 105"/>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08" name="Text 106"/>
          <p:cNvSpPr txBox="1"/>
          <p:nvPr/>
        </p:nvSpPr>
        <p:spPr>
          <a:xfrm>
            <a:off x="6565392"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09" name="Shape 107"/>
          <p:cNvSpPr/>
          <p:nvPr/>
        </p:nvSpPr>
        <p:spPr>
          <a:xfrm>
            <a:off x="8934853" y="2253700"/>
            <a:ext cx="161104" cy="136676"/>
          </a:xfrm>
          <a:prstGeom prst="rect">
            <a:avLst/>
          </a:prstGeom>
          <a:solidFill>
            <a:srgbClr val="C2352F"/>
          </a:solidFill>
          <a:ln/>
        </p:spPr>
      </p:sp>
      <p:sp>
        <p:nvSpPr>
          <p:cNvPr id="110" name="Text 108"/>
          <p:cNvSpPr txBox="1"/>
          <p:nvPr/>
        </p:nvSpPr>
        <p:spPr>
          <a:xfrm>
            <a:off x="9729216" y="219778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−$39K</a:t>
            </a:r>
            <a:endParaRPr lang="en-US" sz="1300" dirty="0"/>
          </a:p>
        </p:txBody>
      </p:sp>
      <p:sp>
        <p:nvSpPr>
          <p:cNvPr id="111" name="Text 109"/>
          <p:cNvSpPr txBox="1"/>
          <p:nvPr/>
        </p:nvSpPr>
        <p:spPr>
          <a:xfrm>
            <a:off x="10826496"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0.8%</a:t>
            </a:r>
            <a:endParaRPr lang="en-US" sz="1300" dirty="0"/>
          </a:p>
        </p:txBody>
      </p:sp>
      <p:sp>
        <p:nvSpPr>
          <p:cNvPr id="112" name="Text 110"/>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3" name="Text 111"/>
          <p:cNvSpPr txBox="1"/>
          <p:nvPr/>
        </p:nvSpPr>
        <p:spPr>
          <a:xfrm>
            <a:off x="6565392"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14" name="Shape 112"/>
          <p:cNvSpPr/>
          <p:nvPr/>
        </p:nvSpPr>
        <p:spPr>
          <a:xfrm>
            <a:off x="8920647" y="2502202"/>
            <a:ext cx="175310" cy="136676"/>
          </a:xfrm>
          <a:prstGeom prst="rect">
            <a:avLst/>
          </a:prstGeom>
          <a:solidFill>
            <a:srgbClr val="C2352F"/>
          </a:solidFill>
          <a:ln/>
        </p:spPr>
      </p:sp>
      <p:sp>
        <p:nvSpPr>
          <p:cNvPr id="115" name="Text 113"/>
          <p:cNvSpPr txBox="1"/>
          <p:nvPr/>
        </p:nvSpPr>
        <p:spPr>
          <a:xfrm>
            <a:off x="9729216" y="244628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−$42K</a:t>
            </a:r>
            <a:endParaRPr lang="en-US" sz="1300" dirty="0"/>
          </a:p>
        </p:txBody>
      </p:sp>
      <p:sp>
        <p:nvSpPr>
          <p:cNvPr id="116" name="Text 114"/>
          <p:cNvSpPr txBox="1"/>
          <p:nvPr/>
        </p:nvSpPr>
        <p:spPr>
          <a:xfrm>
            <a:off x="10826496"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117" name="Text 115"/>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18" name="Text 116"/>
          <p:cNvSpPr txBox="1"/>
          <p:nvPr/>
        </p:nvSpPr>
        <p:spPr>
          <a:xfrm>
            <a:off x="6565392"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19" name="Shape 117"/>
          <p:cNvSpPr/>
          <p:nvPr/>
        </p:nvSpPr>
        <p:spPr>
          <a:xfrm>
            <a:off x="8920267" y="2750703"/>
            <a:ext cx="175690" cy="136676"/>
          </a:xfrm>
          <a:prstGeom prst="rect">
            <a:avLst/>
          </a:prstGeom>
          <a:solidFill>
            <a:srgbClr val="C2352F"/>
          </a:solidFill>
          <a:ln/>
        </p:spPr>
      </p:sp>
      <p:sp>
        <p:nvSpPr>
          <p:cNvPr id="120" name="Text 118"/>
          <p:cNvSpPr txBox="1"/>
          <p:nvPr/>
        </p:nvSpPr>
        <p:spPr>
          <a:xfrm>
            <a:off x="9729216" y="2694791"/>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−$42K</a:t>
            </a:r>
            <a:endParaRPr lang="en-US" sz="1300" dirty="0"/>
          </a:p>
        </p:txBody>
      </p:sp>
      <p:sp>
        <p:nvSpPr>
          <p:cNvPr id="121" name="Text 119"/>
          <p:cNvSpPr txBox="1"/>
          <p:nvPr/>
        </p:nvSpPr>
        <p:spPr>
          <a:xfrm>
            <a:off x="10826496"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a:t>
            </a:r>
            <a:endParaRPr lang="en-US" sz="1300" dirty="0"/>
          </a:p>
        </p:txBody>
      </p:sp>
      <p:sp>
        <p:nvSpPr>
          <p:cNvPr id="122" name="Text 120"/>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3" name="Text 121"/>
          <p:cNvSpPr txBox="1"/>
          <p:nvPr/>
        </p:nvSpPr>
        <p:spPr>
          <a:xfrm>
            <a:off x="6565392"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24" name="Shape 122"/>
          <p:cNvSpPr/>
          <p:nvPr/>
        </p:nvSpPr>
        <p:spPr>
          <a:xfrm>
            <a:off x="8908211" y="2999205"/>
            <a:ext cx="187746" cy="136676"/>
          </a:xfrm>
          <a:prstGeom prst="rect">
            <a:avLst/>
          </a:prstGeom>
          <a:solidFill>
            <a:srgbClr val="C2352F"/>
          </a:solidFill>
          <a:ln/>
        </p:spPr>
      </p:sp>
      <p:sp>
        <p:nvSpPr>
          <p:cNvPr id="125" name="Text 123"/>
          <p:cNvSpPr txBox="1"/>
          <p:nvPr/>
        </p:nvSpPr>
        <p:spPr>
          <a:xfrm>
            <a:off x="9729216" y="294329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−$45K</a:t>
            </a:r>
            <a:endParaRPr lang="en-US" sz="1300" dirty="0"/>
          </a:p>
        </p:txBody>
      </p:sp>
      <p:sp>
        <p:nvSpPr>
          <p:cNvPr id="126" name="Text 124"/>
          <p:cNvSpPr txBox="1"/>
          <p:nvPr/>
        </p:nvSpPr>
        <p:spPr>
          <a:xfrm>
            <a:off x="10826496"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0.7%</a:t>
            </a:r>
            <a:endParaRPr lang="en-US" sz="1300" dirty="0"/>
          </a:p>
        </p:txBody>
      </p:sp>
      <p:sp>
        <p:nvSpPr>
          <p:cNvPr id="127" name="Text 125"/>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28" name="Text 126"/>
          <p:cNvSpPr txBox="1"/>
          <p:nvPr/>
        </p:nvSpPr>
        <p:spPr>
          <a:xfrm>
            <a:off x="6565392"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29" name="Shape 127"/>
          <p:cNvSpPr/>
          <p:nvPr/>
        </p:nvSpPr>
        <p:spPr>
          <a:xfrm>
            <a:off x="8902495" y="3247707"/>
            <a:ext cx="193462" cy="136676"/>
          </a:xfrm>
          <a:prstGeom prst="rect">
            <a:avLst/>
          </a:prstGeom>
          <a:solidFill>
            <a:srgbClr val="C2352F"/>
          </a:solidFill>
          <a:ln/>
        </p:spPr>
      </p:sp>
      <p:sp>
        <p:nvSpPr>
          <p:cNvPr id="130" name="Text 128"/>
          <p:cNvSpPr txBox="1"/>
          <p:nvPr/>
        </p:nvSpPr>
        <p:spPr>
          <a:xfrm>
            <a:off x="9729216" y="319179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−$46K</a:t>
            </a:r>
            <a:endParaRPr lang="en-US" sz="1300" dirty="0"/>
          </a:p>
        </p:txBody>
      </p:sp>
      <p:sp>
        <p:nvSpPr>
          <p:cNvPr id="131" name="Text 129"/>
          <p:cNvSpPr txBox="1"/>
          <p:nvPr/>
        </p:nvSpPr>
        <p:spPr>
          <a:xfrm>
            <a:off x="10826496"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132" name="Text 130"/>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3" name="Text 131"/>
          <p:cNvSpPr txBox="1"/>
          <p:nvPr/>
        </p:nvSpPr>
        <p:spPr>
          <a:xfrm>
            <a:off x="6565392"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34" name="Shape 132"/>
          <p:cNvSpPr/>
          <p:nvPr/>
        </p:nvSpPr>
        <p:spPr>
          <a:xfrm>
            <a:off x="8901220" y="3496208"/>
            <a:ext cx="194737" cy="136676"/>
          </a:xfrm>
          <a:prstGeom prst="rect">
            <a:avLst/>
          </a:prstGeom>
          <a:solidFill>
            <a:srgbClr val="C2352F"/>
          </a:solidFill>
          <a:ln/>
        </p:spPr>
      </p:sp>
      <p:sp>
        <p:nvSpPr>
          <p:cNvPr id="135" name="Text 133"/>
          <p:cNvSpPr txBox="1"/>
          <p:nvPr/>
        </p:nvSpPr>
        <p:spPr>
          <a:xfrm>
            <a:off x="9729216" y="344029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−$47K</a:t>
            </a:r>
            <a:endParaRPr lang="en-US" sz="1300" dirty="0"/>
          </a:p>
        </p:txBody>
      </p:sp>
      <p:sp>
        <p:nvSpPr>
          <p:cNvPr id="136" name="Text 134"/>
          <p:cNvSpPr txBox="1"/>
          <p:nvPr/>
        </p:nvSpPr>
        <p:spPr>
          <a:xfrm>
            <a:off x="10826496"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137" name="Text 135"/>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38" name="Text 136"/>
          <p:cNvSpPr txBox="1"/>
          <p:nvPr/>
        </p:nvSpPr>
        <p:spPr>
          <a:xfrm>
            <a:off x="6565392"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39" name="Shape 137"/>
          <p:cNvSpPr/>
          <p:nvPr/>
        </p:nvSpPr>
        <p:spPr>
          <a:xfrm>
            <a:off x="8896811" y="3744710"/>
            <a:ext cx="199146" cy="136676"/>
          </a:xfrm>
          <a:prstGeom prst="rect">
            <a:avLst/>
          </a:prstGeom>
          <a:solidFill>
            <a:srgbClr val="C2352F"/>
          </a:solidFill>
          <a:ln/>
        </p:spPr>
      </p:sp>
      <p:sp>
        <p:nvSpPr>
          <p:cNvPr id="140" name="Text 138"/>
          <p:cNvSpPr txBox="1"/>
          <p:nvPr/>
        </p:nvSpPr>
        <p:spPr>
          <a:xfrm>
            <a:off x="9729216" y="368879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−$48K</a:t>
            </a:r>
            <a:endParaRPr lang="en-US" sz="1300" dirty="0"/>
          </a:p>
        </p:txBody>
      </p:sp>
      <p:sp>
        <p:nvSpPr>
          <p:cNvPr id="141" name="Text 139"/>
          <p:cNvSpPr txBox="1"/>
          <p:nvPr/>
        </p:nvSpPr>
        <p:spPr>
          <a:xfrm>
            <a:off x="10826496"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a:t>
            </a:r>
            <a:endParaRPr lang="en-US" sz="1300" dirty="0"/>
          </a:p>
        </p:txBody>
      </p:sp>
      <p:sp>
        <p:nvSpPr>
          <p:cNvPr id="142" name="Text 140"/>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3" name="Text 141"/>
          <p:cNvSpPr txBox="1"/>
          <p:nvPr/>
        </p:nvSpPr>
        <p:spPr>
          <a:xfrm>
            <a:off x="6565392"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44" name="Shape 142"/>
          <p:cNvSpPr/>
          <p:nvPr/>
        </p:nvSpPr>
        <p:spPr>
          <a:xfrm>
            <a:off x="8891747" y="3993212"/>
            <a:ext cx="204210" cy="136676"/>
          </a:xfrm>
          <a:prstGeom prst="rect">
            <a:avLst/>
          </a:prstGeom>
          <a:solidFill>
            <a:srgbClr val="C2352F"/>
          </a:solidFill>
          <a:ln/>
        </p:spPr>
      </p:sp>
      <p:sp>
        <p:nvSpPr>
          <p:cNvPr id="145" name="Text 143"/>
          <p:cNvSpPr txBox="1"/>
          <p:nvPr/>
        </p:nvSpPr>
        <p:spPr>
          <a:xfrm>
            <a:off x="9729216" y="393729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−$49K</a:t>
            </a:r>
            <a:endParaRPr lang="en-US" sz="1300" dirty="0"/>
          </a:p>
        </p:txBody>
      </p:sp>
      <p:sp>
        <p:nvSpPr>
          <p:cNvPr id="146" name="Text 144"/>
          <p:cNvSpPr txBox="1"/>
          <p:nvPr/>
        </p:nvSpPr>
        <p:spPr>
          <a:xfrm>
            <a:off x="10826496"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147" name="Text 145"/>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48" name="Text 146"/>
          <p:cNvSpPr txBox="1"/>
          <p:nvPr/>
        </p:nvSpPr>
        <p:spPr>
          <a:xfrm>
            <a:off x="6565392"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49" name="Shape 147"/>
          <p:cNvSpPr/>
          <p:nvPr/>
        </p:nvSpPr>
        <p:spPr>
          <a:xfrm>
            <a:off x="8860792" y="4241713"/>
            <a:ext cx="235165" cy="136676"/>
          </a:xfrm>
          <a:prstGeom prst="rect">
            <a:avLst/>
          </a:prstGeom>
          <a:solidFill>
            <a:srgbClr val="C2352F"/>
          </a:solidFill>
          <a:ln/>
        </p:spPr>
      </p:sp>
      <p:sp>
        <p:nvSpPr>
          <p:cNvPr id="150" name="Text 148"/>
          <p:cNvSpPr txBox="1"/>
          <p:nvPr/>
        </p:nvSpPr>
        <p:spPr>
          <a:xfrm>
            <a:off x="9729216" y="418580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−$56K</a:t>
            </a:r>
            <a:endParaRPr lang="en-US" sz="1300" dirty="0"/>
          </a:p>
        </p:txBody>
      </p:sp>
      <p:sp>
        <p:nvSpPr>
          <p:cNvPr id="151" name="Text 149"/>
          <p:cNvSpPr txBox="1"/>
          <p:nvPr/>
        </p:nvSpPr>
        <p:spPr>
          <a:xfrm>
            <a:off x="10826496"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a:t>
            </a:r>
            <a:endParaRPr lang="en-US" sz="1300" dirty="0"/>
          </a:p>
        </p:txBody>
      </p:sp>
      <p:sp>
        <p:nvSpPr>
          <p:cNvPr id="152" name="Text 150"/>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3" name="Text 151"/>
          <p:cNvSpPr txBox="1"/>
          <p:nvPr/>
        </p:nvSpPr>
        <p:spPr>
          <a:xfrm>
            <a:off x="6565392"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54" name="Shape 152"/>
          <p:cNvSpPr/>
          <p:nvPr/>
        </p:nvSpPr>
        <p:spPr>
          <a:xfrm>
            <a:off x="8859151" y="4490215"/>
            <a:ext cx="236806" cy="136676"/>
          </a:xfrm>
          <a:prstGeom prst="rect">
            <a:avLst/>
          </a:prstGeom>
          <a:solidFill>
            <a:srgbClr val="C2352F"/>
          </a:solidFill>
          <a:ln/>
        </p:spPr>
      </p:sp>
      <p:sp>
        <p:nvSpPr>
          <p:cNvPr id="155" name="Text 153"/>
          <p:cNvSpPr txBox="1"/>
          <p:nvPr/>
        </p:nvSpPr>
        <p:spPr>
          <a:xfrm>
            <a:off x="9729216" y="443430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−$57K</a:t>
            </a:r>
            <a:endParaRPr lang="en-US" sz="1300" dirty="0"/>
          </a:p>
        </p:txBody>
      </p:sp>
      <p:sp>
        <p:nvSpPr>
          <p:cNvPr id="156" name="Text 154"/>
          <p:cNvSpPr txBox="1"/>
          <p:nvPr/>
        </p:nvSpPr>
        <p:spPr>
          <a:xfrm>
            <a:off x="10826496"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a:t>
            </a:r>
            <a:endParaRPr lang="en-US" sz="1300" dirty="0"/>
          </a:p>
        </p:txBody>
      </p:sp>
      <p:sp>
        <p:nvSpPr>
          <p:cNvPr id="157" name="Text 155"/>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58" name="Text 156"/>
          <p:cNvSpPr txBox="1"/>
          <p:nvPr/>
        </p:nvSpPr>
        <p:spPr>
          <a:xfrm>
            <a:off x="6565392"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59" name="Shape 157"/>
          <p:cNvSpPr/>
          <p:nvPr/>
        </p:nvSpPr>
        <p:spPr>
          <a:xfrm>
            <a:off x="8830828" y="4738717"/>
            <a:ext cx="265129" cy="136676"/>
          </a:xfrm>
          <a:prstGeom prst="rect">
            <a:avLst/>
          </a:prstGeom>
          <a:solidFill>
            <a:srgbClr val="C2352F"/>
          </a:solidFill>
          <a:ln/>
        </p:spPr>
      </p:sp>
      <p:sp>
        <p:nvSpPr>
          <p:cNvPr id="160" name="Text 158"/>
          <p:cNvSpPr txBox="1"/>
          <p:nvPr/>
        </p:nvSpPr>
        <p:spPr>
          <a:xfrm>
            <a:off x="9729216" y="468280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−$63K</a:t>
            </a:r>
            <a:endParaRPr lang="en-US" sz="1300" dirty="0"/>
          </a:p>
        </p:txBody>
      </p:sp>
      <p:sp>
        <p:nvSpPr>
          <p:cNvPr id="161" name="Text 159"/>
          <p:cNvSpPr txBox="1"/>
          <p:nvPr/>
        </p:nvSpPr>
        <p:spPr>
          <a:xfrm>
            <a:off x="10826496"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162" name="Text 160"/>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3" name="Text 161"/>
          <p:cNvSpPr txBox="1"/>
          <p:nvPr/>
        </p:nvSpPr>
        <p:spPr>
          <a:xfrm>
            <a:off x="6565392"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64" name="Shape 162"/>
          <p:cNvSpPr/>
          <p:nvPr/>
        </p:nvSpPr>
        <p:spPr>
          <a:xfrm>
            <a:off x="8754888" y="4987218"/>
            <a:ext cx="341069" cy="136676"/>
          </a:xfrm>
          <a:prstGeom prst="rect">
            <a:avLst/>
          </a:prstGeom>
          <a:solidFill>
            <a:srgbClr val="C2352F"/>
          </a:solidFill>
          <a:ln/>
        </p:spPr>
      </p:sp>
      <p:sp>
        <p:nvSpPr>
          <p:cNvPr id="165" name="Text 163"/>
          <p:cNvSpPr txBox="1"/>
          <p:nvPr/>
        </p:nvSpPr>
        <p:spPr>
          <a:xfrm>
            <a:off x="9729216" y="4931305"/>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−$82K</a:t>
            </a:r>
            <a:endParaRPr lang="en-US" sz="1300" dirty="0"/>
          </a:p>
        </p:txBody>
      </p:sp>
      <p:sp>
        <p:nvSpPr>
          <p:cNvPr id="166" name="Text 164"/>
          <p:cNvSpPr txBox="1"/>
          <p:nvPr/>
        </p:nvSpPr>
        <p:spPr>
          <a:xfrm>
            <a:off x="10826496"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167" name="Text 165"/>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68" name="Text 166"/>
          <p:cNvSpPr txBox="1"/>
          <p:nvPr/>
        </p:nvSpPr>
        <p:spPr>
          <a:xfrm>
            <a:off x="6565392"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69" name="Shape 167"/>
          <p:cNvSpPr/>
          <p:nvPr/>
        </p:nvSpPr>
        <p:spPr>
          <a:xfrm>
            <a:off x="8693205" y="5235720"/>
            <a:ext cx="402752" cy="136676"/>
          </a:xfrm>
          <a:prstGeom prst="rect">
            <a:avLst/>
          </a:prstGeom>
          <a:solidFill>
            <a:srgbClr val="C2352F"/>
          </a:solidFill>
          <a:ln/>
        </p:spPr>
      </p:sp>
      <p:sp>
        <p:nvSpPr>
          <p:cNvPr id="170" name="Text 168"/>
          <p:cNvSpPr txBox="1"/>
          <p:nvPr/>
        </p:nvSpPr>
        <p:spPr>
          <a:xfrm>
            <a:off x="9729216" y="517980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−$96K</a:t>
            </a:r>
            <a:endParaRPr lang="en-US" sz="1300" dirty="0"/>
          </a:p>
        </p:txBody>
      </p:sp>
      <p:sp>
        <p:nvSpPr>
          <p:cNvPr id="171" name="Text 169"/>
          <p:cNvSpPr txBox="1"/>
          <p:nvPr/>
        </p:nvSpPr>
        <p:spPr>
          <a:xfrm>
            <a:off x="10826496"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a:t>
            </a:r>
            <a:endParaRPr lang="en-US" sz="1300" dirty="0"/>
          </a:p>
        </p:txBody>
      </p:sp>
      <p:sp>
        <p:nvSpPr>
          <p:cNvPr id="172" name="Text 170"/>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3" name="Text 171"/>
          <p:cNvSpPr txBox="1"/>
          <p:nvPr/>
        </p:nvSpPr>
        <p:spPr>
          <a:xfrm>
            <a:off x="6565392"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74" name="Shape 172"/>
          <p:cNvSpPr/>
          <p:nvPr/>
        </p:nvSpPr>
        <p:spPr>
          <a:xfrm>
            <a:off x="8650224" y="5484222"/>
            <a:ext cx="445733" cy="136676"/>
          </a:xfrm>
          <a:prstGeom prst="rect">
            <a:avLst/>
          </a:prstGeom>
          <a:solidFill>
            <a:srgbClr val="C2352F"/>
          </a:solidFill>
          <a:ln/>
        </p:spPr>
      </p:sp>
      <p:sp>
        <p:nvSpPr>
          <p:cNvPr id="175" name="Text 173"/>
          <p:cNvSpPr txBox="1"/>
          <p:nvPr/>
        </p:nvSpPr>
        <p:spPr>
          <a:xfrm>
            <a:off x="9729216" y="542830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−$107K</a:t>
            </a:r>
            <a:endParaRPr lang="en-US" sz="1300" dirty="0"/>
          </a:p>
        </p:txBody>
      </p:sp>
      <p:sp>
        <p:nvSpPr>
          <p:cNvPr id="176" name="Text 174"/>
          <p:cNvSpPr txBox="1"/>
          <p:nvPr/>
        </p:nvSpPr>
        <p:spPr>
          <a:xfrm>
            <a:off x="10826496"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177" name="Shape 175"/>
          <p:cNvSpPr/>
          <p:nvPr/>
        </p:nvSpPr>
        <p:spPr>
          <a:xfrm>
            <a:off x="6085332" y="1700784"/>
            <a:ext cx="10973" cy="4224528"/>
          </a:xfrm>
          <a:prstGeom prst="rect">
            <a:avLst/>
          </a:prstGeom>
          <a:solidFill>
            <a:srgbClr val="D9D9D9"/>
          </a:solidFill>
          <a:ln/>
        </p:spPr>
      </p:sp>
      <p:sp>
        <p:nvSpPr>
          <p:cNvPr id="178" name="Shape 176"/>
          <p:cNvSpPr/>
          <p:nvPr/>
        </p:nvSpPr>
        <p:spPr>
          <a:xfrm>
            <a:off x="457200" y="6126480"/>
            <a:ext cx="11274552" cy="615696"/>
          </a:xfrm>
          <a:prstGeom prst="rect">
            <a:avLst/>
          </a:prstGeom>
          <a:solidFill>
            <a:srgbClr val="FBEBEA"/>
          </a:solidFill>
          <a:ln/>
        </p:spPr>
      </p:sp>
      <p:sp>
        <p:nvSpPr>
          <p:cNvPr id="179" name="Text 177"/>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26 stores under 7.5% have left $1,017,661 so far this year; 7 are at or above it. Chevy LV is furthest below at −$107K.</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Slides>
  <Notes>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vt:i4>
      </vt:variant>
    </vt:vector>
  </HeadingPairs>
  <TitlesOfParts>
    <vt:vector size="9" baseType="lpstr">
      <vt:lpstr>Arial</vt:lpstr>
      <vt:lpstr>Calibri</vt:lpstr>
      <vt:lpstr>Office Theme</vt:lpstr>
      <vt:lpstr>Slide 1</vt:lpstr>
      <vt:lpstr>Slide 2</vt:lpstr>
      <vt:lpstr>Slide 3</vt:lpstr>
      <vt:lpstr>Slide 4</vt:lpstr>
      <vt:lpstr>Slide 5</vt:lpstr>
      <vt:lpstr>Slide 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2026-10-26T23:54:23Z</dcterms:created>
  <dcterms:modified xsi:type="dcterms:W3CDTF">2026-10-26T23:54:23Z</dcterms:modified>
</cp:coreProperties>
</file>